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2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4" r:id="rId1"/>
  </p:sldMasterIdLst>
  <p:notesMasterIdLst>
    <p:notesMasterId r:id="rId152"/>
  </p:notesMasterIdLst>
  <p:sldIdLst>
    <p:sldId id="257" r:id="rId2"/>
    <p:sldId id="256" r:id="rId3"/>
    <p:sldId id="289" r:id="rId4"/>
    <p:sldId id="480" r:id="rId5"/>
    <p:sldId id="293" r:id="rId6"/>
    <p:sldId id="294" r:id="rId7"/>
    <p:sldId id="481" r:id="rId8"/>
    <p:sldId id="485" r:id="rId9"/>
    <p:sldId id="483" r:id="rId10"/>
    <p:sldId id="486" r:id="rId11"/>
    <p:sldId id="487" r:id="rId12"/>
    <p:sldId id="488" r:id="rId13"/>
    <p:sldId id="304" r:id="rId14"/>
    <p:sldId id="489" r:id="rId15"/>
    <p:sldId id="492" r:id="rId16"/>
    <p:sldId id="493" r:id="rId17"/>
    <p:sldId id="494" r:id="rId18"/>
    <p:sldId id="463" r:id="rId19"/>
    <p:sldId id="311" r:id="rId20"/>
    <p:sldId id="496" r:id="rId21"/>
    <p:sldId id="497" r:id="rId22"/>
    <p:sldId id="508" r:id="rId23"/>
    <p:sldId id="499" r:id="rId24"/>
    <p:sldId id="502" r:id="rId25"/>
    <p:sldId id="503" r:id="rId26"/>
    <p:sldId id="324" r:id="rId27"/>
    <p:sldId id="505" r:id="rId28"/>
    <p:sldId id="514" r:id="rId29"/>
    <p:sldId id="329" r:id="rId30"/>
    <p:sldId id="515" r:id="rId31"/>
    <p:sldId id="516" r:id="rId32"/>
    <p:sldId id="518" r:id="rId33"/>
    <p:sldId id="519" r:id="rId34"/>
    <p:sldId id="520" r:id="rId35"/>
    <p:sldId id="521" r:id="rId36"/>
    <p:sldId id="522" r:id="rId37"/>
    <p:sldId id="647" r:id="rId38"/>
    <p:sldId id="523" r:id="rId39"/>
    <p:sldId id="524" r:id="rId40"/>
    <p:sldId id="525" r:id="rId41"/>
    <p:sldId id="526" r:id="rId42"/>
    <p:sldId id="527" r:id="rId43"/>
    <p:sldId id="528" r:id="rId44"/>
    <p:sldId id="529" r:id="rId45"/>
    <p:sldId id="530" r:id="rId46"/>
    <p:sldId id="531" r:id="rId47"/>
    <p:sldId id="533" r:id="rId48"/>
    <p:sldId id="532" r:id="rId49"/>
    <p:sldId id="534" r:id="rId50"/>
    <p:sldId id="535" r:id="rId51"/>
    <p:sldId id="536" r:id="rId52"/>
    <p:sldId id="359" r:id="rId53"/>
    <p:sldId id="360" r:id="rId54"/>
    <p:sldId id="475" r:id="rId55"/>
    <p:sldId id="476" r:id="rId56"/>
    <p:sldId id="477" r:id="rId57"/>
    <p:sldId id="366" r:id="rId58"/>
    <p:sldId id="538" r:id="rId59"/>
    <p:sldId id="478" r:id="rId60"/>
    <p:sldId id="539" r:id="rId61"/>
    <p:sldId id="540" r:id="rId62"/>
    <p:sldId id="541" r:id="rId63"/>
    <p:sldId id="542" r:id="rId64"/>
    <p:sldId id="543" r:id="rId65"/>
    <p:sldId id="544" r:id="rId66"/>
    <p:sldId id="374" r:id="rId67"/>
    <p:sldId id="545" r:id="rId68"/>
    <p:sldId id="546" r:id="rId69"/>
    <p:sldId id="547" r:id="rId70"/>
    <p:sldId id="551" r:id="rId71"/>
    <p:sldId id="549" r:id="rId72"/>
    <p:sldId id="550" r:id="rId73"/>
    <p:sldId id="382" r:id="rId74"/>
    <p:sldId id="552" r:id="rId75"/>
    <p:sldId id="553" r:id="rId76"/>
    <p:sldId id="554" r:id="rId77"/>
    <p:sldId id="555" r:id="rId78"/>
    <p:sldId id="556" r:id="rId79"/>
    <p:sldId id="558" r:id="rId80"/>
    <p:sldId id="560" r:id="rId81"/>
    <p:sldId id="561" r:id="rId82"/>
    <p:sldId id="562" r:id="rId83"/>
    <p:sldId id="563" r:id="rId84"/>
    <p:sldId id="396" r:id="rId85"/>
    <p:sldId id="564" r:id="rId86"/>
    <p:sldId id="565" r:id="rId87"/>
    <p:sldId id="566" r:id="rId88"/>
    <p:sldId id="567" r:id="rId89"/>
    <p:sldId id="568" r:id="rId90"/>
    <p:sldId id="569" r:id="rId91"/>
    <p:sldId id="571" r:id="rId92"/>
    <p:sldId id="570" r:id="rId93"/>
    <p:sldId id="572" r:id="rId94"/>
    <p:sldId id="573" r:id="rId95"/>
    <p:sldId id="574" r:id="rId96"/>
    <p:sldId id="408" r:id="rId97"/>
    <p:sldId id="575" r:id="rId98"/>
    <p:sldId id="576" r:id="rId99"/>
    <p:sldId id="577" r:id="rId100"/>
    <p:sldId id="579" r:id="rId101"/>
    <p:sldId id="580" r:id="rId102"/>
    <p:sldId id="581" r:id="rId103"/>
    <p:sldId id="582" r:id="rId104"/>
    <p:sldId id="583" r:id="rId105"/>
    <p:sldId id="419" r:id="rId106"/>
    <p:sldId id="585" r:id="rId107"/>
    <p:sldId id="586" r:id="rId108"/>
    <p:sldId id="591" r:id="rId109"/>
    <p:sldId id="588" r:id="rId110"/>
    <p:sldId id="589" r:id="rId111"/>
    <p:sldId id="590" r:id="rId112"/>
    <p:sldId id="593" r:id="rId113"/>
    <p:sldId id="596" r:id="rId114"/>
    <p:sldId id="597" r:id="rId115"/>
    <p:sldId id="598" r:id="rId116"/>
    <p:sldId id="599" r:id="rId117"/>
    <p:sldId id="600" r:id="rId118"/>
    <p:sldId id="601" r:id="rId119"/>
    <p:sldId id="602" r:id="rId120"/>
    <p:sldId id="606" r:id="rId121"/>
    <p:sldId id="605" r:id="rId122"/>
    <p:sldId id="607" r:id="rId123"/>
    <p:sldId id="608" r:id="rId124"/>
    <p:sldId id="610" r:id="rId125"/>
    <p:sldId id="613" r:id="rId126"/>
    <p:sldId id="615" r:id="rId127"/>
    <p:sldId id="616" r:id="rId128"/>
    <p:sldId id="618" r:id="rId129"/>
    <p:sldId id="619" r:id="rId130"/>
    <p:sldId id="620" r:id="rId131"/>
    <p:sldId id="621" r:id="rId132"/>
    <p:sldId id="623" r:id="rId133"/>
    <p:sldId id="625" r:id="rId134"/>
    <p:sldId id="624" r:id="rId135"/>
    <p:sldId id="627" r:id="rId136"/>
    <p:sldId id="628" r:id="rId137"/>
    <p:sldId id="630" r:id="rId138"/>
    <p:sldId id="631" r:id="rId139"/>
    <p:sldId id="632" r:id="rId140"/>
    <p:sldId id="633" r:id="rId141"/>
    <p:sldId id="634" r:id="rId142"/>
    <p:sldId id="635" r:id="rId143"/>
    <p:sldId id="636" r:id="rId144"/>
    <p:sldId id="637" r:id="rId145"/>
    <p:sldId id="639" r:id="rId146"/>
    <p:sldId id="641" r:id="rId147"/>
    <p:sldId id="642" r:id="rId148"/>
    <p:sldId id="643" r:id="rId149"/>
    <p:sldId id="645" r:id="rId150"/>
    <p:sldId id="646" r:id="rId151"/>
  </p:sldIdLst>
  <p:sldSz cx="9144000" cy="5143500" type="screen16x9"/>
  <p:notesSz cx="6858000" cy="9144000"/>
  <p:embeddedFontLst>
    <p:embeddedFont>
      <p:font typeface="微软雅黑" panose="020B0503020204020204" pitchFamily="34" charset="-122"/>
      <p:regular r:id="rId153"/>
      <p:bold r:id="rId154"/>
    </p:embeddedFont>
    <p:embeddedFont>
      <p:font typeface="微软雅黑 Light" panose="020B0502040204020203" pitchFamily="34" charset="-122"/>
      <p:regular r:id="rId15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9FA"/>
    <a:srgbClr val="84CFF5"/>
    <a:srgbClr val="0000FF"/>
    <a:srgbClr val="9900CC"/>
    <a:srgbClr val="17375E"/>
    <a:srgbClr val="FFFF99"/>
    <a:srgbClr val="CC00CC"/>
    <a:srgbClr val="000066"/>
    <a:srgbClr val="CC6600"/>
    <a:srgbClr val="99FF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4675" autoAdjust="0"/>
  </p:normalViewPr>
  <p:slideViewPr>
    <p:cSldViewPr snapToGrid="0">
      <p:cViewPr varScale="1">
        <p:scale>
          <a:sx n="142" d="100"/>
          <a:sy n="142" d="100"/>
        </p:scale>
        <p:origin x="138" y="240"/>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font" Target="fonts/font3.fntdata"/><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font" Target="fonts/font1.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font" Target="fonts/font2.fntdata"/><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diagrams/_rels/data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diagrams/_rels/drawing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image" Target="../media/image8.jpeg"/><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0F94BBA-562D-4F8A-8EA1-F0DD8C0FE142}" type="doc">
      <dgm:prSet loTypeId="urn:microsoft.com/office/officeart/2005/8/layout/vList5" loCatId="list" qsTypeId="urn:microsoft.com/office/officeart/2005/8/quickstyle/simple1" qsCatId="simple" csTypeId="urn:microsoft.com/office/officeart/2005/8/colors/colorful5" csCatId="colorful" phldr="1"/>
      <dgm:spPr/>
      <dgm:t>
        <a:bodyPr/>
        <a:lstStyle/>
        <a:p>
          <a:endParaRPr lang="zh-CN" altLang="en-US"/>
        </a:p>
      </dgm:t>
    </dgm:pt>
    <dgm:pt modelId="{7CDF3C8E-3DA3-4205-8B08-51AAE2DFD477}">
      <dgm:prSet phldrT="[文本]" custT="1"/>
      <dgm:spPr/>
      <dgm:t>
        <a:bodyPr/>
        <a:lstStyle/>
        <a:p>
          <a:r>
            <a:rPr lang="zh-CN" altLang="en-US" sz="1800" b="1" dirty="0">
              <a:latin typeface="微软雅黑" panose="020B0503020204020204" pitchFamily="34" charset="-122"/>
              <a:ea typeface="微软雅黑" panose="020B0503020204020204" pitchFamily="34" charset="-122"/>
            </a:rPr>
            <a:t>应用和服务</a:t>
          </a:r>
        </a:p>
      </dgm:t>
    </dgm:pt>
    <dgm:pt modelId="{E7B806CA-7E9B-4992-937F-C6125327F8DF}" type="parTrans" cxnId="{00E4D1B0-83AC-4FA5-8F83-AFD18DCE943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8C81328-4AA1-4EFD-AF3D-4C6632E40ED9}" type="sibTrans" cxnId="{00E4D1B0-83AC-4FA5-8F83-AFD18DCE943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F1DE1B7-DF07-4DD5-A0B2-C4A32C7C190F}">
      <dgm:prSet phldrT="[文本]" custT="1"/>
      <dgm:spPr/>
      <dgm:t>
        <a:bodyPr/>
        <a:lstStyle/>
        <a:p>
          <a:r>
            <a:rPr lang="zh-CN" altLang="en-US" sz="1800" b="1" dirty="0">
              <a:latin typeface="微软雅黑" panose="020B0503020204020204" pitchFamily="34" charset="-122"/>
              <a:ea typeface="微软雅黑" panose="020B0503020204020204" pitchFamily="34" charset="-122"/>
            </a:rPr>
            <a:t>游戏，视频，社交，电子邮件，购物，网店，</a:t>
          </a:r>
        </a:p>
      </dgm:t>
    </dgm:pt>
    <dgm:pt modelId="{E8365B7B-D7B6-46DA-93F2-FDA360E9CCD9}" type="parTrans" cxnId="{DEEE5967-AEB5-482E-8DCA-A7606141059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A751A11-451E-4937-8507-E37833BF1584}" type="sibTrans" cxnId="{DEEE5967-AEB5-482E-8DCA-A7606141059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F2D79E-B77B-4801-9814-D0986614D669}">
      <dgm:prSet phldrT="[文本]" custT="1"/>
      <dgm:spPr/>
      <dgm:t>
        <a:bodyPr/>
        <a:lstStyle/>
        <a:p>
          <a:r>
            <a:rPr lang="zh-CN" altLang="en-US" sz="1800" b="1" dirty="0">
              <a:latin typeface="微软雅黑" panose="020B0503020204020204" pitchFamily="34" charset="-122"/>
              <a:ea typeface="微软雅黑" panose="020B0503020204020204" pitchFamily="34" charset="-122"/>
            </a:rPr>
            <a:t>工作原理</a:t>
          </a:r>
        </a:p>
      </dgm:t>
    </dgm:pt>
    <dgm:pt modelId="{8814CAC7-408B-431F-91F4-2E1970C6CD2D}" type="parTrans" cxnId="{39C0FB80-7424-4111-AA07-4A4DF2558C5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AAA26BD-D3CD-4DAD-BCB9-33F2641ECC77}" type="sibTrans" cxnId="{39C0FB80-7424-4111-AA07-4A4DF2558C5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AF05E0F-531B-4F36-BF27-1A9E3D95F0DC}">
      <dgm:prSet phldrT="[文本]" custT="1"/>
      <dgm:spPr/>
      <dgm:t>
        <a:bodyPr/>
        <a:lstStyle/>
        <a:p>
          <a:r>
            <a:rPr lang="zh-CN" altLang="en-US" sz="1800" b="1" dirty="0">
              <a:latin typeface="微软雅黑" panose="020B0503020204020204" pitchFamily="34" charset="-122"/>
              <a:ea typeface="微软雅黑" panose="020B0503020204020204" pitchFamily="34" charset="-122"/>
            </a:rPr>
            <a:t>互连结构，交换技术，</a:t>
          </a:r>
        </a:p>
      </dgm:t>
    </dgm:pt>
    <dgm:pt modelId="{FDDE4820-BFF2-48B4-90C6-7F081C19A177}" type="parTrans" cxnId="{0D78AA94-77C1-47AC-89CC-003F8E70C9D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A4CB1BB-2F14-4944-AC76-135C983A0060}" type="sibTrans" cxnId="{0D78AA94-77C1-47AC-89CC-003F8E70C9D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7011F1-FC13-4B35-970D-4933B3548D98}">
      <dgm:prSet phldrT="[文本]" custT="1"/>
      <dgm:spPr/>
      <dgm:t>
        <a:bodyPr/>
        <a:lstStyle/>
        <a:p>
          <a:r>
            <a:rPr lang="en-US" altLang="zh-CN" sz="1800" b="1" dirty="0">
              <a:latin typeface="微软雅黑" panose="020B0503020204020204" pitchFamily="34" charset="-122"/>
              <a:ea typeface="微软雅黑" panose="020B0503020204020204" pitchFamily="34" charset="-122"/>
            </a:rPr>
            <a:t>TCP/IP </a:t>
          </a:r>
          <a:r>
            <a:rPr lang="zh-CN" altLang="en-US" sz="1800" b="1" dirty="0">
              <a:latin typeface="微软雅黑" panose="020B0503020204020204" pitchFamily="34" charset="-122"/>
              <a:ea typeface="微软雅黑" panose="020B0503020204020204" pitchFamily="34" charset="-122"/>
            </a:rPr>
            <a:t>体系结构与协议，</a:t>
          </a:r>
          <a:r>
            <a:rPr lang="en-US" altLang="zh-CN" sz="1800" b="1" dirty="0">
              <a:latin typeface="微软雅黑" panose="020B0503020204020204" pitchFamily="34" charset="-122"/>
              <a:ea typeface="微软雅黑" panose="020B0503020204020204" pitchFamily="34" charset="-122"/>
            </a:rPr>
            <a:t>…</a:t>
          </a:r>
          <a:endParaRPr lang="zh-CN" altLang="en-US" sz="1800" b="1" dirty="0">
            <a:latin typeface="微软雅黑" panose="020B0503020204020204" pitchFamily="34" charset="-122"/>
            <a:ea typeface="微软雅黑" panose="020B0503020204020204" pitchFamily="34" charset="-122"/>
          </a:endParaRPr>
        </a:p>
      </dgm:t>
    </dgm:pt>
    <dgm:pt modelId="{D4CF5806-C370-498E-9708-685A9D27A010}" type="parTrans" cxnId="{2FBB9C4A-7FE4-4B09-90BC-7F76EE0C06AA}">
      <dgm:prSet/>
      <dgm:spPr/>
      <dgm:t>
        <a:bodyPr/>
        <a:lstStyle/>
        <a:p>
          <a:endParaRPr lang="zh-CN" altLang="en-US"/>
        </a:p>
      </dgm:t>
    </dgm:pt>
    <dgm:pt modelId="{BF99E28F-22E5-4508-BE06-92304C714E8C}" type="sibTrans" cxnId="{2FBB9C4A-7FE4-4B09-90BC-7F76EE0C06AA}">
      <dgm:prSet/>
      <dgm:spPr/>
      <dgm:t>
        <a:bodyPr/>
        <a:lstStyle/>
        <a:p>
          <a:endParaRPr lang="zh-CN" altLang="en-US"/>
        </a:p>
      </dgm:t>
    </dgm:pt>
    <dgm:pt modelId="{75DD56ED-85A2-4B92-A4F6-D22B1E14918C}">
      <dgm:prSet phldrT="[文本]" custT="1"/>
      <dgm:spPr/>
      <dgm:t>
        <a:bodyPr/>
        <a:lstStyle/>
        <a:p>
          <a:r>
            <a:rPr lang="zh-CN" altLang="en-US" sz="1800" b="1" dirty="0">
              <a:latin typeface="微软雅黑" panose="020B0503020204020204" pitchFamily="34" charset="-122"/>
              <a:ea typeface="微软雅黑" panose="020B0503020204020204" pitchFamily="34" charset="-122"/>
            </a:rPr>
            <a:t>网银，无现金支付，数字钱包，数字货币，</a:t>
          </a:r>
          <a:r>
            <a:rPr lang="en-US" altLang="en-US" sz="1800" b="1" dirty="0">
              <a:latin typeface="微软雅黑" panose="020B0503020204020204" pitchFamily="34" charset="-122"/>
              <a:ea typeface="微软雅黑" panose="020B0503020204020204" pitchFamily="34" charset="-122"/>
            </a:rPr>
            <a:t>…</a:t>
          </a:r>
          <a:endParaRPr lang="zh-CN" altLang="en-US" sz="1800" b="1" dirty="0">
            <a:latin typeface="微软雅黑" panose="020B0503020204020204" pitchFamily="34" charset="-122"/>
            <a:ea typeface="微软雅黑" panose="020B0503020204020204" pitchFamily="34" charset="-122"/>
          </a:endParaRPr>
        </a:p>
      </dgm:t>
    </dgm:pt>
    <dgm:pt modelId="{7D2D1F57-8FF9-4D42-AB44-C84EBAB93A8B}" type="parTrans" cxnId="{798D9546-FC7B-4CE6-A446-2C1406B131B7}">
      <dgm:prSet/>
      <dgm:spPr/>
      <dgm:t>
        <a:bodyPr/>
        <a:lstStyle/>
        <a:p>
          <a:endParaRPr lang="zh-CN" altLang="en-US"/>
        </a:p>
      </dgm:t>
    </dgm:pt>
    <dgm:pt modelId="{6B90A6D3-23CD-4FAE-BBD2-83D19CE03B68}" type="sibTrans" cxnId="{798D9546-FC7B-4CE6-A446-2C1406B131B7}">
      <dgm:prSet/>
      <dgm:spPr/>
      <dgm:t>
        <a:bodyPr/>
        <a:lstStyle/>
        <a:p>
          <a:endParaRPr lang="zh-CN" altLang="en-US"/>
        </a:p>
      </dgm:t>
    </dgm:pt>
    <dgm:pt modelId="{0C796AA5-A0D9-4667-A9AC-D1A03A87BD07}" type="pres">
      <dgm:prSet presAssocID="{60F94BBA-562D-4F8A-8EA1-F0DD8C0FE142}" presName="Name0" presStyleCnt="0">
        <dgm:presLayoutVars>
          <dgm:dir/>
          <dgm:animLvl val="lvl"/>
          <dgm:resizeHandles val="exact"/>
        </dgm:presLayoutVars>
      </dgm:prSet>
      <dgm:spPr/>
    </dgm:pt>
    <dgm:pt modelId="{E9D145BA-D7C5-4918-95CD-7443B1876BAB}" type="pres">
      <dgm:prSet presAssocID="{7CDF3C8E-3DA3-4205-8B08-51AAE2DFD477}" presName="linNode" presStyleCnt="0"/>
      <dgm:spPr/>
    </dgm:pt>
    <dgm:pt modelId="{A8F7779F-E35A-4E50-A04D-CB1AA6356A21}" type="pres">
      <dgm:prSet presAssocID="{7CDF3C8E-3DA3-4205-8B08-51AAE2DFD477}" presName="parentText" presStyleLbl="node1" presStyleIdx="0" presStyleCnt="2" custScaleX="70882" custLinFactNeighborX="192">
        <dgm:presLayoutVars>
          <dgm:chMax val="1"/>
          <dgm:bulletEnabled val="1"/>
        </dgm:presLayoutVars>
      </dgm:prSet>
      <dgm:spPr/>
    </dgm:pt>
    <dgm:pt modelId="{C300B65F-B770-4533-9743-A8EABAF11F51}" type="pres">
      <dgm:prSet presAssocID="{7CDF3C8E-3DA3-4205-8B08-51AAE2DFD477}" presName="descendantText" presStyleLbl="alignAccFollowNode1" presStyleIdx="0" presStyleCnt="2">
        <dgm:presLayoutVars>
          <dgm:bulletEnabled val="1"/>
        </dgm:presLayoutVars>
      </dgm:prSet>
      <dgm:spPr/>
    </dgm:pt>
    <dgm:pt modelId="{9A842556-6E53-4044-98D2-8607331EB814}" type="pres">
      <dgm:prSet presAssocID="{C8C81328-4AA1-4EFD-AF3D-4C6632E40ED9}" presName="sp" presStyleCnt="0"/>
      <dgm:spPr/>
    </dgm:pt>
    <dgm:pt modelId="{553F6A7B-0613-44E0-B9FC-D72D4936C612}" type="pres">
      <dgm:prSet presAssocID="{7FF2D79E-B77B-4801-9814-D0986614D669}" presName="linNode" presStyleCnt="0"/>
      <dgm:spPr/>
    </dgm:pt>
    <dgm:pt modelId="{46CFA115-E89F-48DD-8ECE-95299141CF01}" type="pres">
      <dgm:prSet presAssocID="{7FF2D79E-B77B-4801-9814-D0986614D669}" presName="parentText" presStyleLbl="node1" presStyleIdx="1" presStyleCnt="2" custScaleX="70882">
        <dgm:presLayoutVars>
          <dgm:chMax val="1"/>
          <dgm:bulletEnabled val="1"/>
        </dgm:presLayoutVars>
      </dgm:prSet>
      <dgm:spPr/>
    </dgm:pt>
    <dgm:pt modelId="{6AEF0EF9-F4C4-41ED-9DA7-A897E4EBD001}" type="pres">
      <dgm:prSet presAssocID="{7FF2D79E-B77B-4801-9814-D0986614D669}" presName="descendantText" presStyleLbl="alignAccFollowNode1" presStyleIdx="1" presStyleCnt="2">
        <dgm:presLayoutVars>
          <dgm:bulletEnabled val="1"/>
        </dgm:presLayoutVars>
      </dgm:prSet>
      <dgm:spPr/>
    </dgm:pt>
  </dgm:ptLst>
  <dgm:cxnLst>
    <dgm:cxn modelId="{B5D9C72B-D927-4816-8C9D-A13863DC4A92}" type="presOf" srcId="{75DD56ED-85A2-4B92-A4F6-D22B1E14918C}" destId="{C300B65F-B770-4533-9743-A8EABAF11F51}" srcOrd="0" destOrd="1" presId="urn:microsoft.com/office/officeart/2005/8/layout/vList5"/>
    <dgm:cxn modelId="{9DA57E61-3BD1-42BD-960F-B3C49C7D719E}" type="presOf" srcId="{DC7011F1-FC13-4B35-970D-4933B3548D98}" destId="{6AEF0EF9-F4C4-41ED-9DA7-A897E4EBD001}" srcOrd="0" destOrd="1" presId="urn:microsoft.com/office/officeart/2005/8/layout/vList5"/>
    <dgm:cxn modelId="{00125765-718B-4BB5-B1F4-311EF5F1DB6E}" type="presOf" srcId="{7FF2D79E-B77B-4801-9814-D0986614D669}" destId="{46CFA115-E89F-48DD-8ECE-95299141CF01}" srcOrd="0" destOrd="0" presId="urn:microsoft.com/office/officeart/2005/8/layout/vList5"/>
    <dgm:cxn modelId="{798D9546-FC7B-4CE6-A446-2C1406B131B7}" srcId="{7CDF3C8E-3DA3-4205-8B08-51AAE2DFD477}" destId="{75DD56ED-85A2-4B92-A4F6-D22B1E14918C}" srcOrd="1" destOrd="0" parTransId="{7D2D1F57-8FF9-4D42-AB44-C84EBAB93A8B}" sibTransId="{6B90A6D3-23CD-4FAE-BBD2-83D19CE03B68}"/>
    <dgm:cxn modelId="{DEEE5967-AEB5-482E-8DCA-A76061410593}" srcId="{7CDF3C8E-3DA3-4205-8B08-51AAE2DFD477}" destId="{9F1DE1B7-DF07-4DD5-A0B2-C4A32C7C190F}" srcOrd="0" destOrd="0" parTransId="{E8365B7B-D7B6-46DA-93F2-FDA360E9CCD9}" sibTransId="{1A751A11-451E-4937-8507-E37833BF1584}"/>
    <dgm:cxn modelId="{2FBB9C4A-7FE4-4B09-90BC-7F76EE0C06AA}" srcId="{7FF2D79E-B77B-4801-9814-D0986614D669}" destId="{DC7011F1-FC13-4B35-970D-4933B3548D98}" srcOrd="1" destOrd="0" parTransId="{D4CF5806-C370-498E-9708-685A9D27A010}" sibTransId="{BF99E28F-22E5-4508-BE06-92304C714E8C}"/>
    <dgm:cxn modelId="{D0083C5A-EB52-4DE3-BC4D-7C4D3C2107B1}" type="presOf" srcId="{60F94BBA-562D-4F8A-8EA1-F0DD8C0FE142}" destId="{0C796AA5-A0D9-4667-A9AC-D1A03A87BD07}" srcOrd="0" destOrd="0" presId="urn:microsoft.com/office/officeart/2005/8/layout/vList5"/>
    <dgm:cxn modelId="{39C0FB80-7424-4111-AA07-4A4DF2558C59}" srcId="{60F94BBA-562D-4F8A-8EA1-F0DD8C0FE142}" destId="{7FF2D79E-B77B-4801-9814-D0986614D669}" srcOrd="1" destOrd="0" parTransId="{8814CAC7-408B-431F-91F4-2E1970C6CD2D}" sibTransId="{1AAA26BD-D3CD-4DAD-BCB9-33F2641ECC77}"/>
    <dgm:cxn modelId="{0D78AA94-77C1-47AC-89CC-003F8E70C9DF}" srcId="{7FF2D79E-B77B-4801-9814-D0986614D669}" destId="{6AF05E0F-531B-4F36-BF27-1A9E3D95F0DC}" srcOrd="0" destOrd="0" parTransId="{FDDE4820-BFF2-48B4-90C6-7F081C19A177}" sibTransId="{5A4CB1BB-2F14-4944-AC76-135C983A0060}"/>
    <dgm:cxn modelId="{E10571A7-1543-495E-A24E-8B39E9AB2538}" type="presOf" srcId="{7CDF3C8E-3DA3-4205-8B08-51AAE2DFD477}" destId="{A8F7779F-E35A-4E50-A04D-CB1AA6356A21}" srcOrd="0" destOrd="0" presId="urn:microsoft.com/office/officeart/2005/8/layout/vList5"/>
    <dgm:cxn modelId="{00E4D1B0-83AC-4FA5-8F83-AFD18DCE943B}" srcId="{60F94BBA-562D-4F8A-8EA1-F0DD8C0FE142}" destId="{7CDF3C8E-3DA3-4205-8B08-51AAE2DFD477}" srcOrd="0" destOrd="0" parTransId="{E7B806CA-7E9B-4992-937F-C6125327F8DF}" sibTransId="{C8C81328-4AA1-4EFD-AF3D-4C6632E40ED9}"/>
    <dgm:cxn modelId="{B579FAD3-45AF-48C6-849D-A913A5716ED9}" type="presOf" srcId="{9F1DE1B7-DF07-4DD5-A0B2-C4A32C7C190F}" destId="{C300B65F-B770-4533-9743-A8EABAF11F51}" srcOrd="0" destOrd="0" presId="urn:microsoft.com/office/officeart/2005/8/layout/vList5"/>
    <dgm:cxn modelId="{EF51EEE0-95B7-478A-A328-D952C8448513}" type="presOf" srcId="{6AF05E0F-531B-4F36-BF27-1A9E3D95F0DC}" destId="{6AEF0EF9-F4C4-41ED-9DA7-A897E4EBD001}" srcOrd="0" destOrd="0" presId="urn:microsoft.com/office/officeart/2005/8/layout/vList5"/>
    <dgm:cxn modelId="{CAD040AB-E9B7-44BC-8260-01316C50B272}" type="presParOf" srcId="{0C796AA5-A0D9-4667-A9AC-D1A03A87BD07}" destId="{E9D145BA-D7C5-4918-95CD-7443B1876BAB}" srcOrd="0" destOrd="0" presId="urn:microsoft.com/office/officeart/2005/8/layout/vList5"/>
    <dgm:cxn modelId="{2A50B62C-DE4D-4CB3-BFAF-9334E49C5884}" type="presParOf" srcId="{E9D145BA-D7C5-4918-95CD-7443B1876BAB}" destId="{A8F7779F-E35A-4E50-A04D-CB1AA6356A21}" srcOrd="0" destOrd="0" presId="urn:microsoft.com/office/officeart/2005/8/layout/vList5"/>
    <dgm:cxn modelId="{8AB2F294-C286-4BA6-AD8C-A5E68712F3E1}" type="presParOf" srcId="{E9D145BA-D7C5-4918-95CD-7443B1876BAB}" destId="{C300B65F-B770-4533-9743-A8EABAF11F51}" srcOrd="1" destOrd="0" presId="urn:microsoft.com/office/officeart/2005/8/layout/vList5"/>
    <dgm:cxn modelId="{1DC914F0-34D1-41EE-A12A-8ACE3C44F6C4}" type="presParOf" srcId="{0C796AA5-A0D9-4667-A9AC-D1A03A87BD07}" destId="{9A842556-6E53-4044-98D2-8607331EB814}" srcOrd="1" destOrd="0" presId="urn:microsoft.com/office/officeart/2005/8/layout/vList5"/>
    <dgm:cxn modelId="{8F98B287-9974-459A-B8FD-49E5F8A64A54}" type="presParOf" srcId="{0C796AA5-A0D9-4667-A9AC-D1A03A87BD07}" destId="{553F6A7B-0613-44E0-B9FC-D72D4936C612}" srcOrd="2" destOrd="0" presId="urn:microsoft.com/office/officeart/2005/8/layout/vList5"/>
    <dgm:cxn modelId="{2E6EC0C8-09E3-448A-8254-CC1AF95CA72D}" type="presParOf" srcId="{553F6A7B-0613-44E0-B9FC-D72D4936C612}" destId="{46CFA115-E89F-48DD-8ECE-95299141CF01}" srcOrd="0" destOrd="0" presId="urn:microsoft.com/office/officeart/2005/8/layout/vList5"/>
    <dgm:cxn modelId="{81D5F99B-F1AC-4CB2-B644-1FA1FF856FFA}" type="presParOf" srcId="{553F6A7B-0613-44E0-B9FC-D72D4936C612}" destId="{6AEF0EF9-F4C4-41ED-9DA7-A897E4EBD001}"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6A26C33-5F5F-4CB7-8BAA-820B66BCD2DB}"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81E82A4E-660D-4B89-8E46-F01E998CF234}">
      <dgm:prSet phldrT="[文本]" custT="1"/>
      <dgm:spPr/>
      <dgm:t>
        <a:bodyPr/>
        <a:lstStyle/>
        <a:p>
          <a:r>
            <a:rPr lang="zh-CN" altLang="en-US" sz="1800" b="1" dirty="0">
              <a:latin typeface="微软雅黑" panose="020B0503020204020204" pitchFamily="34" charset="-122"/>
              <a:ea typeface="微软雅黑" panose="020B0503020204020204" pitchFamily="34" charset="-122"/>
            </a:rPr>
            <a:t>连通性 </a:t>
          </a:r>
          <a:r>
            <a:rPr lang="en-US" altLang="en-US" sz="1800" b="1" dirty="0">
              <a:latin typeface="微软雅黑" panose="020B0503020204020204" pitchFamily="34" charset="-122"/>
              <a:ea typeface="微软雅黑" panose="020B0503020204020204" pitchFamily="34" charset="-122"/>
            </a:rPr>
            <a:t>(connectivity)</a:t>
          </a:r>
          <a:endParaRPr lang="zh-CN" altLang="en-US" sz="1800" b="1" dirty="0">
            <a:latin typeface="微软雅黑" panose="020B0503020204020204" pitchFamily="34" charset="-122"/>
            <a:ea typeface="微软雅黑" panose="020B0503020204020204" pitchFamily="34" charset="-122"/>
          </a:endParaRPr>
        </a:p>
      </dgm:t>
    </dgm:pt>
    <dgm:pt modelId="{FE2F3B17-9569-409B-AFBD-15576FC7E7D5}" type="par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B9E722D-236B-45A9-B93C-C6BEF2201190}" type="sibTrans" cxnId="{A93EE387-4E0F-4305-B5A1-F639C498EF1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CE13BB8-FFE7-434E-AE0E-59033D986A9B}">
      <dgm:prSet phldrT="[文本]" custT="1"/>
      <dgm:spPr/>
      <dgm:t>
        <a:bodyPr/>
        <a:lstStyle/>
        <a:p>
          <a:r>
            <a:rPr lang="zh-CN" altLang="en-US" sz="1800" b="1" dirty="0">
              <a:latin typeface="微软雅黑" panose="020B0503020204020204" pitchFamily="34" charset="-122"/>
              <a:ea typeface="微软雅黑" panose="020B0503020204020204" pitchFamily="34" charset="-122"/>
            </a:rPr>
            <a:t>使上网用户之间可以非常便捷、非常经济地交换各种信息</a:t>
          </a:r>
        </a:p>
      </dgm:t>
    </dgm:pt>
    <dgm:pt modelId="{EBF2A6B2-0661-4DBE-913D-0227603495AA}" type="par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40577D-3A60-4734-9913-A35A2EB847DB}" type="sibTrans" cxnId="{698B3F6A-02D3-4DBF-A2E1-9AF6E6954E2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860C934-C87D-4759-BB10-48F1A13CE6F3}">
      <dgm:prSet phldrT="[文本]" custT="1"/>
      <dgm:spPr/>
      <dgm:t>
        <a:bodyPr/>
        <a:lstStyle/>
        <a:p>
          <a:r>
            <a:rPr lang="zh-CN" altLang="en-US" sz="1800" b="1" dirty="0">
              <a:latin typeface="微软雅黑" panose="020B0503020204020204" pitchFamily="34" charset="-122"/>
              <a:ea typeface="微软雅黑" panose="020B0503020204020204" pitchFamily="34" charset="-122"/>
            </a:rPr>
            <a:t>资源共享 </a:t>
          </a:r>
          <a:r>
            <a:rPr lang="en-US" altLang="en-US" sz="1800" b="1" dirty="0">
              <a:latin typeface="微软雅黑" panose="020B0503020204020204" pitchFamily="34" charset="-122"/>
              <a:ea typeface="微软雅黑" panose="020B0503020204020204" pitchFamily="34" charset="-122"/>
            </a:rPr>
            <a:t>(Sharing)</a:t>
          </a:r>
          <a:endParaRPr lang="zh-CN" altLang="en-US" sz="1800" b="1" dirty="0">
            <a:latin typeface="微软雅黑" panose="020B0503020204020204" pitchFamily="34" charset="-122"/>
            <a:ea typeface="微软雅黑" panose="020B0503020204020204" pitchFamily="34" charset="-122"/>
          </a:endParaRPr>
        </a:p>
      </dgm:t>
    </dgm:pt>
    <dgm:pt modelId="{026BE469-7E08-43F5-A726-F8D58014797D}" type="par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C0C2A6-290D-4E38-B8B6-6FAC507D5AEC}" type="sibTrans" cxnId="{C59FA2CF-B02E-4709-8C0B-C40E90AAE64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59189D0-CB3B-44AF-8603-D9ADA4D9B399}">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实现信息共享、软件共享、硬件共享。</a:t>
          </a:r>
        </a:p>
      </dgm:t>
    </dgm:pt>
    <dgm:pt modelId="{6C1F0FEC-D5F1-4174-B614-D79A36DF9E9B}" type="par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72F926-6A57-4FF6-BCD5-C51A88F0EE57}" type="sibTrans" cxnId="{28EB9285-5BD9-49B4-8CE4-91F0833DB20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812DD04-1C6E-4759-9B88-C1D91F702372}">
      <dgm:prSet phldrT="[文本]" custT="1"/>
      <dgm:spPr/>
      <dgm:t>
        <a:bodyPr/>
        <a:lstStyle/>
        <a:p>
          <a:r>
            <a:rPr lang="zh-CN" altLang="en-US" sz="1800" b="1" dirty="0">
              <a:latin typeface="微软雅黑" panose="020B0503020204020204" pitchFamily="34" charset="-122"/>
              <a:ea typeface="微软雅黑" panose="020B0503020204020204" pitchFamily="34" charset="-122"/>
            </a:rPr>
            <a:t>由于网络的存在，这些资源好像就在用户身边一样地方便使用。</a:t>
          </a:r>
        </a:p>
      </dgm:t>
    </dgm:pt>
    <dgm:pt modelId="{C64E1EEC-F427-4C8F-BCD9-F788F0943A45}" type="parTrans" cxnId="{94E1CE82-AB38-452B-A0B7-83602DCACEF3}">
      <dgm:prSet/>
      <dgm:spPr/>
      <dgm:t>
        <a:bodyPr/>
        <a:lstStyle/>
        <a:p>
          <a:endParaRPr lang="zh-CN" altLang="en-US"/>
        </a:p>
      </dgm:t>
    </dgm:pt>
    <dgm:pt modelId="{823D93EC-06D1-4A6C-879B-5AAD651B9263}" type="sibTrans" cxnId="{94E1CE82-AB38-452B-A0B7-83602DCACEF3}">
      <dgm:prSet/>
      <dgm:spPr/>
      <dgm:t>
        <a:bodyPr/>
        <a:lstStyle/>
        <a:p>
          <a:endParaRPr lang="zh-CN" altLang="en-US"/>
        </a:p>
      </dgm:t>
    </dgm:pt>
    <dgm:pt modelId="{F4E096E7-E309-449C-AF8B-5A296EA906C4}">
      <dgm:prSet phldrT="[文本]" custT="1"/>
      <dgm:spPr/>
      <dgm:t>
        <a:bodyPr/>
        <a:lstStyle/>
        <a:p>
          <a:r>
            <a:rPr lang="zh-CN" altLang="en-US" sz="1800" b="1" dirty="0">
              <a:latin typeface="微软雅黑" panose="020B0503020204020204" pitchFamily="34" charset="-122"/>
              <a:ea typeface="微软雅黑" panose="020B0503020204020204" pitchFamily="34" charset="-122"/>
            </a:rPr>
            <a:t>好像这些用户终端都彼此直接连通一样。</a:t>
          </a:r>
        </a:p>
      </dgm:t>
    </dgm:pt>
    <dgm:pt modelId="{F3688306-D560-4457-964B-726C46443E2A}" type="parTrans" cxnId="{F7028CFA-D2C4-48EE-A8D2-426AA23C67E0}">
      <dgm:prSet/>
      <dgm:spPr/>
      <dgm:t>
        <a:bodyPr/>
        <a:lstStyle/>
        <a:p>
          <a:endParaRPr lang="zh-CN" altLang="en-US"/>
        </a:p>
      </dgm:t>
    </dgm:pt>
    <dgm:pt modelId="{E885EA05-1FFE-47D4-8502-58320F8AE3F5}" type="sibTrans" cxnId="{F7028CFA-D2C4-48EE-A8D2-426AA23C67E0}">
      <dgm:prSet/>
      <dgm:spPr/>
      <dgm:t>
        <a:bodyPr/>
        <a:lstStyle/>
        <a:p>
          <a:endParaRPr lang="zh-CN" altLang="en-US"/>
        </a:p>
      </dgm:t>
    </dgm:pt>
    <dgm:pt modelId="{45BDFC86-5515-4588-9635-7C14A989AA26}" type="pres">
      <dgm:prSet presAssocID="{76A26C33-5F5F-4CB7-8BAA-820B66BCD2DB}" presName="Name0" presStyleCnt="0">
        <dgm:presLayoutVars>
          <dgm:dir/>
          <dgm:animLvl val="lvl"/>
          <dgm:resizeHandles val="exact"/>
        </dgm:presLayoutVars>
      </dgm:prSet>
      <dgm:spPr/>
    </dgm:pt>
    <dgm:pt modelId="{084CEBD4-BCBA-45BE-85A0-F1EBB86D6FAA}" type="pres">
      <dgm:prSet presAssocID="{81E82A4E-660D-4B89-8E46-F01E998CF234}" presName="composite" presStyleCnt="0"/>
      <dgm:spPr/>
    </dgm:pt>
    <dgm:pt modelId="{0A0E1915-9D9D-42CA-B042-4CD43E01EB46}" type="pres">
      <dgm:prSet presAssocID="{81E82A4E-660D-4B89-8E46-F01E998CF234}" presName="parTx" presStyleLbl="alignNode1" presStyleIdx="0" presStyleCnt="2" custScaleY="82146" custLinFactNeighborY="-9064">
        <dgm:presLayoutVars>
          <dgm:chMax val="0"/>
          <dgm:chPref val="0"/>
          <dgm:bulletEnabled val="1"/>
        </dgm:presLayoutVars>
      </dgm:prSet>
      <dgm:spPr/>
    </dgm:pt>
    <dgm:pt modelId="{95E3CB40-70C8-4251-9371-65AB16983D1B}" type="pres">
      <dgm:prSet presAssocID="{81E82A4E-660D-4B89-8E46-F01E998CF234}" presName="desTx" presStyleLbl="alignAccFollowNode1" presStyleIdx="0" presStyleCnt="2" custLinFactNeighborX="-286">
        <dgm:presLayoutVars>
          <dgm:bulletEnabled val="1"/>
        </dgm:presLayoutVars>
      </dgm:prSet>
      <dgm:spPr/>
    </dgm:pt>
    <dgm:pt modelId="{53421B6A-2B30-49A7-B880-8776DCE5DB4B}" type="pres">
      <dgm:prSet presAssocID="{3B9E722D-236B-45A9-B93C-C6BEF2201190}" presName="space" presStyleCnt="0"/>
      <dgm:spPr/>
    </dgm:pt>
    <dgm:pt modelId="{12600C52-721A-4BE1-8285-90A6B38FB27D}" type="pres">
      <dgm:prSet presAssocID="{9860C934-C87D-4759-BB10-48F1A13CE6F3}" presName="composite" presStyleCnt="0"/>
      <dgm:spPr/>
    </dgm:pt>
    <dgm:pt modelId="{40C4515B-BD55-4381-85FB-4FE091B3440E}" type="pres">
      <dgm:prSet presAssocID="{9860C934-C87D-4759-BB10-48F1A13CE6F3}" presName="parTx" presStyleLbl="alignNode1" presStyleIdx="1" presStyleCnt="2" custScaleY="82146" custLinFactNeighborY="-9064">
        <dgm:presLayoutVars>
          <dgm:chMax val="0"/>
          <dgm:chPref val="0"/>
          <dgm:bulletEnabled val="1"/>
        </dgm:presLayoutVars>
      </dgm:prSet>
      <dgm:spPr/>
    </dgm:pt>
    <dgm:pt modelId="{91A65E31-AD27-4BEE-B472-DF1900C7D724}" type="pres">
      <dgm:prSet presAssocID="{9860C934-C87D-4759-BB10-48F1A13CE6F3}" presName="desTx" presStyleLbl="alignAccFollowNode1" presStyleIdx="1" presStyleCnt="2">
        <dgm:presLayoutVars>
          <dgm:bulletEnabled val="1"/>
        </dgm:presLayoutVars>
      </dgm:prSet>
      <dgm:spPr/>
    </dgm:pt>
  </dgm:ptLst>
  <dgm:cxnLst>
    <dgm:cxn modelId="{5D47E511-8EAF-4CA7-9BF1-030EA642EC1D}" type="presOf" srcId="{F4E096E7-E309-449C-AF8B-5A296EA906C4}" destId="{95E3CB40-70C8-4251-9371-65AB16983D1B}" srcOrd="0" destOrd="1" presId="urn:microsoft.com/office/officeart/2005/8/layout/hList1"/>
    <dgm:cxn modelId="{172F9B15-9093-4236-9475-DF368B583798}" type="presOf" srcId="{7812DD04-1C6E-4759-9B88-C1D91F702372}" destId="{91A65E31-AD27-4BEE-B472-DF1900C7D724}" srcOrd="0" destOrd="1" presId="urn:microsoft.com/office/officeart/2005/8/layout/hList1"/>
    <dgm:cxn modelId="{698B3F6A-02D3-4DBF-A2E1-9AF6E6954E21}" srcId="{81E82A4E-660D-4B89-8E46-F01E998CF234}" destId="{BCE13BB8-FFE7-434E-AE0E-59033D986A9B}" srcOrd="0" destOrd="0" parTransId="{EBF2A6B2-0661-4DBE-913D-0227603495AA}" sibTransId="{4B40577D-3A60-4734-9913-A35A2EB847DB}"/>
    <dgm:cxn modelId="{E22AA04A-60C5-4A62-80D3-AA64BFF9CF1D}" type="presOf" srcId="{9860C934-C87D-4759-BB10-48F1A13CE6F3}" destId="{40C4515B-BD55-4381-85FB-4FE091B3440E}" srcOrd="0" destOrd="0" presId="urn:microsoft.com/office/officeart/2005/8/layout/hList1"/>
    <dgm:cxn modelId="{94E1CE82-AB38-452B-A0B7-83602DCACEF3}" srcId="{9860C934-C87D-4759-BB10-48F1A13CE6F3}" destId="{7812DD04-1C6E-4759-9B88-C1D91F702372}" srcOrd="1" destOrd="0" parTransId="{C64E1EEC-F427-4C8F-BCD9-F788F0943A45}" sibTransId="{823D93EC-06D1-4A6C-879B-5AAD651B9263}"/>
    <dgm:cxn modelId="{28EB9285-5BD9-49B4-8CE4-91F0833DB207}" srcId="{9860C934-C87D-4759-BB10-48F1A13CE6F3}" destId="{459189D0-CB3B-44AF-8603-D9ADA4D9B399}" srcOrd="0" destOrd="0" parTransId="{6C1F0FEC-D5F1-4174-B614-D79A36DF9E9B}" sibTransId="{6272F926-6A57-4FF6-BCD5-C51A88F0EE57}"/>
    <dgm:cxn modelId="{A93EE387-4E0F-4305-B5A1-F639C498EF18}" srcId="{76A26C33-5F5F-4CB7-8BAA-820B66BCD2DB}" destId="{81E82A4E-660D-4B89-8E46-F01E998CF234}" srcOrd="0" destOrd="0" parTransId="{FE2F3B17-9569-409B-AFBD-15576FC7E7D5}" sibTransId="{3B9E722D-236B-45A9-B93C-C6BEF2201190}"/>
    <dgm:cxn modelId="{8C46819A-E2F2-4A0F-A3AF-3440027A2A2A}" type="presOf" srcId="{81E82A4E-660D-4B89-8E46-F01E998CF234}" destId="{0A0E1915-9D9D-42CA-B042-4CD43E01EB46}" srcOrd="0" destOrd="0" presId="urn:microsoft.com/office/officeart/2005/8/layout/hList1"/>
    <dgm:cxn modelId="{0905F19C-555E-4F3D-AB25-BC9C29CBF871}" type="presOf" srcId="{BCE13BB8-FFE7-434E-AE0E-59033D986A9B}" destId="{95E3CB40-70C8-4251-9371-65AB16983D1B}" srcOrd="0" destOrd="0" presId="urn:microsoft.com/office/officeart/2005/8/layout/hList1"/>
    <dgm:cxn modelId="{440006A0-5D17-4B31-B22C-81E686270947}" type="presOf" srcId="{459189D0-CB3B-44AF-8603-D9ADA4D9B399}" destId="{91A65E31-AD27-4BEE-B472-DF1900C7D724}" srcOrd="0" destOrd="0" presId="urn:microsoft.com/office/officeart/2005/8/layout/hList1"/>
    <dgm:cxn modelId="{C59FA2CF-B02E-4709-8C0B-C40E90AAE64B}" srcId="{76A26C33-5F5F-4CB7-8BAA-820B66BCD2DB}" destId="{9860C934-C87D-4759-BB10-48F1A13CE6F3}" srcOrd="1" destOrd="0" parTransId="{026BE469-7E08-43F5-A726-F8D58014797D}" sibTransId="{D0C0C2A6-290D-4E38-B8B6-6FAC507D5AEC}"/>
    <dgm:cxn modelId="{708EB6E9-8893-42FA-98DD-900BD9C56952}" type="presOf" srcId="{76A26C33-5F5F-4CB7-8BAA-820B66BCD2DB}" destId="{45BDFC86-5515-4588-9635-7C14A989AA26}" srcOrd="0" destOrd="0" presId="urn:microsoft.com/office/officeart/2005/8/layout/hList1"/>
    <dgm:cxn modelId="{F7028CFA-D2C4-48EE-A8D2-426AA23C67E0}" srcId="{81E82A4E-660D-4B89-8E46-F01E998CF234}" destId="{F4E096E7-E309-449C-AF8B-5A296EA906C4}" srcOrd="1" destOrd="0" parTransId="{F3688306-D560-4457-964B-726C46443E2A}" sibTransId="{E885EA05-1FFE-47D4-8502-58320F8AE3F5}"/>
    <dgm:cxn modelId="{D9DB5EC4-4D29-44DC-89C5-7DE69838E0FB}" type="presParOf" srcId="{45BDFC86-5515-4588-9635-7C14A989AA26}" destId="{084CEBD4-BCBA-45BE-85A0-F1EBB86D6FAA}" srcOrd="0" destOrd="0" presId="urn:microsoft.com/office/officeart/2005/8/layout/hList1"/>
    <dgm:cxn modelId="{16D66207-F596-498B-A526-89084311572A}" type="presParOf" srcId="{084CEBD4-BCBA-45BE-85A0-F1EBB86D6FAA}" destId="{0A0E1915-9D9D-42CA-B042-4CD43E01EB46}" srcOrd="0" destOrd="0" presId="urn:microsoft.com/office/officeart/2005/8/layout/hList1"/>
    <dgm:cxn modelId="{D7FC8791-AD69-456C-B322-73AC470273AF}" type="presParOf" srcId="{084CEBD4-BCBA-45BE-85A0-F1EBB86D6FAA}" destId="{95E3CB40-70C8-4251-9371-65AB16983D1B}" srcOrd="1" destOrd="0" presId="urn:microsoft.com/office/officeart/2005/8/layout/hList1"/>
    <dgm:cxn modelId="{23956487-ED7B-4352-A01D-E17AB1CA66C3}" type="presParOf" srcId="{45BDFC86-5515-4588-9635-7C14A989AA26}" destId="{53421B6A-2B30-49A7-B880-8776DCE5DB4B}" srcOrd="1" destOrd="0" presId="urn:microsoft.com/office/officeart/2005/8/layout/hList1"/>
    <dgm:cxn modelId="{FF053994-491C-4905-A2EC-9A302B85996B}" type="presParOf" srcId="{45BDFC86-5515-4588-9635-7C14A989AA26}" destId="{12600C52-721A-4BE1-8285-90A6B38FB27D}" srcOrd="2" destOrd="0" presId="urn:microsoft.com/office/officeart/2005/8/layout/hList1"/>
    <dgm:cxn modelId="{A53504C8-023D-48E5-A2EF-31327034D227}" type="presParOf" srcId="{12600C52-721A-4BE1-8285-90A6B38FB27D}" destId="{40C4515B-BD55-4381-85FB-4FE091B3440E}" srcOrd="0" destOrd="0" presId="urn:microsoft.com/office/officeart/2005/8/layout/hList1"/>
    <dgm:cxn modelId="{4BC7E349-D0D4-45F1-94A6-35510893E057}" type="presParOf" srcId="{12600C52-721A-4BE1-8285-90A6B38FB27D}" destId="{91A65E31-AD27-4BEE-B472-DF1900C7D724}"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E05827-7C5E-4011-BB54-A9825C894BC2}" type="doc">
      <dgm:prSet loTypeId="urn:microsoft.com/office/officeart/2005/8/layout/radial3" loCatId="relationship" qsTypeId="urn:microsoft.com/office/officeart/2005/8/quickstyle/simple4" qsCatId="simple" csTypeId="urn:microsoft.com/office/officeart/2005/8/colors/colorful1#1" csCatId="colorful" phldr="1"/>
      <dgm:spPr/>
      <dgm:t>
        <a:bodyPr/>
        <a:lstStyle/>
        <a:p>
          <a:endParaRPr lang="zh-CN" altLang="en-US"/>
        </a:p>
      </dgm:t>
    </dgm:pt>
    <dgm:pt modelId="{A76D0BFA-BC15-45DD-BEFB-67BB802BC730}">
      <dgm:prSet phldrT="[文本]" custT="1"/>
      <dgm:spPr/>
      <dgm:t>
        <a:bodyPr/>
        <a:lstStyle/>
        <a:p>
          <a:r>
            <a:rPr lang="zh-CN" altLang="en-US" sz="1800" b="1" dirty="0">
              <a:latin typeface="微软雅黑" panose="020B0503020204020204" pitchFamily="34" charset="-122"/>
              <a:ea typeface="微软雅黑" panose="020B0503020204020204" pitchFamily="34" charset="-122"/>
            </a:rPr>
            <a:t>互联网</a:t>
          </a:r>
        </a:p>
      </dgm:t>
    </dgm:pt>
    <dgm:pt modelId="{B00600B9-142A-48E4-AC4D-F087585498F0}" type="par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A64C42D-73C0-4271-8028-E940B4F42241}" type="sibTrans" cxnId="{9CB6F1FF-87D2-406B-ACF5-0ED45A7D7F4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18C9164-AF3E-4958-908B-D7485AFCEBF8}">
      <dgm:prSet phldrT="[文本]" custT="1"/>
      <dgm:spPr/>
      <dgm:t>
        <a:bodyPr/>
        <a:lstStyle/>
        <a:p>
          <a:r>
            <a:rPr lang="zh-CN" altLang="en-US" sz="1600" b="1" dirty="0">
              <a:latin typeface="微软雅黑" panose="020B0503020204020204" pitchFamily="34" charset="-122"/>
              <a:ea typeface="微软雅黑" panose="020B0503020204020204" pitchFamily="34" charset="-122"/>
            </a:rPr>
            <a:t>工业</a:t>
          </a:r>
        </a:p>
      </dgm:t>
    </dgm:pt>
    <dgm:pt modelId="{E3590D31-6E72-444F-9C49-1AE7EFE87DD0}" type="parTrans" cxnId="{43629A51-9669-4227-8CF2-06728FED7FB2}">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AA57978E-F1E4-45BC-98ED-B86BC4A8B02B}" type="sibTrans" cxnId="{43629A51-9669-4227-8CF2-06728FED7FB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89F969B-460A-4D7B-AFBB-F45D1D8FC7AC}">
      <dgm:prSet phldrT="[文本]" custT="1"/>
      <dgm:spPr/>
      <dgm:t>
        <a:bodyPr/>
        <a:lstStyle/>
        <a:p>
          <a:r>
            <a:rPr lang="zh-CN" altLang="en-US" sz="1600" b="1" dirty="0">
              <a:latin typeface="微软雅黑" panose="020B0503020204020204" pitchFamily="34" charset="-122"/>
              <a:ea typeface="微软雅黑" panose="020B0503020204020204" pitchFamily="34" charset="-122"/>
            </a:rPr>
            <a:t>农业</a:t>
          </a:r>
        </a:p>
      </dgm:t>
    </dgm:pt>
    <dgm:pt modelId="{BC8AED9C-6DB9-4718-BE03-2F8A9BAA1F72}" type="parTrans" cxnId="{AC754295-F863-4119-AC31-2B2660E39C1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2F9C0308-2ACC-48D6-B1DE-0A9B3F7C4D91}" type="sibTrans" cxnId="{AC754295-F863-4119-AC31-2B2660E39C1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BF6F5B7-7C58-4F3A-88BB-5CBC69534539}">
      <dgm:prSet phldrT="[文本]" custT="1"/>
      <dgm:spPr/>
      <dgm:t>
        <a:bodyPr/>
        <a:lstStyle/>
        <a:p>
          <a:r>
            <a:rPr lang="zh-CN" altLang="en-US" sz="1600" b="1" dirty="0">
              <a:latin typeface="微软雅黑" panose="020B0503020204020204" pitchFamily="34" charset="-122"/>
              <a:ea typeface="微软雅黑" panose="020B0503020204020204" pitchFamily="34" charset="-122"/>
            </a:rPr>
            <a:t>教育</a:t>
          </a:r>
        </a:p>
      </dgm:t>
    </dgm:pt>
    <dgm:pt modelId="{CF87773F-924A-4605-8570-035144C0F902}" type="parTrans" cxnId="{62D81B6B-A473-4711-8060-E2F235DB436A}">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6D1C614E-67DC-4BB9-BD87-711365F29683}" type="sibTrans" cxnId="{62D81B6B-A473-4711-8060-E2F235DB436A}">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AF6D72-8B6B-4080-8E8C-D4F56863B69E}">
      <dgm:prSet phldrT="[文本]" custT="1"/>
      <dgm:spPr/>
      <dgm:t>
        <a:bodyPr/>
        <a:lstStyle/>
        <a:p>
          <a:r>
            <a:rPr lang="zh-CN" altLang="en-US" sz="1600" b="1" dirty="0">
              <a:latin typeface="微软雅黑" panose="020B0503020204020204" pitchFamily="34" charset="-122"/>
              <a:ea typeface="微软雅黑" panose="020B0503020204020204" pitchFamily="34" charset="-122"/>
            </a:rPr>
            <a:t>医疗</a:t>
          </a:r>
        </a:p>
      </dgm:t>
    </dgm:pt>
    <dgm:pt modelId="{C35CA62F-8556-4DFD-8EC7-5CCA241BB612}" type="parTrans" cxnId="{534309C7-E5FF-4B2D-B8CF-45366536B25D}">
      <dgm:prSet custT="1"/>
      <dgm:spPr/>
      <dgm:t>
        <a:bodyPr/>
        <a:lstStyle/>
        <a:p>
          <a:endParaRPr lang="zh-CN" altLang="en-US" sz="1600" b="1">
            <a:latin typeface="微软雅黑" panose="020B0503020204020204" pitchFamily="34" charset="-122"/>
            <a:ea typeface="微软雅黑" panose="020B0503020204020204" pitchFamily="34" charset="-122"/>
          </a:endParaRPr>
        </a:p>
      </dgm:t>
    </dgm:pt>
    <dgm:pt modelId="{491DA168-3F2F-44B5-A64C-4106C44D9531}" type="sibTrans" cxnId="{534309C7-E5FF-4B2D-B8CF-45366536B25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6B298439-DC98-423F-B078-E8F5941082E6}">
      <dgm:prSet phldrT="[文本]" custT="1"/>
      <dgm:spPr/>
      <dgm:t>
        <a:bodyPr/>
        <a:lstStyle/>
        <a:p>
          <a:r>
            <a:rPr lang="zh-CN" altLang="en-US" sz="1600" b="1" dirty="0">
              <a:latin typeface="微软雅黑" panose="020B0503020204020204" pitchFamily="34" charset="-122"/>
              <a:ea typeface="微软雅黑" panose="020B0503020204020204" pitchFamily="34" charset="-122"/>
            </a:rPr>
            <a:t>政务</a:t>
          </a:r>
        </a:p>
      </dgm:t>
    </dgm:pt>
    <dgm:pt modelId="{FF507EB2-A21E-44CB-A397-7737883929F5}" type="parTrans" cxnId="{3131B5D7-C9F2-49E1-8EFF-59076BE387DD}">
      <dgm:prSet/>
      <dgm:spPr/>
      <dgm:t>
        <a:bodyPr/>
        <a:lstStyle/>
        <a:p>
          <a:endParaRPr lang="zh-CN" altLang="en-US" sz="1600"/>
        </a:p>
      </dgm:t>
    </dgm:pt>
    <dgm:pt modelId="{1069866B-901E-41AA-B611-96F392C306C9}" type="sibTrans" cxnId="{3131B5D7-C9F2-49E1-8EFF-59076BE387DD}">
      <dgm:prSet/>
      <dgm:spPr/>
      <dgm:t>
        <a:bodyPr/>
        <a:lstStyle/>
        <a:p>
          <a:endParaRPr lang="zh-CN" altLang="en-US" sz="1600"/>
        </a:p>
      </dgm:t>
    </dgm:pt>
    <dgm:pt modelId="{FAF2ACAA-EABC-4881-8EA7-397CDC13C55C}">
      <dgm:prSet phldrT="[文本]" custT="1"/>
      <dgm:spPr/>
      <dgm:t>
        <a:bodyPr/>
        <a:lstStyle/>
        <a:p>
          <a:r>
            <a:rPr lang="zh-CN" altLang="en-US" sz="1600" b="1" dirty="0">
              <a:latin typeface="微软雅黑" panose="020B0503020204020204" pitchFamily="34" charset="-122"/>
              <a:ea typeface="微软雅黑" panose="020B0503020204020204" pitchFamily="34" charset="-122"/>
            </a:rPr>
            <a:t>商业</a:t>
          </a:r>
        </a:p>
      </dgm:t>
    </dgm:pt>
    <dgm:pt modelId="{770E56DF-8F01-4967-83BA-12AEB9AE298C}" type="parTrans" cxnId="{DECB6BFE-C1AB-49B3-BF33-97FF73C68B80}">
      <dgm:prSet/>
      <dgm:spPr/>
      <dgm:t>
        <a:bodyPr/>
        <a:lstStyle/>
        <a:p>
          <a:endParaRPr lang="zh-CN" altLang="en-US" sz="1600"/>
        </a:p>
      </dgm:t>
    </dgm:pt>
    <dgm:pt modelId="{43BF5A98-9984-4620-885D-10BE9C053A43}" type="sibTrans" cxnId="{DECB6BFE-C1AB-49B3-BF33-97FF73C68B80}">
      <dgm:prSet/>
      <dgm:spPr/>
      <dgm:t>
        <a:bodyPr/>
        <a:lstStyle/>
        <a:p>
          <a:endParaRPr lang="zh-CN" altLang="en-US" sz="1600"/>
        </a:p>
      </dgm:t>
    </dgm:pt>
    <dgm:pt modelId="{26C274A2-A132-40CB-BA50-1DFD2114DDE8}">
      <dgm:prSet phldrT="[文本]" custT="1"/>
      <dgm:spPr/>
      <dgm:t>
        <a:bodyPr/>
        <a:lstStyle/>
        <a:p>
          <a:r>
            <a:rPr lang="zh-CN" altLang="en-US" sz="1600" b="1" dirty="0">
              <a:latin typeface="微软雅黑" panose="020B0503020204020204" pitchFamily="34" charset="-122"/>
              <a:ea typeface="微软雅黑" panose="020B0503020204020204" pitchFamily="34" charset="-122"/>
            </a:rPr>
            <a:t>交通</a:t>
          </a:r>
        </a:p>
      </dgm:t>
    </dgm:pt>
    <dgm:pt modelId="{18C167E5-9951-4075-9E11-75A610F80C55}" type="parTrans" cxnId="{2880779E-5D58-42D8-A4C9-2F8A8FE197F5}">
      <dgm:prSet/>
      <dgm:spPr/>
      <dgm:t>
        <a:bodyPr/>
        <a:lstStyle/>
        <a:p>
          <a:endParaRPr lang="zh-CN" altLang="en-US" sz="1600"/>
        </a:p>
      </dgm:t>
    </dgm:pt>
    <dgm:pt modelId="{969F8E18-0BF9-4FAE-83D0-6A6701ECCF82}" type="sibTrans" cxnId="{2880779E-5D58-42D8-A4C9-2F8A8FE197F5}">
      <dgm:prSet/>
      <dgm:spPr/>
      <dgm:t>
        <a:bodyPr/>
        <a:lstStyle/>
        <a:p>
          <a:endParaRPr lang="zh-CN" altLang="en-US" sz="1600"/>
        </a:p>
      </dgm:t>
    </dgm:pt>
    <dgm:pt modelId="{3F2C0775-94F4-47A1-AF4B-909B1853529B}">
      <dgm:prSet custT="1"/>
      <dgm:spPr/>
      <dgm:t>
        <a:bodyPr/>
        <a:lstStyle/>
        <a:p>
          <a:r>
            <a:rPr lang="zh-CN" altLang="en-US" sz="1600" b="1" dirty="0">
              <a:latin typeface="微软雅黑" panose="020B0503020204020204" pitchFamily="34" charset="-122"/>
              <a:ea typeface="微软雅黑" panose="020B0503020204020204" pitchFamily="34" charset="-122"/>
            </a:rPr>
            <a:t>金融</a:t>
          </a:r>
          <a:endParaRPr lang="zh-CN" altLang="en-US" sz="1600" dirty="0"/>
        </a:p>
      </dgm:t>
    </dgm:pt>
    <dgm:pt modelId="{A38B1822-9787-44D1-BD3C-ACBAACBABD01}" type="parTrans" cxnId="{44087A00-B1E0-4E66-BD03-92CCC0E2E57A}">
      <dgm:prSet/>
      <dgm:spPr/>
      <dgm:t>
        <a:bodyPr/>
        <a:lstStyle/>
        <a:p>
          <a:endParaRPr lang="zh-CN" altLang="en-US" sz="1600"/>
        </a:p>
      </dgm:t>
    </dgm:pt>
    <dgm:pt modelId="{97A5A0B2-98A0-41A2-94D6-5ACC569526A9}" type="sibTrans" cxnId="{44087A00-B1E0-4E66-BD03-92CCC0E2E57A}">
      <dgm:prSet/>
      <dgm:spPr/>
      <dgm:t>
        <a:bodyPr/>
        <a:lstStyle/>
        <a:p>
          <a:endParaRPr lang="zh-CN" altLang="en-US" sz="1600"/>
        </a:p>
      </dgm:t>
    </dgm:pt>
    <dgm:pt modelId="{2283875D-64D0-4EF8-BA5E-3A01B2889C9A}" type="pres">
      <dgm:prSet presAssocID="{E5E05827-7C5E-4011-BB54-A9825C894BC2}" presName="composite" presStyleCnt="0">
        <dgm:presLayoutVars>
          <dgm:chMax val="1"/>
          <dgm:dir/>
          <dgm:resizeHandles val="exact"/>
        </dgm:presLayoutVars>
      </dgm:prSet>
      <dgm:spPr/>
    </dgm:pt>
    <dgm:pt modelId="{B56D683E-7C9C-4207-B0C8-0781DA70F281}" type="pres">
      <dgm:prSet presAssocID="{E5E05827-7C5E-4011-BB54-A9825C894BC2}" presName="radial" presStyleCnt="0">
        <dgm:presLayoutVars>
          <dgm:animLvl val="ctr"/>
        </dgm:presLayoutVars>
      </dgm:prSet>
      <dgm:spPr/>
    </dgm:pt>
    <dgm:pt modelId="{697450F4-F441-4296-8335-01351F8E1B2B}" type="pres">
      <dgm:prSet presAssocID="{A76D0BFA-BC15-45DD-BEFB-67BB802BC730}" presName="centerShape" presStyleLbl="vennNode1" presStyleIdx="0" presStyleCnt="9"/>
      <dgm:spPr/>
    </dgm:pt>
    <dgm:pt modelId="{CE8AFE2D-2AC2-45F0-88B8-B2568168C3FF}" type="pres">
      <dgm:prSet presAssocID="{B18C9164-AF3E-4958-908B-D7485AFCEBF8}" presName="node" presStyleLbl="vennNode1" presStyleIdx="1" presStyleCnt="9">
        <dgm:presLayoutVars>
          <dgm:bulletEnabled val="1"/>
        </dgm:presLayoutVars>
      </dgm:prSet>
      <dgm:spPr/>
    </dgm:pt>
    <dgm:pt modelId="{670A9751-EDA7-44BE-84F6-DA052AFC6D1C}" type="pres">
      <dgm:prSet presAssocID="{289F969B-460A-4D7B-AFBB-F45D1D8FC7AC}" presName="node" presStyleLbl="vennNode1" presStyleIdx="2" presStyleCnt="9">
        <dgm:presLayoutVars>
          <dgm:bulletEnabled val="1"/>
        </dgm:presLayoutVars>
      </dgm:prSet>
      <dgm:spPr/>
    </dgm:pt>
    <dgm:pt modelId="{242A4B1B-E8FC-49C8-BFF1-60EED0B2A276}" type="pres">
      <dgm:prSet presAssocID="{CBF6F5B7-7C58-4F3A-88BB-5CBC69534539}" presName="node" presStyleLbl="vennNode1" presStyleIdx="3" presStyleCnt="9">
        <dgm:presLayoutVars>
          <dgm:bulletEnabled val="1"/>
        </dgm:presLayoutVars>
      </dgm:prSet>
      <dgm:spPr/>
    </dgm:pt>
    <dgm:pt modelId="{C0A173BA-2876-4F61-AAD1-FA50AD3DFDD0}" type="pres">
      <dgm:prSet presAssocID="{55AF6D72-8B6B-4080-8E8C-D4F56863B69E}" presName="node" presStyleLbl="vennNode1" presStyleIdx="4" presStyleCnt="9">
        <dgm:presLayoutVars>
          <dgm:bulletEnabled val="1"/>
        </dgm:presLayoutVars>
      </dgm:prSet>
      <dgm:spPr/>
    </dgm:pt>
    <dgm:pt modelId="{D951B7E8-AF72-41D8-8F8D-E56CFF2EB951}" type="pres">
      <dgm:prSet presAssocID="{FAF2ACAA-EABC-4881-8EA7-397CDC13C55C}" presName="node" presStyleLbl="vennNode1" presStyleIdx="5" presStyleCnt="9">
        <dgm:presLayoutVars>
          <dgm:bulletEnabled val="1"/>
        </dgm:presLayoutVars>
      </dgm:prSet>
      <dgm:spPr/>
    </dgm:pt>
    <dgm:pt modelId="{2343D8A9-7AEC-4D40-8773-498EA64A78FE}" type="pres">
      <dgm:prSet presAssocID="{26C274A2-A132-40CB-BA50-1DFD2114DDE8}" presName="node" presStyleLbl="vennNode1" presStyleIdx="6" presStyleCnt="9">
        <dgm:presLayoutVars>
          <dgm:bulletEnabled val="1"/>
        </dgm:presLayoutVars>
      </dgm:prSet>
      <dgm:spPr/>
    </dgm:pt>
    <dgm:pt modelId="{4B8ABBE8-E9C9-4F6B-9525-8C9A18414CDE}" type="pres">
      <dgm:prSet presAssocID="{3F2C0775-94F4-47A1-AF4B-909B1853529B}" presName="node" presStyleLbl="vennNode1" presStyleIdx="7" presStyleCnt="9">
        <dgm:presLayoutVars>
          <dgm:bulletEnabled val="1"/>
        </dgm:presLayoutVars>
      </dgm:prSet>
      <dgm:spPr/>
    </dgm:pt>
    <dgm:pt modelId="{C13D16A4-6F51-437B-A7BA-09AB4609C68B}" type="pres">
      <dgm:prSet presAssocID="{6B298439-DC98-423F-B078-E8F5941082E6}" presName="node" presStyleLbl="vennNode1" presStyleIdx="8" presStyleCnt="9">
        <dgm:presLayoutVars>
          <dgm:bulletEnabled val="1"/>
        </dgm:presLayoutVars>
      </dgm:prSet>
      <dgm:spPr/>
    </dgm:pt>
  </dgm:ptLst>
  <dgm:cxnLst>
    <dgm:cxn modelId="{44087A00-B1E0-4E66-BD03-92CCC0E2E57A}" srcId="{A76D0BFA-BC15-45DD-BEFB-67BB802BC730}" destId="{3F2C0775-94F4-47A1-AF4B-909B1853529B}" srcOrd="6" destOrd="0" parTransId="{A38B1822-9787-44D1-BD3C-ACBAACBABD01}" sibTransId="{97A5A0B2-98A0-41A2-94D6-5ACC569526A9}"/>
    <dgm:cxn modelId="{671CAE00-FF67-446A-B055-58534C0F19A8}" type="presOf" srcId="{B18C9164-AF3E-4958-908B-D7485AFCEBF8}" destId="{CE8AFE2D-2AC2-45F0-88B8-B2568168C3FF}" srcOrd="0" destOrd="0" presId="urn:microsoft.com/office/officeart/2005/8/layout/radial3"/>
    <dgm:cxn modelId="{E1145A10-C3F5-4120-9951-ED8E95DF626C}" type="presOf" srcId="{6B298439-DC98-423F-B078-E8F5941082E6}" destId="{C13D16A4-6F51-437B-A7BA-09AB4609C68B}" srcOrd="0" destOrd="0" presId="urn:microsoft.com/office/officeart/2005/8/layout/radial3"/>
    <dgm:cxn modelId="{FE3E4F19-BD5A-4BF1-9C7C-1F6EBA21FDB2}" type="presOf" srcId="{55AF6D72-8B6B-4080-8E8C-D4F56863B69E}" destId="{C0A173BA-2876-4F61-AAD1-FA50AD3DFDD0}" srcOrd="0" destOrd="0" presId="urn:microsoft.com/office/officeart/2005/8/layout/radial3"/>
    <dgm:cxn modelId="{1C9E9E21-DB3F-4EE8-826E-495B8AF8311D}" type="presOf" srcId="{289F969B-460A-4D7B-AFBB-F45D1D8FC7AC}" destId="{670A9751-EDA7-44BE-84F6-DA052AFC6D1C}" srcOrd="0" destOrd="0" presId="urn:microsoft.com/office/officeart/2005/8/layout/radial3"/>
    <dgm:cxn modelId="{34C7A264-38DC-418F-BC6E-C3B4A95B5E47}" type="presOf" srcId="{A76D0BFA-BC15-45DD-BEFB-67BB802BC730}" destId="{697450F4-F441-4296-8335-01351F8E1B2B}" srcOrd="0" destOrd="0" presId="urn:microsoft.com/office/officeart/2005/8/layout/radial3"/>
    <dgm:cxn modelId="{62D81B6B-A473-4711-8060-E2F235DB436A}" srcId="{A76D0BFA-BC15-45DD-BEFB-67BB802BC730}" destId="{CBF6F5B7-7C58-4F3A-88BB-5CBC69534539}" srcOrd="2" destOrd="0" parTransId="{CF87773F-924A-4605-8570-035144C0F902}" sibTransId="{6D1C614E-67DC-4BB9-BD87-711365F29683}"/>
    <dgm:cxn modelId="{9A2D7B6E-102A-4276-9A10-DB1F7EAB1F95}" type="presOf" srcId="{E5E05827-7C5E-4011-BB54-A9825C894BC2}" destId="{2283875D-64D0-4EF8-BA5E-3A01B2889C9A}" srcOrd="0" destOrd="0" presId="urn:microsoft.com/office/officeart/2005/8/layout/radial3"/>
    <dgm:cxn modelId="{43629A51-9669-4227-8CF2-06728FED7FB2}" srcId="{A76D0BFA-BC15-45DD-BEFB-67BB802BC730}" destId="{B18C9164-AF3E-4958-908B-D7485AFCEBF8}" srcOrd="0" destOrd="0" parTransId="{E3590D31-6E72-444F-9C49-1AE7EFE87DD0}" sibTransId="{AA57978E-F1E4-45BC-98ED-B86BC4A8B02B}"/>
    <dgm:cxn modelId="{41D3E594-5567-4F8A-ADC0-6231A9A4BF12}" type="presOf" srcId="{26C274A2-A132-40CB-BA50-1DFD2114DDE8}" destId="{2343D8A9-7AEC-4D40-8773-498EA64A78FE}" srcOrd="0" destOrd="0" presId="urn:microsoft.com/office/officeart/2005/8/layout/radial3"/>
    <dgm:cxn modelId="{AC754295-F863-4119-AC31-2B2660E39C1A}" srcId="{A76D0BFA-BC15-45DD-BEFB-67BB802BC730}" destId="{289F969B-460A-4D7B-AFBB-F45D1D8FC7AC}" srcOrd="1" destOrd="0" parTransId="{BC8AED9C-6DB9-4718-BE03-2F8A9BAA1F72}" sibTransId="{2F9C0308-2ACC-48D6-B1DE-0A9B3F7C4D91}"/>
    <dgm:cxn modelId="{2880779E-5D58-42D8-A4C9-2F8A8FE197F5}" srcId="{A76D0BFA-BC15-45DD-BEFB-67BB802BC730}" destId="{26C274A2-A132-40CB-BA50-1DFD2114DDE8}" srcOrd="5" destOrd="0" parTransId="{18C167E5-9951-4075-9E11-75A610F80C55}" sibTransId="{969F8E18-0BF9-4FAE-83D0-6A6701ECCF82}"/>
    <dgm:cxn modelId="{534309C7-E5FF-4B2D-B8CF-45366536B25D}" srcId="{A76D0BFA-BC15-45DD-BEFB-67BB802BC730}" destId="{55AF6D72-8B6B-4080-8E8C-D4F56863B69E}" srcOrd="3" destOrd="0" parTransId="{C35CA62F-8556-4DFD-8EC7-5CCA241BB612}" sibTransId="{491DA168-3F2F-44B5-A64C-4106C44D9531}"/>
    <dgm:cxn modelId="{960F42CD-A079-47D0-A3DB-DFB4595FF8F4}" type="presOf" srcId="{CBF6F5B7-7C58-4F3A-88BB-5CBC69534539}" destId="{242A4B1B-E8FC-49C8-BFF1-60EED0B2A276}" srcOrd="0" destOrd="0" presId="urn:microsoft.com/office/officeart/2005/8/layout/radial3"/>
    <dgm:cxn modelId="{3131B5D7-C9F2-49E1-8EFF-59076BE387DD}" srcId="{A76D0BFA-BC15-45DD-BEFB-67BB802BC730}" destId="{6B298439-DC98-423F-B078-E8F5941082E6}" srcOrd="7" destOrd="0" parTransId="{FF507EB2-A21E-44CB-A397-7737883929F5}" sibTransId="{1069866B-901E-41AA-B611-96F392C306C9}"/>
    <dgm:cxn modelId="{ED9447EC-C4D5-4F03-BF67-2F0986A3EEB3}" type="presOf" srcId="{3F2C0775-94F4-47A1-AF4B-909B1853529B}" destId="{4B8ABBE8-E9C9-4F6B-9525-8C9A18414CDE}" srcOrd="0" destOrd="0" presId="urn:microsoft.com/office/officeart/2005/8/layout/radial3"/>
    <dgm:cxn modelId="{B37E0EFB-4E40-4FEE-8B05-4AE2EB6D24A8}" type="presOf" srcId="{FAF2ACAA-EABC-4881-8EA7-397CDC13C55C}" destId="{D951B7E8-AF72-41D8-8F8D-E56CFF2EB951}" srcOrd="0" destOrd="0" presId="urn:microsoft.com/office/officeart/2005/8/layout/radial3"/>
    <dgm:cxn modelId="{DECB6BFE-C1AB-49B3-BF33-97FF73C68B80}" srcId="{A76D0BFA-BC15-45DD-BEFB-67BB802BC730}" destId="{FAF2ACAA-EABC-4881-8EA7-397CDC13C55C}" srcOrd="4" destOrd="0" parTransId="{770E56DF-8F01-4967-83BA-12AEB9AE298C}" sibTransId="{43BF5A98-9984-4620-885D-10BE9C053A43}"/>
    <dgm:cxn modelId="{9CB6F1FF-87D2-406B-ACF5-0ED45A7D7F44}" srcId="{E5E05827-7C5E-4011-BB54-A9825C894BC2}" destId="{A76D0BFA-BC15-45DD-BEFB-67BB802BC730}" srcOrd="0" destOrd="0" parTransId="{B00600B9-142A-48E4-AC4D-F087585498F0}" sibTransId="{1A64C42D-73C0-4271-8028-E940B4F42241}"/>
    <dgm:cxn modelId="{6E1AC565-CA31-4D1F-AEDC-94CB71666459}" type="presParOf" srcId="{2283875D-64D0-4EF8-BA5E-3A01B2889C9A}" destId="{B56D683E-7C9C-4207-B0C8-0781DA70F281}" srcOrd="0" destOrd="0" presId="urn:microsoft.com/office/officeart/2005/8/layout/radial3"/>
    <dgm:cxn modelId="{1CDAEEA2-878E-4004-9A51-79A46310453B}" type="presParOf" srcId="{B56D683E-7C9C-4207-B0C8-0781DA70F281}" destId="{697450F4-F441-4296-8335-01351F8E1B2B}" srcOrd="0" destOrd="0" presId="urn:microsoft.com/office/officeart/2005/8/layout/radial3"/>
    <dgm:cxn modelId="{2BAE2F8F-9C9B-42B4-BEE4-6A370460910A}" type="presParOf" srcId="{B56D683E-7C9C-4207-B0C8-0781DA70F281}" destId="{CE8AFE2D-2AC2-45F0-88B8-B2568168C3FF}" srcOrd="1" destOrd="0" presId="urn:microsoft.com/office/officeart/2005/8/layout/radial3"/>
    <dgm:cxn modelId="{5113B970-C13B-410E-BAE9-EC7E41AE1703}" type="presParOf" srcId="{B56D683E-7C9C-4207-B0C8-0781DA70F281}" destId="{670A9751-EDA7-44BE-84F6-DA052AFC6D1C}" srcOrd="2" destOrd="0" presId="urn:microsoft.com/office/officeart/2005/8/layout/radial3"/>
    <dgm:cxn modelId="{A7DB3A97-510A-490C-875A-3CCDF48C0C9C}" type="presParOf" srcId="{B56D683E-7C9C-4207-B0C8-0781DA70F281}" destId="{242A4B1B-E8FC-49C8-BFF1-60EED0B2A276}" srcOrd="3" destOrd="0" presId="urn:microsoft.com/office/officeart/2005/8/layout/radial3"/>
    <dgm:cxn modelId="{A9B28D62-23AA-47E3-ACC7-5418386FDD7F}" type="presParOf" srcId="{B56D683E-7C9C-4207-B0C8-0781DA70F281}" destId="{C0A173BA-2876-4F61-AAD1-FA50AD3DFDD0}" srcOrd="4" destOrd="0" presId="urn:microsoft.com/office/officeart/2005/8/layout/radial3"/>
    <dgm:cxn modelId="{D31E7E80-7C5E-4183-B574-91C1CB4D1142}" type="presParOf" srcId="{B56D683E-7C9C-4207-B0C8-0781DA70F281}" destId="{D951B7E8-AF72-41D8-8F8D-E56CFF2EB951}" srcOrd="5" destOrd="0" presId="urn:microsoft.com/office/officeart/2005/8/layout/radial3"/>
    <dgm:cxn modelId="{6D4E746B-9B5A-41EE-9D32-56664D21A1E6}" type="presParOf" srcId="{B56D683E-7C9C-4207-B0C8-0781DA70F281}" destId="{2343D8A9-7AEC-4D40-8773-498EA64A78FE}" srcOrd="6" destOrd="0" presId="urn:microsoft.com/office/officeart/2005/8/layout/radial3"/>
    <dgm:cxn modelId="{0E5D4A10-2E63-432B-B7AD-B4B508FC16E8}" type="presParOf" srcId="{B56D683E-7C9C-4207-B0C8-0781DA70F281}" destId="{4B8ABBE8-E9C9-4F6B-9525-8C9A18414CDE}" srcOrd="7" destOrd="0" presId="urn:microsoft.com/office/officeart/2005/8/layout/radial3"/>
    <dgm:cxn modelId="{F5F98F4B-A524-43CE-99A7-D5C35E51CA3C}" type="presParOf" srcId="{B56D683E-7C9C-4207-B0C8-0781DA70F281}" destId="{C13D16A4-6F51-437B-A7BA-09AB4609C68B}" srcOrd="8" destOrd="0" presId="urn:microsoft.com/office/officeart/2005/8/layout/radial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1D1D430-D996-41E4-BA1B-C6A83F36946C}" type="doc">
      <dgm:prSet loTypeId="urn:microsoft.com/office/officeart/2005/8/layout/vList3#1" loCatId="picture" qsTypeId="urn:microsoft.com/office/officeart/2005/8/quickstyle/simple1" qsCatId="simple" csTypeId="urn:microsoft.com/office/officeart/2005/8/colors/colorful1#2" csCatId="colorful" phldr="1"/>
      <dgm:spPr/>
    </dgm:pt>
    <dgm:pt modelId="{8A4F00E3-F46A-4CBA-82B2-5A10E450DA39}">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传播病毒</a:t>
          </a:r>
        </a:p>
      </dgm:t>
    </dgm:pt>
    <dgm:pt modelId="{F63FFB52-3939-4213-9316-F1327036C529}" type="par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D19CD92A-5807-415A-BBC1-E7A8527C6153}" type="sibTrans" cxnId="{DAEBBFB6-C82D-4C01-9BF5-DD42C1C4BF17}">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F2D3D92D-8243-45A0-9045-A4D63E6E7F4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窃取：数据，钱财等</a:t>
          </a:r>
        </a:p>
      </dgm:t>
    </dgm:pt>
    <dgm:pt modelId="{940EF993-6126-4520-B05A-6D4B241C30CB}" type="par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B918B45-34EC-4674-8DDA-B9430DE47AFA}" type="sibTrans" cxnId="{2775021C-D204-4FE7-A731-4792D5389EAD}">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56F9FD42-4583-4A28-8C5F-0BD3A1160431}">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欺诈</a:t>
          </a:r>
        </a:p>
      </dgm:t>
    </dgm:pt>
    <dgm:pt modelId="{E99CA429-E7B4-4EB5-8DDD-E6592C4B95C3}" type="par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80B7C9B3-F9FA-414C-9AB1-BC88F070EAB5}" type="sibTrans" cxnId="{C030390E-43E1-40B4-8924-ADAF9AF0BDDE}">
      <dgm:prSet/>
      <dgm:spPr/>
      <dgm:t>
        <a:bodyPr/>
        <a:lstStyle/>
        <a:p>
          <a:pPr algn="l"/>
          <a:endParaRPr lang="zh-CN" altLang="en-US" sz="1600" b="1">
            <a:solidFill>
              <a:schemeClr val="tx1"/>
            </a:solidFill>
            <a:latin typeface="微软雅黑" panose="020B0503020204020204" pitchFamily="34" charset="-122"/>
            <a:ea typeface="微软雅黑" panose="020B0503020204020204" pitchFamily="34" charset="-122"/>
          </a:endParaRPr>
        </a:p>
      </dgm:t>
    </dgm:pt>
    <dgm:pt modelId="{39CEBE93-D45D-49EC-B30B-C25BD2F76776}">
      <dgm:prSet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散布谣言</a:t>
          </a:r>
        </a:p>
      </dgm:t>
    </dgm:pt>
    <dgm:pt modelId="{AA55A792-AF04-4098-B181-C38BF0226235}" type="parTrans" cxnId="{B05209F2-E2B6-415B-AAC7-5128F62E2C8E}">
      <dgm:prSet/>
      <dgm:spPr/>
      <dgm:t>
        <a:bodyPr/>
        <a:lstStyle/>
        <a:p>
          <a:pPr algn="l"/>
          <a:endParaRPr lang="zh-CN" altLang="en-US" sz="1600" b="1">
            <a:solidFill>
              <a:schemeClr val="tx1"/>
            </a:solidFill>
          </a:endParaRPr>
        </a:p>
      </dgm:t>
    </dgm:pt>
    <dgm:pt modelId="{13D24FEC-663A-4F2E-8991-319EA99DA20B}" type="sibTrans" cxnId="{B05209F2-E2B6-415B-AAC7-5128F62E2C8E}">
      <dgm:prSet/>
      <dgm:spPr/>
      <dgm:t>
        <a:bodyPr/>
        <a:lstStyle/>
        <a:p>
          <a:pPr algn="l"/>
          <a:endParaRPr lang="zh-CN" altLang="en-US" sz="1600" b="1">
            <a:solidFill>
              <a:schemeClr val="tx1"/>
            </a:solidFill>
          </a:endParaRPr>
        </a:p>
      </dgm:t>
    </dgm:pt>
    <dgm:pt modelId="{31271BEB-9A8A-4822-9836-B74D69D06E6E}">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不良信息</a:t>
          </a:r>
        </a:p>
      </dgm:t>
    </dgm:pt>
    <dgm:pt modelId="{18ECF403-4643-451F-AA8F-EAB068A079EE}" type="parTrans" cxnId="{58D8FC51-173E-4B93-9AC0-A73CED98A0F9}">
      <dgm:prSet/>
      <dgm:spPr/>
      <dgm:t>
        <a:bodyPr/>
        <a:lstStyle/>
        <a:p>
          <a:pPr algn="l"/>
          <a:endParaRPr lang="zh-CN" altLang="en-US">
            <a:solidFill>
              <a:schemeClr val="tx1"/>
            </a:solidFill>
          </a:endParaRPr>
        </a:p>
      </dgm:t>
    </dgm:pt>
    <dgm:pt modelId="{E5288AD6-4E26-4FCD-AAA0-B6E8B2F83D76}" type="sibTrans" cxnId="{58D8FC51-173E-4B93-9AC0-A73CED98A0F9}">
      <dgm:prSet/>
      <dgm:spPr/>
      <dgm:t>
        <a:bodyPr/>
        <a:lstStyle/>
        <a:p>
          <a:pPr algn="l"/>
          <a:endParaRPr lang="zh-CN" altLang="en-US">
            <a:solidFill>
              <a:schemeClr val="tx1"/>
            </a:solidFill>
          </a:endParaRPr>
        </a:p>
      </dgm:t>
    </dgm:pt>
    <dgm:pt modelId="{345A0E49-CE9E-42D8-BBD9-5125A1B2C1A0}">
      <dgm:prSet phldrT="[文本]" custT="1"/>
      <dgm:spPr/>
      <dgm:t>
        <a:bodyPr/>
        <a:lstStyle/>
        <a:p>
          <a:pPr algn="l"/>
          <a:r>
            <a:rPr lang="zh-CN" altLang="en-US" sz="1600" b="1" dirty="0">
              <a:solidFill>
                <a:schemeClr val="tx1"/>
              </a:solidFill>
              <a:latin typeface="微软雅黑" panose="020B0503020204020204" pitchFamily="34" charset="-122"/>
              <a:ea typeface="微软雅黑" panose="020B0503020204020204" pitchFamily="34" charset="-122"/>
            </a:rPr>
            <a:t>网瘾</a:t>
          </a:r>
        </a:p>
      </dgm:t>
    </dgm:pt>
    <dgm:pt modelId="{AF7CF8DB-9D81-41A4-977C-9BE1758196B4}" type="parTrans" cxnId="{EBFD6E5A-7A20-4CF4-9BB9-8C814639A37B}">
      <dgm:prSet/>
      <dgm:spPr/>
      <dgm:t>
        <a:bodyPr/>
        <a:lstStyle/>
        <a:p>
          <a:endParaRPr lang="zh-CN" altLang="en-US">
            <a:solidFill>
              <a:schemeClr val="tx1"/>
            </a:solidFill>
          </a:endParaRPr>
        </a:p>
      </dgm:t>
    </dgm:pt>
    <dgm:pt modelId="{071806DC-3B9D-4BBE-966F-31C19BC1B5BD}" type="sibTrans" cxnId="{EBFD6E5A-7A20-4CF4-9BB9-8C814639A37B}">
      <dgm:prSet/>
      <dgm:spPr/>
      <dgm:t>
        <a:bodyPr/>
        <a:lstStyle/>
        <a:p>
          <a:endParaRPr lang="zh-CN" altLang="en-US">
            <a:solidFill>
              <a:schemeClr val="tx1"/>
            </a:solidFill>
          </a:endParaRPr>
        </a:p>
      </dgm:t>
    </dgm:pt>
    <dgm:pt modelId="{41CEA816-6376-493D-B9E5-598751467D72}">
      <dgm:prSet phldrT="[文本]" custT="1"/>
      <dgm:spPr/>
      <dgm:t>
        <a:bodyPr/>
        <a:lstStyle/>
        <a:p>
          <a:pPr algn="l"/>
          <a:r>
            <a:rPr lang="en-US" altLang="zh-CN" sz="1600" b="1">
              <a:solidFill>
                <a:schemeClr val="tx1"/>
              </a:solidFill>
              <a:latin typeface="微软雅黑" panose="020B0503020204020204" pitchFamily="34" charset="-122"/>
              <a:ea typeface="微软雅黑" panose="020B0503020204020204" pitchFamily="34" charset="-122"/>
            </a:rPr>
            <a:t>……</a:t>
          </a:r>
          <a:endParaRPr lang="zh-CN" altLang="en-US" sz="1600" b="1" dirty="0">
            <a:solidFill>
              <a:schemeClr val="tx1"/>
            </a:solidFill>
            <a:latin typeface="微软雅黑" panose="020B0503020204020204" pitchFamily="34" charset="-122"/>
            <a:ea typeface="微软雅黑" panose="020B0503020204020204" pitchFamily="34" charset="-122"/>
          </a:endParaRPr>
        </a:p>
      </dgm:t>
    </dgm:pt>
    <dgm:pt modelId="{55B9415A-8452-48F8-B878-407D67BB953D}" type="parTrans" cxnId="{3B416CD1-15BF-4252-98CA-E9EF29FD84C3}">
      <dgm:prSet/>
      <dgm:spPr/>
      <dgm:t>
        <a:bodyPr/>
        <a:lstStyle/>
        <a:p>
          <a:endParaRPr lang="zh-CN" altLang="en-US">
            <a:solidFill>
              <a:schemeClr val="tx1"/>
            </a:solidFill>
          </a:endParaRPr>
        </a:p>
      </dgm:t>
    </dgm:pt>
    <dgm:pt modelId="{83C14E44-8D8D-4FCB-B967-B8ADA78E25B7}" type="sibTrans" cxnId="{3B416CD1-15BF-4252-98CA-E9EF29FD84C3}">
      <dgm:prSet/>
      <dgm:spPr/>
      <dgm:t>
        <a:bodyPr/>
        <a:lstStyle/>
        <a:p>
          <a:endParaRPr lang="zh-CN" altLang="en-US">
            <a:solidFill>
              <a:schemeClr val="tx1"/>
            </a:solidFill>
          </a:endParaRPr>
        </a:p>
      </dgm:t>
    </dgm:pt>
    <dgm:pt modelId="{B9B6B670-2E60-4D51-A0B1-71512ED65AD3}" type="pres">
      <dgm:prSet presAssocID="{51D1D430-D996-41E4-BA1B-C6A83F36946C}" presName="linearFlow" presStyleCnt="0">
        <dgm:presLayoutVars>
          <dgm:dir/>
          <dgm:resizeHandles val="exact"/>
        </dgm:presLayoutVars>
      </dgm:prSet>
      <dgm:spPr/>
    </dgm:pt>
    <dgm:pt modelId="{F2AD5EEB-A85F-4177-B696-809101961F83}" type="pres">
      <dgm:prSet presAssocID="{8A4F00E3-F46A-4CBA-82B2-5A10E450DA39}" presName="composite" presStyleCnt="0"/>
      <dgm:spPr/>
    </dgm:pt>
    <dgm:pt modelId="{AB5BAA63-A84A-45D9-BE90-07814A821613}" type="pres">
      <dgm:prSet presAssocID="{8A4F00E3-F46A-4CBA-82B2-5A10E450DA39}" presName="imgShp" presStyleLbl="fgImgPlace1" presStyleIdx="0" presStyleCnt="7"/>
      <dgm:spPr>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dgm:spPr>
    </dgm:pt>
    <dgm:pt modelId="{E7634DBF-D9F5-4E0A-9541-5A67CB150864}" type="pres">
      <dgm:prSet presAssocID="{8A4F00E3-F46A-4CBA-82B2-5A10E450DA39}" presName="txShp" presStyleLbl="node1" presStyleIdx="0" presStyleCnt="7">
        <dgm:presLayoutVars>
          <dgm:bulletEnabled val="1"/>
        </dgm:presLayoutVars>
      </dgm:prSet>
      <dgm:spPr/>
    </dgm:pt>
    <dgm:pt modelId="{D1D9857F-15E6-4B91-A663-416ED206BADD}" type="pres">
      <dgm:prSet presAssocID="{D19CD92A-5807-415A-BBC1-E7A8527C6153}" presName="spacing" presStyleCnt="0"/>
      <dgm:spPr/>
    </dgm:pt>
    <dgm:pt modelId="{12412F22-97B5-4E84-85F7-5C72B5D55869}" type="pres">
      <dgm:prSet presAssocID="{F2D3D92D-8243-45A0-9045-A4D63E6E7F40}" presName="composite" presStyleCnt="0"/>
      <dgm:spPr/>
    </dgm:pt>
    <dgm:pt modelId="{04B9F40C-275B-47DA-8505-BDB99315D1A6}" type="pres">
      <dgm:prSet presAssocID="{F2D3D92D-8243-45A0-9045-A4D63E6E7F40}" presName="imgShp" presStyleLbl="fgImgPlace1" presStyleIdx="1" presStyleCnt="7"/>
      <dgm:spPr>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dgm:spPr>
    </dgm:pt>
    <dgm:pt modelId="{DD0567C2-639F-4DB2-8F5D-E4A1F0FA8E3D}" type="pres">
      <dgm:prSet presAssocID="{F2D3D92D-8243-45A0-9045-A4D63E6E7F40}" presName="txShp" presStyleLbl="node1" presStyleIdx="1" presStyleCnt="7">
        <dgm:presLayoutVars>
          <dgm:bulletEnabled val="1"/>
        </dgm:presLayoutVars>
      </dgm:prSet>
      <dgm:spPr/>
    </dgm:pt>
    <dgm:pt modelId="{7DD80274-21D7-4344-9B36-514B249C9ADD}" type="pres">
      <dgm:prSet presAssocID="{3B918B45-34EC-4674-8DDA-B9430DE47AFA}" presName="spacing" presStyleCnt="0"/>
      <dgm:spPr/>
    </dgm:pt>
    <dgm:pt modelId="{B8150EEF-7957-44CB-B2A8-4AE563810168}" type="pres">
      <dgm:prSet presAssocID="{39CEBE93-D45D-49EC-B30B-C25BD2F76776}" presName="composite" presStyleCnt="0"/>
      <dgm:spPr/>
    </dgm:pt>
    <dgm:pt modelId="{92DE488D-B3DE-493C-AC30-DA96AC1FFB62}" type="pres">
      <dgm:prSet presAssocID="{39CEBE93-D45D-49EC-B30B-C25BD2F76776}" presName="imgShp" presStyleLbl="fgImgPlace1" presStyleIdx="2" presStyleCnt="7"/>
      <dgm:spPr>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dgm:spPr>
    </dgm:pt>
    <dgm:pt modelId="{32459D94-7759-4D01-B95F-2FAC20F969A3}" type="pres">
      <dgm:prSet presAssocID="{39CEBE93-D45D-49EC-B30B-C25BD2F76776}" presName="txShp" presStyleLbl="node1" presStyleIdx="2" presStyleCnt="7">
        <dgm:presLayoutVars>
          <dgm:bulletEnabled val="1"/>
        </dgm:presLayoutVars>
      </dgm:prSet>
      <dgm:spPr/>
    </dgm:pt>
    <dgm:pt modelId="{47834BAD-A98A-4433-9076-8E91796A6670}" type="pres">
      <dgm:prSet presAssocID="{13D24FEC-663A-4F2E-8991-319EA99DA20B}" presName="spacing" presStyleCnt="0"/>
      <dgm:spPr/>
    </dgm:pt>
    <dgm:pt modelId="{A5226936-B418-4B24-BA2B-AC29D3FDCEB2}" type="pres">
      <dgm:prSet presAssocID="{31271BEB-9A8A-4822-9836-B74D69D06E6E}" presName="composite" presStyleCnt="0"/>
      <dgm:spPr/>
    </dgm:pt>
    <dgm:pt modelId="{A6F09614-1B57-44CB-B907-F8E2D46EFEED}" type="pres">
      <dgm:prSet presAssocID="{31271BEB-9A8A-4822-9836-B74D69D06E6E}" presName="imgShp" presStyleLbl="fgImgPlace1" presStyleIdx="3" presStyleCnt="7"/>
      <dgm:spPr>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dgm:spPr>
    </dgm:pt>
    <dgm:pt modelId="{FB7E7170-F4B7-4B0B-9000-4BF0206D9353}" type="pres">
      <dgm:prSet presAssocID="{31271BEB-9A8A-4822-9836-B74D69D06E6E}" presName="txShp" presStyleLbl="node1" presStyleIdx="3" presStyleCnt="7">
        <dgm:presLayoutVars>
          <dgm:bulletEnabled val="1"/>
        </dgm:presLayoutVars>
      </dgm:prSet>
      <dgm:spPr/>
    </dgm:pt>
    <dgm:pt modelId="{6E1D45FB-D7A7-4118-AD94-01DFBABBF3DA}" type="pres">
      <dgm:prSet presAssocID="{E5288AD6-4E26-4FCD-AAA0-B6E8B2F83D76}" presName="spacing" presStyleCnt="0"/>
      <dgm:spPr/>
    </dgm:pt>
    <dgm:pt modelId="{F0C15FC7-06CF-45A4-8275-8B38944324A5}" type="pres">
      <dgm:prSet presAssocID="{56F9FD42-4583-4A28-8C5F-0BD3A1160431}" presName="composite" presStyleCnt="0"/>
      <dgm:spPr/>
    </dgm:pt>
    <dgm:pt modelId="{D61B7255-D308-44FB-979B-BD5549502A3A}" type="pres">
      <dgm:prSet presAssocID="{56F9FD42-4583-4A28-8C5F-0BD3A1160431}" presName="imgShp" presStyleLbl="fgImgPlace1" presStyleIdx="4" presStyleCnt="7"/>
      <dgm:spPr>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dgm:spPr>
    </dgm:pt>
    <dgm:pt modelId="{C7B6737C-F129-4379-AF97-7E098CF82549}" type="pres">
      <dgm:prSet presAssocID="{56F9FD42-4583-4A28-8C5F-0BD3A1160431}" presName="txShp" presStyleLbl="node1" presStyleIdx="4" presStyleCnt="7">
        <dgm:presLayoutVars>
          <dgm:bulletEnabled val="1"/>
        </dgm:presLayoutVars>
      </dgm:prSet>
      <dgm:spPr/>
    </dgm:pt>
    <dgm:pt modelId="{BB664456-D3BE-41AE-B032-290A5728640D}" type="pres">
      <dgm:prSet presAssocID="{80B7C9B3-F9FA-414C-9AB1-BC88F070EAB5}" presName="spacing" presStyleCnt="0"/>
      <dgm:spPr/>
    </dgm:pt>
    <dgm:pt modelId="{34047A67-4A88-4D1D-8E1E-0C4253FB4360}" type="pres">
      <dgm:prSet presAssocID="{345A0E49-CE9E-42D8-BBD9-5125A1B2C1A0}" presName="composite" presStyleCnt="0"/>
      <dgm:spPr/>
    </dgm:pt>
    <dgm:pt modelId="{9BF7EE4E-012F-4DF5-B272-EAA79ECA8C75}" type="pres">
      <dgm:prSet presAssocID="{345A0E49-CE9E-42D8-BBD9-5125A1B2C1A0}" presName="imgShp" presStyleLbl="fgImgPlace1" presStyleIdx="5" presStyleCnt="7"/>
      <dgm:spPr>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dgm:spPr>
    </dgm:pt>
    <dgm:pt modelId="{42B48CE5-911D-44D5-AFA1-377112EF11A6}" type="pres">
      <dgm:prSet presAssocID="{345A0E49-CE9E-42D8-BBD9-5125A1B2C1A0}" presName="txShp" presStyleLbl="node1" presStyleIdx="5" presStyleCnt="7">
        <dgm:presLayoutVars>
          <dgm:bulletEnabled val="1"/>
        </dgm:presLayoutVars>
      </dgm:prSet>
      <dgm:spPr/>
    </dgm:pt>
    <dgm:pt modelId="{1DA9CB06-B2B5-42D3-8D21-F7214E0D96B5}" type="pres">
      <dgm:prSet presAssocID="{071806DC-3B9D-4BBE-966F-31C19BC1B5BD}" presName="spacing" presStyleCnt="0"/>
      <dgm:spPr/>
    </dgm:pt>
    <dgm:pt modelId="{ADFA2B5E-1568-4F12-BA99-A0DEFFA8E653}" type="pres">
      <dgm:prSet presAssocID="{41CEA816-6376-493D-B9E5-598751467D72}" presName="composite" presStyleCnt="0"/>
      <dgm:spPr/>
    </dgm:pt>
    <dgm:pt modelId="{4737311F-297D-4E95-B8C4-5619F0D22DF2}" type="pres">
      <dgm:prSet presAssocID="{41CEA816-6376-493D-B9E5-598751467D72}" presName="imgShp" presStyleLbl="fgImgPlace1" presStyleIdx="6" presStyleCnt="7"/>
      <dgm:spPr/>
    </dgm:pt>
    <dgm:pt modelId="{AB384311-3D9B-45D7-AAED-45272C0B16D1}" type="pres">
      <dgm:prSet presAssocID="{41CEA816-6376-493D-B9E5-598751467D72}" presName="txShp" presStyleLbl="node1" presStyleIdx="6" presStyleCnt="7">
        <dgm:presLayoutVars>
          <dgm:bulletEnabled val="1"/>
        </dgm:presLayoutVars>
      </dgm:prSet>
      <dgm:spPr/>
    </dgm:pt>
  </dgm:ptLst>
  <dgm:cxnLst>
    <dgm:cxn modelId="{C030390E-43E1-40B4-8924-ADAF9AF0BDDE}" srcId="{51D1D430-D996-41E4-BA1B-C6A83F36946C}" destId="{56F9FD42-4583-4A28-8C5F-0BD3A1160431}" srcOrd="4" destOrd="0" parTransId="{E99CA429-E7B4-4EB5-8DDD-E6592C4B95C3}" sibTransId="{80B7C9B3-F9FA-414C-9AB1-BC88F070EAB5}"/>
    <dgm:cxn modelId="{D12F5A0E-DA3A-483A-956B-831121C73948}" type="presOf" srcId="{41CEA816-6376-493D-B9E5-598751467D72}" destId="{AB384311-3D9B-45D7-AAED-45272C0B16D1}" srcOrd="0" destOrd="0" presId="urn:microsoft.com/office/officeart/2005/8/layout/vList3#1"/>
    <dgm:cxn modelId="{2775021C-D204-4FE7-A731-4792D5389EAD}" srcId="{51D1D430-D996-41E4-BA1B-C6A83F36946C}" destId="{F2D3D92D-8243-45A0-9045-A4D63E6E7F40}" srcOrd="1" destOrd="0" parTransId="{940EF993-6126-4520-B05A-6D4B241C30CB}" sibTransId="{3B918B45-34EC-4674-8DDA-B9430DE47AFA}"/>
    <dgm:cxn modelId="{6AE5EE6D-F77C-48DC-A10F-EAF1E6A3121C}" type="presOf" srcId="{F2D3D92D-8243-45A0-9045-A4D63E6E7F40}" destId="{DD0567C2-639F-4DB2-8F5D-E4A1F0FA8E3D}" srcOrd="0" destOrd="0" presId="urn:microsoft.com/office/officeart/2005/8/layout/vList3#1"/>
    <dgm:cxn modelId="{58D8FC51-173E-4B93-9AC0-A73CED98A0F9}" srcId="{51D1D430-D996-41E4-BA1B-C6A83F36946C}" destId="{31271BEB-9A8A-4822-9836-B74D69D06E6E}" srcOrd="3" destOrd="0" parTransId="{18ECF403-4643-451F-AA8F-EAB068A079EE}" sibTransId="{E5288AD6-4E26-4FCD-AAA0-B6E8B2F83D76}"/>
    <dgm:cxn modelId="{EBFD6E5A-7A20-4CF4-9BB9-8C814639A37B}" srcId="{51D1D430-D996-41E4-BA1B-C6A83F36946C}" destId="{345A0E49-CE9E-42D8-BBD9-5125A1B2C1A0}" srcOrd="5" destOrd="0" parTransId="{AF7CF8DB-9D81-41A4-977C-9BE1758196B4}" sibTransId="{071806DC-3B9D-4BBE-966F-31C19BC1B5BD}"/>
    <dgm:cxn modelId="{8F53B97E-D5C8-45D0-AB49-E9BCA145D685}" type="presOf" srcId="{31271BEB-9A8A-4822-9836-B74D69D06E6E}" destId="{FB7E7170-F4B7-4B0B-9000-4BF0206D9353}" srcOrd="0" destOrd="0" presId="urn:microsoft.com/office/officeart/2005/8/layout/vList3#1"/>
    <dgm:cxn modelId="{F2294D84-630C-47EE-B7EA-88571B5A25B3}" type="presOf" srcId="{39CEBE93-D45D-49EC-B30B-C25BD2F76776}" destId="{32459D94-7759-4D01-B95F-2FAC20F969A3}" srcOrd="0" destOrd="0" presId="urn:microsoft.com/office/officeart/2005/8/layout/vList3#1"/>
    <dgm:cxn modelId="{B1BB62B4-F4F7-4832-8FFB-55905485C1DE}" type="presOf" srcId="{345A0E49-CE9E-42D8-BBD9-5125A1B2C1A0}" destId="{42B48CE5-911D-44D5-AFA1-377112EF11A6}" srcOrd="0" destOrd="0" presId="urn:microsoft.com/office/officeart/2005/8/layout/vList3#1"/>
    <dgm:cxn modelId="{DAEBBFB6-C82D-4C01-9BF5-DD42C1C4BF17}" srcId="{51D1D430-D996-41E4-BA1B-C6A83F36946C}" destId="{8A4F00E3-F46A-4CBA-82B2-5A10E450DA39}" srcOrd="0" destOrd="0" parTransId="{F63FFB52-3939-4213-9316-F1327036C529}" sibTransId="{D19CD92A-5807-415A-BBC1-E7A8527C6153}"/>
    <dgm:cxn modelId="{3818B0C2-78AA-4551-9381-4676DEE6C459}" type="presOf" srcId="{56F9FD42-4583-4A28-8C5F-0BD3A1160431}" destId="{C7B6737C-F129-4379-AF97-7E098CF82549}" srcOrd="0" destOrd="0" presId="urn:microsoft.com/office/officeart/2005/8/layout/vList3#1"/>
    <dgm:cxn modelId="{B0BFC0C5-8336-4096-96A6-4FBE33FB8539}" type="presOf" srcId="{51D1D430-D996-41E4-BA1B-C6A83F36946C}" destId="{B9B6B670-2E60-4D51-A0B1-71512ED65AD3}" srcOrd="0" destOrd="0" presId="urn:microsoft.com/office/officeart/2005/8/layout/vList3#1"/>
    <dgm:cxn modelId="{4F7F16C6-1413-466C-82E8-3BF2FF8D3234}" type="presOf" srcId="{8A4F00E3-F46A-4CBA-82B2-5A10E450DA39}" destId="{E7634DBF-D9F5-4E0A-9541-5A67CB150864}" srcOrd="0" destOrd="0" presId="urn:microsoft.com/office/officeart/2005/8/layout/vList3#1"/>
    <dgm:cxn modelId="{3B416CD1-15BF-4252-98CA-E9EF29FD84C3}" srcId="{51D1D430-D996-41E4-BA1B-C6A83F36946C}" destId="{41CEA816-6376-493D-B9E5-598751467D72}" srcOrd="6" destOrd="0" parTransId="{55B9415A-8452-48F8-B878-407D67BB953D}" sibTransId="{83C14E44-8D8D-4FCB-B967-B8ADA78E25B7}"/>
    <dgm:cxn modelId="{B05209F2-E2B6-415B-AAC7-5128F62E2C8E}" srcId="{51D1D430-D996-41E4-BA1B-C6A83F36946C}" destId="{39CEBE93-D45D-49EC-B30B-C25BD2F76776}" srcOrd="2" destOrd="0" parTransId="{AA55A792-AF04-4098-B181-C38BF0226235}" sibTransId="{13D24FEC-663A-4F2E-8991-319EA99DA20B}"/>
    <dgm:cxn modelId="{7D0F599C-460D-435C-A19F-50A2D7EDB3C9}" type="presParOf" srcId="{B9B6B670-2E60-4D51-A0B1-71512ED65AD3}" destId="{F2AD5EEB-A85F-4177-B696-809101961F83}" srcOrd="0" destOrd="0" presId="urn:microsoft.com/office/officeart/2005/8/layout/vList3#1"/>
    <dgm:cxn modelId="{593BE286-84A5-4118-9930-A98FC6D519BA}" type="presParOf" srcId="{F2AD5EEB-A85F-4177-B696-809101961F83}" destId="{AB5BAA63-A84A-45D9-BE90-07814A821613}" srcOrd="0" destOrd="0" presId="urn:microsoft.com/office/officeart/2005/8/layout/vList3#1"/>
    <dgm:cxn modelId="{9CFB5CAF-6BF2-467D-9FB8-996A5ED02915}" type="presParOf" srcId="{F2AD5EEB-A85F-4177-B696-809101961F83}" destId="{E7634DBF-D9F5-4E0A-9541-5A67CB150864}" srcOrd="1" destOrd="0" presId="urn:microsoft.com/office/officeart/2005/8/layout/vList3#1"/>
    <dgm:cxn modelId="{719B2224-DD6A-46C9-B526-1B8DA1143B9B}" type="presParOf" srcId="{B9B6B670-2E60-4D51-A0B1-71512ED65AD3}" destId="{D1D9857F-15E6-4B91-A663-416ED206BADD}" srcOrd="1" destOrd="0" presId="urn:microsoft.com/office/officeart/2005/8/layout/vList3#1"/>
    <dgm:cxn modelId="{365B5F7C-EE86-4410-BCFD-2F2EB26B5668}" type="presParOf" srcId="{B9B6B670-2E60-4D51-A0B1-71512ED65AD3}" destId="{12412F22-97B5-4E84-85F7-5C72B5D55869}" srcOrd="2" destOrd="0" presId="urn:microsoft.com/office/officeart/2005/8/layout/vList3#1"/>
    <dgm:cxn modelId="{D6BE9DE1-DD72-4F40-B0E5-99589FD26DF4}" type="presParOf" srcId="{12412F22-97B5-4E84-85F7-5C72B5D55869}" destId="{04B9F40C-275B-47DA-8505-BDB99315D1A6}" srcOrd="0" destOrd="0" presId="urn:microsoft.com/office/officeart/2005/8/layout/vList3#1"/>
    <dgm:cxn modelId="{304DB147-9BF0-4099-9D88-2615457A603A}" type="presParOf" srcId="{12412F22-97B5-4E84-85F7-5C72B5D55869}" destId="{DD0567C2-639F-4DB2-8F5D-E4A1F0FA8E3D}" srcOrd="1" destOrd="0" presId="urn:microsoft.com/office/officeart/2005/8/layout/vList3#1"/>
    <dgm:cxn modelId="{60303404-6627-41D1-A483-17D15329BCF2}" type="presParOf" srcId="{B9B6B670-2E60-4D51-A0B1-71512ED65AD3}" destId="{7DD80274-21D7-4344-9B36-514B249C9ADD}" srcOrd="3" destOrd="0" presId="urn:microsoft.com/office/officeart/2005/8/layout/vList3#1"/>
    <dgm:cxn modelId="{E2FC0F46-4982-477E-BDB2-83D4FF689D87}" type="presParOf" srcId="{B9B6B670-2E60-4D51-A0B1-71512ED65AD3}" destId="{B8150EEF-7957-44CB-B2A8-4AE563810168}" srcOrd="4" destOrd="0" presId="urn:microsoft.com/office/officeart/2005/8/layout/vList3#1"/>
    <dgm:cxn modelId="{3D1442C3-7605-4722-82C9-6B5307EAAB56}" type="presParOf" srcId="{B8150EEF-7957-44CB-B2A8-4AE563810168}" destId="{92DE488D-B3DE-493C-AC30-DA96AC1FFB62}" srcOrd="0" destOrd="0" presId="urn:microsoft.com/office/officeart/2005/8/layout/vList3#1"/>
    <dgm:cxn modelId="{8882025F-5993-40CC-AFD7-D1D04CAD30F8}" type="presParOf" srcId="{B8150EEF-7957-44CB-B2A8-4AE563810168}" destId="{32459D94-7759-4D01-B95F-2FAC20F969A3}" srcOrd="1" destOrd="0" presId="urn:microsoft.com/office/officeart/2005/8/layout/vList3#1"/>
    <dgm:cxn modelId="{75287474-B18B-44F6-B52B-FE24F75485C2}" type="presParOf" srcId="{B9B6B670-2E60-4D51-A0B1-71512ED65AD3}" destId="{47834BAD-A98A-4433-9076-8E91796A6670}" srcOrd="5" destOrd="0" presId="urn:microsoft.com/office/officeart/2005/8/layout/vList3#1"/>
    <dgm:cxn modelId="{B0FCF2CE-025D-4232-80E5-83D56FCAB3AF}" type="presParOf" srcId="{B9B6B670-2E60-4D51-A0B1-71512ED65AD3}" destId="{A5226936-B418-4B24-BA2B-AC29D3FDCEB2}" srcOrd="6" destOrd="0" presId="urn:microsoft.com/office/officeart/2005/8/layout/vList3#1"/>
    <dgm:cxn modelId="{3C4578A0-048A-40EC-9D11-98EA784DD1B8}" type="presParOf" srcId="{A5226936-B418-4B24-BA2B-AC29D3FDCEB2}" destId="{A6F09614-1B57-44CB-B907-F8E2D46EFEED}" srcOrd="0" destOrd="0" presId="urn:microsoft.com/office/officeart/2005/8/layout/vList3#1"/>
    <dgm:cxn modelId="{C80AA47F-A532-4464-912C-AB2DB4C3EE00}" type="presParOf" srcId="{A5226936-B418-4B24-BA2B-AC29D3FDCEB2}" destId="{FB7E7170-F4B7-4B0B-9000-4BF0206D9353}" srcOrd="1" destOrd="0" presId="urn:microsoft.com/office/officeart/2005/8/layout/vList3#1"/>
    <dgm:cxn modelId="{60B4676C-9BA8-46E7-8336-3C9E8D7614AF}" type="presParOf" srcId="{B9B6B670-2E60-4D51-A0B1-71512ED65AD3}" destId="{6E1D45FB-D7A7-4118-AD94-01DFBABBF3DA}" srcOrd="7" destOrd="0" presId="urn:microsoft.com/office/officeart/2005/8/layout/vList3#1"/>
    <dgm:cxn modelId="{84DF445C-3E51-4BE0-BCE5-3788B9E8E2C4}" type="presParOf" srcId="{B9B6B670-2E60-4D51-A0B1-71512ED65AD3}" destId="{F0C15FC7-06CF-45A4-8275-8B38944324A5}" srcOrd="8" destOrd="0" presId="urn:microsoft.com/office/officeart/2005/8/layout/vList3#1"/>
    <dgm:cxn modelId="{98115743-DA9D-496B-9D4A-73EA55CE88CA}" type="presParOf" srcId="{F0C15FC7-06CF-45A4-8275-8B38944324A5}" destId="{D61B7255-D308-44FB-979B-BD5549502A3A}" srcOrd="0" destOrd="0" presId="urn:microsoft.com/office/officeart/2005/8/layout/vList3#1"/>
    <dgm:cxn modelId="{89BC8F60-4693-4E7E-B664-3526737C9473}" type="presParOf" srcId="{F0C15FC7-06CF-45A4-8275-8B38944324A5}" destId="{C7B6737C-F129-4379-AF97-7E098CF82549}" srcOrd="1" destOrd="0" presId="urn:microsoft.com/office/officeart/2005/8/layout/vList3#1"/>
    <dgm:cxn modelId="{06A4A751-435E-4EB3-8263-F4C0FCC737BA}" type="presParOf" srcId="{B9B6B670-2E60-4D51-A0B1-71512ED65AD3}" destId="{BB664456-D3BE-41AE-B032-290A5728640D}" srcOrd="9" destOrd="0" presId="urn:microsoft.com/office/officeart/2005/8/layout/vList3#1"/>
    <dgm:cxn modelId="{CC998FB6-6BE0-4670-BD85-671FB59323EB}" type="presParOf" srcId="{B9B6B670-2E60-4D51-A0B1-71512ED65AD3}" destId="{34047A67-4A88-4D1D-8E1E-0C4253FB4360}" srcOrd="10" destOrd="0" presId="urn:microsoft.com/office/officeart/2005/8/layout/vList3#1"/>
    <dgm:cxn modelId="{2C5C2ED4-25B3-4D76-BD0A-4C3B4693B124}" type="presParOf" srcId="{34047A67-4A88-4D1D-8E1E-0C4253FB4360}" destId="{9BF7EE4E-012F-4DF5-B272-EAA79ECA8C75}" srcOrd="0" destOrd="0" presId="urn:microsoft.com/office/officeart/2005/8/layout/vList3#1"/>
    <dgm:cxn modelId="{2B3A76D8-B638-4E08-8194-1F8969229CFF}" type="presParOf" srcId="{34047A67-4A88-4D1D-8E1E-0C4253FB4360}" destId="{42B48CE5-911D-44D5-AFA1-377112EF11A6}" srcOrd="1" destOrd="0" presId="urn:microsoft.com/office/officeart/2005/8/layout/vList3#1"/>
    <dgm:cxn modelId="{5D432E06-4916-4243-9A51-BA09B0C9A8FA}" type="presParOf" srcId="{B9B6B670-2E60-4D51-A0B1-71512ED65AD3}" destId="{1DA9CB06-B2B5-42D3-8D21-F7214E0D96B5}" srcOrd="11" destOrd="0" presId="urn:microsoft.com/office/officeart/2005/8/layout/vList3#1"/>
    <dgm:cxn modelId="{7A09CFE1-39FD-4FEB-BAC6-AEECD7F5268C}" type="presParOf" srcId="{B9B6B670-2E60-4D51-A0B1-71512ED65AD3}" destId="{ADFA2B5E-1568-4F12-BA99-A0DEFFA8E653}" srcOrd="12" destOrd="0" presId="urn:microsoft.com/office/officeart/2005/8/layout/vList3#1"/>
    <dgm:cxn modelId="{8462ABDE-8704-4537-A38B-F7B406D4E01B}" type="presParOf" srcId="{ADFA2B5E-1568-4F12-BA99-A0DEFFA8E653}" destId="{4737311F-297D-4E95-B8C4-5619F0D22DF2}" srcOrd="0" destOrd="0" presId="urn:microsoft.com/office/officeart/2005/8/layout/vList3#1"/>
    <dgm:cxn modelId="{880A6CC5-01B4-487F-B984-B5D3483F0793}" type="presParOf" srcId="{ADFA2B5E-1568-4F12-BA99-A0DEFFA8E653}" destId="{AB384311-3D9B-45D7-AAED-45272C0B16D1}" srcOrd="1" destOrd="0" presId="urn:microsoft.com/office/officeart/2005/8/layout/vList3#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E9E8D6-7943-491A-9523-3E98B8E87243}" type="doc">
      <dgm:prSet loTypeId="urn:microsoft.com/office/officeart/2009/3/layout/StepUpProcess" loCatId="process" qsTypeId="urn:microsoft.com/office/officeart/2005/8/quickstyle/simple3" qsCatId="simple" csTypeId="urn:microsoft.com/office/officeart/2005/8/colors/colorful1#3" csCatId="colorful" phldr="1"/>
      <dgm:spPr/>
    </dgm:pt>
    <dgm:pt modelId="{7525BF00-3F15-4D22-873A-D01B4ACE4B0B}">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1969 – 1990</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从单个网络 </a:t>
          </a:r>
          <a:r>
            <a:rPr lang="en-US" altLang="en-US" sz="1800" b="1" dirty="0">
              <a:latin typeface="微软雅黑" panose="020B0503020204020204" pitchFamily="34" charset="-122"/>
              <a:ea typeface="微软雅黑" panose="020B0503020204020204" pitchFamily="34" charset="-122"/>
            </a:rPr>
            <a:t>ARPANET </a:t>
          </a:r>
          <a:r>
            <a:rPr lang="zh-CN" altLang="en-US" sz="1800" b="1" dirty="0">
              <a:latin typeface="微软雅黑" panose="020B0503020204020204" pitchFamily="34" charset="-122"/>
              <a:ea typeface="微软雅黑" panose="020B0503020204020204" pitchFamily="34" charset="-122"/>
            </a:rPr>
            <a:t>向互联网发展。</a:t>
          </a:r>
        </a:p>
      </dgm:t>
    </dgm:pt>
    <dgm:pt modelId="{8E64C77F-27AA-4FE1-A02F-58BED5B2B53E}" type="par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06F6F5A-3DC5-4356-9FF7-49BF329376D0}" type="sibTrans" cxnId="{C7815E85-C267-48CA-91E2-39605BCE67C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E9B057-D1EF-4B46-A5F0-3833969C6F68}">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1985 – 1993</a:t>
          </a:r>
        </a:p>
        <a:p>
          <a:pPr>
            <a:lnSpc>
              <a:spcPts val="2800"/>
            </a:lnSpc>
            <a:spcAft>
              <a:spcPts val="0"/>
            </a:spcAft>
          </a:pPr>
          <a:r>
            <a:rPr lang="zh-CN" altLang="en-US" sz="1800" b="1" dirty="0">
              <a:latin typeface="微软雅黑" panose="020B0503020204020204" pitchFamily="34" charset="-122"/>
              <a:ea typeface="微软雅黑" panose="020B0503020204020204" pitchFamily="34" charset="-122"/>
            </a:rPr>
            <a:t>建成了三级结构的互联网 。</a:t>
          </a:r>
        </a:p>
      </dgm:t>
    </dgm:pt>
    <dgm:pt modelId="{2FF9A435-A270-4C54-AB5F-49378E55D42B}" type="par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3761B63-477C-4FC3-9819-A534BE583620}" type="sibTrans" cxnId="{0F47369F-75EF-4875-B4B0-2E8C24B17E8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61D3777-5F64-44B8-9B83-5B7FD079F6FA}">
      <dgm:prSet phldrT="[文本]" custT="1"/>
      <dgm:spPr/>
      <dgm:t>
        <a:bodyPr/>
        <a:lstStyle/>
        <a:p>
          <a:pPr>
            <a:lnSpc>
              <a:spcPts val="2800"/>
            </a:lnSpc>
            <a:spcAft>
              <a:spcPts val="0"/>
            </a:spcAft>
          </a:pPr>
          <a:r>
            <a:rPr lang="en-US" altLang="en-US" sz="1800" b="1" dirty="0">
              <a:solidFill>
                <a:srgbClr val="CC00CC"/>
              </a:solidFill>
              <a:latin typeface="微软雅黑" panose="020B0503020204020204" pitchFamily="34" charset="-122"/>
              <a:ea typeface="微软雅黑" panose="020B0503020204020204" pitchFamily="34" charset="-122"/>
            </a:rPr>
            <a:t>1993 –</a:t>
          </a:r>
          <a:r>
            <a:rPr lang="en-US" altLang="zh-CN" sz="1800" b="1" dirty="0">
              <a:solidFill>
                <a:srgbClr val="CC00CC"/>
              </a:solidFill>
              <a:latin typeface="微软雅黑" panose="020B0503020204020204" pitchFamily="34" charset="-122"/>
              <a:ea typeface="微软雅黑" panose="020B0503020204020204" pitchFamily="34" charset="-122"/>
            </a:rPr>
            <a:t> </a:t>
          </a:r>
          <a:r>
            <a:rPr lang="zh-CN" altLang="en-US" sz="1800" b="1" dirty="0">
              <a:solidFill>
                <a:srgbClr val="CC00CC"/>
              </a:solidFill>
              <a:latin typeface="微软雅黑" panose="020B0503020204020204" pitchFamily="34" charset="-122"/>
              <a:ea typeface="微软雅黑" panose="020B0503020204020204" pitchFamily="34" charset="-122"/>
            </a:rPr>
            <a:t>现在</a:t>
          </a:r>
          <a:endParaRPr lang="en-US" altLang="zh-CN" sz="1800" b="1" dirty="0">
            <a:solidFill>
              <a:srgbClr val="CC00CC"/>
            </a:solidFill>
            <a:latin typeface="微软雅黑" panose="020B0503020204020204" pitchFamily="34" charset="-122"/>
            <a:ea typeface="微软雅黑" panose="020B0503020204020204" pitchFamily="34" charset="-122"/>
          </a:endParaRPr>
        </a:p>
        <a:p>
          <a:pPr>
            <a:lnSpc>
              <a:spcPts val="2800"/>
            </a:lnSpc>
            <a:spcAft>
              <a:spcPts val="0"/>
            </a:spcAft>
          </a:pPr>
          <a:r>
            <a:rPr lang="zh-CN" altLang="zh-CN" sz="1800" b="1" dirty="0">
              <a:latin typeface="微软雅黑" panose="020B0503020204020204" pitchFamily="34" charset="-122"/>
              <a:ea typeface="微软雅黑" panose="020B0503020204020204" pitchFamily="34" charset="-122"/>
            </a:rPr>
            <a:t>全球范围的多层次</a:t>
          </a:r>
          <a:r>
            <a:rPr lang="en-US" altLang="zh-CN" sz="1800" b="1" dirty="0">
              <a:latin typeface="微软雅黑" panose="020B0503020204020204" pitchFamily="34" charset="-122"/>
              <a:ea typeface="微软雅黑" panose="020B0503020204020204" pitchFamily="34" charset="-122"/>
            </a:rPr>
            <a:t> ISP </a:t>
          </a:r>
          <a:r>
            <a:rPr lang="zh-CN" altLang="zh-CN" sz="1800" b="1" dirty="0">
              <a:latin typeface="微软雅黑" panose="020B0503020204020204" pitchFamily="34" charset="-122"/>
              <a:ea typeface="微软雅黑" panose="020B0503020204020204" pitchFamily="34" charset="-122"/>
            </a:rPr>
            <a:t>结构的互联网。</a:t>
          </a:r>
          <a:endParaRPr lang="zh-CN" altLang="en-US" sz="1800" b="1" dirty="0">
            <a:latin typeface="微软雅黑" panose="020B0503020204020204" pitchFamily="34" charset="-122"/>
            <a:ea typeface="微软雅黑" panose="020B0503020204020204" pitchFamily="34" charset="-122"/>
          </a:endParaRPr>
        </a:p>
      </dgm:t>
    </dgm:pt>
    <dgm:pt modelId="{ABCE62BB-5A59-426D-B801-2B88D7E829BF}" type="par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5B7E9C0-C9A5-41D8-B3CA-03C0EB2E5AF1}" type="sibTrans" cxnId="{9CE56956-FCE7-46CA-BC05-78011787A43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B567201-BF31-4630-B798-FFEA490F14AC}" type="pres">
      <dgm:prSet presAssocID="{3DE9E8D6-7943-491A-9523-3E98B8E87243}" presName="rootnode" presStyleCnt="0">
        <dgm:presLayoutVars>
          <dgm:chMax/>
          <dgm:chPref/>
          <dgm:dir/>
          <dgm:animLvl val="lvl"/>
        </dgm:presLayoutVars>
      </dgm:prSet>
      <dgm:spPr/>
    </dgm:pt>
    <dgm:pt modelId="{9649E880-299C-4870-9F07-D92C84C9D746}" type="pres">
      <dgm:prSet presAssocID="{7525BF00-3F15-4D22-873A-D01B4ACE4B0B}" presName="composite" presStyleCnt="0"/>
      <dgm:spPr/>
    </dgm:pt>
    <dgm:pt modelId="{C11723FB-FD44-4790-9882-F784D01504C2}" type="pres">
      <dgm:prSet presAssocID="{7525BF00-3F15-4D22-873A-D01B4ACE4B0B}" presName="LShape" presStyleLbl="alignNode1" presStyleIdx="0" presStyleCnt="5" custScaleX="175558"/>
      <dgm:spPr/>
    </dgm:pt>
    <dgm:pt modelId="{9606A409-0386-4958-AF71-520045418D02}" type="pres">
      <dgm:prSet presAssocID="{7525BF00-3F15-4D22-873A-D01B4ACE4B0B}" presName="ParentText" presStyleLbl="revTx" presStyleIdx="0" presStyleCnt="3" custScaleX="178477">
        <dgm:presLayoutVars>
          <dgm:chMax val="0"/>
          <dgm:chPref val="0"/>
          <dgm:bulletEnabled val="1"/>
        </dgm:presLayoutVars>
      </dgm:prSet>
      <dgm:spPr/>
    </dgm:pt>
    <dgm:pt modelId="{01A2BA42-237A-44CF-A211-45BD14932625}" type="pres">
      <dgm:prSet presAssocID="{7525BF00-3F15-4D22-873A-D01B4ACE4B0B}" presName="Triangle" presStyleLbl="alignNode1" presStyleIdx="1" presStyleCnt="5"/>
      <dgm:spPr/>
    </dgm:pt>
    <dgm:pt modelId="{0AAD6196-57D2-4FC3-9D69-A209405DA879}" type="pres">
      <dgm:prSet presAssocID="{706F6F5A-3DC5-4356-9FF7-49BF329376D0}" presName="sibTrans" presStyleCnt="0"/>
      <dgm:spPr/>
    </dgm:pt>
    <dgm:pt modelId="{2CB18A98-EE04-4770-82BE-734866FE88EE}" type="pres">
      <dgm:prSet presAssocID="{706F6F5A-3DC5-4356-9FF7-49BF329376D0}" presName="space" presStyleCnt="0"/>
      <dgm:spPr/>
    </dgm:pt>
    <dgm:pt modelId="{BD715DBB-C3A4-444F-9B89-81407B4079A8}" type="pres">
      <dgm:prSet presAssocID="{29E9B057-D1EF-4B46-A5F0-3833969C6F68}" presName="composite" presStyleCnt="0"/>
      <dgm:spPr/>
    </dgm:pt>
    <dgm:pt modelId="{5D091C1B-882C-4A2B-868D-15AB708D584F}" type="pres">
      <dgm:prSet presAssocID="{29E9B057-D1EF-4B46-A5F0-3833969C6F68}" presName="LShape" presStyleLbl="alignNode1" presStyleIdx="2" presStyleCnt="5" custScaleX="172325"/>
      <dgm:spPr/>
    </dgm:pt>
    <dgm:pt modelId="{5DD1E37C-EDC3-41F4-891E-775C4AA49DFB}" type="pres">
      <dgm:prSet presAssocID="{29E9B057-D1EF-4B46-A5F0-3833969C6F68}" presName="ParentText" presStyleLbl="revTx" presStyleIdx="1" presStyleCnt="3" custScaleX="156225" custLinFactNeighborX="-9374">
        <dgm:presLayoutVars>
          <dgm:chMax val="0"/>
          <dgm:chPref val="0"/>
          <dgm:bulletEnabled val="1"/>
        </dgm:presLayoutVars>
      </dgm:prSet>
      <dgm:spPr/>
    </dgm:pt>
    <dgm:pt modelId="{2D8632D6-57D5-4C06-81CE-104155293B86}" type="pres">
      <dgm:prSet presAssocID="{29E9B057-D1EF-4B46-A5F0-3833969C6F68}" presName="Triangle" presStyleLbl="alignNode1" presStyleIdx="3" presStyleCnt="5"/>
      <dgm:spPr/>
    </dgm:pt>
    <dgm:pt modelId="{5D740B35-D22B-4243-B33F-F4F1E1237942}" type="pres">
      <dgm:prSet presAssocID="{93761B63-477C-4FC3-9819-A534BE583620}" presName="sibTrans" presStyleCnt="0"/>
      <dgm:spPr/>
    </dgm:pt>
    <dgm:pt modelId="{A2926BA1-9112-469A-9B06-D986FF68801D}" type="pres">
      <dgm:prSet presAssocID="{93761B63-477C-4FC3-9819-A534BE583620}" presName="space" presStyleCnt="0"/>
      <dgm:spPr/>
    </dgm:pt>
    <dgm:pt modelId="{C409DF66-17A8-4B3B-BEF1-FDCC8141A7A8}" type="pres">
      <dgm:prSet presAssocID="{461D3777-5F64-44B8-9B83-5B7FD079F6FA}" presName="composite" presStyleCnt="0"/>
      <dgm:spPr/>
    </dgm:pt>
    <dgm:pt modelId="{0B75B0BF-1D47-48F1-94FD-0201A392E554}" type="pres">
      <dgm:prSet presAssocID="{461D3777-5F64-44B8-9B83-5B7FD079F6FA}" presName="LShape" presStyleLbl="alignNode1" presStyleIdx="4" presStyleCnt="5" custScaleX="145489"/>
      <dgm:spPr/>
    </dgm:pt>
    <dgm:pt modelId="{F0C4A08D-D529-4101-B85D-56E13A637234}" type="pres">
      <dgm:prSet presAssocID="{461D3777-5F64-44B8-9B83-5B7FD079F6FA}" presName="ParentText" presStyleLbl="revTx" presStyleIdx="2" presStyleCnt="3" custScaleX="144437">
        <dgm:presLayoutVars>
          <dgm:chMax val="0"/>
          <dgm:chPref val="0"/>
          <dgm:bulletEnabled val="1"/>
        </dgm:presLayoutVars>
      </dgm:prSet>
      <dgm:spPr/>
    </dgm:pt>
  </dgm:ptLst>
  <dgm:cxnLst>
    <dgm:cxn modelId="{E8B0EB37-8D4D-4977-B2B1-DC26A74E9347}" type="presOf" srcId="{3DE9E8D6-7943-491A-9523-3E98B8E87243}" destId="{5B567201-BF31-4630-B798-FFEA490F14AC}" srcOrd="0" destOrd="0" presId="urn:microsoft.com/office/officeart/2009/3/layout/StepUpProcess"/>
    <dgm:cxn modelId="{0B00275C-889C-414D-BBDA-840FD43B6E5F}" type="presOf" srcId="{7525BF00-3F15-4D22-873A-D01B4ACE4B0B}" destId="{9606A409-0386-4958-AF71-520045418D02}" srcOrd="0" destOrd="0" presId="urn:microsoft.com/office/officeart/2009/3/layout/StepUpProcess"/>
    <dgm:cxn modelId="{C112CC49-5DBC-4CD3-9E42-3E8414A4E66F}" type="presOf" srcId="{461D3777-5F64-44B8-9B83-5B7FD079F6FA}" destId="{F0C4A08D-D529-4101-B85D-56E13A637234}" srcOrd="0" destOrd="0" presId="urn:microsoft.com/office/officeart/2009/3/layout/StepUpProcess"/>
    <dgm:cxn modelId="{9CE56956-FCE7-46CA-BC05-78011787A430}" srcId="{3DE9E8D6-7943-491A-9523-3E98B8E87243}" destId="{461D3777-5F64-44B8-9B83-5B7FD079F6FA}" srcOrd="2" destOrd="0" parTransId="{ABCE62BB-5A59-426D-B801-2B88D7E829BF}" sibTransId="{25B7E9C0-C9A5-41D8-B3CA-03C0EB2E5AF1}"/>
    <dgm:cxn modelId="{C7815E85-C267-48CA-91E2-39605BCE67C6}" srcId="{3DE9E8D6-7943-491A-9523-3E98B8E87243}" destId="{7525BF00-3F15-4D22-873A-D01B4ACE4B0B}" srcOrd="0" destOrd="0" parTransId="{8E64C77F-27AA-4FE1-A02F-58BED5B2B53E}" sibTransId="{706F6F5A-3DC5-4356-9FF7-49BF329376D0}"/>
    <dgm:cxn modelId="{0F47369F-75EF-4875-B4B0-2E8C24B17E83}" srcId="{3DE9E8D6-7943-491A-9523-3E98B8E87243}" destId="{29E9B057-D1EF-4B46-A5F0-3833969C6F68}" srcOrd="1" destOrd="0" parTransId="{2FF9A435-A270-4C54-AB5F-49378E55D42B}" sibTransId="{93761B63-477C-4FC3-9819-A534BE583620}"/>
    <dgm:cxn modelId="{27F659B2-8BE5-4BDE-B675-088B362B04CA}" type="presOf" srcId="{29E9B057-D1EF-4B46-A5F0-3833969C6F68}" destId="{5DD1E37C-EDC3-41F4-891E-775C4AA49DFB}" srcOrd="0" destOrd="0" presId="urn:microsoft.com/office/officeart/2009/3/layout/StepUpProcess"/>
    <dgm:cxn modelId="{075DB7A2-B58A-4AC2-A09C-8806C8F0C463}" type="presParOf" srcId="{5B567201-BF31-4630-B798-FFEA490F14AC}" destId="{9649E880-299C-4870-9F07-D92C84C9D746}" srcOrd="0" destOrd="0" presId="urn:microsoft.com/office/officeart/2009/3/layout/StepUpProcess"/>
    <dgm:cxn modelId="{029D34AE-8145-4CB1-B304-F10BB47F38C2}" type="presParOf" srcId="{9649E880-299C-4870-9F07-D92C84C9D746}" destId="{C11723FB-FD44-4790-9882-F784D01504C2}" srcOrd="0" destOrd="0" presId="urn:microsoft.com/office/officeart/2009/3/layout/StepUpProcess"/>
    <dgm:cxn modelId="{F1251247-A7D5-4A0E-9811-58EC7F5B58B8}" type="presParOf" srcId="{9649E880-299C-4870-9F07-D92C84C9D746}" destId="{9606A409-0386-4958-AF71-520045418D02}" srcOrd="1" destOrd="0" presId="urn:microsoft.com/office/officeart/2009/3/layout/StepUpProcess"/>
    <dgm:cxn modelId="{D5229B79-EDD8-4214-82DF-B3E76F707804}" type="presParOf" srcId="{9649E880-299C-4870-9F07-D92C84C9D746}" destId="{01A2BA42-237A-44CF-A211-45BD14932625}" srcOrd="2" destOrd="0" presId="urn:microsoft.com/office/officeart/2009/3/layout/StepUpProcess"/>
    <dgm:cxn modelId="{2DEC91FF-1F01-4266-B44F-12052CEE10FD}" type="presParOf" srcId="{5B567201-BF31-4630-B798-FFEA490F14AC}" destId="{0AAD6196-57D2-4FC3-9D69-A209405DA879}" srcOrd="1" destOrd="0" presId="urn:microsoft.com/office/officeart/2009/3/layout/StepUpProcess"/>
    <dgm:cxn modelId="{7BCAF329-3C42-404A-B657-7113F59BF345}" type="presParOf" srcId="{0AAD6196-57D2-4FC3-9D69-A209405DA879}" destId="{2CB18A98-EE04-4770-82BE-734866FE88EE}" srcOrd="0" destOrd="0" presId="urn:microsoft.com/office/officeart/2009/3/layout/StepUpProcess"/>
    <dgm:cxn modelId="{9058649C-3ADE-4DD7-BEB6-67B65E45452D}" type="presParOf" srcId="{5B567201-BF31-4630-B798-FFEA490F14AC}" destId="{BD715DBB-C3A4-444F-9B89-81407B4079A8}" srcOrd="2" destOrd="0" presId="urn:microsoft.com/office/officeart/2009/3/layout/StepUpProcess"/>
    <dgm:cxn modelId="{A4A08015-1D72-48ED-A2C6-561FB6077994}" type="presParOf" srcId="{BD715DBB-C3A4-444F-9B89-81407B4079A8}" destId="{5D091C1B-882C-4A2B-868D-15AB708D584F}" srcOrd="0" destOrd="0" presId="urn:microsoft.com/office/officeart/2009/3/layout/StepUpProcess"/>
    <dgm:cxn modelId="{003A3BD6-572B-4010-BE4A-8030A57D3D0E}" type="presParOf" srcId="{BD715DBB-C3A4-444F-9B89-81407B4079A8}" destId="{5DD1E37C-EDC3-41F4-891E-775C4AA49DFB}" srcOrd="1" destOrd="0" presId="urn:microsoft.com/office/officeart/2009/3/layout/StepUpProcess"/>
    <dgm:cxn modelId="{C572334A-EBBF-4CCB-80F1-66C75EC7C7F4}" type="presParOf" srcId="{BD715DBB-C3A4-444F-9B89-81407B4079A8}" destId="{2D8632D6-57D5-4C06-81CE-104155293B86}" srcOrd="2" destOrd="0" presId="urn:microsoft.com/office/officeart/2009/3/layout/StepUpProcess"/>
    <dgm:cxn modelId="{CAFB4AAA-AA41-4DFA-9B67-2DAB7B40E34D}" type="presParOf" srcId="{5B567201-BF31-4630-B798-FFEA490F14AC}" destId="{5D740B35-D22B-4243-B33F-F4F1E1237942}" srcOrd="3" destOrd="0" presId="urn:microsoft.com/office/officeart/2009/3/layout/StepUpProcess"/>
    <dgm:cxn modelId="{98DB72F9-C300-4854-B10B-478262CE38D6}" type="presParOf" srcId="{5D740B35-D22B-4243-B33F-F4F1E1237942}" destId="{A2926BA1-9112-469A-9B06-D986FF68801D}" srcOrd="0" destOrd="0" presId="urn:microsoft.com/office/officeart/2009/3/layout/StepUpProcess"/>
    <dgm:cxn modelId="{B4BB75C6-CFAD-45C7-ACA4-F708BCCB011B}" type="presParOf" srcId="{5B567201-BF31-4630-B798-FFEA490F14AC}" destId="{C409DF66-17A8-4B3B-BEF1-FDCC8141A7A8}" srcOrd="4" destOrd="0" presId="urn:microsoft.com/office/officeart/2009/3/layout/StepUpProcess"/>
    <dgm:cxn modelId="{3D21E461-C6E7-4CB6-9F1D-6554E5490C83}" type="presParOf" srcId="{C409DF66-17A8-4B3B-BEF1-FDCC8141A7A8}" destId="{0B75B0BF-1D47-48F1-94FD-0201A392E554}" srcOrd="0" destOrd="0" presId="urn:microsoft.com/office/officeart/2009/3/layout/StepUpProcess"/>
    <dgm:cxn modelId="{9EA3DC41-B91C-4929-A242-1DFF6D0FB580}" type="presParOf" srcId="{C409DF66-17A8-4B3B-BEF1-FDCC8141A7A8}" destId="{F0C4A08D-D529-4101-B85D-56E13A637234}" srcOrd="1" destOrd="0" presId="urn:microsoft.com/office/officeart/2009/3/layout/StepUp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2A9B5D2-AFBA-46B2-B4AE-3AC19D52734B}" type="doc">
      <dgm:prSet loTypeId="urn:microsoft.com/office/officeart/2005/8/layout/hList1" loCatId="list" qsTypeId="urn:microsoft.com/office/officeart/2005/8/quickstyle/simple4" qsCatId="simple" csTypeId="urn:microsoft.com/office/officeart/2005/8/colors/colorful5" csCatId="colorful" phldr="1"/>
      <dgm:spPr/>
      <dgm:t>
        <a:bodyPr/>
        <a:lstStyle/>
        <a:p>
          <a:endParaRPr lang="zh-CN" altLang="en-US"/>
        </a:p>
      </dgm:t>
    </dgm:pt>
    <dgm:pt modelId="{66ACC874-3CFB-4E6F-B294-E9398EAEDB9E}">
      <dgm:prSet phldrT="[文本]" custT="1"/>
      <dgm:spPr/>
      <dgm:t>
        <a:bodyPr/>
        <a:lstStyle/>
        <a:p>
          <a:r>
            <a:rPr lang="en-US" altLang="en-US" sz="1800" b="1" dirty="0">
              <a:latin typeface="微软雅黑" panose="020B0503020204020204" pitchFamily="34" charset="-122"/>
              <a:ea typeface="微软雅黑" panose="020B0503020204020204" pitchFamily="34" charset="-122"/>
            </a:rPr>
            <a:t>Client / Server </a:t>
          </a:r>
          <a:r>
            <a:rPr lang="zh-CN" altLang="en-US" sz="1800" b="1" dirty="0">
              <a:latin typeface="微软雅黑" panose="020B0503020204020204" pitchFamily="34" charset="-122"/>
              <a:ea typeface="微软雅黑" panose="020B0503020204020204" pitchFamily="34" charset="-122"/>
            </a:rPr>
            <a:t>方式</a:t>
          </a:r>
        </a:p>
      </dgm:t>
    </dgm:pt>
    <dgm:pt modelId="{6A394396-6A48-4F17-8404-6B2104EEDAB0}" type="par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15956E1-824E-41F5-9DF1-25E02085E01C}" type="sibTrans" cxnId="{51DB97CB-0180-46DE-8CF9-5E1303ED8C0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71A16D-6D3A-432C-834D-94D94C96E66D}">
      <dgm:prSet phldrT="[文本]" custT="1"/>
      <dgm:spPr/>
      <dgm:t>
        <a:bodyPr/>
        <a:lstStyle/>
        <a:p>
          <a:r>
            <a:rPr lang="en-US" altLang="en-US" sz="1800" b="1" dirty="0">
              <a:latin typeface="微软雅黑" panose="020B0503020204020204" pitchFamily="34" charset="-122"/>
              <a:ea typeface="微软雅黑" panose="020B0503020204020204" pitchFamily="34" charset="-122"/>
            </a:rPr>
            <a:t>Peer to Peer </a:t>
          </a:r>
          <a:r>
            <a:rPr lang="zh-CN" altLang="en-US" sz="1800" b="1" dirty="0">
              <a:latin typeface="微软雅黑" panose="020B0503020204020204" pitchFamily="34" charset="-122"/>
              <a:ea typeface="微软雅黑" panose="020B0503020204020204" pitchFamily="34" charset="-122"/>
            </a:rPr>
            <a:t>方式</a:t>
          </a:r>
        </a:p>
      </dgm:t>
    </dgm:pt>
    <dgm:pt modelId="{7FD95283-8E1D-47B9-BD8A-E52B4440FDE3}" type="par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2C4A89-BFFB-461D-811A-EE97C8509A5E}" type="sibTrans" cxnId="{F8EE973F-005E-49D9-8A55-BF2936ACABE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7E39CD3-0DC4-4012-92DA-90224624ADFF}">
      <dgm:prSet phldrT="[文本]" custT="1"/>
      <dgm:spPr/>
      <dgm:t>
        <a:bodyPr/>
        <a:lstStyle/>
        <a:p>
          <a:pPr algn="ctr">
            <a:lnSpc>
              <a:spcPct val="100000"/>
            </a:lnSpc>
            <a:spcAft>
              <a:spcPts val="0"/>
            </a:spcAft>
          </a:pPr>
          <a:r>
            <a:rPr lang="zh-CN" altLang="en-US" sz="1800" b="1" dirty="0">
              <a:latin typeface="微软雅黑" panose="020B0503020204020204" pitchFamily="34" charset="-122"/>
              <a:ea typeface="微软雅黑" panose="020B0503020204020204" pitchFamily="34" charset="-122"/>
            </a:rPr>
            <a:t>客户</a:t>
          </a:r>
          <a:r>
            <a:rPr lang="en-US" altLang="zh-CN" sz="1800" b="1" dirty="0">
              <a:latin typeface="微软雅黑" panose="020B0503020204020204" pitchFamily="34" charset="-122"/>
              <a:ea typeface="微软雅黑" panose="020B0503020204020204" pitchFamily="34" charset="-122"/>
            </a:rPr>
            <a:t>/</a:t>
          </a:r>
          <a:r>
            <a:rPr lang="zh-CN" altLang="en-US" sz="1800" b="1" dirty="0">
              <a:latin typeface="微软雅黑" panose="020B0503020204020204" pitchFamily="34" charset="-122"/>
              <a:ea typeface="微软雅黑" panose="020B0503020204020204" pitchFamily="34" charset="-122"/>
            </a:rPr>
            <a:t>服务器方式</a:t>
          </a:r>
          <a:endParaRPr lang="en-US" altLang="zh-CN" sz="1800" b="1" dirty="0">
            <a:latin typeface="微软雅黑" panose="020B0503020204020204" pitchFamily="34" charset="-122"/>
            <a:ea typeface="微软雅黑" panose="020B0503020204020204" pitchFamily="34" charset="-122"/>
          </a:endParaRPr>
        </a:p>
      </dgm:t>
    </dgm:pt>
    <dgm:pt modelId="{F415174C-1935-4310-A6E6-FE62B21E5B87}" type="sib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51DC01-4D36-438B-AAEB-01B61AACDBAB}" type="parTrans" cxnId="{0543E9C2-E2BE-425C-B0CB-EAE585D6F38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1620A8E-C4A5-4821-82B1-9A6EE4F894AA}">
      <dgm:prSet phldrT="[文本]" custT="1"/>
      <dgm:spPr/>
      <dgm:t>
        <a:bodyPr/>
        <a:lstStyle/>
        <a:p>
          <a:pPr>
            <a:lnSpc>
              <a:spcPct val="100000"/>
            </a:lnSpc>
            <a:spcAft>
              <a:spcPts val="0"/>
            </a:spcAft>
          </a:pPr>
          <a:r>
            <a:rPr lang="zh-CN" altLang="en-US" sz="1800" b="1" dirty="0">
              <a:latin typeface="微软雅黑" panose="020B0503020204020204" pitchFamily="34" charset="-122"/>
              <a:ea typeface="微软雅黑" panose="020B0503020204020204" pitchFamily="34" charset="-122"/>
            </a:rPr>
            <a:t>对等方式</a:t>
          </a:r>
          <a:endParaRPr lang="en-US" altLang="zh-CN" sz="1800" b="1" dirty="0">
            <a:latin typeface="微软雅黑" panose="020B0503020204020204" pitchFamily="34" charset="-122"/>
            <a:ea typeface="微软雅黑" panose="020B0503020204020204" pitchFamily="34" charset="-122"/>
          </a:endParaRPr>
        </a:p>
      </dgm:t>
    </dgm:pt>
    <dgm:pt modelId="{966FE29F-1530-487E-8BF1-E706AA499996}" type="sib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BE4650C-F7E6-4DB4-9284-332FE113FE55}" type="parTrans" cxnId="{419CC096-94B7-4869-8BB1-1F1886A1C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EB17A82-9752-4BB8-A0BB-5F5C56F2C0A1}">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C/S </a:t>
          </a:r>
          <a:r>
            <a:rPr lang="zh-CN" altLang="en-US" sz="1800" b="1" dirty="0">
              <a:latin typeface="微软雅黑" panose="020B0503020204020204" pitchFamily="34" charset="-122"/>
              <a:ea typeface="微软雅黑" panose="020B0503020204020204" pitchFamily="34" charset="-122"/>
            </a:rPr>
            <a:t>方式</a:t>
          </a:r>
        </a:p>
      </dgm:t>
    </dgm:pt>
    <dgm:pt modelId="{5F48F131-5791-4AB7-9B60-6558004A049B}" type="parTrans" cxnId="{C5632FAF-2983-4105-8D68-C4D4F75E308C}">
      <dgm:prSet/>
      <dgm:spPr/>
      <dgm:t>
        <a:bodyPr/>
        <a:lstStyle/>
        <a:p>
          <a:endParaRPr lang="zh-CN" altLang="en-US" sz="1600"/>
        </a:p>
      </dgm:t>
    </dgm:pt>
    <dgm:pt modelId="{37F47257-8A82-4074-AE1E-99FA89BF3F55}" type="sibTrans" cxnId="{C5632FAF-2983-4105-8D68-C4D4F75E308C}">
      <dgm:prSet/>
      <dgm:spPr/>
      <dgm:t>
        <a:bodyPr/>
        <a:lstStyle/>
        <a:p>
          <a:endParaRPr lang="zh-CN" altLang="en-US" sz="1600"/>
        </a:p>
      </dgm:t>
    </dgm:pt>
    <dgm:pt modelId="{82CB24EB-F3B8-4313-8A4C-46A4A6C6E31A}">
      <dgm:prSet phldrT="[文本]" custT="1"/>
      <dgm:spPr/>
      <dgm:t>
        <a:bodyPr/>
        <a:lstStyle/>
        <a:p>
          <a:r>
            <a:rPr lang="zh-CN" altLang="en-US" sz="1800" b="1" dirty="0">
              <a:latin typeface="微软雅黑" panose="020B0503020204020204" pitchFamily="34" charset="-122"/>
              <a:ea typeface="微软雅黑" panose="020B0503020204020204" pitchFamily="34" charset="-122"/>
            </a:rPr>
            <a:t>简称为 </a:t>
          </a:r>
          <a:r>
            <a:rPr lang="en-US" altLang="en-US" sz="1800" b="1" dirty="0">
              <a:latin typeface="微软雅黑" panose="020B0503020204020204" pitchFamily="34" charset="-122"/>
              <a:ea typeface="微软雅黑" panose="020B0503020204020204" pitchFamily="34" charset="-122"/>
            </a:rPr>
            <a:t>P2P </a:t>
          </a:r>
          <a:r>
            <a:rPr lang="zh-CN" altLang="en-US" sz="1800" b="1" dirty="0">
              <a:latin typeface="微软雅黑" panose="020B0503020204020204" pitchFamily="34" charset="-122"/>
              <a:ea typeface="微软雅黑" panose="020B0503020204020204" pitchFamily="34" charset="-122"/>
            </a:rPr>
            <a:t>方式</a:t>
          </a:r>
        </a:p>
      </dgm:t>
    </dgm:pt>
    <dgm:pt modelId="{F964AE57-1F6D-4E2E-92C0-B117F9D585B8}" type="parTrans" cxnId="{CF299708-4E6C-4B0C-B710-9F1B0A9E0DE0}">
      <dgm:prSet/>
      <dgm:spPr/>
      <dgm:t>
        <a:bodyPr/>
        <a:lstStyle/>
        <a:p>
          <a:endParaRPr lang="zh-CN" altLang="en-US" sz="1600"/>
        </a:p>
      </dgm:t>
    </dgm:pt>
    <dgm:pt modelId="{68FADE7E-F584-4933-80D1-051383411362}" type="sibTrans" cxnId="{CF299708-4E6C-4B0C-B710-9F1B0A9E0DE0}">
      <dgm:prSet/>
      <dgm:spPr/>
      <dgm:t>
        <a:bodyPr/>
        <a:lstStyle/>
        <a:p>
          <a:endParaRPr lang="zh-CN" altLang="en-US" sz="1600"/>
        </a:p>
      </dgm:t>
    </dgm:pt>
    <dgm:pt modelId="{D5AF80AA-414F-4474-ABC9-E635DD32C12D}" type="pres">
      <dgm:prSet presAssocID="{32A9B5D2-AFBA-46B2-B4AE-3AC19D52734B}" presName="Name0" presStyleCnt="0">
        <dgm:presLayoutVars>
          <dgm:dir/>
          <dgm:animLvl val="lvl"/>
          <dgm:resizeHandles val="exact"/>
        </dgm:presLayoutVars>
      </dgm:prSet>
      <dgm:spPr/>
    </dgm:pt>
    <dgm:pt modelId="{E980AAEC-D744-4F45-AA9F-C138C0A71A0E}" type="pres">
      <dgm:prSet presAssocID="{C7E39CD3-0DC4-4012-92DA-90224624ADFF}" presName="composite" presStyleCnt="0"/>
      <dgm:spPr/>
    </dgm:pt>
    <dgm:pt modelId="{8F17F835-55F0-4C61-A2A3-44AE2ED9D7FE}" type="pres">
      <dgm:prSet presAssocID="{C7E39CD3-0DC4-4012-92DA-90224624ADFF}" presName="parTx" presStyleLbl="alignNode1" presStyleIdx="0" presStyleCnt="2">
        <dgm:presLayoutVars>
          <dgm:chMax val="0"/>
          <dgm:chPref val="0"/>
          <dgm:bulletEnabled val="1"/>
        </dgm:presLayoutVars>
      </dgm:prSet>
      <dgm:spPr/>
    </dgm:pt>
    <dgm:pt modelId="{ACB976F2-8BF8-4A70-91C5-C91BC345A4AF}" type="pres">
      <dgm:prSet presAssocID="{C7E39CD3-0DC4-4012-92DA-90224624ADFF}" presName="desTx" presStyleLbl="alignAccFollowNode1" presStyleIdx="0" presStyleCnt="2">
        <dgm:presLayoutVars>
          <dgm:bulletEnabled val="1"/>
        </dgm:presLayoutVars>
      </dgm:prSet>
      <dgm:spPr/>
    </dgm:pt>
    <dgm:pt modelId="{9B6C0EE2-67AE-4432-B5BF-6CE7E326E53F}" type="pres">
      <dgm:prSet presAssocID="{F415174C-1935-4310-A6E6-FE62B21E5B87}" presName="space" presStyleCnt="0"/>
      <dgm:spPr/>
    </dgm:pt>
    <dgm:pt modelId="{7E449BE8-A2E6-4157-904D-55985C924B0E}" type="pres">
      <dgm:prSet presAssocID="{C1620A8E-C4A5-4821-82B1-9A6EE4F894AA}" presName="composite" presStyleCnt="0"/>
      <dgm:spPr/>
    </dgm:pt>
    <dgm:pt modelId="{FD082DEC-BD21-4E00-AA12-CC0ED5CBCB32}" type="pres">
      <dgm:prSet presAssocID="{C1620A8E-C4A5-4821-82B1-9A6EE4F894AA}" presName="parTx" presStyleLbl="alignNode1" presStyleIdx="1" presStyleCnt="2">
        <dgm:presLayoutVars>
          <dgm:chMax val="0"/>
          <dgm:chPref val="0"/>
          <dgm:bulletEnabled val="1"/>
        </dgm:presLayoutVars>
      </dgm:prSet>
      <dgm:spPr/>
    </dgm:pt>
    <dgm:pt modelId="{B62719DE-8DA5-4764-8561-2A4AB2C96331}" type="pres">
      <dgm:prSet presAssocID="{C1620A8E-C4A5-4821-82B1-9A6EE4F894AA}" presName="desTx" presStyleLbl="alignAccFollowNode1" presStyleIdx="1" presStyleCnt="2">
        <dgm:presLayoutVars>
          <dgm:bulletEnabled val="1"/>
        </dgm:presLayoutVars>
      </dgm:prSet>
      <dgm:spPr/>
    </dgm:pt>
  </dgm:ptLst>
  <dgm:cxnLst>
    <dgm:cxn modelId="{CF299708-4E6C-4B0C-B710-9F1B0A9E0DE0}" srcId="{C1620A8E-C4A5-4821-82B1-9A6EE4F894AA}" destId="{82CB24EB-F3B8-4313-8A4C-46A4A6C6E31A}" srcOrd="1" destOrd="0" parTransId="{F964AE57-1F6D-4E2E-92C0-B117F9D585B8}" sibTransId="{68FADE7E-F584-4933-80D1-051383411362}"/>
    <dgm:cxn modelId="{C400F422-3627-4800-9FC6-37E89AF888F6}" type="presOf" srcId="{C7E39CD3-0DC4-4012-92DA-90224624ADFF}" destId="{8F17F835-55F0-4C61-A2A3-44AE2ED9D7FE}" srcOrd="0" destOrd="0" presId="urn:microsoft.com/office/officeart/2005/8/layout/hList1"/>
    <dgm:cxn modelId="{F8EE973F-005E-49D9-8A55-BF2936ACABED}" srcId="{C1620A8E-C4A5-4821-82B1-9A6EE4F894AA}" destId="{2D71A16D-6D3A-432C-834D-94D94C96E66D}" srcOrd="0" destOrd="0" parTransId="{7FD95283-8E1D-47B9-BD8A-E52B4440FDE3}" sibTransId="{C72C4A89-BFFB-461D-811A-EE97C8509A5E}"/>
    <dgm:cxn modelId="{6E51A640-35A5-4E7A-A3DC-157B7276F45F}" type="presOf" srcId="{2D71A16D-6D3A-432C-834D-94D94C96E66D}" destId="{B62719DE-8DA5-4764-8561-2A4AB2C96331}" srcOrd="0" destOrd="0" presId="urn:microsoft.com/office/officeart/2005/8/layout/hList1"/>
    <dgm:cxn modelId="{35214179-FC9B-4995-A9D6-365694F11EE5}" type="presOf" srcId="{32A9B5D2-AFBA-46B2-B4AE-3AC19D52734B}" destId="{D5AF80AA-414F-4474-ABC9-E635DD32C12D}" srcOrd="0" destOrd="0" presId="urn:microsoft.com/office/officeart/2005/8/layout/hList1"/>
    <dgm:cxn modelId="{06BDE67D-8B6F-4450-8B4F-334C7CF9747E}" type="presOf" srcId="{82CB24EB-F3B8-4313-8A4C-46A4A6C6E31A}" destId="{B62719DE-8DA5-4764-8561-2A4AB2C96331}" srcOrd="0" destOrd="1" presId="urn:microsoft.com/office/officeart/2005/8/layout/hList1"/>
    <dgm:cxn modelId="{25EA4E81-CD7D-4645-AFDA-AB598CFBBB0A}" type="presOf" srcId="{C1620A8E-C4A5-4821-82B1-9A6EE4F894AA}" destId="{FD082DEC-BD21-4E00-AA12-CC0ED5CBCB32}" srcOrd="0" destOrd="0" presId="urn:microsoft.com/office/officeart/2005/8/layout/hList1"/>
    <dgm:cxn modelId="{1578938D-5C63-43C8-B09A-BADC09FB6ACA}" type="presOf" srcId="{4EB17A82-9752-4BB8-A0BB-5F5C56F2C0A1}" destId="{ACB976F2-8BF8-4A70-91C5-C91BC345A4AF}" srcOrd="0" destOrd="1" presId="urn:microsoft.com/office/officeart/2005/8/layout/hList1"/>
    <dgm:cxn modelId="{419CC096-94B7-4869-8BB1-1F1886A1C7DB}" srcId="{32A9B5D2-AFBA-46B2-B4AE-3AC19D52734B}" destId="{C1620A8E-C4A5-4821-82B1-9A6EE4F894AA}" srcOrd="1" destOrd="0" parTransId="{6BE4650C-F7E6-4DB4-9284-332FE113FE55}" sibTransId="{966FE29F-1530-487E-8BF1-E706AA499996}"/>
    <dgm:cxn modelId="{C5632FAF-2983-4105-8D68-C4D4F75E308C}" srcId="{C7E39CD3-0DC4-4012-92DA-90224624ADFF}" destId="{4EB17A82-9752-4BB8-A0BB-5F5C56F2C0A1}" srcOrd="1" destOrd="0" parTransId="{5F48F131-5791-4AB7-9B60-6558004A049B}" sibTransId="{37F47257-8A82-4074-AE1E-99FA89BF3F55}"/>
    <dgm:cxn modelId="{0543E9C2-E2BE-425C-B0CB-EAE585D6F38A}" srcId="{32A9B5D2-AFBA-46B2-B4AE-3AC19D52734B}" destId="{C7E39CD3-0DC4-4012-92DA-90224624ADFF}" srcOrd="0" destOrd="0" parTransId="{5451DC01-4D36-438B-AAEB-01B61AACDBAB}" sibTransId="{F415174C-1935-4310-A6E6-FE62B21E5B87}"/>
    <dgm:cxn modelId="{C50C0CC8-308A-41F8-9F7C-1644E5BBC002}" type="presOf" srcId="{66ACC874-3CFB-4E6F-B294-E9398EAEDB9E}" destId="{ACB976F2-8BF8-4A70-91C5-C91BC345A4AF}" srcOrd="0" destOrd="0" presId="urn:microsoft.com/office/officeart/2005/8/layout/hList1"/>
    <dgm:cxn modelId="{51DB97CB-0180-46DE-8CF9-5E1303ED8C09}" srcId="{C7E39CD3-0DC4-4012-92DA-90224624ADFF}" destId="{66ACC874-3CFB-4E6F-B294-E9398EAEDB9E}" srcOrd="0" destOrd="0" parTransId="{6A394396-6A48-4F17-8404-6B2104EEDAB0}" sibTransId="{B15956E1-824E-41F5-9DF1-25E02085E01C}"/>
    <dgm:cxn modelId="{F1F83210-003E-4731-9298-525BD4863AC6}" type="presParOf" srcId="{D5AF80AA-414F-4474-ABC9-E635DD32C12D}" destId="{E980AAEC-D744-4F45-AA9F-C138C0A71A0E}" srcOrd="0" destOrd="0" presId="urn:microsoft.com/office/officeart/2005/8/layout/hList1"/>
    <dgm:cxn modelId="{6DA98C05-4E0C-46D0-9F77-4374429075EE}" type="presParOf" srcId="{E980AAEC-D744-4F45-AA9F-C138C0A71A0E}" destId="{8F17F835-55F0-4C61-A2A3-44AE2ED9D7FE}" srcOrd="0" destOrd="0" presId="urn:microsoft.com/office/officeart/2005/8/layout/hList1"/>
    <dgm:cxn modelId="{DCBA9C60-AE8B-43DC-9BB7-725A718966BE}" type="presParOf" srcId="{E980AAEC-D744-4F45-AA9F-C138C0A71A0E}" destId="{ACB976F2-8BF8-4A70-91C5-C91BC345A4AF}" srcOrd="1" destOrd="0" presId="urn:microsoft.com/office/officeart/2005/8/layout/hList1"/>
    <dgm:cxn modelId="{7BD692C1-7E60-4B70-A8E9-17BD892EB34F}" type="presParOf" srcId="{D5AF80AA-414F-4474-ABC9-E635DD32C12D}" destId="{9B6C0EE2-67AE-4432-B5BF-6CE7E326E53F}" srcOrd="1" destOrd="0" presId="urn:microsoft.com/office/officeart/2005/8/layout/hList1"/>
    <dgm:cxn modelId="{BAEA59E1-92DF-47BF-BD7A-97A29A5CDD19}" type="presParOf" srcId="{D5AF80AA-414F-4474-ABC9-E635DD32C12D}" destId="{7E449BE8-A2E6-4157-904D-55985C924B0E}" srcOrd="2" destOrd="0" presId="urn:microsoft.com/office/officeart/2005/8/layout/hList1"/>
    <dgm:cxn modelId="{68A7FC11-1138-4848-B460-B704A6338E1F}" type="presParOf" srcId="{7E449BE8-A2E6-4157-904D-55985C924B0E}" destId="{FD082DEC-BD21-4E00-AA12-CC0ED5CBCB32}" srcOrd="0" destOrd="0" presId="urn:microsoft.com/office/officeart/2005/8/layout/hList1"/>
    <dgm:cxn modelId="{69BCF585-8958-4E84-AA02-58A75652C0C7}" type="presParOf" srcId="{7E449BE8-A2E6-4157-904D-55985C924B0E}" destId="{B62719DE-8DA5-4764-8561-2A4AB2C96331}"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E02DF5B-A2BE-4F1E-B43F-8357B8176D95}" type="doc">
      <dgm:prSet loTypeId="urn:microsoft.com/office/officeart/2005/8/layout/radial1" loCatId="cycle" qsTypeId="urn:microsoft.com/office/officeart/2005/8/quickstyle/simple4" qsCatId="simple" csTypeId="urn:microsoft.com/office/officeart/2005/8/colors/colorful3" csCatId="colorful" phldr="1"/>
      <dgm:spPr/>
      <dgm:t>
        <a:bodyPr/>
        <a:lstStyle/>
        <a:p>
          <a:endParaRPr lang="zh-CN" altLang="en-US"/>
        </a:p>
      </dgm:t>
    </dgm:pt>
    <dgm:pt modelId="{B22323AB-1086-4A1C-B331-F5BB963D4145}">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重要性能指标</a:t>
          </a:r>
        </a:p>
      </dgm:t>
    </dgm:pt>
    <dgm:pt modelId="{F8002C4C-AD5A-415D-9914-AE4B4B07341E}" type="par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A78D77-C0AC-4449-8431-EAB529D8F1FD}" type="sibTrans" cxnId="{AE8854D9-1688-447D-9E1C-54334D3667AE}">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22DC312-F211-45CA-A65C-AED37D4E84F0}">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速率</a:t>
          </a:r>
        </a:p>
      </dgm:t>
    </dgm:pt>
    <dgm:pt modelId="{A0C7B0A4-A9E9-4F21-9431-C84E96289809}" type="parTrans" cxnId="{06E46658-2D4E-4CE1-9B44-76363095246D}">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DC099C82-1D5D-4769-AFA9-7792218D5827}" type="sibTrans" cxnId="{06E46658-2D4E-4CE1-9B44-76363095246D}">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C0BB659-4143-44F0-8F84-D4D2FC90959C}">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吞吐率</a:t>
          </a:r>
        </a:p>
      </dgm:t>
    </dgm:pt>
    <dgm:pt modelId="{8CF1AA8F-96CB-4B5E-B715-B9028B917988}" type="parTrans" cxnId="{A44B08B3-A047-45A2-892F-C214B73ECD29}">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7256747-7EEC-4ABC-996D-C89DE5DBD52B}" type="sibTrans" cxnId="{A44B08B3-A047-45A2-892F-C214B73ECD29}">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A517CECA-E7F5-4281-B2DA-244FEF5320DC}">
      <dgm:prSet phldrT="[文本]" custT="1"/>
      <dgm:spPr/>
      <dgm:t>
        <a:bodyPr/>
        <a:lstStyle/>
        <a:p>
          <a:pPr>
            <a:lnSpc>
              <a:spcPct val="800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时延</a:t>
          </a:r>
        </a:p>
      </dgm:t>
    </dgm:pt>
    <dgm:pt modelId="{4603E628-68DC-46D2-84DA-A0245BD072EF}" type="parTrans" cxnId="{C11591D6-0992-483B-98F3-EA64344B9D2F}">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5724D21-8406-4C52-BA15-0ED736CB50CE}" type="sibTrans" cxnId="{C11591D6-0992-483B-98F3-EA64344B9D2F}">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2FD6668-1A08-46AC-BA8D-FB52FFFD9631}">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利用率</a:t>
          </a:r>
        </a:p>
      </dgm:t>
    </dgm:pt>
    <dgm:pt modelId="{8C2FDA74-89FA-41B1-9873-0394473DF94B}" type="parTrans" cxnId="{84603CE0-D6DA-470B-B1FD-588405D531AB}">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23036FD-5FD0-4ACE-AC60-F08A948150DD}" type="sibTrans" cxnId="{84603CE0-D6DA-470B-B1FD-588405D531AB}">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B408720-3765-4817-97AA-0480BC62D918}">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时延带宽积</a:t>
          </a:r>
        </a:p>
      </dgm:t>
    </dgm:pt>
    <dgm:pt modelId="{60735CDE-5DEF-4EF2-882E-EE6D37ADADAA}" type="parTrans" cxnId="{57E3D092-497D-42CD-8D3D-06B7B835F9B1}">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E1E6132-0FFC-4AED-B82E-16E82C2CF6DA}" type="sibTrans" cxnId="{57E3D092-497D-42CD-8D3D-06B7B835F9B1}">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5D00D0D-C9FC-4080-938A-E3FE166109A0}">
      <dgm:prSet phldrT="[文本]" custT="1"/>
      <dgm:spPr/>
      <dgm:t>
        <a:bodyPr/>
        <a:lstStyle/>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往返</a:t>
          </a:r>
          <a:endParaRPr lang="en-US" altLang="zh-CN" sz="1400" b="1" dirty="0">
            <a:latin typeface="微软雅黑" panose="020B0503020204020204" pitchFamily="34" charset="-122"/>
            <a:ea typeface="微软雅黑" panose="020B0503020204020204" pitchFamily="34" charset="-122"/>
          </a:endParaRPr>
        </a:p>
        <a:p>
          <a:pPr>
            <a:lnSpc>
              <a:spcPct val="80000"/>
            </a:lnSpc>
            <a:spcBef>
              <a:spcPts val="0"/>
            </a:spcBef>
            <a:spcAft>
              <a:spcPts val="0"/>
            </a:spcAft>
          </a:pPr>
          <a:r>
            <a:rPr lang="zh-CN" altLang="en-US" sz="1400" b="1" dirty="0">
              <a:latin typeface="微软雅黑" panose="020B0503020204020204" pitchFamily="34" charset="-122"/>
              <a:ea typeface="微软雅黑" panose="020B0503020204020204" pitchFamily="34" charset="-122"/>
            </a:rPr>
            <a:t>时间</a:t>
          </a:r>
        </a:p>
      </dgm:t>
    </dgm:pt>
    <dgm:pt modelId="{ED08DA14-77EB-487F-BE02-3A6D86A8246C}" type="parTrans" cxnId="{39F0CA54-37A8-4FB1-A1E2-C7A445040E97}">
      <dgm:prSet custT="1"/>
      <dgm:spPr>
        <a:ln w="19050"/>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94BF61BA-85DC-4B4A-B4A6-D485C5AE8654}" type="sibTrans" cxnId="{39F0CA54-37A8-4FB1-A1E2-C7A445040E97}">
      <dgm:prSet/>
      <dgm:spPr/>
      <dgm:t>
        <a:bodyPr/>
        <a:lstStyle/>
        <a:p>
          <a:pPr>
            <a:lnSpc>
              <a:spcPct val="80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7D17AA0-6080-47AE-B7DB-526C9B560CAC}">
      <dgm:prSet custT="1"/>
      <dgm:spPr/>
      <dgm:t>
        <a:bodyPr/>
        <a:lstStyle/>
        <a:p>
          <a:pPr>
            <a:lnSpc>
              <a:spcPct val="80000"/>
            </a:lnSpc>
            <a:spcBef>
              <a:spcPts val="0"/>
            </a:spcBef>
            <a:spcAft>
              <a:spcPts val="0"/>
            </a:spcAft>
          </a:pPr>
          <a:r>
            <a:rPr lang="zh-CN" altLang="en-US" sz="1600" b="1" dirty="0">
              <a:latin typeface="微软雅黑" pitchFamily="34" charset="-122"/>
              <a:ea typeface="微软雅黑" pitchFamily="34" charset="-122"/>
            </a:rPr>
            <a:t>带宽</a:t>
          </a:r>
        </a:p>
      </dgm:t>
    </dgm:pt>
    <dgm:pt modelId="{DB84B937-099F-47CA-9CDD-0D18AFFCDE42}" type="parTrans" cxnId="{78A011E7-61C1-4FA0-84CE-C5A9CDB15EF2}">
      <dgm:prSet custT="1"/>
      <dgm:spPr>
        <a:ln w="19050"/>
      </dgm:spPr>
      <dgm:t>
        <a:bodyPr/>
        <a:lstStyle/>
        <a:p>
          <a:pPr>
            <a:lnSpc>
              <a:spcPct val="80000"/>
            </a:lnSpc>
            <a:spcBef>
              <a:spcPts val="0"/>
            </a:spcBef>
            <a:spcAft>
              <a:spcPts val="0"/>
            </a:spcAft>
          </a:pPr>
          <a:endParaRPr lang="zh-CN" altLang="en-US" sz="400"/>
        </a:p>
      </dgm:t>
    </dgm:pt>
    <dgm:pt modelId="{F3240178-5CAF-4CE1-A438-3A427DB0871A}" type="sibTrans" cxnId="{78A011E7-61C1-4FA0-84CE-C5A9CDB15EF2}">
      <dgm:prSet/>
      <dgm:spPr/>
      <dgm:t>
        <a:bodyPr/>
        <a:lstStyle/>
        <a:p>
          <a:pPr>
            <a:lnSpc>
              <a:spcPct val="80000"/>
            </a:lnSpc>
            <a:spcBef>
              <a:spcPts val="0"/>
            </a:spcBef>
            <a:spcAft>
              <a:spcPts val="0"/>
            </a:spcAft>
          </a:pPr>
          <a:endParaRPr lang="zh-CN" altLang="en-US" sz="1600"/>
        </a:p>
      </dgm:t>
    </dgm:pt>
    <dgm:pt modelId="{038BAAB1-DC3C-4112-BA2B-18A482B3FB34}" type="pres">
      <dgm:prSet presAssocID="{EE02DF5B-A2BE-4F1E-B43F-8357B8176D95}" presName="cycle" presStyleCnt="0">
        <dgm:presLayoutVars>
          <dgm:chMax val="1"/>
          <dgm:dir/>
          <dgm:animLvl val="ctr"/>
          <dgm:resizeHandles val="exact"/>
        </dgm:presLayoutVars>
      </dgm:prSet>
      <dgm:spPr/>
    </dgm:pt>
    <dgm:pt modelId="{CEAB91ED-304D-4E30-917D-DB8A5D6E9F4E}" type="pres">
      <dgm:prSet presAssocID="{B22323AB-1086-4A1C-B331-F5BB963D4145}" presName="centerShape" presStyleLbl="node0" presStyleIdx="0" presStyleCnt="1" custScaleX="145530" custScaleY="145529"/>
      <dgm:spPr/>
    </dgm:pt>
    <dgm:pt modelId="{C041081D-BE3D-40E6-B560-6CCAEF685BB2}" type="pres">
      <dgm:prSet presAssocID="{A0C7B0A4-A9E9-4F21-9431-C84E96289809}" presName="Name9" presStyleLbl="parChTrans1D2" presStyleIdx="0" presStyleCnt="7"/>
      <dgm:spPr/>
    </dgm:pt>
    <dgm:pt modelId="{3CD87989-36DD-4624-AA56-93400E0521D5}" type="pres">
      <dgm:prSet presAssocID="{A0C7B0A4-A9E9-4F21-9431-C84E96289809}" presName="connTx" presStyleLbl="parChTrans1D2" presStyleIdx="0" presStyleCnt="7"/>
      <dgm:spPr/>
    </dgm:pt>
    <dgm:pt modelId="{402F23A3-1405-4E62-9B6B-1BAD6AF3B058}" type="pres">
      <dgm:prSet presAssocID="{D22DC312-F211-45CA-A65C-AED37D4E84F0}" presName="node" presStyleLbl="node1" presStyleIdx="0" presStyleCnt="7">
        <dgm:presLayoutVars>
          <dgm:bulletEnabled val="1"/>
        </dgm:presLayoutVars>
      </dgm:prSet>
      <dgm:spPr/>
    </dgm:pt>
    <dgm:pt modelId="{1A688BA9-9980-46CE-92DD-5B540F6B173C}" type="pres">
      <dgm:prSet presAssocID="{DB84B937-099F-47CA-9CDD-0D18AFFCDE42}" presName="Name9" presStyleLbl="parChTrans1D2" presStyleIdx="1" presStyleCnt="7"/>
      <dgm:spPr/>
    </dgm:pt>
    <dgm:pt modelId="{29BF8A05-B023-43EB-9B11-C312495477C8}" type="pres">
      <dgm:prSet presAssocID="{DB84B937-099F-47CA-9CDD-0D18AFFCDE42}" presName="connTx" presStyleLbl="parChTrans1D2" presStyleIdx="1" presStyleCnt="7"/>
      <dgm:spPr/>
    </dgm:pt>
    <dgm:pt modelId="{9EB9B65F-4393-4612-9918-4B6EE32BE2B5}" type="pres">
      <dgm:prSet presAssocID="{87D17AA0-6080-47AE-B7DB-526C9B560CAC}" presName="node" presStyleLbl="node1" presStyleIdx="1" presStyleCnt="7">
        <dgm:presLayoutVars>
          <dgm:bulletEnabled val="1"/>
        </dgm:presLayoutVars>
      </dgm:prSet>
      <dgm:spPr/>
    </dgm:pt>
    <dgm:pt modelId="{CA2997A6-1A9D-4195-A4F9-95CB281E15D5}" type="pres">
      <dgm:prSet presAssocID="{8CF1AA8F-96CB-4B5E-B715-B9028B917988}" presName="Name9" presStyleLbl="parChTrans1D2" presStyleIdx="2" presStyleCnt="7"/>
      <dgm:spPr/>
    </dgm:pt>
    <dgm:pt modelId="{4EA814EB-5106-4171-B8B6-C2618CEA3308}" type="pres">
      <dgm:prSet presAssocID="{8CF1AA8F-96CB-4B5E-B715-B9028B917988}" presName="connTx" presStyleLbl="parChTrans1D2" presStyleIdx="2" presStyleCnt="7"/>
      <dgm:spPr/>
    </dgm:pt>
    <dgm:pt modelId="{AA805C1A-016A-4092-AC58-C8C9626E154E}" type="pres">
      <dgm:prSet presAssocID="{CC0BB659-4143-44F0-8F84-D4D2FC90959C}" presName="node" presStyleLbl="node1" presStyleIdx="2" presStyleCnt="7">
        <dgm:presLayoutVars>
          <dgm:bulletEnabled val="1"/>
        </dgm:presLayoutVars>
      </dgm:prSet>
      <dgm:spPr/>
    </dgm:pt>
    <dgm:pt modelId="{96B1DAAE-F63C-47BA-8420-AE7C9945D5FC}" type="pres">
      <dgm:prSet presAssocID="{4603E628-68DC-46D2-84DA-A0245BD072EF}" presName="Name9" presStyleLbl="parChTrans1D2" presStyleIdx="3" presStyleCnt="7"/>
      <dgm:spPr/>
    </dgm:pt>
    <dgm:pt modelId="{C5612A02-3DBA-489F-8731-7BFEF4CFC7A5}" type="pres">
      <dgm:prSet presAssocID="{4603E628-68DC-46D2-84DA-A0245BD072EF}" presName="connTx" presStyleLbl="parChTrans1D2" presStyleIdx="3" presStyleCnt="7"/>
      <dgm:spPr/>
    </dgm:pt>
    <dgm:pt modelId="{3E830754-EFA7-4138-9FA6-3C9E92E74104}" type="pres">
      <dgm:prSet presAssocID="{A517CECA-E7F5-4281-B2DA-244FEF5320DC}" presName="node" presStyleLbl="node1" presStyleIdx="3" presStyleCnt="7">
        <dgm:presLayoutVars>
          <dgm:bulletEnabled val="1"/>
        </dgm:presLayoutVars>
      </dgm:prSet>
      <dgm:spPr/>
    </dgm:pt>
    <dgm:pt modelId="{78B2782A-5A1E-4DB7-8A32-C245B5326F9D}" type="pres">
      <dgm:prSet presAssocID="{60735CDE-5DEF-4EF2-882E-EE6D37ADADAA}" presName="Name9" presStyleLbl="parChTrans1D2" presStyleIdx="4" presStyleCnt="7"/>
      <dgm:spPr/>
    </dgm:pt>
    <dgm:pt modelId="{0DB9215C-9FC4-4645-A9FB-1A7085D28428}" type="pres">
      <dgm:prSet presAssocID="{60735CDE-5DEF-4EF2-882E-EE6D37ADADAA}" presName="connTx" presStyleLbl="parChTrans1D2" presStyleIdx="4" presStyleCnt="7"/>
      <dgm:spPr/>
    </dgm:pt>
    <dgm:pt modelId="{8473F692-BDED-4FE3-8EFA-3135EC8A8BE4}" type="pres">
      <dgm:prSet presAssocID="{CB408720-3765-4817-97AA-0480BC62D918}" presName="node" presStyleLbl="node1" presStyleIdx="4" presStyleCnt="7">
        <dgm:presLayoutVars>
          <dgm:bulletEnabled val="1"/>
        </dgm:presLayoutVars>
      </dgm:prSet>
      <dgm:spPr/>
    </dgm:pt>
    <dgm:pt modelId="{8BB81BB8-E393-4F1D-8B7B-020AC5C16F2F}" type="pres">
      <dgm:prSet presAssocID="{ED08DA14-77EB-487F-BE02-3A6D86A8246C}" presName="Name9" presStyleLbl="parChTrans1D2" presStyleIdx="5" presStyleCnt="7"/>
      <dgm:spPr/>
    </dgm:pt>
    <dgm:pt modelId="{EFA8CB61-977E-45B8-BD5E-C48F086EF9EF}" type="pres">
      <dgm:prSet presAssocID="{ED08DA14-77EB-487F-BE02-3A6D86A8246C}" presName="connTx" presStyleLbl="parChTrans1D2" presStyleIdx="5" presStyleCnt="7"/>
      <dgm:spPr/>
    </dgm:pt>
    <dgm:pt modelId="{E239F5DF-E3F9-42F3-9ADB-15CF35E6CE45}" type="pres">
      <dgm:prSet presAssocID="{65D00D0D-C9FC-4080-938A-E3FE166109A0}" presName="node" presStyleLbl="node1" presStyleIdx="5" presStyleCnt="7">
        <dgm:presLayoutVars>
          <dgm:bulletEnabled val="1"/>
        </dgm:presLayoutVars>
      </dgm:prSet>
      <dgm:spPr/>
    </dgm:pt>
    <dgm:pt modelId="{AF33E670-42AA-4676-8C3F-58C9EF27EB34}" type="pres">
      <dgm:prSet presAssocID="{8C2FDA74-89FA-41B1-9873-0394473DF94B}" presName="Name9" presStyleLbl="parChTrans1D2" presStyleIdx="6" presStyleCnt="7"/>
      <dgm:spPr/>
    </dgm:pt>
    <dgm:pt modelId="{43F165D5-D777-4F42-82A2-62F5DDF5C06C}" type="pres">
      <dgm:prSet presAssocID="{8C2FDA74-89FA-41B1-9873-0394473DF94B}" presName="connTx" presStyleLbl="parChTrans1D2" presStyleIdx="6" presStyleCnt="7"/>
      <dgm:spPr/>
    </dgm:pt>
    <dgm:pt modelId="{26B2A20A-D83E-4FB4-8289-8E75F18D9F17}" type="pres">
      <dgm:prSet presAssocID="{C2FD6668-1A08-46AC-BA8D-FB52FFFD9631}" presName="node" presStyleLbl="node1" presStyleIdx="6" presStyleCnt="7">
        <dgm:presLayoutVars>
          <dgm:bulletEnabled val="1"/>
        </dgm:presLayoutVars>
      </dgm:prSet>
      <dgm:spPr/>
    </dgm:pt>
  </dgm:ptLst>
  <dgm:cxnLst>
    <dgm:cxn modelId="{FEB40F05-B012-4742-B3F3-2E4CD9069007}" type="presOf" srcId="{4603E628-68DC-46D2-84DA-A0245BD072EF}" destId="{96B1DAAE-F63C-47BA-8420-AE7C9945D5FC}" srcOrd="0" destOrd="0" presId="urn:microsoft.com/office/officeart/2005/8/layout/radial1"/>
    <dgm:cxn modelId="{A1AA7717-4937-4972-86F5-24BEE22006CF}" type="presOf" srcId="{DB84B937-099F-47CA-9CDD-0D18AFFCDE42}" destId="{1A688BA9-9980-46CE-92DD-5B540F6B173C}" srcOrd="0" destOrd="0" presId="urn:microsoft.com/office/officeart/2005/8/layout/radial1"/>
    <dgm:cxn modelId="{8A1E1518-1582-44E6-A719-D28B7EE61E0D}" type="presOf" srcId="{60735CDE-5DEF-4EF2-882E-EE6D37ADADAA}" destId="{0DB9215C-9FC4-4645-A9FB-1A7085D28428}" srcOrd="1" destOrd="0" presId="urn:microsoft.com/office/officeart/2005/8/layout/radial1"/>
    <dgm:cxn modelId="{BA96FF2A-7A04-49C9-AC3A-32F14CE03DED}" type="presOf" srcId="{D22DC312-F211-45CA-A65C-AED37D4E84F0}" destId="{402F23A3-1405-4E62-9B6B-1BAD6AF3B058}" srcOrd="0" destOrd="0" presId="urn:microsoft.com/office/officeart/2005/8/layout/radial1"/>
    <dgm:cxn modelId="{5BC6942F-4A5C-4C8D-90E4-83B07878880A}" type="presOf" srcId="{8C2FDA74-89FA-41B1-9873-0394473DF94B}" destId="{43F165D5-D777-4F42-82A2-62F5DDF5C06C}" srcOrd="1" destOrd="0" presId="urn:microsoft.com/office/officeart/2005/8/layout/radial1"/>
    <dgm:cxn modelId="{387D4237-A227-4C79-8A9E-29729E1B0E8A}" type="presOf" srcId="{CB408720-3765-4817-97AA-0480BC62D918}" destId="{8473F692-BDED-4FE3-8EFA-3135EC8A8BE4}" srcOrd="0" destOrd="0" presId="urn:microsoft.com/office/officeart/2005/8/layout/radial1"/>
    <dgm:cxn modelId="{DF0E5F68-346C-414D-86E9-A9FAD2F20367}" type="presOf" srcId="{A0C7B0A4-A9E9-4F21-9431-C84E96289809}" destId="{C041081D-BE3D-40E6-B560-6CCAEF685BB2}" srcOrd="0" destOrd="0" presId="urn:microsoft.com/office/officeart/2005/8/layout/radial1"/>
    <dgm:cxn modelId="{648A664E-2883-4F15-865D-3DCFA5EC8F7E}" type="presOf" srcId="{65D00D0D-C9FC-4080-938A-E3FE166109A0}" destId="{E239F5DF-E3F9-42F3-9ADB-15CF35E6CE45}" srcOrd="0" destOrd="0" presId="urn:microsoft.com/office/officeart/2005/8/layout/radial1"/>
    <dgm:cxn modelId="{4FF81571-7C75-4CDD-8870-97F37CD2855E}" type="presOf" srcId="{60735CDE-5DEF-4EF2-882E-EE6D37ADADAA}" destId="{78B2782A-5A1E-4DB7-8A32-C245B5326F9D}" srcOrd="0" destOrd="0" presId="urn:microsoft.com/office/officeart/2005/8/layout/radial1"/>
    <dgm:cxn modelId="{1E233852-3F15-497A-97F8-53E8369B5A16}" type="presOf" srcId="{B22323AB-1086-4A1C-B331-F5BB963D4145}" destId="{CEAB91ED-304D-4E30-917D-DB8A5D6E9F4E}" srcOrd="0" destOrd="0" presId="urn:microsoft.com/office/officeart/2005/8/layout/radial1"/>
    <dgm:cxn modelId="{39F0CA54-37A8-4FB1-A1E2-C7A445040E97}" srcId="{B22323AB-1086-4A1C-B331-F5BB963D4145}" destId="{65D00D0D-C9FC-4080-938A-E3FE166109A0}" srcOrd="5" destOrd="0" parTransId="{ED08DA14-77EB-487F-BE02-3A6D86A8246C}" sibTransId="{94BF61BA-85DC-4B4A-B4A6-D485C5AE8654}"/>
    <dgm:cxn modelId="{06E46658-2D4E-4CE1-9B44-76363095246D}" srcId="{B22323AB-1086-4A1C-B331-F5BB963D4145}" destId="{D22DC312-F211-45CA-A65C-AED37D4E84F0}" srcOrd="0" destOrd="0" parTransId="{A0C7B0A4-A9E9-4F21-9431-C84E96289809}" sibTransId="{DC099C82-1D5D-4769-AFA9-7792218D5827}"/>
    <dgm:cxn modelId="{A20E5D7E-53F3-4892-A647-429E04042FBA}" type="presOf" srcId="{8C2FDA74-89FA-41B1-9873-0394473DF94B}" destId="{AF33E670-42AA-4676-8C3F-58C9EF27EB34}" srcOrd="0" destOrd="0" presId="urn:microsoft.com/office/officeart/2005/8/layout/radial1"/>
    <dgm:cxn modelId="{08083480-5750-4A8D-B227-453FE3A844E4}" type="presOf" srcId="{ED08DA14-77EB-487F-BE02-3A6D86A8246C}" destId="{8BB81BB8-E393-4F1D-8B7B-020AC5C16F2F}" srcOrd="0" destOrd="0" presId="urn:microsoft.com/office/officeart/2005/8/layout/radial1"/>
    <dgm:cxn modelId="{CDD16A83-C97A-4C40-9477-E4C17AADEB3D}" type="presOf" srcId="{C2FD6668-1A08-46AC-BA8D-FB52FFFD9631}" destId="{26B2A20A-D83E-4FB4-8289-8E75F18D9F17}" srcOrd="0" destOrd="0" presId="urn:microsoft.com/office/officeart/2005/8/layout/radial1"/>
    <dgm:cxn modelId="{6864DC85-6328-4444-BCCA-5ED660FE9638}" type="presOf" srcId="{4603E628-68DC-46D2-84DA-A0245BD072EF}" destId="{C5612A02-3DBA-489F-8731-7BFEF4CFC7A5}" srcOrd="1" destOrd="0" presId="urn:microsoft.com/office/officeart/2005/8/layout/radial1"/>
    <dgm:cxn modelId="{7A6D5F8D-F9DF-4AF8-8F5D-B2E73765DA11}" type="presOf" srcId="{8CF1AA8F-96CB-4B5E-B715-B9028B917988}" destId="{4EA814EB-5106-4171-B8B6-C2618CEA3308}" srcOrd="1" destOrd="0" presId="urn:microsoft.com/office/officeart/2005/8/layout/radial1"/>
    <dgm:cxn modelId="{57E3D092-497D-42CD-8D3D-06B7B835F9B1}" srcId="{B22323AB-1086-4A1C-B331-F5BB963D4145}" destId="{CB408720-3765-4817-97AA-0480BC62D918}" srcOrd="4" destOrd="0" parTransId="{60735CDE-5DEF-4EF2-882E-EE6D37ADADAA}" sibTransId="{2E1E6132-0FFC-4AED-B82E-16E82C2CF6DA}"/>
    <dgm:cxn modelId="{64D4869B-CA00-46D6-806E-45DFEBD3B1B8}" type="presOf" srcId="{A0C7B0A4-A9E9-4F21-9431-C84E96289809}" destId="{3CD87989-36DD-4624-AA56-93400E0521D5}" srcOrd="1" destOrd="0" presId="urn:microsoft.com/office/officeart/2005/8/layout/radial1"/>
    <dgm:cxn modelId="{A44B08B3-A047-45A2-892F-C214B73ECD29}" srcId="{B22323AB-1086-4A1C-B331-F5BB963D4145}" destId="{CC0BB659-4143-44F0-8F84-D4D2FC90959C}" srcOrd="2" destOrd="0" parTransId="{8CF1AA8F-96CB-4B5E-B715-B9028B917988}" sibTransId="{77256747-7EEC-4ABC-996D-C89DE5DBD52B}"/>
    <dgm:cxn modelId="{BC03D3C5-D03F-4496-9E66-EC52D8428C34}" type="presOf" srcId="{ED08DA14-77EB-487F-BE02-3A6D86A8246C}" destId="{EFA8CB61-977E-45B8-BD5E-C48F086EF9EF}" srcOrd="1" destOrd="0" presId="urn:microsoft.com/office/officeart/2005/8/layout/radial1"/>
    <dgm:cxn modelId="{182C6FC7-493B-4176-82D3-2A8BA6DDADFC}" type="presOf" srcId="{CC0BB659-4143-44F0-8F84-D4D2FC90959C}" destId="{AA805C1A-016A-4092-AC58-C8C9626E154E}" srcOrd="0" destOrd="0" presId="urn:microsoft.com/office/officeart/2005/8/layout/radial1"/>
    <dgm:cxn modelId="{F3F843CD-F01B-498A-A9F8-A21112579A0C}" type="presOf" srcId="{DB84B937-099F-47CA-9CDD-0D18AFFCDE42}" destId="{29BF8A05-B023-43EB-9B11-C312495477C8}" srcOrd="1" destOrd="0" presId="urn:microsoft.com/office/officeart/2005/8/layout/radial1"/>
    <dgm:cxn modelId="{20EFAED3-F430-4D85-9F40-13D246355EBC}" type="presOf" srcId="{EE02DF5B-A2BE-4F1E-B43F-8357B8176D95}" destId="{038BAAB1-DC3C-4112-BA2B-18A482B3FB34}" srcOrd="0" destOrd="0" presId="urn:microsoft.com/office/officeart/2005/8/layout/radial1"/>
    <dgm:cxn modelId="{C11591D6-0992-483B-98F3-EA64344B9D2F}" srcId="{B22323AB-1086-4A1C-B331-F5BB963D4145}" destId="{A517CECA-E7F5-4281-B2DA-244FEF5320DC}" srcOrd="3" destOrd="0" parTransId="{4603E628-68DC-46D2-84DA-A0245BD072EF}" sibTransId="{E5724D21-8406-4C52-BA15-0ED736CB50CE}"/>
    <dgm:cxn modelId="{AE8854D9-1688-447D-9E1C-54334D3667AE}" srcId="{EE02DF5B-A2BE-4F1E-B43F-8357B8176D95}" destId="{B22323AB-1086-4A1C-B331-F5BB963D4145}" srcOrd="0" destOrd="0" parTransId="{F8002C4C-AD5A-415D-9914-AE4B4B07341E}" sibTransId="{3EA78D77-C0AC-4449-8431-EAB529D8F1FD}"/>
    <dgm:cxn modelId="{F2A08AD9-CFB1-48E3-B1B0-150C72948075}" type="presOf" srcId="{87D17AA0-6080-47AE-B7DB-526C9B560CAC}" destId="{9EB9B65F-4393-4612-9918-4B6EE32BE2B5}" srcOrd="0" destOrd="0" presId="urn:microsoft.com/office/officeart/2005/8/layout/radial1"/>
    <dgm:cxn modelId="{84603CE0-D6DA-470B-B1FD-588405D531AB}" srcId="{B22323AB-1086-4A1C-B331-F5BB963D4145}" destId="{C2FD6668-1A08-46AC-BA8D-FB52FFFD9631}" srcOrd="6" destOrd="0" parTransId="{8C2FDA74-89FA-41B1-9873-0394473DF94B}" sibTransId="{523036FD-5FD0-4ACE-AC60-F08A948150DD}"/>
    <dgm:cxn modelId="{1B195DE1-A215-478D-A6DE-67AAB3BAD050}" type="presOf" srcId="{8CF1AA8F-96CB-4B5E-B715-B9028B917988}" destId="{CA2997A6-1A9D-4195-A4F9-95CB281E15D5}" srcOrd="0" destOrd="0" presId="urn:microsoft.com/office/officeart/2005/8/layout/radial1"/>
    <dgm:cxn modelId="{78A011E7-61C1-4FA0-84CE-C5A9CDB15EF2}" srcId="{B22323AB-1086-4A1C-B331-F5BB963D4145}" destId="{87D17AA0-6080-47AE-B7DB-526C9B560CAC}" srcOrd="1" destOrd="0" parTransId="{DB84B937-099F-47CA-9CDD-0D18AFFCDE42}" sibTransId="{F3240178-5CAF-4CE1-A438-3A427DB0871A}"/>
    <dgm:cxn modelId="{C3497DEC-C149-48B3-BC23-CC9921EB14C3}" type="presOf" srcId="{A517CECA-E7F5-4281-B2DA-244FEF5320DC}" destId="{3E830754-EFA7-4138-9FA6-3C9E92E74104}" srcOrd="0" destOrd="0" presId="urn:microsoft.com/office/officeart/2005/8/layout/radial1"/>
    <dgm:cxn modelId="{133AE4FF-A484-41DA-8EB1-C2C3D02BF120}" type="presParOf" srcId="{038BAAB1-DC3C-4112-BA2B-18A482B3FB34}" destId="{CEAB91ED-304D-4E30-917D-DB8A5D6E9F4E}" srcOrd="0" destOrd="0" presId="urn:microsoft.com/office/officeart/2005/8/layout/radial1"/>
    <dgm:cxn modelId="{E16F9661-5AC5-4437-BD9C-16AE476DE23B}" type="presParOf" srcId="{038BAAB1-DC3C-4112-BA2B-18A482B3FB34}" destId="{C041081D-BE3D-40E6-B560-6CCAEF685BB2}" srcOrd="1" destOrd="0" presId="urn:microsoft.com/office/officeart/2005/8/layout/radial1"/>
    <dgm:cxn modelId="{3211F2AF-F364-43D0-9A7C-79702C6E6C34}" type="presParOf" srcId="{C041081D-BE3D-40E6-B560-6CCAEF685BB2}" destId="{3CD87989-36DD-4624-AA56-93400E0521D5}" srcOrd="0" destOrd="0" presId="urn:microsoft.com/office/officeart/2005/8/layout/radial1"/>
    <dgm:cxn modelId="{D92718EA-F264-4BF2-93EC-8679C66217A9}" type="presParOf" srcId="{038BAAB1-DC3C-4112-BA2B-18A482B3FB34}" destId="{402F23A3-1405-4E62-9B6B-1BAD6AF3B058}" srcOrd="2" destOrd="0" presId="urn:microsoft.com/office/officeart/2005/8/layout/radial1"/>
    <dgm:cxn modelId="{110BBA91-D51D-4E73-8BA1-75833E52D395}" type="presParOf" srcId="{038BAAB1-DC3C-4112-BA2B-18A482B3FB34}" destId="{1A688BA9-9980-46CE-92DD-5B540F6B173C}" srcOrd="3" destOrd="0" presId="urn:microsoft.com/office/officeart/2005/8/layout/radial1"/>
    <dgm:cxn modelId="{F8623B45-8DA7-4EBE-ACD0-4A02FF495F20}" type="presParOf" srcId="{1A688BA9-9980-46CE-92DD-5B540F6B173C}" destId="{29BF8A05-B023-43EB-9B11-C312495477C8}" srcOrd="0" destOrd="0" presId="urn:microsoft.com/office/officeart/2005/8/layout/radial1"/>
    <dgm:cxn modelId="{A74FED4A-009A-4DB5-A934-8DF39073D56A}" type="presParOf" srcId="{038BAAB1-DC3C-4112-BA2B-18A482B3FB34}" destId="{9EB9B65F-4393-4612-9918-4B6EE32BE2B5}" srcOrd="4" destOrd="0" presId="urn:microsoft.com/office/officeart/2005/8/layout/radial1"/>
    <dgm:cxn modelId="{6E2A2A09-8046-4E50-A69C-9968D89DA4C3}" type="presParOf" srcId="{038BAAB1-DC3C-4112-BA2B-18A482B3FB34}" destId="{CA2997A6-1A9D-4195-A4F9-95CB281E15D5}" srcOrd="5" destOrd="0" presId="urn:microsoft.com/office/officeart/2005/8/layout/radial1"/>
    <dgm:cxn modelId="{D609836B-250A-45E8-8415-68F0690A11B6}" type="presParOf" srcId="{CA2997A6-1A9D-4195-A4F9-95CB281E15D5}" destId="{4EA814EB-5106-4171-B8B6-C2618CEA3308}" srcOrd="0" destOrd="0" presId="urn:microsoft.com/office/officeart/2005/8/layout/radial1"/>
    <dgm:cxn modelId="{C75544EF-EE5A-4BC4-9777-2A3C7E9A4A0B}" type="presParOf" srcId="{038BAAB1-DC3C-4112-BA2B-18A482B3FB34}" destId="{AA805C1A-016A-4092-AC58-C8C9626E154E}" srcOrd="6" destOrd="0" presId="urn:microsoft.com/office/officeart/2005/8/layout/radial1"/>
    <dgm:cxn modelId="{BB776DD6-B251-46CF-8328-3B48454360D7}" type="presParOf" srcId="{038BAAB1-DC3C-4112-BA2B-18A482B3FB34}" destId="{96B1DAAE-F63C-47BA-8420-AE7C9945D5FC}" srcOrd="7" destOrd="0" presId="urn:microsoft.com/office/officeart/2005/8/layout/radial1"/>
    <dgm:cxn modelId="{FE18A4D5-C790-46F0-970E-6A398EEEAF22}" type="presParOf" srcId="{96B1DAAE-F63C-47BA-8420-AE7C9945D5FC}" destId="{C5612A02-3DBA-489F-8731-7BFEF4CFC7A5}" srcOrd="0" destOrd="0" presId="urn:microsoft.com/office/officeart/2005/8/layout/radial1"/>
    <dgm:cxn modelId="{BFD25698-62F9-474A-B6C4-B772D8E4456C}" type="presParOf" srcId="{038BAAB1-DC3C-4112-BA2B-18A482B3FB34}" destId="{3E830754-EFA7-4138-9FA6-3C9E92E74104}" srcOrd="8" destOrd="0" presId="urn:microsoft.com/office/officeart/2005/8/layout/radial1"/>
    <dgm:cxn modelId="{6032A82A-B226-4842-82FC-9C2608852E84}" type="presParOf" srcId="{038BAAB1-DC3C-4112-BA2B-18A482B3FB34}" destId="{78B2782A-5A1E-4DB7-8A32-C245B5326F9D}" srcOrd="9" destOrd="0" presId="urn:microsoft.com/office/officeart/2005/8/layout/radial1"/>
    <dgm:cxn modelId="{57EFBA60-C095-4099-A06A-F501722F815D}" type="presParOf" srcId="{78B2782A-5A1E-4DB7-8A32-C245B5326F9D}" destId="{0DB9215C-9FC4-4645-A9FB-1A7085D28428}" srcOrd="0" destOrd="0" presId="urn:microsoft.com/office/officeart/2005/8/layout/radial1"/>
    <dgm:cxn modelId="{7269BCE5-5856-480D-B02B-4E12E87E70C7}" type="presParOf" srcId="{038BAAB1-DC3C-4112-BA2B-18A482B3FB34}" destId="{8473F692-BDED-4FE3-8EFA-3135EC8A8BE4}" srcOrd="10" destOrd="0" presId="urn:microsoft.com/office/officeart/2005/8/layout/radial1"/>
    <dgm:cxn modelId="{02855FD4-D20B-4284-8DCA-4C3344D98DCF}" type="presParOf" srcId="{038BAAB1-DC3C-4112-BA2B-18A482B3FB34}" destId="{8BB81BB8-E393-4F1D-8B7B-020AC5C16F2F}" srcOrd="11" destOrd="0" presId="urn:microsoft.com/office/officeart/2005/8/layout/radial1"/>
    <dgm:cxn modelId="{39A07AD8-4570-4B96-9438-975BD661E11E}" type="presParOf" srcId="{8BB81BB8-E393-4F1D-8B7B-020AC5C16F2F}" destId="{EFA8CB61-977E-45B8-BD5E-C48F086EF9EF}" srcOrd="0" destOrd="0" presId="urn:microsoft.com/office/officeart/2005/8/layout/radial1"/>
    <dgm:cxn modelId="{0383C5C4-9A24-4B92-BF01-350088E4724E}" type="presParOf" srcId="{038BAAB1-DC3C-4112-BA2B-18A482B3FB34}" destId="{E239F5DF-E3F9-42F3-9ADB-15CF35E6CE45}" srcOrd="12" destOrd="0" presId="urn:microsoft.com/office/officeart/2005/8/layout/radial1"/>
    <dgm:cxn modelId="{08F79CF2-0FBA-4CC3-8A95-6E4E54732669}" type="presParOf" srcId="{038BAAB1-DC3C-4112-BA2B-18A482B3FB34}" destId="{AF33E670-42AA-4676-8C3F-58C9EF27EB34}" srcOrd="13" destOrd="0" presId="urn:microsoft.com/office/officeart/2005/8/layout/radial1"/>
    <dgm:cxn modelId="{74408013-2DEF-40A7-A044-6E878A5D8156}" type="presParOf" srcId="{AF33E670-42AA-4676-8C3F-58C9EF27EB34}" destId="{43F165D5-D777-4F42-82A2-62F5DDF5C06C}" srcOrd="0" destOrd="0" presId="urn:microsoft.com/office/officeart/2005/8/layout/radial1"/>
    <dgm:cxn modelId="{7B882BCB-E5BF-473D-838C-0EC64E199E4E}" type="presParOf" srcId="{038BAAB1-DC3C-4112-BA2B-18A482B3FB34}" destId="{26B2A20A-D83E-4FB4-8289-8E75F18D9F17}" srcOrd="14" destOrd="0" presId="urn:microsoft.com/office/officeart/2005/8/layout/radial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9AB813C-B06A-4F31-AE41-5FBC08019F61}" type="doc">
      <dgm:prSet loTypeId="urn:microsoft.com/office/officeart/2005/8/layout/vList5" loCatId="list" qsTypeId="urn:microsoft.com/office/officeart/2005/8/quickstyle/simple1" qsCatId="simple" csTypeId="urn:microsoft.com/office/officeart/2005/8/colors/colorful1#4" csCatId="colorful" phldr="1"/>
      <dgm:spPr/>
      <dgm:t>
        <a:bodyPr/>
        <a:lstStyle/>
        <a:p>
          <a:endParaRPr lang="zh-CN" altLang="en-US"/>
        </a:p>
      </dgm:t>
    </dgm:pt>
    <dgm:pt modelId="{050A098E-265C-4391-8A02-18D41C9ACEF7}">
      <dgm:prSet phldrT="[文本]" custT="1"/>
      <dgm:spPr/>
      <dgm:t>
        <a:bodyPr/>
        <a:lstStyle/>
        <a:p>
          <a:pPr>
            <a:lnSpc>
              <a:spcPts val="2400"/>
            </a:lnSpc>
            <a:spcBef>
              <a:spcPts val="0"/>
            </a:spcBef>
            <a:spcAft>
              <a:spcPts val="0"/>
            </a:spcAft>
          </a:pPr>
          <a:r>
            <a:rPr lang="zh-CN" altLang="en-US" sz="1800" b="1" dirty="0">
              <a:solidFill>
                <a:schemeClr val="bg1"/>
              </a:solidFill>
              <a:latin typeface="微软雅黑" panose="020B0503020204020204" pitchFamily="34" charset="-122"/>
              <a:ea typeface="微软雅黑" panose="020B0503020204020204" pitchFamily="34" charset="-122"/>
            </a:rPr>
            <a:t>频域</a:t>
          </a:r>
        </a:p>
      </dgm:t>
    </dgm:pt>
    <dgm:pt modelId="{A6F7A116-B107-4EA4-9066-73D7E647AB1E}" type="par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CB1832-21C9-4CED-A453-F89D918E8026}" type="sibTrans" cxnId="{EC4EA4BE-F7E1-4328-B1DB-6A0D15C7F420}">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FEF4933F-9CB0-4FCB-8C1E-9CB99A07B49E}">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某个信号具有的</a:t>
          </a:r>
          <a:r>
            <a:rPr lang="zh-CN" altLang="en-US" sz="1600" b="1" dirty="0">
              <a:solidFill>
                <a:srgbClr val="0000FF"/>
              </a:solidFill>
              <a:latin typeface="微软雅黑" panose="020B0503020204020204" pitchFamily="34" charset="-122"/>
              <a:ea typeface="微软雅黑" panose="020B0503020204020204" pitchFamily="34" charset="-122"/>
            </a:rPr>
            <a:t>频带宽度。</a:t>
          </a:r>
        </a:p>
      </dgm:t>
    </dgm:pt>
    <dgm:pt modelId="{496C612B-0359-4353-8637-BF1552A99E99}" type="par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18C0578-B49C-4E15-96F8-93E15DFFC7F1}" type="sibTrans" cxnId="{83A05107-00D7-4222-B7C2-A60E72976CB4}">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0C3747A4-6E14-4B4D-B352-09BA88A76C46}">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单位是</a:t>
          </a:r>
          <a:r>
            <a:rPr lang="zh-CN" altLang="en-US" sz="1600" b="1" dirty="0">
              <a:solidFill>
                <a:srgbClr val="0000FF"/>
              </a:solidFill>
              <a:latin typeface="微软雅黑" panose="020B0503020204020204" pitchFamily="34" charset="-122"/>
              <a:ea typeface="微软雅黑" panose="020B0503020204020204" pitchFamily="34" charset="-122"/>
            </a:rPr>
            <a:t>赫</a:t>
          </a:r>
          <a:r>
            <a:rPr lang="zh-CN" altLang="en-US" sz="1600" b="1" dirty="0">
              <a:latin typeface="微软雅黑" panose="020B0503020204020204" pitchFamily="34" charset="-122"/>
              <a:ea typeface="微软雅黑" panose="020B0503020204020204" pitchFamily="34" charset="-122"/>
            </a:rPr>
            <a:t>（或千赫、兆赫、吉赫等）。</a:t>
          </a:r>
        </a:p>
      </dgm:t>
    </dgm:pt>
    <dgm:pt modelId="{9C1E3CB2-E8C8-49AB-965B-AFC0CD4F794D}" type="par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78D8998-D0E8-4832-B8F9-C32C7B518B9A}" type="sibTrans" cxnId="{1165B027-3233-4387-BD43-758F7EC8C9C7}">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7D7D28CE-69F5-49A1-B14F-3045EE4444C5}">
      <dgm:prSet phldrT="[文本]" custT="1"/>
      <dgm:spPr/>
      <dgm:t>
        <a:bodyPr/>
        <a:lstStyle/>
        <a:p>
          <a:pPr>
            <a:lnSpc>
              <a:spcPts val="2400"/>
            </a:lnSpc>
            <a:spcBef>
              <a:spcPts val="0"/>
            </a:spcBef>
            <a:spcAft>
              <a:spcPts val="0"/>
            </a:spcAft>
          </a:pPr>
          <a:r>
            <a:rPr lang="zh-CN" altLang="en-US" sz="1800" b="1" dirty="0">
              <a:solidFill>
                <a:schemeClr val="tx1"/>
              </a:solidFill>
              <a:latin typeface="微软雅黑" panose="020B0503020204020204" pitchFamily="34" charset="-122"/>
              <a:ea typeface="微软雅黑" panose="020B0503020204020204" pitchFamily="34" charset="-122"/>
            </a:rPr>
            <a:t>时域</a:t>
          </a:r>
        </a:p>
      </dgm:t>
    </dgm:pt>
    <dgm:pt modelId="{7BA8DCB6-F2BF-48A1-AE72-20D033A4AB32}" type="par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56A15820-9812-4C8B-9CED-F317235A9064}" type="sibTrans" cxnId="{60735D4F-A4F3-476D-AE58-8AE4EDAE2412}">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0DB3CE6-D371-46C6-BF5C-43B59AB6EDE2}">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dirty="0">
              <a:solidFill>
                <a:srgbClr val="0000FF"/>
              </a:solidFill>
              <a:latin typeface="微软雅黑" panose="020B0503020204020204" pitchFamily="34" charset="-122"/>
              <a:ea typeface="微软雅黑" panose="020B0503020204020204" pitchFamily="34" charset="-122"/>
            </a:rPr>
            <a:t>“最高数据率”。</a:t>
          </a:r>
        </a:p>
      </dgm:t>
    </dgm:pt>
    <dgm:pt modelId="{EF117184-0A6B-450A-9F46-59148824F74C}" type="par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ECD476C-4C81-48A0-A49D-D9F381D723F0}" type="sibTrans" cxnId="{F099BD6E-6DE6-4DC8-8916-951CC33D3D91}">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679FA712-BCAA-459B-A818-2FEE70636A61}">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单位就是数据率的单位 </a:t>
          </a:r>
          <a:r>
            <a:rPr lang="en-US" altLang="en-US" sz="1600" b="1" dirty="0">
              <a:latin typeface="微软雅黑" panose="020B0503020204020204" pitchFamily="34" charset="-122"/>
              <a:ea typeface="微软雅黑" panose="020B0503020204020204" pitchFamily="34" charset="-122"/>
            </a:rPr>
            <a:t>bit/s</a:t>
          </a:r>
          <a:r>
            <a:rPr lang="zh-CN" altLang="en-US" sz="1600" b="1" dirty="0">
              <a:latin typeface="微软雅黑" panose="020B0503020204020204" pitchFamily="34" charset="-122"/>
              <a:ea typeface="微软雅黑" panose="020B0503020204020204" pitchFamily="34" charset="-122"/>
            </a:rPr>
            <a:t>。</a:t>
          </a:r>
        </a:p>
      </dgm:t>
    </dgm:pt>
    <dgm:pt modelId="{0A4C7176-71C6-4DA2-A49E-1FBD36EA537F}" type="par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C008DC61-DEEE-4E2B-8DE7-4B2E6EECC852}" type="sibTrans" cxnId="{2E444A85-2D22-48A3-8A02-211B5B9A1B48}">
      <dgm:prSet/>
      <dgm:spPr/>
      <dgm:t>
        <a:bodyPr/>
        <a:lstStyle/>
        <a:p>
          <a:pPr>
            <a:lnSpc>
              <a:spcPts val="24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B66B706-D603-46A5-9883-124C05B8E875}">
      <dgm:prSet phldrT="[文本]" custT="1"/>
      <dgm:spPr/>
      <dgm:t>
        <a:bodyPr/>
        <a:lstStyle/>
        <a:p>
          <a:pPr>
            <a:lnSpc>
              <a:spcPts val="2400"/>
            </a:lnSpc>
            <a:spcBef>
              <a:spcPts val="0"/>
            </a:spcBef>
            <a:spcAft>
              <a:spcPts val="0"/>
            </a:spcAft>
          </a:pPr>
          <a:r>
            <a:rPr lang="zh-CN" altLang="en-US" sz="1600" b="1" dirty="0">
              <a:latin typeface="微软雅黑" panose="020B0503020204020204" pitchFamily="34" charset="-122"/>
              <a:ea typeface="微软雅黑" panose="020B0503020204020204" pitchFamily="34" charset="-122"/>
            </a:rPr>
            <a:t>某信道允许通过的信号频带范围称为该</a:t>
          </a:r>
          <a:r>
            <a:rPr lang="zh-CN" altLang="en-US" sz="1600" b="1" dirty="0">
              <a:solidFill>
                <a:srgbClr val="0000FF"/>
              </a:solidFill>
              <a:latin typeface="微软雅黑" panose="020B0503020204020204" pitchFamily="34" charset="-122"/>
              <a:ea typeface="微软雅黑" panose="020B0503020204020204" pitchFamily="34" charset="-122"/>
            </a:rPr>
            <a:t>信道的带宽</a:t>
          </a:r>
          <a:r>
            <a:rPr lang="zh-CN" altLang="en-US" sz="1600" b="1" dirty="0">
              <a:latin typeface="微软雅黑" panose="020B0503020204020204" pitchFamily="34" charset="-122"/>
              <a:ea typeface="微软雅黑" panose="020B0503020204020204" pitchFamily="34" charset="-122"/>
            </a:rPr>
            <a:t>（或通频带）。</a:t>
          </a:r>
        </a:p>
      </dgm:t>
    </dgm:pt>
    <dgm:pt modelId="{89BD7969-E47A-44A1-A228-64CDDE384D58}" type="parTrans" cxnId="{DC942A3B-33E6-4C36-96EA-7BED92D7AD9D}">
      <dgm:prSet/>
      <dgm:spPr/>
      <dgm:t>
        <a:bodyPr/>
        <a:lstStyle/>
        <a:p>
          <a:endParaRPr lang="zh-CN" altLang="en-US"/>
        </a:p>
      </dgm:t>
    </dgm:pt>
    <dgm:pt modelId="{CF6155F8-E999-4B3A-9320-1784222FDB2A}" type="sibTrans" cxnId="{DC942A3B-33E6-4C36-96EA-7BED92D7AD9D}">
      <dgm:prSet/>
      <dgm:spPr/>
      <dgm:t>
        <a:bodyPr/>
        <a:lstStyle/>
        <a:p>
          <a:endParaRPr lang="zh-CN" altLang="en-US"/>
        </a:p>
      </dgm:t>
    </dgm:pt>
    <dgm:pt modelId="{40E63CE6-BCF0-4D31-BF79-E0110AFBC97D}" type="pres">
      <dgm:prSet presAssocID="{F9AB813C-B06A-4F31-AE41-5FBC08019F61}" presName="Name0" presStyleCnt="0">
        <dgm:presLayoutVars>
          <dgm:dir/>
          <dgm:animLvl val="lvl"/>
          <dgm:resizeHandles val="exact"/>
        </dgm:presLayoutVars>
      </dgm:prSet>
      <dgm:spPr/>
    </dgm:pt>
    <dgm:pt modelId="{A816BD0E-3B05-4D80-8D09-86E69DADF94A}" type="pres">
      <dgm:prSet presAssocID="{050A098E-265C-4391-8A02-18D41C9ACEF7}" presName="linNode" presStyleCnt="0"/>
      <dgm:spPr/>
    </dgm:pt>
    <dgm:pt modelId="{12490A3D-6938-465D-B09D-05FD246C6E9E}" type="pres">
      <dgm:prSet presAssocID="{050A098E-265C-4391-8A02-18D41C9ACEF7}" presName="parentText" presStyleLbl="node1" presStyleIdx="0" presStyleCnt="2" custScaleX="41980">
        <dgm:presLayoutVars>
          <dgm:chMax val="1"/>
          <dgm:bulletEnabled val="1"/>
        </dgm:presLayoutVars>
      </dgm:prSet>
      <dgm:spPr/>
    </dgm:pt>
    <dgm:pt modelId="{D8322834-D555-4278-B09F-615875E565CE}" type="pres">
      <dgm:prSet presAssocID="{050A098E-265C-4391-8A02-18D41C9ACEF7}" presName="descendantText" presStyleLbl="alignAccFollowNode1" presStyleIdx="0" presStyleCnt="2" custScaleX="127202">
        <dgm:presLayoutVars>
          <dgm:bulletEnabled val="1"/>
        </dgm:presLayoutVars>
      </dgm:prSet>
      <dgm:spPr/>
    </dgm:pt>
    <dgm:pt modelId="{D083337A-8E07-459D-A053-9228C089A47E}" type="pres">
      <dgm:prSet presAssocID="{1BCB1832-21C9-4CED-A453-F89D918E8026}" presName="sp" presStyleCnt="0"/>
      <dgm:spPr/>
    </dgm:pt>
    <dgm:pt modelId="{795B2B64-5D71-4F73-BF51-C77D11A4D022}" type="pres">
      <dgm:prSet presAssocID="{7D7D28CE-69F5-49A1-B14F-3045EE4444C5}" presName="linNode" presStyleCnt="0"/>
      <dgm:spPr/>
    </dgm:pt>
    <dgm:pt modelId="{90C011AE-3F91-416D-B2FD-433B35EC17A6}" type="pres">
      <dgm:prSet presAssocID="{7D7D28CE-69F5-49A1-B14F-3045EE4444C5}" presName="parentText" presStyleLbl="node1" presStyleIdx="1" presStyleCnt="2" custScaleX="41980" custLinFactNeighborY="-2899">
        <dgm:presLayoutVars>
          <dgm:chMax val="1"/>
          <dgm:bulletEnabled val="1"/>
        </dgm:presLayoutVars>
      </dgm:prSet>
      <dgm:spPr/>
    </dgm:pt>
    <dgm:pt modelId="{4EADB46F-8684-4B72-97FE-D18AEB647819}" type="pres">
      <dgm:prSet presAssocID="{7D7D28CE-69F5-49A1-B14F-3045EE4444C5}" presName="descendantText" presStyleLbl="alignAccFollowNode1" presStyleIdx="1" presStyleCnt="2" custScaleX="127202" custLinFactNeighborY="-3622">
        <dgm:presLayoutVars>
          <dgm:bulletEnabled val="1"/>
        </dgm:presLayoutVars>
      </dgm:prSet>
      <dgm:spPr/>
    </dgm:pt>
  </dgm:ptLst>
  <dgm:cxnLst>
    <dgm:cxn modelId="{83A05107-00D7-4222-B7C2-A60E72976CB4}" srcId="{050A098E-265C-4391-8A02-18D41C9ACEF7}" destId="{FEF4933F-9CB0-4FCB-8C1E-9CB99A07B49E}" srcOrd="0" destOrd="0" parTransId="{496C612B-0359-4353-8637-BF1552A99E99}" sibTransId="{E18C0578-B49C-4E15-96F8-93E15DFFC7F1}"/>
    <dgm:cxn modelId="{63CD9407-2941-47C4-89ED-D215479544D9}" type="presOf" srcId="{679FA712-BCAA-459B-A818-2FEE70636A61}" destId="{4EADB46F-8684-4B72-97FE-D18AEB647819}" srcOrd="0" destOrd="1" presId="urn:microsoft.com/office/officeart/2005/8/layout/vList5"/>
    <dgm:cxn modelId="{03AFA410-631A-40E5-B964-EC11BE5D8531}" type="presOf" srcId="{1B66B706-D603-46A5-9883-124C05B8E875}" destId="{D8322834-D555-4278-B09F-615875E565CE}" srcOrd="0" destOrd="2" presId="urn:microsoft.com/office/officeart/2005/8/layout/vList5"/>
    <dgm:cxn modelId="{C2EF7411-42DE-465C-8FAE-3EB55B7970F6}" type="presOf" srcId="{050A098E-265C-4391-8A02-18D41C9ACEF7}" destId="{12490A3D-6938-465D-B09D-05FD246C6E9E}" srcOrd="0" destOrd="0" presId="urn:microsoft.com/office/officeart/2005/8/layout/vList5"/>
    <dgm:cxn modelId="{FBD4A315-3663-4844-922B-3DBBE857371B}" type="presOf" srcId="{7D7D28CE-69F5-49A1-B14F-3045EE4444C5}" destId="{90C011AE-3F91-416D-B2FD-433B35EC17A6}" srcOrd="0" destOrd="0" presId="urn:microsoft.com/office/officeart/2005/8/layout/vList5"/>
    <dgm:cxn modelId="{1165B027-3233-4387-BD43-758F7EC8C9C7}" srcId="{050A098E-265C-4391-8A02-18D41C9ACEF7}" destId="{0C3747A4-6E14-4B4D-B352-09BA88A76C46}" srcOrd="1" destOrd="0" parTransId="{9C1E3CB2-E8C8-49AB-965B-AFC0CD4F794D}" sibTransId="{B78D8998-D0E8-4832-B8F9-C32C7B518B9A}"/>
    <dgm:cxn modelId="{A7DDFB38-9139-4A21-A289-C3FF5A2E42B4}" type="presOf" srcId="{E0DB3CE6-D371-46C6-BF5C-43B59AB6EDE2}" destId="{4EADB46F-8684-4B72-97FE-D18AEB647819}" srcOrd="0" destOrd="0" presId="urn:microsoft.com/office/officeart/2005/8/layout/vList5"/>
    <dgm:cxn modelId="{DC942A3B-33E6-4C36-96EA-7BED92D7AD9D}" srcId="{050A098E-265C-4391-8A02-18D41C9ACEF7}" destId="{1B66B706-D603-46A5-9883-124C05B8E875}" srcOrd="2" destOrd="0" parTransId="{89BD7969-E47A-44A1-A228-64CDDE384D58}" sibTransId="{CF6155F8-E999-4B3A-9320-1784222FDB2A}"/>
    <dgm:cxn modelId="{371AB66C-17E5-4EE2-947D-C610D4A3E588}" type="presOf" srcId="{F9AB813C-B06A-4F31-AE41-5FBC08019F61}" destId="{40E63CE6-BCF0-4D31-BF79-E0110AFBC97D}" srcOrd="0" destOrd="0" presId="urn:microsoft.com/office/officeart/2005/8/layout/vList5"/>
    <dgm:cxn modelId="{F099BD6E-6DE6-4DC8-8916-951CC33D3D91}" srcId="{7D7D28CE-69F5-49A1-B14F-3045EE4444C5}" destId="{E0DB3CE6-D371-46C6-BF5C-43B59AB6EDE2}" srcOrd="0" destOrd="0" parTransId="{EF117184-0A6B-450A-9F46-59148824F74C}" sibTransId="{3ECD476C-4C81-48A0-A49D-D9F381D723F0}"/>
    <dgm:cxn modelId="{60735D4F-A4F3-476D-AE58-8AE4EDAE2412}" srcId="{F9AB813C-B06A-4F31-AE41-5FBC08019F61}" destId="{7D7D28CE-69F5-49A1-B14F-3045EE4444C5}" srcOrd="1" destOrd="0" parTransId="{7BA8DCB6-F2BF-48A1-AE72-20D033A4AB32}" sibTransId="{56A15820-9812-4C8B-9CED-F317235A9064}"/>
    <dgm:cxn modelId="{2E444A85-2D22-48A3-8A02-211B5B9A1B48}" srcId="{7D7D28CE-69F5-49A1-B14F-3045EE4444C5}" destId="{679FA712-BCAA-459B-A818-2FEE70636A61}" srcOrd="1" destOrd="0" parTransId="{0A4C7176-71C6-4DA2-A49E-1FBD36EA537F}" sibTransId="{C008DC61-DEEE-4E2B-8DE7-4B2E6EECC852}"/>
    <dgm:cxn modelId="{EC4EA4BE-F7E1-4328-B1DB-6A0D15C7F420}" srcId="{F9AB813C-B06A-4F31-AE41-5FBC08019F61}" destId="{050A098E-265C-4391-8A02-18D41C9ACEF7}" srcOrd="0" destOrd="0" parTransId="{A6F7A116-B107-4EA4-9066-73D7E647AB1E}" sibTransId="{1BCB1832-21C9-4CED-A453-F89D918E8026}"/>
    <dgm:cxn modelId="{A9A0C1BE-E752-49A8-9D77-F0F4F763D66F}" type="presOf" srcId="{FEF4933F-9CB0-4FCB-8C1E-9CB99A07B49E}" destId="{D8322834-D555-4278-B09F-615875E565CE}" srcOrd="0" destOrd="0" presId="urn:microsoft.com/office/officeart/2005/8/layout/vList5"/>
    <dgm:cxn modelId="{C64A0FEB-C933-463E-AEB0-9AD63DC6FF69}" type="presOf" srcId="{0C3747A4-6E14-4B4D-B352-09BA88A76C46}" destId="{D8322834-D555-4278-B09F-615875E565CE}" srcOrd="0" destOrd="1" presId="urn:microsoft.com/office/officeart/2005/8/layout/vList5"/>
    <dgm:cxn modelId="{73C37479-3E4B-4A25-A901-743C14E100D2}" type="presParOf" srcId="{40E63CE6-BCF0-4D31-BF79-E0110AFBC97D}" destId="{A816BD0E-3B05-4D80-8D09-86E69DADF94A}" srcOrd="0" destOrd="0" presId="urn:microsoft.com/office/officeart/2005/8/layout/vList5"/>
    <dgm:cxn modelId="{C0E9B0E7-F95F-485D-A69A-8411C84912E4}" type="presParOf" srcId="{A816BD0E-3B05-4D80-8D09-86E69DADF94A}" destId="{12490A3D-6938-465D-B09D-05FD246C6E9E}" srcOrd="0" destOrd="0" presId="urn:microsoft.com/office/officeart/2005/8/layout/vList5"/>
    <dgm:cxn modelId="{0A3B23AB-91F2-43D6-BC1E-C7789C0BDD1D}" type="presParOf" srcId="{A816BD0E-3B05-4D80-8D09-86E69DADF94A}" destId="{D8322834-D555-4278-B09F-615875E565CE}" srcOrd="1" destOrd="0" presId="urn:microsoft.com/office/officeart/2005/8/layout/vList5"/>
    <dgm:cxn modelId="{185C4137-9E4F-4F19-A3CB-E491C911A7C5}" type="presParOf" srcId="{40E63CE6-BCF0-4D31-BF79-E0110AFBC97D}" destId="{D083337A-8E07-459D-A053-9228C089A47E}" srcOrd="1" destOrd="0" presId="urn:microsoft.com/office/officeart/2005/8/layout/vList5"/>
    <dgm:cxn modelId="{90C81B48-3660-4386-86E9-B2B326A264D4}" type="presParOf" srcId="{40E63CE6-BCF0-4D31-BF79-E0110AFBC97D}" destId="{795B2B64-5D71-4F73-BF51-C77D11A4D022}" srcOrd="2" destOrd="0" presId="urn:microsoft.com/office/officeart/2005/8/layout/vList5"/>
    <dgm:cxn modelId="{9BF1E6FC-7FE7-44BF-ADCB-9FE0476846EC}" type="presParOf" srcId="{795B2B64-5D71-4F73-BF51-C77D11A4D022}" destId="{90C011AE-3F91-416D-B2FD-433B35EC17A6}" srcOrd="0" destOrd="0" presId="urn:microsoft.com/office/officeart/2005/8/layout/vList5"/>
    <dgm:cxn modelId="{522D5519-935E-43DE-B65C-3F7A263B0C61}" type="presParOf" srcId="{795B2B64-5D71-4F73-BF51-C77D11A4D022}" destId="{4EADB46F-8684-4B72-97FE-D18AEB647819}" srcOrd="1"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8530140-3F55-46BC-848D-A4C14AA8BC1C}" type="doc">
      <dgm:prSet loTypeId="urn:microsoft.com/office/officeart/2005/8/layout/hList1" loCatId="list" qsTypeId="urn:microsoft.com/office/officeart/2005/8/quickstyle/simple5" qsCatId="simple" csTypeId="urn:microsoft.com/office/officeart/2005/8/colors/colorful1#5" csCatId="colorful" phldr="1"/>
      <dgm:spPr/>
      <dgm:t>
        <a:bodyPr/>
        <a:lstStyle/>
        <a:p>
          <a:endParaRPr lang="zh-CN" altLang="en-US"/>
        </a:p>
      </dgm:t>
    </dgm:pt>
    <dgm:pt modelId="{617AE38B-731F-4729-B28F-C30C3037C6EF}">
      <dgm:prSet phldrT="[文本]" custT="1"/>
      <dgm:spPr/>
      <dgm:t>
        <a:bodyPr/>
        <a:lstStyle/>
        <a:p>
          <a:r>
            <a:rPr lang="zh-CN" altLang="en-US" sz="1800" b="1" dirty="0">
              <a:latin typeface="微软雅黑" panose="020B0503020204020204" pitchFamily="34" charset="-122"/>
              <a:ea typeface="微软雅黑" panose="020B0503020204020204" pitchFamily="34" charset="-122"/>
            </a:rPr>
            <a:t>信道利用率</a:t>
          </a:r>
        </a:p>
      </dgm:t>
    </dgm:pt>
    <dgm:pt modelId="{E59DA53A-3783-4CE4-8AD5-26603DC4E19D}" type="par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4789360-920D-40CE-84C5-78110649C9AA}" type="sibTrans" cxnId="{A85E3E8F-E7E6-4ECC-A71E-7AC941D62EF2}">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EC6DEAD-6406-4DFB-8DEA-CD3C17DC614D}">
      <dgm:prSet phldrT="[文本]" custT="1"/>
      <dgm:spPr/>
      <dgm:t>
        <a:bodyPr/>
        <a:lstStyle/>
        <a:p>
          <a:r>
            <a:rPr lang="zh-CN" altLang="en-US" sz="1800" b="1" dirty="0">
              <a:latin typeface="微软雅黑" panose="020B0503020204020204" pitchFamily="34" charset="-122"/>
              <a:ea typeface="微软雅黑" panose="020B0503020204020204" pitchFamily="34" charset="-122"/>
            </a:rPr>
            <a:t>某信道有百分之几的时间是被利用的（即有数据通过）。</a:t>
          </a:r>
        </a:p>
      </dgm:t>
    </dgm:pt>
    <dgm:pt modelId="{482F333A-D861-4AA0-A30F-1C931619106C}" type="par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14CB4C-25BD-4D3A-91BC-2F5637AA90E5}" type="sibTrans" cxnId="{CE89C4F3-23B2-46F4-A4AF-ACF50B7D990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7820C6F-2839-48A4-95ED-EBDFE872E9B1}">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网络利用率</a:t>
          </a:r>
        </a:p>
      </dgm:t>
    </dgm:pt>
    <dgm:pt modelId="{11E1DEE2-EAF3-490A-A502-3BB3E26556A0}" type="par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73100A8-454C-4D8A-8DBD-7B32E1030A4A}" type="sibTrans" cxnId="{19DC375B-E541-4B59-8382-93A56F7F35B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DEA8A1D-B9FF-44AA-B42C-06D817B609F8}">
      <dgm:prSet phldrT="[文本]" custT="1"/>
      <dgm:spPr/>
      <dgm:t>
        <a:bodyPr/>
        <a:lstStyle/>
        <a:p>
          <a:r>
            <a:rPr lang="zh-CN" altLang="en-US" sz="1800" b="1" dirty="0">
              <a:latin typeface="微软雅黑" panose="020B0503020204020204" pitchFamily="34" charset="-122"/>
              <a:ea typeface="微软雅黑" panose="020B0503020204020204" pitchFamily="34" charset="-122"/>
            </a:rPr>
            <a:t>全网络的信道利用率的加权平均值。</a:t>
          </a:r>
        </a:p>
      </dgm:t>
    </dgm:pt>
    <dgm:pt modelId="{CDC104ED-5DB9-424C-8439-CDDBB0142664}" type="par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73DD2A-CC9B-4D66-A6A1-7EE41BC0E8A4}" type="sibTrans" cxnId="{9DC2B627-F44A-4C33-82E3-BC9DA9CC6DC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00B28D7-2FDD-447A-8655-1C4703F07E1D}">
      <dgm:prSet custT="1"/>
      <dgm:spPr/>
      <dgm:t>
        <a:bodyPr/>
        <a:lstStyle/>
        <a:p>
          <a:r>
            <a:rPr lang="zh-CN" altLang="en-US" sz="1800" b="1" dirty="0">
              <a:latin typeface="微软雅黑" panose="020B0503020204020204" pitchFamily="34" charset="-122"/>
              <a:ea typeface="微软雅黑" panose="020B0503020204020204" pitchFamily="34" charset="-122"/>
            </a:rPr>
            <a:t>完全空闲的信道的利用率是零。</a:t>
          </a:r>
        </a:p>
      </dgm:t>
    </dgm:pt>
    <dgm:pt modelId="{B4E31D86-E7E7-4DB8-B509-ABC412692A5B}" type="parTrans" cxnId="{C6795FE8-CFE8-4187-A5F2-78B292433606}">
      <dgm:prSet/>
      <dgm:spPr/>
      <dgm:t>
        <a:bodyPr/>
        <a:lstStyle/>
        <a:p>
          <a:endParaRPr lang="zh-CN" altLang="en-US" sz="1800"/>
        </a:p>
      </dgm:t>
    </dgm:pt>
    <dgm:pt modelId="{E056649D-FFB4-45EF-845D-4988E55B5B53}" type="sibTrans" cxnId="{C6795FE8-CFE8-4187-A5F2-78B292433606}">
      <dgm:prSet/>
      <dgm:spPr/>
      <dgm:t>
        <a:bodyPr/>
        <a:lstStyle/>
        <a:p>
          <a:endParaRPr lang="zh-CN" altLang="en-US" sz="1800"/>
        </a:p>
      </dgm:t>
    </dgm:pt>
    <dgm:pt modelId="{88C9F005-020B-4A65-B6DD-91E4B06170CA}" type="pres">
      <dgm:prSet presAssocID="{18530140-3F55-46BC-848D-A4C14AA8BC1C}" presName="Name0" presStyleCnt="0">
        <dgm:presLayoutVars>
          <dgm:dir/>
          <dgm:animLvl val="lvl"/>
          <dgm:resizeHandles val="exact"/>
        </dgm:presLayoutVars>
      </dgm:prSet>
      <dgm:spPr/>
    </dgm:pt>
    <dgm:pt modelId="{863441FC-3ED2-454D-AE08-A7529C4F64F0}" type="pres">
      <dgm:prSet presAssocID="{617AE38B-731F-4729-B28F-C30C3037C6EF}" presName="composite" presStyleCnt="0"/>
      <dgm:spPr/>
    </dgm:pt>
    <dgm:pt modelId="{6E98D618-F8FC-4C90-851C-0B5A61F1FAD0}" type="pres">
      <dgm:prSet presAssocID="{617AE38B-731F-4729-B28F-C30C3037C6EF}" presName="parTx" presStyleLbl="alignNode1" presStyleIdx="0" presStyleCnt="2">
        <dgm:presLayoutVars>
          <dgm:chMax val="0"/>
          <dgm:chPref val="0"/>
          <dgm:bulletEnabled val="1"/>
        </dgm:presLayoutVars>
      </dgm:prSet>
      <dgm:spPr/>
    </dgm:pt>
    <dgm:pt modelId="{DD1A8C17-AB8B-4CDA-9C06-E3F6B80DFAB1}" type="pres">
      <dgm:prSet presAssocID="{617AE38B-731F-4729-B28F-C30C3037C6EF}" presName="desTx" presStyleLbl="alignAccFollowNode1" presStyleIdx="0" presStyleCnt="2">
        <dgm:presLayoutVars>
          <dgm:bulletEnabled val="1"/>
        </dgm:presLayoutVars>
      </dgm:prSet>
      <dgm:spPr/>
    </dgm:pt>
    <dgm:pt modelId="{1CFA901E-33C6-4AF3-BBC3-CCEBB393DC10}" type="pres">
      <dgm:prSet presAssocID="{D4789360-920D-40CE-84C5-78110649C9AA}" presName="space" presStyleCnt="0"/>
      <dgm:spPr/>
    </dgm:pt>
    <dgm:pt modelId="{44F14B2E-25F7-449B-8033-A1851ADFCF28}" type="pres">
      <dgm:prSet presAssocID="{37820C6F-2839-48A4-95ED-EBDFE872E9B1}" presName="composite" presStyleCnt="0"/>
      <dgm:spPr/>
    </dgm:pt>
    <dgm:pt modelId="{95E674E6-30C0-4846-A33C-8435093FF952}" type="pres">
      <dgm:prSet presAssocID="{37820C6F-2839-48A4-95ED-EBDFE872E9B1}" presName="parTx" presStyleLbl="alignNode1" presStyleIdx="1" presStyleCnt="2">
        <dgm:presLayoutVars>
          <dgm:chMax val="0"/>
          <dgm:chPref val="0"/>
          <dgm:bulletEnabled val="1"/>
        </dgm:presLayoutVars>
      </dgm:prSet>
      <dgm:spPr/>
    </dgm:pt>
    <dgm:pt modelId="{D5B1C811-7FFB-4E90-B609-AF3320FECF06}" type="pres">
      <dgm:prSet presAssocID="{37820C6F-2839-48A4-95ED-EBDFE872E9B1}" presName="desTx" presStyleLbl="alignAccFollowNode1" presStyleIdx="1" presStyleCnt="2">
        <dgm:presLayoutVars>
          <dgm:bulletEnabled val="1"/>
        </dgm:presLayoutVars>
      </dgm:prSet>
      <dgm:spPr/>
    </dgm:pt>
  </dgm:ptLst>
  <dgm:cxnLst>
    <dgm:cxn modelId="{A20F5820-6458-4E01-B0AE-D4E8325AC9BD}" type="presOf" srcId="{1EC6DEAD-6406-4DFB-8DEA-CD3C17DC614D}" destId="{DD1A8C17-AB8B-4CDA-9C06-E3F6B80DFAB1}" srcOrd="0" destOrd="0" presId="urn:microsoft.com/office/officeart/2005/8/layout/hList1"/>
    <dgm:cxn modelId="{9DC2B627-F44A-4C33-82E3-BC9DA9CC6DCC}" srcId="{37820C6F-2839-48A4-95ED-EBDFE872E9B1}" destId="{7DEA8A1D-B9FF-44AA-B42C-06D817B609F8}" srcOrd="0" destOrd="0" parTransId="{CDC104ED-5DB9-424C-8439-CDDBB0142664}" sibTransId="{7F73DD2A-CC9B-4D66-A6A1-7EE41BC0E8A4}"/>
    <dgm:cxn modelId="{19DC375B-E541-4B59-8382-93A56F7F35BD}" srcId="{18530140-3F55-46BC-848D-A4C14AA8BC1C}" destId="{37820C6F-2839-48A4-95ED-EBDFE872E9B1}" srcOrd="1" destOrd="0" parTransId="{11E1DEE2-EAF3-490A-A502-3BB3E26556A0}" sibTransId="{573100A8-454C-4D8A-8DBD-7B32E1030A4A}"/>
    <dgm:cxn modelId="{50E80871-61F1-42A4-AAF9-3D6FE3D44A24}" type="presOf" srcId="{37820C6F-2839-48A4-95ED-EBDFE872E9B1}" destId="{95E674E6-30C0-4846-A33C-8435093FF952}" srcOrd="0" destOrd="0" presId="urn:microsoft.com/office/officeart/2005/8/layout/hList1"/>
    <dgm:cxn modelId="{A85E3E8F-E7E6-4ECC-A71E-7AC941D62EF2}" srcId="{18530140-3F55-46BC-848D-A4C14AA8BC1C}" destId="{617AE38B-731F-4729-B28F-C30C3037C6EF}" srcOrd="0" destOrd="0" parTransId="{E59DA53A-3783-4CE4-8AD5-26603DC4E19D}" sibTransId="{D4789360-920D-40CE-84C5-78110649C9AA}"/>
    <dgm:cxn modelId="{030BEFA5-F361-4328-951F-CB80F059289B}" type="presOf" srcId="{7DEA8A1D-B9FF-44AA-B42C-06D817B609F8}" destId="{D5B1C811-7FFB-4E90-B609-AF3320FECF06}" srcOrd="0" destOrd="0" presId="urn:microsoft.com/office/officeart/2005/8/layout/hList1"/>
    <dgm:cxn modelId="{C3B2B8A9-83E4-4B90-9B8C-86EE34AD3CCF}" type="presOf" srcId="{617AE38B-731F-4729-B28F-C30C3037C6EF}" destId="{6E98D618-F8FC-4C90-851C-0B5A61F1FAD0}" srcOrd="0" destOrd="0" presId="urn:microsoft.com/office/officeart/2005/8/layout/hList1"/>
    <dgm:cxn modelId="{986F98DA-A7C2-4490-9706-635023747E49}" type="presOf" srcId="{18530140-3F55-46BC-848D-A4C14AA8BC1C}" destId="{88C9F005-020B-4A65-B6DD-91E4B06170CA}" srcOrd="0" destOrd="0" presId="urn:microsoft.com/office/officeart/2005/8/layout/hList1"/>
    <dgm:cxn modelId="{C6795FE8-CFE8-4187-A5F2-78B292433606}" srcId="{617AE38B-731F-4729-B28F-C30C3037C6EF}" destId="{300B28D7-2FDD-447A-8655-1C4703F07E1D}" srcOrd="1" destOrd="0" parTransId="{B4E31D86-E7E7-4DB8-B509-ABC412692A5B}" sibTransId="{E056649D-FFB4-45EF-845D-4988E55B5B53}"/>
    <dgm:cxn modelId="{2F4A38EE-B43C-4181-A31E-13C6B403FBA7}" type="presOf" srcId="{300B28D7-2FDD-447A-8655-1C4703F07E1D}" destId="{DD1A8C17-AB8B-4CDA-9C06-E3F6B80DFAB1}" srcOrd="0" destOrd="1" presId="urn:microsoft.com/office/officeart/2005/8/layout/hList1"/>
    <dgm:cxn modelId="{CE89C4F3-23B2-46F4-A4AF-ACF50B7D990F}" srcId="{617AE38B-731F-4729-B28F-C30C3037C6EF}" destId="{1EC6DEAD-6406-4DFB-8DEA-CD3C17DC614D}" srcOrd="0" destOrd="0" parTransId="{482F333A-D861-4AA0-A30F-1C931619106C}" sibTransId="{2B14CB4C-25BD-4D3A-91BC-2F5637AA90E5}"/>
    <dgm:cxn modelId="{6118EFF7-EEAD-40ED-B97B-84748C486EAE}" type="presParOf" srcId="{88C9F005-020B-4A65-B6DD-91E4B06170CA}" destId="{863441FC-3ED2-454D-AE08-A7529C4F64F0}" srcOrd="0" destOrd="0" presId="urn:microsoft.com/office/officeart/2005/8/layout/hList1"/>
    <dgm:cxn modelId="{D95FDE52-98A2-458D-BC1C-955FEB96B1A5}" type="presParOf" srcId="{863441FC-3ED2-454D-AE08-A7529C4F64F0}" destId="{6E98D618-F8FC-4C90-851C-0B5A61F1FAD0}" srcOrd="0" destOrd="0" presId="urn:microsoft.com/office/officeart/2005/8/layout/hList1"/>
    <dgm:cxn modelId="{69A22581-D42F-4CB0-B171-6EE513972459}" type="presParOf" srcId="{863441FC-3ED2-454D-AE08-A7529C4F64F0}" destId="{DD1A8C17-AB8B-4CDA-9C06-E3F6B80DFAB1}" srcOrd="1" destOrd="0" presId="urn:microsoft.com/office/officeart/2005/8/layout/hList1"/>
    <dgm:cxn modelId="{ABB0EA74-3195-468A-8BA4-648FCC04C7BE}" type="presParOf" srcId="{88C9F005-020B-4A65-B6DD-91E4B06170CA}" destId="{1CFA901E-33C6-4AF3-BBC3-CCEBB393DC10}" srcOrd="1" destOrd="0" presId="urn:microsoft.com/office/officeart/2005/8/layout/hList1"/>
    <dgm:cxn modelId="{DC61AFF4-5B03-4B31-8D99-44B25D25EB4A}" type="presParOf" srcId="{88C9F005-020B-4A65-B6DD-91E4B06170CA}" destId="{44F14B2E-25F7-449B-8033-A1851ADFCF28}" srcOrd="2" destOrd="0" presId="urn:microsoft.com/office/officeart/2005/8/layout/hList1"/>
    <dgm:cxn modelId="{2D765E7B-D12D-418C-A811-F9B7C45F7DC7}" type="presParOf" srcId="{44F14B2E-25F7-449B-8033-A1851ADFCF28}" destId="{95E674E6-30C0-4846-A33C-8435093FF952}" srcOrd="0" destOrd="0" presId="urn:microsoft.com/office/officeart/2005/8/layout/hList1"/>
    <dgm:cxn modelId="{7AAED85A-664E-4254-A3CD-08A73EA441D0}" type="presParOf" srcId="{44F14B2E-25F7-449B-8033-A1851ADFCF28}" destId="{D5B1C811-7FFB-4E90-B609-AF3320FECF06}"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费用</a:t>
          </a:r>
        </a:p>
      </dgm:t>
    </dgm:pt>
    <dgm:pt modelId="{BED6549C-B35E-4354-84E8-A7AE58E7EC07}" type="parTrans" cxnId="{56CC0E7C-D98A-4C46-81A3-3B1F60601F3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C027A28-57B2-4775-8438-4AAECBE023C8}" type="sibTrans" cxnId="{56CC0E7C-D98A-4C46-81A3-3B1F60601F3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E173A921-6651-451D-81E9-F0ACC1536AAC}">
      <dgm:prSet phldrT="[文本]" custT="1"/>
      <dgm:spPr/>
      <dgm:t>
        <a:bodyPr/>
        <a:lstStyle/>
        <a:p>
          <a:r>
            <a:rPr lang="zh-CN" altLang="en-US" sz="1800" b="1" dirty="0">
              <a:latin typeface="微软雅黑" panose="020B0503020204020204" pitchFamily="34" charset="-122"/>
              <a:ea typeface="微软雅黑" panose="020B0503020204020204" pitchFamily="34" charset="-122"/>
            </a:rPr>
            <a:t>标准化</a:t>
          </a:r>
        </a:p>
      </dgm:t>
    </dgm:pt>
    <dgm:pt modelId="{DF4FD089-4E3D-4F03-9D3C-F28F49D8F119}" type="par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39184D2-A650-4378-9B66-79745068F954}" type="sibTrans" cxnId="{FDAAE633-85C8-42F8-B4AA-4B51C3A57B3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199F25F-9525-43C5-955C-BB6FEFFBA60E}">
      <dgm:prSet phldrT="[文本]" custT="1"/>
      <dgm:spPr/>
      <dgm:t>
        <a:bodyPr/>
        <a:lstStyle/>
        <a:p>
          <a:r>
            <a:rPr lang="zh-CN" altLang="en-US" sz="1800" b="1" dirty="0">
              <a:solidFill>
                <a:schemeClr val="tx1"/>
              </a:solidFill>
              <a:latin typeface="微软雅黑" panose="020B0503020204020204" pitchFamily="34" charset="-122"/>
              <a:ea typeface="微软雅黑" panose="020B0503020204020204" pitchFamily="34" charset="-122"/>
            </a:rPr>
            <a:t>质量</a:t>
          </a:r>
        </a:p>
      </dgm:t>
    </dgm:pt>
    <dgm:pt modelId="{92F37460-E89E-4259-A2EF-B2A638C38A45}" type="parTrans" cxnId="{12D5EFDF-084C-4857-A4BE-12B60B2E2A9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4C2D13-B647-4CF6-B1F7-03AB183A1123}" type="sibTrans" cxnId="{12D5EFDF-084C-4857-A4BE-12B60B2E2A98}">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EC4611C-A3C3-451C-AE74-8846F1901302}">
      <dgm:prSet phldrT="[文本]" custT="1"/>
      <dgm:spPr/>
      <dgm:t>
        <a:bodyPr/>
        <a:lstStyle/>
        <a:p>
          <a:r>
            <a:rPr lang="zh-CN" altLang="en-US" sz="1800" b="1" dirty="0">
              <a:latin typeface="微软雅黑" panose="020B0503020204020204" pitchFamily="34" charset="-122"/>
              <a:ea typeface="微软雅黑" panose="020B0503020204020204" pitchFamily="34" charset="-122"/>
            </a:rPr>
            <a:t>可靠性</a:t>
          </a:r>
        </a:p>
      </dgm:t>
    </dgm:pt>
    <dgm:pt modelId="{68F328E8-C43C-478E-B670-0B24656D9E35}" type="par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E561528-8DA9-408B-83C6-171ECD06B86B}" type="sibTrans" cxnId="{BF7B8AEA-CFF9-4BFA-A92B-C9AA4345FE4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40893AA-1044-4C1A-AFE8-154BD0AD6229}">
      <dgm:prSet phldrT="[文本]" custT="1"/>
      <dgm:spPr/>
      <dgm:t>
        <a:bodyPr/>
        <a:lstStyle/>
        <a:p>
          <a:r>
            <a:rPr lang="zh-CN" altLang="en-US" sz="1500" b="1" dirty="0">
              <a:solidFill>
                <a:schemeClr val="tx1"/>
              </a:solidFill>
              <a:latin typeface="微软雅黑" panose="020B0503020204020204" pitchFamily="34" charset="-122"/>
              <a:ea typeface="微软雅黑" panose="020B0503020204020204" pitchFamily="34" charset="-122"/>
            </a:rPr>
            <a:t>管理和维护</a:t>
          </a:r>
        </a:p>
      </dgm:t>
    </dgm:pt>
    <dgm:pt modelId="{5D5965E2-EEFF-40D7-B453-CDF2231F9E32}" type="parTrans" cxnId="{5DC1683A-A3BA-477F-922D-A91C5AAC3E8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E1A90B-D747-4792-8CF8-D1D86F0C6D30}" type="sibTrans" cxnId="{5DC1683A-A3BA-477F-922D-A91C5AAC3E85}">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32415517-2817-485B-84FB-EEB772F05388}">
      <dgm:prSet phldrT="[文本]" custT="1"/>
      <dgm:spPr/>
      <dgm:t>
        <a:bodyPr/>
        <a:lstStyle/>
        <a:p>
          <a:r>
            <a:rPr lang="zh-CN" altLang="en-US" sz="1800" b="1" dirty="0">
              <a:latin typeface="微软雅黑" panose="020B0503020204020204" pitchFamily="34" charset="-122"/>
              <a:ea typeface="微软雅黑" panose="020B0503020204020204" pitchFamily="34" charset="-122"/>
            </a:rPr>
            <a:t>可扩展性和可升级性</a:t>
          </a:r>
        </a:p>
      </dgm:t>
    </dgm:pt>
    <dgm:pt modelId="{9389711E-63B1-48BC-8B0D-E77AD36B0F70}" type="par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057A99-57DA-4C5E-AFDE-4E731CDF706D}" type="sibTrans" cxnId="{C8E4366A-7323-4BAE-BF0B-D491A4B1C63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 qsCatId="simple" csTypeId="urn:microsoft.com/office/officeart/2005/8/colors/colorful4" csCatId="colorful" phldr="1"/>
      <dgm:spPr/>
      <dgm:t>
        <a:bodyPr/>
        <a:lstStyle/>
        <a:p>
          <a:endParaRPr lang="zh-CN" altLang="en-US"/>
        </a:p>
      </dgm:t>
    </dgm:pt>
    <dgm:pt modelId="{EFCA2B14-9468-4F2F-84A6-5C119482CD49}">
      <dgm:prSet phldrT="[文本]" custT="1"/>
      <dgm:spPr/>
      <dgm:t>
        <a:bodyPr/>
        <a:lstStyle/>
        <a:p>
          <a:r>
            <a:rPr lang="zh-CN" altLang="en-US" sz="2000" b="1" dirty="0">
              <a:latin typeface="微软雅黑" panose="020B0503020204020204" pitchFamily="34" charset="-122"/>
              <a:ea typeface="微软雅黑" panose="020B0503020204020204" pitchFamily="34" charset="-122"/>
            </a:rPr>
            <a:t>法律上的 </a:t>
          </a:r>
          <a:r>
            <a:rPr lang="en-US" altLang="en-US" sz="2000" b="1" dirty="0">
              <a:latin typeface="微软雅黑" panose="020B0503020204020204" pitchFamily="34" charset="-122"/>
              <a:ea typeface="微软雅黑" panose="020B0503020204020204" pitchFamily="34" charset="-122"/>
            </a:rPr>
            <a:t>(de jure)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OSI</a:t>
          </a:r>
          <a:endParaRPr lang="zh-CN" altLang="en-US" sz="2000" b="1" dirty="0">
            <a:latin typeface="微软雅黑" panose="020B0503020204020204" pitchFamily="34" charset="-122"/>
            <a:ea typeface="微软雅黑" panose="020B0503020204020204" pitchFamily="34" charset="-122"/>
          </a:endParaRPr>
        </a:p>
      </dgm:t>
    </dgm:pt>
    <dgm:pt modelId="{E38B7B80-E684-4487-8667-BCC0A5171417}" type="par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756D47E-79F4-44F1-9DC8-F8FF9A3DB365}" type="sibTrans" cxnId="{9E21BC85-7589-4E30-94BE-94BFF4B03EB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26438D5-AF60-4FC2-B7B1-1FAFE6F029F4}">
      <dgm:prSet phldrT="[文本]" custT="1"/>
      <dgm:spPr/>
      <dgm:t>
        <a:bodyPr/>
        <a:lstStyle/>
        <a:p>
          <a:r>
            <a:rPr lang="zh-CN" altLang="en-US" sz="2000" b="1" dirty="0">
              <a:latin typeface="微软雅黑" panose="020B0503020204020204" pitchFamily="34" charset="-122"/>
              <a:ea typeface="微软雅黑" panose="020B0503020204020204" pitchFamily="34" charset="-122"/>
            </a:rPr>
            <a:t>但并没有得到市场的认可。</a:t>
          </a:r>
        </a:p>
      </dgm:t>
    </dgm:pt>
    <dgm:pt modelId="{E2043F32-4A49-416A-8197-C2B2393B2255}" type="par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4028441-B185-4303-8082-46E98E8EBA28}" type="sibTrans" cxnId="{23AA8198-F998-4AB6-A021-FDD348C0717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986DFCC-564B-42E1-8E43-BFE75079EEDF}">
      <dgm:prSet phldrT="[文本]" custT="1"/>
      <dgm:spPr/>
      <dgm:t>
        <a:bodyPr/>
        <a:lstStyle/>
        <a:p>
          <a:r>
            <a:rPr lang="zh-CN" altLang="en-US" sz="2000" b="1" dirty="0">
              <a:latin typeface="微软雅黑" panose="020B0503020204020204" pitchFamily="34" charset="-122"/>
              <a:ea typeface="微软雅黑" panose="020B0503020204020204" pitchFamily="34" charset="-122"/>
            </a:rPr>
            <a:t>事实上的 </a:t>
          </a:r>
          <a:r>
            <a:rPr lang="en-US" altLang="en-US" sz="2000" b="1" dirty="0">
              <a:latin typeface="微软雅黑" panose="020B0503020204020204" pitchFamily="34" charset="-122"/>
              <a:ea typeface="微软雅黑" panose="020B0503020204020204" pitchFamily="34" charset="-122"/>
            </a:rPr>
            <a:t>(de facto) </a:t>
          </a:r>
          <a:r>
            <a:rPr lang="zh-CN" altLang="en-US" sz="2000" b="1" dirty="0">
              <a:latin typeface="微软雅黑" panose="020B0503020204020204" pitchFamily="34" charset="-122"/>
              <a:ea typeface="微软雅黑" panose="020B0503020204020204" pitchFamily="34" charset="-122"/>
            </a:rPr>
            <a:t>国际标准 </a:t>
          </a:r>
          <a:r>
            <a:rPr lang="en-US" altLang="en-US" sz="2000" b="1" dirty="0">
              <a:latin typeface="微软雅黑" panose="020B0503020204020204" pitchFamily="34" charset="-122"/>
              <a:ea typeface="微软雅黑" panose="020B0503020204020204" pitchFamily="34" charset="-122"/>
            </a:rPr>
            <a:t>TCP/IP</a:t>
          </a:r>
          <a:endParaRPr lang="zh-CN" altLang="en-US" sz="2000" b="1" dirty="0">
            <a:latin typeface="微软雅黑" panose="020B0503020204020204" pitchFamily="34" charset="-122"/>
            <a:ea typeface="微软雅黑" panose="020B0503020204020204" pitchFamily="34" charset="-122"/>
          </a:endParaRPr>
        </a:p>
      </dgm:t>
    </dgm:pt>
    <dgm:pt modelId="{BB601F7A-8E86-4A9E-9EF8-CC003C5EF85D}" type="par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297112-55F6-448E-AECB-EFD048EDDB28}" type="sibTrans" cxnId="{49E9C9C9-3C6E-4805-BAA2-32EF310CFED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CC66CB7-D7AD-41A6-98DD-74D4F514E2BD}">
      <dgm:prSet phldrT="[文本]" custT="1"/>
      <dgm:spPr/>
      <dgm:t>
        <a:bodyPr/>
        <a:lstStyle/>
        <a:p>
          <a:r>
            <a:rPr lang="zh-CN" altLang="en-US" sz="2000" b="1" dirty="0">
              <a:latin typeface="微软雅黑" panose="020B0503020204020204" pitchFamily="34" charset="-122"/>
              <a:ea typeface="微软雅黑" panose="020B0503020204020204" pitchFamily="34" charset="-122"/>
            </a:rPr>
            <a:t>获得了最广泛的应用。</a:t>
          </a:r>
        </a:p>
      </dgm:t>
    </dgm:pt>
    <dgm:pt modelId="{85BE533B-2396-46D9-AFFB-686B13690F8B}" type="par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28DE6DB6-6A4C-41DA-8F55-0D1076B0DD18}" type="sibTrans" cxnId="{831BB112-8E09-4BF6-9DC2-BFF8996C5A4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293CF4F5-3101-49E6-9303-E9DD7296C65D}"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C301BCD6-3F1B-4C9C-800D-CE5CBA0188D2}">
      <dgm:prSet phldrT="[文本]" custT="1"/>
      <dgm:spPr/>
      <dgm:t>
        <a:bodyPr/>
        <a:lstStyle/>
        <a:p>
          <a:r>
            <a:rPr lang="zh-CN" altLang="en-US" sz="1800" b="1" dirty="0">
              <a:solidFill>
                <a:schemeClr val="bg1"/>
              </a:solidFill>
              <a:latin typeface="微软雅黑" panose="020B0503020204020204" pitchFamily="34" charset="-122"/>
              <a:ea typeface="微软雅黑" panose="020B0503020204020204" pitchFamily="34" charset="-122"/>
            </a:rPr>
            <a:t>文字描述：便于人来阅读和理解。</a:t>
          </a:r>
        </a:p>
      </dgm:t>
    </dgm:pt>
    <dgm:pt modelId="{8F194872-EA8A-420F-BAD5-93D3D974D2CC}" type="par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BA69BCC-ACCA-44EF-AB05-16894BE20C98}" type="sibTrans" cxnId="{B535B5F2-0D6A-421E-BFCB-673C3560E39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A5B5183-B82D-4F95-84A7-0F223402066E}">
      <dgm:prSet phldrT="[文本]" custT="1"/>
      <dgm:spPr/>
      <dgm:t>
        <a:bodyPr/>
        <a:lstStyle/>
        <a:p>
          <a:r>
            <a:rPr lang="zh-CN" altLang="en-US" sz="1800" b="1" dirty="0">
              <a:solidFill>
                <a:srgbClr val="000066"/>
              </a:solidFill>
              <a:latin typeface="微软雅黑" panose="020B0503020204020204" pitchFamily="34" charset="-122"/>
              <a:ea typeface="微软雅黑" panose="020B0503020204020204" pitchFamily="34" charset="-122"/>
            </a:rPr>
            <a:t>程序代码：让计算机能够理解。</a:t>
          </a:r>
        </a:p>
      </dgm:t>
    </dgm:pt>
    <dgm:pt modelId="{3C446E62-0F12-4B57-895F-6C47306C1DC1}" type="par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AEA954-F48A-4B44-80BF-2C09A5948257}" type="sibTrans" cxnId="{2166F6B3-E217-4437-B325-B8BA520696B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C73C4A-F159-4BCB-A072-016D19C6E2B5}" type="pres">
      <dgm:prSet presAssocID="{293CF4F5-3101-49E6-9303-E9DD7296C65D}" presName="linear" presStyleCnt="0">
        <dgm:presLayoutVars>
          <dgm:dir/>
          <dgm:animLvl val="lvl"/>
          <dgm:resizeHandles val="exact"/>
        </dgm:presLayoutVars>
      </dgm:prSet>
      <dgm:spPr/>
    </dgm:pt>
    <dgm:pt modelId="{E336CA13-8985-45BE-84B4-56919F1E4296}" type="pres">
      <dgm:prSet presAssocID="{C301BCD6-3F1B-4C9C-800D-CE5CBA0188D2}" presName="parentLin" presStyleCnt="0"/>
      <dgm:spPr/>
    </dgm:pt>
    <dgm:pt modelId="{77F3D1F0-EBBB-48B7-B04C-56372B956B6C}" type="pres">
      <dgm:prSet presAssocID="{C301BCD6-3F1B-4C9C-800D-CE5CBA0188D2}" presName="parentLeftMargin" presStyleLbl="node1" presStyleIdx="0" presStyleCnt="2"/>
      <dgm:spPr/>
    </dgm:pt>
    <dgm:pt modelId="{41788D26-F979-4FB7-8A96-4711D82825B8}" type="pres">
      <dgm:prSet presAssocID="{C301BCD6-3F1B-4C9C-800D-CE5CBA0188D2}" presName="parentText" presStyleLbl="node1" presStyleIdx="0" presStyleCnt="2">
        <dgm:presLayoutVars>
          <dgm:chMax val="0"/>
          <dgm:bulletEnabled val="1"/>
        </dgm:presLayoutVars>
      </dgm:prSet>
      <dgm:spPr/>
    </dgm:pt>
    <dgm:pt modelId="{446021F4-CA10-46E5-8E3F-26753D3D3985}" type="pres">
      <dgm:prSet presAssocID="{C301BCD6-3F1B-4C9C-800D-CE5CBA0188D2}" presName="negativeSpace" presStyleCnt="0"/>
      <dgm:spPr/>
    </dgm:pt>
    <dgm:pt modelId="{2F355ABF-AFD4-4429-AC0C-B179A1BF75DA}" type="pres">
      <dgm:prSet presAssocID="{C301BCD6-3F1B-4C9C-800D-CE5CBA0188D2}" presName="childText" presStyleLbl="conFgAcc1" presStyleIdx="0" presStyleCnt="2">
        <dgm:presLayoutVars>
          <dgm:bulletEnabled val="1"/>
        </dgm:presLayoutVars>
      </dgm:prSet>
      <dgm:spPr/>
    </dgm:pt>
    <dgm:pt modelId="{A1FE5214-89D9-427A-8B5A-BF786C96D895}" type="pres">
      <dgm:prSet presAssocID="{CBA69BCC-ACCA-44EF-AB05-16894BE20C98}" presName="spaceBetweenRectangles" presStyleCnt="0"/>
      <dgm:spPr/>
    </dgm:pt>
    <dgm:pt modelId="{142A6A81-5624-4ACE-9A3D-B3AFF9382A09}" type="pres">
      <dgm:prSet presAssocID="{8A5B5183-B82D-4F95-84A7-0F223402066E}" presName="parentLin" presStyleCnt="0"/>
      <dgm:spPr/>
    </dgm:pt>
    <dgm:pt modelId="{C238DCB9-6EBC-413B-9D6D-EC93B6F5DDFF}" type="pres">
      <dgm:prSet presAssocID="{8A5B5183-B82D-4F95-84A7-0F223402066E}" presName="parentLeftMargin" presStyleLbl="node1" presStyleIdx="0" presStyleCnt="2"/>
      <dgm:spPr/>
    </dgm:pt>
    <dgm:pt modelId="{F367B3BE-A2DF-4CEA-8C18-99C09218A893}" type="pres">
      <dgm:prSet presAssocID="{8A5B5183-B82D-4F95-84A7-0F223402066E}" presName="parentText" presStyleLbl="node1" presStyleIdx="1" presStyleCnt="2">
        <dgm:presLayoutVars>
          <dgm:chMax val="0"/>
          <dgm:bulletEnabled val="1"/>
        </dgm:presLayoutVars>
      </dgm:prSet>
      <dgm:spPr/>
    </dgm:pt>
    <dgm:pt modelId="{00FBF154-663A-49D1-BC6E-5A81F86E17D9}" type="pres">
      <dgm:prSet presAssocID="{8A5B5183-B82D-4F95-84A7-0F223402066E}" presName="negativeSpace" presStyleCnt="0"/>
      <dgm:spPr/>
    </dgm:pt>
    <dgm:pt modelId="{3072F165-7A76-46AC-BCC0-0FC97CA5F9F5}" type="pres">
      <dgm:prSet presAssocID="{8A5B5183-B82D-4F95-84A7-0F223402066E}" presName="childText" presStyleLbl="conFgAcc1" presStyleIdx="1" presStyleCnt="2">
        <dgm:presLayoutVars>
          <dgm:bulletEnabled val="1"/>
        </dgm:presLayoutVars>
      </dgm:prSet>
      <dgm:spPr/>
    </dgm:pt>
  </dgm:ptLst>
  <dgm:cxnLst>
    <dgm:cxn modelId="{A2AADB49-CA67-451F-90FD-5E3D44EC1EA0}" type="presOf" srcId="{8A5B5183-B82D-4F95-84A7-0F223402066E}" destId="{F367B3BE-A2DF-4CEA-8C18-99C09218A893}" srcOrd="1" destOrd="0" presId="urn:microsoft.com/office/officeart/2005/8/layout/list1"/>
    <dgm:cxn modelId="{F991CA59-DD6B-43A9-A990-3A4CB9D2EE86}" type="presOf" srcId="{293CF4F5-3101-49E6-9303-E9DD7296C65D}" destId="{42C73C4A-F159-4BCB-A072-016D19C6E2B5}" srcOrd="0" destOrd="0" presId="urn:microsoft.com/office/officeart/2005/8/layout/list1"/>
    <dgm:cxn modelId="{ECFF1E8D-1946-483C-B754-77A185F880D7}" type="presOf" srcId="{8A5B5183-B82D-4F95-84A7-0F223402066E}" destId="{C238DCB9-6EBC-413B-9D6D-EC93B6F5DDFF}" srcOrd="0" destOrd="0" presId="urn:microsoft.com/office/officeart/2005/8/layout/list1"/>
    <dgm:cxn modelId="{DECB6B99-8462-426B-B51B-E4D9E3C76C9D}" type="presOf" srcId="{C301BCD6-3F1B-4C9C-800D-CE5CBA0188D2}" destId="{41788D26-F979-4FB7-8A96-4711D82825B8}" srcOrd="1" destOrd="0" presId="urn:microsoft.com/office/officeart/2005/8/layout/list1"/>
    <dgm:cxn modelId="{2166F6B3-E217-4437-B325-B8BA520696B0}" srcId="{293CF4F5-3101-49E6-9303-E9DD7296C65D}" destId="{8A5B5183-B82D-4F95-84A7-0F223402066E}" srcOrd="1" destOrd="0" parTransId="{3C446E62-0F12-4B57-895F-6C47306C1DC1}" sibTransId="{21AEA954-F48A-4B44-80BF-2C09A5948257}"/>
    <dgm:cxn modelId="{18A337F2-4CE5-4FF6-96A3-CC543DCA5296}" type="presOf" srcId="{C301BCD6-3F1B-4C9C-800D-CE5CBA0188D2}" destId="{77F3D1F0-EBBB-48B7-B04C-56372B956B6C}" srcOrd="0" destOrd="0" presId="urn:microsoft.com/office/officeart/2005/8/layout/list1"/>
    <dgm:cxn modelId="{B535B5F2-0D6A-421E-BFCB-673C3560E397}" srcId="{293CF4F5-3101-49E6-9303-E9DD7296C65D}" destId="{C301BCD6-3F1B-4C9C-800D-CE5CBA0188D2}" srcOrd="0" destOrd="0" parTransId="{8F194872-EA8A-420F-BAD5-93D3D974D2CC}" sibTransId="{CBA69BCC-ACCA-44EF-AB05-16894BE20C98}"/>
    <dgm:cxn modelId="{CBF163A0-6196-4F5D-981E-79CED64D4C96}" type="presParOf" srcId="{42C73C4A-F159-4BCB-A072-016D19C6E2B5}" destId="{E336CA13-8985-45BE-84B4-56919F1E4296}" srcOrd="0" destOrd="0" presId="urn:microsoft.com/office/officeart/2005/8/layout/list1"/>
    <dgm:cxn modelId="{2B4822A4-0104-490E-99B2-9B41BFA52BE3}" type="presParOf" srcId="{E336CA13-8985-45BE-84B4-56919F1E4296}" destId="{77F3D1F0-EBBB-48B7-B04C-56372B956B6C}" srcOrd="0" destOrd="0" presId="urn:microsoft.com/office/officeart/2005/8/layout/list1"/>
    <dgm:cxn modelId="{EA35E57C-3FE2-4475-B45B-FF3BEF497F3C}" type="presParOf" srcId="{E336CA13-8985-45BE-84B4-56919F1E4296}" destId="{41788D26-F979-4FB7-8A96-4711D82825B8}" srcOrd="1" destOrd="0" presId="urn:microsoft.com/office/officeart/2005/8/layout/list1"/>
    <dgm:cxn modelId="{540D51C9-81C1-4010-87D8-D59B8A7FDDAC}" type="presParOf" srcId="{42C73C4A-F159-4BCB-A072-016D19C6E2B5}" destId="{446021F4-CA10-46E5-8E3F-26753D3D3985}" srcOrd="1" destOrd="0" presId="urn:microsoft.com/office/officeart/2005/8/layout/list1"/>
    <dgm:cxn modelId="{9C7B2439-D5DD-4A36-8DEF-8A400810BCB0}" type="presParOf" srcId="{42C73C4A-F159-4BCB-A072-016D19C6E2B5}" destId="{2F355ABF-AFD4-4429-AC0C-B179A1BF75DA}" srcOrd="2" destOrd="0" presId="urn:microsoft.com/office/officeart/2005/8/layout/list1"/>
    <dgm:cxn modelId="{59288904-D70F-4CDE-8F1C-54573E9145E6}" type="presParOf" srcId="{42C73C4A-F159-4BCB-A072-016D19C6E2B5}" destId="{A1FE5214-89D9-427A-8B5A-BF786C96D895}" srcOrd="3" destOrd="0" presId="urn:microsoft.com/office/officeart/2005/8/layout/list1"/>
    <dgm:cxn modelId="{052DEEF4-0621-4F49-95DC-32AEB825C321}" type="presParOf" srcId="{42C73C4A-F159-4BCB-A072-016D19C6E2B5}" destId="{142A6A81-5624-4ACE-9A3D-B3AFF9382A09}" srcOrd="4" destOrd="0" presId="urn:microsoft.com/office/officeart/2005/8/layout/list1"/>
    <dgm:cxn modelId="{759AC876-3A19-4295-8D0F-ABC3EFFA3F5F}" type="presParOf" srcId="{142A6A81-5624-4ACE-9A3D-B3AFF9382A09}" destId="{C238DCB9-6EBC-413B-9D6D-EC93B6F5DDFF}" srcOrd="0" destOrd="0" presId="urn:microsoft.com/office/officeart/2005/8/layout/list1"/>
    <dgm:cxn modelId="{203F8A69-9B9D-4B83-94CC-6916C1DDC2DA}" type="presParOf" srcId="{142A6A81-5624-4ACE-9A3D-B3AFF9382A09}" destId="{F367B3BE-A2DF-4CEA-8C18-99C09218A893}" srcOrd="1" destOrd="0" presId="urn:microsoft.com/office/officeart/2005/8/layout/list1"/>
    <dgm:cxn modelId="{A622DBAD-7882-42BF-932B-9D1ABBBD3B01}" type="presParOf" srcId="{42C73C4A-F159-4BCB-A072-016D19C6E2B5}" destId="{00FBF154-663A-49D1-BC6E-5A81F86E17D9}" srcOrd="5" destOrd="0" presId="urn:microsoft.com/office/officeart/2005/8/layout/list1"/>
    <dgm:cxn modelId="{CB239D4A-E3F3-475E-9E7B-062513E4BFA7}" type="presParOf" srcId="{42C73C4A-F159-4BCB-A072-016D19C6E2B5}" destId="{3072F165-7A76-46AC-BCC0-0FC97CA5F9F5}" srcOrd="6" destOrd="0" presId="urn:microsoft.com/office/officeart/2005/8/layout/list1"/>
  </dgm:cxnLst>
  <dgm:bg/>
  <dgm:whole>
    <a:ln w="1905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85D5085E-9A19-4AAD-9799-233066D76354}" type="doc">
      <dgm:prSet loTypeId="urn:microsoft.com/office/officeart/2009/3/layout/PlusandMinus" loCatId="relationship" qsTypeId="urn:microsoft.com/office/officeart/2005/8/quickstyle/simple1" qsCatId="simple" csTypeId="urn:microsoft.com/office/officeart/2005/8/colors/colorful1#7" csCatId="colorful" phldr="1"/>
      <dgm:spPr/>
      <dgm:t>
        <a:bodyPr/>
        <a:lstStyle/>
        <a:p>
          <a:endParaRPr lang="zh-CN" altLang="en-US"/>
        </a:p>
      </dgm:t>
    </dgm:pt>
    <dgm:pt modelId="{523B5A40-6C88-4E7B-8370-BC3BAD908198}">
      <dgm:prSet phldrT="[文本]" custT="1">
        <dgm:style>
          <a:lnRef idx="1">
            <a:schemeClr val="accent2"/>
          </a:lnRef>
          <a:fillRef idx="2">
            <a:schemeClr val="accent2"/>
          </a:fillRef>
          <a:effectRef idx="1">
            <a:schemeClr val="accent2"/>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各层之间是独立的。</a:t>
          </a:r>
        </a:p>
        <a:p>
          <a:pPr>
            <a:spcAft>
              <a:spcPts val="0"/>
            </a:spcAft>
          </a:pPr>
          <a:r>
            <a:rPr lang="zh-CN" altLang="en-US" sz="1600" b="1" dirty="0">
              <a:latin typeface="微软雅黑" panose="020B0503020204020204" pitchFamily="34" charset="-122"/>
              <a:ea typeface="微软雅黑" panose="020B0503020204020204" pitchFamily="34" charset="-122"/>
            </a:rPr>
            <a:t>灵活性好。</a:t>
          </a:r>
        </a:p>
        <a:p>
          <a:pPr>
            <a:spcAft>
              <a:spcPts val="0"/>
            </a:spcAft>
          </a:pPr>
          <a:r>
            <a:rPr lang="zh-CN" altLang="en-US" sz="1600" b="1" dirty="0">
              <a:latin typeface="微软雅黑" panose="020B0503020204020204" pitchFamily="34" charset="-122"/>
              <a:ea typeface="微软雅黑" panose="020B0503020204020204" pitchFamily="34" charset="-122"/>
            </a:rPr>
            <a:t>结构上可分割开。</a:t>
          </a:r>
        </a:p>
        <a:p>
          <a:pPr>
            <a:spcAft>
              <a:spcPts val="0"/>
            </a:spcAft>
          </a:pPr>
          <a:r>
            <a:rPr lang="zh-CN" altLang="en-US" sz="1600" b="1" dirty="0">
              <a:latin typeface="微软雅黑" panose="020B0503020204020204" pitchFamily="34" charset="-122"/>
              <a:ea typeface="微软雅黑" panose="020B0503020204020204" pitchFamily="34" charset="-122"/>
            </a:rPr>
            <a:t>易于实现和维护</a:t>
          </a:r>
        </a:p>
        <a:p>
          <a:pPr>
            <a:spcAft>
              <a:spcPts val="0"/>
            </a:spcAft>
          </a:pPr>
          <a:r>
            <a:rPr lang="zh-CN" altLang="en-US" sz="1600" b="1" dirty="0">
              <a:latin typeface="微软雅黑" panose="020B0503020204020204" pitchFamily="34" charset="-122"/>
              <a:ea typeface="微软雅黑" panose="020B0503020204020204" pitchFamily="34" charset="-122"/>
            </a:rPr>
            <a:t>能促进标准化工作。</a:t>
          </a:r>
        </a:p>
      </dgm:t>
    </dgm:pt>
    <dgm:pt modelId="{4A6FE152-9E61-4CEC-9BC4-79E3A424C0D2}" type="par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2A612B14-1FE9-4940-AD60-58D8C13C2F37}" type="sibTrans" cxnId="{BFA2CA4B-6F60-4BAC-85D0-D17D13261D45}">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906CC4F9-16E2-4572-BF0F-2D71D193110F}">
      <dgm:prSet phldrT="[文本]" custT="1">
        <dgm:style>
          <a:lnRef idx="1">
            <a:schemeClr val="accent3"/>
          </a:lnRef>
          <a:fillRef idx="2">
            <a:schemeClr val="accent3"/>
          </a:fillRef>
          <a:effectRef idx="1">
            <a:schemeClr val="accent3"/>
          </a:effectRef>
          <a:fontRef idx="minor">
            <a:schemeClr val="dk1"/>
          </a:fontRef>
        </dgm:style>
      </dgm:prSet>
      <dgm:spPr/>
      <dgm:t>
        <a:bodyPr/>
        <a:lstStyle/>
        <a:p>
          <a:pPr>
            <a:spcAft>
              <a:spcPts val="0"/>
            </a:spcAft>
          </a:pPr>
          <a:r>
            <a:rPr lang="zh-CN" altLang="en-US" sz="1600" b="1" dirty="0">
              <a:latin typeface="微软雅黑" panose="020B0503020204020204" pitchFamily="34" charset="-122"/>
              <a:ea typeface="微软雅黑" panose="020B0503020204020204" pitchFamily="34" charset="-122"/>
            </a:rPr>
            <a:t>有些功能会重复出现，因而产生了额外开销。</a:t>
          </a:r>
          <a:endParaRPr lang="en-US" altLang="zh-CN" sz="1600" b="1" dirty="0">
            <a:latin typeface="微软雅黑" panose="020B0503020204020204" pitchFamily="34" charset="-122"/>
            <a:ea typeface="微软雅黑" panose="020B0503020204020204" pitchFamily="34" charset="-122"/>
          </a:endParaRPr>
        </a:p>
      </dgm:t>
    </dgm:pt>
    <dgm:pt modelId="{75873D7D-8229-4A50-B8B3-9C809F5F9F2A}" type="par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D297ADB0-BFEE-4AB3-8D8E-293AD20CC74C}" type="sibTrans" cxnId="{52A72C25-C9F8-4E42-AFAE-C29F4D9B1539}">
      <dgm:prSet/>
      <dgm:spPr/>
      <dgm:t>
        <a:bodyPr/>
        <a:lstStyle/>
        <a:p>
          <a:endParaRPr lang="zh-CN" altLang="en-US" sz="1600">
            <a:latin typeface="微软雅黑" panose="020B0503020204020204" pitchFamily="34" charset="-122"/>
            <a:ea typeface="微软雅黑" panose="020B0503020204020204" pitchFamily="34" charset="-122"/>
          </a:endParaRPr>
        </a:p>
      </dgm:t>
    </dgm:pt>
    <dgm:pt modelId="{FB7A98D8-A946-4532-B8CF-383D1065D29C}" type="pres">
      <dgm:prSet presAssocID="{85D5085E-9A19-4AAD-9799-233066D76354}" presName="Name0" presStyleCnt="0">
        <dgm:presLayoutVars>
          <dgm:chMax val="2"/>
          <dgm:chPref val="2"/>
          <dgm:dir/>
          <dgm:animOne/>
          <dgm:resizeHandles val="exact"/>
        </dgm:presLayoutVars>
      </dgm:prSet>
      <dgm:spPr/>
    </dgm:pt>
    <dgm:pt modelId="{A6333D2C-A9D6-4FB9-868E-7A2772597538}" type="pres">
      <dgm:prSet presAssocID="{85D5085E-9A19-4AAD-9799-233066D76354}" presName="Background" presStyleLbl="bgImgPlace1" presStyleIdx="0" presStyleCnt="1" custScaleX="150969"/>
      <dgm:spPr>
        <a:solidFill>
          <a:schemeClr val="tx2">
            <a:lumMod val="40000"/>
            <a:lumOff val="60000"/>
          </a:schemeClr>
        </a:solidFill>
      </dgm:spPr>
    </dgm:pt>
    <dgm:pt modelId="{9F411F94-BA29-40FB-AB99-7CD7DB1CFA05}" type="pres">
      <dgm:prSet presAssocID="{85D5085E-9A19-4AAD-9799-233066D76354}" presName="ParentText1" presStyleLbl="revTx" presStyleIdx="0" presStyleCnt="2" custScaleX="122941" custLinFactNeighborX="-19358" custLinFactNeighborY="-2168">
        <dgm:presLayoutVars>
          <dgm:chMax val="0"/>
          <dgm:chPref val="0"/>
          <dgm:bulletEnabled val="1"/>
        </dgm:presLayoutVars>
      </dgm:prSet>
      <dgm:spPr/>
    </dgm:pt>
    <dgm:pt modelId="{CB7DDDF6-2C8B-4B30-A06C-1EA5DB141FBA}" type="pres">
      <dgm:prSet presAssocID="{85D5085E-9A19-4AAD-9799-233066D76354}" presName="ParentText2" presStyleLbl="revTx" presStyleIdx="1" presStyleCnt="2" custScaleX="124196" custLinFactNeighborX="20121" custLinFactNeighborY="-2285">
        <dgm:presLayoutVars>
          <dgm:chMax val="0"/>
          <dgm:chPref val="0"/>
          <dgm:bulletEnabled val="1"/>
        </dgm:presLayoutVars>
      </dgm:prSet>
      <dgm:spPr/>
    </dgm:pt>
    <dgm:pt modelId="{DF706164-FCCA-4F26-8B31-EABB82ABC165}" type="pres">
      <dgm:prSet presAssocID="{85D5085E-9A19-4AAD-9799-233066D76354}" presName="Plus" presStyleLbl="alignNode1" presStyleIdx="0" presStyleCnt="2" custLinFactX="-23859" custLinFactNeighborX="-100000"/>
      <dgm:spPr>
        <a:solidFill>
          <a:srgbClr val="990033"/>
        </a:solidFill>
        <a:ln>
          <a:solidFill>
            <a:srgbClr val="990033"/>
          </a:solidFill>
        </a:ln>
      </dgm:spPr>
    </dgm:pt>
    <dgm:pt modelId="{93B3F9F7-5DFA-451D-8AF0-C886EF2184F0}" type="pres">
      <dgm:prSet presAssocID="{85D5085E-9A19-4AAD-9799-233066D76354}" presName="Minus" presStyleLbl="alignNode1" presStyleIdx="1" presStyleCnt="2" custLinFactX="55058" custLinFactNeighborX="100000" custLinFactNeighborY="-7605"/>
      <dgm:spPr>
        <a:solidFill>
          <a:srgbClr val="000099"/>
        </a:solidFill>
        <a:ln>
          <a:noFill/>
        </a:ln>
      </dgm:spPr>
    </dgm:pt>
    <dgm:pt modelId="{5CF821AC-F873-42D9-B901-FF50109FC337}" type="pres">
      <dgm:prSet presAssocID="{85D5085E-9A19-4AAD-9799-233066D76354}" presName="Divider" presStyleLbl="parChTrans1D1" presStyleIdx="0" presStyleCnt="1"/>
      <dgm:spPr>
        <a:ln>
          <a:solidFill>
            <a:srgbClr val="000099"/>
          </a:solidFill>
        </a:ln>
      </dgm:spPr>
    </dgm:pt>
  </dgm:ptLst>
  <dgm:cxnLst>
    <dgm:cxn modelId="{81865607-0674-4603-A3A6-09E5AD6F0586}" type="presOf" srcId="{906CC4F9-16E2-4572-BF0F-2D71D193110F}" destId="{CB7DDDF6-2C8B-4B30-A06C-1EA5DB141FBA}" srcOrd="0" destOrd="0" presId="urn:microsoft.com/office/officeart/2009/3/layout/PlusandMinus"/>
    <dgm:cxn modelId="{52A72C25-C9F8-4E42-AFAE-C29F4D9B1539}" srcId="{85D5085E-9A19-4AAD-9799-233066D76354}" destId="{906CC4F9-16E2-4572-BF0F-2D71D193110F}" srcOrd="1" destOrd="0" parTransId="{75873D7D-8229-4A50-B8B3-9C809F5F9F2A}" sibTransId="{D297ADB0-BFEE-4AB3-8D8E-293AD20CC74C}"/>
    <dgm:cxn modelId="{7AAB9144-4A68-495A-8801-2CD716BEDFA8}" type="presOf" srcId="{85D5085E-9A19-4AAD-9799-233066D76354}" destId="{FB7A98D8-A946-4532-B8CF-383D1065D29C}" srcOrd="0" destOrd="0" presId="urn:microsoft.com/office/officeart/2009/3/layout/PlusandMinus"/>
    <dgm:cxn modelId="{BFA2CA4B-6F60-4BAC-85D0-D17D13261D45}" srcId="{85D5085E-9A19-4AAD-9799-233066D76354}" destId="{523B5A40-6C88-4E7B-8370-BC3BAD908198}" srcOrd="0" destOrd="0" parTransId="{4A6FE152-9E61-4CEC-9BC4-79E3A424C0D2}" sibTransId="{2A612B14-1FE9-4940-AD60-58D8C13C2F37}"/>
    <dgm:cxn modelId="{5AC6E06F-A631-472E-AFA9-C30A23DB299C}" type="presOf" srcId="{523B5A40-6C88-4E7B-8370-BC3BAD908198}" destId="{9F411F94-BA29-40FB-AB99-7CD7DB1CFA05}" srcOrd="0" destOrd="0" presId="urn:microsoft.com/office/officeart/2009/3/layout/PlusandMinus"/>
    <dgm:cxn modelId="{198F1FA8-C2DC-4C79-8FB5-400F5A2031D1}" type="presParOf" srcId="{FB7A98D8-A946-4532-B8CF-383D1065D29C}" destId="{A6333D2C-A9D6-4FB9-868E-7A2772597538}" srcOrd="0" destOrd="0" presId="urn:microsoft.com/office/officeart/2009/3/layout/PlusandMinus"/>
    <dgm:cxn modelId="{D39A9186-8136-4A30-9BD4-6D6C0D9B60F6}" type="presParOf" srcId="{FB7A98D8-A946-4532-B8CF-383D1065D29C}" destId="{9F411F94-BA29-40FB-AB99-7CD7DB1CFA05}" srcOrd="1" destOrd="0" presId="urn:microsoft.com/office/officeart/2009/3/layout/PlusandMinus"/>
    <dgm:cxn modelId="{0F3B0A80-ABDF-4ABB-A19E-A5E7BC4F123D}" type="presParOf" srcId="{FB7A98D8-A946-4532-B8CF-383D1065D29C}" destId="{CB7DDDF6-2C8B-4B30-A06C-1EA5DB141FBA}" srcOrd="2" destOrd="0" presId="urn:microsoft.com/office/officeart/2009/3/layout/PlusandMinus"/>
    <dgm:cxn modelId="{CD5B3F22-708A-45DE-9F16-756F0125D6EA}" type="presParOf" srcId="{FB7A98D8-A946-4532-B8CF-383D1065D29C}" destId="{DF706164-FCCA-4F26-8B31-EABB82ABC165}" srcOrd="3" destOrd="0" presId="urn:microsoft.com/office/officeart/2009/3/layout/PlusandMinus"/>
    <dgm:cxn modelId="{41EC7F81-3328-4F59-87CF-A911907C770F}" type="presParOf" srcId="{FB7A98D8-A946-4532-B8CF-383D1065D29C}" destId="{93B3F9F7-5DFA-451D-8AF0-C886EF2184F0}" srcOrd="4" destOrd="0" presId="urn:microsoft.com/office/officeart/2009/3/layout/PlusandMinus"/>
    <dgm:cxn modelId="{CA9219E9-39F0-4799-A64D-1DDA4049B332}" type="presParOf" srcId="{FB7A98D8-A946-4532-B8CF-383D1065D29C}" destId="{5CF821AC-F873-42D9-B901-FF50109FC337}"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4994F04D-6077-4FB2-937D-03324B9DAB34}" type="doc">
      <dgm:prSet loTypeId="urn:microsoft.com/office/officeart/2005/8/layout/hierarchy3" loCatId="relationship" qsTypeId="urn:microsoft.com/office/officeart/2005/8/quickstyle/simple3" qsCatId="simple" csTypeId="urn:microsoft.com/office/officeart/2005/8/colors/colorful1#8" csCatId="colorful" phldr="1"/>
      <dgm:spPr/>
      <dgm:t>
        <a:bodyPr/>
        <a:lstStyle/>
        <a:p>
          <a:endParaRPr lang="zh-CN" altLang="en-US"/>
        </a:p>
      </dgm:t>
    </dgm:pt>
    <dgm:pt modelId="{0DA5C5DE-6D17-4EDE-B920-CE5FB3D41ABA}">
      <dgm:prSet phldrT="[文本]" custT="1"/>
      <dgm:spPr/>
      <dgm:t>
        <a:bodyPr/>
        <a:lstStyle/>
        <a:p>
          <a:r>
            <a:rPr lang="zh-CN" altLang="en-US" sz="2000" b="1">
              <a:latin typeface="微软雅黑" panose="020B0503020204020204" pitchFamily="34" charset="-122"/>
              <a:ea typeface="微软雅黑" panose="020B0503020204020204" pitchFamily="34" charset="-122"/>
            </a:rPr>
            <a:t>协议</a:t>
          </a:r>
          <a:endParaRPr lang="zh-CN" altLang="en-US" sz="2000" b="1" dirty="0">
            <a:latin typeface="微软雅黑" panose="020B0503020204020204" pitchFamily="34" charset="-122"/>
            <a:ea typeface="微软雅黑" panose="020B0503020204020204" pitchFamily="34" charset="-122"/>
          </a:endParaRPr>
        </a:p>
      </dgm:t>
    </dgm:pt>
    <dgm:pt modelId="{28418661-558A-435A-8A4F-56BB2E6D2A79}" type="parTrans" cxnId="{3F2313E1-88F4-4D75-80DD-D53E7FA40098}">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B7799A1-52B3-4216-A827-D62622C7BECB}" type="sibTrans" cxnId="{3F2313E1-88F4-4D75-80DD-D53E7FA40098}">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5ACDDF9-B7B9-4AE3-AEFD-342A1ED3FDD3}">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其实现保证了能够向上一层提供服务。</a:t>
          </a:r>
        </a:p>
      </dgm:t>
    </dgm:pt>
    <dgm:pt modelId="{50644C00-718E-45C3-8ABB-FFE825DC5B7F}" type="parTrans" cxnId="{E2F31064-17B6-4A9F-90F0-643AB7AC015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E9E075A-BD56-47AA-9D15-0D4E098D5773}" type="sibTrans" cxnId="{E2F31064-17B6-4A9F-90F0-643AB7AC015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E148EBF-2EB5-487C-A84A-08998CD76BB7}">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是“水平的”</a:t>
          </a:r>
        </a:p>
      </dgm:t>
    </dgm:pt>
    <dgm:pt modelId="{21295D08-392E-4BE1-9B14-3F97120CA18B}" type="parTrans" cxnId="{4C25B78B-B570-4056-98CA-440F138F90E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6AFDFB6-ED54-46D5-B15F-407D349B5792}" type="sibTrans" cxnId="{4C25B78B-B570-4056-98CA-440F138F90E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D4E06A52-91F5-4177-AA54-D298036A0598}">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上层使用服务原语获得下层所提供的服务。</a:t>
          </a:r>
        </a:p>
      </dgm:t>
    </dgm:pt>
    <dgm:pt modelId="{730A02EE-39C4-4F26-9573-658C50E91867}" type="parTrans" cxnId="{B342A0AB-0F65-4C75-907F-2694EA5299E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E8D6502-6A43-42CC-86CF-1ACBA7051209}" type="sibTrans" cxnId="{B342A0AB-0F65-4C75-907F-2694EA5299EC}">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DD4BC036-F4FD-462C-907D-B7F6B229CCE6}">
      <dgm:prSet phldrT="[文本]" custT="1"/>
      <dgm:spPr/>
      <dgm:t>
        <a:bodyPr/>
        <a:lstStyle/>
        <a:p>
          <a:pPr algn="l"/>
          <a:r>
            <a:rPr lang="zh-CN" altLang="en-US" sz="1400" b="1" dirty="0">
              <a:latin typeface="微软雅黑" panose="020B0503020204020204" pitchFamily="34" charset="-122"/>
              <a:ea typeface="微软雅黑" panose="020B0503020204020204" pitchFamily="34" charset="-122"/>
            </a:rPr>
            <a:t>上面的服务用户只能看见服务，无法看见下面的协议。</a:t>
          </a:r>
        </a:p>
      </dgm:t>
    </dgm:pt>
    <dgm:pt modelId="{85967721-5B7F-4D6B-ADDE-3DE6B93A85B9}" type="parTrans" cxnId="{E6AC0D9A-182A-4F10-BA90-83D5595123D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DE26604-E6BC-447F-9C0B-6472723CCE81}" type="sibTrans" cxnId="{E6AC0D9A-182A-4F10-BA90-83D5595123D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DE9353F-F89B-4F97-ADC5-22417B99EEF5}">
      <dgm:prSet phldrT="[文本]" custT="1"/>
      <dgm:spPr/>
      <dgm:t>
        <a:bodyPr/>
        <a:lstStyle/>
        <a:p>
          <a:r>
            <a:rPr lang="zh-CN" altLang="en-US" sz="2000" b="1" dirty="0">
              <a:latin typeface="微软雅黑" panose="020B0503020204020204" pitchFamily="34" charset="-122"/>
              <a:ea typeface="微软雅黑" panose="020B0503020204020204" pitchFamily="34" charset="-122"/>
            </a:rPr>
            <a:t>服务</a:t>
          </a:r>
          <a:endParaRPr lang="zh-CN" altLang="en-US" sz="1400" b="1" dirty="0">
            <a:latin typeface="微软雅黑" panose="020B0503020204020204" pitchFamily="34" charset="-122"/>
            <a:ea typeface="微软雅黑" panose="020B0503020204020204" pitchFamily="34" charset="-122"/>
          </a:endParaRPr>
        </a:p>
      </dgm:t>
    </dgm:pt>
    <dgm:pt modelId="{B2C123C1-4D4A-4AFA-AAC7-499F5F557CA3}" type="parTrans" cxnId="{98920D84-2D94-4AB0-A8BA-616CE05A6683}">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F5F63407-A2E4-4341-BE61-AC23ED700CB0}" type="sibTrans" cxnId="{98920D84-2D94-4AB0-A8BA-616CE05A6683}">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621BA61-E464-4E81-97EC-EDA49E7881F8}">
      <dgm:prSet custT="1"/>
      <dgm:spPr/>
      <dgm:t>
        <a:bodyPr/>
        <a:lstStyle/>
        <a:p>
          <a:pPr algn="l"/>
          <a:r>
            <a:rPr lang="zh-CN" altLang="en-US" sz="1400" b="1" dirty="0">
              <a:latin typeface="微软雅黑" panose="020B0503020204020204" pitchFamily="34" charset="-122"/>
              <a:ea typeface="微软雅黑" panose="020B0503020204020204" pitchFamily="34" charset="-122"/>
            </a:rPr>
            <a:t>对上面的服务用户是透明的。 </a:t>
          </a:r>
        </a:p>
      </dgm:t>
    </dgm:pt>
    <dgm:pt modelId="{51AD83D2-E860-474C-AB22-849ADFDF4DBE}" type="parTrans" cxnId="{30A3C7D7-737E-45E4-B2EB-EA198C32BC2B}">
      <dgm:prSet/>
      <dgm:spPr/>
      <dgm:t>
        <a:bodyPr/>
        <a:lstStyle/>
        <a:p>
          <a:endParaRPr lang="zh-CN" altLang="en-US"/>
        </a:p>
      </dgm:t>
    </dgm:pt>
    <dgm:pt modelId="{2E1B2228-FB84-45C7-9335-000068211608}" type="sibTrans" cxnId="{30A3C7D7-737E-45E4-B2EB-EA198C32BC2B}">
      <dgm:prSet/>
      <dgm:spPr/>
      <dgm:t>
        <a:bodyPr/>
        <a:lstStyle/>
        <a:p>
          <a:endParaRPr lang="zh-CN" altLang="en-US"/>
        </a:p>
      </dgm:t>
    </dgm:pt>
    <dgm:pt modelId="{796DC1B7-9303-4BF9-ADBA-2F3A2A3FBE6B}">
      <dgm:prSet custT="1"/>
      <dgm:spPr/>
      <dgm:t>
        <a:bodyPr/>
        <a:lstStyle/>
        <a:p>
          <a:pPr algn="l"/>
          <a:r>
            <a:rPr lang="zh-CN" altLang="en-US" sz="1400" b="1" dirty="0">
              <a:latin typeface="微软雅黑" panose="020B0503020204020204" pitchFamily="34" charset="-122"/>
              <a:ea typeface="微软雅黑" panose="020B0503020204020204" pitchFamily="34" charset="-122"/>
            </a:rPr>
            <a:t>是“垂直的”</a:t>
          </a:r>
        </a:p>
      </dgm:t>
    </dgm:pt>
    <dgm:pt modelId="{81F2FDAA-970B-4BD0-9CE1-4DD499C666F7}" type="parTrans" cxnId="{EEB84225-CB6C-4BAC-B1AF-19A26231A51D}">
      <dgm:prSet/>
      <dgm:spPr/>
      <dgm:t>
        <a:bodyPr/>
        <a:lstStyle/>
        <a:p>
          <a:endParaRPr lang="zh-CN" altLang="en-US"/>
        </a:p>
      </dgm:t>
    </dgm:pt>
    <dgm:pt modelId="{5EDF14EE-9165-40CE-AECD-1659094E2CA3}" type="sibTrans" cxnId="{EEB84225-CB6C-4BAC-B1AF-19A26231A51D}">
      <dgm:prSet/>
      <dgm:spPr/>
      <dgm:t>
        <a:bodyPr/>
        <a:lstStyle/>
        <a:p>
          <a:endParaRPr lang="zh-CN" altLang="en-US"/>
        </a:p>
      </dgm:t>
    </dgm:pt>
    <dgm:pt modelId="{220E4BB7-E5A6-4374-B95C-9515D05C4860}" type="pres">
      <dgm:prSet presAssocID="{4994F04D-6077-4FB2-937D-03324B9DAB34}" presName="diagram" presStyleCnt="0">
        <dgm:presLayoutVars>
          <dgm:chPref val="1"/>
          <dgm:dir/>
          <dgm:animOne val="branch"/>
          <dgm:animLvl val="lvl"/>
          <dgm:resizeHandles/>
        </dgm:presLayoutVars>
      </dgm:prSet>
      <dgm:spPr/>
    </dgm:pt>
    <dgm:pt modelId="{F20CB88D-283A-40E6-969B-F760513B269C}" type="pres">
      <dgm:prSet presAssocID="{0DA5C5DE-6D17-4EDE-B920-CE5FB3D41ABA}" presName="root" presStyleCnt="0"/>
      <dgm:spPr/>
    </dgm:pt>
    <dgm:pt modelId="{16E92C0E-1962-4079-9E86-E1F4B29DC174}" type="pres">
      <dgm:prSet presAssocID="{0DA5C5DE-6D17-4EDE-B920-CE5FB3D41ABA}" presName="rootComposite" presStyleCnt="0"/>
      <dgm:spPr/>
    </dgm:pt>
    <dgm:pt modelId="{880F44A1-54FE-446F-9390-56E51903722C}" type="pres">
      <dgm:prSet presAssocID="{0DA5C5DE-6D17-4EDE-B920-CE5FB3D41ABA}" presName="rootText" presStyleLbl="node1" presStyleIdx="0" presStyleCnt="2" custLinFactNeighborX="-58298"/>
      <dgm:spPr/>
    </dgm:pt>
    <dgm:pt modelId="{804607B6-F4FB-4B08-9326-1AA34A273A5D}" type="pres">
      <dgm:prSet presAssocID="{0DA5C5DE-6D17-4EDE-B920-CE5FB3D41ABA}" presName="rootConnector" presStyleLbl="node1" presStyleIdx="0" presStyleCnt="2"/>
      <dgm:spPr/>
    </dgm:pt>
    <dgm:pt modelId="{4DA6A816-DA95-479C-9A39-3F04BD93D8C4}" type="pres">
      <dgm:prSet presAssocID="{0DA5C5DE-6D17-4EDE-B920-CE5FB3D41ABA}" presName="childShape" presStyleCnt="0"/>
      <dgm:spPr/>
    </dgm:pt>
    <dgm:pt modelId="{5F5FD024-96B9-4927-9522-4793C366CCDF}" type="pres">
      <dgm:prSet presAssocID="{50644C00-718E-45C3-8ABB-FFE825DC5B7F}" presName="Name13" presStyleLbl="parChTrans1D2" presStyleIdx="0" presStyleCnt="6"/>
      <dgm:spPr/>
    </dgm:pt>
    <dgm:pt modelId="{8271D559-F991-45A8-861F-E02D43E73A7A}" type="pres">
      <dgm:prSet presAssocID="{85ACDDF9-B7B9-4AE3-AEFD-342A1ED3FDD3}" presName="childText" presStyleLbl="bgAcc1" presStyleIdx="0" presStyleCnt="6" custScaleX="378056" custScaleY="141812" custLinFactNeighborX="-61112" custLinFactNeighborY="-5648">
        <dgm:presLayoutVars>
          <dgm:bulletEnabled val="1"/>
        </dgm:presLayoutVars>
      </dgm:prSet>
      <dgm:spPr/>
    </dgm:pt>
    <dgm:pt modelId="{D504C716-6CF6-4108-8639-E75778C37519}" type="pres">
      <dgm:prSet presAssocID="{51AD83D2-E860-474C-AB22-849ADFDF4DBE}" presName="Name13" presStyleLbl="parChTrans1D2" presStyleIdx="1" presStyleCnt="6"/>
      <dgm:spPr/>
    </dgm:pt>
    <dgm:pt modelId="{B24467C9-0F5C-4007-8028-B7B163F30ADF}" type="pres">
      <dgm:prSet presAssocID="{1621BA61-E464-4E81-97EC-EDA49E7881F8}" presName="childText" presStyleLbl="bgAcc1" presStyleIdx="1" presStyleCnt="6" custScaleX="378056" custScaleY="142780" custLinFactNeighborX="-61112">
        <dgm:presLayoutVars>
          <dgm:bulletEnabled val="1"/>
        </dgm:presLayoutVars>
      </dgm:prSet>
      <dgm:spPr/>
    </dgm:pt>
    <dgm:pt modelId="{9164C2E8-A8A5-4BDA-B5B7-3599D5C7C4A2}" type="pres">
      <dgm:prSet presAssocID="{21295D08-392E-4BE1-9B14-3F97120CA18B}" presName="Name13" presStyleLbl="parChTrans1D2" presStyleIdx="2" presStyleCnt="6"/>
      <dgm:spPr/>
    </dgm:pt>
    <dgm:pt modelId="{08A735DB-4E1F-4605-8178-66A449AC1BB2}" type="pres">
      <dgm:prSet presAssocID="{5E148EBF-2EB5-487C-A84A-08998CD76BB7}" presName="childText" presStyleLbl="bgAcc1" presStyleIdx="2" presStyleCnt="6" custScaleX="378056" custLinFactNeighborX="-61112">
        <dgm:presLayoutVars>
          <dgm:bulletEnabled val="1"/>
        </dgm:presLayoutVars>
      </dgm:prSet>
      <dgm:spPr/>
    </dgm:pt>
    <dgm:pt modelId="{172420C5-C642-4E23-8BCE-E82694121490}" type="pres">
      <dgm:prSet presAssocID="{FDE9353F-F89B-4F97-ADC5-22417B99EEF5}" presName="root" presStyleCnt="0"/>
      <dgm:spPr/>
    </dgm:pt>
    <dgm:pt modelId="{34B83B97-08FF-4DC6-919D-1C8742B7576A}" type="pres">
      <dgm:prSet presAssocID="{FDE9353F-F89B-4F97-ADC5-22417B99EEF5}" presName="rootComposite" presStyleCnt="0"/>
      <dgm:spPr/>
    </dgm:pt>
    <dgm:pt modelId="{CF6D9EBE-6D4F-45DB-B63C-66E318350665}" type="pres">
      <dgm:prSet presAssocID="{FDE9353F-F89B-4F97-ADC5-22417B99EEF5}" presName="rootText" presStyleLbl="node1" presStyleIdx="1" presStyleCnt="2"/>
      <dgm:spPr/>
    </dgm:pt>
    <dgm:pt modelId="{FFFA6021-95BD-4804-A726-42B6E8065B83}" type="pres">
      <dgm:prSet presAssocID="{FDE9353F-F89B-4F97-ADC5-22417B99EEF5}" presName="rootConnector" presStyleLbl="node1" presStyleIdx="1" presStyleCnt="2"/>
      <dgm:spPr/>
    </dgm:pt>
    <dgm:pt modelId="{ABF0D8E4-5E93-4122-950B-0287C64E7E00}" type="pres">
      <dgm:prSet presAssocID="{FDE9353F-F89B-4F97-ADC5-22417B99EEF5}" presName="childShape" presStyleCnt="0"/>
      <dgm:spPr/>
    </dgm:pt>
    <dgm:pt modelId="{D73DB642-839F-46E4-BEFB-357122DA8B2A}" type="pres">
      <dgm:prSet presAssocID="{730A02EE-39C4-4F26-9573-658C50E91867}" presName="Name13" presStyleLbl="parChTrans1D2" presStyleIdx="3" presStyleCnt="6"/>
      <dgm:spPr/>
    </dgm:pt>
    <dgm:pt modelId="{366E8205-074B-465F-84D3-7E9C2A4B087A}" type="pres">
      <dgm:prSet presAssocID="{D4E06A52-91F5-4177-AA54-D298036A0598}" presName="childText" presStyleLbl="bgAcc1" presStyleIdx="3" presStyleCnt="6" custScaleX="378194" custScaleY="142147" custLinFactNeighborX="11750">
        <dgm:presLayoutVars>
          <dgm:bulletEnabled val="1"/>
        </dgm:presLayoutVars>
      </dgm:prSet>
      <dgm:spPr/>
    </dgm:pt>
    <dgm:pt modelId="{C7786CBF-29A7-4F46-ACE1-BFAF2ED2906F}" type="pres">
      <dgm:prSet presAssocID="{85967721-5B7F-4D6B-ADDE-3DE6B93A85B9}" presName="Name13" presStyleLbl="parChTrans1D2" presStyleIdx="4" presStyleCnt="6"/>
      <dgm:spPr/>
    </dgm:pt>
    <dgm:pt modelId="{D4FAB220-39C0-4BB8-B879-AEB1A16B7CDC}" type="pres">
      <dgm:prSet presAssocID="{DD4BC036-F4FD-462C-907D-B7F6B229CCE6}" presName="childText" presStyleLbl="bgAcc1" presStyleIdx="4" presStyleCnt="6" custScaleX="378194" custScaleY="142780" custLinFactNeighborX="11750">
        <dgm:presLayoutVars>
          <dgm:bulletEnabled val="1"/>
        </dgm:presLayoutVars>
      </dgm:prSet>
      <dgm:spPr/>
    </dgm:pt>
    <dgm:pt modelId="{55CE1C91-58A7-4FD4-86EE-26622EF07DF3}" type="pres">
      <dgm:prSet presAssocID="{81F2FDAA-970B-4BD0-9CE1-4DD499C666F7}" presName="Name13" presStyleLbl="parChTrans1D2" presStyleIdx="5" presStyleCnt="6"/>
      <dgm:spPr/>
    </dgm:pt>
    <dgm:pt modelId="{2747B9FB-319E-4006-A500-0E79D539374F}" type="pres">
      <dgm:prSet presAssocID="{796DC1B7-9303-4BF9-ADBA-2F3A2A3FBE6B}" presName="childText" presStyleLbl="bgAcc1" presStyleIdx="5" presStyleCnt="6" custScaleX="378194" custLinFactNeighborX="13673">
        <dgm:presLayoutVars>
          <dgm:bulletEnabled val="1"/>
        </dgm:presLayoutVars>
      </dgm:prSet>
      <dgm:spPr/>
    </dgm:pt>
  </dgm:ptLst>
  <dgm:cxnLst>
    <dgm:cxn modelId="{EEB84225-CB6C-4BAC-B1AF-19A26231A51D}" srcId="{FDE9353F-F89B-4F97-ADC5-22417B99EEF5}" destId="{796DC1B7-9303-4BF9-ADBA-2F3A2A3FBE6B}" srcOrd="2" destOrd="0" parTransId="{81F2FDAA-970B-4BD0-9CE1-4DD499C666F7}" sibTransId="{5EDF14EE-9165-40CE-AECD-1659094E2CA3}"/>
    <dgm:cxn modelId="{429E032C-5CA4-4CE2-ABDA-A9D54787265E}" type="presOf" srcId="{50644C00-718E-45C3-8ABB-FFE825DC5B7F}" destId="{5F5FD024-96B9-4927-9522-4793C366CCDF}" srcOrd="0" destOrd="0" presId="urn:microsoft.com/office/officeart/2005/8/layout/hierarchy3"/>
    <dgm:cxn modelId="{E2F31064-17B6-4A9F-90F0-643AB7AC015D}" srcId="{0DA5C5DE-6D17-4EDE-B920-CE5FB3D41ABA}" destId="{85ACDDF9-B7B9-4AE3-AEFD-342A1ED3FDD3}" srcOrd="0" destOrd="0" parTransId="{50644C00-718E-45C3-8ABB-FFE825DC5B7F}" sibTransId="{EE9E075A-BD56-47AA-9D15-0D4E098D5773}"/>
    <dgm:cxn modelId="{11C7D167-428D-489B-81C5-0A60BAB5E04E}" type="presOf" srcId="{4994F04D-6077-4FB2-937D-03324B9DAB34}" destId="{220E4BB7-E5A6-4374-B95C-9515D05C4860}" srcOrd="0" destOrd="0" presId="urn:microsoft.com/office/officeart/2005/8/layout/hierarchy3"/>
    <dgm:cxn modelId="{6D5D1C6F-7B2D-4E31-A697-53DA47EE9776}" type="presOf" srcId="{0DA5C5DE-6D17-4EDE-B920-CE5FB3D41ABA}" destId="{880F44A1-54FE-446F-9390-56E51903722C}" srcOrd="0" destOrd="0" presId="urn:microsoft.com/office/officeart/2005/8/layout/hierarchy3"/>
    <dgm:cxn modelId="{D27BD678-416C-4308-A85E-350536D97DD6}" type="presOf" srcId="{81F2FDAA-970B-4BD0-9CE1-4DD499C666F7}" destId="{55CE1C91-58A7-4FD4-86EE-26622EF07DF3}" srcOrd="0" destOrd="0" presId="urn:microsoft.com/office/officeart/2005/8/layout/hierarchy3"/>
    <dgm:cxn modelId="{EFA62D59-6CC5-4E3F-AEA4-3141D3C610F5}" type="presOf" srcId="{FDE9353F-F89B-4F97-ADC5-22417B99EEF5}" destId="{CF6D9EBE-6D4F-45DB-B63C-66E318350665}" srcOrd="0" destOrd="0" presId="urn:microsoft.com/office/officeart/2005/8/layout/hierarchy3"/>
    <dgm:cxn modelId="{19DBB079-643A-4F69-A2F1-98B8FBFA7B0E}" type="presOf" srcId="{85967721-5B7F-4D6B-ADDE-3DE6B93A85B9}" destId="{C7786CBF-29A7-4F46-ACE1-BFAF2ED2906F}" srcOrd="0" destOrd="0" presId="urn:microsoft.com/office/officeart/2005/8/layout/hierarchy3"/>
    <dgm:cxn modelId="{B431FE79-1E9F-4A89-B761-7DCF3F7BBA25}" type="presOf" srcId="{5E148EBF-2EB5-487C-A84A-08998CD76BB7}" destId="{08A735DB-4E1F-4605-8178-66A449AC1BB2}" srcOrd="0" destOrd="0" presId="urn:microsoft.com/office/officeart/2005/8/layout/hierarchy3"/>
    <dgm:cxn modelId="{6E76387C-082B-4C1A-BAF0-5C6D342ECFFE}" type="presOf" srcId="{796DC1B7-9303-4BF9-ADBA-2F3A2A3FBE6B}" destId="{2747B9FB-319E-4006-A500-0E79D539374F}" srcOrd="0" destOrd="0" presId="urn:microsoft.com/office/officeart/2005/8/layout/hierarchy3"/>
    <dgm:cxn modelId="{98920D84-2D94-4AB0-A8BA-616CE05A6683}" srcId="{4994F04D-6077-4FB2-937D-03324B9DAB34}" destId="{FDE9353F-F89B-4F97-ADC5-22417B99EEF5}" srcOrd="1" destOrd="0" parTransId="{B2C123C1-4D4A-4AFA-AAC7-499F5F557CA3}" sibTransId="{F5F63407-A2E4-4341-BE61-AC23ED700CB0}"/>
    <dgm:cxn modelId="{4C25B78B-B570-4056-98CA-440F138F90E1}" srcId="{0DA5C5DE-6D17-4EDE-B920-CE5FB3D41ABA}" destId="{5E148EBF-2EB5-487C-A84A-08998CD76BB7}" srcOrd="2" destOrd="0" parTransId="{21295D08-392E-4BE1-9B14-3F97120CA18B}" sibTransId="{76AFDFB6-ED54-46D5-B15F-407D349B5792}"/>
    <dgm:cxn modelId="{C3F2CC92-97D8-4C8F-BAE2-1F1ECD649BD4}" type="presOf" srcId="{85ACDDF9-B7B9-4AE3-AEFD-342A1ED3FDD3}" destId="{8271D559-F991-45A8-861F-E02D43E73A7A}" srcOrd="0" destOrd="0" presId="urn:microsoft.com/office/officeart/2005/8/layout/hierarchy3"/>
    <dgm:cxn modelId="{0B5C2F94-404E-47DB-B678-7B4A9D8702F3}" type="presOf" srcId="{0DA5C5DE-6D17-4EDE-B920-CE5FB3D41ABA}" destId="{804607B6-F4FB-4B08-9326-1AA34A273A5D}" srcOrd="1" destOrd="0" presId="urn:microsoft.com/office/officeart/2005/8/layout/hierarchy3"/>
    <dgm:cxn modelId="{E6AC0D9A-182A-4F10-BA90-83D5595123D1}" srcId="{FDE9353F-F89B-4F97-ADC5-22417B99EEF5}" destId="{DD4BC036-F4FD-462C-907D-B7F6B229CCE6}" srcOrd="1" destOrd="0" parTransId="{85967721-5B7F-4D6B-ADDE-3DE6B93A85B9}" sibTransId="{4DE26604-E6BC-447F-9C0B-6472723CCE81}"/>
    <dgm:cxn modelId="{561A719E-D6CC-459B-9EF3-F609B63F1D4E}" type="presOf" srcId="{DD4BC036-F4FD-462C-907D-B7F6B229CCE6}" destId="{D4FAB220-39C0-4BB8-B879-AEB1A16B7CDC}" srcOrd="0" destOrd="0" presId="urn:microsoft.com/office/officeart/2005/8/layout/hierarchy3"/>
    <dgm:cxn modelId="{B342A0AB-0F65-4C75-907F-2694EA5299EC}" srcId="{FDE9353F-F89B-4F97-ADC5-22417B99EEF5}" destId="{D4E06A52-91F5-4177-AA54-D298036A0598}" srcOrd="0" destOrd="0" parTransId="{730A02EE-39C4-4F26-9573-658C50E91867}" sibTransId="{8E8D6502-6A43-42CC-86CF-1ACBA7051209}"/>
    <dgm:cxn modelId="{8CECFFAC-0125-483E-B460-F62B0965C1A0}" type="presOf" srcId="{51AD83D2-E860-474C-AB22-849ADFDF4DBE}" destId="{D504C716-6CF6-4108-8639-E75778C37519}" srcOrd="0" destOrd="0" presId="urn:microsoft.com/office/officeart/2005/8/layout/hierarchy3"/>
    <dgm:cxn modelId="{3FBBBCB0-EDA8-41DA-B8BD-9E1C22727D88}" type="presOf" srcId="{730A02EE-39C4-4F26-9573-658C50E91867}" destId="{D73DB642-839F-46E4-BEFB-357122DA8B2A}" srcOrd="0" destOrd="0" presId="urn:microsoft.com/office/officeart/2005/8/layout/hierarchy3"/>
    <dgm:cxn modelId="{53ED03CC-F042-4EAD-AEC3-6DF8D6C596EE}" type="presOf" srcId="{D4E06A52-91F5-4177-AA54-D298036A0598}" destId="{366E8205-074B-465F-84D3-7E9C2A4B087A}" srcOrd="0" destOrd="0" presId="urn:microsoft.com/office/officeart/2005/8/layout/hierarchy3"/>
    <dgm:cxn modelId="{30A3C7D7-737E-45E4-B2EB-EA198C32BC2B}" srcId="{0DA5C5DE-6D17-4EDE-B920-CE5FB3D41ABA}" destId="{1621BA61-E464-4E81-97EC-EDA49E7881F8}" srcOrd="1" destOrd="0" parTransId="{51AD83D2-E860-474C-AB22-849ADFDF4DBE}" sibTransId="{2E1B2228-FB84-45C7-9335-000068211608}"/>
    <dgm:cxn modelId="{3F2313E1-88F4-4D75-80DD-D53E7FA40098}" srcId="{4994F04D-6077-4FB2-937D-03324B9DAB34}" destId="{0DA5C5DE-6D17-4EDE-B920-CE5FB3D41ABA}" srcOrd="0" destOrd="0" parTransId="{28418661-558A-435A-8A4F-56BB2E6D2A79}" sibTransId="{3B7799A1-52B3-4216-A827-D62622C7BECB}"/>
    <dgm:cxn modelId="{E51745E3-753D-4294-9A56-14DE5D0AF141}" type="presOf" srcId="{21295D08-392E-4BE1-9B14-3F97120CA18B}" destId="{9164C2E8-A8A5-4BDA-B5B7-3599D5C7C4A2}" srcOrd="0" destOrd="0" presId="urn:microsoft.com/office/officeart/2005/8/layout/hierarchy3"/>
    <dgm:cxn modelId="{2F98EDE6-9660-47D6-AABF-203EC4E4D722}" type="presOf" srcId="{1621BA61-E464-4E81-97EC-EDA49E7881F8}" destId="{B24467C9-0F5C-4007-8028-B7B163F30ADF}" srcOrd="0" destOrd="0" presId="urn:microsoft.com/office/officeart/2005/8/layout/hierarchy3"/>
    <dgm:cxn modelId="{CEF6D1FE-8B92-487F-B25D-97D16645420C}" type="presOf" srcId="{FDE9353F-F89B-4F97-ADC5-22417B99EEF5}" destId="{FFFA6021-95BD-4804-A726-42B6E8065B83}" srcOrd="1" destOrd="0" presId="urn:microsoft.com/office/officeart/2005/8/layout/hierarchy3"/>
    <dgm:cxn modelId="{0EBC80BE-53F5-438D-86FE-F57B0827D7DD}" type="presParOf" srcId="{220E4BB7-E5A6-4374-B95C-9515D05C4860}" destId="{F20CB88D-283A-40E6-969B-F760513B269C}" srcOrd="0" destOrd="0" presId="urn:microsoft.com/office/officeart/2005/8/layout/hierarchy3"/>
    <dgm:cxn modelId="{B53C1762-0E07-4C72-AA06-EFAC8B699700}" type="presParOf" srcId="{F20CB88D-283A-40E6-969B-F760513B269C}" destId="{16E92C0E-1962-4079-9E86-E1F4B29DC174}" srcOrd="0" destOrd="0" presId="urn:microsoft.com/office/officeart/2005/8/layout/hierarchy3"/>
    <dgm:cxn modelId="{45C29D17-CFF2-4E94-A70F-20AF919267ED}" type="presParOf" srcId="{16E92C0E-1962-4079-9E86-E1F4B29DC174}" destId="{880F44A1-54FE-446F-9390-56E51903722C}" srcOrd="0" destOrd="0" presId="urn:microsoft.com/office/officeart/2005/8/layout/hierarchy3"/>
    <dgm:cxn modelId="{0B645A9D-BD61-4503-B84E-156522EC118D}" type="presParOf" srcId="{16E92C0E-1962-4079-9E86-E1F4B29DC174}" destId="{804607B6-F4FB-4B08-9326-1AA34A273A5D}" srcOrd="1" destOrd="0" presId="urn:microsoft.com/office/officeart/2005/8/layout/hierarchy3"/>
    <dgm:cxn modelId="{9B55401E-66D9-4711-B1F2-F2EBD3C4B4B8}" type="presParOf" srcId="{F20CB88D-283A-40E6-969B-F760513B269C}" destId="{4DA6A816-DA95-479C-9A39-3F04BD93D8C4}" srcOrd="1" destOrd="0" presId="urn:microsoft.com/office/officeart/2005/8/layout/hierarchy3"/>
    <dgm:cxn modelId="{5B2AA82A-4D24-48D8-A154-5B97BC59D045}" type="presParOf" srcId="{4DA6A816-DA95-479C-9A39-3F04BD93D8C4}" destId="{5F5FD024-96B9-4927-9522-4793C366CCDF}" srcOrd="0" destOrd="0" presId="urn:microsoft.com/office/officeart/2005/8/layout/hierarchy3"/>
    <dgm:cxn modelId="{639EF7CC-298A-4D73-8FE1-56FBD4676B4E}" type="presParOf" srcId="{4DA6A816-DA95-479C-9A39-3F04BD93D8C4}" destId="{8271D559-F991-45A8-861F-E02D43E73A7A}" srcOrd="1" destOrd="0" presId="urn:microsoft.com/office/officeart/2005/8/layout/hierarchy3"/>
    <dgm:cxn modelId="{A840F6A9-5E93-44DB-B6F7-1213903729E3}" type="presParOf" srcId="{4DA6A816-DA95-479C-9A39-3F04BD93D8C4}" destId="{D504C716-6CF6-4108-8639-E75778C37519}" srcOrd="2" destOrd="0" presId="urn:microsoft.com/office/officeart/2005/8/layout/hierarchy3"/>
    <dgm:cxn modelId="{C9702349-9912-40C9-BE52-19E991F9BB01}" type="presParOf" srcId="{4DA6A816-DA95-479C-9A39-3F04BD93D8C4}" destId="{B24467C9-0F5C-4007-8028-B7B163F30ADF}" srcOrd="3" destOrd="0" presId="urn:microsoft.com/office/officeart/2005/8/layout/hierarchy3"/>
    <dgm:cxn modelId="{41E5E31A-D04C-4C7E-8330-AF99F5C0860E}" type="presParOf" srcId="{4DA6A816-DA95-479C-9A39-3F04BD93D8C4}" destId="{9164C2E8-A8A5-4BDA-B5B7-3599D5C7C4A2}" srcOrd="4" destOrd="0" presId="urn:microsoft.com/office/officeart/2005/8/layout/hierarchy3"/>
    <dgm:cxn modelId="{DB6D0EC9-6402-484A-836E-FC7D5DE53260}" type="presParOf" srcId="{4DA6A816-DA95-479C-9A39-3F04BD93D8C4}" destId="{08A735DB-4E1F-4605-8178-66A449AC1BB2}" srcOrd="5" destOrd="0" presId="urn:microsoft.com/office/officeart/2005/8/layout/hierarchy3"/>
    <dgm:cxn modelId="{64922071-3669-4F75-97C5-2D85F6B1332A}" type="presParOf" srcId="{220E4BB7-E5A6-4374-B95C-9515D05C4860}" destId="{172420C5-C642-4E23-8BCE-E82694121490}" srcOrd="1" destOrd="0" presId="urn:microsoft.com/office/officeart/2005/8/layout/hierarchy3"/>
    <dgm:cxn modelId="{6B56C3C5-7728-44C3-B4E8-E23CFA59848C}" type="presParOf" srcId="{172420C5-C642-4E23-8BCE-E82694121490}" destId="{34B83B97-08FF-4DC6-919D-1C8742B7576A}" srcOrd="0" destOrd="0" presId="urn:microsoft.com/office/officeart/2005/8/layout/hierarchy3"/>
    <dgm:cxn modelId="{C2AFBC1A-9879-4F2D-B895-A4CC0AF54F80}" type="presParOf" srcId="{34B83B97-08FF-4DC6-919D-1C8742B7576A}" destId="{CF6D9EBE-6D4F-45DB-B63C-66E318350665}" srcOrd="0" destOrd="0" presId="urn:microsoft.com/office/officeart/2005/8/layout/hierarchy3"/>
    <dgm:cxn modelId="{50B1E573-69A7-4817-9860-A7C98AE9FDC6}" type="presParOf" srcId="{34B83B97-08FF-4DC6-919D-1C8742B7576A}" destId="{FFFA6021-95BD-4804-A726-42B6E8065B83}" srcOrd="1" destOrd="0" presId="urn:microsoft.com/office/officeart/2005/8/layout/hierarchy3"/>
    <dgm:cxn modelId="{5508B303-66A0-414A-BCD8-3EFD071C8919}" type="presParOf" srcId="{172420C5-C642-4E23-8BCE-E82694121490}" destId="{ABF0D8E4-5E93-4122-950B-0287C64E7E00}" srcOrd="1" destOrd="0" presId="urn:microsoft.com/office/officeart/2005/8/layout/hierarchy3"/>
    <dgm:cxn modelId="{F438FCBD-493B-4D53-8F94-D57FC7103C1A}" type="presParOf" srcId="{ABF0D8E4-5E93-4122-950B-0287C64E7E00}" destId="{D73DB642-839F-46E4-BEFB-357122DA8B2A}" srcOrd="0" destOrd="0" presId="urn:microsoft.com/office/officeart/2005/8/layout/hierarchy3"/>
    <dgm:cxn modelId="{CEE9B681-3E37-410E-A2F7-6B6575EB59D9}" type="presParOf" srcId="{ABF0D8E4-5E93-4122-950B-0287C64E7E00}" destId="{366E8205-074B-465F-84D3-7E9C2A4B087A}" srcOrd="1" destOrd="0" presId="urn:microsoft.com/office/officeart/2005/8/layout/hierarchy3"/>
    <dgm:cxn modelId="{2B89A0CE-F96B-4214-9B34-9CAC6DB90F9C}" type="presParOf" srcId="{ABF0D8E4-5E93-4122-950B-0287C64E7E00}" destId="{C7786CBF-29A7-4F46-ACE1-BFAF2ED2906F}" srcOrd="2" destOrd="0" presId="urn:microsoft.com/office/officeart/2005/8/layout/hierarchy3"/>
    <dgm:cxn modelId="{073634BA-8614-4B4E-B8F4-0AC500241BBE}" type="presParOf" srcId="{ABF0D8E4-5E93-4122-950B-0287C64E7E00}" destId="{D4FAB220-39C0-4BB8-B879-AEB1A16B7CDC}" srcOrd="3" destOrd="0" presId="urn:microsoft.com/office/officeart/2005/8/layout/hierarchy3"/>
    <dgm:cxn modelId="{A7153FBF-73E7-4AF6-ACF0-BE39A09D608D}" type="presParOf" srcId="{ABF0D8E4-5E93-4122-950B-0287C64E7E00}" destId="{55CE1C91-58A7-4FD4-86EE-26622EF07DF3}" srcOrd="4" destOrd="0" presId="urn:microsoft.com/office/officeart/2005/8/layout/hierarchy3"/>
    <dgm:cxn modelId="{19BDD52D-F6AB-4507-8E34-0241641AC8A6}" type="presParOf" srcId="{ABF0D8E4-5E93-4122-950B-0287C64E7E00}" destId="{2747B9FB-319E-4006-A500-0E79D539374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300B65F-B770-4533-9743-A8EABAF11F51}">
      <dsp:nvSpPr>
        <dsp:cNvPr id="0" name=""/>
        <dsp:cNvSpPr/>
      </dsp:nvSpPr>
      <dsp:spPr>
        <a:xfrm rot="5400000">
          <a:off x="4781479" y="-2045078"/>
          <a:ext cx="1061766" cy="5417431"/>
        </a:xfrm>
        <a:prstGeom prst="round2Same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游戏，视频，社交，电子邮件，购物，网店，</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网银，无现金支付，数字钱包，数字货币，</a:t>
          </a:r>
          <a:r>
            <a:rPr lang="en-US" altLang="en-US" sz="1800" b="1" kern="1200" dirty="0">
              <a:latin typeface="微软雅黑" panose="020B0503020204020204" pitchFamily="34" charset="-122"/>
              <a:ea typeface="微软雅黑" panose="020B0503020204020204" pitchFamily="34" charset="-122"/>
            </a:rPr>
            <a:t>…</a:t>
          </a:r>
          <a:endParaRPr lang="zh-CN" altLang="en-US" sz="1800" b="1" kern="1200" dirty="0">
            <a:latin typeface="微软雅黑" panose="020B0503020204020204" pitchFamily="34" charset="-122"/>
            <a:ea typeface="微软雅黑" panose="020B0503020204020204" pitchFamily="34" charset="-122"/>
          </a:endParaRPr>
        </a:p>
      </dsp:txBody>
      <dsp:txXfrm rot="-5400000">
        <a:off x="2603647" y="184585"/>
        <a:ext cx="5365600" cy="958104"/>
      </dsp:txXfrm>
    </dsp:sp>
    <dsp:sp modelId="{A8F7779F-E35A-4E50-A04D-CB1AA6356A21}">
      <dsp:nvSpPr>
        <dsp:cNvPr id="0" name=""/>
        <dsp:cNvSpPr/>
      </dsp:nvSpPr>
      <dsp:spPr>
        <a:xfrm>
          <a:off x="454058" y="33"/>
          <a:ext cx="2159990" cy="1327208"/>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应用和服务</a:t>
          </a:r>
        </a:p>
      </dsp:txBody>
      <dsp:txXfrm>
        <a:off x="518847" y="64822"/>
        <a:ext cx="2030412" cy="1197630"/>
      </dsp:txXfrm>
    </dsp:sp>
    <dsp:sp modelId="{6AEF0EF9-F4C4-41ED-9DA7-A897E4EBD001}">
      <dsp:nvSpPr>
        <dsp:cNvPr id="0" name=""/>
        <dsp:cNvSpPr/>
      </dsp:nvSpPr>
      <dsp:spPr>
        <a:xfrm rot="5400000">
          <a:off x="4781479" y="-651509"/>
          <a:ext cx="1061766" cy="5417431"/>
        </a:xfrm>
        <a:prstGeom prst="round2SameRect">
          <a:avLst/>
        </a:prstGeom>
        <a:solidFill>
          <a:schemeClr val="accent5">
            <a:tint val="40000"/>
            <a:alpha val="90000"/>
            <a:hueOff val="-6739762"/>
            <a:satOff val="-22832"/>
            <a:lumOff val="-2928"/>
            <a:alphaOff val="0"/>
          </a:schemeClr>
        </a:solidFill>
        <a:ln w="12700" cap="flat" cmpd="sng" algn="ctr">
          <a:solidFill>
            <a:schemeClr val="accent5">
              <a:tint val="40000"/>
              <a:alpha val="90000"/>
              <a:hueOff val="-6739762"/>
              <a:satOff val="-22832"/>
              <a:lumOff val="-292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互连结构，交换技术，</a:t>
          </a:r>
        </a:p>
        <a:p>
          <a:pPr marL="171450" lvl="1" indent="-171450" algn="l" defTabSz="800100">
            <a:lnSpc>
              <a:spcPct val="90000"/>
            </a:lnSpc>
            <a:spcBef>
              <a:spcPct val="0"/>
            </a:spcBef>
            <a:spcAft>
              <a:spcPct val="15000"/>
            </a:spcAft>
            <a:buChar char="•"/>
          </a:pPr>
          <a:r>
            <a:rPr lang="en-US" altLang="zh-CN" sz="1800" b="1" kern="1200" dirty="0">
              <a:latin typeface="微软雅黑" panose="020B0503020204020204" pitchFamily="34" charset="-122"/>
              <a:ea typeface="微软雅黑" panose="020B0503020204020204" pitchFamily="34" charset="-122"/>
            </a:rPr>
            <a:t>TCP/IP </a:t>
          </a:r>
          <a:r>
            <a:rPr lang="zh-CN" altLang="en-US" sz="1800" b="1" kern="1200" dirty="0">
              <a:latin typeface="微软雅黑" panose="020B0503020204020204" pitchFamily="34" charset="-122"/>
              <a:ea typeface="微软雅黑" panose="020B0503020204020204" pitchFamily="34" charset="-122"/>
            </a:rPr>
            <a:t>体系结构与协议，</a:t>
          </a:r>
          <a:r>
            <a:rPr lang="en-US" altLang="zh-CN" sz="1800" b="1" kern="1200" dirty="0">
              <a:latin typeface="微软雅黑" panose="020B0503020204020204" pitchFamily="34" charset="-122"/>
              <a:ea typeface="微软雅黑" panose="020B0503020204020204" pitchFamily="34" charset="-122"/>
            </a:rPr>
            <a:t>…</a:t>
          </a:r>
          <a:endParaRPr lang="zh-CN" altLang="en-US" sz="1800" b="1" kern="1200" dirty="0">
            <a:latin typeface="微软雅黑" panose="020B0503020204020204" pitchFamily="34" charset="-122"/>
            <a:ea typeface="微软雅黑" panose="020B0503020204020204" pitchFamily="34" charset="-122"/>
          </a:endParaRPr>
        </a:p>
      </dsp:txBody>
      <dsp:txXfrm rot="-5400000">
        <a:off x="2603647" y="1578154"/>
        <a:ext cx="5365600" cy="958104"/>
      </dsp:txXfrm>
    </dsp:sp>
    <dsp:sp modelId="{46CFA115-E89F-48DD-8ECE-95299141CF01}">
      <dsp:nvSpPr>
        <dsp:cNvPr id="0" name=""/>
        <dsp:cNvSpPr/>
      </dsp:nvSpPr>
      <dsp:spPr>
        <a:xfrm>
          <a:off x="443657" y="1393602"/>
          <a:ext cx="2159990" cy="1327208"/>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工作原理</a:t>
          </a:r>
        </a:p>
      </dsp:txBody>
      <dsp:txXfrm>
        <a:off x="508446" y="1458391"/>
        <a:ext cx="2030412" cy="11976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0E1915-9D9D-42CA-B042-4CD43E01EB46}">
      <dsp:nvSpPr>
        <dsp:cNvPr id="0" name=""/>
        <dsp:cNvSpPr/>
      </dsp:nvSpPr>
      <dsp:spPr>
        <a:xfrm>
          <a:off x="31" y="8094"/>
          <a:ext cx="3056109" cy="662425"/>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连通性 </a:t>
          </a:r>
          <a:r>
            <a:rPr lang="en-US" altLang="en-US" sz="1800" b="1" kern="1200" dirty="0">
              <a:latin typeface="微软雅黑" panose="020B0503020204020204" pitchFamily="34" charset="-122"/>
              <a:ea typeface="微软雅黑" panose="020B0503020204020204" pitchFamily="34" charset="-122"/>
            </a:rPr>
            <a:t>(connectivity)</a:t>
          </a:r>
          <a:endParaRPr lang="zh-CN" altLang="en-US" sz="1800" b="1" kern="1200" dirty="0">
            <a:latin typeface="微软雅黑" panose="020B0503020204020204" pitchFamily="34" charset="-122"/>
            <a:ea typeface="微软雅黑" panose="020B0503020204020204" pitchFamily="34" charset="-122"/>
          </a:endParaRPr>
        </a:p>
      </dsp:txBody>
      <dsp:txXfrm>
        <a:off x="31" y="8094"/>
        <a:ext cx="3056109" cy="662425"/>
      </dsp:txXfrm>
    </dsp:sp>
    <dsp:sp modelId="{95E3CB40-70C8-4251-9371-65AB16983D1B}">
      <dsp:nvSpPr>
        <dsp:cNvPr id="0" name=""/>
        <dsp:cNvSpPr/>
      </dsp:nvSpPr>
      <dsp:spPr>
        <a:xfrm>
          <a:off x="0" y="671624"/>
          <a:ext cx="3056109" cy="2093062"/>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使上网用户之间可以非常便捷、非常经济地交换各种信息</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好像这些用户终端都彼此直接连通一样。</a:t>
          </a:r>
        </a:p>
      </dsp:txBody>
      <dsp:txXfrm>
        <a:off x="0" y="671624"/>
        <a:ext cx="3056109" cy="2093062"/>
      </dsp:txXfrm>
    </dsp:sp>
    <dsp:sp modelId="{40C4515B-BD55-4381-85FB-4FE091B3440E}">
      <dsp:nvSpPr>
        <dsp:cNvPr id="0" name=""/>
        <dsp:cNvSpPr/>
      </dsp:nvSpPr>
      <dsp:spPr>
        <a:xfrm>
          <a:off x="3483996" y="8094"/>
          <a:ext cx="3056109" cy="662425"/>
        </a:xfrm>
        <a:prstGeom prst="rect">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资源共享 </a:t>
          </a:r>
          <a:r>
            <a:rPr lang="en-US" altLang="en-US" sz="1800" b="1" kern="1200" dirty="0">
              <a:latin typeface="微软雅黑" panose="020B0503020204020204" pitchFamily="34" charset="-122"/>
              <a:ea typeface="微软雅黑" panose="020B0503020204020204" pitchFamily="34" charset="-122"/>
            </a:rPr>
            <a:t>(Sharing)</a:t>
          </a:r>
          <a:endParaRPr lang="zh-CN" altLang="en-US" sz="1800" b="1" kern="1200" dirty="0">
            <a:latin typeface="微软雅黑" panose="020B0503020204020204" pitchFamily="34" charset="-122"/>
            <a:ea typeface="微软雅黑" panose="020B0503020204020204" pitchFamily="34" charset="-122"/>
          </a:endParaRPr>
        </a:p>
      </dsp:txBody>
      <dsp:txXfrm>
        <a:off x="3483996" y="8094"/>
        <a:ext cx="3056109" cy="662425"/>
      </dsp:txXfrm>
    </dsp:sp>
    <dsp:sp modelId="{91A65E31-AD27-4BEE-B472-DF1900C7D724}">
      <dsp:nvSpPr>
        <dsp:cNvPr id="0" name=""/>
        <dsp:cNvSpPr/>
      </dsp:nvSpPr>
      <dsp:spPr>
        <a:xfrm>
          <a:off x="3483996" y="671624"/>
          <a:ext cx="3056109" cy="2093062"/>
        </a:xfrm>
        <a:prstGeom prst="rect">
          <a:avLst/>
        </a:prstGeom>
        <a:solidFill>
          <a:schemeClr val="accent2">
            <a:tint val="40000"/>
            <a:alpha val="90000"/>
            <a:hueOff val="-849226"/>
            <a:satOff val="-75346"/>
            <a:lumOff val="-769"/>
            <a:alphaOff val="0"/>
          </a:schemeClr>
        </a:solidFill>
        <a:ln w="12700" cap="flat" cmpd="sng" algn="ctr">
          <a:solidFill>
            <a:schemeClr val="accent2">
              <a:tint val="40000"/>
              <a:alpha val="90000"/>
              <a:hueOff val="-849226"/>
              <a:satOff val="-75346"/>
              <a:lumOff val="-76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实现信息共享、软件共享、硬件共享。</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由于网络的存在，这些资源好像就在用户身边一样地方便使用。</a:t>
          </a:r>
        </a:p>
      </dsp:txBody>
      <dsp:txXfrm>
        <a:off x="3483996" y="671624"/>
        <a:ext cx="3056109" cy="209306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7450F4-F441-4296-8335-01351F8E1B2B}">
      <dsp:nvSpPr>
        <dsp:cNvPr id="0" name=""/>
        <dsp:cNvSpPr/>
      </dsp:nvSpPr>
      <dsp:spPr>
        <a:xfrm>
          <a:off x="2073320" y="597217"/>
          <a:ext cx="1487805" cy="1487805"/>
        </a:xfrm>
        <a:prstGeom prst="ellipse">
          <a:avLst/>
        </a:prstGeom>
        <a:gradFill rotWithShape="0">
          <a:gsLst>
            <a:gs pos="0">
              <a:schemeClr val="accent2">
                <a:alpha val="50000"/>
                <a:hueOff val="0"/>
                <a:satOff val="0"/>
                <a:lumOff val="0"/>
                <a:alphaOff val="0"/>
                <a:satMod val="103000"/>
                <a:lumMod val="102000"/>
                <a:tint val="94000"/>
              </a:schemeClr>
            </a:gs>
            <a:gs pos="50000">
              <a:schemeClr val="accent2">
                <a:alpha val="50000"/>
                <a:hueOff val="0"/>
                <a:satOff val="0"/>
                <a:lumOff val="0"/>
                <a:alphaOff val="0"/>
                <a:satMod val="110000"/>
                <a:lumMod val="100000"/>
                <a:shade val="100000"/>
              </a:schemeClr>
            </a:gs>
            <a:gs pos="100000">
              <a:schemeClr val="accent2">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互联网</a:t>
          </a:r>
        </a:p>
      </dsp:txBody>
      <dsp:txXfrm>
        <a:off x="2291204" y="815101"/>
        <a:ext cx="1052037" cy="1052037"/>
      </dsp:txXfrm>
    </dsp:sp>
    <dsp:sp modelId="{CE8AFE2D-2AC2-45F0-88B8-B2568168C3FF}">
      <dsp:nvSpPr>
        <dsp:cNvPr id="0" name=""/>
        <dsp:cNvSpPr/>
      </dsp:nvSpPr>
      <dsp:spPr>
        <a:xfrm>
          <a:off x="2445271" y="265"/>
          <a:ext cx="743902" cy="743902"/>
        </a:xfrm>
        <a:prstGeom prst="ellipse">
          <a:avLst/>
        </a:prstGeom>
        <a:gradFill rotWithShape="0">
          <a:gsLst>
            <a:gs pos="0">
              <a:schemeClr val="accent3">
                <a:alpha val="50000"/>
                <a:hueOff val="0"/>
                <a:satOff val="0"/>
                <a:lumOff val="0"/>
                <a:alphaOff val="0"/>
                <a:satMod val="103000"/>
                <a:lumMod val="102000"/>
                <a:tint val="94000"/>
              </a:schemeClr>
            </a:gs>
            <a:gs pos="50000">
              <a:schemeClr val="accent3">
                <a:alpha val="50000"/>
                <a:hueOff val="0"/>
                <a:satOff val="0"/>
                <a:lumOff val="0"/>
                <a:alphaOff val="0"/>
                <a:satMod val="110000"/>
                <a:lumMod val="100000"/>
                <a:shade val="100000"/>
              </a:schemeClr>
            </a:gs>
            <a:gs pos="100000">
              <a:schemeClr val="accent3">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工业</a:t>
          </a:r>
        </a:p>
      </dsp:txBody>
      <dsp:txXfrm>
        <a:off x="2554213" y="109207"/>
        <a:ext cx="526018" cy="526018"/>
      </dsp:txXfrm>
    </dsp:sp>
    <dsp:sp modelId="{670A9751-EDA7-44BE-84F6-DA052AFC6D1C}">
      <dsp:nvSpPr>
        <dsp:cNvPr id="0" name=""/>
        <dsp:cNvSpPr/>
      </dsp:nvSpPr>
      <dsp:spPr>
        <a:xfrm>
          <a:off x="3130389" y="284050"/>
          <a:ext cx="743902" cy="743902"/>
        </a:xfrm>
        <a:prstGeom prst="ellipse">
          <a:avLst/>
        </a:prstGeom>
        <a:gradFill rotWithShape="0">
          <a:gsLst>
            <a:gs pos="0">
              <a:schemeClr val="accent4">
                <a:alpha val="50000"/>
                <a:hueOff val="0"/>
                <a:satOff val="0"/>
                <a:lumOff val="0"/>
                <a:alphaOff val="0"/>
                <a:satMod val="103000"/>
                <a:lumMod val="102000"/>
                <a:tint val="94000"/>
              </a:schemeClr>
            </a:gs>
            <a:gs pos="50000">
              <a:schemeClr val="accent4">
                <a:alpha val="50000"/>
                <a:hueOff val="0"/>
                <a:satOff val="0"/>
                <a:lumOff val="0"/>
                <a:alphaOff val="0"/>
                <a:satMod val="110000"/>
                <a:lumMod val="100000"/>
                <a:shade val="100000"/>
              </a:schemeClr>
            </a:gs>
            <a:gs pos="100000">
              <a:schemeClr val="accent4">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农业</a:t>
          </a:r>
        </a:p>
      </dsp:txBody>
      <dsp:txXfrm>
        <a:off x="3239331" y="392992"/>
        <a:ext cx="526018" cy="526018"/>
      </dsp:txXfrm>
    </dsp:sp>
    <dsp:sp modelId="{242A4B1B-E8FC-49C8-BFF1-60EED0B2A276}">
      <dsp:nvSpPr>
        <dsp:cNvPr id="0" name=""/>
        <dsp:cNvSpPr/>
      </dsp:nvSpPr>
      <dsp:spPr>
        <a:xfrm>
          <a:off x="3414174" y="969168"/>
          <a:ext cx="743902" cy="743902"/>
        </a:xfrm>
        <a:prstGeom prst="ellipse">
          <a:avLst/>
        </a:prstGeom>
        <a:gradFill rotWithShape="0">
          <a:gsLst>
            <a:gs pos="0">
              <a:schemeClr val="accent5">
                <a:alpha val="50000"/>
                <a:hueOff val="0"/>
                <a:satOff val="0"/>
                <a:lumOff val="0"/>
                <a:alphaOff val="0"/>
                <a:satMod val="103000"/>
                <a:lumMod val="102000"/>
                <a:tint val="94000"/>
              </a:schemeClr>
            </a:gs>
            <a:gs pos="50000">
              <a:schemeClr val="accent5">
                <a:alpha val="50000"/>
                <a:hueOff val="0"/>
                <a:satOff val="0"/>
                <a:lumOff val="0"/>
                <a:alphaOff val="0"/>
                <a:satMod val="110000"/>
                <a:lumMod val="100000"/>
                <a:shade val="100000"/>
              </a:schemeClr>
            </a:gs>
            <a:gs pos="100000">
              <a:schemeClr val="accent5">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教育</a:t>
          </a:r>
        </a:p>
      </dsp:txBody>
      <dsp:txXfrm>
        <a:off x="3523116" y="1078110"/>
        <a:ext cx="526018" cy="526018"/>
      </dsp:txXfrm>
    </dsp:sp>
    <dsp:sp modelId="{C0A173BA-2876-4F61-AAD1-FA50AD3DFDD0}">
      <dsp:nvSpPr>
        <dsp:cNvPr id="0" name=""/>
        <dsp:cNvSpPr/>
      </dsp:nvSpPr>
      <dsp:spPr>
        <a:xfrm>
          <a:off x="3130389" y="1654286"/>
          <a:ext cx="743902" cy="743902"/>
        </a:xfrm>
        <a:prstGeom prst="ellipse">
          <a:avLst/>
        </a:prstGeom>
        <a:gradFill rotWithShape="0">
          <a:gsLst>
            <a:gs pos="0">
              <a:schemeClr val="accent6">
                <a:alpha val="50000"/>
                <a:hueOff val="0"/>
                <a:satOff val="0"/>
                <a:lumOff val="0"/>
                <a:alphaOff val="0"/>
                <a:satMod val="103000"/>
                <a:lumMod val="102000"/>
                <a:tint val="94000"/>
              </a:schemeClr>
            </a:gs>
            <a:gs pos="50000">
              <a:schemeClr val="accent6">
                <a:alpha val="50000"/>
                <a:hueOff val="0"/>
                <a:satOff val="0"/>
                <a:lumOff val="0"/>
                <a:alphaOff val="0"/>
                <a:satMod val="110000"/>
                <a:lumMod val="100000"/>
                <a:shade val="100000"/>
              </a:schemeClr>
            </a:gs>
            <a:gs pos="100000">
              <a:schemeClr val="accent6">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医疗</a:t>
          </a:r>
        </a:p>
      </dsp:txBody>
      <dsp:txXfrm>
        <a:off x="3239331" y="1763228"/>
        <a:ext cx="526018" cy="526018"/>
      </dsp:txXfrm>
    </dsp:sp>
    <dsp:sp modelId="{D951B7E8-AF72-41D8-8F8D-E56CFF2EB951}">
      <dsp:nvSpPr>
        <dsp:cNvPr id="0" name=""/>
        <dsp:cNvSpPr/>
      </dsp:nvSpPr>
      <dsp:spPr>
        <a:xfrm>
          <a:off x="2445271" y="1938071"/>
          <a:ext cx="743902" cy="743902"/>
        </a:xfrm>
        <a:prstGeom prst="ellipse">
          <a:avLst/>
        </a:prstGeom>
        <a:gradFill rotWithShape="0">
          <a:gsLst>
            <a:gs pos="0">
              <a:schemeClr val="accent2">
                <a:alpha val="50000"/>
                <a:hueOff val="0"/>
                <a:satOff val="0"/>
                <a:lumOff val="0"/>
                <a:alphaOff val="0"/>
                <a:satMod val="103000"/>
                <a:lumMod val="102000"/>
                <a:tint val="94000"/>
              </a:schemeClr>
            </a:gs>
            <a:gs pos="50000">
              <a:schemeClr val="accent2">
                <a:alpha val="50000"/>
                <a:hueOff val="0"/>
                <a:satOff val="0"/>
                <a:lumOff val="0"/>
                <a:alphaOff val="0"/>
                <a:satMod val="110000"/>
                <a:lumMod val="100000"/>
                <a:shade val="100000"/>
              </a:schemeClr>
            </a:gs>
            <a:gs pos="100000">
              <a:schemeClr val="accent2">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商业</a:t>
          </a:r>
        </a:p>
      </dsp:txBody>
      <dsp:txXfrm>
        <a:off x="2554213" y="2047013"/>
        <a:ext cx="526018" cy="526018"/>
      </dsp:txXfrm>
    </dsp:sp>
    <dsp:sp modelId="{2343D8A9-7AEC-4D40-8773-498EA64A78FE}">
      <dsp:nvSpPr>
        <dsp:cNvPr id="0" name=""/>
        <dsp:cNvSpPr/>
      </dsp:nvSpPr>
      <dsp:spPr>
        <a:xfrm>
          <a:off x="1760153" y="1654286"/>
          <a:ext cx="743902" cy="743902"/>
        </a:xfrm>
        <a:prstGeom prst="ellipse">
          <a:avLst/>
        </a:prstGeom>
        <a:gradFill rotWithShape="0">
          <a:gsLst>
            <a:gs pos="0">
              <a:schemeClr val="accent3">
                <a:alpha val="50000"/>
                <a:hueOff val="0"/>
                <a:satOff val="0"/>
                <a:lumOff val="0"/>
                <a:alphaOff val="0"/>
                <a:satMod val="103000"/>
                <a:lumMod val="102000"/>
                <a:tint val="94000"/>
              </a:schemeClr>
            </a:gs>
            <a:gs pos="50000">
              <a:schemeClr val="accent3">
                <a:alpha val="50000"/>
                <a:hueOff val="0"/>
                <a:satOff val="0"/>
                <a:lumOff val="0"/>
                <a:alphaOff val="0"/>
                <a:satMod val="110000"/>
                <a:lumMod val="100000"/>
                <a:shade val="100000"/>
              </a:schemeClr>
            </a:gs>
            <a:gs pos="100000">
              <a:schemeClr val="accent3">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交通</a:t>
          </a:r>
        </a:p>
      </dsp:txBody>
      <dsp:txXfrm>
        <a:off x="1869095" y="1763228"/>
        <a:ext cx="526018" cy="526018"/>
      </dsp:txXfrm>
    </dsp:sp>
    <dsp:sp modelId="{4B8ABBE8-E9C9-4F6B-9525-8C9A18414CDE}">
      <dsp:nvSpPr>
        <dsp:cNvPr id="0" name=""/>
        <dsp:cNvSpPr/>
      </dsp:nvSpPr>
      <dsp:spPr>
        <a:xfrm>
          <a:off x="1476368" y="969168"/>
          <a:ext cx="743902" cy="743902"/>
        </a:xfrm>
        <a:prstGeom prst="ellipse">
          <a:avLst/>
        </a:prstGeom>
        <a:gradFill rotWithShape="0">
          <a:gsLst>
            <a:gs pos="0">
              <a:schemeClr val="accent4">
                <a:alpha val="50000"/>
                <a:hueOff val="0"/>
                <a:satOff val="0"/>
                <a:lumOff val="0"/>
                <a:alphaOff val="0"/>
                <a:satMod val="103000"/>
                <a:lumMod val="102000"/>
                <a:tint val="94000"/>
              </a:schemeClr>
            </a:gs>
            <a:gs pos="50000">
              <a:schemeClr val="accent4">
                <a:alpha val="50000"/>
                <a:hueOff val="0"/>
                <a:satOff val="0"/>
                <a:lumOff val="0"/>
                <a:alphaOff val="0"/>
                <a:satMod val="110000"/>
                <a:lumMod val="100000"/>
                <a:shade val="100000"/>
              </a:schemeClr>
            </a:gs>
            <a:gs pos="100000">
              <a:schemeClr val="accent4">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金融</a:t>
          </a:r>
          <a:endParaRPr lang="zh-CN" altLang="en-US" sz="1600" kern="1200" dirty="0"/>
        </a:p>
      </dsp:txBody>
      <dsp:txXfrm>
        <a:off x="1585310" y="1078110"/>
        <a:ext cx="526018" cy="526018"/>
      </dsp:txXfrm>
    </dsp:sp>
    <dsp:sp modelId="{C13D16A4-6F51-437B-A7BA-09AB4609C68B}">
      <dsp:nvSpPr>
        <dsp:cNvPr id="0" name=""/>
        <dsp:cNvSpPr/>
      </dsp:nvSpPr>
      <dsp:spPr>
        <a:xfrm>
          <a:off x="1760153" y="284050"/>
          <a:ext cx="743902" cy="743902"/>
        </a:xfrm>
        <a:prstGeom prst="ellipse">
          <a:avLst/>
        </a:prstGeom>
        <a:gradFill rotWithShape="0">
          <a:gsLst>
            <a:gs pos="0">
              <a:schemeClr val="accent5">
                <a:alpha val="50000"/>
                <a:hueOff val="0"/>
                <a:satOff val="0"/>
                <a:lumOff val="0"/>
                <a:alphaOff val="0"/>
                <a:satMod val="103000"/>
                <a:lumMod val="102000"/>
                <a:tint val="94000"/>
              </a:schemeClr>
            </a:gs>
            <a:gs pos="50000">
              <a:schemeClr val="accent5">
                <a:alpha val="50000"/>
                <a:hueOff val="0"/>
                <a:satOff val="0"/>
                <a:lumOff val="0"/>
                <a:alphaOff val="0"/>
                <a:satMod val="110000"/>
                <a:lumMod val="100000"/>
                <a:shade val="100000"/>
              </a:schemeClr>
            </a:gs>
            <a:gs pos="100000">
              <a:schemeClr val="accent5">
                <a:alpha val="50000"/>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0">
          <a:scrgbClr r="0" g="0" b="0"/>
        </a:effectRef>
        <a:fontRef idx="minor">
          <a:schemeClr val="tx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政务</a:t>
          </a:r>
        </a:p>
      </dsp:txBody>
      <dsp:txXfrm>
        <a:off x="1869095" y="392992"/>
        <a:ext cx="526018" cy="52601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7634DBF-D9F5-4E0A-9541-5A67CB150864}">
      <dsp:nvSpPr>
        <dsp:cNvPr id="0" name=""/>
        <dsp:cNvSpPr/>
      </dsp:nvSpPr>
      <dsp:spPr>
        <a:xfrm rot="10800000">
          <a:off x="1065947" y="540"/>
          <a:ext cx="3904528" cy="329904"/>
        </a:xfrm>
        <a:prstGeom prst="homePlat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传播病毒</a:t>
          </a:r>
        </a:p>
      </dsp:txBody>
      <dsp:txXfrm rot="10800000">
        <a:off x="1148423" y="540"/>
        <a:ext cx="3822052" cy="329904"/>
      </dsp:txXfrm>
    </dsp:sp>
    <dsp:sp modelId="{AB5BAA63-A84A-45D9-BE90-07814A821613}">
      <dsp:nvSpPr>
        <dsp:cNvPr id="0" name=""/>
        <dsp:cNvSpPr/>
      </dsp:nvSpPr>
      <dsp:spPr>
        <a:xfrm>
          <a:off x="900995" y="540"/>
          <a:ext cx="329904" cy="329904"/>
        </a:xfrm>
        <a:prstGeom prst="ellipse">
          <a:avLst/>
        </a:prstGeom>
        <a:blipFill>
          <a:blip xmlns:r="http://schemas.openxmlformats.org/officeDocument/2006/relationships" r:embed="rId1" cstate="print">
            <a:extLst>
              <a:ext uri="{28A0092B-C50C-407E-A947-70E740481C1C}">
                <a14:useLocalDpi xmlns:a14="http://schemas.microsoft.com/office/drawing/2010/main" val="0"/>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567C2-639F-4DB2-8F5D-E4A1F0FA8E3D}">
      <dsp:nvSpPr>
        <dsp:cNvPr id="0" name=""/>
        <dsp:cNvSpPr/>
      </dsp:nvSpPr>
      <dsp:spPr>
        <a:xfrm rot="10800000">
          <a:off x="1065947" y="428924"/>
          <a:ext cx="3904528" cy="329904"/>
        </a:xfrm>
        <a:prstGeom prst="homePlat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窃取：数据，钱财等</a:t>
          </a:r>
        </a:p>
      </dsp:txBody>
      <dsp:txXfrm rot="10800000">
        <a:off x="1148423" y="428924"/>
        <a:ext cx="3822052" cy="329904"/>
      </dsp:txXfrm>
    </dsp:sp>
    <dsp:sp modelId="{04B9F40C-275B-47DA-8505-BDB99315D1A6}">
      <dsp:nvSpPr>
        <dsp:cNvPr id="0" name=""/>
        <dsp:cNvSpPr/>
      </dsp:nvSpPr>
      <dsp:spPr>
        <a:xfrm>
          <a:off x="900995" y="428924"/>
          <a:ext cx="329904" cy="329904"/>
        </a:xfrm>
        <a:prstGeom prst="ellipse">
          <a:avLst/>
        </a:prstGeom>
        <a:blipFill>
          <a:blip xmlns:r="http://schemas.openxmlformats.org/officeDocument/2006/relationships" r:embed="rId2" cstate="print">
            <a:extLst>
              <a:ext uri="{28A0092B-C50C-407E-A947-70E740481C1C}">
                <a14:useLocalDpi xmlns:a14="http://schemas.microsoft.com/office/drawing/2010/main" val="0"/>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2459D94-7759-4D01-B95F-2FAC20F969A3}">
      <dsp:nvSpPr>
        <dsp:cNvPr id="0" name=""/>
        <dsp:cNvSpPr/>
      </dsp:nvSpPr>
      <dsp:spPr>
        <a:xfrm rot="10800000">
          <a:off x="1065947" y="857307"/>
          <a:ext cx="3904528" cy="329904"/>
        </a:xfrm>
        <a:prstGeom prst="homePlat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散布谣言</a:t>
          </a:r>
        </a:p>
      </dsp:txBody>
      <dsp:txXfrm rot="10800000">
        <a:off x="1148423" y="857307"/>
        <a:ext cx="3822052" cy="329904"/>
      </dsp:txXfrm>
    </dsp:sp>
    <dsp:sp modelId="{92DE488D-B3DE-493C-AC30-DA96AC1FFB62}">
      <dsp:nvSpPr>
        <dsp:cNvPr id="0" name=""/>
        <dsp:cNvSpPr/>
      </dsp:nvSpPr>
      <dsp:spPr>
        <a:xfrm>
          <a:off x="900995" y="857307"/>
          <a:ext cx="329904" cy="329904"/>
        </a:xfrm>
        <a:prstGeom prst="ellipse">
          <a:avLst/>
        </a:prstGeom>
        <a:blipFill>
          <a:blip xmlns:r="http://schemas.openxmlformats.org/officeDocument/2006/relationships" r:embed="rId3" cstate="print">
            <a:extLst>
              <a:ext uri="{28A0092B-C50C-407E-A947-70E740481C1C}">
                <a14:useLocalDpi xmlns:a14="http://schemas.microsoft.com/office/drawing/2010/main" val="0"/>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B7E7170-F4B7-4B0B-9000-4BF0206D9353}">
      <dsp:nvSpPr>
        <dsp:cNvPr id="0" name=""/>
        <dsp:cNvSpPr/>
      </dsp:nvSpPr>
      <dsp:spPr>
        <a:xfrm rot="10800000">
          <a:off x="1065947" y="1285691"/>
          <a:ext cx="3904528" cy="329904"/>
        </a:xfrm>
        <a:prstGeom prst="homePlat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不良信息</a:t>
          </a:r>
        </a:p>
      </dsp:txBody>
      <dsp:txXfrm rot="10800000">
        <a:off x="1148423" y="1285691"/>
        <a:ext cx="3822052" cy="329904"/>
      </dsp:txXfrm>
    </dsp:sp>
    <dsp:sp modelId="{A6F09614-1B57-44CB-B907-F8E2D46EFEED}">
      <dsp:nvSpPr>
        <dsp:cNvPr id="0" name=""/>
        <dsp:cNvSpPr/>
      </dsp:nvSpPr>
      <dsp:spPr>
        <a:xfrm>
          <a:off x="900995" y="1285691"/>
          <a:ext cx="329904" cy="329904"/>
        </a:xfrm>
        <a:prstGeom prst="ellipse">
          <a:avLst/>
        </a:prstGeom>
        <a:blipFill>
          <a:blip xmlns:r="http://schemas.openxmlformats.org/officeDocument/2006/relationships" r:embed="rId4" cstate="print">
            <a:extLst>
              <a:ext uri="{28A0092B-C50C-407E-A947-70E740481C1C}">
                <a14:useLocalDpi xmlns:a14="http://schemas.microsoft.com/office/drawing/2010/main" val="0"/>
              </a:ext>
            </a:extLst>
          </a:blip>
          <a:srcRect/>
          <a:stretch>
            <a:fillRect l="-39000" r="-3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B6737C-F129-4379-AF97-7E098CF82549}">
      <dsp:nvSpPr>
        <dsp:cNvPr id="0" name=""/>
        <dsp:cNvSpPr/>
      </dsp:nvSpPr>
      <dsp:spPr>
        <a:xfrm rot="10800000">
          <a:off x="1065947" y="1714075"/>
          <a:ext cx="3904528" cy="329904"/>
        </a:xfrm>
        <a:prstGeom prst="homePlat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欺诈</a:t>
          </a:r>
        </a:p>
      </dsp:txBody>
      <dsp:txXfrm rot="10800000">
        <a:off x="1148423" y="1714075"/>
        <a:ext cx="3822052" cy="329904"/>
      </dsp:txXfrm>
    </dsp:sp>
    <dsp:sp modelId="{D61B7255-D308-44FB-979B-BD5549502A3A}">
      <dsp:nvSpPr>
        <dsp:cNvPr id="0" name=""/>
        <dsp:cNvSpPr/>
      </dsp:nvSpPr>
      <dsp:spPr>
        <a:xfrm>
          <a:off x="900995" y="1714075"/>
          <a:ext cx="329904" cy="329904"/>
        </a:xfrm>
        <a:prstGeom prst="ellipse">
          <a:avLst/>
        </a:prstGeom>
        <a:blipFill>
          <a:blip xmlns:r="http://schemas.openxmlformats.org/officeDocument/2006/relationships" r:embed="rId5" cstate="print">
            <a:extLst>
              <a:ext uri="{28A0092B-C50C-407E-A947-70E740481C1C}">
                <a14:useLocalDpi xmlns:a14="http://schemas.microsoft.com/office/drawing/2010/main" val="0"/>
              </a:ext>
            </a:extLst>
          </a:blip>
          <a:srcRect/>
          <a:stretch>
            <a:fillRect l="-23000" r="-2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2B48CE5-911D-44D5-AFA1-377112EF11A6}">
      <dsp:nvSpPr>
        <dsp:cNvPr id="0" name=""/>
        <dsp:cNvSpPr/>
      </dsp:nvSpPr>
      <dsp:spPr>
        <a:xfrm rot="10800000">
          <a:off x="1065947" y="2142459"/>
          <a:ext cx="3904528" cy="329904"/>
        </a:xfrm>
        <a:prstGeom prst="homePlat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solidFill>
                <a:schemeClr val="tx1"/>
              </a:solidFill>
              <a:latin typeface="微软雅黑" panose="020B0503020204020204" pitchFamily="34" charset="-122"/>
              <a:ea typeface="微软雅黑" panose="020B0503020204020204" pitchFamily="34" charset="-122"/>
            </a:rPr>
            <a:t>网瘾</a:t>
          </a:r>
        </a:p>
      </dsp:txBody>
      <dsp:txXfrm rot="10800000">
        <a:off x="1148423" y="2142459"/>
        <a:ext cx="3822052" cy="329904"/>
      </dsp:txXfrm>
    </dsp:sp>
    <dsp:sp modelId="{9BF7EE4E-012F-4DF5-B272-EAA79ECA8C75}">
      <dsp:nvSpPr>
        <dsp:cNvPr id="0" name=""/>
        <dsp:cNvSpPr/>
      </dsp:nvSpPr>
      <dsp:spPr>
        <a:xfrm>
          <a:off x="900995" y="2142459"/>
          <a:ext cx="329904" cy="329904"/>
        </a:xfrm>
        <a:prstGeom prst="ellipse">
          <a:avLst/>
        </a:prstGeom>
        <a:blipFill>
          <a:blip xmlns:r="http://schemas.openxmlformats.org/officeDocument/2006/relationships" r:embed="rId6" cstate="print">
            <a:extLst>
              <a:ext uri="{28A0092B-C50C-407E-A947-70E740481C1C}">
                <a14:useLocalDpi xmlns:a14="http://schemas.microsoft.com/office/drawing/2010/main" val="0"/>
              </a:ext>
            </a:extLst>
          </a:blip>
          <a:srcRect/>
          <a:stretch>
            <a:fillRect l="-29000" r="-2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B384311-3D9B-45D7-AAED-45272C0B16D1}">
      <dsp:nvSpPr>
        <dsp:cNvPr id="0" name=""/>
        <dsp:cNvSpPr/>
      </dsp:nvSpPr>
      <dsp:spPr>
        <a:xfrm rot="10800000">
          <a:off x="1065947" y="2570843"/>
          <a:ext cx="3904528" cy="329904"/>
        </a:xfrm>
        <a:prstGeom prst="homePlat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5479" tIns="60960" rIns="113792" bIns="60960" numCol="1" spcCol="1270" anchor="ctr" anchorCtr="0">
          <a:noAutofit/>
        </a:bodyPr>
        <a:lstStyle/>
        <a:p>
          <a:pPr marL="0" lvl="0" indent="0" algn="l" defTabSz="711200">
            <a:lnSpc>
              <a:spcPct val="90000"/>
            </a:lnSpc>
            <a:spcBef>
              <a:spcPct val="0"/>
            </a:spcBef>
            <a:spcAft>
              <a:spcPct val="35000"/>
            </a:spcAft>
            <a:buNone/>
          </a:pPr>
          <a:r>
            <a:rPr lang="en-US" altLang="zh-CN" sz="1600" b="1" kern="1200">
              <a:solidFill>
                <a:schemeClr val="tx1"/>
              </a:solidFill>
              <a:latin typeface="微软雅黑" panose="020B0503020204020204" pitchFamily="34" charset="-122"/>
              <a:ea typeface="微软雅黑" panose="020B0503020204020204" pitchFamily="34" charset="-122"/>
            </a:rPr>
            <a:t>……</a:t>
          </a:r>
          <a:endParaRPr lang="zh-CN" altLang="en-US" sz="1600" b="1" kern="1200" dirty="0">
            <a:solidFill>
              <a:schemeClr val="tx1"/>
            </a:solidFill>
            <a:latin typeface="微软雅黑" panose="020B0503020204020204" pitchFamily="34" charset="-122"/>
            <a:ea typeface="微软雅黑" panose="020B0503020204020204" pitchFamily="34" charset="-122"/>
          </a:endParaRPr>
        </a:p>
      </dsp:txBody>
      <dsp:txXfrm rot="10800000">
        <a:off x="1148423" y="2570843"/>
        <a:ext cx="3822052" cy="329904"/>
      </dsp:txXfrm>
    </dsp:sp>
    <dsp:sp modelId="{4737311F-297D-4E95-B8C4-5619F0D22DF2}">
      <dsp:nvSpPr>
        <dsp:cNvPr id="0" name=""/>
        <dsp:cNvSpPr/>
      </dsp:nvSpPr>
      <dsp:spPr>
        <a:xfrm>
          <a:off x="900995" y="2570843"/>
          <a:ext cx="329904" cy="329904"/>
        </a:xfrm>
        <a:prstGeom prst="ellipse">
          <a:avLst/>
        </a:prstGeom>
        <a:solidFill>
          <a:schemeClr val="accent3">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1723FB-FD44-4790-9882-F784D01504C2}">
      <dsp:nvSpPr>
        <dsp:cNvPr id="0" name=""/>
        <dsp:cNvSpPr/>
      </dsp:nvSpPr>
      <dsp:spPr>
        <a:xfrm rot="5400000">
          <a:off x="892970" y="214491"/>
          <a:ext cx="928252" cy="2711653"/>
        </a:xfrm>
        <a:prstGeom prst="corner">
          <a:avLst>
            <a:gd name="adj1" fmla="val 16120"/>
            <a:gd name="adj2" fmla="val 16110"/>
          </a:avLst>
        </a:prstGeom>
        <a:gradFill rotWithShape="0">
          <a:gsLst>
            <a:gs pos="0">
              <a:schemeClr val="accent2">
                <a:hueOff val="0"/>
                <a:satOff val="0"/>
                <a:lumOff val="0"/>
                <a:alphaOff val="0"/>
                <a:lumMod val="110000"/>
                <a:satMod val="105000"/>
                <a:tint val="67000"/>
              </a:schemeClr>
            </a:gs>
            <a:gs pos="50000">
              <a:schemeClr val="accent2">
                <a:hueOff val="0"/>
                <a:satOff val="0"/>
                <a:lumOff val="0"/>
                <a:alphaOff val="0"/>
                <a:lumMod val="105000"/>
                <a:satMod val="103000"/>
                <a:tint val="73000"/>
              </a:schemeClr>
            </a:gs>
            <a:gs pos="100000">
              <a:schemeClr val="accent2">
                <a:hueOff val="0"/>
                <a:satOff val="0"/>
                <a:lumOff val="0"/>
                <a:alphaOff val="0"/>
                <a:lumMod val="105000"/>
                <a:satMod val="109000"/>
                <a:tint val="81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9606A409-0386-4958-AF71-520045418D02}">
      <dsp:nvSpPr>
        <dsp:cNvPr id="0" name=""/>
        <dsp:cNvSpPr/>
      </dsp:nvSpPr>
      <dsp:spPr>
        <a:xfrm>
          <a:off x="190854" y="1259522"/>
          <a:ext cx="2488800"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1969 – 1990</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从单个网络 </a:t>
          </a:r>
          <a:r>
            <a:rPr lang="en-US" altLang="en-US" sz="1800" b="1" kern="1200" dirty="0">
              <a:latin typeface="微软雅黑" panose="020B0503020204020204" pitchFamily="34" charset="-122"/>
              <a:ea typeface="微软雅黑" panose="020B0503020204020204" pitchFamily="34" charset="-122"/>
            </a:rPr>
            <a:t>ARPANET </a:t>
          </a:r>
          <a:r>
            <a:rPr lang="zh-CN" altLang="en-US" sz="1800" b="1" kern="1200" dirty="0">
              <a:latin typeface="微软雅黑" panose="020B0503020204020204" pitchFamily="34" charset="-122"/>
              <a:ea typeface="微软雅黑" panose="020B0503020204020204" pitchFamily="34" charset="-122"/>
            </a:rPr>
            <a:t>向互联网发展。</a:t>
          </a:r>
        </a:p>
      </dsp:txBody>
      <dsp:txXfrm>
        <a:off x="190854" y="1259522"/>
        <a:ext cx="2488800" cy="1222330"/>
      </dsp:txXfrm>
    </dsp:sp>
    <dsp:sp modelId="{01A2BA42-237A-44CF-A211-45BD14932625}">
      <dsp:nvSpPr>
        <dsp:cNvPr id="0" name=""/>
        <dsp:cNvSpPr/>
      </dsp:nvSpPr>
      <dsp:spPr>
        <a:xfrm>
          <a:off x="1869380" y="684308"/>
          <a:ext cx="263106" cy="263106"/>
        </a:xfrm>
        <a:prstGeom prst="triangle">
          <a:avLst>
            <a:gd name="adj" fmla="val 100000"/>
          </a:avLst>
        </a:prstGeom>
        <a:gradFill rotWithShape="0">
          <a:gsLst>
            <a:gs pos="0">
              <a:schemeClr val="accent3">
                <a:hueOff val="0"/>
                <a:satOff val="0"/>
                <a:lumOff val="0"/>
                <a:alphaOff val="0"/>
                <a:lumMod val="110000"/>
                <a:satMod val="105000"/>
                <a:tint val="67000"/>
              </a:schemeClr>
            </a:gs>
            <a:gs pos="50000">
              <a:schemeClr val="accent3">
                <a:hueOff val="0"/>
                <a:satOff val="0"/>
                <a:lumOff val="0"/>
                <a:alphaOff val="0"/>
                <a:lumMod val="105000"/>
                <a:satMod val="103000"/>
                <a:tint val="73000"/>
              </a:schemeClr>
            </a:gs>
            <a:gs pos="100000">
              <a:schemeClr val="accent3">
                <a:hueOff val="0"/>
                <a:satOff val="0"/>
                <a:lumOff val="0"/>
                <a:alphaOff val="0"/>
                <a:lumMod val="105000"/>
                <a:satMod val="109000"/>
                <a:tint val="81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5D091C1B-882C-4A2B-868D-15AB708D584F}">
      <dsp:nvSpPr>
        <dsp:cNvPr id="0" name=""/>
        <dsp:cNvSpPr/>
      </dsp:nvSpPr>
      <dsp:spPr>
        <a:xfrm rot="5400000">
          <a:off x="3739067" y="-182963"/>
          <a:ext cx="928252" cy="2661716"/>
        </a:xfrm>
        <a:prstGeom prst="corner">
          <a:avLst>
            <a:gd name="adj1" fmla="val 16120"/>
            <a:gd name="adj2" fmla="val 16110"/>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5DD1E37C-EDC3-41F4-891E-775C4AA49DFB}">
      <dsp:nvSpPr>
        <dsp:cNvPr id="0" name=""/>
        <dsp:cNvSpPr/>
      </dsp:nvSpPr>
      <dsp:spPr>
        <a:xfrm>
          <a:off x="3061382" y="837099"/>
          <a:ext cx="2178503"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1985 – 1993</a:t>
          </a:r>
        </a:p>
        <a:p>
          <a:pPr marL="0" lvl="0" indent="0" algn="l" defTabSz="800100">
            <a:lnSpc>
              <a:spcPts val="28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建成了三级结构的互联网 。</a:t>
          </a:r>
        </a:p>
      </dsp:txBody>
      <dsp:txXfrm>
        <a:off x="3061382" y="837099"/>
        <a:ext cx="2178503" cy="1222330"/>
      </dsp:txXfrm>
    </dsp:sp>
    <dsp:sp modelId="{2D8632D6-57D5-4C06-81CE-104155293B86}">
      <dsp:nvSpPr>
        <dsp:cNvPr id="0" name=""/>
        <dsp:cNvSpPr/>
      </dsp:nvSpPr>
      <dsp:spPr>
        <a:xfrm>
          <a:off x="4715477" y="261884"/>
          <a:ext cx="263106" cy="263106"/>
        </a:xfrm>
        <a:prstGeom prst="triangle">
          <a:avLst>
            <a:gd name="adj" fmla="val 100000"/>
          </a:avLst>
        </a:prstGeom>
        <a:gradFill rotWithShape="0">
          <a:gsLst>
            <a:gs pos="0">
              <a:schemeClr val="accent5">
                <a:hueOff val="0"/>
                <a:satOff val="0"/>
                <a:lumOff val="0"/>
                <a:alphaOff val="0"/>
                <a:lumMod val="110000"/>
                <a:satMod val="105000"/>
                <a:tint val="67000"/>
              </a:schemeClr>
            </a:gs>
            <a:gs pos="50000">
              <a:schemeClr val="accent5">
                <a:hueOff val="0"/>
                <a:satOff val="0"/>
                <a:lumOff val="0"/>
                <a:alphaOff val="0"/>
                <a:lumMod val="105000"/>
                <a:satMod val="103000"/>
                <a:tint val="73000"/>
              </a:schemeClr>
            </a:gs>
            <a:gs pos="100000">
              <a:schemeClr val="accent5">
                <a:hueOff val="0"/>
                <a:satOff val="0"/>
                <a:lumOff val="0"/>
                <a:alphaOff val="0"/>
                <a:lumMod val="105000"/>
                <a:satMod val="109000"/>
                <a:tint val="81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0B75B0BF-1D47-48F1-94FD-0201A392E554}">
      <dsp:nvSpPr>
        <dsp:cNvPr id="0" name=""/>
        <dsp:cNvSpPr/>
      </dsp:nvSpPr>
      <dsp:spPr>
        <a:xfrm rot="5400000">
          <a:off x="6402878" y="-398133"/>
          <a:ext cx="928252" cy="2247210"/>
        </a:xfrm>
        <a:prstGeom prst="corner">
          <a:avLst>
            <a:gd name="adj1" fmla="val 16120"/>
            <a:gd name="adj2" fmla="val 16110"/>
          </a:avLst>
        </a:prstGeom>
        <a:gradFill rotWithShape="0">
          <a:gsLst>
            <a:gs pos="0">
              <a:schemeClr val="accent6">
                <a:hueOff val="0"/>
                <a:satOff val="0"/>
                <a:lumOff val="0"/>
                <a:alphaOff val="0"/>
                <a:lumMod val="110000"/>
                <a:satMod val="105000"/>
                <a:tint val="67000"/>
              </a:schemeClr>
            </a:gs>
            <a:gs pos="50000">
              <a:schemeClr val="accent6">
                <a:hueOff val="0"/>
                <a:satOff val="0"/>
                <a:lumOff val="0"/>
                <a:alphaOff val="0"/>
                <a:lumMod val="105000"/>
                <a:satMod val="103000"/>
                <a:tint val="73000"/>
              </a:schemeClr>
            </a:gs>
            <a:gs pos="100000">
              <a:schemeClr val="accent6">
                <a:hueOff val="0"/>
                <a:satOff val="0"/>
                <a:lumOff val="0"/>
                <a:alphaOff val="0"/>
                <a:lumMod val="105000"/>
                <a:satMod val="109000"/>
                <a:tint val="81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2">
          <a:scrgbClr r="0" g="0" b="0"/>
        </a:fillRef>
        <a:effectRef idx="1">
          <a:scrgbClr r="0" g="0" b="0"/>
        </a:effectRef>
        <a:fontRef idx="minor">
          <a:schemeClr val="dk1"/>
        </a:fontRef>
      </dsp:style>
    </dsp:sp>
    <dsp:sp modelId="{F0C4A08D-D529-4101-B85D-56E13A637234}">
      <dsp:nvSpPr>
        <dsp:cNvPr id="0" name=""/>
        <dsp:cNvSpPr/>
      </dsp:nvSpPr>
      <dsp:spPr>
        <a:xfrm>
          <a:off x="5938101" y="414676"/>
          <a:ext cx="2014124" cy="1222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t" anchorCtr="0">
          <a:noAutofit/>
        </a:bodyPr>
        <a:lstStyle/>
        <a:p>
          <a:pPr marL="0" lvl="0" indent="0" algn="l" defTabSz="800100">
            <a:lnSpc>
              <a:spcPts val="2800"/>
            </a:lnSpc>
            <a:spcBef>
              <a:spcPct val="0"/>
            </a:spcBef>
            <a:spcAft>
              <a:spcPts val="0"/>
            </a:spcAft>
            <a:buNone/>
          </a:pPr>
          <a:r>
            <a:rPr lang="en-US" altLang="en-US" sz="1800" b="1" kern="1200" dirty="0">
              <a:solidFill>
                <a:srgbClr val="CC00CC"/>
              </a:solidFill>
              <a:latin typeface="微软雅黑" panose="020B0503020204020204" pitchFamily="34" charset="-122"/>
              <a:ea typeface="微软雅黑" panose="020B0503020204020204" pitchFamily="34" charset="-122"/>
            </a:rPr>
            <a:t>1993 –</a:t>
          </a:r>
          <a:r>
            <a:rPr lang="en-US" altLang="zh-CN" sz="1800" b="1" kern="1200" dirty="0">
              <a:solidFill>
                <a:srgbClr val="CC00CC"/>
              </a:solidFill>
              <a:latin typeface="微软雅黑" panose="020B0503020204020204" pitchFamily="34" charset="-122"/>
              <a:ea typeface="微软雅黑" panose="020B0503020204020204" pitchFamily="34" charset="-122"/>
            </a:rPr>
            <a:t> </a:t>
          </a:r>
          <a:r>
            <a:rPr lang="zh-CN" altLang="en-US" sz="1800" b="1" kern="1200" dirty="0">
              <a:solidFill>
                <a:srgbClr val="CC00CC"/>
              </a:solidFill>
              <a:latin typeface="微软雅黑" panose="020B0503020204020204" pitchFamily="34" charset="-122"/>
              <a:ea typeface="微软雅黑" panose="020B0503020204020204" pitchFamily="34" charset="-122"/>
            </a:rPr>
            <a:t>现在</a:t>
          </a:r>
          <a:endParaRPr lang="en-US" altLang="zh-CN" sz="1800" b="1" kern="1200" dirty="0">
            <a:solidFill>
              <a:srgbClr val="CC00CC"/>
            </a:solidFill>
            <a:latin typeface="微软雅黑" panose="020B0503020204020204" pitchFamily="34" charset="-122"/>
            <a:ea typeface="微软雅黑" panose="020B0503020204020204" pitchFamily="34" charset="-122"/>
          </a:endParaRPr>
        </a:p>
        <a:p>
          <a:pPr marL="0" lvl="0" indent="0" algn="l" defTabSz="800100">
            <a:lnSpc>
              <a:spcPts val="2800"/>
            </a:lnSpc>
            <a:spcBef>
              <a:spcPct val="0"/>
            </a:spcBef>
            <a:spcAft>
              <a:spcPts val="0"/>
            </a:spcAft>
            <a:buNone/>
          </a:pPr>
          <a:r>
            <a:rPr lang="zh-CN" altLang="zh-CN" sz="1800" b="1" kern="1200" dirty="0">
              <a:latin typeface="微软雅黑" panose="020B0503020204020204" pitchFamily="34" charset="-122"/>
              <a:ea typeface="微软雅黑" panose="020B0503020204020204" pitchFamily="34" charset="-122"/>
            </a:rPr>
            <a:t>全球范围的多层次</a:t>
          </a:r>
          <a:r>
            <a:rPr lang="en-US" altLang="zh-CN" sz="1800" b="1" kern="1200" dirty="0">
              <a:latin typeface="微软雅黑" panose="020B0503020204020204" pitchFamily="34" charset="-122"/>
              <a:ea typeface="微软雅黑" panose="020B0503020204020204" pitchFamily="34" charset="-122"/>
            </a:rPr>
            <a:t> ISP </a:t>
          </a:r>
          <a:r>
            <a:rPr lang="zh-CN" altLang="zh-CN" sz="1800" b="1" kern="1200" dirty="0">
              <a:latin typeface="微软雅黑" panose="020B0503020204020204" pitchFamily="34" charset="-122"/>
              <a:ea typeface="微软雅黑" panose="020B0503020204020204" pitchFamily="34" charset="-122"/>
            </a:rPr>
            <a:t>结构的互联网。</a:t>
          </a:r>
          <a:endParaRPr lang="zh-CN" altLang="en-US" sz="1800" b="1" kern="1200" dirty="0">
            <a:latin typeface="微软雅黑" panose="020B0503020204020204" pitchFamily="34" charset="-122"/>
            <a:ea typeface="微软雅黑" panose="020B0503020204020204" pitchFamily="34" charset="-122"/>
          </a:endParaRPr>
        </a:p>
      </dsp:txBody>
      <dsp:txXfrm>
        <a:off x="5938101" y="414676"/>
        <a:ext cx="2014124" cy="122233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17F835-55F0-4C61-A2A3-44AE2ED9D7FE}">
      <dsp:nvSpPr>
        <dsp:cNvPr id="0" name=""/>
        <dsp:cNvSpPr/>
      </dsp:nvSpPr>
      <dsp:spPr>
        <a:xfrm>
          <a:off x="32" y="5399"/>
          <a:ext cx="3092733" cy="720000"/>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客户</a:t>
          </a:r>
          <a:r>
            <a:rPr lang="en-US" altLang="zh-CN" sz="1800" b="1" kern="1200" dirty="0">
              <a:latin typeface="微软雅黑" panose="020B0503020204020204" pitchFamily="34" charset="-122"/>
              <a:ea typeface="微软雅黑" panose="020B0503020204020204" pitchFamily="34" charset="-122"/>
            </a:rPr>
            <a:t>/</a:t>
          </a:r>
          <a:r>
            <a:rPr lang="zh-CN" altLang="en-US" sz="1800" b="1" kern="1200" dirty="0">
              <a:latin typeface="微软雅黑" panose="020B0503020204020204" pitchFamily="34" charset="-122"/>
              <a:ea typeface="微软雅黑" panose="020B0503020204020204" pitchFamily="34" charset="-122"/>
            </a:rPr>
            <a:t>服务器方式</a:t>
          </a:r>
          <a:endParaRPr lang="en-US" altLang="zh-CN" sz="1800" b="1" kern="1200" dirty="0">
            <a:latin typeface="微软雅黑" panose="020B0503020204020204" pitchFamily="34" charset="-122"/>
            <a:ea typeface="微软雅黑" panose="020B0503020204020204" pitchFamily="34" charset="-122"/>
          </a:endParaRPr>
        </a:p>
      </dsp:txBody>
      <dsp:txXfrm>
        <a:off x="32" y="5399"/>
        <a:ext cx="3092733" cy="720000"/>
      </dsp:txXfrm>
    </dsp:sp>
    <dsp:sp modelId="{ACB976F2-8BF8-4A70-91C5-C91BC345A4AF}">
      <dsp:nvSpPr>
        <dsp:cNvPr id="0" name=""/>
        <dsp:cNvSpPr/>
      </dsp:nvSpPr>
      <dsp:spPr>
        <a:xfrm>
          <a:off x="32" y="725399"/>
          <a:ext cx="3092733" cy="1098000"/>
        </a:xfrm>
        <a:prstGeom prst="rect">
          <a:avLst/>
        </a:prstGeom>
        <a:solidFill>
          <a:schemeClr val="accent5">
            <a:tint val="40000"/>
            <a:alpha val="90000"/>
            <a:hueOff val="0"/>
            <a:satOff val="0"/>
            <a:lumOff val="0"/>
            <a:alphaOff val="0"/>
          </a:schemeClr>
        </a:solidFill>
        <a:ln w="6350" cap="flat" cmpd="sng" algn="ctr">
          <a:solidFill>
            <a:schemeClr val="accent5">
              <a:tint val="40000"/>
              <a:alpha val="90000"/>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Client / Server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C/S </a:t>
          </a:r>
          <a:r>
            <a:rPr lang="zh-CN" altLang="en-US" sz="1800" b="1" kern="1200" dirty="0">
              <a:latin typeface="微软雅黑" panose="020B0503020204020204" pitchFamily="34" charset="-122"/>
              <a:ea typeface="微软雅黑" panose="020B0503020204020204" pitchFamily="34" charset="-122"/>
            </a:rPr>
            <a:t>方式</a:t>
          </a:r>
        </a:p>
      </dsp:txBody>
      <dsp:txXfrm>
        <a:off x="32" y="725399"/>
        <a:ext cx="3092733" cy="1098000"/>
      </dsp:txXfrm>
    </dsp:sp>
    <dsp:sp modelId="{FD082DEC-BD21-4E00-AA12-CC0ED5CBCB32}">
      <dsp:nvSpPr>
        <dsp:cNvPr id="0" name=""/>
        <dsp:cNvSpPr/>
      </dsp:nvSpPr>
      <dsp:spPr>
        <a:xfrm>
          <a:off x="3525748" y="5399"/>
          <a:ext cx="3092733" cy="720000"/>
        </a:xfrm>
        <a:prstGeom prst="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w="6350" cap="flat" cmpd="sng" algn="ctr">
          <a:solidFill>
            <a:schemeClr val="accent5">
              <a:hueOff val="-6758543"/>
              <a:satOff val="-17419"/>
              <a:lumOff val="-11765"/>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10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对等方式</a:t>
          </a:r>
          <a:endParaRPr lang="en-US" altLang="zh-CN" sz="1800" b="1" kern="1200" dirty="0">
            <a:latin typeface="微软雅黑" panose="020B0503020204020204" pitchFamily="34" charset="-122"/>
            <a:ea typeface="微软雅黑" panose="020B0503020204020204" pitchFamily="34" charset="-122"/>
          </a:endParaRPr>
        </a:p>
      </dsp:txBody>
      <dsp:txXfrm>
        <a:off x="3525748" y="5399"/>
        <a:ext cx="3092733" cy="720000"/>
      </dsp:txXfrm>
    </dsp:sp>
    <dsp:sp modelId="{B62719DE-8DA5-4764-8561-2A4AB2C96331}">
      <dsp:nvSpPr>
        <dsp:cNvPr id="0" name=""/>
        <dsp:cNvSpPr/>
      </dsp:nvSpPr>
      <dsp:spPr>
        <a:xfrm>
          <a:off x="3525748" y="725399"/>
          <a:ext cx="3092733" cy="1098000"/>
        </a:xfrm>
        <a:prstGeom prst="rect">
          <a:avLst/>
        </a:prstGeom>
        <a:solidFill>
          <a:schemeClr val="accent5">
            <a:tint val="40000"/>
            <a:alpha val="90000"/>
            <a:hueOff val="-6739762"/>
            <a:satOff val="-22832"/>
            <a:lumOff val="-2928"/>
            <a:alphaOff val="0"/>
          </a:schemeClr>
        </a:solidFill>
        <a:ln w="6350" cap="flat" cmpd="sng" algn="ctr">
          <a:solidFill>
            <a:schemeClr val="accent5">
              <a:tint val="40000"/>
              <a:alpha val="90000"/>
              <a:hueOff val="-6739762"/>
              <a:satOff val="-22832"/>
              <a:lumOff val="-29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Peer to Peer </a:t>
          </a:r>
          <a:r>
            <a:rPr lang="zh-CN" altLang="en-US" sz="1800" b="1" kern="1200" dirty="0">
              <a:latin typeface="微软雅黑" panose="020B0503020204020204" pitchFamily="34" charset="-122"/>
              <a:ea typeface="微软雅黑" panose="020B0503020204020204" pitchFamily="34" charset="-122"/>
            </a:rPr>
            <a:t>方式</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简称为 </a:t>
          </a:r>
          <a:r>
            <a:rPr lang="en-US" altLang="en-US" sz="1800" b="1" kern="1200" dirty="0">
              <a:latin typeface="微软雅黑" panose="020B0503020204020204" pitchFamily="34" charset="-122"/>
              <a:ea typeface="微软雅黑" panose="020B0503020204020204" pitchFamily="34" charset="-122"/>
            </a:rPr>
            <a:t>P2P </a:t>
          </a:r>
          <a:r>
            <a:rPr lang="zh-CN" altLang="en-US" sz="1800" b="1" kern="1200" dirty="0">
              <a:latin typeface="微软雅黑" panose="020B0503020204020204" pitchFamily="34" charset="-122"/>
              <a:ea typeface="微软雅黑" panose="020B0503020204020204" pitchFamily="34" charset="-122"/>
            </a:rPr>
            <a:t>方式</a:t>
          </a:r>
        </a:p>
      </dsp:txBody>
      <dsp:txXfrm>
        <a:off x="3525748" y="725399"/>
        <a:ext cx="3092733" cy="10980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AB91ED-304D-4E30-917D-DB8A5D6E9F4E}">
      <dsp:nvSpPr>
        <dsp:cNvPr id="0" name=""/>
        <dsp:cNvSpPr/>
      </dsp:nvSpPr>
      <dsp:spPr>
        <a:xfrm>
          <a:off x="2262053" y="1042101"/>
          <a:ext cx="1189624" cy="1189616"/>
        </a:xfrm>
        <a:prstGeom prst="ellips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重要性能指标</a:t>
          </a:r>
        </a:p>
      </dsp:txBody>
      <dsp:txXfrm>
        <a:off x="2436269" y="1216316"/>
        <a:ext cx="841192" cy="841186"/>
      </dsp:txXfrm>
    </dsp:sp>
    <dsp:sp modelId="{C041081D-BE3D-40E6-B560-6CCAEF685BB2}">
      <dsp:nvSpPr>
        <dsp:cNvPr id="0" name=""/>
        <dsp:cNvSpPr/>
      </dsp:nvSpPr>
      <dsp:spPr>
        <a:xfrm rot="16200000">
          <a:off x="2746112" y="918472"/>
          <a:ext cx="221506" cy="25751"/>
        </a:xfrm>
        <a:custGeom>
          <a:avLst/>
          <a:gdLst/>
          <a:ahLst/>
          <a:cxnLst/>
          <a:rect l="0" t="0" r="0" b="0"/>
          <a:pathLst>
            <a:path>
              <a:moveTo>
                <a:pt x="0" y="12875"/>
              </a:moveTo>
              <a:lnTo>
                <a:pt x="221506"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2851327" y="925810"/>
        <a:ext cx="11075" cy="11075"/>
      </dsp:txXfrm>
    </dsp:sp>
    <dsp:sp modelId="{402F23A3-1405-4E62-9B6B-1BAD6AF3B058}">
      <dsp:nvSpPr>
        <dsp:cNvPr id="0" name=""/>
        <dsp:cNvSpPr/>
      </dsp:nvSpPr>
      <dsp:spPr>
        <a:xfrm>
          <a:off x="2448144" y="3152"/>
          <a:ext cx="817442" cy="817442"/>
        </a:xfrm>
        <a:prstGeom prst="ellips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速率</a:t>
          </a:r>
        </a:p>
      </dsp:txBody>
      <dsp:txXfrm>
        <a:off x="2567856" y="122864"/>
        <a:ext cx="578018" cy="578018"/>
      </dsp:txXfrm>
    </dsp:sp>
    <dsp:sp modelId="{1A688BA9-9980-46CE-92DD-5B540F6B173C}">
      <dsp:nvSpPr>
        <dsp:cNvPr id="0" name=""/>
        <dsp:cNvSpPr/>
      </dsp:nvSpPr>
      <dsp:spPr>
        <a:xfrm rot="19285714">
          <a:off x="3297744" y="1184122"/>
          <a:ext cx="221503" cy="25751"/>
        </a:xfrm>
        <a:custGeom>
          <a:avLst/>
          <a:gdLst/>
          <a:ahLst/>
          <a:cxnLst/>
          <a:rect l="0" t="0" r="0" b="0"/>
          <a:pathLst>
            <a:path>
              <a:moveTo>
                <a:pt x="0" y="12875"/>
              </a:moveTo>
              <a:lnTo>
                <a:pt x="221503"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177800">
            <a:lnSpc>
              <a:spcPct val="80000"/>
            </a:lnSpc>
            <a:spcBef>
              <a:spcPts val="0"/>
            </a:spcBef>
            <a:spcAft>
              <a:spcPts val="0"/>
            </a:spcAft>
            <a:buNone/>
          </a:pPr>
          <a:endParaRPr lang="zh-CN" altLang="en-US" sz="400" kern="1200"/>
        </a:p>
      </dsp:txBody>
      <dsp:txXfrm>
        <a:off x="3402958" y="1191461"/>
        <a:ext cx="11075" cy="11075"/>
      </dsp:txXfrm>
    </dsp:sp>
    <dsp:sp modelId="{9EB9B65F-4393-4612-9918-4B6EE32BE2B5}">
      <dsp:nvSpPr>
        <dsp:cNvPr id="0" name=""/>
        <dsp:cNvSpPr/>
      </dsp:nvSpPr>
      <dsp:spPr>
        <a:xfrm>
          <a:off x="3405915" y="464391"/>
          <a:ext cx="817442" cy="817442"/>
        </a:xfrm>
        <a:prstGeom prst="ellipse">
          <a:avLst/>
        </a:prstGeom>
        <a:gradFill rotWithShape="0">
          <a:gsLst>
            <a:gs pos="0">
              <a:schemeClr val="accent3">
                <a:hueOff val="451767"/>
                <a:satOff val="16667"/>
                <a:lumOff val="-2451"/>
                <a:alphaOff val="0"/>
                <a:satMod val="103000"/>
                <a:lumMod val="102000"/>
                <a:tint val="94000"/>
              </a:schemeClr>
            </a:gs>
            <a:gs pos="50000">
              <a:schemeClr val="accent3">
                <a:hueOff val="451767"/>
                <a:satOff val="16667"/>
                <a:lumOff val="-2451"/>
                <a:alphaOff val="0"/>
                <a:satMod val="110000"/>
                <a:lumMod val="100000"/>
                <a:shade val="100000"/>
              </a:schemeClr>
            </a:gs>
            <a:gs pos="100000">
              <a:schemeClr val="accent3">
                <a:hueOff val="451767"/>
                <a:satOff val="16667"/>
                <a:lumOff val="-2451"/>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itchFamily="34" charset="-122"/>
              <a:ea typeface="微软雅黑" pitchFamily="34" charset="-122"/>
            </a:rPr>
            <a:t>带宽</a:t>
          </a:r>
        </a:p>
      </dsp:txBody>
      <dsp:txXfrm>
        <a:off x="3525627" y="584103"/>
        <a:ext cx="578018" cy="578018"/>
      </dsp:txXfrm>
    </dsp:sp>
    <dsp:sp modelId="{CA2997A6-1A9D-4195-A4F9-95CB281E15D5}">
      <dsp:nvSpPr>
        <dsp:cNvPr id="0" name=""/>
        <dsp:cNvSpPr/>
      </dsp:nvSpPr>
      <dsp:spPr>
        <a:xfrm rot="771429">
          <a:off x="3433987" y="1781036"/>
          <a:ext cx="221502" cy="25751"/>
        </a:xfrm>
        <a:custGeom>
          <a:avLst/>
          <a:gdLst/>
          <a:ahLst/>
          <a:cxnLst/>
          <a:rect l="0" t="0" r="0" b="0"/>
          <a:pathLst>
            <a:path>
              <a:moveTo>
                <a:pt x="0" y="12875"/>
              </a:moveTo>
              <a:lnTo>
                <a:pt x="221502"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539201" y="1788374"/>
        <a:ext cx="11075" cy="11075"/>
      </dsp:txXfrm>
    </dsp:sp>
    <dsp:sp modelId="{AA805C1A-016A-4092-AC58-C8C9626E154E}">
      <dsp:nvSpPr>
        <dsp:cNvPr id="0" name=""/>
        <dsp:cNvSpPr/>
      </dsp:nvSpPr>
      <dsp:spPr>
        <a:xfrm>
          <a:off x="3642465" y="1500784"/>
          <a:ext cx="817442" cy="817442"/>
        </a:xfrm>
        <a:prstGeom prst="ellipse">
          <a:avLst/>
        </a:prstGeom>
        <a:gradFill rotWithShape="0">
          <a:gsLst>
            <a:gs pos="0">
              <a:schemeClr val="accent3">
                <a:hueOff val="903533"/>
                <a:satOff val="33333"/>
                <a:lumOff val="-4902"/>
                <a:alphaOff val="0"/>
                <a:satMod val="103000"/>
                <a:lumMod val="102000"/>
                <a:tint val="94000"/>
              </a:schemeClr>
            </a:gs>
            <a:gs pos="50000">
              <a:schemeClr val="accent3">
                <a:hueOff val="903533"/>
                <a:satOff val="33333"/>
                <a:lumOff val="-4902"/>
                <a:alphaOff val="0"/>
                <a:satMod val="110000"/>
                <a:lumMod val="100000"/>
                <a:shade val="100000"/>
              </a:schemeClr>
            </a:gs>
            <a:gs pos="100000">
              <a:schemeClr val="accent3">
                <a:hueOff val="903533"/>
                <a:satOff val="33333"/>
                <a:lumOff val="-4902"/>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吞吐率</a:t>
          </a:r>
        </a:p>
      </dsp:txBody>
      <dsp:txXfrm>
        <a:off x="3762177" y="1620496"/>
        <a:ext cx="578018" cy="578018"/>
      </dsp:txXfrm>
    </dsp:sp>
    <dsp:sp modelId="{96B1DAAE-F63C-47BA-8420-AE7C9945D5FC}">
      <dsp:nvSpPr>
        <dsp:cNvPr id="0" name=""/>
        <dsp:cNvSpPr/>
      </dsp:nvSpPr>
      <dsp:spPr>
        <a:xfrm rot="3857143">
          <a:off x="3052244" y="2259722"/>
          <a:ext cx="221505" cy="25751"/>
        </a:xfrm>
        <a:custGeom>
          <a:avLst/>
          <a:gdLst/>
          <a:ahLst/>
          <a:cxnLst/>
          <a:rect l="0" t="0" r="0" b="0"/>
          <a:pathLst>
            <a:path>
              <a:moveTo>
                <a:pt x="0" y="12875"/>
              </a:moveTo>
              <a:lnTo>
                <a:pt x="221505"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a:off x="3157459" y="2267061"/>
        <a:ext cx="11075" cy="11075"/>
      </dsp:txXfrm>
    </dsp:sp>
    <dsp:sp modelId="{3E830754-EFA7-4138-9FA6-3C9E92E74104}">
      <dsp:nvSpPr>
        <dsp:cNvPr id="0" name=""/>
        <dsp:cNvSpPr/>
      </dsp:nvSpPr>
      <dsp:spPr>
        <a:xfrm>
          <a:off x="2979667" y="2331907"/>
          <a:ext cx="817442" cy="817442"/>
        </a:xfrm>
        <a:prstGeom prst="ellipse">
          <a:avLst/>
        </a:prstGeom>
        <a:gradFill rotWithShape="0">
          <a:gsLst>
            <a:gs pos="0">
              <a:schemeClr val="accent3">
                <a:hueOff val="1355300"/>
                <a:satOff val="50000"/>
                <a:lumOff val="-7353"/>
                <a:alphaOff val="0"/>
                <a:satMod val="103000"/>
                <a:lumMod val="102000"/>
                <a:tint val="94000"/>
              </a:schemeClr>
            </a:gs>
            <a:gs pos="50000">
              <a:schemeClr val="accent3">
                <a:hueOff val="1355300"/>
                <a:satOff val="50000"/>
                <a:lumOff val="-7353"/>
                <a:alphaOff val="0"/>
                <a:satMod val="110000"/>
                <a:lumMod val="100000"/>
                <a:shade val="100000"/>
              </a:schemeClr>
            </a:gs>
            <a:gs pos="100000">
              <a:schemeClr val="accent3">
                <a:hueOff val="1355300"/>
                <a:satOff val="50000"/>
                <a:lumOff val="-7353"/>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80000"/>
            </a:lnSpc>
            <a:spcBef>
              <a:spcPts val="0"/>
            </a:spcBef>
            <a:spcAft>
              <a:spcPts val="0"/>
            </a:spcAft>
            <a:buNone/>
          </a:pPr>
          <a:r>
            <a:rPr lang="zh-CN" altLang="en-US" sz="1600" b="1" kern="1200" dirty="0">
              <a:latin typeface="微软雅黑" panose="020B0503020204020204" pitchFamily="34" charset="-122"/>
              <a:ea typeface="微软雅黑" panose="020B0503020204020204" pitchFamily="34" charset="-122"/>
            </a:rPr>
            <a:t>时延</a:t>
          </a:r>
        </a:p>
      </dsp:txBody>
      <dsp:txXfrm>
        <a:off x="3099379" y="2451619"/>
        <a:ext cx="578018" cy="578018"/>
      </dsp:txXfrm>
    </dsp:sp>
    <dsp:sp modelId="{78B2782A-5A1E-4DB7-8A32-C245B5326F9D}">
      <dsp:nvSpPr>
        <dsp:cNvPr id="0" name=""/>
        <dsp:cNvSpPr/>
      </dsp:nvSpPr>
      <dsp:spPr>
        <a:xfrm rot="6942857">
          <a:off x="2439981" y="2259722"/>
          <a:ext cx="221505" cy="25751"/>
        </a:xfrm>
        <a:custGeom>
          <a:avLst/>
          <a:gdLst/>
          <a:ahLst/>
          <a:cxnLst/>
          <a:rect l="0" t="0" r="0" b="0"/>
          <a:pathLst>
            <a:path>
              <a:moveTo>
                <a:pt x="0" y="12875"/>
              </a:moveTo>
              <a:lnTo>
                <a:pt x="221505"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545196" y="2267061"/>
        <a:ext cx="11075" cy="11075"/>
      </dsp:txXfrm>
    </dsp:sp>
    <dsp:sp modelId="{8473F692-BDED-4FE3-8EFA-3135EC8A8BE4}">
      <dsp:nvSpPr>
        <dsp:cNvPr id="0" name=""/>
        <dsp:cNvSpPr/>
      </dsp:nvSpPr>
      <dsp:spPr>
        <a:xfrm>
          <a:off x="1916620" y="2331907"/>
          <a:ext cx="817442" cy="817442"/>
        </a:xfrm>
        <a:prstGeom prst="ellipse">
          <a:avLst/>
        </a:prstGeom>
        <a:gradFill rotWithShape="0">
          <a:gsLst>
            <a:gs pos="0">
              <a:schemeClr val="accent3">
                <a:hueOff val="1807066"/>
                <a:satOff val="66667"/>
                <a:lumOff val="-9804"/>
                <a:alphaOff val="0"/>
                <a:satMod val="103000"/>
                <a:lumMod val="102000"/>
                <a:tint val="94000"/>
              </a:schemeClr>
            </a:gs>
            <a:gs pos="50000">
              <a:schemeClr val="accent3">
                <a:hueOff val="1807066"/>
                <a:satOff val="66667"/>
                <a:lumOff val="-9804"/>
                <a:alphaOff val="0"/>
                <a:satMod val="110000"/>
                <a:lumMod val="100000"/>
                <a:shade val="100000"/>
              </a:schemeClr>
            </a:gs>
            <a:gs pos="100000">
              <a:schemeClr val="accent3">
                <a:hueOff val="1807066"/>
                <a:satOff val="66667"/>
                <a:lumOff val="-980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时延带宽积</a:t>
          </a:r>
        </a:p>
      </dsp:txBody>
      <dsp:txXfrm>
        <a:off x="2036332" y="2451619"/>
        <a:ext cx="578018" cy="578018"/>
      </dsp:txXfrm>
    </dsp:sp>
    <dsp:sp modelId="{8BB81BB8-E393-4F1D-8B7B-020AC5C16F2F}">
      <dsp:nvSpPr>
        <dsp:cNvPr id="0" name=""/>
        <dsp:cNvSpPr/>
      </dsp:nvSpPr>
      <dsp:spPr>
        <a:xfrm rot="10028571">
          <a:off x="2058241" y="1781036"/>
          <a:ext cx="221502" cy="25751"/>
        </a:xfrm>
        <a:custGeom>
          <a:avLst/>
          <a:gdLst/>
          <a:ahLst/>
          <a:cxnLst/>
          <a:rect l="0" t="0" r="0" b="0"/>
          <a:pathLst>
            <a:path>
              <a:moveTo>
                <a:pt x="0" y="12875"/>
              </a:moveTo>
              <a:lnTo>
                <a:pt x="221502"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163454" y="1788374"/>
        <a:ext cx="11075" cy="11075"/>
      </dsp:txXfrm>
    </dsp:sp>
    <dsp:sp modelId="{E239F5DF-E3F9-42F3-9ADB-15CF35E6CE45}">
      <dsp:nvSpPr>
        <dsp:cNvPr id="0" name=""/>
        <dsp:cNvSpPr/>
      </dsp:nvSpPr>
      <dsp:spPr>
        <a:xfrm>
          <a:off x="1253822" y="1500784"/>
          <a:ext cx="817442" cy="817442"/>
        </a:xfrm>
        <a:prstGeom prst="ellipse">
          <a:avLst/>
        </a:prstGeom>
        <a:gradFill rotWithShape="0">
          <a:gsLst>
            <a:gs pos="0">
              <a:schemeClr val="accent3">
                <a:hueOff val="2258833"/>
                <a:satOff val="83333"/>
                <a:lumOff val="-12255"/>
                <a:alphaOff val="0"/>
                <a:satMod val="103000"/>
                <a:lumMod val="102000"/>
                <a:tint val="94000"/>
              </a:schemeClr>
            </a:gs>
            <a:gs pos="50000">
              <a:schemeClr val="accent3">
                <a:hueOff val="2258833"/>
                <a:satOff val="83333"/>
                <a:lumOff val="-12255"/>
                <a:alphaOff val="0"/>
                <a:satMod val="110000"/>
                <a:lumMod val="100000"/>
                <a:shade val="100000"/>
              </a:schemeClr>
            </a:gs>
            <a:gs pos="100000">
              <a:schemeClr val="accent3">
                <a:hueOff val="2258833"/>
                <a:satOff val="83333"/>
                <a:lumOff val="-1225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往返</a:t>
          </a:r>
          <a:endParaRPr lang="en-US" altLang="zh-CN" sz="1400" b="1" kern="1200" dirty="0">
            <a:latin typeface="微软雅黑" panose="020B0503020204020204" pitchFamily="34" charset="-122"/>
            <a:ea typeface="微软雅黑" panose="020B0503020204020204" pitchFamily="34" charset="-122"/>
          </a:endParaRPr>
        </a:p>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时间</a:t>
          </a:r>
        </a:p>
      </dsp:txBody>
      <dsp:txXfrm>
        <a:off x="1373534" y="1620496"/>
        <a:ext cx="578018" cy="578018"/>
      </dsp:txXfrm>
    </dsp:sp>
    <dsp:sp modelId="{AF33E670-42AA-4676-8C3F-58C9EF27EB34}">
      <dsp:nvSpPr>
        <dsp:cNvPr id="0" name=""/>
        <dsp:cNvSpPr/>
      </dsp:nvSpPr>
      <dsp:spPr>
        <a:xfrm rot="13114286">
          <a:off x="2194482" y="1184122"/>
          <a:ext cx="221503" cy="25751"/>
        </a:xfrm>
        <a:custGeom>
          <a:avLst/>
          <a:gdLst/>
          <a:ahLst/>
          <a:cxnLst/>
          <a:rect l="0" t="0" r="0" b="0"/>
          <a:pathLst>
            <a:path>
              <a:moveTo>
                <a:pt x="0" y="12875"/>
              </a:moveTo>
              <a:lnTo>
                <a:pt x="221503" y="12875"/>
              </a:lnTo>
            </a:path>
          </a:pathLst>
        </a:custGeom>
        <a:noFill/>
        <a:ln w="19050" cap="flat" cmpd="sng" algn="ctr">
          <a:solidFill>
            <a:scrgbClr r="0" g="0" b="0"/>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711200">
            <a:lnSpc>
              <a:spcPct val="80000"/>
            </a:lnSpc>
            <a:spcBef>
              <a:spcPts val="0"/>
            </a:spcBef>
            <a:spcAft>
              <a:spcPts val="0"/>
            </a:spcAft>
            <a:buNone/>
          </a:pPr>
          <a:endParaRPr lang="zh-CN" altLang="en-US" sz="1600" b="1" kern="1200">
            <a:latin typeface="微软雅黑" panose="020B0503020204020204" pitchFamily="34" charset="-122"/>
            <a:ea typeface="微软雅黑" panose="020B0503020204020204" pitchFamily="34" charset="-122"/>
          </a:endParaRPr>
        </a:p>
      </dsp:txBody>
      <dsp:txXfrm rot="10800000">
        <a:off x="2299696" y="1191461"/>
        <a:ext cx="11075" cy="11075"/>
      </dsp:txXfrm>
    </dsp:sp>
    <dsp:sp modelId="{26B2A20A-D83E-4FB4-8289-8E75F18D9F17}">
      <dsp:nvSpPr>
        <dsp:cNvPr id="0" name=""/>
        <dsp:cNvSpPr/>
      </dsp:nvSpPr>
      <dsp:spPr>
        <a:xfrm>
          <a:off x="1490372" y="464391"/>
          <a:ext cx="817442" cy="817442"/>
        </a:xfrm>
        <a:prstGeom prst="ellipse">
          <a:avLst/>
        </a:prstGeom>
        <a:gradFill rotWithShape="0">
          <a:gsLst>
            <a:gs pos="0">
              <a:schemeClr val="accent3">
                <a:hueOff val="2710599"/>
                <a:satOff val="100000"/>
                <a:lumOff val="-14706"/>
                <a:alphaOff val="0"/>
                <a:satMod val="103000"/>
                <a:lumMod val="102000"/>
                <a:tint val="94000"/>
              </a:schemeClr>
            </a:gs>
            <a:gs pos="50000">
              <a:schemeClr val="accent3">
                <a:hueOff val="2710599"/>
                <a:satOff val="100000"/>
                <a:lumOff val="-14706"/>
                <a:alphaOff val="0"/>
                <a:satMod val="110000"/>
                <a:lumMod val="100000"/>
                <a:shade val="100000"/>
              </a:schemeClr>
            </a:gs>
            <a:gs pos="100000">
              <a:schemeClr val="accent3">
                <a:hueOff val="2710599"/>
                <a:satOff val="100000"/>
                <a:lumOff val="-14706"/>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8890" tIns="8890" rIns="8890" bIns="8890" numCol="1" spcCol="1270" anchor="ctr" anchorCtr="0">
          <a:noAutofit/>
        </a:bodyPr>
        <a:lstStyle/>
        <a:p>
          <a:pPr marL="0" lvl="0" indent="0" algn="ctr" defTabSz="622300">
            <a:lnSpc>
              <a:spcPct val="80000"/>
            </a:lnSpc>
            <a:spcBef>
              <a:spcPts val="0"/>
            </a:spcBef>
            <a:spcAft>
              <a:spcPts val="0"/>
            </a:spcAft>
            <a:buNone/>
          </a:pPr>
          <a:r>
            <a:rPr lang="zh-CN" altLang="en-US" sz="1400" b="1" kern="1200" dirty="0">
              <a:latin typeface="微软雅黑" panose="020B0503020204020204" pitchFamily="34" charset="-122"/>
              <a:ea typeface="微软雅黑" panose="020B0503020204020204" pitchFamily="34" charset="-122"/>
            </a:rPr>
            <a:t>利用率</a:t>
          </a:r>
        </a:p>
      </dsp:txBody>
      <dsp:txXfrm>
        <a:off x="1610084" y="584103"/>
        <a:ext cx="578018" cy="57801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322834-D555-4278-B09F-615875E565CE}">
      <dsp:nvSpPr>
        <dsp:cNvPr id="0" name=""/>
        <dsp:cNvSpPr/>
      </dsp:nvSpPr>
      <dsp:spPr>
        <a:xfrm rot="5400000">
          <a:off x="4078914" y="-2631000"/>
          <a:ext cx="934555" cy="6430253"/>
        </a:xfrm>
        <a:prstGeom prst="round2Same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某个信号具有的</a:t>
          </a:r>
          <a:r>
            <a:rPr lang="zh-CN" altLang="en-US" sz="1600" b="1" kern="1200" dirty="0">
              <a:solidFill>
                <a:srgbClr val="0000FF"/>
              </a:solidFill>
              <a:latin typeface="微软雅黑" panose="020B0503020204020204" pitchFamily="34" charset="-122"/>
              <a:ea typeface="微软雅黑" panose="020B0503020204020204" pitchFamily="34" charset="-122"/>
            </a:rPr>
            <a:t>频带宽度。</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单位是</a:t>
          </a:r>
          <a:r>
            <a:rPr lang="zh-CN" altLang="en-US" sz="1600" b="1" kern="1200" dirty="0">
              <a:solidFill>
                <a:srgbClr val="0000FF"/>
              </a:solidFill>
              <a:latin typeface="微软雅黑" panose="020B0503020204020204" pitchFamily="34" charset="-122"/>
              <a:ea typeface="微软雅黑" panose="020B0503020204020204" pitchFamily="34" charset="-122"/>
            </a:rPr>
            <a:t>赫</a:t>
          </a:r>
          <a:r>
            <a:rPr lang="zh-CN" altLang="en-US" sz="1600" b="1" kern="1200" dirty="0">
              <a:latin typeface="微软雅黑" panose="020B0503020204020204" pitchFamily="34" charset="-122"/>
              <a:ea typeface="微软雅黑" panose="020B0503020204020204" pitchFamily="34" charset="-122"/>
            </a:rPr>
            <a:t>（或千赫、兆赫、吉赫等）。</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某信道允许通过的信号频带范围称为该</a:t>
          </a:r>
          <a:r>
            <a:rPr lang="zh-CN" altLang="en-US" sz="1600" b="1" kern="1200" dirty="0">
              <a:solidFill>
                <a:srgbClr val="0000FF"/>
              </a:solidFill>
              <a:latin typeface="微软雅黑" panose="020B0503020204020204" pitchFamily="34" charset="-122"/>
              <a:ea typeface="微软雅黑" panose="020B0503020204020204" pitchFamily="34" charset="-122"/>
            </a:rPr>
            <a:t>信道的带宽</a:t>
          </a:r>
          <a:r>
            <a:rPr lang="zh-CN" altLang="en-US" sz="1600" b="1" kern="1200" dirty="0">
              <a:latin typeface="微软雅黑" panose="020B0503020204020204" pitchFamily="34" charset="-122"/>
              <a:ea typeface="微软雅黑" panose="020B0503020204020204" pitchFamily="34" charset="-122"/>
            </a:rPr>
            <a:t>（或通频带）。</a:t>
          </a:r>
        </a:p>
      </dsp:txBody>
      <dsp:txXfrm rot="-5400000">
        <a:off x="1331066" y="162469"/>
        <a:ext cx="6384632" cy="843313"/>
      </dsp:txXfrm>
    </dsp:sp>
    <dsp:sp modelId="{12490A3D-6938-465D-B09D-05FD246C6E9E}">
      <dsp:nvSpPr>
        <dsp:cNvPr id="0" name=""/>
        <dsp:cNvSpPr/>
      </dsp:nvSpPr>
      <dsp:spPr>
        <a:xfrm>
          <a:off x="137354" y="29"/>
          <a:ext cx="1193710" cy="1168193"/>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频域</a:t>
          </a:r>
        </a:p>
      </dsp:txBody>
      <dsp:txXfrm>
        <a:off x="194380" y="57055"/>
        <a:ext cx="1079658" cy="1054141"/>
      </dsp:txXfrm>
    </dsp:sp>
    <dsp:sp modelId="{4EADB46F-8684-4B72-97FE-D18AEB647819}">
      <dsp:nvSpPr>
        <dsp:cNvPr id="0" name=""/>
        <dsp:cNvSpPr/>
      </dsp:nvSpPr>
      <dsp:spPr>
        <a:xfrm rot="5400000">
          <a:off x="4078914" y="-1438246"/>
          <a:ext cx="934555" cy="6430253"/>
        </a:xfrm>
        <a:prstGeom prst="round2Same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网络中某通道传送数据的能力，表示在单位时间内网络中的某信道所能通过的</a:t>
          </a:r>
          <a:r>
            <a:rPr lang="zh-CN" altLang="en-US" sz="1600" b="1" kern="1200" dirty="0">
              <a:solidFill>
                <a:srgbClr val="0000FF"/>
              </a:solidFill>
              <a:latin typeface="微软雅黑" panose="020B0503020204020204" pitchFamily="34" charset="-122"/>
              <a:ea typeface="微软雅黑" panose="020B0503020204020204" pitchFamily="34" charset="-122"/>
            </a:rPr>
            <a:t>“最高数据率”。</a:t>
          </a:r>
        </a:p>
        <a:p>
          <a:pPr marL="171450" lvl="1" indent="-171450" algn="l" defTabSz="711200">
            <a:lnSpc>
              <a:spcPts val="2400"/>
            </a:lnSpc>
            <a:spcBef>
              <a:spcPts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单位就是数据率的单位 </a:t>
          </a:r>
          <a:r>
            <a:rPr lang="en-US" altLang="en-US" sz="1600" b="1" kern="1200" dirty="0">
              <a:latin typeface="微软雅黑" panose="020B0503020204020204" pitchFamily="34" charset="-122"/>
              <a:ea typeface="微软雅黑" panose="020B0503020204020204" pitchFamily="34" charset="-122"/>
            </a:rPr>
            <a:t>bit/s</a:t>
          </a:r>
          <a:r>
            <a:rPr lang="zh-CN" altLang="en-US" sz="1600" b="1" kern="1200" dirty="0">
              <a:latin typeface="微软雅黑" panose="020B0503020204020204" pitchFamily="34" charset="-122"/>
              <a:ea typeface="微软雅黑" panose="020B0503020204020204" pitchFamily="34" charset="-122"/>
            </a:rPr>
            <a:t>。</a:t>
          </a:r>
        </a:p>
      </dsp:txBody>
      <dsp:txXfrm rot="-5400000">
        <a:off x="1331066" y="1355223"/>
        <a:ext cx="6384632" cy="843313"/>
      </dsp:txXfrm>
    </dsp:sp>
    <dsp:sp modelId="{90C011AE-3F91-416D-B2FD-433B35EC17A6}">
      <dsp:nvSpPr>
        <dsp:cNvPr id="0" name=""/>
        <dsp:cNvSpPr/>
      </dsp:nvSpPr>
      <dsp:spPr>
        <a:xfrm>
          <a:off x="137354" y="1192766"/>
          <a:ext cx="1193710" cy="1168193"/>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34290" rIns="68580" bIns="34290" numCol="1" spcCol="1270" anchor="ctr" anchorCtr="0">
          <a:noAutofit/>
        </a:bodyPr>
        <a:lstStyle/>
        <a:p>
          <a:pPr marL="0" lvl="0" indent="0" algn="ctr" defTabSz="800100">
            <a:lnSpc>
              <a:spcPts val="2400"/>
            </a:lnSpc>
            <a:spcBef>
              <a:spcPts val="0"/>
            </a:spcBef>
            <a:spcAft>
              <a:spcPts val="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时域</a:t>
          </a:r>
        </a:p>
      </dsp:txBody>
      <dsp:txXfrm>
        <a:off x="194380" y="1249792"/>
        <a:ext cx="1079658" cy="105414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98D618-F8FC-4C90-851C-0B5A61F1FAD0}">
      <dsp:nvSpPr>
        <dsp:cNvPr id="0" name=""/>
        <dsp:cNvSpPr/>
      </dsp:nvSpPr>
      <dsp:spPr>
        <a:xfrm>
          <a:off x="29" y="3808"/>
          <a:ext cx="2848570" cy="527464"/>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信道利用率</a:t>
          </a:r>
        </a:p>
      </dsp:txBody>
      <dsp:txXfrm>
        <a:off x="29" y="3808"/>
        <a:ext cx="2848570" cy="527464"/>
      </dsp:txXfrm>
    </dsp:sp>
    <dsp:sp modelId="{DD1A8C17-AB8B-4CDA-9C06-E3F6B80DFAB1}">
      <dsp:nvSpPr>
        <dsp:cNvPr id="0" name=""/>
        <dsp:cNvSpPr/>
      </dsp:nvSpPr>
      <dsp:spPr>
        <a:xfrm>
          <a:off x="29" y="531272"/>
          <a:ext cx="2848570" cy="2086199"/>
        </a:xfrm>
        <a:prstGeom prst="rect">
          <a:avLst/>
        </a:prstGeom>
        <a:solidFill>
          <a:schemeClr val="accent2">
            <a:tint val="40000"/>
            <a:alpha val="90000"/>
            <a:hueOff val="0"/>
            <a:satOff val="0"/>
            <a:lumOff val="0"/>
            <a:alphaOff val="0"/>
          </a:schemeClr>
        </a:solidFill>
        <a:ln w="635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某信道有百分之几的时间是被利用的（即有数据通过）。</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完全空闲的信道的利用率是零。</a:t>
          </a:r>
        </a:p>
      </dsp:txBody>
      <dsp:txXfrm>
        <a:off x="29" y="531272"/>
        <a:ext cx="2848570" cy="2086199"/>
      </dsp:txXfrm>
    </dsp:sp>
    <dsp:sp modelId="{95E674E6-30C0-4846-A33C-8435093FF952}">
      <dsp:nvSpPr>
        <dsp:cNvPr id="0" name=""/>
        <dsp:cNvSpPr/>
      </dsp:nvSpPr>
      <dsp:spPr>
        <a:xfrm>
          <a:off x="3247399" y="3808"/>
          <a:ext cx="2848570" cy="527464"/>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网络利用率</a:t>
          </a:r>
        </a:p>
      </dsp:txBody>
      <dsp:txXfrm>
        <a:off x="3247399" y="3808"/>
        <a:ext cx="2848570" cy="527464"/>
      </dsp:txXfrm>
    </dsp:sp>
    <dsp:sp modelId="{D5B1C811-7FFB-4E90-B609-AF3320FECF06}">
      <dsp:nvSpPr>
        <dsp:cNvPr id="0" name=""/>
        <dsp:cNvSpPr/>
      </dsp:nvSpPr>
      <dsp:spPr>
        <a:xfrm>
          <a:off x="3247399" y="531272"/>
          <a:ext cx="2848570" cy="2086199"/>
        </a:xfrm>
        <a:prstGeom prst="rect">
          <a:avLst/>
        </a:prstGeom>
        <a:solidFill>
          <a:schemeClr val="accent3">
            <a:tint val="40000"/>
            <a:alpha val="90000"/>
            <a:hueOff val="0"/>
            <a:satOff val="0"/>
            <a:lumOff val="0"/>
            <a:alphaOff val="0"/>
          </a:schemeClr>
        </a:solidFill>
        <a:ln w="6350" cap="flat" cmpd="sng" algn="ctr">
          <a:solidFill>
            <a:schemeClr val="accent3">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全网络的信道利用率的加权平均值。</a:t>
          </a:r>
        </a:p>
      </dsp:txBody>
      <dsp:txXfrm>
        <a:off x="3247399" y="531272"/>
        <a:ext cx="2848570" cy="208619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solidFill>
                <a:schemeClr val="tx1"/>
              </a:solidFill>
              <a:latin typeface="微软雅黑" panose="020B0503020204020204" pitchFamily="34" charset="-122"/>
              <a:ea typeface="微软雅黑" panose="020B0503020204020204" pitchFamily="34" charset="-122"/>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zh-CN" altLang="en-US" sz="1500" b="1" kern="1200" dirty="0">
              <a:solidFill>
                <a:schemeClr val="tx1"/>
              </a:solidFill>
              <a:latin typeface="微软雅黑" panose="020B0503020204020204" pitchFamily="34" charset="-122"/>
              <a:ea typeface="微软雅黑" panose="020B0503020204020204" pitchFamily="34" charset="-122"/>
            </a:rPr>
            <a:t>管理和维护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2222035" y="2141853"/>
        <a:ext cx="691870" cy="795253"/>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ound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法律上的 </a:t>
          </a:r>
          <a:r>
            <a:rPr lang="en-US" altLang="en-US" sz="2000" b="1" kern="1200" dirty="0">
              <a:latin typeface="微软雅黑" panose="020B0503020204020204" pitchFamily="34" charset="-122"/>
              <a:ea typeface="微软雅黑" panose="020B0503020204020204" pitchFamily="34" charset="-122"/>
            </a:rPr>
            <a:t>(de jure)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OSI</a:t>
          </a:r>
          <a:endParaRPr lang="zh-CN" altLang="en-US" sz="2000" b="1" kern="1200" dirty="0">
            <a:latin typeface="微软雅黑" panose="020B0503020204020204" pitchFamily="34" charset="-122"/>
            <a:ea typeface="微软雅黑" panose="020B0503020204020204" pitchFamily="34" charset="-122"/>
          </a:endParaRPr>
        </a:p>
      </dsp:txBody>
      <dsp:txXfrm>
        <a:off x="34726" y="43914"/>
        <a:ext cx="4894433" cy="641908"/>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ound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事实上的 </a:t>
          </a:r>
          <a:r>
            <a:rPr lang="en-US" altLang="en-US" sz="2000" b="1" kern="1200" dirty="0">
              <a:latin typeface="微软雅黑" panose="020B0503020204020204" pitchFamily="34" charset="-122"/>
              <a:ea typeface="微软雅黑" panose="020B0503020204020204" pitchFamily="34" charset="-122"/>
            </a:rPr>
            <a:t>(de facto) </a:t>
          </a:r>
          <a:r>
            <a:rPr lang="zh-CN" altLang="en-US" sz="2000" b="1" kern="1200" dirty="0">
              <a:latin typeface="微软雅黑" panose="020B0503020204020204" pitchFamily="34" charset="-122"/>
              <a:ea typeface="微软雅黑" panose="020B0503020204020204" pitchFamily="34" charset="-122"/>
            </a:rPr>
            <a:t>国际标准 </a:t>
          </a:r>
          <a:r>
            <a:rPr lang="en-US" altLang="en-US" sz="2000" b="1" kern="1200" dirty="0">
              <a:latin typeface="微软雅黑" panose="020B0503020204020204" pitchFamily="34" charset="-122"/>
              <a:ea typeface="微软雅黑" panose="020B0503020204020204" pitchFamily="34" charset="-122"/>
            </a:rPr>
            <a:t>TCP/IP</a:t>
          </a:r>
          <a:endParaRPr lang="zh-CN" altLang="en-US" sz="2000" b="1" kern="1200" dirty="0">
            <a:latin typeface="微软雅黑" panose="020B0503020204020204" pitchFamily="34" charset="-122"/>
            <a:ea typeface="微软雅黑" panose="020B0503020204020204" pitchFamily="34" charset="-122"/>
          </a:endParaRPr>
        </a:p>
      </dsp:txBody>
      <dsp:txXfrm>
        <a:off x="34726" y="1384555"/>
        <a:ext cx="4894433" cy="641908"/>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5400" rIns="142240" bIns="25400" numCol="1" spcCol="1270" anchor="t" anchorCtr="0">
          <a:noAutofit/>
        </a:bodyPr>
        <a:lstStyle/>
        <a:p>
          <a:pPr marL="228600" lvl="1" indent="-228600" algn="l" defTabSz="889000">
            <a:lnSpc>
              <a:spcPct val="90000"/>
            </a:lnSpc>
            <a:spcBef>
              <a:spcPct val="0"/>
            </a:spcBef>
            <a:spcAft>
              <a:spcPct val="20000"/>
            </a:spcAft>
            <a:buChar char="•"/>
          </a:pPr>
          <a:r>
            <a:rPr lang="zh-CN" altLang="en-US" sz="2000" b="1" kern="1200" dirty="0">
              <a:latin typeface="微软雅黑" panose="020B0503020204020204" pitchFamily="34" charset="-122"/>
              <a:ea typeface="微软雅黑" panose="020B0503020204020204" pitchFamily="34" charset="-122"/>
            </a:rPr>
            <a:t>获得了最广泛的应用。</a:t>
          </a:r>
        </a:p>
      </dsp:txBody>
      <dsp:txXfrm>
        <a:off x="0" y="2061189"/>
        <a:ext cx="4963885" cy="62928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355ABF-AFD4-4429-AC0C-B179A1BF75DA}">
      <dsp:nvSpPr>
        <dsp:cNvPr id="0" name=""/>
        <dsp:cNvSpPr/>
      </dsp:nvSpPr>
      <dsp:spPr>
        <a:xfrm>
          <a:off x="0" y="746775"/>
          <a:ext cx="8128000" cy="1209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1788D26-F979-4FB7-8A96-4711D82825B8}">
      <dsp:nvSpPr>
        <dsp:cNvPr id="0" name=""/>
        <dsp:cNvSpPr/>
      </dsp:nvSpPr>
      <dsp:spPr>
        <a:xfrm>
          <a:off x="406400" y="38295"/>
          <a:ext cx="5689600" cy="14169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053" tIns="0" rIns="215053"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chemeClr val="bg1"/>
              </a:solidFill>
              <a:latin typeface="微软雅黑" panose="020B0503020204020204" pitchFamily="34" charset="-122"/>
              <a:ea typeface="微软雅黑" panose="020B0503020204020204" pitchFamily="34" charset="-122"/>
            </a:rPr>
            <a:t>文字描述：便于人来阅读和理解。</a:t>
          </a:r>
        </a:p>
      </dsp:txBody>
      <dsp:txXfrm>
        <a:off x="475570" y="107465"/>
        <a:ext cx="5551260" cy="1278620"/>
      </dsp:txXfrm>
    </dsp:sp>
    <dsp:sp modelId="{3072F165-7A76-46AC-BCC0-0FC97CA5F9F5}">
      <dsp:nvSpPr>
        <dsp:cNvPr id="0" name=""/>
        <dsp:cNvSpPr/>
      </dsp:nvSpPr>
      <dsp:spPr>
        <a:xfrm>
          <a:off x="0" y="2924055"/>
          <a:ext cx="8128000" cy="1209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F367B3BE-A2DF-4CEA-8C18-99C09218A893}">
      <dsp:nvSpPr>
        <dsp:cNvPr id="0" name=""/>
        <dsp:cNvSpPr/>
      </dsp:nvSpPr>
      <dsp:spPr>
        <a:xfrm>
          <a:off x="406400" y="2215575"/>
          <a:ext cx="5689600" cy="14169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15053" tIns="0" rIns="215053" bIns="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solidFill>
                <a:srgbClr val="000066"/>
              </a:solidFill>
              <a:latin typeface="微软雅黑" panose="020B0503020204020204" pitchFamily="34" charset="-122"/>
              <a:ea typeface="微软雅黑" panose="020B0503020204020204" pitchFamily="34" charset="-122"/>
            </a:rPr>
            <a:t>程序代码：让计算机能够理解。</a:t>
          </a:r>
        </a:p>
      </dsp:txBody>
      <dsp:txXfrm>
        <a:off x="475570" y="2284745"/>
        <a:ext cx="5551260" cy="127862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333D2C-A9D6-4FB9-868E-7A2772597538}">
      <dsp:nvSpPr>
        <dsp:cNvPr id="0" name=""/>
        <dsp:cNvSpPr/>
      </dsp:nvSpPr>
      <dsp:spPr>
        <a:xfrm>
          <a:off x="285727" y="396795"/>
          <a:ext cx="5524544" cy="1891150"/>
        </a:xfrm>
        <a:prstGeom prst="rect">
          <a:avLst/>
        </a:prstGeom>
        <a:solidFill>
          <a:schemeClr val="tx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411F94-BA29-40FB-AB99-7CD7DB1CFA05}">
      <dsp:nvSpPr>
        <dsp:cNvPr id="0" name=""/>
        <dsp:cNvSpPr/>
      </dsp:nvSpPr>
      <dsp:spPr>
        <a:xfrm>
          <a:off x="803796" y="582892"/>
          <a:ext cx="2089139" cy="1617856"/>
        </a:xfrm>
        <a:prstGeom prst="rect">
          <a:avLst/>
        </a:prstGeom>
        <a:gradFill rotWithShape="1">
          <a:gsLst>
            <a:gs pos="0">
              <a:schemeClr val="accent2">
                <a:lumMod val="110000"/>
                <a:satMod val="105000"/>
                <a:tint val="67000"/>
              </a:schemeClr>
            </a:gs>
            <a:gs pos="50000">
              <a:schemeClr val="accent2">
                <a:lumMod val="105000"/>
                <a:satMod val="103000"/>
                <a:tint val="73000"/>
              </a:schemeClr>
            </a:gs>
            <a:gs pos="100000">
              <a:schemeClr val="accent2">
                <a:lumMod val="105000"/>
                <a:satMod val="109000"/>
                <a:tint val="81000"/>
              </a:schemeClr>
            </a:gs>
          </a:gsLst>
          <a:lin ang="5400000" scaled="0"/>
        </a:gradFill>
        <a:ln w="6350" cap="flat" cmpd="sng" algn="ctr">
          <a:solidFill>
            <a:schemeClr val="accent2"/>
          </a:solidFill>
          <a:prstDash val="solid"/>
          <a:miter lim="800000"/>
        </a:ln>
        <a:effectLst/>
      </dsp:spPr>
      <dsp:style>
        <a:lnRef idx="1">
          <a:schemeClr val="accent2"/>
        </a:lnRef>
        <a:fillRef idx="2">
          <a:schemeClr val="accent2"/>
        </a:fillRef>
        <a:effectRef idx="1">
          <a:schemeClr val="accent2"/>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各层之间是独立的。</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灵活性好。</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结构上可分割开。</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易于实现和维护</a:t>
          </a:r>
        </a:p>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能促进标准化工作。</a:t>
          </a:r>
        </a:p>
      </dsp:txBody>
      <dsp:txXfrm>
        <a:off x="803796" y="582892"/>
        <a:ext cx="2089139" cy="1617856"/>
      </dsp:txXfrm>
    </dsp:sp>
    <dsp:sp modelId="{CB7DDDF6-2C8B-4B30-A06C-1EA5DB141FBA}">
      <dsp:nvSpPr>
        <dsp:cNvPr id="0" name=""/>
        <dsp:cNvSpPr/>
      </dsp:nvSpPr>
      <dsp:spPr>
        <a:xfrm>
          <a:off x="3201159" y="580999"/>
          <a:ext cx="2110466" cy="1617856"/>
        </a:xfrm>
        <a:prstGeom prst="rect">
          <a:avLst/>
        </a:prstGeom>
        <a:gradFill rotWithShape="1">
          <a:gsLst>
            <a:gs pos="0">
              <a:schemeClr val="accent3">
                <a:lumMod val="110000"/>
                <a:satMod val="105000"/>
                <a:tint val="67000"/>
              </a:schemeClr>
            </a:gs>
            <a:gs pos="50000">
              <a:schemeClr val="accent3">
                <a:lumMod val="105000"/>
                <a:satMod val="103000"/>
                <a:tint val="73000"/>
              </a:schemeClr>
            </a:gs>
            <a:gs pos="100000">
              <a:schemeClr val="accent3">
                <a:lumMod val="105000"/>
                <a:satMod val="109000"/>
                <a:tint val="81000"/>
              </a:schemeClr>
            </a:gs>
          </a:gsLst>
          <a:lin ang="5400000" scaled="0"/>
        </a:gradFill>
        <a:ln w="6350" cap="flat" cmpd="sng" algn="ctr">
          <a:solidFill>
            <a:schemeClr val="accent3"/>
          </a:solidFill>
          <a:prstDash val="solid"/>
          <a:miter lim="800000"/>
        </a:ln>
        <a:effectLst/>
      </dsp:spPr>
      <dsp:style>
        <a:lnRef idx="1">
          <a:schemeClr val="accent3"/>
        </a:lnRef>
        <a:fillRef idx="2">
          <a:schemeClr val="accent3"/>
        </a:fillRef>
        <a:effectRef idx="1">
          <a:schemeClr val="accent3"/>
        </a:effectRef>
        <a:fontRef idx="minor">
          <a:schemeClr val="dk1"/>
        </a:fontRef>
      </dsp:style>
      <dsp:txBody>
        <a:bodyPr spcFirstLastPara="0" vert="horz" wrap="square" lIns="30480" tIns="30480" rIns="30480" bIns="30480" numCol="1" spcCol="1270" anchor="t" anchorCtr="0">
          <a:noAutofit/>
        </a:bodyPr>
        <a:lstStyle/>
        <a:p>
          <a:pPr marL="0" lvl="0" indent="0" algn="l" defTabSz="711200">
            <a:lnSpc>
              <a:spcPct val="90000"/>
            </a:lnSpc>
            <a:spcBef>
              <a:spcPct val="0"/>
            </a:spcBef>
            <a:spcAft>
              <a:spcPts val="0"/>
            </a:spcAft>
            <a:buNone/>
          </a:pPr>
          <a:r>
            <a:rPr lang="zh-CN" altLang="en-US" sz="1600" b="1" kern="1200" dirty="0">
              <a:latin typeface="微软雅黑" panose="020B0503020204020204" pitchFamily="34" charset="-122"/>
              <a:ea typeface="微软雅黑" panose="020B0503020204020204" pitchFamily="34" charset="-122"/>
            </a:rPr>
            <a:t>有些功能会重复出现，因而产生了额外开销。</a:t>
          </a:r>
          <a:endParaRPr lang="en-US" altLang="zh-CN" sz="1600" b="1" kern="1200" dirty="0">
            <a:latin typeface="微软雅黑" panose="020B0503020204020204" pitchFamily="34" charset="-122"/>
            <a:ea typeface="微软雅黑" panose="020B0503020204020204" pitchFamily="34" charset="-122"/>
          </a:endParaRPr>
        </a:p>
      </dsp:txBody>
      <dsp:txXfrm>
        <a:off x="3201159" y="580999"/>
        <a:ext cx="2110466" cy="1617856"/>
      </dsp:txXfrm>
    </dsp:sp>
    <dsp:sp modelId="{DF706164-FCCA-4F26-8B31-EABB82ABC165}">
      <dsp:nvSpPr>
        <dsp:cNvPr id="0" name=""/>
        <dsp:cNvSpPr/>
      </dsp:nvSpPr>
      <dsp:spPr>
        <a:xfrm>
          <a:off x="0" y="18334"/>
          <a:ext cx="715053" cy="715053"/>
        </a:xfrm>
        <a:prstGeom prst="plus">
          <a:avLst>
            <a:gd name="adj" fmla="val 32810"/>
          </a:avLst>
        </a:prstGeom>
        <a:solidFill>
          <a:srgbClr val="990033"/>
        </a:solidFill>
        <a:ln w="12700" cap="flat" cmpd="sng" algn="ctr">
          <a:solidFill>
            <a:srgbClr val="990033"/>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B3F9F7-5DFA-451D-8AF0-C886EF2184F0}">
      <dsp:nvSpPr>
        <dsp:cNvPr id="0" name=""/>
        <dsp:cNvSpPr/>
      </dsp:nvSpPr>
      <dsp:spPr>
        <a:xfrm>
          <a:off x="5416478" y="257945"/>
          <a:ext cx="672991" cy="230628"/>
        </a:xfrm>
        <a:prstGeom prst="rect">
          <a:avLst/>
        </a:prstGeom>
        <a:solidFill>
          <a:srgbClr val="000099"/>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F821AC-F873-42D9-B901-FF50109FC337}">
      <dsp:nvSpPr>
        <dsp:cNvPr id="0" name=""/>
        <dsp:cNvSpPr/>
      </dsp:nvSpPr>
      <dsp:spPr>
        <a:xfrm>
          <a:off x="3047999" y="621427"/>
          <a:ext cx="420" cy="1545208"/>
        </a:xfrm>
        <a:prstGeom prst="line">
          <a:avLst/>
        </a:prstGeom>
        <a:noFill/>
        <a:ln w="12700" cap="flat" cmpd="sng" algn="ctr">
          <a:solidFill>
            <a:srgbClr val="000099"/>
          </a:solidFill>
          <a:prstDash val="solid"/>
          <a:miter lim="800000"/>
        </a:ln>
        <a:effectLst/>
      </dsp:spPr>
      <dsp:style>
        <a:lnRef idx="2">
          <a:scrgbClr r="0" g="0" b="0"/>
        </a:lnRef>
        <a:fillRef idx="0">
          <a:scrgbClr r="0" g="0" b="0"/>
        </a:fillRef>
        <a:effectRef idx="0">
          <a:scrgbClr r="0" g="0" b="0"/>
        </a:effectRef>
        <a:fontRef idx="minor"/>
      </dsp:style>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0F44A1-54FE-446F-9390-56E51903722C}">
      <dsp:nvSpPr>
        <dsp:cNvPr id="0" name=""/>
        <dsp:cNvSpPr/>
      </dsp:nvSpPr>
      <dsp:spPr>
        <a:xfrm>
          <a:off x="0" y="335984"/>
          <a:ext cx="1250156" cy="625078"/>
        </a:xfrm>
        <a:prstGeom prst="roundRect">
          <a:avLst>
            <a:gd name="adj" fmla="val 10000"/>
          </a:avLst>
        </a:prstGeom>
        <a:gradFill rotWithShape="0">
          <a:gsLst>
            <a:gs pos="0">
              <a:schemeClr val="accent2">
                <a:hueOff val="0"/>
                <a:satOff val="0"/>
                <a:lumOff val="0"/>
                <a:alphaOff val="0"/>
                <a:lumMod val="110000"/>
                <a:satMod val="105000"/>
                <a:tint val="67000"/>
              </a:schemeClr>
            </a:gs>
            <a:gs pos="50000">
              <a:schemeClr val="accent2">
                <a:hueOff val="0"/>
                <a:satOff val="0"/>
                <a:lumOff val="0"/>
                <a:alphaOff val="0"/>
                <a:lumMod val="105000"/>
                <a:satMod val="103000"/>
                <a:tint val="73000"/>
              </a:schemeClr>
            </a:gs>
            <a:gs pos="100000">
              <a:schemeClr val="accent2">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a:latin typeface="微软雅黑" panose="020B0503020204020204" pitchFamily="34" charset="-122"/>
              <a:ea typeface="微软雅黑" panose="020B0503020204020204" pitchFamily="34" charset="-122"/>
            </a:rPr>
            <a:t>协议</a:t>
          </a:r>
          <a:endParaRPr lang="zh-CN" altLang="en-US" sz="2000" b="1" kern="1200" dirty="0">
            <a:latin typeface="微软雅黑" panose="020B0503020204020204" pitchFamily="34" charset="-122"/>
            <a:ea typeface="微软雅黑" panose="020B0503020204020204" pitchFamily="34" charset="-122"/>
          </a:endParaRPr>
        </a:p>
      </dsp:txBody>
      <dsp:txXfrm>
        <a:off x="18308" y="354292"/>
        <a:ext cx="1213540" cy="588462"/>
      </dsp:txXfrm>
    </dsp:sp>
    <dsp:sp modelId="{5F5FD024-96B9-4927-9522-4793C366CCDF}">
      <dsp:nvSpPr>
        <dsp:cNvPr id="0" name=""/>
        <dsp:cNvSpPr/>
      </dsp:nvSpPr>
      <dsp:spPr>
        <a:xfrm>
          <a:off x="0" y="961062"/>
          <a:ext cx="125015" cy="564183"/>
        </a:xfrm>
        <a:custGeom>
          <a:avLst/>
          <a:gdLst/>
          <a:ahLst/>
          <a:cxnLst/>
          <a:rect l="0" t="0" r="0" b="0"/>
          <a:pathLst>
            <a:path>
              <a:moveTo>
                <a:pt x="125015" y="0"/>
              </a:moveTo>
              <a:lnTo>
                <a:pt x="0" y="564183"/>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271D559-F991-45A8-861F-E02D43E73A7A}">
      <dsp:nvSpPr>
        <dsp:cNvPr id="0" name=""/>
        <dsp:cNvSpPr/>
      </dsp:nvSpPr>
      <dsp:spPr>
        <a:xfrm>
          <a:off x="0" y="1082027"/>
          <a:ext cx="3781032" cy="886435"/>
        </a:xfrm>
        <a:prstGeom prst="roundRect">
          <a:avLst>
            <a:gd name="adj" fmla="val 10000"/>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其实现保证了能够向上一层提供服务。</a:t>
          </a:r>
        </a:p>
      </dsp:txBody>
      <dsp:txXfrm>
        <a:off x="25963" y="1107990"/>
        <a:ext cx="3729106" cy="834509"/>
      </dsp:txXfrm>
    </dsp:sp>
    <dsp:sp modelId="{D504C716-6CF6-4108-8639-E75778C37519}">
      <dsp:nvSpPr>
        <dsp:cNvPr id="0" name=""/>
        <dsp:cNvSpPr/>
      </dsp:nvSpPr>
      <dsp:spPr>
        <a:xfrm>
          <a:off x="0" y="961062"/>
          <a:ext cx="125015" cy="1645218"/>
        </a:xfrm>
        <a:custGeom>
          <a:avLst/>
          <a:gdLst/>
          <a:ahLst/>
          <a:cxnLst/>
          <a:rect l="0" t="0" r="0" b="0"/>
          <a:pathLst>
            <a:path>
              <a:moveTo>
                <a:pt x="125015" y="0"/>
              </a:moveTo>
              <a:lnTo>
                <a:pt x="0" y="1645218"/>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24467C9-0F5C-4007-8028-B7B163F30ADF}">
      <dsp:nvSpPr>
        <dsp:cNvPr id="0" name=""/>
        <dsp:cNvSpPr/>
      </dsp:nvSpPr>
      <dsp:spPr>
        <a:xfrm>
          <a:off x="0" y="2160037"/>
          <a:ext cx="3781032" cy="892486"/>
        </a:xfrm>
        <a:prstGeom prst="roundRect">
          <a:avLst>
            <a:gd name="adj" fmla="val 10000"/>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对上面的服务用户是透明的。 </a:t>
          </a:r>
        </a:p>
      </dsp:txBody>
      <dsp:txXfrm>
        <a:off x="26140" y="2186177"/>
        <a:ext cx="3728752" cy="840206"/>
      </dsp:txXfrm>
    </dsp:sp>
    <dsp:sp modelId="{9164C2E8-A8A5-4BDA-B5B7-3599D5C7C4A2}">
      <dsp:nvSpPr>
        <dsp:cNvPr id="0" name=""/>
        <dsp:cNvSpPr/>
      </dsp:nvSpPr>
      <dsp:spPr>
        <a:xfrm>
          <a:off x="0" y="961062"/>
          <a:ext cx="125015" cy="2560269"/>
        </a:xfrm>
        <a:custGeom>
          <a:avLst/>
          <a:gdLst/>
          <a:ahLst/>
          <a:cxnLst/>
          <a:rect l="0" t="0" r="0" b="0"/>
          <a:pathLst>
            <a:path>
              <a:moveTo>
                <a:pt x="125015" y="0"/>
              </a:moveTo>
              <a:lnTo>
                <a:pt x="0" y="2560269"/>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8A735DB-4E1F-4605-8178-66A449AC1BB2}">
      <dsp:nvSpPr>
        <dsp:cNvPr id="0" name=""/>
        <dsp:cNvSpPr/>
      </dsp:nvSpPr>
      <dsp:spPr>
        <a:xfrm>
          <a:off x="0" y="3208793"/>
          <a:ext cx="3781032" cy="625078"/>
        </a:xfrm>
        <a:prstGeom prst="roundRect">
          <a:avLst>
            <a:gd name="adj" fmla="val 10000"/>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是“水平的”</a:t>
          </a:r>
        </a:p>
      </dsp:txBody>
      <dsp:txXfrm>
        <a:off x="18308" y="3227101"/>
        <a:ext cx="3744416" cy="588462"/>
      </dsp:txXfrm>
    </dsp:sp>
    <dsp:sp modelId="{CF6D9EBE-6D4F-45DB-B63C-66E318350665}">
      <dsp:nvSpPr>
        <dsp:cNvPr id="0" name=""/>
        <dsp:cNvSpPr/>
      </dsp:nvSpPr>
      <dsp:spPr>
        <a:xfrm>
          <a:off x="4094563" y="335984"/>
          <a:ext cx="1250156" cy="625078"/>
        </a:xfrm>
        <a:prstGeom prst="roundRect">
          <a:avLst>
            <a:gd name="adj" fmla="val 10000"/>
          </a:avLst>
        </a:prstGeom>
        <a:gradFill rotWithShape="0">
          <a:gsLst>
            <a:gs pos="0">
              <a:schemeClr val="accent3">
                <a:hueOff val="0"/>
                <a:satOff val="0"/>
                <a:lumOff val="0"/>
                <a:alphaOff val="0"/>
                <a:lumMod val="110000"/>
                <a:satMod val="105000"/>
                <a:tint val="67000"/>
              </a:schemeClr>
            </a:gs>
            <a:gs pos="50000">
              <a:schemeClr val="accent3">
                <a:hueOff val="0"/>
                <a:satOff val="0"/>
                <a:lumOff val="0"/>
                <a:alphaOff val="0"/>
                <a:lumMod val="105000"/>
                <a:satMod val="103000"/>
                <a:tint val="73000"/>
              </a:schemeClr>
            </a:gs>
            <a:gs pos="100000">
              <a:schemeClr val="accent3">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服务</a:t>
          </a:r>
          <a:endParaRPr lang="zh-CN" altLang="en-US" sz="1400" b="1" kern="1200" dirty="0">
            <a:latin typeface="微软雅黑" panose="020B0503020204020204" pitchFamily="34" charset="-122"/>
            <a:ea typeface="微软雅黑" panose="020B0503020204020204" pitchFamily="34" charset="-122"/>
          </a:endParaRPr>
        </a:p>
      </dsp:txBody>
      <dsp:txXfrm>
        <a:off x="4112871" y="354292"/>
        <a:ext cx="1213540" cy="588462"/>
      </dsp:txXfrm>
    </dsp:sp>
    <dsp:sp modelId="{D73DB642-839F-46E4-BEFB-357122DA8B2A}">
      <dsp:nvSpPr>
        <dsp:cNvPr id="0" name=""/>
        <dsp:cNvSpPr/>
      </dsp:nvSpPr>
      <dsp:spPr>
        <a:xfrm>
          <a:off x="4219579" y="961062"/>
          <a:ext cx="126007" cy="600534"/>
        </a:xfrm>
        <a:custGeom>
          <a:avLst/>
          <a:gdLst/>
          <a:ahLst/>
          <a:cxnLst/>
          <a:rect l="0" t="0" r="0" b="0"/>
          <a:pathLst>
            <a:path>
              <a:moveTo>
                <a:pt x="0" y="0"/>
              </a:moveTo>
              <a:lnTo>
                <a:pt x="0" y="600534"/>
              </a:lnTo>
              <a:lnTo>
                <a:pt x="126007" y="600534"/>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6E8205-074B-465F-84D3-7E9C2A4B087A}">
      <dsp:nvSpPr>
        <dsp:cNvPr id="0" name=""/>
        <dsp:cNvSpPr/>
      </dsp:nvSpPr>
      <dsp:spPr>
        <a:xfrm>
          <a:off x="4345587" y="1117332"/>
          <a:ext cx="3782412" cy="888529"/>
        </a:xfrm>
        <a:prstGeom prst="roundRect">
          <a:avLst>
            <a:gd name="adj" fmla="val 10000"/>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上层使用服务原语获得下层所提供的服务。</a:t>
          </a:r>
        </a:p>
      </dsp:txBody>
      <dsp:txXfrm>
        <a:off x="4371611" y="1143356"/>
        <a:ext cx="3730364" cy="836481"/>
      </dsp:txXfrm>
    </dsp:sp>
    <dsp:sp modelId="{C7786CBF-29A7-4F46-ACE1-BFAF2ED2906F}">
      <dsp:nvSpPr>
        <dsp:cNvPr id="0" name=""/>
        <dsp:cNvSpPr/>
      </dsp:nvSpPr>
      <dsp:spPr>
        <a:xfrm>
          <a:off x="4219579" y="961062"/>
          <a:ext cx="126007" cy="1647312"/>
        </a:xfrm>
        <a:custGeom>
          <a:avLst/>
          <a:gdLst/>
          <a:ahLst/>
          <a:cxnLst/>
          <a:rect l="0" t="0" r="0" b="0"/>
          <a:pathLst>
            <a:path>
              <a:moveTo>
                <a:pt x="0" y="0"/>
              </a:moveTo>
              <a:lnTo>
                <a:pt x="0" y="1647312"/>
              </a:lnTo>
              <a:lnTo>
                <a:pt x="126007" y="1647312"/>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4FAB220-39C0-4BB8-B879-AEB1A16B7CDC}">
      <dsp:nvSpPr>
        <dsp:cNvPr id="0" name=""/>
        <dsp:cNvSpPr/>
      </dsp:nvSpPr>
      <dsp:spPr>
        <a:xfrm>
          <a:off x="4345587" y="2162131"/>
          <a:ext cx="3782412" cy="892486"/>
        </a:xfrm>
        <a:prstGeom prst="roundRect">
          <a:avLst>
            <a:gd name="adj" fmla="val 10000"/>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上面的服务用户只能看见服务，无法看见下面的协议。</a:t>
          </a:r>
        </a:p>
      </dsp:txBody>
      <dsp:txXfrm>
        <a:off x="4371727" y="2188271"/>
        <a:ext cx="3730132" cy="840206"/>
      </dsp:txXfrm>
    </dsp:sp>
    <dsp:sp modelId="{55CE1C91-58A7-4FD4-86EE-26622EF07DF3}">
      <dsp:nvSpPr>
        <dsp:cNvPr id="0" name=""/>
        <dsp:cNvSpPr/>
      </dsp:nvSpPr>
      <dsp:spPr>
        <a:xfrm>
          <a:off x="4219579" y="961062"/>
          <a:ext cx="126007" cy="2562364"/>
        </a:xfrm>
        <a:custGeom>
          <a:avLst/>
          <a:gdLst/>
          <a:ahLst/>
          <a:cxnLst/>
          <a:rect l="0" t="0" r="0" b="0"/>
          <a:pathLst>
            <a:path>
              <a:moveTo>
                <a:pt x="0" y="0"/>
              </a:moveTo>
              <a:lnTo>
                <a:pt x="0" y="2562364"/>
              </a:lnTo>
              <a:lnTo>
                <a:pt x="126007" y="2562364"/>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47B9FB-319E-4006-A500-0E79D539374F}">
      <dsp:nvSpPr>
        <dsp:cNvPr id="0" name=""/>
        <dsp:cNvSpPr/>
      </dsp:nvSpPr>
      <dsp:spPr>
        <a:xfrm>
          <a:off x="4345587" y="3210887"/>
          <a:ext cx="3782412" cy="625078"/>
        </a:xfrm>
        <a:prstGeom prst="roundRect">
          <a:avLst>
            <a:gd name="adj" fmla="val 10000"/>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26670" tIns="17780" rIns="26670" bIns="17780" numCol="1" spcCol="1270" anchor="ctr" anchorCtr="0">
          <a:noAutofit/>
        </a:bodyPr>
        <a:lstStyle/>
        <a:p>
          <a:pPr marL="0" lvl="0" indent="0" algn="l" defTabSz="6223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是“垂直的”</a:t>
          </a:r>
        </a:p>
      </dsp:txBody>
      <dsp:txXfrm>
        <a:off x="4363895" y="3229195"/>
        <a:ext cx="3745796" cy="588462"/>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3">
  <dgm:title val=""/>
  <dgm:desc val=""/>
  <dgm:catLst>
    <dgm:cat type="relationship" pri="31000"/>
    <dgm:cat type="cycle" pri="1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omposite">
    <dgm:varLst>
      <dgm:chMax val="1"/>
      <dgm:dir/>
      <dgm:resizeHandles val="exact"/>
    </dgm:varLst>
    <dgm:alg type="composite">
      <dgm:param type="ar" val="1"/>
    </dgm:alg>
    <dgm:shape xmlns:r="http://schemas.openxmlformats.org/officeDocument/2006/relationships" r:blip="">
      <dgm:adjLst/>
    </dgm:shape>
    <dgm:presOf/>
    <dgm:constrLst/>
    <dgm:ruleLst/>
    <dgm:layoutNode name="radial">
      <dgm:varLst>
        <dgm:animLvl val="ctr"/>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h" for="ch" forName="centerShape" refType="h"/>
        <dgm:constr type="w" for="ch" forName="node" refType="w" fact="0.5"/>
        <dgm:constr type="h" for="ch" forName="node" refType="h" fact="0.5"/>
        <dgm:constr type="sp" refType="w" refFor="ch" refForName="node" fact="-0.2"/>
        <dgm:constr type="sibSp" refType="w" refFor="ch" refForName="node" fact="-0.2"/>
        <dgm:constr type="primFontSz" for="ch" forName="centerShape" val="65"/>
        <dgm:constr type="primFontSz" for="des" forName="node" val="65"/>
        <dgm:constr type="primFontSz" for="ch" forName="node" refType="primFontSz" refFor="ch" refForName="centerShape" op="lte"/>
      </dgm:constrLst>
      <dgm:ruleLst/>
      <dgm:forEach name="Name6" axis="ch" ptType="node" cnt="1">
        <dgm:layoutNode name="centerShape" styleLbl="vennNode1">
          <dgm:alg type="tx"/>
          <dgm:shape xmlns:r="http://schemas.openxmlformats.org/officeDocument/2006/relationships" type="ellipse" r:blip="">
            <dgm:adjLst/>
          </dgm:shape>
          <dgm:presOf axis="self"/>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7" axis="ch" ptType="node">
          <dgm:layoutNode name="node" styleLbl="vennNode1">
            <dgm:varLst>
              <dgm:bulletEnabled val="1"/>
            </dgm:varLst>
            <dgm:alg type="tx">
              <dgm:param type="txAnchorVertCh" val="mid"/>
            </dgm:alg>
            <dgm:shape xmlns:r="http://schemas.openxmlformats.org/officeDocument/2006/relationships" type="ellipse" r:blip="">
              <dgm:adjLst/>
            </dgm:shape>
            <dgm:presOf axis="desOrSelf" ptType="node"/>
            <dgm:constrLst>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dgm:forEach>
    </dgm:layoutNode>
  </dgm:layoutNode>
</dgm:layoutDef>
</file>

<file path=ppt/diagrams/layout4.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1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FA4006E8-8395-4ADA-895B-2208204B7025}" type="datetimeFigureOut">
              <a:rPr lang="zh-CN" altLang="en-US" smtClean="0"/>
              <a:pPr>
                <a:defRPr/>
              </a:pPr>
              <a:t>2026/7/25</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CD1CD96A-A6EF-4B0B-9885-C22D65D2CD20}" type="slidenum">
              <a:rPr lang="zh-CN" altLang="en-US" smtClean="0"/>
              <a:pPr>
                <a:defRPr/>
              </a:pPr>
              <a:t>‹#›</a:t>
            </a:fld>
            <a:endParaRPr lang="zh-CN" altLang="en-US" dirty="0"/>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latin typeface="Times New Roman" panose="02020603050405020304" pitchFamily="18" charset="0"/>
                <a:ea typeface="微软雅黑 Light" panose="020B0502040204020203" pitchFamily="34" charset="-122"/>
              </a:rPr>
              <a:pPr fontAlgn="base">
                <a:spcBef>
                  <a:spcPct val="0"/>
                </a:spcBef>
                <a:spcAft>
                  <a:spcPct val="0"/>
                </a:spcAft>
              </a:pPr>
              <a:t>2</a:t>
            </a:fld>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16928558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42</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44</a:t>
            </a:fld>
            <a:endParaRPr lang="zh-CN" altLang="en-US"/>
          </a:p>
        </p:txBody>
      </p:sp>
    </p:spTree>
    <p:extLst>
      <p:ext uri="{BB962C8B-B14F-4D97-AF65-F5344CB8AC3E}">
        <p14:creationId xmlns:p14="http://schemas.microsoft.com/office/powerpoint/2010/main" val="34437511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46</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49</a:t>
            </a:fld>
            <a:endParaRPr lang="zh-CN" altLang="en-US"/>
          </a:p>
        </p:txBody>
      </p:sp>
    </p:spTree>
    <p:extLst>
      <p:ext uri="{BB962C8B-B14F-4D97-AF65-F5344CB8AC3E}">
        <p14:creationId xmlns:p14="http://schemas.microsoft.com/office/powerpoint/2010/main" val="3395758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50</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65</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72</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76</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83</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84</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89</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102</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111</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112</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113</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114</a:t>
            </a:fld>
            <a:endParaRPr lang="zh-CN" altLang="en-US"/>
          </a:p>
        </p:txBody>
      </p:sp>
    </p:spTree>
    <p:extLst>
      <p:ext uri="{BB962C8B-B14F-4D97-AF65-F5344CB8AC3E}">
        <p14:creationId xmlns:p14="http://schemas.microsoft.com/office/powerpoint/2010/main" val="1770678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115</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116</a:t>
            </a:fld>
            <a:endParaRPr lang="zh-CN" altLang="en-US"/>
          </a:p>
        </p:txBody>
      </p:sp>
    </p:spTree>
    <p:extLst>
      <p:ext uri="{BB962C8B-B14F-4D97-AF65-F5344CB8AC3E}">
        <p14:creationId xmlns:p14="http://schemas.microsoft.com/office/powerpoint/2010/main" val="42192800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117</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118</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132</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133</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134</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135</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136</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137</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138</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139</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145</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cont">
    <p:spTree>
      <p:nvGrpSpPr>
        <p:cNvPr id="1" name=""/>
        <p:cNvGrpSpPr/>
        <p:nvPr/>
      </p:nvGrpSpPr>
      <p:grpSpPr>
        <a:xfrm>
          <a:off x="0" y="0"/>
          <a:ext cx="0" cy="0"/>
          <a:chOff x="0" y="0"/>
          <a:chExt cx="0" cy="0"/>
        </a:xfrm>
      </p:grpSpPr>
      <p:sp>
        <p:nvSpPr>
          <p:cNvPr id="4" name="AutoShape 5"/>
          <p:cNvSpPr>
            <a:spLocks noChangeArrowheads="1"/>
          </p:cNvSpPr>
          <p:nvPr userDrawn="1"/>
        </p:nvSpPr>
        <p:spPr bwMode="auto">
          <a:xfrm>
            <a:off x="0" y="188088"/>
            <a:ext cx="9144000" cy="432000"/>
          </a:xfrm>
          <a:prstGeom prst="rect">
            <a:avLst/>
          </a:prstGeom>
          <a:solidFill>
            <a:srgbClr val="0070C0"/>
          </a:solidFill>
          <a:ln>
            <a:noFill/>
          </a:ln>
          <a:effectLst/>
        </p:spPr>
        <p:txBody>
          <a:bodyPr wrap="none" anchor="ctr"/>
          <a:lstStyle/>
          <a:p>
            <a:endParaRPr lang="zh-CN" altLang="en-US" dirty="0">
              <a:latin typeface="Times New Roman" panose="02020603050405020304" pitchFamily="18" charset="0"/>
            </a:endParaRPr>
          </a:p>
        </p:txBody>
      </p:sp>
      <p:sp>
        <p:nvSpPr>
          <p:cNvPr id="2" name="标题 1">
            <a:extLst>
              <a:ext uri="{FF2B5EF4-FFF2-40B4-BE49-F238E27FC236}">
                <a16:creationId xmlns:a16="http://schemas.microsoft.com/office/drawing/2014/main" id="{F43200F1-A367-DE63-EF07-8BDA9D773628}"/>
              </a:ext>
            </a:extLst>
          </p:cNvPr>
          <p:cNvSpPr>
            <a:spLocks noGrp="1"/>
          </p:cNvSpPr>
          <p:nvPr>
            <p:ph type="title"/>
          </p:nvPr>
        </p:nvSpPr>
        <p:spPr/>
        <p:txBody>
          <a:bodyPr/>
          <a:lstStyle>
            <a:lvl1pPr>
              <a:defRPr lang="zh-CN" altLang="en-US" dirty="0">
                <a:solidFill>
                  <a:schemeClr val="bg1"/>
                </a:solidFill>
              </a:defRPr>
            </a:lvl1pPr>
          </a:lstStyle>
          <a:p>
            <a:r>
              <a:rPr lang="zh-CN" altLang="en-US" dirty="0"/>
              <a:t>单击此处编辑母版标题样式</a:t>
            </a:r>
          </a:p>
        </p:txBody>
      </p:sp>
      <p:sp>
        <p:nvSpPr>
          <p:cNvPr id="5" name="内容占位符 4">
            <a:extLst>
              <a:ext uri="{FF2B5EF4-FFF2-40B4-BE49-F238E27FC236}">
                <a16:creationId xmlns:a16="http://schemas.microsoft.com/office/drawing/2014/main" id="{8C33CEDD-DCDC-C7AD-8118-634E9A643E6D}"/>
              </a:ext>
            </a:extLst>
          </p:cNvPr>
          <p:cNvSpPr>
            <a:spLocks noGrp="1"/>
          </p:cNvSpPr>
          <p:nvPr>
            <p:ph sz="quarter" idx="10"/>
          </p:nvPr>
        </p:nvSpPr>
        <p:spPr>
          <a:xfrm>
            <a:off x="612000" y="720000"/>
            <a:ext cx="7920000" cy="3960000"/>
          </a:xfrm>
        </p:spPr>
        <p:txBody>
          <a:bodyPr/>
          <a:lstStyle>
            <a:lvl1pPr>
              <a:buFont typeface="Wingdings" panose="05000000000000000000" pitchFamily="2" charset="2"/>
              <a:buChar char="§"/>
              <a:defRPr/>
            </a:lvl1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580602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4" name="AutoShape 5">
            <a:extLst>
              <a:ext uri="{FF2B5EF4-FFF2-40B4-BE49-F238E27FC236}">
                <a16:creationId xmlns:a16="http://schemas.microsoft.com/office/drawing/2014/main" id="{8F41FEDA-3CA0-24B3-E0CE-0E480706130E}"/>
              </a:ext>
            </a:extLst>
          </p:cNvPr>
          <p:cNvSpPr>
            <a:spLocks noChangeArrowheads="1"/>
          </p:cNvSpPr>
          <p:nvPr userDrawn="1"/>
        </p:nvSpPr>
        <p:spPr bwMode="auto">
          <a:xfrm>
            <a:off x="0" y="188088"/>
            <a:ext cx="9144000" cy="432000"/>
          </a:xfrm>
          <a:prstGeom prst="rect">
            <a:avLst/>
          </a:prstGeom>
          <a:solidFill>
            <a:srgbClr val="0070C0"/>
          </a:solidFill>
          <a:ln>
            <a:noFill/>
          </a:ln>
          <a:effectLst/>
        </p:spPr>
        <p:txBody>
          <a:bodyPr wrap="none" anchor="ctr"/>
          <a:lstStyle/>
          <a:p>
            <a:endParaRPr lang="zh-CN" altLang="en-US" dirty="0">
              <a:latin typeface="Times New Roman" panose="02020603050405020304" pitchFamily="18" charset="0"/>
            </a:endParaRPr>
          </a:p>
        </p:txBody>
      </p:sp>
      <p:sp>
        <p:nvSpPr>
          <p:cNvPr id="2" name="标题 1">
            <a:extLst>
              <a:ext uri="{FF2B5EF4-FFF2-40B4-BE49-F238E27FC236}">
                <a16:creationId xmlns:a16="http://schemas.microsoft.com/office/drawing/2014/main" id="{3E087E70-7160-B4F6-FB83-D01296B0D4C4}"/>
              </a:ext>
            </a:extLst>
          </p:cNvPr>
          <p:cNvSpPr>
            <a:spLocks noGrp="1"/>
          </p:cNvSpPr>
          <p:nvPr>
            <p:ph type="title"/>
          </p:nvPr>
        </p:nvSpPr>
        <p:spPr>
          <a:xfrm>
            <a:off x="612000" y="216000"/>
            <a:ext cx="7920000" cy="369332"/>
          </a:xfrm>
        </p:spPr>
        <p:txBody>
          <a:bodyPr/>
          <a:lstStyle>
            <a:lvl1pPr>
              <a:defRPr lang="zh-CN" altLang="en-US" dirty="0">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7140260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574807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e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4D67AE12-B998-CFE6-5E5E-6AE6643E7916}"/>
              </a:ext>
            </a:extLst>
          </p:cNvPr>
          <p:cNvSpPr>
            <a:spLocks noGrp="1"/>
          </p:cNvSpPr>
          <p:nvPr>
            <p:ph type="title"/>
          </p:nvPr>
        </p:nvSpPr>
        <p:spPr>
          <a:xfrm>
            <a:off x="612000" y="216000"/>
            <a:ext cx="7920000" cy="3693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4EE75C8C-FA0F-A9D4-2F98-DC890073FF3C}"/>
              </a:ext>
            </a:extLst>
          </p:cNvPr>
          <p:cNvSpPr>
            <a:spLocks noGrp="1"/>
          </p:cNvSpPr>
          <p:nvPr>
            <p:ph type="body" idx="1"/>
          </p:nvPr>
        </p:nvSpPr>
        <p:spPr>
          <a:xfrm>
            <a:off x="612000" y="720000"/>
            <a:ext cx="7920000" cy="396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p:txBody>
      </p:sp>
      <p:sp>
        <p:nvSpPr>
          <p:cNvPr id="7" name="Line 3">
            <a:extLst>
              <a:ext uri="{FF2B5EF4-FFF2-40B4-BE49-F238E27FC236}">
                <a16:creationId xmlns:a16="http://schemas.microsoft.com/office/drawing/2014/main" id="{DE69D728-564D-A698-041E-85DAC54A1A04}"/>
              </a:ext>
            </a:extLst>
          </p:cNvPr>
          <p:cNvSpPr>
            <a:spLocks noChangeShapeType="1"/>
          </p:cNvSpPr>
          <p:nvPr userDrawn="1"/>
        </p:nvSpPr>
        <p:spPr bwMode="auto">
          <a:xfrm>
            <a:off x="72000" y="4895750"/>
            <a:ext cx="2808000" cy="0"/>
          </a:xfrm>
          <a:prstGeom prst="line">
            <a:avLst/>
          </a:prstGeom>
          <a:noFill/>
          <a:ln w="12700" algn="ctr">
            <a:solidFill>
              <a:schemeClr val="tx1">
                <a:lumMod val="50000"/>
                <a:lumOff val="50000"/>
              </a:schemeClr>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 name="Rectangle 5">
            <a:extLst>
              <a:ext uri="{FF2B5EF4-FFF2-40B4-BE49-F238E27FC236}">
                <a16:creationId xmlns:a16="http://schemas.microsoft.com/office/drawing/2014/main" id="{A544FBB2-85F9-2332-79F8-2108E64F5687}"/>
              </a:ext>
            </a:extLst>
          </p:cNvPr>
          <p:cNvSpPr>
            <a:spLocks noChangeArrowheads="1"/>
          </p:cNvSpPr>
          <p:nvPr userDrawn="1"/>
        </p:nvSpPr>
        <p:spPr bwMode="auto">
          <a:xfrm>
            <a:off x="2778281" y="4757251"/>
            <a:ext cx="1614546"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en-US" altLang="zh-CN" sz="1200" baseline="0" dirty="0">
                <a:solidFill>
                  <a:sysClr val="windowText" lastClr="000000"/>
                </a:solidFill>
                <a:latin typeface="+mn-lt"/>
                <a:ea typeface="+mn-ea"/>
              </a:rPr>
              <a:t>Computer Network 8th</a:t>
            </a:r>
            <a:endParaRPr lang="fr-FR" altLang="zh-CN" sz="1200" baseline="0" dirty="0">
              <a:solidFill>
                <a:sysClr val="windowText" lastClr="000000"/>
              </a:solidFill>
              <a:latin typeface="+mn-lt"/>
              <a:ea typeface="+mn-ea"/>
            </a:endParaRPr>
          </a:p>
        </p:txBody>
      </p:sp>
      <p:sp>
        <p:nvSpPr>
          <p:cNvPr id="9" name="椭圆 11">
            <a:extLst>
              <a:ext uri="{FF2B5EF4-FFF2-40B4-BE49-F238E27FC236}">
                <a16:creationId xmlns:a16="http://schemas.microsoft.com/office/drawing/2014/main" id="{5BF3EEA2-4D08-8A7E-4F9B-3DB982DBC270}"/>
              </a:ext>
            </a:extLst>
          </p:cNvPr>
          <p:cNvSpPr>
            <a:spLocks noChangeArrowheads="1"/>
          </p:cNvSpPr>
          <p:nvPr userDrawn="1"/>
        </p:nvSpPr>
        <p:spPr bwMode="auto">
          <a:xfrm>
            <a:off x="2794275" y="4852888"/>
            <a:ext cx="85725" cy="85725"/>
          </a:xfrm>
          <a:prstGeom prst="ellipse">
            <a:avLst/>
          </a:prstGeom>
          <a:solidFill>
            <a:schemeClr val="bg1"/>
          </a:solidFill>
          <a:ln w="12700" algn="ctr">
            <a:solidFill>
              <a:schemeClr val="tx1">
                <a:lumMod val="50000"/>
                <a:lumOff val="50000"/>
              </a:schemeClr>
            </a:solidFill>
            <a:round/>
            <a:headEnd/>
            <a:tailEnd/>
          </a:ln>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 name="Line 3">
            <a:extLst>
              <a:ext uri="{FF2B5EF4-FFF2-40B4-BE49-F238E27FC236}">
                <a16:creationId xmlns:a16="http://schemas.microsoft.com/office/drawing/2014/main" id="{CDBA3EE7-3EDC-D328-E46E-3D90C4C52F51}"/>
              </a:ext>
            </a:extLst>
          </p:cNvPr>
          <p:cNvSpPr>
            <a:spLocks noChangeShapeType="1"/>
          </p:cNvSpPr>
          <p:nvPr userDrawn="1"/>
        </p:nvSpPr>
        <p:spPr bwMode="auto">
          <a:xfrm>
            <a:off x="6264000" y="4895750"/>
            <a:ext cx="2808000" cy="0"/>
          </a:xfrm>
          <a:prstGeom prst="line">
            <a:avLst/>
          </a:prstGeom>
          <a:noFill/>
          <a:ln w="12700" algn="ctr">
            <a:solidFill>
              <a:schemeClr val="tx1">
                <a:lumMod val="50000"/>
                <a:lumOff val="50000"/>
              </a:schemeClr>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1" name="椭圆 13">
            <a:extLst>
              <a:ext uri="{FF2B5EF4-FFF2-40B4-BE49-F238E27FC236}">
                <a16:creationId xmlns:a16="http://schemas.microsoft.com/office/drawing/2014/main" id="{85B7B869-A1BF-1DB6-1444-03637AC11B06}"/>
              </a:ext>
            </a:extLst>
          </p:cNvPr>
          <p:cNvSpPr>
            <a:spLocks noChangeArrowheads="1"/>
          </p:cNvSpPr>
          <p:nvPr userDrawn="1"/>
        </p:nvSpPr>
        <p:spPr bwMode="auto">
          <a:xfrm>
            <a:off x="6264000" y="4852888"/>
            <a:ext cx="85725" cy="85725"/>
          </a:xfrm>
          <a:prstGeom prst="ellipse">
            <a:avLst/>
          </a:prstGeom>
          <a:solidFill>
            <a:schemeClr val="bg1"/>
          </a:solidFill>
          <a:ln w="12700" algn="ctr">
            <a:solidFill>
              <a:schemeClr val="tx1">
                <a:lumMod val="50000"/>
                <a:lumOff val="50000"/>
              </a:schemeClr>
            </a:solidFill>
            <a:round/>
            <a:headEnd/>
            <a:tailEnd/>
          </a:ln>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12" name="图片 11">
            <a:extLst>
              <a:ext uri="{FF2B5EF4-FFF2-40B4-BE49-F238E27FC236}">
                <a16:creationId xmlns:a16="http://schemas.microsoft.com/office/drawing/2014/main" id="{A841C0A0-6499-CCCD-4DF3-11281DDF1241}"/>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356000" y="4679750"/>
            <a:ext cx="432000" cy="432000"/>
          </a:xfrm>
          <a:prstGeom prst="ellipse">
            <a:avLst/>
          </a:prstGeom>
          <a:ln w="12700" cap="rnd">
            <a:noFill/>
          </a:ln>
          <a:effectLst/>
          <a:scene3d>
            <a:camera prst="orthographicFront"/>
            <a:lightRig rig="contrasting" dir="t">
              <a:rot lat="0" lon="0" rev="3000000"/>
            </a:lightRig>
          </a:scene3d>
          <a:sp3d contourW="7620">
            <a:bevelT w="95250" h="31750"/>
            <a:contourClr>
              <a:srgbClr val="333333"/>
            </a:contourClr>
          </a:sp3d>
        </p:spPr>
      </p:pic>
      <p:sp>
        <p:nvSpPr>
          <p:cNvPr id="13" name="文本框 12">
            <a:extLst>
              <a:ext uri="{FF2B5EF4-FFF2-40B4-BE49-F238E27FC236}">
                <a16:creationId xmlns:a16="http://schemas.microsoft.com/office/drawing/2014/main" id="{55D5D21A-270B-1DEE-1850-7EE79091AF02}"/>
              </a:ext>
            </a:extLst>
          </p:cNvPr>
          <p:cNvSpPr txBox="1"/>
          <p:nvPr userDrawn="1"/>
        </p:nvSpPr>
        <p:spPr>
          <a:xfrm>
            <a:off x="4751173" y="4757251"/>
            <a:ext cx="1532792" cy="2769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sz="1200" baseline="0" dirty="0">
                <a:solidFill>
                  <a:sysClr val="windowText" lastClr="000000"/>
                </a:solidFill>
                <a:latin typeface="+mn-lt"/>
                <a:ea typeface="+mn-ea"/>
              </a:rPr>
              <a:t>glplaman.github.io</a:t>
            </a:r>
            <a:endParaRPr lang="fr-FR" altLang="zh-CN" sz="1200" baseline="0" dirty="0">
              <a:solidFill>
                <a:sysClr val="windowText" lastClr="000000"/>
              </a:solidFill>
              <a:latin typeface="+mn-lt"/>
              <a:ea typeface="+mn-ea"/>
            </a:endParaRPr>
          </a:p>
        </p:txBody>
      </p:sp>
    </p:spTree>
    <p:extLst>
      <p:ext uri="{BB962C8B-B14F-4D97-AF65-F5344CB8AC3E}">
        <p14:creationId xmlns:p14="http://schemas.microsoft.com/office/powerpoint/2010/main" val="4288848597"/>
      </p:ext>
    </p:extLst>
  </p:cSld>
  <p:clrMap bg1="lt1" tx1="dk1" bg2="lt2" tx2="dk2" accent1="accent1" accent2="accent2" accent3="accent3" accent4="accent4" accent5="accent5" accent6="accent6" hlink="hlink" folHlink="folHlink"/>
  <p:sldLayoutIdLst>
    <p:sldLayoutId id="2147483697" r:id="rId1"/>
    <p:sldLayoutId id="2147483696" r:id="rId2"/>
    <p:sldLayoutId id="2147483691" r:id="rId3"/>
  </p:sldLayoutIdLst>
  <p:txStyles>
    <p:titleStyle>
      <a:lvl1pPr algn="l" defTabSz="685800" rtl="0" eaLnBrk="1" latinLnBrk="0" hangingPunct="1">
        <a:lnSpc>
          <a:spcPct val="90000"/>
        </a:lnSpc>
        <a:spcBef>
          <a:spcPct val="0"/>
        </a:spcBef>
        <a:buNone/>
        <a:defRPr sz="20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Wingdings" panose="05000000000000000000" pitchFamily="2" charset="2"/>
        <a:buChar char="§"/>
        <a:defRPr sz="18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4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2.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wmf"/><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wmf"/><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4.wmf"/></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wmf"/><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wmf"/></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7.w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7.wmf"/><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7.wmf"/><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4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7.wmf"/><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8" Type="http://schemas.openxmlformats.org/officeDocument/2006/relationships/image" Target="../media/image45.jpeg"/><Relationship Id="rId3" Type="http://schemas.microsoft.com/office/2007/relationships/hdphoto" Target="../media/hdphoto1.wdp"/><Relationship Id="rId7" Type="http://schemas.microsoft.com/office/2007/relationships/hdphoto" Target="../media/hdphoto3.wdp"/><Relationship Id="rId2" Type="http://schemas.openxmlformats.org/officeDocument/2006/relationships/image" Target="../media/image42.png"/><Relationship Id="rId1" Type="http://schemas.openxmlformats.org/officeDocument/2006/relationships/slideLayout" Target="../slideLayouts/slideLayout1.xml"/><Relationship Id="rId6" Type="http://schemas.openxmlformats.org/officeDocument/2006/relationships/image" Target="../media/image44.png"/><Relationship Id="rId5" Type="http://schemas.microsoft.com/office/2007/relationships/hdphoto" Target="../media/hdphoto2.wdp"/><Relationship Id="rId4" Type="http://schemas.openxmlformats.org/officeDocument/2006/relationships/image" Target="../media/image43.png"/></Relationships>
</file>

<file path=ppt/slides/_rels/slide65.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6.png"/><Relationship Id="rId7" Type="http://schemas.microsoft.com/office/2007/relationships/hdphoto" Target="../media/hdphoto4.wdp"/><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10" Type="http://schemas.openxmlformats.org/officeDocument/2006/relationships/image" Target="../media/image52.png"/><Relationship Id="rId4" Type="http://schemas.openxmlformats.org/officeDocument/2006/relationships/image" Target="../media/image47.png"/><Relationship Id="rId9" Type="http://schemas.openxmlformats.org/officeDocument/2006/relationships/image" Target="../media/image5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36.wmf"/><Relationship Id="rId7" Type="http://schemas.openxmlformats.org/officeDocument/2006/relationships/image" Target="../media/image5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5.png"/><Relationship Id="rId11" Type="http://schemas.openxmlformats.org/officeDocument/2006/relationships/image" Target="../media/image59.png"/><Relationship Id="rId5" Type="http://schemas.openxmlformats.org/officeDocument/2006/relationships/image" Target="../media/image54.png"/><Relationship Id="rId10" Type="http://schemas.openxmlformats.org/officeDocument/2006/relationships/image" Target="../media/image58.png"/><Relationship Id="rId4" Type="http://schemas.openxmlformats.org/officeDocument/2006/relationships/image" Target="../media/image53.png"/><Relationship Id="rId9" Type="http://schemas.openxmlformats.org/officeDocument/2006/relationships/image" Target="../media/image3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1.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1.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1.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1.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0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10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1.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3" Type="http://schemas.openxmlformats.org/officeDocument/2006/relationships/diagramLayout" Target="../diagrams/layout13.xml"/><Relationship Id="rId2" Type="http://schemas.openxmlformats.org/officeDocument/2006/relationships/diagramData" Target="../diagrams/data13.xml"/><Relationship Id="rId1" Type="http://schemas.openxmlformats.org/officeDocument/2006/relationships/slideLayout" Target="../slideLayouts/slideLayout1.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17.wmf"/></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1.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image" Target="../media/image17.wmf"/><Relationship Id="rId5" Type="http://schemas.openxmlformats.org/officeDocument/2006/relationships/image" Target="../media/image37.png"/><Relationship Id="rId4" Type="http://schemas.openxmlformats.org/officeDocument/2006/relationships/image" Target="../media/image61.wmf"/></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3" Type="http://schemas.openxmlformats.org/officeDocument/2006/relationships/image" Target="../media/image60.wmf"/><Relationship Id="rId2" Type="http://schemas.openxmlformats.org/officeDocument/2006/relationships/oleObject" Target="../embeddings/oleObject2.bin"/><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61.wmf"/><Relationship Id="rId2" Type="http://schemas.openxmlformats.org/officeDocument/2006/relationships/oleObject" Target="../embeddings/oleObject3.bin"/><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sp>
        <p:nvSpPr>
          <p:cNvPr id="13" name="矩形 6"/>
          <p:cNvSpPr>
            <a:spLocks noChangeArrowheads="1"/>
          </p:cNvSpPr>
          <p:nvPr/>
        </p:nvSpPr>
        <p:spPr bwMode="auto">
          <a:xfrm>
            <a:off x="5226050" y="2219325"/>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dirty="0">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5565775" y="1736725"/>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1654175" y="100330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5" name="Rectangle 10"/>
          <p:cNvSpPr>
            <a:spLocks noChangeArrowheads="1"/>
          </p:cNvSpPr>
          <p:nvPr/>
        </p:nvSpPr>
        <p:spPr bwMode="auto">
          <a:xfrm>
            <a:off x="1654175" y="14843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6" name="Rectangle 11"/>
          <p:cNvSpPr>
            <a:spLocks noChangeArrowheads="1"/>
          </p:cNvSpPr>
          <p:nvPr/>
        </p:nvSpPr>
        <p:spPr bwMode="auto">
          <a:xfrm>
            <a:off x="1654175" y="197485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7" name="Rectangle 12"/>
          <p:cNvSpPr>
            <a:spLocks noChangeArrowheads="1"/>
          </p:cNvSpPr>
          <p:nvPr/>
        </p:nvSpPr>
        <p:spPr bwMode="auto">
          <a:xfrm>
            <a:off x="1654175" y="2462213"/>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8" name="Rectangle 13"/>
          <p:cNvSpPr>
            <a:spLocks noChangeArrowheads="1"/>
          </p:cNvSpPr>
          <p:nvPr/>
        </p:nvSpPr>
        <p:spPr bwMode="auto">
          <a:xfrm>
            <a:off x="1654175" y="294322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9" name="Rectangle 14"/>
          <p:cNvSpPr>
            <a:spLocks noChangeArrowheads="1"/>
          </p:cNvSpPr>
          <p:nvPr/>
        </p:nvSpPr>
        <p:spPr bwMode="auto">
          <a:xfrm>
            <a:off x="1654175" y="343693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10" name="Rectangle 15"/>
          <p:cNvSpPr>
            <a:spLocks noChangeArrowheads="1"/>
          </p:cNvSpPr>
          <p:nvPr/>
        </p:nvSpPr>
        <p:spPr bwMode="auto">
          <a:xfrm>
            <a:off x="1652588" y="392747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12297" name="Line 16"/>
          <p:cNvSpPr>
            <a:spLocks noChangeShapeType="1"/>
          </p:cNvSpPr>
          <p:nvPr/>
        </p:nvSpPr>
        <p:spPr bwMode="auto">
          <a:xfrm>
            <a:off x="2401888" y="999749"/>
            <a:ext cx="0" cy="32400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2298" name="Rectangle 17"/>
          <p:cNvSpPr>
            <a:spLocks noChangeArrowheads="1"/>
          </p:cNvSpPr>
          <p:nvPr/>
        </p:nvSpPr>
        <p:spPr bwMode="auto">
          <a:xfrm>
            <a:off x="1685925" y="968375"/>
            <a:ext cx="578235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fr-FR" altLang="zh-CN" sz="2000" b="1" dirty="0">
                <a:solidFill>
                  <a:schemeClr val="bg1"/>
                </a:solidFill>
                <a:latin typeface="微软雅黑" pitchFamily="34" charset="-122"/>
                <a:ea typeface="微软雅黑" pitchFamily="34" charset="-122"/>
              </a:rPr>
              <a:t>1.1                     </a:t>
            </a:r>
            <a:r>
              <a:rPr lang="zh-CN" altLang="en-US" sz="2000" b="1" dirty="0">
                <a:solidFill>
                  <a:schemeClr val="bg1"/>
                </a:solidFill>
                <a:latin typeface="微软雅黑" pitchFamily="34" charset="-122"/>
                <a:ea typeface="微软雅黑" pitchFamily="34" charset="-122"/>
              </a:rPr>
              <a:t>计算机网络在信息时代中的作用</a:t>
            </a:r>
            <a:endParaRPr lang="fr-FR" sz="2000" b="1" dirty="0">
              <a:solidFill>
                <a:schemeClr val="bg1"/>
              </a:solidFill>
              <a:latin typeface="微软雅黑" pitchFamily="34" charset="-122"/>
              <a:ea typeface="微软雅黑" pitchFamily="34" charset="-122"/>
            </a:endParaRPr>
          </a:p>
        </p:txBody>
      </p:sp>
      <p:sp>
        <p:nvSpPr>
          <p:cNvPr id="12299" name="Rectangle 18"/>
          <p:cNvSpPr>
            <a:spLocks noChangeArrowheads="1"/>
          </p:cNvSpPr>
          <p:nvPr/>
        </p:nvSpPr>
        <p:spPr bwMode="auto">
          <a:xfrm>
            <a:off x="1685925" y="1449388"/>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1.2                                                  </a:t>
            </a:r>
            <a:r>
              <a:rPr lang="fr-FR" sz="2000" b="1" dirty="0">
                <a:solidFill>
                  <a:schemeClr val="bg1"/>
                </a:solidFill>
                <a:latin typeface="微软雅黑" pitchFamily="34" charset="-122"/>
                <a:ea typeface="微软雅黑" pitchFamily="34" charset="-122"/>
              </a:rPr>
              <a:t>互联网概述</a:t>
            </a:r>
          </a:p>
        </p:txBody>
      </p:sp>
      <p:sp>
        <p:nvSpPr>
          <p:cNvPr id="12300" name="Rectangle 19"/>
          <p:cNvSpPr>
            <a:spLocks noChangeArrowheads="1"/>
          </p:cNvSpPr>
          <p:nvPr/>
        </p:nvSpPr>
        <p:spPr bwMode="auto">
          <a:xfrm>
            <a:off x="1685925" y="1939925"/>
            <a:ext cx="58372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1.3                                               </a:t>
            </a:r>
            <a:r>
              <a:rPr lang="fr-FR" sz="2000" b="1">
                <a:solidFill>
                  <a:schemeClr val="bg1"/>
                </a:solidFill>
                <a:latin typeface="微软雅黑" pitchFamily="34" charset="-122"/>
                <a:ea typeface="微软雅黑" pitchFamily="34" charset="-122"/>
              </a:rPr>
              <a:t>互联网的组成</a:t>
            </a:r>
          </a:p>
        </p:txBody>
      </p:sp>
      <p:sp>
        <p:nvSpPr>
          <p:cNvPr id="12301" name="Rectangle 20"/>
          <p:cNvSpPr>
            <a:spLocks noChangeArrowheads="1"/>
          </p:cNvSpPr>
          <p:nvPr/>
        </p:nvSpPr>
        <p:spPr bwMode="auto">
          <a:xfrm>
            <a:off x="1685925" y="2422525"/>
            <a:ext cx="57229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1.4                              </a:t>
            </a:r>
            <a:r>
              <a:rPr lang="fr-FR" sz="2000" b="1" dirty="0">
                <a:solidFill>
                  <a:schemeClr val="bg1"/>
                </a:solidFill>
                <a:latin typeface="微软雅黑" pitchFamily="34" charset="-122"/>
                <a:ea typeface="微软雅黑" pitchFamily="34" charset="-122"/>
              </a:rPr>
              <a:t>计算机网络在我国的发展</a:t>
            </a:r>
          </a:p>
        </p:txBody>
      </p:sp>
      <p:sp>
        <p:nvSpPr>
          <p:cNvPr id="12302" name="Rectangle 21"/>
          <p:cNvSpPr>
            <a:spLocks noChangeArrowheads="1"/>
          </p:cNvSpPr>
          <p:nvPr/>
        </p:nvSpPr>
        <p:spPr bwMode="auto">
          <a:xfrm>
            <a:off x="1685925" y="2901950"/>
            <a:ext cx="5773738"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chemeClr val="bg1"/>
                </a:solidFill>
                <a:latin typeface="微软雅黑" pitchFamily="34" charset="-122"/>
                <a:ea typeface="微软雅黑" pitchFamily="34" charset="-122"/>
              </a:rPr>
              <a:t>1.5                                        </a:t>
            </a:r>
            <a:r>
              <a:rPr lang="fr-FR" sz="2000" b="1">
                <a:solidFill>
                  <a:schemeClr val="bg1"/>
                </a:solidFill>
                <a:latin typeface="微软雅黑" pitchFamily="34" charset="-122"/>
                <a:ea typeface="微软雅黑" pitchFamily="34" charset="-122"/>
              </a:rPr>
              <a:t>计算机网络的类别</a:t>
            </a:r>
          </a:p>
        </p:txBody>
      </p:sp>
      <p:sp>
        <p:nvSpPr>
          <p:cNvPr id="12303" name="Rectangle 22"/>
          <p:cNvSpPr>
            <a:spLocks noChangeArrowheads="1"/>
          </p:cNvSpPr>
          <p:nvPr/>
        </p:nvSpPr>
        <p:spPr bwMode="auto">
          <a:xfrm>
            <a:off x="1685925" y="3402013"/>
            <a:ext cx="582612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1.6                                        </a:t>
            </a:r>
            <a:r>
              <a:rPr lang="fr-FR" sz="2000" b="1" dirty="0">
                <a:solidFill>
                  <a:schemeClr val="bg1"/>
                </a:solidFill>
                <a:latin typeface="微软雅黑" pitchFamily="34" charset="-122"/>
                <a:ea typeface="微软雅黑" pitchFamily="34" charset="-122"/>
              </a:rPr>
              <a:t>计算机网络的性能</a:t>
            </a:r>
          </a:p>
        </p:txBody>
      </p:sp>
      <p:sp>
        <p:nvSpPr>
          <p:cNvPr id="12304" name="Rectangle 23"/>
          <p:cNvSpPr>
            <a:spLocks noChangeArrowheads="1"/>
          </p:cNvSpPr>
          <p:nvPr/>
        </p:nvSpPr>
        <p:spPr bwMode="auto">
          <a:xfrm>
            <a:off x="1685925" y="3892550"/>
            <a:ext cx="5743575" cy="400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chemeClr val="bg1"/>
                </a:solidFill>
                <a:latin typeface="微软雅黑" pitchFamily="34" charset="-122"/>
                <a:ea typeface="微软雅黑" pitchFamily="34" charset="-122"/>
              </a:rPr>
              <a:t>1.7                                 </a:t>
            </a:r>
            <a:r>
              <a:rPr lang="fr-FR" sz="2000" b="1" dirty="0">
                <a:solidFill>
                  <a:schemeClr val="bg1"/>
                </a:solidFill>
                <a:latin typeface="微软雅黑" pitchFamily="34" charset="-122"/>
                <a:ea typeface="微软雅黑" pitchFamily="34" charset="-122"/>
              </a:rPr>
              <a:t>计算机网络的体系结构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8900" y="1297991"/>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5" name="Rectangle 10"/>
          <p:cNvSpPr>
            <a:spLocks noChangeArrowheads="1"/>
          </p:cNvSpPr>
          <p:nvPr/>
        </p:nvSpPr>
        <p:spPr bwMode="auto">
          <a:xfrm>
            <a:off x="2628900" y="1904416"/>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25605" name="Line 16"/>
          <p:cNvSpPr>
            <a:spLocks noChangeShapeType="1"/>
          </p:cNvSpPr>
          <p:nvPr/>
        </p:nvSpPr>
        <p:spPr bwMode="auto">
          <a:xfrm>
            <a:off x="3636963" y="122655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606" name="Rectangle 8"/>
          <p:cNvSpPr>
            <a:spLocks noChangeArrowheads="1"/>
          </p:cNvSpPr>
          <p:nvPr/>
        </p:nvSpPr>
        <p:spPr bwMode="auto">
          <a:xfrm>
            <a:off x="2700337" y="1043991"/>
            <a:ext cx="5625515"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1.1.1                                    </a:t>
            </a:r>
            <a:r>
              <a:rPr lang="zh-CN" altLang="en-US" sz="2000" b="1" dirty="0">
                <a:solidFill>
                  <a:schemeClr val="bg1"/>
                </a:solidFill>
                <a:latin typeface="微软雅黑" pitchFamily="34" charset="-122"/>
                <a:ea typeface="微软雅黑" pitchFamily="34" charset="-122"/>
              </a:rPr>
              <a:t>计算机网络的定义</a:t>
            </a:r>
            <a:r>
              <a:rPr lang="en-US" altLang="zh-CN" sz="2000" b="1" dirty="0">
                <a:solidFill>
                  <a:schemeClr val="bg1"/>
                </a:solidFill>
                <a:latin typeface="微软雅黑" pitchFamily="34" charset="-122"/>
                <a:ea typeface="微软雅黑" pitchFamily="34" charset="-122"/>
              </a:rPr>
              <a:t>1.1.2                                    </a:t>
            </a:r>
            <a:r>
              <a:rPr lang="zh-CN" altLang="en-US" sz="2000" b="1" dirty="0">
                <a:solidFill>
                  <a:schemeClr val="bg1"/>
                </a:solidFill>
                <a:latin typeface="微软雅黑" pitchFamily="34" charset="-122"/>
                <a:ea typeface="微软雅黑" pitchFamily="34" charset="-122"/>
              </a:rPr>
              <a:t>计算机网络的特点</a:t>
            </a:r>
            <a:endParaRPr lang="en-US" altLang="zh-CN" sz="2000" b="1" dirty="0">
              <a:solidFill>
                <a:schemeClr val="bg1"/>
              </a:solidFill>
              <a:latin typeface="微软雅黑" pitchFamily="34" charset="-122"/>
              <a:ea typeface="微软雅黑" pitchFamily="34" charset="-122"/>
            </a:endParaRPr>
          </a:p>
        </p:txBody>
      </p:sp>
      <p:sp>
        <p:nvSpPr>
          <p:cNvPr id="9" name="Rectangle 27"/>
          <p:cNvSpPr>
            <a:spLocks noChangeArrowheads="1"/>
          </p:cNvSpPr>
          <p:nvPr/>
        </p:nvSpPr>
        <p:spPr bwMode="auto">
          <a:xfrm>
            <a:off x="639730" y="129767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dirty="0">
              <a:latin typeface="微软雅黑 Light" panose="020B0502040204020203" pitchFamily="34" charset="-122"/>
              <a:ea typeface="+mn-ea"/>
            </a:endParaRPr>
          </a:p>
        </p:txBody>
      </p:sp>
      <p:sp>
        <p:nvSpPr>
          <p:cNvPr id="25610" name="Rectangle 29"/>
          <p:cNvSpPr>
            <a:spLocks noChangeArrowheads="1"/>
          </p:cNvSpPr>
          <p:nvPr/>
        </p:nvSpPr>
        <p:spPr bwMode="auto">
          <a:xfrm>
            <a:off x="649288" y="1393241"/>
            <a:ext cx="1627187"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1.1</a:t>
            </a:r>
          </a:p>
          <a:p>
            <a:pPr eaLnBrk="0" hangingPunct="0"/>
            <a:r>
              <a:rPr lang="zh-CN" altLang="en-US" sz="2000" b="1" dirty="0">
                <a:solidFill>
                  <a:schemeClr val="bg1"/>
                </a:solidFill>
                <a:latin typeface="微软雅黑" pitchFamily="34" charset="-122"/>
                <a:ea typeface="微软雅黑" pitchFamily="34" charset="-122"/>
              </a:rPr>
              <a:t>计算机网络在信息时代中的作用</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32654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pic>
        <p:nvPicPr>
          <p:cNvPr id="10" name="图片 9"/>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1228262" y="1029104"/>
            <a:ext cx="6426572" cy="3488812"/>
          </a:xfrm>
          <a:prstGeom prst="rect">
            <a:avLst/>
          </a:prstGeom>
        </p:spPr>
      </p:pic>
      <p:sp>
        <p:nvSpPr>
          <p:cNvPr id="11" name="矩形 10"/>
          <p:cNvSpPr/>
          <p:nvPr/>
        </p:nvSpPr>
        <p:spPr>
          <a:xfrm>
            <a:off x="215783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万物联网</a:t>
            </a:r>
          </a:p>
        </p:txBody>
      </p:sp>
      <p:sp>
        <p:nvSpPr>
          <p:cNvPr id="12" name="矩形 11"/>
          <p:cNvSpPr/>
          <p:nvPr/>
        </p:nvSpPr>
        <p:spPr>
          <a:xfrm>
            <a:off x="5359690" y="1020055"/>
            <a:ext cx="1210588" cy="400110"/>
          </a:xfrm>
          <a:prstGeom prst="rect">
            <a:avLst/>
          </a:prstGeom>
        </p:spPr>
        <p:txBody>
          <a:bodyPr wrap="none">
            <a:spAutoFit/>
          </a:bodyPr>
          <a:lstStyle/>
          <a:p>
            <a:r>
              <a:rPr lang="zh-CN" altLang="en-US" sz="2000" b="1" dirty="0">
                <a:solidFill>
                  <a:schemeClr val="bg1"/>
                </a:solidFill>
                <a:latin typeface="微软雅黑" pitchFamily="34" charset="-122"/>
                <a:ea typeface="微软雅黑" pitchFamily="34" charset="-122"/>
              </a:rPr>
              <a:t>人人用网</a:t>
            </a:r>
          </a:p>
        </p:txBody>
      </p:sp>
      <p:sp>
        <p:nvSpPr>
          <p:cNvPr id="2" name="标题 1">
            <a:extLst>
              <a:ext uri="{FF2B5EF4-FFF2-40B4-BE49-F238E27FC236}">
                <a16:creationId xmlns:a16="http://schemas.microsoft.com/office/drawing/2014/main" id="{4AFD0E2C-223F-B279-C2ED-B41C3451B72A}"/>
              </a:ext>
            </a:extLst>
          </p:cNvPr>
          <p:cNvSpPr>
            <a:spLocks noGrp="1"/>
          </p:cNvSpPr>
          <p:nvPr>
            <p:ph type="title"/>
          </p:nvPr>
        </p:nvSpPr>
        <p:spPr/>
        <p:txBody>
          <a:bodyPr/>
          <a:lstStyle/>
          <a:p>
            <a:r>
              <a:rPr lang="zh-CN" altLang="en-US" dirty="0"/>
              <a:t>信息时代：以网络为核心</a:t>
            </a:r>
          </a:p>
        </p:txBody>
      </p:sp>
    </p:spTree>
    <p:extLst>
      <p:ext uri="{BB962C8B-B14F-4D97-AF65-F5344CB8AC3E}">
        <p14:creationId xmlns:p14="http://schemas.microsoft.com/office/powerpoint/2010/main" val="38467723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3809354" y="1109843"/>
            <a:ext cx="1261884" cy="1198413"/>
            <a:chOff x="3809354" y="1151665"/>
            <a:chExt cx="1261884" cy="1198413"/>
          </a:xfrm>
        </p:grpSpPr>
        <p:pic>
          <p:nvPicPr>
            <p:cNvPr id="7" name="图片 6"/>
            <p:cNvPicPr>
              <a:picLocks noChangeAspect="1"/>
            </p:cNvPicPr>
            <p:nvPr/>
          </p:nvPicPr>
          <p:blipFill rotWithShape="1">
            <a:blip r:embed="rId2" cstate="print">
              <a:extLst>
                <a:ext uri="{28A0092B-C50C-407E-A947-70E740481C1C}">
                  <a14:useLocalDpi xmlns:a14="http://schemas.microsoft.com/office/drawing/2010/main" val="0"/>
                </a:ext>
              </a:extLst>
            </a:blip>
            <a:srcRect l="36426" t="20817" r="35548" b="30525"/>
            <a:stretch/>
          </p:blipFill>
          <p:spPr>
            <a:xfrm>
              <a:off x="3950913" y="1394200"/>
              <a:ext cx="978767" cy="955878"/>
            </a:xfrm>
            <a:prstGeom prst="rect">
              <a:avLst/>
            </a:prstGeom>
          </p:spPr>
        </p:pic>
        <p:sp>
          <p:nvSpPr>
            <p:cNvPr id="5" name="矩形 4"/>
            <p:cNvSpPr/>
            <p:nvPr/>
          </p:nvSpPr>
          <p:spPr>
            <a:xfrm>
              <a:off x="3809354" y="1151665"/>
              <a:ext cx="1261884" cy="307777"/>
            </a:xfrm>
            <a:prstGeom prst="rect">
              <a:avLst/>
            </a:prstGeom>
          </p:spPr>
          <p:txBody>
            <a:bodyPr wrap="none">
              <a:spAutoFit/>
            </a:bodyPr>
            <a:lstStyle/>
            <a:p>
              <a:pPr algn="ctr"/>
              <a:r>
                <a:rPr lang="fr-FR" altLang="zh-CN" sz="1400" b="1" dirty="0">
                  <a:latin typeface="微软雅黑" pitchFamily="34" charset="-122"/>
                  <a:ea typeface="微软雅黑" pitchFamily="34" charset="-122"/>
                </a:rPr>
                <a:t>有线电视网络</a:t>
              </a:r>
              <a:endParaRPr lang="zh-CN" altLang="en-US" sz="1400" dirty="0">
                <a:latin typeface="Times New Roman" panose="02020603050405020304" pitchFamily="18" charset="0"/>
                <a:ea typeface="微软雅黑 Light" panose="020B0502040204020203" pitchFamily="34" charset="-122"/>
              </a:endParaRPr>
            </a:p>
          </p:txBody>
        </p:sp>
      </p:grpSp>
      <p:grpSp>
        <p:nvGrpSpPr>
          <p:cNvPr id="18" name="组合 17"/>
          <p:cNvGrpSpPr/>
          <p:nvPr/>
        </p:nvGrpSpPr>
        <p:grpSpPr>
          <a:xfrm>
            <a:off x="1200583" y="1109843"/>
            <a:ext cx="1013414" cy="1214992"/>
            <a:chOff x="1200583" y="1151665"/>
            <a:chExt cx="1013414" cy="1214992"/>
          </a:xfrm>
        </p:grpSpPr>
        <p:pic>
          <p:nvPicPr>
            <p:cNvPr id="3" name="图片 2"/>
            <p:cNvPicPr>
              <a:picLocks noChangeAspect="1"/>
            </p:cNvPicPr>
            <p:nvPr/>
          </p:nvPicPr>
          <p:blipFill rotWithShape="1">
            <a:blip r:embed="rId2" cstate="print">
              <a:extLst>
                <a:ext uri="{28A0092B-C50C-407E-A947-70E740481C1C}">
                  <a14:useLocalDpi xmlns:a14="http://schemas.microsoft.com/office/drawing/2010/main" val="0"/>
                </a:ext>
              </a:extLst>
            </a:blip>
            <a:srcRect l="4184" t="20817" r="66798" b="29681"/>
            <a:stretch/>
          </p:blipFill>
          <p:spPr>
            <a:xfrm>
              <a:off x="1200583" y="1394200"/>
              <a:ext cx="1013414" cy="972457"/>
            </a:xfrm>
            <a:prstGeom prst="rect">
              <a:avLst/>
            </a:prstGeom>
          </p:spPr>
        </p:pic>
        <p:sp>
          <p:nvSpPr>
            <p:cNvPr id="11" name="矩形 10"/>
            <p:cNvSpPr/>
            <p:nvPr/>
          </p:nvSpPr>
          <p:spPr>
            <a:xfrm>
              <a:off x="1262220" y="1151665"/>
              <a:ext cx="902811"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电信</a:t>
              </a:r>
              <a:r>
                <a:rPr lang="fr-FR" altLang="zh-CN" sz="1400" b="1" dirty="0">
                  <a:latin typeface="微软雅黑" pitchFamily="34" charset="-122"/>
                  <a:ea typeface="微软雅黑" pitchFamily="34" charset="-122"/>
                </a:rPr>
                <a:t>网络</a:t>
              </a:r>
              <a:endParaRPr lang="zh-CN" altLang="en-US" sz="1400" dirty="0">
                <a:latin typeface="Times New Roman" panose="02020603050405020304" pitchFamily="18" charset="0"/>
                <a:ea typeface="微软雅黑 Light" panose="020B0502040204020203" pitchFamily="34" charset="-122"/>
              </a:endParaRPr>
            </a:p>
          </p:txBody>
        </p:sp>
      </p:grpSp>
      <p:grpSp>
        <p:nvGrpSpPr>
          <p:cNvPr id="17" name="组合 16"/>
          <p:cNvGrpSpPr/>
          <p:nvPr/>
        </p:nvGrpSpPr>
        <p:grpSpPr>
          <a:xfrm>
            <a:off x="6704357" y="1109843"/>
            <a:ext cx="1082348" cy="1191148"/>
            <a:chOff x="6704357" y="1151665"/>
            <a:chExt cx="1082348" cy="1191148"/>
          </a:xfrm>
        </p:grpSpPr>
        <p:pic>
          <p:nvPicPr>
            <p:cNvPr id="8" name="图片 7"/>
            <p:cNvPicPr>
              <a:picLocks noChangeAspect="1"/>
            </p:cNvPicPr>
            <p:nvPr/>
          </p:nvPicPr>
          <p:blipFill rotWithShape="1">
            <a:blip r:embed="rId3" cstate="print">
              <a:extLst>
                <a:ext uri="{28A0092B-C50C-407E-A947-70E740481C1C}">
                  <a14:useLocalDpi xmlns:a14="http://schemas.microsoft.com/office/drawing/2010/main" val="0"/>
                </a:ext>
              </a:extLst>
            </a:blip>
            <a:srcRect l="67179" t="20817" r="4051" b="30894"/>
            <a:stretch/>
          </p:blipFill>
          <p:spPr>
            <a:xfrm>
              <a:off x="6741634" y="1394200"/>
              <a:ext cx="1004753" cy="948613"/>
            </a:xfrm>
            <a:prstGeom prst="rect">
              <a:avLst/>
            </a:prstGeom>
          </p:spPr>
        </p:pic>
        <p:sp>
          <p:nvSpPr>
            <p:cNvPr id="12" name="矩形 11"/>
            <p:cNvSpPr/>
            <p:nvPr/>
          </p:nvSpPr>
          <p:spPr>
            <a:xfrm>
              <a:off x="6704357" y="1151665"/>
              <a:ext cx="1082348"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计算机</a:t>
              </a:r>
              <a:r>
                <a:rPr lang="fr-FR" altLang="zh-CN" sz="1400" b="1" dirty="0">
                  <a:latin typeface="微软雅黑" pitchFamily="34" charset="-122"/>
                  <a:ea typeface="微软雅黑" pitchFamily="34" charset="-122"/>
                </a:rPr>
                <a:t>网络</a:t>
              </a:r>
              <a:endParaRPr lang="zh-CN" altLang="en-US" sz="1400" dirty="0">
                <a:latin typeface="Times New Roman" panose="02020603050405020304" pitchFamily="18" charset="0"/>
                <a:ea typeface="微软雅黑 Light" panose="020B0502040204020203" pitchFamily="34" charset="-122"/>
              </a:endParaRPr>
            </a:p>
          </p:txBody>
        </p:sp>
      </p:grpSp>
      <p:sp>
        <p:nvSpPr>
          <p:cNvPr id="13" name="矩形 12"/>
          <p:cNvSpPr/>
          <p:nvPr/>
        </p:nvSpPr>
        <p:spPr>
          <a:xfrm>
            <a:off x="835424" y="2267079"/>
            <a:ext cx="2023890"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提供电话、电报及传真等服务</a:t>
            </a:r>
            <a:r>
              <a:rPr lang="zh-CN" altLang="en-US" sz="2000" b="1" dirty="0">
                <a:latin typeface="微软雅黑" pitchFamily="34" charset="-122"/>
                <a:ea typeface="微软雅黑" pitchFamily="34" charset="-122"/>
              </a:rPr>
              <a:t>。</a:t>
            </a:r>
            <a:endParaRPr lang="fr-FR" altLang="zh-CN" sz="2000" b="1" dirty="0">
              <a:latin typeface="微软雅黑" pitchFamily="34" charset="-122"/>
              <a:ea typeface="微软雅黑" pitchFamily="34" charset="-122"/>
            </a:endParaRPr>
          </a:p>
        </p:txBody>
      </p:sp>
      <p:sp>
        <p:nvSpPr>
          <p:cNvPr id="14" name="矩形 13"/>
          <p:cNvSpPr/>
          <p:nvPr/>
        </p:nvSpPr>
        <p:spPr>
          <a:xfrm>
            <a:off x="3470291" y="2267079"/>
            <a:ext cx="1940009" cy="810478"/>
          </a:xfrm>
          <a:prstGeom prst="rect">
            <a:avLst/>
          </a:prstGeom>
        </p:spPr>
        <p:txBody>
          <a:bodyPr wrap="square">
            <a:spAutoFit/>
          </a:bodyPr>
          <a:lstStyle/>
          <a:p>
            <a:pPr algn="ctr">
              <a:lnSpc>
                <a:spcPts val="2800"/>
              </a:lnSpc>
            </a:pPr>
            <a:r>
              <a:rPr lang="fr-FR" altLang="zh-CN" sz="2000" b="1" dirty="0">
                <a:latin typeface="微软雅黑" pitchFamily="34" charset="-122"/>
                <a:ea typeface="微软雅黑" pitchFamily="34" charset="-122"/>
              </a:rPr>
              <a:t>向用户传送各种电视节目</a:t>
            </a:r>
            <a:r>
              <a:rPr lang="zh-CN" altLang="en-US" sz="2000" b="1" dirty="0">
                <a:latin typeface="微软雅黑" pitchFamily="34" charset="-122"/>
                <a:ea typeface="微软雅黑" pitchFamily="34" charset="-122"/>
              </a:rPr>
              <a:t>。</a:t>
            </a:r>
          </a:p>
        </p:txBody>
      </p:sp>
      <p:sp>
        <p:nvSpPr>
          <p:cNvPr id="15" name="矩形 14"/>
          <p:cNvSpPr/>
          <p:nvPr/>
        </p:nvSpPr>
        <p:spPr>
          <a:xfrm>
            <a:off x="6097828" y="2267079"/>
            <a:ext cx="2465598" cy="810478"/>
          </a:xfrm>
          <a:prstGeom prst="rect">
            <a:avLst/>
          </a:prstGeom>
        </p:spPr>
        <p:txBody>
          <a:bodyPr wrap="square">
            <a:spAutoFit/>
          </a:bodyPr>
          <a:lstStyle/>
          <a:p>
            <a:pPr>
              <a:lnSpc>
                <a:spcPts val="2800"/>
              </a:lnSpc>
            </a:pPr>
            <a:r>
              <a:rPr lang="fr-FR" altLang="zh-CN" sz="2000" b="1" dirty="0">
                <a:latin typeface="微软雅黑" pitchFamily="34" charset="-122"/>
                <a:ea typeface="微软雅黑" pitchFamily="34" charset="-122"/>
              </a:rPr>
              <a:t>使用户能在计算机之间传送数据文件</a:t>
            </a:r>
            <a:r>
              <a:rPr lang="zh-CN" altLang="en-US" sz="2000" b="1" dirty="0">
                <a:latin typeface="微软雅黑" pitchFamily="34" charset="-122"/>
                <a:ea typeface="微软雅黑" pitchFamily="34" charset="-122"/>
              </a:rPr>
              <a:t>。</a:t>
            </a:r>
          </a:p>
        </p:txBody>
      </p:sp>
      <p:grpSp>
        <p:nvGrpSpPr>
          <p:cNvPr id="25" name="组合 24"/>
          <p:cNvGrpSpPr>
            <a:grpSpLocks/>
          </p:cNvGrpSpPr>
          <p:nvPr/>
        </p:nvGrpSpPr>
        <p:grpSpPr bwMode="auto">
          <a:xfrm>
            <a:off x="938463" y="3267883"/>
            <a:ext cx="7355306" cy="685800"/>
            <a:chOff x="944499" y="4852174"/>
            <a:chExt cx="7009644" cy="809625"/>
          </a:xfrm>
        </p:grpSpPr>
        <p:sp>
          <p:nvSpPr>
            <p:cNvPr id="26" name="Rectangle 118"/>
            <p:cNvSpPr>
              <a:spLocks noChangeArrowheads="1"/>
            </p:cNvSpPr>
            <p:nvPr/>
          </p:nvSpPr>
          <p:spPr bwMode="auto">
            <a:xfrm>
              <a:off x="944499" y="4852174"/>
              <a:ext cx="7009644" cy="809625"/>
            </a:xfrm>
            <a:prstGeom prst="rect">
              <a:avLst/>
            </a:prstGeom>
            <a:solidFill>
              <a:srgbClr val="0098F6"/>
            </a:solidFill>
            <a:ln w="9525" algn="ctr">
              <a:noFill/>
              <a:miter lim="10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eaLnBrk="0" fontAlgn="auto" hangingPunct="0">
                <a:spcBef>
                  <a:spcPts val="0"/>
                </a:spcBef>
                <a:spcAft>
                  <a:spcPts val="0"/>
                </a:spcAft>
                <a:defRPr/>
              </a:pPr>
              <a:endParaRPr lang="fr-FR" dirty="0">
                <a:latin typeface="微软雅黑 Light" panose="020B0502040204020203" pitchFamily="34" charset="-122"/>
                <a:ea typeface="+mn-ea"/>
              </a:endParaRPr>
            </a:p>
          </p:txBody>
        </p:sp>
        <p:sp>
          <p:nvSpPr>
            <p:cNvPr id="27" name="矩形 6"/>
            <p:cNvSpPr>
              <a:spLocks noChangeArrowheads="1"/>
            </p:cNvSpPr>
            <p:nvPr/>
          </p:nvSpPr>
          <p:spPr bwMode="auto">
            <a:xfrm>
              <a:off x="1874707" y="5054045"/>
              <a:ext cx="5064530" cy="436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lnSpc>
                  <a:spcPct val="90000"/>
                </a:lnSpc>
              </a:pPr>
              <a:r>
                <a:rPr lang="zh-CN" altLang="en-US" sz="2000" b="1" dirty="0">
                  <a:solidFill>
                    <a:schemeClr val="bg1"/>
                  </a:solidFill>
                  <a:latin typeface="微软雅黑" pitchFamily="34" charset="-122"/>
                  <a:ea typeface="微软雅黑" pitchFamily="34" charset="-122"/>
                </a:rPr>
                <a:t>发展最快的并起到核心作用的是</a:t>
              </a:r>
              <a:r>
                <a:rPr lang="zh-CN" altLang="en-US" sz="2000" b="1" dirty="0">
                  <a:solidFill>
                    <a:srgbClr val="FFFF00"/>
                  </a:solidFill>
                  <a:latin typeface="微软雅黑" pitchFamily="34" charset="-122"/>
                  <a:ea typeface="微软雅黑" pitchFamily="34" charset="-122"/>
                </a:rPr>
                <a:t>计算机网络。</a:t>
              </a:r>
              <a:endParaRPr lang="en-US" altLang="zh-CN" sz="2000" b="1" dirty="0">
                <a:solidFill>
                  <a:srgbClr val="FFFF00"/>
                </a:solidFill>
                <a:latin typeface="微软雅黑" pitchFamily="34" charset="-122"/>
                <a:ea typeface="微软雅黑" pitchFamily="34" charset="-122"/>
              </a:endParaRPr>
            </a:p>
          </p:txBody>
        </p:sp>
      </p:grpSp>
      <p:sp>
        <p:nvSpPr>
          <p:cNvPr id="20" name="矩形 19"/>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21" name="矩形 20"/>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24" name="Rectangle 6"/>
          <p:cNvSpPr>
            <a:spLocks noChangeArrowheads="1"/>
          </p:cNvSpPr>
          <p:nvPr/>
        </p:nvSpPr>
        <p:spPr bwMode="auto">
          <a:xfrm>
            <a:off x="4438488" y="585760"/>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14151FBD-520F-DF93-E26D-4A79969FFF1F}"/>
              </a:ext>
            </a:extLst>
          </p:cNvPr>
          <p:cNvSpPr>
            <a:spLocks noGrp="1"/>
          </p:cNvSpPr>
          <p:nvPr>
            <p:ph type="title"/>
          </p:nvPr>
        </p:nvSpPr>
        <p:spPr/>
        <p:txBody>
          <a:bodyPr/>
          <a:lstStyle/>
          <a:p>
            <a:r>
              <a:rPr lang="zh-CN" altLang="en-US" dirty="0"/>
              <a:t>大众熟悉的三大类网络</a:t>
            </a:r>
            <a:endParaRPr lang="fr-FR" altLang="zh-CN" dirty="0"/>
          </a:p>
        </p:txBody>
      </p:sp>
    </p:spTree>
    <p:extLst>
      <p:ext uri="{BB962C8B-B14F-4D97-AF65-F5344CB8AC3E}">
        <p14:creationId xmlns:p14="http://schemas.microsoft.com/office/powerpoint/2010/main" val="26146516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04772" y="1024759"/>
            <a:ext cx="5852160" cy="3291840"/>
          </a:xfrm>
          <a:prstGeom prst="rect">
            <a:avLst/>
          </a:prstGeom>
        </p:spPr>
      </p:pic>
      <p:sp>
        <p:nvSpPr>
          <p:cNvPr id="7" name="矩形 6"/>
          <p:cNvSpPr/>
          <p:nvPr/>
        </p:nvSpPr>
        <p:spPr>
          <a:xfrm>
            <a:off x="1670150"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8" name="矩形 7"/>
          <p:cNvSpPr/>
          <p:nvPr/>
        </p:nvSpPr>
        <p:spPr>
          <a:xfrm>
            <a:off x="5908327" y="599523"/>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2" name="标题 1">
            <a:extLst>
              <a:ext uri="{FF2B5EF4-FFF2-40B4-BE49-F238E27FC236}">
                <a16:creationId xmlns:a16="http://schemas.microsoft.com/office/drawing/2014/main" id="{A8489A26-ECB0-0B28-69DC-A0AAEDCC0B0E}"/>
              </a:ext>
            </a:extLst>
          </p:cNvPr>
          <p:cNvSpPr>
            <a:spLocks noGrp="1"/>
          </p:cNvSpPr>
          <p:nvPr>
            <p:ph type="title"/>
          </p:nvPr>
        </p:nvSpPr>
        <p:spPr/>
        <p:txBody>
          <a:bodyPr/>
          <a:lstStyle/>
          <a:p>
            <a:r>
              <a:rPr lang="zh-CN" altLang="en-US" dirty="0"/>
              <a:t>三网融合</a:t>
            </a:r>
          </a:p>
        </p:txBody>
      </p:sp>
    </p:spTree>
    <p:extLst>
      <p:ext uri="{BB962C8B-B14F-4D97-AF65-F5344CB8AC3E}">
        <p14:creationId xmlns:p14="http://schemas.microsoft.com/office/powerpoint/2010/main" val="22090724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7" name="组合 6"/>
          <p:cNvGrpSpPr/>
          <p:nvPr/>
        </p:nvGrpSpPr>
        <p:grpSpPr>
          <a:xfrm>
            <a:off x="466344" y="633886"/>
            <a:ext cx="8129016" cy="400110"/>
            <a:chOff x="466344" y="1151890"/>
            <a:chExt cx="8129016" cy="400110"/>
          </a:xfrm>
        </p:grpSpPr>
        <p:sp>
          <p:nvSpPr>
            <p:cNvPr id="8" name="AutoShape 5"/>
            <p:cNvSpPr>
              <a:spLocks noChangeArrowheads="1"/>
            </p:cNvSpPr>
            <p:nvPr/>
          </p:nvSpPr>
          <p:spPr bwMode="auto">
            <a:xfrm>
              <a:off x="466344" y="1185228"/>
              <a:ext cx="8129016" cy="354012"/>
            </a:xfrm>
            <a:prstGeom prst="roundRect">
              <a:avLst>
                <a:gd name="adj" fmla="val 16667"/>
              </a:avLst>
            </a:prstGeom>
            <a:solidFill>
              <a:srgbClr val="00B05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Rectangle 6"/>
            <p:cNvSpPr>
              <a:spLocks noChangeArrowheads="1"/>
            </p:cNvSpPr>
            <p:nvPr/>
          </p:nvSpPr>
          <p:spPr bwMode="auto">
            <a:xfrm>
              <a:off x="4438491" y="1151890"/>
              <a:ext cx="184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endParaRPr lang="fr-FR" altLang="zh-CN" sz="2000" b="1" dirty="0">
                <a:solidFill>
                  <a:schemeClr val="bg1"/>
                </a:solidFill>
                <a:latin typeface="微软雅黑" pitchFamily="34" charset="-122"/>
                <a:ea typeface="微软雅黑" pitchFamily="34" charset="-122"/>
              </a:endParaRPr>
            </a:p>
          </p:txBody>
        </p:sp>
      </p:grpSp>
      <p:sp>
        <p:nvSpPr>
          <p:cNvPr id="11" name="内容占位符 10"/>
          <p:cNvSpPr>
            <a:spLocks noGrp="1"/>
          </p:cNvSpPr>
          <p:nvPr>
            <p:ph sz="quarter" idx="4294967295"/>
          </p:nvPr>
        </p:nvSpPr>
        <p:spPr>
          <a:xfrm>
            <a:off x="612000" y="720000"/>
            <a:ext cx="7920000" cy="3960000"/>
          </a:xfrm>
        </p:spPr>
        <p:txBody>
          <a:bodyPr/>
          <a:lstStyle/>
          <a:p>
            <a:r>
              <a:rPr lang="zh-CN" altLang="en-US" dirty="0"/>
              <a:t>如何称呼 </a:t>
            </a:r>
            <a:r>
              <a:rPr lang="en-US" altLang="zh-CN" dirty="0"/>
              <a:t>Internet</a:t>
            </a:r>
            <a:r>
              <a:rPr lang="zh-CN" altLang="en-US" dirty="0"/>
              <a:t>？</a:t>
            </a:r>
          </a:p>
          <a:p>
            <a:r>
              <a:rPr lang="zh-CN" altLang="en-US" dirty="0"/>
              <a:t>因特网：推荐，但却长期未得到推广。</a:t>
            </a:r>
          </a:p>
          <a:p>
            <a:r>
              <a:rPr lang="zh-CN" altLang="en-US" dirty="0"/>
              <a:t>互联网：目前流行最广，事实上的标准译名。</a:t>
            </a:r>
          </a:p>
          <a:p>
            <a:r>
              <a:rPr lang="zh-CN" altLang="en-US" dirty="0"/>
              <a:t>互联网 ≠互连网。</a:t>
            </a:r>
          </a:p>
          <a:p>
            <a:pPr lvl="1"/>
            <a:r>
              <a:rPr lang="zh-CN" altLang="en-US" dirty="0"/>
              <a:t>互连网：局部范围互连起来的计算机网络。</a:t>
            </a:r>
          </a:p>
          <a:p>
            <a:endParaRPr lang="zh-CN" altLang="en-US" dirty="0"/>
          </a:p>
        </p:txBody>
      </p:sp>
      <p:sp>
        <p:nvSpPr>
          <p:cNvPr id="4" name="文本占位符 3">
            <a:extLst>
              <a:ext uri="{FF2B5EF4-FFF2-40B4-BE49-F238E27FC236}">
                <a16:creationId xmlns:a16="http://schemas.microsoft.com/office/drawing/2014/main" id="{9BE7D319-83DF-6D21-678D-2BEA661776D4}"/>
              </a:ext>
            </a:extLst>
          </p:cNvPr>
          <p:cNvSpPr>
            <a:spLocks noGrp="1"/>
          </p:cNvSpPr>
          <p:nvPr>
            <p:ph type="body" sz="quarter" idx="4294967295"/>
          </p:nvPr>
        </p:nvSpPr>
        <p:spPr>
          <a:xfrm>
            <a:off x="0" y="153988"/>
            <a:ext cx="6632575" cy="338137"/>
          </a:xfrm>
        </p:spPr>
        <p:txBody>
          <a:bodyPr>
            <a:normAutofit lnSpcReduction="10000"/>
          </a:bodyPr>
          <a:lstStyle/>
          <a:p>
            <a:r>
              <a:rPr lang="en-US" altLang="zh-CN" dirty="0"/>
              <a:t>Internet</a:t>
            </a:r>
            <a:r>
              <a:rPr lang="zh-CN" altLang="en-US" dirty="0"/>
              <a:t>：全球最大、最重要的计算机网络</a:t>
            </a:r>
            <a:endParaRPr lang="fr-FR" altLang="zh-CN" dirty="0"/>
          </a:p>
        </p:txBody>
      </p:sp>
      <p:sp>
        <p:nvSpPr>
          <p:cNvPr id="3" name="矩形 2"/>
          <p:cNvSpPr/>
          <p:nvPr/>
        </p:nvSpPr>
        <p:spPr>
          <a:xfrm>
            <a:off x="923118" y="3133186"/>
            <a:ext cx="7114894" cy="810478"/>
          </a:xfrm>
          <a:prstGeom prst="rect">
            <a:avLst/>
          </a:prstGeom>
          <a:solidFill>
            <a:srgbClr val="0066FF"/>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思考：它们说的是哪个网？</a:t>
            </a:r>
            <a:endParaRPr lang="en-US" altLang="zh-CN" sz="2000" b="1" dirty="0">
              <a:latin typeface="微软雅黑" panose="020B0503020204020204" pitchFamily="34" charset="-122"/>
              <a:ea typeface="微软雅黑" panose="020B0503020204020204" pitchFamily="34" charset="-122"/>
            </a:endParaRPr>
          </a:p>
          <a:p>
            <a:pPr>
              <a:lnSpc>
                <a:spcPts val="2800"/>
              </a:lnSpc>
              <a:spcBef>
                <a:spcPts val="0"/>
              </a:spcBef>
              <a:spcAft>
                <a:spcPts val="0"/>
              </a:spcAft>
            </a:pPr>
            <a:r>
              <a:rPr lang="zh-CN" altLang="en-US" sz="2000" b="1" dirty="0">
                <a:latin typeface="微软雅黑" panose="020B0503020204020204" pitchFamily="34" charset="-122"/>
                <a:ea typeface="微软雅黑" panose="020B0503020204020204" pitchFamily="34" charset="-122"/>
              </a:rPr>
              <a:t>上网，联网，网民，网吧，网银，网购，网管，知网。</a:t>
            </a:r>
          </a:p>
        </p:txBody>
      </p:sp>
    </p:spTree>
    <p:extLst>
      <p:ext uri="{BB962C8B-B14F-4D97-AF65-F5344CB8AC3E}">
        <p14:creationId xmlns:p14="http://schemas.microsoft.com/office/powerpoint/2010/main" val="32387476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aphicFrame>
        <p:nvGraphicFramePr>
          <p:cNvPr id="3" name="图示 2"/>
          <p:cNvGraphicFramePr/>
          <p:nvPr>
            <p:extLst>
              <p:ext uri="{D42A27DB-BD31-4B8C-83A1-F6EECF244321}">
                <p14:modId xmlns:p14="http://schemas.microsoft.com/office/powerpoint/2010/main" val="1512883145"/>
              </p:ext>
            </p:extLst>
          </p:nvPr>
        </p:nvGraphicFramePr>
        <p:xfrm>
          <a:off x="304796" y="1067257"/>
          <a:ext cx="8464736" cy="27208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文本框 3">
            <a:extLst>
              <a:ext uri="{FF2B5EF4-FFF2-40B4-BE49-F238E27FC236}">
                <a16:creationId xmlns:a16="http://schemas.microsoft.com/office/drawing/2014/main" id="{74F7360A-6A13-7B51-045E-792CE16A5B52}"/>
              </a:ext>
            </a:extLst>
          </p:cNvPr>
          <p:cNvSpPr txBox="1"/>
          <p:nvPr/>
        </p:nvSpPr>
        <p:spPr>
          <a:xfrm>
            <a:off x="2289942" y="2389054"/>
            <a:ext cx="4579882" cy="369332"/>
          </a:xfrm>
          <a:prstGeom prst="rect">
            <a:avLst/>
          </a:prstGeom>
          <a:noFill/>
        </p:spPr>
        <p:txBody>
          <a:bodyPr wrap="square">
            <a:spAutoFit/>
          </a:bodyPr>
          <a:lstStyle/>
          <a:p>
            <a:pPr algn="ctr" eaLnBrk="0" hangingPunct="0"/>
            <a:r>
              <a:rPr lang="zh-CN" altLang="en-US" sz="1800" b="1" dirty="0">
                <a:solidFill>
                  <a:schemeClr val="bg1"/>
                </a:solidFill>
                <a:latin typeface="微软雅黑" pitchFamily="34" charset="-122"/>
                <a:ea typeface="微软雅黑" pitchFamily="34" charset="-122"/>
              </a:rPr>
              <a:t>互联网是什么？</a:t>
            </a:r>
            <a:endParaRPr lang="fr-FR" altLang="zh-CN" sz="1800" b="1" dirty="0">
              <a:solidFill>
                <a:schemeClr val="bg1"/>
              </a:solidFill>
              <a:latin typeface="微软雅黑" pitchFamily="34" charset="-122"/>
              <a:ea typeface="微软雅黑" pitchFamily="34" charset="-122"/>
            </a:endParaRPr>
          </a:p>
        </p:txBody>
      </p:sp>
      <p:sp>
        <p:nvSpPr>
          <p:cNvPr id="21" name="内容占位符 20">
            <a:extLst>
              <a:ext uri="{FF2B5EF4-FFF2-40B4-BE49-F238E27FC236}">
                <a16:creationId xmlns:a16="http://schemas.microsoft.com/office/drawing/2014/main" id="{77F8431C-15C0-EE38-7D4E-AF7ADD660DD1}"/>
              </a:ext>
            </a:extLst>
          </p:cNvPr>
          <p:cNvSpPr>
            <a:spLocks noGrp="1"/>
          </p:cNvSpPr>
          <p:nvPr>
            <p:ph sz="quarter" idx="4294967295"/>
          </p:nvPr>
        </p:nvSpPr>
        <p:spPr>
          <a:xfrm>
            <a:off x="612000" y="720000"/>
            <a:ext cx="7920000" cy="3960000"/>
          </a:xfrm>
        </p:spPr>
        <p:txBody>
          <a:bodyPr/>
          <a:lstStyle/>
          <a:p>
            <a:endParaRPr lang="zh-CN" altLang="en-US"/>
          </a:p>
        </p:txBody>
      </p:sp>
      <p:sp>
        <p:nvSpPr>
          <p:cNvPr id="17" name="文本占位符 16">
            <a:extLst>
              <a:ext uri="{FF2B5EF4-FFF2-40B4-BE49-F238E27FC236}">
                <a16:creationId xmlns:a16="http://schemas.microsoft.com/office/drawing/2014/main" id="{23F7F340-BA41-7E93-05F4-E8E394399412}"/>
              </a:ext>
            </a:extLst>
          </p:cNvPr>
          <p:cNvSpPr>
            <a:spLocks noGrp="1"/>
          </p:cNvSpPr>
          <p:nvPr>
            <p:ph type="body" sz="quarter" idx="4294967295"/>
          </p:nvPr>
        </p:nvSpPr>
        <p:spPr>
          <a:xfrm>
            <a:off x="0" y="153988"/>
            <a:ext cx="6632575" cy="338137"/>
          </a:xfrm>
        </p:spPr>
        <p:txBody>
          <a:bodyPr>
            <a:normAutofit lnSpcReduction="10000"/>
          </a:bodyPr>
          <a:lstStyle/>
          <a:p>
            <a:r>
              <a:rPr lang="zh-CN" altLang="en-US" dirty="0"/>
              <a:t>互联网是什么？</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aphicFrame>
        <p:nvGraphicFramePr>
          <p:cNvPr id="3" name="图示 2"/>
          <p:cNvGraphicFramePr/>
          <p:nvPr>
            <p:extLst>
              <p:ext uri="{D42A27DB-BD31-4B8C-83A1-F6EECF244321}">
                <p14:modId xmlns:p14="http://schemas.microsoft.com/office/powerpoint/2010/main" val="3379243481"/>
              </p:ext>
            </p:extLst>
          </p:nvPr>
        </p:nvGraphicFramePr>
        <p:xfrm>
          <a:off x="1288868" y="1022337"/>
          <a:ext cx="6540138" cy="28458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14" name="矩形 13"/>
          <p:cNvSpPr/>
          <p:nvPr/>
        </p:nvSpPr>
        <p:spPr>
          <a:xfrm>
            <a:off x="1288868" y="3989627"/>
            <a:ext cx="6540138" cy="369332"/>
          </a:xfrm>
          <a:prstGeom prst="rect">
            <a:avLst/>
          </a:prstGeom>
          <a:solidFill>
            <a:srgbClr val="0066FF"/>
          </a:solidFill>
        </p:spPr>
        <p:style>
          <a:lnRef idx="1">
            <a:schemeClr val="accent1"/>
          </a:lnRef>
          <a:fillRef idx="3">
            <a:schemeClr val="accent1"/>
          </a:fillRef>
          <a:effectRef idx="2">
            <a:schemeClr val="accent1"/>
          </a:effectRef>
          <a:fontRef idx="minor">
            <a:schemeClr val="lt1"/>
          </a:fontRef>
        </p:style>
        <p:txBody>
          <a:bodyPr wrap="square">
            <a:spAutoFit/>
          </a:bodyPr>
          <a:lstStyle/>
          <a:p>
            <a:pPr algn="ctr"/>
            <a:r>
              <a:rPr lang="zh-CN" altLang="en-US" b="1" dirty="0">
                <a:latin typeface="微软雅黑" panose="020B0503020204020204" pitchFamily="34" charset="-122"/>
                <a:ea typeface="微软雅黑" panose="020B0503020204020204" pitchFamily="34" charset="-122"/>
              </a:rPr>
              <a:t>是 </a:t>
            </a:r>
            <a:r>
              <a:rPr lang="en-US" altLang="zh-CN" b="1" dirty="0">
                <a:latin typeface="微软雅黑" panose="020B0503020204020204" pitchFamily="34" charset="-122"/>
                <a:ea typeface="微软雅黑" panose="020B0503020204020204" pitchFamily="34" charset="-122"/>
              </a:rPr>
              <a:t>Internet </a:t>
            </a:r>
            <a:r>
              <a:rPr lang="zh-CN" altLang="en-US" b="1" dirty="0">
                <a:latin typeface="微软雅黑" panose="020B0503020204020204" pitchFamily="34" charset="-122"/>
                <a:ea typeface="微软雅黑" panose="020B0503020204020204" pitchFamily="34" charset="-122"/>
              </a:rPr>
              <a:t>提供许多服务的基础。</a:t>
            </a:r>
          </a:p>
        </p:txBody>
      </p:sp>
      <p:sp>
        <p:nvSpPr>
          <p:cNvPr id="20" name="内容占位符 19">
            <a:extLst>
              <a:ext uri="{FF2B5EF4-FFF2-40B4-BE49-F238E27FC236}">
                <a16:creationId xmlns:a16="http://schemas.microsoft.com/office/drawing/2014/main" id="{FE00A667-699F-B885-6CBF-9633618D31E1}"/>
              </a:ext>
            </a:extLst>
          </p:cNvPr>
          <p:cNvSpPr>
            <a:spLocks noGrp="1"/>
          </p:cNvSpPr>
          <p:nvPr>
            <p:ph sz="quarter" idx="4294967295"/>
          </p:nvPr>
        </p:nvSpPr>
        <p:spPr>
          <a:xfrm>
            <a:off x="612000" y="720000"/>
            <a:ext cx="7920000" cy="3960000"/>
          </a:xfrm>
        </p:spPr>
        <p:txBody>
          <a:bodyPr/>
          <a:lstStyle/>
          <a:p>
            <a:endParaRPr lang="zh-CN" altLang="en-US"/>
          </a:p>
        </p:txBody>
      </p:sp>
      <p:sp>
        <p:nvSpPr>
          <p:cNvPr id="15" name="文本占位符 14">
            <a:extLst>
              <a:ext uri="{FF2B5EF4-FFF2-40B4-BE49-F238E27FC236}">
                <a16:creationId xmlns:a16="http://schemas.microsoft.com/office/drawing/2014/main" id="{156B56AE-57B1-3ADA-BE88-AD58D642C4BB}"/>
              </a:ext>
            </a:extLst>
          </p:cNvPr>
          <p:cNvSpPr>
            <a:spLocks noGrp="1"/>
          </p:cNvSpPr>
          <p:nvPr>
            <p:ph type="body" sz="quarter" idx="4294967295"/>
          </p:nvPr>
        </p:nvSpPr>
        <p:spPr>
          <a:xfrm>
            <a:off x="0" y="153988"/>
            <a:ext cx="6632575" cy="338137"/>
          </a:xfrm>
        </p:spPr>
        <p:txBody>
          <a:bodyPr>
            <a:normAutofit lnSpcReduction="10000"/>
          </a:bodyPr>
          <a:lstStyle/>
          <a:p>
            <a:r>
              <a:rPr lang="zh-CN" altLang="en-US" dirty="0"/>
              <a:t>互联网的 </a:t>
            </a:r>
            <a:r>
              <a:rPr lang="en-US" altLang="zh-CN" dirty="0"/>
              <a:t>2 </a:t>
            </a:r>
            <a:r>
              <a:rPr lang="zh-CN" altLang="en-US" dirty="0"/>
              <a:t>个重要基本特点</a:t>
            </a:r>
          </a:p>
        </p:txBody>
      </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591502"/>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grpSp>
        <p:nvGrpSpPr>
          <p:cNvPr id="12" name="组合 11"/>
          <p:cNvGrpSpPr>
            <a:grpSpLocks noChangeAspect="1"/>
          </p:cNvGrpSpPr>
          <p:nvPr/>
        </p:nvGrpSpPr>
        <p:grpSpPr>
          <a:xfrm>
            <a:off x="1358544" y="1292186"/>
            <a:ext cx="6295066" cy="581639"/>
            <a:chOff x="1950729" y="2654620"/>
            <a:chExt cx="5259967" cy="486000"/>
          </a:xfrm>
        </p:grpSpPr>
        <p:sp>
          <p:nvSpPr>
            <p:cNvPr id="10" name="五边形 9"/>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已经融入人们的生活、工作、学习和交往。</a:t>
              </a:r>
            </a:p>
          </p:txBody>
        </p:sp>
        <p:sp>
          <p:nvSpPr>
            <p:cNvPr id="11" name="椭圆 10"/>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grpSp>
        <p:nvGrpSpPr>
          <p:cNvPr id="18" name="组合 17"/>
          <p:cNvGrpSpPr>
            <a:grpSpLocks noChangeAspect="1"/>
          </p:cNvGrpSpPr>
          <p:nvPr/>
        </p:nvGrpSpPr>
        <p:grpSpPr>
          <a:xfrm>
            <a:off x="1358544" y="2061874"/>
            <a:ext cx="6295066" cy="581639"/>
            <a:chOff x="1950729" y="2654620"/>
            <a:chExt cx="5259967" cy="486000"/>
          </a:xfrm>
        </p:grpSpPr>
        <p:sp>
          <p:nvSpPr>
            <p:cNvPr id="19" name="五边形 18"/>
            <p:cNvSpPr/>
            <p:nvPr/>
          </p:nvSpPr>
          <p:spPr>
            <a:xfrm flipH="1">
              <a:off x="2159723" y="2654620"/>
              <a:ext cx="5050973" cy="486000"/>
            </a:xfrm>
            <a:prstGeom prst="homePlat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rtlCol="0" anchor="ctr"/>
            <a:lstStyle/>
            <a:p>
              <a:r>
                <a:rPr lang="en-US" altLang="zh-CN"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已经成为社会最为重要的基础设施之一。</a:t>
              </a:r>
            </a:p>
          </p:txBody>
        </p:sp>
        <p:sp>
          <p:nvSpPr>
            <p:cNvPr id="20" name="椭圆 19"/>
            <p:cNvSpPr>
              <a:spLocks noChangeAspect="1"/>
            </p:cNvSpPr>
            <p:nvPr/>
          </p:nvSpPr>
          <p:spPr>
            <a:xfrm>
              <a:off x="1950729" y="2654620"/>
              <a:ext cx="486000" cy="486000"/>
            </a:xfrm>
            <a:prstGeom prst="ellipse">
              <a:avLst/>
            </a:prstGeom>
            <a:solidFill>
              <a:srgbClr val="FFC00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altLang="zh-CN" sz="2000" b="1" dirty="0">
                  <a:solidFill>
                    <a:schemeClr val="tx1"/>
                  </a:solidFill>
                  <a:latin typeface="微软雅黑" panose="020B0503020204020204" pitchFamily="34" charset="-122"/>
                  <a:ea typeface="微软雅黑" panose="020B0503020204020204" pitchFamily="34" charset="-122"/>
                  <a:sym typeface="Wingdings 2" panose="05020102010507070707" pitchFamily="18" charset="2"/>
                </a:rPr>
                <a:t></a:t>
              </a:r>
              <a:endParaRPr lang="zh-CN" altLang="en-US" sz="2000" b="1" dirty="0">
                <a:solidFill>
                  <a:schemeClr val="tx1"/>
                </a:solidFill>
                <a:latin typeface="微软雅黑" panose="020B0503020204020204" pitchFamily="34" charset="-122"/>
                <a:ea typeface="微软雅黑" panose="020B0503020204020204" pitchFamily="34" charset="-122"/>
              </a:endParaRPr>
            </a:p>
          </p:txBody>
        </p:sp>
      </p:grpSp>
      <p:sp>
        <p:nvSpPr>
          <p:cNvPr id="23" name="内容占位符 22">
            <a:extLst>
              <a:ext uri="{FF2B5EF4-FFF2-40B4-BE49-F238E27FC236}">
                <a16:creationId xmlns:a16="http://schemas.microsoft.com/office/drawing/2014/main" id="{105993F4-168A-C306-43C5-D8DA14C387B8}"/>
              </a:ext>
            </a:extLst>
          </p:cNvPr>
          <p:cNvSpPr>
            <a:spLocks noGrp="1"/>
          </p:cNvSpPr>
          <p:nvPr>
            <p:ph sz="quarter" idx="4294967295"/>
          </p:nvPr>
        </p:nvSpPr>
        <p:spPr>
          <a:xfrm>
            <a:off x="612000" y="720000"/>
            <a:ext cx="7920000" cy="3960000"/>
          </a:xfrm>
        </p:spPr>
        <p:txBody>
          <a:bodyPr/>
          <a:lstStyle/>
          <a:p>
            <a:endParaRPr lang="zh-CN" altLang="en-US"/>
          </a:p>
        </p:txBody>
      </p:sp>
      <p:sp>
        <p:nvSpPr>
          <p:cNvPr id="15" name="文本占位符 14">
            <a:extLst>
              <a:ext uri="{FF2B5EF4-FFF2-40B4-BE49-F238E27FC236}">
                <a16:creationId xmlns:a16="http://schemas.microsoft.com/office/drawing/2014/main" id="{F242E8F1-FABF-9992-E3F0-9E9FD521B51B}"/>
              </a:ext>
            </a:extLst>
          </p:cNvPr>
          <p:cNvSpPr>
            <a:spLocks noGrp="1"/>
          </p:cNvSpPr>
          <p:nvPr>
            <p:ph type="body" sz="quarter" idx="4294967295"/>
          </p:nvPr>
        </p:nvSpPr>
        <p:spPr>
          <a:xfrm>
            <a:off x="0" y="153988"/>
            <a:ext cx="6632575" cy="338137"/>
          </a:xfrm>
        </p:spPr>
        <p:txBody>
          <a:bodyPr>
            <a:normAutofit lnSpcReduction="10000"/>
          </a:bodyPr>
          <a:lstStyle/>
          <a:p>
            <a:r>
              <a:rPr lang="zh-CN" altLang="en-US" dirty="0"/>
              <a:t>互联网在生活中地位</a:t>
            </a:r>
          </a:p>
        </p:txBody>
      </p:sp>
    </p:spTree>
    <p:extLst>
      <p:ext uri="{BB962C8B-B14F-4D97-AF65-F5344CB8AC3E}">
        <p14:creationId xmlns:p14="http://schemas.microsoft.com/office/powerpoint/2010/main" val="20872555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70150"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万物联网</a:t>
            </a:r>
          </a:p>
        </p:txBody>
      </p:sp>
      <p:sp>
        <p:nvSpPr>
          <p:cNvPr id="6" name="矩形 5"/>
          <p:cNvSpPr/>
          <p:nvPr/>
        </p:nvSpPr>
        <p:spPr>
          <a:xfrm>
            <a:off x="5908327" y="647649"/>
            <a:ext cx="1415772" cy="461665"/>
          </a:xfrm>
          <a:prstGeom prst="rect">
            <a:avLst/>
          </a:prstGeom>
        </p:spPr>
        <p:txBody>
          <a:bodyPr wrap="none">
            <a:spAutoFit/>
          </a:bodyPr>
          <a:lstStyle/>
          <a:p>
            <a:r>
              <a:rPr lang="zh-CN" altLang="en-US" sz="2400" b="1" dirty="0">
                <a:solidFill>
                  <a:schemeClr val="bg1"/>
                </a:solidFill>
                <a:latin typeface="微软雅黑" pitchFamily="34" charset="-122"/>
                <a:ea typeface="微软雅黑" pitchFamily="34" charset="-122"/>
              </a:rPr>
              <a:t>人人用网</a:t>
            </a:r>
          </a:p>
        </p:txBody>
      </p:sp>
      <p:sp>
        <p:nvSpPr>
          <p:cNvPr id="3" name="内容占位符 2"/>
          <p:cNvSpPr>
            <a:spLocks noGrp="1"/>
          </p:cNvSpPr>
          <p:nvPr>
            <p:ph sz="quarter" idx="4294967295"/>
          </p:nvPr>
        </p:nvSpPr>
        <p:spPr>
          <a:xfrm>
            <a:off x="612000" y="720000"/>
            <a:ext cx="7920000" cy="3960000"/>
          </a:xfrm>
        </p:spPr>
        <p:txBody>
          <a:bodyPr/>
          <a:lstStyle/>
          <a:p>
            <a:r>
              <a:rPr lang="zh-CN" altLang="en-US" dirty="0"/>
              <a:t>指“互联网</a:t>
            </a:r>
            <a:r>
              <a:rPr lang="en-US" altLang="zh-CN" dirty="0"/>
              <a:t>+</a:t>
            </a:r>
            <a:r>
              <a:rPr lang="zh-CN" altLang="en-US" dirty="0"/>
              <a:t>各个传统行业”。</a:t>
            </a:r>
            <a:endParaRPr lang="en-US" altLang="zh-CN" dirty="0"/>
          </a:p>
          <a:p>
            <a:r>
              <a:rPr lang="zh-CN" altLang="en-US" dirty="0"/>
              <a:t>把互联网的创新成果深度融合于经济社会各领域。</a:t>
            </a:r>
            <a:endParaRPr lang="en-US" altLang="zh-CN" dirty="0"/>
          </a:p>
          <a:p>
            <a:endParaRPr lang="zh-CN" altLang="en-US" dirty="0"/>
          </a:p>
        </p:txBody>
      </p:sp>
      <p:sp>
        <p:nvSpPr>
          <p:cNvPr id="2" name="文本占位符 1">
            <a:extLst>
              <a:ext uri="{FF2B5EF4-FFF2-40B4-BE49-F238E27FC236}">
                <a16:creationId xmlns:a16="http://schemas.microsoft.com/office/drawing/2014/main" id="{38AD80B0-AD8F-42B4-A232-B0A49791FAA3}"/>
              </a:ext>
            </a:extLst>
          </p:cNvPr>
          <p:cNvSpPr>
            <a:spLocks noGrp="1"/>
          </p:cNvSpPr>
          <p:nvPr>
            <p:ph type="body" sz="quarter" idx="4294967295"/>
          </p:nvPr>
        </p:nvSpPr>
        <p:spPr>
          <a:xfrm>
            <a:off x="0" y="153988"/>
            <a:ext cx="6632575" cy="338137"/>
          </a:xfrm>
        </p:spPr>
        <p:txBody>
          <a:bodyPr>
            <a:normAutofit lnSpcReduction="10000"/>
          </a:bodyPr>
          <a:lstStyle/>
          <a:p>
            <a:r>
              <a:rPr lang="zh-CN" altLang="en-US" dirty="0"/>
              <a:t>互联网</a:t>
            </a:r>
            <a:r>
              <a:rPr lang="en-US" altLang="zh-CN" dirty="0"/>
              <a:t>+</a:t>
            </a:r>
            <a:r>
              <a:rPr lang="zh-CN" altLang="en-US" dirty="0"/>
              <a:t>：新的经济形态</a:t>
            </a:r>
            <a:endParaRPr lang="fr-FR" altLang="zh-CN" dirty="0"/>
          </a:p>
        </p:txBody>
      </p:sp>
      <p:graphicFrame>
        <p:nvGraphicFramePr>
          <p:cNvPr id="13" name="图示 12"/>
          <p:cNvGraphicFramePr/>
          <p:nvPr>
            <p:extLst>
              <p:ext uri="{D42A27DB-BD31-4B8C-83A1-F6EECF244321}">
                <p14:modId xmlns:p14="http://schemas.microsoft.com/office/powerpoint/2010/main" val="3708377587"/>
              </p:ext>
            </p:extLst>
          </p:nvPr>
        </p:nvGraphicFramePr>
        <p:xfrm>
          <a:off x="1524000" y="1801069"/>
          <a:ext cx="5634446" cy="26822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928340574"/>
              </p:ext>
            </p:extLst>
          </p:nvPr>
        </p:nvGraphicFramePr>
        <p:xfrm>
          <a:off x="1670151" y="1109315"/>
          <a:ext cx="5871472" cy="29012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矩形 10"/>
          <p:cNvSpPr/>
          <p:nvPr/>
        </p:nvSpPr>
        <p:spPr>
          <a:xfrm>
            <a:off x="1957137" y="4098681"/>
            <a:ext cx="5510463" cy="400110"/>
          </a:xfrm>
          <a:prstGeom prst="rect">
            <a:avLst/>
          </a:prstGeom>
          <a:solidFill>
            <a:schemeClr val="accent2">
              <a:lumMod val="60000"/>
              <a:lumOff val="40000"/>
            </a:schemeClr>
          </a:solidFill>
        </p:spPr>
        <p:txBody>
          <a:bodyPr wrap="square">
            <a:spAutoFit/>
          </a:bodyP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需要加强</a:t>
            </a:r>
            <a:r>
              <a:rPr kumimoji="0" lang="zh-CN" altLang="zh-CN"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对互联网的管理</a:t>
            </a:r>
            <a:r>
              <a:rPr kumimoji="0" lang="zh-CN" altLang="en-US" sz="2000" b="1" i="0" u="none" strike="noStrike" kern="0" cap="none" spc="0" normalizeH="0" baseline="0" noProof="0" dirty="0">
                <a:ln>
                  <a:noFill/>
                </a:ln>
                <a:solidFill>
                  <a:srgbClr val="000099"/>
                </a:solidFill>
                <a:effectLst/>
                <a:uLnTx/>
                <a:uFillTx/>
                <a:latin typeface="微软雅黑" panose="020B0503020204020204" pitchFamily="34" charset="-122"/>
                <a:ea typeface="微软雅黑" panose="020B0503020204020204" pitchFamily="34" charset="-122"/>
              </a:rPr>
              <a:t>。</a:t>
            </a:r>
          </a:p>
        </p:txBody>
      </p:sp>
      <p:sp>
        <p:nvSpPr>
          <p:cNvPr id="14" name="内容占位符 13">
            <a:extLst>
              <a:ext uri="{FF2B5EF4-FFF2-40B4-BE49-F238E27FC236}">
                <a16:creationId xmlns:a16="http://schemas.microsoft.com/office/drawing/2014/main" id="{67CB6BFB-DAC7-4020-D5C2-C7A6AB37D5C0}"/>
              </a:ext>
            </a:extLst>
          </p:cNvPr>
          <p:cNvSpPr>
            <a:spLocks noGrp="1"/>
          </p:cNvSpPr>
          <p:nvPr>
            <p:ph sz="quarter" idx="4294967295"/>
          </p:nvPr>
        </p:nvSpPr>
        <p:spPr>
          <a:xfrm>
            <a:off x="612000" y="720000"/>
            <a:ext cx="7920000" cy="3960000"/>
          </a:xfrm>
        </p:spPr>
        <p:txBody>
          <a:bodyPr/>
          <a:lstStyle/>
          <a:p>
            <a:endParaRPr lang="zh-CN" altLang="en-US"/>
          </a:p>
        </p:txBody>
      </p:sp>
      <p:sp>
        <p:nvSpPr>
          <p:cNvPr id="7" name="文本占位符 6">
            <a:extLst>
              <a:ext uri="{FF2B5EF4-FFF2-40B4-BE49-F238E27FC236}">
                <a16:creationId xmlns:a16="http://schemas.microsoft.com/office/drawing/2014/main" id="{DFBA8CA5-BD40-248B-F503-0A3E4FFFFC03}"/>
              </a:ext>
            </a:extLst>
          </p:cNvPr>
          <p:cNvSpPr>
            <a:spLocks noGrp="1"/>
          </p:cNvSpPr>
          <p:nvPr>
            <p:ph type="body" sz="quarter" idx="4294967295"/>
          </p:nvPr>
        </p:nvSpPr>
        <p:spPr>
          <a:xfrm>
            <a:off x="0" y="153988"/>
            <a:ext cx="6632575" cy="338137"/>
          </a:xfrm>
        </p:spPr>
        <p:txBody>
          <a:bodyPr>
            <a:normAutofit lnSpcReduction="10000"/>
          </a:bodyPr>
          <a:lstStyle/>
          <a:p>
            <a:r>
              <a:rPr lang="zh-CN" altLang="en-US" dirty="0"/>
              <a:t>互联网的负面影响</a:t>
            </a:r>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8900" y="1330075"/>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5" name="Rectangle 10"/>
          <p:cNvSpPr>
            <a:spLocks noChangeArrowheads="1"/>
          </p:cNvSpPr>
          <p:nvPr/>
        </p:nvSpPr>
        <p:spPr bwMode="auto">
          <a:xfrm>
            <a:off x="2628900" y="1936500"/>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6" name="Rectangle 11"/>
          <p:cNvSpPr>
            <a:spLocks noChangeArrowheads="1"/>
          </p:cNvSpPr>
          <p:nvPr/>
        </p:nvSpPr>
        <p:spPr bwMode="auto">
          <a:xfrm>
            <a:off x="2628900" y="2554037"/>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25605" name="Line 16"/>
          <p:cNvSpPr>
            <a:spLocks noChangeShapeType="1"/>
          </p:cNvSpPr>
          <p:nvPr/>
        </p:nvSpPr>
        <p:spPr bwMode="auto">
          <a:xfrm>
            <a:off x="3636963" y="125863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606" name="Rectangle 8"/>
          <p:cNvSpPr>
            <a:spLocks noChangeArrowheads="1"/>
          </p:cNvSpPr>
          <p:nvPr/>
        </p:nvSpPr>
        <p:spPr bwMode="auto">
          <a:xfrm>
            <a:off x="2700337" y="1076075"/>
            <a:ext cx="5641557"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1.2.1                                              </a:t>
            </a:r>
            <a:r>
              <a:rPr lang="zh-CN" altLang="en-US" sz="2000" b="1" dirty="0">
                <a:solidFill>
                  <a:schemeClr val="bg1"/>
                </a:solidFill>
                <a:latin typeface="微软雅黑" pitchFamily="34" charset="-122"/>
                <a:ea typeface="微软雅黑" pitchFamily="34" charset="-122"/>
              </a:rPr>
              <a:t>网络的网络</a:t>
            </a:r>
            <a:r>
              <a:rPr lang="en-US" altLang="zh-CN" sz="2000" b="1" dirty="0">
                <a:solidFill>
                  <a:schemeClr val="bg1"/>
                </a:solidFill>
                <a:latin typeface="微软雅黑" pitchFamily="34" charset="-122"/>
                <a:ea typeface="微软雅黑" pitchFamily="34" charset="-122"/>
              </a:rPr>
              <a:t>1.2.2                </a:t>
            </a:r>
            <a:r>
              <a:rPr lang="zh-CN" altLang="zh-CN" sz="2000" b="1" dirty="0">
                <a:solidFill>
                  <a:schemeClr val="bg1"/>
                </a:solidFill>
                <a:latin typeface="微软雅黑" pitchFamily="34" charset="-122"/>
                <a:ea typeface="微软雅黑" pitchFamily="34" charset="-122"/>
              </a:rPr>
              <a:t>互联网基础结构发展的三个阶段</a:t>
            </a:r>
          </a:p>
          <a:p>
            <a:pPr eaLnBrk="0" hangingPunct="0">
              <a:lnSpc>
                <a:spcPct val="200000"/>
              </a:lnSpc>
            </a:pPr>
            <a:r>
              <a:rPr lang="en-US" altLang="zh-CN" sz="2000" b="1" dirty="0">
                <a:solidFill>
                  <a:schemeClr val="bg1"/>
                </a:solidFill>
                <a:latin typeface="微软雅黑" pitchFamily="34" charset="-122"/>
                <a:ea typeface="微软雅黑" pitchFamily="34" charset="-122"/>
              </a:rPr>
              <a:t>1.2.3                                 </a:t>
            </a:r>
            <a:r>
              <a:rPr lang="zh-CN" altLang="zh-CN" sz="2000" b="1" dirty="0">
                <a:solidFill>
                  <a:schemeClr val="bg1"/>
                </a:solidFill>
                <a:latin typeface="微软雅黑" pitchFamily="34" charset="-122"/>
                <a:ea typeface="微软雅黑" pitchFamily="34" charset="-122"/>
              </a:rPr>
              <a:t>互联网的标准化工作</a:t>
            </a:r>
            <a:endParaRPr lang="fr-FR" sz="2000" b="1" dirty="0">
              <a:solidFill>
                <a:schemeClr val="bg1"/>
              </a:solidFill>
              <a:latin typeface="微软雅黑" pitchFamily="34" charset="-122"/>
              <a:ea typeface="微软雅黑" pitchFamily="34" charset="-122"/>
            </a:endParaRPr>
          </a:p>
        </p:txBody>
      </p:sp>
      <p:sp>
        <p:nvSpPr>
          <p:cNvPr id="9" name="Rectangle 27"/>
          <p:cNvSpPr>
            <a:spLocks noChangeArrowheads="1"/>
          </p:cNvSpPr>
          <p:nvPr/>
        </p:nvSpPr>
        <p:spPr bwMode="auto">
          <a:xfrm>
            <a:off x="639730" y="132975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dirty="0">
              <a:latin typeface="微软雅黑 Light" panose="020B0502040204020203" pitchFamily="34" charset="-122"/>
              <a:ea typeface="+mn-ea"/>
            </a:endParaRPr>
          </a:p>
        </p:txBody>
      </p:sp>
      <p:sp>
        <p:nvSpPr>
          <p:cNvPr id="25610" name="Rectangle 29"/>
          <p:cNvSpPr>
            <a:spLocks noChangeArrowheads="1"/>
          </p:cNvSpPr>
          <p:nvPr/>
        </p:nvSpPr>
        <p:spPr bwMode="auto">
          <a:xfrm>
            <a:off x="649288" y="1425325"/>
            <a:ext cx="1627187" cy="708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1.2</a:t>
            </a:r>
          </a:p>
          <a:p>
            <a:pPr eaLnBrk="0" hangingPunct="0"/>
            <a:r>
              <a:rPr lang="zh-CN" altLang="fr-FR" sz="2000" b="1">
                <a:solidFill>
                  <a:schemeClr val="bg1"/>
                </a:solidFill>
                <a:latin typeface="微软雅黑" pitchFamily="34" charset="-122"/>
                <a:ea typeface="微软雅黑" pitchFamily="34" charset="-122"/>
              </a:rPr>
              <a:t>互联网概述</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节点可以是计算机、集线器、交换机或路由器等。</a:t>
            </a:r>
          </a:p>
        </p:txBody>
      </p:sp>
      <p:sp>
        <p:nvSpPr>
          <p:cNvPr id="4" name="标题 3">
            <a:extLst>
              <a:ext uri="{FF2B5EF4-FFF2-40B4-BE49-F238E27FC236}">
                <a16:creationId xmlns:a16="http://schemas.microsoft.com/office/drawing/2014/main" id="{98DD33AA-68BC-C27F-7A70-0CD8F96817AA}"/>
              </a:ext>
            </a:extLst>
          </p:cNvPr>
          <p:cNvSpPr>
            <a:spLocks noGrp="1"/>
          </p:cNvSpPr>
          <p:nvPr>
            <p:ph type="title"/>
          </p:nvPr>
        </p:nvSpPr>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97318" y="3771091"/>
            <a:ext cx="203292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(a) </a:t>
            </a:r>
            <a:r>
              <a:rPr kumimoji="1" lang="zh-CN" altLang="en-US" sz="1600" b="1" dirty="0">
                <a:latin typeface="Times New Roman" pitchFamily="18" charset="0"/>
                <a:ea typeface="微软雅黑" pitchFamily="34" charset="-122"/>
              </a:rPr>
              <a:t>简单的网络</a:t>
            </a:r>
          </a:p>
        </p:txBody>
      </p:sp>
      <p:grpSp>
        <p:nvGrpSpPr>
          <p:cNvPr id="8" name="Group 1282"/>
          <p:cNvGrpSpPr>
            <a:grpSpLocks/>
          </p:cNvGrpSpPr>
          <p:nvPr/>
        </p:nvGrpSpPr>
        <p:grpSpPr bwMode="auto">
          <a:xfrm>
            <a:off x="4810169" y="1237641"/>
            <a:ext cx="3360987" cy="2299844"/>
            <a:chOff x="1680" y="240"/>
            <a:chExt cx="2529" cy="1270"/>
          </a:xfrm>
          <a:scene3d>
            <a:camera prst="orthographicFront">
              <a:rot lat="0" lon="0" rev="0"/>
            </a:camera>
            <a:lightRig rig="contrasting" dir="t">
              <a:rot lat="0" lon="0" rev="7800000"/>
            </a:lightRig>
          </a:scene3d>
        </p:grpSpPr>
        <p:sp>
          <p:nvSpPr>
            <p:cNvPr id="9"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3"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0" name="组合 19"/>
          <p:cNvGrpSpPr/>
          <p:nvPr/>
        </p:nvGrpSpPr>
        <p:grpSpPr>
          <a:xfrm>
            <a:off x="5273288" y="1482278"/>
            <a:ext cx="2573344" cy="1809582"/>
            <a:chOff x="1137102" y="1439863"/>
            <a:chExt cx="2573344" cy="1809582"/>
          </a:xfrm>
        </p:grpSpPr>
        <p:sp>
          <p:nvSpPr>
            <p:cNvPr id="21"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4" name="Group 204"/>
            <p:cNvGrpSpPr>
              <a:grpSpLocks/>
            </p:cNvGrpSpPr>
            <p:nvPr/>
          </p:nvGrpSpPr>
          <p:grpSpPr bwMode="auto">
            <a:xfrm>
              <a:off x="2173744" y="1439863"/>
              <a:ext cx="800099" cy="695325"/>
              <a:chOff x="1148" y="1715"/>
              <a:chExt cx="504" cy="438"/>
            </a:xfrm>
          </p:grpSpPr>
          <p:sp>
            <p:nvSpPr>
              <p:cNvPr id="34"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5"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5" name="Group 194"/>
            <p:cNvGrpSpPr>
              <a:grpSpLocks/>
            </p:cNvGrpSpPr>
            <p:nvPr/>
          </p:nvGrpSpPr>
          <p:grpSpPr bwMode="auto">
            <a:xfrm>
              <a:off x="2000702" y="2620229"/>
              <a:ext cx="646113" cy="629216"/>
              <a:chOff x="975" y="2584"/>
              <a:chExt cx="407" cy="438"/>
            </a:xfrm>
          </p:grpSpPr>
          <p:sp>
            <p:nvSpPr>
              <p:cNvPr id="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3"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6" name="Group 195"/>
            <p:cNvGrpSpPr>
              <a:grpSpLocks/>
            </p:cNvGrpSpPr>
            <p:nvPr/>
          </p:nvGrpSpPr>
          <p:grpSpPr bwMode="auto">
            <a:xfrm>
              <a:off x="1137102" y="2091591"/>
              <a:ext cx="646113" cy="629216"/>
              <a:chOff x="975" y="2584"/>
              <a:chExt cx="407" cy="438"/>
            </a:xfrm>
          </p:grpSpPr>
          <p:sp>
            <p:nvSpPr>
              <p:cNvPr id="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7" name="Group 198"/>
            <p:cNvGrpSpPr>
              <a:grpSpLocks/>
            </p:cNvGrpSpPr>
            <p:nvPr/>
          </p:nvGrpSpPr>
          <p:grpSpPr bwMode="auto">
            <a:xfrm>
              <a:off x="3064333" y="2404329"/>
              <a:ext cx="646113" cy="629216"/>
              <a:chOff x="975" y="2584"/>
              <a:chExt cx="407" cy="438"/>
            </a:xfrm>
          </p:grpSpPr>
          <p:sp>
            <p:nvSpPr>
              <p:cNvPr id="2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36" name="Text Box 1185"/>
          <p:cNvSpPr txBox="1">
            <a:spLocks noChangeArrowheads="1"/>
          </p:cNvSpPr>
          <p:nvPr/>
        </p:nvSpPr>
        <p:spPr bwMode="auto">
          <a:xfrm>
            <a:off x="7068791" y="1588398"/>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37" name="Text Box 1524"/>
          <p:cNvSpPr txBox="1">
            <a:spLocks noChangeArrowheads="1"/>
          </p:cNvSpPr>
          <p:nvPr/>
        </p:nvSpPr>
        <p:spPr bwMode="auto">
          <a:xfrm>
            <a:off x="7144372" y="202588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nvGrpSpPr>
          <p:cNvPr id="105" name="组合 104"/>
          <p:cNvGrpSpPr/>
          <p:nvPr/>
        </p:nvGrpSpPr>
        <p:grpSpPr>
          <a:xfrm>
            <a:off x="4046005" y="3283357"/>
            <a:ext cx="1223325" cy="762765"/>
            <a:chOff x="4148066" y="3740075"/>
            <a:chExt cx="1223325" cy="762765"/>
          </a:xfrm>
        </p:grpSpPr>
        <p:sp>
          <p:nvSpPr>
            <p:cNvPr id="84" name="Text Box 1482"/>
            <p:cNvSpPr txBox="1">
              <a:spLocks noChangeArrowheads="1"/>
            </p:cNvSpPr>
            <p:nvPr/>
          </p:nvSpPr>
          <p:spPr bwMode="auto">
            <a:xfrm>
              <a:off x="4148066" y="3740075"/>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85" name="Text Box 1484"/>
            <p:cNvSpPr txBox="1">
              <a:spLocks noChangeArrowheads="1"/>
            </p:cNvSpPr>
            <p:nvPr/>
          </p:nvSpPr>
          <p:spPr bwMode="auto">
            <a:xfrm>
              <a:off x="4874988" y="3795652"/>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86" name="Picture 1485"/>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4588148" y="4035207"/>
              <a:ext cx="298627" cy="1891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7" name="Text Box 1486"/>
            <p:cNvSpPr txBox="1">
              <a:spLocks noChangeArrowheads="1"/>
            </p:cNvSpPr>
            <p:nvPr/>
          </p:nvSpPr>
          <p:spPr bwMode="auto">
            <a:xfrm>
              <a:off x="4874988" y="4030016"/>
              <a:ext cx="438032"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9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611724" y="3786032"/>
              <a:ext cx="263264" cy="2148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Rectangle 254"/>
            <p:cNvSpPr>
              <a:spLocks noChangeArrowheads="1"/>
            </p:cNvSpPr>
            <p:nvPr/>
          </p:nvSpPr>
          <p:spPr bwMode="auto">
            <a:xfrm>
              <a:off x="4159854" y="3746215"/>
              <a:ext cx="1211537" cy="756625"/>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dirty="0">
                <a:latin typeface="Times New Roman" panose="02020603050405020304" pitchFamily="18" charset="0"/>
                <a:ea typeface="微软雅黑 Light" panose="020B0502040204020203" pitchFamily="34" charset="-122"/>
              </a:endParaRPr>
            </a:p>
          </p:txBody>
        </p:sp>
        <p:grpSp>
          <p:nvGrpSpPr>
            <p:cNvPr id="92" name="Group 1356"/>
            <p:cNvGrpSpPr>
              <a:grpSpLocks/>
            </p:cNvGrpSpPr>
            <p:nvPr/>
          </p:nvGrpSpPr>
          <p:grpSpPr bwMode="auto">
            <a:xfrm rot="20527939">
              <a:off x="4611289" y="4296111"/>
              <a:ext cx="270310" cy="142136"/>
              <a:chOff x="2949" y="196"/>
              <a:chExt cx="941" cy="598"/>
            </a:xfrm>
            <a:solidFill>
              <a:schemeClr val="bg1"/>
            </a:solidFill>
          </p:grpSpPr>
          <p:sp>
            <p:nvSpPr>
              <p:cNvPr id="94"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5"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6"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7"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8"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99"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100"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101"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10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sp>
            <p:nvSpPr>
              <p:cNvPr id="10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sp>
            <p:nvSpPr>
              <p:cNvPr id="104"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grpSp>
        <p:sp>
          <p:nvSpPr>
            <p:cNvPr id="93" name="Text Box 1488"/>
            <p:cNvSpPr txBox="1">
              <a:spLocks noChangeArrowheads="1"/>
            </p:cNvSpPr>
            <p:nvPr/>
          </p:nvSpPr>
          <p:spPr bwMode="auto">
            <a:xfrm>
              <a:off x="4874988" y="4279218"/>
              <a:ext cx="342807" cy="1554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互连</a:t>
            </a:r>
            <a:r>
              <a:rPr lang="zh-CN" altLang="en-US"/>
              <a:t>网 </a:t>
            </a:r>
            <a:r>
              <a:rPr lang="en-US" altLang="zh-CN" dirty="0"/>
              <a:t>(internetwork </a:t>
            </a:r>
            <a:r>
              <a:rPr lang="zh-CN" altLang="en-US"/>
              <a:t>或 </a:t>
            </a:r>
            <a:r>
              <a:rPr lang="en-US" altLang="zh-CN" dirty="0"/>
              <a:t>internet</a:t>
            </a:r>
            <a:r>
              <a:rPr lang="en-US" altLang="zh-CN"/>
              <a:t>)</a:t>
            </a:r>
            <a:r>
              <a:rPr lang="zh-CN" altLang="en-US"/>
              <a:t>：</a:t>
            </a:r>
            <a:endParaRPr lang="en-US" altLang="zh-CN" dirty="0"/>
          </a:p>
          <a:p>
            <a:pPr lvl="1"/>
            <a:r>
              <a:rPr lang="zh-CN" altLang="en-US" dirty="0"/>
              <a:t>多个网络通过一些路由器相互连接起来，构成了一个覆盖范围更大的计算机网</a:t>
            </a:r>
            <a:r>
              <a:rPr lang="zh-CN" altLang="en-US"/>
              <a:t>络。</a:t>
            </a:r>
            <a:endParaRPr lang="en-US" altLang="zh-CN" dirty="0"/>
          </a:p>
          <a:p>
            <a:pPr lvl="1"/>
            <a:r>
              <a:rPr lang="zh-CN" altLang="en-US" dirty="0"/>
              <a:t>“网络的网</a:t>
            </a:r>
            <a:r>
              <a:rPr lang="zh-CN" altLang="en-US"/>
              <a:t>络”</a:t>
            </a:r>
            <a:r>
              <a:rPr lang="en-US" altLang="zh-CN" dirty="0"/>
              <a:t>(network of networks)</a:t>
            </a:r>
            <a:r>
              <a:rPr lang="zh-CN" altLang="en-US" dirty="0"/>
              <a:t>。</a:t>
            </a:r>
          </a:p>
        </p:txBody>
      </p:sp>
      <p:sp>
        <p:nvSpPr>
          <p:cNvPr id="6" name="标题 5">
            <a:extLst>
              <a:ext uri="{FF2B5EF4-FFF2-40B4-BE49-F238E27FC236}">
                <a16:creationId xmlns:a16="http://schemas.microsoft.com/office/drawing/2014/main" id="{F3AE89C9-78DA-F6D1-857D-2B48C5C19DF7}"/>
              </a:ext>
            </a:extLst>
          </p:cNvPr>
          <p:cNvSpPr>
            <a:spLocks noGrp="1"/>
          </p:cNvSpPr>
          <p:nvPr>
            <p:ph type="title"/>
          </p:nvPr>
        </p:nvSpPr>
        <p:spPr/>
        <p:txBody>
          <a:bodyPr/>
          <a:lstStyle/>
          <a:p>
            <a:r>
              <a:rPr lang="en-US" altLang="zh-CN" dirty="0"/>
              <a:t>1.2.1  </a:t>
            </a:r>
            <a:r>
              <a:rPr lang="zh-CN" altLang="en-US" dirty="0"/>
              <a:t>网络的网络</a:t>
            </a:r>
          </a:p>
        </p:txBody>
      </p:sp>
      <p:sp>
        <p:nvSpPr>
          <p:cNvPr id="7" name="Text Box 1185"/>
          <p:cNvSpPr txBox="1">
            <a:spLocks noChangeArrowheads="1"/>
          </p:cNvSpPr>
          <p:nvPr/>
        </p:nvSpPr>
        <p:spPr bwMode="auto">
          <a:xfrm>
            <a:off x="5404113" y="3818798"/>
            <a:ext cx="2864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600" b="1" dirty="0">
                <a:latin typeface="Times New Roman" pitchFamily="18" charset="0"/>
                <a:ea typeface="微软雅黑" pitchFamily="34" charset="-122"/>
              </a:rPr>
              <a:t>图</a:t>
            </a:r>
            <a:r>
              <a:rPr kumimoji="1" lang="en-US" altLang="zh-CN" sz="1600" b="1" dirty="0">
                <a:latin typeface="Times New Roman" pitchFamily="18" charset="0"/>
                <a:ea typeface="微软雅黑" pitchFamily="34" charset="-122"/>
              </a:rPr>
              <a:t>1-1 (b) </a:t>
            </a:r>
            <a:r>
              <a:rPr kumimoji="1" lang="zh-CN" altLang="en-US" sz="1600" b="1" dirty="0">
                <a:latin typeface="Times New Roman" pitchFamily="18" charset="0"/>
                <a:ea typeface="微软雅黑" pitchFamily="34" charset="-122"/>
              </a:rPr>
              <a:t>由网络构成的互连网</a:t>
            </a:r>
          </a:p>
        </p:txBody>
      </p:sp>
      <p:grpSp>
        <p:nvGrpSpPr>
          <p:cNvPr id="5" name="组合 4"/>
          <p:cNvGrpSpPr/>
          <p:nvPr/>
        </p:nvGrpSpPr>
        <p:grpSpPr>
          <a:xfrm>
            <a:off x="4369194" y="1224482"/>
            <a:ext cx="4408248" cy="2462968"/>
            <a:chOff x="2133597" y="1913604"/>
            <a:chExt cx="4408248" cy="2462968"/>
          </a:xfrm>
        </p:grpSpPr>
        <p:grpSp>
          <p:nvGrpSpPr>
            <p:cNvPr id="61"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62" name="Group 1505"/>
              <p:cNvGrpSpPr>
                <a:grpSpLocks/>
              </p:cNvGrpSpPr>
              <p:nvPr/>
            </p:nvGrpSpPr>
            <p:grpSpPr bwMode="auto">
              <a:xfrm>
                <a:off x="109" y="1226"/>
                <a:ext cx="2516" cy="1675"/>
                <a:chOff x="109" y="1226"/>
                <a:chExt cx="2516" cy="1675"/>
              </a:xfrm>
            </p:grpSpPr>
            <p:grpSp>
              <p:nvGrpSpPr>
                <p:cNvPr id="64" name="Group 1506"/>
                <p:cNvGrpSpPr>
                  <a:grpSpLocks/>
                </p:cNvGrpSpPr>
                <p:nvPr/>
              </p:nvGrpSpPr>
              <p:grpSpPr bwMode="auto">
                <a:xfrm>
                  <a:off x="109" y="1226"/>
                  <a:ext cx="2516" cy="1675"/>
                  <a:chOff x="109" y="1226"/>
                  <a:chExt cx="2516" cy="1675"/>
                </a:xfrm>
              </p:grpSpPr>
              <p:sp>
                <p:nvSpPr>
                  <p:cNvPr id="66"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7"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8"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69"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0"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1"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72"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5"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63"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4" name="组合 3"/>
            <p:cNvGrpSpPr/>
            <p:nvPr/>
          </p:nvGrpSpPr>
          <p:grpSpPr>
            <a:xfrm>
              <a:off x="2388737" y="2148716"/>
              <a:ext cx="3733232" cy="2102118"/>
              <a:chOff x="2388737" y="2148716"/>
              <a:chExt cx="3733232" cy="2102118"/>
            </a:xfrm>
          </p:grpSpPr>
          <p:sp>
            <p:nvSpPr>
              <p:cNvPr id="74"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5"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6"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7"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8"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79"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0"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1"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2"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3"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4"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5"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6"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87"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88" name="Group 1320"/>
              <p:cNvGrpSpPr>
                <a:grpSpLocks/>
              </p:cNvGrpSpPr>
              <p:nvPr/>
            </p:nvGrpSpPr>
            <p:grpSpPr bwMode="auto">
              <a:xfrm>
                <a:off x="3497051" y="2228552"/>
                <a:ext cx="527667" cy="346016"/>
                <a:chOff x="2949" y="196"/>
                <a:chExt cx="941" cy="598"/>
              </a:xfrm>
            </p:grpSpPr>
            <p:sp>
              <p:nvSpPr>
                <p:cNvPr id="195"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6"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7"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8"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9"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00"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01"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02"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03"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4"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5"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9"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90"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2"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3"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4"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5"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6" name="Group 1468"/>
              <p:cNvGrpSpPr>
                <a:grpSpLocks/>
              </p:cNvGrpSpPr>
              <p:nvPr/>
            </p:nvGrpSpPr>
            <p:grpSpPr bwMode="auto">
              <a:xfrm rot="20933218">
                <a:off x="3942533" y="2848396"/>
                <a:ext cx="518589" cy="472972"/>
                <a:chOff x="2949" y="196"/>
                <a:chExt cx="941" cy="598"/>
              </a:xfrm>
            </p:grpSpPr>
            <p:sp>
              <p:nvSpPr>
                <p:cNvPr id="184"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5"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6"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7"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8"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9"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0"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1"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92"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3"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4"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97"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98"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99"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0" name="Group 1428"/>
              <p:cNvGrpSpPr>
                <a:grpSpLocks/>
              </p:cNvGrpSpPr>
              <p:nvPr/>
            </p:nvGrpSpPr>
            <p:grpSpPr bwMode="auto">
              <a:xfrm rot="20745072">
                <a:off x="3438042" y="3118668"/>
                <a:ext cx="468659" cy="482929"/>
                <a:chOff x="2949" y="196"/>
                <a:chExt cx="941" cy="598"/>
              </a:xfrm>
            </p:grpSpPr>
            <p:sp>
              <p:nvSpPr>
                <p:cNvPr id="17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7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8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8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8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01"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2" name="Group 198"/>
              <p:cNvGrpSpPr>
                <a:grpSpLocks/>
              </p:cNvGrpSpPr>
              <p:nvPr/>
            </p:nvGrpSpPr>
            <p:grpSpPr bwMode="auto">
              <a:xfrm>
                <a:off x="2972193" y="3488983"/>
                <a:ext cx="381369" cy="419031"/>
                <a:chOff x="975" y="2584"/>
                <a:chExt cx="407" cy="438"/>
              </a:xfrm>
            </p:grpSpPr>
            <p:sp>
              <p:nvSpPr>
                <p:cNvPr id="17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7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3"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4" name="Group 1356"/>
              <p:cNvGrpSpPr>
                <a:grpSpLocks/>
              </p:cNvGrpSpPr>
              <p:nvPr/>
            </p:nvGrpSpPr>
            <p:grpSpPr bwMode="auto">
              <a:xfrm rot="20527939">
                <a:off x="2965494" y="2653873"/>
                <a:ext cx="549228" cy="414472"/>
                <a:chOff x="2949" y="196"/>
                <a:chExt cx="941" cy="598"/>
              </a:xfrm>
            </p:grpSpPr>
            <p:sp>
              <p:nvSpPr>
                <p:cNvPr id="160"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1"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2"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3"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4"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5"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6"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7"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68"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69"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70"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05"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06" name="Group 198"/>
              <p:cNvGrpSpPr>
                <a:grpSpLocks/>
              </p:cNvGrpSpPr>
              <p:nvPr/>
            </p:nvGrpSpPr>
            <p:grpSpPr bwMode="auto">
              <a:xfrm>
                <a:off x="2388737" y="2850667"/>
                <a:ext cx="381369" cy="419031"/>
                <a:chOff x="975" y="2584"/>
                <a:chExt cx="407" cy="438"/>
              </a:xfrm>
            </p:grpSpPr>
            <p:sp>
              <p:nvSpPr>
                <p:cNvPr id="15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5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7"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08" name="Group 1416"/>
              <p:cNvGrpSpPr>
                <a:grpSpLocks/>
              </p:cNvGrpSpPr>
              <p:nvPr/>
            </p:nvGrpSpPr>
            <p:grpSpPr bwMode="auto">
              <a:xfrm rot="282232">
                <a:off x="5170838" y="2926987"/>
                <a:ext cx="460716" cy="346016"/>
                <a:chOff x="2949" y="196"/>
                <a:chExt cx="941" cy="598"/>
              </a:xfrm>
            </p:grpSpPr>
            <p:sp>
              <p:nvSpPr>
                <p:cNvPr id="147"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8"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9"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0"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1"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2"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3"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4"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55"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56"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57"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09"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0" name="Group 198"/>
              <p:cNvGrpSpPr>
                <a:grpSpLocks/>
              </p:cNvGrpSpPr>
              <p:nvPr/>
            </p:nvGrpSpPr>
            <p:grpSpPr bwMode="auto">
              <a:xfrm>
                <a:off x="5740600" y="3297577"/>
                <a:ext cx="381369" cy="419031"/>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1"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2" name="Group 1344"/>
              <p:cNvGrpSpPr>
                <a:grpSpLocks/>
              </p:cNvGrpSpPr>
              <p:nvPr/>
            </p:nvGrpSpPr>
            <p:grpSpPr bwMode="auto">
              <a:xfrm>
                <a:off x="4431781" y="2228552"/>
                <a:ext cx="527667" cy="484173"/>
                <a:chOff x="2949" y="196"/>
                <a:chExt cx="941" cy="598"/>
              </a:xfrm>
            </p:grpSpPr>
            <p:sp>
              <p:nvSpPr>
                <p:cNvPr id="134"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5"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6"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7"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8"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39"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0"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1"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42"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43"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44"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13"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114" name="Group 198"/>
              <p:cNvGrpSpPr>
                <a:grpSpLocks/>
              </p:cNvGrpSpPr>
              <p:nvPr/>
            </p:nvGrpSpPr>
            <p:grpSpPr bwMode="auto">
              <a:xfrm>
                <a:off x="5205901" y="2196963"/>
                <a:ext cx="381369" cy="419031"/>
                <a:chOff x="975" y="2584"/>
                <a:chExt cx="407" cy="438"/>
              </a:xfrm>
            </p:grpSpPr>
            <p:sp>
              <p:nvSpPr>
                <p:cNvPr id="13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3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15"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116" name="Group 198"/>
              <p:cNvGrpSpPr>
                <a:grpSpLocks/>
              </p:cNvGrpSpPr>
              <p:nvPr/>
            </p:nvGrpSpPr>
            <p:grpSpPr bwMode="auto">
              <a:xfrm>
                <a:off x="4726460" y="3831803"/>
                <a:ext cx="381369" cy="419031"/>
                <a:chOff x="975" y="2584"/>
                <a:chExt cx="407" cy="438"/>
              </a:xfrm>
            </p:grpSpPr>
            <p:sp>
              <p:nvSpPr>
                <p:cNvPr id="13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3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17" name="Group 1404"/>
              <p:cNvGrpSpPr>
                <a:grpSpLocks/>
              </p:cNvGrpSpPr>
              <p:nvPr/>
            </p:nvGrpSpPr>
            <p:grpSpPr bwMode="auto">
              <a:xfrm rot="20933218">
                <a:off x="4477820" y="3396224"/>
                <a:ext cx="436886" cy="410739"/>
                <a:chOff x="2949" y="196"/>
                <a:chExt cx="941" cy="598"/>
              </a:xfrm>
            </p:grpSpPr>
            <p:sp>
              <p:nvSpPr>
                <p:cNvPr id="119"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0"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1"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2"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3"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4"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5"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6"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127"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28"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29"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18"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grpSp>
        <p:nvGrpSpPr>
          <p:cNvPr id="209" name="组合 208"/>
          <p:cNvGrpSpPr/>
          <p:nvPr/>
        </p:nvGrpSpPr>
        <p:grpSpPr>
          <a:xfrm>
            <a:off x="4075877" y="3651844"/>
            <a:ext cx="1223325" cy="943886"/>
            <a:chOff x="178755" y="3409311"/>
            <a:chExt cx="1482726" cy="1402008"/>
          </a:xfrm>
        </p:grpSpPr>
        <p:sp>
          <p:nvSpPr>
            <p:cNvPr id="210" name="Text Box 1482"/>
            <p:cNvSpPr txBox="1">
              <a:spLocks noChangeArrowheads="1"/>
            </p:cNvSpPr>
            <p:nvPr/>
          </p:nvSpPr>
          <p:spPr bwMode="auto">
            <a:xfrm>
              <a:off x="178755" y="3409311"/>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a:latin typeface="Times New Roman" pitchFamily="18" charset="0"/>
                  <a:ea typeface="微软雅黑" pitchFamily="34" charset="-122"/>
                </a:rPr>
                <a:t>图例</a:t>
              </a:r>
            </a:p>
          </p:txBody>
        </p:sp>
        <p:sp>
          <p:nvSpPr>
            <p:cNvPr id="211" name="Text Box 1484"/>
            <p:cNvSpPr txBox="1">
              <a:spLocks noChangeArrowheads="1"/>
            </p:cNvSpPr>
            <p:nvPr/>
          </p:nvSpPr>
          <p:spPr bwMode="auto">
            <a:xfrm>
              <a:off x="1059818" y="3491862"/>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计算机</a:t>
              </a:r>
            </a:p>
          </p:txBody>
        </p:sp>
        <p:pic>
          <p:nvPicPr>
            <p:cNvPr id="212" name="Picture 1485"/>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20640517">
              <a:off x="712155" y="3847688"/>
              <a:ext cx="361950"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3" name="Text Box 1486"/>
            <p:cNvSpPr txBox="1">
              <a:spLocks noChangeArrowheads="1"/>
            </p:cNvSpPr>
            <p:nvPr/>
          </p:nvSpPr>
          <p:spPr bwMode="auto">
            <a:xfrm>
              <a:off x="1059818" y="3839977"/>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集线器</a:t>
              </a:r>
            </a:p>
          </p:txBody>
        </p:sp>
        <p:pic>
          <p:nvPicPr>
            <p:cNvPr id="214" name="Picture 148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0418" y="4224152"/>
              <a:ext cx="254000" cy="18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5" name="Text Box 1488"/>
            <p:cNvSpPr txBox="1">
              <a:spLocks noChangeArrowheads="1"/>
            </p:cNvSpPr>
            <p:nvPr/>
          </p:nvSpPr>
          <p:spPr bwMode="auto">
            <a:xfrm>
              <a:off x="1059818" y="4195351"/>
              <a:ext cx="530915"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路由器</a:t>
              </a:r>
            </a:p>
          </p:txBody>
        </p:sp>
        <p:pic>
          <p:nvPicPr>
            <p:cNvPr id="216"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40730" y="3477574"/>
              <a:ext cx="319088" cy="319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17" name="Rectangle 254"/>
            <p:cNvSpPr>
              <a:spLocks noChangeArrowheads="1"/>
            </p:cNvSpPr>
            <p:nvPr/>
          </p:nvSpPr>
          <p:spPr bwMode="auto">
            <a:xfrm>
              <a:off x="193043" y="3418431"/>
              <a:ext cx="1468438" cy="1392888"/>
            </a:xfrm>
            <a:prstGeom prst="rect">
              <a:avLst/>
            </a:prstGeom>
            <a:noFill/>
            <a:ln w="28575">
              <a:solidFill>
                <a:srgbClr val="368AD6"/>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dirty="0">
                <a:latin typeface="Times New Roman" panose="02020603050405020304" pitchFamily="18" charset="0"/>
                <a:ea typeface="微软雅黑 Light" panose="020B0502040204020203" pitchFamily="34" charset="-122"/>
              </a:endParaRPr>
            </a:p>
          </p:txBody>
        </p:sp>
        <p:grpSp>
          <p:nvGrpSpPr>
            <p:cNvPr id="218" name="Group 1356"/>
            <p:cNvGrpSpPr>
              <a:grpSpLocks/>
            </p:cNvGrpSpPr>
            <p:nvPr/>
          </p:nvGrpSpPr>
          <p:grpSpPr bwMode="auto">
            <a:xfrm rot="20527939">
              <a:off x="740202" y="4528170"/>
              <a:ext cx="327628" cy="211123"/>
              <a:chOff x="2949" y="196"/>
              <a:chExt cx="941" cy="598"/>
            </a:xfrm>
            <a:solidFill>
              <a:schemeClr val="bg1"/>
            </a:solidFill>
          </p:grpSpPr>
          <p:sp>
            <p:nvSpPr>
              <p:cNvPr id="220" name="Oval 1357"/>
              <p:cNvSpPr>
                <a:spLocks noChangeArrowheads="1"/>
              </p:cNvSpPr>
              <p:nvPr/>
            </p:nvSpPr>
            <p:spPr bwMode="auto">
              <a:xfrm>
                <a:off x="3168" y="196"/>
                <a:ext cx="407" cy="162"/>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1" name="Oval 1358"/>
              <p:cNvSpPr>
                <a:spLocks noChangeArrowheads="1"/>
              </p:cNvSpPr>
              <p:nvPr/>
            </p:nvSpPr>
            <p:spPr bwMode="auto">
              <a:xfrm rot="900000">
                <a:off x="3512" y="252"/>
                <a:ext cx="275" cy="131"/>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2" name="Oval 1359"/>
              <p:cNvSpPr>
                <a:spLocks noChangeArrowheads="1"/>
              </p:cNvSpPr>
              <p:nvPr/>
            </p:nvSpPr>
            <p:spPr bwMode="auto">
              <a:xfrm rot="1500000">
                <a:off x="3650" y="385"/>
                <a:ext cx="240" cy="153"/>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3" name="Oval 1360"/>
              <p:cNvSpPr>
                <a:spLocks noChangeArrowheads="1"/>
              </p:cNvSpPr>
              <p:nvPr/>
            </p:nvSpPr>
            <p:spPr bwMode="auto">
              <a:xfrm rot="-1560000">
                <a:off x="3573" y="537"/>
                <a:ext cx="291" cy="189"/>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4" name="Oval 1361"/>
              <p:cNvSpPr>
                <a:spLocks noChangeArrowheads="1"/>
              </p:cNvSpPr>
              <p:nvPr/>
            </p:nvSpPr>
            <p:spPr bwMode="auto">
              <a:xfrm>
                <a:off x="3216" y="555"/>
                <a:ext cx="471" cy="239"/>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5" name="Oval 1362"/>
              <p:cNvSpPr>
                <a:spLocks noChangeArrowheads="1"/>
              </p:cNvSpPr>
              <p:nvPr/>
            </p:nvSpPr>
            <p:spPr bwMode="auto">
              <a:xfrm rot="1080000">
                <a:off x="3023" y="555"/>
                <a:ext cx="265" cy="156"/>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6" name="Oval 1363"/>
              <p:cNvSpPr>
                <a:spLocks noChangeArrowheads="1"/>
              </p:cNvSpPr>
              <p:nvPr/>
            </p:nvSpPr>
            <p:spPr bwMode="auto">
              <a:xfrm>
                <a:off x="2949" y="432"/>
                <a:ext cx="217" cy="156"/>
              </a:xfrm>
              <a:prstGeom prst="ellipse">
                <a:avLst/>
              </a:prstGeom>
              <a:grpFill/>
              <a:ln w="12700">
                <a:solidFill>
                  <a:srgbClr val="000000"/>
                </a:solidFill>
                <a:round/>
                <a:headEnd/>
                <a:tailEnd/>
              </a:ln>
            </p:spPr>
            <p:txBody>
              <a:bodyPr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7" name="Oval 1364"/>
              <p:cNvSpPr>
                <a:spLocks noChangeArrowheads="1"/>
              </p:cNvSpPr>
              <p:nvPr/>
            </p:nvSpPr>
            <p:spPr bwMode="auto">
              <a:xfrm rot="-1860000">
                <a:off x="2984" y="310"/>
                <a:ext cx="295" cy="156"/>
              </a:xfrm>
              <a:prstGeom prst="ellipse">
                <a:avLst/>
              </a:prstGeom>
              <a:grpFill/>
              <a:ln w="12700">
                <a:solidFill>
                  <a:srgbClr val="000000"/>
                </a:solidFill>
                <a:round/>
                <a:headEnd/>
                <a:tailEnd/>
              </a:ln>
            </p:spPr>
            <p:txBody>
              <a:bodyPr vert="eaVert" wrap="none" anchor="ctr"/>
              <a:lstStyle/>
              <a:p>
                <a:endParaRPr lang="zh-CN" altLang="en-US" b="1" dirty="0">
                  <a:solidFill>
                    <a:srgbClr val="000000"/>
                  </a:solidFill>
                  <a:latin typeface="Times New Roman" panose="02020603050405020304" pitchFamily="18" charset="0"/>
                  <a:ea typeface="微软雅黑 Light" panose="020B0502040204020203" pitchFamily="34" charset="-122"/>
                </a:endParaRPr>
              </a:p>
            </p:txBody>
          </p:sp>
          <p:sp>
            <p:nvSpPr>
              <p:cNvPr id="228"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w="9525">
                <a:solidFill>
                  <a:srgbClr val="000000"/>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sp>
            <p:nvSpPr>
              <p:cNvPr id="229"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w="9525">
                <a:solidFill>
                  <a:srgbClr val="000000"/>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sp>
            <p:nvSpPr>
              <p:cNvPr id="23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w="9525">
                <a:solidFill>
                  <a:schemeClr val="bg1"/>
                </a:solidFill>
                <a:round/>
                <a:headEnd/>
                <a:tailEnd/>
              </a:ln>
            </p:spPr>
            <p:txBody>
              <a:bodyPr/>
              <a:lstStyle/>
              <a:p>
                <a:endParaRPr lang="zh-CN" altLang="en-US" sz="1600" dirty="0">
                  <a:latin typeface="Times New Roman" panose="02020603050405020304" pitchFamily="18" charset="0"/>
                  <a:ea typeface="微软雅黑 Light" panose="020B0502040204020203" pitchFamily="34" charset="-122"/>
                </a:endParaRPr>
              </a:p>
            </p:txBody>
          </p:sp>
        </p:grpSp>
        <p:sp>
          <p:nvSpPr>
            <p:cNvPr id="219" name="Text Box 1488"/>
            <p:cNvSpPr txBox="1">
              <a:spLocks noChangeArrowheads="1"/>
            </p:cNvSpPr>
            <p:nvPr/>
          </p:nvSpPr>
          <p:spPr bwMode="auto">
            <a:xfrm>
              <a:off x="1059818" y="4503078"/>
              <a:ext cx="415498" cy="230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900" b="1" dirty="0">
                  <a:latin typeface="Times New Roman" pitchFamily="18" charset="0"/>
                  <a:ea typeface="微软雅黑" pitchFamily="34" charset="-122"/>
                </a:rPr>
                <a:t>网络</a:t>
              </a:r>
            </a:p>
          </p:txBody>
        </p:sp>
      </p:grp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0" name="组合 229"/>
          <p:cNvGrpSpPr/>
          <p:nvPr/>
        </p:nvGrpSpPr>
        <p:grpSpPr>
          <a:xfrm>
            <a:off x="567494" y="1376748"/>
            <a:ext cx="3360987" cy="2299844"/>
            <a:chOff x="1998820" y="1760370"/>
            <a:chExt cx="3360987" cy="2299844"/>
          </a:xfrm>
        </p:grpSpPr>
        <p:grpSp>
          <p:nvGrpSpPr>
            <p:cNvPr id="231" name="Group 1282"/>
            <p:cNvGrpSpPr>
              <a:grpSpLocks/>
            </p:cNvGrpSpPr>
            <p:nvPr/>
          </p:nvGrpSpPr>
          <p:grpSpPr bwMode="auto">
            <a:xfrm>
              <a:off x="1998820" y="1760370"/>
              <a:ext cx="3360987" cy="2299844"/>
              <a:chOff x="1680" y="240"/>
              <a:chExt cx="2529" cy="1270"/>
            </a:xfrm>
            <a:scene3d>
              <a:camera prst="orthographicFront">
                <a:rot lat="0" lon="0" rev="0"/>
              </a:camera>
              <a:lightRig rig="contrasting" dir="t">
                <a:rot lat="0" lon="0" rev="7800000"/>
              </a:lightRig>
            </a:scene3d>
          </p:grpSpPr>
          <p:sp>
            <p:nvSpPr>
              <p:cNvPr id="250" name="Oval 1283"/>
              <p:cNvSpPr>
                <a:spLocks noChangeArrowheads="1"/>
              </p:cNvSpPr>
              <p:nvPr/>
            </p:nvSpPr>
            <p:spPr bwMode="auto">
              <a:xfrm>
                <a:off x="2554" y="240"/>
                <a:ext cx="1088"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1" name="Oval 1284"/>
              <p:cNvSpPr>
                <a:spLocks noChangeArrowheads="1"/>
              </p:cNvSpPr>
              <p:nvPr/>
            </p:nvSpPr>
            <p:spPr bwMode="auto">
              <a:xfrm>
                <a:off x="1941" y="381"/>
                <a:ext cx="827" cy="513"/>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6" name="Oval 1285"/>
              <p:cNvSpPr>
                <a:spLocks noChangeArrowheads="1"/>
              </p:cNvSpPr>
              <p:nvPr/>
            </p:nvSpPr>
            <p:spPr bwMode="auto">
              <a:xfrm>
                <a:off x="1680" y="702"/>
                <a:ext cx="552" cy="41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7" name="Oval 1286"/>
              <p:cNvSpPr>
                <a:spLocks noChangeArrowheads="1"/>
              </p:cNvSpPr>
              <p:nvPr/>
            </p:nvSpPr>
            <p:spPr bwMode="auto">
              <a:xfrm>
                <a:off x="1849" y="894"/>
                <a:ext cx="842" cy="450"/>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8" name="Oval 1287"/>
              <p:cNvSpPr>
                <a:spLocks noChangeArrowheads="1"/>
              </p:cNvSpPr>
              <p:nvPr/>
            </p:nvSpPr>
            <p:spPr bwMode="auto">
              <a:xfrm>
                <a:off x="2462" y="971"/>
                <a:ext cx="1272" cy="53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79" name="Oval 1288"/>
              <p:cNvSpPr>
                <a:spLocks noChangeArrowheads="1"/>
              </p:cNvSpPr>
              <p:nvPr/>
            </p:nvSpPr>
            <p:spPr bwMode="auto">
              <a:xfrm>
                <a:off x="3289" y="394"/>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0" name="Oval 1289"/>
              <p:cNvSpPr>
                <a:spLocks noChangeArrowheads="1"/>
              </p:cNvSpPr>
              <p:nvPr/>
            </p:nvSpPr>
            <p:spPr bwMode="auto">
              <a:xfrm>
                <a:off x="3412" y="663"/>
                <a:ext cx="797" cy="39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1" name="Oval 1290"/>
              <p:cNvSpPr>
                <a:spLocks noChangeArrowheads="1"/>
              </p:cNvSpPr>
              <p:nvPr/>
            </p:nvSpPr>
            <p:spPr bwMode="auto">
              <a:xfrm>
                <a:off x="3335" y="753"/>
                <a:ext cx="797" cy="668"/>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82" name="Oval 1291"/>
              <p:cNvSpPr>
                <a:spLocks noChangeArrowheads="1"/>
              </p:cNvSpPr>
              <p:nvPr/>
            </p:nvSpPr>
            <p:spPr bwMode="auto">
              <a:xfrm>
                <a:off x="2140" y="548"/>
                <a:ext cx="1640" cy="667"/>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32" name="组合 231"/>
            <p:cNvGrpSpPr/>
            <p:nvPr/>
          </p:nvGrpSpPr>
          <p:grpSpPr>
            <a:xfrm>
              <a:off x="2461939" y="2005007"/>
              <a:ext cx="2573344" cy="1809582"/>
              <a:chOff x="1137102" y="1439863"/>
              <a:chExt cx="2573344" cy="1809582"/>
            </a:xfrm>
          </p:grpSpPr>
          <p:sp>
            <p:nvSpPr>
              <p:cNvPr id="235" name="Line 1503"/>
              <p:cNvSpPr>
                <a:spLocks noChangeShapeType="1"/>
              </p:cNvSpPr>
              <p:nvPr/>
            </p:nvSpPr>
            <p:spPr bwMode="auto">
              <a:xfrm flipH="1" flipV="1">
                <a:off x="2711904" y="1747835"/>
                <a:ext cx="828675" cy="11493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6" name="Line 1209"/>
              <p:cNvSpPr>
                <a:spLocks noChangeShapeType="1"/>
              </p:cNvSpPr>
              <p:nvPr/>
            </p:nvSpPr>
            <p:spPr bwMode="auto">
              <a:xfrm flipV="1">
                <a:off x="1399042" y="1747835"/>
                <a:ext cx="1066800" cy="796925"/>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37" name="Line 1204"/>
              <p:cNvSpPr>
                <a:spLocks noChangeShapeType="1"/>
              </p:cNvSpPr>
              <p:nvPr/>
            </p:nvSpPr>
            <p:spPr bwMode="auto">
              <a:xfrm flipV="1">
                <a:off x="2302329" y="1747835"/>
                <a:ext cx="246063" cy="132715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38" name="Group 204"/>
              <p:cNvGrpSpPr>
                <a:grpSpLocks/>
              </p:cNvGrpSpPr>
              <p:nvPr/>
            </p:nvGrpSpPr>
            <p:grpSpPr bwMode="auto">
              <a:xfrm>
                <a:off x="2173744" y="1439863"/>
                <a:ext cx="800099" cy="695325"/>
                <a:chOff x="1148" y="1715"/>
                <a:chExt cx="504" cy="438"/>
              </a:xfrm>
            </p:grpSpPr>
            <p:sp>
              <p:nvSpPr>
                <p:cNvPr id="248" name="Oval 1529"/>
                <p:cNvSpPr>
                  <a:spLocks noChangeArrowheads="1"/>
                </p:cNvSpPr>
                <p:nvPr/>
              </p:nvSpPr>
              <p:spPr bwMode="auto">
                <a:xfrm>
                  <a:off x="1148" y="1715"/>
                  <a:ext cx="504" cy="438"/>
                </a:xfrm>
                <a:prstGeom prst="ellipse">
                  <a:avLst/>
                </a:prstGeom>
                <a:solidFill>
                  <a:schemeClr val="bg1"/>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49" name="Picture 146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rot="20640517">
                  <a:off x="1206" y="1813"/>
                  <a:ext cx="401" cy="2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9" name="Group 194"/>
              <p:cNvGrpSpPr>
                <a:grpSpLocks/>
              </p:cNvGrpSpPr>
              <p:nvPr/>
            </p:nvGrpSpPr>
            <p:grpSpPr bwMode="auto">
              <a:xfrm>
                <a:off x="2000702" y="2620229"/>
                <a:ext cx="646113" cy="629216"/>
                <a:chOff x="975" y="2584"/>
                <a:chExt cx="407" cy="438"/>
              </a:xfrm>
            </p:grpSpPr>
            <p:sp>
              <p:nvSpPr>
                <p:cNvPr id="24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47" name="Picture 193"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0" name="Group 195"/>
              <p:cNvGrpSpPr>
                <a:grpSpLocks/>
              </p:cNvGrpSpPr>
              <p:nvPr/>
            </p:nvGrpSpPr>
            <p:grpSpPr bwMode="auto">
              <a:xfrm>
                <a:off x="1137102" y="2091591"/>
                <a:ext cx="646113" cy="629216"/>
                <a:chOff x="975" y="2584"/>
                <a:chExt cx="407" cy="438"/>
              </a:xfrm>
            </p:grpSpPr>
            <p:sp>
              <p:nvSpPr>
                <p:cNvPr id="2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41" name="Group 198"/>
              <p:cNvGrpSpPr>
                <a:grpSpLocks/>
              </p:cNvGrpSpPr>
              <p:nvPr/>
            </p:nvGrpSpPr>
            <p:grpSpPr bwMode="auto">
              <a:xfrm>
                <a:off x="3064333" y="2404329"/>
                <a:ext cx="646113" cy="629216"/>
                <a:chOff x="975" y="2584"/>
                <a:chExt cx="407" cy="438"/>
              </a:xfrm>
            </p:grpSpPr>
            <p:sp>
              <p:nvSpPr>
                <p:cNvPr id="2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233" name="Text Box 1185"/>
            <p:cNvSpPr txBox="1">
              <a:spLocks noChangeArrowheads="1"/>
            </p:cNvSpPr>
            <p:nvPr/>
          </p:nvSpPr>
          <p:spPr bwMode="auto">
            <a:xfrm>
              <a:off x="4257442" y="2111127"/>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b="1">
                  <a:solidFill>
                    <a:srgbClr val="0000FF"/>
                  </a:solidFill>
                  <a:latin typeface="Times New Roman" pitchFamily="18" charset="0"/>
                  <a:ea typeface="微软雅黑" pitchFamily="34" charset="-122"/>
                </a:defRPr>
              </a:lvl1pPr>
              <a:lvl2pPr marL="742950" indent="-285750"/>
              <a:lvl3pPr marL="1143000" indent="-228600"/>
              <a:lvl4pPr marL="1600200" indent="-228600"/>
              <a:lvl5pPr marL="2057400" indent="-228600"/>
              <a:lvl6pPr marL="2514600" indent="-228600" fontAlgn="base">
                <a:spcBef>
                  <a:spcPct val="0"/>
                </a:spcBef>
                <a:spcAft>
                  <a:spcPct val="0"/>
                </a:spcAft>
              </a:lvl6pPr>
              <a:lvl7pPr marL="2971800" indent="-228600" fontAlgn="base">
                <a:spcBef>
                  <a:spcPct val="0"/>
                </a:spcBef>
                <a:spcAft>
                  <a:spcPct val="0"/>
                </a:spcAft>
              </a:lvl7pPr>
              <a:lvl8pPr marL="3429000" indent="-228600" fontAlgn="base">
                <a:spcBef>
                  <a:spcPct val="0"/>
                </a:spcBef>
                <a:spcAft>
                  <a:spcPct val="0"/>
                </a:spcAft>
              </a:lvl8pPr>
              <a:lvl9pPr marL="3886200" indent="-228600" fontAlgn="base">
                <a:spcBef>
                  <a:spcPct val="0"/>
                </a:spcBef>
                <a:spcAft>
                  <a:spcPct val="0"/>
                </a:spcAft>
              </a:lvl9pPr>
            </a:lstStyle>
            <a:p>
              <a:r>
                <a:rPr lang="zh-CN" altLang="en-US" dirty="0"/>
                <a:t>节点</a:t>
              </a:r>
            </a:p>
          </p:txBody>
        </p:sp>
        <p:sp>
          <p:nvSpPr>
            <p:cNvPr id="234" name="Text Box 1524"/>
            <p:cNvSpPr txBox="1">
              <a:spLocks noChangeArrowheads="1"/>
            </p:cNvSpPr>
            <p:nvPr/>
          </p:nvSpPr>
          <p:spPr bwMode="auto">
            <a:xfrm>
              <a:off x="4333023" y="2548614"/>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链路</a:t>
              </a:r>
            </a:p>
          </p:txBody>
        </p:sp>
      </p:grpSp>
      <p:grpSp>
        <p:nvGrpSpPr>
          <p:cNvPr id="283" name="组合 282"/>
          <p:cNvGrpSpPr/>
          <p:nvPr/>
        </p:nvGrpSpPr>
        <p:grpSpPr>
          <a:xfrm>
            <a:off x="4075626" y="1399800"/>
            <a:ext cx="4408248" cy="2462968"/>
            <a:chOff x="2133597" y="1913604"/>
            <a:chExt cx="4408248" cy="2462968"/>
          </a:xfrm>
        </p:grpSpPr>
        <p:grpSp>
          <p:nvGrpSpPr>
            <p:cNvPr id="284" name="Group 1504"/>
            <p:cNvGrpSpPr>
              <a:grpSpLocks/>
            </p:cNvGrpSpPr>
            <p:nvPr/>
          </p:nvGrpSpPr>
          <p:grpSpPr bwMode="auto">
            <a:xfrm rot="21364930">
              <a:off x="2133597" y="1913604"/>
              <a:ext cx="4408248" cy="2462968"/>
              <a:chOff x="109" y="1226"/>
              <a:chExt cx="2516" cy="1675"/>
            </a:xfrm>
            <a:scene3d>
              <a:camera prst="orthographicFront">
                <a:rot lat="0" lon="0" rev="0"/>
              </a:camera>
              <a:lightRig rig="contrasting" dir="t">
                <a:rot lat="0" lon="0" rev="7800000"/>
              </a:lightRig>
            </a:scene3d>
          </p:grpSpPr>
          <p:grpSp>
            <p:nvGrpSpPr>
              <p:cNvPr id="418" name="Group 1505"/>
              <p:cNvGrpSpPr>
                <a:grpSpLocks/>
              </p:cNvGrpSpPr>
              <p:nvPr/>
            </p:nvGrpSpPr>
            <p:grpSpPr bwMode="auto">
              <a:xfrm>
                <a:off x="109" y="1226"/>
                <a:ext cx="2516" cy="1675"/>
                <a:chOff x="109" y="1226"/>
                <a:chExt cx="2516" cy="1675"/>
              </a:xfrm>
            </p:grpSpPr>
            <p:grpSp>
              <p:nvGrpSpPr>
                <p:cNvPr id="420" name="Group 1506"/>
                <p:cNvGrpSpPr>
                  <a:grpSpLocks/>
                </p:cNvGrpSpPr>
                <p:nvPr/>
              </p:nvGrpSpPr>
              <p:grpSpPr bwMode="auto">
                <a:xfrm>
                  <a:off x="109" y="1226"/>
                  <a:ext cx="2516" cy="1675"/>
                  <a:chOff x="109" y="1226"/>
                  <a:chExt cx="2516" cy="1675"/>
                </a:xfrm>
              </p:grpSpPr>
              <p:sp>
                <p:nvSpPr>
                  <p:cNvPr id="422"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3"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4"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5"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6"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7"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428"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21"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41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grpSp>
          <p:nvGrpSpPr>
            <p:cNvPr id="285" name="组合 284"/>
            <p:cNvGrpSpPr/>
            <p:nvPr/>
          </p:nvGrpSpPr>
          <p:grpSpPr>
            <a:xfrm>
              <a:off x="2388737" y="2148716"/>
              <a:ext cx="3733232" cy="2102118"/>
              <a:chOff x="2388737" y="2148716"/>
              <a:chExt cx="3733232" cy="2102118"/>
            </a:xfrm>
          </p:grpSpPr>
          <p:sp>
            <p:nvSpPr>
              <p:cNvPr id="286" name="Line 1481"/>
              <p:cNvSpPr>
                <a:spLocks noChangeShapeType="1"/>
              </p:cNvSpPr>
              <p:nvPr/>
            </p:nvSpPr>
            <p:spPr bwMode="auto">
              <a:xfrm flipH="1">
                <a:off x="4173376" y="3060166"/>
                <a:ext cx="59008" cy="55511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7" name="Line 1480"/>
              <p:cNvSpPr>
                <a:spLocks noChangeShapeType="1"/>
              </p:cNvSpPr>
              <p:nvPr/>
            </p:nvSpPr>
            <p:spPr bwMode="auto">
              <a:xfrm flipH="1" flipV="1">
                <a:off x="3811385" y="2776383"/>
                <a:ext cx="361992" cy="2153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8" name="Line 1296"/>
              <p:cNvSpPr>
                <a:spLocks noChangeShapeType="1"/>
              </p:cNvSpPr>
              <p:nvPr/>
            </p:nvSpPr>
            <p:spPr bwMode="auto">
              <a:xfrm flipH="1" flipV="1">
                <a:off x="3650248" y="3462192"/>
                <a:ext cx="947532" cy="18172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9" name="Line 1297"/>
              <p:cNvSpPr>
                <a:spLocks noChangeShapeType="1"/>
              </p:cNvSpPr>
              <p:nvPr/>
            </p:nvSpPr>
            <p:spPr bwMode="auto">
              <a:xfrm flipV="1">
                <a:off x="3834080" y="2215040"/>
                <a:ext cx="292770" cy="68456"/>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0" name="Line 1440"/>
              <p:cNvSpPr>
                <a:spLocks noChangeShapeType="1"/>
              </p:cNvSpPr>
              <p:nvPr/>
            </p:nvSpPr>
            <p:spPr bwMode="auto">
              <a:xfrm flipH="1">
                <a:off x="3306413" y="2768915"/>
                <a:ext cx="527667" cy="69701"/>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1" name="Line 1443"/>
              <p:cNvSpPr>
                <a:spLocks noChangeShapeType="1"/>
              </p:cNvSpPr>
              <p:nvPr/>
            </p:nvSpPr>
            <p:spPr bwMode="auto">
              <a:xfrm>
                <a:off x="4280574" y="2235496"/>
                <a:ext cx="245612" cy="17210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2" name="Line 1444"/>
              <p:cNvSpPr>
                <a:spLocks noChangeShapeType="1"/>
              </p:cNvSpPr>
              <p:nvPr/>
            </p:nvSpPr>
            <p:spPr bwMode="auto">
              <a:xfrm>
                <a:off x="4807307" y="2519218"/>
                <a:ext cx="551902" cy="5260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3" name="Line 1446"/>
              <p:cNvSpPr>
                <a:spLocks noChangeShapeType="1"/>
              </p:cNvSpPr>
              <p:nvPr/>
            </p:nvSpPr>
            <p:spPr bwMode="auto">
              <a:xfrm>
                <a:off x="4691713" y="2530844"/>
                <a:ext cx="10907" cy="512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4" name="Line 1447"/>
              <p:cNvSpPr>
                <a:spLocks noChangeShapeType="1"/>
              </p:cNvSpPr>
              <p:nvPr/>
            </p:nvSpPr>
            <p:spPr bwMode="auto">
              <a:xfrm flipV="1">
                <a:off x="3823868" y="2422898"/>
                <a:ext cx="773912" cy="32485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5" name="Line 1448"/>
              <p:cNvSpPr>
                <a:spLocks noChangeShapeType="1"/>
              </p:cNvSpPr>
              <p:nvPr/>
            </p:nvSpPr>
            <p:spPr bwMode="auto">
              <a:xfrm>
                <a:off x="3658191" y="2353197"/>
                <a:ext cx="118016" cy="414473"/>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6" name="Line 1449"/>
              <p:cNvSpPr>
                <a:spLocks noChangeShapeType="1"/>
              </p:cNvSpPr>
              <p:nvPr/>
            </p:nvSpPr>
            <p:spPr bwMode="auto">
              <a:xfrm flipV="1">
                <a:off x="4233519" y="3073341"/>
                <a:ext cx="429151" cy="565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7" name="Line 1452"/>
              <p:cNvSpPr>
                <a:spLocks noChangeShapeType="1"/>
              </p:cNvSpPr>
              <p:nvPr/>
            </p:nvSpPr>
            <p:spPr bwMode="auto">
              <a:xfrm flipV="1">
                <a:off x="4765021" y="3045229"/>
                <a:ext cx="536315" cy="1302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8" name="Line 1453"/>
              <p:cNvSpPr>
                <a:spLocks noChangeShapeType="1"/>
              </p:cNvSpPr>
              <p:nvPr/>
            </p:nvSpPr>
            <p:spPr bwMode="auto">
              <a:xfrm flipH="1">
                <a:off x="3682122" y="2838616"/>
                <a:ext cx="35077" cy="44558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9" name="Line 1456"/>
              <p:cNvSpPr>
                <a:spLocks noChangeShapeType="1"/>
              </p:cNvSpPr>
              <p:nvPr/>
            </p:nvSpPr>
            <p:spPr bwMode="auto">
              <a:xfrm flipH="1">
                <a:off x="4675605" y="3101161"/>
                <a:ext cx="77316" cy="410089"/>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00" name="Group 1320"/>
              <p:cNvGrpSpPr>
                <a:grpSpLocks/>
              </p:cNvGrpSpPr>
              <p:nvPr/>
            </p:nvGrpSpPr>
            <p:grpSpPr bwMode="auto">
              <a:xfrm>
                <a:off x="3497051" y="2228552"/>
                <a:ext cx="527667" cy="346016"/>
                <a:chOff x="2949" y="196"/>
                <a:chExt cx="941" cy="598"/>
              </a:xfrm>
            </p:grpSpPr>
            <p:sp>
              <p:nvSpPr>
                <p:cNvPr id="407"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8"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9"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0"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1"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2"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3"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4"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15"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16"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17"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01" name="Line 1445"/>
              <p:cNvSpPr>
                <a:spLocks noChangeShapeType="1"/>
              </p:cNvSpPr>
              <p:nvPr/>
            </p:nvSpPr>
            <p:spPr bwMode="auto">
              <a:xfrm flipH="1">
                <a:off x="4761186" y="3129867"/>
                <a:ext cx="585541" cy="4854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302"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87836" y="2668097"/>
                <a:ext cx="341565"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3" name="Picture 14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97487" y="3487442"/>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4"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56279" y="2978727"/>
                <a:ext cx="341565"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5" name="Picture 14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6498" y="2691567"/>
                <a:ext cx="341566" cy="25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6"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56495" y="2148716"/>
                <a:ext cx="340431" cy="252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 name="Picture 14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32536" y="3235663"/>
                <a:ext cx="341566" cy="253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8" name="Group 1468"/>
              <p:cNvGrpSpPr>
                <a:grpSpLocks/>
              </p:cNvGrpSpPr>
              <p:nvPr/>
            </p:nvGrpSpPr>
            <p:grpSpPr bwMode="auto">
              <a:xfrm rot="20933218">
                <a:off x="3942533" y="2848396"/>
                <a:ext cx="518589" cy="472972"/>
                <a:chOff x="2949" y="196"/>
                <a:chExt cx="941" cy="598"/>
              </a:xfrm>
            </p:grpSpPr>
            <p:sp>
              <p:nvSpPr>
                <p:cNvPr id="396"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7"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8"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9"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0"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1"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2"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3"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404"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05"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06"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09" name="Text Box 1524"/>
              <p:cNvSpPr txBox="1">
                <a:spLocks noChangeArrowheads="1"/>
              </p:cNvSpPr>
              <p:nvPr/>
            </p:nvSpPr>
            <p:spPr bwMode="auto">
              <a:xfrm>
                <a:off x="4040519" y="29392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310" name="Text Box 1524"/>
              <p:cNvSpPr txBox="1">
                <a:spLocks noChangeArrowheads="1"/>
              </p:cNvSpPr>
              <p:nvPr/>
            </p:nvSpPr>
            <p:spPr bwMode="auto">
              <a:xfrm>
                <a:off x="3578016" y="2249726"/>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sp>
            <p:nvSpPr>
              <p:cNvPr id="311" name="Line 1453"/>
              <p:cNvSpPr>
                <a:spLocks noChangeShapeType="1"/>
              </p:cNvSpPr>
              <p:nvPr/>
            </p:nvSpPr>
            <p:spPr bwMode="auto">
              <a:xfrm flipH="1">
                <a:off x="3238781" y="3451217"/>
                <a:ext cx="436948" cy="17331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2" name="Group 1428"/>
              <p:cNvGrpSpPr>
                <a:grpSpLocks/>
              </p:cNvGrpSpPr>
              <p:nvPr/>
            </p:nvGrpSpPr>
            <p:grpSpPr bwMode="auto">
              <a:xfrm rot="20745072">
                <a:off x="3438042" y="3118668"/>
                <a:ext cx="468659" cy="482929"/>
                <a:chOff x="2949" y="196"/>
                <a:chExt cx="941" cy="598"/>
              </a:xfrm>
            </p:grpSpPr>
            <p:sp>
              <p:nvSpPr>
                <p:cNvPr id="385"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6"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7"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8"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9"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0"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1"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2"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93"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94"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95"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13" name="Text Box 1524"/>
              <p:cNvSpPr txBox="1">
                <a:spLocks noChangeArrowheads="1"/>
              </p:cNvSpPr>
              <p:nvPr/>
            </p:nvSpPr>
            <p:spPr bwMode="auto">
              <a:xfrm>
                <a:off x="3489503" y="3208298"/>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4" name="Group 198"/>
              <p:cNvGrpSpPr>
                <a:grpSpLocks/>
              </p:cNvGrpSpPr>
              <p:nvPr/>
            </p:nvGrpSpPr>
            <p:grpSpPr bwMode="auto">
              <a:xfrm>
                <a:off x="2972193" y="3488983"/>
                <a:ext cx="381369" cy="419031"/>
                <a:chOff x="975" y="2584"/>
                <a:chExt cx="407" cy="438"/>
              </a:xfrm>
            </p:grpSpPr>
            <p:sp>
              <p:nvSpPr>
                <p:cNvPr id="38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84"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5" name="Line 1453"/>
              <p:cNvSpPr>
                <a:spLocks noChangeShapeType="1"/>
              </p:cNvSpPr>
              <p:nvPr/>
            </p:nvSpPr>
            <p:spPr bwMode="auto">
              <a:xfrm flipH="1">
                <a:off x="2656099" y="2887241"/>
                <a:ext cx="511874" cy="16231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16" name="Group 1356"/>
              <p:cNvGrpSpPr>
                <a:grpSpLocks/>
              </p:cNvGrpSpPr>
              <p:nvPr/>
            </p:nvGrpSpPr>
            <p:grpSpPr bwMode="auto">
              <a:xfrm rot="20527939">
                <a:off x="2965494" y="2653873"/>
                <a:ext cx="549228" cy="414472"/>
                <a:chOff x="2949" y="196"/>
                <a:chExt cx="941" cy="598"/>
              </a:xfrm>
            </p:grpSpPr>
            <p:sp>
              <p:nvSpPr>
                <p:cNvPr id="37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7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8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17" name="Text Box 1524"/>
              <p:cNvSpPr txBox="1">
                <a:spLocks noChangeArrowheads="1"/>
              </p:cNvSpPr>
              <p:nvPr/>
            </p:nvSpPr>
            <p:spPr bwMode="auto">
              <a:xfrm>
                <a:off x="3050998" y="271238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18" name="Group 198"/>
              <p:cNvGrpSpPr>
                <a:grpSpLocks/>
              </p:cNvGrpSpPr>
              <p:nvPr/>
            </p:nvGrpSpPr>
            <p:grpSpPr bwMode="auto">
              <a:xfrm>
                <a:off x="2388737" y="2850667"/>
                <a:ext cx="381369" cy="419031"/>
                <a:chOff x="975" y="2584"/>
                <a:chExt cx="407" cy="438"/>
              </a:xfrm>
            </p:grpSpPr>
            <p:sp>
              <p:nvSpPr>
                <p:cNvPr id="37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71"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19" name="Line 1443"/>
              <p:cNvSpPr>
                <a:spLocks noChangeShapeType="1"/>
              </p:cNvSpPr>
              <p:nvPr/>
            </p:nvSpPr>
            <p:spPr bwMode="auto">
              <a:xfrm>
                <a:off x="5422285" y="3146487"/>
                <a:ext cx="441869" cy="31326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0" name="Group 1416"/>
              <p:cNvGrpSpPr>
                <a:grpSpLocks/>
              </p:cNvGrpSpPr>
              <p:nvPr/>
            </p:nvGrpSpPr>
            <p:grpSpPr bwMode="auto">
              <a:xfrm rot="282232">
                <a:off x="5170838" y="2926987"/>
                <a:ext cx="460716" cy="346016"/>
                <a:chOff x="2949" y="196"/>
                <a:chExt cx="941" cy="598"/>
              </a:xfrm>
            </p:grpSpPr>
            <p:sp>
              <p:nvSpPr>
                <p:cNvPr id="35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6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21" name="Text Box 1524"/>
              <p:cNvSpPr txBox="1">
                <a:spLocks noChangeArrowheads="1"/>
              </p:cNvSpPr>
              <p:nvPr/>
            </p:nvSpPr>
            <p:spPr bwMode="auto">
              <a:xfrm>
                <a:off x="5226838" y="2934470"/>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2" name="Group 198"/>
              <p:cNvGrpSpPr>
                <a:grpSpLocks/>
              </p:cNvGrpSpPr>
              <p:nvPr/>
            </p:nvGrpSpPr>
            <p:grpSpPr bwMode="auto">
              <a:xfrm>
                <a:off x="5740600" y="3297577"/>
                <a:ext cx="381369" cy="419031"/>
                <a:chOff x="975" y="2584"/>
                <a:chExt cx="407" cy="438"/>
              </a:xfrm>
            </p:grpSpPr>
            <p:sp>
              <p:nvSpPr>
                <p:cNvPr id="3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58"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3" name="Line 1452"/>
              <p:cNvSpPr>
                <a:spLocks noChangeShapeType="1"/>
              </p:cNvSpPr>
              <p:nvPr/>
            </p:nvSpPr>
            <p:spPr bwMode="auto">
              <a:xfrm flipV="1">
                <a:off x="4824588" y="2393080"/>
                <a:ext cx="532912" cy="1040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4" name="Group 1344"/>
              <p:cNvGrpSpPr>
                <a:grpSpLocks/>
              </p:cNvGrpSpPr>
              <p:nvPr/>
            </p:nvGrpSpPr>
            <p:grpSpPr bwMode="auto">
              <a:xfrm>
                <a:off x="4431781" y="2228552"/>
                <a:ext cx="527667" cy="484173"/>
                <a:chOff x="2949" y="196"/>
                <a:chExt cx="941" cy="598"/>
              </a:xfrm>
            </p:grpSpPr>
            <p:sp>
              <p:nvSpPr>
                <p:cNvPr id="346"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47"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48"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49"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0"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1"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2"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3"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54"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5"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6"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25" name="Text Box 1524"/>
              <p:cNvSpPr txBox="1">
                <a:spLocks noChangeArrowheads="1"/>
              </p:cNvSpPr>
              <p:nvPr/>
            </p:nvSpPr>
            <p:spPr bwMode="auto">
              <a:xfrm>
                <a:off x="4513881" y="2319427"/>
                <a:ext cx="389226"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326" name="Group 198"/>
              <p:cNvGrpSpPr>
                <a:grpSpLocks/>
              </p:cNvGrpSpPr>
              <p:nvPr/>
            </p:nvGrpSpPr>
            <p:grpSpPr bwMode="auto">
              <a:xfrm>
                <a:off x="5205901" y="2196963"/>
                <a:ext cx="381369" cy="419031"/>
                <a:chOff x="975" y="2584"/>
                <a:chExt cx="407" cy="438"/>
              </a:xfrm>
            </p:grpSpPr>
            <p:sp>
              <p:nvSpPr>
                <p:cNvPr id="34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45"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327" name="Line 1443"/>
              <p:cNvSpPr>
                <a:spLocks noChangeShapeType="1"/>
              </p:cNvSpPr>
              <p:nvPr/>
            </p:nvSpPr>
            <p:spPr bwMode="auto">
              <a:xfrm>
                <a:off x="4713558" y="3658367"/>
                <a:ext cx="214291" cy="25538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328" name="Group 198"/>
              <p:cNvGrpSpPr>
                <a:grpSpLocks/>
              </p:cNvGrpSpPr>
              <p:nvPr/>
            </p:nvGrpSpPr>
            <p:grpSpPr bwMode="auto">
              <a:xfrm>
                <a:off x="4726460" y="3831803"/>
                <a:ext cx="381369" cy="419031"/>
                <a:chOff x="975" y="2584"/>
                <a:chExt cx="407" cy="438"/>
              </a:xfrm>
            </p:grpSpPr>
            <p:sp>
              <p:nvSpPr>
                <p:cNvPr id="3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343" name="Picture 200"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329" name="Group 1404"/>
              <p:cNvGrpSpPr>
                <a:grpSpLocks/>
              </p:cNvGrpSpPr>
              <p:nvPr/>
            </p:nvGrpSpPr>
            <p:grpSpPr bwMode="auto">
              <a:xfrm rot="20933218">
                <a:off x="4477820" y="3396224"/>
                <a:ext cx="436886" cy="410739"/>
                <a:chOff x="2949" y="196"/>
                <a:chExt cx="941" cy="598"/>
              </a:xfrm>
            </p:grpSpPr>
            <p:sp>
              <p:nvSpPr>
                <p:cNvPr id="331"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2"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3"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4"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5"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6"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7"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8"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339"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0"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1"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30" name="Text Box 1524"/>
              <p:cNvSpPr txBox="1">
                <a:spLocks noChangeArrowheads="1"/>
              </p:cNvSpPr>
              <p:nvPr/>
            </p:nvSpPr>
            <p:spPr bwMode="auto">
              <a:xfrm>
                <a:off x="4506585" y="3431090"/>
                <a:ext cx="389225" cy="2414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grpSp>
      <p:sp>
        <p:nvSpPr>
          <p:cNvPr id="2" name="标题 1">
            <a:extLst>
              <a:ext uri="{FF2B5EF4-FFF2-40B4-BE49-F238E27FC236}">
                <a16:creationId xmlns:a16="http://schemas.microsoft.com/office/drawing/2014/main" id="{8E703439-3F25-B35C-BB49-0168DFE3E9E3}"/>
              </a:ext>
            </a:extLst>
          </p:cNvPr>
          <p:cNvSpPr>
            <a:spLocks noGrp="1"/>
          </p:cNvSpPr>
          <p:nvPr>
            <p:ph type="title"/>
          </p:nvPr>
        </p:nvSpPr>
        <p:spPr>
          <a:xfrm>
            <a:off x="612000" y="216000"/>
            <a:ext cx="7920000" cy="369332"/>
          </a:xfrm>
        </p:spPr>
        <p:txBody>
          <a:bodyPr/>
          <a:lstStyle/>
          <a:p>
            <a:r>
              <a:rPr lang="zh-CN" altLang="en-US" dirty="0"/>
              <a:t>用“云”表示网络：主机在“云”里</a:t>
            </a:r>
          </a:p>
        </p:txBody>
      </p: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837224" y="1469260"/>
            <a:ext cx="5091729" cy="2789231"/>
            <a:chOff x="1944797" y="1469260"/>
            <a:chExt cx="5091729" cy="2789231"/>
          </a:xfrm>
        </p:grpSpPr>
        <p:grpSp>
          <p:nvGrpSpPr>
            <p:cNvPr id="15" name="Group 1504"/>
            <p:cNvGrpSpPr>
              <a:grpSpLocks/>
            </p:cNvGrpSpPr>
            <p:nvPr/>
          </p:nvGrpSpPr>
          <p:grpSpPr bwMode="auto">
            <a:xfrm>
              <a:off x="2587241" y="1469260"/>
              <a:ext cx="3787245" cy="2524447"/>
              <a:chOff x="109" y="1226"/>
              <a:chExt cx="2516" cy="1675"/>
            </a:xfrm>
            <a:scene3d>
              <a:camera prst="orthographicFront">
                <a:rot lat="0" lon="0" rev="0"/>
              </a:camera>
              <a:lightRig rig="contrasting" dir="t">
                <a:rot lat="0" lon="0" rev="7800000"/>
              </a:lightRig>
            </a:scene3d>
          </p:grpSpPr>
          <p:grpSp>
            <p:nvGrpSpPr>
              <p:cNvPr id="16" name="Group 1505"/>
              <p:cNvGrpSpPr>
                <a:grpSpLocks/>
              </p:cNvGrpSpPr>
              <p:nvPr/>
            </p:nvGrpSpPr>
            <p:grpSpPr bwMode="auto">
              <a:xfrm>
                <a:off x="109" y="1226"/>
                <a:ext cx="2516" cy="1675"/>
                <a:chOff x="109" y="1226"/>
                <a:chExt cx="2516" cy="1675"/>
              </a:xfrm>
            </p:grpSpPr>
            <p:grpSp>
              <p:nvGrpSpPr>
                <p:cNvPr id="18" name="Group 1506"/>
                <p:cNvGrpSpPr>
                  <a:grpSpLocks/>
                </p:cNvGrpSpPr>
                <p:nvPr/>
              </p:nvGrpSpPr>
              <p:grpSpPr bwMode="auto">
                <a:xfrm>
                  <a:off x="109" y="1226"/>
                  <a:ext cx="2516" cy="1675"/>
                  <a:chOff x="109" y="1226"/>
                  <a:chExt cx="2516" cy="1675"/>
                </a:xfrm>
              </p:grpSpPr>
              <p:sp>
                <p:nvSpPr>
                  <p:cNvPr id="20"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1"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2"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3"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4"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5"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26"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9"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7"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11" name="Line 1453"/>
            <p:cNvSpPr>
              <a:spLocks noChangeShapeType="1"/>
            </p:cNvSpPr>
            <p:nvPr/>
          </p:nvSpPr>
          <p:spPr bwMode="auto">
            <a:xfrm flipH="1">
              <a:off x="2229229" y="2536991"/>
              <a:ext cx="907434"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2" name="Line 1443"/>
            <p:cNvSpPr>
              <a:spLocks noChangeShapeType="1"/>
            </p:cNvSpPr>
            <p:nvPr/>
          </p:nvSpPr>
          <p:spPr bwMode="auto">
            <a:xfrm>
              <a:off x="5734567" y="2749994"/>
              <a:ext cx="1014678" cy="78634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3" name="Line 1452"/>
            <p:cNvSpPr>
              <a:spLocks noChangeShapeType="1"/>
            </p:cNvSpPr>
            <p:nvPr/>
          </p:nvSpPr>
          <p:spPr bwMode="auto">
            <a:xfrm flipV="1">
              <a:off x="5044324" y="1866368"/>
              <a:ext cx="1532263" cy="23713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4" name="Line 1443"/>
            <p:cNvSpPr>
              <a:spLocks noChangeShapeType="1"/>
            </p:cNvSpPr>
            <p:nvPr/>
          </p:nvSpPr>
          <p:spPr bwMode="auto">
            <a:xfrm flipH="1">
              <a:off x="4141598" y="3279132"/>
              <a:ext cx="830808" cy="76014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95" name="Line 1443"/>
            <p:cNvSpPr>
              <a:spLocks noChangeShapeType="1"/>
            </p:cNvSpPr>
            <p:nvPr/>
          </p:nvSpPr>
          <p:spPr bwMode="auto">
            <a:xfrm flipV="1">
              <a:off x="5751228" y="2650297"/>
              <a:ext cx="1055660" cy="8283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 name="组合 1"/>
            <p:cNvGrpSpPr/>
            <p:nvPr/>
          </p:nvGrpSpPr>
          <p:grpSpPr>
            <a:xfrm>
              <a:off x="2668371" y="1727739"/>
              <a:ext cx="3359225" cy="1889284"/>
              <a:chOff x="2826813" y="1437329"/>
              <a:chExt cx="4042416" cy="2405378"/>
            </a:xfrm>
          </p:grpSpPr>
          <p:sp>
            <p:nvSpPr>
              <p:cNvPr id="27"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1"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2"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1"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27684"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6"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7"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8"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8" y="153984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689"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7690" name="Group 1468"/>
              <p:cNvGrpSpPr>
                <a:grpSpLocks/>
              </p:cNvGrpSpPr>
              <p:nvPr/>
            </p:nvGrpSpPr>
            <p:grpSpPr bwMode="auto">
              <a:xfrm rot="20933218">
                <a:off x="4506350" y="2466491"/>
                <a:ext cx="725487" cy="603250"/>
                <a:chOff x="2949" y="196"/>
                <a:chExt cx="941" cy="598"/>
              </a:xfrm>
            </p:grpSpPr>
            <p:sp>
              <p:nvSpPr>
                <p:cNvPr id="27718"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19"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0"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1"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2"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3"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4"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5"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26"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27"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28"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2"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210"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9" name="Group 1356"/>
              <p:cNvGrpSpPr>
                <a:grpSpLocks/>
              </p:cNvGrpSpPr>
              <p:nvPr/>
            </p:nvGrpSpPr>
            <p:grpSpPr bwMode="auto">
              <a:xfrm rot="20527939">
                <a:off x="3139508" y="2218388"/>
                <a:ext cx="768350" cy="528637"/>
                <a:chOff x="2949" y="196"/>
                <a:chExt cx="941" cy="598"/>
              </a:xfrm>
            </p:grpSpPr>
            <p:sp>
              <p:nvSpPr>
                <p:cNvPr id="27762"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3"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4"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5"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6"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7"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8"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69"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0"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71"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72"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6"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27678" name="Group 1344"/>
              <p:cNvGrpSpPr>
                <a:grpSpLocks/>
              </p:cNvGrpSpPr>
              <p:nvPr/>
            </p:nvGrpSpPr>
            <p:grpSpPr bwMode="auto">
              <a:xfrm>
                <a:off x="5190791" y="1675914"/>
                <a:ext cx="738187" cy="617537"/>
                <a:chOff x="2949" y="196"/>
                <a:chExt cx="941" cy="598"/>
              </a:xfrm>
            </p:grpSpPr>
            <p:sp>
              <p:nvSpPr>
                <p:cNvPr id="27773"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4"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5"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6"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7"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8"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79"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0"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1"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82"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83"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5"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2" name="Group 1404"/>
              <p:cNvGrpSpPr>
                <a:grpSpLocks/>
              </p:cNvGrpSpPr>
              <p:nvPr/>
            </p:nvGrpSpPr>
            <p:grpSpPr bwMode="auto">
              <a:xfrm rot="20933218">
                <a:off x="5255197" y="3165217"/>
                <a:ext cx="611187" cy="523875"/>
                <a:chOff x="2949" y="196"/>
                <a:chExt cx="941" cy="598"/>
              </a:xfrm>
            </p:grpSpPr>
            <p:sp>
              <p:nvSpPr>
                <p:cNvPr id="27740"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1"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2"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3"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4"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5"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6"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7"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48"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49"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50"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8"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3" name="Group 1416"/>
              <p:cNvGrpSpPr>
                <a:grpSpLocks/>
              </p:cNvGrpSpPr>
              <p:nvPr/>
            </p:nvGrpSpPr>
            <p:grpSpPr bwMode="auto">
              <a:xfrm rot="282232">
                <a:off x="6224704" y="2566730"/>
                <a:ext cx="644525" cy="441325"/>
                <a:chOff x="2949" y="196"/>
                <a:chExt cx="941" cy="598"/>
              </a:xfrm>
            </p:grpSpPr>
            <p:sp>
              <p:nvSpPr>
                <p:cNvPr id="27729"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0"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1"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2"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3"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4"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5"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6"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37"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38"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39"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3"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196" name="Line 1453"/>
              <p:cNvSpPr>
                <a:spLocks noChangeShapeType="1"/>
              </p:cNvSpPr>
              <p:nvPr/>
            </p:nvSpPr>
            <p:spPr bwMode="auto">
              <a:xfrm flipH="1" flipV="1">
                <a:off x="2826813" y="1437329"/>
                <a:ext cx="1358429" cy="43670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7677" name="Group 1320"/>
              <p:cNvGrpSpPr>
                <a:grpSpLocks/>
              </p:cNvGrpSpPr>
              <p:nvPr/>
            </p:nvGrpSpPr>
            <p:grpSpPr bwMode="auto">
              <a:xfrm>
                <a:off x="3883138" y="1675914"/>
                <a:ext cx="738187" cy="441325"/>
                <a:chOff x="2949" y="196"/>
                <a:chExt cx="941" cy="598"/>
              </a:xfrm>
            </p:grpSpPr>
            <p:sp>
              <p:nvSpPr>
                <p:cNvPr id="2778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8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9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9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9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9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9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7"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27680" name="Group 1428"/>
              <p:cNvGrpSpPr>
                <a:grpSpLocks/>
              </p:cNvGrpSpPr>
              <p:nvPr/>
            </p:nvGrpSpPr>
            <p:grpSpPr bwMode="auto">
              <a:xfrm rot="20745072">
                <a:off x="3800586" y="2811209"/>
                <a:ext cx="655637" cy="615950"/>
                <a:chOff x="2949" y="196"/>
                <a:chExt cx="941" cy="598"/>
              </a:xfrm>
            </p:grpSpPr>
            <p:sp>
              <p:nvSpPr>
                <p:cNvPr id="27751"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2"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3"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4"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5"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6"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7"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8"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sp>
              <p:nvSpPr>
                <p:cNvPr id="27759"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60"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761"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7694"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97" name="Text Box 1524"/>
            <p:cNvSpPr txBox="1">
              <a:spLocks noChangeArrowheads="1"/>
            </p:cNvSpPr>
            <p:nvPr/>
          </p:nvSpPr>
          <p:spPr bwMode="auto">
            <a:xfrm>
              <a:off x="6585210" y="2857687"/>
              <a:ext cx="451316" cy="2418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主机</a:t>
              </a:r>
            </a:p>
          </p:txBody>
        </p:sp>
        <p:grpSp>
          <p:nvGrpSpPr>
            <p:cNvPr id="200" name="Group 198"/>
            <p:cNvGrpSpPr>
              <a:grpSpLocks/>
            </p:cNvGrpSpPr>
            <p:nvPr/>
          </p:nvGrpSpPr>
          <p:grpSpPr bwMode="auto">
            <a:xfrm>
              <a:off x="2528565" y="3407083"/>
              <a:ext cx="443354" cy="419781"/>
              <a:chOff x="975" y="2584"/>
              <a:chExt cx="407" cy="438"/>
            </a:xfrm>
          </p:grpSpPr>
          <p:sp>
            <p:nvSpPr>
              <p:cNvPr id="20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0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8" name="Group 198"/>
            <p:cNvGrpSpPr>
              <a:grpSpLocks/>
            </p:cNvGrpSpPr>
            <p:nvPr/>
          </p:nvGrpSpPr>
          <p:grpSpPr bwMode="auto">
            <a:xfrm>
              <a:off x="1944797" y="2316570"/>
              <a:ext cx="443354" cy="419781"/>
              <a:chOff x="975" y="2584"/>
              <a:chExt cx="407" cy="438"/>
            </a:xfrm>
          </p:grpSpPr>
          <p:sp>
            <p:nvSpPr>
              <p:cNvPr id="18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9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6" name="Group 198"/>
            <p:cNvGrpSpPr>
              <a:grpSpLocks/>
            </p:cNvGrpSpPr>
            <p:nvPr/>
          </p:nvGrpSpPr>
          <p:grpSpPr bwMode="auto">
            <a:xfrm>
              <a:off x="6354911" y="1642580"/>
              <a:ext cx="443354" cy="419781"/>
              <a:chOff x="975" y="2584"/>
              <a:chExt cx="407" cy="438"/>
            </a:xfrm>
          </p:grpSpPr>
          <p:sp>
            <p:nvSpPr>
              <p:cNvPr id="2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15" name="Group 198"/>
            <p:cNvGrpSpPr>
              <a:grpSpLocks/>
            </p:cNvGrpSpPr>
            <p:nvPr/>
          </p:nvGrpSpPr>
          <p:grpSpPr bwMode="auto">
            <a:xfrm>
              <a:off x="3909107" y="3838710"/>
              <a:ext cx="443354" cy="419781"/>
              <a:chOff x="975" y="2584"/>
              <a:chExt cx="407" cy="438"/>
            </a:xfrm>
          </p:grpSpPr>
          <p:sp>
            <p:nvSpPr>
              <p:cNvPr id="216"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17"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92" name="Group 198"/>
            <p:cNvGrpSpPr>
              <a:grpSpLocks/>
            </p:cNvGrpSpPr>
            <p:nvPr/>
          </p:nvGrpSpPr>
          <p:grpSpPr bwMode="auto">
            <a:xfrm>
              <a:off x="6501622" y="3263500"/>
              <a:ext cx="443354" cy="419781"/>
              <a:chOff x="975" y="2584"/>
              <a:chExt cx="407" cy="438"/>
            </a:xfrm>
          </p:grpSpPr>
          <p:sp>
            <p:nvSpPr>
              <p:cNvPr id="193"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94"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03" name="Group 198"/>
            <p:cNvGrpSpPr>
              <a:grpSpLocks/>
            </p:cNvGrpSpPr>
            <p:nvPr/>
          </p:nvGrpSpPr>
          <p:grpSpPr bwMode="auto">
            <a:xfrm>
              <a:off x="6585210" y="2407614"/>
              <a:ext cx="443354" cy="419781"/>
              <a:chOff x="975" y="2584"/>
              <a:chExt cx="407" cy="438"/>
            </a:xfrm>
          </p:grpSpPr>
          <p:sp>
            <p:nvSpPr>
              <p:cNvPr id="20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20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86" name="Group 198"/>
            <p:cNvGrpSpPr>
              <a:grpSpLocks/>
            </p:cNvGrpSpPr>
            <p:nvPr/>
          </p:nvGrpSpPr>
          <p:grpSpPr bwMode="auto">
            <a:xfrm>
              <a:off x="2349839" y="1522967"/>
              <a:ext cx="443354" cy="419781"/>
              <a:chOff x="975" y="2584"/>
              <a:chExt cx="407" cy="438"/>
            </a:xfrm>
          </p:grpSpPr>
          <p:sp>
            <p:nvSpPr>
              <p:cNvPr id="18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dirty="0">
                  <a:solidFill>
                    <a:srgbClr val="000000"/>
                  </a:solidFill>
                  <a:latin typeface="Times New Roman" panose="02020603050405020304" pitchFamily="18" charset="0"/>
                  <a:ea typeface="微软雅黑 Light" panose="020B0502040204020203" pitchFamily="34" charset="-122"/>
                </a:endParaRPr>
              </a:p>
            </p:txBody>
          </p:sp>
          <p:pic>
            <p:nvPicPr>
              <p:cNvPr id="19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5" name="标题 4">
            <a:extLst>
              <a:ext uri="{FF2B5EF4-FFF2-40B4-BE49-F238E27FC236}">
                <a16:creationId xmlns:a16="http://schemas.microsoft.com/office/drawing/2014/main" id="{E1BDF6F0-A9CD-D08A-78B9-7F93AB24B7CD}"/>
              </a:ext>
            </a:extLst>
          </p:cNvPr>
          <p:cNvSpPr>
            <a:spLocks noGrp="1"/>
          </p:cNvSpPr>
          <p:nvPr>
            <p:ph type="title"/>
          </p:nvPr>
        </p:nvSpPr>
        <p:spPr>
          <a:xfrm>
            <a:off x="612000" y="216000"/>
            <a:ext cx="7920000" cy="369332"/>
          </a:xfrm>
        </p:spPr>
        <p:txBody>
          <a:bodyPr/>
          <a:lstStyle/>
          <a:p>
            <a:r>
              <a:rPr lang="zh-CN" altLang="en-US" dirty="0"/>
              <a:t>用“云”表示网络：主机在“云”外</a:t>
            </a:r>
          </a:p>
        </p:txBody>
      </p:sp>
    </p:spTree>
    <p:extLst>
      <p:ext uri="{BB962C8B-B14F-4D97-AF65-F5344CB8AC3E}">
        <p14:creationId xmlns:p14="http://schemas.microsoft.com/office/powerpoint/2010/main" val="29987229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6DAD7753-17AF-3EBE-D042-87DE5DECC3CB}"/>
              </a:ext>
            </a:extLst>
          </p:cNvPr>
          <p:cNvSpPr>
            <a:spLocks noGrp="1"/>
          </p:cNvSpPr>
          <p:nvPr>
            <p:ph type="title"/>
          </p:nvPr>
        </p:nvSpPr>
        <p:spPr>
          <a:xfrm>
            <a:off x="612000" y="216000"/>
            <a:ext cx="7920000" cy="369332"/>
          </a:xfrm>
        </p:spPr>
        <p:txBody>
          <a:bodyPr/>
          <a:lstStyle/>
          <a:p>
            <a:r>
              <a:rPr lang="zh-CN" altLang="en-US" dirty="0"/>
              <a:t>网络与互连网</a:t>
            </a:r>
          </a:p>
        </p:txBody>
      </p:sp>
      <p:sp>
        <p:nvSpPr>
          <p:cNvPr id="7" name="文本框 6">
            <a:extLst>
              <a:ext uri="{FF2B5EF4-FFF2-40B4-BE49-F238E27FC236}">
                <a16:creationId xmlns:a16="http://schemas.microsoft.com/office/drawing/2014/main" id="{7E767152-9B61-C602-1FBE-78D5EB8B3FFF}"/>
              </a:ext>
            </a:extLst>
          </p:cNvPr>
          <p:cNvSpPr txBox="1"/>
          <p:nvPr/>
        </p:nvSpPr>
        <p:spPr>
          <a:xfrm>
            <a:off x="972000" y="1629697"/>
            <a:ext cx="7200000" cy="1591461"/>
          </a:xfrm>
          <a:prstGeom prst="rect">
            <a:avLst/>
          </a:prstGeom>
          <a:noFill/>
        </p:spPr>
        <p:txBody>
          <a:bodyPr wrap="square" rtlCol="0">
            <a:spAutoFit/>
          </a:bodyPr>
          <a:lstStyle/>
          <a:p>
            <a:pPr eaLnBrk="0" fontAlgn="auto" hangingPunct="0">
              <a:lnSpc>
                <a:spcPts val="3000"/>
              </a:lnSpc>
              <a:spcBef>
                <a:spcPts val="0"/>
              </a:spcBef>
              <a:spcAft>
                <a:spcPts val="0"/>
              </a:spcAft>
            </a:pPr>
            <a:r>
              <a:rPr lang="zh-CN" altLang="en-US" dirty="0"/>
              <a:t>网络：把许多计算机连接在一起。</a:t>
            </a:r>
            <a:endParaRPr lang="en-US" altLang="zh-CN" dirty="0"/>
          </a:p>
          <a:p>
            <a:pPr eaLnBrk="0" fontAlgn="auto" hangingPunct="0">
              <a:lnSpc>
                <a:spcPts val="3000"/>
              </a:lnSpc>
              <a:spcBef>
                <a:spcPts val="0"/>
              </a:spcBef>
              <a:spcAft>
                <a:spcPts val="0"/>
              </a:spcAft>
            </a:pPr>
            <a:r>
              <a:rPr lang="zh-CN" altLang="en-US" dirty="0"/>
              <a:t>互连网：把许多网络通过一些路由器连接在一起。与网络相连的计算机常称为主机。</a:t>
            </a:r>
            <a:endParaRPr lang="en-US" altLang="zh-CN" dirty="0"/>
          </a:p>
          <a:p>
            <a:pPr eaLnBrk="0" fontAlgn="auto" hangingPunct="0">
              <a:lnSpc>
                <a:spcPts val="3000"/>
              </a:lnSpc>
              <a:spcBef>
                <a:spcPts val="0"/>
              </a:spcBef>
              <a:spcAft>
                <a:spcPts val="0"/>
              </a:spcAft>
            </a:pPr>
            <a:r>
              <a:rPr lang="zh-CN" altLang="en-US" dirty="0"/>
              <a:t>互连网 </a:t>
            </a:r>
            <a:r>
              <a:rPr lang="en-US" altLang="zh-CN" dirty="0"/>
              <a:t>(internet)</a:t>
            </a:r>
            <a:r>
              <a:rPr lang="zh-CN" altLang="en-US" dirty="0"/>
              <a:t> ≠ 互联网 </a:t>
            </a:r>
            <a:r>
              <a:rPr lang="en-US" altLang="zh-CN" dirty="0"/>
              <a:t>(Internet)</a:t>
            </a:r>
            <a:endParaRPr lang="zh-CN" altLang="zh-CN" dirty="0"/>
          </a:p>
        </p:txBody>
      </p:sp>
    </p:spTree>
    <p:extLst>
      <p:ext uri="{BB962C8B-B14F-4D97-AF65-F5344CB8AC3E}">
        <p14:creationId xmlns:p14="http://schemas.microsoft.com/office/powerpoint/2010/main" val="4155289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图示 6"/>
          <p:cNvGraphicFramePr/>
          <p:nvPr>
            <p:extLst>
              <p:ext uri="{D42A27DB-BD31-4B8C-83A1-F6EECF244321}">
                <p14:modId xmlns:p14="http://schemas.microsoft.com/office/powerpoint/2010/main" val="1302312913"/>
              </p:ext>
            </p:extLst>
          </p:nvPr>
        </p:nvGraphicFramePr>
        <p:xfrm>
          <a:off x="525103" y="1210493"/>
          <a:ext cx="7991880" cy="27431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32A2E9FA-B5FD-5C38-74E1-F2339865FE2B}"/>
              </a:ext>
            </a:extLst>
          </p:cNvPr>
          <p:cNvSpPr>
            <a:spLocks noGrp="1"/>
          </p:cNvSpPr>
          <p:nvPr>
            <p:ph type="title"/>
          </p:nvPr>
        </p:nvSpPr>
        <p:spPr/>
        <p:txBody>
          <a:bodyPr/>
          <a:lstStyle/>
          <a:p>
            <a:r>
              <a:rPr lang="en-US" altLang="zh-CN" dirty="0"/>
              <a:t>1.2.2  </a:t>
            </a:r>
            <a:r>
              <a:rPr lang="zh-CN" altLang="en-US" dirty="0"/>
              <a:t>互联网基础结构发展的三个阶段</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en-US" altLang="zh-CN" dirty="0"/>
              <a:t>ARPANET</a:t>
            </a:r>
            <a:r>
              <a:rPr lang="zh-CN" altLang="en-US" dirty="0"/>
              <a:t>：最初只是一个单个的分组交换网，不是一个互连网。 </a:t>
            </a:r>
          </a:p>
          <a:p>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r>
              <a:rPr lang="zh-CN" altLang="zh-CN" dirty="0"/>
              <a:t>使得所有使用</a:t>
            </a:r>
            <a:r>
              <a:rPr lang="en-US" altLang="zh-CN" dirty="0"/>
              <a:t> TCP/IP </a:t>
            </a:r>
            <a:r>
              <a:rPr lang="zh-CN" altLang="zh-CN" dirty="0"/>
              <a:t>协议的计算机都能利用互连网相互通信</a:t>
            </a:r>
            <a:r>
              <a:rPr lang="zh-CN" altLang="en-US" dirty="0"/>
              <a:t>。</a:t>
            </a:r>
          </a:p>
          <a:p>
            <a:r>
              <a:rPr lang="zh-CN" altLang="en-US" dirty="0"/>
              <a:t>人们把 </a:t>
            </a:r>
            <a:r>
              <a:rPr lang="en-US" altLang="zh-CN" dirty="0"/>
              <a:t>1983 </a:t>
            </a:r>
            <a:r>
              <a:rPr lang="zh-CN" altLang="en-US" dirty="0"/>
              <a:t>年作为互联网的诞生时间。</a:t>
            </a:r>
            <a:endParaRPr lang="en-US" altLang="zh-CN" dirty="0"/>
          </a:p>
          <a:p>
            <a:r>
              <a:rPr lang="en-US" altLang="zh-CN" dirty="0"/>
              <a:t>1990 </a:t>
            </a:r>
            <a:r>
              <a:rPr lang="zh-CN" altLang="zh-CN" dirty="0"/>
              <a:t>年</a:t>
            </a:r>
            <a:r>
              <a:rPr lang="zh-CN" altLang="en-US" dirty="0"/>
              <a:t>，</a:t>
            </a:r>
            <a:r>
              <a:rPr lang="en-US" altLang="zh-CN" dirty="0"/>
              <a:t>ARPANET </a:t>
            </a:r>
            <a:r>
              <a:rPr lang="zh-CN" altLang="zh-CN" dirty="0"/>
              <a:t>正式宣布关闭</a:t>
            </a:r>
            <a:r>
              <a:rPr lang="zh-CN" altLang="en-US" dirty="0"/>
              <a:t>。</a:t>
            </a:r>
            <a:endParaRPr lang="en-US" altLang="zh-CN" dirty="0"/>
          </a:p>
          <a:p>
            <a:endParaRPr lang="zh-CN" altLang="en-US" dirty="0"/>
          </a:p>
        </p:txBody>
      </p:sp>
      <p:sp>
        <p:nvSpPr>
          <p:cNvPr id="11" name="标题 10">
            <a:extLst>
              <a:ext uri="{FF2B5EF4-FFF2-40B4-BE49-F238E27FC236}">
                <a16:creationId xmlns:a16="http://schemas.microsoft.com/office/drawing/2014/main" id="{D8931A3E-A796-2D0F-47FC-DBF527742BC1}"/>
              </a:ext>
            </a:extLst>
          </p:cNvPr>
          <p:cNvSpPr>
            <a:spLocks noGrp="1"/>
          </p:cNvSpPr>
          <p:nvPr>
            <p:ph type="title"/>
          </p:nvPr>
        </p:nvSpPr>
        <p:spPr/>
        <p:txBody>
          <a:bodyPr/>
          <a:lstStyle/>
          <a:p>
            <a:r>
              <a:rPr lang="zh-CN" altLang="en-US" dirty="0"/>
              <a:t>第一阶段：</a:t>
            </a:r>
            <a:r>
              <a:rPr lang="en-US" altLang="zh-CN" dirty="0"/>
              <a:t>1969 – 1990 </a:t>
            </a:r>
            <a:endParaRPr lang="zh-CN" altLang="en-US" dirty="0"/>
          </a:p>
        </p:txBody>
      </p:sp>
      <p:grpSp>
        <p:nvGrpSpPr>
          <p:cNvPr id="36" name="组合 35"/>
          <p:cNvGrpSpPr/>
          <p:nvPr/>
        </p:nvGrpSpPr>
        <p:grpSpPr>
          <a:xfrm>
            <a:off x="5763014" y="1231687"/>
            <a:ext cx="2369638" cy="2239778"/>
            <a:chOff x="5512528" y="1295507"/>
            <a:chExt cx="2369638" cy="2239778"/>
          </a:xfrm>
        </p:grpSpPr>
        <p:sp>
          <p:nvSpPr>
            <p:cNvPr id="2" name="椭圆 1"/>
            <p:cNvSpPr/>
            <p:nvPr/>
          </p:nvSpPr>
          <p:spPr>
            <a:xfrm>
              <a:off x="6584585"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SRI</a:t>
              </a:r>
              <a:endParaRPr lang="zh-CN" altLang="en-US" sz="1600" b="1" dirty="0">
                <a:solidFill>
                  <a:schemeClr val="tx1"/>
                </a:solidFill>
              </a:endParaRPr>
            </a:p>
          </p:txBody>
        </p:sp>
        <p:sp>
          <p:nvSpPr>
            <p:cNvPr id="4" name="椭圆 3"/>
            <p:cNvSpPr/>
            <p:nvPr/>
          </p:nvSpPr>
          <p:spPr>
            <a:xfrm>
              <a:off x="6723923"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6070777" y="2301158"/>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椭圆 6"/>
            <p:cNvSpPr/>
            <p:nvPr/>
          </p:nvSpPr>
          <p:spPr>
            <a:xfrm>
              <a:off x="6723923" y="304348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椭圆 7"/>
            <p:cNvSpPr/>
            <p:nvPr/>
          </p:nvSpPr>
          <p:spPr>
            <a:xfrm>
              <a:off x="7577367" y="1558834"/>
              <a:ext cx="235132" cy="235132"/>
            </a:xfrm>
            <a:prstGeom prst="ellipse">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0" name="直接连接符 9"/>
            <p:cNvCxnSpPr>
              <a:stCxn id="4" idx="3"/>
              <a:endCxn id="6" idx="7"/>
            </p:cNvCxnSpPr>
            <p:nvPr/>
          </p:nvCxnSpPr>
          <p:spPr>
            <a:xfrm flipH="1">
              <a:off x="6271475" y="1759532"/>
              <a:ext cx="486882" cy="576060"/>
            </a:xfrm>
            <a:prstGeom prst="line">
              <a:avLst/>
            </a:prstGeom>
            <a:ln w="19050"/>
          </p:spPr>
          <p:style>
            <a:lnRef idx="1">
              <a:schemeClr val="dk1"/>
            </a:lnRef>
            <a:fillRef idx="0">
              <a:schemeClr val="dk1"/>
            </a:fillRef>
            <a:effectRef idx="0">
              <a:schemeClr val="dk1"/>
            </a:effectRef>
            <a:fontRef idx="minor">
              <a:schemeClr val="tx1"/>
            </a:fontRef>
          </p:style>
        </p:cxnSp>
        <p:cxnSp>
          <p:nvCxnSpPr>
            <p:cNvPr id="12" name="直接连接符 11"/>
            <p:cNvCxnSpPr>
              <a:stCxn id="6" idx="5"/>
              <a:endCxn id="7" idx="1"/>
            </p:cNvCxnSpPr>
            <p:nvPr/>
          </p:nvCxnSpPr>
          <p:spPr>
            <a:xfrm>
              <a:off x="6271475" y="2501856"/>
              <a:ext cx="486882" cy="576062"/>
            </a:xfrm>
            <a:prstGeom prst="line">
              <a:avLst/>
            </a:prstGeom>
            <a:ln w="19050"/>
          </p:spPr>
          <p:style>
            <a:lnRef idx="1">
              <a:schemeClr val="dk1"/>
            </a:lnRef>
            <a:fillRef idx="0">
              <a:schemeClr val="dk1"/>
            </a:fillRef>
            <a:effectRef idx="0">
              <a:schemeClr val="dk1"/>
            </a:effectRef>
            <a:fontRef idx="minor">
              <a:schemeClr val="tx1"/>
            </a:fontRef>
          </p:style>
        </p:cxnSp>
        <p:cxnSp>
          <p:nvCxnSpPr>
            <p:cNvPr id="15" name="直接连接符 14"/>
            <p:cNvCxnSpPr>
              <a:stCxn id="8" idx="2"/>
              <a:endCxn id="4" idx="6"/>
            </p:cNvCxnSpPr>
            <p:nvPr/>
          </p:nvCxnSpPr>
          <p:spPr>
            <a:xfrm flipH="1">
              <a:off x="6959055" y="1676400"/>
              <a:ext cx="61831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直接连接符 17"/>
            <p:cNvCxnSpPr>
              <a:stCxn id="7" idx="0"/>
              <a:endCxn id="4" idx="4"/>
            </p:cNvCxnSpPr>
            <p:nvPr/>
          </p:nvCxnSpPr>
          <p:spPr>
            <a:xfrm flipV="1">
              <a:off x="6841489" y="1793966"/>
              <a:ext cx="0" cy="1249518"/>
            </a:xfrm>
            <a:prstGeom prst="line">
              <a:avLst/>
            </a:prstGeom>
            <a:ln w="19050"/>
          </p:spPr>
          <p:style>
            <a:lnRef idx="1">
              <a:schemeClr val="dk1"/>
            </a:lnRef>
            <a:fillRef idx="0">
              <a:schemeClr val="dk1"/>
            </a:fillRef>
            <a:effectRef idx="0">
              <a:schemeClr val="dk1"/>
            </a:effectRef>
            <a:fontRef idx="minor">
              <a:schemeClr val="tx1"/>
            </a:fontRef>
          </p:style>
        </p:cxnSp>
        <p:sp>
          <p:nvSpPr>
            <p:cNvPr id="21" name="椭圆 20"/>
            <p:cNvSpPr/>
            <p:nvPr/>
          </p:nvSpPr>
          <p:spPr>
            <a:xfrm>
              <a:off x="5512528" y="227140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UCSB</a:t>
              </a:r>
              <a:endParaRPr lang="zh-CN" altLang="en-US" sz="1600" b="1" dirty="0">
                <a:solidFill>
                  <a:schemeClr val="tx1"/>
                </a:solidFill>
              </a:endParaRPr>
            </a:p>
          </p:txBody>
        </p:sp>
        <p:sp>
          <p:nvSpPr>
            <p:cNvPr id="22" name="椭圆 21"/>
            <p:cNvSpPr/>
            <p:nvPr/>
          </p:nvSpPr>
          <p:spPr>
            <a:xfrm>
              <a:off x="6564990" y="3240644"/>
              <a:ext cx="570416"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UCLA</a:t>
              </a:r>
              <a:endParaRPr lang="zh-CN" altLang="en-US" sz="1600" b="1" dirty="0">
                <a:solidFill>
                  <a:schemeClr val="tx1"/>
                </a:solidFill>
              </a:endParaRPr>
            </a:p>
          </p:txBody>
        </p:sp>
        <p:sp>
          <p:nvSpPr>
            <p:cNvPr id="23" name="椭圆 22"/>
            <p:cNvSpPr/>
            <p:nvPr/>
          </p:nvSpPr>
          <p:spPr>
            <a:xfrm>
              <a:off x="7438029" y="1295507"/>
              <a:ext cx="444137" cy="294641"/>
            </a:xfrm>
            <a:prstGeom prst="ellipse">
              <a:avLst/>
            </a:prstGeom>
            <a:noFill/>
            <a:ln w="12700">
              <a:noFill/>
            </a:ln>
          </p:spPr>
          <p:style>
            <a:lnRef idx="2">
              <a:schemeClr val="dk1"/>
            </a:lnRef>
            <a:fillRef idx="1">
              <a:schemeClr val="lt1"/>
            </a:fillRef>
            <a:effectRef idx="0">
              <a:schemeClr val="dk1"/>
            </a:effectRef>
            <a:fontRef idx="minor">
              <a:schemeClr val="dk1"/>
            </a:fontRef>
          </p:style>
          <p:txBody>
            <a:bodyPr wrap="none" lIns="72000" rIns="72000" anchor="ctr">
              <a:noAutofit/>
            </a:bodyPr>
            <a:lstStyle/>
            <a:p>
              <a:pPr algn="ctr" fontAlgn="auto">
                <a:spcBef>
                  <a:spcPts val="0"/>
                </a:spcBef>
                <a:spcAft>
                  <a:spcPts val="0"/>
                </a:spcAft>
              </a:pPr>
              <a:r>
                <a:rPr lang="en-US" altLang="zh-CN" sz="1600" b="1" dirty="0">
                  <a:solidFill>
                    <a:schemeClr val="tx1"/>
                  </a:solidFill>
                </a:rPr>
                <a:t>UTAH</a:t>
              </a:r>
              <a:endParaRPr lang="zh-CN" altLang="en-US" sz="1600" b="1" dirty="0">
                <a:solidFill>
                  <a:schemeClr val="tx1"/>
                </a:solidFill>
              </a:endParaRPr>
            </a:p>
          </p:txBody>
        </p:sp>
      </p:grpSp>
      <p:sp>
        <p:nvSpPr>
          <p:cNvPr id="37" name="矩形 36"/>
          <p:cNvSpPr/>
          <p:nvPr/>
        </p:nvSpPr>
        <p:spPr>
          <a:xfrm>
            <a:off x="6099319" y="3464914"/>
            <a:ext cx="2277483"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kumimoji="1" lang="en-US" altLang="zh-CN" sz="1600" b="1" dirty="0">
                <a:latin typeface="微软雅黑" panose="020B0503020204020204" pitchFamily="34" charset="-122"/>
                <a:ea typeface="微软雅黑" panose="020B0503020204020204" pitchFamily="34" charset="-122"/>
              </a:rPr>
              <a:t>1969 </a:t>
            </a:r>
            <a:r>
              <a:rPr kumimoji="1" lang="zh-CN" altLang="en-US" sz="1600" b="1" dirty="0">
                <a:latin typeface="微软雅黑" panose="020B0503020204020204" pitchFamily="34" charset="-122"/>
                <a:ea typeface="微软雅黑" panose="020B0503020204020204" pitchFamily="34" charset="-122"/>
              </a:rPr>
              <a:t>年的 </a:t>
            </a:r>
            <a:r>
              <a:rPr kumimoji="1" lang="en-US" altLang="zh-CN" sz="1600" b="1" dirty="0">
                <a:latin typeface="微软雅黑" panose="020B0503020204020204" pitchFamily="34" charset="-122"/>
                <a:ea typeface="微软雅黑" panose="020B0503020204020204" pitchFamily="34" charset="-122"/>
              </a:rPr>
              <a:t>ARPANET </a:t>
            </a:r>
            <a:endParaRPr kumimoji="1" lang="zh-CN" altLang="en-US"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标题 97">
            <a:extLst>
              <a:ext uri="{FF2B5EF4-FFF2-40B4-BE49-F238E27FC236}">
                <a16:creationId xmlns:a16="http://schemas.microsoft.com/office/drawing/2014/main" id="{589BBF43-6765-C032-1E24-C772ABCD59AF}"/>
              </a:ext>
            </a:extLst>
          </p:cNvPr>
          <p:cNvSpPr>
            <a:spLocks noGrp="1"/>
          </p:cNvSpPr>
          <p:nvPr>
            <p:ph type="title"/>
          </p:nvPr>
        </p:nvSpPr>
        <p:spPr>
          <a:xfrm>
            <a:off x="612000" y="216000"/>
            <a:ext cx="7920000" cy="369332"/>
          </a:xfrm>
        </p:spPr>
        <p:txBody>
          <a:bodyPr/>
          <a:lstStyle/>
          <a:p>
            <a:r>
              <a:rPr lang="zh-CN" altLang="en-US" dirty="0"/>
              <a:t>第二阶段：</a:t>
            </a:r>
            <a:r>
              <a:rPr lang="en-US" altLang="zh-CN" dirty="0"/>
              <a:t>1985 – 1993 </a:t>
            </a:r>
            <a:endParaRPr lang="zh-CN" altLang="en-US" dirty="0"/>
          </a:p>
        </p:txBody>
      </p:sp>
      <p:sp>
        <p:nvSpPr>
          <p:cNvPr id="5" name="内容占位符 4"/>
          <p:cNvSpPr>
            <a:spLocks noGrp="1"/>
          </p:cNvSpPr>
          <p:nvPr>
            <p:ph sz="quarter" idx="10"/>
          </p:nvPr>
        </p:nvSpPr>
        <p:spPr>
          <a:xfrm>
            <a:off x="612000" y="720000"/>
            <a:ext cx="7920000" cy="3960000"/>
          </a:xfrm>
        </p:spPr>
        <p:txBody>
          <a:bodyPr/>
          <a:lstStyle/>
          <a:p>
            <a:r>
              <a:rPr lang="zh-CN" altLang="en-US" dirty="0"/>
              <a:t>国家科学基金网 </a:t>
            </a:r>
            <a:r>
              <a:rPr lang="en-US" altLang="zh-CN" dirty="0"/>
              <a:t>NSFNET</a:t>
            </a:r>
            <a:r>
              <a:rPr lang="zh-CN" altLang="en-US" dirty="0"/>
              <a:t>。</a:t>
            </a:r>
            <a:endParaRPr lang="en-US" altLang="zh-CN" dirty="0"/>
          </a:p>
          <a:p>
            <a:r>
              <a:rPr lang="zh-CN" altLang="en-US" dirty="0"/>
              <a:t>三级结构：主干网、地区网和校园网（或企业网）。</a:t>
            </a:r>
            <a:endParaRPr lang="en-US" altLang="zh-CN" dirty="0"/>
          </a:p>
          <a:p>
            <a:r>
              <a:rPr lang="zh-CN" altLang="en-US" dirty="0"/>
              <a:t>覆盖了全美国主要的大学和研究所，并且成为互联网中的主要组成部分。</a:t>
            </a:r>
            <a:endParaRPr lang="en-US" altLang="zh-CN" dirty="0"/>
          </a:p>
          <a:p>
            <a:endParaRPr lang="zh-CN" altLang="en-US" dirty="0"/>
          </a:p>
        </p:txBody>
      </p:sp>
      <p:grpSp>
        <p:nvGrpSpPr>
          <p:cNvPr id="4" name="组合 96"/>
          <p:cNvGrpSpPr>
            <a:grpSpLocks/>
          </p:cNvGrpSpPr>
          <p:nvPr/>
        </p:nvGrpSpPr>
        <p:grpSpPr bwMode="auto">
          <a:xfrm>
            <a:off x="4298722" y="1252665"/>
            <a:ext cx="4414878" cy="2319685"/>
            <a:chOff x="1526812" y="3062631"/>
            <a:chExt cx="6236139" cy="2752192"/>
          </a:xfrm>
        </p:grpSpPr>
        <p:cxnSp>
          <p:nvCxnSpPr>
            <p:cNvPr id="6" name="直接连接符 83"/>
            <p:cNvCxnSpPr>
              <a:cxnSpLocks noChangeShapeType="1"/>
            </p:cNvCxnSpPr>
            <p:nvPr/>
          </p:nvCxnSpPr>
          <p:spPr bwMode="auto">
            <a:xfrm flipH="1">
              <a:off x="6189663" y="4492436"/>
              <a:ext cx="334962" cy="8842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3155950" y="3458973"/>
              <a:ext cx="1058862"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4162425" y="3458973"/>
              <a:ext cx="403225" cy="9842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5087938" y="3458973"/>
              <a:ext cx="1241425" cy="71120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10"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41700" y="36669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1" name="直接连接符 83"/>
            <p:cNvCxnSpPr>
              <a:cxnSpLocks noChangeShapeType="1"/>
            </p:cNvCxnSpPr>
            <p:nvPr/>
          </p:nvCxnSpPr>
          <p:spPr bwMode="auto">
            <a:xfrm flipH="1">
              <a:off x="2001838" y="4519423"/>
              <a:ext cx="484187" cy="854075"/>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4211638"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6632575" y="4443223"/>
              <a:ext cx="631032" cy="895350"/>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grpSp>
          <p:nvGrpSpPr>
            <p:cNvPr id="14" name="Group 194"/>
            <p:cNvGrpSpPr>
              <a:grpSpLocks/>
            </p:cNvGrpSpPr>
            <p:nvPr/>
          </p:nvGrpSpPr>
          <p:grpSpPr bwMode="auto">
            <a:xfrm>
              <a:off x="5795963" y="5338573"/>
              <a:ext cx="860425" cy="476250"/>
              <a:chOff x="2569" y="3268"/>
              <a:chExt cx="542" cy="300"/>
            </a:xfrm>
            <a:solidFill>
              <a:srgbClr val="0070C0"/>
            </a:solidFill>
          </p:grpSpPr>
          <p:sp>
            <p:nvSpPr>
              <p:cNvPr id="87"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8"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9"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0"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1"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2"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3"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4"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95"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6"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97"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sp>
          <p:nvSpPr>
            <p:cNvPr id="15" name="Oval 187"/>
            <p:cNvSpPr>
              <a:spLocks noChangeArrowheads="1"/>
            </p:cNvSpPr>
            <p:nvPr/>
          </p:nvSpPr>
          <p:spPr bwMode="auto">
            <a:xfrm>
              <a:off x="4003676" y="3062631"/>
              <a:ext cx="1177924" cy="516612"/>
            </a:xfrm>
            <a:prstGeom prst="ellipse">
              <a:avLst/>
            </a:prstGeom>
            <a:solidFill>
              <a:srgbClr val="368AD6"/>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16" name="Text Box 1524"/>
            <p:cNvSpPr txBox="1">
              <a:spLocks noChangeArrowheads="1"/>
            </p:cNvSpPr>
            <p:nvPr/>
          </p:nvSpPr>
          <p:spPr bwMode="auto">
            <a:xfrm>
              <a:off x="4082320" y="3124067"/>
              <a:ext cx="1021646" cy="365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Times New Roman" pitchFamily="18" charset="0"/>
                  <a:ea typeface="微软雅黑" pitchFamily="34" charset="-122"/>
                </a:rPr>
                <a:t>主干网</a:t>
              </a:r>
            </a:p>
          </p:txBody>
        </p:sp>
        <p:pic>
          <p:nvPicPr>
            <p:cNvPr id="17"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2425" y="373202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41963" y="36494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9" name="Group 195"/>
            <p:cNvGrpSpPr>
              <a:grpSpLocks/>
            </p:cNvGrpSpPr>
            <p:nvPr/>
          </p:nvGrpSpPr>
          <p:grpSpPr bwMode="auto">
            <a:xfrm>
              <a:off x="6877050" y="5338573"/>
              <a:ext cx="860425" cy="476250"/>
              <a:chOff x="2569" y="3268"/>
              <a:chExt cx="542" cy="300"/>
            </a:xfrm>
            <a:solidFill>
              <a:srgbClr val="0070C0"/>
            </a:solidFill>
          </p:grpSpPr>
          <p:sp>
            <p:nvSpPr>
              <p:cNvPr id="76"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7"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8"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9"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0"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1"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2"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3"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84"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5"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86"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0" name="Group 207"/>
            <p:cNvGrpSpPr>
              <a:grpSpLocks/>
            </p:cNvGrpSpPr>
            <p:nvPr/>
          </p:nvGrpSpPr>
          <p:grpSpPr bwMode="auto">
            <a:xfrm>
              <a:off x="3990975" y="5338573"/>
              <a:ext cx="860425" cy="476250"/>
              <a:chOff x="2569" y="3268"/>
              <a:chExt cx="542" cy="300"/>
            </a:xfrm>
            <a:solidFill>
              <a:srgbClr val="0070C0"/>
            </a:solidFill>
          </p:grpSpPr>
          <p:sp>
            <p:nvSpPr>
              <p:cNvPr id="65"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6"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7"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8"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9"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0"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1"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2"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73"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4"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75"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21" name="Group 231"/>
            <p:cNvGrpSpPr>
              <a:grpSpLocks/>
            </p:cNvGrpSpPr>
            <p:nvPr/>
          </p:nvGrpSpPr>
          <p:grpSpPr bwMode="auto">
            <a:xfrm>
              <a:off x="1547813" y="5338573"/>
              <a:ext cx="860425" cy="476250"/>
              <a:chOff x="2569" y="3268"/>
              <a:chExt cx="542" cy="300"/>
            </a:xfrm>
            <a:solidFill>
              <a:srgbClr val="0070C0"/>
            </a:solidFill>
          </p:grpSpPr>
          <p:sp>
            <p:nvSpPr>
              <p:cNvPr id="54"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5"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6"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7"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8"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59"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0"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1"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62"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3"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64"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pic>
          <p:nvPicPr>
            <p:cNvPr id="2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51050"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00513" y="4797236"/>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2200" y="4763898"/>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70688" y="4730561"/>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6" name="Group 248"/>
            <p:cNvGrpSpPr>
              <a:grpSpLocks/>
            </p:cNvGrpSpPr>
            <p:nvPr/>
          </p:nvGrpSpPr>
          <p:grpSpPr bwMode="auto">
            <a:xfrm>
              <a:off x="3708400" y="4195573"/>
              <a:ext cx="1089025" cy="479425"/>
              <a:chOff x="642" y="2212"/>
              <a:chExt cx="686" cy="302"/>
            </a:xfrm>
            <a:effectLst/>
            <a:scene3d>
              <a:camera prst="orthographicFront">
                <a:rot lat="0" lon="0" rev="0"/>
              </a:camera>
              <a:lightRig rig="balanced" dir="t">
                <a:rot lat="0" lon="0" rev="8700000"/>
              </a:lightRig>
            </a:scene3d>
          </p:grpSpPr>
          <p:sp>
            <p:nvSpPr>
              <p:cNvPr id="52" name="Oval 249"/>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3" name="Text Box 1524"/>
              <p:cNvSpPr txBox="1">
                <a:spLocks noChangeArrowheads="1"/>
              </p:cNvSpPr>
              <p:nvPr/>
            </p:nvSpPr>
            <p:spPr bwMode="auto">
              <a:xfrm>
                <a:off x="665"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grpSp>
          <p:nvGrpSpPr>
            <p:cNvPr id="27" name="Group 251"/>
            <p:cNvGrpSpPr>
              <a:grpSpLocks/>
            </p:cNvGrpSpPr>
            <p:nvPr/>
          </p:nvGrpSpPr>
          <p:grpSpPr bwMode="auto">
            <a:xfrm>
              <a:off x="6011863" y="4039998"/>
              <a:ext cx="1089025" cy="479425"/>
              <a:chOff x="642" y="2212"/>
              <a:chExt cx="686" cy="302"/>
            </a:xfrm>
            <a:effectLst/>
            <a:scene3d>
              <a:camera prst="orthographicFront">
                <a:rot lat="0" lon="0" rev="0"/>
              </a:camera>
              <a:lightRig rig="balanced" dir="t">
                <a:rot lat="0" lon="0" rev="8700000"/>
              </a:lightRig>
            </a:scene3d>
          </p:grpSpPr>
          <p:sp>
            <p:nvSpPr>
              <p:cNvPr id="50" name="Oval 252"/>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51" name="Text Box 1524"/>
              <p:cNvSpPr txBox="1">
                <a:spLocks noChangeArrowheads="1"/>
              </p:cNvSpPr>
              <p:nvPr/>
            </p:nvSpPr>
            <p:spPr bwMode="auto">
              <a:xfrm>
                <a:off x="671" y="2240"/>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cxnSp>
          <p:nvCxnSpPr>
            <p:cNvPr id="28" name="直接连接符 67"/>
            <p:cNvCxnSpPr>
              <a:cxnSpLocks noChangeShapeType="1"/>
            </p:cNvCxnSpPr>
            <p:nvPr/>
          </p:nvCxnSpPr>
          <p:spPr bwMode="auto">
            <a:xfrm>
              <a:off x="2882900" y="4492436"/>
              <a:ext cx="188912" cy="922338"/>
            </a:xfrm>
            <a:prstGeom prst="line">
              <a:avLst/>
            </a:prstGeom>
            <a:noFill/>
            <a:ln w="28575" algn="ctr">
              <a:solidFill>
                <a:srgbClr val="368AD6"/>
              </a:solidFill>
              <a:round/>
              <a:headEnd/>
              <a:tailEnd/>
            </a:ln>
            <a:extLst>
              <a:ext uri="{909E8E84-426E-40DD-AFC4-6F175D3DCCD1}">
                <a14:hiddenFill xmlns:a14="http://schemas.microsoft.com/office/drawing/2010/main">
                  <a:noFill/>
                </a14:hiddenFill>
              </a:ext>
            </a:extLst>
          </p:spPr>
        </p:cxnSp>
        <p:pic>
          <p:nvPicPr>
            <p:cNvPr id="29"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71775" y="4741673"/>
              <a:ext cx="403225" cy="334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0" name="Group 219"/>
            <p:cNvGrpSpPr>
              <a:grpSpLocks/>
            </p:cNvGrpSpPr>
            <p:nvPr/>
          </p:nvGrpSpPr>
          <p:grpSpPr bwMode="auto">
            <a:xfrm>
              <a:off x="2700338" y="5338573"/>
              <a:ext cx="860425" cy="476250"/>
              <a:chOff x="2569" y="3268"/>
              <a:chExt cx="542" cy="300"/>
            </a:xfrm>
            <a:solidFill>
              <a:srgbClr val="0070C0"/>
            </a:solidFill>
          </p:grpSpPr>
          <p:sp>
            <p:nvSpPr>
              <p:cNvPr id="39" name="Oval 1429"/>
              <p:cNvSpPr>
                <a:spLocks noChangeArrowheads="1"/>
              </p:cNvSpPr>
              <p:nvPr/>
            </p:nvSpPr>
            <p:spPr bwMode="auto">
              <a:xfrm>
                <a:off x="2695" y="3268"/>
                <a:ext cx="235" cy="81"/>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0" name="Oval 1430"/>
              <p:cNvSpPr>
                <a:spLocks noChangeArrowheads="1"/>
              </p:cNvSpPr>
              <p:nvPr/>
            </p:nvSpPr>
            <p:spPr bwMode="auto">
              <a:xfrm rot="900000">
                <a:off x="2893" y="3296"/>
                <a:ext cx="159" cy="66"/>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1" name="Oval 1431"/>
              <p:cNvSpPr>
                <a:spLocks noChangeArrowheads="1"/>
              </p:cNvSpPr>
              <p:nvPr/>
            </p:nvSpPr>
            <p:spPr bwMode="auto">
              <a:xfrm rot="1500000">
                <a:off x="2973" y="3363"/>
                <a:ext cx="138" cy="77"/>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2" name="Oval 1432"/>
              <p:cNvSpPr>
                <a:spLocks noChangeArrowheads="1"/>
              </p:cNvSpPr>
              <p:nvPr/>
            </p:nvSpPr>
            <p:spPr bwMode="auto">
              <a:xfrm rot="-1560000">
                <a:off x="2928" y="3439"/>
                <a:ext cx="168" cy="95"/>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3" name="Oval 1433"/>
              <p:cNvSpPr>
                <a:spLocks noChangeArrowheads="1"/>
              </p:cNvSpPr>
              <p:nvPr/>
            </p:nvSpPr>
            <p:spPr bwMode="auto">
              <a:xfrm>
                <a:off x="2723" y="3448"/>
                <a:ext cx="271" cy="120"/>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4" name="Oval 1434"/>
              <p:cNvSpPr>
                <a:spLocks noChangeArrowheads="1"/>
              </p:cNvSpPr>
              <p:nvPr/>
            </p:nvSpPr>
            <p:spPr bwMode="auto">
              <a:xfrm rot="1080000">
                <a:off x="2612" y="3448"/>
                <a:ext cx="152"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5" name="Oval 1435"/>
              <p:cNvSpPr>
                <a:spLocks noChangeArrowheads="1"/>
              </p:cNvSpPr>
              <p:nvPr/>
            </p:nvSpPr>
            <p:spPr bwMode="auto">
              <a:xfrm>
                <a:off x="2569" y="3386"/>
                <a:ext cx="125" cy="79"/>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6" name="Oval 1436"/>
              <p:cNvSpPr>
                <a:spLocks noChangeArrowheads="1"/>
              </p:cNvSpPr>
              <p:nvPr/>
            </p:nvSpPr>
            <p:spPr bwMode="auto">
              <a:xfrm rot="-1860000">
                <a:off x="2589" y="3325"/>
                <a:ext cx="170" cy="78"/>
              </a:xfrm>
              <a:prstGeom prst="ellipse">
                <a:avLst/>
              </a:prstGeom>
              <a:grpFill/>
              <a:ln>
                <a:noFill/>
              </a:ln>
              <a:extLst>
                <a:ext uri="{91240B29-F687-4F45-9708-019B960494DF}">
                  <a14:hiddenLine xmlns:a14="http://schemas.microsoft.com/office/drawing/2010/main" w="12700">
                    <a:solidFill>
                      <a:schemeClr val="tx1"/>
                    </a:solidFill>
                    <a:round/>
                    <a:headEnd/>
                    <a:tailEnd/>
                  </a14:hiddenLine>
                </a:ext>
              </a:extLst>
            </p:spPr>
            <p:txBody>
              <a:bodyPr wrap="none" anchor="ctr"/>
              <a:lstStyle/>
              <a:p>
                <a:pPr eaLnBrk="0" fontAlgn="auto" hangingPunct="0">
                  <a:spcBef>
                    <a:spcPts val="0"/>
                  </a:spcBef>
                  <a:spcAft>
                    <a:spcPts val="0"/>
                  </a:spcAft>
                  <a:defRPr/>
                </a:pPr>
                <a:endParaRPr lang="zh-CN" altLang="en-US" sz="1600">
                  <a:latin typeface="+mn-lt"/>
                  <a:ea typeface="+mn-ea"/>
                </a:endParaRPr>
              </a:p>
            </p:txBody>
          </p:sp>
          <p:sp>
            <p:nvSpPr>
              <p:cNvPr id="47" name="Freeform 1437"/>
              <p:cNvSpPr>
                <a:spLocks/>
              </p:cNvSpPr>
              <p:nvPr/>
            </p:nvSpPr>
            <p:spPr bwMode="auto">
              <a:xfrm>
                <a:off x="2628" y="3320"/>
                <a:ext cx="425" cy="204"/>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8" name="Freeform 1438"/>
              <p:cNvSpPr>
                <a:spLocks/>
              </p:cNvSpPr>
              <p:nvPr/>
            </p:nvSpPr>
            <p:spPr bwMode="auto">
              <a:xfrm>
                <a:off x="2710" y="3305"/>
                <a:ext cx="67" cy="59"/>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sp>
            <p:nvSpPr>
              <p:cNvPr id="49" name="Freeform 1439"/>
              <p:cNvSpPr>
                <a:spLocks/>
              </p:cNvSpPr>
              <p:nvPr/>
            </p:nvSpPr>
            <p:spPr bwMode="auto">
              <a:xfrm>
                <a:off x="2869" y="3290"/>
                <a:ext cx="47" cy="43"/>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1600">
                  <a:latin typeface="+mn-lt"/>
                  <a:ea typeface="+mn-ea"/>
                </a:endParaRPr>
              </a:p>
            </p:txBody>
          </p:sp>
        </p:grpSp>
        <p:grpSp>
          <p:nvGrpSpPr>
            <p:cNvPr id="31" name="Group 190"/>
            <p:cNvGrpSpPr>
              <a:grpSpLocks/>
            </p:cNvGrpSpPr>
            <p:nvPr/>
          </p:nvGrpSpPr>
          <p:grpSpPr bwMode="auto">
            <a:xfrm>
              <a:off x="2224088" y="4095561"/>
              <a:ext cx="1089025" cy="479425"/>
              <a:chOff x="642" y="2212"/>
              <a:chExt cx="686" cy="302"/>
            </a:xfrm>
            <a:effectLst/>
            <a:scene3d>
              <a:camera prst="orthographicFront">
                <a:rot lat="0" lon="0" rev="0"/>
              </a:camera>
              <a:lightRig rig="balanced" dir="t">
                <a:rot lat="0" lon="0" rev="8700000"/>
              </a:lightRig>
            </a:scene3d>
          </p:grpSpPr>
          <p:sp>
            <p:nvSpPr>
              <p:cNvPr id="37" name="Oval 188"/>
              <p:cNvSpPr>
                <a:spLocks noChangeArrowheads="1"/>
              </p:cNvSpPr>
              <p:nvPr/>
            </p:nvSpPr>
            <p:spPr bwMode="auto">
              <a:xfrm>
                <a:off x="642" y="2212"/>
                <a:ext cx="686" cy="302"/>
              </a:xfrm>
              <a:prstGeom prst="ellipse">
                <a:avLst/>
              </a:prstGeom>
              <a:solidFill>
                <a:srgbClr val="339933"/>
              </a:solidFill>
              <a:ln>
                <a:noFill/>
              </a:ln>
              <a:effectLst>
                <a:outerShdw blurRad="44450" dist="27940" dir="5400000" algn="ctr">
                  <a:srgbClr val="000000">
                    <a:alpha val="32000"/>
                  </a:srgbClr>
                </a:outerShdw>
              </a:effectLst>
              <a:sp3d>
                <a:bevelT w="190500" h="38100"/>
              </a:sp3d>
              <a:extLst>
                <a:ext uri="{91240B29-F687-4F45-9708-019B960494DF}">
                  <a14:hiddenLine xmlns:a14="http://schemas.microsoft.com/office/drawing/2010/main" w="9525">
                    <a:solidFill>
                      <a:schemeClr val="tx1"/>
                    </a:solidFill>
                    <a:round/>
                    <a:headEnd/>
                    <a:tailEnd/>
                  </a14:hiddenLine>
                </a:ext>
              </a:extLst>
            </p:spPr>
            <p:txBody>
              <a:bodyPr wrap="none" anchor="ctr"/>
              <a:lstStyle/>
              <a:p>
                <a:pPr fontAlgn="auto">
                  <a:spcBef>
                    <a:spcPts val="0"/>
                  </a:spcBef>
                  <a:spcAft>
                    <a:spcPts val="0"/>
                  </a:spcAft>
                  <a:defRPr/>
                </a:pPr>
                <a:endParaRPr lang="zh-CN" altLang="en-US" sz="1600">
                  <a:latin typeface="+mn-lt"/>
                  <a:ea typeface="+mn-ea"/>
                </a:endParaRPr>
              </a:p>
            </p:txBody>
          </p:sp>
          <p:sp>
            <p:nvSpPr>
              <p:cNvPr id="38" name="Text Box 1524"/>
              <p:cNvSpPr txBox="1">
                <a:spLocks noChangeArrowheads="1"/>
              </p:cNvSpPr>
              <p:nvPr/>
            </p:nvSpPr>
            <p:spPr bwMode="auto">
              <a:xfrm>
                <a:off x="658" y="2236"/>
                <a:ext cx="644" cy="230"/>
              </a:xfrm>
              <a:prstGeom prst="rect">
                <a:avLst/>
              </a:prstGeom>
              <a:noFill/>
              <a:ln>
                <a:noFill/>
              </a:ln>
              <a:effectLst>
                <a:outerShdw blurRad="44450" dist="27940" dir="5400000" algn="ctr">
                  <a:srgbClr val="000000">
                    <a:alpha val="32000"/>
                  </a:srgbClr>
                </a:outerShdw>
              </a:effectLst>
              <a:sp3d>
                <a:bevelT w="190500" h="38100"/>
              </a:sp3d>
            </p:spPr>
            <p:txBody>
              <a:bodyPr wrap="none">
                <a:spAutoFit/>
              </a:bodyPr>
              <a:lstStyle>
                <a:lvl1pPr eaLnBrk="0" hangingPunct="0">
                  <a:defRPr>
                    <a:solidFill>
                      <a:schemeClr val="tx1"/>
                    </a:solidFill>
                    <a:latin typeface="Arial" charset="0"/>
                    <a:ea typeface="宋体" charset="-122"/>
                  </a:defRPr>
                </a:lvl1pPr>
                <a:lvl2pPr marL="742950" indent="-285750" eaLnBrk="0" hangingPunct="0">
                  <a:defRPr>
                    <a:solidFill>
                      <a:schemeClr val="tx1"/>
                    </a:solidFill>
                    <a:latin typeface="Arial" charset="0"/>
                    <a:ea typeface="宋体" charset="-122"/>
                  </a:defRPr>
                </a:lvl2pPr>
                <a:lvl3pPr marL="1143000" indent="-228600" eaLnBrk="0" hangingPunct="0">
                  <a:defRPr>
                    <a:solidFill>
                      <a:schemeClr val="tx1"/>
                    </a:solidFill>
                    <a:latin typeface="Arial" charset="0"/>
                    <a:ea typeface="宋体" charset="-122"/>
                  </a:defRPr>
                </a:lvl3pPr>
                <a:lvl4pPr marL="1600200" indent="-228600" eaLnBrk="0" hangingPunct="0">
                  <a:defRPr>
                    <a:solidFill>
                      <a:schemeClr val="tx1"/>
                    </a:solidFill>
                    <a:latin typeface="Arial" charset="0"/>
                    <a:ea typeface="宋体" charset="-122"/>
                  </a:defRPr>
                </a:lvl4pPr>
                <a:lvl5pPr marL="2057400" indent="-228600" eaLnBrk="0" hangingPunct="0">
                  <a:defRPr>
                    <a:solidFill>
                      <a:schemeClr val="tx1"/>
                    </a:solidFill>
                    <a:latin typeface="Arial" charset="0"/>
                    <a:ea typeface="宋体" charset="-122"/>
                  </a:defRPr>
                </a:lvl5pPr>
                <a:lvl6pPr marL="2514600" indent="-228600" eaLnBrk="0" fontAlgn="base" hangingPunct="0">
                  <a:spcBef>
                    <a:spcPct val="0"/>
                  </a:spcBef>
                  <a:spcAft>
                    <a:spcPct val="0"/>
                  </a:spcAft>
                  <a:defRPr>
                    <a:solidFill>
                      <a:schemeClr val="tx1"/>
                    </a:solidFill>
                    <a:latin typeface="Arial" charset="0"/>
                    <a:ea typeface="宋体" charset="-122"/>
                  </a:defRPr>
                </a:lvl6pPr>
                <a:lvl7pPr marL="2971800" indent="-228600" eaLnBrk="0" fontAlgn="base" hangingPunct="0">
                  <a:spcBef>
                    <a:spcPct val="0"/>
                  </a:spcBef>
                  <a:spcAft>
                    <a:spcPct val="0"/>
                  </a:spcAft>
                  <a:defRPr>
                    <a:solidFill>
                      <a:schemeClr val="tx1"/>
                    </a:solidFill>
                    <a:latin typeface="Arial" charset="0"/>
                    <a:ea typeface="宋体" charset="-122"/>
                  </a:defRPr>
                </a:lvl7pPr>
                <a:lvl8pPr marL="3429000" indent="-228600" eaLnBrk="0" fontAlgn="base" hangingPunct="0">
                  <a:spcBef>
                    <a:spcPct val="0"/>
                  </a:spcBef>
                  <a:spcAft>
                    <a:spcPct val="0"/>
                  </a:spcAft>
                  <a:defRPr>
                    <a:solidFill>
                      <a:schemeClr val="tx1"/>
                    </a:solidFill>
                    <a:latin typeface="Arial" charset="0"/>
                    <a:ea typeface="宋体" charset="-122"/>
                  </a:defRPr>
                </a:lvl8pPr>
                <a:lvl9pPr marL="3886200" indent="-228600" eaLnBrk="0" fontAlgn="base" hangingPunct="0">
                  <a:spcBef>
                    <a:spcPct val="0"/>
                  </a:spcBef>
                  <a:spcAft>
                    <a:spcPct val="0"/>
                  </a:spcAft>
                  <a:defRPr>
                    <a:solidFill>
                      <a:schemeClr val="tx1"/>
                    </a:solidFill>
                    <a:latin typeface="Arial" charset="0"/>
                    <a:ea typeface="宋体" charset="-122"/>
                  </a:defRPr>
                </a:lvl9pPr>
              </a:lstStyle>
              <a:p>
                <a:pPr algn="ctr" eaLnBrk="1" fontAlgn="auto" hangingPunct="1">
                  <a:spcBef>
                    <a:spcPts val="0"/>
                  </a:spcBef>
                  <a:spcAft>
                    <a:spcPts val="0"/>
                  </a:spcAft>
                  <a:defRPr/>
                </a:pPr>
                <a:r>
                  <a:rPr kumimoji="1" lang="zh-CN" altLang="en-US" sz="1400" b="1" dirty="0">
                    <a:solidFill>
                      <a:schemeClr val="bg1"/>
                    </a:solidFill>
                    <a:latin typeface="Times New Roman" pitchFamily="18" charset="0"/>
                    <a:ea typeface="微软雅黑" pitchFamily="34" charset="-122"/>
                  </a:rPr>
                  <a:t>地区网</a:t>
                </a:r>
              </a:p>
            </p:txBody>
          </p:sp>
        </p:grpSp>
        <p:sp>
          <p:nvSpPr>
            <p:cNvPr id="32" name="Text Box 1524"/>
            <p:cNvSpPr txBox="1">
              <a:spLocks noChangeArrowheads="1"/>
            </p:cNvSpPr>
            <p:nvPr/>
          </p:nvSpPr>
          <p:spPr bwMode="auto">
            <a:xfrm>
              <a:off x="1526812" y="5387000"/>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chemeClr val="bg1"/>
                  </a:solidFill>
                  <a:latin typeface="Times New Roman" pitchFamily="18" charset="0"/>
                  <a:ea typeface="微软雅黑" pitchFamily="34" charset="-122"/>
                </a:rPr>
                <a:t>校园网</a:t>
              </a:r>
            </a:p>
          </p:txBody>
        </p:sp>
        <p:sp>
          <p:nvSpPr>
            <p:cNvPr id="33" name="Text Box 1524"/>
            <p:cNvSpPr txBox="1">
              <a:spLocks noChangeArrowheads="1"/>
            </p:cNvSpPr>
            <p:nvPr/>
          </p:nvSpPr>
          <p:spPr bwMode="auto">
            <a:xfrm>
              <a:off x="2673278"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4" name="Text Box 1524"/>
            <p:cNvSpPr txBox="1">
              <a:spLocks noChangeArrowheads="1"/>
            </p:cNvSpPr>
            <p:nvPr/>
          </p:nvSpPr>
          <p:spPr bwMode="auto">
            <a:xfrm>
              <a:off x="3968674"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5" name="Text Box 1524"/>
            <p:cNvSpPr txBox="1">
              <a:spLocks noChangeArrowheads="1"/>
            </p:cNvSpPr>
            <p:nvPr/>
          </p:nvSpPr>
          <p:spPr bwMode="auto">
            <a:xfrm>
              <a:off x="5768903"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sp>
          <p:nvSpPr>
            <p:cNvPr id="36" name="Text Box 1524"/>
            <p:cNvSpPr txBox="1">
              <a:spLocks noChangeArrowheads="1"/>
            </p:cNvSpPr>
            <p:nvPr/>
          </p:nvSpPr>
          <p:spPr bwMode="auto">
            <a:xfrm>
              <a:off x="6849990" y="5405471"/>
              <a:ext cx="912961" cy="3286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a:solidFill>
                    <a:schemeClr val="bg1"/>
                  </a:solidFill>
                  <a:latin typeface="Times New Roman" pitchFamily="18" charset="0"/>
                  <a:ea typeface="微软雅黑" pitchFamily="34" charset="-122"/>
                </a:rPr>
                <a:t>校园网</a:t>
              </a:r>
            </a:p>
          </p:txBody>
        </p:sp>
      </p:gr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3463B2A-E21A-D89F-57FC-9D2BB78136F8}"/>
              </a:ext>
            </a:extLst>
          </p:cNvPr>
          <p:cNvSpPr>
            <a:spLocks noGrp="1"/>
          </p:cNvSpPr>
          <p:nvPr>
            <p:ph type="title"/>
          </p:nvPr>
        </p:nvSpPr>
        <p:spPr>
          <a:xfrm>
            <a:off x="612000" y="216000"/>
            <a:ext cx="7920000" cy="369332"/>
          </a:xfrm>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
        <p:nvSpPr>
          <p:cNvPr id="2" name="内容占位符 1"/>
          <p:cNvSpPr>
            <a:spLocks noGrp="1"/>
          </p:cNvSpPr>
          <p:nvPr>
            <p:ph sz="quarter" idx="10"/>
          </p:nvPr>
        </p:nvSpPr>
        <p:spPr>
          <a:xfrm>
            <a:off x="612000" y="720000"/>
            <a:ext cx="7920000" cy="3960000"/>
          </a:xfrm>
        </p:spPr>
        <p:txBody>
          <a:bodyPr/>
          <a:lstStyle/>
          <a:p>
            <a:r>
              <a:rPr lang="zh-CN" altLang="en-US" dirty="0"/>
              <a:t>出现了互联网服务提供者 </a:t>
            </a:r>
            <a:r>
              <a:rPr lang="en-US" altLang="zh-CN" dirty="0"/>
              <a:t>ISP (Internet Service Provider)</a:t>
            </a:r>
            <a:r>
              <a:rPr lang="zh-CN" altLang="en-US" dirty="0"/>
              <a:t>：</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r>
              <a:rPr lang="zh-CN" altLang="en-US" dirty="0"/>
              <a:t>。</a:t>
            </a:r>
            <a:endParaRPr lang="en-US" altLang="zh-CN" dirty="0"/>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 name="组合 133"/>
          <p:cNvGrpSpPr/>
          <p:nvPr/>
        </p:nvGrpSpPr>
        <p:grpSpPr>
          <a:xfrm>
            <a:off x="1149531" y="4128718"/>
            <a:ext cx="6879772" cy="321069"/>
            <a:chOff x="1776552" y="4257054"/>
            <a:chExt cx="6387156" cy="321069"/>
          </a:xfrm>
        </p:grpSpPr>
        <p:sp>
          <p:nvSpPr>
            <p:cNvPr id="45" name="Text Box 273"/>
            <p:cNvSpPr txBox="1">
              <a:spLocks noChangeArrowheads="1"/>
            </p:cNvSpPr>
            <p:nvPr/>
          </p:nvSpPr>
          <p:spPr bwMode="auto">
            <a:xfrm>
              <a:off x="1785262" y="4291361"/>
              <a:ext cx="63649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ct val="15000"/>
                </a:spcBef>
                <a:spcAft>
                  <a:spcPct val="15000"/>
                </a:spcAft>
                <a:buClrTx/>
                <a:buSzTx/>
                <a:buFontTx/>
                <a:buNone/>
                <a:tabLst/>
                <a:defRPr/>
              </a:pPr>
              <a:r>
                <a:rPr lang="zh-CN" altLang="en-US" sz="1200" b="1" kern="0" dirty="0">
                  <a:solidFill>
                    <a:srgbClr val="000000"/>
                  </a:solidFill>
                  <a:latin typeface="微软雅黑" panose="020B0503020204020204" pitchFamily="34" charset="-122"/>
                  <a:ea typeface="微软雅黑" panose="020B0503020204020204" pitchFamily="34" charset="-122"/>
                </a:rPr>
                <a:t>通信</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举例：主机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A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主干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地区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本地 </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ISP → </a:t>
              </a:r>
              <a:r>
                <a:rPr kumimoji="1" lang="zh-CN" altLang="en-US"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主机</a:t>
              </a:r>
              <a:r>
                <a:rPr kumimoji="1" lang="en-US" altLang="zh-CN" sz="1200" b="1" i="0" u="none" strike="noStrike" kern="0" cap="none" spc="0" normalizeH="0" baseline="0" noProof="0" dirty="0">
                  <a:ln>
                    <a:noFill/>
                  </a:ln>
                  <a:solidFill>
                    <a:srgbClr val="000000"/>
                  </a:solidFill>
                  <a:uLnTx/>
                  <a:uFillTx/>
                  <a:latin typeface="微软雅黑" panose="020B0503020204020204" pitchFamily="34" charset="-122"/>
                  <a:ea typeface="微软雅黑" panose="020B0503020204020204" pitchFamily="34" charset="-122"/>
                </a:rPr>
                <a:t>B</a:t>
              </a:r>
            </a:p>
          </p:txBody>
        </p:sp>
        <p:sp>
          <p:nvSpPr>
            <p:cNvPr id="46" name="Rectangle 274"/>
            <p:cNvSpPr>
              <a:spLocks noChangeArrowheads="1"/>
            </p:cNvSpPr>
            <p:nvPr/>
          </p:nvSpPr>
          <p:spPr bwMode="auto">
            <a:xfrm>
              <a:off x="1776552" y="4257054"/>
              <a:ext cx="6387156" cy="321069"/>
            </a:xfrm>
            <a:prstGeom prst="rect">
              <a:avLst/>
            </a:prstGeom>
            <a:noFill/>
            <a:ln w="38100" cmpd="dbl">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36" name="组合 135"/>
          <p:cNvGrpSpPr/>
          <p:nvPr/>
        </p:nvGrpSpPr>
        <p:grpSpPr>
          <a:xfrm>
            <a:off x="1550122" y="1064051"/>
            <a:ext cx="6172145" cy="2971789"/>
            <a:chOff x="2063931" y="1515290"/>
            <a:chExt cx="6172145"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42" name="Text Box 268"/>
            <p:cNvSpPr txBox="1">
              <a:spLocks noChangeArrowheads="1"/>
            </p:cNvSpPr>
            <p:nvPr/>
          </p:nvSpPr>
          <p:spPr bwMode="auto">
            <a:xfrm>
              <a:off x="4930326" y="3737529"/>
              <a:ext cx="29046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a:t>
              </a:r>
            </a:p>
          </p:txBody>
        </p:sp>
        <p:sp>
          <p:nvSpPr>
            <p:cNvPr id="44" name="Text Box 271"/>
            <p:cNvSpPr txBox="1">
              <a:spLocks noChangeArrowheads="1"/>
            </p:cNvSpPr>
            <p:nvPr/>
          </p:nvSpPr>
          <p:spPr bwMode="auto">
            <a:xfrm>
              <a:off x="7955230" y="3722370"/>
              <a:ext cx="280846"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主干 </a:t>
              </a:r>
              <a:r>
                <a:rPr kumimoji="1" lang="en-US" altLang="zh-CN" sz="14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1" name="Text Box 342"/>
            <p:cNvSpPr txBox="1">
              <a:spLocks noChangeArrowheads="1"/>
            </p:cNvSpPr>
            <p:nvPr/>
          </p:nvSpPr>
          <p:spPr bwMode="auto">
            <a:xfrm>
              <a:off x="4850155" y="2298778"/>
              <a:ext cx="64633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3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5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7" name="Text Box 374"/>
            <p:cNvSpPr txBox="1">
              <a:spLocks noChangeArrowheads="1"/>
            </p:cNvSpPr>
            <p:nvPr/>
          </p:nvSpPr>
          <p:spPr bwMode="auto">
            <a:xfrm>
              <a:off x="3055709" y="3024716"/>
              <a:ext cx="44114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20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本地</a:t>
              </a:r>
              <a:r>
                <a:rPr kumimoji="1" lang="zh-CN" altLang="en-US" sz="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75" name="Text Box 405"/>
            <p:cNvSpPr txBox="1">
              <a:spLocks noChangeArrowheads="1"/>
            </p:cNvSpPr>
            <p:nvPr/>
          </p:nvSpPr>
          <p:spPr bwMode="auto">
            <a:xfrm>
              <a:off x="5345409" y="3611831"/>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6" name="Text Box 406"/>
            <p:cNvSpPr txBox="1">
              <a:spLocks noChangeArrowheads="1"/>
            </p:cNvSpPr>
            <p:nvPr/>
          </p:nvSpPr>
          <p:spPr bwMode="auto">
            <a:xfrm>
              <a:off x="6067816" y="3485116"/>
              <a:ext cx="415498"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8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内容提供者</a:t>
              </a:r>
              <a:endPar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nvGrpSpPr>
            <p:cNvPr id="92" name="组合 91"/>
            <p:cNvGrpSpPr/>
            <p:nvPr/>
          </p:nvGrpSpPr>
          <p:grpSpPr>
            <a:xfrm>
              <a:off x="6411686" y="2589558"/>
              <a:ext cx="425498" cy="267294"/>
              <a:chOff x="3320162" y="2589558"/>
              <a:chExt cx="425498" cy="26729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校园网</a:t>
                </a:r>
                <a:endParaRPr kumimoji="1" lang="en-US" altLang="zh-CN" sz="105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87487"/>
              <a:chOff x="2206814" y="2569365"/>
              <a:chExt cx="5656498" cy="287487"/>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地区 </a:t>
                </a:r>
                <a:r>
                  <a:rPr kumimoji="1" lang="zh-CN" altLang="en-US" sz="2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 </a:t>
                </a:r>
                <a:r>
                  <a:rPr kumimoji="1" lang="en-US" altLang="zh-CN" sz="11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rPr>
                  <a:t>ISP</a:t>
                </a:r>
              </a:p>
            </p:txBody>
          </p:sp>
          <p:grpSp>
            <p:nvGrpSpPr>
              <p:cNvPr id="91" name="组合 90"/>
              <p:cNvGrpSpPr/>
              <p:nvPr/>
            </p:nvGrpSpPr>
            <p:grpSpPr>
              <a:xfrm>
                <a:off x="3320162" y="2589558"/>
                <a:ext cx="425498" cy="267294"/>
                <a:chOff x="3320162" y="2589558"/>
                <a:chExt cx="425498" cy="267294"/>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25498" cy="2614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1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1" name="标题 10">
            <a:extLst>
              <a:ext uri="{FF2B5EF4-FFF2-40B4-BE49-F238E27FC236}">
                <a16:creationId xmlns:a16="http://schemas.microsoft.com/office/drawing/2014/main" id="{B162DC1D-6FDE-6AF8-824A-8710FDBFB146}"/>
              </a:ext>
            </a:extLst>
          </p:cNvPr>
          <p:cNvSpPr>
            <a:spLocks noGrp="1"/>
          </p:cNvSpPr>
          <p:nvPr>
            <p:ph type="title"/>
          </p:nvPr>
        </p:nvSpPr>
        <p:spPr/>
        <p:txBody>
          <a:bodyPr/>
          <a:lstStyle/>
          <a:p>
            <a:r>
              <a:rPr lang="zh-CN" altLang="en-US" dirty="0"/>
              <a:t>第三阶段：</a:t>
            </a:r>
            <a:r>
              <a:rPr lang="en-US" altLang="zh-CN" dirty="0"/>
              <a:t>1993 – </a:t>
            </a:r>
            <a:r>
              <a:rPr lang="zh-CN" altLang="en-US" dirty="0"/>
              <a:t>现在 </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互联网交换点 </a:t>
            </a:r>
            <a:r>
              <a:rPr lang="en-US" altLang="zh-CN" dirty="0"/>
              <a:t>IXP (Internet </a:t>
            </a:r>
            <a:r>
              <a:rPr lang="en-US" altLang="zh-CN" dirty="0" err="1"/>
              <a:t>eXchange</a:t>
            </a:r>
            <a:r>
              <a:rPr lang="en-US" altLang="zh-CN" dirty="0"/>
              <a:t> Point)</a:t>
            </a:r>
            <a:r>
              <a:rPr lang="zh-CN" altLang="en-US" dirty="0"/>
              <a:t>：允许两个网络直接相连并快速交换分组。</a:t>
            </a:r>
            <a:endParaRPr lang="en-US" altLang="zh-CN" dirty="0"/>
          </a:p>
          <a:p>
            <a:pPr lvl="1"/>
            <a:r>
              <a:rPr lang="zh-CN" altLang="en-US" dirty="0"/>
              <a:t>常采用工作在数据链路层的网络交换机。</a:t>
            </a:r>
            <a:endParaRPr lang="en-US" altLang="zh-CN" dirty="0"/>
          </a:p>
          <a:p>
            <a:pPr lvl="1"/>
            <a:r>
              <a:rPr lang="zh-CN" altLang="en-US" dirty="0"/>
              <a:t>世界上较大的 </a:t>
            </a:r>
            <a:r>
              <a:rPr lang="en-US" altLang="zh-CN" dirty="0"/>
              <a:t>IXP </a:t>
            </a:r>
            <a:r>
              <a:rPr lang="zh-CN" altLang="en-US" dirty="0"/>
              <a:t>的峰值吞吐量都在 </a:t>
            </a:r>
            <a:r>
              <a:rPr lang="en-US" altLang="zh-CN" dirty="0" err="1"/>
              <a:t>Tbit</a:t>
            </a:r>
            <a:r>
              <a:rPr lang="en-US" altLang="zh-CN" dirty="0"/>
              <a:t>/s </a:t>
            </a:r>
            <a:r>
              <a:rPr lang="zh-CN" altLang="en-US" dirty="0"/>
              <a:t>量级。</a:t>
            </a:r>
            <a:endParaRPr lang="en-US" altLang="zh-CN" dirty="0"/>
          </a:p>
          <a:p>
            <a:r>
              <a:rPr lang="zh-CN" altLang="en-US" dirty="0"/>
              <a:t>内容提供者 </a:t>
            </a:r>
            <a:r>
              <a:rPr lang="en-US" altLang="zh-CN" dirty="0"/>
              <a:t>(Content Provider)</a:t>
            </a:r>
            <a:r>
              <a:rPr lang="zh-CN" altLang="en-US" dirty="0"/>
              <a:t>：在互联网上向所有用户提供视频等内容的公司。不向用户提供互联网的转接服务。</a:t>
            </a:r>
          </a:p>
        </p:txBody>
      </p:sp>
      <p:sp>
        <p:nvSpPr>
          <p:cNvPr id="7" name="标题 6">
            <a:extLst>
              <a:ext uri="{FF2B5EF4-FFF2-40B4-BE49-F238E27FC236}">
                <a16:creationId xmlns:a16="http://schemas.microsoft.com/office/drawing/2014/main" id="{7549EBD5-0F54-073A-AA8C-98E52822A2C9}"/>
              </a:ext>
            </a:extLst>
          </p:cNvPr>
          <p:cNvSpPr>
            <a:spLocks noGrp="1"/>
          </p:cNvSpPr>
          <p:nvPr>
            <p:ph type="title"/>
          </p:nvPr>
        </p:nvSpPr>
        <p:spPr/>
        <p:txBody>
          <a:bodyPr/>
          <a:lstStyle/>
          <a:p>
            <a:r>
              <a:rPr lang="zh-CN" altLang="en-US" dirty="0"/>
              <a:t>第三阶段：</a:t>
            </a:r>
            <a:r>
              <a:rPr lang="en-US" altLang="zh-CN" dirty="0"/>
              <a:t>1993 – </a:t>
            </a:r>
            <a:r>
              <a:rPr lang="zh-CN" altLang="en-US" dirty="0"/>
              <a:t>现在</a:t>
            </a:r>
            <a:r>
              <a:rPr lang="en-US" altLang="zh-CN" dirty="0"/>
              <a:t> </a:t>
            </a:r>
            <a:endParaRPr lang="zh-CN" altLang="en-US" dirty="0"/>
          </a:p>
        </p:txBody>
      </p:sp>
    </p:spTree>
    <p:extLst>
      <p:ext uri="{BB962C8B-B14F-4D97-AF65-F5344CB8AC3E}">
        <p14:creationId xmlns:p14="http://schemas.microsoft.com/office/powerpoint/2010/main" val="3704576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万维网 </a:t>
            </a:r>
            <a:r>
              <a:rPr lang="en-US" altLang="zh-CN" dirty="0"/>
              <a:t>WWW  (World Wide Web)</a:t>
            </a:r>
            <a:r>
              <a:rPr lang="zh-CN" altLang="en-US" dirty="0"/>
              <a:t>：</a:t>
            </a:r>
            <a:endParaRPr lang="en-US" altLang="zh-CN" dirty="0"/>
          </a:p>
          <a:p>
            <a:pPr lvl="1"/>
            <a:r>
              <a:rPr lang="zh-CN" altLang="en-US" dirty="0"/>
              <a:t>由欧洲原子核研究组织 </a:t>
            </a:r>
            <a:r>
              <a:rPr lang="en-US" altLang="zh-CN" dirty="0"/>
              <a:t>CERN </a:t>
            </a:r>
            <a:r>
              <a:rPr lang="zh-CN" altLang="en-US" dirty="0"/>
              <a:t>开发。</a:t>
            </a:r>
          </a:p>
          <a:p>
            <a:pPr lvl="1"/>
            <a:r>
              <a:rPr lang="zh-CN" altLang="en-US" dirty="0"/>
              <a:t>成为互联网指数级增长的主要驱动力。</a:t>
            </a:r>
          </a:p>
          <a:p>
            <a:pPr lvl="1"/>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endParaRPr lang="en-US" altLang="zh-CN" dirty="0"/>
          </a:p>
        </p:txBody>
      </p:sp>
      <p:sp>
        <p:nvSpPr>
          <p:cNvPr id="10" name="标题 9">
            <a:extLst>
              <a:ext uri="{FF2B5EF4-FFF2-40B4-BE49-F238E27FC236}">
                <a16:creationId xmlns:a16="http://schemas.microsoft.com/office/drawing/2014/main" id="{27B82C64-AA89-9F6E-A7C9-557E283EB359}"/>
              </a:ext>
            </a:extLst>
          </p:cNvPr>
          <p:cNvSpPr>
            <a:spLocks noGrp="1"/>
          </p:cNvSpPr>
          <p:nvPr>
            <p:ph type="title"/>
          </p:nvPr>
        </p:nvSpPr>
        <p:spPr/>
        <p:txBody>
          <a:bodyPr/>
          <a:lstStyle/>
          <a:p>
            <a:r>
              <a:rPr lang="en-US" altLang="zh-CN" dirty="0"/>
              <a:t>20 </a:t>
            </a:r>
            <a:r>
              <a:rPr lang="zh-CN" altLang="en-US" dirty="0"/>
              <a:t>世纪 </a:t>
            </a:r>
            <a:r>
              <a:rPr lang="en-US" altLang="zh-CN" dirty="0"/>
              <a:t>90 </a:t>
            </a:r>
            <a:r>
              <a:rPr lang="zh-CN" altLang="en-US" dirty="0"/>
              <a:t>年代：万维网 </a:t>
            </a:r>
            <a:r>
              <a:rPr lang="en-US" altLang="zh-CN" dirty="0"/>
              <a:t>WWW </a:t>
            </a:r>
            <a:r>
              <a:rPr lang="zh-CN" altLang="en-US" dirty="0"/>
              <a:t>的问世</a:t>
            </a:r>
          </a:p>
        </p:txBody>
      </p:sp>
      <p:sp>
        <p:nvSpPr>
          <p:cNvPr id="5" name="内容占位符 1"/>
          <p:cNvSpPr txBox="1">
            <a:spLocks/>
          </p:cNvSpPr>
          <p:nvPr/>
        </p:nvSpPr>
        <p:spPr>
          <a:xfrm>
            <a:off x="318299" y="1350004"/>
            <a:ext cx="3924187" cy="2562969"/>
          </a:xfrm>
          <a:prstGeom prst="rect">
            <a:avLst/>
          </a:prstGeom>
        </p:spPr>
        <p:txBody>
          <a:bodyPr/>
          <a:lstStyle>
            <a:lvl1pPr marL="342900" indent="-342900" algn="l" rtl="0" fontAlgn="base">
              <a:lnSpc>
                <a:spcPts val="2800"/>
              </a:lnSpc>
              <a:spcBef>
                <a:spcPts val="0"/>
              </a:spcBef>
              <a:spcAft>
                <a:spcPct val="0"/>
              </a:spcAft>
              <a:buClr>
                <a:srgbClr val="0066CC"/>
              </a:buClr>
              <a:buFont typeface="Wingdings" panose="05000000000000000000" pitchFamily="2" charset="2"/>
              <a:buChar char="l"/>
              <a:defRPr lang="zh-CN" altLang="en-US" sz="2000" b="1" kern="1200" dirty="0" smtClean="0">
                <a:solidFill>
                  <a:schemeClr val="tx1"/>
                </a:solidFill>
                <a:latin typeface="微软雅黑" pitchFamily="34" charset="-122"/>
                <a:ea typeface="微软雅黑" pitchFamily="34" charset="-122"/>
                <a:cs typeface="+mn-cs"/>
              </a:defRPr>
            </a:lvl1pPr>
            <a:lvl2pPr marL="742950" indent="-285750" algn="l" rtl="0" fontAlgn="base">
              <a:lnSpc>
                <a:spcPts val="2800"/>
              </a:lnSpc>
              <a:spcBef>
                <a:spcPts val="0"/>
              </a:spcBef>
              <a:spcAft>
                <a:spcPct val="0"/>
              </a:spcAft>
              <a:buClr>
                <a:schemeClr val="accent6">
                  <a:lumMod val="50000"/>
                </a:schemeClr>
              </a:buClr>
              <a:buFont typeface="Wingdings" panose="05000000000000000000" pitchFamily="2" charset="2"/>
              <a:buChar char="u"/>
              <a:defRPr sz="1800" b="1" kern="1200">
                <a:solidFill>
                  <a:schemeClr val="tx1"/>
                </a:solidFill>
                <a:latin typeface="微软雅黑" panose="020B0503020204020204" pitchFamily="34" charset="-122"/>
                <a:ea typeface="微软雅黑" panose="020B0503020204020204" pitchFamily="34" charset="-122"/>
                <a:cs typeface="+mn-cs"/>
              </a:defRPr>
            </a:lvl2pPr>
            <a:lvl3pPr marL="1143000" indent="-228600" algn="l" rtl="0" fontAlgn="base">
              <a:lnSpc>
                <a:spcPts val="2800"/>
              </a:lnSpc>
              <a:spcBef>
                <a:spcPts val="0"/>
              </a:spcBef>
              <a:spcAft>
                <a:spcPct val="0"/>
              </a:spcAft>
              <a:buClr>
                <a:srgbClr val="006600"/>
              </a:buClr>
              <a:buFont typeface="Wingdings" panose="05000000000000000000" pitchFamily="2" charset="2"/>
              <a:buChar char="Ø"/>
              <a:defRPr sz="1600" b="1" kern="1200">
                <a:solidFill>
                  <a:schemeClr val="tx1"/>
                </a:solidFill>
                <a:latin typeface="微软雅黑" panose="020B0503020204020204" pitchFamily="34" charset="-122"/>
                <a:ea typeface="微软雅黑" panose="020B0503020204020204" pitchFamily="34" charset="-122"/>
                <a:cs typeface="+mn-cs"/>
              </a:defRPr>
            </a:lvl3pPr>
            <a:lvl4pPr marL="16002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4pPr>
            <a:lvl5pPr marL="2057400" indent="-228600" algn="l" rtl="0" fontAlgn="base">
              <a:lnSpc>
                <a:spcPts val="2800"/>
              </a:lnSpc>
              <a:spcBef>
                <a:spcPts val="0"/>
              </a:spcBef>
              <a:spcAft>
                <a:spcPct val="0"/>
              </a:spcAft>
              <a:buFont typeface="Arial" charset="0"/>
              <a:buChar char="»"/>
              <a:defRPr sz="1400" b="1" kern="1200">
                <a:solidFill>
                  <a:schemeClr val="tx1"/>
                </a:solidFill>
                <a:latin typeface="微软雅黑" panose="020B0503020204020204" pitchFamily="34" charset="-122"/>
                <a:ea typeface="微软雅黑" panose="020B0503020204020204" pitchFamily="34" charset="-122"/>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lvl="1">
              <a:lnSpc>
                <a:spcPts val="3000"/>
              </a:lnSpc>
            </a:pPr>
            <a:endParaRPr lang="zh-CN" altLang="en-US" dirty="0"/>
          </a:p>
        </p:txBody>
      </p:sp>
      <p:pic>
        <p:nvPicPr>
          <p:cNvPr id="9" name="图片 8"/>
          <p:cNvPicPr>
            <a:picLocks noChangeAspect="1"/>
          </p:cNvPicPr>
          <p:nvPr/>
        </p:nvPicPr>
        <p:blipFill>
          <a:blip r:embed="rId2"/>
          <a:stretch>
            <a:fillRect/>
          </a:stretch>
        </p:blipFill>
        <p:spPr>
          <a:xfrm>
            <a:off x="9249434" y="1145942"/>
            <a:ext cx="2755620" cy="2247392"/>
          </a:xfrm>
          <a:prstGeom prst="rect">
            <a:avLst/>
          </a:prstGeom>
        </p:spPr>
      </p:pic>
      <p:pic>
        <p:nvPicPr>
          <p:cNvPr id="8" name="图片 7"/>
          <p:cNvPicPr>
            <a:picLocks noChangeAspect="1"/>
          </p:cNvPicPr>
          <p:nvPr/>
        </p:nvPicPr>
        <p:blipFill>
          <a:blip r:embed="rId3"/>
          <a:stretch>
            <a:fillRect/>
          </a:stretch>
        </p:blipFill>
        <p:spPr>
          <a:xfrm>
            <a:off x="4361084" y="1474912"/>
            <a:ext cx="4190133" cy="2661060"/>
          </a:xfrm>
          <a:prstGeom prst="rect">
            <a:avLst/>
          </a:prstGeom>
        </p:spPr>
      </p:pic>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44"/>
          <p:cNvSpPr>
            <a:spLocks noChangeArrowheads="1"/>
          </p:cNvSpPr>
          <p:nvPr/>
        </p:nvSpPr>
        <p:spPr bwMode="auto">
          <a:xfrm>
            <a:off x="5116595" y="2513371"/>
            <a:ext cx="2774284"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6" name="AutoShape 43"/>
          <p:cNvSpPr>
            <a:spLocks noChangeArrowheads="1"/>
          </p:cNvSpPr>
          <p:nvPr/>
        </p:nvSpPr>
        <p:spPr bwMode="auto">
          <a:xfrm>
            <a:off x="1985559" y="2513371"/>
            <a:ext cx="2834003" cy="1729338"/>
          </a:xfrm>
          <a:prstGeom prst="roundRect">
            <a:avLst>
              <a:gd name="adj" fmla="val 16667"/>
            </a:avLst>
          </a:prstGeom>
          <a:solidFill>
            <a:srgbClr val="368AD6"/>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41999" name="Line 6"/>
          <p:cNvSpPr>
            <a:spLocks noChangeShapeType="1"/>
          </p:cNvSpPr>
          <p:nvPr/>
        </p:nvSpPr>
        <p:spPr bwMode="auto">
          <a:xfrm>
            <a:off x="3660511" y="3387409"/>
            <a:ext cx="425707"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0" name="Line 8"/>
          <p:cNvSpPr>
            <a:spLocks noChangeShapeType="1"/>
          </p:cNvSpPr>
          <p:nvPr/>
        </p:nvSpPr>
        <p:spPr bwMode="auto">
          <a:xfrm flipH="1">
            <a:off x="2918870" y="3387409"/>
            <a:ext cx="424369" cy="366748"/>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1" name="Line 18"/>
          <p:cNvSpPr>
            <a:spLocks noChangeShapeType="1"/>
          </p:cNvSpPr>
          <p:nvPr/>
        </p:nvSpPr>
        <p:spPr bwMode="auto">
          <a:xfrm flipV="1">
            <a:off x="5880918" y="3368670"/>
            <a:ext cx="101741" cy="137866"/>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2" name="Line 19"/>
          <p:cNvSpPr>
            <a:spLocks noChangeShapeType="1"/>
          </p:cNvSpPr>
          <p:nvPr/>
        </p:nvSpPr>
        <p:spPr bwMode="auto">
          <a:xfrm>
            <a:off x="6826042" y="3367332"/>
            <a:ext cx="164661" cy="107080"/>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3" name="Line 24"/>
          <p:cNvSpPr>
            <a:spLocks noChangeShapeType="1"/>
          </p:cNvSpPr>
          <p:nvPr/>
        </p:nvSpPr>
        <p:spPr bwMode="auto">
          <a:xfrm flipH="1">
            <a:off x="5504743" y="3683217"/>
            <a:ext cx="211515"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4" name="Line 25"/>
          <p:cNvSpPr>
            <a:spLocks noChangeShapeType="1"/>
          </p:cNvSpPr>
          <p:nvPr/>
        </p:nvSpPr>
        <p:spPr bwMode="auto">
          <a:xfrm>
            <a:off x="5876902" y="3683217"/>
            <a:ext cx="318611"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5" name="Line 26"/>
          <p:cNvSpPr>
            <a:spLocks noChangeShapeType="1"/>
          </p:cNvSpPr>
          <p:nvPr/>
        </p:nvSpPr>
        <p:spPr bwMode="auto">
          <a:xfrm flipH="1">
            <a:off x="6619882"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6" name="Line 27"/>
          <p:cNvSpPr>
            <a:spLocks noChangeShapeType="1"/>
          </p:cNvSpPr>
          <p:nvPr/>
        </p:nvSpPr>
        <p:spPr bwMode="auto">
          <a:xfrm>
            <a:off x="7044250" y="3683217"/>
            <a:ext cx="266402" cy="104403"/>
          </a:xfrm>
          <a:prstGeom prst="line">
            <a:avLst/>
          </a:prstGeom>
          <a:noFill/>
          <a:ln w="38100">
            <a:solidFill>
              <a:srgbClr val="0000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7" name="Freeform 4"/>
          <p:cNvSpPr>
            <a:spLocks/>
          </p:cNvSpPr>
          <p:nvPr/>
        </p:nvSpPr>
        <p:spPr bwMode="auto">
          <a:xfrm>
            <a:off x="4031789"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09" name="Text Box 12"/>
          <p:cNvSpPr txBox="1">
            <a:spLocks noChangeArrowheads="1"/>
          </p:cNvSpPr>
          <p:nvPr/>
        </p:nvSpPr>
        <p:spPr bwMode="auto">
          <a:xfrm>
            <a:off x="2212271" y="2588935"/>
            <a:ext cx="223659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互联网研究部 </a:t>
            </a:r>
            <a:r>
              <a:rPr kumimoji="1" lang="en-US" altLang="zh-CN" sz="1600" b="1" dirty="0">
                <a:solidFill>
                  <a:schemeClr val="bg1"/>
                </a:solidFill>
                <a:latin typeface="微软雅黑" pitchFamily="34" charset="-122"/>
                <a:ea typeface="微软雅黑" pitchFamily="34" charset="-122"/>
              </a:rPr>
              <a:t>IRTF </a:t>
            </a:r>
          </a:p>
        </p:txBody>
      </p:sp>
      <p:sp>
        <p:nvSpPr>
          <p:cNvPr id="42010" name="Text Box 13"/>
          <p:cNvSpPr txBox="1">
            <a:spLocks noChangeArrowheads="1"/>
          </p:cNvSpPr>
          <p:nvPr/>
        </p:nvSpPr>
        <p:spPr bwMode="auto">
          <a:xfrm>
            <a:off x="5582387" y="2588935"/>
            <a:ext cx="2137749"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chemeClr val="bg1"/>
                </a:solidFill>
                <a:latin typeface="微软雅黑" pitchFamily="34" charset="-122"/>
                <a:ea typeface="微软雅黑" pitchFamily="34" charset="-122"/>
              </a:rPr>
              <a:t>互联网工程部 </a:t>
            </a:r>
            <a:r>
              <a:rPr kumimoji="1" lang="en-US" altLang="zh-CN" sz="1600" b="1" dirty="0">
                <a:solidFill>
                  <a:schemeClr val="bg1"/>
                </a:solidFill>
                <a:latin typeface="微软雅黑" pitchFamily="34" charset="-122"/>
                <a:ea typeface="微软雅黑" pitchFamily="34" charset="-122"/>
              </a:rPr>
              <a:t>IETF </a:t>
            </a:r>
          </a:p>
        </p:txBody>
      </p:sp>
      <p:sp>
        <p:nvSpPr>
          <p:cNvPr id="42012" name="Text Box 17"/>
          <p:cNvSpPr txBox="1">
            <a:spLocks noChangeArrowheads="1"/>
          </p:cNvSpPr>
          <p:nvPr/>
        </p:nvSpPr>
        <p:spPr bwMode="auto">
          <a:xfrm>
            <a:off x="6228981" y="3386071"/>
            <a:ext cx="38985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a:t>
            </a:r>
          </a:p>
        </p:txBody>
      </p:sp>
      <p:sp>
        <p:nvSpPr>
          <p:cNvPr id="42013" name="Rectangle 20"/>
          <p:cNvSpPr>
            <a:spLocks noChangeArrowheads="1"/>
          </p:cNvSpPr>
          <p:nvPr/>
        </p:nvSpPr>
        <p:spPr bwMode="auto">
          <a:xfrm>
            <a:off x="2759564" y="3754157"/>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4" name="Rectangle 21"/>
          <p:cNvSpPr>
            <a:spLocks noChangeArrowheads="1"/>
          </p:cNvSpPr>
          <p:nvPr/>
        </p:nvSpPr>
        <p:spPr bwMode="auto">
          <a:xfrm>
            <a:off x="7250410"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15" name="Text Box 22"/>
          <p:cNvSpPr txBox="1">
            <a:spLocks noChangeArrowheads="1"/>
          </p:cNvSpPr>
          <p:nvPr/>
        </p:nvSpPr>
        <p:spPr bwMode="auto">
          <a:xfrm>
            <a:off x="5712242" y="3711325"/>
            <a:ext cx="38985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a:t>
            </a:r>
          </a:p>
        </p:txBody>
      </p:sp>
      <p:sp>
        <p:nvSpPr>
          <p:cNvPr id="42016" name="Text Box 23"/>
          <p:cNvSpPr txBox="1">
            <a:spLocks noChangeArrowheads="1"/>
          </p:cNvSpPr>
          <p:nvPr/>
        </p:nvSpPr>
        <p:spPr bwMode="auto">
          <a:xfrm>
            <a:off x="6921089" y="3711325"/>
            <a:ext cx="38985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a:t>
            </a:r>
          </a:p>
        </p:txBody>
      </p:sp>
      <p:sp>
        <p:nvSpPr>
          <p:cNvPr id="42017" name="Rectangle 28"/>
          <p:cNvSpPr>
            <a:spLocks noChangeArrowheads="1"/>
          </p:cNvSpPr>
          <p:nvPr/>
        </p:nvSpPr>
        <p:spPr bwMode="auto">
          <a:xfrm>
            <a:off x="3926912" y="3754157"/>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RG</a:t>
            </a:r>
          </a:p>
        </p:txBody>
      </p:sp>
      <p:sp>
        <p:nvSpPr>
          <p:cNvPr id="42018" name="Text Box 29"/>
          <p:cNvSpPr txBox="1">
            <a:spLocks noChangeArrowheads="1"/>
          </p:cNvSpPr>
          <p:nvPr/>
        </p:nvSpPr>
        <p:spPr bwMode="auto">
          <a:xfrm>
            <a:off x="3300399" y="3730064"/>
            <a:ext cx="38985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a:t>
            </a:r>
          </a:p>
        </p:txBody>
      </p:sp>
      <p:sp>
        <p:nvSpPr>
          <p:cNvPr id="42019" name="Rectangle 30"/>
          <p:cNvSpPr>
            <a:spLocks noChangeArrowheads="1"/>
          </p:cNvSpPr>
          <p:nvPr/>
        </p:nvSpPr>
        <p:spPr bwMode="auto">
          <a:xfrm>
            <a:off x="5669404"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0" name="Rectangle 31"/>
          <p:cNvSpPr>
            <a:spLocks noChangeArrowheads="1"/>
          </p:cNvSpPr>
          <p:nvPr/>
        </p:nvSpPr>
        <p:spPr bwMode="auto">
          <a:xfrm>
            <a:off x="6874235" y="3474412"/>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zh-CN" altLang="en-US" sz="1200" b="1">
                <a:latin typeface="微软雅黑" pitchFamily="34" charset="-122"/>
                <a:ea typeface="微软雅黑" pitchFamily="34" charset="-122"/>
              </a:rPr>
              <a:t>领域</a:t>
            </a:r>
          </a:p>
        </p:txBody>
      </p:sp>
      <p:sp>
        <p:nvSpPr>
          <p:cNvPr id="42024" name="Rectangle 33"/>
          <p:cNvSpPr>
            <a:spLocks noChangeArrowheads="1"/>
          </p:cNvSpPr>
          <p:nvPr/>
        </p:nvSpPr>
        <p:spPr bwMode="auto">
          <a:xfrm>
            <a:off x="6504754"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5" name="Rectangle 34"/>
          <p:cNvSpPr>
            <a:spLocks noChangeArrowheads="1"/>
          </p:cNvSpPr>
          <p:nvPr/>
        </p:nvSpPr>
        <p:spPr bwMode="auto">
          <a:xfrm>
            <a:off x="6006756" y="3780927"/>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sp>
        <p:nvSpPr>
          <p:cNvPr id="42026" name="Rectangle 35"/>
          <p:cNvSpPr>
            <a:spLocks noChangeArrowheads="1"/>
          </p:cNvSpPr>
          <p:nvPr/>
        </p:nvSpPr>
        <p:spPr bwMode="auto">
          <a:xfrm>
            <a:off x="5333389" y="3780927"/>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kumimoji="1" lang="en-US" altLang="zh-CN" sz="1200" b="1">
                <a:latin typeface="微软雅黑" pitchFamily="34" charset="-122"/>
                <a:ea typeface="微软雅黑" pitchFamily="34" charset="-122"/>
              </a:rPr>
              <a:t>WG</a:t>
            </a:r>
          </a:p>
        </p:txBody>
      </p:sp>
      <p:cxnSp>
        <p:nvCxnSpPr>
          <p:cNvPr id="42027" name="AutoShape 45"/>
          <p:cNvCxnSpPr>
            <a:cxnSpLocks noChangeShapeType="1"/>
          </p:cNvCxnSpPr>
          <p:nvPr/>
        </p:nvCxnSpPr>
        <p:spPr bwMode="auto">
          <a:xfrm>
            <a:off x="5096479" y="2332674"/>
            <a:ext cx="804138"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a:off x="4937907" y="1674062"/>
            <a:ext cx="0" cy="190816"/>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p:cNvCxnSpPr>
          <p:nvPr/>
        </p:nvCxnSpPr>
        <p:spPr bwMode="auto">
          <a:xfrm flipH="1">
            <a:off x="4031790" y="2332674"/>
            <a:ext cx="737037" cy="681295"/>
          </a:xfrm>
          <a:prstGeom prst="straightConnector1">
            <a:avLst/>
          </a:prstGeom>
          <a:noFill/>
          <a:ln w="3810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4003493" y="1864878"/>
            <a:ext cx="1868827" cy="480522"/>
          </a:xfrm>
          <a:prstGeom prst="rect">
            <a:avLst/>
          </a:prstGeom>
          <a:solidFill>
            <a:srgbClr val="FF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互联网体系结构</a:t>
            </a:r>
          </a:p>
          <a:p>
            <a:pPr algn="ctr" eaLnBrk="0" fontAlgn="auto" hangingPunct="0">
              <a:spcBef>
                <a:spcPts val="0"/>
              </a:spcBef>
              <a:spcAft>
                <a:spcPts val="0"/>
              </a:spcAft>
              <a:defRPr/>
            </a:pPr>
            <a:r>
              <a:rPr kumimoji="1" lang="zh-CN" altLang="en-US" sz="1400" b="1" dirty="0">
                <a:solidFill>
                  <a:srgbClr val="0033CC"/>
                </a:solidFill>
                <a:latin typeface="微软雅黑" pitchFamily="34" charset="-122"/>
                <a:ea typeface="微软雅黑" pitchFamily="34" charset="-122"/>
              </a:rPr>
              <a:t>研究委员会 </a:t>
            </a:r>
            <a:r>
              <a:rPr kumimoji="1" lang="en-US" altLang="zh-CN" sz="1400" b="1" dirty="0">
                <a:solidFill>
                  <a:srgbClr val="0033CC"/>
                </a:solidFill>
                <a:latin typeface="微软雅黑" pitchFamily="34" charset="-122"/>
                <a:ea typeface="微软雅黑" pitchFamily="34" charset="-122"/>
              </a:rPr>
              <a:t>IAB </a:t>
            </a:r>
          </a:p>
        </p:txBody>
      </p:sp>
      <p:sp>
        <p:nvSpPr>
          <p:cNvPr id="42008" name="Rectangle 10"/>
          <p:cNvSpPr>
            <a:spLocks noChangeArrowheads="1"/>
          </p:cNvSpPr>
          <p:nvPr/>
        </p:nvSpPr>
        <p:spPr bwMode="auto">
          <a:xfrm>
            <a:off x="2455830" y="2981845"/>
            <a:ext cx="189009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互联网研究指导小组</a:t>
            </a:r>
          </a:p>
          <a:p>
            <a:pPr algn="ctr" eaLnBrk="0" hangingPunct="0"/>
            <a:r>
              <a:rPr kumimoji="1" lang="en-US" altLang="zh-CN" sz="1200" b="1" dirty="0">
                <a:solidFill>
                  <a:srgbClr val="000099"/>
                </a:solidFill>
                <a:latin typeface="微软雅黑" pitchFamily="34" charset="-122"/>
                <a:ea typeface="微软雅黑" pitchFamily="34" charset="-122"/>
              </a:rPr>
              <a:t>IRSG </a:t>
            </a:r>
          </a:p>
        </p:txBody>
      </p:sp>
      <p:sp>
        <p:nvSpPr>
          <p:cNvPr id="42011" name="Rectangle 16"/>
          <p:cNvSpPr>
            <a:spLocks noChangeArrowheads="1"/>
          </p:cNvSpPr>
          <p:nvPr/>
        </p:nvSpPr>
        <p:spPr bwMode="auto">
          <a:xfrm>
            <a:off x="5582387" y="2981845"/>
            <a:ext cx="1840716" cy="418950"/>
          </a:xfrm>
          <a:prstGeom prst="rect">
            <a:avLst/>
          </a:prstGeom>
          <a:ln>
            <a:solidFill>
              <a:srgbClr val="000099"/>
            </a:solidFill>
          </a:ln>
        </p:spPr>
        <p:style>
          <a:lnRef idx="2">
            <a:schemeClr val="accent3"/>
          </a:lnRef>
          <a:fillRef idx="1">
            <a:schemeClr val="lt1"/>
          </a:fillRef>
          <a:effectRef idx="0">
            <a:schemeClr val="accent3"/>
          </a:effectRef>
          <a:fontRef idx="minor">
            <a:schemeClr val="dk1"/>
          </a:fontRef>
        </p:style>
        <p:txBody>
          <a:bodyPr wrap="none" anchor="ctr"/>
          <a:lstStyle/>
          <a:p>
            <a:pPr algn="ctr" eaLnBrk="0" hangingPunct="0"/>
            <a:r>
              <a:rPr kumimoji="1" lang="zh-CN" altLang="en-US" sz="1200" b="1" dirty="0">
                <a:solidFill>
                  <a:srgbClr val="000099"/>
                </a:solidFill>
                <a:latin typeface="微软雅黑" pitchFamily="34" charset="-122"/>
                <a:ea typeface="微软雅黑" pitchFamily="34" charset="-122"/>
              </a:rPr>
              <a:t>互联网工程指导小组</a:t>
            </a:r>
          </a:p>
          <a:p>
            <a:pPr algn="ctr" eaLnBrk="0" hangingPunct="0"/>
            <a:r>
              <a:rPr kumimoji="1" lang="en-US" altLang="zh-CN" sz="1200" b="1" dirty="0">
                <a:solidFill>
                  <a:srgbClr val="000099"/>
                </a:solidFill>
                <a:latin typeface="微软雅黑" pitchFamily="34" charset="-122"/>
                <a:ea typeface="微软雅黑" pitchFamily="34" charset="-122"/>
              </a:rPr>
              <a:t>IESG </a:t>
            </a:r>
          </a:p>
        </p:txBody>
      </p:sp>
      <p:sp>
        <p:nvSpPr>
          <p:cNvPr id="43" name="Rectangle 5"/>
          <p:cNvSpPr>
            <a:spLocks noChangeArrowheads="1"/>
          </p:cNvSpPr>
          <p:nvPr/>
        </p:nvSpPr>
        <p:spPr bwMode="auto">
          <a:xfrm>
            <a:off x="4003493" y="1244565"/>
            <a:ext cx="1868827" cy="429497"/>
          </a:xfrm>
          <a:prstGeom prst="rect">
            <a:avLst/>
          </a:prstGeom>
          <a:solidFill>
            <a:srgbClr val="339933"/>
          </a:solidFill>
          <a:ln w="28575">
            <a:solidFill>
              <a:srgbClr val="000066"/>
            </a:solidFill>
            <a:miter lim="800000"/>
            <a:headEnd/>
            <a:tailEnd/>
          </a:ln>
          <a:effectLst/>
        </p:spPr>
        <p:txBody>
          <a:bodyPr wrap="none" anchor="ctr"/>
          <a:lstStyle/>
          <a:p>
            <a:pPr algn="ctr" eaLnBrk="0" fontAlgn="auto" hangingPunct="0">
              <a:spcBef>
                <a:spcPts val="0"/>
              </a:spcBef>
              <a:spcAft>
                <a:spcPts val="0"/>
              </a:spcAft>
              <a:defRPr/>
            </a:pPr>
            <a:r>
              <a:rPr kumimoji="1" lang="zh-CN" altLang="en-US" sz="1400" b="1" dirty="0">
                <a:solidFill>
                  <a:schemeClr val="bg1"/>
                </a:solidFill>
                <a:latin typeface="微软雅黑" pitchFamily="34" charset="-122"/>
                <a:ea typeface="微软雅黑" pitchFamily="34" charset="-122"/>
              </a:rPr>
              <a:t>互联网协会 </a:t>
            </a:r>
            <a:r>
              <a:rPr kumimoji="1" lang="en-US" altLang="zh-CN" sz="1400" b="1" dirty="0">
                <a:solidFill>
                  <a:schemeClr val="bg1"/>
                </a:solidFill>
                <a:latin typeface="微软雅黑" pitchFamily="34" charset="-122"/>
                <a:ea typeface="微软雅黑" pitchFamily="34" charset="-122"/>
              </a:rPr>
              <a:t>ISOC</a:t>
            </a:r>
          </a:p>
        </p:txBody>
      </p:sp>
      <p:sp>
        <p:nvSpPr>
          <p:cNvPr id="2" name="内容占位符 1"/>
          <p:cNvSpPr>
            <a:spLocks noGrp="1"/>
          </p:cNvSpPr>
          <p:nvPr>
            <p:ph sz="quarter" idx="4294967295"/>
          </p:nvPr>
        </p:nvSpPr>
        <p:spPr>
          <a:xfrm>
            <a:off x="612000" y="720000"/>
            <a:ext cx="7920000" cy="3960000"/>
          </a:xfrm>
        </p:spPr>
        <p:txBody>
          <a:bodyPr/>
          <a:lstStyle/>
          <a:p>
            <a:r>
              <a:rPr lang="zh-CN" altLang="en-US" dirty="0"/>
              <a:t>互联网的标准化工作对互联网的发展起到了非常重要的作用。</a:t>
            </a:r>
          </a:p>
        </p:txBody>
      </p:sp>
      <p:sp>
        <p:nvSpPr>
          <p:cNvPr id="9" name="标题 8">
            <a:extLst>
              <a:ext uri="{FF2B5EF4-FFF2-40B4-BE49-F238E27FC236}">
                <a16:creationId xmlns:a16="http://schemas.microsoft.com/office/drawing/2014/main" id="{E37C825B-9650-2163-FBDF-4D63627E3166}"/>
              </a:ext>
            </a:extLst>
          </p:cNvPr>
          <p:cNvSpPr>
            <a:spLocks noGrp="1"/>
          </p:cNvSpPr>
          <p:nvPr>
            <p:ph type="title"/>
          </p:nvPr>
        </p:nvSpPr>
        <p:spPr/>
        <p:txBody>
          <a:bodyPr/>
          <a:lstStyle/>
          <a:p>
            <a:r>
              <a:rPr lang="en-US" altLang="zh-CN" dirty="0"/>
              <a:t>1.2.3  </a:t>
            </a:r>
            <a:r>
              <a:rPr lang="zh-CN" altLang="en-US" dirty="0"/>
              <a:t>互联网的标准化工作</a:t>
            </a:r>
          </a:p>
        </p:txBody>
      </p:sp>
      <p:sp>
        <p:nvSpPr>
          <p:cNvPr id="37" name="Rectangle 8"/>
          <p:cNvSpPr>
            <a:spLocks noChangeArrowheads="1"/>
          </p:cNvSpPr>
          <p:nvPr/>
        </p:nvSpPr>
        <p:spPr bwMode="auto">
          <a:xfrm>
            <a:off x="3400878" y="4392488"/>
            <a:ext cx="313106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1600" b="1" dirty="0">
                <a:latin typeface="Times New Roman" panose="02020603050405020304" pitchFamily="18" charset="0"/>
                <a:ea typeface="微软雅黑" pitchFamily="34" charset="-122"/>
              </a:rPr>
              <a:t>组织架构</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en-US" altLang="zh-CN"/>
              <a:t>RFC</a:t>
            </a:r>
            <a:r>
              <a:rPr lang="zh-CN" altLang="en-US"/>
              <a:t>：</a:t>
            </a:r>
            <a:r>
              <a:rPr lang="en-US" altLang="zh-CN"/>
              <a:t>Request For Comments </a:t>
            </a:r>
            <a:r>
              <a:rPr lang="zh-CN" altLang="en-US"/>
              <a:t>（请求评论）。</a:t>
            </a:r>
            <a:endParaRPr lang="en-US" altLang="zh-CN"/>
          </a:p>
          <a:p>
            <a:r>
              <a:rPr lang="zh-CN" altLang="en-US"/>
              <a:t>所有的 </a:t>
            </a:r>
            <a:r>
              <a:rPr lang="en-US" altLang="zh-CN"/>
              <a:t>RFC </a:t>
            </a:r>
            <a:r>
              <a:rPr lang="zh-CN" altLang="en-US"/>
              <a:t>文档都可从互联网上免费下载。</a:t>
            </a:r>
            <a:endParaRPr lang="en-US" altLang="zh-CN"/>
          </a:p>
          <a:p>
            <a:r>
              <a:rPr lang="zh-CN" altLang="en-US"/>
              <a:t>任何人都可以用电子邮件随时发表对某个文档的意见或建议。</a:t>
            </a:r>
            <a:endParaRPr lang="en-US" altLang="zh-CN"/>
          </a:p>
          <a:p>
            <a:r>
              <a:rPr lang="zh-CN" altLang="en-US"/>
              <a:t>但并非所有的 </a:t>
            </a:r>
            <a:r>
              <a:rPr lang="en-US" altLang="zh-CN"/>
              <a:t>RFC </a:t>
            </a:r>
            <a:r>
              <a:rPr lang="zh-CN" altLang="en-US"/>
              <a:t>文档都是互联网标准。只有很少部分的 </a:t>
            </a:r>
            <a:r>
              <a:rPr lang="en-US" altLang="zh-CN"/>
              <a:t>RFC </a:t>
            </a:r>
            <a:r>
              <a:rPr lang="zh-CN" altLang="en-US"/>
              <a:t>文档最后才能变成互联网标准。</a:t>
            </a:r>
            <a:endParaRPr lang="en-US" altLang="zh-CN"/>
          </a:p>
          <a:p>
            <a:r>
              <a:rPr lang="en-US" altLang="zh-CN"/>
              <a:t>RFC </a:t>
            </a:r>
            <a:r>
              <a:rPr lang="zh-CN" altLang="en-US"/>
              <a:t>文档按发表时间的先后编上序号（即 </a:t>
            </a:r>
            <a:r>
              <a:rPr lang="en-US" altLang="zh-CN"/>
              <a:t>RFCxxxx</a:t>
            </a:r>
            <a:r>
              <a:rPr lang="zh-CN" altLang="en-US"/>
              <a:t>，</a:t>
            </a:r>
            <a:r>
              <a:rPr lang="en-US" altLang="zh-CN"/>
              <a:t>xxxx </a:t>
            </a:r>
            <a:r>
              <a:rPr lang="zh-CN" altLang="en-US"/>
              <a:t>是阿拉伯数字）。</a:t>
            </a:r>
            <a:endParaRPr lang="en-US" altLang="zh-CN" dirty="0"/>
          </a:p>
        </p:txBody>
      </p:sp>
      <p:sp>
        <p:nvSpPr>
          <p:cNvPr id="9" name="标题 8">
            <a:extLst>
              <a:ext uri="{FF2B5EF4-FFF2-40B4-BE49-F238E27FC236}">
                <a16:creationId xmlns:a16="http://schemas.microsoft.com/office/drawing/2014/main" id="{267B31D6-891B-A187-9647-00D8E7414D08}"/>
              </a:ext>
            </a:extLst>
          </p:cNvPr>
          <p:cNvSpPr>
            <a:spLocks noGrp="1"/>
          </p:cNvSpPr>
          <p:nvPr>
            <p:ph type="title"/>
          </p:nvPr>
        </p:nvSpPr>
        <p:spPr/>
        <p:txBody>
          <a:bodyPr/>
          <a:lstStyle/>
          <a:p>
            <a:r>
              <a:rPr lang="zh-CN" altLang="en-US" dirty="0"/>
              <a:t>标准发表：以 </a:t>
            </a:r>
            <a:r>
              <a:rPr lang="en-US" altLang="zh-CN" dirty="0"/>
              <a:t>RFC </a:t>
            </a:r>
            <a:r>
              <a:rPr lang="zh-CN" altLang="en-US" dirty="0"/>
              <a:t>的形式</a:t>
            </a:r>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p:cNvGrpSpPr/>
          <p:nvPr/>
        </p:nvGrpSpPr>
        <p:grpSpPr>
          <a:xfrm>
            <a:off x="1143116" y="1041242"/>
            <a:ext cx="6731727" cy="3473765"/>
            <a:chOff x="1143116" y="1087304"/>
            <a:chExt cx="6731727" cy="3473765"/>
          </a:xfrm>
        </p:grpSpPr>
        <p:sp>
          <p:nvSpPr>
            <p:cNvPr id="27" name="圆角矩形 26"/>
            <p:cNvSpPr/>
            <p:nvPr/>
          </p:nvSpPr>
          <p:spPr>
            <a:xfrm>
              <a:off x="1143116" y="1657386"/>
              <a:ext cx="6731727" cy="2903683"/>
            </a:xfrm>
            <a:prstGeom prst="roundRect">
              <a:avLst>
                <a:gd name="adj" fmla="val 3266"/>
              </a:avLst>
            </a:prstGeom>
            <a:solidFill>
              <a:schemeClr val="bg1">
                <a:lumMod val="85000"/>
              </a:schemeClr>
            </a:solidFill>
            <a:ln>
              <a:noFill/>
            </a:ln>
          </p:spPr>
          <p:style>
            <a:lnRef idx="1">
              <a:schemeClr val="dk1"/>
            </a:lnRef>
            <a:fillRef idx="2">
              <a:schemeClr val="dk1"/>
            </a:fillRef>
            <a:effectRef idx="1">
              <a:schemeClr val="dk1"/>
            </a:effectRef>
            <a:fontRef idx="minor">
              <a:schemeClr val="dk1"/>
            </a:fontRef>
          </p:style>
          <p:txBody>
            <a:bodyPr rtlCol="0" anchor="ctr"/>
            <a:lstStyle/>
            <a:p>
              <a:pPr algn="ctr"/>
              <a:endParaRPr lang="zh-CN" altLang="en-US" sz="1400" dirty="0"/>
            </a:p>
          </p:txBody>
        </p:sp>
        <p:sp>
          <p:nvSpPr>
            <p:cNvPr id="28" name="文本框 27"/>
            <p:cNvSpPr txBox="1"/>
            <p:nvPr/>
          </p:nvSpPr>
          <p:spPr>
            <a:xfrm>
              <a:off x="3139910" y="1616294"/>
              <a:ext cx="1369070" cy="307777"/>
            </a:xfrm>
            <a:prstGeom prst="rect">
              <a:avLst/>
            </a:prstGeom>
            <a:noFill/>
          </p:spPr>
          <p:txBody>
            <a:bodyPr wrap="square" rtlCol="0">
              <a:spAutoFit/>
            </a:bodyPr>
            <a:lstStyle/>
            <a:p>
              <a:pPr algn="r"/>
              <a:r>
                <a:rPr lang="en-US" altLang="zh-CN" sz="1400" b="1" dirty="0" err="1">
                  <a:latin typeface="微软雅黑" panose="020B0503020204020204" pitchFamily="34" charset="-122"/>
                  <a:ea typeface="微软雅黑" panose="020B0503020204020204" pitchFamily="34" charset="-122"/>
                </a:rPr>
                <a:t>RFCxxxx</a:t>
              </a:r>
              <a:endParaRPr lang="zh-CN" altLang="en-US" sz="1400" b="1" dirty="0">
                <a:latin typeface="微软雅黑" panose="020B0503020204020204" pitchFamily="34" charset="-122"/>
                <a:ea typeface="微软雅黑" panose="020B0503020204020204" pitchFamily="34" charset="-122"/>
              </a:endParaRPr>
            </a:p>
          </p:txBody>
        </p:sp>
        <p:cxnSp>
          <p:nvCxnSpPr>
            <p:cNvPr id="43021" name="直接箭头连接符 43020"/>
            <p:cNvCxnSpPr/>
            <p:nvPr/>
          </p:nvCxnSpPr>
          <p:spPr>
            <a:xfrm flipH="1">
              <a:off x="2717895" y="1904139"/>
              <a:ext cx="3595815" cy="0"/>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p:nvPr/>
          </p:nvCxnSpPr>
          <p:spPr>
            <a:xfrm>
              <a:off x="4528448" y="1491288"/>
              <a:ext cx="0" cy="408414"/>
            </a:xfrm>
            <a:prstGeom prst="straightConnector1">
              <a:avLst/>
            </a:prstGeom>
            <a:ln w="1905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87304"/>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00FFFF"/>
            </a:solidFill>
            <a:ln>
              <a:no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互联网草案</a:t>
              </a:r>
              <a:endParaRPr lang="en-US" altLang="zh-CN" sz="12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200" b="1" kern="1200" dirty="0">
                  <a:latin typeface="微软雅黑" panose="020B0503020204020204" pitchFamily="34" charset="-122"/>
                  <a:ea typeface="微软雅黑" panose="020B0503020204020204" pitchFamily="34" charset="-122"/>
                </a:rPr>
                <a:t> </a:t>
              </a:r>
              <a:r>
                <a:rPr lang="en-US" altLang="en-US" sz="1200" b="1" kern="1200" dirty="0">
                  <a:latin typeface="微软雅黑" panose="020B0503020204020204" pitchFamily="34" charset="-122"/>
                  <a:ea typeface="微软雅黑" panose="020B0503020204020204" pitchFamily="34" charset="-122"/>
                </a:rPr>
                <a:t>(Internet Draft)</a:t>
              </a:r>
              <a:endParaRPr lang="zh-CN" altLang="en-US" sz="1200" b="1" kern="1200" dirty="0">
                <a:latin typeface="微软雅黑" panose="020B0503020204020204" pitchFamily="34" charset="-122"/>
                <a:ea typeface="微软雅黑" panose="020B0503020204020204" pitchFamily="34" charset="-122"/>
              </a:endParaRPr>
            </a:p>
          </p:txBody>
        </p:sp>
        <p:sp>
          <p:nvSpPr>
            <p:cNvPr id="7" name="圆角矩形 6"/>
            <p:cNvSpPr/>
            <p:nvPr/>
          </p:nvSpPr>
          <p:spPr>
            <a:xfrm>
              <a:off x="1454345" y="2011680"/>
              <a:ext cx="2542903"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任意多边形 32"/>
            <p:cNvSpPr/>
            <p:nvPr/>
          </p:nvSpPr>
          <p:spPr>
            <a:xfrm>
              <a:off x="1755952" y="2395071"/>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92D050"/>
            </a:solidFill>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建议标准 </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en-US" altLang="en-US" sz="1100" b="1" kern="1200" dirty="0">
                  <a:latin typeface="微软雅黑" panose="020B0503020204020204" pitchFamily="34" charset="-122"/>
                  <a:ea typeface="微软雅黑" panose="020B0503020204020204" pitchFamily="34" charset="-122"/>
                </a:rPr>
                <a:t>(Proposed Standard)</a:t>
              </a:r>
              <a:endParaRPr lang="zh-CN" altLang="en-US" sz="1100" b="1" kern="1200" dirty="0">
                <a:latin typeface="微软雅黑" panose="020B0503020204020204" pitchFamily="34" charset="-122"/>
                <a:ea typeface="微软雅黑" panose="020B0503020204020204" pitchFamily="34" charset="-122"/>
              </a:endParaRPr>
            </a:p>
          </p:txBody>
        </p:sp>
        <p:sp>
          <p:nvSpPr>
            <p:cNvPr id="34" name="任意多边形 33"/>
            <p:cNvSpPr/>
            <p:nvPr/>
          </p:nvSpPr>
          <p:spPr>
            <a:xfrm>
              <a:off x="1755952" y="3699085"/>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rgbClr val="FF9900"/>
            </a:solidFill>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互联网标准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kern="1200" dirty="0">
                  <a:latin typeface="微软雅黑" panose="020B0503020204020204" pitchFamily="34" charset="-122"/>
                  <a:ea typeface="微软雅黑" panose="020B0503020204020204" pitchFamily="34" charset="-122"/>
                </a:rPr>
                <a:t>(Internet Standard)</a:t>
              </a:r>
            </a:p>
            <a:p>
              <a:pPr lvl="0" algn="ctr" defTabSz="800100">
                <a:spcAft>
                  <a:spcPts val="0"/>
                </a:spcAft>
              </a:pPr>
              <a:r>
                <a:rPr lang="en-US" altLang="zh-CN" sz="1100" b="1" dirty="0">
                  <a:latin typeface="微软雅黑" panose="020B0503020204020204" pitchFamily="34" charset="-122"/>
                  <a:ea typeface="微软雅黑" panose="020B0503020204020204" pitchFamily="34" charset="-122"/>
                </a:rPr>
                <a:t>(</a:t>
              </a:r>
              <a:r>
                <a:rPr lang="zh-CN" altLang="en-US" sz="1100" b="1" dirty="0">
                  <a:latin typeface="微软雅黑" panose="020B0503020204020204" pitchFamily="34" charset="-122"/>
                  <a:ea typeface="微软雅黑" panose="020B0503020204020204" pitchFamily="34" charset="-122"/>
                </a:rPr>
                <a:t>记为 </a:t>
              </a:r>
              <a:r>
                <a:rPr lang="en-US" altLang="zh-CN" sz="1100" b="1" dirty="0" err="1">
                  <a:latin typeface="微软雅黑" panose="020B0503020204020204" pitchFamily="34" charset="-122"/>
                  <a:ea typeface="微软雅黑" panose="020B0503020204020204" pitchFamily="34" charset="-122"/>
                </a:rPr>
                <a:t>STDxx</a:t>
              </a:r>
              <a:r>
                <a:rPr lang="en-US" altLang="zh-CN" sz="1100" b="1"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5" name="任意多边形 34"/>
            <p:cNvSpPr/>
            <p:nvPr/>
          </p:nvSpPr>
          <p:spPr>
            <a:xfrm>
              <a:off x="2194579" y="3067623"/>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tx2">
                <a:lumMod val="60000"/>
                <a:lumOff val="40000"/>
              </a:schemeClr>
            </a:solidFill>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kern="1200" dirty="0">
                  <a:latin typeface="微软雅黑" panose="020B0503020204020204" pitchFamily="34" charset="-122"/>
                  <a:ea typeface="微软雅黑" panose="020B0503020204020204" pitchFamily="34" charset="-122"/>
                </a:rPr>
                <a:t>草案标准</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(Draft </a:t>
              </a:r>
              <a:r>
                <a:rPr lang="en-US" altLang="en-US" sz="1100" b="1" kern="1200" dirty="0">
                  <a:latin typeface="微软雅黑" panose="020B0503020204020204" pitchFamily="34" charset="-122"/>
                  <a:ea typeface="微软雅黑" panose="020B0503020204020204" pitchFamily="34" charset="-122"/>
                </a:rPr>
                <a:t>Standard)</a:t>
              </a:r>
              <a:endParaRPr lang="zh-CN" altLang="en-US" sz="1100" b="1" kern="1200" dirty="0">
                <a:latin typeface="微软雅黑" panose="020B0503020204020204" pitchFamily="34" charset="-122"/>
                <a:ea typeface="微软雅黑" panose="020B0503020204020204" pitchFamily="34" charset="-122"/>
              </a:endParaRPr>
            </a:p>
          </p:txBody>
        </p:sp>
        <p:cxnSp>
          <p:nvCxnSpPr>
            <p:cNvPr id="133" name="直接箭头连接符 132"/>
            <p:cNvCxnSpPr/>
            <p:nvPr/>
          </p:nvCxnSpPr>
          <p:spPr>
            <a:xfrm>
              <a:off x="2717890" y="2845397"/>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87961"/>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845397"/>
              <a:ext cx="0" cy="852467"/>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2020455"/>
              <a:ext cx="902811"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标准轨道</a:t>
              </a:r>
            </a:p>
          </p:txBody>
        </p:sp>
        <p:cxnSp>
          <p:nvCxnSpPr>
            <p:cNvPr id="40" name="直接箭头连接符 39"/>
            <p:cNvCxnSpPr/>
            <p:nvPr/>
          </p:nvCxnSpPr>
          <p:spPr>
            <a:xfrm>
              <a:off x="3693384" y="2621552"/>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83408"/>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4032355"/>
              <a:ext cx="480196"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627817"/>
              <a:ext cx="0" cy="1404261"/>
            </a:xfrm>
            <a:prstGeom prst="straightConnector1">
              <a:avLst/>
            </a:prstGeom>
            <a:ln w="1905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2011680"/>
              <a:ext cx="2542903"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6505318" y="2020455"/>
              <a:ext cx="1083909" cy="276999"/>
            </a:xfrm>
            <a:prstGeom prst="rect">
              <a:avLst/>
            </a:prstGeom>
            <a:noFill/>
          </p:spPr>
          <p:txBody>
            <a:bodyPr wrap="square" rtlCol="0">
              <a:spAutoFit/>
            </a:bodyPr>
            <a:lstStyle/>
            <a:p>
              <a:pPr algn="r"/>
              <a:r>
                <a:rPr lang="zh-CN" altLang="en-US" sz="1200" b="1" dirty="0">
                  <a:latin typeface="微软雅黑" panose="020B0503020204020204" pitchFamily="34" charset="-122"/>
                  <a:ea typeface="微软雅黑" panose="020B0503020204020204" pitchFamily="34" charset="-122"/>
                </a:rPr>
                <a:t>非标准轨道</a:t>
              </a:r>
            </a:p>
          </p:txBody>
        </p:sp>
        <p:sp>
          <p:nvSpPr>
            <p:cNvPr id="36" name="任意多边形 35"/>
            <p:cNvSpPr/>
            <p:nvPr/>
          </p:nvSpPr>
          <p:spPr>
            <a:xfrm>
              <a:off x="5354664" y="3804703"/>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历史</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kern="1200" dirty="0">
                  <a:latin typeface="微软雅黑" panose="020B0503020204020204" pitchFamily="34" charset="-122"/>
                  <a:ea typeface="微软雅黑" panose="020B0503020204020204" pitchFamily="34" charset="-122"/>
                </a:rPr>
                <a:t>(</a:t>
              </a:r>
              <a:r>
                <a:rPr lang="en-US" altLang="zh-CN" sz="1100" b="1" kern="1200" dirty="0">
                  <a:latin typeface="微软雅黑" panose="020B0503020204020204" pitchFamily="34" charset="-122"/>
                  <a:ea typeface="微软雅黑" panose="020B0503020204020204" pitchFamily="34" charset="-122"/>
                </a:rPr>
                <a:t>Historic</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sp>
          <p:nvSpPr>
            <p:cNvPr id="37" name="任意多边形 36"/>
            <p:cNvSpPr/>
            <p:nvPr/>
          </p:nvSpPr>
          <p:spPr>
            <a:xfrm>
              <a:off x="5354664" y="3109228"/>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100" b="1" dirty="0">
                  <a:latin typeface="微软雅黑" panose="020B0503020204020204" pitchFamily="34" charset="-122"/>
                  <a:ea typeface="微软雅黑" panose="020B0503020204020204" pitchFamily="34" charset="-122"/>
                </a:rPr>
                <a:t>信息</a:t>
              </a:r>
              <a:endParaRPr lang="en-US" altLang="zh-CN" sz="1100" b="1" dirty="0">
                <a:latin typeface="微软雅黑" panose="020B0503020204020204" pitchFamily="34" charset="-122"/>
                <a:ea typeface="微软雅黑" panose="020B0503020204020204" pitchFamily="34" charset="-122"/>
              </a:endParaRPr>
            </a:p>
            <a:p>
              <a:pPr lvl="0" algn="ctr" defTabSz="800100">
                <a:spcAft>
                  <a:spcPts val="0"/>
                </a:spcAft>
              </a:pPr>
              <a:r>
                <a:rPr lang="en-US" altLang="en-US" sz="1100" b="1" dirty="0">
                  <a:latin typeface="微软雅黑" panose="020B0503020204020204" pitchFamily="34" charset="-122"/>
                  <a:ea typeface="微软雅黑" panose="020B0503020204020204" pitchFamily="34" charset="-122"/>
                </a:rPr>
                <a:t>(Informational)</a:t>
              </a:r>
              <a:endParaRPr lang="zh-CN" altLang="en-US" sz="1100" b="1" kern="1200" dirty="0">
                <a:latin typeface="微软雅黑" panose="020B0503020204020204" pitchFamily="34" charset="-122"/>
                <a:ea typeface="微软雅黑" panose="020B0503020204020204" pitchFamily="34" charset="-122"/>
              </a:endParaRPr>
            </a:p>
          </p:txBody>
        </p:sp>
        <p:sp>
          <p:nvSpPr>
            <p:cNvPr id="38" name="任意多边形 37"/>
            <p:cNvSpPr/>
            <p:nvPr/>
          </p:nvSpPr>
          <p:spPr>
            <a:xfrm>
              <a:off x="5359902" y="2395071"/>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accent5">
                <a:lumMod val="20000"/>
                <a:lumOff val="80000"/>
              </a:schemeClr>
            </a:solidFill>
            <a:ln>
              <a:solidFill>
                <a:schemeClr val="tx1"/>
              </a:solid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100" b="1" dirty="0">
                  <a:latin typeface="微软雅黑" panose="020B0503020204020204" pitchFamily="34" charset="-122"/>
                  <a:ea typeface="微软雅黑" panose="020B0503020204020204" pitchFamily="34" charset="-122"/>
                </a:rPr>
                <a:t>实验</a:t>
              </a:r>
              <a:endParaRPr lang="en-US" altLang="zh-CN" sz="1100" b="1" kern="1200" dirty="0">
                <a:latin typeface="微软雅黑" panose="020B0503020204020204" pitchFamily="34" charset="-122"/>
                <a:ea typeface="微软雅黑" panose="020B0503020204020204" pitchFamily="34" charset="-122"/>
              </a:endParaRPr>
            </a:p>
            <a:p>
              <a:pPr lvl="0" algn="ctr" defTabSz="800100">
                <a:spcAft>
                  <a:spcPts val="0"/>
                </a:spcAft>
              </a:pPr>
              <a:r>
                <a:rPr lang="zh-CN" altLang="en-US" sz="1100" b="1" kern="1200" dirty="0">
                  <a:latin typeface="微软雅黑" panose="020B0503020204020204" pitchFamily="34" charset="-122"/>
                  <a:ea typeface="微软雅黑" panose="020B0503020204020204" pitchFamily="34" charset="-122"/>
                </a:rPr>
                <a:t> </a:t>
              </a:r>
              <a:r>
                <a:rPr lang="en-US" altLang="en-US" sz="1100" b="1" dirty="0">
                  <a:latin typeface="微软雅黑" panose="020B0503020204020204" pitchFamily="34" charset="-122"/>
                  <a:ea typeface="微软雅黑" panose="020B0503020204020204" pitchFamily="34" charset="-122"/>
                </a:rPr>
                <a:t>(</a:t>
              </a:r>
              <a:r>
                <a:rPr lang="en-US" altLang="zh-CN" sz="1100" b="1" dirty="0">
                  <a:latin typeface="微软雅黑" panose="020B0503020204020204" pitchFamily="34" charset="-122"/>
                  <a:ea typeface="微软雅黑" panose="020B0503020204020204" pitchFamily="34" charset="-122"/>
                </a:rPr>
                <a:t>Experimental</a:t>
              </a:r>
              <a:r>
                <a:rPr lang="en-US" altLang="en-US" sz="1100" b="1" kern="1200" dirty="0">
                  <a:latin typeface="微软雅黑" panose="020B0503020204020204" pitchFamily="34" charset="-122"/>
                  <a:ea typeface="微软雅黑" panose="020B0503020204020204" pitchFamily="34" charset="-122"/>
                </a:rPr>
                <a:t>)</a:t>
              </a:r>
              <a:endParaRPr lang="zh-CN" altLang="en-US" sz="1100" b="1" kern="1200" dirty="0">
                <a:latin typeface="微软雅黑" panose="020B0503020204020204" pitchFamily="34" charset="-122"/>
                <a:ea typeface="微软雅黑" panose="020B0503020204020204" pitchFamily="34" charset="-122"/>
              </a:endParaRPr>
            </a:p>
          </p:txBody>
        </p:sp>
        <p:cxnSp>
          <p:nvCxnSpPr>
            <p:cNvPr id="135" name="直接箭头连接符 134"/>
            <p:cNvCxnSpPr/>
            <p:nvPr/>
          </p:nvCxnSpPr>
          <p:spPr>
            <a:xfrm>
              <a:off x="6313710" y="1899702"/>
              <a:ext cx="0" cy="495369"/>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4032078"/>
              <a:ext cx="1181084" cy="0"/>
            </a:xfrm>
            <a:prstGeom prst="straightConnector1">
              <a:avLst/>
            </a:prstGeom>
            <a:ln w="19050">
              <a:prstDash val="sysDash"/>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E92A9FF-3C78-8261-4648-96C88A3374CF}"/>
              </a:ext>
            </a:extLst>
          </p:cNvPr>
          <p:cNvSpPr>
            <a:spLocks noGrp="1"/>
          </p:cNvSpPr>
          <p:nvPr>
            <p:ph type="title"/>
          </p:nvPr>
        </p:nvSpPr>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27"/>
          <p:cNvSpPr>
            <a:spLocks noChangeArrowheads="1"/>
          </p:cNvSpPr>
          <p:nvPr/>
        </p:nvSpPr>
        <p:spPr bwMode="auto">
          <a:xfrm>
            <a:off x="639730" y="127361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dirty="0">
              <a:latin typeface="微软雅黑 Light" panose="020B0502040204020203" pitchFamily="34" charset="-122"/>
              <a:ea typeface="+mn-ea"/>
            </a:endParaRPr>
          </a:p>
        </p:txBody>
      </p:sp>
      <p:sp>
        <p:nvSpPr>
          <p:cNvPr id="45061" name="Rectangle 29"/>
          <p:cNvSpPr>
            <a:spLocks noChangeArrowheads="1"/>
          </p:cNvSpPr>
          <p:nvPr/>
        </p:nvSpPr>
        <p:spPr bwMode="auto">
          <a:xfrm>
            <a:off x="649288" y="1369178"/>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anose="020B0503020204020204" pitchFamily="34" charset="-122"/>
                <a:ea typeface="微软雅黑" panose="020B0503020204020204" pitchFamily="34" charset="-122"/>
              </a:rPr>
              <a:t>1.3</a:t>
            </a:r>
          </a:p>
          <a:p>
            <a:pPr eaLnBrk="0" hangingPunct="0"/>
            <a:r>
              <a:rPr lang="zh-CN" altLang="fr-FR" sz="2000" b="1">
                <a:solidFill>
                  <a:schemeClr val="bg1"/>
                </a:solidFill>
                <a:latin typeface="微软雅黑" panose="020B0503020204020204" pitchFamily="34" charset="-122"/>
                <a:ea typeface="微软雅黑" panose="020B0503020204020204" pitchFamily="34" charset="-122"/>
              </a:rPr>
              <a:t>互联网的</a:t>
            </a:r>
            <a:endParaRPr lang="en-US" altLang="zh-CN" sz="2000" b="1">
              <a:solidFill>
                <a:schemeClr val="bg1"/>
              </a:solidFill>
              <a:latin typeface="微软雅黑" panose="020B0503020204020204" pitchFamily="34" charset="-122"/>
              <a:ea typeface="微软雅黑" panose="020B0503020204020204" pitchFamily="34" charset="-122"/>
            </a:endParaRPr>
          </a:p>
          <a:p>
            <a:pPr eaLnBrk="0" hangingPunct="0"/>
            <a:r>
              <a:rPr lang="zh-CN" altLang="fr-FR" sz="2000" b="1">
                <a:solidFill>
                  <a:schemeClr val="bg1"/>
                </a:solidFill>
                <a:latin typeface="微软雅黑" panose="020B0503020204020204" pitchFamily="34" charset="-122"/>
                <a:ea typeface="微软雅黑" panose="020B0503020204020204" pitchFamily="34" charset="-122"/>
              </a:rPr>
              <a:t>组成</a:t>
            </a:r>
          </a:p>
        </p:txBody>
      </p:sp>
      <p:sp>
        <p:nvSpPr>
          <p:cNvPr id="8" name="Rectangle 9"/>
          <p:cNvSpPr>
            <a:spLocks noChangeArrowheads="1"/>
          </p:cNvSpPr>
          <p:nvPr/>
        </p:nvSpPr>
        <p:spPr bwMode="auto">
          <a:xfrm>
            <a:off x="2628900" y="127392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9" name="Rectangle 10"/>
          <p:cNvSpPr>
            <a:spLocks noChangeArrowheads="1"/>
          </p:cNvSpPr>
          <p:nvPr/>
        </p:nvSpPr>
        <p:spPr bwMode="auto">
          <a:xfrm>
            <a:off x="2628900" y="188035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45064" name="Line 16"/>
          <p:cNvSpPr>
            <a:spLocks noChangeShapeType="1"/>
          </p:cNvSpPr>
          <p:nvPr/>
        </p:nvSpPr>
        <p:spPr bwMode="auto">
          <a:xfrm>
            <a:off x="3636963" y="1202490"/>
            <a:ext cx="0" cy="1181100"/>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5065" name="Rectangle 8"/>
          <p:cNvSpPr>
            <a:spLocks noChangeArrowheads="1"/>
          </p:cNvSpPr>
          <p:nvPr/>
        </p:nvSpPr>
        <p:spPr bwMode="auto">
          <a:xfrm>
            <a:off x="2700337" y="1019928"/>
            <a:ext cx="5641557" cy="1230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anose="020B0503020204020204" pitchFamily="34" charset="-122"/>
                <a:ea typeface="微软雅黑" panose="020B0503020204020204" pitchFamily="34" charset="-122"/>
              </a:rPr>
              <a:t>1.3.1                                    </a:t>
            </a:r>
            <a:r>
              <a:rPr lang="zh-CN" altLang="zh-CN" sz="2000" b="1" dirty="0">
                <a:solidFill>
                  <a:schemeClr val="bg1"/>
                </a:solidFill>
                <a:latin typeface="Times New Roman" panose="02020603050405020304" pitchFamily="18" charset="0"/>
                <a:ea typeface="微软雅黑" panose="020B0503020204020204" pitchFamily="34" charset="-122"/>
              </a:rPr>
              <a:t>互联网的边缘部分</a:t>
            </a:r>
            <a:endParaRPr lang="en-US" altLang="zh-CN" sz="2000" b="1" dirty="0">
              <a:solidFill>
                <a:schemeClr val="bg1"/>
              </a:solidFill>
              <a:latin typeface="微软雅黑" panose="020B0503020204020204" pitchFamily="34" charset="-122"/>
              <a:ea typeface="微软雅黑" panose="020B0503020204020204" pitchFamily="34" charset="-122"/>
            </a:endParaRPr>
          </a:p>
          <a:p>
            <a:pPr eaLnBrk="0" hangingPunct="0">
              <a:lnSpc>
                <a:spcPct val="200000"/>
              </a:lnSpc>
            </a:pPr>
            <a:r>
              <a:rPr lang="en-US" altLang="zh-CN" sz="2000" b="1" dirty="0">
                <a:solidFill>
                  <a:schemeClr val="bg1"/>
                </a:solidFill>
                <a:latin typeface="微软雅黑" panose="020B0503020204020204" pitchFamily="34" charset="-122"/>
                <a:ea typeface="微软雅黑" panose="020B0503020204020204" pitchFamily="34" charset="-122"/>
              </a:rPr>
              <a:t>1.3.2                                    </a:t>
            </a:r>
            <a:r>
              <a:rPr lang="zh-CN" altLang="zh-CN" sz="2000" b="1" dirty="0">
                <a:solidFill>
                  <a:schemeClr val="bg1"/>
                </a:solidFill>
                <a:latin typeface="Times New Roman" panose="02020603050405020304" pitchFamily="18" charset="0"/>
                <a:ea typeface="微软雅黑" panose="020B0503020204020204" pitchFamily="34" charset="-122"/>
              </a:rPr>
              <a:t>互联网的核心部分</a:t>
            </a:r>
            <a:endParaRPr lang="fr-FR" altLang="zh-CN" sz="20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a:t>从互联网的工作方式上看，可以划分为两大块：</a:t>
            </a:r>
            <a:endParaRPr lang="en-US" altLang="zh-CN"/>
          </a:p>
          <a:p>
            <a:r>
              <a:rPr lang="zh-CN" altLang="en-US"/>
              <a:t>边缘部分： 由所有连接在互联网上的主机组成，由用户直接使用，用来进行通信（传送数据、音频或视频）和资源共享。</a:t>
            </a:r>
          </a:p>
          <a:p>
            <a:r>
              <a:rPr lang="zh-CN" altLang="en-US"/>
              <a:t>核心部分：由大量网络和连接这些网络的路由器组成，为边缘部分提供服务（提供连通性和交换）。</a:t>
            </a:r>
            <a:endParaRPr lang="en-US" altLang="zh-CN"/>
          </a:p>
          <a:p>
            <a:endParaRPr lang="zh-CN" altLang="en-US" dirty="0"/>
          </a:p>
        </p:txBody>
      </p:sp>
      <p:sp>
        <p:nvSpPr>
          <p:cNvPr id="7" name="标题 6">
            <a:extLst>
              <a:ext uri="{FF2B5EF4-FFF2-40B4-BE49-F238E27FC236}">
                <a16:creationId xmlns:a16="http://schemas.microsoft.com/office/drawing/2014/main" id="{F197BBDB-7D6B-49DD-5863-D9CD21E82D5C}"/>
              </a:ext>
            </a:extLst>
          </p:cNvPr>
          <p:cNvSpPr>
            <a:spLocks noGrp="1"/>
          </p:cNvSpPr>
          <p:nvPr>
            <p:ph type="title"/>
          </p:nvPr>
        </p:nvSpPr>
        <p:spPr/>
        <p:txBody>
          <a:bodyPr/>
          <a:lstStyle/>
          <a:p>
            <a:r>
              <a:rPr lang="fr-FR" altLang="zh-CN" dirty="0"/>
              <a:t>1.3  </a:t>
            </a:r>
            <a:r>
              <a:rPr lang="zh-CN" altLang="en-US" dirty="0"/>
              <a:t>互联网的组成</a:t>
            </a:r>
          </a:p>
        </p:txBody>
      </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标题 84">
            <a:extLst>
              <a:ext uri="{FF2B5EF4-FFF2-40B4-BE49-F238E27FC236}">
                <a16:creationId xmlns:a16="http://schemas.microsoft.com/office/drawing/2014/main" id="{145B4004-D478-45F0-09F7-FE83A86ABF7E}"/>
              </a:ext>
            </a:extLst>
          </p:cNvPr>
          <p:cNvSpPr>
            <a:spLocks noGrp="1"/>
          </p:cNvSpPr>
          <p:nvPr>
            <p:ph type="title"/>
          </p:nvPr>
        </p:nvSpPr>
        <p:spPr/>
        <p:txBody>
          <a:bodyPr/>
          <a:lstStyle/>
          <a:p>
            <a:r>
              <a:rPr lang="fr-FR" altLang="zh-CN" dirty="0"/>
              <a:t>1.3  </a:t>
            </a:r>
            <a:r>
              <a:rPr lang="zh-CN" altLang="en-US" dirty="0"/>
              <a:t>互联网的组成</a:t>
            </a:r>
          </a:p>
        </p:txBody>
      </p:sp>
      <p:grpSp>
        <p:nvGrpSpPr>
          <p:cNvPr id="5" name="Group 174"/>
          <p:cNvGrpSpPr/>
          <p:nvPr/>
        </p:nvGrpSpPr>
        <p:grpSpPr bwMode="auto">
          <a:xfrm>
            <a:off x="1385888" y="1263429"/>
            <a:ext cx="6299200" cy="3198812"/>
            <a:chOff x="411" y="1240"/>
            <a:chExt cx="4856" cy="2466"/>
          </a:xfrm>
        </p:grpSpPr>
        <p:sp>
          <p:nvSpPr>
            <p:cNvPr id="6"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pic>
          <p:nvPicPr>
            <p:cNvPr id="8"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 name="Group 124"/>
            <p:cNvGrpSpPr/>
            <p:nvPr/>
          </p:nvGrpSpPr>
          <p:grpSpPr bwMode="auto">
            <a:xfrm>
              <a:off x="1385" y="2250"/>
              <a:ext cx="568" cy="309"/>
              <a:chOff x="130" y="1123"/>
              <a:chExt cx="568" cy="309"/>
            </a:xfrm>
          </p:grpSpPr>
          <p:sp>
            <p:nvSpPr>
              <p:cNvPr id="74"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0"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1"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2"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3"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10"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78"/>
            <p:cNvSpPr txBox="1">
              <a:spLocks noChangeArrowheads="1"/>
            </p:cNvSpPr>
            <p:nvPr/>
          </p:nvSpPr>
          <p:spPr bwMode="auto">
            <a:xfrm>
              <a:off x="2204" y="2345"/>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CC00CC"/>
                  </a:solidFill>
                  <a:latin typeface="Times New Roman" panose="02020603050405020304" pitchFamily="18" charset="0"/>
                  <a:ea typeface="微软雅黑" panose="020B0503020204020204" pitchFamily="34" charset="-122"/>
                </a:rPr>
                <a:t>互联网的核心部分</a:t>
              </a:r>
            </a:p>
          </p:txBody>
        </p:sp>
        <p:sp>
          <p:nvSpPr>
            <p:cNvPr id="15" name="Text Box 79"/>
            <p:cNvSpPr txBox="1">
              <a:spLocks noChangeArrowheads="1"/>
            </p:cNvSpPr>
            <p:nvPr/>
          </p:nvSpPr>
          <p:spPr bwMode="auto">
            <a:xfrm>
              <a:off x="2190" y="1436"/>
              <a:ext cx="1408" cy="261"/>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6" name="Text Box 1523"/>
            <p:cNvSpPr txBox="1">
              <a:spLocks noChangeArrowheads="1"/>
            </p:cNvSpPr>
            <p:nvPr/>
          </p:nvSpPr>
          <p:spPr bwMode="auto">
            <a:xfrm>
              <a:off x="670" y="2074"/>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主机</a:t>
              </a:r>
            </a:p>
          </p:txBody>
        </p:sp>
        <p:pic>
          <p:nvPicPr>
            <p:cNvPr id="17" name="Picture 115"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16"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9" name="Picture 117"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 name="Picture 118"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119"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 name="Picture 120"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21" descr="jisuanji"/>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 name="Text Box 1523"/>
            <p:cNvSpPr txBox="1">
              <a:spLocks noChangeArrowheads="1"/>
            </p:cNvSpPr>
            <p:nvPr/>
          </p:nvSpPr>
          <p:spPr bwMode="auto">
            <a:xfrm>
              <a:off x="2024" y="1873"/>
              <a:ext cx="498"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路由器</a:t>
              </a:r>
            </a:p>
          </p:txBody>
        </p:sp>
        <p:sp>
          <p:nvSpPr>
            <p:cNvPr id="25" name="Text Box 1523"/>
            <p:cNvSpPr txBox="1">
              <a:spLocks noChangeArrowheads="1"/>
            </p:cNvSpPr>
            <p:nvPr/>
          </p:nvSpPr>
          <p:spPr bwMode="auto">
            <a:xfrm>
              <a:off x="1482" y="2312"/>
              <a:ext cx="380" cy="2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grpSp>
          <p:nvGrpSpPr>
            <p:cNvPr id="26" name="Group 126"/>
            <p:cNvGrpSpPr/>
            <p:nvPr/>
          </p:nvGrpSpPr>
          <p:grpSpPr bwMode="auto">
            <a:xfrm>
              <a:off x="2182" y="2681"/>
              <a:ext cx="568" cy="309"/>
              <a:chOff x="130" y="1123"/>
              <a:chExt cx="568" cy="309"/>
            </a:xfrm>
          </p:grpSpPr>
          <p:sp>
            <p:nvSpPr>
              <p:cNvPr id="63"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9"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0"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1"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2"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3"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7" name="Group 138"/>
            <p:cNvGrpSpPr/>
            <p:nvPr/>
          </p:nvGrpSpPr>
          <p:grpSpPr bwMode="auto">
            <a:xfrm>
              <a:off x="3243" y="2659"/>
              <a:ext cx="568" cy="309"/>
              <a:chOff x="130" y="1123"/>
              <a:chExt cx="568" cy="309"/>
            </a:xfrm>
          </p:grpSpPr>
          <p:sp>
            <p:nvSpPr>
              <p:cNvPr id="5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8" name="Group 150"/>
            <p:cNvGrpSpPr/>
            <p:nvPr/>
          </p:nvGrpSpPr>
          <p:grpSpPr bwMode="auto">
            <a:xfrm>
              <a:off x="3706" y="2216"/>
              <a:ext cx="568" cy="309"/>
              <a:chOff x="130" y="1123"/>
              <a:chExt cx="568" cy="309"/>
            </a:xfrm>
          </p:grpSpPr>
          <p:sp>
            <p:nvSpPr>
              <p:cNvPr id="4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62"/>
            <p:cNvGrpSpPr/>
            <p:nvPr/>
          </p:nvGrpSpPr>
          <p:grpSpPr bwMode="auto">
            <a:xfrm>
              <a:off x="2643" y="1933"/>
              <a:ext cx="568" cy="309"/>
              <a:chOff x="130" y="1123"/>
              <a:chExt cx="568" cy="309"/>
            </a:xfrm>
          </p:grpSpPr>
          <p:sp>
            <p:nvSpPr>
              <p:cNvPr id="3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Tree>
    <p:extLst>
      <p:ext uri="{BB962C8B-B14F-4D97-AF65-F5344CB8AC3E}">
        <p14:creationId xmlns:p14="http://schemas.microsoft.com/office/powerpoint/2010/main" val="260232260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zh-CN" altLang="en-US" dirty="0"/>
              <a:t>处在互联网边缘部分的就是连接在互联网上的所有的主机。这些主机又称为端系统 </a:t>
            </a:r>
            <a:r>
              <a:rPr lang="en-US" altLang="zh-CN" dirty="0"/>
              <a:t>(end system)</a:t>
            </a:r>
            <a:r>
              <a:rPr lang="zh-CN" altLang="en-US" dirty="0"/>
              <a:t>。</a:t>
            </a:r>
            <a:endParaRPr lang="en-US" altLang="zh-CN" dirty="0"/>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r>
              <a:rPr lang="zh-CN" altLang="en-US" dirty="0"/>
              <a:t>。</a:t>
            </a:r>
          </a:p>
        </p:txBody>
      </p:sp>
      <p:sp>
        <p:nvSpPr>
          <p:cNvPr id="7" name="标题 6">
            <a:extLst>
              <a:ext uri="{FF2B5EF4-FFF2-40B4-BE49-F238E27FC236}">
                <a16:creationId xmlns:a16="http://schemas.microsoft.com/office/drawing/2014/main" id="{44DCAF4E-87CC-409F-1F3F-A4568A7F5BF1}"/>
              </a:ext>
            </a:extLst>
          </p:cNvPr>
          <p:cNvSpPr>
            <a:spLocks noGrp="1"/>
          </p:cNvSpPr>
          <p:nvPr>
            <p:ph type="title"/>
          </p:nvPr>
        </p:nvSpPr>
        <p:spPr/>
        <p:txBody>
          <a:bodyPr/>
          <a:lstStyle/>
          <a:p>
            <a:r>
              <a:rPr lang="en-US" altLang="zh-CN" dirty="0"/>
              <a:t>1.3.1  </a:t>
            </a:r>
            <a:r>
              <a:rPr lang="zh-CN" altLang="en-US" dirty="0"/>
              <a:t>互联网的边缘部分</a:t>
            </a:r>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01A88-0BF5-8DFD-BDDB-6E9BEA6E7C7B}"/>
              </a:ext>
            </a:extLst>
          </p:cNvPr>
          <p:cNvSpPr>
            <a:spLocks noGrp="1"/>
          </p:cNvSpPr>
          <p:nvPr>
            <p:ph type="title"/>
          </p:nvPr>
        </p:nvSpPr>
        <p:spPr/>
        <p:txBody>
          <a:bodyPr/>
          <a:lstStyle/>
          <a:p>
            <a:r>
              <a:rPr lang="en-US" altLang="zh-CN"/>
              <a:t>1.3.1  </a:t>
            </a:r>
            <a:r>
              <a:rPr lang="zh-CN" altLang="en-US"/>
              <a:t>互联网的边缘部分</a:t>
            </a:r>
            <a:endParaRPr lang="zh-CN" altLang="en-US" dirty="0"/>
          </a:p>
        </p:txBody>
      </p:sp>
      <p:sp>
        <p:nvSpPr>
          <p:cNvPr id="6" name="Oval 4"/>
          <p:cNvSpPr>
            <a:spLocks noChangeArrowheads="1"/>
          </p:cNvSpPr>
          <p:nvPr/>
        </p:nvSpPr>
        <p:spPr bwMode="auto">
          <a:xfrm>
            <a:off x="1385888"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401595"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 name="Text Box 78"/>
          <p:cNvSpPr txBox="1">
            <a:spLocks noChangeArrowheads="1"/>
          </p:cNvSpPr>
          <p:nvPr/>
        </p:nvSpPr>
        <p:spPr bwMode="auto">
          <a:xfrm>
            <a:off x="3711766" y="2664631"/>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a:solidFill>
                  <a:srgbClr val="CC00CC"/>
                </a:solidFill>
                <a:latin typeface="Times New Roman" pitchFamily="18" charset="0"/>
                <a:ea typeface="微软雅黑" pitchFamily="34" charset="-122"/>
              </a:rPr>
              <a:t>互联网的核心部分</a:t>
            </a:r>
          </a:p>
        </p:txBody>
      </p:sp>
      <p:sp>
        <p:nvSpPr>
          <p:cNvPr id="9" name="Text Box 79"/>
          <p:cNvSpPr txBox="1">
            <a:spLocks noChangeArrowheads="1"/>
          </p:cNvSpPr>
          <p:nvPr/>
        </p:nvSpPr>
        <p:spPr bwMode="auto">
          <a:xfrm>
            <a:off x="3693606" y="1485507"/>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互联网的边缘部分</a:t>
            </a:r>
          </a:p>
        </p:txBody>
      </p:sp>
      <p:pic>
        <p:nvPicPr>
          <p:cNvPr id="10" name="Picture 115"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28424" y="1602974"/>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1" name="组合 10"/>
          <p:cNvGrpSpPr/>
          <p:nvPr/>
        </p:nvGrpSpPr>
        <p:grpSpPr>
          <a:xfrm>
            <a:off x="2064845" y="1706027"/>
            <a:ext cx="492936" cy="652481"/>
            <a:chOff x="2352292" y="1506329"/>
            <a:chExt cx="492936" cy="652481"/>
          </a:xfrm>
        </p:grpSpPr>
        <p:sp>
          <p:nvSpPr>
            <p:cNvPr id="12" name="Text Box 1523"/>
            <p:cNvSpPr txBox="1">
              <a:spLocks noChangeArrowheads="1"/>
            </p:cNvSpPr>
            <p:nvPr/>
          </p:nvSpPr>
          <p:spPr bwMode="auto">
            <a:xfrm>
              <a:off x="2352292" y="1506329"/>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主机</a:t>
              </a:r>
            </a:p>
          </p:txBody>
        </p:sp>
        <p:pic>
          <p:nvPicPr>
            <p:cNvPr id="13" name="Picture 11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95099" y="174760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2617"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21153"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8570"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334851" y="3126229"/>
            <a:ext cx="800220" cy="338554"/>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eaLnBrk="0" hangingPunct="0"/>
            <a:r>
              <a:rPr kumimoji="1" lang="zh-CN" altLang="en-US" sz="1600" b="1" dirty="0">
                <a:solidFill>
                  <a:srgbClr val="0000FF"/>
                </a:solidFill>
                <a:latin typeface="Times New Roman" pitchFamily="18" charset="0"/>
                <a:ea typeface="微软雅黑" pitchFamily="34" charset="-122"/>
              </a:rPr>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165921" y="3779710"/>
            <a:ext cx="1427543" cy="545087"/>
          </a:xfrm>
          <a:prstGeom prst="rect">
            <a:avLst/>
          </a:prstGeom>
        </p:spPr>
      </p:pic>
      <p:grpSp>
        <p:nvGrpSpPr>
          <p:cNvPr id="19" name="组合 18"/>
          <p:cNvGrpSpPr/>
          <p:nvPr/>
        </p:nvGrpSpPr>
        <p:grpSpPr>
          <a:xfrm>
            <a:off x="1737913" y="2404333"/>
            <a:ext cx="748923" cy="614889"/>
            <a:chOff x="1598523" y="2132245"/>
            <a:chExt cx="748923" cy="614889"/>
          </a:xfrm>
        </p:grpSpPr>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13758" y="2345811"/>
              <a:ext cx="254205" cy="401323"/>
            </a:xfrm>
            <a:prstGeom prst="rect">
              <a:avLst/>
            </a:prstGeom>
          </p:spPr>
        </p:pic>
        <p:sp>
          <p:nvSpPr>
            <p:cNvPr id="21" name="Text Box 1523"/>
            <p:cNvSpPr txBox="1">
              <a:spLocks noChangeArrowheads="1"/>
            </p:cNvSpPr>
            <p:nvPr/>
          </p:nvSpPr>
          <p:spPr bwMode="auto">
            <a:xfrm>
              <a:off x="1598523" y="2132245"/>
              <a:ext cx="74892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050" b="1" dirty="0">
                  <a:solidFill>
                    <a:srgbClr val="0000FF"/>
                  </a:solidFill>
                  <a:latin typeface="Times New Roman" pitchFamily="18" charset="0"/>
                  <a:ea typeface="微软雅黑" pitchFamily="34" charset="-122"/>
                </a:rPr>
                <a:t>智能手机</a:t>
              </a:r>
            </a:p>
          </p:txBody>
        </p:sp>
      </p:grpSp>
      <p:grpSp>
        <p:nvGrpSpPr>
          <p:cNvPr id="22" name="组合 21"/>
          <p:cNvGrpSpPr/>
          <p:nvPr/>
        </p:nvGrpSpPr>
        <p:grpSpPr>
          <a:xfrm>
            <a:off x="1850822" y="3045231"/>
            <a:ext cx="800219" cy="672111"/>
            <a:chOff x="1958668" y="2963511"/>
            <a:chExt cx="800219" cy="672111"/>
          </a:xfrm>
        </p:grpSpPr>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202536" y="3167808"/>
              <a:ext cx="350861" cy="467814"/>
            </a:xfrm>
            <a:prstGeom prst="rect">
              <a:avLst/>
            </a:prstGeom>
          </p:spPr>
        </p:pic>
        <p:sp>
          <p:nvSpPr>
            <p:cNvPr id="24" name="Text Box 1523"/>
            <p:cNvSpPr txBox="1">
              <a:spLocks noChangeArrowheads="1"/>
            </p:cNvSpPr>
            <p:nvPr/>
          </p:nvSpPr>
          <p:spPr bwMode="auto">
            <a:xfrm>
              <a:off x="1958668" y="2963511"/>
              <a:ext cx="800219"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en-US" altLang="zh-CN" sz="1200" b="1" dirty="0">
                  <a:solidFill>
                    <a:srgbClr val="0000FF"/>
                  </a:solidFill>
                  <a:latin typeface="Times New Roman" pitchFamily="18" charset="0"/>
                  <a:ea typeface="微软雅黑" pitchFamily="34" charset="-122"/>
                </a:rPr>
                <a:t>IP</a:t>
              </a:r>
              <a:r>
                <a:rPr kumimoji="1" lang="zh-CN" altLang="en-US" sz="1200" b="1" dirty="0">
                  <a:solidFill>
                    <a:srgbClr val="0000FF"/>
                  </a:solidFill>
                  <a:latin typeface="Times New Roman" pitchFamily="18" charset="0"/>
                  <a:ea typeface="微软雅黑" pitchFamily="34" charset="-122"/>
                </a:rPr>
                <a:t>摄像头</a:t>
              </a:r>
            </a:p>
          </p:txBody>
        </p:sp>
      </p:grpSp>
      <p:sp>
        <p:nvSpPr>
          <p:cNvPr id="25" name="Text Box 1523"/>
          <p:cNvSpPr txBox="1">
            <a:spLocks noChangeArrowheads="1"/>
          </p:cNvSpPr>
          <p:nvPr/>
        </p:nvSpPr>
        <p:spPr bwMode="auto">
          <a:xfrm>
            <a:off x="2688612" y="3602648"/>
            <a:ext cx="141577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大型或超级计算机</a:t>
            </a:r>
          </a:p>
        </p:txBody>
      </p:sp>
      <p:cxnSp>
        <p:nvCxnSpPr>
          <p:cNvPr id="26" name="直接箭头连接符 25"/>
          <p:cNvCxnSpPr>
            <a:stCxn id="17" idx="3"/>
          </p:cNvCxnSpPr>
          <p:nvPr/>
        </p:nvCxnSpPr>
        <p:spPr>
          <a:xfrm flipV="1">
            <a:off x="1135071"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stCxn id="17" idx="3"/>
          </p:cNvCxnSpPr>
          <p:nvPr/>
        </p:nvCxnSpPr>
        <p:spPr>
          <a:xfrm flipV="1">
            <a:off x="1135071"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stCxn id="17" idx="3"/>
          </p:cNvCxnSpPr>
          <p:nvPr/>
        </p:nvCxnSpPr>
        <p:spPr>
          <a:xfrm>
            <a:off x="1135071"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stCxn id="17" idx="3"/>
          </p:cNvCxnSpPr>
          <p:nvPr/>
        </p:nvCxnSpPr>
        <p:spPr>
          <a:xfrm>
            <a:off x="1135071"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631675"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533780" y="3088127"/>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200" b="1" dirty="0">
                <a:solidFill>
                  <a:srgbClr val="0000FF"/>
                </a:solidFill>
                <a:latin typeface="Times New Roman" pitchFamily="18" charset="0"/>
                <a:ea typeface="微软雅黑" pitchFamily="34" charset="-122"/>
              </a:rPr>
              <a:t>服务器</a:t>
            </a:r>
          </a:p>
        </p:txBody>
      </p:sp>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3"/>
          <p:cNvSpPr>
            <a:spLocks noChangeArrowheads="1"/>
          </p:cNvSpPr>
          <p:nvPr/>
        </p:nvSpPr>
        <p:spPr bwMode="auto">
          <a:xfrm>
            <a:off x="1077985" y="1168086"/>
            <a:ext cx="6804181" cy="1117915"/>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8" name="矩形 7"/>
          <p:cNvSpPr/>
          <p:nvPr/>
        </p:nvSpPr>
        <p:spPr>
          <a:xfrm>
            <a:off x="1241880" y="1325894"/>
            <a:ext cx="6495908" cy="759182"/>
          </a:xfrm>
          <a:prstGeom prst="rect">
            <a:avLst/>
          </a:prstGeom>
        </p:spPr>
        <p:txBody>
          <a:bodyPr wrap="square">
            <a:spAutoFit/>
          </a:bodyPr>
          <a:lstStyle/>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实际上是指：</a:t>
            </a:r>
            <a:endParaRPr lang="en-US" altLang="zh-CN" sz="2000" b="1" dirty="0">
              <a:solidFill>
                <a:schemeClr val="bg1"/>
              </a:solidFill>
              <a:latin typeface="微软雅黑" pitchFamily="34" charset="-122"/>
              <a:ea typeface="微软雅黑" pitchFamily="34" charset="-122"/>
            </a:endParaRPr>
          </a:p>
          <a:p>
            <a:pPr eaLnBrk="0" fontAlgn="auto" hangingPunct="0">
              <a:lnSpc>
                <a:spcPts val="2600"/>
              </a:lnSpc>
              <a:spcBef>
                <a:spcPts val="0"/>
              </a:spcBef>
              <a:spcAft>
                <a:spcPts val="0"/>
              </a:spcAft>
            </a:pPr>
            <a:r>
              <a:rPr lang="zh-CN" altLang="en-US" sz="2000" b="1" dirty="0">
                <a:solidFill>
                  <a:schemeClr val="bg1"/>
                </a:solidFill>
                <a:latin typeface="微软雅黑" pitchFamily="34" charset="-122"/>
                <a:ea typeface="微软雅黑" pitchFamily="34" charset="-122"/>
              </a:rPr>
              <a:t>主机 </a:t>
            </a:r>
            <a:r>
              <a:rPr lang="en-US" altLang="zh-CN" sz="2000" b="1" dirty="0">
                <a:solidFill>
                  <a:schemeClr val="bg1"/>
                </a:solidFill>
                <a:latin typeface="微软雅黑" pitchFamily="34" charset="-122"/>
                <a:ea typeface="微软雅黑" pitchFamily="34" charset="-122"/>
              </a:rPr>
              <a:t>A </a:t>
            </a:r>
            <a:r>
              <a:rPr lang="zh-CN" altLang="en-US" sz="2000" b="1" dirty="0">
                <a:solidFill>
                  <a:schemeClr val="bg1"/>
                </a:solidFill>
                <a:latin typeface="微软雅黑" pitchFamily="34" charset="-122"/>
                <a:ea typeface="微软雅黑" pitchFamily="34" charset="-122"/>
              </a:rPr>
              <a:t>的某个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和主机 </a:t>
            </a:r>
            <a:r>
              <a:rPr lang="en-US" altLang="zh-CN" sz="2000" b="1" dirty="0">
                <a:solidFill>
                  <a:schemeClr val="bg1"/>
                </a:solidFill>
                <a:latin typeface="微软雅黑" pitchFamily="34" charset="-122"/>
                <a:ea typeface="微软雅黑" pitchFamily="34" charset="-122"/>
              </a:rPr>
              <a:t>B </a:t>
            </a:r>
            <a:r>
              <a:rPr lang="zh-CN" altLang="en-US" sz="2000" b="1" dirty="0">
                <a:solidFill>
                  <a:schemeClr val="bg1"/>
                </a:solidFill>
                <a:latin typeface="微软雅黑" pitchFamily="34" charset="-122"/>
                <a:ea typeface="微软雅黑" pitchFamily="34" charset="-122"/>
              </a:rPr>
              <a:t>上的另一个</a:t>
            </a:r>
            <a:r>
              <a:rPr lang="zh-CN" altLang="en-US" sz="2000" b="1" dirty="0">
                <a:solidFill>
                  <a:srgbClr val="FFFF00"/>
                </a:solidFill>
                <a:latin typeface="微软雅黑" pitchFamily="34" charset="-122"/>
                <a:ea typeface="微软雅黑" pitchFamily="34" charset="-122"/>
              </a:rPr>
              <a:t>进程</a:t>
            </a:r>
            <a:r>
              <a:rPr lang="zh-CN" altLang="en-US" sz="2000" b="1" dirty="0">
                <a:solidFill>
                  <a:schemeClr val="bg1"/>
                </a:solidFill>
                <a:latin typeface="微软雅黑" pitchFamily="34" charset="-122"/>
                <a:ea typeface="微软雅黑" pitchFamily="34" charset="-122"/>
              </a:rPr>
              <a:t>进行通信。</a:t>
            </a:r>
          </a:p>
        </p:txBody>
      </p:sp>
      <p:sp>
        <p:nvSpPr>
          <p:cNvPr id="2" name="文本占位符 1"/>
          <p:cNvSpPr>
            <a:spLocks noGrp="1"/>
          </p:cNvSpPr>
          <p:nvPr>
            <p:ph sz="quarter" idx="4294967295"/>
          </p:nvPr>
        </p:nvSpPr>
        <p:spPr>
          <a:xfrm>
            <a:off x="612000" y="720000"/>
            <a:ext cx="7920000" cy="3960000"/>
          </a:xfrm>
        </p:spPr>
        <p:txBody>
          <a:bodyPr>
            <a:normAutofit/>
          </a:bodyPr>
          <a:lstStyle/>
          <a:p>
            <a:r>
              <a:rPr lang="zh-CN" altLang="en-US" dirty="0"/>
              <a:t>“计算机之间通信”的含义</a:t>
            </a:r>
          </a:p>
        </p:txBody>
      </p:sp>
      <p:sp>
        <p:nvSpPr>
          <p:cNvPr id="6" name="标题 5">
            <a:extLst>
              <a:ext uri="{FF2B5EF4-FFF2-40B4-BE49-F238E27FC236}">
                <a16:creationId xmlns:a16="http://schemas.microsoft.com/office/drawing/2014/main" id="{C664118C-9955-3A4B-C1C5-72890FAF66A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882279671"/>
              </p:ext>
            </p:extLst>
          </p:nvPr>
        </p:nvGraphicFramePr>
        <p:xfrm>
          <a:off x="1195343" y="1213012"/>
          <a:ext cx="6618514" cy="1828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标题 4">
            <a:extLst>
              <a:ext uri="{FF2B5EF4-FFF2-40B4-BE49-F238E27FC236}">
                <a16:creationId xmlns:a16="http://schemas.microsoft.com/office/drawing/2014/main" id="{166E4E2F-793E-4254-4C6D-54777ABF65F5}"/>
              </a:ext>
            </a:extLst>
          </p:cNvPr>
          <p:cNvSpPr>
            <a:spLocks noGrp="1"/>
          </p:cNvSpPr>
          <p:nvPr>
            <p:ph type="title"/>
          </p:nvPr>
        </p:nvSpPr>
        <p:spPr/>
        <p:txBody>
          <a:bodyPr/>
          <a:lstStyle/>
          <a:p>
            <a:r>
              <a:rPr lang="zh-CN" altLang="en-US" dirty="0"/>
              <a:t>端系统之间的两种通信方式</a:t>
            </a:r>
          </a:p>
        </p:txBody>
      </p:sp>
    </p:spTree>
    <p:extLst>
      <p:ext uri="{BB962C8B-B14F-4D97-AF65-F5344CB8AC3E}">
        <p14:creationId xmlns:p14="http://schemas.microsoft.com/office/powerpoint/2010/main" val="2362936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标题 48">
            <a:extLst>
              <a:ext uri="{FF2B5EF4-FFF2-40B4-BE49-F238E27FC236}">
                <a16:creationId xmlns:a16="http://schemas.microsoft.com/office/drawing/2014/main" id="{7473853B-CCA5-A640-1482-936A2880FD96}"/>
              </a:ext>
            </a:extLst>
          </p:cNvPr>
          <p:cNvSpPr>
            <a:spLocks noGrp="1"/>
          </p:cNvSpPr>
          <p:nvPr>
            <p:ph type="title"/>
          </p:nvPr>
        </p:nvSpPr>
        <p:spPr>
          <a:xfrm>
            <a:off x="612000" y="216000"/>
            <a:ext cx="7920000" cy="369332"/>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3" name="内容占位符 2"/>
          <p:cNvSpPr>
            <a:spLocks noGrp="1"/>
          </p:cNvSpPr>
          <p:nvPr>
            <p:ph sz="quarter" idx="10"/>
          </p:nvPr>
        </p:nvSpPr>
        <p:spPr>
          <a:xfrm>
            <a:off x="612000" y="720000"/>
            <a:ext cx="7920000" cy="3960000"/>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p>
        </p:txBody>
      </p:sp>
      <p:sp>
        <p:nvSpPr>
          <p:cNvPr id="5" name="Oval 4"/>
          <p:cNvSpPr>
            <a:spLocks noChangeArrowheads="1"/>
          </p:cNvSpPr>
          <p:nvPr/>
        </p:nvSpPr>
        <p:spPr bwMode="auto">
          <a:xfrm>
            <a:off x="3970351" y="1149927"/>
            <a:ext cx="4240165" cy="296856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Line 6"/>
          <p:cNvSpPr>
            <a:spLocks noChangeShapeType="1"/>
          </p:cNvSpPr>
          <p:nvPr/>
        </p:nvSpPr>
        <p:spPr bwMode="auto">
          <a:xfrm flipH="1" flipV="1">
            <a:off x="4419387" y="2552134"/>
            <a:ext cx="645802" cy="16459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flipH="1">
            <a:off x="6869127" y="2843733"/>
            <a:ext cx="576263" cy="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flipH="1">
            <a:off x="6445265" y="1638820"/>
            <a:ext cx="503237" cy="7223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flipH="1" flipV="1">
            <a:off x="6384940" y="3116783"/>
            <a:ext cx="320675" cy="3683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Line 10"/>
          <p:cNvSpPr>
            <a:spLocks noChangeShapeType="1"/>
          </p:cNvSpPr>
          <p:nvPr/>
        </p:nvSpPr>
        <p:spPr bwMode="auto">
          <a:xfrm>
            <a:off x="5243527" y="1732483"/>
            <a:ext cx="320675" cy="5302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Line 11"/>
          <p:cNvSpPr>
            <a:spLocks noChangeShapeType="1"/>
          </p:cNvSpPr>
          <p:nvPr/>
        </p:nvSpPr>
        <p:spPr bwMode="auto">
          <a:xfrm flipV="1">
            <a:off x="5429265" y="3058045"/>
            <a:ext cx="166687" cy="460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Text Box 16"/>
          <p:cNvSpPr txBox="1">
            <a:spLocks noChangeArrowheads="1"/>
          </p:cNvSpPr>
          <p:nvPr/>
        </p:nvSpPr>
        <p:spPr bwMode="auto">
          <a:xfrm>
            <a:off x="3437745" y="1669001"/>
            <a:ext cx="822325"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endParaRPr kumimoji="1" lang="en-US" altLang="zh-CN" sz="1200" b="1" dirty="0">
              <a:latin typeface="微软雅黑" panose="020B0503020204020204" pitchFamily="34" charset="-122"/>
              <a:ea typeface="微软雅黑" panose="020B0503020204020204" pitchFamily="34" charset="-122"/>
            </a:endParaRPr>
          </a:p>
          <a:p>
            <a:pPr algn="ctr"/>
            <a:r>
              <a:rPr kumimoji="1" lang="zh-CN" altLang="en-US" sz="1200" b="1" dirty="0">
                <a:latin typeface="微软雅黑" panose="020B0503020204020204" pitchFamily="34" charset="-122"/>
                <a:ea typeface="微软雅黑" panose="020B0503020204020204" pitchFamily="34" charset="-122"/>
              </a:rPr>
              <a:t>客户程序</a:t>
            </a:r>
          </a:p>
        </p:txBody>
      </p:sp>
      <p:grpSp>
        <p:nvGrpSpPr>
          <p:cNvPr id="14" name="Group 18"/>
          <p:cNvGrpSpPr/>
          <p:nvPr/>
        </p:nvGrpSpPr>
        <p:grpSpPr bwMode="auto">
          <a:xfrm>
            <a:off x="4869334" y="1839086"/>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b="1" dirty="0">
                <a:solidFill>
                  <a:srgbClr val="368AD6"/>
                </a:solidFill>
                <a:latin typeface="+mn-lt"/>
                <a:ea typeface="微软雅黑 Light" panose="020B0502040204020203" pitchFamily="34" charset="-122"/>
              </a:endParaRPr>
            </a:p>
          </p:txBody>
        </p:sp>
      </p:grpSp>
      <p:sp>
        <p:nvSpPr>
          <p:cNvPr id="24" name="Text Box 28"/>
          <p:cNvSpPr txBox="1">
            <a:spLocks noChangeArrowheads="1"/>
          </p:cNvSpPr>
          <p:nvPr/>
        </p:nvSpPr>
        <p:spPr bwMode="auto">
          <a:xfrm>
            <a:off x="5622940" y="1387995"/>
            <a:ext cx="903287"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25" name="Text Box 29"/>
          <p:cNvSpPr txBox="1">
            <a:spLocks noChangeArrowheads="1"/>
          </p:cNvSpPr>
          <p:nvPr/>
        </p:nvSpPr>
        <p:spPr bwMode="auto">
          <a:xfrm>
            <a:off x="5677456" y="2983414"/>
            <a:ext cx="903288" cy="307975"/>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26" name="Text Box 31"/>
          <p:cNvSpPr txBox="1">
            <a:spLocks noChangeArrowheads="1"/>
          </p:cNvSpPr>
          <p:nvPr/>
        </p:nvSpPr>
        <p:spPr bwMode="auto">
          <a:xfrm>
            <a:off x="7968539" y="1549250"/>
            <a:ext cx="1016000" cy="461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latin typeface="微软雅黑" panose="020B0503020204020204" pitchFamily="34" charset="-122"/>
                <a:ea typeface="微软雅黑" panose="020B0503020204020204" pitchFamily="34" charset="-122"/>
              </a:rPr>
              <a:t>运行</a:t>
            </a:r>
          </a:p>
          <a:p>
            <a:pPr algn="ctr"/>
            <a:r>
              <a:rPr kumimoji="1" lang="zh-CN" altLang="en-US" sz="1200" b="1" dirty="0">
                <a:latin typeface="微软雅黑" panose="020B0503020204020204" pitchFamily="34" charset="-122"/>
                <a:ea typeface="微软雅黑" panose="020B0503020204020204" pitchFamily="34" charset="-122"/>
              </a:rPr>
              <a:t>服务器程序</a:t>
            </a:r>
          </a:p>
        </p:txBody>
      </p:sp>
      <p:sp>
        <p:nvSpPr>
          <p:cNvPr id="27" name="Line 33"/>
          <p:cNvSpPr>
            <a:spLocks noChangeShapeType="1"/>
          </p:cNvSpPr>
          <p:nvPr/>
        </p:nvSpPr>
        <p:spPr bwMode="auto">
          <a:xfrm>
            <a:off x="3946182" y="2113339"/>
            <a:ext cx="432821" cy="42545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8" name="Line 34"/>
          <p:cNvSpPr>
            <a:spLocks noChangeShapeType="1"/>
          </p:cNvSpPr>
          <p:nvPr/>
        </p:nvSpPr>
        <p:spPr bwMode="auto">
          <a:xfrm flipH="1">
            <a:off x="7647002" y="2045472"/>
            <a:ext cx="643075" cy="6283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Text Box 35"/>
          <p:cNvSpPr txBox="1">
            <a:spLocks noChangeArrowheads="1"/>
          </p:cNvSpPr>
          <p:nvPr/>
        </p:nvSpPr>
        <p:spPr bwMode="auto">
          <a:xfrm>
            <a:off x="4286265" y="2131227"/>
            <a:ext cx="33214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A</a:t>
            </a:r>
          </a:p>
        </p:txBody>
      </p:sp>
      <p:sp>
        <p:nvSpPr>
          <p:cNvPr id="30" name="Text Box 36"/>
          <p:cNvSpPr txBox="1">
            <a:spLocks noChangeArrowheads="1"/>
          </p:cNvSpPr>
          <p:nvPr/>
        </p:nvSpPr>
        <p:spPr bwMode="auto">
          <a:xfrm>
            <a:off x="7575565" y="1924570"/>
            <a:ext cx="32092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B</a:t>
            </a:r>
          </a:p>
        </p:txBody>
      </p:sp>
      <p:grpSp>
        <p:nvGrpSpPr>
          <p:cNvPr id="31" name="组合 30"/>
          <p:cNvGrpSpPr/>
          <p:nvPr/>
        </p:nvGrpSpPr>
        <p:grpSpPr bwMode="auto">
          <a:xfrm>
            <a:off x="4686315" y="2222436"/>
            <a:ext cx="2667000" cy="351413"/>
            <a:chOff x="2799680" y="2545502"/>
            <a:chExt cx="3658879" cy="1012182"/>
          </a:xfrm>
        </p:grpSpPr>
        <p:sp>
          <p:nvSpPr>
            <p:cNvPr id="32" name="Freeform 32"/>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39"/>
            <p:cNvSpPr txBox="1">
              <a:spLocks noChangeArrowheads="1"/>
            </p:cNvSpPr>
            <p:nvPr/>
          </p:nvSpPr>
          <p:spPr bwMode="auto">
            <a:xfrm rot="240000">
              <a:off x="4031413" y="2545502"/>
              <a:ext cx="1373076" cy="3801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① </a:t>
              </a:r>
              <a:r>
                <a:rPr kumimoji="1" lang="zh-CN" altLang="en-US" sz="1200" b="1" dirty="0">
                  <a:solidFill>
                    <a:srgbClr val="CC00CC"/>
                  </a:solidFill>
                  <a:latin typeface="微软雅黑" panose="020B0503020204020204" pitchFamily="34" charset="-122"/>
                  <a:ea typeface="微软雅黑" panose="020B0503020204020204" pitchFamily="34" charset="-122"/>
                </a:rPr>
                <a:t>请求服务</a:t>
              </a:r>
            </a:p>
          </p:txBody>
        </p:sp>
      </p:grpSp>
      <p:sp>
        <p:nvSpPr>
          <p:cNvPr id="34" name="Text Box 41"/>
          <p:cNvSpPr txBox="1">
            <a:spLocks noChangeArrowheads="1"/>
          </p:cNvSpPr>
          <p:nvPr/>
        </p:nvSpPr>
        <p:spPr bwMode="auto">
          <a:xfrm>
            <a:off x="4218002" y="2737652"/>
            <a:ext cx="4921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客户</a:t>
            </a:r>
          </a:p>
        </p:txBody>
      </p:sp>
      <p:sp>
        <p:nvSpPr>
          <p:cNvPr id="35" name="Text Box 42"/>
          <p:cNvSpPr txBox="1">
            <a:spLocks noChangeArrowheads="1"/>
          </p:cNvSpPr>
          <p:nvPr/>
        </p:nvSpPr>
        <p:spPr bwMode="auto">
          <a:xfrm>
            <a:off x="7364427" y="3005658"/>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latin typeface="微软雅黑" panose="020B0503020204020204" pitchFamily="34" charset="-122"/>
                <a:ea typeface="微软雅黑" panose="020B0503020204020204" pitchFamily="34" charset="-122"/>
              </a:rPr>
              <a:t>服务器</a:t>
            </a:r>
          </a:p>
        </p:txBody>
      </p:sp>
      <p:pic>
        <p:nvPicPr>
          <p:cNvPr id="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62452" y="239210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86365" y="1418158"/>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65940" y="1365770"/>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11965" y="3466033"/>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3527" y="3518420"/>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3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367602" y="2148408"/>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4498583" y="4146385"/>
            <a:ext cx="343170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600" b="1" dirty="0">
                <a:solidFill>
                  <a:srgbClr val="0000FF"/>
                </a:solidFill>
                <a:latin typeface="微软雅黑" panose="020B0503020204020204" pitchFamily="34" charset="-122"/>
                <a:ea typeface="微软雅黑" panose="020B0503020204020204" pitchFamily="34" charset="-122"/>
              </a:rPr>
              <a:t>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向服务器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发出请求服务，</a:t>
            </a:r>
            <a:endParaRPr lang="en-US" altLang="zh-CN" sz="1600" b="1" dirty="0">
              <a:solidFill>
                <a:srgbClr val="0000FF"/>
              </a:solidFill>
              <a:latin typeface="微软雅黑" panose="020B0503020204020204" pitchFamily="34" charset="-122"/>
              <a:ea typeface="微软雅黑" panose="020B0503020204020204" pitchFamily="34" charset="-122"/>
            </a:endParaRPr>
          </a:p>
          <a:p>
            <a:r>
              <a:rPr lang="zh-CN" altLang="en-US" sz="1600" b="1" dirty="0">
                <a:solidFill>
                  <a:srgbClr val="0000FF"/>
                </a:solidFill>
                <a:latin typeface="微软雅黑" panose="020B0503020204020204" pitchFamily="34" charset="-122"/>
                <a:ea typeface="微软雅黑" panose="020B0503020204020204" pitchFamily="34" charset="-122"/>
              </a:rPr>
              <a:t>服务器 </a:t>
            </a:r>
            <a:r>
              <a:rPr lang="en-US" altLang="zh-CN" sz="1600" b="1" dirty="0">
                <a:solidFill>
                  <a:srgbClr val="0000FF"/>
                </a:solidFill>
                <a:latin typeface="微软雅黑" panose="020B0503020204020204" pitchFamily="34" charset="-122"/>
                <a:ea typeface="微软雅黑" panose="020B0503020204020204" pitchFamily="34" charset="-122"/>
              </a:rPr>
              <a:t>B </a:t>
            </a:r>
            <a:r>
              <a:rPr lang="zh-CN" altLang="en-US" sz="1600" b="1" dirty="0">
                <a:solidFill>
                  <a:srgbClr val="0000FF"/>
                </a:solidFill>
                <a:latin typeface="微软雅黑" panose="020B0503020204020204" pitchFamily="34" charset="-122"/>
                <a:ea typeface="微软雅黑" panose="020B0503020204020204" pitchFamily="34" charset="-122"/>
              </a:rPr>
              <a:t>向客户 </a:t>
            </a:r>
            <a:r>
              <a:rPr lang="en-US" altLang="zh-CN" sz="1600" b="1" dirty="0">
                <a:solidFill>
                  <a:srgbClr val="0000FF"/>
                </a:solidFill>
                <a:latin typeface="微软雅黑" panose="020B0503020204020204" pitchFamily="34" charset="-122"/>
                <a:ea typeface="微软雅黑" panose="020B0503020204020204" pitchFamily="34" charset="-122"/>
              </a:rPr>
              <a:t>A </a:t>
            </a:r>
            <a:r>
              <a:rPr lang="zh-CN" altLang="en-US" sz="1600" b="1" dirty="0">
                <a:solidFill>
                  <a:srgbClr val="0000FF"/>
                </a:solidFill>
                <a:latin typeface="微软雅黑" panose="020B0503020204020204" pitchFamily="34" charset="-122"/>
                <a:ea typeface="微软雅黑" panose="020B0503020204020204" pitchFamily="34" charset="-122"/>
              </a:rPr>
              <a:t>提供服务。</a:t>
            </a:r>
          </a:p>
        </p:txBody>
      </p:sp>
      <p:grpSp>
        <p:nvGrpSpPr>
          <p:cNvPr id="44" name="组合 43"/>
          <p:cNvGrpSpPr/>
          <p:nvPr/>
        </p:nvGrpSpPr>
        <p:grpSpPr bwMode="auto">
          <a:xfrm rot="-60000">
            <a:off x="4638201" y="2580481"/>
            <a:ext cx="2665413" cy="303219"/>
            <a:chOff x="2717737" y="3239081"/>
            <a:chExt cx="3658879" cy="639036"/>
          </a:xfrm>
        </p:grpSpPr>
        <p:sp>
          <p:nvSpPr>
            <p:cNvPr id="45" name="Text Box 40"/>
            <p:cNvSpPr txBox="1">
              <a:spLocks noChangeArrowheads="1"/>
            </p:cNvSpPr>
            <p:nvPr/>
          </p:nvSpPr>
          <p:spPr bwMode="auto">
            <a:xfrm rot="300000">
              <a:off x="3965549" y="3498003"/>
              <a:ext cx="1373075" cy="380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b="1" dirty="0">
                  <a:solidFill>
                    <a:srgbClr val="CC00CC"/>
                  </a:solidFill>
                  <a:latin typeface="微软雅黑" panose="020B0503020204020204" pitchFamily="34" charset="-122"/>
                  <a:ea typeface="微软雅黑" panose="020B0503020204020204" pitchFamily="34" charset="-122"/>
                </a:rPr>
                <a:t>② </a:t>
              </a:r>
              <a:r>
                <a:rPr kumimoji="1" lang="zh-CN" altLang="en-US" sz="12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47" name="对角圆角矩形 46"/>
          <p:cNvSpPr/>
          <p:nvPr/>
        </p:nvSpPr>
        <p:spPr>
          <a:xfrm>
            <a:off x="458322" y="3021356"/>
            <a:ext cx="3515160" cy="1350118"/>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581106" y="3176458"/>
            <a:ext cx="3326604"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zh-CN" b="1" dirty="0">
                <a:solidFill>
                  <a:schemeClr val="bg1"/>
                </a:solidFill>
                <a:latin typeface="微软雅黑" panose="020B0503020204020204" pitchFamily="34" charset="-122"/>
                <a:ea typeface="微软雅黑" panose="020B0503020204020204" pitchFamily="34" charset="-122"/>
              </a:rPr>
              <a:t>客户与服务器的通信关系建立后，通信可以是</a:t>
            </a:r>
            <a:r>
              <a:rPr lang="zh-CN" altLang="zh-CN" b="1" dirty="0">
                <a:solidFill>
                  <a:srgbClr val="FFFF00"/>
                </a:solidFill>
                <a:latin typeface="微软雅黑" panose="020B0503020204020204" pitchFamily="34" charset="-122"/>
                <a:ea typeface="微软雅黑" panose="020B0503020204020204" pitchFamily="34" charset="-122"/>
              </a:rPr>
              <a:t>双向</a:t>
            </a:r>
            <a:r>
              <a:rPr lang="zh-CN" altLang="zh-CN" b="1" dirty="0">
                <a:solidFill>
                  <a:schemeClr val="bg1"/>
                </a:solidFill>
                <a:latin typeface="微软雅黑" panose="020B0503020204020204" pitchFamily="34" charset="-122"/>
                <a:ea typeface="微软雅黑" panose="020B0503020204020204" pitchFamily="34" charset="-122"/>
              </a:rPr>
              <a:t>的，客户和服务器都可发送和接收数据。</a:t>
            </a: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2000"/>
                                        <p:tgtEl>
                                          <p:spTgt spid="31"/>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44"/>
                                        </p:tgtEl>
                                        <p:attrNameLst>
                                          <p:attrName>style.visibility</p:attrName>
                                        </p:attrNameLst>
                                      </p:cBhvr>
                                      <p:to>
                                        <p:strVal val="visible"/>
                                      </p:to>
                                    </p:set>
                                    <p:animEffect transition="in" filter="wipe(right)">
                                      <p:cBhvr>
                                        <p:cTn id="11" dur="20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Line 8">
            <a:extLst>
              <a:ext uri="{FF2B5EF4-FFF2-40B4-BE49-F238E27FC236}">
                <a16:creationId xmlns:a16="http://schemas.microsoft.com/office/drawing/2014/main" id="{0ABE8FA8-2297-1B85-6B83-FF49B9BB6209}"/>
              </a:ext>
            </a:extLst>
          </p:cNvPr>
          <p:cNvSpPr>
            <a:spLocks noChangeShapeType="1"/>
          </p:cNvSpPr>
          <p:nvPr/>
        </p:nvSpPr>
        <p:spPr bwMode="auto">
          <a:xfrm flipH="1">
            <a:off x="4926831" y="1632426"/>
            <a:ext cx="503237" cy="7223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9">
            <a:extLst>
              <a:ext uri="{FF2B5EF4-FFF2-40B4-BE49-F238E27FC236}">
                <a16:creationId xmlns:a16="http://schemas.microsoft.com/office/drawing/2014/main" id="{3485A611-C76F-5DD8-F3A3-F05D2537EA83}"/>
              </a:ext>
            </a:extLst>
          </p:cNvPr>
          <p:cNvSpPr>
            <a:spLocks noChangeShapeType="1"/>
          </p:cNvSpPr>
          <p:nvPr/>
        </p:nvSpPr>
        <p:spPr bwMode="auto">
          <a:xfrm flipH="1" flipV="1">
            <a:off x="4866506" y="3110389"/>
            <a:ext cx="320675" cy="36830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10">
            <a:extLst>
              <a:ext uri="{FF2B5EF4-FFF2-40B4-BE49-F238E27FC236}">
                <a16:creationId xmlns:a16="http://schemas.microsoft.com/office/drawing/2014/main" id="{74878562-692A-216E-4D11-03110357921C}"/>
              </a:ext>
            </a:extLst>
          </p:cNvPr>
          <p:cNvSpPr>
            <a:spLocks noChangeShapeType="1"/>
          </p:cNvSpPr>
          <p:nvPr/>
        </p:nvSpPr>
        <p:spPr bwMode="auto">
          <a:xfrm>
            <a:off x="3725093" y="1726089"/>
            <a:ext cx="320675" cy="5302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11">
            <a:extLst>
              <a:ext uri="{FF2B5EF4-FFF2-40B4-BE49-F238E27FC236}">
                <a16:creationId xmlns:a16="http://schemas.microsoft.com/office/drawing/2014/main" id="{8499D1FE-552D-8CC9-5DD0-043BE3DE71BF}"/>
              </a:ext>
            </a:extLst>
          </p:cNvPr>
          <p:cNvSpPr>
            <a:spLocks noChangeShapeType="1"/>
          </p:cNvSpPr>
          <p:nvPr/>
        </p:nvSpPr>
        <p:spPr bwMode="auto">
          <a:xfrm flipV="1">
            <a:off x="3910831" y="3051651"/>
            <a:ext cx="166687" cy="46037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4" name="Line 10">
            <a:extLst>
              <a:ext uri="{FF2B5EF4-FFF2-40B4-BE49-F238E27FC236}">
                <a16:creationId xmlns:a16="http://schemas.microsoft.com/office/drawing/2014/main" id="{E9624C06-C0E7-4466-549C-0F660F13D185}"/>
              </a:ext>
            </a:extLst>
          </p:cNvPr>
          <p:cNvSpPr>
            <a:spLocks noChangeShapeType="1"/>
          </p:cNvSpPr>
          <p:nvPr/>
        </p:nvSpPr>
        <p:spPr bwMode="auto">
          <a:xfrm>
            <a:off x="3080738" y="2649372"/>
            <a:ext cx="547250" cy="15091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10">
            <a:extLst>
              <a:ext uri="{FF2B5EF4-FFF2-40B4-BE49-F238E27FC236}">
                <a16:creationId xmlns:a16="http://schemas.microsoft.com/office/drawing/2014/main" id="{825BFFE7-E8CA-A0B7-57E0-EEF9F82D7D7B}"/>
              </a:ext>
            </a:extLst>
          </p:cNvPr>
          <p:cNvSpPr>
            <a:spLocks noChangeShapeType="1"/>
          </p:cNvSpPr>
          <p:nvPr/>
        </p:nvSpPr>
        <p:spPr bwMode="auto">
          <a:xfrm flipV="1">
            <a:off x="5457804" y="2823553"/>
            <a:ext cx="503573" cy="84518"/>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2" name="椭圆 41">
            <a:extLst>
              <a:ext uri="{FF2B5EF4-FFF2-40B4-BE49-F238E27FC236}">
                <a16:creationId xmlns:a16="http://schemas.microsoft.com/office/drawing/2014/main" id="{4035F411-5E2F-52A4-F9A5-D3B332C91570}"/>
              </a:ext>
            </a:extLst>
          </p:cNvPr>
          <p:cNvSpPr/>
          <p:nvPr/>
        </p:nvSpPr>
        <p:spPr>
          <a:xfrm>
            <a:off x="2529303" y="1003171"/>
            <a:ext cx="4162726" cy="3146048"/>
          </a:xfrm>
          <a:prstGeom prst="ellipse">
            <a:avLst/>
          </a:prstGeom>
          <a:noFill/>
          <a:ln w="9525">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Times New Roman" panose="02020603050405020304" pitchFamily="18" charset="0"/>
              <a:ea typeface="微软雅黑 Light" panose="020B0502040204020203" pitchFamily="34" charset="-122"/>
            </a:endParaRPr>
          </a:p>
        </p:txBody>
      </p:sp>
      <p:sp>
        <p:nvSpPr>
          <p:cNvPr id="10" name="Text Box 16">
            <a:extLst>
              <a:ext uri="{FF2B5EF4-FFF2-40B4-BE49-F238E27FC236}">
                <a16:creationId xmlns:a16="http://schemas.microsoft.com/office/drawing/2014/main" id="{008F0C81-C623-BD93-5247-63BB6F94A356}"/>
              </a:ext>
            </a:extLst>
          </p:cNvPr>
          <p:cNvSpPr txBox="1">
            <a:spLocks noChangeArrowheads="1"/>
          </p:cNvSpPr>
          <p:nvPr/>
        </p:nvSpPr>
        <p:spPr bwMode="auto">
          <a:xfrm>
            <a:off x="2089174" y="1632426"/>
            <a:ext cx="822325" cy="461963"/>
          </a:xfrm>
          <a:prstGeom prst="rect">
            <a:avLst/>
          </a:prstGeom>
          <a:solidFill>
            <a:schemeClr val="bg1"/>
          </a:solidFill>
          <a:ln>
            <a:noFill/>
          </a:ln>
          <a:effec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dirty="0">
                <a:latin typeface="Times New Roman" panose="02020603050405020304" pitchFamily="18" charset="0"/>
                <a:ea typeface="微软雅黑 Light" panose="020B0502040204020203" pitchFamily="34" charset="-122"/>
              </a:rPr>
              <a:t>运行</a:t>
            </a:r>
            <a:endParaRPr kumimoji="1" lang="en-US" altLang="zh-CN" sz="1200" dirty="0">
              <a:latin typeface="Times New Roman" panose="02020603050405020304" pitchFamily="18" charset="0"/>
              <a:ea typeface="微软雅黑 Light" panose="020B0502040204020203" pitchFamily="34" charset="-122"/>
            </a:endParaRPr>
          </a:p>
          <a:p>
            <a:pPr algn="ctr"/>
            <a:r>
              <a:rPr kumimoji="1" lang="zh-CN" altLang="en-US" sz="1200" dirty="0">
                <a:latin typeface="Times New Roman" panose="02020603050405020304" pitchFamily="18" charset="0"/>
                <a:ea typeface="微软雅黑 Light" panose="020B0502040204020203" pitchFamily="34" charset="-122"/>
              </a:rPr>
              <a:t>客户程序</a:t>
            </a:r>
          </a:p>
        </p:txBody>
      </p:sp>
      <p:grpSp>
        <p:nvGrpSpPr>
          <p:cNvPr id="11" name="Group 18">
            <a:extLst>
              <a:ext uri="{FF2B5EF4-FFF2-40B4-BE49-F238E27FC236}">
                <a16:creationId xmlns:a16="http://schemas.microsoft.com/office/drawing/2014/main" id="{A36DC129-3C50-B87D-1119-F295DC840939}"/>
              </a:ext>
            </a:extLst>
          </p:cNvPr>
          <p:cNvGrpSpPr/>
          <p:nvPr/>
        </p:nvGrpSpPr>
        <p:grpSpPr bwMode="auto">
          <a:xfrm>
            <a:off x="3318694" y="1806393"/>
            <a:ext cx="2307127" cy="1602670"/>
            <a:chOff x="1680" y="240"/>
            <a:chExt cx="2529" cy="1270"/>
          </a:xfrm>
          <a:solidFill>
            <a:schemeClr val="bg1">
              <a:lumMod val="95000"/>
            </a:schemeClr>
          </a:solidFill>
        </p:grpSpPr>
        <p:sp>
          <p:nvSpPr>
            <p:cNvPr id="12" name="Oval 19">
              <a:extLst>
                <a:ext uri="{FF2B5EF4-FFF2-40B4-BE49-F238E27FC236}">
                  <a16:creationId xmlns:a16="http://schemas.microsoft.com/office/drawing/2014/main" id="{A192A28D-E5C7-AA6E-EEE9-08AE97FD03FB}"/>
                </a:ext>
              </a:extLst>
            </p:cNvPr>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3" name="Oval 20">
              <a:extLst>
                <a:ext uri="{FF2B5EF4-FFF2-40B4-BE49-F238E27FC236}">
                  <a16:creationId xmlns:a16="http://schemas.microsoft.com/office/drawing/2014/main" id="{D37B424C-D580-AB8C-61C0-C4EBF6048C03}"/>
                </a:ext>
              </a:extLst>
            </p:cNvPr>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4" name="Oval 21">
              <a:extLst>
                <a:ext uri="{FF2B5EF4-FFF2-40B4-BE49-F238E27FC236}">
                  <a16:creationId xmlns:a16="http://schemas.microsoft.com/office/drawing/2014/main" id="{4913907E-8004-2A7A-CF42-E4CB908464E0}"/>
                </a:ext>
              </a:extLst>
            </p:cNvPr>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5" name="Oval 22">
              <a:extLst>
                <a:ext uri="{FF2B5EF4-FFF2-40B4-BE49-F238E27FC236}">
                  <a16:creationId xmlns:a16="http://schemas.microsoft.com/office/drawing/2014/main" id="{D5AFE93A-E91C-3105-485E-00F1A5A6E8CB}"/>
                </a:ext>
              </a:extLst>
            </p:cNvPr>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6" name="Oval 23">
              <a:extLst>
                <a:ext uri="{FF2B5EF4-FFF2-40B4-BE49-F238E27FC236}">
                  <a16:creationId xmlns:a16="http://schemas.microsoft.com/office/drawing/2014/main" id="{7B25EA15-92F5-FFBD-2F8F-45E4F5A21D2F}"/>
                </a:ext>
              </a:extLst>
            </p:cNvPr>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7" name="Oval 24">
              <a:extLst>
                <a:ext uri="{FF2B5EF4-FFF2-40B4-BE49-F238E27FC236}">
                  <a16:creationId xmlns:a16="http://schemas.microsoft.com/office/drawing/2014/main" id="{3523D4B4-458C-16D2-73C4-80C30F6DB0B2}"/>
                </a:ext>
              </a:extLst>
            </p:cNvPr>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8" name="Oval 25">
              <a:extLst>
                <a:ext uri="{FF2B5EF4-FFF2-40B4-BE49-F238E27FC236}">
                  <a16:creationId xmlns:a16="http://schemas.microsoft.com/office/drawing/2014/main" id="{47BB6E0D-517A-8C56-7324-BA92D51D2CFB}"/>
                </a:ext>
              </a:extLst>
            </p:cNvPr>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19" name="Oval 26">
              <a:extLst>
                <a:ext uri="{FF2B5EF4-FFF2-40B4-BE49-F238E27FC236}">
                  <a16:creationId xmlns:a16="http://schemas.microsoft.com/office/drawing/2014/main" id="{732126B5-35F3-6B79-2FDB-A3CE13D3244D}"/>
                </a:ext>
              </a:extLst>
            </p:cNvPr>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sp>
          <p:nvSpPr>
            <p:cNvPr id="20" name="Oval 27">
              <a:extLst>
                <a:ext uri="{FF2B5EF4-FFF2-40B4-BE49-F238E27FC236}">
                  <a16:creationId xmlns:a16="http://schemas.microsoft.com/office/drawing/2014/main" id="{700ABE70-59EB-58F3-4376-84BCB09AD0DD}"/>
                </a:ext>
              </a:extLst>
            </p:cNvPr>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600" dirty="0">
                <a:solidFill>
                  <a:srgbClr val="368AD6"/>
                </a:solidFill>
                <a:latin typeface="Times New Roman" panose="02020603050405020304" pitchFamily="18" charset="0"/>
                <a:ea typeface="微软雅黑 Light" panose="020B0502040204020203" pitchFamily="34" charset="-122"/>
              </a:endParaRPr>
            </a:p>
          </p:txBody>
        </p:sp>
      </p:grpSp>
      <p:sp>
        <p:nvSpPr>
          <p:cNvPr id="21" name="Text Box 28">
            <a:extLst>
              <a:ext uri="{FF2B5EF4-FFF2-40B4-BE49-F238E27FC236}">
                <a16:creationId xmlns:a16="http://schemas.microsoft.com/office/drawing/2014/main" id="{9268A4DE-0E70-F3C4-B153-7CDD9DEF401F}"/>
              </a:ext>
            </a:extLst>
          </p:cNvPr>
          <p:cNvSpPr txBox="1">
            <a:spLocks noChangeArrowheads="1"/>
          </p:cNvSpPr>
          <p:nvPr/>
        </p:nvSpPr>
        <p:spPr bwMode="auto">
          <a:xfrm>
            <a:off x="4139431" y="1085678"/>
            <a:ext cx="903287" cy="307975"/>
          </a:xfrm>
          <a:prstGeom prst="rect">
            <a:avLst/>
          </a:prstGeom>
          <a:noFill/>
          <a:ln>
            <a:noFill/>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solidFill>
                  <a:sysClr val="windowText" lastClr="000000"/>
                </a:solidFill>
                <a:latin typeface="Times New Roman" panose="02020603050405020304" pitchFamily="18" charset="0"/>
                <a:ea typeface="微软雅黑 Light" panose="020B0502040204020203" pitchFamily="34" charset="-122"/>
              </a:rPr>
              <a:t>网络边缘</a:t>
            </a:r>
          </a:p>
        </p:txBody>
      </p:sp>
      <p:sp>
        <p:nvSpPr>
          <p:cNvPr id="22" name="Text Box 29">
            <a:extLst>
              <a:ext uri="{FF2B5EF4-FFF2-40B4-BE49-F238E27FC236}">
                <a16:creationId xmlns:a16="http://schemas.microsoft.com/office/drawing/2014/main" id="{1786653C-90C5-304F-2ABA-DF7EA74D00CE}"/>
              </a:ext>
            </a:extLst>
          </p:cNvPr>
          <p:cNvSpPr txBox="1">
            <a:spLocks noChangeArrowheads="1"/>
          </p:cNvSpPr>
          <p:nvPr/>
        </p:nvSpPr>
        <p:spPr bwMode="auto">
          <a:xfrm>
            <a:off x="4159022" y="2977020"/>
            <a:ext cx="903288" cy="307975"/>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solidFill>
                  <a:sysClr val="windowText" lastClr="000000"/>
                </a:solidFill>
                <a:latin typeface="Times New Roman" panose="02020603050405020304" pitchFamily="18" charset="0"/>
                <a:ea typeface="微软雅黑 Light" panose="020B0502040204020203" pitchFamily="34" charset="-122"/>
              </a:rPr>
              <a:t>网络核心</a:t>
            </a:r>
          </a:p>
        </p:txBody>
      </p:sp>
      <p:sp>
        <p:nvSpPr>
          <p:cNvPr id="23" name="Text Box 31">
            <a:extLst>
              <a:ext uri="{FF2B5EF4-FFF2-40B4-BE49-F238E27FC236}">
                <a16:creationId xmlns:a16="http://schemas.microsoft.com/office/drawing/2014/main" id="{17BF7221-D14C-A883-3DF8-FD8A0C3419A2}"/>
              </a:ext>
            </a:extLst>
          </p:cNvPr>
          <p:cNvSpPr txBox="1">
            <a:spLocks noChangeArrowheads="1"/>
          </p:cNvSpPr>
          <p:nvPr/>
        </p:nvSpPr>
        <p:spPr bwMode="auto">
          <a:xfrm>
            <a:off x="6212117" y="1510671"/>
            <a:ext cx="1016000" cy="461963"/>
          </a:xfrm>
          <a:prstGeom prst="rect">
            <a:avLst/>
          </a:prstGeom>
          <a:solidFill>
            <a:schemeClr val="bg1"/>
          </a:solidFill>
          <a:ln>
            <a:noFill/>
          </a:ln>
          <a:effec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dirty="0">
                <a:latin typeface="Times New Roman" panose="02020603050405020304" pitchFamily="18" charset="0"/>
                <a:ea typeface="微软雅黑 Light" panose="020B0502040204020203" pitchFamily="34" charset="-122"/>
              </a:rPr>
              <a:t>运行</a:t>
            </a:r>
          </a:p>
          <a:p>
            <a:pPr algn="ctr"/>
            <a:r>
              <a:rPr kumimoji="1" lang="zh-CN" altLang="en-US" sz="1200" dirty="0">
                <a:latin typeface="Times New Roman" panose="02020603050405020304" pitchFamily="18" charset="0"/>
                <a:ea typeface="微软雅黑 Light" panose="020B0502040204020203" pitchFamily="34" charset="-122"/>
              </a:rPr>
              <a:t>服务器程序</a:t>
            </a:r>
          </a:p>
        </p:txBody>
      </p:sp>
      <p:sp>
        <p:nvSpPr>
          <p:cNvPr id="24" name="Line 33">
            <a:extLst>
              <a:ext uri="{FF2B5EF4-FFF2-40B4-BE49-F238E27FC236}">
                <a16:creationId xmlns:a16="http://schemas.microsoft.com/office/drawing/2014/main" id="{13DD4DD3-CACA-EC7E-4F6C-34A5A4703726}"/>
              </a:ext>
            </a:extLst>
          </p:cNvPr>
          <p:cNvSpPr>
            <a:spLocks noChangeShapeType="1"/>
          </p:cNvSpPr>
          <p:nvPr/>
        </p:nvSpPr>
        <p:spPr bwMode="auto">
          <a:xfrm>
            <a:off x="2427749" y="2106945"/>
            <a:ext cx="305590" cy="325665"/>
          </a:xfrm>
          <a:prstGeom prst="line">
            <a:avLst/>
          </a:prstGeom>
          <a:noFill/>
          <a:ln w="19050">
            <a:solidFill>
              <a:schemeClr val="tx1"/>
            </a:solidFill>
            <a:prstDash val="solid"/>
            <a:rou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5" name="Line 34">
            <a:extLst>
              <a:ext uri="{FF2B5EF4-FFF2-40B4-BE49-F238E27FC236}">
                <a16:creationId xmlns:a16="http://schemas.microsoft.com/office/drawing/2014/main" id="{EB64DE9D-4B96-EC63-3E4F-B1E95ECF2FDF}"/>
              </a:ext>
            </a:extLst>
          </p:cNvPr>
          <p:cNvSpPr>
            <a:spLocks noChangeShapeType="1"/>
          </p:cNvSpPr>
          <p:nvPr/>
        </p:nvSpPr>
        <p:spPr bwMode="auto">
          <a:xfrm flipH="1">
            <a:off x="6463184" y="2000734"/>
            <a:ext cx="228455" cy="354006"/>
          </a:xfrm>
          <a:prstGeom prst="line">
            <a:avLst/>
          </a:prstGeom>
          <a:noFill/>
          <a:ln w="19050">
            <a:solidFill>
              <a:schemeClr val="tx1"/>
            </a:solidFill>
            <a:prstDash val="solid"/>
            <a:rou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Text Box 35">
            <a:extLst>
              <a:ext uri="{FF2B5EF4-FFF2-40B4-BE49-F238E27FC236}">
                <a16:creationId xmlns:a16="http://schemas.microsoft.com/office/drawing/2014/main" id="{DD16C0AC-24DC-58D0-F9C5-B4C5C5D5C083}"/>
              </a:ext>
            </a:extLst>
          </p:cNvPr>
          <p:cNvSpPr txBox="1">
            <a:spLocks noChangeArrowheads="1"/>
          </p:cNvSpPr>
          <p:nvPr/>
        </p:nvSpPr>
        <p:spPr bwMode="auto">
          <a:xfrm>
            <a:off x="2767831" y="2124833"/>
            <a:ext cx="3129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Times New Roman" panose="02020603050405020304" pitchFamily="18" charset="0"/>
                <a:ea typeface="微软雅黑 Light" panose="020B0502040204020203" pitchFamily="34" charset="-122"/>
              </a:rPr>
              <a:t>A</a:t>
            </a:r>
          </a:p>
        </p:txBody>
      </p:sp>
      <p:sp>
        <p:nvSpPr>
          <p:cNvPr id="27" name="Text Box 36">
            <a:extLst>
              <a:ext uri="{FF2B5EF4-FFF2-40B4-BE49-F238E27FC236}">
                <a16:creationId xmlns:a16="http://schemas.microsoft.com/office/drawing/2014/main" id="{D36EB674-5C4D-601A-42F9-AC624276AB94}"/>
              </a:ext>
            </a:extLst>
          </p:cNvPr>
          <p:cNvSpPr txBox="1">
            <a:spLocks noChangeArrowheads="1"/>
          </p:cNvSpPr>
          <p:nvPr/>
        </p:nvSpPr>
        <p:spPr bwMode="auto">
          <a:xfrm>
            <a:off x="6057131" y="1918176"/>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Times New Roman" panose="02020603050405020304" pitchFamily="18" charset="0"/>
                <a:ea typeface="微软雅黑 Light" panose="020B0502040204020203" pitchFamily="34" charset="-122"/>
              </a:rPr>
              <a:t>B</a:t>
            </a:r>
          </a:p>
        </p:txBody>
      </p:sp>
      <p:grpSp>
        <p:nvGrpSpPr>
          <p:cNvPr id="28" name="组合 27">
            <a:extLst>
              <a:ext uri="{FF2B5EF4-FFF2-40B4-BE49-F238E27FC236}">
                <a16:creationId xmlns:a16="http://schemas.microsoft.com/office/drawing/2014/main" id="{B175E06A-0AE5-2B25-5586-965354501F71}"/>
              </a:ext>
            </a:extLst>
          </p:cNvPr>
          <p:cNvGrpSpPr/>
          <p:nvPr/>
        </p:nvGrpSpPr>
        <p:grpSpPr bwMode="auto">
          <a:xfrm>
            <a:off x="3167881" y="2143528"/>
            <a:ext cx="2667000" cy="423927"/>
            <a:chOff x="2799680" y="2336638"/>
            <a:chExt cx="3658879" cy="1221046"/>
          </a:xfrm>
        </p:grpSpPr>
        <p:sp>
          <p:nvSpPr>
            <p:cNvPr id="29" name="Freeform 32">
              <a:extLst>
                <a:ext uri="{FF2B5EF4-FFF2-40B4-BE49-F238E27FC236}">
                  <a16:creationId xmlns:a16="http://schemas.microsoft.com/office/drawing/2014/main" id="{67BBF368-2C27-1747-4CD4-1DCADBA35D53}"/>
                </a:ext>
              </a:extLst>
            </p:cNvPr>
            <p:cNvSpPr/>
            <p:nvPr/>
          </p:nvSpPr>
          <p:spPr bwMode="auto">
            <a:xfrm rot="60000">
              <a:off x="2799680" y="3080925"/>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Text Box 39">
              <a:extLst>
                <a:ext uri="{FF2B5EF4-FFF2-40B4-BE49-F238E27FC236}">
                  <a16:creationId xmlns:a16="http://schemas.microsoft.com/office/drawing/2014/main" id="{F0FE440A-8F64-D32F-E212-941B588859DF}"/>
                </a:ext>
              </a:extLst>
            </p:cNvPr>
            <p:cNvSpPr txBox="1">
              <a:spLocks noChangeArrowheads="1"/>
            </p:cNvSpPr>
            <p:nvPr/>
          </p:nvSpPr>
          <p:spPr bwMode="auto">
            <a:xfrm rot="240000">
              <a:off x="4032689" y="2336638"/>
              <a:ext cx="1370524" cy="7978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rgbClr val="CC00CC"/>
                  </a:solidFill>
                  <a:latin typeface="Times New Roman" panose="02020603050405020304" pitchFamily="18" charset="0"/>
                  <a:ea typeface="微软雅黑 Light" panose="020B0502040204020203" pitchFamily="34" charset="-122"/>
                </a:rPr>
                <a:t>① </a:t>
              </a:r>
              <a:r>
                <a:rPr kumimoji="1" lang="zh-CN" altLang="en-US" sz="1200" dirty="0">
                  <a:solidFill>
                    <a:srgbClr val="CC00CC"/>
                  </a:solidFill>
                  <a:latin typeface="Times New Roman" panose="02020603050405020304" pitchFamily="18" charset="0"/>
                  <a:ea typeface="微软雅黑 Light" panose="020B0502040204020203" pitchFamily="34" charset="-122"/>
                </a:rPr>
                <a:t>请求服务</a:t>
              </a:r>
            </a:p>
          </p:txBody>
        </p:sp>
      </p:grpSp>
      <p:sp>
        <p:nvSpPr>
          <p:cNvPr id="31" name="Text Box 41">
            <a:extLst>
              <a:ext uri="{FF2B5EF4-FFF2-40B4-BE49-F238E27FC236}">
                <a16:creationId xmlns:a16="http://schemas.microsoft.com/office/drawing/2014/main" id="{67AA46C4-D112-2567-0594-208F63ED50D4}"/>
              </a:ext>
            </a:extLst>
          </p:cNvPr>
          <p:cNvSpPr txBox="1">
            <a:spLocks noChangeArrowheads="1"/>
          </p:cNvSpPr>
          <p:nvPr/>
        </p:nvSpPr>
        <p:spPr bwMode="auto">
          <a:xfrm>
            <a:off x="2664142" y="2731258"/>
            <a:ext cx="56297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Times New Roman" panose="02020603050405020304" pitchFamily="18" charset="0"/>
                <a:ea typeface="微软雅黑 Light" panose="020B0502040204020203" pitchFamily="34" charset="-122"/>
              </a:rPr>
              <a:t>Client</a:t>
            </a:r>
            <a:endParaRPr kumimoji="1" lang="zh-CN" altLang="en-US" sz="1200" dirty="0">
              <a:latin typeface="Times New Roman" panose="02020603050405020304" pitchFamily="18" charset="0"/>
              <a:ea typeface="微软雅黑 Light" panose="020B0502040204020203" pitchFamily="34" charset="-122"/>
            </a:endParaRPr>
          </a:p>
        </p:txBody>
      </p:sp>
      <p:sp>
        <p:nvSpPr>
          <p:cNvPr id="32" name="Text Box 42">
            <a:extLst>
              <a:ext uri="{FF2B5EF4-FFF2-40B4-BE49-F238E27FC236}">
                <a16:creationId xmlns:a16="http://schemas.microsoft.com/office/drawing/2014/main" id="{B6407FC2-C9A6-A9DB-131D-334C52CBA559}"/>
              </a:ext>
            </a:extLst>
          </p:cNvPr>
          <p:cNvSpPr txBox="1">
            <a:spLocks noChangeArrowheads="1"/>
          </p:cNvSpPr>
          <p:nvPr/>
        </p:nvSpPr>
        <p:spPr bwMode="auto">
          <a:xfrm>
            <a:off x="5875539" y="2999264"/>
            <a:ext cx="5870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Times New Roman" panose="02020603050405020304" pitchFamily="18" charset="0"/>
                <a:ea typeface="微软雅黑 Light" panose="020B0502040204020203" pitchFamily="34" charset="-122"/>
              </a:rPr>
              <a:t>Server</a:t>
            </a:r>
            <a:endParaRPr kumimoji="1" lang="zh-CN" altLang="en-US" sz="1200" dirty="0">
              <a:latin typeface="Times New Roman" panose="02020603050405020304" pitchFamily="18" charset="0"/>
              <a:ea typeface="微软雅黑 Light" panose="020B0502040204020203" pitchFamily="34" charset="-122"/>
            </a:endParaRPr>
          </a:p>
        </p:txBody>
      </p:sp>
      <p:pic>
        <p:nvPicPr>
          <p:cNvPr id="33" name="Picture 246" descr="jisuanji">
            <a:extLst>
              <a:ext uri="{FF2B5EF4-FFF2-40B4-BE49-F238E27FC236}">
                <a16:creationId xmlns:a16="http://schemas.microsoft.com/office/drawing/2014/main" id="{35ED9904-7CBF-8486-004D-B1A3F03E1C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4018" y="238570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4" name="Picture 246" descr="jisuanji">
            <a:extLst>
              <a:ext uri="{FF2B5EF4-FFF2-40B4-BE49-F238E27FC236}">
                <a16:creationId xmlns:a16="http://schemas.microsoft.com/office/drawing/2014/main" id="{0267D68E-5B4F-F25D-7596-0603554BA1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67931" y="1411764"/>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5" name="Picture 246" descr="jisuanji">
            <a:extLst>
              <a:ext uri="{FF2B5EF4-FFF2-40B4-BE49-F238E27FC236}">
                <a16:creationId xmlns:a16="http://schemas.microsoft.com/office/drawing/2014/main" id="{3F51AF50-996E-809C-5AAB-93533E8615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47506" y="1359376"/>
            <a:ext cx="366712"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6" name="Picture 246" descr="jisuanji">
            <a:extLst>
              <a:ext uri="{FF2B5EF4-FFF2-40B4-BE49-F238E27FC236}">
                <a16:creationId xmlns:a16="http://schemas.microsoft.com/office/drawing/2014/main" id="{86F2BFFD-9A86-65FD-FFB2-069D65F36C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3531" y="3459639"/>
            <a:ext cx="366712"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a:extLst>
              <a:ext uri="{FF2B5EF4-FFF2-40B4-BE49-F238E27FC236}">
                <a16:creationId xmlns:a16="http://schemas.microsoft.com/office/drawing/2014/main" id="{0F7B8B99-FF5E-29F7-FBC5-42F6EB8C7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25093" y="3512026"/>
            <a:ext cx="366713"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图片 39">
            <a:extLst>
              <a:ext uri="{FF2B5EF4-FFF2-40B4-BE49-F238E27FC236}">
                <a16:creationId xmlns:a16="http://schemas.microsoft.com/office/drawing/2014/main" id="{490C5749-F961-7A53-BE55-B6D0BE38049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49168" y="214201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9" name="组合 38">
            <a:extLst>
              <a:ext uri="{FF2B5EF4-FFF2-40B4-BE49-F238E27FC236}">
                <a16:creationId xmlns:a16="http://schemas.microsoft.com/office/drawing/2014/main" id="{DFC830C1-7891-7ADC-EF9C-702E356CA026}"/>
              </a:ext>
            </a:extLst>
          </p:cNvPr>
          <p:cNvGrpSpPr/>
          <p:nvPr/>
        </p:nvGrpSpPr>
        <p:grpSpPr bwMode="auto">
          <a:xfrm rot="-60000">
            <a:off x="3120189" y="2574082"/>
            <a:ext cx="2665413" cy="351538"/>
            <a:chOff x="2717737" y="3239081"/>
            <a:chExt cx="3658879" cy="740869"/>
          </a:xfrm>
        </p:grpSpPr>
        <p:sp>
          <p:nvSpPr>
            <p:cNvPr id="40" name="Text Box 40">
              <a:extLst>
                <a:ext uri="{FF2B5EF4-FFF2-40B4-BE49-F238E27FC236}">
                  <a16:creationId xmlns:a16="http://schemas.microsoft.com/office/drawing/2014/main" id="{06DEF53B-6417-4CD0-E184-D6A951D523F8}"/>
                </a:ext>
              </a:extLst>
            </p:cNvPr>
            <p:cNvSpPr txBox="1">
              <a:spLocks noChangeArrowheads="1"/>
            </p:cNvSpPr>
            <p:nvPr/>
          </p:nvSpPr>
          <p:spPr bwMode="auto">
            <a:xfrm rot="300000">
              <a:off x="3966416" y="3396173"/>
              <a:ext cx="1371340" cy="583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rgbClr val="CC00CC"/>
                  </a:solidFill>
                  <a:latin typeface="Times New Roman" panose="02020603050405020304" pitchFamily="18" charset="0"/>
                  <a:ea typeface="微软雅黑 Light" panose="020B0502040204020203" pitchFamily="34" charset="-122"/>
                </a:rPr>
                <a:t>② </a:t>
              </a:r>
              <a:r>
                <a:rPr kumimoji="1" lang="zh-CN" altLang="en-US" sz="1200" dirty="0">
                  <a:solidFill>
                    <a:srgbClr val="CC00CC"/>
                  </a:solidFill>
                  <a:latin typeface="Times New Roman" panose="02020603050405020304" pitchFamily="18" charset="0"/>
                  <a:ea typeface="微软雅黑 Light" panose="020B0502040204020203" pitchFamily="34" charset="-122"/>
                </a:rPr>
                <a:t>得到服务</a:t>
              </a:r>
            </a:p>
          </p:txBody>
        </p:sp>
        <p:sp>
          <p:nvSpPr>
            <p:cNvPr id="41" name="Freeform 38">
              <a:extLst>
                <a:ext uri="{FF2B5EF4-FFF2-40B4-BE49-F238E27FC236}">
                  <a16:creationId xmlns:a16="http://schemas.microsoft.com/office/drawing/2014/main" id="{540F7992-F37E-D0E3-9783-E55B59475AA4}"/>
                </a:ext>
              </a:extLst>
            </p:cNvPr>
            <p:cNvSpPr/>
            <p:nvPr/>
          </p:nvSpPr>
          <p:spPr bwMode="auto">
            <a:xfrm rot="10800000">
              <a:off x="2717737" y="3239081"/>
              <a:ext cx="3658879" cy="47675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2F83D672-9AC5-1BEC-9C15-BCC40A52E1C1}"/>
              </a:ext>
            </a:extLst>
          </p:cNvPr>
          <p:cNvSpPr>
            <a:spLocks noGrp="1"/>
          </p:cNvSpPr>
          <p:nvPr>
            <p:ph type="title"/>
          </p:nvPr>
        </p:nvSpPr>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Tree>
    <p:extLst>
      <p:ext uri="{BB962C8B-B14F-4D97-AF65-F5344CB8AC3E}">
        <p14:creationId xmlns:p14="http://schemas.microsoft.com/office/powerpoint/2010/main" val="10816101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2000"/>
                                        <p:tgtEl>
                                          <p:spTgt spid="28"/>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39"/>
                                        </p:tgtEl>
                                        <p:attrNameLst>
                                          <p:attrName>style.visibility</p:attrName>
                                        </p:attrNameLst>
                                      </p:cBhvr>
                                      <p:to>
                                        <p:strVal val="visible"/>
                                      </p:to>
                                    </p:set>
                                    <p:animEffect transition="in" filter="wipe(right)">
                                      <p:cBhvr>
                                        <p:cTn id="1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D92D599-A52F-05D9-73BE-66E327A5ED3D}"/>
              </a:ext>
            </a:extLst>
          </p:cNvPr>
          <p:cNvSpPr>
            <a:spLocks noGrp="1"/>
          </p:cNvSpPr>
          <p:nvPr>
            <p:ph type="title"/>
          </p:nvPr>
        </p:nvSpPr>
        <p:spPr>
          <a:xfrm>
            <a:off x="612000" y="216000"/>
            <a:ext cx="7920000" cy="369332"/>
          </a:xfrm>
        </p:spPr>
        <p:txBody>
          <a:bodyPr/>
          <a:lstStyle/>
          <a:p>
            <a:r>
              <a:rPr lang="zh-CN" altLang="en-US" dirty="0"/>
              <a:t>客户程序和服务器程序主要特点</a:t>
            </a:r>
          </a:p>
        </p:txBody>
      </p:sp>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612000" y="720000"/>
            <a:ext cx="7920000" cy="3960000"/>
          </a:xfrm>
        </p:spPr>
        <p:txBody>
          <a:bodyPr>
            <a:normAutofit/>
          </a:bodyPr>
          <a:lstStyle/>
          <a:p>
            <a:r>
              <a:rPr lang="zh-CN" altLang="en-US" dirty="0"/>
              <a:t>客户程序</a:t>
            </a:r>
            <a:endParaRPr lang="en-US" altLang="zh-CN" dirty="0"/>
          </a:p>
          <a:p>
            <a:pPr lvl="1"/>
            <a:r>
              <a:rPr lang="zh-CN" altLang="en-US" dirty="0"/>
              <a:t>被用户调用后运行，需主动向远地服务器发起通信（请求服务）。必须知道服务器程序的地址。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a:t>
            </a:r>
          </a:p>
          <a:p>
            <a:pPr lvl="1"/>
            <a:r>
              <a:rPr lang="zh-CN" altLang="en-US" dirty="0"/>
              <a:t>一直不断地运行着，被动地等待并接受来自各地的客户的通信请求。不需要知道客户程序的地址。</a:t>
            </a:r>
          </a:p>
          <a:p>
            <a:pPr lvl="1"/>
            <a:r>
              <a:rPr lang="zh-CN" altLang="en-US" dirty="0"/>
              <a:t>一般需要强大的硬件和高级的操作系统支持。</a:t>
            </a:r>
          </a:p>
          <a:p>
            <a:endParaRPr lang="zh-CN" altLang="en-US" dirty="0"/>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B27532-2D9B-76A7-7192-C773EC70233C}"/>
              </a:ext>
            </a:extLst>
          </p:cNvPr>
          <p:cNvSpPr>
            <a:spLocks noGrp="1"/>
          </p:cNvSpPr>
          <p:nvPr>
            <p:ph type="title"/>
          </p:nvPr>
        </p:nvSpPr>
        <p:spPr>
          <a:xfrm>
            <a:off x="612000" y="216000"/>
            <a:ext cx="7920000" cy="369332"/>
          </a:xfrm>
        </p:spPr>
        <p:txBody>
          <a:bodyPr/>
          <a:lstStyle/>
          <a:p>
            <a:r>
              <a:rPr lang="en-US" altLang="zh-CN" dirty="0"/>
              <a:t>2. </a:t>
            </a:r>
            <a:r>
              <a:rPr lang="zh-CN" altLang="en-US" dirty="0"/>
              <a:t>对等连接方式（</a:t>
            </a:r>
            <a:r>
              <a:rPr lang="en-US" altLang="zh-CN" dirty="0"/>
              <a:t>P2P </a:t>
            </a:r>
            <a:r>
              <a:rPr lang="zh-CN" altLang="en-US" dirty="0"/>
              <a:t>方式）</a:t>
            </a:r>
          </a:p>
        </p:txBody>
      </p:sp>
      <p:sp>
        <p:nvSpPr>
          <p:cNvPr id="3" name="内容占位符 2"/>
          <p:cNvSpPr>
            <a:spLocks noGrp="1"/>
          </p:cNvSpPr>
          <p:nvPr>
            <p:ph sz="quarter" idx="10"/>
          </p:nvPr>
        </p:nvSpPr>
        <p:spPr>
          <a:xfrm>
            <a:off x="612000" y="720000"/>
            <a:ext cx="7920000" cy="3960000"/>
          </a:xfrm>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p>
        </p:txBody>
      </p:sp>
      <p:sp>
        <p:nvSpPr>
          <p:cNvPr id="47" name="对角圆角矩形 46"/>
          <p:cNvSpPr/>
          <p:nvPr/>
        </p:nvSpPr>
        <p:spPr>
          <a:xfrm>
            <a:off x="466344" y="3043575"/>
            <a:ext cx="3575703" cy="1432010"/>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400"/>
          </a:p>
        </p:txBody>
      </p:sp>
      <p:sp>
        <p:nvSpPr>
          <p:cNvPr id="48" name="矩形 5"/>
          <p:cNvSpPr>
            <a:spLocks noChangeArrowheads="1"/>
          </p:cNvSpPr>
          <p:nvPr/>
        </p:nvSpPr>
        <p:spPr bwMode="auto">
          <a:xfrm>
            <a:off x="673767" y="3103186"/>
            <a:ext cx="3352127"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chemeClr val="bg1"/>
                </a:solidFill>
                <a:latin typeface="微软雅黑" panose="020B0503020204020204" pitchFamily="34" charset="-122"/>
                <a:ea typeface="微软雅黑" panose="020B0503020204020204" pitchFamily="34" charset="-122"/>
              </a:rPr>
              <a:t>对等连接方式从本质上看仍然是使用客户服务器方式，只是对等连接中的每一个主机</a:t>
            </a:r>
            <a:r>
              <a:rPr lang="zh-CN" altLang="en-US" b="1" dirty="0">
                <a:solidFill>
                  <a:srgbClr val="FFFF00"/>
                </a:solidFill>
                <a:latin typeface="微软雅黑" panose="020B0503020204020204" pitchFamily="34" charset="-122"/>
                <a:ea typeface="微软雅黑" panose="020B0503020204020204" pitchFamily="34" charset="-122"/>
              </a:rPr>
              <a:t>既是客户又是服务器。</a:t>
            </a:r>
          </a:p>
        </p:txBody>
      </p:sp>
      <p:sp>
        <p:nvSpPr>
          <p:cNvPr id="49" name="Oval 4"/>
          <p:cNvSpPr>
            <a:spLocks noChangeArrowheads="1"/>
          </p:cNvSpPr>
          <p:nvPr/>
        </p:nvSpPr>
        <p:spPr bwMode="auto">
          <a:xfrm>
            <a:off x="4093027" y="1165157"/>
            <a:ext cx="4441371" cy="2858197"/>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Line 5"/>
          <p:cNvSpPr>
            <a:spLocks noChangeShapeType="1"/>
          </p:cNvSpPr>
          <p:nvPr/>
        </p:nvSpPr>
        <p:spPr bwMode="auto">
          <a:xfrm flipV="1">
            <a:off x="4977095" y="2890233"/>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1" name="Line 6"/>
          <p:cNvSpPr>
            <a:spLocks noChangeShapeType="1"/>
          </p:cNvSpPr>
          <p:nvPr/>
        </p:nvSpPr>
        <p:spPr bwMode="auto">
          <a:xfrm flipH="1" flipV="1">
            <a:off x="4727213" y="2334227"/>
            <a:ext cx="772509" cy="269821"/>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Line 7"/>
          <p:cNvSpPr>
            <a:spLocks noChangeShapeType="1"/>
          </p:cNvSpPr>
          <p:nvPr/>
        </p:nvSpPr>
        <p:spPr bwMode="auto">
          <a:xfrm flipH="1">
            <a:off x="7155734" y="2612821"/>
            <a:ext cx="783490" cy="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3" name="Line 8"/>
          <p:cNvSpPr>
            <a:spLocks noChangeShapeType="1"/>
          </p:cNvSpPr>
          <p:nvPr/>
        </p:nvSpPr>
        <p:spPr bwMode="auto">
          <a:xfrm flipH="1">
            <a:off x="6635152" y="1666913"/>
            <a:ext cx="449997" cy="66968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4" name="Line 9"/>
          <p:cNvSpPr>
            <a:spLocks noChangeShapeType="1"/>
          </p:cNvSpPr>
          <p:nvPr/>
        </p:nvSpPr>
        <p:spPr bwMode="auto">
          <a:xfrm flipH="1" flipV="1">
            <a:off x="6630429" y="3083294"/>
            <a:ext cx="397570" cy="394714"/>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10"/>
          <p:cNvSpPr>
            <a:spLocks noChangeShapeType="1"/>
          </p:cNvSpPr>
          <p:nvPr/>
        </p:nvSpPr>
        <p:spPr bwMode="auto">
          <a:xfrm>
            <a:off x="5316072" y="1761107"/>
            <a:ext cx="451453" cy="483413"/>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6" name="Line 11"/>
          <p:cNvSpPr>
            <a:spLocks noChangeShapeType="1"/>
          </p:cNvSpPr>
          <p:nvPr/>
        </p:nvSpPr>
        <p:spPr bwMode="auto">
          <a:xfrm flipV="1">
            <a:off x="5707527" y="3039086"/>
            <a:ext cx="91747" cy="548460"/>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7" name="Group 17"/>
          <p:cNvGrpSpPr/>
          <p:nvPr/>
        </p:nvGrpSpPr>
        <p:grpSpPr bwMode="auto">
          <a:xfrm>
            <a:off x="5258040" y="1947503"/>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67" name="Text Box 27"/>
          <p:cNvSpPr txBox="1">
            <a:spLocks noChangeArrowheads="1"/>
          </p:cNvSpPr>
          <p:nvPr/>
        </p:nvSpPr>
        <p:spPr bwMode="auto">
          <a:xfrm>
            <a:off x="5640252" y="1381948"/>
            <a:ext cx="118030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网络边缘</a:t>
            </a:r>
          </a:p>
        </p:txBody>
      </p:sp>
      <p:sp>
        <p:nvSpPr>
          <p:cNvPr id="68" name="Text Box 28"/>
          <p:cNvSpPr txBox="1">
            <a:spLocks noChangeArrowheads="1"/>
          </p:cNvSpPr>
          <p:nvPr/>
        </p:nvSpPr>
        <p:spPr bwMode="auto">
          <a:xfrm>
            <a:off x="5884044" y="2577967"/>
            <a:ext cx="1090078" cy="307777"/>
          </a:xfrm>
          <a:prstGeom prst="rect">
            <a:avLst/>
          </a:prstGeom>
          <a:solidFill>
            <a:schemeClr val="bg1"/>
          </a:solidFill>
          <a:ln>
            <a:noFill/>
          </a:ln>
          <a:effectLst/>
          <a:extLst>
            <a:ext uri="{91240B29-F687-4F45-9708-019B960494DF}">
              <a14:hiddenLine xmlns:a14="http://schemas.microsoft.com/office/drawing/2010/main" w="19050">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b="1" dirty="0">
                <a:solidFill>
                  <a:srgbClr val="0000FF"/>
                </a:solidFill>
                <a:latin typeface="微软雅黑" panose="020B0503020204020204" pitchFamily="34" charset="-122"/>
                <a:ea typeface="微软雅黑" panose="020B0503020204020204" pitchFamily="34" charset="-122"/>
              </a:rPr>
              <a:t>网络核心</a:t>
            </a:r>
          </a:p>
        </p:txBody>
      </p:sp>
      <p:sp>
        <p:nvSpPr>
          <p:cNvPr id="69" name="Text Box 30"/>
          <p:cNvSpPr txBox="1">
            <a:spLocks noChangeArrowheads="1"/>
          </p:cNvSpPr>
          <p:nvPr/>
        </p:nvSpPr>
        <p:spPr bwMode="auto">
          <a:xfrm>
            <a:off x="7189671" y="1738140"/>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0" name="Text Box 31"/>
          <p:cNvSpPr txBox="1">
            <a:spLocks noChangeArrowheads="1"/>
          </p:cNvSpPr>
          <p:nvPr/>
        </p:nvSpPr>
        <p:spPr bwMode="auto">
          <a:xfrm>
            <a:off x="7309650" y="308916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71" name="Line 32"/>
          <p:cNvSpPr>
            <a:spLocks noChangeShapeType="1"/>
          </p:cNvSpPr>
          <p:nvPr/>
        </p:nvSpPr>
        <p:spPr bwMode="auto">
          <a:xfrm flipH="1">
            <a:off x="7105061" y="1855231"/>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2" name="Line 33"/>
          <p:cNvSpPr>
            <a:spLocks noChangeShapeType="1"/>
          </p:cNvSpPr>
          <p:nvPr/>
        </p:nvSpPr>
        <p:spPr bwMode="auto">
          <a:xfrm flipH="1" flipV="1">
            <a:off x="7224507" y="1672751"/>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3" name="Line 34"/>
          <p:cNvSpPr>
            <a:spLocks noChangeShapeType="1"/>
          </p:cNvSpPr>
          <p:nvPr/>
        </p:nvSpPr>
        <p:spPr bwMode="auto">
          <a:xfrm flipH="1">
            <a:off x="7199702" y="3449107"/>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4" name="Text Box 35"/>
          <p:cNvSpPr txBox="1">
            <a:spLocks noChangeArrowheads="1"/>
          </p:cNvSpPr>
          <p:nvPr/>
        </p:nvSpPr>
        <p:spPr bwMode="auto">
          <a:xfrm>
            <a:off x="6648512" y="3459924"/>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D</a:t>
            </a:r>
          </a:p>
        </p:txBody>
      </p:sp>
      <p:sp>
        <p:nvSpPr>
          <p:cNvPr id="75" name="Text Box 36"/>
          <p:cNvSpPr txBox="1">
            <a:spLocks noChangeArrowheads="1"/>
          </p:cNvSpPr>
          <p:nvPr/>
        </p:nvSpPr>
        <p:spPr bwMode="auto">
          <a:xfrm>
            <a:off x="7207428" y="1384781"/>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C</a:t>
            </a:r>
          </a:p>
        </p:txBody>
      </p:sp>
      <p:sp>
        <p:nvSpPr>
          <p:cNvPr id="76" name="Line 38"/>
          <p:cNvSpPr>
            <a:spLocks noChangeShapeType="1"/>
          </p:cNvSpPr>
          <p:nvPr/>
        </p:nvSpPr>
        <p:spPr bwMode="auto">
          <a:xfrm flipH="1">
            <a:off x="5071118" y="1925375"/>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7" name="Text Box 39"/>
          <p:cNvSpPr txBox="1">
            <a:spLocks noChangeArrowheads="1"/>
          </p:cNvSpPr>
          <p:nvPr/>
        </p:nvSpPr>
        <p:spPr bwMode="auto">
          <a:xfrm>
            <a:off x="4989076" y="1390091"/>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E</a:t>
            </a:r>
          </a:p>
        </p:txBody>
      </p:sp>
      <p:sp>
        <p:nvSpPr>
          <p:cNvPr id="78" name="Text Box 40"/>
          <p:cNvSpPr txBox="1">
            <a:spLocks noChangeArrowheads="1"/>
          </p:cNvSpPr>
          <p:nvPr/>
        </p:nvSpPr>
        <p:spPr bwMode="auto">
          <a:xfrm>
            <a:off x="4669949" y="3169789"/>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FF"/>
                </a:solidFill>
                <a:latin typeface="Times New Roman" panose="02020603050405020304" pitchFamily="18" charset="0"/>
                <a:ea typeface="微软雅黑 Light" panose="020B0502040204020203" pitchFamily="34" charset="-122"/>
              </a:rPr>
              <a:t>F</a:t>
            </a:r>
          </a:p>
        </p:txBody>
      </p:sp>
      <p:sp>
        <p:nvSpPr>
          <p:cNvPr id="79" name="Text Box 41"/>
          <p:cNvSpPr txBox="1">
            <a:spLocks noChangeArrowheads="1"/>
          </p:cNvSpPr>
          <p:nvPr/>
        </p:nvSpPr>
        <p:spPr bwMode="auto">
          <a:xfrm>
            <a:off x="4357491" y="1720893"/>
            <a:ext cx="86206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0" name="Text Box 42"/>
          <p:cNvSpPr txBox="1">
            <a:spLocks noChangeArrowheads="1"/>
          </p:cNvSpPr>
          <p:nvPr/>
        </p:nvSpPr>
        <p:spPr bwMode="auto">
          <a:xfrm>
            <a:off x="4181616" y="2586777"/>
            <a:ext cx="86370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b="1" dirty="0">
                <a:latin typeface="微软雅黑" panose="020B0503020204020204" pitchFamily="34" charset="-122"/>
                <a:ea typeface="微软雅黑" panose="020B0503020204020204" pitchFamily="34" charset="-122"/>
              </a:rPr>
              <a:t>运行</a:t>
            </a:r>
          </a:p>
          <a:p>
            <a:pPr algn="ctr"/>
            <a:r>
              <a:rPr kumimoji="1" lang="en-US" altLang="zh-CN" sz="1100" b="1" dirty="0">
                <a:latin typeface="微软雅黑" panose="020B0503020204020204" pitchFamily="34" charset="-122"/>
                <a:ea typeface="微软雅黑" panose="020B0503020204020204" pitchFamily="34" charset="-122"/>
              </a:rPr>
              <a:t>P2P </a:t>
            </a:r>
            <a:r>
              <a:rPr kumimoji="1" lang="zh-CN" altLang="en-US" sz="1100" b="1" dirty="0">
                <a:latin typeface="微软雅黑" panose="020B0503020204020204" pitchFamily="34" charset="-122"/>
                <a:ea typeface="微软雅黑" panose="020B0503020204020204" pitchFamily="34" charset="-122"/>
              </a:rPr>
              <a:t>程序</a:t>
            </a:r>
          </a:p>
        </p:txBody>
      </p:sp>
      <p:sp>
        <p:nvSpPr>
          <p:cNvPr id="81" name="Line 43"/>
          <p:cNvSpPr>
            <a:spLocks noChangeShapeType="1"/>
          </p:cNvSpPr>
          <p:nvPr/>
        </p:nvSpPr>
        <p:spPr bwMode="auto">
          <a:xfrm flipV="1">
            <a:off x="4975609" y="1681236"/>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p:cNvSpPr>
            <a:spLocks noChangeShapeType="1"/>
          </p:cNvSpPr>
          <p:nvPr/>
        </p:nvSpPr>
        <p:spPr bwMode="auto">
          <a:xfrm>
            <a:off x="4727214" y="2974119"/>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3" name="Line 45"/>
          <p:cNvSpPr>
            <a:spLocks noChangeShapeType="1"/>
          </p:cNvSpPr>
          <p:nvPr/>
        </p:nvSpPr>
        <p:spPr bwMode="auto">
          <a:xfrm flipH="1">
            <a:off x="5181679" y="1757553"/>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05034" y="1563606"/>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16048" y="2290852"/>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54085" y="2205950"/>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7237" y="306382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42688" y="3381371"/>
            <a:ext cx="374018"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00840" y="3449185"/>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66004" y="1490444"/>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7C8CF9C-7AFE-CD2B-B13B-941961133E62}"/>
              </a:ext>
            </a:extLst>
          </p:cNvPr>
          <p:cNvSpPr>
            <a:spLocks noGrp="1"/>
          </p:cNvSpPr>
          <p:nvPr>
            <p:ph type="title"/>
          </p:nvPr>
        </p:nvSpPr>
        <p:spPr>
          <a:xfrm>
            <a:off x="612000" y="216000"/>
            <a:ext cx="7920000" cy="369332"/>
          </a:xfrm>
        </p:spPr>
        <p:txBody>
          <a:bodyPr/>
          <a:lstStyle/>
          <a:p>
            <a:r>
              <a:rPr lang="en-US" altLang="zh-CN" dirty="0"/>
              <a:t>1.3.2  </a:t>
            </a:r>
            <a:r>
              <a:rPr lang="zh-CN" altLang="en-US" dirty="0"/>
              <a:t>互联网的核心部分</a:t>
            </a:r>
          </a:p>
        </p:txBody>
      </p:sp>
      <p:sp>
        <p:nvSpPr>
          <p:cNvPr id="5" name="内容占位符 4"/>
          <p:cNvSpPr>
            <a:spLocks noGrp="1"/>
          </p:cNvSpPr>
          <p:nvPr>
            <p:ph sz="quarter" idx="10"/>
          </p:nvPr>
        </p:nvSpPr>
        <p:spPr>
          <a:xfrm>
            <a:off x="612000" y="720000"/>
            <a:ext cx="7920000" cy="3960000"/>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endParaRPr lang="zh-CN" altLang="en-US" dirty="0"/>
          </a:p>
          <a:p>
            <a:endParaRPr lang="zh-CN" altLang="en-US" dirty="0"/>
          </a:p>
        </p:txBody>
      </p:sp>
      <p:grpSp>
        <p:nvGrpSpPr>
          <p:cNvPr id="6" name="组合 5"/>
          <p:cNvGrpSpPr/>
          <p:nvPr/>
        </p:nvGrpSpPr>
        <p:grpSpPr>
          <a:xfrm>
            <a:off x="4180122" y="1948891"/>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 name="Text Box 79"/>
            <p:cNvSpPr txBox="1">
              <a:spLocks noChangeArrowheads="1"/>
            </p:cNvSpPr>
            <p:nvPr/>
          </p:nvSpPr>
          <p:spPr bwMode="auto">
            <a:xfrm>
              <a:off x="3300774" y="1240001"/>
              <a:ext cx="2505488" cy="467507"/>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Times New Roman" panose="02020603050405020304" pitchFamily="18" charset="0"/>
                  <a:ea typeface="微软雅黑" panose="020B0503020204020204" pitchFamily="34" charset="-122"/>
                </a:rPr>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26457" cy="33856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CC00CC"/>
                  </a:solidFill>
                  <a:latin typeface="Times New Roman" panose="02020603050405020304" pitchFamily="18" charset="0"/>
                  <a:ea typeface="微软雅黑" panose="020B0503020204020204" pitchFamily="34" charset="-122"/>
                </a:rPr>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4" name="Text Box 1523"/>
            <p:cNvSpPr txBox="1">
              <a:spLocks noChangeArrowheads="1"/>
            </p:cNvSpPr>
            <p:nvPr/>
          </p:nvSpPr>
          <p:spPr bwMode="auto">
            <a:xfrm>
              <a:off x="2632854"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dirty="0">
                  <a:solidFill>
                    <a:srgbClr val="C00000"/>
                  </a:solidFill>
                  <a:latin typeface="Times New Roman" panose="02020603050405020304" pitchFamily="18" charset="0"/>
                  <a:ea typeface="微软雅黑" panose="020B0503020204020204" pitchFamily="34" charset="-122"/>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在网络核心部分起特殊作用的是</a:t>
            </a:r>
            <a:r>
              <a:rPr lang="zh-CN" altLang="en-US" sz="2000" b="1" dirty="0">
                <a:solidFill>
                  <a:srgbClr val="C00000"/>
                </a:solidFill>
                <a:latin typeface="微软雅黑" pitchFamily="34" charset="-122"/>
                <a:ea typeface="微软雅黑" pitchFamily="34" charset="-122"/>
              </a:rPr>
              <a:t>路由器</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(router)</a:t>
            </a:r>
            <a:r>
              <a:rPr lang="zh-CN" altLang="en-US" sz="2000" b="1" dirty="0">
                <a:latin typeface="微软雅黑" pitchFamily="34" charset="-122"/>
                <a:ea typeface="微软雅黑" pitchFamily="34" charset="-122"/>
              </a:rPr>
              <a:t>。</a:t>
            </a:r>
          </a:p>
          <a:p>
            <a:pPr marL="342900" indent="-342900">
              <a:lnSpc>
                <a:spcPts val="3000"/>
              </a:lnSpc>
              <a:spcBef>
                <a:spcPts val="0"/>
              </a:spcBef>
              <a:spcAft>
                <a:spcPts val="0"/>
              </a:spcAft>
              <a:buClr>
                <a:srgbClr val="0066CC"/>
              </a:buClr>
              <a:buFont typeface="Wingdings" panose="05000000000000000000" pitchFamily="2" charset="2"/>
              <a:buChar char="l"/>
            </a:pPr>
            <a:r>
              <a:rPr lang="zh-CN" altLang="en-US" sz="2000" b="1" dirty="0">
                <a:latin typeface="微软雅黑" pitchFamily="34" charset="-122"/>
                <a:ea typeface="微软雅黑" pitchFamily="34" charset="-122"/>
              </a:rPr>
              <a:t>路由器是实现</a:t>
            </a:r>
            <a:r>
              <a:rPr lang="zh-CN" altLang="en-US" sz="2000" b="1" dirty="0">
                <a:solidFill>
                  <a:srgbClr val="C00000"/>
                </a:solidFill>
                <a:latin typeface="微软雅黑" pitchFamily="34" charset="-122"/>
                <a:ea typeface="微软雅黑" pitchFamily="34" charset="-122"/>
              </a:rPr>
              <a:t>分组交换</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(packet switching) </a:t>
            </a:r>
            <a:r>
              <a:rPr lang="zh-CN" altLang="en-US" sz="2000" b="1" dirty="0">
                <a:latin typeface="微软雅黑" pitchFamily="34" charset="-122"/>
                <a:ea typeface="微软雅黑" pitchFamily="34" charset="-122"/>
              </a:rPr>
              <a:t>的关键构件，其任务是</a:t>
            </a:r>
            <a:r>
              <a:rPr lang="zh-CN" altLang="en-US" sz="2000" b="1" dirty="0">
                <a:solidFill>
                  <a:srgbClr val="C00000"/>
                </a:solidFill>
                <a:latin typeface="微软雅黑" pitchFamily="34" charset="-122"/>
                <a:ea typeface="微软雅黑" pitchFamily="34" charset="-122"/>
              </a:rPr>
              <a:t>转发</a:t>
            </a:r>
            <a:r>
              <a:rPr lang="zh-CN" altLang="en-US" sz="2000" b="1" dirty="0">
                <a:latin typeface="微软雅黑" pitchFamily="34" charset="-122"/>
                <a:ea typeface="微软雅黑" pitchFamily="34" charset="-122"/>
              </a:rPr>
              <a:t>收到的分组。</a:t>
            </a:r>
          </a:p>
        </p:txBody>
      </p:sp>
      <p:sp>
        <p:nvSpPr>
          <p:cNvPr id="95" name="对角圆角矩形 94"/>
          <p:cNvSpPr/>
          <p:nvPr/>
        </p:nvSpPr>
        <p:spPr>
          <a:xfrm>
            <a:off x="2590116" y="4261911"/>
            <a:ext cx="4388848" cy="500682"/>
          </a:xfrm>
          <a:prstGeom prst="round2DiagRect">
            <a:avLst>
              <a:gd name="adj1" fmla="val 15845"/>
              <a:gd name="adj2" fmla="val 0"/>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600"/>
          </a:p>
        </p:txBody>
      </p:sp>
      <p:sp>
        <p:nvSpPr>
          <p:cNvPr id="96" name="矩形 5"/>
          <p:cNvSpPr>
            <a:spLocks noChangeArrowheads="1"/>
          </p:cNvSpPr>
          <p:nvPr/>
        </p:nvSpPr>
        <p:spPr bwMode="auto">
          <a:xfrm>
            <a:off x="2702601" y="4327005"/>
            <a:ext cx="41452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400"/>
              </a:lnSpc>
              <a:spcBef>
                <a:spcPts val="0"/>
              </a:spcBef>
            </a:pPr>
            <a:r>
              <a:rPr lang="zh-CN" altLang="en-US" b="1" dirty="0">
                <a:solidFill>
                  <a:srgbClr val="FFFF00"/>
                </a:solidFill>
                <a:latin typeface="微软雅黑" panose="020B0503020204020204" pitchFamily="34" charset="-122"/>
                <a:ea typeface="微软雅黑" panose="020B0503020204020204" pitchFamily="34" charset="-122"/>
              </a:rPr>
              <a:t>分组转发</a:t>
            </a:r>
            <a:r>
              <a:rPr lang="zh-CN" altLang="en-US" b="1" dirty="0">
                <a:solidFill>
                  <a:schemeClr val="bg1"/>
                </a:solidFill>
                <a:latin typeface="微软雅黑" panose="020B0503020204020204" pitchFamily="34" charset="-122"/>
                <a:ea typeface="微软雅黑" panose="020B0503020204020204" pitchFamily="34" charset="-122"/>
              </a:rPr>
              <a:t>是网络核心部分最重要的功能。</a:t>
            </a: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D7FB836-F1E3-12BC-7C01-467BBD4E165C}"/>
              </a:ext>
            </a:extLst>
          </p:cNvPr>
          <p:cNvSpPr>
            <a:spLocks noGrp="1"/>
          </p:cNvSpPr>
          <p:nvPr>
            <p:ph type="title"/>
          </p:nvPr>
        </p:nvSpPr>
        <p:spPr>
          <a:xfrm>
            <a:off x="612000" y="216000"/>
            <a:ext cx="7920000" cy="369332"/>
          </a:xfrm>
        </p:spPr>
        <p:txBody>
          <a:bodyPr/>
          <a:lstStyle/>
          <a:p>
            <a:r>
              <a:rPr lang="en-US" altLang="zh-CN" dirty="0"/>
              <a:t>1.3.2  </a:t>
            </a:r>
            <a:r>
              <a:rPr lang="zh-CN" altLang="en-US" dirty="0"/>
              <a:t>互联网的核心部分</a:t>
            </a:r>
          </a:p>
        </p:txBody>
      </p:sp>
      <p:sp>
        <p:nvSpPr>
          <p:cNvPr id="3" name="内容占位符 2"/>
          <p:cNvSpPr>
            <a:spLocks noGrp="1"/>
          </p:cNvSpPr>
          <p:nvPr>
            <p:ph sz="quarter" idx="10"/>
          </p:nvPr>
        </p:nvSpPr>
        <p:spPr>
          <a:xfrm>
            <a:off x="612000" y="720000"/>
            <a:ext cx="7920000" cy="3960000"/>
          </a:xfrm>
        </p:spPr>
        <p:txBody>
          <a:bodyPr/>
          <a:lstStyle/>
          <a:p>
            <a:r>
              <a:rPr lang="zh-CN" altLang="en-US" dirty="0"/>
              <a:t>典型交换技术包括：</a:t>
            </a:r>
          </a:p>
          <a:p>
            <a:pPr lvl="1"/>
            <a:r>
              <a:rPr lang="zh-CN" altLang="en-US" dirty="0"/>
              <a:t>电路交换</a:t>
            </a:r>
          </a:p>
          <a:p>
            <a:pPr lvl="1"/>
            <a:r>
              <a:rPr lang="zh-CN" altLang="en-US" dirty="0"/>
              <a:t>分组交换</a:t>
            </a:r>
          </a:p>
          <a:p>
            <a:pPr lvl="1"/>
            <a:r>
              <a:rPr lang="zh-CN" altLang="en-US" dirty="0"/>
              <a:t>报文交换 等。</a:t>
            </a:r>
          </a:p>
          <a:p>
            <a:r>
              <a:rPr lang="zh-CN" altLang="en-US" dirty="0"/>
              <a:t>互联网的核心部分采用分组交换技术。</a:t>
            </a:r>
          </a:p>
          <a:p>
            <a:endParaRPr lang="zh-CN" altLang="en-US" dirty="0"/>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36AA71B-3ECE-12B1-B7EE-1E486C669D4B}"/>
              </a:ext>
            </a:extLst>
          </p:cNvPr>
          <p:cNvSpPr>
            <a:spLocks noGrp="1"/>
          </p:cNvSpPr>
          <p:nvPr>
            <p:ph type="title"/>
          </p:nvPr>
        </p:nvSpPr>
        <p:spPr>
          <a:xfrm>
            <a:off x="612000" y="216000"/>
            <a:ext cx="7920000" cy="369332"/>
          </a:xfrm>
        </p:spPr>
        <p:txBody>
          <a:bodyPr/>
          <a:lstStyle/>
          <a:p>
            <a:r>
              <a:rPr lang="en-US" altLang="zh-CN" dirty="0"/>
              <a:t>1. </a:t>
            </a:r>
            <a:r>
              <a:rPr lang="zh-CN" altLang="en-US" dirty="0"/>
              <a:t>电路交换的主要特点</a:t>
            </a:r>
          </a:p>
        </p:txBody>
      </p:sp>
      <p:sp>
        <p:nvSpPr>
          <p:cNvPr id="103" name="内容占位符 102"/>
          <p:cNvSpPr>
            <a:spLocks noGrp="1"/>
          </p:cNvSpPr>
          <p:nvPr>
            <p:ph sz="quarter" idx="10"/>
          </p:nvPr>
        </p:nvSpPr>
        <p:spPr>
          <a:xfrm>
            <a:off x="612000" y="720000"/>
            <a:ext cx="7920000" cy="3960000"/>
          </a:xfrm>
        </p:spPr>
        <p:txBody>
          <a:bodyPr/>
          <a:lstStyle/>
          <a:p>
            <a:r>
              <a:rPr lang="zh-CN" altLang="en-US" dirty="0"/>
              <a:t>电线对的数量与电话机数量的平方（</a:t>
            </a:r>
            <a:r>
              <a:rPr lang="en-US" altLang="zh-CN" dirty="0"/>
              <a:t>N2</a:t>
            </a:r>
            <a:r>
              <a:rPr lang="zh-CN" altLang="en-US" dirty="0"/>
              <a:t>）成正比。</a:t>
            </a:r>
          </a:p>
        </p:txBody>
      </p:sp>
      <p:grpSp>
        <p:nvGrpSpPr>
          <p:cNvPr id="6" name="组合 5"/>
          <p:cNvGrpSpPr/>
          <p:nvPr/>
        </p:nvGrpSpPr>
        <p:grpSpPr>
          <a:xfrm>
            <a:off x="749161" y="2205186"/>
            <a:ext cx="1709659" cy="476704"/>
            <a:chOff x="1490663" y="2400300"/>
            <a:chExt cx="4064009" cy="825500"/>
          </a:xfrm>
        </p:grpSpPr>
        <p:cxnSp>
          <p:nvCxnSpPr>
            <p:cNvPr id="7" name="直接连接符 6"/>
            <p:cNvCxnSpPr/>
            <p:nvPr/>
          </p:nvCxnSpPr>
          <p:spPr>
            <a:xfrm>
              <a:off x="1970811" y="2802885"/>
              <a:ext cx="3147991" cy="0"/>
            </a:xfrm>
            <a:prstGeom prst="line">
              <a:avLst/>
            </a:prstGeom>
            <a:ln w="25400">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8" name="组合 11"/>
            <p:cNvGrpSpPr/>
            <p:nvPr/>
          </p:nvGrpSpPr>
          <p:grpSpPr bwMode="auto">
            <a:xfrm>
              <a:off x="1490663" y="2400300"/>
              <a:ext cx="4064009" cy="825500"/>
              <a:chOff x="115860" y="3847459"/>
              <a:chExt cx="4014114" cy="824998"/>
            </a:xfrm>
          </p:grpSpPr>
          <p:pic>
            <p:nvPicPr>
              <p:cNvPr id="9" name="图片 12"/>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5860" y="3867779"/>
                <a:ext cx="914408" cy="804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 name="图片 13"/>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5568" y="3847459"/>
                <a:ext cx="914406" cy="804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grpSp>
        <p:nvGrpSpPr>
          <p:cNvPr id="18" name="组合 23"/>
          <p:cNvGrpSpPr/>
          <p:nvPr/>
        </p:nvGrpSpPr>
        <p:grpSpPr bwMode="auto">
          <a:xfrm>
            <a:off x="5646033" y="1511100"/>
            <a:ext cx="2540225" cy="2093096"/>
            <a:chOff x="2607464" y="2947482"/>
            <a:chExt cx="3757622" cy="3145044"/>
          </a:xfrm>
        </p:grpSpPr>
        <p:cxnSp>
          <p:nvCxnSpPr>
            <p:cNvPr id="19" name="直接连接符 18"/>
            <p:cNvCxnSpPr/>
            <p:nvPr/>
          </p:nvCxnSpPr>
          <p:spPr>
            <a:xfrm>
              <a:off x="3594891" y="5320950"/>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909090" y="4520798"/>
              <a:ext cx="3197233"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a:off x="3594891" y="3693656"/>
              <a:ext cx="1866904" cy="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3615529"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5476084" y="3723821"/>
              <a:ext cx="0" cy="159713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a:off x="4531519" y="3188798"/>
              <a:ext cx="0" cy="260208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flipH="1">
              <a:off x="3686967" y="3188798"/>
              <a:ext cx="649290" cy="427066"/>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a:off x="4623594" y="5400331"/>
              <a:ext cx="741365" cy="42230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623594" y="3174510"/>
              <a:ext cx="852490" cy="441354"/>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909090" y="3693656"/>
              <a:ext cx="576264" cy="79539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flipV="1">
              <a:off x="2894803" y="4557312"/>
              <a:ext cx="517526" cy="720772"/>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flipV="1">
              <a:off x="3525041" y="5400331"/>
              <a:ext cx="884240" cy="46516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5560221" y="3765099"/>
              <a:ext cx="628652" cy="76522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560221" y="4557312"/>
              <a:ext cx="546101" cy="72394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flipV="1">
              <a:off x="3615529" y="3693656"/>
              <a:ext cx="1846266" cy="162411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V="1">
              <a:off x="3615529" y="3765099"/>
              <a:ext cx="1758954" cy="1516161"/>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flipH="1" flipV="1">
              <a:off x="2894803" y="4485871"/>
              <a:ext cx="2479681" cy="79538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3686967" y="3693656"/>
              <a:ext cx="2287593" cy="86842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3615529" y="3261828"/>
              <a:ext cx="792164" cy="201625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4550569" y="3188798"/>
              <a:ext cx="911227" cy="21289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V="1">
              <a:off x="3615529" y="4549375"/>
              <a:ext cx="2490793" cy="728710"/>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flipV="1">
              <a:off x="2986878" y="3693656"/>
              <a:ext cx="2500318" cy="83666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V="1">
              <a:off x="4552157" y="3723821"/>
              <a:ext cx="909639" cy="2057535"/>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H="1" flipV="1">
              <a:off x="3615529" y="3693656"/>
              <a:ext cx="871539" cy="20559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flipV="1">
              <a:off x="4623594" y="4485871"/>
              <a:ext cx="1482729" cy="1263733"/>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flipH="1" flipV="1">
              <a:off x="2986878" y="4504922"/>
              <a:ext cx="1565279" cy="1285959"/>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V="1">
              <a:off x="2967828" y="3261828"/>
              <a:ext cx="1368428" cy="1300248"/>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flipH="1" flipV="1">
              <a:off x="4552157" y="3188798"/>
              <a:ext cx="1422403" cy="1360577"/>
            </a:xfrm>
            <a:prstGeom prst="line">
              <a:avLst/>
            </a:prstGeom>
            <a:ln w="19050">
              <a:solidFill>
                <a:srgbClr val="99FF99"/>
              </a:solidFill>
            </a:ln>
          </p:spPr>
          <p:style>
            <a:lnRef idx="1">
              <a:schemeClr val="accent1"/>
            </a:lnRef>
            <a:fillRef idx="0">
              <a:schemeClr val="accent1"/>
            </a:fillRef>
            <a:effectRef idx="0">
              <a:schemeClr val="accent1"/>
            </a:effectRef>
            <a:fontRef idx="minor">
              <a:schemeClr val="tx1"/>
            </a:fontRef>
          </p:style>
        </p:cxnSp>
        <p:pic>
          <p:nvPicPr>
            <p:cNvPr id="47" name="图片 52"/>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图片 53"/>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3496528"/>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9" name="组合 54"/>
            <p:cNvGrpSpPr/>
            <p:nvPr/>
          </p:nvGrpSpPr>
          <p:grpSpPr bwMode="auto">
            <a:xfrm>
              <a:off x="2607464" y="4292409"/>
              <a:ext cx="3757622" cy="455190"/>
              <a:chOff x="2627784" y="4149080"/>
              <a:chExt cx="3757622" cy="455190"/>
            </a:xfrm>
          </p:grpSpPr>
          <p:pic>
            <p:nvPicPr>
              <p:cNvPr id="55" name="图片 60"/>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6814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图片 61"/>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27784" y="414908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0" name="图片 55"/>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24880"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图片 56"/>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02416" y="509264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2" name="组合 57"/>
            <p:cNvGrpSpPr/>
            <p:nvPr/>
          </p:nvGrpSpPr>
          <p:grpSpPr bwMode="auto">
            <a:xfrm>
              <a:off x="4227644" y="2947482"/>
              <a:ext cx="517262" cy="3145044"/>
              <a:chOff x="4311758" y="2755370"/>
              <a:chExt cx="517262" cy="3145044"/>
            </a:xfrm>
          </p:grpSpPr>
          <p:pic>
            <p:nvPicPr>
              <p:cNvPr id="53" name="图片 5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2755370"/>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4" name="图片 59"/>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11758" y="5445224"/>
                <a:ext cx="517262" cy="455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cxnSp>
        <p:nvCxnSpPr>
          <p:cNvPr id="57" name="直接连接符 56"/>
          <p:cNvCxnSpPr/>
          <p:nvPr/>
        </p:nvCxnSpPr>
        <p:spPr>
          <a:xfrm>
            <a:off x="3174604" y="2260324"/>
            <a:ext cx="1954702"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V="1">
            <a:off x="3174604" y="1742726"/>
            <a:ext cx="868422" cy="5122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flipH="1" flipV="1">
            <a:off x="4171531" y="1746837"/>
            <a:ext cx="825673" cy="524717"/>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flipV="1">
            <a:off x="4578591" y="2209699"/>
            <a:ext cx="419644" cy="999989"/>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H="1" flipV="1">
            <a:off x="3194494" y="2274903"/>
            <a:ext cx="444093" cy="87983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3511909" y="3143611"/>
            <a:ext cx="1158938" cy="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flipV="1">
            <a:off x="3498141" y="1696234"/>
            <a:ext cx="587128" cy="1690238"/>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flipH="1" flipV="1">
            <a:off x="4114121" y="1598838"/>
            <a:ext cx="529721" cy="1525393"/>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flipH="1" flipV="1">
            <a:off x="3139401" y="2249095"/>
            <a:ext cx="1498282" cy="875136"/>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66" name="直接连接符 65"/>
          <p:cNvCxnSpPr/>
          <p:nvPr/>
        </p:nvCxnSpPr>
        <p:spPr>
          <a:xfrm flipH="1">
            <a:off x="3608845" y="2217546"/>
            <a:ext cx="1373789" cy="92606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grpSp>
        <p:nvGrpSpPr>
          <p:cNvPr id="67" name="组合 17"/>
          <p:cNvGrpSpPr/>
          <p:nvPr/>
        </p:nvGrpSpPr>
        <p:grpSpPr bwMode="auto">
          <a:xfrm>
            <a:off x="2908065" y="1525876"/>
            <a:ext cx="2308081" cy="1894664"/>
            <a:chOff x="2699792" y="2433478"/>
            <a:chExt cx="3602460" cy="2855140"/>
          </a:xfrm>
        </p:grpSpPr>
        <p:pic>
          <p:nvPicPr>
            <p:cNvPr id="68" name="图片 18"/>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64078" y="2433478"/>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图片 19"/>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99792" y="3284984"/>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0" name="图片 20"/>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0112" y="321297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1" name="图片 21"/>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419872"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2" name="图片 22"/>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004048" y="4653136"/>
              <a:ext cx="722140" cy="63548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04" name="矩形 103"/>
          <p:cNvSpPr/>
          <p:nvPr/>
        </p:nvSpPr>
        <p:spPr>
          <a:xfrm>
            <a:off x="2969621" y="3603649"/>
            <a:ext cx="2177143"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5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对电线。</a:t>
            </a:r>
          </a:p>
        </p:txBody>
      </p:sp>
      <p:sp>
        <p:nvSpPr>
          <p:cNvPr id="105" name="矩形 104"/>
          <p:cNvSpPr/>
          <p:nvPr/>
        </p:nvSpPr>
        <p:spPr>
          <a:xfrm>
            <a:off x="5724414" y="3603649"/>
            <a:ext cx="2524139" cy="584775"/>
          </a:xfrm>
          <a:prstGeom prst="rect">
            <a:avLst/>
          </a:prstGeom>
        </p:spPr>
        <p:txBody>
          <a:bodyPr wrap="square">
            <a:spAutoFit/>
          </a:bodyPr>
          <a:lstStyle/>
          <a:p>
            <a:r>
              <a:rPr lang="en-US" altLang="zh-CN" sz="1600" b="1" dirty="0">
                <a:latin typeface="微软雅黑" panose="020B0503020204020204" pitchFamily="34" charset="-122"/>
                <a:ea typeface="微软雅黑" panose="020B0503020204020204" pitchFamily="34" charset="-122"/>
              </a:rPr>
              <a:t>N </a:t>
            </a:r>
            <a:r>
              <a:rPr lang="zh-CN" altLang="en-US" sz="1600" b="1" dirty="0">
                <a:latin typeface="微软雅黑" panose="020B0503020204020204" pitchFamily="34" charset="-122"/>
                <a:ea typeface="微软雅黑" panose="020B0503020204020204" pitchFamily="34" charset="-122"/>
              </a:rPr>
              <a:t>部电话机两两直接相连，需 </a:t>
            </a:r>
            <a:r>
              <a:rPr lang="en-US" altLang="zh-CN" sz="1600" b="1" dirty="0">
                <a:latin typeface="微软雅黑" panose="020B0503020204020204" pitchFamily="34" charset="-122"/>
                <a:ea typeface="微软雅黑" panose="020B0503020204020204" pitchFamily="34" charset="-122"/>
              </a:rPr>
              <a:t>N(N –1)/2  </a:t>
            </a:r>
            <a:r>
              <a:rPr lang="zh-CN" altLang="en-US" sz="1600" b="1" dirty="0">
                <a:latin typeface="微软雅黑" panose="020B0503020204020204" pitchFamily="34" charset="-122"/>
                <a:ea typeface="微软雅黑" panose="020B0503020204020204" pitchFamily="34" charset="-122"/>
              </a:rPr>
              <a:t>对电线。</a:t>
            </a:r>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F627542-E7EE-6D2A-4069-CB8470A925F1}"/>
              </a:ext>
            </a:extLst>
          </p:cNvPr>
          <p:cNvSpPr>
            <a:spLocks noGrp="1"/>
          </p:cNvSpPr>
          <p:nvPr>
            <p:ph type="title"/>
          </p:nvPr>
        </p:nvSpPr>
        <p:spPr>
          <a:xfrm>
            <a:off x="612000" y="216000"/>
            <a:ext cx="7920000" cy="369332"/>
          </a:xfrm>
        </p:spPr>
        <p:txBody>
          <a:bodyPr/>
          <a:lstStyle/>
          <a:p>
            <a:r>
              <a:rPr lang="zh-CN" altLang="en-US" dirty="0"/>
              <a:t>使用交换机</a:t>
            </a:r>
          </a:p>
        </p:txBody>
      </p:sp>
      <p:sp>
        <p:nvSpPr>
          <p:cNvPr id="103" name="内容占位符 102"/>
          <p:cNvSpPr>
            <a:spLocks noGrp="1"/>
          </p:cNvSpPr>
          <p:nvPr>
            <p:ph sz="quarter" idx="10"/>
          </p:nvPr>
        </p:nvSpPr>
        <p:spPr>
          <a:xfrm>
            <a:off x="612000" y="720000"/>
            <a:ext cx="7920000" cy="3960000"/>
          </a:xfrm>
        </p:spPr>
        <p:txBody>
          <a:bodyPr/>
          <a:lstStyle/>
          <a:p>
            <a:r>
              <a:rPr lang="zh-CN" altLang="en-US" dirty="0"/>
              <a:t>当电话机的数量增多时，使用电话交换机将这些电话连接起来。</a:t>
            </a:r>
          </a:p>
        </p:txBody>
      </p:sp>
      <p:cxnSp>
        <p:nvCxnSpPr>
          <p:cNvPr id="74" name="直接连接符 73"/>
          <p:cNvCxnSpPr/>
          <p:nvPr/>
        </p:nvCxnSpPr>
        <p:spPr>
          <a:xfrm>
            <a:off x="1874459" y="2044142"/>
            <a:ext cx="688975" cy="6064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1164846" y="2650567"/>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p:nvPr/>
        </p:nvCxnSpPr>
        <p:spPr>
          <a:xfrm flipV="1">
            <a:off x="1672846" y="2896630"/>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p:nvPr/>
        </p:nvCxnSpPr>
        <p:spPr>
          <a:xfrm flipV="1">
            <a:off x="2563434" y="2980767"/>
            <a:ext cx="233362" cy="9080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p:nvPr/>
        </p:nvCxnSpPr>
        <p:spPr>
          <a:xfrm flipH="1" flipV="1">
            <a:off x="3079371" y="2956955"/>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stCxn id="92" idx="1"/>
          </p:cNvCxnSpPr>
          <p:nvPr/>
        </p:nvCxnSpPr>
        <p:spPr>
          <a:xfrm flipV="1">
            <a:off x="2719009" y="1804430"/>
            <a:ext cx="131762" cy="8064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p:nvPr/>
        </p:nvCxnSpPr>
        <p:spPr>
          <a:xfrm flipV="1">
            <a:off x="3174621" y="1928255"/>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stCxn id="92" idx="5"/>
          </p:cNvCxnSpPr>
          <p:nvPr/>
        </p:nvCxnSpPr>
        <p:spPr>
          <a:xfrm flipV="1">
            <a:off x="3306384" y="2525155"/>
            <a:ext cx="993775" cy="161925"/>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82" name="直接连接符 81"/>
          <p:cNvCxnSpPr/>
          <p:nvPr/>
        </p:nvCxnSpPr>
        <p:spPr>
          <a:xfrm flipV="1">
            <a:off x="4131246" y="2930828"/>
            <a:ext cx="179495" cy="265114"/>
          </a:xfrm>
          <a:prstGeom prst="line">
            <a:avLst/>
          </a:prstGeom>
          <a:ln w="63500">
            <a:solidFill>
              <a:schemeClr val="bg1"/>
            </a:solidFill>
            <a:prstDash val="sysDot"/>
          </a:ln>
        </p:spPr>
        <p:style>
          <a:lnRef idx="1">
            <a:schemeClr val="accent1"/>
          </a:lnRef>
          <a:fillRef idx="0">
            <a:schemeClr val="accent1"/>
          </a:fillRef>
          <a:effectRef idx="0">
            <a:schemeClr val="accent1"/>
          </a:effectRef>
          <a:fontRef idx="minor">
            <a:schemeClr val="tx1"/>
          </a:fontRef>
        </p:style>
      </p:cxnSp>
      <p:pic>
        <p:nvPicPr>
          <p:cNvPr id="83"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06084" y="24743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4"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48996" y="33109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5"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23721" y="366021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57209" y="3222067"/>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7"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5371" y="1763155"/>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3434" y="1588530"/>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9"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8471" y="1701242"/>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0"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74734" y="2287030"/>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91" name="组合 90"/>
          <p:cNvGrpSpPr/>
          <p:nvPr/>
        </p:nvGrpSpPr>
        <p:grpSpPr>
          <a:xfrm>
            <a:off x="2286091" y="2457234"/>
            <a:ext cx="1020162" cy="614353"/>
            <a:chOff x="2495198" y="3865333"/>
            <a:chExt cx="1020162" cy="614353"/>
          </a:xfrm>
          <a:solidFill>
            <a:srgbClr val="0000FF"/>
          </a:solidFill>
        </p:grpSpPr>
        <p:sp>
          <p:nvSpPr>
            <p:cNvPr id="92" name="立方体 91"/>
            <p:cNvSpPr/>
            <p:nvPr/>
          </p:nvSpPr>
          <p:spPr>
            <a:xfrm>
              <a:off x="2495198" y="3865333"/>
              <a:ext cx="1020162" cy="614353"/>
            </a:xfrm>
            <a:prstGeom prst="cube">
              <a:avLst/>
            </a:prstGeom>
            <a:grp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3" name="矩形 92"/>
            <p:cNvSpPr/>
            <p:nvPr/>
          </p:nvSpPr>
          <p:spPr>
            <a:xfrm>
              <a:off x="2593495" y="4082725"/>
              <a:ext cx="723275" cy="307777"/>
            </a:xfrm>
            <a:prstGeom prst="rect">
              <a:avLst/>
            </a:prstGeom>
            <a:grpFill/>
            <a:ln>
              <a:noFill/>
            </a:ln>
          </p:spPr>
          <p:txBody>
            <a:bodyPr wrap="none">
              <a:spAutoFit/>
            </a:bodyPr>
            <a:lstStyle/>
            <a:p>
              <a:pPr algn="ctr" fontAlgn="auto">
                <a:spcBef>
                  <a:spcPts val="0"/>
                </a:spcBef>
                <a:spcAft>
                  <a:spcPts val="0"/>
                </a:spcAft>
                <a:defRPr/>
              </a:pPr>
              <a:r>
                <a:rPr kumimoji="1" lang="zh-CN" altLang="en-US" sz="1400" b="1" dirty="0">
                  <a:solidFill>
                    <a:prstClr val="white"/>
                  </a:solidFill>
                  <a:latin typeface="微软雅黑" panose="020B0503020204020204" pitchFamily="34" charset="-122"/>
                  <a:ea typeface="微软雅黑" panose="020B0503020204020204" pitchFamily="34" charset="-122"/>
                </a:rPr>
                <a:t>交换机</a:t>
              </a:r>
            </a:p>
          </p:txBody>
        </p:sp>
      </p:grpSp>
      <p:grpSp>
        <p:nvGrpSpPr>
          <p:cNvPr id="94" name="组合 25"/>
          <p:cNvGrpSpPr/>
          <p:nvPr/>
        </p:nvGrpSpPr>
        <p:grpSpPr bwMode="auto">
          <a:xfrm>
            <a:off x="5398134" y="1514328"/>
            <a:ext cx="3128501" cy="2423320"/>
            <a:chOff x="5342542" y="2445544"/>
            <a:chExt cx="2801549" cy="2576158"/>
          </a:xfrm>
        </p:grpSpPr>
        <p:sp>
          <p:nvSpPr>
            <p:cNvPr id="95" name="对角圆角矩形 94"/>
            <p:cNvSpPr/>
            <p:nvPr/>
          </p:nvSpPr>
          <p:spPr>
            <a:xfrm>
              <a:off x="5342542" y="2445544"/>
              <a:ext cx="2801549" cy="257615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96" name="矩形 27"/>
            <p:cNvSpPr>
              <a:spLocks noChangeArrowheads="1"/>
            </p:cNvSpPr>
            <p:nvPr/>
          </p:nvSpPr>
          <p:spPr bwMode="auto">
            <a:xfrm>
              <a:off x="5438561" y="2674897"/>
              <a:ext cx="2654203" cy="2061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300"/>
                </a:lnSpc>
                <a:spcBef>
                  <a:spcPts val="600"/>
                </a:spcBef>
              </a:pPr>
              <a:r>
                <a:rPr lang="zh-CN" altLang="zh-CN" b="1" dirty="0">
                  <a:solidFill>
                    <a:prstClr val="white"/>
                  </a:solidFill>
                  <a:latin typeface="微软雅黑" panose="020B0503020204020204" pitchFamily="34" charset="-122"/>
                  <a:ea typeface="微软雅黑" panose="020B0503020204020204" pitchFamily="34" charset="-122"/>
                </a:rPr>
                <a:t>每一部电话都</a:t>
              </a:r>
              <a:r>
                <a:rPr lang="zh-CN" altLang="en-US" b="1" dirty="0">
                  <a:solidFill>
                    <a:prstClr val="white"/>
                  </a:solidFill>
                  <a:latin typeface="微软雅黑" panose="020B0503020204020204" pitchFamily="34" charset="-122"/>
                  <a:ea typeface="微软雅黑" panose="020B0503020204020204" pitchFamily="34" charset="-122"/>
                </a:rPr>
                <a:t>直接</a:t>
              </a:r>
              <a:r>
                <a:rPr lang="zh-CN" altLang="zh-CN" b="1" dirty="0">
                  <a:solidFill>
                    <a:prstClr val="white"/>
                  </a:solidFill>
                  <a:latin typeface="微软雅黑" panose="020B0503020204020204" pitchFamily="34" charset="-122"/>
                  <a:ea typeface="微软雅黑" panose="020B0503020204020204" pitchFamily="34" charset="-122"/>
                </a:rPr>
                <a:t>连接到交换机上，而交换机使用</a:t>
              </a:r>
              <a:r>
                <a:rPr lang="zh-CN" altLang="zh-CN" b="1" dirty="0">
                  <a:solidFill>
                    <a:srgbClr val="FFFF00"/>
                  </a:solidFill>
                  <a:latin typeface="微软雅黑" panose="020B0503020204020204" pitchFamily="34" charset="-122"/>
                  <a:ea typeface="微软雅黑" panose="020B0503020204020204" pitchFamily="34" charset="-122"/>
                </a:rPr>
                <a:t>交换</a:t>
              </a:r>
              <a:r>
                <a:rPr lang="zh-CN" altLang="zh-CN" b="1" dirty="0">
                  <a:solidFill>
                    <a:prstClr val="white"/>
                  </a:solidFill>
                  <a:latin typeface="微软雅黑" panose="020B0503020204020204" pitchFamily="34" charset="-122"/>
                  <a:ea typeface="微软雅黑" panose="020B0503020204020204" pitchFamily="34" charset="-122"/>
                </a:rPr>
                <a:t>的方法，让电话用户彼此之间可以很方便地通信。</a:t>
              </a:r>
              <a:r>
                <a:rPr lang="zh-CN" altLang="en-US" b="1" dirty="0">
                  <a:solidFill>
                    <a:prstClr val="white"/>
                  </a:solidFill>
                  <a:latin typeface="微软雅黑" panose="020B0503020204020204" pitchFamily="34" charset="-122"/>
                  <a:ea typeface="微软雅黑" panose="020B0503020204020204" pitchFamily="34" charset="-122"/>
                </a:rPr>
                <a:t> </a:t>
              </a:r>
              <a:endParaRPr lang="en-US" altLang="zh-CN" b="1" dirty="0">
                <a:solidFill>
                  <a:prstClr val="white"/>
                </a:solidFill>
                <a:latin typeface="微软雅黑" panose="020B0503020204020204" pitchFamily="34" charset="-122"/>
                <a:ea typeface="微软雅黑" panose="020B0503020204020204" pitchFamily="34" charset="-122"/>
              </a:endParaRPr>
            </a:p>
            <a:p>
              <a:pPr>
                <a:lnSpc>
                  <a:spcPts val="2300"/>
                </a:lnSpc>
                <a:spcBef>
                  <a:spcPts val="600"/>
                </a:spcBef>
              </a:pPr>
              <a:r>
                <a:rPr lang="zh-CN" altLang="en-US" b="1" dirty="0">
                  <a:solidFill>
                    <a:prstClr val="white"/>
                  </a:solidFill>
                  <a:latin typeface="微软雅黑" panose="020B0503020204020204" pitchFamily="34" charset="-122"/>
                  <a:ea typeface="微软雅黑" panose="020B0503020204020204" pitchFamily="34" charset="-122"/>
                </a:rPr>
                <a:t>这种</a:t>
              </a:r>
              <a:r>
                <a:rPr lang="zh-CN" altLang="zh-CN" b="1" dirty="0">
                  <a:solidFill>
                    <a:prstClr val="white"/>
                  </a:solidFill>
                  <a:latin typeface="微软雅黑" panose="020B0503020204020204" pitchFamily="34" charset="-122"/>
                  <a:ea typeface="微软雅黑" panose="020B0503020204020204" pitchFamily="34" charset="-122"/>
                </a:rPr>
                <a:t>交换方式</a:t>
              </a:r>
              <a:r>
                <a:rPr lang="zh-CN" altLang="en-US" b="1" dirty="0">
                  <a:solidFill>
                    <a:prstClr val="white"/>
                  </a:solidFill>
                  <a:latin typeface="微软雅黑" panose="020B0503020204020204" pitchFamily="34" charset="-122"/>
                  <a:ea typeface="微软雅黑" panose="020B0503020204020204" pitchFamily="34" charset="-122"/>
                </a:rPr>
                <a:t>就</a:t>
              </a:r>
              <a:r>
                <a:rPr lang="zh-CN" altLang="zh-CN" b="1" dirty="0">
                  <a:solidFill>
                    <a:prstClr val="white"/>
                  </a:solidFill>
                  <a:latin typeface="微软雅黑" panose="020B0503020204020204" pitchFamily="34" charset="-122"/>
                  <a:ea typeface="微软雅黑" panose="020B0503020204020204" pitchFamily="34" charset="-122"/>
                </a:rPr>
                <a:t>是</a:t>
              </a:r>
              <a:r>
                <a:rPr lang="zh-CN" altLang="zh-CN" b="1" dirty="0">
                  <a:solidFill>
                    <a:srgbClr val="FFFF00"/>
                  </a:solidFill>
                  <a:latin typeface="微软雅黑" panose="020B0503020204020204" pitchFamily="34" charset="-122"/>
                  <a:ea typeface="微软雅黑" panose="020B0503020204020204" pitchFamily="34" charset="-122"/>
                </a:rPr>
                <a:t>电路交换</a:t>
              </a:r>
              <a:r>
                <a:rPr lang="en-US" altLang="zh-CN" b="1" dirty="0">
                  <a:solidFill>
                    <a:srgbClr val="FFFF00"/>
                  </a:solidFill>
                  <a:latin typeface="微软雅黑" panose="020B0503020204020204" pitchFamily="34" charset="-122"/>
                  <a:ea typeface="微软雅黑" panose="020B0503020204020204" pitchFamily="34" charset="-122"/>
                </a:rPr>
                <a:t> (circuit switching)</a:t>
              </a:r>
              <a:r>
                <a:rPr lang="zh-CN" altLang="en-US" b="1" dirty="0">
                  <a:solidFill>
                    <a:srgbClr val="FFFF00"/>
                  </a:solidFill>
                  <a:latin typeface="微软雅黑" panose="020B0503020204020204" pitchFamily="34" charset="-122"/>
                  <a:ea typeface="微软雅黑" panose="020B0503020204020204" pitchFamily="34" charset="-122"/>
                </a:rPr>
                <a:t>。</a:t>
              </a:r>
            </a:p>
          </p:txBody>
        </p:sp>
      </p:gr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EBC6C451-B85B-6A12-7AB3-94F98DEA9DB4}"/>
              </a:ext>
            </a:extLst>
          </p:cNvPr>
          <p:cNvSpPr>
            <a:spLocks noGrp="1"/>
          </p:cNvSpPr>
          <p:nvPr>
            <p:ph type="title"/>
          </p:nvPr>
        </p:nvSpPr>
        <p:spPr>
          <a:xfrm>
            <a:off x="612000" y="216000"/>
            <a:ext cx="7920000" cy="369332"/>
          </a:xfrm>
        </p:spPr>
        <p:txBody>
          <a:bodyPr/>
          <a:lstStyle/>
          <a:p>
            <a:r>
              <a:rPr lang="zh-CN" altLang="en-US" dirty="0"/>
              <a:t>“交换 </a:t>
            </a:r>
            <a:r>
              <a:rPr lang="en-US" altLang="zh-CN" dirty="0"/>
              <a:t>(switching)</a:t>
            </a:r>
            <a:r>
              <a:rPr lang="zh-CN" altLang="en-US" dirty="0"/>
              <a:t>”的含义</a:t>
            </a:r>
          </a:p>
        </p:txBody>
      </p:sp>
      <p:sp>
        <p:nvSpPr>
          <p:cNvPr id="2" name="内容占位符 1"/>
          <p:cNvSpPr>
            <a:spLocks noGrp="1"/>
          </p:cNvSpPr>
          <p:nvPr>
            <p:ph sz="quarter" idx="10"/>
          </p:nvPr>
        </p:nvSpPr>
        <p:spPr>
          <a:xfrm>
            <a:off x="612000" y="720000"/>
            <a:ext cx="7920000" cy="3960000"/>
          </a:xfrm>
        </p:spPr>
        <p:txBody>
          <a:bodyPr/>
          <a:lstStyle/>
          <a:p>
            <a:r>
              <a:rPr lang="zh-CN" altLang="en-US" dirty="0"/>
              <a:t>转接：把一条电话线转接到另一条电话线，使它们连通起来。</a:t>
            </a:r>
          </a:p>
          <a:p>
            <a:r>
              <a:rPr lang="zh-CN" altLang="en-US" dirty="0"/>
              <a:t>从通信资源的分配角度来看，就是按照某种方式动态地分配传输线路的资源。</a:t>
            </a:r>
          </a:p>
        </p:txBody>
      </p:sp>
      <p:cxnSp>
        <p:nvCxnSpPr>
          <p:cNvPr id="30" name="直接连接符 29"/>
          <p:cNvCxnSpPr/>
          <p:nvPr/>
        </p:nvCxnSpPr>
        <p:spPr>
          <a:xfrm>
            <a:off x="5813425" y="2268526"/>
            <a:ext cx="412223" cy="35003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5103812" y="2874951"/>
            <a:ext cx="1263650" cy="1143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5611812" y="3121014"/>
            <a:ext cx="971550" cy="57626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6502400" y="3446451"/>
            <a:ext cx="224277" cy="66675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flipV="1">
            <a:off x="7018337" y="3181339"/>
            <a:ext cx="677863" cy="45561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a:stCxn id="46" idx="1"/>
          </p:cNvCxnSpPr>
          <p:nvPr/>
        </p:nvCxnSpPr>
        <p:spPr>
          <a:xfrm flipV="1">
            <a:off x="6614708" y="1944737"/>
            <a:ext cx="111969" cy="846884"/>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7113587" y="2152639"/>
            <a:ext cx="493713" cy="596900"/>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a:stCxn id="46" idx="5"/>
          </p:cNvCxnSpPr>
          <p:nvPr/>
        </p:nvCxnSpPr>
        <p:spPr>
          <a:xfrm flipV="1">
            <a:off x="7437437" y="2665461"/>
            <a:ext cx="738628" cy="236102"/>
          </a:xfrm>
          <a:prstGeom prst="line">
            <a:avLst/>
          </a:prstGeom>
          <a:ln w="28575">
            <a:solidFill>
              <a:srgbClr val="99FF99"/>
            </a:solidFill>
          </a:ln>
        </p:spPr>
        <p:style>
          <a:lnRef idx="1">
            <a:schemeClr val="accent1"/>
          </a:lnRef>
          <a:fillRef idx="0">
            <a:schemeClr val="accent1"/>
          </a:fillRef>
          <a:effectRef idx="0">
            <a:schemeClr val="accent1"/>
          </a:effectRef>
          <a:fontRef idx="minor">
            <a:schemeClr val="tx1"/>
          </a:fontRef>
        </p:style>
      </p:cxnSp>
      <p:pic>
        <p:nvPicPr>
          <p:cNvPr id="38" name="图片 14"/>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45050" y="2698739"/>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图片 15"/>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7962" y="3535351"/>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0" name="图片 16"/>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687" y="3884601"/>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1" name="图片 17"/>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96175" y="3446451"/>
            <a:ext cx="517525" cy="455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图片 1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4337" y="1987539"/>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图片 1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02400" y="1812914"/>
            <a:ext cx="515937"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20"/>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37437" y="1925626"/>
            <a:ext cx="517525" cy="454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图片 21"/>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13700" y="2511414"/>
            <a:ext cx="517525" cy="4556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6" name="立方体 45"/>
          <p:cNvSpPr/>
          <p:nvPr/>
        </p:nvSpPr>
        <p:spPr>
          <a:xfrm>
            <a:off x="6011863" y="2571750"/>
            <a:ext cx="1425574" cy="879535"/>
          </a:xfrm>
          <a:prstGeom prst="cube">
            <a:avLst/>
          </a:prstGeom>
          <a:solidFill>
            <a:srgbClr val="0000FF"/>
          </a:solid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cxnSp>
        <p:nvCxnSpPr>
          <p:cNvPr id="47" name="直接连接符 46"/>
          <p:cNvCxnSpPr/>
          <p:nvPr/>
        </p:nvCxnSpPr>
        <p:spPr>
          <a:xfrm>
            <a:off x="6190858" y="2596329"/>
            <a:ext cx="1047661" cy="75372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6628776" y="2571750"/>
            <a:ext cx="808661" cy="315758"/>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49" name="直接连接符 48"/>
          <p:cNvCxnSpPr/>
          <p:nvPr/>
        </p:nvCxnSpPr>
        <p:spPr>
          <a:xfrm>
            <a:off x="6011862" y="2967026"/>
            <a:ext cx="714815" cy="479425"/>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0" name="直接连接符 49"/>
          <p:cNvCxnSpPr/>
          <p:nvPr/>
        </p:nvCxnSpPr>
        <p:spPr>
          <a:xfrm flipV="1">
            <a:off x="6103102" y="2571750"/>
            <a:ext cx="1135417" cy="834580"/>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a:off x="6209112" y="2617782"/>
            <a:ext cx="517565" cy="828669"/>
          </a:xfrm>
          <a:prstGeom prst="line">
            <a:avLst/>
          </a:prstGeom>
          <a:ln w="28575">
            <a:solidFill>
              <a:schemeClr val="bg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64593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750"/>
                                  </p:stCondLst>
                                  <p:childTnLst>
                                    <p:set>
                                      <p:cBhvr>
                                        <p:cTn id="6" dur="1" fill="hold">
                                          <p:stCondLst>
                                            <p:cond delay="0"/>
                                          </p:stCondLst>
                                        </p:cTn>
                                        <p:tgtEl>
                                          <p:spTgt spid="48"/>
                                        </p:tgtEl>
                                        <p:attrNameLst>
                                          <p:attrName>style.visibility</p:attrName>
                                        </p:attrNameLst>
                                      </p:cBhvr>
                                      <p:to>
                                        <p:strVal val="visible"/>
                                      </p:to>
                                    </p:set>
                                    <p:animEffect transition="in" filter="wipe(right)">
                                      <p:cBhvr>
                                        <p:cTn id="7" dur="1000"/>
                                        <p:tgtEl>
                                          <p:spTgt spid="48"/>
                                        </p:tgtEl>
                                      </p:cBhvr>
                                    </p:animEffect>
                                  </p:childTnLst>
                                </p:cTn>
                              </p:par>
                            </p:childTnLst>
                          </p:cTn>
                        </p:par>
                        <p:par>
                          <p:cTn id="8" fill="hold">
                            <p:stCondLst>
                              <p:cond delay="1750"/>
                            </p:stCondLst>
                            <p:childTnLst>
                              <p:par>
                                <p:cTn id="9" presetID="22" presetClass="entr" presetSubtype="8" fill="hold" nodeType="afterEffect">
                                  <p:stCondLst>
                                    <p:cond delay="50"/>
                                  </p:stCondLst>
                                  <p:childTnLst>
                                    <p:set>
                                      <p:cBhvr>
                                        <p:cTn id="10" dur="1" fill="hold">
                                          <p:stCondLst>
                                            <p:cond delay="0"/>
                                          </p:stCondLst>
                                        </p:cTn>
                                        <p:tgtEl>
                                          <p:spTgt spid="47"/>
                                        </p:tgtEl>
                                        <p:attrNameLst>
                                          <p:attrName>style.visibility</p:attrName>
                                        </p:attrNameLst>
                                      </p:cBhvr>
                                      <p:to>
                                        <p:strVal val="visible"/>
                                      </p:to>
                                    </p:set>
                                    <p:animEffect transition="in" filter="wipe(left)">
                                      <p:cBhvr>
                                        <p:cTn id="11" dur="1000"/>
                                        <p:tgtEl>
                                          <p:spTgt spid="47"/>
                                        </p:tgtEl>
                                      </p:cBhvr>
                                    </p:animEffect>
                                  </p:childTnLst>
                                </p:cTn>
                              </p:par>
                            </p:childTnLst>
                          </p:cTn>
                        </p:par>
                        <p:par>
                          <p:cTn id="12" fill="hold">
                            <p:stCondLst>
                              <p:cond delay="2800"/>
                            </p:stCondLst>
                            <p:childTnLst>
                              <p:par>
                                <p:cTn id="13" presetID="22" presetClass="entr" presetSubtype="8" fill="hold" nodeType="afterEffect">
                                  <p:stCondLst>
                                    <p:cond delay="0"/>
                                  </p:stCondLst>
                                  <p:childTnLst>
                                    <p:set>
                                      <p:cBhvr>
                                        <p:cTn id="14" dur="1" fill="hold">
                                          <p:stCondLst>
                                            <p:cond delay="0"/>
                                          </p:stCondLst>
                                        </p:cTn>
                                        <p:tgtEl>
                                          <p:spTgt spid="49"/>
                                        </p:tgtEl>
                                        <p:attrNameLst>
                                          <p:attrName>style.visibility</p:attrName>
                                        </p:attrNameLst>
                                      </p:cBhvr>
                                      <p:to>
                                        <p:strVal val="visible"/>
                                      </p:to>
                                    </p:set>
                                    <p:animEffect transition="in" filter="wipe(left)">
                                      <p:cBhvr>
                                        <p:cTn id="15" dur="1000"/>
                                        <p:tgtEl>
                                          <p:spTgt spid="49"/>
                                        </p:tgtEl>
                                      </p:cBhvr>
                                    </p:animEffect>
                                  </p:childTnLst>
                                </p:cTn>
                              </p:par>
                            </p:childTnLst>
                          </p:cTn>
                        </p:par>
                        <p:par>
                          <p:cTn id="16" fill="hold">
                            <p:stCondLst>
                              <p:cond delay="3800"/>
                            </p:stCondLst>
                            <p:childTnLst>
                              <p:par>
                                <p:cTn id="17" presetID="22" presetClass="entr" presetSubtype="4" fill="hold" nodeType="afterEffect">
                                  <p:stCondLst>
                                    <p:cond delay="0"/>
                                  </p:stCondLst>
                                  <p:childTnLst>
                                    <p:set>
                                      <p:cBhvr>
                                        <p:cTn id="18" dur="1" fill="hold">
                                          <p:stCondLst>
                                            <p:cond delay="0"/>
                                          </p:stCondLst>
                                        </p:cTn>
                                        <p:tgtEl>
                                          <p:spTgt spid="50"/>
                                        </p:tgtEl>
                                        <p:attrNameLst>
                                          <p:attrName>style.visibility</p:attrName>
                                        </p:attrNameLst>
                                      </p:cBhvr>
                                      <p:to>
                                        <p:strVal val="visible"/>
                                      </p:to>
                                    </p:set>
                                    <p:animEffect transition="in" filter="wipe(down)">
                                      <p:cBhvr>
                                        <p:cTn id="19" dur="1000"/>
                                        <p:tgtEl>
                                          <p:spTgt spid="50"/>
                                        </p:tgtEl>
                                      </p:cBhvr>
                                    </p:animEffect>
                                  </p:childTnLst>
                                </p:cTn>
                              </p:par>
                            </p:childTnLst>
                          </p:cTn>
                        </p:par>
                        <p:par>
                          <p:cTn id="20" fill="hold">
                            <p:stCondLst>
                              <p:cond delay="4800"/>
                            </p:stCondLst>
                            <p:childTnLst>
                              <p:par>
                                <p:cTn id="21" presetID="22" presetClass="exit" presetSubtype="4" fill="hold" nodeType="afterEffect">
                                  <p:stCondLst>
                                    <p:cond delay="0"/>
                                  </p:stCondLst>
                                  <p:childTnLst>
                                    <p:animEffect transition="out" filter="wipe(down)">
                                      <p:cBhvr>
                                        <p:cTn id="22" dur="1000"/>
                                        <p:tgtEl>
                                          <p:spTgt spid="49"/>
                                        </p:tgtEl>
                                      </p:cBhvr>
                                    </p:animEffect>
                                    <p:set>
                                      <p:cBhvr>
                                        <p:cTn id="23" dur="1" fill="hold">
                                          <p:stCondLst>
                                            <p:cond delay="999"/>
                                          </p:stCondLst>
                                        </p:cTn>
                                        <p:tgtEl>
                                          <p:spTgt spid="49"/>
                                        </p:tgtEl>
                                        <p:attrNameLst>
                                          <p:attrName>style.visibility</p:attrName>
                                        </p:attrNameLst>
                                      </p:cBhvr>
                                      <p:to>
                                        <p:strVal val="hidden"/>
                                      </p:to>
                                    </p:set>
                                  </p:childTnLst>
                                </p:cTn>
                              </p:par>
                            </p:childTnLst>
                          </p:cTn>
                        </p:par>
                        <p:par>
                          <p:cTn id="24" fill="hold">
                            <p:stCondLst>
                              <p:cond delay="5800"/>
                            </p:stCondLst>
                            <p:childTnLst>
                              <p:par>
                                <p:cTn id="25" presetID="22" presetClass="exit" presetSubtype="1" fill="hold" nodeType="afterEffect">
                                  <p:stCondLst>
                                    <p:cond delay="0"/>
                                  </p:stCondLst>
                                  <p:childTnLst>
                                    <p:animEffect transition="out" filter="wipe(up)">
                                      <p:cBhvr>
                                        <p:cTn id="26" dur="1000"/>
                                        <p:tgtEl>
                                          <p:spTgt spid="47"/>
                                        </p:tgtEl>
                                      </p:cBhvr>
                                    </p:animEffect>
                                    <p:set>
                                      <p:cBhvr>
                                        <p:cTn id="27" dur="1" fill="hold">
                                          <p:stCondLst>
                                            <p:cond delay="999"/>
                                          </p:stCondLst>
                                        </p:cTn>
                                        <p:tgtEl>
                                          <p:spTgt spid="47"/>
                                        </p:tgtEl>
                                        <p:attrNameLst>
                                          <p:attrName>style.visibility</p:attrName>
                                        </p:attrNameLst>
                                      </p:cBhvr>
                                      <p:to>
                                        <p:strVal val="hidden"/>
                                      </p:to>
                                    </p:set>
                                  </p:childTnLst>
                                </p:cTn>
                              </p:par>
                            </p:childTnLst>
                          </p:cTn>
                        </p:par>
                        <p:par>
                          <p:cTn id="28" fill="hold">
                            <p:stCondLst>
                              <p:cond delay="6800"/>
                            </p:stCondLst>
                            <p:childTnLst>
                              <p:par>
                                <p:cTn id="29" presetID="22" presetClass="entr" presetSubtype="1" fill="hold" nodeType="afterEffect">
                                  <p:stCondLst>
                                    <p:cond delay="0"/>
                                  </p:stCondLst>
                                  <p:childTnLst>
                                    <p:set>
                                      <p:cBhvr>
                                        <p:cTn id="30" dur="1" fill="hold">
                                          <p:stCondLst>
                                            <p:cond delay="0"/>
                                          </p:stCondLst>
                                        </p:cTn>
                                        <p:tgtEl>
                                          <p:spTgt spid="51"/>
                                        </p:tgtEl>
                                        <p:attrNameLst>
                                          <p:attrName>style.visibility</p:attrName>
                                        </p:attrNameLst>
                                      </p:cBhvr>
                                      <p:to>
                                        <p:strVal val="visible"/>
                                      </p:to>
                                    </p:set>
                                    <p:animEffect transition="in" filter="wipe(up)">
                                      <p:cBhvr>
                                        <p:cTn id="31" dur="1000"/>
                                        <p:tgtEl>
                                          <p:spTgt spid="51"/>
                                        </p:tgtEl>
                                      </p:cBhvr>
                                    </p:animEffect>
                                  </p:childTnLst>
                                </p:cTn>
                              </p:par>
                            </p:childTnLst>
                          </p:cTn>
                        </p:par>
                        <p:par>
                          <p:cTn id="32" fill="hold">
                            <p:stCondLst>
                              <p:cond delay="7800"/>
                            </p:stCondLst>
                            <p:childTnLst>
                              <p:par>
                                <p:cTn id="33" presetID="22" presetClass="exit" presetSubtype="4" fill="hold" nodeType="afterEffect">
                                  <p:stCondLst>
                                    <p:cond delay="0"/>
                                  </p:stCondLst>
                                  <p:childTnLst>
                                    <p:animEffect transition="out" filter="wipe(down)">
                                      <p:cBhvr>
                                        <p:cTn id="34" dur="750"/>
                                        <p:tgtEl>
                                          <p:spTgt spid="50"/>
                                        </p:tgtEl>
                                      </p:cBhvr>
                                    </p:animEffect>
                                    <p:set>
                                      <p:cBhvr>
                                        <p:cTn id="35" dur="1" fill="hold">
                                          <p:stCondLst>
                                            <p:cond delay="74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8E9AF79-EB99-796A-3BD9-B2CA7AE89CEF}"/>
              </a:ext>
            </a:extLst>
          </p:cNvPr>
          <p:cNvSpPr>
            <a:spLocks noGrp="1"/>
          </p:cNvSpPr>
          <p:nvPr>
            <p:ph type="title"/>
          </p:nvPr>
        </p:nvSpPr>
        <p:spPr>
          <a:xfrm>
            <a:off x="612000" y="216000"/>
            <a:ext cx="7920000" cy="369332"/>
          </a:xfrm>
        </p:spPr>
        <p:txBody>
          <a:bodyPr/>
          <a:lstStyle/>
          <a:p>
            <a:r>
              <a:rPr lang="zh-CN" altLang="en-US" dirty="0"/>
              <a:t>电路交换特点</a:t>
            </a:r>
          </a:p>
        </p:txBody>
      </p:sp>
      <p:sp>
        <p:nvSpPr>
          <p:cNvPr id="2" name="内容占位符 1"/>
          <p:cNvSpPr>
            <a:spLocks noGrp="1"/>
          </p:cNvSpPr>
          <p:nvPr>
            <p:ph sz="quarter" idx="10"/>
          </p:nvPr>
        </p:nvSpPr>
        <p:spPr>
          <a:xfrm>
            <a:off x="612000" y="720000"/>
            <a:ext cx="7920000" cy="3960000"/>
          </a:xfrm>
        </p:spPr>
        <p:txBody>
          <a:bodyPr/>
          <a:lstStyle/>
          <a:p>
            <a:r>
              <a:rPr lang="zh-CN" altLang="en-US" dirty="0"/>
              <a:t>分为三个阶段：</a:t>
            </a:r>
          </a:p>
          <a:p>
            <a:r>
              <a:rPr lang="zh-CN" altLang="en-US" dirty="0"/>
              <a:t>建立连接：建立一条专用的物理通路（占用通信资源）。</a:t>
            </a:r>
            <a:endParaRPr lang="en-US" altLang="zh-CN" dirty="0"/>
          </a:p>
          <a:p>
            <a:r>
              <a:rPr lang="zh-CN" altLang="en-US" dirty="0"/>
              <a:t>通话：主叫和被叫双方互相通电话（一直占用通信资源）。</a:t>
            </a:r>
          </a:p>
          <a:p>
            <a:r>
              <a:rPr lang="zh-CN" altLang="en-US" dirty="0"/>
              <a:t>释放连接：释放刚才使用的专用的物理通路（归还通信资源）。</a:t>
            </a:r>
          </a:p>
          <a:p>
            <a:endParaRPr lang="zh-CN" altLang="en-US" dirty="0"/>
          </a:p>
        </p:txBody>
      </p:sp>
      <p:sp>
        <p:nvSpPr>
          <p:cNvPr id="5" name="圆角矩形 3"/>
          <p:cNvSpPr>
            <a:spLocks noChangeArrowheads="1"/>
          </p:cNvSpPr>
          <p:nvPr/>
        </p:nvSpPr>
        <p:spPr bwMode="auto">
          <a:xfrm>
            <a:off x="574766" y="2681948"/>
            <a:ext cx="7855131" cy="1095967"/>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defRPr/>
            </a:pPr>
            <a:endParaRPr lang="zh-CN" altLang="zh-CN" sz="2400" b="1" dirty="0">
              <a:solidFill>
                <a:schemeClr val="bg1"/>
              </a:solidFill>
              <a:latin typeface="微软雅黑" pitchFamily="34" charset="-122"/>
              <a:ea typeface="微软雅黑" pitchFamily="34" charset="-122"/>
            </a:endParaRPr>
          </a:p>
        </p:txBody>
      </p:sp>
      <p:sp>
        <p:nvSpPr>
          <p:cNvPr id="6" name="矩形 5"/>
          <p:cNvSpPr/>
          <p:nvPr/>
        </p:nvSpPr>
        <p:spPr>
          <a:xfrm>
            <a:off x="827313" y="2835078"/>
            <a:ext cx="7445829" cy="730777"/>
          </a:xfrm>
          <a:prstGeom prst="rect">
            <a:avLst/>
          </a:prstGeom>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这种必须经过“建立连接（占用通信资源）、通话（一直占用通信资源）、释放连接（归还通信资源）”三个步骤的交换方式称为</a:t>
            </a:r>
            <a:r>
              <a:rPr lang="zh-CN" altLang="en-US" b="1" dirty="0">
                <a:solidFill>
                  <a:srgbClr val="FFFF00"/>
                </a:solidFill>
                <a:latin typeface="微软雅黑" panose="020B0503020204020204" pitchFamily="34" charset="-122"/>
                <a:ea typeface="微软雅黑" panose="020B0503020204020204" pitchFamily="34" charset="-122"/>
              </a:rPr>
              <a:t>电路交换。</a:t>
            </a:r>
          </a:p>
        </p:txBody>
      </p: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6"/>
          <p:cNvGrpSpPr/>
          <p:nvPr/>
        </p:nvGrpSpPr>
        <p:grpSpPr bwMode="auto">
          <a:xfrm>
            <a:off x="2421663" y="1114692"/>
            <a:ext cx="4343919" cy="2238103"/>
            <a:chOff x="1680" y="240"/>
            <a:chExt cx="2529" cy="1270"/>
          </a:xfrm>
          <a:solidFill>
            <a:srgbClr val="0098F6"/>
          </a:solidFill>
        </p:grpSpPr>
        <p:sp>
          <p:nvSpPr>
            <p:cNvPr id="6" name="Oval 7"/>
            <p:cNvSpPr>
              <a:spLocks noChangeArrowheads="1"/>
            </p:cNvSpPr>
            <p:nvPr/>
          </p:nvSpPr>
          <p:spPr bwMode="auto">
            <a:xfrm>
              <a:off x="2554" y="240"/>
              <a:ext cx="1088"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7" name="Oval 8"/>
            <p:cNvSpPr>
              <a:spLocks noChangeArrowheads="1"/>
            </p:cNvSpPr>
            <p:nvPr/>
          </p:nvSpPr>
          <p:spPr bwMode="auto">
            <a:xfrm>
              <a:off x="1941" y="381"/>
              <a:ext cx="827" cy="513"/>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Oval 9"/>
            <p:cNvSpPr>
              <a:spLocks noChangeArrowheads="1"/>
            </p:cNvSpPr>
            <p:nvPr/>
          </p:nvSpPr>
          <p:spPr bwMode="auto">
            <a:xfrm>
              <a:off x="1680" y="702"/>
              <a:ext cx="552" cy="411"/>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9" name="Oval 10"/>
            <p:cNvSpPr>
              <a:spLocks noChangeArrowheads="1"/>
            </p:cNvSpPr>
            <p:nvPr/>
          </p:nvSpPr>
          <p:spPr bwMode="auto">
            <a:xfrm>
              <a:off x="1849" y="894"/>
              <a:ext cx="842" cy="450"/>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0" name="Oval 11"/>
            <p:cNvSpPr>
              <a:spLocks noChangeArrowheads="1"/>
            </p:cNvSpPr>
            <p:nvPr/>
          </p:nvSpPr>
          <p:spPr bwMode="auto">
            <a:xfrm>
              <a:off x="2462" y="971"/>
              <a:ext cx="1272" cy="539"/>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1" name="Oval 12"/>
            <p:cNvSpPr>
              <a:spLocks noChangeArrowheads="1"/>
            </p:cNvSpPr>
            <p:nvPr/>
          </p:nvSpPr>
          <p:spPr bwMode="auto">
            <a:xfrm>
              <a:off x="3289" y="394"/>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2" name="Oval 13"/>
            <p:cNvSpPr>
              <a:spLocks noChangeArrowheads="1"/>
            </p:cNvSpPr>
            <p:nvPr/>
          </p:nvSpPr>
          <p:spPr bwMode="auto">
            <a:xfrm>
              <a:off x="3412" y="663"/>
              <a:ext cx="797" cy="398"/>
            </a:xfrm>
            <a:prstGeom prst="ellipse">
              <a:avLst/>
            </a:prstGeom>
            <a:solidFill>
              <a:srgbClr val="C5E5FB"/>
            </a:solidFill>
            <a:ln>
              <a:noFill/>
            </a:ln>
            <a:effectLst/>
            <a:scene3d>
              <a:camera prst="orthographicFront">
                <a:rot lat="0" lon="0" rev="0"/>
              </a:camera>
              <a:lightRig rig="contrasting" dir="t">
                <a:rot lat="0" lon="0" rev="7800000"/>
              </a:lightRig>
            </a:scene3d>
            <a:sp3d>
              <a:bevelT w="139700" h="139700"/>
            </a:sp3d>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3" name="Oval 14"/>
            <p:cNvSpPr>
              <a:spLocks noChangeArrowheads="1"/>
            </p:cNvSpPr>
            <p:nvPr/>
          </p:nvSpPr>
          <p:spPr bwMode="auto">
            <a:xfrm>
              <a:off x="3335" y="753"/>
              <a:ext cx="797" cy="668"/>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4" name="Oval 15"/>
            <p:cNvSpPr>
              <a:spLocks noChangeArrowheads="1"/>
            </p:cNvSpPr>
            <p:nvPr/>
          </p:nvSpPr>
          <p:spPr bwMode="auto">
            <a:xfrm>
              <a:off x="2140" y="548"/>
              <a:ext cx="1640" cy="667"/>
            </a:xfrm>
            <a:prstGeom prst="ellipse">
              <a:avLst/>
            </a:prstGeom>
            <a:solidFill>
              <a:srgbClr val="C5E5FB"/>
            </a:solid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15" name="Line 23"/>
          <p:cNvSpPr>
            <a:spLocks noChangeShapeType="1"/>
          </p:cNvSpPr>
          <p:nvPr/>
        </p:nvSpPr>
        <p:spPr bwMode="auto">
          <a:xfrm>
            <a:off x="3001310" y="2305489"/>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6" name="Text Box 24"/>
          <p:cNvSpPr txBox="1">
            <a:spLocks noChangeArrowheads="1"/>
          </p:cNvSpPr>
          <p:nvPr/>
        </p:nvSpPr>
        <p:spPr bwMode="auto">
          <a:xfrm>
            <a:off x="1278872" y="1786377"/>
            <a:ext cx="338138"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A</a:t>
            </a:r>
          </a:p>
        </p:txBody>
      </p:sp>
      <p:sp>
        <p:nvSpPr>
          <p:cNvPr id="17" name="Text Box 25"/>
          <p:cNvSpPr txBox="1">
            <a:spLocks noChangeArrowheads="1"/>
          </p:cNvSpPr>
          <p:nvPr/>
        </p:nvSpPr>
        <p:spPr bwMode="auto">
          <a:xfrm>
            <a:off x="7351060" y="1786377"/>
            <a:ext cx="325437"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latin typeface="微软雅黑" panose="020B0503020204020204" pitchFamily="34" charset="-122"/>
                <a:ea typeface="微软雅黑" panose="020B0503020204020204" pitchFamily="34" charset="-122"/>
              </a:rPr>
              <a:t>B</a:t>
            </a:r>
          </a:p>
        </p:txBody>
      </p:sp>
      <p:sp>
        <p:nvSpPr>
          <p:cNvPr id="18" name="Line 26"/>
          <p:cNvSpPr>
            <a:spLocks noChangeShapeType="1"/>
          </p:cNvSpPr>
          <p:nvPr/>
        </p:nvSpPr>
        <p:spPr bwMode="auto">
          <a:xfrm>
            <a:off x="1563035" y="2305489"/>
            <a:ext cx="1314450"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19" name="Line 27"/>
          <p:cNvSpPr>
            <a:spLocks noChangeShapeType="1"/>
          </p:cNvSpPr>
          <p:nvPr/>
        </p:nvSpPr>
        <p:spPr bwMode="auto">
          <a:xfrm>
            <a:off x="6084235" y="2305489"/>
            <a:ext cx="1400175" cy="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28"/>
          <p:cNvSpPr txBox="1">
            <a:spLocks noChangeArrowheads="1"/>
          </p:cNvSpPr>
          <p:nvPr/>
        </p:nvSpPr>
        <p:spPr bwMode="auto">
          <a:xfrm>
            <a:off x="4449110" y="1269352"/>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latin typeface="微软雅黑" panose="020B0503020204020204" pitchFamily="34" charset="-122"/>
                <a:ea typeface="微软雅黑" panose="020B0503020204020204" pitchFamily="34" charset="-122"/>
              </a:rPr>
              <a:t>电信网</a:t>
            </a:r>
          </a:p>
        </p:txBody>
      </p:sp>
      <p:sp>
        <p:nvSpPr>
          <p:cNvPr id="21" name="Text Box 29"/>
          <p:cNvSpPr txBox="1">
            <a:spLocks noChangeArrowheads="1"/>
          </p:cNvSpPr>
          <p:nvPr/>
        </p:nvSpPr>
        <p:spPr bwMode="auto">
          <a:xfrm>
            <a:off x="2979085" y="1732402"/>
            <a:ext cx="723900"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2" name="Text Box 30"/>
          <p:cNvSpPr txBox="1">
            <a:spLocks noChangeArrowheads="1"/>
          </p:cNvSpPr>
          <p:nvPr/>
        </p:nvSpPr>
        <p:spPr bwMode="auto">
          <a:xfrm>
            <a:off x="37728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3" name="Text Box 31"/>
          <p:cNvSpPr txBox="1">
            <a:spLocks noChangeArrowheads="1"/>
          </p:cNvSpPr>
          <p:nvPr/>
        </p:nvSpPr>
        <p:spPr bwMode="auto">
          <a:xfrm>
            <a:off x="4733272" y="17482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4" name="Text Box 32"/>
          <p:cNvSpPr txBox="1">
            <a:spLocks noChangeArrowheads="1"/>
          </p:cNvSpPr>
          <p:nvPr/>
        </p:nvSpPr>
        <p:spPr bwMode="auto">
          <a:xfrm>
            <a:off x="5614335" y="1748277"/>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交换机</a:t>
            </a:r>
          </a:p>
        </p:txBody>
      </p:sp>
      <p:sp>
        <p:nvSpPr>
          <p:cNvPr id="25" name="Text Box 34"/>
          <p:cNvSpPr txBox="1">
            <a:spLocks noChangeArrowheads="1"/>
          </p:cNvSpPr>
          <p:nvPr/>
        </p:nvSpPr>
        <p:spPr bwMode="auto">
          <a:xfrm>
            <a:off x="4176060" y="2908828"/>
            <a:ext cx="8001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dirty="0">
                <a:latin typeface="微软雅黑" panose="020B0503020204020204" pitchFamily="34" charset="-122"/>
                <a:ea typeface="微软雅黑" panose="020B0503020204020204" pitchFamily="34" charset="-122"/>
              </a:rPr>
              <a:t>中继线</a:t>
            </a:r>
          </a:p>
        </p:txBody>
      </p:sp>
      <p:sp>
        <p:nvSpPr>
          <p:cNvPr id="26" name="Line 35"/>
          <p:cNvSpPr>
            <a:spLocks noChangeShapeType="1"/>
          </p:cNvSpPr>
          <p:nvPr/>
        </p:nvSpPr>
        <p:spPr bwMode="auto">
          <a:xfrm>
            <a:off x="3442635" y="2324539"/>
            <a:ext cx="820689" cy="607285"/>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Line 36"/>
          <p:cNvSpPr>
            <a:spLocks noChangeShapeType="1"/>
          </p:cNvSpPr>
          <p:nvPr/>
        </p:nvSpPr>
        <p:spPr bwMode="auto">
          <a:xfrm>
            <a:off x="4568172" y="2338827"/>
            <a:ext cx="0" cy="577850"/>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8" name="Line 37"/>
          <p:cNvSpPr>
            <a:spLocks noChangeShapeType="1"/>
          </p:cNvSpPr>
          <p:nvPr/>
        </p:nvSpPr>
        <p:spPr bwMode="auto">
          <a:xfrm flipH="1">
            <a:off x="4869845" y="2346005"/>
            <a:ext cx="825223" cy="591332"/>
          </a:xfrm>
          <a:prstGeom prst="line">
            <a:avLst/>
          </a:prstGeom>
          <a:noFill/>
          <a:ln w="28575">
            <a:solidFill>
              <a:srgbClr val="0070C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9" name="Line 38"/>
          <p:cNvSpPr>
            <a:spLocks noChangeShapeType="1"/>
          </p:cNvSpPr>
          <p:nvPr/>
        </p:nvSpPr>
        <p:spPr bwMode="auto">
          <a:xfrm flipH="1">
            <a:off x="2163110" y="2313427"/>
            <a:ext cx="231775" cy="404812"/>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39"/>
          <p:cNvSpPr>
            <a:spLocks noChangeShapeType="1"/>
          </p:cNvSpPr>
          <p:nvPr/>
        </p:nvSpPr>
        <p:spPr bwMode="auto">
          <a:xfrm>
            <a:off x="6887510" y="2313427"/>
            <a:ext cx="114300" cy="3905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40"/>
          <p:cNvSpPr txBox="1">
            <a:spLocks noChangeArrowheads="1"/>
          </p:cNvSpPr>
          <p:nvPr/>
        </p:nvSpPr>
        <p:spPr bwMode="auto">
          <a:xfrm>
            <a:off x="1802747" y="2726177"/>
            <a:ext cx="7223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sp>
        <p:nvSpPr>
          <p:cNvPr id="32" name="Text Box 41"/>
          <p:cNvSpPr txBox="1">
            <a:spLocks noChangeArrowheads="1"/>
          </p:cNvSpPr>
          <p:nvPr/>
        </p:nvSpPr>
        <p:spPr bwMode="auto">
          <a:xfrm>
            <a:off x="6662085" y="271823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用户线</a:t>
            </a:r>
          </a:p>
        </p:txBody>
      </p:sp>
      <p:grpSp>
        <p:nvGrpSpPr>
          <p:cNvPr id="33" name="Group 56"/>
          <p:cNvGrpSpPr/>
          <p:nvPr/>
        </p:nvGrpSpPr>
        <p:grpSpPr bwMode="auto">
          <a:xfrm flipH="1">
            <a:off x="6330297" y="2079355"/>
            <a:ext cx="863600" cy="131762"/>
            <a:chOff x="1519" y="2160"/>
            <a:chExt cx="953" cy="227"/>
          </a:xfrm>
        </p:grpSpPr>
        <p:sp>
          <p:nvSpPr>
            <p:cNvPr id="34"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5"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6"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7"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38" name="Line 61"/>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39" name="Group 64"/>
          <p:cNvGrpSpPr/>
          <p:nvPr/>
        </p:nvGrpSpPr>
        <p:grpSpPr bwMode="auto">
          <a:xfrm>
            <a:off x="1748772" y="2053955"/>
            <a:ext cx="863600" cy="131762"/>
            <a:chOff x="1519" y="2160"/>
            <a:chExt cx="953" cy="227"/>
          </a:xfrm>
        </p:grpSpPr>
        <p:sp>
          <p:nvSpPr>
            <p:cNvPr id="40"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1"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2"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3"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19050">
              <a:solidFill>
                <a:srgbClr val="0000FF"/>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4" name="Line 69"/>
            <p:cNvSpPr>
              <a:spLocks noChangeShapeType="1"/>
            </p:cNvSpPr>
            <p:nvPr/>
          </p:nvSpPr>
          <p:spPr bwMode="auto">
            <a:xfrm>
              <a:off x="2109" y="2258"/>
              <a:ext cx="363" cy="0"/>
            </a:xfrm>
            <a:prstGeom prst="line">
              <a:avLst/>
            </a:prstGeom>
            <a:noFill/>
            <a:ln w="1905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45" name="Freeform 71"/>
          <p:cNvSpPr/>
          <p:nvPr/>
        </p:nvSpPr>
        <p:spPr bwMode="auto">
          <a:xfrm>
            <a:off x="322832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72"/>
          <p:cNvSpPr/>
          <p:nvPr/>
        </p:nvSpPr>
        <p:spPr bwMode="auto">
          <a:xfrm>
            <a:off x="4276072"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73"/>
          <p:cNvSpPr/>
          <p:nvPr/>
        </p:nvSpPr>
        <p:spPr bwMode="auto">
          <a:xfrm>
            <a:off x="5263497" y="2103167"/>
            <a:ext cx="61595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28575" cmpd="sng">
            <a:solidFill>
              <a:srgbClr val="0000FF"/>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立方体 47"/>
          <p:cNvSpPr/>
          <p:nvPr/>
        </p:nvSpPr>
        <p:spPr>
          <a:xfrm>
            <a:off x="2796522"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立方体 48"/>
          <p:cNvSpPr/>
          <p:nvPr/>
        </p:nvSpPr>
        <p:spPr>
          <a:xfrm>
            <a:off x="3879197" y="2057839"/>
            <a:ext cx="387350"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立方体 49"/>
          <p:cNvSpPr/>
          <p:nvPr/>
        </p:nvSpPr>
        <p:spPr>
          <a:xfrm>
            <a:off x="4880910" y="2057839"/>
            <a:ext cx="388937"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立方体 50"/>
          <p:cNvSpPr/>
          <p:nvPr/>
        </p:nvSpPr>
        <p:spPr>
          <a:xfrm>
            <a:off x="5882622" y="2057839"/>
            <a:ext cx="388938" cy="401638"/>
          </a:xfrm>
          <a:prstGeom prst="cube">
            <a:avLst/>
          </a:prstGeom>
          <a:solidFill>
            <a:srgbClr val="92D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Text Box 24"/>
          <p:cNvSpPr txBox="1">
            <a:spLocks noChangeArrowheads="1"/>
          </p:cNvSpPr>
          <p:nvPr/>
        </p:nvSpPr>
        <p:spPr bwMode="auto">
          <a:xfrm>
            <a:off x="2763185" y="2405354"/>
            <a:ext cx="32252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dirty="0">
                <a:solidFill>
                  <a:srgbClr val="0000FF"/>
                </a:solidFill>
                <a:latin typeface="微软雅黑" panose="020B0503020204020204" pitchFamily="34" charset="-122"/>
                <a:ea typeface="微软雅黑" panose="020B0503020204020204" pitchFamily="34" charset="-122"/>
              </a:rPr>
              <a:t>C</a:t>
            </a:r>
          </a:p>
        </p:txBody>
      </p:sp>
      <p:sp>
        <p:nvSpPr>
          <p:cNvPr id="53" name="Text Box 24"/>
          <p:cNvSpPr txBox="1">
            <a:spLocks noChangeArrowheads="1"/>
          </p:cNvSpPr>
          <p:nvPr/>
        </p:nvSpPr>
        <p:spPr bwMode="auto">
          <a:xfrm>
            <a:off x="3842685" y="2405354"/>
            <a:ext cx="346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54" name="Text Box 24"/>
          <p:cNvSpPr txBox="1">
            <a:spLocks noChangeArrowheads="1"/>
          </p:cNvSpPr>
          <p:nvPr/>
        </p:nvSpPr>
        <p:spPr bwMode="auto">
          <a:xfrm>
            <a:off x="4861860" y="2405354"/>
            <a:ext cx="30168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55" name="Text Box 24"/>
          <p:cNvSpPr txBox="1">
            <a:spLocks noChangeArrowheads="1"/>
          </p:cNvSpPr>
          <p:nvPr/>
        </p:nvSpPr>
        <p:spPr bwMode="auto">
          <a:xfrm>
            <a:off x="5879447" y="240535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b="1">
                <a:solidFill>
                  <a:srgbClr val="0000FF"/>
                </a:solidFill>
                <a:latin typeface="微软雅黑" panose="020B0503020204020204" pitchFamily="34" charset="-122"/>
                <a:ea typeface="微软雅黑" panose="020B0503020204020204" pitchFamily="34" charset="-122"/>
              </a:rPr>
              <a:t>F</a:t>
            </a:r>
          </a:p>
        </p:txBody>
      </p:sp>
      <p:sp>
        <p:nvSpPr>
          <p:cNvPr id="56" name="Line 26"/>
          <p:cNvSpPr>
            <a:spLocks noChangeShapeType="1"/>
          </p:cNvSpPr>
          <p:nvPr/>
        </p:nvSpPr>
        <p:spPr bwMode="auto">
          <a:xfrm>
            <a:off x="1563035" y="2260529"/>
            <a:ext cx="5788025" cy="0"/>
          </a:xfrm>
          <a:prstGeom prst="line">
            <a:avLst/>
          </a:prstGeom>
          <a:noFill/>
          <a:ln w="38100">
            <a:solidFill>
              <a:srgbClr val="C00000"/>
            </a:solidFill>
            <a:prstDash val="sysDot"/>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pic>
        <p:nvPicPr>
          <p:cNvPr id="57" name="图片 48"/>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5210" y="2078477"/>
            <a:ext cx="588962"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图片 49"/>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220885" y="2078477"/>
            <a:ext cx="58737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 name="圆角矩形 3"/>
          <p:cNvSpPr>
            <a:spLocks noChangeArrowheads="1"/>
          </p:cNvSpPr>
          <p:nvPr/>
        </p:nvSpPr>
        <p:spPr bwMode="auto">
          <a:xfrm>
            <a:off x="957945" y="3417211"/>
            <a:ext cx="7110090" cy="1163498"/>
          </a:xfrm>
          <a:prstGeom prst="roundRect">
            <a:avLst>
              <a:gd name="adj" fmla="val 8708"/>
            </a:avLst>
          </a:prstGeom>
          <a:solidFill>
            <a:srgbClr val="0089FA"/>
          </a:solidFill>
          <a:ln>
            <a:noFill/>
          </a:ln>
          <a:effectLst/>
          <a:scene3d>
            <a:camera prst="orthographicFront">
              <a:rot lat="0" lon="0" rev="0"/>
            </a:camera>
            <a:lightRig rig="glow" dir="t">
              <a:rot lat="0" lon="0" rev="14100000"/>
            </a:lightRig>
          </a:scene3d>
          <a:sp3d prstMaterial="softEdge">
            <a:bevelT w="127000" prst="artDeco"/>
          </a:sp3d>
        </p:spPr>
        <p:txBody>
          <a:bodyPr anchor="ctr"/>
          <a:lstStyle/>
          <a:p>
            <a:pPr eaLnBrk="0" fontAlgn="auto" hangingPunct="0">
              <a:lnSpc>
                <a:spcPct val="150000"/>
              </a:lnSpc>
              <a:spcBef>
                <a:spcPts val="0"/>
              </a:spcBef>
              <a:spcAft>
                <a:spcPts val="0"/>
              </a:spcAft>
            </a:pPr>
            <a:endParaRPr lang="zh-CN" altLang="zh-CN" sz="2400" b="1" dirty="0">
              <a:solidFill>
                <a:schemeClr val="bg1"/>
              </a:solidFill>
              <a:latin typeface="微软雅黑" pitchFamily="34" charset="-122"/>
              <a:ea typeface="微软雅黑" pitchFamily="34" charset="-122"/>
            </a:endParaRPr>
          </a:p>
        </p:txBody>
      </p:sp>
      <p:sp>
        <p:nvSpPr>
          <p:cNvPr id="61" name="矩形 60"/>
          <p:cNvSpPr/>
          <p:nvPr/>
        </p:nvSpPr>
        <p:spPr>
          <a:xfrm>
            <a:off x="1132116" y="3504796"/>
            <a:ext cx="6778499" cy="1015663"/>
          </a:xfrm>
          <a:prstGeom prst="rect">
            <a:avLst/>
          </a:prstGeom>
        </p:spPr>
        <p:txBody>
          <a:bodyPr wrap="square">
            <a:spAutoFit/>
          </a:bodyPr>
          <a:lstStyle/>
          <a:p>
            <a:pPr>
              <a:lnSpc>
                <a:spcPts val="2400"/>
              </a:lnSpc>
            </a:pPr>
            <a:r>
              <a:rPr lang="zh-CN" altLang="en-US" sz="1700" b="1" dirty="0">
                <a:solidFill>
                  <a:schemeClr val="bg1"/>
                </a:solidFill>
                <a:latin typeface="微软雅黑" panose="020B0503020204020204" pitchFamily="34" charset="-122"/>
                <a:ea typeface="微软雅黑" panose="020B0503020204020204" pitchFamily="34" charset="-122"/>
              </a:rPr>
              <a:t>计算机数据具有</a:t>
            </a:r>
            <a:r>
              <a:rPr lang="zh-CN" altLang="en-US" sz="1700" b="1" dirty="0">
                <a:solidFill>
                  <a:srgbClr val="FFFF00"/>
                </a:solidFill>
                <a:latin typeface="微软雅黑" panose="020B0503020204020204" pitchFamily="34" charset="-122"/>
                <a:ea typeface="微软雅黑" panose="020B0503020204020204" pitchFamily="34" charset="-122"/>
              </a:rPr>
              <a:t>突发性，</a:t>
            </a:r>
            <a:r>
              <a:rPr lang="zh-CN" altLang="en-US" sz="1700" b="1" dirty="0">
                <a:solidFill>
                  <a:schemeClr val="bg1"/>
                </a:solidFill>
                <a:latin typeface="微软雅黑" panose="020B0503020204020204" pitchFamily="34" charset="-122"/>
                <a:ea typeface="微软雅黑" panose="020B0503020204020204" pitchFamily="34" charset="-122"/>
              </a:rPr>
              <a:t>这导致在传送数据时，通信线路的利用率很低，真正用来传送数据的时间往往不到 </a:t>
            </a:r>
            <a:r>
              <a:rPr lang="en-US" altLang="zh-CN" sz="1700" b="1" dirty="0">
                <a:solidFill>
                  <a:schemeClr val="bg1"/>
                </a:solidFill>
                <a:latin typeface="微软雅黑" panose="020B0503020204020204" pitchFamily="34" charset="-122"/>
                <a:ea typeface="微软雅黑" panose="020B0503020204020204" pitchFamily="34" charset="-122"/>
              </a:rPr>
              <a:t>10%</a:t>
            </a:r>
            <a:r>
              <a:rPr lang="zh-CN" altLang="en-US" sz="1700" b="1" dirty="0">
                <a:solidFill>
                  <a:schemeClr val="bg1"/>
                </a:solidFill>
                <a:latin typeface="微软雅黑" panose="020B0503020204020204" pitchFamily="34" charset="-122"/>
                <a:ea typeface="微软雅黑" panose="020B0503020204020204" pitchFamily="34" charset="-122"/>
              </a:rPr>
              <a:t>，甚至不到 </a:t>
            </a:r>
            <a:r>
              <a:rPr lang="en-US" altLang="zh-CN" sz="1700" b="1" dirty="0">
                <a:solidFill>
                  <a:schemeClr val="bg1"/>
                </a:solidFill>
                <a:latin typeface="微软雅黑" panose="020B0503020204020204" pitchFamily="34" charset="-122"/>
                <a:ea typeface="微软雅黑" panose="020B0503020204020204" pitchFamily="34" charset="-122"/>
              </a:rPr>
              <a:t>1%</a:t>
            </a:r>
            <a:r>
              <a:rPr lang="zh-CN" altLang="en-US" sz="1700" b="1" dirty="0">
                <a:solidFill>
                  <a:schemeClr val="bg1"/>
                </a:solidFill>
                <a:latin typeface="微软雅黑" panose="020B0503020204020204" pitchFamily="34" charset="-122"/>
                <a:ea typeface="微软雅黑" panose="020B0503020204020204" pitchFamily="34" charset="-122"/>
              </a:rPr>
              <a:t>，已被用户占用的通信线路资源在绝大部分时间里都是空闲的。</a:t>
            </a:r>
            <a:endParaRPr lang="zh-CN" altLang="en-US" sz="1700" b="1" dirty="0">
              <a:solidFill>
                <a:srgbClr val="800000"/>
              </a:solidFill>
              <a:latin typeface="微软雅黑" panose="020B0503020204020204" pitchFamily="34" charset="-122"/>
              <a:ea typeface="微软雅黑" panose="020B0503020204020204" pitchFamily="34" charset="-122"/>
            </a:endParaRPr>
          </a:p>
        </p:txBody>
      </p:sp>
      <p:sp>
        <p:nvSpPr>
          <p:cNvPr id="65" name="标题 64">
            <a:extLst>
              <a:ext uri="{FF2B5EF4-FFF2-40B4-BE49-F238E27FC236}">
                <a16:creationId xmlns:a16="http://schemas.microsoft.com/office/drawing/2014/main" id="{AA520517-F777-D96E-F9D4-693032BF504E}"/>
              </a:ext>
            </a:extLst>
          </p:cNvPr>
          <p:cNvSpPr>
            <a:spLocks noGrp="1"/>
          </p:cNvSpPr>
          <p:nvPr>
            <p:ph type="title"/>
          </p:nvPr>
        </p:nvSpPr>
        <p:spPr>
          <a:xfrm>
            <a:off x="612000" y="216000"/>
            <a:ext cx="7920000" cy="369332"/>
          </a:xfrm>
        </p:spPr>
        <p:txBody>
          <a:bodyPr/>
          <a:lstStyle/>
          <a:p>
            <a:r>
              <a:rPr lang="zh-CN" altLang="en-US" dirty="0"/>
              <a:t>电路交换特点</a:t>
            </a:r>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a:xfrm>
            <a:off x="612000" y="720000"/>
            <a:ext cx="7920000" cy="3960000"/>
          </a:xfrm>
        </p:spPr>
        <p:txBody>
          <a:bodyPr/>
          <a:lstStyle/>
          <a:p>
            <a:r>
              <a:rPr lang="zh-CN" altLang="en-US" dirty="0"/>
              <a:t>通话的两个用户始终占用端到端的通信资源</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56"/>
                                        </p:tgtEl>
                                        <p:attrNameLst>
                                          <p:attrName>style.visibility</p:attrName>
                                        </p:attrNameLst>
                                      </p:cBhvr>
                                      <p:to>
                                        <p:strVal val="visible"/>
                                      </p:to>
                                    </p:set>
                                    <p:animEffect transition="in" filter="wipe(left)">
                                      <p:cBhvr>
                                        <p:cTn id="7" dur="4000"/>
                                        <p:tgtEl>
                                          <p:spTgt spid="56"/>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56"/>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56"/>
                                        </p:tgtEl>
                                      </p:cBhvr>
                                    </p:animEffect>
                                    <p:set>
                                      <p:cBhvr>
                                        <p:cTn id="14" dur="1" fill="hold">
                                          <p:stCondLst>
                                            <p:cond delay="2999"/>
                                          </p:stCondLst>
                                        </p:cTn>
                                        <p:tgtEl>
                                          <p:spTgt spid="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56" grpId="2"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51911A7D-B252-8039-8DB8-B2F80C9D36CD}"/>
              </a:ext>
            </a:extLst>
          </p:cNvPr>
          <p:cNvSpPr>
            <a:spLocks noGrp="1"/>
          </p:cNvSpPr>
          <p:nvPr>
            <p:ph type="title"/>
          </p:nvPr>
        </p:nvSpPr>
        <p:spPr>
          <a:xfrm>
            <a:off x="612000" y="216000"/>
            <a:ext cx="7920000" cy="369332"/>
          </a:xfrm>
        </p:spPr>
        <p:txBody>
          <a:bodyPr/>
          <a:lstStyle/>
          <a:p>
            <a:r>
              <a:rPr lang="en-US" altLang="zh-CN" dirty="0"/>
              <a:t>2. </a:t>
            </a:r>
            <a:r>
              <a:rPr lang="zh-CN" altLang="en-US" dirty="0"/>
              <a:t>分组交换的主要特点</a:t>
            </a:r>
          </a:p>
        </p:txBody>
      </p:sp>
      <p:sp>
        <p:nvSpPr>
          <p:cNvPr id="2" name="内容占位符 1"/>
          <p:cNvSpPr>
            <a:spLocks noGrp="1"/>
          </p:cNvSpPr>
          <p:nvPr>
            <p:ph sz="quarter" idx="10"/>
          </p:nvPr>
        </p:nvSpPr>
        <p:spPr>
          <a:xfrm>
            <a:off x="612000" y="720000"/>
            <a:ext cx="7920000" cy="3960000"/>
          </a:xfrm>
        </p:spPr>
        <p:txBody>
          <a:bodyPr/>
          <a:lstStyle/>
          <a:p>
            <a:r>
              <a:rPr lang="zh-CN" altLang="en-US" dirty="0"/>
              <a:t>采用存储转发技术。</a:t>
            </a:r>
          </a:p>
          <a:p>
            <a:endParaRPr lang="zh-CN" altLang="en-US" dirty="0"/>
          </a:p>
        </p:txBody>
      </p:sp>
      <p:sp>
        <p:nvSpPr>
          <p:cNvPr id="4" name="Line 8"/>
          <p:cNvSpPr>
            <a:spLocks noChangeShapeType="1"/>
          </p:cNvSpPr>
          <p:nvPr/>
        </p:nvSpPr>
        <p:spPr bwMode="auto">
          <a:xfrm>
            <a:off x="1511345" y="1936752"/>
            <a:ext cx="5616575"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Text Box 9"/>
          <p:cNvSpPr txBox="1">
            <a:spLocks noChangeArrowheads="1"/>
          </p:cNvSpPr>
          <p:nvPr/>
        </p:nvSpPr>
        <p:spPr bwMode="auto">
          <a:xfrm>
            <a:off x="4008482" y="1785940"/>
            <a:ext cx="593725" cy="3381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b="1">
                <a:latin typeface="微软雅黑" panose="020B0503020204020204" pitchFamily="34" charset="-122"/>
                <a:ea typeface="微软雅黑" panose="020B0503020204020204" pitchFamily="34" charset="-122"/>
              </a:rPr>
              <a:t>报文</a:t>
            </a:r>
          </a:p>
        </p:txBody>
      </p:sp>
      <p:sp>
        <p:nvSpPr>
          <p:cNvPr id="6" name="Rectangle 74"/>
          <p:cNvSpPr>
            <a:spLocks noChangeArrowheads="1"/>
          </p:cNvSpPr>
          <p:nvPr/>
        </p:nvSpPr>
        <p:spPr bwMode="auto">
          <a:xfrm>
            <a:off x="1511345" y="2152652"/>
            <a:ext cx="5747242" cy="431800"/>
          </a:xfrm>
          <a:prstGeom prst="rect">
            <a:avLst/>
          </a:prstGeom>
          <a:solidFill>
            <a:srgbClr val="CDF3CD"/>
          </a:solidFill>
          <a:ln w="19050">
            <a:solidFill>
              <a:srgbClr val="00CC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cxnSp>
        <p:nvCxnSpPr>
          <p:cNvPr id="10" name="直接连接符 10"/>
          <p:cNvCxnSpPr>
            <a:cxnSpLocks noChangeShapeType="1"/>
          </p:cNvCxnSpPr>
          <p:nvPr/>
        </p:nvCxnSpPr>
        <p:spPr bwMode="auto">
          <a:xfrm>
            <a:off x="1512932"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直接连接符 11"/>
          <p:cNvCxnSpPr>
            <a:cxnSpLocks noChangeShapeType="1"/>
          </p:cNvCxnSpPr>
          <p:nvPr/>
        </p:nvCxnSpPr>
        <p:spPr bwMode="auto">
          <a:xfrm>
            <a:off x="7242675" y="1697040"/>
            <a:ext cx="0" cy="400050"/>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76"/>
          <p:cNvSpPr txBox="1">
            <a:spLocks noChangeArrowheads="1"/>
          </p:cNvSpPr>
          <p:nvPr/>
        </p:nvSpPr>
        <p:spPr bwMode="auto">
          <a:xfrm>
            <a:off x="1476510" y="2164581"/>
            <a:ext cx="5908356"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2100" b="1" dirty="0">
                <a:solidFill>
                  <a:srgbClr val="0000FF"/>
                </a:solidFill>
                <a:latin typeface="Times New Roman" panose="02020603050405020304" pitchFamily="18" charset="0"/>
                <a:ea typeface="微软雅黑 Light" panose="020B0502040204020203" pitchFamily="34" charset="-122"/>
              </a:rPr>
              <a:t>110100011010101011010101110001001101001011</a:t>
            </a:r>
          </a:p>
        </p:txBody>
      </p:sp>
      <p:grpSp>
        <p:nvGrpSpPr>
          <p:cNvPr id="13" name="组合 12"/>
          <p:cNvGrpSpPr/>
          <p:nvPr/>
        </p:nvGrpSpPr>
        <p:grpSpPr>
          <a:xfrm>
            <a:off x="1587729" y="2210760"/>
            <a:ext cx="5637534" cy="323557"/>
            <a:chOff x="1909947" y="3247087"/>
            <a:chExt cx="5637534" cy="323557"/>
          </a:xfrm>
        </p:grpSpPr>
        <p:sp>
          <p:nvSpPr>
            <p:cNvPr id="14" name="矩形 13"/>
            <p:cNvSpPr/>
            <p:nvPr/>
          </p:nvSpPr>
          <p:spPr>
            <a:xfrm>
              <a:off x="1909947" y="3247087"/>
              <a:ext cx="1993503"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3903450" y="3247087"/>
              <a:ext cx="192661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5827281" y="3247087"/>
              <a:ext cx="1720200" cy="323557"/>
            </a:xfrm>
            <a:prstGeom prst="rect">
              <a:avLst/>
            </a:prstGeom>
            <a:solidFill>
              <a:srgbClr val="66CCFF">
                <a:alpha val="40000"/>
              </a:srgbClr>
            </a:solidFill>
            <a:ln>
              <a:solidFill>
                <a:srgbClr val="000099"/>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7" name="矩形 16"/>
          <p:cNvSpPr/>
          <p:nvPr/>
        </p:nvSpPr>
        <p:spPr>
          <a:xfrm>
            <a:off x="1511345" y="2788339"/>
            <a:ext cx="57472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在发送端，先把较长的报文划分成更小的等长数据段。 </a:t>
            </a:r>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10000" fill="hold" nodeType="afterEffect">
                                  <p:stCondLst>
                                    <p:cond delay="0"/>
                                  </p:stCondLst>
                                  <p:childTnLst>
                                    <p:anim calcmode="discrete" valueType="str">
                                      <p:cBhvr>
                                        <p:cTn id="6" dur="1000" fill="hold"/>
                                        <p:tgtEl>
                                          <p:spTgt spid="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2"/>
          <p:cNvSpPr>
            <a:spLocks noChangeArrowheads="1"/>
          </p:cNvSpPr>
          <p:nvPr/>
        </p:nvSpPr>
        <p:spPr bwMode="auto">
          <a:xfrm>
            <a:off x="2009821" y="1517097"/>
            <a:ext cx="1870075"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0" name="Rectangle 13"/>
          <p:cNvSpPr>
            <a:spLocks noChangeArrowheads="1"/>
          </p:cNvSpPr>
          <p:nvPr/>
        </p:nvSpPr>
        <p:spPr bwMode="auto">
          <a:xfrm>
            <a:off x="388148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a:solidFill>
                  <a:prstClr val="black"/>
                </a:solidFill>
                <a:latin typeface="微软雅黑" panose="020B0503020204020204" pitchFamily="34" charset="-122"/>
                <a:ea typeface="微软雅黑" panose="020B0503020204020204" pitchFamily="34" charset="-122"/>
              </a:rPr>
              <a:t>数     据</a:t>
            </a:r>
          </a:p>
        </p:txBody>
      </p:sp>
      <p:sp>
        <p:nvSpPr>
          <p:cNvPr id="21" name="Rectangle 14"/>
          <p:cNvSpPr>
            <a:spLocks noChangeArrowheads="1"/>
          </p:cNvSpPr>
          <p:nvPr/>
        </p:nvSpPr>
        <p:spPr bwMode="auto">
          <a:xfrm>
            <a:off x="5754733" y="1517097"/>
            <a:ext cx="1871663" cy="431800"/>
          </a:xfrm>
          <a:prstGeom prst="rect">
            <a:avLst/>
          </a:prstGeom>
          <a:solidFill>
            <a:srgbClr val="B1D8F9"/>
          </a:solidFill>
          <a:ln w="28575">
            <a:solidFill>
              <a:srgbClr val="000099"/>
            </a:solidFill>
            <a:miter lim="800000"/>
          </a:ln>
        </p:spPr>
        <p:txBody>
          <a:bodyPr wrap="none" anchor="ctr"/>
          <a:lstStyle/>
          <a:p>
            <a:pPr algn="ctr"/>
            <a:r>
              <a:rPr lang="zh-CN" altLang="en-US" b="1" dirty="0">
                <a:solidFill>
                  <a:prstClr val="black"/>
                </a:solidFill>
                <a:latin typeface="微软雅黑" panose="020B0503020204020204" pitchFamily="34" charset="-122"/>
                <a:ea typeface="微软雅黑" panose="020B0503020204020204" pitchFamily="34" charset="-122"/>
              </a:rPr>
              <a:t>数     据</a:t>
            </a:r>
          </a:p>
        </p:txBody>
      </p:sp>
      <p:sp>
        <p:nvSpPr>
          <p:cNvPr id="22" name="Rectangle 16"/>
          <p:cNvSpPr>
            <a:spLocks noChangeArrowheads="1"/>
          </p:cNvSpPr>
          <p:nvPr/>
        </p:nvSpPr>
        <p:spPr bwMode="auto">
          <a:xfrm>
            <a:off x="1384346" y="2125110"/>
            <a:ext cx="623887"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3" name="Rectangle 19"/>
          <p:cNvSpPr>
            <a:spLocks noChangeArrowheads="1"/>
          </p:cNvSpPr>
          <p:nvPr/>
        </p:nvSpPr>
        <p:spPr bwMode="auto">
          <a:xfrm>
            <a:off x="3256008" y="2852185"/>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sp>
        <p:nvSpPr>
          <p:cNvPr id="24" name="Rectangle 20"/>
          <p:cNvSpPr>
            <a:spLocks noChangeArrowheads="1"/>
          </p:cNvSpPr>
          <p:nvPr/>
        </p:nvSpPr>
        <p:spPr bwMode="auto">
          <a:xfrm>
            <a:off x="5135608" y="3526872"/>
            <a:ext cx="623888" cy="431800"/>
          </a:xfrm>
          <a:prstGeom prst="rect">
            <a:avLst/>
          </a:prstGeom>
          <a:solidFill>
            <a:srgbClr val="00B050"/>
          </a:solidFill>
          <a:ln w="28575">
            <a:solidFill>
              <a:schemeClr val="tx1"/>
            </a:solidFill>
            <a:miter lim="800000"/>
          </a:ln>
        </p:spPr>
        <p:txBody>
          <a:bodyPr wrap="none" anchor="ctr"/>
          <a:lstStyle/>
          <a:p>
            <a:pPr algn="ctr"/>
            <a:r>
              <a:rPr lang="zh-CN" altLang="en-US" b="1">
                <a:solidFill>
                  <a:prstClr val="white"/>
                </a:solidFill>
                <a:latin typeface="微软雅黑" panose="020B0503020204020204" pitchFamily="34" charset="-122"/>
                <a:ea typeface="微软雅黑" panose="020B0503020204020204" pitchFamily="34" charset="-122"/>
              </a:rPr>
              <a:t>首部</a:t>
            </a:r>
          </a:p>
        </p:txBody>
      </p:sp>
      <p:grpSp>
        <p:nvGrpSpPr>
          <p:cNvPr id="25" name="Group 25"/>
          <p:cNvGrpSpPr/>
          <p:nvPr/>
        </p:nvGrpSpPr>
        <p:grpSpPr bwMode="auto">
          <a:xfrm>
            <a:off x="1373233" y="1648726"/>
            <a:ext cx="2495550" cy="431800"/>
            <a:chOff x="2063" y="2574"/>
            <a:chExt cx="1451" cy="272"/>
          </a:xfrm>
        </p:grpSpPr>
        <p:sp>
          <p:nvSpPr>
            <p:cNvPr id="26" name="AutoShape 21"/>
            <p:cNvSpPr/>
            <p:nvPr/>
          </p:nvSpPr>
          <p:spPr bwMode="auto">
            <a:xfrm rot="5400000">
              <a:off x="2744" y="2075"/>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7" name="Text Box 24"/>
            <p:cNvSpPr txBox="1">
              <a:spLocks noChangeArrowheads="1"/>
            </p:cNvSpPr>
            <p:nvPr/>
          </p:nvSpPr>
          <p:spPr bwMode="auto">
            <a:xfrm>
              <a:off x="2627" y="2574"/>
              <a:ext cx="411" cy="19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nvGrpSpPr>
          <p:cNvPr id="28" name="Group 26"/>
          <p:cNvGrpSpPr/>
          <p:nvPr/>
        </p:nvGrpSpPr>
        <p:grpSpPr bwMode="auto">
          <a:xfrm>
            <a:off x="3256008" y="2387047"/>
            <a:ext cx="2495550" cy="425450"/>
            <a:chOff x="1973" y="2524"/>
            <a:chExt cx="1451" cy="268"/>
          </a:xfrm>
        </p:grpSpPr>
        <p:sp>
          <p:nvSpPr>
            <p:cNvPr id="29" name="AutoShape 27"/>
            <p:cNvSpPr/>
            <p:nvPr/>
          </p:nvSpPr>
          <p:spPr bwMode="auto">
            <a:xfrm rot="5400000">
              <a:off x="2654" y="2021"/>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0" name="Text Box 28"/>
            <p:cNvSpPr txBox="1">
              <a:spLocks noChangeArrowheads="1"/>
            </p:cNvSpPr>
            <p:nvPr/>
          </p:nvSpPr>
          <p:spPr bwMode="auto">
            <a:xfrm>
              <a:off x="2513" y="252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2</a:t>
              </a:r>
            </a:p>
          </p:txBody>
        </p:sp>
      </p:grpSp>
      <p:grpSp>
        <p:nvGrpSpPr>
          <p:cNvPr id="31" name="Group 29"/>
          <p:cNvGrpSpPr/>
          <p:nvPr/>
        </p:nvGrpSpPr>
        <p:grpSpPr bwMode="auto">
          <a:xfrm>
            <a:off x="5129258" y="3066497"/>
            <a:ext cx="2495550" cy="422275"/>
            <a:chOff x="1883" y="2394"/>
            <a:chExt cx="1451" cy="266"/>
          </a:xfrm>
        </p:grpSpPr>
        <p:sp>
          <p:nvSpPr>
            <p:cNvPr id="32" name="AutoShape 30"/>
            <p:cNvSpPr/>
            <p:nvPr/>
          </p:nvSpPr>
          <p:spPr bwMode="auto">
            <a:xfrm rot="5400000">
              <a:off x="2564" y="188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3" name="Text Box 31"/>
            <p:cNvSpPr txBox="1">
              <a:spLocks noChangeArrowheads="1"/>
            </p:cNvSpPr>
            <p:nvPr/>
          </p:nvSpPr>
          <p:spPr bwMode="auto">
            <a:xfrm>
              <a:off x="2411" y="2394"/>
              <a:ext cx="368" cy="17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3</a:t>
              </a:r>
            </a:p>
          </p:txBody>
        </p:sp>
      </p:grpSp>
      <p:grpSp>
        <p:nvGrpSpPr>
          <p:cNvPr id="34" name="组合 33"/>
          <p:cNvGrpSpPr/>
          <p:nvPr/>
        </p:nvGrpSpPr>
        <p:grpSpPr bwMode="auto">
          <a:xfrm>
            <a:off x="2009821" y="1166260"/>
            <a:ext cx="5616575" cy="307975"/>
            <a:chOff x="1898781" y="2727667"/>
            <a:chExt cx="5616840" cy="307975"/>
          </a:xfrm>
        </p:grpSpPr>
        <p:grpSp>
          <p:nvGrpSpPr>
            <p:cNvPr id="35" name="Group 15"/>
            <p:cNvGrpSpPr/>
            <p:nvPr/>
          </p:nvGrpSpPr>
          <p:grpSpPr bwMode="auto">
            <a:xfrm>
              <a:off x="1898781" y="2727667"/>
              <a:ext cx="5616840" cy="307975"/>
              <a:chOff x="1247" y="1803"/>
              <a:chExt cx="3266" cy="194"/>
            </a:xfrm>
          </p:grpSpPr>
          <p:sp>
            <p:nvSpPr>
              <p:cNvPr id="38" name="Line 2"/>
              <p:cNvSpPr>
                <a:spLocks noChangeShapeType="1"/>
              </p:cNvSpPr>
              <p:nvPr/>
            </p:nvSpPr>
            <p:spPr bwMode="auto">
              <a:xfrm>
                <a:off x="1247" y="1888"/>
                <a:ext cx="3266"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39" name="Text Box 3"/>
              <p:cNvSpPr txBox="1">
                <a:spLocks noChangeArrowheads="1"/>
              </p:cNvSpPr>
              <p:nvPr/>
            </p:nvSpPr>
            <p:spPr bwMode="auto">
              <a:xfrm>
                <a:off x="2699" y="1803"/>
                <a:ext cx="316" cy="194"/>
              </a:xfrm>
              <a:prstGeom prst="rect">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prstClr val="black"/>
                    </a:solidFill>
                    <a:latin typeface="微软雅黑" panose="020B0503020204020204" pitchFamily="34" charset="-122"/>
                    <a:ea typeface="微软雅黑" panose="020B0503020204020204" pitchFamily="34" charset="-122"/>
                  </a:rPr>
                  <a:t>报文</a:t>
                </a:r>
              </a:p>
            </p:txBody>
          </p:sp>
        </p:grpSp>
        <p:cxnSp>
          <p:nvCxnSpPr>
            <p:cNvPr id="36" name="直接连接符 21"/>
            <p:cNvCxnSpPr>
              <a:cxnSpLocks noChangeShapeType="1"/>
            </p:cNvCxnSpPr>
            <p:nvPr/>
          </p:nvCxnSpPr>
          <p:spPr bwMode="auto">
            <a:xfrm>
              <a:off x="1900501"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22"/>
            <p:cNvCxnSpPr>
              <a:cxnSpLocks noChangeShapeType="1"/>
            </p:cNvCxnSpPr>
            <p:nvPr/>
          </p:nvCxnSpPr>
          <p:spPr bwMode="auto">
            <a:xfrm>
              <a:off x="7500522" y="2727671"/>
              <a:ext cx="0" cy="295331"/>
            </a:xfrm>
            <a:prstGeom prst="line">
              <a:avLst/>
            </a:prstGeom>
            <a:noFill/>
            <a:ln w="28575" algn="ctr">
              <a:solidFill>
                <a:srgbClr val="00CC0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40" name="Text Box 33"/>
          <p:cNvSpPr txBox="1">
            <a:spLocks noChangeArrowheads="1"/>
          </p:cNvSpPr>
          <p:nvPr/>
        </p:nvSpPr>
        <p:spPr bwMode="auto">
          <a:xfrm>
            <a:off x="981335" y="3558106"/>
            <a:ext cx="249299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CC"/>
                </a:solidFill>
                <a:latin typeface="微软雅黑" panose="020B0503020204020204" pitchFamily="34" charset="-122"/>
                <a:ea typeface="微软雅黑" panose="020B0503020204020204" pitchFamily="34" charset="-122"/>
              </a:rPr>
              <a:t>注意：左边是“前面”</a:t>
            </a:r>
          </a:p>
        </p:txBody>
      </p:sp>
      <p:sp>
        <p:nvSpPr>
          <p:cNvPr id="41" name="矩形 40"/>
          <p:cNvSpPr/>
          <p:nvPr/>
        </p:nvSpPr>
        <p:spPr>
          <a:xfrm>
            <a:off x="1045030" y="4142276"/>
            <a:ext cx="6914204" cy="400110"/>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分组又称为“包”，而分组的首部也可称为“包头”。</a:t>
            </a:r>
          </a:p>
        </p:txBody>
      </p:sp>
      <p:sp>
        <p:nvSpPr>
          <p:cNvPr id="7" name="内容占位符 6">
            <a:extLst>
              <a:ext uri="{FF2B5EF4-FFF2-40B4-BE49-F238E27FC236}">
                <a16:creationId xmlns:a16="http://schemas.microsoft.com/office/drawing/2014/main" id="{E99AFC31-CC54-25C1-BAD8-84E514083D3D}"/>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数据段前面添加首部就构成了分组 </a:t>
            </a:r>
            <a:r>
              <a:rPr lang="en-US" altLang="zh-CN" dirty="0"/>
              <a:t>(packet)</a:t>
            </a:r>
          </a:p>
        </p:txBody>
      </p:sp>
    </p:spTree>
    <p:extLst>
      <p:ext uri="{BB962C8B-B14F-4D97-AF65-F5344CB8AC3E}">
        <p14:creationId xmlns:p14="http://schemas.microsoft.com/office/powerpoint/2010/main" val="13814291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afterEffect">
                                  <p:stCondLst>
                                    <p:cond delay="1000"/>
                                  </p:stCondLst>
                                  <p:childTnLst>
                                    <p:set>
                                      <p:cBhvr>
                                        <p:cTn id="6" dur="1" fill="hold">
                                          <p:stCondLst>
                                            <p:cond delay="0"/>
                                          </p:stCondLst>
                                        </p:cTn>
                                        <p:tgtEl>
                                          <p:spTgt spid="34"/>
                                        </p:tgtEl>
                                        <p:attrNameLst>
                                          <p:attrName>style.visibility</p:attrName>
                                        </p:attrNameLst>
                                      </p:cBhvr>
                                      <p:to>
                                        <p:strVal val="hidden"/>
                                      </p:to>
                                    </p:set>
                                  </p:childTnLst>
                                </p:cTn>
                              </p:par>
                            </p:childTnLst>
                          </p:cTn>
                        </p:par>
                        <p:par>
                          <p:cTn id="7" fill="hold">
                            <p:stCondLst>
                              <p:cond delay="1000"/>
                            </p:stCondLst>
                            <p:childTnLst>
                              <p:par>
                                <p:cTn id="8" presetID="42" presetClass="path" presetSubtype="0" accel="50000" decel="50000" fill="hold" grpId="0" nodeType="afterEffect">
                                  <p:stCondLst>
                                    <p:cond delay="0"/>
                                  </p:stCondLst>
                                  <p:childTnLst>
                                    <p:animMotion origin="layout" path="M 1.38889E-6 2.96296E-6 L 1.38889E-6 0.11852 " pathEditMode="relative" rAng="0" ptsTypes="AA">
                                      <p:cBhvr>
                                        <p:cTn id="9" dur="2000" fill="hold"/>
                                        <p:tgtEl>
                                          <p:spTgt spid="19"/>
                                        </p:tgtEl>
                                        <p:attrNameLst>
                                          <p:attrName>ppt_x</p:attrName>
                                          <p:attrName>ppt_y</p:attrName>
                                        </p:attrNameLst>
                                      </p:cBhvr>
                                      <p:rCtr x="0" y="5926"/>
                                    </p:animMotion>
                                  </p:childTnLst>
                                </p:cTn>
                              </p:par>
                            </p:childTnLst>
                          </p:cTn>
                        </p:par>
                        <p:par>
                          <p:cTn id="10" fill="hold">
                            <p:stCondLst>
                              <p:cond delay="3000"/>
                            </p:stCondLst>
                            <p:childTnLst>
                              <p:par>
                                <p:cTn id="11" presetID="1" presetClass="entr" presetSubtype="0" fill="hold" grpId="0" nodeType="afterEffect">
                                  <p:stCondLst>
                                    <p:cond delay="500"/>
                                  </p:stCondLst>
                                  <p:childTnLst>
                                    <p:set>
                                      <p:cBhvr>
                                        <p:cTn id="12" dur="1" fill="hold">
                                          <p:stCondLst>
                                            <p:cond delay="0"/>
                                          </p:stCondLst>
                                        </p:cTn>
                                        <p:tgtEl>
                                          <p:spTgt spid="22"/>
                                        </p:tgtEl>
                                        <p:attrNameLst>
                                          <p:attrName>style.visibility</p:attrName>
                                        </p:attrNameLst>
                                      </p:cBhvr>
                                      <p:to>
                                        <p:strVal val="visible"/>
                                      </p:to>
                                    </p:set>
                                  </p:childTnLst>
                                </p:cTn>
                              </p:par>
                            </p:childTnLst>
                          </p:cTn>
                        </p:par>
                        <p:par>
                          <p:cTn id="13" fill="hold">
                            <p:stCondLst>
                              <p:cond delay="3500"/>
                            </p:stCondLst>
                            <p:childTnLst>
                              <p:par>
                                <p:cTn id="14" presetID="1" presetClass="entr" presetSubtype="0" fill="hold" nodeType="afterEffect">
                                  <p:stCondLst>
                                    <p:cond delay="500"/>
                                  </p:stCondLst>
                                  <p:childTnLst>
                                    <p:set>
                                      <p:cBhvr>
                                        <p:cTn id="15" dur="1" fill="hold">
                                          <p:stCondLst>
                                            <p:cond delay="0"/>
                                          </p:stCondLst>
                                        </p:cTn>
                                        <p:tgtEl>
                                          <p:spTgt spid="25"/>
                                        </p:tgtEl>
                                        <p:attrNameLst>
                                          <p:attrName>style.visibility</p:attrName>
                                        </p:attrNameLst>
                                      </p:cBhvr>
                                      <p:to>
                                        <p:strVal val="visible"/>
                                      </p:to>
                                    </p:set>
                                  </p:childTnLst>
                                </p:cTn>
                              </p:par>
                            </p:childTnLst>
                          </p:cTn>
                        </p:par>
                        <p:par>
                          <p:cTn id="16" fill="hold">
                            <p:stCondLst>
                              <p:cond delay="4000"/>
                            </p:stCondLst>
                            <p:childTnLst>
                              <p:par>
                                <p:cTn id="17" presetID="42" presetClass="path" presetSubtype="0" accel="50000" decel="50000" fill="hold" grpId="0" nodeType="afterEffect">
                                  <p:stCondLst>
                                    <p:cond delay="500"/>
                                  </p:stCondLst>
                                  <p:childTnLst>
                                    <p:animMotion origin="layout" path="M 3.88889E-6 2.96296E-6 L 3.88889E-6 0.2608 " pathEditMode="relative" rAng="0" ptsTypes="AA">
                                      <p:cBhvr>
                                        <p:cTn id="18" dur="2000" fill="hold"/>
                                        <p:tgtEl>
                                          <p:spTgt spid="20"/>
                                        </p:tgtEl>
                                        <p:attrNameLst>
                                          <p:attrName>ppt_x</p:attrName>
                                          <p:attrName>ppt_y</p:attrName>
                                        </p:attrNameLst>
                                      </p:cBhvr>
                                      <p:rCtr x="0" y="13025"/>
                                    </p:animMotion>
                                  </p:childTnLst>
                                </p:cTn>
                              </p:par>
                            </p:childTnLst>
                          </p:cTn>
                        </p:par>
                        <p:par>
                          <p:cTn id="19" fill="hold">
                            <p:stCondLst>
                              <p:cond delay="6500"/>
                            </p:stCondLst>
                            <p:childTnLst>
                              <p:par>
                                <p:cTn id="20" presetID="1" presetClass="entr" presetSubtype="0" fill="hold" grpId="0" nodeType="afterEffect">
                                  <p:stCondLst>
                                    <p:cond delay="500"/>
                                  </p:stCondLst>
                                  <p:childTnLst>
                                    <p:set>
                                      <p:cBhvr>
                                        <p:cTn id="21" dur="1" fill="hold">
                                          <p:stCondLst>
                                            <p:cond delay="0"/>
                                          </p:stCondLst>
                                        </p:cTn>
                                        <p:tgtEl>
                                          <p:spTgt spid="23"/>
                                        </p:tgtEl>
                                        <p:attrNameLst>
                                          <p:attrName>style.visibility</p:attrName>
                                        </p:attrNameLst>
                                      </p:cBhvr>
                                      <p:to>
                                        <p:strVal val="visible"/>
                                      </p:to>
                                    </p:set>
                                  </p:childTnLst>
                                </p:cTn>
                              </p:par>
                            </p:childTnLst>
                          </p:cTn>
                        </p:par>
                        <p:par>
                          <p:cTn id="22" fill="hold">
                            <p:stCondLst>
                              <p:cond delay="7000"/>
                            </p:stCondLst>
                            <p:childTnLst>
                              <p:par>
                                <p:cTn id="23" presetID="1" presetClass="entr" presetSubtype="0" fill="hold" nodeType="afterEffect">
                                  <p:stCondLst>
                                    <p:cond delay="500"/>
                                  </p:stCondLst>
                                  <p:childTnLst>
                                    <p:set>
                                      <p:cBhvr>
                                        <p:cTn id="24" dur="1" fill="hold">
                                          <p:stCondLst>
                                            <p:cond delay="0"/>
                                          </p:stCondLst>
                                        </p:cTn>
                                        <p:tgtEl>
                                          <p:spTgt spid="28"/>
                                        </p:tgtEl>
                                        <p:attrNameLst>
                                          <p:attrName>style.visibility</p:attrName>
                                        </p:attrNameLst>
                                      </p:cBhvr>
                                      <p:to>
                                        <p:strVal val="visible"/>
                                      </p:to>
                                    </p:set>
                                  </p:childTnLst>
                                </p:cTn>
                              </p:par>
                            </p:childTnLst>
                          </p:cTn>
                        </p:par>
                        <p:par>
                          <p:cTn id="25" fill="hold">
                            <p:stCondLst>
                              <p:cond delay="7500"/>
                            </p:stCondLst>
                            <p:childTnLst>
                              <p:par>
                                <p:cTn id="26" presetID="42" presetClass="path" presetSubtype="0" accel="50000" decel="50000" fill="hold" grpId="0" nodeType="afterEffect">
                                  <p:stCondLst>
                                    <p:cond delay="500"/>
                                  </p:stCondLst>
                                  <p:childTnLst>
                                    <p:animMotion origin="layout" path="M 2.77778E-6 2.96296E-6 L 2.77778E-6 0.39105 " pathEditMode="relative" rAng="0" ptsTypes="AA">
                                      <p:cBhvr>
                                        <p:cTn id="27" dur="2000" fill="hold"/>
                                        <p:tgtEl>
                                          <p:spTgt spid="21"/>
                                        </p:tgtEl>
                                        <p:attrNameLst>
                                          <p:attrName>ppt_x</p:attrName>
                                          <p:attrName>ppt_y</p:attrName>
                                        </p:attrNameLst>
                                      </p:cBhvr>
                                      <p:rCtr x="0" y="19537"/>
                                    </p:animMotion>
                                  </p:childTnLst>
                                </p:cTn>
                              </p:par>
                            </p:childTnLst>
                          </p:cTn>
                        </p:par>
                        <p:par>
                          <p:cTn id="28" fill="hold">
                            <p:stCondLst>
                              <p:cond delay="10000"/>
                            </p:stCondLst>
                            <p:childTnLst>
                              <p:par>
                                <p:cTn id="29" presetID="1" presetClass="entr" presetSubtype="0" fill="hold" grpId="0" nodeType="afterEffect">
                                  <p:stCondLst>
                                    <p:cond delay="500"/>
                                  </p:stCondLst>
                                  <p:childTnLst>
                                    <p:set>
                                      <p:cBhvr>
                                        <p:cTn id="30" dur="1" fill="hold">
                                          <p:stCondLst>
                                            <p:cond delay="0"/>
                                          </p:stCondLst>
                                        </p:cTn>
                                        <p:tgtEl>
                                          <p:spTgt spid="24"/>
                                        </p:tgtEl>
                                        <p:attrNameLst>
                                          <p:attrName>style.visibility</p:attrName>
                                        </p:attrNameLst>
                                      </p:cBhvr>
                                      <p:to>
                                        <p:strVal val="visible"/>
                                      </p:to>
                                    </p:set>
                                  </p:childTnLst>
                                </p:cTn>
                              </p:par>
                            </p:childTnLst>
                          </p:cTn>
                        </p:par>
                        <p:par>
                          <p:cTn id="31" fill="hold">
                            <p:stCondLst>
                              <p:cond delay="10500"/>
                            </p:stCondLst>
                            <p:childTnLst>
                              <p:par>
                                <p:cTn id="32" presetID="1" presetClass="entr" presetSubtype="0" fill="hold" nodeType="afterEffect">
                                  <p:stCondLst>
                                    <p:cond delay="500"/>
                                  </p:stCondLst>
                                  <p:childTnLst>
                                    <p:set>
                                      <p:cBhvr>
                                        <p:cTn id="33" dur="1" fill="hold">
                                          <p:stCondLst>
                                            <p:cond delay="0"/>
                                          </p:stCondLst>
                                        </p:cTn>
                                        <p:tgtEl>
                                          <p:spTgt spid="31"/>
                                        </p:tgtEl>
                                        <p:attrNameLst>
                                          <p:attrName>style.visibility</p:attrName>
                                        </p:attrNameLst>
                                      </p:cBhvr>
                                      <p:to>
                                        <p:strVal val="visible"/>
                                      </p:to>
                                    </p:set>
                                  </p:childTnLst>
                                </p:cTn>
                              </p:par>
                            </p:childTnLst>
                          </p:cTn>
                        </p:par>
                        <p:par>
                          <p:cTn id="34" fill="hold">
                            <p:stCondLst>
                              <p:cond delay="11000"/>
                            </p:stCondLst>
                            <p:childTnLst>
                              <p:par>
                                <p:cTn id="35" presetID="1" presetClass="entr" presetSubtype="0" fill="hold" grpId="0" nodeType="after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childTnLst>
                          </p:cTn>
                        </p:par>
                        <p:par>
                          <p:cTn id="37" fill="hold">
                            <p:stCondLst>
                              <p:cond delay="11000"/>
                            </p:stCondLst>
                            <p:childTnLst>
                              <p:par>
                                <p:cTn id="38" presetID="35" presetClass="emph" presetSubtype="0" repeatCount="3000" fill="hold" grpId="1" nodeType="afterEffect">
                                  <p:stCondLst>
                                    <p:cond delay="0"/>
                                  </p:stCondLst>
                                  <p:childTnLst>
                                    <p:anim calcmode="discrete" valueType="str">
                                      <p:cBhvr>
                                        <p:cTn id="39" dur="1000" fill="hold"/>
                                        <p:tgtEl>
                                          <p:spTgt spid="40"/>
                                        </p:tgtEl>
                                        <p:attrNameLst>
                                          <p:attrName>style.visibility</p:attrName>
                                        </p:attrNameLst>
                                      </p:cBhvr>
                                      <p:tavLst>
                                        <p:tav tm="0">
                                          <p:val>
                                            <p:strVal val="hidden"/>
                                          </p:val>
                                        </p:tav>
                                        <p:tav tm="50000">
                                          <p:val>
                                            <p:strVal val="visible"/>
                                          </p:val>
                                        </p:tav>
                                      </p:tavLst>
                                    </p:anim>
                                  </p:childTnLst>
                                </p:cTn>
                              </p:par>
                            </p:childTnLst>
                          </p:cTn>
                        </p:par>
                        <p:par>
                          <p:cTn id="40" fill="hold">
                            <p:stCondLst>
                              <p:cond delay="14000"/>
                            </p:stCondLst>
                            <p:childTnLst>
                              <p:par>
                                <p:cTn id="41" presetID="1" presetClass="entr" presetSubtype="0" fill="hold" grpId="0" nodeType="after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40" grpId="0"/>
      <p:bldP spid="40" grpId="1"/>
      <p:bldP spid="41"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内容占位符 22"/>
          <p:cNvSpPr>
            <a:spLocks noGrp="1"/>
          </p:cNvSpPr>
          <p:nvPr>
            <p:ph sz="quarter" idx="4294967295"/>
          </p:nvPr>
        </p:nvSpPr>
        <p:spPr>
          <a:xfrm>
            <a:off x="612000" y="720000"/>
            <a:ext cx="7920000" cy="3960000"/>
          </a:xfrm>
        </p:spPr>
        <p:txBody>
          <a:bodyPr/>
          <a:lstStyle/>
          <a:p>
            <a:r>
              <a:rPr lang="zh-CN" altLang="en-US" dirty="0"/>
              <a:t>互联网采用分组交换技术。分组是在互联网中传送的数据单元。</a:t>
            </a:r>
          </a:p>
          <a:p>
            <a:r>
              <a:rPr lang="zh-CN" altLang="en-US" dirty="0"/>
              <a:t>发送端依次把各分组发送到接收端。</a:t>
            </a:r>
          </a:p>
          <a:p>
            <a:endParaRPr lang="zh-CN" altLang="en-US"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分组交换以“分组”作为数据传输单元</a:t>
            </a:r>
          </a:p>
        </p:txBody>
      </p:sp>
      <p:grpSp>
        <p:nvGrpSpPr>
          <p:cNvPr id="3" name="组合 2"/>
          <p:cNvGrpSpPr/>
          <p:nvPr/>
        </p:nvGrpSpPr>
        <p:grpSpPr bwMode="auto">
          <a:xfrm>
            <a:off x="1016000" y="2208805"/>
            <a:ext cx="2136775" cy="842743"/>
            <a:chOff x="2040721" y="2921091"/>
            <a:chExt cx="2135660" cy="841771"/>
          </a:xfrm>
        </p:grpSpPr>
        <p:sp>
          <p:nvSpPr>
            <p:cNvPr id="4" name="Rectangle 2"/>
            <p:cNvSpPr>
              <a:spLocks noChangeArrowheads="1"/>
            </p:cNvSpPr>
            <p:nvPr/>
          </p:nvSpPr>
          <p:spPr bwMode="auto">
            <a:xfrm>
              <a:off x="2574636" y="3393568"/>
              <a:ext cx="1600274"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5" name="Rectangle 10"/>
            <p:cNvSpPr>
              <a:spLocks noChangeArrowheads="1"/>
            </p:cNvSpPr>
            <p:nvPr/>
          </p:nvSpPr>
          <p:spPr bwMode="auto">
            <a:xfrm>
              <a:off x="2040721" y="3393568"/>
              <a:ext cx="533915"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6" name="Group 13"/>
            <p:cNvGrpSpPr/>
            <p:nvPr/>
          </p:nvGrpSpPr>
          <p:grpSpPr bwMode="auto">
            <a:xfrm>
              <a:off x="2042192" y="2921091"/>
              <a:ext cx="2134189" cy="410025"/>
              <a:chOff x="1973" y="2538"/>
              <a:chExt cx="1451" cy="302"/>
            </a:xfrm>
          </p:grpSpPr>
          <p:sp>
            <p:nvSpPr>
              <p:cNvPr id="7" name="AutoShape 14"/>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8" name="Text Box 15"/>
              <p:cNvSpPr txBox="1">
                <a:spLocks noChangeArrowheads="1"/>
              </p:cNvSpPr>
              <p:nvPr/>
            </p:nvSpPr>
            <p:spPr bwMode="auto">
              <a:xfrm>
                <a:off x="2489" y="2538"/>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FF"/>
                    </a:solidFill>
                    <a:latin typeface="微软雅黑" panose="020B0503020204020204" pitchFamily="34" charset="-122"/>
                    <a:ea typeface="微软雅黑" panose="020B0503020204020204" pitchFamily="34" charset="-122"/>
                  </a:rPr>
                  <a:t>分组 </a:t>
                </a:r>
                <a:r>
                  <a:rPr lang="en-US" altLang="zh-CN" sz="1400" b="1" dirty="0">
                    <a:solidFill>
                      <a:srgbClr val="0000FF"/>
                    </a:solidFill>
                    <a:latin typeface="微软雅黑" panose="020B0503020204020204" pitchFamily="34" charset="-122"/>
                    <a:ea typeface="微软雅黑" panose="020B0503020204020204" pitchFamily="34" charset="-122"/>
                  </a:rPr>
                  <a:t>1</a:t>
                </a:r>
              </a:p>
            </p:txBody>
          </p:sp>
        </p:grpSp>
      </p:grpSp>
      <p:grpSp>
        <p:nvGrpSpPr>
          <p:cNvPr id="9" name="组合 8"/>
          <p:cNvGrpSpPr/>
          <p:nvPr/>
        </p:nvGrpSpPr>
        <p:grpSpPr bwMode="auto">
          <a:xfrm>
            <a:off x="3516313" y="2694359"/>
            <a:ext cx="2133600" cy="849312"/>
            <a:chOff x="3642465" y="3652888"/>
            <a:chExt cx="2134187" cy="849919"/>
          </a:xfrm>
        </p:grpSpPr>
        <p:sp>
          <p:nvSpPr>
            <p:cNvPr id="10" name="Rectangle 3"/>
            <p:cNvSpPr>
              <a:spLocks noChangeArrowheads="1"/>
            </p:cNvSpPr>
            <p:nvPr/>
          </p:nvSpPr>
          <p:spPr bwMode="auto">
            <a:xfrm>
              <a:off x="4176379" y="4133513"/>
              <a:ext cx="1600273" cy="369294"/>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1" name="Rectangle 11"/>
            <p:cNvSpPr>
              <a:spLocks noChangeArrowheads="1"/>
            </p:cNvSpPr>
            <p:nvPr/>
          </p:nvSpPr>
          <p:spPr bwMode="auto">
            <a:xfrm>
              <a:off x="3642465" y="4133513"/>
              <a:ext cx="533914" cy="369294"/>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2" name="Group 16"/>
            <p:cNvGrpSpPr/>
            <p:nvPr/>
          </p:nvGrpSpPr>
          <p:grpSpPr bwMode="auto">
            <a:xfrm>
              <a:off x="3642465" y="3652888"/>
              <a:ext cx="2134187" cy="418171"/>
              <a:chOff x="1973" y="2532"/>
              <a:chExt cx="1451" cy="308"/>
            </a:xfrm>
          </p:grpSpPr>
          <p:sp>
            <p:nvSpPr>
              <p:cNvPr id="13" name="AutoShape 17"/>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4" name="Text Box 18"/>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2</a:t>
                </a:r>
              </a:p>
            </p:txBody>
          </p:sp>
        </p:grpSp>
      </p:grpSp>
      <p:grpSp>
        <p:nvGrpSpPr>
          <p:cNvPr id="15" name="组合 14"/>
          <p:cNvGrpSpPr/>
          <p:nvPr/>
        </p:nvGrpSpPr>
        <p:grpSpPr bwMode="auto">
          <a:xfrm>
            <a:off x="6062663" y="3249984"/>
            <a:ext cx="2139950" cy="839787"/>
            <a:chOff x="5242738" y="4391485"/>
            <a:chExt cx="2140071" cy="839059"/>
          </a:xfrm>
        </p:grpSpPr>
        <p:sp>
          <p:nvSpPr>
            <p:cNvPr id="16" name="Rectangle 4"/>
            <p:cNvSpPr>
              <a:spLocks noChangeArrowheads="1"/>
            </p:cNvSpPr>
            <p:nvPr/>
          </p:nvSpPr>
          <p:spPr bwMode="auto">
            <a:xfrm>
              <a:off x="5782536" y="4861249"/>
              <a:ext cx="1600273" cy="369295"/>
            </a:xfrm>
            <a:prstGeom prst="rect">
              <a:avLst/>
            </a:prstGeom>
            <a:solidFill>
              <a:srgbClr val="B1D8F9"/>
            </a:solidFill>
            <a:ln w="28575">
              <a:solidFill>
                <a:schemeClr val="tx1"/>
              </a:solidFill>
              <a:miter lim="800000"/>
            </a:ln>
          </p:spPr>
          <p:txBody>
            <a:bodyPr wrap="none" anchor="ctr"/>
            <a:lstStyle/>
            <a:p>
              <a:pPr algn="ctr" eaLnBrk="0" hangingPunct="0"/>
              <a:r>
                <a:rPr lang="zh-CN" altLang="en-US" sz="1600" b="1">
                  <a:solidFill>
                    <a:prstClr val="black"/>
                  </a:solidFill>
                  <a:latin typeface="微软雅黑" panose="020B0503020204020204" pitchFamily="34" charset="-122"/>
                  <a:ea typeface="微软雅黑" panose="020B0503020204020204" pitchFamily="34" charset="-122"/>
                </a:rPr>
                <a:t>数     据</a:t>
              </a:r>
            </a:p>
          </p:txBody>
        </p:sp>
        <p:sp>
          <p:nvSpPr>
            <p:cNvPr id="17" name="Rectangle 12"/>
            <p:cNvSpPr>
              <a:spLocks noChangeArrowheads="1"/>
            </p:cNvSpPr>
            <p:nvPr/>
          </p:nvSpPr>
          <p:spPr bwMode="auto">
            <a:xfrm>
              <a:off x="5242738" y="4859892"/>
              <a:ext cx="533915" cy="370652"/>
            </a:xfrm>
            <a:prstGeom prst="rect">
              <a:avLst/>
            </a:prstGeom>
            <a:solidFill>
              <a:srgbClr val="00B050"/>
            </a:solidFill>
            <a:ln w="28575">
              <a:solidFill>
                <a:schemeClr val="tx1"/>
              </a:solidFill>
              <a:miter lim="800000"/>
            </a:ln>
          </p:spPr>
          <p:txBody>
            <a:bodyPr wrap="none" anchor="ctr"/>
            <a:lstStyle/>
            <a:p>
              <a:pPr algn="ctr" eaLnBrk="0" hangingPunct="0"/>
              <a:r>
                <a:rPr lang="zh-CN" altLang="en-US" sz="1600" b="1">
                  <a:solidFill>
                    <a:prstClr val="white"/>
                  </a:solidFill>
                  <a:latin typeface="微软雅黑" panose="020B0503020204020204" pitchFamily="34" charset="-122"/>
                  <a:ea typeface="微软雅黑" panose="020B0503020204020204" pitchFamily="34" charset="-122"/>
                </a:rPr>
                <a:t>首部</a:t>
              </a:r>
            </a:p>
          </p:txBody>
        </p:sp>
        <p:grpSp>
          <p:nvGrpSpPr>
            <p:cNvPr id="18" name="Group 19"/>
            <p:cNvGrpSpPr/>
            <p:nvPr/>
          </p:nvGrpSpPr>
          <p:grpSpPr bwMode="auto">
            <a:xfrm>
              <a:off x="5242738" y="4391485"/>
              <a:ext cx="2134188" cy="418172"/>
              <a:chOff x="1973" y="2532"/>
              <a:chExt cx="1451" cy="308"/>
            </a:xfrm>
          </p:grpSpPr>
          <p:sp>
            <p:nvSpPr>
              <p:cNvPr id="19" name="AutoShape 20"/>
              <p:cNvSpPr/>
              <p:nvPr/>
            </p:nvSpPr>
            <p:spPr bwMode="auto">
              <a:xfrm rot="5400000">
                <a:off x="2654" y="2069"/>
                <a:ext cx="90" cy="1451"/>
              </a:xfrm>
              <a:prstGeom prst="leftBrace">
                <a:avLst>
                  <a:gd name="adj1" fmla="val 134352"/>
                  <a:gd name="adj2" fmla="val 50000"/>
                </a:avLst>
              </a:prstGeom>
              <a:noFill/>
              <a:ln w="28575">
                <a:solidFill>
                  <a:srgbClr val="000099"/>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0" name="Text Box 21"/>
              <p:cNvSpPr txBox="1">
                <a:spLocks noChangeArrowheads="1"/>
              </p:cNvSpPr>
              <p:nvPr/>
            </p:nvSpPr>
            <p:spPr bwMode="auto">
              <a:xfrm>
                <a:off x="248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solidFill>
                      <a:srgbClr val="0000FF"/>
                    </a:solidFill>
                    <a:latin typeface="微软雅黑" panose="020B0503020204020204" pitchFamily="34" charset="-122"/>
                    <a:ea typeface="微软雅黑" panose="020B0503020204020204" pitchFamily="34" charset="-122"/>
                  </a:rPr>
                  <a:t>分组 </a:t>
                </a:r>
                <a:r>
                  <a:rPr lang="en-US" altLang="zh-CN" sz="1400" b="1">
                    <a:solidFill>
                      <a:srgbClr val="0000FF"/>
                    </a:solidFill>
                    <a:latin typeface="微软雅黑" panose="020B0503020204020204" pitchFamily="34" charset="-122"/>
                    <a:ea typeface="微软雅黑" panose="020B0503020204020204" pitchFamily="34" charset="-122"/>
                  </a:rPr>
                  <a:t>3</a:t>
                </a:r>
              </a:p>
            </p:txBody>
          </p:sp>
        </p:grpSp>
      </p:grpSp>
    </p:spTree>
    <p:extLst>
      <p:ext uri="{BB962C8B-B14F-4D97-AF65-F5344CB8AC3E}">
        <p14:creationId xmlns:p14="http://schemas.microsoft.com/office/powerpoint/2010/main" val="30905559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par>
                          <p:cTn id="11" fill="hold">
                            <p:stCondLst>
                              <p:cond delay="0"/>
                            </p:stCondLst>
                            <p:childTnLst>
                              <p:par>
                                <p:cTn id="12" presetID="2" presetClass="exit" presetSubtype="8" fill="hold" nodeType="afterEffect">
                                  <p:stCondLst>
                                    <p:cond delay="1000"/>
                                  </p:stCondLst>
                                  <p:childTnLst>
                                    <p:anim calcmode="lin" valueType="num">
                                      <p:cBhvr additive="base">
                                        <p:cTn id="13" dur="2000"/>
                                        <p:tgtEl>
                                          <p:spTgt spid="3"/>
                                        </p:tgtEl>
                                        <p:attrNameLst>
                                          <p:attrName>ppt_x</p:attrName>
                                        </p:attrNameLst>
                                      </p:cBhvr>
                                      <p:tavLst>
                                        <p:tav tm="0">
                                          <p:val>
                                            <p:strVal val="ppt_x"/>
                                          </p:val>
                                        </p:tav>
                                        <p:tav tm="100000">
                                          <p:val>
                                            <p:strVal val="0-ppt_w/2"/>
                                          </p:val>
                                        </p:tav>
                                      </p:tavLst>
                                    </p:anim>
                                    <p:anim calcmode="lin" valueType="num">
                                      <p:cBhvr additive="base">
                                        <p:cTn id="14" dur="2000"/>
                                        <p:tgtEl>
                                          <p:spTgt spid="3"/>
                                        </p:tgtEl>
                                        <p:attrNameLst>
                                          <p:attrName>ppt_y</p:attrName>
                                        </p:attrNameLst>
                                      </p:cBhvr>
                                      <p:tavLst>
                                        <p:tav tm="0">
                                          <p:val>
                                            <p:strVal val="ppt_y"/>
                                          </p:val>
                                        </p:tav>
                                        <p:tav tm="100000">
                                          <p:val>
                                            <p:strVal val="ppt_y"/>
                                          </p:val>
                                        </p:tav>
                                      </p:tavLst>
                                    </p:anim>
                                    <p:set>
                                      <p:cBhvr>
                                        <p:cTn id="15" dur="1" fill="hold">
                                          <p:stCondLst>
                                            <p:cond delay="1999"/>
                                          </p:stCondLst>
                                        </p:cTn>
                                        <p:tgtEl>
                                          <p:spTgt spid="3"/>
                                        </p:tgtEl>
                                        <p:attrNameLst>
                                          <p:attrName>style.visibility</p:attrName>
                                        </p:attrNameLst>
                                      </p:cBhvr>
                                      <p:to>
                                        <p:strVal val="hidden"/>
                                      </p:to>
                                    </p:set>
                                  </p:childTnLst>
                                </p:cTn>
                              </p:par>
                            </p:childTnLst>
                          </p:cTn>
                        </p:par>
                        <p:par>
                          <p:cTn id="16" fill="hold">
                            <p:stCondLst>
                              <p:cond delay="3000"/>
                            </p:stCondLst>
                            <p:childTnLst>
                              <p:par>
                                <p:cTn id="17" presetID="2" presetClass="exit" presetSubtype="8" fill="hold" nodeType="afterEffect">
                                  <p:stCondLst>
                                    <p:cond delay="250"/>
                                  </p:stCondLst>
                                  <p:childTnLst>
                                    <p:anim calcmode="lin" valueType="num">
                                      <p:cBhvr additive="base">
                                        <p:cTn id="18" dur="2000"/>
                                        <p:tgtEl>
                                          <p:spTgt spid="9"/>
                                        </p:tgtEl>
                                        <p:attrNameLst>
                                          <p:attrName>ppt_x</p:attrName>
                                        </p:attrNameLst>
                                      </p:cBhvr>
                                      <p:tavLst>
                                        <p:tav tm="0">
                                          <p:val>
                                            <p:strVal val="ppt_x"/>
                                          </p:val>
                                        </p:tav>
                                        <p:tav tm="100000">
                                          <p:val>
                                            <p:strVal val="0-ppt_w/2"/>
                                          </p:val>
                                        </p:tav>
                                      </p:tavLst>
                                    </p:anim>
                                    <p:anim calcmode="lin" valueType="num">
                                      <p:cBhvr additive="base">
                                        <p:cTn id="19" dur="2000"/>
                                        <p:tgtEl>
                                          <p:spTgt spid="9"/>
                                        </p:tgtEl>
                                        <p:attrNameLst>
                                          <p:attrName>ppt_y</p:attrName>
                                        </p:attrNameLst>
                                      </p:cBhvr>
                                      <p:tavLst>
                                        <p:tav tm="0">
                                          <p:val>
                                            <p:strVal val="ppt_y"/>
                                          </p:val>
                                        </p:tav>
                                        <p:tav tm="100000">
                                          <p:val>
                                            <p:strVal val="ppt_y"/>
                                          </p:val>
                                        </p:tav>
                                      </p:tavLst>
                                    </p:anim>
                                    <p:set>
                                      <p:cBhvr>
                                        <p:cTn id="20" dur="1" fill="hold">
                                          <p:stCondLst>
                                            <p:cond delay="1999"/>
                                          </p:stCondLst>
                                        </p:cTn>
                                        <p:tgtEl>
                                          <p:spTgt spid="9"/>
                                        </p:tgtEl>
                                        <p:attrNameLst>
                                          <p:attrName>style.visibility</p:attrName>
                                        </p:attrNameLst>
                                      </p:cBhvr>
                                      <p:to>
                                        <p:strVal val="hidden"/>
                                      </p:to>
                                    </p:set>
                                  </p:childTnLst>
                                </p:cTn>
                              </p:par>
                            </p:childTnLst>
                          </p:cTn>
                        </p:par>
                        <p:par>
                          <p:cTn id="21" fill="hold">
                            <p:stCondLst>
                              <p:cond delay="5250"/>
                            </p:stCondLst>
                            <p:childTnLst>
                              <p:par>
                                <p:cTn id="22" presetID="2" presetClass="exit" presetSubtype="8" fill="hold" nodeType="afterEffect">
                                  <p:stCondLst>
                                    <p:cond delay="250"/>
                                  </p:stCondLst>
                                  <p:childTnLst>
                                    <p:anim calcmode="lin" valueType="num">
                                      <p:cBhvr additive="base">
                                        <p:cTn id="23" dur="2000"/>
                                        <p:tgtEl>
                                          <p:spTgt spid="15"/>
                                        </p:tgtEl>
                                        <p:attrNameLst>
                                          <p:attrName>ppt_x</p:attrName>
                                        </p:attrNameLst>
                                      </p:cBhvr>
                                      <p:tavLst>
                                        <p:tav tm="0">
                                          <p:val>
                                            <p:strVal val="ppt_x"/>
                                          </p:val>
                                        </p:tav>
                                        <p:tav tm="100000">
                                          <p:val>
                                            <p:strVal val="0-ppt_w/2"/>
                                          </p:val>
                                        </p:tav>
                                      </p:tavLst>
                                    </p:anim>
                                    <p:anim calcmode="lin" valueType="num">
                                      <p:cBhvr additive="base">
                                        <p:cTn id="24" dur="2000"/>
                                        <p:tgtEl>
                                          <p:spTgt spid="15"/>
                                        </p:tgtEl>
                                        <p:attrNameLst>
                                          <p:attrName>ppt_y</p:attrName>
                                        </p:attrNameLst>
                                      </p:cBhvr>
                                      <p:tavLst>
                                        <p:tav tm="0">
                                          <p:val>
                                            <p:strVal val="ppt_y"/>
                                          </p:val>
                                        </p:tav>
                                        <p:tav tm="100000">
                                          <p:val>
                                            <p:strVal val="ppt_y"/>
                                          </p:val>
                                        </p:tav>
                                      </p:tavLst>
                                    </p:anim>
                                    <p:set>
                                      <p:cBhvr>
                                        <p:cTn id="25" dur="1" fill="hold">
                                          <p:stCondLst>
                                            <p:cond delay="19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181013" y="1478417"/>
            <a:ext cx="191551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5" name="Rectangle 10"/>
          <p:cNvSpPr>
            <a:spLocks noChangeArrowheads="1"/>
          </p:cNvSpPr>
          <p:nvPr/>
        </p:nvSpPr>
        <p:spPr bwMode="auto">
          <a:xfrm>
            <a:off x="1647613" y="147841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6" name="Group 13"/>
          <p:cNvGrpSpPr>
            <a:grpSpLocks/>
          </p:cNvGrpSpPr>
          <p:nvPr/>
        </p:nvGrpSpPr>
        <p:grpSpPr bwMode="auto">
          <a:xfrm>
            <a:off x="1666609" y="1006931"/>
            <a:ext cx="2429157" cy="433780"/>
            <a:chOff x="1973" y="2532"/>
            <a:chExt cx="1652" cy="320"/>
          </a:xfrm>
        </p:grpSpPr>
        <p:sp>
          <p:nvSpPr>
            <p:cNvPr id="7" name="AutoShape 14"/>
            <p:cNvSpPr>
              <a:spLocks/>
            </p:cNvSpPr>
            <p:nvPr/>
          </p:nvSpPr>
          <p:spPr bwMode="auto">
            <a:xfrm rot="5400000">
              <a:off x="2748" y="1975"/>
              <a:ext cx="102"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dirty="0">
                <a:solidFill>
                  <a:srgbClr val="000099"/>
                </a:solidFill>
                <a:latin typeface="Times New Roman" panose="02020603050405020304" pitchFamily="18" charset="0"/>
                <a:ea typeface="微软雅黑 Light" panose="020B0502040204020203" pitchFamily="34" charset="-122"/>
              </a:endParaRPr>
            </a:p>
          </p:txBody>
        </p:sp>
        <p:sp>
          <p:nvSpPr>
            <p:cNvPr id="8" name="Text Box 15"/>
            <p:cNvSpPr txBox="1">
              <a:spLocks noChangeArrowheads="1"/>
            </p:cNvSpPr>
            <p:nvPr/>
          </p:nvSpPr>
          <p:spPr bwMode="auto">
            <a:xfrm>
              <a:off x="2561"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1</a:t>
              </a:r>
            </a:p>
          </p:txBody>
        </p:sp>
      </p:grpSp>
      <p:sp>
        <p:nvSpPr>
          <p:cNvPr id="9" name="Rectangle 3"/>
          <p:cNvSpPr>
            <a:spLocks noChangeArrowheads="1"/>
          </p:cNvSpPr>
          <p:nvPr/>
        </p:nvSpPr>
        <p:spPr bwMode="auto">
          <a:xfrm>
            <a:off x="4097123" y="2121577"/>
            <a:ext cx="1915432" cy="369887"/>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0" name="Rectangle 11"/>
          <p:cNvSpPr>
            <a:spLocks noChangeArrowheads="1"/>
          </p:cNvSpPr>
          <p:nvPr/>
        </p:nvSpPr>
        <p:spPr bwMode="auto">
          <a:xfrm>
            <a:off x="3563723" y="2121577"/>
            <a:ext cx="533400" cy="369887"/>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1" name="Group 16"/>
          <p:cNvGrpSpPr>
            <a:grpSpLocks/>
          </p:cNvGrpSpPr>
          <p:nvPr/>
        </p:nvGrpSpPr>
        <p:grpSpPr bwMode="auto">
          <a:xfrm>
            <a:off x="3565193" y="1640571"/>
            <a:ext cx="2429157" cy="457201"/>
            <a:chOff x="1974" y="2532"/>
            <a:chExt cx="1652" cy="336"/>
          </a:xfrm>
        </p:grpSpPr>
        <p:sp>
          <p:nvSpPr>
            <p:cNvPr id="12" name="AutoShape 17"/>
            <p:cNvSpPr>
              <a:spLocks/>
            </p:cNvSpPr>
            <p:nvPr/>
          </p:nvSpPr>
          <p:spPr bwMode="auto">
            <a:xfrm rot="5400000">
              <a:off x="2734" y="1977"/>
              <a:ext cx="131" cy="1652"/>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dirty="0">
                <a:solidFill>
                  <a:srgbClr val="000099"/>
                </a:solidFill>
                <a:latin typeface="Times New Roman" panose="02020603050405020304" pitchFamily="18" charset="0"/>
                <a:ea typeface="微软雅黑 Light" panose="020B0502040204020203" pitchFamily="34" charset="-122"/>
              </a:endParaRPr>
            </a:p>
          </p:txBody>
        </p:sp>
        <p:sp>
          <p:nvSpPr>
            <p:cNvPr id="13" name="Text Box 18"/>
            <p:cNvSpPr txBox="1">
              <a:spLocks noChangeArrowheads="1"/>
            </p:cNvSpPr>
            <p:nvPr/>
          </p:nvSpPr>
          <p:spPr bwMode="auto">
            <a:xfrm>
              <a:off x="2549" y="2532"/>
              <a:ext cx="483" cy="2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2</a:t>
              </a:r>
            </a:p>
          </p:txBody>
        </p:sp>
      </p:grpSp>
      <p:sp>
        <p:nvSpPr>
          <p:cNvPr id="14" name="Rectangle 4"/>
          <p:cNvSpPr>
            <a:spLocks noChangeArrowheads="1"/>
          </p:cNvSpPr>
          <p:nvPr/>
        </p:nvSpPr>
        <p:spPr bwMode="auto">
          <a:xfrm>
            <a:off x="6000583" y="2735394"/>
            <a:ext cx="1915512" cy="369888"/>
          </a:xfrm>
          <a:prstGeom prst="rect">
            <a:avLst/>
          </a:prstGeom>
          <a:solidFill>
            <a:srgbClr val="B1D8F9"/>
          </a:solidFill>
          <a:ln w="28575">
            <a:solidFill>
              <a:schemeClr val="tx1"/>
            </a:solidFill>
            <a:miter lim="800000"/>
            <a:headEnd/>
            <a:tailEnd/>
          </a:ln>
        </p:spPr>
        <p:txBody>
          <a:bodyPr wrap="none" anchor="ctr"/>
          <a:lstStyle/>
          <a:p>
            <a:pPr algn="ctr" eaLnBrk="0" hangingPunct="0"/>
            <a:r>
              <a:rPr lang="zh-CN" altLang="en-US" sz="1600" b="1">
                <a:latin typeface="微软雅黑" pitchFamily="34" charset="-122"/>
                <a:ea typeface="微软雅黑" pitchFamily="34" charset="-122"/>
              </a:rPr>
              <a:t>数     据</a:t>
            </a:r>
          </a:p>
        </p:txBody>
      </p:sp>
      <p:sp>
        <p:nvSpPr>
          <p:cNvPr id="15" name="Rectangle 12"/>
          <p:cNvSpPr>
            <a:spLocks noChangeArrowheads="1"/>
          </p:cNvSpPr>
          <p:nvPr/>
        </p:nvSpPr>
        <p:spPr bwMode="auto">
          <a:xfrm>
            <a:off x="5460833" y="2733807"/>
            <a:ext cx="533400" cy="371475"/>
          </a:xfrm>
          <a:prstGeom prst="rect">
            <a:avLst/>
          </a:prstGeom>
          <a:solidFill>
            <a:srgbClr val="00B050"/>
          </a:solidFill>
          <a:ln w="28575">
            <a:solidFill>
              <a:schemeClr val="tx1"/>
            </a:solidFill>
            <a:miter lim="800000"/>
            <a:headEnd/>
            <a:tailEnd/>
          </a:ln>
        </p:spPr>
        <p:txBody>
          <a:bodyPr wrap="none" anchor="ctr"/>
          <a:lstStyle/>
          <a:p>
            <a:pPr algn="ctr" eaLnBrk="0" hangingPunct="0"/>
            <a:r>
              <a:rPr lang="zh-CN" altLang="en-US" sz="1600" b="1">
                <a:solidFill>
                  <a:schemeClr val="bg1"/>
                </a:solidFill>
                <a:latin typeface="微软雅黑" pitchFamily="34" charset="-122"/>
                <a:ea typeface="微软雅黑" pitchFamily="34" charset="-122"/>
              </a:rPr>
              <a:t>首部</a:t>
            </a:r>
          </a:p>
        </p:txBody>
      </p:sp>
      <p:grpSp>
        <p:nvGrpSpPr>
          <p:cNvPr id="16" name="Group 19"/>
          <p:cNvGrpSpPr>
            <a:grpSpLocks/>
          </p:cNvGrpSpPr>
          <p:nvPr/>
        </p:nvGrpSpPr>
        <p:grpSpPr bwMode="auto">
          <a:xfrm>
            <a:off x="5460833" y="2265497"/>
            <a:ext cx="2455262" cy="437795"/>
            <a:chOff x="1973" y="2532"/>
            <a:chExt cx="1451" cy="327"/>
          </a:xfrm>
        </p:grpSpPr>
        <p:sp>
          <p:nvSpPr>
            <p:cNvPr id="17" name="AutoShape 20"/>
            <p:cNvSpPr>
              <a:spLocks/>
            </p:cNvSpPr>
            <p:nvPr/>
          </p:nvSpPr>
          <p:spPr bwMode="auto">
            <a:xfrm rot="5400000">
              <a:off x="2644" y="2079"/>
              <a:ext cx="109" cy="1451"/>
            </a:xfrm>
            <a:prstGeom prst="leftBrace">
              <a:avLst>
                <a:gd name="adj1" fmla="val 134352"/>
                <a:gd name="adj2" fmla="val 50000"/>
              </a:avLst>
            </a:prstGeom>
            <a:noFill/>
            <a:ln w="28575">
              <a:solidFill>
                <a:srgbClr val="0000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dirty="0">
                <a:solidFill>
                  <a:srgbClr val="000099"/>
                </a:solidFill>
                <a:latin typeface="Times New Roman" panose="02020603050405020304" pitchFamily="18" charset="0"/>
                <a:ea typeface="微软雅黑 Light" panose="020B0502040204020203" pitchFamily="34" charset="-122"/>
              </a:endParaRPr>
            </a:p>
          </p:txBody>
        </p:sp>
        <p:sp>
          <p:nvSpPr>
            <p:cNvPr id="18" name="Text Box 21"/>
            <p:cNvSpPr txBox="1">
              <a:spLocks noChangeArrowheads="1"/>
            </p:cNvSpPr>
            <p:nvPr/>
          </p:nvSpPr>
          <p:spPr bwMode="auto">
            <a:xfrm>
              <a:off x="2504" y="2532"/>
              <a:ext cx="483" cy="22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solidFill>
                    <a:srgbClr val="0000FF"/>
                  </a:solidFill>
                  <a:latin typeface="微软雅黑" pitchFamily="34" charset="-122"/>
                  <a:ea typeface="微软雅黑" pitchFamily="34" charset="-122"/>
                </a:rPr>
                <a:t>分组 </a:t>
              </a:r>
              <a:r>
                <a:rPr lang="en-US" altLang="zh-CN" sz="1400" b="1" dirty="0">
                  <a:solidFill>
                    <a:srgbClr val="0000FF"/>
                  </a:solidFill>
                  <a:latin typeface="微软雅黑" pitchFamily="34" charset="-122"/>
                  <a:ea typeface="微软雅黑" pitchFamily="34" charset="-122"/>
                </a:rPr>
                <a:t>3</a:t>
              </a:r>
            </a:p>
          </p:txBody>
        </p:sp>
      </p:grpSp>
      <p:grpSp>
        <p:nvGrpSpPr>
          <p:cNvPr id="22" name="组合 21"/>
          <p:cNvGrpSpPr/>
          <p:nvPr/>
        </p:nvGrpSpPr>
        <p:grpSpPr bwMode="auto">
          <a:xfrm>
            <a:off x="2095472" y="3904552"/>
            <a:ext cx="5907387" cy="830208"/>
            <a:chOff x="1757943" y="3576228"/>
            <a:chExt cx="5908307" cy="830260"/>
          </a:xfrm>
        </p:grpSpPr>
        <p:grpSp>
          <p:nvGrpSpPr>
            <p:cNvPr id="23" name="组合 8"/>
            <p:cNvGrpSpPr/>
            <p:nvPr/>
          </p:nvGrpSpPr>
          <p:grpSpPr bwMode="auto">
            <a:xfrm>
              <a:off x="1843809" y="3576228"/>
              <a:ext cx="5741101" cy="830260"/>
              <a:chOff x="1843809" y="3576228"/>
              <a:chExt cx="5741101" cy="830260"/>
            </a:xfrm>
          </p:grpSpPr>
          <p:cxnSp>
            <p:nvCxnSpPr>
              <p:cNvPr id="25" name="直接连接符 10"/>
              <p:cNvCxnSpPr>
                <a:cxnSpLocks noChangeShapeType="1"/>
              </p:cNvCxnSpPr>
              <p:nvPr/>
            </p:nvCxnSpPr>
            <p:spPr bwMode="auto">
              <a:xfrm>
                <a:off x="1845529" y="3997434"/>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11"/>
              <p:cNvCxnSpPr>
                <a:cxnSpLocks noChangeShapeType="1"/>
              </p:cNvCxnSpPr>
              <p:nvPr/>
            </p:nvCxnSpPr>
            <p:spPr bwMode="auto">
              <a:xfrm>
                <a:off x="7584910" y="3997437"/>
                <a:ext cx="0" cy="400111"/>
              </a:xfrm>
              <a:prstGeom prst="line">
                <a:avLst/>
              </a:prstGeom>
              <a:noFill/>
              <a:ln w="28575" algn="ctr">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27" name="Group 5"/>
              <p:cNvGrpSpPr/>
              <p:nvPr/>
            </p:nvGrpSpPr>
            <p:grpSpPr bwMode="auto">
              <a:xfrm>
                <a:off x="1843809" y="4068350"/>
                <a:ext cx="5740664" cy="338138"/>
                <a:chOff x="1247" y="2334"/>
                <a:chExt cx="3338" cy="213"/>
              </a:xfrm>
            </p:grpSpPr>
            <p:sp>
              <p:nvSpPr>
                <p:cNvPr id="33" name="Line 6"/>
                <p:cNvSpPr>
                  <a:spLocks noChangeShapeType="1"/>
                </p:cNvSpPr>
                <p:nvPr/>
              </p:nvSpPr>
              <p:spPr bwMode="auto">
                <a:xfrm>
                  <a:off x="1247" y="2428"/>
                  <a:ext cx="3338" cy="0"/>
                </a:xfrm>
                <a:prstGeom prst="line">
                  <a:avLst/>
                </a:prstGeom>
                <a:noFill/>
                <a:ln w="28575">
                  <a:solidFill>
                    <a:srgbClr val="00B05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34" name="Text Box 7"/>
                <p:cNvSpPr txBox="1">
                  <a:spLocks noChangeArrowheads="1"/>
                </p:cNvSpPr>
                <p:nvPr/>
              </p:nvSpPr>
              <p:spPr bwMode="auto">
                <a:xfrm>
                  <a:off x="2874" y="2334"/>
                  <a:ext cx="346" cy="213"/>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prstClr val="black"/>
                      </a:solidFill>
                      <a:latin typeface="微软雅黑" panose="020B0503020204020204" pitchFamily="34" charset="-122"/>
                      <a:ea typeface="微软雅黑" panose="020B0503020204020204" pitchFamily="34" charset="-122"/>
                    </a:rPr>
                    <a:t>报文</a:t>
                  </a:r>
                </a:p>
              </p:txBody>
            </p:sp>
          </p:grpSp>
          <p:grpSp>
            <p:nvGrpSpPr>
              <p:cNvPr id="28" name="Group 24"/>
              <p:cNvGrpSpPr/>
              <p:nvPr/>
            </p:nvGrpSpPr>
            <p:grpSpPr bwMode="auto">
              <a:xfrm>
                <a:off x="1843809" y="3576228"/>
                <a:ext cx="5740664" cy="431800"/>
                <a:chOff x="1247" y="2931"/>
                <a:chExt cx="3338" cy="272"/>
              </a:xfrm>
            </p:grpSpPr>
            <p:sp>
              <p:nvSpPr>
                <p:cNvPr id="29" name="Rectangle 25"/>
                <p:cNvSpPr>
                  <a:spLocks noChangeArrowheads="1"/>
                </p:cNvSpPr>
                <p:nvPr/>
              </p:nvSpPr>
              <p:spPr bwMode="auto">
                <a:xfrm>
                  <a:off x="1248" y="2931"/>
                  <a:ext cx="1088" cy="272"/>
                </a:xfrm>
                <a:prstGeom prst="rect">
                  <a:avLst/>
                </a:prstGeom>
                <a:solidFill>
                  <a:srgbClr val="CDF3CD"/>
                </a:solidFill>
                <a:ln w="19050">
                  <a:solidFill>
                    <a:srgbClr val="00CC00"/>
                  </a:solidFill>
                  <a:miter lim="800000"/>
                </a:ln>
              </p:spPr>
              <p:txBody>
                <a:bodyPr wrap="none" anchor="ctr"/>
                <a:lstStyle/>
                <a:p>
                  <a:endParaRPr lang="zh-CN" altLang="zh-CN" b="1" dirty="0">
                    <a:solidFill>
                      <a:srgbClr val="000099"/>
                    </a:solidFill>
                    <a:latin typeface="Times New Roman" panose="02020603050405020304" pitchFamily="18" charset="0"/>
                    <a:ea typeface="微软雅黑 Light" panose="020B0502040204020203" pitchFamily="34" charset="-122"/>
                  </a:endParaRPr>
                </a:p>
              </p:txBody>
            </p:sp>
            <p:sp>
              <p:nvSpPr>
                <p:cNvPr id="30" name="Rectangle 26"/>
                <p:cNvSpPr>
                  <a:spLocks noChangeArrowheads="1"/>
                </p:cNvSpPr>
                <p:nvPr/>
              </p:nvSpPr>
              <p:spPr bwMode="auto">
                <a:xfrm>
                  <a:off x="2336" y="2931"/>
                  <a:ext cx="1088" cy="272"/>
                </a:xfrm>
                <a:prstGeom prst="rect">
                  <a:avLst/>
                </a:prstGeom>
                <a:solidFill>
                  <a:srgbClr val="CDF3CD"/>
                </a:solidFill>
                <a:ln w="19050">
                  <a:solidFill>
                    <a:srgbClr val="00CC00"/>
                  </a:solidFill>
                  <a:miter lim="800000"/>
                </a:ln>
              </p:spPr>
              <p:txBody>
                <a:bodyPr wrap="none" anchor="ctr"/>
                <a:lstStyle/>
                <a:p>
                  <a:endParaRPr lang="zh-CN" altLang="zh-CN" b="1" dirty="0">
                    <a:solidFill>
                      <a:srgbClr val="000099"/>
                    </a:solidFill>
                    <a:latin typeface="Times New Roman" panose="02020603050405020304" pitchFamily="18" charset="0"/>
                    <a:ea typeface="微软雅黑 Light" panose="020B0502040204020203" pitchFamily="34" charset="-122"/>
                  </a:endParaRPr>
                </a:p>
              </p:txBody>
            </p:sp>
            <p:sp>
              <p:nvSpPr>
                <p:cNvPr id="31" name="Rectangle 27"/>
                <p:cNvSpPr>
                  <a:spLocks noChangeArrowheads="1"/>
                </p:cNvSpPr>
                <p:nvPr/>
              </p:nvSpPr>
              <p:spPr bwMode="auto">
                <a:xfrm>
                  <a:off x="3425" y="2931"/>
                  <a:ext cx="1088" cy="272"/>
                </a:xfrm>
                <a:prstGeom prst="rect">
                  <a:avLst/>
                </a:prstGeom>
                <a:solidFill>
                  <a:srgbClr val="CDF3CD"/>
                </a:solidFill>
                <a:ln w="19050">
                  <a:solidFill>
                    <a:srgbClr val="00CC00"/>
                  </a:solidFill>
                  <a:miter lim="800000"/>
                </a:ln>
              </p:spPr>
              <p:txBody>
                <a:bodyPr wrap="none" anchor="ctr"/>
                <a:lstStyle/>
                <a:p>
                  <a:endParaRPr lang="zh-CN" altLang="zh-CN" b="1" dirty="0">
                    <a:solidFill>
                      <a:srgbClr val="000099"/>
                    </a:solidFill>
                    <a:latin typeface="Times New Roman" panose="02020603050405020304" pitchFamily="18" charset="0"/>
                    <a:ea typeface="微软雅黑 Light" panose="020B0502040204020203" pitchFamily="34" charset="-122"/>
                  </a:endParaRPr>
                </a:p>
              </p:txBody>
            </p:sp>
            <p:sp>
              <p:nvSpPr>
                <p:cNvPr id="32" name="Rectangle 28"/>
                <p:cNvSpPr>
                  <a:spLocks noChangeArrowheads="1"/>
                </p:cNvSpPr>
                <p:nvPr/>
              </p:nvSpPr>
              <p:spPr bwMode="auto">
                <a:xfrm>
                  <a:off x="1247" y="2931"/>
                  <a:ext cx="3338" cy="272"/>
                </a:xfrm>
                <a:prstGeom prst="rect">
                  <a:avLst/>
                </a:prstGeom>
                <a:solidFill>
                  <a:srgbClr val="CDF3CD"/>
                </a:solidFill>
                <a:ln w="19050">
                  <a:solidFill>
                    <a:srgbClr val="00CC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sp>
          <p:nvSpPr>
            <p:cNvPr id="24" name="Text Box 29"/>
            <p:cNvSpPr txBox="1">
              <a:spLocks noChangeArrowheads="1"/>
            </p:cNvSpPr>
            <p:nvPr/>
          </p:nvSpPr>
          <p:spPr bwMode="auto">
            <a:xfrm>
              <a:off x="1757943" y="3596866"/>
              <a:ext cx="5908307" cy="4155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en-US" altLang="zh-CN" sz="2100" b="1" dirty="0">
                  <a:solidFill>
                    <a:srgbClr val="0000FF"/>
                  </a:solidFill>
                  <a:latin typeface="Times New Roman" panose="02020603050405020304" pitchFamily="18" charset="0"/>
                  <a:ea typeface="微软雅黑 Light" panose="020B0502040204020203" pitchFamily="34" charset="-122"/>
                </a:rPr>
                <a:t>110100011010101011010101110001001101001011</a:t>
              </a:r>
            </a:p>
          </p:txBody>
        </p:sp>
      </p:grpSp>
      <p:sp>
        <p:nvSpPr>
          <p:cNvPr id="41" name="下箭头 40"/>
          <p:cNvSpPr/>
          <p:nvPr/>
        </p:nvSpPr>
        <p:spPr>
          <a:xfrm>
            <a:off x="4987699" y="3662950"/>
            <a:ext cx="220039" cy="203063"/>
          </a:xfrm>
          <a:prstGeom prst="downArrow">
            <a:avLst/>
          </a:prstGeom>
          <a:solidFill>
            <a:srgbClr val="CC6600"/>
          </a:solidFill>
          <a:ln>
            <a:solidFill>
              <a:srgbClr val="CC6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356478" y="2070415"/>
            <a:ext cx="2076133" cy="1015663"/>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假定分组在传输过程中没有出现差错，在转发时也没有被丢弃。</a:t>
            </a:r>
          </a:p>
        </p:txBody>
      </p:sp>
      <p:sp>
        <p:nvSpPr>
          <p:cNvPr id="20" name="内容占位符 19">
            <a:extLst>
              <a:ext uri="{FF2B5EF4-FFF2-40B4-BE49-F238E27FC236}">
                <a16:creationId xmlns:a16="http://schemas.microsoft.com/office/drawing/2014/main" id="{3A9B0836-AD58-D4D1-3C33-9D7C4FE45C93}"/>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接收端收到分组后剥去首部，还原成原来的报文</a:t>
            </a:r>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6"/>
                                        </p:tgtEl>
                                        <p:attrNameLst>
                                          <p:attrName>style.visibility</p:attrName>
                                        </p:attrNameLst>
                                      </p:cBhvr>
                                      <p:to>
                                        <p:strVal val="hidden"/>
                                      </p:to>
                                    </p:set>
                                  </p:childTnLst>
                                </p:cTn>
                              </p:par>
                            </p:childTnLst>
                          </p:cTn>
                        </p:par>
                        <p:par>
                          <p:cTn id="7" fill="hold">
                            <p:stCondLst>
                              <p:cond delay="0"/>
                            </p:stCondLst>
                            <p:childTnLst>
                              <p:par>
                                <p:cTn id="8" presetID="12" presetClass="exit" presetSubtype="8" fill="hold" grpId="0" nodeType="afterEffect">
                                  <p:stCondLst>
                                    <p:cond delay="500"/>
                                  </p:stCondLst>
                                  <p:childTnLst>
                                    <p:anim calcmode="lin" valueType="num">
                                      <p:cBhvr additive="base">
                                        <p:cTn id="9" dur="500"/>
                                        <p:tgtEl>
                                          <p:spTgt spid="5"/>
                                        </p:tgtEl>
                                        <p:attrNameLst>
                                          <p:attrName>ppt_x</p:attrName>
                                        </p:attrNameLst>
                                      </p:cBhvr>
                                      <p:tavLst>
                                        <p:tav tm="0">
                                          <p:val>
                                            <p:strVal val="#ppt_x"/>
                                          </p:val>
                                        </p:tav>
                                        <p:tav tm="100000">
                                          <p:val>
                                            <p:strVal val="#ppt_x-#ppt_w*1.125000"/>
                                          </p:val>
                                        </p:tav>
                                      </p:tavLst>
                                    </p:anim>
                                    <p:animEffect transition="out" filter="wipe(left)">
                                      <p:cBhvr>
                                        <p:cTn id="10" dur="500"/>
                                        <p:tgtEl>
                                          <p:spTgt spid="5"/>
                                        </p:tgtEl>
                                      </p:cBhvr>
                                    </p:animEffect>
                                    <p:set>
                                      <p:cBhvr>
                                        <p:cTn id="11" dur="1" fill="hold">
                                          <p:stCondLst>
                                            <p:cond delay="499"/>
                                          </p:stCondLst>
                                        </p:cTn>
                                        <p:tgtEl>
                                          <p:spTgt spid="5"/>
                                        </p:tgtEl>
                                        <p:attrNameLst>
                                          <p:attrName>style.visibility</p:attrName>
                                        </p:attrNameLst>
                                      </p:cBhvr>
                                      <p:to>
                                        <p:strVal val="hidden"/>
                                      </p:to>
                                    </p:set>
                                  </p:childTnLst>
                                </p:cTn>
                              </p:par>
                            </p:childTnLst>
                          </p:cTn>
                        </p:par>
                        <p:par>
                          <p:cTn id="12" fill="hold">
                            <p:stCondLst>
                              <p:cond delay="1000"/>
                            </p:stCondLst>
                            <p:childTnLst>
                              <p:par>
                                <p:cTn id="13" presetID="42" presetClass="path" presetSubtype="0" accel="50000" decel="50000" fill="hold" grpId="0" nodeType="afterEffect">
                                  <p:stCondLst>
                                    <p:cond delay="250"/>
                                  </p:stCondLst>
                                  <p:childTnLst>
                                    <p:animMotion origin="layout" path="M 8.33333E-7 1.85185E-6 L 8.33333E-7 0.33889 " pathEditMode="relative" rAng="0" ptsTypes="AA">
                                      <p:cBhvr>
                                        <p:cTn id="14" dur="2000" fill="hold"/>
                                        <p:tgtEl>
                                          <p:spTgt spid="4"/>
                                        </p:tgtEl>
                                        <p:attrNameLst>
                                          <p:attrName>ppt_x</p:attrName>
                                          <p:attrName>ppt_y</p:attrName>
                                        </p:attrNameLst>
                                      </p:cBhvr>
                                      <p:rCtr x="0" y="16944"/>
                                    </p:animMotion>
                                  </p:childTnLst>
                                </p:cTn>
                              </p:par>
                            </p:childTnLst>
                          </p:cTn>
                        </p:par>
                        <p:par>
                          <p:cTn id="15" fill="hold">
                            <p:stCondLst>
                              <p:cond delay="3250"/>
                            </p:stCondLst>
                            <p:childTnLst>
                              <p:par>
                                <p:cTn id="16" presetID="1" presetClass="exit" presetSubtype="0" fill="hold" nodeType="afterEffect">
                                  <p:stCondLst>
                                    <p:cond delay="500"/>
                                  </p:stCondLst>
                                  <p:childTnLst>
                                    <p:set>
                                      <p:cBhvr>
                                        <p:cTn id="17" dur="1" fill="hold">
                                          <p:stCondLst>
                                            <p:cond delay="0"/>
                                          </p:stCondLst>
                                        </p:cTn>
                                        <p:tgtEl>
                                          <p:spTgt spid="11"/>
                                        </p:tgtEl>
                                        <p:attrNameLst>
                                          <p:attrName>style.visibility</p:attrName>
                                        </p:attrNameLst>
                                      </p:cBhvr>
                                      <p:to>
                                        <p:strVal val="hidden"/>
                                      </p:to>
                                    </p:set>
                                  </p:childTnLst>
                                </p:cTn>
                              </p:par>
                            </p:childTnLst>
                          </p:cTn>
                        </p:par>
                        <p:par>
                          <p:cTn id="18" fill="hold">
                            <p:stCondLst>
                              <p:cond delay="3750"/>
                            </p:stCondLst>
                            <p:childTnLst>
                              <p:par>
                                <p:cTn id="19" presetID="12" presetClass="exit" presetSubtype="8" fill="hold" grpId="0" nodeType="afterEffect">
                                  <p:stCondLst>
                                    <p:cond delay="500"/>
                                  </p:stCondLst>
                                  <p:childTnLst>
                                    <p:anim calcmode="lin" valueType="num">
                                      <p:cBhvr additive="base">
                                        <p:cTn id="20" dur="500"/>
                                        <p:tgtEl>
                                          <p:spTgt spid="10"/>
                                        </p:tgtEl>
                                        <p:attrNameLst>
                                          <p:attrName>ppt_x</p:attrName>
                                        </p:attrNameLst>
                                      </p:cBhvr>
                                      <p:tavLst>
                                        <p:tav tm="0">
                                          <p:val>
                                            <p:strVal val="#ppt_x"/>
                                          </p:val>
                                        </p:tav>
                                        <p:tav tm="100000">
                                          <p:val>
                                            <p:strVal val="#ppt_x-#ppt_w*1.125000"/>
                                          </p:val>
                                        </p:tav>
                                      </p:tavLst>
                                    </p:anim>
                                    <p:animEffect transition="out" filter="wipe(left)">
                                      <p:cBhvr>
                                        <p:cTn id="21" dur="500"/>
                                        <p:tgtEl>
                                          <p:spTgt spid="10"/>
                                        </p:tgtEl>
                                      </p:cBhvr>
                                    </p:animEffect>
                                    <p:set>
                                      <p:cBhvr>
                                        <p:cTn id="22" dur="1" fill="hold">
                                          <p:stCondLst>
                                            <p:cond delay="499"/>
                                          </p:stCondLst>
                                        </p:cTn>
                                        <p:tgtEl>
                                          <p:spTgt spid="10"/>
                                        </p:tgtEl>
                                        <p:attrNameLst>
                                          <p:attrName>style.visibility</p:attrName>
                                        </p:attrNameLst>
                                      </p:cBhvr>
                                      <p:to>
                                        <p:strVal val="hidden"/>
                                      </p:to>
                                    </p:set>
                                  </p:childTnLst>
                                </p:cTn>
                              </p:par>
                            </p:childTnLst>
                          </p:cTn>
                        </p:par>
                        <p:par>
                          <p:cTn id="23" fill="hold">
                            <p:stCondLst>
                              <p:cond delay="4750"/>
                            </p:stCondLst>
                            <p:childTnLst>
                              <p:par>
                                <p:cTn id="24" presetID="42" presetClass="path" presetSubtype="0" accel="50000" decel="50000" fill="hold" grpId="0" nodeType="afterEffect">
                                  <p:stCondLst>
                                    <p:cond delay="250"/>
                                  </p:stCondLst>
                                  <p:childTnLst>
                                    <p:animMotion origin="layout" path="M 2.22222E-6 1.85185E-6 L 2.22222E-6 0.21389 " pathEditMode="relative" rAng="0" ptsTypes="AA">
                                      <p:cBhvr>
                                        <p:cTn id="25" dur="2000" fill="hold"/>
                                        <p:tgtEl>
                                          <p:spTgt spid="9"/>
                                        </p:tgtEl>
                                        <p:attrNameLst>
                                          <p:attrName>ppt_x</p:attrName>
                                          <p:attrName>ppt_y</p:attrName>
                                        </p:attrNameLst>
                                      </p:cBhvr>
                                      <p:rCtr x="0" y="10679"/>
                                    </p:animMotion>
                                  </p:childTnLst>
                                </p:cTn>
                              </p:par>
                            </p:childTnLst>
                          </p:cTn>
                        </p:par>
                        <p:par>
                          <p:cTn id="26" fill="hold">
                            <p:stCondLst>
                              <p:cond delay="7000"/>
                            </p:stCondLst>
                            <p:childTnLst>
                              <p:par>
                                <p:cTn id="27" presetID="1" presetClass="exit" presetSubtype="0" fill="hold" nodeType="afterEffect">
                                  <p:stCondLst>
                                    <p:cond delay="500"/>
                                  </p:stCondLst>
                                  <p:childTnLst>
                                    <p:set>
                                      <p:cBhvr>
                                        <p:cTn id="28" dur="1" fill="hold">
                                          <p:stCondLst>
                                            <p:cond delay="0"/>
                                          </p:stCondLst>
                                        </p:cTn>
                                        <p:tgtEl>
                                          <p:spTgt spid="16"/>
                                        </p:tgtEl>
                                        <p:attrNameLst>
                                          <p:attrName>style.visibility</p:attrName>
                                        </p:attrNameLst>
                                      </p:cBhvr>
                                      <p:to>
                                        <p:strVal val="hidden"/>
                                      </p:to>
                                    </p:set>
                                  </p:childTnLst>
                                </p:cTn>
                              </p:par>
                            </p:childTnLst>
                          </p:cTn>
                        </p:par>
                        <p:par>
                          <p:cTn id="29" fill="hold">
                            <p:stCondLst>
                              <p:cond delay="7500"/>
                            </p:stCondLst>
                            <p:childTnLst>
                              <p:par>
                                <p:cTn id="30" presetID="12" presetClass="exit" presetSubtype="8" fill="hold" grpId="0" nodeType="afterEffect">
                                  <p:stCondLst>
                                    <p:cond delay="500"/>
                                  </p:stCondLst>
                                  <p:childTnLst>
                                    <p:anim calcmode="lin" valueType="num">
                                      <p:cBhvr additive="base">
                                        <p:cTn id="31" dur="500"/>
                                        <p:tgtEl>
                                          <p:spTgt spid="15"/>
                                        </p:tgtEl>
                                        <p:attrNameLst>
                                          <p:attrName>ppt_x</p:attrName>
                                        </p:attrNameLst>
                                      </p:cBhvr>
                                      <p:tavLst>
                                        <p:tav tm="0">
                                          <p:val>
                                            <p:strVal val="#ppt_x"/>
                                          </p:val>
                                        </p:tav>
                                        <p:tav tm="100000">
                                          <p:val>
                                            <p:strVal val="#ppt_x-#ppt_w*1.125000"/>
                                          </p:val>
                                        </p:tav>
                                      </p:tavLst>
                                    </p:anim>
                                    <p:animEffect transition="out" filter="wipe(left)">
                                      <p:cBhvr>
                                        <p:cTn id="32" dur="500"/>
                                        <p:tgtEl>
                                          <p:spTgt spid="15"/>
                                        </p:tgtEl>
                                      </p:cBhvr>
                                    </p:animEffect>
                                    <p:set>
                                      <p:cBhvr>
                                        <p:cTn id="33" dur="1" fill="hold">
                                          <p:stCondLst>
                                            <p:cond delay="499"/>
                                          </p:stCondLst>
                                        </p:cTn>
                                        <p:tgtEl>
                                          <p:spTgt spid="15"/>
                                        </p:tgtEl>
                                        <p:attrNameLst>
                                          <p:attrName>style.visibility</p:attrName>
                                        </p:attrNameLst>
                                      </p:cBhvr>
                                      <p:to>
                                        <p:strVal val="hidden"/>
                                      </p:to>
                                    </p:set>
                                  </p:childTnLst>
                                </p:cTn>
                              </p:par>
                            </p:childTnLst>
                          </p:cTn>
                        </p:par>
                        <p:par>
                          <p:cTn id="34" fill="hold">
                            <p:stCondLst>
                              <p:cond delay="8500"/>
                            </p:stCondLst>
                            <p:childTnLst>
                              <p:par>
                                <p:cTn id="35" presetID="42" presetClass="path" presetSubtype="0" accel="50000" decel="50000" fill="hold" grpId="0" nodeType="afterEffect">
                                  <p:stCondLst>
                                    <p:cond delay="250"/>
                                  </p:stCondLst>
                                  <p:childTnLst>
                                    <p:animMotion origin="layout" path="M 2.5E-6 -2.59259E-6 L 2.5E-6 0.09445 " pathEditMode="relative" rAng="0" ptsTypes="AA">
                                      <p:cBhvr>
                                        <p:cTn id="36" dur="2000" fill="hold"/>
                                        <p:tgtEl>
                                          <p:spTgt spid="14"/>
                                        </p:tgtEl>
                                        <p:attrNameLst>
                                          <p:attrName>ppt_x</p:attrName>
                                          <p:attrName>ppt_y</p:attrName>
                                        </p:attrNameLst>
                                      </p:cBhvr>
                                      <p:rCtr x="0" y="4722"/>
                                    </p:animMotion>
                                  </p:childTnLst>
                                </p:cTn>
                              </p:par>
                            </p:childTnLst>
                          </p:cTn>
                        </p:par>
                        <p:par>
                          <p:cTn id="37" fill="hold">
                            <p:stCondLst>
                              <p:cond delay="10750"/>
                            </p:stCondLst>
                            <p:childTnLst>
                              <p:par>
                                <p:cTn id="38" presetID="22" presetClass="entr" presetSubtype="1" fill="hold" grpId="0" nodeType="afterEffect">
                                  <p:stCondLst>
                                    <p:cond delay="0"/>
                                  </p:stCondLst>
                                  <p:childTnLst>
                                    <p:set>
                                      <p:cBhvr>
                                        <p:cTn id="39" dur="1" fill="hold">
                                          <p:stCondLst>
                                            <p:cond delay="0"/>
                                          </p:stCondLst>
                                        </p:cTn>
                                        <p:tgtEl>
                                          <p:spTgt spid="41"/>
                                        </p:tgtEl>
                                        <p:attrNameLst>
                                          <p:attrName>style.visibility</p:attrName>
                                        </p:attrNameLst>
                                      </p:cBhvr>
                                      <p:to>
                                        <p:strVal val="visible"/>
                                      </p:to>
                                    </p:set>
                                    <p:animEffect transition="in" filter="wipe(up)">
                                      <p:cBhvr>
                                        <p:cTn id="40" dur="500"/>
                                        <p:tgtEl>
                                          <p:spTgt spid="41"/>
                                        </p:tgtEl>
                                      </p:cBhvr>
                                    </p:animEffect>
                                  </p:childTnLst>
                                </p:cTn>
                              </p:par>
                            </p:childTnLst>
                          </p:cTn>
                        </p:par>
                        <p:par>
                          <p:cTn id="41" fill="hold">
                            <p:stCondLst>
                              <p:cond delay="11250"/>
                            </p:stCondLst>
                            <p:childTnLst>
                              <p:par>
                                <p:cTn id="42" presetID="10" presetClass="entr" presetSubtype="0" fill="hold" nodeType="afterEffect">
                                  <p:stCondLst>
                                    <p:cond delay="50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7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9" grpId="0" animBg="1"/>
      <p:bldP spid="10" grpId="0" animBg="1"/>
      <p:bldP spid="14" grpId="0" animBg="1"/>
      <p:bldP spid="15" grpId="0" animBg="1"/>
      <p:bldP spid="41"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dirty="0"/>
              <a:t>根据首部中包含的目的地址、源地址等重要控制信息进行转发。</a:t>
            </a:r>
            <a:endParaRPr lang="en-US" altLang="zh-CN" dirty="0"/>
          </a:p>
          <a:p>
            <a:r>
              <a:rPr lang="zh-CN" altLang="en-US" dirty="0"/>
              <a:t>每一个分组在互联网中独立选择传输路径。</a:t>
            </a:r>
            <a:endParaRPr lang="en-US" altLang="zh-CN" dirty="0"/>
          </a:p>
          <a:p>
            <a:r>
              <a:rPr lang="zh-CN" altLang="en-US" dirty="0"/>
              <a:t>位于网络核心部分的路由器负责转发分组，即进行分组交换。</a:t>
            </a:r>
            <a:endParaRPr lang="en-US" altLang="zh-CN" dirty="0"/>
          </a:p>
          <a:p>
            <a:r>
              <a:rPr lang="zh-CN" altLang="en-US" dirty="0"/>
              <a:t>路由器要创建和动态维护转发表。</a:t>
            </a:r>
            <a:endParaRPr lang="en-US" altLang="zh-CN" dirty="0"/>
          </a:p>
          <a:p>
            <a:endParaRPr lang="en-US" altLang="zh-CN"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分组在互联网中的转发</a:t>
            </a:r>
          </a:p>
        </p:txBody>
      </p:sp>
      <p:grpSp>
        <p:nvGrpSpPr>
          <p:cNvPr id="4" name="组合 3"/>
          <p:cNvGrpSpPr/>
          <p:nvPr/>
        </p:nvGrpSpPr>
        <p:grpSpPr>
          <a:xfrm>
            <a:off x="5286100" y="1171805"/>
            <a:ext cx="2682240" cy="3126677"/>
            <a:chOff x="5286100" y="1171805"/>
            <a:chExt cx="2682240" cy="3126677"/>
          </a:xfrm>
        </p:grpSpPr>
        <p:sp>
          <p:nvSpPr>
            <p:cNvPr id="5" name="圆角矩形 4"/>
            <p:cNvSpPr/>
            <p:nvPr/>
          </p:nvSpPr>
          <p:spPr>
            <a:xfrm>
              <a:off x="5286100" y="1171805"/>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暂存收到的分组。</a:t>
              </a:r>
            </a:p>
          </p:txBody>
        </p:sp>
        <p:sp>
          <p:nvSpPr>
            <p:cNvPr id="6" name="圆角矩形 5"/>
            <p:cNvSpPr/>
            <p:nvPr/>
          </p:nvSpPr>
          <p:spPr>
            <a:xfrm>
              <a:off x="5286100" y="1822612"/>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检查分组首部。</a:t>
              </a:r>
            </a:p>
          </p:txBody>
        </p:sp>
        <p:sp>
          <p:nvSpPr>
            <p:cNvPr id="7" name="圆角矩形 6"/>
            <p:cNvSpPr/>
            <p:nvPr/>
          </p:nvSpPr>
          <p:spPr>
            <a:xfrm>
              <a:off x="5286100" y="2488504"/>
              <a:ext cx="2682240" cy="383177"/>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600" b="1" dirty="0">
                  <a:solidFill>
                    <a:srgbClr val="000099"/>
                  </a:solidFill>
                  <a:latin typeface="微软雅黑" panose="020B0503020204020204" pitchFamily="34" charset="-122"/>
                  <a:ea typeface="微软雅黑" panose="020B0503020204020204" pitchFamily="34" charset="-122"/>
                </a:rPr>
                <a:t>查找转发表。</a:t>
              </a:r>
            </a:p>
          </p:txBody>
        </p:sp>
        <p:sp>
          <p:nvSpPr>
            <p:cNvPr id="8" name="圆角矩形 7"/>
            <p:cNvSpPr/>
            <p:nvPr/>
          </p:nvSpPr>
          <p:spPr>
            <a:xfrm>
              <a:off x="5286100" y="3154397"/>
              <a:ext cx="2682240" cy="664814"/>
            </a:xfrm>
            <a:prstGeom prst="roundRect">
              <a:avLst/>
            </a:prstGeom>
            <a:solidFill>
              <a:srgbClr val="66CCFF"/>
            </a:solidFill>
          </p:spPr>
          <p:style>
            <a:lnRef idx="1">
              <a:schemeClr val="accent1"/>
            </a:lnRef>
            <a:fillRef idx="2">
              <a:schemeClr val="accent1"/>
            </a:fillRef>
            <a:effectRef idx="1">
              <a:schemeClr val="accent1"/>
            </a:effectRef>
            <a:fontRef idx="minor">
              <a:schemeClr val="dk1"/>
            </a:fontRef>
          </p:style>
          <p:txBody>
            <a:bodyPr rtlCol="0" anchor="ctr"/>
            <a:lstStyle/>
            <a:p>
              <a:r>
                <a:rPr lang="zh-CN" altLang="en-US" sz="1600" b="1" dirty="0">
                  <a:solidFill>
                    <a:srgbClr val="000099"/>
                  </a:solidFill>
                  <a:latin typeface="微软雅黑" panose="020B0503020204020204" pitchFamily="34" charset="-122"/>
                  <a:ea typeface="微软雅黑" panose="020B0503020204020204" pitchFamily="34" charset="-122"/>
                </a:rPr>
                <a:t>按照首部中的目的地址，找到合适的接口转发出去。</a:t>
              </a:r>
            </a:p>
          </p:txBody>
        </p:sp>
        <p:cxnSp>
          <p:nvCxnSpPr>
            <p:cNvPr id="10" name="直接箭头连接符 9"/>
            <p:cNvCxnSpPr>
              <a:stCxn id="5" idx="2"/>
              <a:endCxn id="6" idx="0"/>
            </p:cNvCxnSpPr>
            <p:nvPr/>
          </p:nvCxnSpPr>
          <p:spPr>
            <a:xfrm>
              <a:off x="6627220" y="1554982"/>
              <a:ext cx="0" cy="267630"/>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a:stCxn id="6" idx="2"/>
              <a:endCxn id="7" idx="0"/>
            </p:cNvCxnSpPr>
            <p:nvPr/>
          </p:nvCxnSpPr>
          <p:spPr>
            <a:xfrm>
              <a:off x="6627220" y="2205789"/>
              <a:ext cx="0" cy="282715"/>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a:stCxn id="7" idx="2"/>
              <a:endCxn id="8" idx="0"/>
            </p:cNvCxnSpPr>
            <p:nvPr/>
          </p:nvCxnSpPr>
          <p:spPr>
            <a:xfrm>
              <a:off x="6627220" y="2871681"/>
              <a:ext cx="0" cy="282716"/>
            </a:xfrm>
            <a:prstGeom prst="straightConnector1">
              <a:avLst/>
            </a:prstGeom>
            <a:ln w="38100">
              <a:solidFill>
                <a:schemeClr val="tx1"/>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zh-CN" altLang="en-US" sz="1600" b="1" dirty="0">
                  <a:latin typeface="微软雅黑" panose="020B0503020204020204" pitchFamily="34" charset="-122"/>
                  <a:ea typeface="微软雅黑" panose="020B0503020204020204" pitchFamily="34" charset="-122"/>
                </a:rPr>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675914"/>
            <a:ext cx="8133857" cy="355688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74758" name="矩形 3"/>
          <p:cNvSpPr>
            <a:spLocks noChangeArrowheads="1"/>
          </p:cNvSpPr>
          <p:nvPr/>
        </p:nvSpPr>
        <p:spPr bwMode="auto">
          <a:xfrm>
            <a:off x="2773349" y="4276262"/>
            <a:ext cx="406320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(a) </a:t>
            </a:r>
            <a:r>
              <a:rPr kumimoji="1" lang="zh-CN" altLang="zh-CN" sz="1600" b="1" dirty="0">
                <a:latin typeface="微软雅黑" panose="020B0503020204020204" pitchFamily="34" charset="-122"/>
                <a:ea typeface="微软雅黑" panose="020B0503020204020204" pitchFamily="34" charset="-122"/>
              </a:rPr>
              <a:t>核心部分的路由器把网络互连起来</a:t>
            </a:r>
            <a:endParaRPr kumimoji="1" lang="zh-CN" altLang="en-US" sz="1600" b="1" dirty="0">
              <a:latin typeface="微软雅黑" panose="020B0503020204020204" pitchFamily="34" charset="-122"/>
              <a:ea typeface="微软雅黑" panose="020B0503020204020204" pitchFamily="34" charset="-122"/>
            </a:endParaRPr>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ln w="12700">
                  <a:solidFill>
                    <a:prstClr val="black"/>
                  </a:solidFill>
                </a:ln>
                <a:solidFill>
                  <a:srgbClr val="000099"/>
                </a:solidFill>
                <a:latin typeface="Times New Roman" panose="02020603050405020304" pitchFamily="18" charset="0"/>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675913"/>
            <a:ext cx="8133857" cy="353903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solidFill>
                <a:prstClr val="white"/>
              </a:solidFill>
            </a:endParaRPr>
          </a:p>
        </p:txBody>
      </p:sp>
      <p:sp>
        <p:nvSpPr>
          <p:cNvPr id="75782" name="矩形 3"/>
          <p:cNvSpPr>
            <a:spLocks noChangeArrowheads="1"/>
          </p:cNvSpPr>
          <p:nvPr/>
        </p:nvSpPr>
        <p:spPr bwMode="auto">
          <a:xfrm>
            <a:off x="2806002" y="4265099"/>
            <a:ext cx="382508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kumimoji="1" lang="en-US" altLang="zh-CN" sz="1600" b="1" dirty="0">
                <a:latin typeface="微软雅黑" panose="020B0503020204020204" pitchFamily="34" charset="-122"/>
                <a:ea typeface="微软雅黑" panose="020B0503020204020204" pitchFamily="34" charset="-122"/>
              </a:rPr>
              <a:t>(b) </a:t>
            </a:r>
            <a:r>
              <a:rPr kumimoji="1" lang="zh-CN" altLang="zh-CN" sz="1600" b="1" dirty="0">
                <a:latin typeface="微软雅黑" panose="020B0503020204020204" pitchFamily="34" charset="-122"/>
                <a:ea typeface="微软雅黑" panose="020B0503020204020204" pitchFamily="34" charset="-122"/>
              </a:rPr>
              <a:t>核心部分</a:t>
            </a:r>
            <a:r>
              <a:rPr kumimoji="1" lang="zh-CN" altLang="en-US" sz="1600" b="1" dirty="0">
                <a:latin typeface="微软雅黑" panose="020B0503020204020204" pitchFamily="34" charset="-122"/>
                <a:ea typeface="微软雅黑" panose="020B0503020204020204" pitchFamily="34" charset="-122"/>
              </a:rPr>
              <a:t>中</a:t>
            </a:r>
            <a:r>
              <a:rPr kumimoji="1" lang="zh-CN" altLang="zh-CN" sz="1600" b="1" dirty="0">
                <a:latin typeface="微软雅黑" panose="020B0503020204020204" pitchFamily="34" charset="-122"/>
                <a:ea typeface="微软雅黑" panose="020B0503020204020204" pitchFamily="34" charset="-122"/>
              </a:rPr>
              <a:t>的</a:t>
            </a:r>
            <a:r>
              <a:rPr kumimoji="1" lang="zh-CN" altLang="en-US" sz="1600" b="1" dirty="0">
                <a:latin typeface="微软雅黑" panose="020B0503020204020204" pitchFamily="34" charset="-122"/>
                <a:ea typeface="微软雅黑" panose="020B0503020204020204" pitchFamily="34" charset="-122"/>
              </a:rPr>
              <a:t>网络</a:t>
            </a:r>
            <a:r>
              <a:rPr kumimoji="1" lang="zh-CN" altLang="zh-CN" sz="1600" b="1" dirty="0">
                <a:latin typeface="微软雅黑" panose="020B0503020204020204" pitchFamily="34" charset="-122"/>
                <a:ea typeface="微软雅黑" panose="020B0503020204020204" pitchFamily="34" charset="-122"/>
              </a:rPr>
              <a:t>可用一条链路表示</a:t>
            </a:r>
            <a:endParaRPr kumimoji="1" lang="zh-CN" altLang="en-US" sz="1600" b="1" dirty="0">
              <a:latin typeface="微软雅黑" panose="020B0503020204020204" pitchFamily="34" charset="-122"/>
              <a:ea typeface="微软雅黑" panose="020B0503020204020204" pitchFamily="34" charset="-122"/>
            </a:endParaRPr>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05073" y="1143000"/>
            <a:ext cx="8133856"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1</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向 </a:t>
            </a:r>
            <a:r>
              <a:rPr kumimoji="1" lang="en-US" altLang="zh-CN" sz="1600" b="1" dirty="0">
                <a:solidFill>
                  <a:srgbClr val="FF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FF0000"/>
                </a:solidFill>
                <a:latin typeface="微软雅黑" panose="020B0503020204020204" pitchFamily="34" charset="-122"/>
                <a:ea typeface="微软雅黑" panose="020B0503020204020204" pitchFamily="34" charset="-122"/>
              </a:rPr>
              <a:t>5</a:t>
            </a:r>
            <a:r>
              <a:rPr kumimoji="1" lang="en-US" altLang="zh-CN" sz="1600" b="1" dirty="0">
                <a:solidFill>
                  <a:srgbClr val="FF0000"/>
                </a:solidFill>
                <a:latin typeface="微软雅黑" panose="020B0503020204020204" pitchFamily="34" charset="-122"/>
                <a:ea typeface="微软雅黑" panose="020B0503020204020204" pitchFamily="34" charset="-122"/>
              </a:rPr>
              <a:t> </a:t>
            </a:r>
            <a:r>
              <a:rPr kumimoji="1" lang="zh-CN" altLang="en-US" sz="1600" b="1" dirty="0">
                <a:solidFill>
                  <a:srgbClr val="FF0000"/>
                </a:solidFill>
                <a:latin typeface="微软雅黑" panose="020B0503020204020204" pitchFamily="34" charset="-122"/>
                <a:ea typeface="微软雅黑" panose="020B0503020204020204" pitchFamily="34" charset="-122"/>
              </a:rPr>
              <a:t>发送分组</a:t>
            </a:r>
          </a:p>
        </p:txBody>
      </p:sp>
      <p:sp>
        <p:nvSpPr>
          <p:cNvPr id="7" name="Text Box 99"/>
          <p:cNvSpPr txBox="1">
            <a:spLocks noChangeArrowheads="1"/>
          </p:cNvSpPr>
          <p:nvPr/>
        </p:nvSpPr>
        <p:spPr bwMode="auto">
          <a:xfrm>
            <a:off x="1000125" y="3690871"/>
            <a:ext cx="1899879" cy="338554"/>
          </a:xfrm>
          <a:prstGeom prst="rect">
            <a:avLst/>
          </a:prstGeom>
          <a:solidFill>
            <a:schemeClr val="bg1"/>
          </a:solidFill>
          <a:ln w="19050">
            <a:solidFill>
              <a:srgbClr val="339933"/>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2</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向 </a:t>
            </a:r>
            <a:r>
              <a:rPr kumimoji="1" lang="en-US" altLang="zh-CN" sz="1600" b="1" dirty="0">
                <a:solidFill>
                  <a:srgbClr val="0000FF"/>
                </a:solidFill>
                <a:latin typeface="微软雅黑" panose="020B0503020204020204" pitchFamily="34" charset="-122"/>
                <a:ea typeface="微软雅黑" panose="020B0503020204020204" pitchFamily="34" charset="-122"/>
              </a:rPr>
              <a:t>H</a:t>
            </a:r>
            <a:r>
              <a:rPr kumimoji="1" lang="en-US" altLang="zh-CN" sz="1600" b="1" baseline="-25000" dirty="0">
                <a:solidFill>
                  <a:srgbClr val="0000FF"/>
                </a:solidFill>
                <a:latin typeface="微软雅黑" panose="020B0503020204020204" pitchFamily="34" charset="-122"/>
                <a:ea typeface="微软雅黑" panose="020B0503020204020204" pitchFamily="34" charset="-122"/>
              </a:rPr>
              <a:t>6</a:t>
            </a:r>
            <a:r>
              <a:rPr kumimoji="1" lang="en-US" altLang="zh-CN" sz="1600" b="1" dirty="0">
                <a:solidFill>
                  <a:srgbClr val="0000FF"/>
                </a:solidFill>
                <a:latin typeface="微软雅黑" panose="020B0503020204020204" pitchFamily="34" charset="-122"/>
                <a:ea typeface="微软雅黑" panose="020B0503020204020204" pitchFamily="34" charset="-122"/>
              </a:rPr>
              <a:t> </a:t>
            </a:r>
            <a:r>
              <a:rPr kumimoji="1" lang="zh-CN" altLang="en-US" sz="1600" b="1" dirty="0">
                <a:solidFill>
                  <a:srgbClr val="0000FF"/>
                </a:solidFill>
                <a:latin typeface="微软雅黑" panose="020B0503020204020204" pitchFamily="34" charset="-122"/>
                <a:ea typeface="微软雅黑" panose="020B0503020204020204" pitchFamily="34" charset="-122"/>
              </a:rPr>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9" name="内容占位符 8">
            <a:extLst>
              <a:ext uri="{FF2B5EF4-FFF2-40B4-BE49-F238E27FC236}">
                <a16:creationId xmlns:a16="http://schemas.microsoft.com/office/drawing/2014/main" id="{CD82D48E-807A-FFB6-7637-03390FC0B0A8}"/>
              </a:ext>
            </a:extLst>
          </p:cNvPr>
          <p:cNvSpPr>
            <a:spLocks noGrp="1"/>
          </p:cNvSpPr>
          <p:nvPr>
            <p:ph sz="quarter" idx="4294967295"/>
          </p:nvPr>
        </p:nvSpPr>
        <p:spPr>
          <a:xfrm>
            <a:off x="612000" y="720000"/>
            <a:ext cx="7920000" cy="3960000"/>
          </a:xfrm>
        </p:spPr>
        <p:txBody>
          <a:bodyPr/>
          <a:lstStyle/>
          <a:p>
            <a:endParaRPr lang="zh-CN" altLang="en-US"/>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05072" y="1179576"/>
            <a:ext cx="8133857" cy="321868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4" name="Text Box 25"/>
          <p:cNvSpPr txBox="1">
            <a:spLocks noChangeArrowheads="1"/>
          </p:cNvSpPr>
          <p:nvPr/>
        </p:nvSpPr>
        <p:spPr bwMode="auto">
          <a:xfrm>
            <a:off x="1714500" y="28606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1</a:t>
            </a:r>
            <a:endParaRPr kumimoji="1" lang="en-US" altLang="zh-CN" b="1" dirty="0">
              <a:latin typeface="Times New Roman" panose="02020603050405020304" pitchFamily="18" charset="0"/>
              <a:ea typeface="微软雅黑 Light" panose="020B0502040204020203" pitchFamily="34" charset="-122"/>
            </a:endParaRPr>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C</a:t>
            </a:r>
          </a:p>
        </p:txBody>
      </p:sp>
      <p:sp>
        <p:nvSpPr>
          <p:cNvPr id="77851" name="Text Box 39"/>
          <p:cNvSpPr txBox="1">
            <a:spLocks noChangeArrowheads="1"/>
          </p:cNvSpPr>
          <p:nvPr/>
        </p:nvSpPr>
        <p:spPr bwMode="auto">
          <a:xfrm>
            <a:off x="6267450" y="34321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5</a:t>
            </a:r>
            <a:endParaRPr kumimoji="1" lang="en-US" altLang="zh-CN" b="1" dirty="0">
              <a:latin typeface="Times New Roman" panose="02020603050405020304" pitchFamily="18" charset="0"/>
              <a:ea typeface="微软雅黑 Light" panose="020B0502040204020203" pitchFamily="34" charset="-122"/>
            </a:endParaRPr>
          </a:p>
        </p:txBody>
      </p:sp>
      <p:sp>
        <p:nvSpPr>
          <p:cNvPr id="77852" name="Text Box 40"/>
          <p:cNvSpPr txBox="1">
            <a:spLocks noChangeArrowheads="1"/>
          </p:cNvSpPr>
          <p:nvPr/>
        </p:nvSpPr>
        <p:spPr bwMode="auto">
          <a:xfrm>
            <a:off x="6788150" y="2039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6</a:t>
            </a:r>
            <a:endParaRPr kumimoji="1" lang="en-US" altLang="zh-CN" b="1" dirty="0">
              <a:latin typeface="Times New Roman" panose="02020603050405020304" pitchFamily="18" charset="0"/>
              <a:ea typeface="微软雅黑 Light" panose="020B0502040204020203" pitchFamily="34" charset="-122"/>
            </a:endParaRPr>
          </a:p>
        </p:txBody>
      </p:sp>
      <p:sp>
        <p:nvSpPr>
          <p:cNvPr id="77853" name="Text Box 42"/>
          <p:cNvSpPr txBox="1">
            <a:spLocks noChangeArrowheads="1"/>
          </p:cNvSpPr>
          <p:nvPr/>
        </p:nvSpPr>
        <p:spPr bwMode="auto">
          <a:xfrm>
            <a:off x="3360738" y="1277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2</a:t>
            </a:r>
            <a:endParaRPr kumimoji="1" lang="en-US" altLang="zh-CN" b="1" dirty="0">
              <a:latin typeface="Times New Roman" panose="02020603050405020304" pitchFamily="18" charset="0"/>
              <a:ea typeface="微软雅黑 Light" panose="020B0502040204020203" pitchFamily="34" charset="-122"/>
            </a:endParaRPr>
          </a:p>
        </p:txBody>
      </p:sp>
      <p:sp>
        <p:nvSpPr>
          <p:cNvPr id="77854" name="Text Box 43"/>
          <p:cNvSpPr txBox="1">
            <a:spLocks noChangeArrowheads="1"/>
          </p:cNvSpPr>
          <p:nvPr/>
        </p:nvSpPr>
        <p:spPr bwMode="auto">
          <a:xfrm>
            <a:off x="5367338" y="39020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3</a:t>
            </a:r>
            <a:endParaRPr kumimoji="1" lang="en-US" altLang="zh-CN" b="1" dirty="0">
              <a:latin typeface="Times New Roman" panose="02020603050405020304" pitchFamily="18" charset="0"/>
              <a:ea typeface="微软雅黑 Light" panose="020B0502040204020203" pitchFamily="34" charset="-122"/>
            </a:endParaRPr>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4</a:t>
            </a:r>
            <a:endParaRPr kumimoji="1" lang="en-US" altLang="zh-CN" b="1" dirty="0">
              <a:latin typeface="Times New Roman" panose="02020603050405020304" pitchFamily="18" charset="0"/>
              <a:ea typeface="微软雅黑 Light" panose="020B0502040204020203" pitchFamily="34" charset="-122"/>
            </a:endParaRPr>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6" name="内容占位符 5">
            <a:extLst>
              <a:ext uri="{FF2B5EF4-FFF2-40B4-BE49-F238E27FC236}">
                <a16:creationId xmlns:a16="http://schemas.microsoft.com/office/drawing/2014/main" id="{B78B1967-BC39-138A-7946-FFCBF00159DD}"/>
              </a:ext>
            </a:extLst>
          </p:cNvPr>
          <p:cNvSpPr>
            <a:spLocks noGrp="1"/>
          </p:cNvSpPr>
          <p:nvPr>
            <p:ph sz="quarter" idx="4294967295"/>
          </p:nvPr>
        </p:nvSpPr>
        <p:spPr>
          <a:xfrm>
            <a:off x="612000" y="720000"/>
            <a:ext cx="7920000" cy="3960000"/>
          </a:xfrm>
        </p:spPr>
        <p:txBody>
          <a:bodyPr/>
          <a:lstStyle/>
          <a:p>
            <a:endParaRPr lang="zh-CN" altLang="en-US"/>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327712808"/>
              </p:ext>
            </p:extLst>
          </p:nvPr>
        </p:nvGraphicFramePr>
        <p:xfrm>
          <a:off x="505865" y="1082269"/>
          <a:ext cx="8133857" cy="2760664"/>
        </p:xfrm>
        <a:graphic>
          <a:graphicData uri="http://schemas.openxmlformats.org/drawingml/2006/table">
            <a:tbl>
              <a:tblPr firstRow="1" firstCol="1" bandRow="1" bandCol="1">
                <a:tableStyleId>{93296810-A885-4BE3-A3E7-6D5BEEA58F35}</a:tableStyleId>
              </a:tblPr>
              <a:tblGrid>
                <a:gridCol w="1017418">
                  <a:extLst>
                    <a:ext uri="{9D8B030D-6E8A-4147-A177-3AD203B41FA5}">
                      <a16:colId xmlns:a16="http://schemas.microsoft.com/office/drawing/2014/main" val="20000"/>
                    </a:ext>
                  </a:extLst>
                </a:gridCol>
                <a:gridCol w="7116439">
                  <a:extLst>
                    <a:ext uri="{9D8B030D-6E8A-4147-A177-3AD203B41FA5}">
                      <a16:colId xmlns:a16="http://schemas.microsoft.com/office/drawing/2014/main" val="20001"/>
                    </a:ext>
                  </a:extLst>
                </a:gridCol>
              </a:tblGrid>
              <a:tr h="47283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优点</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107997" marR="107997" marT="72025" marB="720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所采用的手段</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CCFF"/>
                    </a:solidFill>
                  </a:tcPr>
                </a:tc>
                <a:extLst>
                  <a:ext uri="{0D108BD9-81ED-4DB2-BD59-A6C34878D82A}">
                    <a16:rowId xmlns:a16="http://schemas.microsoft.com/office/drawing/2014/main" val="10000"/>
                  </a:ext>
                </a:extLst>
              </a:tr>
              <a:tr h="467024">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高效</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在分组传输的过程中</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rPr>
                        <a:t>动态分配</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传输带宽，对通信链路是</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逐段</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占用</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35881">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灵活</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为每一个分组</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独立</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地选择最合适的转发路由</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59519">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迅速</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以分组作为传送单位，可以</a:t>
                      </a:r>
                      <a:r>
                        <a:rPr kumimoji="0" lang="zh-CN" sz="1800" b="1" u="none" strike="noStrike" kern="1200" cap="none" normalizeH="0" baseline="0" dirty="0">
                          <a:ln>
                            <a:noFill/>
                          </a:ln>
                          <a:solidFill>
                            <a:srgbClr val="CC00CC"/>
                          </a:solidFill>
                          <a:effectLst/>
                          <a:latin typeface="微软雅黑" panose="020B0503020204020204" pitchFamily="34" charset="-122"/>
                          <a:ea typeface="微软雅黑" panose="020B0503020204020204" pitchFamily="34" charset="-122"/>
                          <a:cs typeface="+mn-cs"/>
                        </a:rPr>
                        <a:t>不先建立连接</a:t>
                      </a: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就能向其他主机发送分组</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5406">
                <a:tc>
                  <a:txBody>
                    <a:bodyPr/>
                    <a:lstStyle/>
                    <a:p>
                      <a:pPr marL="0" marR="0" lvl="0" indent="0" algn="ctr"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rPr>
                        <a:t>可靠</a:t>
                      </a:r>
                      <a:endParaRPr kumimoji="0" lang="zh-CN" sz="1800" b="1" i="0" u="none" strike="noStrike" kern="1200" cap="none" normalizeH="0" baseline="0" dirty="0">
                        <a:ln>
                          <a:noFill/>
                        </a:ln>
                        <a:solidFill>
                          <a:schemeClr val="tx1"/>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66FFCC"/>
                    </a:solidFill>
                  </a:tcPr>
                </a:tc>
                <a:tc>
                  <a:txBody>
                    <a:bodyPr/>
                    <a:lstStyle/>
                    <a:p>
                      <a:pPr marL="0" marR="0" lvl="0" indent="0" algn="l" defTabSz="914400" rtl="0" eaLnBrk="0" fontAlgn="base" latinLnBrk="0" hangingPunct="0">
                        <a:lnSpc>
                          <a:spcPts val="2400"/>
                        </a:lnSpc>
                        <a:spcBef>
                          <a:spcPct val="0"/>
                        </a:spcBef>
                        <a:spcAft>
                          <a:spcPct val="0"/>
                        </a:spcAft>
                        <a:buClrTx/>
                        <a:buSzTx/>
                        <a:buFontTx/>
                        <a:buNone/>
                      </a:pPr>
                      <a:r>
                        <a:rPr kumimoji="0" lang="zh-CN"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保证可靠性的网络协议；分布式多路由的分组交换网，使网络有很好的生存性</a:t>
                      </a:r>
                      <a:r>
                        <a:rPr kumimoji="0" lang="zh-CN" altLang="en-US" sz="1800" b="1"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rPr>
                        <a:t>。</a:t>
                      </a:r>
                      <a:endParaRPr kumimoji="0" lang="zh-CN" sz="1800" b="1" i="0" u="none" strike="noStrike" kern="1200" cap="none" normalizeH="0" baseline="0" dirty="0">
                        <a:ln>
                          <a:noFill/>
                        </a:ln>
                        <a:solidFill>
                          <a:srgbClr val="0000FF"/>
                        </a:solidFill>
                        <a:effectLst/>
                        <a:latin typeface="微软雅黑" panose="020B0503020204020204" pitchFamily="34" charset="-122"/>
                        <a:ea typeface="微软雅黑" panose="020B0503020204020204" pitchFamily="34" charset="-122"/>
                        <a:cs typeface="+mn-cs"/>
                      </a:endParaRPr>
                    </a:p>
                  </a:txBody>
                  <a:tcPr marL="89998" marR="89998" marT="46816" marB="46816"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6" name="内容占位符 5">
            <a:extLst>
              <a:ext uri="{FF2B5EF4-FFF2-40B4-BE49-F238E27FC236}">
                <a16:creationId xmlns:a16="http://schemas.microsoft.com/office/drawing/2014/main" id="{01ED319D-F88E-E936-CA56-D6A7488C7B05}"/>
              </a:ext>
            </a:extLst>
          </p:cNvPr>
          <p:cNvSpPr>
            <a:spLocks noGrp="1"/>
          </p:cNvSpPr>
          <p:nvPr>
            <p:ph sz="quarter" idx="4294967295"/>
          </p:nvPr>
        </p:nvSpPr>
        <p:spPr>
          <a:xfrm>
            <a:off x="612000" y="720000"/>
            <a:ext cx="7920000" cy="3960000"/>
          </a:xfrm>
        </p:spPr>
        <p:txBody>
          <a:bodyPr/>
          <a:lstStyle/>
          <a:p>
            <a:endParaRPr lang="zh-CN" altLang="en-US"/>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分组交换的优点</a:t>
            </a:r>
          </a:p>
        </p:txBody>
      </p:sp>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排队延迟：分组在各路由器存储转发时需要排队。</a:t>
            </a:r>
            <a:endParaRPr lang="en-US" altLang="zh-CN" dirty="0"/>
          </a:p>
          <a:p>
            <a:r>
              <a:rPr lang="zh-CN" altLang="en-US" dirty="0"/>
              <a:t>不保证带宽：</a:t>
            </a:r>
            <a:r>
              <a:rPr lang="zh-CN" altLang="zh-CN" dirty="0"/>
              <a:t>动态分配</a:t>
            </a:r>
            <a:r>
              <a:rPr lang="zh-CN" altLang="en-US" dirty="0"/>
              <a:t>。</a:t>
            </a:r>
            <a:endParaRPr lang="en-US" altLang="zh-CN" dirty="0"/>
          </a:p>
          <a:p>
            <a:r>
              <a:rPr lang="zh-CN" altLang="en-US" dirty="0"/>
              <a:t>增加开销：各分组必须携带控制信息；路由器要暂存分组，维护转发表等。</a:t>
            </a:r>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分组交换带来的问题</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r>
              <a:rPr lang="en-US" altLang="zh-CN" dirty="0"/>
              <a:t>(message switching)</a:t>
            </a:r>
            <a:r>
              <a:rPr lang="zh-CN" altLang="en-US" dirty="0"/>
              <a:t>。 </a:t>
            </a:r>
          </a:p>
          <a:p>
            <a:r>
              <a:rPr lang="zh-CN" altLang="en-US" dirty="0"/>
              <a:t>但报文交换的时延较长，从几分钟到几小时不等。</a:t>
            </a:r>
            <a:endParaRPr lang="en-US" altLang="zh-CN" dirty="0"/>
          </a:p>
          <a:p>
            <a:r>
              <a:rPr lang="zh-CN" altLang="en-US" dirty="0"/>
              <a:t>现在报文交换已经很少有人使用了。 </a:t>
            </a:r>
          </a:p>
          <a:p>
            <a:endParaRPr lang="zh-CN" altLang="en-US" dirty="0"/>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报文交换</a:t>
            </a:r>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123405" y="1000176"/>
            <a:ext cx="6923315" cy="3448594"/>
          </a:xfrm>
          <a:prstGeom prst="roundRect">
            <a:avLst>
              <a:gd name="adj" fmla="val 1297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latin typeface="Times New Roman" panose="02020603050405020304" pitchFamily="18" charset="0"/>
                <a:ea typeface="微软雅黑 Light" panose="020B0502040204020203" pitchFamily="34"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内容占位符 23">
            <a:extLst>
              <a:ext uri="{FF2B5EF4-FFF2-40B4-BE49-F238E27FC236}">
                <a16:creationId xmlns:a16="http://schemas.microsoft.com/office/drawing/2014/main" id="{C7974A0D-F6F1-2D55-A9E9-08C922E47A60}"/>
              </a:ext>
            </a:extLst>
          </p:cNvPr>
          <p:cNvSpPr>
            <a:spLocks noGrp="1"/>
          </p:cNvSpPr>
          <p:nvPr>
            <p:ph sz="quarter" idx="4294967295"/>
          </p:nvPr>
        </p:nvSpPr>
        <p:spPr>
          <a:xfrm>
            <a:off x="612000" y="720000"/>
            <a:ext cx="7920000" cy="3960000"/>
          </a:xfrm>
        </p:spPr>
        <p:txBody>
          <a:bodyPr/>
          <a:lstStyle/>
          <a:p>
            <a:endParaRPr lang="zh-CN" altLang="en-US"/>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三种交换方式的比较</a:t>
            </a:r>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a:t>
            </a:r>
            <a:r>
              <a:rPr lang="en-US" altLang="zh-CN" dirty="0" err="1"/>
              <a:t>kbit</a:t>
            </a:r>
            <a:r>
              <a:rPr lang="en-US" altLang="zh-CN" dirty="0"/>
              <a: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月，中国科学院高能物理研究所设立了我国的第一个万维网服务器。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en-US" altLang="zh-CN" dirty="0"/>
              <a:t>1.4  </a:t>
            </a:r>
            <a:r>
              <a:rPr lang="zh-CN" altLang="en-US" dirty="0"/>
              <a:t>计算机网络在我国的发展</a:t>
            </a:r>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zh-CN" altLang="en-US" dirty="0"/>
              <a:t>到目前为止，我国陆续建造了基于互联网技术的并能够和互联网互连的多个全国范围的公用计算机网络，其中规模最大的就是下面这五个：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en-US" altLang="zh-CN" dirty="0"/>
              <a:t>1.4  </a:t>
            </a:r>
            <a:r>
              <a:rPr lang="zh-CN" altLang="en-US" dirty="0"/>
              <a:t>计算机网络在我国的发展</a:t>
            </a:r>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normAutofit/>
          </a:bodyPr>
          <a:lstStyle/>
          <a:p>
            <a:r>
              <a:rPr lang="en-US" altLang="zh-CN" dirty="0"/>
              <a:t>                 1994 </a:t>
            </a:r>
            <a:r>
              <a:rPr lang="zh-CN" altLang="en-US" dirty="0"/>
              <a:t>年，中国教育和科研计算机网 </a:t>
            </a:r>
            <a:r>
              <a:rPr lang="en-US" altLang="zh-CN" dirty="0"/>
              <a:t>CERNET (China Education and Research </a:t>
            </a:r>
            <a:r>
              <a:rPr lang="en-US" altLang="zh-CN" dirty="0" err="1"/>
              <a:t>NETwork</a:t>
            </a:r>
            <a:r>
              <a:rPr lang="en-US" altLang="zh-CN" dirty="0"/>
              <a:t>)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               中国互联网络信息中心 </a:t>
            </a:r>
            <a:r>
              <a:rPr lang="en-US" altLang="zh-CN" dirty="0"/>
              <a:t>CNNIC (</a:t>
            </a:r>
            <a:r>
              <a:rPr lang="en-US" altLang="zh-CN" dirty="0" err="1"/>
              <a:t>ChiNa</a:t>
            </a:r>
            <a:r>
              <a:rPr lang="en-US" altLang="zh-CN" dirty="0"/>
              <a:t>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年底，我国的国际出口带宽已超过 </a:t>
            </a:r>
            <a:r>
              <a:rPr lang="en-US" altLang="zh-CN" dirty="0"/>
              <a:t>8.8 </a:t>
            </a:r>
            <a:r>
              <a:rPr lang="en-US" altLang="zh-CN" dirty="0" err="1"/>
              <a:t>Tbit</a:t>
            </a:r>
            <a:r>
              <a:rPr lang="en-US" altLang="zh-CN" dirty="0"/>
              <a:t>/s </a:t>
            </a:r>
            <a:r>
              <a:rPr lang="zh-CN" altLang="en-US" dirty="0"/>
              <a:t>（</a:t>
            </a:r>
            <a:r>
              <a:rPr lang="en-US" altLang="zh-CN" dirty="0"/>
              <a:t>1 </a:t>
            </a:r>
            <a:r>
              <a:rPr lang="en-US" altLang="zh-CN" dirty="0" err="1"/>
              <a:t>Tbit</a:t>
            </a:r>
            <a:r>
              <a:rPr lang="en-US" altLang="zh-CN" dirty="0"/>
              <a:t>/s = 103 </a:t>
            </a:r>
            <a:r>
              <a:rPr lang="en-US" altLang="zh-CN" dirty="0" err="1"/>
              <a:t>Gbit</a:t>
            </a:r>
            <a:r>
              <a:rPr lang="en-US" altLang="zh-CN" dirty="0"/>
              <a:t>/s</a:t>
            </a:r>
            <a:r>
              <a:rPr lang="zh-CN" altLang="en-US" dirty="0"/>
              <a:t>）。</a:t>
            </a:r>
          </a:p>
          <a:p>
            <a:endParaRPr lang="zh-CN" altLang="en-US" dirty="0"/>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en-US" altLang="zh-CN" dirty="0"/>
              <a:t>1.4  </a:t>
            </a:r>
            <a:r>
              <a:rPr lang="zh-CN" altLang="en-US" dirty="0"/>
              <a:t>计算机网络在我国的发展</a:t>
            </a:r>
          </a:p>
        </p:txBody>
      </p:sp>
      <p:pic>
        <p:nvPicPr>
          <p:cNvPr id="2" name="图片 1"/>
          <p:cNvPicPr>
            <a:picLocks noChangeAspect="1"/>
          </p:cNvPicPr>
          <p:nvPr/>
        </p:nvPicPr>
        <p:blipFill rotWithShape="1">
          <a:blip r:embed="rId2"/>
          <a:srcRect l="6500" t="16439" r="68843" b="15068"/>
          <a:stretch/>
        </p:blipFill>
        <p:spPr>
          <a:xfrm>
            <a:off x="899575" y="1098470"/>
            <a:ext cx="1114696" cy="387047"/>
          </a:xfrm>
          <a:prstGeom prst="rect">
            <a:avLst/>
          </a:prstGeom>
          <a:effectLst>
            <a:glow rad="63500">
              <a:schemeClr val="accent1">
                <a:satMod val="175000"/>
                <a:alpha val="40000"/>
              </a:schemeClr>
            </a:glow>
          </a:effectLst>
        </p:spPr>
      </p:pic>
      <p:pic>
        <p:nvPicPr>
          <p:cNvPr id="6" name="图片 5"/>
          <p:cNvPicPr>
            <a:picLocks noChangeAspect="1"/>
          </p:cNvPicPr>
          <p:nvPr/>
        </p:nvPicPr>
        <p:blipFill rotWithShape="1">
          <a:blip r:embed="rId3" cstate="print"/>
          <a:srcRect l="5940" t="20867" r="9032" b="12357"/>
          <a:stretch/>
        </p:blipFill>
        <p:spPr>
          <a:xfrm>
            <a:off x="899575" y="3235065"/>
            <a:ext cx="913183" cy="402136"/>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en-US" altLang="zh-CN" dirty="0"/>
              <a:t>             1996 </a:t>
            </a:r>
            <a:r>
              <a:rPr lang="zh-CN" altLang="en-US" dirty="0"/>
              <a:t>年，张朝阳创立了中国第一家以风险投资资金建立的互联网公司</a:t>
            </a:r>
            <a:r>
              <a:rPr lang="en-US" altLang="zh-CN" dirty="0"/>
              <a:t>—</a:t>
            </a:r>
            <a:r>
              <a:rPr lang="zh-CN" altLang="en-US" dirty="0"/>
              <a:t>爱特信公司。两年后，爱特信公司推出“搜狐”产品，并更名为搜狐公司</a:t>
            </a:r>
            <a:r>
              <a:rPr lang="en-US" altLang="zh-CN" dirty="0"/>
              <a:t>(</a:t>
            </a:r>
            <a:r>
              <a:rPr lang="en-US" altLang="zh-CN" dirty="0" err="1"/>
              <a:t>Sohu</a:t>
            </a:r>
            <a:r>
              <a:rPr lang="en-US" altLang="zh-CN" dirty="0"/>
              <a:t>)</a:t>
            </a:r>
            <a:r>
              <a:rPr lang="zh-CN" altLang="en-US" dirty="0"/>
              <a:t>。搜狐网站</a:t>
            </a:r>
            <a:r>
              <a:rPr lang="en-US" altLang="zh-CN" dirty="0"/>
              <a:t>(Sohu.com) </a:t>
            </a:r>
            <a:r>
              <a:rPr lang="zh-CN" altLang="en-US" dirty="0"/>
              <a:t>是中国首家大型分类查询搜索引擎。</a:t>
            </a:r>
            <a:endParaRPr lang="en-US" altLang="zh-CN" dirty="0"/>
          </a:p>
          <a:p>
            <a:r>
              <a:rPr lang="en-US" altLang="zh-CN" dirty="0"/>
              <a:t>                  1997 </a:t>
            </a:r>
            <a:r>
              <a:rPr lang="zh-CN" altLang="en-US" dirty="0"/>
              <a:t>年，丁磊创立了网易公司</a:t>
            </a:r>
            <a:r>
              <a:rPr lang="en-US" altLang="zh-CN" dirty="0"/>
              <a:t>(</a:t>
            </a:r>
            <a:r>
              <a:rPr lang="en-US" altLang="zh-CN" dirty="0" err="1"/>
              <a:t>NetEase</a:t>
            </a:r>
            <a:r>
              <a:rPr lang="en-US" altLang="zh-CN" dirty="0"/>
              <a:t>)</a:t>
            </a:r>
            <a:r>
              <a:rPr lang="zh-CN" altLang="en-US" dirty="0"/>
              <a:t>，推出了中国第一家中文全文搜索引擎，开发的超大容量免费邮箱（如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                  1998 </a:t>
            </a:r>
            <a:r>
              <a:rPr lang="zh-CN" altLang="en-US" dirty="0"/>
              <a:t>年，王志东创立新浪网站</a:t>
            </a:r>
            <a:r>
              <a:rPr lang="en-US" altLang="zh-CN" dirty="0"/>
              <a:t>(Sina.com )</a:t>
            </a:r>
            <a:r>
              <a:rPr lang="zh-CN" altLang="en-US" dirty="0"/>
              <a:t> 。</a:t>
            </a:r>
            <a:endParaRPr lang="en-US" altLang="zh-CN" dirty="0"/>
          </a:p>
          <a:p>
            <a:r>
              <a:rPr lang="zh-CN" altLang="en-US" dirty="0"/>
              <a:t>      新浪的微博是全球使用最多的微博之一。</a:t>
            </a:r>
            <a:endParaRPr lang="en-US" altLang="zh-CN" dirty="0"/>
          </a:p>
          <a:p>
            <a:endParaRPr lang="zh-CN" altLang="en-US" dirty="0"/>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zh-CN" altLang="en-US" dirty="0"/>
              <a:t>对我国互联网事业发展影响较大的人物和事件</a:t>
            </a:r>
          </a:p>
        </p:txBody>
      </p:sp>
      <p:pic>
        <p:nvPicPr>
          <p:cNvPr id="2" name="图片 1"/>
          <p:cNvPicPr>
            <a:picLocks noChangeAspect="1"/>
          </p:cNvPicPr>
          <p:nvPr/>
        </p:nvPicPr>
        <p:blipFill rotWithShape="1">
          <a:blip r:embed="rId2" cstate="print">
            <a:extLst>
              <a:ext uri="{BEBA8EAE-BF5A-486C-A8C5-ECC9F3942E4B}">
                <a14:imgProps xmlns:a14="http://schemas.microsoft.com/office/drawing/2010/main">
                  <a14:imgLayer r:embed="rId3">
                    <a14:imgEffect>
                      <a14:artisticMosiaicBubbles/>
                    </a14:imgEffect>
                  </a14:imgLayer>
                </a14:imgProps>
              </a:ext>
            </a:extLst>
          </a:blip>
          <a:srcRect l="6929" r="9066" b="-1941"/>
          <a:stretch/>
        </p:blipFill>
        <p:spPr>
          <a:xfrm>
            <a:off x="910530" y="1036453"/>
            <a:ext cx="830477" cy="421718"/>
          </a:xfrm>
          <a:prstGeom prst="rect">
            <a:avLst/>
          </a:prstGeom>
          <a:effectLst>
            <a:glow rad="63500">
              <a:schemeClr val="accent1">
                <a:satMod val="175000"/>
                <a:alpha val="40000"/>
              </a:schemeClr>
            </a:glow>
          </a:effectLst>
        </p:spPr>
      </p:pic>
      <p:pic>
        <p:nvPicPr>
          <p:cNvPr id="3" name="图片 2"/>
          <p:cNvPicPr>
            <a:picLocks noChangeAspect="1"/>
          </p:cNvPicPr>
          <p:nvPr/>
        </p:nvPicPr>
        <p:blipFill rotWithShape="1">
          <a:blip r:embed="rId4" cstate="print">
            <a:extLst>
              <a:ext uri="{BEBA8EAE-BF5A-486C-A8C5-ECC9F3942E4B}">
                <a14:imgProps xmlns:a14="http://schemas.microsoft.com/office/drawing/2010/main">
                  <a14:imgLayer r:embed="rId5">
                    <a14:imgEffect>
                      <a14:artisticMosiaicBubbles/>
                    </a14:imgEffect>
                  </a14:imgLayer>
                </a14:imgProps>
              </a:ext>
            </a:extLst>
          </a:blip>
          <a:srcRect l="9192" t="30767" r="7380" b="38525"/>
          <a:stretch/>
        </p:blipFill>
        <p:spPr>
          <a:xfrm>
            <a:off x="908692" y="2196059"/>
            <a:ext cx="1166948" cy="405465"/>
          </a:xfrm>
          <a:prstGeom prst="rect">
            <a:avLst/>
          </a:prstGeom>
          <a:effectLst>
            <a:glow rad="63500">
              <a:schemeClr val="accent1">
                <a:satMod val="175000"/>
                <a:alpha val="40000"/>
              </a:schemeClr>
            </a:glow>
          </a:effectLst>
        </p:spPr>
      </p:pic>
      <p:pic>
        <p:nvPicPr>
          <p:cNvPr id="6" name="图片 5"/>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908692" y="2943603"/>
            <a:ext cx="1123430" cy="39044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8" cstate="print"/>
          <a:stretch>
            <a:fillRect/>
          </a:stretch>
        </p:blipFill>
        <p:spPr>
          <a:xfrm flipH="1">
            <a:off x="909668" y="3398362"/>
            <a:ext cx="372291" cy="37229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normAutofit/>
          </a:bodyPr>
          <a:lstStyle/>
          <a:p>
            <a:r>
              <a:rPr lang="en-US" altLang="zh-CN" dirty="0"/>
              <a:t>                    1998 </a:t>
            </a:r>
            <a:r>
              <a:rPr lang="zh-CN" altLang="en-US" dirty="0"/>
              <a:t>年，马化腾、张志东创立了腾讯公司 </a:t>
            </a:r>
            <a:r>
              <a:rPr lang="en-US" altLang="zh-CN" dirty="0"/>
              <a:t>(</a:t>
            </a:r>
            <a:r>
              <a:rPr lang="en-US" altLang="zh-CN" dirty="0" err="1"/>
              <a:t>Tencent</a:t>
            </a:r>
            <a:r>
              <a:rPr lang="en-US" altLang="zh-CN" dirty="0"/>
              <a:t>) </a:t>
            </a:r>
            <a:r>
              <a:rPr lang="zh-CN" altLang="en-US" dirty="0"/>
              <a:t>。</a:t>
            </a:r>
            <a:endParaRPr lang="en-US" altLang="zh-CN" dirty="0"/>
          </a:p>
          <a:p>
            <a:r>
              <a:rPr lang="en-US" altLang="zh-CN" dirty="0"/>
              <a:t>    1999 </a:t>
            </a:r>
            <a:r>
              <a:rPr lang="zh-CN" altLang="en-US" dirty="0"/>
              <a:t>年，腾讯就推出了用在 </a:t>
            </a:r>
            <a:r>
              <a:rPr lang="en-US" altLang="zh-CN" dirty="0"/>
              <a:t>PC </a:t>
            </a:r>
            <a:r>
              <a:rPr lang="zh-CN" altLang="en-US" dirty="0"/>
              <a:t>上的即时通信软件 </a:t>
            </a:r>
            <a:r>
              <a:rPr lang="en-US" altLang="zh-CN" dirty="0"/>
              <a:t>OICQ</a:t>
            </a:r>
            <a:r>
              <a:rPr lang="zh-CN" altLang="en-US" dirty="0"/>
              <a:t>，后改名为 </a:t>
            </a:r>
            <a:r>
              <a:rPr lang="en-US" altLang="zh-CN" dirty="0"/>
              <a:t>QQ</a:t>
            </a:r>
            <a:r>
              <a:rPr lang="zh-CN" altLang="en-US" dirty="0"/>
              <a:t>。</a:t>
            </a:r>
            <a:endParaRPr lang="en-US" altLang="zh-CN" dirty="0"/>
          </a:p>
          <a:p>
            <a:r>
              <a:rPr lang="en-US" altLang="zh-CN" dirty="0"/>
              <a:t>     2011 </a:t>
            </a:r>
            <a:r>
              <a:rPr lang="zh-CN" altLang="en-US" dirty="0"/>
              <a:t>年，腾讯推出了专门供智能手机使用的即时通信软件“微信”。</a:t>
            </a:r>
            <a:endParaRPr lang="en-US" altLang="zh-CN" dirty="0"/>
          </a:p>
          <a:p>
            <a:r>
              <a:rPr lang="en-US" altLang="zh-CN" dirty="0"/>
              <a:t>          2000 </a:t>
            </a:r>
            <a:r>
              <a:rPr lang="zh-CN" altLang="en-US" dirty="0"/>
              <a:t>年，李彦宏和徐勇创建了百度网站 </a:t>
            </a:r>
            <a:r>
              <a:rPr lang="en-US" altLang="zh-CN" dirty="0"/>
              <a:t>(Baidu.com)</a:t>
            </a:r>
            <a:r>
              <a:rPr lang="zh-CN" altLang="en-US" dirty="0"/>
              <a:t>，现在已成为全球最大的中文搜索引擎。</a:t>
            </a:r>
            <a:endParaRPr lang="en-US" altLang="zh-CN" dirty="0"/>
          </a:p>
          <a:p>
            <a:r>
              <a:rPr lang="en-US" altLang="zh-CN" dirty="0"/>
              <a:t>         1999 </a:t>
            </a:r>
            <a:r>
              <a:rPr lang="zh-CN" altLang="en-US" dirty="0"/>
              <a:t>年，马云创建了阿里巴巴网站 </a:t>
            </a:r>
            <a:r>
              <a:rPr lang="en-US" altLang="zh-CN" dirty="0"/>
              <a:t>(Alibaba.com)</a:t>
            </a:r>
            <a:r>
              <a:rPr lang="zh-CN" altLang="en-US" dirty="0"/>
              <a:t>。</a:t>
            </a:r>
            <a:endParaRPr lang="en-US" altLang="zh-CN" dirty="0"/>
          </a:p>
          <a:p>
            <a:r>
              <a:rPr lang="en-US" altLang="zh-CN" dirty="0"/>
              <a:t>     2003 </a:t>
            </a:r>
            <a:r>
              <a:rPr lang="zh-CN" altLang="en-US" dirty="0"/>
              <a:t>年，马云创立了个人网上贸易市场平台</a:t>
            </a:r>
            <a:r>
              <a:rPr lang="en-US" altLang="zh-CN" dirty="0"/>
              <a:t>—</a:t>
            </a:r>
            <a:r>
              <a:rPr lang="zh-CN" altLang="en-US" dirty="0"/>
              <a:t>淘宝网 </a:t>
            </a:r>
            <a:r>
              <a:rPr lang="en-US" altLang="zh-CN" dirty="0"/>
              <a:t>(Taobao.com)</a:t>
            </a:r>
            <a:r>
              <a:rPr lang="zh-CN" altLang="en-US" dirty="0"/>
              <a:t>。</a:t>
            </a:r>
            <a:endParaRPr lang="en-US" altLang="zh-CN" dirty="0"/>
          </a:p>
          <a:p>
            <a:r>
              <a:rPr lang="en-US" altLang="zh-CN" dirty="0"/>
              <a:t>            2004 </a:t>
            </a:r>
            <a:r>
              <a:rPr lang="zh-CN" altLang="en-US" dirty="0"/>
              <a:t>年，阿里巴巴集团创立了第三方支付平台</a:t>
            </a:r>
            <a:r>
              <a:rPr lang="en-US" altLang="zh-CN" dirty="0"/>
              <a:t>—</a:t>
            </a:r>
            <a:r>
              <a:rPr lang="zh-CN" altLang="en-US" dirty="0"/>
              <a:t>支付宝</a:t>
            </a:r>
            <a:r>
              <a:rPr lang="en-US" altLang="zh-CN" dirty="0"/>
              <a:t>(Alipay.com)</a:t>
            </a:r>
            <a:r>
              <a:rPr lang="zh-CN" altLang="en-US" dirty="0"/>
              <a:t>。</a:t>
            </a:r>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zh-CN" altLang="en-US" dirty="0"/>
              <a:t>对我国互联网事业发展影响较大的人物和事件</a:t>
            </a:r>
          </a:p>
        </p:txBody>
      </p:sp>
      <p:pic>
        <p:nvPicPr>
          <p:cNvPr id="6" name="图片 5"/>
          <p:cNvPicPr>
            <a:picLocks noChangeAspect="1"/>
          </p:cNvPicPr>
          <p:nvPr/>
        </p:nvPicPr>
        <p:blipFill rotWithShape="1">
          <a:blip r:embed="rId3" cstate="print"/>
          <a:srcRect t="34295" b="37765"/>
          <a:stretch/>
        </p:blipFill>
        <p:spPr>
          <a:xfrm>
            <a:off x="840766" y="1070486"/>
            <a:ext cx="1402572" cy="296729"/>
          </a:xfrm>
          <a:prstGeom prst="rect">
            <a:avLst/>
          </a:prstGeom>
          <a:effectLst>
            <a:glow rad="63500">
              <a:schemeClr val="accent1">
                <a:satMod val="175000"/>
                <a:alpha val="40000"/>
              </a:schemeClr>
            </a:glow>
          </a:effectLst>
        </p:spPr>
      </p:pic>
      <p:pic>
        <p:nvPicPr>
          <p:cNvPr id="7" name="图片 6"/>
          <p:cNvPicPr>
            <a:picLocks noChangeAspect="1"/>
          </p:cNvPicPr>
          <p:nvPr/>
        </p:nvPicPr>
        <p:blipFill>
          <a:blip r:embed="rId4" cstate="print"/>
          <a:stretch>
            <a:fillRect/>
          </a:stretch>
        </p:blipFill>
        <p:spPr>
          <a:xfrm>
            <a:off x="840766" y="1432043"/>
            <a:ext cx="349251" cy="349251"/>
          </a:xfrm>
          <a:prstGeom prst="rect">
            <a:avLst/>
          </a:prstGeom>
          <a:effectLst>
            <a:glow rad="63500">
              <a:schemeClr val="accent1">
                <a:satMod val="175000"/>
                <a:alpha val="40000"/>
              </a:schemeClr>
            </a:glow>
          </a:effectLst>
        </p:spPr>
      </p:pic>
      <p:pic>
        <p:nvPicPr>
          <p:cNvPr id="8" name="图片 7"/>
          <p:cNvPicPr>
            <a:picLocks noChangeAspect="1"/>
          </p:cNvPicPr>
          <p:nvPr/>
        </p:nvPicPr>
        <p:blipFill>
          <a:blip r:embed="rId5" cstate="print"/>
          <a:stretch>
            <a:fillRect/>
          </a:stretch>
        </p:blipFill>
        <p:spPr>
          <a:xfrm>
            <a:off x="830662" y="1853717"/>
            <a:ext cx="338728" cy="338728"/>
          </a:xfrm>
          <a:prstGeom prst="rect">
            <a:avLst/>
          </a:prstGeom>
          <a:effectLst>
            <a:glow rad="63500">
              <a:schemeClr val="accent1">
                <a:satMod val="175000"/>
                <a:alpha val="40000"/>
              </a:schemeClr>
            </a:glow>
          </a:effectLst>
        </p:spPr>
      </p:pic>
      <p:pic>
        <p:nvPicPr>
          <p:cNvPr id="9" name="图片 8"/>
          <p:cNvPicPr>
            <a:picLocks noChangeAspect="1"/>
          </p:cNvPicPr>
          <p:nvPr/>
        </p:nvPicPr>
        <p:blipFill>
          <a:blip r:embed="rId6" cstate="print">
            <a:extLst>
              <a:ext uri="{BEBA8EAE-BF5A-486C-A8C5-ECC9F3942E4B}">
                <a14:imgProps xmlns:a14="http://schemas.microsoft.com/office/drawing/2010/main">
                  <a14:imgLayer r:embed="rId7">
                    <a14:imgEffect>
                      <a14:artisticMosiaicBubbles/>
                    </a14:imgEffect>
                  </a14:imgLayer>
                </a14:imgProps>
              </a:ext>
            </a:extLst>
          </a:blip>
          <a:stretch>
            <a:fillRect/>
          </a:stretch>
        </p:blipFill>
        <p:spPr>
          <a:xfrm>
            <a:off x="830662" y="2290635"/>
            <a:ext cx="638015" cy="337575"/>
          </a:xfrm>
          <a:prstGeom prst="rect">
            <a:avLst/>
          </a:prstGeom>
          <a:effectLst>
            <a:glow rad="63500">
              <a:schemeClr val="accent1">
                <a:satMod val="175000"/>
                <a:alpha val="40000"/>
              </a:schemeClr>
            </a:glow>
          </a:effectLst>
        </p:spPr>
      </p:pic>
      <p:pic>
        <p:nvPicPr>
          <p:cNvPr id="10" name="图片 9"/>
          <p:cNvPicPr>
            <a:picLocks noChangeAspect="1"/>
          </p:cNvPicPr>
          <p:nvPr/>
        </p:nvPicPr>
        <p:blipFill>
          <a:blip r:embed="rId8" cstate="print"/>
          <a:stretch>
            <a:fillRect/>
          </a:stretch>
        </p:blipFill>
        <p:spPr>
          <a:xfrm>
            <a:off x="830662" y="3115865"/>
            <a:ext cx="578960" cy="329578"/>
          </a:xfrm>
          <a:prstGeom prst="rect">
            <a:avLst/>
          </a:prstGeom>
          <a:effectLst>
            <a:glow rad="63500">
              <a:schemeClr val="accent1">
                <a:satMod val="175000"/>
                <a:alpha val="40000"/>
              </a:schemeClr>
            </a:glow>
          </a:effectLst>
        </p:spPr>
      </p:pic>
      <p:pic>
        <p:nvPicPr>
          <p:cNvPr id="11" name="图片 10"/>
          <p:cNvPicPr>
            <a:picLocks noChangeAspect="1"/>
          </p:cNvPicPr>
          <p:nvPr/>
        </p:nvPicPr>
        <p:blipFill>
          <a:blip r:embed="rId9" cstate="print"/>
          <a:stretch>
            <a:fillRect/>
          </a:stretch>
        </p:blipFill>
        <p:spPr>
          <a:xfrm>
            <a:off x="830176" y="3563134"/>
            <a:ext cx="319493" cy="319493"/>
          </a:xfrm>
          <a:prstGeom prst="rect">
            <a:avLst/>
          </a:prstGeom>
          <a:effectLst>
            <a:glow rad="63500">
              <a:schemeClr val="accent1">
                <a:satMod val="175000"/>
                <a:alpha val="40000"/>
              </a:schemeClr>
            </a:glow>
          </a:effectLst>
        </p:spPr>
      </p:pic>
      <p:pic>
        <p:nvPicPr>
          <p:cNvPr id="14" name="图片 13"/>
          <p:cNvPicPr>
            <a:picLocks noChangeAspect="1"/>
          </p:cNvPicPr>
          <p:nvPr/>
        </p:nvPicPr>
        <p:blipFill rotWithShape="1">
          <a:blip r:embed="rId10" cstate="print"/>
          <a:srcRect l="8877" t="1" r="6786" b="11025"/>
          <a:stretch/>
        </p:blipFill>
        <p:spPr>
          <a:xfrm>
            <a:off x="822870" y="3960723"/>
            <a:ext cx="853441" cy="343651"/>
          </a:xfrm>
          <a:prstGeom prst="rect">
            <a:avLst/>
          </a:prstGeom>
          <a:effectLst>
            <a:glow rad="63500">
              <a:schemeClr val="accent1">
                <a:satMod val="175000"/>
                <a:alpha val="40000"/>
              </a:schemeClr>
            </a:glow>
          </a:effectLst>
        </p:spPr>
      </p:pic>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7"/>
          <p:cNvSpPr>
            <a:spLocks noChangeArrowheads="1"/>
          </p:cNvSpPr>
          <p:nvPr/>
        </p:nvSpPr>
        <p:spPr bwMode="auto">
          <a:xfrm>
            <a:off x="639730" y="134303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dirty="0">
              <a:latin typeface="微软雅黑 Light" panose="020B0502040204020203" pitchFamily="34" charset="-122"/>
              <a:ea typeface="+mn-ea"/>
            </a:endParaRPr>
          </a:p>
        </p:txBody>
      </p:sp>
      <p:sp>
        <p:nvSpPr>
          <p:cNvPr id="89093" name="Rectangle 29"/>
          <p:cNvSpPr>
            <a:spLocks noChangeArrowheads="1"/>
          </p:cNvSpPr>
          <p:nvPr/>
        </p:nvSpPr>
        <p:spPr bwMode="auto">
          <a:xfrm>
            <a:off x="649288" y="1438598"/>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1.5</a:t>
            </a:r>
          </a:p>
          <a:p>
            <a:r>
              <a:rPr lang="zh-CN" altLang="zh-CN" sz="2000" b="1">
                <a:solidFill>
                  <a:schemeClr val="bg1"/>
                </a:solidFill>
                <a:latin typeface="微软雅黑" pitchFamily="34" charset="-122"/>
                <a:ea typeface="微软雅黑" pitchFamily="34" charset="-122"/>
              </a:rPr>
              <a:t>计算机网络的类别</a:t>
            </a:r>
            <a:endParaRPr lang="zh-CN" altLang="en-US" sz="2000" b="1">
              <a:solidFill>
                <a:schemeClr val="bg1"/>
              </a:solidFill>
              <a:latin typeface="微软雅黑" pitchFamily="34" charset="-122"/>
              <a:ea typeface="微软雅黑" pitchFamily="34" charset="-122"/>
            </a:endParaRPr>
          </a:p>
        </p:txBody>
      </p:sp>
      <p:sp>
        <p:nvSpPr>
          <p:cNvPr id="4" name="Rectangle 9"/>
          <p:cNvSpPr>
            <a:spLocks noChangeArrowheads="1"/>
          </p:cNvSpPr>
          <p:nvPr/>
        </p:nvSpPr>
        <p:spPr bwMode="auto">
          <a:xfrm>
            <a:off x="2628900" y="134334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5" name="Rectangle 10"/>
          <p:cNvSpPr>
            <a:spLocks noChangeArrowheads="1"/>
          </p:cNvSpPr>
          <p:nvPr/>
        </p:nvSpPr>
        <p:spPr bwMode="auto">
          <a:xfrm>
            <a:off x="2628900" y="194977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89096" name="Line 16"/>
          <p:cNvSpPr>
            <a:spLocks noChangeShapeType="1"/>
          </p:cNvSpPr>
          <p:nvPr/>
        </p:nvSpPr>
        <p:spPr bwMode="auto">
          <a:xfrm>
            <a:off x="3636963" y="1271910"/>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9097" name="Rectangle 8"/>
          <p:cNvSpPr>
            <a:spLocks noChangeArrowheads="1"/>
          </p:cNvSpPr>
          <p:nvPr/>
        </p:nvSpPr>
        <p:spPr bwMode="auto">
          <a:xfrm>
            <a:off x="2700338" y="1308423"/>
            <a:ext cx="5472112"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itchFamily="34" charset="-122"/>
                <a:ea typeface="微软雅黑" pitchFamily="34" charset="-122"/>
              </a:rPr>
              <a:t>1.5.1                                 </a:t>
            </a:r>
            <a:r>
              <a:rPr lang="zh-CN" altLang="zh-CN" sz="2000" b="1" dirty="0">
                <a:solidFill>
                  <a:schemeClr val="bg1"/>
                </a:solidFill>
                <a:latin typeface="Times New Roman" panose="02020603050405020304" pitchFamily="18" charset="0"/>
                <a:ea typeface="微软雅黑" pitchFamily="34" charset="-122"/>
              </a:rPr>
              <a:t>计算机网络的定义</a:t>
            </a:r>
            <a:endParaRPr lang="en-US" altLang="zh-CN" sz="2000" b="1" dirty="0">
              <a:solidFill>
                <a:schemeClr val="bg1"/>
              </a:solidFill>
              <a:latin typeface="Times New Roman" panose="02020603050405020304" pitchFamily="18" charset="0"/>
              <a:ea typeface="微软雅黑" pitchFamily="34" charset="-122"/>
            </a:endParaRPr>
          </a:p>
          <a:p>
            <a:endParaRPr lang="zh-CN" altLang="zh-CN" sz="2000" b="1" dirty="0">
              <a:solidFill>
                <a:schemeClr val="bg1"/>
              </a:solidFill>
              <a:latin typeface="Times New Roman" panose="02020603050405020304" pitchFamily="18" charset="0"/>
              <a:ea typeface="微软雅黑" pitchFamily="34" charset="-122"/>
            </a:endParaRPr>
          </a:p>
          <a:p>
            <a:r>
              <a:rPr lang="en-US" altLang="zh-CN" sz="2000" b="1" dirty="0">
                <a:solidFill>
                  <a:schemeClr val="bg1"/>
                </a:solidFill>
                <a:latin typeface="微软雅黑" pitchFamily="34" charset="-122"/>
                <a:ea typeface="微软雅黑" pitchFamily="34" charset="-122"/>
              </a:rPr>
              <a:t>1.5.2                     </a:t>
            </a:r>
            <a:r>
              <a:rPr lang="zh-CN" altLang="zh-CN" sz="2000" b="1" dirty="0">
                <a:solidFill>
                  <a:schemeClr val="bg1"/>
                </a:solidFill>
                <a:latin typeface="Times New Roman" panose="02020603050405020304" pitchFamily="18" charset="0"/>
                <a:ea typeface="微软雅黑" pitchFamily="34" charset="-122"/>
              </a:rPr>
              <a:t>几种不同类别的</a:t>
            </a:r>
            <a:r>
              <a:rPr lang="zh-CN" altLang="en-US" sz="2000" b="1" dirty="0">
                <a:solidFill>
                  <a:schemeClr val="bg1"/>
                </a:solidFill>
                <a:latin typeface="Times New Roman" panose="02020603050405020304" pitchFamily="18" charset="0"/>
                <a:ea typeface="微软雅黑" pitchFamily="34" charset="-122"/>
              </a:rPr>
              <a:t>计算机</a:t>
            </a:r>
            <a:r>
              <a:rPr lang="zh-CN" altLang="zh-CN" sz="2000" b="1" dirty="0">
                <a:solidFill>
                  <a:schemeClr val="bg1"/>
                </a:solidFill>
                <a:latin typeface="Times New Roman" panose="02020603050405020304" pitchFamily="18" charset="0"/>
                <a:ea typeface="微软雅黑" pitchFamily="34" charset="-122"/>
              </a:rPr>
              <a:t>网络</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dirty="0"/>
              <a:t>计算机网络的精确定义并未统一。</a:t>
            </a:r>
            <a:endParaRPr lang="en-US" altLang="zh-CN" dirty="0"/>
          </a:p>
          <a:p>
            <a:r>
              <a:rPr lang="zh-CN" altLang="en-US" dirty="0"/>
              <a:t>较好的定义：</a:t>
            </a:r>
          </a:p>
          <a:p>
            <a:endParaRPr lang="zh-CN" altLang="en-US"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1.5.1  </a:t>
            </a:r>
            <a:r>
              <a:rPr lang="zh-CN" altLang="en-US" dirty="0"/>
              <a:t>计算机网络的定义</a:t>
            </a:r>
          </a:p>
        </p:txBody>
      </p:sp>
      <p:sp>
        <p:nvSpPr>
          <p:cNvPr id="4" name="矩形 3"/>
          <p:cNvSpPr/>
          <p:nvPr/>
        </p:nvSpPr>
        <p:spPr>
          <a:xfrm>
            <a:off x="874225" y="1926007"/>
            <a:ext cx="7242372" cy="1528624"/>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计算机网络主要是由一些通用的、可编程的硬件互连而成的，而这些硬件并非专门用来实现某一特定目的（例如，传送数据或视频信号）。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4294967295"/>
          </p:nvPr>
        </p:nvSpPr>
        <p:spPr>
          <a:xfrm>
            <a:off x="612000" y="720000"/>
            <a:ext cx="7920000" cy="3960000"/>
          </a:xfrm>
        </p:spPr>
        <p:txBody>
          <a:bodyPr/>
          <a:lstStyle/>
          <a:p>
            <a:r>
              <a:rPr lang="zh-CN" altLang="en-US" dirty="0"/>
              <a:t>“可编程的硬件”表明：这种硬件一定包含有中央处理器 </a:t>
            </a:r>
            <a:r>
              <a:rPr lang="en-US" altLang="zh-CN" dirty="0"/>
              <a:t>CPU</a:t>
            </a:r>
            <a:r>
              <a:rPr lang="zh-CN" altLang="en-US" dirty="0"/>
              <a:t>。</a:t>
            </a:r>
            <a:endParaRPr lang="en-US" altLang="zh-CN" dirty="0"/>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 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
        <p:nvSpPr>
          <p:cNvPr id="5" name="文本占位符 4"/>
          <p:cNvSpPr>
            <a:spLocks noGrp="1"/>
          </p:cNvSpPr>
          <p:nvPr>
            <p:ph type="body" sz="quarter" idx="4294967295"/>
          </p:nvPr>
        </p:nvSpPr>
        <p:spPr>
          <a:xfrm>
            <a:off x="0" y="153988"/>
            <a:ext cx="6632575" cy="338137"/>
          </a:xfrm>
        </p:spPr>
        <p:txBody>
          <a:bodyPr>
            <a:normAutofit lnSpcReduction="10000"/>
          </a:bodyPr>
          <a:lstStyle/>
          <a:p>
            <a:r>
              <a:rPr lang="zh-CN" altLang="en-US" dirty="0"/>
              <a:t>如何理解？</a:t>
            </a:r>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en-US" altLang="zh-CN" dirty="0"/>
              <a:t>1.5.2  </a:t>
            </a:r>
            <a:r>
              <a:rPr lang="zh-CN" altLang="en-US" dirty="0"/>
              <a:t>几种不同类别的计算机网络</a:t>
            </a:r>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4294967295"/>
            <p:extLst>
              <p:ext uri="{D42A27DB-BD31-4B8C-83A1-F6EECF244321}">
                <p14:modId xmlns:p14="http://schemas.microsoft.com/office/powerpoint/2010/main" val="2928088497"/>
              </p:ext>
            </p:extLst>
          </p:nvPr>
        </p:nvGraphicFramePr>
        <p:xfrm>
          <a:off x="466725" y="504825"/>
          <a:ext cx="8128000" cy="4171950"/>
        </p:xfrm>
        <a:graphic>
          <a:graphicData uri="http://schemas.openxmlformats.org/drawingml/2006/table">
            <a:tbl>
              <a:tblPr firstRow="1" bandRow="1" bandCol="1">
                <a:tableStyleId>{69012ECD-51FC-41F1-AA8D-1B2483CD663E}</a:tableStyleId>
              </a:tblPr>
              <a:tblGrid>
                <a:gridCol w="3441843">
                  <a:extLst>
                    <a:ext uri="{9D8B030D-6E8A-4147-A177-3AD203B41FA5}">
                      <a16:colId xmlns:a16="http://schemas.microsoft.com/office/drawing/2014/main" val="2752561288"/>
                    </a:ext>
                  </a:extLst>
                </a:gridCol>
                <a:gridCol w="4352329">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F0"/>
                    </a:solidFill>
                  </a:tcPr>
                </a:tc>
                <a:extLst>
                  <a:ext uri="{0D108BD9-81ED-4DB2-BD59-A6C34878D82A}">
                    <a16:rowId xmlns:a16="http://schemas.microsoft.com/office/drawing/2014/main" val="3833287312"/>
                  </a:ext>
                </a:extLst>
              </a:tr>
              <a:tr h="473606">
                <a:tc>
                  <a:txBody>
                    <a:bodyPr/>
                    <a:lstStyle/>
                    <a:p>
                      <a:pPr algn="l"/>
                      <a:r>
                        <a:rPr lang="zh-CN" altLang="en-US" sz="1600" b="1" dirty="0">
                          <a:solidFill>
                            <a:srgbClr val="0000FF"/>
                          </a:solidFill>
                          <a:latin typeface="微软雅黑" panose="020B0503020204020204" pitchFamily="34" charset="-122"/>
                          <a:ea typeface="微软雅黑" panose="020B0503020204020204" pitchFamily="34" charset="-122"/>
                        </a:rPr>
                        <a:t>广域网 </a:t>
                      </a:r>
                      <a:r>
                        <a:rPr lang="en-US" altLang="zh-CN" sz="1600" b="1" dirty="0">
                          <a:solidFill>
                            <a:srgbClr val="0000FF"/>
                          </a:solidFill>
                          <a:latin typeface="微软雅黑" panose="020B0503020204020204" pitchFamily="34" charset="-122"/>
                          <a:ea typeface="微软雅黑" panose="020B0503020204020204" pitchFamily="34" charset="-122"/>
                        </a:rPr>
                        <a:t>WAN </a:t>
                      </a:r>
                    </a:p>
                    <a:p>
                      <a:pPr algn="l"/>
                      <a:r>
                        <a:rPr lang="en-US" altLang="zh-CN" sz="1600" b="1" dirty="0">
                          <a:latin typeface="微软雅黑" panose="020B0503020204020204" pitchFamily="34" charset="-122"/>
                          <a:ea typeface="微软雅黑" panose="020B0503020204020204" pitchFamily="34" charset="-122"/>
                        </a:rPr>
                        <a:t>(Wide Area Network)</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通常为几十到几千公里。有时也称为</a:t>
                      </a:r>
                      <a:r>
                        <a:rPr lang="zh-CN" altLang="en-US" sz="1600" b="1" dirty="0">
                          <a:solidFill>
                            <a:srgbClr val="0000FF"/>
                          </a:solidFill>
                          <a:latin typeface="微软雅黑" panose="020B0503020204020204" pitchFamily="34" charset="-122"/>
                          <a:ea typeface="微软雅黑" panose="020B0503020204020204" pitchFamily="34" charset="-122"/>
                        </a:rPr>
                        <a:t>远程网</a:t>
                      </a:r>
                      <a:r>
                        <a:rPr lang="en-US" altLang="zh-CN" sz="1600" b="1" dirty="0">
                          <a:latin typeface="微软雅黑" panose="020B0503020204020204" pitchFamily="34" charset="-122"/>
                          <a:ea typeface="微软雅黑" panose="020B0503020204020204" pitchFamily="34" charset="-122"/>
                        </a:rPr>
                        <a:t>(long haul network)</a:t>
                      </a:r>
                      <a:r>
                        <a:rPr lang="zh-CN" altLang="en-US" sz="1600" b="1" dirty="0">
                          <a:latin typeface="微软雅黑" panose="020B0503020204020204" pitchFamily="34" charset="-122"/>
                          <a:ea typeface="微软雅黑" panose="020B0503020204020204" pitchFamily="34" charset="-122"/>
                        </a:rPr>
                        <a:t>。是互联网的核心部分。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kern="1200" dirty="0">
                          <a:solidFill>
                            <a:srgbClr val="0000FF"/>
                          </a:solidFill>
                          <a:latin typeface="微软雅黑" panose="020B0503020204020204" pitchFamily="34" charset="-122"/>
                          <a:ea typeface="微软雅黑" panose="020B0503020204020204" pitchFamily="34" charset="-122"/>
                          <a:cs typeface="+mn-cs"/>
                        </a:rPr>
                        <a:t>城域网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MAN </a:t>
                      </a:r>
                    </a:p>
                    <a:p>
                      <a:pPr algn="l"/>
                      <a:r>
                        <a:rPr lang="en-US" altLang="zh-CN" sz="1600" b="1" dirty="0">
                          <a:latin typeface="微软雅黑" panose="020B0503020204020204" pitchFamily="34" charset="-122"/>
                          <a:ea typeface="微软雅黑" panose="020B0503020204020204" pitchFamily="34" charset="-122"/>
                        </a:rPr>
                        <a:t>(Metropolitan Area Network)</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作用范围一般是一个城市，作用距离约为 </a:t>
                      </a:r>
                      <a:r>
                        <a:rPr lang="en-US" altLang="zh-CN" sz="1600" b="1" dirty="0">
                          <a:latin typeface="微软雅黑" panose="020B0503020204020204" pitchFamily="34" charset="-122"/>
                          <a:ea typeface="微软雅黑" panose="020B0503020204020204" pitchFamily="34" charset="-122"/>
                        </a:rPr>
                        <a:t>5~50 </a:t>
                      </a:r>
                      <a:r>
                        <a:rPr lang="zh-CN" altLang="en-US" sz="1600" b="1" dirty="0">
                          <a:latin typeface="微软雅黑" panose="020B0503020204020204" pitchFamily="34" charset="-122"/>
                          <a:ea typeface="微软雅黑" panose="020B0503020204020204" pitchFamily="34" charset="-122"/>
                        </a:rPr>
                        <a:t>公里。</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r h="473606">
                <a:tc>
                  <a:txBody>
                    <a:bodyPr/>
                    <a:lstStyle/>
                    <a:p>
                      <a:pPr marL="0" algn="l" defTabSz="914400" rtl="0" eaLnBrk="1" latinLnBrk="0" hangingPunct="1"/>
                      <a:r>
                        <a:rPr lang="zh-CN" altLang="en-US" sz="1600" b="1" kern="1200" dirty="0">
                          <a:solidFill>
                            <a:srgbClr val="0000FF"/>
                          </a:solidFill>
                          <a:latin typeface="微软雅黑" panose="020B0503020204020204" pitchFamily="34" charset="-122"/>
                          <a:ea typeface="微软雅黑" panose="020B0503020204020204" pitchFamily="34" charset="-122"/>
                          <a:cs typeface="+mn-cs"/>
                        </a:rPr>
                        <a:t>局域网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LAN </a:t>
                      </a:r>
                    </a:p>
                    <a:p>
                      <a:pPr algn="l"/>
                      <a:r>
                        <a:rPr lang="en-US" altLang="zh-CN" sz="1600" b="1" dirty="0">
                          <a:latin typeface="微软雅黑" panose="020B0503020204020204" pitchFamily="34" charset="-122"/>
                          <a:ea typeface="微软雅黑" panose="020B0503020204020204" pitchFamily="34" charset="-122"/>
                        </a:rPr>
                        <a:t>(Local Area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局限在较小的范围（如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公里左右）。通常采用高速通信线路。</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12654821"/>
                  </a:ext>
                </a:extLst>
              </a:tr>
              <a:tr h="473606">
                <a:tc>
                  <a:txBody>
                    <a:bodyPr/>
                    <a:lstStyle/>
                    <a:p>
                      <a:pPr algn="l"/>
                      <a:r>
                        <a:rPr lang="zh-CN" altLang="en-US" sz="1600" b="1" kern="1200" dirty="0">
                          <a:solidFill>
                            <a:srgbClr val="0000FF"/>
                          </a:solidFill>
                          <a:latin typeface="微软雅黑" panose="020B0503020204020204" pitchFamily="34" charset="-122"/>
                          <a:ea typeface="微软雅黑" panose="020B0503020204020204" pitchFamily="34" charset="-122"/>
                          <a:cs typeface="+mn-cs"/>
                        </a:rPr>
                        <a:t>个人区域网 </a:t>
                      </a:r>
                      <a:r>
                        <a:rPr lang="en-US" altLang="zh-CN" sz="1600" b="1" kern="1200" dirty="0">
                          <a:solidFill>
                            <a:srgbClr val="0000FF"/>
                          </a:solidFill>
                          <a:latin typeface="微软雅黑" panose="020B0503020204020204" pitchFamily="34" charset="-122"/>
                          <a:ea typeface="微软雅黑" panose="020B0503020204020204" pitchFamily="34" charset="-122"/>
                          <a:cs typeface="+mn-cs"/>
                        </a:rPr>
                        <a:t>PAN </a:t>
                      </a:r>
                    </a:p>
                    <a:p>
                      <a:pPr algn="l"/>
                      <a:r>
                        <a:rPr lang="en-US" altLang="zh-CN" sz="1600" b="1" dirty="0">
                          <a:latin typeface="微软雅黑" panose="020B0503020204020204" pitchFamily="34" charset="-122"/>
                          <a:ea typeface="微软雅黑" panose="020B0503020204020204" pitchFamily="34" charset="-122"/>
                        </a:rPr>
                        <a:t>(Personal Area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范围很小，大约在 </a:t>
                      </a:r>
                      <a:r>
                        <a:rPr lang="en-US" altLang="zh-CN" sz="1600" b="1" dirty="0">
                          <a:latin typeface="微软雅黑" panose="020B0503020204020204" pitchFamily="34" charset="-122"/>
                          <a:ea typeface="微软雅黑" panose="020B0503020204020204" pitchFamily="34" charset="-122"/>
                        </a:rPr>
                        <a:t>10 </a:t>
                      </a:r>
                      <a:r>
                        <a:rPr lang="zh-CN" altLang="en-US" sz="1600" b="1" dirty="0">
                          <a:latin typeface="微软雅黑" panose="020B0503020204020204" pitchFamily="34" charset="-122"/>
                          <a:ea typeface="微软雅黑" panose="020B0503020204020204" pitchFamily="34" charset="-122"/>
                        </a:rPr>
                        <a:t>米左右。有时也称为</a:t>
                      </a:r>
                      <a:r>
                        <a:rPr lang="zh-CN" altLang="en-US" sz="1600" b="1" dirty="0">
                          <a:solidFill>
                            <a:srgbClr val="0000FF"/>
                          </a:solidFill>
                          <a:latin typeface="微软雅黑" panose="020B0503020204020204" pitchFamily="34" charset="-122"/>
                          <a:ea typeface="微软雅黑" panose="020B0503020204020204" pitchFamily="34" charset="-122"/>
                        </a:rPr>
                        <a:t>无线个人区域网</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WPAN (Wireless PAN)</a:t>
                      </a:r>
                      <a:r>
                        <a:rPr lang="zh-CN" altLang="en-US" sz="1600" b="1" dirty="0">
                          <a:latin typeface="微软雅黑" panose="020B0503020204020204" pitchFamily="34" charset="-122"/>
                          <a:ea typeface="微软雅黑" panose="020B0503020204020204" pitchFamily="34" charset="-122"/>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39985109"/>
                  </a:ext>
                </a:extLst>
              </a:tr>
            </a:tbl>
          </a:graphicData>
        </a:graphic>
      </p:graphicFrame>
      <p:sp>
        <p:nvSpPr>
          <p:cNvPr id="5" name="文本占位符 4"/>
          <p:cNvSpPr>
            <a:spLocks noGrp="1"/>
          </p:cNvSpPr>
          <p:nvPr>
            <p:ph type="body" sz="quarter" idx="4294967295"/>
          </p:nvPr>
        </p:nvSpPr>
        <p:spPr>
          <a:xfrm>
            <a:off x="0" y="153988"/>
            <a:ext cx="6632575" cy="338137"/>
          </a:xfrm>
        </p:spPr>
        <p:txBody>
          <a:bodyPr>
            <a:normAutofit lnSpcReduction="10000"/>
          </a:bodyPr>
          <a:lstStyle/>
          <a:p>
            <a:r>
              <a:rPr lang="en-US" altLang="zh-CN" dirty="0"/>
              <a:t>1. </a:t>
            </a:r>
            <a:r>
              <a:rPr lang="zh-CN" altLang="en-US" dirty="0"/>
              <a:t>按照网络的作用范围进行分类</a:t>
            </a:r>
          </a:p>
        </p:txBody>
      </p:sp>
      <p:sp>
        <p:nvSpPr>
          <p:cNvPr id="2" name="矩形 1"/>
          <p:cNvSpPr/>
          <p:nvPr/>
        </p:nvSpPr>
        <p:spPr>
          <a:xfrm>
            <a:off x="1327135" y="3791428"/>
            <a:ext cx="6196612"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若中央处理机之间的距离非常近（如仅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米甚至更小些），则一般就称之为</a:t>
            </a:r>
            <a:r>
              <a:rPr lang="zh-CN" altLang="en-US" b="1" dirty="0">
                <a:solidFill>
                  <a:srgbClr val="C00000"/>
                </a:solidFill>
                <a:latin typeface="微软雅黑" pitchFamily="34" charset="-122"/>
                <a:ea typeface="微软雅黑" pitchFamily="34" charset="-122"/>
              </a:rPr>
              <a:t>多处理机系统，</a:t>
            </a:r>
            <a:r>
              <a:rPr lang="zh-CN" altLang="en-US" b="1" dirty="0">
                <a:latin typeface="微软雅黑" pitchFamily="34" charset="-122"/>
                <a:ea typeface="微软雅黑" pitchFamily="34" charset="-122"/>
              </a:rPr>
              <a:t>而不称它为计算机网络。 </a:t>
            </a:r>
          </a:p>
        </p:txBody>
      </p:sp>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4294967295"/>
            <p:extLst>
              <p:ext uri="{D42A27DB-BD31-4B8C-83A1-F6EECF244321}">
                <p14:modId xmlns:p14="http://schemas.microsoft.com/office/powerpoint/2010/main" val="87201425"/>
              </p:ext>
            </p:extLst>
          </p:nvPr>
        </p:nvGraphicFramePr>
        <p:xfrm>
          <a:off x="466725" y="504825"/>
          <a:ext cx="8128000" cy="4171950"/>
        </p:xfrm>
        <a:graphic>
          <a:graphicData uri="http://schemas.openxmlformats.org/drawingml/2006/table">
            <a:tbl>
              <a:tblPr firstRow="1" bandRow="1" bandCol="1">
                <a:tableStyleId>{69012ECD-51FC-41F1-AA8D-1B2483CD663E}</a:tableStyleId>
              </a:tblPr>
              <a:tblGrid>
                <a:gridCol w="3108961">
                  <a:extLst>
                    <a:ext uri="{9D8B030D-6E8A-4147-A177-3AD203B41FA5}">
                      <a16:colId xmlns:a16="http://schemas.microsoft.com/office/drawing/2014/main" val="2752561288"/>
                    </a:ext>
                  </a:extLst>
                </a:gridCol>
                <a:gridCol w="4545874">
                  <a:extLst>
                    <a:ext uri="{9D8B030D-6E8A-4147-A177-3AD203B41FA5}">
                      <a16:colId xmlns:a16="http://schemas.microsoft.com/office/drawing/2014/main" val="1271823278"/>
                    </a:ext>
                  </a:extLst>
                </a:gridCol>
              </a:tblGrid>
              <a:tr h="274193">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类别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tc>
                  <a:txBody>
                    <a:bodyPr/>
                    <a:lstStyle/>
                    <a:p>
                      <a:pPr algn="ctr"/>
                      <a:r>
                        <a:rPr lang="zh-CN" altLang="en-US" sz="1600" b="1" dirty="0">
                          <a:solidFill>
                            <a:schemeClr val="tx1"/>
                          </a:solidFill>
                          <a:latin typeface="微软雅黑" panose="020B0503020204020204" pitchFamily="34" charset="-122"/>
                          <a:ea typeface="微软雅黑" panose="020B0503020204020204" pitchFamily="34" charset="-122"/>
                        </a:rPr>
                        <a:t>作用范围或距离</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66"/>
                    </a:solidFill>
                  </a:tcPr>
                </a:tc>
                <a:extLst>
                  <a:ext uri="{0D108BD9-81ED-4DB2-BD59-A6C34878D82A}">
                    <a16:rowId xmlns:a16="http://schemas.microsoft.com/office/drawing/2014/main" val="3833287312"/>
                  </a:ext>
                </a:extLst>
              </a:tr>
              <a:tr h="473606">
                <a:tc>
                  <a:txBody>
                    <a:bodyPr/>
                    <a:lstStyle/>
                    <a:p>
                      <a:pPr algn="l"/>
                      <a:r>
                        <a:rPr lang="zh-CN" altLang="en-US" sz="1600" b="1" kern="1200" dirty="0">
                          <a:solidFill>
                            <a:srgbClr val="0000FF"/>
                          </a:solidFill>
                          <a:latin typeface="微软雅黑" pitchFamily="34" charset="-122"/>
                          <a:ea typeface="微软雅黑" pitchFamily="34" charset="-122"/>
                          <a:cs typeface="+mn-cs"/>
                        </a:rPr>
                        <a:t>公用网 </a:t>
                      </a:r>
                      <a:endParaRPr lang="en-US" altLang="zh-CN" sz="1600" b="1" kern="1200" dirty="0">
                        <a:solidFill>
                          <a:srgbClr val="0000FF"/>
                        </a:solidFill>
                        <a:latin typeface="微软雅黑" pitchFamily="34" charset="-122"/>
                        <a:ea typeface="微软雅黑" pitchFamily="34" charset="-122"/>
                        <a:cs typeface="+mn-cs"/>
                      </a:endParaRPr>
                    </a:p>
                    <a:p>
                      <a:pPr algn="l"/>
                      <a:r>
                        <a:rPr lang="en-US" altLang="zh-CN" sz="1600" b="1" dirty="0">
                          <a:latin typeface="微软雅黑" panose="020B0503020204020204" pitchFamily="34" charset="-122"/>
                          <a:ea typeface="微软雅黑" panose="020B0503020204020204" pitchFamily="34" charset="-122"/>
                        </a:rPr>
                        <a:t>(public network)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按规定交纳费用的人都可以使用的网络。也可称为</a:t>
                      </a:r>
                      <a:r>
                        <a:rPr lang="zh-CN" altLang="en-US" sz="1600" b="1" dirty="0">
                          <a:solidFill>
                            <a:srgbClr val="0000FF"/>
                          </a:solidFill>
                          <a:latin typeface="微软雅黑" panose="020B0503020204020204" pitchFamily="34" charset="-122"/>
                          <a:ea typeface="微软雅黑" panose="020B0503020204020204" pitchFamily="34" charset="-122"/>
                        </a:rPr>
                        <a:t>公众网。</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01952148"/>
                  </a:ext>
                </a:extLst>
              </a:tr>
              <a:tr h="473606">
                <a:tc>
                  <a:txBody>
                    <a:bodyPr/>
                    <a:lstStyle/>
                    <a:p>
                      <a:pPr algn="l"/>
                      <a:r>
                        <a:rPr lang="zh-CN" altLang="en-US" sz="1600" b="1" dirty="0">
                          <a:solidFill>
                            <a:srgbClr val="0000FF"/>
                          </a:solidFill>
                          <a:latin typeface="微软雅黑" pitchFamily="34" charset="-122"/>
                          <a:ea typeface="微软雅黑" pitchFamily="34" charset="-122"/>
                        </a:rPr>
                        <a:t>专用网</a:t>
                      </a:r>
                      <a:r>
                        <a:rPr lang="zh-CN" altLang="en-US" sz="1600" b="1" dirty="0">
                          <a:latin typeface="微软雅黑" pitchFamily="34" charset="-122"/>
                          <a:ea typeface="微软雅黑" pitchFamily="34" charset="-122"/>
                        </a:rPr>
                        <a:t> </a:t>
                      </a:r>
                      <a:endParaRPr lang="en-US" altLang="zh-CN" sz="1600" b="1" dirty="0">
                        <a:latin typeface="微软雅黑" pitchFamily="34" charset="-122"/>
                        <a:ea typeface="微软雅黑" pitchFamily="34" charset="-122"/>
                      </a:endParaRPr>
                    </a:p>
                    <a:p>
                      <a:pPr algn="l"/>
                      <a:r>
                        <a:rPr lang="en-US" altLang="zh-CN" sz="1600" b="1" dirty="0">
                          <a:latin typeface="微软雅黑" pitchFamily="34" charset="-122"/>
                          <a:ea typeface="微软雅黑" pitchFamily="34" charset="-122"/>
                        </a:rPr>
                        <a:t>(private network) </a:t>
                      </a:r>
                      <a:endParaRPr lang="zh-CN" altLang="en-US" sz="1600" b="1" dirty="0">
                        <a:latin typeface="微软雅黑" panose="020B0503020204020204" pitchFamily="34" charset="-122"/>
                        <a:ea typeface="微软雅黑" panose="020B0503020204020204"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r>
                        <a:rPr lang="zh-CN" altLang="en-US" sz="1600" b="1" dirty="0">
                          <a:latin typeface="微软雅黑" panose="020B0503020204020204" pitchFamily="34" charset="-122"/>
                          <a:ea typeface="微软雅黑" panose="020B0503020204020204" pitchFamily="34" charset="-122"/>
                        </a:rPr>
                        <a:t>为特殊业务工作的需要而建造的网络。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0436720"/>
                  </a:ext>
                </a:extLst>
              </a:tr>
            </a:tbl>
          </a:graphicData>
        </a:graphic>
      </p:graphicFrame>
      <p:sp>
        <p:nvSpPr>
          <p:cNvPr id="5" name="文本占位符 4"/>
          <p:cNvSpPr>
            <a:spLocks noGrp="1"/>
          </p:cNvSpPr>
          <p:nvPr>
            <p:ph type="body" sz="quarter" idx="4294967295"/>
          </p:nvPr>
        </p:nvSpPr>
        <p:spPr>
          <a:xfrm>
            <a:off x="0" y="153988"/>
            <a:ext cx="6632575" cy="338137"/>
          </a:xfrm>
        </p:spPr>
        <p:txBody>
          <a:bodyPr>
            <a:normAutofit lnSpcReduction="10000"/>
          </a:bodyPr>
          <a:lstStyle/>
          <a:p>
            <a:r>
              <a:rPr lang="en-US" altLang="zh-CN" dirty="0"/>
              <a:t>2. </a:t>
            </a:r>
            <a:r>
              <a:rPr lang="zh-CN" altLang="en-US" dirty="0"/>
              <a:t>按照网络的使用者进行分类</a:t>
            </a:r>
          </a:p>
        </p:txBody>
      </p:sp>
      <p:sp>
        <p:nvSpPr>
          <p:cNvPr id="2" name="矩形 1"/>
          <p:cNvSpPr/>
          <p:nvPr/>
        </p:nvSpPr>
        <p:spPr>
          <a:xfrm>
            <a:off x="1577947" y="2664629"/>
            <a:ext cx="5988105" cy="759182"/>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600"/>
              </a:lnSpc>
              <a:spcBef>
                <a:spcPts val="0"/>
              </a:spcBef>
            </a:pPr>
            <a:r>
              <a:rPr lang="zh-CN" altLang="en-US" b="1" dirty="0">
                <a:latin typeface="微软雅黑" pitchFamily="34" charset="-122"/>
                <a:ea typeface="微软雅黑" pitchFamily="34" charset="-122"/>
              </a:rPr>
              <a:t>公用网和专用网都可以传送多种业务。如传送的是计算机数据，则分别是</a:t>
            </a:r>
            <a:r>
              <a:rPr lang="zh-CN" altLang="en-US" b="1" dirty="0">
                <a:solidFill>
                  <a:srgbClr val="C00000"/>
                </a:solidFill>
                <a:latin typeface="微软雅黑" pitchFamily="34" charset="-122"/>
                <a:ea typeface="微软雅黑" pitchFamily="34" charset="-122"/>
              </a:rPr>
              <a:t>公用计算机网络</a:t>
            </a:r>
            <a:r>
              <a:rPr lang="zh-CN" altLang="en-US" b="1" dirty="0">
                <a:latin typeface="微软雅黑" pitchFamily="34" charset="-122"/>
                <a:ea typeface="微软雅黑" pitchFamily="34" charset="-122"/>
              </a:rPr>
              <a:t>和</a:t>
            </a:r>
            <a:r>
              <a:rPr lang="zh-CN" altLang="en-US" b="1" dirty="0">
                <a:solidFill>
                  <a:srgbClr val="C00000"/>
                </a:solidFill>
                <a:latin typeface="微软雅黑" pitchFamily="34" charset="-122"/>
                <a:ea typeface="微软雅黑" pitchFamily="34" charset="-122"/>
              </a:rPr>
              <a:t>专用计算机网络。 </a:t>
            </a:r>
          </a:p>
        </p:txBody>
      </p:sp>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4294967295"/>
          </p:nvPr>
        </p:nvSpPr>
        <p:spPr>
          <a:xfrm>
            <a:off x="612000" y="720000"/>
            <a:ext cx="7920000" cy="3960000"/>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
        <p:nvSpPr>
          <p:cNvPr id="5" name="文本占位符 4"/>
          <p:cNvSpPr>
            <a:spLocks noGrp="1"/>
          </p:cNvSpPr>
          <p:nvPr>
            <p:ph type="body" sz="quarter" idx="4294967295"/>
          </p:nvPr>
        </p:nvSpPr>
        <p:spPr>
          <a:xfrm>
            <a:off x="0" y="153988"/>
            <a:ext cx="6632575" cy="338137"/>
          </a:xfrm>
        </p:spPr>
        <p:txBody>
          <a:bodyPr>
            <a:normAutofit lnSpcReduction="10000"/>
          </a:bodyPr>
          <a:lstStyle/>
          <a:p>
            <a:r>
              <a:rPr lang="en-US" altLang="zh-CN" dirty="0"/>
              <a:t>3. </a:t>
            </a:r>
            <a:r>
              <a:rPr lang="zh-CN" altLang="en-US" dirty="0"/>
              <a:t>用来把用户接入到互联网的网络</a:t>
            </a:r>
          </a:p>
        </p:txBody>
      </p:sp>
      <p:grpSp>
        <p:nvGrpSpPr>
          <p:cNvPr id="74" name="组合 73"/>
          <p:cNvGrpSpPr/>
          <p:nvPr/>
        </p:nvGrpSpPr>
        <p:grpSpPr>
          <a:xfrm>
            <a:off x="5910047" y="1247574"/>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b="1" dirty="0">
                    <a:solidFill>
                      <a:srgbClr val="0000FF"/>
                    </a:solidFill>
                    <a:latin typeface="微软雅黑" panose="020B0503020204020204" pitchFamily="34" charset="-122"/>
                    <a:ea typeface="微软雅黑" panose="020B0503020204020204" pitchFamily="34" charset="-122"/>
                  </a:rPr>
                  <a:t>本地</a:t>
                </a:r>
                <a:r>
                  <a:rPr lang="en-US" altLang="zh-CN" sz="1100" b="1" dirty="0">
                    <a:solidFill>
                      <a:srgbClr val="0000FF"/>
                    </a:solidFill>
                    <a:latin typeface="微软雅黑" panose="020B0503020204020204" pitchFamily="34" charset="-122"/>
                    <a:ea typeface="微软雅黑" panose="020B0503020204020204" pitchFamily="34" charset="-122"/>
                  </a:rPr>
                  <a:t>ISP</a:t>
                </a:r>
                <a:endParaRPr lang="zh-CN" altLang="en-US" sz="1100" b="1" dirty="0">
                  <a:solidFill>
                    <a:srgbClr val="0000FF"/>
                  </a:solidFill>
                  <a:latin typeface="微软雅黑" panose="020B0503020204020204" pitchFamily="34" charset="-122"/>
                  <a:ea typeface="微软雅黑" panose="020B0503020204020204" pitchFamily="34" charset="-122"/>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b="1" dirty="0">
                      <a:solidFill>
                        <a:srgbClr val="0000FF"/>
                      </a:solidFill>
                      <a:latin typeface="微软雅黑" pitchFamily="34" charset="-122"/>
                      <a:ea typeface="微软雅黑" pitchFamily="34" charset="-122"/>
                    </a:rPr>
                    <a:t>接入网 </a:t>
                  </a:r>
                  <a:endParaRPr lang="zh-CN" altLang="en-US" sz="1200" dirty="0">
                    <a:solidFill>
                      <a:srgbClr val="0000FF"/>
                    </a:solidFill>
                    <a:latin typeface="Times New Roman" panose="02020603050405020304" pitchFamily="18" charset="0"/>
                    <a:ea typeface="微软雅黑 Light" panose="020B0502040204020203" pitchFamily="34" charset="-122"/>
                  </a:endParaRP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7"/>
          <p:cNvSpPr>
            <a:spLocks noChangeArrowheads="1"/>
          </p:cNvSpPr>
          <p:nvPr/>
        </p:nvSpPr>
        <p:spPr bwMode="auto">
          <a:xfrm>
            <a:off x="639730" y="1343033"/>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dirty="0">
              <a:latin typeface="微软雅黑 Light" panose="020B0502040204020203" pitchFamily="34" charset="-122"/>
              <a:ea typeface="+mn-ea"/>
            </a:endParaRPr>
          </a:p>
        </p:txBody>
      </p:sp>
      <p:sp>
        <p:nvSpPr>
          <p:cNvPr id="97285" name="Rectangle 29"/>
          <p:cNvSpPr>
            <a:spLocks noChangeArrowheads="1"/>
          </p:cNvSpPr>
          <p:nvPr/>
        </p:nvSpPr>
        <p:spPr bwMode="auto">
          <a:xfrm>
            <a:off x="649288" y="1438599"/>
            <a:ext cx="1627187" cy="10144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a:solidFill>
                  <a:srgbClr val="FFFF00"/>
                </a:solidFill>
                <a:latin typeface="微软雅黑" pitchFamily="34" charset="-122"/>
                <a:ea typeface="微软雅黑" pitchFamily="34" charset="-122"/>
              </a:rPr>
              <a:t>1.6</a:t>
            </a:r>
          </a:p>
          <a:p>
            <a:r>
              <a:rPr lang="zh-CN" altLang="zh-CN" sz="2000" b="1">
                <a:solidFill>
                  <a:schemeClr val="bg1"/>
                </a:solidFill>
                <a:latin typeface="微软雅黑" pitchFamily="34" charset="-122"/>
                <a:ea typeface="微软雅黑" pitchFamily="34" charset="-122"/>
              </a:rPr>
              <a:t>计算机网络的性能</a:t>
            </a:r>
            <a:endParaRPr lang="zh-CN" altLang="en-US" sz="2000" b="1">
              <a:solidFill>
                <a:schemeClr val="bg1"/>
              </a:solidFill>
              <a:latin typeface="微软雅黑" pitchFamily="34" charset="-122"/>
              <a:ea typeface="微软雅黑" pitchFamily="34" charset="-122"/>
            </a:endParaRPr>
          </a:p>
        </p:txBody>
      </p:sp>
      <p:sp>
        <p:nvSpPr>
          <p:cNvPr id="4" name="Rectangle 9"/>
          <p:cNvSpPr>
            <a:spLocks noChangeArrowheads="1"/>
          </p:cNvSpPr>
          <p:nvPr/>
        </p:nvSpPr>
        <p:spPr bwMode="auto">
          <a:xfrm>
            <a:off x="2628900" y="1343349"/>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5" name="Rectangle 10"/>
          <p:cNvSpPr>
            <a:spLocks noChangeArrowheads="1"/>
          </p:cNvSpPr>
          <p:nvPr/>
        </p:nvSpPr>
        <p:spPr bwMode="auto">
          <a:xfrm>
            <a:off x="2628900" y="1949774"/>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97288" name="Line 16"/>
          <p:cNvSpPr>
            <a:spLocks noChangeShapeType="1"/>
          </p:cNvSpPr>
          <p:nvPr/>
        </p:nvSpPr>
        <p:spPr bwMode="auto">
          <a:xfrm>
            <a:off x="3636963" y="1271911"/>
            <a:ext cx="0" cy="118110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7289" name="Rectangle 8"/>
          <p:cNvSpPr>
            <a:spLocks noChangeArrowheads="1"/>
          </p:cNvSpPr>
          <p:nvPr/>
        </p:nvSpPr>
        <p:spPr bwMode="auto">
          <a:xfrm>
            <a:off x="2700338" y="1308424"/>
            <a:ext cx="5472112" cy="1016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itchFamily="34" charset="-122"/>
                <a:ea typeface="微软雅黑" pitchFamily="34" charset="-122"/>
              </a:rPr>
              <a:t>1.6.1                           </a:t>
            </a:r>
            <a:r>
              <a:rPr lang="zh-CN" altLang="zh-CN" sz="2000" b="1" dirty="0">
                <a:solidFill>
                  <a:schemeClr val="bg1"/>
                </a:solidFill>
                <a:latin typeface="Times New Roman" panose="02020603050405020304" pitchFamily="18" charset="0"/>
                <a:ea typeface="微软雅黑" pitchFamily="34" charset="-122"/>
              </a:rPr>
              <a:t>计算机网络的性能指标</a:t>
            </a:r>
            <a:endParaRPr lang="en-US" altLang="zh-CN" sz="2000" b="1" dirty="0">
              <a:solidFill>
                <a:schemeClr val="bg1"/>
              </a:solidFill>
              <a:latin typeface="Times New Roman" panose="02020603050405020304" pitchFamily="18" charset="0"/>
              <a:ea typeface="微软雅黑" pitchFamily="34" charset="-122"/>
            </a:endParaRPr>
          </a:p>
          <a:p>
            <a:endParaRPr lang="zh-CN" altLang="zh-CN" sz="2000" b="1" dirty="0">
              <a:solidFill>
                <a:schemeClr val="bg1"/>
              </a:solidFill>
              <a:latin typeface="Times New Roman" panose="02020603050405020304" pitchFamily="18" charset="0"/>
              <a:ea typeface="微软雅黑" pitchFamily="34" charset="-122"/>
            </a:endParaRPr>
          </a:p>
          <a:p>
            <a:r>
              <a:rPr lang="en-US" altLang="zh-CN" sz="2000" b="1" dirty="0">
                <a:solidFill>
                  <a:schemeClr val="bg1"/>
                </a:solidFill>
                <a:latin typeface="微软雅黑" pitchFamily="34" charset="-122"/>
                <a:ea typeface="微软雅黑" pitchFamily="34" charset="-122"/>
              </a:rPr>
              <a:t>1.6.2                        </a:t>
            </a:r>
            <a:r>
              <a:rPr lang="zh-CN" altLang="zh-CN" sz="2000" b="1" dirty="0">
                <a:solidFill>
                  <a:schemeClr val="bg1"/>
                </a:solidFill>
                <a:latin typeface="Times New Roman" panose="02020603050405020304" pitchFamily="18" charset="0"/>
                <a:ea typeface="微软雅黑" pitchFamily="34" charset="-122"/>
              </a:rPr>
              <a:t>计算机网络的非性能特征</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D31F4F29-D8B7-C279-6E15-4E7EC0A4D8E5}"/>
              </a:ext>
            </a:extLst>
          </p:cNvPr>
          <p:cNvSpPr>
            <a:spLocks noGrp="1"/>
          </p:cNvSpPr>
          <p:nvPr>
            <p:ph sz="quarter" idx="4294967295"/>
          </p:nvPr>
        </p:nvSpPr>
        <p:spPr>
          <a:xfrm>
            <a:off x="612000" y="720000"/>
            <a:ext cx="7920000" cy="3960000"/>
          </a:xfrm>
        </p:spPr>
        <p:txBody>
          <a:bodyPr/>
          <a:lstStyle/>
          <a:p>
            <a:r>
              <a:rPr lang="zh-CN" altLang="en-US" dirty="0"/>
              <a:t>性能指标：</a:t>
            </a:r>
            <a:endParaRPr lang="en-US" altLang="zh-CN" dirty="0"/>
          </a:p>
          <a:p>
            <a:r>
              <a:rPr lang="zh-CN" altLang="en-US" dirty="0"/>
              <a:t>从不同的方面来度量计算机网络的性能。</a:t>
            </a:r>
          </a:p>
          <a:p>
            <a:endParaRPr lang="zh-CN" altLang="en-US"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1.6.1  </a:t>
            </a:r>
            <a:r>
              <a:rPr lang="zh-CN" altLang="en-US" dirty="0"/>
              <a:t>计算机网络的性能指标</a:t>
            </a:r>
          </a:p>
        </p:txBody>
      </p:sp>
      <p:graphicFrame>
        <p:nvGraphicFramePr>
          <p:cNvPr id="5" name="图示 4"/>
          <p:cNvGraphicFramePr/>
          <p:nvPr>
            <p:extLst>
              <p:ext uri="{D42A27DB-BD31-4B8C-83A1-F6EECF244321}">
                <p14:modId xmlns:p14="http://schemas.microsoft.com/office/powerpoint/2010/main" val="4050962110"/>
              </p:ext>
            </p:extLst>
          </p:nvPr>
        </p:nvGraphicFramePr>
        <p:xfrm>
          <a:off x="3329234" y="1264394"/>
          <a:ext cx="5713731" cy="31525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4294967295"/>
          </p:nvPr>
        </p:nvSpPr>
        <p:spPr>
          <a:xfrm>
            <a:off x="612000" y="720000"/>
            <a:ext cx="7920000" cy="3960000"/>
          </a:xfrm>
        </p:spPr>
        <p:txBody>
          <a:bodyPr/>
          <a:lstStyle/>
          <a:p>
            <a:r>
              <a:rPr lang="zh-CN" altLang="en-US" dirty="0"/>
              <a:t>最重要的一个性能指标。</a:t>
            </a:r>
            <a:endParaRPr lang="en-US" altLang="zh-CN" dirty="0"/>
          </a:p>
          <a:p>
            <a:r>
              <a:rPr lang="zh-CN" altLang="en-US" dirty="0"/>
              <a:t>指的是数据的传送速率，也称为数据率 </a:t>
            </a:r>
            <a:r>
              <a:rPr lang="en-US" altLang="zh-CN" dirty="0"/>
              <a:t>(data rate) </a:t>
            </a:r>
            <a:r>
              <a:rPr lang="zh-CN" altLang="en-US" dirty="0"/>
              <a:t>或比特率 </a:t>
            </a:r>
            <a:r>
              <a:rPr lang="en-US" altLang="zh-CN" dirty="0"/>
              <a:t>(bit rate)</a:t>
            </a:r>
            <a:r>
              <a:rPr lang="zh-CN" altLang="en-US" dirty="0"/>
              <a:t>。</a:t>
            </a:r>
          </a:p>
          <a:p>
            <a:r>
              <a:rPr lang="zh-CN" altLang="en-US" dirty="0"/>
              <a:t>单位：</a:t>
            </a:r>
            <a:r>
              <a:rPr lang="en-US" altLang="zh-CN" dirty="0"/>
              <a:t>bit/s</a:t>
            </a:r>
            <a:r>
              <a:rPr lang="zh-CN" altLang="en-US" dirty="0"/>
              <a:t>，或 </a:t>
            </a:r>
            <a:r>
              <a:rPr lang="en-US" altLang="zh-CN" dirty="0" err="1"/>
              <a:t>kbit</a:t>
            </a:r>
            <a:r>
              <a:rPr lang="en-US" altLang="zh-CN" dirty="0"/>
              <a:t>/s</a:t>
            </a:r>
            <a:r>
              <a:rPr lang="zh-CN" altLang="en-US" dirty="0"/>
              <a:t>、</a:t>
            </a:r>
            <a:r>
              <a:rPr lang="en-US" altLang="zh-CN" dirty="0"/>
              <a:t>Mbit/s</a:t>
            </a:r>
            <a:r>
              <a:rPr lang="zh-CN" altLang="en-US" dirty="0"/>
              <a:t>、 </a:t>
            </a:r>
            <a:r>
              <a:rPr lang="en-US" altLang="zh-CN" dirty="0" err="1"/>
              <a:t>Gbit</a:t>
            </a:r>
            <a:r>
              <a:rPr lang="en-US" altLang="zh-CN" dirty="0"/>
              <a:t>/s </a:t>
            </a:r>
            <a:r>
              <a:rPr lang="zh-CN" altLang="en-US" dirty="0"/>
              <a:t>等。</a:t>
            </a:r>
            <a:endParaRPr lang="en-US" altLang="zh-CN" dirty="0"/>
          </a:p>
          <a:p>
            <a:r>
              <a:rPr lang="en-US" altLang="zh-CN" dirty="0"/>
              <a:t>    </a:t>
            </a:r>
            <a:r>
              <a:rPr lang="zh-CN" altLang="en-US" dirty="0"/>
              <a:t>例如 </a:t>
            </a:r>
            <a:r>
              <a:rPr lang="en-US" altLang="zh-CN" dirty="0"/>
              <a:t>4 </a:t>
            </a:r>
            <a:r>
              <a:rPr lang="en-US" altLang="zh-CN" dirty="0">
                <a:sym typeface="Symbol" pitchFamily="18" charset="2"/>
              </a:rPr>
              <a:t></a:t>
            </a:r>
            <a:r>
              <a:rPr lang="en-US" altLang="zh-CN" dirty="0"/>
              <a:t> 1010  bit/s </a:t>
            </a:r>
            <a:r>
              <a:rPr lang="zh-CN" altLang="zh-CN" dirty="0"/>
              <a:t>的数据率就记为</a:t>
            </a:r>
            <a:r>
              <a:rPr lang="en-US" altLang="zh-CN" dirty="0"/>
              <a:t> 40 </a:t>
            </a:r>
            <a:r>
              <a:rPr lang="en-US" altLang="zh-CN" dirty="0" err="1"/>
              <a:t>Gbit</a:t>
            </a:r>
            <a:r>
              <a:rPr lang="en-US" altLang="zh-CN" dirty="0"/>
              <a:t>/s</a:t>
            </a:r>
            <a:r>
              <a:rPr lang="zh-CN" altLang="en-US" dirty="0"/>
              <a:t>。</a:t>
            </a:r>
          </a:p>
          <a:p>
            <a:r>
              <a:rPr lang="zh-CN" altLang="en-US" dirty="0"/>
              <a:t>速率往往是指额定速率或标称速率，非实际运行速率。</a:t>
            </a:r>
          </a:p>
        </p:txBody>
      </p:sp>
      <p:sp>
        <p:nvSpPr>
          <p:cNvPr id="5" name="文本占位符 4"/>
          <p:cNvSpPr>
            <a:spLocks noGrp="1"/>
          </p:cNvSpPr>
          <p:nvPr>
            <p:ph type="body" sz="quarter" idx="4294967295"/>
          </p:nvPr>
        </p:nvSpPr>
        <p:spPr>
          <a:xfrm>
            <a:off x="0" y="153988"/>
            <a:ext cx="6632575" cy="338137"/>
          </a:xfrm>
        </p:spPr>
        <p:txBody>
          <a:bodyPr>
            <a:normAutofit lnSpcReduction="10000"/>
          </a:bodyPr>
          <a:lstStyle/>
          <a:p>
            <a:r>
              <a:rPr lang="en-US" altLang="zh-CN" dirty="0"/>
              <a:t>1. </a:t>
            </a:r>
            <a:r>
              <a:rPr lang="zh-CN" altLang="en-US" dirty="0"/>
              <a:t>速率</a:t>
            </a:r>
          </a:p>
        </p:txBody>
      </p:sp>
      <p:sp>
        <p:nvSpPr>
          <p:cNvPr id="6" name="圆角矩形 5"/>
          <p:cNvSpPr/>
          <p:nvPr/>
        </p:nvSpPr>
        <p:spPr>
          <a:xfrm>
            <a:off x="842879" y="3383779"/>
            <a:ext cx="7228116" cy="854669"/>
          </a:xfrm>
          <a:prstGeom prst="roundRect">
            <a:avLst/>
          </a:prstGeom>
          <a:solidFill>
            <a:schemeClr val="tx2">
              <a:lumMod val="20000"/>
              <a:lumOff val="80000"/>
            </a:schemeClr>
          </a:solidFill>
          <a:ln>
            <a:solidFill>
              <a:srgbClr val="000099"/>
            </a:solidFill>
          </a:ln>
        </p:spPr>
        <p:style>
          <a:lnRef idx="2">
            <a:schemeClr val="accent5"/>
          </a:lnRef>
          <a:fillRef idx="1">
            <a:schemeClr val="lt1"/>
          </a:fillRef>
          <a:effectRef idx="0">
            <a:schemeClr val="accent5"/>
          </a:effectRef>
          <a:fontRef idx="minor">
            <a:schemeClr val="dk1"/>
          </a:fontRef>
        </p:style>
        <p:txBody>
          <a:bodyPr rtlCol="0" anchor="ctr"/>
          <a:lstStyle/>
          <a:p>
            <a:pPr algn="ctr"/>
            <a:endParaRPr lang="zh-CN" altLang="en-US" dirty="0"/>
          </a:p>
        </p:txBody>
      </p:sp>
      <p:sp>
        <p:nvSpPr>
          <p:cNvPr id="7" name="文本框 6"/>
          <p:cNvSpPr txBox="1"/>
          <p:nvPr/>
        </p:nvSpPr>
        <p:spPr>
          <a:xfrm>
            <a:off x="918390" y="3428532"/>
            <a:ext cx="7021977" cy="759182"/>
          </a:xfrm>
          <a:prstGeom prst="rect">
            <a:avLst/>
          </a:prstGeom>
          <a:noFill/>
        </p:spPr>
        <p:txBody>
          <a:bodyPr wrap="square" rtlCol="0">
            <a:spAutoFit/>
          </a:bodyPr>
          <a:lstStyle/>
          <a:p>
            <a:pPr>
              <a:lnSpc>
                <a:spcPts val="2600"/>
              </a:lnSpc>
            </a:pPr>
            <a:r>
              <a:rPr lang="zh-CN" altLang="zh-CN" sz="1600" b="1" dirty="0">
                <a:latin typeface="微软雅黑" panose="020B0503020204020204" pitchFamily="34" charset="-122"/>
                <a:ea typeface="微软雅黑" panose="020B0503020204020204" pitchFamily="34" charset="-122"/>
              </a:rPr>
              <a:t>千</a:t>
            </a:r>
            <a:r>
              <a:rPr lang="en-US" altLang="zh-CN" sz="1600" b="1" dirty="0">
                <a:latin typeface="微软雅黑" panose="020B0503020204020204" pitchFamily="34" charset="-122"/>
                <a:ea typeface="微软雅黑" panose="020B0503020204020204" pitchFamily="34" charset="-122"/>
              </a:rPr>
              <a:t> = </a:t>
            </a:r>
            <a:r>
              <a:rPr lang="en-US" altLang="zh-CN" sz="1600" b="1" dirty="0">
                <a:solidFill>
                  <a:srgbClr val="C00000"/>
                </a:solidFill>
                <a:latin typeface="微软雅黑" panose="020B0503020204020204" pitchFamily="34" charset="-122"/>
                <a:ea typeface="微软雅黑" panose="020B0503020204020204" pitchFamily="34" charset="-122"/>
              </a:rPr>
              <a:t>K</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10</a:t>
            </a:r>
            <a:r>
              <a:rPr lang="en-US" altLang="zh-CN" sz="1600" b="1" dirty="0">
                <a:latin typeface="微软雅黑" panose="020B0503020204020204" pitchFamily="34" charset="-122"/>
                <a:ea typeface="微软雅黑" panose="020B0503020204020204" pitchFamily="34" charset="-122"/>
              </a:rPr>
              <a:t> = 1024</a:t>
            </a:r>
            <a:r>
              <a:rPr lang="zh-CN" altLang="zh-CN" sz="1600" b="1" dirty="0">
                <a:latin typeface="微软雅黑" panose="020B0503020204020204" pitchFamily="34" charset="-122"/>
                <a:ea typeface="微软雅黑" panose="020B0503020204020204" pitchFamily="34" charset="-122"/>
              </a:rPr>
              <a:t>，兆 </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M</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20 </a:t>
            </a:r>
            <a:r>
              <a:rPr lang="en-US" altLang="zh-CN" sz="1600" b="1" dirty="0">
                <a:latin typeface="微软雅黑" panose="020B0503020204020204" pitchFamily="34" charset="-122"/>
                <a:ea typeface="微软雅黑" panose="020B0503020204020204" pitchFamily="34" charset="-122"/>
              </a:rPr>
              <a:t>= 1024 K</a:t>
            </a:r>
            <a:r>
              <a:rPr lang="zh-CN" altLang="zh-CN" sz="1600" b="1" dirty="0">
                <a:latin typeface="微软雅黑" panose="020B0503020204020204" pitchFamily="34" charset="-122"/>
                <a:ea typeface="微软雅黑" panose="020B0503020204020204" pitchFamily="34" charset="-122"/>
              </a:rPr>
              <a:t>，吉 </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G</a:t>
            </a:r>
            <a:r>
              <a:rPr lang="en-US" altLang="zh-CN" sz="1600" b="1" dirty="0">
                <a:latin typeface="微软雅黑" panose="020B0503020204020204" pitchFamily="34" charset="-122"/>
                <a:ea typeface="微软雅黑" panose="020B0503020204020204" pitchFamily="34" charset="-122"/>
              </a:rPr>
              <a:t> = 2</a:t>
            </a:r>
            <a:r>
              <a:rPr lang="en-US" altLang="zh-CN" sz="1600" b="1" baseline="30000" dirty="0">
                <a:latin typeface="微软雅黑" panose="020B0503020204020204" pitchFamily="34" charset="-122"/>
                <a:ea typeface="微软雅黑" panose="020B0503020204020204" pitchFamily="34" charset="-122"/>
              </a:rPr>
              <a:t>30 </a:t>
            </a:r>
            <a:r>
              <a:rPr lang="en-US" altLang="zh-CN" sz="1600" b="1" dirty="0">
                <a:latin typeface="微软雅黑" panose="020B0503020204020204" pitchFamily="34" charset="-122"/>
                <a:ea typeface="微软雅黑" panose="020B0503020204020204" pitchFamily="34" charset="-122"/>
              </a:rPr>
              <a:t>= 1024 M</a:t>
            </a:r>
          </a:p>
          <a:p>
            <a:pPr>
              <a:lnSpc>
                <a:spcPts val="2600"/>
              </a:lnSpc>
            </a:pP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字节 </a:t>
            </a:r>
            <a:r>
              <a:rPr lang="en-US" altLang="zh-CN" sz="1600" b="1" dirty="0">
                <a:latin typeface="微软雅黑" panose="020B0503020204020204" pitchFamily="34" charset="-122"/>
                <a:ea typeface="微软雅黑" panose="020B0503020204020204" pitchFamily="34" charset="-122"/>
              </a:rPr>
              <a:t>(Byte) =  8 </a:t>
            </a:r>
            <a:r>
              <a:rPr lang="zh-CN" altLang="en-US" sz="1600" b="1" dirty="0">
                <a:latin typeface="微软雅黑" panose="020B0503020204020204" pitchFamily="34" charset="-122"/>
                <a:ea typeface="微软雅黑" panose="020B0503020204020204" pitchFamily="34" charset="-122"/>
              </a:rPr>
              <a:t>比特 </a:t>
            </a:r>
            <a:r>
              <a:rPr lang="en-US" altLang="zh-CN" sz="1600" b="1" dirty="0">
                <a:latin typeface="微软雅黑" panose="020B0503020204020204" pitchFamily="34" charset="-122"/>
                <a:ea typeface="微软雅黑" panose="020B0503020204020204" pitchFamily="34" charset="-122"/>
              </a:rPr>
              <a:t>(bit</a:t>
            </a:r>
            <a:r>
              <a:rPr lang="zh-CN" altLang="en-US" sz="1600"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2087418391"/>
              </p:ext>
            </p:extLst>
          </p:nvPr>
        </p:nvGraphicFramePr>
        <p:xfrm>
          <a:off x="548639" y="1085158"/>
          <a:ext cx="7898674" cy="23948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内容占位符 5">
            <a:extLst>
              <a:ext uri="{FF2B5EF4-FFF2-40B4-BE49-F238E27FC236}">
                <a16:creationId xmlns:a16="http://schemas.microsoft.com/office/drawing/2014/main" id="{E4FBA29D-7805-2129-1851-6A26519049E7}"/>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2. </a:t>
            </a:r>
            <a:r>
              <a:rPr lang="zh-CN" altLang="en-US" dirty="0"/>
              <a:t>带宽 </a:t>
            </a:r>
            <a:r>
              <a:rPr lang="en-US" altLang="zh-CN" dirty="0"/>
              <a:t>(bandwidth)</a:t>
            </a:r>
            <a:endParaRPr lang="zh-CN" altLang="en-US" dirty="0"/>
          </a:p>
        </p:txBody>
      </p:sp>
      <p:sp>
        <p:nvSpPr>
          <p:cNvPr id="3" name="矩形 2"/>
          <p:cNvSpPr/>
          <p:nvPr/>
        </p:nvSpPr>
        <p:spPr>
          <a:xfrm>
            <a:off x="2061198" y="3462849"/>
            <a:ext cx="5911728" cy="1092607"/>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marL="285750" indent="-285750">
              <a:lnSpc>
                <a:spcPts val="2600"/>
              </a:lnSpc>
              <a:spcBef>
                <a:spcPts val="0"/>
              </a:spcBef>
              <a:spcAft>
                <a:spcPts val="0"/>
              </a:spcAft>
              <a:buSzPct val="85000"/>
              <a:buFont typeface="Wingdings" panose="05000000000000000000" pitchFamily="2" charset="2"/>
              <a:buChar char="u"/>
            </a:pPr>
            <a:r>
              <a:rPr lang="zh-CN" altLang="en-US" b="1" dirty="0">
                <a:latin typeface="微软雅黑" pitchFamily="34" charset="-122"/>
                <a:ea typeface="微软雅黑" pitchFamily="34" charset="-122"/>
              </a:rPr>
              <a:t>两者</a:t>
            </a:r>
            <a:r>
              <a:rPr lang="zh-CN" altLang="zh-CN" b="1" dirty="0">
                <a:solidFill>
                  <a:srgbClr val="C00000"/>
                </a:solidFill>
                <a:latin typeface="微软雅黑" pitchFamily="34" charset="-122"/>
                <a:ea typeface="微软雅黑" pitchFamily="34" charset="-122"/>
              </a:rPr>
              <a:t>本质相同</a:t>
            </a:r>
            <a:r>
              <a:rPr lang="zh-CN" altLang="zh-CN"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marL="285750" indent="-285750">
              <a:lnSpc>
                <a:spcPts val="2600"/>
              </a:lnSpc>
              <a:spcBef>
                <a:spcPts val="0"/>
              </a:spcBef>
              <a:spcAft>
                <a:spcPts val="0"/>
              </a:spcAft>
              <a:buSzPct val="85000"/>
              <a:buFont typeface="Wingdings" panose="05000000000000000000" pitchFamily="2" charset="2"/>
              <a:buChar char="u"/>
            </a:pPr>
            <a:r>
              <a:rPr lang="zh-CN" altLang="zh-CN" b="1" dirty="0">
                <a:latin typeface="微软雅黑" pitchFamily="34" charset="-122"/>
                <a:ea typeface="微软雅黑" pitchFamily="34" charset="-122"/>
              </a:rPr>
              <a:t>一条通信链路的“带宽”越宽，其所能传输的“最高数据率”也越高。</a:t>
            </a:r>
          </a:p>
        </p:txBody>
      </p:sp>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单位时间内通过某个网络（或信道、接口）的实际数据量。</a:t>
            </a:r>
            <a:endParaRPr lang="en-US" altLang="zh-CN" dirty="0"/>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en-US" altLang="zh-CN" dirty="0"/>
              <a:t>3. </a:t>
            </a:r>
            <a:r>
              <a:rPr lang="zh-CN" altLang="en-US" dirty="0"/>
              <a:t>吞吐量 </a:t>
            </a:r>
            <a:r>
              <a:rPr lang="en-US" altLang="zh-CN" dirty="0"/>
              <a:t>(throughput)</a:t>
            </a:r>
            <a:endParaRPr lang="zh-CN" altLang="en-US" dirty="0"/>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指数据（一个报文或分组，甚至比特）从网络（或链路）的一端传送到另一端所需的时间。</a:t>
            </a:r>
          </a:p>
          <a:p>
            <a:r>
              <a:rPr lang="zh-CN" altLang="en-US" dirty="0"/>
              <a:t>有时也称为延迟或迟延。</a:t>
            </a:r>
            <a:endParaRPr lang="en-US" altLang="zh-CN" dirty="0"/>
          </a:p>
          <a:p>
            <a:r>
              <a:rPr lang="zh-CN" altLang="en-US" dirty="0"/>
              <a:t>组成：</a:t>
            </a:r>
          </a:p>
          <a:p>
            <a:pPr lvl="1"/>
            <a:r>
              <a:rPr lang="zh-CN" altLang="en-US" dirty="0"/>
              <a:t>（</a:t>
            </a:r>
            <a:r>
              <a:rPr lang="en-US" altLang="zh-CN" dirty="0"/>
              <a:t>1</a:t>
            </a:r>
            <a:r>
              <a:rPr lang="zh-CN" altLang="en-US" dirty="0"/>
              <a:t>）发送时延</a:t>
            </a:r>
            <a:endParaRPr lang="en-US" altLang="zh-CN" dirty="0"/>
          </a:p>
          <a:p>
            <a:pPr lvl="1"/>
            <a:r>
              <a:rPr lang="zh-CN" altLang="en-US" dirty="0"/>
              <a:t>（</a:t>
            </a:r>
            <a:r>
              <a:rPr lang="en-US" altLang="zh-CN" dirty="0"/>
              <a:t>2</a:t>
            </a:r>
            <a:r>
              <a:rPr lang="zh-CN" altLang="en-US" dirty="0"/>
              <a:t>）传播时延</a:t>
            </a:r>
          </a:p>
          <a:p>
            <a:pPr lvl="1"/>
            <a:r>
              <a:rPr lang="zh-CN" altLang="en-US" dirty="0"/>
              <a:t>（</a:t>
            </a:r>
            <a:r>
              <a:rPr lang="en-US" altLang="zh-CN" dirty="0"/>
              <a:t>3</a:t>
            </a:r>
            <a:r>
              <a:rPr lang="zh-CN" altLang="en-US" dirty="0"/>
              <a:t>）处理时延</a:t>
            </a:r>
          </a:p>
          <a:p>
            <a:pPr lvl="1"/>
            <a:r>
              <a:rPr lang="zh-CN" altLang="en-US" dirty="0"/>
              <a:t>（</a:t>
            </a:r>
            <a:r>
              <a:rPr lang="en-US" altLang="zh-CN" dirty="0"/>
              <a:t>4</a:t>
            </a:r>
            <a:r>
              <a:rPr lang="zh-CN" altLang="en-US" dirty="0"/>
              <a:t>）排队时延</a:t>
            </a:r>
            <a:endParaRPr lang="en-US" altLang="zh-CN" dirty="0"/>
          </a:p>
          <a:p>
            <a:endParaRPr lang="zh-CN" altLang="en-US" dirty="0"/>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也称为传输时延。</a:t>
            </a:r>
          </a:p>
          <a:p>
            <a:r>
              <a:rPr lang="zh-CN" altLang="en-US" dirty="0"/>
              <a:t>是主机或路由器发送数据帧所需要的时间，也就是从发送数据帧的第一个比特算起，到该帧的最后一个比特发送完毕所需的时间。</a:t>
            </a:r>
          </a:p>
          <a:p>
            <a:endParaRPr lang="zh-CN" altLang="en-US" dirty="0"/>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a:t>
            </a:r>
            <a:r>
              <a:rPr lang="en-US" altLang="zh-CN" dirty="0"/>
              <a:t>1</a:t>
            </a:r>
            <a:r>
              <a:rPr lang="zh-CN" altLang="en-US" dirty="0"/>
              <a:t>）发送时延</a:t>
            </a:r>
          </a:p>
        </p:txBody>
      </p:sp>
      <p:sp>
        <p:nvSpPr>
          <p:cNvPr id="5" name="Rectangle 14"/>
          <p:cNvSpPr>
            <a:spLocks noChangeArrowheads="1"/>
          </p:cNvSpPr>
          <p:nvPr/>
        </p:nvSpPr>
        <p:spPr bwMode="auto">
          <a:xfrm>
            <a:off x="934391" y="2254901"/>
            <a:ext cx="6729074" cy="1225550"/>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dirty="0">
              <a:latin typeface="+mn-lt"/>
              <a:ea typeface="微软雅黑 Light" panose="020B0502040204020203" pitchFamily="34" charset="-122"/>
            </a:endParaRPr>
          </a:p>
        </p:txBody>
      </p:sp>
      <p:grpSp>
        <p:nvGrpSpPr>
          <p:cNvPr id="6" name="组合 6"/>
          <p:cNvGrpSpPr>
            <a:grpSpLocks/>
          </p:cNvGrpSpPr>
          <p:nvPr/>
        </p:nvGrpSpPr>
        <p:grpSpPr bwMode="auto">
          <a:xfrm>
            <a:off x="1591895" y="2453050"/>
            <a:ext cx="5319251" cy="847785"/>
            <a:chOff x="2539747" y="4370700"/>
            <a:chExt cx="4467381" cy="847785"/>
          </a:xfrm>
        </p:grpSpPr>
        <p:sp>
          <p:nvSpPr>
            <p:cNvPr id="7" name="Text Box 9"/>
            <p:cNvSpPr txBox="1">
              <a:spLocks noChangeArrowheads="1"/>
            </p:cNvSpPr>
            <p:nvPr/>
          </p:nvSpPr>
          <p:spPr bwMode="auto">
            <a:xfrm>
              <a:off x="2539747" y="4602475"/>
              <a:ext cx="131020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发送时延 </a:t>
              </a:r>
              <a:r>
                <a:rPr lang="en-US" altLang="zh-CN" sz="2000" b="1" dirty="0">
                  <a:solidFill>
                    <a:srgbClr val="000066"/>
                  </a:solidFill>
                  <a:latin typeface="微软雅黑" pitchFamily="34" charset="-122"/>
                  <a:ea typeface="微软雅黑" pitchFamily="34" charset="-122"/>
                </a:rPr>
                <a:t>= </a:t>
              </a:r>
            </a:p>
          </p:txBody>
        </p:sp>
        <p:sp>
          <p:nvSpPr>
            <p:cNvPr id="8" name="Text Box 10"/>
            <p:cNvSpPr txBox="1">
              <a:spLocks noChangeArrowheads="1"/>
            </p:cNvSpPr>
            <p:nvPr/>
          </p:nvSpPr>
          <p:spPr bwMode="auto">
            <a:xfrm>
              <a:off x="4333881" y="4370700"/>
              <a:ext cx="195911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数据帧长度（</a:t>
              </a:r>
              <a:r>
                <a:rPr lang="en-US" altLang="zh-CN" sz="2000" b="1" dirty="0">
                  <a:solidFill>
                    <a:srgbClr val="000066"/>
                  </a:solidFill>
                  <a:latin typeface="微软雅黑" pitchFamily="34" charset="-122"/>
                  <a:ea typeface="微软雅黑" pitchFamily="34" charset="-122"/>
                </a:rPr>
                <a:t>bit</a:t>
              </a:r>
              <a:r>
                <a:rPr lang="zh-CN" altLang="en-US" sz="2000" b="1" dirty="0">
                  <a:solidFill>
                    <a:srgbClr val="000066"/>
                  </a:solidFill>
                  <a:latin typeface="微软雅黑" pitchFamily="34" charset="-122"/>
                  <a:ea typeface="微软雅黑" pitchFamily="34" charset="-122"/>
                </a:rPr>
                <a:t>）</a:t>
              </a:r>
            </a:p>
          </p:txBody>
        </p:sp>
        <p:sp>
          <p:nvSpPr>
            <p:cNvPr id="9" name="Text Box 11"/>
            <p:cNvSpPr txBox="1">
              <a:spLocks noChangeArrowheads="1"/>
            </p:cNvSpPr>
            <p:nvPr/>
          </p:nvSpPr>
          <p:spPr bwMode="auto">
            <a:xfrm>
              <a:off x="4337429" y="4818375"/>
              <a:ext cx="1952379"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发送速率（</a:t>
              </a:r>
              <a:r>
                <a:rPr lang="en-US" altLang="zh-CN" sz="2000" b="1" dirty="0">
                  <a:solidFill>
                    <a:srgbClr val="000066"/>
                  </a:solidFill>
                  <a:latin typeface="微软雅黑" pitchFamily="34" charset="-122"/>
                  <a:ea typeface="微软雅黑" pitchFamily="34" charset="-122"/>
                </a:rPr>
                <a:t>bit/s</a:t>
              </a:r>
              <a:r>
                <a:rPr lang="zh-CN" altLang="en-US" sz="2000" b="1" dirty="0">
                  <a:solidFill>
                    <a:srgbClr val="000066"/>
                  </a:solidFill>
                  <a:latin typeface="微软雅黑" pitchFamily="34" charset="-122"/>
                  <a:ea typeface="微软雅黑" pitchFamily="34" charset="-122"/>
                </a:rPr>
                <a:t>）</a:t>
              </a:r>
            </a:p>
          </p:txBody>
        </p:sp>
        <p:sp>
          <p:nvSpPr>
            <p:cNvPr id="10" name="Line 12"/>
            <p:cNvSpPr>
              <a:spLocks noChangeShapeType="1"/>
            </p:cNvSpPr>
            <p:nvPr/>
          </p:nvSpPr>
          <p:spPr bwMode="auto">
            <a:xfrm>
              <a:off x="3780428" y="4805675"/>
              <a:ext cx="3226700"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Times New Roman" panose="02020603050405020304" pitchFamily="18" charset="0"/>
                <a:ea typeface="微软雅黑 Light" panose="020B0502040204020203" pitchFamily="34" charset="-122"/>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normAutofit/>
          </a:bodyPr>
          <a:lstStyle/>
          <a:p>
            <a:r>
              <a:rPr lang="zh-CN" altLang="en-US" dirty="0"/>
              <a:t>是电磁波在信道中传播一定的距离需要花费的时间。</a:t>
            </a:r>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zh-CN" altLang="en-US" dirty="0"/>
              <a:t>ⅹ</a:t>
            </a:r>
            <a:r>
              <a:rPr lang="en-US" altLang="zh-CN" dirty="0"/>
              <a:t> 105 km/s</a:t>
            </a:r>
          </a:p>
          <a:p>
            <a:pPr lvl="1"/>
            <a:r>
              <a:rPr lang="zh-CN" altLang="en-US" dirty="0"/>
              <a:t>在铜线电缆中的传播速率约 </a:t>
            </a:r>
            <a:r>
              <a:rPr lang="en-US" altLang="zh-CN" dirty="0"/>
              <a:t>= 2.3 </a:t>
            </a:r>
            <a:r>
              <a:rPr lang="zh-CN" altLang="en-US" dirty="0"/>
              <a:t>ⅹ</a:t>
            </a:r>
            <a:r>
              <a:rPr lang="en-US" altLang="zh-CN" dirty="0"/>
              <a:t> 105 km/s</a:t>
            </a:r>
          </a:p>
          <a:p>
            <a:pPr lvl="1"/>
            <a:r>
              <a:rPr lang="zh-CN" altLang="en-US" dirty="0"/>
              <a:t>在光纤中的传播速率约 </a:t>
            </a:r>
            <a:r>
              <a:rPr lang="en-US" altLang="zh-CN" dirty="0"/>
              <a:t>=</a:t>
            </a:r>
            <a:r>
              <a:rPr lang="zh-CN" altLang="en-US" dirty="0"/>
              <a:t> </a:t>
            </a:r>
            <a:r>
              <a:rPr lang="en-US" altLang="zh-CN" dirty="0"/>
              <a:t>2.0 </a:t>
            </a:r>
            <a:r>
              <a:rPr lang="zh-CN" altLang="en-US" dirty="0"/>
              <a:t>ⅹ </a:t>
            </a:r>
            <a:r>
              <a:rPr lang="en-US" altLang="zh-CN" dirty="0"/>
              <a:t>105 km/s</a:t>
            </a:r>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a:t>
            </a:r>
            <a:r>
              <a:rPr lang="en-US" altLang="zh-CN" dirty="0"/>
              <a:t>2</a:t>
            </a:r>
            <a:r>
              <a:rPr lang="zh-CN" altLang="en-US" dirty="0"/>
              <a:t>）传播时延</a:t>
            </a:r>
          </a:p>
        </p:txBody>
      </p:sp>
      <p:sp>
        <p:nvSpPr>
          <p:cNvPr id="12" name="Rectangle 14"/>
          <p:cNvSpPr>
            <a:spLocks noChangeArrowheads="1"/>
          </p:cNvSpPr>
          <p:nvPr/>
        </p:nvSpPr>
        <p:spPr bwMode="auto">
          <a:xfrm>
            <a:off x="1012844" y="1515743"/>
            <a:ext cx="7103543" cy="1225550"/>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dirty="0">
              <a:latin typeface="+mn-lt"/>
              <a:ea typeface="微软雅黑 Light" panose="020B0502040204020203" pitchFamily="34" charset="-122"/>
            </a:endParaRPr>
          </a:p>
        </p:txBody>
      </p:sp>
      <p:grpSp>
        <p:nvGrpSpPr>
          <p:cNvPr id="13" name="组合 13"/>
          <p:cNvGrpSpPr>
            <a:grpSpLocks/>
          </p:cNvGrpSpPr>
          <p:nvPr/>
        </p:nvGrpSpPr>
        <p:grpSpPr bwMode="auto">
          <a:xfrm>
            <a:off x="1443748" y="1677408"/>
            <a:ext cx="6399421" cy="857019"/>
            <a:chOff x="2196085" y="4343452"/>
            <a:chExt cx="5374557" cy="857019"/>
          </a:xfrm>
        </p:grpSpPr>
        <p:sp>
          <p:nvSpPr>
            <p:cNvPr id="14" name="Text Box 9"/>
            <p:cNvSpPr txBox="1">
              <a:spLocks noChangeArrowheads="1"/>
            </p:cNvSpPr>
            <p:nvPr/>
          </p:nvSpPr>
          <p:spPr bwMode="auto">
            <a:xfrm>
              <a:off x="2196085" y="4554685"/>
              <a:ext cx="131020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66"/>
                  </a:solidFill>
                  <a:latin typeface="微软雅黑" pitchFamily="34" charset="-122"/>
                  <a:ea typeface="微软雅黑" pitchFamily="34" charset="-122"/>
                </a:rPr>
                <a:t>传播时延 </a:t>
              </a:r>
              <a:r>
                <a:rPr lang="en-US" altLang="zh-CN" sz="2000" b="1" dirty="0">
                  <a:solidFill>
                    <a:srgbClr val="000066"/>
                  </a:solidFill>
                  <a:latin typeface="微软雅黑" pitchFamily="34" charset="-122"/>
                  <a:ea typeface="微软雅黑" pitchFamily="34" charset="-122"/>
                </a:rPr>
                <a:t>= </a:t>
              </a:r>
            </a:p>
          </p:txBody>
        </p:sp>
        <p:sp>
          <p:nvSpPr>
            <p:cNvPr id="15" name="Text Box 10"/>
            <p:cNvSpPr txBox="1">
              <a:spLocks noChangeArrowheads="1"/>
            </p:cNvSpPr>
            <p:nvPr/>
          </p:nvSpPr>
          <p:spPr bwMode="auto">
            <a:xfrm>
              <a:off x="4527837" y="4343452"/>
              <a:ext cx="1662928"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rgbClr val="000066"/>
                  </a:solidFill>
                  <a:latin typeface="微软雅黑" pitchFamily="34" charset="-122"/>
                  <a:ea typeface="微软雅黑" pitchFamily="34" charset="-122"/>
                </a:rPr>
                <a:t>信道长度（米）</a:t>
              </a:r>
            </a:p>
          </p:txBody>
        </p:sp>
        <p:sp>
          <p:nvSpPr>
            <p:cNvPr id="16" name="Text Box 11"/>
            <p:cNvSpPr txBox="1">
              <a:spLocks noChangeArrowheads="1"/>
            </p:cNvSpPr>
            <p:nvPr/>
          </p:nvSpPr>
          <p:spPr bwMode="auto">
            <a:xfrm>
              <a:off x="3429460" y="4800361"/>
              <a:ext cx="4141182"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a:solidFill>
                    <a:srgbClr val="000066"/>
                  </a:solidFill>
                  <a:latin typeface="微软雅黑" pitchFamily="34" charset="-122"/>
                  <a:ea typeface="微软雅黑" pitchFamily="34" charset="-122"/>
                </a:rPr>
                <a:t>信号在信道上的传播速率（米</a:t>
              </a:r>
              <a:r>
                <a:rPr lang="en-US" altLang="zh-CN" sz="2000" b="1">
                  <a:solidFill>
                    <a:srgbClr val="000066"/>
                  </a:solidFill>
                  <a:latin typeface="微软雅黑" pitchFamily="34" charset="-122"/>
                  <a:ea typeface="微软雅黑" pitchFamily="34" charset="-122"/>
                </a:rPr>
                <a:t>/</a:t>
              </a:r>
              <a:r>
                <a:rPr lang="zh-CN" altLang="en-US" sz="2000" b="1">
                  <a:solidFill>
                    <a:srgbClr val="000066"/>
                  </a:solidFill>
                  <a:latin typeface="微软雅黑" pitchFamily="34" charset="-122"/>
                  <a:ea typeface="微软雅黑" pitchFamily="34" charset="-122"/>
                </a:rPr>
                <a:t>秒）</a:t>
              </a:r>
            </a:p>
          </p:txBody>
        </p:sp>
        <p:sp>
          <p:nvSpPr>
            <p:cNvPr id="17" name="Line 12"/>
            <p:cNvSpPr>
              <a:spLocks noChangeShapeType="1"/>
            </p:cNvSpPr>
            <p:nvPr/>
          </p:nvSpPr>
          <p:spPr bwMode="auto">
            <a:xfrm>
              <a:off x="3429459" y="4759955"/>
              <a:ext cx="3842413"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Times New Roman" panose="02020603050405020304" pitchFamily="18" charset="0"/>
                <a:ea typeface="微软雅黑 Light" panose="020B0502040204020203" pitchFamily="34" charset="-122"/>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pPr lvl="1"/>
            <a:r>
              <a:rPr lang="zh-CN" altLang="en-US" dirty="0"/>
              <a:t>注意：发送时延与传播时延</a:t>
            </a:r>
            <a:r>
              <a:rPr lang="zh-CN" altLang="zh-CN" dirty="0"/>
              <a:t>有本质上的不同</a:t>
            </a:r>
            <a:r>
              <a:rPr lang="zh-CN" altLang="en-US" dirty="0"/>
              <a:t>。</a:t>
            </a:r>
            <a:endParaRPr lang="en-US" altLang="zh-CN" dirty="0"/>
          </a:p>
          <a:p>
            <a:pPr lvl="1"/>
            <a:r>
              <a:rPr lang="zh-CN" altLang="en-US" dirty="0"/>
              <a:t>发送时延发生在机器内部的发送器中，与传输信道的长度（或信号传送的距离）没有任何关系。</a:t>
            </a:r>
            <a:endParaRPr lang="en-US" altLang="zh-CN" dirty="0"/>
          </a:p>
          <a:p>
            <a:pPr lvl="1"/>
            <a:r>
              <a:rPr lang="zh-CN" altLang="en-US" dirty="0"/>
              <a:t>传播时延则发生在机器外部的传输信道媒体上，而与信号的发送速率无关。信号传送的距离越远，传播时延就越大。</a:t>
            </a:r>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a:t>
            </a:r>
            <a:r>
              <a:rPr lang="en-US" altLang="zh-CN" dirty="0"/>
              <a:t>2</a:t>
            </a:r>
            <a:r>
              <a:rPr lang="zh-CN" altLang="en-US" dirty="0"/>
              <a:t>）传播时延</a:t>
            </a:r>
          </a:p>
        </p:txBody>
      </p:sp>
    </p:spTree>
    <p:extLst>
      <p:ext uri="{BB962C8B-B14F-4D97-AF65-F5344CB8AC3E}">
        <p14:creationId xmlns:p14="http://schemas.microsoft.com/office/powerpoint/2010/main" val="183324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zh-CN" altLang="en-US" dirty="0"/>
              <a:t>（</a:t>
            </a:r>
            <a:r>
              <a:rPr lang="en-US" altLang="zh-CN" dirty="0"/>
              <a:t>3</a:t>
            </a:r>
            <a:r>
              <a:rPr lang="zh-CN" altLang="en-US" dirty="0"/>
              <a:t>）处理时延</a:t>
            </a:r>
            <a:endParaRPr lang="en-US" altLang="zh-CN" dirty="0"/>
          </a:p>
          <a:p>
            <a:pPr lvl="1"/>
            <a:r>
              <a:rPr lang="zh-CN" altLang="en-US" dirty="0"/>
              <a:t>主机或路由器在收到分组时，为处理分组（例如分析首部、提取数据、差错检验或查找路由）所花费的时间。 </a:t>
            </a:r>
          </a:p>
          <a:p>
            <a:r>
              <a:rPr lang="zh-CN" altLang="en-US" dirty="0"/>
              <a:t>（</a:t>
            </a:r>
            <a:r>
              <a:rPr lang="en-US" altLang="zh-CN" dirty="0"/>
              <a:t>4</a:t>
            </a:r>
            <a:r>
              <a:rPr lang="zh-CN" altLang="en-US" dirty="0"/>
              <a:t>）排队时延</a:t>
            </a:r>
            <a:endParaRPr lang="en-US" altLang="zh-CN" dirty="0"/>
          </a:p>
          <a:p>
            <a:pPr lvl="1"/>
            <a:r>
              <a:rPr lang="zh-CN" altLang="en-US" dirty="0"/>
              <a:t>分组在路由器输入输出队列中排队等待处理和转发所经历的时延。</a:t>
            </a:r>
          </a:p>
          <a:p>
            <a:pPr lvl="1"/>
            <a:r>
              <a:rPr lang="zh-CN" altLang="en-US" dirty="0"/>
              <a:t>排队时延的长短往往取决于网络中当时的通信量。当网络的通信量很大时会发生队列溢出，使分组丢失，这相当于排队时延为无穷大。</a:t>
            </a:r>
            <a:endParaRPr lang="en-US" altLang="zh-CN" dirty="0"/>
          </a:p>
          <a:p>
            <a:pPr lvl="1"/>
            <a:endParaRPr lang="zh-CN" altLang="en-US" dirty="0"/>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a:t>
            </a:r>
            <a:r>
              <a:rPr lang="en-US" altLang="zh-CN" dirty="0"/>
              <a:t>3</a:t>
            </a:r>
            <a:r>
              <a:rPr lang="zh-CN" altLang="en-US" dirty="0"/>
              <a:t>）处理时延 和（</a:t>
            </a:r>
            <a:r>
              <a:rPr lang="en-US" altLang="zh-CN" dirty="0"/>
              <a:t>4</a:t>
            </a:r>
            <a:r>
              <a:rPr lang="zh-CN" altLang="en-US" dirty="0"/>
              <a:t>）排队时延</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endParaRPr lang="en-US" altLang="zh-CN" dirty="0"/>
          </a:p>
          <a:p>
            <a:endParaRPr lang="en-US" altLang="zh-CN" dirty="0"/>
          </a:p>
          <a:p>
            <a:endParaRPr lang="zh-CN" altLang="en-US" dirty="0"/>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en-US" altLang="zh-CN" dirty="0"/>
              <a:t>4. </a:t>
            </a:r>
            <a:r>
              <a:rPr lang="zh-CN" altLang="en-US" dirty="0"/>
              <a:t>时延 </a:t>
            </a:r>
            <a:r>
              <a:rPr lang="en-US" altLang="zh-CN" dirty="0"/>
              <a:t>(delay </a:t>
            </a:r>
            <a:r>
              <a:rPr lang="zh-CN" altLang="en-US" dirty="0"/>
              <a:t>或 </a:t>
            </a:r>
            <a:r>
              <a:rPr lang="en-US" altLang="zh-CN" dirty="0"/>
              <a:t>latency)</a:t>
            </a:r>
            <a:endParaRPr lang="zh-CN" altLang="en-US" dirty="0"/>
          </a:p>
        </p:txBody>
      </p:sp>
      <p:sp>
        <p:nvSpPr>
          <p:cNvPr id="5" name="Rectangle 14"/>
          <p:cNvSpPr>
            <a:spLocks noChangeArrowheads="1"/>
          </p:cNvSpPr>
          <p:nvPr/>
        </p:nvSpPr>
        <p:spPr bwMode="auto">
          <a:xfrm>
            <a:off x="1116558" y="1239333"/>
            <a:ext cx="7147875" cy="815892"/>
          </a:xfrm>
          <a:prstGeom prst="rect">
            <a:avLst/>
          </a:prstGeom>
          <a:solidFill>
            <a:srgbClr val="FFFF99"/>
          </a:solidFill>
          <a:ln w="12700">
            <a:solidFill>
              <a:srgbClr val="000066"/>
            </a:solidFill>
            <a:headEnd/>
            <a:tailEnd/>
          </a:ln>
        </p:spPr>
        <p:style>
          <a:lnRef idx="2">
            <a:schemeClr val="accent1"/>
          </a:lnRef>
          <a:fillRef idx="1">
            <a:schemeClr val="lt1"/>
          </a:fillRef>
          <a:effectRef idx="0">
            <a:schemeClr val="accent1"/>
          </a:effectRef>
          <a:fontRef idx="minor">
            <a:schemeClr val="dk1"/>
          </a:fontRef>
        </p:style>
        <p:txBody>
          <a:bodyPr wrap="none" anchor="ctr"/>
          <a:lstStyle/>
          <a:p>
            <a:pPr fontAlgn="auto">
              <a:spcBef>
                <a:spcPts val="0"/>
              </a:spcBef>
              <a:spcAft>
                <a:spcPts val="0"/>
              </a:spcAft>
              <a:defRPr/>
            </a:pPr>
            <a:endParaRPr lang="zh-CN" altLang="en-US" sz="2000" b="1" dirty="0">
              <a:solidFill>
                <a:schemeClr val="tx1"/>
              </a:solidFill>
              <a:latin typeface="+mn-lt"/>
              <a:ea typeface="微软雅黑 Light" panose="020B0502040204020203" pitchFamily="34" charset="-122"/>
            </a:endParaRPr>
          </a:p>
        </p:txBody>
      </p:sp>
      <p:sp>
        <p:nvSpPr>
          <p:cNvPr id="6" name="矩形 13"/>
          <p:cNvSpPr>
            <a:spLocks noChangeArrowheads="1"/>
          </p:cNvSpPr>
          <p:nvPr/>
        </p:nvSpPr>
        <p:spPr bwMode="auto">
          <a:xfrm>
            <a:off x="1410578" y="1454755"/>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
        <p:nvSpPr>
          <p:cNvPr id="4" name="矩形 3"/>
          <p:cNvSpPr/>
          <p:nvPr/>
        </p:nvSpPr>
        <p:spPr>
          <a:xfrm>
            <a:off x="2062069" y="3426545"/>
            <a:ext cx="4727219" cy="759182"/>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zh-CN" b="1" dirty="0">
                <a:latin typeface="微软雅黑" pitchFamily="34" charset="-122"/>
                <a:ea typeface="微软雅黑" pitchFamily="34" charset="-122"/>
              </a:rPr>
              <a:t>必须指出，在总时延中，究竟是哪一种时延</a:t>
            </a:r>
            <a:r>
              <a:rPr lang="zh-CN" altLang="zh-CN" b="1" dirty="0">
                <a:solidFill>
                  <a:srgbClr val="0000CC"/>
                </a:solidFill>
                <a:latin typeface="微软雅黑" pitchFamily="34" charset="-122"/>
                <a:ea typeface="微软雅黑" pitchFamily="34" charset="-122"/>
              </a:rPr>
              <a:t>占主导地位</a:t>
            </a:r>
            <a:r>
              <a:rPr lang="zh-CN" altLang="zh-CN" b="1" dirty="0">
                <a:latin typeface="微软雅黑" pitchFamily="34" charset="-122"/>
                <a:ea typeface="微软雅黑" pitchFamily="34" charset="-122"/>
              </a:rPr>
              <a:t>，必须具体分析</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775063" y="1008593"/>
            <a:ext cx="7323908" cy="298355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108551" name="Rectangle 7"/>
          <p:cNvSpPr>
            <a:spLocks noChangeArrowheads="1"/>
          </p:cNvSpPr>
          <p:nvPr/>
        </p:nvSpPr>
        <p:spPr bwMode="auto">
          <a:xfrm>
            <a:off x="3006696" y="3030623"/>
            <a:ext cx="3849687"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1200" b="1" dirty="0">
              <a:latin typeface="+mn-lt"/>
              <a:ea typeface="微软雅黑 Light" panose="020B0502040204020203" pitchFamily="34" charset="-122"/>
            </a:endParaRPr>
          </a:p>
        </p:txBody>
      </p:sp>
      <p:sp>
        <p:nvSpPr>
          <p:cNvPr id="108555" name="Oval 10"/>
          <p:cNvSpPr>
            <a:spLocks noChangeArrowheads="1"/>
          </p:cNvSpPr>
          <p:nvPr/>
        </p:nvSpPr>
        <p:spPr bwMode="auto">
          <a:xfrm>
            <a:off x="6792883" y="2687723"/>
            <a:ext cx="947738" cy="855662"/>
          </a:xfrm>
          <a:prstGeom prst="ellipse">
            <a:avLst/>
          </a:prstGeom>
          <a:gradFill rotWithShape="1">
            <a:gsLst>
              <a:gs pos="0">
                <a:srgbClr val="85D1F7"/>
              </a:gs>
              <a:gs pos="100000">
                <a:srgbClr val="0070C0"/>
              </a:gs>
            </a:gsLst>
            <a:path path="shape">
              <a:fillToRect l="50000" t="50000" r="50000" b="50000"/>
            </a:path>
          </a:gradFill>
          <a:ln w="9525">
            <a:solidFill>
              <a:schemeClr val="folHlink"/>
            </a:solidFill>
            <a:round/>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grpSp>
        <p:nvGrpSpPr>
          <p:cNvPr id="108556" name="Group 11"/>
          <p:cNvGrpSpPr>
            <a:grpSpLocks/>
          </p:cNvGrpSpPr>
          <p:nvPr/>
        </p:nvGrpSpPr>
        <p:grpSpPr bwMode="auto">
          <a:xfrm>
            <a:off x="2374871" y="2949660"/>
            <a:ext cx="504825" cy="295275"/>
            <a:chOff x="1567" y="1056"/>
            <a:chExt cx="384" cy="336"/>
          </a:xfrm>
        </p:grpSpPr>
        <p:sp>
          <p:nvSpPr>
            <p:cNvPr id="11" name="Rectangle 12"/>
            <p:cNvSpPr>
              <a:spLocks noChangeArrowheads="1"/>
            </p:cNvSpPr>
            <p:nvPr/>
          </p:nvSpPr>
          <p:spPr bwMode="auto">
            <a:xfrm>
              <a:off x="1664" y="1056"/>
              <a:ext cx="287" cy="336"/>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微软雅黑 Light" panose="020B0502040204020203" pitchFamily="34" charset="-122"/>
              </a:endParaRPr>
            </a:p>
          </p:txBody>
        </p:sp>
        <p:sp>
          <p:nvSpPr>
            <p:cNvPr id="108579" name="Freeform 13"/>
            <p:cNvSpPr>
              <a:spLocks/>
            </p:cNvSpPr>
            <p:nvPr/>
          </p:nvSpPr>
          <p:spPr bwMode="auto">
            <a:xfrm>
              <a:off x="1567" y="1056"/>
              <a:ext cx="384" cy="336"/>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0" name="Line 14"/>
            <p:cNvSpPr>
              <a:spLocks noChangeShapeType="1"/>
            </p:cNvSpPr>
            <p:nvPr/>
          </p:nvSpPr>
          <p:spPr bwMode="auto">
            <a:xfrm>
              <a:off x="1855"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1" name="Line 15"/>
            <p:cNvSpPr>
              <a:spLocks noChangeShapeType="1"/>
            </p:cNvSpPr>
            <p:nvPr/>
          </p:nvSpPr>
          <p:spPr bwMode="auto">
            <a:xfrm>
              <a:off x="1759"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82" name="Line 16"/>
            <p:cNvSpPr>
              <a:spLocks noChangeShapeType="1"/>
            </p:cNvSpPr>
            <p:nvPr/>
          </p:nvSpPr>
          <p:spPr bwMode="auto">
            <a:xfrm>
              <a:off x="1663" y="1056"/>
              <a:ext cx="0" cy="336"/>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59" name="AutoShape 21"/>
          <p:cNvSpPr>
            <a:spLocks noChangeArrowheads="1"/>
          </p:cNvSpPr>
          <p:nvPr/>
        </p:nvSpPr>
        <p:spPr bwMode="auto">
          <a:xfrm>
            <a:off x="3448021" y="3063960"/>
            <a:ext cx="882650" cy="114300"/>
          </a:xfrm>
          <a:prstGeom prst="rightArrow">
            <a:avLst>
              <a:gd name="adj1" fmla="val 50000"/>
              <a:gd name="adj2" fmla="val 178219"/>
            </a:avLst>
          </a:prstGeom>
          <a:solidFill>
            <a:srgbClr val="FFCC00"/>
          </a:solidFill>
          <a:ln>
            <a:solidFill>
              <a:srgbClr val="000066"/>
            </a:solid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0" name="AutoShape 26"/>
          <p:cNvSpPr>
            <a:spLocks noChangeArrowheads="1"/>
          </p:cNvSpPr>
          <p:nvPr/>
        </p:nvSpPr>
        <p:spPr bwMode="auto">
          <a:xfrm>
            <a:off x="1703358" y="3063960"/>
            <a:ext cx="795338" cy="114300"/>
          </a:xfrm>
          <a:prstGeom prst="rightArrow">
            <a:avLst>
              <a:gd name="adj1" fmla="val 50000"/>
              <a:gd name="adj2" fmla="val 178436"/>
            </a:avLst>
          </a:prstGeom>
          <a:solidFill>
            <a:srgbClr val="FFCC00"/>
          </a:solidFill>
          <a:ln>
            <a:solidFill>
              <a:srgbClr val="000066"/>
            </a:solid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1" name="AutoShape 27"/>
          <p:cNvSpPr>
            <a:spLocks noChangeArrowheads="1"/>
          </p:cNvSpPr>
          <p:nvPr/>
        </p:nvSpPr>
        <p:spPr bwMode="auto">
          <a:xfrm>
            <a:off x="6313458" y="3059198"/>
            <a:ext cx="882650" cy="112712"/>
          </a:xfrm>
          <a:prstGeom prst="rightArrow">
            <a:avLst>
              <a:gd name="adj1" fmla="val 50000"/>
              <a:gd name="adj2" fmla="val 180730"/>
            </a:avLst>
          </a:prstGeom>
          <a:solidFill>
            <a:srgbClr val="FFCC00"/>
          </a:solidFill>
          <a:ln>
            <a:solidFill>
              <a:srgbClr val="000066"/>
            </a:solidFill>
          </a:ln>
        </p:spPr>
        <p:txBody>
          <a:bodyPr wrap="none" anchor="ctr"/>
          <a:lstStyle/>
          <a:p>
            <a:endParaRPr lang="zh-CN" altLang="en-US" sz="1200" b="1" dirty="0">
              <a:latin typeface="Times New Roman" panose="02020603050405020304" pitchFamily="18" charset="0"/>
              <a:ea typeface="微软雅黑 Light" panose="020B0502040204020203" pitchFamily="34" charset="-122"/>
            </a:endParaRPr>
          </a:p>
        </p:txBody>
      </p:sp>
      <p:sp>
        <p:nvSpPr>
          <p:cNvPr id="108563" name="Text Box 29"/>
          <p:cNvSpPr txBox="1">
            <a:spLocks noChangeArrowheads="1"/>
          </p:cNvSpPr>
          <p:nvPr/>
        </p:nvSpPr>
        <p:spPr bwMode="auto">
          <a:xfrm>
            <a:off x="5473671" y="288298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en-US" altLang="zh-CN" sz="2000" b="1" dirty="0">
                <a:latin typeface="Times New Roman" panose="02020603050405020304" pitchFamily="18" charset="0"/>
                <a:ea typeface="微软雅黑 Light" panose="020B0502040204020203" pitchFamily="34" charset="-122"/>
              </a:rPr>
              <a:t>…</a:t>
            </a:r>
          </a:p>
        </p:txBody>
      </p:sp>
      <p:sp>
        <p:nvSpPr>
          <p:cNvPr id="108564" name="Text Box 32"/>
          <p:cNvSpPr txBox="1">
            <a:spLocks noChangeArrowheads="1"/>
          </p:cNvSpPr>
          <p:nvPr/>
        </p:nvSpPr>
        <p:spPr bwMode="auto">
          <a:xfrm>
            <a:off x="3273396" y="337193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发送器</a:t>
            </a:r>
          </a:p>
        </p:txBody>
      </p:sp>
      <p:sp>
        <p:nvSpPr>
          <p:cNvPr id="108565" name="Text Box 34"/>
          <p:cNvSpPr txBox="1">
            <a:spLocks noChangeArrowheads="1"/>
          </p:cNvSpPr>
          <p:nvPr/>
        </p:nvSpPr>
        <p:spPr bwMode="auto">
          <a:xfrm>
            <a:off x="2389158" y="3217992"/>
            <a:ext cx="558800" cy="3190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latin typeface="Times New Roman" panose="02020603050405020304" pitchFamily="18" charset="0"/>
                <a:ea typeface="微软雅黑 Light" panose="020B0502040204020203" pitchFamily="34" charset="-122"/>
              </a:rPr>
              <a:t>队列</a:t>
            </a:r>
          </a:p>
        </p:txBody>
      </p:sp>
      <p:grpSp>
        <p:nvGrpSpPr>
          <p:cNvPr id="25" name="Group 45"/>
          <p:cNvGrpSpPr>
            <a:grpSpLocks/>
          </p:cNvGrpSpPr>
          <p:nvPr/>
        </p:nvGrpSpPr>
        <p:grpSpPr bwMode="auto">
          <a:xfrm>
            <a:off x="5110637" y="1883843"/>
            <a:ext cx="1644048" cy="1037594"/>
            <a:chOff x="3363" y="1933"/>
            <a:chExt cx="1486" cy="1016"/>
          </a:xfrm>
          <a:solidFill>
            <a:srgbClr val="0070C0"/>
          </a:solidFill>
        </p:grpSpPr>
        <p:sp>
          <p:nvSpPr>
            <p:cNvPr id="26" name="Line 33"/>
            <p:cNvSpPr>
              <a:spLocks noChangeShapeType="1"/>
            </p:cNvSpPr>
            <p:nvPr/>
          </p:nvSpPr>
          <p:spPr bwMode="auto">
            <a:xfrm flipH="1">
              <a:off x="3363" y="2369"/>
              <a:ext cx="322" cy="580"/>
            </a:xfrm>
            <a:prstGeom prst="line">
              <a:avLst/>
            </a:prstGeom>
            <a:grp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ln>
                  <a:solidFill>
                    <a:srgbClr val="993300"/>
                  </a:solidFill>
                </a:ln>
                <a:solidFill>
                  <a:schemeClr val="accent3"/>
                </a:solidFill>
                <a:latin typeface="微软雅黑" pitchFamily="34" charset="-122"/>
                <a:ea typeface="微软雅黑" pitchFamily="34" charset="-122"/>
              </a:endParaRPr>
            </a:p>
          </p:txBody>
        </p:sp>
        <p:sp>
          <p:nvSpPr>
            <p:cNvPr id="27" name="Text Box 36"/>
            <p:cNvSpPr txBox="1">
              <a:spLocks noChangeArrowheads="1"/>
            </p:cNvSpPr>
            <p:nvPr/>
          </p:nvSpPr>
          <p:spPr bwMode="auto">
            <a:xfrm>
              <a:off x="3506" y="1933"/>
              <a:ext cx="1343" cy="512"/>
            </a:xfrm>
            <a:prstGeom prst="rect">
              <a:avLst/>
            </a:prstGeom>
            <a:solidFill>
              <a:srgbClr val="6633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在链路上产生</a:t>
              </a:r>
            </a:p>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传播时延</a:t>
              </a:r>
            </a:p>
          </p:txBody>
        </p:sp>
      </p:grpSp>
      <p:sp>
        <p:nvSpPr>
          <p:cNvPr id="108567" name="Text Box 37"/>
          <p:cNvSpPr txBox="1">
            <a:spLocks noChangeArrowheads="1"/>
          </p:cNvSpPr>
          <p:nvPr/>
        </p:nvSpPr>
        <p:spPr bwMode="auto">
          <a:xfrm>
            <a:off x="6891308" y="3560076"/>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8568" name="Text Box 38"/>
          <p:cNvSpPr txBox="1">
            <a:spLocks noChangeArrowheads="1"/>
          </p:cNvSpPr>
          <p:nvPr/>
        </p:nvSpPr>
        <p:spPr bwMode="auto">
          <a:xfrm>
            <a:off x="2208866" y="3555536"/>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nvGrpSpPr>
          <p:cNvPr id="30" name="Group 44"/>
          <p:cNvGrpSpPr>
            <a:grpSpLocks/>
          </p:cNvGrpSpPr>
          <p:nvPr/>
        </p:nvGrpSpPr>
        <p:grpSpPr bwMode="auto">
          <a:xfrm>
            <a:off x="2987414" y="1728274"/>
            <a:ext cx="2027954" cy="1379714"/>
            <a:chOff x="1118" y="1781"/>
            <a:chExt cx="1833" cy="1351"/>
          </a:xfrm>
          <a:solidFill>
            <a:srgbClr val="0070C0"/>
          </a:solidFill>
        </p:grpSpPr>
        <p:sp>
          <p:nvSpPr>
            <p:cNvPr id="32" name="Line 40"/>
            <p:cNvSpPr>
              <a:spLocks noChangeShapeType="1"/>
            </p:cNvSpPr>
            <p:nvPr/>
          </p:nvSpPr>
          <p:spPr bwMode="auto">
            <a:xfrm flipH="1">
              <a:off x="1118" y="2195"/>
              <a:ext cx="122" cy="937"/>
            </a:xfrm>
            <a:prstGeom prst="line">
              <a:avLst/>
            </a:prstGeom>
            <a:grpFill/>
            <a:ln w="28575">
              <a:solidFill>
                <a:srgbClr val="993300"/>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600" b="1">
                <a:solidFill>
                  <a:schemeClr val="accent3"/>
                </a:solidFill>
                <a:latin typeface="微软雅黑" pitchFamily="34" charset="-122"/>
                <a:ea typeface="微软雅黑" pitchFamily="34" charset="-122"/>
              </a:endParaRPr>
            </a:p>
          </p:txBody>
        </p:sp>
        <p:sp>
          <p:nvSpPr>
            <p:cNvPr id="31" name="Text Box 24"/>
            <p:cNvSpPr txBox="1">
              <a:spLocks noChangeArrowheads="1"/>
            </p:cNvSpPr>
            <p:nvPr/>
          </p:nvSpPr>
          <p:spPr bwMode="auto">
            <a:xfrm>
              <a:off x="1161" y="1781"/>
              <a:ext cx="1790" cy="512"/>
            </a:xfrm>
            <a:prstGeom prst="rect">
              <a:avLst/>
            </a:prstGeom>
            <a:solidFill>
              <a:srgbClr val="006600"/>
            </a:solidFill>
            <a:ln w="76200" cmpd="tri">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fontAlgn="auto">
                <a:spcBef>
                  <a:spcPts val="0"/>
                </a:spcBef>
                <a:spcAft>
                  <a:spcPts val="0"/>
                </a:spcAft>
                <a:defRPr/>
              </a:pPr>
              <a:r>
                <a:rPr kumimoji="1" lang="zh-CN" altLang="en-US" sz="1400" b="1" dirty="0">
                  <a:solidFill>
                    <a:schemeClr val="bg1"/>
                  </a:solidFill>
                  <a:latin typeface="微软雅黑" pitchFamily="34" charset="-122"/>
                  <a:ea typeface="微软雅黑" pitchFamily="34" charset="-122"/>
                </a:rPr>
                <a:t>在发送器产生发送时延</a:t>
              </a:r>
            </a:p>
            <a:p>
              <a:pPr algn="ctr" fontAlgn="auto">
                <a:spcBef>
                  <a:spcPts val="0"/>
                </a:spcBef>
                <a:spcAft>
                  <a:spcPts val="0"/>
                </a:spcAft>
                <a:defRPr/>
              </a:pPr>
              <a:r>
                <a:rPr kumimoji="1" lang="en-US" altLang="zh-CN" sz="1400" b="1" dirty="0">
                  <a:solidFill>
                    <a:schemeClr val="bg1"/>
                  </a:solidFill>
                  <a:latin typeface="微软雅黑" pitchFamily="34" charset="-122"/>
                  <a:ea typeface="微软雅黑" pitchFamily="34" charset="-122"/>
                </a:rPr>
                <a:t>(</a:t>
              </a:r>
              <a:r>
                <a:rPr kumimoji="1" lang="zh-CN" altLang="en-US" sz="1400" b="1" dirty="0">
                  <a:solidFill>
                    <a:schemeClr val="bg1"/>
                  </a:solidFill>
                  <a:latin typeface="微软雅黑" pitchFamily="34" charset="-122"/>
                  <a:ea typeface="微软雅黑" pitchFamily="34" charset="-122"/>
                </a:rPr>
                <a:t>即传输时延</a:t>
              </a:r>
              <a:r>
                <a:rPr kumimoji="1" lang="en-US" altLang="zh-CN" sz="1400" b="1" dirty="0">
                  <a:solidFill>
                    <a:schemeClr val="bg1"/>
                  </a:solidFill>
                  <a:latin typeface="微软雅黑" pitchFamily="34" charset="-122"/>
                  <a:ea typeface="微软雅黑" pitchFamily="34" charset="-122"/>
                </a:rPr>
                <a:t>)</a:t>
              </a:r>
            </a:p>
          </p:txBody>
        </p:sp>
      </p:grpSp>
      <p:sp>
        <p:nvSpPr>
          <p:cNvPr id="108570" name="Line 41"/>
          <p:cNvSpPr>
            <a:spLocks noChangeShapeType="1"/>
          </p:cNvSpPr>
          <p:nvPr/>
        </p:nvSpPr>
        <p:spPr bwMode="auto">
          <a:xfrm flipH="1" flipV="1">
            <a:off x="3027332" y="3178260"/>
            <a:ext cx="280986" cy="365123"/>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108571" name="组合 40"/>
          <p:cNvGrpSpPr>
            <a:grpSpLocks/>
          </p:cNvGrpSpPr>
          <p:nvPr/>
        </p:nvGrpSpPr>
        <p:grpSpPr bwMode="auto">
          <a:xfrm>
            <a:off x="944534" y="1676855"/>
            <a:ext cx="1800225" cy="1384349"/>
            <a:chOff x="923708" y="1819146"/>
            <a:chExt cx="1800494" cy="1384449"/>
          </a:xfrm>
        </p:grpSpPr>
        <p:sp>
          <p:nvSpPr>
            <p:cNvPr id="108576" name="Line 39"/>
            <p:cNvSpPr>
              <a:spLocks noChangeShapeType="1"/>
            </p:cNvSpPr>
            <p:nvPr/>
          </p:nvSpPr>
          <p:spPr bwMode="auto">
            <a:xfrm>
              <a:off x="2011307" y="2293868"/>
              <a:ext cx="673995" cy="909727"/>
            </a:xfrm>
            <a:prstGeom prst="line">
              <a:avLst/>
            </a:prstGeom>
            <a:noFill/>
            <a:ln w="28575">
              <a:solidFill>
                <a:srgbClr val="9933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8577" name="Text Box 42"/>
            <p:cNvSpPr txBox="1">
              <a:spLocks noChangeArrowheads="1"/>
            </p:cNvSpPr>
            <p:nvPr/>
          </p:nvSpPr>
          <p:spPr bwMode="auto">
            <a:xfrm>
              <a:off x="923708" y="1819146"/>
              <a:ext cx="1800494" cy="523220"/>
            </a:xfrm>
            <a:prstGeom prst="rect">
              <a:avLst/>
            </a:prstGeom>
            <a:solidFill>
              <a:srgbClr val="000099"/>
            </a:solidFill>
            <a:ln>
              <a:noFill/>
            </a:ln>
            <a:extLst>
              <a:ext uri="{91240B29-F687-4F45-9708-019B960494DF}">
                <a14:hiddenLine xmlns:a14="http://schemas.microsoft.com/office/drawing/2010/main" w="76200" cmpd="tri">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solidFill>
                    <a:schemeClr val="bg1"/>
                  </a:solidFill>
                  <a:latin typeface="微软雅黑" pitchFamily="34" charset="-122"/>
                  <a:ea typeface="微软雅黑" pitchFamily="34" charset="-122"/>
                </a:rPr>
                <a:t>在这里产生</a:t>
              </a:r>
            </a:p>
            <a:p>
              <a:pPr algn="ctr"/>
              <a:r>
                <a:rPr kumimoji="1" lang="zh-CN" altLang="en-US" sz="1400" b="1" dirty="0">
                  <a:solidFill>
                    <a:schemeClr val="bg1"/>
                  </a:solidFill>
                  <a:latin typeface="微软雅黑" pitchFamily="34" charset="-122"/>
                  <a:ea typeface="微软雅黑" pitchFamily="34" charset="-122"/>
                </a:rPr>
                <a:t>处理时延和排队时延</a:t>
              </a:r>
            </a:p>
          </p:txBody>
        </p:sp>
      </p:grpSp>
      <p:sp>
        <p:nvSpPr>
          <p:cNvPr id="108572" name="Text Box 46"/>
          <p:cNvSpPr txBox="1">
            <a:spLocks noChangeArrowheads="1"/>
          </p:cNvSpPr>
          <p:nvPr/>
        </p:nvSpPr>
        <p:spPr bwMode="auto">
          <a:xfrm>
            <a:off x="1665258" y="3244935"/>
            <a:ext cx="555625"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数据</a:t>
            </a:r>
          </a:p>
        </p:txBody>
      </p:sp>
      <p:sp>
        <p:nvSpPr>
          <p:cNvPr id="108573" name="Text Box 47"/>
          <p:cNvSpPr txBox="1">
            <a:spLocks noChangeArrowheads="1"/>
          </p:cNvSpPr>
          <p:nvPr/>
        </p:nvSpPr>
        <p:spPr bwMode="auto">
          <a:xfrm>
            <a:off x="2266589" y="1002436"/>
            <a:ext cx="4343217" cy="4385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lnSpc>
                <a:spcPts val="2700"/>
              </a:lnSpc>
              <a:spcBef>
                <a:spcPts val="600"/>
              </a:spcBef>
            </a:pPr>
            <a:r>
              <a:rPr kumimoji="1" lang="zh-CN" altLang="en-US" b="1" dirty="0">
                <a:solidFill>
                  <a:srgbClr val="0000FF"/>
                </a:solidFill>
                <a:latin typeface="微软雅黑" pitchFamily="34" charset="-122"/>
                <a:ea typeface="微软雅黑" pitchFamily="34" charset="-122"/>
              </a:rPr>
              <a:t>假设从结点 </a:t>
            </a:r>
            <a:r>
              <a:rPr kumimoji="1" lang="en-US" altLang="zh-CN" b="1" dirty="0">
                <a:solidFill>
                  <a:srgbClr val="0000FF"/>
                </a:solidFill>
                <a:latin typeface="微软雅黑" pitchFamily="34" charset="-122"/>
                <a:ea typeface="微软雅黑" pitchFamily="34" charset="-122"/>
              </a:rPr>
              <a:t>A </a:t>
            </a:r>
            <a:r>
              <a:rPr kumimoji="1" lang="zh-CN" altLang="en-US" b="1" dirty="0">
                <a:solidFill>
                  <a:srgbClr val="0000FF"/>
                </a:solidFill>
                <a:latin typeface="微软雅黑" pitchFamily="34" charset="-122"/>
                <a:ea typeface="微软雅黑" pitchFamily="34" charset="-122"/>
              </a:rPr>
              <a:t>向结点 </a:t>
            </a:r>
            <a:r>
              <a:rPr kumimoji="1" lang="en-US" altLang="zh-CN" b="1" dirty="0">
                <a:solidFill>
                  <a:srgbClr val="0000FF"/>
                </a:solidFill>
                <a:latin typeface="微软雅黑" pitchFamily="34" charset="-122"/>
                <a:ea typeface="微软雅黑" pitchFamily="34" charset="-122"/>
              </a:rPr>
              <a:t>B </a:t>
            </a:r>
            <a:r>
              <a:rPr kumimoji="1" lang="zh-CN" altLang="en-US" b="1" dirty="0">
                <a:solidFill>
                  <a:srgbClr val="0000FF"/>
                </a:solidFill>
                <a:latin typeface="微软雅黑" pitchFamily="34" charset="-122"/>
                <a:ea typeface="微软雅黑" pitchFamily="34" charset="-122"/>
              </a:rPr>
              <a:t>发送数据</a:t>
            </a:r>
          </a:p>
        </p:txBody>
      </p:sp>
      <p:sp>
        <p:nvSpPr>
          <p:cNvPr id="108574" name="Text Box 48"/>
          <p:cNvSpPr txBox="1">
            <a:spLocks noChangeArrowheads="1"/>
          </p:cNvSpPr>
          <p:nvPr/>
        </p:nvSpPr>
        <p:spPr bwMode="auto">
          <a:xfrm>
            <a:off x="4552921" y="3230648"/>
            <a:ext cx="557212" cy="317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a:latin typeface="微软雅黑" pitchFamily="34" charset="-122"/>
                <a:ea typeface="微软雅黑" pitchFamily="34" charset="-122"/>
              </a:rPr>
              <a:t>链路</a:t>
            </a:r>
          </a:p>
        </p:txBody>
      </p:sp>
      <p:sp>
        <p:nvSpPr>
          <p:cNvPr id="108575" name="矩形 38"/>
          <p:cNvSpPr>
            <a:spLocks noChangeArrowheads="1"/>
          </p:cNvSpPr>
          <p:nvPr/>
        </p:nvSpPr>
        <p:spPr bwMode="auto">
          <a:xfrm>
            <a:off x="2266589" y="4028885"/>
            <a:ext cx="457266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b="1" dirty="0">
                <a:latin typeface="微软雅黑" pitchFamily="34" charset="-122"/>
                <a:ea typeface="微软雅黑" pitchFamily="34" charset="-122"/>
              </a:rPr>
              <a:t>四</a:t>
            </a:r>
            <a:r>
              <a:rPr lang="zh-CN" altLang="zh-CN" b="1" dirty="0">
                <a:latin typeface="微软雅黑" pitchFamily="34" charset="-122"/>
                <a:ea typeface="微软雅黑" pitchFamily="34" charset="-122"/>
              </a:rPr>
              <a:t>种时延产生的地方不一样</a:t>
            </a:r>
            <a:endParaRPr lang="zh-CN" altLang="en-US" b="1" dirty="0">
              <a:latin typeface="微软雅黑" pitchFamily="34" charset="-122"/>
              <a:ea typeface="微软雅黑" pitchFamily="34" charset="-122"/>
            </a:endParaRPr>
          </a:p>
        </p:txBody>
      </p:sp>
      <p:cxnSp>
        <p:nvCxnSpPr>
          <p:cNvPr id="5" name="直接连接符 4"/>
          <p:cNvCxnSpPr/>
          <p:nvPr/>
        </p:nvCxnSpPr>
        <p:spPr>
          <a:xfrm>
            <a:off x="3069925"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p:nvPr/>
        </p:nvCxnSpPr>
        <p:spPr>
          <a:xfrm>
            <a:off x="6792883" y="2781657"/>
            <a:ext cx="0" cy="28709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p:nvPr/>
        </p:nvCxnSpPr>
        <p:spPr>
          <a:xfrm>
            <a:off x="3069925" y="2921437"/>
            <a:ext cx="3684858" cy="0"/>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372342" y="3065349"/>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190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 name="内容占位符 6">
            <a:extLst>
              <a:ext uri="{FF2B5EF4-FFF2-40B4-BE49-F238E27FC236}">
                <a16:creationId xmlns:a16="http://schemas.microsoft.com/office/drawing/2014/main" id="{FA3C1124-F2E1-0B8D-34F0-3B01378F2B20}"/>
              </a:ext>
            </a:extLst>
          </p:cNvPr>
          <p:cNvSpPr>
            <a:spLocks noGrp="1"/>
          </p:cNvSpPr>
          <p:nvPr>
            <p:ph sz="quarter" idx="4294967295"/>
          </p:nvPr>
        </p:nvSpPr>
        <p:spPr>
          <a:xfrm>
            <a:off x="612000" y="720000"/>
            <a:ext cx="7920000" cy="3960000"/>
          </a:xfrm>
        </p:spPr>
        <p:txBody>
          <a:bodyPr/>
          <a:lstStyle/>
          <a:p>
            <a:endParaRPr lang="zh-CN" altLang="en-US"/>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zh-CN" altLang="en-US" dirty="0"/>
              <a:t>四种时延产生的地方</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zh-CN" altLang="en-US" dirty="0"/>
              <a:t>容易产生的错误概念</a:t>
            </a:r>
          </a:p>
        </p:txBody>
      </p:sp>
      <p:sp>
        <p:nvSpPr>
          <p:cNvPr id="2" name="矩形 1"/>
          <p:cNvSpPr/>
          <p:nvPr/>
        </p:nvSpPr>
        <p:spPr>
          <a:xfrm>
            <a:off x="1249590" y="1142351"/>
            <a:ext cx="6632575" cy="861774"/>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以下说法是</a:t>
            </a:r>
            <a:r>
              <a:rPr lang="zh-CN" altLang="en-US" b="1" dirty="0">
                <a:solidFill>
                  <a:srgbClr val="C00000"/>
                </a:solidFill>
                <a:latin typeface="微软雅黑" pitchFamily="34" charset="-122"/>
                <a:ea typeface="微软雅黑" pitchFamily="34" charset="-122"/>
              </a:rPr>
              <a:t>错误</a:t>
            </a:r>
            <a:r>
              <a:rPr lang="zh-CN" altLang="en-US" b="1" dirty="0">
                <a:latin typeface="微软雅黑" pitchFamily="34" charset="-122"/>
                <a:ea typeface="微软雅黑" pitchFamily="34" charset="-122"/>
              </a:rPr>
              <a:t>的：</a:t>
            </a:r>
            <a:endParaRPr lang="en-US" altLang="zh-CN" b="1" dirty="0">
              <a:latin typeface="微软雅黑" pitchFamily="34" charset="-122"/>
              <a:ea typeface="微软雅黑" pitchFamily="34" charset="-122"/>
            </a:endParaRPr>
          </a:p>
          <a:p>
            <a:pPr>
              <a:lnSpc>
                <a:spcPts val="2700"/>
              </a:lnSpc>
              <a:spcBef>
                <a:spcPts val="600"/>
              </a:spcBef>
            </a:pP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normAutofit/>
          </a:bodyPr>
          <a:lstStyle/>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要将一个数据块通过 </a:t>
            </a:r>
            <a:r>
              <a:rPr lang="en-US" altLang="zh-CN" dirty="0"/>
              <a:t>1000 km </a:t>
            </a:r>
            <a:r>
              <a:rPr lang="zh-CN" altLang="en-US" dirty="0"/>
              <a:t>的光纤链路发送给结点 </a:t>
            </a:r>
            <a:r>
              <a:rPr lang="en-US" altLang="zh-CN" dirty="0"/>
              <a:t>B</a:t>
            </a:r>
            <a:r>
              <a:rPr lang="zh-CN" altLang="en-US" dirty="0"/>
              <a:t>。假设忽略处理时延和排队时延。请分别计算下列情况时的总时延，并验证“数据的发送速率越高，其传送的总时延就越小”的说法是否正确。</a:t>
            </a:r>
            <a:endParaRPr lang="en-US" altLang="zh-CN" dirty="0"/>
          </a:p>
          <a:p>
            <a:pPr lvl="1"/>
            <a:r>
              <a:rPr lang="zh-CN" altLang="en-US" dirty="0"/>
              <a:t>（</a:t>
            </a:r>
            <a:r>
              <a:rPr lang="en-US" altLang="zh-CN" dirty="0"/>
              <a:t>1</a:t>
            </a:r>
            <a:r>
              <a:rPr lang="zh-CN" altLang="en-US" dirty="0"/>
              <a:t>）数据块大小为 </a:t>
            </a:r>
            <a:r>
              <a:rPr lang="en-US" altLang="zh-CN" dirty="0"/>
              <a:t>100 MB</a:t>
            </a:r>
            <a:r>
              <a:rPr lang="zh-CN" altLang="en-US" dirty="0"/>
              <a:t>，信道带宽为 </a:t>
            </a:r>
            <a:r>
              <a:rPr lang="en-US" altLang="zh-CN" dirty="0"/>
              <a:t>1 Mbit/s </a:t>
            </a:r>
          </a:p>
          <a:p>
            <a:pPr lvl="1"/>
            <a:r>
              <a:rPr lang="zh-CN" altLang="en-US" dirty="0"/>
              <a:t>（</a:t>
            </a:r>
            <a:r>
              <a:rPr lang="en-US" altLang="zh-CN" dirty="0"/>
              <a:t>2</a:t>
            </a:r>
            <a:r>
              <a:rPr lang="zh-CN" altLang="en-US" dirty="0"/>
              <a:t>）数据块大小为 </a:t>
            </a:r>
            <a:r>
              <a:rPr lang="en-US" altLang="zh-CN" dirty="0"/>
              <a:t>100 MB</a:t>
            </a:r>
            <a:r>
              <a:rPr lang="zh-CN" altLang="en-US" dirty="0"/>
              <a:t>，信道带宽为 </a:t>
            </a:r>
            <a:r>
              <a:rPr lang="en-US" altLang="zh-CN" dirty="0"/>
              <a:t>100 Mbit/s</a:t>
            </a:r>
          </a:p>
          <a:p>
            <a:pPr lvl="1"/>
            <a:r>
              <a:rPr lang="zh-CN" altLang="en-US" dirty="0"/>
              <a:t>（</a:t>
            </a:r>
            <a:r>
              <a:rPr lang="en-US" altLang="zh-CN" dirty="0"/>
              <a:t>3</a:t>
            </a:r>
            <a:r>
              <a:rPr lang="zh-CN" altLang="en-US" dirty="0"/>
              <a:t>）数据块大小为 </a:t>
            </a:r>
            <a:r>
              <a:rPr lang="en-US" altLang="zh-CN" dirty="0"/>
              <a:t>1 B</a:t>
            </a:r>
            <a:r>
              <a:rPr lang="zh-CN" altLang="en-US" dirty="0"/>
              <a:t>，信道带宽为 </a:t>
            </a:r>
            <a:r>
              <a:rPr lang="en-US" altLang="zh-CN" dirty="0"/>
              <a:t>1 Mbit/s </a:t>
            </a:r>
          </a:p>
          <a:p>
            <a:pPr lvl="1"/>
            <a:r>
              <a:rPr lang="zh-CN" altLang="en-US" dirty="0"/>
              <a:t>（</a:t>
            </a:r>
            <a:r>
              <a:rPr lang="en-US" altLang="zh-CN" dirty="0"/>
              <a:t>4</a:t>
            </a:r>
            <a:r>
              <a:rPr lang="zh-CN" altLang="en-US" dirty="0"/>
              <a:t>）数据块大小为 </a:t>
            </a:r>
            <a:r>
              <a:rPr lang="en-US" altLang="zh-CN" dirty="0"/>
              <a:t>1 B</a:t>
            </a:r>
            <a:r>
              <a:rPr lang="zh-CN" altLang="en-US" dirty="0"/>
              <a:t>，信道带宽为 </a:t>
            </a:r>
            <a:r>
              <a:rPr lang="en-US" altLang="zh-CN" dirty="0"/>
              <a:t>1 </a:t>
            </a:r>
            <a:r>
              <a:rPr lang="en-US" altLang="zh-CN" dirty="0" err="1"/>
              <a:t>Gbit</a:t>
            </a:r>
            <a:r>
              <a:rPr lang="en-US" altLang="zh-CN" dirty="0"/>
              <a:t>/s</a:t>
            </a:r>
          </a:p>
          <a:p>
            <a:endParaRPr lang="zh-CN" altLang="en-US" dirty="0"/>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分析举例</a:t>
            </a:r>
          </a:p>
        </p:txBody>
      </p:sp>
      <p:grpSp>
        <p:nvGrpSpPr>
          <p:cNvPr id="14" name="组合 13"/>
          <p:cNvGrpSpPr/>
          <p:nvPr/>
        </p:nvGrpSpPr>
        <p:grpSpPr>
          <a:xfrm>
            <a:off x="2192277" y="1087097"/>
            <a:ext cx="4747202" cy="895466"/>
            <a:chOff x="2163416" y="1246399"/>
            <a:chExt cx="4747202" cy="895466"/>
          </a:xfrm>
        </p:grpSpPr>
        <p:sp>
          <p:nvSpPr>
            <p:cNvPr id="4" name="椭圆 3"/>
            <p:cNvSpPr/>
            <p:nvPr/>
          </p:nvSpPr>
          <p:spPr>
            <a:xfrm>
              <a:off x="2360014"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椭圆 4"/>
            <p:cNvSpPr/>
            <p:nvPr/>
          </p:nvSpPr>
          <p:spPr>
            <a:xfrm>
              <a:off x="6287580" y="1375948"/>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4" idx="6"/>
              <a:endCxn id="5" idx="2"/>
            </p:cNvCxnSpPr>
            <p:nvPr/>
          </p:nvCxnSpPr>
          <p:spPr>
            <a:xfrm>
              <a:off x="2778022" y="1584953"/>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618544" y="1246399"/>
              <a:ext cx="2020105"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光纤链路 </a:t>
              </a:r>
              <a:r>
                <a:rPr lang="en-US" altLang="zh-CN" sz="1600" b="1" dirty="0">
                  <a:latin typeface="微软雅黑" panose="020B0503020204020204" pitchFamily="34" charset="-122"/>
                  <a:ea typeface="微软雅黑" panose="020B0503020204020204" pitchFamily="34" charset="-122"/>
                </a:rPr>
                <a:t>1000 km</a:t>
              </a:r>
              <a:endParaRPr lang="zh-CN" altLang="en-US" sz="1600" b="1" dirty="0">
                <a:latin typeface="微软雅黑" panose="020B0503020204020204" pitchFamily="34" charset="-122"/>
                <a:ea typeface="微软雅黑" panose="020B0503020204020204" pitchFamily="34" charset="-122"/>
              </a:endParaRPr>
            </a:p>
          </p:txBody>
        </p:sp>
        <p:sp>
          <p:nvSpPr>
            <p:cNvPr id="11" name="Text Box 37"/>
            <p:cNvSpPr txBox="1">
              <a:spLocks noChangeArrowheads="1"/>
            </p:cNvSpPr>
            <p:nvPr/>
          </p:nvSpPr>
          <p:spPr bwMode="auto">
            <a:xfrm>
              <a:off x="6113693" y="1803727"/>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2" name="Text Box 38"/>
            <p:cNvSpPr txBox="1">
              <a:spLocks noChangeArrowheads="1"/>
            </p:cNvSpPr>
            <p:nvPr/>
          </p:nvSpPr>
          <p:spPr bwMode="auto">
            <a:xfrm>
              <a:off x="2163416" y="1803727"/>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gr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p:cNvSpPr>
            <a:spLocks noGrp="1"/>
          </p:cNvSpPr>
          <p:nvPr>
            <p:ph sz="quarter" idx="4294967295"/>
          </p:nvPr>
        </p:nvSpPr>
        <p:spPr>
          <a:xfrm>
            <a:off x="612000" y="720000"/>
            <a:ext cx="7920000" cy="3960000"/>
          </a:xfrm>
        </p:spPr>
        <p:txBody>
          <a:bodyPr>
            <a:normAutofit/>
          </a:bodyPr>
          <a:lstStyle/>
          <a:p>
            <a:r>
              <a:rPr lang="zh-CN" altLang="en-US" dirty="0"/>
              <a:t>解：</a:t>
            </a:r>
            <a:endParaRPr lang="en-US" altLang="zh-CN" dirty="0"/>
          </a:p>
          <a:p>
            <a:pPr lvl="1"/>
            <a:r>
              <a:rPr lang="zh-CN" altLang="en-US" dirty="0"/>
              <a:t>     传播时延 </a:t>
            </a:r>
            <a:r>
              <a:rPr lang="en-US" altLang="zh-CN" dirty="0"/>
              <a:t>= 1000 km / 2.0 </a:t>
            </a:r>
            <a:r>
              <a:rPr lang="zh-CN" altLang="en-US" dirty="0"/>
              <a:t>ⅹ </a:t>
            </a:r>
            <a:r>
              <a:rPr lang="en-US" altLang="zh-CN" dirty="0"/>
              <a:t>105 km/s =</a:t>
            </a:r>
            <a:r>
              <a:rPr lang="zh-CN" altLang="en-US" dirty="0"/>
              <a:t> </a:t>
            </a:r>
            <a:r>
              <a:rPr lang="en-US" altLang="zh-CN" dirty="0"/>
              <a:t>5 </a:t>
            </a:r>
            <a:r>
              <a:rPr lang="en-US" altLang="zh-CN" dirty="0" err="1"/>
              <a:t>ms</a:t>
            </a:r>
            <a:r>
              <a:rPr lang="zh-CN" altLang="en-US" dirty="0"/>
              <a:t>。</a:t>
            </a:r>
            <a:endParaRPr lang="en-US" altLang="zh-CN" dirty="0"/>
          </a:p>
          <a:p>
            <a:r>
              <a:rPr lang="zh-CN" altLang="en-US" dirty="0"/>
              <a:t>（</a:t>
            </a:r>
            <a:r>
              <a:rPr lang="en-US" altLang="zh-CN" dirty="0"/>
              <a:t>1</a:t>
            </a:r>
            <a:r>
              <a:rPr lang="zh-CN" altLang="en-US" dirty="0"/>
              <a:t>）</a:t>
            </a:r>
            <a:r>
              <a:rPr lang="zh-CN" altLang="zh-CN" dirty="0"/>
              <a:t>发送时延</a:t>
            </a:r>
            <a:r>
              <a:rPr lang="en-US" altLang="zh-CN" dirty="0"/>
              <a:t> = 100 </a:t>
            </a:r>
            <a:r>
              <a:rPr lang="en-US" altLang="zh-CN" dirty="0">
                <a:sym typeface="Symbol" panose="05050102010706020507" pitchFamily="18" charset="2"/>
              </a:rPr>
              <a:t></a:t>
            </a:r>
            <a:r>
              <a:rPr lang="en-US" altLang="zh-CN" dirty="0"/>
              <a:t> 220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106 = 838.9 s</a:t>
            </a:r>
            <a:r>
              <a:rPr lang="zh-CN" altLang="en-US" dirty="0"/>
              <a:t>，</a:t>
            </a:r>
            <a:endParaRPr lang="en-US" altLang="zh-CN" dirty="0"/>
          </a:p>
          <a:p>
            <a:r>
              <a:rPr lang="en-US" altLang="zh-CN" dirty="0"/>
              <a:t>        </a:t>
            </a:r>
            <a:r>
              <a:rPr lang="zh-CN" altLang="en-US" dirty="0"/>
              <a:t>总时延 </a:t>
            </a:r>
            <a:r>
              <a:rPr lang="en-US" altLang="zh-CN" dirty="0"/>
              <a:t>= 838.9 + 0.005 ≈ 838.9 s</a:t>
            </a:r>
            <a:r>
              <a:rPr lang="zh-CN" altLang="en-US" dirty="0"/>
              <a:t>。</a:t>
            </a:r>
            <a:endParaRPr lang="zh-CN" altLang="zh-CN" dirty="0"/>
          </a:p>
          <a:p>
            <a:r>
              <a:rPr lang="zh-CN" altLang="en-US" dirty="0"/>
              <a:t>（</a:t>
            </a:r>
            <a:r>
              <a:rPr lang="en-US" altLang="zh-CN" dirty="0"/>
              <a:t>2</a:t>
            </a:r>
            <a:r>
              <a:rPr lang="zh-CN" altLang="en-US" dirty="0"/>
              <a:t>）</a:t>
            </a:r>
            <a:r>
              <a:rPr lang="zh-CN" altLang="zh-CN" dirty="0"/>
              <a:t>发送时延</a:t>
            </a:r>
            <a:r>
              <a:rPr lang="en-US" altLang="zh-CN" dirty="0"/>
              <a:t> = 100 </a:t>
            </a:r>
            <a:r>
              <a:rPr lang="en-US" altLang="zh-CN" dirty="0">
                <a:sym typeface="Symbol" panose="05050102010706020507" pitchFamily="18" charset="2"/>
              </a:rPr>
              <a:t></a:t>
            </a:r>
            <a:r>
              <a:rPr lang="en-US" altLang="zh-CN" dirty="0"/>
              <a:t> 220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108 = 8.389 s</a:t>
            </a:r>
          </a:p>
          <a:p>
            <a:r>
              <a:rPr lang="en-US" altLang="zh-CN" dirty="0"/>
              <a:t>        </a:t>
            </a:r>
            <a:r>
              <a:rPr lang="zh-CN" altLang="en-US" dirty="0"/>
              <a:t>总时延 </a:t>
            </a:r>
            <a:r>
              <a:rPr lang="en-US" altLang="zh-CN" dirty="0"/>
              <a:t>= 8.389 + 0.005</a:t>
            </a:r>
            <a:r>
              <a:rPr lang="zh-CN" altLang="en-US" dirty="0"/>
              <a:t> </a:t>
            </a:r>
            <a:r>
              <a:rPr lang="en-US" altLang="zh-CN" dirty="0"/>
              <a:t>= 8.394 s</a:t>
            </a:r>
            <a:r>
              <a:rPr lang="zh-CN" altLang="en-US" dirty="0"/>
              <a:t>。缩小到（</a:t>
            </a:r>
            <a:r>
              <a:rPr lang="en-US" altLang="zh-CN" dirty="0"/>
              <a:t>1</a:t>
            </a:r>
            <a:r>
              <a:rPr lang="zh-CN" altLang="en-US" dirty="0"/>
              <a:t>）的近 </a:t>
            </a:r>
            <a:r>
              <a:rPr lang="en-US" altLang="zh-CN" dirty="0"/>
              <a:t>1/100</a:t>
            </a:r>
            <a:r>
              <a:rPr lang="zh-CN" altLang="en-US" dirty="0"/>
              <a:t>。</a:t>
            </a:r>
            <a:endParaRPr lang="en-US" altLang="zh-CN" dirty="0"/>
          </a:p>
          <a:p>
            <a:r>
              <a:rPr lang="zh-CN" altLang="en-US" dirty="0"/>
              <a:t>（</a:t>
            </a:r>
            <a:r>
              <a:rPr lang="en-US" altLang="zh-CN" dirty="0"/>
              <a:t>3</a:t>
            </a:r>
            <a:r>
              <a:rPr lang="zh-CN" altLang="en-US" dirty="0"/>
              <a:t>）</a:t>
            </a:r>
            <a:r>
              <a:rPr lang="zh-CN" altLang="zh-CN" dirty="0"/>
              <a:t>发送时延</a:t>
            </a:r>
            <a:r>
              <a:rPr lang="en-US" altLang="zh-CN" dirty="0"/>
              <a:t> = 1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106 = 8 </a:t>
            </a:r>
            <a:r>
              <a:rPr lang="en-US" altLang="zh-CN" dirty="0">
                <a:sym typeface="Symbol" panose="05050102010706020507" pitchFamily="18" charset="2"/>
              </a:rPr>
              <a:t></a:t>
            </a:r>
            <a:r>
              <a:rPr lang="en-US" altLang="zh-CN" dirty="0"/>
              <a:t> 10–6 s = 8 </a:t>
            </a:r>
            <a:r>
              <a:rPr lang="en-US" altLang="zh-CN" dirty="0">
                <a:sym typeface="Symbol" panose="05050102010706020507" pitchFamily="18" charset="2"/>
              </a:rPr>
              <a:t></a:t>
            </a:r>
            <a:r>
              <a:rPr lang="en-US" altLang="zh-CN" dirty="0"/>
              <a:t>s, </a:t>
            </a:r>
            <a:r>
              <a:rPr lang="zh-CN" altLang="en-US" dirty="0"/>
              <a:t> </a:t>
            </a:r>
            <a:endParaRPr lang="en-US" altLang="zh-CN" dirty="0"/>
          </a:p>
          <a:p>
            <a:r>
              <a:rPr lang="en-US" altLang="zh-CN" dirty="0"/>
              <a:t>        </a:t>
            </a:r>
            <a:r>
              <a:rPr lang="zh-CN" altLang="en-US" dirty="0"/>
              <a:t>总时延 </a:t>
            </a:r>
            <a:r>
              <a:rPr lang="en-US" altLang="zh-CN" dirty="0"/>
              <a:t>= 0.008 + 5 = 5.008 </a:t>
            </a:r>
            <a:r>
              <a:rPr lang="en-US" altLang="zh-CN" dirty="0" err="1"/>
              <a:t>ms</a:t>
            </a:r>
            <a:r>
              <a:rPr lang="zh-CN" altLang="en-US" dirty="0"/>
              <a:t>。</a:t>
            </a:r>
            <a:endParaRPr lang="en-US" altLang="zh-CN" dirty="0"/>
          </a:p>
          <a:p>
            <a:r>
              <a:rPr lang="zh-CN" altLang="en-US" dirty="0"/>
              <a:t>（</a:t>
            </a:r>
            <a:r>
              <a:rPr lang="en-US" altLang="zh-CN" dirty="0"/>
              <a:t>4</a:t>
            </a:r>
            <a:r>
              <a:rPr lang="zh-CN" altLang="en-US" dirty="0"/>
              <a:t>）</a:t>
            </a:r>
            <a:r>
              <a:rPr lang="zh-CN" altLang="zh-CN" dirty="0"/>
              <a:t>发送时延</a:t>
            </a:r>
            <a:r>
              <a:rPr lang="en-US" altLang="zh-CN" dirty="0"/>
              <a:t> = 1 </a:t>
            </a:r>
            <a:r>
              <a:rPr lang="en-US" altLang="zh-CN" dirty="0">
                <a:sym typeface="Symbol" panose="05050102010706020507" pitchFamily="18" charset="2"/>
              </a:rPr>
              <a:t></a:t>
            </a:r>
            <a:r>
              <a:rPr lang="en-US" altLang="zh-CN" dirty="0"/>
              <a:t> 8 </a:t>
            </a:r>
            <a:r>
              <a:rPr lang="en-US" altLang="zh-CN" dirty="0">
                <a:sym typeface="Symbol" panose="05050102010706020507" pitchFamily="18" charset="2"/>
              </a:rPr>
              <a:t></a:t>
            </a:r>
            <a:r>
              <a:rPr lang="en-US" altLang="zh-CN" dirty="0"/>
              <a:t> 109 = 8 </a:t>
            </a:r>
            <a:r>
              <a:rPr lang="en-US" altLang="zh-CN" dirty="0">
                <a:sym typeface="Symbol" panose="05050102010706020507" pitchFamily="18" charset="2"/>
              </a:rPr>
              <a:t></a:t>
            </a:r>
            <a:r>
              <a:rPr lang="en-US" altLang="zh-CN" dirty="0"/>
              <a:t> 10–9 s = 0.008 </a:t>
            </a:r>
            <a:r>
              <a:rPr lang="en-US" altLang="zh-CN" dirty="0">
                <a:sym typeface="Symbol" panose="05050102010706020507" pitchFamily="18" charset="2"/>
              </a:rPr>
              <a:t></a:t>
            </a:r>
            <a:r>
              <a:rPr lang="en-US" altLang="zh-CN" dirty="0"/>
              <a:t>s</a:t>
            </a:r>
            <a:endParaRPr lang="zh-CN" altLang="zh-CN" dirty="0"/>
          </a:p>
          <a:p>
            <a:r>
              <a:rPr lang="en-US" altLang="zh-CN" dirty="0"/>
              <a:t>        </a:t>
            </a:r>
            <a:r>
              <a:rPr lang="zh-CN" altLang="en-US" dirty="0"/>
              <a:t>总时延 </a:t>
            </a:r>
            <a:r>
              <a:rPr lang="en-US" altLang="zh-CN" dirty="0"/>
              <a:t>= 0.000008 + 5 = 5.000008 </a:t>
            </a:r>
            <a:r>
              <a:rPr lang="en-US" altLang="zh-CN" dirty="0" err="1"/>
              <a:t>ms</a:t>
            </a:r>
            <a:r>
              <a:rPr lang="zh-CN" altLang="en-US" dirty="0"/>
              <a:t>。与（</a:t>
            </a:r>
            <a:r>
              <a:rPr lang="en-US" altLang="zh-CN" dirty="0"/>
              <a:t>3</a:t>
            </a:r>
            <a:r>
              <a:rPr lang="zh-CN" altLang="en-US" dirty="0"/>
              <a:t>）相比没有明显减小。</a:t>
            </a:r>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分析举例</a:t>
            </a:r>
          </a:p>
        </p:txBody>
      </p:sp>
      <p:sp>
        <p:nvSpPr>
          <p:cNvPr id="8" name="矩形 7"/>
          <p:cNvSpPr/>
          <p:nvPr/>
        </p:nvSpPr>
        <p:spPr>
          <a:xfrm>
            <a:off x="6009830" y="1366501"/>
            <a:ext cx="2730137" cy="1134734"/>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800"/>
              </a:lnSpc>
            </a:pPr>
            <a:r>
              <a:rPr lang="zh-CN" altLang="en-US" b="1" dirty="0">
                <a:latin typeface="微软雅黑" panose="020B0503020204020204" pitchFamily="34" charset="-122"/>
                <a:ea typeface="微软雅黑" panose="020B0503020204020204" pitchFamily="34" charset="-122"/>
              </a:rPr>
              <a:t>不能笼统地认为：“数据的发送速率越高，其传送的总时延就越小”。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010193" y="1016082"/>
            <a:ext cx="6749144" cy="226319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5" name="AutoShape 37"/>
          <p:cNvSpPr>
            <a:spLocks noChangeArrowheads="1"/>
          </p:cNvSpPr>
          <p:nvPr/>
        </p:nvSpPr>
        <p:spPr bwMode="auto">
          <a:xfrm rot="-5400000">
            <a:off x="4449423" y="84209"/>
            <a:ext cx="564106" cy="4572000"/>
          </a:xfrm>
          <a:prstGeom prst="can">
            <a:avLst>
              <a:gd name="adj" fmla="val 49784"/>
            </a:avLst>
          </a:prstGeom>
          <a:gradFill rotWithShape="1">
            <a:gsLst>
              <a:gs pos="0">
                <a:srgbClr val="004776"/>
              </a:gs>
              <a:gs pos="50000">
                <a:srgbClr val="0099FF"/>
              </a:gs>
              <a:gs pos="100000">
                <a:srgbClr val="004776"/>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594701" y="1935755"/>
            <a:ext cx="4273550" cy="0"/>
          </a:xfrm>
          <a:prstGeom prst="line">
            <a:avLst/>
          </a:prstGeom>
          <a:noFill/>
          <a:ln w="254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779520" y="1591267"/>
            <a:ext cx="252747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400" b="1" dirty="0">
                <a:latin typeface="微软雅黑" pitchFamily="34" charset="-122"/>
                <a:ea typeface="微软雅黑" pitchFamily="34" charset="-122"/>
              </a:rPr>
              <a:t>（传播）时延（管道长度）</a:t>
            </a:r>
          </a:p>
        </p:txBody>
      </p:sp>
      <p:sp>
        <p:nvSpPr>
          <p:cNvPr id="8" name="Text Box 40"/>
          <p:cNvSpPr txBox="1">
            <a:spLocks noChangeArrowheads="1"/>
          </p:cNvSpPr>
          <p:nvPr/>
        </p:nvSpPr>
        <p:spPr bwMode="auto">
          <a:xfrm>
            <a:off x="4433026" y="2243730"/>
            <a:ext cx="655638"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600" b="1">
                <a:solidFill>
                  <a:schemeClr val="bg1"/>
                </a:solidFill>
                <a:latin typeface="微软雅黑" pitchFamily="34" charset="-122"/>
                <a:ea typeface="微软雅黑" pitchFamily="34" charset="-122"/>
              </a:rPr>
              <a:t>链 路</a:t>
            </a:r>
          </a:p>
        </p:txBody>
      </p:sp>
      <p:sp>
        <p:nvSpPr>
          <p:cNvPr id="9" name="Text Box 41"/>
          <p:cNvSpPr txBox="1">
            <a:spLocks noChangeArrowheads="1"/>
          </p:cNvSpPr>
          <p:nvPr/>
        </p:nvSpPr>
        <p:spPr bwMode="auto">
          <a:xfrm>
            <a:off x="1249591" y="1674145"/>
            <a:ext cx="134511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b="1" dirty="0">
                <a:latin typeface="微软雅黑" pitchFamily="34" charset="-122"/>
                <a:ea typeface="微软雅黑" pitchFamily="34" charset="-122"/>
              </a:rPr>
              <a:t>带宽</a:t>
            </a:r>
            <a:endParaRPr lang="en-US" altLang="zh-CN" sz="1400" b="1" dirty="0">
              <a:latin typeface="微软雅黑" pitchFamily="34" charset="-122"/>
              <a:ea typeface="微软雅黑" pitchFamily="34" charset="-122"/>
            </a:endParaRPr>
          </a:p>
          <a:p>
            <a:pPr algn="ctr"/>
            <a:r>
              <a:rPr lang="zh-CN" altLang="en-US" sz="1400" b="1" dirty="0">
                <a:latin typeface="微软雅黑" pitchFamily="34" charset="-122"/>
                <a:ea typeface="微软雅黑" pitchFamily="34" charset="-122"/>
              </a:rPr>
              <a:t>（管道截面积）</a:t>
            </a:r>
          </a:p>
        </p:txBody>
      </p:sp>
      <p:sp>
        <p:nvSpPr>
          <p:cNvPr id="10" name="Line 42"/>
          <p:cNvSpPr>
            <a:spLocks noChangeShapeType="1"/>
          </p:cNvSpPr>
          <p:nvPr/>
        </p:nvSpPr>
        <p:spPr bwMode="auto">
          <a:xfrm>
            <a:off x="2229394" y="2197365"/>
            <a:ext cx="365307" cy="213052"/>
          </a:xfrm>
          <a:prstGeom prst="line">
            <a:avLst/>
          </a:prstGeom>
          <a:noFill/>
          <a:ln w="25400">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sz="1200" b="1">
              <a:ln>
                <a:solidFill>
                  <a:schemeClr val="accent3"/>
                </a:solidFill>
              </a:ln>
              <a:solidFill>
                <a:srgbClr val="1956B9"/>
              </a:solidFill>
              <a:latin typeface="微软雅黑" pitchFamily="34" charset="-122"/>
              <a:ea typeface="微软雅黑" pitchFamily="34" charset="-122"/>
            </a:endParaRPr>
          </a:p>
        </p:txBody>
      </p:sp>
      <p:sp>
        <p:nvSpPr>
          <p:cNvPr id="11" name="Text Box 43"/>
          <p:cNvSpPr txBox="1">
            <a:spLocks noChangeArrowheads="1"/>
          </p:cNvSpPr>
          <p:nvPr/>
        </p:nvSpPr>
        <p:spPr bwMode="auto">
          <a:xfrm>
            <a:off x="2695031" y="1099190"/>
            <a:ext cx="3650358" cy="400110"/>
          </a:xfrm>
          <a:prstGeom prst="rect">
            <a:avLst/>
          </a:prstGeom>
          <a:solidFill>
            <a:srgbClr val="FFCC66"/>
          </a:solidFill>
          <a:ln>
            <a:noFill/>
          </a:ln>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2000" b="1" dirty="0">
                <a:solidFill>
                  <a:srgbClr val="000099"/>
                </a:solidFill>
                <a:latin typeface="微软雅黑" pitchFamily="34" charset="-122"/>
                <a:ea typeface="微软雅黑" pitchFamily="34" charset="-122"/>
              </a:rPr>
              <a:t>时延带宽积 </a:t>
            </a:r>
            <a:r>
              <a:rPr lang="en-US" altLang="zh-CN" sz="2000" b="1" dirty="0">
                <a:solidFill>
                  <a:srgbClr val="000099"/>
                </a:solidFill>
                <a:latin typeface="微软雅黑" pitchFamily="34" charset="-122"/>
                <a:ea typeface="微软雅黑" pitchFamily="34" charset="-122"/>
              </a:rPr>
              <a:t>= </a:t>
            </a:r>
            <a:r>
              <a:rPr lang="zh-CN" altLang="en-US" sz="2000" b="1" dirty="0">
                <a:solidFill>
                  <a:srgbClr val="000099"/>
                </a:solidFill>
                <a:latin typeface="微软雅黑" pitchFamily="34" charset="-122"/>
                <a:ea typeface="微软雅黑" pitchFamily="34" charset="-122"/>
              </a:rPr>
              <a:t>传播时延 </a:t>
            </a:r>
            <a:r>
              <a:rPr lang="zh-CN" altLang="en-US" sz="2000" b="1" dirty="0">
                <a:solidFill>
                  <a:srgbClr val="000099"/>
                </a:solidFill>
                <a:latin typeface="微软雅黑" pitchFamily="34" charset="-122"/>
                <a:ea typeface="微软雅黑" pitchFamily="34" charset="-122"/>
                <a:sym typeface="Symbol" pitchFamily="18" charset="2"/>
              </a:rPr>
              <a:t> 带宽</a:t>
            </a:r>
          </a:p>
        </p:txBody>
      </p:sp>
      <p:sp>
        <p:nvSpPr>
          <p:cNvPr id="12" name="矩形 12"/>
          <p:cNvSpPr>
            <a:spLocks noChangeArrowheads="1"/>
          </p:cNvSpPr>
          <p:nvPr/>
        </p:nvSpPr>
        <p:spPr bwMode="auto">
          <a:xfrm>
            <a:off x="1116738" y="3362387"/>
            <a:ext cx="6632575" cy="1092607"/>
          </a:xfrm>
          <a:prstGeom prst="rect">
            <a:avLst/>
          </a:prstGeom>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600"/>
              </a:lnSpc>
            </a:pPr>
            <a:r>
              <a:rPr lang="zh-CN" altLang="en-US" b="1" dirty="0">
                <a:solidFill>
                  <a:schemeClr val="tx1"/>
                </a:solidFill>
                <a:latin typeface="微软雅黑" pitchFamily="34" charset="-122"/>
                <a:ea typeface="微软雅黑" pitchFamily="34" charset="-122"/>
              </a:rPr>
              <a:t>链路的</a:t>
            </a:r>
            <a:r>
              <a:rPr lang="zh-CN" altLang="en-US" b="1" dirty="0">
                <a:solidFill>
                  <a:srgbClr val="C00000"/>
                </a:solidFill>
                <a:latin typeface="微软雅黑" pitchFamily="34" charset="-122"/>
                <a:ea typeface="微软雅黑" pitchFamily="34" charset="-122"/>
              </a:rPr>
              <a:t>时延带宽积</a:t>
            </a:r>
            <a:r>
              <a:rPr lang="zh-CN" altLang="en-US" b="1" dirty="0">
                <a:solidFill>
                  <a:schemeClr val="tx1"/>
                </a:solidFill>
                <a:latin typeface="微软雅黑" pitchFamily="34" charset="-122"/>
                <a:ea typeface="微软雅黑" pitchFamily="34" charset="-122"/>
              </a:rPr>
              <a:t>又称为以比特为单位的</a:t>
            </a:r>
            <a:r>
              <a:rPr lang="zh-CN" altLang="en-US" b="1" dirty="0">
                <a:solidFill>
                  <a:srgbClr val="C00000"/>
                </a:solidFill>
                <a:latin typeface="微软雅黑" pitchFamily="34" charset="-122"/>
                <a:ea typeface="微软雅黑" pitchFamily="34" charset="-122"/>
              </a:rPr>
              <a:t>链路长度。</a:t>
            </a:r>
            <a:endParaRPr lang="en-US" altLang="zh-CN" b="1" dirty="0">
              <a:solidFill>
                <a:srgbClr val="C00000"/>
              </a:solidFill>
              <a:latin typeface="微软雅黑" pitchFamily="34" charset="-122"/>
              <a:ea typeface="微软雅黑" pitchFamily="34" charset="-122"/>
            </a:endParaRPr>
          </a:p>
          <a:p>
            <a:pPr>
              <a:lnSpc>
                <a:spcPts val="2600"/>
              </a:lnSpc>
            </a:pPr>
            <a:r>
              <a:rPr lang="zh-CN" altLang="en-US" b="1" dirty="0">
                <a:solidFill>
                  <a:schemeClr val="tx1"/>
                </a:solidFill>
                <a:latin typeface="微软雅黑" pitchFamily="34" charset="-122"/>
                <a:ea typeface="微软雅黑" pitchFamily="34" charset="-122"/>
              </a:rPr>
              <a:t>管道中的比特数表示从发送端发出</a:t>
            </a:r>
            <a:r>
              <a:rPr lang="zh-CN" altLang="en-US" b="1" dirty="0">
                <a:solidFill>
                  <a:srgbClr val="0000CC"/>
                </a:solidFill>
                <a:latin typeface="微软雅黑" pitchFamily="34" charset="-122"/>
                <a:ea typeface="微软雅黑" pitchFamily="34" charset="-122"/>
              </a:rPr>
              <a:t>但尚未</a:t>
            </a:r>
            <a:r>
              <a:rPr lang="zh-CN" altLang="en-US" b="1" dirty="0">
                <a:solidFill>
                  <a:schemeClr val="tx1"/>
                </a:solidFill>
                <a:latin typeface="微软雅黑" pitchFamily="34" charset="-122"/>
                <a:ea typeface="微软雅黑" pitchFamily="34" charset="-122"/>
              </a:rPr>
              <a:t>到达接收端的比特数。</a:t>
            </a:r>
            <a:endParaRPr lang="en-US" altLang="zh-CN" b="1" dirty="0">
              <a:solidFill>
                <a:schemeClr val="tx1"/>
              </a:solidFill>
              <a:latin typeface="微软雅黑" pitchFamily="34" charset="-122"/>
              <a:ea typeface="微软雅黑" pitchFamily="34" charset="-122"/>
            </a:endParaRPr>
          </a:p>
          <a:p>
            <a:pPr>
              <a:lnSpc>
                <a:spcPts val="2600"/>
              </a:lnSpc>
            </a:pPr>
            <a:r>
              <a:rPr lang="zh-CN" altLang="zh-CN" b="1" dirty="0">
                <a:solidFill>
                  <a:schemeClr val="tx1"/>
                </a:solidFill>
                <a:latin typeface="微软雅黑" pitchFamily="34" charset="-122"/>
                <a:ea typeface="微软雅黑" pitchFamily="34" charset="-122"/>
              </a:rPr>
              <a:t>只有在代表链路的管道都充满比特时，链路才得到</a:t>
            </a:r>
            <a:r>
              <a:rPr lang="zh-CN" altLang="en-US" b="1" dirty="0">
                <a:solidFill>
                  <a:schemeClr val="tx1"/>
                </a:solidFill>
                <a:latin typeface="微软雅黑" pitchFamily="34" charset="-122"/>
                <a:ea typeface="微软雅黑" pitchFamily="34" charset="-122"/>
              </a:rPr>
              <a:t>了</a:t>
            </a:r>
            <a:r>
              <a:rPr lang="zh-CN" altLang="zh-CN" b="1" dirty="0">
                <a:solidFill>
                  <a:schemeClr val="tx1"/>
                </a:solidFill>
                <a:latin typeface="微软雅黑" pitchFamily="34" charset="-122"/>
                <a:ea typeface="微软雅黑" pitchFamily="34" charset="-122"/>
              </a:rPr>
              <a:t>充分利用</a:t>
            </a:r>
            <a:r>
              <a:rPr lang="zh-CN" altLang="en-US" b="1" dirty="0">
                <a:solidFill>
                  <a:schemeClr val="tx1"/>
                </a:solidFill>
                <a:latin typeface="微软雅黑" pitchFamily="34" charset="-122"/>
                <a:ea typeface="微软雅黑" pitchFamily="34" charset="-122"/>
              </a:rPr>
              <a:t>。</a:t>
            </a:r>
            <a:endParaRPr lang="en-US" altLang="zh-CN" b="1" dirty="0">
              <a:solidFill>
                <a:schemeClr val="tx1"/>
              </a:solidFill>
              <a:latin typeface="微软雅黑" pitchFamily="34" charset="-122"/>
              <a:ea typeface="微软雅黑" pitchFamily="34" charset="-122"/>
            </a:endParaRPr>
          </a:p>
        </p:txBody>
      </p:sp>
      <p:sp>
        <p:nvSpPr>
          <p:cNvPr id="13" name="矩形 13"/>
          <p:cNvSpPr>
            <a:spLocks noChangeArrowheads="1"/>
          </p:cNvSpPr>
          <p:nvPr/>
        </p:nvSpPr>
        <p:spPr bwMode="auto">
          <a:xfrm>
            <a:off x="3256689" y="2743110"/>
            <a:ext cx="300831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zh-CN" b="1" dirty="0">
                <a:latin typeface="微软雅黑" pitchFamily="34" charset="-122"/>
                <a:ea typeface="微软雅黑" pitchFamily="34" charset="-122"/>
              </a:rPr>
              <a:t>链路像一条空心管道</a:t>
            </a:r>
            <a:endParaRPr lang="zh-CN" altLang="en-US" b="1" dirty="0">
              <a:latin typeface="微软雅黑" pitchFamily="34" charset="-122"/>
              <a:ea typeface="微软雅黑" pitchFamily="34" charset="-122"/>
            </a:endParaRPr>
          </a:p>
        </p:txBody>
      </p:sp>
      <p:sp>
        <p:nvSpPr>
          <p:cNvPr id="15" name="内容占位符 14">
            <a:extLst>
              <a:ext uri="{FF2B5EF4-FFF2-40B4-BE49-F238E27FC236}">
                <a16:creationId xmlns:a16="http://schemas.microsoft.com/office/drawing/2014/main" id="{57ACEE6F-E303-4550-AC1B-8B6F660F3E3E}"/>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5. </a:t>
            </a:r>
            <a:r>
              <a:rPr lang="zh-CN" altLang="en-US" dirty="0"/>
              <a:t>时延带宽积</a:t>
            </a:r>
          </a:p>
        </p:txBody>
      </p: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dirty="0"/>
              <a:t>表示从发送方发送完数据，到发送方收到来自接收方的确认总共经历的时间。</a:t>
            </a:r>
            <a:r>
              <a:rPr lang="en-US" altLang="zh-CN" dirty="0"/>
              <a:t> </a:t>
            </a:r>
          </a:p>
          <a:p>
            <a:endParaRPr lang="zh-CN" altLang="en-US" dirty="0"/>
          </a:p>
          <a:p>
            <a:endParaRPr lang="zh-CN" altLang="en-US"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6. </a:t>
            </a:r>
            <a:r>
              <a:rPr lang="zh-CN" altLang="en-US" dirty="0"/>
              <a:t>往返时间 </a:t>
            </a:r>
            <a:r>
              <a:rPr lang="en-US" altLang="zh-CN" dirty="0"/>
              <a:t>RTT (Round-Trip Time)</a:t>
            </a:r>
            <a:endParaRPr lang="zh-CN" altLang="en-US" dirty="0"/>
          </a:p>
        </p:txBody>
      </p:sp>
      <p:sp>
        <p:nvSpPr>
          <p:cNvPr id="50" name="矩形 49"/>
          <p:cNvSpPr/>
          <p:nvPr/>
        </p:nvSpPr>
        <p:spPr>
          <a:xfrm>
            <a:off x="533945" y="2207531"/>
            <a:ext cx="4535216" cy="2246769"/>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往返时间 </a:t>
            </a:r>
            <a:r>
              <a:rPr lang="en-US" altLang="zh-CN" sz="1600" b="1" dirty="0">
                <a:latin typeface="微软雅黑" panose="020B0503020204020204" pitchFamily="34" charset="-122"/>
                <a:ea typeface="微软雅黑" panose="020B0503020204020204" pitchFamily="34" charset="-122"/>
              </a:rPr>
              <a:t>RTT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A </a:t>
            </a:r>
            <a:r>
              <a:rPr lang="zh-CN" altLang="en-US" sz="1600" b="1" dirty="0">
                <a:latin typeface="微软雅黑" panose="020B0503020204020204" pitchFamily="34" charset="-122"/>
                <a:ea typeface="微软雅黑" panose="020B0503020204020204" pitchFamily="34" charset="-122"/>
              </a:rPr>
              <a:t>的传播时延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2 x </a:t>
            </a:r>
            <a:r>
              <a:rPr lang="zh-CN" altLang="en-US" sz="1600" b="1" dirty="0">
                <a:latin typeface="微软雅黑" panose="020B0503020204020204" pitchFamily="34" charset="-122"/>
                <a:ea typeface="微软雅黑" panose="020B0503020204020204" pitchFamily="34" charset="-122"/>
              </a:rPr>
              <a:t>传播时延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处理和排队时延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PQB</a:t>
            </a:r>
            <a:r>
              <a:rPr lang="en-US" altLang="zh-CN" sz="1600" b="1" dirty="0">
                <a:latin typeface="微软雅黑" panose="020B0503020204020204" pitchFamily="34" charset="-122"/>
                <a:ea typeface="微软雅黑" panose="020B0503020204020204" pitchFamily="34" charset="-122"/>
              </a:rPr>
              <a:t> </a:t>
            </a:r>
          </a:p>
          <a:p>
            <a:pPr>
              <a:lnSpc>
                <a:spcPts val="2400"/>
              </a:lnSpc>
            </a:pPr>
            <a:r>
              <a:rPr lang="en-US" altLang="zh-CN" sz="1600" b="1" dirty="0">
                <a:latin typeface="微软雅黑" panose="020B0503020204020204" pitchFamily="34" charset="-122"/>
                <a:ea typeface="微软雅黑" panose="020B0503020204020204" pitchFamily="34" charset="-122"/>
              </a:rPr>
              <a:t>                         + </a:t>
            </a:r>
            <a:r>
              <a:rPr lang="zh-CN" altLang="en-US" sz="1600" b="1" dirty="0">
                <a:latin typeface="微软雅黑" panose="020B0503020204020204" pitchFamily="34" charset="-122"/>
                <a:ea typeface="微软雅黑" panose="020B0503020204020204" pitchFamily="34" charset="-122"/>
              </a:rPr>
              <a:t>结点 </a:t>
            </a: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发送时延 </a:t>
            </a:r>
            <a:r>
              <a:rPr lang="en-US" altLang="zh-CN" sz="1600" b="1" dirty="0" err="1">
                <a:latin typeface="微软雅黑" panose="020B0503020204020204" pitchFamily="34" charset="-122"/>
                <a:ea typeface="微软雅黑" panose="020B0503020204020204" pitchFamily="34" charset="-122"/>
              </a:rPr>
              <a:t>t</a:t>
            </a:r>
            <a:r>
              <a:rPr lang="en-US" altLang="zh-CN" sz="1600" b="1" baseline="-25000" dirty="0" err="1">
                <a:latin typeface="微软雅黑" panose="020B0503020204020204" pitchFamily="34" charset="-122"/>
                <a:ea typeface="微软雅黑" panose="020B0503020204020204" pitchFamily="34" charset="-122"/>
              </a:rPr>
              <a:t>TB</a:t>
            </a:r>
            <a:r>
              <a:rPr lang="en-US" altLang="zh-CN" sz="1600" b="1" dirty="0">
                <a:latin typeface="微软雅黑" panose="020B0503020204020204" pitchFamily="34" charset="-122"/>
                <a:ea typeface="微软雅黑" panose="020B0503020204020204" pitchFamily="34" charset="-122"/>
              </a:rPr>
              <a:t> </a:t>
            </a:r>
          </a:p>
        </p:txBody>
      </p:sp>
      <p:grpSp>
        <p:nvGrpSpPr>
          <p:cNvPr id="66" name="组合 65"/>
          <p:cNvGrpSpPr/>
          <p:nvPr/>
        </p:nvGrpSpPr>
        <p:grpSpPr>
          <a:xfrm>
            <a:off x="5217132" y="1241434"/>
            <a:ext cx="4057502" cy="2781927"/>
            <a:chOff x="5217132" y="1241434"/>
            <a:chExt cx="4057502" cy="2781927"/>
          </a:xfrm>
        </p:grpSpPr>
        <p:cxnSp>
          <p:nvCxnSpPr>
            <p:cNvPr id="13" name="直接连接符 12"/>
            <p:cNvCxnSpPr/>
            <p:nvPr/>
          </p:nvCxnSpPr>
          <p:spPr>
            <a:xfrm flipH="1">
              <a:off x="6339846" y="2760145"/>
              <a:ext cx="249065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783982" y="2980344"/>
              <a:ext cx="204651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427623" y="3595848"/>
              <a:ext cx="3402878"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386361" y="3169710"/>
              <a:ext cx="444137"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427623" y="1863424"/>
              <a:ext cx="295874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6026342" y="2324978"/>
              <a:ext cx="757636"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383389" y="1241434"/>
              <a:ext cx="731290"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A</a:t>
              </a:r>
            </a:p>
          </p:txBody>
        </p:sp>
        <p:sp>
          <p:nvSpPr>
            <p:cNvPr id="24" name="矩形 23"/>
            <p:cNvSpPr/>
            <p:nvPr/>
          </p:nvSpPr>
          <p:spPr>
            <a:xfrm>
              <a:off x="8020716" y="1241434"/>
              <a:ext cx="720069" cy="307777"/>
            </a:xfrm>
            <a:prstGeom prst="rect">
              <a:avLst/>
            </a:prstGeom>
          </p:spPr>
          <p:txBody>
            <a:bodyPr wrap="none">
              <a:spAutoFit/>
            </a:bodyPr>
            <a:lstStyle/>
            <a:p>
              <a:r>
                <a:rPr kumimoji="1" lang="zh-CN" altLang="en-US" sz="1400" b="1" dirty="0">
                  <a:solidFill>
                    <a:srgbClr val="0000FF"/>
                  </a:solidFill>
                  <a:latin typeface="微软雅黑" pitchFamily="34" charset="-122"/>
                  <a:ea typeface="微软雅黑" pitchFamily="34" charset="-122"/>
                </a:rPr>
                <a:t>结点 </a:t>
              </a:r>
              <a:r>
                <a:rPr kumimoji="1" lang="en-US" altLang="zh-CN" sz="1400" b="1" dirty="0">
                  <a:solidFill>
                    <a:srgbClr val="0000FF"/>
                  </a:solidFill>
                  <a:latin typeface="微软雅黑" pitchFamily="34" charset="-122"/>
                  <a:ea typeface="微软雅黑" pitchFamily="34" charset="-122"/>
                </a:rPr>
                <a:t>B</a:t>
              </a:r>
            </a:p>
          </p:txBody>
        </p:sp>
        <p:grpSp>
          <p:nvGrpSpPr>
            <p:cNvPr id="65" name="组合 64"/>
            <p:cNvGrpSpPr/>
            <p:nvPr/>
          </p:nvGrpSpPr>
          <p:grpSpPr>
            <a:xfrm>
              <a:off x="6698428" y="1628504"/>
              <a:ext cx="1774282" cy="2394857"/>
              <a:chOff x="6698428" y="1628504"/>
              <a:chExt cx="1774282" cy="2394857"/>
            </a:xfrm>
          </p:grpSpPr>
          <p:sp>
            <p:nvSpPr>
              <p:cNvPr id="7" name="平行四边形 6"/>
              <p:cNvSpPr/>
              <p:nvPr/>
            </p:nvSpPr>
            <p:spPr>
              <a:xfrm rot="900000" flipV="1">
                <a:off x="6698428" y="2085467"/>
                <a:ext cx="1774282" cy="444137"/>
              </a:xfrm>
              <a:prstGeom prst="parallelogram">
                <a:avLst>
                  <a:gd name="adj" fmla="val 26894"/>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 name="直接连接符 4"/>
              <p:cNvCxnSpPr/>
              <p:nvPr/>
            </p:nvCxnSpPr>
            <p:spPr>
              <a:xfrm>
                <a:off x="6783978"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386357" y="1628504"/>
                <a:ext cx="0" cy="239485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731852" y="3197906"/>
                <a:ext cx="1704669" cy="178367"/>
              </a:xfrm>
              <a:prstGeom prst="parallelogram">
                <a:avLst>
                  <a:gd name="adj" fmla="val 26894"/>
                </a:avLst>
              </a:prstGeom>
              <a:solidFill>
                <a:srgbClr val="00B05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rot="911734">
                <a:off x="7271892" y="2153091"/>
                <a:ext cx="543739" cy="307777"/>
              </a:xfrm>
              <a:prstGeom prst="rect">
                <a:avLst/>
              </a:prstGeom>
            </p:spPr>
            <p:txBody>
              <a:bodyPr wrap="none">
                <a:spAutoFit/>
              </a:bodyPr>
              <a:lstStyle/>
              <a:p>
                <a:r>
                  <a:rPr kumimoji="1" lang="zh-CN" altLang="en-US" sz="1400" b="1" dirty="0">
                    <a:latin typeface="微软雅黑" pitchFamily="34" charset="-122"/>
                    <a:ea typeface="微软雅黑" pitchFamily="34" charset="-122"/>
                  </a:rPr>
                  <a:t>数据</a:t>
                </a:r>
                <a:endParaRPr kumimoji="1" lang="en-US" altLang="zh-CN" sz="1400" b="1" dirty="0">
                  <a:latin typeface="微软雅黑" pitchFamily="34" charset="-122"/>
                  <a:ea typeface="微软雅黑" pitchFamily="34" charset="-122"/>
                </a:endParaRPr>
              </a:p>
            </p:txBody>
          </p:sp>
          <p:sp>
            <p:nvSpPr>
              <p:cNvPr id="27" name="矩形 26"/>
              <p:cNvSpPr/>
              <p:nvPr/>
            </p:nvSpPr>
            <p:spPr>
              <a:xfrm rot="20641677">
                <a:off x="7315436" y="3156193"/>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确认</a:t>
                </a:r>
                <a:endParaRPr kumimoji="1" lang="en-US" altLang="zh-CN" sz="1200" b="1" dirty="0">
                  <a:latin typeface="微软雅黑" pitchFamily="34" charset="-122"/>
                  <a:ea typeface="微软雅黑" pitchFamily="34" charset="-122"/>
                </a:endParaRPr>
              </a:p>
            </p:txBody>
          </p:sp>
        </p:grpSp>
        <p:cxnSp>
          <p:nvCxnSpPr>
            <p:cNvPr id="29" name="直接箭头连接符 28"/>
            <p:cNvCxnSpPr/>
            <p:nvPr/>
          </p:nvCxnSpPr>
          <p:spPr>
            <a:xfrm>
              <a:off x="6561913" y="1863424"/>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0" name="直接箭头连接符 29"/>
            <p:cNvCxnSpPr/>
            <p:nvPr/>
          </p:nvCxnSpPr>
          <p:spPr>
            <a:xfrm>
              <a:off x="6561913" y="2308092"/>
              <a:ext cx="0" cy="44355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1" name="直接箭头连接符 30"/>
            <p:cNvCxnSpPr/>
            <p:nvPr/>
          </p:nvCxnSpPr>
          <p:spPr>
            <a:xfrm>
              <a:off x="6561913" y="2771659"/>
              <a:ext cx="0" cy="82217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36" name="直接箭头连接符 35"/>
            <p:cNvCxnSpPr/>
            <p:nvPr/>
          </p:nvCxnSpPr>
          <p:spPr>
            <a:xfrm>
              <a:off x="6213573" y="2324978"/>
              <a:ext cx="0" cy="1268857"/>
            </a:xfrm>
            <a:prstGeom prst="straightConnector1">
              <a:avLst/>
            </a:prstGeom>
            <a:ln w="1905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621492" y="3169710"/>
              <a:ext cx="0" cy="424125"/>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0" name="直接箭头连接符 39"/>
            <p:cNvCxnSpPr/>
            <p:nvPr/>
          </p:nvCxnSpPr>
          <p:spPr>
            <a:xfrm>
              <a:off x="8621492" y="2760145"/>
              <a:ext cx="0" cy="220199"/>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cxnSp>
          <p:nvCxnSpPr>
            <p:cNvPr id="42" name="直接箭头连接符 41"/>
            <p:cNvCxnSpPr/>
            <p:nvPr/>
          </p:nvCxnSpPr>
          <p:spPr>
            <a:xfrm>
              <a:off x="8621492" y="2980344"/>
              <a:ext cx="0" cy="189366"/>
            </a:xfrm>
            <a:prstGeom prst="straightConnector1">
              <a:avLst/>
            </a:prstGeom>
            <a:ln w="19050">
              <a:headEnd type="triangle"/>
              <a:tailEnd type="triangle"/>
            </a:ln>
          </p:spPr>
          <p:style>
            <a:lnRef idx="1">
              <a:schemeClr val="dk1"/>
            </a:lnRef>
            <a:fillRef idx="0">
              <a:schemeClr val="dk1"/>
            </a:fillRef>
            <a:effectRef idx="0">
              <a:schemeClr val="dk1"/>
            </a:effectRef>
            <a:fontRef idx="minor">
              <a:schemeClr val="tx1"/>
            </a:fontRef>
          </p:style>
        </p:cxnSp>
        <p:sp>
          <p:nvSpPr>
            <p:cNvPr id="43" name="文本框 42"/>
            <p:cNvSpPr txBox="1"/>
            <p:nvPr/>
          </p:nvSpPr>
          <p:spPr>
            <a:xfrm>
              <a:off x="6100273" y="1898490"/>
              <a:ext cx="461554" cy="338554"/>
            </a:xfrm>
            <a:prstGeom prst="rect">
              <a:avLst/>
            </a:prstGeom>
            <a:noFill/>
          </p:spPr>
          <p:txBody>
            <a:bodyPr wrap="square" rtlCol="0">
              <a:spAutoFit/>
            </a:bodyPr>
            <a:lstStyle/>
            <a:p>
              <a:pPr algn="r"/>
              <a:r>
                <a:rPr lang="en-US" altLang="zh-CN" sz="1600" dirty="0" err="1">
                  <a:latin typeface="Times New Roman" panose="02020603050405020304" pitchFamily="18" charset="0"/>
                  <a:ea typeface="微软雅黑 Light" panose="020B0502040204020203" pitchFamily="34" charset="-122"/>
                </a:rPr>
                <a:t>t</a:t>
              </a:r>
              <a:r>
                <a:rPr lang="en-US" altLang="zh-CN" sz="1400" b="1" baseline="-25000" dirty="0" err="1">
                  <a:latin typeface="Times New Roman" panose="02020603050405020304" pitchFamily="18" charset="0"/>
                  <a:ea typeface="微软雅黑 Light" panose="020B0502040204020203" pitchFamily="34" charset="-122"/>
                </a:rPr>
                <a:t>TA</a:t>
              </a:r>
              <a:endParaRPr lang="zh-CN" altLang="en-US" sz="1400" b="1" baseline="-25000" dirty="0">
                <a:latin typeface="Times New Roman" panose="02020603050405020304" pitchFamily="18" charset="0"/>
                <a:ea typeface="微软雅黑 Light" panose="020B0502040204020203" pitchFamily="34" charset="-122"/>
              </a:endParaRPr>
            </a:p>
          </p:txBody>
        </p:sp>
        <p:sp>
          <p:nvSpPr>
            <p:cNvPr id="44" name="文本框 43"/>
            <p:cNvSpPr txBox="1"/>
            <p:nvPr/>
          </p:nvSpPr>
          <p:spPr>
            <a:xfrm>
              <a:off x="6100273" y="2360573"/>
              <a:ext cx="461554" cy="338554"/>
            </a:xfrm>
            <a:prstGeom prst="rect">
              <a:avLst/>
            </a:prstGeom>
            <a:noFill/>
          </p:spPr>
          <p:txBody>
            <a:bodyPr wrap="square" rtlCol="0">
              <a:spAutoFit/>
            </a:bodyPr>
            <a:lstStyle/>
            <a:p>
              <a:pPr algn="r"/>
              <a:r>
                <a:rPr lang="en-US" altLang="zh-CN" sz="1600" dirty="0" err="1">
                  <a:latin typeface="Times New Roman" panose="02020603050405020304" pitchFamily="18" charset="0"/>
                  <a:ea typeface="微软雅黑 Light" panose="020B0502040204020203" pitchFamily="34" charset="-122"/>
                </a:rPr>
                <a:t>t</a:t>
              </a:r>
              <a:r>
                <a:rPr lang="en-US" altLang="zh-CN" sz="1400" b="1" baseline="-25000" dirty="0" err="1">
                  <a:latin typeface="Times New Roman" panose="02020603050405020304" pitchFamily="18" charset="0"/>
                  <a:ea typeface="微软雅黑 Light" panose="020B0502040204020203" pitchFamily="34" charset="-122"/>
                </a:rPr>
                <a:t>P</a:t>
              </a:r>
              <a:endParaRPr lang="zh-CN" altLang="en-US" sz="1400" b="1" baseline="-25000" dirty="0">
                <a:latin typeface="Times New Roman" panose="02020603050405020304" pitchFamily="18" charset="0"/>
                <a:ea typeface="微软雅黑 Light" panose="020B0502040204020203" pitchFamily="34" charset="-122"/>
              </a:endParaRPr>
            </a:p>
          </p:txBody>
        </p:sp>
        <p:sp>
          <p:nvSpPr>
            <p:cNvPr id="45" name="文本框 44"/>
            <p:cNvSpPr txBox="1"/>
            <p:nvPr/>
          </p:nvSpPr>
          <p:spPr>
            <a:xfrm>
              <a:off x="8626506" y="3203786"/>
              <a:ext cx="461554" cy="338554"/>
            </a:xfrm>
            <a:prstGeom prst="rect">
              <a:avLst/>
            </a:prstGeom>
            <a:noFill/>
          </p:spPr>
          <p:txBody>
            <a:bodyPr wrap="square" rtlCol="0">
              <a:spAutoFit/>
            </a:bodyPr>
            <a:lstStyle/>
            <a:p>
              <a:r>
                <a:rPr lang="en-US" altLang="zh-CN" sz="1600" dirty="0" err="1">
                  <a:latin typeface="Times New Roman" panose="02020603050405020304" pitchFamily="18" charset="0"/>
                  <a:ea typeface="微软雅黑 Light" panose="020B0502040204020203" pitchFamily="34" charset="-122"/>
                </a:rPr>
                <a:t>t</a:t>
              </a:r>
              <a:r>
                <a:rPr lang="en-US" altLang="zh-CN" sz="1400" b="1" baseline="-25000" dirty="0" err="1">
                  <a:latin typeface="Times New Roman" panose="02020603050405020304" pitchFamily="18" charset="0"/>
                  <a:ea typeface="微软雅黑 Light" panose="020B0502040204020203" pitchFamily="34" charset="-122"/>
                </a:rPr>
                <a:t>P</a:t>
              </a:r>
              <a:endParaRPr lang="zh-CN" altLang="en-US" sz="1400" b="1" baseline="-25000" dirty="0">
                <a:latin typeface="Times New Roman" panose="02020603050405020304" pitchFamily="18" charset="0"/>
                <a:ea typeface="微软雅黑 Light" panose="020B0502040204020203" pitchFamily="34" charset="-122"/>
              </a:endParaRPr>
            </a:p>
          </p:txBody>
        </p:sp>
        <p:sp>
          <p:nvSpPr>
            <p:cNvPr id="46" name="文本框 45"/>
            <p:cNvSpPr txBox="1"/>
            <p:nvPr/>
          </p:nvSpPr>
          <p:spPr>
            <a:xfrm>
              <a:off x="8626506" y="2687627"/>
              <a:ext cx="648128" cy="338554"/>
            </a:xfrm>
            <a:prstGeom prst="rect">
              <a:avLst/>
            </a:prstGeom>
            <a:noFill/>
          </p:spPr>
          <p:txBody>
            <a:bodyPr wrap="square" rtlCol="0">
              <a:spAutoFit/>
            </a:bodyPr>
            <a:lstStyle/>
            <a:p>
              <a:r>
                <a:rPr lang="en-US" altLang="zh-CN" sz="1600" dirty="0" err="1">
                  <a:latin typeface="Times New Roman" panose="02020603050405020304" pitchFamily="18" charset="0"/>
                  <a:ea typeface="微软雅黑 Light" panose="020B0502040204020203" pitchFamily="34" charset="-122"/>
                </a:rPr>
                <a:t>t</a:t>
              </a:r>
              <a:r>
                <a:rPr lang="en-US" altLang="zh-CN" sz="1600" baseline="-25000" dirty="0" err="1">
                  <a:latin typeface="Times New Roman" panose="02020603050405020304" pitchFamily="18" charset="0"/>
                  <a:ea typeface="微软雅黑 Light" panose="020B0502040204020203" pitchFamily="34" charset="-122"/>
                </a:rPr>
                <a:t>P</a:t>
              </a:r>
              <a:r>
                <a:rPr lang="en-US" altLang="zh-CN" sz="1400" b="1" baseline="-25000" dirty="0" err="1">
                  <a:latin typeface="Times New Roman" panose="02020603050405020304" pitchFamily="18" charset="0"/>
                  <a:ea typeface="微软雅黑 Light" panose="020B0502040204020203" pitchFamily="34" charset="-122"/>
                </a:rPr>
                <a:t>QB</a:t>
              </a:r>
              <a:endParaRPr lang="zh-CN" altLang="en-US" sz="1400" b="1" baseline="-25000" dirty="0">
                <a:latin typeface="Times New Roman" panose="02020603050405020304" pitchFamily="18" charset="0"/>
                <a:ea typeface="微软雅黑 Light" panose="020B0502040204020203" pitchFamily="34" charset="-122"/>
              </a:endParaRPr>
            </a:p>
          </p:txBody>
        </p:sp>
        <p:sp>
          <p:nvSpPr>
            <p:cNvPr id="47" name="矩形 46"/>
            <p:cNvSpPr/>
            <p:nvPr/>
          </p:nvSpPr>
          <p:spPr>
            <a:xfrm>
              <a:off x="5747338" y="2592252"/>
              <a:ext cx="543739" cy="738664"/>
            </a:xfrm>
            <a:prstGeom prst="rect">
              <a:avLst/>
            </a:prstGeom>
          </p:spPr>
          <p:txBody>
            <a:bodyPr wrap="none">
              <a:spAutoFit/>
            </a:bodyPr>
            <a:lstStyle/>
            <a:p>
              <a:r>
                <a:rPr kumimoji="1" lang="zh-CN" altLang="en-US" sz="1400" b="1" dirty="0">
                  <a:latin typeface="微软雅黑" pitchFamily="34" charset="-122"/>
                  <a:ea typeface="微软雅黑" pitchFamily="34" charset="-122"/>
                </a:rPr>
                <a:t>往返</a:t>
              </a:r>
              <a:endParaRPr kumimoji="1" lang="en-US" altLang="zh-CN" sz="1400" b="1" dirty="0">
                <a:latin typeface="微软雅黑" pitchFamily="34" charset="-122"/>
                <a:ea typeface="微软雅黑" pitchFamily="34" charset="-122"/>
              </a:endParaRPr>
            </a:p>
            <a:p>
              <a:r>
                <a:rPr kumimoji="1" lang="zh-CN" altLang="en-US" sz="1400" b="1" dirty="0">
                  <a:latin typeface="微软雅黑" pitchFamily="34" charset="-122"/>
                  <a:ea typeface="微软雅黑" pitchFamily="34" charset="-122"/>
                </a:rPr>
                <a:t>时间</a:t>
              </a:r>
              <a:endParaRPr kumimoji="1" lang="en-US" altLang="zh-CN" sz="1400" b="1" dirty="0">
                <a:latin typeface="微软雅黑" pitchFamily="34" charset="-122"/>
                <a:ea typeface="微软雅黑" pitchFamily="34" charset="-122"/>
              </a:endParaRPr>
            </a:p>
            <a:p>
              <a:r>
                <a:rPr kumimoji="1" lang="en-US" altLang="zh-CN" sz="1400" b="1" dirty="0">
                  <a:latin typeface="微软雅黑" pitchFamily="34" charset="-122"/>
                  <a:ea typeface="微软雅黑" pitchFamily="34" charset="-122"/>
                </a:rPr>
                <a:t>RTT</a:t>
              </a:r>
            </a:p>
          </p:txBody>
        </p:sp>
        <p:sp>
          <p:nvSpPr>
            <p:cNvPr id="49" name="文本框 48"/>
            <p:cNvSpPr txBox="1"/>
            <p:nvPr/>
          </p:nvSpPr>
          <p:spPr>
            <a:xfrm>
              <a:off x="8626504" y="2881624"/>
              <a:ext cx="461554" cy="338554"/>
            </a:xfrm>
            <a:prstGeom prst="rect">
              <a:avLst/>
            </a:prstGeom>
            <a:noFill/>
          </p:spPr>
          <p:txBody>
            <a:bodyPr wrap="square" rtlCol="0">
              <a:spAutoFit/>
            </a:bodyPr>
            <a:lstStyle/>
            <a:p>
              <a:r>
                <a:rPr lang="en-US" altLang="zh-CN" sz="1600" dirty="0" err="1">
                  <a:latin typeface="Times New Roman" panose="02020603050405020304" pitchFamily="18" charset="0"/>
                  <a:ea typeface="微软雅黑 Light" panose="020B0502040204020203" pitchFamily="34" charset="-122"/>
                </a:rPr>
                <a:t>t</a:t>
              </a:r>
              <a:r>
                <a:rPr lang="en-US" altLang="zh-CN" sz="1400" b="1" baseline="-25000" dirty="0" err="1">
                  <a:latin typeface="Times New Roman" panose="02020603050405020304" pitchFamily="18" charset="0"/>
                  <a:ea typeface="微软雅黑 Light" panose="020B0502040204020203" pitchFamily="34" charset="-122"/>
                </a:rPr>
                <a:t>TB</a:t>
              </a:r>
              <a:endParaRPr lang="zh-CN" altLang="en-US" sz="1400" b="1" baseline="-25000" dirty="0">
                <a:latin typeface="Times New Roman" panose="02020603050405020304" pitchFamily="18" charset="0"/>
                <a:ea typeface="微软雅黑 Light" panose="020B0502040204020203" pitchFamily="34" charset="-122"/>
              </a:endParaRPr>
            </a:p>
          </p:txBody>
        </p:sp>
        <p:cxnSp>
          <p:nvCxnSpPr>
            <p:cNvPr id="59" name="直接箭头连接符 58"/>
            <p:cNvCxnSpPr/>
            <p:nvPr/>
          </p:nvCxnSpPr>
          <p:spPr>
            <a:xfrm>
              <a:off x="5687628" y="1863424"/>
              <a:ext cx="0" cy="1730411"/>
            </a:xfrm>
            <a:prstGeom prst="straightConnector1">
              <a:avLst/>
            </a:prstGeom>
            <a:ln w="1905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217132" y="2272997"/>
              <a:ext cx="560425" cy="954107"/>
            </a:xfrm>
            <a:prstGeom prst="rect">
              <a:avLst/>
            </a:prstGeom>
          </p:spPr>
          <p:txBody>
            <a:bodyPr wrap="square">
              <a:spAutoFit/>
            </a:bodyPr>
            <a:lstStyle/>
            <a:p>
              <a:r>
                <a:rPr kumimoji="1" lang="zh-CN" altLang="en-US" sz="1400" b="1" dirty="0">
                  <a:latin typeface="微软雅黑" pitchFamily="34" charset="-122"/>
                  <a:ea typeface="微软雅黑" pitchFamily="34" charset="-122"/>
                </a:rPr>
                <a:t>成功发送的总时延</a:t>
              </a:r>
              <a:endParaRPr kumimoji="1" lang="en-US" altLang="zh-CN" sz="1400" b="1" dirty="0">
                <a:latin typeface="微软雅黑" pitchFamily="34" charset="-122"/>
                <a:ea typeface="微软雅黑" pitchFamily="34" charset="-122"/>
              </a:endParaRPr>
            </a:p>
          </p:txBody>
        </p:sp>
      </p:gr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endParaRPr lang="en-US" altLang="zh-CN" dirty="0"/>
          </a:p>
          <a:p>
            <a:endParaRPr lang="en-US" altLang="zh-CN" dirty="0"/>
          </a:p>
          <a:p>
            <a:endParaRPr lang="en-US" altLang="zh-CN" dirty="0"/>
          </a:p>
          <a:p>
            <a:r>
              <a:rPr lang="zh-CN" altLang="en-US" dirty="0"/>
              <a:t>结点 </a:t>
            </a:r>
            <a:r>
              <a:rPr lang="en-US" altLang="zh-CN" dirty="0"/>
              <a:t>A </a:t>
            </a:r>
            <a:r>
              <a:rPr lang="zh-CN" altLang="en-US" dirty="0"/>
              <a:t>要将一个 </a:t>
            </a:r>
            <a:r>
              <a:rPr lang="en-US" altLang="zh-CN" dirty="0"/>
              <a:t>100 MB </a:t>
            </a:r>
            <a:r>
              <a:rPr lang="zh-CN" altLang="en-US" dirty="0"/>
              <a:t>数据以 </a:t>
            </a:r>
            <a:r>
              <a:rPr lang="en-US" altLang="zh-CN" dirty="0"/>
              <a:t>100 Mbit/s </a:t>
            </a:r>
            <a:r>
              <a:rPr lang="zh-CN" altLang="en-US" dirty="0"/>
              <a:t>的速率发送给结点 </a:t>
            </a:r>
            <a:r>
              <a:rPr lang="en-US" altLang="zh-CN" dirty="0"/>
              <a:t>B</a:t>
            </a:r>
            <a:r>
              <a:rPr lang="zh-CN" altLang="en-US" dirty="0"/>
              <a:t>，</a:t>
            </a:r>
            <a:r>
              <a:rPr lang="en-US" altLang="zh-CN" dirty="0"/>
              <a:t>B </a:t>
            </a:r>
            <a:r>
              <a:rPr lang="zh-CN" altLang="en-US" dirty="0"/>
              <a:t>正确收完该数据后，就立即向 </a:t>
            </a:r>
            <a:r>
              <a:rPr lang="en-US" altLang="zh-CN" dirty="0"/>
              <a:t>A </a:t>
            </a:r>
            <a:r>
              <a:rPr lang="zh-CN" altLang="en-US" dirty="0"/>
              <a:t>发送确认。假定 </a:t>
            </a:r>
            <a:r>
              <a:rPr lang="en-US" altLang="zh-CN" dirty="0"/>
              <a:t>A </a:t>
            </a:r>
            <a:r>
              <a:rPr lang="zh-CN" altLang="en-US" dirty="0"/>
              <a:t>只有在收到 </a:t>
            </a:r>
            <a:r>
              <a:rPr lang="en-US" altLang="zh-CN" dirty="0"/>
              <a:t>B </a:t>
            </a:r>
            <a:r>
              <a:rPr lang="zh-CN" altLang="en-US" dirty="0"/>
              <a:t>的确认信息后，才能继续向 </a:t>
            </a:r>
            <a:r>
              <a:rPr lang="en-US" altLang="zh-CN" dirty="0"/>
              <a:t>B </a:t>
            </a:r>
            <a:r>
              <a:rPr lang="zh-CN" altLang="en-US" dirty="0"/>
              <a:t>发送数据，且确认信息很短。计算 </a:t>
            </a:r>
            <a:r>
              <a:rPr lang="en-US" altLang="zh-CN" dirty="0"/>
              <a:t>A </a:t>
            </a:r>
            <a:r>
              <a:rPr lang="zh-CN" altLang="en-US" dirty="0"/>
              <a:t>向 </a:t>
            </a:r>
            <a:r>
              <a:rPr lang="en-US" altLang="zh-CN" dirty="0"/>
              <a:t>B </a:t>
            </a:r>
            <a:r>
              <a:rPr lang="zh-CN" altLang="en-US" dirty="0"/>
              <a:t>发送数据的有效数据率。</a:t>
            </a:r>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分析举例</a:t>
            </a:r>
          </a:p>
        </p:txBody>
      </p:sp>
      <p:grpSp>
        <p:nvGrpSpPr>
          <p:cNvPr id="4" name="组合 3"/>
          <p:cNvGrpSpPr/>
          <p:nvPr/>
        </p:nvGrpSpPr>
        <p:grpSpPr>
          <a:xfrm>
            <a:off x="2163416" y="1098586"/>
            <a:ext cx="4747202" cy="895466"/>
            <a:chOff x="2163416" y="1139776"/>
            <a:chExt cx="4747202" cy="895466"/>
          </a:xfrm>
        </p:grpSpPr>
        <p:sp>
          <p:nvSpPr>
            <p:cNvPr id="17" name="椭圆 16"/>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9" name="直接连接符 18"/>
            <p:cNvCxnSpPr>
              <a:stCxn id="17" idx="6"/>
              <a:endCxn id="18"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21"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22"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23" name="文本框 22"/>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endParaRPr lang="en-US" altLang="zh-CN" dirty="0"/>
          </a:p>
          <a:p>
            <a:endParaRPr lang="en-US" altLang="zh-CN" dirty="0"/>
          </a:p>
          <a:p>
            <a:endParaRPr lang="en-US" altLang="zh-CN" dirty="0"/>
          </a:p>
          <a:p>
            <a:r>
              <a:rPr lang="zh-CN" altLang="en-US" dirty="0"/>
              <a:t>解：</a:t>
            </a:r>
            <a:endParaRPr lang="en-US" altLang="zh-CN" dirty="0"/>
          </a:p>
          <a:p>
            <a:endParaRPr lang="en-US" altLang="zh-CN"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分析举例</a:t>
            </a:r>
          </a:p>
        </p:txBody>
      </p:sp>
      <p:grpSp>
        <p:nvGrpSpPr>
          <p:cNvPr id="9" name="组合 8"/>
          <p:cNvGrpSpPr/>
          <p:nvPr/>
        </p:nvGrpSpPr>
        <p:grpSpPr>
          <a:xfrm>
            <a:off x="809892" y="2673889"/>
            <a:ext cx="5537741" cy="738664"/>
            <a:chOff x="940526" y="2682598"/>
            <a:chExt cx="5537741" cy="738664"/>
          </a:xfrm>
        </p:grpSpPr>
        <p:sp>
          <p:nvSpPr>
            <p:cNvPr id="4" name="文本框 3"/>
            <p:cNvSpPr txBox="1"/>
            <p:nvPr/>
          </p:nvSpPr>
          <p:spPr>
            <a:xfrm>
              <a:off x="940526" y="2867264"/>
              <a:ext cx="1422184"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发送时延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2360014" y="2682598"/>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数据长度</a:t>
              </a:r>
            </a:p>
          </p:txBody>
        </p:sp>
        <p:sp>
          <p:nvSpPr>
            <p:cNvPr id="14" name="文本框 13"/>
            <p:cNvSpPr txBox="1"/>
            <p:nvPr/>
          </p:nvSpPr>
          <p:spPr>
            <a:xfrm>
              <a:off x="2360014" y="3051930"/>
              <a:ext cx="110799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3838954" y="2682598"/>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3871785" y="3051930"/>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100×10</a:t>
              </a:r>
              <a:r>
                <a:rPr lang="en-US" altLang="zh-CN" b="1" baseline="30000" dirty="0">
                  <a:latin typeface="微软雅黑" panose="020B0503020204020204" pitchFamily="34" charset="-122"/>
                  <a:ea typeface="微软雅黑" panose="020B0503020204020204" pitchFamily="34" charset="-122"/>
                </a:rPr>
                <a:t>6</a:t>
              </a:r>
              <a:endParaRPr lang="zh-CN" altLang="en-US" b="1" baseline="30000"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1106393"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8.39 s</a:t>
              </a:r>
              <a:endParaRPr lang="zh-CN" altLang="en-US" b="1" dirty="0">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809892" y="3532535"/>
            <a:ext cx="7351788" cy="738664"/>
            <a:chOff x="940526" y="3549953"/>
            <a:chExt cx="7351788" cy="738664"/>
          </a:xfrm>
        </p:grpSpPr>
        <p:sp>
          <p:nvSpPr>
            <p:cNvPr id="31" name="文本框 30"/>
            <p:cNvSpPr txBox="1"/>
            <p:nvPr/>
          </p:nvSpPr>
          <p:spPr>
            <a:xfrm>
              <a:off x="940526" y="3734619"/>
              <a:ext cx="1653017"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有效数据率 </a:t>
              </a:r>
              <a:r>
                <a:rPr lang="en-US" altLang="zh-CN" b="1" dirty="0">
                  <a:latin typeface="微软雅黑" panose="020B0503020204020204" pitchFamily="34" charset="-122"/>
                  <a:ea typeface="微软雅黑" panose="020B0503020204020204" pitchFamily="34" charset="-122"/>
                </a:rPr>
                <a:t>= </a:t>
              </a:r>
              <a:endParaRPr lang="zh-CN" altLang="en-US" b="1" dirty="0">
                <a:latin typeface="微软雅黑" panose="020B0503020204020204" pitchFamily="34" charset="-122"/>
                <a:ea typeface="微软雅黑" panose="020B0503020204020204" pitchFamily="34" charset="-122"/>
              </a:endParaRPr>
            </a:p>
          </p:txBody>
        </p:sp>
        <p:sp>
          <p:nvSpPr>
            <p:cNvPr id="32" name="文本框 31"/>
            <p:cNvSpPr txBox="1"/>
            <p:nvPr/>
          </p:nvSpPr>
          <p:spPr>
            <a:xfrm>
              <a:off x="2560318" y="3549953"/>
              <a:ext cx="1811385" cy="369332"/>
            </a:xfrm>
            <a:prstGeom prst="rect">
              <a:avLst/>
            </a:prstGeom>
            <a:noFill/>
          </p:spPr>
          <p:txBody>
            <a:bodyPr wrap="square" rtlCol="0">
              <a:spAutoFit/>
            </a:bodyPr>
            <a:lstStyle/>
            <a:p>
              <a:pPr algn="ctr"/>
              <a:r>
                <a:rPr lang="zh-CN" altLang="en-US" b="1" dirty="0">
                  <a:latin typeface="微软雅黑" panose="020B0503020204020204" pitchFamily="34" charset="-122"/>
                  <a:ea typeface="微软雅黑" panose="020B0503020204020204" pitchFamily="34" charset="-122"/>
                </a:rPr>
                <a:t>数据长度</a:t>
              </a:r>
            </a:p>
          </p:txBody>
        </p:sp>
        <p:sp>
          <p:nvSpPr>
            <p:cNvPr id="33" name="文本框 32"/>
            <p:cNvSpPr txBox="1"/>
            <p:nvPr/>
          </p:nvSpPr>
          <p:spPr>
            <a:xfrm>
              <a:off x="2560319" y="3919285"/>
              <a:ext cx="1872436" cy="369332"/>
            </a:xfrm>
            <a:prstGeom prst="rect">
              <a:avLst/>
            </a:prstGeom>
            <a:noFill/>
          </p:spPr>
          <p:txBody>
            <a:bodyPr wrap="none" rtlCol="0">
              <a:spAutoFit/>
            </a:bodyPr>
            <a:lstStyle/>
            <a:p>
              <a:r>
                <a:rPr lang="zh-CN" altLang="en-US" b="1" dirty="0">
                  <a:latin typeface="微软雅黑" panose="020B0503020204020204" pitchFamily="34" charset="-122"/>
                  <a:ea typeface="微软雅黑" panose="020B0503020204020204" pitchFamily="34" charset="-122"/>
                </a:rPr>
                <a:t>发送时间 </a:t>
              </a:r>
              <a:r>
                <a:rPr lang="en-US" altLang="zh-CN" b="1" dirty="0">
                  <a:latin typeface="微软雅黑" panose="020B0503020204020204" pitchFamily="34" charset="-122"/>
                  <a:ea typeface="微软雅黑" panose="020B0503020204020204" pitchFamily="34" charset="-122"/>
                </a:rPr>
                <a:t>+ RTT</a:t>
              </a:r>
              <a:endParaRPr lang="zh-CN" altLang="en-US" b="1" dirty="0">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60996"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36" name="文本框 35"/>
            <p:cNvSpPr txBox="1"/>
            <p:nvPr/>
          </p:nvSpPr>
          <p:spPr>
            <a:xfrm>
              <a:off x="4918826" y="3549953"/>
              <a:ext cx="1522726"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100×2</a:t>
              </a:r>
              <a:r>
                <a:rPr lang="en-US" altLang="zh-CN" b="1" baseline="30000" dirty="0">
                  <a:latin typeface="微软雅黑" panose="020B0503020204020204" pitchFamily="34" charset="-122"/>
                  <a:ea typeface="微软雅黑" panose="020B0503020204020204" pitchFamily="34" charset="-122"/>
                </a:rPr>
                <a:t>20</a:t>
              </a:r>
              <a:r>
                <a:rPr lang="en-US" altLang="zh-CN" b="1" dirty="0">
                  <a:latin typeface="微软雅黑" panose="020B0503020204020204" pitchFamily="34" charset="-122"/>
                  <a:ea typeface="微软雅黑" panose="020B0503020204020204" pitchFamily="34" charset="-122"/>
                </a:rPr>
                <a:t>×8</a:t>
              </a:r>
              <a:endParaRPr lang="zh-CN" altLang="en-US" b="1" dirty="0">
                <a:latin typeface="微软雅黑" panose="020B0503020204020204" pitchFamily="34" charset="-122"/>
                <a:ea typeface="微软雅黑" panose="020B0503020204020204" pitchFamily="34" charset="-122"/>
              </a:endParaRPr>
            </a:p>
          </p:txBody>
        </p:sp>
        <p:sp>
          <p:nvSpPr>
            <p:cNvPr id="37" name="文本框 36"/>
            <p:cNvSpPr txBox="1"/>
            <p:nvPr/>
          </p:nvSpPr>
          <p:spPr>
            <a:xfrm>
              <a:off x="4951657" y="3919285"/>
              <a:ext cx="1489895" cy="369332"/>
            </a:xfrm>
            <a:prstGeom prst="rect">
              <a:avLst/>
            </a:prstGeom>
            <a:noFill/>
          </p:spPr>
          <p:txBody>
            <a:bodyPr wrap="square" rtlCol="0">
              <a:spAutoFit/>
            </a:bodyPr>
            <a:lstStyle/>
            <a:p>
              <a:pPr algn="ctr"/>
              <a:r>
                <a:rPr lang="en-US" altLang="zh-CN" b="1" dirty="0">
                  <a:latin typeface="微软雅黑" panose="020B0503020204020204" pitchFamily="34" charset="-122"/>
                  <a:ea typeface="微软雅黑" panose="020B0503020204020204" pitchFamily="34" charset="-122"/>
                </a:rPr>
                <a:t>8.39 + 2</a:t>
              </a:r>
              <a:endParaRPr lang="zh-CN" altLang="en-US" b="1" baseline="30000" dirty="0">
                <a:latin typeface="微软雅黑" panose="020B0503020204020204" pitchFamily="34" charset="-122"/>
                <a:ea typeface="微软雅黑" panose="020B0503020204020204" pitchFamily="34" charset="-122"/>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840568" cy="369332"/>
            </a:xfrm>
            <a:prstGeom prst="rect">
              <a:avLst/>
            </a:prstGeom>
            <a:noFill/>
          </p:spPr>
          <p:txBody>
            <a:bodyPr wrap="none" rtlCol="0">
              <a:spAutoFit/>
            </a:bodyPr>
            <a:lstStyle/>
            <a:p>
              <a:r>
                <a:rPr lang="en-US" altLang="zh-CN" b="1" dirty="0">
                  <a:latin typeface="微软雅黑" panose="020B0503020204020204" pitchFamily="34" charset="-122"/>
                  <a:ea typeface="微软雅黑" panose="020B0503020204020204" pitchFamily="34" charset="-122"/>
                </a:rPr>
                <a:t>≈ 80.7 Mbit/s</a:t>
              </a:r>
              <a:endParaRPr lang="zh-CN" altLang="en-US" b="1" dirty="0">
                <a:latin typeface="微软雅黑" panose="020B0503020204020204" pitchFamily="34" charset="-122"/>
                <a:ea typeface="微软雅黑" panose="020B0503020204020204" pitchFamily="34" charset="-122"/>
              </a:endParaRPr>
            </a:p>
          </p:txBody>
        </p:sp>
      </p:grpSp>
      <p:grpSp>
        <p:nvGrpSpPr>
          <p:cNvPr id="40" name="组合 39"/>
          <p:cNvGrpSpPr/>
          <p:nvPr/>
        </p:nvGrpSpPr>
        <p:grpSpPr>
          <a:xfrm>
            <a:off x="2163416" y="1098586"/>
            <a:ext cx="4747202" cy="895466"/>
            <a:chOff x="2163416" y="1139776"/>
            <a:chExt cx="4747202" cy="895466"/>
          </a:xfrm>
        </p:grpSpPr>
        <p:sp>
          <p:nvSpPr>
            <p:cNvPr id="41" name="椭圆 40"/>
            <p:cNvSpPr/>
            <p:nvPr/>
          </p:nvSpPr>
          <p:spPr>
            <a:xfrm>
              <a:off x="2360014"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椭圆 41"/>
            <p:cNvSpPr/>
            <p:nvPr/>
          </p:nvSpPr>
          <p:spPr>
            <a:xfrm>
              <a:off x="6287580" y="1269325"/>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3" name="直接连接符 42"/>
            <p:cNvCxnSpPr>
              <a:stCxn id="41" idx="6"/>
              <a:endCxn id="42" idx="2"/>
            </p:cNvCxnSpPr>
            <p:nvPr/>
          </p:nvCxnSpPr>
          <p:spPr>
            <a:xfrm>
              <a:off x="2778022" y="1478330"/>
              <a:ext cx="350955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文本框 43"/>
            <p:cNvSpPr txBox="1"/>
            <p:nvPr/>
          </p:nvSpPr>
          <p:spPr>
            <a:xfrm>
              <a:off x="3932056" y="1139776"/>
              <a:ext cx="1317990"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100 Mbit/s</a:t>
              </a:r>
              <a:endParaRPr lang="zh-CN" altLang="en-US" sz="1600" b="1" dirty="0">
                <a:latin typeface="微软雅黑" panose="020B0503020204020204" pitchFamily="34" charset="-122"/>
                <a:ea typeface="微软雅黑" panose="020B0503020204020204" pitchFamily="34" charset="-122"/>
              </a:endParaRPr>
            </a:p>
          </p:txBody>
        </p:sp>
        <p:sp>
          <p:nvSpPr>
            <p:cNvPr id="45" name="Text Box 37"/>
            <p:cNvSpPr txBox="1">
              <a:spLocks noChangeArrowheads="1"/>
            </p:cNvSpPr>
            <p:nvPr/>
          </p:nvSpPr>
          <p:spPr bwMode="auto">
            <a:xfrm>
              <a:off x="6113693" y="1697104"/>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46" name="Text Box 38"/>
            <p:cNvSpPr txBox="1">
              <a:spLocks noChangeArrowheads="1"/>
            </p:cNvSpPr>
            <p:nvPr/>
          </p:nvSpPr>
          <p:spPr bwMode="auto">
            <a:xfrm>
              <a:off x="2163416" y="1697104"/>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47" name="文本框 46"/>
            <p:cNvSpPr txBox="1"/>
            <p:nvPr/>
          </p:nvSpPr>
          <p:spPr>
            <a:xfrm>
              <a:off x="3932056" y="1518057"/>
              <a:ext cx="1149482" cy="338554"/>
            </a:xfrm>
            <a:prstGeom prst="rect">
              <a:avLst/>
            </a:prstGeom>
            <a:noFill/>
          </p:spPr>
          <p:txBody>
            <a:bodyPr wrap="none" rtlCol="0">
              <a:spAutoFit/>
            </a:bodyPr>
            <a:lstStyle/>
            <a:p>
              <a:r>
                <a:rPr lang="en-US" altLang="zh-CN" sz="1600" b="1" dirty="0">
                  <a:latin typeface="微软雅黑" panose="020B0503020204020204" pitchFamily="34" charset="-122"/>
                  <a:ea typeface="微软雅黑" panose="020B0503020204020204" pitchFamily="34" charset="-122"/>
                </a:rPr>
                <a:t>RTT = 2 s</a:t>
              </a:r>
              <a:endParaRPr lang="zh-CN" altLang="en-US"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endParaRPr lang="en-US" altLang="zh-CN" dirty="0"/>
          </a:p>
          <a:p>
            <a:endParaRPr lang="en-US" altLang="zh-CN" dirty="0"/>
          </a:p>
          <a:p>
            <a:endParaRPr lang="en-US" altLang="zh-CN" dirty="0"/>
          </a:p>
          <a:p>
            <a:r>
              <a:rPr lang="zh-CN" altLang="en-US" dirty="0"/>
              <a:t>在互联网中，往返时间还包括各中间结点的处理时延、排队时延以及转发数据时的发送时延。</a:t>
            </a:r>
          </a:p>
          <a:p>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a:p>
            <a:endParaRPr lang="zh-CN" altLang="en-US"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6. </a:t>
            </a:r>
            <a:r>
              <a:rPr lang="zh-CN" altLang="en-US" dirty="0"/>
              <a:t>往返时间 </a:t>
            </a:r>
            <a:r>
              <a:rPr lang="en-US" altLang="zh-CN" dirty="0"/>
              <a:t>RTT (Round-Trip Time)</a:t>
            </a:r>
            <a:endParaRPr lang="zh-CN" altLang="en-US" dirty="0"/>
          </a:p>
        </p:txBody>
      </p:sp>
      <p:grpSp>
        <p:nvGrpSpPr>
          <p:cNvPr id="15" name="组合 14"/>
          <p:cNvGrpSpPr/>
          <p:nvPr/>
        </p:nvGrpSpPr>
        <p:grpSpPr>
          <a:xfrm>
            <a:off x="1597353" y="1252099"/>
            <a:ext cx="6192832" cy="765917"/>
            <a:chOff x="1597353" y="1219186"/>
            <a:chExt cx="6192832" cy="765917"/>
          </a:xfrm>
        </p:grpSpPr>
        <p:sp>
          <p:nvSpPr>
            <p:cNvPr id="5" name="椭圆 4"/>
            <p:cNvSpPr/>
            <p:nvPr/>
          </p:nvSpPr>
          <p:spPr>
            <a:xfrm>
              <a:off x="1793951"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nvSpPr>
          <p:spPr>
            <a:xfrm>
              <a:off x="7167147" y="1219186"/>
              <a:ext cx="418008" cy="418009"/>
            </a:xfrm>
            <a:prstGeom prst="ellipse">
              <a:avLst/>
            </a:prstGeom>
            <a:solidFill>
              <a:srgbClr val="99330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a:stCxn id="5" idx="6"/>
              <a:endCxn id="6" idx="2"/>
            </p:cNvCxnSpPr>
            <p:nvPr/>
          </p:nvCxnSpPr>
          <p:spPr>
            <a:xfrm>
              <a:off x="2211959" y="1428191"/>
              <a:ext cx="4955188" cy="0"/>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p:cNvSpPr txBox="1">
              <a:spLocks noChangeArrowheads="1"/>
            </p:cNvSpPr>
            <p:nvPr/>
          </p:nvSpPr>
          <p:spPr bwMode="auto">
            <a:xfrm>
              <a:off x="6993260" y="1646965"/>
              <a:ext cx="796925"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B</a:t>
              </a:r>
            </a:p>
          </p:txBody>
        </p:sp>
        <p:sp>
          <p:nvSpPr>
            <p:cNvPr id="10" name="Text Box 38"/>
            <p:cNvSpPr txBox="1">
              <a:spLocks noChangeArrowheads="1"/>
            </p:cNvSpPr>
            <p:nvPr/>
          </p:nvSpPr>
          <p:spPr bwMode="auto">
            <a:xfrm>
              <a:off x="1597353" y="1646965"/>
              <a:ext cx="811212"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结点 </a:t>
              </a:r>
              <a:r>
                <a:rPr kumimoji="1" lang="en-US" altLang="zh-CN" sz="1600" b="1" dirty="0">
                  <a:solidFill>
                    <a:srgbClr val="0000FF"/>
                  </a:solidFill>
                  <a:latin typeface="微软雅黑" pitchFamily="34" charset="-122"/>
                  <a:ea typeface="微软雅黑" pitchFamily="34" charset="-122"/>
                </a:rPr>
                <a:t>A</a:t>
              </a:r>
            </a:p>
          </p:txBody>
        </p:sp>
        <p:sp>
          <p:nvSpPr>
            <p:cNvPr id="12" name="椭圆 11"/>
            <p:cNvSpPr/>
            <p:nvPr/>
          </p:nvSpPr>
          <p:spPr>
            <a:xfrm>
              <a:off x="3265700"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nvSpPr>
          <p:spPr>
            <a:xfrm>
              <a:off x="4567642"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nvSpPr>
          <p:spPr>
            <a:xfrm>
              <a:off x="5808556" y="1271441"/>
              <a:ext cx="304813" cy="304814"/>
            </a:xfrm>
            <a:prstGeom prst="ellipse">
              <a:avLst/>
            </a:prstGeom>
            <a:solidFill>
              <a:srgbClr val="00B050"/>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p:cNvGraphicFramePr/>
          <p:nvPr>
            <p:extLst>
              <p:ext uri="{D42A27DB-BD31-4B8C-83A1-F6EECF244321}">
                <p14:modId xmlns:p14="http://schemas.microsoft.com/office/powerpoint/2010/main" val="2921566290"/>
              </p:ext>
            </p:extLst>
          </p:nvPr>
        </p:nvGraphicFramePr>
        <p:xfrm>
          <a:off x="1663337" y="1051733"/>
          <a:ext cx="6096000" cy="2621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矩形 6"/>
          <p:cNvSpPr/>
          <p:nvPr/>
        </p:nvSpPr>
        <p:spPr>
          <a:xfrm>
            <a:off x="2542902" y="3816799"/>
            <a:ext cx="4336869" cy="400110"/>
          </a:xfrm>
          <a:prstGeom prst="rect">
            <a:avLst/>
          </a:prstGeom>
          <a:solidFill>
            <a:srgbClr val="FFFF99"/>
          </a:solidFill>
          <a:ln>
            <a:solidFill>
              <a:srgbClr val="000066"/>
            </a:solid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2000" b="1" dirty="0">
                <a:solidFill>
                  <a:srgbClr val="0000CC"/>
                </a:solidFill>
                <a:latin typeface="微软雅黑" panose="020B0503020204020204" pitchFamily="34" charset="-122"/>
                <a:ea typeface="微软雅黑" panose="020B0503020204020204" pitchFamily="34" charset="-122"/>
              </a:rPr>
              <a:t>问题：信道利用率越高越好吗？</a:t>
            </a:r>
          </a:p>
        </p:txBody>
      </p:sp>
      <p:sp>
        <p:nvSpPr>
          <p:cNvPr id="5" name="内容占位符 4">
            <a:extLst>
              <a:ext uri="{FF2B5EF4-FFF2-40B4-BE49-F238E27FC236}">
                <a16:creationId xmlns:a16="http://schemas.microsoft.com/office/drawing/2014/main" id="{99CC3B82-3237-40F4-692D-481EAF98585E}"/>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7. </a:t>
            </a:r>
            <a:r>
              <a:rPr lang="zh-CN" altLang="en-US" dirty="0"/>
              <a:t>利用率</a:t>
            </a: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dirty="0"/>
              <a:t>根据排队论，当某信道的利用率增大时，时延会迅速增加。</a:t>
            </a:r>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zh-CN" altLang="en-US" dirty="0"/>
              <a:t>时延与网络利用率的关系</a:t>
            </a:r>
          </a:p>
        </p:txBody>
      </p:sp>
      <p:sp>
        <p:nvSpPr>
          <p:cNvPr id="5" name="矩形 5"/>
          <p:cNvSpPr>
            <a:spLocks noChangeArrowheads="1"/>
          </p:cNvSpPr>
          <p:nvPr/>
        </p:nvSpPr>
        <p:spPr bwMode="auto">
          <a:xfrm>
            <a:off x="987288" y="2644395"/>
            <a:ext cx="3088101" cy="1631216"/>
          </a:xfrm>
          <a:prstGeom prst="rect">
            <a:avLst/>
          </a:prstGeom>
          <a:noFill/>
          <a:ln>
            <a:noFill/>
          </a:ln>
        </p:spPr>
        <p:txBody>
          <a:bodyPr wrap="square">
            <a:spAutoFit/>
          </a:bodyPr>
          <a:lstStyle/>
          <a:p>
            <a:pPr>
              <a:lnSpc>
                <a:spcPts val="2400"/>
              </a:lnSpc>
            </a:pPr>
            <a:r>
              <a:rPr lang="zh-CN" altLang="en-US" sz="1600" b="1" dirty="0">
                <a:latin typeface="微软雅黑" pitchFamily="34" charset="-122"/>
                <a:ea typeface="微软雅黑" pitchFamily="34" charset="-122"/>
              </a:rPr>
              <a:t>其中：</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en-US" altLang="zh-CN" sz="1600" b="1" baseline="-25000" dirty="0">
                <a:latin typeface="微软雅黑" pitchFamily="34" charset="-122"/>
                <a:ea typeface="微软雅黑" pitchFamily="34" charset="-122"/>
              </a:rPr>
              <a:t>0</a:t>
            </a:r>
            <a:r>
              <a:rPr lang="zh-CN" altLang="en-US" sz="1600" b="1" dirty="0">
                <a:latin typeface="微软雅黑" pitchFamily="34" charset="-122"/>
                <a:ea typeface="微软雅黑" pitchFamily="34" charset="-122"/>
              </a:rPr>
              <a:t>：网络空闲时的时延。</a:t>
            </a:r>
            <a:endParaRPr lang="en-US" altLang="zh-CN" sz="1600" b="1" dirty="0">
              <a:latin typeface="微软雅黑" pitchFamily="34" charset="-122"/>
              <a:ea typeface="微软雅黑" pitchFamily="34" charset="-122"/>
            </a:endParaRPr>
          </a:p>
          <a:p>
            <a:pPr>
              <a:lnSpc>
                <a:spcPts val="2400"/>
              </a:lnSpc>
            </a:pPr>
            <a:r>
              <a:rPr lang="en-US" altLang="zh-CN" sz="1600" b="1" dirty="0">
                <a:latin typeface="微软雅黑" pitchFamily="34" charset="-122"/>
                <a:ea typeface="微软雅黑" pitchFamily="34" charset="-122"/>
              </a:rPr>
              <a:t>D</a:t>
            </a:r>
            <a:r>
              <a:rPr lang="zh-CN" altLang="en-US" sz="1600" b="1" dirty="0">
                <a:latin typeface="微软雅黑" pitchFamily="34" charset="-122"/>
                <a:ea typeface="微软雅黑" pitchFamily="34" charset="-122"/>
              </a:rPr>
              <a:t>：网络在当前的时延。</a:t>
            </a:r>
            <a:endParaRPr lang="en-US" altLang="zh-CN" sz="1600" b="1" dirty="0">
              <a:latin typeface="微软雅黑" pitchFamily="34" charset="-122"/>
              <a:ea typeface="微软雅黑" pitchFamily="34" charset="-122"/>
            </a:endParaRPr>
          </a:p>
          <a:p>
            <a:pPr marL="357188" indent="-357188">
              <a:lnSpc>
                <a:spcPts val="2400"/>
              </a:lnSpc>
            </a:pPr>
            <a:r>
              <a:rPr lang="en-US" altLang="zh-CN" sz="1600" b="1" dirty="0">
                <a:latin typeface="微软雅黑" pitchFamily="34" charset="-122"/>
                <a:ea typeface="微软雅黑" pitchFamily="34" charset="-122"/>
              </a:rPr>
              <a:t>U</a:t>
            </a:r>
            <a:r>
              <a:rPr lang="zh-CN" altLang="en-US" sz="1600" b="1" dirty="0">
                <a:latin typeface="微软雅黑" pitchFamily="34" charset="-122"/>
                <a:ea typeface="微软雅黑" pitchFamily="34" charset="-122"/>
              </a:rPr>
              <a:t>：网络当前的利用率，数值在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之间。</a:t>
            </a:r>
            <a:endParaRPr lang="en-US" altLang="zh-CN" sz="1600" b="1" dirty="0">
              <a:latin typeface="微软雅黑" pitchFamily="34" charset="-122"/>
              <a:ea typeface="微软雅黑" pitchFamily="34" charset="-122"/>
            </a:endParaRPr>
          </a:p>
        </p:txBody>
      </p:sp>
      <p:grpSp>
        <p:nvGrpSpPr>
          <p:cNvPr id="20" name="组合 19"/>
          <p:cNvGrpSpPr/>
          <p:nvPr/>
        </p:nvGrpSpPr>
        <p:grpSpPr>
          <a:xfrm>
            <a:off x="1448819" y="1557064"/>
            <a:ext cx="1611086" cy="894481"/>
            <a:chOff x="2760617" y="1739421"/>
            <a:chExt cx="1611086" cy="894481"/>
          </a:xfrm>
          <a:solidFill>
            <a:srgbClr val="FFCC66"/>
          </a:solidFill>
        </p:grpSpPr>
        <p:sp>
          <p:nvSpPr>
            <p:cNvPr id="19" name="圆角矩形 18"/>
            <p:cNvSpPr/>
            <p:nvPr/>
          </p:nvSpPr>
          <p:spPr>
            <a:xfrm>
              <a:off x="2760617" y="1739421"/>
              <a:ext cx="1611086" cy="894481"/>
            </a:xfrm>
            <a:prstGeom prst="roundRect">
              <a:avLst/>
            </a:prstGeom>
            <a:grp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sz="2000"/>
            </a:p>
          </p:txBody>
        </p:sp>
        <p:grpSp>
          <p:nvGrpSpPr>
            <p:cNvPr id="18" name="组合 17"/>
            <p:cNvGrpSpPr/>
            <p:nvPr/>
          </p:nvGrpSpPr>
          <p:grpSpPr>
            <a:xfrm>
              <a:off x="2830280" y="1827192"/>
              <a:ext cx="1419505" cy="769442"/>
              <a:chOff x="801181" y="1895238"/>
              <a:chExt cx="1419505" cy="769442"/>
            </a:xfrm>
            <a:grpFill/>
          </p:grpSpPr>
          <p:sp>
            <p:nvSpPr>
              <p:cNvPr id="8" name="文本框 7"/>
              <p:cNvSpPr txBox="1"/>
              <p:nvPr/>
            </p:nvSpPr>
            <p:spPr>
              <a:xfrm>
                <a:off x="801181" y="2079904"/>
                <a:ext cx="737702" cy="400110"/>
              </a:xfrm>
              <a:prstGeom prst="rect">
                <a:avLst/>
              </a:prstGeom>
              <a:grpFill/>
            </p:spPr>
            <p:txBody>
              <a:bodyPr wrap="none" rtlCol="0">
                <a:spAutoFit/>
              </a:bodyPr>
              <a:lstStyle/>
              <a:p>
                <a:r>
                  <a:rPr lang="en-US" altLang="zh-CN" sz="2000" b="1" dirty="0">
                    <a:latin typeface="微软雅黑" panose="020B0503020204020204" pitchFamily="34" charset="-122"/>
                    <a:ea typeface="微软雅黑" panose="020B0503020204020204" pitchFamily="34" charset="-122"/>
                  </a:rPr>
                  <a:t>D = </a:t>
                </a:r>
                <a:endParaRPr lang="zh-CN" altLang="en-US" sz="2000" b="1" dirty="0">
                  <a:latin typeface="微软雅黑" panose="020B0503020204020204" pitchFamily="34" charset="-122"/>
                  <a:ea typeface="微软雅黑" panose="020B0503020204020204" pitchFamily="34" charset="-122"/>
                </a:endParaRPr>
              </a:p>
            </p:txBody>
          </p:sp>
          <p:sp>
            <p:nvSpPr>
              <p:cNvPr id="9" name="文本框 8"/>
              <p:cNvSpPr txBox="1"/>
              <p:nvPr/>
            </p:nvSpPr>
            <p:spPr>
              <a:xfrm>
                <a:off x="1489152" y="1895238"/>
                <a:ext cx="618323"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D</a:t>
                </a:r>
                <a:r>
                  <a:rPr lang="en-US" altLang="zh-CN" sz="2000" b="1" baseline="-25000" dirty="0">
                    <a:latin typeface="微软雅黑" panose="020B0503020204020204" pitchFamily="34" charset="-122"/>
                    <a:ea typeface="微软雅黑" panose="020B0503020204020204" pitchFamily="34" charset="-122"/>
                  </a:rPr>
                  <a:t>0</a:t>
                </a:r>
                <a:r>
                  <a:rPr lang="en-US" altLang="zh-CN" sz="2000" b="1" dirty="0">
                    <a:latin typeface="微软雅黑" panose="020B0503020204020204" pitchFamily="34" charset="-122"/>
                    <a:ea typeface="微软雅黑" panose="020B0503020204020204" pitchFamily="34" charset="-122"/>
                  </a:rPr>
                  <a:t> </a:t>
                </a:r>
                <a:endParaRPr lang="zh-CN" altLang="en-US" sz="2000" b="1" dirty="0">
                  <a:latin typeface="微软雅黑" panose="020B0503020204020204" pitchFamily="34" charset="-122"/>
                  <a:ea typeface="微软雅黑" panose="020B0503020204020204" pitchFamily="34" charset="-122"/>
                </a:endParaRPr>
              </a:p>
            </p:txBody>
          </p:sp>
          <p:sp>
            <p:nvSpPr>
              <p:cNvPr id="10" name="文本框 9"/>
              <p:cNvSpPr txBox="1"/>
              <p:nvPr/>
            </p:nvSpPr>
            <p:spPr>
              <a:xfrm>
                <a:off x="1361216" y="2264570"/>
                <a:ext cx="859470" cy="400110"/>
              </a:xfrm>
              <a:prstGeom prst="rect">
                <a:avLst/>
              </a:prstGeom>
              <a:grpFill/>
            </p:spPr>
            <p:txBody>
              <a:bodyPr wrap="square" rtlCol="0">
                <a:spAutoFit/>
              </a:bodyPr>
              <a:lstStyle/>
              <a:p>
                <a:r>
                  <a:rPr lang="en-US" altLang="zh-CN" sz="2000" b="1" dirty="0">
                    <a:latin typeface="微软雅黑" panose="020B0503020204020204" pitchFamily="34" charset="-122"/>
                    <a:ea typeface="微软雅黑" panose="020B0503020204020204" pitchFamily="34" charset="-122"/>
                  </a:rPr>
                  <a:t>1 - U</a:t>
                </a:r>
                <a:endParaRPr lang="zh-CN" altLang="en-US" sz="2000" b="1" dirty="0">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1361215" y="2264570"/>
                <a:ext cx="859471" cy="0"/>
              </a:xfrm>
              <a:prstGeom prst="line">
                <a:avLst/>
              </a:prstGeom>
              <a:grpFill/>
              <a:ln w="19050"/>
            </p:spPr>
            <p:style>
              <a:lnRef idx="1">
                <a:schemeClr val="dk1"/>
              </a:lnRef>
              <a:fillRef idx="0">
                <a:schemeClr val="dk1"/>
              </a:fillRef>
              <a:effectRef idx="0">
                <a:schemeClr val="dk1"/>
              </a:effectRef>
              <a:fontRef idx="minor">
                <a:schemeClr val="tx1"/>
              </a:fontRef>
            </p:style>
          </p:cxnSp>
        </p:grpSp>
      </p:grpSp>
      <p:grpSp>
        <p:nvGrpSpPr>
          <p:cNvPr id="35" name="组合 34"/>
          <p:cNvGrpSpPr/>
          <p:nvPr/>
        </p:nvGrpSpPr>
        <p:grpSpPr>
          <a:xfrm>
            <a:off x="4342338" y="1495850"/>
            <a:ext cx="3986073" cy="2297090"/>
            <a:chOff x="4580707" y="1670485"/>
            <a:chExt cx="3724192" cy="2086103"/>
          </a:xfrm>
        </p:grpSpPr>
        <p:sp>
          <p:nvSpPr>
            <p:cNvPr id="21" name="圆角矩形 20"/>
            <p:cNvSpPr/>
            <p:nvPr/>
          </p:nvSpPr>
          <p:spPr>
            <a:xfrm>
              <a:off x="4580707" y="1670485"/>
              <a:ext cx="3724192" cy="2086103"/>
            </a:xfrm>
            <a:prstGeom prst="roundRect">
              <a:avLst>
                <a:gd name="adj" fmla="val 10067"/>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22" name="组合 4"/>
            <p:cNvGrpSpPr>
              <a:grpSpLocks/>
            </p:cNvGrpSpPr>
            <p:nvPr/>
          </p:nvGrpSpPr>
          <p:grpSpPr bwMode="auto">
            <a:xfrm>
              <a:off x="4695973" y="1783699"/>
              <a:ext cx="3400366" cy="1894737"/>
              <a:chOff x="2135973" y="2446456"/>
              <a:chExt cx="4890755" cy="2671462"/>
            </a:xfrm>
          </p:grpSpPr>
          <p:sp>
            <p:nvSpPr>
              <p:cNvPr id="23" name="Rectangle 4"/>
              <p:cNvSpPr>
                <a:spLocks noChangeArrowheads="1"/>
              </p:cNvSpPr>
              <p:nvPr/>
            </p:nvSpPr>
            <p:spPr bwMode="auto">
              <a:xfrm>
                <a:off x="4631067" y="2641057"/>
                <a:ext cx="921221" cy="2086023"/>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2135973" y="2446456"/>
                <a:ext cx="88793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微软雅黑" pitchFamily="34" charset="-122"/>
                    <a:ea typeface="微软雅黑" pitchFamily="34" charset="-122"/>
                  </a:rPr>
                  <a:t>时延 </a:t>
                </a:r>
                <a:r>
                  <a:rPr lang="en-US" altLang="zh-CN" sz="1200" b="1" i="1" dirty="0">
                    <a:solidFill>
                      <a:srgbClr val="000066"/>
                    </a:solidFill>
                    <a:latin typeface="微软雅黑" pitchFamily="34" charset="-122"/>
                    <a:ea typeface="微软雅黑" pitchFamily="34" charset="-122"/>
                  </a:rPr>
                  <a:t>D</a:t>
                </a:r>
              </a:p>
            </p:txBody>
          </p:sp>
          <p:sp>
            <p:nvSpPr>
              <p:cNvPr id="25" name="Line 6"/>
              <p:cNvSpPr>
                <a:spLocks noChangeShapeType="1"/>
              </p:cNvSpPr>
              <p:nvPr/>
            </p:nvSpPr>
            <p:spPr bwMode="auto">
              <a:xfrm flipV="1">
                <a:off x="3029805" y="2543654"/>
                <a:ext cx="0" cy="2183427"/>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6" name="Line 7"/>
              <p:cNvSpPr>
                <a:spLocks noChangeShapeType="1"/>
              </p:cNvSpPr>
              <p:nvPr/>
            </p:nvSpPr>
            <p:spPr bwMode="auto">
              <a:xfrm rot="5400000" flipV="1">
                <a:off x="4836015" y="2920871"/>
                <a:ext cx="0" cy="3612419"/>
              </a:xfrm>
              <a:prstGeom prst="line">
                <a:avLst/>
              </a:prstGeom>
              <a:noFill/>
              <a:ln w="25400">
                <a:solidFill>
                  <a:srgbClr val="1956B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7" name="Line 8"/>
              <p:cNvSpPr>
                <a:spLocks noChangeShapeType="1"/>
              </p:cNvSpPr>
              <p:nvPr/>
            </p:nvSpPr>
            <p:spPr bwMode="auto">
              <a:xfrm>
                <a:off x="5552286" y="2568280"/>
                <a:ext cx="0" cy="2158801"/>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8" name="Arc 9"/>
              <p:cNvSpPr>
                <a:spLocks/>
              </p:cNvSpPr>
              <p:nvPr/>
            </p:nvSpPr>
            <p:spPr bwMode="auto">
              <a:xfrm flipV="1">
                <a:off x="3029804" y="2641057"/>
                <a:ext cx="2510540" cy="1942842"/>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Times New Roman" panose="02020603050405020304" pitchFamily="18" charset="0"/>
                  <a:ea typeface="微软雅黑 Light" panose="020B0502040204020203" pitchFamily="34" charset="-122"/>
                </a:endParaRPr>
              </a:p>
            </p:txBody>
          </p:sp>
          <p:sp>
            <p:nvSpPr>
              <p:cNvPr id="29" name="Text Box 10"/>
              <p:cNvSpPr txBox="1">
                <a:spLocks noChangeArrowheads="1"/>
              </p:cNvSpPr>
              <p:nvPr/>
            </p:nvSpPr>
            <p:spPr bwMode="auto">
              <a:xfrm>
                <a:off x="5934155" y="4763239"/>
                <a:ext cx="1092573"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微软雅黑" pitchFamily="34" charset="-122"/>
                    <a:ea typeface="微软雅黑" pitchFamily="34" charset="-122"/>
                  </a:rPr>
                  <a:t>利用率 </a:t>
                </a:r>
                <a:r>
                  <a:rPr lang="en-US" altLang="zh-CN" sz="1200" b="1" i="1">
                    <a:solidFill>
                      <a:srgbClr val="000066"/>
                    </a:solidFill>
                    <a:latin typeface="微软雅黑" pitchFamily="34" charset="-122"/>
                    <a:ea typeface="微软雅黑" pitchFamily="34" charset="-122"/>
                  </a:rPr>
                  <a:t>U</a:t>
                </a:r>
              </a:p>
            </p:txBody>
          </p:sp>
          <p:sp>
            <p:nvSpPr>
              <p:cNvPr id="30" name="Text Box 11"/>
              <p:cNvSpPr txBox="1">
                <a:spLocks noChangeArrowheads="1"/>
              </p:cNvSpPr>
              <p:nvPr/>
            </p:nvSpPr>
            <p:spPr bwMode="auto">
              <a:xfrm>
                <a:off x="5400721" y="4719961"/>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1</a:t>
                </a:r>
                <a:endParaRPr lang="en-US" altLang="zh-CN" sz="1200" b="1" i="1">
                  <a:solidFill>
                    <a:srgbClr val="000066"/>
                  </a:solidFill>
                  <a:latin typeface="微软雅黑" pitchFamily="34" charset="-122"/>
                  <a:ea typeface="微软雅黑" pitchFamily="34" charset="-122"/>
                </a:endParaRPr>
              </a:p>
            </p:txBody>
          </p:sp>
          <p:sp>
            <p:nvSpPr>
              <p:cNvPr id="31" name="Text Box 12"/>
              <p:cNvSpPr txBox="1">
                <a:spLocks noChangeArrowheads="1"/>
              </p:cNvSpPr>
              <p:nvPr/>
            </p:nvSpPr>
            <p:spPr bwMode="auto">
              <a:xfrm>
                <a:off x="2828045" y="4685155"/>
                <a:ext cx="375250"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微软雅黑" pitchFamily="34" charset="-122"/>
                    <a:ea typeface="微软雅黑" pitchFamily="34" charset="-122"/>
                  </a:rPr>
                  <a:t>0</a:t>
                </a:r>
                <a:endParaRPr lang="en-US" altLang="zh-CN" sz="1200" b="1" i="1">
                  <a:solidFill>
                    <a:srgbClr val="000066"/>
                  </a:solidFill>
                  <a:latin typeface="微软雅黑" pitchFamily="34" charset="-122"/>
                  <a:ea typeface="微软雅黑" pitchFamily="34" charset="-122"/>
                </a:endParaRPr>
              </a:p>
            </p:txBody>
          </p:sp>
          <p:sp>
            <p:nvSpPr>
              <p:cNvPr id="32" name="Text Box 13"/>
              <p:cNvSpPr txBox="1">
                <a:spLocks noChangeArrowheads="1"/>
              </p:cNvSpPr>
              <p:nvPr/>
            </p:nvSpPr>
            <p:spPr bwMode="auto">
              <a:xfrm>
                <a:off x="2585254" y="4385342"/>
                <a:ext cx="495881" cy="354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i="1">
                    <a:solidFill>
                      <a:srgbClr val="000066"/>
                    </a:solidFill>
                    <a:latin typeface="微软雅黑" pitchFamily="34" charset="-122"/>
                    <a:ea typeface="微软雅黑" pitchFamily="34" charset="-122"/>
                  </a:rPr>
                  <a:t>D</a:t>
                </a:r>
                <a:r>
                  <a:rPr lang="en-US" altLang="zh-CN" sz="1200" b="1" baseline="-25000">
                    <a:solidFill>
                      <a:srgbClr val="000066"/>
                    </a:solidFill>
                    <a:latin typeface="微软雅黑" pitchFamily="34" charset="-122"/>
                    <a:ea typeface="微软雅黑" pitchFamily="34" charset="-122"/>
                  </a:rPr>
                  <a:t>0</a:t>
                </a:r>
                <a:endParaRPr lang="en-US" altLang="zh-CN" sz="1200" b="1" i="1" baseline="-25000">
                  <a:solidFill>
                    <a:srgbClr val="000066"/>
                  </a:solidFill>
                  <a:latin typeface="微软雅黑" pitchFamily="34" charset="-122"/>
                  <a:ea typeface="微软雅黑" pitchFamily="34" charset="-122"/>
                </a:endParaRPr>
              </a:p>
            </p:txBody>
          </p:sp>
          <p:sp>
            <p:nvSpPr>
              <p:cNvPr id="33" name="Text Box 14"/>
              <p:cNvSpPr txBox="1">
                <a:spLocks noChangeArrowheads="1"/>
              </p:cNvSpPr>
              <p:nvPr/>
            </p:nvSpPr>
            <p:spPr bwMode="auto">
              <a:xfrm>
                <a:off x="4656119" y="2647003"/>
                <a:ext cx="704682" cy="816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微软雅黑" pitchFamily="34" charset="-122"/>
                    <a:ea typeface="微软雅黑" pitchFamily="34" charset="-122"/>
                  </a:rPr>
                  <a:t>时延急剧增大</a:t>
                </a:r>
                <a:endParaRPr lang="zh-CN" altLang="en-US" sz="1200" b="1" i="1" dirty="0">
                  <a:solidFill>
                    <a:schemeClr val="bg1"/>
                  </a:solidFill>
                  <a:latin typeface="微软雅黑" pitchFamily="34" charset="-122"/>
                  <a:ea typeface="微软雅黑" pitchFamily="34" charset="-122"/>
                </a:endParaRPr>
              </a:p>
            </p:txBody>
          </p:sp>
        </p:grpSp>
      </p:grpSp>
      <p:sp>
        <p:nvSpPr>
          <p:cNvPr id="34" name="矩形 16"/>
          <p:cNvSpPr>
            <a:spLocks noChangeArrowheads="1"/>
          </p:cNvSpPr>
          <p:nvPr/>
        </p:nvSpPr>
        <p:spPr bwMode="auto">
          <a:xfrm>
            <a:off x="4461804" y="3792939"/>
            <a:ext cx="3796939"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400"/>
              </a:lnSpc>
            </a:pPr>
            <a:r>
              <a:rPr lang="zh-CN" altLang="en-US" sz="1600" b="1" dirty="0">
                <a:latin typeface="微软雅黑" pitchFamily="34" charset="-122"/>
                <a:ea typeface="微软雅黑" pitchFamily="34" charset="-122"/>
              </a:rPr>
              <a:t>当信道的利用率增大时，</a:t>
            </a:r>
            <a:endParaRPr lang="en-US" altLang="zh-CN" sz="1600" b="1" dirty="0">
              <a:latin typeface="微软雅黑" pitchFamily="34" charset="-122"/>
              <a:ea typeface="微软雅黑" pitchFamily="34" charset="-122"/>
            </a:endParaRPr>
          </a:p>
          <a:p>
            <a:pPr algn="ctr">
              <a:lnSpc>
                <a:spcPts val="2400"/>
              </a:lnSpc>
            </a:pPr>
            <a:r>
              <a:rPr lang="zh-CN" altLang="en-US" sz="1600" b="1" dirty="0">
                <a:latin typeface="微软雅黑" pitchFamily="34" charset="-122"/>
                <a:ea typeface="微软雅黑" pitchFamily="34" charset="-122"/>
              </a:rPr>
              <a:t>该信道引起的时延迅速增加。</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747568C2-8DF1-D40D-9972-397EE1C49B47}"/>
              </a:ext>
            </a:extLst>
          </p:cNvPr>
          <p:cNvSpPr>
            <a:spLocks noGrp="1"/>
          </p:cNvSpPr>
          <p:nvPr>
            <p:ph sz="quarter" idx="4294967295"/>
          </p:nvPr>
        </p:nvSpPr>
        <p:spPr>
          <a:xfrm>
            <a:off x="612000" y="720000"/>
            <a:ext cx="7920000" cy="3960000"/>
          </a:xfrm>
        </p:spPr>
        <p:txBody>
          <a:bodyPr/>
          <a:lstStyle/>
          <a:p>
            <a:endParaRPr lang="zh-CN" altLang="en-US"/>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en-US" altLang="zh-CN" dirty="0"/>
              <a:t>1.6.2  </a:t>
            </a:r>
            <a:r>
              <a:rPr lang="zh-CN" altLang="en-US" dirty="0"/>
              <a:t>计算机网络的非性能特征</a:t>
            </a:r>
          </a:p>
        </p:txBody>
      </p:sp>
      <p:graphicFrame>
        <p:nvGraphicFramePr>
          <p:cNvPr id="5" name="图示 4"/>
          <p:cNvGraphicFramePr/>
          <p:nvPr>
            <p:extLst>
              <p:ext uri="{D42A27DB-BD31-4B8C-83A1-F6EECF244321}">
                <p14:modId xmlns:p14="http://schemas.microsoft.com/office/powerpoint/2010/main" val="2490804546"/>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5878162" y="2178862"/>
            <a:ext cx="2294793" cy="707886"/>
          </a:xfrm>
          <a:prstGeom prst="rect">
            <a:avLst/>
          </a:prstGeom>
          <a:solidFill>
            <a:srgbClr val="FFFF99"/>
          </a:solidFill>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nSpc>
                <a:spcPts val="2400"/>
              </a:lnSpc>
            </a:pPr>
            <a:r>
              <a:rPr lang="zh-CN" altLang="en-US" b="1" dirty="0">
                <a:solidFill>
                  <a:schemeClr val="tx1"/>
                </a:solidFill>
                <a:latin typeface="微软雅黑" panose="020B0503020204020204" pitchFamily="34" charset="-122"/>
                <a:ea typeface="微软雅黑" panose="020B0503020204020204" pitchFamily="34" charset="-122"/>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8900" y="2925763"/>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10" name="Rectangle 11"/>
          <p:cNvSpPr>
            <a:spLocks noChangeArrowheads="1"/>
          </p:cNvSpPr>
          <p:nvPr/>
        </p:nvSpPr>
        <p:spPr bwMode="auto">
          <a:xfrm>
            <a:off x="2628900" y="3543300"/>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2" name="Rectangle 9"/>
          <p:cNvSpPr>
            <a:spLocks noChangeArrowheads="1"/>
          </p:cNvSpPr>
          <p:nvPr/>
        </p:nvSpPr>
        <p:spPr bwMode="auto">
          <a:xfrm>
            <a:off x="2628900" y="1108075"/>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3" name="Rectangle 10"/>
          <p:cNvSpPr>
            <a:spLocks noChangeArrowheads="1"/>
          </p:cNvSpPr>
          <p:nvPr/>
        </p:nvSpPr>
        <p:spPr bwMode="auto">
          <a:xfrm>
            <a:off x="2628900" y="1714500"/>
            <a:ext cx="5775325"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4" name="Rectangle 11"/>
          <p:cNvSpPr>
            <a:spLocks noChangeArrowheads="1"/>
          </p:cNvSpPr>
          <p:nvPr/>
        </p:nvSpPr>
        <p:spPr bwMode="auto">
          <a:xfrm>
            <a:off x="2628900" y="2332038"/>
            <a:ext cx="5775325"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solidFill>
                  <a:srgbClr val="000000"/>
                </a:solidFill>
                <a:miter lim="1000000"/>
                <a:headEnd/>
                <a:tailEnd/>
              </a14:hiddenLine>
            </a:ext>
          </a:extLst>
        </p:spPr>
        <p:txBody>
          <a:bodyPr anchor="ctr"/>
          <a:lstStyle/>
          <a:p>
            <a:pPr algn="ctr" eaLnBrk="0" fontAlgn="auto" hangingPunct="0">
              <a:spcBef>
                <a:spcPts val="0"/>
              </a:spcBef>
              <a:spcAft>
                <a:spcPts val="0"/>
              </a:spcAft>
              <a:defRPr/>
            </a:pPr>
            <a:endParaRPr lang="fr-FR" dirty="0">
              <a:solidFill>
                <a:srgbClr val="FFFFFF"/>
              </a:solidFill>
              <a:latin typeface="微软雅黑 Light" panose="020B0502040204020203" pitchFamily="34" charset="-122"/>
              <a:ea typeface="+mn-ea"/>
            </a:endParaRPr>
          </a:p>
        </p:txBody>
      </p:sp>
      <p:sp>
        <p:nvSpPr>
          <p:cNvPr id="116743" name="Line 16"/>
          <p:cNvSpPr>
            <a:spLocks noChangeShapeType="1"/>
          </p:cNvSpPr>
          <p:nvPr/>
        </p:nvSpPr>
        <p:spPr bwMode="auto">
          <a:xfrm>
            <a:off x="3636963" y="1036638"/>
            <a:ext cx="0" cy="2898775"/>
          </a:xfrm>
          <a:prstGeom prst="line">
            <a:avLst/>
          </a:prstGeom>
          <a:noFill/>
          <a:ln w="28575" algn="ctr">
            <a:solidFill>
              <a:srgbClr val="FFFFFF"/>
            </a:solidFill>
            <a:round/>
          </a:ln>
          <a:extLst>
            <a:ext uri="{909E8E84-426E-40DD-AFC4-6F175D3DCCD1}">
              <a14:hiddenFill xmlns:a14="http://schemas.microsoft.com/office/drawing/2010/main">
                <a:noFill/>
              </a14:hiddenFill>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16744" name="Rectangle 8"/>
          <p:cNvSpPr>
            <a:spLocks noChangeArrowheads="1"/>
          </p:cNvSpPr>
          <p:nvPr/>
        </p:nvSpPr>
        <p:spPr bwMode="auto">
          <a:xfrm>
            <a:off x="2700338" y="1073150"/>
            <a:ext cx="5472112"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en-US" altLang="zh-CN" sz="2000" b="1" dirty="0">
                <a:solidFill>
                  <a:schemeClr val="bg1"/>
                </a:solidFill>
                <a:latin typeface="微软雅黑" panose="020B0503020204020204" pitchFamily="34" charset="-122"/>
                <a:ea typeface="微软雅黑" panose="020B0503020204020204" pitchFamily="34" charset="-122"/>
              </a:rPr>
              <a:t>1.7.1                     </a:t>
            </a:r>
            <a:r>
              <a:rPr lang="zh-CN" altLang="zh-CN" sz="2000" b="1" dirty="0">
                <a:solidFill>
                  <a:schemeClr val="bg1"/>
                </a:solidFill>
                <a:latin typeface="微软雅黑" panose="020B0503020204020204" pitchFamily="34" charset="-122"/>
                <a:ea typeface="微软雅黑" panose="020B0503020204020204" pitchFamily="34" charset="-122"/>
              </a:rPr>
              <a:t>计算机网络体系结构的形成</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zh-CN"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1.7.2                                     </a:t>
            </a:r>
            <a:r>
              <a:rPr lang="zh-CN" altLang="zh-CN" sz="2000" b="1" dirty="0">
                <a:solidFill>
                  <a:schemeClr val="bg1"/>
                </a:solidFill>
                <a:latin typeface="微软雅黑" panose="020B0503020204020204" pitchFamily="34" charset="-122"/>
                <a:ea typeface="微软雅黑" panose="020B0503020204020204" pitchFamily="34" charset="-122"/>
              </a:rPr>
              <a:t>协议与划分层次</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1.7.3                        </a:t>
            </a:r>
            <a:r>
              <a:rPr lang="zh-CN" altLang="zh-CN" sz="2000" b="1" dirty="0">
                <a:solidFill>
                  <a:schemeClr val="bg1"/>
                </a:solidFill>
                <a:latin typeface="微软雅黑" panose="020B0503020204020204" pitchFamily="34" charset="-122"/>
                <a:ea typeface="微软雅黑" panose="020B0503020204020204" pitchFamily="34" charset="-122"/>
              </a:rPr>
              <a:t>具有五层协议的体系结构</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1.7.4              </a:t>
            </a:r>
            <a:r>
              <a:rPr lang="zh-CN" altLang="zh-CN" sz="2000" b="1" dirty="0">
                <a:solidFill>
                  <a:schemeClr val="bg1"/>
                </a:solidFill>
                <a:latin typeface="微软雅黑" panose="020B0503020204020204" pitchFamily="34" charset="-122"/>
                <a:ea typeface="微软雅黑" panose="020B0503020204020204" pitchFamily="34" charset="-122"/>
              </a:rPr>
              <a:t>实体、协议、服务和服务访问点</a:t>
            </a:r>
            <a:endParaRPr lang="en-US" altLang="zh-CN" sz="2000" b="1" dirty="0">
              <a:solidFill>
                <a:schemeClr val="bg1"/>
              </a:solidFill>
              <a:latin typeface="微软雅黑" panose="020B0503020204020204" pitchFamily="34" charset="-122"/>
              <a:ea typeface="微软雅黑" panose="020B0503020204020204" pitchFamily="34" charset="-122"/>
            </a:endParaRPr>
          </a:p>
          <a:p>
            <a:endParaRPr lang="en-US" altLang="zh-CN" sz="2000" b="1" dirty="0">
              <a:solidFill>
                <a:schemeClr val="bg1"/>
              </a:solidFill>
              <a:latin typeface="微软雅黑" panose="020B0503020204020204" pitchFamily="34" charset="-122"/>
              <a:ea typeface="微软雅黑" panose="020B0503020204020204" pitchFamily="34" charset="-122"/>
            </a:endParaRPr>
          </a:p>
          <a:p>
            <a:r>
              <a:rPr lang="en-US" altLang="zh-CN" sz="2000" b="1" dirty="0">
                <a:solidFill>
                  <a:schemeClr val="bg1"/>
                </a:solidFill>
                <a:latin typeface="微软雅黑" panose="020B0503020204020204" pitchFamily="34" charset="-122"/>
                <a:ea typeface="微软雅黑" panose="020B0503020204020204" pitchFamily="34" charset="-122"/>
              </a:rPr>
              <a:t>1.7.5                                TCP/IP </a:t>
            </a:r>
            <a:r>
              <a:rPr lang="zh-CN" altLang="zh-CN" sz="2000" b="1" dirty="0">
                <a:solidFill>
                  <a:schemeClr val="bg1"/>
                </a:solidFill>
                <a:latin typeface="微软雅黑" panose="020B0503020204020204" pitchFamily="34" charset="-122"/>
                <a:ea typeface="微软雅黑" panose="020B0503020204020204" pitchFamily="34" charset="-122"/>
              </a:rPr>
              <a:t>的体系结构</a:t>
            </a:r>
          </a:p>
        </p:txBody>
      </p:sp>
      <p:sp>
        <p:nvSpPr>
          <p:cNvPr id="7" name="Rectangle 27"/>
          <p:cNvSpPr>
            <a:spLocks noChangeArrowheads="1"/>
          </p:cNvSpPr>
          <p:nvPr/>
        </p:nvSpPr>
        <p:spPr bwMode="auto">
          <a:xfrm>
            <a:off x="639730" y="110822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fontAlgn="auto" hangingPunct="0">
              <a:spcBef>
                <a:spcPts val="0"/>
              </a:spcBef>
              <a:spcAft>
                <a:spcPts val="0"/>
              </a:spcAft>
              <a:defRPr/>
            </a:pPr>
            <a:endParaRPr lang="fr-FR" dirty="0">
              <a:latin typeface="微软雅黑 Light" panose="020B0502040204020203" pitchFamily="34" charset="-122"/>
              <a:ea typeface="+mn-ea"/>
            </a:endParaRPr>
          </a:p>
        </p:txBody>
      </p:sp>
      <p:sp>
        <p:nvSpPr>
          <p:cNvPr id="116748" name="Rectangle 29"/>
          <p:cNvSpPr>
            <a:spLocks noChangeArrowheads="1"/>
          </p:cNvSpPr>
          <p:nvPr/>
        </p:nvSpPr>
        <p:spPr bwMode="auto">
          <a:xfrm>
            <a:off x="649288" y="1203325"/>
            <a:ext cx="1627187" cy="1016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altLang="zh-CN" sz="2000" b="1" dirty="0">
                <a:solidFill>
                  <a:srgbClr val="FFFF00"/>
                </a:solidFill>
                <a:latin typeface="微软雅黑" panose="020B0503020204020204" pitchFamily="34" charset="-122"/>
                <a:ea typeface="微软雅黑" panose="020B0503020204020204" pitchFamily="34" charset="-122"/>
              </a:rPr>
              <a:t>1.7</a:t>
            </a:r>
          </a:p>
          <a:p>
            <a:r>
              <a:rPr lang="zh-CN" altLang="zh-CN" sz="2000" b="1" dirty="0">
                <a:solidFill>
                  <a:schemeClr val="bg1"/>
                </a:solidFill>
                <a:latin typeface="微软雅黑" panose="020B0503020204020204" pitchFamily="34" charset="-122"/>
                <a:ea typeface="微软雅黑" panose="020B0503020204020204" pitchFamily="34" charset="-122"/>
              </a:rPr>
              <a:t>计算机网络体系结构</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4FE753A-5783-9FEA-BA32-D091A0DEAAF9}"/>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300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03253"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组合 4"/>
          <p:cNvGrpSpPr/>
          <p:nvPr/>
        </p:nvGrpSpPr>
        <p:grpSpPr>
          <a:xfrm>
            <a:off x="1858607" y="1555624"/>
            <a:ext cx="5964008" cy="3126378"/>
            <a:chOff x="2002985" y="1193073"/>
            <a:chExt cx="5964008" cy="3370217"/>
          </a:xfrm>
        </p:grpSpPr>
        <p:grpSp>
          <p:nvGrpSpPr>
            <p:cNvPr id="4" name="组合 3"/>
            <p:cNvGrpSpPr/>
            <p:nvPr/>
          </p:nvGrpSpPr>
          <p:grpSpPr>
            <a:xfrm>
              <a:off x="2002985" y="1193073"/>
              <a:ext cx="5964008" cy="3370217"/>
              <a:chOff x="2002985" y="1193073"/>
              <a:chExt cx="5964008" cy="3370217"/>
            </a:xfrm>
          </p:grpSpPr>
          <p:sp>
            <p:nvSpPr>
              <p:cNvPr id="152" name="Oval 1507"/>
              <p:cNvSpPr>
                <a:spLocks noChangeArrowheads="1"/>
              </p:cNvSpPr>
              <p:nvPr/>
            </p:nvSpPr>
            <p:spPr bwMode="auto">
              <a:xfrm rot="21341795">
                <a:off x="5839397" y="2482362"/>
                <a:ext cx="2127596" cy="186721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3" name="Oval 1508"/>
              <p:cNvSpPr>
                <a:spLocks noChangeArrowheads="1"/>
              </p:cNvSpPr>
              <p:nvPr/>
            </p:nvSpPr>
            <p:spPr bwMode="auto">
              <a:xfrm rot="21341795">
                <a:off x="2002985" y="2096229"/>
                <a:ext cx="1967142" cy="1681512"/>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4" name="Oval 1509"/>
              <p:cNvSpPr>
                <a:spLocks noChangeArrowheads="1"/>
              </p:cNvSpPr>
              <p:nvPr/>
            </p:nvSpPr>
            <p:spPr bwMode="auto">
              <a:xfrm rot="21341795">
                <a:off x="5449660" y="1367840"/>
                <a:ext cx="2295437" cy="188684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5" name="Oval 1510"/>
              <p:cNvSpPr>
                <a:spLocks noChangeArrowheads="1"/>
              </p:cNvSpPr>
              <p:nvPr/>
            </p:nvSpPr>
            <p:spPr bwMode="auto">
              <a:xfrm rot="21341795">
                <a:off x="4391764" y="2851426"/>
                <a:ext cx="2298063" cy="1711864"/>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6" name="Oval 1511"/>
              <p:cNvSpPr>
                <a:spLocks noChangeArrowheads="1"/>
              </p:cNvSpPr>
              <p:nvPr/>
            </p:nvSpPr>
            <p:spPr bwMode="auto">
              <a:xfrm rot="21341795">
                <a:off x="2405455" y="2831144"/>
                <a:ext cx="2295437" cy="162283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7" name="Oval 1512"/>
              <p:cNvSpPr>
                <a:spLocks noChangeArrowheads="1"/>
              </p:cNvSpPr>
              <p:nvPr/>
            </p:nvSpPr>
            <p:spPr bwMode="auto">
              <a:xfrm rot="21341795">
                <a:off x="4041542" y="1193073"/>
                <a:ext cx="2256042" cy="1677465"/>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8" name="Oval 1513"/>
              <p:cNvSpPr>
                <a:spLocks noChangeArrowheads="1"/>
              </p:cNvSpPr>
              <p:nvPr/>
            </p:nvSpPr>
            <p:spPr bwMode="auto">
              <a:xfrm rot="21341795">
                <a:off x="2366784" y="1286239"/>
                <a:ext cx="2256042" cy="1616760"/>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1" name="Oval 1514"/>
              <p:cNvSpPr>
                <a:spLocks noChangeArrowheads="1"/>
              </p:cNvSpPr>
              <p:nvPr/>
            </p:nvSpPr>
            <p:spPr bwMode="auto">
              <a:xfrm rot="21341795">
                <a:off x="2175632" y="1600537"/>
                <a:ext cx="5289099" cy="2415001"/>
              </a:xfrm>
              <a:prstGeom prst="ellipse">
                <a:avLst/>
              </a:prstGeom>
              <a:solidFill>
                <a:schemeClr val="accent1">
                  <a:lumMod val="40000"/>
                  <a:lumOff val="60000"/>
                </a:schemeClr>
              </a:solidFill>
              <a:ln w="19050">
                <a:noFill/>
                <a:prstDash val="solid"/>
                <a:round/>
                <a:headEnd/>
                <a:tailEnd/>
              </a:ln>
              <a:effec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63" name="文本框 162"/>
            <p:cNvSpPr txBox="1"/>
            <p:nvPr/>
          </p:nvSpPr>
          <p:spPr>
            <a:xfrm>
              <a:off x="2566179" y="1538206"/>
              <a:ext cx="5035719" cy="2391809"/>
            </a:xfrm>
            <a:prstGeom prst="rect">
              <a:avLst/>
            </a:prstGeom>
            <a:noFill/>
            <a:ln>
              <a:noFill/>
            </a:ln>
          </p:spPr>
          <p:txBody>
            <a:bodyPr wrap="square" rtlCol="0">
              <a:spAutoFit/>
            </a:bodyPr>
            <a:lstStyle/>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(1) </a:t>
              </a:r>
              <a:r>
                <a:rPr lang="zh-CN" altLang="en-US" sz="1600" b="1" dirty="0">
                  <a:solidFill>
                    <a:srgbClr val="000066"/>
                  </a:solidFill>
                  <a:latin typeface="微软雅黑" panose="020B0503020204020204" pitchFamily="34" charset="-122"/>
                  <a:ea typeface="微软雅黑" panose="020B0503020204020204" pitchFamily="34" charset="-122"/>
                </a:rPr>
                <a:t>必须有一条传送数据的通路。</a:t>
              </a:r>
              <a:endParaRPr lang="en-US" altLang="zh-CN" sz="1600" b="1" dirty="0">
                <a:solidFill>
                  <a:srgbClr val="000066"/>
                </a:solidFill>
                <a:latin typeface="微软雅黑" panose="020B0503020204020204" pitchFamily="34" charset="-122"/>
                <a:ea typeface="微软雅黑" panose="020B0503020204020204" pitchFamily="34" charset="-122"/>
              </a:endParaRP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(2) </a:t>
              </a:r>
              <a:r>
                <a:rPr lang="zh-CN" altLang="en-US" sz="1600" b="1" dirty="0">
                  <a:solidFill>
                    <a:srgbClr val="000066"/>
                  </a:solidFill>
                  <a:latin typeface="微软雅黑" panose="020B0503020204020204" pitchFamily="34" charset="-122"/>
                  <a:ea typeface="微软雅黑" panose="020B0503020204020204" pitchFamily="34" charset="-122"/>
                </a:rPr>
                <a:t>发起方必须激活通路。</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(3) </a:t>
              </a:r>
              <a:r>
                <a:rPr lang="zh-CN" altLang="en-US" sz="1600" b="1" dirty="0">
                  <a:solidFill>
                    <a:srgbClr val="000066"/>
                  </a:solidFill>
                  <a:latin typeface="微软雅黑" panose="020B0503020204020204" pitchFamily="34" charset="-122"/>
                  <a:ea typeface="微软雅黑" panose="020B0503020204020204" pitchFamily="34" charset="-122"/>
                </a:rPr>
                <a:t>要告诉网络如何识别接收方。</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(4)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发起方要清楚对方是否已开机，且与网络连接正常。</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(5) </a:t>
              </a:r>
              <a:r>
                <a:rPr lang="zh-CN" altLang="en-US" sz="1600" b="1" dirty="0">
                  <a:solidFill>
                    <a:srgbClr val="000066"/>
                  </a:solidFill>
                  <a:latin typeface="微软雅黑" panose="020B0503020204020204" pitchFamily="34" charset="-122"/>
                  <a:ea typeface="微软雅黑" panose="020B0503020204020204" pitchFamily="34" charset="-122"/>
                </a:rPr>
                <a:t>发起方要清楚对方是否准备好接收和存储文件。</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(6) </a:t>
              </a:r>
              <a:r>
                <a:rPr lang="zh-CN" altLang="en-US" sz="1600" b="1" dirty="0">
                  <a:solidFill>
                    <a:srgbClr val="000066"/>
                  </a:solidFill>
                  <a:latin typeface="微软雅黑" panose="020B0503020204020204" pitchFamily="34" charset="-122"/>
                  <a:ea typeface="微软雅黑" panose="020B0503020204020204" pitchFamily="34" charset="-122"/>
                </a:rPr>
                <a:t>若文件格式不兼容，要完成格式的转换。</a:t>
              </a:r>
            </a:p>
            <a:p>
              <a:pPr>
                <a:lnSpc>
                  <a:spcPts val="2600"/>
                </a:lnSpc>
              </a:pPr>
              <a:r>
                <a:rPr lang="en-US" altLang="zh-CN" sz="1600" b="1" dirty="0">
                  <a:solidFill>
                    <a:srgbClr val="000066"/>
                  </a:solidFill>
                  <a:latin typeface="微软雅黑" panose="020B0503020204020204" pitchFamily="34" charset="-122"/>
                  <a:ea typeface="微软雅黑" panose="020B0503020204020204" pitchFamily="34" charset="-122"/>
                </a:rPr>
                <a:t>(7) </a:t>
              </a:r>
              <a:r>
                <a:rPr lang="zh-CN" altLang="en-US" sz="1600" b="1" dirty="0">
                  <a:solidFill>
                    <a:srgbClr val="000066"/>
                  </a:solidFill>
                  <a:latin typeface="微软雅黑" panose="020B0503020204020204" pitchFamily="34" charset="-122"/>
                  <a:ea typeface="微软雅黑" panose="020B0503020204020204" pitchFamily="34" charset="-122"/>
                </a:rPr>
                <a:t>要处理各种差错和意外事故，保证收到正确的文件。</a:t>
              </a:r>
            </a:p>
          </p:txBody>
        </p:sp>
      </p:grpSp>
      <p:sp>
        <p:nvSpPr>
          <p:cNvPr id="165" name="矩形 164"/>
          <p:cNvSpPr/>
          <p:nvPr/>
        </p:nvSpPr>
        <p:spPr>
          <a:xfrm>
            <a:off x="510870" y="1223188"/>
            <a:ext cx="2097536" cy="646331"/>
          </a:xfrm>
          <a:prstGeom prst="rect">
            <a:avLst/>
          </a:prstGeom>
          <a:ln w="19050">
            <a:solidFill>
              <a:srgbClr val="C00000"/>
            </a:solidFill>
          </a:ln>
        </p:spPr>
        <p:style>
          <a:lnRef idx="2">
            <a:schemeClr val="accent1"/>
          </a:lnRef>
          <a:fillRef idx="1">
            <a:schemeClr val="lt1"/>
          </a:fillRef>
          <a:effectRef idx="0">
            <a:schemeClr val="accent1"/>
          </a:effectRef>
          <a:fontRef idx="minor">
            <a:schemeClr val="dk1"/>
          </a:fontRef>
        </p:style>
        <p:txBody>
          <a:bodyPr wrap="square">
            <a:spAutoFit/>
          </a:bodyPr>
          <a:lstStyle/>
          <a:p>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计算机网络是</a:t>
            </a:r>
            <a:r>
              <a:rPr lang="zh-CN" altLang="en-US" b="1" kern="100" dirty="0">
                <a:latin typeface="微软雅黑" panose="020B0503020204020204" pitchFamily="34" charset="-122"/>
                <a:ea typeface="微软雅黑" panose="020B0503020204020204" pitchFamily="34" charset="-122"/>
                <a:cs typeface="Times New Roman" panose="02020603050405020304" pitchFamily="18" charset="0"/>
              </a:rPr>
              <a:t>一</a:t>
            </a:r>
            <a:r>
              <a:rPr lang="zh-CN" altLang="zh-CN" b="1" kern="100" dirty="0">
                <a:latin typeface="微软雅黑" panose="020B0503020204020204" pitchFamily="34" charset="-122"/>
                <a:ea typeface="微软雅黑" panose="020B0503020204020204" pitchFamily="34" charset="-122"/>
                <a:cs typeface="Times New Roman" panose="02020603050405020304" pitchFamily="18" charset="0"/>
              </a:rPr>
              <a:t>个非常复杂的系统。</a:t>
            </a:r>
            <a:endParaRPr lang="zh-CN" altLang="en-US" b="1" dirty="0">
              <a:latin typeface="微软雅黑" panose="020B0503020204020204" pitchFamily="34" charset="-122"/>
              <a:ea typeface="微软雅黑" panose="020B0503020204020204" pitchFamily="34" charset="-122"/>
            </a:endParaRPr>
          </a:p>
        </p:txBody>
      </p:sp>
      <p:sp>
        <p:nvSpPr>
          <p:cNvPr id="3" name="矩形 2"/>
          <p:cNvSpPr/>
          <p:nvPr/>
        </p:nvSpPr>
        <p:spPr>
          <a:xfrm>
            <a:off x="2673626" y="1200719"/>
            <a:ext cx="4570482" cy="369332"/>
          </a:xfrm>
          <a:prstGeom prst="rect">
            <a:avLst/>
          </a:prstGeom>
        </p:spPr>
        <p:txBody>
          <a:bodyPr wrap="none">
            <a:spAutoFit/>
          </a:bodyPr>
          <a:lstStyle/>
          <a:p>
            <a:r>
              <a:rPr lang="zh-CN" altLang="en-US" b="1" dirty="0">
                <a:solidFill>
                  <a:srgbClr val="0000CC"/>
                </a:solidFill>
                <a:latin typeface="微软雅黑" panose="020B0503020204020204" pitchFamily="34" charset="-122"/>
                <a:ea typeface="微软雅黑" panose="020B0503020204020204" pitchFamily="34" charset="-122"/>
              </a:rPr>
              <a:t>两台计算机要互相传送文件需解决很多问题</a:t>
            </a:r>
          </a:p>
        </p:txBody>
      </p:sp>
      <p:sp>
        <p:nvSpPr>
          <p:cNvPr id="19" name="Text Box 38"/>
          <p:cNvSpPr txBox="1">
            <a:spLocks noChangeArrowheads="1"/>
          </p:cNvSpPr>
          <p:nvPr/>
        </p:nvSpPr>
        <p:spPr bwMode="auto">
          <a:xfrm>
            <a:off x="714176"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A</a:t>
            </a:r>
          </a:p>
        </p:txBody>
      </p:sp>
      <p:sp>
        <p:nvSpPr>
          <p:cNvPr id="20" name="Text Box 38"/>
          <p:cNvSpPr txBox="1">
            <a:spLocks noChangeArrowheads="1"/>
          </p:cNvSpPr>
          <p:nvPr/>
        </p:nvSpPr>
        <p:spPr bwMode="auto">
          <a:xfrm>
            <a:off x="7780404" y="3341650"/>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600" b="1" dirty="0">
                <a:solidFill>
                  <a:srgbClr val="0000FF"/>
                </a:solidFill>
                <a:latin typeface="微软雅黑" pitchFamily="34" charset="-122"/>
                <a:ea typeface="微软雅黑" pitchFamily="34" charset="-122"/>
              </a:rPr>
              <a:t>计算机 </a:t>
            </a:r>
            <a:r>
              <a:rPr kumimoji="1" lang="en-US" altLang="zh-CN" sz="1600" b="1" dirty="0">
                <a:solidFill>
                  <a:srgbClr val="0000FF"/>
                </a:solidFill>
                <a:latin typeface="微软雅黑" pitchFamily="34" charset="-122"/>
                <a:ea typeface="微软雅黑" pitchFamily="34" charset="-122"/>
              </a:rPr>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提出了不同体系结构</a:t>
            </a:r>
          </a:p>
        </p:txBody>
      </p:sp>
      <p:sp>
        <p:nvSpPr>
          <p:cNvPr id="4" name="矩形 3"/>
          <p:cNvSpPr/>
          <p:nvPr/>
        </p:nvSpPr>
        <p:spPr>
          <a:xfrm>
            <a:off x="773103" y="3094935"/>
            <a:ext cx="7515497" cy="400110"/>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en-US" altLang="zh-CN" dirty="0"/>
              <a:t>ISO (</a:t>
            </a:r>
            <a:r>
              <a:rPr lang="zh-CN" altLang="en-US" dirty="0"/>
              <a:t>国际标准化组织</a:t>
            </a:r>
            <a:r>
              <a:rPr lang="en-US" altLang="zh-CN" dirty="0"/>
              <a:t>) </a:t>
            </a:r>
            <a:r>
              <a:rPr lang="zh-CN" altLang="en-US" dirty="0"/>
              <a:t>提出的 </a:t>
            </a:r>
            <a:r>
              <a:rPr lang="en-US" altLang="zh-CN" dirty="0"/>
              <a:t>OSI/RM (Open Systems Interconnection Reference Model) </a:t>
            </a:r>
            <a:r>
              <a:rPr lang="zh-CN" altLang="en-US" dirty="0"/>
              <a:t>是使各种计算机在世界范围内互连成网的标准框架。</a:t>
            </a:r>
            <a:endParaRPr lang="en-US" altLang="zh-CN" dirty="0"/>
          </a:p>
          <a:p>
            <a:r>
              <a:rPr lang="en-US" altLang="zh-CN" dirty="0"/>
              <a:t>OSI/RM </a:t>
            </a:r>
            <a:r>
              <a:rPr lang="zh-CN" altLang="en-US" dirty="0"/>
              <a:t>是个抽象的概念。</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国际标准：开放系统互连参考模型 </a:t>
            </a:r>
            <a:r>
              <a:rPr lang="en-US" altLang="zh-CN" dirty="0"/>
              <a:t>OSI/RM</a:t>
            </a:r>
          </a:p>
        </p:txBody>
      </p:sp>
      <p:grpSp>
        <p:nvGrpSpPr>
          <p:cNvPr id="6" name="组合 5"/>
          <p:cNvGrpSpPr/>
          <p:nvPr/>
        </p:nvGrpSpPr>
        <p:grpSpPr>
          <a:xfrm>
            <a:off x="1418539" y="3055781"/>
            <a:ext cx="6819153" cy="1092215"/>
            <a:chOff x="949201" y="3346526"/>
            <a:chExt cx="6819153" cy="1092215"/>
          </a:xfrm>
        </p:grpSpPr>
        <p:sp>
          <p:nvSpPr>
            <p:cNvPr id="4" name="对角圆角矩形 3"/>
            <p:cNvSpPr/>
            <p:nvPr/>
          </p:nvSpPr>
          <p:spPr>
            <a:xfrm>
              <a:off x="949201" y="3346526"/>
              <a:ext cx="6819153" cy="109221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 name="矩形 5"/>
            <p:cNvSpPr>
              <a:spLocks noChangeArrowheads="1"/>
            </p:cNvSpPr>
            <p:nvPr/>
          </p:nvSpPr>
          <p:spPr bwMode="auto">
            <a:xfrm>
              <a:off x="1104651" y="3453725"/>
              <a:ext cx="6558507" cy="8617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pPr>
              <a:r>
                <a:rPr lang="en-US" altLang="zh-CN" b="1" dirty="0">
                  <a:solidFill>
                    <a:schemeClr val="bg1"/>
                  </a:solidFill>
                  <a:latin typeface="微软雅黑" panose="020B0503020204020204" pitchFamily="34" charset="-122"/>
                  <a:ea typeface="微软雅黑" panose="020B0503020204020204" pitchFamily="34" charset="-122"/>
                </a:rPr>
                <a:t>OSI </a:t>
              </a:r>
              <a:r>
                <a:rPr lang="zh-CN" altLang="en-US" b="1" dirty="0">
                  <a:solidFill>
                    <a:schemeClr val="bg1"/>
                  </a:solidFill>
                  <a:latin typeface="微软雅黑" panose="020B0503020204020204" pitchFamily="34" charset="-122"/>
                  <a:ea typeface="微软雅黑" panose="020B0503020204020204" pitchFamily="34" charset="-122"/>
                </a:rPr>
                <a:t>试图达到一种</a:t>
              </a:r>
              <a:r>
                <a:rPr lang="zh-CN" altLang="en-US" b="1" dirty="0">
                  <a:solidFill>
                    <a:srgbClr val="FFFF00"/>
                  </a:solidFill>
                  <a:latin typeface="微软雅黑" panose="020B0503020204020204" pitchFamily="34" charset="-122"/>
                  <a:ea typeface="微软雅黑" panose="020B0503020204020204" pitchFamily="34" charset="-122"/>
                </a:rPr>
                <a:t>理想境界：</a:t>
              </a:r>
              <a:r>
                <a:rPr lang="zh-CN" altLang="en-US" b="1" dirty="0">
                  <a:solidFill>
                    <a:schemeClr val="bg1"/>
                  </a:solidFill>
                  <a:latin typeface="微软雅黑" panose="020B0503020204020204" pitchFamily="34" charset="-122"/>
                  <a:ea typeface="微软雅黑" panose="020B0503020204020204" pitchFamily="34" charset="-122"/>
                </a:rPr>
                <a:t>全球计算机网络都遵循这个统一标准，因而全球的计算机将能够很方便地进行互连和交换数据。</a:t>
              </a:r>
            </a:p>
          </p:txBody>
        </p:sp>
      </p:gr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基于 </a:t>
            </a:r>
            <a:r>
              <a:rPr lang="en-US" altLang="zh-CN" dirty="0"/>
              <a:t>TCP/IP </a:t>
            </a:r>
            <a:r>
              <a:rPr lang="zh-CN" altLang="en-US" dirty="0"/>
              <a:t>的互联网已抢先在全球相当大的范围成功地运行了。</a:t>
            </a:r>
            <a:endParaRPr lang="en-US" altLang="zh-CN" dirty="0"/>
          </a:p>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 </a:t>
            </a:r>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但 </a:t>
            </a:r>
            <a:r>
              <a:rPr lang="en-US" altLang="zh-CN" dirty="0"/>
              <a:t>ISO/OSI </a:t>
            </a:r>
            <a:r>
              <a:rPr lang="zh-CN" altLang="en-US" dirty="0"/>
              <a:t>失败了</a:t>
            </a:r>
            <a:endParaRPr lang="en-US" altLang="zh-CN" dirty="0"/>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4154710858"/>
              </p:ext>
            </p:extLst>
          </p:nvPr>
        </p:nvGraphicFramePr>
        <p:xfrm>
          <a:off x="2002972"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434536BD-ADEA-B005-05F2-2518F9F370F5}"/>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存在两种国际标准</a:t>
            </a:r>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p:cNvSpPr>
            <a:spLocks noGrp="1"/>
          </p:cNvSpPr>
          <p:nvPr>
            <p:ph sz="quarter" idx="4294967295"/>
          </p:nvPr>
        </p:nvSpPr>
        <p:spPr>
          <a:xfrm>
            <a:off x="612000" y="720000"/>
            <a:ext cx="7920000" cy="3960000"/>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en-US" dirty="0"/>
              <a:t>三个组成要素：</a:t>
            </a:r>
            <a:endParaRPr lang="en-US" altLang="zh-CN" dirty="0"/>
          </a:p>
          <a:p>
            <a:pPr lvl="1"/>
            <a:r>
              <a:rPr lang="zh-CN" altLang="en-US" dirty="0"/>
              <a:t>语法：数据与控制信息的结构或格式 。 </a:t>
            </a:r>
          </a:p>
          <a:p>
            <a:pPr lvl="1"/>
            <a:r>
              <a:rPr lang="zh-CN" altLang="en-US" dirty="0"/>
              <a:t>语义：需要发出何种控制信息，完成何种动作以及做出何种响应。 </a:t>
            </a:r>
          </a:p>
          <a:p>
            <a:pPr lvl="1"/>
            <a:r>
              <a:rPr lang="zh-CN" altLang="en-US" dirty="0"/>
              <a:t>同步：事件实现顺序的详细说明。 </a:t>
            </a:r>
          </a:p>
          <a:p>
            <a:endParaRPr lang="zh-CN" altLang="en-US" dirty="0"/>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en-US" altLang="zh-CN" dirty="0"/>
              <a:t>1.7.2  </a:t>
            </a:r>
            <a:r>
              <a:rPr lang="zh-CN" altLang="zh-CN" dirty="0"/>
              <a:t>协议与划分层次</a:t>
            </a:r>
            <a:endParaRPr lang="zh-CN" altLang="en-US" dirty="0"/>
          </a:p>
        </p:txBody>
      </p:sp>
      <p:grpSp>
        <p:nvGrpSpPr>
          <p:cNvPr id="55" name="组合 54"/>
          <p:cNvGrpSpPr/>
          <p:nvPr/>
        </p:nvGrpSpPr>
        <p:grpSpPr>
          <a:xfrm>
            <a:off x="6599456" y="1255007"/>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0" hangingPunct="0"/>
              <a:r>
                <a:rPr lang="en-US" altLang="zh-CN" sz="1050" b="1" dirty="0">
                  <a:latin typeface="微软雅黑" panose="020B0503020204020204" pitchFamily="34" charset="-122"/>
                  <a:ea typeface="微软雅黑" panose="020B0503020204020204" pitchFamily="34" charset="-122"/>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FF0000"/>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r>
                <a:rPr lang="en-US" altLang="zh-CN" sz="1050" dirty="0"/>
                <a:t>&lt; plan.pdf &gt;</a:t>
              </a:r>
            </a:p>
          </p:txBody>
        </p:sp>
      </p:grpSp>
      <p:grpSp>
        <p:nvGrpSpPr>
          <p:cNvPr id="58" name="组合 57"/>
          <p:cNvGrpSpPr/>
          <p:nvPr/>
        </p:nvGrpSpPr>
        <p:grpSpPr>
          <a:xfrm>
            <a:off x="679843" y="3951071"/>
            <a:ext cx="5572193" cy="646848"/>
            <a:chOff x="595996" y="3877027"/>
            <a:chExt cx="5572193" cy="646848"/>
          </a:xfrm>
        </p:grpSpPr>
        <p:sp>
          <p:nvSpPr>
            <p:cNvPr id="56" name="对角圆角矩形 55"/>
            <p:cNvSpPr/>
            <p:nvPr/>
          </p:nvSpPr>
          <p:spPr>
            <a:xfrm>
              <a:off x="595996" y="3877027"/>
              <a:ext cx="5572193" cy="64684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7" name="矩形 5"/>
            <p:cNvSpPr>
              <a:spLocks noChangeArrowheads="1"/>
            </p:cNvSpPr>
            <p:nvPr/>
          </p:nvSpPr>
          <p:spPr bwMode="auto">
            <a:xfrm>
              <a:off x="729916" y="3987587"/>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r>
                <a:rPr lang="zh-CN" altLang="zh-CN" b="1" dirty="0">
                  <a:solidFill>
                    <a:schemeClr val="bg1"/>
                  </a:solidFill>
                  <a:latin typeface="微软雅黑" panose="020B0503020204020204" pitchFamily="34" charset="-122"/>
                  <a:ea typeface="微软雅黑" panose="020B0503020204020204" pitchFamily="34" charset="-122"/>
                </a:rPr>
                <a:t>网络协议是计算机网络的不可缺少的组成部分。</a:t>
              </a:r>
              <a:endParaRPr lang="zh-CN" altLang="en-US" b="1" dirty="0">
                <a:solidFill>
                  <a:schemeClr val="bg1"/>
                </a:solidFill>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内容占位符 7"/>
          <p:cNvGraphicFramePr>
            <a:graphicFrameLocks noGrp="1"/>
          </p:cNvGraphicFramePr>
          <p:nvPr>
            <p:ph sz="quarter" idx="4294967295"/>
            <p:extLst>
              <p:ext uri="{D42A27DB-BD31-4B8C-83A1-F6EECF244321}">
                <p14:modId xmlns:p14="http://schemas.microsoft.com/office/powerpoint/2010/main" val="1274464457"/>
              </p:ext>
            </p:extLst>
          </p:nvPr>
        </p:nvGraphicFramePr>
        <p:xfrm>
          <a:off x="466725" y="504825"/>
          <a:ext cx="8128000" cy="41719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文本占位符 4"/>
          <p:cNvSpPr>
            <a:spLocks noGrp="1"/>
          </p:cNvSpPr>
          <p:nvPr>
            <p:ph type="body" sz="quarter" idx="4294967295"/>
          </p:nvPr>
        </p:nvSpPr>
        <p:spPr>
          <a:xfrm>
            <a:off x="0" y="153988"/>
            <a:ext cx="6632575" cy="338137"/>
          </a:xfrm>
        </p:spPr>
        <p:txBody>
          <a:bodyPr>
            <a:normAutofit lnSpcReduction="10000"/>
          </a:bodyPr>
          <a:lstStyle/>
          <a:p>
            <a:r>
              <a:rPr lang="zh-CN" altLang="en-US" dirty="0"/>
              <a:t>协议的两种形式</a:t>
            </a:r>
          </a:p>
        </p:txBody>
      </p:sp>
      <p:sp>
        <p:nvSpPr>
          <p:cNvPr id="9" name="矩形 8"/>
          <p:cNvSpPr/>
          <p:nvPr/>
        </p:nvSpPr>
        <p:spPr>
          <a:xfrm>
            <a:off x="700575" y="3225591"/>
            <a:ext cx="7748337" cy="400110"/>
          </a:xfrm>
          <a:prstGeom prst="rect">
            <a:avLst/>
          </a:prstGeom>
          <a:solidFill>
            <a:srgbClr val="339933"/>
          </a:solidFill>
          <a:ln>
            <a:noFill/>
          </a:ln>
        </p:spPr>
        <p:style>
          <a:lnRef idx="1">
            <a:schemeClr val="accent2"/>
          </a:lnRef>
          <a:fillRef idx="3">
            <a:schemeClr val="accent2"/>
          </a:fillRef>
          <a:effectRef idx="2">
            <a:schemeClr val="accent2"/>
          </a:effectRef>
          <a:fontRef idx="minor">
            <a:schemeClr val="lt1"/>
          </a:fontRef>
        </p:style>
        <p:txBody>
          <a:bodyPr wrap="square">
            <a:spAutoFit/>
          </a:bodyPr>
          <a:lstStyle/>
          <a:p>
            <a:pPr algn="ctr"/>
            <a:r>
              <a:rPr lang="zh-CN" altLang="en-US" sz="2000" b="1" dirty="0">
                <a:latin typeface="微软雅黑" panose="020B0503020204020204" pitchFamily="34" charset="-122"/>
                <a:ea typeface="微软雅黑" panose="020B0503020204020204" pitchFamily="34" charset="-122"/>
              </a:rPr>
              <a:t>不论什么形式，都必须能够对网络上信息交换过程做出</a:t>
            </a:r>
            <a:r>
              <a:rPr lang="zh-CN" altLang="en-US" sz="2000" b="1" dirty="0">
                <a:solidFill>
                  <a:srgbClr val="FFFF00"/>
                </a:solidFill>
                <a:latin typeface="微软雅黑" panose="020B0503020204020204" pitchFamily="34" charset="-122"/>
                <a:ea typeface="微软雅黑" panose="020B0503020204020204" pitchFamily="34" charset="-122"/>
              </a:rPr>
              <a:t>精确的解释。</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71441" y="1275295"/>
            <a:ext cx="7147875" cy="1110838"/>
            <a:chOff x="1116558" y="1239333"/>
            <a:chExt cx="7147875" cy="815892"/>
          </a:xfrm>
        </p:grpSpPr>
        <p:sp>
          <p:nvSpPr>
            <p:cNvPr id="5" name="Rectangle 14"/>
            <p:cNvSpPr>
              <a:spLocks noChangeArrowheads="1"/>
            </p:cNvSpPr>
            <p:nvPr/>
          </p:nvSpPr>
          <p:spPr bwMode="auto">
            <a:xfrm>
              <a:off x="1116558" y="1239333"/>
              <a:ext cx="7147875" cy="815892"/>
            </a:xfrm>
            <a:prstGeom prst="rect">
              <a:avLst/>
            </a:prstGeom>
            <a:solidFill>
              <a:srgbClr val="0098F6"/>
            </a:solidFill>
            <a:ln w="76200" cmpd="tri">
              <a:noFill/>
              <a:miter lim="800000"/>
              <a:headEnd/>
              <a:tailEnd/>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2000" b="1" dirty="0">
                <a:latin typeface="+mn-lt"/>
                <a:ea typeface="微软雅黑 Light" panose="020B0502040204020203" pitchFamily="34" charset="-122"/>
              </a:endParaRPr>
            </a:p>
          </p:txBody>
        </p:sp>
        <p:sp>
          <p:nvSpPr>
            <p:cNvPr id="6" name="矩形 13"/>
            <p:cNvSpPr>
              <a:spLocks noChangeArrowheads="1"/>
            </p:cNvSpPr>
            <p:nvPr/>
          </p:nvSpPr>
          <p:spPr bwMode="auto">
            <a:xfrm>
              <a:off x="1369053" y="1347339"/>
              <a:ext cx="6572834" cy="6329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3000"/>
                </a:lnSpc>
                <a:spcBef>
                  <a:spcPts val="0"/>
                </a:spcBef>
              </a:pPr>
              <a:r>
                <a:rPr lang="en-US" altLang="zh-CN" sz="2000" b="1" dirty="0">
                  <a:solidFill>
                    <a:schemeClr val="bg1"/>
                  </a:solidFill>
                  <a:latin typeface="微软雅黑" pitchFamily="34" charset="-122"/>
                  <a:ea typeface="微软雅黑" pitchFamily="34" charset="-122"/>
                </a:rPr>
                <a:t>ARPANET </a:t>
              </a:r>
              <a:r>
                <a:rPr lang="zh-CN" altLang="en-US" sz="2000" b="1" dirty="0">
                  <a:solidFill>
                    <a:schemeClr val="bg1"/>
                  </a:solidFill>
                  <a:latin typeface="微软雅黑" pitchFamily="34" charset="-122"/>
                  <a:ea typeface="微软雅黑" pitchFamily="34" charset="-122"/>
                </a:rPr>
                <a:t>的研制经验表明：对于非常复杂的计算机网络协议，其结构应该是</a:t>
              </a:r>
              <a:r>
                <a:rPr lang="zh-CN" altLang="en-US" sz="2000" b="1" dirty="0">
                  <a:solidFill>
                    <a:srgbClr val="FFFF00"/>
                  </a:solidFill>
                  <a:latin typeface="微软雅黑" pitchFamily="34" charset="-122"/>
                  <a:ea typeface="微软雅黑" pitchFamily="34" charset="-122"/>
                </a:rPr>
                <a:t>层次式</a:t>
              </a:r>
              <a:r>
                <a:rPr lang="zh-CN" altLang="en-US" sz="2000" b="1" dirty="0">
                  <a:solidFill>
                    <a:schemeClr val="bg1"/>
                  </a:solidFill>
                  <a:latin typeface="微软雅黑" pitchFamily="34" charset="-122"/>
                  <a:ea typeface="微软雅黑" pitchFamily="34" charset="-122"/>
                </a:rPr>
                <a:t>的。</a:t>
              </a:r>
            </a:p>
          </p:txBody>
        </p:sp>
      </p:grpSp>
      <p:sp>
        <p:nvSpPr>
          <p:cNvPr id="8" name="内容占位符 7">
            <a:extLst>
              <a:ext uri="{FF2B5EF4-FFF2-40B4-BE49-F238E27FC236}">
                <a16:creationId xmlns:a16="http://schemas.microsoft.com/office/drawing/2014/main" id="{C5588075-33C0-4A2C-0403-64E2CFA5737B}"/>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层次式协议结构</a:t>
            </a:r>
          </a:p>
        </p:txBody>
      </p:sp>
    </p:spTree>
    <p:extLst>
      <p:ext uri="{BB962C8B-B14F-4D97-AF65-F5344CB8AC3E}">
        <p14:creationId xmlns:p14="http://schemas.microsoft.com/office/powerpoint/2010/main" val="3540046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35015"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5489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8343"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1</a:t>
            </a:r>
            <a:r>
              <a:rPr lang="zh-CN" altLang="en-US" b="1" dirty="0">
                <a:solidFill>
                  <a:srgbClr val="0000FF"/>
                </a:solidFill>
                <a:latin typeface="微软雅黑" panose="020B0503020204020204" pitchFamily="34" charset="-122"/>
                <a:ea typeface="微软雅黑" panose="020B0503020204020204" pitchFamily="34" charset="-122"/>
              </a:rPr>
              <a:t>，将</a:t>
            </a:r>
            <a:r>
              <a:rPr lang="zh-CN" altLang="en-US" b="1" dirty="0">
                <a:solidFill>
                  <a:srgbClr val="C00000"/>
                </a:solidFill>
                <a:latin typeface="微软雅黑" panose="020B0503020204020204" pitchFamily="34" charset="-122"/>
                <a:ea typeface="微软雅黑" panose="020B0503020204020204" pitchFamily="34" charset="-122"/>
              </a:rPr>
              <a:t>文件传送模块</a:t>
            </a:r>
            <a:r>
              <a:rPr lang="zh-CN" altLang="en-US" b="1" dirty="0">
                <a:solidFill>
                  <a:srgbClr val="0000FF"/>
                </a:solidFill>
                <a:latin typeface="微软雅黑" panose="020B0503020204020204" pitchFamily="34" charset="-122"/>
                <a:ea typeface="微软雅黑" panose="020B0503020204020204" pitchFamily="34" charset="-122"/>
              </a:rPr>
              <a:t>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8" name="内容占位符 7">
            <a:extLst>
              <a:ext uri="{FF2B5EF4-FFF2-40B4-BE49-F238E27FC236}">
                <a16:creationId xmlns:a16="http://schemas.microsoft.com/office/drawing/2014/main" id="{A1903E3A-15E4-8969-02E5-9ED7F57FD97A}"/>
              </a:ext>
            </a:extLst>
          </p:cNvPr>
          <p:cNvSpPr>
            <a:spLocks noGrp="1"/>
          </p:cNvSpPr>
          <p:nvPr>
            <p:ph sz="quarter" idx="4294967295"/>
          </p:nvPr>
        </p:nvSpPr>
        <p:spPr>
          <a:xfrm>
            <a:off x="612000" y="720000"/>
            <a:ext cx="7920000" cy="3960000"/>
          </a:xfrm>
        </p:spPr>
        <p:txBody>
          <a:bodyPr/>
          <a:lstStyle/>
          <a:p>
            <a:endParaRPr lang="zh-CN" altLang="en-US"/>
          </a:p>
        </p:txBody>
      </p:sp>
      <p:sp>
        <p:nvSpPr>
          <p:cNvPr id="6" name="文本占位符 5"/>
          <p:cNvSpPr>
            <a:spLocks noGrp="1"/>
          </p:cNvSpPr>
          <p:nvPr>
            <p:ph type="body" sz="quarter" idx="4294967295"/>
          </p:nvPr>
        </p:nvSpPr>
        <p:spPr>
          <a:xfrm>
            <a:off x="0" y="153988"/>
            <a:ext cx="6632575" cy="338137"/>
          </a:xfrm>
        </p:spPr>
        <p:txBody>
          <a:bodyPr>
            <a:normAutofit lnSpcReduction="10000"/>
          </a:bodyPr>
          <a:lstStyle/>
          <a:p>
            <a:r>
              <a:rPr lang="zh-CN" altLang="en-US" dirty="0"/>
              <a:t>划分层次的概念举例：两台主机通过网络传送文件</a:t>
            </a: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2</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通信服务模块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71032"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8" name="内容占位符 7">
            <a:extLst>
              <a:ext uri="{FF2B5EF4-FFF2-40B4-BE49-F238E27FC236}">
                <a16:creationId xmlns:a16="http://schemas.microsoft.com/office/drawing/2014/main" id="{2D478B53-3DA6-C9FD-EB06-E9039D9CE943}"/>
              </a:ext>
            </a:extLst>
          </p:cNvPr>
          <p:cNvSpPr>
            <a:spLocks noGrp="1"/>
          </p:cNvSpPr>
          <p:nvPr>
            <p:ph sz="quarter" idx="4294967295"/>
          </p:nvPr>
        </p:nvSpPr>
        <p:spPr>
          <a:xfrm>
            <a:off x="612000" y="720000"/>
            <a:ext cx="7920000" cy="3960000"/>
          </a:xfrm>
        </p:spPr>
        <p:txBody>
          <a:bodyPr/>
          <a:lstStyle/>
          <a:p>
            <a:endParaRPr lang="zh-CN" altLang="en-US"/>
          </a:p>
        </p:txBody>
      </p:sp>
      <p:sp>
        <p:nvSpPr>
          <p:cNvPr id="6" name="文本占位符 5"/>
          <p:cNvSpPr>
            <a:spLocks noGrp="1"/>
          </p:cNvSpPr>
          <p:nvPr>
            <p:ph type="body" sz="quarter" idx="4294967295"/>
          </p:nvPr>
        </p:nvSpPr>
        <p:spPr>
          <a:xfrm>
            <a:off x="0" y="153988"/>
            <a:ext cx="6632575" cy="338137"/>
          </a:xfrm>
        </p:spPr>
        <p:txBody>
          <a:bodyPr>
            <a:normAutofit lnSpcReduction="10000"/>
          </a:bodyPr>
          <a:lstStyle/>
          <a:p>
            <a:r>
              <a:rPr lang="zh-CN" altLang="en-US" dirty="0"/>
              <a:t>划分层次的概念举例：两台主机通过网络传送文件</a:t>
            </a: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par>
                          <p:cTn id="17" fill="hold">
                            <p:stCondLst>
                              <p:cond delay="250"/>
                            </p:stCondLst>
                            <p:childTnLst>
                              <p:par>
                                <p:cTn id="18" presetID="22" presetClass="entr" presetSubtype="8" fill="hold" grpId="0" nodeType="afterEffect">
                                  <p:stCondLst>
                                    <p:cond delay="250"/>
                                  </p:stCondLst>
                                  <p:childTnLst>
                                    <p:set>
                                      <p:cBhvr>
                                        <p:cTn id="19" dur="1" fill="hold">
                                          <p:stCondLst>
                                            <p:cond delay="0"/>
                                          </p:stCondLst>
                                        </p:cTn>
                                        <p:tgtEl>
                                          <p:spTgt spid="18"/>
                                        </p:tgtEl>
                                        <p:attrNameLst>
                                          <p:attrName>style.visibility</p:attrName>
                                        </p:attrNameLst>
                                      </p:cBhvr>
                                      <p:to>
                                        <p:strVal val="visible"/>
                                      </p:to>
                                    </p:set>
                                    <p:animEffect transition="in" filter="wipe(left)">
                                      <p:cBhvr>
                                        <p:cTn id="2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p:bldP spid="24" grpId="0"/>
      <p:bldP spid="25"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05072" y="1170432"/>
            <a:ext cx="8133855"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2000" b="1" dirty="0">
              <a:solidFill>
                <a:schemeClr val="bg1"/>
              </a:solidFill>
              <a:ea typeface="微软雅黑" panose="020B0503020204020204" pitchFamily="34" charset="-122"/>
            </a:endParaRPr>
          </a:p>
        </p:txBody>
      </p:sp>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727200" y="2208217"/>
            <a:ext cx="1414463"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128014" name="Text Box 6"/>
          <p:cNvSpPr txBox="1">
            <a:spLocks noChangeArrowheads="1"/>
          </p:cNvSpPr>
          <p:nvPr/>
        </p:nvSpPr>
        <p:spPr bwMode="auto">
          <a:xfrm>
            <a:off x="2062163"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a:latin typeface="微软雅黑" panose="020B0503020204020204" pitchFamily="34" charset="-122"/>
                <a:ea typeface="微软雅黑" panose="020B0503020204020204" pitchFamily="34" charset="-122"/>
              </a:rPr>
              <a:t>主机 </a:t>
            </a:r>
            <a:r>
              <a:rPr lang="en-US" altLang="zh-CN" sz="1400" b="1">
                <a:latin typeface="微软雅黑" panose="020B0503020204020204" pitchFamily="34" charset="-122"/>
                <a:ea typeface="微软雅黑" panose="020B0503020204020204" pitchFamily="34" charset="-122"/>
              </a:rPr>
              <a:t>2</a:t>
            </a:r>
          </a:p>
        </p:txBody>
      </p:sp>
      <p:sp>
        <p:nvSpPr>
          <p:cNvPr id="128016" name="Text Box 10"/>
          <p:cNvSpPr txBox="1">
            <a:spLocks noChangeArrowheads="1"/>
          </p:cNvSpPr>
          <p:nvPr/>
        </p:nvSpPr>
        <p:spPr bwMode="auto">
          <a:xfrm>
            <a:off x="6010105" y="2208217"/>
            <a:ext cx="14160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文件传送模块</a:t>
            </a:r>
          </a:p>
        </p:txBody>
      </p:sp>
      <p:sp>
        <p:nvSpPr>
          <p:cNvPr id="4" name="矩形 3"/>
          <p:cNvSpPr/>
          <p:nvPr/>
        </p:nvSpPr>
        <p:spPr>
          <a:xfrm>
            <a:off x="2414337" y="1253372"/>
            <a:ext cx="4323347" cy="3693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3</a:t>
            </a:r>
            <a:r>
              <a:rPr lang="zh-CN" altLang="en-US" b="1" dirty="0">
                <a:solidFill>
                  <a:srgbClr val="0000FF"/>
                </a:solidFill>
                <a:latin typeface="微软雅黑" panose="020B0503020204020204" pitchFamily="34" charset="-122"/>
                <a:ea typeface="微软雅黑" panose="020B0503020204020204" pitchFamily="34" charset="-122"/>
              </a:rPr>
              <a:t>，再设计一个</a:t>
            </a:r>
            <a:r>
              <a:rPr lang="zh-CN" altLang="en-US" b="1" dirty="0">
                <a:solidFill>
                  <a:srgbClr val="C00000"/>
                </a:solidFill>
                <a:latin typeface="微软雅黑" panose="020B0503020204020204" pitchFamily="34" charset="-122"/>
                <a:ea typeface="微软雅黑" panose="020B0503020204020204" pitchFamily="34" charset="-122"/>
              </a:rPr>
              <a:t>网络接入模块</a:t>
            </a:r>
            <a:r>
              <a:rPr lang="zh-CN" altLang="en-US" b="1" dirty="0">
                <a:solidFill>
                  <a:srgbClr val="0000FF"/>
                </a:solidFill>
                <a:latin typeface="微软雅黑" panose="020B0503020204020204" pitchFamily="34" charset="-122"/>
                <a:ea typeface="微软雅黑" panose="020B0503020204020204" pitchFamily="34" charset="-122"/>
              </a:rPr>
              <a:t>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740485"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30" name="Text Box 10"/>
          <p:cNvSpPr txBox="1">
            <a:spLocks noChangeArrowheads="1"/>
          </p:cNvSpPr>
          <p:nvPr/>
        </p:nvSpPr>
        <p:spPr bwMode="auto">
          <a:xfrm>
            <a:off x="6023390" y="2863014"/>
            <a:ext cx="14160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4" name="Text Box 5"/>
          <p:cNvSpPr txBox="1">
            <a:spLocks noChangeArrowheads="1"/>
          </p:cNvSpPr>
          <p:nvPr/>
        </p:nvSpPr>
        <p:spPr bwMode="auto">
          <a:xfrm>
            <a:off x="1748506"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5" name="Text Box 10"/>
          <p:cNvSpPr txBox="1">
            <a:spLocks noChangeArrowheads="1"/>
          </p:cNvSpPr>
          <p:nvPr/>
        </p:nvSpPr>
        <p:spPr bwMode="auto">
          <a:xfrm>
            <a:off x="6031411" y="3568196"/>
            <a:ext cx="14160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600" b="1">
                <a:solidFill>
                  <a:schemeClr val="bg1"/>
                </a:solidFill>
                <a:latin typeface="微软雅黑" panose="020B0503020204020204" pitchFamily="34" charset="-122"/>
                <a:ea typeface="微软雅黑" panose="020B0503020204020204" pitchFamily="34" charset="-122"/>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chemeClr val="bg1">
              <a:lumMod val="85000"/>
            </a:schemeClr>
          </a:solidFill>
        </p:grpSpPr>
        <p:sp>
          <p:nvSpPr>
            <p:cNvPr id="45" name="Oval 7"/>
            <p:cNvSpPr>
              <a:spLocks noChangeArrowheads="1"/>
            </p:cNvSpPr>
            <p:nvPr/>
          </p:nvSpPr>
          <p:spPr bwMode="auto">
            <a:xfrm>
              <a:off x="2554" y="240"/>
              <a:ext cx="1088"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solidFill>
                <a:srgbClr val="000000"/>
              </a:solid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b="1" dirty="0">
                <a:solidFill>
                  <a:srgbClr val="000066"/>
                </a:solidFill>
                <a:latin typeface="微软雅黑" panose="020B0503020204020204" pitchFamily="34" charset="-122"/>
                <a:ea typeface="微软雅黑" panose="020B0503020204020204" pitchFamily="34" charset="-122"/>
              </a:rPr>
              <a:t>通信网络</a:t>
            </a:r>
          </a:p>
        </p:txBody>
      </p:sp>
      <p:sp>
        <p:nvSpPr>
          <p:cNvPr id="54" name="矩形 53"/>
          <p:cNvSpPr/>
          <p:nvPr/>
        </p:nvSpPr>
        <p:spPr>
          <a:xfrm>
            <a:off x="1441622" y="4384118"/>
            <a:ext cx="6631459" cy="307777"/>
          </a:xfrm>
          <a:prstGeom prst="rect">
            <a:avLst/>
          </a:prstGeom>
        </p:spPr>
        <p:txBody>
          <a:bodyPr wrap="square">
            <a:spAutoFit/>
          </a:bodyPr>
          <a:lstStyle/>
          <a:p>
            <a:pPr lvl="0"/>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8" name="内容占位符 7">
            <a:extLst>
              <a:ext uri="{FF2B5EF4-FFF2-40B4-BE49-F238E27FC236}">
                <a16:creationId xmlns:a16="http://schemas.microsoft.com/office/drawing/2014/main" id="{7820556E-4B9E-0D6B-0436-27729BF65A24}"/>
              </a:ext>
            </a:extLst>
          </p:cNvPr>
          <p:cNvSpPr>
            <a:spLocks noGrp="1"/>
          </p:cNvSpPr>
          <p:nvPr>
            <p:ph sz="quarter" idx="4294967295"/>
          </p:nvPr>
        </p:nvSpPr>
        <p:spPr>
          <a:xfrm>
            <a:off x="612000" y="720000"/>
            <a:ext cx="7920000" cy="3960000"/>
          </a:xfrm>
        </p:spPr>
        <p:txBody>
          <a:bodyPr/>
          <a:lstStyle/>
          <a:p>
            <a:endParaRPr lang="zh-CN" altLang="en-US"/>
          </a:p>
        </p:txBody>
      </p:sp>
      <p:sp>
        <p:nvSpPr>
          <p:cNvPr id="6" name="文本占位符 5"/>
          <p:cNvSpPr>
            <a:spLocks noGrp="1"/>
          </p:cNvSpPr>
          <p:nvPr>
            <p:ph type="body" sz="quarter" idx="4294967295"/>
          </p:nvPr>
        </p:nvSpPr>
        <p:spPr>
          <a:xfrm>
            <a:off x="0" y="153988"/>
            <a:ext cx="6632575" cy="338137"/>
          </a:xfrm>
        </p:spPr>
        <p:txBody>
          <a:bodyPr>
            <a:normAutofit lnSpcReduction="10000"/>
          </a:bodyPr>
          <a:lstStyle/>
          <a:p>
            <a:r>
              <a:rPr lang="zh-CN" altLang="en-US" dirty="0"/>
              <a:t>划分层次的概念举例：两台主机通过网络传送文件</a:t>
            </a:r>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1157659543"/>
              </p:ext>
            </p:extLst>
          </p:nvPr>
        </p:nvGraphicFramePr>
        <p:xfrm>
          <a:off x="1522310" y="1050332"/>
          <a:ext cx="6096000" cy="23062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内容占位符 4">
            <a:extLst>
              <a:ext uri="{FF2B5EF4-FFF2-40B4-BE49-F238E27FC236}">
                <a16:creationId xmlns:a16="http://schemas.microsoft.com/office/drawing/2014/main" id="{1D1FF6A8-AF05-BFED-9936-E1E186A7B99C}"/>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分层的优点与缺点</a:t>
            </a:r>
          </a:p>
        </p:txBody>
      </p:sp>
      <p:grpSp>
        <p:nvGrpSpPr>
          <p:cNvPr id="12" name="组合 11"/>
          <p:cNvGrpSpPr/>
          <p:nvPr/>
        </p:nvGrpSpPr>
        <p:grpSpPr>
          <a:xfrm>
            <a:off x="899052" y="3392041"/>
            <a:ext cx="7333652" cy="1112068"/>
            <a:chOff x="595996" y="3877027"/>
            <a:chExt cx="5719975" cy="1112068"/>
          </a:xfrm>
        </p:grpSpPr>
        <p:sp>
          <p:nvSpPr>
            <p:cNvPr id="13" name="对角圆角矩形 12"/>
            <p:cNvSpPr/>
            <p:nvPr/>
          </p:nvSpPr>
          <p:spPr>
            <a:xfrm>
              <a:off x="595996" y="3877027"/>
              <a:ext cx="5719975" cy="111206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14" name="矩形 5"/>
            <p:cNvSpPr>
              <a:spLocks noChangeArrowheads="1"/>
            </p:cNvSpPr>
            <p:nvPr/>
          </p:nvSpPr>
          <p:spPr bwMode="auto">
            <a:xfrm>
              <a:off x="710641" y="3955503"/>
              <a:ext cx="5476826" cy="938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200"/>
                </a:lnSpc>
              </a:pPr>
              <a:r>
                <a:rPr lang="zh-CN" altLang="en-US" sz="1600" b="1" dirty="0">
                  <a:solidFill>
                    <a:srgbClr val="FFFF00"/>
                  </a:solidFill>
                  <a:latin typeface="微软雅黑" panose="020B0503020204020204" pitchFamily="34" charset="-122"/>
                  <a:ea typeface="微软雅黑" panose="020B0503020204020204" pitchFamily="34" charset="-122"/>
                </a:rPr>
                <a:t>注意：每一层的功能应非常明确。</a:t>
              </a:r>
              <a:endParaRPr lang="en-US" altLang="zh-CN" sz="1600" b="1" dirty="0">
                <a:solidFill>
                  <a:srgbClr val="FFFF00"/>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层数太少，就会使每一层的协议太复杂。</a:t>
              </a:r>
              <a:endParaRPr lang="en-US" altLang="zh-CN" sz="1600" b="1" dirty="0">
                <a:solidFill>
                  <a:schemeClr val="bg1"/>
                </a:solidFill>
                <a:latin typeface="微软雅黑" panose="020B0503020204020204" pitchFamily="34" charset="-122"/>
                <a:ea typeface="微软雅黑" panose="020B0503020204020204" pitchFamily="34" charset="-122"/>
              </a:endParaRPr>
            </a:p>
            <a:p>
              <a:pPr>
                <a:lnSpc>
                  <a:spcPts val="2200"/>
                </a:lnSpc>
              </a:pPr>
              <a:r>
                <a:rPr lang="zh-CN" altLang="en-US" sz="1600" b="1" dirty="0">
                  <a:solidFill>
                    <a:schemeClr val="bg1"/>
                  </a:solidFill>
                  <a:latin typeface="微软雅黑" panose="020B0503020204020204" pitchFamily="34" charset="-122"/>
                  <a:ea typeface="微软雅黑" panose="020B0503020204020204" pitchFamily="34" charset="-122"/>
                </a:rPr>
                <a:t>层数太多，又会在描述和综合各层功能的系统工程任务时遇到较多的困难。</a:t>
              </a:r>
            </a:p>
          </p:txBody>
        </p:sp>
      </p:gr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1000" fill="hold"/>
                                        <p:tgtEl>
                                          <p:spTgt spid="12"/>
                                        </p:tgtEl>
                                        <p:attrNameLst>
                                          <p:attrName>ppt_w</p:attrName>
                                        </p:attrNameLst>
                                      </p:cBhvr>
                                      <p:tavLst>
                                        <p:tav tm="0">
                                          <p:val>
                                            <p:fltVal val="0"/>
                                          </p:val>
                                        </p:tav>
                                        <p:tav tm="100000">
                                          <p:val>
                                            <p:strVal val="#ppt_w"/>
                                          </p:val>
                                        </p:tav>
                                      </p:tavLst>
                                    </p:anim>
                                    <p:anim calcmode="lin" valueType="num">
                                      <p:cBhvr>
                                        <p:cTn id="8" dur="1000" fill="hold"/>
                                        <p:tgtEl>
                                          <p:spTgt spid="12"/>
                                        </p:tgtEl>
                                        <p:attrNameLst>
                                          <p:attrName>ppt_h</p:attrName>
                                        </p:attrNameLst>
                                      </p:cBhvr>
                                      <p:tavLst>
                                        <p:tav tm="0">
                                          <p:val>
                                            <p:fltVal val="0"/>
                                          </p:val>
                                        </p:tav>
                                        <p:tav tm="100000">
                                          <p:val>
                                            <p:strVal val="#ppt_h"/>
                                          </p:val>
                                        </p:tav>
                                      </p:tavLst>
                                    </p:anim>
                                    <p:animEffect transition="in" filter="fade">
                                      <p:cBhvr>
                                        <p:cTn id="9"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a:p>
            <a:endParaRPr lang="zh-CN" altLang="en-US" dirty="0"/>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zh-CN" altLang="zh-CN" dirty="0"/>
              <a:t>各层完成的主要功能</a:t>
            </a:r>
            <a:endParaRPr lang="zh-CN" altLang="en-US" dirty="0"/>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zh-CN" altLang="en-US" dirty="0"/>
              <a:t>计算机网络的体系结构</a:t>
            </a:r>
          </a:p>
        </p:txBody>
      </p:sp>
      <p:grpSp>
        <p:nvGrpSpPr>
          <p:cNvPr id="5" name="组合 4"/>
          <p:cNvGrpSpPr/>
          <p:nvPr/>
        </p:nvGrpSpPr>
        <p:grpSpPr>
          <a:xfrm>
            <a:off x="1674699" y="3024453"/>
            <a:ext cx="5263652" cy="959666"/>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3981649"/>
              <a:ext cx="4389878" cy="8249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体系结构是</a:t>
              </a:r>
              <a:r>
                <a:rPr lang="zh-CN" altLang="en-US" b="1" dirty="0">
                  <a:solidFill>
                    <a:srgbClr val="FFFF00"/>
                  </a:solidFill>
                  <a:latin typeface="微软雅黑" panose="020B0503020204020204" pitchFamily="34" charset="-122"/>
                  <a:ea typeface="微软雅黑" panose="020B0503020204020204" pitchFamily="34" charset="-122"/>
                </a:rPr>
                <a:t>抽象</a:t>
              </a:r>
              <a:r>
                <a:rPr lang="zh-CN" altLang="en-US" b="1" dirty="0">
                  <a:solidFill>
                    <a:schemeClr val="bg1"/>
                  </a:solidFill>
                  <a:latin typeface="微软雅黑" panose="020B0503020204020204" pitchFamily="34" charset="-122"/>
                  <a:ea typeface="微软雅黑" panose="020B0503020204020204" pitchFamily="34" charset="-122"/>
                </a:rPr>
                <a:t>的，而实现则是</a:t>
              </a:r>
              <a:r>
                <a:rPr lang="zh-CN" altLang="en-US" b="1" dirty="0">
                  <a:solidFill>
                    <a:srgbClr val="FFFF00"/>
                  </a:solidFill>
                  <a:latin typeface="微软雅黑" panose="020B0503020204020204" pitchFamily="34" charset="-122"/>
                  <a:ea typeface="微软雅黑" panose="020B0503020204020204" pitchFamily="34" charset="-122"/>
                </a:rPr>
                <a:t>具体</a:t>
              </a:r>
              <a:r>
                <a:rPr lang="zh-CN" altLang="en-US" b="1" dirty="0">
                  <a:solidFill>
                    <a:schemeClr val="bg1"/>
                  </a:solidFill>
                  <a:latin typeface="微软雅黑" panose="020B0503020204020204" pitchFamily="34" charset="-122"/>
                  <a:ea typeface="微软雅黑" panose="020B0503020204020204" pitchFamily="34" charset="-122"/>
                </a:rPr>
                <a:t>的，是真正在运行的计算机硬件和软件。</a:t>
              </a:r>
            </a:p>
          </p:txBody>
        </p:sp>
      </p:gr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fltVal val="0"/>
                                          </p:val>
                                        </p:tav>
                                        <p:tav tm="100000">
                                          <p:val>
                                            <p:strVal val="#ppt_w"/>
                                          </p:val>
                                        </p:tav>
                                      </p:tavLst>
                                    </p:anim>
                                    <p:anim calcmode="lin" valueType="num">
                                      <p:cBhvr>
                                        <p:cTn id="8" dur="1000" fill="hold"/>
                                        <p:tgtEl>
                                          <p:spTgt spid="5"/>
                                        </p:tgtEl>
                                        <p:attrNameLst>
                                          <p:attrName>ppt_h</p:attrName>
                                        </p:attrNameLst>
                                      </p:cBhvr>
                                      <p:tavLst>
                                        <p:tav tm="0">
                                          <p:val>
                                            <p:fltVal val="0"/>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内容占位符 48">
            <a:extLst>
              <a:ext uri="{FF2B5EF4-FFF2-40B4-BE49-F238E27FC236}">
                <a16:creationId xmlns:a16="http://schemas.microsoft.com/office/drawing/2014/main" id="{C3734AC0-FE76-ADD7-6372-675CC396DE52}"/>
              </a:ext>
            </a:extLst>
          </p:cNvPr>
          <p:cNvSpPr>
            <a:spLocks noGrp="1"/>
          </p:cNvSpPr>
          <p:nvPr>
            <p:ph sz="quarter" idx="4294967295"/>
          </p:nvPr>
        </p:nvSpPr>
        <p:spPr>
          <a:xfrm>
            <a:off x="612000" y="720000"/>
            <a:ext cx="7920000" cy="3960000"/>
          </a:xfrm>
        </p:spPr>
        <p:txBody>
          <a:bodyPr/>
          <a:lstStyle/>
          <a:p>
            <a:endParaRPr lang="zh-CN" altLang="en-US"/>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en-US" altLang="zh-CN" dirty="0"/>
              <a:t>1.7.3  </a:t>
            </a:r>
            <a:r>
              <a:rPr lang="zh-CN" altLang="en-US" dirty="0"/>
              <a:t>具有五层协议的体系结构</a:t>
            </a:r>
          </a:p>
        </p:txBody>
      </p:sp>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4" name="组合 53"/>
          <p:cNvGrpSpPr/>
          <p:nvPr/>
        </p:nvGrpSpPr>
        <p:grpSpPr>
          <a:xfrm>
            <a:off x="1557339" y="1623511"/>
            <a:ext cx="1341438" cy="2356685"/>
            <a:chOff x="1557339" y="1623511"/>
            <a:chExt cx="1341438" cy="2356685"/>
          </a:xfrm>
        </p:grpSpPr>
        <p:sp>
          <p:nvSpPr>
            <p:cNvPr id="7"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8"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15" name="Text Box 23"/>
            <p:cNvSpPr txBox="1">
              <a:spLocks noChangeArrowheads="1"/>
            </p:cNvSpPr>
            <p:nvPr/>
          </p:nvSpPr>
          <p:spPr bwMode="auto">
            <a:xfrm>
              <a:off x="2006602" y="2661736"/>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运输层</a:t>
              </a:r>
            </a:p>
          </p:txBody>
        </p:sp>
        <p:sp>
          <p:nvSpPr>
            <p:cNvPr id="16"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网络层</a:t>
              </a:r>
            </a:p>
          </p:txBody>
        </p:sp>
        <p:sp>
          <p:nvSpPr>
            <p:cNvPr id="17"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18"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19"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数据链路层</a:t>
              </a:r>
            </a:p>
          </p:txBody>
        </p:sp>
        <p:sp>
          <p:nvSpPr>
            <p:cNvPr id="20"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21"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22" name="Text Box 13"/>
          <p:cNvSpPr txBox="1">
            <a:spLocks noChangeArrowheads="1"/>
          </p:cNvSpPr>
          <p:nvPr/>
        </p:nvSpPr>
        <p:spPr bwMode="auto">
          <a:xfrm>
            <a:off x="1156623" y="128696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32" name="Text Box 12"/>
          <p:cNvSpPr txBox="1">
            <a:spLocks noChangeArrowheads="1"/>
          </p:cNvSpPr>
          <p:nvPr/>
        </p:nvSpPr>
        <p:spPr bwMode="auto">
          <a:xfrm>
            <a:off x="3432593" y="127584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33" name="Text Box 95"/>
          <p:cNvSpPr txBox="1">
            <a:spLocks noChangeArrowheads="1"/>
          </p:cNvSpPr>
          <p:nvPr/>
        </p:nvSpPr>
        <p:spPr bwMode="auto">
          <a:xfrm>
            <a:off x="1993066" y="392538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34" name="Text Box 96"/>
          <p:cNvSpPr txBox="1">
            <a:spLocks noChangeArrowheads="1"/>
          </p:cNvSpPr>
          <p:nvPr/>
        </p:nvSpPr>
        <p:spPr bwMode="auto">
          <a:xfrm>
            <a:off x="4328191" y="392538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35" name="Text Box 97"/>
          <p:cNvSpPr txBox="1">
            <a:spLocks noChangeArrowheads="1"/>
          </p:cNvSpPr>
          <p:nvPr/>
        </p:nvSpPr>
        <p:spPr bwMode="auto">
          <a:xfrm>
            <a:off x="6655970" y="393340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47" name="Text Box 113"/>
          <p:cNvSpPr txBox="1">
            <a:spLocks noChangeArrowheads="1"/>
          </p:cNvSpPr>
          <p:nvPr/>
        </p:nvSpPr>
        <p:spPr bwMode="auto">
          <a:xfrm>
            <a:off x="5946357" y="127108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53" name="组合 52"/>
          <p:cNvGrpSpPr/>
          <p:nvPr/>
        </p:nvGrpSpPr>
        <p:grpSpPr>
          <a:xfrm>
            <a:off x="3578724" y="1591761"/>
            <a:ext cx="1974894" cy="2338387"/>
            <a:chOff x="3578724" y="1591761"/>
            <a:chExt cx="1974894" cy="2338387"/>
          </a:xfrm>
        </p:grpSpPr>
        <p:sp>
          <p:nvSpPr>
            <p:cNvPr id="23"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4"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5"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28"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29"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30"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31"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48"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3" name="直接连接符 2"/>
          <p:cNvCxnSpPr/>
          <p:nvPr/>
        </p:nvCxnSpPr>
        <p:spPr>
          <a:xfrm>
            <a:off x="5334249" y="329372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51" name="直接连接符 50"/>
          <p:cNvCxnSpPr/>
          <p:nvPr/>
        </p:nvCxnSpPr>
        <p:spPr>
          <a:xfrm>
            <a:off x="5334249" y="392246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52" name="组合 51"/>
          <p:cNvGrpSpPr/>
          <p:nvPr/>
        </p:nvGrpSpPr>
        <p:grpSpPr>
          <a:xfrm>
            <a:off x="6217820" y="1623594"/>
            <a:ext cx="1341437" cy="2350069"/>
            <a:chOff x="6217820" y="1623594"/>
            <a:chExt cx="1341437" cy="2350069"/>
          </a:xfrm>
        </p:grpSpPr>
        <p:sp>
          <p:nvSpPr>
            <p:cNvPr id="3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3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solidFill>
                  <a:schemeClr val="bg1"/>
                </a:solidFill>
                <a:latin typeface="Times New Roman" panose="02020603050405020304" pitchFamily="18" charset="0"/>
                <a:ea typeface="微软雅黑 Light" panose="020B0502040204020203" pitchFamily="34" charset="-122"/>
              </a:endParaRPr>
            </a:p>
          </p:txBody>
        </p:sp>
        <p:sp>
          <p:nvSpPr>
            <p:cNvPr id="38"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solidFill>
                  <a:schemeClr val="bg1"/>
                </a:solidFill>
                <a:latin typeface="Times New Roman" panose="02020603050405020304" pitchFamily="18" charset="0"/>
                <a:ea typeface="微软雅黑 Light" panose="020B0502040204020203" pitchFamily="34" charset="-122"/>
              </a:endParaRPr>
            </a:p>
          </p:txBody>
        </p:sp>
        <p:sp>
          <p:nvSpPr>
            <p:cNvPr id="3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solidFill>
                  <a:schemeClr val="bg1"/>
                </a:solidFill>
                <a:latin typeface="Times New Roman" panose="02020603050405020304" pitchFamily="18" charset="0"/>
                <a:ea typeface="微软雅黑 Light" panose="020B0502040204020203" pitchFamily="34" charset="-122"/>
              </a:endParaRPr>
            </a:p>
          </p:txBody>
        </p:sp>
        <p:sp>
          <p:nvSpPr>
            <p:cNvPr id="4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dirty="0">
                <a:solidFill>
                  <a:schemeClr val="bg1"/>
                </a:solidFill>
                <a:latin typeface="Times New Roman" panose="02020603050405020304" pitchFamily="18" charset="0"/>
                <a:ea typeface="微软雅黑 Light" panose="020B0502040204020203" pitchFamily="34" charset="-122"/>
              </a:endParaRPr>
            </a:p>
          </p:txBody>
        </p:sp>
        <p:sp>
          <p:nvSpPr>
            <p:cNvPr id="41"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运输层</a:t>
              </a:r>
            </a:p>
          </p:txBody>
        </p:sp>
        <p:sp>
          <p:nvSpPr>
            <p:cNvPr id="42"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网络层</a:t>
              </a:r>
            </a:p>
          </p:txBody>
        </p:sp>
        <p:sp>
          <p:nvSpPr>
            <p:cNvPr id="43"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44"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数据链路层</a:t>
              </a:r>
            </a:p>
          </p:txBody>
        </p:sp>
        <p:sp>
          <p:nvSpPr>
            <p:cNvPr id="45"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46"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22639"/>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通过应用进程间的交互来完成特定网络应用。</a:t>
            </a:r>
          </a:p>
          <a:p>
            <a:pPr marL="285750" indent="-285750">
              <a:lnSpc>
                <a:spcPts val="30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协议：</a:t>
            </a:r>
            <a:r>
              <a:rPr lang="zh-CN" altLang="en-US" b="1" dirty="0">
                <a:solidFill>
                  <a:srgbClr val="000066"/>
                </a:solidFill>
                <a:latin typeface="微软雅黑" panose="020B0503020204020204" pitchFamily="34" charset="-122"/>
                <a:ea typeface="微软雅黑" panose="020B0503020204020204" pitchFamily="34" charset="-122"/>
              </a:rPr>
              <a:t>定义的是</a:t>
            </a:r>
            <a:r>
              <a:rPr lang="zh-CN" altLang="en-US" b="1" dirty="0">
                <a:solidFill>
                  <a:srgbClr val="C00000"/>
                </a:solidFill>
                <a:latin typeface="微软雅黑" panose="020B0503020204020204" pitchFamily="34" charset="-122"/>
                <a:ea typeface="微软雅黑" panose="020B0503020204020204" pitchFamily="34" charset="-122"/>
              </a:rPr>
              <a:t>应用进程</a:t>
            </a:r>
            <a:r>
              <a:rPr lang="zh-CN" altLang="en-US" b="1" dirty="0">
                <a:solidFill>
                  <a:srgbClr val="000066"/>
                </a:solidFill>
                <a:latin typeface="微软雅黑" panose="020B0503020204020204" pitchFamily="34" charset="-122"/>
                <a:ea typeface="微软雅黑" panose="020B0503020204020204" pitchFamily="34" charset="-122"/>
              </a:rPr>
              <a:t>间通信和交互的规则。</a:t>
            </a: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把应用层交互的数据单元称为</a:t>
            </a:r>
            <a:r>
              <a:rPr lang="zh-CN" altLang="en-US" b="1" dirty="0">
                <a:solidFill>
                  <a:srgbClr val="C00000"/>
                </a:solidFill>
                <a:latin typeface="微软雅黑" panose="020B0503020204020204" pitchFamily="34" charset="-122"/>
                <a:ea typeface="微软雅黑" panose="020B0503020204020204" pitchFamily="34" charset="-122"/>
              </a:rPr>
              <a:t>报文</a:t>
            </a:r>
            <a:r>
              <a:rPr lang="en-US" altLang="zh-CN" b="1" dirty="0">
                <a:solidFill>
                  <a:srgbClr val="000066"/>
                </a:solidFill>
                <a:latin typeface="微软雅黑" panose="020B0503020204020204" pitchFamily="34" charset="-122"/>
                <a:ea typeface="微软雅黑" panose="020B0503020204020204" pitchFamily="34" charset="-122"/>
              </a:rPr>
              <a:t>(message)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30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例如：</a:t>
            </a:r>
            <a:r>
              <a:rPr lang="en-US" altLang="zh-CN" b="1" dirty="0">
                <a:solidFill>
                  <a:srgbClr val="000066"/>
                </a:solidFill>
                <a:latin typeface="微软雅黑" panose="020B0503020204020204" pitchFamily="34" charset="-122"/>
                <a:ea typeface="微软雅黑" panose="020B0503020204020204" pitchFamily="34" charset="-122"/>
              </a:rPr>
              <a:t>DNS</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HTTP</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SMTP</a:t>
            </a:r>
          </a:p>
          <a:p>
            <a:pPr marL="285750" indent="-285750">
              <a:lnSpc>
                <a:spcPts val="30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C84BB21F-3495-701A-0D50-79EF9F786F9D}"/>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各层的主要功能</a:t>
            </a:r>
          </a:p>
        </p:txBody>
      </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900"/>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负责向两台主机中</a:t>
            </a:r>
            <a:r>
              <a:rPr lang="zh-CN" altLang="en-US" b="1" dirty="0">
                <a:solidFill>
                  <a:srgbClr val="C00000"/>
                </a:solidFill>
                <a:latin typeface="微软雅黑" panose="020B0503020204020204" pitchFamily="34" charset="-122"/>
                <a:ea typeface="微软雅黑" panose="020B0503020204020204" pitchFamily="34" charset="-122"/>
              </a:rPr>
              <a:t>进程</a:t>
            </a:r>
            <a:r>
              <a:rPr lang="zh-CN" altLang="en-US" b="1" dirty="0">
                <a:solidFill>
                  <a:srgbClr val="000066"/>
                </a:solidFill>
                <a:latin typeface="微软雅黑" panose="020B0503020204020204" pitchFamily="34" charset="-122"/>
                <a:ea typeface="微软雅黑" panose="020B0503020204020204" pitchFamily="34" charset="-122"/>
              </a:rPr>
              <a:t>之间的通信提供通用的数据传输服务。</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具有复用和分用的功能。</a:t>
            </a: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主要使用</a:t>
            </a:r>
            <a:r>
              <a:rPr lang="zh-CN" altLang="en-US" b="1" dirty="0">
                <a:solidFill>
                  <a:srgbClr val="C00000"/>
                </a:solidFill>
                <a:latin typeface="微软雅黑" panose="020B0503020204020204" pitchFamily="34" charset="-122"/>
                <a:ea typeface="微软雅黑" panose="020B0503020204020204" pitchFamily="34" charset="-122"/>
              </a:rPr>
              <a:t>两种协议：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传输控制协议 </a:t>
            </a:r>
            <a:r>
              <a:rPr lang="en-US" altLang="zh-CN" sz="1600" b="1" dirty="0">
                <a:solidFill>
                  <a:srgbClr val="000066"/>
                </a:solidFill>
                <a:latin typeface="微软雅黑" panose="020B0503020204020204" pitchFamily="34" charset="-122"/>
                <a:ea typeface="微软雅黑" panose="020B0503020204020204" pitchFamily="34" charset="-122"/>
              </a:rPr>
              <a:t>TCP </a:t>
            </a:r>
          </a:p>
          <a:p>
            <a:pPr marL="742950" lvl="1" indent="-285750">
              <a:lnSpc>
                <a:spcPts val="28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用户数据报协议 </a:t>
            </a:r>
            <a:r>
              <a:rPr lang="en-US" altLang="zh-CN" sz="1600" b="1" dirty="0">
                <a:solidFill>
                  <a:srgbClr val="000066"/>
                </a:solidFill>
                <a:latin typeface="微软雅黑" panose="020B0503020204020204" pitchFamily="34" charset="-122"/>
                <a:ea typeface="微软雅黑" panose="020B0503020204020204" pitchFamily="34" charset="-122"/>
              </a:rPr>
              <a:t>UDP </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800"/>
              </a:lnSpc>
              <a:buFont typeface="Wingdings" panose="05000000000000000000" pitchFamily="2" charset="2"/>
              <a:buChar char="l"/>
            </a:pP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4BB794A5-5C82-B5F1-053B-1B4BAE36D207}"/>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各层的主要功能</a:t>
            </a:r>
          </a:p>
        </p:txBody>
      </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13162"/>
              <a:gd name="adj2" fmla="val 31"/>
              <a:gd name="adj3" fmla="val 52601"/>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TCP (Transmission Control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a:t>
            </a:r>
            <a:r>
              <a:rPr lang="zh-CN" altLang="en-US" sz="1600" b="1" dirty="0">
                <a:solidFill>
                  <a:srgbClr val="C00000"/>
                </a:solidFill>
                <a:latin typeface="微软雅黑" panose="020B0503020204020204" pitchFamily="34" charset="-122"/>
                <a:ea typeface="微软雅黑" panose="020B0503020204020204" pitchFamily="34" charset="-122"/>
              </a:rPr>
              <a:t>面向连接</a:t>
            </a:r>
            <a:r>
              <a:rPr lang="zh-CN" altLang="en-US" sz="1600" b="1" dirty="0">
                <a:solidFill>
                  <a:srgbClr val="000066"/>
                </a:solidFill>
                <a:latin typeface="微软雅黑" panose="020B0503020204020204" pitchFamily="34" charset="-122"/>
                <a:ea typeface="微软雅黑" panose="020B0503020204020204" pitchFamily="34" charset="-122"/>
              </a:rPr>
              <a:t>的、</a:t>
            </a:r>
            <a:r>
              <a:rPr lang="zh-CN" altLang="en-US" sz="1600" b="1" dirty="0">
                <a:solidFill>
                  <a:srgbClr val="C00000"/>
                </a:solidFill>
                <a:latin typeface="微软雅黑" panose="020B0503020204020204" pitchFamily="34" charset="-122"/>
                <a:ea typeface="微软雅黑" panose="020B0503020204020204" pitchFamily="34" charset="-122"/>
              </a:rPr>
              <a:t>可靠</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报文段</a:t>
            </a:r>
            <a:r>
              <a:rPr lang="zh-CN" altLang="en-US" sz="1600" b="1" dirty="0">
                <a:solidFill>
                  <a:srgbClr val="000066"/>
                </a:solidFill>
                <a:latin typeface="微软雅黑" panose="020B0503020204020204" pitchFamily="34" charset="-122"/>
                <a:ea typeface="微软雅黑" panose="020B0503020204020204" pitchFamily="34" charset="-122"/>
              </a:rPr>
              <a:t> </a:t>
            </a:r>
            <a:r>
              <a:rPr lang="en-US" altLang="zh-CN" sz="1600" b="1" dirty="0">
                <a:solidFill>
                  <a:srgbClr val="000066"/>
                </a:solidFill>
                <a:latin typeface="微软雅黑" panose="020B0503020204020204" pitchFamily="34" charset="-122"/>
                <a:ea typeface="微软雅黑" panose="020B0503020204020204" pitchFamily="34" charset="-122"/>
              </a:rPr>
              <a:t>(segment)</a:t>
            </a:r>
            <a:r>
              <a:rPr lang="zh-CN" altLang="en-US" sz="1600" b="1" dirty="0">
                <a:solidFill>
                  <a:srgbClr val="000066"/>
                </a:solidFill>
                <a:latin typeface="微软雅黑" panose="020B0503020204020204" pitchFamily="34" charset="-122"/>
                <a:ea typeface="微软雅黑" panose="020B0503020204020204" pitchFamily="34" charset="-122"/>
              </a:rPr>
              <a:t>。</a:t>
            </a: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UDP (User Datagram Protocol)</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提供无连接的</a:t>
            </a:r>
            <a:r>
              <a:rPr lang="zh-CN" altLang="en-US" sz="1600" b="1" dirty="0">
                <a:solidFill>
                  <a:srgbClr val="C00000"/>
                </a:solidFill>
                <a:latin typeface="微软雅黑" panose="020B0503020204020204" pitchFamily="34" charset="-122"/>
                <a:ea typeface="微软雅黑" panose="020B0503020204020204" pitchFamily="34" charset="-122"/>
              </a:rPr>
              <a:t>尽最大努力 </a:t>
            </a:r>
            <a:r>
              <a:rPr lang="en-US" altLang="zh-CN" sz="1600" b="1" dirty="0">
                <a:solidFill>
                  <a:srgbClr val="000066"/>
                </a:solidFill>
                <a:latin typeface="微软雅黑" panose="020B0503020204020204" pitchFamily="34" charset="-122"/>
                <a:ea typeface="微软雅黑" panose="020B0503020204020204" pitchFamily="34" charset="-122"/>
              </a:rPr>
              <a:t>(best-effort) </a:t>
            </a:r>
            <a:r>
              <a:rPr lang="zh-CN" altLang="en-US" sz="1600" b="1" dirty="0">
                <a:solidFill>
                  <a:srgbClr val="000066"/>
                </a:solidFill>
                <a:latin typeface="微软雅黑" panose="020B0503020204020204" pitchFamily="34" charset="-122"/>
                <a:ea typeface="微软雅黑" panose="020B0503020204020204" pitchFamily="34" charset="-122"/>
              </a:rPr>
              <a:t>的数据传输服务（</a:t>
            </a:r>
            <a:r>
              <a:rPr lang="zh-CN" altLang="en-US" sz="1600" b="1" dirty="0">
                <a:solidFill>
                  <a:srgbClr val="C00000"/>
                </a:solidFill>
                <a:latin typeface="微软雅黑" panose="020B0503020204020204" pitchFamily="34" charset="-122"/>
                <a:ea typeface="微软雅黑" panose="020B0503020204020204" pitchFamily="34" charset="-122"/>
              </a:rPr>
              <a:t>不保证数据传输的可靠性</a:t>
            </a:r>
            <a:r>
              <a:rPr lang="zh-CN" altLang="en-US" sz="1600" b="1" dirty="0">
                <a:solidFill>
                  <a:srgbClr val="000066"/>
                </a:solidFill>
                <a:latin typeface="微软雅黑" panose="020B0503020204020204" pitchFamily="34" charset="-122"/>
                <a:ea typeface="微软雅黑" panose="020B0503020204020204" pitchFamily="34" charset="-122"/>
              </a:rPr>
              <a:t>）。</a:t>
            </a:r>
            <a:endParaRPr lang="en-US" altLang="zh-CN" sz="1600" b="1" dirty="0">
              <a:solidFill>
                <a:srgbClr val="000066"/>
              </a:solidFill>
              <a:latin typeface="微软雅黑" panose="020B0503020204020204" pitchFamily="34" charset="-122"/>
              <a:ea typeface="微软雅黑" panose="020B0503020204020204" pitchFamily="34" charset="-122"/>
            </a:endParaRPr>
          </a:p>
          <a:p>
            <a:pPr marL="742950" lvl="1" indent="-285750">
              <a:lnSpc>
                <a:spcPts val="2600"/>
              </a:lnSpc>
              <a:buClr>
                <a:schemeClr val="accent6">
                  <a:lumMod val="75000"/>
                </a:schemeClr>
              </a:buClr>
              <a:buFont typeface="Wingdings" panose="05000000000000000000" pitchFamily="2" charset="2"/>
              <a:buChar char="u"/>
            </a:pPr>
            <a:r>
              <a:rPr lang="zh-CN" altLang="en-US" sz="1600" b="1" dirty="0">
                <a:solidFill>
                  <a:srgbClr val="000066"/>
                </a:solidFill>
                <a:latin typeface="微软雅黑" panose="020B0503020204020204" pitchFamily="34" charset="-122"/>
                <a:ea typeface="微软雅黑" panose="020B0503020204020204" pitchFamily="34" charset="-122"/>
              </a:rPr>
              <a:t>数据传输的单位是</a:t>
            </a:r>
            <a:r>
              <a:rPr lang="zh-CN" altLang="en-US" sz="1600" b="1" dirty="0">
                <a:solidFill>
                  <a:srgbClr val="C00000"/>
                </a:solidFill>
                <a:latin typeface="微软雅黑" panose="020B0503020204020204" pitchFamily="34" charset="-122"/>
                <a:ea typeface="微软雅黑" panose="020B0503020204020204" pitchFamily="34" charset="-122"/>
              </a:rPr>
              <a:t>用户数据报。</a:t>
            </a:r>
          </a:p>
          <a:p>
            <a:pPr marL="285750" indent="-285750">
              <a:lnSpc>
                <a:spcPts val="2600"/>
              </a:lnSpc>
              <a:buFont typeface="Wingdings" panose="05000000000000000000" pitchFamily="2" charset="2"/>
              <a:buChar char="l"/>
            </a:pPr>
            <a:endParaRPr lang="zh-CN" altLang="en-US"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02F2F6EE-DA72-C982-7E50-809BE80C1B22}"/>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各层的主要功能</a:t>
            </a:r>
          </a:p>
        </p:txBody>
      </p:sp>
    </p:spTree>
    <p:extLst>
      <p:ext uri="{BB962C8B-B14F-4D97-AF65-F5344CB8AC3E}">
        <p14:creationId xmlns:p14="http://schemas.microsoft.com/office/powerpoint/2010/main" val="123344360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为分组交换网上的不同</a:t>
            </a:r>
            <a:r>
              <a:rPr lang="zh-CN" altLang="en-US" b="1" dirty="0">
                <a:solidFill>
                  <a:srgbClr val="C00000"/>
                </a:solidFill>
                <a:latin typeface="微软雅黑" panose="020B0503020204020204" pitchFamily="34" charset="-122"/>
                <a:ea typeface="微软雅黑" panose="020B0503020204020204" pitchFamily="34" charset="-122"/>
              </a:rPr>
              <a:t>主机</a:t>
            </a:r>
            <a:r>
              <a:rPr lang="zh-CN" altLang="en-US" b="1" dirty="0">
                <a:solidFill>
                  <a:srgbClr val="000066"/>
                </a:solidFill>
                <a:latin typeface="微软雅黑" panose="020B0503020204020204" pitchFamily="34" charset="-122"/>
                <a:ea typeface="微软雅黑" panose="020B0503020204020204" pitchFamily="34" charset="-122"/>
              </a:rPr>
              <a:t>提供通信服务。</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两个具体</a:t>
            </a:r>
            <a:r>
              <a:rPr lang="zh-CN" altLang="en-US" b="1" dirty="0">
                <a:solidFill>
                  <a:srgbClr val="0000FF"/>
                </a:solidFill>
                <a:latin typeface="微软雅黑" panose="020B0503020204020204" pitchFamily="34" charset="-122"/>
                <a:ea typeface="微软雅黑" panose="020B0503020204020204" pitchFamily="34" charset="-122"/>
              </a:rPr>
              <a:t>任务：</a:t>
            </a:r>
            <a:endParaRPr lang="en-US" altLang="zh-CN" b="1" dirty="0">
              <a:solidFill>
                <a:srgbClr val="0000FF"/>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路由选择：</a:t>
            </a:r>
            <a:r>
              <a:rPr lang="zh-CN" altLang="en-US" sz="1600" b="1" dirty="0">
                <a:solidFill>
                  <a:srgbClr val="000066"/>
                </a:solidFill>
                <a:latin typeface="微软雅黑" panose="020B0503020204020204" pitchFamily="34" charset="-122"/>
                <a:ea typeface="微软雅黑" panose="020B0503020204020204" pitchFamily="34" charset="-122"/>
              </a:rPr>
              <a:t>通过一定的算法，在互联网中的每一个路由器上，</a:t>
            </a:r>
            <a:r>
              <a:rPr lang="zh-CN" altLang="en-US" sz="1600" b="1" dirty="0">
                <a:solidFill>
                  <a:srgbClr val="C00000"/>
                </a:solidFill>
                <a:latin typeface="微软雅黑" panose="020B0503020204020204" pitchFamily="34" charset="-122"/>
                <a:ea typeface="微软雅黑" panose="020B0503020204020204" pitchFamily="34" charset="-122"/>
              </a:rPr>
              <a:t>生成</a:t>
            </a:r>
            <a:r>
              <a:rPr lang="zh-CN" altLang="en-US" sz="1600" b="1" dirty="0">
                <a:solidFill>
                  <a:srgbClr val="000066"/>
                </a:solidFill>
                <a:latin typeface="微软雅黑" panose="020B0503020204020204" pitchFamily="34" charset="-122"/>
                <a:ea typeface="微软雅黑" panose="020B0503020204020204" pitchFamily="34" charset="-122"/>
              </a:rPr>
              <a:t>一个用来转发分组的</a:t>
            </a:r>
            <a:r>
              <a:rPr lang="zh-CN" altLang="en-US" sz="1600" b="1" dirty="0">
                <a:solidFill>
                  <a:srgbClr val="C00000"/>
                </a:solidFill>
                <a:latin typeface="微软雅黑" panose="020B0503020204020204" pitchFamily="34" charset="-122"/>
                <a:ea typeface="微软雅黑" panose="020B0503020204020204" pitchFamily="34" charset="-122"/>
              </a:rPr>
              <a:t>转发表。</a:t>
            </a:r>
            <a:endParaRPr lang="en-US" altLang="zh-CN" sz="1600" b="1" dirty="0">
              <a:solidFill>
                <a:srgbClr val="C00000"/>
              </a:solidFill>
              <a:latin typeface="微软雅黑" panose="020B0503020204020204" pitchFamily="34" charset="-122"/>
              <a:ea typeface="微软雅黑" panose="020B0503020204020204" pitchFamily="34" charset="-122"/>
            </a:endParaRPr>
          </a:p>
          <a:p>
            <a:pPr marL="742950" lvl="1" indent="-285750">
              <a:lnSpc>
                <a:spcPts val="2400"/>
              </a:lnSpc>
              <a:buClr>
                <a:schemeClr val="accent6">
                  <a:lumMod val="75000"/>
                </a:schemeClr>
              </a:buClr>
              <a:buFont typeface="Wingdings" panose="05000000000000000000" pitchFamily="2" charset="2"/>
              <a:buChar char="u"/>
            </a:pP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每一个路由器在接收到一个分组时，要依据转发表中指明的路径把分组</a:t>
            </a:r>
            <a:r>
              <a:rPr lang="zh-CN" altLang="en-US" sz="1600" b="1" dirty="0">
                <a:solidFill>
                  <a:srgbClr val="C00000"/>
                </a:solidFill>
                <a:latin typeface="微软雅黑" panose="020B0503020204020204" pitchFamily="34" charset="-122"/>
                <a:ea typeface="微软雅黑" panose="020B0503020204020204" pitchFamily="34" charset="-122"/>
              </a:rPr>
              <a:t>转发</a:t>
            </a:r>
            <a:r>
              <a:rPr lang="zh-CN" altLang="en-US" sz="1600" b="1" dirty="0">
                <a:solidFill>
                  <a:srgbClr val="000066"/>
                </a:solidFill>
                <a:latin typeface="微软雅黑" panose="020B0503020204020204" pitchFamily="34" charset="-122"/>
                <a:ea typeface="微软雅黑" panose="020B0503020204020204" pitchFamily="34" charset="-122"/>
              </a:rPr>
              <a:t>到下一个路由器。</a:t>
            </a:r>
            <a:endParaRPr lang="en-US" altLang="zh-CN" sz="1600" b="1" dirty="0">
              <a:solidFill>
                <a:srgbClr val="000066"/>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221C9D66-EECF-CA7E-DD46-C05B0794AA9D}"/>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各层的主要功能</a:t>
            </a:r>
          </a:p>
        </p:txBody>
      </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66982"/>
              <a:gd name="adj4" fmla="val -18632"/>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6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互联网使用的网络层协议是</a:t>
            </a:r>
            <a:r>
              <a:rPr lang="zh-CN" altLang="en-US" b="1" dirty="0">
                <a:solidFill>
                  <a:srgbClr val="C00000"/>
                </a:solidFill>
                <a:latin typeface="微软雅黑" panose="020B0503020204020204" pitchFamily="34" charset="-122"/>
                <a:ea typeface="微软雅黑" panose="020B0503020204020204" pitchFamily="34" charset="-122"/>
              </a:rPr>
              <a:t>无连接</a:t>
            </a:r>
            <a:r>
              <a:rPr lang="zh-CN" altLang="en-US" b="1" dirty="0">
                <a:solidFill>
                  <a:srgbClr val="000066"/>
                </a:solidFill>
                <a:latin typeface="微软雅黑" panose="020B0503020204020204" pitchFamily="34" charset="-122"/>
                <a:ea typeface="微软雅黑" panose="020B0503020204020204" pitchFamily="34" charset="-122"/>
              </a:rPr>
              <a:t>的</a:t>
            </a:r>
            <a:r>
              <a:rPr lang="zh-CN" altLang="en-US" b="1" dirty="0">
                <a:solidFill>
                  <a:srgbClr val="C00000"/>
                </a:solidFill>
                <a:latin typeface="微软雅黑" panose="020B0503020204020204" pitchFamily="34" charset="-122"/>
                <a:ea typeface="微软雅黑" panose="020B0503020204020204" pitchFamily="34" charset="-122"/>
              </a:rPr>
              <a:t>网际协议 </a:t>
            </a:r>
            <a:r>
              <a:rPr lang="en-US" altLang="zh-CN" b="1" dirty="0">
                <a:solidFill>
                  <a:srgbClr val="C00000"/>
                </a:solidFill>
                <a:latin typeface="微软雅黑" panose="020B0503020204020204" pitchFamily="34" charset="-122"/>
                <a:ea typeface="微软雅黑" panose="020B0503020204020204" pitchFamily="34" charset="-122"/>
              </a:rPr>
              <a:t>IP  </a:t>
            </a:r>
            <a:r>
              <a:rPr lang="en-US" altLang="zh-CN" b="1" dirty="0">
                <a:solidFill>
                  <a:srgbClr val="000066"/>
                </a:solidFill>
                <a:latin typeface="微软雅黑" panose="020B0503020204020204" pitchFamily="34" charset="-122"/>
                <a:ea typeface="微软雅黑" panose="020B0503020204020204" pitchFamily="34" charset="-122"/>
              </a:rPr>
              <a:t>(Internet Protocol) </a:t>
            </a:r>
            <a:r>
              <a:rPr lang="zh-CN" altLang="en-US" b="1" dirty="0">
                <a:solidFill>
                  <a:srgbClr val="000066"/>
                </a:solidFill>
                <a:latin typeface="微软雅黑" panose="020B0503020204020204" pitchFamily="34" charset="-122"/>
                <a:ea typeface="微软雅黑" panose="020B0503020204020204" pitchFamily="34" charset="-122"/>
              </a:rPr>
              <a:t>和许多种路由选择协议，因此互联网的网络层也叫做</a:t>
            </a:r>
            <a:r>
              <a:rPr lang="zh-CN" altLang="en-US" b="1" dirty="0">
                <a:solidFill>
                  <a:srgbClr val="0000FF"/>
                </a:solidFill>
                <a:latin typeface="微软雅黑" panose="020B0503020204020204" pitchFamily="34" charset="-122"/>
                <a:ea typeface="微软雅黑" panose="020B0503020204020204" pitchFamily="34" charset="-122"/>
              </a:rPr>
              <a:t>网际层</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FF"/>
                </a:solidFill>
                <a:latin typeface="微软雅黑" panose="020B0503020204020204" pitchFamily="34" charset="-122"/>
                <a:ea typeface="微软雅黑" panose="020B0503020204020204" pitchFamily="34" charset="-122"/>
              </a:rPr>
              <a:t>IP </a:t>
            </a:r>
            <a:r>
              <a:rPr lang="zh-CN" altLang="en-US" b="1" dirty="0">
                <a:solidFill>
                  <a:srgbClr val="0000FF"/>
                </a:solidFill>
                <a:latin typeface="微软雅黑" panose="020B0503020204020204" pitchFamily="34" charset="-122"/>
                <a:ea typeface="微软雅黑" panose="020B0503020204020204" pitchFamily="34" charset="-122"/>
              </a:rPr>
              <a:t>层。</a:t>
            </a:r>
            <a:endParaRPr lang="en-US" altLang="zh-CN" b="1" dirty="0">
              <a:solidFill>
                <a:srgbClr val="0000FF"/>
              </a:solidFill>
              <a:latin typeface="微软雅黑" panose="020B0503020204020204" pitchFamily="34" charset="-122"/>
              <a:ea typeface="微软雅黑" panose="020B0503020204020204" pitchFamily="34" charset="-122"/>
            </a:endParaRPr>
          </a:p>
          <a:p>
            <a:pPr marL="285750" indent="-285750">
              <a:lnSpc>
                <a:spcPts val="2600"/>
              </a:lnSpc>
              <a:buFont typeface="Wingdings" panose="05000000000000000000" pitchFamily="2" charset="2"/>
              <a:buChar char="l"/>
            </a:pPr>
            <a:r>
              <a:rPr lang="en-US" altLang="zh-CN" b="1" dirty="0">
                <a:solidFill>
                  <a:srgbClr val="000066"/>
                </a:solidFill>
                <a:latin typeface="微软雅黑" panose="020B0503020204020204" pitchFamily="34" charset="-122"/>
                <a:ea typeface="微软雅黑" panose="020B0503020204020204" pitchFamily="34" charset="-122"/>
              </a:rPr>
              <a:t>IP </a:t>
            </a:r>
            <a:r>
              <a:rPr lang="zh-CN" altLang="en-US" b="1" dirty="0">
                <a:solidFill>
                  <a:srgbClr val="000066"/>
                </a:solidFill>
                <a:latin typeface="微软雅黑" panose="020B0503020204020204" pitchFamily="34" charset="-122"/>
                <a:ea typeface="微软雅黑" panose="020B0503020204020204" pitchFamily="34" charset="-122"/>
              </a:rPr>
              <a:t>协议分组也叫做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数据报，</a:t>
            </a:r>
            <a:r>
              <a:rPr lang="zh-CN" altLang="en-US" b="1" dirty="0">
                <a:solidFill>
                  <a:srgbClr val="000066"/>
                </a:solidFill>
                <a:latin typeface="微软雅黑" panose="020B0503020204020204" pitchFamily="34" charset="-122"/>
                <a:ea typeface="微软雅黑" panose="020B0503020204020204" pitchFamily="34" charset="-122"/>
              </a:rPr>
              <a:t>或简称为</a:t>
            </a:r>
            <a:r>
              <a:rPr lang="zh-CN" altLang="en-US" b="1" dirty="0">
                <a:solidFill>
                  <a:srgbClr val="C00000"/>
                </a:solidFill>
                <a:latin typeface="微软雅黑" panose="020B0503020204020204" pitchFamily="34" charset="-122"/>
                <a:ea typeface="微软雅黑" panose="020B0503020204020204" pitchFamily="34" charset="-122"/>
              </a:rPr>
              <a:t>数据报。</a:t>
            </a:r>
          </a:p>
        </p:txBody>
      </p:sp>
      <p:sp>
        <p:nvSpPr>
          <p:cNvPr id="5" name="内容占位符 4">
            <a:extLst>
              <a:ext uri="{FF2B5EF4-FFF2-40B4-BE49-F238E27FC236}">
                <a16:creationId xmlns:a16="http://schemas.microsoft.com/office/drawing/2014/main" id="{A7335697-6B3C-E669-3863-EFC225D6AAC8}"/>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各层的主要功能</a:t>
            </a:r>
          </a:p>
        </p:txBody>
      </p:sp>
    </p:spTree>
    <p:extLst>
      <p:ext uri="{BB962C8B-B14F-4D97-AF65-F5344CB8AC3E}">
        <p14:creationId xmlns:p14="http://schemas.microsoft.com/office/powerpoint/2010/main" val="11750113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79865"/>
              <a:gd name="adj4" fmla="val -1468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常简称为</a:t>
            </a:r>
            <a:r>
              <a:rPr lang="zh-CN" altLang="en-US" b="1" dirty="0">
                <a:solidFill>
                  <a:srgbClr val="C00000"/>
                </a:solidFill>
                <a:latin typeface="微软雅黑" panose="020B0503020204020204" pitchFamily="34" charset="-122"/>
                <a:ea typeface="微软雅黑" panose="020B0503020204020204" pitchFamily="34" charset="-122"/>
              </a:rPr>
              <a:t>链路层。</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实现两个</a:t>
            </a:r>
            <a:r>
              <a:rPr lang="zh-CN" altLang="en-US" b="1" dirty="0">
                <a:solidFill>
                  <a:srgbClr val="C00000"/>
                </a:solidFill>
                <a:latin typeface="微软雅黑" panose="020B0503020204020204" pitchFamily="34" charset="-122"/>
                <a:ea typeface="微软雅黑" panose="020B0503020204020204" pitchFamily="34" charset="-122"/>
              </a:rPr>
              <a:t>相邻节点</a:t>
            </a:r>
            <a:r>
              <a:rPr lang="zh-CN" altLang="en-US" b="1" dirty="0">
                <a:solidFill>
                  <a:srgbClr val="000066"/>
                </a:solidFill>
                <a:latin typeface="微软雅黑" panose="020B0503020204020204" pitchFamily="34" charset="-122"/>
                <a:ea typeface="微软雅黑" panose="020B0503020204020204" pitchFamily="34" charset="-122"/>
              </a:rPr>
              <a:t>之间的</a:t>
            </a:r>
            <a:r>
              <a:rPr lang="zh-CN" altLang="en-US" b="1" dirty="0">
                <a:solidFill>
                  <a:srgbClr val="C00000"/>
                </a:solidFill>
                <a:latin typeface="微软雅黑" panose="020B0503020204020204" pitchFamily="34" charset="-122"/>
                <a:ea typeface="微软雅黑" panose="020B0503020204020204" pitchFamily="34" charset="-122"/>
              </a:rPr>
              <a:t>可靠通信。</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在两个相邻节点间的链路上传送</a:t>
            </a:r>
            <a:r>
              <a:rPr lang="zh-CN" altLang="en-US" b="1" dirty="0">
                <a:solidFill>
                  <a:srgbClr val="C00000"/>
                </a:solidFill>
                <a:latin typeface="微软雅黑" panose="020B0503020204020204" pitchFamily="34" charset="-122"/>
                <a:ea typeface="微软雅黑" panose="020B0503020204020204" pitchFamily="34" charset="-122"/>
              </a:rPr>
              <a:t>帧</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frame</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如发现有差错，就简单地</a:t>
            </a:r>
            <a:r>
              <a:rPr lang="zh-CN" altLang="en-US" b="1" dirty="0">
                <a:solidFill>
                  <a:srgbClr val="C00000"/>
                </a:solidFill>
                <a:latin typeface="微软雅黑" panose="020B0503020204020204" pitchFamily="34" charset="-122"/>
                <a:ea typeface="微软雅黑" panose="020B0503020204020204" pitchFamily="34" charset="-122"/>
              </a:rPr>
              <a:t>丢弃</a:t>
            </a:r>
            <a:r>
              <a:rPr lang="zh-CN" altLang="en-US" b="1" dirty="0">
                <a:solidFill>
                  <a:srgbClr val="000066"/>
                </a:solidFill>
                <a:latin typeface="微软雅黑" panose="020B0503020204020204" pitchFamily="34" charset="-122"/>
                <a:ea typeface="微软雅黑" panose="020B0503020204020204" pitchFamily="34" charset="-122"/>
              </a:rPr>
              <a:t>出错帧。</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如果需要改正出现的差错，就要采用</a:t>
            </a:r>
            <a:r>
              <a:rPr lang="zh-CN" altLang="en-US" b="1" dirty="0">
                <a:solidFill>
                  <a:srgbClr val="C00000"/>
                </a:solidFill>
                <a:latin typeface="微软雅黑" panose="020B0503020204020204" pitchFamily="34" charset="-122"/>
                <a:ea typeface="微软雅黑" panose="020B0503020204020204" pitchFamily="34" charset="-122"/>
              </a:rPr>
              <a:t>可靠传输协议</a:t>
            </a:r>
            <a:r>
              <a:rPr lang="zh-CN" altLang="en-US" b="1" dirty="0">
                <a:solidFill>
                  <a:srgbClr val="000066"/>
                </a:solidFill>
                <a:latin typeface="微软雅黑" panose="020B0503020204020204" pitchFamily="34" charset="-122"/>
                <a:ea typeface="微软雅黑" panose="020B0503020204020204" pitchFamily="34" charset="-122"/>
              </a:rPr>
              <a:t>来</a:t>
            </a:r>
            <a:r>
              <a:rPr lang="zh-CN" altLang="en-US" b="1" dirty="0">
                <a:solidFill>
                  <a:srgbClr val="C00000"/>
                </a:solidFill>
                <a:latin typeface="微软雅黑" panose="020B0503020204020204" pitchFamily="34" charset="-122"/>
                <a:ea typeface="微软雅黑" panose="020B0503020204020204" pitchFamily="34" charset="-122"/>
              </a:rPr>
              <a:t>纠正</a:t>
            </a:r>
            <a:r>
              <a:rPr lang="zh-CN" altLang="en-US" b="1" dirty="0">
                <a:solidFill>
                  <a:srgbClr val="000066"/>
                </a:solidFill>
                <a:latin typeface="微软雅黑" panose="020B0503020204020204" pitchFamily="34" charset="-122"/>
                <a:ea typeface="微软雅黑" panose="020B0503020204020204" pitchFamily="34" charset="-122"/>
              </a:rPr>
              <a:t>出现的差错。这种方法会使数据链路层协议复杂。</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5" name="内容占位符 4">
            <a:extLst>
              <a:ext uri="{FF2B5EF4-FFF2-40B4-BE49-F238E27FC236}">
                <a16:creationId xmlns:a16="http://schemas.microsoft.com/office/drawing/2014/main" id="{BA793DAF-D649-2803-3AEA-DBB7962999ED}"/>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各层的主要功能</a:t>
            </a:r>
          </a:p>
        </p:txBody>
      </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圆角矩形 5"/>
          <p:cNvSpPr/>
          <p:nvPr/>
        </p:nvSpPr>
        <p:spPr>
          <a:xfrm>
            <a:off x="505072" y="1170432"/>
            <a:ext cx="8133856" cy="320039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5" name="组合 54"/>
          <p:cNvGrpSpPr/>
          <p:nvPr/>
        </p:nvGrpSpPr>
        <p:grpSpPr>
          <a:xfrm>
            <a:off x="988097" y="1427749"/>
            <a:ext cx="1739063" cy="2857423"/>
            <a:chOff x="6217820" y="1623594"/>
            <a:chExt cx="1341437" cy="2447922"/>
          </a:xfrm>
        </p:grpSpPr>
        <p:sp>
          <p:nvSpPr>
            <p:cNvPr id="56"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7"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8" name="Freeform 102"/>
            <p:cNvSpPr/>
            <p:nvPr/>
          </p:nvSpPr>
          <p:spPr bwMode="auto">
            <a:xfrm>
              <a:off x="6220995" y="281632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59"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0"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600" dirty="0">
                <a:solidFill>
                  <a:schemeClr val="bg1"/>
                </a:solidFill>
                <a:latin typeface="Times New Roman" panose="02020603050405020304" pitchFamily="18" charset="0"/>
                <a:ea typeface="微软雅黑 Light" panose="020B0502040204020203" pitchFamily="34" charset="-122"/>
              </a:endParaRPr>
            </a:p>
          </p:txBody>
        </p:sp>
        <p:sp>
          <p:nvSpPr>
            <p:cNvPr id="61" name="Text Box 106"/>
            <p:cNvSpPr txBox="1">
              <a:spLocks noChangeArrowheads="1"/>
            </p:cNvSpPr>
            <p:nvPr/>
          </p:nvSpPr>
          <p:spPr bwMode="auto">
            <a:xfrm>
              <a:off x="6592838" y="2698332"/>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运输层</a:t>
              </a:r>
            </a:p>
          </p:txBody>
        </p:sp>
        <p:sp>
          <p:nvSpPr>
            <p:cNvPr id="62" name="Text Box 107"/>
            <p:cNvSpPr txBox="1">
              <a:spLocks noChangeArrowheads="1"/>
            </p:cNvSpPr>
            <p:nvPr/>
          </p:nvSpPr>
          <p:spPr bwMode="auto">
            <a:xfrm>
              <a:off x="6600776" y="30237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网络层</a:t>
              </a:r>
            </a:p>
          </p:txBody>
        </p:sp>
        <p:sp>
          <p:nvSpPr>
            <p:cNvPr id="63" name="Text Box 108"/>
            <p:cNvSpPr txBox="1">
              <a:spLocks noChangeArrowheads="1"/>
            </p:cNvSpPr>
            <p:nvPr/>
          </p:nvSpPr>
          <p:spPr bwMode="auto">
            <a:xfrm>
              <a:off x="6600776" y="20204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应用层</a:t>
              </a:r>
            </a:p>
          </p:txBody>
        </p:sp>
        <p:sp>
          <p:nvSpPr>
            <p:cNvPr id="64" name="Text Box 110"/>
            <p:cNvSpPr txBox="1">
              <a:spLocks noChangeArrowheads="1"/>
            </p:cNvSpPr>
            <p:nvPr/>
          </p:nvSpPr>
          <p:spPr bwMode="auto">
            <a:xfrm>
              <a:off x="6497588" y="3319044"/>
              <a:ext cx="933795"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chemeClr val="bg1"/>
                  </a:solidFill>
                  <a:latin typeface="微软雅黑" panose="020B0503020204020204" pitchFamily="34" charset="-122"/>
                  <a:ea typeface="微软雅黑" panose="020B0503020204020204" pitchFamily="34" charset="-122"/>
                </a:rPr>
                <a:t>数据链路层</a:t>
              </a:r>
            </a:p>
          </p:txBody>
        </p:sp>
        <p:sp>
          <p:nvSpPr>
            <p:cNvPr id="65" name="Text Box 111"/>
            <p:cNvSpPr txBox="1">
              <a:spLocks noChangeArrowheads="1"/>
            </p:cNvSpPr>
            <p:nvPr/>
          </p:nvSpPr>
          <p:spPr bwMode="auto">
            <a:xfrm>
              <a:off x="6600776" y="3633369"/>
              <a:ext cx="617254" cy="2900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chemeClr val="bg1"/>
                  </a:solidFill>
                  <a:latin typeface="微软雅黑" panose="020B0503020204020204" pitchFamily="34" charset="-122"/>
                  <a:ea typeface="微软雅黑" panose="020B0503020204020204" pitchFamily="34" charset="-122"/>
                </a:rPr>
                <a:t>物理层</a:t>
              </a:r>
            </a:p>
          </p:txBody>
        </p:sp>
        <p:sp>
          <p:nvSpPr>
            <p:cNvPr id="66" name="Text Box 112"/>
            <p:cNvSpPr txBox="1">
              <a:spLocks noChangeArrowheads="1"/>
            </p:cNvSpPr>
            <p:nvPr/>
          </p:nvSpPr>
          <p:spPr bwMode="auto">
            <a:xfrm>
              <a:off x="6239598" y="1629944"/>
              <a:ext cx="240126" cy="24415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5</a:t>
              </a:r>
            </a:p>
            <a:p>
              <a:pPr>
                <a:lnSpc>
                  <a:spcPct val="155000"/>
                </a:lnSpc>
              </a:pP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4</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3</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2</a:t>
              </a:r>
            </a:p>
            <a:p>
              <a:pPr>
                <a:lnSpc>
                  <a:spcPct val="155000"/>
                </a:lnSpc>
              </a:pPr>
              <a:r>
                <a:rPr kumimoji="1" lang="en-US" altLang="zh-CN" sz="1600" b="1" dirty="0">
                  <a:solidFill>
                    <a:schemeClr val="bg1"/>
                  </a:solidFill>
                  <a:latin typeface="微软雅黑" panose="020B0503020204020204" pitchFamily="34" charset="-122"/>
                  <a:ea typeface="微软雅黑" panose="020B0503020204020204" pitchFamily="34" charset="-122"/>
                </a:rPr>
                <a:t>1</a:t>
              </a:r>
            </a:p>
          </p:txBody>
        </p:sp>
      </p:grpSp>
      <p:sp>
        <p:nvSpPr>
          <p:cNvPr id="10" name="线形标注 1 9"/>
          <p:cNvSpPr/>
          <p:nvPr/>
        </p:nvSpPr>
        <p:spPr>
          <a:xfrm>
            <a:off x="3238418" y="1435161"/>
            <a:ext cx="5079413" cy="2677123"/>
          </a:xfrm>
          <a:prstGeom prst="borderCallout1">
            <a:avLst>
              <a:gd name="adj1" fmla="val 48217"/>
              <a:gd name="adj2" fmla="val 189"/>
              <a:gd name="adj3" fmla="val 92748"/>
              <a:gd name="adj4" fmla="val -18474"/>
            </a:avLst>
          </a:prstGeom>
          <a:ln>
            <a:solidFill>
              <a:schemeClr val="accent6">
                <a:lumMod val="75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marL="285750" indent="-285750">
              <a:lnSpc>
                <a:spcPts val="2800"/>
              </a:lnSpc>
              <a:buFont typeface="Wingdings" panose="05000000000000000000" pitchFamily="2" charset="2"/>
              <a:buChar char="l"/>
            </a:pPr>
            <a:r>
              <a:rPr lang="zh-CN" altLang="en-US" b="1" dirty="0">
                <a:solidFill>
                  <a:srgbClr val="0000FF"/>
                </a:solidFill>
                <a:latin typeface="微软雅黑" panose="020B0503020204020204" pitchFamily="34" charset="-122"/>
                <a:ea typeface="微软雅黑" panose="020B0503020204020204" pitchFamily="34" charset="-122"/>
              </a:rPr>
              <a:t>任务：</a:t>
            </a:r>
            <a:r>
              <a:rPr lang="zh-CN" altLang="en-US" b="1" dirty="0">
                <a:solidFill>
                  <a:srgbClr val="000066"/>
                </a:solidFill>
                <a:latin typeface="微软雅黑" panose="020B0503020204020204" pitchFamily="34" charset="-122"/>
                <a:ea typeface="微软雅黑" panose="020B0503020204020204" pitchFamily="34" charset="-122"/>
              </a:rPr>
              <a:t>实现</a:t>
            </a:r>
            <a:r>
              <a:rPr lang="zh-CN" altLang="en-US" b="1" dirty="0">
                <a:solidFill>
                  <a:srgbClr val="C00000"/>
                </a:solidFill>
                <a:latin typeface="微软雅黑" panose="020B0503020204020204" pitchFamily="34" charset="-122"/>
                <a:ea typeface="微软雅黑" panose="020B0503020204020204" pitchFamily="34" charset="-122"/>
              </a:rPr>
              <a:t>比特</a:t>
            </a:r>
            <a:r>
              <a:rPr lang="zh-CN" altLang="en-US" b="1" dirty="0">
                <a:solidFill>
                  <a:srgbClr val="000066"/>
                </a:solidFill>
                <a:latin typeface="微软雅黑" panose="020B0503020204020204" pitchFamily="34" charset="-122"/>
                <a:ea typeface="微软雅黑" panose="020B0503020204020204" pitchFamily="34" charset="-122"/>
              </a:rPr>
              <a:t>（</a:t>
            </a:r>
            <a:r>
              <a:rPr lang="en-US" altLang="zh-CN" b="1" dirty="0">
                <a:solidFill>
                  <a:srgbClr val="000066"/>
                </a:solidFill>
                <a:latin typeface="微软雅黑" panose="020B0503020204020204" pitchFamily="34" charset="-122"/>
                <a:ea typeface="微软雅黑" panose="020B0503020204020204" pitchFamily="34" charset="-122"/>
              </a:rPr>
              <a:t>0 </a:t>
            </a:r>
            <a:r>
              <a:rPr lang="zh-CN" altLang="en-US" b="1" dirty="0">
                <a:solidFill>
                  <a:srgbClr val="000066"/>
                </a:solidFill>
                <a:latin typeface="微软雅黑" panose="020B0503020204020204" pitchFamily="34" charset="-122"/>
                <a:ea typeface="微软雅黑" panose="020B0503020204020204" pitchFamily="34" charset="-122"/>
              </a:rPr>
              <a:t>或 </a:t>
            </a:r>
            <a:r>
              <a:rPr lang="en-US" altLang="zh-CN" b="1" dirty="0">
                <a:solidFill>
                  <a:srgbClr val="000066"/>
                </a:solidFill>
                <a:latin typeface="微软雅黑" panose="020B0503020204020204" pitchFamily="34" charset="-122"/>
                <a:ea typeface="微软雅黑" panose="020B0503020204020204" pitchFamily="34" charset="-122"/>
              </a:rPr>
              <a:t>1</a:t>
            </a:r>
            <a:r>
              <a:rPr lang="zh-CN" altLang="en-US" b="1" dirty="0">
                <a:solidFill>
                  <a:srgbClr val="000066"/>
                </a:solidFill>
                <a:latin typeface="微软雅黑" panose="020B0503020204020204" pitchFamily="34" charset="-122"/>
                <a:ea typeface="微软雅黑" panose="020B0503020204020204" pitchFamily="34" charset="-122"/>
              </a:rPr>
              <a:t>）的传输。</a:t>
            </a:r>
            <a:endParaRPr lang="en-US" altLang="zh-CN" b="1" dirty="0">
              <a:solidFill>
                <a:srgbClr val="C00000"/>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000066"/>
                </a:solidFill>
                <a:latin typeface="微软雅黑" panose="020B0503020204020204" pitchFamily="34" charset="-122"/>
                <a:ea typeface="微软雅黑" panose="020B0503020204020204" pitchFamily="34" charset="-122"/>
              </a:rPr>
              <a:t>确定连接电缆的</a:t>
            </a:r>
            <a:r>
              <a:rPr lang="zh-CN" altLang="en-US" b="1" dirty="0">
                <a:solidFill>
                  <a:srgbClr val="0000FF"/>
                </a:solidFill>
                <a:latin typeface="微软雅黑" panose="020B0503020204020204" pitchFamily="34" charset="-122"/>
                <a:ea typeface="微软雅黑" panose="020B0503020204020204" pitchFamily="34" charset="-122"/>
              </a:rPr>
              <a:t>插头</a:t>
            </a:r>
            <a:r>
              <a:rPr lang="zh-CN" altLang="en-US" b="1" dirty="0">
                <a:solidFill>
                  <a:srgbClr val="000066"/>
                </a:solidFill>
                <a:latin typeface="微软雅黑" panose="020B0503020204020204" pitchFamily="34" charset="-122"/>
                <a:ea typeface="微软雅黑" panose="020B0503020204020204" pitchFamily="34" charset="-122"/>
              </a:rPr>
              <a:t>应当有多少根</a:t>
            </a:r>
            <a:r>
              <a:rPr lang="zh-CN" altLang="en-US" b="1" dirty="0">
                <a:solidFill>
                  <a:srgbClr val="0000FF"/>
                </a:solidFill>
                <a:latin typeface="微软雅黑" panose="020B0503020204020204" pitchFamily="34" charset="-122"/>
                <a:ea typeface="微软雅黑" panose="020B0503020204020204" pitchFamily="34" charset="-122"/>
              </a:rPr>
              <a:t>引脚</a:t>
            </a:r>
            <a:r>
              <a:rPr lang="zh-CN" altLang="en-US" b="1" dirty="0">
                <a:solidFill>
                  <a:srgbClr val="000066"/>
                </a:solidFill>
                <a:latin typeface="微软雅黑" panose="020B0503020204020204" pitchFamily="34" charset="-122"/>
                <a:ea typeface="微软雅黑" panose="020B0503020204020204" pitchFamily="34" charset="-122"/>
              </a:rPr>
              <a:t>，以及各引脚应如何</a:t>
            </a:r>
            <a:r>
              <a:rPr lang="zh-CN" altLang="en-US" b="1" dirty="0">
                <a:solidFill>
                  <a:srgbClr val="0000FF"/>
                </a:solidFill>
                <a:latin typeface="微软雅黑" panose="020B0503020204020204" pitchFamily="34" charset="-122"/>
                <a:ea typeface="微软雅黑" panose="020B0503020204020204" pitchFamily="34" charset="-122"/>
              </a:rPr>
              <a:t>连接</a:t>
            </a:r>
            <a:r>
              <a:rPr lang="zh-CN" altLang="en-US" b="1" dirty="0">
                <a:solidFill>
                  <a:srgbClr val="000066"/>
                </a:solidFill>
                <a:latin typeface="微软雅黑" panose="020B0503020204020204" pitchFamily="34" charset="-122"/>
                <a:ea typeface="微软雅黑" panose="020B0503020204020204" pitchFamily="34" charset="-122"/>
              </a:rPr>
              <a:t>。</a:t>
            </a:r>
            <a:endParaRPr lang="en-US" altLang="zh-CN" b="1" dirty="0">
              <a:solidFill>
                <a:srgbClr val="000066"/>
              </a:solidFill>
              <a:latin typeface="微软雅黑" panose="020B0503020204020204" pitchFamily="34" charset="-122"/>
              <a:ea typeface="微软雅黑" panose="020B0503020204020204" pitchFamily="34" charset="-122"/>
            </a:endParaRPr>
          </a:p>
          <a:p>
            <a:pPr marL="285750" indent="-285750">
              <a:lnSpc>
                <a:spcPts val="2800"/>
              </a:lnSpc>
              <a:buFont typeface="Wingdings" panose="05000000000000000000" pitchFamily="2" charset="2"/>
              <a:buChar char="l"/>
            </a:pPr>
            <a:r>
              <a:rPr lang="zh-CN" altLang="en-US" b="1" dirty="0">
                <a:solidFill>
                  <a:srgbClr val="C00000"/>
                </a:solidFill>
                <a:latin typeface="微软雅黑" panose="020B0503020204020204" pitchFamily="34" charset="-122"/>
                <a:ea typeface="微软雅黑" panose="020B0503020204020204" pitchFamily="34" charset="-122"/>
              </a:rPr>
              <a:t>注意：</a:t>
            </a:r>
            <a:r>
              <a:rPr lang="zh-CN" altLang="en-US" b="1" dirty="0">
                <a:solidFill>
                  <a:srgbClr val="000066"/>
                </a:solidFill>
                <a:latin typeface="微软雅黑" panose="020B0503020204020204" pitchFamily="34" charset="-122"/>
                <a:ea typeface="微软雅黑" panose="020B0503020204020204" pitchFamily="34" charset="-122"/>
              </a:rPr>
              <a:t>传递信息所利用的一些</a:t>
            </a:r>
            <a:r>
              <a:rPr lang="zh-CN" altLang="en-US" b="1" dirty="0">
                <a:solidFill>
                  <a:srgbClr val="C00000"/>
                </a:solidFill>
                <a:latin typeface="微软雅黑" panose="020B0503020204020204" pitchFamily="34" charset="-122"/>
                <a:ea typeface="微软雅黑" panose="020B0503020204020204" pitchFamily="34" charset="-122"/>
              </a:rPr>
              <a:t>物理媒体</a:t>
            </a:r>
            <a:r>
              <a:rPr lang="zh-CN" altLang="en-US" b="1" dirty="0">
                <a:solidFill>
                  <a:srgbClr val="000066"/>
                </a:solidFill>
                <a:latin typeface="微软雅黑" panose="020B0503020204020204" pitchFamily="34" charset="-122"/>
                <a:ea typeface="微软雅黑" panose="020B0503020204020204" pitchFamily="34" charset="-122"/>
              </a:rPr>
              <a:t>，如双绞线、同轴电缆、光缆、无线信道等，并</a:t>
            </a:r>
            <a:r>
              <a:rPr lang="zh-CN" altLang="en-US" b="1" dirty="0">
                <a:solidFill>
                  <a:srgbClr val="C00000"/>
                </a:solidFill>
                <a:latin typeface="微软雅黑" panose="020B0503020204020204" pitchFamily="34" charset="-122"/>
                <a:ea typeface="微软雅黑" panose="020B0503020204020204" pitchFamily="34" charset="-122"/>
              </a:rPr>
              <a:t>不在物理层协议之内，</a:t>
            </a:r>
            <a:r>
              <a:rPr lang="zh-CN" altLang="en-US" b="1" dirty="0">
                <a:solidFill>
                  <a:srgbClr val="000066"/>
                </a:solidFill>
                <a:latin typeface="微软雅黑" panose="020B0503020204020204" pitchFamily="34" charset="-122"/>
                <a:ea typeface="微软雅黑" panose="020B0503020204020204" pitchFamily="34" charset="-122"/>
              </a:rPr>
              <a:t>而是在物理层协议的下面。</a:t>
            </a:r>
          </a:p>
        </p:txBody>
      </p:sp>
      <p:sp>
        <p:nvSpPr>
          <p:cNvPr id="5" name="内容占位符 4">
            <a:extLst>
              <a:ext uri="{FF2B5EF4-FFF2-40B4-BE49-F238E27FC236}">
                <a16:creationId xmlns:a16="http://schemas.microsoft.com/office/drawing/2014/main" id="{6616398E-86D8-8CF9-2E1B-E920A0347FBD}"/>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各层的主要功能</a:t>
            </a:r>
          </a:p>
        </p:txBody>
      </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50"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251"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5D31FB3E-FE20-F56A-354D-48C72ADA19C2}"/>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5" name="Group 31"/>
          <p:cNvGrpSpPr/>
          <p:nvPr/>
        </p:nvGrpSpPr>
        <p:grpSpPr bwMode="auto">
          <a:xfrm>
            <a:off x="2121518" y="1714788"/>
            <a:ext cx="890566" cy="740472"/>
            <a:chOff x="1823" y="1479"/>
            <a:chExt cx="756" cy="681"/>
          </a:xfrm>
        </p:grpSpPr>
        <p:sp>
          <p:nvSpPr>
            <p:cNvPr id="76" name="Text Box 32"/>
            <p:cNvSpPr txBox="1">
              <a:spLocks noChangeArrowheads="1"/>
            </p:cNvSpPr>
            <p:nvPr/>
          </p:nvSpPr>
          <p:spPr bwMode="auto">
            <a:xfrm>
              <a:off x="1823" y="1479"/>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应用层首部</a:t>
              </a:r>
            </a:p>
          </p:txBody>
        </p:sp>
        <p:sp>
          <p:nvSpPr>
            <p:cNvPr id="77" name="Line 33"/>
            <p:cNvSpPr>
              <a:spLocks noChangeShapeType="1"/>
            </p:cNvSpPr>
            <p:nvPr/>
          </p:nvSpPr>
          <p:spPr bwMode="auto">
            <a:xfrm>
              <a:off x="2359" y="1693"/>
              <a:ext cx="99" cy="24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8" name="Rectangle 34"/>
            <p:cNvSpPr>
              <a:spLocks noChangeArrowheads="1"/>
            </p:cNvSpPr>
            <p:nvPr/>
          </p:nvSpPr>
          <p:spPr bwMode="auto">
            <a:xfrm>
              <a:off x="2343" y="1934"/>
              <a:ext cx="211"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gr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0" name="矩形 7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43A71142-0EB0-8279-B8A2-C5608ED193D2}"/>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75"/>
                                        </p:tgtEl>
                                        <p:attrNameLst>
                                          <p:attrName>style.visibility</p:attrName>
                                        </p:attrNameLst>
                                      </p:cBhvr>
                                      <p:to>
                                        <p:strVal val="visible"/>
                                      </p:to>
                                    </p:set>
                                    <p:anim calcmode="lin" valueType="num">
                                      <p:cBhvr additive="base">
                                        <p:cTn id="7" dur="1000" fill="hold"/>
                                        <p:tgtEl>
                                          <p:spTgt spid="75"/>
                                        </p:tgtEl>
                                        <p:attrNameLst>
                                          <p:attrName>ppt_x</p:attrName>
                                        </p:attrNameLst>
                                      </p:cBhvr>
                                      <p:tavLst>
                                        <p:tav tm="0">
                                          <p:val>
                                            <p:strVal val="0-#ppt_w/2"/>
                                          </p:val>
                                        </p:tav>
                                        <p:tav tm="100000">
                                          <p:val>
                                            <p:strVal val="#ppt_x"/>
                                          </p:val>
                                        </p:tav>
                                      </p:tavLst>
                                    </p:anim>
                                    <p:anim calcmode="lin" valueType="num">
                                      <p:cBhvr additive="base">
                                        <p:cTn id="8" dur="1000" fill="hold"/>
                                        <p:tgtEl>
                                          <p:spTgt spid="75"/>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wipe(up)">
                                      <p:cBhvr>
                                        <p:cTn id="12"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6"/>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83" name="Group 65"/>
          <p:cNvGrpSpPr/>
          <p:nvPr/>
        </p:nvGrpSpPr>
        <p:grpSpPr bwMode="auto">
          <a:xfrm>
            <a:off x="1853282" y="2058217"/>
            <a:ext cx="889953" cy="741362"/>
            <a:chOff x="1596" y="1840"/>
            <a:chExt cx="756" cy="683"/>
          </a:xfrm>
        </p:grpSpPr>
        <p:sp>
          <p:nvSpPr>
            <p:cNvPr id="84" name="Rectangle 66"/>
            <p:cNvSpPr>
              <a:spLocks noChangeArrowheads="1"/>
            </p:cNvSpPr>
            <p:nvPr/>
          </p:nvSpPr>
          <p:spPr bwMode="auto">
            <a:xfrm>
              <a:off x="2155" y="2296"/>
              <a:ext cx="188" cy="227"/>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85" name="Text Box 67"/>
            <p:cNvSpPr txBox="1">
              <a:spLocks noChangeArrowheads="1"/>
            </p:cNvSpPr>
            <p:nvPr/>
          </p:nvSpPr>
          <p:spPr bwMode="auto">
            <a:xfrm>
              <a:off x="1596" y="1840"/>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运输层首部</a:t>
              </a:r>
            </a:p>
          </p:txBody>
        </p:sp>
        <p:sp>
          <p:nvSpPr>
            <p:cNvPr id="86" name="Line 68"/>
            <p:cNvSpPr>
              <a:spLocks noChangeShapeType="1"/>
            </p:cNvSpPr>
            <p:nvPr/>
          </p:nvSpPr>
          <p:spPr bwMode="auto">
            <a:xfrm>
              <a:off x="2148" y="2046"/>
              <a:ext cx="94" cy="2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矩形 28"/>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2"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3"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75" name="矩形 74"/>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5F58AF4A-DCD1-E6B6-6CAB-A29CEEDE67CA}"/>
              </a:ext>
            </a:extLst>
          </p:cNvPr>
          <p:cNvSpPr>
            <a:spLocks noGrp="1"/>
          </p:cNvSpPr>
          <p:nvPr>
            <p:ph sz="quarter" idx="4294967295"/>
          </p:nvPr>
        </p:nvSpPr>
        <p:spPr>
          <a:xfrm>
            <a:off x="612000" y="720000"/>
            <a:ext cx="7920000" cy="3960000"/>
          </a:xfrm>
        </p:spPr>
        <p:txBody>
          <a:bodyPr/>
          <a:lstStyle/>
          <a:p>
            <a:endParaRPr lang="zh-CN" altLang="en-US"/>
          </a:p>
        </p:txBody>
      </p:sp>
      <p:sp>
        <p:nvSpPr>
          <p:cNvPr id="31" name="文本占位符 30"/>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 calcmode="lin" valueType="num">
                                      <p:cBhvr additive="base">
                                        <p:cTn id="7" dur="1000" fill="hold"/>
                                        <p:tgtEl>
                                          <p:spTgt spid="83"/>
                                        </p:tgtEl>
                                        <p:attrNameLst>
                                          <p:attrName>ppt_x</p:attrName>
                                        </p:attrNameLst>
                                      </p:cBhvr>
                                      <p:tavLst>
                                        <p:tav tm="0">
                                          <p:val>
                                            <p:strVal val="0-#ppt_w/2"/>
                                          </p:val>
                                        </p:tav>
                                        <p:tav tm="100000">
                                          <p:val>
                                            <p:strVal val="#ppt_x"/>
                                          </p:val>
                                        </p:tav>
                                      </p:tavLst>
                                    </p:anim>
                                    <p:anim calcmode="lin" valueType="num">
                                      <p:cBhvr additive="base">
                                        <p:cTn id="8" dur="1000" fill="hold"/>
                                        <p:tgtEl>
                                          <p:spTgt spid="83"/>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94"/>
                                        </p:tgtEl>
                                        <p:attrNameLst>
                                          <p:attrName>style.visibility</p:attrName>
                                        </p:attrNameLst>
                                      </p:cBhvr>
                                      <p:to>
                                        <p:strVal val="visible"/>
                                      </p:to>
                                    </p:set>
                                    <p:animEffect transition="in" filter="wipe(up)">
                                      <p:cBhvr>
                                        <p:cTn id="12" dur="10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37923" y="1048836"/>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97" name="Group 69"/>
          <p:cNvGrpSpPr/>
          <p:nvPr/>
        </p:nvGrpSpPr>
        <p:grpSpPr bwMode="auto">
          <a:xfrm>
            <a:off x="1687074" y="2380636"/>
            <a:ext cx="889765" cy="797755"/>
            <a:chOff x="1224" y="2152"/>
            <a:chExt cx="756" cy="734"/>
          </a:xfrm>
        </p:grpSpPr>
        <p:sp>
          <p:nvSpPr>
            <p:cNvPr id="98" name="Rectangle 70"/>
            <p:cNvSpPr>
              <a:spLocks noChangeArrowheads="1"/>
            </p:cNvSpPr>
            <p:nvPr/>
          </p:nvSpPr>
          <p:spPr bwMode="auto">
            <a:xfrm>
              <a:off x="1739" y="2660"/>
              <a:ext cx="188"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sp>
          <p:nvSpPr>
            <p:cNvPr id="99" name="Text Box 71"/>
            <p:cNvSpPr txBox="1">
              <a:spLocks noChangeArrowheads="1"/>
            </p:cNvSpPr>
            <p:nvPr/>
          </p:nvSpPr>
          <p:spPr bwMode="auto">
            <a:xfrm>
              <a:off x="1224" y="2152"/>
              <a:ext cx="756" cy="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网络层首部</a:t>
              </a:r>
            </a:p>
          </p:txBody>
        </p:sp>
        <p:sp>
          <p:nvSpPr>
            <p:cNvPr id="100" name="Line 72"/>
            <p:cNvSpPr>
              <a:spLocks noChangeShapeType="1"/>
            </p:cNvSpPr>
            <p:nvPr/>
          </p:nvSpPr>
          <p:spPr bwMode="auto">
            <a:xfrm>
              <a:off x="1719" y="2379"/>
              <a:ext cx="122" cy="28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矩形 141"/>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3"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4"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3" name="矩形 82"/>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77124AE0-FCF9-1C09-5684-77D00A9D6717}"/>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97"/>
                                        </p:tgtEl>
                                        <p:attrNameLst>
                                          <p:attrName>style.visibility</p:attrName>
                                        </p:attrNameLst>
                                      </p:cBhvr>
                                      <p:to>
                                        <p:strVal val="visible"/>
                                      </p:to>
                                    </p:set>
                                    <p:anim calcmode="lin" valueType="num">
                                      <p:cBhvr additive="base">
                                        <p:cTn id="7" dur="1000" fill="hold"/>
                                        <p:tgtEl>
                                          <p:spTgt spid="97"/>
                                        </p:tgtEl>
                                        <p:attrNameLst>
                                          <p:attrName>ppt_x</p:attrName>
                                        </p:attrNameLst>
                                      </p:cBhvr>
                                      <p:tavLst>
                                        <p:tav tm="0">
                                          <p:val>
                                            <p:strVal val="0-#ppt_w/2"/>
                                          </p:val>
                                        </p:tav>
                                        <p:tav tm="100000">
                                          <p:val>
                                            <p:strVal val="#ppt_x"/>
                                          </p:val>
                                        </p:tav>
                                      </p:tavLst>
                                    </p:anim>
                                    <p:anim calcmode="lin" valueType="num">
                                      <p:cBhvr additive="base">
                                        <p:cTn id="8" dur="1000" fill="hold"/>
                                        <p:tgtEl>
                                          <p:spTgt spid="97"/>
                                        </p:tgtEl>
                                        <p:attrNameLst>
                                          <p:attrName>ppt_y</p:attrName>
                                        </p:attrNameLst>
                                      </p:cBhvr>
                                      <p:tavLst>
                                        <p:tav tm="0">
                                          <p:val>
                                            <p:strVal val="#ppt_y"/>
                                          </p:val>
                                        </p:tav>
                                        <p:tav tm="100000">
                                          <p:val>
                                            <p:strVal val="#ppt_y"/>
                                          </p:val>
                                        </p:tav>
                                      </p:tavLst>
                                    </p:anim>
                                  </p:childTnLst>
                                </p:cTn>
                              </p:par>
                            </p:childTnLst>
                          </p:cTn>
                        </p:par>
                        <p:par>
                          <p:cTn id="9" fill="hold">
                            <p:stCondLst>
                              <p:cond delay="1000"/>
                            </p:stCondLst>
                            <p:childTnLst>
                              <p:par>
                                <p:cTn id="10" presetID="22" presetClass="entr" presetSubtype="1" fill="hold" nodeType="afterEffect">
                                  <p:stCondLst>
                                    <p:cond delay="0"/>
                                  </p:stCondLst>
                                  <p:childTnLst>
                                    <p:set>
                                      <p:cBhvr>
                                        <p:cTn id="11" dur="1" fill="hold">
                                          <p:stCondLst>
                                            <p:cond delay="0"/>
                                          </p:stCondLst>
                                        </p:cTn>
                                        <p:tgtEl>
                                          <p:spTgt spid="106"/>
                                        </p:tgtEl>
                                        <p:attrNameLst>
                                          <p:attrName>style.visibility</p:attrName>
                                        </p:attrNameLst>
                                      </p:cBhvr>
                                      <p:to>
                                        <p:strVal val="visible"/>
                                      </p:to>
                                    </p:set>
                                    <p:animEffect transition="in" filter="wipe(up)">
                                      <p:cBhvr>
                                        <p:cTn id="12" dur="10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grpSp>
        <p:nvGrpSpPr>
          <p:cNvPr id="109" name="Group 73"/>
          <p:cNvGrpSpPr/>
          <p:nvPr/>
        </p:nvGrpSpPr>
        <p:grpSpPr bwMode="auto">
          <a:xfrm>
            <a:off x="1695605" y="2710163"/>
            <a:ext cx="607498" cy="838412"/>
            <a:chOff x="1106" y="2477"/>
            <a:chExt cx="516" cy="771"/>
          </a:xfrm>
        </p:grpSpPr>
        <p:sp>
          <p:nvSpPr>
            <p:cNvPr id="110" name="Rectangle 74"/>
            <p:cNvSpPr>
              <a:spLocks noChangeArrowheads="1"/>
            </p:cNvSpPr>
            <p:nvPr/>
          </p:nvSpPr>
          <p:spPr bwMode="auto">
            <a:xfrm>
              <a:off x="1423" y="3022"/>
              <a:ext cx="187" cy="226"/>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1" name="Text Box 75"/>
            <p:cNvSpPr txBox="1">
              <a:spLocks noChangeArrowheads="1"/>
            </p:cNvSpPr>
            <p:nvPr/>
          </p:nvSpPr>
          <p:spPr bwMode="auto">
            <a:xfrm>
              <a:off x="1106" y="2477"/>
              <a:ext cx="516"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1422" y="2834"/>
              <a:ext cx="85" cy="203"/>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3" name="Group 77"/>
          <p:cNvGrpSpPr/>
          <p:nvPr/>
        </p:nvGrpSpPr>
        <p:grpSpPr bwMode="auto">
          <a:xfrm>
            <a:off x="3390694" y="2700859"/>
            <a:ext cx="607954" cy="847725"/>
            <a:chOff x="4135" y="2468"/>
            <a:chExt cx="517" cy="781"/>
          </a:xfrm>
        </p:grpSpPr>
        <p:sp>
          <p:nvSpPr>
            <p:cNvPr id="114" name="Rectangle 78"/>
            <p:cNvSpPr>
              <a:spLocks noChangeArrowheads="1"/>
            </p:cNvSpPr>
            <p:nvPr/>
          </p:nvSpPr>
          <p:spPr bwMode="auto">
            <a:xfrm>
              <a:off x="4191" y="3023"/>
              <a:ext cx="179" cy="226"/>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5"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6" name="Text Box 80"/>
            <p:cNvSpPr txBox="1">
              <a:spLocks noChangeArrowheads="1"/>
            </p:cNvSpPr>
            <p:nvPr/>
          </p:nvSpPr>
          <p:spPr bwMode="auto">
            <a:xfrm>
              <a:off x="4135" y="2468"/>
              <a:ext cx="517" cy="3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145"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6"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97" name="矩形 96"/>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15D0AB33-EAAE-E914-EDDF-3E846A938CA3}"/>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afterEffect">
                                  <p:stCondLst>
                                    <p:cond delay="0"/>
                                  </p:stCondLst>
                                  <p:childTnLst>
                                    <p:set>
                                      <p:cBhvr>
                                        <p:cTn id="6" dur="1" fill="hold">
                                          <p:stCondLst>
                                            <p:cond delay="0"/>
                                          </p:stCondLst>
                                        </p:cTn>
                                        <p:tgtEl>
                                          <p:spTgt spid="109"/>
                                        </p:tgtEl>
                                        <p:attrNameLst>
                                          <p:attrName>style.visibility</p:attrName>
                                        </p:attrNameLst>
                                      </p:cBhvr>
                                      <p:to>
                                        <p:strVal val="visible"/>
                                      </p:to>
                                    </p:set>
                                    <p:anim calcmode="lin" valueType="num">
                                      <p:cBhvr additive="base">
                                        <p:cTn id="7" dur="1000" fill="hold"/>
                                        <p:tgtEl>
                                          <p:spTgt spid="109"/>
                                        </p:tgtEl>
                                        <p:attrNameLst>
                                          <p:attrName>ppt_x</p:attrName>
                                        </p:attrNameLst>
                                      </p:cBhvr>
                                      <p:tavLst>
                                        <p:tav tm="0">
                                          <p:val>
                                            <p:strVal val="0-#ppt_w/2"/>
                                          </p:val>
                                        </p:tav>
                                        <p:tav tm="100000">
                                          <p:val>
                                            <p:strVal val="#ppt_x"/>
                                          </p:val>
                                        </p:tav>
                                      </p:tavLst>
                                    </p:anim>
                                    <p:anim calcmode="lin" valueType="num">
                                      <p:cBhvr additive="base">
                                        <p:cTn id="8" dur="1000" fill="hold"/>
                                        <p:tgtEl>
                                          <p:spTgt spid="109"/>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0"/>
                                  </p:stCondLst>
                                  <p:childTnLst>
                                    <p:set>
                                      <p:cBhvr>
                                        <p:cTn id="10" dur="1" fill="hold">
                                          <p:stCondLst>
                                            <p:cond delay="0"/>
                                          </p:stCondLst>
                                        </p:cTn>
                                        <p:tgtEl>
                                          <p:spTgt spid="113"/>
                                        </p:tgtEl>
                                        <p:attrNameLst>
                                          <p:attrName>style.visibility</p:attrName>
                                        </p:attrNameLst>
                                      </p:cBhvr>
                                      <p:to>
                                        <p:strVal val="visible"/>
                                      </p:to>
                                    </p:set>
                                    <p:anim calcmode="lin" valueType="num">
                                      <p:cBhvr additive="base">
                                        <p:cTn id="11" dur="1000" fill="hold"/>
                                        <p:tgtEl>
                                          <p:spTgt spid="113"/>
                                        </p:tgtEl>
                                        <p:attrNameLst>
                                          <p:attrName>ppt_x</p:attrName>
                                        </p:attrNameLst>
                                      </p:cBhvr>
                                      <p:tavLst>
                                        <p:tav tm="0">
                                          <p:val>
                                            <p:strVal val="1+#ppt_w/2"/>
                                          </p:val>
                                        </p:tav>
                                        <p:tav tm="100000">
                                          <p:val>
                                            <p:strVal val="#ppt_x"/>
                                          </p:val>
                                        </p:tav>
                                      </p:tavLst>
                                    </p:anim>
                                    <p:anim calcmode="lin" valueType="num">
                                      <p:cBhvr additive="base">
                                        <p:cTn id="12" dur="1000" fill="hold"/>
                                        <p:tgtEl>
                                          <p:spTgt spid="113"/>
                                        </p:tgtEl>
                                        <p:attrNameLst>
                                          <p:attrName>ppt_y</p:attrName>
                                        </p:attrNameLst>
                                      </p:cBhvr>
                                      <p:tavLst>
                                        <p:tav tm="0">
                                          <p:val>
                                            <p:strVal val="#ppt_y"/>
                                          </p:val>
                                        </p:tav>
                                        <p:tav tm="100000">
                                          <p:val>
                                            <p:strVal val="#ppt_y"/>
                                          </p:val>
                                        </p:tav>
                                      </p:tavLst>
                                    </p:anim>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18"/>
                                        </p:tgtEl>
                                        <p:attrNameLst>
                                          <p:attrName>style.visibility</p:attrName>
                                        </p:attrNameLst>
                                      </p:cBhvr>
                                      <p:to>
                                        <p:strVal val="visible"/>
                                      </p:to>
                                    </p:set>
                                    <p:animEffect transition="in" filter="wipe(up)">
                                      <p:cBhvr>
                                        <p:cTn id="16" dur="10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78"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80" name="Group 38"/>
          <p:cNvGrpSpPr/>
          <p:nvPr/>
        </p:nvGrpSpPr>
        <p:grpSpPr bwMode="auto">
          <a:xfrm>
            <a:off x="2736195" y="2554801"/>
            <a:ext cx="723947" cy="245571"/>
            <a:chOff x="2346" y="2297"/>
            <a:chExt cx="615" cy="226"/>
          </a:xfrm>
          <a:solidFill>
            <a:srgbClr val="00B0F0"/>
          </a:solidFill>
        </p:grpSpPr>
        <p:sp>
          <p:nvSpPr>
            <p:cNvPr id="81"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82"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4"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90" name="Group 41"/>
          <p:cNvGrpSpPr/>
          <p:nvPr/>
        </p:nvGrpSpPr>
        <p:grpSpPr bwMode="auto">
          <a:xfrm>
            <a:off x="2511051" y="2932328"/>
            <a:ext cx="946569" cy="246063"/>
            <a:chOff x="2169" y="2660"/>
            <a:chExt cx="804" cy="226"/>
          </a:xfrm>
        </p:grpSpPr>
        <p:sp>
          <p:nvSpPr>
            <p:cNvPr id="9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2"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3"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8"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3" name="矩形 142"/>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矩形 143"/>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sp>
        <p:nvSpPr>
          <p:cNvPr id="9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0"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09" name="矩形 108"/>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7FDBA8D8-9815-C04A-34B0-51EA95AB2D81}"/>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250"/>
                                  </p:stCondLst>
                                  <p:childTnLst>
                                    <p:set>
                                      <p:cBhvr>
                                        <p:cTn id="6" dur="1" fill="hold">
                                          <p:stCondLst>
                                            <p:cond delay="0"/>
                                          </p:stCondLst>
                                        </p:cTn>
                                        <p:tgtEl>
                                          <p:spTgt spid="97"/>
                                        </p:tgtEl>
                                        <p:attrNameLst>
                                          <p:attrName>style.visibility</p:attrName>
                                        </p:attrNameLst>
                                      </p:cBhvr>
                                      <p:to>
                                        <p:strVal val="visible"/>
                                      </p:to>
                                    </p:set>
                                    <p:animEffect transition="in" filter="wipe(up)">
                                      <p:cBhvr>
                                        <p:cTn id="7"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58D6826B-D301-BDCB-D3B4-A47C49ADBF89}"/>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32" name="内容占位符 31">
            <a:extLst>
              <a:ext uri="{FF2B5EF4-FFF2-40B4-BE49-F238E27FC236}">
                <a16:creationId xmlns:a16="http://schemas.microsoft.com/office/drawing/2014/main" id="{0ABD0083-7219-DEA8-ACFF-8C9808C99650}"/>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7"/>
                                        </p:tgtEl>
                                        <p:attrNameLst>
                                          <p:attrName>style.visibility</p:attrName>
                                        </p:attrNameLst>
                                      </p:cBhvr>
                                      <p:to>
                                        <p:strVal val="visible"/>
                                      </p:to>
                                    </p:set>
                                    <p:animEffect transition="in" filter="wipe(left)">
                                      <p:cBhvr>
                                        <p:cTn id="7" dur="10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9" name="组合 28"/>
          <p:cNvGrpSpPr/>
          <p:nvPr/>
        </p:nvGrpSpPr>
        <p:grpSpPr>
          <a:xfrm>
            <a:off x="2068815" y="3302812"/>
            <a:ext cx="1598226" cy="252136"/>
            <a:chOff x="2068815" y="3302812"/>
            <a:chExt cx="1598226" cy="252136"/>
          </a:xfrm>
        </p:grpSpPr>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19E88D37-99EA-7962-799D-0B8F1610AA41}"/>
              </a:ext>
            </a:extLst>
          </p:cNvPr>
          <p:cNvSpPr>
            <a:spLocks noGrp="1"/>
          </p:cNvSpPr>
          <p:nvPr>
            <p:ph sz="quarter" idx="4294967295"/>
          </p:nvPr>
        </p:nvSpPr>
        <p:spPr>
          <a:xfrm>
            <a:off x="612000" y="720000"/>
            <a:ext cx="7920000" cy="3960000"/>
          </a:xfrm>
        </p:spPr>
        <p:txBody>
          <a:bodyPr/>
          <a:lstStyle/>
          <a:p>
            <a:endParaRPr lang="zh-CN" altLang="en-US"/>
          </a:p>
        </p:txBody>
      </p:sp>
      <p:sp>
        <p:nvSpPr>
          <p:cNvPr id="31" name="文本占位符 30"/>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0EADBC77-5A2B-E144-2EA5-7A42DEA9F1CB}"/>
              </a:ext>
            </a:extLst>
          </p:cNvPr>
          <p:cNvSpPr>
            <a:spLocks noGrp="1"/>
          </p:cNvSpPr>
          <p:nvPr>
            <p:ph sz="quarter" idx="4294967295"/>
          </p:nvPr>
        </p:nvSpPr>
        <p:spPr>
          <a:xfrm>
            <a:off x="612000" y="720000"/>
            <a:ext cx="7920000" cy="3960000"/>
          </a:xfrm>
        </p:spPr>
        <p:txBody>
          <a:bodyPr/>
          <a:lstStyle/>
          <a:p>
            <a:endParaRPr lang="zh-CN" altLang="en-US"/>
          </a:p>
        </p:txBody>
      </p:sp>
      <p:sp>
        <p:nvSpPr>
          <p:cNvPr id="31" name="文本占位符 30"/>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left)">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内容占位符 32">
            <a:extLst>
              <a:ext uri="{FF2B5EF4-FFF2-40B4-BE49-F238E27FC236}">
                <a16:creationId xmlns:a16="http://schemas.microsoft.com/office/drawing/2014/main" id="{B0B40439-C642-5AB8-12A7-F5A188EE56A2}"/>
              </a:ext>
            </a:extLst>
          </p:cNvPr>
          <p:cNvSpPr>
            <a:spLocks noGrp="1"/>
          </p:cNvSpPr>
          <p:nvPr>
            <p:ph sz="quarter" idx="4294967295"/>
          </p:nvPr>
        </p:nvSpPr>
        <p:spPr>
          <a:xfrm>
            <a:off x="612000" y="720000"/>
            <a:ext cx="7920000" cy="3960000"/>
          </a:xfrm>
        </p:spPr>
        <p:txBody>
          <a:bodyPr/>
          <a:lstStyle/>
          <a:p>
            <a:endParaRPr lang="zh-CN" altLang="en-US"/>
          </a:p>
        </p:txBody>
      </p:sp>
      <p:sp>
        <p:nvSpPr>
          <p:cNvPr id="31" name="文本占位符 30"/>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left)">
                                      <p:cBhvr>
                                        <p:cTn id="7"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206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4" name="内容占位符 33">
            <a:extLst>
              <a:ext uri="{FF2B5EF4-FFF2-40B4-BE49-F238E27FC236}">
                <a16:creationId xmlns:a16="http://schemas.microsoft.com/office/drawing/2014/main" id="{30871560-2C9E-3187-338D-66692AFEE6B8}"/>
              </a:ext>
            </a:extLst>
          </p:cNvPr>
          <p:cNvSpPr>
            <a:spLocks noGrp="1"/>
          </p:cNvSpPr>
          <p:nvPr>
            <p:ph sz="quarter" idx="4294967295"/>
          </p:nvPr>
        </p:nvSpPr>
        <p:spPr>
          <a:xfrm>
            <a:off x="612000" y="720000"/>
            <a:ext cx="7920000" cy="3960000"/>
          </a:xfrm>
        </p:spPr>
        <p:txBody>
          <a:bodyPr/>
          <a:lstStyle/>
          <a:p>
            <a:endParaRPr lang="zh-CN" altLang="en-US"/>
          </a:p>
        </p:txBody>
      </p:sp>
      <p:sp>
        <p:nvSpPr>
          <p:cNvPr id="32" name="文本占位符 31"/>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up)">
                                      <p:cBhvr>
                                        <p:cTn id="11" dur="1000"/>
                                        <p:tgtEl>
                                          <p:spTgt spid="31"/>
                                        </p:tgtEl>
                                      </p:cBhvr>
                                    </p:animEffect>
                                  </p:childTnLst>
                                </p:cTn>
                              </p:par>
                            </p:childTnLst>
                          </p:cTn>
                        </p:par>
                        <p:par>
                          <p:cTn id="12" fill="hold">
                            <p:stCondLst>
                              <p:cond delay="2000"/>
                            </p:stCondLst>
                            <p:childTnLst>
                              <p:par>
                                <p:cTn id="13" presetID="2" presetClass="entr" presetSubtype="8" fill="hold" nodeType="afterEffect">
                                  <p:stCondLst>
                                    <p:cond delay="0"/>
                                  </p:stCondLst>
                                  <p:childTnLst>
                                    <p:set>
                                      <p:cBhvr>
                                        <p:cTn id="14" dur="1" fill="hold">
                                          <p:stCondLst>
                                            <p:cond delay="0"/>
                                          </p:stCondLst>
                                        </p:cTn>
                                        <p:tgtEl>
                                          <p:spTgt spid="108"/>
                                        </p:tgtEl>
                                        <p:attrNameLst>
                                          <p:attrName>style.visibility</p:attrName>
                                        </p:attrNameLst>
                                      </p:cBhvr>
                                      <p:to>
                                        <p:strVal val="visible"/>
                                      </p:to>
                                    </p:set>
                                    <p:anim calcmode="lin" valueType="num">
                                      <p:cBhvr additive="base">
                                        <p:cTn id="15" dur="1000" fill="hold"/>
                                        <p:tgtEl>
                                          <p:spTgt spid="108"/>
                                        </p:tgtEl>
                                        <p:attrNameLst>
                                          <p:attrName>ppt_x</p:attrName>
                                        </p:attrNameLst>
                                      </p:cBhvr>
                                      <p:tavLst>
                                        <p:tav tm="0">
                                          <p:val>
                                            <p:strVal val="0-#ppt_w/2"/>
                                          </p:val>
                                        </p:tav>
                                        <p:tav tm="100000">
                                          <p:val>
                                            <p:strVal val="#ppt_x"/>
                                          </p:val>
                                        </p:tav>
                                      </p:tavLst>
                                    </p:anim>
                                    <p:anim calcmode="lin" valueType="num">
                                      <p:cBhvr additive="base">
                                        <p:cTn id="16" dur="1000" fill="hold"/>
                                        <p:tgtEl>
                                          <p:spTgt spid="108"/>
                                        </p:tgtEl>
                                        <p:attrNameLst>
                                          <p:attrName>ppt_y</p:attrName>
                                        </p:attrNameLst>
                                      </p:cBhvr>
                                      <p:tavLst>
                                        <p:tav tm="0">
                                          <p:val>
                                            <p:strVal val="#ppt_y"/>
                                          </p:val>
                                        </p:tav>
                                        <p:tav tm="100000">
                                          <p:val>
                                            <p:strVal val="#ppt_y"/>
                                          </p:val>
                                        </p:tav>
                                      </p:tavLst>
                                    </p:anim>
                                  </p:childTnLst>
                                </p:cTn>
                              </p:par>
                            </p:childTnLst>
                          </p:cTn>
                        </p:par>
                        <p:par>
                          <p:cTn id="17" fill="hold">
                            <p:stCondLst>
                              <p:cond delay="3000"/>
                            </p:stCondLst>
                            <p:childTnLst>
                              <p:par>
                                <p:cTn id="18" presetID="2" presetClass="entr" presetSubtype="2" fill="hold" nodeType="afterEffect">
                                  <p:stCondLst>
                                    <p:cond delay="0"/>
                                  </p:stCondLst>
                                  <p:childTnLst>
                                    <p:set>
                                      <p:cBhvr>
                                        <p:cTn id="19" dur="1" fill="hold">
                                          <p:stCondLst>
                                            <p:cond delay="0"/>
                                          </p:stCondLst>
                                        </p:cTn>
                                        <p:tgtEl>
                                          <p:spTgt spid="116"/>
                                        </p:tgtEl>
                                        <p:attrNameLst>
                                          <p:attrName>style.visibility</p:attrName>
                                        </p:attrNameLst>
                                      </p:cBhvr>
                                      <p:to>
                                        <p:strVal val="visible"/>
                                      </p:to>
                                    </p:set>
                                    <p:anim calcmode="lin" valueType="num">
                                      <p:cBhvr additive="base">
                                        <p:cTn id="20" dur="1000" fill="hold"/>
                                        <p:tgtEl>
                                          <p:spTgt spid="116"/>
                                        </p:tgtEl>
                                        <p:attrNameLst>
                                          <p:attrName>ppt_x</p:attrName>
                                        </p:attrNameLst>
                                      </p:cBhvr>
                                      <p:tavLst>
                                        <p:tav tm="0">
                                          <p:val>
                                            <p:strVal val="1+#ppt_w/2"/>
                                          </p:val>
                                        </p:tav>
                                        <p:tav tm="100000">
                                          <p:val>
                                            <p:strVal val="#ppt_x"/>
                                          </p:val>
                                        </p:tav>
                                      </p:tavLst>
                                    </p:anim>
                                    <p:anim calcmode="lin" valueType="num">
                                      <p:cBhvr additive="base">
                                        <p:cTn id="21" dur="1000" fill="hold"/>
                                        <p:tgtEl>
                                          <p:spTgt spid="1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1" name="Group 45"/>
          <p:cNvGrpSpPr/>
          <p:nvPr/>
        </p:nvGrpSpPr>
        <p:grpSpPr bwMode="auto">
          <a:xfrm>
            <a:off x="2292670" y="3304109"/>
            <a:ext cx="1164318" cy="244475"/>
            <a:chOff x="1984" y="3023"/>
            <a:chExt cx="989" cy="226"/>
          </a:xfrm>
        </p:grpSpPr>
        <p:sp>
          <p:nvSpPr>
            <p:cNvPr id="102"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03"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4"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5"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10"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14"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1" name="矩形 140"/>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7"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2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9" name="组合 28"/>
          <p:cNvGrpSpPr/>
          <p:nvPr/>
        </p:nvGrpSpPr>
        <p:grpSpPr>
          <a:xfrm>
            <a:off x="2293194" y="2932328"/>
            <a:ext cx="1166697" cy="246063"/>
            <a:chOff x="2293194" y="2932328"/>
            <a:chExt cx="1166697" cy="246063"/>
          </a:xfrm>
        </p:grpSpPr>
        <p:grpSp>
          <p:nvGrpSpPr>
            <p:cNvPr id="76" name="Group 41"/>
            <p:cNvGrpSpPr/>
            <p:nvPr/>
          </p:nvGrpSpPr>
          <p:grpSpPr bwMode="auto">
            <a:xfrm>
              <a:off x="2511051" y="2932328"/>
              <a:ext cx="946569" cy="246063"/>
              <a:chOff x="2169" y="2660"/>
              <a:chExt cx="804" cy="226"/>
            </a:xfrm>
          </p:grpSpPr>
          <p:sp>
            <p:nvSpPr>
              <p:cNvPr id="77"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78"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79"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0"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1" name="矩形 80"/>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3" name="组合 82"/>
          <p:cNvGrpSpPr/>
          <p:nvPr/>
        </p:nvGrpSpPr>
        <p:grpSpPr>
          <a:xfrm>
            <a:off x="5718485" y="2932328"/>
            <a:ext cx="1166697" cy="246063"/>
            <a:chOff x="2293194" y="2932328"/>
            <a:chExt cx="1166697" cy="246063"/>
          </a:xfrm>
        </p:grpSpPr>
        <p:grpSp>
          <p:nvGrpSpPr>
            <p:cNvPr id="84" name="Group 41"/>
            <p:cNvGrpSpPr/>
            <p:nvPr/>
          </p:nvGrpSpPr>
          <p:grpSpPr bwMode="auto">
            <a:xfrm>
              <a:off x="2511051" y="2932328"/>
              <a:ext cx="946569" cy="246063"/>
              <a:chOff x="2169" y="2660"/>
              <a:chExt cx="804" cy="226"/>
            </a:xfrm>
          </p:grpSpPr>
          <p:sp>
            <p:nvSpPr>
              <p:cNvPr id="89"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9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91"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8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86" name="矩形 8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8" name="Group 73"/>
          <p:cNvGrpSpPr/>
          <p:nvPr/>
        </p:nvGrpSpPr>
        <p:grpSpPr bwMode="auto">
          <a:xfrm>
            <a:off x="5120649" y="2892852"/>
            <a:ext cx="621626" cy="655723"/>
            <a:chOff x="1110" y="2645"/>
            <a:chExt cx="528" cy="603"/>
          </a:xfrm>
        </p:grpSpPr>
        <p:sp>
          <p:nvSpPr>
            <p:cNvPr id="112" name="Rectangle 74"/>
            <p:cNvSpPr>
              <a:spLocks noChangeArrowheads="1"/>
            </p:cNvSpPr>
            <p:nvPr/>
          </p:nvSpPr>
          <p:spPr bwMode="auto">
            <a:xfrm>
              <a:off x="1432" y="3022"/>
              <a:ext cx="187" cy="226"/>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113" name="Text Box 75"/>
            <p:cNvSpPr txBox="1">
              <a:spLocks noChangeArrowheads="1"/>
            </p:cNvSpPr>
            <p:nvPr/>
          </p:nvSpPr>
          <p:spPr bwMode="auto">
            <a:xfrm>
              <a:off x="1110" y="2645"/>
              <a:ext cx="52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1416" y="2842"/>
              <a:ext cx="91" cy="195"/>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6" name="Group 77"/>
          <p:cNvGrpSpPr/>
          <p:nvPr/>
        </p:nvGrpSpPr>
        <p:grpSpPr bwMode="auto">
          <a:xfrm>
            <a:off x="6827490" y="2890811"/>
            <a:ext cx="607954" cy="657774"/>
            <a:chOff x="4149" y="2643"/>
            <a:chExt cx="517" cy="606"/>
          </a:xfrm>
        </p:grpSpPr>
        <p:sp>
          <p:nvSpPr>
            <p:cNvPr id="117" name="Rectangle 78"/>
            <p:cNvSpPr>
              <a:spLocks noChangeArrowheads="1"/>
            </p:cNvSpPr>
            <p:nvPr/>
          </p:nvSpPr>
          <p:spPr bwMode="auto">
            <a:xfrm>
              <a:off x="4191" y="3023"/>
              <a:ext cx="179" cy="226"/>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18" name="Line 79"/>
            <p:cNvSpPr>
              <a:spLocks noChangeShapeType="1"/>
            </p:cNvSpPr>
            <p:nvPr/>
          </p:nvSpPr>
          <p:spPr bwMode="auto">
            <a:xfrm flipH="1">
              <a:off x="4265" y="2834"/>
              <a:ext cx="93" cy="188"/>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4149" y="2643"/>
              <a:ext cx="517"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grpSp>
      <p:grpSp>
        <p:nvGrpSpPr>
          <p:cNvPr id="31" name="组合 30"/>
          <p:cNvGrpSpPr/>
          <p:nvPr/>
        </p:nvGrpSpPr>
        <p:grpSpPr>
          <a:xfrm>
            <a:off x="5713004" y="3304109"/>
            <a:ext cx="1164318" cy="250839"/>
            <a:chOff x="5713004" y="3304109"/>
            <a:chExt cx="1164318" cy="250839"/>
          </a:xfrm>
        </p:grpSpPr>
        <p:grpSp>
          <p:nvGrpSpPr>
            <p:cNvPr id="93" name="Group 45"/>
            <p:cNvGrpSpPr/>
            <p:nvPr/>
          </p:nvGrpSpPr>
          <p:grpSpPr bwMode="auto">
            <a:xfrm>
              <a:off x="5713004" y="3304109"/>
              <a:ext cx="1164318" cy="244475"/>
              <a:chOff x="1984" y="3023"/>
              <a:chExt cx="989" cy="226"/>
            </a:xfrm>
          </p:grpSpPr>
          <p:sp>
            <p:nvSpPr>
              <p:cNvPr id="94"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6"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98"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6"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1" name="矩形 120"/>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67AAEE5E-8865-679D-DA3E-F5FFBA00950F}"/>
              </a:ext>
            </a:extLst>
          </p:cNvPr>
          <p:cNvSpPr>
            <a:spLocks noGrp="1"/>
          </p:cNvSpPr>
          <p:nvPr>
            <p:ph sz="quarter" idx="4294967295"/>
          </p:nvPr>
        </p:nvSpPr>
        <p:spPr>
          <a:xfrm>
            <a:off x="612000" y="720000"/>
            <a:ext cx="7920000" cy="3960000"/>
          </a:xfrm>
        </p:spPr>
        <p:txBody>
          <a:bodyPr/>
          <a:lstStyle/>
          <a:p>
            <a:endParaRPr lang="zh-CN" altLang="en-US"/>
          </a:p>
        </p:txBody>
      </p:sp>
      <p:sp>
        <p:nvSpPr>
          <p:cNvPr id="32" name="文本占位符 31"/>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23"/>
                                        </p:tgtEl>
                                        <p:attrNameLst>
                                          <p:attrName>style.visibility</p:attrName>
                                        </p:attrNameLst>
                                      </p:cBhvr>
                                      <p:to>
                                        <p:strVal val="visible"/>
                                      </p:to>
                                    </p:set>
                                    <p:animEffect transition="in" filter="wipe(up)">
                                      <p:cBhvr>
                                        <p:cTn id="11"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P spid="124"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32" name="内容占位符 31">
            <a:extLst>
              <a:ext uri="{FF2B5EF4-FFF2-40B4-BE49-F238E27FC236}">
                <a16:creationId xmlns:a16="http://schemas.microsoft.com/office/drawing/2014/main" id="{2379BB7C-0DB9-EFD8-8E05-31B4242088EE}"/>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32" name="内容占位符 31">
            <a:extLst>
              <a:ext uri="{FF2B5EF4-FFF2-40B4-BE49-F238E27FC236}">
                <a16:creationId xmlns:a16="http://schemas.microsoft.com/office/drawing/2014/main" id="{F6A09588-C97D-79D4-3A82-3FC63207B22B}"/>
              </a:ext>
            </a:extLst>
          </p:cNvPr>
          <p:cNvSpPr>
            <a:spLocks noGrp="1"/>
          </p:cNvSpPr>
          <p:nvPr>
            <p:ph sz="quarter" idx="4294967295"/>
          </p:nvPr>
        </p:nvSpPr>
        <p:spPr>
          <a:xfrm>
            <a:off x="612000" y="720000"/>
            <a:ext cx="7920000" cy="3960000"/>
          </a:xfrm>
        </p:spPr>
        <p:txBody>
          <a:bodyPr/>
          <a:lstStyle/>
          <a:p>
            <a:endParaRPr lang="zh-CN" altLang="en-US"/>
          </a:p>
        </p:txBody>
      </p:sp>
      <p:sp>
        <p:nvSpPr>
          <p:cNvPr id="29" name="文本占位符 28"/>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wipe(left)">
                                      <p:cBhvr>
                                        <p:cTn id="7" dur="10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内容占位符 32">
            <a:extLst>
              <a:ext uri="{FF2B5EF4-FFF2-40B4-BE49-F238E27FC236}">
                <a16:creationId xmlns:a16="http://schemas.microsoft.com/office/drawing/2014/main" id="{4A5834C9-4619-042C-6F33-F512A81856A9}"/>
              </a:ext>
            </a:extLst>
          </p:cNvPr>
          <p:cNvSpPr>
            <a:spLocks noGrp="1"/>
          </p:cNvSpPr>
          <p:nvPr>
            <p:ph sz="quarter" idx="4294967295"/>
          </p:nvPr>
        </p:nvSpPr>
        <p:spPr>
          <a:xfrm>
            <a:off x="612000" y="720000"/>
            <a:ext cx="7920000" cy="3960000"/>
          </a:xfrm>
        </p:spPr>
        <p:txBody>
          <a:bodyPr/>
          <a:lstStyle/>
          <a:p>
            <a:endParaRPr lang="zh-CN" altLang="en-US"/>
          </a:p>
        </p:txBody>
      </p:sp>
      <p:sp>
        <p:nvSpPr>
          <p:cNvPr id="31" name="文本占位符 30"/>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9"/>
                                        </p:tgtEl>
                                        <p:attrNameLst>
                                          <p:attrName>style.visibility</p:attrName>
                                        </p:attrNameLst>
                                      </p:cBhvr>
                                      <p:to>
                                        <p:strVal val="visible"/>
                                      </p:to>
                                    </p:set>
                                    <p:animEffect transition="in" filter="wipe(down)">
                                      <p:cBhvr>
                                        <p:cTn id="11"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内容占位符 32">
            <a:extLst>
              <a:ext uri="{FF2B5EF4-FFF2-40B4-BE49-F238E27FC236}">
                <a16:creationId xmlns:a16="http://schemas.microsoft.com/office/drawing/2014/main" id="{9F4BB12F-29C1-0815-9107-5EB01EDD9AB2}"/>
              </a:ext>
            </a:extLst>
          </p:cNvPr>
          <p:cNvSpPr>
            <a:spLocks noGrp="1"/>
          </p:cNvSpPr>
          <p:nvPr>
            <p:ph sz="quarter" idx="4294967295"/>
          </p:nvPr>
        </p:nvSpPr>
        <p:spPr>
          <a:xfrm>
            <a:off x="612000" y="720000"/>
            <a:ext cx="7920000" cy="3960000"/>
          </a:xfrm>
        </p:spPr>
        <p:txBody>
          <a:bodyPr/>
          <a:lstStyle/>
          <a:p>
            <a:endParaRPr lang="zh-CN" altLang="en-US"/>
          </a:p>
        </p:txBody>
      </p:sp>
      <p:sp>
        <p:nvSpPr>
          <p:cNvPr id="31" name="文本占位符 30"/>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90"/>
                                        </p:tgtEl>
                                        <p:attrNameLst>
                                          <p:attrName>style.visibility</p:attrName>
                                        </p:attrNameLst>
                                      </p:cBhvr>
                                      <p:to>
                                        <p:strVal val="visible"/>
                                      </p:to>
                                    </p:set>
                                    <p:animEffect transition="in" filter="wipe(down)">
                                      <p:cBhvr>
                                        <p:cTn id="11" dur="10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435E19E2-D2F5-88E3-1B3B-B6C2F13A58C8}"/>
              </a:ext>
            </a:extLst>
          </p:cNvPr>
          <p:cNvSpPr>
            <a:spLocks noGrp="1"/>
          </p:cNvSpPr>
          <p:nvPr>
            <p:ph sz="quarter" idx="4294967295"/>
          </p:nvPr>
        </p:nvSpPr>
        <p:spPr>
          <a:xfrm>
            <a:off x="612000" y="720000"/>
            <a:ext cx="7920000" cy="3960000"/>
          </a:xfrm>
        </p:spPr>
        <p:txBody>
          <a:bodyPr/>
          <a:lstStyle/>
          <a:p>
            <a:endParaRPr lang="zh-CN" altLang="en-US"/>
          </a:p>
        </p:txBody>
      </p:sp>
      <p:sp>
        <p:nvSpPr>
          <p:cNvPr id="32" name="文本占位符 31"/>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1"/>
                                        </p:tgtEl>
                                        <p:attrNameLst>
                                          <p:attrName>style.visibility</p:attrName>
                                        </p:attrNameLst>
                                      </p:cBhvr>
                                      <p:to>
                                        <p:strVal val="visible"/>
                                      </p:to>
                                    </p:set>
                                    <p:animEffect transition="in" filter="wipe(down)">
                                      <p:cBhvr>
                                        <p:cTn id="11" dur="10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2" name="组合 31"/>
          <p:cNvGrpSpPr/>
          <p:nvPr/>
        </p:nvGrpSpPr>
        <p:grpSpPr>
          <a:xfrm>
            <a:off x="6142401" y="2209195"/>
            <a:ext cx="725819" cy="246069"/>
            <a:chOff x="6142401" y="2209195"/>
            <a:chExt cx="725819" cy="246069"/>
          </a:xfrm>
        </p:grpSpPr>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矩形 128"/>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1" name="内容占位符 40">
            <a:extLst>
              <a:ext uri="{FF2B5EF4-FFF2-40B4-BE49-F238E27FC236}">
                <a16:creationId xmlns:a16="http://schemas.microsoft.com/office/drawing/2014/main" id="{37C70D59-0A36-5C91-61A5-F6CDB6B2F345}"/>
              </a:ext>
            </a:extLst>
          </p:cNvPr>
          <p:cNvSpPr>
            <a:spLocks noGrp="1"/>
          </p:cNvSpPr>
          <p:nvPr>
            <p:ph sz="quarter" idx="4294967295"/>
          </p:nvPr>
        </p:nvSpPr>
        <p:spPr>
          <a:xfrm>
            <a:off x="612000" y="720000"/>
            <a:ext cx="7920000" cy="3960000"/>
          </a:xfrm>
        </p:spPr>
        <p:txBody>
          <a:bodyPr/>
          <a:lstStyle/>
          <a:p>
            <a:endParaRPr lang="zh-CN" altLang="en-US"/>
          </a:p>
        </p:txBody>
      </p:sp>
      <p:sp>
        <p:nvSpPr>
          <p:cNvPr id="33" name="文本占位符 32"/>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wipe(down)">
                                      <p:cBhvr>
                                        <p:cTn id="11"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31" name="组合 130"/>
          <p:cNvGrpSpPr/>
          <p:nvPr/>
        </p:nvGrpSpPr>
        <p:grpSpPr>
          <a:xfrm>
            <a:off x="6142401" y="2209195"/>
            <a:ext cx="725819" cy="246069"/>
            <a:chOff x="6142401" y="2209195"/>
            <a:chExt cx="725819" cy="246069"/>
          </a:xfrm>
        </p:grpSpPr>
        <p:grpSp>
          <p:nvGrpSpPr>
            <p:cNvPr id="132" name="组合 131"/>
            <p:cNvGrpSpPr/>
            <p:nvPr/>
          </p:nvGrpSpPr>
          <p:grpSpPr>
            <a:xfrm>
              <a:off x="6142401" y="2209195"/>
              <a:ext cx="725819" cy="246069"/>
              <a:chOff x="6142401" y="2209195"/>
              <a:chExt cx="725819" cy="246069"/>
            </a:xfrm>
          </p:grpSpPr>
          <p:sp>
            <p:nvSpPr>
              <p:cNvPr id="13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3" name="矩形 132"/>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4" name="内容占位符 33">
            <a:extLst>
              <a:ext uri="{FF2B5EF4-FFF2-40B4-BE49-F238E27FC236}">
                <a16:creationId xmlns:a16="http://schemas.microsoft.com/office/drawing/2014/main" id="{2239D601-629C-68CF-DECA-52ACB8F8854F}"/>
              </a:ext>
            </a:extLst>
          </p:cNvPr>
          <p:cNvSpPr>
            <a:spLocks noGrp="1"/>
          </p:cNvSpPr>
          <p:nvPr>
            <p:ph sz="quarter" idx="4294967295"/>
          </p:nvPr>
        </p:nvSpPr>
        <p:spPr>
          <a:xfrm>
            <a:off x="612000" y="720000"/>
            <a:ext cx="7920000" cy="3960000"/>
          </a:xfrm>
        </p:spPr>
        <p:txBody>
          <a:bodyPr/>
          <a:lstStyle/>
          <a:p>
            <a:endParaRPr lang="zh-CN" altLang="en-US"/>
          </a:p>
        </p:txBody>
      </p:sp>
      <p:sp>
        <p:nvSpPr>
          <p:cNvPr id="32" name="文本占位符 31"/>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par>
                          <p:cTn id="8" fill="hold">
                            <p:stCondLst>
                              <p:cond delay="1000"/>
                            </p:stCondLst>
                            <p:childTnLst>
                              <p:par>
                                <p:cTn id="9" presetID="22" presetClass="entr" presetSubtype="4" fill="hold" grpId="0"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down)">
                                      <p:cBhvr>
                                        <p:cTn id="11" dur="10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130"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圆角矩形 2"/>
          <p:cNvSpPr/>
          <p:nvPr/>
        </p:nvSpPr>
        <p:spPr>
          <a:xfrm>
            <a:off x="496168" y="1075100"/>
            <a:ext cx="8053712" cy="3314950"/>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grpSp>
        <p:nvGrpSpPr>
          <p:cNvPr id="67" name="组合 66"/>
          <p:cNvGrpSpPr/>
          <p:nvPr/>
        </p:nvGrpSpPr>
        <p:grpSpPr>
          <a:xfrm>
            <a:off x="1100643" y="1772068"/>
            <a:ext cx="654050" cy="2268537"/>
            <a:chOff x="1100643" y="1772068"/>
            <a:chExt cx="654050" cy="2268537"/>
          </a:xfrm>
        </p:grpSpPr>
        <p:sp>
          <p:nvSpPr>
            <p:cNvPr id="5" name="AutoShape 5"/>
            <p:cNvSpPr>
              <a:spLocks noChangeArrowheads="1"/>
            </p:cNvSpPr>
            <p:nvPr/>
          </p:nvSpPr>
          <p:spPr bwMode="auto">
            <a:xfrm>
              <a:off x="1149855" y="2089568"/>
              <a:ext cx="590550" cy="1951037"/>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6" name="Text Box 6"/>
            <p:cNvSpPr txBox="1">
              <a:spLocks noChangeArrowheads="1"/>
            </p:cNvSpPr>
            <p:nvPr/>
          </p:nvSpPr>
          <p:spPr bwMode="auto">
            <a:xfrm>
              <a:off x="1391155" y="2142749"/>
              <a:ext cx="298450"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7" name="Text Box 7"/>
            <p:cNvSpPr txBox="1">
              <a:spLocks noChangeArrowheads="1"/>
            </p:cNvSpPr>
            <p:nvPr/>
          </p:nvSpPr>
          <p:spPr bwMode="auto">
            <a:xfrm>
              <a:off x="1391155"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8" name="Text Box 8"/>
            <p:cNvSpPr txBox="1">
              <a:spLocks noChangeArrowheads="1"/>
            </p:cNvSpPr>
            <p:nvPr/>
          </p:nvSpPr>
          <p:spPr bwMode="auto">
            <a:xfrm>
              <a:off x="1391155" y="28912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9" name="Text Box 9"/>
            <p:cNvSpPr txBox="1">
              <a:spLocks noChangeArrowheads="1"/>
            </p:cNvSpPr>
            <p:nvPr/>
          </p:nvSpPr>
          <p:spPr bwMode="auto">
            <a:xfrm>
              <a:off x="139115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10" name="Text Box 10"/>
            <p:cNvSpPr txBox="1">
              <a:spLocks noChangeArrowheads="1"/>
            </p:cNvSpPr>
            <p:nvPr/>
          </p:nvSpPr>
          <p:spPr bwMode="auto">
            <a:xfrm>
              <a:off x="1391155"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11" name="Freeform 11"/>
            <p:cNvSpPr/>
            <p:nvPr/>
          </p:nvSpPr>
          <p:spPr bwMode="auto">
            <a:xfrm>
              <a:off x="1149855" y="2481680"/>
              <a:ext cx="598488"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Freeform 12"/>
            <p:cNvSpPr/>
            <p:nvPr/>
          </p:nvSpPr>
          <p:spPr bwMode="auto">
            <a:xfrm>
              <a:off x="1156205" y="2856330"/>
              <a:ext cx="598488" cy="39688"/>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3" name="Freeform 13"/>
            <p:cNvSpPr/>
            <p:nvPr/>
          </p:nvSpPr>
          <p:spPr bwMode="auto">
            <a:xfrm>
              <a:off x="1140330" y="3233714"/>
              <a:ext cx="614363" cy="39688"/>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4"/>
            <p:cNvSpPr/>
            <p:nvPr/>
          </p:nvSpPr>
          <p:spPr bwMode="auto">
            <a:xfrm>
              <a:off x="1140330" y="3594518"/>
              <a:ext cx="608013" cy="39687"/>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7" name="AutoShape 32"/>
            <p:cNvSpPr>
              <a:spLocks noChangeArrowheads="1"/>
            </p:cNvSpPr>
            <p:nvPr/>
          </p:nvSpPr>
          <p:spPr bwMode="auto">
            <a:xfrm>
              <a:off x="1153030" y="1772068"/>
              <a:ext cx="484188" cy="363537"/>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28" name="Text Box 33"/>
            <p:cNvSpPr txBox="1">
              <a:spLocks noChangeArrowheads="1"/>
            </p:cNvSpPr>
            <p:nvPr/>
          </p:nvSpPr>
          <p:spPr bwMode="auto">
            <a:xfrm>
              <a:off x="1100643"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1</a:t>
              </a:r>
              <a:endParaRPr kumimoji="1" lang="en-US" altLang="zh-CN" sz="1600" b="1" dirty="0">
                <a:solidFill>
                  <a:srgbClr val="0000FF"/>
                </a:solidFill>
                <a:latin typeface="Times New Roman" panose="02020603050405020304" pitchFamily="18" charset="0"/>
                <a:ea typeface="微软雅黑 Light" panose="020B0502040204020203" pitchFamily="34" charset="-122"/>
              </a:endParaRPr>
            </a:p>
          </p:txBody>
        </p:sp>
      </p:gr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64" name="AutoShape 4"/>
          <p:cNvSpPr>
            <a:spLocks noChangeArrowheads="1"/>
          </p:cNvSpPr>
          <p:nvPr/>
        </p:nvSpPr>
        <p:spPr bwMode="auto">
          <a:xfrm rot="16200000">
            <a:off x="6225469" y="2355216"/>
            <a:ext cx="271463" cy="3610484"/>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65" name="组合 64"/>
          <p:cNvGrpSpPr/>
          <p:nvPr/>
        </p:nvGrpSpPr>
        <p:grpSpPr>
          <a:xfrm>
            <a:off x="3943356" y="2800707"/>
            <a:ext cx="1109908" cy="1239898"/>
            <a:chOff x="3943356" y="2800707"/>
            <a:chExt cx="1109908" cy="1239898"/>
          </a:xfrm>
        </p:grpSpPr>
        <p:sp>
          <p:nvSpPr>
            <p:cNvPr id="40" name="AutoShape 5"/>
            <p:cNvSpPr>
              <a:spLocks noChangeArrowheads="1"/>
            </p:cNvSpPr>
            <p:nvPr/>
          </p:nvSpPr>
          <p:spPr bwMode="auto">
            <a:xfrm>
              <a:off x="3952880" y="2800707"/>
              <a:ext cx="1100384" cy="1239898"/>
            </a:xfrm>
            <a:prstGeom prst="cube">
              <a:avLst>
                <a:gd name="adj" fmla="val 11493"/>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43" name="Text Box 8"/>
            <p:cNvSpPr txBox="1">
              <a:spLocks noChangeArrowheads="1"/>
            </p:cNvSpPr>
            <p:nvPr/>
          </p:nvSpPr>
          <p:spPr bwMode="auto">
            <a:xfrm>
              <a:off x="4315554" y="2850559"/>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44" name="Text Box 9"/>
            <p:cNvSpPr txBox="1">
              <a:spLocks noChangeArrowheads="1"/>
            </p:cNvSpPr>
            <p:nvPr/>
          </p:nvSpPr>
          <p:spPr bwMode="auto">
            <a:xfrm>
              <a:off x="4178353"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45" name="Text Box 10"/>
            <p:cNvSpPr txBox="1">
              <a:spLocks noChangeArrowheads="1"/>
            </p:cNvSpPr>
            <p:nvPr/>
          </p:nvSpPr>
          <p:spPr bwMode="auto">
            <a:xfrm>
              <a:off x="417835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48" name="Freeform 13"/>
            <p:cNvSpPr/>
            <p:nvPr/>
          </p:nvSpPr>
          <p:spPr bwMode="auto">
            <a:xfrm>
              <a:off x="3943356" y="3141566"/>
              <a:ext cx="1109908" cy="128585"/>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9" name="Freeform 14"/>
            <p:cNvSpPr/>
            <p:nvPr/>
          </p:nvSpPr>
          <p:spPr bwMode="auto">
            <a:xfrm>
              <a:off x="3954400" y="3503469"/>
              <a:ext cx="1098864" cy="127561"/>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52" name="直接连接符 51"/>
            <p:cNvCxnSpPr/>
            <p:nvPr/>
          </p:nvCxnSpPr>
          <p:spPr>
            <a:xfrm>
              <a:off x="4474421" y="3270733"/>
              <a:ext cx="0" cy="769872"/>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62" name="Text Box 9"/>
            <p:cNvSpPr txBox="1">
              <a:spLocks noChangeArrowheads="1"/>
            </p:cNvSpPr>
            <p:nvPr/>
          </p:nvSpPr>
          <p:spPr bwMode="auto">
            <a:xfrm>
              <a:off x="4443470"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63" name="Text Box 10"/>
            <p:cNvSpPr txBox="1">
              <a:spLocks noChangeArrowheads="1"/>
            </p:cNvSpPr>
            <p:nvPr/>
          </p:nvSpPr>
          <p:spPr bwMode="auto">
            <a:xfrm>
              <a:off x="4443470"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grpSp>
      <p:grpSp>
        <p:nvGrpSpPr>
          <p:cNvPr id="66" name="组合 65"/>
          <p:cNvGrpSpPr/>
          <p:nvPr/>
        </p:nvGrpSpPr>
        <p:grpSpPr>
          <a:xfrm>
            <a:off x="7328483" y="1745080"/>
            <a:ext cx="649287" cy="2295525"/>
            <a:chOff x="7328483" y="1745080"/>
            <a:chExt cx="649287" cy="2295525"/>
          </a:xfrm>
        </p:grpSpPr>
        <p:sp>
          <p:nvSpPr>
            <p:cNvPr id="15" name="AutoShape 15"/>
            <p:cNvSpPr>
              <a:spLocks noChangeArrowheads="1"/>
            </p:cNvSpPr>
            <p:nvPr/>
          </p:nvSpPr>
          <p:spPr bwMode="auto">
            <a:xfrm>
              <a:off x="7372933" y="2068930"/>
              <a:ext cx="590550" cy="1971675"/>
            </a:xfrm>
            <a:prstGeom prst="cube">
              <a:avLst>
                <a:gd name="adj" fmla="val 10764"/>
              </a:avLst>
            </a:prstGeom>
            <a:solidFill>
              <a:srgbClr val="0098F6"/>
            </a:solidFill>
            <a:ln w="19050">
              <a:solidFill>
                <a:schemeClr val="tx1"/>
              </a:solidFill>
              <a:miter lim="800000"/>
              <a:headEnd type="none" w="sm" len="lg"/>
              <a:tailEnd type="none" w="sm" len="lg"/>
            </a:ln>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16" name="Text Box 16"/>
            <p:cNvSpPr txBox="1">
              <a:spLocks noChangeArrowheads="1"/>
            </p:cNvSpPr>
            <p:nvPr/>
          </p:nvSpPr>
          <p:spPr bwMode="auto">
            <a:xfrm>
              <a:off x="7328483" y="2141955"/>
              <a:ext cx="29845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5</a:t>
              </a:r>
            </a:p>
          </p:txBody>
        </p:sp>
        <p:sp>
          <p:nvSpPr>
            <p:cNvPr id="17" name="Text Box 17"/>
            <p:cNvSpPr txBox="1">
              <a:spLocks noChangeArrowheads="1"/>
            </p:cNvSpPr>
            <p:nvPr/>
          </p:nvSpPr>
          <p:spPr bwMode="auto">
            <a:xfrm>
              <a:off x="7328483" y="2537242"/>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4</a:t>
              </a:r>
            </a:p>
          </p:txBody>
        </p:sp>
        <p:sp>
          <p:nvSpPr>
            <p:cNvPr id="18" name="Text Box 18"/>
            <p:cNvSpPr txBox="1">
              <a:spLocks noChangeArrowheads="1"/>
            </p:cNvSpPr>
            <p:nvPr/>
          </p:nvSpPr>
          <p:spPr bwMode="auto">
            <a:xfrm>
              <a:off x="7334833" y="28976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3</a:t>
              </a:r>
            </a:p>
          </p:txBody>
        </p:sp>
        <p:sp>
          <p:nvSpPr>
            <p:cNvPr id="19" name="Text Box 19"/>
            <p:cNvSpPr txBox="1">
              <a:spLocks noChangeArrowheads="1"/>
            </p:cNvSpPr>
            <p:nvPr/>
          </p:nvSpPr>
          <p:spPr bwMode="auto">
            <a:xfrm>
              <a:off x="7345945" y="325955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2</a:t>
              </a:r>
            </a:p>
          </p:txBody>
        </p:sp>
        <p:sp>
          <p:nvSpPr>
            <p:cNvPr id="20" name="Text Box 20"/>
            <p:cNvSpPr txBox="1">
              <a:spLocks noChangeArrowheads="1"/>
            </p:cNvSpPr>
            <p:nvPr/>
          </p:nvSpPr>
          <p:spPr bwMode="auto">
            <a:xfrm>
              <a:off x="7328483" y="3646905"/>
              <a:ext cx="29845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chemeClr val="bg1"/>
                  </a:solidFill>
                  <a:latin typeface="Times New Roman" panose="02020603050405020304" pitchFamily="18" charset="0"/>
                  <a:ea typeface="微软雅黑 Light" panose="020B0502040204020203" pitchFamily="34" charset="-122"/>
                </a:rPr>
                <a:t>1</a:t>
              </a:r>
            </a:p>
          </p:txBody>
        </p:sp>
        <p:sp>
          <p:nvSpPr>
            <p:cNvPr id="21" name="Freeform 21"/>
            <p:cNvSpPr/>
            <p:nvPr/>
          </p:nvSpPr>
          <p:spPr bwMode="auto">
            <a:xfrm>
              <a:off x="7372933" y="2459455"/>
              <a:ext cx="598487" cy="39688"/>
            </a:xfrm>
            <a:custGeom>
              <a:avLst/>
              <a:gdLst>
                <a:gd name="T0" fmla="*/ 0 w 534"/>
                <a:gd name="T1" fmla="*/ 40307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42"/>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Freeform 22"/>
            <p:cNvSpPr/>
            <p:nvPr/>
          </p:nvSpPr>
          <p:spPr bwMode="auto">
            <a:xfrm>
              <a:off x="7369758" y="2832518"/>
              <a:ext cx="598487" cy="41275"/>
            </a:xfrm>
            <a:custGeom>
              <a:avLst/>
              <a:gdLst>
                <a:gd name="T0" fmla="*/ 0 w 534"/>
                <a:gd name="T1" fmla="*/ 34549 h 42"/>
                <a:gd name="T2" fmla="*/ 524000 w 534"/>
                <a:gd name="T3" fmla="*/ 40307 h 42"/>
                <a:gd name="T4" fmla="*/ 597898 w 534"/>
                <a:gd name="T5" fmla="*/ 0 h 42"/>
                <a:gd name="T6" fmla="*/ 0 60000 65536"/>
                <a:gd name="T7" fmla="*/ 0 60000 65536"/>
                <a:gd name="T8" fmla="*/ 0 60000 65536"/>
              </a:gdLst>
              <a:ahLst/>
              <a:cxnLst>
                <a:cxn ang="T6">
                  <a:pos x="T0" y="T1"/>
                </a:cxn>
                <a:cxn ang="T7">
                  <a:pos x="T2" y="T3"/>
                </a:cxn>
                <a:cxn ang="T8">
                  <a:pos x="T4" y="T5"/>
                </a:cxn>
              </a:cxnLst>
              <a:rect l="0" t="0" r="r" b="b"/>
              <a:pathLst>
                <a:path w="534" h="42">
                  <a:moveTo>
                    <a:pt x="0" y="36"/>
                  </a:moveTo>
                  <a:lnTo>
                    <a:pt x="468" y="42"/>
                  </a:lnTo>
                  <a:cubicBezTo>
                    <a:pt x="490" y="28"/>
                    <a:pt x="534" y="0"/>
                    <a:pt x="534"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Freeform 23"/>
            <p:cNvSpPr/>
            <p:nvPr/>
          </p:nvSpPr>
          <p:spPr bwMode="auto">
            <a:xfrm>
              <a:off x="7363408" y="3235302"/>
              <a:ext cx="614362" cy="38100"/>
            </a:xfrm>
            <a:custGeom>
              <a:avLst/>
              <a:gdLst>
                <a:gd name="T0" fmla="*/ 0 w 548"/>
                <a:gd name="T1" fmla="*/ 39274 h 42"/>
                <a:gd name="T2" fmla="*/ 539676 w 548"/>
                <a:gd name="T3" fmla="*/ 39274 h 42"/>
                <a:gd name="T4" fmla="*/ 613574 w 548"/>
                <a:gd name="T5" fmla="*/ 0 h 42"/>
                <a:gd name="T6" fmla="*/ 0 60000 65536"/>
                <a:gd name="T7" fmla="*/ 0 60000 65536"/>
                <a:gd name="T8" fmla="*/ 0 60000 65536"/>
              </a:gdLst>
              <a:ahLst/>
              <a:cxnLst>
                <a:cxn ang="T6">
                  <a:pos x="T0" y="T1"/>
                </a:cxn>
                <a:cxn ang="T7">
                  <a:pos x="T2" y="T3"/>
                </a:cxn>
                <a:cxn ang="T8">
                  <a:pos x="T4" y="T5"/>
                </a:cxn>
              </a:cxnLst>
              <a:rect l="0" t="0" r="r" b="b"/>
              <a:pathLst>
                <a:path w="548" h="42">
                  <a:moveTo>
                    <a:pt x="0" y="42"/>
                  </a:moveTo>
                  <a:lnTo>
                    <a:pt x="482" y="42"/>
                  </a:lnTo>
                  <a:cubicBezTo>
                    <a:pt x="504" y="28"/>
                    <a:pt x="548" y="0"/>
                    <a:pt x="548"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Freeform 24"/>
            <p:cNvSpPr/>
            <p:nvPr/>
          </p:nvSpPr>
          <p:spPr bwMode="auto">
            <a:xfrm>
              <a:off x="7363408" y="3594518"/>
              <a:ext cx="608012" cy="38100"/>
            </a:xfrm>
            <a:custGeom>
              <a:avLst/>
              <a:gdLst>
                <a:gd name="T0" fmla="*/ 0 w 542"/>
                <a:gd name="T1" fmla="*/ 39274 h 42"/>
                <a:gd name="T2" fmla="*/ 532958 w 542"/>
                <a:gd name="T3" fmla="*/ 39274 h 42"/>
                <a:gd name="T4" fmla="*/ 606855 w 542"/>
                <a:gd name="T5" fmla="*/ 0 h 42"/>
                <a:gd name="T6" fmla="*/ 0 60000 65536"/>
                <a:gd name="T7" fmla="*/ 0 60000 65536"/>
                <a:gd name="T8" fmla="*/ 0 60000 65536"/>
              </a:gdLst>
              <a:ahLst/>
              <a:cxnLst>
                <a:cxn ang="T6">
                  <a:pos x="T0" y="T1"/>
                </a:cxn>
                <a:cxn ang="T7">
                  <a:pos x="T2" y="T3"/>
                </a:cxn>
                <a:cxn ang="T8">
                  <a:pos x="T4" y="T5"/>
                </a:cxn>
              </a:cxnLst>
              <a:rect l="0" t="0" r="r" b="b"/>
              <a:pathLst>
                <a:path w="542" h="42">
                  <a:moveTo>
                    <a:pt x="0" y="42"/>
                  </a:moveTo>
                  <a:lnTo>
                    <a:pt x="476" y="42"/>
                  </a:lnTo>
                  <a:cubicBezTo>
                    <a:pt x="498" y="28"/>
                    <a:pt x="542" y="0"/>
                    <a:pt x="542" y="0"/>
                  </a:cubicBez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6" name="AutoShape 30"/>
            <p:cNvSpPr>
              <a:spLocks noChangeArrowheads="1"/>
            </p:cNvSpPr>
            <p:nvPr/>
          </p:nvSpPr>
          <p:spPr bwMode="auto">
            <a:xfrm>
              <a:off x="7477708" y="1745080"/>
              <a:ext cx="482600" cy="361950"/>
            </a:xfrm>
            <a:prstGeom prst="cube">
              <a:avLst>
                <a:gd name="adj" fmla="val 17593"/>
              </a:avLst>
            </a:prstGeom>
            <a:solidFill>
              <a:srgbClr val="FFFF99"/>
            </a:solidFill>
            <a:ln w="19050">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3200" b="1" dirty="0">
                <a:latin typeface="Times New Roman" panose="02020603050405020304" pitchFamily="18" charset="0"/>
                <a:ea typeface="微软雅黑 Light" panose="020B0502040204020203" pitchFamily="34" charset="-122"/>
              </a:endParaRPr>
            </a:p>
          </p:txBody>
        </p:sp>
        <p:sp>
          <p:nvSpPr>
            <p:cNvPr id="30" name="Text Box 33"/>
            <p:cNvSpPr txBox="1">
              <a:spLocks noChangeArrowheads="1"/>
            </p:cNvSpPr>
            <p:nvPr/>
          </p:nvSpPr>
          <p:spPr bwMode="auto">
            <a:xfrm>
              <a:off x="7433258" y="1784768"/>
              <a:ext cx="542925" cy="338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dirty="0">
                  <a:solidFill>
                    <a:srgbClr val="0000FF"/>
                  </a:solidFill>
                  <a:latin typeface="Times New Roman" panose="02020603050405020304" pitchFamily="18" charset="0"/>
                  <a:ea typeface="微软雅黑 Light" panose="020B0502040204020203" pitchFamily="34" charset="-122"/>
                </a:rPr>
                <a:t>AP</a:t>
              </a:r>
              <a:r>
                <a:rPr kumimoji="1" lang="en-US" altLang="zh-CN" sz="1600" b="1" baseline="-25000" dirty="0">
                  <a:solidFill>
                    <a:srgbClr val="0000FF"/>
                  </a:solidFill>
                  <a:latin typeface="Times New Roman" panose="02020603050405020304" pitchFamily="18" charset="0"/>
                  <a:ea typeface="微软雅黑 Light" panose="020B0502040204020203" pitchFamily="34" charset="-122"/>
                </a:rPr>
                <a:t>2</a:t>
              </a:r>
            </a:p>
          </p:txBody>
        </p:sp>
      </p:gr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9" name="AutoShape 4"/>
          <p:cNvSpPr>
            <a:spLocks noChangeArrowheads="1"/>
          </p:cNvSpPr>
          <p:nvPr/>
        </p:nvSpPr>
        <p:spPr bwMode="auto">
          <a:xfrm rot="16200000">
            <a:off x="2467214" y="2447850"/>
            <a:ext cx="271463" cy="3425217"/>
          </a:xfrm>
          <a:prstGeom prst="can">
            <a:avLst>
              <a:gd name="adj" fmla="val 48656"/>
            </a:avLst>
          </a:prstGeom>
          <a:gradFill rotWithShape="0">
            <a:gsLst>
              <a:gs pos="0">
                <a:srgbClr val="00CC00"/>
              </a:gs>
              <a:gs pos="50000">
                <a:schemeClr val="bg1"/>
              </a:gs>
              <a:gs pos="100000">
                <a:srgbClr val="00CC00"/>
              </a:gs>
            </a:gsLst>
            <a:lin ang="5400000" scaled="1"/>
          </a:gradFill>
          <a:ln w="19050">
            <a:solidFill>
              <a:schemeClr val="tx1"/>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28" name="Text Box 26"/>
          <p:cNvSpPr txBox="1">
            <a:spLocks noChangeArrowheads="1"/>
          </p:cNvSpPr>
          <p:nvPr/>
        </p:nvSpPr>
        <p:spPr bwMode="auto">
          <a:xfrm>
            <a:off x="2701348"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03105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100" b="1" dirty="0">
                <a:solidFill>
                  <a:srgbClr val="0000FF"/>
                </a:solidFill>
                <a:latin typeface="微软雅黑" panose="020B0503020204020204" pitchFamily="34" charset="-122"/>
                <a:ea typeface="微软雅黑" panose="020B0503020204020204" pitchFamily="34" charset="-122"/>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solidFill>
                <a:schemeClr val="tx1"/>
              </a:solid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7" name="组合 46"/>
          <p:cNvGrpSpPr/>
          <p:nvPr/>
        </p:nvGrpSpPr>
        <p:grpSpPr>
          <a:xfrm>
            <a:off x="2068815" y="1870804"/>
            <a:ext cx="1598226" cy="2045269"/>
            <a:chOff x="2068815" y="1870804"/>
            <a:chExt cx="1598226" cy="2045269"/>
          </a:xfrm>
        </p:grpSpPr>
        <p:sp>
          <p:nvSpPr>
            <p:cNvPr id="131" name="Rectangle 37"/>
            <p:cNvSpPr>
              <a:spLocks noChangeArrowheads="1"/>
            </p:cNvSpPr>
            <p:nvPr/>
          </p:nvSpPr>
          <p:spPr bwMode="auto">
            <a:xfrm>
              <a:off x="2973858"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32" name="Rectangle 34"/>
            <p:cNvSpPr>
              <a:spLocks noChangeArrowheads="1"/>
            </p:cNvSpPr>
            <p:nvPr/>
          </p:nvSpPr>
          <p:spPr bwMode="auto">
            <a:xfrm>
              <a:off x="2734072"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3" name="Rectangle 37"/>
            <p:cNvSpPr>
              <a:spLocks noChangeArrowheads="1"/>
            </p:cNvSpPr>
            <p:nvPr/>
          </p:nvSpPr>
          <p:spPr bwMode="auto">
            <a:xfrm>
              <a:off x="2973858"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nvGrpSpPr>
            <p:cNvPr id="134" name="Group 38"/>
            <p:cNvGrpSpPr/>
            <p:nvPr/>
          </p:nvGrpSpPr>
          <p:grpSpPr bwMode="auto">
            <a:xfrm>
              <a:off x="2736195" y="2554801"/>
              <a:ext cx="723947" cy="245571"/>
              <a:chOff x="2346" y="2297"/>
              <a:chExt cx="615" cy="226"/>
            </a:xfrm>
            <a:solidFill>
              <a:srgbClr val="00B0F0"/>
            </a:solidFill>
          </p:grpSpPr>
          <p:sp>
            <p:nvSpPr>
              <p:cNvPr id="135"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36"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37" name="Rectangle 66"/>
            <p:cNvSpPr>
              <a:spLocks noChangeArrowheads="1"/>
            </p:cNvSpPr>
            <p:nvPr/>
          </p:nvSpPr>
          <p:spPr bwMode="auto">
            <a:xfrm>
              <a:off x="2511329"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grpSp>
          <p:nvGrpSpPr>
            <p:cNvPr id="138" name="Group 41"/>
            <p:cNvGrpSpPr/>
            <p:nvPr/>
          </p:nvGrpSpPr>
          <p:grpSpPr bwMode="auto">
            <a:xfrm>
              <a:off x="2511051" y="2932328"/>
              <a:ext cx="946569" cy="246063"/>
              <a:chOff x="2169" y="2660"/>
              <a:chExt cx="804" cy="226"/>
            </a:xfrm>
          </p:grpSpPr>
          <p:sp>
            <p:nvSpPr>
              <p:cNvPr id="141"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47"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48"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49"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nvGrpSpPr>
            <p:cNvPr id="150" name="Group 45"/>
            <p:cNvGrpSpPr/>
            <p:nvPr/>
          </p:nvGrpSpPr>
          <p:grpSpPr bwMode="auto">
            <a:xfrm>
              <a:off x="2292670" y="3304109"/>
              <a:ext cx="1164318" cy="244475"/>
              <a:chOff x="1984" y="3023"/>
              <a:chExt cx="989" cy="226"/>
            </a:xfrm>
          </p:grpSpPr>
          <p:sp>
            <p:nvSpPr>
              <p:cNvPr id="151"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152"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53"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54"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55" name="Rectangle 74"/>
            <p:cNvSpPr>
              <a:spLocks noChangeArrowheads="1"/>
            </p:cNvSpPr>
            <p:nvPr/>
          </p:nvSpPr>
          <p:spPr bwMode="auto">
            <a:xfrm>
              <a:off x="2068815" y="3302812"/>
              <a:ext cx="220159" cy="245760"/>
            </a:xfrm>
            <a:prstGeom prst="rect">
              <a:avLst/>
            </a:prstGeom>
            <a:solidFill>
              <a:srgbClr val="66FF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2</a:t>
              </a:r>
            </a:p>
          </p:txBody>
        </p:sp>
        <p:sp>
          <p:nvSpPr>
            <p:cNvPr id="156" name="Rectangle 78"/>
            <p:cNvSpPr>
              <a:spLocks noChangeArrowheads="1"/>
            </p:cNvSpPr>
            <p:nvPr/>
          </p:nvSpPr>
          <p:spPr bwMode="auto">
            <a:xfrm>
              <a:off x="3456550" y="3303284"/>
              <a:ext cx="210491" cy="245309"/>
            </a:xfrm>
            <a:prstGeom prst="rect">
              <a:avLst/>
            </a:prstGeom>
            <a:solidFill>
              <a:srgbClr val="CCFF33"/>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sp>
          <p:nvSpPr>
            <p:cNvPr id="157" name="矩形 156"/>
            <p:cNvSpPr/>
            <p:nvPr/>
          </p:nvSpPr>
          <p:spPr>
            <a:xfrm>
              <a:off x="2298501"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8" name="矩形 157"/>
            <p:cNvSpPr/>
            <p:nvPr/>
          </p:nvSpPr>
          <p:spPr>
            <a:xfrm>
              <a:off x="2748034"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9" name="矩形 158"/>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0" name="Rectangle 35"/>
            <p:cNvSpPr>
              <a:spLocks noChangeArrowheads="1"/>
            </p:cNvSpPr>
            <p:nvPr/>
          </p:nvSpPr>
          <p:spPr bwMode="auto">
            <a:xfrm>
              <a:off x="2068816"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10100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110100</a:t>
              </a:r>
            </a:p>
          </p:txBody>
        </p:sp>
      </p:grpSp>
      <p:grpSp>
        <p:nvGrpSpPr>
          <p:cNvPr id="29" name="组合 28"/>
          <p:cNvGrpSpPr/>
          <p:nvPr/>
        </p:nvGrpSpPr>
        <p:grpSpPr>
          <a:xfrm>
            <a:off x="5499745" y="3302812"/>
            <a:ext cx="1587629" cy="252136"/>
            <a:chOff x="5499745" y="3302812"/>
            <a:chExt cx="1587629" cy="252136"/>
          </a:xfrm>
        </p:grpSpPr>
        <p:sp>
          <p:nvSpPr>
            <p:cNvPr id="83" name="Rectangle 74"/>
            <p:cNvSpPr>
              <a:spLocks noChangeArrowheads="1"/>
            </p:cNvSpPr>
            <p:nvPr/>
          </p:nvSpPr>
          <p:spPr bwMode="auto">
            <a:xfrm>
              <a:off x="5499745" y="3302812"/>
              <a:ext cx="220159" cy="24576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anose="020B0503020204020204" pitchFamily="34" charset="-122"/>
                  <a:ea typeface="微软雅黑" panose="020B0503020204020204" pitchFamily="34" charset="-122"/>
                </a:rPr>
                <a:t>H</a:t>
              </a:r>
              <a:r>
                <a:rPr lang="en-US" altLang="zh-CN" sz="1200" b="1" baseline="-25000" dirty="0">
                  <a:solidFill>
                    <a:schemeClr val="bg1"/>
                  </a:solidFill>
                  <a:latin typeface="微软雅黑" panose="020B0503020204020204" pitchFamily="34" charset="-122"/>
                  <a:ea typeface="微软雅黑" panose="020B0503020204020204" pitchFamily="34" charset="-122"/>
                </a:rPr>
                <a:t>2</a:t>
              </a:r>
            </a:p>
          </p:txBody>
        </p:sp>
        <p:sp>
          <p:nvSpPr>
            <p:cNvPr id="89" name="Rectangle 78"/>
            <p:cNvSpPr>
              <a:spLocks noChangeArrowheads="1"/>
            </p:cNvSpPr>
            <p:nvPr/>
          </p:nvSpPr>
          <p:spPr bwMode="auto">
            <a:xfrm>
              <a:off x="6876883" y="3303284"/>
              <a:ext cx="210491"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T</a:t>
              </a:r>
              <a:r>
                <a:rPr lang="en-US" altLang="zh-CN" sz="1200" b="1" baseline="-25000" dirty="0">
                  <a:latin typeface="微软雅黑" panose="020B0503020204020204" pitchFamily="34" charset="-122"/>
                  <a:ea typeface="微软雅黑" panose="020B0503020204020204" pitchFamily="34" charset="-122"/>
                </a:rPr>
                <a:t>2</a:t>
              </a:r>
            </a:p>
          </p:txBody>
        </p:sp>
        <p:grpSp>
          <p:nvGrpSpPr>
            <p:cNvPr id="93" name="组合 92"/>
            <p:cNvGrpSpPr/>
            <p:nvPr/>
          </p:nvGrpSpPr>
          <p:grpSpPr>
            <a:xfrm>
              <a:off x="5713004" y="3304109"/>
              <a:ext cx="1164318" cy="250839"/>
              <a:chOff x="5713004" y="3304109"/>
              <a:chExt cx="1164318" cy="250839"/>
            </a:xfrm>
          </p:grpSpPr>
          <p:grpSp>
            <p:nvGrpSpPr>
              <p:cNvPr id="94" name="Group 45"/>
              <p:cNvGrpSpPr/>
              <p:nvPr/>
            </p:nvGrpSpPr>
            <p:grpSpPr bwMode="auto">
              <a:xfrm>
                <a:off x="5713004" y="3304109"/>
                <a:ext cx="1164318" cy="244475"/>
                <a:chOff x="1984" y="3023"/>
                <a:chExt cx="989" cy="226"/>
              </a:xfrm>
            </p:grpSpPr>
            <p:sp>
              <p:nvSpPr>
                <p:cNvPr id="97" name="Rectangle 46"/>
                <p:cNvSpPr>
                  <a:spLocks noChangeArrowheads="1"/>
                </p:cNvSpPr>
                <p:nvPr/>
              </p:nvSpPr>
              <p:spPr bwMode="auto">
                <a:xfrm>
                  <a:off x="1984" y="3023"/>
                  <a:ext cx="185" cy="226"/>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3</a:t>
                  </a:r>
                </a:p>
              </p:txBody>
            </p:sp>
            <p:sp>
              <p:nvSpPr>
                <p:cNvPr id="98" name="Rectangle 47"/>
                <p:cNvSpPr>
                  <a:spLocks noChangeArrowheads="1"/>
                </p:cNvSpPr>
                <p:nvPr/>
              </p:nvSpPr>
              <p:spPr bwMode="auto">
                <a:xfrm>
                  <a:off x="2169" y="3023"/>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微软雅黑" panose="020B0503020204020204" pitchFamily="34" charset="-122"/>
                      <a:ea typeface="微软雅黑" panose="020B0503020204020204" pitchFamily="34" charset="-122"/>
                    </a:rPr>
                    <a:t>H</a:t>
                  </a:r>
                  <a:r>
                    <a:rPr lang="en-US" altLang="zh-CN" sz="1200" b="1" baseline="-25000">
                      <a:latin typeface="微软雅黑" panose="020B0503020204020204" pitchFamily="34" charset="-122"/>
                      <a:ea typeface="微软雅黑" panose="020B0503020204020204" pitchFamily="34" charset="-122"/>
                    </a:rPr>
                    <a:t>4</a:t>
                  </a:r>
                </a:p>
              </p:txBody>
            </p:sp>
            <p:sp>
              <p:nvSpPr>
                <p:cNvPr id="101" name="Rectangle 48"/>
                <p:cNvSpPr>
                  <a:spLocks noChangeArrowheads="1"/>
                </p:cNvSpPr>
                <p:nvPr/>
              </p:nvSpPr>
              <p:spPr bwMode="auto">
                <a:xfrm>
                  <a:off x="2357" y="3023"/>
                  <a:ext cx="206"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02" name="Rectangle 49"/>
                <p:cNvSpPr>
                  <a:spLocks noChangeArrowheads="1"/>
                </p:cNvSpPr>
                <p:nvPr/>
              </p:nvSpPr>
              <p:spPr bwMode="auto">
                <a:xfrm>
                  <a:off x="2563" y="3023"/>
                  <a:ext cx="410"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96" name="矩形 95"/>
              <p:cNvSpPr/>
              <p:nvPr/>
            </p:nvSpPr>
            <p:spPr>
              <a:xfrm>
                <a:off x="5717220" y="3316625"/>
                <a:ext cx="1151000" cy="23832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103" name="Rectangle 35"/>
          <p:cNvSpPr>
            <a:spLocks noChangeArrowheads="1"/>
          </p:cNvSpPr>
          <p:nvPr/>
        </p:nvSpPr>
        <p:spPr bwMode="auto">
          <a:xfrm>
            <a:off x="5489148" y="3671598"/>
            <a:ext cx="1598222" cy="244475"/>
          </a:xfrm>
          <a:prstGeom prst="rect">
            <a:avLst/>
          </a:prstGeom>
          <a:solidFill>
            <a:schemeClr val="bg1"/>
          </a:solidFill>
          <a:ln w="9525">
            <a:solidFill>
              <a:schemeClr val="tx1"/>
            </a:solidFill>
            <a:miter lim="800000"/>
          </a:ln>
        </p:spPr>
        <p:txBody>
          <a:bodyPr wrap="none" anchor="ctr"/>
          <a:lstStyle/>
          <a:p>
            <a:pPr algn="ctr"/>
            <a:r>
              <a:rPr lang="en-US" altLang="zh-CN" sz="1200" b="1" dirty="0">
                <a:solidFill>
                  <a:srgbClr val="0000CC"/>
                </a:solidFill>
                <a:latin typeface="微软雅黑" panose="020B0503020204020204" pitchFamily="34" charset="-122"/>
                <a:ea typeface="微软雅黑" panose="020B0503020204020204" pitchFamily="34" charset="-122"/>
              </a:rPr>
              <a:t>10101 </a:t>
            </a:r>
            <a:r>
              <a:rPr lang="zh-CN" altLang="en-US" sz="1200" b="1" dirty="0">
                <a:solidFill>
                  <a:srgbClr val="0000CC"/>
                </a:solidFill>
                <a:latin typeface="微软雅黑" panose="020B0503020204020204" pitchFamily="34" charset="-122"/>
                <a:ea typeface="微软雅黑" panose="020B0503020204020204" pitchFamily="34" charset="-122"/>
              </a:rPr>
              <a:t>比特流 </a:t>
            </a:r>
            <a:r>
              <a:rPr lang="en-US" altLang="zh-CN" sz="1200" b="1" dirty="0">
                <a:solidFill>
                  <a:srgbClr val="0000CC"/>
                </a:solidFill>
                <a:latin typeface="微软雅黑" panose="020B0503020204020204" pitchFamily="34" charset="-122"/>
                <a:ea typeface="微软雅黑" panose="020B0503020204020204" pitchFamily="34" charset="-122"/>
              </a:rPr>
              <a:t>110111</a:t>
            </a:r>
          </a:p>
        </p:txBody>
      </p:sp>
      <p:grpSp>
        <p:nvGrpSpPr>
          <p:cNvPr id="90" name="组合 89"/>
          <p:cNvGrpSpPr/>
          <p:nvPr/>
        </p:nvGrpSpPr>
        <p:grpSpPr>
          <a:xfrm>
            <a:off x="5718485" y="2932328"/>
            <a:ext cx="1166697" cy="246063"/>
            <a:chOff x="2293194" y="2932328"/>
            <a:chExt cx="1166697" cy="246063"/>
          </a:xfrm>
        </p:grpSpPr>
        <p:grpSp>
          <p:nvGrpSpPr>
            <p:cNvPr id="91" name="Group 41"/>
            <p:cNvGrpSpPr/>
            <p:nvPr/>
          </p:nvGrpSpPr>
          <p:grpSpPr bwMode="auto">
            <a:xfrm>
              <a:off x="2511051" y="2932328"/>
              <a:ext cx="946569" cy="246063"/>
              <a:chOff x="2169" y="2660"/>
              <a:chExt cx="804" cy="226"/>
            </a:xfrm>
          </p:grpSpPr>
          <p:sp>
            <p:nvSpPr>
              <p:cNvPr id="108" name="Rectangle 42"/>
              <p:cNvSpPr>
                <a:spLocks noChangeArrowheads="1"/>
              </p:cNvSpPr>
              <p:nvPr/>
            </p:nvSpPr>
            <p:spPr bwMode="auto">
              <a:xfrm>
                <a:off x="2169" y="2660"/>
                <a:ext cx="188" cy="226"/>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10" name="Rectangle 43"/>
              <p:cNvSpPr>
                <a:spLocks noChangeArrowheads="1"/>
              </p:cNvSpPr>
              <p:nvPr/>
            </p:nvSpPr>
            <p:spPr bwMode="auto">
              <a:xfrm>
                <a:off x="2357" y="2660"/>
                <a:ext cx="205"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2" name="Rectangle 44"/>
              <p:cNvSpPr>
                <a:spLocks noChangeArrowheads="1"/>
              </p:cNvSpPr>
              <p:nvPr/>
            </p:nvSpPr>
            <p:spPr bwMode="auto">
              <a:xfrm>
                <a:off x="2562" y="2660"/>
                <a:ext cx="411"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05" name="Rectangle 70"/>
            <p:cNvSpPr>
              <a:spLocks noChangeArrowheads="1"/>
            </p:cNvSpPr>
            <p:nvPr/>
          </p:nvSpPr>
          <p:spPr bwMode="auto">
            <a:xfrm>
              <a:off x="2293194" y="2932758"/>
              <a:ext cx="221264" cy="245630"/>
            </a:xfrm>
            <a:prstGeom prst="rect">
              <a:avLst/>
            </a:prstGeom>
            <a:solidFill>
              <a:srgbClr val="FFFF99"/>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3</a:t>
              </a:r>
            </a:p>
          </p:txBody>
        </p:sp>
        <p:sp>
          <p:nvSpPr>
            <p:cNvPr id="106" name="矩形 105"/>
            <p:cNvSpPr/>
            <p:nvPr/>
          </p:nvSpPr>
          <p:spPr>
            <a:xfrm>
              <a:off x="2523986" y="2940648"/>
              <a:ext cx="935905" cy="237743"/>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p:cNvGrpSpPr/>
          <p:nvPr/>
        </p:nvGrpSpPr>
        <p:grpSpPr>
          <a:xfrm>
            <a:off x="5919658" y="2554262"/>
            <a:ext cx="948813" cy="246110"/>
            <a:chOff x="5919658" y="2554262"/>
            <a:chExt cx="948813" cy="246110"/>
          </a:xfrm>
        </p:grpSpPr>
        <p:grpSp>
          <p:nvGrpSpPr>
            <p:cNvPr id="116" name="Group 38"/>
            <p:cNvGrpSpPr/>
            <p:nvPr/>
          </p:nvGrpSpPr>
          <p:grpSpPr bwMode="auto">
            <a:xfrm>
              <a:off x="6144524" y="2554801"/>
              <a:ext cx="723947" cy="245571"/>
              <a:chOff x="2346" y="2297"/>
              <a:chExt cx="615" cy="226"/>
            </a:xfrm>
            <a:solidFill>
              <a:srgbClr val="00B0F0"/>
            </a:solidFill>
          </p:grpSpPr>
          <p:sp>
            <p:nvSpPr>
              <p:cNvPr id="117" name="Rectangle 39"/>
              <p:cNvSpPr>
                <a:spLocks noChangeArrowheads="1"/>
              </p:cNvSpPr>
              <p:nvPr/>
            </p:nvSpPr>
            <p:spPr bwMode="auto">
              <a:xfrm>
                <a:off x="2346" y="2297"/>
                <a:ext cx="209" cy="226"/>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8" name="Rectangle 40"/>
              <p:cNvSpPr>
                <a:spLocks noChangeArrowheads="1"/>
              </p:cNvSpPr>
              <p:nvPr/>
            </p:nvSpPr>
            <p:spPr bwMode="auto">
              <a:xfrm>
                <a:off x="2548" y="2297"/>
                <a:ext cx="413" cy="226"/>
              </a:xfrm>
              <a:prstGeom prst="rect">
                <a:avLst/>
              </a:prstGeom>
              <a:solidFill>
                <a:schemeClr val="bg1"/>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fontAlgn="auto">
                  <a:spcBef>
                    <a:spcPts val="0"/>
                  </a:spcBef>
                  <a:spcAft>
                    <a:spcPts val="0"/>
                  </a:spcAft>
                  <a:defRPr/>
                </a:pP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0" name="Rectangle 66"/>
            <p:cNvSpPr>
              <a:spLocks noChangeArrowheads="1"/>
            </p:cNvSpPr>
            <p:nvPr/>
          </p:nvSpPr>
          <p:spPr bwMode="auto">
            <a:xfrm>
              <a:off x="5919658" y="2554262"/>
              <a:ext cx="221311" cy="245311"/>
            </a:xfrm>
            <a:prstGeom prst="rect">
              <a:avLst/>
            </a:prstGeom>
            <a:solidFill>
              <a:srgbClr val="FF99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4</a:t>
              </a:r>
            </a:p>
          </p:txBody>
        </p:sp>
        <p:sp>
          <p:nvSpPr>
            <p:cNvPr id="121" name="矩形 120"/>
            <p:cNvSpPr/>
            <p:nvPr/>
          </p:nvSpPr>
          <p:spPr>
            <a:xfrm>
              <a:off x="6156363" y="2564022"/>
              <a:ext cx="711857"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13" name="组合 112"/>
          <p:cNvGrpSpPr/>
          <p:nvPr/>
        </p:nvGrpSpPr>
        <p:grpSpPr>
          <a:xfrm>
            <a:off x="6142401" y="2209195"/>
            <a:ext cx="725819" cy="246069"/>
            <a:chOff x="6142401" y="2209195"/>
            <a:chExt cx="725819" cy="246069"/>
          </a:xfrm>
        </p:grpSpPr>
        <p:sp>
          <p:nvSpPr>
            <p:cNvPr id="114" name="Rectangle 34"/>
            <p:cNvSpPr>
              <a:spLocks noChangeArrowheads="1"/>
            </p:cNvSpPr>
            <p:nvPr/>
          </p:nvSpPr>
          <p:spPr bwMode="auto">
            <a:xfrm>
              <a:off x="6142401" y="2209527"/>
              <a:ext cx="248557" cy="245737"/>
            </a:xfrm>
            <a:prstGeom prst="rect">
              <a:avLst/>
            </a:prstGeom>
            <a:solidFill>
              <a:srgbClr val="FF99FF"/>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anose="020B0503020204020204" pitchFamily="34" charset="-122"/>
                  <a:ea typeface="微软雅黑" panose="020B0503020204020204" pitchFamily="34" charset="-122"/>
                </a:rPr>
                <a:t>H</a:t>
              </a:r>
              <a:r>
                <a:rPr lang="en-US" altLang="zh-CN" sz="1200" b="1" baseline="-25000" dirty="0">
                  <a:latin typeface="微软雅黑" panose="020B0503020204020204" pitchFamily="34" charset="-122"/>
                  <a:ea typeface="微软雅黑" panose="020B0503020204020204" pitchFamily="34" charset="-122"/>
                </a:rPr>
                <a:t>5</a:t>
              </a:r>
            </a:p>
          </p:txBody>
        </p:sp>
        <p:sp>
          <p:nvSpPr>
            <p:cNvPr id="115" name="Rectangle 37"/>
            <p:cNvSpPr>
              <a:spLocks noChangeArrowheads="1"/>
            </p:cNvSpPr>
            <p:nvPr/>
          </p:nvSpPr>
          <p:spPr bwMode="auto">
            <a:xfrm>
              <a:off x="6382187" y="2209195"/>
              <a:ext cx="486033" cy="24606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grpSp>
      <p:sp>
        <p:nvSpPr>
          <p:cNvPr id="129" name="Rectangle 37"/>
          <p:cNvSpPr>
            <a:spLocks noChangeArrowheads="1"/>
          </p:cNvSpPr>
          <p:nvPr/>
        </p:nvSpPr>
        <p:spPr bwMode="auto">
          <a:xfrm>
            <a:off x="6382187" y="1870804"/>
            <a:ext cx="486033" cy="238082"/>
          </a:xfrm>
          <a:prstGeom prst="rect">
            <a:avLst/>
          </a:prstGeom>
          <a:solidFill>
            <a:schemeClr val="bg1"/>
          </a:solidFill>
          <a:ln w="9525">
            <a:solidFill>
              <a:schemeClr val="tx1"/>
            </a:solidFill>
            <a:miter lim="800000"/>
          </a:ln>
        </p:spPr>
        <p:txBody>
          <a:bodyPr wrap="none" anchor="ctr"/>
          <a:lstStyle/>
          <a:p>
            <a:pPr algn="ctr"/>
            <a:r>
              <a:rPr lang="zh-CN" altLang="en-US" sz="1200" b="1" dirty="0">
                <a:solidFill>
                  <a:srgbClr val="0000CC"/>
                </a:solidFill>
                <a:latin typeface="微软雅黑" panose="020B0503020204020204" pitchFamily="34" charset="-122"/>
                <a:ea typeface="微软雅黑" panose="020B0503020204020204" pitchFamily="34" charset="-122"/>
              </a:rPr>
              <a:t>数 据</a:t>
            </a:r>
          </a:p>
        </p:txBody>
      </p:sp>
      <p:sp>
        <p:nvSpPr>
          <p:cNvPr id="170" name="矩形 169"/>
          <p:cNvSpPr/>
          <p:nvPr/>
        </p:nvSpPr>
        <p:spPr>
          <a:xfrm>
            <a:off x="2995368"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1" name="矩形 170"/>
          <p:cNvSpPr/>
          <p:nvPr/>
        </p:nvSpPr>
        <p:spPr>
          <a:xfrm>
            <a:off x="6396220" y="2220080"/>
            <a:ext cx="464524" cy="223997"/>
          </a:xfrm>
          <a:prstGeom prst="rect">
            <a:avLst/>
          </a:prstGeom>
          <a:solidFill>
            <a:srgbClr val="00B050">
              <a:alpha val="70000"/>
            </a:srgbClr>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内容占位符 33">
            <a:extLst>
              <a:ext uri="{FF2B5EF4-FFF2-40B4-BE49-F238E27FC236}">
                <a16:creationId xmlns:a16="http://schemas.microsoft.com/office/drawing/2014/main" id="{EEE6C2AD-B798-3E53-8C0D-26194A87C3CC}"/>
              </a:ext>
            </a:extLst>
          </p:cNvPr>
          <p:cNvSpPr>
            <a:spLocks noGrp="1"/>
          </p:cNvSpPr>
          <p:nvPr>
            <p:ph sz="quarter" idx="4294967295"/>
          </p:nvPr>
        </p:nvSpPr>
        <p:spPr>
          <a:xfrm>
            <a:off x="612000" y="720000"/>
            <a:ext cx="7920000" cy="3960000"/>
          </a:xfrm>
        </p:spPr>
        <p:txBody>
          <a:bodyPr/>
          <a:lstStyle/>
          <a:p>
            <a:endParaRPr lang="zh-CN" altLang="en-US"/>
          </a:p>
        </p:txBody>
      </p:sp>
      <p:sp>
        <p:nvSpPr>
          <p:cNvPr id="32" name="文本占位符 31"/>
          <p:cNvSpPr>
            <a:spLocks noGrp="1"/>
          </p:cNvSpPr>
          <p:nvPr>
            <p:ph type="body" sz="quarter" idx="4294967295"/>
          </p:nvPr>
        </p:nvSpPr>
        <p:spPr>
          <a:xfrm>
            <a:off x="0" y="153988"/>
            <a:ext cx="6632575" cy="338137"/>
          </a:xfrm>
        </p:spPr>
        <p:txBody>
          <a:bodyPr>
            <a:normAutofit lnSpcReduction="10000"/>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en-US" altLang="zh-CN" dirty="0"/>
              <a:t>OSI </a:t>
            </a:r>
            <a:r>
              <a:rPr lang="zh-CN" altLang="en-US" dirty="0"/>
              <a:t>参考模型把对等层次之间传送的数据单位称为该层的协议数据单元 </a:t>
            </a:r>
            <a:r>
              <a:rPr lang="en-US" altLang="zh-CN" dirty="0"/>
              <a:t>PDU (Protocol Data Unit)</a:t>
            </a:r>
            <a:r>
              <a:rPr lang="zh-CN" altLang="en-US" dirty="0"/>
              <a:t>。</a:t>
            </a:r>
            <a:endParaRPr lang="en-US" altLang="zh-CN" dirty="0"/>
          </a:p>
          <a:p>
            <a:r>
              <a:rPr lang="zh-CN" altLang="en-US" dirty="0"/>
              <a:t>任何两个同样的层次把 </a:t>
            </a:r>
            <a:r>
              <a:rPr lang="en-US" altLang="zh-CN" dirty="0"/>
              <a:t>PDU </a:t>
            </a:r>
            <a:r>
              <a:rPr lang="zh-CN" altLang="en-US" dirty="0"/>
              <a:t>（即数据单元加上控制信息）通过水平虚线直接传递给对方。这就是所谓的“对等层”之间的通信。</a:t>
            </a:r>
          </a:p>
          <a:p>
            <a:endParaRPr lang="zh-CN" altLang="en-US" dirty="0"/>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zh-CN" altLang="en-US" dirty="0"/>
              <a:t>对等层与协议数据单元</a:t>
            </a:r>
          </a:p>
        </p:txBody>
      </p:sp>
      <p:grpSp>
        <p:nvGrpSpPr>
          <p:cNvPr id="5" name="组合 4"/>
          <p:cNvGrpSpPr/>
          <p:nvPr/>
        </p:nvGrpSpPr>
        <p:grpSpPr>
          <a:xfrm>
            <a:off x="705051" y="2664562"/>
            <a:ext cx="7721653" cy="630805"/>
            <a:chOff x="595997" y="3877027"/>
            <a:chExt cx="4614827" cy="1042751"/>
          </a:xfrm>
        </p:grpSpPr>
        <p:sp>
          <p:nvSpPr>
            <p:cNvPr id="6" name="对角圆角矩形 5"/>
            <p:cNvSpPr/>
            <p:nvPr/>
          </p:nvSpPr>
          <p:spPr>
            <a:xfrm>
              <a:off x="595997" y="3877027"/>
              <a:ext cx="4614827" cy="104275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anchor="ctr"/>
            <a:lstStyle/>
            <a:p>
              <a:pPr fontAlgn="auto">
                <a:spcBef>
                  <a:spcPts val="0"/>
                </a:spcBef>
                <a:spcAft>
                  <a:spcPts val="0"/>
                </a:spcAft>
                <a:defRPr/>
              </a:pPr>
              <a:endParaRPr lang="zh-CN" altLang="en-US" sz="1600" dirty="0"/>
            </a:p>
          </p:txBody>
        </p:sp>
        <p:sp>
          <p:nvSpPr>
            <p:cNvPr id="7" name="矩形 5"/>
            <p:cNvSpPr>
              <a:spLocks noChangeArrowheads="1"/>
            </p:cNvSpPr>
            <p:nvPr/>
          </p:nvSpPr>
          <p:spPr bwMode="auto">
            <a:xfrm>
              <a:off x="710641" y="4034685"/>
              <a:ext cx="4389878" cy="666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各层协议实际上就是在各个</a:t>
              </a:r>
              <a:r>
                <a:rPr lang="zh-CN" altLang="en-US" sz="2000" b="1" dirty="0">
                  <a:solidFill>
                    <a:srgbClr val="FFFF00"/>
                  </a:solidFill>
                  <a:latin typeface="微软雅黑" panose="020B0503020204020204" pitchFamily="34" charset="-122"/>
                  <a:ea typeface="微软雅黑" panose="020B0503020204020204" pitchFamily="34" charset="-122"/>
                </a:rPr>
                <a:t>对等层</a:t>
              </a:r>
              <a:r>
                <a:rPr lang="zh-CN" altLang="en-US" sz="2000" b="1" dirty="0">
                  <a:solidFill>
                    <a:schemeClr val="bg1"/>
                  </a:solidFill>
                  <a:latin typeface="微软雅黑" panose="020B0503020204020204" pitchFamily="34" charset="-122"/>
                  <a:ea typeface="微软雅黑" panose="020B0503020204020204" pitchFamily="34" charset="-122"/>
                </a:rPr>
                <a:t>之间传递数据时的各项规定。</a:t>
              </a:r>
            </a:p>
          </p:txBody>
        </p:sp>
      </p:gr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p:cNvSpPr>
            <a:spLocks noGrp="1"/>
          </p:cNvSpPr>
          <p:nvPr>
            <p:ph sz="quarter" idx="4294967295"/>
          </p:nvPr>
        </p:nvSpPr>
        <p:spPr>
          <a:xfrm>
            <a:off x="612000" y="720000"/>
            <a:ext cx="7920000" cy="3960000"/>
          </a:xfrm>
        </p:spPr>
        <p:txBody>
          <a:bodyPr/>
          <a:lstStyle/>
          <a:p>
            <a:r>
              <a:rPr lang="zh-CN" altLang="en-US" dirty="0"/>
              <a:t>实体 </a:t>
            </a:r>
            <a:r>
              <a:rPr lang="en-US" altLang="zh-CN" dirty="0"/>
              <a:t>(entity) </a:t>
            </a:r>
            <a:r>
              <a:rPr lang="zh-CN" altLang="en-US" dirty="0"/>
              <a:t>：表示任何可发送或接收信息的硬件或软件进程。 </a:t>
            </a:r>
          </a:p>
          <a:p>
            <a:r>
              <a:rPr lang="zh-CN" altLang="en-US" dirty="0"/>
              <a:t>协议：控制两个对等实体进行通信的规则的集合。 </a:t>
            </a:r>
          </a:p>
          <a:p>
            <a:r>
              <a:rPr lang="zh-CN" altLang="en-US" dirty="0"/>
              <a:t>在协议的控制下，两个对等实体间的通信使得本层能够向上一层提供服务。</a:t>
            </a:r>
          </a:p>
          <a:p>
            <a:r>
              <a:rPr lang="zh-CN" altLang="en-US" dirty="0"/>
              <a:t>要实现本层协议，还需要使用下层所提供的服务。</a:t>
            </a:r>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en-US" altLang="zh-CN" dirty="0"/>
              <a:t>1.7.4  </a:t>
            </a:r>
            <a:r>
              <a:rPr lang="zh-CN" altLang="zh-CN" dirty="0"/>
              <a:t>实体、协议、服务和服务访问点</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p:cNvGraphicFramePr>
            <a:graphicFrameLocks noGrp="1"/>
          </p:cNvGraphicFramePr>
          <p:nvPr>
            <p:ph sz="quarter" idx="4294967295"/>
            <p:extLst>
              <p:ext uri="{D42A27DB-BD31-4B8C-83A1-F6EECF244321}">
                <p14:modId xmlns:p14="http://schemas.microsoft.com/office/powerpoint/2010/main" val="2272433833"/>
              </p:ext>
            </p:extLst>
          </p:nvPr>
        </p:nvGraphicFramePr>
        <p:xfrm>
          <a:off x="466725" y="504825"/>
          <a:ext cx="8128000" cy="41719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文本占位符 4"/>
          <p:cNvSpPr>
            <a:spLocks noGrp="1"/>
          </p:cNvSpPr>
          <p:nvPr>
            <p:ph type="body" sz="quarter" idx="4294967295"/>
          </p:nvPr>
        </p:nvSpPr>
        <p:spPr>
          <a:xfrm>
            <a:off x="0" y="153988"/>
            <a:ext cx="6632575" cy="338137"/>
          </a:xfrm>
        </p:spPr>
        <p:txBody>
          <a:bodyPr>
            <a:normAutofit lnSpcReduction="10000"/>
          </a:bodyPr>
          <a:lstStyle/>
          <a:p>
            <a:r>
              <a:rPr lang="zh-CN" altLang="en-US" dirty="0"/>
              <a:t>注意：协议和服务在概念上是不一样的</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p:cNvSpPr>
            <a:spLocks noGrp="1"/>
          </p:cNvSpPr>
          <p:nvPr>
            <p:ph sz="quarter" idx="4294967295"/>
          </p:nvPr>
        </p:nvSpPr>
        <p:spPr>
          <a:xfrm>
            <a:off x="612000" y="720000"/>
            <a:ext cx="7920000" cy="3960000"/>
          </a:xfrm>
        </p:spPr>
        <p:txBody>
          <a:bodyPr/>
          <a:lstStyle/>
          <a:p>
            <a:r>
              <a:rPr lang="zh-CN" altLang="en-US" dirty="0"/>
              <a:t>在同一系统中相邻两层的实体进行交互（即交换信息）</a:t>
            </a:r>
            <a:r>
              <a:rPr lang="en-US" altLang="zh-CN" dirty="0"/>
              <a:t> </a:t>
            </a:r>
            <a:r>
              <a:rPr lang="zh-CN" altLang="en-US" dirty="0"/>
              <a:t>的地方，通常称为服务访问点 </a:t>
            </a:r>
            <a:r>
              <a:rPr lang="en-US" altLang="zh-CN" dirty="0"/>
              <a:t>SAP (Service Access Point)</a:t>
            </a:r>
            <a:r>
              <a:rPr lang="zh-CN" altLang="en-US" dirty="0"/>
              <a:t>。</a:t>
            </a:r>
            <a:endParaRPr lang="en-US" altLang="zh-CN" dirty="0"/>
          </a:p>
          <a:p>
            <a:r>
              <a:rPr lang="en-US" altLang="zh-CN" dirty="0"/>
              <a:t>SAP </a:t>
            </a:r>
            <a:r>
              <a:rPr lang="zh-CN" altLang="en-US" dirty="0"/>
              <a:t>是一个抽象的概念，它实际上就是一个逻辑接口。</a:t>
            </a:r>
            <a:endParaRPr lang="en-US" altLang="zh-CN" dirty="0"/>
          </a:p>
          <a:p>
            <a:r>
              <a:rPr lang="en-US" altLang="zh-CN" dirty="0"/>
              <a:t>OSI </a:t>
            </a:r>
            <a:r>
              <a:rPr lang="zh-CN" altLang="en-US" dirty="0"/>
              <a:t>把层与层之间交换的数据的单位称为服务数据单元 </a:t>
            </a:r>
            <a:r>
              <a:rPr lang="en-US" altLang="zh-CN" dirty="0"/>
              <a:t>SDU (Service Data Unit)</a:t>
            </a:r>
            <a:r>
              <a:rPr lang="zh-CN" altLang="en-US" dirty="0"/>
              <a:t>。</a:t>
            </a:r>
          </a:p>
          <a:p>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例如：可以是多个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r>
              <a:rPr lang="zh-CN" altLang="en-US" dirty="0"/>
              <a:t>。</a:t>
            </a:r>
          </a:p>
          <a:p>
            <a:endParaRPr lang="zh-CN" altLang="en-US" dirty="0"/>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服务访问点 </a:t>
            </a:r>
            <a:r>
              <a:rPr lang="en-US" altLang="zh-CN" dirty="0"/>
              <a:t>SAP</a:t>
            </a:r>
            <a:endParaRPr lang="zh-CN" altLang="en-US" dirty="0"/>
          </a:p>
        </p:txBody>
      </p:sp>
    </p:spTree>
    <p:extLst>
      <p:ext uri="{BB962C8B-B14F-4D97-AF65-F5344CB8AC3E}">
        <p14:creationId xmlns:p14="http://schemas.microsoft.com/office/powerpoint/2010/main" val="30981003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96168" y="1123226"/>
            <a:ext cx="8053712" cy="3200121"/>
          </a:xfrm>
          <a:prstGeom prst="roundRect">
            <a:avLst>
              <a:gd name="adj" fmla="val 15204"/>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Rectangle 63"/>
          <p:cNvSpPr>
            <a:spLocks noChangeArrowheads="1"/>
          </p:cNvSpPr>
          <p:nvPr/>
        </p:nvSpPr>
        <p:spPr bwMode="auto">
          <a:xfrm>
            <a:off x="874295" y="2674019"/>
            <a:ext cx="7259052" cy="1245882"/>
          </a:xfrm>
          <a:prstGeom prst="rect">
            <a:avLst/>
          </a:prstGeom>
          <a:solidFill>
            <a:schemeClr val="bg1"/>
          </a:solidFill>
          <a:ln w="9525">
            <a:solidFill>
              <a:srgbClr val="000066"/>
            </a:solidFill>
            <a:prstDash val="dash"/>
            <a:round/>
          </a:ln>
          <a:effectLst>
            <a:glow rad="63500">
              <a:schemeClr val="accent1">
                <a:satMod val="175000"/>
                <a:alpha val="40000"/>
              </a:schemeClr>
            </a:glow>
          </a:effectLst>
          <a:scene3d>
            <a:camera prst="orthographicFront">
              <a:rot lat="0" lon="0" rev="0"/>
            </a:camera>
            <a:lightRig rig="contrasting" dir="t">
              <a:rot lat="0" lon="0" rev="7800000"/>
            </a:lightRig>
          </a:scene3d>
          <a:sp3d>
            <a:bevelT w="139700" h="139700"/>
          </a:sp3d>
        </p:spPr>
        <p:txBody>
          <a:bodyPr wrap="none" anchor="ct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4" name="内容占位符 33">
            <a:extLst>
              <a:ext uri="{FF2B5EF4-FFF2-40B4-BE49-F238E27FC236}">
                <a16:creationId xmlns:a16="http://schemas.microsoft.com/office/drawing/2014/main" id="{C4C0F37E-68AF-CFBB-E813-212E4251E633}"/>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5" name="内容占位符 24">
            <a:extLst>
              <a:ext uri="{FF2B5EF4-FFF2-40B4-BE49-F238E27FC236}">
                <a16:creationId xmlns:a16="http://schemas.microsoft.com/office/drawing/2014/main" id="{7CDB1C71-203F-C4A7-7BF6-305D083164F3}"/>
              </a:ext>
            </a:extLst>
          </p:cNvPr>
          <p:cNvSpPr>
            <a:spLocks noGrp="1"/>
          </p:cNvSpPr>
          <p:nvPr>
            <p:ph sz="quarter" idx="4294967295"/>
          </p:nvPr>
        </p:nvSpPr>
        <p:spPr>
          <a:xfrm>
            <a:off x="612000" y="720000"/>
            <a:ext cx="7920000" cy="3960000"/>
          </a:xfrm>
        </p:spPr>
        <p:txBody>
          <a:bodyPr/>
          <a:lstStyle/>
          <a:p>
            <a:endParaRPr lang="zh-CN" altLang="en-US"/>
          </a:p>
        </p:txBody>
      </p:sp>
      <p:sp>
        <p:nvSpPr>
          <p:cNvPr id="23" name="文本占位符 22"/>
          <p:cNvSpPr>
            <a:spLocks noGrp="1"/>
          </p:cNvSpPr>
          <p:nvPr>
            <p:ph type="body" sz="quarter" idx="4294967295"/>
          </p:nvPr>
        </p:nvSpPr>
        <p:spPr>
          <a:xfrm>
            <a:off x="0" y="153988"/>
            <a:ext cx="6632575" cy="338137"/>
          </a:xfrm>
        </p:spPr>
        <p:txBody>
          <a:bodyPr>
            <a:normAutofit lnSpcReduction="10000"/>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内容占位符 19">
            <a:extLst>
              <a:ext uri="{FF2B5EF4-FFF2-40B4-BE49-F238E27FC236}">
                <a16:creationId xmlns:a16="http://schemas.microsoft.com/office/drawing/2014/main" id="{28BFEAA5-5D22-EC1A-6897-934BF3172F58}"/>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en-US" altLang="zh-CN" dirty="0"/>
              <a:t>1.7.5  TCP/IP </a:t>
            </a:r>
            <a:r>
              <a:rPr lang="zh-CN" altLang="zh-CN" dirty="0"/>
              <a:t>的体系结构</a:t>
            </a:r>
            <a:endParaRPr lang="zh-CN" altLang="en-US" dirty="0"/>
          </a:p>
        </p:txBody>
      </p:sp>
      <p:sp>
        <p:nvSpPr>
          <p:cNvPr id="4" name="圆角矩形 3"/>
          <p:cNvSpPr/>
          <p:nvPr/>
        </p:nvSpPr>
        <p:spPr>
          <a:xfrm>
            <a:off x="505072" y="1775699"/>
            <a:ext cx="7658625" cy="28916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AutoShape 5"/>
          <p:cNvSpPr>
            <a:spLocks noChangeArrowheads="1"/>
          </p:cNvSpPr>
          <p:nvPr/>
        </p:nvSpPr>
        <p:spPr bwMode="auto">
          <a:xfrm>
            <a:off x="1060238" y="1988837"/>
            <a:ext cx="1325562" cy="1749425"/>
          </a:xfrm>
          <a:prstGeom prst="cube">
            <a:avLst>
              <a:gd name="adj" fmla="val 25301"/>
            </a:avLst>
          </a:prstGeom>
          <a:solidFill>
            <a:srgbClr val="0098F6"/>
          </a:solidFill>
          <a:ln w="1270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8" name="Freeform 6"/>
          <p:cNvSpPr/>
          <p:nvPr/>
        </p:nvSpPr>
        <p:spPr bwMode="auto">
          <a:xfrm>
            <a:off x="1058650" y="2288875"/>
            <a:ext cx="1323975" cy="282575"/>
          </a:xfrm>
          <a:custGeom>
            <a:avLst/>
            <a:gdLst>
              <a:gd name="T0" fmla="*/ 1323868 w 1000"/>
              <a:gd name="T1" fmla="*/ 0 h 230"/>
              <a:gd name="T2" fmla="*/ 1019378 w 1000"/>
              <a:gd name="T3" fmla="*/ 276179 h 230"/>
              <a:gd name="T4" fmla="*/ 0 w 1000"/>
              <a:gd name="T5" fmla="*/ 281067 h 230"/>
              <a:gd name="T6" fmla="*/ 0 60000 65536"/>
              <a:gd name="T7" fmla="*/ 0 60000 65536"/>
              <a:gd name="T8" fmla="*/ 0 60000 65536"/>
            </a:gdLst>
            <a:ahLst/>
            <a:cxnLst>
              <a:cxn ang="T6">
                <a:pos x="T0" y="T1"/>
              </a:cxn>
              <a:cxn ang="T7">
                <a:pos x="T2" y="T3"/>
              </a:cxn>
              <a:cxn ang="T8">
                <a:pos x="T4" y="T5"/>
              </a:cxn>
            </a:cxnLst>
            <a:rect l="0" t="0" r="r" b="b"/>
            <a:pathLst>
              <a:path w="1000" h="230">
                <a:moveTo>
                  <a:pt x="1000"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Text Box 7"/>
          <p:cNvSpPr txBox="1">
            <a:spLocks noChangeArrowheads="1"/>
          </p:cNvSpPr>
          <p:nvPr/>
        </p:nvSpPr>
        <p:spPr bwMode="auto">
          <a:xfrm>
            <a:off x="1234863" y="2253950"/>
            <a:ext cx="723900" cy="1484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spcBef>
                <a:spcPts val="200"/>
              </a:spcBef>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10" name="Freeform 8"/>
          <p:cNvSpPr/>
          <p:nvPr/>
        </p:nvSpPr>
        <p:spPr bwMode="auto">
          <a:xfrm>
            <a:off x="1055475" y="2590500"/>
            <a:ext cx="1327150" cy="298450"/>
          </a:xfrm>
          <a:custGeom>
            <a:avLst/>
            <a:gdLst>
              <a:gd name="T0" fmla="*/ 1326515 w 1002"/>
              <a:gd name="T1" fmla="*/ 0 h 244"/>
              <a:gd name="T2" fmla="*/ 1019378 w 1002"/>
              <a:gd name="T3" fmla="*/ 293288 h 244"/>
              <a:gd name="T4" fmla="*/ 0 w 1002"/>
              <a:gd name="T5" fmla="*/ 298176 h 244"/>
              <a:gd name="T6" fmla="*/ 0 60000 65536"/>
              <a:gd name="T7" fmla="*/ 0 60000 65536"/>
              <a:gd name="T8" fmla="*/ 0 60000 65536"/>
            </a:gdLst>
            <a:ahLst/>
            <a:cxnLst>
              <a:cxn ang="T6">
                <a:pos x="T0" y="T1"/>
              </a:cxn>
              <a:cxn ang="T7">
                <a:pos x="T2" y="T3"/>
              </a:cxn>
              <a:cxn ang="T8">
                <a:pos x="T4" y="T5"/>
              </a:cxn>
            </a:cxnLst>
            <a:rect l="0" t="0" r="r" b="b"/>
            <a:pathLst>
              <a:path w="1002" h="244">
                <a:moveTo>
                  <a:pt x="1002" y="0"/>
                </a:moveTo>
                <a:lnTo>
                  <a:pt x="770" y="240"/>
                </a:lnTo>
                <a:lnTo>
                  <a:pt x="0" y="244"/>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Freeform 9"/>
          <p:cNvSpPr/>
          <p:nvPr/>
        </p:nvSpPr>
        <p:spPr bwMode="auto">
          <a:xfrm>
            <a:off x="1055475" y="2890537"/>
            <a:ext cx="1327150" cy="315913"/>
          </a:xfrm>
          <a:custGeom>
            <a:avLst/>
            <a:gdLst>
              <a:gd name="T0" fmla="*/ 1326515 w 1002"/>
              <a:gd name="T1" fmla="*/ 0 h 258"/>
              <a:gd name="T2" fmla="*/ 1019378 w 1002"/>
              <a:gd name="T3" fmla="*/ 310396 h 258"/>
              <a:gd name="T4" fmla="*/ 0 w 1002"/>
              <a:gd name="T5" fmla="*/ 315284 h 258"/>
              <a:gd name="T6" fmla="*/ 0 60000 65536"/>
              <a:gd name="T7" fmla="*/ 0 60000 65536"/>
              <a:gd name="T8" fmla="*/ 0 60000 65536"/>
            </a:gdLst>
            <a:ahLst/>
            <a:cxnLst>
              <a:cxn ang="T6">
                <a:pos x="T0" y="T1"/>
              </a:cxn>
              <a:cxn ang="T7">
                <a:pos x="T2" y="T3"/>
              </a:cxn>
              <a:cxn ang="T8">
                <a:pos x="T4" y="T5"/>
              </a:cxn>
            </a:cxnLst>
            <a:rect l="0" t="0" r="r" b="b"/>
            <a:pathLst>
              <a:path w="1002" h="258">
                <a:moveTo>
                  <a:pt x="1002" y="0"/>
                </a:moveTo>
                <a:lnTo>
                  <a:pt x="770" y="254"/>
                </a:lnTo>
                <a:lnTo>
                  <a:pt x="0" y="25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AutoShape 10"/>
          <p:cNvSpPr>
            <a:spLocks noChangeArrowheads="1"/>
          </p:cNvSpPr>
          <p:nvPr/>
        </p:nvSpPr>
        <p:spPr bwMode="auto">
          <a:xfrm>
            <a:off x="6507246" y="1988837"/>
            <a:ext cx="1325562" cy="1749425"/>
          </a:xfrm>
          <a:prstGeom prst="cube">
            <a:avLst>
              <a:gd name="adj" fmla="val 25301"/>
            </a:avLst>
          </a:prstGeom>
          <a:solidFill>
            <a:srgbClr val="0098F6"/>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3" name="Freeform 11"/>
          <p:cNvSpPr/>
          <p:nvPr/>
        </p:nvSpPr>
        <p:spPr bwMode="auto">
          <a:xfrm>
            <a:off x="6505658" y="2288875"/>
            <a:ext cx="1331913" cy="282575"/>
          </a:xfrm>
          <a:custGeom>
            <a:avLst/>
            <a:gdLst>
              <a:gd name="T0" fmla="*/ 1331810 w 1006"/>
              <a:gd name="T1" fmla="*/ 0 h 230"/>
              <a:gd name="T2" fmla="*/ 1019377 w 1006"/>
              <a:gd name="T3" fmla="*/ 276179 h 230"/>
              <a:gd name="T4" fmla="*/ 0 w 1006"/>
              <a:gd name="T5" fmla="*/ 281067 h 230"/>
              <a:gd name="T6" fmla="*/ 0 60000 65536"/>
              <a:gd name="T7" fmla="*/ 0 60000 65536"/>
              <a:gd name="T8" fmla="*/ 0 60000 65536"/>
            </a:gdLst>
            <a:ahLst/>
            <a:cxnLst>
              <a:cxn ang="T6">
                <a:pos x="T0" y="T1"/>
              </a:cxn>
              <a:cxn ang="T7">
                <a:pos x="T2" y="T3"/>
              </a:cxn>
              <a:cxn ang="T8">
                <a:pos x="T4" y="T5"/>
              </a:cxn>
            </a:cxnLst>
            <a:rect l="0" t="0" r="r" b="b"/>
            <a:pathLst>
              <a:path w="1006" h="230">
                <a:moveTo>
                  <a:pt x="1006" y="0"/>
                </a:moveTo>
                <a:lnTo>
                  <a:pt x="770" y="226"/>
                </a:lnTo>
                <a:lnTo>
                  <a:pt x="0" y="230"/>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 name="Freeform 12"/>
          <p:cNvSpPr/>
          <p:nvPr/>
        </p:nvSpPr>
        <p:spPr bwMode="auto">
          <a:xfrm>
            <a:off x="6502483" y="2596850"/>
            <a:ext cx="1319213" cy="292100"/>
          </a:xfrm>
          <a:custGeom>
            <a:avLst/>
            <a:gdLst>
              <a:gd name="T0" fmla="*/ 1318572 w 996"/>
              <a:gd name="T1" fmla="*/ 0 h 238"/>
              <a:gd name="T2" fmla="*/ 1019378 w 996"/>
              <a:gd name="T3" fmla="*/ 285955 h 238"/>
              <a:gd name="T4" fmla="*/ 0 w 996"/>
              <a:gd name="T5" fmla="*/ 290843 h 238"/>
              <a:gd name="T6" fmla="*/ 0 60000 65536"/>
              <a:gd name="T7" fmla="*/ 0 60000 65536"/>
              <a:gd name="T8" fmla="*/ 0 60000 65536"/>
            </a:gdLst>
            <a:ahLst/>
            <a:cxnLst>
              <a:cxn ang="T6">
                <a:pos x="T0" y="T1"/>
              </a:cxn>
              <a:cxn ang="T7">
                <a:pos x="T2" y="T3"/>
              </a:cxn>
              <a:cxn ang="T8">
                <a:pos x="T4" y="T5"/>
              </a:cxn>
            </a:cxnLst>
            <a:rect l="0" t="0" r="r" b="b"/>
            <a:pathLst>
              <a:path w="996" h="238">
                <a:moveTo>
                  <a:pt x="996" y="0"/>
                </a:moveTo>
                <a:lnTo>
                  <a:pt x="770" y="234"/>
                </a:lnTo>
                <a:lnTo>
                  <a:pt x="0" y="238"/>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 name="Freeform 13"/>
          <p:cNvSpPr/>
          <p:nvPr/>
        </p:nvSpPr>
        <p:spPr bwMode="auto">
          <a:xfrm>
            <a:off x="6502483" y="2904825"/>
            <a:ext cx="1319213" cy="301625"/>
          </a:xfrm>
          <a:custGeom>
            <a:avLst/>
            <a:gdLst>
              <a:gd name="T0" fmla="*/ 1318572 w 996"/>
              <a:gd name="T1" fmla="*/ 0 h 246"/>
              <a:gd name="T2" fmla="*/ 1019378 w 996"/>
              <a:gd name="T3" fmla="*/ 295732 h 246"/>
              <a:gd name="T4" fmla="*/ 0 w 996"/>
              <a:gd name="T5" fmla="*/ 300620 h 246"/>
              <a:gd name="T6" fmla="*/ 0 60000 65536"/>
              <a:gd name="T7" fmla="*/ 0 60000 65536"/>
              <a:gd name="T8" fmla="*/ 0 60000 65536"/>
            </a:gdLst>
            <a:ahLst/>
            <a:cxnLst>
              <a:cxn ang="T6">
                <a:pos x="T0" y="T1"/>
              </a:cxn>
              <a:cxn ang="T7">
                <a:pos x="T2" y="T3"/>
              </a:cxn>
              <a:cxn ang="T8">
                <a:pos x="T4" y="T5"/>
              </a:cxn>
            </a:cxnLst>
            <a:rect l="0" t="0" r="r" b="b"/>
            <a:pathLst>
              <a:path w="996" h="246">
                <a:moveTo>
                  <a:pt x="996" y="0"/>
                </a:moveTo>
                <a:lnTo>
                  <a:pt x="770" y="242"/>
                </a:lnTo>
                <a:lnTo>
                  <a:pt x="0" y="246"/>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6" name="AutoShape 14"/>
          <p:cNvSpPr>
            <a:spLocks noChangeArrowheads="1"/>
          </p:cNvSpPr>
          <p:nvPr/>
        </p:nvSpPr>
        <p:spPr bwMode="auto">
          <a:xfrm>
            <a:off x="3795713" y="2628600"/>
            <a:ext cx="1316120" cy="1114425"/>
          </a:xfrm>
          <a:prstGeom prst="cube">
            <a:avLst>
              <a:gd name="adj" fmla="val 25301"/>
            </a:avLst>
          </a:prstGeom>
          <a:solidFill>
            <a:srgbClr val="00CC00"/>
          </a:solidFill>
          <a:ln w="19050">
            <a:solidFill>
              <a:schemeClr val="tx1"/>
            </a:solidFill>
            <a:miter lim="800000"/>
          </a:ln>
        </p:spPr>
        <p:txBody>
          <a:bodyPr wrap="none" anchor="ctr"/>
          <a:lstStyle/>
          <a:p>
            <a:endParaRPr lang="zh-CN" altLang="en-US" sz="1600" b="1">
              <a:solidFill>
                <a:srgbClr val="000099"/>
              </a:solidFill>
              <a:latin typeface="微软雅黑" panose="020B0503020204020204" pitchFamily="34" charset="-122"/>
              <a:ea typeface="微软雅黑" panose="020B0503020204020204" pitchFamily="34" charset="-122"/>
            </a:endParaRPr>
          </a:p>
        </p:txBody>
      </p:sp>
      <p:sp>
        <p:nvSpPr>
          <p:cNvPr id="17" name="Freeform 15"/>
          <p:cNvSpPr/>
          <p:nvPr/>
        </p:nvSpPr>
        <p:spPr bwMode="auto">
          <a:xfrm>
            <a:off x="3790950" y="2927050"/>
            <a:ext cx="1328738" cy="282575"/>
          </a:xfrm>
          <a:custGeom>
            <a:avLst/>
            <a:gdLst>
              <a:gd name="T0" fmla="*/ 1327839 w 1003"/>
              <a:gd name="T1" fmla="*/ 0 h 231"/>
              <a:gd name="T2" fmla="*/ 1019378 w 1003"/>
              <a:gd name="T3" fmla="*/ 277402 h 231"/>
              <a:gd name="T4" fmla="*/ 0 w 1003"/>
              <a:gd name="T5" fmla="*/ 282290 h 231"/>
              <a:gd name="T6" fmla="*/ 0 60000 65536"/>
              <a:gd name="T7" fmla="*/ 0 60000 65536"/>
              <a:gd name="T8" fmla="*/ 0 60000 65536"/>
            </a:gdLst>
            <a:ahLst/>
            <a:cxnLst>
              <a:cxn ang="T6">
                <a:pos x="T0" y="T1"/>
              </a:cxn>
              <a:cxn ang="T7">
                <a:pos x="T2" y="T3"/>
              </a:cxn>
              <a:cxn ang="T8">
                <a:pos x="T4" y="T5"/>
              </a:cxn>
            </a:cxnLst>
            <a:rect l="0" t="0" r="r" b="b"/>
            <a:pathLst>
              <a:path w="1003" h="231">
                <a:moveTo>
                  <a:pt x="1003" y="0"/>
                </a:moveTo>
                <a:lnTo>
                  <a:pt x="770" y="227"/>
                </a:lnTo>
                <a:lnTo>
                  <a:pt x="0" y="231"/>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Text Box 16"/>
          <p:cNvSpPr txBox="1">
            <a:spLocks noChangeArrowheads="1"/>
          </p:cNvSpPr>
          <p:nvPr/>
        </p:nvSpPr>
        <p:spPr bwMode="auto">
          <a:xfrm>
            <a:off x="481275" y="1199983"/>
            <a:ext cx="679450" cy="307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99"/>
                </a:solidFill>
                <a:latin typeface="微软雅黑" panose="020B0503020204020204" pitchFamily="34" charset="-122"/>
                <a:ea typeface="微软雅黑" panose="020B0503020204020204" pitchFamily="34" charset="-122"/>
              </a:rPr>
              <a:t>主机</a:t>
            </a:r>
            <a:r>
              <a:rPr kumimoji="1" lang="en-US" altLang="zh-CN" sz="1400" b="1" dirty="0">
                <a:solidFill>
                  <a:srgbClr val="000099"/>
                </a:solidFill>
                <a:latin typeface="微软雅黑" panose="020B0503020204020204" pitchFamily="34" charset="-122"/>
                <a:ea typeface="微软雅黑" panose="020B0503020204020204" pitchFamily="34" charset="-122"/>
              </a:rPr>
              <a:t>A</a:t>
            </a:r>
          </a:p>
        </p:txBody>
      </p:sp>
      <p:sp>
        <p:nvSpPr>
          <p:cNvPr id="21" name="Text Box 19"/>
          <p:cNvSpPr txBox="1">
            <a:spLocks noChangeArrowheads="1"/>
          </p:cNvSpPr>
          <p:nvPr/>
        </p:nvSpPr>
        <p:spPr bwMode="auto">
          <a:xfrm>
            <a:off x="5327310" y="3825189"/>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latin typeface="微软雅黑" panose="020B0503020204020204" pitchFamily="34" charset="-122"/>
                <a:ea typeface="微软雅黑" panose="020B0503020204020204" pitchFamily="34" charset="-122"/>
              </a:rPr>
              <a:t>网络 </a:t>
            </a:r>
            <a:r>
              <a:rPr kumimoji="1" lang="en-US" altLang="zh-CN" sz="1400" b="1">
                <a:latin typeface="微软雅黑" panose="020B0503020204020204" pitchFamily="34" charset="-122"/>
                <a:ea typeface="微软雅黑" panose="020B0503020204020204" pitchFamily="34" charset="-122"/>
              </a:rPr>
              <a:t>2</a:t>
            </a:r>
          </a:p>
        </p:txBody>
      </p:sp>
      <p:sp>
        <p:nvSpPr>
          <p:cNvPr id="22" name="Text Box 20"/>
          <p:cNvSpPr txBox="1">
            <a:spLocks noChangeArrowheads="1"/>
          </p:cNvSpPr>
          <p:nvPr/>
        </p:nvSpPr>
        <p:spPr bwMode="auto">
          <a:xfrm>
            <a:off x="2698149" y="3853980"/>
            <a:ext cx="707245"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网络 </a:t>
            </a:r>
            <a:r>
              <a:rPr kumimoji="1" lang="en-US" altLang="zh-CN" sz="1400" b="1" dirty="0">
                <a:latin typeface="微软雅黑" panose="020B0503020204020204" pitchFamily="34" charset="-122"/>
                <a:ea typeface="微软雅黑" panose="020B0503020204020204" pitchFamily="34" charset="-122"/>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Text Box 25"/>
          <p:cNvSpPr txBox="1">
            <a:spLocks noChangeArrowheads="1"/>
          </p:cNvSpPr>
          <p:nvPr/>
        </p:nvSpPr>
        <p:spPr bwMode="auto">
          <a:xfrm>
            <a:off x="6659646" y="2253950"/>
            <a:ext cx="723900" cy="14589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应用层</a:t>
            </a:r>
          </a:p>
          <a:p>
            <a:pPr algn="ctr">
              <a:lnSpc>
                <a:spcPct val="130000"/>
              </a:lnSpc>
            </a:pPr>
            <a:r>
              <a:rPr kumimoji="1" lang="zh-CN" altLang="en-US" sz="1400" b="1" dirty="0">
                <a:solidFill>
                  <a:schemeClr val="bg1"/>
                </a:solidFill>
                <a:latin typeface="微软雅黑" panose="020B0503020204020204" pitchFamily="34" charset="-122"/>
                <a:ea typeface="微软雅黑" panose="020B0503020204020204" pitchFamily="34" charset="-122"/>
              </a:rPr>
              <a:t>运输层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网际层</a:t>
            </a:r>
          </a:p>
          <a:p>
            <a:pPr algn="ctr">
              <a:lnSpc>
                <a:spcPct val="130000"/>
              </a:lnSpc>
              <a:spcBef>
                <a:spcPts val="200"/>
              </a:spcBef>
            </a:pPr>
            <a:r>
              <a:rPr kumimoji="1" lang="zh-CN" altLang="en-US" sz="1400" b="1" dirty="0">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dirty="0">
                <a:solidFill>
                  <a:schemeClr val="bg1"/>
                </a:solidFill>
                <a:latin typeface="微软雅黑" panose="020B0503020204020204" pitchFamily="34" charset="-122"/>
                <a:ea typeface="微软雅黑" panose="020B0503020204020204" pitchFamily="34" charset="-122"/>
              </a:rPr>
              <a:t>接口层</a:t>
            </a:r>
          </a:p>
        </p:txBody>
      </p:sp>
      <p:sp>
        <p:nvSpPr>
          <p:cNvPr id="28" name="Text Box 26"/>
          <p:cNvSpPr txBox="1">
            <a:spLocks noChangeArrowheads="1"/>
          </p:cNvSpPr>
          <p:nvPr/>
        </p:nvSpPr>
        <p:spPr bwMode="auto">
          <a:xfrm>
            <a:off x="3935413" y="2869900"/>
            <a:ext cx="723900" cy="846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网际层</a:t>
            </a:r>
          </a:p>
          <a:p>
            <a:pPr algn="ctr">
              <a:lnSpc>
                <a:spcPct val="130000"/>
              </a:lnSpc>
            </a:pPr>
            <a:r>
              <a:rPr kumimoji="1" lang="zh-CN" altLang="en-US" sz="1400" b="1">
                <a:solidFill>
                  <a:schemeClr val="bg1"/>
                </a:solidFill>
                <a:latin typeface="微软雅黑" panose="020B0503020204020204" pitchFamily="34" charset="-122"/>
                <a:ea typeface="微软雅黑" panose="020B0503020204020204" pitchFamily="34" charset="-122"/>
              </a:rPr>
              <a:t>网络</a:t>
            </a:r>
          </a:p>
          <a:p>
            <a:pPr algn="ctr">
              <a:lnSpc>
                <a:spcPct val="90000"/>
              </a:lnSpc>
            </a:pPr>
            <a:r>
              <a:rPr kumimoji="1" lang="zh-CN" altLang="en-US" sz="1400" b="1">
                <a:solidFill>
                  <a:schemeClr val="bg1"/>
                </a:solidFill>
                <a:latin typeface="微软雅黑" panose="020B0503020204020204" pitchFamily="34" charset="-122"/>
                <a:ea typeface="微软雅黑" panose="020B0503020204020204" pitchFamily="34" charset="-122"/>
              </a:rPr>
              <a:t>接口层</a:t>
            </a:r>
          </a:p>
        </p:txBody>
      </p:sp>
      <p:sp>
        <p:nvSpPr>
          <p:cNvPr id="29" name="Text Box 27"/>
          <p:cNvSpPr txBox="1">
            <a:spLocks noChangeArrowheads="1"/>
          </p:cNvSpPr>
          <p:nvPr/>
        </p:nvSpPr>
        <p:spPr bwMode="auto">
          <a:xfrm>
            <a:off x="684000" y="2233312"/>
            <a:ext cx="311150" cy="1433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4</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3</a:t>
            </a:r>
          </a:p>
          <a:p>
            <a:pPr algn="ctr">
              <a:lnSpc>
                <a:spcPct val="130000"/>
              </a:lnSpc>
            </a:pPr>
            <a:r>
              <a:rPr kumimoji="1" lang="en-US" altLang="zh-CN" sz="1600" b="1">
                <a:solidFill>
                  <a:srgbClr val="000099"/>
                </a:solidFill>
                <a:latin typeface="微软雅黑" panose="020B0503020204020204" pitchFamily="34" charset="-122"/>
                <a:ea typeface="微软雅黑" panose="020B0503020204020204" pitchFamily="34" charset="-122"/>
              </a:rPr>
              <a:t>2</a:t>
            </a:r>
          </a:p>
          <a:p>
            <a:pPr algn="ctr">
              <a:lnSpc>
                <a:spcPct val="155000"/>
              </a:lnSpc>
            </a:pPr>
            <a:r>
              <a:rPr kumimoji="1" lang="en-US" altLang="zh-CN" sz="1600" b="1">
                <a:solidFill>
                  <a:srgbClr val="000099"/>
                </a:solidFill>
                <a:latin typeface="微软雅黑" panose="020B0503020204020204" pitchFamily="34" charset="-122"/>
                <a:ea typeface="微软雅黑" panose="020B0503020204020204" pitchFamily="34" charset="-122"/>
              </a:rPr>
              <a:t>1</a:t>
            </a:r>
          </a:p>
        </p:txBody>
      </p:sp>
      <p:sp>
        <p:nvSpPr>
          <p:cNvPr id="30" name="矩形 30"/>
          <p:cNvSpPr>
            <a:spLocks noChangeArrowheads="1"/>
          </p:cNvSpPr>
          <p:nvPr/>
        </p:nvSpPr>
        <p:spPr bwMode="auto">
          <a:xfrm>
            <a:off x="3168612"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 </a:t>
            </a:r>
          </a:p>
        </p:txBody>
      </p:sp>
      <p:sp>
        <p:nvSpPr>
          <p:cNvPr id="32" name="Text Box 29"/>
          <p:cNvSpPr txBox="1">
            <a:spLocks noChangeArrowheads="1"/>
          </p:cNvSpPr>
          <p:nvPr/>
        </p:nvSpPr>
        <p:spPr bwMode="auto">
          <a:xfrm>
            <a:off x="1419936" y="1075100"/>
            <a:ext cx="6543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A</a:t>
            </a:r>
          </a:p>
        </p:txBody>
      </p:sp>
      <p:sp>
        <p:nvSpPr>
          <p:cNvPr id="33" name="Text Box 29"/>
          <p:cNvSpPr txBox="1">
            <a:spLocks noChangeArrowheads="1"/>
          </p:cNvSpPr>
          <p:nvPr/>
        </p:nvSpPr>
        <p:spPr bwMode="auto">
          <a:xfrm>
            <a:off x="6900196" y="1075100"/>
            <a:ext cx="6447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主机 </a:t>
            </a:r>
            <a:r>
              <a:rPr kumimoji="1" lang="en-US" altLang="zh-CN" sz="1200" b="1" dirty="0">
                <a:solidFill>
                  <a:srgbClr val="C00000"/>
                </a:solidFill>
                <a:latin typeface="微软雅黑" panose="020B0503020204020204" pitchFamily="34" charset="-122"/>
                <a:ea typeface="微软雅黑" panose="020B0503020204020204" pitchFamily="34" charset="-122"/>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C00000"/>
                </a:solidFill>
                <a:latin typeface="微软雅黑" panose="020B0503020204020204" pitchFamily="34" charset="-122"/>
                <a:ea typeface="微软雅黑" panose="020B0503020204020204" pitchFamily="34" charset="-122"/>
              </a:rPr>
              <a:t>路由器</a:t>
            </a:r>
            <a:endParaRPr kumimoji="1" lang="en-US" altLang="zh-CN" sz="1200" b="1" dirty="0">
              <a:solidFill>
                <a:srgbClr val="C00000"/>
              </a:solidFill>
              <a:latin typeface="微软雅黑" panose="020B0503020204020204" pitchFamily="34" charset="-122"/>
              <a:ea typeface="微软雅黑" panose="020B0503020204020204" pitchFamily="34" charset="-122"/>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49" name="文本框 48"/>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1</a:t>
              </a:r>
              <a:endParaRPr lang="zh-CN" altLang="en-US" sz="1200" b="1" dirty="0">
                <a:latin typeface="微软雅黑" panose="020B0503020204020204" pitchFamily="34" charset="-122"/>
                <a:ea typeface="微软雅黑" panose="020B0503020204020204" pitchFamily="34" charset="-122"/>
              </a:endParaRPr>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53" name="文本框 52"/>
            <p:cNvSpPr txBox="1"/>
            <p:nvPr/>
          </p:nvSpPr>
          <p:spPr>
            <a:xfrm>
              <a:off x="2702534" y="1377137"/>
              <a:ext cx="633507" cy="2769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rPr>
                <a:t>网络 </a:t>
              </a:r>
              <a:r>
                <a:rPr lang="en-US" altLang="zh-CN" sz="1200" b="1" dirty="0">
                  <a:latin typeface="微软雅黑" panose="020B0503020204020204" pitchFamily="34" charset="-122"/>
                  <a:ea typeface="微软雅黑" panose="020B0503020204020204" pitchFamily="34" charset="-122"/>
                </a:rPr>
                <a:t>2</a:t>
              </a:r>
              <a:endParaRPr lang="zh-CN" altLang="en-US" sz="12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sz="quarter" idx="4294967295"/>
          </p:nvPr>
        </p:nvSpPr>
        <p:spPr>
          <a:xfrm>
            <a:off x="612000" y="720000"/>
            <a:ext cx="7920000" cy="3960000"/>
          </a:xfrm>
        </p:spPr>
        <p:txBody>
          <a:bodyPr/>
          <a:lstStyle/>
          <a:p>
            <a:r>
              <a:rPr lang="zh-CN" altLang="en-US" dirty="0"/>
              <a:t>现在互联网使用的 </a:t>
            </a:r>
            <a:r>
              <a:rPr lang="en-US" altLang="zh-CN" dirty="0"/>
              <a:t>TCP/IP </a:t>
            </a:r>
            <a:r>
              <a:rPr lang="zh-CN" altLang="en-US" dirty="0"/>
              <a:t>体系结构已经发生了演变，即某些应用程序可以直接使用 </a:t>
            </a:r>
            <a:r>
              <a:rPr lang="en-US" altLang="zh-CN" dirty="0"/>
              <a:t>IP </a:t>
            </a:r>
            <a:r>
              <a:rPr lang="zh-CN" altLang="en-US" dirty="0"/>
              <a:t>层，或甚至直接使用最下面的网络接口层。</a:t>
            </a:r>
          </a:p>
          <a:p>
            <a:endParaRPr lang="zh-CN" altLang="en-US" dirty="0"/>
          </a:p>
        </p:txBody>
      </p:sp>
      <p:sp>
        <p:nvSpPr>
          <p:cNvPr id="4" name="文本占位符 3"/>
          <p:cNvSpPr>
            <a:spLocks noGrp="1"/>
          </p:cNvSpPr>
          <p:nvPr>
            <p:ph type="body" sz="quarter" idx="4294967295"/>
          </p:nvPr>
        </p:nvSpPr>
        <p:spPr>
          <a:xfrm>
            <a:off x="0" y="153988"/>
            <a:ext cx="6632575" cy="338137"/>
          </a:xfrm>
        </p:spPr>
        <p:txBody>
          <a:bodyPr>
            <a:normAutofit lnSpcReduction="10000"/>
          </a:bodyPr>
          <a:lstStyle/>
          <a:p>
            <a:r>
              <a:rPr lang="en-US" altLang="zh-CN" dirty="0"/>
              <a:t>TCP/IP </a:t>
            </a:r>
            <a:r>
              <a:rPr lang="zh-CN" altLang="en-US" dirty="0"/>
              <a:t>体系结构的另一种表示方法</a:t>
            </a:r>
          </a:p>
        </p:txBody>
      </p:sp>
      <p:sp>
        <p:nvSpPr>
          <p:cNvPr id="5" name="圆角矩形 4"/>
          <p:cNvSpPr/>
          <p:nvPr/>
        </p:nvSpPr>
        <p:spPr>
          <a:xfrm>
            <a:off x="505072" y="1828799"/>
            <a:ext cx="7658625" cy="240832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6" name="组合 5"/>
          <p:cNvGrpSpPr/>
          <p:nvPr/>
        </p:nvGrpSpPr>
        <p:grpSpPr bwMode="auto">
          <a:xfrm>
            <a:off x="2862264" y="2042984"/>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Text Box 10"/>
            <p:cNvSpPr txBox="1">
              <a:spLocks noChangeArrowheads="1"/>
            </p:cNvSpPr>
            <p:nvPr/>
          </p:nvSpPr>
          <p:spPr bwMode="auto">
            <a:xfrm>
              <a:off x="2900239" y="3991336"/>
              <a:ext cx="1505317"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dirty="0">
                  <a:solidFill>
                    <a:srgbClr val="000066"/>
                  </a:solidFill>
                  <a:latin typeface="微软雅黑" panose="020B0503020204020204" pitchFamily="34" charset="-122"/>
                  <a:ea typeface="微软雅黑" panose="020B0503020204020204" pitchFamily="34" charset="-122"/>
                </a:rPr>
                <a:t>TCP    UDP</a:t>
              </a:r>
            </a:p>
          </p:txBody>
        </p:sp>
        <p:sp>
          <p:nvSpPr>
            <p:cNvPr id="13" name="Text Box 11"/>
            <p:cNvSpPr txBox="1">
              <a:spLocks noChangeArrowheads="1"/>
            </p:cNvSpPr>
            <p:nvPr/>
          </p:nvSpPr>
          <p:spPr bwMode="auto">
            <a:xfrm>
              <a:off x="3804968" y="4550166"/>
              <a:ext cx="43939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b="1">
                  <a:solidFill>
                    <a:srgbClr val="000066"/>
                  </a:solidFill>
                  <a:latin typeface="微软雅黑" panose="020B0503020204020204" pitchFamily="34" charset="-122"/>
                  <a:ea typeface="微软雅黑" panose="020B0503020204020204" pitchFamily="34" charset="-122"/>
                </a:rPr>
                <a:t>IP</a:t>
              </a:r>
            </a:p>
          </p:txBody>
        </p:sp>
        <p:sp>
          <p:nvSpPr>
            <p:cNvPr id="14" name="Text Box 4"/>
            <p:cNvSpPr txBox="1">
              <a:spLocks noChangeArrowheads="1"/>
            </p:cNvSpPr>
            <p:nvPr/>
          </p:nvSpPr>
          <p:spPr bwMode="auto">
            <a:xfrm>
              <a:off x="4149216" y="3470787"/>
              <a:ext cx="931208"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应用层</a:t>
              </a:r>
            </a:p>
          </p:txBody>
        </p:sp>
        <p:sp>
          <p:nvSpPr>
            <p:cNvPr id="15" name="Text Box 12"/>
            <p:cNvSpPr txBox="1">
              <a:spLocks noChangeArrowheads="1"/>
            </p:cNvSpPr>
            <p:nvPr/>
          </p:nvSpPr>
          <p:spPr bwMode="auto">
            <a:xfrm>
              <a:off x="3328057" y="5068067"/>
              <a:ext cx="2646592" cy="404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b="1" dirty="0">
                  <a:solidFill>
                    <a:srgbClr val="000066"/>
                  </a:solidFill>
                  <a:latin typeface="微软雅黑" panose="020B0503020204020204" pitchFamily="34" charset="-122"/>
                  <a:ea typeface="微软雅黑" panose="020B0503020204020204" pitchFamily="34" charset="-122"/>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Everything over IP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层可以支持多种的运输层协议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7" name="Text Box 23"/>
          <p:cNvSpPr txBox="1">
            <a:spLocks noChangeArrowheads="1"/>
          </p:cNvSpPr>
          <p:nvPr/>
        </p:nvSpPr>
        <p:spPr bwMode="auto">
          <a:xfrm>
            <a:off x="4462850"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8" name="Text Box 24"/>
          <p:cNvSpPr txBox="1">
            <a:spLocks noChangeArrowheads="1"/>
          </p:cNvSpPr>
          <p:nvPr/>
        </p:nvSpPr>
        <p:spPr bwMode="auto">
          <a:xfrm>
            <a:off x="4165987" y="3648500"/>
            <a:ext cx="38985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99"/>
                </a:solidFill>
                <a:latin typeface="Times New Roman" panose="02020603050405020304" pitchFamily="18" charset="0"/>
                <a:ea typeface="微软雅黑 Light" panose="020B0502040204020203" pitchFamily="34"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dirty="0">
                <a:solidFill>
                  <a:schemeClr val="bg1"/>
                </a:solidFill>
                <a:ea typeface="微软雅黑 Light" panose="020B0502040204020203" pitchFamily="34"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43" name="内容占位符 42">
            <a:extLst>
              <a:ext uri="{FF2B5EF4-FFF2-40B4-BE49-F238E27FC236}">
                <a16:creationId xmlns:a16="http://schemas.microsoft.com/office/drawing/2014/main" id="{031E8E93-46E1-BD6A-F031-5200A016A9FF}"/>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93124" y="1008414"/>
            <a:ext cx="7801233" cy="33676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grpSp>
        <p:nvGrpSpPr>
          <p:cNvPr id="5" name="组合 33"/>
          <p:cNvGrpSpPr/>
          <p:nvPr/>
        </p:nvGrpSpPr>
        <p:grpSpPr bwMode="auto">
          <a:xfrm>
            <a:off x="1160463" y="1419949"/>
            <a:ext cx="1604962" cy="2439298"/>
            <a:chOff x="961895" y="2010459"/>
            <a:chExt cx="1695715" cy="2836863"/>
          </a:xfrm>
        </p:grpSpPr>
        <p:sp>
          <p:nvSpPr>
            <p:cNvPr id="6" name="Rectangle 14"/>
            <p:cNvSpPr>
              <a:spLocks noChangeArrowheads="1"/>
            </p:cNvSpPr>
            <p:nvPr/>
          </p:nvSpPr>
          <p:spPr bwMode="auto">
            <a:xfrm>
              <a:off x="961895" y="2010459"/>
              <a:ext cx="1695715" cy="2836863"/>
            </a:xfrm>
            <a:prstGeom prst="rect">
              <a:avLst/>
            </a:prstGeom>
            <a:solidFill>
              <a:srgbClr val="0070C0"/>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7" name="Text Box 15"/>
            <p:cNvSpPr txBox="1">
              <a:spLocks noChangeArrowheads="1"/>
            </p:cNvSpPr>
            <p:nvPr/>
          </p:nvSpPr>
          <p:spPr bwMode="auto">
            <a:xfrm>
              <a:off x="1126950" y="402720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8"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 name="Text Box 20"/>
            <p:cNvSpPr txBox="1">
              <a:spLocks noChangeArrowheads="1"/>
            </p:cNvSpPr>
            <p:nvPr/>
          </p:nvSpPr>
          <p:spPr bwMode="auto">
            <a:xfrm>
              <a:off x="1393516" y="447011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13" name="Text Box 21"/>
            <p:cNvSpPr txBox="1">
              <a:spLocks noChangeArrowheads="1"/>
            </p:cNvSpPr>
            <p:nvPr/>
          </p:nvSpPr>
          <p:spPr bwMode="auto">
            <a:xfrm>
              <a:off x="1393516" y="315567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14" name="Text Box 22"/>
            <p:cNvSpPr txBox="1">
              <a:spLocks noChangeArrowheads="1"/>
            </p:cNvSpPr>
            <p:nvPr/>
          </p:nvSpPr>
          <p:spPr bwMode="auto">
            <a:xfrm>
              <a:off x="1393516" y="359858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15" name="Line 23"/>
            <p:cNvSpPr>
              <a:spLocks noChangeShapeType="1"/>
            </p:cNvSpPr>
            <p:nvPr/>
          </p:nvSpPr>
          <p:spPr bwMode="auto">
            <a:xfrm>
              <a:off x="1795994" y="2847288"/>
              <a:ext cx="0" cy="22679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6" name="Text Box 31"/>
            <p:cNvSpPr txBox="1">
              <a:spLocks noChangeArrowheads="1"/>
            </p:cNvSpPr>
            <p:nvPr/>
          </p:nvSpPr>
          <p:spPr bwMode="auto">
            <a:xfrm>
              <a:off x="1411236" y="203452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grpSp>
        <p:nvGrpSpPr>
          <p:cNvPr id="17" name="组合 45"/>
          <p:cNvGrpSpPr/>
          <p:nvPr/>
        </p:nvGrpSpPr>
        <p:grpSpPr bwMode="auto">
          <a:xfrm>
            <a:off x="6234113" y="1419949"/>
            <a:ext cx="1604962" cy="2439298"/>
            <a:chOff x="961895" y="2010459"/>
            <a:chExt cx="1695715" cy="2836863"/>
          </a:xfrm>
          <a:effectLst/>
        </p:grpSpPr>
        <p:sp>
          <p:nvSpPr>
            <p:cNvPr id="18" name="Rectangle 14"/>
            <p:cNvSpPr>
              <a:spLocks noChangeArrowheads="1"/>
            </p:cNvSpPr>
            <p:nvPr/>
          </p:nvSpPr>
          <p:spPr bwMode="auto">
            <a:xfrm>
              <a:off x="961895" y="2010459"/>
              <a:ext cx="1695715" cy="2836863"/>
            </a:xfrm>
            <a:prstGeom prst="rect">
              <a:avLst/>
            </a:prstGeom>
            <a:solidFill>
              <a:srgbClr val="339933"/>
            </a:solidFill>
            <a:ln w="19050">
              <a:solidFill>
                <a:schemeClr val="tx1"/>
              </a:solidFill>
              <a:miter lim="800000"/>
            </a:ln>
            <a:effectLst/>
          </p:spPr>
          <p:txBody>
            <a:bodyPr wrap="none" anchor="ctr"/>
            <a:lstStyle/>
            <a:p>
              <a:endParaRPr lang="zh-CN" altLang="en-US" b="1">
                <a:solidFill>
                  <a:srgbClr val="0000FF"/>
                </a:solidFill>
                <a:latin typeface="微软雅黑" panose="020B0503020204020204" pitchFamily="34" charset="-122"/>
                <a:ea typeface="微软雅黑" panose="020B0503020204020204" pitchFamily="34" charset="-122"/>
              </a:endParaRPr>
            </a:p>
          </p:txBody>
        </p:sp>
        <p:sp>
          <p:nvSpPr>
            <p:cNvPr id="19" name="Text Box 15"/>
            <p:cNvSpPr txBox="1">
              <a:spLocks noChangeArrowheads="1"/>
            </p:cNvSpPr>
            <p:nvPr/>
          </p:nvSpPr>
          <p:spPr bwMode="auto">
            <a:xfrm>
              <a:off x="1242130" y="4009487"/>
              <a:ext cx="121058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数据链路层</a:t>
              </a:r>
            </a:p>
          </p:txBody>
        </p:sp>
        <p:sp>
          <p:nvSpPr>
            <p:cNvPr id="20" name="Line 16"/>
            <p:cNvSpPr>
              <a:spLocks noChangeShapeType="1"/>
            </p:cNvSpPr>
            <p:nvPr/>
          </p:nvSpPr>
          <p:spPr bwMode="auto">
            <a:xfrm>
              <a:off x="961895" y="4404408"/>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961895" y="3961496"/>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Line 18"/>
            <p:cNvSpPr>
              <a:spLocks noChangeShapeType="1"/>
            </p:cNvSpPr>
            <p:nvPr/>
          </p:nvSpPr>
          <p:spPr bwMode="auto">
            <a:xfrm>
              <a:off x="961895" y="35185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3" name="Line 19"/>
            <p:cNvSpPr>
              <a:spLocks noChangeShapeType="1"/>
            </p:cNvSpPr>
            <p:nvPr/>
          </p:nvSpPr>
          <p:spPr bwMode="auto">
            <a:xfrm>
              <a:off x="961895" y="3074083"/>
              <a:ext cx="169571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428956" y="445239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物理层</a:t>
              </a:r>
            </a:p>
          </p:txBody>
        </p:sp>
        <p:sp>
          <p:nvSpPr>
            <p:cNvPr id="25" name="Text Box 21"/>
            <p:cNvSpPr txBox="1">
              <a:spLocks noChangeArrowheads="1"/>
            </p:cNvSpPr>
            <p:nvPr/>
          </p:nvSpPr>
          <p:spPr bwMode="auto">
            <a:xfrm>
              <a:off x="1428956" y="313795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运输层</a:t>
              </a:r>
            </a:p>
          </p:txBody>
        </p:sp>
        <p:sp>
          <p:nvSpPr>
            <p:cNvPr id="26" name="Text Box 22"/>
            <p:cNvSpPr txBox="1">
              <a:spLocks noChangeArrowheads="1"/>
            </p:cNvSpPr>
            <p:nvPr/>
          </p:nvSpPr>
          <p:spPr bwMode="auto">
            <a:xfrm>
              <a:off x="1428956" y="3580863"/>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网络层</a:t>
              </a:r>
            </a:p>
          </p:txBody>
        </p:sp>
        <p:sp>
          <p:nvSpPr>
            <p:cNvPr id="27" name="Line 23"/>
            <p:cNvSpPr>
              <a:spLocks noChangeShapeType="1"/>
            </p:cNvSpPr>
            <p:nvPr/>
          </p:nvSpPr>
          <p:spPr bwMode="auto">
            <a:xfrm>
              <a:off x="1795994" y="2847288"/>
              <a:ext cx="0" cy="22679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8" name="Text Box 31"/>
            <p:cNvSpPr txBox="1">
              <a:spLocks noChangeArrowheads="1"/>
            </p:cNvSpPr>
            <p:nvPr/>
          </p:nvSpPr>
          <p:spPr bwMode="auto">
            <a:xfrm>
              <a:off x="1420096" y="2025669"/>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500" b="1">
                  <a:solidFill>
                    <a:schemeClr val="bg1"/>
                  </a:solidFill>
                  <a:latin typeface="微软雅黑" panose="020B0503020204020204" pitchFamily="34" charset="-122"/>
                  <a:ea typeface="微软雅黑" panose="020B0503020204020204" pitchFamily="34" charset="-122"/>
                </a:rPr>
                <a:t>应用层</a:t>
              </a:r>
            </a:p>
          </p:txBody>
        </p:sp>
      </p:grpSp>
      <p:sp>
        <p:nvSpPr>
          <p:cNvPr id="29" name="Freeform 3"/>
          <p:cNvSpPr/>
          <p:nvPr/>
        </p:nvSpPr>
        <p:spPr bwMode="auto">
          <a:xfrm>
            <a:off x="1849438" y="3862534"/>
            <a:ext cx="5186362" cy="242521"/>
          </a:xfrm>
          <a:custGeom>
            <a:avLst/>
            <a:gdLst>
              <a:gd name="T0" fmla="*/ 0 w 2752"/>
              <a:gd name="T1" fmla="*/ 0 h 240"/>
              <a:gd name="T2" fmla="*/ 0 w 2752"/>
              <a:gd name="T3" fmla="*/ 121108 h 240"/>
              <a:gd name="T4" fmla="*/ 5654 w 2752"/>
              <a:gd name="T5" fmla="*/ 205356 h 240"/>
              <a:gd name="T6" fmla="*/ 56536 w 2752"/>
              <a:gd name="T7" fmla="*/ 280391 h 240"/>
              <a:gd name="T8" fmla="*/ 180915 w 2752"/>
              <a:gd name="T9" fmla="*/ 308035 h 240"/>
              <a:gd name="T10" fmla="*/ 260065 w 2752"/>
              <a:gd name="T11" fmla="*/ 310667 h 240"/>
              <a:gd name="T12" fmla="*/ 4939357 w 2752"/>
              <a:gd name="T13" fmla="*/ 313300 h 240"/>
              <a:gd name="T14" fmla="*/ 5031699 w 2752"/>
              <a:gd name="T15" fmla="*/ 315933 h 240"/>
              <a:gd name="T16" fmla="*/ 5139118 w 2752"/>
              <a:gd name="T17" fmla="*/ 284340 h 240"/>
              <a:gd name="T18" fmla="*/ 5178693 w 2752"/>
              <a:gd name="T19" fmla="*/ 209306 h 240"/>
              <a:gd name="T20" fmla="*/ 5186231 w 2752"/>
              <a:gd name="T21" fmla="*/ 148752 h 240"/>
              <a:gd name="T22" fmla="*/ 5184346 w 2752"/>
              <a:gd name="T23" fmla="*/ 0 h 2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52" h="240">
                <a:moveTo>
                  <a:pt x="0" y="0"/>
                </a:moveTo>
                <a:lnTo>
                  <a:pt x="0" y="92"/>
                </a:lnTo>
                <a:lnTo>
                  <a:pt x="3" y="156"/>
                </a:lnTo>
                <a:lnTo>
                  <a:pt x="30" y="213"/>
                </a:lnTo>
                <a:lnTo>
                  <a:pt x="96" y="234"/>
                </a:lnTo>
                <a:lnTo>
                  <a:pt x="138" y="236"/>
                </a:lnTo>
                <a:lnTo>
                  <a:pt x="2621" y="238"/>
                </a:lnTo>
                <a:lnTo>
                  <a:pt x="2670" y="240"/>
                </a:lnTo>
                <a:lnTo>
                  <a:pt x="2727" y="216"/>
                </a:lnTo>
                <a:lnTo>
                  <a:pt x="2748" y="159"/>
                </a:lnTo>
                <a:lnTo>
                  <a:pt x="2752" y="113"/>
                </a:lnTo>
                <a:lnTo>
                  <a:pt x="2751" y="0"/>
                </a:lnTo>
              </a:path>
            </a:pathLst>
          </a:custGeom>
          <a:noFill/>
          <a:ln w="38100" cmpd="sng">
            <a:solidFill>
              <a:srgbClr val="0070C0"/>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aphicFrame>
        <p:nvGraphicFramePr>
          <p:cNvPr id="30" name="Object 4"/>
          <p:cNvGraphicFramePr>
            <a:graphicFrameLocks noChangeAspect="1"/>
          </p:cNvGraphicFramePr>
          <p:nvPr>
            <p:extLst>
              <p:ext uri="{D42A27DB-BD31-4B8C-83A1-F6EECF244321}">
                <p14:modId xmlns:p14="http://schemas.microsoft.com/office/powerpoint/2010/main" val="1744239413"/>
              </p:ext>
            </p:extLst>
          </p:nvPr>
        </p:nvGraphicFramePr>
        <p:xfrm>
          <a:off x="3932238" y="3635796"/>
          <a:ext cx="1417637" cy="71913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32238" y="3635796"/>
                        <a:ext cx="1417637" cy="719138"/>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27"/>
            <p:cNvSpPr txBox="1">
              <a:spLocks noChangeArrowheads="1"/>
            </p:cNvSpPr>
            <p:nvPr/>
          </p:nvSpPr>
          <p:spPr bwMode="auto">
            <a:xfrm>
              <a:off x="2013"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a:solidFill>
                    <a:srgbClr val="0000FF"/>
                  </a:solidFill>
                  <a:latin typeface="微软雅黑" panose="020B0503020204020204" pitchFamily="34" charset="-122"/>
                  <a:ea typeface="微软雅黑" panose="020B0503020204020204" pitchFamily="34" charset="-122"/>
                </a:rPr>
                <a:t>① </a:t>
              </a:r>
              <a:r>
                <a:rPr kumimoji="1" lang="zh-CN" altLang="en-US" sz="1400" b="1">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6" name="Text Box 30"/>
            <p:cNvSpPr txBox="1">
              <a:spLocks noChangeArrowheads="1"/>
            </p:cNvSpPr>
            <p:nvPr/>
          </p:nvSpPr>
          <p:spPr bwMode="auto">
            <a:xfrm>
              <a:off x="2017"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37" name="Text Box 33"/>
          <p:cNvSpPr txBox="1">
            <a:spLocks noChangeArrowheads="1"/>
          </p:cNvSpPr>
          <p:nvPr/>
        </p:nvSpPr>
        <p:spPr bwMode="auto">
          <a:xfrm>
            <a:off x="4235450" y="3807632"/>
            <a:ext cx="8001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nvGrpSpPr>
          <p:cNvPr id="38" name="Group 34"/>
          <p:cNvGrpSpPr/>
          <p:nvPr/>
        </p:nvGrpSpPr>
        <p:grpSpPr bwMode="auto">
          <a:xfrm>
            <a:off x="1373188" y="1767433"/>
            <a:ext cx="1146175" cy="379157"/>
            <a:chOff x="835" y="1519"/>
            <a:chExt cx="812" cy="335"/>
          </a:xfrm>
        </p:grpSpPr>
        <p:sp>
          <p:nvSpPr>
            <p:cNvPr id="39" name="Oval 35"/>
            <p:cNvSpPr>
              <a:spLocks noChangeArrowheads="1"/>
            </p:cNvSpPr>
            <p:nvPr/>
          </p:nvSpPr>
          <p:spPr bwMode="auto">
            <a:xfrm>
              <a:off x="835" y="1519"/>
              <a:ext cx="812" cy="335"/>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0" name="Text Box 36"/>
            <p:cNvSpPr txBox="1">
              <a:spLocks noChangeArrowheads="1"/>
            </p:cNvSpPr>
            <p:nvPr/>
          </p:nvSpPr>
          <p:spPr bwMode="auto">
            <a:xfrm>
              <a:off x="1031" y="1526"/>
              <a:ext cx="601" cy="326"/>
            </a:xfrm>
            <a:prstGeom prst="rect">
              <a:avLst/>
            </a:prstGeom>
            <a:noFill/>
            <a:ln>
              <a:noFill/>
            </a:ln>
          </p:spPr>
          <p:style>
            <a:lnRef idx="2">
              <a:schemeClr val="accent3"/>
            </a:lnRef>
            <a:fillRef idx="1">
              <a:schemeClr val="lt1"/>
            </a:fillRef>
            <a:effectRef idx="0">
              <a:schemeClr val="accent3"/>
            </a:effectRef>
            <a:fontRef idx="minor">
              <a:schemeClr val="dk1"/>
            </a:fontRef>
          </p:style>
          <p:txBody>
            <a:bodyPr wrap="squar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客户</a:t>
              </a:r>
            </a:p>
          </p:txBody>
        </p:sp>
      </p:grpSp>
      <p:grpSp>
        <p:nvGrpSpPr>
          <p:cNvPr id="41" name="Group 37"/>
          <p:cNvGrpSpPr/>
          <p:nvPr/>
        </p:nvGrpSpPr>
        <p:grpSpPr bwMode="auto">
          <a:xfrm>
            <a:off x="6456766" y="1739689"/>
            <a:ext cx="1152261" cy="397900"/>
            <a:chOff x="4142" y="1536"/>
            <a:chExt cx="670" cy="276"/>
          </a:xfrm>
          <a:solidFill>
            <a:srgbClr val="FFFF00"/>
          </a:solidFill>
        </p:grpSpPr>
        <p:sp>
          <p:nvSpPr>
            <p:cNvPr id="42" name="Oval 38"/>
            <p:cNvSpPr>
              <a:spLocks noChangeArrowheads="1"/>
            </p:cNvSpPr>
            <p:nvPr/>
          </p:nvSpPr>
          <p:spPr bwMode="auto">
            <a:xfrm>
              <a:off x="4142" y="1536"/>
              <a:ext cx="670" cy="276"/>
            </a:xfrm>
            <a:prstGeom prst="ellipse">
              <a:avLst/>
            </a:prstGeom>
            <a:grp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b="1">
                <a:solidFill>
                  <a:srgbClr val="0000FF"/>
                </a:solidFill>
                <a:latin typeface="微软雅黑" panose="020B0503020204020204" pitchFamily="34" charset="-122"/>
                <a:ea typeface="微软雅黑" panose="020B0503020204020204" pitchFamily="34" charset="-122"/>
              </a:endParaRPr>
            </a:p>
          </p:txBody>
        </p:sp>
        <p:sp>
          <p:nvSpPr>
            <p:cNvPr id="43" name="Text Box 39"/>
            <p:cNvSpPr txBox="1">
              <a:spLocks noChangeArrowheads="1"/>
            </p:cNvSpPr>
            <p:nvPr/>
          </p:nvSpPr>
          <p:spPr bwMode="auto">
            <a:xfrm>
              <a:off x="4226" y="1536"/>
              <a:ext cx="513" cy="233"/>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fontAlgn="auto">
                <a:spcBef>
                  <a:spcPts val="0"/>
                </a:spcBef>
                <a:spcAft>
                  <a:spcPts val="0"/>
                </a:spcAft>
                <a:defRPr/>
              </a:pPr>
              <a:r>
                <a:rPr kumimoji="1" lang="zh-CN" altLang="en-US" b="1" dirty="0">
                  <a:solidFill>
                    <a:srgbClr val="0000FF"/>
                  </a:solidFill>
                  <a:latin typeface="微软雅黑" panose="020B0503020204020204" pitchFamily="34" charset="-122"/>
                  <a:ea typeface="微软雅黑" panose="020B0503020204020204" pitchFamily="34" charset="-122"/>
                </a:rPr>
                <a:t>服务器</a:t>
              </a:r>
            </a:p>
          </p:txBody>
        </p:sp>
      </p:grpSp>
      <p:sp>
        <p:nvSpPr>
          <p:cNvPr id="44" name="Text Box 40"/>
          <p:cNvSpPr txBox="1">
            <a:spLocks noChangeArrowheads="1"/>
          </p:cNvSpPr>
          <p:nvPr/>
        </p:nvSpPr>
        <p:spPr bwMode="auto">
          <a:xfrm>
            <a:off x="2934892" y="2604122"/>
            <a:ext cx="3158952" cy="707886"/>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600" b="1" dirty="0">
                <a:solidFill>
                  <a:schemeClr val="tx1"/>
                </a:solidFill>
                <a:latin typeface="微软雅黑" panose="020B0503020204020204" pitchFamily="34" charset="-122"/>
                <a:ea typeface="微软雅黑" panose="020B0503020204020204" pitchFamily="34" charset="-122"/>
              </a:rPr>
              <a:t>所有这些通信实际上都需要使用下面各层所提供的服务。</a:t>
            </a:r>
          </a:p>
        </p:txBody>
      </p:sp>
      <p:sp>
        <p:nvSpPr>
          <p:cNvPr id="46" name="Text Box 38"/>
          <p:cNvSpPr txBox="1">
            <a:spLocks noChangeArrowheads="1"/>
          </p:cNvSpPr>
          <p:nvPr/>
        </p:nvSpPr>
        <p:spPr bwMode="auto">
          <a:xfrm>
            <a:off x="1491785" y="1110675"/>
            <a:ext cx="101502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47" name="Text Box 53"/>
          <p:cNvSpPr txBox="1">
            <a:spLocks noChangeArrowheads="1"/>
          </p:cNvSpPr>
          <p:nvPr/>
        </p:nvSpPr>
        <p:spPr bwMode="auto">
          <a:xfrm>
            <a:off x="6585297" y="1120416"/>
            <a:ext cx="100219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计算机 </a:t>
            </a:r>
            <a:r>
              <a:rPr kumimoji="1" lang="en-US" altLang="zh-CN" sz="1600" b="1" dirty="0">
                <a:solidFill>
                  <a:srgbClr val="0000FF"/>
                </a:solidFill>
                <a:latin typeface="微软雅黑" panose="020B0503020204020204" pitchFamily="34" charset="-122"/>
                <a:ea typeface="微软雅黑" panose="020B0503020204020204" pitchFamily="34" charset="-122"/>
              </a:rPr>
              <a:t>B</a:t>
            </a:r>
          </a:p>
        </p:txBody>
      </p:sp>
      <p:sp>
        <p:nvSpPr>
          <p:cNvPr id="48" name="内容占位符 47">
            <a:extLst>
              <a:ext uri="{FF2B5EF4-FFF2-40B4-BE49-F238E27FC236}">
                <a16:creationId xmlns:a16="http://schemas.microsoft.com/office/drawing/2014/main" id="{F04D4211-9004-B5C3-618F-D6308F595EC9}"/>
              </a:ext>
            </a:extLst>
          </p:cNvPr>
          <p:cNvSpPr>
            <a:spLocks noGrp="1"/>
          </p:cNvSpPr>
          <p:nvPr>
            <p:ph sz="quarter" idx="4294967295"/>
          </p:nvPr>
        </p:nvSpPr>
        <p:spPr>
          <a:xfrm>
            <a:off x="612000" y="720000"/>
            <a:ext cx="7920000" cy="3960000"/>
          </a:xfrm>
        </p:spPr>
        <p:txBody>
          <a:bodyPr/>
          <a:lstStyle/>
          <a:p>
            <a:endParaRPr lang="zh-CN" altLang="en-US"/>
          </a:p>
        </p:txBody>
      </p:sp>
      <p:sp>
        <p:nvSpPr>
          <p:cNvPr id="2" name="文本占位符 1"/>
          <p:cNvSpPr>
            <a:spLocks noGrp="1"/>
          </p:cNvSpPr>
          <p:nvPr>
            <p:ph type="body" sz="quarter" idx="4294967295"/>
          </p:nvPr>
        </p:nvSpPr>
        <p:spPr>
          <a:xfrm>
            <a:off x="0" y="153988"/>
            <a:ext cx="6632575" cy="338137"/>
          </a:xfrm>
        </p:spPr>
        <p:txBody>
          <a:bodyPr>
            <a:normAutofit lnSpcReduction="10000"/>
          </a:bodyPr>
          <a:lstStyle/>
          <a:p>
            <a:r>
              <a:rPr lang="zh-CN" altLang="en-US" dirty="0"/>
              <a:t>互联网中客户</a:t>
            </a:r>
            <a:r>
              <a:rPr lang="en-US" altLang="zh-CN" dirty="0"/>
              <a:t>-</a:t>
            </a:r>
            <a:r>
              <a:rPr lang="zh-CN" altLang="en-US" dirty="0"/>
              <a:t>服务器工作方式</a:t>
            </a:r>
          </a:p>
        </p:txBody>
      </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500" fill="hold"/>
                                        <p:tgtEl>
                                          <p:spTgt spid="38"/>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8" fill="hold" nodeType="after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wipe(left)">
                                      <p:cBhvr>
                                        <p:cTn id="10" dur="500"/>
                                        <p:tgtEl>
                                          <p:spTgt spid="31"/>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nodeType="clickEffect">
                                  <p:stCondLst>
                                    <p:cond delay="0"/>
                                  </p:stCondLst>
                                  <p:childTnLst>
                                    <p:anim calcmode="discrete" valueType="str">
                                      <p:cBhvr>
                                        <p:cTn id="14" dur="500" fill="hold"/>
                                        <p:tgtEl>
                                          <p:spTgt spid="41"/>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34"/>
                                        </p:tgtEl>
                                        <p:attrNameLst>
                                          <p:attrName>style.visibility</p:attrName>
                                        </p:attrNameLst>
                                      </p:cBhvr>
                                      <p:to>
                                        <p:strVal val="visible"/>
                                      </p:to>
                                    </p:set>
                                    <p:animEffect transition="in" filter="wipe(right)">
                                      <p:cBhvr>
                                        <p:cTn id="18" dur="1000"/>
                                        <p:tgtEl>
                                          <p:spTgt spid="34"/>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93124" y="1008414"/>
            <a:ext cx="7801233" cy="33676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4" name="Line 3"/>
          <p:cNvSpPr>
            <a:spLocks noChangeShapeType="1"/>
          </p:cNvSpPr>
          <p:nvPr/>
        </p:nvSpPr>
        <p:spPr bwMode="auto">
          <a:xfrm>
            <a:off x="4537075" y="3490264"/>
            <a:ext cx="0" cy="249620"/>
          </a:xfrm>
          <a:prstGeom prst="line">
            <a:avLst/>
          </a:prstGeom>
          <a:noFill/>
          <a:ln w="3810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Rectangle 4"/>
          <p:cNvSpPr>
            <a:spLocks noChangeArrowheads="1"/>
          </p:cNvSpPr>
          <p:nvPr/>
        </p:nvSpPr>
        <p:spPr bwMode="auto">
          <a:xfrm>
            <a:off x="3365500" y="1423721"/>
            <a:ext cx="2409825" cy="2066925"/>
          </a:xfrm>
          <a:prstGeom prst="rect">
            <a:avLst/>
          </a:prstGeom>
          <a:solidFill>
            <a:srgbClr val="339933"/>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Text Box 10"/>
          <p:cNvSpPr txBox="1">
            <a:spLocks noChangeArrowheads="1"/>
          </p:cNvSpPr>
          <p:nvPr/>
        </p:nvSpPr>
        <p:spPr bwMode="auto">
          <a:xfrm>
            <a:off x="4205288" y="3184259"/>
            <a:ext cx="722312" cy="306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12" name="Text Box 11"/>
          <p:cNvSpPr txBox="1">
            <a:spLocks noChangeArrowheads="1"/>
          </p:cNvSpPr>
          <p:nvPr/>
        </p:nvSpPr>
        <p:spPr bwMode="auto">
          <a:xfrm>
            <a:off x="4205288" y="2253984"/>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13" name="Text Box 12"/>
          <p:cNvSpPr txBox="1">
            <a:spLocks noChangeArrowheads="1"/>
          </p:cNvSpPr>
          <p:nvPr/>
        </p:nvSpPr>
        <p:spPr bwMode="auto">
          <a:xfrm>
            <a:off x="4205288" y="2566721"/>
            <a:ext cx="7223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14" name="Text Box 13"/>
          <p:cNvSpPr txBox="1">
            <a:spLocks noChangeArrowheads="1"/>
          </p:cNvSpPr>
          <p:nvPr/>
        </p:nvSpPr>
        <p:spPr bwMode="auto">
          <a:xfrm>
            <a:off x="4179888" y="1418959"/>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grpSp>
        <p:nvGrpSpPr>
          <p:cNvPr id="16" name="Group 15"/>
          <p:cNvGrpSpPr/>
          <p:nvPr/>
        </p:nvGrpSpPr>
        <p:grpSpPr bwMode="auto">
          <a:xfrm>
            <a:off x="3511550" y="1674546"/>
            <a:ext cx="949325" cy="571500"/>
            <a:chOff x="2100" y="1727"/>
            <a:chExt cx="720" cy="470"/>
          </a:xfrm>
        </p:grpSpPr>
        <p:sp>
          <p:nvSpPr>
            <p:cNvPr id="17" name="Line 16"/>
            <p:cNvSpPr>
              <a:spLocks noChangeShapeType="1"/>
            </p:cNvSpPr>
            <p:nvPr/>
          </p:nvSpPr>
          <p:spPr bwMode="auto">
            <a:xfrm>
              <a:off x="2460" y="2119"/>
              <a:ext cx="1" cy="78"/>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Oval 17"/>
            <p:cNvSpPr>
              <a:spLocks noChangeArrowheads="1"/>
            </p:cNvSpPr>
            <p:nvPr/>
          </p:nvSpPr>
          <p:spPr bwMode="auto">
            <a:xfrm>
              <a:off x="2100" y="1727"/>
              <a:ext cx="720" cy="413"/>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19" name="Text Box 18"/>
            <p:cNvSpPr txBox="1">
              <a:spLocks noChangeArrowheads="1"/>
            </p:cNvSpPr>
            <p:nvPr/>
          </p:nvSpPr>
          <p:spPr bwMode="auto">
            <a:xfrm>
              <a:off x="2164" y="1756"/>
              <a:ext cx="610"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1</a:t>
              </a:r>
            </a:p>
          </p:txBody>
        </p:sp>
      </p:grpSp>
      <p:grpSp>
        <p:nvGrpSpPr>
          <p:cNvPr id="20" name="Group 19"/>
          <p:cNvGrpSpPr/>
          <p:nvPr/>
        </p:nvGrpSpPr>
        <p:grpSpPr bwMode="auto">
          <a:xfrm>
            <a:off x="4679950" y="1693596"/>
            <a:ext cx="949325" cy="566738"/>
            <a:chOff x="2986" y="1727"/>
            <a:chExt cx="719" cy="465"/>
          </a:xfrm>
        </p:grpSpPr>
        <p:sp>
          <p:nvSpPr>
            <p:cNvPr id="21" name="Line 20"/>
            <p:cNvSpPr>
              <a:spLocks noChangeShapeType="1"/>
            </p:cNvSpPr>
            <p:nvPr/>
          </p:nvSpPr>
          <p:spPr bwMode="auto">
            <a:xfrm>
              <a:off x="3344" y="2113"/>
              <a:ext cx="1" cy="77"/>
            </a:xfrm>
            <a:prstGeom prst="line">
              <a:avLst/>
            </a:prstGeom>
            <a:noFill/>
            <a:ln w="28575">
              <a:solidFill>
                <a:srgbClr val="3333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Oval 21"/>
            <p:cNvSpPr>
              <a:spLocks noChangeArrowheads="1"/>
            </p:cNvSpPr>
            <p:nvPr/>
          </p:nvSpPr>
          <p:spPr bwMode="auto">
            <a:xfrm>
              <a:off x="2986" y="1727"/>
              <a:ext cx="719" cy="412"/>
            </a:xfrm>
            <a:prstGeom prst="ellipse">
              <a:avLst/>
            </a:prstGeom>
            <a:solidFill>
              <a:srgbClr val="FFFF00"/>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23" name="Text Box 22"/>
            <p:cNvSpPr txBox="1">
              <a:spLocks noChangeArrowheads="1"/>
            </p:cNvSpPr>
            <p:nvPr/>
          </p:nvSpPr>
          <p:spPr bwMode="auto">
            <a:xfrm>
              <a:off x="3049" y="1752"/>
              <a:ext cx="611" cy="440"/>
            </a:xfrm>
            <a:prstGeom prst="rect">
              <a:avLst/>
            </a:prstGeom>
            <a:noFill/>
            <a:ln>
              <a:noFill/>
            </a:ln>
          </p:spPr>
          <p:style>
            <a:lnRef idx="2">
              <a:schemeClr val="accent4"/>
            </a:lnRef>
            <a:fillRef idx="1">
              <a:schemeClr val="lt1"/>
            </a:fillRef>
            <a:effectRef idx="0">
              <a:schemeClr val="accent4"/>
            </a:effectRef>
            <a:fontRef idx="minor">
              <a:schemeClr val="dk1"/>
            </a:fontRef>
          </p:style>
          <p:txBody>
            <a:bodyPr wrap="none">
              <a:spAutoFit/>
            </a:bodyPr>
            <a:lstStyle/>
            <a:p>
              <a:pPr algn="ctr" fontAlgn="auto">
                <a:lnSpc>
                  <a:spcPct val="90000"/>
                </a:lnSpc>
                <a:spcBef>
                  <a:spcPts val="0"/>
                </a:spcBef>
                <a:spcAft>
                  <a:spcPts val="0"/>
                </a:spcAft>
                <a:defRPr/>
              </a:pPr>
              <a:r>
                <a:rPr kumimoji="1" lang="zh-CN" altLang="en-US" sz="1600" b="1" dirty="0">
                  <a:solidFill>
                    <a:schemeClr val="tx1"/>
                  </a:solidFill>
                  <a:latin typeface="微软雅黑" panose="020B0503020204020204" pitchFamily="34" charset="-122"/>
                  <a:ea typeface="微软雅黑" panose="020B0503020204020204" pitchFamily="34" charset="-122"/>
                </a:rPr>
                <a:t>服务器</a:t>
              </a:r>
            </a:p>
            <a:p>
              <a:pPr algn="ctr" fontAlgn="auto">
                <a:lnSpc>
                  <a:spcPct val="90000"/>
                </a:lnSpc>
                <a:spcBef>
                  <a:spcPts val="0"/>
                </a:spcBef>
                <a:spcAft>
                  <a:spcPts val="0"/>
                </a:spcAft>
                <a:defRPr/>
              </a:pPr>
              <a:r>
                <a:rPr kumimoji="1" lang="en-US" altLang="zh-CN" sz="1600" b="1" dirty="0">
                  <a:solidFill>
                    <a:schemeClr val="tx1"/>
                  </a:solidFill>
                  <a:latin typeface="微软雅黑" panose="020B0503020204020204" pitchFamily="34" charset="-122"/>
                  <a:ea typeface="微软雅黑" panose="020B0503020204020204" pitchFamily="34" charset="-122"/>
                </a:rPr>
                <a:t>2</a:t>
              </a:r>
            </a:p>
          </p:txBody>
        </p:sp>
      </p:grpSp>
      <p:grpSp>
        <p:nvGrpSpPr>
          <p:cNvPr id="24" name="组合 23"/>
          <p:cNvGrpSpPr/>
          <p:nvPr/>
        </p:nvGrpSpPr>
        <p:grpSpPr bwMode="auto">
          <a:xfrm>
            <a:off x="1249363" y="1126859"/>
            <a:ext cx="6569075" cy="2863850"/>
            <a:chOff x="1248628" y="2159392"/>
            <a:chExt cx="6570396" cy="2864425"/>
          </a:xfrm>
        </p:grpSpPr>
        <p:sp>
          <p:nvSpPr>
            <p:cNvPr id="25" name="Freeform 24"/>
            <p:cNvSpPr/>
            <p:nvPr/>
          </p:nvSpPr>
          <p:spPr bwMode="auto">
            <a:xfrm>
              <a:off x="1856851" y="4523273"/>
              <a:ext cx="5364504" cy="5005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38100" cmpd="sng">
              <a:solidFill>
                <a:srgbClr val="368AD6"/>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26" name="Group 25"/>
            <p:cNvGrpSpPr/>
            <p:nvPr/>
          </p:nvGrpSpPr>
          <p:grpSpPr bwMode="auto">
            <a:xfrm>
              <a:off x="1248628" y="2159392"/>
              <a:ext cx="1241515" cy="2365100"/>
              <a:chOff x="385" y="1278"/>
              <a:chExt cx="941" cy="1942"/>
            </a:xfrm>
          </p:grpSpPr>
          <p:sp>
            <p:nvSpPr>
              <p:cNvPr id="42" name="Rectangle 26"/>
              <p:cNvSpPr>
                <a:spLocks noChangeArrowheads="1"/>
              </p:cNvSpPr>
              <p:nvPr/>
            </p:nvSpPr>
            <p:spPr bwMode="auto">
              <a:xfrm>
                <a:off x="385"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431"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44" name="Line 28"/>
              <p:cNvSpPr>
                <a:spLocks noChangeShapeType="1"/>
              </p:cNvSpPr>
              <p:nvPr/>
            </p:nvSpPr>
            <p:spPr bwMode="auto">
              <a:xfrm>
                <a:off x="385"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29"/>
              <p:cNvSpPr>
                <a:spLocks noChangeShapeType="1"/>
              </p:cNvSpPr>
              <p:nvPr/>
            </p:nvSpPr>
            <p:spPr bwMode="auto">
              <a:xfrm>
                <a:off x="385"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6" name="Line 30"/>
              <p:cNvSpPr>
                <a:spLocks noChangeShapeType="1"/>
              </p:cNvSpPr>
              <p:nvPr/>
            </p:nvSpPr>
            <p:spPr bwMode="auto">
              <a:xfrm>
                <a:off x="385"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7" name="Line 31"/>
              <p:cNvSpPr>
                <a:spLocks noChangeShapeType="1"/>
              </p:cNvSpPr>
              <p:nvPr/>
            </p:nvSpPr>
            <p:spPr bwMode="auto">
              <a:xfrm>
                <a:off x="385"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8" name="Text Box 32"/>
              <p:cNvSpPr txBox="1">
                <a:spLocks noChangeArrowheads="1"/>
              </p:cNvSpPr>
              <p:nvPr/>
            </p:nvSpPr>
            <p:spPr bwMode="auto">
              <a:xfrm>
                <a:off x="578"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49" name="Text Box 33"/>
              <p:cNvSpPr txBox="1">
                <a:spLocks noChangeArrowheads="1"/>
              </p:cNvSpPr>
              <p:nvPr/>
            </p:nvSpPr>
            <p:spPr bwMode="auto">
              <a:xfrm>
                <a:off x="578"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50" name="Text Box 34"/>
              <p:cNvSpPr txBox="1">
                <a:spLocks noChangeArrowheads="1"/>
              </p:cNvSpPr>
              <p:nvPr/>
            </p:nvSpPr>
            <p:spPr bwMode="auto">
              <a:xfrm>
                <a:off x="578"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51" name="Line 35"/>
              <p:cNvSpPr>
                <a:spLocks noChangeShapeType="1"/>
              </p:cNvSpPr>
              <p:nvPr/>
            </p:nvSpPr>
            <p:spPr bwMode="auto">
              <a:xfrm>
                <a:off x="845" y="2036"/>
                <a:ext cx="2" cy="15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Oval 36"/>
              <p:cNvSpPr>
                <a:spLocks noChangeArrowheads="1"/>
              </p:cNvSpPr>
              <p:nvPr/>
            </p:nvSpPr>
            <p:spPr bwMode="auto">
              <a:xfrm>
                <a:off x="468" y="1779"/>
                <a:ext cx="775" cy="309"/>
              </a:xfrm>
              <a:prstGeom prst="ellipse">
                <a:avLst/>
              </a:prstGeom>
              <a:solidFill>
                <a:srgbClr val="00FF99"/>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53" name="Text Box 37"/>
              <p:cNvSpPr txBox="1">
                <a:spLocks noChangeArrowheads="1"/>
              </p:cNvSpPr>
              <p:nvPr/>
            </p:nvSpPr>
            <p:spPr bwMode="auto">
              <a:xfrm>
                <a:off x="583" y="152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54" name="Text Box 38"/>
              <p:cNvSpPr txBox="1">
                <a:spLocks noChangeArrowheads="1"/>
              </p:cNvSpPr>
              <p:nvPr/>
            </p:nvSpPr>
            <p:spPr bwMode="auto">
              <a:xfrm>
                <a:off x="537" y="1278"/>
                <a:ext cx="69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55" name="Text Box 39"/>
              <p:cNvSpPr txBox="1">
                <a:spLocks noChangeArrowheads="1"/>
              </p:cNvSpPr>
              <p:nvPr/>
            </p:nvSpPr>
            <p:spPr bwMode="auto">
              <a:xfrm>
                <a:off x="585" y="1803"/>
                <a:ext cx="593" cy="2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solidFill>
                      <a:srgbClr val="0000FF"/>
                    </a:solidFill>
                    <a:latin typeface="微软雅黑" panose="020B0503020204020204" pitchFamily="34" charset="-122"/>
                    <a:ea typeface="微软雅黑" panose="020B0503020204020204" pitchFamily="34" charset="-122"/>
                  </a:rPr>
                  <a:t>客户 </a:t>
                </a:r>
                <a:r>
                  <a:rPr kumimoji="1" lang="en-US" altLang="zh-CN" sz="1600" b="1">
                    <a:solidFill>
                      <a:srgbClr val="0000FF"/>
                    </a:solidFill>
                    <a:latin typeface="微软雅黑" panose="020B0503020204020204" pitchFamily="34" charset="-122"/>
                    <a:ea typeface="微软雅黑" panose="020B0503020204020204" pitchFamily="34" charset="-122"/>
                  </a:rPr>
                  <a:t>1</a:t>
                </a:r>
              </a:p>
            </p:txBody>
          </p:sp>
        </p:grpSp>
        <p:grpSp>
          <p:nvGrpSpPr>
            <p:cNvPr id="27" name="Group 40"/>
            <p:cNvGrpSpPr/>
            <p:nvPr/>
          </p:nvGrpSpPr>
          <p:grpSpPr bwMode="auto">
            <a:xfrm>
              <a:off x="6577509" y="2169135"/>
              <a:ext cx="1241515" cy="2355357"/>
              <a:chOff x="4424" y="1286"/>
              <a:chExt cx="941" cy="1934"/>
            </a:xfrm>
          </p:grpSpPr>
          <p:sp>
            <p:nvSpPr>
              <p:cNvPr id="28" name="Rectangle 41"/>
              <p:cNvSpPr>
                <a:spLocks noChangeArrowheads="1"/>
              </p:cNvSpPr>
              <p:nvPr/>
            </p:nvSpPr>
            <p:spPr bwMode="auto">
              <a:xfrm>
                <a:off x="4424" y="1522"/>
                <a:ext cx="941" cy="1697"/>
              </a:xfrm>
              <a:prstGeom prst="rect">
                <a:avLst/>
              </a:prstGeom>
              <a:solidFill>
                <a:srgbClr val="0070C0"/>
              </a:solid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4494" y="2710"/>
                <a:ext cx="820"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数据链路层</a:t>
                </a:r>
              </a:p>
            </p:txBody>
          </p:sp>
          <p:sp>
            <p:nvSpPr>
              <p:cNvPr id="30" name="Line 43"/>
              <p:cNvSpPr>
                <a:spLocks noChangeShapeType="1"/>
              </p:cNvSpPr>
              <p:nvPr/>
            </p:nvSpPr>
            <p:spPr bwMode="auto">
              <a:xfrm>
                <a:off x="4424" y="2962"/>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44"/>
              <p:cNvSpPr>
                <a:spLocks noChangeShapeType="1"/>
              </p:cNvSpPr>
              <p:nvPr/>
            </p:nvSpPr>
            <p:spPr bwMode="auto">
              <a:xfrm>
                <a:off x="4424" y="2704"/>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Line 45"/>
              <p:cNvSpPr>
                <a:spLocks noChangeShapeType="1"/>
              </p:cNvSpPr>
              <p:nvPr/>
            </p:nvSpPr>
            <p:spPr bwMode="auto">
              <a:xfrm>
                <a:off x="4424" y="2447"/>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Line 46"/>
              <p:cNvSpPr>
                <a:spLocks noChangeShapeType="1"/>
              </p:cNvSpPr>
              <p:nvPr/>
            </p:nvSpPr>
            <p:spPr bwMode="auto">
              <a:xfrm>
                <a:off x="4424" y="2190"/>
                <a:ext cx="941"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47"/>
              <p:cNvSpPr txBox="1">
                <a:spLocks noChangeArrowheads="1"/>
              </p:cNvSpPr>
              <p:nvPr/>
            </p:nvSpPr>
            <p:spPr bwMode="auto">
              <a:xfrm>
                <a:off x="4642" y="2967"/>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物理层</a:t>
                </a:r>
              </a:p>
            </p:txBody>
          </p:sp>
          <p:sp>
            <p:nvSpPr>
              <p:cNvPr id="35" name="Text Box 48"/>
              <p:cNvSpPr txBox="1">
                <a:spLocks noChangeArrowheads="1"/>
              </p:cNvSpPr>
              <p:nvPr/>
            </p:nvSpPr>
            <p:spPr bwMode="auto">
              <a:xfrm>
                <a:off x="4642" y="2204"/>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运输层</a:t>
                </a:r>
              </a:p>
            </p:txBody>
          </p:sp>
          <p:sp>
            <p:nvSpPr>
              <p:cNvPr id="36" name="Text Box 49"/>
              <p:cNvSpPr txBox="1">
                <a:spLocks noChangeArrowheads="1"/>
              </p:cNvSpPr>
              <p:nvPr/>
            </p:nvSpPr>
            <p:spPr bwMode="auto">
              <a:xfrm>
                <a:off x="4642" y="2461"/>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网络层</a:t>
                </a:r>
              </a:p>
            </p:txBody>
          </p:sp>
          <p:sp>
            <p:nvSpPr>
              <p:cNvPr id="37" name="Line 50"/>
              <p:cNvSpPr>
                <a:spLocks noChangeShapeType="1"/>
              </p:cNvSpPr>
              <p:nvPr/>
            </p:nvSpPr>
            <p:spPr bwMode="auto">
              <a:xfrm>
                <a:off x="4911" y="2065"/>
                <a:ext cx="2" cy="125"/>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8" name="Oval 51"/>
              <p:cNvSpPr>
                <a:spLocks noChangeArrowheads="1"/>
              </p:cNvSpPr>
              <p:nvPr/>
            </p:nvSpPr>
            <p:spPr bwMode="auto">
              <a:xfrm>
                <a:off x="4507" y="1779"/>
                <a:ext cx="775" cy="309"/>
              </a:xfrm>
              <a:prstGeom prst="ellipse">
                <a:avLst/>
              </a:prstGeom>
              <a:solidFill>
                <a:srgbClr val="ABEBD7"/>
              </a:solidFill>
              <a:ln>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endParaRPr kumimoji="1" lang="zh-CN" altLang="zh-CN" sz="1600" b="1">
                  <a:solidFill>
                    <a:schemeClr val="bg1"/>
                  </a:solidFill>
                  <a:latin typeface="微软雅黑" panose="020B0503020204020204" pitchFamily="34" charset="-122"/>
                  <a:ea typeface="微软雅黑" panose="020B0503020204020204" pitchFamily="34" charset="-122"/>
                </a:endParaRPr>
              </a:p>
            </p:txBody>
          </p:sp>
          <p:sp>
            <p:nvSpPr>
              <p:cNvPr id="39" name="Text Box 52"/>
              <p:cNvSpPr txBox="1">
                <a:spLocks noChangeArrowheads="1"/>
              </p:cNvSpPr>
              <p:nvPr/>
            </p:nvSpPr>
            <p:spPr bwMode="auto">
              <a:xfrm>
                <a:off x="4637" y="1535"/>
                <a:ext cx="548"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chemeClr val="bg1"/>
                    </a:solidFill>
                    <a:latin typeface="微软雅黑" panose="020B0503020204020204" pitchFamily="34" charset="-122"/>
                    <a:ea typeface="微软雅黑" panose="020B0503020204020204" pitchFamily="34" charset="-122"/>
                  </a:rPr>
                  <a:t>应用层</a:t>
                </a:r>
              </a:p>
            </p:txBody>
          </p:sp>
          <p:sp>
            <p:nvSpPr>
              <p:cNvPr id="40" name="Text Box 53"/>
              <p:cNvSpPr txBox="1">
                <a:spLocks noChangeArrowheads="1"/>
              </p:cNvSpPr>
              <p:nvPr/>
            </p:nvSpPr>
            <p:spPr bwMode="auto">
              <a:xfrm>
                <a:off x="4567" y="1286"/>
                <a:ext cx="682" cy="2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41" name="Text Box 54"/>
              <p:cNvSpPr txBox="1">
                <a:spLocks noChangeArrowheads="1"/>
              </p:cNvSpPr>
              <p:nvPr/>
            </p:nvSpPr>
            <p:spPr bwMode="auto">
              <a:xfrm>
                <a:off x="4625" y="1789"/>
                <a:ext cx="593" cy="278"/>
              </a:xfrm>
              <a:prstGeom prst="rect">
                <a:avLst/>
              </a:prstGeom>
              <a:noFill/>
              <a:ln>
                <a:noFill/>
              </a:ln>
            </p:spPr>
            <p:style>
              <a:lnRef idx="2">
                <a:schemeClr val="dk1"/>
              </a:lnRef>
              <a:fillRef idx="1">
                <a:schemeClr val="lt1"/>
              </a:fillRef>
              <a:effectRef idx="0">
                <a:schemeClr val="dk1"/>
              </a:effectRef>
              <a:fontRef idx="minor">
                <a:schemeClr val="dk1"/>
              </a:fontRef>
            </p:style>
            <p:txBody>
              <a:bodyPr wrap="none">
                <a:spAutoFit/>
              </a:bodyPr>
              <a:lstStyle/>
              <a:p>
                <a:pPr fontAlgn="auto">
                  <a:spcBef>
                    <a:spcPts val="0"/>
                  </a:spcBef>
                  <a:spcAft>
                    <a:spcPts val="0"/>
                  </a:spcAft>
                  <a:defRPr/>
                </a:pPr>
                <a:r>
                  <a:rPr kumimoji="1" lang="zh-CN" altLang="en-US" sz="1600" b="1" dirty="0">
                    <a:solidFill>
                      <a:srgbClr val="0000FF"/>
                    </a:solidFill>
                    <a:latin typeface="微软雅黑" panose="020B0503020204020204" pitchFamily="34" charset="-122"/>
                    <a:ea typeface="微软雅黑" panose="020B0503020204020204" pitchFamily="34" charset="-122"/>
                  </a:rPr>
                  <a:t>客户 </a:t>
                </a:r>
                <a:r>
                  <a:rPr kumimoji="1" lang="en-US" altLang="zh-CN" sz="1600" b="1" dirty="0">
                    <a:solidFill>
                      <a:srgbClr val="0000FF"/>
                    </a:solidFill>
                    <a:latin typeface="微软雅黑" panose="020B0503020204020204" pitchFamily="34" charset="-122"/>
                    <a:ea typeface="微软雅黑" panose="020B0503020204020204" pitchFamily="34" charset="-122"/>
                  </a:rPr>
                  <a:t>2</a:t>
                </a:r>
              </a:p>
            </p:txBody>
          </p:sp>
        </p:grpSp>
      </p:gr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6175" y="1961884"/>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64" name="内容占位符 63">
            <a:extLst>
              <a:ext uri="{FF2B5EF4-FFF2-40B4-BE49-F238E27FC236}">
                <a16:creationId xmlns:a16="http://schemas.microsoft.com/office/drawing/2014/main" id="{FFEB941B-EA8E-0F27-1F36-32C5C8085F78}"/>
              </a:ext>
            </a:extLst>
          </p:cNvPr>
          <p:cNvSpPr>
            <a:spLocks noGrp="1"/>
          </p:cNvSpPr>
          <p:nvPr>
            <p:ph sz="quarter" idx="4294967295"/>
          </p:nvPr>
        </p:nvSpPr>
        <p:spPr>
          <a:xfrm>
            <a:off x="612000" y="720000"/>
            <a:ext cx="7920000" cy="3960000"/>
          </a:xfrm>
        </p:spPr>
        <p:txBody>
          <a:bodyPr/>
          <a:lstStyle/>
          <a:p>
            <a:endParaRPr lang="zh-CN" altLang="en-US"/>
          </a:p>
        </p:txBody>
      </p:sp>
      <p:sp>
        <p:nvSpPr>
          <p:cNvPr id="3" name="文本占位符 2"/>
          <p:cNvSpPr>
            <a:spLocks noGrp="1"/>
          </p:cNvSpPr>
          <p:nvPr>
            <p:ph type="body" sz="quarter" idx="4294967295"/>
          </p:nvPr>
        </p:nvSpPr>
        <p:spPr>
          <a:xfrm>
            <a:off x="0" y="153988"/>
            <a:ext cx="6632575" cy="338137"/>
          </a:xfrm>
        </p:spPr>
        <p:txBody>
          <a:bodyPr>
            <a:normAutofit lnSpcReduction="10000"/>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500" fill="hold"/>
                                        <p:tgtEl>
                                          <p:spTgt spid="16"/>
                                        </p:tgtEl>
                                        <p:attrNameLst>
                                          <p:attrName>style.visibility</p:attrName>
                                        </p:attrNameLst>
                                      </p:cBhvr>
                                      <p:tavLst>
                                        <p:tav tm="0">
                                          <p:val>
                                            <p:strVal val="hidden"/>
                                          </p:val>
                                        </p:tav>
                                        <p:tav tm="50000">
                                          <p:val>
                                            <p:strVal val="visible"/>
                                          </p:val>
                                        </p:tav>
                                      </p:tavLst>
                                    </p:anim>
                                  </p:childTnLst>
                                </p:cTn>
                              </p:par>
                            </p:childTnLst>
                          </p:cTn>
                        </p:par>
                        <p:par>
                          <p:cTn id="10" fill="hold">
                            <p:stCondLst>
                              <p:cond delay="1500"/>
                            </p:stCondLst>
                            <p:childTnLst>
                              <p:par>
                                <p:cTn id="11" presetID="1" presetClass="entr" presetSubtype="0" fill="hold" nodeType="after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par>
                          <p:cTn id="13" fill="hold">
                            <p:stCondLst>
                              <p:cond delay="1500"/>
                            </p:stCondLst>
                            <p:childTnLst>
                              <p:par>
                                <p:cTn id="14" presetID="35" presetClass="emph" presetSubtype="0" repeatCount="3000" fill="hold" nodeType="afterEffect">
                                  <p:stCondLst>
                                    <p:cond delay="0"/>
                                  </p:stCondLst>
                                  <p:childTnLst>
                                    <p:anim calcmode="discrete" valueType="str">
                                      <p:cBhvr>
                                        <p:cTn id="15" dur="500" fill="hold"/>
                                        <p:tgtEl>
                                          <p:spTgt spid="20"/>
                                        </p:tgtEl>
                                        <p:attrNameLst>
                                          <p:attrName>style.visibility</p:attrName>
                                        </p:attrNameLst>
                                      </p:cBhvr>
                                      <p:tavLst>
                                        <p:tav tm="0">
                                          <p:val>
                                            <p:strVal val="hidden"/>
                                          </p:val>
                                        </p:tav>
                                        <p:tav tm="50000">
                                          <p:val>
                                            <p:strVal val="visible"/>
                                          </p:val>
                                        </p:tav>
                                      </p:tavLst>
                                    </p:anim>
                                  </p:childTnLst>
                                </p:cTn>
                              </p:par>
                            </p:childTnLst>
                          </p:cTn>
                        </p:par>
                        <p:par>
                          <p:cTn id="16" fill="hold">
                            <p:stCondLst>
                              <p:cond delay="3000"/>
                            </p:stCondLst>
                            <p:childTnLst>
                              <p:par>
                                <p:cTn id="17" presetID="1" presetClass="entr" presetSubtype="0" fill="hold" nodeType="afterEffect">
                                  <p:stCondLst>
                                    <p:cond delay="500"/>
                                  </p:stCondLst>
                                  <p:childTnLst>
                                    <p:set>
                                      <p:cBhvr>
                                        <p:cTn id="18" dur="1" fill="hold">
                                          <p:stCondLst>
                                            <p:cond delay="0"/>
                                          </p:stCondLst>
                                        </p:cTn>
                                        <p:tgtEl>
                                          <p:spTgt spid="59"/>
                                        </p:tgtEl>
                                        <p:attrNameLst>
                                          <p:attrName>style.visibility</p:attrName>
                                        </p:attrNameLst>
                                      </p:cBhvr>
                                      <p:to>
                                        <p:strVal val="visible"/>
                                      </p:to>
                                    </p:set>
                                  </p:childTnLst>
                                </p:cTn>
                              </p:par>
                            </p:childTnLst>
                          </p:cTn>
                        </p:par>
                        <p:par>
                          <p:cTn id="19" fill="hold">
                            <p:stCondLst>
                              <p:cond delay="3500"/>
                            </p:stCondLst>
                            <p:childTnLst>
                              <p:par>
                                <p:cTn id="20" presetID="35" presetClass="emph" presetSubtype="0" repeatCount="4000" fill="hold" nodeType="afterEffect">
                                  <p:stCondLst>
                                    <p:cond delay="0"/>
                                  </p:stCondLst>
                                  <p:childTnLst>
                                    <p:anim calcmode="discrete" valueType="str">
                                      <p:cBhvr>
                                        <p:cTn id="21"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default">
      <a:majorFont>
        <a:latin typeface="Times New Roman"/>
        <a:ea typeface="微软雅黑"/>
        <a:cs typeface=""/>
      </a:majorFont>
      <a:minorFont>
        <a:latin typeface="Times New Roman"/>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8149</TotalTime>
  <Words>15037</Words>
  <Application>Microsoft Office PowerPoint</Application>
  <PresentationFormat>全屏显示(16:9)</PresentationFormat>
  <Paragraphs>2168</Paragraphs>
  <Slides>150</Slides>
  <Notes>41</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1</vt:i4>
      </vt:variant>
      <vt:variant>
        <vt:lpstr>幻灯片标题</vt:lpstr>
      </vt:variant>
      <vt:variant>
        <vt:i4>150</vt:i4>
      </vt:variant>
    </vt:vector>
  </HeadingPairs>
  <TitlesOfParts>
    <vt:vector size="158" baseType="lpstr">
      <vt:lpstr>微软雅黑</vt:lpstr>
      <vt:lpstr>Symbol</vt:lpstr>
      <vt:lpstr>Times New Roman</vt:lpstr>
      <vt:lpstr>Arial</vt:lpstr>
      <vt:lpstr>微软雅黑 Light</vt:lpstr>
      <vt:lpstr>Wingdings</vt:lpstr>
      <vt:lpstr>Office 主题​​</vt:lpstr>
      <vt:lpstr>VISIO</vt:lpstr>
      <vt:lpstr>PowerPoint 演示文稿</vt:lpstr>
      <vt:lpstr>PowerPoint 演示文稿</vt:lpstr>
      <vt:lpstr>PowerPoint 演示文稿</vt:lpstr>
      <vt:lpstr>信息时代：以网络为核心</vt:lpstr>
      <vt:lpstr>大众熟悉的三大类网络</vt:lpstr>
      <vt:lpstr>三网融合</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1.2.1  网络的网络</vt:lpstr>
      <vt:lpstr>1.2.1  网络的网络</vt:lpstr>
      <vt:lpstr>用“云”表示网络：主机在“云”里</vt:lpstr>
      <vt:lpstr>用“云”表示网络：主机在“云”外</vt:lpstr>
      <vt:lpstr>网络与互连网</vt:lpstr>
      <vt:lpstr>1.2.2  互联网基础结构发展的三个阶段</vt:lpstr>
      <vt:lpstr>第一阶段：1969 – 1990 </vt:lpstr>
      <vt:lpstr>第二阶段：1985 – 1993 </vt:lpstr>
      <vt:lpstr>第三阶段：1993 – 现在 </vt:lpstr>
      <vt:lpstr>第三阶段：1993 – 现在 </vt:lpstr>
      <vt:lpstr>第三阶段：1993 – 现在 </vt:lpstr>
      <vt:lpstr>20 世纪 90 年代：万维网 WWW 的问世</vt:lpstr>
      <vt:lpstr>1.2.3  互联网的标准化工作</vt:lpstr>
      <vt:lpstr>标准发表：以 RFC 的形式</vt:lpstr>
      <vt:lpstr>标准化过程</vt:lpstr>
      <vt:lpstr>PowerPoint 演示文稿</vt:lpstr>
      <vt:lpstr>1.3  互联网的组成</vt:lpstr>
      <vt:lpstr>1.3  互联网的组成</vt:lpstr>
      <vt:lpstr>1.3.1  互联网的边缘部分</vt:lpstr>
      <vt:lpstr>1.3.1  互联网的边缘部分</vt:lpstr>
      <vt:lpstr>PowerPoint 演示文稿</vt:lpstr>
      <vt:lpstr>端系统之间的两种通信方式</vt:lpstr>
      <vt:lpstr>1.  客户-服务器方式（C/S 方式）</vt:lpstr>
      <vt:lpstr>1.  客户-服务器方式（C/S 方式）</vt:lpstr>
      <vt:lpstr>客户程序和服务器程序主要特点</vt:lpstr>
      <vt:lpstr>2. 对等连接方式（P2P 方式）</vt:lpstr>
      <vt:lpstr>1.3.2  互联网的核心部分</vt:lpstr>
      <vt:lpstr>1.3.2  互联网的核心部分</vt:lpstr>
      <vt:lpstr>1. 电路交换的主要特点</vt:lpstr>
      <vt:lpstr>使用交换机</vt:lpstr>
      <vt:lpstr>“交换 (switching)”的含义</vt:lpstr>
      <vt:lpstr>电路交换特点</vt:lpstr>
      <vt:lpstr>电路交换特点</vt:lpstr>
      <vt:lpstr>2. 分组交换的主要特点</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678</cp:revision>
  <dcterms:created xsi:type="dcterms:W3CDTF">2018-07-18T08:51:30Z</dcterms:created>
  <dcterms:modified xsi:type="dcterms:W3CDTF">2026-07-25T12:17:48Z</dcterms:modified>
</cp:coreProperties>
</file>