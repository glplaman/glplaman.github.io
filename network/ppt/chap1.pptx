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4" r:id="rId1"/>
  </p:sldMasterIdLst>
  <p:notesMasterIdLst>
    <p:notesMasterId r:id="rId144"/>
  </p:notesMasterIdLst>
  <p:sldIdLst>
    <p:sldId id="257" r:id="rId2"/>
    <p:sldId id="256" r:id="rId3"/>
    <p:sldId id="289" r:id="rId4"/>
    <p:sldId id="656" r:id="rId5"/>
    <p:sldId id="294" r:id="rId6"/>
    <p:sldId id="481" r:id="rId7"/>
    <p:sldId id="485" r:id="rId8"/>
    <p:sldId id="483" r:id="rId9"/>
    <p:sldId id="488" r:id="rId10"/>
    <p:sldId id="487" r:id="rId11"/>
    <p:sldId id="650" r:id="rId12"/>
    <p:sldId id="649" r:id="rId13"/>
    <p:sldId id="304" r:id="rId14"/>
    <p:sldId id="489" r:id="rId15"/>
    <p:sldId id="492" r:id="rId16"/>
    <p:sldId id="493" r:id="rId17"/>
    <p:sldId id="311" r:id="rId18"/>
    <p:sldId id="496" r:id="rId19"/>
    <p:sldId id="651" r:id="rId20"/>
    <p:sldId id="497" r:id="rId21"/>
    <p:sldId id="652" r:id="rId22"/>
    <p:sldId id="508" r:id="rId23"/>
    <p:sldId id="499" r:id="rId24"/>
    <p:sldId id="502" r:id="rId25"/>
    <p:sldId id="503" r:id="rId26"/>
    <p:sldId id="653" r:id="rId27"/>
    <p:sldId id="324" r:id="rId28"/>
    <p:sldId id="505" r:id="rId29"/>
    <p:sldId id="514" r:id="rId30"/>
    <p:sldId id="329" r:id="rId31"/>
    <p:sldId id="515" r:id="rId32"/>
    <p:sldId id="518" r:id="rId33"/>
    <p:sldId id="519" r:id="rId34"/>
    <p:sldId id="520" r:id="rId35"/>
    <p:sldId id="522" r:id="rId36"/>
    <p:sldId id="523" r:id="rId37"/>
    <p:sldId id="524" r:id="rId38"/>
    <p:sldId id="525" r:id="rId39"/>
    <p:sldId id="526" r:id="rId40"/>
    <p:sldId id="527" r:id="rId41"/>
    <p:sldId id="654" r:id="rId42"/>
    <p:sldId id="528" r:id="rId43"/>
    <p:sldId id="530" r:id="rId44"/>
    <p:sldId id="531" r:id="rId45"/>
    <p:sldId id="655" r:id="rId46"/>
    <p:sldId id="533" r:id="rId47"/>
    <p:sldId id="535" r:id="rId48"/>
    <p:sldId id="536" r:id="rId49"/>
    <p:sldId id="359" r:id="rId50"/>
    <p:sldId id="360" r:id="rId51"/>
    <p:sldId id="475" r:id="rId52"/>
    <p:sldId id="476" r:id="rId53"/>
    <p:sldId id="477" r:id="rId54"/>
    <p:sldId id="538" r:id="rId55"/>
    <p:sldId id="478" r:id="rId56"/>
    <p:sldId id="539" r:id="rId57"/>
    <p:sldId id="540" r:id="rId58"/>
    <p:sldId id="541" r:id="rId59"/>
    <p:sldId id="542" r:id="rId60"/>
    <p:sldId id="543" r:id="rId61"/>
    <p:sldId id="544" r:id="rId62"/>
    <p:sldId id="374" r:id="rId63"/>
    <p:sldId id="545" r:id="rId64"/>
    <p:sldId id="546" r:id="rId65"/>
    <p:sldId id="547" r:id="rId66"/>
    <p:sldId id="551" r:id="rId67"/>
    <p:sldId id="549" r:id="rId68"/>
    <p:sldId id="550" r:id="rId69"/>
    <p:sldId id="382" r:id="rId70"/>
    <p:sldId id="552" r:id="rId71"/>
    <p:sldId id="553" r:id="rId72"/>
    <p:sldId id="554" r:id="rId73"/>
    <p:sldId id="555" r:id="rId74"/>
    <p:sldId id="556" r:id="rId75"/>
    <p:sldId id="558" r:id="rId76"/>
    <p:sldId id="560" r:id="rId77"/>
    <p:sldId id="562" r:id="rId78"/>
    <p:sldId id="648" r:id="rId79"/>
    <p:sldId id="563" r:id="rId80"/>
    <p:sldId id="396" r:id="rId81"/>
    <p:sldId id="564" r:id="rId82"/>
    <p:sldId id="565" r:id="rId83"/>
    <p:sldId id="566" r:id="rId84"/>
    <p:sldId id="567" r:id="rId85"/>
    <p:sldId id="568" r:id="rId86"/>
    <p:sldId id="569" r:id="rId87"/>
    <p:sldId id="571" r:id="rId88"/>
    <p:sldId id="570" r:id="rId89"/>
    <p:sldId id="572" r:id="rId90"/>
    <p:sldId id="573" r:id="rId91"/>
    <p:sldId id="574" r:id="rId92"/>
    <p:sldId id="408" r:id="rId93"/>
    <p:sldId id="575" r:id="rId94"/>
    <p:sldId id="576" r:id="rId95"/>
    <p:sldId id="577" r:id="rId96"/>
    <p:sldId id="579" r:id="rId97"/>
    <p:sldId id="580" r:id="rId98"/>
    <p:sldId id="581" r:id="rId99"/>
    <p:sldId id="582" r:id="rId100"/>
    <p:sldId id="419" r:id="rId101"/>
    <p:sldId id="585" r:id="rId102"/>
    <p:sldId id="586" r:id="rId103"/>
    <p:sldId id="591" r:id="rId104"/>
    <p:sldId id="588" r:id="rId105"/>
    <p:sldId id="589" r:id="rId106"/>
    <p:sldId id="590" r:id="rId107"/>
    <p:sldId id="593" r:id="rId108"/>
    <p:sldId id="596" r:id="rId109"/>
    <p:sldId id="598" r:id="rId110"/>
    <p:sldId id="600" r:id="rId111"/>
    <p:sldId id="601" r:id="rId112"/>
    <p:sldId id="602" r:id="rId113"/>
    <p:sldId id="606" r:id="rId114"/>
    <p:sldId id="605" r:id="rId115"/>
    <p:sldId id="607" r:id="rId116"/>
    <p:sldId id="608" r:id="rId117"/>
    <p:sldId id="610" r:id="rId118"/>
    <p:sldId id="613" r:id="rId119"/>
    <p:sldId id="615" r:id="rId120"/>
    <p:sldId id="616" r:id="rId121"/>
    <p:sldId id="618" r:id="rId122"/>
    <p:sldId id="619" r:id="rId123"/>
    <p:sldId id="620" r:id="rId124"/>
    <p:sldId id="621" r:id="rId125"/>
    <p:sldId id="623" r:id="rId126"/>
    <p:sldId id="625" r:id="rId127"/>
    <p:sldId id="624" r:id="rId128"/>
    <p:sldId id="627" r:id="rId129"/>
    <p:sldId id="628" r:id="rId130"/>
    <p:sldId id="630" r:id="rId131"/>
    <p:sldId id="631" r:id="rId132"/>
    <p:sldId id="632" r:id="rId133"/>
    <p:sldId id="633" r:id="rId134"/>
    <p:sldId id="634" r:id="rId135"/>
    <p:sldId id="635" r:id="rId136"/>
    <p:sldId id="637" r:id="rId137"/>
    <p:sldId id="639" r:id="rId138"/>
    <p:sldId id="641" r:id="rId139"/>
    <p:sldId id="642" r:id="rId140"/>
    <p:sldId id="643" r:id="rId141"/>
    <p:sldId id="645" r:id="rId142"/>
    <p:sldId id="646" r:id="rId143"/>
  </p:sldIdLst>
  <p:sldSz cx="9144000" cy="5143500" type="screen16x9"/>
  <p:notesSz cx="6858000" cy="9144000"/>
  <p:embeddedFontLst>
    <p:embeddedFont>
      <p:font typeface="Montserrat" panose="00000500000000000000" pitchFamily="2" charset="0"/>
      <p:regular r:id="rId145"/>
    </p:embeddedFont>
    <p:embeddedFont>
      <p:font typeface="微软雅黑" panose="020B0503020204020204" pitchFamily="34" charset="-122"/>
      <p:regular r:id="rId146"/>
      <p:bold r:id="rId147"/>
    </p:embeddedFont>
    <p:embeddedFont>
      <p:font typeface="微软雅黑 Light" panose="020B0502040204020203" pitchFamily="34" charset="-122"/>
      <p:regular r:id="rId1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0089FA"/>
    <a:srgbClr val="D4237A"/>
    <a:srgbClr val="7CE07C"/>
    <a:srgbClr val="85D1F7"/>
    <a:srgbClr val="000000"/>
    <a:srgbClr val="607FC1"/>
    <a:srgbClr val="84CFF5"/>
    <a:srgbClr val="0000FF"/>
    <a:srgbClr val="99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0533" autoAdjust="0"/>
  </p:normalViewPr>
  <p:slideViewPr>
    <p:cSldViewPr snapToGrid="0">
      <p:cViewPr>
        <p:scale>
          <a:sx n="100" d="100"/>
          <a:sy n="100" d="100"/>
        </p:scale>
        <p:origin x="2064" y="918"/>
      </p:cViewPr>
      <p:guideLst>
        <p:guide orient="horz" pos="1620"/>
        <p:guide pos="2880"/>
      </p:guideLst>
    </p:cSldViewPr>
  </p:slideViewPr>
  <p:outlineViewPr>
    <p:cViewPr>
      <p:scale>
        <a:sx n="33" d="100"/>
        <a:sy n="33" d="100"/>
      </p:scale>
      <p:origin x="0" y="-570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presProps" Target="pres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2.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notesMaster" Target="notesMasters/notesMaster1.xml"/><Relationship Id="rId90" Type="http://schemas.openxmlformats.org/officeDocument/2006/relationships/slide" Target="slides/slide89.xml"/></Relationships>
</file>

<file path=ppt/diagrams/colors1.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1">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600" b="1" i="0" baseline="0" dirty="0">
              <a:solidFill>
                <a:schemeClr val="tx1"/>
              </a:solidFill>
              <a:latin typeface="+mj-lt"/>
              <a:ea typeface="+mj-ea"/>
            </a:rPr>
            <a:t>费用</a:t>
          </a:r>
        </a:p>
      </dgm:t>
    </dgm:pt>
    <dgm:pt modelId="{BED6549C-B35E-4354-84E8-A7AE58E7EC07}" type="parTrans" cxnId="{56CC0E7C-D98A-4C46-81A3-3B1F60601F38}">
      <dgm:prSet/>
      <dgm:spPr/>
      <dgm:t>
        <a:bodyPr/>
        <a:lstStyle/>
        <a:p>
          <a:endParaRPr lang="zh-CN" altLang="en-US" sz="1800" b="1" i="0" baseline="0">
            <a:latin typeface="+mj-lt"/>
            <a:ea typeface="+mj-ea"/>
          </a:endParaRPr>
        </a:p>
      </dgm:t>
    </dgm:pt>
    <dgm:pt modelId="{5C027A28-57B2-4775-8438-4AAECBE023C8}" type="sibTrans" cxnId="{56CC0E7C-D98A-4C46-81A3-3B1F60601F38}">
      <dgm:prSet custT="1"/>
      <dgm:spPr/>
      <dgm:t>
        <a:bodyPr/>
        <a:lstStyle/>
        <a:p>
          <a:endParaRPr lang="zh-CN" altLang="en-US" sz="1800" b="1" i="0" baseline="0">
            <a:latin typeface="+mj-lt"/>
            <a:ea typeface="+mj-ea"/>
          </a:endParaRPr>
        </a:p>
      </dgm:t>
    </dgm:pt>
    <dgm:pt modelId="{E173A921-6651-451D-81E9-F0ACC1536AAC}">
      <dgm:prSet phldrT="[文本]" custT="1"/>
      <dgm:spPr/>
      <dgm:t>
        <a:bodyPr/>
        <a:lstStyle/>
        <a:p>
          <a:r>
            <a:rPr lang="zh-CN" altLang="en-US" sz="1800" b="1" i="0" baseline="0" dirty="0">
              <a:latin typeface="+mj-lt"/>
              <a:ea typeface="+mj-ea"/>
            </a:rPr>
            <a:t>标准化</a:t>
          </a:r>
        </a:p>
      </dgm:t>
    </dgm:pt>
    <dgm:pt modelId="{DF4FD089-4E3D-4F03-9D3C-F28F49D8F119}" type="parTrans" cxnId="{FDAAE633-85C8-42F8-B4AA-4B51C3A57B39}">
      <dgm:prSet/>
      <dgm:spPr/>
      <dgm:t>
        <a:bodyPr/>
        <a:lstStyle/>
        <a:p>
          <a:endParaRPr lang="zh-CN" altLang="en-US" sz="1800" b="1" i="0" baseline="0">
            <a:latin typeface="+mj-lt"/>
            <a:ea typeface="+mj-ea"/>
          </a:endParaRPr>
        </a:p>
      </dgm:t>
    </dgm:pt>
    <dgm:pt modelId="{739184D2-A650-4378-9B66-79745068F954}" type="sibTrans" cxnId="{FDAAE633-85C8-42F8-B4AA-4B51C3A57B39}">
      <dgm:prSet/>
      <dgm:spPr/>
      <dgm:t>
        <a:bodyPr/>
        <a:lstStyle/>
        <a:p>
          <a:endParaRPr lang="zh-CN" altLang="en-US" sz="1800" b="1" i="0" baseline="0">
            <a:latin typeface="+mj-lt"/>
            <a:ea typeface="+mj-ea"/>
          </a:endParaRPr>
        </a:p>
      </dgm:t>
    </dgm:pt>
    <dgm:pt modelId="{D199F25F-9525-43C5-955C-BB6FEFFBA60E}">
      <dgm:prSet phldrT="[文本]" custT="1"/>
      <dgm:spPr/>
      <dgm:t>
        <a:bodyPr/>
        <a:lstStyle/>
        <a:p>
          <a:r>
            <a:rPr lang="zh-CN" altLang="en-US" sz="1600" b="1" i="0" baseline="0" dirty="0">
              <a:solidFill>
                <a:schemeClr val="tx1"/>
              </a:solidFill>
              <a:latin typeface="+mj-lt"/>
              <a:ea typeface="+mj-ea"/>
            </a:rPr>
            <a:t>质量</a:t>
          </a:r>
        </a:p>
      </dgm:t>
    </dgm:pt>
    <dgm:pt modelId="{92F37460-E89E-4259-A2EF-B2A638C38A45}" type="parTrans" cxnId="{12D5EFDF-084C-4857-A4BE-12B60B2E2A98}">
      <dgm:prSet/>
      <dgm:spPr/>
      <dgm:t>
        <a:bodyPr/>
        <a:lstStyle/>
        <a:p>
          <a:endParaRPr lang="zh-CN" altLang="en-US" sz="1800" b="1" i="0" baseline="0">
            <a:latin typeface="+mj-lt"/>
            <a:ea typeface="+mj-ea"/>
          </a:endParaRPr>
        </a:p>
      </dgm:t>
    </dgm:pt>
    <dgm:pt modelId="{2E4C2D13-B647-4CF6-B1F7-03AB183A1123}" type="sibTrans" cxnId="{12D5EFDF-084C-4857-A4BE-12B60B2E2A98}">
      <dgm:prSet custT="1"/>
      <dgm:spPr/>
      <dgm:t>
        <a:bodyPr/>
        <a:lstStyle/>
        <a:p>
          <a:endParaRPr lang="zh-CN" altLang="en-US" sz="1800" b="1" i="0" baseline="0">
            <a:latin typeface="+mj-lt"/>
            <a:ea typeface="+mj-ea"/>
          </a:endParaRPr>
        </a:p>
      </dgm:t>
    </dgm:pt>
    <dgm:pt modelId="{3EC4611C-A3C3-451C-AE74-8846F1901302}">
      <dgm:prSet phldrT="[文本]" custT="1"/>
      <dgm:spPr/>
      <dgm:t>
        <a:bodyPr/>
        <a:lstStyle/>
        <a:p>
          <a:r>
            <a:rPr lang="zh-CN" altLang="en-US" sz="1600" b="1" i="0" baseline="0" dirty="0">
              <a:latin typeface="+mj-lt"/>
              <a:ea typeface="+mj-ea"/>
            </a:rPr>
            <a:t>可靠性</a:t>
          </a:r>
        </a:p>
      </dgm:t>
    </dgm:pt>
    <dgm:pt modelId="{68F328E8-C43C-478E-B670-0B24656D9E35}" type="parTrans" cxnId="{BF7B8AEA-CFF9-4BFA-A92B-C9AA4345FE48}">
      <dgm:prSet/>
      <dgm:spPr/>
      <dgm:t>
        <a:bodyPr/>
        <a:lstStyle/>
        <a:p>
          <a:endParaRPr lang="zh-CN" altLang="en-US" sz="1800" b="1" i="0" baseline="0">
            <a:latin typeface="+mj-lt"/>
            <a:ea typeface="+mj-ea"/>
          </a:endParaRPr>
        </a:p>
      </dgm:t>
    </dgm:pt>
    <dgm:pt modelId="{2E561528-8DA9-408B-83C6-171ECD06B86B}" type="sibTrans" cxnId="{BF7B8AEA-CFF9-4BFA-A92B-C9AA4345FE48}">
      <dgm:prSet/>
      <dgm:spPr/>
      <dgm:t>
        <a:bodyPr/>
        <a:lstStyle/>
        <a:p>
          <a:endParaRPr lang="zh-CN" altLang="en-US" sz="1800" b="1" i="0" baseline="0">
            <a:latin typeface="+mj-lt"/>
            <a:ea typeface="+mj-ea"/>
          </a:endParaRPr>
        </a:p>
      </dgm:t>
    </dgm:pt>
    <dgm:pt modelId="{C40893AA-1044-4C1A-AFE8-154BD0AD6229}">
      <dgm:prSet phldrT="[文本]" custT="1"/>
      <dgm:spPr/>
      <dgm:t>
        <a:bodyPr/>
        <a:lstStyle/>
        <a:p>
          <a:r>
            <a:rPr lang="zh-CN" altLang="en-US" sz="1400" b="1" i="0" baseline="0" dirty="0">
              <a:solidFill>
                <a:schemeClr val="tx1"/>
              </a:solidFill>
              <a:latin typeface="+mj-lt"/>
              <a:ea typeface="+mj-ea"/>
            </a:rPr>
            <a:t>维护</a:t>
          </a:r>
        </a:p>
      </dgm:t>
    </dgm:pt>
    <dgm:pt modelId="{5D5965E2-EEFF-40D7-B453-CDF2231F9E32}" type="parTrans" cxnId="{5DC1683A-A3BA-477F-922D-A91C5AAC3E85}">
      <dgm:prSet/>
      <dgm:spPr/>
      <dgm:t>
        <a:bodyPr/>
        <a:lstStyle/>
        <a:p>
          <a:endParaRPr lang="zh-CN" altLang="en-US" sz="1800" b="1" i="0" baseline="0">
            <a:latin typeface="+mj-lt"/>
            <a:ea typeface="+mj-ea"/>
          </a:endParaRPr>
        </a:p>
      </dgm:t>
    </dgm:pt>
    <dgm:pt modelId="{0EE1A90B-D747-4792-8CF8-D1D86F0C6D30}" type="sibTrans" cxnId="{5DC1683A-A3BA-477F-922D-A91C5AAC3E85}">
      <dgm:prSet custT="1"/>
      <dgm:spPr/>
      <dgm:t>
        <a:bodyPr/>
        <a:lstStyle/>
        <a:p>
          <a:r>
            <a:rPr lang="zh-CN" altLang="en-US" sz="1600" b="1" i="0" baseline="0" dirty="0">
              <a:latin typeface="+mj-lt"/>
              <a:ea typeface="+mj-ea"/>
            </a:rPr>
            <a:t>管理</a:t>
          </a:r>
        </a:p>
      </dgm:t>
    </dgm:pt>
    <dgm:pt modelId="{32415517-2817-485B-84FB-EEB772F05388}">
      <dgm:prSet phldrT="[文本]" custT="1"/>
      <dgm:spPr/>
      <dgm:t>
        <a:bodyPr/>
        <a:lstStyle/>
        <a:p>
          <a:r>
            <a:rPr lang="zh-CN" altLang="en-US" sz="1800" b="1" i="0" baseline="0" dirty="0">
              <a:latin typeface="+mj-lt"/>
              <a:ea typeface="+mj-ea"/>
            </a:rPr>
            <a:t>可扩展性和可升级性</a:t>
          </a:r>
        </a:p>
      </dgm:t>
    </dgm:pt>
    <dgm:pt modelId="{9389711E-63B1-48BC-8B0D-E77AD36B0F70}" type="parTrans" cxnId="{C8E4366A-7323-4BAE-BF0B-D491A4B1C631}">
      <dgm:prSet/>
      <dgm:spPr/>
      <dgm:t>
        <a:bodyPr/>
        <a:lstStyle/>
        <a:p>
          <a:endParaRPr lang="zh-CN" altLang="en-US" sz="1800" b="1" i="0" baseline="0">
            <a:latin typeface="+mj-lt"/>
            <a:ea typeface="+mj-ea"/>
          </a:endParaRPr>
        </a:p>
      </dgm:t>
    </dgm:pt>
    <dgm:pt modelId="{8B057A99-57DA-4C5E-AFDE-4E731CDF706D}" type="sibTrans" cxnId="{C8E4366A-7323-4BAE-BF0B-D491A4B1C631}">
      <dgm:prSet/>
      <dgm:spPr/>
      <dgm:t>
        <a:bodyPr/>
        <a:lstStyle/>
        <a:p>
          <a:endParaRPr lang="zh-CN" altLang="en-US" sz="1800" b="1" i="0" baseline="0">
            <a:latin typeface="+mj-lt"/>
            <a:ea typeface="+mj-ea"/>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1" qsCatId="simple" csTypeId="urn:microsoft.com/office/officeart/2005/8/colors/colorful4#1" csCatId="colorful" phldr="1"/>
      <dgm:spPr/>
      <dgm:t>
        <a:bodyPr/>
        <a:lstStyle/>
        <a:p>
          <a:endParaRPr lang="zh-CN" altLang="en-US"/>
        </a:p>
      </dgm:t>
    </dgm:pt>
    <dgm:pt modelId="{EFCA2B14-9468-4F2F-84A6-5C119482CD49}">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法律上的 </a:t>
          </a:r>
          <a:r>
            <a:rPr lang="en-US" altLang="en-US" sz="1600" b="0" i="0" baseline="0" dirty="0">
              <a:latin typeface="+mn-lt"/>
              <a:ea typeface="+mn-ea"/>
            </a:rPr>
            <a:t>(de jure) </a:t>
          </a:r>
          <a:r>
            <a:rPr lang="zh-CN" altLang="en-US" sz="1600" b="0" i="0" baseline="0" dirty="0">
              <a:latin typeface="+mn-lt"/>
              <a:ea typeface="+mn-ea"/>
            </a:rPr>
            <a:t>国际标准 </a:t>
          </a:r>
          <a:r>
            <a:rPr lang="en-US" altLang="en-US" sz="1600" b="0" i="0" baseline="0" dirty="0">
              <a:latin typeface="+mn-lt"/>
              <a:ea typeface="+mn-ea"/>
            </a:rPr>
            <a:t>OSI</a:t>
          </a:r>
          <a:endParaRPr lang="zh-CN" altLang="en-US" sz="1600" b="0" i="0" baseline="0" dirty="0">
            <a:latin typeface="+mn-lt"/>
            <a:ea typeface="+mn-ea"/>
          </a:endParaRPr>
        </a:p>
      </dgm:t>
    </dgm:pt>
    <dgm:pt modelId="{E38B7B80-E684-4487-8667-BCC0A5171417}" type="parTrans" cxnId="{9E21BC85-7589-4E30-94BE-94BFF4B03EBC}">
      <dgm:prSet/>
      <dgm:spPr/>
      <dgm:t>
        <a:bodyPr/>
        <a:lstStyle/>
        <a:p>
          <a:endParaRPr lang="zh-CN" altLang="en-US" sz="1600" b="0" i="0" baseline="0">
            <a:latin typeface="+mn-lt"/>
            <a:ea typeface="+mn-ea"/>
          </a:endParaRPr>
        </a:p>
      </dgm:t>
    </dgm:pt>
    <dgm:pt modelId="{6756D47E-79F4-44F1-9DC8-F8FF9A3DB365}" type="sibTrans" cxnId="{9E21BC85-7589-4E30-94BE-94BFF4B03EBC}">
      <dgm:prSet/>
      <dgm:spPr/>
      <dgm:t>
        <a:bodyPr/>
        <a:lstStyle/>
        <a:p>
          <a:endParaRPr lang="zh-CN" altLang="en-US" sz="1600" b="0" i="0" baseline="0">
            <a:latin typeface="+mn-lt"/>
            <a:ea typeface="+mn-ea"/>
          </a:endParaRPr>
        </a:p>
      </dgm:t>
    </dgm:pt>
    <dgm:pt modelId="{226438D5-AF60-4FC2-B7B1-1FAFE6F029F4}">
      <dgm:prSet phldrT="[文本]" custT="1"/>
      <dgm:spPr/>
      <dgm:t>
        <a:bodyPr/>
        <a:lstStyle/>
        <a:p>
          <a:r>
            <a:rPr lang="zh-CN" altLang="en-US" sz="1600" b="0" i="0" baseline="0" dirty="0">
              <a:latin typeface="+mn-lt"/>
              <a:ea typeface="+mn-ea"/>
            </a:rPr>
            <a:t>但并没有得到市场的认可</a:t>
          </a:r>
        </a:p>
      </dgm:t>
    </dgm:pt>
    <dgm:pt modelId="{E2043F32-4A49-416A-8197-C2B2393B2255}" type="parTrans" cxnId="{23AA8198-F998-4AB6-A021-FDD348C07171}">
      <dgm:prSet/>
      <dgm:spPr/>
      <dgm:t>
        <a:bodyPr/>
        <a:lstStyle/>
        <a:p>
          <a:endParaRPr lang="zh-CN" altLang="en-US" sz="1600" b="0" i="0" baseline="0">
            <a:latin typeface="+mn-lt"/>
            <a:ea typeface="+mn-ea"/>
          </a:endParaRPr>
        </a:p>
      </dgm:t>
    </dgm:pt>
    <dgm:pt modelId="{F4028441-B185-4303-8082-46E98E8EBA28}" type="sibTrans" cxnId="{23AA8198-F998-4AB6-A021-FDD348C07171}">
      <dgm:prSet/>
      <dgm:spPr/>
      <dgm:t>
        <a:bodyPr/>
        <a:lstStyle/>
        <a:p>
          <a:endParaRPr lang="zh-CN" altLang="en-US" sz="1600" b="0" i="0" baseline="0">
            <a:latin typeface="+mn-lt"/>
            <a:ea typeface="+mn-ea"/>
          </a:endParaRPr>
        </a:p>
      </dgm:t>
    </dgm:pt>
    <dgm:pt modelId="{0986DFCC-564B-42E1-8E43-BFE75079EEDF}">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事实上的 </a:t>
          </a:r>
          <a:r>
            <a:rPr lang="en-US" altLang="en-US" sz="1600" b="0" i="0" baseline="0" dirty="0">
              <a:latin typeface="+mn-lt"/>
              <a:ea typeface="+mn-ea"/>
            </a:rPr>
            <a:t>(de facto) </a:t>
          </a:r>
          <a:r>
            <a:rPr lang="zh-CN" altLang="en-US" sz="1600" b="0" i="0" baseline="0" dirty="0">
              <a:latin typeface="+mn-lt"/>
              <a:ea typeface="+mn-ea"/>
            </a:rPr>
            <a:t>国际标准 </a:t>
          </a:r>
          <a:r>
            <a:rPr lang="en-US" altLang="en-US" sz="1600" b="0" i="0" baseline="0" dirty="0">
              <a:latin typeface="+mn-lt"/>
              <a:ea typeface="+mn-ea"/>
            </a:rPr>
            <a:t>TCP/IP</a:t>
          </a:r>
          <a:endParaRPr lang="zh-CN" altLang="en-US" sz="1600" b="0" i="0" baseline="0" dirty="0">
            <a:latin typeface="+mn-lt"/>
            <a:ea typeface="+mn-ea"/>
          </a:endParaRPr>
        </a:p>
      </dgm:t>
    </dgm:pt>
    <dgm:pt modelId="{BB601F7A-8E86-4A9E-9EF8-CC003C5EF85D}" type="parTrans" cxnId="{49E9C9C9-3C6E-4805-BAA2-32EF310CFED5}">
      <dgm:prSet/>
      <dgm:spPr/>
      <dgm:t>
        <a:bodyPr/>
        <a:lstStyle/>
        <a:p>
          <a:endParaRPr lang="zh-CN" altLang="en-US" sz="1600" b="0" i="0" baseline="0">
            <a:latin typeface="+mn-lt"/>
            <a:ea typeface="+mn-ea"/>
          </a:endParaRPr>
        </a:p>
      </dgm:t>
    </dgm:pt>
    <dgm:pt modelId="{FD297112-55F6-448E-AECB-EFD048EDDB28}" type="sibTrans" cxnId="{49E9C9C9-3C6E-4805-BAA2-32EF310CFED5}">
      <dgm:prSet/>
      <dgm:spPr/>
      <dgm:t>
        <a:bodyPr/>
        <a:lstStyle/>
        <a:p>
          <a:endParaRPr lang="zh-CN" altLang="en-US" sz="1600" b="0" i="0" baseline="0">
            <a:latin typeface="+mn-lt"/>
            <a:ea typeface="+mn-ea"/>
          </a:endParaRPr>
        </a:p>
      </dgm:t>
    </dgm:pt>
    <dgm:pt modelId="{2CC66CB7-D7AD-41A6-98DD-74D4F514E2BD}">
      <dgm:prSet phldrT="[文本]" custT="1"/>
      <dgm:spPr/>
      <dgm:t>
        <a:bodyPr/>
        <a:lstStyle/>
        <a:p>
          <a:r>
            <a:rPr lang="zh-CN" altLang="en-US" sz="1600" b="0" i="0" baseline="0" dirty="0">
              <a:latin typeface="+mn-lt"/>
              <a:ea typeface="+mn-ea"/>
            </a:rPr>
            <a:t>获得了最广泛的应用</a:t>
          </a:r>
        </a:p>
      </dgm:t>
    </dgm:pt>
    <dgm:pt modelId="{85BE533B-2396-46D9-AFFB-686B13690F8B}" type="parTrans" cxnId="{831BB112-8E09-4BF6-9DC2-BFF8996C5A45}">
      <dgm:prSet/>
      <dgm:spPr/>
      <dgm:t>
        <a:bodyPr/>
        <a:lstStyle/>
        <a:p>
          <a:endParaRPr lang="zh-CN" altLang="en-US" sz="1600" b="0" i="0" baseline="0">
            <a:latin typeface="+mn-lt"/>
            <a:ea typeface="+mn-ea"/>
          </a:endParaRPr>
        </a:p>
      </dgm:t>
    </dgm:pt>
    <dgm:pt modelId="{28DE6DB6-6A4C-41DA-8F55-0D1076B0DD18}" type="sibTrans" cxnId="{831BB112-8E09-4BF6-9DC2-BFF8996C5A45}">
      <dgm:prSet/>
      <dgm:spPr/>
      <dgm:t>
        <a:bodyPr/>
        <a:lstStyle/>
        <a:p>
          <a:endParaRPr lang="zh-CN" altLang="en-US" sz="1600" b="0" i="0" baseline="0">
            <a:latin typeface="+mn-lt"/>
            <a:ea typeface="+mn-ea"/>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a:prstGeom prst="rect">
          <a:avLst/>
        </a:prstGeom>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a:prstGeom prst="rect">
          <a:avLst/>
        </a:prstGeom>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r" defTabSz="711200">
            <a:lnSpc>
              <a:spcPct val="90000"/>
            </a:lnSpc>
            <a:spcBef>
              <a:spcPct val="0"/>
            </a:spcBef>
            <a:spcAft>
              <a:spcPct val="35000"/>
            </a:spcAft>
            <a:buNone/>
          </a:pPr>
          <a:r>
            <a:rPr lang="zh-CN" altLang="en-US" sz="1600" b="1" i="0" kern="1200" baseline="0" dirty="0">
              <a:latin typeface="+mj-lt"/>
              <a:ea typeface="+mj-ea"/>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b="1" i="0" kern="1200" baseline="0" dirty="0">
              <a:solidFill>
                <a:schemeClr val="tx1"/>
              </a:solidFill>
              <a:latin typeface="+mj-lt"/>
              <a:ea typeface="+mj-ea"/>
            </a:rPr>
            <a:t>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latin typeface="+mj-lt"/>
              <a:ea typeface="+mj-ea"/>
            </a:rPr>
            <a:t>管理</a:t>
          </a:r>
        </a:p>
      </dsp:txBody>
      <dsp:txXfrm rot="-5400000">
        <a:off x="2222035" y="2141853"/>
        <a:ext cx="691870" cy="79525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法律上的 </a:t>
          </a:r>
          <a:r>
            <a:rPr lang="en-US" altLang="en-US" sz="1600" b="0" i="0" kern="1200" baseline="0" dirty="0">
              <a:latin typeface="+mn-lt"/>
              <a:ea typeface="+mn-ea"/>
            </a:rPr>
            <a:t>(de jure) </a:t>
          </a:r>
          <a:r>
            <a:rPr lang="zh-CN" altLang="en-US" sz="1600" b="0" i="0" kern="1200" baseline="0" dirty="0">
              <a:latin typeface="+mn-lt"/>
              <a:ea typeface="+mn-ea"/>
            </a:rPr>
            <a:t>国际标准 </a:t>
          </a:r>
          <a:r>
            <a:rPr lang="en-US" altLang="en-US" sz="1600" b="0" i="0" kern="1200" baseline="0" dirty="0">
              <a:latin typeface="+mn-lt"/>
              <a:ea typeface="+mn-ea"/>
            </a:rPr>
            <a:t>OSI</a:t>
          </a:r>
          <a:endParaRPr lang="zh-CN" altLang="en-US" sz="1600" b="0" i="0" kern="1200" baseline="0" dirty="0">
            <a:latin typeface="+mn-lt"/>
            <a:ea typeface="+mn-ea"/>
          </a:endParaRPr>
        </a:p>
      </dsp:txBody>
      <dsp:txXfrm>
        <a:off x="0" y="9188"/>
        <a:ext cx="4963885" cy="711360"/>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事实上的 </a:t>
          </a:r>
          <a:r>
            <a:rPr lang="en-US" altLang="en-US" sz="1600" b="0" i="0" kern="1200" baseline="0" dirty="0">
              <a:latin typeface="+mn-lt"/>
              <a:ea typeface="+mn-ea"/>
            </a:rPr>
            <a:t>(de facto) </a:t>
          </a:r>
          <a:r>
            <a:rPr lang="zh-CN" altLang="en-US" sz="1600" b="0" i="0" kern="1200" baseline="0" dirty="0">
              <a:latin typeface="+mn-lt"/>
              <a:ea typeface="+mn-ea"/>
            </a:rPr>
            <a:t>国际标准 </a:t>
          </a:r>
          <a:r>
            <a:rPr lang="en-US" altLang="en-US" sz="1600" b="0" i="0" kern="1200" baseline="0" dirty="0">
              <a:latin typeface="+mn-lt"/>
              <a:ea typeface="+mn-ea"/>
            </a:rPr>
            <a:t>TCP/IP</a:t>
          </a:r>
          <a:endParaRPr lang="zh-CN" altLang="en-US" sz="1600" b="0" i="0" kern="1200" baseline="0" dirty="0">
            <a:latin typeface="+mn-lt"/>
            <a:ea typeface="+mn-ea"/>
          </a:endParaRPr>
        </a:p>
      </dsp:txBody>
      <dsp:txXfrm>
        <a:off x="0" y="1349829"/>
        <a:ext cx="4963885" cy="711360"/>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获得了最广泛的应用</a:t>
          </a:r>
        </a:p>
      </dsp:txBody>
      <dsp:txXfrm>
        <a:off x="0" y="2061189"/>
        <a:ext cx="4963885" cy="62928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1">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FA4006E8-8395-4ADA-895B-2208204B7025}" type="datetimeFigureOut">
              <a:rPr lang="zh-CN" altLang="en-US" smtClean="0"/>
              <a:pPr>
                <a:defRPr/>
              </a:pPr>
              <a:t>2026/8/29</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CD1CD96A-A6EF-4B0B-9885-C22D65D2CD20}" type="slidenum">
              <a:rPr lang="zh-CN" altLang="en-US" smtClean="0"/>
              <a:pPr>
                <a:defRPr/>
              </a:pPr>
              <a:t>‹#›</a:t>
            </a:fld>
            <a:endParaRPr lang="zh-CN" altLang="en-US" dirty="0"/>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latin typeface="Times New Roman" panose="02020603050405020304" pitchFamily="18" charset="0"/>
                <a:ea typeface="微软雅黑 Light" panose="020B0502040204020203" pitchFamily="34" charset="-122"/>
              </a:rPr>
              <a:pPr fontAlgn="base">
                <a:spcBef>
                  <a:spcPct val="0"/>
                </a:spcBef>
                <a:spcAft>
                  <a:spcPct val="0"/>
                </a:spcAft>
              </a:pPr>
              <a:t>2</a:t>
            </a:fld>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发展最快的并起到核心作用的是计算机网络</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a:t>
            </a:fld>
            <a:endParaRPr lang="zh-CN" altLang="en-US" dirty="0"/>
          </a:p>
        </p:txBody>
      </p:sp>
    </p:spTree>
    <p:extLst>
      <p:ext uri="{BB962C8B-B14F-4D97-AF65-F5344CB8AC3E}">
        <p14:creationId xmlns:p14="http://schemas.microsoft.com/office/powerpoint/2010/main" val="389232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zh-CN" altLang="en-US" dirty="0"/>
              <a:t>互连网 ≠ 互联网</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a:t>
            </a:fld>
            <a:endParaRPr lang="zh-CN" altLang="en-US" dirty="0"/>
          </a:p>
        </p:txBody>
      </p:sp>
    </p:spTree>
    <p:extLst>
      <p:ext uri="{BB962C8B-B14F-4D97-AF65-F5344CB8AC3E}">
        <p14:creationId xmlns:p14="http://schemas.microsoft.com/office/powerpoint/2010/main" val="461789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51618-ABEC-35D9-1B3F-AB394BCDE4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CBE9D5A-EA1E-7752-D545-EA805E1F337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10A0E73-0622-9FE2-B477-F0B73573A01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56F0F6B-05DC-2618-2808-2F5686391C44}"/>
              </a:ext>
            </a:extLst>
          </p:cNvPr>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273607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17</a:t>
            </a:fld>
            <a:endParaRPr lang="zh-CN" altLang="en-US" dirty="0"/>
          </a:p>
        </p:txBody>
      </p:sp>
    </p:spTree>
    <p:extLst>
      <p:ext uri="{BB962C8B-B14F-4D97-AF65-F5344CB8AC3E}">
        <p14:creationId xmlns:p14="http://schemas.microsoft.com/office/powerpoint/2010/main" val="4718744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27</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37</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38</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DACA-7CB4-08EA-BB26-D8DFD9290D5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2A515C-16F5-3BB1-944A-CA87D18D0AA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6EBA8D-D558-654F-971C-18D9E4E21D3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391CD89-0CA8-D9D7-3508-86BDE799B898}"/>
              </a:ext>
            </a:extLst>
          </p:cNvPr>
          <p:cNvSpPr>
            <a:spLocks noGrp="1"/>
          </p:cNvSpPr>
          <p:nvPr>
            <p:ph type="sldNum" sz="quarter" idx="10"/>
          </p:nvPr>
        </p:nvSpPr>
        <p:spPr/>
        <p:txBody>
          <a:bodyPr/>
          <a:lstStyle/>
          <a:p>
            <a:pPr>
              <a:defRPr/>
            </a:pPr>
            <a:fld id="{CD1CD96A-A6EF-4B0B-9885-C22D65D2CD20}" type="slidenum">
              <a:rPr lang="zh-CN" altLang="en-US" smtClean="0"/>
              <a:pPr>
                <a:defRPr/>
              </a:pPr>
              <a:t>41</a:t>
            </a:fld>
            <a:endParaRPr lang="zh-CN" altLang="en-US"/>
          </a:p>
        </p:txBody>
      </p:sp>
    </p:spTree>
    <p:extLst>
      <p:ext uri="{BB962C8B-B14F-4D97-AF65-F5344CB8AC3E}">
        <p14:creationId xmlns:p14="http://schemas.microsoft.com/office/powerpoint/2010/main" val="25533054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44</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47</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61</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若中央处理机之间的距离非常近（如仅 </a:t>
            </a:r>
            <a:r>
              <a:rPr lang="en-US" altLang="zh-CN" dirty="0"/>
              <a:t>1 </a:t>
            </a:r>
            <a:r>
              <a:rPr lang="zh-CN" altLang="en-US" dirty="0"/>
              <a:t>米甚至更小些），则一般就称之为多处理机系统，而不称它为计算机网络。 </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66</a:t>
            </a:fld>
            <a:endParaRPr lang="zh-CN" altLang="en-US" dirty="0"/>
          </a:p>
        </p:txBody>
      </p:sp>
    </p:spTree>
    <p:extLst>
      <p:ext uri="{BB962C8B-B14F-4D97-AF65-F5344CB8AC3E}">
        <p14:creationId xmlns:p14="http://schemas.microsoft.com/office/powerpoint/2010/main" val="942091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68</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千 </a:t>
            </a:r>
            <a:r>
              <a:rPr lang="en-US" altLang="zh-CN" dirty="0"/>
              <a:t>= K = 210 = 1024</a:t>
            </a:r>
            <a:r>
              <a:rPr lang="zh-CN" altLang="en-US" dirty="0"/>
              <a:t>，兆 </a:t>
            </a:r>
            <a:r>
              <a:rPr lang="en-US" altLang="zh-CN" dirty="0"/>
              <a:t>= M = 220 = 1024 K</a:t>
            </a:r>
            <a:r>
              <a:rPr lang="zh-CN" altLang="en-US" dirty="0"/>
              <a:t>，吉 </a:t>
            </a:r>
            <a:r>
              <a:rPr lang="en-US" altLang="zh-CN" dirty="0"/>
              <a:t>= G = 230 = 1024 M</a:t>
            </a:r>
          </a:p>
          <a:p>
            <a:r>
              <a:rPr lang="en-US" altLang="zh-CN" dirty="0"/>
              <a:t>1 </a:t>
            </a:r>
            <a:r>
              <a:rPr lang="zh-CN" altLang="en-US" dirty="0"/>
              <a:t>字节 </a:t>
            </a:r>
            <a:r>
              <a:rPr lang="en-US" altLang="zh-CN" dirty="0"/>
              <a:t>(Byte) =  8 </a:t>
            </a:r>
            <a:r>
              <a:rPr lang="zh-CN" altLang="en-US" dirty="0"/>
              <a:t>比特 </a:t>
            </a:r>
            <a:r>
              <a:rPr lang="en-US" altLang="zh-CN" dirty="0"/>
              <a:t>(bit</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71</a:t>
            </a:fld>
            <a:endParaRPr lang="zh-CN" altLang="en-US" dirty="0"/>
          </a:p>
        </p:txBody>
      </p:sp>
    </p:spTree>
    <p:extLst>
      <p:ext uri="{BB962C8B-B14F-4D97-AF65-F5344CB8AC3E}">
        <p14:creationId xmlns:p14="http://schemas.microsoft.com/office/powerpoint/2010/main" val="949121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注意单位大小写</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76</a:t>
            </a:fld>
            <a:endParaRPr lang="zh-CN" altLang="en-US" dirty="0"/>
          </a:p>
        </p:txBody>
      </p:sp>
    </p:spTree>
    <p:extLst>
      <p:ext uri="{BB962C8B-B14F-4D97-AF65-F5344CB8AC3E}">
        <p14:creationId xmlns:p14="http://schemas.microsoft.com/office/powerpoint/2010/main" val="23833658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79</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80</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不能笼统地认为：“数据的发送速率越高，其传送的总时延就越小”。</a:t>
            </a:r>
          </a:p>
          <a:p>
            <a:r>
              <a:rPr lang="zh-CN" altLang="en-US" dirty="0"/>
              <a:t>数据的容量</a:t>
            </a:r>
            <a:endParaRPr lang="en-US" altLang="zh-CN" dirty="0"/>
          </a:p>
          <a:p>
            <a:r>
              <a:rPr lang="en-US" altLang="zh-CN" dirty="0"/>
              <a:t>1Byte=8bit</a:t>
            </a:r>
          </a:p>
          <a:p>
            <a:r>
              <a:rPr lang="en-US" altLang="zh-CN" dirty="0"/>
              <a:t>1Kbit=2^10bit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1Mbit=2^20bit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1Gbit=2^30bit</a:t>
            </a: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83</a:t>
            </a:fld>
            <a:endParaRPr lang="zh-CN" altLang="en-US" dirty="0"/>
          </a:p>
        </p:txBody>
      </p:sp>
    </p:spTree>
    <p:extLst>
      <p:ext uri="{BB962C8B-B14F-4D97-AF65-F5344CB8AC3E}">
        <p14:creationId xmlns:p14="http://schemas.microsoft.com/office/powerpoint/2010/main" val="10135375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85</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98</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102</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这一层并没有具体内容</a:t>
            </a:r>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109</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125</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126</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127</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128</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129</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130</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131</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132</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B036402E-D1D1-F187-DFE8-5723BFFE9FBF}"/>
              </a:ext>
            </a:extLst>
          </p:cNvPr>
          <p:cNvSpPr/>
          <p:nvPr userDrawn="1"/>
        </p:nvSpPr>
        <p:spPr>
          <a:xfrm>
            <a:off x="0" y="1"/>
            <a:ext cx="4741817" cy="5143501"/>
          </a:xfrm>
          <a:custGeom>
            <a:avLst/>
            <a:gdLst>
              <a:gd name="csX0" fmla="*/ 0 w 4741817"/>
              <a:gd name="csY0" fmla="*/ 0 h 5143501"/>
              <a:gd name="csX1" fmla="*/ 1272194 w 4741817"/>
              <a:gd name="csY1" fmla="*/ 0 h 5143501"/>
              <a:gd name="csX2" fmla="*/ 4741817 w 4741817"/>
              <a:gd name="csY2" fmla="*/ 5143501 h 5143501"/>
              <a:gd name="csX3" fmla="*/ 0 w 4741817"/>
              <a:gd name="csY3" fmla="*/ 5143501 h 5143501"/>
              <a:gd name="csX4" fmla="*/ 0 w 4741817"/>
              <a:gd name="csY4" fmla="*/ 5143500 h 5143501"/>
              <a:gd name="csX5" fmla="*/ 1503503 w 4741817"/>
              <a:gd name="csY5" fmla="*/ 5143500 h 5143501"/>
              <a:gd name="csX6" fmla="*/ 0 w 4741817"/>
              <a:gd name="csY6" fmla="*/ 2914650 h 514350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741817" h="5143501">
                <a:moveTo>
                  <a:pt x="0" y="0"/>
                </a:moveTo>
                <a:lnTo>
                  <a:pt x="1272194" y="0"/>
                </a:lnTo>
                <a:lnTo>
                  <a:pt x="4741817" y="5143501"/>
                </a:lnTo>
                <a:lnTo>
                  <a:pt x="0" y="5143501"/>
                </a:lnTo>
                <a:lnTo>
                  <a:pt x="0" y="5143500"/>
                </a:lnTo>
                <a:lnTo>
                  <a:pt x="1503503" y="5143500"/>
                </a:lnTo>
                <a:lnTo>
                  <a:pt x="0" y="2914650"/>
                </a:lnTo>
                <a:close/>
              </a:path>
            </a:pathLst>
          </a:custGeom>
          <a:blipFill dpi="0" rotWithShape="1">
            <a:blip r:embed="rId2"/>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8" name="任意多边形: 形状 7">
            <a:extLst>
              <a:ext uri="{FF2B5EF4-FFF2-40B4-BE49-F238E27FC236}">
                <a16:creationId xmlns:a16="http://schemas.microsoft.com/office/drawing/2014/main" id="{EE83E7A8-DBD4-6E7B-661C-5B2F868BF548}"/>
              </a:ext>
            </a:extLst>
          </p:cNvPr>
          <p:cNvSpPr/>
          <p:nvPr userDrawn="1"/>
        </p:nvSpPr>
        <p:spPr>
          <a:xfrm>
            <a:off x="2228850" y="1000125"/>
            <a:ext cx="6915147" cy="4143375"/>
          </a:xfrm>
          <a:custGeom>
            <a:avLst/>
            <a:gdLst>
              <a:gd name="csX0" fmla="*/ 0 w 6915147"/>
              <a:gd name="csY0" fmla="*/ 0 h 4143375"/>
              <a:gd name="csX1" fmla="*/ 4552956 w 6915147"/>
              <a:gd name="csY1" fmla="*/ 0 h 4143375"/>
              <a:gd name="csX2" fmla="*/ 6915147 w 6915147"/>
              <a:gd name="csY2" fmla="*/ 3501803 h 4143375"/>
              <a:gd name="csX3" fmla="*/ 6915147 w 6915147"/>
              <a:gd name="csY3" fmla="*/ 4143375 h 4143375"/>
              <a:gd name="csX4" fmla="*/ 2794973 w 6915147"/>
              <a:gd name="csY4" fmla="*/ 4143375 h 4143375"/>
              <a:gd name="csX5" fmla="*/ 0 w 6915147"/>
              <a:gd name="csY5" fmla="*/ 1 h 4143375"/>
            </a:gdLst>
            <a:ahLst/>
            <a:cxnLst>
              <a:cxn ang="0">
                <a:pos x="csX0" y="csY0"/>
              </a:cxn>
              <a:cxn ang="0">
                <a:pos x="csX1" y="csY1"/>
              </a:cxn>
              <a:cxn ang="0">
                <a:pos x="csX2" y="csY2"/>
              </a:cxn>
              <a:cxn ang="0">
                <a:pos x="csX3" y="csY3"/>
              </a:cxn>
              <a:cxn ang="0">
                <a:pos x="csX4" y="csY4"/>
              </a:cxn>
              <a:cxn ang="0">
                <a:pos x="csX5" y="csY5"/>
              </a:cxn>
            </a:cxnLst>
            <a:rect l="l" t="t" r="r" b="b"/>
            <a:pathLst>
              <a:path w="6915147" h="4143375">
                <a:moveTo>
                  <a:pt x="0" y="0"/>
                </a:moveTo>
                <a:lnTo>
                  <a:pt x="4552956" y="0"/>
                </a:lnTo>
                <a:lnTo>
                  <a:pt x="6915147" y="3501803"/>
                </a:lnTo>
                <a:lnTo>
                  <a:pt x="6915147" y="4143375"/>
                </a:lnTo>
                <a:lnTo>
                  <a:pt x="2794973" y="4143375"/>
                </a:lnTo>
                <a:lnTo>
                  <a:pt x="0" y="1"/>
                </a:lnTo>
                <a:close/>
              </a:path>
            </a:pathLst>
          </a:cu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 name="标题 1">
            <a:extLst>
              <a:ext uri="{FF2B5EF4-FFF2-40B4-BE49-F238E27FC236}">
                <a16:creationId xmlns:a16="http://schemas.microsoft.com/office/drawing/2014/main" id="{88B184FF-622D-3306-B0F2-2D5466C757ED}"/>
              </a:ext>
            </a:extLst>
          </p:cNvPr>
          <p:cNvSpPr>
            <a:spLocks noGrp="1"/>
          </p:cNvSpPr>
          <p:nvPr>
            <p:ph type="title"/>
          </p:nvPr>
        </p:nvSpPr>
        <p:spPr>
          <a:xfrm>
            <a:off x="2228850" y="403553"/>
            <a:ext cx="6562725" cy="523220"/>
          </a:xfrm>
        </p:spPr>
        <p:txBody>
          <a:bodyPr/>
          <a:lstStyle>
            <a:lvl1pPr>
              <a:lnSpc>
                <a:spcPct val="100000"/>
              </a:lnSpc>
              <a:defRPr sz="2800">
                <a:solidFill>
                  <a:schemeClr val="tx1"/>
                </a:solidFill>
              </a:defRPr>
            </a:lvl1pPr>
          </a:lstStyle>
          <a:p>
            <a:r>
              <a:rPr lang="zh-CN" altLang="en-US" dirty="0"/>
              <a:t>单击此处编辑母版标题样式</a:t>
            </a:r>
          </a:p>
        </p:txBody>
      </p:sp>
    </p:spTree>
    <p:extLst>
      <p:ext uri="{BB962C8B-B14F-4D97-AF65-F5344CB8AC3E}">
        <p14:creationId xmlns:p14="http://schemas.microsoft.com/office/powerpoint/2010/main" val="32065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3200F1-A367-DE63-EF07-8BDA9D773628}"/>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
        <p:nvSpPr>
          <p:cNvPr id="5" name="内容占位符 4">
            <a:extLst>
              <a:ext uri="{FF2B5EF4-FFF2-40B4-BE49-F238E27FC236}">
                <a16:creationId xmlns:a16="http://schemas.microsoft.com/office/drawing/2014/main" id="{8C33CEDD-DCDC-C7AD-8118-634E9A643E6D}"/>
              </a:ext>
            </a:extLst>
          </p:cNvPr>
          <p:cNvSpPr>
            <a:spLocks noGrp="1"/>
          </p:cNvSpPr>
          <p:nvPr>
            <p:ph sz="quarter" idx="10"/>
          </p:nvPr>
        </p:nvSpPr>
        <p:spPr>
          <a:xfrm>
            <a:off x="612000" y="899999"/>
            <a:ext cx="7920000" cy="3780000"/>
          </a:xfrm>
        </p:spPr>
        <p:txBody>
          <a:bodyPr/>
          <a:lstStyle>
            <a:lvl1pPr>
              <a:buFont typeface="Wingdings" panose="05000000000000000000" pitchFamily="2" charset="2"/>
              <a:buChar char="§"/>
              <a:defRPr lang="zh-CN" altLang="en-US" dirty="0"/>
            </a:lvl1pPr>
            <a:lvl2pPr>
              <a:defRPr lang="zh-CN" altLang="en-US" dirty="0"/>
            </a:lvl2pPr>
            <a:lvl3pPr marL="540000">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580602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087E70-7160-B4F6-FB83-D01296B0D4C4}"/>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7140260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574807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872EF6DB-335D-41E7-ADDC-05F45EA1790E}"/>
              </a:ext>
            </a:extLst>
          </p:cNvPr>
          <p:cNvSpPr/>
          <p:nvPr userDrawn="1"/>
        </p:nvSpPr>
        <p:spPr>
          <a:xfrm>
            <a:off x="0" y="0"/>
            <a:ext cx="9144000" cy="840441"/>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endParaRPr>
          </a:p>
        </p:txBody>
      </p:sp>
      <p:sp>
        <p:nvSpPr>
          <p:cNvPr id="5" name="任意多边形: 形状 4">
            <a:extLst>
              <a:ext uri="{FF2B5EF4-FFF2-40B4-BE49-F238E27FC236}">
                <a16:creationId xmlns:a16="http://schemas.microsoft.com/office/drawing/2014/main" id="{B97DF034-3308-4BA6-A390-1C3EEDAA1039}"/>
              </a:ext>
            </a:extLst>
          </p:cNvPr>
          <p:cNvSpPr/>
          <p:nvPr userDrawn="1"/>
        </p:nvSpPr>
        <p:spPr>
          <a:xfrm>
            <a:off x="0" y="0"/>
            <a:ext cx="9144000" cy="773206"/>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2" name="标题占位符 1">
            <a:extLst>
              <a:ext uri="{FF2B5EF4-FFF2-40B4-BE49-F238E27FC236}">
                <a16:creationId xmlns:a16="http://schemas.microsoft.com/office/drawing/2014/main" id="{4D67AE12-B998-CFE6-5E5E-6AE6643E7916}"/>
              </a:ext>
            </a:extLst>
          </p:cNvPr>
          <p:cNvSpPr>
            <a:spLocks noGrp="1"/>
          </p:cNvSpPr>
          <p:nvPr>
            <p:ph type="title"/>
          </p:nvPr>
        </p:nvSpPr>
        <p:spPr>
          <a:xfrm>
            <a:off x="612000" y="144000"/>
            <a:ext cx="7920000" cy="3416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4EE75C8C-FA0F-A9D4-2F98-DC890073FF3C}"/>
              </a:ext>
            </a:extLst>
          </p:cNvPr>
          <p:cNvSpPr>
            <a:spLocks noGrp="1"/>
          </p:cNvSpPr>
          <p:nvPr>
            <p:ph type="body" idx="1"/>
          </p:nvPr>
        </p:nvSpPr>
        <p:spPr>
          <a:xfrm>
            <a:off x="612000" y="900000"/>
            <a:ext cx="7920000" cy="378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
        <p:nvSpPr>
          <p:cNvPr id="8" name="Rectangle 5">
            <a:extLst>
              <a:ext uri="{FF2B5EF4-FFF2-40B4-BE49-F238E27FC236}">
                <a16:creationId xmlns:a16="http://schemas.microsoft.com/office/drawing/2014/main" id="{A544FBB2-85F9-2332-79F8-2108E64F5687}"/>
              </a:ext>
            </a:extLst>
          </p:cNvPr>
          <p:cNvSpPr>
            <a:spLocks noChangeArrowheads="1"/>
          </p:cNvSpPr>
          <p:nvPr userDrawn="1"/>
        </p:nvSpPr>
        <p:spPr bwMode="auto">
          <a:xfrm>
            <a:off x="3002703" y="4805682"/>
            <a:ext cx="1390124"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en-US" altLang="zh-CN" sz="800" baseline="0" dirty="0">
                <a:solidFill>
                  <a:schemeClr val="tx1">
                    <a:lumMod val="50000"/>
                    <a:lumOff val="50000"/>
                  </a:schemeClr>
                </a:solidFill>
                <a:latin typeface="+mn-lt"/>
                <a:ea typeface="+mn-ea"/>
              </a:rPr>
              <a:t>Computer Network 8th</a:t>
            </a:r>
            <a:endParaRPr lang="fr-FR" altLang="zh-CN" sz="800" baseline="0" dirty="0">
              <a:solidFill>
                <a:schemeClr val="tx1">
                  <a:lumMod val="50000"/>
                  <a:lumOff val="50000"/>
                </a:schemeClr>
              </a:solidFill>
              <a:latin typeface="+mn-lt"/>
              <a:ea typeface="+mn-ea"/>
            </a:endParaRPr>
          </a:p>
        </p:txBody>
      </p:sp>
      <p:sp>
        <p:nvSpPr>
          <p:cNvPr id="13" name="文本框 12">
            <a:extLst>
              <a:ext uri="{FF2B5EF4-FFF2-40B4-BE49-F238E27FC236}">
                <a16:creationId xmlns:a16="http://schemas.microsoft.com/office/drawing/2014/main" id="{55D5D21A-270B-1DEE-1850-7EE79091AF02}"/>
              </a:ext>
            </a:extLst>
          </p:cNvPr>
          <p:cNvSpPr txBox="1"/>
          <p:nvPr userDrawn="1"/>
        </p:nvSpPr>
        <p:spPr>
          <a:xfrm>
            <a:off x="4751173" y="4805682"/>
            <a:ext cx="1532792"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sz="800" baseline="0" dirty="0">
                <a:solidFill>
                  <a:schemeClr val="tx1">
                    <a:lumMod val="50000"/>
                    <a:lumOff val="50000"/>
                  </a:schemeClr>
                </a:solidFill>
                <a:latin typeface="+mn-lt"/>
                <a:ea typeface="+mn-ea"/>
              </a:rPr>
              <a:t>glplaman.github.io</a:t>
            </a:r>
            <a:endParaRPr lang="fr-FR" altLang="zh-CN" sz="800" baseline="0" dirty="0">
              <a:solidFill>
                <a:schemeClr val="tx1">
                  <a:lumMod val="50000"/>
                  <a:lumOff val="50000"/>
                </a:schemeClr>
              </a:solidFill>
              <a:latin typeface="+mn-lt"/>
              <a:ea typeface="+mn-ea"/>
            </a:endParaRPr>
          </a:p>
        </p:txBody>
      </p:sp>
      <p:sp>
        <p:nvSpPr>
          <p:cNvPr id="6" name="椭圆 5">
            <a:extLst>
              <a:ext uri="{FF2B5EF4-FFF2-40B4-BE49-F238E27FC236}">
                <a16:creationId xmlns:a16="http://schemas.microsoft.com/office/drawing/2014/main" id="{DC82DB3A-7A48-8D2E-7CC2-3C9757752EA7}"/>
              </a:ext>
            </a:extLst>
          </p:cNvPr>
          <p:cNvSpPr/>
          <p:nvPr userDrawn="1"/>
        </p:nvSpPr>
        <p:spPr>
          <a:xfrm>
            <a:off x="4391173" y="4733404"/>
            <a:ext cx="360000" cy="360000"/>
          </a:xfrm>
          <a:prstGeom prst="ellipse">
            <a:avLst/>
          </a:prstGeom>
          <a:blipFill>
            <a:blip r:embed="rId6"/>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88848597"/>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6" r:id="rId3"/>
    <p:sldLayoutId id="2147483691" r:id="rId4"/>
  </p:sldLayoutIdLst>
  <p:txStyles>
    <p:titleStyle>
      <a:lvl1pPr algn="l" defTabSz="685800" rtl="0" eaLnBrk="1" latinLnBrk="0" hangingPunct="1">
        <a:lnSpc>
          <a:spcPct val="90000"/>
        </a:lnSpc>
        <a:spcBef>
          <a:spcPct val="0"/>
        </a:spcBef>
        <a:buNone/>
        <a:defRPr sz="1800" kern="1200">
          <a:solidFill>
            <a:schemeClr val="bg1"/>
          </a:solidFill>
          <a:latin typeface="+mj-lt"/>
          <a:ea typeface="+mj-ea"/>
          <a:cs typeface="+mj-cs"/>
        </a:defRPr>
      </a:lvl1pPr>
    </p:titleStyle>
    <p:bodyStyle>
      <a:lvl1pPr marL="180000" indent="-180000" algn="l" defTabSz="685800" rtl="0" eaLnBrk="1" latinLnBrk="0" hangingPunct="1">
        <a:lnSpc>
          <a:spcPct val="100000"/>
        </a:lnSpc>
        <a:spcBef>
          <a:spcPts val="0"/>
        </a:spcBef>
        <a:spcAft>
          <a:spcPts val="600"/>
        </a:spcAft>
        <a:buFont typeface="Wingdings" panose="05000000000000000000" pitchFamily="2" charset="2"/>
        <a:buChar char="§"/>
        <a:defRPr sz="1600" kern="1200">
          <a:solidFill>
            <a:schemeClr val="tx1"/>
          </a:solidFill>
          <a:latin typeface="+mn-lt"/>
          <a:ea typeface="+mn-ea"/>
          <a:cs typeface="+mn-cs"/>
        </a:defRPr>
      </a:lvl1pPr>
      <a:lvl2pPr marL="360000" indent="-180000" algn="l" defTabSz="6858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600"/>
        </a:spcAft>
        <a:buFont typeface="Montserrat" panose="00000500000000000000" pitchFamily="2" charset="0"/>
        <a:buChar char="−"/>
        <a:defRPr sz="12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chinadaily.com.cn/business/2015-12/30/content_22868675.ht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hyperlink" Target="https://nsf.net/abou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www.w3.org/"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nsf.gov/impacts/internet"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www.rfc-editor.org/series/rfc/"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8.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29.png"/></Relationships>
</file>

<file path=ppt/slides/_rels/slide38.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blog.csdn.net/Lswblue/article/details/149030966"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8.wmf"/><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hyperlink" Target="https://www.cnnic.cn/"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2.wmf"/><Relationship Id="rId7"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8.png"/><Relationship Id="rId11" Type="http://schemas.openxmlformats.org/officeDocument/2006/relationships/image" Target="../media/image42.png"/><Relationship Id="rId5" Type="http://schemas.openxmlformats.org/officeDocument/2006/relationships/image" Target="../media/image37.png"/><Relationship Id="rId10" Type="http://schemas.openxmlformats.org/officeDocument/2006/relationships/image" Target="../media/image41.png"/><Relationship Id="rId4" Type="http://schemas.openxmlformats.org/officeDocument/2006/relationships/image" Target="../media/image36.png"/><Relationship Id="rId9" Type="http://schemas.openxmlformats.org/officeDocument/2006/relationships/image" Target="../media/image2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1.bin"/><Relationship Id="rId1" Type="http://schemas.openxmlformats.org/officeDocument/2006/relationships/slideLayout" Target="../slideLayouts/slideLayout3.xml"/><Relationship Id="rId6" Type="http://schemas.openxmlformats.org/officeDocument/2006/relationships/image" Target="../media/image18.wmf"/><Relationship Id="rId5" Type="http://schemas.openxmlformats.org/officeDocument/2006/relationships/image" Target="../media/image33.png"/><Relationship Id="rId4" Type="http://schemas.openxmlformats.org/officeDocument/2006/relationships/image" Target="../media/image46.wmf"/></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Rectangle 4"/>
          <p:cNvSpPr>
            <a:spLocks noChangeArrowheads="1"/>
          </p:cNvSpPr>
          <p:nvPr/>
        </p:nvSpPr>
        <p:spPr bwMode="auto">
          <a:xfrm>
            <a:off x="86780" y="2295525"/>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3" name="矩形 6"/>
          <p:cNvSpPr>
            <a:spLocks noChangeArrowheads="1"/>
          </p:cNvSpPr>
          <p:nvPr/>
        </p:nvSpPr>
        <p:spPr bwMode="auto">
          <a:xfrm>
            <a:off x="3869567" y="2571750"/>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dirty="0">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3869567" y="2089150"/>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80" y="2667000"/>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圆角 1">
            <a:extLst>
              <a:ext uri="{FF2B5EF4-FFF2-40B4-BE49-F238E27FC236}">
                <a16:creationId xmlns:a16="http://schemas.microsoft.com/office/drawing/2014/main" id="{CDC31DF7-3597-B8EC-20E9-32DD9DD52870}"/>
              </a:ext>
            </a:extLst>
          </p:cNvPr>
          <p:cNvSpPr/>
          <p:nvPr/>
        </p:nvSpPr>
        <p:spPr>
          <a:xfrm>
            <a:off x="5565775" y="605977"/>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3" name="矩形: 圆角 2">
            <a:extLst>
              <a:ext uri="{FF2B5EF4-FFF2-40B4-BE49-F238E27FC236}">
                <a16:creationId xmlns:a16="http://schemas.microsoft.com/office/drawing/2014/main" id="{3CCCCC83-1A63-13C6-B208-0AC5B2EF4B8B}"/>
              </a:ext>
            </a:extLst>
          </p:cNvPr>
          <p:cNvSpPr/>
          <p:nvPr/>
        </p:nvSpPr>
        <p:spPr>
          <a:xfrm>
            <a:off x="6205609" y="1173851"/>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4" name="矩形: 圆角 3">
            <a:extLst>
              <a:ext uri="{FF2B5EF4-FFF2-40B4-BE49-F238E27FC236}">
                <a16:creationId xmlns:a16="http://schemas.microsoft.com/office/drawing/2014/main" id="{91EBB856-04AB-A475-32C6-EE320B892A39}"/>
              </a:ext>
            </a:extLst>
          </p:cNvPr>
          <p:cNvSpPr/>
          <p:nvPr/>
        </p:nvSpPr>
        <p:spPr>
          <a:xfrm>
            <a:off x="6755384" y="148784"/>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5" name="矩形: 圆角 4">
            <a:extLst>
              <a:ext uri="{FF2B5EF4-FFF2-40B4-BE49-F238E27FC236}">
                <a16:creationId xmlns:a16="http://schemas.microsoft.com/office/drawing/2014/main" id="{EA62A992-73A6-4BB3-439C-F439906C5B92}"/>
              </a:ext>
            </a:extLst>
          </p:cNvPr>
          <p:cNvSpPr/>
          <p:nvPr/>
        </p:nvSpPr>
        <p:spPr>
          <a:xfrm>
            <a:off x="7395218" y="71665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sp>
        <p:nvSpPr>
          <p:cNvPr id="6" name="标题 7">
            <a:extLst>
              <a:ext uri="{FF2B5EF4-FFF2-40B4-BE49-F238E27FC236}">
                <a16:creationId xmlns:a16="http://schemas.microsoft.com/office/drawing/2014/main" id="{F2E160D8-3654-484B-647B-E4DE724FC643}"/>
              </a:ext>
            </a:extLst>
          </p:cNvPr>
          <p:cNvSpPr txBox="1">
            <a:spLocks/>
          </p:cNvSpPr>
          <p:nvPr/>
        </p:nvSpPr>
        <p:spPr>
          <a:xfrm>
            <a:off x="86780" y="1534598"/>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400" b="1" baseline="-25000"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9th</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500" fill="hold"/>
                                        <p:tgtEl>
                                          <p:spTgt spid="4"/>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5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anim calcmode="lin" valueType="num">
                                      <p:cBhvr>
                                        <p:cTn id="26" dur="500" fill="hold"/>
                                        <p:tgtEl>
                                          <p:spTgt spid="3"/>
                                        </p:tgtEl>
                                        <p:attrNameLst>
                                          <p:attrName>ppt_x</p:attrName>
                                        </p:attrNameLst>
                                      </p:cBhvr>
                                      <p:tavLst>
                                        <p:tav tm="0">
                                          <p:val>
                                            <p:strVal val="#ppt_x"/>
                                          </p:val>
                                        </p:tav>
                                        <p:tav tm="100000">
                                          <p:val>
                                            <p:strVal val="#ppt_x"/>
                                          </p:val>
                                        </p:tav>
                                      </p:tavLst>
                                    </p:anim>
                                    <p:anim calcmode="lin" valueType="num">
                                      <p:cBhvr>
                                        <p:cTn id="27" dur="5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19E68F16-B059-978D-736F-3AD1F09A06AC}"/>
              </a:ext>
            </a:extLst>
          </p:cNvPr>
          <p:cNvSpPr/>
          <p:nvPr/>
        </p:nvSpPr>
        <p:spPr>
          <a:xfrm rot="5400000">
            <a:off x="-1052512" y="1052514"/>
            <a:ext cx="5143500" cy="3038474"/>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A709590B-FFB1-CD14-0250-57F350A838E2}"/>
              </a:ext>
            </a:extLst>
          </p:cNvPr>
          <p:cNvSpPr/>
          <p:nvPr/>
        </p:nvSpPr>
        <p:spPr>
          <a:xfrm rot="5400000">
            <a:off x="-1190625" y="1190626"/>
            <a:ext cx="5143500" cy="2762250"/>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4" name="任意多边形: 形状 13">
            <a:extLst>
              <a:ext uri="{FF2B5EF4-FFF2-40B4-BE49-F238E27FC236}">
                <a16:creationId xmlns:a16="http://schemas.microsoft.com/office/drawing/2014/main" id="{A0AADA2D-6F81-7598-EFB5-4638777E165B}"/>
              </a:ext>
            </a:extLst>
          </p:cNvPr>
          <p:cNvSpPr/>
          <p:nvPr/>
        </p:nvSpPr>
        <p:spPr>
          <a:xfrm>
            <a:off x="0" y="0"/>
            <a:ext cx="4572000" cy="5143499"/>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8" name="Rectangle 17">
            <a:extLst>
              <a:ext uri="{FF2B5EF4-FFF2-40B4-BE49-F238E27FC236}">
                <a16:creationId xmlns:a16="http://schemas.microsoft.com/office/drawing/2014/main" id="{62F072BD-0C06-D327-5138-1EBB264D752C}"/>
              </a:ext>
            </a:extLst>
          </p:cNvPr>
          <p:cNvSpPr>
            <a:spLocks noChangeArrowheads="1"/>
          </p:cNvSpPr>
          <p:nvPr/>
        </p:nvSpPr>
        <p:spPr bwMode="auto">
          <a:xfrm>
            <a:off x="2337029" y="863580"/>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dirty="0">
                <a:latin typeface="+mj-lt"/>
                <a:ea typeface="+mj-ea"/>
              </a:rPr>
              <a:t>1.1 </a:t>
            </a:r>
            <a:r>
              <a:rPr lang="zh-CN" altLang="en-US" dirty="0">
                <a:latin typeface="+mj-lt"/>
                <a:ea typeface="+mj-ea"/>
              </a:rPr>
              <a:t>计算机网络在信息时代中的作用</a:t>
            </a:r>
          </a:p>
        </p:txBody>
      </p:sp>
      <p:sp>
        <p:nvSpPr>
          <p:cNvPr id="20" name="Rectangle 18">
            <a:extLst>
              <a:ext uri="{FF2B5EF4-FFF2-40B4-BE49-F238E27FC236}">
                <a16:creationId xmlns:a16="http://schemas.microsoft.com/office/drawing/2014/main" id="{4896F58D-53DF-263A-1BEB-18FCB477A208}"/>
              </a:ext>
            </a:extLst>
          </p:cNvPr>
          <p:cNvSpPr>
            <a:spLocks noChangeArrowheads="1"/>
          </p:cNvSpPr>
          <p:nvPr/>
        </p:nvSpPr>
        <p:spPr bwMode="auto">
          <a:xfrm>
            <a:off x="2337029" y="1350943"/>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1.2 </a:t>
            </a:r>
            <a:r>
              <a:rPr lang="zh-CN" altLang="en-US" dirty="0">
                <a:latin typeface="+mj-lt"/>
                <a:ea typeface="+mj-ea"/>
              </a:rPr>
              <a:t>互联网概述</a:t>
            </a:r>
          </a:p>
        </p:txBody>
      </p:sp>
      <p:sp>
        <p:nvSpPr>
          <p:cNvPr id="22" name="Rectangle 19">
            <a:extLst>
              <a:ext uri="{FF2B5EF4-FFF2-40B4-BE49-F238E27FC236}">
                <a16:creationId xmlns:a16="http://schemas.microsoft.com/office/drawing/2014/main" id="{AC48F89F-AF58-4916-8142-4FAB48EA042C}"/>
              </a:ext>
            </a:extLst>
          </p:cNvPr>
          <p:cNvSpPr>
            <a:spLocks noChangeArrowheads="1"/>
          </p:cNvSpPr>
          <p:nvPr/>
        </p:nvSpPr>
        <p:spPr bwMode="auto">
          <a:xfrm>
            <a:off x="2337029" y="1838306"/>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1.3 </a:t>
            </a:r>
            <a:r>
              <a:rPr lang="zh-CN" altLang="en-US" dirty="0">
                <a:latin typeface="+mj-lt"/>
                <a:ea typeface="+mj-ea"/>
              </a:rPr>
              <a:t>互联网的组成</a:t>
            </a:r>
          </a:p>
        </p:txBody>
      </p:sp>
      <p:sp>
        <p:nvSpPr>
          <p:cNvPr id="24" name="Rectangle 20">
            <a:extLst>
              <a:ext uri="{FF2B5EF4-FFF2-40B4-BE49-F238E27FC236}">
                <a16:creationId xmlns:a16="http://schemas.microsoft.com/office/drawing/2014/main" id="{3942270A-5317-C630-7DC3-58655E6F5127}"/>
              </a:ext>
            </a:extLst>
          </p:cNvPr>
          <p:cNvSpPr>
            <a:spLocks noChangeArrowheads="1"/>
          </p:cNvSpPr>
          <p:nvPr/>
        </p:nvSpPr>
        <p:spPr bwMode="auto">
          <a:xfrm>
            <a:off x="2337029" y="2325669"/>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1.4 </a:t>
            </a:r>
            <a:r>
              <a:rPr lang="zh-CN" altLang="en-US" dirty="0">
                <a:latin typeface="+mj-lt"/>
                <a:ea typeface="+mj-ea"/>
              </a:rPr>
              <a:t>计算机网络在我国的发展</a:t>
            </a:r>
          </a:p>
        </p:txBody>
      </p:sp>
      <p:sp>
        <p:nvSpPr>
          <p:cNvPr id="26" name="Rectangle 21">
            <a:extLst>
              <a:ext uri="{FF2B5EF4-FFF2-40B4-BE49-F238E27FC236}">
                <a16:creationId xmlns:a16="http://schemas.microsoft.com/office/drawing/2014/main" id="{427888CC-B087-31F1-2C04-336E53A564A4}"/>
              </a:ext>
            </a:extLst>
          </p:cNvPr>
          <p:cNvSpPr>
            <a:spLocks noChangeArrowheads="1"/>
          </p:cNvSpPr>
          <p:nvPr/>
        </p:nvSpPr>
        <p:spPr bwMode="auto">
          <a:xfrm>
            <a:off x="2337029" y="2813032"/>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1.5 </a:t>
            </a:r>
            <a:r>
              <a:rPr lang="zh-CN" altLang="en-US" dirty="0">
                <a:latin typeface="+mj-lt"/>
                <a:ea typeface="+mj-ea"/>
              </a:rPr>
              <a:t>计算机网络的类别</a:t>
            </a:r>
          </a:p>
        </p:txBody>
      </p:sp>
      <p:sp>
        <p:nvSpPr>
          <p:cNvPr id="28" name="Rectangle 22">
            <a:extLst>
              <a:ext uri="{FF2B5EF4-FFF2-40B4-BE49-F238E27FC236}">
                <a16:creationId xmlns:a16="http://schemas.microsoft.com/office/drawing/2014/main" id="{871EA3BD-189A-61AD-CADF-768F562655DE}"/>
              </a:ext>
            </a:extLst>
          </p:cNvPr>
          <p:cNvSpPr>
            <a:spLocks noChangeArrowheads="1"/>
          </p:cNvSpPr>
          <p:nvPr/>
        </p:nvSpPr>
        <p:spPr bwMode="auto">
          <a:xfrm>
            <a:off x="2337029" y="330039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1.6 </a:t>
            </a:r>
            <a:r>
              <a:rPr lang="zh-CN" altLang="en-US" dirty="0">
                <a:latin typeface="+mj-lt"/>
                <a:ea typeface="+mj-ea"/>
              </a:rPr>
              <a:t>计算机网络的性能</a:t>
            </a:r>
          </a:p>
        </p:txBody>
      </p:sp>
      <p:sp>
        <p:nvSpPr>
          <p:cNvPr id="30" name="Rectangle 23">
            <a:extLst>
              <a:ext uri="{FF2B5EF4-FFF2-40B4-BE49-F238E27FC236}">
                <a16:creationId xmlns:a16="http://schemas.microsoft.com/office/drawing/2014/main" id="{5E7FFD08-7795-7243-7614-4C83BDEF1065}"/>
              </a:ext>
            </a:extLst>
          </p:cNvPr>
          <p:cNvSpPr>
            <a:spLocks noChangeArrowheads="1"/>
          </p:cNvSpPr>
          <p:nvPr/>
        </p:nvSpPr>
        <p:spPr bwMode="auto">
          <a:xfrm>
            <a:off x="2337029" y="378775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1.7 </a:t>
            </a:r>
            <a:r>
              <a:rPr lang="zh-CN" altLang="en-US" dirty="0">
                <a:latin typeface="+mj-lt"/>
                <a:ea typeface="+mj-ea"/>
              </a:rPr>
              <a:t>计算机网络的体系结构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B3715C-31B3-ABB8-BD70-63C55D4F1680}"/>
              </a:ext>
            </a:extLst>
          </p:cNvPr>
          <p:cNvSpPr>
            <a:spLocks noGrp="1"/>
          </p:cNvSpPr>
          <p:nvPr>
            <p:ph type="title"/>
          </p:nvPr>
        </p:nvSpPr>
        <p:spPr>
          <a:xfrm>
            <a:off x="2228850" y="403553"/>
            <a:ext cx="6562725" cy="523220"/>
          </a:xfrm>
        </p:spPr>
        <p:txBody>
          <a:bodyPr/>
          <a:lstStyle/>
          <a:p>
            <a:r>
              <a:rPr lang="fr-FR" altLang="zh-CN" dirty="0"/>
              <a:t>1.1 </a:t>
            </a:r>
            <a:r>
              <a:rPr lang="zh-CN" altLang="en-US" dirty="0"/>
              <a:t>计算机网络在信息时代中的作用</a:t>
            </a:r>
          </a:p>
        </p:txBody>
      </p:sp>
      <p:sp>
        <p:nvSpPr>
          <p:cNvPr id="31" name="文本框 30">
            <a:extLst>
              <a:ext uri="{FF2B5EF4-FFF2-40B4-BE49-F238E27FC236}">
                <a16:creationId xmlns:a16="http://schemas.microsoft.com/office/drawing/2014/main" id="{BF368EE3-3AC1-0E0F-E74C-5E53B3B90A77}"/>
              </a:ext>
            </a:extLst>
          </p:cNvPr>
          <p:cNvSpPr txBox="1"/>
          <p:nvPr/>
        </p:nvSpPr>
        <p:spPr>
          <a:xfrm>
            <a:off x="3398858" y="1224975"/>
            <a:ext cx="2236510" cy="707886"/>
          </a:xfrm>
          <a:prstGeom prst="rect">
            <a:avLst/>
          </a:prstGeom>
          <a:noFill/>
        </p:spPr>
        <p:txBody>
          <a:bodyPr wrap="none" rtlCol="0">
            <a:spAutoFit/>
          </a:bodyPr>
          <a:lstStyle/>
          <a:p>
            <a:r>
              <a:rPr lang="en-US" altLang="zh-CN" sz="2000" dirty="0"/>
              <a:t>1.1.1 </a:t>
            </a:r>
          </a:p>
          <a:p>
            <a:r>
              <a:rPr lang="zh-CN" altLang="en-US" sz="2000" dirty="0"/>
              <a:t>计算机网络的定义</a:t>
            </a:r>
            <a:endParaRPr lang="en-US" altLang="zh-CN" sz="2000" dirty="0"/>
          </a:p>
        </p:txBody>
      </p:sp>
      <p:sp>
        <p:nvSpPr>
          <p:cNvPr id="32" name="文本框 31">
            <a:extLst>
              <a:ext uri="{FF2B5EF4-FFF2-40B4-BE49-F238E27FC236}">
                <a16:creationId xmlns:a16="http://schemas.microsoft.com/office/drawing/2014/main" id="{1FB372A0-FA3F-FF5F-3C57-99400378F8B7}"/>
              </a:ext>
            </a:extLst>
          </p:cNvPr>
          <p:cNvSpPr txBox="1"/>
          <p:nvPr/>
        </p:nvSpPr>
        <p:spPr>
          <a:xfrm>
            <a:off x="4416703" y="2302173"/>
            <a:ext cx="2236510" cy="707886"/>
          </a:xfrm>
          <a:prstGeom prst="rect">
            <a:avLst/>
          </a:prstGeom>
          <a:noFill/>
        </p:spPr>
        <p:txBody>
          <a:bodyPr wrap="none" rtlCol="0">
            <a:spAutoFit/>
          </a:bodyPr>
          <a:lstStyle/>
          <a:p>
            <a:r>
              <a:rPr lang="en-US" altLang="zh-CN" sz="2000" dirty="0"/>
              <a:t>1.1.2 </a:t>
            </a:r>
          </a:p>
          <a:p>
            <a:r>
              <a:rPr lang="zh-CN" altLang="en-US" sz="2000" dirty="0"/>
              <a:t>计算机网络的特点</a:t>
            </a:r>
          </a:p>
        </p:txBody>
      </p:sp>
    </p:spTree>
    <p:extLst>
      <p:ext uri="{BB962C8B-B14F-4D97-AF65-F5344CB8AC3E}">
        <p14:creationId xmlns:p14="http://schemas.microsoft.com/office/powerpoint/2010/main" val="3032654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68C3004A-B262-53C4-B4ED-F5078A8FA748}"/>
              </a:ext>
            </a:extLst>
          </p:cNvPr>
          <p:cNvSpPr txBox="1"/>
          <p:nvPr/>
        </p:nvSpPr>
        <p:spPr>
          <a:xfrm>
            <a:off x="1216959" y="2402473"/>
            <a:ext cx="2236510" cy="338554"/>
          </a:xfrm>
          <a:prstGeom prst="rect">
            <a:avLst/>
          </a:prstGeom>
          <a:noFill/>
        </p:spPr>
        <p:txBody>
          <a:bodyPr wrap="none" rtlCol="0">
            <a:spAutoFit/>
          </a:bodyPr>
          <a:lstStyle/>
          <a:p>
            <a:pPr algn="l"/>
            <a:r>
              <a:rPr lang="zh-CN" altLang="en-US" sz="1600" dirty="0"/>
              <a:t>你心中的网络是什么？</a:t>
            </a:r>
          </a:p>
        </p:txBody>
      </p:sp>
      <p:sp>
        <p:nvSpPr>
          <p:cNvPr id="14" name="等腰三角形 13">
            <a:extLst>
              <a:ext uri="{FF2B5EF4-FFF2-40B4-BE49-F238E27FC236}">
                <a16:creationId xmlns:a16="http://schemas.microsoft.com/office/drawing/2014/main" id="{ACCFB4B9-EF89-100E-8D9D-ACBD57217246}"/>
              </a:ext>
            </a:extLst>
          </p:cNvPr>
          <p:cNvSpPr/>
          <p:nvPr/>
        </p:nvSpPr>
        <p:spPr>
          <a:xfrm rot="-5400000">
            <a:off x="5197657" y="1197157"/>
            <a:ext cx="5143500" cy="2749186"/>
          </a:xfrm>
          <a:prstGeom prst="triangle">
            <a:avLst/>
          </a:prstGeom>
          <a:blipFill dpi="0" rotWithShape="0">
            <a:blip r:embed="rId2"/>
            <a:srcRect/>
            <a:tile tx="0" ty="0" sx="100000" sy="100000" flip="none" algn="ctr"/>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等腰三角形 15">
            <a:extLst>
              <a:ext uri="{FF2B5EF4-FFF2-40B4-BE49-F238E27FC236}">
                <a16:creationId xmlns:a16="http://schemas.microsoft.com/office/drawing/2014/main" id="{09B3277A-F815-9B9E-0451-1E92E9D56A02}"/>
              </a:ext>
            </a:extLst>
          </p:cNvPr>
          <p:cNvSpPr/>
          <p:nvPr/>
        </p:nvSpPr>
        <p:spPr>
          <a:xfrm flipV="1">
            <a:off x="3645629" y="0"/>
            <a:ext cx="5358067" cy="2465309"/>
          </a:xfrm>
          <a:prstGeom prst="triangle">
            <a:avLst/>
          </a:prstGeom>
          <a:blipFill dpi="0" rotWithShape="0">
            <a:blip r:embed="rId3"/>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8" name="等腰三角形 17">
            <a:extLst>
              <a:ext uri="{FF2B5EF4-FFF2-40B4-BE49-F238E27FC236}">
                <a16:creationId xmlns:a16="http://schemas.microsoft.com/office/drawing/2014/main" id="{332BDFBD-E897-2DF1-F15F-593790AF4217}"/>
              </a:ext>
            </a:extLst>
          </p:cNvPr>
          <p:cNvSpPr/>
          <p:nvPr/>
        </p:nvSpPr>
        <p:spPr>
          <a:xfrm>
            <a:off x="3645629" y="2678192"/>
            <a:ext cx="5358067" cy="2465309"/>
          </a:xfrm>
          <a:prstGeom prst="triangle">
            <a:avLst/>
          </a:prstGeom>
          <a:blipFill dpi="0" rotWithShape="0">
            <a:blip r:embed="rId4"/>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椭圆 18">
            <a:extLst>
              <a:ext uri="{FF2B5EF4-FFF2-40B4-BE49-F238E27FC236}">
                <a16:creationId xmlns:a16="http://schemas.microsoft.com/office/drawing/2014/main" id="{6777FBFC-4D1D-4388-BDBA-9BF928F401A5}"/>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椭圆 19">
            <a:extLst>
              <a:ext uri="{FF2B5EF4-FFF2-40B4-BE49-F238E27FC236}">
                <a16:creationId xmlns:a16="http://schemas.microsoft.com/office/drawing/2014/main" id="{8D45D00A-98BD-588D-DE08-6AFD66391F7B}"/>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 name="椭圆 20">
            <a:extLst>
              <a:ext uri="{FF2B5EF4-FFF2-40B4-BE49-F238E27FC236}">
                <a16:creationId xmlns:a16="http://schemas.microsoft.com/office/drawing/2014/main" id="{4C4904D4-6F5F-650D-6A7B-DC7B7FCED3C0}"/>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椭圆 21">
            <a:extLst>
              <a:ext uri="{FF2B5EF4-FFF2-40B4-BE49-F238E27FC236}">
                <a16:creationId xmlns:a16="http://schemas.microsoft.com/office/drawing/2014/main" id="{6867E2BB-8A82-B8C8-1251-2CA4CD85383C}"/>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1780831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repeatCount="indefinite"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p:cTn id="7" dur="2000" fill="hold"/>
                                        <p:tgtEl>
                                          <p:spTgt spid="19"/>
                                        </p:tgtEl>
                                        <p:attrNameLst>
                                          <p:attrName>ppt_w</p:attrName>
                                        </p:attrNameLst>
                                      </p:cBhvr>
                                      <p:tavLst>
                                        <p:tav tm="0">
                                          <p:val>
                                            <p:fltVal val="0"/>
                                          </p:val>
                                        </p:tav>
                                        <p:tav tm="100000">
                                          <p:val>
                                            <p:strVal val="#ppt_w"/>
                                          </p:val>
                                        </p:tav>
                                      </p:tavLst>
                                    </p:anim>
                                    <p:anim calcmode="lin" valueType="num">
                                      <p:cBhvr>
                                        <p:cTn id="8" dur="2000" fill="hold"/>
                                        <p:tgtEl>
                                          <p:spTgt spid="19"/>
                                        </p:tgtEl>
                                        <p:attrNameLst>
                                          <p:attrName>ppt_h</p:attrName>
                                        </p:attrNameLst>
                                      </p:cBhvr>
                                      <p:tavLst>
                                        <p:tav tm="0">
                                          <p:val>
                                            <p:fltVal val="0"/>
                                          </p:val>
                                        </p:tav>
                                        <p:tav tm="100000">
                                          <p:val>
                                            <p:strVal val="#ppt_h"/>
                                          </p:val>
                                        </p:tav>
                                      </p:tavLst>
                                    </p:anim>
                                  </p:childTnLst>
                                </p:cTn>
                              </p:par>
                              <p:par>
                                <p:cTn id="9" presetID="10" presetClass="exit" presetSubtype="0" repeatCount="indefinite" fill="hold" grpId="1" nodeType="withEffect">
                                  <p:stCondLst>
                                    <p:cond delay="0"/>
                                  </p:stCondLst>
                                  <p:endCondLst>
                                    <p:cond evt="onNext" delay="0">
                                      <p:tgtEl>
                                        <p:sldTgt/>
                                      </p:tgtEl>
                                    </p:cond>
                                  </p:endCondLst>
                                  <p:childTnLst>
                                    <p:animEffect transition="out" filter="fade">
                                      <p:cBhvr>
                                        <p:cTn id="10" dur="2000"/>
                                        <p:tgtEl>
                                          <p:spTgt spid="19"/>
                                        </p:tgtEl>
                                      </p:cBhvr>
                                    </p:animEffect>
                                    <p:set>
                                      <p:cBhvr>
                                        <p:cTn id="11" dur="1" fill="hold">
                                          <p:stCondLst>
                                            <p:cond delay="1999"/>
                                          </p:stCondLst>
                                        </p:cTn>
                                        <p:tgtEl>
                                          <p:spTgt spid="19"/>
                                        </p:tgtEl>
                                        <p:attrNameLst>
                                          <p:attrName>style.visibility</p:attrName>
                                        </p:attrNameLst>
                                      </p:cBhvr>
                                      <p:to>
                                        <p:strVal val="hidden"/>
                                      </p:to>
                                    </p:set>
                                  </p:childTnLst>
                                </p:cTn>
                              </p:par>
                              <p:par>
                                <p:cTn id="12" presetID="23" presetClass="entr" presetSubtype="16" repeatCount="indefinite" grpId="0" nodeType="withEffect">
                                  <p:stCondLst>
                                    <p:cond delay="500"/>
                                  </p:stCondLst>
                                  <p:childTnLst>
                                    <p:set>
                                      <p:cBhvr>
                                        <p:cTn id="13" dur="1" fill="hold">
                                          <p:stCondLst>
                                            <p:cond delay="0"/>
                                          </p:stCondLst>
                                        </p:cTn>
                                        <p:tgtEl>
                                          <p:spTgt spid="20"/>
                                        </p:tgtEl>
                                        <p:attrNameLst>
                                          <p:attrName>style.visibility</p:attrName>
                                        </p:attrNameLst>
                                      </p:cBhvr>
                                      <p:to>
                                        <p:strVal val="visible"/>
                                      </p:to>
                                    </p:set>
                                    <p:anim calcmode="lin" valueType="num">
                                      <p:cBhvr>
                                        <p:cTn id="14" dur="2000" fill="hold"/>
                                        <p:tgtEl>
                                          <p:spTgt spid="20"/>
                                        </p:tgtEl>
                                        <p:attrNameLst>
                                          <p:attrName>ppt_w</p:attrName>
                                        </p:attrNameLst>
                                      </p:cBhvr>
                                      <p:tavLst>
                                        <p:tav tm="0">
                                          <p:val>
                                            <p:fltVal val="0"/>
                                          </p:val>
                                        </p:tav>
                                        <p:tav tm="100000">
                                          <p:val>
                                            <p:strVal val="#ppt_w"/>
                                          </p:val>
                                        </p:tav>
                                      </p:tavLst>
                                    </p:anim>
                                    <p:anim calcmode="lin" valueType="num">
                                      <p:cBhvr>
                                        <p:cTn id="15" dur="2000" fill="hold"/>
                                        <p:tgtEl>
                                          <p:spTgt spid="20"/>
                                        </p:tgtEl>
                                        <p:attrNameLst>
                                          <p:attrName>ppt_h</p:attrName>
                                        </p:attrNameLst>
                                      </p:cBhvr>
                                      <p:tavLst>
                                        <p:tav tm="0">
                                          <p:val>
                                            <p:fltVal val="0"/>
                                          </p:val>
                                        </p:tav>
                                        <p:tav tm="100000">
                                          <p:val>
                                            <p:strVal val="#ppt_h"/>
                                          </p:val>
                                        </p:tav>
                                      </p:tavLst>
                                    </p:anim>
                                  </p:childTnLst>
                                </p:cTn>
                              </p:par>
                              <p:par>
                                <p:cTn id="16" presetID="10" presetClass="exit" presetSubtype="0" repeatCount="indefinite" fill="hold" grpId="1" nodeType="withEffect">
                                  <p:stCondLst>
                                    <p:cond delay="500"/>
                                  </p:stCondLst>
                                  <p:endCondLst>
                                    <p:cond evt="onNext" delay="0">
                                      <p:tgtEl>
                                        <p:sldTgt/>
                                      </p:tgtEl>
                                    </p:cond>
                                  </p:endCondLst>
                                  <p:childTnLst>
                                    <p:animEffect transition="out" filter="fade">
                                      <p:cBhvr>
                                        <p:cTn id="17" dur="2000"/>
                                        <p:tgtEl>
                                          <p:spTgt spid="20"/>
                                        </p:tgtEl>
                                      </p:cBhvr>
                                    </p:animEffect>
                                    <p:set>
                                      <p:cBhvr>
                                        <p:cTn id="18" dur="1" fill="hold">
                                          <p:stCondLst>
                                            <p:cond delay="1999"/>
                                          </p:stCondLst>
                                        </p:cTn>
                                        <p:tgtEl>
                                          <p:spTgt spid="20"/>
                                        </p:tgtEl>
                                        <p:attrNameLst>
                                          <p:attrName>style.visibility</p:attrName>
                                        </p:attrNameLst>
                                      </p:cBhvr>
                                      <p:to>
                                        <p:strVal val="hidden"/>
                                      </p:to>
                                    </p:set>
                                  </p:childTnLst>
                                </p:cTn>
                              </p:par>
                              <p:par>
                                <p:cTn id="19" presetID="23" presetClass="entr" presetSubtype="16" repeatCount="indefinite" grpId="0" nodeType="withEffect">
                                  <p:stCondLst>
                                    <p:cond delay="1000"/>
                                  </p:stCondLst>
                                  <p:childTnLst>
                                    <p:set>
                                      <p:cBhvr>
                                        <p:cTn id="20" dur="1" fill="hold">
                                          <p:stCondLst>
                                            <p:cond delay="0"/>
                                          </p:stCondLst>
                                        </p:cTn>
                                        <p:tgtEl>
                                          <p:spTgt spid="21"/>
                                        </p:tgtEl>
                                        <p:attrNameLst>
                                          <p:attrName>style.visibility</p:attrName>
                                        </p:attrNameLst>
                                      </p:cBhvr>
                                      <p:to>
                                        <p:strVal val="visible"/>
                                      </p:to>
                                    </p:set>
                                    <p:anim calcmode="lin" valueType="num">
                                      <p:cBhvr>
                                        <p:cTn id="21" dur="2000" fill="hold"/>
                                        <p:tgtEl>
                                          <p:spTgt spid="21"/>
                                        </p:tgtEl>
                                        <p:attrNameLst>
                                          <p:attrName>ppt_w</p:attrName>
                                        </p:attrNameLst>
                                      </p:cBhvr>
                                      <p:tavLst>
                                        <p:tav tm="0">
                                          <p:val>
                                            <p:fltVal val="0"/>
                                          </p:val>
                                        </p:tav>
                                        <p:tav tm="100000">
                                          <p:val>
                                            <p:strVal val="#ppt_w"/>
                                          </p:val>
                                        </p:tav>
                                      </p:tavLst>
                                    </p:anim>
                                    <p:anim calcmode="lin" valueType="num">
                                      <p:cBhvr>
                                        <p:cTn id="22" dur="2000" fill="hold"/>
                                        <p:tgtEl>
                                          <p:spTgt spid="21"/>
                                        </p:tgtEl>
                                        <p:attrNameLst>
                                          <p:attrName>ppt_h</p:attrName>
                                        </p:attrNameLst>
                                      </p:cBhvr>
                                      <p:tavLst>
                                        <p:tav tm="0">
                                          <p:val>
                                            <p:fltVal val="0"/>
                                          </p:val>
                                        </p:tav>
                                        <p:tav tm="100000">
                                          <p:val>
                                            <p:strVal val="#ppt_h"/>
                                          </p:val>
                                        </p:tav>
                                      </p:tavLst>
                                    </p:anim>
                                  </p:childTnLst>
                                </p:cTn>
                              </p:par>
                              <p:par>
                                <p:cTn id="23" presetID="10" presetClass="exit" presetSubtype="0" repeatCount="indefinite" fill="hold" grpId="1" nodeType="withEffect">
                                  <p:stCondLst>
                                    <p:cond delay="1000"/>
                                  </p:stCondLst>
                                  <p:endCondLst>
                                    <p:cond evt="onNext" delay="0">
                                      <p:tgtEl>
                                        <p:sldTgt/>
                                      </p:tgtEl>
                                    </p:cond>
                                  </p:endCondLst>
                                  <p:childTnLst>
                                    <p:animEffect transition="out" filter="fade">
                                      <p:cBhvr>
                                        <p:cTn id="24" dur="2000"/>
                                        <p:tgtEl>
                                          <p:spTgt spid="21"/>
                                        </p:tgtEl>
                                      </p:cBhvr>
                                    </p:animEffect>
                                    <p:set>
                                      <p:cBhvr>
                                        <p:cTn id="25" dur="1" fill="hold">
                                          <p:stCondLst>
                                            <p:cond delay="1999"/>
                                          </p:stCondLst>
                                        </p:cTn>
                                        <p:tgtEl>
                                          <p:spTgt spid="21"/>
                                        </p:tgtEl>
                                        <p:attrNameLst>
                                          <p:attrName>style.visibility</p:attrName>
                                        </p:attrNameLst>
                                      </p:cBhvr>
                                      <p:to>
                                        <p:strVal val="hidden"/>
                                      </p:to>
                                    </p:set>
                                  </p:childTnLst>
                                </p:cTn>
                              </p:par>
                              <p:par>
                                <p:cTn id="26" presetID="23" presetClass="entr" presetSubtype="16" repeatCount="indefinite" grpId="0" nodeType="withEffect">
                                  <p:stCondLst>
                                    <p:cond delay="1500"/>
                                  </p:stCondLst>
                                  <p:childTnLst>
                                    <p:set>
                                      <p:cBhvr>
                                        <p:cTn id="27" dur="1" fill="hold">
                                          <p:stCondLst>
                                            <p:cond delay="0"/>
                                          </p:stCondLst>
                                        </p:cTn>
                                        <p:tgtEl>
                                          <p:spTgt spid="22"/>
                                        </p:tgtEl>
                                        <p:attrNameLst>
                                          <p:attrName>style.visibility</p:attrName>
                                        </p:attrNameLst>
                                      </p:cBhvr>
                                      <p:to>
                                        <p:strVal val="visible"/>
                                      </p:to>
                                    </p:set>
                                    <p:anim calcmode="lin" valueType="num">
                                      <p:cBhvr>
                                        <p:cTn id="28" dur="2000" fill="hold"/>
                                        <p:tgtEl>
                                          <p:spTgt spid="22"/>
                                        </p:tgtEl>
                                        <p:attrNameLst>
                                          <p:attrName>ppt_w</p:attrName>
                                        </p:attrNameLst>
                                      </p:cBhvr>
                                      <p:tavLst>
                                        <p:tav tm="0">
                                          <p:val>
                                            <p:fltVal val="0"/>
                                          </p:val>
                                        </p:tav>
                                        <p:tav tm="100000">
                                          <p:val>
                                            <p:strVal val="#ppt_w"/>
                                          </p:val>
                                        </p:tav>
                                      </p:tavLst>
                                    </p:anim>
                                    <p:anim calcmode="lin" valueType="num">
                                      <p:cBhvr>
                                        <p:cTn id="29" dur="2000" fill="hold"/>
                                        <p:tgtEl>
                                          <p:spTgt spid="22"/>
                                        </p:tgtEl>
                                        <p:attrNameLst>
                                          <p:attrName>ppt_h</p:attrName>
                                        </p:attrNameLst>
                                      </p:cBhvr>
                                      <p:tavLst>
                                        <p:tav tm="0">
                                          <p:val>
                                            <p:fltVal val="0"/>
                                          </p:val>
                                        </p:tav>
                                        <p:tav tm="100000">
                                          <p:val>
                                            <p:strVal val="#ppt_h"/>
                                          </p:val>
                                        </p:tav>
                                      </p:tavLst>
                                    </p:anim>
                                  </p:childTnLst>
                                </p:cTn>
                              </p:par>
                              <p:par>
                                <p:cTn id="30" presetID="10" presetClass="exit" presetSubtype="0" repeatCount="indefinite" fill="hold" grpId="1" nodeType="withEffect">
                                  <p:stCondLst>
                                    <p:cond delay="1500"/>
                                  </p:stCondLst>
                                  <p:endCondLst>
                                    <p:cond evt="onNext" delay="0">
                                      <p:tgtEl>
                                        <p:sldTgt/>
                                      </p:tgtEl>
                                    </p:cond>
                                  </p:endCondLst>
                                  <p:childTnLst>
                                    <p:animEffect transition="out" filter="fade">
                                      <p:cBhvr>
                                        <p:cTn id="31" dur="2000"/>
                                        <p:tgtEl>
                                          <p:spTgt spid="22"/>
                                        </p:tgtEl>
                                      </p:cBhvr>
                                    </p:animEffect>
                                    <p:set>
                                      <p:cBhvr>
                                        <p:cTn id="32" dur="1" fill="hold">
                                          <p:stCondLst>
                                            <p:cond delay="19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0" grpId="0" animBg="1"/>
      <p:bldP spid="20" grpId="1" animBg="1"/>
      <p:bldP spid="21" grpId="0" animBg="1"/>
      <p:bldP spid="21" grpId="1" animBg="1"/>
      <p:bldP spid="22" grpId="0" animBg="1"/>
      <p:bldP spid="22"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3E8D0ED2-8058-5239-5C88-9B814E0F344E}"/>
              </a:ext>
            </a:extLst>
          </p:cNvPr>
          <p:cNvSpPr txBox="1"/>
          <p:nvPr/>
        </p:nvSpPr>
        <p:spPr>
          <a:xfrm>
            <a:off x="5021691" y="2384108"/>
            <a:ext cx="1005403" cy="338554"/>
          </a:xfrm>
          <a:prstGeom prst="rect">
            <a:avLst/>
          </a:prstGeom>
          <a:noFill/>
        </p:spPr>
        <p:txBody>
          <a:bodyPr wrap="none" rtlCol="0">
            <a:spAutoFit/>
          </a:bodyPr>
          <a:lstStyle/>
          <a:p>
            <a:r>
              <a:rPr lang="zh-CN" altLang="en-US" sz="1600" dirty="0">
                <a:latin typeface="+mj-ea"/>
                <a:ea typeface="+mj-ea"/>
              </a:rPr>
              <a:t>电信网络</a:t>
            </a:r>
          </a:p>
        </p:txBody>
      </p:sp>
      <p:sp>
        <p:nvSpPr>
          <p:cNvPr id="14" name="文本框 13">
            <a:extLst>
              <a:ext uri="{FF2B5EF4-FFF2-40B4-BE49-F238E27FC236}">
                <a16:creationId xmlns:a16="http://schemas.microsoft.com/office/drawing/2014/main" id="{423E291A-455E-E67F-5442-825A77B1E10F}"/>
              </a:ext>
            </a:extLst>
          </p:cNvPr>
          <p:cNvSpPr txBox="1"/>
          <p:nvPr/>
        </p:nvSpPr>
        <p:spPr>
          <a:xfrm>
            <a:off x="4412091" y="2724245"/>
            <a:ext cx="2518638" cy="307777"/>
          </a:xfrm>
          <a:prstGeom prst="rect">
            <a:avLst/>
          </a:prstGeom>
          <a:noFill/>
        </p:spPr>
        <p:txBody>
          <a:bodyPr wrap="none" rtlCol="0">
            <a:spAutoFit/>
          </a:bodyPr>
          <a:lstStyle/>
          <a:p>
            <a:r>
              <a:rPr lang="zh-CN" altLang="en-US" sz="1400" dirty="0"/>
              <a:t>提供电话、电报及传真等服务</a:t>
            </a:r>
          </a:p>
        </p:txBody>
      </p:sp>
      <p:pic>
        <p:nvPicPr>
          <p:cNvPr id="23" name="图片 22">
            <a:extLst>
              <a:ext uri="{FF2B5EF4-FFF2-40B4-BE49-F238E27FC236}">
                <a16:creationId xmlns:a16="http://schemas.microsoft.com/office/drawing/2014/main" id="{4CA1D1E8-9C0E-1C83-A0D8-BC9CF1C9D69C}"/>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2113062"/>
            <a:ext cx="609600" cy="609600"/>
          </a:xfrm>
          <a:prstGeom prst="rect">
            <a:avLst/>
          </a:prstGeom>
        </p:spPr>
      </p:pic>
      <p:sp>
        <p:nvSpPr>
          <p:cNvPr id="6" name="文本框 5">
            <a:extLst>
              <a:ext uri="{FF2B5EF4-FFF2-40B4-BE49-F238E27FC236}">
                <a16:creationId xmlns:a16="http://schemas.microsoft.com/office/drawing/2014/main" id="{249BD636-A92C-19BC-73D5-FE1C53C3C006}"/>
              </a:ext>
            </a:extLst>
          </p:cNvPr>
          <p:cNvSpPr txBox="1"/>
          <p:nvPr/>
        </p:nvSpPr>
        <p:spPr>
          <a:xfrm>
            <a:off x="5021691" y="3585450"/>
            <a:ext cx="1210588" cy="338554"/>
          </a:xfrm>
          <a:prstGeom prst="rect">
            <a:avLst/>
          </a:prstGeom>
          <a:noFill/>
        </p:spPr>
        <p:txBody>
          <a:bodyPr wrap="none" rtlCol="0">
            <a:spAutoFit/>
          </a:bodyPr>
          <a:lstStyle/>
          <a:p>
            <a:r>
              <a:rPr lang="zh-CN" altLang="en-US" sz="1600" dirty="0">
                <a:latin typeface="+mj-ea"/>
                <a:ea typeface="+mj-ea"/>
              </a:rPr>
              <a:t>计算机网络</a:t>
            </a:r>
          </a:p>
        </p:txBody>
      </p:sp>
      <p:sp>
        <p:nvSpPr>
          <p:cNvPr id="15" name="文本框 14">
            <a:extLst>
              <a:ext uri="{FF2B5EF4-FFF2-40B4-BE49-F238E27FC236}">
                <a16:creationId xmlns:a16="http://schemas.microsoft.com/office/drawing/2014/main" id="{607BF0CF-D512-CBDC-04ED-FED6642F03BE}"/>
              </a:ext>
            </a:extLst>
          </p:cNvPr>
          <p:cNvSpPr txBox="1"/>
          <p:nvPr/>
        </p:nvSpPr>
        <p:spPr>
          <a:xfrm>
            <a:off x="4412091" y="3912461"/>
            <a:ext cx="3057247" cy="307777"/>
          </a:xfrm>
          <a:prstGeom prst="rect">
            <a:avLst/>
          </a:prstGeom>
          <a:noFill/>
        </p:spPr>
        <p:txBody>
          <a:bodyPr wrap="none" rtlCol="0">
            <a:spAutoFit/>
          </a:bodyPr>
          <a:lstStyle/>
          <a:p>
            <a:r>
              <a:rPr lang="zh-CN" altLang="en-US" sz="1400" dirty="0"/>
              <a:t>使用户能在计算机之间传送数据文件</a:t>
            </a:r>
          </a:p>
        </p:txBody>
      </p:sp>
      <p:pic>
        <p:nvPicPr>
          <p:cNvPr id="25" name="图片 24">
            <a:extLst>
              <a:ext uri="{FF2B5EF4-FFF2-40B4-BE49-F238E27FC236}">
                <a16:creationId xmlns:a16="http://schemas.microsoft.com/office/drawing/2014/main" id="{A3E47C13-7E27-4EE9-0AF9-91AFC089D59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3302861"/>
            <a:ext cx="609600" cy="609600"/>
          </a:xfrm>
          <a:prstGeom prst="rect">
            <a:avLst/>
          </a:prstGeom>
        </p:spPr>
      </p:pic>
      <p:sp>
        <p:nvSpPr>
          <p:cNvPr id="5" name="文本框 4">
            <a:extLst>
              <a:ext uri="{FF2B5EF4-FFF2-40B4-BE49-F238E27FC236}">
                <a16:creationId xmlns:a16="http://schemas.microsoft.com/office/drawing/2014/main" id="{C3F7E2BA-F5F7-A907-2356-FA1E3A5EF40D}"/>
              </a:ext>
            </a:extLst>
          </p:cNvPr>
          <p:cNvSpPr txBox="1"/>
          <p:nvPr/>
        </p:nvSpPr>
        <p:spPr>
          <a:xfrm>
            <a:off x="5021691" y="1195100"/>
            <a:ext cx="1415772" cy="338554"/>
          </a:xfrm>
          <a:prstGeom prst="rect">
            <a:avLst/>
          </a:prstGeom>
          <a:noFill/>
        </p:spPr>
        <p:txBody>
          <a:bodyPr wrap="none" rtlCol="0">
            <a:spAutoFit/>
          </a:bodyPr>
          <a:lstStyle/>
          <a:p>
            <a:r>
              <a:rPr lang="zh-CN" altLang="en-US" sz="1600" dirty="0">
                <a:latin typeface="+mj-ea"/>
                <a:ea typeface="+mj-ea"/>
              </a:rPr>
              <a:t>有线电视网络</a:t>
            </a:r>
          </a:p>
        </p:txBody>
      </p:sp>
      <p:sp>
        <p:nvSpPr>
          <p:cNvPr id="13" name="文本框 12">
            <a:extLst>
              <a:ext uri="{FF2B5EF4-FFF2-40B4-BE49-F238E27FC236}">
                <a16:creationId xmlns:a16="http://schemas.microsoft.com/office/drawing/2014/main" id="{890F7E65-76D0-378B-A074-876A844DF059}"/>
              </a:ext>
            </a:extLst>
          </p:cNvPr>
          <p:cNvSpPr txBox="1"/>
          <p:nvPr/>
        </p:nvSpPr>
        <p:spPr>
          <a:xfrm>
            <a:off x="4412091" y="1534445"/>
            <a:ext cx="2159566" cy="307777"/>
          </a:xfrm>
          <a:prstGeom prst="rect">
            <a:avLst/>
          </a:prstGeom>
          <a:noFill/>
        </p:spPr>
        <p:txBody>
          <a:bodyPr wrap="none" rtlCol="0">
            <a:spAutoFit/>
          </a:bodyPr>
          <a:lstStyle/>
          <a:p>
            <a:r>
              <a:rPr lang="zh-CN" altLang="en-US" sz="1400" dirty="0"/>
              <a:t>向用户传送各种电视节目</a:t>
            </a:r>
          </a:p>
        </p:txBody>
      </p:sp>
      <p:pic>
        <p:nvPicPr>
          <p:cNvPr id="27" name="图片 26">
            <a:extLst>
              <a:ext uri="{FF2B5EF4-FFF2-40B4-BE49-F238E27FC236}">
                <a16:creationId xmlns:a16="http://schemas.microsoft.com/office/drawing/2014/main" id="{9D5A4CBC-B61D-9188-4D4E-0B97602F9EF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923262"/>
            <a:ext cx="609600" cy="609600"/>
          </a:xfrm>
          <a:prstGeom prst="rect">
            <a:avLst/>
          </a:prstGeom>
        </p:spPr>
      </p:pic>
      <p:sp>
        <p:nvSpPr>
          <p:cNvPr id="10" name="菱形 9">
            <a:extLst>
              <a:ext uri="{FF2B5EF4-FFF2-40B4-BE49-F238E27FC236}">
                <a16:creationId xmlns:a16="http://schemas.microsoft.com/office/drawing/2014/main" id="{F3694D86-7E07-D8F9-5CB5-A97C0551235A}"/>
              </a:ext>
            </a:extLst>
          </p:cNvPr>
          <p:cNvSpPr/>
          <p:nvPr/>
        </p:nvSpPr>
        <p:spPr>
          <a:xfrm>
            <a:off x="1786688" y="1851750"/>
            <a:ext cx="1440000" cy="1440000"/>
          </a:xfrm>
          <a:prstGeom prst="diamond">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r>
              <a:rPr lang="zh-CN" altLang="en-US" dirty="0">
                <a:latin typeface="+mj-lt"/>
                <a:ea typeface="+mj-ea"/>
              </a:rPr>
              <a:t>三网融合</a:t>
            </a:r>
          </a:p>
        </p:txBody>
      </p:sp>
      <p:cxnSp>
        <p:nvCxnSpPr>
          <p:cNvPr id="18" name="直接连接符 17">
            <a:extLst>
              <a:ext uri="{FF2B5EF4-FFF2-40B4-BE49-F238E27FC236}">
                <a16:creationId xmlns:a16="http://schemas.microsoft.com/office/drawing/2014/main" id="{14C2E509-0402-D4C6-AEB8-66265ABF61A3}"/>
              </a:ext>
            </a:extLst>
          </p:cNvPr>
          <p:cNvCxnSpPr>
            <a:cxnSpLocks/>
          </p:cNvCxnSpPr>
          <p:nvPr/>
        </p:nvCxnSpPr>
        <p:spPr>
          <a:xfrm>
            <a:off x="2506688" y="0"/>
            <a:ext cx="0" cy="165600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E67B47DA-4DBE-E919-9D03-32C1A7792BFB}"/>
              </a:ext>
            </a:extLst>
          </p:cNvPr>
          <p:cNvCxnSpPr>
            <a:cxnSpLocks/>
          </p:cNvCxnSpPr>
          <p:nvPr/>
        </p:nvCxnSpPr>
        <p:spPr>
          <a:xfrm>
            <a:off x="2506689" y="3487500"/>
            <a:ext cx="0" cy="165600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16F8860-5E5A-8B74-5599-434DFD6A3A1B}"/>
              </a:ext>
            </a:extLst>
          </p:cNvPr>
          <p:cNvCxnSpPr>
            <a:cxnSpLocks/>
          </p:cNvCxnSpPr>
          <p:nvPr/>
        </p:nvCxnSpPr>
        <p:spPr>
          <a:xfrm rot="-2700000">
            <a:off x="1284104" y="2162410"/>
            <a:ext cx="1432346" cy="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7A46ED3C-BABF-2063-0AAB-EE78A2C32A14}"/>
              </a:ext>
            </a:extLst>
          </p:cNvPr>
          <p:cNvCxnSpPr>
            <a:cxnSpLocks/>
          </p:cNvCxnSpPr>
          <p:nvPr/>
        </p:nvCxnSpPr>
        <p:spPr>
          <a:xfrm rot="-8100000">
            <a:off x="1284105" y="2981089"/>
            <a:ext cx="1432346" cy="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0724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占位符 3">
            <a:extLst>
              <a:ext uri="{FF2B5EF4-FFF2-40B4-BE49-F238E27FC236}">
                <a16:creationId xmlns:a16="http://schemas.microsoft.com/office/drawing/2014/main" id="{67891A8C-FC04-150E-D48A-858FC27E9C81}"/>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saturation sat="33000"/>
                    </a14:imgEffect>
                  </a14:imgLayer>
                </a14:imgProps>
              </a:ext>
              <a:ext uri="{28A0092B-C50C-407E-A947-70E740481C1C}">
                <a14:useLocalDpi xmlns:a14="http://schemas.microsoft.com/office/drawing/2010/main"/>
              </a:ext>
            </a:extLst>
          </a:blip>
          <a:srcRect/>
          <a:stretch/>
        </p:blipFill>
        <p:spPr>
          <a:xfrm>
            <a:off x="612000" y="0"/>
            <a:ext cx="7920000" cy="3264070"/>
          </a:xfrm>
          <a:prstGeom prst="rect">
            <a:avLst/>
          </a:prstGeom>
        </p:spPr>
      </p:pic>
      <p:sp>
        <p:nvSpPr>
          <p:cNvPr id="7" name="矩形 6">
            <a:extLst>
              <a:ext uri="{FF2B5EF4-FFF2-40B4-BE49-F238E27FC236}">
                <a16:creationId xmlns:a16="http://schemas.microsoft.com/office/drawing/2014/main" id="{6146E648-0BDD-7BD6-9A68-3714AFD1D903}"/>
              </a:ext>
            </a:extLst>
          </p:cNvPr>
          <p:cNvSpPr/>
          <p:nvPr/>
        </p:nvSpPr>
        <p:spPr>
          <a:xfrm>
            <a:off x="1332000" y="2138082"/>
            <a:ext cx="6480000" cy="2736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5A3DF28-D80D-FDDA-3A97-83C0A3B7CED3}"/>
              </a:ext>
            </a:extLst>
          </p:cNvPr>
          <p:cNvSpPr txBox="1"/>
          <p:nvPr/>
        </p:nvSpPr>
        <p:spPr>
          <a:xfrm>
            <a:off x="4732015" y="3748132"/>
            <a:ext cx="2880000" cy="738664"/>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solidFill>
                  <a:srgbClr val="D4237A"/>
                </a:solidFill>
                <a:latin typeface="+mj-lt"/>
                <a:ea typeface="+mj-ea"/>
              </a:rPr>
              <a:t>互联网 </a:t>
            </a:r>
            <a:r>
              <a:rPr lang="en-US" altLang="zh-CN" dirty="0">
                <a:solidFill>
                  <a:srgbClr val="D4237A"/>
                </a:solidFill>
                <a:latin typeface="+mj-lt"/>
                <a:ea typeface="+mj-ea"/>
              </a:rPr>
              <a:t>Internet</a:t>
            </a:r>
          </a:p>
          <a:p>
            <a:pPr lvl="1"/>
            <a:r>
              <a:rPr lang="zh-CN" altLang="en-US" dirty="0"/>
              <a:t>目前流行最广，事实上的标准译名</a:t>
            </a:r>
          </a:p>
        </p:txBody>
      </p:sp>
      <p:sp>
        <p:nvSpPr>
          <p:cNvPr id="5" name="文本框 4">
            <a:extLst>
              <a:ext uri="{FF2B5EF4-FFF2-40B4-BE49-F238E27FC236}">
                <a16:creationId xmlns:a16="http://schemas.microsoft.com/office/drawing/2014/main" id="{37CF2F00-C945-0E78-1683-30017BEAA056}"/>
              </a:ext>
            </a:extLst>
          </p:cNvPr>
          <p:cNvSpPr txBox="1"/>
          <p:nvPr/>
        </p:nvSpPr>
        <p:spPr>
          <a:xfrm>
            <a:off x="1531985" y="3748132"/>
            <a:ext cx="2880000" cy="954107"/>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latin typeface="+mj-lt"/>
                <a:ea typeface="+mj-ea"/>
              </a:rPr>
              <a:t>因特网 </a:t>
            </a:r>
            <a:endParaRPr lang="en-US" altLang="zh-CN" dirty="0">
              <a:latin typeface="+mj-lt"/>
              <a:ea typeface="+mj-ea"/>
            </a:endParaRPr>
          </a:p>
          <a:p>
            <a:pPr lvl="1"/>
            <a:r>
              <a:rPr lang="zh-CN" altLang="en-US" dirty="0"/>
              <a:t>全球最大、最重要的计算机网络</a:t>
            </a:r>
            <a:endParaRPr lang="en-US" altLang="zh-CN" dirty="0"/>
          </a:p>
          <a:p>
            <a:pPr lvl="1"/>
            <a:r>
              <a:rPr lang="zh-CN" altLang="en-US" dirty="0"/>
              <a:t>全国科学技术名词审定委员会推荐的规范译名</a:t>
            </a:r>
            <a:endParaRPr lang="en-US" altLang="zh-CN" dirty="0"/>
          </a:p>
        </p:txBody>
      </p:sp>
      <p:sp>
        <p:nvSpPr>
          <p:cNvPr id="3" name="文本框 2">
            <a:extLst>
              <a:ext uri="{FF2B5EF4-FFF2-40B4-BE49-F238E27FC236}">
                <a16:creationId xmlns:a16="http://schemas.microsoft.com/office/drawing/2014/main" id="{7555463B-94EF-655D-94E5-EF3D957FC885}"/>
              </a:ext>
            </a:extLst>
          </p:cNvPr>
          <p:cNvSpPr txBox="1"/>
          <p:nvPr/>
        </p:nvSpPr>
        <p:spPr>
          <a:xfrm>
            <a:off x="1531985" y="2356956"/>
            <a:ext cx="2880000" cy="1169551"/>
          </a:xfrm>
          <a:prstGeom prst="rect">
            <a:avLst/>
          </a:prstGeom>
          <a:noFill/>
        </p:spPr>
        <p:txBody>
          <a:bodyPr wrap="square" rtlCol="0">
            <a:spAutoFit/>
          </a:bodyPr>
          <a:lstStyle/>
          <a:p>
            <a:r>
              <a:rPr lang="zh-CN" altLang="en-US" sz="1400" dirty="0">
                <a:solidFill>
                  <a:srgbClr val="D4237A"/>
                </a:solidFill>
                <a:latin typeface="+mj-lt"/>
                <a:ea typeface="+mj-ea"/>
              </a:rPr>
              <a:t>网络 </a:t>
            </a:r>
            <a:r>
              <a:rPr lang="en-US" altLang="zh-CN" sz="1400" dirty="0">
                <a:solidFill>
                  <a:srgbClr val="D4237A"/>
                </a:solidFill>
                <a:latin typeface="+mj-lt"/>
                <a:ea typeface="+mj-ea"/>
              </a:rPr>
              <a:t>Network</a:t>
            </a:r>
          </a:p>
          <a:p>
            <a:pPr marL="180000" lvl="1" indent="-180000">
              <a:buFont typeface="Arial" panose="020B0604020202020204" pitchFamily="34" charset="0"/>
              <a:buChar char="•"/>
            </a:pPr>
            <a:r>
              <a:rPr lang="zh-CN" altLang="en-US" sz="1400" dirty="0"/>
              <a:t>通常指计算机网络</a:t>
            </a:r>
            <a:endParaRPr lang="en-US" altLang="zh-CN" sz="1400" dirty="0"/>
          </a:p>
          <a:p>
            <a:pPr marL="180000" lvl="1" indent="-180000">
              <a:buFont typeface="Arial" panose="020B0604020202020204" pitchFamily="34" charset="0"/>
              <a:buChar char="•"/>
            </a:pPr>
            <a:r>
              <a:rPr lang="zh-CN" altLang="en-US" sz="1400" dirty="0"/>
              <a:t>由若干节点（如计算机、路由器、交换机等）和连接这些节点的链路组成的系统</a:t>
            </a:r>
            <a:endParaRPr lang="en-US" altLang="zh-CN" sz="1400" dirty="0"/>
          </a:p>
        </p:txBody>
      </p:sp>
      <p:sp>
        <p:nvSpPr>
          <p:cNvPr id="6" name="文本框 5">
            <a:extLst>
              <a:ext uri="{FF2B5EF4-FFF2-40B4-BE49-F238E27FC236}">
                <a16:creationId xmlns:a16="http://schemas.microsoft.com/office/drawing/2014/main" id="{A11E7D3C-DF86-D55D-BD55-7AE67FA34539}"/>
              </a:ext>
            </a:extLst>
          </p:cNvPr>
          <p:cNvSpPr txBox="1"/>
          <p:nvPr/>
        </p:nvSpPr>
        <p:spPr>
          <a:xfrm>
            <a:off x="4732015" y="2356956"/>
            <a:ext cx="2880000" cy="738664"/>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latin typeface="+mj-lt"/>
                <a:ea typeface="+mj-ea"/>
              </a:rPr>
              <a:t>互连网 </a:t>
            </a:r>
            <a:r>
              <a:rPr lang="en-US" altLang="zh-CN" dirty="0">
                <a:latin typeface="+mj-lt"/>
                <a:ea typeface="+mj-ea"/>
              </a:rPr>
              <a:t>internet</a:t>
            </a:r>
          </a:p>
          <a:p>
            <a:pPr lvl="1"/>
            <a:r>
              <a:rPr lang="zh-CN" altLang="en-US" dirty="0"/>
              <a:t>泛指任何由多个网络通过路由器互联而成的计算机网络</a:t>
            </a:r>
          </a:p>
        </p:txBody>
      </p:sp>
      <p:cxnSp>
        <p:nvCxnSpPr>
          <p:cNvPr id="12" name="直接连接符 11">
            <a:extLst>
              <a:ext uri="{FF2B5EF4-FFF2-40B4-BE49-F238E27FC236}">
                <a16:creationId xmlns:a16="http://schemas.microsoft.com/office/drawing/2014/main" id="{4B21DCC5-7938-972C-4523-CD66C45C0342}"/>
              </a:ext>
            </a:extLst>
          </p:cNvPr>
          <p:cNvCxnSpPr>
            <a:stCxn id="7" idx="1"/>
            <a:endCxn id="7" idx="3"/>
          </p:cNvCxnSpPr>
          <p:nvPr/>
        </p:nvCxnSpPr>
        <p:spPr>
          <a:xfrm>
            <a:off x="1332000" y="3506082"/>
            <a:ext cx="6480000"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2E6F8A27-9DD6-397B-980E-68EA55DBF68D}"/>
              </a:ext>
            </a:extLst>
          </p:cNvPr>
          <p:cNvCxnSpPr>
            <a:stCxn id="7" idx="0"/>
            <a:endCxn id="7" idx="2"/>
          </p:cNvCxnSpPr>
          <p:nvPr/>
        </p:nvCxnSpPr>
        <p:spPr>
          <a:xfrm>
            <a:off x="4572000" y="2138082"/>
            <a:ext cx="0" cy="273600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62C03C28-BC7B-21CA-1EDA-026633536934}"/>
              </a:ext>
            </a:extLst>
          </p:cNvPr>
          <p:cNvSpPr txBox="1"/>
          <p:nvPr/>
        </p:nvSpPr>
        <p:spPr>
          <a:xfrm>
            <a:off x="1332000" y="441261"/>
            <a:ext cx="800219" cy="461665"/>
          </a:xfrm>
          <a:prstGeom prst="rect">
            <a:avLst/>
          </a:prstGeom>
          <a:noFill/>
        </p:spPr>
        <p:txBody>
          <a:bodyPr wrap="none" rtlCol="0">
            <a:spAutoFit/>
          </a:bodyPr>
          <a:lstStyle/>
          <a:p>
            <a:pPr algn="l"/>
            <a:r>
              <a:rPr lang="zh-CN" altLang="en-US" sz="2400" dirty="0">
                <a:solidFill>
                  <a:schemeClr val="bg1"/>
                </a:solidFill>
              </a:rPr>
              <a:t>概念</a:t>
            </a:r>
          </a:p>
        </p:txBody>
      </p:sp>
      <p:sp>
        <p:nvSpPr>
          <p:cNvPr id="16" name="文本框 15">
            <a:extLst>
              <a:ext uri="{FF2B5EF4-FFF2-40B4-BE49-F238E27FC236}">
                <a16:creationId xmlns:a16="http://schemas.microsoft.com/office/drawing/2014/main" id="{5DA3B6C4-FB3D-D0B9-47C8-1D0007C281DC}"/>
              </a:ext>
            </a:extLst>
          </p:cNvPr>
          <p:cNvSpPr txBox="1"/>
          <p:nvPr/>
        </p:nvSpPr>
        <p:spPr>
          <a:xfrm>
            <a:off x="1332000" y="899764"/>
            <a:ext cx="1572866" cy="338554"/>
          </a:xfrm>
          <a:prstGeom prst="rect">
            <a:avLst/>
          </a:prstGeom>
          <a:noFill/>
        </p:spPr>
        <p:txBody>
          <a:bodyPr wrap="none" rtlCol="0">
            <a:spAutoFit/>
          </a:bodyPr>
          <a:lstStyle/>
          <a:p>
            <a:pPr algn="l"/>
            <a:r>
              <a:rPr lang="en-US" altLang="zh-CN" sz="1600" spc="400" dirty="0">
                <a:solidFill>
                  <a:schemeClr val="bg1"/>
                </a:solidFill>
              </a:rPr>
              <a:t>Concepts</a:t>
            </a:r>
            <a:endParaRPr lang="zh-CN" altLang="en-US" sz="1600" spc="400" dirty="0">
              <a:solidFill>
                <a:schemeClr val="bg1"/>
              </a:solidFill>
            </a:endParaRPr>
          </a:p>
        </p:txBody>
      </p:sp>
    </p:spTree>
    <p:extLst>
      <p:ext uri="{BB962C8B-B14F-4D97-AF65-F5344CB8AC3E}">
        <p14:creationId xmlns:p14="http://schemas.microsoft.com/office/powerpoint/2010/main" val="3238747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278D4748-C87A-71A8-D079-50F124F4E3FB}"/>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2" name="矩形: 圆角 1">
            <a:extLst>
              <a:ext uri="{FF2B5EF4-FFF2-40B4-BE49-F238E27FC236}">
                <a16:creationId xmlns:a16="http://schemas.microsoft.com/office/drawing/2014/main" id="{3E37B869-1816-3E28-9305-A5B5E7552E2F}"/>
              </a:ext>
            </a:extLst>
          </p:cNvPr>
          <p:cNvSpPr/>
          <p:nvPr/>
        </p:nvSpPr>
        <p:spPr>
          <a:xfrm>
            <a:off x="502920" y="199939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应用和服务</a:t>
            </a:r>
          </a:p>
        </p:txBody>
      </p:sp>
      <p:sp>
        <p:nvSpPr>
          <p:cNvPr id="4" name="矩形: 圆角 3">
            <a:extLst>
              <a:ext uri="{FF2B5EF4-FFF2-40B4-BE49-F238E27FC236}">
                <a16:creationId xmlns:a16="http://schemas.microsoft.com/office/drawing/2014/main" id="{2D0B2BA3-553E-94E5-46B4-E7CA24C0AEE5}"/>
              </a:ext>
            </a:extLst>
          </p:cNvPr>
          <p:cNvSpPr/>
          <p:nvPr/>
        </p:nvSpPr>
        <p:spPr>
          <a:xfrm>
            <a:off x="502920" y="306965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工作原理</a:t>
            </a:r>
          </a:p>
        </p:txBody>
      </p:sp>
      <p:sp>
        <p:nvSpPr>
          <p:cNvPr id="5" name="文本框 4">
            <a:extLst>
              <a:ext uri="{FF2B5EF4-FFF2-40B4-BE49-F238E27FC236}">
                <a16:creationId xmlns:a16="http://schemas.microsoft.com/office/drawing/2014/main" id="{3325FA8D-4986-E4C0-FBE0-7445B07D82B5}"/>
              </a:ext>
            </a:extLst>
          </p:cNvPr>
          <p:cNvSpPr txBox="1"/>
          <p:nvPr/>
        </p:nvSpPr>
        <p:spPr>
          <a:xfrm>
            <a:off x="2184694" y="1992111"/>
            <a:ext cx="4264629"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游戏，视频，社交，电子邮件，购物，网店</a:t>
            </a:r>
          </a:p>
          <a:p>
            <a:pPr marL="180000" lvl="0" indent="-180000">
              <a:buClr>
                <a:srgbClr val="D4237A"/>
              </a:buClr>
              <a:buFont typeface="Wingdings" panose="05000000000000000000" pitchFamily="2" charset="2"/>
              <a:buChar char=""/>
            </a:pPr>
            <a:r>
              <a:rPr lang="zh-CN" altLang="en-US" sz="1600" dirty="0"/>
              <a:t>网银，无现金支付，数字钱包，数字货币</a:t>
            </a:r>
            <a:endParaRPr lang="en-US" altLang="zh-CN" sz="1600" dirty="0"/>
          </a:p>
          <a:p>
            <a:pPr marL="180000" lvl="0" indent="-180000">
              <a:buClr>
                <a:srgbClr val="D4237A"/>
              </a:buClr>
              <a:buFont typeface="Wingdings" panose="05000000000000000000" pitchFamily="2" charset="2"/>
              <a:buChar char=""/>
            </a:pPr>
            <a:r>
              <a:rPr lang="en-US" altLang="zh-CN" sz="1600" dirty="0"/>
              <a:t>…</a:t>
            </a:r>
            <a:endParaRPr lang="zh-CN" altLang="en-US" sz="1600" dirty="0"/>
          </a:p>
        </p:txBody>
      </p:sp>
      <p:sp>
        <p:nvSpPr>
          <p:cNvPr id="6" name="文本框 5">
            <a:extLst>
              <a:ext uri="{FF2B5EF4-FFF2-40B4-BE49-F238E27FC236}">
                <a16:creationId xmlns:a16="http://schemas.microsoft.com/office/drawing/2014/main" id="{CB271D9C-D3BC-92B9-A276-30CBF2306F2D}"/>
              </a:ext>
            </a:extLst>
          </p:cNvPr>
          <p:cNvSpPr txBox="1"/>
          <p:nvPr/>
        </p:nvSpPr>
        <p:spPr>
          <a:xfrm>
            <a:off x="2184694" y="3062371"/>
            <a:ext cx="2547813"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互连结构，交换技术，</a:t>
            </a:r>
          </a:p>
          <a:p>
            <a:pPr marL="180000" lvl="0" indent="-180000">
              <a:buClr>
                <a:srgbClr val="D4237A"/>
              </a:buClr>
              <a:buFont typeface="Wingdings" panose="05000000000000000000" pitchFamily="2" charset="2"/>
              <a:buChar char=""/>
            </a:pPr>
            <a:r>
              <a:rPr lang="en-US" altLang="zh-CN" sz="1600" dirty="0"/>
              <a:t>TCP/IP </a:t>
            </a:r>
            <a:r>
              <a:rPr lang="zh-CN" altLang="en-US" sz="1600" dirty="0"/>
              <a:t>体系结构与协议</a:t>
            </a:r>
            <a:endParaRPr lang="en-US" altLang="zh-CN" sz="1600" dirty="0"/>
          </a:p>
          <a:p>
            <a:pPr marL="180000" lvl="0" indent="-180000">
              <a:buClr>
                <a:srgbClr val="D4237A"/>
              </a:buClr>
              <a:buFont typeface="Wingdings" panose="05000000000000000000" pitchFamily="2" charset="2"/>
              <a:buChar char=""/>
            </a:pPr>
            <a:r>
              <a:rPr lang="en-US" altLang="zh-CN" sz="1600" dirty="0"/>
              <a:t>…</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E21791-296C-EBF9-AD63-EE60FD86AA72}"/>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7" name="内容占位符 6">
            <a:extLst>
              <a:ext uri="{FF2B5EF4-FFF2-40B4-BE49-F238E27FC236}">
                <a16:creationId xmlns:a16="http://schemas.microsoft.com/office/drawing/2014/main" id="{ABAF985D-B81E-56BA-3791-47EDB9E1C940}"/>
              </a:ext>
            </a:extLst>
          </p:cNvPr>
          <p:cNvSpPr>
            <a:spLocks noGrp="1"/>
          </p:cNvSpPr>
          <p:nvPr>
            <p:ph sz="quarter" idx="10"/>
          </p:nvPr>
        </p:nvSpPr>
        <p:spPr>
          <a:xfrm>
            <a:off x="612000" y="1152000"/>
            <a:ext cx="7920000" cy="3496659"/>
          </a:xfrm>
        </p:spPr>
        <p:txBody>
          <a:bodyPr/>
          <a:lstStyle/>
          <a:p>
            <a:r>
              <a:rPr lang="zh-CN" altLang="en-US" dirty="0"/>
              <a:t>重要基本特点</a:t>
            </a:r>
            <a:endParaRPr lang="en-US" altLang="zh-CN" dirty="0"/>
          </a:p>
          <a:p>
            <a:pPr lvl="1"/>
            <a:r>
              <a:rPr lang="zh-CN" altLang="en-US" dirty="0">
                <a:solidFill>
                  <a:srgbClr val="D4237A"/>
                </a:solidFill>
              </a:rPr>
              <a:t>连通性 </a:t>
            </a:r>
            <a:r>
              <a:rPr lang="en-US" altLang="en-US" dirty="0">
                <a:solidFill>
                  <a:srgbClr val="D4237A"/>
                </a:solidFill>
              </a:rPr>
              <a:t>connectivity</a:t>
            </a:r>
            <a:endParaRPr lang="en-US" altLang="zh-CN" dirty="0">
              <a:solidFill>
                <a:srgbClr val="D4237A"/>
              </a:solidFill>
            </a:endParaRPr>
          </a:p>
          <a:p>
            <a:pPr lvl="2"/>
            <a:r>
              <a:rPr lang="zh-CN" altLang="en-US" dirty="0"/>
              <a:t>使上网用户之间可以非常便捷、非常经济地交换各种信息</a:t>
            </a:r>
          </a:p>
          <a:p>
            <a:pPr lvl="2"/>
            <a:r>
              <a:rPr lang="zh-CN" altLang="en-US" dirty="0"/>
              <a:t>好像这些用户终端都彼此直接连通一样</a:t>
            </a:r>
            <a:endParaRPr lang="en-US" altLang="zh-CN" dirty="0"/>
          </a:p>
          <a:p>
            <a:pPr lvl="1"/>
            <a:r>
              <a:rPr lang="zh-CN" altLang="en-US" dirty="0">
                <a:solidFill>
                  <a:srgbClr val="D4237A"/>
                </a:solidFill>
              </a:rPr>
              <a:t>资源共享 </a:t>
            </a:r>
            <a:r>
              <a:rPr lang="en-US" altLang="en-US" dirty="0">
                <a:solidFill>
                  <a:srgbClr val="D4237A"/>
                </a:solidFill>
              </a:rPr>
              <a:t>Sharing</a:t>
            </a:r>
            <a:endParaRPr lang="zh-CN" altLang="en-US" dirty="0">
              <a:solidFill>
                <a:srgbClr val="D4237A"/>
              </a:solidFill>
            </a:endParaRPr>
          </a:p>
          <a:p>
            <a:pPr lvl="2"/>
            <a:r>
              <a:rPr lang="zh-CN" altLang="en-US" dirty="0"/>
              <a:t>实现信息共享、软件共享、硬件共享</a:t>
            </a:r>
          </a:p>
          <a:p>
            <a:pPr lvl="2"/>
            <a:r>
              <a:rPr lang="zh-CN" altLang="en-US" dirty="0"/>
              <a:t>由于网络的存在，这些资源好像就在用户身边一样地方便使用</a:t>
            </a:r>
          </a:p>
          <a:p>
            <a:r>
              <a:rPr lang="zh-CN" altLang="en-US" dirty="0"/>
              <a:t>是 </a:t>
            </a:r>
            <a:r>
              <a:rPr lang="en-US" altLang="zh-CN" dirty="0"/>
              <a:t>Internet </a:t>
            </a:r>
            <a:r>
              <a:rPr lang="zh-CN" altLang="en-US" dirty="0"/>
              <a:t>提供许多服务的基础</a:t>
            </a:r>
            <a:endParaRPr lang="en-US" altLang="zh-CN" dirty="0"/>
          </a:p>
          <a:p>
            <a:r>
              <a:rPr lang="zh-CN" altLang="en-US" dirty="0"/>
              <a:t>已经融入人们的生活、工作、学习和交往</a:t>
            </a:r>
            <a:endParaRPr lang="en-US" altLang="zh-CN" dirty="0"/>
          </a:p>
          <a:p>
            <a:r>
              <a:rPr lang="zh-CN" altLang="en-US" dirty="0"/>
              <a:t>已经成为社会最为重要的基础设施之一</a:t>
            </a:r>
          </a:p>
        </p:txBody>
      </p:sp>
      <p:grpSp>
        <p:nvGrpSpPr>
          <p:cNvPr id="29" name="组合 28">
            <a:extLst>
              <a:ext uri="{FF2B5EF4-FFF2-40B4-BE49-F238E27FC236}">
                <a16:creationId xmlns:a16="http://schemas.microsoft.com/office/drawing/2014/main" id="{FB04CF3D-0FF1-8C06-3D13-FE94703E225E}"/>
              </a:ext>
            </a:extLst>
          </p:cNvPr>
          <p:cNvGrpSpPr/>
          <p:nvPr/>
        </p:nvGrpSpPr>
        <p:grpSpPr>
          <a:xfrm>
            <a:off x="5664865" y="823071"/>
            <a:ext cx="1472624" cy="1472624"/>
            <a:chOff x="5416094" y="970989"/>
            <a:chExt cx="1472624" cy="1472624"/>
          </a:xfrm>
        </p:grpSpPr>
        <p:grpSp>
          <p:nvGrpSpPr>
            <p:cNvPr id="19" name="组合 18">
              <a:extLst>
                <a:ext uri="{FF2B5EF4-FFF2-40B4-BE49-F238E27FC236}">
                  <a16:creationId xmlns:a16="http://schemas.microsoft.com/office/drawing/2014/main" id="{A3325BA3-8F8E-2EC8-6EE2-D4F9F17235AA}"/>
                </a:ext>
              </a:extLst>
            </p:cNvPr>
            <p:cNvGrpSpPr/>
            <p:nvPr/>
          </p:nvGrpSpPr>
          <p:grpSpPr>
            <a:xfrm>
              <a:off x="5416094" y="970989"/>
              <a:ext cx="1472624" cy="1472624"/>
              <a:chOff x="1674457" y="2181224"/>
              <a:chExt cx="3240000" cy="3240000"/>
            </a:xfrm>
          </p:grpSpPr>
          <p:sp>
            <p:nvSpPr>
              <p:cNvPr id="20" name="任意多边形: 形状 19">
                <a:extLst>
                  <a:ext uri="{FF2B5EF4-FFF2-40B4-BE49-F238E27FC236}">
                    <a16:creationId xmlns:a16="http://schemas.microsoft.com/office/drawing/2014/main" id="{A5270FAD-D64F-D257-4384-DD968908CF2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21" name="任意多边形: 形状 20">
                <a:extLst>
                  <a:ext uri="{FF2B5EF4-FFF2-40B4-BE49-F238E27FC236}">
                    <a16:creationId xmlns:a16="http://schemas.microsoft.com/office/drawing/2014/main" id="{79624847-FE86-A27E-ABE2-9B780813BF0D}"/>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2" name="图形 21" descr="云计算">
              <a:extLst>
                <a:ext uri="{FF2B5EF4-FFF2-40B4-BE49-F238E27FC236}">
                  <a16:creationId xmlns:a16="http://schemas.microsoft.com/office/drawing/2014/main" id="{D29654F1-403B-72FD-F592-30D09CEF64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44603" y="1221771"/>
              <a:ext cx="415607" cy="415607"/>
            </a:xfrm>
            <a:prstGeom prst="rect">
              <a:avLst/>
            </a:prstGeom>
            <a:effectLst>
              <a:outerShdw blurRad="50800" dist="38100" dir="2700000" algn="tl" rotWithShape="0">
                <a:prstClr val="black">
                  <a:alpha val="40000"/>
                </a:prstClr>
              </a:outerShdw>
            </a:effectLst>
          </p:spPr>
        </p:pic>
        <p:sp>
          <p:nvSpPr>
            <p:cNvPr id="24" name="文本框 23">
              <a:extLst>
                <a:ext uri="{FF2B5EF4-FFF2-40B4-BE49-F238E27FC236}">
                  <a16:creationId xmlns:a16="http://schemas.microsoft.com/office/drawing/2014/main" id="{4A293751-3AE4-D960-5FCE-B2A774FF14E9}"/>
                </a:ext>
              </a:extLst>
            </p:cNvPr>
            <p:cNvSpPr txBox="1"/>
            <p:nvPr/>
          </p:nvSpPr>
          <p:spPr>
            <a:xfrm>
              <a:off x="5880537" y="1783242"/>
              <a:ext cx="543739" cy="307777"/>
            </a:xfrm>
            <a:prstGeom prst="rect">
              <a:avLst/>
            </a:prstGeom>
            <a:noFill/>
          </p:spPr>
          <p:txBody>
            <a:bodyPr wrap="none" rtlCol="0">
              <a:spAutoFit/>
            </a:bodyPr>
            <a:lstStyle/>
            <a:p>
              <a:pPr algn="ctr"/>
              <a:r>
                <a:rPr lang="zh-CN" altLang="en-US" sz="1400" dirty="0"/>
                <a:t>连通</a:t>
              </a:r>
            </a:p>
          </p:txBody>
        </p:sp>
        <p:sp>
          <p:nvSpPr>
            <p:cNvPr id="25" name="文本框 24">
              <a:extLst>
                <a:ext uri="{FF2B5EF4-FFF2-40B4-BE49-F238E27FC236}">
                  <a16:creationId xmlns:a16="http://schemas.microsoft.com/office/drawing/2014/main" id="{1D8FDD19-5312-EEDE-32BE-4A17CA6744E8}"/>
                </a:ext>
              </a:extLst>
            </p:cNvPr>
            <p:cNvSpPr txBox="1"/>
            <p:nvPr/>
          </p:nvSpPr>
          <p:spPr>
            <a:xfrm>
              <a:off x="5575163" y="1989017"/>
              <a:ext cx="1154483" cy="276999"/>
            </a:xfrm>
            <a:prstGeom prst="rect">
              <a:avLst/>
            </a:prstGeom>
            <a:noFill/>
          </p:spPr>
          <p:txBody>
            <a:bodyPr wrap="none" rtlCol="0">
              <a:spAutoFit/>
            </a:bodyPr>
            <a:lstStyle/>
            <a:p>
              <a:pPr algn="ctr"/>
              <a:r>
                <a:rPr lang="en-US" altLang="zh-CN" sz="1200" dirty="0"/>
                <a:t>Connectivity</a:t>
              </a:r>
              <a:endParaRPr lang="zh-CN" altLang="en-US" sz="1200" dirty="0"/>
            </a:p>
          </p:txBody>
        </p:sp>
      </p:grpSp>
      <p:grpSp>
        <p:nvGrpSpPr>
          <p:cNvPr id="30" name="组合 29">
            <a:extLst>
              <a:ext uri="{FF2B5EF4-FFF2-40B4-BE49-F238E27FC236}">
                <a16:creationId xmlns:a16="http://schemas.microsoft.com/office/drawing/2014/main" id="{49963E4F-8712-5C57-3EB3-0A35CE9ABBB5}"/>
              </a:ext>
            </a:extLst>
          </p:cNvPr>
          <p:cNvGrpSpPr/>
          <p:nvPr/>
        </p:nvGrpSpPr>
        <p:grpSpPr>
          <a:xfrm>
            <a:off x="7059376" y="1707301"/>
            <a:ext cx="1472624" cy="1472624"/>
            <a:chOff x="7543470" y="970989"/>
            <a:chExt cx="1472624" cy="1472624"/>
          </a:xfrm>
        </p:grpSpPr>
        <p:grpSp>
          <p:nvGrpSpPr>
            <p:cNvPr id="16" name="组合 15">
              <a:extLst>
                <a:ext uri="{FF2B5EF4-FFF2-40B4-BE49-F238E27FC236}">
                  <a16:creationId xmlns:a16="http://schemas.microsoft.com/office/drawing/2014/main" id="{52EE5C20-68A7-8824-3ED2-C5D10BED9A1E}"/>
                </a:ext>
              </a:extLst>
            </p:cNvPr>
            <p:cNvGrpSpPr/>
            <p:nvPr/>
          </p:nvGrpSpPr>
          <p:grpSpPr>
            <a:xfrm>
              <a:off x="7543470" y="970989"/>
              <a:ext cx="1472624" cy="1472624"/>
              <a:chOff x="1674457" y="2181224"/>
              <a:chExt cx="3240000" cy="3240000"/>
            </a:xfrm>
          </p:grpSpPr>
          <p:sp>
            <p:nvSpPr>
              <p:cNvPr id="17" name="任意多边形: 形状 16">
                <a:extLst>
                  <a:ext uri="{FF2B5EF4-FFF2-40B4-BE49-F238E27FC236}">
                    <a16:creationId xmlns:a16="http://schemas.microsoft.com/office/drawing/2014/main" id="{61F1EB37-437B-7B15-124C-1B8C42371F3F}"/>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18" name="任意多边形: 形状 17">
                <a:extLst>
                  <a:ext uri="{FF2B5EF4-FFF2-40B4-BE49-F238E27FC236}">
                    <a16:creationId xmlns:a16="http://schemas.microsoft.com/office/drawing/2014/main" id="{851CB840-BBCE-3F52-D7EE-25C08FB2970A}"/>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3" name="图形 22" descr="同步云">
              <a:extLst>
                <a:ext uri="{FF2B5EF4-FFF2-40B4-BE49-F238E27FC236}">
                  <a16:creationId xmlns:a16="http://schemas.microsoft.com/office/drawing/2014/main" id="{5DE16726-B2D5-A942-9322-7F72B7B2A69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978" y="1221771"/>
              <a:ext cx="415607" cy="415607"/>
            </a:xfrm>
            <a:prstGeom prst="rect">
              <a:avLst/>
            </a:prstGeom>
            <a:effectLst>
              <a:outerShdw blurRad="50800" dist="38100" dir="2700000" algn="tl" rotWithShape="0">
                <a:prstClr val="black">
                  <a:alpha val="40000"/>
                </a:prstClr>
              </a:outerShdw>
            </a:effectLst>
          </p:spPr>
        </p:pic>
        <p:sp>
          <p:nvSpPr>
            <p:cNvPr id="26" name="文本框 25">
              <a:extLst>
                <a:ext uri="{FF2B5EF4-FFF2-40B4-BE49-F238E27FC236}">
                  <a16:creationId xmlns:a16="http://schemas.microsoft.com/office/drawing/2014/main" id="{3020BCDC-DC42-7D7E-88A5-C4A8913A54E9}"/>
                </a:ext>
              </a:extLst>
            </p:cNvPr>
            <p:cNvSpPr txBox="1"/>
            <p:nvPr/>
          </p:nvSpPr>
          <p:spPr>
            <a:xfrm>
              <a:off x="8007913" y="1783242"/>
              <a:ext cx="543739" cy="307777"/>
            </a:xfrm>
            <a:prstGeom prst="rect">
              <a:avLst/>
            </a:prstGeom>
            <a:noFill/>
          </p:spPr>
          <p:txBody>
            <a:bodyPr wrap="none" rtlCol="0">
              <a:spAutoFit/>
            </a:bodyPr>
            <a:lstStyle/>
            <a:p>
              <a:pPr algn="ctr"/>
              <a:r>
                <a:rPr lang="zh-CN" altLang="en-US" sz="1400" dirty="0"/>
                <a:t>共享</a:t>
              </a:r>
            </a:p>
          </p:txBody>
        </p:sp>
        <p:sp>
          <p:nvSpPr>
            <p:cNvPr id="27" name="文本框 26">
              <a:extLst>
                <a:ext uri="{FF2B5EF4-FFF2-40B4-BE49-F238E27FC236}">
                  <a16:creationId xmlns:a16="http://schemas.microsoft.com/office/drawing/2014/main" id="{FB6A0828-203D-1B6F-FE1F-A65C4638CC18}"/>
                </a:ext>
              </a:extLst>
            </p:cNvPr>
            <p:cNvSpPr txBox="1"/>
            <p:nvPr/>
          </p:nvSpPr>
          <p:spPr>
            <a:xfrm>
              <a:off x="7835590" y="1989017"/>
              <a:ext cx="888385" cy="307777"/>
            </a:xfrm>
            <a:prstGeom prst="rect">
              <a:avLst/>
            </a:prstGeom>
            <a:noFill/>
          </p:spPr>
          <p:txBody>
            <a:bodyPr wrap="none" rtlCol="0">
              <a:spAutoFit/>
            </a:bodyPr>
            <a:lstStyle/>
            <a:p>
              <a:pPr algn="ctr"/>
              <a:r>
                <a:rPr lang="en-US" altLang="zh-CN" sz="1400" dirty="0"/>
                <a:t>Sharing</a:t>
              </a:r>
              <a:endParaRPr lang="zh-CN" altLang="en-US" sz="1400" dirty="0"/>
            </a:p>
          </p:txBody>
        </p:sp>
      </p:gr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43255C0-3D60-BF02-22B9-06940BF9DC33}"/>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6" name="内容占位符 5">
            <a:extLst>
              <a:ext uri="{FF2B5EF4-FFF2-40B4-BE49-F238E27FC236}">
                <a16:creationId xmlns:a16="http://schemas.microsoft.com/office/drawing/2014/main" id="{54CC598B-BFEC-1EF2-DB2B-9B8A1BA33A7F}"/>
              </a:ext>
            </a:extLst>
          </p:cNvPr>
          <p:cNvSpPr>
            <a:spLocks noGrp="1"/>
          </p:cNvSpPr>
          <p:nvPr>
            <p:ph sz="quarter" idx="10"/>
          </p:nvPr>
        </p:nvSpPr>
        <p:spPr>
          <a:xfrm>
            <a:off x="612000" y="1152000"/>
            <a:ext cx="7920000" cy="3496659"/>
          </a:xfrm>
        </p:spPr>
        <p:txBody>
          <a:bodyPr>
            <a:normAutofit/>
          </a:bodyPr>
          <a:lstStyle/>
          <a:p>
            <a:r>
              <a:rPr lang="zh-CN" altLang="en-US" dirty="0"/>
              <a:t>负面影响</a:t>
            </a:r>
            <a:endParaRPr lang="en-US" altLang="zh-CN" dirty="0"/>
          </a:p>
          <a:p>
            <a:pPr lvl="1"/>
            <a:r>
              <a:rPr lang="zh-CN" altLang="en-US" dirty="0"/>
              <a:t>传播病毒</a:t>
            </a:r>
          </a:p>
          <a:p>
            <a:pPr lvl="1"/>
            <a:r>
              <a:rPr lang="zh-CN" altLang="en-US" dirty="0"/>
              <a:t>窃取：数据，钱财等</a:t>
            </a:r>
          </a:p>
          <a:p>
            <a:pPr lvl="1"/>
            <a:r>
              <a:rPr lang="zh-CN" altLang="en-US" dirty="0"/>
              <a:t>散布谣言</a:t>
            </a:r>
          </a:p>
          <a:p>
            <a:pPr lvl="1"/>
            <a:r>
              <a:rPr lang="zh-CN" altLang="en-US" dirty="0"/>
              <a:t>不良信息</a:t>
            </a:r>
          </a:p>
          <a:p>
            <a:pPr lvl="1"/>
            <a:r>
              <a:rPr lang="zh-CN" altLang="en-US" dirty="0"/>
              <a:t>欺诈</a:t>
            </a:r>
          </a:p>
          <a:p>
            <a:pPr lvl="1"/>
            <a:r>
              <a:rPr lang="zh-CN" altLang="en-US" dirty="0"/>
              <a:t>网瘾</a:t>
            </a:r>
          </a:p>
          <a:p>
            <a:pPr lvl="1"/>
            <a:r>
              <a:rPr lang="en-US" altLang="zh-CN" dirty="0"/>
              <a:t>……</a:t>
            </a:r>
          </a:p>
          <a:p>
            <a:r>
              <a:rPr lang="zh-CN" altLang="en-US" dirty="0"/>
              <a:t>需要加强</a:t>
            </a:r>
            <a:r>
              <a:rPr lang="zh-CN" altLang="zh-CN" dirty="0"/>
              <a:t>对互联网的管理</a:t>
            </a:r>
            <a:endParaRPr lang="zh-CN" altLang="en-US" dirty="0"/>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132C8544-859B-D1AF-F894-D8B40F50894F}"/>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p:cNvSpPr>
            <a:spLocks noGrp="1"/>
          </p:cNvSpPr>
          <p:nvPr>
            <p:ph sz="quarter" idx="10"/>
          </p:nvPr>
        </p:nvSpPr>
        <p:spPr>
          <a:xfrm>
            <a:off x="612000" y="1152000"/>
            <a:ext cx="7920000" cy="3496659"/>
          </a:xfrm>
        </p:spPr>
        <p:txBody>
          <a:bodyPr/>
          <a:lstStyle/>
          <a:p>
            <a:r>
              <a:rPr lang="zh-CN" altLang="en-US" dirty="0"/>
              <a:t>互联网</a:t>
            </a:r>
            <a:r>
              <a:rPr lang="en-US" altLang="zh-CN" dirty="0"/>
              <a:t>+</a:t>
            </a:r>
          </a:p>
          <a:p>
            <a:r>
              <a:rPr lang="zh-CN" altLang="en-US" dirty="0"/>
              <a:t>新的经济形态</a:t>
            </a:r>
            <a:endParaRPr lang="en-US" altLang="zh-CN" dirty="0"/>
          </a:p>
          <a:p>
            <a:r>
              <a:rPr lang="zh-CN" altLang="en-US" dirty="0"/>
              <a:t>互联网 </a:t>
            </a:r>
            <a:r>
              <a:rPr lang="en-US" altLang="zh-CN" dirty="0"/>
              <a:t>+ </a:t>
            </a:r>
            <a:r>
              <a:rPr lang="zh-CN" altLang="en-US" dirty="0"/>
              <a:t>各个传统行业</a:t>
            </a:r>
            <a:endParaRPr lang="en-US" altLang="zh-CN" dirty="0"/>
          </a:p>
          <a:p>
            <a:r>
              <a:rPr lang="zh-CN" altLang="en-US" dirty="0"/>
              <a:t>把互联网的创新成果深度融合于经济社会各领域</a:t>
            </a:r>
            <a:endParaRPr lang="en-US" altLang="zh-CN" dirty="0"/>
          </a:p>
        </p:txBody>
      </p:sp>
      <p:grpSp>
        <p:nvGrpSpPr>
          <p:cNvPr id="2" name="组合 1">
            <a:extLst>
              <a:ext uri="{FF2B5EF4-FFF2-40B4-BE49-F238E27FC236}">
                <a16:creationId xmlns:a16="http://schemas.microsoft.com/office/drawing/2014/main" id="{3284353B-3454-C7B5-BED5-8C20FAEE7625}"/>
              </a:ext>
            </a:extLst>
          </p:cNvPr>
          <p:cNvGrpSpPr/>
          <p:nvPr/>
        </p:nvGrpSpPr>
        <p:grpSpPr>
          <a:xfrm>
            <a:off x="6140755" y="1676604"/>
            <a:ext cx="2447515" cy="2447515"/>
            <a:chOff x="6140755" y="1676604"/>
            <a:chExt cx="2447515" cy="2447515"/>
          </a:xfrm>
        </p:grpSpPr>
        <p:sp>
          <p:nvSpPr>
            <p:cNvPr id="4" name="任意多边形: 形状 3">
              <a:extLst>
                <a:ext uri="{FF2B5EF4-FFF2-40B4-BE49-F238E27FC236}">
                  <a16:creationId xmlns:a16="http://schemas.microsoft.com/office/drawing/2014/main" id="{84127B24-10A3-0311-5D10-5822052B0B09}"/>
                </a:ext>
              </a:extLst>
            </p:cNvPr>
            <p:cNvSpPr/>
            <p:nvPr/>
          </p:nvSpPr>
          <p:spPr>
            <a:xfrm>
              <a:off x="6685575" y="2221424"/>
              <a:ext cx="1357875" cy="1357875"/>
            </a:xfrm>
            <a:custGeom>
              <a:avLst/>
              <a:gdLst>
                <a:gd name="csX0" fmla="*/ 0 w 1357875"/>
                <a:gd name="csY0" fmla="*/ 678938 h 1357875"/>
                <a:gd name="csX1" fmla="*/ 678938 w 1357875"/>
                <a:gd name="csY1" fmla="*/ 0 h 1357875"/>
                <a:gd name="csX2" fmla="*/ 1357876 w 1357875"/>
                <a:gd name="csY2" fmla="*/ 678938 h 1357875"/>
                <a:gd name="csX3" fmla="*/ 678938 w 1357875"/>
                <a:gd name="csY3" fmla="*/ 1357876 h 1357875"/>
                <a:gd name="csX4" fmla="*/ 0 w 1357875"/>
                <a:gd name="csY4" fmla="*/ 678938 h 1357875"/>
              </a:gdLst>
              <a:ahLst/>
              <a:cxnLst>
                <a:cxn ang="0">
                  <a:pos x="csX0" y="csY0"/>
                </a:cxn>
                <a:cxn ang="0">
                  <a:pos x="csX1" y="csY1"/>
                </a:cxn>
                <a:cxn ang="0">
                  <a:pos x="csX2" y="csY2"/>
                </a:cxn>
                <a:cxn ang="0">
                  <a:pos x="csX3" y="csY3"/>
                </a:cxn>
                <a:cxn ang="0">
                  <a:pos x="csX4" y="csY4"/>
                </a:cxn>
              </a:cxnLst>
              <a:rect l="l" t="t" r="r" b="b"/>
              <a:pathLst>
                <a:path w="1357875" h="1357875">
                  <a:moveTo>
                    <a:pt x="0" y="678938"/>
                  </a:moveTo>
                  <a:cubicBezTo>
                    <a:pt x="0" y="303971"/>
                    <a:pt x="303971" y="0"/>
                    <a:pt x="678938" y="0"/>
                  </a:cubicBezTo>
                  <a:cubicBezTo>
                    <a:pt x="1053905" y="0"/>
                    <a:pt x="1357876" y="303971"/>
                    <a:pt x="1357876" y="678938"/>
                  </a:cubicBezTo>
                  <a:cubicBezTo>
                    <a:pt x="1357876" y="1053905"/>
                    <a:pt x="1053905" y="1357876"/>
                    <a:pt x="678938" y="1357876"/>
                  </a:cubicBezTo>
                  <a:cubicBezTo>
                    <a:pt x="303971" y="1357876"/>
                    <a:pt x="0" y="1053905"/>
                    <a:pt x="0" y="678938"/>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212826" tIns="212826" rIns="212826" bIns="212826" numCol="1" spcCol="1270" anchor="ctr" anchorCtr="0">
              <a:noAutofit/>
            </a:bodyPr>
            <a:lstStyle/>
            <a:p>
              <a:pPr marL="0" lvl="0" indent="0" algn="ctr" defTabSz="466725">
                <a:lnSpc>
                  <a:spcPct val="90000"/>
                </a:lnSpc>
                <a:spcBef>
                  <a:spcPct val="0"/>
                </a:spcBef>
                <a:spcAft>
                  <a:spcPct val="35000"/>
                </a:spcAft>
                <a:buNone/>
              </a:pPr>
              <a:r>
                <a:rPr lang="zh-CN" altLang="en-US" sz="1050" kern="1200" dirty="0"/>
                <a:t>互联网 </a:t>
              </a:r>
              <a:r>
                <a:rPr lang="en-US" altLang="zh-CN" sz="1050" kern="1200" dirty="0"/>
                <a:t>Internet</a:t>
              </a:r>
              <a:endParaRPr lang="zh-CN" altLang="en-US" sz="1050" kern="1200" dirty="0"/>
            </a:p>
          </p:txBody>
        </p:sp>
        <p:sp>
          <p:nvSpPr>
            <p:cNvPr id="5" name="任意多边形: 形状 4">
              <a:extLst>
                <a:ext uri="{FF2B5EF4-FFF2-40B4-BE49-F238E27FC236}">
                  <a16:creationId xmlns:a16="http://schemas.microsoft.com/office/drawing/2014/main" id="{AC406563-6590-EFDB-95F0-A6AFD797687F}"/>
                </a:ext>
              </a:extLst>
            </p:cNvPr>
            <p:cNvSpPr/>
            <p:nvPr/>
          </p:nvSpPr>
          <p:spPr>
            <a:xfrm>
              <a:off x="7025044" y="1676604"/>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工业</a:t>
              </a:r>
              <a:r>
                <a:rPr lang="en-US" altLang="zh-CN" sz="900" kern="1200" dirty="0"/>
                <a:t>/I</a:t>
              </a:r>
              <a:endParaRPr lang="zh-CN" altLang="en-US" sz="900" kern="1200" dirty="0"/>
            </a:p>
          </p:txBody>
        </p:sp>
        <p:sp>
          <p:nvSpPr>
            <p:cNvPr id="6" name="任意多边形: 形状 5">
              <a:extLst>
                <a:ext uri="{FF2B5EF4-FFF2-40B4-BE49-F238E27FC236}">
                  <a16:creationId xmlns:a16="http://schemas.microsoft.com/office/drawing/2014/main" id="{2D0DBC30-ADD2-D648-ED64-41457404A0AA}"/>
                </a:ext>
              </a:extLst>
            </p:cNvPr>
            <p:cNvSpPr/>
            <p:nvPr/>
          </p:nvSpPr>
          <p:spPr>
            <a:xfrm>
              <a:off x="7650330"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农业</a:t>
              </a:r>
              <a:r>
                <a:rPr lang="en-US" altLang="zh-CN" sz="900" kern="1200" dirty="0"/>
                <a:t>/A</a:t>
              </a:r>
              <a:endParaRPr lang="zh-CN" altLang="en-US" sz="900" kern="1200" dirty="0"/>
            </a:p>
          </p:txBody>
        </p:sp>
        <p:sp>
          <p:nvSpPr>
            <p:cNvPr id="8" name="任意多边形: 形状 7">
              <a:extLst>
                <a:ext uri="{FF2B5EF4-FFF2-40B4-BE49-F238E27FC236}">
                  <a16:creationId xmlns:a16="http://schemas.microsoft.com/office/drawing/2014/main" id="{BC060A1B-C208-E612-F43C-9C6C5B5F8538}"/>
                </a:ext>
              </a:extLst>
            </p:cNvPr>
            <p:cNvSpPr/>
            <p:nvPr/>
          </p:nvSpPr>
          <p:spPr>
            <a:xfrm>
              <a:off x="7909333"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教育</a:t>
              </a:r>
              <a:r>
                <a:rPr lang="en-US" altLang="zh-CN" sz="900" kern="1200" dirty="0"/>
                <a:t>/E</a:t>
              </a:r>
              <a:endParaRPr lang="zh-CN" altLang="en-US" sz="900" kern="1200" dirty="0"/>
            </a:p>
          </p:txBody>
        </p:sp>
        <p:sp>
          <p:nvSpPr>
            <p:cNvPr id="9" name="任意多边形: 形状 8">
              <a:extLst>
                <a:ext uri="{FF2B5EF4-FFF2-40B4-BE49-F238E27FC236}">
                  <a16:creationId xmlns:a16="http://schemas.microsoft.com/office/drawing/2014/main" id="{1B49D42B-FCC8-5623-43EA-3BC2A622BCDF}"/>
                </a:ext>
              </a:extLst>
            </p:cNvPr>
            <p:cNvSpPr/>
            <p:nvPr/>
          </p:nvSpPr>
          <p:spPr>
            <a:xfrm>
              <a:off x="7650330"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6">
                <a:alpha val="50000"/>
                <a:hueOff val="0"/>
                <a:satOff val="0"/>
                <a:lumOff val="0"/>
                <a:alphaOff val="0"/>
              </a:schemeClr>
            </a:fillRef>
            <a:effectRef idx="0">
              <a:schemeClr val="accent6">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医疗</a:t>
              </a:r>
              <a:r>
                <a:rPr lang="en-US" altLang="zh-CN" sz="900" kern="1200" dirty="0"/>
                <a:t>/M</a:t>
              </a:r>
              <a:endParaRPr lang="zh-CN" altLang="en-US" sz="900" kern="1200" dirty="0"/>
            </a:p>
          </p:txBody>
        </p:sp>
        <p:sp>
          <p:nvSpPr>
            <p:cNvPr id="10" name="任意多边形: 形状 9">
              <a:extLst>
                <a:ext uri="{FF2B5EF4-FFF2-40B4-BE49-F238E27FC236}">
                  <a16:creationId xmlns:a16="http://schemas.microsoft.com/office/drawing/2014/main" id="{1233CF8C-302D-5BB7-7D19-6D04D39DE921}"/>
                </a:ext>
              </a:extLst>
            </p:cNvPr>
            <p:cNvSpPr/>
            <p:nvPr/>
          </p:nvSpPr>
          <p:spPr>
            <a:xfrm>
              <a:off x="7025044" y="3445182"/>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商业</a:t>
              </a:r>
              <a:r>
                <a:rPr lang="en-US" altLang="zh-CN" sz="900" kern="1200" dirty="0"/>
                <a:t>/C</a:t>
              </a:r>
              <a:endParaRPr lang="zh-CN" altLang="en-US" sz="900" kern="1200" dirty="0"/>
            </a:p>
          </p:txBody>
        </p:sp>
        <p:sp>
          <p:nvSpPr>
            <p:cNvPr id="11" name="任意多边形: 形状 10">
              <a:extLst>
                <a:ext uri="{FF2B5EF4-FFF2-40B4-BE49-F238E27FC236}">
                  <a16:creationId xmlns:a16="http://schemas.microsoft.com/office/drawing/2014/main" id="{79CB7324-39A9-39E6-26B8-8902B9160C94}"/>
                </a:ext>
              </a:extLst>
            </p:cNvPr>
            <p:cNvSpPr/>
            <p:nvPr/>
          </p:nvSpPr>
          <p:spPr>
            <a:xfrm>
              <a:off x="6399757"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交通</a:t>
              </a:r>
              <a:r>
                <a:rPr lang="en-US" altLang="zh-CN" sz="900" kern="1200" dirty="0"/>
                <a:t>/T</a:t>
              </a:r>
              <a:endParaRPr lang="zh-CN" altLang="en-US" sz="900" kern="1200" dirty="0"/>
            </a:p>
          </p:txBody>
        </p:sp>
        <p:sp>
          <p:nvSpPr>
            <p:cNvPr id="12" name="任意多边形: 形状 11">
              <a:extLst>
                <a:ext uri="{FF2B5EF4-FFF2-40B4-BE49-F238E27FC236}">
                  <a16:creationId xmlns:a16="http://schemas.microsoft.com/office/drawing/2014/main" id="{104EC5B2-2718-D246-5157-10A37553B8B5}"/>
                </a:ext>
              </a:extLst>
            </p:cNvPr>
            <p:cNvSpPr/>
            <p:nvPr/>
          </p:nvSpPr>
          <p:spPr>
            <a:xfrm>
              <a:off x="6140755"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金融</a:t>
              </a:r>
              <a:r>
                <a:rPr lang="en-US" altLang="zh-CN" sz="900" kern="1200" dirty="0"/>
                <a:t>/F</a:t>
              </a:r>
              <a:endParaRPr lang="zh-CN" altLang="en-US" sz="900" kern="1200" dirty="0"/>
            </a:p>
          </p:txBody>
        </p:sp>
        <p:sp>
          <p:nvSpPr>
            <p:cNvPr id="14" name="任意多边形: 形状 13">
              <a:extLst>
                <a:ext uri="{FF2B5EF4-FFF2-40B4-BE49-F238E27FC236}">
                  <a16:creationId xmlns:a16="http://schemas.microsoft.com/office/drawing/2014/main" id="{AB861643-2DDC-A0E7-F5A0-8D92F81CBBFC}"/>
                </a:ext>
              </a:extLst>
            </p:cNvPr>
            <p:cNvSpPr/>
            <p:nvPr/>
          </p:nvSpPr>
          <p:spPr>
            <a:xfrm>
              <a:off x="6399757"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政务</a:t>
              </a:r>
              <a:r>
                <a:rPr lang="en-US" altLang="zh-CN" sz="900" kern="1200" dirty="0"/>
                <a:t>/P</a:t>
              </a:r>
              <a:endParaRPr lang="zh-CN" altLang="en-US" sz="900" kern="1200" dirty="0"/>
            </a:p>
          </p:txBody>
        </p:sp>
      </p:grpSp>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1D7F-5FAD-5658-3A9B-3F0CEC873714}"/>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39E7BF32-29D8-98DF-AC28-0E2A8DF87507}"/>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a:extLst>
              <a:ext uri="{FF2B5EF4-FFF2-40B4-BE49-F238E27FC236}">
                <a16:creationId xmlns:a16="http://schemas.microsoft.com/office/drawing/2014/main" id="{095BF98C-B632-E1F9-EEA0-2055C5609E74}"/>
              </a:ext>
            </a:extLst>
          </p:cNvPr>
          <p:cNvSpPr>
            <a:spLocks noGrp="1"/>
          </p:cNvSpPr>
          <p:nvPr>
            <p:ph sz="quarter" idx="10"/>
          </p:nvPr>
        </p:nvSpPr>
        <p:spPr>
          <a:xfrm>
            <a:off x="612000" y="1152000"/>
            <a:ext cx="7920000" cy="3496659"/>
          </a:xfrm>
        </p:spPr>
        <p:txBody>
          <a:bodyPr/>
          <a:lstStyle/>
          <a:p>
            <a:r>
              <a:rPr lang="zh-CN" altLang="en-US" dirty="0"/>
              <a:t>课堂讨论</a:t>
            </a:r>
            <a:endParaRPr lang="en-US" altLang="zh-CN" dirty="0"/>
          </a:p>
          <a:p>
            <a:pPr lvl="1"/>
            <a:r>
              <a:rPr lang="zh-CN" altLang="en-US" dirty="0"/>
              <a:t>通过阅读：</a:t>
            </a:r>
            <a:r>
              <a:rPr lang="zh-CN" altLang="en-US" dirty="0">
                <a:hlinkClick r:id="rId3"/>
              </a:rPr>
              <a:t>互联网</a:t>
            </a:r>
            <a:r>
              <a:rPr lang="en-US" altLang="zh-CN" dirty="0">
                <a:hlinkClick r:id="rId3"/>
              </a:rPr>
              <a:t>+</a:t>
            </a:r>
            <a:r>
              <a:rPr lang="zh-CN" altLang="en-US" dirty="0">
                <a:hlinkClick r:id="rId3"/>
              </a:rPr>
              <a:t>改变生活</a:t>
            </a:r>
            <a:endParaRPr lang="en-US" altLang="zh-CN" dirty="0"/>
          </a:p>
          <a:p>
            <a:pPr lvl="1"/>
            <a:r>
              <a:rPr lang="zh-CN" altLang="en-US" dirty="0"/>
              <a:t>小组分工</a:t>
            </a:r>
            <a:endParaRPr lang="en-US" altLang="zh-CN" dirty="0"/>
          </a:p>
          <a:p>
            <a:pPr lvl="1"/>
            <a:r>
              <a:rPr lang="zh-CN" altLang="en-US" dirty="0"/>
              <a:t>或结合自身实际情况，分析互联网带来的变化</a:t>
            </a:r>
          </a:p>
        </p:txBody>
      </p:sp>
    </p:spTree>
    <p:extLst>
      <p:ext uri="{BB962C8B-B14F-4D97-AF65-F5344CB8AC3E}">
        <p14:creationId xmlns:p14="http://schemas.microsoft.com/office/powerpoint/2010/main" val="291978214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AE736D-B3C2-918F-7687-76FCC4CDAA72}"/>
              </a:ext>
            </a:extLst>
          </p:cNvPr>
          <p:cNvSpPr>
            <a:spLocks noGrp="1"/>
          </p:cNvSpPr>
          <p:nvPr>
            <p:ph type="title"/>
          </p:nvPr>
        </p:nvSpPr>
        <p:spPr>
          <a:xfrm>
            <a:off x="612000" y="229850"/>
            <a:ext cx="7920000" cy="341632"/>
          </a:xfrm>
        </p:spPr>
        <p:txBody>
          <a:bodyPr/>
          <a:lstStyle/>
          <a:p>
            <a:r>
              <a:rPr lang="zh-CN" altLang="en-US" dirty="0"/>
              <a:t>课后思考</a:t>
            </a:r>
            <a:endParaRPr lang="en-US" altLang="zh-CN" dirty="0"/>
          </a:p>
        </p:txBody>
      </p:sp>
      <p:sp>
        <p:nvSpPr>
          <p:cNvPr id="3" name="内容占位符 2">
            <a:extLst>
              <a:ext uri="{FF2B5EF4-FFF2-40B4-BE49-F238E27FC236}">
                <a16:creationId xmlns:a16="http://schemas.microsoft.com/office/drawing/2014/main" id="{6332D36E-7C2E-0376-978B-6AAC2CD05E4F}"/>
              </a:ext>
            </a:extLst>
          </p:cNvPr>
          <p:cNvSpPr>
            <a:spLocks noGrp="1"/>
          </p:cNvSpPr>
          <p:nvPr>
            <p:ph sz="quarter" idx="10"/>
          </p:nvPr>
        </p:nvSpPr>
        <p:spPr>
          <a:xfrm>
            <a:off x="612000" y="1152000"/>
            <a:ext cx="7920000" cy="3496659"/>
          </a:xfrm>
        </p:spPr>
        <p:txBody>
          <a:bodyPr/>
          <a:lstStyle/>
          <a:p>
            <a:r>
              <a:rPr lang="zh-CN" altLang="en-US" dirty="0"/>
              <a:t>下面表述分别是哪个网？</a:t>
            </a:r>
            <a:endParaRPr lang="en-US" altLang="zh-CN" dirty="0"/>
          </a:p>
          <a:p>
            <a:pPr lvl="1"/>
            <a:r>
              <a:rPr lang="zh-CN" altLang="en-US" dirty="0"/>
              <a:t>上网</a:t>
            </a:r>
            <a:endParaRPr lang="en-US" altLang="zh-CN" dirty="0"/>
          </a:p>
          <a:p>
            <a:pPr lvl="1"/>
            <a:r>
              <a:rPr lang="zh-CN" altLang="en-US" dirty="0"/>
              <a:t>联网</a:t>
            </a:r>
            <a:endParaRPr lang="en-US" altLang="zh-CN" dirty="0"/>
          </a:p>
          <a:p>
            <a:pPr lvl="1"/>
            <a:r>
              <a:rPr lang="zh-CN" altLang="en-US" dirty="0"/>
              <a:t>网民</a:t>
            </a:r>
            <a:endParaRPr lang="en-US" altLang="zh-CN" dirty="0"/>
          </a:p>
          <a:p>
            <a:pPr lvl="1"/>
            <a:r>
              <a:rPr lang="zh-CN" altLang="en-US" dirty="0"/>
              <a:t>网吧</a:t>
            </a:r>
            <a:endParaRPr lang="en-US" altLang="zh-CN" dirty="0"/>
          </a:p>
          <a:p>
            <a:pPr lvl="1"/>
            <a:r>
              <a:rPr lang="zh-CN" altLang="en-US" dirty="0"/>
              <a:t>网银</a:t>
            </a:r>
            <a:endParaRPr lang="en-US" altLang="zh-CN" dirty="0"/>
          </a:p>
          <a:p>
            <a:pPr lvl="1"/>
            <a:r>
              <a:rPr lang="zh-CN" altLang="en-US" dirty="0"/>
              <a:t>网购</a:t>
            </a:r>
            <a:endParaRPr lang="en-US" altLang="zh-CN" dirty="0"/>
          </a:p>
          <a:p>
            <a:pPr lvl="1"/>
            <a:r>
              <a:rPr lang="zh-CN" altLang="en-US" dirty="0"/>
              <a:t>网管</a:t>
            </a:r>
            <a:endParaRPr lang="en-US" altLang="zh-CN" dirty="0"/>
          </a:p>
          <a:p>
            <a:pPr lvl="1"/>
            <a:r>
              <a:rPr lang="zh-CN" altLang="en-US" dirty="0"/>
              <a:t>知网</a:t>
            </a:r>
          </a:p>
        </p:txBody>
      </p:sp>
    </p:spTree>
    <p:extLst>
      <p:ext uri="{BB962C8B-B14F-4D97-AF65-F5344CB8AC3E}">
        <p14:creationId xmlns:p14="http://schemas.microsoft.com/office/powerpoint/2010/main" val="3277921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539D0B-8B87-D524-77D4-F56BC98F19C4}"/>
              </a:ext>
            </a:extLst>
          </p:cNvPr>
          <p:cNvSpPr>
            <a:spLocks noGrp="1"/>
          </p:cNvSpPr>
          <p:nvPr>
            <p:ph type="title"/>
          </p:nvPr>
        </p:nvSpPr>
        <p:spPr>
          <a:xfrm>
            <a:off x="2228850" y="403553"/>
            <a:ext cx="6562725" cy="523220"/>
          </a:xfrm>
        </p:spPr>
        <p:txBody>
          <a:bodyPr/>
          <a:lstStyle/>
          <a:p>
            <a:r>
              <a:rPr lang="fr-FR" altLang="zh-CN" dirty="0"/>
              <a:t>1.2 </a:t>
            </a:r>
            <a:r>
              <a:rPr lang="zh-CN" altLang="fr-FR" dirty="0"/>
              <a:t>互联网概述</a:t>
            </a:r>
          </a:p>
        </p:txBody>
      </p:sp>
      <p:sp>
        <p:nvSpPr>
          <p:cNvPr id="5" name="文本框 4">
            <a:extLst>
              <a:ext uri="{FF2B5EF4-FFF2-40B4-BE49-F238E27FC236}">
                <a16:creationId xmlns:a16="http://schemas.microsoft.com/office/drawing/2014/main" id="{E2FBC6A8-51C1-C9CC-BB8D-766434F14146}"/>
              </a:ext>
            </a:extLst>
          </p:cNvPr>
          <p:cNvSpPr txBox="1"/>
          <p:nvPr/>
        </p:nvSpPr>
        <p:spPr>
          <a:xfrm>
            <a:off x="3138488" y="1345253"/>
            <a:ext cx="1338828" cy="646331"/>
          </a:xfrm>
          <a:prstGeom prst="rect">
            <a:avLst/>
          </a:prstGeom>
          <a:noFill/>
        </p:spPr>
        <p:txBody>
          <a:bodyPr wrap="none" rtlCol="0">
            <a:spAutoFit/>
          </a:bodyPr>
          <a:lstStyle/>
          <a:p>
            <a:r>
              <a:rPr lang="en-US" altLang="zh-CN" dirty="0"/>
              <a:t>1.2.1 </a:t>
            </a:r>
          </a:p>
          <a:p>
            <a:r>
              <a:rPr lang="zh-CN" altLang="en-US" dirty="0"/>
              <a:t>网络的网络</a:t>
            </a:r>
            <a:endParaRPr lang="en-US" altLang="zh-CN" dirty="0"/>
          </a:p>
        </p:txBody>
      </p:sp>
      <p:sp>
        <p:nvSpPr>
          <p:cNvPr id="6" name="文本框 5">
            <a:extLst>
              <a:ext uri="{FF2B5EF4-FFF2-40B4-BE49-F238E27FC236}">
                <a16:creationId xmlns:a16="http://schemas.microsoft.com/office/drawing/2014/main" id="{7062736F-C385-EB2D-6360-D4932D64A0DC}"/>
              </a:ext>
            </a:extLst>
          </p:cNvPr>
          <p:cNvSpPr txBox="1"/>
          <p:nvPr/>
        </p:nvSpPr>
        <p:spPr>
          <a:xfrm>
            <a:off x="3946562" y="2202419"/>
            <a:ext cx="3416320" cy="646331"/>
          </a:xfrm>
          <a:prstGeom prst="rect">
            <a:avLst/>
          </a:prstGeom>
          <a:noFill/>
        </p:spPr>
        <p:txBody>
          <a:bodyPr wrap="none" rtlCol="0">
            <a:spAutoFit/>
          </a:bodyPr>
          <a:lstStyle/>
          <a:p>
            <a:r>
              <a:rPr lang="en-US" altLang="zh-CN" dirty="0"/>
              <a:t>1.2.2 </a:t>
            </a:r>
          </a:p>
          <a:p>
            <a:r>
              <a:rPr lang="zh-CN" altLang="zh-CN" dirty="0"/>
              <a:t>互联网基础结构发展的三个阶段</a:t>
            </a:r>
          </a:p>
        </p:txBody>
      </p:sp>
      <p:sp>
        <p:nvSpPr>
          <p:cNvPr id="7" name="文本框 6">
            <a:extLst>
              <a:ext uri="{FF2B5EF4-FFF2-40B4-BE49-F238E27FC236}">
                <a16:creationId xmlns:a16="http://schemas.microsoft.com/office/drawing/2014/main" id="{B28F28F2-8DD0-AA89-8072-761E33D988B7}"/>
              </a:ext>
            </a:extLst>
          </p:cNvPr>
          <p:cNvSpPr txBox="1"/>
          <p:nvPr/>
        </p:nvSpPr>
        <p:spPr>
          <a:xfrm>
            <a:off x="4346612" y="3059584"/>
            <a:ext cx="2262158" cy="646331"/>
          </a:xfrm>
          <a:prstGeom prst="rect">
            <a:avLst/>
          </a:prstGeom>
          <a:noFill/>
        </p:spPr>
        <p:txBody>
          <a:bodyPr wrap="none" rtlCol="0">
            <a:spAutoFit/>
          </a:bodyPr>
          <a:lstStyle/>
          <a:p>
            <a:r>
              <a:rPr lang="en-US" altLang="zh-CN" dirty="0"/>
              <a:t>1.2.3 </a:t>
            </a:r>
          </a:p>
          <a:p>
            <a:r>
              <a:rPr lang="zh-CN" altLang="zh-CN" dirty="0"/>
              <a:t>互联网的标准化工作</a:t>
            </a:r>
            <a:endParaRPr lang="fr-FR" altLang="zh-CN"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8DD33AA-68BC-C27F-7A70-0CD8F96817AA}"/>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用于数据通信和资源共享</a:t>
            </a:r>
            <a:endParaRPr lang="en-US" altLang="zh-CN" dirty="0"/>
          </a:p>
          <a:p>
            <a:pPr lvl="1"/>
            <a:r>
              <a:rPr lang="zh-CN" altLang="en-US" dirty="0"/>
              <a:t>节点可以是计算机、集线器、交换机或路由器等</a:t>
            </a:r>
          </a:p>
        </p:txBody>
      </p:sp>
      <p:sp>
        <p:nvSpPr>
          <p:cNvPr id="6" name="文本框 5">
            <a:extLst>
              <a:ext uri="{FF2B5EF4-FFF2-40B4-BE49-F238E27FC236}">
                <a16:creationId xmlns:a16="http://schemas.microsoft.com/office/drawing/2014/main" id="{39C487A5-8C66-8D05-A23B-1D253C8C55C6}"/>
              </a:ext>
            </a:extLst>
          </p:cNvPr>
          <p:cNvSpPr txBox="1"/>
          <p:nvPr/>
        </p:nvSpPr>
        <p:spPr>
          <a:xfrm>
            <a:off x="3683776" y="4340423"/>
            <a:ext cx="1776448" cy="307777"/>
          </a:xfrm>
          <a:prstGeom prst="rect">
            <a:avLst/>
          </a:prstGeom>
          <a:noFill/>
        </p:spPr>
        <p:txBody>
          <a:bodyPr wrap="none" rtlCol="0">
            <a:spAutoFit/>
          </a:bodyPr>
          <a:lstStyle/>
          <a:p>
            <a:pPr algn="ctr"/>
            <a:r>
              <a:rPr lang="zh-CN" altLang="en-US" sz="1400" dirty="0"/>
              <a:t>图</a:t>
            </a:r>
            <a:r>
              <a:rPr lang="en-US" altLang="zh-CN" sz="1400" dirty="0"/>
              <a:t>1-1 (a) </a:t>
            </a:r>
            <a:r>
              <a:rPr lang="zh-CN" altLang="en-US" sz="1400" dirty="0"/>
              <a:t>简单的网络</a:t>
            </a:r>
          </a:p>
        </p:txBody>
      </p:sp>
      <p:grpSp>
        <p:nvGrpSpPr>
          <p:cNvPr id="45" name="组合 44">
            <a:extLst>
              <a:ext uri="{FF2B5EF4-FFF2-40B4-BE49-F238E27FC236}">
                <a16:creationId xmlns:a16="http://schemas.microsoft.com/office/drawing/2014/main" id="{87E3553A-08F8-71B2-A897-3B16E70C1BF6}"/>
              </a:ext>
            </a:extLst>
          </p:cNvPr>
          <p:cNvGrpSpPr/>
          <p:nvPr/>
        </p:nvGrpSpPr>
        <p:grpSpPr>
          <a:xfrm>
            <a:off x="4710837" y="2707145"/>
            <a:ext cx="504000" cy="504000"/>
            <a:chOff x="2551367" y="2755692"/>
            <a:chExt cx="504000" cy="504000"/>
          </a:xfrm>
        </p:grpSpPr>
        <p:sp>
          <p:nvSpPr>
            <p:cNvPr id="44" name="椭圆 43">
              <a:extLst>
                <a:ext uri="{FF2B5EF4-FFF2-40B4-BE49-F238E27FC236}">
                  <a16:creationId xmlns:a16="http://schemas.microsoft.com/office/drawing/2014/main" id="{C6AFAB37-1288-401C-72A9-1974112359D3}"/>
                </a:ext>
              </a:extLst>
            </p:cNvPr>
            <p:cNvSpPr/>
            <p:nvPr/>
          </p:nvSpPr>
          <p:spPr>
            <a:xfrm>
              <a:off x="2551367" y="275569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11" name="图片 10">
              <a:extLst>
                <a:ext uri="{FF2B5EF4-FFF2-40B4-BE49-F238E27FC236}">
                  <a16:creationId xmlns:a16="http://schemas.microsoft.com/office/drawing/2014/main" id="{50570DF5-C62F-0B7B-B00C-4889EFD0A4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3342" y="2855292"/>
              <a:ext cx="400050" cy="304800"/>
            </a:xfrm>
            <a:prstGeom prst="rect">
              <a:avLst/>
            </a:prstGeom>
          </p:spPr>
        </p:pic>
      </p:grpSp>
      <p:grpSp>
        <p:nvGrpSpPr>
          <p:cNvPr id="50" name="组合 49">
            <a:extLst>
              <a:ext uri="{FF2B5EF4-FFF2-40B4-BE49-F238E27FC236}">
                <a16:creationId xmlns:a16="http://schemas.microsoft.com/office/drawing/2014/main" id="{1D343AB3-F211-0D5A-74FA-BDBC82C431E5}"/>
              </a:ext>
            </a:extLst>
          </p:cNvPr>
          <p:cNvGrpSpPr/>
          <p:nvPr/>
        </p:nvGrpSpPr>
        <p:grpSpPr>
          <a:xfrm>
            <a:off x="3610971" y="3217778"/>
            <a:ext cx="504000" cy="504000"/>
            <a:chOff x="2611895" y="3430082"/>
            <a:chExt cx="504000" cy="504000"/>
          </a:xfrm>
        </p:grpSpPr>
        <p:sp>
          <p:nvSpPr>
            <p:cNvPr id="47" name="椭圆 46">
              <a:extLst>
                <a:ext uri="{FF2B5EF4-FFF2-40B4-BE49-F238E27FC236}">
                  <a16:creationId xmlns:a16="http://schemas.microsoft.com/office/drawing/2014/main" id="{8EDB8C56-0264-CF8D-71C6-85A3A756D5A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49" name="图片 48">
              <a:extLst>
                <a:ext uri="{FF2B5EF4-FFF2-40B4-BE49-F238E27FC236}">
                  <a16:creationId xmlns:a16="http://schemas.microsoft.com/office/drawing/2014/main" id="{6AA9B1C2-15CA-C09B-7AF8-6279E01A58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6" name="组合 55">
            <a:extLst>
              <a:ext uri="{FF2B5EF4-FFF2-40B4-BE49-F238E27FC236}">
                <a16:creationId xmlns:a16="http://schemas.microsoft.com/office/drawing/2014/main" id="{C591C6A3-700C-BB31-F5FA-7B9533647FE6}"/>
              </a:ext>
            </a:extLst>
          </p:cNvPr>
          <p:cNvGrpSpPr/>
          <p:nvPr/>
        </p:nvGrpSpPr>
        <p:grpSpPr>
          <a:xfrm>
            <a:off x="4458837" y="3721778"/>
            <a:ext cx="504000" cy="504000"/>
            <a:chOff x="2611895" y="3430082"/>
            <a:chExt cx="504000" cy="504000"/>
          </a:xfrm>
        </p:grpSpPr>
        <p:sp>
          <p:nvSpPr>
            <p:cNvPr id="57" name="椭圆 56">
              <a:extLst>
                <a:ext uri="{FF2B5EF4-FFF2-40B4-BE49-F238E27FC236}">
                  <a16:creationId xmlns:a16="http://schemas.microsoft.com/office/drawing/2014/main" id="{9367A77F-3F2E-C419-DEE4-47EA631E25BD}"/>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58" name="图片 57">
              <a:extLst>
                <a:ext uri="{FF2B5EF4-FFF2-40B4-BE49-F238E27FC236}">
                  <a16:creationId xmlns:a16="http://schemas.microsoft.com/office/drawing/2014/main" id="{3C9D04D1-E809-785E-5356-187D82258B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9" name="组合 58">
            <a:extLst>
              <a:ext uri="{FF2B5EF4-FFF2-40B4-BE49-F238E27FC236}">
                <a16:creationId xmlns:a16="http://schemas.microsoft.com/office/drawing/2014/main" id="{EDD080C4-CB2C-E7D0-26E6-AF52A277787C}"/>
              </a:ext>
            </a:extLst>
          </p:cNvPr>
          <p:cNvGrpSpPr/>
          <p:nvPr/>
        </p:nvGrpSpPr>
        <p:grpSpPr>
          <a:xfrm>
            <a:off x="3701046" y="2406318"/>
            <a:ext cx="504000" cy="504000"/>
            <a:chOff x="2611895" y="3430082"/>
            <a:chExt cx="504000" cy="504000"/>
          </a:xfrm>
        </p:grpSpPr>
        <p:sp>
          <p:nvSpPr>
            <p:cNvPr id="60" name="椭圆 59">
              <a:extLst>
                <a:ext uri="{FF2B5EF4-FFF2-40B4-BE49-F238E27FC236}">
                  <a16:creationId xmlns:a16="http://schemas.microsoft.com/office/drawing/2014/main" id="{19A21BE1-40D1-99F0-7EDD-682363B677DF}"/>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61" name="图片 60">
              <a:extLst>
                <a:ext uri="{FF2B5EF4-FFF2-40B4-BE49-F238E27FC236}">
                  <a16:creationId xmlns:a16="http://schemas.microsoft.com/office/drawing/2014/main" id="{D30758D5-33FD-BFD3-8431-D4F038AA1A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63" name="直接连接符 62">
            <a:extLst>
              <a:ext uri="{FF2B5EF4-FFF2-40B4-BE49-F238E27FC236}">
                <a16:creationId xmlns:a16="http://schemas.microsoft.com/office/drawing/2014/main" id="{723287AD-BC62-4B6B-B9A9-8B835188FFC8}"/>
              </a:ext>
            </a:extLst>
          </p:cNvPr>
          <p:cNvCxnSpPr>
            <a:cxnSpLocks/>
            <a:stCxn id="60" idx="6"/>
            <a:endCxn id="44" idx="2"/>
          </p:cNvCxnSpPr>
          <p:nvPr/>
        </p:nvCxnSpPr>
        <p:spPr>
          <a:xfrm>
            <a:off x="4205046" y="2658318"/>
            <a:ext cx="505791" cy="30082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1660BBC3-3E52-6957-7607-C392E961CD10}"/>
              </a:ext>
            </a:extLst>
          </p:cNvPr>
          <p:cNvCxnSpPr>
            <a:stCxn id="47" idx="6"/>
            <a:endCxn id="44" idx="3"/>
          </p:cNvCxnSpPr>
          <p:nvPr/>
        </p:nvCxnSpPr>
        <p:spPr>
          <a:xfrm flipV="1">
            <a:off x="4114971" y="3137336"/>
            <a:ext cx="669675" cy="33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594954C-EDB6-A35A-4151-F932E4707F75}"/>
              </a:ext>
            </a:extLst>
          </p:cNvPr>
          <p:cNvCxnSpPr>
            <a:cxnSpLocks/>
            <a:stCxn id="57" idx="0"/>
            <a:endCxn id="44" idx="4"/>
          </p:cNvCxnSpPr>
          <p:nvPr/>
        </p:nvCxnSpPr>
        <p:spPr>
          <a:xfrm flipV="1">
            <a:off x="4710837" y="3211145"/>
            <a:ext cx="252000" cy="510633"/>
          </a:xfrm>
          <a:prstGeom prst="line">
            <a:avLst/>
          </a:prstGeom>
        </p:spPr>
        <p:style>
          <a:lnRef idx="1">
            <a:schemeClr val="accent1"/>
          </a:lnRef>
          <a:fillRef idx="0">
            <a:schemeClr val="accent1"/>
          </a:fillRef>
          <a:effectRef idx="0">
            <a:schemeClr val="accent1"/>
          </a:effectRef>
          <a:fontRef idx="minor">
            <a:schemeClr val="tx1"/>
          </a:fontRef>
        </p:style>
      </p:cxnSp>
      <p:sp>
        <p:nvSpPr>
          <p:cNvPr id="74" name="文本框 73">
            <a:extLst>
              <a:ext uri="{FF2B5EF4-FFF2-40B4-BE49-F238E27FC236}">
                <a16:creationId xmlns:a16="http://schemas.microsoft.com/office/drawing/2014/main" id="{041763E5-0AB8-8852-A51E-7D45382D3802}"/>
              </a:ext>
            </a:extLst>
          </p:cNvPr>
          <p:cNvSpPr txBox="1"/>
          <p:nvPr/>
        </p:nvSpPr>
        <p:spPr>
          <a:xfrm>
            <a:off x="5228185" y="2820645"/>
            <a:ext cx="463588" cy="215444"/>
          </a:xfrm>
          <a:prstGeom prst="rect">
            <a:avLst/>
          </a:prstGeom>
          <a:noFill/>
        </p:spPr>
        <p:txBody>
          <a:bodyPr wrap="none" rtlCol="0">
            <a:spAutoFit/>
          </a:bodyPr>
          <a:lstStyle/>
          <a:p>
            <a:pPr algn="l"/>
            <a:r>
              <a:rPr lang="en-US" altLang="zh-CN" sz="800" dirty="0"/>
              <a:t>Node</a:t>
            </a:r>
            <a:endParaRPr lang="zh-CN" altLang="en-US" sz="800" dirty="0"/>
          </a:p>
        </p:txBody>
      </p:sp>
      <p:sp>
        <p:nvSpPr>
          <p:cNvPr id="76" name="文本框 75">
            <a:extLst>
              <a:ext uri="{FF2B5EF4-FFF2-40B4-BE49-F238E27FC236}">
                <a16:creationId xmlns:a16="http://schemas.microsoft.com/office/drawing/2014/main" id="{8253B971-6AC0-75F9-72B2-EC7608E2C333}"/>
              </a:ext>
            </a:extLst>
          </p:cNvPr>
          <p:cNvSpPr txBox="1"/>
          <p:nvPr/>
        </p:nvSpPr>
        <p:spPr>
          <a:xfrm>
            <a:off x="4947626" y="387220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78" name="文本框 77">
            <a:extLst>
              <a:ext uri="{FF2B5EF4-FFF2-40B4-BE49-F238E27FC236}">
                <a16:creationId xmlns:a16="http://schemas.microsoft.com/office/drawing/2014/main" id="{7EDAE8B5-5613-B003-A500-F03E473A620A}"/>
              </a:ext>
            </a:extLst>
          </p:cNvPr>
          <p:cNvSpPr txBox="1"/>
          <p:nvPr/>
        </p:nvSpPr>
        <p:spPr>
          <a:xfrm>
            <a:off x="3087173" y="3345179"/>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0" name="文本框 79">
            <a:extLst>
              <a:ext uri="{FF2B5EF4-FFF2-40B4-BE49-F238E27FC236}">
                <a16:creationId xmlns:a16="http://schemas.microsoft.com/office/drawing/2014/main" id="{002FB94D-647F-0797-C4F5-ED44E9FB8EDC}"/>
              </a:ext>
            </a:extLst>
          </p:cNvPr>
          <p:cNvSpPr txBox="1"/>
          <p:nvPr/>
        </p:nvSpPr>
        <p:spPr>
          <a:xfrm>
            <a:off x="3183027" y="243325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2" name="文本框 81">
            <a:extLst>
              <a:ext uri="{FF2B5EF4-FFF2-40B4-BE49-F238E27FC236}">
                <a16:creationId xmlns:a16="http://schemas.microsoft.com/office/drawing/2014/main" id="{B237FDD5-E54D-B7F3-675F-ABCFAF82530B}"/>
              </a:ext>
            </a:extLst>
          </p:cNvPr>
          <p:cNvSpPr txBox="1"/>
          <p:nvPr/>
        </p:nvSpPr>
        <p:spPr>
          <a:xfrm>
            <a:off x="4784646" y="3381079"/>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88" name="文本框 87">
            <a:extLst>
              <a:ext uri="{FF2B5EF4-FFF2-40B4-BE49-F238E27FC236}">
                <a16:creationId xmlns:a16="http://schemas.microsoft.com/office/drawing/2014/main" id="{0892F003-D4C0-061E-4432-70A98CF42B89}"/>
              </a:ext>
            </a:extLst>
          </p:cNvPr>
          <p:cNvSpPr txBox="1"/>
          <p:nvPr/>
        </p:nvSpPr>
        <p:spPr>
          <a:xfrm>
            <a:off x="4212858" y="3317378"/>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106" name="文本框 105">
            <a:extLst>
              <a:ext uri="{FF2B5EF4-FFF2-40B4-BE49-F238E27FC236}">
                <a16:creationId xmlns:a16="http://schemas.microsoft.com/office/drawing/2014/main" id="{75A6AC7F-8CD4-4CD2-1EAD-5D87575871FD}"/>
              </a:ext>
            </a:extLst>
          </p:cNvPr>
          <p:cNvSpPr txBox="1"/>
          <p:nvPr/>
        </p:nvSpPr>
        <p:spPr>
          <a:xfrm>
            <a:off x="4297620" y="2494836"/>
            <a:ext cx="402674" cy="215444"/>
          </a:xfrm>
          <a:prstGeom prst="rect">
            <a:avLst/>
          </a:prstGeom>
          <a:noFill/>
        </p:spPr>
        <p:txBody>
          <a:bodyPr wrap="none" rtlCol="0">
            <a:spAutoFit/>
          </a:bodyPr>
          <a:lstStyle/>
          <a:p>
            <a:pPr algn="l"/>
            <a:r>
              <a:rPr lang="en-US" altLang="zh-CN" sz="800" dirty="0"/>
              <a:t>Link</a:t>
            </a:r>
            <a:endParaRPr lang="zh-CN" altLang="en-US" sz="800" dirty="0"/>
          </a:p>
        </p:txBody>
      </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3AE89C9-78DA-F6D1-857D-2B48C5C19DF7}"/>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多个网络通过路由器相互连接，构成覆盖范围更大的计算机网络</a:t>
            </a:r>
            <a:endParaRPr lang="en-US" altLang="zh-CN" dirty="0"/>
          </a:p>
          <a:p>
            <a:r>
              <a:rPr lang="zh-CN" altLang="en-US" dirty="0"/>
              <a:t>网络的网络 </a:t>
            </a:r>
            <a:r>
              <a:rPr lang="en-US" altLang="zh-CN" dirty="0"/>
              <a:t>Network of networks</a:t>
            </a:r>
            <a:endParaRPr lang="zh-CN" altLang="en-US" dirty="0"/>
          </a:p>
        </p:txBody>
      </p:sp>
      <p:grpSp>
        <p:nvGrpSpPr>
          <p:cNvPr id="13" name="组合 12">
            <a:extLst>
              <a:ext uri="{FF2B5EF4-FFF2-40B4-BE49-F238E27FC236}">
                <a16:creationId xmlns:a16="http://schemas.microsoft.com/office/drawing/2014/main" id="{1BA15F0F-E801-DAA7-F68D-2EEC2731AFA5}"/>
              </a:ext>
            </a:extLst>
          </p:cNvPr>
          <p:cNvGrpSpPr/>
          <p:nvPr/>
        </p:nvGrpSpPr>
        <p:grpSpPr>
          <a:xfrm>
            <a:off x="4122551" y="2911766"/>
            <a:ext cx="504000" cy="504000"/>
            <a:chOff x="1110463" y="3137054"/>
            <a:chExt cx="504000" cy="504000"/>
          </a:xfrm>
        </p:grpSpPr>
        <p:sp>
          <p:nvSpPr>
            <p:cNvPr id="14" name="椭圆 13">
              <a:extLst>
                <a:ext uri="{FF2B5EF4-FFF2-40B4-BE49-F238E27FC236}">
                  <a16:creationId xmlns:a16="http://schemas.microsoft.com/office/drawing/2014/main" id="{284520A2-DD3F-884C-F6B8-C15EDDB3FA5E}"/>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15" name="图片 14">
              <a:extLst>
                <a:ext uri="{FF2B5EF4-FFF2-40B4-BE49-F238E27FC236}">
                  <a16:creationId xmlns:a16="http://schemas.microsoft.com/office/drawing/2014/main" id="{C7B55484-E180-E315-1FA3-6981339206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6" name="文本框 25">
            <a:extLst>
              <a:ext uri="{FF2B5EF4-FFF2-40B4-BE49-F238E27FC236}">
                <a16:creationId xmlns:a16="http://schemas.microsoft.com/office/drawing/2014/main" id="{BF8691F0-791F-FA5A-3A2A-FDCC85E796EE}"/>
              </a:ext>
            </a:extLst>
          </p:cNvPr>
          <p:cNvSpPr txBox="1"/>
          <p:nvPr/>
        </p:nvSpPr>
        <p:spPr>
          <a:xfrm>
            <a:off x="3316688" y="4340423"/>
            <a:ext cx="2510624" cy="307777"/>
          </a:xfrm>
          <a:prstGeom prst="rect">
            <a:avLst/>
          </a:prstGeom>
          <a:noFill/>
        </p:spPr>
        <p:txBody>
          <a:bodyPr wrap="none" rtlCol="0">
            <a:spAutoFit/>
          </a:bodyPr>
          <a:lstStyle/>
          <a:p>
            <a:pPr algn="ctr"/>
            <a:r>
              <a:rPr lang="zh-CN" altLang="en-US" sz="1400" dirty="0"/>
              <a:t>图</a:t>
            </a:r>
            <a:r>
              <a:rPr lang="en-US" altLang="zh-CN" sz="1400" dirty="0"/>
              <a:t>1-1 (b) </a:t>
            </a:r>
            <a:r>
              <a:rPr lang="zh-CN" altLang="en-US" sz="1400" dirty="0"/>
              <a:t>由网络构成的互连网</a:t>
            </a:r>
          </a:p>
        </p:txBody>
      </p:sp>
      <p:grpSp>
        <p:nvGrpSpPr>
          <p:cNvPr id="30" name="组合 29">
            <a:extLst>
              <a:ext uri="{FF2B5EF4-FFF2-40B4-BE49-F238E27FC236}">
                <a16:creationId xmlns:a16="http://schemas.microsoft.com/office/drawing/2014/main" id="{569EB175-D252-00D4-7634-7C282236752C}"/>
              </a:ext>
            </a:extLst>
          </p:cNvPr>
          <p:cNvGrpSpPr/>
          <p:nvPr/>
        </p:nvGrpSpPr>
        <p:grpSpPr>
          <a:xfrm>
            <a:off x="2650379" y="3283277"/>
            <a:ext cx="504000" cy="504000"/>
            <a:chOff x="2611895" y="3430082"/>
            <a:chExt cx="504000" cy="504000"/>
          </a:xfrm>
        </p:grpSpPr>
        <p:sp>
          <p:nvSpPr>
            <p:cNvPr id="31" name="椭圆 30">
              <a:extLst>
                <a:ext uri="{FF2B5EF4-FFF2-40B4-BE49-F238E27FC236}">
                  <a16:creationId xmlns:a16="http://schemas.microsoft.com/office/drawing/2014/main" id="{0266F34A-D34C-242C-51CA-84BB1A803604}"/>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2" name="图片 31">
              <a:extLst>
                <a:ext uri="{FF2B5EF4-FFF2-40B4-BE49-F238E27FC236}">
                  <a16:creationId xmlns:a16="http://schemas.microsoft.com/office/drawing/2014/main" id="{FA46F20B-0796-A415-5673-18E6910FF4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3" name="组合 32">
            <a:extLst>
              <a:ext uri="{FF2B5EF4-FFF2-40B4-BE49-F238E27FC236}">
                <a16:creationId xmlns:a16="http://schemas.microsoft.com/office/drawing/2014/main" id="{A86B86A4-BF94-13F8-EDDF-A3B6C6EA51FA}"/>
              </a:ext>
            </a:extLst>
          </p:cNvPr>
          <p:cNvGrpSpPr/>
          <p:nvPr/>
        </p:nvGrpSpPr>
        <p:grpSpPr>
          <a:xfrm>
            <a:off x="5552884" y="3822902"/>
            <a:ext cx="504000" cy="504000"/>
            <a:chOff x="2611895" y="3430082"/>
            <a:chExt cx="504000" cy="504000"/>
          </a:xfrm>
        </p:grpSpPr>
        <p:sp>
          <p:nvSpPr>
            <p:cNvPr id="34" name="椭圆 33">
              <a:extLst>
                <a:ext uri="{FF2B5EF4-FFF2-40B4-BE49-F238E27FC236}">
                  <a16:creationId xmlns:a16="http://schemas.microsoft.com/office/drawing/2014/main" id="{38A55995-A7A9-BC68-51E6-58A5DE9D5D70}"/>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5" name="图片 34">
              <a:extLst>
                <a:ext uri="{FF2B5EF4-FFF2-40B4-BE49-F238E27FC236}">
                  <a16:creationId xmlns:a16="http://schemas.microsoft.com/office/drawing/2014/main" id="{F766D472-B4C4-7F14-7375-E184F382E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6" name="组合 35">
            <a:extLst>
              <a:ext uri="{FF2B5EF4-FFF2-40B4-BE49-F238E27FC236}">
                <a16:creationId xmlns:a16="http://schemas.microsoft.com/office/drawing/2014/main" id="{00120E77-F615-27C4-AE47-02043A3A8BCC}"/>
              </a:ext>
            </a:extLst>
          </p:cNvPr>
          <p:cNvGrpSpPr/>
          <p:nvPr/>
        </p:nvGrpSpPr>
        <p:grpSpPr>
          <a:xfrm>
            <a:off x="3737502" y="2155766"/>
            <a:ext cx="504000" cy="504000"/>
            <a:chOff x="2611895" y="3430082"/>
            <a:chExt cx="504000" cy="504000"/>
          </a:xfrm>
        </p:grpSpPr>
        <p:sp>
          <p:nvSpPr>
            <p:cNvPr id="37" name="椭圆 36">
              <a:extLst>
                <a:ext uri="{FF2B5EF4-FFF2-40B4-BE49-F238E27FC236}">
                  <a16:creationId xmlns:a16="http://schemas.microsoft.com/office/drawing/2014/main" id="{1C9AA61C-D877-7962-D09C-C36104F9636A}"/>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8" name="图片 37">
              <a:extLst>
                <a:ext uri="{FF2B5EF4-FFF2-40B4-BE49-F238E27FC236}">
                  <a16:creationId xmlns:a16="http://schemas.microsoft.com/office/drawing/2014/main" id="{CC1E9184-20DF-4F4A-07BF-A8498579FF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9" name="直接连接符 38">
            <a:extLst>
              <a:ext uri="{FF2B5EF4-FFF2-40B4-BE49-F238E27FC236}">
                <a16:creationId xmlns:a16="http://schemas.microsoft.com/office/drawing/2014/main" id="{E4291012-88CF-961E-ADCF-FA39A517A07E}"/>
              </a:ext>
            </a:extLst>
          </p:cNvPr>
          <p:cNvCxnSpPr>
            <a:cxnSpLocks/>
            <a:stCxn id="37" idx="6"/>
            <a:endCxn id="52" idx="2"/>
          </p:cNvCxnSpPr>
          <p:nvPr/>
        </p:nvCxnSpPr>
        <p:spPr>
          <a:xfrm>
            <a:off x="4241502" y="2407766"/>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2797DE4-6559-647E-9EB2-00F6EDA80AA4}"/>
              </a:ext>
            </a:extLst>
          </p:cNvPr>
          <p:cNvCxnSpPr>
            <a:cxnSpLocks/>
            <a:stCxn id="31" idx="6"/>
            <a:endCxn id="58" idx="2"/>
          </p:cNvCxnSpPr>
          <p:nvPr/>
        </p:nvCxnSpPr>
        <p:spPr>
          <a:xfrm>
            <a:off x="3154379" y="3535277"/>
            <a:ext cx="223494" cy="4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59C8C134-9963-0DD3-66C7-28FB56297538}"/>
              </a:ext>
            </a:extLst>
          </p:cNvPr>
          <p:cNvCxnSpPr>
            <a:cxnSpLocks/>
            <a:stCxn id="34" idx="2"/>
          </p:cNvCxnSpPr>
          <p:nvPr/>
        </p:nvCxnSpPr>
        <p:spPr>
          <a:xfrm flipH="1" flipV="1">
            <a:off x="5346868" y="3753425"/>
            <a:ext cx="206016" cy="321477"/>
          </a:xfrm>
          <a:prstGeom prst="line">
            <a:avLst/>
          </a:prstGeom>
        </p:spPr>
        <p:style>
          <a:lnRef idx="1">
            <a:schemeClr val="accent1"/>
          </a:lnRef>
          <a:fillRef idx="0">
            <a:schemeClr val="accent1"/>
          </a:fillRef>
          <a:effectRef idx="0">
            <a:schemeClr val="accent1"/>
          </a:effectRef>
          <a:fontRef idx="minor">
            <a:schemeClr val="tx1"/>
          </a:fontRef>
        </p:style>
      </p:cxnSp>
      <p:grpSp>
        <p:nvGrpSpPr>
          <p:cNvPr id="49" name="组合 48">
            <a:extLst>
              <a:ext uri="{FF2B5EF4-FFF2-40B4-BE49-F238E27FC236}">
                <a16:creationId xmlns:a16="http://schemas.microsoft.com/office/drawing/2014/main" id="{84A5706D-2BBC-4E9E-2F0F-5013CE46E621}"/>
              </a:ext>
            </a:extLst>
          </p:cNvPr>
          <p:cNvGrpSpPr/>
          <p:nvPr/>
        </p:nvGrpSpPr>
        <p:grpSpPr>
          <a:xfrm>
            <a:off x="5249919" y="2636255"/>
            <a:ext cx="504000" cy="504000"/>
            <a:chOff x="1110463" y="3137054"/>
            <a:chExt cx="504000" cy="504000"/>
          </a:xfrm>
        </p:grpSpPr>
        <p:sp>
          <p:nvSpPr>
            <p:cNvPr id="50" name="椭圆 49">
              <a:extLst>
                <a:ext uri="{FF2B5EF4-FFF2-40B4-BE49-F238E27FC236}">
                  <a16:creationId xmlns:a16="http://schemas.microsoft.com/office/drawing/2014/main" id="{1501810C-4424-3E57-3F05-B8003E9B20B3}"/>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51" name="图片 50">
              <a:extLst>
                <a:ext uri="{FF2B5EF4-FFF2-40B4-BE49-F238E27FC236}">
                  <a16:creationId xmlns:a16="http://schemas.microsoft.com/office/drawing/2014/main" id="{48ADFEAD-8055-040E-E857-C15DF06B91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52" name="云形 51">
            <a:extLst>
              <a:ext uri="{FF2B5EF4-FFF2-40B4-BE49-F238E27FC236}">
                <a16:creationId xmlns:a16="http://schemas.microsoft.com/office/drawing/2014/main" id="{4274C14B-2F93-6E69-71AC-778D44860BC0}"/>
              </a:ext>
            </a:extLst>
          </p:cNvPr>
          <p:cNvSpPr/>
          <p:nvPr/>
        </p:nvSpPr>
        <p:spPr>
          <a:xfrm>
            <a:off x="4626551" y="2223794"/>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4" name="云形 53">
            <a:extLst>
              <a:ext uri="{FF2B5EF4-FFF2-40B4-BE49-F238E27FC236}">
                <a16:creationId xmlns:a16="http://schemas.microsoft.com/office/drawing/2014/main" id="{59E6134B-8549-615C-E954-4640101EF698}"/>
              </a:ext>
            </a:extLst>
          </p:cNvPr>
          <p:cNvSpPr/>
          <p:nvPr/>
        </p:nvSpPr>
        <p:spPr>
          <a:xfrm>
            <a:off x="4730260" y="32976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6" name="云形 55">
            <a:extLst>
              <a:ext uri="{FF2B5EF4-FFF2-40B4-BE49-F238E27FC236}">
                <a16:creationId xmlns:a16="http://schemas.microsoft.com/office/drawing/2014/main" id="{2B2A0086-53B1-C05C-C2B5-73FBA026C444}"/>
              </a:ext>
            </a:extLst>
          </p:cNvPr>
          <p:cNvSpPr/>
          <p:nvPr/>
        </p:nvSpPr>
        <p:spPr>
          <a:xfrm>
            <a:off x="5753919" y="2972940"/>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8" name="云形 57">
            <a:extLst>
              <a:ext uri="{FF2B5EF4-FFF2-40B4-BE49-F238E27FC236}">
                <a16:creationId xmlns:a16="http://schemas.microsoft.com/office/drawing/2014/main" id="{7FE3474E-6B37-1654-9FC3-64C6104D6E52}"/>
              </a:ext>
            </a:extLst>
          </p:cNvPr>
          <p:cNvSpPr/>
          <p:nvPr/>
        </p:nvSpPr>
        <p:spPr>
          <a:xfrm>
            <a:off x="3375717" y="324641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cxnSp>
        <p:nvCxnSpPr>
          <p:cNvPr id="231" name="直接连接符 230">
            <a:extLst>
              <a:ext uri="{FF2B5EF4-FFF2-40B4-BE49-F238E27FC236}">
                <a16:creationId xmlns:a16="http://schemas.microsoft.com/office/drawing/2014/main" id="{5797734B-170F-AED8-AE0A-0F78524ECA5C}"/>
              </a:ext>
            </a:extLst>
          </p:cNvPr>
          <p:cNvCxnSpPr>
            <a:cxnSpLocks/>
            <a:endCxn id="14" idx="2"/>
          </p:cNvCxnSpPr>
          <p:nvPr/>
        </p:nvCxnSpPr>
        <p:spPr>
          <a:xfrm flipV="1">
            <a:off x="3961393" y="3163766"/>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2E03CE02-6FB8-EC47-3A9E-26316E3E3C62}"/>
              </a:ext>
            </a:extLst>
          </p:cNvPr>
          <p:cNvCxnSpPr>
            <a:cxnSpLocks/>
            <a:endCxn id="50" idx="1"/>
          </p:cNvCxnSpPr>
          <p:nvPr/>
        </p:nvCxnSpPr>
        <p:spPr>
          <a:xfrm>
            <a:off x="5249919" y="2679262"/>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34" name="组合 233">
            <a:extLst>
              <a:ext uri="{FF2B5EF4-FFF2-40B4-BE49-F238E27FC236}">
                <a16:creationId xmlns:a16="http://schemas.microsoft.com/office/drawing/2014/main" id="{76F10F30-0F1E-B17F-A142-AEDBB941F331}"/>
              </a:ext>
            </a:extLst>
          </p:cNvPr>
          <p:cNvGrpSpPr/>
          <p:nvPr/>
        </p:nvGrpSpPr>
        <p:grpSpPr>
          <a:xfrm>
            <a:off x="6734181" y="3014801"/>
            <a:ext cx="504000" cy="504000"/>
            <a:chOff x="2611895" y="3430082"/>
            <a:chExt cx="504000" cy="504000"/>
          </a:xfrm>
        </p:grpSpPr>
        <p:sp>
          <p:nvSpPr>
            <p:cNvPr id="235" name="椭圆 234">
              <a:extLst>
                <a:ext uri="{FF2B5EF4-FFF2-40B4-BE49-F238E27FC236}">
                  <a16:creationId xmlns:a16="http://schemas.microsoft.com/office/drawing/2014/main" id="{68857C7B-F184-1FAD-631B-CBCD547C4E06}"/>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36" name="图片 235">
              <a:extLst>
                <a:ext uri="{FF2B5EF4-FFF2-40B4-BE49-F238E27FC236}">
                  <a16:creationId xmlns:a16="http://schemas.microsoft.com/office/drawing/2014/main" id="{54D901C9-EEF8-2E84-E157-65BD32A85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238" name="直接连接符 237">
            <a:extLst>
              <a:ext uri="{FF2B5EF4-FFF2-40B4-BE49-F238E27FC236}">
                <a16:creationId xmlns:a16="http://schemas.microsoft.com/office/drawing/2014/main" id="{880DABA4-891F-286F-226A-3CCBC99DDC01}"/>
              </a:ext>
            </a:extLst>
          </p:cNvPr>
          <p:cNvCxnSpPr>
            <a:stCxn id="235" idx="2"/>
            <a:endCxn id="56" idx="0"/>
          </p:cNvCxnSpPr>
          <p:nvPr/>
        </p:nvCxnSpPr>
        <p:spPr>
          <a:xfrm flipH="1">
            <a:off x="6448558" y="3266801"/>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688DA0DD-C1CA-8B82-D800-4FB7A6D80455}"/>
              </a:ext>
            </a:extLst>
          </p:cNvPr>
          <p:cNvCxnSpPr>
            <a:cxnSpLocks/>
            <a:endCxn id="50" idx="5"/>
          </p:cNvCxnSpPr>
          <p:nvPr/>
        </p:nvCxnSpPr>
        <p:spPr>
          <a:xfrm flipH="1" flipV="1">
            <a:off x="5680110" y="3066446"/>
            <a:ext cx="135309" cy="23431"/>
          </a:xfrm>
          <a:prstGeom prst="line">
            <a:avLst/>
          </a:prstGeom>
        </p:spPr>
        <p:style>
          <a:lnRef idx="1">
            <a:schemeClr val="accent1"/>
          </a:lnRef>
          <a:fillRef idx="0">
            <a:schemeClr val="accent1"/>
          </a:fillRef>
          <a:effectRef idx="0">
            <a:schemeClr val="accent1"/>
          </a:effectRef>
          <a:fontRef idx="minor">
            <a:schemeClr val="tx1"/>
          </a:fontRef>
        </p:style>
      </p:cxnSp>
      <p:grpSp>
        <p:nvGrpSpPr>
          <p:cNvPr id="241" name="组合 240">
            <a:extLst>
              <a:ext uri="{FF2B5EF4-FFF2-40B4-BE49-F238E27FC236}">
                <a16:creationId xmlns:a16="http://schemas.microsoft.com/office/drawing/2014/main" id="{758DF446-5130-59B6-5146-DFF3FF746E08}"/>
              </a:ext>
            </a:extLst>
          </p:cNvPr>
          <p:cNvGrpSpPr/>
          <p:nvPr/>
        </p:nvGrpSpPr>
        <p:grpSpPr>
          <a:xfrm>
            <a:off x="4184051" y="3773534"/>
            <a:ext cx="504000" cy="504000"/>
            <a:chOff x="1110463" y="3137054"/>
            <a:chExt cx="504000" cy="504000"/>
          </a:xfrm>
        </p:grpSpPr>
        <p:sp>
          <p:nvSpPr>
            <p:cNvPr id="242" name="椭圆 241">
              <a:extLst>
                <a:ext uri="{FF2B5EF4-FFF2-40B4-BE49-F238E27FC236}">
                  <a16:creationId xmlns:a16="http://schemas.microsoft.com/office/drawing/2014/main" id="{E794457F-B7AC-8272-F237-A9B61A21332F}"/>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43" name="图片 242">
              <a:extLst>
                <a:ext uri="{FF2B5EF4-FFF2-40B4-BE49-F238E27FC236}">
                  <a16:creationId xmlns:a16="http://schemas.microsoft.com/office/drawing/2014/main" id="{C81A3C94-84F5-6994-3829-9F5641A7E7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252" name="直接连接符 251">
            <a:extLst>
              <a:ext uri="{FF2B5EF4-FFF2-40B4-BE49-F238E27FC236}">
                <a16:creationId xmlns:a16="http://schemas.microsoft.com/office/drawing/2014/main" id="{CDB0ACC8-41FD-6C3B-43D0-6400C284902D}"/>
              </a:ext>
            </a:extLst>
          </p:cNvPr>
          <p:cNvCxnSpPr>
            <a:stCxn id="14" idx="7"/>
          </p:cNvCxnSpPr>
          <p:nvPr/>
        </p:nvCxnSpPr>
        <p:spPr>
          <a:xfrm flipV="1">
            <a:off x="4552742" y="2776371"/>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0A20AD23-29DD-65EB-3543-5D04B1EA79D8}"/>
              </a:ext>
            </a:extLst>
          </p:cNvPr>
          <p:cNvCxnSpPr>
            <a:cxnSpLocks/>
            <a:stCxn id="54" idx="1"/>
            <a:endCxn id="242" idx="6"/>
          </p:cNvCxnSpPr>
          <p:nvPr/>
        </p:nvCxnSpPr>
        <p:spPr>
          <a:xfrm flipH="1">
            <a:off x="4688051" y="3884796"/>
            <a:ext cx="389818" cy="140738"/>
          </a:xfrm>
          <a:prstGeom prst="line">
            <a:avLst/>
          </a:prstGeom>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30C886FC-1AFA-BC1B-FA16-3C9BF4BFBA30}"/>
              </a:ext>
            </a:extLst>
          </p:cNvPr>
          <p:cNvCxnSpPr>
            <a:cxnSpLocks/>
            <a:stCxn id="242" idx="2"/>
            <a:endCxn id="58" idx="1"/>
          </p:cNvCxnSpPr>
          <p:nvPr/>
        </p:nvCxnSpPr>
        <p:spPr>
          <a:xfrm flipH="1" flipV="1">
            <a:off x="3723326" y="3833510"/>
            <a:ext cx="460725" cy="192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9E1321CD-5608-D577-7603-E4EC3FC9133D}"/>
              </a:ext>
            </a:extLst>
          </p:cNvPr>
          <p:cNvCxnSpPr>
            <a:cxnSpLocks/>
            <a:stCxn id="56" idx="1"/>
            <a:endCxn id="34" idx="0"/>
          </p:cNvCxnSpPr>
          <p:nvPr/>
        </p:nvCxnSpPr>
        <p:spPr>
          <a:xfrm flipH="1">
            <a:off x="5804884" y="3560037"/>
            <a:ext cx="296644" cy="262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5" name="直接连接符 264">
            <a:extLst>
              <a:ext uri="{FF2B5EF4-FFF2-40B4-BE49-F238E27FC236}">
                <a16:creationId xmlns:a16="http://schemas.microsoft.com/office/drawing/2014/main" id="{3E318CCF-FDF0-264D-32BB-FBB5AB9C9D7E}"/>
              </a:ext>
            </a:extLst>
          </p:cNvPr>
          <p:cNvCxnSpPr>
            <a:cxnSpLocks/>
            <a:stCxn id="14" idx="5"/>
          </p:cNvCxnSpPr>
          <p:nvPr/>
        </p:nvCxnSpPr>
        <p:spPr>
          <a:xfrm>
            <a:off x="4552742" y="3341957"/>
            <a:ext cx="223879" cy="738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3" name="直接连接符 282">
            <a:extLst>
              <a:ext uri="{FF2B5EF4-FFF2-40B4-BE49-F238E27FC236}">
                <a16:creationId xmlns:a16="http://schemas.microsoft.com/office/drawing/2014/main" id="{C123562C-A48A-9A6D-2249-3866BC750119}"/>
              </a:ext>
            </a:extLst>
          </p:cNvPr>
          <p:cNvCxnSpPr>
            <a:cxnSpLocks/>
            <a:stCxn id="50" idx="3"/>
            <a:endCxn id="54" idx="3"/>
          </p:cNvCxnSpPr>
          <p:nvPr/>
        </p:nvCxnSpPr>
        <p:spPr>
          <a:xfrm flipH="1">
            <a:off x="5077869" y="3066446"/>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云形 43">
            <a:extLst>
              <a:ext uri="{FF2B5EF4-FFF2-40B4-BE49-F238E27FC236}">
                <a16:creationId xmlns:a16="http://schemas.microsoft.com/office/drawing/2014/main" id="{5116DFA7-F9EE-5311-2C20-9D9562BCB8CE}"/>
              </a:ext>
            </a:extLst>
          </p:cNvPr>
          <p:cNvSpPr/>
          <p:nvPr/>
        </p:nvSpPr>
        <p:spPr>
          <a:xfrm>
            <a:off x="2037445" y="1242377"/>
            <a:ext cx="5385630" cy="3338777"/>
          </a:xfrm>
          <a:prstGeom prst="cloud">
            <a:avLst/>
          </a:prstGeom>
          <a:noFill/>
          <a:ln w="635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endParaRPr>
          </a:p>
        </p:txBody>
      </p:sp>
      <p:sp>
        <p:nvSpPr>
          <p:cNvPr id="2" name="标题 1">
            <a:extLst>
              <a:ext uri="{FF2B5EF4-FFF2-40B4-BE49-F238E27FC236}">
                <a16:creationId xmlns:a16="http://schemas.microsoft.com/office/drawing/2014/main" id="{8E703439-3F25-B35C-BB49-0168DFE3E9E3}"/>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grpSp>
        <p:nvGrpSpPr>
          <p:cNvPr id="3" name="组合 2">
            <a:extLst>
              <a:ext uri="{FF2B5EF4-FFF2-40B4-BE49-F238E27FC236}">
                <a16:creationId xmlns:a16="http://schemas.microsoft.com/office/drawing/2014/main" id="{2B27AE64-8490-18D2-BD49-D0F9E9E48827}"/>
              </a:ext>
            </a:extLst>
          </p:cNvPr>
          <p:cNvGrpSpPr/>
          <p:nvPr/>
        </p:nvGrpSpPr>
        <p:grpSpPr>
          <a:xfrm>
            <a:off x="3990925" y="2456325"/>
            <a:ext cx="504000" cy="504000"/>
            <a:chOff x="1110463" y="3137054"/>
            <a:chExt cx="504000" cy="504000"/>
          </a:xfrm>
        </p:grpSpPr>
        <p:sp>
          <p:nvSpPr>
            <p:cNvPr id="4" name="椭圆 3">
              <a:extLst>
                <a:ext uri="{FF2B5EF4-FFF2-40B4-BE49-F238E27FC236}">
                  <a16:creationId xmlns:a16="http://schemas.microsoft.com/office/drawing/2014/main" id="{1811C8D7-D532-10A0-4BC4-401650515FD6}"/>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3A096507-861B-A020-B50B-E5BCDBB2E8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6" name="文本框 5">
            <a:extLst>
              <a:ext uri="{FF2B5EF4-FFF2-40B4-BE49-F238E27FC236}">
                <a16:creationId xmlns:a16="http://schemas.microsoft.com/office/drawing/2014/main" id="{ED29DC35-56F8-220D-9873-8C2C6DCDE072}"/>
              </a:ext>
            </a:extLst>
          </p:cNvPr>
          <p:cNvSpPr txBox="1"/>
          <p:nvPr/>
        </p:nvSpPr>
        <p:spPr>
          <a:xfrm>
            <a:off x="3316688" y="4340423"/>
            <a:ext cx="2510624" cy="307777"/>
          </a:xfrm>
          <a:prstGeom prst="rect">
            <a:avLst/>
          </a:prstGeom>
          <a:noFill/>
        </p:spPr>
        <p:txBody>
          <a:bodyPr wrap="none" rtlCol="0">
            <a:spAutoFit/>
          </a:bodyPr>
          <a:lstStyle/>
          <a:p>
            <a:pPr algn="ctr"/>
            <a:r>
              <a:rPr lang="zh-CN" altLang="en-US" sz="1400" dirty="0"/>
              <a:t>图</a:t>
            </a:r>
            <a:r>
              <a:rPr lang="en-US" altLang="zh-CN" sz="1400" dirty="0"/>
              <a:t>1-1 (b) </a:t>
            </a:r>
            <a:r>
              <a:rPr lang="zh-CN" altLang="en-US" sz="1400" dirty="0"/>
              <a:t>由网络构成的互连网</a:t>
            </a:r>
          </a:p>
        </p:txBody>
      </p:sp>
      <p:grpSp>
        <p:nvGrpSpPr>
          <p:cNvPr id="7" name="组合 6">
            <a:extLst>
              <a:ext uri="{FF2B5EF4-FFF2-40B4-BE49-F238E27FC236}">
                <a16:creationId xmlns:a16="http://schemas.microsoft.com/office/drawing/2014/main" id="{F6FCE3C8-FB0D-DD57-DE8A-1CD3D5442FA2}"/>
              </a:ext>
            </a:extLst>
          </p:cNvPr>
          <p:cNvGrpSpPr/>
          <p:nvPr/>
        </p:nvGrpSpPr>
        <p:grpSpPr>
          <a:xfrm>
            <a:off x="2518753" y="2827836"/>
            <a:ext cx="504000" cy="504000"/>
            <a:chOff x="2611895" y="3430082"/>
            <a:chExt cx="504000" cy="504000"/>
          </a:xfrm>
        </p:grpSpPr>
        <p:sp>
          <p:nvSpPr>
            <p:cNvPr id="8" name="椭圆 7">
              <a:extLst>
                <a:ext uri="{FF2B5EF4-FFF2-40B4-BE49-F238E27FC236}">
                  <a16:creationId xmlns:a16="http://schemas.microsoft.com/office/drawing/2014/main" id="{AAC8D2EF-98D1-4864-B792-F14DE10CDDBB}"/>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片 8">
              <a:extLst>
                <a:ext uri="{FF2B5EF4-FFF2-40B4-BE49-F238E27FC236}">
                  <a16:creationId xmlns:a16="http://schemas.microsoft.com/office/drawing/2014/main" id="{E122BF27-B933-337B-FD37-1247A8048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0" name="组合 9">
            <a:extLst>
              <a:ext uri="{FF2B5EF4-FFF2-40B4-BE49-F238E27FC236}">
                <a16:creationId xmlns:a16="http://schemas.microsoft.com/office/drawing/2014/main" id="{33B3089C-0A19-30C4-38DF-B58D6FA7224A}"/>
              </a:ext>
            </a:extLst>
          </p:cNvPr>
          <p:cNvGrpSpPr/>
          <p:nvPr/>
        </p:nvGrpSpPr>
        <p:grpSpPr>
          <a:xfrm>
            <a:off x="5421258" y="3367461"/>
            <a:ext cx="504000" cy="504000"/>
            <a:chOff x="2611895" y="3430082"/>
            <a:chExt cx="504000" cy="504000"/>
          </a:xfrm>
        </p:grpSpPr>
        <p:sp>
          <p:nvSpPr>
            <p:cNvPr id="11" name="椭圆 10">
              <a:extLst>
                <a:ext uri="{FF2B5EF4-FFF2-40B4-BE49-F238E27FC236}">
                  <a16:creationId xmlns:a16="http://schemas.microsoft.com/office/drawing/2014/main" id="{8416408B-8DF0-5F1F-E3D1-7EE57B143E97}"/>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2" name="图片 11">
              <a:extLst>
                <a:ext uri="{FF2B5EF4-FFF2-40B4-BE49-F238E27FC236}">
                  <a16:creationId xmlns:a16="http://schemas.microsoft.com/office/drawing/2014/main" id="{EDBF2FA0-F581-C92D-2633-6281755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3" name="组合 12">
            <a:extLst>
              <a:ext uri="{FF2B5EF4-FFF2-40B4-BE49-F238E27FC236}">
                <a16:creationId xmlns:a16="http://schemas.microsoft.com/office/drawing/2014/main" id="{420F3833-9442-C537-EEA7-83533D4CFC47}"/>
              </a:ext>
            </a:extLst>
          </p:cNvPr>
          <p:cNvGrpSpPr/>
          <p:nvPr/>
        </p:nvGrpSpPr>
        <p:grpSpPr>
          <a:xfrm>
            <a:off x="3605876" y="1700325"/>
            <a:ext cx="504000" cy="504000"/>
            <a:chOff x="2611895" y="3430082"/>
            <a:chExt cx="504000" cy="504000"/>
          </a:xfrm>
        </p:grpSpPr>
        <p:sp>
          <p:nvSpPr>
            <p:cNvPr id="14" name="椭圆 13">
              <a:extLst>
                <a:ext uri="{FF2B5EF4-FFF2-40B4-BE49-F238E27FC236}">
                  <a16:creationId xmlns:a16="http://schemas.microsoft.com/office/drawing/2014/main" id="{41D11292-00D9-BBBB-0F50-4EE5EE9A00F9}"/>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 14">
              <a:extLst>
                <a:ext uri="{FF2B5EF4-FFF2-40B4-BE49-F238E27FC236}">
                  <a16:creationId xmlns:a16="http://schemas.microsoft.com/office/drawing/2014/main" id="{2A548932-8208-E34A-E869-B0D4FBD595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16" name="直接连接符 15">
            <a:extLst>
              <a:ext uri="{FF2B5EF4-FFF2-40B4-BE49-F238E27FC236}">
                <a16:creationId xmlns:a16="http://schemas.microsoft.com/office/drawing/2014/main" id="{6F5C3CD0-61F2-6D42-7E60-6524D8B16985}"/>
              </a:ext>
            </a:extLst>
          </p:cNvPr>
          <p:cNvCxnSpPr>
            <a:cxnSpLocks/>
            <a:stCxn id="14" idx="6"/>
            <a:endCxn id="22" idx="2"/>
          </p:cNvCxnSpPr>
          <p:nvPr/>
        </p:nvCxnSpPr>
        <p:spPr>
          <a:xfrm>
            <a:off x="4109876" y="1952325"/>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70A6DD3-5289-D91F-E113-A6B21B0DE250}"/>
              </a:ext>
            </a:extLst>
          </p:cNvPr>
          <p:cNvCxnSpPr>
            <a:cxnSpLocks/>
            <a:stCxn id="8" idx="6"/>
            <a:endCxn id="25" idx="2"/>
          </p:cNvCxnSpPr>
          <p:nvPr/>
        </p:nvCxnSpPr>
        <p:spPr>
          <a:xfrm>
            <a:off x="3022753" y="3079836"/>
            <a:ext cx="223660" cy="493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B860B3E9-07C8-1D9A-B468-F0ABF7A35931}"/>
              </a:ext>
            </a:extLst>
          </p:cNvPr>
          <p:cNvCxnSpPr>
            <a:cxnSpLocks/>
            <a:stCxn id="11" idx="1"/>
          </p:cNvCxnSpPr>
          <p:nvPr/>
        </p:nvCxnSpPr>
        <p:spPr>
          <a:xfrm flipH="1" flipV="1">
            <a:off x="5179793" y="3331836"/>
            <a:ext cx="315274" cy="109434"/>
          </a:xfrm>
          <a:prstGeom prst="line">
            <a:avLst/>
          </a:prstGeom>
        </p:spPr>
        <p:style>
          <a:lnRef idx="1">
            <a:schemeClr val="accent1"/>
          </a:lnRef>
          <a:fillRef idx="0">
            <a:schemeClr val="accent1"/>
          </a:fillRef>
          <a:effectRef idx="0">
            <a:schemeClr val="accent1"/>
          </a:effectRef>
          <a:fontRef idx="minor">
            <a:schemeClr val="tx1"/>
          </a:fontRef>
        </p:style>
      </p:cxnSp>
      <p:grpSp>
        <p:nvGrpSpPr>
          <p:cNvPr id="19" name="组合 18">
            <a:extLst>
              <a:ext uri="{FF2B5EF4-FFF2-40B4-BE49-F238E27FC236}">
                <a16:creationId xmlns:a16="http://schemas.microsoft.com/office/drawing/2014/main" id="{60717602-FDC2-C35E-DC85-31C76C930E54}"/>
              </a:ext>
            </a:extLst>
          </p:cNvPr>
          <p:cNvGrpSpPr/>
          <p:nvPr/>
        </p:nvGrpSpPr>
        <p:grpSpPr>
          <a:xfrm>
            <a:off x="5118293" y="2180814"/>
            <a:ext cx="504000" cy="504000"/>
            <a:chOff x="1110463" y="3137054"/>
            <a:chExt cx="504000" cy="504000"/>
          </a:xfrm>
        </p:grpSpPr>
        <p:sp>
          <p:nvSpPr>
            <p:cNvPr id="20" name="椭圆 19">
              <a:extLst>
                <a:ext uri="{FF2B5EF4-FFF2-40B4-BE49-F238E27FC236}">
                  <a16:creationId xmlns:a16="http://schemas.microsoft.com/office/drawing/2014/main" id="{3AB9CC72-B824-D20E-BAAB-C74127341F68}"/>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图片 20">
              <a:extLst>
                <a:ext uri="{FF2B5EF4-FFF2-40B4-BE49-F238E27FC236}">
                  <a16:creationId xmlns:a16="http://schemas.microsoft.com/office/drawing/2014/main" id="{A0286893-9267-752C-6872-C33B629F11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2" name="云形 21">
            <a:extLst>
              <a:ext uri="{FF2B5EF4-FFF2-40B4-BE49-F238E27FC236}">
                <a16:creationId xmlns:a16="http://schemas.microsoft.com/office/drawing/2014/main" id="{3EB944C3-C6E5-E4E0-8C02-2C88507470D3}"/>
              </a:ext>
            </a:extLst>
          </p:cNvPr>
          <p:cNvSpPr/>
          <p:nvPr/>
        </p:nvSpPr>
        <p:spPr>
          <a:xfrm>
            <a:off x="4494925" y="176835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3" name="云形 22">
            <a:extLst>
              <a:ext uri="{FF2B5EF4-FFF2-40B4-BE49-F238E27FC236}">
                <a16:creationId xmlns:a16="http://schemas.microsoft.com/office/drawing/2014/main" id="{C8E32129-45DE-CB16-6070-0AA92EC2ED32}"/>
              </a:ext>
            </a:extLst>
          </p:cNvPr>
          <p:cNvSpPr/>
          <p:nvPr/>
        </p:nvSpPr>
        <p:spPr>
          <a:xfrm>
            <a:off x="4598634" y="2842258"/>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4" name="云形 23">
            <a:extLst>
              <a:ext uri="{FF2B5EF4-FFF2-40B4-BE49-F238E27FC236}">
                <a16:creationId xmlns:a16="http://schemas.microsoft.com/office/drawing/2014/main" id="{5A37AEB8-3A4C-79FD-B6E7-3BFAAB4EF6B6}"/>
              </a:ext>
            </a:extLst>
          </p:cNvPr>
          <p:cNvSpPr/>
          <p:nvPr/>
        </p:nvSpPr>
        <p:spPr>
          <a:xfrm>
            <a:off x="5622293" y="25174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5" name="云形 24">
            <a:extLst>
              <a:ext uri="{FF2B5EF4-FFF2-40B4-BE49-F238E27FC236}">
                <a16:creationId xmlns:a16="http://schemas.microsoft.com/office/drawing/2014/main" id="{C56A5766-6A52-5AF7-C2D3-62BEE63FF5FB}"/>
              </a:ext>
            </a:extLst>
          </p:cNvPr>
          <p:cNvSpPr/>
          <p:nvPr/>
        </p:nvSpPr>
        <p:spPr>
          <a:xfrm>
            <a:off x="3244257" y="283529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cxnSp>
        <p:nvCxnSpPr>
          <p:cNvPr id="26" name="直接连接符 25">
            <a:extLst>
              <a:ext uri="{FF2B5EF4-FFF2-40B4-BE49-F238E27FC236}">
                <a16:creationId xmlns:a16="http://schemas.microsoft.com/office/drawing/2014/main" id="{68B71BB2-1253-81B0-03C9-0C8E29C0E864}"/>
              </a:ext>
            </a:extLst>
          </p:cNvPr>
          <p:cNvCxnSpPr>
            <a:cxnSpLocks/>
            <a:endCxn id="4" idx="2"/>
          </p:cNvCxnSpPr>
          <p:nvPr/>
        </p:nvCxnSpPr>
        <p:spPr>
          <a:xfrm flipV="1">
            <a:off x="3829767" y="2708325"/>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76A7612A-C6AB-5A04-7CED-E0E941FB6665}"/>
              </a:ext>
            </a:extLst>
          </p:cNvPr>
          <p:cNvCxnSpPr>
            <a:cxnSpLocks/>
            <a:endCxn id="20" idx="1"/>
          </p:cNvCxnSpPr>
          <p:nvPr/>
        </p:nvCxnSpPr>
        <p:spPr>
          <a:xfrm>
            <a:off x="5118293" y="2223821"/>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8" name="组合 27">
            <a:extLst>
              <a:ext uri="{FF2B5EF4-FFF2-40B4-BE49-F238E27FC236}">
                <a16:creationId xmlns:a16="http://schemas.microsoft.com/office/drawing/2014/main" id="{7B2C96FD-8E5B-D434-97BF-7093DD003291}"/>
              </a:ext>
            </a:extLst>
          </p:cNvPr>
          <p:cNvGrpSpPr/>
          <p:nvPr/>
        </p:nvGrpSpPr>
        <p:grpSpPr>
          <a:xfrm>
            <a:off x="6602555" y="2559360"/>
            <a:ext cx="504000" cy="504000"/>
            <a:chOff x="2611895" y="3430082"/>
            <a:chExt cx="504000" cy="504000"/>
          </a:xfrm>
        </p:grpSpPr>
        <p:sp>
          <p:nvSpPr>
            <p:cNvPr id="29" name="椭圆 28">
              <a:extLst>
                <a:ext uri="{FF2B5EF4-FFF2-40B4-BE49-F238E27FC236}">
                  <a16:creationId xmlns:a16="http://schemas.microsoft.com/office/drawing/2014/main" id="{709DC931-095A-51FA-722E-ECB4092C2A8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图片 29">
              <a:extLst>
                <a:ext uri="{FF2B5EF4-FFF2-40B4-BE49-F238E27FC236}">
                  <a16:creationId xmlns:a16="http://schemas.microsoft.com/office/drawing/2014/main" id="{55F6B010-2D3B-C2D7-205C-CAC4F26D0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1" name="直接连接符 30">
            <a:extLst>
              <a:ext uri="{FF2B5EF4-FFF2-40B4-BE49-F238E27FC236}">
                <a16:creationId xmlns:a16="http://schemas.microsoft.com/office/drawing/2014/main" id="{97CA4AC4-834E-7E08-DAAF-9E3A27090F0F}"/>
              </a:ext>
            </a:extLst>
          </p:cNvPr>
          <p:cNvCxnSpPr>
            <a:stCxn id="29" idx="2"/>
            <a:endCxn id="24" idx="0"/>
          </p:cNvCxnSpPr>
          <p:nvPr/>
        </p:nvCxnSpPr>
        <p:spPr>
          <a:xfrm flipH="1">
            <a:off x="6316932" y="2811360"/>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5CCC76F4-4ADC-8593-8AED-F7284CBBD720}"/>
              </a:ext>
            </a:extLst>
          </p:cNvPr>
          <p:cNvCxnSpPr>
            <a:cxnSpLocks/>
            <a:endCxn id="20" idx="5"/>
          </p:cNvCxnSpPr>
          <p:nvPr/>
        </p:nvCxnSpPr>
        <p:spPr>
          <a:xfrm flipH="1" flipV="1">
            <a:off x="5548484" y="2611005"/>
            <a:ext cx="146345" cy="73809"/>
          </a:xfrm>
          <a:prstGeom prst="line">
            <a:avLst/>
          </a:prstGeom>
        </p:spPr>
        <p:style>
          <a:lnRef idx="1">
            <a:schemeClr val="accent1"/>
          </a:lnRef>
          <a:fillRef idx="0">
            <a:schemeClr val="accent1"/>
          </a:fillRef>
          <a:effectRef idx="0">
            <a:schemeClr val="accent1"/>
          </a:effectRef>
          <a:fontRef idx="minor">
            <a:schemeClr val="tx1"/>
          </a:fontRef>
        </p:style>
      </p:cxnSp>
      <p:grpSp>
        <p:nvGrpSpPr>
          <p:cNvPr id="33" name="组合 32">
            <a:extLst>
              <a:ext uri="{FF2B5EF4-FFF2-40B4-BE49-F238E27FC236}">
                <a16:creationId xmlns:a16="http://schemas.microsoft.com/office/drawing/2014/main" id="{A69D2361-F60B-6E65-5C5E-0E4E7DE08B4A}"/>
              </a:ext>
            </a:extLst>
          </p:cNvPr>
          <p:cNvGrpSpPr/>
          <p:nvPr/>
        </p:nvGrpSpPr>
        <p:grpSpPr>
          <a:xfrm>
            <a:off x="4052425" y="3318093"/>
            <a:ext cx="504000" cy="504000"/>
            <a:chOff x="1110463" y="3137054"/>
            <a:chExt cx="504000" cy="504000"/>
          </a:xfrm>
        </p:grpSpPr>
        <p:sp>
          <p:nvSpPr>
            <p:cNvPr id="34" name="椭圆 33">
              <a:extLst>
                <a:ext uri="{FF2B5EF4-FFF2-40B4-BE49-F238E27FC236}">
                  <a16:creationId xmlns:a16="http://schemas.microsoft.com/office/drawing/2014/main" id="{BA5605EE-2DAE-5FBE-6A73-20EFBCDC9739}"/>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a:extLst>
                <a:ext uri="{FF2B5EF4-FFF2-40B4-BE49-F238E27FC236}">
                  <a16:creationId xmlns:a16="http://schemas.microsoft.com/office/drawing/2014/main" id="{AD1028AD-2311-44BE-5095-A1B07E91A8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36" name="直接连接符 35">
            <a:extLst>
              <a:ext uri="{FF2B5EF4-FFF2-40B4-BE49-F238E27FC236}">
                <a16:creationId xmlns:a16="http://schemas.microsoft.com/office/drawing/2014/main" id="{6FDB6B47-1BB1-B34B-DABE-4A3ACBF71060}"/>
              </a:ext>
            </a:extLst>
          </p:cNvPr>
          <p:cNvCxnSpPr>
            <a:stCxn id="4" idx="7"/>
          </p:cNvCxnSpPr>
          <p:nvPr/>
        </p:nvCxnSpPr>
        <p:spPr>
          <a:xfrm flipV="1">
            <a:off x="4421116" y="2320930"/>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40EE388-E646-4CCC-E19D-DC2B141FA633}"/>
              </a:ext>
            </a:extLst>
          </p:cNvPr>
          <p:cNvCxnSpPr>
            <a:cxnSpLocks/>
            <a:endCxn id="34" idx="6"/>
          </p:cNvCxnSpPr>
          <p:nvPr/>
        </p:nvCxnSpPr>
        <p:spPr>
          <a:xfrm flipH="1">
            <a:off x="4556425" y="3378695"/>
            <a:ext cx="156769" cy="191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EEBDC97-CC81-F0A4-8289-94CCEE5114DF}"/>
              </a:ext>
            </a:extLst>
          </p:cNvPr>
          <p:cNvCxnSpPr>
            <a:cxnSpLocks/>
            <a:stCxn id="34" idx="2"/>
          </p:cNvCxnSpPr>
          <p:nvPr/>
        </p:nvCxnSpPr>
        <p:spPr>
          <a:xfrm flipH="1" flipV="1">
            <a:off x="3829767" y="3297984"/>
            <a:ext cx="222658" cy="272109"/>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B46C6C-C234-4DFA-E92B-3BBD7DAC79E1}"/>
              </a:ext>
            </a:extLst>
          </p:cNvPr>
          <p:cNvCxnSpPr>
            <a:cxnSpLocks/>
            <a:stCxn id="24" idx="1"/>
            <a:endCxn id="11" idx="7"/>
          </p:cNvCxnSpPr>
          <p:nvPr/>
        </p:nvCxnSpPr>
        <p:spPr>
          <a:xfrm flipH="1">
            <a:off x="5851449" y="3104596"/>
            <a:ext cx="118453" cy="33667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53F5AB4-4EC7-236E-7112-CEA631B9E2F5}"/>
              </a:ext>
            </a:extLst>
          </p:cNvPr>
          <p:cNvCxnSpPr>
            <a:cxnSpLocks/>
            <a:stCxn id="4" idx="5"/>
          </p:cNvCxnSpPr>
          <p:nvPr/>
        </p:nvCxnSpPr>
        <p:spPr>
          <a:xfrm>
            <a:off x="4421116" y="2886516"/>
            <a:ext cx="223879" cy="176844"/>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BADCAC53-C8D8-CC10-96CF-2A9D859003AA}"/>
              </a:ext>
            </a:extLst>
          </p:cNvPr>
          <p:cNvCxnSpPr>
            <a:cxnSpLocks/>
            <a:stCxn id="20" idx="3"/>
            <a:endCxn id="23" idx="3"/>
          </p:cNvCxnSpPr>
          <p:nvPr/>
        </p:nvCxnSpPr>
        <p:spPr>
          <a:xfrm flipH="1">
            <a:off x="4946243" y="2611005"/>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A2E9FA-B5FD-5C38-74E1-F2339865FE2B}"/>
              </a:ext>
            </a:extLst>
          </p:cNvPr>
          <p:cNvSpPr>
            <a:spLocks noGrp="1"/>
          </p:cNvSpPr>
          <p:nvPr>
            <p:ph type="title"/>
          </p:nvPr>
        </p:nvSpPr>
        <p:spPr>
          <a:xfrm>
            <a:off x="612000" y="144000"/>
            <a:ext cx="7920000" cy="341632"/>
          </a:xfrm>
        </p:spPr>
        <p:txBody>
          <a:bodyPr/>
          <a:lstStyle/>
          <a:p>
            <a:r>
              <a:rPr lang="en-US" altLang="zh-CN" dirty="0"/>
              <a:t>1.2.2  </a:t>
            </a:r>
            <a:r>
              <a:rPr lang="zh-CN" altLang="en-US" dirty="0"/>
              <a:t>互联网基础结构发展的三个阶段</a:t>
            </a:r>
          </a:p>
        </p:txBody>
      </p:sp>
      <p:sp>
        <p:nvSpPr>
          <p:cNvPr id="5" name="文本框 4">
            <a:extLst>
              <a:ext uri="{FF2B5EF4-FFF2-40B4-BE49-F238E27FC236}">
                <a16:creationId xmlns:a16="http://schemas.microsoft.com/office/drawing/2014/main" id="{D44EA98F-8E80-5B6D-B3FA-E4CB33CD9721}"/>
              </a:ext>
            </a:extLst>
          </p:cNvPr>
          <p:cNvSpPr txBox="1"/>
          <p:nvPr/>
        </p:nvSpPr>
        <p:spPr>
          <a:xfrm>
            <a:off x="612775" y="3756836"/>
            <a:ext cx="3135795" cy="769441"/>
          </a:xfrm>
          <a:prstGeom prst="rect">
            <a:avLst/>
          </a:prstGeom>
          <a:noFill/>
        </p:spPr>
        <p:txBody>
          <a:bodyPr wrap="none" rtlCol="0">
            <a:spAutoFit/>
          </a:bodyPr>
          <a:lstStyle/>
          <a:p>
            <a:pPr algn="l"/>
            <a:r>
              <a:rPr lang="en-US" altLang="zh-CN" sz="1600" dirty="0">
                <a:solidFill>
                  <a:srgbClr val="D4237A"/>
                </a:solidFill>
              </a:rPr>
              <a:t>1969 – 1990</a:t>
            </a:r>
          </a:p>
          <a:p>
            <a:pPr algn="l"/>
            <a:r>
              <a:rPr lang="zh-CN" altLang="en-US" sz="1400" dirty="0"/>
              <a:t>从单个网络 </a:t>
            </a:r>
            <a:r>
              <a:rPr lang="en-US" altLang="zh-CN" sz="1400" dirty="0"/>
              <a:t>ARPANET </a:t>
            </a:r>
            <a:r>
              <a:rPr lang="zh-CN" altLang="en-US" sz="1400" dirty="0"/>
              <a:t>向互联网发展</a:t>
            </a:r>
          </a:p>
          <a:p>
            <a:pPr algn="l"/>
            <a:r>
              <a:rPr lang="en-US" altLang="zh-CN" sz="1400" dirty="0"/>
              <a:t>4</a:t>
            </a:r>
            <a:r>
              <a:rPr lang="zh-CN" altLang="en-US" sz="1400" dirty="0"/>
              <a:t>个节点 → 多个节点</a:t>
            </a:r>
          </a:p>
        </p:txBody>
      </p:sp>
      <p:sp>
        <p:nvSpPr>
          <p:cNvPr id="6" name="文本框 5">
            <a:extLst>
              <a:ext uri="{FF2B5EF4-FFF2-40B4-BE49-F238E27FC236}">
                <a16:creationId xmlns:a16="http://schemas.microsoft.com/office/drawing/2014/main" id="{34C8920A-A846-DF09-5D44-C02BB6204648}"/>
              </a:ext>
            </a:extLst>
          </p:cNvPr>
          <p:cNvSpPr txBox="1"/>
          <p:nvPr/>
        </p:nvSpPr>
        <p:spPr>
          <a:xfrm>
            <a:off x="3354359" y="2671287"/>
            <a:ext cx="2816797" cy="769441"/>
          </a:xfrm>
          <a:prstGeom prst="rect">
            <a:avLst/>
          </a:prstGeom>
          <a:noFill/>
        </p:spPr>
        <p:txBody>
          <a:bodyPr wrap="none" rtlCol="0">
            <a:spAutoFit/>
          </a:bodyPr>
          <a:lstStyle/>
          <a:p>
            <a:pPr algn="l"/>
            <a:r>
              <a:rPr lang="en-US" altLang="zh-CN" sz="1600" dirty="0">
                <a:solidFill>
                  <a:srgbClr val="D4237A"/>
                </a:solidFill>
              </a:rPr>
              <a:t>1985 – 1993</a:t>
            </a:r>
          </a:p>
          <a:p>
            <a:pPr algn="l"/>
            <a:r>
              <a:rPr lang="zh-CN" altLang="en-US" sz="1400" dirty="0"/>
              <a:t>建成了三级结构的互联网</a:t>
            </a:r>
            <a:endParaRPr lang="en-US" altLang="zh-CN" sz="1400" dirty="0"/>
          </a:p>
          <a:p>
            <a:r>
              <a:rPr lang="zh-CN" altLang="en-US" sz="1400" dirty="0"/>
              <a:t>主干网、地区网和校园网</a:t>
            </a:r>
            <a:r>
              <a:rPr lang="en-US" altLang="zh-CN" sz="1400" dirty="0"/>
              <a:t>(</a:t>
            </a:r>
            <a:r>
              <a:rPr lang="zh-CN" altLang="en-US" sz="1400" dirty="0"/>
              <a:t>企业网</a:t>
            </a:r>
            <a:r>
              <a:rPr lang="en-US" altLang="zh-CN" sz="1400" dirty="0"/>
              <a:t>)</a:t>
            </a:r>
            <a:endParaRPr lang="zh-CN" altLang="en-US" sz="1400" dirty="0"/>
          </a:p>
        </p:txBody>
      </p:sp>
      <p:sp>
        <p:nvSpPr>
          <p:cNvPr id="8" name="文本框 7">
            <a:extLst>
              <a:ext uri="{FF2B5EF4-FFF2-40B4-BE49-F238E27FC236}">
                <a16:creationId xmlns:a16="http://schemas.microsoft.com/office/drawing/2014/main" id="{DCD49801-7F30-1696-3966-FFE3A0477FFF}"/>
              </a:ext>
            </a:extLst>
          </p:cNvPr>
          <p:cNvSpPr txBox="1"/>
          <p:nvPr/>
        </p:nvSpPr>
        <p:spPr>
          <a:xfrm>
            <a:off x="5028343" y="1585739"/>
            <a:ext cx="3084499" cy="553998"/>
          </a:xfrm>
          <a:prstGeom prst="rect">
            <a:avLst/>
          </a:prstGeom>
          <a:noFill/>
        </p:spPr>
        <p:txBody>
          <a:bodyPr wrap="none" rtlCol="0">
            <a:spAutoFit/>
          </a:bodyPr>
          <a:lstStyle/>
          <a:p>
            <a:pPr algn="l"/>
            <a:r>
              <a:rPr lang="en-US" altLang="zh-CN" sz="1600" dirty="0">
                <a:solidFill>
                  <a:srgbClr val="D4237A"/>
                </a:solidFill>
              </a:rPr>
              <a:t>1993 –</a:t>
            </a:r>
            <a:endParaRPr lang="zh-CN" altLang="en-US" sz="1600" dirty="0">
              <a:solidFill>
                <a:srgbClr val="D4237A"/>
              </a:solidFill>
            </a:endParaRPr>
          </a:p>
          <a:p>
            <a:pPr algn="l"/>
            <a:r>
              <a:rPr lang="zh-CN" altLang="en-US" sz="1400" dirty="0"/>
              <a:t>全球范围的多层次 </a:t>
            </a:r>
            <a:r>
              <a:rPr lang="en-US" altLang="zh-CN" sz="1400" dirty="0"/>
              <a:t>ISP </a:t>
            </a:r>
            <a:r>
              <a:rPr lang="zh-CN" altLang="en-US" sz="1400" dirty="0"/>
              <a:t>结构的互联网</a:t>
            </a:r>
          </a:p>
        </p:txBody>
      </p:sp>
      <p:sp>
        <p:nvSpPr>
          <p:cNvPr id="9" name="矩形 8">
            <a:extLst>
              <a:ext uri="{FF2B5EF4-FFF2-40B4-BE49-F238E27FC236}">
                <a16:creationId xmlns:a16="http://schemas.microsoft.com/office/drawing/2014/main" id="{DC25A42C-8569-CAC8-2B0D-B0DE8C504C96}"/>
              </a:ext>
            </a:extLst>
          </p:cNvPr>
          <p:cNvSpPr/>
          <p:nvPr/>
        </p:nvSpPr>
        <p:spPr>
          <a:xfrm>
            <a:off x="612776" y="3756836"/>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FB26D378-4EC0-05E1-F7DC-FD8C438A6E1E}"/>
              </a:ext>
            </a:extLst>
          </p:cNvPr>
          <p:cNvSpPr/>
          <p:nvPr/>
        </p:nvSpPr>
        <p:spPr>
          <a:xfrm>
            <a:off x="3354359" y="2671287"/>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6488692-CEFC-8281-3EA6-9EABAA42E764}"/>
              </a:ext>
            </a:extLst>
          </p:cNvPr>
          <p:cNvSpPr/>
          <p:nvPr/>
        </p:nvSpPr>
        <p:spPr>
          <a:xfrm>
            <a:off x="5028343" y="1585739"/>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1A58796A-F392-2915-D9C3-3B7143ECEAEA}"/>
              </a:ext>
            </a:extLst>
          </p:cNvPr>
          <p:cNvSpPr/>
          <p:nvPr/>
        </p:nvSpPr>
        <p:spPr>
          <a:xfrm>
            <a:off x="612775" y="3320405"/>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a:t>
            </a:r>
            <a:endParaRPr lang="zh-CN" altLang="en-US" dirty="0"/>
          </a:p>
        </p:txBody>
      </p:sp>
      <p:sp>
        <p:nvSpPr>
          <p:cNvPr id="16" name="椭圆 15">
            <a:extLst>
              <a:ext uri="{FF2B5EF4-FFF2-40B4-BE49-F238E27FC236}">
                <a16:creationId xmlns:a16="http://schemas.microsoft.com/office/drawing/2014/main" id="{7BE39CF3-88FD-09D8-D52E-F076F73E2911}"/>
              </a:ext>
            </a:extLst>
          </p:cNvPr>
          <p:cNvSpPr/>
          <p:nvPr/>
        </p:nvSpPr>
        <p:spPr>
          <a:xfrm>
            <a:off x="3354359" y="2234856"/>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a:t>
            </a:r>
            <a:endParaRPr lang="zh-CN" altLang="en-US" dirty="0"/>
          </a:p>
        </p:txBody>
      </p:sp>
      <p:sp>
        <p:nvSpPr>
          <p:cNvPr id="18" name="椭圆 17">
            <a:extLst>
              <a:ext uri="{FF2B5EF4-FFF2-40B4-BE49-F238E27FC236}">
                <a16:creationId xmlns:a16="http://schemas.microsoft.com/office/drawing/2014/main" id="{D99ABD10-54A1-27B6-2741-DC603F643FFB}"/>
              </a:ext>
            </a:extLst>
          </p:cNvPr>
          <p:cNvSpPr/>
          <p:nvPr/>
        </p:nvSpPr>
        <p:spPr>
          <a:xfrm>
            <a:off x="5028343" y="1196868"/>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3</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D8931A3E-A796-2D0F-47FC-DBF527742BC1}"/>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
        <p:nvSpPr>
          <p:cNvPr id="5" name="内容占位符 4"/>
          <p:cNvSpPr>
            <a:spLocks noGrp="1"/>
          </p:cNvSpPr>
          <p:nvPr>
            <p:ph sz="quarter" idx="10"/>
          </p:nvPr>
        </p:nvSpPr>
        <p:spPr>
          <a:xfrm>
            <a:off x="612000" y="899999"/>
            <a:ext cx="7920000" cy="3780000"/>
          </a:xfrm>
        </p:spPr>
        <p:txBody>
          <a:bodyPr>
            <a:normAutofit/>
          </a:bodyPr>
          <a:lstStyle/>
          <a:p>
            <a:r>
              <a:rPr lang="zh-CN" altLang="zh-CN" dirty="0"/>
              <a:t>阿帕网</a:t>
            </a:r>
            <a:r>
              <a:rPr lang="en-US" altLang="zh-CN" dirty="0"/>
              <a:t> ARPANET</a:t>
            </a:r>
          </a:p>
          <a:p>
            <a:pPr lvl="1"/>
            <a:r>
              <a:rPr lang="en-US" altLang="zh-CN" dirty="0"/>
              <a:t>1969</a:t>
            </a:r>
            <a:r>
              <a:rPr lang="zh-CN" altLang="en-US" dirty="0"/>
              <a:t>年诞生</a:t>
            </a:r>
            <a:endParaRPr lang="en-US" altLang="zh-CN" dirty="0"/>
          </a:p>
          <a:p>
            <a:pPr lvl="1"/>
            <a:r>
              <a:rPr lang="zh-CN" altLang="en-US" dirty="0"/>
              <a:t>只有</a:t>
            </a:r>
            <a:r>
              <a:rPr lang="zh-CN" altLang="zh-CN" dirty="0"/>
              <a:t>四个节点</a:t>
            </a:r>
            <a:endParaRPr lang="en-US" altLang="zh-CN" dirty="0"/>
          </a:p>
          <a:p>
            <a:pPr lvl="2"/>
            <a:r>
              <a:rPr lang="zh-CN" altLang="zh-CN" dirty="0"/>
              <a:t>UCLA</a:t>
            </a:r>
            <a:r>
              <a:rPr lang="en-US" altLang="zh-CN" dirty="0"/>
              <a:t> </a:t>
            </a:r>
            <a:r>
              <a:rPr lang="zh-CN" altLang="zh-CN" dirty="0"/>
              <a:t>加州大学洛杉矶分校节点</a:t>
            </a:r>
          </a:p>
          <a:p>
            <a:pPr lvl="2"/>
            <a:r>
              <a:rPr lang="zh-CN" altLang="zh-CN" dirty="0"/>
              <a:t>SRI</a:t>
            </a:r>
            <a:r>
              <a:rPr lang="en-US" altLang="zh-CN" dirty="0"/>
              <a:t> </a:t>
            </a:r>
            <a:r>
              <a:rPr lang="zh-CN" altLang="zh-CN" dirty="0"/>
              <a:t>斯坦福研究所节点</a:t>
            </a:r>
          </a:p>
          <a:p>
            <a:pPr lvl="2"/>
            <a:r>
              <a:rPr lang="zh-CN" altLang="zh-CN" dirty="0"/>
              <a:t>UCSB</a:t>
            </a:r>
            <a:r>
              <a:rPr lang="en-US" altLang="zh-CN" dirty="0"/>
              <a:t> </a:t>
            </a:r>
            <a:r>
              <a:rPr lang="zh-CN" altLang="zh-CN" dirty="0"/>
              <a:t>加州大学圣塔芭芭拉分校节点</a:t>
            </a:r>
          </a:p>
          <a:p>
            <a:pPr lvl="2"/>
            <a:r>
              <a:rPr lang="zh-CN" altLang="zh-CN" dirty="0"/>
              <a:t>UTAH</a:t>
            </a:r>
            <a:r>
              <a:rPr lang="en-US" altLang="zh-CN" dirty="0"/>
              <a:t> </a:t>
            </a:r>
            <a:r>
              <a:rPr lang="zh-CN" altLang="zh-CN" dirty="0"/>
              <a:t>犹他大学节点</a:t>
            </a:r>
            <a:endParaRPr lang="en-US" altLang="zh-CN" dirty="0"/>
          </a:p>
          <a:p>
            <a:pPr lvl="1"/>
            <a:r>
              <a:rPr lang="zh-CN" altLang="en-US" dirty="0"/>
              <a:t>是一个单个的分组交换网，不是一个互连网</a:t>
            </a:r>
          </a:p>
          <a:p>
            <a:pPr lvl="1"/>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endParaRPr lang="en-US" altLang="zh-CN" dirty="0"/>
          </a:p>
          <a:p>
            <a:pPr lvl="1"/>
            <a:r>
              <a:rPr lang="zh-CN" altLang="zh-CN" dirty="0"/>
              <a:t>使得所有使用</a:t>
            </a:r>
            <a:r>
              <a:rPr lang="en-US" altLang="zh-CN" dirty="0"/>
              <a:t> TCP/IP </a:t>
            </a:r>
            <a:r>
              <a:rPr lang="zh-CN" altLang="zh-CN" dirty="0"/>
              <a:t>协议的计算机都能利用互连网相互通信</a:t>
            </a:r>
            <a:endParaRPr lang="zh-CN" altLang="en-US" dirty="0"/>
          </a:p>
          <a:p>
            <a:pPr lvl="1"/>
            <a:r>
              <a:rPr lang="en-US" altLang="zh-CN" dirty="0"/>
              <a:t>1983 </a:t>
            </a:r>
            <a:r>
              <a:rPr lang="zh-CN" altLang="en-US" dirty="0"/>
              <a:t>年作为互联网的诞生时间</a:t>
            </a:r>
            <a:endParaRPr lang="en-US" altLang="zh-CN" dirty="0"/>
          </a:p>
          <a:p>
            <a:pPr lvl="1"/>
            <a:r>
              <a:rPr lang="en-US" altLang="zh-CN" dirty="0"/>
              <a:t>1990 </a:t>
            </a:r>
            <a:r>
              <a:rPr lang="zh-CN" altLang="zh-CN" dirty="0"/>
              <a:t>年</a:t>
            </a:r>
            <a:r>
              <a:rPr lang="zh-CN" altLang="en-US" dirty="0"/>
              <a:t>，</a:t>
            </a:r>
            <a:r>
              <a:rPr lang="zh-CN" altLang="zh-CN" dirty="0"/>
              <a:t>正式宣布关闭</a:t>
            </a:r>
            <a:endParaRPr lang="en-US" altLang="zh-CN" dirty="0"/>
          </a:p>
          <a:p>
            <a:endParaRPr lang="zh-CN" altLang="en-US" dirty="0"/>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descr="A map of the ARPANET network in 1969, depicting one connection in Utah and three in California.">
            <a:extLst>
              <a:ext uri="{FF2B5EF4-FFF2-40B4-BE49-F238E27FC236}">
                <a16:creationId xmlns:a16="http://schemas.microsoft.com/office/drawing/2014/main" id="{C62C5856-39DA-A10F-E40B-AD4061FA1991}"/>
              </a:ext>
            </a:extLst>
          </p:cNvPr>
          <p:cNvPicPr>
            <a:picLocks noChangeAspect="1"/>
          </p:cNvPicPr>
          <p:nvPr/>
        </p:nvPicPr>
        <p:blipFill>
          <a:blip r:embed="rId2"/>
          <a:stretch>
            <a:fillRect/>
          </a:stretch>
        </p:blipFill>
        <p:spPr>
          <a:xfrm>
            <a:off x="1524381" y="994139"/>
            <a:ext cx="6095238" cy="3710476"/>
          </a:xfrm>
          <a:prstGeom prst="rect">
            <a:avLst/>
          </a:prstGeom>
        </p:spPr>
      </p:pic>
      <p:sp>
        <p:nvSpPr>
          <p:cNvPr id="4" name="标题 3">
            <a:extLst>
              <a:ext uri="{FF2B5EF4-FFF2-40B4-BE49-F238E27FC236}">
                <a16:creationId xmlns:a16="http://schemas.microsoft.com/office/drawing/2014/main" id="{DCEBA2CF-323C-59CD-0B8F-88367ECCB70C}"/>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Tree>
    <p:extLst>
      <p:ext uri="{BB962C8B-B14F-4D97-AF65-F5344CB8AC3E}">
        <p14:creationId xmlns:p14="http://schemas.microsoft.com/office/powerpoint/2010/main" val="13580258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标题 97">
            <a:extLst>
              <a:ext uri="{FF2B5EF4-FFF2-40B4-BE49-F238E27FC236}">
                <a16:creationId xmlns:a16="http://schemas.microsoft.com/office/drawing/2014/main" id="{589BBF43-6765-C032-1E24-C772ABCD59A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sp>
        <p:nvSpPr>
          <p:cNvPr id="5" name="内容占位符 4"/>
          <p:cNvSpPr>
            <a:spLocks noGrp="1"/>
          </p:cNvSpPr>
          <p:nvPr>
            <p:ph sz="quarter" idx="10"/>
          </p:nvPr>
        </p:nvSpPr>
        <p:spPr>
          <a:xfrm>
            <a:off x="612000" y="899999"/>
            <a:ext cx="7920000" cy="3780000"/>
          </a:xfrm>
        </p:spPr>
        <p:txBody>
          <a:bodyPr/>
          <a:lstStyle/>
          <a:p>
            <a:r>
              <a:rPr lang="zh-CN" altLang="en-US" dirty="0"/>
              <a:t>国家科学基金网 </a:t>
            </a:r>
            <a:r>
              <a:rPr lang="en-US" altLang="zh-CN" dirty="0">
                <a:hlinkClick r:id="rId2"/>
              </a:rPr>
              <a:t>NSFNET</a:t>
            </a:r>
            <a:endParaRPr lang="en-US" altLang="zh-CN" dirty="0"/>
          </a:p>
          <a:p>
            <a:pPr lvl="1"/>
            <a:r>
              <a:rPr lang="zh-CN" altLang="en-US" dirty="0"/>
              <a:t>三级结构：主干网、地区网和校园网</a:t>
            </a:r>
            <a:r>
              <a:rPr lang="en-US" altLang="zh-CN" dirty="0"/>
              <a:t>(</a:t>
            </a:r>
            <a:r>
              <a:rPr lang="zh-CN" altLang="en-US" dirty="0"/>
              <a:t>企业网</a:t>
            </a:r>
            <a:r>
              <a:rPr lang="en-US" altLang="zh-CN" dirty="0"/>
              <a:t>)</a:t>
            </a:r>
          </a:p>
          <a:p>
            <a:pPr lvl="1"/>
            <a:r>
              <a:rPr lang="zh-CN" altLang="en-US" dirty="0"/>
              <a:t>覆盖了全美国主要的大学和研究所</a:t>
            </a:r>
            <a:endParaRPr lang="en-US" altLang="zh-CN" dirty="0"/>
          </a:p>
          <a:p>
            <a:pPr lvl="1"/>
            <a:r>
              <a:rPr lang="zh-CN" altLang="en-US" dirty="0"/>
              <a:t>互联网中的主要组成部分</a:t>
            </a:r>
            <a:endParaRPr lang="en-US" altLang="zh-CN" dirty="0"/>
          </a:p>
          <a:p>
            <a:endParaRPr lang="zh-CN" altLang="en-US" dirty="0"/>
          </a:p>
        </p:txBody>
      </p:sp>
      <p:grpSp>
        <p:nvGrpSpPr>
          <p:cNvPr id="4" name="组合 96"/>
          <p:cNvGrpSpPr>
            <a:grpSpLocks/>
          </p:cNvGrpSpPr>
          <p:nvPr/>
        </p:nvGrpSpPr>
        <p:grpSpPr bwMode="auto">
          <a:xfrm>
            <a:off x="4116347" y="1630188"/>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A08C39-12CC-D480-C2B7-713C5F1B45E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pic>
        <p:nvPicPr>
          <p:cNvPr id="12" name="图片 11" descr="Map depicting the ARPANET network in 1977, with numerous connections spanning the country">
            <a:extLst>
              <a:ext uri="{FF2B5EF4-FFF2-40B4-BE49-F238E27FC236}">
                <a16:creationId xmlns:a16="http://schemas.microsoft.com/office/drawing/2014/main" id="{72C10DFD-291E-B3E3-DDAC-7DB71D039E76}"/>
              </a:ext>
            </a:extLst>
          </p:cNvPr>
          <p:cNvPicPr>
            <a:picLocks noChangeAspect="1"/>
          </p:cNvPicPr>
          <p:nvPr/>
        </p:nvPicPr>
        <p:blipFill>
          <a:blip r:embed="rId2"/>
          <a:stretch>
            <a:fillRect/>
          </a:stretch>
        </p:blipFill>
        <p:spPr>
          <a:xfrm>
            <a:off x="1524381" y="993600"/>
            <a:ext cx="6095238" cy="3710476"/>
          </a:xfrm>
          <a:prstGeom prst="rect">
            <a:avLst/>
          </a:prstGeom>
        </p:spPr>
      </p:pic>
    </p:spTree>
    <p:extLst>
      <p:ext uri="{BB962C8B-B14F-4D97-AF65-F5344CB8AC3E}">
        <p14:creationId xmlns:p14="http://schemas.microsoft.com/office/powerpoint/2010/main" val="42675593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3463B2A-E21A-D89F-57FC-9D2BB78136F8}"/>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互联网服务提供者 </a:t>
            </a:r>
            <a:r>
              <a:rPr lang="en-US" altLang="zh-CN" dirty="0"/>
              <a:t>ISP (Internet Service Provider)</a:t>
            </a:r>
            <a:r>
              <a:rPr lang="zh-CN" altLang="en-US" dirty="0"/>
              <a:t>涌现</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6" name="组合 135"/>
          <p:cNvGrpSpPr/>
          <p:nvPr/>
        </p:nvGrpSpPr>
        <p:grpSpPr>
          <a:xfrm>
            <a:off x="1485928" y="1064051"/>
            <a:ext cx="6170543" cy="2971790"/>
            <a:chOff x="2063931" y="1515290"/>
            <a:chExt cx="6170543"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42" name="Text Box 268"/>
            <p:cNvSpPr txBox="1">
              <a:spLocks noChangeArrowheads="1"/>
            </p:cNvSpPr>
            <p:nvPr/>
          </p:nvSpPr>
          <p:spPr bwMode="auto">
            <a:xfrm>
              <a:off x="4930326" y="3737529"/>
              <a:ext cx="287258"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t>A</a:t>
              </a:r>
            </a:p>
          </p:txBody>
        </p:sp>
        <p:sp>
          <p:nvSpPr>
            <p:cNvPr id="44" name="Text Box 271"/>
            <p:cNvSpPr txBox="1">
              <a:spLocks noChangeArrowheads="1"/>
            </p:cNvSpPr>
            <p:nvPr/>
          </p:nvSpPr>
          <p:spPr bwMode="auto">
            <a:xfrm>
              <a:off x="7955230" y="3722370"/>
              <a:ext cx="279244"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本</a:t>
              </a:r>
              <a:r>
                <a:rPr lang="zh-CN" altLang="en-US" sz="1100"/>
                <a:t>地 </a:t>
              </a:r>
              <a:r>
                <a:rPr lang="en-US" altLang="zh-CN" sz="1100" dirty="0"/>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61" name="Text Box 342"/>
            <p:cNvSpPr txBox="1">
              <a:spLocks noChangeArrowheads="1"/>
            </p:cNvSpPr>
            <p:nvPr/>
          </p:nvSpPr>
          <p:spPr bwMode="auto">
            <a:xfrm>
              <a:off x="4906143" y="253277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7" name="Text Box 374"/>
            <p:cNvSpPr txBox="1">
              <a:spLocks noChangeArrowheads="1"/>
            </p:cNvSpPr>
            <p:nvPr/>
          </p:nvSpPr>
          <p:spPr bwMode="auto">
            <a:xfrm>
              <a:off x="3055709" y="30247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75" name="Text Box 405"/>
            <p:cNvSpPr txBox="1">
              <a:spLocks noChangeArrowheads="1"/>
            </p:cNvSpPr>
            <p:nvPr/>
          </p:nvSpPr>
          <p:spPr bwMode="auto">
            <a:xfrm>
              <a:off x="5345409" y="361183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6" name="Text Box 406"/>
            <p:cNvSpPr txBox="1">
              <a:spLocks noChangeArrowheads="1"/>
            </p:cNvSpPr>
            <p:nvPr/>
          </p:nvSpPr>
          <p:spPr bwMode="auto">
            <a:xfrm>
              <a:off x="6067816"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内容提</a:t>
              </a:r>
              <a:r>
                <a:rPr lang="zh-CN" altLang="en-US" sz="1100"/>
                <a:t>供者</a:t>
              </a:r>
              <a:endParaRPr lang="en-US" altLang="zh-CN" sz="1100" dirty="0"/>
            </a:p>
          </p:txBody>
        </p:sp>
        <p:grpSp>
          <p:nvGrpSpPr>
            <p:cNvPr id="92" name="组合 91"/>
            <p:cNvGrpSpPr/>
            <p:nvPr/>
          </p:nvGrpSpPr>
          <p:grpSpPr>
            <a:xfrm>
              <a:off x="6411686" y="2589558"/>
              <a:ext cx="412292" cy="238274"/>
              <a:chOff x="3320162" y="2589558"/>
              <a:chExt cx="412292" cy="23827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12292" cy="232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1"/>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58466"/>
              <a:chOff x="2206814" y="2569365"/>
              <a:chExt cx="5656498" cy="258466"/>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地</a:t>
                </a:r>
                <a:r>
                  <a:rPr lang="zh-CN" altLang="en-US" sz="1100"/>
                  <a:t>区  </a:t>
                </a:r>
                <a:r>
                  <a:rPr lang="en-US" altLang="zh-CN" sz="1100" dirty="0"/>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grpSp>
            <p:nvGrpSpPr>
              <p:cNvPr id="91" name="组合 90"/>
              <p:cNvGrpSpPr/>
              <p:nvPr/>
            </p:nvGrpSpPr>
            <p:grpSpPr>
              <a:xfrm>
                <a:off x="3320162" y="2589558"/>
                <a:ext cx="412292" cy="238273"/>
                <a:chOff x="3320162" y="2589558"/>
                <a:chExt cx="412292" cy="238273"/>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12292"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1" name="标题 10">
            <a:extLst>
              <a:ext uri="{FF2B5EF4-FFF2-40B4-BE49-F238E27FC236}">
                <a16:creationId xmlns:a16="http://schemas.microsoft.com/office/drawing/2014/main" id="{B162DC1D-6FDE-6AF8-824A-8710FDBFB146}"/>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4" name="文本框 3">
            <a:extLst>
              <a:ext uri="{FF2B5EF4-FFF2-40B4-BE49-F238E27FC236}">
                <a16:creationId xmlns:a16="http://schemas.microsoft.com/office/drawing/2014/main" id="{1468BCF6-736F-5A91-75E4-AFC1B2F83CB7}"/>
              </a:ext>
            </a:extLst>
          </p:cNvPr>
          <p:cNvSpPr txBox="1"/>
          <p:nvPr/>
        </p:nvSpPr>
        <p:spPr>
          <a:xfrm>
            <a:off x="1191908" y="4325567"/>
            <a:ext cx="6760184" cy="307777"/>
          </a:xfrm>
          <a:prstGeom prst="rect">
            <a:avLst/>
          </a:prstGeom>
          <a:noFill/>
        </p:spPr>
        <p:txBody>
          <a:bodyPr wrap="none" rtlCol="0">
            <a:spAutoFit/>
          </a:bodyPr>
          <a:lstStyle/>
          <a:p>
            <a:pPr algn="ctr"/>
            <a:r>
              <a:rPr lang="zh-CN" altLang="en-US" sz="1400" dirty="0"/>
              <a:t>通信举例：主机</a:t>
            </a:r>
            <a:r>
              <a:rPr lang="en-US" altLang="zh-CN" sz="1400" dirty="0"/>
              <a:t>A → </a:t>
            </a:r>
            <a:r>
              <a:rPr lang="zh-CN" altLang="en-US" sz="1400" dirty="0"/>
              <a:t>本地 </a:t>
            </a:r>
            <a:r>
              <a:rPr lang="en-US" altLang="zh-CN" sz="1400" dirty="0"/>
              <a:t>ISP → </a:t>
            </a:r>
            <a:r>
              <a:rPr lang="zh-CN" altLang="en-US" sz="1400" dirty="0"/>
              <a:t>地区 </a:t>
            </a:r>
            <a:r>
              <a:rPr lang="en-US" altLang="zh-CN" sz="1400" dirty="0"/>
              <a:t>ISP → </a:t>
            </a:r>
            <a:r>
              <a:rPr lang="zh-CN" altLang="en-US" sz="1400" dirty="0"/>
              <a:t>主干 </a:t>
            </a:r>
            <a:r>
              <a:rPr lang="en-US" altLang="zh-CN" sz="1400" dirty="0"/>
              <a:t>ISP → </a:t>
            </a:r>
            <a:r>
              <a:rPr lang="zh-CN" altLang="en-US" sz="1400" dirty="0"/>
              <a:t>地区 </a:t>
            </a:r>
            <a:r>
              <a:rPr lang="en-US" altLang="zh-CN" sz="1400" dirty="0"/>
              <a:t>ISP → </a:t>
            </a:r>
            <a:r>
              <a:rPr lang="zh-CN" altLang="en-US" sz="1400" dirty="0"/>
              <a:t>本地 </a:t>
            </a:r>
            <a:r>
              <a:rPr lang="en-US" altLang="zh-CN" sz="1400" dirty="0"/>
              <a:t>ISP → </a:t>
            </a:r>
            <a:r>
              <a:rPr lang="zh-CN" altLang="en-US" sz="1400" dirty="0"/>
              <a:t>主机</a:t>
            </a:r>
            <a:r>
              <a:rPr lang="en-US" altLang="zh-CN" sz="1400" dirty="0"/>
              <a:t>B</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549EBD5-0F54-073A-AA8C-98E52822A2C9}"/>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互联网交换点 </a:t>
            </a:r>
            <a:r>
              <a:rPr lang="en-US" altLang="zh-CN" dirty="0"/>
              <a:t>IXP (Internet </a:t>
            </a:r>
            <a:r>
              <a:rPr lang="en-US" altLang="zh-CN" dirty="0" err="1"/>
              <a:t>eXchange</a:t>
            </a:r>
            <a:r>
              <a:rPr lang="en-US" altLang="zh-CN" dirty="0"/>
              <a:t> Point)</a:t>
            </a:r>
          </a:p>
          <a:p>
            <a:pPr lvl="1"/>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p>
          <a:p>
            <a:pPr lvl="1"/>
            <a:r>
              <a:rPr lang="zh-CN" altLang="en-US" dirty="0"/>
              <a:t>在互联网上向所有用户提供视频等内容的公司</a:t>
            </a:r>
            <a:endParaRPr lang="en-US" altLang="zh-CN" dirty="0"/>
          </a:p>
          <a:p>
            <a:pPr lvl="1"/>
            <a:r>
              <a:rPr lang="zh-CN" altLang="en-US" dirty="0"/>
              <a:t>不向用户提供互联网的转接服务</a:t>
            </a:r>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27B82C64-AA89-9F6E-A7C9-557E283EB359}"/>
              </a:ext>
            </a:extLst>
          </p:cNvPr>
          <p:cNvSpPr>
            <a:spLocks noGrp="1"/>
          </p:cNvSpPr>
          <p:nvPr>
            <p:ph type="title"/>
          </p:nvPr>
        </p:nvSpPr>
        <p:spPr>
          <a:xfrm>
            <a:off x="612000" y="144000"/>
            <a:ext cx="7920000" cy="341632"/>
          </a:xfrm>
        </p:spPr>
        <p:txBody>
          <a:bodyPr/>
          <a:lstStyle/>
          <a:p>
            <a:r>
              <a:rPr lang="zh-CN" altLang="en-US" dirty="0"/>
              <a:t>万维网 </a:t>
            </a:r>
            <a:r>
              <a:rPr lang="en-US" altLang="zh-CN" dirty="0"/>
              <a:t>WWW</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en-US" altLang="zh-CN" dirty="0"/>
              <a:t>World Wide Web</a:t>
            </a:r>
          </a:p>
          <a:p>
            <a:r>
              <a:rPr lang="en-US" altLang="zh-CN" dirty="0"/>
              <a:t>20 </a:t>
            </a:r>
            <a:r>
              <a:rPr lang="zh-CN" altLang="en-US" dirty="0"/>
              <a:t>世纪 </a:t>
            </a:r>
            <a:r>
              <a:rPr lang="en-US" altLang="zh-CN" dirty="0"/>
              <a:t>90 </a:t>
            </a:r>
            <a:r>
              <a:rPr lang="zh-CN" altLang="en-US" dirty="0"/>
              <a:t>年代问世</a:t>
            </a:r>
            <a:endParaRPr lang="en-US" altLang="zh-CN" dirty="0"/>
          </a:p>
          <a:p>
            <a:r>
              <a:rPr lang="zh-CN" altLang="en-US" dirty="0"/>
              <a:t>由欧洲原子核研究组织 </a:t>
            </a:r>
            <a:r>
              <a:rPr lang="en-US" altLang="zh-CN" dirty="0"/>
              <a:t>CERN </a:t>
            </a:r>
            <a:r>
              <a:rPr lang="zh-CN" altLang="en-US" dirty="0"/>
              <a:t>开发</a:t>
            </a:r>
          </a:p>
          <a:p>
            <a:r>
              <a:rPr lang="zh-CN" altLang="en-US" dirty="0"/>
              <a:t>成为互联网指数级增长的主要驱动力</a:t>
            </a:r>
          </a:p>
          <a:p>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r>
              <a:rPr lang="zh-CN" altLang="zh-CN" dirty="0"/>
              <a:t>管理机构是</a:t>
            </a:r>
            <a:r>
              <a:rPr lang="zh-CN" altLang="zh-CN" dirty="0">
                <a:hlinkClick r:id="rId2"/>
              </a:rPr>
              <a:t>万维网联盟</a:t>
            </a:r>
            <a:r>
              <a:rPr lang="zh-CN" altLang="zh-CN" dirty="0"/>
              <a:t> W3C（World Wide Web Consortium）</a:t>
            </a:r>
            <a:endParaRPr lang="en-US" altLang="zh-CN" dirty="0"/>
          </a:p>
        </p:txBody>
      </p:sp>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E1C9EF4-6BAC-BAF1-BC59-63A6E71CC545}"/>
              </a:ext>
            </a:extLst>
          </p:cNvPr>
          <p:cNvSpPr>
            <a:spLocks noGrp="1"/>
          </p:cNvSpPr>
          <p:nvPr>
            <p:ph type="title"/>
          </p:nvPr>
        </p:nvSpPr>
        <p:spPr>
          <a:xfrm>
            <a:off x="612000" y="144000"/>
            <a:ext cx="7920000" cy="341632"/>
          </a:xfrm>
        </p:spPr>
        <p:txBody>
          <a:bodyPr/>
          <a:lstStyle/>
          <a:p>
            <a:r>
              <a:rPr lang="zh-CN" altLang="en-US" dirty="0"/>
              <a:t>课后作业</a:t>
            </a:r>
          </a:p>
        </p:txBody>
      </p:sp>
      <p:sp>
        <p:nvSpPr>
          <p:cNvPr id="3" name="内容占位符 2">
            <a:extLst>
              <a:ext uri="{FF2B5EF4-FFF2-40B4-BE49-F238E27FC236}">
                <a16:creationId xmlns:a16="http://schemas.microsoft.com/office/drawing/2014/main" id="{18785975-281B-05D0-147D-6B91686F40FC}"/>
              </a:ext>
            </a:extLst>
          </p:cNvPr>
          <p:cNvSpPr>
            <a:spLocks noGrp="1"/>
          </p:cNvSpPr>
          <p:nvPr>
            <p:ph sz="quarter" idx="10"/>
          </p:nvPr>
        </p:nvSpPr>
        <p:spPr>
          <a:xfrm>
            <a:off x="612000" y="899999"/>
            <a:ext cx="7920000" cy="3780000"/>
          </a:xfrm>
        </p:spPr>
        <p:txBody>
          <a:bodyPr/>
          <a:lstStyle/>
          <a:p>
            <a:r>
              <a:rPr lang="zh-CN" altLang="en-US" dirty="0"/>
              <a:t>阅读并翻译 </a:t>
            </a:r>
            <a:r>
              <a:rPr lang="zh-CN" altLang="zh-CN" dirty="0">
                <a:hlinkClick r:id="rId2"/>
              </a:rPr>
              <a:t>Birth of the Commercial Internet - NSF Impacts | NSF - U.S. National Science Foundation</a:t>
            </a:r>
            <a:endParaRPr lang="zh-CN" altLang="en-US" dirty="0"/>
          </a:p>
        </p:txBody>
      </p:sp>
    </p:spTree>
    <p:extLst>
      <p:ext uri="{BB962C8B-B14F-4D97-AF65-F5344CB8AC3E}">
        <p14:creationId xmlns:p14="http://schemas.microsoft.com/office/powerpoint/2010/main" val="291988758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E37C825B-9650-2163-FBDF-4D63627E3166}"/>
              </a:ext>
            </a:extLst>
          </p:cNvPr>
          <p:cNvSpPr>
            <a:spLocks noGrp="1"/>
          </p:cNvSpPr>
          <p:nvPr>
            <p:ph type="title"/>
          </p:nvPr>
        </p:nvSpPr>
        <p:spPr>
          <a:xfrm>
            <a:off x="612000" y="144000"/>
            <a:ext cx="7920000" cy="341632"/>
          </a:xfrm>
        </p:spPr>
        <p:txBody>
          <a:bodyPr/>
          <a:lstStyle/>
          <a:p>
            <a:r>
              <a:rPr lang="en-US" altLang="zh-CN" dirty="0"/>
              <a:t>1.2.3  </a:t>
            </a:r>
            <a:r>
              <a:rPr lang="zh-CN" altLang="en-US" dirty="0"/>
              <a:t>互联网的标准化工作</a:t>
            </a:r>
          </a:p>
        </p:txBody>
      </p:sp>
      <p:sp>
        <p:nvSpPr>
          <p:cNvPr id="2" name="内容占位符 1"/>
          <p:cNvSpPr>
            <a:spLocks noGrp="1"/>
          </p:cNvSpPr>
          <p:nvPr>
            <p:ph sz="quarter" idx="10"/>
          </p:nvPr>
        </p:nvSpPr>
        <p:spPr>
          <a:xfrm>
            <a:off x="612000" y="899999"/>
            <a:ext cx="7920000" cy="3780000"/>
          </a:xfrm>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互联网的标准化工作对互联网的发展起到了非常重要的作用</a:t>
            </a:r>
          </a:p>
        </p:txBody>
      </p:sp>
      <p:sp>
        <p:nvSpPr>
          <p:cNvPr id="5" name="AutoShape 44"/>
          <p:cNvSpPr>
            <a:spLocks noChangeArrowheads="1"/>
          </p:cNvSpPr>
          <p:nvPr/>
        </p:nvSpPr>
        <p:spPr bwMode="auto">
          <a:xfrm>
            <a:off x="4750376" y="2513371"/>
            <a:ext cx="2774284"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endParaRPr lang="zh-CN" altLang="en-US"/>
          </a:p>
        </p:txBody>
      </p:sp>
      <p:sp>
        <p:nvSpPr>
          <p:cNvPr id="6" name="AutoShape 43"/>
          <p:cNvSpPr>
            <a:spLocks noChangeArrowheads="1"/>
          </p:cNvSpPr>
          <p:nvPr/>
        </p:nvSpPr>
        <p:spPr bwMode="auto">
          <a:xfrm>
            <a:off x="1619340" y="2513371"/>
            <a:ext cx="2834003"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pPr fontAlgn="auto">
              <a:spcBef>
                <a:spcPts val="0"/>
              </a:spcBef>
              <a:spcAft>
                <a:spcPts val="0"/>
              </a:spcAft>
              <a:defRPr/>
            </a:pPr>
            <a:endParaRPr lang="zh-CN" altLang="en-US">
              <a:latin typeface="+mn-lt"/>
              <a:ea typeface="+mn-ea"/>
            </a:endParaRPr>
          </a:p>
        </p:txBody>
      </p:sp>
      <p:sp>
        <p:nvSpPr>
          <p:cNvPr id="42007" name="Freeform 4"/>
          <p:cNvSpPr>
            <a:spLocks/>
          </p:cNvSpPr>
          <p:nvPr/>
        </p:nvSpPr>
        <p:spPr bwMode="auto">
          <a:xfrm>
            <a:off x="3665570"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12" name="Text Box 17"/>
          <p:cNvSpPr txBox="1">
            <a:spLocks noChangeArrowheads="1"/>
          </p:cNvSpPr>
          <p:nvPr/>
        </p:nvSpPr>
        <p:spPr bwMode="auto">
          <a:xfrm>
            <a:off x="5978584" y="3534641"/>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3" name="Rectangle 20"/>
          <p:cNvSpPr>
            <a:spLocks noChangeArrowheads="1"/>
          </p:cNvSpPr>
          <p:nvPr/>
        </p:nvSpPr>
        <p:spPr bwMode="auto">
          <a:xfrm>
            <a:off x="2216012" y="3923528"/>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4" name="Rectangle 21"/>
          <p:cNvSpPr>
            <a:spLocks noChangeArrowheads="1"/>
          </p:cNvSpPr>
          <p:nvPr/>
        </p:nvSpPr>
        <p:spPr bwMode="auto">
          <a:xfrm>
            <a:off x="6884191"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15" name="Text Box 22"/>
          <p:cNvSpPr txBox="1">
            <a:spLocks noChangeArrowheads="1"/>
          </p:cNvSpPr>
          <p:nvPr/>
        </p:nvSpPr>
        <p:spPr bwMode="auto">
          <a:xfrm>
            <a:off x="5346023"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6" name="Text Box 23"/>
          <p:cNvSpPr txBox="1">
            <a:spLocks noChangeArrowheads="1"/>
          </p:cNvSpPr>
          <p:nvPr/>
        </p:nvSpPr>
        <p:spPr bwMode="auto">
          <a:xfrm>
            <a:off x="655487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7" name="Rectangle 28"/>
          <p:cNvSpPr>
            <a:spLocks noChangeArrowheads="1"/>
          </p:cNvSpPr>
          <p:nvPr/>
        </p:nvSpPr>
        <p:spPr bwMode="auto">
          <a:xfrm>
            <a:off x="3560693" y="3923528"/>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8" name="Text Box 29"/>
          <p:cNvSpPr txBox="1">
            <a:spLocks noChangeArrowheads="1"/>
          </p:cNvSpPr>
          <p:nvPr/>
        </p:nvSpPr>
        <p:spPr bwMode="auto">
          <a:xfrm>
            <a:off x="293418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9" name="Rectangle 30"/>
          <p:cNvSpPr>
            <a:spLocks noChangeArrowheads="1"/>
          </p:cNvSpPr>
          <p:nvPr/>
        </p:nvSpPr>
        <p:spPr bwMode="auto">
          <a:xfrm>
            <a:off x="5330081"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0" name="Rectangle 31"/>
          <p:cNvSpPr>
            <a:spLocks noChangeArrowheads="1"/>
          </p:cNvSpPr>
          <p:nvPr/>
        </p:nvSpPr>
        <p:spPr bwMode="auto">
          <a:xfrm>
            <a:off x="6534912"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4" name="Rectangle 33"/>
          <p:cNvSpPr>
            <a:spLocks noChangeArrowheads="1"/>
          </p:cNvSpPr>
          <p:nvPr/>
        </p:nvSpPr>
        <p:spPr bwMode="auto">
          <a:xfrm>
            <a:off x="6138535"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5" name="Rectangle 34"/>
          <p:cNvSpPr>
            <a:spLocks noChangeArrowheads="1"/>
          </p:cNvSpPr>
          <p:nvPr/>
        </p:nvSpPr>
        <p:spPr bwMode="auto">
          <a:xfrm>
            <a:off x="5640537"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6" name="Rectangle 35"/>
          <p:cNvSpPr>
            <a:spLocks noChangeArrowheads="1"/>
          </p:cNvSpPr>
          <p:nvPr/>
        </p:nvSpPr>
        <p:spPr bwMode="auto">
          <a:xfrm>
            <a:off x="4967170" y="3922189"/>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WG</a:t>
            </a:r>
          </a:p>
        </p:txBody>
      </p:sp>
      <p:cxnSp>
        <p:nvCxnSpPr>
          <p:cNvPr id="42027" name="AutoShape 45"/>
          <p:cNvCxnSpPr>
            <a:cxnSpLocks noChangeShapeType="1"/>
            <a:stCxn id="30" idx="2"/>
            <a:endCxn id="42011" idx="0"/>
          </p:cNvCxnSpPr>
          <p:nvPr/>
        </p:nvCxnSpPr>
        <p:spPr bwMode="auto">
          <a:xfrm>
            <a:off x="4571687" y="2158170"/>
            <a:ext cx="1565831"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flipH="1">
            <a:off x="4571687" y="1727510"/>
            <a:ext cx="1" cy="122883"/>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a:stCxn id="30" idx="2"/>
            <a:endCxn id="42008" idx="0"/>
          </p:cNvCxnSpPr>
          <p:nvPr/>
        </p:nvCxnSpPr>
        <p:spPr bwMode="auto">
          <a:xfrm flipH="1">
            <a:off x="3036341" y="2158170"/>
            <a:ext cx="1535346"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3196951" y="1850393"/>
            <a:ext cx="2749472"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互联网体系结构研究委员会 </a:t>
            </a:r>
            <a:r>
              <a:rPr lang="en-US" altLang="zh-CN" sz="1400" dirty="0"/>
              <a:t>IAB </a:t>
            </a:r>
          </a:p>
        </p:txBody>
      </p:sp>
      <p:sp>
        <p:nvSpPr>
          <p:cNvPr id="42008" name="Rectangle 10"/>
          <p:cNvSpPr>
            <a:spLocks noChangeArrowheads="1"/>
          </p:cNvSpPr>
          <p:nvPr/>
        </p:nvSpPr>
        <p:spPr bwMode="auto">
          <a:xfrm>
            <a:off x="1872401" y="3037431"/>
            <a:ext cx="2327880"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互联网研究指导小组 </a:t>
            </a:r>
            <a:r>
              <a:rPr lang="en-US" altLang="zh-CN" sz="1400" dirty="0"/>
              <a:t>I</a:t>
            </a:r>
            <a:r>
              <a:rPr lang="en-US" altLang="zh-CN" sz="1400" dirty="0">
                <a:solidFill>
                  <a:srgbClr val="D4237A"/>
                </a:solidFill>
              </a:rPr>
              <a:t>R</a:t>
            </a:r>
            <a:r>
              <a:rPr lang="en-US" altLang="zh-CN" sz="1400" dirty="0"/>
              <a:t>SG </a:t>
            </a:r>
          </a:p>
        </p:txBody>
      </p:sp>
      <p:sp>
        <p:nvSpPr>
          <p:cNvPr id="42011" name="Rectangle 16"/>
          <p:cNvSpPr>
            <a:spLocks noChangeArrowheads="1"/>
          </p:cNvSpPr>
          <p:nvPr/>
        </p:nvSpPr>
        <p:spPr bwMode="auto">
          <a:xfrm>
            <a:off x="4978386" y="3037431"/>
            <a:ext cx="2318263"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互联网工程指导小组 </a:t>
            </a:r>
            <a:r>
              <a:rPr lang="en-US" altLang="zh-CN" sz="1400" dirty="0"/>
              <a:t>I</a:t>
            </a:r>
            <a:r>
              <a:rPr lang="en-US" altLang="zh-CN" sz="1400" dirty="0">
                <a:solidFill>
                  <a:srgbClr val="D4237A"/>
                </a:solidFill>
              </a:rPr>
              <a:t>E</a:t>
            </a:r>
            <a:r>
              <a:rPr lang="en-US" altLang="zh-CN" sz="1400" dirty="0"/>
              <a:t>SG </a:t>
            </a:r>
          </a:p>
        </p:txBody>
      </p:sp>
      <p:sp>
        <p:nvSpPr>
          <p:cNvPr id="43" name="Rectangle 5"/>
          <p:cNvSpPr>
            <a:spLocks noChangeArrowheads="1"/>
          </p:cNvSpPr>
          <p:nvPr/>
        </p:nvSpPr>
        <p:spPr bwMode="auto">
          <a:xfrm>
            <a:off x="3784453" y="1419733"/>
            <a:ext cx="1574469"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互联网协会 </a:t>
            </a:r>
            <a:r>
              <a:rPr lang="en-US" altLang="zh-CN" sz="1400" dirty="0"/>
              <a:t>ISOC</a:t>
            </a:r>
          </a:p>
        </p:txBody>
      </p:sp>
      <p:sp useBgFill="1">
        <p:nvSpPr>
          <p:cNvPr id="3" name="文本框 2">
            <a:extLst>
              <a:ext uri="{FF2B5EF4-FFF2-40B4-BE49-F238E27FC236}">
                <a16:creationId xmlns:a16="http://schemas.microsoft.com/office/drawing/2014/main" id="{80A6D7B6-4614-30E4-47C4-BE0682FD1796}"/>
              </a:ext>
            </a:extLst>
          </p:cNvPr>
          <p:cNvSpPr txBox="1"/>
          <p:nvPr/>
        </p:nvSpPr>
        <p:spPr>
          <a:xfrm>
            <a:off x="1619340" y="2513371"/>
            <a:ext cx="1755609" cy="307777"/>
          </a:xfrm>
          <a:prstGeom prst="rect">
            <a:avLst/>
          </a:prstGeom>
        </p:spPr>
        <p:txBody>
          <a:bodyPr wrap="none" rtlCol="0">
            <a:spAutoFit/>
          </a:bodyPr>
          <a:lstStyle/>
          <a:p>
            <a:pPr algn="ctr"/>
            <a:r>
              <a:rPr lang="zh-CN" altLang="en-US" sz="1400" dirty="0"/>
              <a:t>互联网研究部 </a:t>
            </a:r>
            <a:r>
              <a:rPr lang="en-US" altLang="zh-CN" sz="1400"/>
              <a:t>I</a:t>
            </a:r>
            <a:r>
              <a:rPr lang="en-US" altLang="zh-CN" sz="1400">
                <a:solidFill>
                  <a:srgbClr val="D4237A"/>
                </a:solidFill>
              </a:rPr>
              <a:t>R</a:t>
            </a:r>
            <a:r>
              <a:rPr lang="en-US" altLang="zh-CN" sz="1400"/>
              <a:t>TF </a:t>
            </a:r>
            <a:endParaRPr lang="en-US" altLang="zh-CN" sz="1400" dirty="0"/>
          </a:p>
        </p:txBody>
      </p:sp>
      <p:sp useBgFill="1">
        <p:nvSpPr>
          <p:cNvPr id="4" name="文本框 3">
            <a:extLst>
              <a:ext uri="{FF2B5EF4-FFF2-40B4-BE49-F238E27FC236}">
                <a16:creationId xmlns:a16="http://schemas.microsoft.com/office/drawing/2014/main" id="{EBF625F1-DA5B-F7F5-CA93-4338681275D6}"/>
              </a:ext>
            </a:extLst>
          </p:cNvPr>
          <p:cNvSpPr txBox="1"/>
          <p:nvPr/>
        </p:nvSpPr>
        <p:spPr>
          <a:xfrm>
            <a:off x="5778669" y="2513371"/>
            <a:ext cx="1745991" cy="307777"/>
          </a:xfrm>
          <a:prstGeom prst="rect">
            <a:avLst/>
          </a:prstGeom>
        </p:spPr>
        <p:txBody>
          <a:bodyPr wrap="none" rtlCol="0">
            <a:spAutoFit/>
          </a:bodyPr>
          <a:lstStyle/>
          <a:p>
            <a:pPr algn="l"/>
            <a:r>
              <a:rPr lang="zh-CN" altLang="en-US" sz="1400" dirty="0"/>
              <a:t>互联网工程部 </a:t>
            </a:r>
            <a:r>
              <a:rPr lang="en-US" altLang="zh-CN" sz="1400" dirty="0"/>
              <a:t>I</a:t>
            </a:r>
            <a:r>
              <a:rPr lang="en-US" altLang="zh-CN" sz="1400" dirty="0">
                <a:solidFill>
                  <a:srgbClr val="D4237A"/>
                </a:solidFill>
              </a:rPr>
              <a:t>E</a:t>
            </a:r>
            <a:r>
              <a:rPr lang="en-US" altLang="zh-CN" sz="1400" dirty="0"/>
              <a:t>TF </a:t>
            </a:r>
          </a:p>
        </p:txBody>
      </p:sp>
      <p:cxnSp>
        <p:nvCxnSpPr>
          <p:cNvPr id="15" name="直接连接符 14">
            <a:extLst>
              <a:ext uri="{FF2B5EF4-FFF2-40B4-BE49-F238E27FC236}">
                <a16:creationId xmlns:a16="http://schemas.microsoft.com/office/drawing/2014/main" id="{E1F30703-99E2-7090-ADC8-1D33CF419039}"/>
              </a:ext>
            </a:extLst>
          </p:cNvPr>
          <p:cNvCxnSpPr>
            <a:stCxn id="42008" idx="2"/>
            <a:endCxn id="42013" idx="0"/>
          </p:cNvCxnSpPr>
          <p:nvPr/>
        </p:nvCxnSpPr>
        <p:spPr>
          <a:xfrm flipH="1">
            <a:off x="2374649" y="3345208"/>
            <a:ext cx="661692"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4D63F0E9-542C-BCB7-6D73-4E69FC2E71A0}"/>
              </a:ext>
            </a:extLst>
          </p:cNvPr>
          <p:cNvCxnSpPr>
            <a:stCxn id="42008" idx="2"/>
            <a:endCxn id="42017" idx="0"/>
          </p:cNvCxnSpPr>
          <p:nvPr/>
        </p:nvCxnSpPr>
        <p:spPr>
          <a:xfrm>
            <a:off x="3036341" y="3345208"/>
            <a:ext cx="683658"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F2590E57-029C-81BE-6F9C-28C33D374104}"/>
              </a:ext>
            </a:extLst>
          </p:cNvPr>
          <p:cNvCxnSpPr>
            <a:stCxn id="42019" idx="2"/>
            <a:endCxn id="42026" idx="0"/>
          </p:cNvCxnSpPr>
          <p:nvPr/>
        </p:nvCxnSpPr>
        <p:spPr>
          <a:xfrm flipH="1">
            <a:off x="5153250" y="3812340"/>
            <a:ext cx="376967"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A78102B0-1DC7-6EAB-8072-DE2124BFC6FD}"/>
              </a:ext>
            </a:extLst>
          </p:cNvPr>
          <p:cNvCxnSpPr>
            <a:stCxn id="42025" idx="0"/>
            <a:endCxn id="42019" idx="2"/>
          </p:cNvCxnSpPr>
          <p:nvPr/>
        </p:nvCxnSpPr>
        <p:spPr>
          <a:xfrm flipH="1" flipV="1">
            <a:off x="5530217" y="3812340"/>
            <a:ext cx="295731"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ABCB6768-9DDA-6E8F-BF2B-D9B6D23BD16D}"/>
              </a:ext>
            </a:extLst>
          </p:cNvPr>
          <p:cNvCxnSpPr>
            <a:stCxn id="42020" idx="2"/>
            <a:endCxn id="42014" idx="0"/>
          </p:cNvCxnSpPr>
          <p:nvPr/>
        </p:nvCxnSpPr>
        <p:spPr>
          <a:xfrm>
            <a:off x="6735048" y="3812340"/>
            <a:ext cx="334554"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227F3D8-93A8-4704-78D6-73252919C093}"/>
              </a:ext>
            </a:extLst>
          </p:cNvPr>
          <p:cNvCxnSpPr>
            <a:stCxn id="42024" idx="0"/>
            <a:endCxn id="42020" idx="2"/>
          </p:cNvCxnSpPr>
          <p:nvPr/>
        </p:nvCxnSpPr>
        <p:spPr>
          <a:xfrm flipV="1">
            <a:off x="6323946" y="3812340"/>
            <a:ext cx="411102"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89C25D1-2C93-C94E-C876-2D1282CAAE88}"/>
              </a:ext>
            </a:extLst>
          </p:cNvPr>
          <p:cNvCxnSpPr>
            <a:stCxn id="42011" idx="2"/>
            <a:endCxn id="42019" idx="0"/>
          </p:cNvCxnSpPr>
          <p:nvPr/>
        </p:nvCxnSpPr>
        <p:spPr>
          <a:xfrm flipH="1">
            <a:off x="5530217" y="3345208"/>
            <a:ext cx="607301"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67BBD509-6377-E66E-0C90-694A5C77B18E}"/>
              </a:ext>
            </a:extLst>
          </p:cNvPr>
          <p:cNvCxnSpPr>
            <a:stCxn id="42020" idx="0"/>
            <a:endCxn id="42011" idx="2"/>
          </p:cNvCxnSpPr>
          <p:nvPr/>
        </p:nvCxnSpPr>
        <p:spPr>
          <a:xfrm flipH="1" flipV="1">
            <a:off x="6137518" y="3345208"/>
            <a:ext cx="597530"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67B31D6-891B-A187-9647-00D8E7414D08}"/>
              </a:ext>
            </a:extLst>
          </p:cNvPr>
          <p:cNvSpPr>
            <a:spLocks noGrp="1"/>
          </p:cNvSpPr>
          <p:nvPr>
            <p:ph type="title"/>
          </p:nvPr>
        </p:nvSpPr>
        <p:spPr>
          <a:xfrm>
            <a:off x="612000" y="144000"/>
            <a:ext cx="7920000" cy="341632"/>
          </a:xfrm>
        </p:spPr>
        <p:txBody>
          <a:bodyPr/>
          <a:lstStyle/>
          <a:p>
            <a:r>
              <a:rPr lang="zh-CN" altLang="en-US" dirty="0"/>
              <a:t>标准发表：以 </a:t>
            </a:r>
            <a:r>
              <a:rPr lang="en-US" altLang="zh-CN" dirty="0"/>
              <a:t>RFC </a:t>
            </a:r>
            <a:r>
              <a:rPr lang="zh-CN" altLang="en-US" dirty="0"/>
              <a:t>的形式</a:t>
            </a:r>
          </a:p>
        </p:txBody>
      </p:sp>
      <p:sp>
        <p:nvSpPr>
          <p:cNvPr id="3" name="内容占位符 2"/>
          <p:cNvSpPr>
            <a:spLocks noGrp="1"/>
          </p:cNvSpPr>
          <p:nvPr>
            <p:ph sz="quarter" idx="10"/>
          </p:nvPr>
        </p:nvSpPr>
        <p:spPr>
          <a:xfrm>
            <a:off x="612000" y="899999"/>
            <a:ext cx="7920000" cy="3780000"/>
          </a:xfrm>
        </p:spPr>
        <p:txBody>
          <a:bodyPr/>
          <a:lstStyle/>
          <a:p>
            <a:r>
              <a:rPr lang="en-US" altLang="zh-CN" dirty="0">
                <a:hlinkClick r:id="rId2"/>
              </a:rPr>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文本框 27"/>
          <p:cNvSpPr txBox="1"/>
          <p:nvPr/>
        </p:nvSpPr>
        <p:spPr>
          <a:xfrm>
            <a:off x="3139910" y="1570232"/>
            <a:ext cx="1369070" cy="276999"/>
          </a:xfrm>
          <a:prstGeom prst="rect">
            <a:avLst/>
          </a:prstGeom>
          <a:noFill/>
        </p:spPr>
        <p:txBody>
          <a:bodyPr wrap="square" rtlCol="0">
            <a:spAutoFit/>
          </a:bodyPr>
          <a:lstStyle/>
          <a:p>
            <a:pPr algn="r"/>
            <a:r>
              <a:rPr lang="en-US" altLang="zh-CN" sz="1200" dirty="0" err="1"/>
              <a:t>RFCxxxx</a:t>
            </a:r>
            <a:endParaRPr lang="zh-CN" altLang="en-US" sz="1200" dirty="0"/>
          </a:p>
        </p:txBody>
      </p:sp>
      <p:cxnSp>
        <p:nvCxnSpPr>
          <p:cNvPr id="43021" name="直接箭头连接符 43020"/>
          <p:cNvCxnSpPr/>
          <p:nvPr/>
        </p:nvCxnSpPr>
        <p:spPr>
          <a:xfrm flipH="1">
            <a:off x="2717895" y="1858077"/>
            <a:ext cx="3595815" cy="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a:cxnSpLocks/>
          </p:cNvCxnSpPr>
          <p:nvPr/>
        </p:nvCxnSpPr>
        <p:spPr>
          <a:xfrm>
            <a:off x="4528448" y="1505600"/>
            <a:ext cx="0" cy="34804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41242"/>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noFill/>
          <a:ln>
            <a:solidFill>
              <a:schemeClr val="tx1">
                <a:lumMod val="50000"/>
                <a:lumOff val="50000"/>
              </a:schemeClr>
            </a:solid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互联网草案</a:t>
            </a:r>
            <a:endParaRPr lang="en-US" altLang="zh-CN" sz="1200" dirty="0"/>
          </a:p>
          <a:p>
            <a:pPr lvl="0" algn="ctr" defTabSz="800100">
              <a:spcBef>
                <a:spcPct val="0"/>
              </a:spcBef>
              <a:spcAft>
                <a:spcPts val="0"/>
              </a:spcAft>
            </a:pPr>
            <a:r>
              <a:rPr lang="zh-CN" altLang="en-US" sz="1200" dirty="0"/>
              <a:t> </a:t>
            </a:r>
            <a:r>
              <a:rPr lang="en-US" altLang="en-US" sz="1200" dirty="0"/>
              <a:t>Internet Draft</a:t>
            </a:r>
            <a:endParaRPr lang="zh-CN" altLang="en-US" sz="1200" dirty="0"/>
          </a:p>
        </p:txBody>
      </p:sp>
      <p:sp>
        <p:nvSpPr>
          <p:cNvPr id="7" name="圆角矩形 6"/>
          <p:cNvSpPr/>
          <p:nvPr/>
        </p:nvSpPr>
        <p:spPr>
          <a:xfrm>
            <a:off x="1454345" y="1965618"/>
            <a:ext cx="2520000"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33" name="任意多边形 32"/>
          <p:cNvSpPr/>
          <p:nvPr/>
        </p:nvSpPr>
        <p:spPr>
          <a:xfrm>
            <a:off x="1755952" y="2349009"/>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建议标准 </a:t>
            </a:r>
            <a:endParaRPr lang="en-US" altLang="zh-CN" sz="1200" dirty="0"/>
          </a:p>
          <a:p>
            <a:pPr lvl="0" algn="ctr" defTabSz="800100">
              <a:spcBef>
                <a:spcPct val="0"/>
              </a:spcBef>
              <a:spcAft>
                <a:spcPts val="0"/>
              </a:spcAft>
            </a:pPr>
            <a:r>
              <a:rPr lang="en-US" altLang="en-US" sz="1200" dirty="0"/>
              <a:t>Proposed Standard</a:t>
            </a:r>
            <a:endParaRPr lang="zh-CN" altLang="en-US" sz="1200" dirty="0"/>
          </a:p>
        </p:txBody>
      </p:sp>
      <p:sp>
        <p:nvSpPr>
          <p:cNvPr id="34" name="任意多边形 33"/>
          <p:cNvSpPr/>
          <p:nvPr/>
        </p:nvSpPr>
        <p:spPr>
          <a:xfrm>
            <a:off x="1755952" y="3653023"/>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互联网标准</a:t>
            </a:r>
            <a:endParaRPr lang="en-US" altLang="zh-CN" sz="1200" dirty="0"/>
          </a:p>
          <a:p>
            <a:pPr lvl="0" algn="ctr" defTabSz="800100">
              <a:spcBef>
                <a:spcPct val="0"/>
              </a:spcBef>
              <a:spcAft>
                <a:spcPts val="0"/>
              </a:spcAft>
            </a:pPr>
            <a:r>
              <a:rPr lang="zh-CN" altLang="en-US" sz="1200" dirty="0"/>
              <a:t> </a:t>
            </a:r>
            <a:r>
              <a:rPr lang="en-US" altLang="en-US" sz="1200" dirty="0"/>
              <a:t>Internet Standard</a:t>
            </a:r>
          </a:p>
          <a:p>
            <a:pPr lvl="0" algn="ctr" defTabSz="800100">
              <a:spcAft>
                <a:spcPts val="0"/>
              </a:spcAft>
            </a:pPr>
            <a:r>
              <a:rPr lang="en-US" altLang="zh-CN" sz="1200" dirty="0"/>
              <a:t>(</a:t>
            </a:r>
            <a:r>
              <a:rPr lang="en-US" altLang="zh-CN" sz="1200" dirty="0" err="1"/>
              <a:t>STDxx</a:t>
            </a:r>
            <a:r>
              <a:rPr lang="en-US" altLang="zh-CN" sz="1200" dirty="0"/>
              <a:t>)</a:t>
            </a:r>
            <a:endParaRPr lang="zh-CN" altLang="en-US" sz="1200" dirty="0"/>
          </a:p>
        </p:txBody>
      </p:sp>
      <p:sp>
        <p:nvSpPr>
          <p:cNvPr id="35" name="任意多边形 34"/>
          <p:cNvSpPr/>
          <p:nvPr/>
        </p:nvSpPr>
        <p:spPr>
          <a:xfrm>
            <a:off x="2194579" y="3021561"/>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草案标准</a:t>
            </a:r>
            <a:endParaRPr lang="en-US" altLang="zh-CN" sz="1200" dirty="0"/>
          </a:p>
          <a:p>
            <a:pPr lvl="0" algn="ctr" defTabSz="800100">
              <a:spcAft>
                <a:spcPts val="0"/>
              </a:spcAft>
            </a:pPr>
            <a:r>
              <a:rPr lang="zh-CN" altLang="en-US" sz="1200" dirty="0"/>
              <a:t> </a:t>
            </a:r>
            <a:r>
              <a:rPr lang="en-US" altLang="en-US" sz="1200" dirty="0"/>
              <a:t>Draft Standard</a:t>
            </a:r>
            <a:endParaRPr lang="zh-CN" altLang="en-US" sz="1200" dirty="0"/>
          </a:p>
        </p:txBody>
      </p:sp>
      <p:cxnSp>
        <p:nvCxnSpPr>
          <p:cNvPr id="133" name="直接箭头连接符 132"/>
          <p:cNvCxnSpPr/>
          <p:nvPr/>
        </p:nvCxnSpPr>
        <p:spPr>
          <a:xfrm>
            <a:off x="2717890" y="2799335"/>
            <a:ext cx="0" cy="20990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41899"/>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799335"/>
            <a:ext cx="0" cy="852467"/>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1974393"/>
            <a:ext cx="902811" cy="276999"/>
          </a:xfrm>
          <a:prstGeom prst="rect">
            <a:avLst/>
          </a:prstGeom>
          <a:noFill/>
        </p:spPr>
        <p:txBody>
          <a:bodyPr wrap="square" rtlCol="0">
            <a:spAutoFit/>
          </a:bodyPr>
          <a:lstStyle/>
          <a:p>
            <a:r>
              <a:rPr lang="zh-CN" altLang="en-US" sz="1200" dirty="0"/>
              <a:t>标准轨道</a:t>
            </a:r>
          </a:p>
        </p:txBody>
      </p:sp>
      <p:cxnSp>
        <p:nvCxnSpPr>
          <p:cNvPr id="40" name="直接箭头连接符 39"/>
          <p:cNvCxnSpPr/>
          <p:nvPr/>
        </p:nvCxnSpPr>
        <p:spPr>
          <a:xfrm>
            <a:off x="3693384" y="2575490"/>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37346"/>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3986293"/>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581755"/>
            <a:ext cx="0" cy="1404261"/>
          </a:xfrm>
          <a:prstGeom prst="straightConnector1">
            <a:avLst/>
          </a:prstGeom>
          <a:ln w="1270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1965618"/>
            <a:ext cx="2520000"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49" name="矩形 48"/>
          <p:cNvSpPr/>
          <p:nvPr/>
        </p:nvSpPr>
        <p:spPr>
          <a:xfrm>
            <a:off x="6505318" y="1974393"/>
            <a:ext cx="1083909" cy="276999"/>
          </a:xfrm>
          <a:prstGeom prst="rect">
            <a:avLst/>
          </a:prstGeom>
          <a:noFill/>
        </p:spPr>
        <p:txBody>
          <a:bodyPr wrap="square" rtlCol="0">
            <a:spAutoFit/>
          </a:bodyPr>
          <a:lstStyle/>
          <a:p>
            <a:pPr algn="r"/>
            <a:r>
              <a:rPr lang="zh-CN" altLang="en-US" sz="1200" dirty="0"/>
              <a:t>非标准轨道</a:t>
            </a:r>
          </a:p>
        </p:txBody>
      </p:sp>
      <p:sp>
        <p:nvSpPr>
          <p:cNvPr id="36" name="任意多边形 35"/>
          <p:cNvSpPr/>
          <p:nvPr/>
        </p:nvSpPr>
        <p:spPr>
          <a:xfrm>
            <a:off x="5354664" y="3758641"/>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历史</a:t>
            </a:r>
            <a:endParaRPr lang="en-US" altLang="zh-CN" sz="1200" dirty="0"/>
          </a:p>
          <a:p>
            <a:pPr lvl="0" algn="ctr" defTabSz="800100">
              <a:spcAft>
                <a:spcPts val="0"/>
              </a:spcAft>
            </a:pPr>
            <a:r>
              <a:rPr lang="en-US" altLang="zh-CN" sz="1200" dirty="0"/>
              <a:t>Historic</a:t>
            </a:r>
            <a:endParaRPr lang="zh-CN" altLang="en-US" sz="1200" dirty="0"/>
          </a:p>
        </p:txBody>
      </p:sp>
      <p:sp>
        <p:nvSpPr>
          <p:cNvPr id="37" name="任意多边形 36"/>
          <p:cNvSpPr/>
          <p:nvPr/>
        </p:nvSpPr>
        <p:spPr>
          <a:xfrm>
            <a:off x="5354664" y="3063166"/>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信息</a:t>
            </a:r>
            <a:endParaRPr lang="en-US" altLang="zh-CN" sz="1200" dirty="0"/>
          </a:p>
          <a:p>
            <a:pPr lvl="0" algn="ctr" defTabSz="800100">
              <a:spcAft>
                <a:spcPts val="0"/>
              </a:spcAft>
            </a:pPr>
            <a:r>
              <a:rPr lang="en-US" altLang="en-US" sz="1200" dirty="0"/>
              <a:t>Informational</a:t>
            </a:r>
            <a:endParaRPr lang="zh-CN" altLang="en-US" sz="1200" dirty="0"/>
          </a:p>
        </p:txBody>
      </p:sp>
      <p:sp>
        <p:nvSpPr>
          <p:cNvPr id="38" name="任意多边形 37"/>
          <p:cNvSpPr/>
          <p:nvPr/>
        </p:nvSpPr>
        <p:spPr>
          <a:xfrm>
            <a:off x="5359902" y="2349009"/>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实验</a:t>
            </a:r>
            <a:endParaRPr lang="en-US" altLang="zh-CN" sz="1200" dirty="0"/>
          </a:p>
          <a:p>
            <a:pPr lvl="0" algn="ctr" defTabSz="800100">
              <a:spcAft>
                <a:spcPts val="0"/>
              </a:spcAft>
            </a:pPr>
            <a:r>
              <a:rPr lang="zh-CN" altLang="en-US" sz="1200" dirty="0"/>
              <a:t> </a:t>
            </a:r>
            <a:r>
              <a:rPr lang="en-US" altLang="zh-CN" sz="1200" dirty="0"/>
              <a:t>Experimental</a:t>
            </a:r>
            <a:endParaRPr lang="zh-CN" altLang="en-US" sz="1200" dirty="0"/>
          </a:p>
        </p:txBody>
      </p:sp>
      <p:cxnSp>
        <p:nvCxnSpPr>
          <p:cNvPr id="135" name="直接箭头连接符 134"/>
          <p:cNvCxnSpPr/>
          <p:nvPr/>
        </p:nvCxnSpPr>
        <p:spPr>
          <a:xfrm>
            <a:off x="631371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3986016"/>
            <a:ext cx="1181084"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sp>
        <p:nvSpPr>
          <p:cNvPr id="3" name="标题 2">
            <a:extLst>
              <a:ext uri="{FF2B5EF4-FFF2-40B4-BE49-F238E27FC236}">
                <a16:creationId xmlns:a16="http://schemas.microsoft.com/office/drawing/2014/main" id="{1E92A9FF-3C78-8261-4648-96C88A3374CF}"/>
              </a:ext>
            </a:extLst>
          </p:cNvPr>
          <p:cNvSpPr>
            <a:spLocks noGrp="1"/>
          </p:cNvSpPr>
          <p:nvPr>
            <p:ph type="title"/>
          </p:nvPr>
        </p:nvSpPr>
        <p:spPr>
          <a:xfrm>
            <a:off x="612000" y="144000"/>
            <a:ext cx="7920000" cy="341632"/>
          </a:xfrm>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86903D-199D-34E6-9C2A-F7F38BD5D0CA}"/>
              </a:ext>
            </a:extLst>
          </p:cNvPr>
          <p:cNvSpPr>
            <a:spLocks noGrp="1"/>
          </p:cNvSpPr>
          <p:nvPr>
            <p:ph type="title"/>
          </p:nvPr>
        </p:nvSpPr>
        <p:spPr>
          <a:xfrm>
            <a:off x="2228850" y="403553"/>
            <a:ext cx="6562725" cy="523220"/>
          </a:xfrm>
        </p:spPr>
        <p:txBody>
          <a:bodyPr/>
          <a:lstStyle/>
          <a:p>
            <a:r>
              <a:rPr lang="fr-FR" altLang="zh-CN" dirty="0"/>
              <a:t>1.3 </a:t>
            </a:r>
            <a:r>
              <a:rPr lang="zh-CN" altLang="fr-FR" dirty="0"/>
              <a:t>互联网的组成</a:t>
            </a:r>
            <a:endParaRPr lang="zh-CN" altLang="en-US" dirty="0"/>
          </a:p>
        </p:txBody>
      </p:sp>
      <p:sp>
        <p:nvSpPr>
          <p:cNvPr id="6" name="文本框 5">
            <a:extLst>
              <a:ext uri="{FF2B5EF4-FFF2-40B4-BE49-F238E27FC236}">
                <a16:creationId xmlns:a16="http://schemas.microsoft.com/office/drawing/2014/main" id="{260B68CF-8DCB-D7AF-0550-20A7EA7370D9}"/>
              </a:ext>
            </a:extLst>
          </p:cNvPr>
          <p:cNvSpPr txBox="1"/>
          <p:nvPr/>
        </p:nvSpPr>
        <p:spPr>
          <a:xfrm>
            <a:off x="2962275" y="1293396"/>
            <a:ext cx="3562350" cy="646331"/>
          </a:xfrm>
          <a:prstGeom prst="rect">
            <a:avLst/>
          </a:prstGeom>
          <a:noFill/>
        </p:spPr>
        <p:txBody>
          <a:bodyPr wrap="square">
            <a:spAutoFit/>
          </a:bodyPr>
          <a:lstStyle/>
          <a:p>
            <a:r>
              <a:rPr lang="en-US" altLang="zh-CN" dirty="0"/>
              <a:t>1.3.1 </a:t>
            </a:r>
          </a:p>
          <a:p>
            <a:r>
              <a:rPr lang="zh-CN" altLang="zh-CN" dirty="0"/>
              <a:t>互联网的边缘部分</a:t>
            </a:r>
            <a:endParaRPr lang="en-US" altLang="zh-CN" dirty="0"/>
          </a:p>
        </p:txBody>
      </p:sp>
      <p:sp>
        <p:nvSpPr>
          <p:cNvPr id="7" name="文本框 6">
            <a:extLst>
              <a:ext uri="{FF2B5EF4-FFF2-40B4-BE49-F238E27FC236}">
                <a16:creationId xmlns:a16="http://schemas.microsoft.com/office/drawing/2014/main" id="{CB4463B8-1820-36F0-F496-3903F2149036}"/>
              </a:ext>
            </a:extLst>
          </p:cNvPr>
          <p:cNvSpPr txBox="1"/>
          <p:nvPr/>
        </p:nvSpPr>
        <p:spPr>
          <a:xfrm>
            <a:off x="3886200" y="2216725"/>
            <a:ext cx="3648075" cy="646331"/>
          </a:xfrm>
          <a:prstGeom prst="rect">
            <a:avLst/>
          </a:prstGeom>
          <a:noFill/>
        </p:spPr>
        <p:txBody>
          <a:bodyPr wrap="square">
            <a:spAutoFit/>
          </a:bodyPr>
          <a:lstStyle/>
          <a:p>
            <a:r>
              <a:rPr lang="en-US" altLang="zh-CN" dirty="0"/>
              <a:t>1.3.2 </a:t>
            </a:r>
          </a:p>
          <a:p>
            <a:r>
              <a:rPr lang="zh-CN" altLang="zh-CN" dirty="0"/>
              <a:t>互联网的核心部分</a:t>
            </a:r>
            <a:endParaRPr lang="fr-FR" altLang="zh-CN"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174"/>
          <p:cNvGrpSpPr/>
          <p:nvPr/>
        </p:nvGrpSpPr>
        <p:grpSpPr bwMode="auto">
          <a:xfrm>
            <a:off x="4390465" y="1363387"/>
            <a:ext cx="4643571" cy="2880000"/>
            <a:chOff x="411" y="1240"/>
            <a:chExt cx="4856" cy="2466"/>
          </a:xfrm>
        </p:grpSpPr>
        <p:sp>
          <p:nvSpPr>
            <p:cNvPr id="11"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12"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pic>
          <p:nvPicPr>
            <p:cNvPr id="13"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4" name="Group 124"/>
            <p:cNvGrpSpPr/>
            <p:nvPr/>
          </p:nvGrpSpPr>
          <p:grpSpPr bwMode="auto">
            <a:xfrm>
              <a:off x="1385" y="2250"/>
              <a:ext cx="568" cy="309"/>
              <a:chOff x="130" y="1123"/>
              <a:chExt cx="568" cy="309"/>
            </a:xfrm>
          </p:grpSpPr>
          <p:sp>
            <p:nvSpPr>
              <p:cNvPr id="7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15"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20"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21"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22"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1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18"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 name="Picture 11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 name="Picture 121"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30"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31" name="Group 126"/>
            <p:cNvGrpSpPr/>
            <p:nvPr/>
          </p:nvGrpSpPr>
          <p:grpSpPr bwMode="auto">
            <a:xfrm>
              <a:off x="2182" y="2681"/>
              <a:ext cx="568" cy="309"/>
              <a:chOff x="130" y="1123"/>
              <a:chExt cx="568" cy="309"/>
            </a:xfrm>
          </p:grpSpPr>
          <p:sp>
            <p:nvSpPr>
              <p:cNvPr id="6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2" name="Group 138"/>
            <p:cNvGrpSpPr/>
            <p:nvPr/>
          </p:nvGrpSpPr>
          <p:grpSpPr bwMode="auto">
            <a:xfrm>
              <a:off x="3243" y="2659"/>
              <a:ext cx="568" cy="309"/>
              <a:chOff x="130" y="1123"/>
              <a:chExt cx="568" cy="309"/>
            </a:xfrm>
          </p:grpSpPr>
          <p:sp>
            <p:nvSpPr>
              <p:cNvPr id="57"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8"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9"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0"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6"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7"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3" name="Group 150"/>
            <p:cNvGrpSpPr/>
            <p:nvPr/>
          </p:nvGrpSpPr>
          <p:grpSpPr bwMode="auto">
            <a:xfrm>
              <a:off x="3706" y="2216"/>
              <a:ext cx="568" cy="309"/>
              <a:chOff x="130" y="1123"/>
              <a:chExt cx="568" cy="309"/>
            </a:xfrm>
          </p:grpSpPr>
          <p:sp>
            <p:nvSpPr>
              <p:cNvPr id="46"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7"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8"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9"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5"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6"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34" name="Group 162"/>
            <p:cNvGrpSpPr/>
            <p:nvPr/>
          </p:nvGrpSpPr>
          <p:grpSpPr bwMode="auto">
            <a:xfrm>
              <a:off x="2643" y="1933"/>
              <a:ext cx="568" cy="309"/>
              <a:chOff x="130" y="1123"/>
              <a:chExt cx="568" cy="309"/>
            </a:xfrm>
          </p:grpSpPr>
          <p:sp>
            <p:nvSpPr>
              <p:cNvPr id="35"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6"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7"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8"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4"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5"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7" name="标题 6">
            <a:extLst>
              <a:ext uri="{FF2B5EF4-FFF2-40B4-BE49-F238E27FC236}">
                <a16:creationId xmlns:a16="http://schemas.microsoft.com/office/drawing/2014/main" id="{F197BBDB-7D6B-49DD-5863-D9CD21E82D5C}"/>
              </a:ext>
            </a:extLst>
          </p:cNvPr>
          <p:cNvSpPr>
            <a:spLocks noGrp="1"/>
          </p:cNvSpPr>
          <p:nvPr>
            <p:ph type="title"/>
          </p:nvPr>
        </p:nvSpPr>
        <p:spPr>
          <a:xfrm>
            <a:off x="612000" y="144000"/>
            <a:ext cx="7920000" cy="341632"/>
          </a:xfrm>
        </p:spPr>
        <p:txBody>
          <a:bodyPr/>
          <a:lstStyle/>
          <a:p>
            <a:r>
              <a:rPr lang="fr-FR" altLang="zh-CN" dirty="0"/>
              <a:t>1.3  </a:t>
            </a:r>
            <a:r>
              <a:rPr lang="zh-CN" altLang="en-US" dirty="0"/>
              <a:t>互联网的组成</a:t>
            </a:r>
          </a:p>
        </p:txBody>
      </p:sp>
      <p:sp>
        <p:nvSpPr>
          <p:cNvPr id="3" name="内容占位符 2"/>
          <p:cNvSpPr>
            <a:spLocks noGrp="1"/>
          </p:cNvSpPr>
          <p:nvPr>
            <p:ph sz="quarter" idx="10"/>
          </p:nvPr>
        </p:nvSpPr>
        <p:spPr>
          <a:xfrm>
            <a:off x="612000" y="899999"/>
            <a:ext cx="7920000" cy="3780000"/>
          </a:xfrm>
        </p:spPr>
        <p:txBody>
          <a:bodyPr/>
          <a:lstStyle/>
          <a:p>
            <a:r>
              <a:rPr lang="zh-CN" altLang="en-US" dirty="0"/>
              <a:t>从互联网的工作方式上看，可以划分为两大块：</a:t>
            </a:r>
            <a:endParaRPr lang="en-US" altLang="zh-CN" dirty="0"/>
          </a:p>
          <a:p>
            <a:r>
              <a:rPr lang="zh-CN" altLang="en-US" dirty="0"/>
              <a:t>边缘部分： </a:t>
            </a:r>
            <a:endParaRPr lang="en-US" altLang="zh-CN" dirty="0"/>
          </a:p>
          <a:p>
            <a:pPr lvl="1"/>
            <a:r>
              <a:rPr lang="zh-CN" altLang="en-US" dirty="0"/>
              <a:t>由所有连接在互联网上的主机组成</a:t>
            </a:r>
            <a:endParaRPr lang="en-US" altLang="zh-CN" dirty="0"/>
          </a:p>
          <a:p>
            <a:pPr lvl="1"/>
            <a:r>
              <a:rPr lang="zh-CN" altLang="en-US" dirty="0"/>
              <a:t>由用户直接使用</a:t>
            </a:r>
            <a:endParaRPr lang="en-US" altLang="zh-CN" dirty="0"/>
          </a:p>
          <a:p>
            <a:pPr lvl="1"/>
            <a:r>
              <a:rPr lang="zh-CN" altLang="en-US" dirty="0"/>
              <a:t>用来进行通信和资源共享</a:t>
            </a:r>
          </a:p>
          <a:p>
            <a:r>
              <a:rPr lang="zh-CN" altLang="en-US" dirty="0"/>
              <a:t>核心部分：</a:t>
            </a:r>
            <a:endParaRPr lang="en-US" altLang="zh-CN" dirty="0"/>
          </a:p>
          <a:p>
            <a:pPr lvl="1"/>
            <a:r>
              <a:rPr lang="zh-CN" altLang="en-US" dirty="0"/>
              <a:t>由大量网络和连接这些网络的路由器组成</a:t>
            </a:r>
            <a:endParaRPr lang="en-US" altLang="zh-CN" dirty="0"/>
          </a:p>
          <a:p>
            <a:pPr lvl="1"/>
            <a:r>
              <a:rPr lang="zh-CN" altLang="en-US" dirty="0"/>
              <a:t>为边缘部分提供连通性和交换</a:t>
            </a:r>
            <a:endParaRPr lang="en-US" altLang="zh-CN" dirty="0"/>
          </a:p>
          <a:p>
            <a:endParaRPr lang="zh-CN" altLang="en-US" dirty="0"/>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4DCAF4E-87CC-409F-1F3F-A4568A7F5BF1}"/>
              </a:ext>
            </a:extLst>
          </p:cNvPr>
          <p:cNvSpPr>
            <a:spLocks noGrp="1"/>
          </p:cNvSpPr>
          <p:nvPr>
            <p:ph type="title"/>
          </p:nvPr>
        </p:nvSpPr>
        <p:spPr>
          <a:xfrm>
            <a:off x="612000" y="144000"/>
            <a:ext cx="7920000" cy="341632"/>
          </a:xfrm>
        </p:spPr>
        <p:txBody>
          <a:bodyPr/>
          <a:lstStyle/>
          <a:p>
            <a:r>
              <a:rPr lang="en-US" altLang="zh-CN" dirty="0"/>
              <a:t>1.3.1  </a:t>
            </a:r>
            <a:r>
              <a:rPr lang="zh-CN" altLang="en-US" dirty="0"/>
              <a:t>互联网的边缘部分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处在互联网边缘部分的就是连接在互联网上的所有的主机</a:t>
            </a:r>
            <a:endParaRPr lang="en-US" altLang="zh-CN" dirty="0"/>
          </a:p>
          <a:p>
            <a:r>
              <a:rPr lang="zh-CN" altLang="en-US" dirty="0"/>
              <a:t>这些主机又称为端系统 </a:t>
            </a:r>
            <a:r>
              <a:rPr lang="en-US" altLang="zh-CN" dirty="0"/>
              <a:t>(End system)</a:t>
            </a:r>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endParaRPr lang="zh-CN" altLang="en-US" dirty="0"/>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01A88-0BF5-8DFD-BDDB-6E9BEA6E7C7B}"/>
              </a:ext>
            </a:extLst>
          </p:cNvPr>
          <p:cNvSpPr>
            <a:spLocks noGrp="1"/>
          </p:cNvSpPr>
          <p:nvPr>
            <p:ph type="title"/>
          </p:nvPr>
        </p:nvSpPr>
        <p:spPr>
          <a:xfrm>
            <a:off x="612000" y="144000"/>
            <a:ext cx="7920000" cy="341632"/>
          </a:xfrm>
        </p:spPr>
        <p:txBody>
          <a:bodyPr/>
          <a:lstStyle/>
          <a:p>
            <a:r>
              <a:rPr lang="en-US" altLang="zh-CN"/>
              <a:t>1.3.1  </a:t>
            </a:r>
            <a:r>
              <a:rPr lang="zh-CN" altLang="en-US"/>
              <a:t>互联网的边缘部分</a:t>
            </a:r>
            <a:endParaRPr lang="zh-CN" altLang="en-US" dirty="0"/>
          </a:p>
        </p:txBody>
      </p:sp>
      <p:sp>
        <p:nvSpPr>
          <p:cNvPr id="6" name="Oval 4"/>
          <p:cNvSpPr>
            <a:spLocks noChangeArrowheads="1"/>
          </p:cNvSpPr>
          <p:nvPr/>
        </p:nvSpPr>
        <p:spPr bwMode="auto">
          <a:xfrm>
            <a:off x="1816197"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831904"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 name="Text Box 78"/>
          <p:cNvSpPr txBox="1">
            <a:spLocks noChangeArrowheads="1"/>
          </p:cNvSpPr>
          <p:nvPr/>
        </p:nvSpPr>
        <p:spPr bwMode="auto">
          <a:xfrm>
            <a:off x="4142075" y="2664631"/>
            <a:ext cx="1826457" cy="338560"/>
          </a:xfrm>
          <a:prstGeom prst="rect">
            <a:avLst/>
          </a:prstGeom>
          <a:noFill/>
        </p:spPr>
        <p:txBody>
          <a:bodyPr wrap="none" rtlCol="0">
            <a:spAutoFit/>
          </a:bodyPr>
          <a:lstStyle>
            <a:defPPr>
              <a:defRPr lang="zh-CN"/>
            </a:defPPr>
            <a:lvl1pPr>
              <a:defRPr sz="1600"/>
            </a:lvl1pPr>
          </a:lstStyle>
          <a:p>
            <a:r>
              <a:rPr lang="zh-CN" altLang="en-US" dirty="0">
                <a:solidFill>
                  <a:srgbClr val="D4237A"/>
                </a:solidFill>
              </a:rPr>
              <a:t>互联网的核心部分</a:t>
            </a:r>
          </a:p>
        </p:txBody>
      </p:sp>
      <p:sp>
        <p:nvSpPr>
          <p:cNvPr id="12" name="Text Box 1523"/>
          <p:cNvSpPr txBox="1">
            <a:spLocks noChangeArrowheads="1"/>
          </p:cNvSpPr>
          <p:nvPr/>
        </p:nvSpPr>
        <p:spPr bwMode="auto">
          <a:xfrm>
            <a:off x="2831904" y="2222335"/>
            <a:ext cx="543739" cy="276999"/>
          </a:xfrm>
          <a:prstGeom prst="rect">
            <a:avLst/>
          </a:prstGeom>
          <a:noFill/>
        </p:spPr>
        <p:txBody>
          <a:bodyPr wrap="none" rtlCol="0">
            <a:spAutoFit/>
          </a:bodyPr>
          <a:lstStyle>
            <a:defPPr>
              <a:defRPr lang="zh-CN"/>
            </a:defPPr>
            <a:lvl1pPr>
              <a:defRPr sz="1600"/>
            </a:lvl1pPr>
          </a:lstStyle>
          <a:p>
            <a:r>
              <a:rPr lang="en-US" altLang="zh-CN" sz="1200" dirty="0"/>
              <a:t>Host</a:t>
            </a:r>
            <a:endParaRPr lang="zh-CN" altLang="en-US" sz="1200" dirty="0"/>
          </a:p>
        </p:txBody>
      </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2926"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51462"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48879"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765160" y="3126229"/>
            <a:ext cx="800220" cy="338554"/>
          </a:xfrm>
          <a:prstGeom prst="rect">
            <a:avLst/>
          </a:prstGeom>
          <a:noFill/>
        </p:spPr>
        <p:txBody>
          <a:bodyPr wrap="none" rtlCol="0">
            <a:spAutoFit/>
          </a:bodyPr>
          <a:lstStyle>
            <a:defPPr>
              <a:defRPr lang="zh-CN"/>
            </a:defPPr>
            <a:lvl1pPr>
              <a:defRPr sz="1600"/>
            </a:lvl1pPr>
          </a:lstStyle>
          <a:p>
            <a:r>
              <a:rPr lang="zh-CN" altLang="en-US" dirty="0"/>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6230" y="3779710"/>
            <a:ext cx="1427543" cy="545087"/>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83457" y="2617899"/>
            <a:ext cx="254205" cy="401323"/>
          </a:xfrm>
          <a:prstGeom prst="rect">
            <a:avLst/>
          </a:prstGeom>
        </p:spPr>
      </p:pic>
      <p:sp>
        <p:nvSpPr>
          <p:cNvPr id="21" name="Text Box 1523"/>
          <p:cNvSpPr txBox="1">
            <a:spLocks noChangeArrowheads="1"/>
          </p:cNvSpPr>
          <p:nvPr/>
        </p:nvSpPr>
        <p:spPr bwMode="auto">
          <a:xfrm>
            <a:off x="2267139" y="2987729"/>
            <a:ext cx="1199367" cy="276999"/>
          </a:xfrm>
          <a:prstGeom prst="rect">
            <a:avLst/>
          </a:prstGeom>
          <a:noFill/>
        </p:spPr>
        <p:txBody>
          <a:bodyPr wrap="none" rtlCol="0">
            <a:spAutoFit/>
          </a:bodyPr>
          <a:lstStyle>
            <a:defPPr>
              <a:defRPr lang="zh-CN"/>
            </a:defPPr>
            <a:lvl1pPr>
              <a:defRPr sz="1600"/>
            </a:lvl1pPr>
          </a:lstStyle>
          <a:p>
            <a:r>
              <a:rPr lang="en-US" altLang="zh-CN" sz="1200" dirty="0"/>
              <a:t>Smart phone</a:t>
            </a:r>
            <a:endParaRPr lang="zh-CN" altLang="en-US" sz="1200" dirty="0"/>
          </a:p>
        </p:txBody>
      </p:sp>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24999" y="3249528"/>
            <a:ext cx="350861" cy="467814"/>
          </a:xfrm>
          <a:prstGeom prst="rect">
            <a:avLst/>
          </a:prstGeom>
        </p:spPr>
      </p:pic>
      <p:sp>
        <p:nvSpPr>
          <p:cNvPr id="24" name="Text Box 1523"/>
          <p:cNvSpPr txBox="1">
            <a:spLocks noChangeArrowheads="1"/>
          </p:cNvSpPr>
          <p:nvPr/>
        </p:nvSpPr>
        <p:spPr bwMode="auto">
          <a:xfrm>
            <a:off x="2866823" y="3335509"/>
            <a:ext cx="795411" cy="276999"/>
          </a:xfrm>
          <a:prstGeom prst="rect">
            <a:avLst/>
          </a:prstGeom>
          <a:noFill/>
        </p:spPr>
        <p:txBody>
          <a:bodyPr wrap="none" rtlCol="0">
            <a:spAutoFit/>
          </a:bodyPr>
          <a:lstStyle>
            <a:defPPr>
              <a:defRPr lang="zh-CN"/>
            </a:defPPr>
            <a:lvl1pPr>
              <a:defRPr sz="1600"/>
            </a:lvl1pPr>
          </a:lstStyle>
          <a:p>
            <a:r>
              <a:rPr lang="en-US" altLang="zh-CN" sz="1200" dirty="0"/>
              <a:t>Camera</a:t>
            </a:r>
            <a:endParaRPr lang="zh-CN" altLang="en-US" sz="1200" dirty="0"/>
          </a:p>
        </p:txBody>
      </p:sp>
      <p:sp>
        <p:nvSpPr>
          <p:cNvPr id="25" name="Text Box 1523"/>
          <p:cNvSpPr txBox="1">
            <a:spLocks noChangeArrowheads="1"/>
          </p:cNvSpPr>
          <p:nvPr/>
        </p:nvSpPr>
        <p:spPr bwMode="auto">
          <a:xfrm>
            <a:off x="3680179" y="3570056"/>
            <a:ext cx="1544012" cy="276999"/>
          </a:xfrm>
          <a:prstGeom prst="rect">
            <a:avLst/>
          </a:prstGeom>
          <a:noFill/>
        </p:spPr>
        <p:txBody>
          <a:bodyPr wrap="none" rtlCol="0">
            <a:spAutoFit/>
          </a:bodyPr>
          <a:lstStyle>
            <a:defPPr>
              <a:defRPr lang="zh-CN"/>
            </a:defPPr>
            <a:lvl1pPr>
              <a:defRPr sz="1600"/>
            </a:lvl1pPr>
          </a:lstStyle>
          <a:p>
            <a:r>
              <a:rPr lang="en-US" altLang="zh-CN" sz="1200" dirty="0"/>
              <a:t>Cluster computer</a:t>
            </a:r>
            <a:endParaRPr lang="zh-CN" altLang="en-US" sz="1200" dirty="0"/>
          </a:p>
        </p:txBody>
      </p:sp>
      <p:cxnSp>
        <p:nvCxnSpPr>
          <p:cNvPr id="26" name="直接箭头连接符 25"/>
          <p:cNvCxnSpPr>
            <a:cxnSpLocks/>
            <a:stCxn id="17" idx="3"/>
          </p:cNvCxnSpPr>
          <p:nvPr/>
        </p:nvCxnSpPr>
        <p:spPr>
          <a:xfrm flipV="1">
            <a:off x="1565380"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cxnSpLocks/>
            <a:stCxn id="17" idx="3"/>
          </p:cNvCxnSpPr>
          <p:nvPr/>
        </p:nvCxnSpPr>
        <p:spPr>
          <a:xfrm flipV="1">
            <a:off x="1565380"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cxnSpLocks/>
            <a:stCxn id="17" idx="3"/>
          </p:cNvCxnSpPr>
          <p:nvPr/>
        </p:nvCxnSpPr>
        <p:spPr>
          <a:xfrm>
            <a:off x="1565380"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cxnSpLocks/>
            <a:stCxn id="17" idx="3"/>
          </p:cNvCxnSpPr>
          <p:nvPr/>
        </p:nvCxnSpPr>
        <p:spPr>
          <a:xfrm>
            <a:off x="1565380"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1984"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964089" y="3088127"/>
            <a:ext cx="651140" cy="276999"/>
          </a:xfrm>
          <a:prstGeom prst="rect">
            <a:avLst/>
          </a:prstGeom>
          <a:noFill/>
        </p:spPr>
        <p:txBody>
          <a:bodyPr wrap="none" rtlCol="0">
            <a:spAutoFit/>
          </a:bodyPr>
          <a:lstStyle>
            <a:defPPr>
              <a:defRPr lang="zh-CN"/>
            </a:defPPr>
            <a:lvl1pPr>
              <a:defRPr sz="1200"/>
            </a:lvl1pPr>
          </a:lstStyle>
          <a:p>
            <a:r>
              <a:rPr lang="en-US" altLang="zh-CN" dirty="0"/>
              <a:t>server</a:t>
            </a:r>
            <a:endParaRPr lang="zh-CN" altLang="en-US" dirty="0"/>
          </a:p>
        </p:txBody>
      </p:sp>
      <p:sp>
        <p:nvSpPr>
          <p:cNvPr id="4" name="文本框 3">
            <a:extLst>
              <a:ext uri="{FF2B5EF4-FFF2-40B4-BE49-F238E27FC236}">
                <a16:creationId xmlns:a16="http://schemas.microsoft.com/office/drawing/2014/main" id="{99DCC474-7C6F-5D7F-0DA9-A5A8C59754DE}"/>
              </a:ext>
            </a:extLst>
          </p:cNvPr>
          <p:cNvSpPr txBox="1"/>
          <p:nvPr/>
        </p:nvSpPr>
        <p:spPr>
          <a:xfrm>
            <a:off x="4110702" y="1531841"/>
            <a:ext cx="1826141" cy="338554"/>
          </a:xfrm>
          <a:prstGeom prst="rect">
            <a:avLst/>
          </a:prstGeom>
          <a:noFill/>
        </p:spPr>
        <p:txBody>
          <a:bodyPr wrap="none" rtlCol="0">
            <a:spAutoFit/>
          </a:bodyPr>
          <a:lstStyle/>
          <a:p>
            <a:pPr algn="l"/>
            <a:r>
              <a:rPr lang="zh-CN" altLang="en-US" sz="1600" dirty="0"/>
              <a:t>互联网的边缘部分</a:t>
            </a:r>
          </a:p>
        </p:txBody>
      </p:sp>
      <p:pic>
        <p:nvPicPr>
          <p:cNvPr id="52" name="Picture 121" descr="jisuanji">
            <a:extLst>
              <a:ext uri="{FF2B5EF4-FFF2-40B4-BE49-F238E27FC236}">
                <a16:creationId xmlns:a16="http://schemas.microsoft.com/office/drawing/2014/main" id="{BED9DCCD-71E4-BE6B-2DB6-57522FA102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8823" y="196619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26EC129-A34E-1605-4612-C7EBE5017EBF}"/>
              </a:ext>
            </a:extLst>
          </p:cNvPr>
          <p:cNvSpPr>
            <a:spLocks noGrp="1"/>
          </p:cNvSpPr>
          <p:nvPr>
            <p:ph type="title"/>
          </p:nvPr>
        </p:nvSpPr>
        <p:spPr>
          <a:xfrm>
            <a:off x="612000" y="144000"/>
            <a:ext cx="7920000" cy="341632"/>
          </a:xfrm>
        </p:spPr>
        <p:txBody>
          <a:bodyPr/>
          <a:lstStyle/>
          <a:p>
            <a:r>
              <a:rPr lang="zh-CN" altLang="en-US" dirty="0"/>
              <a:t>计算机之间的通信</a:t>
            </a:r>
          </a:p>
        </p:txBody>
      </p:sp>
      <p:sp>
        <p:nvSpPr>
          <p:cNvPr id="9" name="内容占位符 8">
            <a:extLst>
              <a:ext uri="{FF2B5EF4-FFF2-40B4-BE49-F238E27FC236}">
                <a16:creationId xmlns:a16="http://schemas.microsoft.com/office/drawing/2014/main" id="{79AD1C3D-5EA6-BBCA-A89B-C7B7D9AAAACC}"/>
              </a:ext>
            </a:extLst>
          </p:cNvPr>
          <p:cNvSpPr>
            <a:spLocks noGrp="1"/>
          </p:cNvSpPr>
          <p:nvPr>
            <p:ph sz="quarter" idx="10"/>
          </p:nvPr>
        </p:nvSpPr>
        <p:spPr>
          <a:xfrm>
            <a:off x="612000" y="899999"/>
            <a:ext cx="7920000" cy="3780000"/>
          </a:xfrm>
        </p:spPr>
        <p:txBody>
          <a:bodyPr/>
          <a:lstStyle/>
          <a:p>
            <a:r>
              <a:rPr lang="zh-CN" altLang="en-US" dirty="0"/>
              <a:t>主机 </a:t>
            </a:r>
            <a:r>
              <a:rPr lang="en-US" altLang="zh-CN" dirty="0"/>
              <a:t>A </a:t>
            </a:r>
            <a:r>
              <a:rPr lang="zh-CN" altLang="en-US" dirty="0"/>
              <a:t>的某个进程和主机 </a:t>
            </a:r>
            <a:r>
              <a:rPr lang="en-US" altLang="zh-CN" dirty="0"/>
              <a:t>B </a:t>
            </a:r>
            <a:r>
              <a:rPr lang="zh-CN" altLang="en-US" dirty="0"/>
              <a:t>上的另一个进程进行通信</a:t>
            </a:r>
            <a:endParaRPr lang="en-US" altLang="zh-CN" dirty="0"/>
          </a:p>
          <a:p>
            <a:r>
              <a:rPr lang="zh-CN" altLang="en-US" dirty="0"/>
              <a:t>客户</a:t>
            </a:r>
            <a:r>
              <a:rPr lang="en-US" altLang="zh-CN" dirty="0"/>
              <a:t>/</a:t>
            </a:r>
            <a:r>
              <a:rPr lang="zh-CN" altLang="en-US" dirty="0"/>
              <a:t>服务器方式</a:t>
            </a:r>
            <a:endParaRPr lang="en-US" altLang="zh-CN" dirty="0"/>
          </a:p>
          <a:p>
            <a:pPr lvl="1"/>
            <a:r>
              <a:rPr lang="en-US" altLang="en-US" dirty="0"/>
              <a:t>Client / Server </a:t>
            </a:r>
            <a:r>
              <a:rPr lang="zh-CN" altLang="en-US" dirty="0"/>
              <a:t>方式</a:t>
            </a:r>
          </a:p>
          <a:p>
            <a:pPr lvl="1"/>
            <a:r>
              <a:rPr lang="zh-CN" altLang="en-US" dirty="0"/>
              <a:t>简称为 </a:t>
            </a:r>
            <a:r>
              <a:rPr lang="en-US" altLang="en-US" dirty="0"/>
              <a:t>C/S </a:t>
            </a:r>
            <a:r>
              <a:rPr lang="zh-CN" altLang="en-US" dirty="0"/>
              <a:t>方式</a:t>
            </a:r>
            <a:endParaRPr lang="en-US" altLang="zh-CN" dirty="0"/>
          </a:p>
          <a:p>
            <a:r>
              <a:rPr lang="zh-CN" altLang="en-US" dirty="0"/>
              <a:t>对等方式</a:t>
            </a:r>
            <a:endParaRPr lang="en-US" altLang="zh-CN" dirty="0"/>
          </a:p>
          <a:p>
            <a:pPr lvl="1"/>
            <a:r>
              <a:rPr lang="en-US" altLang="en-US" dirty="0"/>
              <a:t>Peer to Peer </a:t>
            </a:r>
            <a:r>
              <a:rPr lang="zh-CN" altLang="en-US" dirty="0"/>
              <a:t>方式</a:t>
            </a:r>
          </a:p>
          <a:p>
            <a:pPr lvl="1"/>
            <a:r>
              <a:rPr lang="zh-CN" altLang="en-US" dirty="0"/>
              <a:t>简称为 </a:t>
            </a:r>
            <a:r>
              <a:rPr lang="en-US" altLang="en-US" dirty="0"/>
              <a:t>P2P </a:t>
            </a:r>
            <a:r>
              <a:rPr lang="zh-CN" altLang="en-US" dirty="0"/>
              <a:t>方式</a:t>
            </a:r>
          </a:p>
          <a:p>
            <a:endParaRPr lang="zh-CN" altLang="en-US" dirty="0"/>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标题 48">
            <a:extLst>
              <a:ext uri="{FF2B5EF4-FFF2-40B4-BE49-F238E27FC236}">
                <a16:creationId xmlns:a16="http://schemas.microsoft.com/office/drawing/2014/main" id="{7473853B-CCA5-A640-1482-936A2880FD96}"/>
              </a:ext>
            </a:extLst>
          </p:cNvPr>
          <p:cNvSpPr>
            <a:spLocks noGrp="1"/>
          </p:cNvSpPr>
          <p:nvPr>
            <p:ph type="title"/>
          </p:nvPr>
        </p:nvSpPr>
        <p:spPr>
          <a:xfrm>
            <a:off x="612000" y="144000"/>
            <a:ext cx="7920000" cy="341632"/>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endParaRPr lang="en-US" altLang="zh-CN" dirty="0"/>
          </a:p>
          <a:p>
            <a:r>
              <a:rPr lang="zh-CN" altLang="zh-CN" dirty="0"/>
              <a:t>通信可以是双向的，客户和服务器都可发送和接收数据</a:t>
            </a:r>
            <a:endParaRPr lang="zh-CN" altLang="en-US" dirty="0"/>
          </a:p>
          <a:p>
            <a:endParaRPr lang="zh-CN" altLang="en-US" dirty="0"/>
          </a:p>
        </p:txBody>
      </p:sp>
      <p:sp>
        <p:nvSpPr>
          <p:cNvPr id="5" name="Oval 4"/>
          <p:cNvSpPr>
            <a:spLocks noChangeArrowheads="1"/>
          </p:cNvSpPr>
          <p:nvPr/>
        </p:nvSpPr>
        <p:spPr bwMode="auto">
          <a:xfrm>
            <a:off x="2451917" y="2067071"/>
            <a:ext cx="4240165" cy="2730500"/>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7" name="Line 6"/>
          <p:cNvSpPr>
            <a:spLocks noChangeShapeType="1"/>
          </p:cNvSpPr>
          <p:nvPr/>
        </p:nvSpPr>
        <p:spPr bwMode="auto">
          <a:xfrm flipH="1" flipV="1">
            <a:off x="2947331" y="3328926"/>
            <a:ext cx="599424" cy="668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flipH="1">
            <a:off x="5350693" y="3522809"/>
            <a:ext cx="576263"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flipH="1">
            <a:off x="4926831" y="2317896"/>
            <a:ext cx="503237" cy="722313"/>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flipH="1" flipV="1">
            <a:off x="4866506" y="3795859"/>
            <a:ext cx="320675" cy="3683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1" name="Line 10"/>
          <p:cNvSpPr>
            <a:spLocks noChangeShapeType="1"/>
          </p:cNvSpPr>
          <p:nvPr/>
        </p:nvSpPr>
        <p:spPr bwMode="auto">
          <a:xfrm>
            <a:off x="3725093" y="2411559"/>
            <a:ext cx="320675" cy="53022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2" name="Line 11"/>
          <p:cNvSpPr>
            <a:spLocks noChangeShapeType="1"/>
          </p:cNvSpPr>
          <p:nvPr/>
        </p:nvSpPr>
        <p:spPr bwMode="auto">
          <a:xfrm flipV="1">
            <a:off x="3910831" y="3737121"/>
            <a:ext cx="166687" cy="46037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3" name="Text Box 16"/>
          <p:cNvSpPr txBox="1">
            <a:spLocks noChangeArrowheads="1"/>
          </p:cNvSpPr>
          <p:nvPr/>
        </p:nvSpPr>
        <p:spPr bwMode="auto">
          <a:xfrm>
            <a:off x="2379863" y="2478397"/>
            <a:ext cx="11949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400"/>
            </a:lvl1pPr>
          </a:lstStyle>
          <a:p>
            <a:r>
              <a:rPr lang="en-US" altLang="zh-CN" sz="800" dirty="0"/>
              <a:t>Client</a:t>
            </a:r>
            <a:endParaRPr lang="zh-CN" altLang="en-US" sz="800" dirty="0"/>
          </a:p>
          <a:p>
            <a:r>
              <a:rPr lang="zh-CN" altLang="en-US" sz="800" dirty="0"/>
              <a:t>运行客户程序</a:t>
            </a:r>
          </a:p>
        </p:txBody>
      </p:sp>
      <p:grpSp>
        <p:nvGrpSpPr>
          <p:cNvPr id="14" name="Group 18"/>
          <p:cNvGrpSpPr/>
          <p:nvPr/>
        </p:nvGrpSpPr>
        <p:grpSpPr bwMode="auto">
          <a:xfrm>
            <a:off x="3350900" y="2518162"/>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grpSp>
      <p:sp>
        <p:nvSpPr>
          <p:cNvPr id="24" name="Text Box 28"/>
          <p:cNvSpPr txBox="1">
            <a:spLocks noChangeArrowheads="1"/>
          </p:cNvSpPr>
          <p:nvPr/>
        </p:nvSpPr>
        <p:spPr bwMode="auto">
          <a:xfrm>
            <a:off x="4104506" y="2235164"/>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25" name="Text Box 29"/>
          <p:cNvSpPr txBox="1">
            <a:spLocks noChangeArrowheads="1"/>
          </p:cNvSpPr>
          <p:nvPr/>
        </p:nvSpPr>
        <p:spPr bwMode="auto">
          <a:xfrm>
            <a:off x="4159022" y="3662490"/>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26" name="Text Box 31"/>
          <p:cNvSpPr txBox="1">
            <a:spLocks noChangeArrowheads="1"/>
          </p:cNvSpPr>
          <p:nvPr/>
        </p:nvSpPr>
        <p:spPr bwMode="auto">
          <a:xfrm>
            <a:off x="5914259" y="2384587"/>
            <a:ext cx="9000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en-US" altLang="zh-CN" sz="800" dirty="0"/>
              <a:t>Server</a:t>
            </a:r>
            <a:endParaRPr lang="zh-CN" altLang="en-US" sz="800" dirty="0"/>
          </a:p>
          <a:p>
            <a:r>
              <a:rPr lang="zh-CN" altLang="en-US" sz="800" dirty="0"/>
              <a:t>运行服务器程序</a:t>
            </a:r>
          </a:p>
        </p:txBody>
      </p:sp>
      <p:sp>
        <p:nvSpPr>
          <p:cNvPr id="27" name="Line 33"/>
          <p:cNvSpPr>
            <a:spLocks noChangeShapeType="1"/>
          </p:cNvSpPr>
          <p:nvPr/>
        </p:nvSpPr>
        <p:spPr bwMode="auto">
          <a:xfrm>
            <a:off x="2745490" y="2801934"/>
            <a:ext cx="45854" cy="298962"/>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8" name="Line 34"/>
          <p:cNvSpPr>
            <a:spLocks noChangeShapeType="1"/>
          </p:cNvSpPr>
          <p:nvPr/>
        </p:nvSpPr>
        <p:spPr bwMode="auto">
          <a:xfrm flipH="1">
            <a:off x="6244088" y="2696096"/>
            <a:ext cx="175417" cy="172166"/>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9" name="Text Box 35"/>
          <p:cNvSpPr txBox="1">
            <a:spLocks noChangeArrowheads="1"/>
          </p:cNvSpPr>
          <p:nvPr/>
        </p:nvSpPr>
        <p:spPr bwMode="auto">
          <a:xfrm>
            <a:off x="2722769" y="2801934"/>
            <a:ext cx="27764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A</a:t>
            </a:r>
          </a:p>
        </p:txBody>
      </p:sp>
      <p:sp>
        <p:nvSpPr>
          <p:cNvPr id="30" name="Text Box 36"/>
          <p:cNvSpPr txBox="1">
            <a:spLocks noChangeArrowheads="1"/>
          </p:cNvSpPr>
          <p:nvPr/>
        </p:nvSpPr>
        <p:spPr bwMode="auto">
          <a:xfrm>
            <a:off x="6050279" y="2641756"/>
            <a:ext cx="26962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B</a:t>
            </a:r>
          </a:p>
        </p:txBody>
      </p:sp>
      <p:sp>
        <p:nvSpPr>
          <p:cNvPr id="32" name="Freeform 32"/>
          <p:cNvSpPr/>
          <p:nvPr/>
        </p:nvSpPr>
        <p:spPr bwMode="auto">
          <a:xfrm rot="60000">
            <a:off x="3167881" y="3087402"/>
            <a:ext cx="2667000" cy="165523"/>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33" name="Text Box 39"/>
          <p:cNvSpPr txBox="1">
            <a:spLocks noChangeArrowheads="1"/>
          </p:cNvSpPr>
          <p:nvPr/>
        </p:nvSpPr>
        <p:spPr bwMode="auto">
          <a:xfrm rot="240000">
            <a:off x="4202089" y="2893394"/>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① </a:t>
            </a:r>
            <a:r>
              <a:rPr kumimoji="1" lang="zh-CN" altLang="en-US" sz="800" b="1" dirty="0">
                <a:solidFill>
                  <a:srgbClr val="CC00CC"/>
                </a:solidFill>
                <a:latin typeface="微软雅黑" panose="020B0503020204020204" pitchFamily="34" charset="-122"/>
                <a:ea typeface="微软雅黑" panose="020B0503020204020204" pitchFamily="34" charset="-122"/>
              </a:rPr>
              <a:t>请求服务</a:t>
            </a:r>
          </a:p>
        </p:txBody>
      </p:sp>
      <p:pic>
        <p:nvPicPr>
          <p:cNvPr id="42" name="图片 3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9168" y="282748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6431752" y="3840181"/>
            <a:ext cx="2087032"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400" dirty="0"/>
              <a:t>客户 </a:t>
            </a:r>
            <a:r>
              <a:rPr lang="en-US" altLang="zh-CN" sz="1400" dirty="0"/>
              <a:t>A </a:t>
            </a:r>
            <a:r>
              <a:rPr lang="zh-CN" altLang="en-US" sz="1400" dirty="0"/>
              <a:t>向服务器 </a:t>
            </a:r>
            <a:r>
              <a:rPr lang="en-US" altLang="zh-CN" sz="1400" dirty="0"/>
              <a:t>B </a:t>
            </a:r>
            <a:r>
              <a:rPr lang="zh-CN" altLang="en-US" sz="1400" dirty="0"/>
              <a:t>发出请求服务，</a:t>
            </a:r>
            <a:endParaRPr lang="en-US" altLang="zh-CN" sz="1400" dirty="0"/>
          </a:p>
          <a:p>
            <a:r>
              <a:rPr lang="zh-CN" altLang="en-US" sz="1400" dirty="0"/>
              <a:t>服务器 </a:t>
            </a:r>
            <a:r>
              <a:rPr lang="en-US" altLang="zh-CN" sz="1400" dirty="0"/>
              <a:t>B </a:t>
            </a:r>
            <a:r>
              <a:rPr lang="zh-CN" altLang="en-US" sz="1400" dirty="0"/>
              <a:t>向客户 </a:t>
            </a:r>
            <a:r>
              <a:rPr lang="en-US" altLang="zh-CN" sz="1400" dirty="0"/>
              <a:t>A </a:t>
            </a:r>
            <a:r>
              <a:rPr lang="zh-CN" altLang="en-US" sz="1400" dirty="0"/>
              <a:t>提供服务。</a:t>
            </a:r>
          </a:p>
        </p:txBody>
      </p:sp>
      <p:sp>
        <p:nvSpPr>
          <p:cNvPr id="45" name="Text Box 40"/>
          <p:cNvSpPr txBox="1">
            <a:spLocks noChangeArrowheads="1"/>
          </p:cNvSpPr>
          <p:nvPr/>
        </p:nvSpPr>
        <p:spPr bwMode="auto">
          <a:xfrm rot="240000">
            <a:off x="4165917" y="3403873"/>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② </a:t>
            </a:r>
            <a:r>
              <a:rPr kumimoji="1" lang="zh-CN" altLang="en-US" sz="8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740000">
            <a:off x="3119095" y="3259563"/>
            <a:ext cx="2665413" cy="22621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4" name="图片 3">
            <a:extLst>
              <a:ext uri="{FF2B5EF4-FFF2-40B4-BE49-F238E27FC236}">
                <a16:creationId xmlns:a16="http://schemas.microsoft.com/office/drawing/2014/main" id="{D51DA845-4B9A-1C16-02CB-CA95AB439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91908" y="2220827"/>
            <a:ext cx="323850" cy="304800"/>
          </a:xfrm>
          <a:prstGeom prst="rect">
            <a:avLst/>
          </a:prstGeom>
        </p:spPr>
      </p:pic>
      <p:pic>
        <p:nvPicPr>
          <p:cNvPr id="31" name="图片 30">
            <a:extLst>
              <a:ext uri="{FF2B5EF4-FFF2-40B4-BE49-F238E27FC236}">
                <a16:creationId xmlns:a16="http://schemas.microsoft.com/office/drawing/2014/main" id="{3FC7CC7C-4AF9-3414-B916-F34AECB025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3932" y="2149220"/>
            <a:ext cx="323850" cy="304800"/>
          </a:xfrm>
          <a:prstGeom prst="rect">
            <a:avLst/>
          </a:prstGeom>
        </p:spPr>
      </p:pic>
      <p:pic>
        <p:nvPicPr>
          <p:cNvPr id="35" name="图片 34">
            <a:extLst>
              <a:ext uri="{FF2B5EF4-FFF2-40B4-BE49-F238E27FC236}">
                <a16:creationId xmlns:a16="http://schemas.microsoft.com/office/drawing/2014/main" id="{FC32718D-4D7A-F280-171B-B3C7EC7248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44685" y="3016700"/>
            <a:ext cx="323850" cy="304800"/>
          </a:xfrm>
          <a:prstGeom prst="rect">
            <a:avLst/>
          </a:prstGeom>
        </p:spPr>
      </p:pic>
      <p:pic>
        <p:nvPicPr>
          <p:cNvPr id="44" name="图片 43">
            <a:extLst>
              <a:ext uri="{FF2B5EF4-FFF2-40B4-BE49-F238E27FC236}">
                <a16:creationId xmlns:a16="http://schemas.microsoft.com/office/drawing/2014/main" id="{758A5F0B-E9C5-8387-1A47-6D66B06A6B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92547" y="4139446"/>
            <a:ext cx="323850" cy="304800"/>
          </a:xfrm>
          <a:prstGeom prst="rect">
            <a:avLst/>
          </a:prstGeom>
        </p:spPr>
      </p:pic>
      <p:pic>
        <p:nvPicPr>
          <p:cNvPr id="48" name="图片 47">
            <a:extLst>
              <a:ext uri="{FF2B5EF4-FFF2-40B4-BE49-F238E27FC236}">
                <a16:creationId xmlns:a16="http://schemas.microsoft.com/office/drawing/2014/main" id="{DF6F2373-E79E-C42B-698E-0ECBC80442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2067" y="4075791"/>
            <a:ext cx="323850" cy="304800"/>
          </a:xfrm>
          <a:prstGeom prst="rect">
            <a:avLst/>
          </a:prstGeom>
        </p:spPr>
      </p:pic>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D92D599-A52F-05D9-73BE-66E327A5ED3D}"/>
              </a:ext>
            </a:extLst>
          </p:cNvPr>
          <p:cNvSpPr>
            <a:spLocks noGrp="1"/>
          </p:cNvSpPr>
          <p:nvPr>
            <p:ph type="title"/>
          </p:nvPr>
        </p:nvSpPr>
        <p:spPr>
          <a:xfrm>
            <a:off x="612000" y="144000"/>
            <a:ext cx="7920000" cy="341632"/>
          </a:xfrm>
        </p:spPr>
        <p:txBody>
          <a:bodyPr/>
          <a:lstStyle/>
          <a:p>
            <a:r>
              <a:rPr lang="zh-CN" altLang="en-US" dirty="0"/>
              <a:t>客户程序和服务器程序主要特点</a:t>
            </a:r>
          </a:p>
        </p:txBody>
      </p:sp>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612000" y="899999"/>
            <a:ext cx="7920000" cy="3780000"/>
          </a:xfrm>
        </p:spPr>
        <p:txBody>
          <a:bodyPr>
            <a:normAutofit/>
          </a:bodyPr>
          <a:lstStyle/>
          <a:p>
            <a:r>
              <a:rPr lang="zh-CN" altLang="en-US" dirty="0"/>
              <a:t>客户程序</a:t>
            </a:r>
            <a:endParaRPr lang="en-US" altLang="zh-CN" dirty="0"/>
          </a:p>
          <a:p>
            <a:pPr lvl="1"/>
            <a:r>
              <a:rPr lang="zh-CN" altLang="en-US" dirty="0"/>
              <a:t>被用户调用后运行，需主动向远地服务器发起通信（请求服务 </a:t>
            </a:r>
            <a:r>
              <a:rPr lang="en-US" altLang="zh-CN" dirty="0"/>
              <a:t>- Request</a:t>
            </a:r>
            <a:r>
              <a:rPr lang="zh-CN" altLang="en-US" dirty="0"/>
              <a:t>）</a:t>
            </a:r>
            <a:endParaRPr lang="en-US" altLang="zh-CN" dirty="0"/>
          </a:p>
          <a:p>
            <a:pPr lvl="1"/>
            <a:r>
              <a:rPr lang="zh-CN" altLang="en-US" dirty="0"/>
              <a:t>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专门用来提供某种服务的程序，可同时处理多个客户请求（响应服务 </a:t>
            </a:r>
            <a:r>
              <a:rPr lang="en-US" altLang="zh-CN" dirty="0"/>
              <a:t>- Response</a:t>
            </a:r>
            <a:r>
              <a:rPr lang="zh-CN" altLang="en-US" dirty="0"/>
              <a:t>）</a:t>
            </a:r>
          </a:p>
          <a:p>
            <a:pPr lvl="1"/>
            <a:r>
              <a:rPr lang="zh-CN" altLang="en-US" dirty="0"/>
              <a:t>一直不断地运行着，被动地等待并接受来自各地的客户的通信请求</a:t>
            </a:r>
            <a:endParaRPr lang="en-US" altLang="zh-CN" dirty="0"/>
          </a:p>
          <a:p>
            <a:pPr lvl="1"/>
            <a:r>
              <a:rPr lang="zh-CN" altLang="en-US" dirty="0"/>
              <a:t>不需要知道客户程序的地址</a:t>
            </a:r>
          </a:p>
          <a:p>
            <a:pPr lvl="1"/>
            <a:r>
              <a:rPr lang="zh-CN" altLang="en-US" dirty="0"/>
              <a:t>一般需要强大的硬件和高级的操作系统支持</a:t>
            </a:r>
          </a:p>
          <a:p>
            <a:endParaRPr lang="zh-CN" altLang="en-US" dirty="0"/>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B27532-2D9B-76A7-7192-C773EC70233C}"/>
              </a:ext>
            </a:extLst>
          </p:cNvPr>
          <p:cNvSpPr>
            <a:spLocks noGrp="1"/>
          </p:cNvSpPr>
          <p:nvPr>
            <p:ph type="title"/>
          </p:nvPr>
        </p:nvSpPr>
        <p:spPr>
          <a:xfrm>
            <a:off x="612000" y="144000"/>
            <a:ext cx="7920000" cy="341632"/>
          </a:xfrm>
        </p:spPr>
        <p:txBody>
          <a:bodyPr/>
          <a:lstStyle/>
          <a:p>
            <a:r>
              <a:rPr lang="en-US" altLang="zh-CN" dirty="0"/>
              <a:t>2. </a:t>
            </a:r>
            <a:r>
              <a:rPr lang="zh-CN" altLang="en-US" dirty="0"/>
              <a:t>对等连接方式（</a:t>
            </a:r>
            <a:r>
              <a:rPr lang="en-US" altLang="zh-CN" dirty="0"/>
              <a:t>P2P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endParaRPr lang="en-US" altLang="zh-CN" dirty="0"/>
          </a:p>
          <a:p>
            <a:r>
              <a:rPr lang="zh-CN" altLang="en-US" dirty="0"/>
              <a:t>对等连接方式从本质上看仍然是使用客户服务器方式，只是对等连接中的每一个主机既是客户又是服务器</a:t>
            </a:r>
          </a:p>
        </p:txBody>
      </p:sp>
      <p:sp>
        <p:nvSpPr>
          <p:cNvPr id="49" name="Oval 4"/>
          <p:cNvSpPr>
            <a:spLocks noChangeArrowheads="1"/>
          </p:cNvSpPr>
          <p:nvPr/>
        </p:nvSpPr>
        <p:spPr bwMode="auto">
          <a:xfrm>
            <a:off x="3568592" y="1884574"/>
            <a:ext cx="4441371" cy="2858197"/>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50" name="Line 5"/>
          <p:cNvSpPr>
            <a:spLocks noChangeShapeType="1"/>
          </p:cNvSpPr>
          <p:nvPr/>
        </p:nvSpPr>
        <p:spPr bwMode="auto">
          <a:xfrm flipV="1">
            <a:off x="4452660" y="3609650"/>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1" name="Line 6"/>
          <p:cNvSpPr>
            <a:spLocks noChangeShapeType="1"/>
          </p:cNvSpPr>
          <p:nvPr/>
        </p:nvSpPr>
        <p:spPr bwMode="auto">
          <a:xfrm flipH="1" flipV="1">
            <a:off x="4202778" y="3053644"/>
            <a:ext cx="772509" cy="269821"/>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2" name="Line 7"/>
          <p:cNvSpPr>
            <a:spLocks noChangeShapeType="1"/>
          </p:cNvSpPr>
          <p:nvPr/>
        </p:nvSpPr>
        <p:spPr bwMode="auto">
          <a:xfrm flipH="1">
            <a:off x="6631299" y="3332238"/>
            <a:ext cx="783490"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3" name="Line 8"/>
          <p:cNvSpPr>
            <a:spLocks noChangeShapeType="1"/>
          </p:cNvSpPr>
          <p:nvPr/>
        </p:nvSpPr>
        <p:spPr bwMode="auto">
          <a:xfrm flipH="1">
            <a:off x="6110717" y="2386330"/>
            <a:ext cx="449997" cy="66968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4" name="Line 9"/>
          <p:cNvSpPr>
            <a:spLocks noChangeShapeType="1"/>
          </p:cNvSpPr>
          <p:nvPr/>
        </p:nvSpPr>
        <p:spPr bwMode="auto">
          <a:xfrm flipH="1" flipV="1">
            <a:off x="6105994" y="3802711"/>
            <a:ext cx="397570" cy="3947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5" name="Line 10"/>
          <p:cNvSpPr>
            <a:spLocks noChangeShapeType="1"/>
          </p:cNvSpPr>
          <p:nvPr/>
        </p:nvSpPr>
        <p:spPr bwMode="auto">
          <a:xfrm>
            <a:off x="4791637" y="2480524"/>
            <a:ext cx="451453" cy="48341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6" name="Line 11"/>
          <p:cNvSpPr>
            <a:spLocks noChangeShapeType="1"/>
          </p:cNvSpPr>
          <p:nvPr/>
        </p:nvSpPr>
        <p:spPr bwMode="auto">
          <a:xfrm flipV="1">
            <a:off x="5183092" y="3758503"/>
            <a:ext cx="91747" cy="54846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grpSp>
        <p:nvGrpSpPr>
          <p:cNvPr id="57" name="Group 17"/>
          <p:cNvGrpSpPr/>
          <p:nvPr/>
        </p:nvGrpSpPr>
        <p:grpSpPr bwMode="auto">
          <a:xfrm>
            <a:off x="4733605" y="2666920"/>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grpSp>
      <p:sp>
        <p:nvSpPr>
          <p:cNvPr id="67" name="Text Box 27"/>
          <p:cNvSpPr txBox="1">
            <a:spLocks noChangeArrowheads="1"/>
          </p:cNvSpPr>
          <p:nvPr/>
        </p:nvSpPr>
        <p:spPr bwMode="auto">
          <a:xfrm>
            <a:off x="5115817" y="2101365"/>
            <a:ext cx="864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68" name="Text Box 28"/>
          <p:cNvSpPr txBox="1">
            <a:spLocks noChangeArrowheads="1"/>
          </p:cNvSpPr>
          <p:nvPr/>
        </p:nvSpPr>
        <p:spPr bwMode="auto">
          <a:xfrm>
            <a:off x="5359609" y="329738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69" name="Text Box 30"/>
          <p:cNvSpPr txBox="1">
            <a:spLocks noChangeArrowheads="1"/>
          </p:cNvSpPr>
          <p:nvPr/>
        </p:nvSpPr>
        <p:spPr bwMode="auto">
          <a:xfrm>
            <a:off x="6799784" y="251743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0" name="Text Box 31"/>
          <p:cNvSpPr txBox="1">
            <a:spLocks noChangeArrowheads="1"/>
          </p:cNvSpPr>
          <p:nvPr/>
        </p:nvSpPr>
        <p:spPr bwMode="auto">
          <a:xfrm>
            <a:off x="6750232" y="3929267"/>
            <a:ext cx="93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1" name="Line 32"/>
          <p:cNvSpPr>
            <a:spLocks noChangeShapeType="1"/>
          </p:cNvSpPr>
          <p:nvPr/>
        </p:nvSpPr>
        <p:spPr bwMode="auto">
          <a:xfrm flipH="1">
            <a:off x="6580626" y="2574648"/>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2" name="Line 33"/>
          <p:cNvSpPr>
            <a:spLocks noChangeShapeType="1"/>
          </p:cNvSpPr>
          <p:nvPr/>
        </p:nvSpPr>
        <p:spPr bwMode="auto">
          <a:xfrm flipH="1" flipV="1">
            <a:off x="6700072" y="2392168"/>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3" name="Line 34"/>
          <p:cNvSpPr>
            <a:spLocks noChangeShapeType="1"/>
          </p:cNvSpPr>
          <p:nvPr/>
        </p:nvSpPr>
        <p:spPr bwMode="auto">
          <a:xfrm flipH="1">
            <a:off x="6675267" y="4168524"/>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4" name="Text Box 35"/>
          <p:cNvSpPr txBox="1">
            <a:spLocks noChangeArrowheads="1"/>
          </p:cNvSpPr>
          <p:nvPr/>
        </p:nvSpPr>
        <p:spPr bwMode="auto">
          <a:xfrm>
            <a:off x="6124077" y="4179341"/>
            <a:ext cx="28851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D</a:t>
            </a:r>
          </a:p>
        </p:txBody>
      </p:sp>
      <p:sp>
        <p:nvSpPr>
          <p:cNvPr id="75" name="Text Box 36"/>
          <p:cNvSpPr txBox="1">
            <a:spLocks noChangeArrowheads="1"/>
          </p:cNvSpPr>
          <p:nvPr/>
        </p:nvSpPr>
        <p:spPr bwMode="auto">
          <a:xfrm>
            <a:off x="6682993" y="2104198"/>
            <a:ext cx="269400"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C</a:t>
            </a:r>
          </a:p>
        </p:txBody>
      </p:sp>
      <p:sp>
        <p:nvSpPr>
          <p:cNvPr id="76" name="Line 38"/>
          <p:cNvSpPr>
            <a:spLocks noChangeShapeType="1"/>
          </p:cNvSpPr>
          <p:nvPr/>
        </p:nvSpPr>
        <p:spPr bwMode="auto">
          <a:xfrm flipH="1">
            <a:off x="4546683" y="2644792"/>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7" name="Text Box 39"/>
          <p:cNvSpPr txBox="1">
            <a:spLocks noChangeArrowheads="1"/>
          </p:cNvSpPr>
          <p:nvPr/>
        </p:nvSpPr>
        <p:spPr bwMode="auto">
          <a:xfrm>
            <a:off x="4464641" y="2109508"/>
            <a:ext cx="26057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E</a:t>
            </a:r>
          </a:p>
        </p:txBody>
      </p:sp>
      <p:sp>
        <p:nvSpPr>
          <p:cNvPr id="78" name="Text Box 40"/>
          <p:cNvSpPr txBox="1">
            <a:spLocks noChangeArrowheads="1"/>
          </p:cNvSpPr>
          <p:nvPr/>
        </p:nvSpPr>
        <p:spPr bwMode="auto">
          <a:xfrm>
            <a:off x="4145514" y="3889206"/>
            <a:ext cx="256166"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F</a:t>
            </a:r>
          </a:p>
        </p:txBody>
      </p:sp>
      <p:sp>
        <p:nvSpPr>
          <p:cNvPr id="79" name="Text Box 41"/>
          <p:cNvSpPr txBox="1">
            <a:spLocks noChangeArrowheads="1"/>
          </p:cNvSpPr>
          <p:nvPr/>
        </p:nvSpPr>
        <p:spPr bwMode="auto">
          <a:xfrm>
            <a:off x="3675389" y="2406574"/>
            <a:ext cx="118101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0" name="Text Box 42"/>
          <p:cNvSpPr txBox="1">
            <a:spLocks noChangeArrowheads="1"/>
          </p:cNvSpPr>
          <p:nvPr/>
        </p:nvSpPr>
        <p:spPr bwMode="auto">
          <a:xfrm>
            <a:off x="3519198" y="3508302"/>
            <a:ext cx="118101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1" name="Line 43"/>
          <p:cNvSpPr>
            <a:spLocks noChangeShapeType="1"/>
          </p:cNvSpPr>
          <p:nvPr/>
        </p:nvSpPr>
        <p:spPr bwMode="auto">
          <a:xfrm flipV="1">
            <a:off x="4451174" y="2400653"/>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2" name="Line 44"/>
          <p:cNvSpPr>
            <a:spLocks noChangeShapeType="1"/>
          </p:cNvSpPr>
          <p:nvPr/>
        </p:nvSpPr>
        <p:spPr bwMode="auto">
          <a:xfrm>
            <a:off x="4202779" y="3693536"/>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3" name="Line 45"/>
          <p:cNvSpPr>
            <a:spLocks noChangeShapeType="1"/>
          </p:cNvSpPr>
          <p:nvPr/>
        </p:nvSpPr>
        <p:spPr bwMode="auto">
          <a:xfrm flipH="1">
            <a:off x="4657244" y="2476970"/>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85" name="图片 3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1613" y="3010269"/>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9650" y="292536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3">
            <a:extLst>
              <a:ext uri="{FF2B5EF4-FFF2-40B4-BE49-F238E27FC236}">
                <a16:creationId xmlns:a16="http://schemas.microsoft.com/office/drawing/2014/main" id="{350AF0F5-C727-3177-D2ED-9AD6C9E0BD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42792" y="2255243"/>
            <a:ext cx="323850" cy="304800"/>
          </a:xfrm>
          <a:prstGeom prst="rect">
            <a:avLst/>
          </a:prstGeom>
        </p:spPr>
      </p:pic>
      <p:pic>
        <p:nvPicPr>
          <p:cNvPr id="7" name="图片 6">
            <a:extLst>
              <a:ext uri="{FF2B5EF4-FFF2-40B4-BE49-F238E27FC236}">
                <a16:creationId xmlns:a16="http://schemas.microsoft.com/office/drawing/2014/main" id="{DEC07F29-A9A9-4EFA-25BD-0702F4EF4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84335" y="2199170"/>
            <a:ext cx="323850" cy="304800"/>
          </a:xfrm>
          <a:prstGeom prst="rect">
            <a:avLst/>
          </a:prstGeom>
        </p:spPr>
      </p:pic>
      <p:pic>
        <p:nvPicPr>
          <p:cNvPr id="9" name="图片 8">
            <a:extLst>
              <a:ext uri="{FF2B5EF4-FFF2-40B4-BE49-F238E27FC236}">
                <a16:creationId xmlns:a16="http://schemas.microsoft.com/office/drawing/2014/main" id="{05E88008-E35E-1EE3-B90F-E074345F48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7920" y="3683567"/>
            <a:ext cx="323850" cy="304800"/>
          </a:xfrm>
          <a:prstGeom prst="rect">
            <a:avLst/>
          </a:prstGeom>
        </p:spPr>
      </p:pic>
      <p:pic>
        <p:nvPicPr>
          <p:cNvPr id="11" name="图片 10">
            <a:extLst>
              <a:ext uri="{FF2B5EF4-FFF2-40B4-BE49-F238E27FC236}">
                <a16:creationId xmlns:a16="http://schemas.microsoft.com/office/drawing/2014/main" id="{C9E657EE-63AD-F6E2-A6B4-7A59B37113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65278" y="4138789"/>
            <a:ext cx="323850" cy="304800"/>
          </a:xfrm>
          <a:prstGeom prst="rect">
            <a:avLst/>
          </a:prstGeom>
        </p:spPr>
      </p:pic>
      <p:pic>
        <p:nvPicPr>
          <p:cNvPr id="13" name="图片 12">
            <a:extLst>
              <a:ext uri="{FF2B5EF4-FFF2-40B4-BE49-F238E27FC236}">
                <a16:creationId xmlns:a16="http://schemas.microsoft.com/office/drawing/2014/main" id="{158D904D-57FA-BEF6-D1EA-287C551869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10762" y="4117191"/>
            <a:ext cx="323850" cy="304800"/>
          </a:xfrm>
          <a:prstGeom prst="rect">
            <a:avLst/>
          </a:prstGeom>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7C8CF9C-7AFE-CD2B-B13B-941961133E62}"/>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r>
              <a:rPr lang="zh-CN" altLang="en-US" dirty="0"/>
              <a:t>在网络核心部分起特殊作用的是路由器 </a:t>
            </a:r>
            <a:r>
              <a:rPr lang="en-US" altLang="zh-CN" dirty="0"/>
              <a:t> Router</a:t>
            </a:r>
            <a:endParaRPr lang="zh-CN" altLang="en-US" dirty="0"/>
          </a:p>
          <a:p>
            <a:pPr lvl="1"/>
            <a:r>
              <a:rPr lang="zh-CN" altLang="en-US" dirty="0"/>
              <a:t>路由器是实现分组交换 </a:t>
            </a:r>
            <a:r>
              <a:rPr lang="en-US" altLang="zh-CN" dirty="0"/>
              <a:t>(Packet Switching) </a:t>
            </a:r>
            <a:r>
              <a:rPr lang="zh-CN" altLang="en-US" dirty="0"/>
              <a:t>的关键构件</a:t>
            </a:r>
            <a:endParaRPr lang="en-US" altLang="zh-CN" dirty="0"/>
          </a:p>
          <a:p>
            <a:pPr lvl="1"/>
            <a:r>
              <a:rPr lang="zh-CN" altLang="en-US" dirty="0"/>
              <a:t>其任务是转发收到的分组</a:t>
            </a:r>
            <a:endParaRPr lang="en-US" altLang="zh-CN" dirty="0"/>
          </a:p>
          <a:p>
            <a:pPr lvl="1"/>
            <a:r>
              <a:rPr lang="zh-CN" altLang="en-US" dirty="0"/>
              <a:t>分组转发是网络核心部分最重要的功能</a:t>
            </a:r>
          </a:p>
        </p:txBody>
      </p:sp>
      <p:grpSp>
        <p:nvGrpSpPr>
          <p:cNvPr id="6" name="组合 5"/>
          <p:cNvGrpSpPr/>
          <p:nvPr/>
        </p:nvGrpSpPr>
        <p:grpSpPr>
          <a:xfrm>
            <a:off x="4173398" y="2363470"/>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 name="Text Box 79"/>
            <p:cNvSpPr txBox="1">
              <a:spLocks noChangeArrowheads="1"/>
            </p:cNvSpPr>
            <p:nvPr/>
          </p:nvSpPr>
          <p:spPr bwMode="auto">
            <a:xfrm>
              <a:off x="3300774" y="1240001"/>
              <a:ext cx="2505488"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solidFill>
                    <a:srgbClr val="D4237A"/>
                  </a:solidFill>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96435"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4" name="Text Box 1523"/>
            <p:cNvSpPr txBox="1">
              <a:spLocks noChangeArrowheads="1"/>
            </p:cNvSpPr>
            <p:nvPr/>
          </p:nvSpPr>
          <p:spPr bwMode="auto">
            <a:xfrm>
              <a:off x="2686895"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latin typeface="+mn-ea"/>
                  <a:ea typeface="+mn-ea"/>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endParaRPr lang="zh-CN" altLang="en-US" sz="2000" b="1" dirty="0">
              <a:latin typeface="微软雅黑" pitchFamily="34" charset="-122"/>
              <a:ea typeface="微软雅黑" pitchFamily="34" charset="-122"/>
            </a:endParaRP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D7FB836-F1E3-12BC-7C01-467BBD4E165C}"/>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3" name="内容占位符 2"/>
          <p:cNvSpPr>
            <a:spLocks noGrp="1"/>
          </p:cNvSpPr>
          <p:nvPr>
            <p:ph sz="quarter" idx="10"/>
          </p:nvPr>
        </p:nvSpPr>
        <p:spPr>
          <a:xfrm>
            <a:off x="612000" y="899999"/>
            <a:ext cx="7920000" cy="3780000"/>
          </a:xfrm>
        </p:spPr>
        <p:txBody>
          <a:bodyPr/>
          <a:lstStyle/>
          <a:p>
            <a:r>
              <a:rPr lang="zh-CN" altLang="en-US" dirty="0"/>
              <a:t>典型交换技术包括：</a:t>
            </a:r>
          </a:p>
          <a:p>
            <a:pPr lvl="1"/>
            <a:r>
              <a:rPr lang="zh-CN" altLang="en-US" dirty="0"/>
              <a:t>电路交换：电话网络</a:t>
            </a:r>
          </a:p>
          <a:p>
            <a:pPr lvl="1"/>
            <a:r>
              <a:rPr lang="zh-CN" altLang="en-US" dirty="0"/>
              <a:t>分组交换：电报网络</a:t>
            </a:r>
          </a:p>
          <a:p>
            <a:pPr lvl="1"/>
            <a:r>
              <a:rPr lang="zh-CN" altLang="en-US" dirty="0"/>
              <a:t>报文交换：计算机网络</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36AA71B-3ECE-12B1-B7EE-1E486C669D4B}"/>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通信链路</a:t>
            </a:r>
            <a:endParaRPr lang="en-US" altLang="zh-CN" dirty="0"/>
          </a:p>
          <a:p>
            <a:pPr lvl="1"/>
            <a:r>
              <a:rPr lang="zh-CN" altLang="en-US" dirty="0"/>
              <a:t>电线对的数量与电话机数量的平方（</a:t>
            </a:r>
            <a:r>
              <a:rPr lang="en-US" altLang="zh-CN" dirty="0"/>
              <a:t>N2</a:t>
            </a:r>
            <a:r>
              <a:rPr lang="zh-CN" altLang="en-US" dirty="0"/>
              <a:t>）成正比</a:t>
            </a:r>
            <a:endParaRPr lang="en-US" altLang="zh-CN" dirty="0"/>
          </a:p>
          <a:p>
            <a:pPr lvl="1"/>
            <a:r>
              <a:rPr lang="en-US" altLang="zh-CN" dirty="0"/>
              <a:t>N(N –1)/2</a:t>
            </a:r>
            <a:endParaRPr lang="zh-CN" altLang="en-US" dirty="0"/>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C09F8-2826-7631-B298-DF68846DF2C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64E9463-390E-FC38-7026-B7D8D5D77E1D}"/>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a:extLst>
              <a:ext uri="{FF2B5EF4-FFF2-40B4-BE49-F238E27FC236}">
                <a16:creationId xmlns:a16="http://schemas.microsoft.com/office/drawing/2014/main" id="{63F3628E-B3FB-B0C3-E773-644A8757FECC}"/>
              </a:ext>
            </a:extLst>
          </p:cNvPr>
          <p:cNvSpPr>
            <a:spLocks noGrp="1"/>
          </p:cNvSpPr>
          <p:nvPr>
            <p:ph sz="quarter" idx="10"/>
          </p:nvPr>
        </p:nvSpPr>
        <p:spPr>
          <a:xfrm>
            <a:off x="612000" y="899999"/>
            <a:ext cx="7920000" cy="3780000"/>
          </a:xfrm>
        </p:spPr>
        <p:txBody>
          <a:bodyPr/>
          <a:lstStyle/>
          <a:p>
            <a:r>
              <a:rPr lang="zh-CN" altLang="en-US" dirty="0">
                <a:hlinkClick r:id="rId3"/>
              </a:rPr>
              <a:t>绳路</a:t>
            </a:r>
            <a:endParaRPr lang="en-US" altLang="zh-CN" dirty="0"/>
          </a:p>
          <a:p>
            <a:pPr lvl="1"/>
            <a:r>
              <a:rPr lang="zh-CN" altLang="en-US" dirty="0"/>
              <a:t>早期方式</a:t>
            </a:r>
          </a:p>
          <a:p>
            <a:pPr lvl="1"/>
            <a:endParaRPr lang="zh-CN" altLang="en-US" dirty="0"/>
          </a:p>
        </p:txBody>
      </p:sp>
      <p:cxnSp>
        <p:nvCxnSpPr>
          <p:cNvPr id="7" name="直接连接符 6">
            <a:extLst>
              <a:ext uri="{FF2B5EF4-FFF2-40B4-BE49-F238E27FC236}">
                <a16:creationId xmlns:a16="http://schemas.microsoft.com/office/drawing/2014/main" id="{7B14580A-43F0-1955-2640-F54771942636}"/>
              </a:ext>
            </a:extLst>
          </p:cNvPr>
          <p:cNvCxnSpPr>
            <a:cxnSpLocks/>
            <a:stCxn id="4" idx="3"/>
            <a:endCxn id="11" idx="1"/>
          </p:cNvCxnSpPr>
          <p:nvPr/>
        </p:nvCxnSpPr>
        <p:spPr>
          <a:xfrm>
            <a:off x="950120" y="2847326"/>
            <a:ext cx="111294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1808218C-8692-DC4E-CDE4-CD7949B419ED}"/>
              </a:ext>
            </a:extLst>
          </p:cNvPr>
          <p:cNvCxnSpPr/>
          <p:nvPr/>
        </p:nvCxnSpPr>
        <p:spPr bwMode="auto">
          <a:xfrm>
            <a:off x="6313553" y="3512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E58F0269-D5DF-F235-AC00-8BDF1648EBF7}"/>
              </a:ext>
            </a:extLst>
          </p:cNvPr>
          <p:cNvCxnSpPr/>
          <p:nvPr/>
        </p:nvCxnSpPr>
        <p:spPr bwMode="auto">
          <a:xfrm>
            <a:off x="5849938" y="2980207"/>
            <a:ext cx="216139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E650857-0E74-F434-3A2E-D84C91B84AAD}"/>
              </a:ext>
            </a:extLst>
          </p:cNvPr>
          <p:cNvCxnSpPr/>
          <p:nvPr/>
        </p:nvCxnSpPr>
        <p:spPr bwMode="auto">
          <a:xfrm>
            <a:off x="6313553" y="2429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0598A5A-38B5-068A-7D9A-A6656F0E16EE}"/>
              </a:ext>
            </a:extLst>
          </p:cNvPr>
          <p:cNvCxnSpPr/>
          <p:nvPr/>
        </p:nvCxnSpPr>
        <p:spPr bwMode="auto">
          <a:xfrm>
            <a:off x="6327504"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F614CA6D-DCBC-EB33-F9D2-5A512019D63E}"/>
              </a:ext>
            </a:extLst>
          </p:cNvPr>
          <p:cNvCxnSpPr/>
          <p:nvPr/>
        </p:nvCxnSpPr>
        <p:spPr bwMode="auto">
          <a:xfrm>
            <a:off x="7585275"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3853679B-BF46-92DC-29B3-DD81A841D8D6}"/>
              </a:ext>
            </a:extLst>
          </p:cNvPr>
          <p:cNvCxnSpPr/>
          <p:nvPr/>
        </p:nvCxnSpPr>
        <p:spPr bwMode="auto">
          <a:xfrm>
            <a:off x="6946731" y="2093732"/>
            <a:ext cx="0" cy="17317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444AEEC4-DA79-3598-8AFB-09D0A1219EAB}"/>
              </a:ext>
            </a:extLst>
          </p:cNvPr>
          <p:cNvCxnSpPr/>
          <p:nvPr/>
        </p:nvCxnSpPr>
        <p:spPr bwMode="auto">
          <a:xfrm flipH="1">
            <a:off x="6375798" y="2093732"/>
            <a:ext cx="438933" cy="28422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4098720B-40F6-6E58-A888-717D9F9B82D8}"/>
              </a:ext>
            </a:extLst>
          </p:cNvPr>
          <p:cNvCxnSpPr/>
          <p:nvPr/>
        </p:nvCxnSpPr>
        <p:spPr bwMode="auto">
          <a:xfrm flipH="1">
            <a:off x="7008976" y="3565556"/>
            <a:ext cx="501177" cy="28105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6DADFBE-897B-1C13-CA10-576AF847C3AC}"/>
              </a:ext>
            </a:extLst>
          </p:cNvPr>
          <p:cNvCxnSpPr/>
          <p:nvPr/>
        </p:nvCxnSpPr>
        <p:spPr bwMode="auto">
          <a:xfrm>
            <a:off x="7008976" y="2084223"/>
            <a:ext cx="576300" cy="29373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BD32546-3C70-1C0C-3408-0A7B19DDD860}"/>
              </a:ext>
            </a:extLst>
          </p:cNvPr>
          <p:cNvCxnSpPr/>
          <p:nvPr/>
        </p:nvCxnSpPr>
        <p:spPr bwMode="auto">
          <a:xfrm flipV="1">
            <a:off x="5849938" y="2429726"/>
            <a:ext cx="389566" cy="52935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70BDDCE-F66C-D294-3EDF-5C7E210158AB}"/>
              </a:ext>
            </a:extLst>
          </p:cNvPr>
          <p:cNvCxnSpPr/>
          <p:nvPr/>
        </p:nvCxnSpPr>
        <p:spPr bwMode="auto">
          <a:xfrm flipH="1" flipV="1">
            <a:off x="5840280" y="3004508"/>
            <a:ext cx="349858" cy="47969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3C376667-183D-C9E4-34E5-F786562201CB}"/>
              </a:ext>
            </a:extLst>
          </p:cNvPr>
          <p:cNvCxnSpPr/>
          <p:nvPr/>
        </p:nvCxnSpPr>
        <p:spPr bwMode="auto">
          <a:xfrm flipH="1" flipV="1">
            <a:off x="6266333" y="3565556"/>
            <a:ext cx="597763" cy="3095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FCD4ED3-99E4-F27A-EAA1-685B91CC0D61}"/>
              </a:ext>
            </a:extLst>
          </p:cNvPr>
          <p:cNvCxnSpPr/>
          <p:nvPr/>
        </p:nvCxnSpPr>
        <p:spPr bwMode="auto">
          <a:xfrm flipH="1" flipV="1">
            <a:off x="7642154" y="2477273"/>
            <a:ext cx="424981" cy="5092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81493704-9A58-441E-17B6-895E6C76DC75}"/>
              </a:ext>
            </a:extLst>
          </p:cNvPr>
          <p:cNvCxnSpPr/>
          <p:nvPr/>
        </p:nvCxnSpPr>
        <p:spPr bwMode="auto">
          <a:xfrm flipH="1">
            <a:off x="7642154" y="3004508"/>
            <a:ext cx="369175" cy="48180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D996A58C-F84A-D80E-C80F-AA88F316BE89}"/>
              </a:ext>
            </a:extLst>
          </p:cNvPr>
          <p:cNvCxnSpPr/>
          <p:nvPr/>
        </p:nvCxnSpPr>
        <p:spPr bwMode="auto">
          <a:xfrm flipH="1" flipV="1">
            <a:off x="6327504" y="2429726"/>
            <a:ext cx="1248111" cy="1080887"/>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B8FFA0FE-F076-7DA0-3A18-AEE5056834A0}"/>
              </a:ext>
            </a:extLst>
          </p:cNvPr>
          <p:cNvCxnSpPr/>
          <p:nvPr/>
        </p:nvCxnSpPr>
        <p:spPr bwMode="auto">
          <a:xfrm flipV="1">
            <a:off x="6327504" y="2477273"/>
            <a:ext cx="1189087" cy="10090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9913A427-C10D-6A67-2CFB-EAA932BACBA2}"/>
              </a:ext>
            </a:extLst>
          </p:cNvPr>
          <p:cNvCxnSpPr/>
          <p:nvPr/>
        </p:nvCxnSpPr>
        <p:spPr bwMode="auto">
          <a:xfrm flipH="1" flipV="1">
            <a:off x="5840280" y="2956963"/>
            <a:ext cx="1676312" cy="52934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65AA750A-3C1C-4943-CC13-707CD85BCA01}"/>
              </a:ext>
            </a:extLst>
          </p:cNvPr>
          <p:cNvCxnSpPr/>
          <p:nvPr/>
        </p:nvCxnSpPr>
        <p:spPr bwMode="auto">
          <a:xfrm flipH="1" flipV="1">
            <a:off x="6375798" y="2429726"/>
            <a:ext cx="1546457" cy="57795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2D43D9EF-C7D7-F251-009E-756DDB639817}"/>
              </a:ext>
            </a:extLst>
          </p:cNvPr>
          <p:cNvCxnSpPr/>
          <p:nvPr/>
        </p:nvCxnSpPr>
        <p:spPr bwMode="auto">
          <a:xfrm flipV="1">
            <a:off x="6327504" y="2142335"/>
            <a:ext cx="535518" cy="134186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42744297-0014-BC85-12F8-2F5956FF2AC1}"/>
              </a:ext>
            </a:extLst>
          </p:cNvPr>
          <p:cNvCxnSpPr/>
          <p:nvPr/>
        </p:nvCxnSpPr>
        <p:spPr bwMode="auto">
          <a:xfrm flipH="1" flipV="1">
            <a:off x="6959609" y="2093732"/>
            <a:ext cx="616007" cy="141688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639BA5DD-AACB-5973-F206-06699A40A00E}"/>
              </a:ext>
            </a:extLst>
          </p:cNvPr>
          <p:cNvCxnSpPr/>
          <p:nvPr/>
        </p:nvCxnSpPr>
        <p:spPr bwMode="auto">
          <a:xfrm flipV="1">
            <a:off x="6327504" y="2999226"/>
            <a:ext cx="1683824" cy="48497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84B5E3C-A6F7-3A16-1875-4C6587B1B979}"/>
              </a:ext>
            </a:extLst>
          </p:cNvPr>
          <p:cNvCxnSpPr/>
          <p:nvPr/>
        </p:nvCxnSpPr>
        <p:spPr bwMode="auto">
          <a:xfrm flipV="1">
            <a:off x="5902524" y="2429726"/>
            <a:ext cx="1690263" cy="55682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F94DC747-4121-6CEA-18BE-E6BE752791C6}"/>
              </a:ext>
            </a:extLst>
          </p:cNvPr>
          <p:cNvCxnSpPr/>
          <p:nvPr/>
        </p:nvCxnSpPr>
        <p:spPr bwMode="auto">
          <a:xfrm flipV="1">
            <a:off x="6960683" y="2449802"/>
            <a:ext cx="614934" cy="136933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B6D5DF49-ACE0-E25D-DA61-C8D1DEC4D9EF}"/>
              </a:ext>
            </a:extLst>
          </p:cNvPr>
          <p:cNvCxnSpPr/>
          <p:nvPr/>
        </p:nvCxnSpPr>
        <p:spPr bwMode="auto">
          <a:xfrm flipH="1" flipV="1">
            <a:off x="6327504" y="2429726"/>
            <a:ext cx="589177" cy="13682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382924A6-A784-9395-DD64-188580B9989E}"/>
              </a:ext>
            </a:extLst>
          </p:cNvPr>
          <p:cNvCxnSpPr/>
          <p:nvPr/>
        </p:nvCxnSpPr>
        <p:spPr bwMode="auto">
          <a:xfrm flipV="1">
            <a:off x="7008976" y="2956963"/>
            <a:ext cx="1002353" cy="84104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3DCFEB13-E49C-EA5E-6957-7B53602D227E}"/>
              </a:ext>
            </a:extLst>
          </p:cNvPr>
          <p:cNvCxnSpPr/>
          <p:nvPr/>
        </p:nvCxnSpPr>
        <p:spPr bwMode="auto">
          <a:xfrm flipH="1" flipV="1">
            <a:off x="5902524" y="2969642"/>
            <a:ext cx="1058159" cy="85583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B1902503-1ECE-2DBA-D2F5-ABB1D2E7807E}"/>
              </a:ext>
            </a:extLst>
          </p:cNvPr>
          <p:cNvCxnSpPr/>
          <p:nvPr/>
        </p:nvCxnSpPr>
        <p:spPr bwMode="auto">
          <a:xfrm flipV="1">
            <a:off x="5889646" y="2142335"/>
            <a:ext cx="925084" cy="8653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C24D8C44-D62F-BD45-978E-AC3C4BCB85C1}"/>
              </a:ext>
            </a:extLst>
          </p:cNvPr>
          <p:cNvCxnSpPr/>
          <p:nvPr/>
        </p:nvCxnSpPr>
        <p:spPr bwMode="auto">
          <a:xfrm flipH="1" flipV="1">
            <a:off x="6960683" y="2093732"/>
            <a:ext cx="961572" cy="90549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47" name="图片 52">
            <a:extLst>
              <a:ext uri="{FF2B5EF4-FFF2-40B4-BE49-F238E27FC236}">
                <a16:creationId xmlns:a16="http://schemas.microsoft.com/office/drawing/2014/main" id="{D26AB841-E9EE-774D-6D90-BADD000C931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48" name="图片 53">
            <a:extLst>
              <a:ext uri="{FF2B5EF4-FFF2-40B4-BE49-F238E27FC236}">
                <a16:creationId xmlns:a16="http://schemas.microsoft.com/office/drawing/2014/main" id="{3AA42B08-D149-9CE5-00D3-D6425DDF4F4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5" name="图片 60">
            <a:extLst>
              <a:ext uri="{FF2B5EF4-FFF2-40B4-BE49-F238E27FC236}">
                <a16:creationId xmlns:a16="http://schemas.microsoft.com/office/drawing/2014/main" id="{66458D7E-DFD2-21B9-8ECB-D1FE9CBDE36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36579"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6" name="图片 61">
            <a:extLst>
              <a:ext uri="{FF2B5EF4-FFF2-40B4-BE49-F238E27FC236}">
                <a16:creationId xmlns:a16="http://schemas.microsoft.com/office/drawing/2014/main" id="{9BCB36C9-5291-CFF1-4A7D-5CE25FD71F4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46033"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0" name="图片 55">
            <a:extLst>
              <a:ext uri="{FF2B5EF4-FFF2-40B4-BE49-F238E27FC236}">
                <a16:creationId xmlns:a16="http://schemas.microsoft.com/office/drawing/2014/main" id="{54DF5354-8BEB-29A3-D77F-DC81812B08E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1" name="图片 56">
            <a:extLst>
              <a:ext uri="{FF2B5EF4-FFF2-40B4-BE49-F238E27FC236}">
                <a16:creationId xmlns:a16="http://schemas.microsoft.com/office/drawing/2014/main" id="{D34DD6DC-C478-7610-9DAD-6CB8377EE59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3" name="图片 58">
            <a:extLst>
              <a:ext uri="{FF2B5EF4-FFF2-40B4-BE49-F238E27FC236}">
                <a16:creationId xmlns:a16="http://schemas.microsoft.com/office/drawing/2014/main" id="{0A2E5B1F-4442-452A-577E-48A535ED780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193313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4" name="图片 59">
            <a:extLst>
              <a:ext uri="{FF2B5EF4-FFF2-40B4-BE49-F238E27FC236}">
                <a16:creationId xmlns:a16="http://schemas.microsoft.com/office/drawing/2014/main" id="{1424F28C-B338-81C7-80C2-431658F8B749}"/>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3723288"/>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cxnSp>
        <p:nvCxnSpPr>
          <p:cNvPr id="57" name="直接连接符 56">
            <a:extLst>
              <a:ext uri="{FF2B5EF4-FFF2-40B4-BE49-F238E27FC236}">
                <a16:creationId xmlns:a16="http://schemas.microsoft.com/office/drawing/2014/main" id="{83F17D88-02CF-C251-1728-F4AFA1A5B76D}"/>
              </a:ext>
            </a:extLst>
          </p:cNvPr>
          <p:cNvCxnSpPr>
            <a:cxnSpLocks/>
            <a:stCxn id="15" idx="3"/>
            <a:endCxn id="67" idx="1"/>
          </p:cNvCxnSpPr>
          <p:nvPr/>
        </p:nvCxnSpPr>
        <p:spPr>
          <a:xfrm>
            <a:off x="3395380" y="2666424"/>
            <a:ext cx="1422005"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5B9ECA5-8AFB-4708-585E-0270E0158D26}"/>
              </a:ext>
            </a:extLst>
          </p:cNvPr>
          <p:cNvCxnSpPr>
            <a:cxnSpLocks/>
            <a:stCxn id="15" idx="0"/>
            <a:endCxn id="74" idx="1"/>
          </p:cNvCxnSpPr>
          <p:nvPr/>
        </p:nvCxnSpPr>
        <p:spPr>
          <a:xfrm flipV="1">
            <a:off x="3242980" y="2091450"/>
            <a:ext cx="711002"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0E8F197E-2731-3FA3-1DC1-44740897585A}"/>
              </a:ext>
            </a:extLst>
          </p:cNvPr>
          <p:cNvCxnSpPr>
            <a:cxnSpLocks/>
            <a:stCxn id="67" idx="0"/>
            <a:endCxn id="74" idx="3"/>
          </p:cNvCxnSpPr>
          <p:nvPr/>
        </p:nvCxnSpPr>
        <p:spPr>
          <a:xfrm flipH="1" flipV="1">
            <a:off x="4258782" y="2091450"/>
            <a:ext cx="711003"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5B802F8-CB26-F836-9E45-E383AEE28413}"/>
              </a:ext>
            </a:extLst>
          </p:cNvPr>
          <p:cNvCxnSpPr>
            <a:cxnSpLocks/>
            <a:stCxn id="49" idx="0"/>
            <a:endCxn id="67" idx="2"/>
          </p:cNvCxnSpPr>
          <p:nvPr/>
        </p:nvCxnSpPr>
        <p:spPr>
          <a:xfrm flipV="1">
            <a:off x="4571703" y="2818824"/>
            <a:ext cx="398082"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77731E7-790F-D1B3-E43B-3B64F94E0586}"/>
              </a:ext>
            </a:extLst>
          </p:cNvPr>
          <p:cNvCxnSpPr>
            <a:cxnSpLocks/>
            <a:stCxn id="17" idx="0"/>
            <a:endCxn id="15" idx="2"/>
          </p:cNvCxnSpPr>
          <p:nvPr/>
        </p:nvCxnSpPr>
        <p:spPr>
          <a:xfrm flipH="1" flipV="1">
            <a:off x="3242980" y="2818824"/>
            <a:ext cx="398081"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C9B31FC9-D688-9FA3-39C0-8A1C495943F0}"/>
              </a:ext>
            </a:extLst>
          </p:cNvPr>
          <p:cNvCxnSpPr>
            <a:cxnSpLocks/>
            <a:stCxn id="17" idx="3"/>
            <a:endCxn id="49" idx="1"/>
          </p:cNvCxnSpPr>
          <p:nvPr/>
        </p:nvCxnSpPr>
        <p:spPr>
          <a:xfrm>
            <a:off x="3793461" y="3560608"/>
            <a:ext cx="62584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0E7C318D-723C-F224-0274-811EBB3FCEED}"/>
              </a:ext>
            </a:extLst>
          </p:cNvPr>
          <p:cNvCxnSpPr>
            <a:cxnSpLocks/>
            <a:stCxn id="17" idx="0"/>
            <a:endCxn id="74" idx="2"/>
          </p:cNvCxnSpPr>
          <p:nvPr/>
        </p:nvCxnSpPr>
        <p:spPr>
          <a:xfrm flipV="1">
            <a:off x="3641061"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EA0749A9-DBB3-D4E1-C1BA-1281DC088411}"/>
              </a:ext>
            </a:extLst>
          </p:cNvPr>
          <p:cNvCxnSpPr>
            <a:cxnSpLocks/>
            <a:stCxn id="49" idx="0"/>
            <a:endCxn id="74" idx="2"/>
          </p:cNvCxnSpPr>
          <p:nvPr/>
        </p:nvCxnSpPr>
        <p:spPr>
          <a:xfrm flipH="1" flipV="1">
            <a:off x="4106382"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6907319B-0913-40D8-BE18-428D03A63FC4}"/>
              </a:ext>
            </a:extLst>
          </p:cNvPr>
          <p:cNvCxnSpPr>
            <a:cxnSpLocks/>
            <a:stCxn id="49" idx="0"/>
            <a:endCxn id="15" idx="3"/>
          </p:cNvCxnSpPr>
          <p:nvPr/>
        </p:nvCxnSpPr>
        <p:spPr>
          <a:xfrm flipH="1" flipV="1">
            <a:off x="3395380" y="2666424"/>
            <a:ext cx="1176323"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E2E9C9DE-2F91-DDBE-3C65-4F49D502C99D}"/>
              </a:ext>
            </a:extLst>
          </p:cNvPr>
          <p:cNvCxnSpPr>
            <a:cxnSpLocks/>
            <a:stCxn id="67" idx="1"/>
            <a:endCxn id="17" idx="0"/>
          </p:cNvCxnSpPr>
          <p:nvPr/>
        </p:nvCxnSpPr>
        <p:spPr>
          <a:xfrm flipH="1">
            <a:off x="3641061" y="2666424"/>
            <a:ext cx="1176324"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矩形 103">
            <a:extLst>
              <a:ext uri="{FF2B5EF4-FFF2-40B4-BE49-F238E27FC236}">
                <a16:creationId xmlns:a16="http://schemas.microsoft.com/office/drawing/2014/main" id="{43C2EEA6-BB26-B997-5E68-2EA0D50363F4}"/>
              </a:ext>
            </a:extLst>
          </p:cNvPr>
          <p:cNvSpPr/>
          <p:nvPr/>
        </p:nvSpPr>
        <p:spPr>
          <a:xfrm>
            <a:off x="2969621" y="4096015"/>
            <a:ext cx="2177143" cy="523220"/>
          </a:xfrm>
          <a:prstGeom prst="rect">
            <a:avLst/>
          </a:prstGeom>
        </p:spPr>
        <p:txBody>
          <a:bodyPr wrap="square">
            <a:spAutoFit/>
          </a:bodyPr>
          <a:lstStyle/>
          <a:p>
            <a:r>
              <a:rPr lang="en-US" altLang="zh-CN" sz="1400" dirty="0"/>
              <a:t>5 </a:t>
            </a:r>
            <a:r>
              <a:rPr lang="zh-CN" altLang="en-US" sz="1400" dirty="0"/>
              <a:t>部电话机两两直接相连，需 </a:t>
            </a:r>
            <a:r>
              <a:rPr lang="en-US" altLang="zh-CN" sz="1400" dirty="0"/>
              <a:t>10 </a:t>
            </a:r>
            <a:r>
              <a:rPr lang="zh-CN" altLang="en-US" sz="1400" dirty="0"/>
              <a:t>对电线。</a:t>
            </a:r>
          </a:p>
        </p:txBody>
      </p:sp>
      <p:sp>
        <p:nvSpPr>
          <p:cNvPr id="105" name="矩形 104">
            <a:extLst>
              <a:ext uri="{FF2B5EF4-FFF2-40B4-BE49-F238E27FC236}">
                <a16:creationId xmlns:a16="http://schemas.microsoft.com/office/drawing/2014/main" id="{A5E5D312-6782-2105-37A0-1AD4EF8AC49B}"/>
              </a:ext>
            </a:extLst>
          </p:cNvPr>
          <p:cNvSpPr/>
          <p:nvPr/>
        </p:nvSpPr>
        <p:spPr>
          <a:xfrm>
            <a:off x="5724414" y="4096015"/>
            <a:ext cx="2524139" cy="523220"/>
          </a:xfrm>
          <a:prstGeom prst="rect">
            <a:avLst/>
          </a:prstGeom>
        </p:spPr>
        <p:txBody>
          <a:bodyPr wrap="square">
            <a:spAutoFit/>
          </a:bodyPr>
          <a:lstStyle/>
          <a:p>
            <a:r>
              <a:rPr lang="en-US" altLang="zh-CN" sz="1400" dirty="0"/>
              <a:t>N </a:t>
            </a:r>
            <a:r>
              <a:rPr lang="zh-CN" altLang="en-US" sz="1400" dirty="0"/>
              <a:t>部电话机两两直接相连，需 </a:t>
            </a:r>
            <a:r>
              <a:rPr lang="en-US" altLang="zh-CN" sz="1400" dirty="0"/>
              <a:t>N(N –1)/2  </a:t>
            </a:r>
            <a:r>
              <a:rPr lang="zh-CN" altLang="en-US" sz="1400" dirty="0"/>
              <a:t>对电线。</a:t>
            </a:r>
          </a:p>
        </p:txBody>
      </p:sp>
      <p:pic>
        <p:nvPicPr>
          <p:cNvPr id="4" name="图片 3">
            <a:extLst>
              <a:ext uri="{FF2B5EF4-FFF2-40B4-BE49-F238E27FC236}">
                <a16:creationId xmlns:a16="http://schemas.microsoft.com/office/drawing/2014/main" id="{4CAEEC63-B3CE-A04E-A1E7-FF04314D9D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5320" y="2694926"/>
            <a:ext cx="304800" cy="304800"/>
          </a:xfrm>
          <a:prstGeom prst="rect">
            <a:avLst/>
          </a:prstGeom>
        </p:spPr>
      </p:pic>
      <p:pic>
        <p:nvPicPr>
          <p:cNvPr id="11" name="图片 10">
            <a:extLst>
              <a:ext uri="{FF2B5EF4-FFF2-40B4-BE49-F238E27FC236}">
                <a16:creationId xmlns:a16="http://schemas.microsoft.com/office/drawing/2014/main" id="{8AD3ADC7-0F0E-093F-39BE-CA6A9C99A5D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63061" y="2694926"/>
            <a:ext cx="304800" cy="304800"/>
          </a:xfrm>
          <a:prstGeom prst="rect">
            <a:avLst/>
          </a:prstGeom>
        </p:spPr>
      </p:pic>
      <p:pic>
        <p:nvPicPr>
          <p:cNvPr id="15" name="图片 14">
            <a:extLst>
              <a:ext uri="{FF2B5EF4-FFF2-40B4-BE49-F238E27FC236}">
                <a16:creationId xmlns:a16="http://schemas.microsoft.com/office/drawing/2014/main" id="{8C23D29E-593A-1A8B-4F0A-18CE11F287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90580" y="2514024"/>
            <a:ext cx="304800" cy="304800"/>
          </a:xfrm>
          <a:prstGeom prst="rect">
            <a:avLst/>
          </a:prstGeom>
        </p:spPr>
      </p:pic>
      <p:pic>
        <p:nvPicPr>
          <p:cNvPr id="17" name="图片 16">
            <a:extLst>
              <a:ext uri="{FF2B5EF4-FFF2-40B4-BE49-F238E27FC236}">
                <a16:creationId xmlns:a16="http://schemas.microsoft.com/office/drawing/2014/main" id="{744F505E-2841-3747-A73B-95B408D8BF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88661" y="3408208"/>
            <a:ext cx="304800" cy="304800"/>
          </a:xfrm>
          <a:prstGeom prst="rect">
            <a:avLst/>
          </a:prstGeom>
        </p:spPr>
      </p:pic>
      <p:pic>
        <p:nvPicPr>
          <p:cNvPr id="49" name="图片 48">
            <a:extLst>
              <a:ext uri="{FF2B5EF4-FFF2-40B4-BE49-F238E27FC236}">
                <a16:creationId xmlns:a16="http://schemas.microsoft.com/office/drawing/2014/main" id="{95A16CF9-1849-40BA-99E3-8C7D814893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9303" y="3408208"/>
            <a:ext cx="304800" cy="304800"/>
          </a:xfrm>
          <a:prstGeom prst="rect">
            <a:avLst/>
          </a:prstGeom>
        </p:spPr>
      </p:pic>
      <p:pic>
        <p:nvPicPr>
          <p:cNvPr id="67" name="图片 66">
            <a:extLst>
              <a:ext uri="{FF2B5EF4-FFF2-40B4-BE49-F238E27FC236}">
                <a16:creationId xmlns:a16="http://schemas.microsoft.com/office/drawing/2014/main" id="{7B5072CE-D95A-95AF-2282-739C1E99712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385" y="2514024"/>
            <a:ext cx="304800" cy="304800"/>
          </a:xfrm>
          <a:prstGeom prst="rect">
            <a:avLst/>
          </a:prstGeom>
        </p:spPr>
      </p:pic>
      <p:pic>
        <p:nvPicPr>
          <p:cNvPr id="74" name="图片 73">
            <a:extLst>
              <a:ext uri="{FF2B5EF4-FFF2-40B4-BE49-F238E27FC236}">
                <a16:creationId xmlns:a16="http://schemas.microsoft.com/office/drawing/2014/main" id="{3F6E2FBC-D0F1-A7DC-82D9-BFFE4DFD67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53982" y="1939050"/>
            <a:ext cx="304800" cy="304800"/>
          </a:xfrm>
          <a:prstGeom prst="rect">
            <a:avLst/>
          </a:prstGeom>
        </p:spPr>
      </p:pic>
      <p:sp>
        <p:nvSpPr>
          <p:cNvPr id="100" name="文本框 99">
            <a:extLst>
              <a:ext uri="{FF2B5EF4-FFF2-40B4-BE49-F238E27FC236}">
                <a16:creationId xmlns:a16="http://schemas.microsoft.com/office/drawing/2014/main" id="{CED59CF7-4130-3F35-8A57-C68925551CB5}"/>
              </a:ext>
            </a:extLst>
          </p:cNvPr>
          <p:cNvSpPr txBox="1"/>
          <p:nvPr/>
        </p:nvSpPr>
        <p:spPr>
          <a:xfrm>
            <a:off x="1395822" y="2608799"/>
            <a:ext cx="221536" cy="215444"/>
          </a:xfrm>
          <a:prstGeom prst="rect">
            <a:avLst/>
          </a:prstGeom>
          <a:noFill/>
        </p:spPr>
        <p:txBody>
          <a:bodyPr wrap="none" rtlCol="0">
            <a:spAutoFit/>
          </a:bodyPr>
          <a:lstStyle/>
          <a:p>
            <a:pPr algn="ctr"/>
            <a:r>
              <a:rPr lang="en-US" altLang="zh-CN" sz="800" dirty="0"/>
              <a:t>1</a:t>
            </a:r>
            <a:endParaRPr lang="zh-CN" altLang="en-US" sz="800" dirty="0"/>
          </a:p>
        </p:txBody>
      </p:sp>
      <p:sp>
        <p:nvSpPr>
          <p:cNvPr id="102" name="文本框 101">
            <a:extLst>
              <a:ext uri="{FF2B5EF4-FFF2-40B4-BE49-F238E27FC236}">
                <a16:creationId xmlns:a16="http://schemas.microsoft.com/office/drawing/2014/main" id="{982E1909-A527-FED6-1BCD-494B2A043778}"/>
              </a:ext>
            </a:extLst>
          </p:cNvPr>
          <p:cNvSpPr txBox="1"/>
          <p:nvPr/>
        </p:nvSpPr>
        <p:spPr>
          <a:xfrm>
            <a:off x="3947819" y="2745001"/>
            <a:ext cx="288861" cy="215444"/>
          </a:xfrm>
          <a:prstGeom prst="rect">
            <a:avLst/>
          </a:prstGeom>
          <a:noFill/>
        </p:spPr>
        <p:txBody>
          <a:bodyPr wrap="none" rtlCol="0">
            <a:spAutoFit/>
          </a:bodyPr>
          <a:lstStyle/>
          <a:p>
            <a:pPr algn="ctr"/>
            <a:r>
              <a:rPr lang="en-US" altLang="zh-CN" sz="800" dirty="0"/>
              <a:t>10</a:t>
            </a:r>
            <a:endParaRPr lang="zh-CN" altLang="en-US" sz="800" dirty="0"/>
          </a:p>
        </p:txBody>
      </p:sp>
    </p:spTree>
    <p:extLst>
      <p:ext uri="{BB962C8B-B14F-4D97-AF65-F5344CB8AC3E}">
        <p14:creationId xmlns:p14="http://schemas.microsoft.com/office/powerpoint/2010/main" val="28321086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F627542-E7EE-6D2A-4069-CB8470A925F1}"/>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使用交换机</a:t>
            </a:r>
            <a:endParaRPr lang="en-US" altLang="zh-CN" dirty="0"/>
          </a:p>
          <a:p>
            <a:pPr lvl="1"/>
            <a:r>
              <a:rPr lang="zh-CN" altLang="en-US" dirty="0"/>
              <a:t>当电话机的数量增多时，借助电话交换机</a:t>
            </a:r>
            <a:r>
              <a:rPr lang="en-US" altLang="zh-CN" dirty="0"/>
              <a:t>/</a:t>
            </a:r>
            <a:r>
              <a:rPr lang="zh-CN" altLang="en-US" dirty="0"/>
              <a:t>程控交换机动态地分配传输线路的资源</a:t>
            </a:r>
            <a:endParaRPr lang="en-US" altLang="zh-CN" dirty="0"/>
          </a:p>
          <a:p>
            <a:pPr lvl="1"/>
            <a:r>
              <a:rPr lang="zh-CN" altLang="en-US" dirty="0"/>
              <a:t>交换俗称转接：把一条电话线转接到另一条电话线，使它们连通起来</a:t>
            </a:r>
          </a:p>
        </p:txBody>
      </p:sp>
      <p:cxnSp>
        <p:nvCxnSpPr>
          <p:cNvPr id="74" name="直接连接符 73"/>
          <p:cNvCxnSpPr>
            <a:cxnSpLocks/>
            <a:stCxn id="4" idx="2"/>
          </p:cNvCxnSpPr>
          <p:nvPr/>
        </p:nvCxnSpPr>
        <p:spPr>
          <a:xfrm>
            <a:off x="3512980" y="2514592"/>
            <a:ext cx="610689" cy="558006"/>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a:cxnSpLocks/>
            <a:stCxn id="14" idx="3"/>
            <a:endCxn id="93" idx="2"/>
          </p:cNvCxnSpPr>
          <p:nvPr/>
        </p:nvCxnSpPr>
        <p:spPr>
          <a:xfrm flipV="1">
            <a:off x="3421995" y="3175907"/>
            <a:ext cx="470852" cy="509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a:cxnSpLocks/>
            <a:stCxn id="18" idx="0"/>
          </p:cNvCxnSpPr>
          <p:nvPr/>
        </p:nvCxnSpPr>
        <p:spPr>
          <a:xfrm flipV="1">
            <a:off x="3512980" y="3315829"/>
            <a:ext cx="547826" cy="37827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a:cxnSpLocks/>
            <a:stCxn id="12" idx="0"/>
            <a:endCxn id="93" idx="3"/>
          </p:cNvCxnSpPr>
          <p:nvPr/>
        </p:nvCxnSpPr>
        <p:spPr>
          <a:xfrm flipV="1">
            <a:off x="4217061" y="3283264"/>
            <a:ext cx="0" cy="56493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a:cxnSpLocks/>
            <a:stCxn id="10" idx="0"/>
          </p:cNvCxnSpPr>
          <p:nvPr/>
        </p:nvCxnSpPr>
        <p:spPr>
          <a:xfrm flipH="1" flipV="1">
            <a:off x="4457700" y="3292521"/>
            <a:ext cx="535014" cy="40158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cxnSpLocks/>
            <a:stCxn id="93" idx="0"/>
            <a:endCxn id="16" idx="2"/>
          </p:cNvCxnSpPr>
          <p:nvPr/>
        </p:nvCxnSpPr>
        <p:spPr>
          <a:xfrm flipV="1">
            <a:off x="4288633" y="2382438"/>
            <a:ext cx="0" cy="61454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a:cxnSpLocks/>
            <a:endCxn id="6" idx="2"/>
          </p:cNvCxnSpPr>
          <p:nvPr/>
        </p:nvCxnSpPr>
        <p:spPr>
          <a:xfrm flipV="1">
            <a:off x="4441033" y="2514592"/>
            <a:ext cx="551681" cy="47312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cxnSpLocks/>
            <a:stCxn id="93" idx="4"/>
            <a:endCxn id="8" idx="1"/>
          </p:cNvCxnSpPr>
          <p:nvPr/>
        </p:nvCxnSpPr>
        <p:spPr>
          <a:xfrm>
            <a:off x="4541276" y="3175907"/>
            <a:ext cx="539676"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立方体 92"/>
          <p:cNvSpPr/>
          <p:nvPr/>
        </p:nvSpPr>
        <p:spPr>
          <a:xfrm>
            <a:off x="3892847" y="2996978"/>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4" name="图片 3">
            <a:extLst>
              <a:ext uri="{FF2B5EF4-FFF2-40B4-BE49-F238E27FC236}">
                <a16:creationId xmlns:a16="http://schemas.microsoft.com/office/drawing/2014/main" id="{D0B1EF59-3770-9FF2-6E46-47F36C25D2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2209792"/>
            <a:ext cx="304800" cy="304800"/>
          </a:xfrm>
          <a:prstGeom prst="rect">
            <a:avLst/>
          </a:prstGeom>
        </p:spPr>
      </p:pic>
      <p:pic>
        <p:nvPicPr>
          <p:cNvPr id="6" name="图片 5">
            <a:extLst>
              <a:ext uri="{FF2B5EF4-FFF2-40B4-BE49-F238E27FC236}">
                <a16:creationId xmlns:a16="http://schemas.microsoft.com/office/drawing/2014/main" id="{179DEF55-37B4-B41D-B63E-80EEFB9BE8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2209792"/>
            <a:ext cx="304800" cy="304800"/>
          </a:xfrm>
          <a:prstGeom prst="rect">
            <a:avLst/>
          </a:prstGeom>
        </p:spPr>
      </p:pic>
      <p:pic>
        <p:nvPicPr>
          <p:cNvPr id="8" name="图片 7">
            <a:extLst>
              <a:ext uri="{FF2B5EF4-FFF2-40B4-BE49-F238E27FC236}">
                <a16:creationId xmlns:a16="http://schemas.microsoft.com/office/drawing/2014/main" id="{33B335B4-7FE0-2F30-083C-FAD2006F4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952" y="3023507"/>
            <a:ext cx="304800" cy="304800"/>
          </a:xfrm>
          <a:prstGeom prst="rect">
            <a:avLst/>
          </a:prstGeom>
        </p:spPr>
      </p:pic>
      <p:pic>
        <p:nvPicPr>
          <p:cNvPr id="10" name="图片 9">
            <a:extLst>
              <a:ext uri="{FF2B5EF4-FFF2-40B4-BE49-F238E27FC236}">
                <a16:creationId xmlns:a16="http://schemas.microsoft.com/office/drawing/2014/main" id="{866D726E-4BB1-45EB-3CC3-DD6F4192B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3694104"/>
            <a:ext cx="304800" cy="304800"/>
          </a:xfrm>
          <a:prstGeom prst="rect">
            <a:avLst/>
          </a:prstGeom>
        </p:spPr>
      </p:pic>
      <p:pic>
        <p:nvPicPr>
          <p:cNvPr id="12" name="图片 11">
            <a:extLst>
              <a:ext uri="{FF2B5EF4-FFF2-40B4-BE49-F238E27FC236}">
                <a16:creationId xmlns:a16="http://schemas.microsoft.com/office/drawing/2014/main" id="{AA2969E4-205C-375D-63DE-C9B312405F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4661" y="3848197"/>
            <a:ext cx="304800" cy="304800"/>
          </a:xfrm>
          <a:prstGeom prst="rect">
            <a:avLst/>
          </a:prstGeom>
        </p:spPr>
      </p:pic>
      <p:pic>
        <p:nvPicPr>
          <p:cNvPr id="14" name="图片 13">
            <a:extLst>
              <a:ext uri="{FF2B5EF4-FFF2-40B4-BE49-F238E27FC236}">
                <a16:creationId xmlns:a16="http://schemas.microsoft.com/office/drawing/2014/main" id="{BA25451F-F6C5-588B-7A5B-CFA87B4908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17195" y="3028600"/>
            <a:ext cx="304800" cy="304800"/>
          </a:xfrm>
          <a:prstGeom prst="rect">
            <a:avLst/>
          </a:prstGeom>
        </p:spPr>
      </p:pic>
      <p:pic>
        <p:nvPicPr>
          <p:cNvPr id="16" name="图片 15">
            <a:extLst>
              <a:ext uri="{FF2B5EF4-FFF2-40B4-BE49-F238E27FC236}">
                <a16:creationId xmlns:a16="http://schemas.microsoft.com/office/drawing/2014/main" id="{4EE87E3D-F51D-D9EB-CDC1-F1A1F656D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6233" y="2077638"/>
            <a:ext cx="304800" cy="304800"/>
          </a:xfrm>
          <a:prstGeom prst="rect">
            <a:avLst/>
          </a:prstGeom>
        </p:spPr>
      </p:pic>
      <p:pic>
        <p:nvPicPr>
          <p:cNvPr id="18" name="图片 17">
            <a:extLst>
              <a:ext uri="{FF2B5EF4-FFF2-40B4-BE49-F238E27FC236}">
                <a16:creationId xmlns:a16="http://schemas.microsoft.com/office/drawing/2014/main" id="{F9C99FB5-A1F3-C238-8C91-81A5A3A13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3694104"/>
            <a:ext cx="304800" cy="304800"/>
          </a:xfrm>
          <a:prstGeom prst="rect">
            <a:avLst/>
          </a:prstGeom>
        </p:spPr>
      </p:pic>
      <p:sp>
        <p:nvSpPr>
          <p:cNvPr id="44" name="文本框 43">
            <a:extLst>
              <a:ext uri="{FF2B5EF4-FFF2-40B4-BE49-F238E27FC236}">
                <a16:creationId xmlns:a16="http://schemas.microsoft.com/office/drawing/2014/main" id="{35545525-D442-C722-FFC8-C4DAB6AE11CB}"/>
              </a:ext>
            </a:extLst>
          </p:cNvPr>
          <p:cNvSpPr txBox="1"/>
          <p:nvPr/>
        </p:nvSpPr>
        <p:spPr>
          <a:xfrm>
            <a:off x="3580022" y="2458002"/>
            <a:ext cx="258404" cy="215444"/>
          </a:xfrm>
          <a:prstGeom prst="rect">
            <a:avLst/>
          </a:prstGeom>
          <a:noFill/>
        </p:spPr>
        <p:txBody>
          <a:bodyPr wrap="none" rtlCol="0">
            <a:spAutoFit/>
          </a:bodyPr>
          <a:lstStyle/>
          <a:p>
            <a:pPr algn="ctr"/>
            <a:r>
              <a:rPr lang="en-US" altLang="zh-CN" sz="800" dirty="0"/>
              <a:t>A</a:t>
            </a:r>
            <a:endParaRPr lang="zh-CN" altLang="en-US" sz="800" dirty="0"/>
          </a:p>
        </p:txBody>
      </p:sp>
      <p:sp>
        <p:nvSpPr>
          <p:cNvPr id="46" name="文本框 45">
            <a:extLst>
              <a:ext uri="{FF2B5EF4-FFF2-40B4-BE49-F238E27FC236}">
                <a16:creationId xmlns:a16="http://schemas.microsoft.com/office/drawing/2014/main" id="{EBC27931-0146-119E-3815-20C4B8B85FC8}"/>
              </a:ext>
            </a:extLst>
          </p:cNvPr>
          <p:cNvSpPr txBox="1"/>
          <p:nvPr/>
        </p:nvSpPr>
        <p:spPr>
          <a:xfrm>
            <a:off x="5125745" y="2831024"/>
            <a:ext cx="261610" cy="215444"/>
          </a:xfrm>
          <a:prstGeom prst="rect">
            <a:avLst/>
          </a:prstGeom>
          <a:noFill/>
        </p:spPr>
        <p:txBody>
          <a:bodyPr wrap="none" rtlCol="0">
            <a:spAutoFit/>
          </a:bodyPr>
          <a:lstStyle/>
          <a:p>
            <a:pPr algn="ctr"/>
            <a:r>
              <a:rPr lang="en-US" altLang="zh-CN" sz="800" dirty="0"/>
              <a:t>C</a:t>
            </a:r>
            <a:endParaRPr lang="zh-CN" altLang="en-US" sz="800" dirty="0"/>
          </a:p>
        </p:txBody>
      </p:sp>
      <p:sp>
        <p:nvSpPr>
          <p:cNvPr id="48" name="文本框 47">
            <a:extLst>
              <a:ext uri="{FF2B5EF4-FFF2-40B4-BE49-F238E27FC236}">
                <a16:creationId xmlns:a16="http://schemas.microsoft.com/office/drawing/2014/main" id="{295FADF6-D518-AB7C-D32B-6D92C95ADE0E}"/>
              </a:ext>
            </a:extLst>
          </p:cNvPr>
          <p:cNvSpPr txBox="1"/>
          <p:nvPr/>
        </p:nvSpPr>
        <p:spPr>
          <a:xfrm>
            <a:off x="3597325" y="3740975"/>
            <a:ext cx="261610" cy="215444"/>
          </a:xfrm>
          <a:prstGeom prst="rect">
            <a:avLst/>
          </a:prstGeom>
          <a:noFill/>
        </p:spPr>
        <p:txBody>
          <a:bodyPr wrap="none" rtlCol="0">
            <a:spAutoFit/>
          </a:bodyPr>
          <a:lstStyle/>
          <a:p>
            <a:pPr algn="ctr"/>
            <a:r>
              <a:rPr lang="en-US" altLang="zh-CN" sz="800" dirty="0"/>
              <a:t>B</a:t>
            </a:r>
            <a:endParaRPr lang="zh-CN" altLang="en-US" sz="800" dirty="0"/>
          </a:p>
        </p:txBody>
      </p:sp>
      <p:sp>
        <p:nvSpPr>
          <p:cNvPr id="50" name="文本框 49">
            <a:extLst>
              <a:ext uri="{FF2B5EF4-FFF2-40B4-BE49-F238E27FC236}">
                <a16:creationId xmlns:a16="http://schemas.microsoft.com/office/drawing/2014/main" id="{C2194285-B4DA-325F-68E7-D0AE03B10CCD}"/>
              </a:ext>
            </a:extLst>
          </p:cNvPr>
          <p:cNvSpPr txBox="1"/>
          <p:nvPr/>
        </p:nvSpPr>
        <p:spPr>
          <a:xfrm>
            <a:off x="4906276" y="2522511"/>
            <a:ext cx="269626" cy="215444"/>
          </a:xfrm>
          <a:prstGeom prst="rect">
            <a:avLst/>
          </a:prstGeom>
          <a:noFill/>
        </p:spPr>
        <p:txBody>
          <a:bodyPr wrap="none" rtlCol="0">
            <a:spAutoFit/>
          </a:bodyPr>
          <a:lstStyle/>
          <a:p>
            <a:pPr algn="ctr"/>
            <a:r>
              <a:rPr lang="en-US" altLang="zh-CN" sz="800" dirty="0"/>
              <a:t>D</a:t>
            </a:r>
            <a:endParaRPr lang="zh-CN" altLang="en-US" sz="800" dirty="0"/>
          </a:p>
        </p:txBody>
      </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8E9AF79-EB99-796A-3BD9-B2CA7AE89CEF}"/>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三个阶段：</a:t>
            </a:r>
          </a:p>
          <a:p>
            <a:pPr lvl="1"/>
            <a:r>
              <a:rPr lang="zh-CN" altLang="en-US" dirty="0"/>
              <a:t>建立连接：建立一条专用的物理通路（占用通信资源）</a:t>
            </a:r>
            <a:endParaRPr lang="en-US" altLang="zh-CN" dirty="0"/>
          </a:p>
          <a:p>
            <a:pPr lvl="1"/>
            <a:r>
              <a:rPr lang="zh-CN" altLang="en-US" dirty="0"/>
              <a:t>通话：主叫和被叫双方互相通电话（一直占用通信资源）</a:t>
            </a:r>
          </a:p>
          <a:p>
            <a:pPr lvl="1"/>
            <a:r>
              <a:rPr lang="zh-CN" altLang="en-US" dirty="0"/>
              <a:t>释放连接：释放刚才使用的专用的物理通路（归还通信资源）</a:t>
            </a:r>
          </a:p>
          <a:p>
            <a:endParaRPr lang="zh-CN" altLang="en-US" dirty="0"/>
          </a:p>
        </p:txBody>
      </p:sp>
      <p:grpSp>
        <p:nvGrpSpPr>
          <p:cNvPr id="16" name="Group 6"/>
          <p:cNvGrpSpPr/>
          <p:nvPr/>
        </p:nvGrpSpPr>
        <p:grpSpPr bwMode="auto">
          <a:xfrm>
            <a:off x="2400040" y="2265684"/>
            <a:ext cx="4343919" cy="2238103"/>
            <a:chOff x="1680" y="240"/>
            <a:chExt cx="2529" cy="1270"/>
          </a:xfrm>
          <a:solidFill>
            <a:srgbClr val="F2F2F2"/>
          </a:solidFill>
        </p:grpSpPr>
        <p:sp>
          <p:nvSpPr>
            <p:cNvPr id="17" name="Oval 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 name="Oval 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9" name="Oval 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0" name="Oval 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1" name="Oval 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2" name="Oval 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3" name="Oval 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4" name="Oval 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5" name="Oval 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26" name="Line 23"/>
          <p:cNvSpPr>
            <a:spLocks noChangeShapeType="1"/>
          </p:cNvSpPr>
          <p:nvPr/>
        </p:nvSpPr>
        <p:spPr bwMode="auto">
          <a:xfrm>
            <a:off x="2979687" y="3456481"/>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27" name="Text Box 24"/>
          <p:cNvSpPr txBox="1">
            <a:spLocks noChangeArrowheads="1"/>
          </p:cNvSpPr>
          <p:nvPr/>
        </p:nvSpPr>
        <p:spPr bwMode="auto">
          <a:xfrm>
            <a:off x="1529182" y="3119600"/>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A</a:t>
            </a:r>
          </a:p>
        </p:txBody>
      </p:sp>
      <p:sp>
        <p:nvSpPr>
          <p:cNvPr id="28" name="Text Box 25"/>
          <p:cNvSpPr txBox="1">
            <a:spLocks noChangeArrowheads="1"/>
          </p:cNvSpPr>
          <p:nvPr/>
        </p:nvSpPr>
        <p:spPr bwMode="auto">
          <a:xfrm>
            <a:off x="7124919" y="3119600"/>
            <a:ext cx="25680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B</a:t>
            </a:r>
          </a:p>
        </p:txBody>
      </p:sp>
      <p:sp>
        <p:nvSpPr>
          <p:cNvPr id="31" name="Text Box 28"/>
          <p:cNvSpPr txBox="1">
            <a:spLocks noChangeArrowheads="1"/>
          </p:cNvSpPr>
          <p:nvPr/>
        </p:nvSpPr>
        <p:spPr bwMode="auto">
          <a:xfrm>
            <a:off x="4427487" y="2420344"/>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电信网</a:t>
            </a:r>
          </a:p>
        </p:txBody>
      </p:sp>
      <p:sp>
        <p:nvSpPr>
          <p:cNvPr id="36" name="Text Box 34"/>
          <p:cNvSpPr txBox="1">
            <a:spLocks noChangeArrowheads="1"/>
          </p:cNvSpPr>
          <p:nvPr/>
        </p:nvSpPr>
        <p:spPr bwMode="auto">
          <a:xfrm>
            <a:off x="4214951" y="4059820"/>
            <a:ext cx="530915" cy="230832"/>
          </a:xfrm>
          <a:prstGeom prst="rect">
            <a:avLst/>
          </a:prstGeom>
          <a:noFill/>
        </p:spPr>
        <p:txBody>
          <a:bodyPr wrap="none" rtlCol="0">
            <a:spAutoFit/>
          </a:bodyPr>
          <a:lstStyle>
            <a:defPPr>
              <a:defRPr lang="zh-CN"/>
            </a:defPPr>
            <a:lvl1pPr>
              <a:defRPr sz="1400"/>
            </a:lvl1pPr>
          </a:lstStyle>
          <a:p>
            <a:pPr algn="ctr"/>
            <a:r>
              <a:rPr lang="zh-CN" altLang="en-US" sz="900" dirty="0">
                <a:latin typeface="+mj-ea"/>
                <a:ea typeface="+mj-ea"/>
              </a:rPr>
              <a:t>中继线</a:t>
            </a:r>
          </a:p>
        </p:txBody>
      </p:sp>
      <p:sp>
        <p:nvSpPr>
          <p:cNvPr id="42" name="Text Box 40"/>
          <p:cNvSpPr txBox="1">
            <a:spLocks noChangeArrowheads="1"/>
          </p:cNvSpPr>
          <p:nvPr/>
        </p:nvSpPr>
        <p:spPr bwMode="auto">
          <a:xfrm>
            <a:off x="1781124" y="3877169"/>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sp>
        <p:nvSpPr>
          <p:cNvPr id="43" name="Text Box 41"/>
          <p:cNvSpPr txBox="1">
            <a:spLocks noChangeArrowheads="1"/>
          </p:cNvSpPr>
          <p:nvPr/>
        </p:nvSpPr>
        <p:spPr bwMode="auto">
          <a:xfrm>
            <a:off x="6640462" y="3869231"/>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grpSp>
        <p:nvGrpSpPr>
          <p:cNvPr id="44" name="Group 56"/>
          <p:cNvGrpSpPr/>
          <p:nvPr/>
        </p:nvGrpSpPr>
        <p:grpSpPr bwMode="auto">
          <a:xfrm flipH="1">
            <a:off x="6241899" y="2970494"/>
            <a:ext cx="720000" cy="131762"/>
            <a:chOff x="1519" y="2160"/>
            <a:chExt cx="953" cy="227"/>
          </a:xfrm>
        </p:grpSpPr>
        <p:sp>
          <p:nvSpPr>
            <p:cNvPr id="45"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9" name="Line 61"/>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50" name="Group 64"/>
          <p:cNvGrpSpPr/>
          <p:nvPr/>
        </p:nvGrpSpPr>
        <p:grpSpPr bwMode="auto">
          <a:xfrm>
            <a:off x="1881793" y="2970494"/>
            <a:ext cx="720000" cy="131762"/>
            <a:chOff x="1519" y="2160"/>
            <a:chExt cx="953" cy="227"/>
          </a:xfrm>
        </p:grpSpPr>
        <p:sp>
          <p:nvSpPr>
            <p:cNvPr id="51"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2"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3"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4"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5" name="Line 69"/>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56" name="Freeform 71"/>
          <p:cNvSpPr/>
          <p:nvPr/>
        </p:nvSpPr>
        <p:spPr bwMode="auto">
          <a:xfrm>
            <a:off x="3099414"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7" name="Freeform 72"/>
          <p:cNvSpPr/>
          <p:nvPr/>
        </p:nvSpPr>
        <p:spPr bwMode="auto">
          <a:xfrm>
            <a:off x="4181808"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8" name="Freeform 73"/>
          <p:cNvSpPr/>
          <p:nvPr/>
        </p:nvSpPr>
        <p:spPr bwMode="auto">
          <a:xfrm>
            <a:off x="5264202"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63" name="Text Box 24"/>
          <p:cNvSpPr txBox="1">
            <a:spLocks noChangeArrowheads="1"/>
          </p:cNvSpPr>
          <p:nvPr/>
        </p:nvSpPr>
        <p:spPr bwMode="auto">
          <a:xfrm>
            <a:off x="2701139" y="2917892"/>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C</a:t>
            </a:r>
          </a:p>
        </p:txBody>
      </p:sp>
      <p:sp>
        <p:nvSpPr>
          <p:cNvPr id="64" name="Text Box 24"/>
          <p:cNvSpPr txBox="1">
            <a:spLocks noChangeArrowheads="1"/>
          </p:cNvSpPr>
          <p:nvPr/>
        </p:nvSpPr>
        <p:spPr bwMode="auto">
          <a:xfrm>
            <a:off x="3767147" y="2917892"/>
            <a:ext cx="279244"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D</a:t>
            </a:r>
          </a:p>
        </p:txBody>
      </p:sp>
      <p:sp>
        <p:nvSpPr>
          <p:cNvPr id="65" name="Text Box 24"/>
          <p:cNvSpPr txBox="1">
            <a:spLocks noChangeArrowheads="1"/>
          </p:cNvSpPr>
          <p:nvPr/>
        </p:nvSpPr>
        <p:spPr bwMode="auto">
          <a:xfrm>
            <a:off x="4853995" y="2917892"/>
            <a:ext cx="248786"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E</a:t>
            </a:r>
          </a:p>
        </p:txBody>
      </p:sp>
      <p:sp>
        <p:nvSpPr>
          <p:cNvPr id="66" name="Text Box 24"/>
          <p:cNvSpPr txBox="1">
            <a:spLocks noChangeArrowheads="1"/>
          </p:cNvSpPr>
          <p:nvPr/>
        </p:nvSpPr>
        <p:spPr bwMode="auto">
          <a:xfrm>
            <a:off x="5927217" y="2917892"/>
            <a:ext cx="245580"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F</a:t>
            </a:r>
          </a:p>
        </p:txBody>
      </p:sp>
      <p:sp>
        <p:nvSpPr>
          <p:cNvPr id="67" name="Line 26"/>
          <p:cNvSpPr>
            <a:spLocks noChangeShapeType="1"/>
          </p:cNvSpPr>
          <p:nvPr/>
        </p:nvSpPr>
        <p:spPr bwMode="auto">
          <a:xfrm>
            <a:off x="1749796" y="3174934"/>
            <a:ext cx="5400000" cy="0"/>
          </a:xfrm>
          <a:prstGeom prst="line">
            <a:avLst/>
          </a:prstGeom>
          <a:noFill/>
          <a:ln w="12700">
            <a:solidFill>
              <a:schemeClr val="tx1"/>
            </a:solidFill>
            <a:prstDash val="dash"/>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 name="立方体 3">
            <a:extLst>
              <a:ext uri="{FF2B5EF4-FFF2-40B4-BE49-F238E27FC236}">
                <a16:creationId xmlns:a16="http://schemas.microsoft.com/office/drawing/2014/main" id="{8A94D63A-C685-C789-0320-4AD3D88CE446}"/>
              </a:ext>
            </a:extLst>
          </p:cNvPr>
          <p:cNvSpPr/>
          <p:nvPr/>
        </p:nvSpPr>
        <p:spPr>
          <a:xfrm>
            <a:off x="2475150"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6" name="图片 5">
            <a:extLst>
              <a:ext uri="{FF2B5EF4-FFF2-40B4-BE49-F238E27FC236}">
                <a16:creationId xmlns:a16="http://schemas.microsoft.com/office/drawing/2014/main" id="{00D40AE6-44A4-C7DC-5415-D71D3BDBAF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00920" y="3344909"/>
            <a:ext cx="304800" cy="304800"/>
          </a:xfrm>
          <a:prstGeom prst="rect">
            <a:avLst/>
          </a:prstGeom>
        </p:spPr>
      </p:pic>
      <p:pic>
        <p:nvPicPr>
          <p:cNvPr id="9" name="图片 8">
            <a:extLst>
              <a:ext uri="{FF2B5EF4-FFF2-40B4-BE49-F238E27FC236}">
                <a16:creationId xmlns:a16="http://schemas.microsoft.com/office/drawing/2014/main" id="{F029053B-E175-63F0-E32E-FD3B17625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0793" y="3353098"/>
            <a:ext cx="304800" cy="304800"/>
          </a:xfrm>
          <a:prstGeom prst="rect">
            <a:avLst/>
          </a:prstGeom>
        </p:spPr>
      </p:pic>
      <p:sp>
        <p:nvSpPr>
          <p:cNvPr id="11" name="立方体 10">
            <a:extLst>
              <a:ext uri="{FF2B5EF4-FFF2-40B4-BE49-F238E27FC236}">
                <a16:creationId xmlns:a16="http://schemas.microsoft.com/office/drawing/2014/main" id="{E021EA46-CDB8-7714-2AB8-0C8395159DD5}"/>
              </a:ext>
            </a:extLst>
          </p:cNvPr>
          <p:cNvSpPr/>
          <p:nvPr/>
        </p:nvSpPr>
        <p:spPr>
          <a:xfrm>
            <a:off x="3546769"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3" name="立方体 12">
            <a:extLst>
              <a:ext uri="{FF2B5EF4-FFF2-40B4-BE49-F238E27FC236}">
                <a16:creationId xmlns:a16="http://schemas.microsoft.com/office/drawing/2014/main" id="{1D54A589-97D1-3A3E-D5BA-581A4A290573}"/>
              </a:ext>
            </a:extLst>
          </p:cNvPr>
          <p:cNvSpPr/>
          <p:nvPr/>
        </p:nvSpPr>
        <p:spPr>
          <a:xfrm>
            <a:off x="4618388"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5" name="立方体 14">
            <a:extLst>
              <a:ext uri="{FF2B5EF4-FFF2-40B4-BE49-F238E27FC236}">
                <a16:creationId xmlns:a16="http://schemas.microsoft.com/office/drawing/2014/main" id="{40B3E368-584F-A6E5-CF14-6E97150F39A1}"/>
              </a:ext>
            </a:extLst>
          </p:cNvPr>
          <p:cNvSpPr/>
          <p:nvPr/>
        </p:nvSpPr>
        <p:spPr>
          <a:xfrm>
            <a:off x="5690007"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cxnSp>
        <p:nvCxnSpPr>
          <p:cNvPr id="33" name="直接连接符 32">
            <a:extLst>
              <a:ext uri="{FF2B5EF4-FFF2-40B4-BE49-F238E27FC236}">
                <a16:creationId xmlns:a16="http://schemas.microsoft.com/office/drawing/2014/main" id="{710C0520-B0EA-E95E-2970-BDC359889024}"/>
              </a:ext>
            </a:extLst>
          </p:cNvPr>
          <p:cNvCxnSpPr>
            <a:cxnSpLocks/>
            <a:stCxn id="36" idx="3"/>
          </p:cNvCxnSpPr>
          <p:nvPr/>
        </p:nvCxnSpPr>
        <p:spPr>
          <a:xfrm flipV="1">
            <a:off x="4745866" y="3489819"/>
            <a:ext cx="708447"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EA48245E-5D63-496A-5B06-E523D1F85A03}"/>
              </a:ext>
            </a:extLst>
          </p:cNvPr>
          <p:cNvCxnSpPr>
            <a:cxnSpLocks/>
            <a:stCxn id="36" idx="0"/>
          </p:cNvCxnSpPr>
          <p:nvPr/>
        </p:nvCxnSpPr>
        <p:spPr>
          <a:xfrm flipV="1">
            <a:off x="4480409" y="3531006"/>
            <a:ext cx="0" cy="52881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D2B061CB-3FE9-FC4A-E9F8-AC2E1B85D8F1}"/>
              </a:ext>
            </a:extLst>
          </p:cNvPr>
          <p:cNvCxnSpPr>
            <a:cxnSpLocks/>
            <a:stCxn id="36" idx="1"/>
          </p:cNvCxnSpPr>
          <p:nvPr/>
        </p:nvCxnSpPr>
        <p:spPr>
          <a:xfrm flipH="1" flipV="1">
            <a:off x="3317549" y="3489819"/>
            <a:ext cx="897402"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036B83B8-49C6-9834-4F9F-0ED9237F49F9}"/>
              </a:ext>
            </a:extLst>
          </p:cNvPr>
          <p:cNvCxnSpPr>
            <a:cxnSpLocks/>
          </p:cNvCxnSpPr>
          <p:nvPr/>
        </p:nvCxnSpPr>
        <p:spPr>
          <a:xfrm flipH="1" flipV="1">
            <a:off x="6901982" y="3497428"/>
            <a:ext cx="3938"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A7E0B941-6F21-E03B-99F4-5F47808D2890}"/>
              </a:ext>
            </a:extLst>
          </p:cNvPr>
          <p:cNvCxnSpPr>
            <a:cxnSpLocks/>
          </p:cNvCxnSpPr>
          <p:nvPr/>
        </p:nvCxnSpPr>
        <p:spPr>
          <a:xfrm flipH="1" flipV="1">
            <a:off x="2044612" y="3497428"/>
            <a:ext cx="197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75F71ECA-351F-0A1E-23C7-60F0208BEDA6}"/>
              </a:ext>
            </a:extLst>
          </p:cNvPr>
          <p:cNvCxnSpPr>
            <a:cxnSpLocks/>
            <a:stCxn id="4" idx="2"/>
            <a:endCxn id="9" idx="3"/>
          </p:cNvCxnSpPr>
          <p:nvPr/>
        </p:nvCxnSpPr>
        <p:spPr>
          <a:xfrm flipH="1">
            <a:off x="1815593" y="3501070"/>
            <a:ext cx="659557" cy="4428"/>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DD559E8A-1BA8-AD24-8CE4-2B5462E9DBC6}"/>
              </a:ext>
            </a:extLst>
          </p:cNvPr>
          <p:cNvCxnSpPr>
            <a:cxnSpLocks/>
            <a:stCxn id="6" idx="1"/>
            <a:endCxn id="15" idx="4"/>
          </p:cNvCxnSpPr>
          <p:nvPr/>
        </p:nvCxnSpPr>
        <p:spPr>
          <a:xfrm flipH="1">
            <a:off x="6338436" y="3497309"/>
            <a:ext cx="762484" cy="3761"/>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4000"/>
                                        <p:tgtEl>
                                          <p:spTgt spid="67"/>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67"/>
                                        </p:tgtEl>
                                      </p:cBhvr>
                                    </p:animEffect>
                                    <p:set>
                                      <p:cBhvr>
                                        <p:cTn id="14" dur="1" fill="hold">
                                          <p:stCondLst>
                                            <p:cond delay="2999"/>
                                          </p:stCondLst>
                                        </p:cTn>
                                        <p:tgtEl>
                                          <p:spTgt spid="6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7" grpId="1" animBg="1"/>
      <p:bldP spid="67" grpId="2"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标题 64">
            <a:extLst>
              <a:ext uri="{FF2B5EF4-FFF2-40B4-BE49-F238E27FC236}">
                <a16:creationId xmlns:a16="http://schemas.microsoft.com/office/drawing/2014/main" id="{AA520517-F777-D96E-F9D4-693032BF504E}"/>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a:xfrm>
            <a:off x="612000" y="899999"/>
            <a:ext cx="7920000" cy="3780000"/>
          </a:xfrm>
        </p:spPr>
        <p:txBody>
          <a:bodyPr/>
          <a:lstStyle/>
          <a:p>
            <a:r>
              <a:rPr lang="zh-CN" altLang="en-US" dirty="0"/>
              <a:t>特点</a:t>
            </a:r>
            <a:endParaRPr lang="en-US" altLang="zh-CN" dirty="0"/>
          </a:p>
          <a:p>
            <a:pPr lvl="1"/>
            <a:r>
              <a:rPr lang="zh-CN" altLang="en-US" dirty="0"/>
              <a:t>资源独占：通话的两个用户始终占用端到端的通信资源</a:t>
            </a:r>
            <a:endParaRPr lang="en-US" altLang="zh-CN" dirty="0"/>
          </a:p>
          <a:p>
            <a:pPr lvl="1"/>
            <a:r>
              <a:rPr lang="zh-CN" altLang="en-US" dirty="0"/>
              <a:t>资源利用率很低：计算机数据具有突发性，这导致在传送数据时，真正用来传送数据的时间往往不到 </a:t>
            </a:r>
            <a:r>
              <a:rPr lang="en-US" altLang="zh-CN" dirty="0"/>
              <a:t>10%</a:t>
            </a:r>
            <a:r>
              <a:rPr lang="zh-CN" altLang="en-US" dirty="0"/>
              <a:t>，甚至不到 </a:t>
            </a:r>
            <a:r>
              <a:rPr lang="en-US" altLang="zh-CN" dirty="0"/>
              <a:t>1%</a:t>
            </a:r>
            <a:r>
              <a:rPr lang="zh-CN" altLang="en-US" dirty="0"/>
              <a:t>；通信线路资源在绝大部分时间里都是空闲的</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E277E-F134-93C7-C88C-6004C53305A3}"/>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2F4D2300-AAED-55BD-6AB9-0D190A714D9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a:extLst>
              <a:ext uri="{FF2B5EF4-FFF2-40B4-BE49-F238E27FC236}">
                <a16:creationId xmlns:a16="http://schemas.microsoft.com/office/drawing/2014/main" id="{417D5A59-B111-D8F9-B9D4-78882EDC3AB8}"/>
              </a:ext>
            </a:extLst>
          </p:cNvPr>
          <p:cNvSpPr>
            <a:spLocks noGrp="1"/>
          </p:cNvSpPr>
          <p:nvPr>
            <p:ph sz="quarter" idx="10"/>
          </p:nvPr>
        </p:nvSpPr>
        <p:spPr>
          <a:xfrm>
            <a:off x="612000" y="899999"/>
            <a:ext cx="7920000" cy="3780000"/>
          </a:xfrm>
        </p:spPr>
        <p:txBody>
          <a:bodyPr/>
          <a:lstStyle/>
          <a:p>
            <a:r>
              <a:rPr lang="zh-CN" altLang="en-US" dirty="0"/>
              <a:t>分组交换以分组作为数据传输单元</a:t>
            </a:r>
            <a:endParaRPr lang="en-US" altLang="zh-CN" dirty="0"/>
          </a:p>
          <a:p>
            <a:r>
              <a:rPr lang="zh-CN" altLang="en-US" dirty="0"/>
              <a:t>发送前，先把较长的报文划分成更小的等长数据段</a:t>
            </a:r>
            <a:endParaRPr lang="en-US" altLang="zh-CN" dirty="0"/>
          </a:p>
          <a:p>
            <a:pPr lvl="1"/>
            <a:endParaRPr lang="zh-CN" altLang="en-US" dirty="0"/>
          </a:p>
          <a:p>
            <a:endParaRPr lang="zh-CN" altLang="en-US" dirty="0"/>
          </a:p>
        </p:txBody>
      </p:sp>
      <p:sp>
        <p:nvSpPr>
          <p:cNvPr id="3" name="Line 8">
            <a:extLst>
              <a:ext uri="{FF2B5EF4-FFF2-40B4-BE49-F238E27FC236}">
                <a16:creationId xmlns:a16="http://schemas.microsoft.com/office/drawing/2014/main" id="{9B98B9C8-897B-1735-CC7C-7FC3B1670C34}"/>
              </a:ext>
            </a:extLst>
          </p:cNvPr>
          <p:cNvSpPr>
            <a:spLocks noChangeShapeType="1"/>
          </p:cNvSpPr>
          <p:nvPr/>
        </p:nvSpPr>
        <p:spPr bwMode="auto">
          <a:xfrm>
            <a:off x="1872000" y="2208938"/>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7" name="Text Box 9">
            <a:extLst>
              <a:ext uri="{FF2B5EF4-FFF2-40B4-BE49-F238E27FC236}">
                <a16:creationId xmlns:a16="http://schemas.microsoft.com/office/drawing/2014/main" id="{A79AEF01-784D-BB35-D3DA-E519F6DFEF4B}"/>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9" name="直接连接符 10">
            <a:extLst>
              <a:ext uri="{FF2B5EF4-FFF2-40B4-BE49-F238E27FC236}">
                <a16:creationId xmlns:a16="http://schemas.microsoft.com/office/drawing/2014/main" id="{5D9A3E82-7F85-28AC-E346-0107F50FE51E}"/>
              </a:ext>
            </a:extLst>
          </p:cNvPr>
          <p:cNvCxnSpPr>
            <a:cxnSpLocks noChangeShapeType="1"/>
          </p:cNvCxnSpPr>
          <p:nvPr/>
        </p:nvCxnSpPr>
        <p:spPr bwMode="auto">
          <a:xfrm>
            <a:off x="7272000" y="2028938"/>
            <a:ext cx="0" cy="360000"/>
          </a:xfrm>
          <a:prstGeom prst="line">
            <a:avLst/>
          </a:prstGeom>
          <a:solidFill>
            <a:srgbClr val="CDF3CD"/>
          </a:solidFill>
          <a:ln w="19050">
            <a:solidFill>
              <a:srgbClr val="00CC00"/>
            </a:solidFill>
            <a:miter lim="800000"/>
          </a:ln>
        </p:spPr>
      </p:cxnSp>
      <p:cxnSp>
        <p:nvCxnSpPr>
          <p:cNvPr id="12" name="直接连接符 11">
            <a:extLst>
              <a:ext uri="{FF2B5EF4-FFF2-40B4-BE49-F238E27FC236}">
                <a16:creationId xmlns:a16="http://schemas.microsoft.com/office/drawing/2014/main" id="{035D4F5B-7C06-E6F6-2821-98F38A917B67}"/>
              </a:ext>
            </a:extLst>
          </p:cNvPr>
          <p:cNvCxnSpPr>
            <a:cxnSpLocks noChangeShapeType="1"/>
          </p:cNvCxnSpPr>
          <p:nvPr/>
        </p:nvCxnSpPr>
        <p:spPr bwMode="auto">
          <a:xfrm>
            <a:off x="1872000" y="2028938"/>
            <a:ext cx="0" cy="360000"/>
          </a:xfrm>
          <a:prstGeom prst="line">
            <a:avLst/>
          </a:prstGeom>
          <a:solidFill>
            <a:srgbClr val="CDF3CD"/>
          </a:solidFill>
          <a:ln w="19050">
            <a:solidFill>
              <a:srgbClr val="00CC00"/>
            </a:solidFill>
            <a:miter lim="800000"/>
          </a:ln>
        </p:spPr>
      </p:cxnSp>
      <p:sp>
        <p:nvSpPr>
          <p:cNvPr id="13" name="Rectangle 74">
            <a:extLst>
              <a:ext uri="{FF2B5EF4-FFF2-40B4-BE49-F238E27FC236}">
                <a16:creationId xmlns:a16="http://schemas.microsoft.com/office/drawing/2014/main" id="{45F1AAEB-BB43-44D8-D79D-BADE56BB4DE7}"/>
              </a:ext>
            </a:extLst>
          </p:cNvPr>
          <p:cNvSpPr>
            <a:spLocks noChangeArrowheads="1"/>
          </p:cNvSpPr>
          <p:nvPr/>
        </p:nvSpPr>
        <p:spPr bwMode="auto">
          <a:xfrm>
            <a:off x="1872000" y="2464464"/>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14" name="直接连接符 10">
            <a:extLst>
              <a:ext uri="{FF2B5EF4-FFF2-40B4-BE49-F238E27FC236}">
                <a16:creationId xmlns:a16="http://schemas.microsoft.com/office/drawing/2014/main" id="{6ED978D8-704E-80D5-4F68-359C4C2C60FA}"/>
              </a:ext>
            </a:extLst>
          </p:cNvPr>
          <p:cNvCxnSpPr>
            <a:cxnSpLocks noChangeShapeType="1"/>
          </p:cNvCxnSpPr>
          <p:nvPr/>
        </p:nvCxnSpPr>
        <p:spPr bwMode="auto">
          <a:xfrm>
            <a:off x="3672000" y="2464464"/>
            <a:ext cx="0" cy="360000"/>
          </a:xfrm>
          <a:prstGeom prst="line">
            <a:avLst/>
          </a:prstGeom>
          <a:solidFill>
            <a:srgbClr val="CDF3CD"/>
          </a:solidFill>
          <a:ln w="19050">
            <a:solidFill>
              <a:srgbClr val="00CC00"/>
            </a:solidFill>
            <a:miter lim="800000"/>
          </a:ln>
        </p:spPr>
      </p:cxnSp>
      <p:cxnSp>
        <p:nvCxnSpPr>
          <p:cNvPr id="15" name="直接连接符 10">
            <a:extLst>
              <a:ext uri="{FF2B5EF4-FFF2-40B4-BE49-F238E27FC236}">
                <a16:creationId xmlns:a16="http://schemas.microsoft.com/office/drawing/2014/main" id="{0D11EFF8-24CF-7164-FDA2-7CB93646B926}"/>
              </a:ext>
            </a:extLst>
          </p:cNvPr>
          <p:cNvCxnSpPr>
            <a:cxnSpLocks noChangeShapeType="1"/>
          </p:cNvCxnSpPr>
          <p:nvPr/>
        </p:nvCxnSpPr>
        <p:spPr bwMode="auto">
          <a:xfrm>
            <a:off x="5472000" y="2464464"/>
            <a:ext cx="0" cy="360000"/>
          </a:xfrm>
          <a:prstGeom prst="line">
            <a:avLst/>
          </a:prstGeom>
          <a:solidFill>
            <a:srgbClr val="CDF3CD"/>
          </a:solidFill>
          <a:ln w="19050">
            <a:solidFill>
              <a:srgbClr val="00CC00"/>
            </a:solidFill>
            <a:miter lim="800000"/>
          </a:ln>
        </p:spPr>
      </p:cxnSp>
    </p:spTree>
    <p:extLst>
      <p:ext uri="{BB962C8B-B14F-4D97-AF65-F5344CB8AC3E}">
        <p14:creationId xmlns:p14="http://schemas.microsoft.com/office/powerpoint/2010/main" val="37952405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51911A7D-B252-8039-8DB8-B2F80C9D36C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数据段前面添加首部就构成了分组 </a:t>
            </a:r>
            <a:r>
              <a:rPr lang="en-US" altLang="zh-CN" dirty="0"/>
              <a:t>Packet</a:t>
            </a:r>
          </a:p>
          <a:p>
            <a:r>
              <a:rPr lang="zh-CN" altLang="en-US" dirty="0"/>
              <a:t>分组又称为包，而分组的首部也可称为包头</a:t>
            </a:r>
            <a:endParaRPr lang="en-US" altLang="zh-CN" dirty="0"/>
          </a:p>
          <a:p>
            <a:r>
              <a:rPr lang="zh-CN" altLang="en-US" dirty="0"/>
              <a:t>发送端依次把各分组发送到接收端</a:t>
            </a:r>
          </a:p>
          <a:p>
            <a:pPr lvl="1"/>
            <a:endParaRPr lang="zh-CN" altLang="en-US" dirty="0"/>
          </a:p>
          <a:p>
            <a:endParaRPr lang="zh-CN" altLang="en-US" dirty="0"/>
          </a:p>
        </p:txBody>
      </p:sp>
      <p:grpSp>
        <p:nvGrpSpPr>
          <p:cNvPr id="71" name="组合 70">
            <a:extLst>
              <a:ext uri="{FF2B5EF4-FFF2-40B4-BE49-F238E27FC236}">
                <a16:creationId xmlns:a16="http://schemas.microsoft.com/office/drawing/2014/main" id="{0B9510A0-F4F3-B16A-05D3-4BADBAB0B419}"/>
              </a:ext>
            </a:extLst>
          </p:cNvPr>
          <p:cNvGrpSpPr/>
          <p:nvPr/>
        </p:nvGrpSpPr>
        <p:grpSpPr>
          <a:xfrm>
            <a:off x="1512000" y="2901344"/>
            <a:ext cx="2160744" cy="806127"/>
            <a:chOff x="1512000" y="3405608"/>
            <a:chExt cx="2160744" cy="806127"/>
          </a:xfrm>
        </p:grpSpPr>
        <p:sp>
          <p:nvSpPr>
            <p:cNvPr id="54" name="Rectangle 2"/>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5" name="Rectangle 10"/>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57" name="AutoShape 14"/>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8" name="Text Box 15"/>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2" name="组合 71">
            <a:extLst>
              <a:ext uri="{FF2B5EF4-FFF2-40B4-BE49-F238E27FC236}">
                <a16:creationId xmlns:a16="http://schemas.microsoft.com/office/drawing/2014/main" id="{1C9BBE23-5AB5-3CC3-08B2-19D9F37F9748}"/>
              </a:ext>
            </a:extLst>
          </p:cNvPr>
          <p:cNvGrpSpPr/>
          <p:nvPr/>
        </p:nvGrpSpPr>
        <p:grpSpPr>
          <a:xfrm>
            <a:off x="3311256" y="3461641"/>
            <a:ext cx="2160744" cy="806127"/>
            <a:chOff x="1512000" y="3405608"/>
            <a:chExt cx="2160744" cy="806127"/>
          </a:xfrm>
        </p:grpSpPr>
        <p:sp>
          <p:nvSpPr>
            <p:cNvPr id="73" name="Rectangle 2">
              <a:extLst>
                <a:ext uri="{FF2B5EF4-FFF2-40B4-BE49-F238E27FC236}">
                  <a16:creationId xmlns:a16="http://schemas.microsoft.com/office/drawing/2014/main" id="{C9797E4B-C693-0743-4CB8-DF537F617A2E}"/>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4" name="Rectangle 10">
              <a:extLst>
                <a:ext uri="{FF2B5EF4-FFF2-40B4-BE49-F238E27FC236}">
                  <a16:creationId xmlns:a16="http://schemas.microsoft.com/office/drawing/2014/main" id="{F40915F1-CDB2-D702-03AD-4A62784D62E2}"/>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75" name="AutoShape 14">
              <a:extLst>
                <a:ext uri="{FF2B5EF4-FFF2-40B4-BE49-F238E27FC236}">
                  <a16:creationId xmlns:a16="http://schemas.microsoft.com/office/drawing/2014/main" id="{7F5D718D-C55B-EABD-9B8C-449314235239}"/>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76" name="Text Box 15">
              <a:extLst>
                <a:ext uri="{FF2B5EF4-FFF2-40B4-BE49-F238E27FC236}">
                  <a16:creationId xmlns:a16="http://schemas.microsoft.com/office/drawing/2014/main" id="{F4D3F212-3509-E686-32AA-B552DB3CDB7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7" name="组合 76">
            <a:extLst>
              <a:ext uri="{FF2B5EF4-FFF2-40B4-BE49-F238E27FC236}">
                <a16:creationId xmlns:a16="http://schemas.microsoft.com/office/drawing/2014/main" id="{FC7F351B-279F-0766-D324-10AE6DDA3AEE}"/>
              </a:ext>
            </a:extLst>
          </p:cNvPr>
          <p:cNvGrpSpPr/>
          <p:nvPr/>
        </p:nvGrpSpPr>
        <p:grpSpPr>
          <a:xfrm>
            <a:off x="5111256" y="4021938"/>
            <a:ext cx="2160744" cy="806127"/>
            <a:chOff x="1512000" y="3405608"/>
            <a:chExt cx="2160744" cy="806127"/>
          </a:xfrm>
        </p:grpSpPr>
        <p:sp>
          <p:nvSpPr>
            <p:cNvPr id="78" name="Rectangle 2">
              <a:extLst>
                <a:ext uri="{FF2B5EF4-FFF2-40B4-BE49-F238E27FC236}">
                  <a16:creationId xmlns:a16="http://schemas.microsoft.com/office/drawing/2014/main" id="{0254D680-EA03-1639-8929-A8B97B1BD58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9" name="Rectangle 10">
              <a:extLst>
                <a:ext uri="{FF2B5EF4-FFF2-40B4-BE49-F238E27FC236}">
                  <a16:creationId xmlns:a16="http://schemas.microsoft.com/office/drawing/2014/main" id="{10D153B5-5356-E863-F104-6CC1494FB127}"/>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80" name="AutoShape 14">
              <a:extLst>
                <a:ext uri="{FF2B5EF4-FFF2-40B4-BE49-F238E27FC236}">
                  <a16:creationId xmlns:a16="http://schemas.microsoft.com/office/drawing/2014/main" id="{AE4E15C6-13B7-3221-6325-03E8D4C52F11}"/>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81" name="Text Box 15">
              <a:extLst>
                <a:ext uri="{FF2B5EF4-FFF2-40B4-BE49-F238E27FC236}">
                  <a16:creationId xmlns:a16="http://schemas.microsoft.com/office/drawing/2014/main" id="{A6996A48-A08F-0B85-D8AC-1587F6FDA38C}"/>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82" name="Line 8">
            <a:extLst>
              <a:ext uri="{FF2B5EF4-FFF2-40B4-BE49-F238E27FC236}">
                <a16:creationId xmlns:a16="http://schemas.microsoft.com/office/drawing/2014/main" id="{0DCE8FCB-F9D4-506B-650B-F0CE8334E602}"/>
              </a:ext>
            </a:extLst>
          </p:cNvPr>
          <p:cNvSpPr>
            <a:spLocks noChangeShapeType="1"/>
          </p:cNvSpPr>
          <p:nvPr/>
        </p:nvSpPr>
        <p:spPr bwMode="auto">
          <a:xfrm>
            <a:off x="1872000" y="2208938"/>
            <a:ext cx="5400000" cy="0"/>
          </a:xfrm>
          <a:prstGeom prst="line">
            <a:avLst/>
          </a:prstGeom>
          <a:noFill/>
          <a:ln w="12700">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83" name="Text Box 9">
            <a:extLst>
              <a:ext uri="{FF2B5EF4-FFF2-40B4-BE49-F238E27FC236}">
                <a16:creationId xmlns:a16="http://schemas.microsoft.com/office/drawing/2014/main" id="{9D55B05C-2F5A-3387-71C4-A06AEA2B3FDE}"/>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84" name="直接连接符 10">
            <a:extLst>
              <a:ext uri="{FF2B5EF4-FFF2-40B4-BE49-F238E27FC236}">
                <a16:creationId xmlns:a16="http://schemas.microsoft.com/office/drawing/2014/main" id="{F04DB95F-BCC1-8CA4-FA88-C3A3E5D89E75}"/>
              </a:ext>
            </a:extLst>
          </p:cNvPr>
          <p:cNvCxnSpPr>
            <a:cxnSpLocks noChangeShapeType="1"/>
          </p:cNvCxnSpPr>
          <p:nvPr/>
        </p:nvCxnSpPr>
        <p:spPr bwMode="auto">
          <a:xfrm>
            <a:off x="7272000" y="2028938"/>
            <a:ext cx="0" cy="360000"/>
          </a:xfrm>
          <a:prstGeom prst="line">
            <a:avLst/>
          </a:prstGeom>
          <a:solidFill>
            <a:srgbClr val="CDF3CD"/>
          </a:solidFill>
          <a:ln w="12700">
            <a:solidFill>
              <a:schemeClr val="tx1"/>
            </a:solidFill>
            <a:miter lim="800000"/>
          </a:ln>
        </p:spPr>
      </p:cxnSp>
      <p:cxnSp>
        <p:nvCxnSpPr>
          <p:cNvPr id="85" name="直接连接符 11">
            <a:extLst>
              <a:ext uri="{FF2B5EF4-FFF2-40B4-BE49-F238E27FC236}">
                <a16:creationId xmlns:a16="http://schemas.microsoft.com/office/drawing/2014/main" id="{41B5D424-232F-CE07-2B82-C7C73DFE10B0}"/>
              </a:ext>
            </a:extLst>
          </p:cNvPr>
          <p:cNvCxnSpPr>
            <a:cxnSpLocks noChangeShapeType="1"/>
          </p:cNvCxnSpPr>
          <p:nvPr/>
        </p:nvCxnSpPr>
        <p:spPr bwMode="auto">
          <a:xfrm>
            <a:off x="1872000" y="2028938"/>
            <a:ext cx="0" cy="360000"/>
          </a:xfrm>
          <a:prstGeom prst="line">
            <a:avLst/>
          </a:prstGeom>
          <a:solidFill>
            <a:srgbClr val="CDF3CD"/>
          </a:solidFill>
          <a:ln w="12700">
            <a:solidFill>
              <a:schemeClr val="tx1"/>
            </a:solidFill>
            <a:miter lim="800000"/>
          </a:ln>
        </p:spPr>
      </p:cxnSp>
      <p:sp>
        <p:nvSpPr>
          <p:cNvPr id="86" name="Rectangle 74">
            <a:extLst>
              <a:ext uri="{FF2B5EF4-FFF2-40B4-BE49-F238E27FC236}">
                <a16:creationId xmlns:a16="http://schemas.microsoft.com/office/drawing/2014/main" id="{B7DE82B3-3C43-5E36-FAD8-889BF6BC1F95}"/>
              </a:ext>
            </a:extLst>
          </p:cNvPr>
          <p:cNvSpPr>
            <a:spLocks noChangeArrowheads="1"/>
          </p:cNvSpPr>
          <p:nvPr/>
        </p:nvSpPr>
        <p:spPr bwMode="auto">
          <a:xfrm>
            <a:off x="1872000" y="2464464"/>
            <a:ext cx="54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87" name="直接连接符 10">
            <a:extLst>
              <a:ext uri="{FF2B5EF4-FFF2-40B4-BE49-F238E27FC236}">
                <a16:creationId xmlns:a16="http://schemas.microsoft.com/office/drawing/2014/main" id="{9F63F13E-5DB2-C2D9-79EB-34B7B2CADE93}"/>
              </a:ext>
            </a:extLst>
          </p:cNvPr>
          <p:cNvCxnSpPr>
            <a:cxnSpLocks noChangeShapeType="1"/>
          </p:cNvCxnSpPr>
          <p:nvPr/>
        </p:nvCxnSpPr>
        <p:spPr bwMode="auto">
          <a:xfrm>
            <a:off x="3672000" y="2464464"/>
            <a:ext cx="0" cy="360000"/>
          </a:xfrm>
          <a:prstGeom prst="line">
            <a:avLst/>
          </a:prstGeom>
          <a:solidFill>
            <a:srgbClr val="CDF3CD"/>
          </a:solidFill>
          <a:ln w="19050">
            <a:solidFill>
              <a:schemeClr val="tx1"/>
            </a:solidFill>
            <a:miter lim="800000"/>
          </a:ln>
        </p:spPr>
      </p:cxnSp>
      <p:cxnSp>
        <p:nvCxnSpPr>
          <p:cNvPr id="88" name="直接连接符 10">
            <a:extLst>
              <a:ext uri="{FF2B5EF4-FFF2-40B4-BE49-F238E27FC236}">
                <a16:creationId xmlns:a16="http://schemas.microsoft.com/office/drawing/2014/main" id="{C70AC922-E016-D375-5119-219E3CB78B46}"/>
              </a:ext>
            </a:extLst>
          </p:cNvPr>
          <p:cNvCxnSpPr>
            <a:cxnSpLocks noChangeShapeType="1"/>
          </p:cNvCxnSpPr>
          <p:nvPr/>
        </p:nvCxnSpPr>
        <p:spPr bwMode="auto">
          <a:xfrm>
            <a:off x="5472000" y="2464464"/>
            <a:ext cx="0" cy="360000"/>
          </a:xfrm>
          <a:prstGeom prst="line">
            <a:avLst/>
          </a:prstGeom>
          <a:solidFill>
            <a:srgbClr val="CDF3CD"/>
          </a:solidFill>
          <a:ln w="19050">
            <a:solidFill>
              <a:schemeClr val="tx1"/>
            </a:solidFill>
            <a:miter lim="800000"/>
          </a:ln>
        </p:spPr>
      </p:cxnSp>
      <p:sp>
        <p:nvSpPr>
          <p:cNvPr id="90" name="箭头: 下 89">
            <a:extLst>
              <a:ext uri="{FF2B5EF4-FFF2-40B4-BE49-F238E27FC236}">
                <a16:creationId xmlns:a16="http://schemas.microsoft.com/office/drawing/2014/main" id="{7D2C3A6C-D4AF-17AA-7863-836E3EF471D1}"/>
              </a:ext>
            </a:extLst>
          </p:cNvPr>
          <p:cNvSpPr/>
          <p:nvPr/>
        </p:nvSpPr>
        <p:spPr>
          <a:xfrm>
            <a:off x="4484594" y="2891109"/>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DD34F-F6F5-AB2C-B763-BB054A3C8A3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19" name="内容占位符 18">
            <a:extLst>
              <a:ext uri="{FF2B5EF4-FFF2-40B4-BE49-F238E27FC236}">
                <a16:creationId xmlns:a16="http://schemas.microsoft.com/office/drawing/2014/main" id="{47225FEC-C541-50F2-934A-31874E36828A}"/>
              </a:ext>
            </a:extLst>
          </p:cNvPr>
          <p:cNvSpPr>
            <a:spLocks noGrp="1"/>
          </p:cNvSpPr>
          <p:nvPr>
            <p:ph sz="quarter" idx="10"/>
          </p:nvPr>
        </p:nvSpPr>
        <p:spPr>
          <a:xfrm>
            <a:off x="612000" y="899999"/>
            <a:ext cx="7920000" cy="3780000"/>
          </a:xfrm>
        </p:spPr>
        <p:txBody>
          <a:bodyPr/>
          <a:lstStyle/>
          <a:p>
            <a:r>
              <a:rPr lang="zh-CN" altLang="en-US" dirty="0"/>
              <a:t>接收端收到分组后剥去首部，还原成原来的报文</a:t>
            </a:r>
            <a:endParaRPr lang="en-US" altLang="zh-CN" dirty="0"/>
          </a:p>
          <a:p>
            <a:r>
              <a:rPr lang="zh-CN" altLang="en-US" dirty="0"/>
              <a:t>假定分组在传输过程中没有出现差错，在转发时也没有被丢弃</a:t>
            </a:r>
          </a:p>
        </p:txBody>
      </p:sp>
      <p:sp>
        <p:nvSpPr>
          <p:cNvPr id="37" name="Line 8">
            <a:extLst>
              <a:ext uri="{FF2B5EF4-FFF2-40B4-BE49-F238E27FC236}">
                <a16:creationId xmlns:a16="http://schemas.microsoft.com/office/drawing/2014/main" id="{DCCB1C98-87C8-EB10-7587-4DC9CE9B69C0}"/>
              </a:ext>
            </a:extLst>
          </p:cNvPr>
          <p:cNvSpPr>
            <a:spLocks noChangeShapeType="1"/>
          </p:cNvSpPr>
          <p:nvPr/>
        </p:nvSpPr>
        <p:spPr bwMode="auto">
          <a:xfrm>
            <a:off x="1872000" y="3990677"/>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38" name="Text Box 9">
            <a:extLst>
              <a:ext uri="{FF2B5EF4-FFF2-40B4-BE49-F238E27FC236}">
                <a16:creationId xmlns:a16="http://schemas.microsoft.com/office/drawing/2014/main" id="{1CBFC1D4-73F7-6714-BF98-1EBBFE2FF25D}"/>
              </a:ext>
            </a:extLst>
          </p:cNvPr>
          <p:cNvSpPr txBox="1">
            <a:spLocks noChangeArrowheads="1"/>
          </p:cNvSpPr>
          <p:nvPr/>
        </p:nvSpPr>
        <p:spPr bwMode="auto">
          <a:xfrm>
            <a:off x="3900569" y="3852178"/>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39" name="直接连接符 10">
            <a:extLst>
              <a:ext uri="{FF2B5EF4-FFF2-40B4-BE49-F238E27FC236}">
                <a16:creationId xmlns:a16="http://schemas.microsoft.com/office/drawing/2014/main" id="{94BC5D34-26E0-AB4C-B70D-5ACA0653AB33}"/>
              </a:ext>
            </a:extLst>
          </p:cNvPr>
          <p:cNvCxnSpPr>
            <a:cxnSpLocks noChangeShapeType="1"/>
          </p:cNvCxnSpPr>
          <p:nvPr/>
        </p:nvCxnSpPr>
        <p:spPr bwMode="auto">
          <a:xfrm>
            <a:off x="7272000" y="3810677"/>
            <a:ext cx="0" cy="360000"/>
          </a:xfrm>
          <a:prstGeom prst="line">
            <a:avLst/>
          </a:prstGeom>
          <a:solidFill>
            <a:srgbClr val="CDF3CD"/>
          </a:solidFill>
          <a:ln w="19050">
            <a:solidFill>
              <a:srgbClr val="00CC00"/>
            </a:solidFill>
            <a:miter lim="800000"/>
          </a:ln>
        </p:spPr>
      </p:cxnSp>
      <p:cxnSp>
        <p:nvCxnSpPr>
          <p:cNvPr id="40" name="直接连接符 11">
            <a:extLst>
              <a:ext uri="{FF2B5EF4-FFF2-40B4-BE49-F238E27FC236}">
                <a16:creationId xmlns:a16="http://schemas.microsoft.com/office/drawing/2014/main" id="{D4585718-A961-74C3-E983-666866D7780B}"/>
              </a:ext>
            </a:extLst>
          </p:cNvPr>
          <p:cNvCxnSpPr>
            <a:cxnSpLocks noChangeShapeType="1"/>
          </p:cNvCxnSpPr>
          <p:nvPr/>
        </p:nvCxnSpPr>
        <p:spPr bwMode="auto">
          <a:xfrm>
            <a:off x="1872000" y="3810677"/>
            <a:ext cx="0" cy="360000"/>
          </a:xfrm>
          <a:prstGeom prst="line">
            <a:avLst/>
          </a:prstGeom>
          <a:solidFill>
            <a:srgbClr val="CDF3CD"/>
          </a:solidFill>
          <a:ln w="19050">
            <a:solidFill>
              <a:srgbClr val="00CC00"/>
            </a:solidFill>
            <a:miter lim="800000"/>
          </a:ln>
        </p:spPr>
      </p:cxnSp>
      <p:sp>
        <p:nvSpPr>
          <p:cNvPr id="43" name="Rectangle 74">
            <a:extLst>
              <a:ext uri="{FF2B5EF4-FFF2-40B4-BE49-F238E27FC236}">
                <a16:creationId xmlns:a16="http://schemas.microsoft.com/office/drawing/2014/main" id="{BCB36521-EFE3-DF89-56B4-43FB322D740D}"/>
              </a:ext>
            </a:extLst>
          </p:cNvPr>
          <p:cNvSpPr>
            <a:spLocks noChangeArrowheads="1"/>
          </p:cNvSpPr>
          <p:nvPr/>
        </p:nvSpPr>
        <p:spPr bwMode="auto">
          <a:xfrm>
            <a:off x="1872000" y="4246203"/>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44" name="直接连接符 10">
            <a:extLst>
              <a:ext uri="{FF2B5EF4-FFF2-40B4-BE49-F238E27FC236}">
                <a16:creationId xmlns:a16="http://schemas.microsoft.com/office/drawing/2014/main" id="{25A1064C-3C9C-6CFB-5BB1-B27ADB694C2C}"/>
              </a:ext>
            </a:extLst>
          </p:cNvPr>
          <p:cNvCxnSpPr>
            <a:cxnSpLocks noChangeShapeType="1"/>
          </p:cNvCxnSpPr>
          <p:nvPr/>
        </p:nvCxnSpPr>
        <p:spPr bwMode="auto">
          <a:xfrm>
            <a:off x="3672000" y="4246203"/>
            <a:ext cx="0" cy="360000"/>
          </a:xfrm>
          <a:prstGeom prst="line">
            <a:avLst/>
          </a:prstGeom>
          <a:solidFill>
            <a:srgbClr val="CDF3CD"/>
          </a:solidFill>
          <a:ln w="19050">
            <a:solidFill>
              <a:srgbClr val="00CC00"/>
            </a:solidFill>
            <a:miter lim="800000"/>
          </a:ln>
        </p:spPr>
      </p:cxnSp>
      <p:cxnSp>
        <p:nvCxnSpPr>
          <p:cNvPr id="45" name="直接连接符 10">
            <a:extLst>
              <a:ext uri="{FF2B5EF4-FFF2-40B4-BE49-F238E27FC236}">
                <a16:creationId xmlns:a16="http://schemas.microsoft.com/office/drawing/2014/main" id="{DC3AD763-F6DF-EF1A-A996-1B97FEE9B5CE}"/>
              </a:ext>
            </a:extLst>
          </p:cNvPr>
          <p:cNvCxnSpPr>
            <a:cxnSpLocks noChangeShapeType="1"/>
          </p:cNvCxnSpPr>
          <p:nvPr/>
        </p:nvCxnSpPr>
        <p:spPr bwMode="auto">
          <a:xfrm>
            <a:off x="5472000" y="4246203"/>
            <a:ext cx="0" cy="360000"/>
          </a:xfrm>
          <a:prstGeom prst="line">
            <a:avLst/>
          </a:prstGeom>
          <a:solidFill>
            <a:srgbClr val="CDF3CD"/>
          </a:solidFill>
          <a:ln w="19050">
            <a:solidFill>
              <a:srgbClr val="00CC00"/>
            </a:solidFill>
            <a:miter lim="800000"/>
          </a:ln>
        </p:spPr>
      </p:cxnSp>
      <p:grpSp>
        <p:nvGrpSpPr>
          <p:cNvPr id="46" name="组合 45">
            <a:extLst>
              <a:ext uri="{FF2B5EF4-FFF2-40B4-BE49-F238E27FC236}">
                <a16:creationId xmlns:a16="http://schemas.microsoft.com/office/drawing/2014/main" id="{256940A1-986A-E665-6A4A-18390C2FAF36}"/>
              </a:ext>
            </a:extLst>
          </p:cNvPr>
          <p:cNvGrpSpPr/>
          <p:nvPr/>
        </p:nvGrpSpPr>
        <p:grpSpPr>
          <a:xfrm>
            <a:off x="1512000" y="1576802"/>
            <a:ext cx="2160744" cy="806127"/>
            <a:chOff x="1512000" y="3405608"/>
            <a:chExt cx="2160744" cy="806127"/>
          </a:xfrm>
        </p:grpSpPr>
        <p:sp>
          <p:nvSpPr>
            <p:cNvPr id="47" name="Rectangle 2">
              <a:extLst>
                <a:ext uri="{FF2B5EF4-FFF2-40B4-BE49-F238E27FC236}">
                  <a16:creationId xmlns:a16="http://schemas.microsoft.com/office/drawing/2014/main" id="{394765F2-1338-2905-74E9-4019C2DF15D1}"/>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48" name="Rectangle 10">
              <a:extLst>
                <a:ext uri="{FF2B5EF4-FFF2-40B4-BE49-F238E27FC236}">
                  <a16:creationId xmlns:a16="http://schemas.microsoft.com/office/drawing/2014/main" id="{A4AED4FD-1C14-1711-9B3E-616C51B2241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49" name="AutoShape 14">
              <a:extLst>
                <a:ext uri="{FF2B5EF4-FFF2-40B4-BE49-F238E27FC236}">
                  <a16:creationId xmlns:a16="http://schemas.microsoft.com/office/drawing/2014/main" id="{CA3DF672-D0F4-5212-B0CC-AF8DF4915A0B}"/>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0" name="Text Box 15">
              <a:extLst>
                <a:ext uri="{FF2B5EF4-FFF2-40B4-BE49-F238E27FC236}">
                  <a16:creationId xmlns:a16="http://schemas.microsoft.com/office/drawing/2014/main" id="{86DA33AB-0CDA-AF94-2D6A-714F2A45A1C3}"/>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1" name="组合 50">
            <a:extLst>
              <a:ext uri="{FF2B5EF4-FFF2-40B4-BE49-F238E27FC236}">
                <a16:creationId xmlns:a16="http://schemas.microsoft.com/office/drawing/2014/main" id="{F7570D07-B826-8234-9413-0C9E0BAA8350}"/>
              </a:ext>
            </a:extLst>
          </p:cNvPr>
          <p:cNvGrpSpPr/>
          <p:nvPr/>
        </p:nvGrpSpPr>
        <p:grpSpPr>
          <a:xfrm>
            <a:off x="3311256" y="2137099"/>
            <a:ext cx="2160744" cy="806127"/>
            <a:chOff x="1512000" y="3405608"/>
            <a:chExt cx="2160744" cy="806127"/>
          </a:xfrm>
        </p:grpSpPr>
        <p:sp>
          <p:nvSpPr>
            <p:cNvPr id="52" name="Rectangle 2">
              <a:extLst>
                <a:ext uri="{FF2B5EF4-FFF2-40B4-BE49-F238E27FC236}">
                  <a16:creationId xmlns:a16="http://schemas.microsoft.com/office/drawing/2014/main" id="{E7C1B19F-2E09-9517-F28F-04B15051911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3" name="Rectangle 10">
              <a:extLst>
                <a:ext uri="{FF2B5EF4-FFF2-40B4-BE49-F238E27FC236}">
                  <a16:creationId xmlns:a16="http://schemas.microsoft.com/office/drawing/2014/main" id="{D573B469-833B-0546-33BD-E35AF3368A5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4" name="AutoShape 14">
              <a:extLst>
                <a:ext uri="{FF2B5EF4-FFF2-40B4-BE49-F238E27FC236}">
                  <a16:creationId xmlns:a16="http://schemas.microsoft.com/office/drawing/2014/main" id="{7EBA5BF9-355A-B17C-1540-7FE7A8325C8A}"/>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5" name="Text Box 15">
              <a:extLst>
                <a:ext uri="{FF2B5EF4-FFF2-40B4-BE49-F238E27FC236}">
                  <a16:creationId xmlns:a16="http://schemas.microsoft.com/office/drawing/2014/main" id="{08D98252-42D2-DD60-7F73-D30D57C98602}"/>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6" name="组合 55">
            <a:extLst>
              <a:ext uri="{FF2B5EF4-FFF2-40B4-BE49-F238E27FC236}">
                <a16:creationId xmlns:a16="http://schemas.microsoft.com/office/drawing/2014/main" id="{96CDE868-4185-125A-93A4-5573375D8419}"/>
              </a:ext>
            </a:extLst>
          </p:cNvPr>
          <p:cNvGrpSpPr/>
          <p:nvPr/>
        </p:nvGrpSpPr>
        <p:grpSpPr>
          <a:xfrm>
            <a:off x="5111256" y="2697396"/>
            <a:ext cx="2160744" cy="806127"/>
            <a:chOff x="1512000" y="3405608"/>
            <a:chExt cx="2160744" cy="806127"/>
          </a:xfrm>
        </p:grpSpPr>
        <p:sp>
          <p:nvSpPr>
            <p:cNvPr id="57" name="Rectangle 2">
              <a:extLst>
                <a:ext uri="{FF2B5EF4-FFF2-40B4-BE49-F238E27FC236}">
                  <a16:creationId xmlns:a16="http://schemas.microsoft.com/office/drawing/2014/main" id="{76A5D0D6-FD02-12BF-4374-01BF146465F6}"/>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8" name="Rectangle 10">
              <a:extLst>
                <a:ext uri="{FF2B5EF4-FFF2-40B4-BE49-F238E27FC236}">
                  <a16:creationId xmlns:a16="http://schemas.microsoft.com/office/drawing/2014/main" id="{CFBECEDD-18B1-481E-D9DC-D200A2F49FD7}"/>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9" name="AutoShape 14">
              <a:extLst>
                <a:ext uri="{FF2B5EF4-FFF2-40B4-BE49-F238E27FC236}">
                  <a16:creationId xmlns:a16="http://schemas.microsoft.com/office/drawing/2014/main" id="{78C3F735-F8AC-80C4-0029-400ECB71EE37}"/>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60" name="Text Box 15">
              <a:extLst>
                <a:ext uri="{FF2B5EF4-FFF2-40B4-BE49-F238E27FC236}">
                  <a16:creationId xmlns:a16="http://schemas.microsoft.com/office/drawing/2014/main" id="{5B8E921E-7E05-FAB5-F4DD-B933725FBAB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61" name="箭头: 下 60">
            <a:extLst>
              <a:ext uri="{FF2B5EF4-FFF2-40B4-BE49-F238E27FC236}">
                <a16:creationId xmlns:a16="http://schemas.microsoft.com/office/drawing/2014/main" id="{C3612CFA-5B65-8683-4682-D19054679422}"/>
              </a:ext>
            </a:extLst>
          </p:cNvPr>
          <p:cNvSpPr/>
          <p:nvPr/>
        </p:nvSpPr>
        <p:spPr>
          <a:xfrm>
            <a:off x="4484594" y="3650876"/>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46F6232D-30A9-6E90-5463-09FCFA6AA518}"/>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分组在互联网中的转发过程</a:t>
            </a:r>
            <a:endParaRPr lang="en-US" altLang="zh-CN" dirty="0"/>
          </a:p>
          <a:p>
            <a:pPr lvl="1"/>
            <a:r>
              <a:rPr lang="zh-CN" altLang="en-US" dirty="0"/>
              <a:t>根据首部中包含的目的地址、源地址等重要控制信息进行转发</a:t>
            </a:r>
            <a:endParaRPr lang="en-US" altLang="zh-CN" dirty="0"/>
          </a:p>
          <a:p>
            <a:pPr lvl="1"/>
            <a:r>
              <a:rPr lang="zh-CN" altLang="en-US" dirty="0"/>
              <a:t>每一个分组在互联网中独立选择传输路径</a:t>
            </a:r>
            <a:endParaRPr lang="en-US" altLang="zh-CN" dirty="0"/>
          </a:p>
          <a:p>
            <a:pPr lvl="1"/>
            <a:r>
              <a:rPr lang="zh-CN" altLang="en-US" dirty="0"/>
              <a:t>位于网络核心部分的路由器负责转发分组，即进行分组交换</a:t>
            </a:r>
            <a:endParaRPr lang="en-US" altLang="zh-CN" dirty="0"/>
          </a:p>
          <a:p>
            <a:pPr lvl="1"/>
            <a:r>
              <a:rPr lang="zh-CN" altLang="en-US" dirty="0"/>
              <a:t>路由器要创建和动态维护转发表</a:t>
            </a:r>
            <a:endParaRPr lang="en-US" altLang="zh-CN" dirty="0"/>
          </a:p>
          <a:p>
            <a:endParaRPr lang="en-US" altLang="zh-CN" dirty="0"/>
          </a:p>
        </p:txBody>
      </p:sp>
      <p:grpSp>
        <p:nvGrpSpPr>
          <p:cNvPr id="4" name="组合 3"/>
          <p:cNvGrpSpPr/>
          <p:nvPr/>
        </p:nvGrpSpPr>
        <p:grpSpPr>
          <a:xfrm>
            <a:off x="5951729" y="1621750"/>
            <a:ext cx="2682240" cy="3027422"/>
            <a:chOff x="5286100" y="1209505"/>
            <a:chExt cx="2682240" cy="3027422"/>
          </a:xfrm>
        </p:grpSpPr>
        <p:sp>
          <p:nvSpPr>
            <p:cNvPr id="5" name="圆角矩形 4"/>
            <p:cNvSpPr/>
            <p:nvPr/>
          </p:nvSpPr>
          <p:spPr>
            <a:xfrm>
              <a:off x="5286100" y="1209505"/>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暂存收到的分组</a:t>
              </a:r>
            </a:p>
          </p:txBody>
        </p:sp>
        <p:sp>
          <p:nvSpPr>
            <p:cNvPr id="6" name="圆角矩形 5"/>
            <p:cNvSpPr/>
            <p:nvPr/>
          </p:nvSpPr>
          <p:spPr>
            <a:xfrm>
              <a:off x="5286100" y="1860312"/>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检查分组首部</a:t>
              </a:r>
            </a:p>
          </p:txBody>
        </p:sp>
        <p:sp>
          <p:nvSpPr>
            <p:cNvPr id="7" name="圆角矩形 6"/>
            <p:cNvSpPr/>
            <p:nvPr/>
          </p:nvSpPr>
          <p:spPr>
            <a:xfrm>
              <a:off x="5286100" y="2526204"/>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查找转发表</a:t>
              </a:r>
            </a:p>
          </p:txBody>
        </p:sp>
        <p:sp>
          <p:nvSpPr>
            <p:cNvPr id="8" name="圆角矩形 7"/>
            <p:cNvSpPr/>
            <p:nvPr/>
          </p:nvSpPr>
          <p:spPr>
            <a:xfrm>
              <a:off x="5286100" y="3225194"/>
              <a:ext cx="2682240" cy="523220"/>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r>
                <a:rPr lang="zh-CN" altLang="en-US" sz="1400" dirty="0"/>
                <a:t>按照首部中的目的地址，找到合适的接口转发出去</a:t>
              </a:r>
            </a:p>
          </p:txBody>
        </p:sp>
        <p:cxnSp>
          <p:nvCxnSpPr>
            <p:cNvPr id="10" name="直接箭头连接符 9"/>
            <p:cNvCxnSpPr/>
            <p:nvPr/>
          </p:nvCxnSpPr>
          <p:spPr>
            <a:xfrm>
              <a:off x="6627220" y="1554982"/>
              <a:ext cx="0" cy="267630"/>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627220" y="2205789"/>
              <a:ext cx="0" cy="282715"/>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p:nvPr/>
          </p:nvCxnSpPr>
          <p:spPr>
            <a:xfrm>
              <a:off x="6627220" y="2871681"/>
              <a:ext cx="0" cy="282716"/>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zh-CN" altLang="en-US" sz="1200" dirty="0"/>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8" name="矩形 3"/>
          <p:cNvSpPr>
            <a:spLocks noChangeArrowheads="1"/>
          </p:cNvSpPr>
          <p:nvPr/>
        </p:nvSpPr>
        <p:spPr bwMode="auto">
          <a:xfrm>
            <a:off x="2773349" y="4276262"/>
            <a:ext cx="40632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(a) </a:t>
            </a:r>
            <a:r>
              <a:rPr lang="zh-CN" altLang="zh-CN" sz="1400" dirty="0"/>
              <a:t>核心部分的路由器把网络互连起来</a:t>
            </a:r>
            <a:endParaRPr lang="zh-CN" altLang="en-US" sz="1400" dirty="0"/>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ln w="12700">
                  <a:solidFill>
                    <a:prstClr val="black"/>
                  </a:solidFill>
                </a:ln>
                <a:solidFill>
                  <a:srgbClr val="000099"/>
                </a:solidFill>
                <a:latin typeface="Times New Roman" panose="02020603050405020304" pitchFamily="18" charset="0"/>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82" name="矩形 3"/>
          <p:cNvSpPr>
            <a:spLocks noChangeArrowheads="1"/>
          </p:cNvSpPr>
          <p:nvPr/>
        </p:nvSpPr>
        <p:spPr bwMode="auto">
          <a:xfrm>
            <a:off x="2806002" y="4265099"/>
            <a:ext cx="382508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(b) </a:t>
            </a:r>
            <a:r>
              <a:rPr lang="zh-CN" altLang="zh-CN" sz="1400" dirty="0"/>
              <a:t>核心部分</a:t>
            </a:r>
            <a:r>
              <a:rPr lang="zh-CN" altLang="en-US" sz="1400" dirty="0"/>
              <a:t>中</a:t>
            </a:r>
            <a:r>
              <a:rPr lang="zh-CN" altLang="zh-CN" sz="1400" dirty="0"/>
              <a:t>的</a:t>
            </a:r>
            <a:r>
              <a:rPr lang="zh-CN" altLang="en-US" sz="1400" dirty="0"/>
              <a:t>网络</a:t>
            </a:r>
            <a:r>
              <a:rPr lang="zh-CN" altLang="zh-CN" sz="1400" dirty="0"/>
              <a:t>可用一条链路表示</a:t>
            </a:r>
            <a:endParaRPr lang="zh-CN" altLang="en-US" sz="1400" dirty="0"/>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dirty="0"/>
              <a:t>H1 </a:t>
            </a:r>
            <a:r>
              <a:rPr lang="zh-CN" altLang="en-US"/>
              <a:t>向 </a:t>
            </a:r>
            <a:r>
              <a:rPr lang="en-US" altLang="zh-CN" dirty="0"/>
              <a:t>H5 </a:t>
            </a:r>
            <a:r>
              <a:rPr lang="zh-CN" altLang="en-US" dirty="0"/>
              <a:t>发送分组</a:t>
            </a:r>
          </a:p>
        </p:txBody>
      </p:sp>
      <p:sp>
        <p:nvSpPr>
          <p:cNvPr id="7" name="Text Box 99"/>
          <p:cNvSpPr txBox="1">
            <a:spLocks noChangeArrowheads="1"/>
          </p:cNvSpPr>
          <p:nvPr/>
        </p:nvSpPr>
        <p:spPr bwMode="auto">
          <a:xfrm>
            <a:off x="1000125" y="369087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en-US" altLang="zh-CN" dirty="0"/>
              <a:t>H2 </a:t>
            </a:r>
            <a:r>
              <a:rPr lang="zh-CN" altLang="en-US" dirty="0"/>
              <a:t>向 </a:t>
            </a:r>
            <a:r>
              <a:rPr lang="en-US" altLang="zh-CN" dirty="0"/>
              <a:t>H6 </a:t>
            </a:r>
            <a:r>
              <a:rPr lang="zh-CN" altLang="en-US" dirty="0"/>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C92BF83E-9F0A-8490-3CB5-1B08AEBE2268}"/>
              </a:ext>
            </a:extLst>
          </p:cNvPr>
          <p:cNvSpPr>
            <a:spLocks noGrp="1"/>
          </p:cNvSpPr>
          <p:nvPr>
            <p:ph type="title"/>
          </p:nvPr>
        </p:nvSpPr>
        <p:spPr>
          <a:xfrm>
            <a:off x="612000" y="144000"/>
            <a:ext cx="7920000" cy="341632"/>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4" name="Text Box 25"/>
          <p:cNvSpPr txBox="1">
            <a:spLocks noChangeArrowheads="1"/>
          </p:cNvSpPr>
          <p:nvPr/>
        </p:nvSpPr>
        <p:spPr bwMode="auto">
          <a:xfrm>
            <a:off x="1714500" y="28606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1</a:t>
            </a:r>
            <a:endParaRPr kumimoji="1" lang="en-US" altLang="zh-CN" b="1" dirty="0">
              <a:latin typeface="Times New Roman" panose="02020603050405020304" pitchFamily="18" charset="0"/>
              <a:ea typeface="微软雅黑 Light" panose="020B0502040204020203" pitchFamily="34" charset="-122"/>
            </a:endParaRPr>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C</a:t>
            </a:r>
          </a:p>
        </p:txBody>
      </p:sp>
      <p:sp>
        <p:nvSpPr>
          <p:cNvPr id="77851" name="Text Box 39"/>
          <p:cNvSpPr txBox="1">
            <a:spLocks noChangeArrowheads="1"/>
          </p:cNvSpPr>
          <p:nvPr/>
        </p:nvSpPr>
        <p:spPr bwMode="auto">
          <a:xfrm>
            <a:off x="6267450" y="34321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5</a:t>
            </a:r>
            <a:endParaRPr kumimoji="1" lang="en-US" altLang="zh-CN" b="1" dirty="0">
              <a:latin typeface="Times New Roman" panose="02020603050405020304" pitchFamily="18" charset="0"/>
              <a:ea typeface="微软雅黑 Light" panose="020B0502040204020203" pitchFamily="34" charset="-122"/>
            </a:endParaRPr>
          </a:p>
        </p:txBody>
      </p:sp>
      <p:sp>
        <p:nvSpPr>
          <p:cNvPr id="77852" name="Text Box 40"/>
          <p:cNvSpPr txBox="1">
            <a:spLocks noChangeArrowheads="1"/>
          </p:cNvSpPr>
          <p:nvPr/>
        </p:nvSpPr>
        <p:spPr bwMode="auto">
          <a:xfrm>
            <a:off x="6788150" y="2039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6</a:t>
            </a:r>
            <a:endParaRPr kumimoji="1" lang="en-US" altLang="zh-CN" b="1" dirty="0">
              <a:latin typeface="Times New Roman" panose="02020603050405020304" pitchFamily="18" charset="0"/>
              <a:ea typeface="微软雅黑 Light" panose="020B0502040204020203" pitchFamily="34" charset="-122"/>
            </a:endParaRPr>
          </a:p>
        </p:txBody>
      </p:sp>
      <p:sp>
        <p:nvSpPr>
          <p:cNvPr id="77853" name="Text Box 42"/>
          <p:cNvSpPr txBox="1">
            <a:spLocks noChangeArrowheads="1"/>
          </p:cNvSpPr>
          <p:nvPr/>
        </p:nvSpPr>
        <p:spPr bwMode="auto">
          <a:xfrm>
            <a:off x="3360738" y="1277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2</a:t>
            </a:r>
            <a:endParaRPr kumimoji="1" lang="en-US" altLang="zh-CN" b="1" dirty="0">
              <a:latin typeface="Times New Roman" panose="02020603050405020304" pitchFamily="18" charset="0"/>
              <a:ea typeface="微软雅黑 Light" panose="020B0502040204020203" pitchFamily="34" charset="-122"/>
            </a:endParaRPr>
          </a:p>
        </p:txBody>
      </p:sp>
      <p:sp>
        <p:nvSpPr>
          <p:cNvPr id="77854" name="Text Box 43"/>
          <p:cNvSpPr txBox="1">
            <a:spLocks noChangeArrowheads="1"/>
          </p:cNvSpPr>
          <p:nvPr/>
        </p:nvSpPr>
        <p:spPr bwMode="auto">
          <a:xfrm>
            <a:off x="5367338" y="39020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3</a:t>
            </a:r>
            <a:endParaRPr kumimoji="1" lang="en-US" altLang="zh-CN" b="1" dirty="0">
              <a:latin typeface="Times New Roman" panose="02020603050405020304" pitchFamily="18" charset="0"/>
              <a:ea typeface="微软雅黑 Light" panose="020B0502040204020203" pitchFamily="34" charset="-122"/>
            </a:endParaRPr>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4</a:t>
            </a:r>
            <a:endParaRPr kumimoji="1" lang="en-US" altLang="zh-CN" b="1" dirty="0">
              <a:latin typeface="Times New Roman" panose="02020603050405020304" pitchFamily="18" charset="0"/>
              <a:ea typeface="微软雅黑 Light" panose="020B0502040204020203" pitchFamily="34" charset="-122"/>
            </a:endParaRPr>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2" name="标题 1">
            <a:extLst>
              <a:ext uri="{FF2B5EF4-FFF2-40B4-BE49-F238E27FC236}">
                <a16:creationId xmlns:a16="http://schemas.microsoft.com/office/drawing/2014/main" id="{A5E1C669-C123-E270-EF43-1D6F74D63444}"/>
              </a:ext>
            </a:extLst>
          </p:cNvPr>
          <p:cNvSpPr>
            <a:spLocks noGrp="1"/>
          </p:cNvSpPr>
          <p:nvPr>
            <p:ph type="title"/>
          </p:nvPr>
        </p:nvSpPr>
        <p:spPr>
          <a:xfrm>
            <a:off x="612000" y="144000"/>
            <a:ext cx="7920000" cy="341632"/>
          </a:xfrm>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1326947020"/>
              </p:ext>
            </p:extLst>
          </p:nvPr>
        </p:nvGraphicFramePr>
        <p:xfrm>
          <a:off x="612000" y="1133228"/>
          <a:ext cx="7920000" cy="1585378"/>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优点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高效</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在分组传输的过程中动态分配传输带宽，对通信链路是逐段占用</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灵活</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为每一个分组独立地选择最合适的转发路由</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迅速</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以分组作为传送单位，可以不事先建立连接就能向其他主机发送分组</a:t>
                      </a:r>
                    </a:p>
                  </a:txBody>
                  <a:tcPr marL="89998" marR="89998" marT="46816" marB="46816" anchor="ctr"/>
                </a:tc>
                <a:extLst>
                  <a:ext uri="{0D108BD9-81ED-4DB2-BD59-A6C34878D82A}">
                    <a16:rowId xmlns:a16="http://schemas.microsoft.com/office/drawing/2014/main" val="10003"/>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可靠</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保证可靠性的网络协议；分布式多路由的分组交换网，使网络有很好的生存性</a:t>
                      </a:r>
                    </a:p>
                  </a:txBody>
                  <a:tcPr marL="89998" marR="89998" marT="46816" marB="46816"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D0A57D7A-64FD-F2A5-913B-54C2FDD0072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graphicFrame>
        <p:nvGraphicFramePr>
          <p:cNvPr id="7" name="内容占位符 2">
            <a:extLst>
              <a:ext uri="{FF2B5EF4-FFF2-40B4-BE49-F238E27FC236}">
                <a16:creationId xmlns:a16="http://schemas.microsoft.com/office/drawing/2014/main" id="{39BB5C77-91BE-6ECC-4DB7-6C26D45DF905}"/>
              </a:ext>
            </a:extLst>
          </p:cNvPr>
          <p:cNvGraphicFramePr/>
          <p:nvPr>
            <p:extLst>
              <p:ext uri="{D42A27DB-BD31-4B8C-83A1-F6EECF244321}">
                <p14:modId xmlns:p14="http://schemas.microsoft.com/office/powerpoint/2010/main" val="2112179615"/>
              </p:ext>
            </p:extLst>
          </p:nvPr>
        </p:nvGraphicFramePr>
        <p:xfrm>
          <a:off x="612000" y="2968419"/>
          <a:ext cx="7920000" cy="1278386"/>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缺点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排队延迟</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分组在各路由器存储转发时需要排队</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不保证带宽</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动态分配，无法保证</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增加开销</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各分组必须携带控制信息；路由器要暂存分组，维护转发表等</a:t>
                      </a:r>
                    </a:p>
                  </a:txBody>
                  <a:tcPr marL="89998" marR="89998" marT="46816" marB="46816" anchor="ct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EBBBDF0-E80F-CE51-CD4D-DB8F95055F22}"/>
              </a:ext>
            </a:extLst>
          </p:cNvPr>
          <p:cNvSpPr>
            <a:spLocks noGrp="1"/>
          </p:cNvSpPr>
          <p:nvPr>
            <p:ph type="title"/>
          </p:nvPr>
        </p:nvSpPr>
        <p:spPr>
          <a:xfrm>
            <a:off x="612000" y="144000"/>
            <a:ext cx="7920000" cy="341632"/>
          </a:xfrm>
        </p:spPr>
        <p:txBody>
          <a:bodyPr/>
          <a:lstStyle/>
          <a:p>
            <a:r>
              <a:rPr lang="en-US" altLang="zh-CN" dirty="0"/>
              <a:t>3. </a:t>
            </a:r>
            <a:r>
              <a:rPr lang="zh-CN" altLang="en-US" dirty="0"/>
              <a:t>报文交换 </a:t>
            </a:r>
            <a:r>
              <a:rPr lang="en-US" altLang="zh-CN" dirty="0"/>
              <a:t>Message</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p>
          <a:p>
            <a:r>
              <a:rPr lang="zh-CN" altLang="en-US" dirty="0"/>
              <a:t>全报文 </a:t>
            </a:r>
            <a:r>
              <a:rPr lang="en-US" altLang="zh-CN" dirty="0"/>
              <a:t>Message </a:t>
            </a:r>
            <a:r>
              <a:rPr lang="zh-CN" altLang="en-US" dirty="0"/>
              <a:t>存储转发</a:t>
            </a:r>
            <a:endParaRPr lang="en-US" altLang="zh-CN" dirty="0"/>
          </a:p>
          <a:p>
            <a:r>
              <a:rPr lang="zh-CN" altLang="en-US" dirty="0"/>
              <a:t>现在报文交换已经很少使用</a:t>
            </a:r>
            <a:endParaRPr lang="en-US" altLang="zh-CN" dirty="0"/>
          </a:p>
          <a:p>
            <a:pPr lvl="0"/>
            <a:r>
              <a:rPr lang="zh-CN" altLang="en-US" dirty="0"/>
              <a:t>优点</a:t>
            </a:r>
            <a:endParaRPr lang="en-US" altLang="zh-CN" dirty="0"/>
          </a:p>
          <a:p>
            <a:pPr lvl="1"/>
            <a:r>
              <a:rPr lang="zh-CN" altLang="zh-CN" dirty="0"/>
              <a:t>通信前无需建立连接</a:t>
            </a:r>
          </a:p>
          <a:p>
            <a:pPr lvl="1"/>
            <a:r>
              <a:rPr lang="zh-CN" altLang="zh-CN" dirty="0"/>
              <a:t>数据以报文为单位被交换节点间存储转发，通信线路可以灵活分配</a:t>
            </a:r>
          </a:p>
          <a:p>
            <a:pPr lvl="1"/>
            <a:r>
              <a:rPr lang="zh-CN" altLang="zh-CN" dirty="0"/>
              <a:t>在通信时间内，两个用户无需独占一整条物理线路。相比于电路交换，线路利用率高</a:t>
            </a:r>
          </a:p>
          <a:p>
            <a:pPr lvl="1"/>
            <a:r>
              <a:rPr lang="zh-CN" altLang="zh-CN" dirty="0"/>
              <a:t>交换节点支持差错控制（通过校验技术）</a:t>
            </a:r>
          </a:p>
          <a:p>
            <a:r>
              <a:rPr lang="zh-CN" altLang="zh-CN" dirty="0"/>
              <a:t>缺点：</a:t>
            </a:r>
          </a:p>
          <a:p>
            <a:pPr lvl="1"/>
            <a:r>
              <a:rPr lang="zh-CN" altLang="zh-CN" dirty="0"/>
              <a:t>报文不定长，不方便存储转发管理</a:t>
            </a:r>
          </a:p>
          <a:p>
            <a:pPr lvl="1"/>
            <a:r>
              <a:rPr lang="zh-CN" altLang="zh-CN" dirty="0"/>
              <a:t>长报文的存储转发时间开销大、缓存开销大</a:t>
            </a:r>
          </a:p>
          <a:p>
            <a:pPr lvl="1"/>
            <a:r>
              <a:rPr lang="zh-CN" altLang="zh-CN" dirty="0"/>
              <a:t>长报文容易出错，重传代价高</a:t>
            </a:r>
          </a:p>
          <a:p>
            <a:endParaRPr lang="zh-CN" altLang="en-US" dirty="0"/>
          </a:p>
          <a:p>
            <a:endParaRPr lang="zh-CN" altLang="en-US" dirty="0"/>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latin typeface="Times New Roman" panose="02020603050405020304" pitchFamily="18" charset="0"/>
                <a:ea typeface="微软雅黑 Light" panose="020B0502040204020203" pitchFamily="34"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EDF5B06D-66DF-180C-6761-349EA479449A}"/>
              </a:ext>
            </a:extLst>
          </p:cNvPr>
          <p:cNvSpPr>
            <a:spLocks noGrp="1"/>
          </p:cNvSpPr>
          <p:nvPr>
            <p:ph type="title"/>
          </p:nvPr>
        </p:nvSpPr>
        <p:spPr>
          <a:xfrm>
            <a:off x="612000" y="144000"/>
            <a:ext cx="7920000" cy="341632"/>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FC216F-C5E3-2765-D2D6-24AD568BDD44}"/>
              </a:ext>
            </a:extLst>
          </p:cNvPr>
          <p:cNvSpPr>
            <a:spLocks noGrp="1"/>
          </p:cNvSpPr>
          <p:nvPr>
            <p:ph type="title"/>
          </p:nvPr>
        </p:nvSpPr>
        <p:spPr>
          <a:xfrm>
            <a:off x="612000" y="144000"/>
            <a:ext cx="7920000" cy="341632"/>
          </a:xfrm>
        </p:spPr>
        <p:txBody>
          <a:bodyPr/>
          <a:lstStyle/>
          <a:p>
            <a:r>
              <a:rPr lang="zh-CN" altLang="en-US" dirty="0"/>
              <a:t>三种交换方式的比较</a:t>
            </a:r>
          </a:p>
        </p:txBody>
      </p:sp>
      <p:sp>
        <p:nvSpPr>
          <p:cNvPr id="3" name="内容占位符 2"/>
          <p:cNvSpPr>
            <a:spLocks noGrp="1"/>
          </p:cNvSpPr>
          <p:nvPr>
            <p:ph sz="quarter" idx="10"/>
          </p:nvPr>
        </p:nvSpPr>
        <p:spPr>
          <a:xfrm>
            <a:off x="612000" y="899999"/>
            <a:ext cx="7920000" cy="3780000"/>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7069A33-7D77-9702-D96F-CD43153EB8F9}"/>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Kbit/s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5AFD804-D290-9A84-1817-299FC9763276}"/>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zh-CN" altLang="en-US" dirty="0"/>
              <a:t>到目前为止，我国陆续建造了基于互联网技术的并能够和互联网互连的多个全国范围的公用计算机网络</a:t>
            </a:r>
            <a:endParaRPr lang="en-US" altLang="zh-CN" dirty="0"/>
          </a:p>
          <a:p>
            <a:r>
              <a:rPr lang="zh-CN" altLang="en-US" dirty="0"/>
              <a:t>其中规模最大的五个：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28F71F2-4374-224D-007B-D6D90CF48B35}"/>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1994 </a:t>
            </a:r>
            <a:r>
              <a:rPr lang="zh-CN" altLang="en-US" dirty="0"/>
              <a:t>年，中国教育和科研计算机网 </a:t>
            </a:r>
            <a:r>
              <a:rPr lang="en-US" altLang="zh-CN" dirty="0"/>
              <a:t>CERNET (China Education and Research Network)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中国互联网络信息中心 </a:t>
            </a:r>
            <a:r>
              <a:rPr lang="en-US" altLang="zh-CN" dirty="0">
                <a:hlinkClick r:id="rId2"/>
              </a:rPr>
              <a:t>CNNIC</a:t>
            </a:r>
            <a:r>
              <a:rPr lang="en-US" altLang="zh-CN" dirty="0"/>
              <a:t> (China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年底，我国国际出口带宽已超过 </a:t>
            </a:r>
            <a:r>
              <a:rPr lang="en-US" altLang="zh-CN" dirty="0"/>
              <a:t>8.8 </a:t>
            </a:r>
            <a:r>
              <a:rPr lang="en-US" altLang="zh-CN" dirty="0" err="1"/>
              <a:t>Tbit</a:t>
            </a:r>
            <a:r>
              <a:rPr lang="en-US" altLang="zh-CN" dirty="0"/>
              <a:t>/s </a:t>
            </a:r>
            <a:r>
              <a:rPr lang="zh-CN" altLang="en-US" dirty="0"/>
              <a:t>（</a:t>
            </a:r>
            <a:r>
              <a:rPr lang="en-US" altLang="zh-CN" dirty="0"/>
              <a:t>1 Tbit/s = 103 Gbit/s</a:t>
            </a:r>
            <a:r>
              <a:rPr lang="zh-CN" altLang="en-US" dirty="0"/>
              <a:t>）</a:t>
            </a:r>
          </a:p>
          <a:p>
            <a:endParaRPr lang="zh-CN" altLang="en-US" dirty="0"/>
          </a:p>
        </p:txBody>
      </p:sp>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F84FF96-A0FB-6A87-89D4-A85D4E83F191}"/>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lstStyle/>
          <a:p>
            <a:r>
              <a:rPr lang="en-US" altLang="zh-CN" dirty="0"/>
              <a:t>1996 </a:t>
            </a:r>
            <a:r>
              <a:rPr lang="zh-CN" altLang="en-US" dirty="0"/>
              <a:t>年，张朝阳创立了爱特信公司</a:t>
            </a:r>
            <a:endParaRPr lang="en-US" altLang="zh-CN" dirty="0"/>
          </a:p>
          <a:p>
            <a:pPr lvl="1"/>
            <a:r>
              <a:rPr lang="zh-CN" altLang="en-US" dirty="0"/>
              <a:t>中国第一家以风险投资资金建立的互联网公司</a:t>
            </a:r>
            <a:endParaRPr lang="en-US" altLang="zh-CN" dirty="0"/>
          </a:p>
          <a:p>
            <a:pPr lvl="1"/>
            <a:r>
              <a:rPr lang="zh-CN" altLang="en-US" dirty="0"/>
              <a:t>两年后，更名为搜狐公司</a:t>
            </a:r>
            <a:r>
              <a:rPr lang="en-US" altLang="zh-CN" dirty="0"/>
              <a:t>(Sohu)</a:t>
            </a:r>
          </a:p>
          <a:p>
            <a:pPr lvl="1"/>
            <a:r>
              <a:rPr lang="zh-CN" altLang="en-US" dirty="0"/>
              <a:t>搜狐网站</a:t>
            </a:r>
            <a:r>
              <a:rPr lang="en-US" altLang="zh-CN" dirty="0"/>
              <a:t>(Sohu.com)</a:t>
            </a:r>
            <a:r>
              <a:rPr lang="zh-CN" altLang="en-US" dirty="0"/>
              <a:t>是中国首家大型分类查询搜索引擎</a:t>
            </a:r>
            <a:endParaRPr lang="en-US" altLang="zh-CN" dirty="0"/>
          </a:p>
          <a:p>
            <a:r>
              <a:rPr lang="en-US" altLang="zh-CN" dirty="0"/>
              <a:t>1997 </a:t>
            </a:r>
            <a:r>
              <a:rPr lang="zh-CN" altLang="en-US" dirty="0"/>
              <a:t>年，丁磊创立了网易公司</a:t>
            </a:r>
            <a:r>
              <a:rPr lang="en-US" altLang="zh-CN" dirty="0"/>
              <a:t>(NetEase)</a:t>
            </a:r>
          </a:p>
          <a:p>
            <a:pPr lvl="1"/>
            <a:r>
              <a:rPr lang="zh-CN" altLang="en-US" dirty="0"/>
              <a:t>中国第一家中文全文搜索引擎</a:t>
            </a:r>
            <a:endParaRPr lang="en-US" altLang="zh-CN" dirty="0"/>
          </a:p>
          <a:p>
            <a:pPr lvl="1"/>
            <a:r>
              <a:rPr lang="zh-CN" altLang="en-US" dirty="0"/>
              <a:t>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1998 </a:t>
            </a:r>
            <a:r>
              <a:rPr lang="zh-CN" altLang="en-US" dirty="0"/>
              <a:t>年，王志东创立新浪网站</a:t>
            </a:r>
            <a:r>
              <a:rPr lang="en-US" altLang="zh-CN" dirty="0"/>
              <a:t>(Sina.com )</a:t>
            </a:r>
            <a:r>
              <a:rPr lang="zh-CN" altLang="en-US" dirty="0"/>
              <a:t> </a:t>
            </a:r>
            <a:endParaRPr lang="en-US" altLang="zh-CN" dirty="0"/>
          </a:p>
          <a:p>
            <a:pPr lvl="1"/>
            <a:r>
              <a:rPr lang="zh-CN" altLang="en-US" dirty="0"/>
              <a:t>新浪的微博是全球使用最多的微博之一</a:t>
            </a:r>
          </a:p>
        </p:txBody>
      </p:sp>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EDA4951-2092-FDF3-50A1-AAAA59E5DEAD}"/>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1998 </a:t>
            </a:r>
            <a:r>
              <a:rPr lang="zh-CN" altLang="en-US" dirty="0"/>
              <a:t>年，马化腾、张志东创立腾讯公司 </a:t>
            </a:r>
            <a:r>
              <a:rPr lang="en-US" altLang="zh-CN" dirty="0"/>
              <a:t>Tencent</a:t>
            </a:r>
          </a:p>
          <a:p>
            <a:r>
              <a:rPr lang="en-US" altLang="zh-CN" dirty="0"/>
              <a:t>1999 </a:t>
            </a:r>
            <a:r>
              <a:rPr lang="zh-CN" altLang="en-US" dirty="0"/>
              <a:t>年，腾讯就推出用在 </a:t>
            </a:r>
            <a:r>
              <a:rPr lang="en-US" altLang="zh-CN" dirty="0"/>
              <a:t>PC </a:t>
            </a:r>
            <a:r>
              <a:rPr lang="zh-CN" altLang="en-US" dirty="0"/>
              <a:t>上的即时通信软件 </a:t>
            </a:r>
            <a:r>
              <a:rPr lang="en-US" altLang="zh-CN" dirty="0"/>
              <a:t>OICQ</a:t>
            </a:r>
            <a:r>
              <a:rPr lang="zh-CN" altLang="en-US" dirty="0"/>
              <a:t>，后改名 </a:t>
            </a:r>
            <a:r>
              <a:rPr lang="en-US" altLang="zh-CN" dirty="0"/>
              <a:t>QQ</a:t>
            </a:r>
          </a:p>
          <a:p>
            <a:r>
              <a:rPr lang="en-US" altLang="zh-CN" dirty="0"/>
              <a:t>1999 </a:t>
            </a:r>
            <a:r>
              <a:rPr lang="zh-CN" altLang="en-US" dirty="0"/>
              <a:t>年，马云创建阿里巴巴网站 </a:t>
            </a:r>
            <a:r>
              <a:rPr lang="en-US" altLang="zh-CN" dirty="0"/>
              <a:t>Alibaba.com</a:t>
            </a:r>
          </a:p>
          <a:p>
            <a:r>
              <a:rPr lang="en-US" altLang="zh-CN" dirty="0"/>
              <a:t>2000 </a:t>
            </a:r>
            <a:r>
              <a:rPr lang="zh-CN" altLang="en-US" dirty="0"/>
              <a:t>年，李彦宏和徐勇创建百度网站 </a:t>
            </a:r>
            <a:r>
              <a:rPr lang="en-US" altLang="zh-CN" dirty="0"/>
              <a:t>Baidu.com</a:t>
            </a:r>
            <a:r>
              <a:rPr lang="zh-CN" altLang="en-US" dirty="0"/>
              <a:t>，现在已成为全球最大的中文搜索引擎</a:t>
            </a:r>
            <a:endParaRPr lang="en-US" altLang="zh-CN" dirty="0"/>
          </a:p>
          <a:p>
            <a:r>
              <a:rPr lang="en-US" altLang="zh-CN" dirty="0"/>
              <a:t>2003 </a:t>
            </a:r>
            <a:r>
              <a:rPr lang="zh-CN" altLang="en-US" dirty="0"/>
              <a:t>年，马云创立个人网上贸易市场平台</a:t>
            </a:r>
            <a:r>
              <a:rPr lang="en-US" altLang="zh-CN" dirty="0"/>
              <a:t>-</a:t>
            </a:r>
            <a:r>
              <a:rPr lang="zh-CN" altLang="en-US" dirty="0"/>
              <a:t>淘宝网 </a:t>
            </a:r>
            <a:r>
              <a:rPr lang="en-US" altLang="zh-CN" dirty="0"/>
              <a:t>Taobao.com</a:t>
            </a:r>
          </a:p>
          <a:p>
            <a:r>
              <a:rPr lang="en-US" altLang="zh-CN" dirty="0"/>
              <a:t>2004 </a:t>
            </a:r>
            <a:r>
              <a:rPr lang="zh-CN" altLang="en-US" dirty="0"/>
              <a:t>年，阿里巴巴集团创立了第三方支付平台</a:t>
            </a:r>
            <a:r>
              <a:rPr lang="en-US" altLang="zh-CN" dirty="0"/>
              <a:t>-</a:t>
            </a:r>
            <a:r>
              <a:rPr lang="zh-CN" altLang="en-US" dirty="0"/>
              <a:t>支付宝 </a:t>
            </a:r>
            <a:r>
              <a:rPr lang="en-US" altLang="zh-CN" dirty="0"/>
              <a:t>Alipay.com</a:t>
            </a:r>
          </a:p>
          <a:p>
            <a:r>
              <a:rPr lang="en-US" altLang="zh-CN" dirty="0"/>
              <a:t>2011 </a:t>
            </a:r>
            <a:r>
              <a:rPr lang="zh-CN" altLang="en-US" dirty="0"/>
              <a:t>年，腾讯推出了专门供智能手机使用的即时通信软件</a:t>
            </a:r>
            <a:r>
              <a:rPr lang="en-US" altLang="zh-CN" dirty="0"/>
              <a:t>-</a:t>
            </a:r>
            <a:r>
              <a:rPr lang="zh-CN" altLang="en-US" dirty="0"/>
              <a:t>微信 </a:t>
            </a:r>
            <a:r>
              <a:rPr lang="en-US" altLang="zh-CN" dirty="0"/>
              <a:t>WeChat</a:t>
            </a:r>
          </a:p>
          <a:p>
            <a:endParaRPr lang="zh-CN" altLang="en-US" dirty="0"/>
          </a:p>
        </p:txBody>
      </p:sp>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6E2F4A7-86B5-3A67-53AF-8F21A5B9FDC2}"/>
              </a:ext>
            </a:extLst>
          </p:cNvPr>
          <p:cNvSpPr>
            <a:spLocks noGrp="1"/>
          </p:cNvSpPr>
          <p:nvPr>
            <p:ph type="title"/>
          </p:nvPr>
        </p:nvSpPr>
        <p:spPr>
          <a:xfrm>
            <a:off x="2228850" y="403553"/>
            <a:ext cx="6562725" cy="523220"/>
          </a:xfrm>
        </p:spPr>
        <p:txBody>
          <a:bodyPr/>
          <a:lstStyle/>
          <a:p>
            <a:r>
              <a:rPr lang="fr-FR" altLang="zh-CN" dirty="0"/>
              <a:t>1.5 </a:t>
            </a:r>
            <a:r>
              <a:rPr lang="zh-CN" altLang="zh-CN" dirty="0"/>
              <a:t>计算机网络的类别</a:t>
            </a:r>
            <a:endParaRPr lang="zh-CN" altLang="en-US" dirty="0"/>
          </a:p>
        </p:txBody>
      </p:sp>
      <p:sp>
        <p:nvSpPr>
          <p:cNvPr id="5" name="文本框 4">
            <a:extLst>
              <a:ext uri="{FF2B5EF4-FFF2-40B4-BE49-F238E27FC236}">
                <a16:creationId xmlns:a16="http://schemas.microsoft.com/office/drawing/2014/main" id="{2595A11E-7AE5-57C9-9788-9A15C1BDC052}"/>
              </a:ext>
            </a:extLst>
          </p:cNvPr>
          <p:cNvSpPr txBox="1"/>
          <p:nvPr/>
        </p:nvSpPr>
        <p:spPr>
          <a:xfrm>
            <a:off x="2990850" y="1462301"/>
            <a:ext cx="3390900" cy="646331"/>
          </a:xfrm>
          <a:prstGeom prst="rect">
            <a:avLst/>
          </a:prstGeom>
          <a:noFill/>
        </p:spPr>
        <p:txBody>
          <a:bodyPr wrap="square">
            <a:spAutoFit/>
          </a:bodyPr>
          <a:lstStyle/>
          <a:p>
            <a:r>
              <a:rPr lang="en-US" altLang="zh-CN" dirty="0"/>
              <a:t>1.5.1 </a:t>
            </a:r>
          </a:p>
          <a:p>
            <a:r>
              <a:rPr lang="zh-CN" altLang="zh-CN" dirty="0"/>
              <a:t>计算机网络的定义</a:t>
            </a:r>
            <a:endParaRPr lang="en-US" altLang="zh-CN" dirty="0"/>
          </a:p>
        </p:txBody>
      </p:sp>
      <p:sp>
        <p:nvSpPr>
          <p:cNvPr id="7" name="文本框 6">
            <a:extLst>
              <a:ext uri="{FF2B5EF4-FFF2-40B4-BE49-F238E27FC236}">
                <a16:creationId xmlns:a16="http://schemas.microsoft.com/office/drawing/2014/main" id="{A7658569-E310-447D-455A-5C54A23A386C}"/>
              </a:ext>
            </a:extLst>
          </p:cNvPr>
          <p:cNvSpPr txBox="1"/>
          <p:nvPr/>
        </p:nvSpPr>
        <p:spPr>
          <a:xfrm>
            <a:off x="4291013" y="2571750"/>
            <a:ext cx="3390900" cy="646331"/>
          </a:xfrm>
          <a:prstGeom prst="rect">
            <a:avLst/>
          </a:prstGeom>
          <a:noFill/>
        </p:spPr>
        <p:txBody>
          <a:bodyPr wrap="square">
            <a:spAutoFit/>
          </a:bodyPr>
          <a:lstStyle/>
          <a:p>
            <a:r>
              <a:rPr lang="en-US" altLang="zh-CN" dirty="0"/>
              <a:t>1.5.2 </a:t>
            </a:r>
          </a:p>
          <a:p>
            <a:r>
              <a:rPr lang="zh-CN" altLang="zh-CN" dirty="0"/>
              <a:t>几种不同类别的</a:t>
            </a:r>
            <a:r>
              <a:rPr lang="zh-CN" altLang="en-US" dirty="0"/>
              <a:t>计算机</a:t>
            </a:r>
            <a:r>
              <a:rPr lang="zh-CN" altLang="zh-CN" dirty="0"/>
              <a:t>网络</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AACFB25-23F2-2FE4-29FE-4CEFB0DF35A4}"/>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3" name="内容占位符 2"/>
          <p:cNvSpPr>
            <a:spLocks noGrp="1"/>
          </p:cNvSpPr>
          <p:nvPr>
            <p:ph sz="quarter" idx="10"/>
          </p:nvPr>
        </p:nvSpPr>
        <p:spPr>
          <a:xfrm>
            <a:off x="612000" y="899999"/>
            <a:ext cx="7920000" cy="3780000"/>
          </a:xfrm>
        </p:spPr>
        <p:txBody>
          <a:bodyPr/>
          <a:lstStyle/>
          <a:p>
            <a:r>
              <a:rPr lang="zh-CN" altLang="en-US" dirty="0"/>
              <a:t>计算机网络的精确定义并未统一</a:t>
            </a:r>
            <a:endParaRPr lang="en-US" altLang="zh-CN" dirty="0"/>
          </a:p>
          <a:p>
            <a:r>
              <a:rPr lang="zh-CN" altLang="en-US" dirty="0"/>
              <a:t>较好的定义</a:t>
            </a:r>
          </a:p>
          <a:p>
            <a:endParaRPr lang="zh-CN" altLang="en-US" dirty="0"/>
          </a:p>
        </p:txBody>
      </p:sp>
      <p:sp>
        <p:nvSpPr>
          <p:cNvPr id="4" name="矩形 3"/>
          <p:cNvSpPr/>
          <p:nvPr/>
        </p:nvSpPr>
        <p:spPr>
          <a:xfrm>
            <a:off x="2232000" y="1926007"/>
            <a:ext cx="4680000" cy="1400383"/>
          </a:xfrm>
          <a:prstGeom prst="rect">
            <a:avLst/>
          </a:prstGeom>
          <a:solidFill>
            <a:srgbClr val="F2F2F2"/>
          </a:solidFill>
          <a:ln>
            <a:noFill/>
          </a:ln>
        </p:spPr>
        <p:style>
          <a:lnRef idx="1">
            <a:schemeClr val="accent6"/>
          </a:lnRef>
          <a:fillRef idx="2">
            <a:schemeClr val="accent6"/>
          </a:fillRef>
          <a:effectRef idx="1">
            <a:schemeClr val="accent6"/>
          </a:effectRef>
          <a:fontRef idx="minor">
            <a:schemeClr val="dk1"/>
          </a:fontRef>
        </p:style>
        <p:txBody>
          <a:bodyPr wrap="square">
            <a:spAutoFit/>
          </a:bodyPr>
          <a:lstStyle/>
          <a:p>
            <a:pPr>
              <a:spcAft>
                <a:spcPts val="600"/>
              </a:spcAft>
            </a:pPr>
            <a:r>
              <a:rPr lang="zh-CN" altLang="en-US" sz="1600" dirty="0">
                <a:solidFill>
                  <a:schemeClr val="tx1"/>
                </a:solidFill>
              </a:rPr>
              <a:t>计算机网络主要是由一些通用的、可编程的硬件互连而成的，而这些硬件并非专门用来实现某一特定目的（例如，传送数据或视频信号）。</a:t>
            </a:r>
            <a:endParaRPr lang="en-US" altLang="zh-CN" sz="1600" dirty="0">
              <a:solidFill>
                <a:schemeClr val="tx1"/>
              </a:solidFill>
            </a:endParaRPr>
          </a:p>
          <a:p>
            <a:pPr>
              <a:spcAft>
                <a:spcPts val="600"/>
              </a:spcAft>
            </a:pPr>
            <a:r>
              <a:rPr lang="zh-CN" altLang="en-US" sz="1600" dirty="0">
                <a:solidFill>
                  <a:schemeClr val="tx1"/>
                </a:solidFill>
              </a:rPr>
              <a:t>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68FA28B-5035-EEDC-FFF1-9B1ED5D61886}"/>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4" name="内容占位符 3"/>
          <p:cNvSpPr>
            <a:spLocks noGrp="1"/>
          </p:cNvSpPr>
          <p:nvPr>
            <p:ph sz="quarter" idx="10"/>
          </p:nvPr>
        </p:nvSpPr>
        <p:spPr>
          <a:xfrm>
            <a:off x="612000" y="899999"/>
            <a:ext cx="7920000" cy="3780000"/>
          </a:xfrm>
        </p:spPr>
        <p:txBody>
          <a:bodyPr/>
          <a:lstStyle/>
          <a:p>
            <a:r>
              <a:rPr lang="zh-CN" altLang="en-US" dirty="0"/>
              <a:t>“可编程的硬件”表明：这种硬件一定包含有中央处理器 </a:t>
            </a:r>
            <a:r>
              <a:rPr lang="en-US" altLang="zh-CN" dirty="0"/>
              <a:t>CPU</a:t>
            </a:r>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9BD6E07-C9CC-4FF6-1B94-0D6EFAEC54F9}"/>
              </a:ext>
            </a:extLst>
          </p:cNvPr>
          <p:cNvSpPr>
            <a:spLocks noGrp="1"/>
          </p:cNvSpPr>
          <p:nvPr>
            <p:ph type="title"/>
          </p:nvPr>
        </p:nvSpPr>
        <p:spPr>
          <a:xfrm>
            <a:off x="612000" y="144000"/>
            <a:ext cx="7920000" cy="341632"/>
          </a:xfrm>
        </p:spPr>
        <p:txBody>
          <a:bodyPr/>
          <a:lstStyle/>
          <a:p>
            <a:r>
              <a:rPr lang="en-US" altLang="zh-CN" dirty="0"/>
              <a:t>1.5.2  </a:t>
            </a:r>
            <a:r>
              <a:rPr lang="zh-CN" altLang="en-US" dirty="0"/>
              <a:t>几种不同类别的计算机网络</a:t>
            </a:r>
          </a:p>
        </p:txBody>
      </p:sp>
      <p:sp>
        <p:nvSpPr>
          <p:cNvPr id="5" name="内容占位符 4"/>
          <p:cNvSpPr>
            <a:spLocks noGrp="1"/>
          </p:cNvSpPr>
          <p:nvPr>
            <p:ph sz="quarter" idx="10"/>
          </p:nvPr>
        </p:nvSpPr>
        <p:spPr>
          <a:xfrm>
            <a:off x="612000" y="899999"/>
            <a:ext cx="7920000" cy="3780000"/>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90BD393-156A-4E74-9ACB-B3F23EF62207}"/>
              </a:ext>
            </a:extLst>
          </p:cNvPr>
          <p:cNvSpPr>
            <a:spLocks noGrp="1"/>
          </p:cNvSpPr>
          <p:nvPr>
            <p:ph type="title"/>
          </p:nvPr>
        </p:nvSpPr>
        <p:spPr>
          <a:xfrm>
            <a:off x="612000" y="144000"/>
            <a:ext cx="7920000" cy="341632"/>
          </a:xfrm>
        </p:spPr>
        <p:txBody>
          <a:bodyPr/>
          <a:lstStyle/>
          <a:p>
            <a:r>
              <a:rPr lang="en-US" altLang="zh-CN" dirty="0"/>
              <a:t>1. </a:t>
            </a:r>
            <a:r>
              <a:rPr lang="zh-CN" altLang="en-US" dirty="0"/>
              <a:t>按照网络的作用范围进行分类</a:t>
            </a:r>
          </a:p>
        </p:txBody>
      </p:sp>
      <p:graphicFrame>
        <p:nvGraphicFramePr>
          <p:cNvPr id="13" name="内容占位符 5"/>
          <p:cNvGraphicFramePr>
            <a:graphicFrameLocks/>
          </p:cNvGraphicFramePr>
          <p:nvPr>
            <p:extLst>
              <p:ext uri="{D42A27DB-BD31-4B8C-83A1-F6EECF244321}">
                <p14:modId xmlns:p14="http://schemas.microsoft.com/office/powerpoint/2010/main" val="188418921"/>
              </p:ext>
            </p:extLst>
          </p:nvPr>
        </p:nvGraphicFramePr>
        <p:xfrm>
          <a:off x="612775" y="1467044"/>
          <a:ext cx="7918450" cy="283464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249450">
                <a:tc>
                  <a:txBody>
                    <a:bodyPr/>
                    <a:lstStyle/>
                    <a:p>
                      <a:pPr algn="l"/>
                      <a:r>
                        <a:rPr lang="zh-CN" altLang="en-US" sz="1200" dirty="0"/>
                        <a:t>广域网</a:t>
                      </a:r>
                      <a:endParaRPr lang="en-US" altLang="zh-CN" sz="1200" dirty="0"/>
                    </a:p>
                    <a:p>
                      <a:pPr algn="l"/>
                      <a:r>
                        <a:rPr lang="en-US" altLang="zh-CN" sz="1200" dirty="0"/>
                        <a:t>WAN </a:t>
                      </a:r>
                    </a:p>
                    <a:p>
                      <a:pPr algn="l"/>
                      <a:r>
                        <a:rPr lang="en-US" altLang="zh-CN" sz="1200" dirty="0"/>
                        <a:t>Wide Area Network</a:t>
                      </a:r>
                      <a:endParaRPr lang="zh-CN" altLang="en-US" sz="1200" dirty="0"/>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通常为几十到几千公里；有时也称为远程网</a:t>
                      </a:r>
                      <a:r>
                        <a:rPr lang="en-US" altLang="zh-CN" sz="1200" dirty="0"/>
                        <a:t>(long haul network)</a:t>
                      </a:r>
                    </a:p>
                    <a:p>
                      <a:pPr algn="l"/>
                      <a:r>
                        <a:rPr lang="zh-CN" altLang="en-US" sz="1200" dirty="0"/>
                        <a:t>是互联网的核心部分</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249450">
                <a:tc>
                  <a:txBody>
                    <a:bodyPr/>
                    <a:lstStyle/>
                    <a:p>
                      <a:pPr algn="l"/>
                      <a:r>
                        <a:rPr lang="zh-CN" altLang="en-US" sz="1200" dirty="0"/>
                        <a:t>城域网</a:t>
                      </a:r>
                      <a:endParaRPr lang="en-US" altLang="zh-CN" sz="1200" dirty="0"/>
                    </a:p>
                    <a:p>
                      <a:pPr algn="l"/>
                      <a:r>
                        <a:rPr lang="en-US" altLang="zh-CN" sz="1200" dirty="0"/>
                        <a:t>MAN </a:t>
                      </a:r>
                    </a:p>
                    <a:p>
                      <a:pPr algn="l"/>
                      <a:r>
                        <a:rPr lang="en-US" altLang="zh-CN" sz="1200" dirty="0"/>
                        <a:t>Metropolitan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作用范围一般是一个城市，作用距离约为 </a:t>
                      </a:r>
                      <a:r>
                        <a:rPr lang="en-US" altLang="zh-CN" sz="1200" dirty="0"/>
                        <a:t>5~50 Km</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r h="249450">
                <a:tc>
                  <a:txBody>
                    <a:bodyPr/>
                    <a:lstStyle/>
                    <a:p>
                      <a:pPr marL="0" algn="l" defTabSz="914400" rtl="0" eaLnBrk="1" latinLnBrk="0" hangingPunct="1"/>
                      <a:r>
                        <a:rPr lang="zh-CN" altLang="en-US" sz="1200" dirty="0"/>
                        <a:t>局域网</a:t>
                      </a:r>
                      <a:endParaRPr lang="en-US" altLang="zh-CN" sz="1200" dirty="0"/>
                    </a:p>
                    <a:p>
                      <a:pPr marL="0" algn="l" defTabSz="914400" rtl="0" eaLnBrk="1" latinLnBrk="0" hangingPunct="1"/>
                      <a:r>
                        <a:rPr lang="en-US" altLang="zh-CN" sz="1200" dirty="0"/>
                        <a:t>LAN </a:t>
                      </a:r>
                    </a:p>
                    <a:p>
                      <a:pPr algn="l"/>
                      <a:r>
                        <a:rPr lang="en-US" altLang="zh-CN" sz="1200" dirty="0"/>
                        <a:t>Local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局限在较小的范围（如 </a:t>
                      </a:r>
                      <a:r>
                        <a:rPr lang="en-US" altLang="zh-CN" sz="1200" dirty="0"/>
                        <a:t>1 Km</a:t>
                      </a:r>
                      <a:r>
                        <a:rPr lang="zh-CN" altLang="en-US" sz="1200" dirty="0"/>
                        <a:t>左右）</a:t>
                      </a:r>
                      <a:endParaRPr lang="en-US" altLang="zh-CN" sz="1200" dirty="0"/>
                    </a:p>
                    <a:p>
                      <a:pPr algn="l"/>
                      <a:r>
                        <a:rPr lang="zh-CN" altLang="en-US" sz="1200" dirty="0"/>
                        <a:t>通常采用高速通信线路</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12654821"/>
                  </a:ext>
                </a:extLst>
              </a:tr>
              <a:tr h="249450">
                <a:tc>
                  <a:txBody>
                    <a:bodyPr/>
                    <a:lstStyle/>
                    <a:p>
                      <a:pPr algn="l"/>
                      <a:r>
                        <a:rPr lang="zh-CN" altLang="en-US" sz="1200" dirty="0"/>
                        <a:t>个域网</a:t>
                      </a:r>
                      <a:endParaRPr lang="en-US" altLang="zh-CN" sz="1200" dirty="0"/>
                    </a:p>
                    <a:p>
                      <a:pPr algn="l"/>
                      <a:r>
                        <a:rPr lang="en-US" altLang="zh-CN" sz="1200" dirty="0"/>
                        <a:t>PAN </a:t>
                      </a:r>
                    </a:p>
                    <a:p>
                      <a:pPr algn="l"/>
                      <a:r>
                        <a:rPr lang="en-US" altLang="zh-CN" sz="1200" dirty="0"/>
                        <a:t>Personal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范围很小，大约在 </a:t>
                      </a:r>
                      <a:r>
                        <a:rPr lang="en-US" altLang="zh-CN" sz="1200" dirty="0"/>
                        <a:t>10 m</a:t>
                      </a:r>
                      <a:r>
                        <a:rPr lang="zh-CN" altLang="en-US" sz="1200" dirty="0"/>
                        <a:t>左右</a:t>
                      </a:r>
                      <a:endParaRPr lang="en-US" altLang="zh-CN" sz="1200" dirty="0"/>
                    </a:p>
                    <a:p>
                      <a:pPr algn="l"/>
                      <a:r>
                        <a:rPr lang="zh-CN" altLang="en-US" sz="1200" dirty="0"/>
                        <a:t>有时也称为无线个人区域网 </a:t>
                      </a:r>
                      <a:r>
                        <a:rPr lang="en-US" altLang="zh-CN" sz="1200" dirty="0"/>
                        <a:t>WPAN (Wireless PAN)</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39985109"/>
                  </a:ext>
                </a:extLst>
              </a:tr>
            </a:tbl>
          </a:graphicData>
        </a:graphic>
      </p:graphicFrame>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6D3589B3-FFD5-D2DC-9108-AC83900D9C1E}"/>
              </a:ext>
            </a:extLst>
          </p:cNvPr>
          <p:cNvSpPr>
            <a:spLocks noGrp="1"/>
          </p:cNvSpPr>
          <p:nvPr>
            <p:ph type="title"/>
          </p:nvPr>
        </p:nvSpPr>
        <p:spPr>
          <a:xfrm>
            <a:off x="612000" y="144000"/>
            <a:ext cx="7920000" cy="341632"/>
          </a:xfrm>
        </p:spPr>
        <p:txBody>
          <a:bodyPr/>
          <a:lstStyle/>
          <a:p>
            <a:r>
              <a:rPr lang="en-US" altLang="zh-CN" dirty="0"/>
              <a:t>2. </a:t>
            </a:r>
            <a:r>
              <a:rPr lang="zh-CN" altLang="en-US" dirty="0"/>
              <a:t>按照网络的使用者进行分类</a:t>
            </a:r>
          </a:p>
        </p:txBody>
      </p:sp>
      <p:graphicFrame>
        <p:nvGraphicFramePr>
          <p:cNvPr id="11" name="内容占位符 5">
            <a:extLst>
              <a:ext uri="{FF2B5EF4-FFF2-40B4-BE49-F238E27FC236}">
                <a16:creationId xmlns:a16="http://schemas.microsoft.com/office/drawing/2014/main" id="{EF760E7E-0621-D44E-BC5F-08ABC3F98135}"/>
              </a:ext>
            </a:extLst>
          </p:cNvPr>
          <p:cNvGraphicFramePr>
            <a:graphicFrameLocks/>
          </p:cNvGraphicFramePr>
          <p:nvPr>
            <p:extLst>
              <p:ext uri="{D42A27DB-BD31-4B8C-83A1-F6EECF244321}">
                <p14:modId xmlns:p14="http://schemas.microsoft.com/office/powerpoint/2010/main" val="3142837621"/>
              </p:ext>
            </p:extLst>
          </p:nvPr>
        </p:nvGraphicFramePr>
        <p:xfrm>
          <a:off x="612775" y="1467044"/>
          <a:ext cx="7918450" cy="118872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164997">
                <a:tc>
                  <a:txBody>
                    <a:bodyPr/>
                    <a:lstStyle/>
                    <a:p>
                      <a:pPr algn="l"/>
                      <a:r>
                        <a:rPr lang="zh-CN" altLang="en-US" sz="1200" dirty="0"/>
                        <a:t>公用网 </a:t>
                      </a:r>
                      <a:endParaRPr lang="en-US" altLang="zh-CN" sz="1200" dirty="0"/>
                    </a:p>
                    <a:p>
                      <a:pPr algn="l"/>
                      <a:r>
                        <a:rPr lang="en-US" altLang="zh-CN" sz="1200" dirty="0"/>
                        <a:t>Public Network</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按规定交纳费用的人都可以使用的网络</a:t>
                      </a:r>
                      <a:endParaRPr lang="en-US" altLang="zh-CN" sz="1200" dirty="0"/>
                    </a:p>
                    <a:p>
                      <a:pPr algn="l"/>
                      <a:r>
                        <a:rPr lang="zh-CN" altLang="en-US" sz="1200" dirty="0"/>
                        <a:t>也可称为公众网</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164997">
                <a:tc>
                  <a:txBody>
                    <a:bodyPr/>
                    <a:lstStyle/>
                    <a:p>
                      <a:pPr algn="l"/>
                      <a:r>
                        <a:rPr lang="zh-CN" altLang="en-US" sz="1200" dirty="0"/>
                        <a:t>专用网 </a:t>
                      </a:r>
                      <a:endParaRPr lang="en-US" altLang="zh-CN" sz="1200" dirty="0"/>
                    </a:p>
                    <a:p>
                      <a:pPr algn="l"/>
                      <a:r>
                        <a:rPr lang="en-US" altLang="zh-CN" sz="1200" dirty="0"/>
                        <a:t>Private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为特殊业务工作的需要而建造的网络</a:t>
                      </a:r>
                      <a:endParaRPr lang="en-US" altLang="zh-CN" sz="1200" dirty="0"/>
                    </a:p>
                    <a:p>
                      <a:pPr algn="l"/>
                      <a:r>
                        <a:rPr lang="zh-CN" altLang="en-US" sz="1200" dirty="0"/>
                        <a:t>银行、军队等特殊职能部门</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bl>
          </a:graphicData>
        </a:graphic>
      </p:graphicFrame>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组合 73"/>
          <p:cNvGrpSpPr/>
          <p:nvPr/>
        </p:nvGrpSpPr>
        <p:grpSpPr>
          <a:xfrm>
            <a:off x="5984006" y="1684603"/>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latin typeface="Times New Roman" panose="02020603050405020304" pitchFamily="18" charset="0"/>
                    <a:ea typeface="微软雅黑 Light" panose="020B0502040204020203" pitchFamily="34" charset="-122"/>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
        <p:nvSpPr>
          <p:cNvPr id="3" name="标题 2">
            <a:extLst>
              <a:ext uri="{FF2B5EF4-FFF2-40B4-BE49-F238E27FC236}">
                <a16:creationId xmlns:a16="http://schemas.microsoft.com/office/drawing/2014/main" id="{B1332590-3D41-E3BC-9BAD-0592E80DC862}"/>
              </a:ext>
            </a:extLst>
          </p:cNvPr>
          <p:cNvSpPr>
            <a:spLocks noGrp="1"/>
          </p:cNvSpPr>
          <p:nvPr>
            <p:ph type="title"/>
          </p:nvPr>
        </p:nvSpPr>
        <p:spPr>
          <a:xfrm>
            <a:off x="612000" y="144000"/>
            <a:ext cx="7920000" cy="341632"/>
          </a:xfrm>
        </p:spPr>
        <p:txBody>
          <a:bodyPr/>
          <a:lstStyle/>
          <a:p>
            <a:r>
              <a:rPr lang="en-US" altLang="zh-CN" dirty="0"/>
              <a:t>3. </a:t>
            </a:r>
            <a:r>
              <a:rPr lang="zh-CN" altLang="en-US" dirty="0"/>
              <a:t>用来把用户接入到互联网的网络</a:t>
            </a:r>
          </a:p>
        </p:txBody>
      </p:sp>
      <p:sp>
        <p:nvSpPr>
          <p:cNvPr id="4" name="内容占位符 3"/>
          <p:cNvSpPr>
            <a:spLocks noGrp="1"/>
          </p:cNvSpPr>
          <p:nvPr>
            <p:ph sz="quarter" idx="10"/>
          </p:nvPr>
        </p:nvSpPr>
        <p:spPr>
          <a:xfrm>
            <a:off x="612000" y="899999"/>
            <a:ext cx="7920000" cy="3780000"/>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2368DD-C335-F1FC-30E2-D7B1D4199E92}"/>
              </a:ext>
            </a:extLst>
          </p:cNvPr>
          <p:cNvSpPr>
            <a:spLocks noGrp="1"/>
          </p:cNvSpPr>
          <p:nvPr>
            <p:ph type="title"/>
          </p:nvPr>
        </p:nvSpPr>
        <p:spPr>
          <a:xfrm>
            <a:off x="2228850" y="403553"/>
            <a:ext cx="6562725" cy="523220"/>
          </a:xfrm>
        </p:spPr>
        <p:txBody>
          <a:bodyPr/>
          <a:lstStyle/>
          <a:p>
            <a:r>
              <a:rPr lang="fr-FR" altLang="zh-CN" dirty="0"/>
              <a:t>1.6 </a:t>
            </a:r>
            <a:r>
              <a:rPr lang="zh-CN" altLang="zh-CN" dirty="0"/>
              <a:t>计算机网络的性能</a:t>
            </a:r>
            <a:endParaRPr lang="zh-CN" altLang="en-US" dirty="0"/>
          </a:p>
        </p:txBody>
      </p:sp>
      <p:sp>
        <p:nvSpPr>
          <p:cNvPr id="6" name="文本框 5">
            <a:extLst>
              <a:ext uri="{FF2B5EF4-FFF2-40B4-BE49-F238E27FC236}">
                <a16:creationId xmlns:a16="http://schemas.microsoft.com/office/drawing/2014/main" id="{9D6F82DE-9EC0-700B-D20A-E6A1187DBAA6}"/>
              </a:ext>
            </a:extLst>
          </p:cNvPr>
          <p:cNvSpPr txBox="1"/>
          <p:nvPr/>
        </p:nvSpPr>
        <p:spPr>
          <a:xfrm>
            <a:off x="3133725" y="1339562"/>
            <a:ext cx="4572000" cy="646331"/>
          </a:xfrm>
          <a:prstGeom prst="rect">
            <a:avLst/>
          </a:prstGeom>
          <a:noFill/>
        </p:spPr>
        <p:txBody>
          <a:bodyPr wrap="square">
            <a:spAutoFit/>
          </a:bodyPr>
          <a:lstStyle/>
          <a:p>
            <a:r>
              <a:rPr lang="en-US" altLang="zh-CN" dirty="0"/>
              <a:t>1.6.1 </a:t>
            </a:r>
          </a:p>
          <a:p>
            <a:r>
              <a:rPr lang="zh-CN" altLang="zh-CN" dirty="0"/>
              <a:t>计算机网络的性能指标</a:t>
            </a:r>
            <a:endParaRPr lang="en-US" altLang="zh-CN" dirty="0"/>
          </a:p>
        </p:txBody>
      </p:sp>
      <p:sp>
        <p:nvSpPr>
          <p:cNvPr id="7" name="文本框 6">
            <a:extLst>
              <a:ext uri="{FF2B5EF4-FFF2-40B4-BE49-F238E27FC236}">
                <a16:creationId xmlns:a16="http://schemas.microsoft.com/office/drawing/2014/main" id="{F192A474-BE79-4A73-F38E-F8620E9C359E}"/>
              </a:ext>
            </a:extLst>
          </p:cNvPr>
          <p:cNvSpPr txBox="1"/>
          <p:nvPr/>
        </p:nvSpPr>
        <p:spPr>
          <a:xfrm>
            <a:off x="3971925" y="2457450"/>
            <a:ext cx="4572000" cy="646331"/>
          </a:xfrm>
          <a:prstGeom prst="rect">
            <a:avLst/>
          </a:prstGeom>
          <a:noFill/>
        </p:spPr>
        <p:txBody>
          <a:bodyPr wrap="square">
            <a:spAutoFit/>
          </a:bodyPr>
          <a:lstStyle/>
          <a:p>
            <a:r>
              <a:rPr lang="en-US" altLang="zh-CN" dirty="0"/>
              <a:t>1.6.2 </a:t>
            </a:r>
          </a:p>
          <a:p>
            <a:r>
              <a:rPr lang="zh-CN" altLang="zh-CN" dirty="0"/>
              <a:t>计算机网络的非性能特征</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DFA647E-B13A-F98E-5E90-C8854E593CB1}"/>
              </a:ext>
            </a:extLst>
          </p:cNvPr>
          <p:cNvSpPr>
            <a:spLocks noGrp="1"/>
          </p:cNvSpPr>
          <p:nvPr>
            <p:ph type="title"/>
          </p:nvPr>
        </p:nvSpPr>
        <p:spPr>
          <a:xfrm>
            <a:off x="612000" y="144000"/>
            <a:ext cx="7920000" cy="341632"/>
          </a:xfrm>
        </p:spPr>
        <p:txBody>
          <a:bodyPr/>
          <a:lstStyle/>
          <a:p>
            <a:r>
              <a:rPr lang="en-US" altLang="zh-CN" dirty="0"/>
              <a:t>1.6.1  </a:t>
            </a:r>
            <a:r>
              <a:rPr lang="zh-CN" altLang="en-US" dirty="0"/>
              <a:t>性能指标 </a:t>
            </a:r>
            <a:r>
              <a:rPr lang="en-US" altLang="zh-CN" dirty="0"/>
              <a:t>Specification</a:t>
            </a:r>
            <a:endParaRPr lang="zh-CN" altLang="en-US" dirty="0"/>
          </a:p>
        </p:txBody>
      </p:sp>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612000" y="899999"/>
            <a:ext cx="7920000" cy="3780000"/>
          </a:xfrm>
        </p:spPr>
        <p:txBody>
          <a:bodyPr/>
          <a:lstStyle/>
          <a:p>
            <a:r>
              <a:rPr lang="zh-CN" altLang="en-US" dirty="0"/>
              <a:t>从不同的方面来度量计算机网络的性能</a:t>
            </a:r>
          </a:p>
        </p:txBody>
      </p:sp>
      <p:sp>
        <p:nvSpPr>
          <p:cNvPr id="2" name="矩形: 圆角 1">
            <a:hlinkClick r:id="rId2" action="ppaction://hlinkfile"/>
            <a:extLst>
              <a:ext uri="{FF2B5EF4-FFF2-40B4-BE49-F238E27FC236}">
                <a16:creationId xmlns:a16="http://schemas.microsoft.com/office/drawing/2014/main" id="{DE6D6FEF-5244-D208-1A45-BCACA8603ACE}"/>
              </a:ext>
            </a:extLst>
          </p:cNvPr>
          <p:cNvSpPr/>
          <p:nvPr/>
        </p:nvSpPr>
        <p:spPr>
          <a:xfrm>
            <a:off x="2990881" y="1785243"/>
            <a:ext cx="1440000" cy="432000"/>
          </a:xfrm>
          <a:prstGeom prst="roundRect">
            <a:avLst/>
          </a:prstGeom>
          <a:solidFill>
            <a:srgbClr val="D4237A"/>
          </a:solidFill>
          <a:ln>
            <a:solidFill>
              <a:srgbClr val="D4237A"/>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速率</a:t>
            </a:r>
          </a:p>
        </p:txBody>
      </p:sp>
      <p:sp>
        <p:nvSpPr>
          <p:cNvPr id="6" name="矩形: 圆角 5">
            <a:hlinkClick r:id="rId2" action="ppaction://hlinkfile"/>
            <a:extLst>
              <a:ext uri="{FF2B5EF4-FFF2-40B4-BE49-F238E27FC236}">
                <a16:creationId xmlns:a16="http://schemas.microsoft.com/office/drawing/2014/main" id="{1B14ADDE-DA0A-02A6-7E30-0459F4278617}"/>
              </a:ext>
            </a:extLst>
          </p:cNvPr>
          <p:cNvSpPr/>
          <p:nvPr/>
        </p:nvSpPr>
        <p:spPr>
          <a:xfrm>
            <a:off x="2990881" y="2469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带宽</a:t>
            </a:r>
          </a:p>
        </p:txBody>
      </p:sp>
      <p:sp>
        <p:nvSpPr>
          <p:cNvPr id="7" name="矩形: 圆角 6">
            <a:hlinkClick r:id="rId2" action="ppaction://hlinkfile"/>
            <a:extLst>
              <a:ext uri="{FF2B5EF4-FFF2-40B4-BE49-F238E27FC236}">
                <a16:creationId xmlns:a16="http://schemas.microsoft.com/office/drawing/2014/main" id="{7500D1B8-0408-177A-A122-E8E31E7BE6A5}"/>
              </a:ext>
            </a:extLst>
          </p:cNvPr>
          <p:cNvSpPr/>
          <p:nvPr/>
        </p:nvSpPr>
        <p:spPr>
          <a:xfrm>
            <a:off x="2990881" y="3153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吞吐量</a:t>
            </a:r>
          </a:p>
        </p:txBody>
      </p:sp>
      <p:sp>
        <p:nvSpPr>
          <p:cNvPr id="8" name="矩形: 圆角 7">
            <a:hlinkClick r:id="rId2" action="ppaction://hlinkfile"/>
            <a:extLst>
              <a:ext uri="{FF2B5EF4-FFF2-40B4-BE49-F238E27FC236}">
                <a16:creationId xmlns:a16="http://schemas.microsoft.com/office/drawing/2014/main" id="{1C407E0F-9FD9-0DD4-8488-D8EADEC4B211}"/>
              </a:ext>
            </a:extLst>
          </p:cNvPr>
          <p:cNvSpPr/>
          <p:nvPr/>
        </p:nvSpPr>
        <p:spPr>
          <a:xfrm>
            <a:off x="2990881" y="3837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时延</a:t>
            </a:r>
          </a:p>
        </p:txBody>
      </p:sp>
      <p:sp>
        <p:nvSpPr>
          <p:cNvPr id="9" name="矩形: 圆角 8">
            <a:hlinkClick r:id="rId2" action="ppaction://hlinkfile"/>
            <a:extLst>
              <a:ext uri="{FF2B5EF4-FFF2-40B4-BE49-F238E27FC236}">
                <a16:creationId xmlns:a16="http://schemas.microsoft.com/office/drawing/2014/main" id="{7F489549-E4E4-BBD4-3EB8-B08538B181AE}"/>
              </a:ext>
            </a:extLst>
          </p:cNvPr>
          <p:cNvSpPr/>
          <p:nvPr/>
        </p:nvSpPr>
        <p:spPr>
          <a:xfrm>
            <a:off x="4468909" y="2127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时延带宽积</a:t>
            </a:r>
          </a:p>
        </p:txBody>
      </p:sp>
      <p:sp>
        <p:nvSpPr>
          <p:cNvPr id="10" name="矩形: 圆角 9">
            <a:hlinkClick r:id="rId2" action="ppaction://hlinkfile"/>
            <a:extLst>
              <a:ext uri="{FF2B5EF4-FFF2-40B4-BE49-F238E27FC236}">
                <a16:creationId xmlns:a16="http://schemas.microsoft.com/office/drawing/2014/main" id="{0C45A14C-1042-AEA3-28B2-6772A27B8C79}"/>
              </a:ext>
            </a:extLst>
          </p:cNvPr>
          <p:cNvSpPr/>
          <p:nvPr/>
        </p:nvSpPr>
        <p:spPr>
          <a:xfrm>
            <a:off x="4468909" y="2811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往返时间</a:t>
            </a:r>
          </a:p>
        </p:txBody>
      </p:sp>
      <p:sp>
        <p:nvSpPr>
          <p:cNvPr id="11" name="矩形: 圆角 10">
            <a:hlinkClick r:id="rId2" action="ppaction://hlinkfile"/>
            <a:extLst>
              <a:ext uri="{FF2B5EF4-FFF2-40B4-BE49-F238E27FC236}">
                <a16:creationId xmlns:a16="http://schemas.microsoft.com/office/drawing/2014/main" id="{7A6E7424-8DD9-84AE-39F9-8D09108E04D7}"/>
              </a:ext>
            </a:extLst>
          </p:cNvPr>
          <p:cNvSpPr/>
          <p:nvPr/>
        </p:nvSpPr>
        <p:spPr>
          <a:xfrm>
            <a:off x="4468909" y="3495243"/>
            <a:ext cx="1440000" cy="432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400" dirty="0"/>
              <a:t>利用率</a:t>
            </a:r>
          </a:p>
        </p:txBody>
      </p:sp>
      <p:sp>
        <p:nvSpPr>
          <p:cNvPr id="12" name="文本框 11">
            <a:extLst>
              <a:ext uri="{FF2B5EF4-FFF2-40B4-BE49-F238E27FC236}">
                <a16:creationId xmlns:a16="http://schemas.microsoft.com/office/drawing/2014/main" id="{50B7F34D-6C17-6F67-D650-1E4DFB50E8A2}"/>
              </a:ext>
            </a:extLst>
          </p:cNvPr>
          <p:cNvSpPr txBox="1"/>
          <p:nvPr/>
        </p:nvSpPr>
        <p:spPr>
          <a:xfrm>
            <a:off x="2208804" y="1887001"/>
            <a:ext cx="543740"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Rate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48940754-EAF4-0272-CD9B-C023FFB1B9C0}"/>
              </a:ext>
            </a:extLst>
          </p:cNvPr>
          <p:cNvSpPr txBox="1"/>
          <p:nvPr/>
        </p:nvSpPr>
        <p:spPr>
          <a:xfrm>
            <a:off x="1710271" y="2571001"/>
            <a:ext cx="1042273"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Bandwidth</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4" name="文本框 13">
            <a:extLst>
              <a:ext uri="{FF2B5EF4-FFF2-40B4-BE49-F238E27FC236}">
                <a16:creationId xmlns:a16="http://schemas.microsoft.com/office/drawing/2014/main" id="{88A8F0AE-AD66-9DAD-4924-0B62349BED07}"/>
              </a:ext>
            </a:extLst>
          </p:cNvPr>
          <p:cNvSpPr txBox="1"/>
          <p:nvPr/>
        </p:nvSpPr>
        <p:spPr>
          <a:xfrm>
            <a:off x="1606716" y="3255001"/>
            <a:ext cx="1145828"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Throughput</a:t>
            </a:r>
          </a:p>
        </p:txBody>
      </p:sp>
      <p:sp>
        <p:nvSpPr>
          <p:cNvPr id="15" name="文本框 14">
            <a:extLst>
              <a:ext uri="{FF2B5EF4-FFF2-40B4-BE49-F238E27FC236}">
                <a16:creationId xmlns:a16="http://schemas.microsoft.com/office/drawing/2014/main" id="{18691E97-8D0B-635C-259E-2BA876C22219}"/>
              </a:ext>
            </a:extLst>
          </p:cNvPr>
          <p:cNvSpPr txBox="1"/>
          <p:nvPr/>
        </p:nvSpPr>
        <p:spPr>
          <a:xfrm>
            <a:off x="2115830" y="3939001"/>
            <a:ext cx="636714"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Delay</a:t>
            </a:r>
          </a:p>
        </p:txBody>
      </p:sp>
      <p:sp>
        <p:nvSpPr>
          <p:cNvPr id="16" name="文本框 15">
            <a:extLst>
              <a:ext uri="{FF2B5EF4-FFF2-40B4-BE49-F238E27FC236}">
                <a16:creationId xmlns:a16="http://schemas.microsoft.com/office/drawing/2014/main" id="{6B951AA4-73AC-4E51-2CE4-5469112DFE86}"/>
              </a:ext>
            </a:extLst>
          </p:cNvPr>
          <p:cNvSpPr txBox="1"/>
          <p:nvPr/>
        </p:nvSpPr>
        <p:spPr>
          <a:xfrm>
            <a:off x="6148890" y="2229001"/>
            <a:ext cx="2043508"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 Delay Production</a:t>
            </a:r>
          </a:p>
        </p:txBody>
      </p:sp>
      <p:sp>
        <p:nvSpPr>
          <p:cNvPr id="17" name="文本框 16">
            <a:extLst>
              <a:ext uri="{FF2B5EF4-FFF2-40B4-BE49-F238E27FC236}">
                <a16:creationId xmlns:a16="http://schemas.microsoft.com/office/drawing/2014/main" id="{F79AB145-C61D-DB2A-0564-01B877EA644F}"/>
              </a:ext>
            </a:extLst>
          </p:cNvPr>
          <p:cNvSpPr txBox="1"/>
          <p:nvPr/>
        </p:nvSpPr>
        <p:spPr>
          <a:xfrm>
            <a:off x="6148890" y="2913001"/>
            <a:ext cx="1531253"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Round-Trip Time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B0965D35-DA65-BC97-777B-17F5A3CC33CB}"/>
              </a:ext>
            </a:extLst>
          </p:cNvPr>
          <p:cNvSpPr txBox="1"/>
          <p:nvPr/>
        </p:nvSpPr>
        <p:spPr>
          <a:xfrm>
            <a:off x="6148890" y="3597001"/>
            <a:ext cx="984565"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Utilization</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19" name="直接箭头连接符 18">
            <a:extLst>
              <a:ext uri="{FF2B5EF4-FFF2-40B4-BE49-F238E27FC236}">
                <a16:creationId xmlns:a16="http://schemas.microsoft.com/office/drawing/2014/main" id="{150984FC-B15D-F39A-1470-7C46EC5A4132}"/>
              </a:ext>
            </a:extLst>
          </p:cNvPr>
          <p:cNvCxnSpPr>
            <a:stCxn id="12" idx="3"/>
            <a:endCxn id="2" idx="1"/>
          </p:cNvCxnSpPr>
          <p:nvPr/>
        </p:nvCxnSpPr>
        <p:spPr>
          <a:xfrm flipV="1">
            <a:off x="2752544" y="2001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0" name="直接箭头连接符 19">
            <a:extLst>
              <a:ext uri="{FF2B5EF4-FFF2-40B4-BE49-F238E27FC236}">
                <a16:creationId xmlns:a16="http://schemas.microsoft.com/office/drawing/2014/main" id="{EBBAB79F-63DC-1A1C-F7AE-39FCB5007D71}"/>
              </a:ext>
            </a:extLst>
          </p:cNvPr>
          <p:cNvCxnSpPr>
            <a:stCxn id="13" idx="3"/>
            <a:endCxn id="6" idx="1"/>
          </p:cNvCxnSpPr>
          <p:nvPr/>
        </p:nvCxnSpPr>
        <p:spPr>
          <a:xfrm flipV="1">
            <a:off x="2752544" y="2685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1" name="直接箭头连接符 20">
            <a:extLst>
              <a:ext uri="{FF2B5EF4-FFF2-40B4-BE49-F238E27FC236}">
                <a16:creationId xmlns:a16="http://schemas.microsoft.com/office/drawing/2014/main" id="{74536850-2E39-6F97-9EEB-0A89E13B61A9}"/>
              </a:ext>
            </a:extLst>
          </p:cNvPr>
          <p:cNvCxnSpPr>
            <a:stCxn id="14" idx="3"/>
            <a:endCxn id="7" idx="1"/>
          </p:cNvCxnSpPr>
          <p:nvPr/>
        </p:nvCxnSpPr>
        <p:spPr>
          <a:xfrm flipV="1">
            <a:off x="2752544" y="3369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EEF44FCD-0E93-FC46-93D9-6A8D5A15E12D}"/>
              </a:ext>
            </a:extLst>
          </p:cNvPr>
          <p:cNvCxnSpPr>
            <a:stCxn id="15" idx="3"/>
            <a:endCxn id="8" idx="1"/>
          </p:cNvCxnSpPr>
          <p:nvPr/>
        </p:nvCxnSpPr>
        <p:spPr>
          <a:xfrm flipV="1">
            <a:off x="2752544" y="4053243"/>
            <a:ext cx="238337"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3" name="直接箭头连接符 22">
            <a:extLst>
              <a:ext uri="{FF2B5EF4-FFF2-40B4-BE49-F238E27FC236}">
                <a16:creationId xmlns:a16="http://schemas.microsoft.com/office/drawing/2014/main" id="{25DF2FA5-2D56-E952-9DC3-6AF02B7E4BCD}"/>
              </a:ext>
            </a:extLst>
          </p:cNvPr>
          <p:cNvCxnSpPr>
            <a:stCxn id="16" idx="1"/>
            <a:endCxn id="9" idx="3"/>
          </p:cNvCxnSpPr>
          <p:nvPr/>
        </p:nvCxnSpPr>
        <p:spPr>
          <a:xfrm flipH="1" flipV="1">
            <a:off x="5908909" y="2343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4" name="直接箭头连接符 23">
            <a:extLst>
              <a:ext uri="{FF2B5EF4-FFF2-40B4-BE49-F238E27FC236}">
                <a16:creationId xmlns:a16="http://schemas.microsoft.com/office/drawing/2014/main" id="{CCCEB7ED-7D00-5AE1-96E8-5AACA8D42241}"/>
              </a:ext>
            </a:extLst>
          </p:cNvPr>
          <p:cNvCxnSpPr>
            <a:stCxn id="17" idx="1"/>
            <a:endCxn id="10" idx="3"/>
          </p:cNvCxnSpPr>
          <p:nvPr/>
        </p:nvCxnSpPr>
        <p:spPr>
          <a:xfrm flipH="1" flipV="1">
            <a:off x="5908909" y="3027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361B4CE9-7835-55D9-2B27-A53F9363287F}"/>
              </a:ext>
            </a:extLst>
          </p:cNvPr>
          <p:cNvCxnSpPr>
            <a:stCxn id="18" idx="1"/>
            <a:endCxn id="11" idx="3"/>
          </p:cNvCxnSpPr>
          <p:nvPr/>
        </p:nvCxnSpPr>
        <p:spPr>
          <a:xfrm flipH="1" flipV="1">
            <a:off x="5908909" y="3711243"/>
            <a:ext cx="239981" cy="39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A810738-F540-8D57-7883-3FD9EE570ADB}"/>
              </a:ext>
            </a:extLst>
          </p:cNvPr>
          <p:cNvSpPr>
            <a:spLocks noGrp="1"/>
          </p:cNvSpPr>
          <p:nvPr>
            <p:ph type="title"/>
          </p:nvPr>
        </p:nvSpPr>
        <p:spPr>
          <a:xfrm>
            <a:off x="612000" y="144000"/>
            <a:ext cx="7920000" cy="341632"/>
          </a:xfrm>
        </p:spPr>
        <p:txBody>
          <a:bodyPr/>
          <a:lstStyle/>
          <a:p>
            <a:r>
              <a:rPr lang="en-US" altLang="zh-CN" dirty="0"/>
              <a:t>1. </a:t>
            </a:r>
            <a:r>
              <a:rPr lang="zh-CN" altLang="en-US" dirty="0"/>
              <a:t>速率 </a:t>
            </a:r>
            <a:r>
              <a:rPr lang="en-US" altLang="zh-CN" dirty="0"/>
              <a:t>bit rate</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最重要的一个性能指标</a:t>
            </a:r>
            <a:endParaRPr lang="en-US" altLang="zh-CN" dirty="0"/>
          </a:p>
          <a:p>
            <a:r>
              <a:rPr lang="zh-CN" altLang="en-US" dirty="0"/>
              <a:t>指的是数据的传：送速率每秒 </a:t>
            </a:r>
            <a:r>
              <a:rPr lang="en-US" altLang="zh-CN" dirty="0"/>
              <a:t>second </a:t>
            </a:r>
            <a:r>
              <a:rPr lang="zh-CN" altLang="en-US" dirty="0"/>
              <a:t>传送多少个比特 </a:t>
            </a:r>
            <a:r>
              <a:rPr lang="en-US" altLang="zh-CN" dirty="0"/>
              <a:t>bit</a:t>
            </a:r>
          </a:p>
          <a:p>
            <a:r>
              <a:rPr lang="zh-CN" altLang="en-US" dirty="0"/>
              <a:t>也称为数据率 </a:t>
            </a:r>
            <a:r>
              <a:rPr lang="en-US" altLang="zh-CN" dirty="0"/>
              <a:t>data rate</a:t>
            </a:r>
          </a:p>
          <a:p>
            <a:r>
              <a:rPr lang="zh-CN" altLang="en-US" dirty="0"/>
              <a:t>常见单位：</a:t>
            </a:r>
            <a:r>
              <a:rPr lang="en-US" altLang="zh-CN" dirty="0"/>
              <a:t>bit/s</a:t>
            </a:r>
            <a:r>
              <a:rPr lang="zh-CN" altLang="en-US" dirty="0"/>
              <a:t>，或 </a:t>
            </a:r>
            <a:r>
              <a:rPr lang="en-US" altLang="zh-CN" dirty="0"/>
              <a:t>Kbit/s</a:t>
            </a:r>
            <a:r>
              <a:rPr lang="zh-CN" altLang="en-US" dirty="0"/>
              <a:t>、</a:t>
            </a:r>
            <a:r>
              <a:rPr lang="en-US" altLang="zh-CN" dirty="0"/>
              <a:t>Mbit/s</a:t>
            </a:r>
            <a:r>
              <a:rPr lang="zh-CN" altLang="en-US" dirty="0"/>
              <a:t>、 </a:t>
            </a:r>
            <a:r>
              <a:rPr lang="en-US" altLang="zh-CN" dirty="0"/>
              <a:t>Gbit/s </a:t>
            </a:r>
          </a:p>
          <a:p>
            <a:r>
              <a:rPr lang="zh-CN" altLang="en-US" dirty="0"/>
              <a:t>通常简写为 </a:t>
            </a:r>
            <a:r>
              <a:rPr lang="en-US" altLang="zh-CN" dirty="0"/>
              <a:t>bps</a:t>
            </a:r>
            <a:r>
              <a:rPr lang="zh-CN" altLang="en-US" dirty="0"/>
              <a:t>（</a:t>
            </a:r>
            <a:r>
              <a:rPr lang="en-US" altLang="zh-CN" dirty="0"/>
              <a:t>bit per second</a:t>
            </a:r>
            <a:r>
              <a:rPr lang="zh-CN" altLang="en-US" dirty="0"/>
              <a:t>）</a:t>
            </a:r>
            <a:endParaRPr lang="en-US" altLang="zh-CN" dirty="0"/>
          </a:p>
          <a:p>
            <a:r>
              <a:rPr lang="zh-CN" altLang="en-US" dirty="0"/>
              <a:t>速率往往是指</a:t>
            </a:r>
            <a:r>
              <a:rPr lang="zh-CN" altLang="en-US" dirty="0">
                <a:solidFill>
                  <a:srgbClr val="D4237A"/>
                </a:solidFill>
              </a:rPr>
              <a:t>额定速率</a:t>
            </a:r>
            <a:r>
              <a:rPr lang="zh-CN" altLang="en-US" dirty="0"/>
              <a:t>或</a:t>
            </a:r>
            <a:r>
              <a:rPr lang="zh-CN" altLang="en-US" dirty="0">
                <a:solidFill>
                  <a:srgbClr val="D4237A"/>
                </a:solidFill>
              </a:rPr>
              <a:t>标称速率</a:t>
            </a:r>
            <a:r>
              <a:rPr lang="zh-CN" altLang="en-US" dirty="0"/>
              <a:t>，非实际运行速率</a:t>
            </a:r>
          </a:p>
        </p:txBody>
      </p:sp>
      <p:graphicFrame>
        <p:nvGraphicFramePr>
          <p:cNvPr id="6" name="表格 5">
            <a:extLst>
              <a:ext uri="{FF2B5EF4-FFF2-40B4-BE49-F238E27FC236}">
                <a16:creationId xmlns:a16="http://schemas.microsoft.com/office/drawing/2014/main" id="{EE5AB4CF-F209-B06D-13DE-9506C0EAE7D8}"/>
              </a:ext>
            </a:extLst>
          </p:cNvPr>
          <p:cNvGraphicFramePr>
            <a:graphicFrameLocks noGrp="1"/>
          </p:cNvGraphicFramePr>
          <p:nvPr>
            <p:extLst>
              <p:ext uri="{D42A27DB-BD31-4B8C-83A1-F6EECF244321}">
                <p14:modId xmlns:p14="http://schemas.microsoft.com/office/powerpoint/2010/main" val="2926149004"/>
              </p:ext>
            </p:extLst>
          </p:nvPr>
        </p:nvGraphicFramePr>
        <p:xfrm>
          <a:off x="1512000" y="3187029"/>
          <a:ext cx="6120000" cy="111252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3651162237"/>
                    </a:ext>
                  </a:extLst>
                </a:gridCol>
                <a:gridCol w="2520000">
                  <a:extLst>
                    <a:ext uri="{9D8B030D-6E8A-4147-A177-3AD203B41FA5}">
                      <a16:colId xmlns:a16="http://schemas.microsoft.com/office/drawing/2014/main" val="507947089"/>
                    </a:ext>
                  </a:extLst>
                </a:gridCol>
                <a:gridCol w="2160000">
                  <a:extLst>
                    <a:ext uri="{9D8B030D-6E8A-4147-A177-3AD203B41FA5}">
                      <a16:colId xmlns:a16="http://schemas.microsoft.com/office/drawing/2014/main" val="1124127991"/>
                    </a:ext>
                  </a:extLst>
                </a:gridCol>
              </a:tblGrid>
              <a:tr h="370840">
                <a:tc>
                  <a:txBody>
                    <a:bodyPr/>
                    <a:lstStyle/>
                    <a:p>
                      <a:pPr algn="r"/>
                      <a:r>
                        <a:rPr lang="en-US" altLang="zh-CN" sz="1400" dirty="0"/>
                        <a:t>4 </a:t>
                      </a:r>
                      <a:r>
                        <a:rPr lang="en-US" altLang="zh-CN" sz="1400" dirty="0">
                          <a:sym typeface="Symbol" pitchFamily="18" charset="2"/>
                        </a:rPr>
                        <a:t></a:t>
                      </a:r>
                      <a:r>
                        <a:rPr lang="en-US" altLang="zh-CN" sz="1400" dirty="0"/>
                        <a:t> 10</a:t>
                      </a:r>
                      <a:r>
                        <a:rPr lang="en-US" altLang="zh-CN" sz="1400" baseline="30000" dirty="0"/>
                        <a:t>10</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9</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Gbps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51723995"/>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6</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t>Mbps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322207"/>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a:t>
                      </a:r>
                      <a:r>
                        <a:rPr lang="en-US" altLang="zh-CN" sz="1400" dirty="0"/>
                        <a:t> </a:t>
                      </a:r>
                      <a:r>
                        <a:rPr lang="en-US" altLang="zh-CN" sz="1400" dirty="0">
                          <a:sym typeface="Symbol" pitchFamily="18" charset="2"/>
                        </a:rPr>
                        <a:t></a:t>
                      </a:r>
                      <a:r>
                        <a:rPr lang="en-US" altLang="zh-CN" sz="1400" dirty="0"/>
                        <a:t> 10</a:t>
                      </a:r>
                      <a:r>
                        <a:rPr lang="en-US" altLang="zh-CN" sz="1400" baseline="30000" dirty="0"/>
                        <a:t>3 </a:t>
                      </a:r>
                      <a:r>
                        <a:rPr lang="en-US" altLang="zh-CN" sz="1400" dirty="0"/>
                        <a:t>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  </a:t>
                      </a:r>
                      <a:r>
                        <a:rPr lang="en-US" altLang="zh-CN" sz="1400" dirty="0"/>
                        <a:t>Kbps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20185868"/>
                  </a:ext>
                </a:extLst>
              </a:tr>
            </a:tbl>
          </a:graphicData>
        </a:graphic>
      </p:graphicFrame>
      <p:pic>
        <p:nvPicPr>
          <p:cNvPr id="5" name="Picture 2">
            <a:extLst>
              <a:ext uri="{FF2B5EF4-FFF2-40B4-BE49-F238E27FC236}">
                <a16:creationId xmlns:a16="http://schemas.microsoft.com/office/drawing/2014/main" id="{7B9FD912-946F-15F7-3E38-EC5395D0DBD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85E49DF-B476-99B9-EF51-9C0FCA9BFA1C}"/>
              </a:ext>
            </a:extLst>
          </p:cNvPr>
          <p:cNvSpPr>
            <a:spLocks noGrp="1"/>
          </p:cNvSpPr>
          <p:nvPr>
            <p:ph type="title"/>
          </p:nvPr>
        </p:nvSpPr>
        <p:spPr>
          <a:xfrm>
            <a:off x="612000" y="144000"/>
            <a:ext cx="7920000" cy="341632"/>
          </a:xfrm>
        </p:spPr>
        <p:txBody>
          <a:bodyPr/>
          <a:lstStyle/>
          <a:p>
            <a:r>
              <a:rPr lang="en-US" altLang="zh-CN" dirty="0"/>
              <a:t>2. </a:t>
            </a:r>
            <a:r>
              <a:rPr lang="zh-CN" altLang="en-US" dirty="0"/>
              <a:t>带宽 </a:t>
            </a:r>
            <a:r>
              <a:rPr lang="en-US" altLang="zh-CN" dirty="0"/>
              <a:t>bandwidth</a:t>
            </a:r>
            <a:endParaRPr lang="zh-CN" altLang="en-US" dirty="0"/>
          </a:p>
        </p:txBody>
      </p:sp>
      <p:sp>
        <p:nvSpPr>
          <p:cNvPr id="7" name="内容占位符 6">
            <a:extLst>
              <a:ext uri="{FF2B5EF4-FFF2-40B4-BE49-F238E27FC236}">
                <a16:creationId xmlns:a16="http://schemas.microsoft.com/office/drawing/2014/main" id="{7510743D-BF72-2C51-F35F-42438CB51979}"/>
              </a:ext>
            </a:extLst>
          </p:cNvPr>
          <p:cNvSpPr>
            <a:spLocks noGrp="1"/>
          </p:cNvSpPr>
          <p:nvPr>
            <p:ph sz="quarter" idx="10"/>
          </p:nvPr>
        </p:nvSpPr>
        <p:spPr>
          <a:xfrm>
            <a:off x="612000" y="899999"/>
            <a:ext cx="7920000" cy="3780000"/>
          </a:xfrm>
        </p:spPr>
        <p:txBody>
          <a:bodyPr>
            <a:normAutofit/>
          </a:bodyPr>
          <a:lstStyle/>
          <a:p>
            <a:r>
              <a:rPr lang="zh-CN" altLang="en-US" dirty="0"/>
              <a:t>频域</a:t>
            </a:r>
            <a:endParaRPr lang="en-US" altLang="zh-CN" dirty="0"/>
          </a:p>
          <a:p>
            <a:pPr lvl="1"/>
            <a:r>
              <a:rPr lang="zh-CN" altLang="en-US" dirty="0"/>
              <a:t>某个信号具有的频带宽度</a:t>
            </a:r>
          </a:p>
          <a:p>
            <a:pPr lvl="1"/>
            <a:r>
              <a:rPr lang="zh-CN" altLang="en-US" dirty="0"/>
              <a:t>单位：赫兹 </a:t>
            </a:r>
            <a:r>
              <a:rPr lang="en-US" altLang="zh-CN" dirty="0" err="1"/>
              <a:t>hz</a:t>
            </a:r>
            <a:r>
              <a:rPr lang="zh-CN" altLang="en-US" dirty="0"/>
              <a:t>、千赫 </a:t>
            </a:r>
            <a:r>
              <a:rPr lang="en-US" altLang="zh-CN" dirty="0" err="1"/>
              <a:t>Khz</a:t>
            </a:r>
            <a:r>
              <a:rPr lang="zh-CN" altLang="en-US" dirty="0"/>
              <a:t>、兆赫 </a:t>
            </a:r>
            <a:r>
              <a:rPr lang="en-US" altLang="zh-CN" dirty="0" err="1"/>
              <a:t>Mhz</a:t>
            </a:r>
            <a:r>
              <a:rPr lang="zh-CN" altLang="en-US" dirty="0"/>
              <a:t>、吉赫 </a:t>
            </a:r>
            <a:r>
              <a:rPr lang="en-US" altLang="zh-CN" dirty="0" err="1"/>
              <a:t>Ghz</a:t>
            </a:r>
            <a:endParaRPr lang="zh-CN" altLang="en-US" dirty="0"/>
          </a:p>
          <a:p>
            <a:pPr lvl="1"/>
            <a:r>
              <a:rPr lang="zh-CN" altLang="en-US" dirty="0"/>
              <a:t>某信道允许通过的信号频带范围称为该信道的带宽</a:t>
            </a:r>
            <a:r>
              <a:rPr lang="en-US" altLang="zh-CN" dirty="0"/>
              <a:t>/</a:t>
            </a:r>
            <a:r>
              <a:rPr lang="zh-CN" altLang="en-US" dirty="0"/>
              <a:t>通频带</a:t>
            </a:r>
          </a:p>
          <a:p>
            <a:r>
              <a:rPr lang="zh-CN" altLang="en-US" dirty="0"/>
              <a:t>时域</a:t>
            </a:r>
            <a:endParaRPr lang="en-US" altLang="zh-CN" dirty="0"/>
          </a:p>
          <a:p>
            <a:pPr lvl="1"/>
            <a:r>
              <a:rPr lang="zh-CN" altLang="en-US" dirty="0"/>
              <a:t>表示在单位时间内网络中的某信道所能通过的</a:t>
            </a:r>
            <a:r>
              <a:rPr lang="zh-CN" altLang="en-US" dirty="0">
                <a:solidFill>
                  <a:srgbClr val="D4237A"/>
                </a:solidFill>
              </a:rPr>
              <a:t>最高数据率</a:t>
            </a:r>
          </a:p>
          <a:p>
            <a:pPr lvl="1"/>
            <a:r>
              <a:rPr lang="zh-CN" altLang="en-US" dirty="0"/>
              <a:t>网络中某通道传送数据的能力</a:t>
            </a:r>
            <a:endParaRPr lang="en-US" altLang="zh-CN" dirty="0"/>
          </a:p>
          <a:p>
            <a:pPr lvl="1"/>
            <a:r>
              <a:rPr lang="zh-CN" altLang="en-US" dirty="0"/>
              <a:t>单位就是数据率的单位 </a:t>
            </a:r>
            <a:r>
              <a:rPr lang="en-US" altLang="en-US" dirty="0"/>
              <a:t>bit/s</a:t>
            </a:r>
            <a:endParaRPr lang="en-US" altLang="zh-CN" dirty="0"/>
          </a:p>
          <a:p>
            <a:r>
              <a:rPr lang="zh-CN" altLang="en-US" dirty="0"/>
              <a:t>两者</a:t>
            </a:r>
            <a:r>
              <a:rPr lang="zh-CN" altLang="zh-CN" dirty="0"/>
              <a:t>本质相同</a:t>
            </a:r>
            <a:r>
              <a:rPr lang="zh-CN" altLang="en-US" dirty="0"/>
              <a:t>：</a:t>
            </a:r>
            <a:r>
              <a:rPr lang="zh-CN" altLang="zh-CN" dirty="0"/>
              <a:t>一条通信链路的带宽越宽，其所能传输的最高数据率也越高</a:t>
            </a:r>
            <a:endParaRPr lang="zh-CN" altLang="en-US" dirty="0"/>
          </a:p>
        </p:txBody>
      </p:sp>
      <p:pic>
        <p:nvPicPr>
          <p:cNvPr id="3" name="Picture 2">
            <a:extLst>
              <a:ext uri="{FF2B5EF4-FFF2-40B4-BE49-F238E27FC236}">
                <a16:creationId xmlns:a16="http://schemas.microsoft.com/office/drawing/2014/main" id="{B45BD449-292A-A0E9-223B-9576202CBC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6D2ABB-F15C-5C22-55AD-23B8A06951D9}"/>
              </a:ext>
            </a:extLst>
          </p:cNvPr>
          <p:cNvSpPr>
            <a:spLocks noGrp="1"/>
          </p:cNvSpPr>
          <p:nvPr>
            <p:ph type="title"/>
          </p:nvPr>
        </p:nvSpPr>
        <p:spPr>
          <a:xfrm>
            <a:off x="612000" y="144000"/>
            <a:ext cx="7920000" cy="341632"/>
          </a:xfrm>
        </p:spPr>
        <p:txBody>
          <a:bodyPr/>
          <a:lstStyle/>
          <a:p>
            <a:r>
              <a:rPr lang="en-US" altLang="zh-CN" dirty="0"/>
              <a:t>3. </a:t>
            </a:r>
            <a:r>
              <a:rPr lang="zh-CN" altLang="en-US" dirty="0"/>
              <a:t>吞吐量 </a:t>
            </a:r>
            <a:r>
              <a:rPr lang="en-US" altLang="zh-CN" dirty="0"/>
              <a:t>(throughput)</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单位时间内通过某个网络（或信道、接口）的</a:t>
            </a:r>
            <a:r>
              <a:rPr lang="zh-CN" altLang="en-US" dirty="0">
                <a:solidFill>
                  <a:srgbClr val="D4237A"/>
                </a:solidFill>
              </a:rPr>
              <a:t>实际数据量</a:t>
            </a:r>
            <a:endParaRPr lang="en-US" altLang="zh-CN" dirty="0">
              <a:solidFill>
                <a:srgbClr val="D4237A"/>
              </a:solidFill>
            </a:endParaRPr>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180868-9227-821F-CB6B-7010FE22187C}"/>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指数据（一个报文或分组，甚至比特）从网络（或链路）的一端传送到另一端所需的时间</a:t>
            </a:r>
          </a:p>
          <a:p>
            <a:r>
              <a:rPr lang="zh-CN" altLang="en-US" dirty="0"/>
              <a:t>也称为延迟或迟延 </a:t>
            </a:r>
            <a:r>
              <a:rPr lang="en-US" altLang="zh-CN" dirty="0"/>
              <a:t>latency</a:t>
            </a:r>
          </a:p>
          <a:p>
            <a:r>
              <a:rPr lang="zh-CN" altLang="en-US" dirty="0"/>
              <a:t>组成：</a:t>
            </a:r>
          </a:p>
          <a:p>
            <a:pPr lvl="1"/>
            <a:r>
              <a:rPr lang="zh-CN" altLang="en-US" dirty="0"/>
              <a:t>发送时延</a:t>
            </a:r>
            <a:endParaRPr lang="en-US" altLang="zh-CN" dirty="0"/>
          </a:p>
          <a:p>
            <a:pPr lvl="1"/>
            <a:r>
              <a:rPr lang="zh-CN" altLang="en-US" dirty="0"/>
              <a:t>传播时延</a:t>
            </a:r>
          </a:p>
          <a:p>
            <a:pPr lvl="1"/>
            <a:r>
              <a:rPr lang="zh-CN" altLang="en-US" dirty="0"/>
              <a:t>处理时延</a:t>
            </a:r>
          </a:p>
          <a:p>
            <a:pPr lvl="1"/>
            <a:r>
              <a:rPr lang="zh-CN" altLang="en-US" dirty="0"/>
              <a:t>排队时延</a:t>
            </a:r>
            <a:endParaRPr lang="en-US" altLang="zh-CN" dirty="0"/>
          </a:p>
          <a:p>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EB513F33-92BE-8BFF-1FAA-72CFD3C81D3D}"/>
              </a:ext>
            </a:extLst>
          </p:cNvPr>
          <p:cNvSpPr>
            <a:spLocks noGrp="1"/>
          </p:cNvSpPr>
          <p:nvPr>
            <p:ph type="title"/>
          </p:nvPr>
        </p:nvSpPr>
        <p:spPr>
          <a:xfrm>
            <a:off x="612000" y="144000"/>
            <a:ext cx="7920000" cy="341632"/>
          </a:xfrm>
        </p:spPr>
        <p:txBody>
          <a:bodyPr/>
          <a:lstStyle/>
          <a:p>
            <a:r>
              <a:rPr lang="en-US" altLang="zh-CN" dirty="0"/>
              <a:t>4.1 </a:t>
            </a:r>
            <a:r>
              <a:rPr lang="zh-CN" altLang="en-US" dirty="0"/>
              <a:t>发送时延</a:t>
            </a:r>
          </a:p>
        </p:txBody>
      </p:sp>
      <p:sp>
        <p:nvSpPr>
          <p:cNvPr id="2" name="内容占位符 1"/>
          <p:cNvSpPr>
            <a:spLocks noGrp="1"/>
          </p:cNvSpPr>
          <p:nvPr>
            <p:ph sz="quarter" idx="10"/>
          </p:nvPr>
        </p:nvSpPr>
        <p:spPr>
          <a:xfrm>
            <a:off x="612000" y="899999"/>
            <a:ext cx="7920000" cy="3780000"/>
          </a:xfrm>
        </p:spPr>
        <p:txBody>
          <a:bodyPr/>
          <a:lstStyle/>
          <a:p>
            <a:r>
              <a:rPr lang="zh-CN" altLang="en-US" dirty="0"/>
              <a:t>也称为传输时延</a:t>
            </a:r>
          </a:p>
          <a:p>
            <a:r>
              <a:rPr lang="zh-CN" altLang="en-US" dirty="0"/>
              <a:t>是主机或路由器发送数据帧所需要的时间：从发送数据帧的第一个比特算起，到该帧的最后一个比特发送完毕所需的时间</a:t>
            </a:r>
            <a:endParaRPr lang="en-US" altLang="zh-CN" dirty="0"/>
          </a:p>
          <a:p>
            <a:r>
              <a:rPr lang="zh-CN" altLang="en-US" dirty="0"/>
              <a:t>发送时延发生在机器内部的发送器中，与传输信道的长度（或信号传送的距离）没有任何关系</a:t>
            </a:r>
            <a:endParaRPr lang="en-US" altLang="zh-CN" dirty="0"/>
          </a:p>
          <a:p>
            <a:endParaRPr lang="zh-CN" altLang="en-US" dirty="0"/>
          </a:p>
          <a:p>
            <a:endParaRPr lang="zh-CN" altLang="en-US" dirty="0"/>
          </a:p>
        </p:txBody>
      </p:sp>
      <p:grpSp>
        <p:nvGrpSpPr>
          <p:cNvPr id="6" name="组合 6"/>
          <p:cNvGrpSpPr>
            <a:grpSpLocks/>
          </p:cNvGrpSpPr>
          <p:nvPr/>
        </p:nvGrpSpPr>
        <p:grpSpPr bwMode="auto">
          <a:xfrm>
            <a:off x="2628548" y="2932588"/>
            <a:ext cx="2921095" cy="507832"/>
            <a:chOff x="3141225" y="4479364"/>
            <a:chExt cx="2453278" cy="507832"/>
          </a:xfrm>
        </p:grpSpPr>
        <p:sp>
          <p:nvSpPr>
            <p:cNvPr id="7" name="Text Box 9"/>
            <p:cNvSpPr txBox="1">
              <a:spLocks noChangeArrowheads="1"/>
            </p:cNvSpPr>
            <p:nvPr/>
          </p:nvSpPr>
          <p:spPr bwMode="auto">
            <a:xfrm>
              <a:off x="3141225" y="460247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发送时延 </a:t>
              </a:r>
              <a:r>
                <a:rPr lang="en-US" altLang="zh-CN" sz="1050" b="1" dirty="0">
                  <a:solidFill>
                    <a:sysClr val="windowText" lastClr="000000"/>
                  </a:solidFill>
                  <a:latin typeface="+mj-lt"/>
                  <a:ea typeface="+mj-ea"/>
                </a:rPr>
                <a:t>= </a:t>
              </a:r>
            </a:p>
          </p:txBody>
        </p:sp>
        <p:sp>
          <p:nvSpPr>
            <p:cNvPr id="8" name="Text Box 10"/>
            <p:cNvSpPr txBox="1">
              <a:spLocks noChangeArrowheads="1"/>
            </p:cNvSpPr>
            <p:nvPr/>
          </p:nvSpPr>
          <p:spPr bwMode="auto">
            <a:xfrm>
              <a:off x="4138722" y="4479364"/>
              <a:ext cx="109748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数据帧长度（</a:t>
              </a:r>
              <a:r>
                <a:rPr lang="en-US" altLang="zh-CN" sz="1050" b="1" dirty="0">
                  <a:solidFill>
                    <a:sysClr val="windowText" lastClr="000000"/>
                  </a:solidFill>
                  <a:latin typeface="+mj-lt"/>
                  <a:ea typeface="+mj-ea"/>
                </a:rPr>
                <a:t>bit</a:t>
              </a:r>
              <a:r>
                <a:rPr lang="zh-CN" altLang="en-US" sz="1050" b="1" dirty="0">
                  <a:solidFill>
                    <a:sysClr val="windowText" lastClr="000000"/>
                  </a:solidFill>
                  <a:latin typeface="+mj-lt"/>
                  <a:ea typeface="+mj-ea"/>
                </a:rPr>
                <a:t>）</a:t>
              </a:r>
            </a:p>
          </p:txBody>
        </p:sp>
        <p:sp>
          <p:nvSpPr>
            <p:cNvPr id="9" name="Text Box 11"/>
            <p:cNvSpPr txBox="1">
              <a:spLocks noChangeArrowheads="1"/>
            </p:cNvSpPr>
            <p:nvPr/>
          </p:nvSpPr>
          <p:spPr bwMode="auto">
            <a:xfrm>
              <a:off x="4149492" y="4733280"/>
              <a:ext cx="107594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发送速率（</a:t>
              </a:r>
              <a:r>
                <a:rPr lang="en-US" altLang="zh-CN" sz="1050" b="1" dirty="0">
                  <a:solidFill>
                    <a:sysClr val="windowText" lastClr="000000"/>
                  </a:solidFill>
                  <a:latin typeface="+mj-lt"/>
                  <a:ea typeface="+mj-ea"/>
                </a:rPr>
                <a:t>bit/s</a:t>
              </a:r>
              <a:r>
                <a:rPr lang="zh-CN" altLang="en-US" sz="1050" b="1" dirty="0">
                  <a:solidFill>
                    <a:sysClr val="windowText" lastClr="000000"/>
                  </a:solidFill>
                  <a:latin typeface="+mj-lt"/>
                  <a:ea typeface="+mj-ea"/>
                </a:rPr>
                <a:t>）</a:t>
              </a:r>
            </a:p>
          </p:txBody>
        </p:sp>
        <p:sp>
          <p:nvSpPr>
            <p:cNvPr id="10" name="Line 12"/>
            <p:cNvSpPr>
              <a:spLocks noChangeShapeType="1"/>
            </p:cNvSpPr>
            <p:nvPr/>
          </p:nvSpPr>
          <p:spPr bwMode="auto">
            <a:xfrm>
              <a:off x="3780428" y="4733280"/>
              <a:ext cx="181407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D60AEE4-E10B-8BE7-E891-E7775BDCFCD3}"/>
              </a:ext>
            </a:extLst>
          </p:cNvPr>
          <p:cNvSpPr>
            <a:spLocks noGrp="1"/>
          </p:cNvSpPr>
          <p:nvPr>
            <p:ph type="title"/>
          </p:nvPr>
        </p:nvSpPr>
        <p:spPr>
          <a:xfrm>
            <a:off x="612000" y="144000"/>
            <a:ext cx="7920000" cy="341632"/>
          </a:xfrm>
        </p:spPr>
        <p:txBody>
          <a:bodyPr/>
          <a:lstStyle/>
          <a:p>
            <a:r>
              <a:rPr lang="en-US" altLang="zh-CN" dirty="0"/>
              <a:t>4.2 </a:t>
            </a:r>
            <a:r>
              <a:rPr lang="zh-CN" altLang="en-US" dirty="0"/>
              <a:t>传播时延</a:t>
            </a:r>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是电磁波在信道中传播一定的距离需要花费的时间</a:t>
            </a:r>
            <a:endParaRPr lang="en-US" altLang="zh-CN" dirty="0"/>
          </a:p>
          <a:p>
            <a:r>
              <a:rPr lang="zh-CN" altLang="en-US" dirty="0"/>
              <a:t>传播时延则发生在机器外部的传输信道媒体上，而与信号的发送速率无关。信号传送的距离越远，传播时延就越大</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在铜线电缆中的传播速率约 </a:t>
            </a:r>
            <a:r>
              <a:rPr lang="en-US" altLang="zh-CN" dirty="0"/>
              <a:t>= 2.3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在光纤中的传播速率约 </a:t>
            </a:r>
            <a:r>
              <a:rPr lang="en-US" altLang="zh-CN" dirty="0"/>
              <a:t>=</a:t>
            </a:r>
            <a:r>
              <a:rPr lang="zh-CN" altLang="en-US" dirty="0"/>
              <a:t> </a:t>
            </a:r>
            <a:r>
              <a:rPr lang="en-US" altLang="zh-CN" dirty="0"/>
              <a:t>2.0 </a:t>
            </a:r>
            <a:r>
              <a:rPr lang="en-US" altLang="zh-CN" dirty="0">
                <a:sym typeface="Symbol" pitchFamily="18" charset="2"/>
              </a:rPr>
              <a:t></a:t>
            </a:r>
            <a:r>
              <a:rPr lang="zh-CN" altLang="en-US" dirty="0"/>
              <a:t> </a:t>
            </a:r>
            <a:r>
              <a:rPr lang="en-US" altLang="zh-CN" dirty="0"/>
              <a:t>10</a:t>
            </a:r>
            <a:r>
              <a:rPr lang="en-US" altLang="zh-CN" baseline="30000" dirty="0"/>
              <a:t>5</a:t>
            </a:r>
            <a:r>
              <a:rPr lang="en-US" altLang="zh-CN" dirty="0"/>
              <a:t> Km/s</a:t>
            </a:r>
          </a:p>
        </p:txBody>
      </p:sp>
      <p:grpSp>
        <p:nvGrpSpPr>
          <p:cNvPr id="13" name="组合 13"/>
          <p:cNvGrpSpPr>
            <a:grpSpLocks/>
          </p:cNvGrpSpPr>
          <p:nvPr/>
        </p:nvGrpSpPr>
        <p:grpSpPr bwMode="auto">
          <a:xfrm>
            <a:off x="2062899" y="2199048"/>
            <a:ext cx="3297962" cy="523220"/>
            <a:chOff x="2776090" y="4423880"/>
            <a:chExt cx="2769789" cy="523220"/>
          </a:xfrm>
        </p:grpSpPr>
        <p:sp>
          <p:nvSpPr>
            <p:cNvPr id="14" name="Text Box 9"/>
            <p:cNvSpPr txBox="1">
              <a:spLocks noChangeArrowheads="1"/>
            </p:cNvSpPr>
            <p:nvPr/>
          </p:nvSpPr>
          <p:spPr bwMode="auto">
            <a:xfrm>
              <a:off x="2776090" y="455468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p>
          </p:txBody>
        </p:sp>
        <p:sp>
          <p:nvSpPr>
            <p:cNvPr id="15" name="Text Box 10"/>
            <p:cNvSpPr txBox="1">
              <a:spLocks noChangeArrowheads="1"/>
            </p:cNvSpPr>
            <p:nvPr/>
          </p:nvSpPr>
          <p:spPr bwMode="auto">
            <a:xfrm>
              <a:off x="3992776" y="4423880"/>
              <a:ext cx="98978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信道长度（</a:t>
              </a:r>
              <a:r>
                <a:rPr lang="en-US" altLang="zh-CN" sz="1050" b="1" dirty="0">
                  <a:solidFill>
                    <a:sysClr val="windowText" lastClr="000000"/>
                  </a:solidFill>
                  <a:latin typeface="+mj-lt"/>
                  <a:ea typeface="+mj-ea"/>
                </a:rPr>
                <a:t>m</a:t>
              </a:r>
              <a:r>
                <a:rPr lang="zh-CN" altLang="en-US" sz="1050" b="1" dirty="0">
                  <a:solidFill>
                    <a:sysClr val="windowText" lastClr="000000"/>
                  </a:solidFill>
                  <a:latin typeface="+mj-lt"/>
                  <a:ea typeface="+mj-ea"/>
                </a:rPr>
                <a:t>）</a:t>
              </a:r>
            </a:p>
          </p:txBody>
        </p:sp>
        <p:sp>
          <p:nvSpPr>
            <p:cNvPr id="16" name="Text Box 11"/>
            <p:cNvSpPr txBox="1">
              <a:spLocks noChangeArrowheads="1"/>
            </p:cNvSpPr>
            <p:nvPr/>
          </p:nvSpPr>
          <p:spPr bwMode="auto">
            <a:xfrm>
              <a:off x="3429459" y="4685490"/>
              <a:ext cx="2116420"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信号在信道上的传播速率（</a:t>
              </a:r>
              <a:r>
                <a:rPr lang="en-US" altLang="zh-CN" sz="1050" b="1" dirty="0">
                  <a:solidFill>
                    <a:sysClr val="windowText" lastClr="000000"/>
                  </a:solidFill>
                  <a:latin typeface="+mj-lt"/>
                  <a:ea typeface="+mj-ea"/>
                </a:rPr>
                <a:t>m/s</a:t>
              </a:r>
              <a:r>
                <a:rPr lang="zh-CN" altLang="en-US" sz="1050" b="1" dirty="0">
                  <a:solidFill>
                    <a:sysClr val="windowText" lastClr="000000"/>
                  </a:solidFill>
                  <a:latin typeface="+mj-lt"/>
                  <a:ea typeface="+mj-ea"/>
                </a:rPr>
                <a:t>）</a:t>
              </a:r>
            </a:p>
          </p:txBody>
        </p:sp>
        <p:sp>
          <p:nvSpPr>
            <p:cNvPr id="17" name="Line 12"/>
            <p:cNvSpPr>
              <a:spLocks noChangeShapeType="1"/>
            </p:cNvSpPr>
            <p:nvPr/>
          </p:nvSpPr>
          <p:spPr bwMode="auto">
            <a:xfrm>
              <a:off x="3429460" y="4685490"/>
              <a:ext cx="21164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359650C-0371-8480-50FB-BAC617F778BD}"/>
              </a:ext>
            </a:extLst>
          </p:cNvPr>
          <p:cNvSpPr>
            <a:spLocks noGrp="1"/>
          </p:cNvSpPr>
          <p:nvPr>
            <p:ph type="title"/>
          </p:nvPr>
        </p:nvSpPr>
        <p:spPr>
          <a:xfrm>
            <a:off x="612000" y="144000"/>
            <a:ext cx="7920000" cy="341632"/>
          </a:xfrm>
        </p:spPr>
        <p:txBody>
          <a:bodyPr/>
          <a:lstStyle/>
          <a:p>
            <a:r>
              <a:rPr lang="en-US" altLang="zh-CN" dirty="0"/>
              <a:t>4.3 </a:t>
            </a:r>
            <a:r>
              <a:rPr lang="zh-CN" altLang="en-US" dirty="0"/>
              <a:t>处理时延</a:t>
            </a:r>
          </a:p>
        </p:txBody>
      </p:sp>
      <p:sp>
        <p:nvSpPr>
          <p:cNvPr id="5" name="内容占位符 4"/>
          <p:cNvSpPr>
            <a:spLocks noGrp="1"/>
          </p:cNvSpPr>
          <p:nvPr>
            <p:ph sz="quarter" idx="10"/>
          </p:nvPr>
        </p:nvSpPr>
        <p:spPr>
          <a:xfrm>
            <a:off x="612000" y="899999"/>
            <a:ext cx="7920000" cy="3780000"/>
          </a:xfrm>
        </p:spPr>
        <p:txBody>
          <a:bodyPr/>
          <a:lstStyle/>
          <a:p>
            <a:r>
              <a:rPr lang="zh-CN" altLang="en-US" dirty="0"/>
              <a:t>主机或路由器在收到分组时，为处理分组（例如分析首部、提取数据、差错检验或查找路由）所花费的时间</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6B772-8F63-5B56-B354-23710E020ABD}"/>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D57121A9-E71E-064A-2691-AAAAA7CAE4F2}"/>
              </a:ext>
            </a:extLst>
          </p:cNvPr>
          <p:cNvSpPr>
            <a:spLocks noGrp="1"/>
          </p:cNvSpPr>
          <p:nvPr>
            <p:ph type="title"/>
          </p:nvPr>
        </p:nvSpPr>
        <p:spPr>
          <a:xfrm>
            <a:off x="612000" y="144000"/>
            <a:ext cx="7920000" cy="341632"/>
          </a:xfrm>
        </p:spPr>
        <p:txBody>
          <a:bodyPr/>
          <a:lstStyle/>
          <a:p>
            <a:r>
              <a:rPr lang="en-US" altLang="zh-CN" dirty="0"/>
              <a:t>4.4 </a:t>
            </a:r>
            <a:r>
              <a:rPr lang="zh-CN" altLang="en-US" dirty="0"/>
              <a:t>排队时延</a:t>
            </a:r>
          </a:p>
        </p:txBody>
      </p:sp>
      <p:sp>
        <p:nvSpPr>
          <p:cNvPr id="5" name="内容占位符 4">
            <a:extLst>
              <a:ext uri="{FF2B5EF4-FFF2-40B4-BE49-F238E27FC236}">
                <a16:creationId xmlns:a16="http://schemas.microsoft.com/office/drawing/2014/main" id="{4B75B7D0-3809-D25B-8748-7140ED55638E}"/>
              </a:ext>
            </a:extLst>
          </p:cNvPr>
          <p:cNvSpPr>
            <a:spLocks noGrp="1"/>
          </p:cNvSpPr>
          <p:nvPr>
            <p:ph sz="quarter" idx="10"/>
          </p:nvPr>
        </p:nvSpPr>
        <p:spPr>
          <a:xfrm>
            <a:off x="612000" y="899999"/>
            <a:ext cx="7920000" cy="3780000"/>
          </a:xfrm>
        </p:spPr>
        <p:txBody>
          <a:bodyPr/>
          <a:lstStyle/>
          <a:p>
            <a:r>
              <a:rPr lang="zh-CN" altLang="en-US" dirty="0"/>
              <a:t>分组在路由器输入输出队列中排队等待处理和转发所经历的时延</a:t>
            </a:r>
          </a:p>
          <a:p>
            <a:r>
              <a:rPr lang="zh-CN" altLang="en-US" dirty="0"/>
              <a:t>排队时延的长短往往取决于网络中当时的通信量</a:t>
            </a:r>
            <a:endParaRPr lang="en-US" altLang="zh-CN" dirty="0"/>
          </a:p>
          <a:p>
            <a:r>
              <a:rPr lang="zh-CN" altLang="en-US" dirty="0"/>
              <a:t>当网络的通信量很大时会发生队列溢出，使分组丢失，这相当于排队时延为无穷大</a:t>
            </a:r>
          </a:p>
        </p:txBody>
      </p:sp>
    </p:spTree>
    <p:extLst>
      <p:ext uri="{BB962C8B-B14F-4D97-AF65-F5344CB8AC3E}">
        <p14:creationId xmlns:p14="http://schemas.microsoft.com/office/powerpoint/2010/main" val="12585844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6D5B31C-0D64-7C19-DFD5-839A99479227}"/>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r>
              <a:rPr lang="zh-CN" altLang="zh-CN" dirty="0"/>
              <a:t>总时延中，哪一种时延占主导地位，必须具体</a:t>
            </a:r>
            <a:r>
              <a:rPr lang="zh-CN" altLang="en-US" dirty="0"/>
              <a:t>情况具体</a:t>
            </a:r>
            <a:r>
              <a:rPr lang="zh-CN" altLang="zh-CN" dirty="0"/>
              <a:t>分析</a:t>
            </a:r>
            <a:endParaRPr lang="zh-CN" altLang="en-US" dirty="0"/>
          </a:p>
        </p:txBody>
      </p:sp>
      <p:sp>
        <p:nvSpPr>
          <p:cNvPr id="6" name="矩形 13"/>
          <p:cNvSpPr>
            <a:spLocks noChangeArrowheads="1"/>
          </p:cNvSpPr>
          <p:nvPr/>
        </p:nvSpPr>
        <p:spPr bwMode="auto">
          <a:xfrm>
            <a:off x="1285583" y="1064701"/>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51" name="Rectangle 7"/>
          <p:cNvSpPr>
            <a:spLocks noChangeArrowheads="1"/>
          </p:cNvSpPr>
          <p:nvPr/>
        </p:nvSpPr>
        <p:spPr bwMode="auto">
          <a:xfrm>
            <a:off x="3006696" y="3030623"/>
            <a:ext cx="2988000"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800" b="1" dirty="0">
              <a:latin typeface="+mn-lt"/>
              <a:ea typeface="微软雅黑 Light" panose="020B0502040204020203" pitchFamily="34" charset="-122"/>
            </a:endParaRPr>
          </a:p>
        </p:txBody>
      </p:sp>
      <p:sp>
        <p:nvSpPr>
          <p:cNvPr id="108555" name="Oval 10"/>
          <p:cNvSpPr>
            <a:spLocks noChangeArrowheads="1"/>
          </p:cNvSpPr>
          <p:nvPr/>
        </p:nvSpPr>
        <p:spPr bwMode="auto">
          <a:xfrm>
            <a:off x="5945709" y="2687723"/>
            <a:ext cx="947738" cy="855662"/>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1" name="Rectangle 12"/>
          <p:cNvSpPr>
            <a:spLocks noChangeArrowheads="1"/>
          </p:cNvSpPr>
          <p:nvPr/>
        </p:nvSpPr>
        <p:spPr bwMode="auto">
          <a:xfrm>
            <a:off x="2502392" y="2949660"/>
            <a:ext cx="377304" cy="295275"/>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8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微软雅黑 Light" panose="020B0502040204020203" pitchFamily="34" charset="-122"/>
            </a:endParaRPr>
          </a:p>
        </p:txBody>
      </p:sp>
      <p:sp>
        <p:nvSpPr>
          <p:cNvPr id="108579" name="Freeform 13"/>
          <p:cNvSpPr>
            <a:spLocks/>
          </p:cNvSpPr>
          <p:nvPr/>
        </p:nvSpPr>
        <p:spPr bwMode="auto">
          <a:xfrm>
            <a:off x="2374871" y="2949660"/>
            <a:ext cx="504825" cy="295275"/>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0" name="Line 14"/>
          <p:cNvSpPr>
            <a:spLocks noChangeShapeType="1"/>
          </p:cNvSpPr>
          <p:nvPr/>
        </p:nvSpPr>
        <p:spPr bwMode="auto">
          <a:xfrm>
            <a:off x="2753490"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1" name="Line 15"/>
          <p:cNvSpPr>
            <a:spLocks noChangeShapeType="1"/>
          </p:cNvSpPr>
          <p:nvPr/>
        </p:nvSpPr>
        <p:spPr bwMode="auto">
          <a:xfrm>
            <a:off x="2627284"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2" name="Line 16"/>
          <p:cNvSpPr>
            <a:spLocks noChangeShapeType="1"/>
          </p:cNvSpPr>
          <p:nvPr/>
        </p:nvSpPr>
        <p:spPr bwMode="auto">
          <a:xfrm>
            <a:off x="2501077"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59" name="AutoShape 21"/>
          <p:cNvSpPr>
            <a:spLocks noChangeArrowheads="1"/>
          </p:cNvSpPr>
          <p:nvPr/>
        </p:nvSpPr>
        <p:spPr bwMode="auto">
          <a:xfrm>
            <a:off x="3239586" y="3063960"/>
            <a:ext cx="720000" cy="108000"/>
          </a:xfrm>
          <a:prstGeom prst="rightArrow">
            <a:avLst>
              <a:gd name="adj1" fmla="val 50000"/>
              <a:gd name="adj2" fmla="val 178219"/>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0" name="AutoShape 26"/>
          <p:cNvSpPr>
            <a:spLocks noChangeArrowheads="1"/>
          </p:cNvSpPr>
          <p:nvPr/>
        </p:nvSpPr>
        <p:spPr bwMode="auto">
          <a:xfrm>
            <a:off x="1726240" y="3063960"/>
            <a:ext cx="720000" cy="108000"/>
          </a:xfrm>
          <a:prstGeom prst="rightArrow">
            <a:avLst>
              <a:gd name="adj1" fmla="val 50000"/>
              <a:gd name="adj2" fmla="val 178436"/>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1" name="AutoShape 27"/>
          <p:cNvSpPr>
            <a:spLocks noChangeArrowheads="1"/>
          </p:cNvSpPr>
          <p:nvPr/>
        </p:nvSpPr>
        <p:spPr bwMode="auto">
          <a:xfrm>
            <a:off x="5459566" y="3059198"/>
            <a:ext cx="720000" cy="108000"/>
          </a:xfrm>
          <a:prstGeom prst="rightArrow">
            <a:avLst>
              <a:gd name="adj1" fmla="val 50000"/>
              <a:gd name="adj2" fmla="val 180730"/>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4" name="Text Box 32"/>
          <p:cNvSpPr txBox="1">
            <a:spLocks noChangeArrowheads="1"/>
          </p:cNvSpPr>
          <p:nvPr/>
        </p:nvSpPr>
        <p:spPr bwMode="auto">
          <a:xfrm>
            <a:off x="3135738" y="3452601"/>
            <a:ext cx="78299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Emitter</a:t>
            </a:r>
            <a:endParaRPr lang="zh-CN" altLang="en-US" sz="800" dirty="0"/>
          </a:p>
        </p:txBody>
      </p:sp>
      <p:sp>
        <p:nvSpPr>
          <p:cNvPr id="108565" name="Text Box 34"/>
          <p:cNvSpPr txBox="1">
            <a:spLocks noChangeArrowheads="1"/>
          </p:cNvSpPr>
          <p:nvPr/>
        </p:nvSpPr>
        <p:spPr bwMode="auto">
          <a:xfrm>
            <a:off x="2269689" y="3230780"/>
            <a:ext cx="7848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latin typeface="+mj-ea"/>
                <a:ea typeface="+mj-ea"/>
              </a:defRPr>
            </a:lvl1pPr>
          </a:lstStyle>
          <a:p>
            <a:r>
              <a:rPr lang="en-US" altLang="zh-CN" sz="800" dirty="0">
                <a:solidFill>
                  <a:sysClr val="windowText" lastClr="000000"/>
                </a:solidFill>
                <a:latin typeface="+mj-lt"/>
              </a:rPr>
              <a:t>Queue</a:t>
            </a:r>
            <a:endParaRPr lang="zh-CN" altLang="en-US" sz="800" dirty="0">
              <a:solidFill>
                <a:sysClr val="windowText" lastClr="000000"/>
              </a:solidFill>
              <a:latin typeface="+mj-lt"/>
            </a:endParaRPr>
          </a:p>
        </p:txBody>
      </p:sp>
      <p:sp>
        <p:nvSpPr>
          <p:cNvPr id="27" name="Text Box 36"/>
          <p:cNvSpPr txBox="1">
            <a:spLocks noChangeArrowheads="1"/>
          </p:cNvSpPr>
          <p:nvPr/>
        </p:nvSpPr>
        <p:spPr bwMode="auto">
          <a:xfrm>
            <a:off x="4400121" y="2031384"/>
            <a:ext cx="1080000" cy="203133"/>
          </a:xfrm>
          <a:prstGeom prst="rect">
            <a:avLst/>
          </a:prstGeom>
        </p:spPr>
        <p:txBody>
          <a:bodyPr vert="horz" wrap="square"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传播时延</a:t>
            </a:r>
          </a:p>
        </p:txBody>
      </p:sp>
      <p:sp>
        <p:nvSpPr>
          <p:cNvPr id="108567" name="Text Box 37"/>
          <p:cNvSpPr txBox="1">
            <a:spLocks noChangeArrowheads="1"/>
          </p:cNvSpPr>
          <p:nvPr/>
        </p:nvSpPr>
        <p:spPr bwMode="auto">
          <a:xfrm>
            <a:off x="6023578"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 B</a:t>
            </a:r>
          </a:p>
        </p:txBody>
      </p:sp>
      <p:sp>
        <p:nvSpPr>
          <p:cNvPr id="108568" name="Text Box 38"/>
          <p:cNvSpPr txBox="1">
            <a:spLocks noChangeArrowheads="1"/>
          </p:cNvSpPr>
          <p:nvPr/>
        </p:nvSpPr>
        <p:spPr bwMode="auto">
          <a:xfrm>
            <a:off x="2200403"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a:t>
            </a:r>
            <a:r>
              <a:rPr lang="zh-CN" altLang="en-US" sz="800" dirty="0"/>
              <a:t> </a:t>
            </a:r>
            <a:r>
              <a:rPr lang="en-US" altLang="zh-CN" sz="800" dirty="0"/>
              <a:t>A</a:t>
            </a:r>
          </a:p>
        </p:txBody>
      </p:sp>
      <p:sp>
        <p:nvSpPr>
          <p:cNvPr id="31" name="Text Box 24"/>
          <p:cNvSpPr txBox="1">
            <a:spLocks noChangeArrowheads="1"/>
          </p:cNvSpPr>
          <p:nvPr/>
        </p:nvSpPr>
        <p:spPr bwMode="auto">
          <a:xfrm>
            <a:off x="2685040" y="2282223"/>
            <a:ext cx="936000"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发送时延</a:t>
            </a:r>
          </a:p>
        </p:txBody>
      </p:sp>
      <p:sp>
        <p:nvSpPr>
          <p:cNvPr id="108570" name="Line 41"/>
          <p:cNvSpPr>
            <a:spLocks noChangeShapeType="1"/>
          </p:cNvSpPr>
          <p:nvPr/>
        </p:nvSpPr>
        <p:spPr bwMode="auto">
          <a:xfrm flipH="1" flipV="1">
            <a:off x="3027332" y="3178260"/>
            <a:ext cx="280986" cy="365123"/>
          </a:xfrm>
          <a:prstGeom prst="line">
            <a:avLst/>
          </a:prstGeom>
          <a:noFill/>
          <a:ln w="12700">
            <a:solidFill>
              <a:schemeClr val="tx1"/>
            </a:solidFill>
            <a:prstDash val="dash"/>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77" name="Text Box 42"/>
          <p:cNvSpPr txBox="1">
            <a:spLocks noChangeArrowheads="1"/>
          </p:cNvSpPr>
          <p:nvPr/>
        </p:nvSpPr>
        <p:spPr bwMode="auto">
          <a:xfrm>
            <a:off x="2148425" y="1964846"/>
            <a:ext cx="1800493"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处理时延和排队时延</a:t>
            </a:r>
          </a:p>
        </p:txBody>
      </p:sp>
      <p:sp>
        <p:nvSpPr>
          <p:cNvPr id="108572" name="Text Box 46"/>
          <p:cNvSpPr txBox="1">
            <a:spLocks noChangeArrowheads="1"/>
          </p:cNvSpPr>
          <p:nvPr/>
        </p:nvSpPr>
        <p:spPr bwMode="auto">
          <a:xfrm>
            <a:off x="1792192"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08573" name="Text Box 47"/>
          <p:cNvSpPr txBox="1">
            <a:spLocks noChangeArrowheads="1"/>
          </p:cNvSpPr>
          <p:nvPr/>
        </p:nvSpPr>
        <p:spPr bwMode="auto">
          <a:xfrm>
            <a:off x="2266589" y="1030136"/>
            <a:ext cx="4343217" cy="286232"/>
          </a:xfrm>
          <a:prstGeom prst="rect">
            <a:avLst/>
          </a:prstGeom>
        </p:spPr>
        <p:txBody>
          <a:bodyPr vert="horz" lIns="91440" tIns="45720" rIns="91440" bIns="45720" rtlCol="0" anchor="ctr">
            <a:spAutoFit/>
          </a:bodyPr>
          <a:lstStyle>
            <a:lvl1pPr defTabSz="685800">
              <a:lnSpc>
                <a:spcPct val="90000"/>
              </a:lnSpc>
              <a:spcBef>
                <a:spcPct val="0"/>
              </a:spcBef>
              <a:buNone/>
              <a:defRPr lang="zh-CN" altLang="en-US" dirty="0">
                <a:solidFill>
                  <a:schemeClr val="bg1"/>
                </a:solidFill>
                <a:latin typeface="+mj-lt"/>
                <a:ea typeface="+mj-ea"/>
                <a:cs typeface="+mj-cs"/>
              </a:defRPr>
            </a:lvl1pPr>
          </a:lstStyle>
          <a:p>
            <a:pPr algn="ctr"/>
            <a:r>
              <a:rPr lang="zh-CN" altLang="en-US" sz="1400" dirty="0">
                <a:solidFill>
                  <a:schemeClr val="tx1"/>
                </a:solidFill>
              </a:rPr>
              <a:t>假设从结点 </a:t>
            </a:r>
            <a:r>
              <a:rPr lang="en-US" altLang="zh-CN" sz="1400" dirty="0">
                <a:solidFill>
                  <a:schemeClr val="tx1"/>
                </a:solidFill>
              </a:rPr>
              <a:t>A </a:t>
            </a:r>
            <a:r>
              <a:rPr lang="zh-CN" altLang="en-US" sz="1400" dirty="0">
                <a:solidFill>
                  <a:schemeClr val="tx1"/>
                </a:solidFill>
              </a:rPr>
              <a:t>向结点 </a:t>
            </a:r>
            <a:r>
              <a:rPr lang="en-US" altLang="zh-CN" sz="1400" dirty="0">
                <a:solidFill>
                  <a:schemeClr val="tx1"/>
                </a:solidFill>
              </a:rPr>
              <a:t>B </a:t>
            </a:r>
            <a:r>
              <a:rPr lang="zh-CN" altLang="en-US" sz="1400" dirty="0">
                <a:solidFill>
                  <a:schemeClr val="tx1"/>
                </a:solidFill>
              </a:rPr>
              <a:t>发送数据</a:t>
            </a:r>
          </a:p>
        </p:txBody>
      </p:sp>
      <p:sp>
        <p:nvSpPr>
          <p:cNvPr id="108574" name="Text Box 48"/>
          <p:cNvSpPr txBox="1">
            <a:spLocks noChangeArrowheads="1"/>
          </p:cNvSpPr>
          <p:nvPr/>
        </p:nvSpPr>
        <p:spPr bwMode="auto">
          <a:xfrm>
            <a:off x="4241495" y="3237157"/>
            <a:ext cx="12682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Link/Channel</a:t>
            </a:r>
            <a:endParaRPr lang="zh-CN" altLang="en-US" sz="800" dirty="0"/>
          </a:p>
        </p:txBody>
      </p:sp>
      <p:sp>
        <p:nvSpPr>
          <p:cNvPr id="108575" name="矩形 38"/>
          <p:cNvSpPr>
            <a:spLocks noChangeArrowheads="1"/>
          </p:cNvSpPr>
          <p:nvPr/>
        </p:nvSpPr>
        <p:spPr bwMode="auto">
          <a:xfrm>
            <a:off x="2285668" y="4227111"/>
            <a:ext cx="45726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1200" dirty="0"/>
              <a:t>四</a:t>
            </a:r>
            <a:r>
              <a:rPr lang="zh-CN" altLang="zh-CN" sz="1200" dirty="0"/>
              <a:t>种时延产生的地方</a:t>
            </a:r>
            <a:endParaRPr lang="zh-CN" altLang="en-US" sz="1200" dirty="0"/>
          </a:p>
        </p:txBody>
      </p:sp>
      <p:cxnSp>
        <p:nvCxnSpPr>
          <p:cNvPr id="5" name="直接连接符 4"/>
          <p:cNvCxnSpPr>
            <a:cxnSpLocks/>
          </p:cNvCxnSpPr>
          <p:nvPr/>
        </p:nvCxnSpPr>
        <p:spPr>
          <a:xfrm>
            <a:off x="3069925"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a:cxnSpLocks/>
          </p:cNvCxnSpPr>
          <p:nvPr/>
        </p:nvCxnSpPr>
        <p:spPr>
          <a:xfrm>
            <a:off x="5952429"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a:cxnSpLocks/>
          </p:cNvCxnSpPr>
          <p:nvPr/>
        </p:nvCxnSpPr>
        <p:spPr>
          <a:xfrm>
            <a:off x="3069925" y="2889657"/>
            <a:ext cx="2880000" cy="0"/>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163910" y="3067362"/>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63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9" name="标题 8">
            <a:extLst>
              <a:ext uri="{FF2B5EF4-FFF2-40B4-BE49-F238E27FC236}">
                <a16:creationId xmlns:a16="http://schemas.microsoft.com/office/drawing/2014/main" id="{AB889599-2EF2-AECF-A8A7-1FDEDCC5F522}"/>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cxnSp>
        <p:nvCxnSpPr>
          <p:cNvPr id="3" name="直接箭头连接符 2">
            <a:extLst>
              <a:ext uri="{FF2B5EF4-FFF2-40B4-BE49-F238E27FC236}">
                <a16:creationId xmlns:a16="http://schemas.microsoft.com/office/drawing/2014/main" id="{56777DE4-B648-4990-D43F-FED63808A266}"/>
              </a:ext>
            </a:extLst>
          </p:cNvPr>
          <p:cNvCxnSpPr/>
          <p:nvPr/>
        </p:nvCxnSpPr>
        <p:spPr>
          <a:xfrm>
            <a:off x="4740085" y="2247893"/>
            <a:ext cx="0" cy="648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 name="直接箭头连接符 3">
            <a:extLst>
              <a:ext uri="{FF2B5EF4-FFF2-40B4-BE49-F238E27FC236}">
                <a16:creationId xmlns:a16="http://schemas.microsoft.com/office/drawing/2014/main" id="{05BC9BCB-4F50-BFF4-F230-1B34A6EC2950}"/>
              </a:ext>
            </a:extLst>
          </p:cNvPr>
          <p:cNvCxnSpPr/>
          <p:nvPr/>
        </p:nvCxnSpPr>
        <p:spPr>
          <a:xfrm>
            <a:off x="2629237" y="2182258"/>
            <a:ext cx="0" cy="72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直接箭头连接符 5">
            <a:extLst>
              <a:ext uri="{FF2B5EF4-FFF2-40B4-BE49-F238E27FC236}">
                <a16:creationId xmlns:a16="http://schemas.microsoft.com/office/drawing/2014/main" id="{7F12540B-3B83-94EA-6840-5D096FE5E7A3}"/>
              </a:ext>
            </a:extLst>
          </p:cNvPr>
          <p:cNvCxnSpPr/>
          <p:nvPr/>
        </p:nvCxnSpPr>
        <p:spPr>
          <a:xfrm>
            <a:off x="2982520" y="2485443"/>
            <a:ext cx="0" cy="54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46">
            <a:extLst>
              <a:ext uri="{FF2B5EF4-FFF2-40B4-BE49-F238E27FC236}">
                <a16:creationId xmlns:a16="http://schemas.microsoft.com/office/drawing/2014/main" id="{68786650-EA90-AEF0-816F-F82D7C97B1C6}"/>
              </a:ext>
            </a:extLst>
          </p:cNvPr>
          <p:cNvSpPr txBox="1">
            <a:spLocks noChangeArrowheads="1"/>
          </p:cNvSpPr>
          <p:nvPr/>
        </p:nvSpPr>
        <p:spPr bwMode="auto">
          <a:xfrm>
            <a:off x="3239586"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4" name="Text Box 46">
            <a:extLst>
              <a:ext uri="{FF2B5EF4-FFF2-40B4-BE49-F238E27FC236}">
                <a16:creationId xmlns:a16="http://schemas.microsoft.com/office/drawing/2014/main" id="{8EABA450-7E50-47DF-678E-776920D141DA}"/>
              </a:ext>
            </a:extLst>
          </p:cNvPr>
          <p:cNvSpPr txBox="1">
            <a:spLocks noChangeArrowheads="1"/>
          </p:cNvSpPr>
          <p:nvPr/>
        </p:nvSpPr>
        <p:spPr bwMode="auto">
          <a:xfrm>
            <a:off x="5525518"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FEFB68C-FECB-2051-1A96-9282D0F84733}"/>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2" name="矩形 1"/>
          <p:cNvSpPr/>
          <p:nvPr/>
        </p:nvSpPr>
        <p:spPr>
          <a:xfrm>
            <a:off x="612775" y="867392"/>
            <a:ext cx="7918450" cy="40697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判断题：</a:t>
            </a: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83942AA-77AD-66EB-6B80-381C197BEA0E}"/>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4" name="椭圆 3"/>
          <p:cNvSpPr/>
          <p:nvPr/>
        </p:nvSpPr>
        <p:spPr>
          <a:xfrm>
            <a:off x="2394997" y="1216646"/>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p:cNvSpPr/>
          <p:nvPr/>
        </p:nvSpPr>
        <p:spPr>
          <a:xfrm>
            <a:off x="6322563" y="1216646"/>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7" name="直接连接符 6"/>
          <p:cNvCxnSpPr>
            <a:stCxn id="4" idx="6"/>
            <a:endCxn id="5" idx="2"/>
          </p:cNvCxnSpPr>
          <p:nvPr/>
        </p:nvCxnSpPr>
        <p:spPr>
          <a:xfrm>
            <a:off x="2813005" y="1425651"/>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700399" y="1115449"/>
            <a:ext cx="1734770" cy="307777"/>
          </a:xfrm>
          <a:prstGeom prst="rect">
            <a:avLst/>
          </a:prstGeom>
          <a:noFill/>
        </p:spPr>
        <p:txBody>
          <a:bodyPr wrap="none" rtlCol="0">
            <a:spAutoFit/>
          </a:bodyPr>
          <a:lstStyle/>
          <a:p>
            <a:pPr algn="ctr"/>
            <a:r>
              <a:rPr lang="zh-CN" altLang="en-US" sz="1400" dirty="0"/>
              <a:t>光纤链路 </a:t>
            </a:r>
            <a:r>
              <a:rPr lang="en-US" altLang="zh-CN" sz="1400" dirty="0"/>
              <a:t>1000 Km</a:t>
            </a:r>
            <a:endParaRPr lang="zh-CN" altLang="en-US" sz="1400" dirty="0"/>
          </a:p>
        </p:txBody>
      </p:sp>
      <p:sp>
        <p:nvSpPr>
          <p:cNvPr id="11" name="Text Box 37"/>
          <p:cNvSpPr txBox="1">
            <a:spLocks noChangeArrowheads="1"/>
          </p:cNvSpPr>
          <p:nvPr/>
        </p:nvSpPr>
        <p:spPr bwMode="auto">
          <a:xfrm>
            <a:off x="6184699" y="1644425"/>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12" name="Text Box 38"/>
          <p:cNvSpPr txBox="1">
            <a:spLocks noChangeArrowheads="1"/>
          </p:cNvSpPr>
          <p:nvPr/>
        </p:nvSpPr>
        <p:spPr bwMode="auto">
          <a:xfrm>
            <a:off x="2244771" y="1644425"/>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18" name="文本框 17">
            <a:extLst>
              <a:ext uri="{FF2B5EF4-FFF2-40B4-BE49-F238E27FC236}">
                <a16:creationId xmlns:a16="http://schemas.microsoft.com/office/drawing/2014/main" id="{F7F89758-B5F8-E3C8-4B30-8A79F664664E}"/>
              </a:ext>
            </a:extLst>
          </p:cNvPr>
          <p:cNvSpPr txBox="1"/>
          <p:nvPr/>
        </p:nvSpPr>
        <p:spPr>
          <a:xfrm>
            <a:off x="612776" y="2283359"/>
            <a:ext cx="7918449" cy="2123658"/>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要将一个数据块通过 </a:t>
            </a:r>
            <a:r>
              <a:rPr lang="en-US" altLang="zh-CN" sz="1600" dirty="0"/>
              <a:t>1000 Km </a:t>
            </a:r>
            <a:r>
              <a:rPr lang="zh-CN" altLang="en-US" sz="1600" dirty="0"/>
              <a:t>的光纤链路发送给结点 </a:t>
            </a:r>
            <a:r>
              <a:rPr lang="en-US" altLang="zh-CN" sz="1600" dirty="0"/>
              <a:t>B</a:t>
            </a:r>
            <a:r>
              <a:rPr lang="zh-CN" altLang="en-US" sz="1600" dirty="0"/>
              <a:t>。假设忽略处理时延和排队时延。请分别计算下列情况时的总时延，并验证“数据的发送速率越高，其传送的总时延就越小”的说法是否正确。</a:t>
            </a:r>
            <a:endParaRPr lang="en-US" altLang="zh-CN" sz="1600" dirty="0"/>
          </a:p>
          <a:p>
            <a:pPr marL="180000" lvl="1">
              <a:spcAft>
                <a:spcPts val="600"/>
              </a:spcAft>
            </a:pPr>
            <a:r>
              <a:rPr lang="zh-CN" altLang="en-US" sz="1600" dirty="0"/>
              <a:t>（</a:t>
            </a:r>
            <a:r>
              <a:rPr lang="en-US" altLang="zh-CN" sz="1600" dirty="0"/>
              <a:t>1</a:t>
            </a:r>
            <a:r>
              <a:rPr lang="zh-CN" altLang="en-US" sz="1600" dirty="0"/>
              <a:t>）数据块大小为 </a:t>
            </a:r>
            <a:r>
              <a:rPr lang="en-US" altLang="zh-CN" sz="1600" dirty="0"/>
              <a:t>100 MB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2</a:t>
            </a:r>
            <a:r>
              <a:rPr lang="zh-CN" altLang="en-US" sz="1600" dirty="0"/>
              <a:t>）数据块大小为 </a:t>
            </a:r>
            <a:r>
              <a:rPr lang="en-US" altLang="zh-CN" sz="1600" dirty="0"/>
              <a:t>100 MB</a:t>
            </a:r>
            <a:r>
              <a:rPr lang="zh-CN" altLang="en-US" sz="1600" dirty="0"/>
              <a:t>，信道带宽为 </a:t>
            </a:r>
            <a:r>
              <a:rPr lang="en-US" altLang="zh-CN" sz="1600" dirty="0"/>
              <a:t>100 Mbit/s</a:t>
            </a:r>
          </a:p>
          <a:p>
            <a:pPr marL="180000" lvl="1">
              <a:spcAft>
                <a:spcPts val="600"/>
              </a:spcAft>
            </a:pPr>
            <a:r>
              <a:rPr lang="zh-CN" altLang="en-US" sz="1600" dirty="0"/>
              <a:t>（</a:t>
            </a:r>
            <a:r>
              <a:rPr lang="en-US" altLang="zh-CN" sz="1600" dirty="0"/>
              <a:t>3</a:t>
            </a:r>
            <a:r>
              <a:rPr lang="zh-CN" altLang="en-US" sz="1600" dirty="0"/>
              <a:t>）数据块大小为 </a:t>
            </a:r>
            <a:r>
              <a:rPr lang="en-US" altLang="zh-CN" sz="1600" dirty="0"/>
              <a:t>1 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4</a:t>
            </a:r>
            <a:r>
              <a:rPr lang="zh-CN" altLang="en-US" sz="1600" dirty="0"/>
              <a:t>）数据块大小为 </a:t>
            </a:r>
            <a:r>
              <a:rPr lang="en-US" altLang="zh-CN" sz="1600" dirty="0"/>
              <a:t>1 B</a:t>
            </a:r>
            <a:r>
              <a:rPr lang="zh-CN" altLang="en-US" sz="1600" dirty="0"/>
              <a:t>，信道带宽为 </a:t>
            </a:r>
            <a:r>
              <a:rPr lang="en-US" altLang="zh-CN" sz="1600" dirty="0"/>
              <a:t>1 Gbit/s</a:t>
            </a:r>
          </a:p>
        </p:txBody>
      </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2085FCD-423F-F17E-E82D-5226FD96FEB4}"/>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8" name="文本框 7">
            <a:extLst>
              <a:ext uri="{FF2B5EF4-FFF2-40B4-BE49-F238E27FC236}">
                <a16:creationId xmlns:a16="http://schemas.microsoft.com/office/drawing/2014/main" id="{B530D1CF-8F9E-74C5-554B-3449FE52AB42}"/>
              </a:ext>
            </a:extLst>
          </p:cNvPr>
          <p:cNvSpPr txBox="1"/>
          <p:nvPr/>
        </p:nvSpPr>
        <p:spPr>
          <a:xfrm>
            <a:off x="611999" y="1156444"/>
            <a:ext cx="7919999" cy="3247043"/>
          </a:xfrm>
          <a:prstGeom prst="rect">
            <a:avLst/>
          </a:prstGeom>
          <a:noFill/>
        </p:spPr>
        <p:txBody>
          <a:bodyPr wrap="square" rtlCol="0">
            <a:spAutoFit/>
          </a:bodyPr>
          <a:lstStyle/>
          <a:p>
            <a:pPr>
              <a:spcAft>
                <a:spcPts val="600"/>
              </a:spcAft>
            </a:pPr>
            <a:r>
              <a:rPr lang="zh-CN" altLang="en-US" sz="1600" dirty="0"/>
              <a:t>解：</a:t>
            </a:r>
            <a:endParaRPr lang="en-US" altLang="zh-CN" sz="1600" dirty="0"/>
          </a:p>
          <a:p>
            <a:pPr>
              <a:spcAft>
                <a:spcPts val="600"/>
              </a:spcAft>
            </a:pPr>
            <a:r>
              <a:rPr lang="zh-CN" altLang="en-US" sz="1600" dirty="0"/>
              <a:t>传播时延 </a:t>
            </a:r>
            <a:r>
              <a:rPr lang="en-US" altLang="zh-CN" sz="1600" dirty="0"/>
              <a:t>= 1000 Km / 2.0 </a:t>
            </a:r>
            <a:r>
              <a:rPr lang="en-US" altLang="zh-CN" sz="1600" dirty="0">
                <a:sym typeface="Symbol" pitchFamily="18" charset="2"/>
              </a:rPr>
              <a:t></a:t>
            </a:r>
            <a:r>
              <a:rPr lang="zh-CN" altLang="en-US" sz="1600" dirty="0"/>
              <a:t> </a:t>
            </a:r>
            <a:r>
              <a:rPr lang="en-US" altLang="zh-CN" sz="1600" dirty="0"/>
              <a:t>10</a:t>
            </a:r>
            <a:r>
              <a:rPr lang="en-US" altLang="zh-CN" sz="1600" baseline="30000" dirty="0"/>
              <a:t>5</a:t>
            </a:r>
            <a:r>
              <a:rPr lang="en-US" altLang="zh-CN" sz="1600" dirty="0"/>
              <a:t> Km/s =</a:t>
            </a:r>
            <a:r>
              <a:rPr lang="zh-CN" altLang="en-US" sz="1600" dirty="0"/>
              <a:t> </a:t>
            </a:r>
            <a:r>
              <a:rPr lang="en-US" altLang="zh-CN" sz="1600" dirty="0"/>
              <a:t>5 </a:t>
            </a:r>
            <a:r>
              <a:rPr lang="en-US" altLang="zh-CN" sz="1600" dirty="0" err="1"/>
              <a:t>ms</a:t>
            </a:r>
            <a:endParaRPr lang="en-US" altLang="zh-CN" sz="1600" dirty="0"/>
          </a:p>
          <a:p>
            <a:pPr>
              <a:spcAft>
                <a:spcPts val="600"/>
              </a:spcAft>
            </a:pPr>
            <a:r>
              <a:rPr lang="zh-CN" altLang="en-US" sz="1600" dirty="0"/>
              <a:t>（</a:t>
            </a:r>
            <a:r>
              <a:rPr lang="en-US" altLang="zh-CN" sz="1600" dirty="0"/>
              <a:t>1</a:t>
            </a:r>
            <a:r>
              <a:rPr lang="zh-CN" altLang="en-US" sz="1600" dirty="0"/>
              <a:t>）</a:t>
            </a:r>
            <a:r>
              <a:rPr lang="zh-CN" altLang="zh-CN" sz="1600" dirty="0"/>
              <a:t>发送时延</a:t>
            </a:r>
            <a:r>
              <a:rPr lang="en-US" altLang="zh-CN" sz="1600" dirty="0"/>
              <a:t> = 100 </a:t>
            </a:r>
            <a:r>
              <a:rPr lang="en-US" altLang="zh-CN" sz="1600" dirty="0">
                <a:sym typeface="Symbol"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 s≈ 838.9 s</a:t>
            </a:r>
            <a:endParaRPr lang="zh-CN" altLang="zh-CN" sz="1600" dirty="0"/>
          </a:p>
          <a:p>
            <a:pPr>
              <a:spcAft>
                <a:spcPts val="600"/>
              </a:spcAft>
            </a:pPr>
            <a:r>
              <a:rPr lang="zh-CN" altLang="en-US" sz="1600" dirty="0"/>
              <a:t>（</a:t>
            </a:r>
            <a:r>
              <a:rPr lang="en-US" altLang="zh-CN" sz="1600" dirty="0"/>
              <a:t>2</a:t>
            </a:r>
            <a:r>
              <a:rPr lang="zh-CN" altLang="en-US" sz="1600" dirty="0"/>
              <a:t>）</a:t>
            </a:r>
            <a:r>
              <a:rPr lang="zh-CN" altLang="zh-CN" sz="1600" dirty="0"/>
              <a:t>发送时延</a:t>
            </a:r>
            <a:r>
              <a:rPr lang="en-US" altLang="zh-CN" sz="1600" dirty="0"/>
              <a:t> = 100 </a:t>
            </a:r>
            <a:r>
              <a:rPr lang="en-US" altLang="zh-CN" sz="1600" dirty="0">
                <a:sym typeface="Symbol" panose="05050102010706020507"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8</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a:t>
            </a:r>
            <a:r>
              <a:rPr lang="zh-CN" altLang="en-US" sz="1600" dirty="0"/>
              <a:t> </a:t>
            </a:r>
            <a:r>
              <a:rPr lang="en-US" altLang="zh-CN" sz="1600" dirty="0"/>
              <a:t>s= 8.394 s</a:t>
            </a:r>
            <a:r>
              <a:rPr lang="zh-CN" altLang="en-US" sz="1600" dirty="0"/>
              <a:t>。缩小到（</a:t>
            </a:r>
            <a:r>
              <a:rPr lang="en-US" altLang="zh-CN" sz="1600" dirty="0"/>
              <a:t>1</a:t>
            </a:r>
            <a:r>
              <a:rPr lang="zh-CN" altLang="en-US" sz="1600" dirty="0"/>
              <a:t>）的近 </a:t>
            </a:r>
            <a:r>
              <a:rPr lang="en-US" altLang="zh-CN" sz="1600" dirty="0"/>
              <a:t>1/100</a:t>
            </a:r>
          </a:p>
          <a:p>
            <a:pPr>
              <a:spcAft>
                <a:spcPts val="600"/>
              </a:spcAft>
            </a:pPr>
            <a:r>
              <a:rPr lang="zh-CN" altLang="en-US" sz="1600" dirty="0"/>
              <a:t>（</a:t>
            </a:r>
            <a:r>
              <a:rPr lang="en-US" altLang="zh-CN" sz="1600" dirty="0"/>
              <a:t>3</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s = 8 </a:t>
            </a:r>
            <a:r>
              <a:rPr lang="en-US" altLang="zh-CN" sz="1600" dirty="0">
                <a:sym typeface="Symbol" panose="05050102010706020507" pitchFamily="18" charset="2"/>
              </a:rPr>
              <a:t></a:t>
            </a:r>
            <a:r>
              <a:rPr lang="en-US" altLang="zh-CN" sz="1600" dirty="0"/>
              <a:t>s</a:t>
            </a:r>
          </a:p>
          <a:p>
            <a:pPr>
              <a:spcAft>
                <a:spcPts val="600"/>
              </a:spcAft>
            </a:pPr>
            <a:r>
              <a:rPr lang="en-US" altLang="zh-CN" sz="1600" dirty="0"/>
              <a:t>        </a:t>
            </a:r>
            <a:r>
              <a:rPr lang="zh-CN" altLang="en-US" sz="1600" dirty="0"/>
              <a:t>总时延 </a:t>
            </a:r>
            <a:r>
              <a:rPr lang="en-US" altLang="zh-CN" sz="1600" dirty="0"/>
              <a:t>= 0.008 </a:t>
            </a:r>
            <a:r>
              <a:rPr lang="en-US" altLang="zh-CN" sz="1600" dirty="0" err="1"/>
              <a:t>ms</a:t>
            </a:r>
            <a:r>
              <a:rPr lang="en-US" altLang="zh-CN" sz="1600" dirty="0"/>
              <a:t>+ 5 </a:t>
            </a:r>
            <a:r>
              <a:rPr lang="en-US" altLang="zh-CN" sz="1600" dirty="0" err="1"/>
              <a:t>ms</a:t>
            </a:r>
            <a:r>
              <a:rPr lang="en-US" altLang="zh-CN" sz="1600" dirty="0"/>
              <a:t>= 5.008 </a:t>
            </a:r>
            <a:r>
              <a:rPr lang="en-US" altLang="zh-CN" sz="1600" dirty="0" err="1"/>
              <a:t>ms</a:t>
            </a:r>
            <a:endParaRPr lang="en-US" altLang="zh-CN" sz="1600" dirty="0"/>
          </a:p>
          <a:p>
            <a:pPr>
              <a:spcAft>
                <a:spcPts val="600"/>
              </a:spcAft>
            </a:pPr>
            <a:r>
              <a:rPr lang="zh-CN" altLang="en-US" sz="1600" dirty="0"/>
              <a:t>（</a:t>
            </a:r>
            <a:r>
              <a:rPr lang="en-US" altLang="zh-CN" sz="1600" dirty="0"/>
              <a:t>4</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s = 0.008 </a:t>
            </a:r>
            <a:r>
              <a:rPr lang="en-US" altLang="zh-CN" sz="1600" dirty="0">
                <a:sym typeface="Symbol" panose="05050102010706020507" pitchFamily="18" charset="2"/>
              </a:rPr>
              <a:t></a:t>
            </a:r>
            <a:r>
              <a:rPr lang="en-US" altLang="zh-CN" sz="1600" dirty="0"/>
              <a:t>s</a:t>
            </a:r>
            <a:endParaRPr lang="zh-CN" altLang="zh-CN" sz="1600" dirty="0"/>
          </a:p>
          <a:p>
            <a:pPr>
              <a:spcAft>
                <a:spcPts val="600"/>
              </a:spcAft>
            </a:pPr>
            <a:r>
              <a:rPr lang="en-US" altLang="zh-CN" sz="1600" dirty="0"/>
              <a:t>        </a:t>
            </a:r>
            <a:r>
              <a:rPr lang="zh-CN" altLang="en-US" sz="1600" dirty="0"/>
              <a:t>总时延 </a:t>
            </a:r>
            <a:r>
              <a:rPr lang="en-US" altLang="zh-CN" sz="1600" dirty="0"/>
              <a:t>= 0.000008 </a:t>
            </a:r>
            <a:r>
              <a:rPr lang="en-US" altLang="zh-CN" sz="1600" dirty="0" err="1"/>
              <a:t>ms</a:t>
            </a:r>
            <a:r>
              <a:rPr lang="en-US" altLang="zh-CN" sz="1600" dirty="0"/>
              <a:t>+ 5 </a:t>
            </a:r>
            <a:r>
              <a:rPr lang="en-US" altLang="zh-CN" sz="1600" dirty="0" err="1"/>
              <a:t>ms</a:t>
            </a:r>
            <a:r>
              <a:rPr lang="en-US" altLang="zh-CN" sz="1600" dirty="0"/>
              <a:t>= 5.000008 </a:t>
            </a:r>
            <a:r>
              <a:rPr lang="en-US" altLang="zh-CN" sz="1600" dirty="0" err="1"/>
              <a:t>ms</a:t>
            </a:r>
            <a:r>
              <a:rPr lang="zh-CN" altLang="en-US" sz="1600" dirty="0"/>
              <a:t>。与（</a:t>
            </a:r>
            <a:r>
              <a:rPr lang="en-US" altLang="zh-CN" sz="1600" dirty="0"/>
              <a:t>3</a:t>
            </a:r>
            <a:r>
              <a:rPr lang="zh-CN" altLang="en-US" sz="1600" dirty="0"/>
              <a:t>）相比没有明显减小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93B4FD1F-52B4-4419-7666-28934CDFD8E0}"/>
              </a:ext>
            </a:extLst>
          </p:cNvPr>
          <p:cNvSpPr>
            <a:spLocks noGrp="1"/>
          </p:cNvSpPr>
          <p:nvPr>
            <p:ph type="title"/>
          </p:nvPr>
        </p:nvSpPr>
        <p:spPr>
          <a:xfrm>
            <a:off x="612000" y="144000"/>
            <a:ext cx="7920000" cy="341632"/>
          </a:xfrm>
        </p:spPr>
        <p:txBody>
          <a:bodyPr/>
          <a:lstStyle/>
          <a:p>
            <a:r>
              <a:rPr lang="en-US" altLang="zh-CN"/>
              <a:t>5. </a:t>
            </a:r>
            <a:r>
              <a:rPr lang="zh-CN" altLang="en-US"/>
              <a:t>时延带宽积</a:t>
            </a:r>
            <a:endParaRPr lang="zh-CN" altLang="en-US" dirty="0"/>
          </a:p>
        </p:txBody>
      </p:sp>
      <p:sp>
        <p:nvSpPr>
          <p:cNvPr id="3" name="内容占位符 2">
            <a:extLst>
              <a:ext uri="{FF2B5EF4-FFF2-40B4-BE49-F238E27FC236}">
                <a16:creationId xmlns:a16="http://schemas.microsoft.com/office/drawing/2014/main" id="{FB2836D1-6DBE-910D-2CF9-780CBCCC5377}"/>
              </a:ext>
            </a:extLst>
          </p:cNvPr>
          <p:cNvSpPr>
            <a:spLocks noGrp="1"/>
          </p:cNvSpPr>
          <p:nvPr>
            <p:ph sz="quarter" idx="10"/>
          </p:nvPr>
        </p:nvSpPr>
        <p:spPr>
          <a:xfrm>
            <a:off x="612000" y="899999"/>
            <a:ext cx="7920000" cy="3780000"/>
          </a:xfrm>
        </p:spPr>
        <p:txBody>
          <a:bodyPr/>
          <a:lstStyle/>
          <a:p>
            <a:r>
              <a:rPr lang="zh-CN" altLang="en-US" dirty="0"/>
              <a:t>又称以比特为单位的链路长度</a:t>
            </a:r>
            <a:endParaRPr lang="en-US" altLang="zh-CN" dirty="0"/>
          </a:p>
          <a:p>
            <a:r>
              <a:rPr lang="zh-CN" altLang="en-US" dirty="0"/>
              <a:t>管道中的比特数表示：从发送端发出但尚未到达接收端的比特数</a:t>
            </a:r>
            <a:endParaRPr lang="en-US" altLang="zh-CN" dirty="0"/>
          </a:p>
          <a:p>
            <a:r>
              <a:rPr lang="zh-CN" altLang="zh-CN" dirty="0"/>
              <a:t>只有管道都充满比特时，链路才得到</a:t>
            </a:r>
            <a:r>
              <a:rPr lang="zh-CN" altLang="en-US" dirty="0"/>
              <a:t>了</a:t>
            </a:r>
            <a:r>
              <a:rPr lang="zh-CN" altLang="zh-CN" dirty="0"/>
              <a:t>充分利用</a:t>
            </a:r>
            <a:endParaRPr lang="en-US" altLang="zh-CN" dirty="0"/>
          </a:p>
          <a:p>
            <a:endParaRPr lang="zh-CN" altLang="en-US" dirty="0"/>
          </a:p>
        </p:txBody>
      </p:sp>
      <p:sp>
        <p:nvSpPr>
          <p:cNvPr id="5" name="AutoShape 37"/>
          <p:cNvSpPr>
            <a:spLocks noChangeArrowheads="1"/>
          </p:cNvSpPr>
          <p:nvPr/>
        </p:nvSpPr>
        <p:spPr bwMode="auto">
          <a:xfrm rot="-5400000">
            <a:off x="3546000" y="2057933"/>
            <a:ext cx="360000" cy="2880000"/>
          </a:xfrm>
          <a:prstGeom prst="can">
            <a:avLst>
              <a:gd name="adj" fmla="val 49784"/>
            </a:avLst>
          </a:prstGeom>
          <a:gradFill rotWithShape="1">
            <a:gsLst>
              <a:gs pos="0">
                <a:srgbClr val="004776"/>
              </a:gs>
              <a:gs pos="50000">
                <a:srgbClr val="0099FF"/>
              </a:gs>
              <a:gs pos="100000">
                <a:srgbClr val="004776"/>
              </a:gs>
            </a:gsLst>
            <a:lin ang="0" scaled="1"/>
          </a:gradFill>
          <a:ln w="63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dirty="0">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401322" y="3189880"/>
            <a:ext cx="2664000" cy="0"/>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pPr fontAlgn="auto">
              <a:spcBef>
                <a:spcPts val="0"/>
              </a:spcBef>
              <a:spcAft>
                <a:spcPts val="0"/>
              </a:spcAft>
              <a:defRPr/>
            </a:pPr>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138283" y="2984154"/>
            <a:ext cx="1210588" cy="215444"/>
          </a:xfrm>
          <a:prstGeom prst="rect">
            <a:avLst/>
          </a:prstGeom>
          <a:noFill/>
        </p:spPr>
        <p:txBody>
          <a:bodyPr wrap="none" rtlCol="0">
            <a:spAutoFit/>
          </a:bodyPr>
          <a:lstStyle>
            <a:defPPr>
              <a:defRPr lang="zh-CN"/>
            </a:defPPr>
            <a:lvl1pPr algn="ctr">
              <a:defRPr sz="1400">
                <a:latin typeface="+mj-ea"/>
                <a:ea typeface="+mj-ea"/>
              </a:defRPr>
            </a:lvl1pPr>
          </a:lstStyle>
          <a:p>
            <a:r>
              <a:rPr lang="zh-CN" altLang="en-US" sz="800" dirty="0">
                <a:latin typeface="+mn-ea"/>
                <a:ea typeface="+mn-ea"/>
              </a:rPr>
              <a:t>传播时延（管道长度）</a:t>
            </a:r>
          </a:p>
        </p:txBody>
      </p:sp>
      <p:sp>
        <p:nvSpPr>
          <p:cNvPr id="8" name="Text Box 40"/>
          <p:cNvSpPr txBox="1">
            <a:spLocks noChangeArrowheads="1"/>
          </p:cNvSpPr>
          <p:nvPr/>
        </p:nvSpPr>
        <p:spPr bwMode="auto">
          <a:xfrm>
            <a:off x="3232917" y="3390211"/>
            <a:ext cx="82426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800" dirty="0">
                <a:solidFill>
                  <a:schemeClr val="bg1"/>
                </a:solidFill>
                <a:latin typeface="微软雅黑" pitchFamily="34" charset="-122"/>
                <a:ea typeface="微软雅黑" pitchFamily="34" charset="-122"/>
              </a:rPr>
              <a:t>Link/Channel</a:t>
            </a:r>
            <a:endParaRPr lang="zh-CN" altLang="en-US" sz="800" dirty="0">
              <a:solidFill>
                <a:schemeClr val="bg1"/>
              </a:solidFill>
              <a:latin typeface="微软雅黑" pitchFamily="34" charset="-122"/>
              <a:ea typeface="微软雅黑" pitchFamily="34" charset="-122"/>
            </a:endParaRPr>
          </a:p>
        </p:txBody>
      </p:sp>
      <p:sp>
        <p:nvSpPr>
          <p:cNvPr id="10" name="Line 42"/>
          <p:cNvSpPr>
            <a:spLocks noChangeShapeType="1"/>
          </p:cNvSpPr>
          <p:nvPr/>
        </p:nvSpPr>
        <p:spPr bwMode="auto">
          <a:xfrm>
            <a:off x="2011116" y="3293713"/>
            <a:ext cx="365307" cy="213052"/>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13" name="矩形 13"/>
          <p:cNvSpPr>
            <a:spLocks noChangeArrowheads="1"/>
          </p:cNvSpPr>
          <p:nvPr/>
        </p:nvSpPr>
        <p:spPr bwMode="auto">
          <a:xfrm>
            <a:off x="3027732" y="3990662"/>
            <a:ext cx="1396536" cy="253916"/>
          </a:xfrm>
          <a:prstGeom prst="rect">
            <a:avLst/>
          </a:prstGeom>
          <a:noFill/>
        </p:spPr>
        <p:txBody>
          <a:bodyPr wrap="none" rtlCol="0">
            <a:spAutoFit/>
          </a:bodyPr>
          <a:lstStyle/>
          <a:p>
            <a:pPr algn="ctr"/>
            <a:r>
              <a:rPr lang="zh-CN" altLang="zh-CN" sz="1050" dirty="0">
                <a:latin typeface="+mj-ea"/>
                <a:ea typeface="+mj-ea"/>
              </a:rPr>
              <a:t>链路像一条空心管道</a:t>
            </a:r>
            <a:endParaRPr lang="zh-CN" altLang="en-US" sz="1050" dirty="0">
              <a:latin typeface="+mj-ea"/>
              <a:ea typeface="+mj-ea"/>
            </a:endParaRPr>
          </a:p>
        </p:txBody>
      </p:sp>
      <p:sp>
        <p:nvSpPr>
          <p:cNvPr id="18" name="文本框 17">
            <a:extLst>
              <a:ext uri="{FF2B5EF4-FFF2-40B4-BE49-F238E27FC236}">
                <a16:creationId xmlns:a16="http://schemas.microsoft.com/office/drawing/2014/main" id="{1103AA70-B3E9-CF01-23AA-0A29568D269C}"/>
              </a:ext>
            </a:extLst>
          </p:cNvPr>
          <p:cNvSpPr txBox="1"/>
          <p:nvPr/>
        </p:nvSpPr>
        <p:spPr>
          <a:xfrm>
            <a:off x="1408822" y="2955159"/>
            <a:ext cx="902811" cy="338554"/>
          </a:xfrm>
          <a:prstGeom prst="rect">
            <a:avLst/>
          </a:prstGeom>
          <a:noFill/>
        </p:spPr>
        <p:txBody>
          <a:bodyPr wrap="none" rtlCol="0">
            <a:spAutoFit/>
          </a:bodyPr>
          <a:lstStyle/>
          <a:p>
            <a:pPr algn="ctr"/>
            <a:r>
              <a:rPr lang="zh-CN" altLang="en-US" sz="800" dirty="0">
                <a:latin typeface="+mn-ea"/>
              </a:rPr>
              <a:t>带宽</a:t>
            </a:r>
          </a:p>
          <a:p>
            <a:pPr algn="ctr"/>
            <a:r>
              <a:rPr lang="zh-CN" altLang="en-US" sz="800" dirty="0">
                <a:latin typeface="+mn-ea"/>
              </a:rPr>
              <a:t>（管道截面积）</a:t>
            </a:r>
          </a:p>
        </p:txBody>
      </p:sp>
      <p:sp>
        <p:nvSpPr>
          <p:cNvPr id="4" name="Text Box 9">
            <a:extLst>
              <a:ext uri="{FF2B5EF4-FFF2-40B4-BE49-F238E27FC236}">
                <a16:creationId xmlns:a16="http://schemas.microsoft.com/office/drawing/2014/main" id="{33EE823A-384C-3000-2B30-3418EDB4CC59}"/>
              </a:ext>
            </a:extLst>
          </p:cNvPr>
          <p:cNvSpPr txBox="1">
            <a:spLocks noChangeArrowheads="1"/>
          </p:cNvSpPr>
          <p:nvPr/>
        </p:nvSpPr>
        <p:spPr bwMode="auto">
          <a:xfrm>
            <a:off x="1551546" y="2329853"/>
            <a:ext cx="2026517"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时延带宽积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带宽</a:t>
            </a:r>
            <a:endParaRPr lang="en-US" altLang="zh-CN" sz="1050" b="1" dirty="0">
              <a:solidFill>
                <a:sysClr val="windowText" lastClr="000000"/>
              </a:solidFill>
              <a:latin typeface="+mj-lt"/>
              <a:ea typeface="+mj-ea"/>
            </a:endParaRPr>
          </a:p>
        </p:txBody>
      </p:sp>
      <p:cxnSp>
        <p:nvCxnSpPr>
          <p:cNvPr id="9" name="直接连接符 8">
            <a:extLst>
              <a:ext uri="{FF2B5EF4-FFF2-40B4-BE49-F238E27FC236}">
                <a16:creationId xmlns:a16="http://schemas.microsoft.com/office/drawing/2014/main" id="{949F98CF-03CC-A778-40FF-16598B3365A1}"/>
              </a:ext>
            </a:extLst>
          </p:cNvPr>
          <p:cNvCxnSpPr>
            <a:cxnSpLocks/>
          </p:cNvCxnSpPr>
          <p:nvPr/>
        </p:nvCxnSpPr>
        <p:spPr>
          <a:xfrm>
            <a:off x="5059961"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1" name="直接连接符 10">
            <a:extLst>
              <a:ext uri="{FF2B5EF4-FFF2-40B4-BE49-F238E27FC236}">
                <a16:creationId xmlns:a16="http://schemas.microsoft.com/office/drawing/2014/main" id="{D61C9DFE-A20A-046F-6A14-1EE598ADFD84}"/>
              </a:ext>
            </a:extLst>
          </p:cNvPr>
          <p:cNvCxnSpPr>
            <a:cxnSpLocks/>
          </p:cNvCxnSpPr>
          <p:nvPr/>
        </p:nvCxnSpPr>
        <p:spPr>
          <a:xfrm>
            <a:off x="2388475"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1829EBCF-626A-ACC7-ECFA-9A051E2EDC22}"/>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775" y="900113"/>
            <a:ext cx="7918450" cy="3779837"/>
          </a:xfrm>
        </p:spPr>
        <p:txBody>
          <a:bodyPr/>
          <a:lstStyle/>
          <a:p>
            <a:r>
              <a:rPr lang="en-US" altLang="zh-CN" dirty="0"/>
              <a:t>Round-Trip Time</a:t>
            </a:r>
          </a:p>
          <a:p>
            <a:r>
              <a:rPr lang="zh-CN" altLang="en-US" dirty="0"/>
              <a:t>表示从发送方</a:t>
            </a:r>
            <a:r>
              <a:rPr lang="en-US" altLang="zh-CN" dirty="0"/>
              <a:t>A</a:t>
            </a:r>
            <a:r>
              <a:rPr lang="zh-CN" altLang="en-US" dirty="0"/>
              <a:t>发送</a:t>
            </a:r>
            <a:r>
              <a:rPr lang="zh-CN" altLang="en-US" dirty="0">
                <a:solidFill>
                  <a:srgbClr val="D4237A"/>
                </a:solidFill>
              </a:rPr>
              <a:t>完</a:t>
            </a:r>
            <a:r>
              <a:rPr lang="zh-CN" altLang="en-US" dirty="0"/>
              <a:t>数据，到发送方</a:t>
            </a:r>
            <a:r>
              <a:rPr lang="en-US" altLang="zh-CN" dirty="0"/>
              <a:t>A</a:t>
            </a:r>
            <a:r>
              <a:rPr lang="zh-CN" altLang="en-US" dirty="0"/>
              <a:t>收到来自接收方</a:t>
            </a:r>
            <a:r>
              <a:rPr lang="en-US" altLang="zh-CN" dirty="0"/>
              <a:t>B</a:t>
            </a:r>
            <a:r>
              <a:rPr lang="zh-CN" altLang="en-US" dirty="0"/>
              <a:t>的确认总共经历的时间</a:t>
            </a:r>
            <a:endParaRPr lang="en-US" altLang="zh-CN" dirty="0"/>
          </a:p>
          <a:p>
            <a:r>
              <a:rPr lang="zh-CN" altLang="en-US" dirty="0"/>
              <a:t>不包括发送方节点</a:t>
            </a:r>
            <a:r>
              <a:rPr lang="en-US" altLang="zh-CN" dirty="0"/>
              <a:t>A</a:t>
            </a:r>
            <a:r>
              <a:rPr lang="zh-CN" altLang="en-US" dirty="0"/>
              <a:t>的发送时延</a:t>
            </a:r>
            <a:endParaRPr lang="en-US" altLang="zh-CN" dirty="0"/>
          </a:p>
          <a:p>
            <a:endParaRPr lang="zh-CN" altLang="en-US" dirty="0"/>
          </a:p>
        </p:txBody>
      </p:sp>
      <p:sp>
        <p:nvSpPr>
          <p:cNvPr id="50" name="矩形 49"/>
          <p:cNvSpPr/>
          <p:nvPr/>
        </p:nvSpPr>
        <p:spPr>
          <a:xfrm>
            <a:off x="612775" y="2466074"/>
            <a:ext cx="3031599" cy="2213876"/>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en-US" altLang="zh-CN" sz="1400" dirty="0">
                <a:latin typeface="+mj-lt"/>
                <a:ea typeface="+mj-ea"/>
              </a:rPr>
              <a:t>RTT = </a:t>
            </a:r>
            <a:r>
              <a:rPr lang="zh-CN" altLang="en-US" sz="1400" dirty="0">
                <a:latin typeface="+mj-lt"/>
                <a:ea typeface="+mj-ea"/>
              </a:rPr>
              <a:t>结点 </a:t>
            </a:r>
            <a:r>
              <a:rPr lang="en-US" altLang="zh-CN" sz="1400" dirty="0">
                <a:latin typeface="+mj-lt"/>
                <a:ea typeface="+mj-ea"/>
              </a:rPr>
              <a:t>A </a:t>
            </a:r>
            <a:r>
              <a:rPr lang="zh-CN" altLang="en-US" sz="1400" dirty="0">
                <a:latin typeface="+mj-lt"/>
                <a:ea typeface="+mj-ea"/>
              </a:rPr>
              <a:t>到 </a:t>
            </a:r>
            <a:r>
              <a:rPr lang="en-US" altLang="zh-CN" sz="1400" dirty="0">
                <a:latin typeface="+mj-lt"/>
                <a:ea typeface="+mj-ea"/>
              </a:rPr>
              <a:t>B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到 </a:t>
            </a:r>
            <a:r>
              <a:rPr lang="en-US" altLang="zh-CN" sz="1400" dirty="0">
                <a:latin typeface="+mj-lt"/>
                <a:ea typeface="+mj-ea"/>
              </a:rPr>
              <a:t>A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2 x </a:t>
            </a:r>
            <a:r>
              <a:rPr lang="zh-CN" altLang="en-US" sz="1400" dirty="0">
                <a:latin typeface="+mj-lt"/>
                <a:ea typeface="+mj-ea"/>
              </a:rPr>
              <a:t>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p:txBody>
      </p:sp>
      <p:cxnSp>
        <p:nvCxnSpPr>
          <p:cNvPr id="13" name="直接连接符 12"/>
          <p:cNvCxnSpPr/>
          <p:nvPr/>
        </p:nvCxnSpPr>
        <p:spPr>
          <a:xfrm flipH="1">
            <a:off x="6063401" y="3416734"/>
            <a:ext cx="249065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507537" y="3636933"/>
            <a:ext cx="204651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151178" y="4252437"/>
            <a:ext cx="3402878"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109916" y="3826299"/>
            <a:ext cx="44413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151178" y="2520013"/>
            <a:ext cx="295874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5749897" y="2981567"/>
            <a:ext cx="757636"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233048" y="2052667"/>
            <a:ext cx="559769"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A</a:t>
            </a:r>
          </a:p>
        </p:txBody>
      </p:sp>
      <p:sp>
        <p:nvSpPr>
          <p:cNvPr id="24" name="矩形 23"/>
          <p:cNvSpPr/>
          <p:nvPr/>
        </p:nvSpPr>
        <p:spPr>
          <a:xfrm>
            <a:off x="7828430" y="2052667"/>
            <a:ext cx="551753"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B</a:t>
            </a:r>
          </a:p>
        </p:txBody>
      </p:sp>
      <p:sp>
        <p:nvSpPr>
          <p:cNvPr id="7" name="平行四边形 6"/>
          <p:cNvSpPr/>
          <p:nvPr/>
        </p:nvSpPr>
        <p:spPr>
          <a:xfrm rot="900000" flipV="1">
            <a:off x="6421983" y="2742056"/>
            <a:ext cx="1774282" cy="444137"/>
          </a:xfrm>
          <a:prstGeom prst="parallelogram">
            <a:avLst>
              <a:gd name="adj" fmla="val 26894"/>
            </a:avLst>
          </a:prstGeom>
          <a:solidFill>
            <a:srgbClr val="FFC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cxnSp>
        <p:nvCxnSpPr>
          <p:cNvPr id="5" name="直接连接符 4"/>
          <p:cNvCxnSpPr/>
          <p:nvPr/>
        </p:nvCxnSpPr>
        <p:spPr>
          <a:xfrm>
            <a:off x="6507533"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109912"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455407" y="3854495"/>
            <a:ext cx="1704669" cy="178367"/>
          </a:xfrm>
          <a:prstGeom prst="parallelogram">
            <a:avLst>
              <a:gd name="adj" fmla="val 26894"/>
            </a:avLst>
          </a:prstGeom>
          <a:solidFill>
            <a:srgbClr val="00B05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26" name="矩形 25"/>
          <p:cNvSpPr/>
          <p:nvPr/>
        </p:nvSpPr>
        <p:spPr>
          <a:xfrm rot="911734">
            <a:off x="7050750" y="2855844"/>
            <a:ext cx="433132" cy="215444"/>
          </a:xfrm>
          <a:prstGeom prst="rect">
            <a:avLst/>
          </a:prstGeom>
        </p:spPr>
        <p:txBody>
          <a:bodyPr wrap="none">
            <a:spAutoFit/>
          </a:bodyPr>
          <a:lstStyle/>
          <a:p>
            <a:r>
              <a:rPr lang="en-US" altLang="zh-CN" sz="800" dirty="0"/>
              <a:t>Data</a:t>
            </a:r>
          </a:p>
        </p:txBody>
      </p:sp>
      <p:sp>
        <p:nvSpPr>
          <p:cNvPr id="27" name="矩形 26"/>
          <p:cNvSpPr/>
          <p:nvPr/>
        </p:nvSpPr>
        <p:spPr>
          <a:xfrm rot="20641677">
            <a:off x="7082272" y="3843557"/>
            <a:ext cx="405880" cy="215444"/>
          </a:xfrm>
          <a:prstGeom prst="rect">
            <a:avLst/>
          </a:prstGeom>
        </p:spPr>
        <p:txBody>
          <a:bodyPr wrap="none">
            <a:spAutoFit/>
          </a:bodyPr>
          <a:lstStyle/>
          <a:p>
            <a:r>
              <a:rPr lang="en-US" altLang="zh-CN" sz="800" dirty="0"/>
              <a:t>ACK</a:t>
            </a:r>
          </a:p>
        </p:txBody>
      </p:sp>
      <p:cxnSp>
        <p:nvCxnSpPr>
          <p:cNvPr id="29" name="直接箭头连接符 28"/>
          <p:cNvCxnSpPr/>
          <p:nvPr/>
        </p:nvCxnSpPr>
        <p:spPr>
          <a:xfrm>
            <a:off x="6285468" y="2520013"/>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p:nvPr/>
        </p:nvCxnSpPr>
        <p:spPr>
          <a:xfrm>
            <a:off x="6285468" y="2964681"/>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6285468" y="3428248"/>
            <a:ext cx="0" cy="82217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6" name="直接箭头连接符 35"/>
          <p:cNvCxnSpPr/>
          <p:nvPr/>
        </p:nvCxnSpPr>
        <p:spPr>
          <a:xfrm>
            <a:off x="5937128" y="2981567"/>
            <a:ext cx="0" cy="1268857"/>
          </a:xfrm>
          <a:prstGeom prst="straightConnector1">
            <a:avLst/>
          </a:prstGeom>
          <a:ln w="1270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345047" y="3826299"/>
            <a:ext cx="0" cy="42412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a:off x="8345047" y="3416734"/>
            <a:ext cx="0" cy="220199"/>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2" name="直接箭头连接符 41"/>
          <p:cNvCxnSpPr/>
          <p:nvPr/>
        </p:nvCxnSpPr>
        <p:spPr>
          <a:xfrm>
            <a:off x="8345047" y="3636933"/>
            <a:ext cx="0" cy="18936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43" name="文本框 42"/>
          <p:cNvSpPr txBox="1"/>
          <p:nvPr/>
        </p:nvSpPr>
        <p:spPr>
          <a:xfrm>
            <a:off x="5823828" y="2555079"/>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TA</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4" name="文本框 43"/>
          <p:cNvSpPr txBox="1"/>
          <p:nvPr/>
        </p:nvSpPr>
        <p:spPr>
          <a:xfrm>
            <a:off x="5823828" y="3017162"/>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5" name="文本框 44"/>
          <p:cNvSpPr txBox="1"/>
          <p:nvPr/>
        </p:nvSpPr>
        <p:spPr>
          <a:xfrm>
            <a:off x="8350061" y="3860375"/>
            <a:ext cx="461554"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6" name="文本框 45"/>
          <p:cNvSpPr txBox="1"/>
          <p:nvPr/>
        </p:nvSpPr>
        <p:spPr>
          <a:xfrm>
            <a:off x="8350061" y="3344216"/>
            <a:ext cx="540000"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200" baseline="-25000" dirty="0" err="1">
                <a:latin typeface="Times New Roman" panose="02020603050405020304" pitchFamily="18" charset="0"/>
                <a:ea typeface="微软雅黑 Light" panose="020B0502040204020203" pitchFamily="34" charset="-122"/>
              </a:rPr>
              <a:t>P</a:t>
            </a:r>
            <a:r>
              <a:rPr lang="en-US" altLang="zh-CN" sz="1100" b="1" baseline="-25000" dirty="0" err="1">
                <a:latin typeface="Times New Roman" panose="02020603050405020304" pitchFamily="18" charset="0"/>
                <a:ea typeface="微软雅黑 Light" panose="020B0502040204020203" pitchFamily="34" charset="-122"/>
              </a:rPr>
              <a:t>QB</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7" name="矩形 46"/>
          <p:cNvSpPr/>
          <p:nvPr/>
        </p:nvSpPr>
        <p:spPr>
          <a:xfrm>
            <a:off x="5470893" y="3248841"/>
            <a:ext cx="450764" cy="261610"/>
          </a:xfrm>
          <a:prstGeom prst="rect">
            <a:avLst/>
          </a:prstGeom>
        </p:spPr>
        <p:txBody>
          <a:bodyPr wrap="none">
            <a:spAutoFit/>
          </a:bodyPr>
          <a:lstStyle/>
          <a:p>
            <a:r>
              <a:rPr lang="en-US" altLang="zh-CN" sz="1100" dirty="0"/>
              <a:t>RTT</a:t>
            </a:r>
          </a:p>
        </p:txBody>
      </p:sp>
      <p:sp>
        <p:nvSpPr>
          <p:cNvPr id="49" name="文本框 48"/>
          <p:cNvSpPr txBox="1"/>
          <p:nvPr/>
        </p:nvSpPr>
        <p:spPr>
          <a:xfrm>
            <a:off x="8350059" y="3538213"/>
            <a:ext cx="461554" cy="276999"/>
          </a:xfrm>
          <a:prstGeom prst="rect">
            <a:avLst/>
          </a:prstGeom>
          <a:ln w="12700">
            <a:no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TB</a:t>
            </a:r>
            <a:endParaRPr lang="zh-CN" altLang="en-US" sz="1100" b="1" baseline="-25000" dirty="0">
              <a:latin typeface="Times New Roman" panose="02020603050405020304" pitchFamily="18" charset="0"/>
              <a:ea typeface="微软雅黑 Light" panose="020B0502040204020203" pitchFamily="34" charset="-122"/>
            </a:endParaRPr>
          </a:p>
        </p:txBody>
      </p:sp>
      <p:cxnSp>
        <p:nvCxnSpPr>
          <p:cNvPr id="59" name="直接箭头连接符 58"/>
          <p:cNvCxnSpPr/>
          <p:nvPr/>
        </p:nvCxnSpPr>
        <p:spPr>
          <a:xfrm>
            <a:off x="5411183" y="2520013"/>
            <a:ext cx="0" cy="1730411"/>
          </a:xfrm>
          <a:prstGeom prst="straightConnector1">
            <a:avLst/>
          </a:prstGeom>
          <a:ln w="1270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108488" y="2847986"/>
            <a:ext cx="290058" cy="1077218"/>
          </a:xfrm>
          <a:prstGeom prst="rect">
            <a:avLst/>
          </a:prstGeom>
        </p:spPr>
        <p:txBody>
          <a:bodyPr wrap="square">
            <a:spAutoFit/>
          </a:bodyPr>
          <a:lstStyle/>
          <a:p>
            <a:r>
              <a:rPr kumimoji="1" lang="zh-CN" altLang="en-US" sz="800" dirty="0">
                <a:latin typeface="+mn-ea"/>
              </a:rPr>
              <a:t>成功发送的总时延</a:t>
            </a:r>
            <a:endParaRPr kumimoji="1" lang="en-US" altLang="zh-CN" sz="800" dirty="0">
              <a:latin typeface="+mn-ea"/>
            </a:endParaRPr>
          </a:p>
        </p:txBody>
      </p:sp>
      <p:sp>
        <p:nvSpPr>
          <p:cNvPr id="4" name="Text Box 9">
            <a:extLst>
              <a:ext uri="{FF2B5EF4-FFF2-40B4-BE49-F238E27FC236}">
                <a16:creationId xmlns:a16="http://schemas.microsoft.com/office/drawing/2014/main" id="{B7FE10F5-847A-091F-8EBF-4FACF1537C53}"/>
              </a:ext>
            </a:extLst>
          </p:cNvPr>
          <p:cNvSpPr txBox="1">
            <a:spLocks noChangeArrowheads="1"/>
          </p:cNvSpPr>
          <p:nvPr/>
        </p:nvSpPr>
        <p:spPr bwMode="auto">
          <a:xfrm>
            <a:off x="222393" y="2026082"/>
            <a:ext cx="4649030"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en-US" altLang="zh-CN" sz="1050" b="1" dirty="0">
                <a:solidFill>
                  <a:sysClr val="windowText" lastClr="000000"/>
                </a:solidFill>
                <a:latin typeface="+mj-lt"/>
                <a:ea typeface="+mj-ea"/>
              </a:rPr>
              <a:t>RTT = 2 ×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对端的排队时延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对端的处理时延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对端的发送时延</a:t>
            </a:r>
            <a:endParaRPr lang="en-US" altLang="zh-CN" sz="1050" b="1" dirty="0">
              <a:solidFill>
                <a:sysClr val="windowText" lastClr="000000"/>
              </a:solidFill>
              <a:latin typeface="+mj-lt"/>
              <a:ea typeface="+mj-ea"/>
            </a:endParaRPr>
          </a:p>
        </p:txBody>
      </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41F5F5F-5439-1D72-EA57-753FDB4840DB}"/>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16" name="文本框 15">
            <a:extLst>
              <a:ext uri="{FF2B5EF4-FFF2-40B4-BE49-F238E27FC236}">
                <a16:creationId xmlns:a16="http://schemas.microsoft.com/office/drawing/2014/main" id="{1AD0EC37-2F5A-12AA-EDCB-088D66E9D7B5}"/>
              </a:ext>
            </a:extLst>
          </p:cNvPr>
          <p:cNvSpPr txBox="1"/>
          <p:nvPr/>
        </p:nvSpPr>
        <p:spPr>
          <a:xfrm>
            <a:off x="612776" y="2283359"/>
            <a:ext cx="7918449" cy="830997"/>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 </a:t>
            </a:r>
            <a:r>
              <a:rPr lang="en-US" altLang="zh-CN" sz="1600" dirty="0"/>
              <a:t>100 MB </a:t>
            </a:r>
            <a:r>
              <a:rPr lang="zh-CN" altLang="en-US" sz="1600" dirty="0"/>
              <a:t>数据以 </a:t>
            </a:r>
            <a:r>
              <a:rPr lang="en-US" altLang="zh-CN" sz="1600" dirty="0"/>
              <a:t>100 Mbit/s </a:t>
            </a:r>
            <a:r>
              <a:rPr lang="zh-CN" altLang="en-US" sz="1600" dirty="0"/>
              <a:t>的速率发送给结点 </a:t>
            </a:r>
            <a:r>
              <a:rPr lang="en-US" altLang="zh-CN" sz="1600" dirty="0"/>
              <a:t>B</a:t>
            </a:r>
            <a:r>
              <a:rPr lang="zh-CN" altLang="en-US" sz="1600" dirty="0"/>
              <a:t>。</a:t>
            </a:r>
            <a:r>
              <a:rPr lang="en-US" altLang="zh-CN" sz="1600" dirty="0"/>
              <a:t>B </a:t>
            </a:r>
            <a:r>
              <a:rPr lang="zh-CN" altLang="en-US" sz="1600" dirty="0"/>
              <a:t>正确收完该数据后，就立即向 </a:t>
            </a:r>
            <a:r>
              <a:rPr lang="en-US" altLang="zh-CN" sz="1600" dirty="0"/>
              <a:t>A </a:t>
            </a:r>
            <a:r>
              <a:rPr lang="zh-CN" altLang="en-US" sz="1600" dirty="0"/>
              <a:t>发送确认。假定 </a:t>
            </a:r>
            <a:r>
              <a:rPr lang="en-US" altLang="zh-CN" sz="1600" dirty="0"/>
              <a:t>A </a:t>
            </a:r>
            <a:r>
              <a:rPr lang="zh-CN" altLang="en-US" sz="1600" dirty="0"/>
              <a:t>只有在收到 </a:t>
            </a:r>
            <a:r>
              <a:rPr lang="en-US" altLang="zh-CN" sz="1600" dirty="0"/>
              <a:t>B </a:t>
            </a:r>
            <a:r>
              <a:rPr lang="zh-CN" altLang="en-US" sz="1600" dirty="0"/>
              <a:t>的确认信息后，才能继续向 </a:t>
            </a:r>
            <a:r>
              <a:rPr lang="en-US" altLang="zh-CN" sz="1600" dirty="0"/>
              <a:t>B </a:t>
            </a:r>
            <a:r>
              <a:rPr lang="zh-CN" altLang="en-US" sz="1600" dirty="0"/>
              <a:t>发送数据，且确认信息很短。计算 </a:t>
            </a:r>
            <a:r>
              <a:rPr lang="en-US" altLang="zh-CN" sz="1600" dirty="0"/>
              <a:t>A </a:t>
            </a:r>
            <a:r>
              <a:rPr lang="zh-CN" altLang="en-US" sz="1600" dirty="0"/>
              <a:t>向 </a:t>
            </a:r>
            <a:r>
              <a:rPr lang="en-US" altLang="zh-CN" sz="1600" dirty="0"/>
              <a:t>B </a:t>
            </a:r>
            <a:r>
              <a:rPr lang="zh-CN" altLang="en-US" sz="1600" dirty="0"/>
              <a:t>发送数据的有效数据率。</a:t>
            </a:r>
            <a:endParaRPr lang="en-US" altLang="zh-CN" sz="1600" dirty="0"/>
          </a:p>
        </p:txBody>
      </p:sp>
      <p:grpSp>
        <p:nvGrpSpPr>
          <p:cNvPr id="2" name="组合 1">
            <a:extLst>
              <a:ext uri="{FF2B5EF4-FFF2-40B4-BE49-F238E27FC236}">
                <a16:creationId xmlns:a16="http://schemas.microsoft.com/office/drawing/2014/main" id="{01DE9C49-5C13-8278-286E-F9C92701E8FA}"/>
              </a:ext>
            </a:extLst>
          </p:cNvPr>
          <p:cNvGrpSpPr/>
          <p:nvPr/>
        </p:nvGrpSpPr>
        <p:grpSpPr>
          <a:xfrm>
            <a:off x="2875397" y="1063181"/>
            <a:ext cx="3393207" cy="554633"/>
            <a:chOff x="3363862" y="1063181"/>
            <a:chExt cx="3393207" cy="554633"/>
          </a:xfrm>
        </p:grpSpPr>
        <p:sp>
          <p:nvSpPr>
            <p:cNvPr id="3" name="椭圆 2">
              <a:extLst>
                <a:ext uri="{FF2B5EF4-FFF2-40B4-BE49-F238E27FC236}">
                  <a16:creationId xmlns:a16="http://schemas.microsoft.com/office/drawing/2014/main" id="{83A1DB83-9EA6-D64B-DA62-9725C385BA6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4" name="椭圆 3">
              <a:extLst>
                <a:ext uri="{FF2B5EF4-FFF2-40B4-BE49-F238E27FC236}">
                  <a16:creationId xmlns:a16="http://schemas.microsoft.com/office/drawing/2014/main" id="{61E1C2A0-E98C-47B1-232D-6A589B853A22}"/>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5" name="直接连接符 4">
              <a:extLst>
                <a:ext uri="{FF2B5EF4-FFF2-40B4-BE49-F238E27FC236}">
                  <a16:creationId xmlns:a16="http://schemas.microsoft.com/office/drawing/2014/main" id="{3A3D3487-89EC-203F-8526-17E2155F477A}"/>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4582E8F8-EDE9-2389-5965-3D8BBDCD6553}"/>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C7680AB4-E636-339B-3192-48DA89DB8145}"/>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7" name="Text Box 38">
              <a:extLst>
                <a:ext uri="{FF2B5EF4-FFF2-40B4-BE49-F238E27FC236}">
                  <a16:creationId xmlns:a16="http://schemas.microsoft.com/office/drawing/2014/main" id="{421A0ED8-4627-8FDA-89D5-9494FCE5C308}"/>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8" name="文本框 17">
              <a:extLst>
                <a:ext uri="{FF2B5EF4-FFF2-40B4-BE49-F238E27FC236}">
                  <a16:creationId xmlns:a16="http://schemas.microsoft.com/office/drawing/2014/main" id="{A0DC19FD-29FD-565F-CDE7-D26CD347657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9F32125-16EA-0607-A0F3-5C61CF57BD8C}"/>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grpSp>
        <p:nvGrpSpPr>
          <p:cNvPr id="9" name="组合 8"/>
          <p:cNvGrpSpPr/>
          <p:nvPr/>
        </p:nvGrpSpPr>
        <p:grpSpPr>
          <a:xfrm>
            <a:off x="809892" y="2773121"/>
            <a:ext cx="5359807" cy="707886"/>
            <a:chOff x="940526" y="2682598"/>
            <a:chExt cx="5359807" cy="707886"/>
          </a:xfrm>
        </p:grpSpPr>
        <p:sp>
          <p:nvSpPr>
            <p:cNvPr id="4" name="文本框 3"/>
            <p:cNvSpPr txBox="1"/>
            <p:nvPr/>
          </p:nvSpPr>
          <p:spPr>
            <a:xfrm>
              <a:off x="940526" y="2867264"/>
              <a:ext cx="1233030" cy="338554"/>
            </a:xfrm>
            <a:prstGeom prst="rect">
              <a:avLst/>
            </a:prstGeom>
            <a:noFill/>
          </p:spPr>
          <p:txBody>
            <a:bodyPr wrap="none" rtlCol="0">
              <a:spAutoFit/>
            </a:bodyPr>
            <a:lstStyle/>
            <a:p>
              <a:r>
                <a:rPr lang="zh-CN" altLang="en-US" sz="1600" dirty="0">
                  <a:latin typeface="+mj-lt"/>
                  <a:ea typeface="+mj-ea"/>
                </a:rPr>
                <a:t>发送时延 </a:t>
              </a:r>
              <a:r>
                <a:rPr lang="en-US" altLang="zh-CN" sz="1600" dirty="0">
                  <a:latin typeface="+mj-lt"/>
                  <a:ea typeface="+mj-ea"/>
                </a:rPr>
                <a:t>= </a:t>
              </a:r>
              <a:endParaRPr lang="zh-CN" altLang="en-US" sz="1600" dirty="0">
                <a:latin typeface="+mj-lt"/>
                <a:ea typeface="+mj-ea"/>
              </a:endParaRPr>
            </a:p>
          </p:txBody>
        </p:sp>
        <p:sp>
          <p:nvSpPr>
            <p:cNvPr id="13" name="文本框 12"/>
            <p:cNvSpPr txBox="1"/>
            <p:nvPr/>
          </p:nvSpPr>
          <p:spPr>
            <a:xfrm>
              <a:off x="2360014" y="2682598"/>
              <a:ext cx="1005403" cy="338554"/>
            </a:xfrm>
            <a:prstGeom prst="rect">
              <a:avLst/>
            </a:prstGeom>
            <a:noFill/>
          </p:spPr>
          <p:txBody>
            <a:bodyPr wrap="none" rtlCol="0">
              <a:spAutoFit/>
            </a:bodyPr>
            <a:lstStyle/>
            <a:p>
              <a:r>
                <a:rPr lang="zh-CN" altLang="en-US" sz="1600" dirty="0">
                  <a:latin typeface="+mj-lt"/>
                  <a:ea typeface="+mj-ea"/>
                </a:rPr>
                <a:t>数据长度</a:t>
              </a:r>
            </a:p>
          </p:txBody>
        </p:sp>
        <p:sp>
          <p:nvSpPr>
            <p:cNvPr id="14" name="文本框 13"/>
            <p:cNvSpPr txBox="1"/>
            <p:nvPr/>
          </p:nvSpPr>
          <p:spPr>
            <a:xfrm>
              <a:off x="2360014" y="3051930"/>
              <a:ext cx="1005403" cy="338554"/>
            </a:xfrm>
            <a:prstGeom prst="rect">
              <a:avLst/>
            </a:prstGeom>
            <a:noFill/>
          </p:spPr>
          <p:txBody>
            <a:bodyPr wrap="none" rtlCol="0">
              <a:spAutoFit/>
            </a:bodyPr>
            <a:lstStyle/>
            <a:p>
              <a:r>
                <a:rPr lang="zh-CN" altLang="en-US" sz="1600" dirty="0">
                  <a:latin typeface="+mj-lt"/>
                  <a:ea typeface="+mj-ea"/>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24" name="文本框 23"/>
            <p:cNvSpPr txBox="1"/>
            <p:nvPr/>
          </p:nvSpPr>
          <p:spPr>
            <a:xfrm>
              <a:off x="3838954" y="2682598"/>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25" name="文本框 24"/>
            <p:cNvSpPr txBox="1"/>
            <p:nvPr/>
          </p:nvSpPr>
          <p:spPr>
            <a:xfrm>
              <a:off x="3871785" y="3051930"/>
              <a:ext cx="1489895" cy="338554"/>
            </a:xfrm>
            <a:prstGeom prst="rect">
              <a:avLst/>
            </a:prstGeom>
            <a:noFill/>
          </p:spPr>
          <p:txBody>
            <a:bodyPr wrap="square" rtlCol="0">
              <a:spAutoFit/>
            </a:bodyPr>
            <a:lstStyle/>
            <a:p>
              <a:pPr algn="ctr"/>
              <a:r>
                <a:rPr lang="en-US" altLang="zh-CN" sz="1600" dirty="0">
                  <a:latin typeface="+mj-lt"/>
                  <a:ea typeface="+mj-ea"/>
                </a:rPr>
                <a:t>100×10</a:t>
              </a:r>
              <a:r>
                <a:rPr lang="en-US" altLang="zh-CN" sz="1600" baseline="30000" dirty="0">
                  <a:latin typeface="+mj-lt"/>
                  <a:ea typeface="+mj-ea"/>
                </a:rPr>
                <a:t>6</a:t>
              </a:r>
              <a:endParaRPr lang="zh-CN" altLang="en-US" sz="1600" baseline="30000" dirty="0">
                <a:latin typeface="+mj-lt"/>
                <a:ea typeface="+mj-ea"/>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928459" cy="338554"/>
            </a:xfrm>
            <a:prstGeom prst="rect">
              <a:avLst/>
            </a:prstGeom>
            <a:noFill/>
          </p:spPr>
          <p:txBody>
            <a:bodyPr wrap="none" rtlCol="0">
              <a:spAutoFit/>
            </a:bodyPr>
            <a:lstStyle/>
            <a:p>
              <a:r>
                <a:rPr lang="en-US" altLang="zh-CN" sz="1600" dirty="0">
                  <a:latin typeface="+mj-lt"/>
                  <a:ea typeface="+mj-ea"/>
                </a:rPr>
                <a:t>≈ 8.39 s</a:t>
              </a:r>
              <a:endParaRPr lang="zh-CN" altLang="en-US" sz="1600" dirty="0">
                <a:latin typeface="+mj-lt"/>
                <a:ea typeface="+mj-ea"/>
              </a:endParaRPr>
            </a:p>
          </p:txBody>
        </p:sp>
      </p:grpSp>
      <p:grpSp>
        <p:nvGrpSpPr>
          <p:cNvPr id="11" name="组合 10"/>
          <p:cNvGrpSpPr/>
          <p:nvPr/>
        </p:nvGrpSpPr>
        <p:grpSpPr>
          <a:xfrm>
            <a:off x="809892" y="3532535"/>
            <a:ext cx="6997524" cy="707886"/>
            <a:chOff x="940526" y="3549953"/>
            <a:chExt cx="6997524" cy="707886"/>
          </a:xfrm>
        </p:grpSpPr>
        <p:sp>
          <p:nvSpPr>
            <p:cNvPr id="31" name="文本框 30"/>
            <p:cNvSpPr txBox="1"/>
            <p:nvPr/>
          </p:nvSpPr>
          <p:spPr>
            <a:xfrm>
              <a:off x="940526" y="3734619"/>
              <a:ext cx="1438214" cy="338554"/>
            </a:xfrm>
            <a:prstGeom prst="rect">
              <a:avLst/>
            </a:prstGeom>
            <a:noFill/>
          </p:spPr>
          <p:txBody>
            <a:bodyPr wrap="none" rtlCol="0">
              <a:spAutoFit/>
            </a:bodyPr>
            <a:lstStyle/>
            <a:p>
              <a:r>
                <a:rPr lang="zh-CN" altLang="en-US" sz="1600" dirty="0">
                  <a:latin typeface="+mj-lt"/>
                  <a:ea typeface="+mj-ea"/>
                </a:rPr>
                <a:t>有效数据率 </a:t>
              </a:r>
              <a:r>
                <a:rPr lang="en-US" altLang="zh-CN" sz="1600" dirty="0">
                  <a:latin typeface="+mj-lt"/>
                  <a:ea typeface="+mj-ea"/>
                </a:rPr>
                <a:t>= </a:t>
              </a:r>
              <a:endParaRPr lang="zh-CN" altLang="en-US" sz="1600" dirty="0">
                <a:latin typeface="+mj-lt"/>
                <a:ea typeface="+mj-ea"/>
              </a:endParaRPr>
            </a:p>
          </p:txBody>
        </p:sp>
        <p:sp>
          <p:nvSpPr>
            <p:cNvPr id="32" name="文本框 31"/>
            <p:cNvSpPr txBox="1"/>
            <p:nvPr/>
          </p:nvSpPr>
          <p:spPr>
            <a:xfrm>
              <a:off x="2560318" y="3549953"/>
              <a:ext cx="1811385" cy="338554"/>
            </a:xfrm>
            <a:prstGeom prst="rect">
              <a:avLst/>
            </a:prstGeom>
            <a:noFill/>
          </p:spPr>
          <p:txBody>
            <a:bodyPr wrap="square" rtlCol="0">
              <a:spAutoFit/>
            </a:bodyPr>
            <a:lstStyle/>
            <a:p>
              <a:pPr algn="ctr"/>
              <a:r>
                <a:rPr lang="zh-CN" altLang="en-US" sz="1600" dirty="0">
                  <a:latin typeface="+mj-lt"/>
                  <a:ea typeface="+mj-ea"/>
                </a:rPr>
                <a:t>数据长度</a:t>
              </a:r>
            </a:p>
          </p:txBody>
        </p:sp>
        <p:sp>
          <p:nvSpPr>
            <p:cNvPr id="33" name="文本框 32"/>
            <p:cNvSpPr txBox="1"/>
            <p:nvPr/>
          </p:nvSpPr>
          <p:spPr>
            <a:xfrm>
              <a:off x="2560319" y="3919285"/>
              <a:ext cx="1616148" cy="338554"/>
            </a:xfrm>
            <a:prstGeom prst="rect">
              <a:avLst/>
            </a:prstGeom>
            <a:noFill/>
          </p:spPr>
          <p:txBody>
            <a:bodyPr wrap="none" rtlCol="0">
              <a:spAutoFit/>
            </a:bodyPr>
            <a:lstStyle/>
            <a:p>
              <a:r>
                <a:rPr lang="zh-CN" altLang="en-US" sz="1600" dirty="0">
                  <a:latin typeface="+mj-lt"/>
                  <a:ea typeface="+mj-ea"/>
                </a:rPr>
                <a:t>发送时间 </a:t>
              </a:r>
              <a:r>
                <a:rPr lang="en-US" altLang="zh-CN" sz="1600" dirty="0">
                  <a:latin typeface="+mj-lt"/>
                  <a:ea typeface="+mj-ea"/>
                </a:rPr>
                <a:t>+ RTT</a:t>
              </a:r>
              <a:endParaRPr lang="zh-CN" altLang="en-US" sz="1600" dirty="0">
                <a:latin typeface="+mj-lt"/>
                <a:ea typeface="+mj-ea"/>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36" name="文本框 35"/>
            <p:cNvSpPr txBox="1"/>
            <p:nvPr/>
          </p:nvSpPr>
          <p:spPr>
            <a:xfrm>
              <a:off x="4918826" y="3549953"/>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37" name="文本框 36"/>
            <p:cNvSpPr txBox="1"/>
            <p:nvPr/>
          </p:nvSpPr>
          <p:spPr>
            <a:xfrm>
              <a:off x="4951657" y="3919285"/>
              <a:ext cx="1489895" cy="338554"/>
            </a:xfrm>
            <a:prstGeom prst="rect">
              <a:avLst/>
            </a:prstGeom>
            <a:noFill/>
          </p:spPr>
          <p:txBody>
            <a:bodyPr wrap="square" rtlCol="0">
              <a:spAutoFit/>
            </a:bodyPr>
            <a:lstStyle/>
            <a:p>
              <a:pPr algn="ctr"/>
              <a:r>
                <a:rPr lang="en-US" altLang="zh-CN" sz="1600" dirty="0">
                  <a:latin typeface="+mj-lt"/>
                  <a:ea typeface="+mj-ea"/>
                </a:rPr>
                <a:t>8.39 + 2</a:t>
              </a:r>
              <a:endParaRPr lang="zh-CN" altLang="en-US" sz="1600" baseline="30000" dirty="0">
                <a:latin typeface="+mj-lt"/>
                <a:ea typeface="+mj-ea"/>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486304" cy="338554"/>
            </a:xfrm>
            <a:prstGeom prst="rect">
              <a:avLst/>
            </a:prstGeom>
            <a:noFill/>
          </p:spPr>
          <p:txBody>
            <a:bodyPr wrap="none" rtlCol="0">
              <a:spAutoFit/>
            </a:bodyPr>
            <a:lstStyle/>
            <a:p>
              <a:r>
                <a:rPr lang="en-US" altLang="zh-CN" sz="1600" dirty="0">
                  <a:latin typeface="+mj-lt"/>
                  <a:ea typeface="+mj-ea"/>
                </a:rPr>
                <a:t>≈ 80.7 Mbit/s</a:t>
              </a:r>
              <a:endParaRPr lang="zh-CN" altLang="en-US" sz="1600" dirty="0">
                <a:latin typeface="+mj-lt"/>
                <a:ea typeface="+mj-ea"/>
              </a:endParaRPr>
            </a:p>
          </p:txBody>
        </p:sp>
      </p:grpSp>
      <p:grpSp>
        <p:nvGrpSpPr>
          <p:cNvPr id="2" name="组合 1">
            <a:extLst>
              <a:ext uri="{FF2B5EF4-FFF2-40B4-BE49-F238E27FC236}">
                <a16:creationId xmlns:a16="http://schemas.microsoft.com/office/drawing/2014/main" id="{73299EB7-584D-D30F-729F-D956CE137120}"/>
              </a:ext>
            </a:extLst>
          </p:cNvPr>
          <p:cNvGrpSpPr/>
          <p:nvPr/>
        </p:nvGrpSpPr>
        <p:grpSpPr>
          <a:xfrm>
            <a:off x="2875397" y="1063181"/>
            <a:ext cx="3393207" cy="554633"/>
            <a:chOff x="3363862" y="1063181"/>
            <a:chExt cx="3393207" cy="554633"/>
          </a:xfrm>
        </p:grpSpPr>
        <p:sp>
          <p:nvSpPr>
            <p:cNvPr id="5" name="椭圆 4">
              <a:extLst>
                <a:ext uri="{FF2B5EF4-FFF2-40B4-BE49-F238E27FC236}">
                  <a16:creationId xmlns:a16="http://schemas.microsoft.com/office/drawing/2014/main" id="{FDA9386C-1AAA-9EF9-DC6C-3CE11E75427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8" name="椭圆 7">
              <a:extLst>
                <a:ext uri="{FF2B5EF4-FFF2-40B4-BE49-F238E27FC236}">
                  <a16:creationId xmlns:a16="http://schemas.microsoft.com/office/drawing/2014/main" id="{C54C1B5F-319D-5210-6212-2DF5BE74CBFB}"/>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939E7D49-D810-C96E-0CD8-63B1C50563D9}"/>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5D0B97A0-A899-1D58-5373-7C7CA4629152}"/>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BE01632F-2722-AFAD-1FD4-A2493CEBBB94}"/>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6" name="Text Box 38">
              <a:extLst>
                <a:ext uri="{FF2B5EF4-FFF2-40B4-BE49-F238E27FC236}">
                  <a16:creationId xmlns:a16="http://schemas.microsoft.com/office/drawing/2014/main" id="{C4AB53D7-50A7-2321-178D-8842B173A857}"/>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7" name="文本框 16">
              <a:extLst>
                <a:ext uri="{FF2B5EF4-FFF2-40B4-BE49-F238E27FC236}">
                  <a16:creationId xmlns:a16="http://schemas.microsoft.com/office/drawing/2014/main" id="{AE56C7F7-4624-00E2-54EA-14A2037A792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
        <p:nvSpPr>
          <p:cNvPr id="19" name="文本框 18">
            <a:extLst>
              <a:ext uri="{FF2B5EF4-FFF2-40B4-BE49-F238E27FC236}">
                <a16:creationId xmlns:a16="http://schemas.microsoft.com/office/drawing/2014/main" id="{47B275F2-E2D4-4840-639F-6A662CB85F89}"/>
              </a:ext>
            </a:extLst>
          </p:cNvPr>
          <p:cNvSpPr txBox="1"/>
          <p:nvPr/>
        </p:nvSpPr>
        <p:spPr>
          <a:xfrm>
            <a:off x="809892" y="2436801"/>
            <a:ext cx="5929828" cy="338554"/>
          </a:xfrm>
          <a:prstGeom prst="rect">
            <a:avLst/>
          </a:prstGeom>
          <a:noFill/>
        </p:spPr>
        <p:txBody>
          <a:bodyPr wrap="none" rtlCol="0">
            <a:spAutoFit/>
          </a:bodyPr>
          <a:lstStyle/>
          <a:p>
            <a:r>
              <a:rPr lang="zh-CN" altLang="en-US" sz="1600" dirty="0">
                <a:latin typeface="+mj-lt"/>
                <a:ea typeface="+mj-ea"/>
              </a:rPr>
              <a:t>答：有效速率消耗的时间包括实际的发送时间和等待发送的时间</a:t>
            </a:r>
          </a:p>
        </p:txBody>
      </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D3D6FCA-E0CD-CE4D-2993-B6B1DD38772F}"/>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补充说明</a:t>
            </a:r>
            <a:endParaRPr lang="en-US" altLang="zh-CN" dirty="0"/>
          </a:p>
          <a:p>
            <a:pPr lvl="1"/>
            <a:r>
              <a:rPr lang="zh-CN" altLang="en-US" dirty="0"/>
              <a:t>在互联网中，往返时间还包括</a:t>
            </a:r>
            <a:r>
              <a:rPr lang="zh-CN" altLang="en-US" dirty="0">
                <a:solidFill>
                  <a:srgbClr val="D4237A"/>
                </a:solidFill>
              </a:rPr>
              <a:t>各中间结点</a:t>
            </a:r>
            <a:r>
              <a:rPr lang="zh-CN" altLang="en-US" dirty="0"/>
              <a:t>的处理时延、排队时延以及转发数据时的发送时延</a:t>
            </a:r>
          </a:p>
          <a:p>
            <a:pPr lvl="1"/>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p:txBody>
      </p:sp>
      <p:sp>
        <p:nvSpPr>
          <p:cNvPr id="21" name="椭圆 20">
            <a:extLst>
              <a:ext uri="{FF2B5EF4-FFF2-40B4-BE49-F238E27FC236}">
                <a16:creationId xmlns:a16="http://schemas.microsoft.com/office/drawing/2014/main" id="{477EC9DD-B095-0D76-5E3C-8EAE4904546C}"/>
              </a:ext>
            </a:extLst>
          </p:cNvPr>
          <p:cNvSpPr/>
          <p:nvPr/>
        </p:nvSpPr>
        <p:spPr>
          <a:xfrm>
            <a:off x="2394997" y="2357870"/>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22" name="椭圆 21">
            <a:extLst>
              <a:ext uri="{FF2B5EF4-FFF2-40B4-BE49-F238E27FC236}">
                <a16:creationId xmlns:a16="http://schemas.microsoft.com/office/drawing/2014/main" id="{81C1583F-7671-79A3-046F-486DD0DBC7A3}"/>
              </a:ext>
            </a:extLst>
          </p:cNvPr>
          <p:cNvSpPr/>
          <p:nvPr/>
        </p:nvSpPr>
        <p:spPr>
          <a:xfrm>
            <a:off x="6322563" y="2357870"/>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23" name="直接连接符 22">
            <a:extLst>
              <a:ext uri="{FF2B5EF4-FFF2-40B4-BE49-F238E27FC236}">
                <a16:creationId xmlns:a16="http://schemas.microsoft.com/office/drawing/2014/main" id="{DB0BF581-A9E2-9A4B-FC85-9E7105B5B5BF}"/>
              </a:ext>
            </a:extLst>
          </p:cNvPr>
          <p:cNvCxnSpPr>
            <a:stCxn id="21" idx="6"/>
            <a:endCxn id="22" idx="2"/>
          </p:cNvCxnSpPr>
          <p:nvPr/>
        </p:nvCxnSpPr>
        <p:spPr>
          <a:xfrm>
            <a:off x="2813005" y="2566875"/>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Text Box 37">
            <a:extLst>
              <a:ext uri="{FF2B5EF4-FFF2-40B4-BE49-F238E27FC236}">
                <a16:creationId xmlns:a16="http://schemas.microsoft.com/office/drawing/2014/main" id="{0AC53718-E5F1-1D07-1A4C-A858E76D5747}"/>
              </a:ext>
            </a:extLst>
          </p:cNvPr>
          <p:cNvSpPr txBox="1">
            <a:spLocks noChangeArrowheads="1"/>
          </p:cNvSpPr>
          <p:nvPr/>
        </p:nvSpPr>
        <p:spPr bwMode="auto">
          <a:xfrm>
            <a:off x="6184699" y="2785649"/>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26" name="Text Box 38">
            <a:extLst>
              <a:ext uri="{FF2B5EF4-FFF2-40B4-BE49-F238E27FC236}">
                <a16:creationId xmlns:a16="http://schemas.microsoft.com/office/drawing/2014/main" id="{E0C9FD90-54CD-880C-4FE2-2112BB585A4A}"/>
              </a:ext>
            </a:extLst>
          </p:cNvPr>
          <p:cNvSpPr txBox="1">
            <a:spLocks noChangeArrowheads="1"/>
          </p:cNvSpPr>
          <p:nvPr/>
        </p:nvSpPr>
        <p:spPr bwMode="auto">
          <a:xfrm>
            <a:off x="2244771" y="2785649"/>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4" name="椭圆 3">
            <a:extLst>
              <a:ext uri="{FF2B5EF4-FFF2-40B4-BE49-F238E27FC236}">
                <a16:creationId xmlns:a16="http://schemas.microsoft.com/office/drawing/2014/main" id="{3E5514DB-87D8-5410-1755-5B70AC388225}"/>
              </a:ext>
            </a:extLst>
          </p:cNvPr>
          <p:cNvSpPr/>
          <p:nvPr/>
        </p:nvSpPr>
        <p:spPr>
          <a:xfrm>
            <a:off x="3022641" y="3253878"/>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a:extLst>
              <a:ext uri="{FF2B5EF4-FFF2-40B4-BE49-F238E27FC236}">
                <a16:creationId xmlns:a16="http://schemas.microsoft.com/office/drawing/2014/main" id="{34D3F40E-915E-65AA-C1BA-344341739984}"/>
              </a:ext>
            </a:extLst>
          </p:cNvPr>
          <p:cNvSpPr/>
          <p:nvPr/>
        </p:nvSpPr>
        <p:spPr>
          <a:xfrm>
            <a:off x="5834098" y="3253878"/>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6" name="直接连接符 5">
            <a:extLst>
              <a:ext uri="{FF2B5EF4-FFF2-40B4-BE49-F238E27FC236}">
                <a16:creationId xmlns:a16="http://schemas.microsoft.com/office/drawing/2014/main" id="{AD745AD2-B704-D849-BF74-7649E1D6A586}"/>
              </a:ext>
            </a:extLst>
          </p:cNvPr>
          <p:cNvCxnSpPr>
            <a:cxnSpLocks/>
          </p:cNvCxnSpPr>
          <p:nvPr/>
        </p:nvCxnSpPr>
        <p:spPr>
          <a:xfrm>
            <a:off x="3238641" y="3361878"/>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a:extLst>
              <a:ext uri="{FF2B5EF4-FFF2-40B4-BE49-F238E27FC236}">
                <a16:creationId xmlns:a16="http://schemas.microsoft.com/office/drawing/2014/main" id="{DB11F54C-F6B7-F5BD-1C3A-DBBA5D1807F8}"/>
              </a:ext>
            </a:extLst>
          </p:cNvPr>
          <p:cNvSpPr txBox="1">
            <a:spLocks noChangeArrowheads="1"/>
          </p:cNvSpPr>
          <p:nvPr/>
        </p:nvSpPr>
        <p:spPr bwMode="auto">
          <a:xfrm>
            <a:off x="5700821" y="3439602"/>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0" name="Text Box 38">
            <a:extLst>
              <a:ext uri="{FF2B5EF4-FFF2-40B4-BE49-F238E27FC236}">
                <a16:creationId xmlns:a16="http://schemas.microsoft.com/office/drawing/2014/main" id="{A3A15DE1-C5B8-8E27-AD3F-A060B1509BA8}"/>
              </a:ext>
            </a:extLst>
          </p:cNvPr>
          <p:cNvSpPr txBox="1">
            <a:spLocks noChangeArrowheads="1"/>
          </p:cNvSpPr>
          <p:nvPr/>
        </p:nvSpPr>
        <p:spPr bwMode="auto">
          <a:xfrm>
            <a:off x="2875397" y="3439602"/>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29" name="椭圆 28">
            <a:extLst>
              <a:ext uri="{FF2B5EF4-FFF2-40B4-BE49-F238E27FC236}">
                <a16:creationId xmlns:a16="http://schemas.microsoft.com/office/drawing/2014/main" id="{047C6B55-9AFE-F471-8CE5-D5815DA3161E}"/>
              </a:ext>
            </a:extLst>
          </p:cNvPr>
          <p:cNvSpPr/>
          <p:nvPr/>
        </p:nvSpPr>
        <p:spPr>
          <a:xfrm>
            <a:off x="3752505"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153A662E-8A3C-6D0C-227E-2D6F09545692}"/>
              </a:ext>
            </a:extLst>
          </p:cNvPr>
          <p:cNvSpPr/>
          <p:nvPr/>
        </p:nvSpPr>
        <p:spPr>
          <a:xfrm>
            <a:off x="4446369"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a:extLst>
              <a:ext uri="{FF2B5EF4-FFF2-40B4-BE49-F238E27FC236}">
                <a16:creationId xmlns:a16="http://schemas.microsoft.com/office/drawing/2014/main" id="{872C7122-EBB1-7843-ECCB-0098CCBCFBF4}"/>
              </a:ext>
            </a:extLst>
          </p:cNvPr>
          <p:cNvSpPr/>
          <p:nvPr/>
        </p:nvSpPr>
        <p:spPr>
          <a:xfrm>
            <a:off x="5140233"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2403566" y="4359001"/>
            <a:ext cx="4336869" cy="338554"/>
          </a:xfrm>
          <a:prstGeom prst="rect">
            <a:avLst/>
          </a:prstGeom>
          <a:noFill/>
          <a:ln>
            <a:no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1600" dirty="0">
                <a:solidFill>
                  <a:sysClr val="windowText" lastClr="000000"/>
                </a:solidFill>
              </a:rPr>
              <a:t>思考：信道利用率越高越好吗？</a:t>
            </a:r>
          </a:p>
        </p:txBody>
      </p:sp>
      <p:sp>
        <p:nvSpPr>
          <p:cNvPr id="3" name="标题 2">
            <a:extLst>
              <a:ext uri="{FF2B5EF4-FFF2-40B4-BE49-F238E27FC236}">
                <a16:creationId xmlns:a16="http://schemas.microsoft.com/office/drawing/2014/main" id="{21A2084D-5A2A-D00D-C3A5-69C1CAC7E984}"/>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cxnSp>
        <p:nvCxnSpPr>
          <p:cNvPr id="8" name="直接连接符 7">
            <a:extLst>
              <a:ext uri="{FF2B5EF4-FFF2-40B4-BE49-F238E27FC236}">
                <a16:creationId xmlns:a16="http://schemas.microsoft.com/office/drawing/2014/main" id="{81003230-3E3D-21B9-8516-6E66D26F0112}"/>
              </a:ext>
            </a:extLst>
          </p:cNvPr>
          <p:cNvCxnSpPr>
            <a:cxnSpLocks/>
          </p:cNvCxnSpPr>
          <p:nvPr/>
        </p:nvCxnSpPr>
        <p:spPr>
          <a:xfrm>
            <a:off x="61277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C5CF152B-F0B2-E433-E7DA-981EA22E2DB7}"/>
              </a:ext>
            </a:extLst>
          </p:cNvPr>
          <p:cNvCxnSpPr>
            <a:cxnSpLocks/>
          </p:cNvCxnSpPr>
          <p:nvPr/>
        </p:nvCxnSpPr>
        <p:spPr>
          <a:xfrm>
            <a:off x="4571999"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C8E20F60-0526-D198-2CB8-D9B00B8563BF}"/>
              </a:ext>
            </a:extLst>
          </p:cNvPr>
          <p:cNvCxnSpPr>
            <a:cxnSpLocks/>
          </p:cNvCxnSpPr>
          <p:nvPr/>
        </p:nvCxnSpPr>
        <p:spPr>
          <a:xfrm>
            <a:off x="853122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AE33D8CA-7BE2-F894-8516-2332C898FADC}"/>
              </a:ext>
            </a:extLst>
          </p:cNvPr>
          <p:cNvSpPr txBox="1"/>
          <p:nvPr/>
        </p:nvSpPr>
        <p:spPr>
          <a:xfrm>
            <a:off x="1167625" y="2523460"/>
            <a:ext cx="2849524" cy="830997"/>
          </a:xfrm>
          <a:prstGeom prst="rect">
            <a:avLst/>
          </a:prstGeom>
          <a:noFill/>
        </p:spPr>
        <p:txBody>
          <a:bodyPr wrap="square" rtlCol="0">
            <a:spAutoFit/>
          </a:bodyPr>
          <a:lstStyle/>
          <a:p>
            <a:pPr algn="l"/>
            <a:r>
              <a:rPr lang="zh-CN" altLang="en-US" sz="1600" dirty="0"/>
              <a:t>某信道有百分之几的时间是被利用的（即有数据通过）</a:t>
            </a:r>
          </a:p>
          <a:p>
            <a:pPr algn="l"/>
            <a:r>
              <a:rPr lang="zh-CN" altLang="en-US" sz="1600" dirty="0"/>
              <a:t>完全空闲的信道的利用率是零</a:t>
            </a:r>
          </a:p>
        </p:txBody>
      </p:sp>
      <p:sp>
        <p:nvSpPr>
          <p:cNvPr id="13" name="文本框 12">
            <a:extLst>
              <a:ext uri="{FF2B5EF4-FFF2-40B4-BE49-F238E27FC236}">
                <a16:creationId xmlns:a16="http://schemas.microsoft.com/office/drawing/2014/main" id="{8516C016-6F79-BA08-F29C-463553A9B1D5}"/>
              </a:ext>
            </a:extLst>
          </p:cNvPr>
          <p:cNvSpPr txBox="1"/>
          <p:nvPr/>
        </p:nvSpPr>
        <p:spPr>
          <a:xfrm>
            <a:off x="1167625" y="1788923"/>
            <a:ext cx="2106667" cy="584775"/>
          </a:xfrm>
          <a:prstGeom prst="rect">
            <a:avLst/>
          </a:prstGeom>
          <a:noFill/>
        </p:spPr>
        <p:txBody>
          <a:bodyPr wrap="none" rtlCol="0">
            <a:spAutoFit/>
          </a:bodyPr>
          <a:lstStyle/>
          <a:p>
            <a:pPr algn="l"/>
            <a:r>
              <a:rPr lang="zh-CN" altLang="en-US" sz="1600" dirty="0">
                <a:solidFill>
                  <a:srgbClr val="D4237A"/>
                </a:solidFill>
                <a:latin typeface="+mj-ea"/>
                <a:ea typeface="+mj-ea"/>
              </a:rPr>
              <a:t>信道利用率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Channel Utilization</a:t>
            </a:r>
            <a:endParaRPr lang="zh-CN" altLang="en-US" sz="1600" dirty="0">
              <a:solidFill>
                <a:srgbClr val="D4237A"/>
              </a:solidFill>
              <a:latin typeface="+mj-ea"/>
              <a:ea typeface="+mj-ea"/>
            </a:endParaRPr>
          </a:p>
        </p:txBody>
      </p:sp>
      <p:sp>
        <p:nvSpPr>
          <p:cNvPr id="15" name="文本框 14">
            <a:extLst>
              <a:ext uri="{FF2B5EF4-FFF2-40B4-BE49-F238E27FC236}">
                <a16:creationId xmlns:a16="http://schemas.microsoft.com/office/drawing/2014/main" id="{AF3CE396-8694-AA11-870B-D9E7F82E7032}"/>
              </a:ext>
            </a:extLst>
          </p:cNvPr>
          <p:cNvSpPr txBox="1"/>
          <p:nvPr/>
        </p:nvSpPr>
        <p:spPr>
          <a:xfrm>
            <a:off x="5126850" y="2523460"/>
            <a:ext cx="2849524" cy="584775"/>
          </a:xfrm>
          <a:prstGeom prst="rect">
            <a:avLst/>
          </a:prstGeom>
          <a:noFill/>
        </p:spPr>
        <p:txBody>
          <a:bodyPr wrap="square" rtlCol="0">
            <a:spAutoFit/>
          </a:bodyPr>
          <a:lstStyle/>
          <a:p>
            <a:pPr algn="l"/>
            <a:r>
              <a:rPr lang="zh-CN" altLang="en-US" sz="1600" dirty="0"/>
              <a:t>全网络的信道利用率的加权平均值</a:t>
            </a:r>
          </a:p>
        </p:txBody>
      </p:sp>
      <p:sp>
        <p:nvSpPr>
          <p:cNvPr id="17" name="文本框 16">
            <a:extLst>
              <a:ext uri="{FF2B5EF4-FFF2-40B4-BE49-F238E27FC236}">
                <a16:creationId xmlns:a16="http://schemas.microsoft.com/office/drawing/2014/main" id="{6C6D6A22-6504-805B-71C2-B410509E72FE}"/>
              </a:ext>
            </a:extLst>
          </p:cNvPr>
          <p:cNvSpPr txBox="1"/>
          <p:nvPr/>
        </p:nvSpPr>
        <p:spPr>
          <a:xfrm>
            <a:off x="5126850" y="1788923"/>
            <a:ext cx="2085251" cy="584775"/>
          </a:xfrm>
          <a:prstGeom prst="rect">
            <a:avLst/>
          </a:prstGeom>
          <a:noFill/>
        </p:spPr>
        <p:txBody>
          <a:bodyPr wrap="none" rtlCol="0">
            <a:spAutoFit/>
          </a:bodyPr>
          <a:lstStyle/>
          <a:p>
            <a:pPr algn="l"/>
            <a:r>
              <a:rPr lang="zh-CN" altLang="en-US" sz="1600" dirty="0">
                <a:solidFill>
                  <a:srgbClr val="D4237A"/>
                </a:solidFill>
                <a:latin typeface="+mj-ea"/>
                <a:ea typeface="+mj-ea"/>
              </a:rPr>
              <a:t>网络利用率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Network Utilization</a:t>
            </a:r>
            <a:endParaRPr lang="zh-CN" altLang="en-US" sz="1600" dirty="0">
              <a:solidFill>
                <a:srgbClr val="D4237A"/>
              </a:solidFill>
              <a:latin typeface="+mj-ea"/>
              <a:ea typeface="+mj-ea"/>
            </a:endParaRP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a:extLst>
              <a:ext uri="{FF2B5EF4-FFF2-40B4-BE49-F238E27FC236}">
                <a16:creationId xmlns:a16="http://schemas.microsoft.com/office/drawing/2014/main" id="{615B62A7-0543-4330-1197-B4B7BF9846D9}"/>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时延与网络利用率的关系</a:t>
            </a:r>
            <a:endParaRPr lang="en-US" altLang="zh-CN" dirty="0"/>
          </a:p>
          <a:p>
            <a:pPr lvl="1"/>
            <a:r>
              <a:rPr lang="zh-CN" altLang="en-US" dirty="0"/>
              <a:t>根据排队论，当某信道的利用率增大时，引起的时延会迅速增加</a:t>
            </a:r>
          </a:p>
        </p:txBody>
      </p:sp>
      <p:sp>
        <p:nvSpPr>
          <p:cNvPr id="5" name="矩形 5"/>
          <p:cNvSpPr>
            <a:spLocks noChangeArrowheads="1"/>
          </p:cNvSpPr>
          <p:nvPr/>
        </p:nvSpPr>
        <p:spPr bwMode="auto">
          <a:xfrm>
            <a:off x="612775" y="3133489"/>
            <a:ext cx="3556860" cy="738664"/>
          </a:xfrm>
          <a:prstGeom prst="rect">
            <a:avLst/>
          </a:prstGeom>
          <a:noFill/>
        </p:spPr>
        <p:txBody>
          <a:bodyPr wrap="square" rtlCol="0">
            <a:spAutoFit/>
          </a:bodyPr>
          <a:lstStyle/>
          <a:p>
            <a:r>
              <a:rPr lang="en-US" altLang="zh-CN" sz="1400" dirty="0"/>
              <a:t>D</a:t>
            </a:r>
            <a:r>
              <a:rPr lang="en-US" altLang="zh-CN" sz="1400" baseline="-25000" dirty="0"/>
              <a:t>0</a:t>
            </a:r>
            <a:r>
              <a:rPr lang="zh-CN" altLang="en-US" sz="1400" dirty="0"/>
              <a:t>：网络空闲时的时延</a:t>
            </a:r>
            <a:endParaRPr lang="en-US" altLang="zh-CN" sz="1400" dirty="0"/>
          </a:p>
          <a:p>
            <a:r>
              <a:rPr lang="en-US" altLang="zh-CN" sz="1400" dirty="0"/>
              <a:t>D</a:t>
            </a:r>
            <a:r>
              <a:rPr lang="zh-CN" altLang="en-US" sz="1400" dirty="0"/>
              <a:t>：网络在当前的时延</a:t>
            </a:r>
            <a:endParaRPr lang="en-US" altLang="zh-CN" sz="1400" dirty="0"/>
          </a:p>
          <a:p>
            <a:r>
              <a:rPr lang="en-US" altLang="zh-CN" sz="1400" dirty="0"/>
              <a:t>U</a:t>
            </a:r>
            <a:r>
              <a:rPr lang="zh-CN" altLang="en-US" sz="1400" dirty="0"/>
              <a:t>：网络当前的利用率，数值在 </a:t>
            </a:r>
            <a:r>
              <a:rPr lang="en-US" altLang="zh-CN" sz="1400" dirty="0"/>
              <a:t>0 </a:t>
            </a:r>
            <a:r>
              <a:rPr lang="zh-CN" altLang="en-US" sz="1400" dirty="0"/>
              <a:t>到 </a:t>
            </a:r>
            <a:r>
              <a:rPr lang="en-US" altLang="zh-CN" sz="1400" dirty="0"/>
              <a:t>1 </a:t>
            </a:r>
            <a:r>
              <a:rPr lang="zh-CN" altLang="en-US" sz="1400" dirty="0"/>
              <a:t>之间</a:t>
            </a:r>
            <a:endParaRPr lang="en-US" altLang="zh-CN" sz="1400" dirty="0"/>
          </a:p>
        </p:txBody>
      </p:sp>
      <p:grpSp>
        <p:nvGrpSpPr>
          <p:cNvPr id="20" name="组合 19"/>
          <p:cNvGrpSpPr/>
          <p:nvPr/>
        </p:nvGrpSpPr>
        <p:grpSpPr>
          <a:xfrm>
            <a:off x="612775" y="2046158"/>
            <a:ext cx="1611086" cy="894481"/>
            <a:chOff x="2760617" y="1739421"/>
            <a:chExt cx="1611086" cy="894481"/>
          </a:xfrm>
          <a:noFill/>
        </p:grpSpPr>
        <p:sp>
          <p:nvSpPr>
            <p:cNvPr id="19" name="圆角矩形 18"/>
            <p:cNvSpPr/>
            <p:nvPr/>
          </p:nvSpPr>
          <p:spPr>
            <a:xfrm>
              <a:off x="2760617" y="1739421"/>
              <a:ext cx="1611086" cy="894481"/>
            </a:xfrm>
            <a:prstGeom prst="roundRect">
              <a:avLst/>
            </a:prstGeom>
            <a:grp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latin typeface="+mj-lt"/>
                <a:ea typeface="+mj-ea"/>
              </a:endParaRPr>
            </a:p>
          </p:txBody>
        </p:sp>
        <p:grpSp>
          <p:nvGrpSpPr>
            <p:cNvPr id="18" name="组合 17"/>
            <p:cNvGrpSpPr/>
            <p:nvPr/>
          </p:nvGrpSpPr>
          <p:grpSpPr>
            <a:xfrm>
              <a:off x="2787752" y="1827192"/>
              <a:ext cx="1462033" cy="738664"/>
              <a:chOff x="758653" y="1895238"/>
              <a:chExt cx="1462033" cy="738664"/>
            </a:xfrm>
            <a:grpFill/>
          </p:grpSpPr>
          <p:sp>
            <p:nvSpPr>
              <p:cNvPr id="8" name="文本框 7"/>
              <p:cNvSpPr txBox="1"/>
              <p:nvPr/>
            </p:nvSpPr>
            <p:spPr>
              <a:xfrm>
                <a:off x="758653" y="2051552"/>
                <a:ext cx="630301" cy="369332"/>
              </a:xfrm>
              <a:prstGeom prst="rect">
                <a:avLst/>
              </a:prstGeom>
              <a:grpFill/>
              <a:ln>
                <a:noFill/>
              </a:ln>
            </p:spPr>
            <p:txBody>
              <a:bodyPr wrap="none" rtlCol="0">
                <a:spAutoFit/>
              </a:bodyPr>
              <a:lstStyle/>
              <a:p>
                <a:r>
                  <a:rPr lang="en-US" altLang="zh-CN" dirty="0">
                    <a:latin typeface="+mj-lt"/>
                    <a:ea typeface="+mj-ea"/>
                  </a:rPr>
                  <a:t>D = </a:t>
                </a:r>
                <a:endParaRPr lang="zh-CN" altLang="en-US" dirty="0">
                  <a:latin typeface="+mj-lt"/>
                  <a:ea typeface="+mj-ea"/>
                </a:endParaRPr>
              </a:p>
            </p:txBody>
          </p:sp>
          <p:sp>
            <p:nvSpPr>
              <p:cNvPr id="9" name="文本框 8"/>
              <p:cNvSpPr txBox="1"/>
              <p:nvPr/>
            </p:nvSpPr>
            <p:spPr>
              <a:xfrm>
                <a:off x="1489152" y="1895238"/>
                <a:ext cx="618323" cy="369332"/>
              </a:xfrm>
              <a:prstGeom prst="rect">
                <a:avLst/>
              </a:prstGeom>
              <a:grpFill/>
              <a:ln>
                <a:noFill/>
              </a:ln>
            </p:spPr>
            <p:txBody>
              <a:bodyPr wrap="square" rtlCol="0">
                <a:spAutoFit/>
              </a:bodyPr>
              <a:lstStyle/>
              <a:p>
                <a:r>
                  <a:rPr lang="en-US" altLang="zh-CN" dirty="0">
                    <a:latin typeface="+mj-lt"/>
                    <a:ea typeface="+mj-ea"/>
                  </a:rPr>
                  <a:t>D</a:t>
                </a:r>
                <a:r>
                  <a:rPr lang="en-US" altLang="zh-CN" baseline="-25000" dirty="0">
                    <a:latin typeface="+mj-lt"/>
                    <a:ea typeface="+mj-ea"/>
                  </a:rPr>
                  <a:t>0</a:t>
                </a:r>
                <a:r>
                  <a:rPr lang="en-US" altLang="zh-CN" dirty="0">
                    <a:latin typeface="+mj-lt"/>
                    <a:ea typeface="+mj-ea"/>
                  </a:rPr>
                  <a:t> </a:t>
                </a:r>
                <a:endParaRPr lang="zh-CN" altLang="en-US" dirty="0">
                  <a:latin typeface="+mj-lt"/>
                  <a:ea typeface="+mj-ea"/>
                </a:endParaRPr>
              </a:p>
            </p:txBody>
          </p:sp>
          <p:sp>
            <p:nvSpPr>
              <p:cNvPr id="10" name="文本框 9"/>
              <p:cNvSpPr txBox="1"/>
              <p:nvPr/>
            </p:nvSpPr>
            <p:spPr>
              <a:xfrm>
                <a:off x="1361216" y="2264570"/>
                <a:ext cx="859470" cy="369332"/>
              </a:xfrm>
              <a:prstGeom prst="rect">
                <a:avLst/>
              </a:prstGeom>
              <a:grpFill/>
              <a:ln>
                <a:noFill/>
              </a:ln>
            </p:spPr>
            <p:txBody>
              <a:bodyPr wrap="square" rtlCol="0">
                <a:spAutoFit/>
              </a:bodyPr>
              <a:lstStyle/>
              <a:p>
                <a:r>
                  <a:rPr lang="en-US" altLang="zh-CN" dirty="0">
                    <a:latin typeface="+mj-lt"/>
                    <a:ea typeface="+mj-ea"/>
                  </a:rPr>
                  <a:t>1 - U</a:t>
                </a:r>
                <a:endParaRPr lang="zh-CN" altLang="en-US" dirty="0">
                  <a:latin typeface="+mj-lt"/>
                  <a:ea typeface="+mj-ea"/>
                </a:endParaRPr>
              </a:p>
            </p:txBody>
          </p:sp>
          <p:cxnSp>
            <p:nvCxnSpPr>
              <p:cNvPr id="11" name="直接连接符 10"/>
              <p:cNvCxnSpPr/>
              <p:nvPr/>
            </p:nvCxnSpPr>
            <p:spPr>
              <a:xfrm>
                <a:off x="1361215" y="2264570"/>
                <a:ext cx="859471" cy="0"/>
              </a:xfrm>
              <a:prstGeom prst="line">
                <a:avLst/>
              </a:prstGeom>
              <a:grpFill/>
              <a:ln w="19050">
                <a:solidFill>
                  <a:schemeClr val="tx1"/>
                </a:solidFill>
              </a:ln>
            </p:spPr>
            <p:style>
              <a:lnRef idx="1">
                <a:schemeClr val="dk1"/>
              </a:lnRef>
              <a:fillRef idx="0">
                <a:schemeClr val="dk1"/>
              </a:fillRef>
              <a:effectRef idx="0">
                <a:schemeClr val="dk1"/>
              </a:effectRef>
              <a:fontRef idx="minor">
                <a:schemeClr val="tx1"/>
              </a:fontRef>
            </p:style>
          </p:cxnSp>
        </p:grpSp>
      </p:grpSp>
      <p:sp>
        <p:nvSpPr>
          <p:cNvPr id="21" name="圆角矩形 20"/>
          <p:cNvSpPr/>
          <p:nvPr/>
        </p:nvSpPr>
        <p:spPr>
          <a:xfrm>
            <a:off x="4342338" y="1984944"/>
            <a:ext cx="3986073" cy="2297090"/>
          </a:xfrm>
          <a:prstGeom prst="rect">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23" name="Rectangle 4"/>
          <p:cNvSpPr>
            <a:spLocks noChangeArrowheads="1"/>
          </p:cNvSpPr>
          <p:nvPr/>
        </p:nvSpPr>
        <p:spPr bwMode="auto">
          <a:xfrm>
            <a:off x="6322444" y="2261588"/>
            <a:ext cx="685530" cy="1629151"/>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4465709" y="2109608"/>
            <a:ext cx="6607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mj-lt"/>
                <a:ea typeface="+mj-ea"/>
              </a:rPr>
              <a:t>时延 </a:t>
            </a:r>
            <a:r>
              <a:rPr lang="en-US" altLang="zh-CN" sz="1200" b="1" dirty="0">
                <a:solidFill>
                  <a:srgbClr val="000066"/>
                </a:solidFill>
                <a:latin typeface="+mj-lt"/>
                <a:ea typeface="+mj-ea"/>
              </a:rPr>
              <a:t>D</a:t>
            </a:r>
          </a:p>
        </p:txBody>
      </p:sp>
      <p:sp>
        <p:nvSpPr>
          <p:cNvPr id="25" name="Line 6"/>
          <p:cNvSpPr>
            <a:spLocks noChangeShapeType="1"/>
          </p:cNvSpPr>
          <p:nvPr/>
        </p:nvSpPr>
        <p:spPr bwMode="auto">
          <a:xfrm flipV="1">
            <a:off x="5130858" y="2185518"/>
            <a:ext cx="0" cy="1705221"/>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6" name="Line 7"/>
          <p:cNvSpPr>
            <a:spLocks noChangeShapeType="1"/>
          </p:cNvSpPr>
          <p:nvPr/>
        </p:nvSpPr>
        <p:spPr bwMode="auto">
          <a:xfrm rot="5400000" flipV="1">
            <a:off x="6474957" y="2546641"/>
            <a:ext cx="0" cy="2688197"/>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7" name="Line 8"/>
          <p:cNvSpPr>
            <a:spLocks noChangeShapeType="1"/>
          </p:cNvSpPr>
          <p:nvPr/>
        </p:nvSpPr>
        <p:spPr bwMode="auto">
          <a:xfrm>
            <a:off x="7007973" y="2204751"/>
            <a:ext cx="0" cy="1685989"/>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8" name="Arc 9"/>
          <p:cNvSpPr>
            <a:spLocks/>
          </p:cNvSpPr>
          <p:nvPr/>
        </p:nvSpPr>
        <p:spPr bwMode="auto">
          <a:xfrm flipV="1">
            <a:off x="5130857" y="2261588"/>
            <a:ext cx="1868229" cy="1517328"/>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Times New Roman" panose="02020603050405020304" pitchFamily="18" charset="0"/>
              <a:ea typeface="微软雅黑 Light" panose="020B0502040204020203" pitchFamily="34" charset="-122"/>
            </a:endParaRPr>
          </a:p>
        </p:txBody>
      </p:sp>
      <p:sp>
        <p:nvSpPr>
          <p:cNvPr id="29" name="Text Box 10"/>
          <p:cNvSpPr txBox="1">
            <a:spLocks noChangeArrowheads="1"/>
          </p:cNvSpPr>
          <p:nvPr/>
        </p:nvSpPr>
        <p:spPr bwMode="auto">
          <a:xfrm>
            <a:off x="7292142" y="3918978"/>
            <a:ext cx="8130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mj-lt"/>
                <a:ea typeface="+mj-ea"/>
              </a:rPr>
              <a:t>利用率 </a:t>
            </a:r>
            <a:r>
              <a:rPr lang="en-US" altLang="zh-CN" sz="1200" b="1">
                <a:solidFill>
                  <a:srgbClr val="000066"/>
                </a:solidFill>
                <a:latin typeface="+mj-lt"/>
                <a:ea typeface="+mj-ea"/>
              </a:rPr>
              <a:t>U</a:t>
            </a:r>
          </a:p>
        </p:txBody>
      </p:sp>
      <p:sp>
        <p:nvSpPr>
          <p:cNvPr id="30" name="Text Box 11"/>
          <p:cNvSpPr txBox="1">
            <a:spLocks noChangeArrowheads="1"/>
          </p:cNvSpPr>
          <p:nvPr/>
        </p:nvSpPr>
        <p:spPr bwMode="auto">
          <a:xfrm>
            <a:off x="6895185" y="3885179"/>
            <a:ext cx="240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1</a:t>
            </a:r>
          </a:p>
        </p:txBody>
      </p:sp>
      <p:sp>
        <p:nvSpPr>
          <p:cNvPr id="31" name="Text Box 12"/>
          <p:cNvSpPr txBox="1">
            <a:spLocks noChangeArrowheads="1"/>
          </p:cNvSpPr>
          <p:nvPr/>
        </p:nvSpPr>
        <p:spPr bwMode="auto">
          <a:xfrm>
            <a:off x="4980717" y="3857996"/>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0</a:t>
            </a:r>
          </a:p>
        </p:txBody>
      </p:sp>
      <p:sp>
        <p:nvSpPr>
          <p:cNvPr id="32" name="Text Box 13"/>
          <p:cNvSpPr txBox="1">
            <a:spLocks noChangeArrowheads="1"/>
          </p:cNvSpPr>
          <p:nvPr/>
        </p:nvSpPr>
        <p:spPr bwMode="auto">
          <a:xfrm>
            <a:off x="4800043" y="3623847"/>
            <a:ext cx="3786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D</a:t>
            </a:r>
            <a:r>
              <a:rPr lang="en-US" altLang="zh-CN" sz="1200" b="1" baseline="-25000">
                <a:solidFill>
                  <a:srgbClr val="000066"/>
                </a:solidFill>
                <a:latin typeface="+mj-lt"/>
                <a:ea typeface="+mj-ea"/>
              </a:rPr>
              <a:t>0</a:t>
            </a:r>
          </a:p>
        </p:txBody>
      </p:sp>
      <p:sp>
        <p:nvSpPr>
          <p:cNvPr id="33" name="Text Box 14"/>
          <p:cNvSpPr txBox="1">
            <a:spLocks noChangeArrowheads="1"/>
          </p:cNvSpPr>
          <p:nvPr/>
        </p:nvSpPr>
        <p:spPr bwMode="auto">
          <a:xfrm>
            <a:off x="6341086" y="2266232"/>
            <a:ext cx="52439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mj-lt"/>
                <a:ea typeface="+mj-ea"/>
              </a:rPr>
              <a:t>时延急剧增大</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B4E1DBC-1123-76D8-032B-9DCF46DB1D78}"/>
              </a:ext>
            </a:extLst>
          </p:cNvPr>
          <p:cNvSpPr>
            <a:spLocks noGrp="1"/>
          </p:cNvSpPr>
          <p:nvPr>
            <p:ph type="title"/>
          </p:nvPr>
        </p:nvSpPr>
        <p:spPr>
          <a:xfrm>
            <a:off x="612000" y="144000"/>
            <a:ext cx="7920000" cy="341632"/>
          </a:xfrm>
        </p:spPr>
        <p:txBody>
          <a:bodyPr/>
          <a:lstStyle/>
          <a:p>
            <a:r>
              <a:rPr lang="en-US" altLang="zh-CN" dirty="0"/>
              <a:t>1.6.2  </a:t>
            </a:r>
            <a:r>
              <a:rPr lang="zh-CN" altLang="en-US" dirty="0"/>
              <a:t>非性能特征</a:t>
            </a:r>
          </a:p>
        </p:txBody>
      </p:sp>
      <p:graphicFrame>
        <p:nvGraphicFramePr>
          <p:cNvPr id="5" name="图示 4"/>
          <p:cNvGraphicFramePr/>
          <p:nvPr>
            <p:extLst>
              <p:ext uri="{D42A27DB-BD31-4B8C-83A1-F6EECF244321}">
                <p14:modId xmlns:p14="http://schemas.microsoft.com/office/powerpoint/2010/main" val="1511222142"/>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2626242" y="4302475"/>
            <a:ext cx="3891516" cy="373436"/>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gn="ctr">
              <a:lnSpc>
                <a:spcPts val="2400"/>
              </a:lnSpc>
            </a:pPr>
            <a:r>
              <a:rPr lang="zh-CN" altLang="en-US" sz="1600" dirty="0">
                <a:solidFill>
                  <a:schemeClr val="tx1"/>
                </a:solidFill>
                <a:latin typeface="+mn-ea"/>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257146E-4A73-AA27-DA9C-17A846496B8A}"/>
              </a:ext>
            </a:extLst>
          </p:cNvPr>
          <p:cNvSpPr>
            <a:spLocks noGrp="1"/>
          </p:cNvSpPr>
          <p:nvPr>
            <p:ph type="title"/>
          </p:nvPr>
        </p:nvSpPr>
        <p:spPr>
          <a:xfrm>
            <a:off x="2228850" y="403553"/>
            <a:ext cx="6562725" cy="523220"/>
          </a:xfrm>
        </p:spPr>
        <p:txBody>
          <a:bodyPr/>
          <a:lstStyle/>
          <a:p>
            <a:r>
              <a:rPr lang="fr-FR" altLang="zh-CN" dirty="0"/>
              <a:t>1.7 </a:t>
            </a:r>
            <a:r>
              <a:rPr lang="zh-CN" altLang="zh-CN" dirty="0"/>
              <a:t>计算机网络体系结构</a:t>
            </a:r>
            <a:endParaRPr lang="zh-CN" altLang="en-US" dirty="0"/>
          </a:p>
        </p:txBody>
      </p:sp>
      <p:sp>
        <p:nvSpPr>
          <p:cNvPr id="4" name="文本框 3">
            <a:extLst>
              <a:ext uri="{FF2B5EF4-FFF2-40B4-BE49-F238E27FC236}">
                <a16:creationId xmlns:a16="http://schemas.microsoft.com/office/drawing/2014/main" id="{C02EFC87-65AE-290F-4B8C-2E9FA9F9FD36}"/>
              </a:ext>
            </a:extLst>
          </p:cNvPr>
          <p:cNvSpPr txBox="1"/>
          <p:nvPr/>
        </p:nvSpPr>
        <p:spPr>
          <a:xfrm>
            <a:off x="2900362" y="1483896"/>
            <a:ext cx="4057650" cy="369332"/>
          </a:xfrm>
          <a:prstGeom prst="rect">
            <a:avLst/>
          </a:prstGeom>
          <a:noFill/>
        </p:spPr>
        <p:txBody>
          <a:bodyPr wrap="square">
            <a:spAutoFit/>
          </a:bodyPr>
          <a:lstStyle/>
          <a:p>
            <a:r>
              <a:rPr lang="en-US" altLang="zh-CN" dirty="0"/>
              <a:t>1.7.1 </a:t>
            </a:r>
            <a:r>
              <a:rPr lang="zh-CN" altLang="zh-CN" dirty="0"/>
              <a:t>计算机网络体系结构的形成</a:t>
            </a:r>
          </a:p>
        </p:txBody>
      </p:sp>
      <p:sp>
        <p:nvSpPr>
          <p:cNvPr id="7" name="文本框 6">
            <a:extLst>
              <a:ext uri="{FF2B5EF4-FFF2-40B4-BE49-F238E27FC236}">
                <a16:creationId xmlns:a16="http://schemas.microsoft.com/office/drawing/2014/main" id="{B3855622-5AEC-E882-79C3-0159551B738A}"/>
              </a:ext>
            </a:extLst>
          </p:cNvPr>
          <p:cNvSpPr txBox="1"/>
          <p:nvPr/>
        </p:nvSpPr>
        <p:spPr>
          <a:xfrm>
            <a:off x="3745706" y="2666082"/>
            <a:ext cx="4057650" cy="369332"/>
          </a:xfrm>
          <a:prstGeom prst="rect">
            <a:avLst/>
          </a:prstGeom>
          <a:noFill/>
        </p:spPr>
        <p:txBody>
          <a:bodyPr wrap="square">
            <a:spAutoFit/>
          </a:bodyPr>
          <a:lstStyle/>
          <a:p>
            <a:r>
              <a:rPr lang="en-US" altLang="zh-CN" dirty="0"/>
              <a:t>1.7.3 </a:t>
            </a:r>
            <a:r>
              <a:rPr lang="zh-CN" altLang="zh-CN" dirty="0"/>
              <a:t>具有五层协议的体系结构</a:t>
            </a:r>
            <a:endParaRPr lang="en-US" altLang="zh-CN" dirty="0"/>
          </a:p>
        </p:txBody>
      </p:sp>
      <p:sp>
        <p:nvSpPr>
          <p:cNvPr id="8" name="文本框 7">
            <a:extLst>
              <a:ext uri="{FF2B5EF4-FFF2-40B4-BE49-F238E27FC236}">
                <a16:creationId xmlns:a16="http://schemas.microsoft.com/office/drawing/2014/main" id="{C36211C7-4897-5305-95AA-FAE594D6EC97}"/>
              </a:ext>
            </a:extLst>
          </p:cNvPr>
          <p:cNvSpPr txBox="1"/>
          <p:nvPr/>
        </p:nvSpPr>
        <p:spPr>
          <a:xfrm>
            <a:off x="3323034" y="2074989"/>
            <a:ext cx="4057650" cy="369332"/>
          </a:xfrm>
          <a:prstGeom prst="rect">
            <a:avLst/>
          </a:prstGeom>
          <a:noFill/>
        </p:spPr>
        <p:txBody>
          <a:bodyPr wrap="square">
            <a:spAutoFit/>
          </a:bodyPr>
          <a:lstStyle/>
          <a:p>
            <a:r>
              <a:rPr lang="en-US" altLang="zh-CN" dirty="0"/>
              <a:t>1.7.2 </a:t>
            </a:r>
            <a:r>
              <a:rPr lang="zh-CN" altLang="zh-CN" dirty="0"/>
              <a:t>协议与划分层次</a:t>
            </a:r>
            <a:endParaRPr lang="en-US" altLang="zh-CN" dirty="0"/>
          </a:p>
        </p:txBody>
      </p:sp>
      <p:sp>
        <p:nvSpPr>
          <p:cNvPr id="9" name="文本框 8">
            <a:extLst>
              <a:ext uri="{FF2B5EF4-FFF2-40B4-BE49-F238E27FC236}">
                <a16:creationId xmlns:a16="http://schemas.microsoft.com/office/drawing/2014/main" id="{8D931469-CC63-0977-DCB8-5B6A150432D1}"/>
              </a:ext>
            </a:extLst>
          </p:cNvPr>
          <p:cNvSpPr txBox="1"/>
          <p:nvPr/>
        </p:nvSpPr>
        <p:spPr>
          <a:xfrm>
            <a:off x="4168378" y="3257175"/>
            <a:ext cx="4057650" cy="369332"/>
          </a:xfrm>
          <a:prstGeom prst="rect">
            <a:avLst/>
          </a:prstGeom>
          <a:noFill/>
        </p:spPr>
        <p:txBody>
          <a:bodyPr wrap="square">
            <a:spAutoFit/>
          </a:bodyPr>
          <a:lstStyle/>
          <a:p>
            <a:r>
              <a:rPr lang="en-US" altLang="zh-CN" dirty="0"/>
              <a:t>1.7.4 </a:t>
            </a:r>
            <a:r>
              <a:rPr lang="zh-CN" altLang="zh-CN" dirty="0"/>
              <a:t>实体、协议、服务和服务访问点</a:t>
            </a:r>
            <a:endParaRPr lang="en-US" altLang="zh-CN" dirty="0"/>
          </a:p>
        </p:txBody>
      </p:sp>
      <p:sp>
        <p:nvSpPr>
          <p:cNvPr id="10" name="文本框 9">
            <a:extLst>
              <a:ext uri="{FF2B5EF4-FFF2-40B4-BE49-F238E27FC236}">
                <a16:creationId xmlns:a16="http://schemas.microsoft.com/office/drawing/2014/main" id="{6F194142-D565-49EF-03C2-F79074090EA7}"/>
              </a:ext>
            </a:extLst>
          </p:cNvPr>
          <p:cNvSpPr txBox="1"/>
          <p:nvPr/>
        </p:nvSpPr>
        <p:spPr>
          <a:xfrm>
            <a:off x="4591050" y="3848269"/>
            <a:ext cx="4057650" cy="369332"/>
          </a:xfrm>
          <a:prstGeom prst="rect">
            <a:avLst/>
          </a:prstGeom>
          <a:noFill/>
        </p:spPr>
        <p:txBody>
          <a:bodyPr wrap="square">
            <a:spAutoFit/>
          </a:bodyPr>
          <a:lstStyle/>
          <a:p>
            <a:r>
              <a:rPr lang="en-US" altLang="zh-CN" dirty="0"/>
              <a:t>1.7.5 TCP/IP </a:t>
            </a:r>
            <a:r>
              <a:rPr lang="zh-CN" altLang="zh-CN" dirty="0"/>
              <a:t>的体系结构</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7835A-3920-F754-75CA-C60EC0C0671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265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7394"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任意多边形: 形状 12">
            <a:extLst>
              <a:ext uri="{FF2B5EF4-FFF2-40B4-BE49-F238E27FC236}">
                <a16:creationId xmlns:a16="http://schemas.microsoft.com/office/drawing/2014/main" id="{99BB141A-F229-30C1-E219-2893A7079C09}"/>
              </a:ext>
            </a:extLst>
          </p:cNvPr>
          <p:cNvSpPr>
            <a:spLocks noChangeArrowheads="1"/>
          </p:cNvSpPr>
          <p:nvPr/>
        </p:nvSpPr>
        <p:spPr bwMode="auto">
          <a:xfrm>
            <a:off x="1860814" y="1533803"/>
            <a:ext cx="5919624" cy="3189266"/>
          </a:xfrm>
          <a:custGeom>
            <a:avLst/>
            <a:gdLst>
              <a:gd name="csX0" fmla="*/ 3338766 w 5919624"/>
              <a:gd name="csY0" fmla="*/ 43428 h 3189266"/>
              <a:gd name="csX1" fmla="*/ 4158807 w 5919624"/>
              <a:gd name="csY1" fmla="*/ 382445 h 3189266"/>
              <a:gd name="csX2" fmla="*/ 4160864 w 5919624"/>
              <a:gd name="csY2" fmla="*/ 385062 h 3189266"/>
              <a:gd name="csX3" fmla="*/ 4181026 w 5919624"/>
              <a:gd name="csY3" fmla="*/ 376717 h 3189266"/>
              <a:gd name="csX4" fmla="*/ 4627770 w 5919624"/>
              <a:gd name="csY4" fmla="*/ 307942 h 3189266"/>
              <a:gd name="csX5" fmla="*/ 4745117 w 5919624"/>
              <a:gd name="csY5" fmla="*/ 312461 h 3189266"/>
              <a:gd name="csX6" fmla="*/ 5775489 w 5919624"/>
              <a:gd name="csY6" fmla="*/ 1183107 h 3189266"/>
              <a:gd name="csX7" fmla="*/ 5685295 w 5919624"/>
              <a:gd name="csY7" fmla="*/ 1523763 h 3189266"/>
              <a:gd name="csX8" fmla="*/ 5614097 w 5919624"/>
              <a:gd name="csY8" fmla="*/ 1623783 h 3189266"/>
              <a:gd name="csX9" fmla="*/ 5643268 w 5919624"/>
              <a:gd name="csY9" fmla="*/ 1645627 h 3189266"/>
              <a:gd name="csX10" fmla="*/ 5919624 w 5919624"/>
              <a:gd name="csY10" fmla="*/ 2227946 h 3189266"/>
              <a:gd name="csX11" fmla="*/ 4855826 w 5919624"/>
              <a:gd name="csY11" fmla="*/ 3094008 h 3189266"/>
              <a:gd name="csX12" fmla="*/ 4348757 w 5919624"/>
              <a:gd name="csY12" fmla="*/ 2989477 h 3189266"/>
              <a:gd name="csX13" fmla="*/ 4286232 w 5919624"/>
              <a:gd name="csY13" fmla="*/ 2958555 h 3189266"/>
              <a:gd name="csX14" fmla="*/ 4119420 w 5919624"/>
              <a:gd name="csY14" fmla="*/ 3053660 h 3189266"/>
              <a:gd name="csX15" fmla="*/ 3476986 w 5919624"/>
              <a:gd name="csY15" fmla="*/ 3189266 h 3189266"/>
              <a:gd name="csX16" fmla="*/ 2418249 w 5919624"/>
              <a:gd name="csY16" fmla="*/ 2704324 h 3189266"/>
              <a:gd name="csX17" fmla="*/ 2394707 w 5919624"/>
              <a:gd name="csY17" fmla="*/ 2651909 h 3189266"/>
              <a:gd name="csX18" fmla="*/ 2311037 w 5919624"/>
              <a:gd name="csY18" fmla="*/ 2718415 h 3189266"/>
              <a:gd name="csX19" fmla="*/ 1499477 w 5919624"/>
              <a:gd name="csY19" fmla="*/ 2938878 h 3189266"/>
              <a:gd name="csX20" fmla="*/ 351758 w 5919624"/>
              <a:gd name="csY20" fmla="*/ 2186170 h 3189266"/>
              <a:gd name="csX21" fmla="*/ 366010 w 5919624"/>
              <a:gd name="csY21" fmla="*/ 2093450 h 3189266"/>
              <a:gd name="csX22" fmla="*/ 288082 w 5919624"/>
              <a:gd name="csY22" fmla="*/ 2042465 h 3189266"/>
              <a:gd name="csX23" fmla="*/ 0 w 5919624"/>
              <a:gd name="csY23" fmla="*/ 1490973 h 3189266"/>
              <a:gd name="csX24" fmla="*/ 433650 w 5919624"/>
              <a:gd name="csY24" fmla="*/ 844246 h 3189266"/>
              <a:gd name="csX25" fmla="*/ 435208 w 5919624"/>
              <a:gd name="csY25" fmla="*/ 843574 h 3189266"/>
              <a:gd name="csX26" fmla="*/ 421002 w 5919624"/>
              <a:gd name="csY26" fmla="*/ 749893 h 3189266"/>
              <a:gd name="csX27" fmla="*/ 1549024 w 5919624"/>
              <a:gd name="csY27" fmla="*/ 0 h 3189266"/>
              <a:gd name="csX28" fmla="*/ 2346655 w 5919624"/>
              <a:gd name="csY28" fmla="*/ 219639 h 3189266"/>
              <a:gd name="csX29" fmla="*/ 2415986 w 5919624"/>
              <a:gd name="csY29" fmla="*/ 275501 h 3189266"/>
              <a:gd name="csX30" fmla="*/ 2425801 w 5919624"/>
              <a:gd name="csY30" fmla="*/ 267296 h 3189266"/>
              <a:gd name="csX31" fmla="*/ 3223432 w 5919624"/>
              <a:gd name="csY31" fmla="*/ 39411 h 3189266"/>
              <a:gd name="csX32" fmla="*/ 3338766 w 5919624"/>
              <a:gd name="csY32" fmla="*/ 43428 h 31892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5919624" h="3189266">
                <a:moveTo>
                  <a:pt x="3338766" y="43428"/>
                </a:moveTo>
                <a:cubicBezTo>
                  <a:pt x="3680053" y="67334"/>
                  <a:pt x="3976363" y="196179"/>
                  <a:pt x="4158807" y="382445"/>
                </a:cubicBezTo>
                <a:lnTo>
                  <a:pt x="4160864" y="385062"/>
                </a:lnTo>
                <a:lnTo>
                  <a:pt x="4181026" y="376717"/>
                </a:lnTo>
                <a:cubicBezTo>
                  <a:pt x="4318337" y="332431"/>
                  <a:pt x="4469305" y="307942"/>
                  <a:pt x="4627770" y="307942"/>
                </a:cubicBezTo>
                <a:cubicBezTo>
                  <a:pt x="4667386" y="307942"/>
                  <a:pt x="4706536" y="309474"/>
                  <a:pt x="4745117" y="312461"/>
                </a:cubicBezTo>
                <a:cubicBezTo>
                  <a:pt x="5323862" y="357280"/>
                  <a:pt x="5775491" y="729977"/>
                  <a:pt x="5775489" y="1183107"/>
                </a:cubicBezTo>
                <a:cubicBezTo>
                  <a:pt x="5775488" y="1303942"/>
                  <a:pt x="5743375" y="1419058"/>
                  <a:pt x="5685295" y="1523763"/>
                </a:cubicBezTo>
                <a:lnTo>
                  <a:pt x="5614097" y="1623783"/>
                </a:lnTo>
                <a:lnTo>
                  <a:pt x="5643268" y="1645627"/>
                </a:lnTo>
                <a:cubicBezTo>
                  <a:pt x="5814973" y="1799430"/>
                  <a:pt x="5919624" y="2003737"/>
                  <a:pt x="5919624" y="2227946"/>
                </a:cubicBezTo>
                <a:cubicBezTo>
                  <a:pt x="5919624" y="2706258"/>
                  <a:pt x="5443347" y="3094006"/>
                  <a:pt x="4855826" y="3094008"/>
                </a:cubicBezTo>
                <a:cubicBezTo>
                  <a:pt x="4672228" y="3094007"/>
                  <a:pt x="4499490" y="3056140"/>
                  <a:pt x="4348757" y="2989477"/>
                </a:cubicBezTo>
                <a:lnTo>
                  <a:pt x="4286232" y="2958555"/>
                </a:lnTo>
                <a:lnTo>
                  <a:pt x="4119420" y="3053660"/>
                </a:lnTo>
                <a:cubicBezTo>
                  <a:pt x="3936033" y="3139275"/>
                  <a:pt x="3714959" y="3189266"/>
                  <a:pt x="3476986" y="3189266"/>
                </a:cubicBezTo>
                <a:cubicBezTo>
                  <a:pt x="3001040" y="3189264"/>
                  <a:pt x="2592682" y="2989302"/>
                  <a:pt x="2418249" y="2704324"/>
                </a:cubicBezTo>
                <a:lnTo>
                  <a:pt x="2394707" y="2651909"/>
                </a:lnTo>
                <a:lnTo>
                  <a:pt x="2311037" y="2718415"/>
                </a:lnTo>
                <a:cubicBezTo>
                  <a:pt x="2103342" y="2854628"/>
                  <a:pt x="1816413" y="2938878"/>
                  <a:pt x="1499477" y="2938878"/>
                </a:cubicBezTo>
                <a:cubicBezTo>
                  <a:pt x="865609" y="2938880"/>
                  <a:pt x="351758" y="2601879"/>
                  <a:pt x="351758" y="2186170"/>
                </a:cubicBezTo>
                <a:lnTo>
                  <a:pt x="366010" y="2093450"/>
                </a:lnTo>
                <a:lnTo>
                  <a:pt x="288082" y="2042465"/>
                </a:lnTo>
                <a:cubicBezTo>
                  <a:pt x="110091" y="1901326"/>
                  <a:pt x="0" y="1706344"/>
                  <a:pt x="0" y="1490973"/>
                </a:cubicBezTo>
                <a:cubicBezTo>
                  <a:pt x="0" y="1221760"/>
                  <a:pt x="172016" y="984404"/>
                  <a:pt x="433650" y="844246"/>
                </a:cubicBezTo>
                <a:lnTo>
                  <a:pt x="435208" y="843574"/>
                </a:lnTo>
                <a:lnTo>
                  <a:pt x="421002" y="749893"/>
                </a:lnTo>
                <a:cubicBezTo>
                  <a:pt x="421002" y="335739"/>
                  <a:pt x="926034" y="0"/>
                  <a:pt x="1549024" y="0"/>
                </a:cubicBezTo>
                <a:cubicBezTo>
                  <a:pt x="1860518" y="1"/>
                  <a:pt x="2142523" y="83935"/>
                  <a:pt x="2346655" y="219639"/>
                </a:cubicBezTo>
                <a:lnTo>
                  <a:pt x="2415986" y="275501"/>
                </a:lnTo>
                <a:lnTo>
                  <a:pt x="2425801" y="267296"/>
                </a:lnTo>
                <a:cubicBezTo>
                  <a:pt x="2629932" y="126497"/>
                  <a:pt x="2911938" y="39411"/>
                  <a:pt x="3223432" y="39411"/>
                </a:cubicBezTo>
                <a:cubicBezTo>
                  <a:pt x="3262369" y="39411"/>
                  <a:pt x="3300845" y="40771"/>
                  <a:pt x="3338766" y="43428"/>
                </a:cubicBezTo>
                <a:close/>
              </a:path>
            </a:pathLst>
          </a:custGeom>
          <a:solidFill>
            <a:srgbClr val="F2F2F2"/>
          </a:solidFill>
          <a:ln w="19050">
            <a:noFill/>
            <a:prstDash val="solid"/>
            <a:round/>
            <a:headEnd/>
            <a:tailEnd/>
          </a:ln>
          <a:effectLst/>
        </p:spPr>
        <p:txBody>
          <a:bodyPr wrap="square">
            <a:noAutofit/>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3" name="文本框 162"/>
          <p:cNvSpPr txBox="1"/>
          <p:nvPr/>
        </p:nvSpPr>
        <p:spPr>
          <a:xfrm>
            <a:off x="2421801" y="1956472"/>
            <a:ext cx="5035719" cy="2062103"/>
          </a:xfrm>
          <a:prstGeom prst="rect">
            <a:avLst/>
          </a:prstGeom>
          <a:noFill/>
        </p:spPr>
        <p:txBody>
          <a:bodyPr wrap="square" rtlCol="0">
            <a:spAutoFit/>
          </a:bodyPr>
          <a:lstStyle>
            <a:defPPr>
              <a:defRPr lang="zh-CN"/>
            </a:defPPr>
            <a:lvl1pPr algn="ctr">
              <a:defRPr sz="1400"/>
            </a:lvl1pPr>
          </a:lstStyle>
          <a:p>
            <a:pPr marL="180000" indent="-180000" algn="l">
              <a:spcAft>
                <a:spcPts val="600"/>
              </a:spcAft>
              <a:buFont typeface="+mj-lt"/>
              <a:buAutoNum type="arabicPeriod"/>
            </a:pPr>
            <a:r>
              <a:rPr lang="zh-CN" altLang="en-US" dirty="0"/>
              <a:t>必须有一条传送数据的链路</a:t>
            </a:r>
            <a:endParaRPr lang="en-US" altLang="zh-CN" dirty="0"/>
          </a:p>
          <a:p>
            <a:pPr marL="180000" indent="-180000" algn="l">
              <a:spcAft>
                <a:spcPts val="600"/>
              </a:spcAft>
              <a:buFont typeface="+mj-lt"/>
              <a:buAutoNum type="arabicPeriod"/>
            </a:pPr>
            <a:r>
              <a:rPr lang="zh-CN" altLang="en-US" dirty="0"/>
              <a:t>发起方必须激活链路</a:t>
            </a:r>
          </a:p>
          <a:p>
            <a:pPr marL="180000" indent="-180000" algn="l">
              <a:spcAft>
                <a:spcPts val="600"/>
              </a:spcAft>
              <a:buFont typeface="+mj-lt"/>
              <a:buAutoNum type="arabicPeriod"/>
            </a:pPr>
            <a:r>
              <a:rPr lang="zh-CN" altLang="en-US" dirty="0"/>
              <a:t>要告诉网络如何识别接收方</a:t>
            </a:r>
          </a:p>
          <a:p>
            <a:pPr marL="180000" indent="-180000" algn="l">
              <a:spcAft>
                <a:spcPts val="600"/>
              </a:spcAft>
              <a:buFont typeface="+mj-lt"/>
              <a:buAutoNum type="arabicPeriod"/>
            </a:pPr>
            <a:r>
              <a:rPr lang="zh-CN" altLang="en-US" dirty="0"/>
              <a:t>发起方要清楚对方是否已开机，且与网络连接正常</a:t>
            </a:r>
          </a:p>
          <a:p>
            <a:pPr marL="180000" indent="-180000" algn="l">
              <a:spcAft>
                <a:spcPts val="600"/>
              </a:spcAft>
              <a:buFont typeface="+mj-lt"/>
              <a:buAutoNum type="arabicPeriod"/>
            </a:pPr>
            <a:r>
              <a:rPr lang="zh-CN" altLang="en-US" dirty="0"/>
              <a:t>发起方要清楚对方是否准备好接收和存储文件</a:t>
            </a:r>
          </a:p>
          <a:p>
            <a:pPr marL="180000" indent="-180000" algn="l">
              <a:spcAft>
                <a:spcPts val="600"/>
              </a:spcAft>
              <a:buFont typeface="+mj-lt"/>
              <a:buAutoNum type="arabicPeriod"/>
            </a:pPr>
            <a:r>
              <a:rPr lang="zh-CN" altLang="en-US" dirty="0"/>
              <a:t>若文件格式不兼容，要完成格式的转换</a:t>
            </a:r>
          </a:p>
          <a:p>
            <a:pPr marL="180000" indent="-180000" algn="l">
              <a:spcAft>
                <a:spcPts val="600"/>
              </a:spcAft>
              <a:buFont typeface="+mj-lt"/>
              <a:buAutoNum type="arabicPeriod"/>
            </a:pPr>
            <a:r>
              <a:rPr lang="zh-CN" altLang="en-US" dirty="0"/>
              <a:t>要处理各种差错和意外事故，保证收到正确的文件</a:t>
            </a:r>
          </a:p>
        </p:txBody>
      </p:sp>
      <p:sp>
        <p:nvSpPr>
          <p:cNvPr id="3" name="矩形 2"/>
          <p:cNvSpPr/>
          <p:nvPr/>
        </p:nvSpPr>
        <p:spPr>
          <a:xfrm>
            <a:off x="2774072" y="1200719"/>
            <a:ext cx="3595856" cy="307777"/>
          </a:xfrm>
          <a:prstGeom prst="rect">
            <a:avLst/>
          </a:prstGeom>
          <a:noFill/>
        </p:spPr>
        <p:txBody>
          <a:bodyPr wrap="square" rtlCol="0">
            <a:spAutoFit/>
          </a:bodyPr>
          <a:lstStyle/>
          <a:p>
            <a:pPr algn="ctr"/>
            <a:r>
              <a:rPr lang="zh-CN" altLang="en-US" sz="1400" dirty="0">
                <a:solidFill>
                  <a:srgbClr val="D4237A"/>
                </a:solidFill>
                <a:ea typeface="+mj-ea"/>
              </a:rPr>
              <a:t>两台计算机要互相传送文件需解决很多问题</a:t>
            </a:r>
          </a:p>
        </p:txBody>
      </p:sp>
      <p:sp>
        <p:nvSpPr>
          <p:cNvPr id="19" name="Text Box 38"/>
          <p:cNvSpPr txBox="1">
            <a:spLocks noChangeArrowheads="1"/>
          </p:cNvSpPr>
          <p:nvPr/>
        </p:nvSpPr>
        <p:spPr bwMode="auto">
          <a:xfrm>
            <a:off x="714176" y="3341650"/>
            <a:ext cx="898003" cy="307777"/>
          </a:xfrm>
          <a:prstGeom prst="rect">
            <a:avLst/>
          </a:prstGeom>
          <a:noFill/>
        </p:spPr>
        <p:txBody>
          <a:bodyPr wrap="square" rtlCol="0">
            <a:spAutoFit/>
          </a:bodyPr>
          <a:lstStyle>
            <a:defPPr>
              <a:defRPr lang="zh-CN"/>
            </a:defPPr>
            <a:lvl1pPr>
              <a:defRPr sz="1400"/>
            </a:lvl1pPr>
          </a:lstStyle>
          <a:p>
            <a:pPr algn="ctr"/>
            <a:r>
              <a:rPr lang="zh-CN" altLang="en-US" dirty="0"/>
              <a:t>计算机 </a:t>
            </a:r>
            <a:r>
              <a:rPr lang="en-US" altLang="zh-CN" dirty="0"/>
              <a:t>A</a:t>
            </a:r>
          </a:p>
        </p:txBody>
      </p:sp>
      <p:sp>
        <p:nvSpPr>
          <p:cNvPr id="20" name="Text Box 38"/>
          <p:cNvSpPr txBox="1">
            <a:spLocks noChangeArrowheads="1"/>
          </p:cNvSpPr>
          <p:nvPr/>
        </p:nvSpPr>
        <p:spPr bwMode="auto">
          <a:xfrm>
            <a:off x="7835706" y="3341650"/>
            <a:ext cx="904415" cy="307777"/>
          </a:xfrm>
          <a:prstGeom prst="rect">
            <a:avLst/>
          </a:prstGeom>
          <a:noFill/>
        </p:spPr>
        <p:txBody>
          <a:bodyPr wrap="square" rtlCol="0">
            <a:spAutoFit/>
          </a:bodyPr>
          <a:lstStyle>
            <a:defPPr>
              <a:defRPr lang="zh-CN"/>
            </a:defPPr>
            <a:lvl1pPr algn="ctr">
              <a:defRPr sz="1400"/>
            </a:lvl1pPr>
          </a:lstStyle>
          <a:p>
            <a:r>
              <a:rPr lang="zh-CN" altLang="en-US" dirty="0"/>
              <a:t>计算机 </a:t>
            </a:r>
            <a:r>
              <a:rPr lang="en-US" altLang="zh-CN" dirty="0"/>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2F22A0E-22B0-DC74-74DE-589257AB910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4" name="矩形 3"/>
          <p:cNvSpPr/>
          <p:nvPr/>
        </p:nvSpPr>
        <p:spPr>
          <a:xfrm>
            <a:off x="773103" y="3240000"/>
            <a:ext cx="7515497" cy="307777"/>
          </a:xfrm>
          <a:prstGeom prst="rect">
            <a:avLst/>
          </a:prstGeom>
          <a:noFill/>
        </p:spPr>
        <p:txBody>
          <a:bodyPr wrap="square" rtlCol="0">
            <a:spAutoFit/>
          </a:bodyPr>
          <a:lstStyle/>
          <a:p>
            <a:pPr algn="ctr"/>
            <a:r>
              <a:rPr lang="zh-CN" altLang="en-US" sz="1400" dirty="0">
                <a:solidFill>
                  <a:srgbClr val="D4237A"/>
                </a:solidFill>
                <a:ea typeface="+mj-ea"/>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03EA107-D69E-352B-3382-105E67550304}"/>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zh-CN" altLang="en-US" dirty="0"/>
              <a:t>国际标准化组织 </a:t>
            </a:r>
            <a:r>
              <a:rPr lang="en-US" altLang="zh-CN" dirty="0"/>
              <a:t>ISO </a:t>
            </a:r>
            <a:r>
              <a:rPr lang="zh-CN" altLang="en-US" dirty="0"/>
              <a:t>提出 </a:t>
            </a:r>
            <a:r>
              <a:rPr lang="en-US" altLang="zh-CN" dirty="0"/>
              <a:t>OSI/RM</a:t>
            </a:r>
          </a:p>
          <a:p>
            <a:r>
              <a:rPr lang="en-US" altLang="zh-CN" dirty="0"/>
              <a:t>Open Systems Interconnection Reference Model</a:t>
            </a:r>
          </a:p>
          <a:p>
            <a:r>
              <a:rPr lang="zh-CN" altLang="en-US" dirty="0"/>
              <a:t>使各种计算机在世界范围内互连成网的标准框架</a:t>
            </a:r>
            <a:endParaRPr lang="en-US" altLang="zh-CN" dirty="0"/>
          </a:p>
          <a:p>
            <a:r>
              <a:rPr lang="en-US" altLang="zh-CN" dirty="0"/>
              <a:t>OSI/RM </a:t>
            </a:r>
            <a:r>
              <a:rPr lang="zh-CN" altLang="en-US" dirty="0"/>
              <a:t>是个</a:t>
            </a:r>
            <a:r>
              <a:rPr lang="zh-CN" altLang="en-US" dirty="0">
                <a:solidFill>
                  <a:srgbClr val="D4237A"/>
                </a:solidFill>
              </a:rPr>
              <a:t>抽象</a:t>
            </a:r>
            <a:r>
              <a:rPr lang="zh-CN" altLang="en-US" dirty="0"/>
              <a:t>概念</a:t>
            </a:r>
            <a:endParaRPr lang="en-US" altLang="zh-CN" dirty="0"/>
          </a:p>
          <a:p>
            <a:r>
              <a:rPr lang="en-US" altLang="zh-CN" dirty="0"/>
              <a:t>OSI /RM </a:t>
            </a:r>
            <a:r>
              <a:rPr lang="zh-CN" altLang="en-US" dirty="0"/>
              <a:t>试图达到一种</a:t>
            </a:r>
            <a:r>
              <a:rPr lang="zh-CN" altLang="en-US" dirty="0">
                <a:solidFill>
                  <a:srgbClr val="D4237A"/>
                </a:solidFill>
              </a:rPr>
              <a:t>理想</a:t>
            </a:r>
            <a:r>
              <a:rPr lang="zh-CN" altLang="en-US" dirty="0"/>
              <a:t>境界：全球计算机网络</a:t>
            </a:r>
            <a:r>
              <a:rPr lang="zh-CN" altLang="en-US" dirty="0">
                <a:solidFill>
                  <a:srgbClr val="D4237A"/>
                </a:solidFill>
              </a:rPr>
              <a:t>都</a:t>
            </a:r>
            <a:r>
              <a:rPr lang="zh-CN" altLang="en-US" dirty="0"/>
              <a:t>遵循这个统一标准，因而全球的计算机将能够很方便地进行互连和交换数据</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A4FCAC-DEE0-26E5-4C93-CB5A0CA931D6}"/>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a:t>
            </a:r>
            <a:endParaRPr lang="en-US" altLang="zh-CN" dirty="0"/>
          </a:p>
          <a:p>
            <a:r>
              <a:rPr lang="zh-CN" altLang="en-US" dirty="0"/>
              <a:t>基于 </a:t>
            </a:r>
            <a:r>
              <a:rPr lang="en-US" altLang="zh-CN" dirty="0"/>
              <a:t>TCP/IP </a:t>
            </a:r>
            <a:r>
              <a:rPr lang="zh-CN" altLang="en-US" dirty="0"/>
              <a:t>的互联网已抢先在全球相当大的范围成功地运行了</a:t>
            </a:r>
          </a:p>
        </p:txBody>
      </p:sp>
      <p:sp>
        <p:nvSpPr>
          <p:cNvPr id="8" name="文本框 7">
            <a:extLst>
              <a:ext uri="{FF2B5EF4-FFF2-40B4-BE49-F238E27FC236}">
                <a16:creationId xmlns:a16="http://schemas.microsoft.com/office/drawing/2014/main" id="{FE3B9A1F-4DA0-B41B-FDB3-1A8BD16B7AF5}"/>
              </a:ext>
            </a:extLst>
          </p:cNvPr>
          <p:cNvSpPr txBox="1"/>
          <p:nvPr/>
        </p:nvSpPr>
        <p:spPr>
          <a:xfrm>
            <a:off x="3727859" y="3240000"/>
            <a:ext cx="1688283"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但 </a:t>
            </a:r>
            <a:r>
              <a:rPr lang="en-US" altLang="zh-CN" dirty="0"/>
              <a:t>ISO/OSI </a:t>
            </a:r>
            <a:r>
              <a:rPr lang="zh-CN" altLang="en-US" dirty="0"/>
              <a:t>失败了</a:t>
            </a:r>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3299922951"/>
              </p:ext>
            </p:extLst>
          </p:nvPr>
        </p:nvGraphicFramePr>
        <p:xfrm>
          <a:off x="2090058"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990D91D5-DC9B-944A-3E94-38CEEFCBFB74}"/>
              </a:ext>
            </a:extLst>
          </p:cNvPr>
          <p:cNvSpPr>
            <a:spLocks noGrp="1"/>
          </p:cNvSpPr>
          <p:nvPr>
            <p:ph type="title"/>
          </p:nvPr>
        </p:nvSpPr>
        <p:spPr>
          <a:xfrm>
            <a:off x="612000" y="144000"/>
            <a:ext cx="7920000" cy="341632"/>
          </a:xfrm>
        </p:spPr>
        <p:txBody>
          <a:bodyPr/>
          <a:lstStyle/>
          <a:p>
            <a:r>
              <a:rPr lang="zh-CN" altLang="en-US" dirty="0"/>
              <a:t>两种国际标准 </a:t>
            </a:r>
            <a:r>
              <a:rPr lang="en-US" altLang="zh-CN" dirty="0"/>
              <a:t>Standards</a:t>
            </a:r>
            <a:endParaRPr lang="zh-CN" altLang="en-US" dirty="0"/>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7EFB65-D368-4EC2-CA0C-95F53810E811}"/>
              </a:ext>
            </a:extLst>
          </p:cNvPr>
          <p:cNvSpPr>
            <a:spLocks noGrp="1"/>
          </p:cNvSpPr>
          <p:nvPr>
            <p:ph type="title"/>
          </p:nvPr>
        </p:nvSpPr>
        <p:spPr>
          <a:xfrm>
            <a:off x="612000" y="144000"/>
            <a:ext cx="7920000" cy="341632"/>
          </a:xfrm>
        </p:spPr>
        <p:txBody>
          <a:bodyPr/>
          <a:lstStyle/>
          <a:p>
            <a:r>
              <a:rPr lang="en-US" altLang="zh-CN" dirty="0"/>
              <a:t>1.7.2  </a:t>
            </a:r>
            <a:r>
              <a:rPr lang="zh-CN" altLang="zh-CN" dirty="0"/>
              <a:t>协议与划分层次</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zh-CN" dirty="0"/>
              <a:t>网络协议是计算机网络的不可缺少的组成部分</a:t>
            </a:r>
            <a:endParaRPr lang="zh-CN" altLang="en-US" dirty="0"/>
          </a:p>
          <a:p>
            <a:r>
              <a:rPr lang="zh-CN" altLang="en-US" dirty="0"/>
              <a:t>三个组成要素：</a:t>
            </a:r>
            <a:endParaRPr lang="en-US" altLang="zh-CN" dirty="0"/>
          </a:p>
          <a:p>
            <a:pPr lvl="1"/>
            <a:r>
              <a:rPr lang="zh-CN" altLang="en-US" dirty="0"/>
              <a:t>语法：数据与控制信息的结构或格式</a:t>
            </a:r>
          </a:p>
          <a:p>
            <a:pPr lvl="1"/>
            <a:r>
              <a:rPr lang="zh-CN" altLang="en-US" dirty="0"/>
              <a:t>语义：需要发出何种控制信息，完成何种动作以及做出何种响应</a:t>
            </a:r>
          </a:p>
          <a:p>
            <a:pPr lvl="1"/>
            <a:r>
              <a:rPr lang="zh-CN" altLang="en-US" dirty="0"/>
              <a:t>同步：事件实现顺序的详细说明</a:t>
            </a:r>
          </a:p>
          <a:p>
            <a:endParaRPr lang="zh-CN" altLang="en-US" dirty="0"/>
          </a:p>
        </p:txBody>
      </p:sp>
      <p:grpSp>
        <p:nvGrpSpPr>
          <p:cNvPr id="55" name="组合 54"/>
          <p:cNvGrpSpPr/>
          <p:nvPr/>
        </p:nvGrpSpPr>
        <p:grpSpPr>
          <a:xfrm>
            <a:off x="6599456" y="1667602"/>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0" hangingPunct="0"/>
              <a:r>
                <a:rPr lang="en-US" altLang="zh-CN" sz="1000" dirty="0">
                  <a:latin typeface="+mn-lt"/>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&lt; plan.pdf &gt;</a:t>
              </a:r>
            </a:p>
          </p:txBody>
        </p:sp>
      </p:grpSp>
      <p:sp>
        <p:nvSpPr>
          <p:cNvPr id="57" name="矩形 5"/>
          <p:cNvSpPr>
            <a:spLocks noChangeArrowheads="1"/>
          </p:cNvSpPr>
          <p:nvPr/>
        </p:nvSpPr>
        <p:spPr bwMode="auto">
          <a:xfrm>
            <a:off x="813763" y="4061631"/>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8">
            <a:extLst>
              <a:ext uri="{FF2B5EF4-FFF2-40B4-BE49-F238E27FC236}">
                <a16:creationId xmlns:a16="http://schemas.microsoft.com/office/drawing/2014/main" id="{8B7DAAEA-C5FD-E215-4309-1D4E6F7C090D}"/>
              </a:ext>
            </a:extLst>
          </p:cNvPr>
          <p:cNvSpPr>
            <a:spLocks noGrp="1"/>
          </p:cNvSpPr>
          <p:nvPr>
            <p:ph type="title"/>
          </p:nvPr>
        </p:nvSpPr>
        <p:spPr>
          <a:xfrm>
            <a:off x="612000" y="144000"/>
            <a:ext cx="7920000" cy="341632"/>
          </a:xfrm>
        </p:spPr>
        <p:txBody>
          <a:bodyPr/>
          <a:lstStyle/>
          <a:p>
            <a:r>
              <a:rPr lang="en-US" altLang="zh-CN"/>
              <a:t>1.7.2  </a:t>
            </a:r>
            <a:r>
              <a:rPr lang="zh-CN" altLang="zh-CN"/>
              <a:t>协议与划分层次</a:t>
            </a:r>
            <a:endParaRPr lang="zh-CN" altLang="en-US" dirty="0"/>
          </a:p>
        </p:txBody>
      </p:sp>
      <p:sp>
        <p:nvSpPr>
          <p:cNvPr id="14" name="内容占位符 13">
            <a:extLst>
              <a:ext uri="{FF2B5EF4-FFF2-40B4-BE49-F238E27FC236}">
                <a16:creationId xmlns:a16="http://schemas.microsoft.com/office/drawing/2014/main" id="{F2EE8733-4D19-FCC5-B3DA-53289BDDE473}"/>
              </a:ext>
            </a:extLst>
          </p:cNvPr>
          <p:cNvSpPr>
            <a:spLocks noGrp="1"/>
          </p:cNvSpPr>
          <p:nvPr>
            <p:ph sz="quarter" idx="10"/>
          </p:nvPr>
        </p:nvSpPr>
        <p:spPr>
          <a:xfrm>
            <a:off x="612000" y="899999"/>
            <a:ext cx="7920000" cy="3780000"/>
          </a:xfrm>
        </p:spPr>
        <p:txBody>
          <a:bodyPr/>
          <a:lstStyle/>
          <a:p>
            <a:r>
              <a:rPr lang="zh-CN" altLang="zh-CN" dirty="0"/>
              <a:t>协议</a:t>
            </a:r>
            <a:r>
              <a:rPr lang="zh-CN" altLang="en-US" dirty="0"/>
              <a:t>的两种形式 </a:t>
            </a:r>
            <a:r>
              <a:rPr lang="en-US" altLang="zh-CN" dirty="0"/>
              <a:t>Format</a:t>
            </a:r>
          </a:p>
          <a:p>
            <a:pPr lvl="1"/>
            <a:r>
              <a:rPr lang="zh-CN" altLang="en-US" dirty="0"/>
              <a:t>文字描述：便于人来阅读和理解</a:t>
            </a:r>
          </a:p>
          <a:p>
            <a:pPr lvl="1"/>
            <a:r>
              <a:rPr lang="zh-CN" altLang="en-US" dirty="0"/>
              <a:t>程序代码：让计算机能够理解</a:t>
            </a:r>
          </a:p>
          <a:p>
            <a:pPr lvl="1"/>
            <a:r>
              <a:rPr lang="zh-CN" altLang="en-US" dirty="0"/>
              <a:t>不论什么形式，都必须能够对网络上信息交换过程做出精确的解释</a:t>
            </a:r>
          </a:p>
          <a:p>
            <a:r>
              <a:rPr lang="zh-CN" altLang="en-US" dirty="0"/>
              <a:t>协议的层次式结构 </a:t>
            </a:r>
            <a:r>
              <a:rPr lang="en-US" altLang="zh-CN" dirty="0"/>
              <a:t>Hierarchy</a:t>
            </a:r>
          </a:p>
          <a:p>
            <a:pPr lvl="1"/>
            <a:r>
              <a:rPr lang="en-US" altLang="zh-CN" dirty="0"/>
              <a:t>ARPANET </a:t>
            </a:r>
            <a:r>
              <a:rPr lang="zh-CN" altLang="en-US" dirty="0"/>
              <a:t>的研制经验表明：对于非常复杂的计算机网络协议，其结构应该是层次式的</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1. </a:t>
            </a:r>
            <a:r>
              <a:rPr lang="zh-CN" altLang="en-US" sz="1600" dirty="0"/>
              <a:t>将文件传送模块作为最高的一层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2A158FB-579E-155C-5D45-86FDD2BE5C8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Rectangle 16">
            <a:extLst>
              <a:ext uri="{FF2B5EF4-FFF2-40B4-BE49-F238E27FC236}">
                <a16:creationId xmlns:a16="http://schemas.microsoft.com/office/drawing/2014/main" id="{40DE9653-EBE7-3AA7-31F1-E9AB7EC419F2}"/>
              </a:ext>
            </a:extLst>
          </p:cNvPr>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 name="Text Box 10">
            <a:extLst>
              <a:ext uri="{FF2B5EF4-FFF2-40B4-BE49-F238E27FC236}">
                <a16:creationId xmlns:a16="http://schemas.microsoft.com/office/drawing/2014/main" id="{60F4FA1E-0991-14E1-1239-3C979FDD50D1}"/>
              </a:ext>
            </a:extLst>
          </p:cNvPr>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9" name="Text Box 9">
            <a:extLst>
              <a:ext uri="{FF2B5EF4-FFF2-40B4-BE49-F238E27FC236}">
                <a16:creationId xmlns:a16="http://schemas.microsoft.com/office/drawing/2014/main" id="{6B71ED3B-1117-434B-D863-B771A51956AD}"/>
              </a:ext>
            </a:extLst>
          </p:cNvPr>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2. </a:t>
            </a:r>
            <a:r>
              <a:rPr lang="zh-CN" altLang="en-US" sz="1600" dirty="0"/>
              <a:t>再设计一个通信服务模块层</a:t>
            </a: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9" name="标题 8">
            <a:extLst>
              <a:ext uri="{FF2B5EF4-FFF2-40B4-BE49-F238E27FC236}">
                <a16:creationId xmlns:a16="http://schemas.microsoft.com/office/drawing/2014/main" id="{A6035D62-4F74-36E0-CD09-C4B14A894A3A}"/>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Line 11">
            <a:extLst>
              <a:ext uri="{FF2B5EF4-FFF2-40B4-BE49-F238E27FC236}">
                <a16:creationId xmlns:a16="http://schemas.microsoft.com/office/drawing/2014/main" id="{22392352-0076-B3E6-E53F-9ABE08D2C8A6}"/>
              </a:ext>
            </a:extLst>
          </p:cNvPr>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4" grpId="0"/>
      <p:bldP spid="25"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dirty="0">
                <a:latin typeface="+mj-lt"/>
                <a:ea typeface="+mj-ea"/>
              </a:rPr>
              <a:t>主机 </a:t>
            </a:r>
            <a:r>
              <a:rPr lang="en-US" altLang="zh-CN" sz="1400" dirty="0">
                <a:latin typeface="+mj-lt"/>
                <a:ea typeface="+mj-ea"/>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a:latin typeface="+mj-lt"/>
                <a:ea typeface="+mj-ea"/>
              </a:rPr>
              <a:t>主机 </a:t>
            </a:r>
            <a:r>
              <a:rPr lang="en-US" altLang="zh-CN" sz="1400">
                <a:latin typeface="+mj-lt"/>
                <a:ea typeface="+mj-ea"/>
              </a:rPr>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3. </a:t>
            </a:r>
            <a:r>
              <a:rPr lang="zh-CN" altLang="en-US" sz="1600" dirty="0"/>
              <a:t>再设计一个网络接入模块层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4" name="Text Box 5"/>
          <p:cNvSpPr txBox="1">
            <a:spLocks noChangeArrowheads="1"/>
          </p:cNvSpPr>
          <p:nvPr/>
        </p:nvSpPr>
        <p:spPr bwMode="auto">
          <a:xfrm>
            <a:off x="1825589"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网络接入模块</a:t>
            </a:r>
          </a:p>
        </p:txBody>
      </p:sp>
      <p:sp>
        <p:nvSpPr>
          <p:cNvPr id="35" name="Text Box 10"/>
          <p:cNvSpPr txBox="1">
            <a:spLocks noChangeArrowheads="1"/>
          </p:cNvSpPr>
          <p:nvPr/>
        </p:nvSpPr>
        <p:spPr bwMode="auto">
          <a:xfrm>
            <a:off x="6108494"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rgbClr val="F2F2F2"/>
          </a:solidFill>
        </p:grpSpPr>
        <p:sp>
          <p:nvSpPr>
            <p:cNvPr id="45" name="Oval 7"/>
            <p:cNvSpPr>
              <a:spLocks noChangeArrowheads="1"/>
            </p:cNvSpPr>
            <p:nvPr/>
          </p:nvSpPr>
          <p:spPr bwMode="auto">
            <a:xfrm>
              <a:off x="2554" y="240"/>
              <a:ext cx="1088"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通信网络</a:t>
            </a:r>
          </a:p>
        </p:txBody>
      </p:sp>
      <p:sp>
        <p:nvSpPr>
          <p:cNvPr id="54" name="矩形 53"/>
          <p:cNvSpPr/>
          <p:nvPr/>
        </p:nvSpPr>
        <p:spPr>
          <a:xfrm>
            <a:off x="1256271" y="4384118"/>
            <a:ext cx="6631459" cy="307777"/>
          </a:xfrm>
          <a:prstGeom prst="rect">
            <a:avLst/>
          </a:prstGeom>
        </p:spPr>
        <p:txBody>
          <a:bodyPr wrap="square">
            <a:spAutoFit/>
          </a:bodyPr>
          <a:lstStyle/>
          <a:p>
            <a:pPr lvl="0" algn="ctr"/>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3" name="标题 2">
            <a:extLst>
              <a:ext uri="{FF2B5EF4-FFF2-40B4-BE49-F238E27FC236}">
                <a16:creationId xmlns:a16="http://schemas.microsoft.com/office/drawing/2014/main" id="{251FED40-C153-6E5A-A079-3AB62554273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FBEEE69-6994-202F-74BA-4A443F587CA6}"/>
              </a:ext>
            </a:extLst>
          </p:cNvPr>
          <p:cNvSpPr>
            <a:spLocks noGrp="1"/>
          </p:cNvSpPr>
          <p:nvPr>
            <p:ph type="title"/>
          </p:nvPr>
        </p:nvSpPr>
        <p:spPr>
          <a:xfrm>
            <a:off x="612000" y="144000"/>
            <a:ext cx="7920000" cy="341632"/>
          </a:xfrm>
        </p:spPr>
        <p:txBody>
          <a:bodyPr/>
          <a:lstStyle/>
          <a:p>
            <a:r>
              <a:rPr lang="zh-CN" altLang="en-US" dirty="0"/>
              <a:t>分层的优点与缺点 </a:t>
            </a:r>
            <a:r>
              <a:rPr lang="en-US" altLang="zh-CN" dirty="0"/>
              <a:t>Features</a:t>
            </a:r>
            <a:endParaRPr lang="zh-CN" altLang="en-US" dirty="0"/>
          </a:p>
        </p:txBody>
      </p:sp>
      <p:sp>
        <p:nvSpPr>
          <p:cNvPr id="2" name="内容占位符 1">
            <a:extLst>
              <a:ext uri="{FF2B5EF4-FFF2-40B4-BE49-F238E27FC236}">
                <a16:creationId xmlns:a16="http://schemas.microsoft.com/office/drawing/2014/main" id="{12CB8B0A-F536-8AFF-3051-2CB270A2D968}"/>
              </a:ext>
            </a:extLst>
          </p:cNvPr>
          <p:cNvSpPr>
            <a:spLocks noGrp="1"/>
          </p:cNvSpPr>
          <p:nvPr>
            <p:ph sz="quarter" idx="10"/>
          </p:nvPr>
        </p:nvSpPr>
        <p:spPr>
          <a:xfrm>
            <a:off x="612000" y="899999"/>
            <a:ext cx="7920000" cy="3780000"/>
          </a:xfrm>
        </p:spPr>
        <p:txBody>
          <a:bodyPr>
            <a:normAutofit/>
          </a:bodyPr>
          <a:lstStyle/>
          <a:p>
            <a:pPr lvl="0"/>
            <a:r>
              <a:rPr lang="zh-CN" altLang="en-US" dirty="0"/>
              <a:t>优点</a:t>
            </a:r>
            <a:endParaRPr lang="en-US" altLang="zh-CN" dirty="0"/>
          </a:p>
          <a:p>
            <a:pPr lvl="1"/>
            <a:r>
              <a:rPr lang="zh-CN" altLang="en-US" dirty="0"/>
              <a:t>各层之间是独立的</a:t>
            </a:r>
          </a:p>
          <a:p>
            <a:pPr lvl="1"/>
            <a:r>
              <a:rPr lang="zh-CN" altLang="en-US" dirty="0"/>
              <a:t>灵活性好</a:t>
            </a:r>
          </a:p>
          <a:p>
            <a:pPr lvl="1"/>
            <a:r>
              <a:rPr lang="zh-CN" altLang="en-US" dirty="0"/>
              <a:t>结构上可分割开</a:t>
            </a:r>
          </a:p>
          <a:p>
            <a:pPr lvl="1"/>
            <a:r>
              <a:rPr lang="zh-CN" altLang="en-US" dirty="0"/>
              <a:t>易于实现和维护</a:t>
            </a:r>
          </a:p>
          <a:p>
            <a:pPr lvl="1"/>
            <a:r>
              <a:rPr lang="zh-CN" altLang="en-US" dirty="0"/>
              <a:t>能促进标准化工作</a:t>
            </a:r>
            <a:endParaRPr lang="en-US" altLang="zh-CN" dirty="0"/>
          </a:p>
          <a:p>
            <a:pPr lvl="0"/>
            <a:r>
              <a:rPr lang="zh-CN" altLang="en-US" dirty="0"/>
              <a:t>缺点</a:t>
            </a:r>
            <a:endParaRPr lang="en-US" altLang="zh-CN" dirty="0"/>
          </a:p>
          <a:p>
            <a:pPr lvl="1"/>
            <a:r>
              <a:rPr lang="zh-CN" altLang="en-US" dirty="0"/>
              <a:t>有些功能会重复出现，因而产生了额外开销</a:t>
            </a:r>
          </a:p>
          <a:p>
            <a:r>
              <a:rPr lang="zh-CN" altLang="en-US" dirty="0"/>
              <a:t>注意</a:t>
            </a:r>
            <a:endParaRPr lang="en-US" altLang="zh-CN" dirty="0"/>
          </a:p>
          <a:p>
            <a:pPr lvl="1"/>
            <a:r>
              <a:rPr lang="zh-CN" altLang="en-US" dirty="0"/>
              <a:t>每一层的功能应非常明确</a:t>
            </a:r>
            <a:endParaRPr lang="en-US" altLang="zh-CN" dirty="0"/>
          </a:p>
          <a:p>
            <a:pPr lvl="1"/>
            <a:r>
              <a:rPr lang="zh-CN" altLang="en-US" dirty="0"/>
              <a:t>层数太少，就会使每一层的协议太复杂</a:t>
            </a:r>
            <a:endParaRPr lang="en-US" altLang="zh-CN" dirty="0"/>
          </a:p>
          <a:p>
            <a:pPr lvl="1"/>
            <a:r>
              <a:rPr lang="zh-CN" altLang="en-US" dirty="0"/>
              <a:t>层数太多，又会在描述和综合各层功能的系统工程任务时遇到较多的困难</a:t>
            </a:r>
          </a:p>
        </p:txBody>
      </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B3ED287-17CE-9780-672E-71B44F34158E}"/>
              </a:ext>
            </a:extLst>
          </p:cNvPr>
          <p:cNvSpPr>
            <a:spLocks noGrp="1"/>
          </p:cNvSpPr>
          <p:nvPr>
            <p:ph type="title"/>
          </p:nvPr>
        </p:nvSpPr>
        <p:spPr>
          <a:xfrm>
            <a:off x="612000" y="144000"/>
            <a:ext cx="7920000" cy="341632"/>
          </a:xfrm>
        </p:spPr>
        <p:txBody>
          <a:bodyPr/>
          <a:lstStyle/>
          <a:p>
            <a:r>
              <a:rPr lang="zh-CN" altLang="zh-CN" dirty="0"/>
              <a:t>各层主要功能</a:t>
            </a:r>
            <a:r>
              <a:rPr lang="en-US" altLang="zh-CN" dirty="0"/>
              <a:t> Functions</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CE1DC42-80E2-653B-6861-A5B5F859FB41}"/>
              </a:ext>
            </a:extLst>
          </p:cNvPr>
          <p:cNvSpPr>
            <a:spLocks noGrp="1"/>
          </p:cNvSpPr>
          <p:nvPr>
            <p:ph type="title"/>
          </p:nvPr>
        </p:nvSpPr>
        <p:spPr>
          <a:xfrm>
            <a:off x="612000" y="144000"/>
            <a:ext cx="7920000" cy="341632"/>
          </a:xfrm>
        </p:spPr>
        <p:txBody>
          <a:bodyPr/>
          <a:lstStyle/>
          <a:p>
            <a:r>
              <a:rPr lang="zh-CN" altLang="en-US" dirty="0"/>
              <a:t>体系结构 </a:t>
            </a:r>
            <a:r>
              <a:rPr lang="en-US" altLang="zh-CN" dirty="0"/>
              <a:t>Architecture</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11" name="文本框 10">
            <a:extLst>
              <a:ext uri="{FF2B5EF4-FFF2-40B4-BE49-F238E27FC236}">
                <a16:creationId xmlns:a16="http://schemas.microsoft.com/office/drawing/2014/main" id="{9ADCFACD-4554-897C-BC80-D2A0B52D355B}"/>
              </a:ext>
            </a:extLst>
          </p:cNvPr>
          <p:cNvSpPr txBox="1"/>
          <p:nvPr/>
        </p:nvSpPr>
        <p:spPr>
          <a:xfrm>
            <a:off x="1427550" y="3240000"/>
            <a:ext cx="6288901"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体系结构是抽象的，而实现则是具体的，是真正在运行的计算机硬件和软件</a:t>
            </a:r>
          </a:p>
        </p:txBody>
      </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F648EC-0B6C-0EF3-EF72-C08FEE313716}"/>
              </a:ext>
            </a:extLst>
          </p:cNvPr>
          <p:cNvSpPr>
            <a:spLocks noGrp="1"/>
          </p:cNvSpPr>
          <p:nvPr>
            <p:ph type="title"/>
          </p:nvPr>
        </p:nvSpPr>
        <p:spPr>
          <a:xfrm>
            <a:off x="612000" y="144000"/>
            <a:ext cx="7920000" cy="341632"/>
          </a:xfrm>
        </p:spPr>
        <p:txBody>
          <a:bodyPr/>
          <a:lstStyle/>
          <a:p>
            <a:r>
              <a:rPr lang="en-US" altLang="zh-CN" dirty="0"/>
              <a:t>1.7.3  </a:t>
            </a:r>
            <a:r>
              <a:rPr lang="zh-CN" altLang="en-US" dirty="0"/>
              <a:t>具有五层协议的体系结构</a:t>
            </a:r>
          </a:p>
        </p:txBody>
      </p:sp>
      <p:sp>
        <p:nvSpPr>
          <p:cNvPr id="22" name="Text Box 13"/>
          <p:cNvSpPr txBox="1">
            <a:spLocks noChangeArrowheads="1"/>
          </p:cNvSpPr>
          <p:nvPr/>
        </p:nvSpPr>
        <p:spPr bwMode="auto">
          <a:xfrm>
            <a:off x="1156623" y="1279024"/>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85D1F7"/>
                </a:solidFill>
                <a:latin typeface="+mj-lt"/>
                <a:ea typeface="+mj-ea"/>
              </a:rPr>
              <a:t>OSI </a:t>
            </a:r>
            <a:r>
              <a:rPr kumimoji="1" lang="zh-CN" altLang="en-US" sz="1400" b="1" dirty="0">
                <a:solidFill>
                  <a:srgbClr val="85D1F7"/>
                </a:solidFill>
                <a:latin typeface="+mj-lt"/>
                <a:ea typeface="+mj-ea"/>
              </a:rPr>
              <a:t>的七层协议体系结构</a:t>
            </a:r>
          </a:p>
        </p:txBody>
      </p:sp>
      <p:sp>
        <p:nvSpPr>
          <p:cNvPr id="32" name="Text Box 12"/>
          <p:cNvSpPr txBox="1">
            <a:spLocks noChangeArrowheads="1"/>
          </p:cNvSpPr>
          <p:nvPr/>
        </p:nvSpPr>
        <p:spPr bwMode="auto">
          <a:xfrm>
            <a:off x="3405104" y="1279024"/>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7CE07C"/>
                </a:solidFill>
                <a:latin typeface="+mj-lt"/>
                <a:ea typeface="+mj-ea"/>
              </a:rPr>
              <a:t>TCP/IP </a:t>
            </a:r>
            <a:r>
              <a:rPr kumimoji="1" lang="zh-CN" altLang="en-US" sz="1400" b="1" dirty="0">
                <a:solidFill>
                  <a:srgbClr val="7CE07C"/>
                </a:solidFill>
                <a:latin typeface="+mj-lt"/>
                <a:ea typeface="+mj-ea"/>
              </a:rPr>
              <a:t>的四层协议体系结构</a:t>
            </a:r>
          </a:p>
        </p:txBody>
      </p:sp>
      <p:sp>
        <p:nvSpPr>
          <p:cNvPr id="33" name="Text Box 95"/>
          <p:cNvSpPr txBox="1">
            <a:spLocks noChangeArrowheads="1"/>
          </p:cNvSpPr>
          <p:nvPr/>
        </p:nvSpPr>
        <p:spPr bwMode="auto">
          <a:xfrm>
            <a:off x="2054305" y="4382588"/>
            <a:ext cx="3738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(a)</a:t>
            </a:r>
          </a:p>
        </p:txBody>
      </p:sp>
      <p:sp>
        <p:nvSpPr>
          <p:cNvPr id="34" name="Text Box 96"/>
          <p:cNvSpPr txBox="1">
            <a:spLocks noChangeArrowheads="1"/>
          </p:cNvSpPr>
          <p:nvPr/>
        </p:nvSpPr>
        <p:spPr bwMode="auto">
          <a:xfrm>
            <a:off x="4442760" y="438258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(b)</a:t>
            </a:r>
          </a:p>
        </p:txBody>
      </p:sp>
      <p:sp>
        <p:nvSpPr>
          <p:cNvPr id="35" name="Text Box 97"/>
          <p:cNvSpPr txBox="1">
            <a:spLocks noChangeArrowheads="1"/>
          </p:cNvSpPr>
          <p:nvPr/>
        </p:nvSpPr>
        <p:spPr bwMode="auto">
          <a:xfrm>
            <a:off x="6661963" y="4390609"/>
            <a:ext cx="3690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mj-lt"/>
                <a:ea typeface="+mj-ea"/>
              </a:rPr>
              <a:t>(c)</a:t>
            </a:r>
          </a:p>
        </p:txBody>
      </p:sp>
      <p:sp>
        <p:nvSpPr>
          <p:cNvPr id="47" name="Text Box 113"/>
          <p:cNvSpPr txBox="1">
            <a:spLocks noChangeArrowheads="1"/>
          </p:cNvSpPr>
          <p:nvPr/>
        </p:nvSpPr>
        <p:spPr bwMode="auto">
          <a:xfrm>
            <a:off x="5946357" y="1278925"/>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400" b="1" dirty="0">
                <a:solidFill>
                  <a:srgbClr val="C00000"/>
                </a:solidFill>
                <a:latin typeface="+mj-lt"/>
                <a:ea typeface="+mj-ea"/>
              </a:rPr>
              <a:t>五层协议的体系结构</a:t>
            </a:r>
          </a:p>
        </p:txBody>
      </p:sp>
      <p:grpSp>
        <p:nvGrpSpPr>
          <p:cNvPr id="58" name="组合 57">
            <a:extLst>
              <a:ext uri="{FF2B5EF4-FFF2-40B4-BE49-F238E27FC236}">
                <a16:creationId xmlns:a16="http://schemas.microsoft.com/office/drawing/2014/main" id="{BC86FE06-9646-EAF4-9B36-BA9B16F9073B}"/>
              </a:ext>
            </a:extLst>
          </p:cNvPr>
          <p:cNvGrpSpPr/>
          <p:nvPr/>
        </p:nvGrpSpPr>
        <p:grpSpPr>
          <a:xfrm>
            <a:off x="6126469" y="2581202"/>
            <a:ext cx="1440000" cy="1728000"/>
            <a:chOff x="6301911" y="2124000"/>
            <a:chExt cx="1440000" cy="1728000"/>
          </a:xfrm>
        </p:grpSpPr>
        <p:sp>
          <p:nvSpPr>
            <p:cNvPr id="49" name="立方体 48">
              <a:extLst>
                <a:ext uri="{FF2B5EF4-FFF2-40B4-BE49-F238E27FC236}">
                  <a16:creationId xmlns:a16="http://schemas.microsoft.com/office/drawing/2014/main" id="{59DC3CC2-62B6-5FAA-A431-4390F2D5881B}"/>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bg1"/>
                  </a:solidFill>
                </a:rPr>
                <a:t>1 </a:t>
              </a:r>
              <a:r>
                <a:rPr lang="zh-CN" altLang="en-US" sz="800" dirty="0">
                  <a:solidFill>
                    <a:schemeClr val="bg1"/>
                  </a:solidFill>
                </a:rPr>
                <a:t>物理层</a:t>
              </a:r>
            </a:p>
          </p:txBody>
        </p:sp>
        <p:sp>
          <p:nvSpPr>
            <p:cNvPr id="50" name="立方体 49">
              <a:extLst>
                <a:ext uri="{FF2B5EF4-FFF2-40B4-BE49-F238E27FC236}">
                  <a16:creationId xmlns:a16="http://schemas.microsoft.com/office/drawing/2014/main" id="{87A99BB4-DE79-1BFE-58CF-994D9DE1B91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bg1"/>
                  </a:solidFill>
                </a:rPr>
                <a:t>2 </a:t>
              </a:r>
              <a:r>
                <a:rPr lang="zh-CN" altLang="en-US" sz="800" dirty="0">
                  <a:solidFill>
                    <a:schemeClr val="bg1"/>
                  </a:solidFill>
                </a:rPr>
                <a:t>数据链路层</a:t>
              </a:r>
            </a:p>
          </p:txBody>
        </p:sp>
        <p:sp>
          <p:nvSpPr>
            <p:cNvPr id="55" name="立方体 54">
              <a:extLst>
                <a:ext uri="{FF2B5EF4-FFF2-40B4-BE49-F238E27FC236}">
                  <a16:creationId xmlns:a16="http://schemas.microsoft.com/office/drawing/2014/main" id="{C92BBDDF-7C00-F7A7-0440-DCFDF1B6612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bg1"/>
                  </a:solidFill>
                </a:rPr>
                <a:t>3 </a:t>
              </a:r>
              <a:r>
                <a:rPr lang="zh-CN" altLang="en-US" sz="800" dirty="0">
                  <a:solidFill>
                    <a:schemeClr val="bg1"/>
                  </a:solidFill>
                </a:rPr>
                <a:t>网络层</a:t>
              </a:r>
            </a:p>
          </p:txBody>
        </p:sp>
        <p:sp>
          <p:nvSpPr>
            <p:cNvPr id="56" name="立方体 55">
              <a:extLst>
                <a:ext uri="{FF2B5EF4-FFF2-40B4-BE49-F238E27FC236}">
                  <a16:creationId xmlns:a16="http://schemas.microsoft.com/office/drawing/2014/main" id="{594DEA9F-0002-315B-CA79-A3C8B765228D}"/>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bg1"/>
                  </a:solidFill>
                </a:rPr>
                <a:t>4 </a:t>
              </a:r>
              <a:r>
                <a:rPr lang="zh-CN" altLang="en-US" sz="800" dirty="0">
                  <a:solidFill>
                    <a:schemeClr val="bg1"/>
                  </a:solidFill>
                </a:rPr>
                <a:t>运输层</a:t>
              </a:r>
            </a:p>
          </p:txBody>
        </p:sp>
        <p:sp>
          <p:nvSpPr>
            <p:cNvPr id="57" name="立方体 56">
              <a:extLst>
                <a:ext uri="{FF2B5EF4-FFF2-40B4-BE49-F238E27FC236}">
                  <a16:creationId xmlns:a16="http://schemas.microsoft.com/office/drawing/2014/main" id="{BF6403B9-DA4D-104F-5F4E-BC410BF78047}"/>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bg1"/>
                  </a:solidFill>
                </a:rPr>
                <a:t>5 </a:t>
              </a:r>
              <a:r>
                <a:rPr lang="zh-CN" altLang="en-US" sz="800" dirty="0">
                  <a:solidFill>
                    <a:schemeClr val="bg1"/>
                  </a:solidFill>
                </a:rPr>
                <a:t>应用层</a:t>
              </a:r>
            </a:p>
          </p:txBody>
        </p:sp>
      </p:grpSp>
      <p:grpSp>
        <p:nvGrpSpPr>
          <p:cNvPr id="4" name="组合 3">
            <a:extLst>
              <a:ext uri="{FF2B5EF4-FFF2-40B4-BE49-F238E27FC236}">
                <a16:creationId xmlns:a16="http://schemas.microsoft.com/office/drawing/2014/main" id="{4DC91E14-B205-FC23-6E2B-D7C175F0F769}"/>
              </a:ext>
            </a:extLst>
          </p:cNvPr>
          <p:cNvGrpSpPr/>
          <p:nvPr/>
        </p:nvGrpSpPr>
        <p:grpSpPr>
          <a:xfrm>
            <a:off x="1521215" y="1933202"/>
            <a:ext cx="1440000" cy="2376000"/>
            <a:chOff x="1521215" y="1933202"/>
            <a:chExt cx="1440000" cy="2376000"/>
          </a:xfrm>
        </p:grpSpPr>
        <p:sp>
          <p:nvSpPr>
            <p:cNvPr id="60" name="立方体 59">
              <a:extLst>
                <a:ext uri="{FF2B5EF4-FFF2-40B4-BE49-F238E27FC236}">
                  <a16:creationId xmlns:a16="http://schemas.microsoft.com/office/drawing/2014/main" id="{7D5805BB-488C-0A77-D090-083D16027013}"/>
                </a:ext>
              </a:extLst>
            </p:cNvPr>
            <p:cNvSpPr/>
            <p:nvPr/>
          </p:nvSpPr>
          <p:spPr>
            <a:xfrm>
              <a:off x="1521215" y="3877202"/>
              <a:ext cx="1440000" cy="432000"/>
            </a:xfrm>
            <a:prstGeom prst="cube">
              <a:avLst/>
            </a:prstGeom>
            <a:solidFill>
              <a:srgbClr val="85D1F7"/>
            </a:solid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tx1"/>
                  </a:solidFill>
                </a:rPr>
                <a:t>1 </a:t>
              </a:r>
              <a:r>
                <a:rPr lang="zh-CN" altLang="en-US" sz="800" dirty="0">
                  <a:solidFill>
                    <a:schemeClr val="tx1"/>
                  </a:solidFill>
                </a:rPr>
                <a:t>物理层</a:t>
              </a:r>
            </a:p>
          </p:txBody>
        </p:sp>
        <p:sp>
          <p:nvSpPr>
            <p:cNvPr id="61" name="立方体 60">
              <a:extLst>
                <a:ext uri="{FF2B5EF4-FFF2-40B4-BE49-F238E27FC236}">
                  <a16:creationId xmlns:a16="http://schemas.microsoft.com/office/drawing/2014/main" id="{183DBE49-549A-503A-753D-A72CAF5AFC80}"/>
                </a:ext>
              </a:extLst>
            </p:cNvPr>
            <p:cNvSpPr/>
            <p:nvPr/>
          </p:nvSpPr>
          <p:spPr>
            <a:xfrm>
              <a:off x="1521215" y="3553202"/>
              <a:ext cx="1440000" cy="432000"/>
            </a:xfrm>
            <a:prstGeom prst="cube">
              <a:avLst/>
            </a:prstGeom>
            <a:solidFill>
              <a:srgbClr val="85D1F7"/>
            </a:solid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tx1"/>
                  </a:solidFill>
                </a:rPr>
                <a:t>2 </a:t>
              </a:r>
              <a:r>
                <a:rPr lang="zh-CN" altLang="en-US" sz="800" dirty="0">
                  <a:solidFill>
                    <a:schemeClr val="tx1"/>
                  </a:solidFill>
                </a:rPr>
                <a:t>数据链路层</a:t>
              </a:r>
            </a:p>
          </p:txBody>
        </p:sp>
        <p:sp>
          <p:nvSpPr>
            <p:cNvPr id="62" name="立方体 61">
              <a:extLst>
                <a:ext uri="{FF2B5EF4-FFF2-40B4-BE49-F238E27FC236}">
                  <a16:creationId xmlns:a16="http://schemas.microsoft.com/office/drawing/2014/main" id="{C9ADC102-4717-13C6-2AE7-1D8FB1794EA8}"/>
                </a:ext>
              </a:extLst>
            </p:cNvPr>
            <p:cNvSpPr/>
            <p:nvPr/>
          </p:nvSpPr>
          <p:spPr>
            <a:xfrm>
              <a:off x="1521215" y="3229202"/>
              <a:ext cx="1440000" cy="432000"/>
            </a:xfrm>
            <a:prstGeom prst="cube">
              <a:avLst/>
            </a:prstGeom>
            <a:solidFill>
              <a:srgbClr val="85D1F7"/>
            </a:solid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tx1"/>
                  </a:solidFill>
                </a:rPr>
                <a:t>3 </a:t>
              </a:r>
              <a:r>
                <a:rPr lang="zh-CN" altLang="en-US" sz="800" dirty="0">
                  <a:solidFill>
                    <a:schemeClr val="tx1"/>
                  </a:solidFill>
                </a:rPr>
                <a:t>网络层</a:t>
              </a:r>
            </a:p>
          </p:txBody>
        </p:sp>
        <p:sp>
          <p:nvSpPr>
            <p:cNvPr id="63" name="立方体 62">
              <a:extLst>
                <a:ext uri="{FF2B5EF4-FFF2-40B4-BE49-F238E27FC236}">
                  <a16:creationId xmlns:a16="http://schemas.microsoft.com/office/drawing/2014/main" id="{C2137125-7111-B58A-256C-ED4397BCAE4F}"/>
                </a:ext>
              </a:extLst>
            </p:cNvPr>
            <p:cNvSpPr/>
            <p:nvPr/>
          </p:nvSpPr>
          <p:spPr>
            <a:xfrm>
              <a:off x="1521215" y="2905202"/>
              <a:ext cx="1440000" cy="432000"/>
            </a:xfrm>
            <a:prstGeom prst="cube">
              <a:avLst/>
            </a:prstGeom>
            <a:solidFill>
              <a:srgbClr val="85D1F7"/>
            </a:solid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tx1"/>
                  </a:solidFill>
                </a:rPr>
                <a:t>4 </a:t>
              </a:r>
              <a:r>
                <a:rPr lang="zh-CN" altLang="en-US" sz="800" dirty="0">
                  <a:solidFill>
                    <a:schemeClr val="tx1"/>
                  </a:solidFill>
                </a:rPr>
                <a:t>运输层</a:t>
              </a:r>
            </a:p>
          </p:txBody>
        </p:sp>
        <p:sp>
          <p:nvSpPr>
            <p:cNvPr id="64" name="立方体 63">
              <a:extLst>
                <a:ext uri="{FF2B5EF4-FFF2-40B4-BE49-F238E27FC236}">
                  <a16:creationId xmlns:a16="http://schemas.microsoft.com/office/drawing/2014/main" id="{FFCFD61A-8C10-498E-9068-AFAD5D1741FA}"/>
                </a:ext>
              </a:extLst>
            </p:cNvPr>
            <p:cNvSpPr/>
            <p:nvPr/>
          </p:nvSpPr>
          <p:spPr>
            <a:xfrm>
              <a:off x="1521215" y="2581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5 </a:t>
              </a:r>
              <a:r>
                <a:rPr lang="zh-CN" altLang="en-US" sz="800" dirty="0">
                  <a:solidFill>
                    <a:schemeClr val="tx1"/>
                  </a:solidFill>
                </a:rPr>
                <a:t>会话层</a:t>
              </a:r>
            </a:p>
          </p:txBody>
        </p:sp>
        <p:sp>
          <p:nvSpPr>
            <p:cNvPr id="66" name="立方体 65">
              <a:extLst>
                <a:ext uri="{FF2B5EF4-FFF2-40B4-BE49-F238E27FC236}">
                  <a16:creationId xmlns:a16="http://schemas.microsoft.com/office/drawing/2014/main" id="{CA9A1BEB-272F-8ECC-8517-8652A8666D86}"/>
                </a:ext>
              </a:extLst>
            </p:cNvPr>
            <p:cNvSpPr/>
            <p:nvPr/>
          </p:nvSpPr>
          <p:spPr>
            <a:xfrm>
              <a:off x="1521215" y="2257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6 </a:t>
              </a:r>
              <a:r>
                <a:rPr lang="zh-CN" altLang="en-US" sz="800" dirty="0">
                  <a:solidFill>
                    <a:schemeClr val="tx1"/>
                  </a:solidFill>
                </a:rPr>
                <a:t>表示层</a:t>
              </a:r>
            </a:p>
          </p:txBody>
        </p:sp>
        <p:sp>
          <p:nvSpPr>
            <p:cNvPr id="68" name="立方体 67">
              <a:extLst>
                <a:ext uri="{FF2B5EF4-FFF2-40B4-BE49-F238E27FC236}">
                  <a16:creationId xmlns:a16="http://schemas.microsoft.com/office/drawing/2014/main" id="{A1900D56-89DE-40CA-0853-84C80F665505}"/>
                </a:ext>
              </a:extLst>
            </p:cNvPr>
            <p:cNvSpPr/>
            <p:nvPr/>
          </p:nvSpPr>
          <p:spPr>
            <a:xfrm>
              <a:off x="1521215" y="1933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7 </a:t>
              </a:r>
              <a:r>
                <a:rPr lang="zh-CN" altLang="en-US" sz="800" dirty="0">
                  <a:solidFill>
                    <a:schemeClr val="tx1"/>
                  </a:solidFill>
                </a:rPr>
                <a:t>应用层</a:t>
              </a:r>
            </a:p>
          </p:txBody>
        </p:sp>
      </p:grpSp>
      <p:grpSp>
        <p:nvGrpSpPr>
          <p:cNvPr id="69" name="组合 68">
            <a:extLst>
              <a:ext uri="{FF2B5EF4-FFF2-40B4-BE49-F238E27FC236}">
                <a16:creationId xmlns:a16="http://schemas.microsoft.com/office/drawing/2014/main" id="{6198445F-6922-7845-2B01-F74D7EF6973D}"/>
              </a:ext>
            </a:extLst>
          </p:cNvPr>
          <p:cNvGrpSpPr/>
          <p:nvPr/>
        </p:nvGrpSpPr>
        <p:grpSpPr>
          <a:xfrm>
            <a:off x="3916082" y="2905202"/>
            <a:ext cx="1440000" cy="1404000"/>
            <a:chOff x="6301911" y="2448000"/>
            <a:chExt cx="1440000" cy="1404000"/>
          </a:xfrm>
          <a:solidFill>
            <a:srgbClr val="7CE07C"/>
          </a:solidFill>
        </p:grpSpPr>
        <p:sp>
          <p:nvSpPr>
            <p:cNvPr id="70" name="立方体 69">
              <a:extLst>
                <a:ext uri="{FF2B5EF4-FFF2-40B4-BE49-F238E27FC236}">
                  <a16:creationId xmlns:a16="http://schemas.microsoft.com/office/drawing/2014/main" id="{30ECAEA8-08AC-FCFB-B1DB-9BD34875C41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ysClr val="windowText" lastClr="000000"/>
                  </a:solidFill>
                </a:rPr>
                <a:t>1 </a:t>
              </a:r>
              <a:r>
                <a:rPr lang="zh-CN" altLang="en-US" sz="800" dirty="0">
                  <a:solidFill>
                    <a:sysClr val="windowText" lastClr="000000"/>
                  </a:solidFill>
                </a:rPr>
                <a:t>网络接口层</a:t>
              </a:r>
            </a:p>
          </p:txBody>
        </p:sp>
        <p:sp>
          <p:nvSpPr>
            <p:cNvPr id="71" name="立方体 70">
              <a:extLst>
                <a:ext uri="{FF2B5EF4-FFF2-40B4-BE49-F238E27FC236}">
                  <a16:creationId xmlns:a16="http://schemas.microsoft.com/office/drawing/2014/main" id="{A92A4C55-25F4-B332-CF0C-F146FF7F8109}"/>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ysClr val="windowText" lastClr="000000"/>
                  </a:solidFill>
                </a:rPr>
                <a:t>2 </a:t>
              </a:r>
              <a:r>
                <a:rPr lang="zh-CN" altLang="en-US" sz="800" dirty="0">
                  <a:solidFill>
                    <a:sysClr val="windowText" lastClr="000000"/>
                  </a:solidFill>
                </a:rPr>
                <a:t>网际层</a:t>
              </a:r>
            </a:p>
          </p:txBody>
        </p:sp>
        <p:sp>
          <p:nvSpPr>
            <p:cNvPr id="72" name="立方体 71">
              <a:extLst>
                <a:ext uri="{FF2B5EF4-FFF2-40B4-BE49-F238E27FC236}">
                  <a16:creationId xmlns:a16="http://schemas.microsoft.com/office/drawing/2014/main" id="{2047D5C2-3AAD-52D4-5D71-391DE0D4F894}"/>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ysClr val="windowText" lastClr="000000"/>
                  </a:solidFill>
                </a:rPr>
                <a:t>3 </a:t>
              </a:r>
              <a:r>
                <a:rPr lang="zh-CN" altLang="en-US" sz="800" dirty="0">
                  <a:solidFill>
                    <a:sysClr val="windowText" lastClr="000000"/>
                  </a:solidFill>
                </a:rPr>
                <a:t>运输层</a:t>
              </a:r>
            </a:p>
          </p:txBody>
        </p:sp>
        <p:sp>
          <p:nvSpPr>
            <p:cNvPr id="73" name="立方体 72">
              <a:extLst>
                <a:ext uri="{FF2B5EF4-FFF2-40B4-BE49-F238E27FC236}">
                  <a16:creationId xmlns:a16="http://schemas.microsoft.com/office/drawing/2014/main" id="{8515AD8E-23EA-A522-E6D2-E90E0C6AF123}"/>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ysClr val="windowText" lastClr="000000"/>
                  </a:solidFill>
                </a:rPr>
                <a:t>4 </a:t>
              </a:r>
              <a:r>
                <a:rPr lang="zh-CN" altLang="en-US" sz="800" dirty="0">
                  <a:solidFill>
                    <a:sysClr val="windowText" lastClr="000000"/>
                  </a:solidFill>
                </a:rPr>
                <a:t>应用层</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825"/>
              <a:gd name="adj2" fmla="val -498"/>
              <a:gd name="adj3" fmla="val 33940"/>
              <a:gd name="adj4" fmla="val -2180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Application Layer</a:t>
            </a:r>
          </a:p>
          <a:p>
            <a:pPr>
              <a:spcAft>
                <a:spcPts val="600"/>
              </a:spcAft>
            </a:pPr>
            <a:r>
              <a:rPr lang="zh-CN" altLang="en-US" sz="1600" dirty="0"/>
              <a:t>任务：通过应用进程间的交互来完成特定网络应用</a:t>
            </a:r>
          </a:p>
          <a:p>
            <a:pPr>
              <a:spcAft>
                <a:spcPts val="600"/>
              </a:spcAft>
            </a:pPr>
            <a:r>
              <a:rPr lang="zh-CN" altLang="en-US" sz="1600" dirty="0"/>
              <a:t>协议：定义的是应用进程间通信和交互的规则</a:t>
            </a:r>
          </a:p>
          <a:p>
            <a:pPr>
              <a:spcAft>
                <a:spcPts val="600"/>
              </a:spcAft>
            </a:pPr>
            <a:r>
              <a:rPr lang="zh-CN" altLang="en-US" sz="1600" dirty="0"/>
              <a:t>数据：数据单元称为报文</a:t>
            </a:r>
            <a:r>
              <a:rPr lang="en-US" altLang="zh-CN" sz="1600" dirty="0"/>
              <a:t> message</a:t>
            </a:r>
          </a:p>
          <a:p>
            <a:pPr>
              <a:spcAft>
                <a:spcPts val="600"/>
              </a:spcAft>
            </a:pPr>
            <a:r>
              <a:rPr lang="zh-CN" altLang="en-US" sz="1600" dirty="0"/>
              <a:t>示例：</a:t>
            </a:r>
            <a:r>
              <a:rPr lang="en-US" altLang="zh-CN" sz="1600" dirty="0"/>
              <a:t>DNS</a:t>
            </a:r>
            <a:r>
              <a:rPr lang="zh-CN" altLang="en-US" sz="1600" dirty="0"/>
              <a:t>，</a:t>
            </a:r>
            <a:r>
              <a:rPr lang="en-US" altLang="zh-CN" sz="1600" dirty="0"/>
              <a:t>HTTP</a:t>
            </a:r>
            <a:r>
              <a:rPr lang="zh-CN" altLang="en-US" sz="1600" dirty="0"/>
              <a:t>，</a:t>
            </a:r>
            <a:r>
              <a:rPr lang="en-US" altLang="zh-CN" sz="1600" dirty="0"/>
              <a:t>SMTP</a:t>
            </a:r>
          </a:p>
          <a:p>
            <a:pPr>
              <a:spcAft>
                <a:spcPts val="600"/>
              </a:spcAft>
            </a:pPr>
            <a:endParaRPr lang="zh-CN" altLang="en-US" sz="1600" dirty="0"/>
          </a:p>
        </p:txBody>
      </p:sp>
      <p:sp>
        <p:nvSpPr>
          <p:cNvPr id="7" name="标题 6">
            <a:extLst>
              <a:ext uri="{FF2B5EF4-FFF2-40B4-BE49-F238E27FC236}">
                <a16:creationId xmlns:a16="http://schemas.microsoft.com/office/drawing/2014/main" id="{8D957980-DEB5-28BE-26AE-CE8344427D07}"/>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AB489CEE-09FF-C6A0-E71E-E716C1264458}"/>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CB8D9093-84EF-09F5-37DB-C9AF6A9C85B3}"/>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9812778D-676B-0A4A-66B9-DA9FB0CAC940}"/>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9A3852AA-E7E2-5604-81E0-8850B62A4981}"/>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4D4BD085-008F-E37C-5AE2-01292206F2BE}"/>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E5F62502-CACB-A9E8-8176-AC5E75B63D9A}"/>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7820"/>
              <a:gd name="adj2" fmla="val -498"/>
              <a:gd name="adj3" fmla="val 45616"/>
              <a:gd name="adj4" fmla="val -2167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Transportation Layer</a:t>
            </a:r>
          </a:p>
          <a:p>
            <a:pPr>
              <a:spcAft>
                <a:spcPts val="600"/>
              </a:spcAft>
            </a:pPr>
            <a:r>
              <a:rPr lang="zh-CN" altLang="en-US" sz="1600" dirty="0"/>
              <a:t>任务：负责向两台主机中进程之间的通信提供通用的数据传输服务；具有复用和分用的功能</a:t>
            </a:r>
          </a:p>
          <a:p>
            <a:pPr>
              <a:spcAft>
                <a:spcPts val="600"/>
              </a:spcAft>
            </a:pPr>
            <a:r>
              <a:rPr lang="zh-CN" altLang="en-US" sz="1600" dirty="0"/>
              <a:t>主要使用两种协议： </a:t>
            </a:r>
          </a:p>
          <a:p>
            <a:pPr marL="360000" lvl="1" indent="-180000">
              <a:spcAft>
                <a:spcPts val="600"/>
              </a:spcAft>
              <a:buFont typeface="Arial" panose="020B0604020202020204" pitchFamily="34" charset="0"/>
              <a:buChar char="•"/>
            </a:pPr>
            <a:r>
              <a:rPr lang="zh-CN" altLang="en-US" sz="1400" dirty="0"/>
              <a:t>传输控制协议 </a:t>
            </a:r>
            <a:r>
              <a:rPr lang="en-US" altLang="zh-CN" sz="1400" dirty="0"/>
              <a:t>TCP(Transmission Control Protocol</a:t>
            </a:r>
            <a:r>
              <a:rPr lang="zh-CN" altLang="en-US" sz="1400" dirty="0"/>
              <a:t>，提供面向连接的、可靠的数据传输服务；数据单元称为报文段  </a:t>
            </a:r>
            <a:r>
              <a:rPr lang="en-US" altLang="zh-CN" sz="1400" dirty="0"/>
              <a:t>segment</a:t>
            </a:r>
          </a:p>
          <a:p>
            <a:pPr marL="360000" lvl="1" indent="-180000">
              <a:spcAft>
                <a:spcPts val="600"/>
              </a:spcAft>
              <a:buFont typeface="Arial" panose="020B0604020202020204" pitchFamily="34" charset="0"/>
              <a:buChar char="•"/>
            </a:pPr>
            <a:r>
              <a:rPr lang="zh-CN" altLang="en-US" sz="1400" dirty="0"/>
              <a:t>用户数据报协议 </a:t>
            </a:r>
            <a:r>
              <a:rPr lang="en-US" altLang="zh-CN" sz="1400" dirty="0"/>
              <a:t>UDP (User Datagram Protocol)</a:t>
            </a:r>
            <a:r>
              <a:rPr lang="zh-CN" altLang="en-US" sz="1400" dirty="0"/>
              <a:t>：提供无连接的尽最大努力 </a:t>
            </a:r>
            <a:r>
              <a:rPr lang="en-US" altLang="zh-CN" sz="1400" dirty="0"/>
              <a:t>(best-effort) </a:t>
            </a:r>
            <a:r>
              <a:rPr lang="zh-CN" altLang="en-US" sz="1400" dirty="0"/>
              <a:t>的数据传输服务；不保证数据传输的可靠性；数据单元称为用户数据报</a:t>
            </a:r>
            <a:endParaRPr lang="zh-CN" altLang="en-US" sz="1600" dirty="0"/>
          </a:p>
        </p:txBody>
      </p:sp>
      <p:sp>
        <p:nvSpPr>
          <p:cNvPr id="3" name="标题 2">
            <a:extLst>
              <a:ext uri="{FF2B5EF4-FFF2-40B4-BE49-F238E27FC236}">
                <a16:creationId xmlns:a16="http://schemas.microsoft.com/office/drawing/2014/main" id="{BAA59E39-1737-70C6-9E06-D3CB97F457DD}"/>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625F216E-B933-8BAD-C87F-F48A448C05F0}"/>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0C91B90A-B2D5-ED6A-DE72-F1B7005A3AD0}"/>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87D1E3EB-F680-5DEB-2F81-01BBCEDB061F}"/>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7C6C904-74B2-02BD-D3DD-ED3409B13D7C}"/>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1DA32AF8-8FEC-DC21-6A46-A09827DFB518}"/>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DE55B745-C2BA-FD91-1E2D-5BE67D300942}"/>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57438"/>
              <a:gd name="adj4" fmla="val -2127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Network Layer</a:t>
            </a:r>
            <a:r>
              <a:rPr lang="zh-CN" altLang="en-US" sz="1600" dirty="0"/>
              <a:t>；也叫网际层</a:t>
            </a:r>
            <a:endParaRPr lang="en-US" altLang="zh-CN" sz="1600" dirty="0"/>
          </a:p>
          <a:p>
            <a:pPr>
              <a:spcAft>
                <a:spcPts val="600"/>
              </a:spcAft>
            </a:pPr>
            <a:r>
              <a:rPr lang="zh-CN" altLang="en-US" sz="1600" dirty="0"/>
              <a:t>使用</a:t>
            </a:r>
            <a:r>
              <a:rPr lang="en-US" altLang="zh-CN" sz="1600" dirty="0"/>
              <a:t>IP </a:t>
            </a:r>
            <a:r>
              <a:rPr lang="zh-CN" altLang="en-US" sz="1600" dirty="0"/>
              <a:t>协议</a:t>
            </a:r>
            <a:r>
              <a:rPr lang="en-US" altLang="zh-CN" sz="1600" dirty="0"/>
              <a:t>(Internet Protocol)</a:t>
            </a:r>
            <a:r>
              <a:rPr lang="zh-CN" altLang="en-US" sz="1600" dirty="0"/>
              <a:t>和其它协议为分组交换网上的不同主机提供通信服务</a:t>
            </a:r>
            <a:endParaRPr lang="en-US" altLang="zh-CN" sz="1600" dirty="0"/>
          </a:p>
          <a:p>
            <a:pPr>
              <a:spcAft>
                <a:spcPts val="600"/>
              </a:spcAft>
            </a:pPr>
            <a:r>
              <a:rPr lang="en-US" altLang="zh-CN" sz="1600" dirty="0"/>
              <a:t>IP </a:t>
            </a:r>
            <a:r>
              <a:rPr lang="zh-CN" altLang="en-US" sz="1600" dirty="0"/>
              <a:t>协议分组也叫做 </a:t>
            </a:r>
            <a:r>
              <a:rPr lang="en-US" altLang="zh-CN" sz="1600" dirty="0"/>
              <a:t>IP </a:t>
            </a:r>
            <a:r>
              <a:rPr lang="zh-CN" altLang="en-US" sz="1600" dirty="0"/>
              <a:t>数据报，或简称为数据报</a:t>
            </a:r>
          </a:p>
          <a:p>
            <a:pPr>
              <a:spcAft>
                <a:spcPts val="600"/>
              </a:spcAft>
            </a:pPr>
            <a:r>
              <a:rPr lang="zh-CN" altLang="en-US" sz="1600" dirty="0"/>
              <a:t>两个具体任务：</a:t>
            </a:r>
            <a:endParaRPr lang="en-US" altLang="zh-CN" sz="1600" dirty="0"/>
          </a:p>
          <a:p>
            <a:pPr marL="360000" lvl="1" indent="-180000">
              <a:spcAft>
                <a:spcPts val="600"/>
              </a:spcAft>
              <a:buFont typeface="Arial" panose="020B0604020202020204" pitchFamily="34" charset="0"/>
              <a:buChar char="•"/>
            </a:pPr>
            <a:r>
              <a:rPr lang="zh-CN" altLang="en-US" sz="1400" dirty="0"/>
              <a:t>路由选择：通过一定的算法，在互联网中的每一个路由器上，生成一个用来转发分组的转发表</a:t>
            </a:r>
            <a:endParaRPr lang="en-US" altLang="zh-CN" sz="1400" dirty="0"/>
          </a:p>
          <a:p>
            <a:pPr marL="360000" lvl="1" indent="-180000">
              <a:spcAft>
                <a:spcPts val="600"/>
              </a:spcAft>
              <a:buFont typeface="Arial" panose="020B0604020202020204" pitchFamily="34" charset="0"/>
              <a:buChar char="•"/>
            </a:pPr>
            <a:r>
              <a:rPr lang="zh-CN" altLang="en-US" sz="1400" dirty="0"/>
              <a:t>转发：每一个路由器在接收到一个分组时，要依据转发表中指明的路径把分组转发到下一个路由器</a:t>
            </a:r>
            <a:endParaRPr lang="en-US" altLang="zh-CN" sz="1600" dirty="0"/>
          </a:p>
        </p:txBody>
      </p:sp>
      <p:sp>
        <p:nvSpPr>
          <p:cNvPr id="3" name="标题 2">
            <a:extLst>
              <a:ext uri="{FF2B5EF4-FFF2-40B4-BE49-F238E27FC236}">
                <a16:creationId xmlns:a16="http://schemas.microsoft.com/office/drawing/2014/main" id="{E6DF5E1C-6667-8EE7-0D57-488A13A37F3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27" name="组合 26">
            <a:extLst>
              <a:ext uri="{FF2B5EF4-FFF2-40B4-BE49-F238E27FC236}">
                <a16:creationId xmlns:a16="http://schemas.microsoft.com/office/drawing/2014/main" id="{5DAA2CCA-91A2-F988-A276-F3A9A75D3FD4}"/>
              </a:ext>
            </a:extLst>
          </p:cNvPr>
          <p:cNvGrpSpPr/>
          <p:nvPr/>
        </p:nvGrpSpPr>
        <p:grpSpPr>
          <a:xfrm>
            <a:off x="701211" y="2160000"/>
            <a:ext cx="1440000" cy="1728000"/>
            <a:chOff x="6301911" y="2124000"/>
            <a:chExt cx="1440000" cy="1728000"/>
          </a:xfrm>
        </p:grpSpPr>
        <p:sp>
          <p:nvSpPr>
            <p:cNvPr id="28" name="立方体 27">
              <a:extLst>
                <a:ext uri="{FF2B5EF4-FFF2-40B4-BE49-F238E27FC236}">
                  <a16:creationId xmlns:a16="http://schemas.microsoft.com/office/drawing/2014/main" id="{13301005-8F62-5268-BF49-50F831CEB19D}"/>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29" name="立方体 28">
              <a:extLst>
                <a:ext uri="{FF2B5EF4-FFF2-40B4-BE49-F238E27FC236}">
                  <a16:creationId xmlns:a16="http://schemas.microsoft.com/office/drawing/2014/main" id="{41DF93BC-8871-8228-E6B6-AF0CC89DE5A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30" name="立方体 29">
              <a:extLst>
                <a:ext uri="{FF2B5EF4-FFF2-40B4-BE49-F238E27FC236}">
                  <a16:creationId xmlns:a16="http://schemas.microsoft.com/office/drawing/2014/main" id="{4EE84FC4-FCC4-47C9-E426-CF951F6F730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31" name="立方体 30">
              <a:extLst>
                <a:ext uri="{FF2B5EF4-FFF2-40B4-BE49-F238E27FC236}">
                  <a16:creationId xmlns:a16="http://schemas.microsoft.com/office/drawing/2014/main" id="{824AC565-FF25-7EC6-5599-497A76203FF6}"/>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32" name="立方体 31">
              <a:extLst>
                <a:ext uri="{FF2B5EF4-FFF2-40B4-BE49-F238E27FC236}">
                  <a16:creationId xmlns:a16="http://schemas.microsoft.com/office/drawing/2014/main" id="{F64CDD28-3468-56AB-9C03-E8B8E0A7BF99}"/>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70572"/>
              <a:gd name="adj4" fmla="val -2156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Data Link Layer</a:t>
            </a:r>
            <a:r>
              <a:rPr lang="zh-CN" altLang="en-US" sz="1600" dirty="0"/>
              <a:t>；简称为链路层</a:t>
            </a:r>
            <a:endParaRPr lang="en-US" altLang="zh-CN" sz="1600" dirty="0"/>
          </a:p>
          <a:p>
            <a:pPr>
              <a:spcAft>
                <a:spcPts val="600"/>
              </a:spcAft>
            </a:pPr>
            <a:r>
              <a:rPr lang="zh-CN" altLang="en-US" sz="1600" dirty="0"/>
              <a:t>任务：实现两个相邻节点之间的可靠通信</a:t>
            </a:r>
            <a:endParaRPr lang="en-US" altLang="zh-CN" sz="1600" dirty="0"/>
          </a:p>
          <a:p>
            <a:pPr>
              <a:spcAft>
                <a:spcPts val="600"/>
              </a:spcAft>
            </a:pPr>
            <a:r>
              <a:rPr lang="zh-CN" altLang="en-US" sz="1600" dirty="0"/>
              <a:t>在两个相邻节点间的链路上传送帧 </a:t>
            </a:r>
            <a:r>
              <a:rPr lang="en-US" altLang="zh-CN" sz="1600" dirty="0"/>
              <a:t>frame</a:t>
            </a:r>
          </a:p>
          <a:p>
            <a:pPr>
              <a:spcAft>
                <a:spcPts val="600"/>
              </a:spcAft>
            </a:pPr>
            <a:r>
              <a:rPr lang="zh-CN" altLang="en-US" sz="1600" dirty="0"/>
              <a:t>如发现有差错，就简单地丢弃出错帧</a:t>
            </a:r>
            <a:endParaRPr lang="en-US" altLang="zh-CN" sz="1600" dirty="0"/>
          </a:p>
          <a:p>
            <a:pPr>
              <a:spcAft>
                <a:spcPts val="600"/>
              </a:spcAft>
            </a:pPr>
            <a:r>
              <a:rPr lang="zh-CN" altLang="en-US" sz="1600" dirty="0"/>
              <a:t>如果需要改正出现的差错，就要采用可靠传输协议来纠正出现的差错。这种方法会使数据链路层协议复杂</a:t>
            </a:r>
            <a:endParaRPr lang="en-US" altLang="zh-CN" sz="1600" dirty="0"/>
          </a:p>
          <a:p>
            <a:pPr>
              <a:spcAft>
                <a:spcPts val="600"/>
              </a:spcAft>
            </a:pPr>
            <a:endParaRPr lang="zh-CN" altLang="en-US" sz="1600" dirty="0"/>
          </a:p>
        </p:txBody>
      </p:sp>
      <p:sp>
        <p:nvSpPr>
          <p:cNvPr id="3" name="标题 2">
            <a:extLst>
              <a:ext uri="{FF2B5EF4-FFF2-40B4-BE49-F238E27FC236}">
                <a16:creationId xmlns:a16="http://schemas.microsoft.com/office/drawing/2014/main" id="{228325AE-42C8-89A8-2CF7-4104F6C526A9}"/>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CDAE727E-77F8-23E3-A474-DF77871C1ADF}"/>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696BF9C3-F24B-C8B5-7528-D385E3E12E0F}"/>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9770E6B9-6275-AD58-9AFB-85C38296A392}"/>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09FC36E-27F5-BD5D-03D4-D5A43B8BE5C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68780D69-A377-329D-D0BE-E55C9B9404DA}"/>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CA5FC4FC-8C09-FBD8-FED0-AC6447D2231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83204"/>
              <a:gd name="adj4" fmla="val -21386"/>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Physical Layer</a:t>
            </a:r>
          </a:p>
          <a:p>
            <a:pPr>
              <a:spcAft>
                <a:spcPts val="600"/>
              </a:spcAft>
            </a:pPr>
            <a:r>
              <a:rPr lang="zh-CN" altLang="en-US" sz="1600" dirty="0"/>
              <a:t>任务：实现比特 </a:t>
            </a:r>
            <a:r>
              <a:rPr lang="en-US" altLang="zh-CN" sz="1600" dirty="0"/>
              <a:t>0</a:t>
            </a:r>
            <a:r>
              <a:rPr lang="zh-CN" altLang="en-US" sz="1600" dirty="0"/>
              <a:t>、</a:t>
            </a:r>
            <a:r>
              <a:rPr lang="en-US" altLang="zh-CN" sz="1600" dirty="0"/>
              <a:t>1</a:t>
            </a:r>
            <a:r>
              <a:rPr lang="zh-CN" altLang="en-US" sz="1600" dirty="0"/>
              <a:t>的传输</a:t>
            </a:r>
            <a:endParaRPr lang="en-US" altLang="zh-CN" sz="1600" dirty="0"/>
          </a:p>
          <a:p>
            <a:pPr>
              <a:spcAft>
                <a:spcPts val="600"/>
              </a:spcAft>
            </a:pPr>
            <a:r>
              <a:rPr lang="zh-CN" altLang="en-US" sz="1600" dirty="0"/>
              <a:t>确定连接电缆的插头应当有多少根引脚，以及各引脚应如何连接</a:t>
            </a:r>
            <a:endParaRPr lang="en-US" altLang="zh-CN" sz="1600" dirty="0"/>
          </a:p>
          <a:p>
            <a:pPr>
              <a:spcAft>
                <a:spcPts val="600"/>
              </a:spcAft>
            </a:pPr>
            <a:r>
              <a:rPr lang="zh-CN" altLang="en-US" sz="1600" dirty="0"/>
              <a:t>注意：传递信息所利用的一些物理媒体，如双绞线、同轴电缆、光缆、无线信道等，并不在物理层协议之内，而是在物理层协议的下面</a:t>
            </a:r>
          </a:p>
        </p:txBody>
      </p:sp>
      <p:sp>
        <p:nvSpPr>
          <p:cNvPr id="3" name="标题 2">
            <a:extLst>
              <a:ext uri="{FF2B5EF4-FFF2-40B4-BE49-F238E27FC236}">
                <a16:creationId xmlns:a16="http://schemas.microsoft.com/office/drawing/2014/main" id="{4C8FA3DB-1839-F4BA-5B01-6A9D9E4D90A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B5513945-7FE5-8F98-CDF6-1F40290A9EE0}"/>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8CD29117-5E7C-4D5A-FF3A-6D8364BACEF9}"/>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6EB3D805-A946-CC54-4BF0-F31D04DFAB9D}"/>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AAF4DF67-CA03-9982-43B7-D90E6F65C61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1CE3EEC3-FAC6-4225-CD84-05D27326A045}"/>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45370053-C1D7-65C0-130F-A8910FE76F7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 name="组合 101">
            <a:extLst>
              <a:ext uri="{FF2B5EF4-FFF2-40B4-BE49-F238E27FC236}">
                <a16:creationId xmlns:a16="http://schemas.microsoft.com/office/drawing/2014/main" id="{42C8A6AD-BF46-EBBB-1281-327F4732AE9B}"/>
              </a:ext>
            </a:extLst>
          </p:cNvPr>
          <p:cNvGrpSpPr/>
          <p:nvPr/>
        </p:nvGrpSpPr>
        <p:grpSpPr>
          <a:xfrm>
            <a:off x="7395732" y="1800000"/>
            <a:ext cx="1080000" cy="2088000"/>
            <a:chOff x="701211" y="1800000"/>
            <a:chExt cx="1080000" cy="2088000"/>
          </a:xfrm>
        </p:grpSpPr>
        <p:sp>
          <p:nvSpPr>
            <p:cNvPr id="103" name="立方体 102">
              <a:extLst>
                <a:ext uri="{FF2B5EF4-FFF2-40B4-BE49-F238E27FC236}">
                  <a16:creationId xmlns:a16="http://schemas.microsoft.com/office/drawing/2014/main" id="{71BD3DE4-04C5-4059-07E2-DB80324CE5B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4" name="立方体 103">
              <a:extLst>
                <a:ext uri="{FF2B5EF4-FFF2-40B4-BE49-F238E27FC236}">
                  <a16:creationId xmlns:a16="http://schemas.microsoft.com/office/drawing/2014/main" id="{AAC77429-CE85-3439-A5C5-859AF26E679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5" name="立方体 104">
              <a:extLst>
                <a:ext uri="{FF2B5EF4-FFF2-40B4-BE49-F238E27FC236}">
                  <a16:creationId xmlns:a16="http://schemas.microsoft.com/office/drawing/2014/main" id="{7DCCFDC1-01EE-09BC-B3B9-50C63225605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6" name="立方体 105">
              <a:extLst>
                <a:ext uri="{FF2B5EF4-FFF2-40B4-BE49-F238E27FC236}">
                  <a16:creationId xmlns:a16="http://schemas.microsoft.com/office/drawing/2014/main" id="{3CBC5995-CCD4-3A6E-6A68-CB836C4E7C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7" name="立方体 106">
              <a:extLst>
                <a:ext uri="{FF2B5EF4-FFF2-40B4-BE49-F238E27FC236}">
                  <a16:creationId xmlns:a16="http://schemas.microsoft.com/office/drawing/2014/main" id="{7AE2C44A-2C6A-E8A1-E467-25D5E6E3AEE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8" name="圆柱体 107">
              <a:extLst>
                <a:ext uri="{FF2B5EF4-FFF2-40B4-BE49-F238E27FC236}">
                  <a16:creationId xmlns:a16="http://schemas.microsoft.com/office/drawing/2014/main" id="{FC6D6B26-CADF-CCF8-AE2E-BEC93637917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9" name="组合 108">
            <a:extLst>
              <a:ext uri="{FF2B5EF4-FFF2-40B4-BE49-F238E27FC236}">
                <a16:creationId xmlns:a16="http://schemas.microsoft.com/office/drawing/2014/main" id="{F961D078-677D-4DED-92E0-D5813E6AEA22}"/>
              </a:ext>
            </a:extLst>
          </p:cNvPr>
          <p:cNvGrpSpPr/>
          <p:nvPr/>
        </p:nvGrpSpPr>
        <p:grpSpPr>
          <a:xfrm>
            <a:off x="701211" y="1800000"/>
            <a:ext cx="1080000" cy="2088000"/>
            <a:chOff x="701211" y="1800000"/>
            <a:chExt cx="1080000" cy="2088000"/>
          </a:xfrm>
        </p:grpSpPr>
        <p:sp>
          <p:nvSpPr>
            <p:cNvPr id="110" name="立方体 109">
              <a:extLst>
                <a:ext uri="{FF2B5EF4-FFF2-40B4-BE49-F238E27FC236}">
                  <a16:creationId xmlns:a16="http://schemas.microsoft.com/office/drawing/2014/main" id="{20103CCA-13C2-98C0-822B-B759F4AA0FE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1" name="立方体 110">
              <a:extLst>
                <a:ext uri="{FF2B5EF4-FFF2-40B4-BE49-F238E27FC236}">
                  <a16:creationId xmlns:a16="http://schemas.microsoft.com/office/drawing/2014/main" id="{345C5F4F-F3A1-B0E6-5FF9-E5F98ECE674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2" name="立方体 111">
              <a:extLst>
                <a:ext uri="{FF2B5EF4-FFF2-40B4-BE49-F238E27FC236}">
                  <a16:creationId xmlns:a16="http://schemas.microsoft.com/office/drawing/2014/main" id="{31C3783C-7315-722B-43D9-CFC78B53DF5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3" name="立方体 112">
              <a:extLst>
                <a:ext uri="{FF2B5EF4-FFF2-40B4-BE49-F238E27FC236}">
                  <a16:creationId xmlns:a16="http://schemas.microsoft.com/office/drawing/2014/main" id="{57394058-6504-5460-39B2-3E41D6B97F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4" name="立方体 113">
              <a:extLst>
                <a:ext uri="{FF2B5EF4-FFF2-40B4-BE49-F238E27FC236}">
                  <a16:creationId xmlns:a16="http://schemas.microsoft.com/office/drawing/2014/main" id="{486F22B9-BD26-DCBE-5F86-C2C5A857661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5" name="圆柱体 114">
              <a:extLst>
                <a:ext uri="{FF2B5EF4-FFF2-40B4-BE49-F238E27FC236}">
                  <a16:creationId xmlns:a16="http://schemas.microsoft.com/office/drawing/2014/main" id="{7563E10F-CF6D-8C45-7314-AA290CDDF65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3BA383E4-527F-96FB-D1CB-03AFAD3ED3AA}"/>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17" name="Rectangle 37">
            <a:extLst>
              <a:ext uri="{FF2B5EF4-FFF2-40B4-BE49-F238E27FC236}">
                <a16:creationId xmlns:a16="http://schemas.microsoft.com/office/drawing/2014/main" id="{456DBA23-A829-F305-A4B5-81A51A61D892}"/>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28" name="组合 227">
            <a:extLst>
              <a:ext uri="{FF2B5EF4-FFF2-40B4-BE49-F238E27FC236}">
                <a16:creationId xmlns:a16="http://schemas.microsoft.com/office/drawing/2014/main" id="{57F0A498-E4FF-004A-098E-38C5E36FE17E}"/>
              </a:ext>
            </a:extLst>
          </p:cNvPr>
          <p:cNvGrpSpPr/>
          <p:nvPr/>
        </p:nvGrpSpPr>
        <p:grpSpPr>
          <a:xfrm>
            <a:off x="3960000" y="2808000"/>
            <a:ext cx="1080000" cy="1080000"/>
            <a:chOff x="2807995" y="2745746"/>
            <a:chExt cx="1080000" cy="1080000"/>
          </a:xfrm>
        </p:grpSpPr>
        <p:sp>
          <p:nvSpPr>
            <p:cNvPr id="229" name="立方体 228">
              <a:extLst>
                <a:ext uri="{FF2B5EF4-FFF2-40B4-BE49-F238E27FC236}">
                  <a16:creationId xmlns:a16="http://schemas.microsoft.com/office/drawing/2014/main" id="{FE4397DE-F197-8DB5-99FA-7A0826CAE97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0" name="立方体 229">
              <a:extLst>
                <a:ext uri="{FF2B5EF4-FFF2-40B4-BE49-F238E27FC236}">
                  <a16:creationId xmlns:a16="http://schemas.microsoft.com/office/drawing/2014/main" id="{DABD5042-06B0-DE2E-8829-EEB27E2782E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1" name="立方体 230">
              <a:extLst>
                <a:ext uri="{FF2B5EF4-FFF2-40B4-BE49-F238E27FC236}">
                  <a16:creationId xmlns:a16="http://schemas.microsoft.com/office/drawing/2014/main" id="{39026ADE-7611-3A2A-0F35-D849ACAE84D6}"/>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2" name="立方体 231">
              <a:extLst>
                <a:ext uri="{FF2B5EF4-FFF2-40B4-BE49-F238E27FC236}">
                  <a16:creationId xmlns:a16="http://schemas.microsoft.com/office/drawing/2014/main" id="{321E5E88-81DE-03AF-2E2C-A9C62881BB9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3" name="立方体 232">
              <a:extLst>
                <a:ext uri="{FF2B5EF4-FFF2-40B4-BE49-F238E27FC236}">
                  <a16:creationId xmlns:a16="http://schemas.microsoft.com/office/drawing/2014/main" id="{097C9991-19BB-757A-D848-B9097220B35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35" name="AutoShape 4">
            <a:extLst>
              <a:ext uri="{FF2B5EF4-FFF2-40B4-BE49-F238E27FC236}">
                <a16:creationId xmlns:a16="http://schemas.microsoft.com/office/drawing/2014/main" id="{7D17B497-ED3E-95E6-9F6A-CE0B4CE5DFBE}"/>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7" name="AutoShape 4">
            <a:extLst>
              <a:ext uri="{FF2B5EF4-FFF2-40B4-BE49-F238E27FC236}">
                <a16:creationId xmlns:a16="http://schemas.microsoft.com/office/drawing/2014/main" id="{18D53D47-BE27-00B0-B3F2-5280EB09F3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9" name="Text Box 26">
            <a:extLst>
              <a:ext uri="{FF2B5EF4-FFF2-40B4-BE49-F238E27FC236}">
                <a16:creationId xmlns:a16="http://schemas.microsoft.com/office/drawing/2014/main" id="{22484784-3297-C805-DEBF-C703E8D4D58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41" name="Text Box 26">
            <a:extLst>
              <a:ext uri="{FF2B5EF4-FFF2-40B4-BE49-F238E27FC236}">
                <a16:creationId xmlns:a16="http://schemas.microsoft.com/office/drawing/2014/main" id="{F70B48B8-C789-A02A-D99F-C7420C52A15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组合 119">
            <a:extLst>
              <a:ext uri="{FF2B5EF4-FFF2-40B4-BE49-F238E27FC236}">
                <a16:creationId xmlns:a16="http://schemas.microsoft.com/office/drawing/2014/main" id="{D57856EC-5E08-27E3-69CE-A343103A5996}"/>
              </a:ext>
            </a:extLst>
          </p:cNvPr>
          <p:cNvGrpSpPr/>
          <p:nvPr/>
        </p:nvGrpSpPr>
        <p:grpSpPr>
          <a:xfrm>
            <a:off x="7395732" y="1800000"/>
            <a:ext cx="1080000" cy="2088000"/>
            <a:chOff x="701211" y="1800000"/>
            <a:chExt cx="1080000" cy="2088000"/>
          </a:xfrm>
        </p:grpSpPr>
        <p:sp>
          <p:nvSpPr>
            <p:cNvPr id="121" name="立方体 120">
              <a:extLst>
                <a:ext uri="{FF2B5EF4-FFF2-40B4-BE49-F238E27FC236}">
                  <a16:creationId xmlns:a16="http://schemas.microsoft.com/office/drawing/2014/main" id="{954A093E-7176-2140-5108-5EADEE9BAE8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2" name="立方体 121">
              <a:extLst>
                <a:ext uri="{FF2B5EF4-FFF2-40B4-BE49-F238E27FC236}">
                  <a16:creationId xmlns:a16="http://schemas.microsoft.com/office/drawing/2014/main" id="{06E64CF6-55BD-B33E-03A5-49642AC22C4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3" name="立方体 122">
              <a:extLst>
                <a:ext uri="{FF2B5EF4-FFF2-40B4-BE49-F238E27FC236}">
                  <a16:creationId xmlns:a16="http://schemas.microsoft.com/office/drawing/2014/main" id="{9F0E2DB0-FF12-5A10-A163-5FA000F255E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4" name="立方体 123">
              <a:extLst>
                <a:ext uri="{FF2B5EF4-FFF2-40B4-BE49-F238E27FC236}">
                  <a16:creationId xmlns:a16="http://schemas.microsoft.com/office/drawing/2014/main" id="{BD2BCAB3-AC3C-0105-19DE-D7317274226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5" name="立方体 124">
              <a:extLst>
                <a:ext uri="{FF2B5EF4-FFF2-40B4-BE49-F238E27FC236}">
                  <a16:creationId xmlns:a16="http://schemas.microsoft.com/office/drawing/2014/main" id="{78958456-C97D-8156-D8D4-C41FC0B213CC}"/>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6" name="圆柱体 125">
              <a:extLst>
                <a:ext uri="{FF2B5EF4-FFF2-40B4-BE49-F238E27FC236}">
                  <a16:creationId xmlns:a16="http://schemas.microsoft.com/office/drawing/2014/main" id="{F183EA7F-F91F-E260-FAB0-E39B8BE7476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27" name="组合 126">
            <a:extLst>
              <a:ext uri="{FF2B5EF4-FFF2-40B4-BE49-F238E27FC236}">
                <a16:creationId xmlns:a16="http://schemas.microsoft.com/office/drawing/2014/main" id="{3B6D12B2-C16C-281C-4CBF-269FB82E5384}"/>
              </a:ext>
            </a:extLst>
          </p:cNvPr>
          <p:cNvGrpSpPr/>
          <p:nvPr/>
        </p:nvGrpSpPr>
        <p:grpSpPr>
          <a:xfrm>
            <a:off x="701211" y="1800000"/>
            <a:ext cx="1080000" cy="2088000"/>
            <a:chOff x="701211" y="1800000"/>
            <a:chExt cx="1080000" cy="2088000"/>
          </a:xfrm>
        </p:grpSpPr>
        <p:sp>
          <p:nvSpPr>
            <p:cNvPr id="128" name="立方体 127">
              <a:extLst>
                <a:ext uri="{FF2B5EF4-FFF2-40B4-BE49-F238E27FC236}">
                  <a16:creationId xmlns:a16="http://schemas.microsoft.com/office/drawing/2014/main" id="{63E5E867-8C88-F295-CCE4-1CC5EB00588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3DAD75B1-C95E-E1B4-A47C-4AC4C81A76D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FBD986A3-E7E0-3483-690A-61CAED1527A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4B760B6C-C538-0159-FC01-F03B0FCB3F2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E8AFD42A-565F-FA07-CDB4-7C691DFBA74B}"/>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BFB56638-6BBB-D70E-7D00-FAAEBB4FC93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Text Box 32"/>
          <p:cNvSpPr txBox="1">
            <a:spLocks noChangeArrowheads="1"/>
          </p:cNvSpPr>
          <p:nvPr/>
        </p:nvSpPr>
        <p:spPr bwMode="auto">
          <a:xfrm>
            <a:off x="2434484" y="1539928"/>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77" name="Line 33"/>
          <p:cNvSpPr>
            <a:spLocks noChangeShapeType="1"/>
          </p:cNvSpPr>
          <p:nvPr/>
        </p:nvSpPr>
        <p:spPr bwMode="auto">
          <a:xfrm>
            <a:off x="2752925" y="1947477"/>
            <a:ext cx="116622" cy="26095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1CF881F2-5629-D24E-6F97-0AB68692C84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35" name="Rectangle 37">
            <a:extLst>
              <a:ext uri="{FF2B5EF4-FFF2-40B4-BE49-F238E27FC236}">
                <a16:creationId xmlns:a16="http://schemas.microsoft.com/office/drawing/2014/main" id="{6C45D2E6-CBBC-ACDF-8BC7-11AEF9233820}"/>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7" name="Rectangle 34">
            <a:extLst>
              <a:ext uri="{FF2B5EF4-FFF2-40B4-BE49-F238E27FC236}">
                <a16:creationId xmlns:a16="http://schemas.microsoft.com/office/drawing/2014/main" id="{B6AEC770-81B1-0C6C-F2C1-50FF7AA42E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9" name="Rectangle 37">
            <a:extLst>
              <a:ext uri="{FF2B5EF4-FFF2-40B4-BE49-F238E27FC236}">
                <a16:creationId xmlns:a16="http://schemas.microsoft.com/office/drawing/2014/main" id="{0801D0FF-879D-DFAD-909C-BA9DBDCF99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69" name="矩形 168">
            <a:extLst>
              <a:ext uri="{FF2B5EF4-FFF2-40B4-BE49-F238E27FC236}">
                <a16:creationId xmlns:a16="http://schemas.microsoft.com/office/drawing/2014/main" id="{DB413739-0503-2639-D79C-CBF6B7727BF2}"/>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76" name="组合 175">
            <a:extLst>
              <a:ext uri="{FF2B5EF4-FFF2-40B4-BE49-F238E27FC236}">
                <a16:creationId xmlns:a16="http://schemas.microsoft.com/office/drawing/2014/main" id="{75E6494F-22CB-4F49-0676-5B2065920264}"/>
              </a:ext>
            </a:extLst>
          </p:cNvPr>
          <p:cNvGrpSpPr/>
          <p:nvPr/>
        </p:nvGrpSpPr>
        <p:grpSpPr>
          <a:xfrm>
            <a:off x="3960000" y="2808000"/>
            <a:ext cx="1080000" cy="1080000"/>
            <a:chOff x="2807995" y="2745746"/>
            <a:chExt cx="1080000" cy="1080000"/>
          </a:xfrm>
        </p:grpSpPr>
        <p:sp>
          <p:nvSpPr>
            <p:cNvPr id="177" name="立方体 176">
              <a:extLst>
                <a:ext uri="{FF2B5EF4-FFF2-40B4-BE49-F238E27FC236}">
                  <a16:creationId xmlns:a16="http://schemas.microsoft.com/office/drawing/2014/main" id="{6DED51BC-EA44-233F-CEEE-620ECD92A8A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9E9ED076-633D-D473-6F1D-4046855B25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D508D27C-3792-989F-9BCC-82F81D9D704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E65329D8-862E-BAE4-A017-B618C4C8F8B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1" name="立方体 180">
              <a:extLst>
                <a:ext uri="{FF2B5EF4-FFF2-40B4-BE49-F238E27FC236}">
                  <a16:creationId xmlns:a16="http://schemas.microsoft.com/office/drawing/2014/main" id="{948934CD-464C-B9C6-592F-9FFE6C49383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83" name="AutoShape 4">
            <a:extLst>
              <a:ext uri="{FF2B5EF4-FFF2-40B4-BE49-F238E27FC236}">
                <a16:creationId xmlns:a16="http://schemas.microsoft.com/office/drawing/2014/main" id="{AF5DE1EF-B788-09FC-EF98-29283CF7B56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5" name="AutoShape 4">
            <a:extLst>
              <a:ext uri="{FF2B5EF4-FFF2-40B4-BE49-F238E27FC236}">
                <a16:creationId xmlns:a16="http://schemas.microsoft.com/office/drawing/2014/main" id="{4CE73F7F-8BFA-B813-EA31-74F82EF14ACC}"/>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7" name="Text Box 26">
            <a:extLst>
              <a:ext uri="{FF2B5EF4-FFF2-40B4-BE49-F238E27FC236}">
                <a16:creationId xmlns:a16="http://schemas.microsoft.com/office/drawing/2014/main" id="{98D20D2E-5D08-DF06-35FB-1171C92A57BF}"/>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9" name="Text Box 26">
            <a:extLst>
              <a:ext uri="{FF2B5EF4-FFF2-40B4-BE49-F238E27FC236}">
                <a16:creationId xmlns:a16="http://schemas.microsoft.com/office/drawing/2014/main" id="{92E80C1E-C671-7350-70B7-37A3EA32DF95}"/>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up)">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 name="组合 124">
            <a:extLst>
              <a:ext uri="{FF2B5EF4-FFF2-40B4-BE49-F238E27FC236}">
                <a16:creationId xmlns:a16="http://schemas.microsoft.com/office/drawing/2014/main" id="{96BFBE02-829B-B4E1-2DB5-29F85E73726A}"/>
              </a:ext>
            </a:extLst>
          </p:cNvPr>
          <p:cNvGrpSpPr/>
          <p:nvPr/>
        </p:nvGrpSpPr>
        <p:grpSpPr>
          <a:xfrm>
            <a:off x="7395732" y="1800000"/>
            <a:ext cx="1080000" cy="2088000"/>
            <a:chOff x="701211" y="1800000"/>
            <a:chExt cx="1080000" cy="2088000"/>
          </a:xfrm>
        </p:grpSpPr>
        <p:sp>
          <p:nvSpPr>
            <p:cNvPr id="126" name="立方体 125">
              <a:extLst>
                <a:ext uri="{FF2B5EF4-FFF2-40B4-BE49-F238E27FC236}">
                  <a16:creationId xmlns:a16="http://schemas.microsoft.com/office/drawing/2014/main" id="{1B45AAB1-2CFF-0F9A-E910-3F837FCAF4F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7" name="立方体 126">
              <a:extLst>
                <a:ext uri="{FF2B5EF4-FFF2-40B4-BE49-F238E27FC236}">
                  <a16:creationId xmlns:a16="http://schemas.microsoft.com/office/drawing/2014/main" id="{A99F9309-D7C4-FA9E-C64E-C5F19CCECF6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8" name="立方体 127">
              <a:extLst>
                <a:ext uri="{FF2B5EF4-FFF2-40B4-BE49-F238E27FC236}">
                  <a16:creationId xmlns:a16="http://schemas.microsoft.com/office/drawing/2014/main" id="{259EACD4-0225-25C5-D809-1FDD087BD8C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9" name="立方体 128">
              <a:extLst>
                <a:ext uri="{FF2B5EF4-FFF2-40B4-BE49-F238E27FC236}">
                  <a16:creationId xmlns:a16="http://schemas.microsoft.com/office/drawing/2014/main" id="{CDA8259C-F0F5-D21B-3535-EE912360D00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0" name="立方体 129">
              <a:extLst>
                <a:ext uri="{FF2B5EF4-FFF2-40B4-BE49-F238E27FC236}">
                  <a16:creationId xmlns:a16="http://schemas.microsoft.com/office/drawing/2014/main" id="{4CC100BE-69A9-2EA9-8253-1CBB85643E96}"/>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1" name="圆柱体 130">
              <a:extLst>
                <a:ext uri="{FF2B5EF4-FFF2-40B4-BE49-F238E27FC236}">
                  <a16:creationId xmlns:a16="http://schemas.microsoft.com/office/drawing/2014/main" id="{3630DC40-383C-F1E0-65A8-F6E6C27A9AA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2" name="组合 131">
            <a:extLst>
              <a:ext uri="{FF2B5EF4-FFF2-40B4-BE49-F238E27FC236}">
                <a16:creationId xmlns:a16="http://schemas.microsoft.com/office/drawing/2014/main" id="{3B9D47B3-CC15-1B55-04CB-8111EC15EB77}"/>
              </a:ext>
            </a:extLst>
          </p:cNvPr>
          <p:cNvGrpSpPr/>
          <p:nvPr/>
        </p:nvGrpSpPr>
        <p:grpSpPr>
          <a:xfrm>
            <a:off x="701211" y="1800000"/>
            <a:ext cx="1080000" cy="2088000"/>
            <a:chOff x="701211" y="1800000"/>
            <a:chExt cx="1080000" cy="2088000"/>
          </a:xfrm>
        </p:grpSpPr>
        <p:sp>
          <p:nvSpPr>
            <p:cNvPr id="133" name="立方体 132">
              <a:extLst>
                <a:ext uri="{FF2B5EF4-FFF2-40B4-BE49-F238E27FC236}">
                  <a16:creationId xmlns:a16="http://schemas.microsoft.com/office/drawing/2014/main" id="{37E369C4-7D86-EF61-B0DC-2AAD3D3395C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7B123E5B-CE7B-99F7-55E4-69516727E8A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8194646C-2000-B3CD-3FBC-A67574C7D44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8CE56FF4-748C-4AD2-EE15-EF46277D64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D5F04E0-E727-51EE-6EC7-C98CCD2936A0}"/>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FE23456E-0B26-B1E1-2EED-D465CA27482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5" name="Text Box 67"/>
          <p:cNvSpPr txBox="1">
            <a:spLocks noChangeArrowheads="1"/>
          </p:cNvSpPr>
          <p:nvPr/>
        </p:nvSpPr>
        <p:spPr bwMode="auto">
          <a:xfrm>
            <a:off x="2201435" y="1848434"/>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86" name="Line 68"/>
          <p:cNvSpPr>
            <a:spLocks noChangeShapeType="1"/>
          </p:cNvSpPr>
          <p:nvPr/>
        </p:nvSpPr>
        <p:spPr bwMode="auto">
          <a:xfrm>
            <a:off x="2520440" y="2253691"/>
            <a:ext cx="110656" cy="2713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A7A704F5-B8F4-13F9-172D-1B2E41CD0D77}"/>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41" name="Rectangle 37">
            <a:extLst>
              <a:ext uri="{FF2B5EF4-FFF2-40B4-BE49-F238E27FC236}">
                <a16:creationId xmlns:a16="http://schemas.microsoft.com/office/drawing/2014/main" id="{0E679D0C-C995-9EFE-6D99-B84F86C0AF13}"/>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45" name="Rectangle 34">
            <a:extLst>
              <a:ext uri="{FF2B5EF4-FFF2-40B4-BE49-F238E27FC236}">
                <a16:creationId xmlns:a16="http://schemas.microsoft.com/office/drawing/2014/main" id="{C5F2FF6D-7633-8E2A-C984-69EC0CD40A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47" name="Rectangle 37">
            <a:extLst>
              <a:ext uri="{FF2B5EF4-FFF2-40B4-BE49-F238E27FC236}">
                <a16:creationId xmlns:a16="http://schemas.microsoft.com/office/drawing/2014/main" id="{86EDDCFD-43FC-0A1A-0882-245A3ABAF3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49" name="Rectangle 39">
            <a:extLst>
              <a:ext uri="{FF2B5EF4-FFF2-40B4-BE49-F238E27FC236}">
                <a16:creationId xmlns:a16="http://schemas.microsoft.com/office/drawing/2014/main" id="{BB84DC93-BA8D-2635-BE2E-03FBE269FC8B}"/>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51" name="Rectangle 40">
            <a:extLst>
              <a:ext uri="{FF2B5EF4-FFF2-40B4-BE49-F238E27FC236}">
                <a16:creationId xmlns:a16="http://schemas.microsoft.com/office/drawing/2014/main" id="{9E35611B-6E10-9816-96A3-D1F3FD14D2CA}"/>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3" name="Rectangle 66">
            <a:extLst>
              <a:ext uri="{FF2B5EF4-FFF2-40B4-BE49-F238E27FC236}">
                <a16:creationId xmlns:a16="http://schemas.microsoft.com/office/drawing/2014/main" id="{6AE1DA30-8C06-2F53-431B-6C316251367A}"/>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7" name="矩形 176">
            <a:extLst>
              <a:ext uri="{FF2B5EF4-FFF2-40B4-BE49-F238E27FC236}">
                <a16:creationId xmlns:a16="http://schemas.microsoft.com/office/drawing/2014/main" id="{8AEAE7CD-54BC-5147-D2A1-3E4501647C9A}"/>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84" name="组合 183">
            <a:extLst>
              <a:ext uri="{FF2B5EF4-FFF2-40B4-BE49-F238E27FC236}">
                <a16:creationId xmlns:a16="http://schemas.microsoft.com/office/drawing/2014/main" id="{6A7AE7D0-FF21-5749-307E-3A9EC39E2B4A}"/>
              </a:ext>
            </a:extLst>
          </p:cNvPr>
          <p:cNvGrpSpPr/>
          <p:nvPr/>
        </p:nvGrpSpPr>
        <p:grpSpPr>
          <a:xfrm>
            <a:off x="3960000" y="2808000"/>
            <a:ext cx="1080000" cy="1080000"/>
            <a:chOff x="2807995" y="2745746"/>
            <a:chExt cx="1080000" cy="1080000"/>
          </a:xfrm>
        </p:grpSpPr>
        <p:sp>
          <p:nvSpPr>
            <p:cNvPr id="185" name="立方体 184">
              <a:extLst>
                <a:ext uri="{FF2B5EF4-FFF2-40B4-BE49-F238E27FC236}">
                  <a16:creationId xmlns:a16="http://schemas.microsoft.com/office/drawing/2014/main" id="{2A0BED06-DB3B-1D76-8FAA-9CF2F93E8DC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C32B33A5-EA38-3F66-6882-86EE4FDDD656}"/>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7" name="立方体 186">
              <a:extLst>
                <a:ext uri="{FF2B5EF4-FFF2-40B4-BE49-F238E27FC236}">
                  <a16:creationId xmlns:a16="http://schemas.microsoft.com/office/drawing/2014/main" id="{722B551F-28DA-ED89-9AD9-A4E53DE0327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8" name="立方体 187">
              <a:extLst>
                <a:ext uri="{FF2B5EF4-FFF2-40B4-BE49-F238E27FC236}">
                  <a16:creationId xmlns:a16="http://schemas.microsoft.com/office/drawing/2014/main" id="{64311D4B-D1EF-DA1F-167A-B61EE57F49A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9" name="立方体 188">
              <a:extLst>
                <a:ext uri="{FF2B5EF4-FFF2-40B4-BE49-F238E27FC236}">
                  <a16:creationId xmlns:a16="http://schemas.microsoft.com/office/drawing/2014/main" id="{8CDE4D70-0F95-C32F-B2E5-8E044B33E35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91" name="AutoShape 4">
            <a:extLst>
              <a:ext uri="{FF2B5EF4-FFF2-40B4-BE49-F238E27FC236}">
                <a16:creationId xmlns:a16="http://schemas.microsoft.com/office/drawing/2014/main" id="{25E43E7B-2277-154C-6BF1-AD431482F3A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3" name="AutoShape 4">
            <a:extLst>
              <a:ext uri="{FF2B5EF4-FFF2-40B4-BE49-F238E27FC236}">
                <a16:creationId xmlns:a16="http://schemas.microsoft.com/office/drawing/2014/main" id="{B47511FA-E088-1964-542F-1B16CAC17AB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5" name="Text Box 26">
            <a:extLst>
              <a:ext uri="{FF2B5EF4-FFF2-40B4-BE49-F238E27FC236}">
                <a16:creationId xmlns:a16="http://schemas.microsoft.com/office/drawing/2014/main" id="{D905AEC1-368E-B824-41DC-6314605F569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7" name="Text Box 26">
            <a:extLst>
              <a:ext uri="{FF2B5EF4-FFF2-40B4-BE49-F238E27FC236}">
                <a16:creationId xmlns:a16="http://schemas.microsoft.com/office/drawing/2014/main" id="{947495E3-E4D4-EADB-6103-AF1736CBCA7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组合 131">
            <a:extLst>
              <a:ext uri="{FF2B5EF4-FFF2-40B4-BE49-F238E27FC236}">
                <a16:creationId xmlns:a16="http://schemas.microsoft.com/office/drawing/2014/main" id="{983F071F-F518-50CE-795D-2EECABEC8D33}"/>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4E090801-1628-81FC-EDD3-0F63AC16C6C5}"/>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D0BA5B9F-6698-24A6-FA39-73B61826E9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3123DC2-8904-2B39-DE7B-E5CA288A18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93D1D686-D2D8-28F7-8B01-9501C3DE2378}"/>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1F803720-1039-C851-149E-6717C675B68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A5C444B9-5A93-455B-CDCE-288BD70E287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362D7AE2-3C84-C70E-E776-4E78DA94535A}"/>
              </a:ext>
            </a:extLst>
          </p:cNvPr>
          <p:cNvGrpSpPr/>
          <p:nvPr/>
        </p:nvGrpSpPr>
        <p:grpSpPr>
          <a:xfrm>
            <a:off x="701211" y="1800000"/>
            <a:ext cx="1080000" cy="2088000"/>
            <a:chOff x="701211" y="1800000"/>
            <a:chExt cx="1080000" cy="2088000"/>
          </a:xfrm>
        </p:grpSpPr>
        <p:sp>
          <p:nvSpPr>
            <p:cNvPr id="145" name="立方体 144">
              <a:extLst>
                <a:ext uri="{FF2B5EF4-FFF2-40B4-BE49-F238E27FC236}">
                  <a16:creationId xmlns:a16="http://schemas.microsoft.com/office/drawing/2014/main" id="{4C23668F-DCBE-871D-986F-E22D880A6F8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6" name="立方体 145">
              <a:extLst>
                <a:ext uri="{FF2B5EF4-FFF2-40B4-BE49-F238E27FC236}">
                  <a16:creationId xmlns:a16="http://schemas.microsoft.com/office/drawing/2014/main" id="{1AAA2AC2-93C7-0185-4850-89CF967B1B6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7" name="立方体 146">
              <a:extLst>
                <a:ext uri="{FF2B5EF4-FFF2-40B4-BE49-F238E27FC236}">
                  <a16:creationId xmlns:a16="http://schemas.microsoft.com/office/drawing/2014/main" id="{75E4401B-3CD5-C578-F272-9FF907A043B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8" name="立方体 147">
              <a:extLst>
                <a:ext uri="{FF2B5EF4-FFF2-40B4-BE49-F238E27FC236}">
                  <a16:creationId xmlns:a16="http://schemas.microsoft.com/office/drawing/2014/main" id="{CAC95C01-E9AB-516D-2CB3-A67EB11B68A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9" name="立方体 148">
              <a:extLst>
                <a:ext uri="{FF2B5EF4-FFF2-40B4-BE49-F238E27FC236}">
                  <a16:creationId xmlns:a16="http://schemas.microsoft.com/office/drawing/2014/main" id="{6AF8B668-B796-8A07-A720-11B3FA3B611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0" name="圆柱体 149">
              <a:extLst>
                <a:ext uri="{FF2B5EF4-FFF2-40B4-BE49-F238E27FC236}">
                  <a16:creationId xmlns:a16="http://schemas.microsoft.com/office/drawing/2014/main" id="{EBF3115E-2B73-5353-A2CC-89DB640B08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9" name="Text Box 71"/>
          <p:cNvSpPr txBox="1">
            <a:spLocks noChangeArrowheads="1"/>
          </p:cNvSpPr>
          <p:nvPr/>
        </p:nvSpPr>
        <p:spPr bwMode="auto">
          <a:xfrm>
            <a:off x="1962841" y="2160000"/>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100" name="Line 72"/>
          <p:cNvSpPr>
            <a:spLocks noChangeShapeType="1"/>
          </p:cNvSpPr>
          <p:nvPr/>
        </p:nvSpPr>
        <p:spPr bwMode="auto">
          <a:xfrm>
            <a:off x="2295725" y="2607973"/>
            <a:ext cx="143586" cy="304321"/>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2395C742-F3C1-F433-17B3-C4320A8A97F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53" name="Rectangle 37">
            <a:extLst>
              <a:ext uri="{FF2B5EF4-FFF2-40B4-BE49-F238E27FC236}">
                <a16:creationId xmlns:a16="http://schemas.microsoft.com/office/drawing/2014/main" id="{298E40CA-3FF8-0264-A2EF-8F19AC711E2D}"/>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55" name="Rectangle 34">
            <a:extLst>
              <a:ext uri="{FF2B5EF4-FFF2-40B4-BE49-F238E27FC236}">
                <a16:creationId xmlns:a16="http://schemas.microsoft.com/office/drawing/2014/main" id="{9D790903-498C-C174-8AF7-04CF3FB3D98B}"/>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57" name="Rectangle 37">
            <a:extLst>
              <a:ext uri="{FF2B5EF4-FFF2-40B4-BE49-F238E27FC236}">
                <a16:creationId xmlns:a16="http://schemas.microsoft.com/office/drawing/2014/main" id="{9C35D2B5-FA76-A9BA-9730-98A07D314503}"/>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59" name="Rectangle 39">
            <a:extLst>
              <a:ext uri="{FF2B5EF4-FFF2-40B4-BE49-F238E27FC236}">
                <a16:creationId xmlns:a16="http://schemas.microsoft.com/office/drawing/2014/main" id="{A1436935-471B-1EEE-35F9-36C6E134A42E}"/>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1" name="Rectangle 40">
            <a:extLst>
              <a:ext uri="{FF2B5EF4-FFF2-40B4-BE49-F238E27FC236}">
                <a16:creationId xmlns:a16="http://schemas.microsoft.com/office/drawing/2014/main" id="{39D9C27A-C358-7B43-0CC7-BEA227A32E32}"/>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3" name="Rectangle 66">
            <a:extLst>
              <a:ext uri="{FF2B5EF4-FFF2-40B4-BE49-F238E27FC236}">
                <a16:creationId xmlns:a16="http://schemas.microsoft.com/office/drawing/2014/main" id="{943C118B-09CE-08C2-FDAD-46F4D7DA5F24}"/>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5" name="Rectangle 42">
            <a:extLst>
              <a:ext uri="{FF2B5EF4-FFF2-40B4-BE49-F238E27FC236}">
                <a16:creationId xmlns:a16="http://schemas.microsoft.com/office/drawing/2014/main" id="{733D4A05-D2B7-9087-3CC4-CC77D439D3B5}"/>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7" name="Rectangle 43">
            <a:extLst>
              <a:ext uri="{FF2B5EF4-FFF2-40B4-BE49-F238E27FC236}">
                <a16:creationId xmlns:a16="http://schemas.microsoft.com/office/drawing/2014/main" id="{401432D3-F176-FFCE-52B6-F969F636303C}"/>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9" name="Rectangle 44">
            <a:extLst>
              <a:ext uri="{FF2B5EF4-FFF2-40B4-BE49-F238E27FC236}">
                <a16:creationId xmlns:a16="http://schemas.microsoft.com/office/drawing/2014/main" id="{FC0A39EC-D088-A285-346C-2E84C5515DEE}"/>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1" name="Rectangle 70">
            <a:extLst>
              <a:ext uri="{FF2B5EF4-FFF2-40B4-BE49-F238E27FC236}">
                <a16:creationId xmlns:a16="http://schemas.microsoft.com/office/drawing/2014/main" id="{6AFCF469-529E-5F8D-33F1-4C5854703B7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7" name="矩形 186">
            <a:extLst>
              <a:ext uri="{FF2B5EF4-FFF2-40B4-BE49-F238E27FC236}">
                <a16:creationId xmlns:a16="http://schemas.microsoft.com/office/drawing/2014/main" id="{85FA2FCB-B2EA-B358-C412-0C7A48530D4C}"/>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94" name="组合 193">
            <a:extLst>
              <a:ext uri="{FF2B5EF4-FFF2-40B4-BE49-F238E27FC236}">
                <a16:creationId xmlns:a16="http://schemas.microsoft.com/office/drawing/2014/main" id="{5930F9C1-DB24-6A2B-864D-95C781CD02FE}"/>
              </a:ext>
            </a:extLst>
          </p:cNvPr>
          <p:cNvGrpSpPr/>
          <p:nvPr/>
        </p:nvGrpSpPr>
        <p:grpSpPr>
          <a:xfrm>
            <a:off x="3960000" y="2808000"/>
            <a:ext cx="1080000" cy="1080000"/>
            <a:chOff x="2807995" y="2745746"/>
            <a:chExt cx="1080000" cy="1080000"/>
          </a:xfrm>
        </p:grpSpPr>
        <p:sp>
          <p:nvSpPr>
            <p:cNvPr id="195" name="立方体 194">
              <a:extLst>
                <a:ext uri="{FF2B5EF4-FFF2-40B4-BE49-F238E27FC236}">
                  <a16:creationId xmlns:a16="http://schemas.microsoft.com/office/drawing/2014/main" id="{7E973236-B4DD-3EF4-3D67-99D6DD56B7B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6" name="立方体 195">
              <a:extLst>
                <a:ext uri="{FF2B5EF4-FFF2-40B4-BE49-F238E27FC236}">
                  <a16:creationId xmlns:a16="http://schemas.microsoft.com/office/drawing/2014/main" id="{B5C94B27-CC96-CD3A-87C6-7DC5756CCD8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7" name="立方体 196">
              <a:extLst>
                <a:ext uri="{FF2B5EF4-FFF2-40B4-BE49-F238E27FC236}">
                  <a16:creationId xmlns:a16="http://schemas.microsoft.com/office/drawing/2014/main" id="{BF671E2C-5B1B-F411-FF23-AB765885841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8395D172-1AF1-6AEB-CCF5-080ECCCD646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92480EC7-EA26-7D61-015B-EF3A5FD365B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01" name="AutoShape 4">
            <a:extLst>
              <a:ext uri="{FF2B5EF4-FFF2-40B4-BE49-F238E27FC236}">
                <a16:creationId xmlns:a16="http://schemas.microsoft.com/office/drawing/2014/main" id="{92530A91-786C-EA27-F71A-0C247D604F1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3" name="AutoShape 4">
            <a:extLst>
              <a:ext uri="{FF2B5EF4-FFF2-40B4-BE49-F238E27FC236}">
                <a16:creationId xmlns:a16="http://schemas.microsoft.com/office/drawing/2014/main" id="{D5B7BC5D-B1AD-5964-B1B3-46256E134A7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Text Box 26">
            <a:extLst>
              <a:ext uri="{FF2B5EF4-FFF2-40B4-BE49-F238E27FC236}">
                <a16:creationId xmlns:a16="http://schemas.microsoft.com/office/drawing/2014/main" id="{EBF2ADD7-309F-AA5F-5EA4-A7F562F0C039}"/>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7" name="Text Box 26">
            <a:extLst>
              <a:ext uri="{FF2B5EF4-FFF2-40B4-BE49-F238E27FC236}">
                <a16:creationId xmlns:a16="http://schemas.microsoft.com/office/drawing/2014/main" id="{7EAA14A6-B115-A129-E866-279A32A2B17C}"/>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 name="组合 158">
            <a:extLst>
              <a:ext uri="{FF2B5EF4-FFF2-40B4-BE49-F238E27FC236}">
                <a16:creationId xmlns:a16="http://schemas.microsoft.com/office/drawing/2014/main" id="{CAB97BF8-CB1A-7A4D-9280-9777811CB59C}"/>
              </a:ext>
            </a:extLst>
          </p:cNvPr>
          <p:cNvGrpSpPr/>
          <p:nvPr/>
        </p:nvGrpSpPr>
        <p:grpSpPr>
          <a:xfrm>
            <a:off x="7395732" y="1800000"/>
            <a:ext cx="1080000" cy="2088000"/>
            <a:chOff x="701211" y="1800000"/>
            <a:chExt cx="1080000" cy="2088000"/>
          </a:xfrm>
        </p:grpSpPr>
        <p:sp>
          <p:nvSpPr>
            <p:cNvPr id="160" name="立方体 159">
              <a:extLst>
                <a:ext uri="{FF2B5EF4-FFF2-40B4-BE49-F238E27FC236}">
                  <a16:creationId xmlns:a16="http://schemas.microsoft.com/office/drawing/2014/main" id="{D0745696-9F12-85EB-1E6D-0EFBB9224CD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1" name="立方体 160">
              <a:extLst>
                <a:ext uri="{FF2B5EF4-FFF2-40B4-BE49-F238E27FC236}">
                  <a16:creationId xmlns:a16="http://schemas.microsoft.com/office/drawing/2014/main" id="{65C1A767-738B-9523-FFCC-63AAAFBFEF5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2" name="立方体 161">
              <a:extLst>
                <a:ext uri="{FF2B5EF4-FFF2-40B4-BE49-F238E27FC236}">
                  <a16:creationId xmlns:a16="http://schemas.microsoft.com/office/drawing/2014/main" id="{D9CFD0E0-C208-7574-CA87-9D6C22E0770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63" name="立方体 162">
              <a:extLst>
                <a:ext uri="{FF2B5EF4-FFF2-40B4-BE49-F238E27FC236}">
                  <a16:creationId xmlns:a16="http://schemas.microsoft.com/office/drawing/2014/main" id="{CE3644D1-4181-F2DA-1919-BBC93B29A67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4" name="立方体 163">
              <a:extLst>
                <a:ext uri="{FF2B5EF4-FFF2-40B4-BE49-F238E27FC236}">
                  <a16:creationId xmlns:a16="http://schemas.microsoft.com/office/drawing/2014/main" id="{7C29078C-C72B-F275-B0B5-115DD08A76E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5" name="圆柱体 164">
              <a:extLst>
                <a:ext uri="{FF2B5EF4-FFF2-40B4-BE49-F238E27FC236}">
                  <a16:creationId xmlns:a16="http://schemas.microsoft.com/office/drawing/2014/main" id="{B1CBBC70-EA4C-BF21-68A8-33712257D49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66" name="组合 165">
            <a:extLst>
              <a:ext uri="{FF2B5EF4-FFF2-40B4-BE49-F238E27FC236}">
                <a16:creationId xmlns:a16="http://schemas.microsoft.com/office/drawing/2014/main" id="{992480B1-FD01-C4B6-6B87-CB608E70F3F0}"/>
              </a:ext>
            </a:extLst>
          </p:cNvPr>
          <p:cNvGrpSpPr/>
          <p:nvPr/>
        </p:nvGrpSpPr>
        <p:grpSpPr>
          <a:xfrm>
            <a:off x="701211" y="1800000"/>
            <a:ext cx="1080000" cy="2088000"/>
            <a:chOff x="701211" y="1800000"/>
            <a:chExt cx="1080000" cy="2088000"/>
          </a:xfrm>
        </p:grpSpPr>
        <p:sp>
          <p:nvSpPr>
            <p:cNvPr id="167" name="立方体 166">
              <a:extLst>
                <a:ext uri="{FF2B5EF4-FFF2-40B4-BE49-F238E27FC236}">
                  <a16:creationId xmlns:a16="http://schemas.microsoft.com/office/drawing/2014/main" id="{CC668458-7336-407B-29F0-BE1EB5D2AB3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8" name="立方体 167">
              <a:extLst>
                <a:ext uri="{FF2B5EF4-FFF2-40B4-BE49-F238E27FC236}">
                  <a16:creationId xmlns:a16="http://schemas.microsoft.com/office/drawing/2014/main" id="{4607A48D-C7EA-D088-B874-DA2A86AF0ED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9" name="立方体 168">
              <a:extLst>
                <a:ext uri="{FF2B5EF4-FFF2-40B4-BE49-F238E27FC236}">
                  <a16:creationId xmlns:a16="http://schemas.microsoft.com/office/drawing/2014/main" id="{0275791C-28F7-C432-290A-E2ABC35F6B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70" name="立方体 169">
              <a:extLst>
                <a:ext uri="{FF2B5EF4-FFF2-40B4-BE49-F238E27FC236}">
                  <a16:creationId xmlns:a16="http://schemas.microsoft.com/office/drawing/2014/main" id="{DAD61620-9016-E764-4141-B6372753A3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71" name="立方体 170">
              <a:extLst>
                <a:ext uri="{FF2B5EF4-FFF2-40B4-BE49-F238E27FC236}">
                  <a16:creationId xmlns:a16="http://schemas.microsoft.com/office/drawing/2014/main" id="{6356B059-4ADC-82E4-9683-84985B21E62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72" name="圆柱体 171">
              <a:extLst>
                <a:ext uri="{FF2B5EF4-FFF2-40B4-BE49-F238E27FC236}">
                  <a16:creationId xmlns:a16="http://schemas.microsoft.com/office/drawing/2014/main" id="{0A624DEC-50DB-87DE-A98B-A76B08583F4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11" name="Text Box 75"/>
          <p:cNvSpPr txBox="1">
            <a:spLocks noChangeArrowheads="1"/>
          </p:cNvSpPr>
          <p:nvPr/>
        </p:nvSpPr>
        <p:spPr bwMode="auto">
          <a:xfrm>
            <a:off x="1748924" y="2627675"/>
            <a:ext cx="607498" cy="396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2120958" y="3015889"/>
            <a:ext cx="100072" cy="22074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5" name="Line 79"/>
          <p:cNvSpPr>
            <a:spLocks noChangeShapeType="1"/>
          </p:cNvSpPr>
          <p:nvPr/>
        </p:nvSpPr>
        <p:spPr bwMode="auto">
          <a:xfrm flipH="1">
            <a:off x="3596883" y="3015640"/>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6" name="Text Box 80"/>
          <p:cNvSpPr txBox="1">
            <a:spLocks noChangeArrowheads="1"/>
          </p:cNvSpPr>
          <p:nvPr/>
        </p:nvSpPr>
        <p:spPr bwMode="auto">
          <a:xfrm>
            <a:off x="3444013" y="2618371"/>
            <a:ext cx="607954" cy="3972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sp>
        <p:nvSpPr>
          <p:cNvPr id="2" name="标题 1">
            <a:extLst>
              <a:ext uri="{FF2B5EF4-FFF2-40B4-BE49-F238E27FC236}">
                <a16:creationId xmlns:a16="http://schemas.microsoft.com/office/drawing/2014/main" id="{BB3EDA3A-F5A2-DFC8-D8A3-BEE24CAE3CB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75" name="Rectangle 37">
            <a:extLst>
              <a:ext uri="{FF2B5EF4-FFF2-40B4-BE49-F238E27FC236}">
                <a16:creationId xmlns:a16="http://schemas.microsoft.com/office/drawing/2014/main" id="{1C75A4D7-0E84-8C59-9CFD-EBF224C1CC68}"/>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7" name="Rectangle 34">
            <a:extLst>
              <a:ext uri="{FF2B5EF4-FFF2-40B4-BE49-F238E27FC236}">
                <a16:creationId xmlns:a16="http://schemas.microsoft.com/office/drawing/2014/main" id="{BF4B3F2E-C4BE-5BCA-926B-1B9A479401FE}"/>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79" name="Rectangle 37">
            <a:extLst>
              <a:ext uri="{FF2B5EF4-FFF2-40B4-BE49-F238E27FC236}">
                <a16:creationId xmlns:a16="http://schemas.microsoft.com/office/drawing/2014/main" id="{7CAB36AD-4D02-BA8D-EE81-E33A785D03C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81" name="Rectangle 39">
            <a:extLst>
              <a:ext uri="{FF2B5EF4-FFF2-40B4-BE49-F238E27FC236}">
                <a16:creationId xmlns:a16="http://schemas.microsoft.com/office/drawing/2014/main" id="{37F6C106-8FA6-E51D-A5D4-1766FCFB2A80}"/>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83" name="Rectangle 40">
            <a:extLst>
              <a:ext uri="{FF2B5EF4-FFF2-40B4-BE49-F238E27FC236}">
                <a16:creationId xmlns:a16="http://schemas.microsoft.com/office/drawing/2014/main" id="{72BFD89A-DDD6-FDFA-B625-EEA57DDAAC58}"/>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5" name="Rectangle 66">
            <a:extLst>
              <a:ext uri="{FF2B5EF4-FFF2-40B4-BE49-F238E27FC236}">
                <a16:creationId xmlns:a16="http://schemas.microsoft.com/office/drawing/2014/main" id="{3E6091D7-0EF4-5B0F-E105-F00A8EE31F72}"/>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7" name="Rectangle 42">
            <a:extLst>
              <a:ext uri="{FF2B5EF4-FFF2-40B4-BE49-F238E27FC236}">
                <a16:creationId xmlns:a16="http://schemas.microsoft.com/office/drawing/2014/main" id="{F3D88BF5-A3C1-FBC0-26A5-FD18DC710C8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9" name="Rectangle 43">
            <a:extLst>
              <a:ext uri="{FF2B5EF4-FFF2-40B4-BE49-F238E27FC236}">
                <a16:creationId xmlns:a16="http://schemas.microsoft.com/office/drawing/2014/main" id="{5D50A6D8-0BA4-FC57-1982-DF1C5B150ED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1" name="Rectangle 44">
            <a:extLst>
              <a:ext uri="{FF2B5EF4-FFF2-40B4-BE49-F238E27FC236}">
                <a16:creationId xmlns:a16="http://schemas.microsoft.com/office/drawing/2014/main" id="{63BF1CBF-234E-1B58-27B0-5E598A521669}"/>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3" name="Rectangle 70">
            <a:extLst>
              <a:ext uri="{FF2B5EF4-FFF2-40B4-BE49-F238E27FC236}">
                <a16:creationId xmlns:a16="http://schemas.microsoft.com/office/drawing/2014/main" id="{FB3536E7-F823-290C-77D4-27EA7896DAF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5" name="Rectangle 46">
            <a:extLst>
              <a:ext uri="{FF2B5EF4-FFF2-40B4-BE49-F238E27FC236}">
                <a16:creationId xmlns:a16="http://schemas.microsoft.com/office/drawing/2014/main" id="{FE113834-392B-1F11-1F18-3CE14944220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97" name="Rectangle 47">
            <a:extLst>
              <a:ext uri="{FF2B5EF4-FFF2-40B4-BE49-F238E27FC236}">
                <a16:creationId xmlns:a16="http://schemas.microsoft.com/office/drawing/2014/main" id="{5DBA62B7-88B7-2815-8B8C-410C0D9021D8}"/>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9" name="Rectangle 48">
            <a:extLst>
              <a:ext uri="{FF2B5EF4-FFF2-40B4-BE49-F238E27FC236}">
                <a16:creationId xmlns:a16="http://schemas.microsoft.com/office/drawing/2014/main" id="{77996226-EF56-CB81-AE73-57B07A25CE10}"/>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9">
            <a:extLst>
              <a:ext uri="{FF2B5EF4-FFF2-40B4-BE49-F238E27FC236}">
                <a16:creationId xmlns:a16="http://schemas.microsoft.com/office/drawing/2014/main" id="{42BBF0FE-C1BC-A64B-BB1F-00D6E587B4F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4">
            <a:extLst>
              <a:ext uri="{FF2B5EF4-FFF2-40B4-BE49-F238E27FC236}">
                <a16:creationId xmlns:a16="http://schemas.microsoft.com/office/drawing/2014/main" id="{653ED3F7-EC0A-9FEC-CA74-DD0CED492BCA}"/>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5" name="Rectangle 78">
            <a:extLst>
              <a:ext uri="{FF2B5EF4-FFF2-40B4-BE49-F238E27FC236}">
                <a16:creationId xmlns:a16="http://schemas.microsoft.com/office/drawing/2014/main" id="{416019A9-6A3E-A48C-BD65-DDD2D5E54E4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09" name="矩形 208">
            <a:extLst>
              <a:ext uri="{FF2B5EF4-FFF2-40B4-BE49-F238E27FC236}">
                <a16:creationId xmlns:a16="http://schemas.microsoft.com/office/drawing/2014/main" id="{3E6D5A2D-205D-F56F-D50D-36CCBFE2CC00}"/>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16" name="组合 215">
            <a:extLst>
              <a:ext uri="{FF2B5EF4-FFF2-40B4-BE49-F238E27FC236}">
                <a16:creationId xmlns:a16="http://schemas.microsoft.com/office/drawing/2014/main" id="{3B6731B0-536E-37CD-4001-73A754D071AD}"/>
              </a:ext>
            </a:extLst>
          </p:cNvPr>
          <p:cNvGrpSpPr/>
          <p:nvPr/>
        </p:nvGrpSpPr>
        <p:grpSpPr>
          <a:xfrm>
            <a:off x="3960000" y="2808000"/>
            <a:ext cx="1080000" cy="1080000"/>
            <a:chOff x="2807995" y="2745746"/>
            <a:chExt cx="1080000" cy="1080000"/>
          </a:xfrm>
        </p:grpSpPr>
        <p:sp>
          <p:nvSpPr>
            <p:cNvPr id="217" name="立方体 216">
              <a:extLst>
                <a:ext uri="{FF2B5EF4-FFF2-40B4-BE49-F238E27FC236}">
                  <a16:creationId xmlns:a16="http://schemas.microsoft.com/office/drawing/2014/main" id="{D9916454-1C67-CC53-2B0A-C6565DC8159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A85BDE88-C8D9-0DB9-25DE-D10EDAA80F0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9" name="立方体 218">
              <a:extLst>
                <a:ext uri="{FF2B5EF4-FFF2-40B4-BE49-F238E27FC236}">
                  <a16:creationId xmlns:a16="http://schemas.microsoft.com/office/drawing/2014/main" id="{5EF46CFF-6CC1-145B-B162-256940E1A7B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4C15BA5D-3D53-3FF5-7B04-304EDA7DB80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91405F53-FB4D-9275-EA31-BD41B17CE38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23" name="AutoShape 4">
            <a:extLst>
              <a:ext uri="{FF2B5EF4-FFF2-40B4-BE49-F238E27FC236}">
                <a16:creationId xmlns:a16="http://schemas.microsoft.com/office/drawing/2014/main" id="{B56B2D6C-C063-B6BF-4F79-9104B4653518}"/>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5" name="AutoShape 4">
            <a:extLst>
              <a:ext uri="{FF2B5EF4-FFF2-40B4-BE49-F238E27FC236}">
                <a16:creationId xmlns:a16="http://schemas.microsoft.com/office/drawing/2014/main" id="{3ECC1FAD-65C7-F35C-EC97-497FF033AAC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Text Box 26">
            <a:extLst>
              <a:ext uri="{FF2B5EF4-FFF2-40B4-BE49-F238E27FC236}">
                <a16:creationId xmlns:a16="http://schemas.microsoft.com/office/drawing/2014/main" id="{6115F459-B80D-07B8-AD08-7E4006B85BF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9" name="Text Box 26">
            <a:extLst>
              <a:ext uri="{FF2B5EF4-FFF2-40B4-BE49-F238E27FC236}">
                <a16:creationId xmlns:a16="http://schemas.microsoft.com/office/drawing/2014/main" id="{7EA23287-9CEA-B558-E561-FA9CF62133E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 name="组合 147">
            <a:extLst>
              <a:ext uri="{FF2B5EF4-FFF2-40B4-BE49-F238E27FC236}">
                <a16:creationId xmlns:a16="http://schemas.microsoft.com/office/drawing/2014/main" id="{12791F2E-B929-D82D-937E-CE6EB1EA2496}"/>
              </a:ext>
            </a:extLst>
          </p:cNvPr>
          <p:cNvGrpSpPr/>
          <p:nvPr/>
        </p:nvGrpSpPr>
        <p:grpSpPr>
          <a:xfrm>
            <a:off x="7395732" y="1800000"/>
            <a:ext cx="1080000" cy="2088000"/>
            <a:chOff x="701211" y="1800000"/>
            <a:chExt cx="1080000" cy="2088000"/>
          </a:xfrm>
        </p:grpSpPr>
        <p:sp>
          <p:nvSpPr>
            <p:cNvPr id="149" name="立方体 148">
              <a:extLst>
                <a:ext uri="{FF2B5EF4-FFF2-40B4-BE49-F238E27FC236}">
                  <a16:creationId xmlns:a16="http://schemas.microsoft.com/office/drawing/2014/main" id="{FF035564-2A4A-A4AD-11CE-305096A5298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0" name="立方体 149">
              <a:extLst>
                <a:ext uri="{FF2B5EF4-FFF2-40B4-BE49-F238E27FC236}">
                  <a16:creationId xmlns:a16="http://schemas.microsoft.com/office/drawing/2014/main" id="{3B934C37-CD2F-1A53-59B7-63E6BCF22E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1" name="立方体 150">
              <a:extLst>
                <a:ext uri="{FF2B5EF4-FFF2-40B4-BE49-F238E27FC236}">
                  <a16:creationId xmlns:a16="http://schemas.microsoft.com/office/drawing/2014/main" id="{A28823B2-1E7A-4A56-6E9D-A1DF7D8A834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2" name="立方体 151">
              <a:extLst>
                <a:ext uri="{FF2B5EF4-FFF2-40B4-BE49-F238E27FC236}">
                  <a16:creationId xmlns:a16="http://schemas.microsoft.com/office/drawing/2014/main" id="{4C2C9698-7E45-7EE1-4552-544AC5EBD46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53" name="立方体 152">
              <a:extLst>
                <a:ext uri="{FF2B5EF4-FFF2-40B4-BE49-F238E27FC236}">
                  <a16:creationId xmlns:a16="http://schemas.microsoft.com/office/drawing/2014/main" id="{C63E48FB-C178-9B4F-2605-DBFA25EAE05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4" name="圆柱体 153">
              <a:extLst>
                <a:ext uri="{FF2B5EF4-FFF2-40B4-BE49-F238E27FC236}">
                  <a16:creationId xmlns:a16="http://schemas.microsoft.com/office/drawing/2014/main" id="{BB4FEB71-0E40-CCAF-BBB8-C38EA40A70A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55" name="组合 154">
            <a:extLst>
              <a:ext uri="{FF2B5EF4-FFF2-40B4-BE49-F238E27FC236}">
                <a16:creationId xmlns:a16="http://schemas.microsoft.com/office/drawing/2014/main" id="{201913DD-E7B9-2997-D324-5AFCFC3FC065}"/>
              </a:ext>
            </a:extLst>
          </p:cNvPr>
          <p:cNvGrpSpPr/>
          <p:nvPr/>
        </p:nvGrpSpPr>
        <p:grpSpPr>
          <a:xfrm>
            <a:off x="701211" y="1800000"/>
            <a:ext cx="1080000" cy="2088000"/>
            <a:chOff x="701211" y="1800000"/>
            <a:chExt cx="1080000" cy="2088000"/>
          </a:xfrm>
        </p:grpSpPr>
        <p:sp>
          <p:nvSpPr>
            <p:cNvPr id="156" name="立方体 155">
              <a:extLst>
                <a:ext uri="{FF2B5EF4-FFF2-40B4-BE49-F238E27FC236}">
                  <a16:creationId xmlns:a16="http://schemas.microsoft.com/office/drawing/2014/main" id="{D9781AAB-8C8C-0576-A030-A9ABF6A85D8F}"/>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7" name="立方体 156">
              <a:extLst>
                <a:ext uri="{FF2B5EF4-FFF2-40B4-BE49-F238E27FC236}">
                  <a16:creationId xmlns:a16="http://schemas.microsoft.com/office/drawing/2014/main" id="{57F328AA-1A7F-DFA6-D708-C9BCB49757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8" name="立方体 157">
              <a:extLst>
                <a:ext uri="{FF2B5EF4-FFF2-40B4-BE49-F238E27FC236}">
                  <a16:creationId xmlns:a16="http://schemas.microsoft.com/office/drawing/2014/main" id="{4CC85244-297C-3CCE-B08C-5655DBA903F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9" name="立方体 158">
              <a:extLst>
                <a:ext uri="{FF2B5EF4-FFF2-40B4-BE49-F238E27FC236}">
                  <a16:creationId xmlns:a16="http://schemas.microsoft.com/office/drawing/2014/main" id="{C4E7F66E-19BA-9D51-68C0-85F57226D1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0" name="立方体 159">
              <a:extLst>
                <a:ext uri="{FF2B5EF4-FFF2-40B4-BE49-F238E27FC236}">
                  <a16:creationId xmlns:a16="http://schemas.microsoft.com/office/drawing/2014/main" id="{8431B35C-71A7-0EA0-6E9C-0683CD2C635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1" name="圆柱体 160">
              <a:extLst>
                <a:ext uri="{FF2B5EF4-FFF2-40B4-BE49-F238E27FC236}">
                  <a16:creationId xmlns:a16="http://schemas.microsoft.com/office/drawing/2014/main" id="{7742C8A5-EA7A-0A5F-A5CF-59FFF0E45C9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CB2CD250-FE46-AFE9-7169-A795B877A764}"/>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64" name="Rectangle 37">
            <a:extLst>
              <a:ext uri="{FF2B5EF4-FFF2-40B4-BE49-F238E27FC236}">
                <a16:creationId xmlns:a16="http://schemas.microsoft.com/office/drawing/2014/main" id="{7152AED5-02E8-63D9-6ACE-8173C2A37B79}"/>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66" name="Rectangle 34">
            <a:extLst>
              <a:ext uri="{FF2B5EF4-FFF2-40B4-BE49-F238E27FC236}">
                <a16:creationId xmlns:a16="http://schemas.microsoft.com/office/drawing/2014/main" id="{33C10B0B-03A2-E50E-96B8-204A3AD0BF65}"/>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68" name="Rectangle 37">
            <a:extLst>
              <a:ext uri="{FF2B5EF4-FFF2-40B4-BE49-F238E27FC236}">
                <a16:creationId xmlns:a16="http://schemas.microsoft.com/office/drawing/2014/main" id="{F3AB9C91-9B8D-6560-1279-5C29F011FFB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70" name="Rectangle 39">
            <a:extLst>
              <a:ext uri="{FF2B5EF4-FFF2-40B4-BE49-F238E27FC236}">
                <a16:creationId xmlns:a16="http://schemas.microsoft.com/office/drawing/2014/main" id="{DC1BF727-D6A2-5AD7-8B15-DE099FC56751}"/>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6E77507D-BBA7-37D0-6FAF-CA605C284304}"/>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92B3E8AB-936F-F954-8672-71D0010A195F}"/>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42">
            <a:extLst>
              <a:ext uri="{FF2B5EF4-FFF2-40B4-BE49-F238E27FC236}">
                <a16:creationId xmlns:a16="http://schemas.microsoft.com/office/drawing/2014/main" id="{336A28EE-0DF3-B15F-E4C7-EF48DE20E228}"/>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8" name="Rectangle 43">
            <a:extLst>
              <a:ext uri="{FF2B5EF4-FFF2-40B4-BE49-F238E27FC236}">
                <a16:creationId xmlns:a16="http://schemas.microsoft.com/office/drawing/2014/main" id="{8C65986C-A70C-D841-58C3-95A89CFD1097}"/>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0" name="Rectangle 44">
            <a:extLst>
              <a:ext uri="{FF2B5EF4-FFF2-40B4-BE49-F238E27FC236}">
                <a16:creationId xmlns:a16="http://schemas.microsoft.com/office/drawing/2014/main" id="{2613DB17-85B5-B39F-9E5E-AC3A834B4E0D}"/>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2" name="Rectangle 70">
            <a:extLst>
              <a:ext uri="{FF2B5EF4-FFF2-40B4-BE49-F238E27FC236}">
                <a16:creationId xmlns:a16="http://schemas.microsoft.com/office/drawing/2014/main" id="{CE0C6FC5-3D83-52F8-5620-9DFDE0F1AB12}"/>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4" name="Rectangle 46">
            <a:extLst>
              <a:ext uri="{FF2B5EF4-FFF2-40B4-BE49-F238E27FC236}">
                <a16:creationId xmlns:a16="http://schemas.microsoft.com/office/drawing/2014/main" id="{004826AA-8BE2-1868-5DD3-8BC67859EB54}"/>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6" name="Rectangle 47">
            <a:extLst>
              <a:ext uri="{FF2B5EF4-FFF2-40B4-BE49-F238E27FC236}">
                <a16:creationId xmlns:a16="http://schemas.microsoft.com/office/drawing/2014/main" id="{A1632A01-1343-C33C-E726-04866DDFB9CF}"/>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8" name="Rectangle 48">
            <a:extLst>
              <a:ext uri="{FF2B5EF4-FFF2-40B4-BE49-F238E27FC236}">
                <a16:creationId xmlns:a16="http://schemas.microsoft.com/office/drawing/2014/main" id="{86A67566-67C0-F1C0-3E64-482DCFDD1989}"/>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0" name="Rectangle 49">
            <a:extLst>
              <a:ext uri="{FF2B5EF4-FFF2-40B4-BE49-F238E27FC236}">
                <a16:creationId xmlns:a16="http://schemas.microsoft.com/office/drawing/2014/main" id="{4BF53313-5495-9229-DCF1-88CE99E28E7A}"/>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2" name="Rectangle 74">
            <a:extLst>
              <a:ext uri="{FF2B5EF4-FFF2-40B4-BE49-F238E27FC236}">
                <a16:creationId xmlns:a16="http://schemas.microsoft.com/office/drawing/2014/main" id="{2551B574-1778-9ADD-3E14-FDBACC5C221B}"/>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4" name="Rectangle 78">
            <a:extLst>
              <a:ext uri="{FF2B5EF4-FFF2-40B4-BE49-F238E27FC236}">
                <a16:creationId xmlns:a16="http://schemas.microsoft.com/office/drawing/2014/main" id="{2E4F6E04-C42F-22C0-CD7D-2F3150C69B1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6" name="Rectangle 35">
            <a:extLst>
              <a:ext uri="{FF2B5EF4-FFF2-40B4-BE49-F238E27FC236}">
                <a16:creationId xmlns:a16="http://schemas.microsoft.com/office/drawing/2014/main" id="{08264DC0-5BB9-7F70-37F4-9352618478FE}"/>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198" name="矩形 197">
            <a:extLst>
              <a:ext uri="{FF2B5EF4-FFF2-40B4-BE49-F238E27FC236}">
                <a16:creationId xmlns:a16="http://schemas.microsoft.com/office/drawing/2014/main" id="{230AA5A2-72FF-170C-81A7-DA3517412153}"/>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05" name="组合 204">
            <a:extLst>
              <a:ext uri="{FF2B5EF4-FFF2-40B4-BE49-F238E27FC236}">
                <a16:creationId xmlns:a16="http://schemas.microsoft.com/office/drawing/2014/main" id="{24D73C33-AA18-909D-28CD-CC87F4DF89EE}"/>
              </a:ext>
            </a:extLst>
          </p:cNvPr>
          <p:cNvGrpSpPr/>
          <p:nvPr/>
        </p:nvGrpSpPr>
        <p:grpSpPr>
          <a:xfrm>
            <a:off x="3960000" y="2808000"/>
            <a:ext cx="1080000" cy="1080000"/>
            <a:chOff x="2807995" y="2745746"/>
            <a:chExt cx="1080000" cy="1080000"/>
          </a:xfrm>
        </p:grpSpPr>
        <p:sp>
          <p:nvSpPr>
            <p:cNvPr id="206" name="立方体 205">
              <a:extLst>
                <a:ext uri="{FF2B5EF4-FFF2-40B4-BE49-F238E27FC236}">
                  <a16:creationId xmlns:a16="http://schemas.microsoft.com/office/drawing/2014/main" id="{3A0B48E3-2954-14DC-6F4F-A7B602A01FF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7" name="立方体 206">
              <a:extLst>
                <a:ext uri="{FF2B5EF4-FFF2-40B4-BE49-F238E27FC236}">
                  <a16:creationId xmlns:a16="http://schemas.microsoft.com/office/drawing/2014/main" id="{B0AC3F5D-8B2C-75FA-ABD1-D1D803FC9D7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8" name="立方体 207">
              <a:extLst>
                <a:ext uri="{FF2B5EF4-FFF2-40B4-BE49-F238E27FC236}">
                  <a16:creationId xmlns:a16="http://schemas.microsoft.com/office/drawing/2014/main" id="{FFC23198-B17A-42B7-8FFE-3E84E2CFFA0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9" name="立方体 208">
              <a:extLst>
                <a:ext uri="{FF2B5EF4-FFF2-40B4-BE49-F238E27FC236}">
                  <a16:creationId xmlns:a16="http://schemas.microsoft.com/office/drawing/2014/main" id="{406A764E-A8D7-BB08-198C-20315BA947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0" name="立方体 209">
              <a:extLst>
                <a:ext uri="{FF2B5EF4-FFF2-40B4-BE49-F238E27FC236}">
                  <a16:creationId xmlns:a16="http://schemas.microsoft.com/office/drawing/2014/main" id="{4BDDF274-6A51-2D27-3FA8-CC009DC79A8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12" name="AutoShape 4">
            <a:extLst>
              <a:ext uri="{FF2B5EF4-FFF2-40B4-BE49-F238E27FC236}">
                <a16:creationId xmlns:a16="http://schemas.microsoft.com/office/drawing/2014/main" id="{8158F994-3345-F7F9-FAF6-D00F0FEB98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4" name="AutoShape 4">
            <a:extLst>
              <a:ext uri="{FF2B5EF4-FFF2-40B4-BE49-F238E27FC236}">
                <a16:creationId xmlns:a16="http://schemas.microsoft.com/office/drawing/2014/main" id="{A58EAB20-10CA-EB7E-D2C5-D2542A7462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6" name="Text Box 26">
            <a:extLst>
              <a:ext uri="{FF2B5EF4-FFF2-40B4-BE49-F238E27FC236}">
                <a16:creationId xmlns:a16="http://schemas.microsoft.com/office/drawing/2014/main" id="{C47325AF-CF76-7FFE-E90C-24F9A243539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18" name="Text Box 26">
            <a:extLst>
              <a:ext uri="{FF2B5EF4-FFF2-40B4-BE49-F238E27FC236}">
                <a16:creationId xmlns:a16="http://schemas.microsoft.com/office/drawing/2014/main" id="{9BCB0706-39A6-3685-F433-CA6F42379D3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AutoShape 4">
            <a:extLst>
              <a:ext uri="{FF2B5EF4-FFF2-40B4-BE49-F238E27FC236}">
                <a16:creationId xmlns:a16="http://schemas.microsoft.com/office/drawing/2014/main" id="{E18FA0CF-E4E1-CD72-4504-6A0154EC428C}"/>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23" name="AutoShape 4">
            <a:extLst>
              <a:ext uri="{FF2B5EF4-FFF2-40B4-BE49-F238E27FC236}">
                <a16:creationId xmlns:a16="http://schemas.microsoft.com/office/drawing/2014/main" id="{AFEB8230-501A-63EC-A813-F209E6BA3541}"/>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30" name="Text Box 26">
            <a:extLst>
              <a:ext uri="{FF2B5EF4-FFF2-40B4-BE49-F238E27FC236}">
                <a16:creationId xmlns:a16="http://schemas.microsoft.com/office/drawing/2014/main" id="{51BA213B-7EE0-1A8B-4DEB-4C989DD8C4E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32" name="Text Box 26">
            <a:extLst>
              <a:ext uri="{FF2B5EF4-FFF2-40B4-BE49-F238E27FC236}">
                <a16:creationId xmlns:a16="http://schemas.microsoft.com/office/drawing/2014/main" id="{BC1BFF9A-D50A-8BD9-AC6C-B03AF258BF6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94" name="组合 93">
            <a:extLst>
              <a:ext uri="{FF2B5EF4-FFF2-40B4-BE49-F238E27FC236}">
                <a16:creationId xmlns:a16="http://schemas.microsoft.com/office/drawing/2014/main" id="{D59294A2-92CB-2679-87B6-F6F7D61799BC}"/>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8EE23840-E493-7CD0-4E69-02968BE7148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7" name="立方体 96">
              <a:extLst>
                <a:ext uri="{FF2B5EF4-FFF2-40B4-BE49-F238E27FC236}">
                  <a16:creationId xmlns:a16="http://schemas.microsoft.com/office/drawing/2014/main" id="{D781551C-2BE5-EA3D-1A59-BD5E4382C4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8BCC5A60-675A-306B-DB40-81C339C41E9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62F84A7E-9332-A112-1809-CC6956866F3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82857230-82E6-B50D-E86D-7645A10B8B5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9260F218-7ED6-2E1C-802B-67E7B24526E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4" name="组合 103">
            <a:extLst>
              <a:ext uri="{FF2B5EF4-FFF2-40B4-BE49-F238E27FC236}">
                <a16:creationId xmlns:a16="http://schemas.microsoft.com/office/drawing/2014/main" id="{353E13B6-9752-94E3-8EC9-2388841D4427}"/>
              </a:ext>
            </a:extLst>
          </p:cNvPr>
          <p:cNvGrpSpPr/>
          <p:nvPr/>
        </p:nvGrpSpPr>
        <p:grpSpPr>
          <a:xfrm>
            <a:off x="701211" y="1800000"/>
            <a:ext cx="1080000" cy="2088000"/>
            <a:chOff x="701211" y="1800000"/>
            <a:chExt cx="1080000" cy="2088000"/>
          </a:xfrm>
        </p:grpSpPr>
        <p:sp>
          <p:nvSpPr>
            <p:cNvPr id="105" name="立方体 104">
              <a:extLst>
                <a:ext uri="{FF2B5EF4-FFF2-40B4-BE49-F238E27FC236}">
                  <a16:creationId xmlns:a16="http://schemas.microsoft.com/office/drawing/2014/main" id="{2F632906-3653-F791-454D-77BB80A228B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6" name="立方体 105">
              <a:extLst>
                <a:ext uri="{FF2B5EF4-FFF2-40B4-BE49-F238E27FC236}">
                  <a16:creationId xmlns:a16="http://schemas.microsoft.com/office/drawing/2014/main" id="{959B1B51-B578-03E4-0ACD-E2EEB34AF0E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7" name="立方体 106">
              <a:extLst>
                <a:ext uri="{FF2B5EF4-FFF2-40B4-BE49-F238E27FC236}">
                  <a16:creationId xmlns:a16="http://schemas.microsoft.com/office/drawing/2014/main" id="{B543FBE8-D0FC-AE17-FCAD-5D99A68BAD03}"/>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D74927F5-4822-2DF5-8385-8DE0F311200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4AAB45A9-7B44-8868-D75A-EF26FF096A8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EA7AAF3C-D3AE-D6F3-8107-72183C4154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44D87AC-D75B-20E7-1E3F-6982E36509A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grpSp>
        <p:nvGrpSpPr>
          <p:cNvPr id="113" name="组合 112">
            <a:extLst>
              <a:ext uri="{FF2B5EF4-FFF2-40B4-BE49-F238E27FC236}">
                <a16:creationId xmlns:a16="http://schemas.microsoft.com/office/drawing/2014/main" id="{85439FD1-C978-B9A7-3A51-1EE1D05BF1BA}"/>
              </a:ext>
            </a:extLst>
          </p:cNvPr>
          <p:cNvGrpSpPr/>
          <p:nvPr/>
        </p:nvGrpSpPr>
        <p:grpSpPr>
          <a:xfrm>
            <a:off x="3960000" y="2808000"/>
            <a:ext cx="1080000" cy="1080000"/>
            <a:chOff x="2807995" y="2745746"/>
            <a:chExt cx="1080000" cy="1080000"/>
          </a:xfrm>
        </p:grpSpPr>
        <p:sp>
          <p:nvSpPr>
            <p:cNvPr id="114" name="立方体 113">
              <a:extLst>
                <a:ext uri="{FF2B5EF4-FFF2-40B4-BE49-F238E27FC236}">
                  <a16:creationId xmlns:a16="http://schemas.microsoft.com/office/drawing/2014/main" id="{6B88DE2D-D09F-275E-02B1-D3563CBDE4A7}"/>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5" name="立方体 114">
              <a:extLst>
                <a:ext uri="{FF2B5EF4-FFF2-40B4-BE49-F238E27FC236}">
                  <a16:creationId xmlns:a16="http://schemas.microsoft.com/office/drawing/2014/main" id="{8880A67F-299B-645C-7B38-D7E43C6C544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6" name="立方体 115">
              <a:extLst>
                <a:ext uri="{FF2B5EF4-FFF2-40B4-BE49-F238E27FC236}">
                  <a16:creationId xmlns:a16="http://schemas.microsoft.com/office/drawing/2014/main" id="{BBBDEE8C-C4FF-CBAA-04D8-86EC8FCCBCEC}"/>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7" name="立方体 116">
              <a:extLst>
                <a:ext uri="{FF2B5EF4-FFF2-40B4-BE49-F238E27FC236}">
                  <a16:creationId xmlns:a16="http://schemas.microsoft.com/office/drawing/2014/main" id="{A8E41C9A-7DF7-639E-AAB2-5D487DC6D3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8" name="立方体 117">
              <a:extLst>
                <a:ext uri="{FF2B5EF4-FFF2-40B4-BE49-F238E27FC236}">
                  <a16:creationId xmlns:a16="http://schemas.microsoft.com/office/drawing/2014/main" id="{6E377401-053C-6930-D588-FCF7A9EE5CC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4">
            <a:extLst>
              <a:ext uri="{FF2B5EF4-FFF2-40B4-BE49-F238E27FC236}">
                <a16:creationId xmlns:a16="http://schemas.microsoft.com/office/drawing/2014/main" id="{52B46D5E-131C-E439-7C22-F27CF6C65A1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9" name="AutoShape 4">
            <a:extLst>
              <a:ext uri="{FF2B5EF4-FFF2-40B4-BE49-F238E27FC236}">
                <a16:creationId xmlns:a16="http://schemas.microsoft.com/office/drawing/2014/main" id="{563A62D4-B123-7582-3B93-E7B52EDB372A}"/>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Text Box 26">
            <a:extLst>
              <a:ext uri="{FF2B5EF4-FFF2-40B4-BE49-F238E27FC236}">
                <a16:creationId xmlns:a16="http://schemas.microsoft.com/office/drawing/2014/main" id="{264D5338-BCA2-6B39-3D19-E65670A8B8BA}"/>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3" name="Text Box 26">
            <a:extLst>
              <a:ext uri="{FF2B5EF4-FFF2-40B4-BE49-F238E27FC236}">
                <a16:creationId xmlns:a16="http://schemas.microsoft.com/office/drawing/2014/main" id="{F7502E05-52E7-6E50-7BD3-C78FD2369C0E}"/>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85" name="组合 84">
            <a:extLst>
              <a:ext uri="{FF2B5EF4-FFF2-40B4-BE49-F238E27FC236}">
                <a16:creationId xmlns:a16="http://schemas.microsoft.com/office/drawing/2014/main" id="{D8D4EECB-9124-6B88-1F6A-195A77D77256}"/>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458A2B0B-9506-82A6-0E1D-2DC410D9786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7" name="立方体 86">
              <a:extLst>
                <a:ext uri="{FF2B5EF4-FFF2-40B4-BE49-F238E27FC236}">
                  <a16:creationId xmlns:a16="http://schemas.microsoft.com/office/drawing/2014/main" id="{8F9626E8-9735-C0AF-D767-06BA50A441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9" name="立方体 88">
              <a:extLst>
                <a:ext uri="{FF2B5EF4-FFF2-40B4-BE49-F238E27FC236}">
                  <a16:creationId xmlns:a16="http://schemas.microsoft.com/office/drawing/2014/main" id="{C01AFE67-8318-5C38-75EB-E0827BB89BF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0" name="立方体 89">
              <a:extLst>
                <a:ext uri="{FF2B5EF4-FFF2-40B4-BE49-F238E27FC236}">
                  <a16:creationId xmlns:a16="http://schemas.microsoft.com/office/drawing/2014/main" id="{1AC80D0A-3D36-DD77-B4DA-0ABF00A0407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1" name="立方体 90">
              <a:extLst>
                <a:ext uri="{FF2B5EF4-FFF2-40B4-BE49-F238E27FC236}">
                  <a16:creationId xmlns:a16="http://schemas.microsoft.com/office/drawing/2014/main" id="{79DBF8C0-DDE2-3210-C64E-386DDD03B1F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2" name="圆柱体 91">
              <a:extLst>
                <a:ext uri="{FF2B5EF4-FFF2-40B4-BE49-F238E27FC236}">
                  <a16:creationId xmlns:a16="http://schemas.microsoft.com/office/drawing/2014/main" id="{621798BD-D8CE-8ADA-405E-B1CDA0516AB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3" name="组合 92">
            <a:extLst>
              <a:ext uri="{FF2B5EF4-FFF2-40B4-BE49-F238E27FC236}">
                <a16:creationId xmlns:a16="http://schemas.microsoft.com/office/drawing/2014/main" id="{86260840-4489-9650-E614-D0924E8E645F}"/>
              </a:ext>
            </a:extLst>
          </p:cNvPr>
          <p:cNvGrpSpPr/>
          <p:nvPr/>
        </p:nvGrpSpPr>
        <p:grpSpPr>
          <a:xfrm>
            <a:off x="701211" y="1800000"/>
            <a:ext cx="1080000" cy="2088000"/>
            <a:chOff x="701211" y="1800000"/>
            <a:chExt cx="1080000" cy="2088000"/>
          </a:xfrm>
        </p:grpSpPr>
        <p:sp>
          <p:nvSpPr>
            <p:cNvPr id="94" name="立方体 93">
              <a:extLst>
                <a:ext uri="{FF2B5EF4-FFF2-40B4-BE49-F238E27FC236}">
                  <a16:creationId xmlns:a16="http://schemas.microsoft.com/office/drawing/2014/main" id="{3B0C2350-F409-42F8-11B4-C84E443BDC6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6" name="立方体 95">
              <a:extLst>
                <a:ext uri="{FF2B5EF4-FFF2-40B4-BE49-F238E27FC236}">
                  <a16:creationId xmlns:a16="http://schemas.microsoft.com/office/drawing/2014/main" id="{78F49941-CE25-9706-2541-8920FB30A39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AC18455D-022C-B5BF-B185-87C0B4AFF50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F7166259-E87F-91F9-2FCC-65B69D4CA7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1C6A6C58-61C8-6D52-F003-F2D944187C49}"/>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700A8558-B558-202C-552D-63E8ED4E9B1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F572C8F7-60CD-4A41-2F55-D73CCF10521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Rectangle 35">
            <a:extLst>
              <a:ext uri="{FF2B5EF4-FFF2-40B4-BE49-F238E27FC236}">
                <a16:creationId xmlns:a16="http://schemas.microsoft.com/office/drawing/2014/main" id="{3147EA92-4B15-2D52-795E-10B3DBB5C21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grpSp>
        <p:nvGrpSpPr>
          <p:cNvPr id="150" name="组合 149">
            <a:extLst>
              <a:ext uri="{FF2B5EF4-FFF2-40B4-BE49-F238E27FC236}">
                <a16:creationId xmlns:a16="http://schemas.microsoft.com/office/drawing/2014/main" id="{CDAF3B00-D1E9-9D31-C939-F131EB497D51}"/>
              </a:ext>
            </a:extLst>
          </p:cNvPr>
          <p:cNvGrpSpPr/>
          <p:nvPr/>
        </p:nvGrpSpPr>
        <p:grpSpPr>
          <a:xfrm>
            <a:off x="3960000" y="2808000"/>
            <a:ext cx="1080000" cy="1080000"/>
            <a:chOff x="2807995" y="2745746"/>
            <a:chExt cx="1080000" cy="1080000"/>
          </a:xfrm>
        </p:grpSpPr>
        <p:sp>
          <p:nvSpPr>
            <p:cNvPr id="151" name="立方体 150">
              <a:extLst>
                <a:ext uri="{FF2B5EF4-FFF2-40B4-BE49-F238E27FC236}">
                  <a16:creationId xmlns:a16="http://schemas.microsoft.com/office/drawing/2014/main" id="{8493F15E-624E-BF9F-82AC-EC9302DD355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D7EFA08A-A24B-B222-9D1C-DE3472740EFF}"/>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7A07D37F-6653-0D9E-2E23-95EA16FA648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A55B1BD9-3DFC-2A4A-93C0-7F12EF7BD1D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8020E199-FAA2-D739-8F9D-E7580C1071D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AutoShape 4">
            <a:extLst>
              <a:ext uri="{FF2B5EF4-FFF2-40B4-BE49-F238E27FC236}">
                <a16:creationId xmlns:a16="http://schemas.microsoft.com/office/drawing/2014/main" id="{741F9640-5B7B-8471-4AAF-D4BACB7C3323}"/>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AutoShape 4">
            <a:extLst>
              <a:ext uri="{FF2B5EF4-FFF2-40B4-BE49-F238E27FC236}">
                <a16:creationId xmlns:a16="http://schemas.microsoft.com/office/drawing/2014/main" id="{242BDC35-9C3A-2172-6F61-CA87ACA744B3}"/>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3" name="Text Box 26">
            <a:extLst>
              <a:ext uri="{FF2B5EF4-FFF2-40B4-BE49-F238E27FC236}">
                <a16:creationId xmlns:a16="http://schemas.microsoft.com/office/drawing/2014/main" id="{D7C01418-2DAB-28CA-3B07-DC0B86DD9BC0}"/>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5" name="Text Box 26">
            <a:extLst>
              <a:ext uri="{FF2B5EF4-FFF2-40B4-BE49-F238E27FC236}">
                <a16:creationId xmlns:a16="http://schemas.microsoft.com/office/drawing/2014/main" id="{BDED7DAE-2D5E-CA08-5CE0-4A71E3CA9FF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2" name="组合 151">
            <a:extLst>
              <a:ext uri="{FF2B5EF4-FFF2-40B4-BE49-F238E27FC236}">
                <a16:creationId xmlns:a16="http://schemas.microsoft.com/office/drawing/2014/main" id="{2B3CD523-93E9-DD27-1652-C2CC2B9DAF33}"/>
              </a:ext>
            </a:extLst>
          </p:cNvPr>
          <p:cNvGrpSpPr/>
          <p:nvPr/>
        </p:nvGrpSpPr>
        <p:grpSpPr>
          <a:xfrm>
            <a:off x="3960000" y="2808000"/>
            <a:ext cx="1080000" cy="1080000"/>
            <a:chOff x="2807995" y="2745746"/>
            <a:chExt cx="1080000" cy="1080000"/>
          </a:xfrm>
        </p:grpSpPr>
        <p:sp>
          <p:nvSpPr>
            <p:cNvPr id="153" name="立方体 152">
              <a:extLst>
                <a:ext uri="{FF2B5EF4-FFF2-40B4-BE49-F238E27FC236}">
                  <a16:creationId xmlns:a16="http://schemas.microsoft.com/office/drawing/2014/main" id="{14E3DF62-A3A1-87AE-194E-E105B065B76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E7AC19C8-3056-CEFE-714A-BF4AA1B6682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C0D721D8-E508-5C4E-92F7-72577FE4874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6" name="立方体 155">
              <a:extLst>
                <a:ext uri="{FF2B5EF4-FFF2-40B4-BE49-F238E27FC236}">
                  <a16:creationId xmlns:a16="http://schemas.microsoft.com/office/drawing/2014/main" id="{EF282E04-6A31-E14A-2EE2-FA3D8364001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7" name="立方体 156">
              <a:extLst>
                <a:ext uri="{FF2B5EF4-FFF2-40B4-BE49-F238E27FC236}">
                  <a16:creationId xmlns:a16="http://schemas.microsoft.com/office/drawing/2014/main" id="{5F33640D-B069-B772-42C1-E5EE6C818B07}"/>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A5F991CD-43D6-6512-EBD7-22EF7FF0673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69148091-CD7F-EA71-C142-529036F2540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9F4C9DD-A691-9B6E-C0A4-AF6E13D58F3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5FD7E300-D65A-5E82-3AFE-F8A0B3CF47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2" name="立方体 81">
              <a:extLst>
                <a:ext uri="{FF2B5EF4-FFF2-40B4-BE49-F238E27FC236}">
                  <a16:creationId xmlns:a16="http://schemas.microsoft.com/office/drawing/2014/main" id="{0736C190-006A-D560-2A52-0FF62443E12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C128B9B7-F82E-154E-CFE9-1B65A916B93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F9D22141-94F6-87A8-7840-E2D78A9C1F5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1918E0D6-5060-2D87-0BBD-E5A646896718}"/>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BAC7C465-5D86-3C4F-04AF-9241A6BC8AA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D4047B67-B68C-176F-3635-33299AE925D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439B8FCD-5D9E-DFFE-883F-246B09A8BA1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77C45A4-A972-FD7A-916C-3A0A03683A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BA9893EA-1B08-B2B2-6B21-D907A49C591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400A958F-7565-F19F-7576-6251BD9C043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3A058CE-C321-0FFC-4BB0-424455316390}"/>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46">
            <a:extLst>
              <a:ext uri="{FF2B5EF4-FFF2-40B4-BE49-F238E27FC236}">
                <a16:creationId xmlns:a16="http://schemas.microsoft.com/office/drawing/2014/main" id="{F4F26065-47B9-19CD-87EC-CC40E14C28B6}"/>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37" name="Rectangle 47">
            <a:extLst>
              <a:ext uri="{FF2B5EF4-FFF2-40B4-BE49-F238E27FC236}">
                <a16:creationId xmlns:a16="http://schemas.microsoft.com/office/drawing/2014/main" id="{CA69CE12-7498-145E-A25B-3CECFD60A189}"/>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9" name="Rectangle 48">
            <a:extLst>
              <a:ext uri="{FF2B5EF4-FFF2-40B4-BE49-F238E27FC236}">
                <a16:creationId xmlns:a16="http://schemas.microsoft.com/office/drawing/2014/main" id="{2A40A79F-521A-7842-2ED8-5D9C0FD2D37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3" name="Rectangle 49">
            <a:extLst>
              <a:ext uri="{FF2B5EF4-FFF2-40B4-BE49-F238E27FC236}">
                <a16:creationId xmlns:a16="http://schemas.microsoft.com/office/drawing/2014/main" id="{98FC8B22-819B-BB29-D490-F003F5FA454E}"/>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5" name="Rectangle 74">
            <a:extLst>
              <a:ext uri="{FF2B5EF4-FFF2-40B4-BE49-F238E27FC236}">
                <a16:creationId xmlns:a16="http://schemas.microsoft.com/office/drawing/2014/main" id="{61F14528-079E-FA38-14A1-ED6EC8C8ED47}"/>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47" name="Rectangle 78">
            <a:extLst>
              <a:ext uri="{FF2B5EF4-FFF2-40B4-BE49-F238E27FC236}">
                <a16:creationId xmlns:a16="http://schemas.microsoft.com/office/drawing/2014/main" id="{CD49674C-3AE0-7DB7-52F9-8965B835E8B9}"/>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49" name="Rectangle 35">
            <a:extLst>
              <a:ext uri="{FF2B5EF4-FFF2-40B4-BE49-F238E27FC236}">
                <a16:creationId xmlns:a16="http://schemas.microsoft.com/office/drawing/2014/main" id="{1A86C306-44BB-5D87-0DD7-FE0BF4FF1BF5}"/>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AutoShape 4">
            <a:extLst>
              <a:ext uri="{FF2B5EF4-FFF2-40B4-BE49-F238E27FC236}">
                <a16:creationId xmlns:a16="http://schemas.microsoft.com/office/drawing/2014/main" id="{272EB0BC-5C42-D4BF-774B-DB10B8865196}"/>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8" name="AutoShape 4">
            <a:extLst>
              <a:ext uri="{FF2B5EF4-FFF2-40B4-BE49-F238E27FC236}">
                <a16:creationId xmlns:a16="http://schemas.microsoft.com/office/drawing/2014/main" id="{81FEFA27-C175-FC94-C79E-EA8E0B72CA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0" name="Text Box 26">
            <a:extLst>
              <a:ext uri="{FF2B5EF4-FFF2-40B4-BE49-F238E27FC236}">
                <a16:creationId xmlns:a16="http://schemas.microsoft.com/office/drawing/2014/main" id="{74FF1AE3-2D50-E8F7-D476-A9814F68AE0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2" name="Text Box 26">
            <a:extLst>
              <a:ext uri="{FF2B5EF4-FFF2-40B4-BE49-F238E27FC236}">
                <a16:creationId xmlns:a16="http://schemas.microsoft.com/office/drawing/2014/main" id="{4CA71CD9-702C-82B0-DB8C-192FCE07DAC6}"/>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9" name="组合 158">
            <a:extLst>
              <a:ext uri="{FF2B5EF4-FFF2-40B4-BE49-F238E27FC236}">
                <a16:creationId xmlns:a16="http://schemas.microsoft.com/office/drawing/2014/main" id="{25CCFFBE-E40D-5AD5-491A-99FA799EBF4F}"/>
              </a:ext>
            </a:extLst>
          </p:cNvPr>
          <p:cNvGrpSpPr/>
          <p:nvPr/>
        </p:nvGrpSpPr>
        <p:grpSpPr>
          <a:xfrm>
            <a:off x="3960000" y="2808000"/>
            <a:ext cx="1080000" cy="1080000"/>
            <a:chOff x="2807995" y="2745746"/>
            <a:chExt cx="1080000" cy="1080000"/>
          </a:xfrm>
        </p:grpSpPr>
        <p:sp>
          <p:nvSpPr>
            <p:cNvPr id="160" name="立方体 159">
              <a:extLst>
                <a:ext uri="{FF2B5EF4-FFF2-40B4-BE49-F238E27FC236}">
                  <a16:creationId xmlns:a16="http://schemas.microsoft.com/office/drawing/2014/main" id="{452EC51E-9DA7-074E-EE72-664073841BF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1" name="立方体 160">
              <a:extLst>
                <a:ext uri="{FF2B5EF4-FFF2-40B4-BE49-F238E27FC236}">
                  <a16:creationId xmlns:a16="http://schemas.microsoft.com/office/drawing/2014/main" id="{87BE2375-B63A-5074-9FDC-63329B2C75C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BD231BF3-0A01-CD42-DA9F-C8147DC4CE7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1854DAD1-CE4A-0FF4-DA0C-EEC94F4663D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D4F90754-BE62-247F-C9BA-2B072B3CF684}"/>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5" name="组合 84">
            <a:extLst>
              <a:ext uri="{FF2B5EF4-FFF2-40B4-BE49-F238E27FC236}">
                <a16:creationId xmlns:a16="http://schemas.microsoft.com/office/drawing/2014/main" id="{D1416939-520C-98DC-B227-3BED275D68F5}"/>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B4C9387B-F4FB-CD95-4F87-473F74195D8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3D58B4E3-61DC-2DB0-5C54-1E994FD2A46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BD153B01-9AAB-B15C-0CD4-17FD2B52034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A755436A-6174-8FEF-5D24-7D2927095CD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877E337B-AA1D-84FD-8B67-DE90661E6F7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66F93B29-1193-EB5B-5719-1AE42168A85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4" name="组合 93">
            <a:extLst>
              <a:ext uri="{FF2B5EF4-FFF2-40B4-BE49-F238E27FC236}">
                <a16:creationId xmlns:a16="http://schemas.microsoft.com/office/drawing/2014/main" id="{42965F2E-D95E-F039-E5B3-1A4B4293E147}"/>
              </a:ext>
            </a:extLst>
          </p:cNvPr>
          <p:cNvGrpSpPr/>
          <p:nvPr/>
        </p:nvGrpSpPr>
        <p:grpSpPr>
          <a:xfrm>
            <a:off x="701211" y="1800000"/>
            <a:ext cx="1080000" cy="2088000"/>
            <a:chOff x="701211" y="1800000"/>
            <a:chExt cx="1080000" cy="2088000"/>
          </a:xfrm>
        </p:grpSpPr>
        <p:sp>
          <p:nvSpPr>
            <p:cNvPr id="96" name="立方体 95">
              <a:extLst>
                <a:ext uri="{FF2B5EF4-FFF2-40B4-BE49-F238E27FC236}">
                  <a16:creationId xmlns:a16="http://schemas.microsoft.com/office/drawing/2014/main" id="{40EDC8F4-6B1A-CFE1-950B-29CB3FEBAA3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8EDAEFAC-D399-7DD2-4224-A4A924FF8D3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A66C553F-A9AA-2B6E-EF39-1CE53071F4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17E85A2F-A5E6-99DD-4452-0C27B6A0561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8F0A252A-9E37-CCD0-BD46-9379E292976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A348302-DA4E-E4F2-BF01-CB0F14D83B63}"/>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5F30907-012C-D6A3-19FF-9ECE1430E04E}"/>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4" name="Rectangle 42">
            <a:extLst>
              <a:ext uri="{FF2B5EF4-FFF2-40B4-BE49-F238E27FC236}">
                <a16:creationId xmlns:a16="http://schemas.microsoft.com/office/drawing/2014/main" id="{2A291D52-452A-7C72-C7F8-AEEB3700B1A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36" name="Rectangle 43">
            <a:extLst>
              <a:ext uri="{FF2B5EF4-FFF2-40B4-BE49-F238E27FC236}">
                <a16:creationId xmlns:a16="http://schemas.microsoft.com/office/drawing/2014/main" id="{56AE5671-3CE0-5AC4-0314-3810E730A89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4">
            <a:extLst>
              <a:ext uri="{FF2B5EF4-FFF2-40B4-BE49-F238E27FC236}">
                <a16:creationId xmlns:a16="http://schemas.microsoft.com/office/drawing/2014/main" id="{1C70CC52-6CC5-DC9E-5EC4-FB63D1D34790}"/>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2" name="Rectangle 70">
            <a:extLst>
              <a:ext uri="{FF2B5EF4-FFF2-40B4-BE49-F238E27FC236}">
                <a16:creationId xmlns:a16="http://schemas.microsoft.com/office/drawing/2014/main" id="{76C4B809-7149-DE70-176F-94F4DA85BD48}"/>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4" name="Rectangle 46">
            <a:extLst>
              <a:ext uri="{FF2B5EF4-FFF2-40B4-BE49-F238E27FC236}">
                <a16:creationId xmlns:a16="http://schemas.microsoft.com/office/drawing/2014/main" id="{DF20DBBA-DFD0-BE99-E892-B2B4EDF83691}"/>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6" name="Rectangle 47">
            <a:extLst>
              <a:ext uri="{FF2B5EF4-FFF2-40B4-BE49-F238E27FC236}">
                <a16:creationId xmlns:a16="http://schemas.microsoft.com/office/drawing/2014/main" id="{CA5CC642-860C-DF6C-8AD0-87559005D29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48" name="Rectangle 48">
            <a:extLst>
              <a:ext uri="{FF2B5EF4-FFF2-40B4-BE49-F238E27FC236}">
                <a16:creationId xmlns:a16="http://schemas.microsoft.com/office/drawing/2014/main" id="{F5591D8F-0E49-D403-79C9-03BEB2CB85D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0" name="Rectangle 49">
            <a:extLst>
              <a:ext uri="{FF2B5EF4-FFF2-40B4-BE49-F238E27FC236}">
                <a16:creationId xmlns:a16="http://schemas.microsoft.com/office/drawing/2014/main" id="{F6366AB8-C3D0-0A9E-FBFA-C6EC0F1E66F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2" name="Rectangle 74">
            <a:extLst>
              <a:ext uri="{FF2B5EF4-FFF2-40B4-BE49-F238E27FC236}">
                <a16:creationId xmlns:a16="http://schemas.microsoft.com/office/drawing/2014/main" id="{DC39A943-38A5-E16C-8064-FA07D08E1561}"/>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4" name="Rectangle 78">
            <a:extLst>
              <a:ext uri="{FF2B5EF4-FFF2-40B4-BE49-F238E27FC236}">
                <a16:creationId xmlns:a16="http://schemas.microsoft.com/office/drawing/2014/main" id="{B9B8F57F-12C1-D2CF-4EC9-5004C298EE5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56" name="Rectangle 35">
            <a:extLst>
              <a:ext uri="{FF2B5EF4-FFF2-40B4-BE49-F238E27FC236}">
                <a16:creationId xmlns:a16="http://schemas.microsoft.com/office/drawing/2014/main" id="{294AA80D-3AD7-809D-A5D2-2701D1618C1A}"/>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AutoShape 4">
            <a:extLst>
              <a:ext uri="{FF2B5EF4-FFF2-40B4-BE49-F238E27FC236}">
                <a16:creationId xmlns:a16="http://schemas.microsoft.com/office/drawing/2014/main" id="{D77CA521-97B1-607D-2831-72D77A51FA0B}"/>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AutoShape 4">
            <a:extLst>
              <a:ext uri="{FF2B5EF4-FFF2-40B4-BE49-F238E27FC236}">
                <a16:creationId xmlns:a16="http://schemas.microsoft.com/office/drawing/2014/main" id="{761957D7-D637-79FB-3DDD-A45D728D5B1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7" name="Text Box 26">
            <a:extLst>
              <a:ext uri="{FF2B5EF4-FFF2-40B4-BE49-F238E27FC236}">
                <a16:creationId xmlns:a16="http://schemas.microsoft.com/office/drawing/2014/main" id="{129EBD98-467A-E92C-3D0C-F9842210910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9" name="Text Box 26">
            <a:extLst>
              <a:ext uri="{FF2B5EF4-FFF2-40B4-BE49-F238E27FC236}">
                <a16:creationId xmlns:a16="http://schemas.microsoft.com/office/drawing/2014/main" id="{CD83C868-EABF-0548-8BA5-8C943F5EA151}"/>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96" name="组合 195">
            <a:extLst>
              <a:ext uri="{FF2B5EF4-FFF2-40B4-BE49-F238E27FC236}">
                <a16:creationId xmlns:a16="http://schemas.microsoft.com/office/drawing/2014/main" id="{A7499C7A-13F1-9FAE-43A0-9398D41FB657}"/>
              </a:ext>
            </a:extLst>
          </p:cNvPr>
          <p:cNvGrpSpPr/>
          <p:nvPr/>
        </p:nvGrpSpPr>
        <p:grpSpPr>
          <a:xfrm>
            <a:off x="3960000" y="2808000"/>
            <a:ext cx="1080000" cy="1080000"/>
            <a:chOff x="2807995" y="2745746"/>
            <a:chExt cx="1080000" cy="1080000"/>
          </a:xfrm>
        </p:grpSpPr>
        <p:sp>
          <p:nvSpPr>
            <p:cNvPr id="197" name="立方体 196">
              <a:extLst>
                <a:ext uri="{FF2B5EF4-FFF2-40B4-BE49-F238E27FC236}">
                  <a16:creationId xmlns:a16="http://schemas.microsoft.com/office/drawing/2014/main" id="{44B59238-4DFB-44FF-C420-83AC52F734AF}"/>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40BE0910-9B30-18A8-3E29-2CF95BC7781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3B8AD6D6-0F41-A23E-2325-1902C356EF3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0" name="立方体 199">
              <a:extLst>
                <a:ext uri="{FF2B5EF4-FFF2-40B4-BE49-F238E27FC236}">
                  <a16:creationId xmlns:a16="http://schemas.microsoft.com/office/drawing/2014/main" id="{46B008D1-7CEE-70FF-9F6A-7A480E7E5F0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1" name="立方体 200">
              <a:extLst>
                <a:ext uri="{FF2B5EF4-FFF2-40B4-BE49-F238E27FC236}">
                  <a16:creationId xmlns:a16="http://schemas.microsoft.com/office/drawing/2014/main" id="{39F50891-6C2D-053F-0F79-D7476D0D4D4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94" name="组合 93">
            <a:extLst>
              <a:ext uri="{FF2B5EF4-FFF2-40B4-BE49-F238E27FC236}">
                <a16:creationId xmlns:a16="http://schemas.microsoft.com/office/drawing/2014/main" id="{22B027A2-25CE-EC5A-7B58-8FD461875174}"/>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173038C5-2844-3E51-4A49-A77DE3C464D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9A5E65EB-C594-F9F2-6029-957A7F4882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C22AD3A0-F47E-F7BD-0194-CE382024333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A5F3D930-29E1-EACB-BDB3-3FA2719783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944EC8F3-648E-85DF-DB0A-F15517D9E1A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41BC7199-D3F2-C062-5D8B-F3B46AB28E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D1500DDC-2D5C-E77A-E4A7-7A94FE968472}"/>
              </a:ext>
            </a:extLst>
          </p:cNvPr>
          <p:cNvGrpSpPr/>
          <p:nvPr/>
        </p:nvGrpSpPr>
        <p:grpSpPr>
          <a:xfrm>
            <a:off x="701211" y="1800000"/>
            <a:ext cx="1080000" cy="2088000"/>
            <a:chOff x="701211" y="1800000"/>
            <a:chExt cx="1080000" cy="2088000"/>
          </a:xfrm>
        </p:grpSpPr>
        <p:sp>
          <p:nvSpPr>
            <p:cNvPr id="116" name="立方体 115">
              <a:extLst>
                <a:ext uri="{FF2B5EF4-FFF2-40B4-BE49-F238E27FC236}">
                  <a16:creationId xmlns:a16="http://schemas.microsoft.com/office/drawing/2014/main" id="{33886596-F80A-A47B-8D69-B0014D3668E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7" name="立方体 116">
              <a:extLst>
                <a:ext uri="{FF2B5EF4-FFF2-40B4-BE49-F238E27FC236}">
                  <a16:creationId xmlns:a16="http://schemas.microsoft.com/office/drawing/2014/main" id="{F0B97EF6-A6CC-58BF-7B40-49CCDA82B4A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8" name="立方体 117">
              <a:extLst>
                <a:ext uri="{FF2B5EF4-FFF2-40B4-BE49-F238E27FC236}">
                  <a16:creationId xmlns:a16="http://schemas.microsoft.com/office/drawing/2014/main" id="{CA3DD0FD-0789-D0D4-5C64-59F528FC7CE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0" name="立方体 119">
              <a:extLst>
                <a:ext uri="{FF2B5EF4-FFF2-40B4-BE49-F238E27FC236}">
                  <a16:creationId xmlns:a16="http://schemas.microsoft.com/office/drawing/2014/main" id="{AB7B65DE-4A76-E3CF-D1B6-FCC020C591A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1" name="立方体 120">
              <a:extLst>
                <a:ext uri="{FF2B5EF4-FFF2-40B4-BE49-F238E27FC236}">
                  <a16:creationId xmlns:a16="http://schemas.microsoft.com/office/drawing/2014/main" id="{00C71CD8-6B94-22D2-EFAF-DC60B66E76C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2" name="圆柱体 121">
              <a:extLst>
                <a:ext uri="{FF2B5EF4-FFF2-40B4-BE49-F238E27FC236}">
                  <a16:creationId xmlns:a16="http://schemas.microsoft.com/office/drawing/2014/main" id="{9314BCF0-F434-660E-543E-7AF90F76F888}"/>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FAEDC3D-7EC2-D6A7-C529-F863821F6A2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3" name="Rectangle 42">
            <a:extLst>
              <a:ext uri="{FF2B5EF4-FFF2-40B4-BE49-F238E27FC236}">
                <a16:creationId xmlns:a16="http://schemas.microsoft.com/office/drawing/2014/main" id="{2CBDDF4C-CC8B-37BC-757B-4004A2B171ED}"/>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5" name="Rectangle 43">
            <a:extLst>
              <a:ext uri="{FF2B5EF4-FFF2-40B4-BE49-F238E27FC236}">
                <a16:creationId xmlns:a16="http://schemas.microsoft.com/office/drawing/2014/main" id="{160D797C-52EE-54B5-44E0-4A42C9D69329}"/>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7" name="Rectangle 44">
            <a:extLst>
              <a:ext uri="{FF2B5EF4-FFF2-40B4-BE49-F238E27FC236}">
                <a16:creationId xmlns:a16="http://schemas.microsoft.com/office/drawing/2014/main" id="{C2A14DC4-D888-47FB-FF1F-3FC019DF0B60}"/>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9" name="Rectangle 70">
            <a:extLst>
              <a:ext uri="{FF2B5EF4-FFF2-40B4-BE49-F238E27FC236}">
                <a16:creationId xmlns:a16="http://schemas.microsoft.com/office/drawing/2014/main" id="{8531F916-C3CD-7E3E-16E6-C4002C8BB5C6}"/>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3" name="Rectangle 42">
            <a:extLst>
              <a:ext uri="{FF2B5EF4-FFF2-40B4-BE49-F238E27FC236}">
                <a16:creationId xmlns:a16="http://schemas.microsoft.com/office/drawing/2014/main" id="{EF1429A5-75CD-7C99-73AE-1DA2339AC6B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5" name="Rectangle 43">
            <a:extLst>
              <a:ext uri="{FF2B5EF4-FFF2-40B4-BE49-F238E27FC236}">
                <a16:creationId xmlns:a16="http://schemas.microsoft.com/office/drawing/2014/main" id="{6C700EF5-3A57-56CA-4A3F-7A4CF9A4F41B}"/>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7" name="Rectangle 44">
            <a:extLst>
              <a:ext uri="{FF2B5EF4-FFF2-40B4-BE49-F238E27FC236}">
                <a16:creationId xmlns:a16="http://schemas.microsoft.com/office/drawing/2014/main" id="{DC086960-5573-8B1F-48EC-AE88B314DC61}"/>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9" name="Rectangle 70">
            <a:extLst>
              <a:ext uri="{FF2B5EF4-FFF2-40B4-BE49-F238E27FC236}">
                <a16:creationId xmlns:a16="http://schemas.microsoft.com/office/drawing/2014/main" id="{93D5285A-AED3-7ECC-92BE-E5F869161EF4}"/>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1" name="Rectangle 46">
            <a:extLst>
              <a:ext uri="{FF2B5EF4-FFF2-40B4-BE49-F238E27FC236}">
                <a16:creationId xmlns:a16="http://schemas.microsoft.com/office/drawing/2014/main" id="{3E07543B-3414-4944-C417-CA22A835D4C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3" name="Rectangle 47">
            <a:extLst>
              <a:ext uri="{FF2B5EF4-FFF2-40B4-BE49-F238E27FC236}">
                <a16:creationId xmlns:a16="http://schemas.microsoft.com/office/drawing/2014/main" id="{C29F1097-7651-B1FD-3559-B1A339DA9F6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5" name="Rectangle 48">
            <a:extLst>
              <a:ext uri="{FF2B5EF4-FFF2-40B4-BE49-F238E27FC236}">
                <a16:creationId xmlns:a16="http://schemas.microsoft.com/office/drawing/2014/main" id="{6EFEC5EE-0A6F-8E59-2358-CCACA1A8222B}"/>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7" name="Rectangle 49">
            <a:extLst>
              <a:ext uri="{FF2B5EF4-FFF2-40B4-BE49-F238E27FC236}">
                <a16:creationId xmlns:a16="http://schemas.microsoft.com/office/drawing/2014/main" id="{E34C5510-DFA4-4B5D-8067-985EE1B326D8}"/>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9" name="Rectangle 74">
            <a:extLst>
              <a:ext uri="{FF2B5EF4-FFF2-40B4-BE49-F238E27FC236}">
                <a16:creationId xmlns:a16="http://schemas.microsoft.com/office/drawing/2014/main" id="{8AC7E2D9-BD45-466B-918E-A08A17BAEB6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1" name="Rectangle 78">
            <a:extLst>
              <a:ext uri="{FF2B5EF4-FFF2-40B4-BE49-F238E27FC236}">
                <a16:creationId xmlns:a16="http://schemas.microsoft.com/office/drawing/2014/main" id="{BAE127E5-9895-ABD6-FF47-1CC93381E87F}"/>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3" name="Rectangle 35">
            <a:extLst>
              <a:ext uri="{FF2B5EF4-FFF2-40B4-BE49-F238E27FC236}">
                <a16:creationId xmlns:a16="http://schemas.microsoft.com/office/drawing/2014/main" id="{C6193400-AF7B-34C6-F9D8-58D9656CE33B}"/>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AutoShape 4">
            <a:extLst>
              <a:ext uri="{FF2B5EF4-FFF2-40B4-BE49-F238E27FC236}">
                <a16:creationId xmlns:a16="http://schemas.microsoft.com/office/drawing/2014/main" id="{3E7DB186-94E9-FB5A-C890-CD14723373E2}"/>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2" name="AutoShape 4">
            <a:extLst>
              <a:ext uri="{FF2B5EF4-FFF2-40B4-BE49-F238E27FC236}">
                <a16:creationId xmlns:a16="http://schemas.microsoft.com/office/drawing/2014/main" id="{126D2CFB-BD33-A5F1-EAD2-DF349B26A9B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4" name="Text Box 26">
            <a:extLst>
              <a:ext uri="{FF2B5EF4-FFF2-40B4-BE49-F238E27FC236}">
                <a16:creationId xmlns:a16="http://schemas.microsoft.com/office/drawing/2014/main" id="{196202C7-ACA4-5203-5196-1CA883E415CE}"/>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6" name="Text Box 26">
            <a:extLst>
              <a:ext uri="{FF2B5EF4-FFF2-40B4-BE49-F238E27FC236}">
                <a16:creationId xmlns:a16="http://schemas.microsoft.com/office/drawing/2014/main" id="{329011FC-E523-AC9E-DCA2-2DBDB70097F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3" name="组合 212">
            <a:extLst>
              <a:ext uri="{FF2B5EF4-FFF2-40B4-BE49-F238E27FC236}">
                <a16:creationId xmlns:a16="http://schemas.microsoft.com/office/drawing/2014/main" id="{F8BB72FD-D3D0-FE0E-732E-DA199C63D7F5}"/>
              </a:ext>
            </a:extLst>
          </p:cNvPr>
          <p:cNvGrpSpPr/>
          <p:nvPr/>
        </p:nvGrpSpPr>
        <p:grpSpPr>
          <a:xfrm>
            <a:off x="3960000" y="2808000"/>
            <a:ext cx="1080000" cy="1080000"/>
            <a:chOff x="2807995" y="2745746"/>
            <a:chExt cx="1080000" cy="1080000"/>
          </a:xfrm>
        </p:grpSpPr>
        <p:sp>
          <p:nvSpPr>
            <p:cNvPr id="214" name="立方体 213">
              <a:extLst>
                <a:ext uri="{FF2B5EF4-FFF2-40B4-BE49-F238E27FC236}">
                  <a16:creationId xmlns:a16="http://schemas.microsoft.com/office/drawing/2014/main" id="{A2A19A40-63F8-BD3B-E80D-7FCE75C08E6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5" name="立方体 214">
              <a:extLst>
                <a:ext uri="{FF2B5EF4-FFF2-40B4-BE49-F238E27FC236}">
                  <a16:creationId xmlns:a16="http://schemas.microsoft.com/office/drawing/2014/main" id="{3F28867C-004B-9AEF-4884-4B1D9D1CBE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6" name="立方体 215">
              <a:extLst>
                <a:ext uri="{FF2B5EF4-FFF2-40B4-BE49-F238E27FC236}">
                  <a16:creationId xmlns:a16="http://schemas.microsoft.com/office/drawing/2014/main" id="{00488457-8BE0-1EE3-8D90-2BFD55BA9EA9}"/>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7" name="立方体 216">
              <a:extLst>
                <a:ext uri="{FF2B5EF4-FFF2-40B4-BE49-F238E27FC236}">
                  <a16:creationId xmlns:a16="http://schemas.microsoft.com/office/drawing/2014/main" id="{D023FCDE-21A0-0FF0-C658-76177841376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2062CD02-27FE-65F2-3C08-79DB371021E3}"/>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0" name="组合 129">
            <a:extLst>
              <a:ext uri="{FF2B5EF4-FFF2-40B4-BE49-F238E27FC236}">
                <a16:creationId xmlns:a16="http://schemas.microsoft.com/office/drawing/2014/main" id="{17D2A08B-0CF2-B219-7E02-35316C78060B}"/>
              </a:ext>
            </a:extLst>
          </p:cNvPr>
          <p:cNvGrpSpPr/>
          <p:nvPr/>
        </p:nvGrpSpPr>
        <p:grpSpPr>
          <a:xfrm>
            <a:off x="7395732" y="1800000"/>
            <a:ext cx="1080000" cy="2088000"/>
            <a:chOff x="701211" y="1800000"/>
            <a:chExt cx="1080000" cy="2088000"/>
          </a:xfrm>
        </p:grpSpPr>
        <p:sp>
          <p:nvSpPr>
            <p:cNvPr id="131" name="立方体 130">
              <a:extLst>
                <a:ext uri="{FF2B5EF4-FFF2-40B4-BE49-F238E27FC236}">
                  <a16:creationId xmlns:a16="http://schemas.microsoft.com/office/drawing/2014/main" id="{CC087A5E-EEA5-DE8C-E9F6-DBD02D79539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2" name="立方体 131">
              <a:extLst>
                <a:ext uri="{FF2B5EF4-FFF2-40B4-BE49-F238E27FC236}">
                  <a16:creationId xmlns:a16="http://schemas.microsoft.com/office/drawing/2014/main" id="{C77F3961-9F9E-EFB7-F8B5-AEC598D079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3" name="立方体 132">
              <a:extLst>
                <a:ext uri="{FF2B5EF4-FFF2-40B4-BE49-F238E27FC236}">
                  <a16:creationId xmlns:a16="http://schemas.microsoft.com/office/drawing/2014/main" id="{501742B0-A688-AB5E-6CB2-9E19864D208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4" name="立方体 133">
              <a:extLst>
                <a:ext uri="{FF2B5EF4-FFF2-40B4-BE49-F238E27FC236}">
                  <a16:creationId xmlns:a16="http://schemas.microsoft.com/office/drawing/2014/main" id="{0A9574D3-F288-C163-E2FE-9F7A4D99B34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5" name="立方体 134">
              <a:extLst>
                <a:ext uri="{FF2B5EF4-FFF2-40B4-BE49-F238E27FC236}">
                  <a16:creationId xmlns:a16="http://schemas.microsoft.com/office/drawing/2014/main" id="{21B146E5-D8EC-6E26-5D00-6C272EF2480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6" name="圆柱体 135">
              <a:extLst>
                <a:ext uri="{FF2B5EF4-FFF2-40B4-BE49-F238E27FC236}">
                  <a16:creationId xmlns:a16="http://schemas.microsoft.com/office/drawing/2014/main" id="{57CFF458-004F-9085-2442-94CFF4816C3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7" name="组合 136">
            <a:extLst>
              <a:ext uri="{FF2B5EF4-FFF2-40B4-BE49-F238E27FC236}">
                <a16:creationId xmlns:a16="http://schemas.microsoft.com/office/drawing/2014/main" id="{6A68821F-2D96-1F5E-DFDA-ABA8A7DA29D1}"/>
              </a:ext>
            </a:extLst>
          </p:cNvPr>
          <p:cNvGrpSpPr/>
          <p:nvPr/>
        </p:nvGrpSpPr>
        <p:grpSpPr>
          <a:xfrm>
            <a:off x="701211" y="1800000"/>
            <a:ext cx="1080000" cy="2088000"/>
            <a:chOff x="701211" y="1800000"/>
            <a:chExt cx="1080000" cy="2088000"/>
          </a:xfrm>
        </p:grpSpPr>
        <p:sp>
          <p:nvSpPr>
            <p:cNvPr id="138" name="立方体 137">
              <a:extLst>
                <a:ext uri="{FF2B5EF4-FFF2-40B4-BE49-F238E27FC236}">
                  <a16:creationId xmlns:a16="http://schemas.microsoft.com/office/drawing/2014/main" id="{FE6EF13A-0DD9-87AC-3602-D18CE98FF25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9" name="立方体 138">
              <a:extLst>
                <a:ext uri="{FF2B5EF4-FFF2-40B4-BE49-F238E27FC236}">
                  <a16:creationId xmlns:a16="http://schemas.microsoft.com/office/drawing/2014/main" id="{CFEE4785-DBDD-8CD0-0FF6-86CD76765CE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2" name="立方体 141">
              <a:extLst>
                <a:ext uri="{FF2B5EF4-FFF2-40B4-BE49-F238E27FC236}">
                  <a16:creationId xmlns:a16="http://schemas.microsoft.com/office/drawing/2014/main" id="{3BA6D816-2DCB-BEA9-5C60-FA4FE5C8613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3" name="立方体 142">
              <a:extLst>
                <a:ext uri="{FF2B5EF4-FFF2-40B4-BE49-F238E27FC236}">
                  <a16:creationId xmlns:a16="http://schemas.microsoft.com/office/drawing/2014/main" id="{CCEC3B53-6A6D-BAED-D7B3-FFAB7D25443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4" name="立方体 143">
              <a:extLst>
                <a:ext uri="{FF2B5EF4-FFF2-40B4-BE49-F238E27FC236}">
                  <a16:creationId xmlns:a16="http://schemas.microsoft.com/office/drawing/2014/main" id="{9B3ACB2C-1D45-7DC2-BD76-AD57C63E763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5" name="圆柱体 144">
              <a:extLst>
                <a:ext uri="{FF2B5EF4-FFF2-40B4-BE49-F238E27FC236}">
                  <a16:creationId xmlns:a16="http://schemas.microsoft.com/office/drawing/2014/main" id="{846D4017-19C6-AC5A-3D27-6040A0FBB78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E93948A-C01E-4262-66CC-783C412752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Text Box 75">
            <a:extLst>
              <a:ext uri="{FF2B5EF4-FFF2-40B4-BE49-F238E27FC236}">
                <a16:creationId xmlns:a16="http://schemas.microsoft.com/office/drawing/2014/main" id="{7DCDE634-96B7-A360-6D97-CFF64D7598BD}"/>
              </a:ext>
            </a:extLst>
          </p:cNvPr>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49" name="Line 76">
            <a:extLst>
              <a:ext uri="{FF2B5EF4-FFF2-40B4-BE49-F238E27FC236}">
                <a16:creationId xmlns:a16="http://schemas.microsoft.com/office/drawing/2014/main" id="{3607CC1C-EE64-0125-0023-0A08CB50EAEA}"/>
              </a:ext>
            </a:extLst>
          </p:cNvPr>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1" name="Line 79">
            <a:extLst>
              <a:ext uri="{FF2B5EF4-FFF2-40B4-BE49-F238E27FC236}">
                <a16:creationId xmlns:a16="http://schemas.microsoft.com/office/drawing/2014/main" id="{38D155C1-E933-53B2-B746-4B4607EDEFB4}"/>
              </a:ext>
            </a:extLst>
          </p:cNvPr>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3" name="Text Box 80">
            <a:extLst>
              <a:ext uri="{FF2B5EF4-FFF2-40B4-BE49-F238E27FC236}">
                <a16:creationId xmlns:a16="http://schemas.microsoft.com/office/drawing/2014/main" id="{8BE34742-6D99-39ED-3AE3-CB89A9D73E15}"/>
              </a:ext>
            </a:extLst>
          </p:cNvPr>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55" name="Rectangle 74">
            <a:extLst>
              <a:ext uri="{FF2B5EF4-FFF2-40B4-BE49-F238E27FC236}">
                <a16:creationId xmlns:a16="http://schemas.microsoft.com/office/drawing/2014/main" id="{CB2651F5-6AD5-D16F-806A-A4B30E6ABC30}"/>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7" name="Rectangle 78">
            <a:extLst>
              <a:ext uri="{FF2B5EF4-FFF2-40B4-BE49-F238E27FC236}">
                <a16:creationId xmlns:a16="http://schemas.microsoft.com/office/drawing/2014/main" id="{31DFF878-9873-F1E8-D9DB-9412EAE03B7A}"/>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9" name="Rectangle 46">
            <a:extLst>
              <a:ext uri="{FF2B5EF4-FFF2-40B4-BE49-F238E27FC236}">
                <a16:creationId xmlns:a16="http://schemas.microsoft.com/office/drawing/2014/main" id="{061B640C-4A0D-BC07-CF4C-B27C97AC2732}"/>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1" name="Rectangle 47">
            <a:extLst>
              <a:ext uri="{FF2B5EF4-FFF2-40B4-BE49-F238E27FC236}">
                <a16:creationId xmlns:a16="http://schemas.microsoft.com/office/drawing/2014/main" id="{3088F486-BA25-3630-944F-B1CA6A1C31FA}"/>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63" name="Rectangle 48">
            <a:extLst>
              <a:ext uri="{FF2B5EF4-FFF2-40B4-BE49-F238E27FC236}">
                <a16:creationId xmlns:a16="http://schemas.microsoft.com/office/drawing/2014/main" id="{21343C7E-CE09-654A-11C0-AA30B5832F7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5" name="Rectangle 49">
            <a:extLst>
              <a:ext uri="{FF2B5EF4-FFF2-40B4-BE49-F238E27FC236}">
                <a16:creationId xmlns:a16="http://schemas.microsoft.com/office/drawing/2014/main" id="{C5EC0F22-94C4-8099-9153-3EB9CD9ACA0B}"/>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9" name="Rectangle 42">
            <a:extLst>
              <a:ext uri="{FF2B5EF4-FFF2-40B4-BE49-F238E27FC236}">
                <a16:creationId xmlns:a16="http://schemas.microsoft.com/office/drawing/2014/main" id="{02C75F4B-6A33-FA8E-277E-9C31A8C04B77}"/>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1" name="Rectangle 43">
            <a:extLst>
              <a:ext uri="{FF2B5EF4-FFF2-40B4-BE49-F238E27FC236}">
                <a16:creationId xmlns:a16="http://schemas.microsoft.com/office/drawing/2014/main" id="{B28DFE2C-2562-9490-7028-0BD40F40DB4C}"/>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3" name="Rectangle 44">
            <a:extLst>
              <a:ext uri="{FF2B5EF4-FFF2-40B4-BE49-F238E27FC236}">
                <a16:creationId xmlns:a16="http://schemas.microsoft.com/office/drawing/2014/main" id="{CDE8D043-793D-754C-8BEF-0FE0A39401ED}"/>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5" name="Rectangle 70">
            <a:extLst>
              <a:ext uri="{FF2B5EF4-FFF2-40B4-BE49-F238E27FC236}">
                <a16:creationId xmlns:a16="http://schemas.microsoft.com/office/drawing/2014/main" id="{A6AAF2D8-132F-2D5F-C83D-9A67E349F829}"/>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0" name="Rectangle 42">
            <a:extLst>
              <a:ext uri="{FF2B5EF4-FFF2-40B4-BE49-F238E27FC236}">
                <a16:creationId xmlns:a16="http://schemas.microsoft.com/office/drawing/2014/main" id="{584A99CF-1B4A-E793-C251-AD9020EF06C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2" name="Rectangle 43">
            <a:extLst>
              <a:ext uri="{FF2B5EF4-FFF2-40B4-BE49-F238E27FC236}">
                <a16:creationId xmlns:a16="http://schemas.microsoft.com/office/drawing/2014/main" id="{D169C026-2035-33C8-6010-BD14DE8870C5}"/>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4" name="Rectangle 44">
            <a:extLst>
              <a:ext uri="{FF2B5EF4-FFF2-40B4-BE49-F238E27FC236}">
                <a16:creationId xmlns:a16="http://schemas.microsoft.com/office/drawing/2014/main" id="{3AA3A8B4-A3DF-D409-A693-B6EC4F45ACC5}"/>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6" name="Rectangle 70">
            <a:extLst>
              <a:ext uri="{FF2B5EF4-FFF2-40B4-BE49-F238E27FC236}">
                <a16:creationId xmlns:a16="http://schemas.microsoft.com/office/drawing/2014/main" id="{0EC9D47E-2DD8-B08F-BAC6-B6AE71755446}"/>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8" name="Rectangle 46">
            <a:extLst>
              <a:ext uri="{FF2B5EF4-FFF2-40B4-BE49-F238E27FC236}">
                <a16:creationId xmlns:a16="http://schemas.microsoft.com/office/drawing/2014/main" id="{BB11A2A9-FCDB-F960-1517-4E48C748D080}"/>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0" name="Rectangle 47">
            <a:extLst>
              <a:ext uri="{FF2B5EF4-FFF2-40B4-BE49-F238E27FC236}">
                <a16:creationId xmlns:a16="http://schemas.microsoft.com/office/drawing/2014/main" id="{D02A3D3D-B300-0D67-2A70-E9905E6A4CD3}"/>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2" name="Rectangle 48">
            <a:extLst>
              <a:ext uri="{FF2B5EF4-FFF2-40B4-BE49-F238E27FC236}">
                <a16:creationId xmlns:a16="http://schemas.microsoft.com/office/drawing/2014/main" id="{9CA24757-5CE4-EA25-C2FB-FA297BE3A34C}"/>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4" name="Rectangle 49">
            <a:extLst>
              <a:ext uri="{FF2B5EF4-FFF2-40B4-BE49-F238E27FC236}">
                <a16:creationId xmlns:a16="http://schemas.microsoft.com/office/drawing/2014/main" id="{B61B0697-5B1B-2AAE-743D-01815DEA3D6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6" name="Rectangle 74">
            <a:extLst>
              <a:ext uri="{FF2B5EF4-FFF2-40B4-BE49-F238E27FC236}">
                <a16:creationId xmlns:a16="http://schemas.microsoft.com/office/drawing/2014/main" id="{FBDBFA4F-6B97-675F-D75B-8C665AA1ABA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8" name="Rectangle 78">
            <a:extLst>
              <a:ext uri="{FF2B5EF4-FFF2-40B4-BE49-F238E27FC236}">
                <a16:creationId xmlns:a16="http://schemas.microsoft.com/office/drawing/2014/main" id="{08E22CC5-9FB9-E82F-47A9-D37DB66CE79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10" name="Rectangle 35">
            <a:extLst>
              <a:ext uri="{FF2B5EF4-FFF2-40B4-BE49-F238E27FC236}">
                <a16:creationId xmlns:a16="http://schemas.microsoft.com/office/drawing/2014/main" id="{66A45675-34B1-A491-A5FD-15841658E9D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AutoShape 4">
            <a:extLst>
              <a:ext uri="{FF2B5EF4-FFF2-40B4-BE49-F238E27FC236}">
                <a16:creationId xmlns:a16="http://schemas.microsoft.com/office/drawing/2014/main" id="{90A27E32-22B2-4B3A-651F-F2ED02CB00F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AutoShape 4">
            <a:extLst>
              <a:ext uri="{FF2B5EF4-FFF2-40B4-BE49-F238E27FC236}">
                <a16:creationId xmlns:a16="http://schemas.microsoft.com/office/drawing/2014/main" id="{CCE93603-B145-638A-A8CC-D5CBF30FC08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1" name="Text Box 26">
            <a:extLst>
              <a:ext uri="{FF2B5EF4-FFF2-40B4-BE49-F238E27FC236}">
                <a16:creationId xmlns:a16="http://schemas.microsoft.com/office/drawing/2014/main" id="{C0453C2C-BB9A-3776-3F35-9375D567342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3" name="Text Box 26">
            <a:extLst>
              <a:ext uri="{FF2B5EF4-FFF2-40B4-BE49-F238E27FC236}">
                <a16:creationId xmlns:a16="http://schemas.microsoft.com/office/drawing/2014/main" id="{F05CDF1D-5AF9-F4BC-EE87-2D3982C41D1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20" name="组合 219">
            <a:extLst>
              <a:ext uri="{FF2B5EF4-FFF2-40B4-BE49-F238E27FC236}">
                <a16:creationId xmlns:a16="http://schemas.microsoft.com/office/drawing/2014/main" id="{286C989A-0B58-036D-5740-C41E239BAA16}"/>
              </a:ext>
            </a:extLst>
          </p:cNvPr>
          <p:cNvGrpSpPr/>
          <p:nvPr/>
        </p:nvGrpSpPr>
        <p:grpSpPr>
          <a:xfrm>
            <a:off x="3960000" y="2808000"/>
            <a:ext cx="1080000" cy="1080000"/>
            <a:chOff x="2807995" y="2745746"/>
            <a:chExt cx="1080000" cy="1080000"/>
          </a:xfrm>
        </p:grpSpPr>
        <p:sp>
          <p:nvSpPr>
            <p:cNvPr id="221" name="立方体 220">
              <a:extLst>
                <a:ext uri="{FF2B5EF4-FFF2-40B4-BE49-F238E27FC236}">
                  <a16:creationId xmlns:a16="http://schemas.microsoft.com/office/drawing/2014/main" id="{9FBEF3A5-3D65-A2D3-5848-BB2B38226C4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98820D2A-6353-224D-71C9-3BC8CD7BF2E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D72F0DAC-06CC-1989-EAE3-430135849A3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4" name="立方体 223">
              <a:extLst>
                <a:ext uri="{FF2B5EF4-FFF2-40B4-BE49-F238E27FC236}">
                  <a16:creationId xmlns:a16="http://schemas.microsoft.com/office/drawing/2014/main" id="{24485E46-729D-F98E-41BA-BD7F66199D4E}"/>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5" name="立方体 224">
              <a:extLst>
                <a:ext uri="{FF2B5EF4-FFF2-40B4-BE49-F238E27FC236}">
                  <a16:creationId xmlns:a16="http://schemas.microsoft.com/office/drawing/2014/main" id="{3B6FCE51-86FA-15E9-96DC-8F4EFCA39B72}"/>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2" name="组合 131">
            <a:extLst>
              <a:ext uri="{FF2B5EF4-FFF2-40B4-BE49-F238E27FC236}">
                <a16:creationId xmlns:a16="http://schemas.microsoft.com/office/drawing/2014/main" id="{7BE121A3-341E-0E54-ADD1-57450425F8AE}"/>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AF0315BB-54C9-D371-C823-F291F095F61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E0E0111B-DB5E-F028-AE96-BD09FE2F5C3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1E7FE01-4783-918A-0FFD-897558C33358}"/>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70607EFD-3D65-9F02-28BD-4F98955DDF6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ED5C0A9-50C2-24C0-5E11-AAD9313797B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41600DAC-D158-0E03-AF93-E6F5BFEF826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BFD024BF-51FC-FC28-3279-5AF913FC08E2}"/>
              </a:ext>
            </a:extLst>
          </p:cNvPr>
          <p:cNvGrpSpPr/>
          <p:nvPr/>
        </p:nvGrpSpPr>
        <p:grpSpPr>
          <a:xfrm>
            <a:off x="701211" y="1800000"/>
            <a:ext cx="1080000" cy="2088000"/>
            <a:chOff x="701211" y="1800000"/>
            <a:chExt cx="1080000" cy="2088000"/>
          </a:xfrm>
        </p:grpSpPr>
        <p:sp>
          <p:nvSpPr>
            <p:cNvPr id="142" name="立方体 141">
              <a:extLst>
                <a:ext uri="{FF2B5EF4-FFF2-40B4-BE49-F238E27FC236}">
                  <a16:creationId xmlns:a16="http://schemas.microsoft.com/office/drawing/2014/main" id="{3341EFE7-3779-7B14-7B0A-F5A6586B00F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3" name="立方体 142">
              <a:extLst>
                <a:ext uri="{FF2B5EF4-FFF2-40B4-BE49-F238E27FC236}">
                  <a16:creationId xmlns:a16="http://schemas.microsoft.com/office/drawing/2014/main" id="{41E2D9D8-F4AC-486C-F698-9B1C1ABC06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4" name="立方体 143">
              <a:extLst>
                <a:ext uri="{FF2B5EF4-FFF2-40B4-BE49-F238E27FC236}">
                  <a16:creationId xmlns:a16="http://schemas.microsoft.com/office/drawing/2014/main" id="{B6EA473D-E179-8E0D-5036-7DB88ED7BB3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5" name="立方体 144">
              <a:extLst>
                <a:ext uri="{FF2B5EF4-FFF2-40B4-BE49-F238E27FC236}">
                  <a16:creationId xmlns:a16="http://schemas.microsoft.com/office/drawing/2014/main" id="{A6BD6AEE-5D14-8EF0-2805-939E9F118FA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6" name="立方体 145">
              <a:extLst>
                <a:ext uri="{FF2B5EF4-FFF2-40B4-BE49-F238E27FC236}">
                  <a16:creationId xmlns:a16="http://schemas.microsoft.com/office/drawing/2014/main" id="{3E0DDB1E-2F0D-1CD2-BE66-815EE3FF77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7" name="圆柱体 146">
              <a:extLst>
                <a:ext uri="{FF2B5EF4-FFF2-40B4-BE49-F238E27FC236}">
                  <a16:creationId xmlns:a16="http://schemas.microsoft.com/office/drawing/2014/main" id="{39D19EFA-0603-3DD6-0CB1-54C275089AC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Text Box 75"/>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8" name="Line 79"/>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28C4CA-1E60-59B3-6953-5403E0F7982F}"/>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0" name="Rectangle 74">
            <a:extLst>
              <a:ext uri="{FF2B5EF4-FFF2-40B4-BE49-F238E27FC236}">
                <a16:creationId xmlns:a16="http://schemas.microsoft.com/office/drawing/2014/main" id="{FA728565-5319-F81E-3925-B45727BCF673}"/>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2" name="Rectangle 78">
            <a:extLst>
              <a:ext uri="{FF2B5EF4-FFF2-40B4-BE49-F238E27FC236}">
                <a16:creationId xmlns:a16="http://schemas.microsoft.com/office/drawing/2014/main" id="{6D12DDA4-2729-6DC0-C8B4-42671BDDACE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4" name="Rectangle 46">
            <a:extLst>
              <a:ext uri="{FF2B5EF4-FFF2-40B4-BE49-F238E27FC236}">
                <a16:creationId xmlns:a16="http://schemas.microsoft.com/office/drawing/2014/main" id="{63D984D4-27ED-2926-1DCC-B6DA6B73F59E}"/>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6" name="Rectangle 47">
            <a:extLst>
              <a:ext uri="{FF2B5EF4-FFF2-40B4-BE49-F238E27FC236}">
                <a16:creationId xmlns:a16="http://schemas.microsoft.com/office/drawing/2014/main" id="{9D4BDAF9-36A9-1ED5-63C6-737D8F12CCC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8" name="Rectangle 48">
            <a:extLst>
              <a:ext uri="{FF2B5EF4-FFF2-40B4-BE49-F238E27FC236}">
                <a16:creationId xmlns:a16="http://schemas.microsoft.com/office/drawing/2014/main" id="{72746093-992A-6041-93AE-DA0C943908C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9">
            <a:extLst>
              <a:ext uri="{FF2B5EF4-FFF2-40B4-BE49-F238E27FC236}">
                <a16:creationId xmlns:a16="http://schemas.microsoft.com/office/drawing/2014/main" id="{4DB4883A-B864-8D7E-09CD-7CFC5B2D0493}"/>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35">
            <a:extLst>
              <a:ext uri="{FF2B5EF4-FFF2-40B4-BE49-F238E27FC236}">
                <a16:creationId xmlns:a16="http://schemas.microsoft.com/office/drawing/2014/main" id="{DC4276F8-5E0B-66D9-23C7-652CEA99671E}"/>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4" name="Rectangle 42">
            <a:extLst>
              <a:ext uri="{FF2B5EF4-FFF2-40B4-BE49-F238E27FC236}">
                <a16:creationId xmlns:a16="http://schemas.microsoft.com/office/drawing/2014/main" id="{D632D218-F716-FF8A-B622-348E6B1F7D9B}"/>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6" name="Rectangle 43">
            <a:extLst>
              <a:ext uri="{FF2B5EF4-FFF2-40B4-BE49-F238E27FC236}">
                <a16:creationId xmlns:a16="http://schemas.microsoft.com/office/drawing/2014/main" id="{668F20E1-0A5C-296F-1F10-60730DCF8821}"/>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8" name="Rectangle 44">
            <a:extLst>
              <a:ext uri="{FF2B5EF4-FFF2-40B4-BE49-F238E27FC236}">
                <a16:creationId xmlns:a16="http://schemas.microsoft.com/office/drawing/2014/main" id="{067F1984-4DCE-9579-329E-D30A5D901001}"/>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0" name="Rectangle 70">
            <a:extLst>
              <a:ext uri="{FF2B5EF4-FFF2-40B4-BE49-F238E27FC236}">
                <a16:creationId xmlns:a16="http://schemas.microsoft.com/office/drawing/2014/main" id="{5A2BF8DB-3993-FDB8-C016-85905E8D07AC}"/>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7" name="Rectangle 42">
            <a:extLst>
              <a:ext uri="{FF2B5EF4-FFF2-40B4-BE49-F238E27FC236}">
                <a16:creationId xmlns:a16="http://schemas.microsoft.com/office/drawing/2014/main" id="{3771D601-9169-668A-9F70-98E7185559F7}"/>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9" name="Rectangle 43">
            <a:extLst>
              <a:ext uri="{FF2B5EF4-FFF2-40B4-BE49-F238E27FC236}">
                <a16:creationId xmlns:a16="http://schemas.microsoft.com/office/drawing/2014/main" id="{1072F5ED-15D1-3778-0629-B3771ED2E553}"/>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4">
            <a:extLst>
              <a:ext uri="{FF2B5EF4-FFF2-40B4-BE49-F238E27FC236}">
                <a16:creationId xmlns:a16="http://schemas.microsoft.com/office/drawing/2014/main" id="{AFE43001-F0DE-FBD4-C9AB-F3BA98F559C6}"/>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0">
            <a:extLst>
              <a:ext uri="{FF2B5EF4-FFF2-40B4-BE49-F238E27FC236}">
                <a16:creationId xmlns:a16="http://schemas.microsoft.com/office/drawing/2014/main" id="{8FAD6074-E591-9993-B185-172B13FCC703}"/>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5" name="Rectangle 46">
            <a:extLst>
              <a:ext uri="{FF2B5EF4-FFF2-40B4-BE49-F238E27FC236}">
                <a16:creationId xmlns:a16="http://schemas.microsoft.com/office/drawing/2014/main" id="{3B683876-E3C6-3FE8-01C4-EEE8FCCBA0D5}"/>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47">
            <a:extLst>
              <a:ext uri="{FF2B5EF4-FFF2-40B4-BE49-F238E27FC236}">
                <a16:creationId xmlns:a16="http://schemas.microsoft.com/office/drawing/2014/main" id="{6F42C237-79F3-95CD-C8E7-CEE04E2A6B8E}"/>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9" name="Rectangle 48">
            <a:extLst>
              <a:ext uri="{FF2B5EF4-FFF2-40B4-BE49-F238E27FC236}">
                <a16:creationId xmlns:a16="http://schemas.microsoft.com/office/drawing/2014/main" id="{93E83EE3-0B87-E36F-7114-6BEF106C92E2}"/>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1" name="Rectangle 49">
            <a:extLst>
              <a:ext uri="{FF2B5EF4-FFF2-40B4-BE49-F238E27FC236}">
                <a16:creationId xmlns:a16="http://schemas.microsoft.com/office/drawing/2014/main" id="{563EA0F5-8C8E-AB63-BEBA-55A0B58A811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3" name="Rectangle 74">
            <a:extLst>
              <a:ext uri="{FF2B5EF4-FFF2-40B4-BE49-F238E27FC236}">
                <a16:creationId xmlns:a16="http://schemas.microsoft.com/office/drawing/2014/main" id="{EB13DCF1-8A4A-4615-772E-927AE75BF42D}"/>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15" name="Rectangle 78">
            <a:extLst>
              <a:ext uri="{FF2B5EF4-FFF2-40B4-BE49-F238E27FC236}">
                <a16:creationId xmlns:a16="http://schemas.microsoft.com/office/drawing/2014/main" id="{7E98E2B4-DE51-CBC6-72E5-3554C8DEFE90}"/>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T2</a:t>
            </a:r>
          </a:p>
        </p:txBody>
      </p:sp>
      <p:sp>
        <p:nvSpPr>
          <p:cNvPr id="217" name="Rectangle 35">
            <a:extLst>
              <a:ext uri="{FF2B5EF4-FFF2-40B4-BE49-F238E27FC236}">
                <a16:creationId xmlns:a16="http://schemas.microsoft.com/office/drawing/2014/main" id="{8429FA4F-1919-4052-51A7-892FEF60D461}"/>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AutoShape 4">
            <a:extLst>
              <a:ext uri="{FF2B5EF4-FFF2-40B4-BE49-F238E27FC236}">
                <a16:creationId xmlns:a16="http://schemas.microsoft.com/office/drawing/2014/main" id="{24BE8F10-C364-AF57-A092-3299E0535F87}"/>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8" name="AutoShape 4">
            <a:extLst>
              <a:ext uri="{FF2B5EF4-FFF2-40B4-BE49-F238E27FC236}">
                <a16:creationId xmlns:a16="http://schemas.microsoft.com/office/drawing/2014/main" id="{D611378C-0B91-E5B0-9BF6-D8F8796B4980}"/>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96" name="组合 95">
            <a:extLst>
              <a:ext uri="{FF2B5EF4-FFF2-40B4-BE49-F238E27FC236}">
                <a16:creationId xmlns:a16="http://schemas.microsoft.com/office/drawing/2014/main" id="{F6732983-C083-3B9F-F605-5B24704D17C1}"/>
              </a:ext>
            </a:extLst>
          </p:cNvPr>
          <p:cNvGrpSpPr/>
          <p:nvPr/>
        </p:nvGrpSpPr>
        <p:grpSpPr>
          <a:xfrm>
            <a:off x="3960000" y="2808000"/>
            <a:ext cx="1080000" cy="1080000"/>
            <a:chOff x="2807995" y="2745746"/>
            <a:chExt cx="1080000" cy="1080000"/>
          </a:xfrm>
        </p:grpSpPr>
        <p:sp>
          <p:nvSpPr>
            <p:cNvPr id="97" name="立方体 96">
              <a:extLst>
                <a:ext uri="{FF2B5EF4-FFF2-40B4-BE49-F238E27FC236}">
                  <a16:creationId xmlns:a16="http://schemas.microsoft.com/office/drawing/2014/main" id="{6CA0A899-3775-69B6-8998-114130178F7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98" name="立方体 97">
              <a:extLst>
                <a:ext uri="{FF2B5EF4-FFF2-40B4-BE49-F238E27FC236}">
                  <a16:creationId xmlns:a16="http://schemas.microsoft.com/office/drawing/2014/main" id="{FE6BA7B6-D0A8-6638-6444-2F404F9021BB}"/>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1" name="立方体 100">
              <a:extLst>
                <a:ext uri="{FF2B5EF4-FFF2-40B4-BE49-F238E27FC236}">
                  <a16:creationId xmlns:a16="http://schemas.microsoft.com/office/drawing/2014/main" id="{0C42617E-51FC-9D19-41DA-D39D12D1A5E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02" name="立方体 101">
              <a:extLst>
                <a:ext uri="{FF2B5EF4-FFF2-40B4-BE49-F238E27FC236}">
                  <a16:creationId xmlns:a16="http://schemas.microsoft.com/office/drawing/2014/main" id="{C2502B08-F62F-390B-C7A8-7FC11A7E8AB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3" name="立方体 102">
              <a:extLst>
                <a:ext uri="{FF2B5EF4-FFF2-40B4-BE49-F238E27FC236}">
                  <a16:creationId xmlns:a16="http://schemas.microsoft.com/office/drawing/2014/main" id="{28A1E7CD-CB1E-6E0B-88CC-632FA7C94E4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FA2E37A1-96F4-42CF-7849-BF3E34533040}"/>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61C79352-7457-5E7B-8D7A-1C25A9B6F0D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192D6CAE-5F44-FF80-0E32-B34A6FABE60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7807AE27-B413-3988-EC11-7704E4E5252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600ABF15-DB43-C86F-A7F9-67C3D73D892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BECE5F6D-F3E9-CAAC-98FD-48EB72AEF60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3BC29728-17F5-2413-A840-2ABAE0E14F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2C5C4B55-0E08-DD3F-9D5E-233306F9B7AE}"/>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07A4B46F-62F1-BD57-7D9A-ABDE81CE69C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9F8CF17F-6627-8B47-A87C-22D09335D78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F9FDD6E2-94C0-A848-8703-4937593E0622}"/>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F6F3E5D-A6CF-1E6E-E9A7-B138BC3856E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ECB9DDD9-9C4A-D92D-4EF5-C6E5B52E3FCF}"/>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3507277D-6A5D-4C77-2E66-1EFFA73DEFC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48902D8B-BD8E-D7B4-6D4B-E6D4210ABE9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AutoShape 4">
            <a:extLst>
              <a:ext uri="{FF2B5EF4-FFF2-40B4-BE49-F238E27FC236}">
                <a16:creationId xmlns:a16="http://schemas.microsoft.com/office/drawing/2014/main" id="{BA99B678-4610-2514-C2FD-E0B06FCB062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8" name="AutoShape 4">
            <a:extLst>
              <a:ext uri="{FF2B5EF4-FFF2-40B4-BE49-F238E27FC236}">
                <a16:creationId xmlns:a16="http://schemas.microsoft.com/office/drawing/2014/main" id="{4A235936-0962-716D-4203-C08B35CA07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0" name="Text Box 26">
            <a:extLst>
              <a:ext uri="{FF2B5EF4-FFF2-40B4-BE49-F238E27FC236}">
                <a16:creationId xmlns:a16="http://schemas.microsoft.com/office/drawing/2014/main" id="{8E084F96-F4A0-F49D-4A64-040AB51564C2}"/>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2" name="Text Box 26">
            <a:extLst>
              <a:ext uri="{FF2B5EF4-FFF2-40B4-BE49-F238E27FC236}">
                <a16:creationId xmlns:a16="http://schemas.microsoft.com/office/drawing/2014/main" id="{C2BD6D71-E74E-CBA2-8EAF-E957AD7BEA9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49" name="组合 148">
            <a:extLst>
              <a:ext uri="{FF2B5EF4-FFF2-40B4-BE49-F238E27FC236}">
                <a16:creationId xmlns:a16="http://schemas.microsoft.com/office/drawing/2014/main" id="{012EC147-0B2F-991F-DC31-9FAA2423A234}"/>
              </a:ext>
            </a:extLst>
          </p:cNvPr>
          <p:cNvGrpSpPr/>
          <p:nvPr/>
        </p:nvGrpSpPr>
        <p:grpSpPr>
          <a:xfrm>
            <a:off x="3960000" y="2808000"/>
            <a:ext cx="1080000" cy="1080000"/>
            <a:chOff x="2807995" y="2745746"/>
            <a:chExt cx="1080000" cy="1080000"/>
          </a:xfrm>
        </p:grpSpPr>
        <p:sp>
          <p:nvSpPr>
            <p:cNvPr id="150" name="立方体 149">
              <a:extLst>
                <a:ext uri="{FF2B5EF4-FFF2-40B4-BE49-F238E27FC236}">
                  <a16:creationId xmlns:a16="http://schemas.microsoft.com/office/drawing/2014/main" id="{90AB7F39-9449-D4E4-6DD8-E9DDD472B8E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1" name="立方体 150">
              <a:extLst>
                <a:ext uri="{FF2B5EF4-FFF2-40B4-BE49-F238E27FC236}">
                  <a16:creationId xmlns:a16="http://schemas.microsoft.com/office/drawing/2014/main" id="{38D3C803-1048-1C8E-3811-BB34F56B9DE8}"/>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E3193FAB-CAB2-C9FD-F694-67EA0E2AF6AD}"/>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44916DA4-7993-FE99-EA8B-F94A8588833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48590A5F-B0E4-EA21-ABCE-4208A3E97B4C}"/>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849C4BE5-129C-BCE9-7BB2-E4A8D9C2B119}"/>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17B4B0E4-D8D2-1DA7-96C8-983E46FB6F0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5B9518D6-45C7-32F5-2F30-F113C906158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57BCEE08-E861-2BFD-F0B8-580A26D2F3B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BCE67DFD-7E86-A1D1-FC62-C72A89319C8B}"/>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34B3D482-FB24-DFC5-AB12-F9C1FEA0061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D99BC6CA-0797-1651-915F-45D24C212EF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8F92644C-0D7B-9087-428B-BAC93BD0A201}"/>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64CF0BA0-49BD-DE8D-72E5-6E0EB3D4230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C372EB7F-AEA5-9386-85C5-D7F9D572ECA3}"/>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9A1C0024-AA17-E5C7-5F68-7E79CA8702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17E1F645-0432-DBCC-0E45-DEA93F23378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58860F11-50DB-DE83-5289-D030F4805994}"/>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4DD52EF8-A11E-8114-ECA9-DBF4720F9E4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770F843-72CC-E95F-129E-A89009128F6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5" name="Rectangle 35">
            <a:extLst>
              <a:ext uri="{FF2B5EF4-FFF2-40B4-BE49-F238E27FC236}">
                <a16:creationId xmlns:a16="http://schemas.microsoft.com/office/drawing/2014/main" id="{1139F08C-647C-A257-9817-2EB484A40B7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AutoShape 4">
            <a:extLst>
              <a:ext uri="{FF2B5EF4-FFF2-40B4-BE49-F238E27FC236}">
                <a16:creationId xmlns:a16="http://schemas.microsoft.com/office/drawing/2014/main" id="{BCF322C6-399E-A3C9-C1A3-8B91F993BF8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9" name="AutoShape 4">
            <a:extLst>
              <a:ext uri="{FF2B5EF4-FFF2-40B4-BE49-F238E27FC236}">
                <a16:creationId xmlns:a16="http://schemas.microsoft.com/office/drawing/2014/main" id="{D6ACCAD6-EAE4-2EB8-9BA2-2CDCAA346FF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1" name="Text Box 26">
            <a:extLst>
              <a:ext uri="{FF2B5EF4-FFF2-40B4-BE49-F238E27FC236}">
                <a16:creationId xmlns:a16="http://schemas.microsoft.com/office/drawing/2014/main" id="{29C52E90-2D15-9DB4-FBA0-A8787511314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3" name="Text Box 26">
            <a:extLst>
              <a:ext uri="{FF2B5EF4-FFF2-40B4-BE49-F238E27FC236}">
                <a16:creationId xmlns:a16="http://schemas.microsoft.com/office/drawing/2014/main" id="{7D5103A3-A5E4-FF4A-F887-3D0AC14F020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0" name="组合 159">
            <a:extLst>
              <a:ext uri="{FF2B5EF4-FFF2-40B4-BE49-F238E27FC236}">
                <a16:creationId xmlns:a16="http://schemas.microsoft.com/office/drawing/2014/main" id="{6F0FAEFB-9BCE-5D57-5FCA-55231DAD7091}"/>
              </a:ext>
            </a:extLst>
          </p:cNvPr>
          <p:cNvGrpSpPr/>
          <p:nvPr/>
        </p:nvGrpSpPr>
        <p:grpSpPr>
          <a:xfrm>
            <a:off x="3960000" y="2808000"/>
            <a:ext cx="1080000" cy="1080000"/>
            <a:chOff x="2807995" y="2745746"/>
            <a:chExt cx="1080000" cy="1080000"/>
          </a:xfrm>
        </p:grpSpPr>
        <p:sp>
          <p:nvSpPr>
            <p:cNvPr id="161" name="立方体 160">
              <a:extLst>
                <a:ext uri="{FF2B5EF4-FFF2-40B4-BE49-F238E27FC236}">
                  <a16:creationId xmlns:a16="http://schemas.microsoft.com/office/drawing/2014/main" id="{1A813FF4-5FC6-D772-8358-38D72A46293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CD8125D1-4E45-643C-ACC0-0133996A7B8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589E947A-9994-2AF6-87CE-69225B504BFA}"/>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408EE7A8-072B-E734-0086-7038AA1BD14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5" name="立方体 164">
              <a:extLst>
                <a:ext uri="{FF2B5EF4-FFF2-40B4-BE49-F238E27FC236}">
                  <a16:creationId xmlns:a16="http://schemas.microsoft.com/office/drawing/2014/main" id="{29FE277C-BA5D-33E0-0708-536CCBF7C3A9}"/>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68A3AEC5-F141-53CE-97BA-D0D825D15C83}"/>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56EBF489-1201-FB81-D0F1-7F73A0BE639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AFE816AB-DE03-03EB-760E-451B9EE1598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CAFFF839-FEE3-F9C8-B7B9-F0975DC781C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13CBD5CA-E50B-DC9D-7A33-D3549FEC0A4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F1309C8C-1CEE-C67A-C572-C612F2D30D2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6" name="圆柱体 85">
              <a:extLst>
                <a:ext uri="{FF2B5EF4-FFF2-40B4-BE49-F238E27FC236}">
                  <a16:creationId xmlns:a16="http://schemas.microsoft.com/office/drawing/2014/main" id="{58F81113-8602-486D-977A-B3995B285B8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0" name="组合 89">
            <a:extLst>
              <a:ext uri="{FF2B5EF4-FFF2-40B4-BE49-F238E27FC236}">
                <a16:creationId xmlns:a16="http://schemas.microsoft.com/office/drawing/2014/main" id="{E53FF9BF-90CA-6D5E-4CB9-C887A345619C}"/>
              </a:ext>
            </a:extLst>
          </p:cNvPr>
          <p:cNvGrpSpPr/>
          <p:nvPr/>
        </p:nvGrpSpPr>
        <p:grpSpPr>
          <a:xfrm>
            <a:off x="701211" y="1800000"/>
            <a:ext cx="1080000" cy="2088000"/>
            <a:chOff x="701211" y="1800000"/>
            <a:chExt cx="1080000" cy="2088000"/>
          </a:xfrm>
        </p:grpSpPr>
        <p:sp>
          <p:nvSpPr>
            <p:cNvPr id="91" name="立方体 90">
              <a:extLst>
                <a:ext uri="{FF2B5EF4-FFF2-40B4-BE49-F238E27FC236}">
                  <a16:creationId xmlns:a16="http://schemas.microsoft.com/office/drawing/2014/main" id="{2424115A-6333-DFC4-D5F7-04195E9335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5" name="立方体 104">
              <a:extLst>
                <a:ext uri="{FF2B5EF4-FFF2-40B4-BE49-F238E27FC236}">
                  <a16:creationId xmlns:a16="http://schemas.microsoft.com/office/drawing/2014/main" id="{82EFD950-2EB5-EB28-0166-0B0F15DB9E3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F05B51EC-6C21-B99B-008C-D77BAE9AEFD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B3581951-78D3-7299-B3DA-2E9B901F968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E8292F11-6EA9-C151-89F6-073C56D2202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A8466307-B97C-4875-937C-05A4AFBB33F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85143DD-8FF2-F18E-DE37-E2DC371F0BB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4" name="Rectangle 74">
            <a:extLst>
              <a:ext uri="{FF2B5EF4-FFF2-40B4-BE49-F238E27FC236}">
                <a16:creationId xmlns:a16="http://schemas.microsoft.com/office/drawing/2014/main" id="{678051BC-966E-3D22-F37A-9D6ACD0DE7CE}"/>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16" name="Rectangle 78">
            <a:extLst>
              <a:ext uri="{FF2B5EF4-FFF2-40B4-BE49-F238E27FC236}">
                <a16:creationId xmlns:a16="http://schemas.microsoft.com/office/drawing/2014/main" id="{35F75AC7-1132-EB78-9EC6-13B9ADFE0901}"/>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18" name="Rectangle 46">
            <a:extLst>
              <a:ext uri="{FF2B5EF4-FFF2-40B4-BE49-F238E27FC236}">
                <a16:creationId xmlns:a16="http://schemas.microsoft.com/office/drawing/2014/main" id="{C0ED3313-E3DD-E204-0CAD-6F59208C654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21" name="Rectangle 47">
            <a:extLst>
              <a:ext uri="{FF2B5EF4-FFF2-40B4-BE49-F238E27FC236}">
                <a16:creationId xmlns:a16="http://schemas.microsoft.com/office/drawing/2014/main" id="{1445FDDC-176D-0D75-6B00-B0C308BAC3D9}"/>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23" name="Rectangle 48">
            <a:extLst>
              <a:ext uri="{FF2B5EF4-FFF2-40B4-BE49-F238E27FC236}">
                <a16:creationId xmlns:a16="http://schemas.microsoft.com/office/drawing/2014/main" id="{3D006125-ECF2-CEC1-D495-CC340A087B96}"/>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0" name="Rectangle 49">
            <a:extLst>
              <a:ext uri="{FF2B5EF4-FFF2-40B4-BE49-F238E27FC236}">
                <a16:creationId xmlns:a16="http://schemas.microsoft.com/office/drawing/2014/main" id="{BEECC7D7-9379-8B49-7FBF-808600F1CA0D}"/>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2" name="Rectangle 35">
            <a:extLst>
              <a:ext uri="{FF2B5EF4-FFF2-40B4-BE49-F238E27FC236}">
                <a16:creationId xmlns:a16="http://schemas.microsoft.com/office/drawing/2014/main" id="{FC79FE30-20E9-BAA3-C376-45C98BAA066D}"/>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AutoShape 4">
            <a:extLst>
              <a:ext uri="{FF2B5EF4-FFF2-40B4-BE49-F238E27FC236}">
                <a16:creationId xmlns:a16="http://schemas.microsoft.com/office/drawing/2014/main" id="{5F1CD450-CA45-BE1C-0E1F-ADFB679A4ED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7" name="AutoShape 4">
            <a:extLst>
              <a:ext uri="{FF2B5EF4-FFF2-40B4-BE49-F238E27FC236}">
                <a16:creationId xmlns:a16="http://schemas.microsoft.com/office/drawing/2014/main" id="{E395EC5E-A952-0442-8548-CEAB56AF496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9" name="Text Box 26">
            <a:extLst>
              <a:ext uri="{FF2B5EF4-FFF2-40B4-BE49-F238E27FC236}">
                <a16:creationId xmlns:a16="http://schemas.microsoft.com/office/drawing/2014/main" id="{6DF8B035-B252-18C1-3D2E-1DAE029996B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1" name="Text Box 26">
            <a:extLst>
              <a:ext uri="{FF2B5EF4-FFF2-40B4-BE49-F238E27FC236}">
                <a16:creationId xmlns:a16="http://schemas.microsoft.com/office/drawing/2014/main" id="{0444089A-3407-8758-557F-F2336CCF705B}"/>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8" name="组合 167">
            <a:extLst>
              <a:ext uri="{FF2B5EF4-FFF2-40B4-BE49-F238E27FC236}">
                <a16:creationId xmlns:a16="http://schemas.microsoft.com/office/drawing/2014/main" id="{05B09915-8C8A-7B95-640F-8419B3758DD7}"/>
              </a:ext>
            </a:extLst>
          </p:cNvPr>
          <p:cNvGrpSpPr/>
          <p:nvPr/>
        </p:nvGrpSpPr>
        <p:grpSpPr>
          <a:xfrm>
            <a:off x="3960000" y="2808000"/>
            <a:ext cx="1080000" cy="1080000"/>
            <a:chOff x="2807995" y="2745746"/>
            <a:chExt cx="1080000" cy="1080000"/>
          </a:xfrm>
        </p:grpSpPr>
        <p:sp>
          <p:nvSpPr>
            <p:cNvPr id="169" name="立方体 168">
              <a:extLst>
                <a:ext uri="{FF2B5EF4-FFF2-40B4-BE49-F238E27FC236}">
                  <a16:creationId xmlns:a16="http://schemas.microsoft.com/office/drawing/2014/main" id="{3354BD02-897C-87DE-F65D-0FE6C5FDE0E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0" name="立方体 169">
              <a:extLst>
                <a:ext uri="{FF2B5EF4-FFF2-40B4-BE49-F238E27FC236}">
                  <a16:creationId xmlns:a16="http://schemas.microsoft.com/office/drawing/2014/main" id="{45C4141A-C05F-7651-41A4-EA824C58E5B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1" name="立方体 170">
              <a:extLst>
                <a:ext uri="{FF2B5EF4-FFF2-40B4-BE49-F238E27FC236}">
                  <a16:creationId xmlns:a16="http://schemas.microsoft.com/office/drawing/2014/main" id="{48E9F1AB-CD66-A70B-9C00-75FF2EE3846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2" name="立方体 171">
              <a:extLst>
                <a:ext uri="{FF2B5EF4-FFF2-40B4-BE49-F238E27FC236}">
                  <a16:creationId xmlns:a16="http://schemas.microsoft.com/office/drawing/2014/main" id="{2D88F73D-D015-CF78-9B23-369E0BA18925}"/>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3" name="立方体 172">
              <a:extLst>
                <a:ext uri="{FF2B5EF4-FFF2-40B4-BE49-F238E27FC236}">
                  <a16:creationId xmlns:a16="http://schemas.microsoft.com/office/drawing/2014/main" id="{D3ADC0E8-988B-6050-2277-BCE5563025F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BDE65972-F586-14CA-0459-EC749E25AEA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D91F6802-2F44-1E61-F357-B813B00A326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6EFF3A4-F716-3485-D8BD-4142BE8C72E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9D21F6DB-9B37-33A8-7B3C-026E67FD955D}"/>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ED37EFD6-A5C7-CDEB-5EB4-9A6D0DD54FE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93952E3C-8178-5769-6AB5-E5C5045B165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3FC0ABC-C8D5-AEED-EA03-AF840B34F09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4" name="组合 113">
            <a:extLst>
              <a:ext uri="{FF2B5EF4-FFF2-40B4-BE49-F238E27FC236}">
                <a16:creationId xmlns:a16="http://schemas.microsoft.com/office/drawing/2014/main" id="{D8BA1D2A-EFF3-A44E-F27B-4D05B34418B5}"/>
              </a:ext>
            </a:extLst>
          </p:cNvPr>
          <p:cNvGrpSpPr/>
          <p:nvPr/>
        </p:nvGrpSpPr>
        <p:grpSpPr>
          <a:xfrm>
            <a:off x="701211" y="1800000"/>
            <a:ext cx="1080000" cy="2088000"/>
            <a:chOff x="701211" y="1800000"/>
            <a:chExt cx="1080000" cy="2088000"/>
          </a:xfrm>
        </p:grpSpPr>
        <p:sp>
          <p:nvSpPr>
            <p:cNvPr id="115" name="立方体 114">
              <a:extLst>
                <a:ext uri="{FF2B5EF4-FFF2-40B4-BE49-F238E27FC236}">
                  <a16:creationId xmlns:a16="http://schemas.microsoft.com/office/drawing/2014/main" id="{F6E24218-4713-AB96-9DF8-B167EC8291E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6" name="立方体 115">
              <a:extLst>
                <a:ext uri="{FF2B5EF4-FFF2-40B4-BE49-F238E27FC236}">
                  <a16:creationId xmlns:a16="http://schemas.microsoft.com/office/drawing/2014/main" id="{52BE2181-7A76-A1D7-AD58-A26419D3D5F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7" name="立方体 116">
              <a:extLst>
                <a:ext uri="{FF2B5EF4-FFF2-40B4-BE49-F238E27FC236}">
                  <a16:creationId xmlns:a16="http://schemas.microsoft.com/office/drawing/2014/main" id="{2621BF37-BE1E-C9F8-02E5-F6A20B5660A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8" name="立方体 117">
              <a:extLst>
                <a:ext uri="{FF2B5EF4-FFF2-40B4-BE49-F238E27FC236}">
                  <a16:creationId xmlns:a16="http://schemas.microsoft.com/office/drawing/2014/main" id="{72E80934-B788-FD3F-AB3F-E34B1B14131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0" name="立方体 119">
              <a:extLst>
                <a:ext uri="{FF2B5EF4-FFF2-40B4-BE49-F238E27FC236}">
                  <a16:creationId xmlns:a16="http://schemas.microsoft.com/office/drawing/2014/main" id="{73BB674F-5FB0-4DED-8C42-2C87670FA8A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1" name="圆柱体 120">
              <a:extLst>
                <a:ext uri="{FF2B5EF4-FFF2-40B4-BE49-F238E27FC236}">
                  <a16:creationId xmlns:a16="http://schemas.microsoft.com/office/drawing/2014/main" id="{9B9F93C9-431B-8922-E991-15B038B766D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6AF01B-DDD5-019A-B68D-8DEB31EFDCC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23" name="Rectangle 74">
            <a:extLst>
              <a:ext uri="{FF2B5EF4-FFF2-40B4-BE49-F238E27FC236}">
                <a16:creationId xmlns:a16="http://schemas.microsoft.com/office/drawing/2014/main" id="{D2D60F92-7E3C-A06C-47C1-078FE77935C2}"/>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0" name="Rectangle 78">
            <a:extLst>
              <a:ext uri="{FF2B5EF4-FFF2-40B4-BE49-F238E27FC236}">
                <a16:creationId xmlns:a16="http://schemas.microsoft.com/office/drawing/2014/main" id="{1E5E3E64-685E-78B8-5BFD-8CD7879E0B4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32" name="Rectangle 46">
            <a:extLst>
              <a:ext uri="{FF2B5EF4-FFF2-40B4-BE49-F238E27FC236}">
                <a16:creationId xmlns:a16="http://schemas.microsoft.com/office/drawing/2014/main" id="{CD701DC4-23E5-ECD5-5D86-7F1B3C9AB72B}"/>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34" name="Rectangle 47">
            <a:extLst>
              <a:ext uri="{FF2B5EF4-FFF2-40B4-BE49-F238E27FC236}">
                <a16:creationId xmlns:a16="http://schemas.microsoft.com/office/drawing/2014/main" id="{A68A11A6-F784-7402-BB4B-3D1997DA16F5}"/>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6" name="Rectangle 48">
            <a:extLst>
              <a:ext uri="{FF2B5EF4-FFF2-40B4-BE49-F238E27FC236}">
                <a16:creationId xmlns:a16="http://schemas.microsoft.com/office/drawing/2014/main" id="{8A1BC430-73E2-9543-BB44-37F459748B5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9">
            <a:extLst>
              <a:ext uri="{FF2B5EF4-FFF2-40B4-BE49-F238E27FC236}">
                <a16:creationId xmlns:a16="http://schemas.microsoft.com/office/drawing/2014/main" id="{709F6DCC-8943-9407-AF14-538546D6494C}"/>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7" name="Rectangle 35">
            <a:extLst>
              <a:ext uri="{FF2B5EF4-FFF2-40B4-BE49-F238E27FC236}">
                <a16:creationId xmlns:a16="http://schemas.microsoft.com/office/drawing/2014/main" id="{B243C9D6-75E8-5FAE-BB74-D362B03260B3}"/>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49" name="Rectangle 42">
            <a:extLst>
              <a:ext uri="{FF2B5EF4-FFF2-40B4-BE49-F238E27FC236}">
                <a16:creationId xmlns:a16="http://schemas.microsoft.com/office/drawing/2014/main" id="{0309845A-86DE-90E3-F411-3222EE19364C}"/>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1" name="Rectangle 43">
            <a:extLst>
              <a:ext uri="{FF2B5EF4-FFF2-40B4-BE49-F238E27FC236}">
                <a16:creationId xmlns:a16="http://schemas.microsoft.com/office/drawing/2014/main" id="{8D2E26C5-C526-4A7E-062B-DACFB14D2D6D}"/>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3" name="Rectangle 44">
            <a:extLst>
              <a:ext uri="{FF2B5EF4-FFF2-40B4-BE49-F238E27FC236}">
                <a16:creationId xmlns:a16="http://schemas.microsoft.com/office/drawing/2014/main" id="{C1DE2D12-47BC-CF0F-EBDB-47E0888846E9}"/>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0">
            <a:extLst>
              <a:ext uri="{FF2B5EF4-FFF2-40B4-BE49-F238E27FC236}">
                <a16:creationId xmlns:a16="http://schemas.microsoft.com/office/drawing/2014/main" id="{7DFDED45-DC94-76C1-077F-EA441ED3D9AD}"/>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AutoShape 4">
            <a:extLst>
              <a:ext uri="{FF2B5EF4-FFF2-40B4-BE49-F238E27FC236}">
                <a16:creationId xmlns:a16="http://schemas.microsoft.com/office/drawing/2014/main" id="{64D048D5-DD14-D19F-3131-A056CD210615}"/>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4" name="AutoShape 4">
            <a:extLst>
              <a:ext uri="{FF2B5EF4-FFF2-40B4-BE49-F238E27FC236}">
                <a16:creationId xmlns:a16="http://schemas.microsoft.com/office/drawing/2014/main" id="{1F96383C-CC52-5EAE-5C7C-EE395D53627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6" name="Text Box 26">
            <a:extLst>
              <a:ext uri="{FF2B5EF4-FFF2-40B4-BE49-F238E27FC236}">
                <a16:creationId xmlns:a16="http://schemas.microsoft.com/office/drawing/2014/main" id="{D30048A4-FC29-FBB2-E0EF-DE6DCD5BBC45}"/>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8" name="Text Box 26">
            <a:extLst>
              <a:ext uri="{FF2B5EF4-FFF2-40B4-BE49-F238E27FC236}">
                <a16:creationId xmlns:a16="http://schemas.microsoft.com/office/drawing/2014/main" id="{7986D25C-BD2A-04D4-9790-DDB373668FF8}"/>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5" name="组合 174">
            <a:extLst>
              <a:ext uri="{FF2B5EF4-FFF2-40B4-BE49-F238E27FC236}">
                <a16:creationId xmlns:a16="http://schemas.microsoft.com/office/drawing/2014/main" id="{DDF2C2C1-A72E-27E8-CD90-9B0E8474ED0F}"/>
              </a:ext>
            </a:extLst>
          </p:cNvPr>
          <p:cNvGrpSpPr/>
          <p:nvPr/>
        </p:nvGrpSpPr>
        <p:grpSpPr>
          <a:xfrm>
            <a:off x="3960000" y="2808000"/>
            <a:ext cx="1080000" cy="1080000"/>
            <a:chOff x="2807995" y="2745746"/>
            <a:chExt cx="1080000" cy="1080000"/>
          </a:xfrm>
        </p:grpSpPr>
        <p:sp>
          <p:nvSpPr>
            <p:cNvPr id="176" name="立方体 175">
              <a:extLst>
                <a:ext uri="{FF2B5EF4-FFF2-40B4-BE49-F238E27FC236}">
                  <a16:creationId xmlns:a16="http://schemas.microsoft.com/office/drawing/2014/main" id="{C818F044-D829-1221-368A-7E35B49A5D4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90E0D195-5D5F-45E7-6E50-A9392D67AEF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449307F6-6383-DF3E-7327-C8DC7B816E7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3F96534B-43C8-5092-B842-7A0EDF62E4D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57B0BA3E-0B17-3F54-3CBE-6E720B96A4D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5E23522D-FF66-24BD-AE06-B81AF4F434C7}"/>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D8FAE86C-7462-C4E0-57CD-979729D428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3130ED95-C4A5-17DF-2F4D-8D06E1A9F6C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1C74124B-082B-9303-DC3E-55C453B481D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07F4730D-B90F-88B5-4615-BDF9D8AB31E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2C9D62C-C074-410E-F18E-80255F5FBB4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0D011AB7-2C49-6577-DD0A-77C83951B70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730B72A8-AED1-225D-AD76-BE735A8602B2}"/>
              </a:ext>
            </a:extLst>
          </p:cNvPr>
          <p:cNvGrpSpPr/>
          <p:nvPr/>
        </p:nvGrpSpPr>
        <p:grpSpPr>
          <a:xfrm>
            <a:off x="701211" y="1800000"/>
            <a:ext cx="1080000" cy="2088000"/>
            <a:chOff x="701211" y="1800000"/>
            <a:chExt cx="1080000" cy="2088000"/>
          </a:xfrm>
        </p:grpSpPr>
        <p:sp>
          <p:nvSpPr>
            <p:cNvPr id="123" name="立方体 122">
              <a:extLst>
                <a:ext uri="{FF2B5EF4-FFF2-40B4-BE49-F238E27FC236}">
                  <a16:creationId xmlns:a16="http://schemas.microsoft.com/office/drawing/2014/main" id="{86BD6955-BA3B-8183-0BD7-C518E2D3197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42DE3B1B-B484-84B4-D1BD-B7FF3AF0CF0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E43F8620-3C28-4C88-5355-F9ACC17900A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D603A47A-6763-C272-5DC7-6C646E68C29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7342493E-960C-1F5C-F525-70DF4C4B058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1E1ADEDB-3788-BECE-1F2C-62EC098B7E5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C192F12-42B2-8E52-0780-C68AFFEC10D8}"/>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74">
            <a:extLst>
              <a:ext uri="{FF2B5EF4-FFF2-40B4-BE49-F238E27FC236}">
                <a16:creationId xmlns:a16="http://schemas.microsoft.com/office/drawing/2014/main" id="{46AE7ED1-D60F-7CE2-6B97-87D62C3CD615}"/>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7" name="Rectangle 78">
            <a:extLst>
              <a:ext uri="{FF2B5EF4-FFF2-40B4-BE49-F238E27FC236}">
                <a16:creationId xmlns:a16="http://schemas.microsoft.com/office/drawing/2014/main" id="{11087ED8-FBD2-63CF-9942-C9A9B47F2808}"/>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41" name="Rectangle 46">
            <a:extLst>
              <a:ext uri="{FF2B5EF4-FFF2-40B4-BE49-F238E27FC236}">
                <a16:creationId xmlns:a16="http://schemas.microsoft.com/office/drawing/2014/main" id="{6189F201-13B7-8D8A-11A2-4ACBEE0CF48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48" name="Rectangle 47">
            <a:extLst>
              <a:ext uri="{FF2B5EF4-FFF2-40B4-BE49-F238E27FC236}">
                <a16:creationId xmlns:a16="http://schemas.microsoft.com/office/drawing/2014/main" id="{4B56853C-C1CA-0E6D-1459-E41370EB6EA7}"/>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0" name="Rectangle 48">
            <a:extLst>
              <a:ext uri="{FF2B5EF4-FFF2-40B4-BE49-F238E27FC236}">
                <a16:creationId xmlns:a16="http://schemas.microsoft.com/office/drawing/2014/main" id="{306F23A0-9142-5BAE-4D72-0FF9062A02E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2" name="Rectangle 49">
            <a:extLst>
              <a:ext uri="{FF2B5EF4-FFF2-40B4-BE49-F238E27FC236}">
                <a16:creationId xmlns:a16="http://schemas.microsoft.com/office/drawing/2014/main" id="{D88E0498-901B-CA87-6CE2-44A7F4B151C0}"/>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4" name="Rectangle 35">
            <a:extLst>
              <a:ext uri="{FF2B5EF4-FFF2-40B4-BE49-F238E27FC236}">
                <a16:creationId xmlns:a16="http://schemas.microsoft.com/office/drawing/2014/main" id="{36CA5CD3-FBC8-D457-53E4-6E083B6B3231}"/>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56" name="Rectangle 42">
            <a:extLst>
              <a:ext uri="{FF2B5EF4-FFF2-40B4-BE49-F238E27FC236}">
                <a16:creationId xmlns:a16="http://schemas.microsoft.com/office/drawing/2014/main" id="{20E82373-FD44-1980-A2BD-05D37B7D169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8" name="Rectangle 43">
            <a:extLst>
              <a:ext uri="{FF2B5EF4-FFF2-40B4-BE49-F238E27FC236}">
                <a16:creationId xmlns:a16="http://schemas.microsoft.com/office/drawing/2014/main" id="{98D78C88-99E8-B682-277E-C7A571BC7B43}"/>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4">
            <a:extLst>
              <a:ext uri="{FF2B5EF4-FFF2-40B4-BE49-F238E27FC236}">
                <a16:creationId xmlns:a16="http://schemas.microsoft.com/office/drawing/2014/main" id="{02994F62-20E0-B100-9C60-1BF038307192}"/>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70">
            <a:extLst>
              <a:ext uri="{FF2B5EF4-FFF2-40B4-BE49-F238E27FC236}">
                <a16:creationId xmlns:a16="http://schemas.microsoft.com/office/drawing/2014/main" id="{42BFBBCF-6269-0045-8AA3-BBD2BF61DE2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4" name="Rectangle 39">
            <a:extLst>
              <a:ext uri="{FF2B5EF4-FFF2-40B4-BE49-F238E27FC236}">
                <a16:creationId xmlns:a16="http://schemas.microsoft.com/office/drawing/2014/main" id="{DB903A59-71AD-1B10-AED3-44BED269EF74}"/>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6" name="Rectangle 40">
            <a:extLst>
              <a:ext uri="{FF2B5EF4-FFF2-40B4-BE49-F238E27FC236}">
                <a16:creationId xmlns:a16="http://schemas.microsoft.com/office/drawing/2014/main" id="{221394CD-9D3F-ACE1-EF6B-ED6B8B1F026A}"/>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66">
            <a:extLst>
              <a:ext uri="{FF2B5EF4-FFF2-40B4-BE49-F238E27FC236}">
                <a16:creationId xmlns:a16="http://schemas.microsoft.com/office/drawing/2014/main" id="{E7634E43-924A-CC93-0CD5-D4D9C8C53D05}"/>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AutoShape 4">
            <a:extLst>
              <a:ext uri="{FF2B5EF4-FFF2-40B4-BE49-F238E27FC236}">
                <a16:creationId xmlns:a16="http://schemas.microsoft.com/office/drawing/2014/main" id="{117EADB0-1976-2B15-07DB-EE907C7B2A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0" name="AutoShape 4">
            <a:extLst>
              <a:ext uri="{FF2B5EF4-FFF2-40B4-BE49-F238E27FC236}">
                <a16:creationId xmlns:a16="http://schemas.microsoft.com/office/drawing/2014/main" id="{456D85F4-2760-B814-8E76-5DFB54EA66C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2" name="Text Box 26">
            <a:extLst>
              <a:ext uri="{FF2B5EF4-FFF2-40B4-BE49-F238E27FC236}">
                <a16:creationId xmlns:a16="http://schemas.microsoft.com/office/drawing/2014/main" id="{CF9EFF92-1015-4213-2F0C-836F9B757237}"/>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4" name="Text Box 26">
            <a:extLst>
              <a:ext uri="{FF2B5EF4-FFF2-40B4-BE49-F238E27FC236}">
                <a16:creationId xmlns:a16="http://schemas.microsoft.com/office/drawing/2014/main" id="{F586D6B1-B991-E59D-FB97-3164CF6F504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81" name="组合 180">
            <a:extLst>
              <a:ext uri="{FF2B5EF4-FFF2-40B4-BE49-F238E27FC236}">
                <a16:creationId xmlns:a16="http://schemas.microsoft.com/office/drawing/2014/main" id="{25B0140C-2880-97AB-E56E-A4169F2B4616}"/>
              </a:ext>
            </a:extLst>
          </p:cNvPr>
          <p:cNvGrpSpPr/>
          <p:nvPr/>
        </p:nvGrpSpPr>
        <p:grpSpPr>
          <a:xfrm>
            <a:off x="3960000" y="2808000"/>
            <a:ext cx="1080000" cy="1080000"/>
            <a:chOff x="2807995" y="2745746"/>
            <a:chExt cx="1080000" cy="1080000"/>
          </a:xfrm>
        </p:grpSpPr>
        <p:sp>
          <p:nvSpPr>
            <p:cNvPr id="182" name="立方体 181">
              <a:extLst>
                <a:ext uri="{FF2B5EF4-FFF2-40B4-BE49-F238E27FC236}">
                  <a16:creationId xmlns:a16="http://schemas.microsoft.com/office/drawing/2014/main" id="{07BF8766-8A4D-52A3-A3B1-CC37BF8486E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3" name="立方体 182">
              <a:extLst>
                <a:ext uri="{FF2B5EF4-FFF2-40B4-BE49-F238E27FC236}">
                  <a16:creationId xmlns:a16="http://schemas.microsoft.com/office/drawing/2014/main" id="{37C345F4-96BF-35CC-FB8E-0C183C644A5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4" name="立方体 183">
              <a:extLst>
                <a:ext uri="{FF2B5EF4-FFF2-40B4-BE49-F238E27FC236}">
                  <a16:creationId xmlns:a16="http://schemas.microsoft.com/office/drawing/2014/main" id="{266CC44A-7779-4189-F6B2-F76F8FAC07E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5" name="立方体 184">
              <a:extLst>
                <a:ext uri="{FF2B5EF4-FFF2-40B4-BE49-F238E27FC236}">
                  <a16:creationId xmlns:a16="http://schemas.microsoft.com/office/drawing/2014/main" id="{AE18AF6C-726A-8183-A491-57606800E514}"/>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D818D2E1-D658-5383-31AC-4DC32D8591C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0" name="组合 79">
            <a:extLst>
              <a:ext uri="{FF2B5EF4-FFF2-40B4-BE49-F238E27FC236}">
                <a16:creationId xmlns:a16="http://schemas.microsoft.com/office/drawing/2014/main" id="{C5F25BA9-F03F-5F3E-16C3-A1EEC36A5E16}"/>
              </a:ext>
            </a:extLst>
          </p:cNvPr>
          <p:cNvGrpSpPr/>
          <p:nvPr/>
        </p:nvGrpSpPr>
        <p:grpSpPr>
          <a:xfrm>
            <a:off x="7395732" y="1800000"/>
            <a:ext cx="1080000" cy="2088000"/>
            <a:chOff x="701211" y="1800000"/>
            <a:chExt cx="1080000" cy="2088000"/>
          </a:xfrm>
        </p:grpSpPr>
        <p:sp>
          <p:nvSpPr>
            <p:cNvPr id="81" name="立方体 80">
              <a:extLst>
                <a:ext uri="{FF2B5EF4-FFF2-40B4-BE49-F238E27FC236}">
                  <a16:creationId xmlns:a16="http://schemas.microsoft.com/office/drawing/2014/main" id="{AAEABF09-30B3-475A-55D7-22C932CB681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4" name="立方体 83">
              <a:extLst>
                <a:ext uri="{FF2B5EF4-FFF2-40B4-BE49-F238E27FC236}">
                  <a16:creationId xmlns:a16="http://schemas.microsoft.com/office/drawing/2014/main" id="{4B3892A1-0D7C-04D8-525A-CB2CB204AA5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5" name="立方体 84">
              <a:extLst>
                <a:ext uri="{FF2B5EF4-FFF2-40B4-BE49-F238E27FC236}">
                  <a16:creationId xmlns:a16="http://schemas.microsoft.com/office/drawing/2014/main" id="{0AB284DF-2D34-4E40-0A74-A916F63D48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0" name="立方体 129">
              <a:extLst>
                <a:ext uri="{FF2B5EF4-FFF2-40B4-BE49-F238E27FC236}">
                  <a16:creationId xmlns:a16="http://schemas.microsoft.com/office/drawing/2014/main" id="{A1001963-D2EB-8997-0F66-F49C25595FE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1" name="立方体 130">
              <a:extLst>
                <a:ext uri="{FF2B5EF4-FFF2-40B4-BE49-F238E27FC236}">
                  <a16:creationId xmlns:a16="http://schemas.microsoft.com/office/drawing/2014/main" id="{7CBF135D-9022-3DFE-5898-A4F20293F36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2" name="圆柱体 131">
              <a:extLst>
                <a:ext uri="{FF2B5EF4-FFF2-40B4-BE49-F238E27FC236}">
                  <a16:creationId xmlns:a16="http://schemas.microsoft.com/office/drawing/2014/main" id="{4A791266-7073-6B45-228D-98451F2C980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3" name="组合 132">
            <a:extLst>
              <a:ext uri="{FF2B5EF4-FFF2-40B4-BE49-F238E27FC236}">
                <a16:creationId xmlns:a16="http://schemas.microsoft.com/office/drawing/2014/main" id="{80B5FBB1-8C3B-68CE-3A49-67171297A329}"/>
              </a:ext>
            </a:extLst>
          </p:cNvPr>
          <p:cNvGrpSpPr/>
          <p:nvPr/>
        </p:nvGrpSpPr>
        <p:grpSpPr>
          <a:xfrm>
            <a:off x="701211" y="1800000"/>
            <a:ext cx="1080000" cy="2088000"/>
            <a:chOff x="701211" y="1800000"/>
            <a:chExt cx="1080000" cy="2088000"/>
          </a:xfrm>
        </p:grpSpPr>
        <p:sp>
          <p:nvSpPr>
            <p:cNvPr id="134" name="立方体 133">
              <a:extLst>
                <a:ext uri="{FF2B5EF4-FFF2-40B4-BE49-F238E27FC236}">
                  <a16:creationId xmlns:a16="http://schemas.microsoft.com/office/drawing/2014/main" id="{447FF2C7-17E8-EB3B-A4A4-B4080145620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5" name="立方体 134">
              <a:extLst>
                <a:ext uri="{FF2B5EF4-FFF2-40B4-BE49-F238E27FC236}">
                  <a16:creationId xmlns:a16="http://schemas.microsoft.com/office/drawing/2014/main" id="{8639BFF1-F448-5BF5-8144-65F267C9FA8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6" name="立方体 135">
              <a:extLst>
                <a:ext uri="{FF2B5EF4-FFF2-40B4-BE49-F238E27FC236}">
                  <a16:creationId xmlns:a16="http://schemas.microsoft.com/office/drawing/2014/main" id="{6F1D38AA-BCA0-3CAE-330E-0CFB4802CE0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7" name="立方体 136">
              <a:extLst>
                <a:ext uri="{FF2B5EF4-FFF2-40B4-BE49-F238E27FC236}">
                  <a16:creationId xmlns:a16="http://schemas.microsoft.com/office/drawing/2014/main" id="{82330E41-A10E-4B0F-3B0E-6E7BFC1E62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8" name="立方体 137">
              <a:extLst>
                <a:ext uri="{FF2B5EF4-FFF2-40B4-BE49-F238E27FC236}">
                  <a16:creationId xmlns:a16="http://schemas.microsoft.com/office/drawing/2014/main" id="{55E1BE6A-A057-1C9C-87A5-DF0302D37F7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1" name="圆柱体 140">
              <a:extLst>
                <a:ext uri="{FF2B5EF4-FFF2-40B4-BE49-F238E27FC236}">
                  <a16:creationId xmlns:a16="http://schemas.microsoft.com/office/drawing/2014/main" id="{DFE33634-C518-A6E0-39D1-091F50641DD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77D4518-1443-61FD-ACA2-7F28694EACD2}"/>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8" name="Rectangle 74">
            <a:extLst>
              <a:ext uri="{FF2B5EF4-FFF2-40B4-BE49-F238E27FC236}">
                <a16:creationId xmlns:a16="http://schemas.microsoft.com/office/drawing/2014/main" id="{EA517FA4-BB80-7530-BFC2-28EC1DA1DBF8}"/>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0" name="Rectangle 78">
            <a:extLst>
              <a:ext uri="{FF2B5EF4-FFF2-40B4-BE49-F238E27FC236}">
                <a16:creationId xmlns:a16="http://schemas.microsoft.com/office/drawing/2014/main" id="{0B1A262A-5C07-974F-2D7F-D865E921BA2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2" name="Rectangle 46">
            <a:extLst>
              <a:ext uri="{FF2B5EF4-FFF2-40B4-BE49-F238E27FC236}">
                <a16:creationId xmlns:a16="http://schemas.microsoft.com/office/drawing/2014/main" id="{8AD17C8E-8E10-6225-6A74-66D206B10BAF}"/>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4" name="Rectangle 47">
            <a:extLst>
              <a:ext uri="{FF2B5EF4-FFF2-40B4-BE49-F238E27FC236}">
                <a16:creationId xmlns:a16="http://schemas.microsoft.com/office/drawing/2014/main" id="{DCFE67ED-DEE3-1C93-E840-DD4C8CBE94FE}"/>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6" name="Rectangle 48">
            <a:extLst>
              <a:ext uri="{FF2B5EF4-FFF2-40B4-BE49-F238E27FC236}">
                <a16:creationId xmlns:a16="http://schemas.microsoft.com/office/drawing/2014/main" id="{3732D99E-D2A1-6B7E-60F3-890B46FF888D}"/>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8" name="Rectangle 49">
            <a:extLst>
              <a:ext uri="{FF2B5EF4-FFF2-40B4-BE49-F238E27FC236}">
                <a16:creationId xmlns:a16="http://schemas.microsoft.com/office/drawing/2014/main" id="{D8317981-7805-77C0-F34C-AE545C9E9DCE}"/>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0" name="Rectangle 35">
            <a:extLst>
              <a:ext uri="{FF2B5EF4-FFF2-40B4-BE49-F238E27FC236}">
                <a16:creationId xmlns:a16="http://schemas.microsoft.com/office/drawing/2014/main" id="{AEA543E2-4278-30B6-8802-D9BDB628B37F}"/>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2" name="Rectangle 42">
            <a:extLst>
              <a:ext uri="{FF2B5EF4-FFF2-40B4-BE49-F238E27FC236}">
                <a16:creationId xmlns:a16="http://schemas.microsoft.com/office/drawing/2014/main" id="{6146F5C0-EA6E-8CB1-60A2-B34BFCE969A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4" name="Rectangle 43">
            <a:extLst>
              <a:ext uri="{FF2B5EF4-FFF2-40B4-BE49-F238E27FC236}">
                <a16:creationId xmlns:a16="http://schemas.microsoft.com/office/drawing/2014/main" id="{F6CAA96D-35FB-8E76-DFE0-0C0C28DE53A1}"/>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6" name="Rectangle 44">
            <a:extLst>
              <a:ext uri="{FF2B5EF4-FFF2-40B4-BE49-F238E27FC236}">
                <a16:creationId xmlns:a16="http://schemas.microsoft.com/office/drawing/2014/main" id="{1C04A827-BFDA-C735-4532-15EF314E2EF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70">
            <a:extLst>
              <a:ext uri="{FF2B5EF4-FFF2-40B4-BE49-F238E27FC236}">
                <a16:creationId xmlns:a16="http://schemas.microsoft.com/office/drawing/2014/main" id="{93642515-909D-8DF5-55FD-ACC95F6A3FF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0" name="Rectangle 39">
            <a:extLst>
              <a:ext uri="{FF2B5EF4-FFF2-40B4-BE49-F238E27FC236}">
                <a16:creationId xmlns:a16="http://schemas.microsoft.com/office/drawing/2014/main" id="{C4E4CF27-A953-5F04-85A9-262C6B0239AC}"/>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91579417-0A8D-84FE-0241-666319B25DC9}"/>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5199EDF3-CA58-D141-58AE-3CAEB32E33B4}"/>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34">
            <a:extLst>
              <a:ext uri="{FF2B5EF4-FFF2-40B4-BE49-F238E27FC236}">
                <a16:creationId xmlns:a16="http://schemas.microsoft.com/office/drawing/2014/main" id="{26CF4EB2-5743-BE7A-2F2C-F42FB1D8B7D5}"/>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8" name="Rectangle 37">
            <a:extLst>
              <a:ext uri="{FF2B5EF4-FFF2-40B4-BE49-F238E27FC236}">
                <a16:creationId xmlns:a16="http://schemas.microsoft.com/office/drawing/2014/main" id="{913CDFFA-3B69-645E-2A53-FA334FD241BD}"/>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AutoShape 4">
            <a:extLst>
              <a:ext uri="{FF2B5EF4-FFF2-40B4-BE49-F238E27FC236}">
                <a16:creationId xmlns:a16="http://schemas.microsoft.com/office/drawing/2014/main" id="{0D366EA5-EBE0-21F9-3F1B-7499E33F17A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AutoShape 4">
            <a:extLst>
              <a:ext uri="{FF2B5EF4-FFF2-40B4-BE49-F238E27FC236}">
                <a16:creationId xmlns:a16="http://schemas.microsoft.com/office/drawing/2014/main" id="{F9A9D1C7-E222-A64B-8CFB-A11C29D79D3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Text Box 26">
            <a:extLst>
              <a:ext uri="{FF2B5EF4-FFF2-40B4-BE49-F238E27FC236}">
                <a16:creationId xmlns:a16="http://schemas.microsoft.com/office/drawing/2014/main" id="{9DDC348B-8D43-80E7-FB4A-51C0815FE7B8}"/>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1" name="Text Box 26">
            <a:extLst>
              <a:ext uri="{FF2B5EF4-FFF2-40B4-BE49-F238E27FC236}">
                <a16:creationId xmlns:a16="http://schemas.microsoft.com/office/drawing/2014/main" id="{85BB280E-7B85-7808-4611-5FDBD74EAB3D}"/>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8" name="组合 217">
            <a:extLst>
              <a:ext uri="{FF2B5EF4-FFF2-40B4-BE49-F238E27FC236}">
                <a16:creationId xmlns:a16="http://schemas.microsoft.com/office/drawing/2014/main" id="{57339269-887A-D4CD-0CE3-4F1B885E6CEC}"/>
              </a:ext>
            </a:extLst>
          </p:cNvPr>
          <p:cNvGrpSpPr/>
          <p:nvPr/>
        </p:nvGrpSpPr>
        <p:grpSpPr>
          <a:xfrm>
            <a:off x="3960000" y="2808000"/>
            <a:ext cx="1080000" cy="1080000"/>
            <a:chOff x="2807995" y="2745746"/>
            <a:chExt cx="1080000" cy="1080000"/>
          </a:xfrm>
        </p:grpSpPr>
        <p:sp>
          <p:nvSpPr>
            <p:cNvPr id="219" name="立方体 218">
              <a:extLst>
                <a:ext uri="{FF2B5EF4-FFF2-40B4-BE49-F238E27FC236}">
                  <a16:creationId xmlns:a16="http://schemas.microsoft.com/office/drawing/2014/main" id="{8B59F5AA-14BF-26D7-E3D1-052FC9381EC0}"/>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E805A689-5135-B0AE-8A06-DCC70DF2053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C1119D20-DC28-32F1-8912-D801B563993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1CEC2239-4208-8C60-3921-5B2D5677F22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5888E8BD-0390-3F59-3D0A-17BB17C8B26A}"/>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8E1B7AAF-9C2A-D5D7-CD73-9EE5C8CC92DE}"/>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AF6C82CA-1EEA-4211-29C6-8CBB865055E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CD0854C7-02C7-31F6-03F7-A1ED49DAC488}"/>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515C826A-6DD0-42A3-C386-7B74EBED47D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CCFE6848-8846-5297-765A-3FBB22503A8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01280DA-3AB6-2022-2199-E8B22266EC3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842484A2-DDBB-73E8-D2FD-19AC3E13329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841E29CE-834C-7BAB-9C3A-A6F5390DD76C}"/>
              </a:ext>
            </a:extLst>
          </p:cNvPr>
          <p:cNvGrpSpPr/>
          <p:nvPr/>
        </p:nvGrpSpPr>
        <p:grpSpPr>
          <a:xfrm>
            <a:off x="701211" y="1800000"/>
            <a:ext cx="1080000" cy="2088000"/>
            <a:chOff x="701211" y="1800000"/>
            <a:chExt cx="1080000" cy="2088000"/>
          </a:xfrm>
        </p:grpSpPr>
        <p:sp>
          <p:nvSpPr>
            <p:cNvPr id="136" name="立方体 135">
              <a:extLst>
                <a:ext uri="{FF2B5EF4-FFF2-40B4-BE49-F238E27FC236}">
                  <a16:creationId xmlns:a16="http://schemas.microsoft.com/office/drawing/2014/main" id="{A6D0FF1C-2637-7C65-D7E3-CD0C87FC19F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7" name="立方体 136">
              <a:extLst>
                <a:ext uri="{FF2B5EF4-FFF2-40B4-BE49-F238E27FC236}">
                  <a16:creationId xmlns:a16="http://schemas.microsoft.com/office/drawing/2014/main" id="{0928813B-A8AC-0829-7BDB-6E56FAFA730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8" name="立方体 137">
              <a:extLst>
                <a:ext uri="{FF2B5EF4-FFF2-40B4-BE49-F238E27FC236}">
                  <a16:creationId xmlns:a16="http://schemas.microsoft.com/office/drawing/2014/main" id="{20ECB278-5A25-4627-D454-BBE8250FE83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1" name="立方体 140">
              <a:extLst>
                <a:ext uri="{FF2B5EF4-FFF2-40B4-BE49-F238E27FC236}">
                  <a16:creationId xmlns:a16="http://schemas.microsoft.com/office/drawing/2014/main" id="{7437E778-F364-0376-A62D-2DE02BC30A8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7" name="立方体 146">
              <a:extLst>
                <a:ext uri="{FF2B5EF4-FFF2-40B4-BE49-F238E27FC236}">
                  <a16:creationId xmlns:a16="http://schemas.microsoft.com/office/drawing/2014/main" id="{E5442E58-CFC3-5A1A-0A31-1AC5B3F429A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8" name="圆柱体 147">
              <a:extLst>
                <a:ext uri="{FF2B5EF4-FFF2-40B4-BE49-F238E27FC236}">
                  <a16:creationId xmlns:a16="http://schemas.microsoft.com/office/drawing/2014/main" id="{6A29F7A1-770C-1375-2A0B-A8510F0CD0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BA8AB7F2-F80A-D061-E6FE-5876C33F4C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85" name="Rectangle 74">
            <a:extLst>
              <a:ext uri="{FF2B5EF4-FFF2-40B4-BE49-F238E27FC236}">
                <a16:creationId xmlns:a16="http://schemas.microsoft.com/office/drawing/2014/main" id="{F26B788F-0762-1388-878A-154E5EC0B50D}"/>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87" name="Rectangle 78">
            <a:extLst>
              <a:ext uri="{FF2B5EF4-FFF2-40B4-BE49-F238E27FC236}">
                <a16:creationId xmlns:a16="http://schemas.microsoft.com/office/drawing/2014/main" id="{E4C5F88B-C7AA-1870-37F8-237D3833D3B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89" name="Rectangle 46">
            <a:extLst>
              <a:ext uri="{FF2B5EF4-FFF2-40B4-BE49-F238E27FC236}">
                <a16:creationId xmlns:a16="http://schemas.microsoft.com/office/drawing/2014/main" id="{BEA1B1B7-635E-9C68-B6E4-4985FDFF722D}"/>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1" name="Rectangle 47">
            <a:extLst>
              <a:ext uri="{FF2B5EF4-FFF2-40B4-BE49-F238E27FC236}">
                <a16:creationId xmlns:a16="http://schemas.microsoft.com/office/drawing/2014/main" id="{FD70AA52-F4F1-FCF7-B733-691399F64B0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3" name="Rectangle 48">
            <a:extLst>
              <a:ext uri="{FF2B5EF4-FFF2-40B4-BE49-F238E27FC236}">
                <a16:creationId xmlns:a16="http://schemas.microsoft.com/office/drawing/2014/main" id="{7557A742-2CDA-D940-3545-06793880A33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5" name="Rectangle 49">
            <a:extLst>
              <a:ext uri="{FF2B5EF4-FFF2-40B4-BE49-F238E27FC236}">
                <a16:creationId xmlns:a16="http://schemas.microsoft.com/office/drawing/2014/main" id="{7C8CC76E-8AA9-8472-FD5D-E64423F3FC75}"/>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7" name="Rectangle 35">
            <a:extLst>
              <a:ext uri="{FF2B5EF4-FFF2-40B4-BE49-F238E27FC236}">
                <a16:creationId xmlns:a16="http://schemas.microsoft.com/office/drawing/2014/main" id="{6A425D15-3CA9-A9B6-B5CA-D1A5175313B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99" name="Rectangle 42">
            <a:extLst>
              <a:ext uri="{FF2B5EF4-FFF2-40B4-BE49-F238E27FC236}">
                <a16:creationId xmlns:a16="http://schemas.microsoft.com/office/drawing/2014/main" id="{1A3D5E2B-D9B6-7191-1016-93A86276E6C2}"/>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01" name="Rectangle 43">
            <a:extLst>
              <a:ext uri="{FF2B5EF4-FFF2-40B4-BE49-F238E27FC236}">
                <a16:creationId xmlns:a16="http://schemas.microsoft.com/office/drawing/2014/main" id="{C85D4848-B654-9D0F-82B6-68B7FB57E3A4}"/>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3" name="Rectangle 44">
            <a:extLst>
              <a:ext uri="{FF2B5EF4-FFF2-40B4-BE49-F238E27FC236}">
                <a16:creationId xmlns:a16="http://schemas.microsoft.com/office/drawing/2014/main" id="{C250010C-6F49-4B30-1AF1-3A25F8010A3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5" name="Rectangle 70">
            <a:extLst>
              <a:ext uri="{FF2B5EF4-FFF2-40B4-BE49-F238E27FC236}">
                <a16:creationId xmlns:a16="http://schemas.microsoft.com/office/drawing/2014/main" id="{990FF4B9-3446-9544-B38F-77B0913ADBE7}"/>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39">
            <a:extLst>
              <a:ext uri="{FF2B5EF4-FFF2-40B4-BE49-F238E27FC236}">
                <a16:creationId xmlns:a16="http://schemas.microsoft.com/office/drawing/2014/main" id="{918F4ABF-CBB8-6323-4F4E-616561BC480E}"/>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209" name="Rectangle 40">
            <a:extLst>
              <a:ext uri="{FF2B5EF4-FFF2-40B4-BE49-F238E27FC236}">
                <a16:creationId xmlns:a16="http://schemas.microsoft.com/office/drawing/2014/main" id="{CBD2C813-51A1-B1B6-84F3-AA50D544A34D}"/>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1" name="Rectangle 66">
            <a:extLst>
              <a:ext uri="{FF2B5EF4-FFF2-40B4-BE49-F238E27FC236}">
                <a16:creationId xmlns:a16="http://schemas.microsoft.com/office/drawing/2014/main" id="{40EFCF6C-18D6-3A36-30E9-22E8B0B3CB7C}"/>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13" name="Rectangle 34">
            <a:extLst>
              <a:ext uri="{FF2B5EF4-FFF2-40B4-BE49-F238E27FC236}">
                <a16:creationId xmlns:a16="http://schemas.microsoft.com/office/drawing/2014/main" id="{3C12CA07-32C1-354C-A4A9-9088BCDE66DA}"/>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5" name="Rectangle 37">
            <a:extLst>
              <a:ext uri="{FF2B5EF4-FFF2-40B4-BE49-F238E27FC236}">
                <a16:creationId xmlns:a16="http://schemas.microsoft.com/office/drawing/2014/main" id="{CA2C67BE-C5CE-1D1A-D2C7-62BA61D5566A}"/>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217" name="Rectangle 37">
            <a:extLst>
              <a:ext uri="{FF2B5EF4-FFF2-40B4-BE49-F238E27FC236}">
                <a16:creationId xmlns:a16="http://schemas.microsoft.com/office/drawing/2014/main" id="{C1046A3A-F510-3E05-1A16-FB843E257E54}"/>
              </a:ext>
            </a:extLst>
          </p:cNvPr>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AutoShape 4">
            <a:extLst>
              <a:ext uri="{FF2B5EF4-FFF2-40B4-BE49-F238E27FC236}">
                <a16:creationId xmlns:a16="http://schemas.microsoft.com/office/drawing/2014/main" id="{E76CD34E-0DA4-6554-03E4-502F1D8ADF4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1" name="AutoShape 4">
            <a:extLst>
              <a:ext uri="{FF2B5EF4-FFF2-40B4-BE49-F238E27FC236}">
                <a16:creationId xmlns:a16="http://schemas.microsoft.com/office/drawing/2014/main" id="{6495E3A9-456F-E8E4-611E-6209896CABC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3" name="Text Box 26">
            <a:extLst>
              <a:ext uri="{FF2B5EF4-FFF2-40B4-BE49-F238E27FC236}">
                <a16:creationId xmlns:a16="http://schemas.microsoft.com/office/drawing/2014/main" id="{D357DB42-1EEB-6EAC-FBC7-244484B2C4E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5" name="Text Box 26">
            <a:extLst>
              <a:ext uri="{FF2B5EF4-FFF2-40B4-BE49-F238E27FC236}">
                <a16:creationId xmlns:a16="http://schemas.microsoft.com/office/drawing/2014/main" id="{F38322FB-73CE-DD98-6695-0A3EAAFDA547}"/>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2" name="组合 171">
            <a:extLst>
              <a:ext uri="{FF2B5EF4-FFF2-40B4-BE49-F238E27FC236}">
                <a16:creationId xmlns:a16="http://schemas.microsoft.com/office/drawing/2014/main" id="{B33E8E93-BB9A-23AD-E1A9-0612262951DD}"/>
              </a:ext>
            </a:extLst>
          </p:cNvPr>
          <p:cNvGrpSpPr/>
          <p:nvPr/>
        </p:nvGrpSpPr>
        <p:grpSpPr>
          <a:xfrm>
            <a:off x="3960000" y="2808000"/>
            <a:ext cx="1080000" cy="1080000"/>
            <a:chOff x="2807995" y="2745746"/>
            <a:chExt cx="1080000" cy="1080000"/>
          </a:xfrm>
        </p:grpSpPr>
        <p:sp>
          <p:nvSpPr>
            <p:cNvPr id="173" name="立方体 172">
              <a:extLst>
                <a:ext uri="{FF2B5EF4-FFF2-40B4-BE49-F238E27FC236}">
                  <a16:creationId xmlns:a16="http://schemas.microsoft.com/office/drawing/2014/main" id="{E9A5C0FB-C7E8-29F4-B125-E8FA7809F82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4" name="立方体 173">
              <a:extLst>
                <a:ext uri="{FF2B5EF4-FFF2-40B4-BE49-F238E27FC236}">
                  <a16:creationId xmlns:a16="http://schemas.microsoft.com/office/drawing/2014/main" id="{2B53FCDE-97D8-178A-3A11-CB4F7A67606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5" name="立方体 174">
              <a:extLst>
                <a:ext uri="{FF2B5EF4-FFF2-40B4-BE49-F238E27FC236}">
                  <a16:creationId xmlns:a16="http://schemas.microsoft.com/office/drawing/2014/main" id="{7C272D90-0979-8D38-B723-E31B179C0843}"/>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6" name="立方体 175">
              <a:extLst>
                <a:ext uri="{FF2B5EF4-FFF2-40B4-BE49-F238E27FC236}">
                  <a16:creationId xmlns:a16="http://schemas.microsoft.com/office/drawing/2014/main" id="{ACDC2090-6406-82B1-A9AD-74704BC7E08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BC2DA13D-4045-D9B6-B6EF-5EAEA39ECBD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60" name="组合 59">
            <a:extLst>
              <a:ext uri="{FF2B5EF4-FFF2-40B4-BE49-F238E27FC236}">
                <a16:creationId xmlns:a16="http://schemas.microsoft.com/office/drawing/2014/main" id="{F4CE4CBF-BAD9-B881-B71E-31317A02BEEC}"/>
              </a:ext>
            </a:extLst>
          </p:cNvPr>
          <p:cNvGrpSpPr/>
          <p:nvPr/>
        </p:nvGrpSpPr>
        <p:grpSpPr>
          <a:xfrm>
            <a:off x="7395732" y="1800000"/>
            <a:ext cx="1080000" cy="2088000"/>
            <a:chOff x="701211" y="1800000"/>
            <a:chExt cx="1080000" cy="2088000"/>
          </a:xfrm>
        </p:grpSpPr>
        <p:sp>
          <p:nvSpPr>
            <p:cNvPr id="61" name="立方体 60">
              <a:extLst>
                <a:ext uri="{FF2B5EF4-FFF2-40B4-BE49-F238E27FC236}">
                  <a16:creationId xmlns:a16="http://schemas.microsoft.com/office/drawing/2014/main" id="{94B18358-0C6A-99DF-B0FB-ECEB1EE2EFD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68" name="立方体 67">
              <a:extLst>
                <a:ext uri="{FF2B5EF4-FFF2-40B4-BE49-F238E27FC236}">
                  <a16:creationId xmlns:a16="http://schemas.microsoft.com/office/drawing/2014/main" id="{F9A157C2-C4BD-5A4E-C8FD-104664E25E7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0" name="立方体 69">
              <a:extLst>
                <a:ext uri="{FF2B5EF4-FFF2-40B4-BE49-F238E27FC236}">
                  <a16:creationId xmlns:a16="http://schemas.microsoft.com/office/drawing/2014/main" id="{E20752A1-A541-D442-3A8F-F42B742BB4A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1" name="立方体 70">
              <a:extLst>
                <a:ext uri="{FF2B5EF4-FFF2-40B4-BE49-F238E27FC236}">
                  <a16:creationId xmlns:a16="http://schemas.microsoft.com/office/drawing/2014/main" id="{E41DAF26-73C3-DB56-A12B-483CA4DF27D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72" name="立方体 71">
              <a:extLst>
                <a:ext uri="{FF2B5EF4-FFF2-40B4-BE49-F238E27FC236}">
                  <a16:creationId xmlns:a16="http://schemas.microsoft.com/office/drawing/2014/main" id="{A3245D59-8813-7DC9-7684-0B096EE5A4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74" name="圆柱体 73">
              <a:extLst>
                <a:ext uri="{FF2B5EF4-FFF2-40B4-BE49-F238E27FC236}">
                  <a16:creationId xmlns:a16="http://schemas.microsoft.com/office/drawing/2014/main" id="{531CA77B-C7E1-C075-FE45-0089724ED79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75" name="组合 74">
            <a:extLst>
              <a:ext uri="{FF2B5EF4-FFF2-40B4-BE49-F238E27FC236}">
                <a16:creationId xmlns:a16="http://schemas.microsoft.com/office/drawing/2014/main" id="{6FD1C6E7-54EC-751C-40EC-B8D4E2BE4FF3}"/>
              </a:ext>
            </a:extLst>
          </p:cNvPr>
          <p:cNvGrpSpPr/>
          <p:nvPr/>
        </p:nvGrpSpPr>
        <p:grpSpPr>
          <a:xfrm>
            <a:off x="701211" y="1800000"/>
            <a:ext cx="1080000" cy="2088000"/>
            <a:chOff x="701211" y="1800000"/>
            <a:chExt cx="1080000" cy="2088000"/>
          </a:xfrm>
        </p:grpSpPr>
        <p:sp>
          <p:nvSpPr>
            <p:cNvPr id="76" name="立方体 75">
              <a:extLst>
                <a:ext uri="{FF2B5EF4-FFF2-40B4-BE49-F238E27FC236}">
                  <a16:creationId xmlns:a16="http://schemas.microsoft.com/office/drawing/2014/main" id="{1D8E2130-3AB5-8142-ECFB-83E0FC65092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7" name="立方体 76">
              <a:extLst>
                <a:ext uri="{FF2B5EF4-FFF2-40B4-BE49-F238E27FC236}">
                  <a16:creationId xmlns:a16="http://schemas.microsoft.com/office/drawing/2014/main" id="{BD06D978-4CC5-1617-515A-57F5A9D0993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8" name="立方体 77">
              <a:extLst>
                <a:ext uri="{FF2B5EF4-FFF2-40B4-BE49-F238E27FC236}">
                  <a16:creationId xmlns:a16="http://schemas.microsoft.com/office/drawing/2014/main" id="{1EE41C20-7A30-4006-E322-D29DF550F96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9" name="立方体 78">
              <a:extLst>
                <a:ext uri="{FF2B5EF4-FFF2-40B4-BE49-F238E27FC236}">
                  <a16:creationId xmlns:a16="http://schemas.microsoft.com/office/drawing/2014/main" id="{B1CE71F1-0768-BDCD-7232-4FA42EB684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0" name="立方体 79">
              <a:extLst>
                <a:ext uri="{FF2B5EF4-FFF2-40B4-BE49-F238E27FC236}">
                  <a16:creationId xmlns:a16="http://schemas.microsoft.com/office/drawing/2014/main" id="{E26FABED-3E20-025F-A43A-93D7A23B571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1" name="圆柱体 80">
              <a:extLst>
                <a:ext uri="{FF2B5EF4-FFF2-40B4-BE49-F238E27FC236}">
                  <a16:creationId xmlns:a16="http://schemas.microsoft.com/office/drawing/2014/main" id="{E40B4C70-7AE9-B7FD-A70C-610D405E58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5870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路由器</a:t>
            </a:r>
            <a:endParaRPr kumimoji="1" lang="en-US" altLang="zh-CN" sz="1200" b="1" dirty="0">
              <a:latin typeface="+mj-lt"/>
              <a:ea typeface="+mj-ea"/>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useBgFill="1">
        <p:nvSpPr>
          <p:cNvPr id="131" name="Rectangle 37"/>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2" name="Rectangle 34"/>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3" name="Rectangle 37"/>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35" name="Rectangle 39"/>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36" name="Rectangle 40"/>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7" name="Rectangle 66"/>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1" name="Rectangle 42"/>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7" name="Rectangle 43"/>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8" name="Rectangle 44"/>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9" name="Rectangle 70"/>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1" name="Rectangle 46"/>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2" name="Rectangle 47"/>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3" name="Rectangle 48"/>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4" name="Rectangle 49"/>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4"/>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6" name="Rectangle 78"/>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useBgFill="1">
        <p:nvSpPr>
          <p:cNvPr id="160" name="Rectangle 35"/>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83" name="Rectangle 74"/>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89" name="Rectangle 78"/>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97" name="Rectangle 46"/>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98" name="Rectangle 47"/>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01" name="Rectangle 48"/>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02" name="Rectangle 49"/>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03" name="Rectangle 35"/>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08" name="Rectangle 42"/>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0" name="Rectangle 43"/>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2" name="Rectangle 44"/>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05" name="Rectangle 70"/>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17" name="Rectangle 39"/>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18" name="Rectangle 40"/>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20" name="Rectangle 66"/>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4" name="Rectangle 34"/>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5" name="Rectangle 37"/>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29" name="Rectangle 37"/>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0" name="矩形 169"/>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 name="标题 1">
            <a:extLst>
              <a:ext uri="{FF2B5EF4-FFF2-40B4-BE49-F238E27FC236}">
                <a16:creationId xmlns:a16="http://schemas.microsoft.com/office/drawing/2014/main" id="{EF19D203-8B67-6E15-1737-30D24AF777A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C3A8946-77D2-E54E-957D-B45FCD43C197}"/>
              </a:ext>
            </a:extLst>
          </p:cNvPr>
          <p:cNvSpPr>
            <a:spLocks noGrp="1"/>
          </p:cNvSpPr>
          <p:nvPr>
            <p:ph type="title"/>
          </p:nvPr>
        </p:nvSpPr>
        <p:spPr>
          <a:xfrm>
            <a:off x="612000" y="144000"/>
            <a:ext cx="7920000" cy="341632"/>
          </a:xfrm>
        </p:spPr>
        <p:txBody>
          <a:bodyPr/>
          <a:lstStyle/>
          <a:p>
            <a:r>
              <a:rPr lang="zh-CN" altLang="en-US" dirty="0"/>
              <a:t>对等层与协议数据单元</a:t>
            </a:r>
          </a:p>
        </p:txBody>
      </p:sp>
      <p:sp>
        <p:nvSpPr>
          <p:cNvPr id="3" name="内容占位符 2"/>
          <p:cNvSpPr>
            <a:spLocks noGrp="1"/>
          </p:cNvSpPr>
          <p:nvPr>
            <p:ph sz="quarter" idx="10"/>
          </p:nvPr>
        </p:nvSpPr>
        <p:spPr>
          <a:xfrm>
            <a:off x="612000" y="899999"/>
            <a:ext cx="7920000" cy="3780000"/>
          </a:xfrm>
        </p:spPr>
        <p:txBody>
          <a:bodyPr/>
          <a:lstStyle/>
          <a:p>
            <a:r>
              <a:rPr lang="zh-CN" altLang="en-US" dirty="0"/>
              <a:t>对等层通信</a:t>
            </a:r>
            <a:endParaRPr lang="en-US" altLang="zh-CN" dirty="0"/>
          </a:p>
          <a:p>
            <a:pPr lvl="1"/>
            <a:r>
              <a:rPr lang="zh-CN" altLang="en-US" dirty="0"/>
              <a:t>任何两个同样的层次数据单元加上控制信息通过水平虚线直接传递给对方</a:t>
            </a:r>
          </a:p>
          <a:p>
            <a:r>
              <a:rPr lang="zh-CN" altLang="en-US" dirty="0"/>
              <a:t>协议数据单元 </a:t>
            </a:r>
            <a:r>
              <a:rPr lang="en-US" altLang="zh-CN" dirty="0"/>
              <a:t>PDU (Protocol Data Unit)</a:t>
            </a:r>
          </a:p>
          <a:p>
            <a:pPr lvl="1"/>
            <a:r>
              <a:rPr lang="en-US" altLang="zh-CN" dirty="0"/>
              <a:t>OSI </a:t>
            </a:r>
            <a:r>
              <a:rPr lang="zh-CN" altLang="en-US" dirty="0"/>
              <a:t>参考模型把对等层次之间传送的数据单位</a:t>
            </a:r>
            <a:endParaRPr lang="en-US" altLang="zh-CN" dirty="0"/>
          </a:p>
        </p:txBody>
      </p:sp>
      <p:sp>
        <p:nvSpPr>
          <p:cNvPr id="7" name="矩形 5"/>
          <p:cNvSpPr>
            <a:spLocks noChangeArrowheads="1"/>
          </p:cNvSpPr>
          <p:nvPr/>
        </p:nvSpPr>
        <p:spPr bwMode="auto">
          <a:xfrm>
            <a:off x="943941" y="3709734"/>
            <a:ext cx="7345262" cy="307777"/>
          </a:xfrm>
          <a:prstGeom prst="rect">
            <a:avLst/>
          </a:prstGeom>
          <a:noFill/>
        </p:spPr>
        <p:txBody>
          <a:bodyPr wrap="square" rtlCol="0">
            <a:spAutoFit/>
          </a:bodyPr>
          <a:lstStyle/>
          <a:p>
            <a:pPr algn="ctr"/>
            <a:r>
              <a:rPr lang="zh-CN" altLang="en-US" sz="1400" dirty="0">
                <a:solidFill>
                  <a:srgbClr val="D4237A"/>
                </a:solidFill>
                <a:ea typeface="+mj-ea"/>
              </a:rPr>
              <a:t>各层协议实际上就是在各个对等层之间传递数据时的各项规定</a:t>
            </a:r>
          </a:p>
        </p:txBody>
      </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7B5B3B-5516-A4CA-46C9-0EACD95AD30C}"/>
              </a:ext>
            </a:extLst>
          </p:cNvPr>
          <p:cNvSpPr>
            <a:spLocks noGrp="1"/>
          </p:cNvSpPr>
          <p:nvPr>
            <p:ph type="title"/>
          </p:nvPr>
        </p:nvSpPr>
        <p:spPr>
          <a:xfrm>
            <a:off x="612000" y="144000"/>
            <a:ext cx="7920000" cy="341632"/>
          </a:xfrm>
        </p:spPr>
        <p:txBody>
          <a:bodyPr/>
          <a:lstStyle/>
          <a:p>
            <a:r>
              <a:rPr lang="en-US" altLang="zh-CN" dirty="0"/>
              <a:t>1.7.4  </a:t>
            </a:r>
            <a:r>
              <a:rPr lang="zh-CN" altLang="zh-CN" dirty="0"/>
              <a:t>实体、协议、服务和服务访问点</a:t>
            </a:r>
            <a:endParaRPr lang="zh-CN" altLang="en-US" dirty="0"/>
          </a:p>
        </p:txBody>
      </p:sp>
      <p:sp>
        <p:nvSpPr>
          <p:cNvPr id="5" name="内容占位符 4"/>
          <p:cNvSpPr>
            <a:spLocks noGrp="1"/>
          </p:cNvSpPr>
          <p:nvPr>
            <p:ph sz="quarter" idx="10"/>
          </p:nvPr>
        </p:nvSpPr>
        <p:spPr>
          <a:xfrm>
            <a:off x="612000" y="899999"/>
            <a:ext cx="7920000" cy="3780000"/>
          </a:xfrm>
        </p:spPr>
        <p:txBody>
          <a:bodyPr>
            <a:normAutofit lnSpcReduction="10000"/>
          </a:bodyPr>
          <a:lstStyle/>
          <a:p>
            <a:r>
              <a:rPr lang="zh-CN" altLang="en-US" dirty="0"/>
              <a:t>实体 </a:t>
            </a:r>
            <a:r>
              <a:rPr lang="en-US" altLang="zh-CN" dirty="0"/>
              <a:t>Entity</a:t>
            </a:r>
            <a:r>
              <a:rPr lang="zh-CN" altLang="en-US" dirty="0"/>
              <a:t>：</a:t>
            </a:r>
            <a:endParaRPr lang="en-US" altLang="zh-CN" dirty="0"/>
          </a:p>
          <a:p>
            <a:pPr lvl="1"/>
            <a:r>
              <a:rPr lang="zh-CN" altLang="en-US" dirty="0"/>
              <a:t>任何可发送或接收信息的硬件或软件进程</a:t>
            </a:r>
          </a:p>
          <a:p>
            <a:r>
              <a:rPr lang="zh-CN" altLang="en-US" dirty="0"/>
              <a:t>协议 </a:t>
            </a:r>
            <a:r>
              <a:rPr lang="en-US" altLang="zh-CN" dirty="0"/>
              <a:t>Protocol</a:t>
            </a:r>
            <a:r>
              <a:rPr lang="zh-CN" altLang="en-US" dirty="0"/>
              <a:t>：</a:t>
            </a:r>
            <a:endParaRPr lang="en-US" altLang="zh-CN" dirty="0"/>
          </a:p>
          <a:p>
            <a:pPr lvl="1"/>
            <a:r>
              <a:rPr lang="zh-CN" altLang="en-US" dirty="0"/>
              <a:t>控制两个对等实体进行通信的规则的集合</a:t>
            </a:r>
          </a:p>
          <a:p>
            <a:pPr lvl="1"/>
            <a:r>
              <a:rPr lang="zh-CN" altLang="en-US" dirty="0"/>
              <a:t>在协议的控制下，两个对等实体间的通信使得本层能够向上一层提供服务</a:t>
            </a:r>
          </a:p>
          <a:p>
            <a:pPr lvl="1"/>
            <a:r>
              <a:rPr lang="zh-CN" altLang="en-US" dirty="0"/>
              <a:t>要实现本层协议，还需要使用下层所提供的服务</a:t>
            </a:r>
            <a:endParaRPr lang="en-US" altLang="zh-CN" dirty="0"/>
          </a:p>
          <a:p>
            <a:r>
              <a:rPr lang="zh-CN" altLang="en-US" dirty="0"/>
              <a:t>服务访问点 </a:t>
            </a:r>
            <a:r>
              <a:rPr lang="en-US" altLang="zh-CN" dirty="0"/>
              <a:t>SAP (Service Access Point)</a:t>
            </a:r>
          </a:p>
          <a:p>
            <a:pPr lvl="1"/>
            <a:r>
              <a:rPr lang="zh-CN" altLang="en-US" dirty="0"/>
              <a:t>同一系统中相邻两层的实体进行交互（即交换信息）</a:t>
            </a:r>
            <a:r>
              <a:rPr lang="en-US" altLang="zh-CN" dirty="0"/>
              <a:t> </a:t>
            </a:r>
            <a:r>
              <a:rPr lang="zh-CN" altLang="en-US" dirty="0"/>
              <a:t>的地方</a:t>
            </a:r>
            <a:endParaRPr lang="en-US" altLang="zh-CN" dirty="0"/>
          </a:p>
          <a:p>
            <a:pPr lvl="1"/>
            <a:r>
              <a:rPr lang="en-US" altLang="zh-CN" dirty="0"/>
              <a:t>SAP </a:t>
            </a:r>
            <a:r>
              <a:rPr lang="zh-CN" altLang="en-US" dirty="0"/>
              <a:t>是一个抽象的概念，是一个逻辑接口</a:t>
            </a:r>
            <a:endParaRPr lang="en-US" altLang="zh-CN" dirty="0"/>
          </a:p>
          <a:p>
            <a:r>
              <a:rPr lang="zh-CN" altLang="en-US" dirty="0"/>
              <a:t>服务数据单元 </a:t>
            </a:r>
            <a:r>
              <a:rPr lang="en-US" altLang="zh-CN" dirty="0"/>
              <a:t>SDU (Service Data Unit) </a:t>
            </a:r>
          </a:p>
          <a:p>
            <a:pPr lvl="1"/>
            <a:r>
              <a:rPr lang="zh-CN" altLang="en-US" dirty="0"/>
              <a:t>层与层之间交换的数据的单位</a:t>
            </a:r>
          </a:p>
          <a:p>
            <a:pPr lvl="1"/>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F5F8635-B251-BD85-9ACD-D2DB005C285E}"/>
              </a:ext>
            </a:extLst>
          </p:cNvPr>
          <p:cNvSpPr>
            <a:spLocks noGrp="1"/>
          </p:cNvSpPr>
          <p:nvPr>
            <p:ph type="title"/>
          </p:nvPr>
        </p:nvSpPr>
        <p:spPr>
          <a:xfrm>
            <a:off x="612000" y="144000"/>
            <a:ext cx="7920000" cy="341632"/>
          </a:xfrm>
        </p:spPr>
        <p:txBody>
          <a:bodyPr/>
          <a:lstStyle/>
          <a:p>
            <a:r>
              <a:rPr lang="zh-CN" altLang="en-US" dirty="0"/>
              <a:t>注意：协议和服务在概念上是不一样的</a:t>
            </a:r>
          </a:p>
        </p:txBody>
      </p:sp>
      <p:sp>
        <p:nvSpPr>
          <p:cNvPr id="5" name="任意多边形: 形状 4">
            <a:extLst>
              <a:ext uri="{FF2B5EF4-FFF2-40B4-BE49-F238E27FC236}">
                <a16:creationId xmlns:a16="http://schemas.microsoft.com/office/drawing/2014/main" id="{19158974-7CB6-2460-8286-8CA8D291F5BC}"/>
              </a:ext>
            </a:extLst>
          </p:cNvPr>
          <p:cNvSpPr/>
          <p:nvPr/>
        </p:nvSpPr>
        <p:spPr>
          <a:xfrm>
            <a:off x="1223287" y="1453054"/>
            <a:ext cx="281158" cy="815081"/>
          </a:xfrm>
          <a:custGeom>
            <a:avLst/>
            <a:gdLst/>
            <a:ahLst/>
            <a:cxnLst/>
            <a:rect l="0" t="0" r="0" b="0"/>
            <a:pathLst>
              <a:path>
                <a:moveTo>
                  <a:pt x="0" y="0"/>
                </a:moveTo>
                <a:lnTo>
                  <a:pt x="0" y="815081"/>
                </a:lnTo>
                <a:lnTo>
                  <a:pt x="281158" y="815081"/>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7" name="任意多边形: 形状 6">
            <a:extLst>
              <a:ext uri="{FF2B5EF4-FFF2-40B4-BE49-F238E27FC236}">
                <a16:creationId xmlns:a16="http://schemas.microsoft.com/office/drawing/2014/main" id="{291EC1DB-91F6-1D7D-AE24-559FD76199B0}"/>
              </a:ext>
            </a:extLst>
          </p:cNvPr>
          <p:cNvSpPr/>
          <p:nvPr/>
        </p:nvSpPr>
        <p:spPr>
          <a:xfrm>
            <a:off x="150444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其实现保证了能够向上一层提供服务</a:t>
            </a:r>
          </a:p>
        </p:txBody>
      </p:sp>
      <p:sp>
        <p:nvSpPr>
          <p:cNvPr id="8" name="任意多边形: 形状 7">
            <a:extLst>
              <a:ext uri="{FF2B5EF4-FFF2-40B4-BE49-F238E27FC236}">
                <a16:creationId xmlns:a16="http://schemas.microsoft.com/office/drawing/2014/main" id="{6B08ED4A-6015-188F-B20B-97107100D354}"/>
              </a:ext>
            </a:extLst>
          </p:cNvPr>
          <p:cNvSpPr/>
          <p:nvPr/>
        </p:nvSpPr>
        <p:spPr>
          <a:xfrm>
            <a:off x="1223287" y="1453054"/>
            <a:ext cx="281158" cy="1876878"/>
          </a:xfrm>
          <a:custGeom>
            <a:avLst/>
            <a:gdLst/>
            <a:ahLst/>
            <a:cxnLst/>
            <a:rect l="0" t="0" r="0" b="0"/>
            <a:pathLst>
              <a:path>
                <a:moveTo>
                  <a:pt x="0" y="0"/>
                </a:moveTo>
                <a:lnTo>
                  <a:pt x="0" y="1876878"/>
                </a:lnTo>
                <a:lnTo>
                  <a:pt x="281158" y="1876878"/>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9" name="任意多边形: 形状 8">
            <a:extLst>
              <a:ext uri="{FF2B5EF4-FFF2-40B4-BE49-F238E27FC236}">
                <a16:creationId xmlns:a16="http://schemas.microsoft.com/office/drawing/2014/main" id="{7C84AE96-AF6F-22A3-A7BF-29F27A6A3BEC}"/>
              </a:ext>
            </a:extLst>
          </p:cNvPr>
          <p:cNvSpPr/>
          <p:nvPr/>
        </p:nvSpPr>
        <p:spPr>
          <a:xfrm>
            <a:off x="150444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a:solidFill>
            <a:prstClr val="white">
              <a:alpha val="90000"/>
              <a:hueOff val="0"/>
              <a:satOff val="0"/>
              <a:lumOff val="0"/>
              <a:alphaOff val="0"/>
            </a:prstClr>
          </a:solidFill>
          <a:ln w="6350" cap="flat" cmpd="sng" algn="ctr">
            <a:solidFill>
              <a:srgbClr val="5B9BD5">
                <a:hueOff val="0"/>
                <a:satOff val="0"/>
                <a:lumOff val="0"/>
                <a:alphaOff val="0"/>
              </a:srgbClr>
            </a:solidFill>
            <a:prstDash val="solid"/>
            <a:miter lim="800000"/>
          </a:ln>
          <a:effectLst/>
        </p:spPr>
        <p:style>
          <a:lnRef idx="1">
            <a:scrgbClr r="0" g="0" b="0"/>
          </a:lnRef>
          <a:fillRef idx="1">
            <a:scrgbClr r="0" g="0" b="0"/>
          </a:fillRef>
          <a:effectRef idx="0">
            <a:scrgbClr r="0" g="0" b="0"/>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对上面的服务用户是透明的 </a:t>
            </a:r>
          </a:p>
        </p:txBody>
      </p:sp>
      <p:sp>
        <p:nvSpPr>
          <p:cNvPr id="10" name="任意多边形: 形状 9">
            <a:extLst>
              <a:ext uri="{FF2B5EF4-FFF2-40B4-BE49-F238E27FC236}">
                <a16:creationId xmlns:a16="http://schemas.microsoft.com/office/drawing/2014/main" id="{BC696ECD-57B0-4A9A-622A-6A229393BD19}"/>
              </a:ext>
            </a:extLst>
          </p:cNvPr>
          <p:cNvSpPr/>
          <p:nvPr/>
        </p:nvSpPr>
        <p:spPr>
          <a:xfrm>
            <a:off x="1223287" y="1453054"/>
            <a:ext cx="281158" cy="2938675"/>
          </a:xfrm>
          <a:custGeom>
            <a:avLst/>
            <a:gdLst/>
            <a:ahLst/>
            <a:cxnLst/>
            <a:rect l="0" t="0" r="0" b="0"/>
            <a:pathLst>
              <a:path>
                <a:moveTo>
                  <a:pt x="0" y="0"/>
                </a:moveTo>
                <a:lnTo>
                  <a:pt x="0" y="2938675"/>
                </a:lnTo>
                <a:lnTo>
                  <a:pt x="281158" y="2938675"/>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1" name="任意多边形: 形状 10">
            <a:extLst>
              <a:ext uri="{FF2B5EF4-FFF2-40B4-BE49-F238E27FC236}">
                <a16:creationId xmlns:a16="http://schemas.microsoft.com/office/drawing/2014/main" id="{0622F2AD-F243-5477-B169-7F6A423F407A}"/>
              </a:ext>
            </a:extLst>
          </p:cNvPr>
          <p:cNvSpPr/>
          <p:nvPr/>
        </p:nvSpPr>
        <p:spPr>
          <a:xfrm>
            <a:off x="150444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2703417"/>
              <a:satOff val="-6968"/>
              <a:lumOff val="-4706"/>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是“水平的”</a:t>
            </a:r>
          </a:p>
        </p:txBody>
      </p:sp>
      <p:sp>
        <p:nvSpPr>
          <p:cNvPr id="13" name="任意多边形: 形状 12">
            <a:extLst>
              <a:ext uri="{FF2B5EF4-FFF2-40B4-BE49-F238E27FC236}">
                <a16:creationId xmlns:a16="http://schemas.microsoft.com/office/drawing/2014/main" id="{5244F3FC-4E83-C7CC-BB6D-8B4DEFAE9B44}"/>
              </a:ext>
            </a:extLst>
          </p:cNvPr>
          <p:cNvSpPr/>
          <p:nvPr/>
        </p:nvSpPr>
        <p:spPr>
          <a:xfrm>
            <a:off x="5171607" y="1453054"/>
            <a:ext cx="281158" cy="815081"/>
          </a:xfrm>
          <a:custGeom>
            <a:avLst/>
            <a:gdLst/>
            <a:ahLst/>
            <a:cxnLst/>
            <a:rect l="0" t="0" r="0" b="0"/>
            <a:pathLst>
              <a:path>
                <a:moveTo>
                  <a:pt x="0" y="0"/>
                </a:moveTo>
                <a:lnTo>
                  <a:pt x="0" y="815081"/>
                </a:lnTo>
                <a:lnTo>
                  <a:pt x="281158" y="815081"/>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4" name="任意多边形: 形状 13">
            <a:extLst>
              <a:ext uri="{FF2B5EF4-FFF2-40B4-BE49-F238E27FC236}">
                <a16:creationId xmlns:a16="http://schemas.microsoft.com/office/drawing/2014/main" id="{B731F3C5-19DD-CE92-CA7A-0BE6D73D4F56}"/>
              </a:ext>
            </a:extLst>
          </p:cNvPr>
          <p:cNvSpPr/>
          <p:nvPr/>
        </p:nvSpPr>
        <p:spPr>
          <a:xfrm>
            <a:off x="545276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4055126"/>
              <a:satOff val="-10451"/>
              <a:lumOff val="-7059"/>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上层使用服务原语获得下层所提供的服务</a:t>
            </a:r>
          </a:p>
        </p:txBody>
      </p:sp>
      <p:sp>
        <p:nvSpPr>
          <p:cNvPr id="15" name="任意多边形: 形状 14">
            <a:extLst>
              <a:ext uri="{FF2B5EF4-FFF2-40B4-BE49-F238E27FC236}">
                <a16:creationId xmlns:a16="http://schemas.microsoft.com/office/drawing/2014/main" id="{C7EC4CE9-4E1A-E45A-DD92-0C9D4BF3ED80}"/>
              </a:ext>
            </a:extLst>
          </p:cNvPr>
          <p:cNvSpPr/>
          <p:nvPr/>
        </p:nvSpPr>
        <p:spPr>
          <a:xfrm>
            <a:off x="5171607" y="1453054"/>
            <a:ext cx="281158" cy="1876878"/>
          </a:xfrm>
          <a:custGeom>
            <a:avLst/>
            <a:gdLst/>
            <a:ahLst/>
            <a:cxnLst/>
            <a:rect l="0" t="0" r="0" b="0"/>
            <a:pathLst>
              <a:path>
                <a:moveTo>
                  <a:pt x="0" y="0"/>
                </a:moveTo>
                <a:lnTo>
                  <a:pt x="0" y="1876878"/>
                </a:lnTo>
                <a:lnTo>
                  <a:pt x="281158" y="1876878"/>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6" name="任意多边形: 形状 15">
            <a:extLst>
              <a:ext uri="{FF2B5EF4-FFF2-40B4-BE49-F238E27FC236}">
                <a16:creationId xmlns:a16="http://schemas.microsoft.com/office/drawing/2014/main" id="{B29B1956-83EF-5399-D889-4B022CE4A622}"/>
              </a:ext>
            </a:extLst>
          </p:cNvPr>
          <p:cNvSpPr/>
          <p:nvPr/>
        </p:nvSpPr>
        <p:spPr>
          <a:xfrm>
            <a:off x="545276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5406834"/>
              <a:satOff val="-13935"/>
              <a:lumOff val="-9412"/>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上面的服务用户只能看见服务，无法看见下面的协议</a:t>
            </a:r>
          </a:p>
        </p:txBody>
      </p:sp>
      <p:sp>
        <p:nvSpPr>
          <p:cNvPr id="17" name="任意多边形: 形状 16">
            <a:extLst>
              <a:ext uri="{FF2B5EF4-FFF2-40B4-BE49-F238E27FC236}">
                <a16:creationId xmlns:a16="http://schemas.microsoft.com/office/drawing/2014/main" id="{E434FFF7-21D3-2790-B736-58069FA991B5}"/>
              </a:ext>
            </a:extLst>
          </p:cNvPr>
          <p:cNvSpPr/>
          <p:nvPr/>
        </p:nvSpPr>
        <p:spPr>
          <a:xfrm>
            <a:off x="5171607" y="1453054"/>
            <a:ext cx="281158" cy="2938675"/>
          </a:xfrm>
          <a:custGeom>
            <a:avLst/>
            <a:gdLst/>
            <a:ahLst/>
            <a:cxnLst/>
            <a:rect l="0" t="0" r="0" b="0"/>
            <a:pathLst>
              <a:path>
                <a:moveTo>
                  <a:pt x="0" y="0"/>
                </a:moveTo>
                <a:lnTo>
                  <a:pt x="0" y="2938675"/>
                </a:lnTo>
                <a:lnTo>
                  <a:pt x="281158" y="2938675"/>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8" name="任意多边形: 形状 17">
            <a:extLst>
              <a:ext uri="{FF2B5EF4-FFF2-40B4-BE49-F238E27FC236}">
                <a16:creationId xmlns:a16="http://schemas.microsoft.com/office/drawing/2014/main" id="{B71D4C59-3A00-FF3F-4887-840307128895}"/>
              </a:ext>
            </a:extLst>
          </p:cNvPr>
          <p:cNvSpPr/>
          <p:nvPr/>
        </p:nvSpPr>
        <p:spPr>
          <a:xfrm>
            <a:off x="545276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6758543"/>
              <a:satOff val="-17419"/>
              <a:lumOff val="-11765"/>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是“垂直的”</a:t>
            </a:r>
          </a:p>
        </p:txBody>
      </p:sp>
      <p:sp>
        <p:nvSpPr>
          <p:cNvPr id="4" name="任意多边形: 形状 3">
            <a:extLst>
              <a:ext uri="{FF2B5EF4-FFF2-40B4-BE49-F238E27FC236}">
                <a16:creationId xmlns:a16="http://schemas.microsoft.com/office/drawing/2014/main" id="{6D5D1E7F-5110-E7CB-B804-EB2B7B813842}"/>
              </a:ext>
            </a:extLst>
          </p:cNvPr>
          <p:cNvSpPr/>
          <p:nvPr/>
        </p:nvSpPr>
        <p:spPr>
          <a:xfrm>
            <a:off x="95557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a:t>协议</a:t>
            </a:r>
            <a:endParaRPr lang="zh-CN" altLang="en-US" sz="1400" dirty="0"/>
          </a:p>
        </p:txBody>
      </p:sp>
      <p:sp>
        <p:nvSpPr>
          <p:cNvPr id="12" name="任意多边形: 形状 11">
            <a:extLst>
              <a:ext uri="{FF2B5EF4-FFF2-40B4-BE49-F238E27FC236}">
                <a16:creationId xmlns:a16="http://schemas.microsoft.com/office/drawing/2014/main" id="{4711B36B-1BFE-A46F-6054-F4D36094877E}"/>
              </a:ext>
            </a:extLst>
          </p:cNvPr>
          <p:cNvSpPr/>
          <p:nvPr/>
        </p:nvSpPr>
        <p:spPr>
          <a:xfrm>
            <a:off x="490389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6758543"/>
              <a:satOff val="-17419"/>
              <a:lumOff val="-11765"/>
              <a:alphaOff val="0"/>
            </a:schemeClr>
          </a:fillRef>
          <a:effectRef idx="2">
            <a:schemeClr val="accent5">
              <a:hueOff val="-6758543"/>
              <a:satOff val="-17419"/>
              <a:lumOff val="-11765"/>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dirty="0"/>
              <a:t>服务</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3"/>
          <p:cNvSpPr>
            <a:spLocks noChangeArrowheads="1"/>
          </p:cNvSpPr>
          <p:nvPr/>
        </p:nvSpPr>
        <p:spPr bwMode="auto">
          <a:xfrm>
            <a:off x="874295" y="2674019"/>
            <a:ext cx="7259052" cy="1245882"/>
          </a:xfrm>
          <a:prstGeom prst="rect">
            <a:avLst/>
          </a:prstGeom>
          <a:solidFill>
            <a:schemeClr val="bg1"/>
          </a:solidFill>
          <a:ln w="9525">
            <a:solidFill>
              <a:schemeClr val="tx1">
                <a:lumMod val="50000"/>
                <a:lumOff val="50000"/>
              </a:schemeClr>
            </a:solidFill>
            <a:prstDash val="dash"/>
            <a:round/>
          </a:ln>
          <a:effectLst/>
          <a:scene3d>
            <a:camera prst="orthographicFront">
              <a:rot lat="0" lon="0" rev="0"/>
            </a:camera>
            <a:lightRig rig="contrasting" dir="t">
              <a:rot lat="0" lon="0" rev="7800000"/>
            </a:lightRig>
          </a:scene3d>
          <a:sp3d/>
        </p:spPr>
        <p:txBody>
          <a:bodyPr wrap="none" anchor="ct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600" b="1">
                <a:solidFill>
                  <a:srgbClr val="0000FF"/>
                </a:solidFill>
                <a:latin typeface="微软雅黑" panose="020B0503020204020204" pitchFamily="34" charset="-122"/>
                <a:ea typeface="微软雅黑" panose="020B0503020204020204"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 name="标题 2">
            <a:extLst>
              <a:ext uri="{FF2B5EF4-FFF2-40B4-BE49-F238E27FC236}">
                <a16:creationId xmlns:a16="http://schemas.microsoft.com/office/drawing/2014/main" id="{A3C2C13A-FEE0-C021-FE2F-DADAF36325D6}"/>
              </a:ext>
            </a:extLst>
          </p:cNvPr>
          <p:cNvSpPr>
            <a:spLocks noGrp="1"/>
          </p:cNvSpPr>
          <p:nvPr>
            <p:ph type="title"/>
          </p:nvPr>
        </p:nvSpPr>
        <p:spPr>
          <a:xfrm>
            <a:off x="612000" y="144000"/>
            <a:ext cx="7920000" cy="341632"/>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8B64E69A-6ED4-367E-63A6-A1CE8D3DAC45}"/>
              </a:ext>
            </a:extLst>
          </p:cNvPr>
          <p:cNvSpPr>
            <a:spLocks noGrp="1"/>
          </p:cNvSpPr>
          <p:nvPr>
            <p:ph type="title"/>
          </p:nvPr>
        </p:nvSpPr>
        <p:spPr>
          <a:xfrm>
            <a:off x="612000" y="144000"/>
            <a:ext cx="7920000" cy="341632"/>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a:extLst>
              <a:ext uri="{FF2B5EF4-FFF2-40B4-BE49-F238E27FC236}">
                <a16:creationId xmlns:a16="http://schemas.microsoft.com/office/drawing/2014/main" id="{0557EA87-F8CB-9BD3-E8AD-FB6481216614}"/>
              </a:ext>
            </a:extLst>
          </p:cNvPr>
          <p:cNvGrpSpPr/>
          <p:nvPr/>
        </p:nvGrpSpPr>
        <p:grpSpPr>
          <a:xfrm>
            <a:off x="1043704" y="2343787"/>
            <a:ext cx="1440000" cy="1404000"/>
            <a:chOff x="6301911" y="2448000"/>
            <a:chExt cx="1440000" cy="1404000"/>
          </a:xfrm>
          <a:solidFill>
            <a:srgbClr val="7CE07C"/>
          </a:solidFill>
        </p:grpSpPr>
        <p:sp>
          <p:nvSpPr>
            <p:cNvPr id="68" name="立方体 67">
              <a:extLst>
                <a:ext uri="{FF2B5EF4-FFF2-40B4-BE49-F238E27FC236}">
                  <a16:creationId xmlns:a16="http://schemas.microsoft.com/office/drawing/2014/main" id="{2CB69309-EA7A-E53F-429C-A3613BABD27E}"/>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69" name="立方体 68">
              <a:extLst>
                <a:ext uri="{FF2B5EF4-FFF2-40B4-BE49-F238E27FC236}">
                  <a16:creationId xmlns:a16="http://schemas.microsoft.com/office/drawing/2014/main" id="{14B1B9DD-020A-AC3F-BE06-2B15807AFC60}"/>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0" name="立方体 69">
              <a:extLst>
                <a:ext uri="{FF2B5EF4-FFF2-40B4-BE49-F238E27FC236}">
                  <a16:creationId xmlns:a16="http://schemas.microsoft.com/office/drawing/2014/main" id="{BA634E78-CCAF-9920-311D-CD960E182CA7}"/>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1" name="立方体 70">
              <a:extLst>
                <a:ext uri="{FF2B5EF4-FFF2-40B4-BE49-F238E27FC236}">
                  <a16:creationId xmlns:a16="http://schemas.microsoft.com/office/drawing/2014/main" id="{ADE0C2FB-7B1F-282A-D124-87499BE09365}"/>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19"/>
          <p:cNvSpPr txBox="1">
            <a:spLocks noChangeArrowheads="1"/>
          </p:cNvSpPr>
          <p:nvPr/>
        </p:nvSpPr>
        <p:spPr bwMode="auto">
          <a:xfrm>
            <a:off x="5327310" y="3825189"/>
            <a:ext cx="62068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2</a:t>
            </a:r>
          </a:p>
        </p:txBody>
      </p:sp>
      <p:sp>
        <p:nvSpPr>
          <p:cNvPr id="22" name="Text Box 20"/>
          <p:cNvSpPr txBox="1">
            <a:spLocks noChangeArrowheads="1"/>
          </p:cNvSpPr>
          <p:nvPr/>
        </p:nvSpPr>
        <p:spPr bwMode="auto">
          <a:xfrm>
            <a:off x="2698149" y="3853980"/>
            <a:ext cx="60625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矩形 30"/>
          <p:cNvSpPr>
            <a:spLocks noChangeArrowheads="1"/>
          </p:cNvSpPr>
          <p:nvPr/>
        </p:nvSpPr>
        <p:spPr bwMode="auto">
          <a:xfrm>
            <a:off x="3246438"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a:t>
            </a:r>
          </a:p>
        </p:txBody>
      </p:sp>
      <p:sp>
        <p:nvSpPr>
          <p:cNvPr id="32" name="Text Box 29"/>
          <p:cNvSpPr txBox="1">
            <a:spLocks noChangeArrowheads="1"/>
          </p:cNvSpPr>
          <p:nvPr/>
        </p:nvSpPr>
        <p:spPr bwMode="auto">
          <a:xfrm>
            <a:off x="1425547" y="1075100"/>
            <a:ext cx="6431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A</a:t>
            </a:r>
          </a:p>
        </p:txBody>
      </p:sp>
      <p:sp>
        <p:nvSpPr>
          <p:cNvPr id="33" name="Text Box 29"/>
          <p:cNvSpPr txBox="1">
            <a:spLocks noChangeArrowheads="1"/>
          </p:cNvSpPr>
          <p:nvPr/>
        </p:nvSpPr>
        <p:spPr bwMode="auto">
          <a:xfrm>
            <a:off x="6898593" y="1075100"/>
            <a:ext cx="6479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路由器</a:t>
            </a:r>
            <a:endParaRPr lang="en-US" altLang="zh-CN" sz="1200" dirty="0">
              <a:latin typeface="+mj-lt"/>
              <a:ea typeface="+mj-ea"/>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49" name="文本框 48"/>
            <p:cNvSpPr txBox="1"/>
            <p:nvPr/>
          </p:nvSpPr>
          <p:spPr>
            <a:xfrm>
              <a:off x="2702534" y="1377137"/>
              <a:ext cx="588623" cy="276999"/>
            </a:xfrm>
            <a:prstGeom prst="rect">
              <a:avLst/>
            </a:prstGeom>
            <a:noFill/>
          </p:spPr>
          <p:txBody>
            <a:bodyPr wrap="none" rtlCol="0">
              <a:spAutoFit/>
            </a:bodyPr>
            <a:lstStyle/>
            <a:p>
              <a:pPr algn="ctr"/>
              <a:r>
                <a:rPr lang="zh-CN" altLang="en-US" sz="1200" dirty="0"/>
                <a:t>网络 </a:t>
              </a:r>
              <a:r>
                <a:rPr lang="en-US" altLang="zh-CN" sz="1200" dirty="0"/>
                <a:t>1</a:t>
              </a:r>
              <a:endParaRPr lang="zh-CN" altLang="en-US" sz="1200" dirty="0"/>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53" name="文本框 52"/>
            <p:cNvSpPr txBox="1"/>
            <p:nvPr/>
          </p:nvSpPr>
          <p:spPr>
            <a:xfrm>
              <a:off x="2702534" y="1377137"/>
              <a:ext cx="620683" cy="276999"/>
            </a:xfrm>
            <a:prstGeom prst="rect">
              <a:avLst/>
            </a:prstGeom>
            <a:noFill/>
          </p:spPr>
          <p:txBody>
            <a:bodyPr wrap="none" rtlCol="0">
              <a:spAutoFit/>
            </a:bodyPr>
            <a:lstStyle/>
            <a:p>
              <a:pPr algn="ctr"/>
              <a:r>
                <a:rPr lang="zh-CN" altLang="en-US" sz="1200" dirty="0"/>
                <a:t>网络 </a:t>
              </a:r>
              <a:r>
                <a:rPr lang="en-US" altLang="zh-CN" sz="1200" dirty="0"/>
                <a:t>2</a:t>
              </a:r>
              <a:endParaRPr lang="zh-CN" altLang="en-US" sz="1200" dirty="0"/>
            </a:p>
          </p:txBody>
        </p:sp>
      </p:grpSp>
      <p:sp>
        <p:nvSpPr>
          <p:cNvPr id="3" name="标题 2">
            <a:extLst>
              <a:ext uri="{FF2B5EF4-FFF2-40B4-BE49-F238E27FC236}">
                <a16:creationId xmlns:a16="http://schemas.microsoft.com/office/drawing/2014/main" id="{B67C5E01-93FC-6F7C-F22B-063FF38A7A57}"/>
              </a:ext>
            </a:extLst>
          </p:cNvPr>
          <p:cNvSpPr>
            <a:spLocks noGrp="1"/>
          </p:cNvSpPr>
          <p:nvPr>
            <p:ph type="title"/>
          </p:nvPr>
        </p:nvSpPr>
        <p:spPr>
          <a:xfrm>
            <a:off x="612000" y="144000"/>
            <a:ext cx="7920000" cy="341632"/>
          </a:xfrm>
        </p:spPr>
        <p:txBody>
          <a:bodyPr/>
          <a:lstStyle/>
          <a:p>
            <a:r>
              <a:rPr lang="en-US" altLang="zh-CN" dirty="0"/>
              <a:t>1.7.5  TCP/IP </a:t>
            </a:r>
            <a:r>
              <a:rPr lang="zh-CN" altLang="zh-CN" dirty="0"/>
              <a:t>的体系结构</a:t>
            </a:r>
            <a:endParaRPr lang="zh-CN" altLang="en-US" dirty="0"/>
          </a:p>
        </p:txBody>
      </p:sp>
      <p:grpSp>
        <p:nvGrpSpPr>
          <p:cNvPr id="72" name="组合 71">
            <a:extLst>
              <a:ext uri="{FF2B5EF4-FFF2-40B4-BE49-F238E27FC236}">
                <a16:creationId xmlns:a16="http://schemas.microsoft.com/office/drawing/2014/main" id="{B8A2CE8F-DACC-7B02-A698-0494350A0A27}"/>
              </a:ext>
            </a:extLst>
          </p:cNvPr>
          <p:cNvGrpSpPr/>
          <p:nvPr/>
        </p:nvGrpSpPr>
        <p:grpSpPr>
          <a:xfrm>
            <a:off x="6431697" y="2343787"/>
            <a:ext cx="1440000" cy="1404000"/>
            <a:chOff x="6301911" y="2448000"/>
            <a:chExt cx="1440000" cy="1404000"/>
          </a:xfrm>
          <a:solidFill>
            <a:srgbClr val="7CE07C"/>
          </a:solidFill>
        </p:grpSpPr>
        <p:sp>
          <p:nvSpPr>
            <p:cNvPr id="73" name="立方体 72">
              <a:extLst>
                <a:ext uri="{FF2B5EF4-FFF2-40B4-BE49-F238E27FC236}">
                  <a16:creationId xmlns:a16="http://schemas.microsoft.com/office/drawing/2014/main" id="{82AC9A20-6606-3849-4B8D-91FD1E56984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4" name="立方体 73">
              <a:extLst>
                <a:ext uri="{FF2B5EF4-FFF2-40B4-BE49-F238E27FC236}">
                  <a16:creationId xmlns:a16="http://schemas.microsoft.com/office/drawing/2014/main" id="{3495BE90-96A4-C0D5-E69D-D5E610745A3E}"/>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5" name="立方体 74">
              <a:extLst>
                <a:ext uri="{FF2B5EF4-FFF2-40B4-BE49-F238E27FC236}">
                  <a16:creationId xmlns:a16="http://schemas.microsoft.com/office/drawing/2014/main" id="{F210D835-1883-3823-8804-B01F5B956C81}"/>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6" name="立方体 75">
              <a:extLst>
                <a:ext uri="{FF2B5EF4-FFF2-40B4-BE49-F238E27FC236}">
                  <a16:creationId xmlns:a16="http://schemas.microsoft.com/office/drawing/2014/main" id="{CF535851-B898-E5C0-EE70-6D93840DF137}"/>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pSp>
        <p:nvGrpSpPr>
          <p:cNvPr id="77" name="组合 76">
            <a:extLst>
              <a:ext uri="{FF2B5EF4-FFF2-40B4-BE49-F238E27FC236}">
                <a16:creationId xmlns:a16="http://schemas.microsoft.com/office/drawing/2014/main" id="{7D559BF0-D1BB-2B8D-89AF-8C1D799A08B3}"/>
              </a:ext>
            </a:extLst>
          </p:cNvPr>
          <p:cNvGrpSpPr/>
          <p:nvPr/>
        </p:nvGrpSpPr>
        <p:grpSpPr>
          <a:xfrm>
            <a:off x="3737700" y="2991787"/>
            <a:ext cx="1440000" cy="756000"/>
            <a:chOff x="6301911" y="3096000"/>
            <a:chExt cx="1440000" cy="756000"/>
          </a:xfrm>
          <a:solidFill>
            <a:srgbClr val="7CE07C"/>
          </a:solidFill>
        </p:grpSpPr>
        <p:sp>
          <p:nvSpPr>
            <p:cNvPr id="78" name="立方体 77">
              <a:extLst>
                <a:ext uri="{FF2B5EF4-FFF2-40B4-BE49-F238E27FC236}">
                  <a16:creationId xmlns:a16="http://schemas.microsoft.com/office/drawing/2014/main" id="{EE48BC64-9C42-0C3F-65AA-92F16B3F143C}"/>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9" name="立方体 78">
              <a:extLst>
                <a:ext uri="{FF2B5EF4-FFF2-40B4-BE49-F238E27FC236}">
                  <a16:creationId xmlns:a16="http://schemas.microsoft.com/office/drawing/2014/main" id="{1FF757DE-EEAB-634D-C606-00A8E2E06812}"/>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A8175415-C676-BB61-BF90-E0F411F9019A}"/>
              </a:ext>
            </a:extLst>
          </p:cNvPr>
          <p:cNvSpPr>
            <a:spLocks noGrp="1"/>
          </p:cNvSpPr>
          <p:nvPr>
            <p:ph type="title"/>
          </p:nvPr>
        </p:nvSpPr>
        <p:spPr>
          <a:xfrm>
            <a:off x="612000" y="144000"/>
            <a:ext cx="7920000" cy="341632"/>
          </a:xfrm>
        </p:spPr>
        <p:txBody>
          <a:bodyPr/>
          <a:lstStyle/>
          <a:p>
            <a:r>
              <a:rPr lang="en-US" altLang="zh-CN" dirty="0"/>
              <a:t>TCP/IP </a:t>
            </a:r>
            <a:r>
              <a:rPr lang="zh-CN" altLang="en-US" dirty="0"/>
              <a:t>体系结构的另一种表示方法</a:t>
            </a:r>
          </a:p>
        </p:txBody>
      </p:sp>
      <p:sp>
        <p:nvSpPr>
          <p:cNvPr id="3" name="内容占位符 2"/>
          <p:cNvSpPr>
            <a:spLocks noGrp="1"/>
          </p:cNvSpPr>
          <p:nvPr>
            <p:ph sz="quarter" idx="10"/>
          </p:nvPr>
        </p:nvSpPr>
        <p:spPr>
          <a:xfrm>
            <a:off x="612000" y="899999"/>
            <a:ext cx="7920000" cy="3780000"/>
          </a:xfrm>
        </p:spPr>
        <p:txBody>
          <a:bodyPr/>
          <a:lstStyle/>
          <a:p>
            <a:r>
              <a:rPr lang="zh-CN" altLang="en-US" dirty="0"/>
              <a:t>现在互联网使用的 </a:t>
            </a:r>
            <a:r>
              <a:rPr lang="en-US" altLang="zh-CN" dirty="0"/>
              <a:t>TCP/IP </a:t>
            </a:r>
            <a:r>
              <a:rPr lang="zh-CN" altLang="en-US" dirty="0"/>
              <a:t>体系结构已经发生了演变</a:t>
            </a:r>
            <a:endParaRPr lang="en-US" altLang="zh-CN" dirty="0"/>
          </a:p>
          <a:p>
            <a:r>
              <a:rPr lang="zh-CN" altLang="en-US" dirty="0"/>
              <a:t>某些应用程序可以直接使用 </a:t>
            </a:r>
            <a:r>
              <a:rPr lang="en-US" altLang="zh-CN" dirty="0"/>
              <a:t>IP </a:t>
            </a:r>
            <a:r>
              <a:rPr lang="zh-CN" altLang="en-US" dirty="0"/>
              <a:t>层</a:t>
            </a:r>
            <a:endParaRPr lang="en-US" altLang="zh-CN" dirty="0"/>
          </a:p>
          <a:p>
            <a:r>
              <a:rPr lang="zh-CN" altLang="en-US" dirty="0"/>
              <a:t>甚至直接使用最下面的网络接口层</a:t>
            </a:r>
          </a:p>
          <a:p>
            <a:endParaRPr lang="zh-CN" altLang="en-US" dirty="0"/>
          </a:p>
        </p:txBody>
      </p:sp>
      <p:grpSp>
        <p:nvGrpSpPr>
          <p:cNvPr id="6" name="组合 5"/>
          <p:cNvGrpSpPr/>
          <p:nvPr/>
        </p:nvGrpSpPr>
        <p:grpSpPr bwMode="auto">
          <a:xfrm>
            <a:off x="2922180" y="2340000"/>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latin typeface="+mj-lt"/>
                <a:ea typeface="+mj-ea"/>
              </a:endParaRPr>
            </a:p>
          </p:txBody>
        </p:sp>
        <p:sp>
          <p:nvSpPr>
            <p:cNvPr id="12" name="Text Box 10"/>
            <p:cNvSpPr txBox="1">
              <a:spLocks noChangeArrowheads="1"/>
            </p:cNvSpPr>
            <p:nvPr/>
          </p:nvSpPr>
          <p:spPr bwMode="auto">
            <a:xfrm>
              <a:off x="2900239" y="3991336"/>
              <a:ext cx="1373668"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dirty="0">
                  <a:latin typeface="+mj-lt"/>
                  <a:ea typeface="+mj-ea"/>
                </a:rPr>
                <a:t>TCP    UDP</a:t>
              </a:r>
            </a:p>
          </p:txBody>
        </p:sp>
        <p:sp>
          <p:nvSpPr>
            <p:cNvPr id="13" name="Text Box 11"/>
            <p:cNvSpPr txBox="1">
              <a:spLocks noChangeArrowheads="1"/>
            </p:cNvSpPr>
            <p:nvPr/>
          </p:nvSpPr>
          <p:spPr bwMode="auto">
            <a:xfrm>
              <a:off x="3804968" y="4550166"/>
              <a:ext cx="418976"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a:latin typeface="+mj-lt"/>
                  <a:ea typeface="+mj-ea"/>
                </a:rPr>
                <a:t>IP</a:t>
              </a:r>
            </a:p>
          </p:txBody>
        </p:sp>
        <p:sp>
          <p:nvSpPr>
            <p:cNvPr id="14" name="Text Box 4"/>
            <p:cNvSpPr txBox="1">
              <a:spLocks noChangeArrowheads="1"/>
            </p:cNvSpPr>
            <p:nvPr/>
          </p:nvSpPr>
          <p:spPr bwMode="auto">
            <a:xfrm>
              <a:off x="4149216" y="3470787"/>
              <a:ext cx="849523"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应用层</a:t>
              </a:r>
            </a:p>
          </p:txBody>
        </p:sp>
        <p:sp>
          <p:nvSpPr>
            <p:cNvPr id="15" name="Text Box 12"/>
            <p:cNvSpPr txBox="1">
              <a:spLocks noChangeArrowheads="1"/>
            </p:cNvSpPr>
            <p:nvPr/>
          </p:nvSpPr>
          <p:spPr bwMode="auto">
            <a:xfrm>
              <a:off x="3328057" y="5068067"/>
              <a:ext cx="2374309"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a:latin typeface="微软雅黑" panose="020B0503020204020204" pitchFamily="34" charset="-122"/>
                  <a:ea typeface="微软雅黑" panose="020B0503020204020204" pitchFamily="34" charset="-122"/>
                </a:rPr>
                <a:t>Everything over IP </a:t>
              </a:r>
              <a:r>
                <a:rPr lang="zh-CN" altLang="en-US" sz="1400" b="1">
                  <a:latin typeface="微软雅黑" panose="020B0503020204020204" pitchFamily="34" charset="-122"/>
                  <a:ea typeface="微软雅黑" panose="020B0503020204020204" pitchFamily="34" charset="-122"/>
                </a:rPr>
                <a:t>：</a:t>
              </a:r>
              <a:r>
                <a:rPr lang="en-US" altLang="zh-CN" sz="1400" b="1">
                  <a:latin typeface="微软雅黑" panose="020B0503020204020204" pitchFamily="34" charset="-122"/>
                  <a:ea typeface="微软雅黑" panose="020B0503020204020204" pitchFamily="34" charset="-122"/>
                </a:rPr>
                <a:t>IP </a:t>
              </a:r>
              <a:r>
                <a:rPr lang="zh-CN" altLang="en-US" sz="1400" b="1">
                  <a:latin typeface="微软雅黑" panose="020B0503020204020204" pitchFamily="34" charset="-122"/>
                  <a:ea typeface="微软雅黑" panose="020B0503020204020204" pitchFamily="34" charset="-122"/>
                </a:rPr>
                <a:t>层</a:t>
              </a:r>
              <a:r>
                <a:rPr lang="zh-CN" altLang="en-US" sz="1400" b="1" dirty="0">
                  <a:latin typeface="微软雅黑" panose="020B0503020204020204" pitchFamily="34" charset="-122"/>
                  <a:ea typeface="微软雅黑" panose="020B0503020204020204" pitchFamily="34" charset="-122"/>
                </a:rPr>
                <a:t>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7" name="Text Box 23"/>
          <p:cNvSpPr txBox="1">
            <a:spLocks noChangeArrowheads="1"/>
          </p:cNvSpPr>
          <p:nvPr/>
        </p:nvSpPr>
        <p:spPr bwMode="auto">
          <a:xfrm>
            <a:off x="4462850"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8" name="Text Box 24"/>
          <p:cNvSpPr txBox="1">
            <a:spLocks noChangeArrowheads="1"/>
          </p:cNvSpPr>
          <p:nvPr/>
        </p:nvSpPr>
        <p:spPr bwMode="auto">
          <a:xfrm>
            <a:off x="4165987" y="3648500"/>
            <a:ext cx="38985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99"/>
                </a:solidFill>
                <a:latin typeface="Times New Roman" panose="02020603050405020304" pitchFamily="18" charset="0"/>
                <a:ea typeface="微软雅黑 Light" panose="020B0502040204020203" pitchFamily="34"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dirty="0">
                <a:solidFill>
                  <a:schemeClr val="bg1"/>
                </a:solidFill>
                <a:ea typeface="微软雅黑 Light" panose="020B0502040204020203" pitchFamily="34"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3" name="标题 2">
            <a:extLst>
              <a:ext uri="{FF2B5EF4-FFF2-40B4-BE49-F238E27FC236}">
                <a16:creationId xmlns:a16="http://schemas.microsoft.com/office/drawing/2014/main" id="{25AECFA7-8AB4-F6F3-BE70-ACFD0F720BB9}"/>
              </a:ext>
            </a:extLst>
          </p:cNvPr>
          <p:cNvSpPr>
            <a:spLocks noGrp="1"/>
          </p:cNvSpPr>
          <p:nvPr>
            <p:ph type="title"/>
          </p:nvPr>
        </p:nvSpPr>
        <p:spPr>
          <a:xfrm>
            <a:off x="612000" y="144000"/>
            <a:ext cx="7920000" cy="341632"/>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27"/>
            <p:cNvSpPr txBox="1">
              <a:spLocks noChangeArrowheads="1"/>
            </p:cNvSpPr>
            <p:nvPr/>
          </p:nvSpPr>
          <p:spPr bwMode="auto">
            <a:xfrm>
              <a:off x="1987"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① </a:t>
              </a:r>
              <a:r>
                <a:rPr kumimoji="1" lang="zh-CN" altLang="en-US" sz="1400" b="1" dirty="0">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6" name="Text Box 30"/>
            <p:cNvSpPr txBox="1">
              <a:spLocks noChangeArrowheads="1"/>
            </p:cNvSpPr>
            <p:nvPr/>
          </p:nvSpPr>
          <p:spPr bwMode="auto">
            <a:xfrm>
              <a:off x="2016"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44" name="Text Box 40"/>
          <p:cNvSpPr txBox="1">
            <a:spLocks noChangeArrowheads="1"/>
          </p:cNvSpPr>
          <p:nvPr/>
        </p:nvSpPr>
        <p:spPr bwMode="auto">
          <a:xfrm>
            <a:off x="2987401" y="2829844"/>
            <a:ext cx="3158952" cy="675249"/>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400" dirty="0"/>
              <a:t>所有这些通信实际上都需要使用下面各层所提供的服务。</a:t>
            </a:r>
          </a:p>
        </p:txBody>
      </p:sp>
      <p:sp>
        <p:nvSpPr>
          <p:cNvPr id="3" name="标题 2">
            <a:extLst>
              <a:ext uri="{FF2B5EF4-FFF2-40B4-BE49-F238E27FC236}">
                <a16:creationId xmlns:a16="http://schemas.microsoft.com/office/drawing/2014/main" id="{1614C923-77A5-C916-10A7-668D31687E73}"/>
              </a:ext>
            </a:extLst>
          </p:cNvPr>
          <p:cNvSpPr>
            <a:spLocks noGrp="1"/>
          </p:cNvSpPr>
          <p:nvPr>
            <p:ph type="title"/>
          </p:nvPr>
        </p:nvSpPr>
        <p:spPr>
          <a:xfrm>
            <a:off x="612000" y="144000"/>
            <a:ext cx="7920000" cy="341632"/>
          </a:xfrm>
        </p:spPr>
        <p:txBody>
          <a:bodyPr/>
          <a:lstStyle/>
          <a:p>
            <a:r>
              <a:rPr lang="zh-CN" altLang="en-US" dirty="0"/>
              <a:t>互联网中客户</a:t>
            </a:r>
            <a:r>
              <a:rPr lang="en-US" altLang="zh-CN" dirty="0"/>
              <a:t>-</a:t>
            </a:r>
            <a:r>
              <a:rPr lang="zh-CN" altLang="en-US" dirty="0"/>
              <a:t>服务器工作方式</a:t>
            </a:r>
          </a:p>
        </p:txBody>
      </p:sp>
      <p:sp>
        <p:nvSpPr>
          <p:cNvPr id="49" name="Rectangle 26">
            <a:extLst>
              <a:ext uri="{FF2B5EF4-FFF2-40B4-BE49-F238E27FC236}">
                <a16:creationId xmlns:a16="http://schemas.microsoft.com/office/drawing/2014/main" id="{ECCEC8D5-3FBF-2D13-C408-BC7FEAEC7457}"/>
              </a:ext>
            </a:extLst>
          </p:cNvPr>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1" name="Text Box 27">
            <a:extLst>
              <a:ext uri="{FF2B5EF4-FFF2-40B4-BE49-F238E27FC236}">
                <a16:creationId xmlns:a16="http://schemas.microsoft.com/office/drawing/2014/main" id="{FC9775E4-F39B-B4C5-C040-684D808A8016}"/>
              </a:ext>
            </a:extLst>
          </p:cNvPr>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53" name="Line 28">
            <a:extLst>
              <a:ext uri="{FF2B5EF4-FFF2-40B4-BE49-F238E27FC236}">
                <a16:creationId xmlns:a16="http://schemas.microsoft.com/office/drawing/2014/main" id="{6E99E2F5-43C9-2862-6A61-0BEE586B9D68}"/>
              </a:ext>
            </a:extLst>
          </p:cNvPr>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29">
            <a:extLst>
              <a:ext uri="{FF2B5EF4-FFF2-40B4-BE49-F238E27FC236}">
                <a16:creationId xmlns:a16="http://schemas.microsoft.com/office/drawing/2014/main" id="{EDB3FD16-5ED6-BD4C-3FAF-319B41239DF4}"/>
              </a:ext>
            </a:extLst>
          </p:cNvPr>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7" name="Line 30">
            <a:extLst>
              <a:ext uri="{FF2B5EF4-FFF2-40B4-BE49-F238E27FC236}">
                <a16:creationId xmlns:a16="http://schemas.microsoft.com/office/drawing/2014/main" id="{51044CAC-D85F-8581-073A-7D0F43D0BA8A}"/>
              </a:ext>
            </a:extLst>
          </p:cNvPr>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9" name="Line 31">
            <a:extLst>
              <a:ext uri="{FF2B5EF4-FFF2-40B4-BE49-F238E27FC236}">
                <a16:creationId xmlns:a16="http://schemas.microsoft.com/office/drawing/2014/main" id="{BA8087EE-B7BF-2480-F506-A1C45F9C7624}"/>
              </a:ext>
            </a:extLst>
          </p:cNvPr>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Text Box 32">
            <a:extLst>
              <a:ext uri="{FF2B5EF4-FFF2-40B4-BE49-F238E27FC236}">
                <a16:creationId xmlns:a16="http://schemas.microsoft.com/office/drawing/2014/main" id="{C2685E8B-077A-C637-7AD0-CC1A0EF1D8C8}"/>
              </a:ext>
            </a:extLst>
          </p:cNvPr>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63" name="Text Box 33">
            <a:extLst>
              <a:ext uri="{FF2B5EF4-FFF2-40B4-BE49-F238E27FC236}">
                <a16:creationId xmlns:a16="http://schemas.microsoft.com/office/drawing/2014/main" id="{2337BAE1-2E8F-6341-311A-C7738FDC44A1}"/>
              </a:ext>
            </a:extLst>
          </p:cNvPr>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65" name="Text Box 34">
            <a:extLst>
              <a:ext uri="{FF2B5EF4-FFF2-40B4-BE49-F238E27FC236}">
                <a16:creationId xmlns:a16="http://schemas.microsoft.com/office/drawing/2014/main" id="{011D50E8-9E86-BFEB-0BCD-8BFFC3D6B49F}"/>
              </a:ext>
            </a:extLst>
          </p:cNvPr>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67" name="Line 35">
            <a:extLst>
              <a:ext uri="{FF2B5EF4-FFF2-40B4-BE49-F238E27FC236}">
                <a16:creationId xmlns:a16="http://schemas.microsoft.com/office/drawing/2014/main" id="{1E5C46F3-2D38-DAA4-F719-4E492B5035A1}"/>
              </a:ext>
            </a:extLst>
          </p:cNvPr>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Oval 36">
            <a:extLst>
              <a:ext uri="{FF2B5EF4-FFF2-40B4-BE49-F238E27FC236}">
                <a16:creationId xmlns:a16="http://schemas.microsoft.com/office/drawing/2014/main" id="{802ED50E-27D0-9491-78AA-477743FD5944}"/>
              </a:ext>
            </a:extLst>
          </p:cNvPr>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客户</a:t>
            </a:r>
            <a:endParaRPr lang="en-US" altLang="zh-CN" sz="1400" dirty="0">
              <a:solidFill>
                <a:schemeClr val="tx1"/>
              </a:solidFill>
            </a:endParaRPr>
          </a:p>
        </p:txBody>
      </p:sp>
      <p:sp>
        <p:nvSpPr>
          <p:cNvPr id="71" name="Text Box 37">
            <a:extLst>
              <a:ext uri="{FF2B5EF4-FFF2-40B4-BE49-F238E27FC236}">
                <a16:creationId xmlns:a16="http://schemas.microsoft.com/office/drawing/2014/main" id="{0216A7C4-29F7-69CF-403E-A9901AE4D144}"/>
              </a:ext>
            </a:extLst>
          </p:cNvPr>
          <p:cNvSpPr txBox="1">
            <a:spLocks noChangeArrowheads="1"/>
          </p:cNvSpPr>
          <p:nvPr/>
        </p:nvSpPr>
        <p:spPr bwMode="auto">
          <a:xfrm>
            <a:off x="1510543" y="1430047"/>
            <a:ext cx="723275" cy="307777"/>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73" name="Text Box 38">
            <a:extLst>
              <a:ext uri="{FF2B5EF4-FFF2-40B4-BE49-F238E27FC236}">
                <a16:creationId xmlns:a16="http://schemas.microsoft.com/office/drawing/2014/main" id="{F0404029-EDFE-0949-5211-359201771E34}"/>
              </a:ext>
            </a:extLst>
          </p:cNvPr>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76" name="Rectangle 41">
            <a:extLst>
              <a:ext uri="{FF2B5EF4-FFF2-40B4-BE49-F238E27FC236}">
                <a16:creationId xmlns:a16="http://schemas.microsoft.com/office/drawing/2014/main" id="{4996520A-203A-3289-90F2-076D319E98C8}"/>
              </a:ext>
            </a:extLst>
          </p:cNvPr>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78" name="Text Box 42">
            <a:extLst>
              <a:ext uri="{FF2B5EF4-FFF2-40B4-BE49-F238E27FC236}">
                <a16:creationId xmlns:a16="http://schemas.microsoft.com/office/drawing/2014/main" id="{CF8D8C44-E00F-454A-6598-053AA968C017}"/>
              </a:ext>
            </a:extLst>
          </p:cNvPr>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80" name="Line 43">
            <a:extLst>
              <a:ext uri="{FF2B5EF4-FFF2-40B4-BE49-F238E27FC236}">
                <a16:creationId xmlns:a16="http://schemas.microsoft.com/office/drawing/2014/main" id="{BCEA7B28-1197-A238-EEA3-00A384610686}"/>
              </a:ext>
            </a:extLst>
          </p:cNvPr>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a:extLst>
              <a:ext uri="{FF2B5EF4-FFF2-40B4-BE49-F238E27FC236}">
                <a16:creationId xmlns:a16="http://schemas.microsoft.com/office/drawing/2014/main" id="{E33455B1-9CE2-2033-E4FF-925C08A59DF3}"/>
              </a:ext>
            </a:extLst>
          </p:cNvPr>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 name="Line 45">
            <a:extLst>
              <a:ext uri="{FF2B5EF4-FFF2-40B4-BE49-F238E27FC236}">
                <a16:creationId xmlns:a16="http://schemas.microsoft.com/office/drawing/2014/main" id="{ACE3ECF9-7B6E-1B83-25F7-0EFADEB1F21C}"/>
              </a:ext>
            </a:extLst>
          </p:cNvPr>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6" name="Line 46">
            <a:extLst>
              <a:ext uri="{FF2B5EF4-FFF2-40B4-BE49-F238E27FC236}">
                <a16:creationId xmlns:a16="http://schemas.microsoft.com/office/drawing/2014/main" id="{940064E2-BE3E-266B-A329-2BFAAE13DDA9}"/>
              </a:ext>
            </a:extLst>
          </p:cNvPr>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8" name="Text Box 47">
            <a:extLst>
              <a:ext uri="{FF2B5EF4-FFF2-40B4-BE49-F238E27FC236}">
                <a16:creationId xmlns:a16="http://schemas.microsoft.com/office/drawing/2014/main" id="{D76E2477-388F-25D5-DA89-0E7BB84B7B34}"/>
              </a:ext>
            </a:extLst>
          </p:cNvPr>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90" name="Text Box 48">
            <a:extLst>
              <a:ext uri="{FF2B5EF4-FFF2-40B4-BE49-F238E27FC236}">
                <a16:creationId xmlns:a16="http://schemas.microsoft.com/office/drawing/2014/main" id="{16EF5457-C1B0-545F-DAAD-0E5378F61643}"/>
              </a:ext>
            </a:extLst>
          </p:cNvPr>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92" name="Text Box 49">
            <a:extLst>
              <a:ext uri="{FF2B5EF4-FFF2-40B4-BE49-F238E27FC236}">
                <a16:creationId xmlns:a16="http://schemas.microsoft.com/office/drawing/2014/main" id="{8259CA54-E01D-393D-533E-33256005E2CD}"/>
              </a:ext>
            </a:extLst>
          </p:cNvPr>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94" name="Line 50">
            <a:extLst>
              <a:ext uri="{FF2B5EF4-FFF2-40B4-BE49-F238E27FC236}">
                <a16:creationId xmlns:a16="http://schemas.microsoft.com/office/drawing/2014/main" id="{8C8246BD-71E8-5F82-04CD-4FF7BD2DE8C2}"/>
              </a:ext>
            </a:extLst>
          </p:cNvPr>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6" name="Oval 51">
            <a:extLst>
              <a:ext uri="{FF2B5EF4-FFF2-40B4-BE49-F238E27FC236}">
                <a16:creationId xmlns:a16="http://schemas.microsoft.com/office/drawing/2014/main" id="{04900CE5-0530-E62A-BECB-D3DE71166907}"/>
              </a:ext>
            </a:extLst>
          </p:cNvPr>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服务器</a:t>
            </a:r>
            <a:endParaRPr lang="en-US" altLang="zh-CN" sz="1400" dirty="0">
              <a:solidFill>
                <a:schemeClr val="tx1"/>
              </a:solidFill>
            </a:endParaRPr>
          </a:p>
        </p:txBody>
      </p:sp>
      <p:sp>
        <p:nvSpPr>
          <p:cNvPr id="98" name="Text Box 52">
            <a:extLst>
              <a:ext uri="{FF2B5EF4-FFF2-40B4-BE49-F238E27FC236}">
                <a16:creationId xmlns:a16="http://schemas.microsoft.com/office/drawing/2014/main" id="{7BBAEC5E-C4DC-D9D8-5C3D-891F65BAF395}"/>
              </a:ext>
            </a:extLst>
          </p:cNvPr>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00" name="Text Box 53">
            <a:extLst>
              <a:ext uri="{FF2B5EF4-FFF2-40B4-BE49-F238E27FC236}">
                <a16:creationId xmlns:a16="http://schemas.microsoft.com/office/drawing/2014/main" id="{3EA10E09-9551-639E-2D1A-24D65EA1FE14}"/>
              </a:ext>
            </a:extLst>
          </p:cNvPr>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102" name="Freeform 24">
            <a:extLst>
              <a:ext uri="{FF2B5EF4-FFF2-40B4-BE49-F238E27FC236}">
                <a16:creationId xmlns:a16="http://schemas.microsoft.com/office/drawing/2014/main" id="{4530F3D4-2FCA-41B4-D5EE-29D6746F2EEC}"/>
              </a:ext>
            </a:extLst>
          </p:cNvPr>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03" name="Group 55">
            <a:extLst>
              <a:ext uri="{FF2B5EF4-FFF2-40B4-BE49-F238E27FC236}">
                <a16:creationId xmlns:a16="http://schemas.microsoft.com/office/drawing/2014/main" id="{1820EF16-C699-2E48-6D79-4932DEDA9660}"/>
              </a:ext>
            </a:extLst>
          </p:cNvPr>
          <p:cNvGrpSpPr/>
          <p:nvPr/>
        </p:nvGrpSpPr>
        <p:grpSpPr bwMode="auto">
          <a:xfrm>
            <a:off x="3857625" y="3606534"/>
            <a:ext cx="1316038" cy="666750"/>
            <a:chOff x="2245" y="3313"/>
            <a:chExt cx="1286" cy="707"/>
          </a:xfrm>
        </p:grpSpPr>
        <p:graphicFrame>
          <p:nvGraphicFramePr>
            <p:cNvPr id="104" name="Object 56">
              <a:extLst>
                <a:ext uri="{FF2B5EF4-FFF2-40B4-BE49-F238E27FC236}">
                  <a16:creationId xmlns:a16="http://schemas.microsoft.com/office/drawing/2014/main" id="{1DA84620-97EA-0000-59CA-ACDBED26EA6B}"/>
                </a:ext>
              </a:extLst>
            </p:cNvPr>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57" name="Object 5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5" name="Text Box 57">
              <a:extLst>
                <a:ext uri="{FF2B5EF4-FFF2-40B4-BE49-F238E27FC236}">
                  <a16:creationId xmlns:a16="http://schemas.microsoft.com/office/drawing/2014/main" id="{AF89EE1D-A014-1130-32E3-0615A8D4D8FB}"/>
                </a:ext>
              </a:extLst>
            </p:cNvPr>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500"/>
                                        <p:tgtEl>
                                          <p:spTgt spid="31"/>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right)">
                                      <p:cBhvr>
                                        <p:cTn id="11" dur="1000"/>
                                        <p:tgtEl>
                                          <p:spTgt spid="34"/>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3"/>
          <p:cNvSpPr>
            <a:spLocks noChangeShapeType="1"/>
          </p:cNvSpPr>
          <p:nvPr/>
        </p:nvSpPr>
        <p:spPr bwMode="auto">
          <a:xfrm>
            <a:off x="4537075" y="3490264"/>
            <a:ext cx="0" cy="24962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Rectangle 4"/>
          <p:cNvSpPr>
            <a:spLocks noChangeArrowheads="1"/>
          </p:cNvSpPr>
          <p:nvPr/>
        </p:nvSpPr>
        <p:spPr bwMode="auto">
          <a:xfrm>
            <a:off x="3365500" y="1423721"/>
            <a:ext cx="2409825" cy="2066925"/>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Text Box 10"/>
          <p:cNvSpPr txBox="1">
            <a:spLocks noChangeArrowheads="1"/>
          </p:cNvSpPr>
          <p:nvPr/>
        </p:nvSpPr>
        <p:spPr bwMode="auto">
          <a:xfrm>
            <a:off x="4205288" y="3184259"/>
            <a:ext cx="722312" cy="306387"/>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12" name="Text Box 11"/>
          <p:cNvSpPr txBox="1">
            <a:spLocks noChangeArrowheads="1"/>
          </p:cNvSpPr>
          <p:nvPr/>
        </p:nvSpPr>
        <p:spPr bwMode="auto">
          <a:xfrm>
            <a:off x="4205288" y="2253984"/>
            <a:ext cx="722312" cy="307975"/>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13" name="Text Box 12"/>
          <p:cNvSpPr txBox="1">
            <a:spLocks noChangeArrowheads="1"/>
          </p:cNvSpPr>
          <p:nvPr/>
        </p:nvSpPr>
        <p:spPr bwMode="auto">
          <a:xfrm>
            <a:off x="4205288" y="2566721"/>
            <a:ext cx="722312" cy="307975"/>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14" name="Text Box 13"/>
          <p:cNvSpPr txBox="1">
            <a:spLocks noChangeArrowheads="1"/>
          </p:cNvSpPr>
          <p:nvPr/>
        </p:nvSpPr>
        <p:spPr bwMode="auto">
          <a:xfrm>
            <a:off x="4179888" y="1418959"/>
            <a:ext cx="723900" cy="307975"/>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sp>
        <p:nvSpPr>
          <p:cNvPr id="17" name="Line 16"/>
          <p:cNvSpPr>
            <a:spLocks noChangeShapeType="1"/>
          </p:cNvSpPr>
          <p:nvPr/>
        </p:nvSpPr>
        <p:spPr bwMode="auto">
          <a:xfrm>
            <a:off x="3985553" y="2151201"/>
            <a:ext cx="1319" cy="94845"/>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Oval 17"/>
          <p:cNvSpPr>
            <a:spLocks noChangeArrowheads="1"/>
          </p:cNvSpPr>
          <p:nvPr/>
        </p:nvSpPr>
        <p:spPr bwMode="auto">
          <a:xfrm>
            <a:off x="35115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t>服</a:t>
            </a:r>
            <a:r>
              <a:rPr lang="zh-CN" altLang="en-US" sz="1400"/>
              <a:t>务器</a:t>
            </a:r>
            <a:r>
              <a:rPr lang="en-US" altLang="zh-CN" sz="1400" dirty="0"/>
              <a:t>1</a:t>
            </a:r>
            <a:endParaRPr lang="zh-CN" altLang="zh-CN" sz="1400" dirty="0"/>
          </a:p>
        </p:txBody>
      </p:sp>
      <p:sp>
        <p:nvSpPr>
          <p:cNvPr id="21" name="Line 20"/>
          <p:cNvSpPr>
            <a:spLocks noChangeShapeType="1"/>
          </p:cNvSpPr>
          <p:nvPr/>
        </p:nvSpPr>
        <p:spPr bwMode="auto">
          <a:xfrm>
            <a:off x="5153952" y="2151201"/>
            <a:ext cx="1320" cy="93847"/>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Oval 21"/>
          <p:cNvSpPr>
            <a:spLocks noChangeArrowheads="1"/>
          </p:cNvSpPr>
          <p:nvPr/>
        </p:nvSpPr>
        <p:spPr bwMode="auto">
          <a:xfrm>
            <a:off x="46799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a:t>
            </a:r>
            <a:r>
              <a:rPr lang="zh-CN" altLang="en-US" sz="1400">
                <a:solidFill>
                  <a:schemeClr val="tx1"/>
                </a:solidFill>
              </a:rPr>
              <a:t>务器</a:t>
            </a:r>
            <a:r>
              <a:rPr lang="en-US" altLang="zh-CN" sz="1400" dirty="0">
                <a:solidFill>
                  <a:schemeClr val="tx1"/>
                </a:solidFill>
              </a:rPr>
              <a:t>2</a:t>
            </a:r>
            <a:endParaRPr lang="zh-CN" altLang="zh-CN" sz="1400" dirty="0">
              <a:solidFill>
                <a:schemeClr val="tx1"/>
              </a:solidFill>
            </a:endParaRPr>
          </a:p>
        </p:txBody>
      </p:sp>
      <p:sp>
        <p:nvSpPr>
          <p:cNvPr id="25" name="Freeform 24"/>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2" name="Rectangle 26"/>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44" name="Line 28"/>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29"/>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6" name="Line 30"/>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7" name="Line 31"/>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8" name="Text Box 32"/>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49" name="Text Box 33"/>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50" name="Text Box 34"/>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51" name="Line 35"/>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Oval 36"/>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a:t>
            </a:r>
            <a:r>
              <a:rPr lang="zh-CN" altLang="en-US" sz="1400">
                <a:solidFill>
                  <a:schemeClr val="tx1"/>
                </a:solidFill>
              </a:rPr>
              <a:t>户 </a:t>
            </a:r>
            <a:r>
              <a:rPr lang="en-US" altLang="zh-CN" sz="1400">
                <a:solidFill>
                  <a:schemeClr val="tx1"/>
                </a:solidFill>
              </a:rPr>
              <a:t>1</a:t>
            </a:r>
            <a:endParaRPr lang="en-US" altLang="zh-CN" sz="1400" dirty="0">
              <a:solidFill>
                <a:schemeClr val="tx1"/>
              </a:solidFill>
            </a:endParaRPr>
          </a:p>
        </p:txBody>
      </p:sp>
      <p:sp>
        <p:nvSpPr>
          <p:cNvPr id="53" name="Text Box 37"/>
          <p:cNvSpPr txBox="1">
            <a:spLocks noChangeArrowheads="1"/>
          </p:cNvSpPr>
          <p:nvPr/>
        </p:nvSpPr>
        <p:spPr bwMode="auto">
          <a:xfrm>
            <a:off x="1510543" y="1430047"/>
            <a:ext cx="800219" cy="338554"/>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54" name="Text Box 38"/>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28" name="Rectangle 41"/>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30" name="Line 43"/>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44"/>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Line 45"/>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Line 46"/>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47"/>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35" name="Text Box 48"/>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36" name="Text Box 49"/>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37" name="Line 50"/>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8" name="Oval 51"/>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客</a:t>
            </a:r>
            <a:r>
              <a:rPr lang="zh-CN" altLang="en-US" sz="1400">
                <a:solidFill>
                  <a:schemeClr val="tx1"/>
                </a:solidFill>
              </a:rPr>
              <a:t>户 </a:t>
            </a:r>
            <a:r>
              <a:rPr lang="en-US" altLang="zh-CN" sz="1400" dirty="0">
                <a:solidFill>
                  <a:schemeClr val="tx1"/>
                </a:solidFill>
              </a:rPr>
              <a:t>2</a:t>
            </a:r>
          </a:p>
        </p:txBody>
      </p:sp>
      <p:sp>
        <p:nvSpPr>
          <p:cNvPr id="39" name="Text Box 52"/>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40" name="Text Box 53"/>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7763" y="1921717"/>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E9020B9E-C4A8-6629-3C10-325E18891971}"/>
              </a:ext>
            </a:extLst>
          </p:cNvPr>
          <p:cNvSpPr>
            <a:spLocks noGrp="1"/>
          </p:cNvSpPr>
          <p:nvPr>
            <p:ph type="title"/>
          </p:nvPr>
        </p:nvSpPr>
        <p:spPr>
          <a:xfrm>
            <a:off x="612000" y="144000"/>
            <a:ext cx="7920000" cy="341632"/>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50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500"/>
                            </p:stCondLst>
                            <p:childTnLst>
                              <p:par>
                                <p:cTn id="8" presetID="35" presetClass="emph" presetSubtype="0" repeatCount="4000" fill="hold" nodeType="afterEffect">
                                  <p:stCondLst>
                                    <p:cond delay="0"/>
                                  </p:stCondLst>
                                  <p:childTnLst>
                                    <p:anim calcmode="discrete" valueType="str">
                                      <p:cBhvr>
                                        <p:cTn id="9"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11184</TotalTime>
  <Words>14971</Words>
  <Application>Microsoft Office PowerPoint</Application>
  <PresentationFormat>全屏显示(16:9)</PresentationFormat>
  <Paragraphs>2103</Paragraphs>
  <Slides>142</Slides>
  <Notes>45</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142</vt:i4>
      </vt:variant>
    </vt:vector>
  </HeadingPairs>
  <TitlesOfParts>
    <vt:vector size="151" baseType="lpstr">
      <vt:lpstr>微软雅黑</vt:lpstr>
      <vt:lpstr>Times New Roman</vt:lpstr>
      <vt:lpstr>Arial</vt:lpstr>
      <vt:lpstr>Wingdings</vt:lpstr>
      <vt:lpstr>Symbol</vt:lpstr>
      <vt:lpstr>Montserrat</vt:lpstr>
      <vt:lpstr>微软雅黑 Light</vt:lpstr>
      <vt:lpstr>Office 主题​​</vt:lpstr>
      <vt:lpstr>VISIO</vt:lpstr>
      <vt:lpstr>PowerPoint 演示文稿</vt:lpstr>
      <vt:lpstr>PowerPoint 演示文稿</vt:lpstr>
      <vt:lpstr>1.1 计算机网络在信息时代中的作用</vt:lpstr>
      <vt:lpstr>PowerPoint 演示文稿</vt:lpstr>
      <vt:lpstr>PowerPoint 演示文稿</vt:lpstr>
      <vt:lpstr>PowerPoint 演示文稿</vt:lpstr>
      <vt:lpstr>互联网 Internet</vt:lpstr>
      <vt:lpstr>互联网 Internet</vt:lpstr>
      <vt:lpstr>互联网 Internet</vt:lpstr>
      <vt:lpstr>互联网+ Internet Plus</vt:lpstr>
      <vt:lpstr>互联网+ Internet Plus</vt:lpstr>
      <vt:lpstr>课后思考</vt:lpstr>
      <vt:lpstr>1.2 互联网概述</vt:lpstr>
      <vt:lpstr>1.2.1  网络的网络</vt:lpstr>
      <vt:lpstr>1.2.1  网络的网络</vt:lpstr>
      <vt:lpstr>1.2.1  网络的网络</vt:lpstr>
      <vt:lpstr>1.2.2  互联网基础结构发展的三个阶段</vt:lpstr>
      <vt:lpstr>第一阶段：1969 – 1990 </vt:lpstr>
      <vt:lpstr>第一阶段：1969 – 1990 </vt:lpstr>
      <vt:lpstr>第二阶段：1985 – 1993 </vt:lpstr>
      <vt:lpstr>第二阶段：1985 – 1993 </vt:lpstr>
      <vt:lpstr>第三阶段：1993 – </vt:lpstr>
      <vt:lpstr>第三阶段：1993 –</vt:lpstr>
      <vt:lpstr>第三阶段：1993 –</vt:lpstr>
      <vt:lpstr>万维网 WWW</vt:lpstr>
      <vt:lpstr>课后作业</vt:lpstr>
      <vt:lpstr>1.2.3  互联网的标准化工作</vt:lpstr>
      <vt:lpstr>标准发表：以 RFC 的形式</vt:lpstr>
      <vt:lpstr>标准化过程</vt:lpstr>
      <vt:lpstr>1.3 互联网的组成</vt:lpstr>
      <vt:lpstr>1.3  互联网的组成</vt:lpstr>
      <vt:lpstr>1.3.1  互联网的边缘部分</vt:lpstr>
      <vt:lpstr>1.3.1  互联网的边缘部分</vt:lpstr>
      <vt:lpstr>计算机之间的通信</vt:lpstr>
      <vt:lpstr>1.  客户-服务器方式（C/S 方式）</vt:lpstr>
      <vt:lpstr>客户程序和服务器程序主要特点</vt:lpstr>
      <vt:lpstr>2. 对等连接方式（P2P 方式）</vt:lpstr>
      <vt:lpstr>1.3.2  互联网的核心部分</vt:lpstr>
      <vt:lpstr>1.3.2  互联网的核心部分</vt:lpstr>
      <vt:lpstr>1. 电路交换 Circuit Switching</vt:lpstr>
      <vt:lpstr>1. 电路交换 Circuit Switching</vt:lpstr>
      <vt:lpstr>1. 电路交换 Circuit Switching</vt:lpstr>
      <vt:lpstr>1. 电路交换 Circuit Switching</vt:lpstr>
      <vt:lpstr>1. 电路交换 Circuit Switching</vt:lpstr>
      <vt:lpstr>2. 分组交换 Packet Switching</vt:lpstr>
      <vt:lpstr>2. 分组交换 Packet Switching</vt:lpstr>
      <vt:lpstr>2. 分组交换 Packet Switching</vt:lpstr>
      <vt:lpstr>2. 分组交换 Packet Switching</vt:lpstr>
      <vt:lpstr>PowerPoint 演示文稿</vt:lpstr>
      <vt:lpstr>PowerPoint 演示文稿</vt:lpstr>
      <vt:lpstr>每个分组独立选择传输路径</vt:lpstr>
      <vt:lpstr>分组的存储转发过程</vt:lpstr>
      <vt:lpstr>2. 分组交换 Packet Switching</vt:lpstr>
      <vt:lpstr>3. 报文交换 Message Switching</vt:lpstr>
      <vt:lpstr>电路交换、报文交换和分组交换的主要区别</vt:lpstr>
      <vt:lpstr>三种交换方式的比较</vt:lpstr>
      <vt:lpstr>1.4  计算机网络在我国的发展</vt:lpstr>
      <vt:lpstr>1.4  计算机网络在我国的发展</vt:lpstr>
      <vt:lpstr>1.4  计算机网络在我国的发展</vt:lpstr>
      <vt:lpstr>对我国互联网事业发展影响较大的人物和事件</vt:lpstr>
      <vt:lpstr>对我国互联网事业发展影响较大的人物和事件</vt:lpstr>
      <vt:lpstr>1.5 计算机网络的类别</vt:lpstr>
      <vt:lpstr>1.5.1  计算机网络的定义</vt:lpstr>
      <vt:lpstr>1.5.1  计算机网络的定义</vt:lpstr>
      <vt:lpstr>1.5.2  几种不同类别的计算机网络</vt:lpstr>
      <vt:lpstr>1. 按照网络的作用范围进行分类</vt:lpstr>
      <vt:lpstr>2. 按照网络的使用者进行分类</vt:lpstr>
      <vt:lpstr>3. 用来把用户接入到互联网的网络</vt:lpstr>
      <vt:lpstr>1.6 计算机网络的性能</vt:lpstr>
      <vt:lpstr>1.6.1  性能指标 Specification</vt:lpstr>
      <vt:lpstr>1. 速率 bit rate</vt:lpstr>
      <vt:lpstr>2. 带宽 bandwidth</vt:lpstr>
      <vt:lpstr>3. 吞吐量 (throughput)</vt:lpstr>
      <vt:lpstr>4. 时延 delay</vt:lpstr>
      <vt:lpstr>4.1 发送时延</vt:lpstr>
      <vt:lpstr>4.2 传播时延</vt:lpstr>
      <vt:lpstr>4.3 处理时延</vt:lpstr>
      <vt:lpstr>4.4 排队时延</vt:lpstr>
      <vt:lpstr>4. 时延 delay</vt:lpstr>
      <vt:lpstr>4. 时延 delay</vt:lpstr>
      <vt:lpstr>[练习]</vt:lpstr>
      <vt:lpstr>[练习]</vt:lpstr>
      <vt:lpstr>[练习]</vt:lpstr>
      <vt:lpstr>5. 时延带宽积</vt:lpstr>
      <vt:lpstr>6. 往返时间 RTT</vt:lpstr>
      <vt:lpstr>[练习]</vt:lpstr>
      <vt:lpstr>[练习]</vt:lpstr>
      <vt:lpstr>6. 往返时间 RTT</vt:lpstr>
      <vt:lpstr>7. 利用率 Utilization</vt:lpstr>
      <vt:lpstr>7. 利用率 Utilization</vt:lpstr>
      <vt:lpstr>1.6.2  非性能特征</vt:lpstr>
      <vt:lpstr>1.7 计算机网络体系结构</vt:lpstr>
      <vt:lpstr>1.7.1  计算机网络体系结构的形成</vt:lpstr>
      <vt:lpstr>1.7.1  计算机网络体系结构的形成</vt:lpstr>
      <vt:lpstr>开放系统互连参考模型 OSI/RM</vt:lpstr>
      <vt:lpstr>开放系统互连参考模型 OSI/RM</vt:lpstr>
      <vt:lpstr>两种国际标准 Standards</vt:lpstr>
      <vt:lpstr>1.7.2  协议与划分层次</vt:lpstr>
      <vt:lpstr>1.7.2  协议与划分层次</vt:lpstr>
      <vt:lpstr>[例] 两台主机通过网络传送文件</vt:lpstr>
      <vt:lpstr>[例] 两台主机通过网络传送文件</vt:lpstr>
      <vt:lpstr>[例] 两台主机通过网络传送文件</vt:lpstr>
      <vt:lpstr>分层的优点与缺点 Features</vt:lpstr>
      <vt:lpstr>各层主要功能 Functions</vt:lpstr>
      <vt:lpstr>体系结构 Architecture</vt:lpstr>
      <vt:lpstr>1.7.3  具有五层协议的体系结构</vt:lpstr>
      <vt:lpstr>各层的主要功能</vt:lpstr>
      <vt:lpstr>各层的主要功能</vt:lpstr>
      <vt:lpstr>各层的主要功能</vt:lpstr>
      <vt:lpstr>各层的主要功能</vt:lpstr>
      <vt:lpstr>各层的主要功能</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对等层与协议数据单元</vt:lpstr>
      <vt:lpstr>1.7.4  实体、协议、服务和服务访问点</vt:lpstr>
      <vt:lpstr>注意：协议和服务在概念上是不一样的</vt:lpstr>
      <vt:lpstr>相邻两层之间的关系</vt:lpstr>
      <vt:lpstr>协议很复杂，要应付所有异常情况</vt:lpstr>
      <vt:lpstr>1.7.5  TCP/IP 的体系结构</vt:lpstr>
      <vt:lpstr>TCP/IP 体系结构的另一种表示方法</vt:lpstr>
      <vt:lpstr>沙漏计时器形状的 TCP/IP 协议族</vt:lpstr>
      <vt:lpstr>互联网中客户-服务器工作方式</vt:lpstr>
      <vt:lpstr>同时运行多个服务器进程同时为多个客户进程提供服务</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817</cp:revision>
  <dcterms:created xsi:type="dcterms:W3CDTF">2018-07-18T08:51:30Z</dcterms:created>
  <dcterms:modified xsi:type="dcterms:W3CDTF">2026-08-29T12:56:19Z</dcterms:modified>
</cp:coreProperties>
</file>