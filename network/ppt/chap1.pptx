
<file path=[Content_Types].xml><?xml version="1.0" encoding="utf-8"?>
<Types xmlns="http://schemas.openxmlformats.org/package/2006/content-types">
  <Default Extension="bin" ContentType="application/vnd.openxmlformats-officedocument.oleObject"/>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2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 id="2147483680" r:id="rId2"/>
  </p:sldMasterIdLst>
  <p:notesMasterIdLst>
    <p:notesMasterId r:id="rId152"/>
  </p:notesMasterIdLst>
  <p:sldIdLst>
    <p:sldId id="257" r:id="rId3"/>
    <p:sldId id="256" r:id="rId4"/>
    <p:sldId id="289" r:id="rId5"/>
    <p:sldId id="480" r:id="rId6"/>
    <p:sldId id="293" r:id="rId7"/>
    <p:sldId id="294" r:id="rId8"/>
    <p:sldId id="481" r:id="rId9"/>
    <p:sldId id="485" r:id="rId10"/>
    <p:sldId id="483" r:id="rId11"/>
    <p:sldId id="486" r:id="rId12"/>
    <p:sldId id="487" r:id="rId13"/>
    <p:sldId id="488" r:id="rId14"/>
    <p:sldId id="304" r:id="rId15"/>
    <p:sldId id="489" r:id="rId16"/>
    <p:sldId id="492" r:id="rId17"/>
    <p:sldId id="493" r:id="rId18"/>
    <p:sldId id="494" r:id="rId19"/>
    <p:sldId id="463" r:id="rId20"/>
    <p:sldId id="311" r:id="rId21"/>
    <p:sldId id="496" r:id="rId22"/>
    <p:sldId id="497" r:id="rId23"/>
    <p:sldId id="508" r:id="rId24"/>
    <p:sldId id="499" r:id="rId25"/>
    <p:sldId id="502" r:id="rId26"/>
    <p:sldId id="503" r:id="rId27"/>
    <p:sldId id="324" r:id="rId28"/>
    <p:sldId id="505" r:id="rId29"/>
    <p:sldId id="514" r:id="rId30"/>
    <p:sldId id="329" r:id="rId31"/>
    <p:sldId id="515" r:id="rId32"/>
    <p:sldId id="516" r:id="rId33"/>
    <p:sldId id="518" r:id="rId34"/>
    <p:sldId id="519" r:id="rId35"/>
    <p:sldId id="520" r:id="rId36"/>
    <p:sldId id="521" r:id="rId37"/>
    <p:sldId id="522" r:id="rId38"/>
    <p:sldId id="523" r:id="rId39"/>
    <p:sldId id="524" r:id="rId40"/>
    <p:sldId id="525" r:id="rId41"/>
    <p:sldId id="526" r:id="rId42"/>
    <p:sldId id="527" r:id="rId43"/>
    <p:sldId id="528" r:id="rId44"/>
    <p:sldId id="529" r:id="rId45"/>
    <p:sldId id="530" r:id="rId46"/>
    <p:sldId id="531" r:id="rId47"/>
    <p:sldId id="533" r:id="rId48"/>
    <p:sldId id="532" r:id="rId49"/>
    <p:sldId id="534" r:id="rId50"/>
    <p:sldId id="535" r:id="rId51"/>
    <p:sldId id="536" r:id="rId52"/>
    <p:sldId id="359" r:id="rId53"/>
    <p:sldId id="360" r:id="rId54"/>
    <p:sldId id="475" r:id="rId55"/>
    <p:sldId id="476" r:id="rId56"/>
    <p:sldId id="477" r:id="rId57"/>
    <p:sldId id="366" r:id="rId58"/>
    <p:sldId id="538" r:id="rId59"/>
    <p:sldId id="478" r:id="rId60"/>
    <p:sldId id="539" r:id="rId61"/>
    <p:sldId id="540" r:id="rId62"/>
    <p:sldId id="541" r:id="rId63"/>
    <p:sldId id="542" r:id="rId64"/>
    <p:sldId id="543" r:id="rId65"/>
    <p:sldId id="544" r:id="rId66"/>
    <p:sldId id="374" r:id="rId67"/>
    <p:sldId id="545" r:id="rId68"/>
    <p:sldId id="546" r:id="rId69"/>
    <p:sldId id="547" r:id="rId70"/>
    <p:sldId id="551" r:id="rId71"/>
    <p:sldId id="549" r:id="rId72"/>
    <p:sldId id="550" r:id="rId73"/>
    <p:sldId id="382" r:id="rId74"/>
    <p:sldId id="552" r:id="rId75"/>
    <p:sldId id="553" r:id="rId76"/>
    <p:sldId id="554" r:id="rId77"/>
    <p:sldId id="555" r:id="rId78"/>
    <p:sldId id="556" r:id="rId79"/>
    <p:sldId id="558" r:id="rId80"/>
    <p:sldId id="560" r:id="rId81"/>
    <p:sldId id="561" r:id="rId82"/>
    <p:sldId id="562" r:id="rId83"/>
    <p:sldId id="563" r:id="rId84"/>
    <p:sldId id="396" r:id="rId85"/>
    <p:sldId id="564" r:id="rId86"/>
    <p:sldId id="565" r:id="rId87"/>
    <p:sldId id="566" r:id="rId88"/>
    <p:sldId id="567" r:id="rId89"/>
    <p:sldId id="568" r:id="rId90"/>
    <p:sldId id="569" r:id="rId91"/>
    <p:sldId id="571" r:id="rId92"/>
    <p:sldId id="570" r:id="rId93"/>
    <p:sldId id="572" r:id="rId94"/>
    <p:sldId id="573" r:id="rId95"/>
    <p:sldId id="574" r:id="rId96"/>
    <p:sldId id="408" r:id="rId97"/>
    <p:sldId id="575" r:id="rId98"/>
    <p:sldId id="576" r:id="rId99"/>
    <p:sldId id="577" r:id="rId100"/>
    <p:sldId id="579" r:id="rId101"/>
    <p:sldId id="580" r:id="rId102"/>
    <p:sldId id="581" r:id="rId103"/>
    <p:sldId id="582" r:id="rId104"/>
    <p:sldId id="583" r:id="rId105"/>
    <p:sldId id="419" r:id="rId106"/>
    <p:sldId id="585" r:id="rId107"/>
    <p:sldId id="586" r:id="rId108"/>
    <p:sldId id="591" r:id="rId109"/>
    <p:sldId id="588" r:id="rId110"/>
    <p:sldId id="589" r:id="rId111"/>
    <p:sldId id="590" r:id="rId112"/>
    <p:sldId id="593" r:id="rId113"/>
    <p:sldId id="596" r:id="rId114"/>
    <p:sldId id="597" r:id="rId115"/>
    <p:sldId id="598" r:id="rId116"/>
    <p:sldId id="599" r:id="rId117"/>
    <p:sldId id="600" r:id="rId118"/>
    <p:sldId id="601" r:id="rId119"/>
    <p:sldId id="602" r:id="rId120"/>
    <p:sldId id="606" r:id="rId121"/>
    <p:sldId id="605" r:id="rId122"/>
    <p:sldId id="607" r:id="rId123"/>
    <p:sldId id="608" r:id="rId124"/>
    <p:sldId id="610" r:id="rId125"/>
    <p:sldId id="613" r:id="rId126"/>
    <p:sldId id="615" r:id="rId127"/>
    <p:sldId id="616" r:id="rId128"/>
    <p:sldId id="618" r:id="rId129"/>
    <p:sldId id="619" r:id="rId130"/>
    <p:sldId id="620" r:id="rId131"/>
    <p:sldId id="621" r:id="rId132"/>
    <p:sldId id="623" r:id="rId133"/>
    <p:sldId id="625" r:id="rId134"/>
    <p:sldId id="624" r:id="rId135"/>
    <p:sldId id="627" r:id="rId136"/>
    <p:sldId id="628" r:id="rId137"/>
    <p:sldId id="630" r:id="rId138"/>
    <p:sldId id="631" r:id="rId139"/>
    <p:sldId id="632" r:id="rId140"/>
    <p:sldId id="633" r:id="rId141"/>
    <p:sldId id="634" r:id="rId142"/>
    <p:sldId id="635" r:id="rId143"/>
    <p:sldId id="636" r:id="rId144"/>
    <p:sldId id="637" r:id="rId145"/>
    <p:sldId id="639" r:id="rId146"/>
    <p:sldId id="641" r:id="rId147"/>
    <p:sldId id="642" r:id="rId148"/>
    <p:sldId id="643" r:id="rId149"/>
    <p:sldId id="645" r:id="rId150"/>
    <p:sldId id="646" r:id="rId151"/>
  </p:sldIdLst>
  <p:sldSz cx="9144000" cy="5143500" type="screen16x9"/>
  <p:notesSz cx="6858000" cy="9144000"/>
  <p:embeddedFontLst>
    <p:embeddedFont>
      <p:font typeface="黑体" panose="02010609060101010101" pitchFamily="49" charset="-122"/>
      <p:regular r:id="rId153"/>
    </p:embeddedFont>
    <p:embeddedFont>
      <p:font typeface="微软雅黑" panose="020B0503020204020204" pitchFamily="34" charset="-122"/>
      <p:regular r:id="rId154"/>
      <p:bold r:id="rId155"/>
    </p:embeddedFont>
  </p:embeddedFontLst>
  <p:defaultTextStyle>
    <a:defPPr>
      <a:defRPr lang="zh-CN"/>
    </a:defPPr>
    <a:lvl1pPr algn="l" rtl="0" fontAlgn="base">
      <a:spcBef>
        <a:spcPct val="0"/>
      </a:spcBef>
      <a:spcAft>
        <a:spcPct val="0"/>
      </a:spcAft>
      <a:defRPr kern="1200">
        <a:solidFill>
          <a:schemeClr val="tx1"/>
        </a:solidFill>
        <a:latin typeface="Calibri" pitchFamily="34" charset="0"/>
        <a:ea typeface="宋体" charset="-122"/>
        <a:cs typeface="+mn-cs"/>
      </a:defRPr>
    </a:lvl1pPr>
    <a:lvl2pPr marL="457200" algn="l" rtl="0" fontAlgn="base">
      <a:spcBef>
        <a:spcPct val="0"/>
      </a:spcBef>
      <a:spcAft>
        <a:spcPct val="0"/>
      </a:spcAft>
      <a:defRPr kern="1200">
        <a:solidFill>
          <a:schemeClr val="tx1"/>
        </a:solidFill>
        <a:latin typeface="Calibri" pitchFamily="34" charset="0"/>
        <a:ea typeface="宋体" charset="-122"/>
        <a:cs typeface="+mn-cs"/>
      </a:defRPr>
    </a:lvl2pPr>
    <a:lvl3pPr marL="914400" algn="l" rtl="0" fontAlgn="base">
      <a:spcBef>
        <a:spcPct val="0"/>
      </a:spcBef>
      <a:spcAft>
        <a:spcPct val="0"/>
      </a:spcAft>
      <a:defRPr kern="1200">
        <a:solidFill>
          <a:schemeClr val="tx1"/>
        </a:solidFill>
        <a:latin typeface="Calibri" pitchFamily="34" charset="0"/>
        <a:ea typeface="宋体" charset="-122"/>
        <a:cs typeface="+mn-cs"/>
      </a:defRPr>
    </a:lvl3pPr>
    <a:lvl4pPr marL="1371600" algn="l" rtl="0" fontAlgn="base">
      <a:spcBef>
        <a:spcPct val="0"/>
      </a:spcBef>
      <a:spcAft>
        <a:spcPct val="0"/>
      </a:spcAft>
      <a:defRPr kern="1200">
        <a:solidFill>
          <a:schemeClr val="tx1"/>
        </a:solidFill>
        <a:latin typeface="Calibri" pitchFamily="34" charset="0"/>
        <a:ea typeface="宋体" charset="-122"/>
        <a:cs typeface="+mn-cs"/>
      </a:defRPr>
    </a:lvl4pPr>
    <a:lvl5pPr marL="1828800" algn="l" rtl="0" fontAlgn="base">
      <a:spcBef>
        <a:spcPct val="0"/>
      </a:spcBef>
      <a:spcAft>
        <a:spcPct val="0"/>
      </a:spcAft>
      <a:defRPr kern="1200">
        <a:solidFill>
          <a:schemeClr val="tx1"/>
        </a:solidFill>
        <a:latin typeface="Calibri" pitchFamily="34" charset="0"/>
        <a:ea typeface="宋体" charset="-122"/>
        <a:cs typeface="+mn-cs"/>
      </a:defRPr>
    </a:lvl5pPr>
    <a:lvl6pPr marL="2286000" algn="l" defTabSz="914400" rtl="0" eaLnBrk="1" latinLnBrk="0" hangingPunct="1">
      <a:defRPr kern="1200">
        <a:solidFill>
          <a:schemeClr val="tx1"/>
        </a:solidFill>
        <a:latin typeface="Calibri" pitchFamily="34" charset="0"/>
        <a:ea typeface="宋体" charset="-122"/>
        <a:cs typeface="+mn-cs"/>
      </a:defRPr>
    </a:lvl6pPr>
    <a:lvl7pPr marL="2743200" algn="l" defTabSz="914400" rtl="0" eaLnBrk="1" latinLnBrk="0" hangingPunct="1">
      <a:defRPr kern="1200">
        <a:solidFill>
          <a:schemeClr val="tx1"/>
        </a:solidFill>
        <a:latin typeface="Calibri" pitchFamily="34" charset="0"/>
        <a:ea typeface="宋体" charset="-122"/>
        <a:cs typeface="+mn-cs"/>
      </a:defRPr>
    </a:lvl7pPr>
    <a:lvl8pPr marL="3200400" algn="l" defTabSz="914400" rtl="0" eaLnBrk="1" latinLnBrk="0" hangingPunct="1">
      <a:defRPr kern="1200">
        <a:solidFill>
          <a:schemeClr val="tx1"/>
        </a:solidFill>
        <a:latin typeface="Calibri" pitchFamily="34" charset="0"/>
        <a:ea typeface="宋体" charset="-122"/>
        <a:cs typeface="+mn-cs"/>
      </a:defRPr>
    </a:lvl8pPr>
    <a:lvl9pPr marL="3657600" algn="l" defTabSz="914400" rtl="0" eaLnBrk="1" latinLnBrk="0" hangingPunct="1">
      <a:defRPr kern="1200">
        <a:solidFill>
          <a:schemeClr val="tx1"/>
        </a:solidFill>
        <a:latin typeface="Calibri" pitchFamily="34" charset="0"/>
        <a:ea typeface="宋体" charset="-122"/>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9FA"/>
    <a:srgbClr val="84CFF5"/>
    <a:srgbClr val="0000FF"/>
    <a:srgbClr val="9900CC"/>
    <a:srgbClr val="17375E"/>
    <a:srgbClr val="FFFF99"/>
    <a:srgbClr val="CC00CC"/>
    <a:srgbClr val="000066"/>
    <a:srgbClr val="CC6600"/>
    <a:srgbClr val="99FF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autoAdjust="0"/>
    <p:restoredTop sz="81469" autoAdjust="0"/>
  </p:normalViewPr>
  <p:slideViewPr>
    <p:cSldViewPr snapToGrid="0">
      <p:cViewPr varScale="1">
        <p:scale>
          <a:sx n="149" d="100"/>
          <a:sy n="149" d="100"/>
        </p:scale>
        <p:origin x="444" y="126"/>
      </p:cViewPr>
      <p:guideLst>
        <p:guide orient="horz" pos="162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tableStyles" Target="tableStyles.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50" Type="http://schemas.openxmlformats.org/officeDocument/2006/relationships/slide" Target="slides/slide148.xml"/><Relationship Id="rId155" Type="http://schemas.openxmlformats.org/officeDocument/2006/relationships/font" Target="fonts/font3.fntdata"/><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presProps" Target="pres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viewProps" Target="viewProp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notesMaster" Target="notesMasters/notesMaster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font" Target="fonts/font1.fntdata"/><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font" Target="fonts/font2.fntdata"/><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s>
</file>

<file path=ppt/diagrams/_rels/data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image" Target="../media/image12.jpeg"/><Relationship Id="rId6" Type="http://schemas.openxmlformats.org/officeDocument/2006/relationships/image" Target="../media/image17.jpeg"/><Relationship Id="rId5" Type="http://schemas.openxmlformats.org/officeDocument/2006/relationships/image" Target="../media/image16.jpeg"/><Relationship Id="rId4" Type="http://schemas.openxmlformats.org/officeDocument/2006/relationships/image" Target="../media/image15.jpeg"/></Relationships>
</file>

<file path=ppt/diagrams/_rels/drawing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image" Target="../media/image12.jpeg"/><Relationship Id="rId6" Type="http://schemas.openxmlformats.org/officeDocument/2006/relationships/image" Target="../media/image17.jpeg"/><Relationship Id="rId5" Type="http://schemas.openxmlformats.org/officeDocument/2006/relationships/image" Target="../media/image16.jpeg"/><Relationship Id="rId4" Type="http://schemas.openxmlformats.org/officeDocument/2006/relationships/image" Target="../media/image15.jpe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0F94BBA-562D-4F8A-8EA1-F0DD8C0FE142}" type="doc">
      <dgm:prSet loTypeId="urn:microsoft.com/office/officeart/2005/8/layout/vList5" loCatId="list" qsTypeId="urn:microsoft.com/office/officeart/2005/8/quickstyle/simple1" qsCatId="simple" csTypeId="urn:microsoft.com/office/officeart/2005/8/colors/colorful5" csCatId="colorful" phldr="1"/>
      <dgm:spPr/>
      <dgm:t>
        <a:bodyPr/>
        <a:lstStyle/>
        <a:p>
          <a:endParaRPr lang="zh-CN" altLang="en-US"/>
        </a:p>
      </dgm:t>
    </dgm:pt>
    <dgm:pt modelId="{7CDF3C8E-3DA3-4205-8B08-51AAE2DFD477}">
      <dgm:prSet phldrT="[文本]" custT="1"/>
      <dgm:spPr/>
      <dgm:t>
        <a:bodyPr/>
        <a:lstStyle/>
        <a:p>
          <a:r>
            <a:rPr lang="zh-CN" altLang="en-US" sz="1800" b="1" dirty="0">
              <a:latin typeface="微软雅黑" panose="020B0503020204020204" pitchFamily="34" charset="-122"/>
              <a:ea typeface="微软雅黑" panose="020B0503020204020204" pitchFamily="34" charset="-122"/>
            </a:rPr>
            <a:t>应用和服务</a:t>
          </a:r>
        </a:p>
      </dgm:t>
    </dgm:pt>
    <dgm:pt modelId="{E7B806CA-7E9B-4992-937F-C6125327F8DF}" type="parTrans" cxnId="{00E4D1B0-83AC-4FA5-8F83-AFD18DCE943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8C81328-4AA1-4EFD-AF3D-4C6632E40ED9}" type="sibTrans" cxnId="{00E4D1B0-83AC-4FA5-8F83-AFD18DCE943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F1DE1B7-DF07-4DD5-A0B2-C4A32C7C190F}">
      <dgm:prSet phldrT="[文本]" custT="1"/>
      <dgm:spPr/>
      <dgm:t>
        <a:bodyPr/>
        <a:lstStyle/>
        <a:p>
          <a:r>
            <a:rPr lang="zh-CN" altLang="en-US" sz="1800" b="1" dirty="0">
              <a:latin typeface="微软雅黑" panose="020B0503020204020204" pitchFamily="34" charset="-122"/>
              <a:ea typeface="微软雅黑" panose="020B0503020204020204" pitchFamily="34" charset="-122"/>
            </a:rPr>
            <a:t>游戏，视频，社交，电子邮件，购物，网店，</a:t>
          </a:r>
        </a:p>
      </dgm:t>
    </dgm:pt>
    <dgm:pt modelId="{E8365B7B-D7B6-46DA-93F2-FDA360E9CCD9}" type="parTrans" cxnId="{DEEE5967-AEB5-482E-8DCA-A7606141059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A751A11-451E-4937-8507-E37833BF1584}" type="sibTrans" cxnId="{DEEE5967-AEB5-482E-8DCA-A7606141059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F2D79E-B77B-4801-9814-D0986614D669}">
      <dgm:prSet phldrT="[文本]" custT="1"/>
      <dgm:spPr/>
      <dgm:t>
        <a:bodyPr/>
        <a:lstStyle/>
        <a:p>
          <a:r>
            <a:rPr lang="zh-CN" altLang="en-US" sz="1800" b="1" dirty="0">
              <a:latin typeface="微软雅黑" panose="020B0503020204020204" pitchFamily="34" charset="-122"/>
              <a:ea typeface="微软雅黑" panose="020B0503020204020204" pitchFamily="34" charset="-122"/>
            </a:rPr>
            <a:t>工作原理</a:t>
          </a:r>
        </a:p>
      </dgm:t>
    </dgm:pt>
    <dgm:pt modelId="{8814CAC7-408B-431F-91F4-2E1970C6CD2D}" type="parTrans" cxnId="{39C0FB80-7424-4111-AA07-4A4DF2558C5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AAA26BD-D3CD-4DAD-BCB9-33F2641ECC77}" type="sibTrans" cxnId="{39C0FB80-7424-4111-AA07-4A4DF2558C5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AF05E0F-531B-4F36-BF27-1A9E3D95F0DC}">
      <dgm:prSet phldrT="[文本]" custT="1"/>
      <dgm:spPr/>
      <dgm:t>
        <a:bodyPr/>
        <a:lstStyle/>
        <a:p>
          <a:r>
            <a:rPr lang="zh-CN" altLang="en-US" sz="1800" b="1" dirty="0">
              <a:latin typeface="微软雅黑" panose="020B0503020204020204" pitchFamily="34" charset="-122"/>
              <a:ea typeface="微软雅黑" panose="020B0503020204020204" pitchFamily="34" charset="-122"/>
            </a:rPr>
            <a:t>互连结构，交换技术，</a:t>
          </a:r>
        </a:p>
      </dgm:t>
    </dgm:pt>
    <dgm:pt modelId="{FDDE4820-BFF2-48B4-90C6-7F081C19A177}" type="parTrans" cxnId="{0D78AA94-77C1-47AC-89CC-003F8E70C9D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A4CB1BB-2F14-4944-AC76-135C983A0060}" type="sibTrans" cxnId="{0D78AA94-77C1-47AC-89CC-003F8E70C9D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7011F1-FC13-4B35-970D-4933B3548D98}">
      <dgm:prSet phldrT="[文本]" custT="1"/>
      <dgm:spPr/>
      <dgm:t>
        <a:bodyPr/>
        <a:lstStyle/>
        <a:p>
          <a:r>
            <a:rPr lang="en-US" altLang="zh-CN" sz="1800" b="1" dirty="0">
              <a:latin typeface="微软雅黑" panose="020B0503020204020204" pitchFamily="34" charset="-122"/>
              <a:ea typeface="微软雅黑" panose="020B0503020204020204" pitchFamily="34" charset="-122"/>
            </a:rPr>
            <a:t>TCP/IP </a:t>
          </a:r>
          <a:r>
            <a:rPr lang="zh-CN" altLang="en-US" sz="1800" b="1" dirty="0">
              <a:latin typeface="微软雅黑" panose="020B0503020204020204" pitchFamily="34" charset="-122"/>
              <a:ea typeface="微软雅黑" panose="020B0503020204020204" pitchFamily="34" charset="-122"/>
            </a:rPr>
            <a:t>体系结构与协议，</a:t>
          </a:r>
          <a:r>
            <a:rPr lang="en-US" altLang="zh-CN" sz="1800" b="1" dirty="0">
              <a:latin typeface="微软雅黑" panose="020B0503020204020204" pitchFamily="34" charset="-122"/>
              <a:ea typeface="微软雅黑" panose="020B0503020204020204" pitchFamily="34" charset="-122"/>
            </a:rPr>
            <a:t>…</a:t>
          </a:r>
          <a:endParaRPr lang="zh-CN" altLang="en-US" sz="1800" b="1" dirty="0">
            <a:latin typeface="微软雅黑" panose="020B0503020204020204" pitchFamily="34" charset="-122"/>
            <a:ea typeface="微软雅黑" panose="020B0503020204020204" pitchFamily="34" charset="-122"/>
          </a:endParaRPr>
        </a:p>
      </dgm:t>
    </dgm:pt>
    <dgm:pt modelId="{D4CF5806-C370-498E-9708-685A9D27A010}" type="parTrans" cxnId="{2FBB9C4A-7FE4-4B09-90BC-7F76EE0C06AA}">
      <dgm:prSet/>
      <dgm:spPr/>
      <dgm:t>
        <a:bodyPr/>
        <a:lstStyle/>
        <a:p>
          <a:endParaRPr lang="zh-CN" altLang="en-US"/>
        </a:p>
      </dgm:t>
    </dgm:pt>
    <dgm:pt modelId="{BF99E28F-22E5-4508-BE06-92304C714E8C}" type="sibTrans" cxnId="{2FBB9C4A-7FE4-4B09-90BC-7F76EE0C06AA}">
      <dgm:prSet/>
      <dgm:spPr/>
      <dgm:t>
        <a:bodyPr/>
        <a:lstStyle/>
        <a:p>
          <a:endParaRPr lang="zh-CN" altLang="en-US"/>
        </a:p>
      </dgm:t>
    </dgm:pt>
    <dgm:pt modelId="{75DD56ED-85A2-4B92-A4F6-D22B1E14918C}">
      <dgm:prSet phldrT="[文本]" custT="1"/>
      <dgm:spPr/>
      <dgm:t>
        <a:bodyPr/>
        <a:lstStyle/>
        <a:p>
          <a:r>
            <a:rPr lang="zh-CN" altLang="en-US" sz="1800" b="1" dirty="0">
              <a:latin typeface="微软雅黑" panose="020B0503020204020204" pitchFamily="34" charset="-122"/>
              <a:ea typeface="微软雅黑" panose="020B0503020204020204" pitchFamily="34" charset="-122"/>
            </a:rPr>
            <a:t>网银，无现金支付，数字钱包，数字货币，</a:t>
          </a:r>
          <a:r>
            <a:rPr lang="en-US" altLang="en-US" sz="1800" b="1" dirty="0">
              <a:latin typeface="微软雅黑" panose="020B0503020204020204" pitchFamily="34" charset="-122"/>
              <a:ea typeface="微软雅黑" panose="020B0503020204020204" pitchFamily="34" charset="-122"/>
            </a:rPr>
            <a:t>…</a:t>
          </a:r>
          <a:endParaRPr lang="zh-CN" altLang="en-US" sz="1800" b="1" dirty="0">
            <a:latin typeface="微软雅黑" panose="020B0503020204020204" pitchFamily="34" charset="-122"/>
            <a:ea typeface="微软雅黑" panose="020B0503020204020204" pitchFamily="34" charset="-122"/>
          </a:endParaRPr>
        </a:p>
      </dgm:t>
    </dgm:pt>
    <dgm:pt modelId="{7D2D1F57-8FF9-4D42-AB44-C84EBAB93A8B}" type="parTrans" cxnId="{798D9546-FC7B-4CE6-A446-2C1406B131B7}">
      <dgm:prSet/>
      <dgm:spPr/>
      <dgm:t>
        <a:bodyPr/>
        <a:lstStyle/>
        <a:p>
          <a:endParaRPr lang="zh-CN" altLang="en-US"/>
        </a:p>
      </dgm:t>
    </dgm:pt>
    <dgm:pt modelId="{6B90A6D3-23CD-4FAE-BBD2-83D19CE03B68}" type="sibTrans" cxnId="{798D9546-FC7B-4CE6-A446-2C1406B131B7}">
      <dgm:prSet/>
      <dgm:spPr/>
      <dgm:t>
        <a:bodyPr/>
        <a:lstStyle/>
        <a:p>
          <a:endParaRPr lang="zh-CN" altLang="en-US"/>
        </a:p>
      </dgm:t>
    </dgm:pt>
    <dgm:pt modelId="{0C796AA5-A0D9-4667-A9AC-D1A03A87BD07}" type="pres">
      <dgm:prSet presAssocID="{60F94BBA-562D-4F8A-8EA1-F0DD8C0FE142}" presName="Name0" presStyleCnt="0">
        <dgm:presLayoutVars>
          <dgm:dir/>
          <dgm:animLvl val="lvl"/>
          <dgm:resizeHandles val="exact"/>
        </dgm:presLayoutVars>
      </dgm:prSet>
      <dgm:spPr/>
    </dgm:pt>
    <dgm:pt modelId="{E9D145BA-D7C5-4918-95CD-7443B1876BAB}" type="pres">
      <dgm:prSet presAssocID="{7CDF3C8E-3DA3-4205-8B08-51AAE2DFD477}" presName="linNode" presStyleCnt="0"/>
      <dgm:spPr/>
    </dgm:pt>
    <dgm:pt modelId="{A8F7779F-E35A-4E50-A04D-CB1AA6356A21}" type="pres">
      <dgm:prSet presAssocID="{7CDF3C8E-3DA3-4205-8B08-51AAE2DFD477}" presName="parentText" presStyleLbl="node1" presStyleIdx="0" presStyleCnt="2" custScaleX="70882" custLinFactNeighborX="192">
        <dgm:presLayoutVars>
          <dgm:chMax val="1"/>
          <dgm:bulletEnabled val="1"/>
        </dgm:presLayoutVars>
      </dgm:prSet>
      <dgm:spPr/>
    </dgm:pt>
    <dgm:pt modelId="{C300B65F-B770-4533-9743-A8EABAF11F51}" type="pres">
      <dgm:prSet presAssocID="{7CDF3C8E-3DA3-4205-8B08-51AAE2DFD477}" presName="descendantText" presStyleLbl="alignAccFollowNode1" presStyleIdx="0" presStyleCnt="2">
        <dgm:presLayoutVars>
          <dgm:bulletEnabled val="1"/>
        </dgm:presLayoutVars>
      </dgm:prSet>
      <dgm:spPr/>
    </dgm:pt>
    <dgm:pt modelId="{9A842556-6E53-4044-98D2-8607331EB814}" type="pres">
      <dgm:prSet presAssocID="{C8C81328-4AA1-4EFD-AF3D-4C6632E40ED9}" presName="sp" presStyleCnt="0"/>
      <dgm:spPr/>
    </dgm:pt>
    <dgm:pt modelId="{553F6A7B-0613-44E0-B9FC-D72D4936C612}" type="pres">
      <dgm:prSet presAssocID="{7FF2D79E-B77B-4801-9814-D0986614D669}" presName="linNode" presStyleCnt="0"/>
      <dgm:spPr/>
    </dgm:pt>
    <dgm:pt modelId="{46CFA115-E89F-48DD-8ECE-95299141CF01}" type="pres">
      <dgm:prSet presAssocID="{7FF2D79E-B77B-4801-9814-D0986614D669}" presName="parentText" presStyleLbl="node1" presStyleIdx="1" presStyleCnt="2" custScaleX="70882">
        <dgm:presLayoutVars>
          <dgm:chMax val="1"/>
          <dgm:bulletEnabled val="1"/>
        </dgm:presLayoutVars>
      </dgm:prSet>
      <dgm:spPr/>
    </dgm:pt>
    <dgm:pt modelId="{6AEF0EF9-F4C4-41ED-9DA7-A897E4EBD001}" type="pres">
      <dgm:prSet presAssocID="{7FF2D79E-B77B-4801-9814-D0986614D669}" presName="descendantText" presStyleLbl="alignAccFollowNode1" presStyleIdx="1" presStyleCnt="2">
        <dgm:presLayoutVars>
          <dgm:bulletEnabled val="1"/>
        </dgm:presLayoutVars>
      </dgm:prSet>
      <dgm:spPr/>
    </dgm:pt>
  </dgm:ptLst>
  <dgm:cxnLst>
    <dgm:cxn modelId="{B5D9C72B-D927-4816-8C9D-A13863DC4A92}" type="presOf" srcId="{75DD56ED-85A2-4B92-A4F6-D22B1E14918C}" destId="{C300B65F-B770-4533-9743-A8EABAF11F51}" srcOrd="0" destOrd="1" presId="urn:microsoft.com/office/officeart/2005/8/layout/vList5"/>
    <dgm:cxn modelId="{9DA57E61-3BD1-42BD-960F-B3C49C7D719E}" type="presOf" srcId="{DC7011F1-FC13-4B35-970D-4933B3548D98}" destId="{6AEF0EF9-F4C4-41ED-9DA7-A897E4EBD001}" srcOrd="0" destOrd="1" presId="urn:microsoft.com/office/officeart/2005/8/layout/vList5"/>
    <dgm:cxn modelId="{00125765-718B-4BB5-B1F4-311EF5F1DB6E}" type="presOf" srcId="{7FF2D79E-B77B-4801-9814-D0986614D669}" destId="{46CFA115-E89F-48DD-8ECE-95299141CF01}" srcOrd="0" destOrd="0" presId="urn:microsoft.com/office/officeart/2005/8/layout/vList5"/>
    <dgm:cxn modelId="{798D9546-FC7B-4CE6-A446-2C1406B131B7}" srcId="{7CDF3C8E-3DA3-4205-8B08-51AAE2DFD477}" destId="{75DD56ED-85A2-4B92-A4F6-D22B1E14918C}" srcOrd="1" destOrd="0" parTransId="{7D2D1F57-8FF9-4D42-AB44-C84EBAB93A8B}" sibTransId="{6B90A6D3-23CD-4FAE-BBD2-83D19CE03B68}"/>
    <dgm:cxn modelId="{DEEE5967-AEB5-482E-8DCA-A76061410593}" srcId="{7CDF3C8E-3DA3-4205-8B08-51AAE2DFD477}" destId="{9F1DE1B7-DF07-4DD5-A0B2-C4A32C7C190F}" srcOrd="0" destOrd="0" parTransId="{E8365B7B-D7B6-46DA-93F2-FDA360E9CCD9}" sibTransId="{1A751A11-451E-4937-8507-E37833BF1584}"/>
    <dgm:cxn modelId="{2FBB9C4A-7FE4-4B09-90BC-7F76EE0C06AA}" srcId="{7FF2D79E-B77B-4801-9814-D0986614D669}" destId="{DC7011F1-FC13-4B35-970D-4933B3548D98}" srcOrd="1" destOrd="0" parTransId="{D4CF5806-C370-498E-9708-685A9D27A010}" sibTransId="{BF99E28F-22E5-4508-BE06-92304C714E8C}"/>
    <dgm:cxn modelId="{D0083C5A-EB52-4DE3-BC4D-7C4D3C2107B1}" type="presOf" srcId="{60F94BBA-562D-4F8A-8EA1-F0DD8C0FE142}" destId="{0C796AA5-A0D9-4667-A9AC-D1A03A87BD07}" srcOrd="0" destOrd="0" presId="urn:microsoft.com/office/officeart/2005/8/layout/vList5"/>
    <dgm:cxn modelId="{39C0FB80-7424-4111-AA07-4A4DF2558C59}" srcId="{60F94BBA-562D-4F8A-8EA1-F0DD8C0FE142}" destId="{7FF2D79E-B77B-4801-9814-D0986614D669}" srcOrd="1" destOrd="0" parTransId="{8814CAC7-408B-431F-91F4-2E1970C6CD2D}" sibTransId="{1AAA26BD-D3CD-4DAD-BCB9-33F2641ECC77}"/>
    <dgm:cxn modelId="{0D78AA94-77C1-47AC-89CC-003F8E70C9DF}" srcId="{7FF2D79E-B77B-4801-9814-D0986614D669}" destId="{6AF05E0F-531B-4F36-BF27-1A9E3D95F0DC}" srcOrd="0" destOrd="0" parTransId="{FDDE4820-BFF2-48B4-90C6-7F081C19A177}" sibTransId="{5A4CB1BB-2F14-4944-AC76-135C983A0060}"/>
    <dgm:cxn modelId="{E10571A7-1543-495E-A24E-8B39E9AB2538}" type="presOf" srcId="{7CDF3C8E-3DA3-4205-8B08-51AAE2DFD477}" destId="{A8F7779F-E35A-4E50-A04D-CB1AA6356A21}" srcOrd="0" destOrd="0" presId="urn:microsoft.com/office/officeart/2005/8/layout/vList5"/>
    <dgm:cxn modelId="{00E4D1B0-83AC-4FA5-8F83-AFD18DCE943B}" srcId="{60F94BBA-562D-4F8A-8EA1-F0DD8C0FE142}" destId="{7CDF3C8E-3DA3-4205-8B08-51AAE2DFD477}" srcOrd="0" destOrd="0" parTransId="{E7B806CA-7E9B-4992-937F-C6125327F8DF}" sibTransId="{C8C81328-4AA1-4EFD-AF3D-4C6632E40ED9}"/>
    <dgm:cxn modelId="{B579FAD3-45AF-48C6-849D-A913A5716ED9}" type="presOf" srcId="{9F1DE1B7-DF07-4DD5-A0B2-C4A32C7C190F}" destId="{C300B65F-B770-4533-9743-A8EABAF11F51}" srcOrd="0" destOrd="0" presId="urn:microsoft.com/office/officeart/2005/8/layout/vList5"/>
    <dgm:cxn modelId="{EF51EEE0-95B7-478A-A328-D952C8448513}" type="presOf" srcId="{6AF05E0F-531B-4F36-BF27-1A9E3D95F0DC}" destId="{6AEF0EF9-F4C4-41ED-9DA7-A897E4EBD001}" srcOrd="0" destOrd="0" presId="urn:microsoft.com/office/officeart/2005/8/layout/vList5"/>
    <dgm:cxn modelId="{CAD040AB-E9B7-44BC-8260-01316C50B272}" type="presParOf" srcId="{0C796AA5-A0D9-4667-A9AC-D1A03A87BD07}" destId="{E9D145BA-D7C5-4918-95CD-7443B1876BAB}" srcOrd="0" destOrd="0" presId="urn:microsoft.com/office/officeart/2005/8/layout/vList5"/>
    <dgm:cxn modelId="{2A50B62C-DE4D-4CB3-BFAF-9334E49C5884}" type="presParOf" srcId="{E9D145BA-D7C5-4918-95CD-7443B1876BAB}" destId="{A8F7779F-E35A-4E50-A04D-CB1AA6356A21}" srcOrd="0" destOrd="0" presId="urn:microsoft.com/office/officeart/2005/8/layout/vList5"/>
    <dgm:cxn modelId="{8AB2F294-C286-4BA6-AD8C-A5E68712F3E1}" type="presParOf" srcId="{E9D145BA-D7C5-4918-95CD-7443B1876BAB}" destId="{C300B65F-B770-4533-9743-A8EABAF11F51}" srcOrd="1" destOrd="0" presId="urn:microsoft.com/office/officeart/2005/8/layout/vList5"/>
    <dgm:cxn modelId="{1DC914F0-34D1-41EE-A12A-8ACE3C44F6C4}" type="presParOf" srcId="{0C796AA5-A0D9-4667-A9AC-D1A03A87BD07}" destId="{9A842556-6E53-4044-98D2-8607331EB814}" srcOrd="1" destOrd="0" presId="urn:microsoft.com/office/officeart/2005/8/layout/vList5"/>
    <dgm:cxn modelId="{8F98B287-9974-459A-B8FD-49E5F8A64A54}" type="presParOf" srcId="{0C796AA5-A0D9-4667-A9AC-D1A03A87BD07}" destId="{553F6A7B-0613-44E0-B9FC-D72D4936C612}" srcOrd="2" destOrd="0" presId="urn:microsoft.com/office/officeart/2005/8/layout/vList5"/>
    <dgm:cxn modelId="{2E6EC0C8-09E3-448A-8254-CC1AF95CA72D}" type="presParOf" srcId="{553F6A7B-0613-44E0-B9FC-D72D4936C612}" destId="{46CFA115-E89F-48DD-8ECE-95299141CF01}" srcOrd="0" destOrd="0" presId="urn:microsoft.com/office/officeart/2005/8/layout/vList5"/>
    <dgm:cxn modelId="{81D5F99B-F1AC-4CB2-B644-1FA1FF856FFA}" type="presParOf" srcId="{553F6A7B-0613-44E0-B9FC-D72D4936C612}" destId="{6AEF0EF9-F4C4-41ED-9DA7-A897E4EBD001}"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6A26C33-5F5F-4CB7-8BAA-820B66BCD2DB}"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81E82A4E-660D-4B89-8E46-F01E998CF234}">
      <dgm:prSet phldrT="[文本]" custT="1"/>
      <dgm:spPr/>
      <dgm:t>
        <a:bodyPr/>
        <a:lstStyle/>
        <a:p>
          <a:r>
            <a:rPr lang="zh-CN" altLang="en-US" sz="1800" b="1" dirty="0">
              <a:latin typeface="微软雅黑" panose="020B0503020204020204" pitchFamily="34" charset="-122"/>
              <a:ea typeface="微软雅黑" panose="020B0503020204020204" pitchFamily="34" charset="-122"/>
            </a:rPr>
            <a:t>连通性 </a:t>
          </a:r>
          <a:r>
            <a:rPr lang="en-US" altLang="en-US" sz="1800" b="1" dirty="0">
              <a:latin typeface="微软雅黑" panose="020B0503020204020204" pitchFamily="34" charset="-122"/>
              <a:ea typeface="微软雅黑" panose="020B0503020204020204" pitchFamily="34" charset="-122"/>
            </a:rPr>
            <a:t>(connectivity)</a:t>
          </a:r>
          <a:endParaRPr lang="zh-CN" altLang="en-US" sz="1800" b="1" dirty="0">
            <a:latin typeface="微软雅黑" panose="020B0503020204020204" pitchFamily="34" charset="-122"/>
            <a:ea typeface="微软雅黑" panose="020B0503020204020204" pitchFamily="34" charset="-122"/>
          </a:endParaRPr>
        </a:p>
      </dgm:t>
    </dgm:pt>
    <dgm:pt modelId="{FE2F3B17-9569-409B-AFBD-15576FC7E7D5}" type="parTrans" cxnId="{A93EE387-4E0F-4305-B5A1-F639C498EF1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B9E722D-236B-45A9-B93C-C6BEF2201190}" type="sibTrans" cxnId="{A93EE387-4E0F-4305-B5A1-F639C498EF1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CE13BB8-FFE7-434E-AE0E-59033D986A9B}">
      <dgm:prSet phldrT="[文本]" custT="1"/>
      <dgm:spPr/>
      <dgm:t>
        <a:bodyPr/>
        <a:lstStyle/>
        <a:p>
          <a:r>
            <a:rPr lang="zh-CN" altLang="en-US" sz="1800" b="1" dirty="0">
              <a:latin typeface="微软雅黑" panose="020B0503020204020204" pitchFamily="34" charset="-122"/>
              <a:ea typeface="微软雅黑" panose="020B0503020204020204" pitchFamily="34" charset="-122"/>
            </a:rPr>
            <a:t>使上网用户之间可以非常便捷、非常经济地交换各种信息</a:t>
          </a:r>
        </a:p>
      </dgm:t>
    </dgm:pt>
    <dgm:pt modelId="{EBF2A6B2-0661-4DBE-913D-0227603495AA}" type="parTrans" cxnId="{698B3F6A-02D3-4DBF-A2E1-9AF6E6954E2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40577D-3A60-4734-9913-A35A2EB847DB}" type="sibTrans" cxnId="{698B3F6A-02D3-4DBF-A2E1-9AF6E6954E2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860C934-C87D-4759-BB10-48F1A13CE6F3}">
      <dgm:prSet phldrT="[文本]" custT="1"/>
      <dgm:spPr/>
      <dgm:t>
        <a:bodyPr/>
        <a:lstStyle/>
        <a:p>
          <a:r>
            <a:rPr lang="zh-CN" altLang="en-US" sz="1800" b="1" dirty="0">
              <a:latin typeface="微软雅黑" panose="020B0503020204020204" pitchFamily="34" charset="-122"/>
              <a:ea typeface="微软雅黑" panose="020B0503020204020204" pitchFamily="34" charset="-122"/>
            </a:rPr>
            <a:t>资源共享 </a:t>
          </a:r>
          <a:r>
            <a:rPr lang="en-US" altLang="en-US" sz="1800" b="1" dirty="0">
              <a:latin typeface="微软雅黑" panose="020B0503020204020204" pitchFamily="34" charset="-122"/>
              <a:ea typeface="微软雅黑" panose="020B0503020204020204" pitchFamily="34" charset="-122"/>
            </a:rPr>
            <a:t>(Sharing)</a:t>
          </a:r>
          <a:endParaRPr lang="zh-CN" altLang="en-US" sz="1800" b="1" dirty="0">
            <a:latin typeface="微软雅黑" panose="020B0503020204020204" pitchFamily="34" charset="-122"/>
            <a:ea typeface="微软雅黑" panose="020B0503020204020204" pitchFamily="34" charset="-122"/>
          </a:endParaRPr>
        </a:p>
      </dgm:t>
    </dgm:pt>
    <dgm:pt modelId="{026BE469-7E08-43F5-A726-F8D58014797D}" type="parTrans" cxnId="{C59FA2CF-B02E-4709-8C0B-C40E90AAE64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C0C2A6-290D-4E38-B8B6-6FAC507D5AEC}" type="sibTrans" cxnId="{C59FA2CF-B02E-4709-8C0B-C40E90AAE64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59189D0-CB3B-44AF-8603-D9ADA4D9B399}">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实现信息共享、软件共享、硬件共享。</a:t>
          </a:r>
        </a:p>
      </dgm:t>
    </dgm:pt>
    <dgm:pt modelId="{6C1F0FEC-D5F1-4174-B614-D79A36DF9E9B}" type="parTrans" cxnId="{28EB9285-5BD9-49B4-8CE4-91F0833DB20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72F926-6A57-4FF6-BCD5-C51A88F0EE57}" type="sibTrans" cxnId="{28EB9285-5BD9-49B4-8CE4-91F0833DB20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812DD04-1C6E-4759-9B88-C1D91F702372}">
      <dgm:prSet phldrT="[文本]" custT="1"/>
      <dgm:spPr/>
      <dgm:t>
        <a:bodyPr/>
        <a:lstStyle/>
        <a:p>
          <a:r>
            <a:rPr lang="zh-CN" altLang="en-US" sz="1800" b="1" dirty="0">
              <a:latin typeface="微软雅黑" panose="020B0503020204020204" pitchFamily="34" charset="-122"/>
              <a:ea typeface="微软雅黑" panose="020B0503020204020204" pitchFamily="34" charset="-122"/>
            </a:rPr>
            <a:t>由于网络的存在，这些资源好像就在用户身边一样地方便使用。</a:t>
          </a:r>
        </a:p>
      </dgm:t>
    </dgm:pt>
    <dgm:pt modelId="{C64E1EEC-F427-4C8F-BCD9-F788F0943A45}" type="parTrans" cxnId="{94E1CE82-AB38-452B-A0B7-83602DCACEF3}">
      <dgm:prSet/>
      <dgm:spPr/>
      <dgm:t>
        <a:bodyPr/>
        <a:lstStyle/>
        <a:p>
          <a:endParaRPr lang="zh-CN" altLang="en-US"/>
        </a:p>
      </dgm:t>
    </dgm:pt>
    <dgm:pt modelId="{823D93EC-06D1-4A6C-879B-5AAD651B9263}" type="sibTrans" cxnId="{94E1CE82-AB38-452B-A0B7-83602DCACEF3}">
      <dgm:prSet/>
      <dgm:spPr/>
      <dgm:t>
        <a:bodyPr/>
        <a:lstStyle/>
        <a:p>
          <a:endParaRPr lang="zh-CN" altLang="en-US"/>
        </a:p>
      </dgm:t>
    </dgm:pt>
    <dgm:pt modelId="{F4E096E7-E309-449C-AF8B-5A296EA906C4}">
      <dgm:prSet phldrT="[文本]" custT="1"/>
      <dgm:spPr/>
      <dgm:t>
        <a:bodyPr/>
        <a:lstStyle/>
        <a:p>
          <a:r>
            <a:rPr lang="zh-CN" altLang="en-US" sz="1800" b="1" dirty="0">
              <a:latin typeface="微软雅黑" panose="020B0503020204020204" pitchFamily="34" charset="-122"/>
              <a:ea typeface="微软雅黑" panose="020B0503020204020204" pitchFamily="34" charset="-122"/>
            </a:rPr>
            <a:t>好像这些用户终端都彼此直接连通一样。</a:t>
          </a:r>
        </a:p>
      </dgm:t>
    </dgm:pt>
    <dgm:pt modelId="{F3688306-D560-4457-964B-726C46443E2A}" type="parTrans" cxnId="{F7028CFA-D2C4-48EE-A8D2-426AA23C67E0}">
      <dgm:prSet/>
      <dgm:spPr/>
      <dgm:t>
        <a:bodyPr/>
        <a:lstStyle/>
        <a:p>
          <a:endParaRPr lang="zh-CN" altLang="en-US"/>
        </a:p>
      </dgm:t>
    </dgm:pt>
    <dgm:pt modelId="{E885EA05-1FFE-47D4-8502-58320F8AE3F5}" type="sibTrans" cxnId="{F7028CFA-D2C4-48EE-A8D2-426AA23C67E0}">
      <dgm:prSet/>
      <dgm:spPr/>
      <dgm:t>
        <a:bodyPr/>
        <a:lstStyle/>
        <a:p>
          <a:endParaRPr lang="zh-CN" altLang="en-US"/>
        </a:p>
      </dgm:t>
    </dgm:pt>
    <dgm:pt modelId="{45BDFC86-5515-4588-9635-7C14A989AA26}" type="pres">
      <dgm:prSet presAssocID="{76A26C33-5F5F-4CB7-8BAA-820B66BCD2DB}" presName="Name0" presStyleCnt="0">
        <dgm:presLayoutVars>
          <dgm:dir/>
          <dgm:animLvl val="lvl"/>
          <dgm:resizeHandles val="exact"/>
        </dgm:presLayoutVars>
      </dgm:prSet>
      <dgm:spPr/>
    </dgm:pt>
    <dgm:pt modelId="{084CEBD4-BCBA-45BE-85A0-F1EBB86D6FAA}" type="pres">
      <dgm:prSet presAssocID="{81E82A4E-660D-4B89-8E46-F01E998CF234}" presName="composite" presStyleCnt="0"/>
      <dgm:spPr/>
    </dgm:pt>
    <dgm:pt modelId="{0A0E1915-9D9D-42CA-B042-4CD43E01EB46}" type="pres">
      <dgm:prSet presAssocID="{81E82A4E-660D-4B89-8E46-F01E998CF234}" presName="parTx" presStyleLbl="alignNode1" presStyleIdx="0" presStyleCnt="2" custScaleY="82146" custLinFactNeighborY="-9064">
        <dgm:presLayoutVars>
          <dgm:chMax val="0"/>
          <dgm:chPref val="0"/>
          <dgm:bulletEnabled val="1"/>
        </dgm:presLayoutVars>
      </dgm:prSet>
      <dgm:spPr/>
    </dgm:pt>
    <dgm:pt modelId="{95E3CB40-70C8-4251-9371-65AB16983D1B}" type="pres">
      <dgm:prSet presAssocID="{81E82A4E-660D-4B89-8E46-F01E998CF234}" presName="desTx" presStyleLbl="alignAccFollowNode1" presStyleIdx="0" presStyleCnt="2" custLinFactNeighborX="-286">
        <dgm:presLayoutVars>
          <dgm:bulletEnabled val="1"/>
        </dgm:presLayoutVars>
      </dgm:prSet>
      <dgm:spPr/>
    </dgm:pt>
    <dgm:pt modelId="{53421B6A-2B30-49A7-B880-8776DCE5DB4B}" type="pres">
      <dgm:prSet presAssocID="{3B9E722D-236B-45A9-B93C-C6BEF2201190}" presName="space" presStyleCnt="0"/>
      <dgm:spPr/>
    </dgm:pt>
    <dgm:pt modelId="{12600C52-721A-4BE1-8285-90A6B38FB27D}" type="pres">
      <dgm:prSet presAssocID="{9860C934-C87D-4759-BB10-48F1A13CE6F3}" presName="composite" presStyleCnt="0"/>
      <dgm:spPr/>
    </dgm:pt>
    <dgm:pt modelId="{40C4515B-BD55-4381-85FB-4FE091B3440E}" type="pres">
      <dgm:prSet presAssocID="{9860C934-C87D-4759-BB10-48F1A13CE6F3}" presName="parTx" presStyleLbl="alignNode1" presStyleIdx="1" presStyleCnt="2" custScaleY="82146" custLinFactNeighborY="-9064">
        <dgm:presLayoutVars>
          <dgm:chMax val="0"/>
          <dgm:chPref val="0"/>
          <dgm:bulletEnabled val="1"/>
        </dgm:presLayoutVars>
      </dgm:prSet>
      <dgm:spPr/>
    </dgm:pt>
    <dgm:pt modelId="{91A65E31-AD27-4BEE-B472-DF1900C7D724}" type="pres">
      <dgm:prSet presAssocID="{9860C934-C87D-4759-BB10-48F1A13CE6F3}" presName="desTx" presStyleLbl="alignAccFollowNode1" presStyleIdx="1" presStyleCnt="2">
        <dgm:presLayoutVars>
          <dgm:bulletEnabled val="1"/>
        </dgm:presLayoutVars>
      </dgm:prSet>
      <dgm:spPr/>
    </dgm:pt>
  </dgm:ptLst>
  <dgm:cxnLst>
    <dgm:cxn modelId="{5D47E511-8EAF-4CA7-9BF1-030EA642EC1D}" type="presOf" srcId="{F4E096E7-E309-449C-AF8B-5A296EA906C4}" destId="{95E3CB40-70C8-4251-9371-65AB16983D1B}" srcOrd="0" destOrd="1" presId="urn:microsoft.com/office/officeart/2005/8/layout/hList1"/>
    <dgm:cxn modelId="{172F9B15-9093-4236-9475-DF368B583798}" type="presOf" srcId="{7812DD04-1C6E-4759-9B88-C1D91F702372}" destId="{91A65E31-AD27-4BEE-B472-DF1900C7D724}" srcOrd="0" destOrd="1" presId="urn:microsoft.com/office/officeart/2005/8/layout/hList1"/>
    <dgm:cxn modelId="{698B3F6A-02D3-4DBF-A2E1-9AF6E6954E21}" srcId="{81E82A4E-660D-4B89-8E46-F01E998CF234}" destId="{BCE13BB8-FFE7-434E-AE0E-59033D986A9B}" srcOrd="0" destOrd="0" parTransId="{EBF2A6B2-0661-4DBE-913D-0227603495AA}" sibTransId="{4B40577D-3A60-4734-9913-A35A2EB847DB}"/>
    <dgm:cxn modelId="{E22AA04A-60C5-4A62-80D3-AA64BFF9CF1D}" type="presOf" srcId="{9860C934-C87D-4759-BB10-48F1A13CE6F3}" destId="{40C4515B-BD55-4381-85FB-4FE091B3440E}" srcOrd="0" destOrd="0" presId="urn:microsoft.com/office/officeart/2005/8/layout/hList1"/>
    <dgm:cxn modelId="{94E1CE82-AB38-452B-A0B7-83602DCACEF3}" srcId="{9860C934-C87D-4759-BB10-48F1A13CE6F3}" destId="{7812DD04-1C6E-4759-9B88-C1D91F702372}" srcOrd="1" destOrd="0" parTransId="{C64E1EEC-F427-4C8F-BCD9-F788F0943A45}" sibTransId="{823D93EC-06D1-4A6C-879B-5AAD651B9263}"/>
    <dgm:cxn modelId="{28EB9285-5BD9-49B4-8CE4-91F0833DB207}" srcId="{9860C934-C87D-4759-BB10-48F1A13CE6F3}" destId="{459189D0-CB3B-44AF-8603-D9ADA4D9B399}" srcOrd="0" destOrd="0" parTransId="{6C1F0FEC-D5F1-4174-B614-D79A36DF9E9B}" sibTransId="{6272F926-6A57-4FF6-BCD5-C51A88F0EE57}"/>
    <dgm:cxn modelId="{A93EE387-4E0F-4305-B5A1-F639C498EF18}" srcId="{76A26C33-5F5F-4CB7-8BAA-820B66BCD2DB}" destId="{81E82A4E-660D-4B89-8E46-F01E998CF234}" srcOrd="0" destOrd="0" parTransId="{FE2F3B17-9569-409B-AFBD-15576FC7E7D5}" sibTransId="{3B9E722D-236B-45A9-B93C-C6BEF2201190}"/>
    <dgm:cxn modelId="{8C46819A-E2F2-4A0F-A3AF-3440027A2A2A}" type="presOf" srcId="{81E82A4E-660D-4B89-8E46-F01E998CF234}" destId="{0A0E1915-9D9D-42CA-B042-4CD43E01EB46}" srcOrd="0" destOrd="0" presId="urn:microsoft.com/office/officeart/2005/8/layout/hList1"/>
    <dgm:cxn modelId="{0905F19C-555E-4F3D-AB25-BC9C29CBF871}" type="presOf" srcId="{BCE13BB8-FFE7-434E-AE0E-59033D986A9B}" destId="{95E3CB40-70C8-4251-9371-65AB16983D1B}" srcOrd="0" destOrd="0" presId="urn:microsoft.com/office/officeart/2005/8/layout/hList1"/>
    <dgm:cxn modelId="{440006A0-5D17-4B31-B22C-81E686270947}" type="presOf" srcId="{459189D0-CB3B-44AF-8603-D9ADA4D9B399}" destId="{91A65E31-AD27-4BEE-B472-DF1900C7D724}" srcOrd="0" destOrd="0" presId="urn:microsoft.com/office/officeart/2005/8/layout/hList1"/>
    <dgm:cxn modelId="{C59FA2CF-B02E-4709-8C0B-C40E90AAE64B}" srcId="{76A26C33-5F5F-4CB7-8BAA-820B66BCD2DB}" destId="{9860C934-C87D-4759-BB10-48F1A13CE6F3}" srcOrd="1" destOrd="0" parTransId="{026BE469-7E08-43F5-A726-F8D58014797D}" sibTransId="{D0C0C2A6-290D-4E38-B8B6-6FAC507D5AEC}"/>
    <dgm:cxn modelId="{708EB6E9-8893-42FA-98DD-900BD9C56952}" type="presOf" srcId="{76A26C33-5F5F-4CB7-8BAA-820B66BCD2DB}" destId="{45BDFC86-5515-4588-9635-7C14A989AA26}" srcOrd="0" destOrd="0" presId="urn:microsoft.com/office/officeart/2005/8/layout/hList1"/>
    <dgm:cxn modelId="{F7028CFA-D2C4-48EE-A8D2-426AA23C67E0}" srcId="{81E82A4E-660D-4B89-8E46-F01E998CF234}" destId="{F4E096E7-E309-449C-AF8B-5A296EA906C4}" srcOrd="1" destOrd="0" parTransId="{F3688306-D560-4457-964B-726C46443E2A}" sibTransId="{E885EA05-1FFE-47D4-8502-58320F8AE3F5}"/>
    <dgm:cxn modelId="{D9DB5EC4-4D29-44DC-89C5-7DE69838E0FB}" type="presParOf" srcId="{45BDFC86-5515-4588-9635-7C14A989AA26}" destId="{084CEBD4-BCBA-45BE-85A0-F1EBB86D6FAA}" srcOrd="0" destOrd="0" presId="urn:microsoft.com/office/officeart/2005/8/layout/hList1"/>
    <dgm:cxn modelId="{16D66207-F596-498B-A526-89084311572A}" type="presParOf" srcId="{084CEBD4-BCBA-45BE-85A0-F1EBB86D6FAA}" destId="{0A0E1915-9D9D-42CA-B042-4CD43E01EB46}" srcOrd="0" destOrd="0" presId="urn:microsoft.com/office/officeart/2005/8/layout/hList1"/>
    <dgm:cxn modelId="{D7FC8791-AD69-456C-B322-73AC470273AF}" type="presParOf" srcId="{084CEBD4-BCBA-45BE-85A0-F1EBB86D6FAA}" destId="{95E3CB40-70C8-4251-9371-65AB16983D1B}" srcOrd="1" destOrd="0" presId="urn:microsoft.com/office/officeart/2005/8/layout/hList1"/>
    <dgm:cxn modelId="{23956487-ED7B-4352-A01D-E17AB1CA66C3}" type="presParOf" srcId="{45BDFC86-5515-4588-9635-7C14A989AA26}" destId="{53421B6A-2B30-49A7-B880-8776DCE5DB4B}" srcOrd="1" destOrd="0" presId="urn:microsoft.com/office/officeart/2005/8/layout/hList1"/>
    <dgm:cxn modelId="{FF053994-491C-4905-A2EC-9A302B85996B}" type="presParOf" srcId="{45BDFC86-5515-4588-9635-7C14A989AA26}" destId="{12600C52-721A-4BE1-8285-90A6B38FB27D}" srcOrd="2" destOrd="0" presId="urn:microsoft.com/office/officeart/2005/8/layout/hList1"/>
    <dgm:cxn modelId="{A53504C8-023D-48E5-A2EF-31327034D227}" type="presParOf" srcId="{12600C52-721A-4BE1-8285-90A6B38FB27D}" destId="{40C4515B-BD55-4381-85FB-4FE091B3440E}" srcOrd="0" destOrd="0" presId="urn:microsoft.com/office/officeart/2005/8/layout/hList1"/>
    <dgm:cxn modelId="{4BC7E349-D0D4-45F1-94A6-35510893E057}" type="presParOf" srcId="{12600C52-721A-4BE1-8285-90A6B38FB27D}" destId="{91A65E31-AD27-4BEE-B472-DF1900C7D724}"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E05827-7C5E-4011-BB54-A9825C894BC2}" type="doc">
      <dgm:prSet loTypeId="urn:microsoft.com/office/officeart/2005/8/layout/radial3" loCatId="relationship" qsTypeId="urn:microsoft.com/office/officeart/2005/8/quickstyle/simple4" qsCatId="simple" csTypeId="urn:microsoft.com/office/officeart/2005/8/colors/colorful1#1" csCatId="colorful" phldr="1"/>
      <dgm:spPr/>
      <dgm:t>
        <a:bodyPr/>
        <a:lstStyle/>
        <a:p>
          <a:endParaRPr lang="zh-CN" altLang="en-US"/>
        </a:p>
      </dgm:t>
    </dgm:pt>
    <dgm:pt modelId="{A76D0BFA-BC15-45DD-BEFB-67BB802BC730}">
      <dgm:prSet phldrT="[文本]" custT="1"/>
      <dgm:spPr/>
      <dgm:t>
        <a:bodyPr/>
        <a:lstStyle/>
        <a:p>
          <a:r>
            <a:rPr lang="zh-CN" altLang="en-US" sz="1800" b="1" dirty="0">
              <a:latin typeface="微软雅黑" panose="020B0503020204020204" pitchFamily="34" charset="-122"/>
              <a:ea typeface="微软雅黑" panose="020B0503020204020204" pitchFamily="34" charset="-122"/>
            </a:rPr>
            <a:t>互联网</a:t>
          </a:r>
        </a:p>
      </dgm:t>
    </dgm:pt>
    <dgm:pt modelId="{B00600B9-142A-48E4-AC4D-F087585498F0}" type="parTrans" cxnId="{9CB6F1FF-87D2-406B-ACF5-0ED45A7D7F4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A64C42D-73C0-4271-8028-E940B4F42241}" type="sibTrans" cxnId="{9CB6F1FF-87D2-406B-ACF5-0ED45A7D7F4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18C9164-AF3E-4958-908B-D7485AFCEBF8}">
      <dgm:prSet phldrT="[文本]" custT="1"/>
      <dgm:spPr/>
      <dgm:t>
        <a:bodyPr/>
        <a:lstStyle/>
        <a:p>
          <a:r>
            <a:rPr lang="zh-CN" altLang="en-US" sz="1600" b="1" dirty="0">
              <a:latin typeface="微软雅黑" panose="020B0503020204020204" pitchFamily="34" charset="-122"/>
              <a:ea typeface="微软雅黑" panose="020B0503020204020204" pitchFamily="34" charset="-122"/>
            </a:rPr>
            <a:t>工业</a:t>
          </a:r>
        </a:p>
      </dgm:t>
    </dgm:pt>
    <dgm:pt modelId="{E3590D31-6E72-444F-9C49-1AE7EFE87DD0}" type="parTrans" cxnId="{43629A51-9669-4227-8CF2-06728FED7FB2}">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AA57978E-F1E4-45BC-98ED-B86BC4A8B02B}" type="sibTrans" cxnId="{43629A51-9669-4227-8CF2-06728FED7FB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89F969B-460A-4D7B-AFBB-F45D1D8FC7AC}">
      <dgm:prSet phldrT="[文本]" custT="1"/>
      <dgm:spPr/>
      <dgm:t>
        <a:bodyPr/>
        <a:lstStyle/>
        <a:p>
          <a:r>
            <a:rPr lang="zh-CN" altLang="en-US" sz="1600" b="1" dirty="0">
              <a:latin typeface="微软雅黑" panose="020B0503020204020204" pitchFamily="34" charset="-122"/>
              <a:ea typeface="微软雅黑" panose="020B0503020204020204" pitchFamily="34" charset="-122"/>
            </a:rPr>
            <a:t>农业</a:t>
          </a:r>
        </a:p>
      </dgm:t>
    </dgm:pt>
    <dgm:pt modelId="{BC8AED9C-6DB9-4718-BE03-2F8A9BAA1F72}" type="parTrans" cxnId="{AC754295-F863-4119-AC31-2B2660E39C1A}">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2F9C0308-2ACC-48D6-B1DE-0A9B3F7C4D91}" type="sibTrans" cxnId="{AC754295-F863-4119-AC31-2B2660E39C1A}">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BF6F5B7-7C58-4F3A-88BB-5CBC69534539}">
      <dgm:prSet phldrT="[文本]" custT="1"/>
      <dgm:spPr/>
      <dgm:t>
        <a:bodyPr/>
        <a:lstStyle/>
        <a:p>
          <a:r>
            <a:rPr lang="zh-CN" altLang="en-US" sz="1600" b="1" dirty="0">
              <a:latin typeface="微软雅黑" panose="020B0503020204020204" pitchFamily="34" charset="-122"/>
              <a:ea typeface="微软雅黑" panose="020B0503020204020204" pitchFamily="34" charset="-122"/>
            </a:rPr>
            <a:t>教育</a:t>
          </a:r>
        </a:p>
      </dgm:t>
    </dgm:pt>
    <dgm:pt modelId="{CF87773F-924A-4605-8570-035144C0F902}" type="parTrans" cxnId="{62D81B6B-A473-4711-8060-E2F235DB436A}">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6D1C614E-67DC-4BB9-BD87-711365F29683}" type="sibTrans" cxnId="{62D81B6B-A473-4711-8060-E2F235DB436A}">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5AF6D72-8B6B-4080-8E8C-D4F56863B69E}">
      <dgm:prSet phldrT="[文本]" custT="1"/>
      <dgm:spPr/>
      <dgm:t>
        <a:bodyPr/>
        <a:lstStyle/>
        <a:p>
          <a:r>
            <a:rPr lang="zh-CN" altLang="en-US" sz="1600" b="1" dirty="0">
              <a:latin typeface="微软雅黑" panose="020B0503020204020204" pitchFamily="34" charset="-122"/>
              <a:ea typeface="微软雅黑" panose="020B0503020204020204" pitchFamily="34" charset="-122"/>
            </a:rPr>
            <a:t>医疗</a:t>
          </a:r>
        </a:p>
      </dgm:t>
    </dgm:pt>
    <dgm:pt modelId="{C35CA62F-8556-4DFD-8EC7-5CCA241BB612}" type="parTrans" cxnId="{534309C7-E5FF-4B2D-B8CF-45366536B25D}">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491DA168-3F2F-44B5-A64C-4106C44D9531}" type="sibTrans" cxnId="{534309C7-E5FF-4B2D-B8CF-45366536B25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6B298439-DC98-423F-B078-E8F5941082E6}">
      <dgm:prSet phldrT="[文本]" custT="1"/>
      <dgm:spPr/>
      <dgm:t>
        <a:bodyPr/>
        <a:lstStyle/>
        <a:p>
          <a:r>
            <a:rPr lang="zh-CN" altLang="en-US" sz="1600" b="1" dirty="0">
              <a:latin typeface="微软雅黑" panose="020B0503020204020204" pitchFamily="34" charset="-122"/>
              <a:ea typeface="微软雅黑" panose="020B0503020204020204" pitchFamily="34" charset="-122"/>
            </a:rPr>
            <a:t>政务</a:t>
          </a:r>
        </a:p>
      </dgm:t>
    </dgm:pt>
    <dgm:pt modelId="{FF507EB2-A21E-44CB-A397-7737883929F5}" type="parTrans" cxnId="{3131B5D7-C9F2-49E1-8EFF-59076BE387DD}">
      <dgm:prSet/>
      <dgm:spPr/>
      <dgm:t>
        <a:bodyPr/>
        <a:lstStyle/>
        <a:p>
          <a:endParaRPr lang="zh-CN" altLang="en-US" sz="1600"/>
        </a:p>
      </dgm:t>
    </dgm:pt>
    <dgm:pt modelId="{1069866B-901E-41AA-B611-96F392C306C9}" type="sibTrans" cxnId="{3131B5D7-C9F2-49E1-8EFF-59076BE387DD}">
      <dgm:prSet/>
      <dgm:spPr/>
      <dgm:t>
        <a:bodyPr/>
        <a:lstStyle/>
        <a:p>
          <a:endParaRPr lang="zh-CN" altLang="en-US" sz="1600"/>
        </a:p>
      </dgm:t>
    </dgm:pt>
    <dgm:pt modelId="{FAF2ACAA-EABC-4881-8EA7-397CDC13C55C}">
      <dgm:prSet phldrT="[文本]" custT="1"/>
      <dgm:spPr/>
      <dgm:t>
        <a:bodyPr/>
        <a:lstStyle/>
        <a:p>
          <a:r>
            <a:rPr lang="zh-CN" altLang="en-US" sz="1600" b="1" dirty="0">
              <a:latin typeface="微软雅黑" panose="020B0503020204020204" pitchFamily="34" charset="-122"/>
              <a:ea typeface="微软雅黑" panose="020B0503020204020204" pitchFamily="34" charset="-122"/>
            </a:rPr>
            <a:t>商业</a:t>
          </a:r>
        </a:p>
      </dgm:t>
    </dgm:pt>
    <dgm:pt modelId="{770E56DF-8F01-4967-83BA-12AEB9AE298C}" type="parTrans" cxnId="{DECB6BFE-C1AB-49B3-BF33-97FF73C68B80}">
      <dgm:prSet/>
      <dgm:spPr/>
      <dgm:t>
        <a:bodyPr/>
        <a:lstStyle/>
        <a:p>
          <a:endParaRPr lang="zh-CN" altLang="en-US" sz="1600"/>
        </a:p>
      </dgm:t>
    </dgm:pt>
    <dgm:pt modelId="{43BF5A98-9984-4620-885D-10BE9C053A43}" type="sibTrans" cxnId="{DECB6BFE-C1AB-49B3-BF33-97FF73C68B80}">
      <dgm:prSet/>
      <dgm:spPr/>
      <dgm:t>
        <a:bodyPr/>
        <a:lstStyle/>
        <a:p>
          <a:endParaRPr lang="zh-CN" altLang="en-US" sz="1600"/>
        </a:p>
      </dgm:t>
    </dgm:pt>
    <dgm:pt modelId="{26C274A2-A132-40CB-BA50-1DFD2114DDE8}">
      <dgm:prSet phldrT="[文本]" custT="1"/>
      <dgm:spPr/>
      <dgm:t>
        <a:bodyPr/>
        <a:lstStyle/>
        <a:p>
          <a:r>
            <a:rPr lang="zh-CN" altLang="en-US" sz="1600" b="1" dirty="0">
              <a:latin typeface="微软雅黑" panose="020B0503020204020204" pitchFamily="34" charset="-122"/>
              <a:ea typeface="微软雅黑" panose="020B0503020204020204" pitchFamily="34" charset="-122"/>
            </a:rPr>
            <a:t>交通</a:t>
          </a:r>
        </a:p>
      </dgm:t>
    </dgm:pt>
    <dgm:pt modelId="{18C167E5-9951-4075-9E11-75A610F80C55}" type="parTrans" cxnId="{2880779E-5D58-42D8-A4C9-2F8A8FE197F5}">
      <dgm:prSet/>
      <dgm:spPr/>
      <dgm:t>
        <a:bodyPr/>
        <a:lstStyle/>
        <a:p>
          <a:endParaRPr lang="zh-CN" altLang="en-US" sz="1600"/>
        </a:p>
      </dgm:t>
    </dgm:pt>
    <dgm:pt modelId="{969F8E18-0BF9-4FAE-83D0-6A6701ECCF82}" type="sibTrans" cxnId="{2880779E-5D58-42D8-A4C9-2F8A8FE197F5}">
      <dgm:prSet/>
      <dgm:spPr/>
      <dgm:t>
        <a:bodyPr/>
        <a:lstStyle/>
        <a:p>
          <a:endParaRPr lang="zh-CN" altLang="en-US" sz="1600"/>
        </a:p>
      </dgm:t>
    </dgm:pt>
    <dgm:pt modelId="{3F2C0775-94F4-47A1-AF4B-909B1853529B}">
      <dgm:prSet custT="1"/>
      <dgm:spPr/>
      <dgm:t>
        <a:bodyPr/>
        <a:lstStyle/>
        <a:p>
          <a:r>
            <a:rPr lang="zh-CN" altLang="en-US" sz="1600" b="1" dirty="0">
              <a:latin typeface="微软雅黑" panose="020B0503020204020204" pitchFamily="34" charset="-122"/>
              <a:ea typeface="微软雅黑" panose="020B0503020204020204" pitchFamily="34" charset="-122"/>
            </a:rPr>
            <a:t>金融</a:t>
          </a:r>
          <a:endParaRPr lang="zh-CN" altLang="en-US" sz="1600" dirty="0"/>
        </a:p>
      </dgm:t>
    </dgm:pt>
    <dgm:pt modelId="{A38B1822-9787-44D1-BD3C-ACBAACBABD01}" type="parTrans" cxnId="{44087A00-B1E0-4E66-BD03-92CCC0E2E57A}">
      <dgm:prSet/>
      <dgm:spPr/>
      <dgm:t>
        <a:bodyPr/>
        <a:lstStyle/>
        <a:p>
          <a:endParaRPr lang="zh-CN" altLang="en-US" sz="1600"/>
        </a:p>
      </dgm:t>
    </dgm:pt>
    <dgm:pt modelId="{97A5A0B2-98A0-41A2-94D6-5ACC569526A9}" type="sibTrans" cxnId="{44087A00-B1E0-4E66-BD03-92CCC0E2E57A}">
      <dgm:prSet/>
      <dgm:spPr/>
      <dgm:t>
        <a:bodyPr/>
        <a:lstStyle/>
        <a:p>
          <a:endParaRPr lang="zh-CN" altLang="en-US" sz="1600"/>
        </a:p>
      </dgm:t>
    </dgm:pt>
    <dgm:pt modelId="{2283875D-64D0-4EF8-BA5E-3A01B2889C9A}" type="pres">
      <dgm:prSet presAssocID="{E5E05827-7C5E-4011-BB54-A9825C894BC2}" presName="composite" presStyleCnt="0">
        <dgm:presLayoutVars>
          <dgm:chMax val="1"/>
          <dgm:dir/>
          <dgm:resizeHandles val="exact"/>
        </dgm:presLayoutVars>
      </dgm:prSet>
      <dgm:spPr/>
    </dgm:pt>
    <dgm:pt modelId="{B56D683E-7C9C-4207-B0C8-0781DA70F281}" type="pres">
      <dgm:prSet presAssocID="{E5E05827-7C5E-4011-BB54-A9825C894BC2}" presName="radial" presStyleCnt="0">
        <dgm:presLayoutVars>
          <dgm:animLvl val="ctr"/>
        </dgm:presLayoutVars>
      </dgm:prSet>
      <dgm:spPr/>
    </dgm:pt>
    <dgm:pt modelId="{697450F4-F441-4296-8335-01351F8E1B2B}" type="pres">
      <dgm:prSet presAssocID="{A76D0BFA-BC15-45DD-BEFB-67BB802BC730}" presName="centerShape" presStyleLbl="vennNode1" presStyleIdx="0" presStyleCnt="9"/>
      <dgm:spPr/>
    </dgm:pt>
    <dgm:pt modelId="{CE8AFE2D-2AC2-45F0-88B8-B2568168C3FF}" type="pres">
      <dgm:prSet presAssocID="{B18C9164-AF3E-4958-908B-D7485AFCEBF8}" presName="node" presStyleLbl="vennNode1" presStyleIdx="1" presStyleCnt="9">
        <dgm:presLayoutVars>
          <dgm:bulletEnabled val="1"/>
        </dgm:presLayoutVars>
      </dgm:prSet>
      <dgm:spPr/>
    </dgm:pt>
    <dgm:pt modelId="{670A9751-EDA7-44BE-84F6-DA052AFC6D1C}" type="pres">
      <dgm:prSet presAssocID="{289F969B-460A-4D7B-AFBB-F45D1D8FC7AC}" presName="node" presStyleLbl="vennNode1" presStyleIdx="2" presStyleCnt="9">
        <dgm:presLayoutVars>
          <dgm:bulletEnabled val="1"/>
        </dgm:presLayoutVars>
      </dgm:prSet>
      <dgm:spPr/>
    </dgm:pt>
    <dgm:pt modelId="{242A4B1B-E8FC-49C8-BFF1-60EED0B2A276}" type="pres">
      <dgm:prSet presAssocID="{CBF6F5B7-7C58-4F3A-88BB-5CBC69534539}" presName="node" presStyleLbl="vennNode1" presStyleIdx="3" presStyleCnt="9">
        <dgm:presLayoutVars>
          <dgm:bulletEnabled val="1"/>
        </dgm:presLayoutVars>
      </dgm:prSet>
      <dgm:spPr/>
    </dgm:pt>
    <dgm:pt modelId="{C0A173BA-2876-4F61-AAD1-FA50AD3DFDD0}" type="pres">
      <dgm:prSet presAssocID="{55AF6D72-8B6B-4080-8E8C-D4F56863B69E}" presName="node" presStyleLbl="vennNode1" presStyleIdx="4" presStyleCnt="9">
        <dgm:presLayoutVars>
          <dgm:bulletEnabled val="1"/>
        </dgm:presLayoutVars>
      </dgm:prSet>
      <dgm:spPr/>
    </dgm:pt>
    <dgm:pt modelId="{D951B7E8-AF72-41D8-8F8D-E56CFF2EB951}" type="pres">
      <dgm:prSet presAssocID="{FAF2ACAA-EABC-4881-8EA7-397CDC13C55C}" presName="node" presStyleLbl="vennNode1" presStyleIdx="5" presStyleCnt="9">
        <dgm:presLayoutVars>
          <dgm:bulletEnabled val="1"/>
        </dgm:presLayoutVars>
      </dgm:prSet>
      <dgm:spPr/>
    </dgm:pt>
    <dgm:pt modelId="{2343D8A9-7AEC-4D40-8773-498EA64A78FE}" type="pres">
      <dgm:prSet presAssocID="{26C274A2-A132-40CB-BA50-1DFD2114DDE8}" presName="node" presStyleLbl="vennNode1" presStyleIdx="6" presStyleCnt="9">
        <dgm:presLayoutVars>
          <dgm:bulletEnabled val="1"/>
        </dgm:presLayoutVars>
      </dgm:prSet>
      <dgm:spPr/>
    </dgm:pt>
    <dgm:pt modelId="{4B8ABBE8-E9C9-4F6B-9525-8C9A18414CDE}" type="pres">
      <dgm:prSet presAssocID="{3F2C0775-94F4-47A1-AF4B-909B1853529B}" presName="node" presStyleLbl="vennNode1" presStyleIdx="7" presStyleCnt="9">
        <dgm:presLayoutVars>
          <dgm:bulletEnabled val="1"/>
        </dgm:presLayoutVars>
      </dgm:prSet>
      <dgm:spPr/>
    </dgm:pt>
    <dgm:pt modelId="{C13D16A4-6F51-437B-A7BA-09AB4609C68B}" type="pres">
      <dgm:prSet presAssocID="{6B298439-DC98-423F-B078-E8F5941082E6}" presName="node" presStyleLbl="vennNode1" presStyleIdx="8" presStyleCnt="9">
        <dgm:presLayoutVars>
          <dgm:bulletEnabled val="1"/>
        </dgm:presLayoutVars>
      </dgm:prSet>
      <dgm:spPr/>
    </dgm:pt>
  </dgm:ptLst>
  <dgm:cxnLst>
    <dgm:cxn modelId="{44087A00-B1E0-4E66-BD03-92CCC0E2E57A}" srcId="{A76D0BFA-BC15-45DD-BEFB-67BB802BC730}" destId="{3F2C0775-94F4-47A1-AF4B-909B1853529B}" srcOrd="6" destOrd="0" parTransId="{A38B1822-9787-44D1-BD3C-ACBAACBABD01}" sibTransId="{97A5A0B2-98A0-41A2-94D6-5ACC569526A9}"/>
    <dgm:cxn modelId="{671CAE00-FF67-446A-B055-58534C0F19A8}" type="presOf" srcId="{B18C9164-AF3E-4958-908B-D7485AFCEBF8}" destId="{CE8AFE2D-2AC2-45F0-88B8-B2568168C3FF}" srcOrd="0" destOrd="0" presId="urn:microsoft.com/office/officeart/2005/8/layout/radial3"/>
    <dgm:cxn modelId="{E1145A10-C3F5-4120-9951-ED8E95DF626C}" type="presOf" srcId="{6B298439-DC98-423F-B078-E8F5941082E6}" destId="{C13D16A4-6F51-437B-A7BA-09AB4609C68B}" srcOrd="0" destOrd="0" presId="urn:microsoft.com/office/officeart/2005/8/layout/radial3"/>
    <dgm:cxn modelId="{FE3E4F19-BD5A-4BF1-9C7C-1F6EBA21FDB2}" type="presOf" srcId="{55AF6D72-8B6B-4080-8E8C-D4F56863B69E}" destId="{C0A173BA-2876-4F61-AAD1-FA50AD3DFDD0}" srcOrd="0" destOrd="0" presId="urn:microsoft.com/office/officeart/2005/8/layout/radial3"/>
    <dgm:cxn modelId="{1C9E9E21-DB3F-4EE8-826E-495B8AF8311D}" type="presOf" srcId="{289F969B-460A-4D7B-AFBB-F45D1D8FC7AC}" destId="{670A9751-EDA7-44BE-84F6-DA052AFC6D1C}" srcOrd="0" destOrd="0" presId="urn:microsoft.com/office/officeart/2005/8/layout/radial3"/>
    <dgm:cxn modelId="{34C7A264-38DC-418F-BC6E-C3B4A95B5E47}" type="presOf" srcId="{A76D0BFA-BC15-45DD-BEFB-67BB802BC730}" destId="{697450F4-F441-4296-8335-01351F8E1B2B}" srcOrd="0" destOrd="0" presId="urn:microsoft.com/office/officeart/2005/8/layout/radial3"/>
    <dgm:cxn modelId="{62D81B6B-A473-4711-8060-E2F235DB436A}" srcId="{A76D0BFA-BC15-45DD-BEFB-67BB802BC730}" destId="{CBF6F5B7-7C58-4F3A-88BB-5CBC69534539}" srcOrd="2" destOrd="0" parTransId="{CF87773F-924A-4605-8570-035144C0F902}" sibTransId="{6D1C614E-67DC-4BB9-BD87-711365F29683}"/>
    <dgm:cxn modelId="{9A2D7B6E-102A-4276-9A10-DB1F7EAB1F95}" type="presOf" srcId="{E5E05827-7C5E-4011-BB54-A9825C894BC2}" destId="{2283875D-64D0-4EF8-BA5E-3A01B2889C9A}" srcOrd="0" destOrd="0" presId="urn:microsoft.com/office/officeart/2005/8/layout/radial3"/>
    <dgm:cxn modelId="{43629A51-9669-4227-8CF2-06728FED7FB2}" srcId="{A76D0BFA-BC15-45DD-BEFB-67BB802BC730}" destId="{B18C9164-AF3E-4958-908B-D7485AFCEBF8}" srcOrd="0" destOrd="0" parTransId="{E3590D31-6E72-444F-9C49-1AE7EFE87DD0}" sibTransId="{AA57978E-F1E4-45BC-98ED-B86BC4A8B02B}"/>
    <dgm:cxn modelId="{41D3E594-5567-4F8A-ADC0-6231A9A4BF12}" type="presOf" srcId="{26C274A2-A132-40CB-BA50-1DFD2114DDE8}" destId="{2343D8A9-7AEC-4D40-8773-498EA64A78FE}" srcOrd="0" destOrd="0" presId="urn:microsoft.com/office/officeart/2005/8/layout/radial3"/>
    <dgm:cxn modelId="{AC754295-F863-4119-AC31-2B2660E39C1A}" srcId="{A76D0BFA-BC15-45DD-BEFB-67BB802BC730}" destId="{289F969B-460A-4D7B-AFBB-F45D1D8FC7AC}" srcOrd="1" destOrd="0" parTransId="{BC8AED9C-6DB9-4718-BE03-2F8A9BAA1F72}" sibTransId="{2F9C0308-2ACC-48D6-B1DE-0A9B3F7C4D91}"/>
    <dgm:cxn modelId="{2880779E-5D58-42D8-A4C9-2F8A8FE197F5}" srcId="{A76D0BFA-BC15-45DD-BEFB-67BB802BC730}" destId="{26C274A2-A132-40CB-BA50-1DFD2114DDE8}" srcOrd="5" destOrd="0" parTransId="{18C167E5-9951-4075-9E11-75A610F80C55}" sibTransId="{969F8E18-0BF9-4FAE-83D0-6A6701ECCF82}"/>
    <dgm:cxn modelId="{534309C7-E5FF-4B2D-B8CF-45366536B25D}" srcId="{A76D0BFA-BC15-45DD-BEFB-67BB802BC730}" destId="{55AF6D72-8B6B-4080-8E8C-D4F56863B69E}" srcOrd="3" destOrd="0" parTransId="{C35CA62F-8556-4DFD-8EC7-5CCA241BB612}" sibTransId="{491DA168-3F2F-44B5-A64C-4106C44D9531}"/>
    <dgm:cxn modelId="{960F42CD-A079-47D0-A3DB-DFB4595FF8F4}" type="presOf" srcId="{CBF6F5B7-7C58-4F3A-88BB-5CBC69534539}" destId="{242A4B1B-E8FC-49C8-BFF1-60EED0B2A276}" srcOrd="0" destOrd="0" presId="urn:microsoft.com/office/officeart/2005/8/layout/radial3"/>
    <dgm:cxn modelId="{3131B5D7-C9F2-49E1-8EFF-59076BE387DD}" srcId="{A76D0BFA-BC15-45DD-BEFB-67BB802BC730}" destId="{6B298439-DC98-423F-B078-E8F5941082E6}" srcOrd="7" destOrd="0" parTransId="{FF507EB2-A21E-44CB-A397-7737883929F5}" sibTransId="{1069866B-901E-41AA-B611-96F392C306C9}"/>
    <dgm:cxn modelId="{ED9447EC-C4D5-4F03-BF67-2F0986A3EEB3}" type="presOf" srcId="{3F2C0775-94F4-47A1-AF4B-909B1853529B}" destId="{4B8ABBE8-E9C9-4F6B-9525-8C9A18414CDE}" srcOrd="0" destOrd="0" presId="urn:microsoft.com/office/officeart/2005/8/layout/radial3"/>
    <dgm:cxn modelId="{B37E0EFB-4E40-4FEE-8B05-4AE2EB6D24A8}" type="presOf" srcId="{FAF2ACAA-EABC-4881-8EA7-397CDC13C55C}" destId="{D951B7E8-AF72-41D8-8F8D-E56CFF2EB951}" srcOrd="0" destOrd="0" presId="urn:microsoft.com/office/officeart/2005/8/layout/radial3"/>
    <dgm:cxn modelId="{DECB6BFE-C1AB-49B3-BF33-97FF73C68B80}" srcId="{A76D0BFA-BC15-45DD-BEFB-67BB802BC730}" destId="{FAF2ACAA-EABC-4881-8EA7-397CDC13C55C}" srcOrd="4" destOrd="0" parTransId="{770E56DF-8F01-4967-83BA-12AEB9AE298C}" sibTransId="{43BF5A98-9984-4620-885D-10BE9C053A43}"/>
    <dgm:cxn modelId="{9CB6F1FF-87D2-406B-ACF5-0ED45A7D7F44}" srcId="{E5E05827-7C5E-4011-BB54-A9825C894BC2}" destId="{A76D0BFA-BC15-45DD-BEFB-67BB802BC730}" srcOrd="0" destOrd="0" parTransId="{B00600B9-142A-48E4-AC4D-F087585498F0}" sibTransId="{1A64C42D-73C0-4271-8028-E940B4F42241}"/>
    <dgm:cxn modelId="{6E1AC565-CA31-4D1F-AEDC-94CB71666459}" type="presParOf" srcId="{2283875D-64D0-4EF8-BA5E-3A01B2889C9A}" destId="{B56D683E-7C9C-4207-B0C8-0781DA70F281}" srcOrd="0" destOrd="0" presId="urn:microsoft.com/office/officeart/2005/8/layout/radial3"/>
    <dgm:cxn modelId="{1CDAEEA2-878E-4004-9A51-79A46310453B}" type="presParOf" srcId="{B56D683E-7C9C-4207-B0C8-0781DA70F281}" destId="{697450F4-F441-4296-8335-01351F8E1B2B}" srcOrd="0" destOrd="0" presId="urn:microsoft.com/office/officeart/2005/8/layout/radial3"/>
    <dgm:cxn modelId="{2BAE2F8F-9C9B-42B4-BEE4-6A370460910A}" type="presParOf" srcId="{B56D683E-7C9C-4207-B0C8-0781DA70F281}" destId="{CE8AFE2D-2AC2-45F0-88B8-B2568168C3FF}" srcOrd="1" destOrd="0" presId="urn:microsoft.com/office/officeart/2005/8/layout/radial3"/>
    <dgm:cxn modelId="{5113B970-C13B-410E-BAE9-EC7E41AE1703}" type="presParOf" srcId="{B56D683E-7C9C-4207-B0C8-0781DA70F281}" destId="{670A9751-EDA7-44BE-84F6-DA052AFC6D1C}" srcOrd="2" destOrd="0" presId="urn:microsoft.com/office/officeart/2005/8/layout/radial3"/>
    <dgm:cxn modelId="{A7DB3A97-510A-490C-875A-3CCDF48C0C9C}" type="presParOf" srcId="{B56D683E-7C9C-4207-B0C8-0781DA70F281}" destId="{242A4B1B-E8FC-49C8-BFF1-60EED0B2A276}" srcOrd="3" destOrd="0" presId="urn:microsoft.com/office/officeart/2005/8/layout/radial3"/>
    <dgm:cxn modelId="{A9B28D62-23AA-47E3-ACC7-5418386FDD7F}" type="presParOf" srcId="{B56D683E-7C9C-4207-B0C8-0781DA70F281}" destId="{C0A173BA-2876-4F61-AAD1-FA50AD3DFDD0}" srcOrd="4" destOrd="0" presId="urn:microsoft.com/office/officeart/2005/8/layout/radial3"/>
    <dgm:cxn modelId="{D31E7E80-7C5E-4183-B574-91C1CB4D1142}" type="presParOf" srcId="{B56D683E-7C9C-4207-B0C8-0781DA70F281}" destId="{D951B7E8-AF72-41D8-8F8D-E56CFF2EB951}" srcOrd="5" destOrd="0" presId="urn:microsoft.com/office/officeart/2005/8/layout/radial3"/>
    <dgm:cxn modelId="{6D4E746B-9B5A-41EE-9D32-56664D21A1E6}" type="presParOf" srcId="{B56D683E-7C9C-4207-B0C8-0781DA70F281}" destId="{2343D8A9-7AEC-4D40-8773-498EA64A78FE}" srcOrd="6" destOrd="0" presId="urn:microsoft.com/office/officeart/2005/8/layout/radial3"/>
    <dgm:cxn modelId="{0E5D4A10-2E63-432B-B7AD-B4B508FC16E8}" type="presParOf" srcId="{B56D683E-7C9C-4207-B0C8-0781DA70F281}" destId="{4B8ABBE8-E9C9-4F6B-9525-8C9A18414CDE}" srcOrd="7" destOrd="0" presId="urn:microsoft.com/office/officeart/2005/8/layout/radial3"/>
    <dgm:cxn modelId="{F5F98F4B-A524-43CE-99A7-D5C35E51CA3C}" type="presParOf" srcId="{B56D683E-7C9C-4207-B0C8-0781DA70F281}" destId="{C13D16A4-6F51-437B-A7BA-09AB4609C68B}" srcOrd="8" destOrd="0" presId="urn:microsoft.com/office/officeart/2005/8/layout/radial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1D1D430-D996-41E4-BA1B-C6A83F36946C}" type="doc">
      <dgm:prSet loTypeId="urn:microsoft.com/office/officeart/2005/8/layout/vList3#1" loCatId="picture" qsTypeId="urn:microsoft.com/office/officeart/2005/8/quickstyle/simple1" qsCatId="simple" csTypeId="urn:microsoft.com/office/officeart/2005/8/colors/colorful1#2" csCatId="colorful" phldr="1"/>
      <dgm:spPr/>
    </dgm:pt>
    <dgm:pt modelId="{8A4F00E3-F46A-4CBA-82B2-5A10E450DA39}">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传播病毒</a:t>
          </a:r>
        </a:p>
      </dgm:t>
    </dgm:pt>
    <dgm:pt modelId="{F63FFB52-3939-4213-9316-F1327036C529}" type="parTrans" cxnId="{DAEBBFB6-C82D-4C01-9BF5-DD42C1C4BF17}">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D19CD92A-5807-415A-BBC1-E7A8527C6153}" type="sibTrans" cxnId="{DAEBBFB6-C82D-4C01-9BF5-DD42C1C4BF17}">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F2D3D92D-8243-45A0-9045-A4D63E6E7F40}">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窃取：数据，钱财等</a:t>
          </a:r>
        </a:p>
      </dgm:t>
    </dgm:pt>
    <dgm:pt modelId="{940EF993-6126-4520-B05A-6D4B241C30CB}" type="parTrans" cxnId="{2775021C-D204-4FE7-A731-4792D5389EAD}">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3B918B45-34EC-4674-8DDA-B9430DE47AFA}" type="sibTrans" cxnId="{2775021C-D204-4FE7-A731-4792D5389EAD}">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56F9FD42-4583-4A28-8C5F-0BD3A1160431}">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欺诈</a:t>
          </a:r>
        </a:p>
      </dgm:t>
    </dgm:pt>
    <dgm:pt modelId="{E99CA429-E7B4-4EB5-8DDD-E6592C4B95C3}" type="parTrans" cxnId="{C030390E-43E1-40B4-8924-ADAF9AF0BDDE}">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80B7C9B3-F9FA-414C-9AB1-BC88F070EAB5}" type="sibTrans" cxnId="{C030390E-43E1-40B4-8924-ADAF9AF0BDDE}">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39CEBE93-D45D-49EC-B30B-C25BD2F76776}">
      <dgm:prSet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散布谣言</a:t>
          </a:r>
        </a:p>
      </dgm:t>
    </dgm:pt>
    <dgm:pt modelId="{AA55A792-AF04-4098-B181-C38BF0226235}" type="parTrans" cxnId="{B05209F2-E2B6-415B-AAC7-5128F62E2C8E}">
      <dgm:prSet/>
      <dgm:spPr/>
      <dgm:t>
        <a:bodyPr/>
        <a:lstStyle/>
        <a:p>
          <a:pPr algn="l"/>
          <a:endParaRPr lang="zh-CN" altLang="en-US" sz="1600" b="1">
            <a:solidFill>
              <a:schemeClr val="tx1"/>
            </a:solidFill>
          </a:endParaRPr>
        </a:p>
      </dgm:t>
    </dgm:pt>
    <dgm:pt modelId="{13D24FEC-663A-4F2E-8991-319EA99DA20B}" type="sibTrans" cxnId="{B05209F2-E2B6-415B-AAC7-5128F62E2C8E}">
      <dgm:prSet/>
      <dgm:spPr/>
      <dgm:t>
        <a:bodyPr/>
        <a:lstStyle/>
        <a:p>
          <a:pPr algn="l"/>
          <a:endParaRPr lang="zh-CN" altLang="en-US" sz="1600" b="1">
            <a:solidFill>
              <a:schemeClr val="tx1"/>
            </a:solidFill>
          </a:endParaRPr>
        </a:p>
      </dgm:t>
    </dgm:pt>
    <dgm:pt modelId="{31271BEB-9A8A-4822-9836-B74D69D06E6E}">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不良信息</a:t>
          </a:r>
        </a:p>
      </dgm:t>
    </dgm:pt>
    <dgm:pt modelId="{18ECF403-4643-451F-AA8F-EAB068A079EE}" type="parTrans" cxnId="{58D8FC51-173E-4B93-9AC0-A73CED98A0F9}">
      <dgm:prSet/>
      <dgm:spPr/>
      <dgm:t>
        <a:bodyPr/>
        <a:lstStyle/>
        <a:p>
          <a:pPr algn="l"/>
          <a:endParaRPr lang="zh-CN" altLang="en-US">
            <a:solidFill>
              <a:schemeClr val="tx1"/>
            </a:solidFill>
          </a:endParaRPr>
        </a:p>
      </dgm:t>
    </dgm:pt>
    <dgm:pt modelId="{E5288AD6-4E26-4FCD-AAA0-B6E8B2F83D76}" type="sibTrans" cxnId="{58D8FC51-173E-4B93-9AC0-A73CED98A0F9}">
      <dgm:prSet/>
      <dgm:spPr/>
      <dgm:t>
        <a:bodyPr/>
        <a:lstStyle/>
        <a:p>
          <a:pPr algn="l"/>
          <a:endParaRPr lang="zh-CN" altLang="en-US">
            <a:solidFill>
              <a:schemeClr val="tx1"/>
            </a:solidFill>
          </a:endParaRPr>
        </a:p>
      </dgm:t>
    </dgm:pt>
    <dgm:pt modelId="{345A0E49-CE9E-42D8-BBD9-5125A1B2C1A0}">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网瘾</a:t>
          </a:r>
        </a:p>
      </dgm:t>
    </dgm:pt>
    <dgm:pt modelId="{AF7CF8DB-9D81-41A4-977C-9BE1758196B4}" type="parTrans" cxnId="{EBFD6E5A-7A20-4CF4-9BB9-8C814639A37B}">
      <dgm:prSet/>
      <dgm:spPr/>
      <dgm:t>
        <a:bodyPr/>
        <a:lstStyle/>
        <a:p>
          <a:endParaRPr lang="zh-CN" altLang="en-US">
            <a:solidFill>
              <a:schemeClr val="tx1"/>
            </a:solidFill>
          </a:endParaRPr>
        </a:p>
      </dgm:t>
    </dgm:pt>
    <dgm:pt modelId="{071806DC-3B9D-4BBE-966F-31C19BC1B5BD}" type="sibTrans" cxnId="{EBFD6E5A-7A20-4CF4-9BB9-8C814639A37B}">
      <dgm:prSet/>
      <dgm:spPr/>
      <dgm:t>
        <a:bodyPr/>
        <a:lstStyle/>
        <a:p>
          <a:endParaRPr lang="zh-CN" altLang="en-US">
            <a:solidFill>
              <a:schemeClr val="tx1"/>
            </a:solidFill>
          </a:endParaRPr>
        </a:p>
      </dgm:t>
    </dgm:pt>
    <dgm:pt modelId="{41CEA816-6376-493D-B9E5-598751467D72}">
      <dgm:prSet phldrT="[文本]" custT="1"/>
      <dgm:spPr/>
      <dgm:t>
        <a:bodyPr/>
        <a:lstStyle/>
        <a:p>
          <a:pPr algn="l"/>
          <a:r>
            <a:rPr lang="en-US" altLang="zh-CN" sz="1600" b="1">
              <a:solidFill>
                <a:schemeClr val="tx1"/>
              </a:solidFill>
              <a:latin typeface="微软雅黑" panose="020B0503020204020204" pitchFamily="34" charset="-122"/>
              <a:ea typeface="微软雅黑" panose="020B0503020204020204" pitchFamily="34" charset="-122"/>
            </a:rPr>
            <a:t>……</a:t>
          </a:r>
          <a:endParaRPr lang="zh-CN" altLang="en-US" sz="1600" b="1" dirty="0">
            <a:solidFill>
              <a:schemeClr val="tx1"/>
            </a:solidFill>
            <a:latin typeface="微软雅黑" panose="020B0503020204020204" pitchFamily="34" charset="-122"/>
            <a:ea typeface="微软雅黑" panose="020B0503020204020204" pitchFamily="34" charset="-122"/>
          </a:endParaRPr>
        </a:p>
      </dgm:t>
    </dgm:pt>
    <dgm:pt modelId="{55B9415A-8452-48F8-B878-407D67BB953D}" type="parTrans" cxnId="{3B416CD1-15BF-4252-98CA-E9EF29FD84C3}">
      <dgm:prSet/>
      <dgm:spPr/>
      <dgm:t>
        <a:bodyPr/>
        <a:lstStyle/>
        <a:p>
          <a:endParaRPr lang="zh-CN" altLang="en-US">
            <a:solidFill>
              <a:schemeClr val="tx1"/>
            </a:solidFill>
          </a:endParaRPr>
        </a:p>
      </dgm:t>
    </dgm:pt>
    <dgm:pt modelId="{83C14E44-8D8D-4FCB-B967-B8ADA78E25B7}" type="sibTrans" cxnId="{3B416CD1-15BF-4252-98CA-E9EF29FD84C3}">
      <dgm:prSet/>
      <dgm:spPr/>
      <dgm:t>
        <a:bodyPr/>
        <a:lstStyle/>
        <a:p>
          <a:endParaRPr lang="zh-CN" altLang="en-US">
            <a:solidFill>
              <a:schemeClr val="tx1"/>
            </a:solidFill>
          </a:endParaRPr>
        </a:p>
      </dgm:t>
    </dgm:pt>
    <dgm:pt modelId="{B9B6B670-2E60-4D51-A0B1-71512ED65AD3}" type="pres">
      <dgm:prSet presAssocID="{51D1D430-D996-41E4-BA1B-C6A83F36946C}" presName="linearFlow" presStyleCnt="0">
        <dgm:presLayoutVars>
          <dgm:dir/>
          <dgm:resizeHandles val="exact"/>
        </dgm:presLayoutVars>
      </dgm:prSet>
      <dgm:spPr/>
    </dgm:pt>
    <dgm:pt modelId="{F2AD5EEB-A85F-4177-B696-809101961F83}" type="pres">
      <dgm:prSet presAssocID="{8A4F00E3-F46A-4CBA-82B2-5A10E450DA39}" presName="composite" presStyleCnt="0"/>
      <dgm:spPr/>
    </dgm:pt>
    <dgm:pt modelId="{AB5BAA63-A84A-45D9-BE90-07814A821613}" type="pres">
      <dgm:prSet presAssocID="{8A4F00E3-F46A-4CBA-82B2-5A10E450DA39}" presName="imgShp" presStyleLbl="fgImgPlace1" presStyleIdx="0" presStyleCnt="7"/>
      <dgm:spPr>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dgm:spPr>
    </dgm:pt>
    <dgm:pt modelId="{E7634DBF-D9F5-4E0A-9541-5A67CB150864}" type="pres">
      <dgm:prSet presAssocID="{8A4F00E3-F46A-4CBA-82B2-5A10E450DA39}" presName="txShp" presStyleLbl="node1" presStyleIdx="0" presStyleCnt="7">
        <dgm:presLayoutVars>
          <dgm:bulletEnabled val="1"/>
        </dgm:presLayoutVars>
      </dgm:prSet>
      <dgm:spPr/>
    </dgm:pt>
    <dgm:pt modelId="{D1D9857F-15E6-4B91-A663-416ED206BADD}" type="pres">
      <dgm:prSet presAssocID="{D19CD92A-5807-415A-BBC1-E7A8527C6153}" presName="spacing" presStyleCnt="0"/>
      <dgm:spPr/>
    </dgm:pt>
    <dgm:pt modelId="{12412F22-97B5-4E84-85F7-5C72B5D55869}" type="pres">
      <dgm:prSet presAssocID="{F2D3D92D-8243-45A0-9045-A4D63E6E7F40}" presName="composite" presStyleCnt="0"/>
      <dgm:spPr/>
    </dgm:pt>
    <dgm:pt modelId="{04B9F40C-275B-47DA-8505-BDB99315D1A6}" type="pres">
      <dgm:prSet presAssocID="{F2D3D92D-8243-45A0-9045-A4D63E6E7F40}" presName="imgShp" presStyleLbl="fgImgPlace1" presStyleIdx="1" presStyleCnt="7"/>
      <dgm:spPr>
        <a:blipFill>
          <a:blip xmlns:r="http://schemas.openxmlformats.org/officeDocument/2006/relationships" r:embed="rId2" cstate="print">
            <a:extLst>
              <a:ext uri="{28A0092B-C50C-407E-A947-70E740481C1C}">
                <a14:useLocalDpi xmlns:a14="http://schemas.microsoft.com/office/drawing/2010/main" val="0"/>
              </a:ext>
            </a:extLst>
          </a:blip>
          <a:srcRect/>
          <a:stretch>
            <a:fillRect/>
          </a:stretch>
        </a:blipFill>
      </dgm:spPr>
    </dgm:pt>
    <dgm:pt modelId="{DD0567C2-639F-4DB2-8F5D-E4A1F0FA8E3D}" type="pres">
      <dgm:prSet presAssocID="{F2D3D92D-8243-45A0-9045-A4D63E6E7F40}" presName="txShp" presStyleLbl="node1" presStyleIdx="1" presStyleCnt="7">
        <dgm:presLayoutVars>
          <dgm:bulletEnabled val="1"/>
        </dgm:presLayoutVars>
      </dgm:prSet>
      <dgm:spPr/>
    </dgm:pt>
    <dgm:pt modelId="{7DD80274-21D7-4344-9B36-514B249C9ADD}" type="pres">
      <dgm:prSet presAssocID="{3B918B45-34EC-4674-8DDA-B9430DE47AFA}" presName="spacing" presStyleCnt="0"/>
      <dgm:spPr/>
    </dgm:pt>
    <dgm:pt modelId="{B8150EEF-7957-44CB-B2A8-4AE563810168}" type="pres">
      <dgm:prSet presAssocID="{39CEBE93-D45D-49EC-B30B-C25BD2F76776}" presName="composite" presStyleCnt="0"/>
      <dgm:spPr/>
    </dgm:pt>
    <dgm:pt modelId="{92DE488D-B3DE-493C-AC30-DA96AC1FFB62}" type="pres">
      <dgm:prSet presAssocID="{39CEBE93-D45D-49EC-B30B-C25BD2F76776}" presName="imgShp" presStyleLbl="fgImgPlace1" presStyleIdx="2" presStyleCnt="7"/>
      <dgm:spPr>
        <a:blipFill>
          <a:blip xmlns:r="http://schemas.openxmlformats.org/officeDocument/2006/relationships" r:embed="rId3" cstate="print">
            <a:extLst>
              <a:ext uri="{28A0092B-C50C-407E-A947-70E740481C1C}">
                <a14:useLocalDpi xmlns:a14="http://schemas.microsoft.com/office/drawing/2010/main" val="0"/>
              </a:ext>
            </a:extLst>
          </a:blip>
          <a:srcRect/>
          <a:stretch>
            <a:fillRect/>
          </a:stretch>
        </a:blipFill>
      </dgm:spPr>
    </dgm:pt>
    <dgm:pt modelId="{32459D94-7759-4D01-B95F-2FAC20F969A3}" type="pres">
      <dgm:prSet presAssocID="{39CEBE93-D45D-49EC-B30B-C25BD2F76776}" presName="txShp" presStyleLbl="node1" presStyleIdx="2" presStyleCnt="7">
        <dgm:presLayoutVars>
          <dgm:bulletEnabled val="1"/>
        </dgm:presLayoutVars>
      </dgm:prSet>
      <dgm:spPr/>
    </dgm:pt>
    <dgm:pt modelId="{47834BAD-A98A-4433-9076-8E91796A6670}" type="pres">
      <dgm:prSet presAssocID="{13D24FEC-663A-4F2E-8991-319EA99DA20B}" presName="spacing" presStyleCnt="0"/>
      <dgm:spPr/>
    </dgm:pt>
    <dgm:pt modelId="{A5226936-B418-4B24-BA2B-AC29D3FDCEB2}" type="pres">
      <dgm:prSet presAssocID="{31271BEB-9A8A-4822-9836-B74D69D06E6E}" presName="composite" presStyleCnt="0"/>
      <dgm:spPr/>
    </dgm:pt>
    <dgm:pt modelId="{A6F09614-1B57-44CB-B907-F8E2D46EFEED}" type="pres">
      <dgm:prSet presAssocID="{31271BEB-9A8A-4822-9836-B74D69D06E6E}" presName="imgShp" presStyleLbl="fgImgPlace1" presStyleIdx="3" presStyleCnt="7"/>
      <dgm:spPr>
        <a:blipFill>
          <a:blip xmlns:r="http://schemas.openxmlformats.org/officeDocument/2006/relationships" r:embed="rId4" cstate="print">
            <a:extLst>
              <a:ext uri="{28A0092B-C50C-407E-A947-70E740481C1C}">
                <a14:useLocalDpi xmlns:a14="http://schemas.microsoft.com/office/drawing/2010/main" val="0"/>
              </a:ext>
            </a:extLst>
          </a:blip>
          <a:srcRect/>
          <a:stretch>
            <a:fillRect l="-39000" r="-39000"/>
          </a:stretch>
        </a:blipFill>
      </dgm:spPr>
    </dgm:pt>
    <dgm:pt modelId="{FB7E7170-F4B7-4B0B-9000-4BF0206D9353}" type="pres">
      <dgm:prSet presAssocID="{31271BEB-9A8A-4822-9836-B74D69D06E6E}" presName="txShp" presStyleLbl="node1" presStyleIdx="3" presStyleCnt="7">
        <dgm:presLayoutVars>
          <dgm:bulletEnabled val="1"/>
        </dgm:presLayoutVars>
      </dgm:prSet>
      <dgm:spPr/>
    </dgm:pt>
    <dgm:pt modelId="{6E1D45FB-D7A7-4118-AD94-01DFBABBF3DA}" type="pres">
      <dgm:prSet presAssocID="{E5288AD6-4E26-4FCD-AAA0-B6E8B2F83D76}" presName="spacing" presStyleCnt="0"/>
      <dgm:spPr/>
    </dgm:pt>
    <dgm:pt modelId="{F0C15FC7-06CF-45A4-8275-8B38944324A5}" type="pres">
      <dgm:prSet presAssocID="{56F9FD42-4583-4A28-8C5F-0BD3A1160431}" presName="composite" presStyleCnt="0"/>
      <dgm:spPr/>
    </dgm:pt>
    <dgm:pt modelId="{D61B7255-D308-44FB-979B-BD5549502A3A}" type="pres">
      <dgm:prSet presAssocID="{56F9FD42-4583-4A28-8C5F-0BD3A1160431}" presName="imgShp" presStyleLbl="fgImgPlace1" presStyleIdx="4" presStyleCnt="7"/>
      <dgm:spPr>
        <a:blipFill>
          <a:blip xmlns:r="http://schemas.openxmlformats.org/officeDocument/2006/relationships" r:embed="rId5" cstate="print">
            <a:extLst>
              <a:ext uri="{28A0092B-C50C-407E-A947-70E740481C1C}">
                <a14:useLocalDpi xmlns:a14="http://schemas.microsoft.com/office/drawing/2010/main" val="0"/>
              </a:ext>
            </a:extLst>
          </a:blip>
          <a:srcRect/>
          <a:stretch>
            <a:fillRect l="-23000" r="-23000"/>
          </a:stretch>
        </a:blipFill>
      </dgm:spPr>
    </dgm:pt>
    <dgm:pt modelId="{C7B6737C-F129-4379-AF97-7E098CF82549}" type="pres">
      <dgm:prSet presAssocID="{56F9FD42-4583-4A28-8C5F-0BD3A1160431}" presName="txShp" presStyleLbl="node1" presStyleIdx="4" presStyleCnt="7">
        <dgm:presLayoutVars>
          <dgm:bulletEnabled val="1"/>
        </dgm:presLayoutVars>
      </dgm:prSet>
      <dgm:spPr/>
    </dgm:pt>
    <dgm:pt modelId="{BB664456-D3BE-41AE-B032-290A5728640D}" type="pres">
      <dgm:prSet presAssocID="{80B7C9B3-F9FA-414C-9AB1-BC88F070EAB5}" presName="spacing" presStyleCnt="0"/>
      <dgm:spPr/>
    </dgm:pt>
    <dgm:pt modelId="{34047A67-4A88-4D1D-8E1E-0C4253FB4360}" type="pres">
      <dgm:prSet presAssocID="{345A0E49-CE9E-42D8-BBD9-5125A1B2C1A0}" presName="composite" presStyleCnt="0"/>
      <dgm:spPr/>
    </dgm:pt>
    <dgm:pt modelId="{9BF7EE4E-012F-4DF5-B272-EAA79ECA8C75}" type="pres">
      <dgm:prSet presAssocID="{345A0E49-CE9E-42D8-BBD9-5125A1B2C1A0}" presName="imgShp" presStyleLbl="fgImgPlace1" presStyleIdx="5" presStyleCnt="7"/>
      <dgm:spPr>
        <a:blipFill>
          <a:blip xmlns:r="http://schemas.openxmlformats.org/officeDocument/2006/relationships" r:embed="rId6" cstate="print">
            <a:extLst>
              <a:ext uri="{28A0092B-C50C-407E-A947-70E740481C1C}">
                <a14:useLocalDpi xmlns:a14="http://schemas.microsoft.com/office/drawing/2010/main" val="0"/>
              </a:ext>
            </a:extLst>
          </a:blip>
          <a:srcRect/>
          <a:stretch>
            <a:fillRect l="-29000" r="-29000"/>
          </a:stretch>
        </a:blipFill>
      </dgm:spPr>
    </dgm:pt>
    <dgm:pt modelId="{42B48CE5-911D-44D5-AFA1-377112EF11A6}" type="pres">
      <dgm:prSet presAssocID="{345A0E49-CE9E-42D8-BBD9-5125A1B2C1A0}" presName="txShp" presStyleLbl="node1" presStyleIdx="5" presStyleCnt="7">
        <dgm:presLayoutVars>
          <dgm:bulletEnabled val="1"/>
        </dgm:presLayoutVars>
      </dgm:prSet>
      <dgm:spPr/>
    </dgm:pt>
    <dgm:pt modelId="{1DA9CB06-B2B5-42D3-8D21-F7214E0D96B5}" type="pres">
      <dgm:prSet presAssocID="{071806DC-3B9D-4BBE-966F-31C19BC1B5BD}" presName="spacing" presStyleCnt="0"/>
      <dgm:spPr/>
    </dgm:pt>
    <dgm:pt modelId="{ADFA2B5E-1568-4F12-BA99-A0DEFFA8E653}" type="pres">
      <dgm:prSet presAssocID="{41CEA816-6376-493D-B9E5-598751467D72}" presName="composite" presStyleCnt="0"/>
      <dgm:spPr/>
    </dgm:pt>
    <dgm:pt modelId="{4737311F-297D-4E95-B8C4-5619F0D22DF2}" type="pres">
      <dgm:prSet presAssocID="{41CEA816-6376-493D-B9E5-598751467D72}" presName="imgShp" presStyleLbl="fgImgPlace1" presStyleIdx="6" presStyleCnt="7"/>
      <dgm:spPr/>
    </dgm:pt>
    <dgm:pt modelId="{AB384311-3D9B-45D7-AAED-45272C0B16D1}" type="pres">
      <dgm:prSet presAssocID="{41CEA816-6376-493D-B9E5-598751467D72}" presName="txShp" presStyleLbl="node1" presStyleIdx="6" presStyleCnt="7">
        <dgm:presLayoutVars>
          <dgm:bulletEnabled val="1"/>
        </dgm:presLayoutVars>
      </dgm:prSet>
      <dgm:spPr/>
    </dgm:pt>
  </dgm:ptLst>
  <dgm:cxnLst>
    <dgm:cxn modelId="{C030390E-43E1-40B4-8924-ADAF9AF0BDDE}" srcId="{51D1D430-D996-41E4-BA1B-C6A83F36946C}" destId="{56F9FD42-4583-4A28-8C5F-0BD3A1160431}" srcOrd="4" destOrd="0" parTransId="{E99CA429-E7B4-4EB5-8DDD-E6592C4B95C3}" sibTransId="{80B7C9B3-F9FA-414C-9AB1-BC88F070EAB5}"/>
    <dgm:cxn modelId="{D12F5A0E-DA3A-483A-956B-831121C73948}" type="presOf" srcId="{41CEA816-6376-493D-B9E5-598751467D72}" destId="{AB384311-3D9B-45D7-AAED-45272C0B16D1}" srcOrd="0" destOrd="0" presId="urn:microsoft.com/office/officeart/2005/8/layout/vList3#1"/>
    <dgm:cxn modelId="{2775021C-D204-4FE7-A731-4792D5389EAD}" srcId="{51D1D430-D996-41E4-BA1B-C6A83F36946C}" destId="{F2D3D92D-8243-45A0-9045-A4D63E6E7F40}" srcOrd="1" destOrd="0" parTransId="{940EF993-6126-4520-B05A-6D4B241C30CB}" sibTransId="{3B918B45-34EC-4674-8DDA-B9430DE47AFA}"/>
    <dgm:cxn modelId="{6AE5EE6D-F77C-48DC-A10F-EAF1E6A3121C}" type="presOf" srcId="{F2D3D92D-8243-45A0-9045-A4D63E6E7F40}" destId="{DD0567C2-639F-4DB2-8F5D-E4A1F0FA8E3D}" srcOrd="0" destOrd="0" presId="urn:microsoft.com/office/officeart/2005/8/layout/vList3#1"/>
    <dgm:cxn modelId="{58D8FC51-173E-4B93-9AC0-A73CED98A0F9}" srcId="{51D1D430-D996-41E4-BA1B-C6A83F36946C}" destId="{31271BEB-9A8A-4822-9836-B74D69D06E6E}" srcOrd="3" destOrd="0" parTransId="{18ECF403-4643-451F-AA8F-EAB068A079EE}" sibTransId="{E5288AD6-4E26-4FCD-AAA0-B6E8B2F83D76}"/>
    <dgm:cxn modelId="{EBFD6E5A-7A20-4CF4-9BB9-8C814639A37B}" srcId="{51D1D430-D996-41E4-BA1B-C6A83F36946C}" destId="{345A0E49-CE9E-42D8-BBD9-5125A1B2C1A0}" srcOrd="5" destOrd="0" parTransId="{AF7CF8DB-9D81-41A4-977C-9BE1758196B4}" sibTransId="{071806DC-3B9D-4BBE-966F-31C19BC1B5BD}"/>
    <dgm:cxn modelId="{8F53B97E-D5C8-45D0-AB49-E9BCA145D685}" type="presOf" srcId="{31271BEB-9A8A-4822-9836-B74D69D06E6E}" destId="{FB7E7170-F4B7-4B0B-9000-4BF0206D9353}" srcOrd="0" destOrd="0" presId="urn:microsoft.com/office/officeart/2005/8/layout/vList3#1"/>
    <dgm:cxn modelId="{F2294D84-630C-47EE-B7EA-88571B5A25B3}" type="presOf" srcId="{39CEBE93-D45D-49EC-B30B-C25BD2F76776}" destId="{32459D94-7759-4D01-B95F-2FAC20F969A3}" srcOrd="0" destOrd="0" presId="urn:microsoft.com/office/officeart/2005/8/layout/vList3#1"/>
    <dgm:cxn modelId="{B1BB62B4-F4F7-4832-8FFB-55905485C1DE}" type="presOf" srcId="{345A0E49-CE9E-42D8-BBD9-5125A1B2C1A0}" destId="{42B48CE5-911D-44D5-AFA1-377112EF11A6}" srcOrd="0" destOrd="0" presId="urn:microsoft.com/office/officeart/2005/8/layout/vList3#1"/>
    <dgm:cxn modelId="{DAEBBFB6-C82D-4C01-9BF5-DD42C1C4BF17}" srcId="{51D1D430-D996-41E4-BA1B-C6A83F36946C}" destId="{8A4F00E3-F46A-4CBA-82B2-5A10E450DA39}" srcOrd="0" destOrd="0" parTransId="{F63FFB52-3939-4213-9316-F1327036C529}" sibTransId="{D19CD92A-5807-415A-BBC1-E7A8527C6153}"/>
    <dgm:cxn modelId="{3818B0C2-78AA-4551-9381-4676DEE6C459}" type="presOf" srcId="{56F9FD42-4583-4A28-8C5F-0BD3A1160431}" destId="{C7B6737C-F129-4379-AF97-7E098CF82549}" srcOrd="0" destOrd="0" presId="urn:microsoft.com/office/officeart/2005/8/layout/vList3#1"/>
    <dgm:cxn modelId="{B0BFC0C5-8336-4096-96A6-4FBE33FB8539}" type="presOf" srcId="{51D1D430-D996-41E4-BA1B-C6A83F36946C}" destId="{B9B6B670-2E60-4D51-A0B1-71512ED65AD3}" srcOrd="0" destOrd="0" presId="urn:microsoft.com/office/officeart/2005/8/layout/vList3#1"/>
    <dgm:cxn modelId="{4F7F16C6-1413-466C-82E8-3BF2FF8D3234}" type="presOf" srcId="{8A4F00E3-F46A-4CBA-82B2-5A10E450DA39}" destId="{E7634DBF-D9F5-4E0A-9541-5A67CB150864}" srcOrd="0" destOrd="0" presId="urn:microsoft.com/office/officeart/2005/8/layout/vList3#1"/>
    <dgm:cxn modelId="{3B416CD1-15BF-4252-98CA-E9EF29FD84C3}" srcId="{51D1D430-D996-41E4-BA1B-C6A83F36946C}" destId="{41CEA816-6376-493D-B9E5-598751467D72}" srcOrd="6" destOrd="0" parTransId="{55B9415A-8452-48F8-B878-407D67BB953D}" sibTransId="{83C14E44-8D8D-4FCB-B967-B8ADA78E25B7}"/>
    <dgm:cxn modelId="{B05209F2-E2B6-415B-AAC7-5128F62E2C8E}" srcId="{51D1D430-D996-41E4-BA1B-C6A83F36946C}" destId="{39CEBE93-D45D-49EC-B30B-C25BD2F76776}" srcOrd="2" destOrd="0" parTransId="{AA55A792-AF04-4098-B181-C38BF0226235}" sibTransId="{13D24FEC-663A-4F2E-8991-319EA99DA20B}"/>
    <dgm:cxn modelId="{7D0F599C-460D-435C-A19F-50A2D7EDB3C9}" type="presParOf" srcId="{B9B6B670-2E60-4D51-A0B1-71512ED65AD3}" destId="{F2AD5EEB-A85F-4177-B696-809101961F83}" srcOrd="0" destOrd="0" presId="urn:microsoft.com/office/officeart/2005/8/layout/vList3#1"/>
    <dgm:cxn modelId="{593BE286-84A5-4118-9930-A98FC6D519BA}" type="presParOf" srcId="{F2AD5EEB-A85F-4177-B696-809101961F83}" destId="{AB5BAA63-A84A-45D9-BE90-07814A821613}" srcOrd="0" destOrd="0" presId="urn:microsoft.com/office/officeart/2005/8/layout/vList3#1"/>
    <dgm:cxn modelId="{9CFB5CAF-6BF2-467D-9FB8-996A5ED02915}" type="presParOf" srcId="{F2AD5EEB-A85F-4177-B696-809101961F83}" destId="{E7634DBF-D9F5-4E0A-9541-5A67CB150864}" srcOrd="1" destOrd="0" presId="urn:microsoft.com/office/officeart/2005/8/layout/vList3#1"/>
    <dgm:cxn modelId="{719B2224-DD6A-46C9-B526-1B8DA1143B9B}" type="presParOf" srcId="{B9B6B670-2E60-4D51-A0B1-71512ED65AD3}" destId="{D1D9857F-15E6-4B91-A663-416ED206BADD}" srcOrd="1" destOrd="0" presId="urn:microsoft.com/office/officeart/2005/8/layout/vList3#1"/>
    <dgm:cxn modelId="{365B5F7C-EE86-4410-BCFD-2F2EB26B5668}" type="presParOf" srcId="{B9B6B670-2E60-4D51-A0B1-71512ED65AD3}" destId="{12412F22-97B5-4E84-85F7-5C72B5D55869}" srcOrd="2" destOrd="0" presId="urn:microsoft.com/office/officeart/2005/8/layout/vList3#1"/>
    <dgm:cxn modelId="{D6BE9DE1-DD72-4F40-B0E5-99589FD26DF4}" type="presParOf" srcId="{12412F22-97B5-4E84-85F7-5C72B5D55869}" destId="{04B9F40C-275B-47DA-8505-BDB99315D1A6}" srcOrd="0" destOrd="0" presId="urn:microsoft.com/office/officeart/2005/8/layout/vList3#1"/>
    <dgm:cxn modelId="{304DB147-9BF0-4099-9D88-2615457A603A}" type="presParOf" srcId="{12412F22-97B5-4E84-85F7-5C72B5D55869}" destId="{DD0567C2-639F-4DB2-8F5D-E4A1F0FA8E3D}" srcOrd="1" destOrd="0" presId="urn:microsoft.com/office/officeart/2005/8/layout/vList3#1"/>
    <dgm:cxn modelId="{60303404-6627-41D1-A483-17D15329BCF2}" type="presParOf" srcId="{B9B6B670-2E60-4D51-A0B1-71512ED65AD3}" destId="{7DD80274-21D7-4344-9B36-514B249C9ADD}" srcOrd="3" destOrd="0" presId="urn:microsoft.com/office/officeart/2005/8/layout/vList3#1"/>
    <dgm:cxn modelId="{E2FC0F46-4982-477E-BDB2-83D4FF689D87}" type="presParOf" srcId="{B9B6B670-2E60-4D51-A0B1-71512ED65AD3}" destId="{B8150EEF-7957-44CB-B2A8-4AE563810168}" srcOrd="4" destOrd="0" presId="urn:microsoft.com/office/officeart/2005/8/layout/vList3#1"/>
    <dgm:cxn modelId="{3D1442C3-7605-4722-82C9-6B5307EAAB56}" type="presParOf" srcId="{B8150EEF-7957-44CB-B2A8-4AE563810168}" destId="{92DE488D-B3DE-493C-AC30-DA96AC1FFB62}" srcOrd="0" destOrd="0" presId="urn:microsoft.com/office/officeart/2005/8/layout/vList3#1"/>
    <dgm:cxn modelId="{8882025F-5993-40CC-AFD7-D1D04CAD30F8}" type="presParOf" srcId="{B8150EEF-7957-44CB-B2A8-4AE563810168}" destId="{32459D94-7759-4D01-B95F-2FAC20F969A3}" srcOrd="1" destOrd="0" presId="urn:microsoft.com/office/officeart/2005/8/layout/vList3#1"/>
    <dgm:cxn modelId="{75287474-B18B-44F6-B52B-FE24F75485C2}" type="presParOf" srcId="{B9B6B670-2E60-4D51-A0B1-71512ED65AD3}" destId="{47834BAD-A98A-4433-9076-8E91796A6670}" srcOrd="5" destOrd="0" presId="urn:microsoft.com/office/officeart/2005/8/layout/vList3#1"/>
    <dgm:cxn modelId="{B0FCF2CE-025D-4232-80E5-83D56FCAB3AF}" type="presParOf" srcId="{B9B6B670-2E60-4D51-A0B1-71512ED65AD3}" destId="{A5226936-B418-4B24-BA2B-AC29D3FDCEB2}" srcOrd="6" destOrd="0" presId="urn:microsoft.com/office/officeart/2005/8/layout/vList3#1"/>
    <dgm:cxn modelId="{3C4578A0-048A-40EC-9D11-98EA784DD1B8}" type="presParOf" srcId="{A5226936-B418-4B24-BA2B-AC29D3FDCEB2}" destId="{A6F09614-1B57-44CB-B907-F8E2D46EFEED}" srcOrd="0" destOrd="0" presId="urn:microsoft.com/office/officeart/2005/8/layout/vList3#1"/>
    <dgm:cxn modelId="{C80AA47F-A532-4464-912C-AB2DB4C3EE00}" type="presParOf" srcId="{A5226936-B418-4B24-BA2B-AC29D3FDCEB2}" destId="{FB7E7170-F4B7-4B0B-9000-4BF0206D9353}" srcOrd="1" destOrd="0" presId="urn:microsoft.com/office/officeart/2005/8/layout/vList3#1"/>
    <dgm:cxn modelId="{60B4676C-9BA8-46E7-8336-3C9E8D7614AF}" type="presParOf" srcId="{B9B6B670-2E60-4D51-A0B1-71512ED65AD3}" destId="{6E1D45FB-D7A7-4118-AD94-01DFBABBF3DA}" srcOrd="7" destOrd="0" presId="urn:microsoft.com/office/officeart/2005/8/layout/vList3#1"/>
    <dgm:cxn modelId="{84DF445C-3E51-4BE0-BCE5-3788B9E8E2C4}" type="presParOf" srcId="{B9B6B670-2E60-4D51-A0B1-71512ED65AD3}" destId="{F0C15FC7-06CF-45A4-8275-8B38944324A5}" srcOrd="8" destOrd="0" presId="urn:microsoft.com/office/officeart/2005/8/layout/vList3#1"/>
    <dgm:cxn modelId="{98115743-DA9D-496B-9D4A-73EA55CE88CA}" type="presParOf" srcId="{F0C15FC7-06CF-45A4-8275-8B38944324A5}" destId="{D61B7255-D308-44FB-979B-BD5549502A3A}" srcOrd="0" destOrd="0" presId="urn:microsoft.com/office/officeart/2005/8/layout/vList3#1"/>
    <dgm:cxn modelId="{89BC8F60-4693-4E7E-B664-3526737C9473}" type="presParOf" srcId="{F0C15FC7-06CF-45A4-8275-8B38944324A5}" destId="{C7B6737C-F129-4379-AF97-7E098CF82549}" srcOrd="1" destOrd="0" presId="urn:microsoft.com/office/officeart/2005/8/layout/vList3#1"/>
    <dgm:cxn modelId="{06A4A751-435E-4EB3-8263-F4C0FCC737BA}" type="presParOf" srcId="{B9B6B670-2E60-4D51-A0B1-71512ED65AD3}" destId="{BB664456-D3BE-41AE-B032-290A5728640D}" srcOrd="9" destOrd="0" presId="urn:microsoft.com/office/officeart/2005/8/layout/vList3#1"/>
    <dgm:cxn modelId="{CC998FB6-6BE0-4670-BD85-671FB59323EB}" type="presParOf" srcId="{B9B6B670-2E60-4D51-A0B1-71512ED65AD3}" destId="{34047A67-4A88-4D1D-8E1E-0C4253FB4360}" srcOrd="10" destOrd="0" presId="urn:microsoft.com/office/officeart/2005/8/layout/vList3#1"/>
    <dgm:cxn modelId="{2C5C2ED4-25B3-4D76-BD0A-4C3B4693B124}" type="presParOf" srcId="{34047A67-4A88-4D1D-8E1E-0C4253FB4360}" destId="{9BF7EE4E-012F-4DF5-B272-EAA79ECA8C75}" srcOrd="0" destOrd="0" presId="urn:microsoft.com/office/officeart/2005/8/layout/vList3#1"/>
    <dgm:cxn modelId="{2B3A76D8-B638-4E08-8194-1F8969229CFF}" type="presParOf" srcId="{34047A67-4A88-4D1D-8E1E-0C4253FB4360}" destId="{42B48CE5-911D-44D5-AFA1-377112EF11A6}" srcOrd="1" destOrd="0" presId="urn:microsoft.com/office/officeart/2005/8/layout/vList3#1"/>
    <dgm:cxn modelId="{5D432E06-4916-4243-9A51-BA09B0C9A8FA}" type="presParOf" srcId="{B9B6B670-2E60-4D51-A0B1-71512ED65AD3}" destId="{1DA9CB06-B2B5-42D3-8D21-F7214E0D96B5}" srcOrd="11" destOrd="0" presId="urn:microsoft.com/office/officeart/2005/8/layout/vList3#1"/>
    <dgm:cxn modelId="{7A09CFE1-39FD-4FEB-BAC6-AEECD7F5268C}" type="presParOf" srcId="{B9B6B670-2E60-4D51-A0B1-71512ED65AD3}" destId="{ADFA2B5E-1568-4F12-BA99-A0DEFFA8E653}" srcOrd="12" destOrd="0" presId="urn:microsoft.com/office/officeart/2005/8/layout/vList3#1"/>
    <dgm:cxn modelId="{8462ABDE-8704-4537-A38B-F7B406D4E01B}" type="presParOf" srcId="{ADFA2B5E-1568-4F12-BA99-A0DEFFA8E653}" destId="{4737311F-297D-4E95-B8C4-5619F0D22DF2}" srcOrd="0" destOrd="0" presId="urn:microsoft.com/office/officeart/2005/8/layout/vList3#1"/>
    <dgm:cxn modelId="{880A6CC5-01B4-487F-B984-B5D3483F0793}" type="presParOf" srcId="{ADFA2B5E-1568-4F12-BA99-A0DEFFA8E653}" destId="{AB384311-3D9B-45D7-AAED-45272C0B16D1}" srcOrd="1" destOrd="0" presId="urn:microsoft.com/office/officeart/2005/8/layout/vList3#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E9E8D6-7943-491A-9523-3E98B8E87243}" type="doc">
      <dgm:prSet loTypeId="urn:microsoft.com/office/officeart/2009/3/layout/StepUpProcess" loCatId="process" qsTypeId="urn:microsoft.com/office/officeart/2005/8/quickstyle/simple3" qsCatId="simple" csTypeId="urn:microsoft.com/office/officeart/2005/8/colors/colorful1#3" csCatId="colorful" phldr="1"/>
      <dgm:spPr/>
    </dgm:pt>
    <dgm:pt modelId="{7525BF00-3F15-4D22-873A-D01B4ACE4B0B}">
      <dgm:prSet phldrT="[文本]" custT="1"/>
      <dgm:spPr/>
      <dgm:t>
        <a:bodyPr/>
        <a:lstStyle/>
        <a:p>
          <a:pPr>
            <a:lnSpc>
              <a:spcPts val="2800"/>
            </a:lnSpc>
            <a:spcAft>
              <a:spcPts val="0"/>
            </a:spcAft>
          </a:pPr>
          <a:r>
            <a:rPr lang="en-US" altLang="en-US" sz="1800" b="1" dirty="0">
              <a:solidFill>
                <a:srgbClr val="CC00CC"/>
              </a:solidFill>
              <a:latin typeface="微软雅黑" panose="020B0503020204020204" pitchFamily="34" charset="-122"/>
              <a:ea typeface="微软雅黑" panose="020B0503020204020204" pitchFamily="34" charset="-122"/>
            </a:rPr>
            <a:t>1969 – 1990</a:t>
          </a:r>
        </a:p>
        <a:p>
          <a:pPr>
            <a:lnSpc>
              <a:spcPts val="2800"/>
            </a:lnSpc>
            <a:spcAft>
              <a:spcPts val="0"/>
            </a:spcAft>
          </a:pPr>
          <a:r>
            <a:rPr lang="zh-CN" altLang="en-US" sz="1800" b="1" dirty="0">
              <a:latin typeface="微软雅黑" panose="020B0503020204020204" pitchFamily="34" charset="-122"/>
              <a:ea typeface="微软雅黑" panose="020B0503020204020204" pitchFamily="34" charset="-122"/>
            </a:rPr>
            <a:t>从单个网络 </a:t>
          </a:r>
          <a:r>
            <a:rPr lang="en-US" altLang="en-US" sz="1800" b="1" dirty="0">
              <a:latin typeface="微软雅黑" panose="020B0503020204020204" pitchFamily="34" charset="-122"/>
              <a:ea typeface="微软雅黑" panose="020B0503020204020204" pitchFamily="34" charset="-122"/>
            </a:rPr>
            <a:t>ARPANET </a:t>
          </a:r>
          <a:r>
            <a:rPr lang="zh-CN" altLang="en-US" sz="1800" b="1" dirty="0">
              <a:latin typeface="微软雅黑" panose="020B0503020204020204" pitchFamily="34" charset="-122"/>
              <a:ea typeface="微软雅黑" panose="020B0503020204020204" pitchFamily="34" charset="-122"/>
            </a:rPr>
            <a:t>向互联网发展。</a:t>
          </a:r>
        </a:p>
      </dgm:t>
    </dgm:pt>
    <dgm:pt modelId="{8E64C77F-27AA-4FE1-A02F-58BED5B2B53E}" type="parTrans" cxnId="{C7815E85-C267-48CA-91E2-39605BCE67C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06F6F5A-3DC5-4356-9FF7-49BF329376D0}" type="sibTrans" cxnId="{C7815E85-C267-48CA-91E2-39605BCE67C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E9B057-D1EF-4B46-A5F0-3833969C6F68}">
      <dgm:prSet phldrT="[文本]" custT="1"/>
      <dgm:spPr/>
      <dgm:t>
        <a:bodyPr/>
        <a:lstStyle/>
        <a:p>
          <a:pPr>
            <a:lnSpc>
              <a:spcPts val="2800"/>
            </a:lnSpc>
            <a:spcAft>
              <a:spcPts val="0"/>
            </a:spcAft>
          </a:pPr>
          <a:r>
            <a:rPr lang="en-US" altLang="en-US" sz="1800" b="1" dirty="0">
              <a:solidFill>
                <a:srgbClr val="CC00CC"/>
              </a:solidFill>
              <a:latin typeface="微软雅黑" panose="020B0503020204020204" pitchFamily="34" charset="-122"/>
              <a:ea typeface="微软雅黑" panose="020B0503020204020204" pitchFamily="34" charset="-122"/>
            </a:rPr>
            <a:t>1985 – 1993</a:t>
          </a:r>
        </a:p>
        <a:p>
          <a:pPr>
            <a:lnSpc>
              <a:spcPts val="2800"/>
            </a:lnSpc>
            <a:spcAft>
              <a:spcPts val="0"/>
            </a:spcAft>
          </a:pPr>
          <a:r>
            <a:rPr lang="zh-CN" altLang="en-US" sz="1800" b="1" dirty="0">
              <a:latin typeface="微软雅黑" panose="020B0503020204020204" pitchFamily="34" charset="-122"/>
              <a:ea typeface="微软雅黑" panose="020B0503020204020204" pitchFamily="34" charset="-122"/>
            </a:rPr>
            <a:t>建成了三级结构的互联网 。</a:t>
          </a:r>
        </a:p>
      </dgm:t>
    </dgm:pt>
    <dgm:pt modelId="{2FF9A435-A270-4C54-AB5F-49378E55D42B}" type="parTrans" cxnId="{0F47369F-75EF-4875-B4B0-2E8C24B17E8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3761B63-477C-4FC3-9819-A534BE583620}" type="sibTrans" cxnId="{0F47369F-75EF-4875-B4B0-2E8C24B17E8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61D3777-5F64-44B8-9B83-5B7FD079F6FA}">
      <dgm:prSet phldrT="[文本]" custT="1"/>
      <dgm:spPr/>
      <dgm:t>
        <a:bodyPr/>
        <a:lstStyle/>
        <a:p>
          <a:pPr>
            <a:lnSpc>
              <a:spcPts val="2800"/>
            </a:lnSpc>
            <a:spcAft>
              <a:spcPts val="0"/>
            </a:spcAft>
          </a:pPr>
          <a:r>
            <a:rPr lang="en-US" altLang="en-US" sz="1800" b="1" dirty="0">
              <a:solidFill>
                <a:srgbClr val="CC00CC"/>
              </a:solidFill>
              <a:latin typeface="微软雅黑" panose="020B0503020204020204" pitchFamily="34" charset="-122"/>
              <a:ea typeface="微软雅黑" panose="020B0503020204020204" pitchFamily="34" charset="-122"/>
            </a:rPr>
            <a:t>1993 –</a:t>
          </a:r>
          <a:r>
            <a:rPr lang="en-US" altLang="zh-CN" sz="1800" b="1" dirty="0">
              <a:solidFill>
                <a:srgbClr val="CC00CC"/>
              </a:solidFill>
              <a:latin typeface="微软雅黑" panose="020B0503020204020204" pitchFamily="34" charset="-122"/>
              <a:ea typeface="微软雅黑" panose="020B0503020204020204" pitchFamily="34" charset="-122"/>
            </a:rPr>
            <a:t> </a:t>
          </a:r>
          <a:r>
            <a:rPr lang="zh-CN" altLang="en-US" sz="1800" b="1" dirty="0">
              <a:solidFill>
                <a:srgbClr val="CC00CC"/>
              </a:solidFill>
              <a:latin typeface="微软雅黑" panose="020B0503020204020204" pitchFamily="34" charset="-122"/>
              <a:ea typeface="微软雅黑" panose="020B0503020204020204" pitchFamily="34" charset="-122"/>
            </a:rPr>
            <a:t>现在</a:t>
          </a:r>
          <a:endParaRPr lang="en-US" altLang="zh-CN" sz="1800" b="1" dirty="0">
            <a:solidFill>
              <a:srgbClr val="CC00CC"/>
            </a:solidFill>
            <a:latin typeface="微软雅黑" panose="020B0503020204020204" pitchFamily="34" charset="-122"/>
            <a:ea typeface="微软雅黑" panose="020B0503020204020204" pitchFamily="34" charset="-122"/>
          </a:endParaRPr>
        </a:p>
        <a:p>
          <a:pPr>
            <a:lnSpc>
              <a:spcPts val="2800"/>
            </a:lnSpc>
            <a:spcAft>
              <a:spcPts val="0"/>
            </a:spcAft>
          </a:pPr>
          <a:r>
            <a:rPr lang="zh-CN" altLang="zh-CN" sz="1800" b="1" dirty="0">
              <a:latin typeface="微软雅黑" panose="020B0503020204020204" pitchFamily="34" charset="-122"/>
              <a:ea typeface="微软雅黑" panose="020B0503020204020204" pitchFamily="34" charset="-122"/>
            </a:rPr>
            <a:t>全球范围的多层次</a:t>
          </a:r>
          <a:r>
            <a:rPr lang="en-US" altLang="zh-CN" sz="1800" b="1" dirty="0">
              <a:latin typeface="微软雅黑" panose="020B0503020204020204" pitchFamily="34" charset="-122"/>
              <a:ea typeface="微软雅黑" panose="020B0503020204020204" pitchFamily="34" charset="-122"/>
            </a:rPr>
            <a:t> ISP </a:t>
          </a:r>
          <a:r>
            <a:rPr lang="zh-CN" altLang="zh-CN" sz="1800" b="1" dirty="0">
              <a:latin typeface="微软雅黑" panose="020B0503020204020204" pitchFamily="34" charset="-122"/>
              <a:ea typeface="微软雅黑" panose="020B0503020204020204" pitchFamily="34" charset="-122"/>
            </a:rPr>
            <a:t>结构的互联网。</a:t>
          </a:r>
          <a:endParaRPr lang="zh-CN" altLang="en-US" sz="1800" b="1" dirty="0">
            <a:latin typeface="微软雅黑" panose="020B0503020204020204" pitchFamily="34" charset="-122"/>
            <a:ea typeface="微软雅黑" panose="020B0503020204020204" pitchFamily="34" charset="-122"/>
          </a:endParaRPr>
        </a:p>
      </dgm:t>
    </dgm:pt>
    <dgm:pt modelId="{ABCE62BB-5A59-426D-B801-2B88D7E829BF}" type="parTrans" cxnId="{9CE56956-FCE7-46CA-BC05-78011787A43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5B7E9C0-C9A5-41D8-B3CA-03C0EB2E5AF1}" type="sibTrans" cxnId="{9CE56956-FCE7-46CA-BC05-78011787A43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B567201-BF31-4630-B798-FFEA490F14AC}" type="pres">
      <dgm:prSet presAssocID="{3DE9E8D6-7943-491A-9523-3E98B8E87243}" presName="rootnode" presStyleCnt="0">
        <dgm:presLayoutVars>
          <dgm:chMax/>
          <dgm:chPref/>
          <dgm:dir/>
          <dgm:animLvl val="lvl"/>
        </dgm:presLayoutVars>
      </dgm:prSet>
      <dgm:spPr/>
    </dgm:pt>
    <dgm:pt modelId="{9649E880-299C-4870-9F07-D92C84C9D746}" type="pres">
      <dgm:prSet presAssocID="{7525BF00-3F15-4D22-873A-D01B4ACE4B0B}" presName="composite" presStyleCnt="0"/>
      <dgm:spPr/>
    </dgm:pt>
    <dgm:pt modelId="{C11723FB-FD44-4790-9882-F784D01504C2}" type="pres">
      <dgm:prSet presAssocID="{7525BF00-3F15-4D22-873A-D01B4ACE4B0B}" presName="LShape" presStyleLbl="alignNode1" presStyleIdx="0" presStyleCnt="5" custScaleX="175558"/>
      <dgm:spPr/>
    </dgm:pt>
    <dgm:pt modelId="{9606A409-0386-4958-AF71-520045418D02}" type="pres">
      <dgm:prSet presAssocID="{7525BF00-3F15-4D22-873A-D01B4ACE4B0B}" presName="ParentText" presStyleLbl="revTx" presStyleIdx="0" presStyleCnt="3" custScaleX="178477">
        <dgm:presLayoutVars>
          <dgm:chMax val="0"/>
          <dgm:chPref val="0"/>
          <dgm:bulletEnabled val="1"/>
        </dgm:presLayoutVars>
      </dgm:prSet>
      <dgm:spPr/>
    </dgm:pt>
    <dgm:pt modelId="{01A2BA42-237A-44CF-A211-45BD14932625}" type="pres">
      <dgm:prSet presAssocID="{7525BF00-3F15-4D22-873A-D01B4ACE4B0B}" presName="Triangle" presStyleLbl="alignNode1" presStyleIdx="1" presStyleCnt="5"/>
      <dgm:spPr/>
    </dgm:pt>
    <dgm:pt modelId="{0AAD6196-57D2-4FC3-9D69-A209405DA879}" type="pres">
      <dgm:prSet presAssocID="{706F6F5A-3DC5-4356-9FF7-49BF329376D0}" presName="sibTrans" presStyleCnt="0"/>
      <dgm:spPr/>
    </dgm:pt>
    <dgm:pt modelId="{2CB18A98-EE04-4770-82BE-734866FE88EE}" type="pres">
      <dgm:prSet presAssocID="{706F6F5A-3DC5-4356-9FF7-49BF329376D0}" presName="space" presStyleCnt="0"/>
      <dgm:spPr/>
    </dgm:pt>
    <dgm:pt modelId="{BD715DBB-C3A4-444F-9B89-81407B4079A8}" type="pres">
      <dgm:prSet presAssocID="{29E9B057-D1EF-4B46-A5F0-3833969C6F68}" presName="composite" presStyleCnt="0"/>
      <dgm:spPr/>
    </dgm:pt>
    <dgm:pt modelId="{5D091C1B-882C-4A2B-868D-15AB708D584F}" type="pres">
      <dgm:prSet presAssocID="{29E9B057-D1EF-4B46-A5F0-3833969C6F68}" presName="LShape" presStyleLbl="alignNode1" presStyleIdx="2" presStyleCnt="5" custScaleX="172325"/>
      <dgm:spPr/>
    </dgm:pt>
    <dgm:pt modelId="{5DD1E37C-EDC3-41F4-891E-775C4AA49DFB}" type="pres">
      <dgm:prSet presAssocID="{29E9B057-D1EF-4B46-A5F0-3833969C6F68}" presName="ParentText" presStyleLbl="revTx" presStyleIdx="1" presStyleCnt="3" custScaleX="156225" custLinFactNeighborX="-9374">
        <dgm:presLayoutVars>
          <dgm:chMax val="0"/>
          <dgm:chPref val="0"/>
          <dgm:bulletEnabled val="1"/>
        </dgm:presLayoutVars>
      </dgm:prSet>
      <dgm:spPr/>
    </dgm:pt>
    <dgm:pt modelId="{2D8632D6-57D5-4C06-81CE-104155293B86}" type="pres">
      <dgm:prSet presAssocID="{29E9B057-D1EF-4B46-A5F0-3833969C6F68}" presName="Triangle" presStyleLbl="alignNode1" presStyleIdx="3" presStyleCnt="5"/>
      <dgm:spPr/>
    </dgm:pt>
    <dgm:pt modelId="{5D740B35-D22B-4243-B33F-F4F1E1237942}" type="pres">
      <dgm:prSet presAssocID="{93761B63-477C-4FC3-9819-A534BE583620}" presName="sibTrans" presStyleCnt="0"/>
      <dgm:spPr/>
    </dgm:pt>
    <dgm:pt modelId="{A2926BA1-9112-469A-9B06-D986FF68801D}" type="pres">
      <dgm:prSet presAssocID="{93761B63-477C-4FC3-9819-A534BE583620}" presName="space" presStyleCnt="0"/>
      <dgm:spPr/>
    </dgm:pt>
    <dgm:pt modelId="{C409DF66-17A8-4B3B-BEF1-FDCC8141A7A8}" type="pres">
      <dgm:prSet presAssocID="{461D3777-5F64-44B8-9B83-5B7FD079F6FA}" presName="composite" presStyleCnt="0"/>
      <dgm:spPr/>
    </dgm:pt>
    <dgm:pt modelId="{0B75B0BF-1D47-48F1-94FD-0201A392E554}" type="pres">
      <dgm:prSet presAssocID="{461D3777-5F64-44B8-9B83-5B7FD079F6FA}" presName="LShape" presStyleLbl="alignNode1" presStyleIdx="4" presStyleCnt="5" custScaleX="145489"/>
      <dgm:spPr/>
    </dgm:pt>
    <dgm:pt modelId="{F0C4A08D-D529-4101-B85D-56E13A637234}" type="pres">
      <dgm:prSet presAssocID="{461D3777-5F64-44B8-9B83-5B7FD079F6FA}" presName="ParentText" presStyleLbl="revTx" presStyleIdx="2" presStyleCnt="3" custScaleX="144437">
        <dgm:presLayoutVars>
          <dgm:chMax val="0"/>
          <dgm:chPref val="0"/>
          <dgm:bulletEnabled val="1"/>
        </dgm:presLayoutVars>
      </dgm:prSet>
      <dgm:spPr/>
    </dgm:pt>
  </dgm:ptLst>
  <dgm:cxnLst>
    <dgm:cxn modelId="{E8B0EB37-8D4D-4977-B2B1-DC26A74E9347}" type="presOf" srcId="{3DE9E8D6-7943-491A-9523-3E98B8E87243}" destId="{5B567201-BF31-4630-B798-FFEA490F14AC}" srcOrd="0" destOrd="0" presId="urn:microsoft.com/office/officeart/2009/3/layout/StepUpProcess"/>
    <dgm:cxn modelId="{0B00275C-889C-414D-BBDA-840FD43B6E5F}" type="presOf" srcId="{7525BF00-3F15-4D22-873A-D01B4ACE4B0B}" destId="{9606A409-0386-4958-AF71-520045418D02}" srcOrd="0" destOrd="0" presId="urn:microsoft.com/office/officeart/2009/3/layout/StepUpProcess"/>
    <dgm:cxn modelId="{C112CC49-5DBC-4CD3-9E42-3E8414A4E66F}" type="presOf" srcId="{461D3777-5F64-44B8-9B83-5B7FD079F6FA}" destId="{F0C4A08D-D529-4101-B85D-56E13A637234}" srcOrd="0" destOrd="0" presId="urn:microsoft.com/office/officeart/2009/3/layout/StepUpProcess"/>
    <dgm:cxn modelId="{9CE56956-FCE7-46CA-BC05-78011787A430}" srcId="{3DE9E8D6-7943-491A-9523-3E98B8E87243}" destId="{461D3777-5F64-44B8-9B83-5B7FD079F6FA}" srcOrd="2" destOrd="0" parTransId="{ABCE62BB-5A59-426D-B801-2B88D7E829BF}" sibTransId="{25B7E9C0-C9A5-41D8-B3CA-03C0EB2E5AF1}"/>
    <dgm:cxn modelId="{C7815E85-C267-48CA-91E2-39605BCE67C6}" srcId="{3DE9E8D6-7943-491A-9523-3E98B8E87243}" destId="{7525BF00-3F15-4D22-873A-D01B4ACE4B0B}" srcOrd="0" destOrd="0" parTransId="{8E64C77F-27AA-4FE1-A02F-58BED5B2B53E}" sibTransId="{706F6F5A-3DC5-4356-9FF7-49BF329376D0}"/>
    <dgm:cxn modelId="{0F47369F-75EF-4875-B4B0-2E8C24B17E83}" srcId="{3DE9E8D6-7943-491A-9523-3E98B8E87243}" destId="{29E9B057-D1EF-4B46-A5F0-3833969C6F68}" srcOrd="1" destOrd="0" parTransId="{2FF9A435-A270-4C54-AB5F-49378E55D42B}" sibTransId="{93761B63-477C-4FC3-9819-A534BE583620}"/>
    <dgm:cxn modelId="{27F659B2-8BE5-4BDE-B675-088B362B04CA}" type="presOf" srcId="{29E9B057-D1EF-4B46-A5F0-3833969C6F68}" destId="{5DD1E37C-EDC3-41F4-891E-775C4AA49DFB}" srcOrd="0" destOrd="0" presId="urn:microsoft.com/office/officeart/2009/3/layout/StepUpProcess"/>
    <dgm:cxn modelId="{075DB7A2-B58A-4AC2-A09C-8806C8F0C463}" type="presParOf" srcId="{5B567201-BF31-4630-B798-FFEA490F14AC}" destId="{9649E880-299C-4870-9F07-D92C84C9D746}" srcOrd="0" destOrd="0" presId="urn:microsoft.com/office/officeart/2009/3/layout/StepUpProcess"/>
    <dgm:cxn modelId="{029D34AE-8145-4CB1-B304-F10BB47F38C2}" type="presParOf" srcId="{9649E880-299C-4870-9F07-D92C84C9D746}" destId="{C11723FB-FD44-4790-9882-F784D01504C2}" srcOrd="0" destOrd="0" presId="urn:microsoft.com/office/officeart/2009/3/layout/StepUpProcess"/>
    <dgm:cxn modelId="{F1251247-A7D5-4A0E-9811-58EC7F5B58B8}" type="presParOf" srcId="{9649E880-299C-4870-9F07-D92C84C9D746}" destId="{9606A409-0386-4958-AF71-520045418D02}" srcOrd="1" destOrd="0" presId="urn:microsoft.com/office/officeart/2009/3/layout/StepUpProcess"/>
    <dgm:cxn modelId="{D5229B79-EDD8-4214-82DF-B3E76F707804}" type="presParOf" srcId="{9649E880-299C-4870-9F07-D92C84C9D746}" destId="{01A2BA42-237A-44CF-A211-45BD14932625}" srcOrd="2" destOrd="0" presId="urn:microsoft.com/office/officeart/2009/3/layout/StepUpProcess"/>
    <dgm:cxn modelId="{2DEC91FF-1F01-4266-B44F-12052CEE10FD}" type="presParOf" srcId="{5B567201-BF31-4630-B798-FFEA490F14AC}" destId="{0AAD6196-57D2-4FC3-9D69-A209405DA879}" srcOrd="1" destOrd="0" presId="urn:microsoft.com/office/officeart/2009/3/layout/StepUpProcess"/>
    <dgm:cxn modelId="{7BCAF329-3C42-404A-B657-7113F59BF345}" type="presParOf" srcId="{0AAD6196-57D2-4FC3-9D69-A209405DA879}" destId="{2CB18A98-EE04-4770-82BE-734866FE88EE}" srcOrd="0" destOrd="0" presId="urn:microsoft.com/office/officeart/2009/3/layout/StepUpProcess"/>
    <dgm:cxn modelId="{9058649C-3ADE-4DD7-BEB6-67B65E45452D}" type="presParOf" srcId="{5B567201-BF31-4630-B798-FFEA490F14AC}" destId="{BD715DBB-C3A4-444F-9B89-81407B4079A8}" srcOrd="2" destOrd="0" presId="urn:microsoft.com/office/officeart/2009/3/layout/StepUpProcess"/>
    <dgm:cxn modelId="{A4A08015-1D72-48ED-A2C6-561FB6077994}" type="presParOf" srcId="{BD715DBB-C3A4-444F-9B89-81407B4079A8}" destId="{5D091C1B-882C-4A2B-868D-15AB708D584F}" srcOrd="0" destOrd="0" presId="urn:microsoft.com/office/officeart/2009/3/layout/StepUpProcess"/>
    <dgm:cxn modelId="{003A3BD6-572B-4010-BE4A-8030A57D3D0E}" type="presParOf" srcId="{BD715DBB-C3A4-444F-9B89-81407B4079A8}" destId="{5DD1E37C-EDC3-41F4-891E-775C4AA49DFB}" srcOrd="1" destOrd="0" presId="urn:microsoft.com/office/officeart/2009/3/layout/StepUpProcess"/>
    <dgm:cxn modelId="{C572334A-EBBF-4CCB-80F1-66C75EC7C7F4}" type="presParOf" srcId="{BD715DBB-C3A4-444F-9B89-81407B4079A8}" destId="{2D8632D6-57D5-4C06-81CE-104155293B86}" srcOrd="2" destOrd="0" presId="urn:microsoft.com/office/officeart/2009/3/layout/StepUpProcess"/>
    <dgm:cxn modelId="{CAFB4AAA-AA41-4DFA-9B67-2DAB7B40E34D}" type="presParOf" srcId="{5B567201-BF31-4630-B798-FFEA490F14AC}" destId="{5D740B35-D22B-4243-B33F-F4F1E1237942}" srcOrd="3" destOrd="0" presId="urn:microsoft.com/office/officeart/2009/3/layout/StepUpProcess"/>
    <dgm:cxn modelId="{98DB72F9-C300-4854-B10B-478262CE38D6}" type="presParOf" srcId="{5D740B35-D22B-4243-B33F-F4F1E1237942}" destId="{A2926BA1-9112-469A-9B06-D986FF68801D}" srcOrd="0" destOrd="0" presId="urn:microsoft.com/office/officeart/2009/3/layout/StepUpProcess"/>
    <dgm:cxn modelId="{B4BB75C6-CFAD-45C7-ACA4-F708BCCB011B}" type="presParOf" srcId="{5B567201-BF31-4630-B798-FFEA490F14AC}" destId="{C409DF66-17A8-4B3B-BEF1-FDCC8141A7A8}" srcOrd="4" destOrd="0" presId="urn:microsoft.com/office/officeart/2009/3/layout/StepUpProcess"/>
    <dgm:cxn modelId="{3D21E461-C6E7-4CB6-9F1D-6554E5490C83}" type="presParOf" srcId="{C409DF66-17A8-4B3B-BEF1-FDCC8141A7A8}" destId="{0B75B0BF-1D47-48F1-94FD-0201A392E554}" srcOrd="0" destOrd="0" presId="urn:microsoft.com/office/officeart/2009/3/layout/StepUpProcess"/>
    <dgm:cxn modelId="{9EA3DC41-B91C-4929-A242-1DFF6D0FB580}" type="presParOf" srcId="{C409DF66-17A8-4B3B-BEF1-FDCC8141A7A8}" destId="{F0C4A08D-D529-4101-B85D-56E13A637234}" srcOrd="1" destOrd="0" presId="urn:microsoft.com/office/officeart/2009/3/layout/StepUp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2A9B5D2-AFBA-46B2-B4AE-3AC19D52734B}" type="doc">
      <dgm:prSet loTypeId="urn:microsoft.com/office/officeart/2005/8/layout/hList1" loCatId="list" qsTypeId="urn:microsoft.com/office/officeart/2005/8/quickstyle/simple4" qsCatId="simple" csTypeId="urn:microsoft.com/office/officeart/2005/8/colors/colorful5" csCatId="colorful" phldr="1"/>
      <dgm:spPr/>
      <dgm:t>
        <a:bodyPr/>
        <a:lstStyle/>
        <a:p>
          <a:endParaRPr lang="zh-CN" altLang="en-US"/>
        </a:p>
      </dgm:t>
    </dgm:pt>
    <dgm:pt modelId="{66ACC874-3CFB-4E6F-B294-E9398EAEDB9E}">
      <dgm:prSet phldrT="[文本]" custT="1"/>
      <dgm:spPr/>
      <dgm:t>
        <a:bodyPr/>
        <a:lstStyle/>
        <a:p>
          <a:r>
            <a:rPr lang="en-US" altLang="en-US" sz="1800" b="1" dirty="0">
              <a:latin typeface="微软雅黑" panose="020B0503020204020204" pitchFamily="34" charset="-122"/>
              <a:ea typeface="微软雅黑" panose="020B0503020204020204" pitchFamily="34" charset="-122"/>
            </a:rPr>
            <a:t>Client / Server </a:t>
          </a:r>
          <a:r>
            <a:rPr lang="zh-CN" altLang="en-US" sz="1800" b="1" dirty="0">
              <a:latin typeface="微软雅黑" panose="020B0503020204020204" pitchFamily="34" charset="-122"/>
              <a:ea typeface="微软雅黑" panose="020B0503020204020204" pitchFamily="34" charset="-122"/>
            </a:rPr>
            <a:t>方式</a:t>
          </a:r>
        </a:p>
      </dgm:t>
    </dgm:pt>
    <dgm:pt modelId="{6A394396-6A48-4F17-8404-6B2104EEDAB0}" type="parTrans" cxnId="{51DB97CB-0180-46DE-8CF9-5E1303ED8C0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15956E1-824E-41F5-9DF1-25E02085E01C}" type="sibTrans" cxnId="{51DB97CB-0180-46DE-8CF9-5E1303ED8C0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71A16D-6D3A-432C-834D-94D94C96E66D}">
      <dgm:prSet phldrT="[文本]" custT="1"/>
      <dgm:spPr/>
      <dgm:t>
        <a:bodyPr/>
        <a:lstStyle/>
        <a:p>
          <a:r>
            <a:rPr lang="en-US" altLang="en-US" sz="1800" b="1" dirty="0">
              <a:latin typeface="微软雅黑" panose="020B0503020204020204" pitchFamily="34" charset="-122"/>
              <a:ea typeface="微软雅黑" panose="020B0503020204020204" pitchFamily="34" charset="-122"/>
            </a:rPr>
            <a:t>Peer to Peer </a:t>
          </a:r>
          <a:r>
            <a:rPr lang="zh-CN" altLang="en-US" sz="1800" b="1" dirty="0">
              <a:latin typeface="微软雅黑" panose="020B0503020204020204" pitchFamily="34" charset="-122"/>
              <a:ea typeface="微软雅黑" panose="020B0503020204020204" pitchFamily="34" charset="-122"/>
            </a:rPr>
            <a:t>方式</a:t>
          </a:r>
        </a:p>
      </dgm:t>
    </dgm:pt>
    <dgm:pt modelId="{7FD95283-8E1D-47B9-BD8A-E52B4440FDE3}" type="parTrans" cxnId="{F8EE973F-005E-49D9-8A55-BF2936ACABE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72C4A89-BFFB-461D-811A-EE97C8509A5E}" type="sibTrans" cxnId="{F8EE973F-005E-49D9-8A55-BF2936ACABE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7E39CD3-0DC4-4012-92DA-90224624ADFF}">
      <dgm:prSet phldrT="[文本]" custT="1"/>
      <dgm:spPr/>
      <dgm:t>
        <a:bodyPr/>
        <a:lstStyle/>
        <a:p>
          <a:pPr algn="ctr">
            <a:lnSpc>
              <a:spcPct val="100000"/>
            </a:lnSpc>
            <a:spcAft>
              <a:spcPts val="0"/>
            </a:spcAft>
          </a:pPr>
          <a:r>
            <a:rPr lang="zh-CN" altLang="en-US" sz="1800" b="1" dirty="0">
              <a:latin typeface="微软雅黑" panose="020B0503020204020204" pitchFamily="34" charset="-122"/>
              <a:ea typeface="微软雅黑" panose="020B0503020204020204" pitchFamily="34" charset="-122"/>
            </a:rPr>
            <a:t>客户</a:t>
          </a:r>
          <a:r>
            <a:rPr lang="en-US" altLang="zh-CN" sz="1800" b="1" dirty="0">
              <a:latin typeface="微软雅黑" panose="020B0503020204020204" pitchFamily="34" charset="-122"/>
              <a:ea typeface="微软雅黑" panose="020B0503020204020204" pitchFamily="34" charset="-122"/>
            </a:rPr>
            <a:t>/</a:t>
          </a:r>
          <a:r>
            <a:rPr lang="zh-CN" altLang="en-US" sz="1800" b="1" dirty="0">
              <a:latin typeface="微软雅黑" panose="020B0503020204020204" pitchFamily="34" charset="-122"/>
              <a:ea typeface="微软雅黑" panose="020B0503020204020204" pitchFamily="34" charset="-122"/>
            </a:rPr>
            <a:t>服务器方式</a:t>
          </a:r>
          <a:endParaRPr lang="en-US" altLang="zh-CN" sz="1800" b="1" dirty="0">
            <a:latin typeface="微软雅黑" panose="020B0503020204020204" pitchFamily="34" charset="-122"/>
            <a:ea typeface="微软雅黑" panose="020B0503020204020204" pitchFamily="34" charset="-122"/>
          </a:endParaRPr>
        </a:p>
      </dgm:t>
    </dgm:pt>
    <dgm:pt modelId="{F415174C-1935-4310-A6E6-FE62B21E5B87}" type="sibTrans" cxnId="{0543E9C2-E2BE-425C-B0CB-EAE585D6F38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451DC01-4D36-438B-AAEB-01B61AACDBAB}" type="parTrans" cxnId="{0543E9C2-E2BE-425C-B0CB-EAE585D6F38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1620A8E-C4A5-4821-82B1-9A6EE4F894AA}">
      <dgm:prSet phldrT="[文本]" custT="1"/>
      <dgm:spPr/>
      <dgm:t>
        <a:bodyPr/>
        <a:lstStyle/>
        <a:p>
          <a:pPr>
            <a:lnSpc>
              <a:spcPct val="100000"/>
            </a:lnSpc>
            <a:spcAft>
              <a:spcPts val="0"/>
            </a:spcAft>
          </a:pPr>
          <a:r>
            <a:rPr lang="zh-CN" altLang="en-US" sz="1800" b="1" dirty="0">
              <a:latin typeface="微软雅黑" panose="020B0503020204020204" pitchFamily="34" charset="-122"/>
              <a:ea typeface="微软雅黑" panose="020B0503020204020204" pitchFamily="34" charset="-122"/>
            </a:rPr>
            <a:t>对等方式</a:t>
          </a:r>
          <a:endParaRPr lang="en-US" altLang="zh-CN" sz="1800" b="1" dirty="0">
            <a:latin typeface="微软雅黑" panose="020B0503020204020204" pitchFamily="34" charset="-122"/>
            <a:ea typeface="微软雅黑" panose="020B0503020204020204" pitchFamily="34" charset="-122"/>
          </a:endParaRPr>
        </a:p>
      </dgm:t>
    </dgm:pt>
    <dgm:pt modelId="{966FE29F-1530-487E-8BF1-E706AA499996}" type="sibTrans" cxnId="{419CC096-94B7-4869-8BB1-1F1886A1C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BE4650C-F7E6-4DB4-9284-332FE113FE55}" type="parTrans" cxnId="{419CC096-94B7-4869-8BB1-1F1886A1C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EB17A82-9752-4BB8-A0BB-5F5C56F2C0A1}">
      <dgm:prSet phldrT="[文本]" custT="1"/>
      <dgm:spPr/>
      <dgm:t>
        <a:bodyPr/>
        <a:lstStyle/>
        <a:p>
          <a:r>
            <a:rPr lang="zh-CN" altLang="en-US" sz="1800" b="1" dirty="0">
              <a:latin typeface="微软雅黑" panose="020B0503020204020204" pitchFamily="34" charset="-122"/>
              <a:ea typeface="微软雅黑" panose="020B0503020204020204" pitchFamily="34" charset="-122"/>
            </a:rPr>
            <a:t>简称为 </a:t>
          </a:r>
          <a:r>
            <a:rPr lang="en-US" altLang="en-US" sz="1800" b="1" dirty="0">
              <a:latin typeface="微软雅黑" panose="020B0503020204020204" pitchFamily="34" charset="-122"/>
              <a:ea typeface="微软雅黑" panose="020B0503020204020204" pitchFamily="34" charset="-122"/>
            </a:rPr>
            <a:t>C/S </a:t>
          </a:r>
          <a:r>
            <a:rPr lang="zh-CN" altLang="en-US" sz="1800" b="1" dirty="0">
              <a:latin typeface="微软雅黑" panose="020B0503020204020204" pitchFamily="34" charset="-122"/>
              <a:ea typeface="微软雅黑" panose="020B0503020204020204" pitchFamily="34" charset="-122"/>
            </a:rPr>
            <a:t>方式</a:t>
          </a:r>
        </a:p>
      </dgm:t>
    </dgm:pt>
    <dgm:pt modelId="{5F48F131-5791-4AB7-9B60-6558004A049B}" type="parTrans" cxnId="{C5632FAF-2983-4105-8D68-C4D4F75E308C}">
      <dgm:prSet/>
      <dgm:spPr/>
      <dgm:t>
        <a:bodyPr/>
        <a:lstStyle/>
        <a:p>
          <a:endParaRPr lang="zh-CN" altLang="en-US" sz="1600"/>
        </a:p>
      </dgm:t>
    </dgm:pt>
    <dgm:pt modelId="{37F47257-8A82-4074-AE1E-99FA89BF3F55}" type="sibTrans" cxnId="{C5632FAF-2983-4105-8D68-C4D4F75E308C}">
      <dgm:prSet/>
      <dgm:spPr/>
      <dgm:t>
        <a:bodyPr/>
        <a:lstStyle/>
        <a:p>
          <a:endParaRPr lang="zh-CN" altLang="en-US" sz="1600"/>
        </a:p>
      </dgm:t>
    </dgm:pt>
    <dgm:pt modelId="{82CB24EB-F3B8-4313-8A4C-46A4A6C6E31A}">
      <dgm:prSet phldrT="[文本]" custT="1"/>
      <dgm:spPr/>
      <dgm:t>
        <a:bodyPr/>
        <a:lstStyle/>
        <a:p>
          <a:r>
            <a:rPr lang="zh-CN" altLang="en-US" sz="1800" b="1" dirty="0">
              <a:latin typeface="微软雅黑" panose="020B0503020204020204" pitchFamily="34" charset="-122"/>
              <a:ea typeface="微软雅黑" panose="020B0503020204020204" pitchFamily="34" charset="-122"/>
            </a:rPr>
            <a:t>简称为 </a:t>
          </a:r>
          <a:r>
            <a:rPr lang="en-US" altLang="en-US" sz="1800" b="1" dirty="0">
              <a:latin typeface="微软雅黑" panose="020B0503020204020204" pitchFamily="34" charset="-122"/>
              <a:ea typeface="微软雅黑" panose="020B0503020204020204" pitchFamily="34" charset="-122"/>
            </a:rPr>
            <a:t>P2P </a:t>
          </a:r>
          <a:r>
            <a:rPr lang="zh-CN" altLang="en-US" sz="1800" b="1" dirty="0">
              <a:latin typeface="微软雅黑" panose="020B0503020204020204" pitchFamily="34" charset="-122"/>
              <a:ea typeface="微软雅黑" panose="020B0503020204020204" pitchFamily="34" charset="-122"/>
            </a:rPr>
            <a:t>方式</a:t>
          </a:r>
        </a:p>
      </dgm:t>
    </dgm:pt>
    <dgm:pt modelId="{F964AE57-1F6D-4E2E-92C0-B117F9D585B8}" type="parTrans" cxnId="{CF299708-4E6C-4B0C-B710-9F1B0A9E0DE0}">
      <dgm:prSet/>
      <dgm:spPr/>
      <dgm:t>
        <a:bodyPr/>
        <a:lstStyle/>
        <a:p>
          <a:endParaRPr lang="zh-CN" altLang="en-US" sz="1600"/>
        </a:p>
      </dgm:t>
    </dgm:pt>
    <dgm:pt modelId="{68FADE7E-F584-4933-80D1-051383411362}" type="sibTrans" cxnId="{CF299708-4E6C-4B0C-B710-9F1B0A9E0DE0}">
      <dgm:prSet/>
      <dgm:spPr/>
      <dgm:t>
        <a:bodyPr/>
        <a:lstStyle/>
        <a:p>
          <a:endParaRPr lang="zh-CN" altLang="en-US" sz="1600"/>
        </a:p>
      </dgm:t>
    </dgm:pt>
    <dgm:pt modelId="{D5AF80AA-414F-4474-ABC9-E635DD32C12D}" type="pres">
      <dgm:prSet presAssocID="{32A9B5D2-AFBA-46B2-B4AE-3AC19D52734B}" presName="Name0" presStyleCnt="0">
        <dgm:presLayoutVars>
          <dgm:dir/>
          <dgm:animLvl val="lvl"/>
          <dgm:resizeHandles val="exact"/>
        </dgm:presLayoutVars>
      </dgm:prSet>
      <dgm:spPr/>
    </dgm:pt>
    <dgm:pt modelId="{E980AAEC-D744-4F45-AA9F-C138C0A71A0E}" type="pres">
      <dgm:prSet presAssocID="{C7E39CD3-0DC4-4012-92DA-90224624ADFF}" presName="composite" presStyleCnt="0"/>
      <dgm:spPr/>
    </dgm:pt>
    <dgm:pt modelId="{8F17F835-55F0-4C61-A2A3-44AE2ED9D7FE}" type="pres">
      <dgm:prSet presAssocID="{C7E39CD3-0DC4-4012-92DA-90224624ADFF}" presName="parTx" presStyleLbl="alignNode1" presStyleIdx="0" presStyleCnt="2">
        <dgm:presLayoutVars>
          <dgm:chMax val="0"/>
          <dgm:chPref val="0"/>
          <dgm:bulletEnabled val="1"/>
        </dgm:presLayoutVars>
      </dgm:prSet>
      <dgm:spPr/>
    </dgm:pt>
    <dgm:pt modelId="{ACB976F2-8BF8-4A70-91C5-C91BC345A4AF}" type="pres">
      <dgm:prSet presAssocID="{C7E39CD3-0DC4-4012-92DA-90224624ADFF}" presName="desTx" presStyleLbl="alignAccFollowNode1" presStyleIdx="0" presStyleCnt="2">
        <dgm:presLayoutVars>
          <dgm:bulletEnabled val="1"/>
        </dgm:presLayoutVars>
      </dgm:prSet>
      <dgm:spPr/>
    </dgm:pt>
    <dgm:pt modelId="{9B6C0EE2-67AE-4432-B5BF-6CE7E326E53F}" type="pres">
      <dgm:prSet presAssocID="{F415174C-1935-4310-A6E6-FE62B21E5B87}" presName="space" presStyleCnt="0"/>
      <dgm:spPr/>
    </dgm:pt>
    <dgm:pt modelId="{7E449BE8-A2E6-4157-904D-55985C924B0E}" type="pres">
      <dgm:prSet presAssocID="{C1620A8E-C4A5-4821-82B1-9A6EE4F894AA}" presName="composite" presStyleCnt="0"/>
      <dgm:spPr/>
    </dgm:pt>
    <dgm:pt modelId="{FD082DEC-BD21-4E00-AA12-CC0ED5CBCB32}" type="pres">
      <dgm:prSet presAssocID="{C1620A8E-C4A5-4821-82B1-9A6EE4F894AA}" presName="parTx" presStyleLbl="alignNode1" presStyleIdx="1" presStyleCnt="2">
        <dgm:presLayoutVars>
          <dgm:chMax val="0"/>
          <dgm:chPref val="0"/>
          <dgm:bulletEnabled val="1"/>
        </dgm:presLayoutVars>
      </dgm:prSet>
      <dgm:spPr/>
    </dgm:pt>
    <dgm:pt modelId="{B62719DE-8DA5-4764-8561-2A4AB2C96331}" type="pres">
      <dgm:prSet presAssocID="{C1620A8E-C4A5-4821-82B1-9A6EE4F894AA}" presName="desTx" presStyleLbl="alignAccFollowNode1" presStyleIdx="1" presStyleCnt="2">
        <dgm:presLayoutVars>
          <dgm:bulletEnabled val="1"/>
        </dgm:presLayoutVars>
      </dgm:prSet>
      <dgm:spPr/>
    </dgm:pt>
  </dgm:ptLst>
  <dgm:cxnLst>
    <dgm:cxn modelId="{CF299708-4E6C-4B0C-B710-9F1B0A9E0DE0}" srcId="{C1620A8E-C4A5-4821-82B1-9A6EE4F894AA}" destId="{82CB24EB-F3B8-4313-8A4C-46A4A6C6E31A}" srcOrd="1" destOrd="0" parTransId="{F964AE57-1F6D-4E2E-92C0-B117F9D585B8}" sibTransId="{68FADE7E-F584-4933-80D1-051383411362}"/>
    <dgm:cxn modelId="{C400F422-3627-4800-9FC6-37E89AF888F6}" type="presOf" srcId="{C7E39CD3-0DC4-4012-92DA-90224624ADFF}" destId="{8F17F835-55F0-4C61-A2A3-44AE2ED9D7FE}" srcOrd="0" destOrd="0" presId="urn:microsoft.com/office/officeart/2005/8/layout/hList1"/>
    <dgm:cxn modelId="{F8EE973F-005E-49D9-8A55-BF2936ACABED}" srcId="{C1620A8E-C4A5-4821-82B1-9A6EE4F894AA}" destId="{2D71A16D-6D3A-432C-834D-94D94C96E66D}" srcOrd="0" destOrd="0" parTransId="{7FD95283-8E1D-47B9-BD8A-E52B4440FDE3}" sibTransId="{C72C4A89-BFFB-461D-811A-EE97C8509A5E}"/>
    <dgm:cxn modelId="{6E51A640-35A5-4E7A-A3DC-157B7276F45F}" type="presOf" srcId="{2D71A16D-6D3A-432C-834D-94D94C96E66D}" destId="{B62719DE-8DA5-4764-8561-2A4AB2C96331}" srcOrd="0" destOrd="0" presId="urn:microsoft.com/office/officeart/2005/8/layout/hList1"/>
    <dgm:cxn modelId="{35214179-FC9B-4995-A9D6-365694F11EE5}" type="presOf" srcId="{32A9B5D2-AFBA-46B2-B4AE-3AC19D52734B}" destId="{D5AF80AA-414F-4474-ABC9-E635DD32C12D}" srcOrd="0" destOrd="0" presId="urn:microsoft.com/office/officeart/2005/8/layout/hList1"/>
    <dgm:cxn modelId="{06BDE67D-8B6F-4450-8B4F-334C7CF9747E}" type="presOf" srcId="{82CB24EB-F3B8-4313-8A4C-46A4A6C6E31A}" destId="{B62719DE-8DA5-4764-8561-2A4AB2C96331}" srcOrd="0" destOrd="1" presId="urn:microsoft.com/office/officeart/2005/8/layout/hList1"/>
    <dgm:cxn modelId="{25EA4E81-CD7D-4645-AFDA-AB598CFBBB0A}" type="presOf" srcId="{C1620A8E-C4A5-4821-82B1-9A6EE4F894AA}" destId="{FD082DEC-BD21-4E00-AA12-CC0ED5CBCB32}" srcOrd="0" destOrd="0" presId="urn:microsoft.com/office/officeart/2005/8/layout/hList1"/>
    <dgm:cxn modelId="{1578938D-5C63-43C8-B09A-BADC09FB6ACA}" type="presOf" srcId="{4EB17A82-9752-4BB8-A0BB-5F5C56F2C0A1}" destId="{ACB976F2-8BF8-4A70-91C5-C91BC345A4AF}" srcOrd="0" destOrd="1" presId="urn:microsoft.com/office/officeart/2005/8/layout/hList1"/>
    <dgm:cxn modelId="{419CC096-94B7-4869-8BB1-1F1886A1C7DB}" srcId="{32A9B5D2-AFBA-46B2-B4AE-3AC19D52734B}" destId="{C1620A8E-C4A5-4821-82B1-9A6EE4F894AA}" srcOrd="1" destOrd="0" parTransId="{6BE4650C-F7E6-4DB4-9284-332FE113FE55}" sibTransId="{966FE29F-1530-487E-8BF1-E706AA499996}"/>
    <dgm:cxn modelId="{C5632FAF-2983-4105-8D68-C4D4F75E308C}" srcId="{C7E39CD3-0DC4-4012-92DA-90224624ADFF}" destId="{4EB17A82-9752-4BB8-A0BB-5F5C56F2C0A1}" srcOrd="1" destOrd="0" parTransId="{5F48F131-5791-4AB7-9B60-6558004A049B}" sibTransId="{37F47257-8A82-4074-AE1E-99FA89BF3F55}"/>
    <dgm:cxn modelId="{0543E9C2-E2BE-425C-B0CB-EAE585D6F38A}" srcId="{32A9B5D2-AFBA-46B2-B4AE-3AC19D52734B}" destId="{C7E39CD3-0DC4-4012-92DA-90224624ADFF}" srcOrd="0" destOrd="0" parTransId="{5451DC01-4D36-438B-AAEB-01B61AACDBAB}" sibTransId="{F415174C-1935-4310-A6E6-FE62B21E5B87}"/>
    <dgm:cxn modelId="{C50C0CC8-308A-41F8-9F7C-1644E5BBC002}" type="presOf" srcId="{66ACC874-3CFB-4E6F-B294-E9398EAEDB9E}" destId="{ACB976F2-8BF8-4A70-91C5-C91BC345A4AF}" srcOrd="0" destOrd="0" presId="urn:microsoft.com/office/officeart/2005/8/layout/hList1"/>
    <dgm:cxn modelId="{51DB97CB-0180-46DE-8CF9-5E1303ED8C09}" srcId="{C7E39CD3-0DC4-4012-92DA-90224624ADFF}" destId="{66ACC874-3CFB-4E6F-B294-E9398EAEDB9E}" srcOrd="0" destOrd="0" parTransId="{6A394396-6A48-4F17-8404-6B2104EEDAB0}" sibTransId="{B15956E1-824E-41F5-9DF1-25E02085E01C}"/>
    <dgm:cxn modelId="{F1F83210-003E-4731-9298-525BD4863AC6}" type="presParOf" srcId="{D5AF80AA-414F-4474-ABC9-E635DD32C12D}" destId="{E980AAEC-D744-4F45-AA9F-C138C0A71A0E}" srcOrd="0" destOrd="0" presId="urn:microsoft.com/office/officeart/2005/8/layout/hList1"/>
    <dgm:cxn modelId="{6DA98C05-4E0C-46D0-9F77-4374429075EE}" type="presParOf" srcId="{E980AAEC-D744-4F45-AA9F-C138C0A71A0E}" destId="{8F17F835-55F0-4C61-A2A3-44AE2ED9D7FE}" srcOrd="0" destOrd="0" presId="urn:microsoft.com/office/officeart/2005/8/layout/hList1"/>
    <dgm:cxn modelId="{DCBA9C60-AE8B-43DC-9BB7-725A718966BE}" type="presParOf" srcId="{E980AAEC-D744-4F45-AA9F-C138C0A71A0E}" destId="{ACB976F2-8BF8-4A70-91C5-C91BC345A4AF}" srcOrd="1" destOrd="0" presId="urn:microsoft.com/office/officeart/2005/8/layout/hList1"/>
    <dgm:cxn modelId="{7BD692C1-7E60-4B70-A8E9-17BD892EB34F}" type="presParOf" srcId="{D5AF80AA-414F-4474-ABC9-E635DD32C12D}" destId="{9B6C0EE2-67AE-4432-B5BF-6CE7E326E53F}" srcOrd="1" destOrd="0" presId="urn:microsoft.com/office/officeart/2005/8/layout/hList1"/>
    <dgm:cxn modelId="{BAEA59E1-92DF-47BF-BD7A-97A29A5CDD19}" type="presParOf" srcId="{D5AF80AA-414F-4474-ABC9-E635DD32C12D}" destId="{7E449BE8-A2E6-4157-904D-55985C924B0E}" srcOrd="2" destOrd="0" presId="urn:microsoft.com/office/officeart/2005/8/layout/hList1"/>
    <dgm:cxn modelId="{68A7FC11-1138-4848-B460-B704A6338E1F}" type="presParOf" srcId="{7E449BE8-A2E6-4157-904D-55985C924B0E}" destId="{FD082DEC-BD21-4E00-AA12-CC0ED5CBCB32}" srcOrd="0" destOrd="0" presId="urn:microsoft.com/office/officeart/2005/8/layout/hList1"/>
    <dgm:cxn modelId="{69BCF585-8958-4E84-AA02-58A75652C0C7}" type="presParOf" srcId="{7E449BE8-A2E6-4157-904D-55985C924B0E}" destId="{B62719DE-8DA5-4764-8561-2A4AB2C96331}"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E02DF5B-A2BE-4F1E-B43F-8357B8176D95}" type="doc">
      <dgm:prSet loTypeId="urn:microsoft.com/office/officeart/2005/8/layout/radial1" loCatId="cycle" qsTypeId="urn:microsoft.com/office/officeart/2005/8/quickstyle/simple4" qsCatId="simple" csTypeId="urn:microsoft.com/office/officeart/2005/8/colors/colorful3" csCatId="colorful" phldr="1"/>
      <dgm:spPr/>
      <dgm:t>
        <a:bodyPr/>
        <a:lstStyle/>
        <a:p>
          <a:endParaRPr lang="zh-CN" altLang="en-US"/>
        </a:p>
      </dgm:t>
    </dgm:pt>
    <dgm:pt modelId="{B22323AB-1086-4A1C-B331-F5BB963D4145}">
      <dgm:prSet phldrT="[文本]" custT="1"/>
      <dgm:spPr/>
      <dgm:t>
        <a:bodyPr/>
        <a:lstStyle/>
        <a:p>
          <a:pPr>
            <a:lnSpc>
              <a:spcPct val="800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重要性能指标</a:t>
          </a:r>
        </a:p>
      </dgm:t>
    </dgm:pt>
    <dgm:pt modelId="{F8002C4C-AD5A-415D-9914-AE4B4B07341E}" type="parTrans" cxnId="{AE8854D9-1688-447D-9E1C-54334D3667AE}">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EA78D77-C0AC-4449-8431-EAB529D8F1FD}" type="sibTrans" cxnId="{AE8854D9-1688-447D-9E1C-54334D3667AE}">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D22DC312-F211-45CA-A65C-AED37D4E84F0}">
      <dgm:prSet phldrT="[文本]" custT="1"/>
      <dgm:spPr/>
      <dgm:t>
        <a:bodyPr/>
        <a:lstStyle/>
        <a:p>
          <a:pPr>
            <a:lnSpc>
              <a:spcPct val="800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速率</a:t>
          </a:r>
        </a:p>
      </dgm:t>
    </dgm:pt>
    <dgm:pt modelId="{A0C7B0A4-A9E9-4F21-9431-C84E96289809}" type="parTrans" cxnId="{06E46658-2D4E-4CE1-9B44-76363095246D}">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DC099C82-1D5D-4769-AFA9-7792218D5827}" type="sibTrans" cxnId="{06E46658-2D4E-4CE1-9B44-76363095246D}">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C0BB659-4143-44F0-8F84-D4D2FC90959C}">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吞吐率</a:t>
          </a:r>
        </a:p>
      </dgm:t>
    </dgm:pt>
    <dgm:pt modelId="{8CF1AA8F-96CB-4B5E-B715-B9028B917988}" type="parTrans" cxnId="{A44B08B3-A047-45A2-892F-C214B73ECD29}">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77256747-7EEC-4ABC-996D-C89DE5DBD52B}" type="sibTrans" cxnId="{A44B08B3-A047-45A2-892F-C214B73ECD29}">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A517CECA-E7F5-4281-B2DA-244FEF5320DC}">
      <dgm:prSet phldrT="[文本]" custT="1"/>
      <dgm:spPr/>
      <dgm:t>
        <a:bodyPr/>
        <a:lstStyle/>
        <a:p>
          <a:pPr>
            <a:lnSpc>
              <a:spcPct val="800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时延</a:t>
          </a:r>
        </a:p>
      </dgm:t>
    </dgm:pt>
    <dgm:pt modelId="{4603E628-68DC-46D2-84DA-A0245BD072EF}" type="parTrans" cxnId="{C11591D6-0992-483B-98F3-EA64344B9D2F}">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5724D21-8406-4C52-BA15-0ED736CB50CE}" type="sibTrans" cxnId="{C11591D6-0992-483B-98F3-EA64344B9D2F}">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2FD6668-1A08-46AC-BA8D-FB52FFFD9631}">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利用率</a:t>
          </a:r>
        </a:p>
      </dgm:t>
    </dgm:pt>
    <dgm:pt modelId="{8C2FDA74-89FA-41B1-9873-0394473DF94B}" type="parTrans" cxnId="{84603CE0-D6DA-470B-B1FD-588405D531AB}">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523036FD-5FD0-4ACE-AC60-F08A948150DD}" type="sibTrans" cxnId="{84603CE0-D6DA-470B-B1FD-588405D531AB}">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B408720-3765-4817-97AA-0480BC62D918}">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时延带宽积</a:t>
          </a:r>
        </a:p>
      </dgm:t>
    </dgm:pt>
    <dgm:pt modelId="{60735CDE-5DEF-4EF2-882E-EE6D37ADADAA}" type="parTrans" cxnId="{57E3D092-497D-42CD-8D3D-06B7B835F9B1}">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E1E6132-0FFC-4AED-B82E-16E82C2CF6DA}" type="sibTrans" cxnId="{57E3D092-497D-42CD-8D3D-06B7B835F9B1}">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65D00D0D-C9FC-4080-938A-E3FE166109A0}">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往返</a:t>
          </a:r>
          <a:endParaRPr lang="en-US" altLang="zh-CN" sz="1400" b="1" dirty="0">
            <a:latin typeface="微软雅黑" panose="020B0503020204020204" pitchFamily="34" charset="-122"/>
            <a:ea typeface="微软雅黑" panose="020B0503020204020204" pitchFamily="34" charset="-122"/>
          </a:endParaRPr>
        </a:p>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时间</a:t>
          </a:r>
        </a:p>
      </dgm:t>
    </dgm:pt>
    <dgm:pt modelId="{ED08DA14-77EB-487F-BE02-3A6D86A8246C}" type="parTrans" cxnId="{39F0CA54-37A8-4FB1-A1E2-C7A445040E97}">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94BF61BA-85DC-4B4A-B4A6-D485C5AE8654}" type="sibTrans" cxnId="{39F0CA54-37A8-4FB1-A1E2-C7A445040E97}">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7D17AA0-6080-47AE-B7DB-526C9B560CAC}">
      <dgm:prSet custT="1"/>
      <dgm:spPr/>
      <dgm:t>
        <a:bodyPr/>
        <a:lstStyle/>
        <a:p>
          <a:pPr>
            <a:lnSpc>
              <a:spcPct val="80000"/>
            </a:lnSpc>
            <a:spcBef>
              <a:spcPts val="0"/>
            </a:spcBef>
            <a:spcAft>
              <a:spcPts val="0"/>
            </a:spcAft>
          </a:pPr>
          <a:r>
            <a:rPr lang="zh-CN" altLang="en-US" sz="1600" b="1" dirty="0">
              <a:latin typeface="微软雅黑" pitchFamily="34" charset="-122"/>
              <a:ea typeface="微软雅黑" pitchFamily="34" charset="-122"/>
            </a:rPr>
            <a:t>带宽</a:t>
          </a:r>
        </a:p>
      </dgm:t>
    </dgm:pt>
    <dgm:pt modelId="{DB84B937-099F-47CA-9CDD-0D18AFFCDE42}" type="parTrans" cxnId="{78A011E7-61C1-4FA0-84CE-C5A9CDB15EF2}">
      <dgm:prSet custT="1"/>
      <dgm:spPr>
        <a:ln w="19050"/>
      </dgm:spPr>
      <dgm:t>
        <a:bodyPr/>
        <a:lstStyle/>
        <a:p>
          <a:pPr>
            <a:lnSpc>
              <a:spcPct val="80000"/>
            </a:lnSpc>
            <a:spcBef>
              <a:spcPts val="0"/>
            </a:spcBef>
            <a:spcAft>
              <a:spcPts val="0"/>
            </a:spcAft>
          </a:pPr>
          <a:endParaRPr lang="zh-CN" altLang="en-US" sz="400"/>
        </a:p>
      </dgm:t>
    </dgm:pt>
    <dgm:pt modelId="{F3240178-5CAF-4CE1-A438-3A427DB0871A}" type="sibTrans" cxnId="{78A011E7-61C1-4FA0-84CE-C5A9CDB15EF2}">
      <dgm:prSet/>
      <dgm:spPr/>
      <dgm:t>
        <a:bodyPr/>
        <a:lstStyle/>
        <a:p>
          <a:pPr>
            <a:lnSpc>
              <a:spcPct val="80000"/>
            </a:lnSpc>
            <a:spcBef>
              <a:spcPts val="0"/>
            </a:spcBef>
            <a:spcAft>
              <a:spcPts val="0"/>
            </a:spcAft>
          </a:pPr>
          <a:endParaRPr lang="zh-CN" altLang="en-US" sz="1600"/>
        </a:p>
      </dgm:t>
    </dgm:pt>
    <dgm:pt modelId="{038BAAB1-DC3C-4112-BA2B-18A482B3FB34}" type="pres">
      <dgm:prSet presAssocID="{EE02DF5B-A2BE-4F1E-B43F-8357B8176D95}" presName="cycle" presStyleCnt="0">
        <dgm:presLayoutVars>
          <dgm:chMax val="1"/>
          <dgm:dir/>
          <dgm:animLvl val="ctr"/>
          <dgm:resizeHandles val="exact"/>
        </dgm:presLayoutVars>
      </dgm:prSet>
      <dgm:spPr/>
    </dgm:pt>
    <dgm:pt modelId="{CEAB91ED-304D-4E30-917D-DB8A5D6E9F4E}" type="pres">
      <dgm:prSet presAssocID="{B22323AB-1086-4A1C-B331-F5BB963D4145}" presName="centerShape" presStyleLbl="node0" presStyleIdx="0" presStyleCnt="1" custScaleX="145530" custScaleY="145529"/>
      <dgm:spPr/>
    </dgm:pt>
    <dgm:pt modelId="{C041081D-BE3D-40E6-B560-6CCAEF685BB2}" type="pres">
      <dgm:prSet presAssocID="{A0C7B0A4-A9E9-4F21-9431-C84E96289809}" presName="Name9" presStyleLbl="parChTrans1D2" presStyleIdx="0" presStyleCnt="7"/>
      <dgm:spPr/>
    </dgm:pt>
    <dgm:pt modelId="{3CD87989-36DD-4624-AA56-93400E0521D5}" type="pres">
      <dgm:prSet presAssocID="{A0C7B0A4-A9E9-4F21-9431-C84E96289809}" presName="connTx" presStyleLbl="parChTrans1D2" presStyleIdx="0" presStyleCnt="7"/>
      <dgm:spPr/>
    </dgm:pt>
    <dgm:pt modelId="{402F23A3-1405-4E62-9B6B-1BAD6AF3B058}" type="pres">
      <dgm:prSet presAssocID="{D22DC312-F211-45CA-A65C-AED37D4E84F0}" presName="node" presStyleLbl="node1" presStyleIdx="0" presStyleCnt="7">
        <dgm:presLayoutVars>
          <dgm:bulletEnabled val="1"/>
        </dgm:presLayoutVars>
      </dgm:prSet>
      <dgm:spPr/>
    </dgm:pt>
    <dgm:pt modelId="{1A688BA9-9980-46CE-92DD-5B540F6B173C}" type="pres">
      <dgm:prSet presAssocID="{DB84B937-099F-47CA-9CDD-0D18AFFCDE42}" presName="Name9" presStyleLbl="parChTrans1D2" presStyleIdx="1" presStyleCnt="7"/>
      <dgm:spPr/>
    </dgm:pt>
    <dgm:pt modelId="{29BF8A05-B023-43EB-9B11-C312495477C8}" type="pres">
      <dgm:prSet presAssocID="{DB84B937-099F-47CA-9CDD-0D18AFFCDE42}" presName="connTx" presStyleLbl="parChTrans1D2" presStyleIdx="1" presStyleCnt="7"/>
      <dgm:spPr/>
    </dgm:pt>
    <dgm:pt modelId="{9EB9B65F-4393-4612-9918-4B6EE32BE2B5}" type="pres">
      <dgm:prSet presAssocID="{87D17AA0-6080-47AE-B7DB-526C9B560CAC}" presName="node" presStyleLbl="node1" presStyleIdx="1" presStyleCnt="7">
        <dgm:presLayoutVars>
          <dgm:bulletEnabled val="1"/>
        </dgm:presLayoutVars>
      </dgm:prSet>
      <dgm:spPr/>
    </dgm:pt>
    <dgm:pt modelId="{CA2997A6-1A9D-4195-A4F9-95CB281E15D5}" type="pres">
      <dgm:prSet presAssocID="{8CF1AA8F-96CB-4B5E-B715-B9028B917988}" presName="Name9" presStyleLbl="parChTrans1D2" presStyleIdx="2" presStyleCnt="7"/>
      <dgm:spPr/>
    </dgm:pt>
    <dgm:pt modelId="{4EA814EB-5106-4171-B8B6-C2618CEA3308}" type="pres">
      <dgm:prSet presAssocID="{8CF1AA8F-96CB-4B5E-B715-B9028B917988}" presName="connTx" presStyleLbl="parChTrans1D2" presStyleIdx="2" presStyleCnt="7"/>
      <dgm:spPr/>
    </dgm:pt>
    <dgm:pt modelId="{AA805C1A-016A-4092-AC58-C8C9626E154E}" type="pres">
      <dgm:prSet presAssocID="{CC0BB659-4143-44F0-8F84-D4D2FC90959C}" presName="node" presStyleLbl="node1" presStyleIdx="2" presStyleCnt="7">
        <dgm:presLayoutVars>
          <dgm:bulletEnabled val="1"/>
        </dgm:presLayoutVars>
      </dgm:prSet>
      <dgm:spPr/>
    </dgm:pt>
    <dgm:pt modelId="{96B1DAAE-F63C-47BA-8420-AE7C9945D5FC}" type="pres">
      <dgm:prSet presAssocID="{4603E628-68DC-46D2-84DA-A0245BD072EF}" presName="Name9" presStyleLbl="parChTrans1D2" presStyleIdx="3" presStyleCnt="7"/>
      <dgm:spPr/>
    </dgm:pt>
    <dgm:pt modelId="{C5612A02-3DBA-489F-8731-7BFEF4CFC7A5}" type="pres">
      <dgm:prSet presAssocID="{4603E628-68DC-46D2-84DA-A0245BD072EF}" presName="connTx" presStyleLbl="parChTrans1D2" presStyleIdx="3" presStyleCnt="7"/>
      <dgm:spPr/>
    </dgm:pt>
    <dgm:pt modelId="{3E830754-EFA7-4138-9FA6-3C9E92E74104}" type="pres">
      <dgm:prSet presAssocID="{A517CECA-E7F5-4281-B2DA-244FEF5320DC}" presName="node" presStyleLbl="node1" presStyleIdx="3" presStyleCnt="7">
        <dgm:presLayoutVars>
          <dgm:bulletEnabled val="1"/>
        </dgm:presLayoutVars>
      </dgm:prSet>
      <dgm:spPr/>
    </dgm:pt>
    <dgm:pt modelId="{78B2782A-5A1E-4DB7-8A32-C245B5326F9D}" type="pres">
      <dgm:prSet presAssocID="{60735CDE-5DEF-4EF2-882E-EE6D37ADADAA}" presName="Name9" presStyleLbl="parChTrans1D2" presStyleIdx="4" presStyleCnt="7"/>
      <dgm:spPr/>
    </dgm:pt>
    <dgm:pt modelId="{0DB9215C-9FC4-4645-A9FB-1A7085D28428}" type="pres">
      <dgm:prSet presAssocID="{60735CDE-5DEF-4EF2-882E-EE6D37ADADAA}" presName="connTx" presStyleLbl="parChTrans1D2" presStyleIdx="4" presStyleCnt="7"/>
      <dgm:spPr/>
    </dgm:pt>
    <dgm:pt modelId="{8473F692-BDED-4FE3-8EFA-3135EC8A8BE4}" type="pres">
      <dgm:prSet presAssocID="{CB408720-3765-4817-97AA-0480BC62D918}" presName="node" presStyleLbl="node1" presStyleIdx="4" presStyleCnt="7">
        <dgm:presLayoutVars>
          <dgm:bulletEnabled val="1"/>
        </dgm:presLayoutVars>
      </dgm:prSet>
      <dgm:spPr/>
    </dgm:pt>
    <dgm:pt modelId="{8BB81BB8-E393-4F1D-8B7B-020AC5C16F2F}" type="pres">
      <dgm:prSet presAssocID="{ED08DA14-77EB-487F-BE02-3A6D86A8246C}" presName="Name9" presStyleLbl="parChTrans1D2" presStyleIdx="5" presStyleCnt="7"/>
      <dgm:spPr/>
    </dgm:pt>
    <dgm:pt modelId="{EFA8CB61-977E-45B8-BD5E-C48F086EF9EF}" type="pres">
      <dgm:prSet presAssocID="{ED08DA14-77EB-487F-BE02-3A6D86A8246C}" presName="connTx" presStyleLbl="parChTrans1D2" presStyleIdx="5" presStyleCnt="7"/>
      <dgm:spPr/>
    </dgm:pt>
    <dgm:pt modelId="{E239F5DF-E3F9-42F3-9ADB-15CF35E6CE45}" type="pres">
      <dgm:prSet presAssocID="{65D00D0D-C9FC-4080-938A-E3FE166109A0}" presName="node" presStyleLbl="node1" presStyleIdx="5" presStyleCnt="7">
        <dgm:presLayoutVars>
          <dgm:bulletEnabled val="1"/>
        </dgm:presLayoutVars>
      </dgm:prSet>
      <dgm:spPr/>
    </dgm:pt>
    <dgm:pt modelId="{AF33E670-42AA-4676-8C3F-58C9EF27EB34}" type="pres">
      <dgm:prSet presAssocID="{8C2FDA74-89FA-41B1-9873-0394473DF94B}" presName="Name9" presStyleLbl="parChTrans1D2" presStyleIdx="6" presStyleCnt="7"/>
      <dgm:spPr/>
    </dgm:pt>
    <dgm:pt modelId="{43F165D5-D777-4F42-82A2-62F5DDF5C06C}" type="pres">
      <dgm:prSet presAssocID="{8C2FDA74-89FA-41B1-9873-0394473DF94B}" presName="connTx" presStyleLbl="parChTrans1D2" presStyleIdx="6" presStyleCnt="7"/>
      <dgm:spPr/>
    </dgm:pt>
    <dgm:pt modelId="{26B2A20A-D83E-4FB4-8289-8E75F18D9F17}" type="pres">
      <dgm:prSet presAssocID="{C2FD6668-1A08-46AC-BA8D-FB52FFFD9631}" presName="node" presStyleLbl="node1" presStyleIdx="6" presStyleCnt="7">
        <dgm:presLayoutVars>
          <dgm:bulletEnabled val="1"/>
        </dgm:presLayoutVars>
      </dgm:prSet>
      <dgm:spPr/>
    </dgm:pt>
  </dgm:ptLst>
  <dgm:cxnLst>
    <dgm:cxn modelId="{FEB40F05-B012-4742-B3F3-2E4CD9069007}" type="presOf" srcId="{4603E628-68DC-46D2-84DA-A0245BD072EF}" destId="{96B1DAAE-F63C-47BA-8420-AE7C9945D5FC}" srcOrd="0" destOrd="0" presId="urn:microsoft.com/office/officeart/2005/8/layout/radial1"/>
    <dgm:cxn modelId="{A1AA7717-4937-4972-86F5-24BEE22006CF}" type="presOf" srcId="{DB84B937-099F-47CA-9CDD-0D18AFFCDE42}" destId="{1A688BA9-9980-46CE-92DD-5B540F6B173C}" srcOrd="0" destOrd="0" presId="urn:microsoft.com/office/officeart/2005/8/layout/radial1"/>
    <dgm:cxn modelId="{8A1E1518-1582-44E6-A719-D28B7EE61E0D}" type="presOf" srcId="{60735CDE-5DEF-4EF2-882E-EE6D37ADADAA}" destId="{0DB9215C-9FC4-4645-A9FB-1A7085D28428}" srcOrd="1" destOrd="0" presId="urn:microsoft.com/office/officeart/2005/8/layout/radial1"/>
    <dgm:cxn modelId="{BA96FF2A-7A04-49C9-AC3A-32F14CE03DED}" type="presOf" srcId="{D22DC312-F211-45CA-A65C-AED37D4E84F0}" destId="{402F23A3-1405-4E62-9B6B-1BAD6AF3B058}" srcOrd="0" destOrd="0" presId="urn:microsoft.com/office/officeart/2005/8/layout/radial1"/>
    <dgm:cxn modelId="{5BC6942F-4A5C-4C8D-90E4-83B07878880A}" type="presOf" srcId="{8C2FDA74-89FA-41B1-9873-0394473DF94B}" destId="{43F165D5-D777-4F42-82A2-62F5DDF5C06C}" srcOrd="1" destOrd="0" presId="urn:microsoft.com/office/officeart/2005/8/layout/radial1"/>
    <dgm:cxn modelId="{387D4237-A227-4C79-8A9E-29729E1B0E8A}" type="presOf" srcId="{CB408720-3765-4817-97AA-0480BC62D918}" destId="{8473F692-BDED-4FE3-8EFA-3135EC8A8BE4}" srcOrd="0" destOrd="0" presId="urn:microsoft.com/office/officeart/2005/8/layout/radial1"/>
    <dgm:cxn modelId="{DF0E5F68-346C-414D-86E9-A9FAD2F20367}" type="presOf" srcId="{A0C7B0A4-A9E9-4F21-9431-C84E96289809}" destId="{C041081D-BE3D-40E6-B560-6CCAEF685BB2}" srcOrd="0" destOrd="0" presId="urn:microsoft.com/office/officeart/2005/8/layout/radial1"/>
    <dgm:cxn modelId="{648A664E-2883-4F15-865D-3DCFA5EC8F7E}" type="presOf" srcId="{65D00D0D-C9FC-4080-938A-E3FE166109A0}" destId="{E239F5DF-E3F9-42F3-9ADB-15CF35E6CE45}" srcOrd="0" destOrd="0" presId="urn:microsoft.com/office/officeart/2005/8/layout/radial1"/>
    <dgm:cxn modelId="{4FF81571-7C75-4CDD-8870-97F37CD2855E}" type="presOf" srcId="{60735CDE-5DEF-4EF2-882E-EE6D37ADADAA}" destId="{78B2782A-5A1E-4DB7-8A32-C245B5326F9D}" srcOrd="0" destOrd="0" presId="urn:microsoft.com/office/officeart/2005/8/layout/radial1"/>
    <dgm:cxn modelId="{1E233852-3F15-497A-97F8-53E8369B5A16}" type="presOf" srcId="{B22323AB-1086-4A1C-B331-F5BB963D4145}" destId="{CEAB91ED-304D-4E30-917D-DB8A5D6E9F4E}" srcOrd="0" destOrd="0" presId="urn:microsoft.com/office/officeart/2005/8/layout/radial1"/>
    <dgm:cxn modelId="{39F0CA54-37A8-4FB1-A1E2-C7A445040E97}" srcId="{B22323AB-1086-4A1C-B331-F5BB963D4145}" destId="{65D00D0D-C9FC-4080-938A-E3FE166109A0}" srcOrd="5" destOrd="0" parTransId="{ED08DA14-77EB-487F-BE02-3A6D86A8246C}" sibTransId="{94BF61BA-85DC-4B4A-B4A6-D485C5AE8654}"/>
    <dgm:cxn modelId="{06E46658-2D4E-4CE1-9B44-76363095246D}" srcId="{B22323AB-1086-4A1C-B331-F5BB963D4145}" destId="{D22DC312-F211-45CA-A65C-AED37D4E84F0}" srcOrd="0" destOrd="0" parTransId="{A0C7B0A4-A9E9-4F21-9431-C84E96289809}" sibTransId="{DC099C82-1D5D-4769-AFA9-7792218D5827}"/>
    <dgm:cxn modelId="{A20E5D7E-53F3-4892-A647-429E04042FBA}" type="presOf" srcId="{8C2FDA74-89FA-41B1-9873-0394473DF94B}" destId="{AF33E670-42AA-4676-8C3F-58C9EF27EB34}" srcOrd="0" destOrd="0" presId="urn:microsoft.com/office/officeart/2005/8/layout/radial1"/>
    <dgm:cxn modelId="{08083480-5750-4A8D-B227-453FE3A844E4}" type="presOf" srcId="{ED08DA14-77EB-487F-BE02-3A6D86A8246C}" destId="{8BB81BB8-E393-4F1D-8B7B-020AC5C16F2F}" srcOrd="0" destOrd="0" presId="urn:microsoft.com/office/officeart/2005/8/layout/radial1"/>
    <dgm:cxn modelId="{CDD16A83-C97A-4C40-9477-E4C17AADEB3D}" type="presOf" srcId="{C2FD6668-1A08-46AC-BA8D-FB52FFFD9631}" destId="{26B2A20A-D83E-4FB4-8289-8E75F18D9F17}" srcOrd="0" destOrd="0" presId="urn:microsoft.com/office/officeart/2005/8/layout/radial1"/>
    <dgm:cxn modelId="{6864DC85-6328-4444-BCCA-5ED660FE9638}" type="presOf" srcId="{4603E628-68DC-46D2-84DA-A0245BD072EF}" destId="{C5612A02-3DBA-489F-8731-7BFEF4CFC7A5}" srcOrd="1" destOrd="0" presId="urn:microsoft.com/office/officeart/2005/8/layout/radial1"/>
    <dgm:cxn modelId="{7A6D5F8D-F9DF-4AF8-8F5D-B2E73765DA11}" type="presOf" srcId="{8CF1AA8F-96CB-4B5E-B715-B9028B917988}" destId="{4EA814EB-5106-4171-B8B6-C2618CEA3308}" srcOrd="1" destOrd="0" presId="urn:microsoft.com/office/officeart/2005/8/layout/radial1"/>
    <dgm:cxn modelId="{57E3D092-497D-42CD-8D3D-06B7B835F9B1}" srcId="{B22323AB-1086-4A1C-B331-F5BB963D4145}" destId="{CB408720-3765-4817-97AA-0480BC62D918}" srcOrd="4" destOrd="0" parTransId="{60735CDE-5DEF-4EF2-882E-EE6D37ADADAA}" sibTransId="{2E1E6132-0FFC-4AED-B82E-16E82C2CF6DA}"/>
    <dgm:cxn modelId="{64D4869B-CA00-46D6-806E-45DFEBD3B1B8}" type="presOf" srcId="{A0C7B0A4-A9E9-4F21-9431-C84E96289809}" destId="{3CD87989-36DD-4624-AA56-93400E0521D5}" srcOrd="1" destOrd="0" presId="urn:microsoft.com/office/officeart/2005/8/layout/radial1"/>
    <dgm:cxn modelId="{A44B08B3-A047-45A2-892F-C214B73ECD29}" srcId="{B22323AB-1086-4A1C-B331-F5BB963D4145}" destId="{CC0BB659-4143-44F0-8F84-D4D2FC90959C}" srcOrd="2" destOrd="0" parTransId="{8CF1AA8F-96CB-4B5E-B715-B9028B917988}" sibTransId="{77256747-7EEC-4ABC-996D-C89DE5DBD52B}"/>
    <dgm:cxn modelId="{BC03D3C5-D03F-4496-9E66-EC52D8428C34}" type="presOf" srcId="{ED08DA14-77EB-487F-BE02-3A6D86A8246C}" destId="{EFA8CB61-977E-45B8-BD5E-C48F086EF9EF}" srcOrd="1" destOrd="0" presId="urn:microsoft.com/office/officeart/2005/8/layout/radial1"/>
    <dgm:cxn modelId="{182C6FC7-493B-4176-82D3-2A8BA6DDADFC}" type="presOf" srcId="{CC0BB659-4143-44F0-8F84-D4D2FC90959C}" destId="{AA805C1A-016A-4092-AC58-C8C9626E154E}" srcOrd="0" destOrd="0" presId="urn:microsoft.com/office/officeart/2005/8/layout/radial1"/>
    <dgm:cxn modelId="{F3F843CD-F01B-498A-A9F8-A21112579A0C}" type="presOf" srcId="{DB84B937-099F-47CA-9CDD-0D18AFFCDE42}" destId="{29BF8A05-B023-43EB-9B11-C312495477C8}" srcOrd="1" destOrd="0" presId="urn:microsoft.com/office/officeart/2005/8/layout/radial1"/>
    <dgm:cxn modelId="{20EFAED3-F430-4D85-9F40-13D246355EBC}" type="presOf" srcId="{EE02DF5B-A2BE-4F1E-B43F-8357B8176D95}" destId="{038BAAB1-DC3C-4112-BA2B-18A482B3FB34}" srcOrd="0" destOrd="0" presId="urn:microsoft.com/office/officeart/2005/8/layout/radial1"/>
    <dgm:cxn modelId="{C11591D6-0992-483B-98F3-EA64344B9D2F}" srcId="{B22323AB-1086-4A1C-B331-F5BB963D4145}" destId="{A517CECA-E7F5-4281-B2DA-244FEF5320DC}" srcOrd="3" destOrd="0" parTransId="{4603E628-68DC-46D2-84DA-A0245BD072EF}" sibTransId="{E5724D21-8406-4C52-BA15-0ED736CB50CE}"/>
    <dgm:cxn modelId="{AE8854D9-1688-447D-9E1C-54334D3667AE}" srcId="{EE02DF5B-A2BE-4F1E-B43F-8357B8176D95}" destId="{B22323AB-1086-4A1C-B331-F5BB963D4145}" srcOrd="0" destOrd="0" parTransId="{F8002C4C-AD5A-415D-9914-AE4B4B07341E}" sibTransId="{3EA78D77-C0AC-4449-8431-EAB529D8F1FD}"/>
    <dgm:cxn modelId="{F2A08AD9-CFB1-48E3-B1B0-150C72948075}" type="presOf" srcId="{87D17AA0-6080-47AE-B7DB-526C9B560CAC}" destId="{9EB9B65F-4393-4612-9918-4B6EE32BE2B5}" srcOrd="0" destOrd="0" presId="urn:microsoft.com/office/officeart/2005/8/layout/radial1"/>
    <dgm:cxn modelId="{84603CE0-D6DA-470B-B1FD-588405D531AB}" srcId="{B22323AB-1086-4A1C-B331-F5BB963D4145}" destId="{C2FD6668-1A08-46AC-BA8D-FB52FFFD9631}" srcOrd="6" destOrd="0" parTransId="{8C2FDA74-89FA-41B1-9873-0394473DF94B}" sibTransId="{523036FD-5FD0-4ACE-AC60-F08A948150DD}"/>
    <dgm:cxn modelId="{1B195DE1-A215-478D-A6DE-67AAB3BAD050}" type="presOf" srcId="{8CF1AA8F-96CB-4B5E-B715-B9028B917988}" destId="{CA2997A6-1A9D-4195-A4F9-95CB281E15D5}" srcOrd="0" destOrd="0" presId="urn:microsoft.com/office/officeart/2005/8/layout/radial1"/>
    <dgm:cxn modelId="{78A011E7-61C1-4FA0-84CE-C5A9CDB15EF2}" srcId="{B22323AB-1086-4A1C-B331-F5BB963D4145}" destId="{87D17AA0-6080-47AE-B7DB-526C9B560CAC}" srcOrd="1" destOrd="0" parTransId="{DB84B937-099F-47CA-9CDD-0D18AFFCDE42}" sibTransId="{F3240178-5CAF-4CE1-A438-3A427DB0871A}"/>
    <dgm:cxn modelId="{C3497DEC-C149-48B3-BC23-CC9921EB14C3}" type="presOf" srcId="{A517CECA-E7F5-4281-B2DA-244FEF5320DC}" destId="{3E830754-EFA7-4138-9FA6-3C9E92E74104}" srcOrd="0" destOrd="0" presId="urn:microsoft.com/office/officeart/2005/8/layout/radial1"/>
    <dgm:cxn modelId="{133AE4FF-A484-41DA-8EB1-C2C3D02BF120}" type="presParOf" srcId="{038BAAB1-DC3C-4112-BA2B-18A482B3FB34}" destId="{CEAB91ED-304D-4E30-917D-DB8A5D6E9F4E}" srcOrd="0" destOrd="0" presId="urn:microsoft.com/office/officeart/2005/8/layout/radial1"/>
    <dgm:cxn modelId="{E16F9661-5AC5-4437-BD9C-16AE476DE23B}" type="presParOf" srcId="{038BAAB1-DC3C-4112-BA2B-18A482B3FB34}" destId="{C041081D-BE3D-40E6-B560-6CCAEF685BB2}" srcOrd="1" destOrd="0" presId="urn:microsoft.com/office/officeart/2005/8/layout/radial1"/>
    <dgm:cxn modelId="{3211F2AF-F364-43D0-9A7C-79702C6E6C34}" type="presParOf" srcId="{C041081D-BE3D-40E6-B560-6CCAEF685BB2}" destId="{3CD87989-36DD-4624-AA56-93400E0521D5}" srcOrd="0" destOrd="0" presId="urn:microsoft.com/office/officeart/2005/8/layout/radial1"/>
    <dgm:cxn modelId="{D92718EA-F264-4BF2-93EC-8679C66217A9}" type="presParOf" srcId="{038BAAB1-DC3C-4112-BA2B-18A482B3FB34}" destId="{402F23A3-1405-4E62-9B6B-1BAD6AF3B058}" srcOrd="2" destOrd="0" presId="urn:microsoft.com/office/officeart/2005/8/layout/radial1"/>
    <dgm:cxn modelId="{110BBA91-D51D-4E73-8BA1-75833E52D395}" type="presParOf" srcId="{038BAAB1-DC3C-4112-BA2B-18A482B3FB34}" destId="{1A688BA9-9980-46CE-92DD-5B540F6B173C}" srcOrd="3" destOrd="0" presId="urn:microsoft.com/office/officeart/2005/8/layout/radial1"/>
    <dgm:cxn modelId="{F8623B45-8DA7-4EBE-ACD0-4A02FF495F20}" type="presParOf" srcId="{1A688BA9-9980-46CE-92DD-5B540F6B173C}" destId="{29BF8A05-B023-43EB-9B11-C312495477C8}" srcOrd="0" destOrd="0" presId="urn:microsoft.com/office/officeart/2005/8/layout/radial1"/>
    <dgm:cxn modelId="{A74FED4A-009A-4DB5-A934-8DF39073D56A}" type="presParOf" srcId="{038BAAB1-DC3C-4112-BA2B-18A482B3FB34}" destId="{9EB9B65F-4393-4612-9918-4B6EE32BE2B5}" srcOrd="4" destOrd="0" presId="urn:microsoft.com/office/officeart/2005/8/layout/radial1"/>
    <dgm:cxn modelId="{6E2A2A09-8046-4E50-A69C-9968D89DA4C3}" type="presParOf" srcId="{038BAAB1-DC3C-4112-BA2B-18A482B3FB34}" destId="{CA2997A6-1A9D-4195-A4F9-95CB281E15D5}" srcOrd="5" destOrd="0" presId="urn:microsoft.com/office/officeart/2005/8/layout/radial1"/>
    <dgm:cxn modelId="{D609836B-250A-45E8-8415-68F0690A11B6}" type="presParOf" srcId="{CA2997A6-1A9D-4195-A4F9-95CB281E15D5}" destId="{4EA814EB-5106-4171-B8B6-C2618CEA3308}" srcOrd="0" destOrd="0" presId="urn:microsoft.com/office/officeart/2005/8/layout/radial1"/>
    <dgm:cxn modelId="{C75544EF-EE5A-4BC4-9777-2A3C7E9A4A0B}" type="presParOf" srcId="{038BAAB1-DC3C-4112-BA2B-18A482B3FB34}" destId="{AA805C1A-016A-4092-AC58-C8C9626E154E}" srcOrd="6" destOrd="0" presId="urn:microsoft.com/office/officeart/2005/8/layout/radial1"/>
    <dgm:cxn modelId="{BB776DD6-B251-46CF-8328-3B48454360D7}" type="presParOf" srcId="{038BAAB1-DC3C-4112-BA2B-18A482B3FB34}" destId="{96B1DAAE-F63C-47BA-8420-AE7C9945D5FC}" srcOrd="7" destOrd="0" presId="urn:microsoft.com/office/officeart/2005/8/layout/radial1"/>
    <dgm:cxn modelId="{FE18A4D5-C790-46F0-970E-6A398EEEAF22}" type="presParOf" srcId="{96B1DAAE-F63C-47BA-8420-AE7C9945D5FC}" destId="{C5612A02-3DBA-489F-8731-7BFEF4CFC7A5}" srcOrd="0" destOrd="0" presId="urn:microsoft.com/office/officeart/2005/8/layout/radial1"/>
    <dgm:cxn modelId="{BFD25698-62F9-474A-B6C4-B772D8E4456C}" type="presParOf" srcId="{038BAAB1-DC3C-4112-BA2B-18A482B3FB34}" destId="{3E830754-EFA7-4138-9FA6-3C9E92E74104}" srcOrd="8" destOrd="0" presId="urn:microsoft.com/office/officeart/2005/8/layout/radial1"/>
    <dgm:cxn modelId="{6032A82A-B226-4842-82FC-9C2608852E84}" type="presParOf" srcId="{038BAAB1-DC3C-4112-BA2B-18A482B3FB34}" destId="{78B2782A-5A1E-4DB7-8A32-C245B5326F9D}" srcOrd="9" destOrd="0" presId="urn:microsoft.com/office/officeart/2005/8/layout/radial1"/>
    <dgm:cxn modelId="{57EFBA60-C095-4099-A06A-F501722F815D}" type="presParOf" srcId="{78B2782A-5A1E-4DB7-8A32-C245B5326F9D}" destId="{0DB9215C-9FC4-4645-A9FB-1A7085D28428}" srcOrd="0" destOrd="0" presId="urn:microsoft.com/office/officeart/2005/8/layout/radial1"/>
    <dgm:cxn modelId="{7269BCE5-5856-480D-B02B-4E12E87E70C7}" type="presParOf" srcId="{038BAAB1-DC3C-4112-BA2B-18A482B3FB34}" destId="{8473F692-BDED-4FE3-8EFA-3135EC8A8BE4}" srcOrd="10" destOrd="0" presId="urn:microsoft.com/office/officeart/2005/8/layout/radial1"/>
    <dgm:cxn modelId="{02855FD4-D20B-4284-8DCA-4C3344D98DCF}" type="presParOf" srcId="{038BAAB1-DC3C-4112-BA2B-18A482B3FB34}" destId="{8BB81BB8-E393-4F1D-8B7B-020AC5C16F2F}" srcOrd="11" destOrd="0" presId="urn:microsoft.com/office/officeart/2005/8/layout/radial1"/>
    <dgm:cxn modelId="{39A07AD8-4570-4B96-9438-975BD661E11E}" type="presParOf" srcId="{8BB81BB8-E393-4F1D-8B7B-020AC5C16F2F}" destId="{EFA8CB61-977E-45B8-BD5E-C48F086EF9EF}" srcOrd="0" destOrd="0" presId="urn:microsoft.com/office/officeart/2005/8/layout/radial1"/>
    <dgm:cxn modelId="{0383C5C4-9A24-4B92-BF01-350088E4724E}" type="presParOf" srcId="{038BAAB1-DC3C-4112-BA2B-18A482B3FB34}" destId="{E239F5DF-E3F9-42F3-9ADB-15CF35E6CE45}" srcOrd="12" destOrd="0" presId="urn:microsoft.com/office/officeart/2005/8/layout/radial1"/>
    <dgm:cxn modelId="{08F79CF2-0FBA-4CC3-8A95-6E4E54732669}" type="presParOf" srcId="{038BAAB1-DC3C-4112-BA2B-18A482B3FB34}" destId="{AF33E670-42AA-4676-8C3F-58C9EF27EB34}" srcOrd="13" destOrd="0" presId="urn:microsoft.com/office/officeart/2005/8/layout/radial1"/>
    <dgm:cxn modelId="{74408013-2DEF-40A7-A044-6E878A5D8156}" type="presParOf" srcId="{AF33E670-42AA-4676-8C3F-58C9EF27EB34}" destId="{43F165D5-D777-4F42-82A2-62F5DDF5C06C}" srcOrd="0" destOrd="0" presId="urn:microsoft.com/office/officeart/2005/8/layout/radial1"/>
    <dgm:cxn modelId="{7B882BCB-E5BF-473D-838C-0EC64E199E4E}" type="presParOf" srcId="{038BAAB1-DC3C-4112-BA2B-18A482B3FB34}" destId="{26B2A20A-D83E-4FB4-8289-8E75F18D9F17}" srcOrd="14" destOrd="0" presId="urn:microsoft.com/office/officeart/2005/8/layout/radial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F9AB813C-B06A-4F31-AE41-5FBC08019F61}" type="doc">
      <dgm:prSet loTypeId="urn:microsoft.com/office/officeart/2005/8/layout/vList5" loCatId="list" qsTypeId="urn:microsoft.com/office/officeart/2005/8/quickstyle/simple1" qsCatId="simple" csTypeId="urn:microsoft.com/office/officeart/2005/8/colors/colorful1#4" csCatId="colorful" phldr="1"/>
      <dgm:spPr/>
      <dgm:t>
        <a:bodyPr/>
        <a:lstStyle/>
        <a:p>
          <a:endParaRPr lang="zh-CN" altLang="en-US"/>
        </a:p>
      </dgm:t>
    </dgm:pt>
    <dgm:pt modelId="{050A098E-265C-4391-8A02-18D41C9ACEF7}">
      <dgm:prSet phldrT="[文本]" custT="1"/>
      <dgm:spPr/>
      <dgm:t>
        <a:bodyPr/>
        <a:lstStyle/>
        <a:p>
          <a:pPr>
            <a:lnSpc>
              <a:spcPts val="2400"/>
            </a:lnSpc>
            <a:spcBef>
              <a:spcPts val="0"/>
            </a:spcBef>
            <a:spcAft>
              <a:spcPts val="0"/>
            </a:spcAft>
          </a:pPr>
          <a:r>
            <a:rPr lang="zh-CN" altLang="en-US" sz="1800" b="1" dirty="0">
              <a:solidFill>
                <a:schemeClr val="bg1"/>
              </a:solidFill>
              <a:latin typeface="微软雅黑" panose="020B0503020204020204" pitchFamily="34" charset="-122"/>
              <a:ea typeface="微软雅黑" panose="020B0503020204020204" pitchFamily="34" charset="-122"/>
            </a:rPr>
            <a:t>频域</a:t>
          </a:r>
        </a:p>
      </dgm:t>
    </dgm:pt>
    <dgm:pt modelId="{A6F7A116-B107-4EA4-9066-73D7E647AB1E}" type="parTrans" cxnId="{EC4EA4BE-F7E1-4328-B1DB-6A0D15C7F420}">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BCB1832-21C9-4CED-A453-F89D918E8026}" type="sibTrans" cxnId="{EC4EA4BE-F7E1-4328-B1DB-6A0D15C7F420}">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FEF4933F-9CB0-4FCB-8C1E-9CB99A07B49E}">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某个信号具有的</a:t>
          </a:r>
          <a:r>
            <a:rPr lang="zh-CN" altLang="en-US" sz="1600" b="1" dirty="0">
              <a:solidFill>
                <a:srgbClr val="0000FF"/>
              </a:solidFill>
              <a:latin typeface="微软雅黑" panose="020B0503020204020204" pitchFamily="34" charset="-122"/>
              <a:ea typeface="微软雅黑" panose="020B0503020204020204" pitchFamily="34" charset="-122"/>
            </a:rPr>
            <a:t>频带宽度。</a:t>
          </a:r>
        </a:p>
      </dgm:t>
    </dgm:pt>
    <dgm:pt modelId="{496C612B-0359-4353-8637-BF1552A99E99}" type="parTrans" cxnId="{83A05107-00D7-4222-B7C2-A60E72976CB4}">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18C0578-B49C-4E15-96F8-93E15DFFC7F1}" type="sibTrans" cxnId="{83A05107-00D7-4222-B7C2-A60E72976CB4}">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0C3747A4-6E14-4B4D-B352-09BA88A76C46}">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单位是</a:t>
          </a:r>
          <a:r>
            <a:rPr lang="zh-CN" altLang="en-US" sz="1600" b="1" dirty="0">
              <a:solidFill>
                <a:srgbClr val="0000FF"/>
              </a:solidFill>
              <a:latin typeface="微软雅黑" panose="020B0503020204020204" pitchFamily="34" charset="-122"/>
              <a:ea typeface="微软雅黑" panose="020B0503020204020204" pitchFamily="34" charset="-122"/>
            </a:rPr>
            <a:t>赫</a:t>
          </a:r>
          <a:r>
            <a:rPr lang="zh-CN" altLang="en-US" sz="1600" b="1" dirty="0">
              <a:latin typeface="微软雅黑" panose="020B0503020204020204" pitchFamily="34" charset="-122"/>
              <a:ea typeface="微软雅黑" panose="020B0503020204020204" pitchFamily="34" charset="-122"/>
            </a:rPr>
            <a:t>（或千赫、兆赫、吉赫等）。</a:t>
          </a:r>
        </a:p>
      </dgm:t>
    </dgm:pt>
    <dgm:pt modelId="{9C1E3CB2-E8C8-49AB-965B-AFC0CD4F794D}" type="parTrans" cxnId="{1165B027-3233-4387-BD43-758F7EC8C9C7}">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78D8998-D0E8-4832-B8F9-C32C7B518B9A}" type="sibTrans" cxnId="{1165B027-3233-4387-BD43-758F7EC8C9C7}">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7D7D28CE-69F5-49A1-B14F-3045EE4444C5}">
      <dgm:prSet phldrT="[文本]" custT="1"/>
      <dgm:spPr/>
      <dgm:t>
        <a:bodyPr/>
        <a:lstStyle/>
        <a:p>
          <a:pPr>
            <a:lnSpc>
              <a:spcPts val="2400"/>
            </a:lnSpc>
            <a:spcBef>
              <a:spcPts val="0"/>
            </a:spcBef>
            <a:spcAft>
              <a:spcPts val="0"/>
            </a:spcAft>
          </a:pPr>
          <a:r>
            <a:rPr lang="zh-CN" altLang="en-US" sz="1800" b="1" dirty="0">
              <a:solidFill>
                <a:schemeClr val="tx1"/>
              </a:solidFill>
              <a:latin typeface="微软雅黑" panose="020B0503020204020204" pitchFamily="34" charset="-122"/>
              <a:ea typeface="微软雅黑" panose="020B0503020204020204" pitchFamily="34" charset="-122"/>
            </a:rPr>
            <a:t>时域</a:t>
          </a:r>
        </a:p>
      </dgm:t>
    </dgm:pt>
    <dgm:pt modelId="{7BA8DCB6-F2BF-48A1-AE72-20D033A4AB32}" type="parTrans" cxnId="{60735D4F-A4F3-476D-AE58-8AE4EDAE2412}">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56A15820-9812-4C8B-9CED-F317235A9064}" type="sibTrans" cxnId="{60735D4F-A4F3-476D-AE58-8AE4EDAE2412}">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0DB3CE6-D371-46C6-BF5C-43B59AB6EDE2}">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网络中某通道传送数据的能力，表示在单位时间内网络中的某信道所能通过的</a:t>
          </a:r>
          <a:r>
            <a:rPr lang="zh-CN" altLang="en-US" sz="1600" b="1" dirty="0">
              <a:solidFill>
                <a:srgbClr val="0000FF"/>
              </a:solidFill>
              <a:latin typeface="微软雅黑" panose="020B0503020204020204" pitchFamily="34" charset="-122"/>
              <a:ea typeface="微软雅黑" panose="020B0503020204020204" pitchFamily="34" charset="-122"/>
            </a:rPr>
            <a:t>“最高数据率”。</a:t>
          </a:r>
        </a:p>
      </dgm:t>
    </dgm:pt>
    <dgm:pt modelId="{EF117184-0A6B-450A-9F46-59148824F74C}" type="parTrans" cxnId="{F099BD6E-6DE6-4DC8-8916-951CC33D3D91}">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ECD476C-4C81-48A0-A49D-D9F381D723F0}" type="sibTrans" cxnId="{F099BD6E-6DE6-4DC8-8916-951CC33D3D91}">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679FA712-BCAA-459B-A818-2FEE70636A61}">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单位就是数据率的单位 </a:t>
          </a:r>
          <a:r>
            <a:rPr lang="en-US" altLang="en-US" sz="1600" b="1" dirty="0">
              <a:latin typeface="微软雅黑" panose="020B0503020204020204" pitchFamily="34" charset="-122"/>
              <a:ea typeface="微软雅黑" panose="020B0503020204020204" pitchFamily="34" charset="-122"/>
            </a:rPr>
            <a:t>bit/s</a:t>
          </a:r>
          <a:r>
            <a:rPr lang="zh-CN" altLang="en-US" sz="1600" b="1" dirty="0">
              <a:latin typeface="微软雅黑" panose="020B0503020204020204" pitchFamily="34" charset="-122"/>
              <a:ea typeface="微软雅黑" panose="020B0503020204020204" pitchFamily="34" charset="-122"/>
            </a:rPr>
            <a:t>。</a:t>
          </a:r>
        </a:p>
      </dgm:t>
    </dgm:pt>
    <dgm:pt modelId="{0A4C7176-71C6-4DA2-A49E-1FBD36EA537F}" type="parTrans" cxnId="{2E444A85-2D22-48A3-8A02-211B5B9A1B48}">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008DC61-DEEE-4E2B-8DE7-4B2E6EECC852}" type="sibTrans" cxnId="{2E444A85-2D22-48A3-8A02-211B5B9A1B48}">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B66B706-D603-46A5-9883-124C05B8E875}">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某信道允许通过的信号频带范围称为该</a:t>
          </a:r>
          <a:r>
            <a:rPr lang="zh-CN" altLang="en-US" sz="1600" b="1" dirty="0">
              <a:solidFill>
                <a:srgbClr val="0000FF"/>
              </a:solidFill>
              <a:latin typeface="微软雅黑" panose="020B0503020204020204" pitchFamily="34" charset="-122"/>
              <a:ea typeface="微软雅黑" panose="020B0503020204020204" pitchFamily="34" charset="-122"/>
            </a:rPr>
            <a:t>信道的带宽</a:t>
          </a:r>
          <a:r>
            <a:rPr lang="zh-CN" altLang="en-US" sz="1600" b="1" dirty="0">
              <a:latin typeface="微软雅黑" panose="020B0503020204020204" pitchFamily="34" charset="-122"/>
              <a:ea typeface="微软雅黑" panose="020B0503020204020204" pitchFamily="34" charset="-122"/>
            </a:rPr>
            <a:t>（或通频带）。</a:t>
          </a:r>
        </a:p>
      </dgm:t>
    </dgm:pt>
    <dgm:pt modelId="{89BD7969-E47A-44A1-A228-64CDDE384D58}" type="parTrans" cxnId="{DC942A3B-33E6-4C36-96EA-7BED92D7AD9D}">
      <dgm:prSet/>
      <dgm:spPr/>
      <dgm:t>
        <a:bodyPr/>
        <a:lstStyle/>
        <a:p>
          <a:endParaRPr lang="zh-CN" altLang="en-US"/>
        </a:p>
      </dgm:t>
    </dgm:pt>
    <dgm:pt modelId="{CF6155F8-E999-4B3A-9320-1784222FDB2A}" type="sibTrans" cxnId="{DC942A3B-33E6-4C36-96EA-7BED92D7AD9D}">
      <dgm:prSet/>
      <dgm:spPr/>
      <dgm:t>
        <a:bodyPr/>
        <a:lstStyle/>
        <a:p>
          <a:endParaRPr lang="zh-CN" altLang="en-US"/>
        </a:p>
      </dgm:t>
    </dgm:pt>
    <dgm:pt modelId="{40E63CE6-BCF0-4D31-BF79-E0110AFBC97D}" type="pres">
      <dgm:prSet presAssocID="{F9AB813C-B06A-4F31-AE41-5FBC08019F61}" presName="Name0" presStyleCnt="0">
        <dgm:presLayoutVars>
          <dgm:dir/>
          <dgm:animLvl val="lvl"/>
          <dgm:resizeHandles val="exact"/>
        </dgm:presLayoutVars>
      </dgm:prSet>
      <dgm:spPr/>
    </dgm:pt>
    <dgm:pt modelId="{A816BD0E-3B05-4D80-8D09-86E69DADF94A}" type="pres">
      <dgm:prSet presAssocID="{050A098E-265C-4391-8A02-18D41C9ACEF7}" presName="linNode" presStyleCnt="0"/>
      <dgm:spPr/>
    </dgm:pt>
    <dgm:pt modelId="{12490A3D-6938-465D-B09D-05FD246C6E9E}" type="pres">
      <dgm:prSet presAssocID="{050A098E-265C-4391-8A02-18D41C9ACEF7}" presName="parentText" presStyleLbl="node1" presStyleIdx="0" presStyleCnt="2" custScaleX="41980">
        <dgm:presLayoutVars>
          <dgm:chMax val="1"/>
          <dgm:bulletEnabled val="1"/>
        </dgm:presLayoutVars>
      </dgm:prSet>
      <dgm:spPr/>
    </dgm:pt>
    <dgm:pt modelId="{D8322834-D555-4278-B09F-615875E565CE}" type="pres">
      <dgm:prSet presAssocID="{050A098E-265C-4391-8A02-18D41C9ACEF7}" presName="descendantText" presStyleLbl="alignAccFollowNode1" presStyleIdx="0" presStyleCnt="2" custScaleX="127202">
        <dgm:presLayoutVars>
          <dgm:bulletEnabled val="1"/>
        </dgm:presLayoutVars>
      </dgm:prSet>
      <dgm:spPr/>
    </dgm:pt>
    <dgm:pt modelId="{D083337A-8E07-459D-A053-9228C089A47E}" type="pres">
      <dgm:prSet presAssocID="{1BCB1832-21C9-4CED-A453-F89D918E8026}" presName="sp" presStyleCnt="0"/>
      <dgm:spPr/>
    </dgm:pt>
    <dgm:pt modelId="{795B2B64-5D71-4F73-BF51-C77D11A4D022}" type="pres">
      <dgm:prSet presAssocID="{7D7D28CE-69F5-49A1-B14F-3045EE4444C5}" presName="linNode" presStyleCnt="0"/>
      <dgm:spPr/>
    </dgm:pt>
    <dgm:pt modelId="{90C011AE-3F91-416D-B2FD-433B35EC17A6}" type="pres">
      <dgm:prSet presAssocID="{7D7D28CE-69F5-49A1-B14F-3045EE4444C5}" presName="parentText" presStyleLbl="node1" presStyleIdx="1" presStyleCnt="2" custScaleX="41980" custLinFactNeighborY="-2899">
        <dgm:presLayoutVars>
          <dgm:chMax val="1"/>
          <dgm:bulletEnabled val="1"/>
        </dgm:presLayoutVars>
      </dgm:prSet>
      <dgm:spPr/>
    </dgm:pt>
    <dgm:pt modelId="{4EADB46F-8684-4B72-97FE-D18AEB647819}" type="pres">
      <dgm:prSet presAssocID="{7D7D28CE-69F5-49A1-B14F-3045EE4444C5}" presName="descendantText" presStyleLbl="alignAccFollowNode1" presStyleIdx="1" presStyleCnt="2" custScaleX="127202" custLinFactNeighborY="-3622">
        <dgm:presLayoutVars>
          <dgm:bulletEnabled val="1"/>
        </dgm:presLayoutVars>
      </dgm:prSet>
      <dgm:spPr/>
    </dgm:pt>
  </dgm:ptLst>
  <dgm:cxnLst>
    <dgm:cxn modelId="{83A05107-00D7-4222-B7C2-A60E72976CB4}" srcId="{050A098E-265C-4391-8A02-18D41C9ACEF7}" destId="{FEF4933F-9CB0-4FCB-8C1E-9CB99A07B49E}" srcOrd="0" destOrd="0" parTransId="{496C612B-0359-4353-8637-BF1552A99E99}" sibTransId="{E18C0578-B49C-4E15-96F8-93E15DFFC7F1}"/>
    <dgm:cxn modelId="{63CD9407-2941-47C4-89ED-D215479544D9}" type="presOf" srcId="{679FA712-BCAA-459B-A818-2FEE70636A61}" destId="{4EADB46F-8684-4B72-97FE-D18AEB647819}" srcOrd="0" destOrd="1" presId="urn:microsoft.com/office/officeart/2005/8/layout/vList5"/>
    <dgm:cxn modelId="{03AFA410-631A-40E5-B964-EC11BE5D8531}" type="presOf" srcId="{1B66B706-D603-46A5-9883-124C05B8E875}" destId="{D8322834-D555-4278-B09F-615875E565CE}" srcOrd="0" destOrd="2" presId="urn:microsoft.com/office/officeart/2005/8/layout/vList5"/>
    <dgm:cxn modelId="{C2EF7411-42DE-465C-8FAE-3EB55B7970F6}" type="presOf" srcId="{050A098E-265C-4391-8A02-18D41C9ACEF7}" destId="{12490A3D-6938-465D-B09D-05FD246C6E9E}" srcOrd="0" destOrd="0" presId="urn:microsoft.com/office/officeart/2005/8/layout/vList5"/>
    <dgm:cxn modelId="{FBD4A315-3663-4844-922B-3DBBE857371B}" type="presOf" srcId="{7D7D28CE-69F5-49A1-B14F-3045EE4444C5}" destId="{90C011AE-3F91-416D-B2FD-433B35EC17A6}" srcOrd="0" destOrd="0" presId="urn:microsoft.com/office/officeart/2005/8/layout/vList5"/>
    <dgm:cxn modelId="{1165B027-3233-4387-BD43-758F7EC8C9C7}" srcId="{050A098E-265C-4391-8A02-18D41C9ACEF7}" destId="{0C3747A4-6E14-4B4D-B352-09BA88A76C46}" srcOrd="1" destOrd="0" parTransId="{9C1E3CB2-E8C8-49AB-965B-AFC0CD4F794D}" sibTransId="{B78D8998-D0E8-4832-B8F9-C32C7B518B9A}"/>
    <dgm:cxn modelId="{A7DDFB38-9139-4A21-A289-C3FF5A2E42B4}" type="presOf" srcId="{E0DB3CE6-D371-46C6-BF5C-43B59AB6EDE2}" destId="{4EADB46F-8684-4B72-97FE-D18AEB647819}" srcOrd="0" destOrd="0" presId="urn:microsoft.com/office/officeart/2005/8/layout/vList5"/>
    <dgm:cxn modelId="{DC942A3B-33E6-4C36-96EA-7BED92D7AD9D}" srcId="{050A098E-265C-4391-8A02-18D41C9ACEF7}" destId="{1B66B706-D603-46A5-9883-124C05B8E875}" srcOrd="2" destOrd="0" parTransId="{89BD7969-E47A-44A1-A228-64CDDE384D58}" sibTransId="{CF6155F8-E999-4B3A-9320-1784222FDB2A}"/>
    <dgm:cxn modelId="{371AB66C-17E5-4EE2-947D-C610D4A3E588}" type="presOf" srcId="{F9AB813C-B06A-4F31-AE41-5FBC08019F61}" destId="{40E63CE6-BCF0-4D31-BF79-E0110AFBC97D}" srcOrd="0" destOrd="0" presId="urn:microsoft.com/office/officeart/2005/8/layout/vList5"/>
    <dgm:cxn modelId="{F099BD6E-6DE6-4DC8-8916-951CC33D3D91}" srcId="{7D7D28CE-69F5-49A1-B14F-3045EE4444C5}" destId="{E0DB3CE6-D371-46C6-BF5C-43B59AB6EDE2}" srcOrd="0" destOrd="0" parTransId="{EF117184-0A6B-450A-9F46-59148824F74C}" sibTransId="{3ECD476C-4C81-48A0-A49D-D9F381D723F0}"/>
    <dgm:cxn modelId="{60735D4F-A4F3-476D-AE58-8AE4EDAE2412}" srcId="{F9AB813C-B06A-4F31-AE41-5FBC08019F61}" destId="{7D7D28CE-69F5-49A1-B14F-3045EE4444C5}" srcOrd="1" destOrd="0" parTransId="{7BA8DCB6-F2BF-48A1-AE72-20D033A4AB32}" sibTransId="{56A15820-9812-4C8B-9CED-F317235A9064}"/>
    <dgm:cxn modelId="{2E444A85-2D22-48A3-8A02-211B5B9A1B48}" srcId="{7D7D28CE-69F5-49A1-B14F-3045EE4444C5}" destId="{679FA712-BCAA-459B-A818-2FEE70636A61}" srcOrd="1" destOrd="0" parTransId="{0A4C7176-71C6-4DA2-A49E-1FBD36EA537F}" sibTransId="{C008DC61-DEEE-4E2B-8DE7-4B2E6EECC852}"/>
    <dgm:cxn modelId="{EC4EA4BE-F7E1-4328-B1DB-6A0D15C7F420}" srcId="{F9AB813C-B06A-4F31-AE41-5FBC08019F61}" destId="{050A098E-265C-4391-8A02-18D41C9ACEF7}" srcOrd="0" destOrd="0" parTransId="{A6F7A116-B107-4EA4-9066-73D7E647AB1E}" sibTransId="{1BCB1832-21C9-4CED-A453-F89D918E8026}"/>
    <dgm:cxn modelId="{A9A0C1BE-E752-49A8-9D77-F0F4F763D66F}" type="presOf" srcId="{FEF4933F-9CB0-4FCB-8C1E-9CB99A07B49E}" destId="{D8322834-D555-4278-B09F-615875E565CE}" srcOrd="0" destOrd="0" presId="urn:microsoft.com/office/officeart/2005/8/layout/vList5"/>
    <dgm:cxn modelId="{C64A0FEB-C933-463E-AEB0-9AD63DC6FF69}" type="presOf" srcId="{0C3747A4-6E14-4B4D-B352-09BA88A76C46}" destId="{D8322834-D555-4278-B09F-615875E565CE}" srcOrd="0" destOrd="1" presId="urn:microsoft.com/office/officeart/2005/8/layout/vList5"/>
    <dgm:cxn modelId="{73C37479-3E4B-4A25-A901-743C14E100D2}" type="presParOf" srcId="{40E63CE6-BCF0-4D31-BF79-E0110AFBC97D}" destId="{A816BD0E-3B05-4D80-8D09-86E69DADF94A}" srcOrd="0" destOrd="0" presId="urn:microsoft.com/office/officeart/2005/8/layout/vList5"/>
    <dgm:cxn modelId="{C0E9B0E7-F95F-485D-A69A-8411C84912E4}" type="presParOf" srcId="{A816BD0E-3B05-4D80-8D09-86E69DADF94A}" destId="{12490A3D-6938-465D-B09D-05FD246C6E9E}" srcOrd="0" destOrd="0" presId="urn:microsoft.com/office/officeart/2005/8/layout/vList5"/>
    <dgm:cxn modelId="{0A3B23AB-91F2-43D6-BC1E-C7789C0BDD1D}" type="presParOf" srcId="{A816BD0E-3B05-4D80-8D09-86E69DADF94A}" destId="{D8322834-D555-4278-B09F-615875E565CE}" srcOrd="1" destOrd="0" presId="urn:microsoft.com/office/officeart/2005/8/layout/vList5"/>
    <dgm:cxn modelId="{185C4137-9E4F-4F19-A3CB-E491C911A7C5}" type="presParOf" srcId="{40E63CE6-BCF0-4D31-BF79-E0110AFBC97D}" destId="{D083337A-8E07-459D-A053-9228C089A47E}" srcOrd="1" destOrd="0" presId="urn:microsoft.com/office/officeart/2005/8/layout/vList5"/>
    <dgm:cxn modelId="{90C81B48-3660-4386-86E9-B2B326A264D4}" type="presParOf" srcId="{40E63CE6-BCF0-4D31-BF79-E0110AFBC97D}" destId="{795B2B64-5D71-4F73-BF51-C77D11A4D022}" srcOrd="2" destOrd="0" presId="urn:microsoft.com/office/officeart/2005/8/layout/vList5"/>
    <dgm:cxn modelId="{9BF1E6FC-7FE7-44BF-ADCB-9FE0476846EC}" type="presParOf" srcId="{795B2B64-5D71-4F73-BF51-C77D11A4D022}" destId="{90C011AE-3F91-416D-B2FD-433B35EC17A6}" srcOrd="0" destOrd="0" presId="urn:microsoft.com/office/officeart/2005/8/layout/vList5"/>
    <dgm:cxn modelId="{522D5519-935E-43DE-B65C-3F7A263B0C61}" type="presParOf" srcId="{795B2B64-5D71-4F73-BF51-C77D11A4D022}" destId="{4EADB46F-8684-4B72-97FE-D18AEB647819}"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18530140-3F55-46BC-848D-A4C14AA8BC1C}" type="doc">
      <dgm:prSet loTypeId="urn:microsoft.com/office/officeart/2005/8/layout/hList1" loCatId="list" qsTypeId="urn:microsoft.com/office/officeart/2005/8/quickstyle/simple5" qsCatId="simple" csTypeId="urn:microsoft.com/office/officeart/2005/8/colors/colorful1#5" csCatId="colorful" phldr="1"/>
      <dgm:spPr/>
      <dgm:t>
        <a:bodyPr/>
        <a:lstStyle/>
        <a:p>
          <a:endParaRPr lang="zh-CN" altLang="en-US"/>
        </a:p>
      </dgm:t>
    </dgm:pt>
    <dgm:pt modelId="{617AE38B-731F-4729-B28F-C30C3037C6EF}">
      <dgm:prSet phldrT="[文本]" custT="1"/>
      <dgm:spPr/>
      <dgm:t>
        <a:bodyPr/>
        <a:lstStyle/>
        <a:p>
          <a:r>
            <a:rPr lang="zh-CN" altLang="en-US" sz="1800" b="1" dirty="0">
              <a:latin typeface="微软雅黑" panose="020B0503020204020204" pitchFamily="34" charset="-122"/>
              <a:ea typeface="微软雅黑" panose="020B0503020204020204" pitchFamily="34" charset="-122"/>
            </a:rPr>
            <a:t>信道利用率</a:t>
          </a:r>
        </a:p>
      </dgm:t>
    </dgm:pt>
    <dgm:pt modelId="{E59DA53A-3783-4CE4-8AD5-26603DC4E19D}" type="parTrans" cxnId="{A85E3E8F-E7E6-4ECC-A71E-7AC941D62EF2}">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4789360-920D-40CE-84C5-78110649C9AA}" type="sibTrans" cxnId="{A85E3E8F-E7E6-4ECC-A71E-7AC941D62EF2}">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EC6DEAD-6406-4DFB-8DEA-CD3C17DC614D}">
      <dgm:prSet phldrT="[文本]" custT="1"/>
      <dgm:spPr/>
      <dgm:t>
        <a:bodyPr/>
        <a:lstStyle/>
        <a:p>
          <a:r>
            <a:rPr lang="zh-CN" altLang="en-US" sz="1800" b="1" dirty="0">
              <a:latin typeface="微软雅黑" panose="020B0503020204020204" pitchFamily="34" charset="-122"/>
              <a:ea typeface="微软雅黑" panose="020B0503020204020204" pitchFamily="34" charset="-122"/>
            </a:rPr>
            <a:t>某信道有百分之几的时间是被利用的（即有数据通过）。</a:t>
          </a:r>
        </a:p>
      </dgm:t>
    </dgm:pt>
    <dgm:pt modelId="{482F333A-D861-4AA0-A30F-1C931619106C}" type="parTrans" cxnId="{CE89C4F3-23B2-46F4-A4AF-ACF50B7D990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14CB4C-25BD-4D3A-91BC-2F5637AA90E5}" type="sibTrans" cxnId="{CE89C4F3-23B2-46F4-A4AF-ACF50B7D990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7820C6F-2839-48A4-95ED-EBDFE872E9B1}">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网络利用率</a:t>
          </a:r>
        </a:p>
      </dgm:t>
    </dgm:pt>
    <dgm:pt modelId="{11E1DEE2-EAF3-490A-A502-3BB3E26556A0}" type="parTrans" cxnId="{19DC375B-E541-4B59-8382-93A56F7F35B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73100A8-454C-4D8A-8DBD-7B32E1030A4A}" type="sibTrans" cxnId="{19DC375B-E541-4B59-8382-93A56F7F35B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DEA8A1D-B9FF-44AA-B42C-06D817B609F8}">
      <dgm:prSet phldrT="[文本]" custT="1"/>
      <dgm:spPr/>
      <dgm:t>
        <a:bodyPr/>
        <a:lstStyle/>
        <a:p>
          <a:r>
            <a:rPr lang="zh-CN" altLang="en-US" sz="1800" b="1" dirty="0">
              <a:latin typeface="微软雅黑" panose="020B0503020204020204" pitchFamily="34" charset="-122"/>
              <a:ea typeface="微软雅黑" panose="020B0503020204020204" pitchFamily="34" charset="-122"/>
            </a:rPr>
            <a:t>全网络的信道利用率的加权平均值。</a:t>
          </a:r>
        </a:p>
      </dgm:t>
    </dgm:pt>
    <dgm:pt modelId="{CDC104ED-5DB9-424C-8439-CDDBB0142664}" type="parTrans" cxnId="{9DC2B627-F44A-4C33-82E3-BC9DA9CC6DC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73DD2A-CC9B-4D66-A6A1-7EE41BC0E8A4}" type="sibTrans" cxnId="{9DC2B627-F44A-4C33-82E3-BC9DA9CC6DC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00B28D7-2FDD-447A-8655-1C4703F07E1D}">
      <dgm:prSet custT="1"/>
      <dgm:spPr/>
      <dgm:t>
        <a:bodyPr/>
        <a:lstStyle/>
        <a:p>
          <a:r>
            <a:rPr lang="zh-CN" altLang="en-US" sz="1800" b="1" dirty="0">
              <a:latin typeface="微软雅黑" panose="020B0503020204020204" pitchFamily="34" charset="-122"/>
              <a:ea typeface="微软雅黑" panose="020B0503020204020204" pitchFamily="34" charset="-122"/>
            </a:rPr>
            <a:t>完全空闲的信道的利用率是零。</a:t>
          </a:r>
        </a:p>
      </dgm:t>
    </dgm:pt>
    <dgm:pt modelId="{B4E31D86-E7E7-4DB8-B509-ABC412692A5B}" type="parTrans" cxnId="{C6795FE8-CFE8-4187-A5F2-78B292433606}">
      <dgm:prSet/>
      <dgm:spPr/>
      <dgm:t>
        <a:bodyPr/>
        <a:lstStyle/>
        <a:p>
          <a:endParaRPr lang="zh-CN" altLang="en-US" sz="1800"/>
        </a:p>
      </dgm:t>
    </dgm:pt>
    <dgm:pt modelId="{E056649D-FFB4-45EF-845D-4988E55B5B53}" type="sibTrans" cxnId="{C6795FE8-CFE8-4187-A5F2-78B292433606}">
      <dgm:prSet/>
      <dgm:spPr/>
      <dgm:t>
        <a:bodyPr/>
        <a:lstStyle/>
        <a:p>
          <a:endParaRPr lang="zh-CN" altLang="en-US" sz="1800"/>
        </a:p>
      </dgm:t>
    </dgm:pt>
    <dgm:pt modelId="{88C9F005-020B-4A65-B6DD-91E4B06170CA}" type="pres">
      <dgm:prSet presAssocID="{18530140-3F55-46BC-848D-A4C14AA8BC1C}" presName="Name0" presStyleCnt="0">
        <dgm:presLayoutVars>
          <dgm:dir/>
          <dgm:animLvl val="lvl"/>
          <dgm:resizeHandles val="exact"/>
        </dgm:presLayoutVars>
      </dgm:prSet>
      <dgm:spPr/>
    </dgm:pt>
    <dgm:pt modelId="{863441FC-3ED2-454D-AE08-A7529C4F64F0}" type="pres">
      <dgm:prSet presAssocID="{617AE38B-731F-4729-B28F-C30C3037C6EF}" presName="composite" presStyleCnt="0"/>
      <dgm:spPr/>
    </dgm:pt>
    <dgm:pt modelId="{6E98D618-F8FC-4C90-851C-0B5A61F1FAD0}" type="pres">
      <dgm:prSet presAssocID="{617AE38B-731F-4729-B28F-C30C3037C6EF}" presName="parTx" presStyleLbl="alignNode1" presStyleIdx="0" presStyleCnt="2">
        <dgm:presLayoutVars>
          <dgm:chMax val="0"/>
          <dgm:chPref val="0"/>
          <dgm:bulletEnabled val="1"/>
        </dgm:presLayoutVars>
      </dgm:prSet>
      <dgm:spPr/>
    </dgm:pt>
    <dgm:pt modelId="{DD1A8C17-AB8B-4CDA-9C06-E3F6B80DFAB1}" type="pres">
      <dgm:prSet presAssocID="{617AE38B-731F-4729-B28F-C30C3037C6EF}" presName="desTx" presStyleLbl="alignAccFollowNode1" presStyleIdx="0" presStyleCnt="2">
        <dgm:presLayoutVars>
          <dgm:bulletEnabled val="1"/>
        </dgm:presLayoutVars>
      </dgm:prSet>
      <dgm:spPr/>
    </dgm:pt>
    <dgm:pt modelId="{1CFA901E-33C6-4AF3-BBC3-CCEBB393DC10}" type="pres">
      <dgm:prSet presAssocID="{D4789360-920D-40CE-84C5-78110649C9AA}" presName="space" presStyleCnt="0"/>
      <dgm:spPr/>
    </dgm:pt>
    <dgm:pt modelId="{44F14B2E-25F7-449B-8033-A1851ADFCF28}" type="pres">
      <dgm:prSet presAssocID="{37820C6F-2839-48A4-95ED-EBDFE872E9B1}" presName="composite" presStyleCnt="0"/>
      <dgm:spPr/>
    </dgm:pt>
    <dgm:pt modelId="{95E674E6-30C0-4846-A33C-8435093FF952}" type="pres">
      <dgm:prSet presAssocID="{37820C6F-2839-48A4-95ED-EBDFE872E9B1}" presName="parTx" presStyleLbl="alignNode1" presStyleIdx="1" presStyleCnt="2">
        <dgm:presLayoutVars>
          <dgm:chMax val="0"/>
          <dgm:chPref val="0"/>
          <dgm:bulletEnabled val="1"/>
        </dgm:presLayoutVars>
      </dgm:prSet>
      <dgm:spPr/>
    </dgm:pt>
    <dgm:pt modelId="{D5B1C811-7FFB-4E90-B609-AF3320FECF06}" type="pres">
      <dgm:prSet presAssocID="{37820C6F-2839-48A4-95ED-EBDFE872E9B1}" presName="desTx" presStyleLbl="alignAccFollowNode1" presStyleIdx="1" presStyleCnt="2">
        <dgm:presLayoutVars>
          <dgm:bulletEnabled val="1"/>
        </dgm:presLayoutVars>
      </dgm:prSet>
      <dgm:spPr/>
    </dgm:pt>
  </dgm:ptLst>
  <dgm:cxnLst>
    <dgm:cxn modelId="{A20F5820-6458-4E01-B0AE-D4E8325AC9BD}" type="presOf" srcId="{1EC6DEAD-6406-4DFB-8DEA-CD3C17DC614D}" destId="{DD1A8C17-AB8B-4CDA-9C06-E3F6B80DFAB1}" srcOrd="0" destOrd="0" presId="urn:microsoft.com/office/officeart/2005/8/layout/hList1"/>
    <dgm:cxn modelId="{9DC2B627-F44A-4C33-82E3-BC9DA9CC6DCC}" srcId="{37820C6F-2839-48A4-95ED-EBDFE872E9B1}" destId="{7DEA8A1D-B9FF-44AA-B42C-06D817B609F8}" srcOrd="0" destOrd="0" parTransId="{CDC104ED-5DB9-424C-8439-CDDBB0142664}" sibTransId="{7F73DD2A-CC9B-4D66-A6A1-7EE41BC0E8A4}"/>
    <dgm:cxn modelId="{19DC375B-E541-4B59-8382-93A56F7F35BD}" srcId="{18530140-3F55-46BC-848D-A4C14AA8BC1C}" destId="{37820C6F-2839-48A4-95ED-EBDFE872E9B1}" srcOrd="1" destOrd="0" parTransId="{11E1DEE2-EAF3-490A-A502-3BB3E26556A0}" sibTransId="{573100A8-454C-4D8A-8DBD-7B32E1030A4A}"/>
    <dgm:cxn modelId="{50E80871-61F1-42A4-AAF9-3D6FE3D44A24}" type="presOf" srcId="{37820C6F-2839-48A4-95ED-EBDFE872E9B1}" destId="{95E674E6-30C0-4846-A33C-8435093FF952}" srcOrd="0" destOrd="0" presId="urn:microsoft.com/office/officeart/2005/8/layout/hList1"/>
    <dgm:cxn modelId="{A85E3E8F-E7E6-4ECC-A71E-7AC941D62EF2}" srcId="{18530140-3F55-46BC-848D-A4C14AA8BC1C}" destId="{617AE38B-731F-4729-B28F-C30C3037C6EF}" srcOrd="0" destOrd="0" parTransId="{E59DA53A-3783-4CE4-8AD5-26603DC4E19D}" sibTransId="{D4789360-920D-40CE-84C5-78110649C9AA}"/>
    <dgm:cxn modelId="{030BEFA5-F361-4328-951F-CB80F059289B}" type="presOf" srcId="{7DEA8A1D-B9FF-44AA-B42C-06D817B609F8}" destId="{D5B1C811-7FFB-4E90-B609-AF3320FECF06}" srcOrd="0" destOrd="0" presId="urn:microsoft.com/office/officeart/2005/8/layout/hList1"/>
    <dgm:cxn modelId="{C3B2B8A9-83E4-4B90-9B8C-86EE34AD3CCF}" type="presOf" srcId="{617AE38B-731F-4729-B28F-C30C3037C6EF}" destId="{6E98D618-F8FC-4C90-851C-0B5A61F1FAD0}" srcOrd="0" destOrd="0" presId="urn:microsoft.com/office/officeart/2005/8/layout/hList1"/>
    <dgm:cxn modelId="{986F98DA-A7C2-4490-9706-635023747E49}" type="presOf" srcId="{18530140-3F55-46BC-848D-A4C14AA8BC1C}" destId="{88C9F005-020B-4A65-B6DD-91E4B06170CA}" srcOrd="0" destOrd="0" presId="urn:microsoft.com/office/officeart/2005/8/layout/hList1"/>
    <dgm:cxn modelId="{C6795FE8-CFE8-4187-A5F2-78B292433606}" srcId="{617AE38B-731F-4729-B28F-C30C3037C6EF}" destId="{300B28D7-2FDD-447A-8655-1C4703F07E1D}" srcOrd="1" destOrd="0" parTransId="{B4E31D86-E7E7-4DB8-B509-ABC412692A5B}" sibTransId="{E056649D-FFB4-45EF-845D-4988E55B5B53}"/>
    <dgm:cxn modelId="{2F4A38EE-B43C-4181-A31E-13C6B403FBA7}" type="presOf" srcId="{300B28D7-2FDD-447A-8655-1C4703F07E1D}" destId="{DD1A8C17-AB8B-4CDA-9C06-E3F6B80DFAB1}" srcOrd="0" destOrd="1" presId="urn:microsoft.com/office/officeart/2005/8/layout/hList1"/>
    <dgm:cxn modelId="{CE89C4F3-23B2-46F4-A4AF-ACF50B7D990F}" srcId="{617AE38B-731F-4729-B28F-C30C3037C6EF}" destId="{1EC6DEAD-6406-4DFB-8DEA-CD3C17DC614D}" srcOrd="0" destOrd="0" parTransId="{482F333A-D861-4AA0-A30F-1C931619106C}" sibTransId="{2B14CB4C-25BD-4D3A-91BC-2F5637AA90E5}"/>
    <dgm:cxn modelId="{6118EFF7-EEAD-40ED-B97B-84748C486EAE}" type="presParOf" srcId="{88C9F005-020B-4A65-B6DD-91E4B06170CA}" destId="{863441FC-3ED2-454D-AE08-A7529C4F64F0}" srcOrd="0" destOrd="0" presId="urn:microsoft.com/office/officeart/2005/8/layout/hList1"/>
    <dgm:cxn modelId="{D95FDE52-98A2-458D-BC1C-955FEB96B1A5}" type="presParOf" srcId="{863441FC-3ED2-454D-AE08-A7529C4F64F0}" destId="{6E98D618-F8FC-4C90-851C-0B5A61F1FAD0}" srcOrd="0" destOrd="0" presId="urn:microsoft.com/office/officeart/2005/8/layout/hList1"/>
    <dgm:cxn modelId="{69A22581-D42F-4CB0-B171-6EE513972459}" type="presParOf" srcId="{863441FC-3ED2-454D-AE08-A7529C4F64F0}" destId="{DD1A8C17-AB8B-4CDA-9C06-E3F6B80DFAB1}" srcOrd="1" destOrd="0" presId="urn:microsoft.com/office/officeart/2005/8/layout/hList1"/>
    <dgm:cxn modelId="{ABB0EA74-3195-468A-8BA4-648FCC04C7BE}" type="presParOf" srcId="{88C9F005-020B-4A65-B6DD-91E4B06170CA}" destId="{1CFA901E-33C6-4AF3-BBC3-CCEBB393DC10}" srcOrd="1" destOrd="0" presId="urn:microsoft.com/office/officeart/2005/8/layout/hList1"/>
    <dgm:cxn modelId="{DC61AFF4-5B03-4B31-8D99-44B25D25EB4A}" type="presParOf" srcId="{88C9F005-020B-4A65-B6DD-91E4B06170CA}" destId="{44F14B2E-25F7-449B-8033-A1851ADFCF28}" srcOrd="2" destOrd="0" presId="urn:microsoft.com/office/officeart/2005/8/layout/hList1"/>
    <dgm:cxn modelId="{2D765E7B-D12D-418C-A811-F9B7C45F7DC7}" type="presParOf" srcId="{44F14B2E-25F7-449B-8033-A1851ADFCF28}" destId="{95E674E6-30C0-4846-A33C-8435093FF952}" srcOrd="0" destOrd="0" presId="urn:microsoft.com/office/officeart/2005/8/layout/hList1"/>
    <dgm:cxn modelId="{7AAED85A-664E-4254-A3CD-08A73EA441D0}" type="presParOf" srcId="{44F14B2E-25F7-449B-8033-A1851ADFCF28}" destId="{D5B1C811-7FFB-4E90-B609-AF3320FECF06}"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35FF3CF-44DC-43E7-AC27-8E824204EC36}" type="doc">
      <dgm:prSet loTypeId="urn:microsoft.com/office/officeart/2008/layout/AlternatingHexagons" loCatId="list" qsTypeId="urn:microsoft.com/office/officeart/2005/8/quickstyle/simple1" qsCatId="simple" csTypeId="urn:microsoft.com/office/officeart/2005/8/colors/colorful1#6" csCatId="colorful" phldr="1"/>
      <dgm:spPr/>
      <dgm:t>
        <a:bodyPr/>
        <a:lstStyle/>
        <a:p>
          <a:endParaRPr lang="zh-CN" altLang="en-US"/>
        </a:p>
      </dgm:t>
    </dgm:pt>
    <dgm:pt modelId="{05D41365-1355-4DAD-B4F1-FB33A078461A}">
      <dgm:prSet phldrT="[文本]" custT="1"/>
      <dgm:spPr/>
      <dgm:t>
        <a:bodyPr/>
        <a:lstStyle/>
        <a:p>
          <a:r>
            <a:rPr lang="zh-CN" altLang="en-US" sz="1800" b="1" dirty="0">
              <a:solidFill>
                <a:schemeClr val="tx1"/>
              </a:solidFill>
              <a:latin typeface="微软雅黑" panose="020B0503020204020204" pitchFamily="34" charset="-122"/>
              <a:ea typeface="微软雅黑" panose="020B0503020204020204" pitchFamily="34" charset="-122"/>
            </a:rPr>
            <a:t>费用</a:t>
          </a:r>
        </a:p>
      </dgm:t>
    </dgm:pt>
    <dgm:pt modelId="{BED6549C-B35E-4354-84E8-A7AE58E7EC07}" type="parTrans" cxnId="{56CC0E7C-D98A-4C46-81A3-3B1F60601F3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C027A28-57B2-4775-8438-4AAECBE023C8}" type="sibTrans" cxnId="{56CC0E7C-D98A-4C46-81A3-3B1F60601F38}">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E173A921-6651-451D-81E9-F0ACC1536AAC}">
      <dgm:prSet phldrT="[文本]" custT="1"/>
      <dgm:spPr/>
      <dgm:t>
        <a:bodyPr/>
        <a:lstStyle/>
        <a:p>
          <a:r>
            <a:rPr lang="zh-CN" altLang="en-US" sz="1800" b="1" dirty="0">
              <a:latin typeface="微软雅黑" panose="020B0503020204020204" pitchFamily="34" charset="-122"/>
              <a:ea typeface="微软雅黑" panose="020B0503020204020204" pitchFamily="34" charset="-122"/>
            </a:rPr>
            <a:t>标准化</a:t>
          </a:r>
        </a:p>
      </dgm:t>
    </dgm:pt>
    <dgm:pt modelId="{DF4FD089-4E3D-4F03-9D3C-F28F49D8F119}" type="parTrans" cxnId="{FDAAE633-85C8-42F8-B4AA-4B51C3A57B3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39184D2-A650-4378-9B66-79745068F954}" type="sibTrans" cxnId="{FDAAE633-85C8-42F8-B4AA-4B51C3A57B3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199F25F-9525-43C5-955C-BB6FEFFBA60E}">
      <dgm:prSet phldrT="[文本]" custT="1"/>
      <dgm:spPr/>
      <dgm:t>
        <a:bodyPr/>
        <a:lstStyle/>
        <a:p>
          <a:r>
            <a:rPr lang="zh-CN" altLang="en-US" sz="1800" b="1" dirty="0">
              <a:solidFill>
                <a:schemeClr val="tx1"/>
              </a:solidFill>
              <a:latin typeface="微软雅黑" panose="020B0503020204020204" pitchFamily="34" charset="-122"/>
              <a:ea typeface="微软雅黑" panose="020B0503020204020204" pitchFamily="34" charset="-122"/>
            </a:rPr>
            <a:t>质量</a:t>
          </a:r>
        </a:p>
      </dgm:t>
    </dgm:pt>
    <dgm:pt modelId="{92F37460-E89E-4259-A2EF-B2A638C38A45}" type="parTrans" cxnId="{12D5EFDF-084C-4857-A4BE-12B60B2E2A9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E4C2D13-B647-4CF6-B1F7-03AB183A1123}" type="sibTrans" cxnId="{12D5EFDF-084C-4857-A4BE-12B60B2E2A98}">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3EC4611C-A3C3-451C-AE74-8846F1901302}">
      <dgm:prSet phldrT="[文本]" custT="1"/>
      <dgm:spPr/>
      <dgm:t>
        <a:bodyPr/>
        <a:lstStyle/>
        <a:p>
          <a:r>
            <a:rPr lang="zh-CN" altLang="en-US" sz="1800" b="1" dirty="0">
              <a:latin typeface="微软雅黑" panose="020B0503020204020204" pitchFamily="34" charset="-122"/>
              <a:ea typeface="微软雅黑" panose="020B0503020204020204" pitchFamily="34" charset="-122"/>
            </a:rPr>
            <a:t>可靠性</a:t>
          </a:r>
        </a:p>
      </dgm:t>
    </dgm:pt>
    <dgm:pt modelId="{68F328E8-C43C-478E-B670-0B24656D9E35}" type="parTrans" cxnId="{BF7B8AEA-CFF9-4BFA-A92B-C9AA4345FE4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E561528-8DA9-408B-83C6-171ECD06B86B}" type="sibTrans" cxnId="{BF7B8AEA-CFF9-4BFA-A92B-C9AA4345FE4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40893AA-1044-4C1A-AFE8-154BD0AD6229}">
      <dgm:prSet phldrT="[文本]" custT="1"/>
      <dgm:spPr/>
      <dgm:t>
        <a:bodyPr/>
        <a:lstStyle/>
        <a:p>
          <a:r>
            <a:rPr lang="zh-CN" altLang="en-US" sz="1500" b="1" dirty="0">
              <a:solidFill>
                <a:schemeClr val="tx1"/>
              </a:solidFill>
              <a:latin typeface="微软雅黑" panose="020B0503020204020204" pitchFamily="34" charset="-122"/>
              <a:ea typeface="微软雅黑" panose="020B0503020204020204" pitchFamily="34" charset="-122"/>
            </a:rPr>
            <a:t>管理和维护</a:t>
          </a:r>
        </a:p>
      </dgm:t>
    </dgm:pt>
    <dgm:pt modelId="{5D5965E2-EEFF-40D7-B453-CDF2231F9E32}" type="parTrans" cxnId="{5DC1683A-A3BA-477F-922D-A91C5AAC3E8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E1A90B-D747-4792-8CF8-D1D86F0C6D30}" type="sibTrans" cxnId="{5DC1683A-A3BA-477F-922D-A91C5AAC3E85}">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32415517-2817-485B-84FB-EEB772F05388}">
      <dgm:prSet phldrT="[文本]" custT="1"/>
      <dgm:spPr/>
      <dgm:t>
        <a:bodyPr/>
        <a:lstStyle/>
        <a:p>
          <a:r>
            <a:rPr lang="zh-CN" altLang="en-US" sz="1800" b="1" dirty="0">
              <a:latin typeface="微软雅黑" panose="020B0503020204020204" pitchFamily="34" charset="-122"/>
              <a:ea typeface="微软雅黑" panose="020B0503020204020204" pitchFamily="34" charset="-122"/>
            </a:rPr>
            <a:t>可扩展性和可升级性</a:t>
          </a:r>
        </a:p>
      </dgm:t>
    </dgm:pt>
    <dgm:pt modelId="{9389711E-63B1-48BC-8B0D-E77AD36B0F70}" type="parTrans" cxnId="{C8E4366A-7323-4BAE-BF0B-D491A4B1C63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057A99-57DA-4C5E-AFDE-4E731CDF706D}" type="sibTrans" cxnId="{C8E4366A-7323-4BAE-BF0B-D491A4B1C63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44216E9-137E-4B54-AB85-D985D58783B6}" type="pres">
      <dgm:prSet presAssocID="{135FF3CF-44DC-43E7-AC27-8E824204EC36}" presName="Name0" presStyleCnt="0">
        <dgm:presLayoutVars>
          <dgm:chMax/>
          <dgm:chPref/>
          <dgm:dir/>
          <dgm:animLvl val="lvl"/>
        </dgm:presLayoutVars>
      </dgm:prSet>
      <dgm:spPr/>
    </dgm:pt>
    <dgm:pt modelId="{6E6AB5B1-8C45-4545-BA69-7F63DEE5163B}" type="pres">
      <dgm:prSet presAssocID="{05D41365-1355-4DAD-B4F1-FB33A078461A}" presName="composite" presStyleCnt="0"/>
      <dgm:spPr/>
    </dgm:pt>
    <dgm:pt modelId="{737B4ED7-5247-4B99-B038-972624275F7F}" type="pres">
      <dgm:prSet presAssocID="{05D41365-1355-4DAD-B4F1-FB33A078461A}" presName="Parent1" presStyleLbl="node1" presStyleIdx="0" presStyleCnt="6" custLinFactNeighborY="0">
        <dgm:presLayoutVars>
          <dgm:chMax val="1"/>
          <dgm:chPref val="1"/>
          <dgm:bulletEnabled val="1"/>
        </dgm:presLayoutVars>
      </dgm:prSet>
      <dgm:spPr/>
    </dgm:pt>
    <dgm:pt modelId="{0EC6F23C-19FA-4BBB-96C2-30D954DFEC45}" type="pres">
      <dgm:prSet presAssocID="{05D41365-1355-4DAD-B4F1-FB33A078461A}" presName="Childtext1" presStyleLbl="revTx" presStyleIdx="0" presStyleCnt="3">
        <dgm:presLayoutVars>
          <dgm:chMax val="0"/>
          <dgm:chPref val="0"/>
          <dgm:bulletEnabled val="1"/>
        </dgm:presLayoutVars>
      </dgm:prSet>
      <dgm:spPr/>
    </dgm:pt>
    <dgm:pt modelId="{E72809E6-925A-4033-A3E6-30F40589AE8C}" type="pres">
      <dgm:prSet presAssocID="{05D41365-1355-4DAD-B4F1-FB33A078461A}" presName="BalanceSpacing" presStyleCnt="0"/>
      <dgm:spPr/>
    </dgm:pt>
    <dgm:pt modelId="{8A426D04-7387-4BF5-B7A9-CE9CF71A10A4}" type="pres">
      <dgm:prSet presAssocID="{05D41365-1355-4DAD-B4F1-FB33A078461A}" presName="BalanceSpacing1" presStyleCnt="0"/>
      <dgm:spPr/>
    </dgm:pt>
    <dgm:pt modelId="{538930E3-AFBB-40A2-9199-81FC54A0A713}" type="pres">
      <dgm:prSet presAssocID="{5C027A28-57B2-4775-8438-4AAECBE023C8}" presName="Accent1Text" presStyleLbl="node1" presStyleIdx="1" presStyleCnt="6"/>
      <dgm:spPr/>
    </dgm:pt>
    <dgm:pt modelId="{770EB172-9189-4CB8-B1B4-B4830FDDB2B7}" type="pres">
      <dgm:prSet presAssocID="{5C027A28-57B2-4775-8438-4AAECBE023C8}" presName="spaceBetweenRectangles" presStyleCnt="0"/>
      <dgm:spPr/>
    </dgm:pt>
    <dgm:pt modelId="{B8000619-585E-43B1-97D0-9E973B5CFF02}" type="pres">
      <dgm:prSet presAssocID="{D199F25F-9525-43C5-955C-BB6FEFFBA60E}" presName="composite" presStyleCnt="0"/>
      <dgm:spPr/>
    </dgm:pt>
    <dgm:pt modelId="{189B3354-A08F-46B4-AA51-80167B86E07E}" type="pres">
      <dgm:prSet presAssocID="{D199F25F-9525-43C5-955C-BB6FEFFBA60E}" presName="Parent1" presStyleLbl="node1" presStyleIdx="2" presStyleCnt="6">
        <dgm:presLayoutVars>
          <dgm:chMax val="1"/>
          <dgm:chPref val="1"/>
          <dgm:bulletEnabled val="1"/>
        </dgm:presLayoutVars>
      </dgm:prSet>
      <dgm:spPr/>
    </dgm:pt>
    <dgm:pt modelId="{30C810D8-43FD-41C8-A342-08B348498E1F}" type="pres">
      <dgm:prSet presAssocID="{D199F25F-9525-43C5-955C-BB6FEFFBA60E}" presName="Childtext1" presStyleLbl="revTx" presStyleIdx="1" presStyleCnt="3">
        <dgm:presLayoutVars>
          <dgm:chMax val="0"/>
          <dgm:chPref val="0"/>
          <dgm:bulletEnabled val="1"/>
        </dgm:presLayoutVars>
      </dgm:prSet>
      <dgm:spPr/>
    </dgm:pt>
    <dgm:pt modelId="{DDAB6A08-FDE4-4250-B857-22C6F4C875CD}" type="pres">
      <dgm:prSet presAssocID="{D199F25F-9525-43C5-955C-BB6FEFFBA60E}" presName="BalanceSpacing" presStyleCnt="0"/>
      <dgm:spPr/>
    </dgm:pt>
    <dgm:pt modelId="{456BFF4D-8D17-4008-8FD8-97C1E973905D}" type="pres">
      <dgm:prSet presAssocID="{D199F25F-9525-43C5-955C-BB6FEFFBA60E}" presName="BalanceSpacing1" presStyleCnt="0"/>
      <dgm:spPr/>
    </dgm:pt>
    <dgm:pt modelId="{2E871E28-410D-4C73-B809-46EEEE1B5408}" type="pres">
      <dgm:prSet presAssocID="{2E4C2D13-B647-4CF6-B1F7-03AB183A1123}" presName="Accent1Text" presStyleLbl="node1" presStyleIdx="3" presStyleCnt="6"/>
      <dgm:spPr/>
    </dgm:pt>
    <dgm:pt modelId="{32342D5D-D85B-4C93-8081-CE9B08BF8EF3}" type="pres">
      <dgm:prSet presAssocID="{2E4C2D13-B647-4CF6-B1F7-03AB183A1123}" presName="spaceBetweenRectangles" presStyleCnt="0"/>
      <dgm:spPr/>
    </dgm:pt>
    <dgm:pt modelId="{0250A542-5660-4811-BA9A-A026384EC288}" type="pres">
      <dgm:prSet presAssocID="{C40893AA-1044-4C1A-AFE8-154BD0AD6229}" presName="composite" presStyleCnt="0"/>
      <dgm:spPr/>
    </dgm:pt>
    <dgm:pt modelId="{6CCD66D6-E3E3-4758-A25B-E5A97FDFEEA0}" type="pres">
      <dgm:prSet presAssocID="{C40893AA-1044-4C1A-AFE8-154BD0AD6229}" presName="Parent1" presStyleLbl="node1" presStyleIdx="4" presStyleCnt="6">
        <dgm:presLayoutVars>
          <dgm:chMax val="1"/>
          <dgm:chPref val="1"/>
          <dgm:bulletEnabled val="1"/>
        </dgm:presLayoutVars>
      </dgm:prSet>
      <dgm:spPr/>
    </dgm:pt>
    <dgm:pt modelId="{95ED7348-6155-4B72-B2AA-9F71065BC8B5}" type="pres">
      <dgm:prSet presAssocID="{C40893AA-1044-4C1A-AFE8-154BD0AD6229}" presName="Childtext1" presStyleLbl="revTx" presStyleIdx="2" presStyleCnt="3">
        <dgm:presLayoutVars>
          <dgm:chMax val="0"/>
          <dgm:chPref val="0"/>
          <dgm:bulletEnabled val="1"/>
        </dgm:presLayoutVars>
      </dgm:prSet>
      <dgm:spPr/>
    </dgm:pt>
    <dgm:pt modelId="{5C3E9DE1-CF2D-48B8-B1BE-CF5807B39F22}" type="pres">
      <dgm:prSet presAssocID="{C40893AA-1044-4C1A-AFE8-154BD0AD6229}" presName="BalanceSpacing" presStyleCnt="0"/>
      <dgm:spPr/>
    </dgm:pt>
    <dgm:pt modelId="{248FEED7-91A8-4070-8E60-258F9D3AF8A1}" type="pres">
      <dgm:prSet presAssocID="{C40893AA-1044-4C1A-AFE8-154BD0AD6229}" presName="BalanceSpacing1" presStyleCnt="0"/>
      <dgm:spPr/>
    </dgm:pt>
    <dgm:pt modelId="{F96182DC-DEA1-4092-96CB-670F76C0F2C9}" type="pres">
      <dgm:prSet presAssocID="{0EE1A90B-D747-4792-8CF8-D1D86F0C6D30}" presName="Accent1Text" presStyleLbl="node1" presStyleIdx="5" presStyleCnt="6"/>
      <dgm:spPr/>
    </dgm:pt>
  </dgm:ptLst>
  <dgm:cxnLst>
    <dgm:cxn modelId="{BA2E6409-3E4A-424E-BB60-F086F21B6F67}" type="presOf" srcId="{3EC4611C-A3C3-451C-AE74-8846F1901302}" destId="{30C810D8-43FD-41C8-A342-08B348498E1F}" srcOrd="0" destOrd="0" presId="urn:microsoft.com/office/officeart/2008/layout/AlternatingHexagons"/>
    <dgm:cxn modelId="{7BC92210-9AB6-43C0-90C4-DF11243359CB}" type="presOf" srcId="{135FF3CF-44DC-43E7-AC27-8E824204EC36}" destId="{044216E9-137E-4B54-AB85-D985D58783B6}" srcOrd="0" destOrd="0" presId="urn:microsoft.com/office/officeart/2008/layout/AlternatingHexagons"/>
    <dgm:cxn modelId="{830EAB10-70C3-4576-ACC1-3D0E7A058F4E}" type="presOf" srcId="{5C027A28-57B2-4775-8438-4AAECBE023C8}" destId="{538930E3-AFBB-40A2-9199-81FC54A0A713}" srcOrd="0" destOrd="0" presId="urn:microsoft.com/office/officeart/2008/layout/AlternatingHexagons"/>
    <dgm:cxn modelId="{FDAAE633-85C8-42F8-B4AA-4B51C3A57B39}" srcId="{05D41365-1355-4DAD-B4F1-FB33A078461A}" destId="{E173A921-6651-451D-81E9-F0ACC1536AAC}" srcOrd="0" destOrd="0" parTransId="{DF4FD089-4E3D-4F03-9D3C-F28F49D8F119}" sibTransId="{739184D2-A650-4378-9B66-79745068F954}"/>
    <dgm:cxn modelId="{5DC1683A-A3BA-477F-922D-A91C5AAC3E85}" srcId="{135FF3CF-44DC-43E7-AC27-8E824204EC36}" destId="{C40893AA-1044-4C1A-AFE8-154BD0AD6229}" srcOrd="2" destOrd="0" parTransId="{5D5965E2-EEFF-40D7-B453-CDF2231F9E32}" sibTransId="{0EE1A90B-D747-4792-8CF8-D1D86F0C6D30}"/>
    <dgm:cxn modelId="{C8E4366A-7323-4BAE-BF0B-D491A4B1C631}" srcId="{C40893AA-1044-4C1A-AFE8-154BD0AD6229}" destId="{32415517-2817-485B-84FB-EEB772F05388}" srcOrd="0" destOrd="0" parTransId="{9389711E-63B1-48BC-8B0D-E77AD36B0F70}" sibTransId="{8B057A99-57DA-4C5E-AFDE-4E731CDF706D}"/>
    <dgm:cxn modelId="{5857F84F-9800-49D5-B361-DA81A0D7F1EB}" type="presOf" srcId="{2E4C2D13-B647-4CF6-B1F7-03AB183A1123}" destId="{2E871E28-410D-4C73-B809-46EEEE1B5408}" srcOrd="0" destOrd="0" presId="urn:microsoft.com/office/officeart/2008/layout/AlternatingHexagons"/>
    <dgm:cxn modelId="{AA881378-41E8-4992-84F9-8EF56DC92BDF}" type="presOf" srcId="{0EE1A90B-D747-4792-8CF8-D1D86F0C6D30}" destId="{F96182DC-DEA1-4092-96CB-670F76C0F2C9}" srcOrd="0" destOrd="0" presId="urn:microsoft.com/office/officeart/2008/layout/AlternatingHexagons"/>
    <dgm:cxn modelId="{56CC0E7C-D98A-4C46-81A3-3B1F60601F38}" srcId="{135FF3CF-44DC-43E7-AC27-8E824204EC36}" destId="{05D41365-1355-4DAD-B4F1-FB33A078461A}" srcOrd="0" destOrd="0" parTransId="{BED6549C-B35E-4354-84E8-A7AE58E7EC07}" sibTransId="{5C027A28-57B2-4775-8438-4AAECBE023C8}"/>
    <dgm:cxn modelId="{7B427E83-BD3E-48A8-951F-C804AF59934D}" type="presOf" srcId="{32415517-2817-485B-84FB-EEB772F05388}" destId="{95ED7348-6155-4B72-B2AA-9F71065BC8B5}" srcOrd="0" destOrd="0" presId="urn:microsoft.com/office/officeart/2008/layout/AlternatingHexagons"/>
    <dgm:cxn modelId="{0A1EC099-5441-4FCA-9F43-CE9422B12AA5}" type="presOf" srcId="{C40893AA-1044-4C1A-AFE8-154BD0AD6229}" destId="{6CCD66D6-E3E3-4758-A25B-E5A97FDFEEA0}" srcOrd="0" destOrd="0" presId="urn:microsoft.com/office/officeart/2008/layout/AlternatingHexagons"/>
    <dgm:cxn modelId="{52D28FAE-D183-4D72-9F19-1814CFCBB661}" type="presOf" srcId="{05D41365-1355-4DAD-B4F1-FB33A078461A}" destId="{737B4ED7-5247-4B99-B038-972624275F7F}" srcOrd="0" destOrd="0" presId="urn:microsoft.com/office/officeart/2008/layout/AlternatingHexagons"/>
    <dgm:cxn modelId="{245089B8-B9F0-4AC2-A60C-31B22EF355B6}" type="presOf" srcId="{D199F25F-9525-43C5-955C-BB6FEFFBA60E}" destId="{189B3354-A08F-46B4-AA51-80167B86E07E}" srcOrd="0" destOrd="0" presId="urn:microsoft.com/office/officeart/2008/layout/AlternatingHexagons"/>
    <dgm:cxn modelId="{12D5EFDF-084C-4857-A4BE-12B60B2E2A98}" srcId="{135FF3CF-44DC-43E7-AC27-8E824204EC36}" destId="{D199F25F-9525-43C5-955C-BB6FEFFBA60E}" srcOrd="1" destOrd="0" parTransId="{92F37460-E89E-4259-A2EF-B2A638C38A45}" sibTransId="{2E4C2D13-B647-4CF6-B1F7-03AB183A1123}"/>
    <dgm:cxn modelId="{BF7B8AEA-CFF9-4BFA-A92B-C9AA4345FE48}" srcId="{D199F25F-9525-43C5-955C-BB6FEFFBA60E}" destId="{3EC4611C-A3C3-451C-AE74-8846F1901302}" srcOrd="0" destOrd="0" parTransId="{68F328E8-C43C-478E-B670-0B24656D9E35}" sibTransId="{2E561528-8DA9-408B-83C6-171ECD06B86B}"/>
    <dgm:cxn modelId="{9CC835F5-C067-446B-80F3-D2FFA3E86768}" type="presOf" srcId="{E173A921-6651-451D-81E9-F0ACC1536AAC}" destId="{0EC6F23C-19FA-4BBB-96C2-30D954DFEC45}" srcOrd="0" destOrd="0" presId="urn:microsoft.com/office/officeart/2008/layout/AlternatingHexagons"/>
    <dgm:cxn modelId="{405F724F-32CA-4298-9526-DD1D7E219A96}" type="presParOf" srcId="{044216E9-137E-4B54-AB85-D985D58783B6}" destId="{6E6AB5B1-8C45-4545-BA69-7F63DEE5163B}" srcOrd="0" destOrd="0" presId="urn:microsoft.com/office/officeart/2008/layout/AlternatingHexagons"/>
    <dgm:cxn modelId="{213C1377-06D4-43BD-BF89-8F1DF1831F51}" type="presParOf" srcId="{6E6AB5B1-8C45-4545-BA69-7F63DEE5163B}" destId="{737B4ED7-5247-4B99-B038-972624275F7F}" srcOrd="0" destOrd="0" presId="urn:microsoft.com/office/officeart/2008/layout/AlternatingHexagons"/>
    <dgm:cxn modelId="{15885657-0B50-4B83-B32C-792A662D4265}" type="presParOf" srcId="{6E6AB5B1-8C45-4545-BA69-7F63DEE5163B}" destId="{0EC6F23C-19FA-4BBB-96C2-30D954DFEC45}" srcOrd="1" destOrd="0" presId="urn:microsoft.com/office/officeart/2008/layout/AlternatingHexagons"/>
    <dgm:cxn modelId="{C4E93D95-384E-4FCB-ADE1-AA29CB88139A}" type="presParOf" srcId="{6E6AB5B1-8C45-4545-BA69-7F63DEE5163B}" destId="{E72809E6-925A-4033-A3E6-30F40589AE8C}" srcOrd="2" destOrd="0" presId="urn:microsoft.com/office/officeart/2008/layout/AlternatingHexagons"/>
    <dgm:cxn modelId="{5C06105E-7261-4842-B8C3-5736A79AE428}" type="presParOf" srcId="{6E6AB5B1-8C45-4545-BA69-7F63DEE5163B}" destId="{8A426D04-7387-4BF5-B7A9-CE9CF71A10A4}" srcOrd="3" destOrd="0" presId="urn:microsoft.com/office/officeart/2008/layout/AlternatingHexagons"/>
    <dgm:cxn modelId="{C163A788-818C-460E-AE0E-C5DDA82442B5}" type="presParOf" srcId="{6E6AB5B1-8C45-4545-BA69-7F63DEE5163B}" destId="{538930E3-AFBB-40A2-9199-81FC54A0A713}" srcOrd="4" destOrd="0" presId="urn:microsoft.com/office/officeart/2008/layout/AlternatingHexagons"/>
    <dgm:cxn modelId="{FF4F9A51-FEE2-4642-BED2-DFAB7C4B4B30}" type="presParOf" srcId="{044216E9-137E-4B54-AB85-D985D58783B6}" destId="{770EB172-9189-4CB8-B1B4-B4830FDDB2B7}" srcOrd="1" destOrd="0" presId="urn:microsoft.com/office/officeart/2008/layout/AlternatingHexagons"/>
    <dgm:cxn modelId="{FD37A0EE-184F-4AA5-BE31-360AA961BD44}" type="presParOf" srcId="{044216E9-137E-4B54-AB85-D985D58783B6}" destId="{B8000619-585E-43B1-97D0-9E973B5CFF02}" srcOrd="2" destOrd="0" presId="urn:microsoft.com/office/officeart/2008/layout/AlternatingHexagons"/>
    <dgm:cxn modelId="{8FB49210-30B0-44F7-8E62-18871ADA0358}" type="presParOf" srcId="{B8000619-585E-43B1-97D0-9E973B5CFF02}" destId="{189B3354-A08F-46B4-AA51-80167B86E07E}" srcOrd="0" destOrd="0" presId="urn:microsoft.com/office/officeart/2008/layout/AlternatingHexagons"/>
    <dgm:cxn modelId="{F06CFED1-BDEE-4FE7-9629-E768AD01C060}" type="presParOf" srcId="{B8000619-585E-43B1-97D0-9E973B5CFF02}" destId="{30C810D8-43FD-41C8-A342-08B348498E1F}" srcOrd="1" destOrd="0" presId="urn:microsoft.com/office/officeart/2008/layout/AlternatingHexagons"/>
    <dgm:cxn modelId="{9D25BD80-F455-41AA-B3D4-16AE6FDD1ABC}" type="presParOf" srcId="{B8000619-585E-43B1-97D0-9E973B5CFF02}" destId="{DDAB6A08-FDE4-4250-B857-22C6F4C875CD}" srcOrd="2" destOrd="0" presId="urn:microsoft.com/office/officeart/2008/layout/AlternatingHexagons"/>
    <dgm:cxn modelId="{179D948A-D2D9-401B-AADD-A5422238354E}" type="presParOf" srcId="{B8000619-585E-43B1-97D0-9E973B5CFF02}" destId="{456BFF4D-8D17-4008-8FD8-97C1E973905D}" srcOrd="3" destOrd="0" presId="urn:microsoft.com/office/officeart/2008/layout/AlternatingHexagons"/>
    <dgm:cxn modelId="{24084E30-3C73-493C-81DF-EE623005A631}" type="presParOf" srcId="{B8000619-585E-43B1-97D0-9E973B5CFF02}" destId="{2E871E28-410D-4C73-B809-46EEEE1B5408}" srcOrd="4" destOrd="0" presId="urn:microsoft.com/office/officeart/2008/layout/AlternatingHexagons"/>
    <dgm:cxn modelId="{CD055EE5-C6AF-4919-997E-491C8B4B095B}" type="presParOf" srcId="{044216E9-137E-4B54-AB85-D985D58783B6}" destId="{32342D5D-D85B-4C93-8081-CE9B08BF8EF3}" srcOrd="3" destOrd="0" presId="urn:microsoft.com/office/officeart/2008/layout/AlternatingHexagons"/>
    <dgm:cxn modelId="{AB40E92D-2651-45AD-B522-301008D5FF55}" type="presParOf" srcId="{044216E9-137E-4B54-AB85-D985D58783B6}" destId="{0250A542-5660-4811-BA9A-A026384EC288}" srcOrd="4" destOrd="0" presId="urn:microsoft.com/office/officeart/2008/layout/AlternatingHexagons"/>
    <dgm:cxn modelId="{90B33D6A-B174-4FFF-ADD4-E32E6A41D685}" type="presParOf" srcId="{0250A542-5660-4811-BA9A-A026384EC288}" destId="{6CCD66D6-E3E3-4758-A25B-E5A97FDFEEA0}" srcOrd="0" destOrd="0" presId="urn:microsoft.com/office/officeart/2008/layout/AlternatingHexagons"/>
    <dgm:cxn modelId="{2DA2593B-F079-4D80-8521-40BDF08CF9D4}" type="presParOf" srcId="{0250A542-5660-4811-BA9A-A026384EC288}" destId="{95ED7348-6155-4B72-B2AA-9F71065BC8B5}" srcOrd="1" destOrd="0" presId="urn:microsoft.com/office/officeart/2008/layout/AlternatingHexagons"/>
    <dgm:cxn modelId="{2FDB2E88-C2EE-4B59-AE9B-8DFF0BDBF607}" type="presParOf" srcId="{0250A542-5660-4811-BA9A-A026384EC288}" destId="{5C3E9DE1-CF2D-48B8-B1BE-CF5807B39F22}" srcOrd="2" destOrd="0" presId="urn:microsoft.com/office/officeart/2008/layout/AlternatingHexagons"/>
    <dgm:cxn modelId="{90BA8F63-9159-4A17-8FD9-840351D6AB4C}" type="presParOf" srcId="{0250A542-5660-4811-BA9A-A026384EC288}" destId="{248FEED7-91A8-4070-8E60-258F9D3AF8A1}" srcOrd="3" destOrd="0" presId="urn:microsoft.com/office/officeart/2008/layout/AlternatingHexagons"/>
    <dgm:cxn modelId="{9B33B9C9-B3D3-4C87-BFAB-1BDB62C83F0F}" type="presParOf" srcId="{0250A542-5660-4811-BA9A-A026384EC288}" destId="{F96182DC-DEA1-4092-96CB-670F76C0F2C9}"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1D71CD6F-E65B-4CC0-8EAA-DB821D24E722}" type="doc">
      <dgm:prSet loTypeId="urn:microsoft.com/office/officeart/2005/8/layout/vList2" loCatId="list" qsTypeId="urn:microsoft.com/office/officeart/2005/8/quickstyle/simple3" qsCatId="simple" csTypeId="urn:microsoft.com/office/officeart/2005/8/colors/colorful4" csCatId="colorful" phldr="1"/>
      <dgm:spPr/>
      <dgm:t>
        <a:bodyPr/>
        <a:lstStyle/>
        <a:p>
          <a:endParaRPr lang="zh-CN" altLang="en-US"/>
        </a:p>
      </dgm:t>
    </dgm:pt>
    <dgm:pt modelId="{EFCA2B14-9468-4F2F-84A6-5C119482CD49}">
      <dgm:prSet phldrT="[文本]" custT="1"/>
      <dgm:spPr/>
      <dgm:t>
        <a:bodyPr/>
        <a:lstStyle/>
        <a:p>
          <a:r>
            <a:rPr lang="zh-CN" altLang="en-US" sz="2000" b="1" dirty="0">
              <a:latin typeface="微软雅黑" panose="020B0503020204020204" pitchFamily="34" charset="-122"/>
              <a:ea typeface="微软雅黑" panose="020B0503020204020204" pitchFamily="34" charset="-122"/>
            </a:rPr>
            <a:t>法律上的 </a:t>
          </a:r>
          <a:r>
            <a:rPr lang="en-US" altLang="en-US" sz="2000" b="1" dirty="0">
              <a:latin typeface="微软雅黑" panose="020B0503020204020204" pitchFamily="34" charset="-122"/>
              <a:ea typeface="微软雅黑" panose="020B0503020204020204" pitchFamily="34" charset="-122"/>
            </a:rPr>
            <a:t>(de jure) </a:t>
          </a:r>
          <a:r>
            <a:rPr lang="zh-CN" altLang="en-US" sz="2000" b="1" dirty="0">
              <a:latin typeface="微软雅黑" panose="020B0503020204020204" pitchFamily="34" charset="-122"/>
              <a:ea typeface="微软雅黑" panose="020B0503020204020204" pitchFamily="34" charset="-122"/>
            </a:rPr>
            <a:t>国际标准 </a:t>
          </a:r>
          <a:r>
            <a:rPr lang="en-US" altLang="en-US" sz="2000" b="1" dirty="0">
              <a:latin typeface="微软雅黑" panose="020B0503020204020204" pitchFamily="34" charset="-122"/>
              <a:ea typeface="微软雅黑" panose="020B0503020204020204" pitchFamily="34" charset="-122"/>
            </a:rPr>
            <a:t>OSI</a:t>
          </a:r>
          <a:endParaRPr lang="zh-CN" altLang="en-US" sz="2000" b="1" dirty="0">
            <a:latin typeface="微软雅黑" panose="020B0503020204020204" pitchFamily="34" charset="-122"/>
            <a:ea typeface="微软雅黑" panose="020B0503020204020204" pitchFamily="34" charset="-122"/>
          </a:endParaRPr>
        </a:p>
      </dgm:t>
    </dgm:pt>
    <dgm:pt modelId="{E38B7B80-E684-4487-8667-BCC0A5171417}" type="parTrans" cxnId="{9E21BC85-7589-4E30-94BE-94BFF4B03EB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756D47E-79F4-44F1-9DC8-F8FF9A3DB365}" type="sibTrans" cxnId="{9E21BC85-7589-4E30-94BE-94BFF4B03EB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226438D5-AF60-4FC2-B7B1-1FAFE6F029F4}">
      <dgm:prSet phldrT="[文本]" custT="1"/>
      <dgm:spPr/>
      <dgm:t>
        <a:bodyPr/>
        <a:lstStyle/>
        <a:p>
          <a:r>
            <a:rPr lang="zh-CN" altLang="en-US" sz="2000" b="1" dirty="0">
              <a:latin typeface="微软雅黑" panose="020B0503020204020204" pitchFamily="34" charset="-122"/>
              <a:ea typeface="微软雅黑" panose="020B0503020204020204" pitchFamily="34" charset="-122"/>
            </a:rPr>
            <a:t>但并没有得到市场的认可。</a:t>
          </a:r>
        </a:p>
      </dgm:t>
    </dgm:pt>
    <dgm:pt modelId="{E2043F32-4A49-416A-8197-C2B2393B2255}" type="parTrans" cxnId="{23AA8198-F998-4AB6-A021-FDD348C0717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4028441-B185-4303-8082-46E98E8EBA28}" type="sibTrans" cxnId="{23AA8198-F998-4AB6-A021-FDD348C0717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986DFCC-564B-42E1-8E43-BFE75079EEDF}">
      <dgm:prSet phldrT="[文本]" custT="1"/>
      <dgm:spPr/>
      <dgm:t>
        <a:bodyPr/>
        <a:lstStyle/>
        <a:p>
          <a:r>
            <a:rPr lang="zh-CN" altLang="en-US" sz="2000" b="1" dirty="0">
              <a:latin typeface="微软雅黑" panose="020B0503020204020204" pitchFamily="34" charset="-122"/>
              <a:ea typeface="微软雅黑" panose="020B0503020204020204" pitchFamily="34" charset="-122"/>
            </a:rPr>
            <a:t>事实上的 </a:t>
          </a:r>
          <a:r>
            <a:rPr lang="en-US" altLang="en-US" sz="2000" b="1" dirty="0">
              <a:latin typeface="微软雅黑" panose="020B0503020204020204" pitchFamily="34" charset="-122"/>
              <a:ea typeface="微软雅黑" panose="020B0503020204020204" pitchFamily="34" charset="-122"/>
            </a:rPr>
            <a:t>(de facto) </a:t>
          </a:r>
          <a:r>
            <a:rPr lang="zh-CN" altLang="en-US" sz="2000" b="1" dirty="0">
              <a:latin typeface="微软雅黑" panose="020B0503020204020204" pitchFamily="34" charset="-122"/>
              <a:ea typeface="微软雅黑" panose="020B0503020204020204" pitchFamily="34" charset="-122"/>
            </a:rPr>
            <a:t>国际标准 </a:t>
          </a:r>
          <a:r>
            <a:rPr lang="en-US" altLang="en-US" sz="2000" b="1" dirty="0">
              <a:latin typeface="微软雅黑" panose="020B0503020204020204" pitchFamily="34" charset="-122"/>
              <a:ea typeface="微软雅黑" panose="020B0503020204020204" pitchFamily="34" charset="-122"/>
            </a:rPr>
            <a:t>TCP/IP</a:t>
          </a:r>
          <a:endParaRPr lang="zh-CN" altLang="en-US" sz="2000" b="1" dirty="0">
            <a:latin typeface="微软雅黑" panose="020B0503020204020204" pitchFamily="34" charset="-122"/>
            <a:ea typeface="微软雅黑" panose="020B0503020204020204" pitchFamily="34" charset="-122"/>
          </a:endParaRPr>
        </a:p>
      </dgm:t>
    </dgm:pt>
    <dgm:pt modelId="{BB601F7A-8E86-4A9E-9EF8-CC003C5EF85D}" type="parTrans" cxnId="{49E9C9C9-3C6E-4805-BAA2-32EF310CFED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D297112-55F6-448E-AECB-EFD048EDDB28}" type="sibTrans" cxnId="{49E9C9C9-3C6E-4805-BAA2-32EF310CFED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2CC66CB7-D7AD-41A6-98DD-74D4F514E2BD}">
      <dgm:prSet phldrT="[文本]" custT="1"/>
      <dgm:spPr/>
      <dgm:t>
        <a:bodyPr/>
        <a:lstStyle/>
        <a:p>
          <a:r>
            <a:rPr lang="zh-CN" altLang="en-US" sz="2000" b="1" dirty="0">
              <a:latin typeface="微软雅黑" panose="020B0503020204020204" pitchFamily="34" charset="-122"/>
              <a:ea typeface="微软雅黑" panose="020B0503020204020204" pitchFamily="34" charset="-122"/>
            </a:rPr>
            <a:t>获得了最广泛的应用。</a:t>
          </a:r>
        </a:p>
      </dgm:t>
    </dgm:pt>
    <dgm:pt modelId="{85BE533B-2396-46D9-AFFB-686B13690F8B}" type="parTrans" cxnId="{831BB112-8E09-4BF6-9DC2-BFF8996C5A4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28DE6DB6-6A4C-41DA-8F55-0D1076B0DD18}" type="sibTrans" cxnId="{831BB112-8E09-4BF6-9DC2-BFF8996C5A4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98B905C2-E6DF-4B75-9416-AF7446358B35}" type="pres">
      <dgm:prSet presAssocID="{1D71CD6F-E65B-4CC0-8EAA-DB821D24E722}" presName="linear" presStyleCnt="0">
        <dgm:presLayoutVars>
          <dgm:animLvl val="lvl"/>
          <dgm:resizeHandles val="exact"/>
        </dgm:presLayoutVars>
      </dgm:prSet>
      <dgm:spPr/>
    </dgm:pt>
    <dgm:pt modelId="{41591867-A15A-4C01-989E-2D8E71AD280E}" type="pres">
      <dgm:prSet presAssocID="{EFCA2B14-9468-4F2F-84A6-5C119482CD49}" presName="parentText" presStyleLbl="node1" presStyleIdx="0" presStyleCnt="2">
        <dgm:presLayoutVars>
          <dgm:chMax val="0"/>
          <dgm:bulletEnabled val="1"/>
        </dgm:presLayoutVars>
      </dgm:prSet>
      <dgm:spPr/>
    </dgm:pt>
    <dgm:pt modelId="{0CB64F91-1AC8-4F08-AB65-6A4FEE705282}" type="pres">
      <dgm:prSet presAssocID="{EFCA2B14-9468-4F2F-84A6-5C119482CD49}" presName="childText" presStyleLbl="revTx" presStyleIdx="0" presStyleCnt="2">
        <dgm:presLayoutVars>
          <dgm:bulletEnabled val="1"/>
        </dgm:presLayoutVars>
      </dgm:prSet>
      <dgm:spPr/>
    </dgm:pt>
    <dgm:pt modelId="{533E5313-0390-4A3E-9304-2F63C7C13FAF}" type="pres">
      <dgm:prSet presAssocID="{0986DFCC-564B-42E1-8E43-BFE75079EEDF}" presName="parentText" presStyleLbl="node1" presStyleIdx="1" presStyleCnt="2">
        <dgm:presLayoutVars>
          <dgm:chMax val="0"/>
          <dgm:bulletEnabled val="1"/>
        </dgm:presLayoutVars>
      </dgm:prSet>
      <dgm:spPr/>
    </dgm:pt>
    <dgm:pt modelId="{D4FB4936-BF1D-4807-8D25-E8B1D64E8CFA}" type="pres">
      <dgm:prSet presAssocID="{0986DFCC-564B-42E1-8E43-BFE75079EEDF}" presName="childText" presStyleLbl="revTx" presStyleIdx="1" presStyleCnt="2">
        <dgm:presLayoutVars>
          <dgm:bulletEnabled val="1"/>
        </dgm:presLayoutVars>
      </dgm:prSet>
      <dgm:spPr/>
    </dgm:pt>
  </dgm:ptLst>
  <dgm:cxnLst>
    <dgm:cxn modelId="{831BB112-8E09-4BF6-9DC2-BFF8996C5A45}" srcId="{0986DFCC-564B-42E1-8E43-BFE75079EEDF}" destId="{2CC66CB7-D7AD-41A6-98DD-74D4F514E2BD}" srcOrd="0" destOrd="0" parTransId="{85BE533B-2396-46D9-AFFB-686B13690F8B}" sibTransId="{28DE6DB6-6A4C-41DA-8F55-0D1076B0DD18}"/>
    <dgm:cxn modelId="{BB84275B-8B79-4927-AEBD-CCB80DFC9B4C}" type="presOf" srcId="{1D71CD6F-E65B-4CC0-8EAA-DB821D24E722}" destId="{98B905C2-E6DF-4B75-9416-AF7446358B35}" srcOrd="0" destOrd="0" presId="urn:microsoft.com/office/officeart/2005/8/layout/vList2"/>
    <dgm:cxn modelId="{87C4B245-7D03-47D6-A58A-FE65D816A8BA}" type="presOf" srcId="{0986DFCC-564B-42E1-8E43-BFE75079EEDF}" destId="{533E5313-0390-4A3E-9304-2F63C7C13FAF}" srcOrd="0" destOrd="0" presId="urn:microsoft.com/office/officeart/2005/8/layout/vList2"/>
    <dgm:cxn modelId="{DC3E0283-EE3A-4847-AC4B-B24480331CA1}" type="presOf" srcId="{2CC66CB7-D7AD-41A6-98DD-74D4F514E2BD}" destId="{D4FB4936-BF1D-4807-8D25-E8B1D64E8CFA}" srcOrd="0" destOrd="0" presId="urn:microsoft.com/office/officeart/2005/8/layout/vList2"/>
    <dgm:cxn modelId="{9E21BC85-7589-4E30-94BE-94BFF4B03EBC}" srcId="{1D71CD6F-E65B-4CC0-8EAA-DB821D24E722}" destId="{EFCA2B14-9468-4F2F-84A6-5C119482CD49}" srcOrd="0" destOrd="0" parTransId="{E38B7B80-E684-4487-8667-BCC0A5171417}" sibTransId="{6756D47E-79F4-44F1-9DC8-F8FF9A3DB365}"/>
    <dgm:cxn modelId="{23AA8198-F998-4AB6-A021-FDD348C07171}" srcId="{EFCA2B14-9468-4F2F-84A6-5C119482CD49}" destId="{226438D5-AF60-4FC2-B7B1-1FAFE6F029F4}" srcOrd="0" destOrd="0" parTransId="{E2043F32-4A49-416A-8197-C2B2393B2255}" sibTransId="{F4028441-B185-4303-8082-46E98E8EBA28}"/>
    <dgm:cxn modelId="{49E9C9C9-3C6E-4805-BAA2-32EF310CFED5}" srcId="{1D71CD6F-E65B-4CC0-8EAA-DB821D24E722}" destId="{0986DFCC-564B-42E1-8E43-BFE75079EEDF}" srcOrd="1" destOrd="0" parTransId="{BB601F7A-8E86-4A9E-9EF8-CC003C5EF85D}" sibTransId="{FD297112-55F6-448E-AECB-EFD048EDDB28}"/>
    <dgm:cxn modelId="{75CADFD2-DA7B-46F7-89E8-DC800A77BE41}" type="presOf" srcId="{EFCA2B14-9468-4F2F-84A6-5C119482CD49}" destId="{41591867-A15A-4C01-989E-2D8E71AD280E}" srcOrd="0" destOrd="0" presId="urn:microsoft.com/office/officeart/2005/8/layout/vList2"/>
    <dgm:cxn modelId="{C9EBB2F8-1242-4DB0-B9B1-32B0EE5BD1DD}" type="presOf" srcId="{226438D5-AF60-4FC2-B7B1-1FAFE6F029F4}" destId="{0CB64F91-1AC8-4F08-AB65-6A4FEE705282}" srcOrd="0" destOrd="0" presId="urn:microsoft.com/office/officeart/2005/8/layout/vList2"/>
    <dgm:cxn modelId="{64062E8C-5E46-4D49-BAD3-4772A44F09C0}" type="presParOf" srcId="{98B905C2-E6DF-4B75-9416-AF7446358B35}" destId="{41591867-A15A-4C01-989E-2D8E71AD280E}" srcOrd="0" destOrd="0" presId="urn:microsoft.com/office/officeart/2005/8/layout/vList2"/>
    <dgm:cxn modelId="{CA918946-BF6A-4EC6-9FCA-45A48A711BF0}" type="presParOf" srcId="{98B905C2-E6DF-4B75-9416-AF7446358B35}" destId="{0CB64F91-1AC8-4F08-AB65-6A4FEE705282}" srcOrd="1" destOrd="0" presId="urn:microsoft.com/office/officeart/2005/8/layout/vList2"/>
    <dgm:cxn modelId="{25C6509F-6344-421B-B6B7-1C5D6B562EEE}" type="presParOf" srcId="{98B905C2-E6DF-4B75-9416-AF7446358B35}" destId="{533E5313-0390-4A3E-9304-2F63C7C13FAF}" srcOrd="2" destOrd="0" presId="urn:microsoft.com/office/officeart/2005/8/layout/vList2"/>
    <dgm:cxn modelId="{3FEA8797-2866-4D9F-8576-8A10DA896460}" type="presParOf" srcId="{98B905C2-E6DF-4B75-9416-AF7446358B35}" destId="{D4FB4936-BF1D-4807-8D25-E8B1D64E8CFA}"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293CF4F5-3101-49E6-9303-E9DD7296C65D}"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C301BCD6-3F1B-4C9C-800D-CE5CBA0188D2}">
      <dgm:prSet phldrT="[文本]" custT="1"/>
      <dgm:spPr/>
      <dgm:t>
        <a:bodyPr/>
        <a:lstStyle/>
        <a:p>
          <a:r>
            <a:rPr lang="zh-CN" altLang="en-US" sz="1800" b="1" dirty="0">
              <a:solidFill>
                <a:schemeClr val="bg1"/>
              </a:solidFill>
              <a:latin typeface="微软雅黑" panose="020B0503020204020204" pitchFamily="34" charset="-122"/>
              <a:ea typeface="微软雅黑" panose="020B0503020204020204" pitchFamily="34" charset="-122"/>
            </a:rPr>
            <a:t>文字描述：便于人来阅读和理解。</a:t>
          </a:r>
        </a:p>
      </dgm:t>
    </dgm:pt>
    <dgm:pt modelId="{8F194872-EA8A-420F-BAD5-93D3D974D2CC}" type="parTrans" cxnId="{B535B5F2-0D6A-421E-BFCB-673C3560E39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BA69BCC-ACCA-44EF-AB05-16894BE20C98}" type="sibTrans" cxnId="{B535B5F2-0D6A-421E-BFCB-673C3560E39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A5B5183-B82D-4F95-84A7-0F223402066E}">
      <dgm:prSet phldrT="[文本]" custT="1"/>
      <dgm:spPr/>
      <dgm:t>
        <a:bodyPr/>
        <a:lstStyle/>
        <a:p>
          <a:r>
            <a:rPr lang="zh-CN" altLang="en-US" sz="1800" b="1" dirty="0">
              <a:solidFill>
                <a:srgbClr val="000066"/>
              </a:solidFill>
              <a:latin typeface="微软雅黑" panose="020B0503020204020204" pitchFamily="34" charset="-122"/>
              <a:ea typeface="微软雅黑" panose="020B0503020204020204" pitchFamily="34" charset="-122"/>
            </a:rPr>
            <a:t>程序代码：让计算机能够理解。</a:t>
          </a:r>
        </a:p>
      </dgm:t>
    </dgm:pt>
    <dgm:pt modelId="{3C446E62-0F12-4B57-895F-6C47306C1DC1}" type="parTrans" cxnId="{2166F6B3-E217-4437-B325-B8BA520696B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AEA954-F48A-4B44-80BF-2C09A5948257}" type="sibTrans" cxnId="{2166F6B3-E217-4437-B325-B8BA520696B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C73C4A-F159-4BCB-A072-016D19C6E2B5}" type="pres">
      <dgm:prSet presAssocID="{293CF4F5-3101-49E6-9303-E9DD7296C65D}" presName="linear" presStyleCnt="0">
        <dgm:presLayoutVars>
          <dgm:dir/>
          <dgm:animLvl val="lvl"/>
          <dgm:resizeHandles val="exact"/>
        </dgm:presLayoutVars>
      </dgm:prSet>
      <dgm:spPr/>
    </dgm:pt>
    <dgm:pt modelId="{E336CA13-8985-45BE-84B4-56919F1E4296}" type="pres">
      <dgm:prSet presAssocID="{C301BCD6-3F1B-4C9C-800D-CE5CBA0188D2}" presName="parentLin" presStyleCnt="0"/>
      <dgm:spPr/>
    </dgm:pt>
    <dgm:pt modelId="{77F3D1F0-EBBB-48B7-B04C-56372B956B6C}" type="pres">
      <dgm:prSet presAssocID="{C301BCD6-3F1B-4C9C-800D-CE5CBA0188D2}" presName="parentLeftMargin" presStyleLbl="node1" presStyleIdx="0" presStyleCnt="2"/>
      <dgm:spPr/>
    </dgm:pt>
    <dgm:pt modelId="{41788D26-F979-4FB7-8A96-4711D82825B8}" type="pres">
      <dgm:prSet presAssocID="{C301BCD6-3F1B-4C9C-800D-CE5CBA0188D2}" presName="parentText" presStyleLbl="node1" presStyleIdx="0" presStyleCnt="2">
        <dgm:presLayoutVars>
          <dgm:chMax val="0"/>
          <dgm:bulletEnabled val="1"/>
        </dgm:presLayoutVars>
      </dgm:prSet>
      <dgm:spPr/>
    </dgm:pt>
    <dgm:pt modelId="{446021F4-CA10-46E5-8E3F-26753D3D3985}" type="pres">
      <dgm:prSet presAssocID="{C301BCD6-3F1B-4C9C-800D-CE5CBA0188D2}" presName="negativeSpace" presStyleCnt="0"/>
      <dgm:spPr/>
    </dgm:pt>
    <dgm:pt modelId="{2F355ABF-AFD4-4429-AC0C-B179A1BF75DA}" type="pres">
      <dgm:prSet presAssocID="{C301BCD6-3F1B-4C9C-800D-CE5CBA0188D2}" presName="childText" presStyleLbl="conFgAcc1" presStyleIdx="0" presStyleCnt="2">
        <dgm:presLayoutVars>
          <dgm:bulletEnabled val="1"/>
        </dgm:presLayoutVars>
      </dgm:prSet>
      <dgm:spPr/>
    </dgm:pt>
    <dgm:pt modelId="{A1FE5214-89D9-427A-8B5A-BF786C96D895}" type="pres">
      <dgm:prSet presAssocID="{CBA69BCC-ACCA-44EF-AB05-16894BE20C98}" presName="spaceBetweenRectangles" presStyleCnt="0"/>
      <dgm:spPr/>
    </dgm:pt>
    <dgm:pt modelId="{142A6A81-5624-4ACE-9A3D-B3AFF9382A09}" type="pres">
      <dgm:prSet presAssocID="{8A5B5183-B82D-4F95-84A7-0F223402066E}" presName="parentLin" presStyleCnt="0"/>
      <dgm:spPr/>
    </dgm:pt>
    <dgm:pt modelId="{C238DCB9-6EBC-413B-9D6D-EC93B6F5DDFF}" type="pres">
      <dgm:prSet presAssocID="{8A5B5183-B82D-4F95-84A7-0F223402066E}" presName="parentLeftMargin" presStyleLbl="node1" presStyleIdx="0" presStyleCnt="2"/>
      <dgm:spPr/>
    </dgm:pt>
    <dgm:pt modelId="{F367B3BE-A2DF-4CEA-8C18-99C09218A893}" type="pres">
      <dgm:prSet presAssocID="{8A5B5183-B82D-4F95-84A7-0F223402066E}" presName="parentText" presStyleLbl="node1" presStyleIdx="1" presStyleCnt="2">
        <dgm:presLayoutVars>
          <dgm:chMax val="0"/>
          <dgm:bulletEnabled val="1"/>
        </dgm:presLayoutVars>
      </dgm:prSet>
      <dgm:spPr/>
    </dgm:pt>
    <dgm:pt modelId="{00FBF154-663A-49D1-BC6E-5A81F86E17D9}" type="pres">
      <dgm:prSet presAssocID="{8A5B5183-B82D-4F95-84A7-0F223402066E}" presName="negativeSpace" presStyleCnt="0"/>
      <dgm:spPr/>
    </dgm:pt>
    <dgm:pt modelId="{3072F165-7A76-46AC-BCC0-0FC97CA5F9F5}" type="pres">
      <dgm:prSet presAssocID="{8A5B5183-B82D-4F95-84A7-0F223402066E}" presName="childText" presStyleLbl="conFgAcc1" presStyleIdx="1" presStyleCnt="2">
        <dgm:presLayoutVars>
          <dgm:bulletEnabled val="1"/>
        </dgm:presLayoutVars>
      </dgm:prSet>
      <dgm:spPr/>
    </dgm:pt>
  </dgm:ptLst>
  <dgm:cxnLst>
    <dgm:cxn modelId="{A2AADB49-CA67-451F-90FD-5E3D44EC1EA0}" type="presOf" srcId="{8A5B5183-B82D-4F95-84A7-0F223402066E}" destId="{F367B3BE-A2DF-4CEA-8C18-99C09218A893}" srcOrd="1" destOrd="0" presId="urn:microsoft.com/office/officeart/2005/8/layout/list1"/>
    <dgm:cxn modelId="{F991CA59-DD6B-43A9-A990-3A4CB9D2EE86}" type="presOf" srcId="{293CF4F5-3101-49E6-9303-E9DD7296C65D}" destId="{42C73C4A-F159-4BCB-A072-016D19C6E2B5}" srcOrd="0" destOrd="0" presId="urn:microsoft.com/office/officeart/2005/8/layout/list1"/>
    <dgm:cxn modelId="{ECFF1E8D-1946-483C-B754-77A185F880D7}" type="presOf" srcId="{8A5B5183-B82D-4F95-84A7-0F223402066E}" destId="{C238DCB9-6EBC-413B-9D6D-EC93B6F5DDFF}" srcOrd="0" destOrd="0" presId="urn:microsoft.com/office/officeart/2005/8/layout/list1"/>
    <dgm:cxn modelId="{DECB6B99-8462-426B-B51B-E4D9E3C76C9D}" type="presOf" srcId="{C301BCD6-3F1B-4C9C-800D-CE5CBA0188D2}" destId="{41788D26-F979-4FB7-8A96-4711D82825B8}" srcOrd="1" destOrd="0" presId="urn:microsoft.com/office/officeart/2005/8/layout/list1"/>
    <dgm:cxn modelId="{2166F6B3-E217-4437-B325-B8BA520696B0}" srcId="{293CF4F5-3101-49E6-9303-E9DD7296C65D}" destId="{8A5B5183-B82D-4F95-84A7-0F223402066E}" srcOrd="1" destOrd="0" parTransId="{3C446E62-0F12-4B57-895F-6C47306C1DC1}" sibTransId="{21AEA954-F48A-4B44-80BF-2C09A5948257}"/>
    <dgm:cxn modelId="{18A337F2-4CE5-4FF6-96A3-CC543DCA5296}" type="presOf" srcId="{C301BCD6-3F1B-4C9C-800D-CE5CBA0188D2}" destId="{77F3D1F0-EBBB-48B7-B04C-56372B956B6C}" srcOrd="0" destOrd="0" presId="urn:microsoft.com/office/officeart/2005/8/layout/list1"/>
    <dgm:cxn modelId="{B535B5F2-0D6A-421E-BFCB-673C3560E397}" srcId="{293CF4F5-3101-49E6-9303-E9DD7296C65D}" destId="{C301BCD6-3F1B-4C9C-800D-CE5CBA0188D2}" srcOrd="0" destOrd="0" parTransId="{8F194872-EA8A-420F-BAD5-93D3D974D2CC}" sibTransId="{CBA69BCC-ACCA-44EF-AB05-16894BE20C98}"/>
    <dgm:cxn modelId="{CBF163A0-6196-4F5D-981E-79CED64D4C96}" type="presParOf" srcId="{42C73C4A-F159-4BCB-A072-016D19C6E2B5}" destId="{E336CA13-8985-45BE-84B4-56919F1E4296}" srcOrd="0" destOrd="0" presId="urn:microsoft.com/office/officeart/2005/8/layout/list1"/>
    <dgm:cxn modelId="{2B4822A4-0104-490E-99B2-9B41BFA52BE3}" type="presParOf" srcId="{E336CA13-8985-45BE-84B4-56919F1E4296}" destId="{77F3D1F0-EBBB-48B7-B04C-56372B956B6C}" srcOrd="0" destOrd="0" presId="urn:microsoft.com/office/officeart/2005/8/layout/list1"/>
    <dgm:cxn modelId="{EA35E57C-3FE2-4475-B45B-FF3BEF497F3C}" type="presParOf" srcId="{E336CA13-8985-45BE-84B4-56919F1E4296}" destId="{41788D26-F979-4FB7-8A96-4711D82825B8}" srcOrd="1" destOrd="0" presId="urn:microsoft.com/office/officeart/2005/8/layout/list1"/>
    <dgm:cxn modelId="{540D51C9-81C1-4010-87D8-D59B8A7FDDAC}" type="presParOf" srcId="{42C73C4A-F159-4BCB-A072-016D19C6E2B5}" destId="{446021F4-CA10-46E5-8E3F-26753D3D3985}" srcOrd="1" destOrd="0" presId="urn:microsoft.com/office/officeart/2005/8/layout/list1"/>
    <dgm:cxn modelId="{9C7B2439-D5DD-4A36-8DEF-8A400810BCB0}" type="presParOf" srcId="{42C73C4A-F159-4BCB-A072-016D19C6E2B5}" destId="{2F355ABF-AFD4-4429-AC0C-B179A1BF75DA}" srcOrd="2" destOrd="0" presId="urn:microsoft.com/office/officeart/2005/8/layout/list1"/>
    <dgm:cxn modelId="{59288904-D70F-4CDE-8F1C-54573E9145E6}" type="presParOf" srcId="{42C73C4A-F159-4BCB-A072-016D19C6E2B5}" destId="{A1FE5214-89D9-427A-8B5A-BF786C96D895}" srcOrd="3" destOrd="0" presId="urn:microsoft.com/office/officeart/2005/8/layout/list1"/>
    <dgm:cxn modelId="{052DEEF4-0621-4F49-95DC-32AEB825C321}" type="presParOf" srcId="{42C73C4A-F159-4BCB-A072-016D19C6E2B5}" destId="{142A6A81-5624-4ACE-9A3D-B3AFF9382A09}" srcOrd="4" destOrd="0" presId="urn:microsoft.com/office/officeart/2005/8/layout/list1"/>
    <dgm:cxn modelId="{759AC876-3A19-4295-8D0F-ABC3EFFA3F5F}" type="presParOf" srcId="{142A6A81-5624-4ACE-9A3D-B3AFF9382A09}" destId="{C238DCB9-6EBC-413B-9D6D-EC93B6F5DDFF}" srcOrd="0" destOrd="0" presId="urn:microsoft.com/office/officeart/2005/8/layout/list1"/>
    <dgm:cxn modelId="{203F8A69-9B9D-4B83-94CC-6916C1DDC2DA}" type="presParOf" srcId="{142A6A81-5624-4ACE-9A3D-B3AFF9382A09}" destId="{F367B3BE-A2DF-4CEA-8C18-99C09218A893}" srcOrd="1" destOrd="0" presId="urn:microsoft.com/office/officeart/2005/8/layout/list1"/>
    <dgm:cxn modelId="{A622DBAD-7882-42BF-932B-9D1ABBBD3B01}" type="presParOf" srcId="{42C73C4A-F159-4BCB-A072-016D19C6E2B5}" destId="{00FBF154-663A-49D1-BC6E-5A81F86E17D9}" srcOrd="5" destOrd="0" presId="urn:microsoft.com/office/officeart/2005/8/layout/list1"/>
    <dgm:cxn modelId="{CB239D4A-E3F3-475E-9E7B-062513E4BFA7}" type="presParOf" srcId="{42C73C4A-F159-4BCB-A072-016D19C6E2B5}" destId="{3072F165-7A76-46AC-BCC0-0FC97CA5F9F5}" srcOrd="6" destOrd="0" presId="urn:microsoft.com/office/officeart/2005/8/layout/list1"/>
  </dgm:cxnLst>
  <dgm:bg/>
  <dgm:whole>
    <a:ln w="19050">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85D5085E-9A19-4AAD-9799-233066D76354}" type="doc">
      <dgm:prSet loTypeId="urn:microsoft.com/office/officeart/2009/3/layout/PlusandMinus" loCatId="relationship" qsTypeId="urn:microsoft.com/office/officeart/2005/8/quickstyle/simple1" qsCatId="simple" csTypeId="urn:microsoft.com/office/officeart/2005/8/colors/colorful1#7" csCatId="colorful" phldr="1"/>
      <dgm:spPr/>
      <dgm:t>
        <a:bodyPr/>
        <a:lstStyle/>
        <a:p>
          <a:endParaRPr lang="zh-CN" altLang="en-US"/>
        </a:p>
      </dgm:t>
    </dgm:pt>
    <dgm:pt modelId="{523B5A40-6C88-4E7B-8370-BC3BAD908198}">
      <dgm:prSet phldrT="[文本]" custT="1">
        <dgm:style>
          <a:lnRef idx="1">
            <a:schemeClr val="accent2"/>
          </a:lnRef>
          <a:fillRef idx="2">
            <a:schemeClr val="accent2"/>
          </a:fillRef>
          <a:effectRef idx="1">
            <a:schemeClr val="accent2"/>
          </a:effectRef>
          <a:fontRef idx="minor">
            <a:schemeClr val="dk1"/>
          </a:fontRef>
        </dgm:style>
      </dgm:prSet>
      <dgm:spPr/>
      <dgm:t>
        <a:bodyPr/>
        <a:lstStyle/>
        <a:p>
          <a:pPr>
            <a:spcAft>
              <a:spcPts val="0"/>
            </a:spcAft>
          </a:pPr>
          <a:r>
            <a:rPr lang="zh-CN" altLang="en-US" sz="1600" b="1" dirty="0">
              <a:latin typeface="微软雅黑" panose="020B0503020204020204" pitchFamily="34" charset="-122"/>
              <a:ea typeface="微软雅黑" panose="020B0503020204020204" pitchFamily="34" charset="-122"/>
            </a:rPr>
            <a:t>各层之间是独立的。</a:t>
          </a:r>
        </a:p>
        <a:p>
          <a:pPr>
            <a:spcAft>
              <a:spcPts val="0"/>
            </a:spcAft>
          </a:pPr>
          <a:r>
            <a:rPr lang="zh-CN" altLang="en-US" sz="1600" b="1" dirty="0">
              <a:latin typeface="微软雅黑" panose="020B0503020204020204" pitchFamily="34" charset="-122"/>
              <a:ea typeface="微软雅黑" panose="020B0503020204020204" pitchFamily="34" charset="-122"/>
            </a:rPr>
            <a:t>灵活性好。</a:t>
          </a:r>
        </a:p>
        <a:p>
          <a:pPr>
            <a:spcAft>
              <a:spcPts val="0"/>
            </a:spcAft>
          </a:pPr>
          <a:r>
            <a:rPr lang="zh-CN" altLang="en-US" sz="1600" b="1" dirty="0">
              <a:latin typeface="微软雅黑" panose="020B0503020204020204" pitchFamily="34" charset="-122"/>
              <a:ea typeface="微软雅黑" panose="020B0503020204020204" pitchFamily="34" charset="-122"/>
            </a:rPr>
            <a:t>结构上可分割开。</a:t>
          </a:r>
        </a:p>
        <a:p>
          <a:pPr>
            <a:spcAft>
              <a:spcPts val="0"/>
            </a:spcAft>
          </a:pPr>
          <a:r>
            <a:rPr lang="zh-CN" altLang="en-US" sz="1600" b="1" dirty="0">
              <a:latin typeface="微软雅黑" panose="020B0503020204020204" pitchFamily="34" charset="-122"/>
              <a:ea typeface="微软雅黑" panose="020B0503020204020204" pitchFamily="34" charset="-122"/>
            </a:rPr>
            <a:t>易于实现和维护</a:t>
          </a:r>
        </a:p>
        <a:p>
          <a:pPr>
            <a:spcAft>
              <a:spcPts val="0"/>
            </a:spcAft>
          </a:pPr>
          <a:r>
            <a:rPr lang="zh-CN" altLang="en-US" sz="1600" b="1" dirty="0">
              <a:latin typeface="微软雅黑" panose="020B0503020204020204" pitchFamily="34" charset="-122"/>
              <a:ea typeface="微软雅黑" panose="020B0503020204020204" pitchFamily="34" charset="-122"/>
            </a:rPr>
            <a:t>能促进标准化工作。</a:t>
          </a:r>
        </a:p>
      </dgm:t>
    </dgm:pt>
    <dgm:pt modelId="{4A6FE152-9E61-4CEC-9BC4-79E3A424C0D2}" type="parTrans" cxnId="{BFA2CA4B-6F60-4BAC-85D0-D17D13261D45}">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2A612B14-1FE9-4940-AD60-58D8C13C2F37}" type="sibTrans" cxnId="{BFA2CA4B-6F60-4BAC-85D0-D17D13261D45}">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906CC4F9-16E2-4572-BF0F-2D71D193110F}">
      <dgm:prSet phldrT="[文本]" custT="1">
        <dgm:style>
          <a:lnRef idx="1">
            <a:schemeClr val="accent3"/>
          </a:lnRef>
          <a:fillRef idx="2">
            <a:schemeClr val="accent3"/>
          </a:fillRef>
          <a:effectRef idx="1">
            <a:schemeClr val="accent3"/>
          </a:effectRef>
          <a:fontRef idx="minor">
            <a:schemeClr val="dk1"/>
          </a:fontRef>
        </dgm:style>
      </dgm:prSet>
      <dgm:spPr/>
      <dgm:t>
        <a:bodyPr/>
        <a:lstStyle/>
        <a:p>
          <a:pPr>
            <a:spcAft>
              <a:spcPts val="0"/>
            </a:spcAft>
          </a:pPr>
          <a:r>
            <a:rPr lang="zh-CN" altLang="en-US" sz="1600" b="1" dirty="0">
              <a:latin typeface="微软雅黑" panose="020B0503020204020204" pitchFamily="34" charset="-122"/>
              <a:ea typeface="微软雅黑" panose="020B0503020204020204" pitchFamily="34" charset="-122"/>
            </a:rPr>
            <a:t>有些功能会重复出现，因而产生了额外开销。</a:t>
          </a:r>
          <a:endParaRPr lang="en-US" altLang="zh-CN" sz="1600" b="1" dirty="0">
            <a:latin typeface="微软雅黑" panose="020B0503020204020204" pitchFamily="34" charset="-122"/>
            <a:ea typeface="微软雅黑" panose="020B0503020204020204" pitchFamily="34" charset="-122"/>
          </a:endParaRPr>
        </a:p>
      </dgm:t>
    </dgm:pt>
    <dgm:pt modelId="{75873D7D-8229-4A50-B8B3-9C809F5F9F2A}" type="parTrans" cxnId="{52A72C25-C9F8-4E42-AFAE-C29F4D9B1539}">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D297ADB0-BFEE-4AB3-8D8E-293AD20CC74C}" type="sibTrans" cxnId="{52A72C25-C9F8-4E42-AFAE-C29F4D9B1539}">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FB7A98D8-A946-4532-B8CF-383D1065D29C}" type="pres">
      <dgm:prSet presAssocID="{85D5085E-9A19-4AAD-9799-233066D76354}" presName="Name0" presStyleCnt="0">
        <dgm:presLayoutVars>
          <dgm:chMax val="2"/>
          <dgm:chPref val="2"/>
          <dgm:dir/>
          <dgm:animOne/>
          <dgm:resizeHandles val="exact"/>
        </dgm:presLayoutVars>
      </dgm:prSet>
      <dgm:spPr/>
    </dgm:pt>
    <dgm:pt modelId="{A6333D2C-A9D6-4FB9-868E-7A2772597538}" type="pres">
      <dgm:prSet presAssocID="{85D5085E-9A19-4AAD-9799-233066D76354}" presName="Background" presStyleLbl="bgImgPlace1" presStyleIdx="0" presStyleCnt="1" custScaleX="150969"/>
      <dgm:spPr>
        <a:solidFill>
          <a:schemeClr val="tx2">
            <a:lumMod val="40000"/>
            <a:lumOff val="60000"/>
          </a:schemeClr>
        </a:solidFill>
      </dgm:spPr>
    </dgm:pt>
    <dgm:pt modelId="{9F411F94-BA29-40FB-AB99-7CD7DB1CFA05}" type="pres">
      <dgm:prSet presAssocID="{85D5085E-9A19-4AAD-9799-233066D76354}" presName="ParentText1" presStyleLbl="revTx" presStyleIdx="0" presStyleCnt="2" custScaleX="122941" custLinFactNeighborX="-19358" custLinFactNeighborY="-2168">
        <dgm:presLayoutVars>
          <dgm:chMax val="0"/>
          <dgm:chPref val="0"/>
          <dgm:bulletEnabled val="1"/>
        </dgm:presLayoutVars>
      </dgm:prSet>
      <dgm:spPr/>
    </dgm:pt>
    <dgm:pt modelId="{CB7DDDF6-2C8B-4B30-A06C-1EA5DB141FBA}" type="pres">
      <dgm:prSet presAssocID="{85D5085E-9A19-4AAD-9799-233066D76354}" presName="ParentText2" presStyleLbl="revTx" presStyleIdx="1" presStyleCnt="2" custScaleX="124196" custLinFactNeighborX="20121" custLinFactNeighborY="-2285">
        <dgm:presLayoutVars>
          <dgm:chMax val="0"/>
          <dgm:chPref val="0"/>
          <dgm:bulletEnabled val="1"/>
        </dgm:presLayoutVars>
      </dgm:prSet>
      <dgm:spPr/>
    </dgm:pt>
    <dgm:pt modelId="{DF706164-FCCA-4F26-8B31-EABB82ABC165}" type="pres">
      <dgm:prSet presAssocID="{85D5085E-9A19-4AAD-9799-233066D76354}" presName="Plus" presStyleLbl="alignNode1" presStyleIdx="0" presStyleCnt="2" custLinFactX="-23859" custLinFactNeighborX="-100000"/>
      <dgm:spPr>
        <a:solidFill>
          <a:srgbClr val="990033"/>
        </a:solidFill>
        <a:ln>
          <a:solidFill>
            <a:srgbClr val="990033"/>
          </a:solidFill>
        </a:ln>
      </dgm:spPr>
    </dgm:pt>
    <dgm:pt modelId="{93B3F9F7-5DFA-451D-8AF0-C886EF2184F0}" type="pres">
      <dgm:prSet presAssocID="{85D5085E-9A19-4AAD-9799-233066D76354}" presName="Minus" presStyleLbl="alignNode1" presStyleIdx="1" presStyleCnt="2" custLinFactX="55058" custLinFactNeighborX="100000" custLinFactNeighborY="-7605"/>
      <dgm:spPr>
        <a:solidFill>
          <a:srgbClr val="000099"/>
        </a:solidFill>
        <a:ln>
          <a:noFill/>
        </a:ln>
      </dgm:spPr>
    </dgm:pt>
    <dgm:pt modelId="{5CF821AC-F873-42D9-B901-FF50109FC337}" type="pres">
      <dgm:prSet presAssocID="{85D5085E-9A19-4AAD-9799-233066D76354}" presName="Divider" presStyleLbl="parChTrans1D1" presStyleIdx="0" presStyleCnt="1"/>
      <dgm:spPr>
        <a:ln>
          <a:solidFill>
            <a:srgbClr val="000099"/>
          </a:solidFill>
        </a:ln>
      </dgm:spPr>
    </dgm:pt>
  </dgm:ptLst>
  <dgm:cxnLst>
    <dgm:cxn modelId="{81865607-0674-4603-A3A6-09E5AD6F0586}" type="presOf" srcId="{906CC4F9-16E2-4572-BF0F-2D71D193110F}" destId="{CB7DDDF6-2C8B-4B30-A06C-1EA5DB141FBA}" srcOrd="0" destOrd="0" presId="urn:microsoft.com/office/officeart/2009/3/layout/PlusandMinus"/>
    <dgm:cxn modelId="{52A72C25-C9F8-4E42-AFAE-C29F4D9B1539}" srcId="{85D5085E-9A19-4AAD-9799-233066D76354}" destId="{906CC4F9-16E2-4572-BF0F-2D71D193110F}" srcOrd="1" destOrd="0" parTransId="{75873D7D-8229-4A50-B8B3-9C809F5F9F2A}" sibTransId="{D297ADB0-BFEE-4AB3-8D8E-293AD20CC74C}"/>
    <dgm:cxn modelId="{7AAB9144-4A68-495A-8801-2CD716BEDFA8}" type="presOf" srcId="{85D5085E-9A19-4AAD-9799-233066D76354}" destId="{FB7A98D8-A946-4532-B8CF-383D1065D29C}" srcOrd="0" destOrd="0" presId="urn:microsoft.com/office/officeart/2009/3/layout/PlusandMinus"/>
    <dgm:cxn modelId="{BFA2CA4B-6F60-4BAC-85D0-D17D13261D45}" srcId="{85D5085E-9A19-4AAD-9799-233066D76354}" destId="{523B5A40-6C88-4E7B-8370-BC3BAD908198}" srcOrd="0" destOrd="0" parTransId="{4A6FE152-9E61-4CEC-9BC4-79E3A424C0D2}" sibTransId="{2A612B14-1FE9-4940-AD60-58D8C13C2F37}"/>
    <dgm:cxn modelId="{5AC6E06F-A631-472E-AFA9-C30A23DB299C}" type="presOf" srcId="{523B5A40-6C88-4E7B-8370-BC3BAD908198}" destId="{9F411F94-BA29-40FB-AB99-7CD7DB1CFA05}" srcOrd="0" destOrd="0" presId="urn:microsoft.com/office/officeart/2009/3/layout/PlusandMinus"/>
    <dgm:cxn modelId="{198F1FA8-C2DC-4C79-8FB5-400F5A2031D1}" type="presParOf" srcId="{FB7A98D8-A946-4532-B8CF-383D1065D29C}" destId="{A6333D2C-A9D6-4FB9-868E-7A2772597538}" srcOrd="0" destOrd="0" presId="urn:microsoft.com/office/officeart/2009/3/layout/PlusandMinus"/>
    <dgm:cxn modelId="{D39A9186-8136-4A30-9BD4-6D6C0D9B60F6}" type="presParOf" srcId="{FB7A98D8-A946-4532-B8CF-383D1065D29C}" destId="{9F411F94-BA29-40FB-AB99-7CD7DB1CFA05}" srcOrd="1" destOrd="0" presId="urn:microsoft.com/office/officeart/2009/3/layout/PlusandMinus"/>
    <dgm:cxn modelId="{0F3B0A80-ABDF-4ABB-A19E-A5E7BC4F123D}" type="presParOf" srcId="{FB7A98D8-A946-4532-B8CF-383D1065D29C}" destId="{CB7DDDF6-2C8B-4B30-A06C-1EA5DB141FBA}" srcOrd="2" destOrd="0" presId="urn:microsoft.com/office/officeart/2009/3/layout/PlusandMinus"/>
    <dgm:cxn modelId="{CD5B3F22-708A-45DE-9F16-756F0125D6EA}" type="presParOf" srcId="{FB7A98D8-A946-4532-B8CF-383D1065D29C}" destId="{DF706164-FCCA-4F26-8B31-EABB82ABC165}" srcOrd="3" destOrd="0" presId="urn:microsoft.com/office/officeart/2009/3/layout/PlusandMinus"/>
    <dgm:cxn modelId="{41EC7F81-3328-4F59-87CF-A911907C770F}" type="presParOf" srcId="{FB7A98D8-A946-4532-B8CF-383D1065D29C}" destId="{93B3F9F7-5DFA-451D-8AF0-C886EF2184F0}" srcOrd="4" destOrd="0" presId="urn:microsoft.com/office/officeart/2009/3/layout/PlusandMinus"/>
    <dgm:cxn modelId="{CA9219E9-39F0-4799-A64D-1DDA4049B332}" type="presParOf" srcId="{FB7A98D8-A946-4532-B8CF-383D1065D29C}" destId="{5CF821AC-F873-42D9-B901-FF50109FC337}"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4994F04D-6077-4FB2-937D-03324B9DAB34}" type="doc">
      <dgm:prSet loTypeId="urn:microsoft.com/office/officeart/2005/8/layout/hierarchy3" loCatId="relationship" qsTypeId="urn:microsoft.com/office/officeart/2005/8/quickstyle/simple3" qsCatId="simple" csTypeId="urn:microsoft.com/office/officeart/2005/8/colors/colorful1#8" csCatId="colorful" phldr="1"/>
      <dgm:spPr/>
      <dgm:t>
        <a:bodyPr/>
        <a:lstStyle/>
        <a:p>
          <a:endParaRPr lang="zh-CN" altLang="en-US"/>
        </a:p>
      </dgm:t>
    </dgm:pt>
    <dgm:pt modelId="{0DA5C5DE-6D17-4EDE-B920-CE5FB3D41ABA}">
      <dgm:prSet phldrT="[文本]" custT="1"/>
      <dgm:spPr/>
      <dgm:t>
        <a:bodyPr/>
        <a:lstStyle/>
        <a:p>
          <a:r>
            <a:rPr lang="zh-CN" altLang="en-US" sz="2000" b="1">
              <a:latin typeface="微软雅黑" panose="020B0503020204020204" pitchFamily="34" charset="-122"/>
              <a:ea typeface="微软雅黑" panose="020B0503020204020204" pitchFamily="34" charset="-122"/>
            </a:rPr>
            <a:t>协议</a:t>
          </a:r>
          <a:endParaRPr lang="zh-CN" altLang="en-US" sz="2000" b="1" dirty="0">
            <a:latin typeface="微软雅黑" panose="020B0503020204020204" pitchFamily="34" charset="-122"/>
            <a:ea typeface="微软雅黑" panose="020B0503020204020204" pitchFamily="34" charset="-122"/>
          </a:endParaRPr>
        </a:p>
      </dgm:t>
    </dgm:pt>
    <dgm:pt modelId="{28418661-558A-435A-8A4F-56BB2E6D2A79}" type="parTrans" cxnId="{3F2313E1-88F4-4D75-80DD-D53E7FA40098}">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B7799A1-52B3-4216-A827-D62622C7BECB}" type="sibTrans" cxnId="{3F2313E1-88F4-4D75-80DD-D53E7FA40098}">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5ACDDF9-B7B9-4AE3-AEFD-342A1ED3FDD3}">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其实现保证了能够向上一层提供服务。</a:t>
          </a:r>
        </a:p>
      </dgm:t>
    </dgm:pt>
    <dgm:pt modelId="{50644C00-718E-45C3-8ABB-FFE825DC5B7F}" type="parTrans" cxnId="{E2F31064-17B6-4A9F-90F0-643AB7AC015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E9E075A-BD56-47AA-9D15-0D4E098D5773}" type="sibTrans" cxnId="{E2F31064-17B6-4A9F-90F0-643AB7AC015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E148EBF-2EB5-487C-A84A-08998CD76BB7}">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是“水平的”</a:t>
          </a:r>
        </a:p>
      </dgm:t>
    </dgm:pt>
    <dgm:pt modelId="{21295D08-392E-4BE1-9B14-3F97120CA18B}" type="parTrans" cxnId="{4C25B78B-B570-4056-98CA-440F138F90E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6AFDFB6-ED54-46D5-B15F-407D349B5792}" type="sibTrans" cxnId="{4C25B78B-B570-4056-98CA-440F138F90E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D4E06A52-91F5-4177-AA54-D298036A0598}">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上层使用服务原语获得下层所提供的服务。</a:t>
          </a:r>
        </a:p>
      </dgm:t>
    </dgm:pt>
    <dgm:pt modelId="{730A02EE-39C4-4F26-9573-658C50E91867}" type="parTrans" cxnId="{B342A0AB-0F65-4C75-907F-2694EA5299E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E8D6502-6A43-42CC-86CF-1ACBA7051209}" type="sibTrans" cxnId="{B342A0AB-0F65-4C75-907F-2694EA5299E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DD4BC036-F4FD-462C-907D-B7F6B229CCE6}">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上面的服务用户只能看见服务，无法看见下面的协议。</a:t>
          </a:r>
        </a:p>
      </dgm:t>
    </dgm:pt>
    <dgm:pt modelId="{85967721-5B7F-4D6B-ADDE-3DE6B93A85B9}" type="parTrans" cxnId="{E6AC0D9A-182A-4F10-BA90-83D5595123D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DE26604-E6BC-447F-9C0B-6472723CCE81}" type="sibTrans" cxnId="{E6AC0D9A-182A-4F10-BA90-83D5595123D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DE9353F-F89B-4F97-ADC5-22417B99EEF5}">
      <dgm:prSet phldrT="[文本]" custT="1"/>
      <dgm:spPr/>
      <dgm:t>
        <a:bodyPr/>
        <a:lstStyle/>
        <a:p>
          <a:r>
            <a:rPr lang="zh-CN" altLang="en-US" sz="2000" b="1" dirty="0">
              <a:latin typeface="微软雅黑" panose="020B0503020204020204" pitchFamily="34" charset="-122"/>
              <a:ea typeface="微软雅黑" panose="020B0503020204020204" pitchFamily="34" charset="-122"/>
            </a:rPr>
            <a:t>服务</a:t>
          </a:r>
          <a:endParaRPr lang="zh-CN" altLang="en-US" sz="1400" b="1" dirty="0">
            <a:latin typeface="微软雅黑" panose="020B0503020204020204" pitchFamily="34" charset="-122"/>
            <a:ea typeface="微软雅黑" panose="020B0503020204020204" pitchFamily="34" charset="-122"/>
          </a:endParaRPr>
        </a:p>
      </dgm:t>
    </dgm:pt>
    <dgm:pt modelId="{B2C123C1-4D4A-4AFA-AAC7-499F5F557CA3}" type="parTrans" cxnId="{98920D84-2D94-4AB0-A8BA-616CE05A6683}">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5F63407-A2E4-4341-BE61-AC23ED700CB0}" type="sibTrans" cxnId="{98920D84-2D94-4AB0-A8BA-616CE05A6683}">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621BA61-E464-4E81-97EC-EDA49E7881F8}">
      <dgm:prSet custT="1"/>
      <dgm:spPr/>
      <dgm:t>
        <a:bodyPr/>
        <a:lstStyle/>
        <a:p>
          <a:pPr algn="l"/>
          <a:r>
            <a:rPr lang="zh-CN" altLang="en-US" sz="1400" b="1" dirty="0">
              <a:latin typeface="微软雅黑" panose="020B0503020204020204" pitchFamily="34" charset="-122"/>
              <a:ea typeface="微软雅黑" panose="020B0503020204020204" pitchFamily="34" charset="-122"/>
            </a:rPr>
            <a:t>对上面的服务用户是透明的。 </a:t>
          </a:r>
        </a:p>
      </dgm:t>
    </dgm:pt>
    <dgm:pt modelId="{51AD83D2-E860-474C-AB22-849ADFDF4DBE}" type="parTrans" cxnId="{30A3C7D7-737E-45E4-B2EB-EA198C32BC2B}">
      <dgm:prSet/>
      <dgm:spPr/>
      <dgm:t>
        <a:bodyPr/>
        <a:lstStyle/>
        <a:p>
          <a:endParaRPr lang="zh-CN" altLang="en-US"/>
        </a:p>
      </dgm:t>
    </dgm:pt>
    <dgm:pt modelId="{2E1B2228-FB84-45C7-9335-000068211608}" type="sibTrans" cxnId="{30A3C7D7-737E-45E4-B2EB-EA198C32BC2B}">
      <dgm:prSet/>
      <dgm:spPr/>
      <dgm:t>
        <a:bodyPr/>
        <a:lstStyle/>
        <a:p>
          <a:endParaRPr lang="zh-CN" altLang="en-US"/>
        </a:p>
      </dgm:t>
    </dgm:pt>
    <dgm:pt modelId="{796DC1B7-9303-4BF9-ADBA-2F3A2A3FBE6B}">
      <dgm:prSet custT="1"/>
      <dgm:spPr/>
      <dgm:t>
        <a:bodyPr/>
        <a:lstStyle/>
        <a:p>
          <a:pPr algn="l"/>
          <a:r>
            <a:rPr lang="zh-CN" altLang="en-US" sz="1400" b="1" dirty="0">
              <a:latin typeface="微软雅黑" panose="020B0503020204020204" pitchFamily="34" charset="-122"/>
              <a:ea typeface="微软雅黑" panose="020B0503020204020204" pitchFamily="34" charset="-122"/>
            </a:rPr>
            <a:t>是“垂直的”</a:t>
          </a:r>
        </a:p>
      </dgm:t>
    </dgm:pt>
    <dgm:pt modelId="{81F2FDAA-970B-4BD0-9CE1-4DD499C666F7}" type="parTrans" cxnId="{EEB84225-CB6C-4BAC-B1AF-19A26231A51D}">
      <dgm:prSet/>
      <dgm:spPr/>
      <dgm:t>
        <a:bodyPr/>
        <a:lstStyle/>
        <a:p>
          <a:endParaRPr lang="zh-CN" altLang="en-US"/>
        </a:p>
      </dgm:t>
    </dgm:pt>
    <dgm:pt modelId="{5EDF14EE-9165-40CE-AECD-1659094E2CA3}" type="sibTrans" cxnId="{EEB84225-CB6C-4BAC-B1AF-19A26231A51D}">
      <dgm:prSet/>
      <dgm:spPr/>
      <dgm:t>
        <a:bodyPr/>
        <a:lstStyle/>
        <a:p>
          <a:endParaRPr lang="zh-CN" altLang="en-US"/>
        </a:p>
      </dgm:t>
    </dgm:pt>
    <dgm:pt modelId="{220E4BB7-E5A6-4374-B95C-9515D05C4860}" type="pres">
      <dgm:prSet presAssocID="{4994F04D-6077-4FB2-937D-03324B9DAB34}" presName="diagram" presStyleCnt="0">
        <dgm:presLayoutVars>
          <dgm:chPref val="1"/>
          <dgm:dir/>
          <dgm:animOne val="branch"/>
          <dgm:animLvl val="lvl"/>
          <dgm:resizeHandles/>
        </dgm:presLayoutVars>
      </dgm:prSet>
      <dgm:spPr/>
    </dgm:pt>
    <dgm:pt modelId="{F20CB88D-283A-40E6-969B-F760513B269C}" type="pres">
      <dgm:prSet presAssocID="{0DA5C5DE-6D17-4EDE-B920-CE5FB3D41ABA}" presName="root" presStyleCnt="0"/>
      <dgm:spPr/>
    </dgm:pt>
    <dgm:pt modelId="{16E92C0E-1962-4079-9E86-E1F4B29DC174}" type="pres">
      <dgm:prSet presAssocID="{0DA5C5DE-6D17-4EDE-B920-CE5FB3D41ABA}" presName="rootComposite" presStyleCnt="0"/>
      <dgm:spPr/>
    </dgm:pt>
    <dgm:pt modelId="{880F44A1-54FE-446F-9390-56E51903722C}" type="pres">
      <dgm:prSet presAssocID="{0DA5C5DE-6D17-4EDE-B920-CE5FB3D41ABA}" presName="rootText" presStyleLbl="node1" presStyleIdx="0" presStyleCnt="2" custLinFactNeighborX="-58298"/>
      <dgm:spPr/>
    </dgm:pt>
    <dgm:pt modelId="{804607B6-F4FB-4B08-9326-1AA34A273A5D}" type="pres">
      <dgm:prSet presAssocID="{0DA5C5DE-6D17-4EDE-B920-CE5FB3D41ABA}" presName="rootConnector" presStyleLbl="node1" presStyleIdx="0" presStyleCnt="2"/>
      <dgm:spPr/>
    </dgm:pt>
    <dgm:pt modelId="{4DA6A816-DA95-479C-9A39-3F04BD93D8C4}" type="pres">
      <dgm:prSet presAssocID="{0DA5C5DE-6D17-4EDE-B920-CE5FB3D41ABA}" presName="childShape" presStyleCnt="0"/>
      <dgm:spPr/>
    </dgm:pt>
    <dgm:pt modelId="{5F5FD024-96B9-4927-9522-4793C366CCDF}" type="pres">
      <dgm:prSet presAssocID="{50644C00-718E-45C3-8ABB-FFE825DC5B7F}" presName="Name13" presStyleLbl="parChTrans1D2" presStyleIdx="0" presStyleCnt="6"/>
      <dgm:spPr/>
    </dgm:pt>
    <dgm:pt modelId="{8271D559-F991-45A8-861F-E02D43E73A7A}" type="pres">
      <dgm:prSet presAssocID="{85ACDDF9-B7B9-4AE3-AEFD-342A1ED3FDD3}" presName="childText" presStyleLbl="bgAcc1" presStyleIdx="0" presStyleCnt="6" custScaleX="378056" custScaleY="141812" custLinFactNeighborX="-61112" custLinFactNeighborY="-5648">
        <dgm:presLayoutVars>
          <dgm:bulletEnabled val="1"/>
        </dgm:presLayoutVars>
      </dgm:prSet>
      <dgm:spPr/>
    </dgm:pt>
    <dgm:pt modelId="{D504C716-6CF6-4108-8639-E75778C37519}" type="pres">
      <dgm:prSet presAssocID="{51AD83D2-E860-474C-AB22-849ADFDF4DBE}" presName="Name13" presStyleLbl="parChTrans1D2" presStyleIdx="1" presStyleCnt="6"/>
      <dgm:spPr/>
    </dgm:pt>
    <dgm:pt modelId="{B24467C9-0F5C-4007-8028-B7B163F30ADF}" type="pres">
      <dgm:prSet presAssocID="{1621BA61-E464-4E81-97EC-EDA49E7881F8}" presName="childText" presStyleLbl="bgAcc1" presStyleIdx="1" presStyleCnt="6" custScaleX="378056" custScaleY="142780" custLinFactNeighborX="-61112">
        <dgm:presLayoutVars>
          <dgm:bulletEnabled val="1"/>
        </dgm:presLayoutVars>
      </dgm:prSet>
      <dgm:spPr/>
    </dgm:pt>
    <dgm:pt modelId="{9164C2E8-A8A5-4BDA-B5B7-3599D5C7C4A2}" type="pres">
      <dgm:prSet presAssocID="{21295D08-392E-4BE1-9B14-3F97120CA18B}" presName="Name13" presStyleLbl="parChTrans1D2" presStyleIdx="2" presStyleCnt="6"/>
      <dgm:spPr/>
    </dgm:pt>
    <dgm:pt modelId="{08A735DB-4E1F-4605-8178-66A449AC1BB2}" type="pres">
      <dgm:prSet presAssocID="{5E148EBF-2EB5-487C-A84A-08998CD76BB7}" presName="childText" presStyleLbl="bgAcc1" presStyleIdx="2" presStyleCnt="6" custScaleX="378056" custLinFactNeighborX="-61112">
        <dgm:presLayoutVars>
          <dgm:bulletEnabled val="1"/>
        </dgm:presLayoutVars>
      </dgm:prSet>
      <dgm:spPr/>
    </dgm:pt>
    <dgm:pt modelId="{172420C5-C642-4E23-8BCE-E82694121490}" type="pres">
      <dgm:prSet presAssocID="{FDE9353F-F89B-4F97-ADC5-22417B99EEF5}" presName="root" presStyleCnt="0"/>
      <dgm:spPr/>
    </dgm:pt>
    <dgm:pt modelId="{34B83B97-08FF-4DC6-919D-1C8742B7576A}" type="pres">
      <dgm:prSet presAssocID="{FDE9353F-F89B-4F97-ADC5-22417B99EEF5}" presName="rootComposite" presStyleCnt="0"/>
      <dgm:spPr/>
    </dgm:pt>
    <dgm:pt modelId="{CF6D9EBE-6D4F-45DB-B63C-66E318350665}" type="pres">
      <dgm:prSet presAssocID="{FDE9353F-F89B-4F97-ADC5-22417B99EEF5}" presName="rootText" presStyleLbl="node1" presStyleIdx="1" presStyleCnt="2"/>
      <dgm:spPr/>
    </dgm:pt>
    <dgm:pt modelId="{FFFA6021-95BD-4804-A726-42B6E8065B83}" type="pres">
      <dgm:prSet presAssocID="{FDE9353F-F89B-4F97-ADC5-22417B99EEF5}" presName="rootConnector" presStyleLbl="node1" presStyleIdx="1" presStyleCnt="2"/>
      <dgm:spPr/>
    </dgm:pt>
    <dgm:pt modelId="{ABF0D8E4-5E93-4122-950B-0287C64E7E00}" type="pres">
      <dgm:prSet presAssocID="{FDE9353F-F89B-4F97-ADC5-22417B99EEF5}" presName="childShape" presStyleCnt="0"/>
      <dgm:spPr/>
    </dgm:pt>
    <dgm:pt modelId="{D73DB642-839F-46E4-BEFB-357122DA8B2A}" type="pres">
      <dgm:prSet presAssocID="{730A02EE-39C4-4F26-9573-658C50E91867}" presName="Name13" presStyleLbl="parChTrans1D2" presStyleIdx="3" presStyleCnt="6"/>
      <dgm:spPr/>
    </dgm:pt>
    <dgm:pt modelId="{366E8205-074B-465F-84D3-7E9C2A4B087A}" type="pres">
      <dgm:prSet presAssocID="{D4E06A52-91F5-4177-AA54-D298036A0598}" presName="childText" presStyleLbl="bgAcc1" presStyleIdx="3" presStyleCnt="6" custScaleX="378194" custScaleY="142147" custLinFactNeighborX="11750">
        <dgm:presLayoutVars>
          <dgm:bulletEnabled val="1"/>
        </dgm:presLayoutVars>
      </dgm:prSet>
      <dgm:spPr/>
    </dgm:pt>
    <dgm:pt modelId="{C7786CBF-29A7-4F46-ACE1-BFAF2ED2906F}" type="pres">
      <dgm:prSet presAssocID="{85967721-5B7F-4D6B-ADDE-3DE6B93A85B9}" presName="Name13" presStyleLbl="parChTrans1D2" presStyleIdx="4" presStyleCnt="6"/>
      <dgm:spPr/>
    </dgm:pt>
    <dgm:pt modelId="{D4FAB220-39C0-4BB8-B879-AEB1A16B7CDC}" type="pres">
      <dgm:prSet presAssocID="{DD4BC036-F4FD-462C-907D-B7F6B229CCE6}" presName="childText" presStyleLbl="bgAcc1" presStyleIdx="4" presStyleCnt="6" custScaleX="378194" custScaleY="142780" custLinFactNeighborX="11750">
        <dgm:presLayoutVars>
          <dgm:bulletEnabled val="1"/>
        </dgm:presLayoutVars>
      </dgm:prSet>
      <dgm:spPr/>
    </dgm:pt>
    <dgm:pt modelId="{55CE1C91-58A7-4FD4-86EE-26622EF07DF3}" type="pres">
      <dgm:prSet presAssocID="{81F2FDAA-970B-4BD0-9CE1-4DD499C666F7}" presName="Name13" presStyleLbl="parChTrans1D2" presStyleIdx="5" presStyleCnt="6"/>
      <dgm:spPr/>
    </dgm:pt>
    <dgm:pt modelId="{2747B9FB-319E-4006-A500-0E79D539374F}" type="pres">
      <dgm:prSet presAssocID="{796DC1B7-9303-4BF9-ADBA-2F3A2A3FBE6B}" presName="childText" presStyleLbl="bgAcc1" presStyleIdx="5" presStyleCnt="6" custScaleX="378194" custLinFactNeighborX="13673">
        <dgm:presLayoutVars>
          <dgm:bulletEnabled val="1"/>
        </dgm:presLayoutVars>
      </dgm:prSet>
      <dgm:spPr/>
    </dgm:pt>
  </dgm:ptLst>
  <dgm:cxnLst>
    <dgm:cxn modelId="{EEB84225-CB6C-4BAC-B1AF-19A26231A51D}" srcId="{FDE9353F-F89B-4F97-ADC5-22417B99EEF5}" destId="{796DC1B7-9303-4BF9-ADBA-2F3A2A3FBE6B}" srcOrd="2" destOrd="0" parTransId="{81F2FDAA-970B-4BD0-9CE1-4DD499C666F7}" sibTransId="{5EDF14EE-9165-40CE-AECD-1659094E2CA3}"/>
    <dgm:cxn modelId="{429E032C-5CA4-4CE2-ABDA-A9D54787265E}" type="presOf" srcId="{50644C00-718E-45C3-8ABB-FFE825DC5B7F}" destId="{5F5FD024-96B9-4927-9522-4793C366CCDF}" srcOrd="0" destOrd="0" presId="urn:microsoft.com/office/officeart/2005/8/layout/hierarchy3"/>
    <dgm:cxn modelId="{E2F31064-17B6-4A9F-90F0-643AB7AC015D}" srcId="{0DA5C5DE-6D17-4EDE-B920-CE5FB3D41ABA}" destId="{85ACDDF9-B7B9-4AE3-AEFD-342A1ED3FDD3}" srcOrd="0" destOrd="0" parTransId="{50644C00-718E-45C3-8ABB-FFE825DC5B7F}" sibTransId="{EE9E075A-BD56-47AA-9D15-0D4E098D5773}"/>
    <dgm:cxn modelId="{11C7D167-428D-489B-81C5-0A60BAB5E04E}" type="presOf" srcId="{4994F04D-6077-4FB2-937D-03324B9DAB34}" destId="{220E4BB7-E5A6-4374-B95C-9515D05C4860}" srcOrd="0" destOrd="0" presId="urn:microsoft.com/office/officeart/2005/8/layout/hierarchy3"/>
    <dgm:cxn modelId="{6D5D1C6F-7B2D-4E31-A697-53DA47EE9776}" type="presOf" srcId="{0DA5C5DE-6D17-4EDE-B920-CE5FB3D41ABA}" destId="{880F44A1-54FE-446F-9390-56E51903722C}" srcOrd="0" destOrd="0" presId="urn:microsoft.com/office/officeart/2005/8/layout/hierarchy3"/>
    <dgm:cxn modelId="{D27BD678-416C-4308-A85E-350536D97DD6}" type="presOf" srcId="{81F2FDAA-970B-4BD0-9CE1-4DD499C666F7}" destId="{55CE1C91-58A7-4FD4-86EE-26622EF07DF3}" srcOrd="0" destOrd="0" presId="urn:microsoft.com/office/officeart/2005/8/layout/hierarchy3"/>
    <dgm:cxn modelId="{EFA62D59-6CC5-4E3F-AEA4-3141D3C610F5}" type="presOf" srcId="{FDE9353F-F89B-4F97-ADC5-22417B99EEF5}" destId="{CF6D9EBE-6D4F-45DB-B63C-66E318350665}" srcOrd="0" destOrd="0" presId="urn:microsoft.com/office/officeart/2005/8/layout/hierarchy3"/>
    <dgm:cxn modelId="{19DBB079-643A-4F69-A2F1-98B8FBFA7B0E}" type="presOf" srcId="{85967721-5B7F-4D6B-ADDE-3DE6B93A85B9}" destId="{C7786CBF-29A7-4F46-ACE1-BFAF2ED2906F}" srcOrd="0" destOrd="0" presId="urn:microsoft.com/office/officeart/2005/8/layout/hierarchy3"/>
    <dgm:cxn modelId="{B431FE79-1E9F-4A89-B761-7DCF3F7BBA25}" type="presOf" srcId="{5E148EBF-2EB5-487C-A84A-08998CD76BB7}" destId="{08A735DB-4E1F-4605-8178-66A449AC1BB2}" srcOrd="0" destOrd="0" presId="urn:microsoft.com/office/officeart/2005/8/layout/hierarchy3"/>
    <dgm:cxn modelId="{6E76387C-082B-4C1A-BAF0-5C6D342ECFFE}" type="presOf" srcId="{796DC1B7-9303-4BF9-ADBA-2F3A2A3FBE6B}" destId="{2747B9FB-319E-4006-A500-0E79D539374F}" srcOrd="0" destOrd="0" presId="urn:microsoft.com/office/officeart/2005/8/layout/hierarchy3"/>
    <dgm:cxn modelId="{98920D84-2D94-4AB0-A8BA-616CE05A6683}" srcId="{4994F04D-6077-4FB2-937D-03324B9DAB34}" destId="{FDE9353F-F89B-4F97-ADC5-22417B99EEF5}" srcOrd="1" destOrd="0" parTransId="{B2C123C1-4D4A-4AFA-AAC7-499F5F557CA3}" sibTransId="{F5F63407-A2E4-4341-BE61-AC23ED700CB0}"/>
    <dgm:cxn modelId="{4C25B78B-B570-4056-98CA-440F138F90E1}" srcId="{0DA5C5DE-6D17-4EDE-B920-CE5FB3D41ABA}" destId="{5E148EBF-2EB5-487C-A84A-08998CD76BB7}" srcOrd="2" destOrd="0" parTransId="{21295D08-392E-4BE1-9B14-3F97120CA18B}" sibTransId="{76AFDFB6-ED54-46D5-B15F-407D349B5792}"/>
    <dgm:cxn modelId="{C3F2CC92-97D8-4C8F-BAE2-1F1ECD649BD4}" type="presOf" srcId="{85ACDDF9-B7B9-4AE3-AEFD-342A1ED3FDD3}" destId="{8271D559-F991-45A8-861F-E02D43E73A7A}" srcOrd="0" destOrd="0" presId="urn:microsoft.com/office/officeart/2005/8/layout/hierarchy3"/>
    <dgm:cxn modelId="{0B5C2F94-404E-47DB-B678-7B4A9D8702F3}" type="presOf" srcId="{0DA5C5DE-6D17-4EDE-B920-CE5FB3D41ABA}" destId="{804607B6-F4FB-4B08-9326-1AA34A273A5D}" srcOrd="1" destOrd="0" presId="urn:microsoft.com/office/officeart/2005/8/layout/hierarchy3"/>
    <dgm:cxn modelId="{E6AC0D9A-182A-4F10-BA90-83D5595123D1}" srcId="{FDE9353F-F89B-4F97-ADC5-22417B99EEF5}" destId="{DD4BC036-F4FD-462C-907D-B7F6B229CCE6}" srcOrd="1" destOrd="0" parTransId="{85967721-5B7F-4D6B-ADDE-3DE6B93A85B9}" sibTransId="{4DE26604-E6BC-447F-9C0B-6472723CCE81}"/>
    <dgm:cxn modelId="{561A719E-D6CC-459B-9EF3-F609B63F1D4E}" type="presOf" srcId="{DD4BC036-F4FD-462C-907D-B7F6B229CCE6}" destId="{D4FAB220-39C0-4BB8-B879-AEB1A16B7CDC}" srcOrd="0" destOrd="0" presId="urn:microsoft.com/office/officeart/2005/8/layout/hierarchy3"/>
    <dgm:cxn modelId="{B342A0AB-0F65-4C75-907F-2694EA5299EC}" srcId="{FDE9353F-F89B-4F97-ADC5-22417B99EEF5}" destId="{D4E06A52-91F5-4177-AA54-D298036A0598}" srcOrd="0" destOrd="0" parTransId="{730A02EE-39C4-4F26-9573-658C50E91867}" sibTransId="{8E8D6502-6A43-42CC-86CF-1ACBA7051209}"/>
    <dgm:cxn modelId="{8CECFFAC-0125-483E-B460-F62B0965C1A0}" type="presOf" srcId="{51AD83D2-E860-474C-AB22-849ADFDF4DBE}" destId="{D504C716-6CF6-4108-8639-E75778C37519}" srcOrd="0" destOrd="0" presId="urn:microsoft.com/office/officeart/2005/8/layout/hierarchy3"/>
    <dgm:cxn modelId="{3FBBBCB0-EDA8-41DA-B8BD-9E1C22727D88}" type="presOf" srcId="{730A02EE-39C4-4F26-9573-658C50E91867}" destId="{D73DB642-839F-46E4-BEFB-357122DA8B2A}" srcOrd="0" destOrd="0" presId="urn:microsoft.com/office/officeart/2005/8/layout/hierarchy3"/>
    <dgm:cxn modelId="{53ED03CC-F042-4EAD-AEC3-6DF8D6C596EE}" type="presOf" srcId="{D4E06A52-91F5-4177-AA54-D298036A0598}" destId="{366E8205-074B-465F-84D3-7E9C2A4B087A}" srcOrd="0" destOrd="0" presId="urn:microsoft.com/office/officeart/2005/8/layout/hierarchy3"/>
    <dgm:cxn modelId="{30A3C7D7-737E-45E4-B2EB-EA198C32BC2B}" srcId="{0DA5C5DE-6D17-4EDE-B920-CE5FB3D41ABA}" destId="{1621BA61-E464-4E81-97EC-EDA49E7881F8}" srcOrd="1" destOrd="0" parTransId="{51AD83D2-E860-474C-AB22-849ADFDF4DBE}" sibTransId="{2E1B2228-FB84-45C7-9335-000068211608}"/>
    <dgm:cxn modelId="{3F2313E1-88F4-4D75-80DD-D53E7FA40098}" srcId="{4994F04D-6077-4FB2-937D-03324B9DAB34}" destId="{0DA5C5DE-6D17-4EDE-B920-CE5FB3D41ABA}" srcOrd="0" destOrd="0" parTransId="{28418661-558A-435A-8A4F-56BB2E6D2A79}" sibTransId="{3B7799A1-52B3-4216-A827-D62622C7BECB}"/>
    <dgm:cxn modelId="{E51745E3-753D-4294-9A56-14DE5D0AF141}" type="presOf" srcId="{21295D08-392E-4BE1-9B14-3F97120CA18B}" destId="{9164C2E8-A8A5-4BDA-B5B7-3599D5C7C4A2}" srcOrd="0" destOrd="0" presId="urn:microsoft.com/office/officeart/2005/8/layout/hierarchy3"/>
    <dgm:cxn modelId="{2F98EDE6-9660-47D6-AABF-203EC4E4D722}" type="presOf" srcId="{1621BA61-E464-4E81-97EC-EDA49E7881F8}" destId="{B24467C9-0F5C-4007-8028-B7B163F30ADF}" srcOrd="0" destOrd="0" presId="urn:microsoft.com/office/officeart/2005/8/layout/hierarchy3"/>
    <dgm:cxn modelId="{CEF6D1FE-8B92-487F-B25D-97D16645420C}" type="presOf" srcId="{FDE9353F-F89B-4F97-ADC5-22417B99EEF5}" destId="{FFFA6021-95BD-4804-A726-42B6E8065B83}" srcOrd="1" destOrd="0" presId="urn:microsoft.com/office/officeart/2005/8/layout/hierarchy3"/>
    <dgm:cxn modelId="{0EBC80BE-53F5-438D-86FE-F57B0827D7DD}" type="presParOf" srcId="{220E4BB7-E5A6-4374-B95C-9515D05C4860}" destId="{F20CB88D-283A-40E6-969B-F760513B269C}" srcOrd="0" destOrd="0" presId="urn:microsoft.com/office/officeart/2005/8/layout/hierarchy3"/>
    <dgm:cxn modelId="{B53C1762-0E07-4C72-AA06-EFAC8B699700}" type="presParOf" srcId="{F20CB88D-283A-40E6-969B-F760513B269C}" destId="{16E92C0E-1962-4079-9E86-E1F4B29DC174}" srcOrd="0" destOrd="0" presId="urn:microsoft.com/office/officeart/2005/8/layout/hierarchy3"/>
    <dgm:cxn modelId="{45C29D17-CFF2-4E94-A70F-20AF919267ED}" type="presParOf" srcId="{16E92C0E-1962-4079-9E86-E1F4B29DC174}" destId="{880F44A1-54FE-446F-9390-56E51903722C}" srcOrd="0" destOrd="0" presId="urn:microsoft.com/office/officeart/2005/8/layout/hierarchy3"/>
    <dgm:cxn modelId="{0B645A9D-BD61-4503-B84E-156522EC118D}" type="presParOf" srcId="{16E92C0E-1962-4079-9E86-E1F4B29DC174}" destId="{804607B6-F4FB-4B08-9326-1AA34A273A5D}" srcOrd="1" destOrd="0" presId="urn:microsoft.com/office/officeart/2005/8/layout/hierarchy3"/>
    <dgm:cxn modelId="{9B55401E-66D9-4711-B1F2-F2EBD3C4B4B8}" type="presParOf" srcId="{F20CB88D-283A-40E6-969B-F760513B269C}" destId="{4DA6A816-DA95-479C-9A39-3F04BD93D8C4}" srcOrd="1" destOrd="0" presId="urn:microsoft.com/office/officeart/2005/8/layout/hierarchy3"/>
    <dgm:cxn modelId="{5B2AA82A-4D24-48D8-A154-5B97BC59D045}" type="presParOf" srcId="{4DA6A816-DA95-479C-9A39-3F04BD93D8C4}" destId="{5F5FD024-96B9-4927-9522-4793C366CCDF}" srcOrd="0" destOrd="0" presId="urn:microsoft.com/office/officeart/2005/8/layout/hierarchy3"/>
    <dgm:cxn modelId="{639EF7CC-298A-4D73-8FE1-56FBD4676B4E}" type="presParOf" srcId="{4DA6A816-DA95-479C-9A39-3F04BD93D8C4}" destId="{8271D559-F991-45A8-861F-E02D43E73A7A}" srcOrd="1" destOrd="0" presId="urn:microsoft.com/office/officeart/2005/8/layout/hierarchy3"/>
    <dgm:cxn modelId="{A840F6A9-5E93-44DB-B6F7-1213903729E3}" type="presParOf" srcId="{4DA6A816-DA95-479C-9A39-3F04BD93D8C4}" destId="{D504C716-6CF6-4108-8639-E75778C37519}" srcOrd="2" destOrd="0" presId="urn:microsoft.com/office/officeart/2005/8/layout/hierarchy3"/>
    <dgm:cxn modelId="{C9702349-9912-40C9-BE52-19E991F9BB01}" type="presParOf" srcId="{4DA6A816-DA95-479C-9A39-3F04BD93D8C4}" destId="{B24467C9-0F5C-4007-8028-B7B163F30ADF}" srcOrd="3" destOrd="0" presId="urn:microsoft.com/office/officeart/2005/8/layout/hierarchy3"/>
    <dgm:cxn modelId="{41E5E31A-D04C-4C7E-8330-AF99F5C0860E}" type="presParOf" srcId="{4DA6A816-DA95-479C-9A39-3F04BD93D8C4}" destId="{9164C2E8-A8A5-4BDA-B5B7-3599D5C7C4A2}" srcOrd="4" destOrd="0" presId="urn:microsoft.com/office/officeart/2005/8/layout/hierarchy3"/>
    <dgm:cxn modelId="{DB6D0EC9-6402-484A-836E-FC7D5DE53260}" type="presParOf" srcId="{4DA6A816-DA95-479C-9A39-3F04BD93D8C4}" destId="{08A735DB-4E1F-4605-8178-66A449AC1BB2}" srcOrd="5" destOrd="0" presId="urn:microsoft.com/office/officeart/2005/8/layout/hierarchy3"/>
    <dgm:cxn modelId="{64922071-3669-4F75-97C5-2D85F6B1332A}" type="presParOf" srcId="{220E4BB7-E5A6-4374-B95C-9515D05C4860}" destId="{172420C5-C642-4E23-8BCE-E82694121490}" srcOrd="1" destOrd="0" presId="urn:microsoft.com/office/officeart/2005/8/layout/hierarchy3"/>
    <dgm:cxn modelId="{6B56C3C5-7728-44C3-B4E8-E23CFA59848C}" type="presParOf" srcId="{172420C5-C642-4E23-8BCE-E82694121490}" destId="{34B83B97-08FF-4DC6-919D-1C8742B7576A}" srcOrd="0" destOrd="0" presId="urn:microsoft.com/office/officeart/2005/8/layout/hierarchy3"/>
    <dgm:cxn modelId="{C2AFBC1A-9879-4F2D-B895-A4CC0AF54F80}" type="presParOf" srcId="{34B83B97-08FF-4DC6-919D-1C8742B7576A}" destId="{CF6D9EBE-6D4F-45DB-B63C-66E318350665}" srcOrd="0" destOrd="0" presId="urn:microsoft.com/office/officeart/2005/8/layout/hierarchy3"/>
    <dgm:cxn modelId="{50B1E573-69A7-4817-9860-A7C98AE9FDC6}" type="presParOf" srcId="{34B83B97-08FF-4DC6-919D-1C8742B7576A}" destId="{FFFA6021-95BD-4804-A726-42B6E8065B83}" srcOrd="1" destOrd="0" presId="urn:microsoft.com/office/officeart/2005/8/layout/hierarchy3"/>
    <dgm:cxn modelId="{5508B303-66A0-414A-BCD8-3EFD071C8919}" type="presParOf" srcId="{172420C5-C642-4E23-8BCE-E82694121490}" destId="{ABF0D8E4-5E93-4122-950B-0287C64E7E00}" srcOrd="1" destOrd="0" presId="urn:microsoft.com/office/officeart/2005/8/layout/hierarchy3"/>
    <dgm:cxn modelId="{F438FCBD-493B-4D53-8F94-D57FC7103C1A}" type="presParOf" srcId="{ABF0D8E4-5E93-4122-950B-0287C64E7E00}" destId="{D73DB642-839F-46E4-BEFB-357122DA8B2A}" srcOrd="0" destOrd="0" presId="urn:microsoft.com/office/officeart/2005/8/layout/hierarchy3"/>
    <dgm:cxn modelId="{CEE9B681-3E37-410E-A2F7-6B6575EB59D9}" type="presParOf" srcId="{ABF0D8E4-5E93-4122-950B-0287C64E7E00}" destId="{366E8205-074B-465F-84D3-7E9C2A4B087A}" srcOrd="1" destOrd="0" presId="urn:microsoft.com/office/officeart/2005/8/layout/hierarchy3"/>
    <dgm:cxn modelId="{2B89A0CE-F96B-4214-9B34-9CAC6DB90F9C}" type="presParOf" srcId="{ABF0D8E4-5E93-4122-950B-0287C64E7E00}" destId="{C7786CBF-29A7-4F46-ACE1-BFAF2ED2906F}" srcOrd="2" destOrd="0" presId="urn:microsoft.com/office/officeart/2005/8/layout/hierarchy3"/>
    <dgm:cxn modelId="{073634BA-8614-4B4E-B8F4-0AC500241BBE}" type="presParOf" srcId="{ABF0D8E4-5E93-4122-950B-0287C64E7E00}" destId="{D4FAB220-39C0-4BB8-B879-AEB1A16B7CDC}" srcOrd="3" destOrd="0" presId="urn:microsoft.com/office/officeart/2005/8/layout/hierarchy3"/>
    <dgm:cxn modelId="{A7153FBF-73E7-4AF6-ACF0-BE39A09D608D}" type="presParOf" srcId="{ABF0D8E4-5E93-4122-950B-0287C64E7E00}" destId="{55CE1C91-58A7-4FD4-86EE-26622EF07DF3}" srcOrd="4" destOrd="0" presId="urn:microsoft.com/office/officeart/2005/8/layout/hierarchy3"/>
    <dgm:cxn modelId="{19BDD52D-F6AB-4507-8E34-0241641AC8A6}" type="presParOf" srcId="{ABF0D8E4-5E93-4122-950B-0287C64E7E00}" destId="{2747B9FB-319E-4006-A500-0E79D539374F}" srcOrd="5"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300B65F-B770-4533-9743-A8EABAF11F51}">
      <dsp:nvSpPr>
        <dsp:cNvPr id="0" name=""/>
        <dsp:cNvSpPr/>
      </dsp:nvSpPr>
      <dsp:spPr>
        <a:xfrm rot="5400000">
          <a:off x="4781479" y="-2045078"/>
          <a:ext cx="1061766" cy="5417431"/>
        </a:xfrm>
        <a:prstGeom prst="round2SameRect">
          <a:avLst/>
        </a:prstGeom>
        <a:solidFill>
          <a:schemeClr val="accent5">
            <a:tint val="40000"/>
            <a:alpha val="90000"/>
            <a:hueOff val="0"/>
            <a:satOff val="0"/>
            <a:lumOff val="0"/>
            <a:alphaOff val="0"/>
          </a:schemeClr>
        </a:solidFill>
        <a:ln w="25400" cap="flat" cmpd="sng" algn="ctr">
          <a:solidFill>
            <a:schemeClr val="accent5">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游戏，视频，社交，电子邮件，购物，网店，</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网银，无现金支付，数字钱包，数字货币，</a:t>
          </a:r>
          <a:r>
            <a:rPr lang="en-US" altLang="en-US" sz="1800" b="1" kern="1200" dirty="0">
              <a:latin typeface="微软雅黑" panose="020B0503020204020204" pitchFamily="34" charset="-122"/>
              <a:ea typeface="微软雅黑" panose="020B0503020204020204" pitchFamily="34" charset="-122"/>
            </a:rPr>
            <a:t>…</a:t>
          </a:r>
          <a:endParaRPr lang="zh-CN" altLang="en-US" sz="1800" b="1" kern="1200" dirty="0">
            <a:latin typeface="微软雅黑" panose="020B0503020204020204" pitchFamily="34" charset="-122"/>
            <a:ea typeface="微软雅黑" panose="020B0503020204020204" pitchFamily="34" charset="-122"/>
          </a:endParaRPr>
        </a:p>
      </dsp:txBody>
      <dsp:txXfrm rot="-5400000">
        <a:off x="2603647" y="184585"/>
        <a:ext cx="5365600" cy="958104"/>
      </dsp:txXfrm>
    </dsp:sp>
    <dsp:sp modelId="{A8F7779F-E35A-4E50-A04D-CB1AA6356A21}">
      <dsp:nvSpPr>
        <dsp:cNvPr id="0" name=""/>
        <dsp:cNvSpPr/>
      </dsp:nvSpPr>
      <dsp:spPr>
        <a:xfrm>
          <a:off x="454058" y="33"/>
          <a:ext cx="2159990" cy="1327208"/>
        </a:xfrm>
        <a:prstGeom prst="round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应用和服务</a:t>
          </a:r>
        </a:p>
      </dsp:txBody>
      <dsp:txXfrm>
        <a:off x="518847" y="64822"/>
        <a:ext cx="2030412" cy="1197630"/>
      </dsp:txXfrm>
    </dsp:sp>
    <dsp:sp modelId="{6AEF0EF9-F4C4-41ED-9DA7-A897E4EBD001}">
      <dsp:nvSpPr>
        <dsp:cNvPr id="0" name=""/>
        <dsp:cNvSpPr/>
      </dsp:nvSpPr>
      <dsp:spPr>
        <a:xfrm rot="5400000">
          <a:off x="4781479" y="-651509"/>
          <a:ext cx="1061766" cy="5417431"/>
        </a:xfrm>
        <a:prstGeom prst="round2SameRect">
          <a:avLst/>
        </a:prstGeom>
        <a:solidFill>
          <a:schemeClr val="accent5">
            <a:tint val="40000"/>
            <a:alpha val="90000"/>
            <a:hueOff val="-10740482"/>
            <a:satOff val="48253"/>
            <a:lumOff val="3317"/>
            <a:alphaOff val="0"/>
          </a:schemeClr>
        </a:solidFill>
        <a:ln w="25400" cap="flat" cmpd="sng" algn="ctr">
          <a:solidFill>
            <a:schemeClr val="accent5">
              <a:tint val="40000"/>
              <a:alpha val="90000"/>
              <a:hueOff val="-10740482"/>
              <a:satOff val="48253"/>
              <a:lumOff val="3317"/>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互连结构，交换技术，</a:t>
          </a:r>
        </a:p>
        <a:p>
          <a:pPr marL="171450" lvl="1" indent="-171450" algn="l" defTabSz="800100">
            <a:lnSpc>
              <a:spcPct val="90000"/>
            </a:lnSpc>
            <a:spcBef>
              <a:spcPct val="0"/>
            </a:spcBef>
            <a:spcAft>
              <a:spcPct val="15000"/>
            </a:spcAft>
            <a:buChar char="•"/>
          </a:pPr>
          <a:r>
            <a:rPr lang="en-US" altLang="zh-CN" sz="1800" b="1" kern="1200" dirty="0">
              <a:latin typeface="微软雅黑" panose="020B0503020204020204" pitchFamily="34" charset="-122"/>
              <a:ea typeface="微软雅黑" panose="020B0503020204020204" pitchFamily="34" charset="-122"/>
            </a:rPr>
            <a:t>TCP/IP </a:t>
          </a:r>
          <a:r>
            <a:rPr lang="zh-CN" altLang="en-US" sz="1800" b="1" kern="1200" dirty="0">
              <a:latin typeface="微软雅黑" panose="020B0503020204020204" pitchFamily="34" charset="-122"/>
              <a:ea typeface="微软雅黑" panose="020B0503020204020204" pitchFamily="34" charset="-122"/>
            </a:rPr>
            <a:t>体系结构与协议，</a:t>
          </a:r>
          <a:r>
            <a:rPr lang="en-US" altLang="zh-CN" sz="1800" b="1" kern="1200" dirty="0">
              <a:latin typeface="微软雅黑" panose="020B0503020204020204" pitchFamily="34" charset="-122"/>
              <a:ea typeface="微软雅黑" panose="020B0503020204020204" pitchFamily="34" charset="-122"/>
            </a:rPr>
            <a:t>…</a:t>
          </a:r>
          <a:endParaRPr lang="zh-CN" altLang="en-US" sz="1800" b="1" kern="1200" dirty="0">
            <a:latin typeface="微软雅黑" panose="020B0503020204020204" pitchFamily="34" charset="-122"/>
            <a:ea typeface="微软雅黑" panose="020B0503020204020204" pitchFamily="34" charset="-122"/>
          </a:endParaRPr>
        </a:p>
      </dsp:txBody>
      <dsp:txXfrm rot="-5400000">
        <a:off x="2603647" y="1578154"/>
        <a:ext cx="5365600" cy="958104"/>
      </dsp:txXfrm>
    </dsp:sp>
    <dsp:sp modelId="{46CFA115-E89F-48DD-8ECE-95299141CF01}">
      <dsp:nvSpPr>
        <dsp:cNvPr id="0" name=""/>
        <dsp:cNvSpPr/>
      </dsp:nvSpPr>
      <dsp:spPr>
        <a:xfrm>
          <a:off x="443657" y="1393602"/>
          <a:ext cx="2159990" cy="1327208"/>
        </a:xfrm>
        <a:prstGeom prst="roundRect">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工作原理</a:t>
          </a:r>
        </a:p>
      </dsp:txBody>
      <dsp:txXfrm>
        <a:off x="508446" y="1458391"/>
        <a:ext cx="2030412" cy="119763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0E1915-9D9D-42CA-B042-4CD43E01EB46}">
      <dsp:nvSpPr>
        <dsp:cNvPr id="0" name=""/>
        <dsp:cNvSpPr/>
      </dsp:nvSpPr>
      <dsp:spPr>
        <a:xfrm>
          <a:off x="31" y="8094"/>
          <a:ext cx="3056109" cy="662425"/>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连通性 </a:t>
          </a:r>
          <a:r>
            <a:rPr lang="en-US" altLang="en-US" sz="1800" b="1" kern="1200" dirty="0">
              <a:latin typeface="微软雅黑" panose="020B0503020204020204" pitchFamily="34" charset="-122"/>
              <a:ea typeface="微软雅黑" panose="020B0503020204020204" pitchFamily="34" charset="-122"/>
            </a:rPr>
            <a:t>(connectivity)</a:t>
          </a:r>
          <a:endParaRPr lang="zh-CN" altLang="en-US" sz="1800" b="1" kern="1200" dirty="0">
            <a:latin typeface="微软雅黑" panose="020B0503020204020204" pitchFamily="34" charset="-122"/>
            <a:ea typeface="微软雅黑" panose="020B0503020204020204" pitchFamily="34" charset="-122"/>
          </a:endParaRPr>
        </a:p>
      </dsp:txBody>
      <dsp:txXfrm>
        <a:off x="31" y="8094"/>
        <a:ext cx="3056109" cy="662425"/>
      </dsp:txXfrm>
    </dsp:sp>
    <dsp:sp modelId="{95E3CB40-70C8-4251-9371-65AB16983D1B}">
      <dsp:nvSpPr>
        <dsp:cNvPr id="0" name=""/>
        <dsp:cNvSpPr/>
      </dsp:nvSpPr>
      <dsp:spPr>
        <a:xfrm>
          <a:off x="0" y="671624"/>
          <a:ext cx="3056109" cy="2093062"/>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使上网用户之间可以非常便捷、非常经济地交换各种信息</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好像这些用户终端都彼此直接连通一样。</a:t>
          </a:r>
        </a:p>
      </dsp:txBody>
      <dsp:txXfrm>
        <a:off x="0" y="671624"/>
        <a:ext cx="3056109" cy="2093062"/>
      </dsp:txXfrm>
    </dsp:sp>
    <dsp:sp modelId="{40C4515B-BD55-4381-85FB-4FE091B3440E}">
      <dsp:nvSpPr>
        <dsp:cNvPr id="0" name=""/>
        <dsp:cNvSpPr/>
      </dsp:nvSpPr>
      <dsp:spPr>
        <a:xfrm>
          <a:off x="3483996" y="8094"/>
          <a:ext cx="3056109" cy="662425"/>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资源共享 </a:t>
          </a:r>
          <a:r>
            <a:rPr lang="en-US" altLang="en-US" sz="1800" b="1" kern="1200" dirty="0">
              <a:latin typeface="微软雅黑" panose="020B0503020204020204" pitchFamily="34" charset="-122"/>
              <a:ea typeface="微软雅黑" panose="020B0503020204020204" pitchFamily="34" charset="-122"/>
            </a:rPr>
            <a:t>(Sharing)</a:t>
          </a:r>
          <a:endParaRPr lang="zh-CN" altLang="en-US" sz="1800" b="1" kern="1200" dirty="0">
            <a:latin typeface="微软雅黑" panose="020B0503020204020204" pitchFamily="34" charset="-122"/>
            <a:ea typeface="微软雅黑" panose="020B0503020204020204" pitchFamily="34" charset="-122"/>
          </a:endParaRPr>
        </a:p>
      </dsp:txBody>
      <dsp:txXfrm>
        <a:off x="3483996" y="8094"/>
        <a:ext cx="3056109" cy="662425"/>
      </dsp:txXfrm>
    </dsp:sp>
    <dsp:sp modelId="{91A65E31-AD27-4BEE-B472-DF1900C7D724}">
      <dsp:nvSpPr>
        <dsp:cNvPr id="0" name=""/>
        <dsp:cNvSpPr/>
      </dsp:nvSpPr>
      <dsp:spPr>
        <a:xfrm>
          <a:off x="3483996" y="671624"/>
          <a:ext cx="3056109" cy="2093062"/>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实现信息共享、软件共享、硬件共享。</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由于网络的存在，这些资源好像就在用户身边一样地方便使用。</a:t>
          </a:r>
        </a:p>
      </dsp:txBody>
      <dsp:txXfrm>
        <a:off x="3483996" y="671624"/>
        <a:ext cx="3056109" cy="20930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7450F4-F441-4296-8335-01351F8E1B2B}">
      <dsp:nvSpPr>
        <dsp:cNvPr id="0" name=""/>
        <dsp:cNvSpPr/>
      </dsp:nvSpPr>
      <dsp:spPr>
        <a:xfrm>
          <a:off x="2073320" y="597217"/>
          <a:ext cx="1487805" cy="1487805"/>
        </a:xfrm>
        <a:prstGeom prst="ellipse">
          <a:avLst/>
        </a:prstGeom>
        <a:gradFill rotWithShape="0">
          <a:gsLst>
            <a:gs pos="0">
              <a:schemeClr val="accent2">
                <a:alpha val="50000"/>
                <a:hueOff val="0"/>
                <a:satOff val="0"/>
                <a:lumOff val="0"/>
                <a:alphaOff val="0"/>
                <a:shade val="51000"/>
                <a:satMod val="130000"/>
              </a:schemeClr>
            </a:gs>
            <a:gs pos="80000">
              <a:schemeClr val="accent2">
                <a:alpha val="50000"/>
                <a:hueOff val="0"/>
                <a:satOff val="0"/>
                <a:lumOff val="0"/>
                <a:alphaOff val="0"/>
                <a:shade val="93000"/>
                <a:satMod val="130000"/>
              </a:schemeClr>
            </a:gs>
            <a:gs pos="100000">
              <a:schemeClr val="accent2">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互联网</a:t>
          </a:r>
        </a:p>
      </dsp:txBody>
      <dsp:txXfrm>
        <a:off x="2291204" y="815101"/>
        <a:ext cx="1052037" cy="1052037"/>
      </dsp:txXfrm>
    </dsp:sp>
    <dsp:sp modelId="{CE8AFE2D-2AC2-45F0-88B8-B2568168C3FF}">
      <dsp:nvSpPr>
        <dsp:cNvPr id="0" name=""/>
        <dsp:cNvSpPr/>
      </dsp:nvSpPr>
      <dsp:spPr>
        <a:xfrm>
          <a:off x="2445271" y="265"/>
          <a:ext cx="743902" cy="743902"/>
        </a:xfrm>
        <a:prstGeom prst="ellipse">
          <a:avLst/>
        </a:prstGeom>
        <a:gradFill rotWithShape="0">
          <a:gsLst>
            <a:gs pos="0">
              <a:schemeClr val="accent3">
                <a:alpha val="50000"/>
                <a:hueOff val="0"/>
                <a:satOff val="0"/>
                <a:lumOff val="0"/>
                <a:alphaOff val="0"/>
                <a:shade val="51000"/>
                <a:satMod val="130000"/>
              </a:schemeClr>
            </a:gs>
            <a:gs pos="80000">
              <a:schemeClr val="accent3">
                <a:alpha val="50000"/>
                <a:hueOff val="0"/>
                <a:satOff val="0"/>
                <a:lumOff val="0"/>
                <a:alphaOff val="0"/>
                <a:shade val="93000"/>
                <a:satMod val="130000"/>
              </a:schemeClr>
            </a:gs>
            <a:gs pos="100000">
              <a:schemeClr val="accent3">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工业</a:t>
          </a:r>
        </a:p>
      </dsp:txBody>
      <dsp:txXfrm>
        <a:off x="2554213" y="109207"/>
        <a:ext cx="526018" cy="526018"/>
      </dsp:txXfrm>
    </dsp:sp>
    <dsp:sp modelId="{670A9751-EDA7-44BE-84F6-DA052AFC6D1C}">
      <dsp:nvSpPr>
        <dsp:cNvPr id="0" name=""/>
        <dsp:cNvSpPr/>
      </dsp:nvSpPr>
      <dsp:spPr>
        <a:xfrm>
          <a:off x="3130389" y="284050"/>
          <a:ext cx="743902" cy="743902"/>
        </a:xfrm>
        <a:prstGeom prst="ellipse">
          <a:avLst/>
        </a:prstGeom>
        <a:gradFill rotWithShape="0">
          <a:gsLst>
            <a:gs pos="0">
              <a:schemeClr val="accent4">
                <a:alpha val="50000"/>
                <a:hueOff val="0"/>
                <a:satOff val="0"/>
                <a:lumOff val="0"/>
                <a:alphaOff val="0"/>
                <a:shade val="51000"/>
                <a:satMod val="130000"/>
              </a:schemeClr>
            </a:gs>
            <a:gs pos="80000">
              <a:schemeClr val="accent4">
                <a:alpha val="50000"/>
                <a:hueOff val="0"/>
                <a:satOff val="0"/>
                <a:lumOff val="0"/>
                <a:alphaOff val="0"/>
                <a:shade val="93000"/>
                <a:satMod val="130000"/>
              </a:schemeClr>
            </a:gs>
            <a:gs pos="100000">
              <a:schemeClr val="accent4">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农业</a:t>
          </a:r>
        </a:p>
      </dsp:txBody>
      <dsp:txXfrm>
        <a:off x="3239331" y="392992"/>
        <a:ext cx="526018" cy="526018"/>
      </dsp:txXfrm>
    </dsp:sp>
    <dsp:sp modelId="{242A4B1B-E8FC-49C8-BFF1-60EED0B2A276}">
      <dsp:nvSpPr>
        <dsp:cNvPr id="0" name=""/>
        <dsp:cNvSpPr/>
      </dsp:nvSpPr>
      <dsp:spPr>
        <a:xfrm>
          <a:off x="3414174" y="969168"/>
          <a:ext cx="743902" cy="743902"/>
        </a:xfrm>
        <a:prstGeom prst="ellipse">
          <a:avLst/>
        </a:prstGeom>
        <a:gradFill rotWithShape="0">
          <a:gsLst>
            <a:gs pos="0">
              <a:schemeClr val="accent5">
                <a:alpha val="50000"/>
                <a:hueOff val="0"/>
                <a:satOff val="0"/>
                <a:lumOff val="0"/>
                <a:alphaOff val="0"/>
                <a:shade val="51000"/>
                <a:satMod val="130000"/>
              </a:schemeClr>
            </a:gs>
            <a:gs pos="80000">
              <a:schemeClr val="accent5">
                <a:alpha val="50000"/>
                <a:hueOff val="0"/>
                <a:satOff val="0"/>
                <a:lumOff val="0"/>
                <a:alphaOff val="0"/>
                <a:shade val="93000"/>
                <a:satMod val="130000"/>
              </a:schemeClr>
            </a:gs>
            <a:gs pos="100000">
              <a:schemeClr val="accent5">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教育</a:t>
          </a:r>
        </a:p>
      </dsp:txBody>
      <dsp:txXfrm>
        <a:off x="3523116" y="1078110"/>
        <a:ext cx="526018" cy="526018"/>
      </dsp:txXfrm>
    </dsp:sp>
    <dsp:sp modelId="{C0A173BA-2876-4F61-AAD1-FA50AD3DFDD0}">
      <dsp:nvSpPr>
        <dsp:cNvPr id="0" name=""/>
        <dsp:cNvSpPr/>
      </dsp:nvSpPr>
      <dsp:spPr>
        <a:xfrm>
          <a:off x="3130389" y="1654286"/>
          <a:ext cx="743902" cy="743902"/>
        </a:xfrm>
        <a:prstGeom prst="ellipse">
          <a:avLst/>
        </a:prstGeom>
        <a:gradFill rotWithShape="0">
          <a:gsLst>
            <a:gs pos="0">
              <a:schemeClr val="accent6">
                <a:alpha val="50000"/>
                <a:hueOff val="0"/>
                <a:satOff val="0"/>
                <a:lumOff val="0"/>
                <a:alphaOff val="0"/>
                <a:shade val="51000"/>
                <a:satMod val="130000"/>
              </a:schemeClr>
            </a:gs>
            <a:gs pos="80000">
              <a:schemeClr val="accent6">
                <a:alpha val="50000"/>
                <a:hueOff val="0"/>
                <a:satOff val="0"/>
                <a:lumOff val="0"/>
                <a:alphaOff val="0"/>
                <a:shade val="93000"/>
                <a:satMod val="130000"/>
              </a:schemeClr>
            </a:gs>
            <a:gs pos="100000">
              <a:schemeClr val="accent6">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医疗</a:t>
          </a:r>
        </a:p>
      </dsp:txBody>
      <dsp:txXfrm>
        <a:off x="3239331" y="1763228"/>
        <a:ext cx="526018" cy="526018"/>
      </dsp:txXfrm>
    </dsp:sp>
    <dsp:sp modelId="{D951B7E8-AF72-41D8-8F8D-E56CFF2EB951}">
      <dsp:nvSpPr>
        <dsp:cNvPr id="0" name=""/>
        <dsp:cNvSpPr/>
      </dsp:nvSpPr>
      <dsp:spPr>
        <a:xfrm>
          <a:off x="2445271" y="1938071"/>
          <a:ext cx="743902" cy="743902"/>
        </a:xfrm>
        <a:prstGeom prst="ellipse">
          <a:avLst/>
        </a:prstGeom>
        <a:gradFill rotWithShape="0">
          <a:gsLst>
            <a:gs pos="0">
              <a:schemeClr val="accent2">
                <a:alpha val="50000"/>
                <a:hueOff val="0"/>
                <a:satOff val="0"/>
                <a:lumOff val="0"/>
                <a:alphaOff val="0"/>
                <a:shade val="51000"/>
                <a:satMod val="130000"/>
              </a:schemeClr>
            </a:gs>
            <a:gs pos="80000">
              <a:schemeClr val="accent2">
                <a:alpha val="50000"/>
                <a:hueOff val="0"/>
                <a:satOff val="0"/>
                <a:lumOff val="0"/>
                <a:alphaOff val="0"/>
                <a:shade val="93000"/>
                <a:satMod val="130000"/>
              </a:schemeClr>
            </a:gs>
            <a:gs pos="100000">
              <a:schemeClr val="accent2">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商业</a:t>
          </a:r>
        </a:p>
      </dsp:txBody>
      <dsp:txXfrm>
        <a:off x="2554213" y="2047013"/>
        <a:ext cx="526018" cy="526018"/>
      </dsp:txXfrm>
    </dsp:sp>
    <dsp:sp modelId="{2343D8A9-7AEC-4D40-8773-498EA64A78FE}">
      <dsp:nvSpPr>
        <dsp:cNvPr id="0" name=""/>
        <dsp:cNvSpPr/>
      </dsp:nvSpPr>
      <dsp:spPr>
        <a:xfrm>
          <a:off x="1760153" y="1654286"/>
          <a:ext cx="743902" cy="743902"/>
        </a:xfrm>
        <a:prstGeom prst="ellipse">
          <a:avLst/>
        </a:prstGeom>
        <a:gradFill rotWithShape="0">
          <a:gsLst>
            <a:gs pos="0">
              <a:schemeClr val="accent3">
                <a:alpha val="50000"/>
                <a:hueOff val="0"/>
                <a:satOff val="0"/>
                <a:lumOff val="0"/>
                <a:alphaOff val="0"/>
                <a:shade val="51000"/>
                <a:satMod val="130000"/>
              </a:schemeClr>
            </a:gs>
            <a:gs pos="80000">
              <a:schemeClr val="accent3">
                <a:alpha val="50000"/>
                <a:hueOff val="0"/>
                <a:satOff val="0"/>
                <a:lumOff val="0"/>
                <a:alphaOff val="0"/>
                <a:shade val="93000"/>
                <a:satMod val="130000"/>
              </a:schemeClr>
            </a:gs>
            <a:gs pos="100000">
              <a:schemeClr val="accent3">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交通</a:t>
          </a:r>
        </a:p>
      </dsp:txBody>
      <dsp:txXfrm>
        <a:off x="1869095" y="1763228"/>
        <a:ext cx="526018" cy="526018"/>
      </dsp:txXfrm>
    </dsp:sp>
    <dsp:sp modelId="{4B8ABBE8-E9C9-4F6B-9525-8C9A18414CDE}">
      <dsp:nvSpPr>
        <dsp:cNvPr id="0" name=""/>
        <dsp:cNvSpPr/>
      </dsp:nvSpPr>
      <dsp:spPr>
        <a:xfrm>
          <a:off x="1476368" y="969168"/>
          <a:ext cx="743902" cy="743902"/>
        </a:xfrm>
        <a:prstGeom prst="ellipse">
          <a:avLst/>
        </a:prstGeom>
        <a:gradFill rotWithShape="0">
          <a:gsLst>
            <a:gs pos="0">
              <a:schemeClr val="accent4">
                <a:alpha val="50000"/>
                <a:hueOff val="0"/>
                <a:satOff val="0"/>
                <a:lumOff val="0"/>
                <a:alphaOff val="0"/>
                <a:shade val="51000"/>
                <a:satMod val="130000"/>
              </a:schemeClr>
            </a:gs>
            <a:gs pos="80000">
              <a:schemeClr val="accent4">
                <a:alpha val="50000"/>
                <a:hueOff val="0"/>
                <a:satOff val="0"/>
                <a:lumOff val="0"/>
                <a:alphaOff val="0"/>
                <a:shade val="93000"/>
                <a:satMod val="130000"/>
              </a:schemeClr>
            </a:gs>
            <a:gs pos="100000">
              <a:schemeClr val="accent4">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金融</a:t>
          </a:r>
          <a:endParaRPr lang="zh-CN" altLang="en-US" sz="1600" kern="1200" dirty="0"/>
        </a:p>
      </dsp:txBody>
      <dsp:txXfrm>
        <a:off x="1585310" y="1078110"/>
        <a:ext cx="526018" cy="526018"/>
      </dsp:txXfrm>
    </dsp:sp>
    <dsp:sp modelId="{C13D16A4-6F51-437B-A7BA-09AB4609C68B}">
      <dsp:nvSpPr>
        <dsp:cNvPr id="0" name=""/>
        <dsp:cNvSpPr/>
      </dsp:nvSpPr>
      <dsp:spPr>
        <a:xfrm>
          <a:off x="1760153" y="284050"/>
          <a:ext cx="743902" cy="743902"/>
        </a:xfrm>
        <a:prstGeom prst="ellipse">
          <a:avLst/>
        </a:prstGeom>
        <a:gradFill rotWithShape="0">
          <a:gsLst>
            <a:gs pos="0">
              <a:schemeClr val="accent5">
                <a:alpha val="50000"/>
                <a:hueOff val="0"/>
                <a:satOff val="0"/>
                <a:lumOff val="0"/>
                <a:alphaOff val="0"/>
                <a:shade val="51000"/>
                <a:satMod val="130000"/>
              </a:schemeClr>
            </a:gs>
            <a:gs pos="80000">
              <a:schemeClr val="accent5">
                <a:alpha val="50000"/>
                <a:hueOff val="0"/>
                <a:satOff val="0"/>
                <a:lumOff val="0"/>
                <a:alphaOff val="0"/>
                <a:shade val="93000"/>
                <a:satMod val="130000"/>
              </a:schemeClr>
            </a:gs>
            <a:gs pos="100000">
              <a:schemeClr val="accent5">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政务</a:t>
          </a:r>
        </a:p>
      </dsp:txBody>
      <dsp:txXfrm>
        <a:off x="1869095" y="392992"/>
        <a:ext cx="526018" cy="52601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7634DBF-D9F5-4E0A-9541-5A67CB150864}">
      <dsp:nvSpPr>
        <dsp:cNvPr id="0" name=""/>
        <dsp:cNvSpPr/>
      </dsp:nvSpPr>
      <dsp:spPr>
        <a:xfrm rot="10800000">
          <a:off x="1065947" y="540"/>
          <a:ext cx="3904528" cy="329904"/>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传播病毒</a:t>
          </a:r>
        </a:p>
      </dsp:txBody>
      <dsp:txXfrm rot="10800000">
        <a:off x="1148423" y="540"/>
        <a:ext cx="3822052" cy="329904"/>
      </dsp:txXfrm>
    </dsp:sp>
    <dsp:sp modelId="{AB5BAA63-A84A-45D9-BE90-07814A821613}">
      <dsp:nvSpPr>
        <dsp:cNvPr id="0" name=""/>
        <dsp:cNvSpPr/>
      </dsp:nvSpPr>
      <dsp:spPr>
        <a:xfrm>
          <a:off x="900995" y="540"/>
          <a:ext cx="329904" cy="329904"/>
        </a:xfrm>
        <a:prstGeom prst="ellipse">
          <a:avLst/>
        </a:prstGeom>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D0567C2-639F-4DB2-8F5D-E4A1F0FA8E3D}">
      <dsp:nvSpPr>
        <dsp:cNvPr id="0" name=""/>
        <dsp:cNvSpPr/>
      </dsp:nvSpPr>
      <dsp:spPr>
        <a:xfrm rot="10800000">
          <a:off x="1065947" y="428924"/>
          <a:ext cx="3904528" cy="329904"/>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窃取：数据，钱财等</a:t>
          </a:r>
        </a:p>
      </dsp:txBody>
      <dsp:txXfrm rot="10800000">
        <a:off x="1148423" y="428924"/>
        <a:ext cx="3822052" cy="329904"/>
      </dsp:txXfrm>
    </dsp:sp>
    <dsp:sp modelId="{04B9F40C-275B-47DA-8505-BDB99315D1A6}">
      <dsp:nvSpPr>
        <dsp:cNvPr id="0" name=""/>
        <dsp:cNvSpPr/>
      </dsp:nvSpPr>
      <dsp:spPr>
        <a:xfrm>
          <a:off x="900995" y="428924"/>
          <a:ext cx="329904" cy="329904"/>
        </a:xfrm>
        <a:prstGeom prst="ellipse">
          <a:avLst/>
        </a:prstGeom>
        <a:blipFill>
          <a:blip xmlns:r="http://schemas.openxmlformats.org/officeDocument/2006/relationships" r:embed="rId2" cstate="print">
            <a:extLst>
              <a:ext uri="{28A0092B-C50C-407E-A947-70E740481C1C}">
                <a14:useLocalDpi xmlns:a14="http://schemas.microsoft.com/office/drawing/2010/main" val="0"/>
              </a:ext>
            </a:extLst>
          </a:blip>
          <a:srcRect/>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2459D94-7759-4D01-B95F-2FAC20F969A3}">
      <dsp:nvSpPr>
        <dsp:cNvPr id="0" name=""/>
        <dsp:cNvSpPr/>
      </dsp:nvSpPr>
      <dsp:spPr>
        <a:xfrm rot="10800000">
          <a:off x="1065947" y="857307"/>
          <a:ext cx="3904528" cy="329904"/>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散布谣言</a:t>
          </a:r>
        </a:p>
      </dsp:txBody>
      <dsp:txXfrm rot="10800000">
        <a:off x="1148423" y="857307"/>
        <a:ext cx="3822052" cy="329904"/>
      </dsp:txXfrm>
    </dsp:sp>
    <dsp:sp modelId="{92DE488D-B3DE-493C-AC30-DA96AC1FFB62}">
      <dsp:nvSpPr>
        <dsp:cNvPr id="0" name=""/>
        <dsp:cNvSpPr/>
      </dsp:nvSpPr>
      <dsp:spPr>
        <a:xfrm>
          <a:off x="900995" y="857307"/>
          <a:ext cx="329904" cy="329904"/>
        </a:xfrm>
        <a:prstGeom prst="ellipse">
          <a:avLst/>
        </a:prstGeom>
        <a:blipFill>
          <a:blip xmlns:r="http://schemas.openxmlformats.org/officeDocument/2006/relationships" r:embed="rId3" cstate="print">
            <a:extLst>
              <a:ext uri="{28A0092B-C50C-407E-A947-70E740481C1C}">
                <a14:useLocalDpi xmlns:a14="http://schemas.microsoft.com/office/drawing/2010/main" val="0"/>
              </a:ext>
            </a:extLst>
          </a:blip>
          <a:srcRect/>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B7E7170-F4B7-4B0B-9000-4BF0206D9353}">
      <dsp:nvSpPr>
        <dsp:cNvPr id="0" name=""/>
        <dsp:cNvSpPr/>
      </dsp:nvSpPr>
      <dsp:spPr>
        <a:xfrm rot="10800000">
          <a:off x="1065947" y="1285691"/>
          <a:ext cx="3904528" cy="329904"/>
        </a:xfrm>
        <a:prstGeom prst="homePlat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不良信息</a:t>
          </a:r>
        </a:p>
      </dsp:txBody>
      <dsp:txXfrm rot="10800000">
        <a:off x="1148423" y="1285691"/>
        <a:ext cx="3822052" cy="329904"/>
      </dsp:txXfrm>
    </dsp:sp>
    <dsp:sp modelId="{A6F09614-1B57-44CB-B907-F8E2D46EFEED}">
      <dsp:nvSpPr>
        <dsp:cNvPr id="0" name=""/>
        <dsp:cNvSpPr/>
      </dsp:nvSpPr>
      <dsp:spPr>
        <a:xfrm>
          <a:off x="900995" y="1285691"/>
          <a:ext cx="329904" cy="329904"/>
        </a:xfrm>
        <a:prstGeom prst="ellipse">
          <a:avLst/>
        </a:prstGeom>
        <a:blipFill>
          <a:blip xmlns:r="http://schemas.openxmlformats.org/officeDocument/2006/relationships" r:embed="rId4" cstate="print">
            <a:extLst>
              <a:ext uri="{28A0092B-C50C-407E-A947-70E740481C1C}">
                <a14:useLocalDpi xmlns:a14="http://schemas.microsoft.com/office/drawing/2010/main" val="0"/>
              </a:ext>
            </a:extLst>
          </a:blip>
          <a:srcRect/>
          <a:stretch>
            <a:fillRect l="-39000" r="-3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7B6737C-F129-4379-AF97-7E098CF82549}">
      <dsp:nvSpPr>
        <dsp:cNvPr id="0" name=""/>
        <dsp:cNvSpPr/>
      </dsp:nvSpPr>
      <dsp:spPr>
        <a:xfrm rot="10800000">
          <a:off x="1065947" y="1714075"/>
          <a:ext cx="3904528" cy="329904"/>
        </a:xfrm>
        <a:prstGeom prst="homePlat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欺诈</a:t>
          </a:r>
        </a:p>
      </dsp:txBody>
      <dsp:txXfrm rot="10800000">
        <a:off x="1148423" y="1714075"/>
        <a:ext cx="3822052" cy="329904"/>
      </dsp:txXfrm>
    </dsp:sp>
    <dsp:sp modelId="{D61B7255-D308-44FB-979B-BD5549502A3A}">
      <dsp:nvSpPr>
        <dsp:cNvPr id="0" name=""/>
        <dsp:cNvSpPr/>
      </dsp:nvSpPr>
      <dsp:spPr>
        <a:xfrm>
          <a:off x="900995" y="1714075"/>
          <a:ext cx="329904" cy="329904"/>
        </a:xfrm>
        <a:prstGeom prst="ellipse">
          <a:avLst/>
        </a:prstGeom>
        <a:blipFill>
          <a:blip xmlns:r="http://schemas.openxmlformats.org/officeDocument/2006/relationships" r:embed="rId5" cstate="print">
            <a:extLst>
              <a:ext uri="{28A0092B-C50C-407E-A947-70E740481C1C}">
                <a14:useLocalDpi xmlns:a14="http://schemas.microsoft.com/office/drawing/2010/main" val="0"/>
              </a:ext>
            </a:extLst>
          </a:blip>
          <a:srcRect/>
          <a:stretch>
            <a:fillRect l="-23000" r="-2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2B48CE5-911D-44D5-AFA1-377112EF11A6}">
      <dsp:nvSpPr>
        <dsp:cNvPr id="0" name=""/>
        <dsp:cNvSpPr/>
      </dsp:nvSpPr>
      <dsp:spPr>
        <a:xfrm rot="10800000">
          <a:off x="1065947" y="2142459"/>
          <a:ext cx="3904528" cy="329904"/>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网瘾</a:t>
          </a:r>
        </a:p>
      </dsp:txBody>
      <dsp:txXfrm rot="10800000">
        <a:off x="1148423" y="2142459"/>
        <a:ext cx="3822052" cy="329904"/>
      </dsp:txXfrm>
    </dsp:sp>
    <dsp:sp modelId="{9BF7EE4E-012F-4DF5-B272-EAA79ECA8C75}">
      <dsp:nvSpPr>
        <dsp:cNvPr id="0" name=""/>
        <dsp:cNvSpPr/>
      </dsp:nvSpPr>
      <dsp:spPr>
        <a:xfrm>
          <a:off x="900995" y="2142459"/>
          <a:ext cx="329904" cy="329904"/>
        </a:xfrm>
        <a:prstGeom prst="ellipse">
          <a:avLst/>
        </a:prstGeom>
        <a:blipFill>
          <a:blip xmlns:r="http://schemas.openxmlformats.org/officeDocument/2006/relationships" r:embed="rId6" cstate="print">
            <a:extLst>
              <a:ext uri="{28A0092B-C50C-407E-A947-70E740481C1C}">
                <a14:useLocalDpi xmlns:a14="http://schemas.microsoft.com/office/drawing/2010/main" val="0"/>
              </a:ext>
            </a:extLst>
          </a:blip>
          <a:srcRect/>
          <a:stretch>
            <a:fillRect l="-29000" r="-2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B384311-3D9B-45D7-AAED-45272C0B16D1}">
      <dsp:nvSpPr>
        <dsp:cNvPr id="0" name=""/>
        <dsp:cNvSpPr/>
      </dsp:nvSpPr>
      <dsp:spPr>
        <a:xfrm rot="10800000">
          <a:off x="1065947" y="2570843"/>
          <a:ext cx="3904528" cy="329904"/>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en-US" altLang="zh-CN" sz="1600" b="1" kern="1200">
              <a:solidFill>
                <a:schemeClr val="tx1"/>
              </a:solidFill>
              <a:latin typeface="微软雅黑" panose="020B0503020204020204" pitchFamily="34" charset="-122"/>
              <a:ea typeface="微软雅黑" panose="020B0503020204020204" pitchFamily="34" charset="-122"/>
            </a:rPr>
            <a:t>……</a:t>
          </a:r>
          <a:endParaRPr lang="zh-CN" altLang="en-US" sz="1600" b="1" kern="1200" dirty="0">
            <a:solidFill>
              <a:schemeClr val="tx1"/>
            </a:solidFill>
            <a:latin typeface="微软雅黑" panose="020B0503020204020204" pitchFamily="34" charset="-122"/>
            <a:ea typeface="微软雅黑" panose="020B0503020204020204" pitchFamily="34" charset="-122"/>
          </a:endParaRPr>
        </a:p>
      </dsp:txBody>
      <dsp:txXfrm rot="10800000">
        <a:off x="1148423" y="2570843"/>
        <a:ext cx="3822052" cy="329904"/>
      </dsp:txXfrm>
    </dsp:sp>
    <dsp:sp modelId="{4737311F-297D-4E95-B8C4-5619F0D22DF2}">
      <dsp:nvSpPr>
        <dsp:cNvPr id="0" name=""/>
        <dsp:cNvSpPr/>
      </dsp:nvSpPr>
      <dsp:spPr>
        <a:xfrm>
          <a:off x="900995" y="2570843"/>
          <a:ext cx="329904" cy="329904"/>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1723FB-FD44-4790-9882-F784D01504C2}">
      <dsp:nvSpPr>
        <dsp:cNvPr id="0" name=""/>
        <dsp:cNvSpPr/>
      </dsp:nvSpPr>
      <dsp:spPr>
        <a:xfrm rot="5400000">
          <a:off x="892970" y="214491"/>
          <a:ext cx="928252" cy="2711653"/>
        </a:xfrm>
        <a:prstGeom prst="corner">
          <a:avLst>
            <a:gd name="adj1" fmla="val 16120"/>
            <a:gd name="adj2" fmla="val 1611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w="9525"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2">
          <a:scrgbClr r="0" g="0" b="0"/>
        </a:fillRef>
        <a:effectRef idx="1">
          <a:scrgbClr r="0" g="0" b="0"/>
        </a:effectRef>
        <a:fontRef idx="minor">
          <a:schemeClr val="dk1"/>
        </a:fontRef>
      </dsp:style>
    </dsp:sp>
    <dsp:sp modelId="{9606A409-0386-4958-AF71-520045418D02}">
      <dsp:nvSpPr>
        <dsp:cNvPr id="0" name=""/>
        <dsp:cNvSpPr/>
      </dsp:nvSpPr>
      <dsp:spPr>
        <a:xfrm>
          <a:off x="190854" y="1259522"/>
          <a:ext cx="2488800" cy="1222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ts val="2800"/>
            </a:lnSpc>
            <a:spcBef>
              <a:spcPct val="0"/>
            </a:spcBef>
            <a:spcAft>
              <a:spcPts val="0"/>
            </a:spcAft>
            <a:buNone/>
          </a:pPr>
          <a:r>
            <a:rPr lang="en-US" altLang="en-US" sz="1800" b="1" kern="1200" dirty="0">
              <a:solidFill>
                <a:srgbClr val="CC00CC"/>
              </a:solidFill>
              <a:latin typeface="微软雅黑" panose="020B0503020204020204" pitchFamily="34" charset="-122"/>
              <a:ea typeface="微软雅黑" panose="020B0503020204020204" pitchFamily="34" charset="-122"/>
            </a:rPr>
            <a:t>1969 – 1990</a:t>
          </a:r>
        </a:p>
        <a:p>
          <a:pPr marL="0" lvl="0" indent="0" algn="l" defTabSz="800100">
            <a:lnSpc>
              <a:spcPts val="28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从单个网络 </a:t>
          </a:r>
          <a:r>
            <a:rPr lang="en-US" altLang="en-US" sz="1800" b="1" kern="1200" dirty="0">
              <a:latin typeface="微软雅黑" panose="020B0503020204020204" pitchFamily="34" charset="-122"/>
              <a:ea typeface="微软雅黑" panose="020B0503020204020204" pitchFamily="34" charset="-122"/>
            </a:rPr>
            <a:t>ARPANET </a:t>
          </a:r>
          <a:r>
            <a:rPr lang="zh-CN" altLang="en-US" sz="1800" b="1" kern="1200" dirty="0">
              <a:latin typeface="微软雅黑" panose="020B0503020204020204" pitchFamily="34" charset="-122"/>
              <a:ea typeface="微软雅黑" panose="020B0503020204020204" pitchFamily="34" charset="-122"/>
            </a:rPr>
            <a:t>向互联网发展。</a:t>
          </a:r>
        </a:p>
      </dsp:txBody>
      <dsp:txXfrm>
        <a:off x="190854" y="1259522"/>
        <a:ext cx="2488800" cy="1222330"/>
      </dsp:txXfrm>
    </dsp:sp>
    <dsp:sp modelId="{01A2BA42-237A-44CF-A211-45BD14932625}">
      <dsp:nvSpPr>
        <dsp:cNvPr id="0" name=""/>
        <dsp:cNvSpPr/>
      </dsp:nvSpPr>
      <dsp:spPr>
        <a:xfrm>
          <a:off x="1869380" y="684308"/>
          <a:ext cx="263106" cy="263106"/>
        </a:xfrm>
        <a:prstGeom prst="triangle">
          <a:avLst>
            <a:gd name="adj" fmla="val 10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w="9525"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2">
          <a:scrgbClr r="0" g="0" b="0"/>
        </a:fillRef>
        <a:effectRef idx="1">
          <a:scrgbClr r="0" g="0" b="0"/>
        </a:effectRef>
        <a:fontRef idx="minor">
          <a:schemeClr val="dk1"/>
        </a:fontRef>
      </dsp:style>
    </dsp:sp>
    <dsp:sp modelId="{5D091C1B-882C-4A2B-868D-15AB708D584F}">
      <dsp:nvSpPr>
        <dsp:cNvPr id="0" name=""/>
        <dsp:cNvSpPr/>
      </dsp:nvSpPr>
      <dsp:spPr>
        <a:xfrm rot="5400000">
          <a:off x="3739067" y="-182963"/>
          <a:ext cx="928252" cy="2661716"/>
        </a:xfrm>
        <a:prstGeom prst="corner">
          <a:avLst>
            <a:gd name="adj1" fmla="val 16120"/>
            <a:gd name="adj2" fmla="val 1611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w="9525"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2">
          <a:scrgbClr r="0" g="0" b="0"/>
        </a:fillRef>
        <a:effectRef idx="1">
          <a:scrgbClr r="0" g="0" b="0"/>
        </a:effectRef>
        <a:fontRef idx="minor">
          <a:schemeClr val="dk1"/>
        </a:fontRef>
      </dsp:style>
    </dsp:sp>
    <dsp:sp modelId="{5DD1E37C-EDC3-41F4-891E-775C4AA49DFB}">
      <dsp:nvSpPr>
        <dsp:cNvPr id="0" name=""/>
        <dsp:cNvSpPr/>
      </dsp:nvSpPr>
      <dsp:spPr>
        <a:xfrm>
          <a:off x="3061382" y="837099"/>
          <a:ext cx="2178503" cy="1222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ts val="2800"/>
            </a:lnSpc>
            <a:spcBef>
              <a:spcPct val="0"/>
            </a:spcBef>
            <a:spcAft>
              <a:spcPts val="0"/>
            </a:spcAft>
            <a:buNone/>
          </a:pPr>
          <a:r>
            <a:rPr lang="en-US" altLang="en-US" sz="1800" b="1" kern="1200" dirty="0">
              <a:solidFill>
                <a:srgbClr val="CC00CC"/>
              </a:solidFill>
              <a:latin typeface="微软雅黑" panose="020B0503020204020204" pitchFamily="34" charset="-122"/>
              <a:ea typeface="微软雅黑" panose="020B0503020204020204" pitchFamily="34" charset="-122"/>
            </a:rPr>
            <a:t>1985 – 1993</a:t>
          </a:r>
        </a:p>
        <a:p>
          <a:pPr marL="0" lvl="0" indent="0" algn="l" defTabSz="800100">
            <a:lnSpc>
              <a:spcPts val="28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建成了三级结构的互联网 。</a:t>
          </a:r>
        </a:p>
      </dsp:txBody>
      <dsp:txXfrm>
        <a:off x="3061382" y="837099"/>
        <a:ext cx="2178503" cy="1222330"/>
      </dsp:txXfrm>
    </dsp:sp>
    <dsp:sp modelId="{2D8632D6-57D5-4C06-81CE-104155293B86}">
      <dsp:nvSpPr>
        <dsp:cNvPr id="0" name=""/>
        <dsp:cNvSpPr/>
      </dsp:nvSpPr>
      <dsp:spPr>
        <a:xfrm>
          <a:off x="4715477" y="261884"/>
          <a:ext cx="263106" cy="263106"/>
        </a:xfrm>
        <a:prstGeom prst="triangle">
          <a:avLst>
            <a:gd name="adj" fmla="val 10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w="9525"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2">
          <a:scrgbClr r="0" g="0" b="0"/>
        </a:fillRef>
        <a:effectRef idx="1">
          <a:scrgbClr r="0" g="0" b="0"/>
        </a:effectRef>
        <a:fontRef idx="minor">
          <a:schemeClr val="dk1"/>
        </a:fontRef>
      </dsp:style>
    </dsp:sp>
    <dsp:sp modelId="{0B75B0BF-1D47-48F1-94FD-0201A392E554}">
      <dsp:nvSpPr>
        <dsp:cNvPr id="0" name=""/>
        <dsp:cNvSpPr/>
      </dsp:nvSpPr>
      <dsp:spPr>
        <a:xfrm rot="5400000">
          <a:off x="6402878" y="-398133"/>
          <a:ext cx="928252" cy="2247210"/>
        </a:xfrm>
        <a:prstGeom prst="corner">
          <a:avLst>
            <a:gd name="adj1" fmla="val 16120"/>
            <a:gd name="adj2" fmla="val 1611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w="9525" cap="flat" cmpd="sng" algn="ctr">
          <a:solidFill>
            <a:schemeClr val="accent6">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2">
          <a:scrgbClr r="0" g="0" b="0"/>
        </a:fillRef>
        <a:effectRef idx="1">
          <a:scrgbClr r="0" g="0" b="0"/>
        </a:effectRef>
        <a:fontRef idx="minor">
          <a:schemeClr val="dk1"/>
        </a:fontRef>
      </dsp:style>
    </dsp:sp>
    <dsp:sp modelId="{F0C4A08D-D529-4101-B85D-56E13A637234}">
      <dsp:nvSpPr>
        <dsp:cNvPr id="0" name=""/>
        <dsp:cNvSpPr/>
      </dsp:nvSpPr>
      <dsp:spPr>
        <a:xfrm>
          <a:off x="5938101" y="414676"/>
          <a:ext cx="2014124" cy="1222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ts val="2800"/>
            </a:lnSpc>
            <a:spcBef>
              <a:spcPct val="0"/>
            </a:spcBef>
            <a:spcAft>
              <a:spcPts val="0"/>
            </a:spcAft>
            <a:buNone/>
          </a:pPr>
          <a:r>
            <a:rPr lang="en-US" altLang="en-US" sz="1800" b="1" kern="1200" dirty="0">
              <a:solidFill>
                <a:srgbClr val="CC00CC"/>
              </a:solidFill>
              <a:latin typeface="微软雅黑" panose="020B0503020204020204" pitchFamily="34" charset="-122"/>
              <a:ea typeface="微软雅黑" panose="020B0503020204020204" pitchFamily="34" charset="-122"/>
            </a:rPr>
            <a:t>1993 –</a:t>
          </a:r>
          <a:r>
            <a:rPr lang="en-US" altLang="zh-CN" sz="1800" b="1" kern="1200" dirty="0">
              <a:solidFill>
                <a:srgbClr val="CC00CC"/>
              </a:solidFill>
              <a:latin typeface="微软雅黑" panose="020B0503020204020204" pitchFamily="34" charset="-122"/>
              <a:ea typeface="微软雅黑" panose="020B0503020204020204" pitchFamily="34" charset="-122"/>
            </a:rPr>
            <a:t> </a:t>
          </a:r>
          <a:r>
            <a:rPr lang="zh-CN" altLang="en-US" sz="1800" b="1" kern="1200" dirty="0">
              <a:solidFill>
                <a:srgbClr val="CC00CC"/>
              </a:solidFill>
              <a:latin typeface="微软雅黑" panose="020B0503020204020204" pitchFamily="34" charset="-122"/>
              <a:ea typeface="微软雅黑" panose="020B0503020204020204" pitchFamily="34" charset="-122"/>
            </a:rPr>
            <a:t>现在</a:t>
          </a:r>
          <a:endParaRPr lang="en-US" altLang="zh-CN" sz="1800" b="1" kern="1200" dirty="0">
            <a:solidFill>
              <a:srgbClr val="CC00CC"/>
            </a:solidFill>
            <a:latin typeface="微软雅黑" panose="020B0503020204020204" pitchFamily="34" charset="-122"/>
            <a:ea typeface="微软雅黑" panose="020B0503020204020204" pitchFamily="34" charset="-122"/>
          </a:endParaRPr>
        </a:p>
        <a:p>
          <a:pPr marL="0" lvl="0" indent="0" algn="l" defTabSz="800100">
            <a:lnSpc>
              <a:spcPts val="2800"/>
            </a:lnSpc>
            <a:spcBef>
              <a:spcPct val="0"/>
            </a:spcBef>
            <a:spcAft>
              <a:spcPts val="0"/>
            </a:spcAft>
            <a:buNone/>
          </a:pPr>
          <a:r>
            <a:rPr lang="zh-CN" altLang="zh-CN" sz="1800" b="1" kern="1200" dirty="0">
              <a:latin typeface="微软雅黑" panose="020B0503020204020204" pitchFamily="34" charset="-122"/>
              <a:ea typeface="微软雅黑" panose="020B0503020204020204" pitchFamily="34" charset="-122"/>
            </a:rPr>
            <a:t>全球范围的多层次</a:t>
          </a:r>
          <a:r>
            <a:rPr lang="en-US" altLang="zh-CN" sz="1800" b="1" kern="1200" dirty="0">
              <a:latin typeface="微软雅黑" panose="020B0503020204020204" pitchFamily="34" charset="-122"/>
              <a:ea typeface="微软雅黑" panose="020B0503020204020204" pitchFamily="34" charset="-122"/>
            </a:rPr>
            <a:t> ISP </a:t>
          </a:r>
          <a:r>
            <a:rPr lang="zh-CN" altLang="zh-CN" sz="1800" b="1" kern="1200" dirty="0">
              <a:latin typeface="微软雅黑" panose="020B0503020204020204" pitchFamily="34" charset="-122"/>
              <a:ea typeface="微软雅黑" panose="020B0503020204020204" pitchFamily="34" charset="-122"/>
            </a:rPr>
            <a:t>结构的互联网。</a:t>
          </a:r>
          <a:endParaRPr lang="zh-CN" altLang="en-US" sz="1800" b="1" kern="1200" dirty="0">
            <a:latin typeface="微软雅黑" panose="020B0503020204020204" pitchFamily="34" charset="-122"/>
            <a:ea typeface="微软雅黑" panose="020B0503020204020204" pitchFamily="34" charset="-122"/>
          </a:endParaRPr>
        </a:p>
      </dsp:txBody>
      <dsp:txXfrm>
        <a:off x="5938101" y="414676"/>
        <a:ext cx="2014124" cy="122233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F17F835-55F0-4C61-A2A3-44AE2ED9D7FE}">
      <dsp:nvSpPr>
        <dsp:cNvPr id="0" name=""/>
        <dsp:cNvSpPr/>
      </dsp:nvSpPr>
      <dsp:spPr>
        <a:xfrm>
          <a:off x="32" y="5399"/>
          <a:ext cx="3092733" cy="720000"/>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w="9525" cap="flat" cmpd="sng" algn="ctr">
          <a:solidFill>
            <a:schemeClr val="accent5">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10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客户</a:t>
          </a:r>
          <a:r>
            <a:rPr lang="en-US" altLang="zh-CN" sz="1800" b="1" kern="1200" dirty="0">
              <a:latin typeface="微软雅黑" panose="020B0503020204020204" pitchFamily="34" charset="-122"/>
              <a:ea typeface="微软雅黑" panose="020B0503020204020204" pitchFamily="34" charset="-122"/>
            </a:rPr>
            <a:t>/</a:t>
          </a:r>
          <a:r>
            <a:rPr lang="zh-CN" altLang="en-US" sz="1800" b="1" kern="1200" dirty="0">
              <a:latin typeface="微软雅黑" panose="020B0503020204020204" pitchFamily="34" charset="-122"/>
              <a:ea typeface="微软雅黑" panose="020B0503020204020204" pitchFamily="34" charset="-122"/>
            </a:rPr>
            <a:t>服务器方式</a:t>
          </a:r>
          <a:endParaRPr lang="en-US" altLang="zh-CN" sz="1800" b="1" kern="1200" dirty="0">
            <a:latin typeface="微软雅黑" panose="020B0503020204020204" pitchFamily="34" charset="-122"/>
            <a:ea typeface="微软雅黑" panose="020B0503020204020204" pitchFamily="34" charset="-122"/>
          </a:endParaRPr>
        </a:p>
      </dsp:txBody>
      <dsp:txXfrm>
        <a:off x="32" y="5399"/>
        <a:ext cx="3092733" cy="720000"/>
      </dsp:txXfrm>
    </dsp:sp>
    <dsp:sp modelId="{ACB976F2-8BF8-4A70-91C5-C91BC345A4AF}">
      <dsp:nvSpPr>
        <dsp:cNvPr id="0" name=""/>
        <dsp:cNvSpPr/>
      </dsp:nvSpPr>
      <dsp:spPr>
        <a:xfrm>
          <a:off x="32" y="725399"/>
          <a:ext cx="3092733" cy="1098000"/>
        </a:xfrm>
        <a:prstGeom prst="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Client / Server </a:t>
          </a:r>
          <a:r>
            <a:rPr lang="zh-CN" altLang="en-US" sz="1800" b="1" kern="1200" dirty="0">
              <a:latin typeface="微软雅黑" panose="020B0503020204020204" pitchFamily="34" charset="-122"/>
              <a:ea typeface="微软雅黑" panose="020B0503020204020204" pitchFamily="34" charset="-122"/>
            </a:rPr>
            <a:t>方式</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简称为 </a:t>
          </a:r>
          <a:r>
            <a:rPr lang="en-US" altLang="en-US" sz="1800" b="1" kern="1200" dirty="0">
              <a:latin typeface="微软雅黑" panose="020B0503020204020204" pitchFamily="34" charset="-122"/>
              <a:ea typeface="微软雅黑" panose="020B0503020204020204" pitchFamily="34" charset="-122"/>
            </a:rPr>
            <a:t>C/S </a:t>
          </a:r>
          <a:r>
            <a:rPr lang="zh-CN" altLang="en-US" sz="1800" b="1" kern="1200" dirty="0">
              <a:latin typeface="微软雅黑" panose="020B0503020204020204" pitchFamily="34" charset="-122"/>
              <a:ea typeface="微软雅黑" panose="020B0503020204020204" pitchFamily="34" charset="-122"/>
            </a:rPr>
            <a:t>方式</a:t>
          </a:r>
        </a:p>
      </dsp:txBody>
      <dsp:txXfrm>
        <a:off x="32" y="725399"/>
        <a:ext cx="3092733" cy="1098000"/>
      </dsp:txXfrm>
    </dsp:sp>
    <dsp:sp modelId="{FD082DEC-BD21-4E00-AA12-CC0ED5CBCB32}">
      <dsp:nvSpPr>
        <dsp:cNvPr id="0" name=""/>
        <dsp:cNvSpPr/>
      </dsp:nvSpPr>
      <dsp:spPr>
        <a:xfrm>
          <a:off x="3525748" y="5399"/>
          <a:ext cx="3092733" cy="720000"/>
        </a:xfrm>
        <a:prstGeom prst="rect">
          <a:avLst/>
        </a:prstGeom>
        <a:gradFill rotWithShape="0">
          <a:gsLst>
            <a:gs pos="0">
              <a:schemeClr val="accent5">
                <a:hueOff val="-9933876"/>
                <a:satOff val="39811"/>
                <a:lumOff val="8628"/>
                <a:alphaOff val="0"/>
                <a:shade val="51000"/>
                <a:satMod val="130000"/>
              </a:schemeClr>
            </a:gs>
            <a:gs pos="80000">
              <a:schemeClr val="accent5">
                <a:hueOff val="-9933876"/>
                <a:satOff val="39811"/>
                <a:lumOff val="8628"/>
                <a:alphaOff val="0"/>
                <a:shade val="93000"/>
                <a:satMod val="130000"/>
              </a:schemeClr>
            </a:gs>
            <a:gs pos="100000">
              <a:schemeClr val="accent5">
                <a:hueOff val="-9933876"/>
                <a:satOff val="39811"/>
                <a:lumOff val="8628"/>
                <a:alphaOff val="0"/>
                <a:shade val="94000"/>
                <a:satMod val="135000"/>
              </a:schemeClr>
            </a:gs>
          </a:gsLst>
          <a:lin ang="16200000" scaled="0"/>
        </a:gradFill>
        <a:ln w="9525" cap="flat" cmpd="sng" algn="ctr">
          <a:solidFill>
            <a:schemeClr val="accent5">
              <a:hueOff val="-9933876"/>
              <a:satOff val="39811"/>
              <a:lumOff val="8628"/>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10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对等方式</a:t>
          </a:r>
          <a:endParaRPr lang="en-US" altLang="zh-CN" sz="1800" b="1" kern="1200" dirty="0">
            <a:latin typeface="微软雅黑" panose="020B0503020204020204" pitchFamily="34" charset="-122"/>
            <a:ea typeface="微软雅黑" panose="020B0503020204020204" pitchFamily="34" charset="-122"/>
          </a:endParaRPr>
        </a:p>
      </dsp:txBody>
      <dsp:txXfrm>
        <a:off x="3525748" y="5399"/>
        <a:ext cx="3092733" cy="720000"/>
      </dsp:txXfrm>
    </dsp:sp>
    <dsp:sp modelId="{B62719DE-8DA5-4764-8561-2A4AB2C96331}">
      <dsp:nvSpPr>
        <dsp:cNvPr id="0" name=""/>
        <dsp:cNvSpPr/>
      </dsp:nvSpPr>
      <dsp:spPr>
        <a:xfrm>
          <a:off x="3525748" y="725399"/>
          <a:ext cx="3092733" cy="1098000"/>
        </a:xfrm>
        <a:prstGeom prst="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Peer to Peer </a:t>
          </a:r>
          <a:r>
            <a:rPr lang="zh-CN" altLang="en-US" sz="1800" b="1" kern="1200" dirty="0">
              <a:latin typeface="微软雅黑" panose="020B0503020204020204" pitchFamily="34" charset="-122"/>
              <a:ea typeface="微软雅黑" panose="020B0503020204020204" pitchFamily="34" charset="-122"/>
            </a:rPr>
            <a:t>方式</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简称为 </a:t>
          </a:r>
          <a:r>
            <a:rPr lang="en-US" altLang="en-US" sz="1800" b="1" kern="1200" dirty="0">
              <a:latin typeface="微软雅黑" panose="020B0503020204020204" pitchFamily="34" charset="-122"/>
              <a:ea typeface="微软雅黑" panose="020B0503020204020204" pitchFamily="34" charset="-122"/>
            </a:rPr>
            <a:t>P2P </a:t>
          </a:r>
          <a:r>
            <a:rPr lang="zh-CN" altLang="en-US" sz="1800" b="1" kern="1200" dirty="0">
              <a:latin typeface="微软雅黑" panose="020B0503020204020204" pitchFamily="34" charset="-122"/>
              <a:ea typeface="微软雅黑" panose="020B0503020204020204" pitchFamily="34" charset="-122"/>
            </a:rPr>
            <a:t>方式</a:t>
          </a:r>
        </a:p>
      </dsp:txBody>
      <dsp:txXfrm>
        <a:off x="3525748" y="725399"/>
        <a:ext cx="3092733" cy="10980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AB91ED-304D-4E30-917D-DB8A5D6E9F4E}">
      <dsp:nvSpPr>
        <dsp:cNvPr id="0" name=""/>
        <dsp:cNvSpPr/>
      </dsp:nvSpPr>
      <dsp:spPr>
        <a:xfrm>
          <a:off x="2262053" y="1042101"/>
          <a:ext cx="1189624" cy="1189616"/>
        </a:xfrm>
        <a:prstGeom prst="ellipse">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anose="020B0503020204020204" pitchFamily="34" charset="-122"/>
              <a:ea typeface="微软雅黑" panose="020B0503020204020204" pitchFamily="34" charset="-122"/>
            </a:rPr>
            <a:t>重要性能指标</a:t>
          </a:r>
        </a:p>
      </dsp:txBody>
      <dsp:txXfrm>
        <a:off x="2436269" y="1216316"/>
        <a:ext cx="841192" cy="841186"/>
      </dsp:txXfrm>
    </dsp:sp>
    <dsp:sp modelId="{C041081D-BE3D-40E6-B560-6CCAEF685BB2}">
      <dsp:nvSpPr>
        <dsp:cNvPr id="0" name=""/>
        <dsp:cNvSpPr/>
      </dsp:nvSpPr>
      <dsp:spPr>
        <a:xfrm rot="16200000">
          <a:off x="2746112" y="918472"/>
          <a:ext cx="221506" cy="25751"/>
        </a:xfrm>
        <a:custGeom>
          <a:avLst/>
          <a:gdLst/>
          <a:ahLst/>
          <a:cxnLst/>
          <a:rect l="0" t="0" r="0" b="0"/>
          <a:pathLst>
            <a:path>
              <a:moveTo>
                <a:pt x="0" y="12875"/>
              </a:moveTo>
              <a:lnTo>
                <a:pt x="221506"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a:off x="2851327" y="925810"/>
        <a:ext cx="11075" cy="11075"/>
      </dsp:txXfrm>
    </dsp:sp>
    <dsp:sp modelId="{402F23A3-1405-4E62-9B6B-1BAD6AF3B058}">
      <dsp:nvSpPr>
        <dsp:cNvPr id="0" name=""/>
        <dsp:cNvSpPr/>
      </dsp:nvSpPr>
      <dsp:spPr>
        <a:xfrm>
          <a:off x="2448144" y="3152"/>
          <a:ext cx="817442" cy="817442"/>
        </a:xfrm>
        <a:prstGeom prst="ellipse">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anose="020B0503020204020204" pitchFamily="34" charset="-122"/>
              <a:ea typeface="微软雅黑" panose="020B0503020204020204" pitchFamily="34" charset="-122"/>
            </a:rPr>
            <a:t>速率</a:t>
          </a:r>
        </a:p>
      </dsp:txBody>
      <dsp:txXfrm>
        <a:off x="2567856" y="122864"/>
        <a:ext cx="578018" cy="578018"/>
      </dsp:txXfrm>
    </dsp:sp>
    <dsp:sp modelId="{1A688BA9-9980-46CE-92DD-5B540F6B173C}">
      <dsp:nvSpPr>
        <dsp:cNvPr id="0" name=""/>
        <dsp:cNvSpPr/>
      </dsp:nvSpPr>
      <dsp:spPr>
        <a:xfrm rot="19285714">
          <a:off x="3297744" y="1184122"/>
          <a:ext cx="221503" cy="25751"/>
        </a:xfrm>
        <a:custGeom>
          <a:avLst/>
          <a:gdLst/>
          <a:ahLst/>
          <a:cxnLst/>
          <a:rect l="0" t="0" r="0" b="0"/>
          <a:pathLst>
            <a:path>
              <a:moveTo>
                <a:pt x="0" y="12875"/>
              </a:moveTo>
              <a:lnTo>
                <a:pt x="221503"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177800">
            <a:lnSpc>
              <a:spcPct val="80000"/>
            </a:lnSpc>
            <a:spcBef>
              <a:spcPts val="0"/>
            </a:spcBef>
            <a:spcAft>
              <a:spcPts val="0"/>
            </a:spcAft>
            <a:buNone/>
          </a:pPr>
          <a:endParaRPr lang="zh-CN" altLang="en-US" sz="400" kern="1200"/>
        </a:p>
      </dsp:txBody>
      <dsp:txXfrm>
        <a:off x="3402958" y="1191461"/>
        <a:ext cx="11075" cy="11075"/>
      </dsp:txXfrm>
    </dsp:sp>
    <dsp:sp modelId="{9EB9B65F-4393-4612-9918-4B6EE32BE2B5}">
      <dsp:nvSpPr>
        <dsp:cNvPr id="0" name=""/>
        <dsp:cNvSpPr/>
      </dsp:nvSpPr>
      <dsp:spPr>
        <a:xfrm>
          <a:off x="3405915" y="464391"/>
          <a:ext cx="817442" cy="817442"/>
        </a:xfrm>
        <a:prstGeom prst="ellipse">
          <a:avLst/>
        </a:prstGeom>
        <a:gradFill rotWithShape="0">
          <a:gsLst>
            <a:gs pos="0">
              <a:schemeClr val="accent3">
                <a:hueOff val="1875044"/>
                <a:satOff val="-2813"/>
                <a:lumOff val="-458"/>
                <a:alphaOff val="0"/>
                <a:shade val="51000"/>
                <a:satMod val="130000"/>
              </a:schemeClr>
            </a:gs>
            <a:gs pos="80000">
              <a:schemeClr val="accent3">
                <a:hueOff val="1875044"/>
                <a:satOff val="-2813"/>
                <a:lumOff val="-458"/>
                <a:alphaOff val="0"/>
                <a:shade val="93000"/>
                <a:satMod val="130000"/>
              </a:schemeClr>
            </a:gs>
            <a:gs pos="100000">
              <a:schemeClr val="accent3">
                <a:hueOff val="1875044"/>
                <a:satOff val="-2813"/>
                <a:lumOff val="-458"/>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itchFamily="34" charset="-122"/>
              <a:ea typeface="微软雅黑" pitchFamily="34" charset="-122"/>
            </a:rPr>
            <a:t>带宽</a:t>
          </a:r>
        </a:p>
      </dsp:txBody>
      <dsp:txXfrm>
        <a:off x="3525627" y="584103"/>
        <a:ext cx="578018" cy="578018"/>
      </dsp:txXfrm>
    </dsp:sp>
    <dsp:sp modelId="{CA2997A6-1A9D-4195-A4F9-95CB281E15D5}">
      <dsp:nvSpPr>
        <dsp:cNvPr id="0" name=""/>
        <dsp:cNvSpPr/>
      </dsp:nvSpPr>
      <dsp:spPr>
        <a:xfrm rot="771429">
          <a:off x="3433987" y="1781036"/>
          <a:ext cx="221502" cy="25751"/>
        </a:xfrm>
        <a:custGeom>
          <a:avLst/>
          <a:gdLst/>
          <a:ahLst/>
          <a:cxnLst/>
          <a:rect l="0" t="0" r="0" b="0"/>
          <a:pathLst>
            <a:path>
              <a:moveTo>
                <a:pt x="0" y="12875"/>
              </a:moveTo>
              <a:lnTo>
                <a:pt x="221502"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a:off x="3539201" y="1788374"/>
        <a:ext cx="11075" cy="11075"/>
      </dsp:txXfrm>
    </dsp:sp>
    <dsp:sp modelId="{AA805C1A-016A-4092-AC58-C8C9626E154E}">
      <dsp:nvSpPr>
        <dsp:cNvPr id="0" name=""/>
        <dsp:cNvSpPr/>
      </dsp:nvSpPr>
      <dsp:spPr>
        <a:xfrm>
          <a:off x="3642465" y="1500784"/>
          <a:ext cx="817442" cy="817442"/>
        </a:xfrm>
        <a:prstGeom prst="ellipse">
          <a:avLst/>
        </a:prstGeom>
        <a:gradFill rotWithShape="0">
          <a:gsLst>
            <a:gs pos="0">
              <a:schemeClr val="accent3">
                <a:hueOff val="3750088"/>
                <a:satOff val="-5627"/>
                <a:lumOff val="-915"/>
                <a:alphaOff val="0"/>
                <a:shade val="51000"/>
                <a:satMod val="130000"/>
              </a:schemeClr>
            </a:gs>
            <a:gs pos="80000">
              <a:schemeClr val="accent3">
                <a:hueOff val="3750088"/>
                <a:satOff val="-5627"/>
                <a:lumOff val="-915"/>
                <a:alphaOff val="0"/>
                <a:shade val="93000"/>
                <a:satMod val="130000"/>
              </a:schemeClr>
            </a:gs>
            <a:gs pos="100000">
              <a:schemeClr val="accent3">
                <a:hueOff val="3750088"/>
                <a:satOff val="-5627"/>
                <a:lumOff val="-915"/>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吞吐率</a:t>
          </a:r>
        </a:p>
      </dsp:txBody>
      <dsp:txXfrm>
        <a:off x="3762177" y="1620496"/>
        <a:ext cx="578018" cy="578018"/>
      </dsp:txXfrm>
    </dsp:sp>
    <dsp:sp modelId="{96B1DAAE-F63C-47BA-8420-AE7C9945D5FC}">
      <dsp:nvSpPr>
        <dsp:cNvPr id="0" name=""/>
        <dsp:cNvSpPr/>
      </dsp:nvSpPr>
      <dsp:spPr>
        <a:xfrm rot="3857143">
          <a:off x="3052244" y="2259722"/>
          <a:ext cx="221505" cy="25751"/>
        </a:xfrm>
        <a:custGeom>
          <a:avLst/>
          <a:gdLst/>
          <a:ahLst/>
          <a:cxnLst/>
          <a:rect l="0" t="0" r="0" b="0"/>
          <a:pathLst>
            <a:path>
              <a:moveTo>
                <a:pt x="0" y="12875"/>
              </a:moveTo>
              <a:lnTo>
                <a:pt x="221505"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a:off x="3157459" y="2267061"/>
        <a:ext cx="11075" cy="11075"/>
      </dsp:txXfrm>
    </dsp:sp>
    <dsp:sp modelId="{3E830754-EFA7-4138-9FA6-3C9E92E74104}">
      <dsp:nvSpPr>
        <dsp:cNvPr id="0" name=""/>
        <dsp:cNvSpPr/>
      </dsp:nvSpPr>
      <dsp:spPr>
        <a:xfrm>
          <a:off x="2979667" y="2331907"/>
          <a:ext cx="817442" cy="817442"/>
        </a:xfrm>
        <a:prstGeom prst="ellipse">
          <a:avLst/>
        </a:prstGeom>
        <a:gradFill rotWithShape="0">
          <a:gsLst>
            <a:gs pos="0">
              <a:schemeClr val="accent3">
                <a:hueOff val="5625132"/>
                <a:satOff val="-8440"/>
                <a:lumOff val="-1373"/>
                <a:alphaOff val="0"/>
                <a:shade val="51000"/>
                <a:satMod val="130000"/>
              </a:schemeClr>
            </a:gs>
            <a:gs pos="80000">
              <a:schemeClr val="accent3">
                <a:hueOff val="5625132"/>
                <a:satOff val="-8440"/>
                <a:lumOff val="-1373"/>
                <a:alphaOff val="0"/>
                <a:shade val="93000"/>
                <a:satMod val="130000"/>
              </a:schemeClr>
            </a:gs>
            <a:gs pos="100000">
              <a:schemeClr val="accent3">
                <a:hueOff val="5625132"/>
                <a:satOff val="-8440"/>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anose="020B0503020204020204" pitchFamily="34" charset="-122"/>
              <a:ea typeface="微软雅黑" panose="020B0503020204020204" pitchFamily="34" charset="-122"/>
            </a:rPr>
            <a:t>时延</a:t>
          </a:r>
        </a:p>
      </dsp:txBody>
      <dsp:txXfrm>
        <a:off x="3099379" y="2451619"/>
        <a:ext cx="578018" cy="578018"/>
      </dsp:txXfrm>
    </dsp:sp>
    <dsp:sp modelId="{78B2782A-5A1E-4DB7-8A32-C245B5326F9D}">
      <dsp:nvSpPr>
        <dsp:cNvPr id="0" name=""/>
        <dsp:cNvSpPr/>
      </dsp:nvSpPr>
      <dsp:spPr>
        <a:xfrm rot="6942857">
          <a:off x="2439981" y="2259722"/>
          <a:ext cx="221505" cy="25751"/>
        </a:xfrm>
        <a:custGeom>
          <a:avLst/>
          <a:gdLst/>
          <a:ahLst/>
          <a:cxnLst/>
          <a:rect l="0" t="0" r="0" b="0"/>
          <a:pathLst>
            <a:path>
              <a:moveTo>
                <a:pt x="0" y="12875"/>
              </a:moveTo>
              <a:lnTo>
                <a:pt x="221505"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rot="10800000">
        <a:off x="2545196" y="2267061"/>
        <a:ext cx="11075" cy="11075"/>
      </dsp:txXfrm>
    </dsp:sp>
    <dsp:sp modelId="{8473F692-BDED-4FE3-8EFA-3135EC8A8BE4}">
      <dsp:nvSpPr>
        <dsp:cNvPr id="0" name=""/>
        <dsp:cNvSpPr/>
      </dsp:nvSpPr>
      <dsp:spPr>
        <a:xfrm>
          <a:off x="1916620" y="2331907"/>
          <a:ext cx="817442" cy="817442"/>
        </a:xfrm>
        <a:prstGeom prst="ellipse">
          <a:avLst/>
        </a:prstGeom>
        <a:gradFill rotWithShape="0">
          <a:gsLst>
            <a:gs pos="0">
              <a:schemeClr val="accent3">
                <a:hueOff val="7500176"/>
                <a:satOff val="-11253"/>
                <a:lumOff val="-1830"/>
                <a:alphaOff val="0"/>
                <a:shade val="51000"/>
                <a:satMod val="130000"/>
              </a:schemeClr>
            </a:gs>
            <a:gs pos="80000">
              <a:schemeClr val="accent3">
                <a:hueOff val="7500176"/>
                <a:satOff val="-11253"/>
                <a:lumOff val="-1830"/>
                <a:alphaOff val="0"/>
                <a:shade val="93000"/>
                <a:satMod val="130000"/>
              </a:schemeClr>
            </a:gs>
            <a:gs pos="100000">
              <a:schemeClr val="accent3">
                <a:hueOff val="7500176"/>
                <a:satOff val="-11253"/>
                <a:lumOff val="-183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时延带宽积</a:t>
          </a:r>
        </a:p>
      </dsp:txBody>
      <dsp:txXfrm>
        <a:off x="2036332" y="2451619"/>
        <a:ext cx="578018" cy="578018"/>
      </dsp:txXfrm>
    </dsp:sp>
    <dsp:sp modelId="{8BB81BB8-E393-4F1D-8B7B-020AC5C16F2F}">
      <dsp:nvSpPr>
        <dsp:cNvPr id="0" name=""/>
        <dsp:cNvSpPr/>
      </dsp:nvSpPr>
      <dsp:spPr>
        <a:xfrm rot="10028571">
          <a:off x="2058241" y="1781036"/>
          <a:ext cx="221502" cy="25751"/>
        </a:xfrm>
        <a:custGeom>
          <a:avLst/>
          <a:gdLst/>
          <a:ahLst/>
          <a:cxnLst/>
          <a:rect l="0" t="0" r="0" b="0"/>
          <a:pathLst>
            <a:path>
              <a:moveTo>
                <a:pt x="0" y="12875"/>
              </a:moveTo>
              <a:lnTo>
                <a:pt x="221502"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rot="10800000">
        <a:off x="2163454" y="1788374"/>
        <a:ext cx="11075" cy="11075"/>
      </dsp:txXfrm>
    </dsp:sp>
    <dsp:sp modelId="{E239F5DF-E3F9-42F3-9ADB-15CF35E6CE45}">
      <dsp:nvSpPr>
        <dsp:cNvPr id="0" name=""/>
        <dsp:cNvSpPr/>
      </dsp:nvSpPr>
      <dsp:spPr>
        <a:xfrm>
          <a:off x="1253822" y="1500784"/>
          <a:ext cx="817442" cy="817442"/>
        </a:xfrm>
        <a:prstGeom prst="ellipse">
          <a:avLst/>
        </a:prstGeom>
        <a:gradFill rotWithShape="0">
          <a:gsLst>
            <a:gs pos="0">
              <a:schemeClr val="accent3">
                <a:hueOff val="9375220"/>
                <a:satOff val="-14067"/>
                <a:lumOff val="-2288"/>
                <a:alphaOff val="0"/>
                <a:shade val="51000"/>
                <a:satMod val="130000"/>
              </a:schemeClr>
            </a:gs>
            <a:gs pos="80000">
              <a:schemeClr val="accent3">
                <a:hueOff val="9375220"/>
                <a:satOff val="-14067"/>
                <a:lumOff val="-2288"/>
                <a:alphaOff val="0"/>
                <a:shade val="93000"/>
                <a:satMod val="130000"/>
              </a:schemeClr>
            </a:gs>
            <a:gs pos="100000">
              <a:schemeClr val="accent3">
                <a:hueOff val="9375220"/>
                <a:satOff val="-14067"/>
                <a:lumOff val="-2288"/>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往返</a:t>
          </a:r>
          <a:endParaRPr lang="en-US" altLang="zh-CN" sz="1400" b="1" kern="1200" dirty="0">
            <a:latin typeface="微软雅黑" panose="020B0503020204020204" pitchFamily="34" charset="-122"/>
            <a:ea typeface="微软雅黑" panose="020B0503020204020204" pitchFamily="34" charset="-122"/>
          </a:endParaRPr>
        </a:p>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时间</a:t>
          </a:r>
        </a:p>
      </dsp:txBody>
      <dsp:txXfrm>
        <a:off x="1373534" y="1620496"/>
        <a:ext cx="578018" cy="578018"/>
      </dsp:txXfrm>
    </dsp:sp>
    <dsp:sp modelId="{AF33E670-42AA-4676-8C3F-58C9EF27EB34}">
      <dsp:nvSpPr>
        <dsp:cNvPr id="0" name=""/>
        <dsp:cNvSpPr/>
      </dsp:nvSpPr>
      <dsp:spPr>
        <a:xfrm rot="13114286">
          <a:off x="2194482" y="1184122"/>
          <a:ext cx="221503" cy="25751"/>
        </a:xfrm>
        <a:custGeom>
          <a:avLst/>
          <a:gdLst/>
          <a:ahLst/>
          <a:cxnLst/>
          <a:rect l="0" t="0" r="0" b="0"/>
          <a:pathLst>
            <a:path>
              <a:moveTo>
                <a:pt x="0" y="12875"/>
              </a:moveTo>
              <a:lnTo>
                <a:pt x="221503"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rot="10800000">
        <a:off x="2299696" y="1191461"/>
        <a:ext cx="11075" cy="11075"/>
      </dsp:txXfrm>
    </dsp:sp>
    <dsp:sp modelId="{26B2A20A-D83E-4FB4-8289-8E75F18D9F17}">
      <dsp:nvSpPr>
        <dsp:cNvPr id="0" name=""/>
        <dsp:cNvSpPr/>
      </dsp:nvSpPr>
      <dsp:spPr>
        <a:xfrm>
          <a:off x="1490372" y="464391"/>
          <a:ext cx="817442" cy="817442"/>
        </a:xfrm>
        <a:prstGeom prst="ellipse">
          <a:avLst/>
        </a:prstGeom>
        <a:gradFill rotWithShape="0">
          <a:gsLst>
            <a:gs pos="0">
              <a:schemeClr val="accent3">
                <a:hueOff val="11250264"/>
                <a:satOff val="-16880"/>
                <a:lumOff val="-2745"/>
                <a:alphaOff val="0"/>
                <a:shade val="51000"/>
                <a:satMod val="130000"/>
              </a:schemeClr>
            </a:gs>
            <a:gs pos="80000">
              <a:schemeClr val="accent3">
                <a:hueOff val="11250264"/>
                <a:satOff val="-16880"/>
                <a:lumOff val="-2745"/>
                <a:alphaOff val="0"/>
                <a:shade val="93000"/>
                <a:satMod val="130000"/>
              </a:schemeClr>
            </a:gs>
            <a:gs pos="100000">
              <a:schemeClr val="accent3">
                <a:hueOff val="11250264"/>
                <a:satOff val="-16880"/>
                <a:lumOff val="-2745"/>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利用率</a:t>
          </a:r>
        </a:p>
      </dsp:txBody>
      <dsp:txXfrm>
        <a:off x="1610084" y="584103"/>
        <a:ext cx="578018" cy="57801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322834-D555-4278-B09F-615875E565CE}">
      <dsp:nvSpPr>
        <dsp:cNvPr id="0" name=""/>
        <dsp:cNvSpPr/>
      </dsp:nvSpPr>
      <dsp:spPr>
        <a:xfrm rot="5400000">
          <a:off x="4078914" y="-2631000"/>
          <a:ext cx="934555" cy="6430253"/>
        </a:xfrm>
        <a:prstGeom prst="round2Same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某个信号具有的</a:t>
          </a:r>
          <a:r>
            <a:rPr lang="zh-CN" altLang="en-US" sz="1600" b="1" kern="1200" dirty="0">
              <a:solidFill>
                <a:srgbClr val="0000FF"/>
              </a:solidFill>
              <a:latin typeface="微软雅黑" panose="020B0503020204020204" pitchFamily="34" charset="-122"/>
              <a:ea typeface="微软雅黑" panose="020B0503020204020204" pitchFamily="34" charset="-122"/>
            </a:rPr>
            <a:t>频带宽度。</a:t>
          </a:r>
        </a:p>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单位是</a:t>
          </a:r>
          <a:r>
            <a:rPr lang="zh-CN" altLang="en-US" sz="1600" b="1" kern="1200" dirty="0">
              <a:solidFill>
                <a:srgbClr val="0000FF"/>
              </a:solidFill>
              <a:latin typeface="微软雅黑" panose="020B0503020204020204" pitchFamily="34" charset="-122"/>
              <a:ea typeface="微软雅黑" panose="020B0503020204020204" pitchFamily="34" charset="-122"/>
            </a:rPr>
            <a:t>赫</a:t>
          </a:r>
          <a:r>
            <a:rPr lang="zh-CN" altLang="en-US" sz="1600" b="1" kern="1200" dirty="0">
              <a:latin typeface="微软雅黑" panose="020B0503020204020204" pitchFamily="34" charset="-122"/>
              <a:ea typeface="微软雅黑" panose="020B0503020204020204" pitchFamily="34" charset="-122"/>
            </a:rPr>
            <a:t>（或千赫、兆赫、吉赫等）。</a:t>
          </a:r>
        </a:p>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某信道允许通过的信号频带范围称为该</a:t>
          </a:r>
          <a:r>
            <a:rPr lang="zh-CN" altLang="en-US" sz="1600" b="1" kern="1200" dirty="0">
              <a:solidFill>
                <a:srgbClr val="0000FF"/>
              </a:solidFill>
              <a:latin typeface="微软雅黑" panose="020B0503020204020204" pitchFamily="34" charset="-122"/>
              <a:ea typeface="微软雅黑" panose="020B0503020204020204" pitchFamily="34" charset="-122"/>
            </a:rPr>
            <a:t>信道的带宽</a:t>
          </a:r>
          <a:r>
            <a:rPr lang="zh-CN" altLang="en-US" sz="1600" b="1" kern="1200" dirty="0">
              <a:latin typeface="微软雅黑" panose="020B0503020204020204" pitchFamily="34" charset="-122"/>
              <a:ea typeface="微软雅黑" panose="020B0503020204020204" pitchFamily="34" charset="-122"/>
            </a:rPr>
            <a:t>（或通频带）。</a:t>
          </a:r>
        </a:p>
      </dsp:txBody>
      <dsp:txXfrm rot="-5400000">
        <a:off x="1331066" y="162469"/>
        <a:ext cx="6384632" cy="843313"/>
      </dsp:txXfrm>
    </dsp:sp>
    <dsp:sp modelId="{12490A3D-6938-465D-B09D-05FD246C6E9E}">
      <dsp:nvSpPr>
        <dsp:cNvPr id="0" name=""/>
        <dsp:cNvSpPr/>
      </dsp:nvSpPr>
      <dsp:spPr>
        <a:xfrm>
          <a:off x="137354" y="29"/>
          <a:ext cx="1193710" cy="1168193"/>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ts val="2400"/>
            </a:lnSpc>
            <a:spcBef>
              <a:spcPts val="0"/>
            </a:spcBef>
            <a:spcAft>
              <a:spcPts val="0"/>
            </a:spcAft>
            <a:buNone/>
          </a:pPr>
          <a:r>
            <a:rPr lang="zh-CN" altLang="en-US" sz="1800" b="1" kern="1200" dirty="0">
              <a:solidFill>
                <a:schemeClr val="bg1"/>
              </a:solidFill>
              <a:latin typeface="微软雅黑" panose="020B0503020204020204" pitchFamily="34" charset="-122"/>
              <a:ea typeface="微软雅黑" panose="020B0503020204020204" pitchFamily="34" charset="-122"/>
            </a:rPr>
            <a:t>频域</a:t>
          </a:r>
        </a:p>
      </dsp:txBody>
      <dsp:txXfrm>
        <a:off x="194380" y="57055"/>
        <a:ext cx="1079658" cy="1054141"/>
      </dsp:txXfrm>
    </dsp:sp>
    <dsp:sp modelId="{4EADB46F-8684-4B72-97FE-D18AEB647819}">
      <dsp:nvSpPr>
        <dsp:cNvPr id="0" name=""/>
        <dsp:cNvSpPr/>
      </dsp:nvSpPr>
      <dsp:spPr>
        <a:xfrm rot="5400000">
          <a:off x="4078914" y="-1438246"/>
          <a:ext cx="934555" cy="6430253"/>
        </a:xfrm>
        <a:prstGeom prst="round2Same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网络中某通道传送数据的能力，表示在单位时间内网络中的某信道所能通过的</a:t>
          </a:r>
          <a:r>
            <a:rPr lang="zh-CN" altLang="en-US" sz="1600" b="1" kern="1200" dirty="0">
              <a:solidFill>
                <a:srgbClr val="0000FF"/>
              </a:solidFill>
              <a:latin typeface="微软雅黑" panose="020B0503020204020204" pitchFamily="34" charset="-122"/>
              <a:ea typeface="微软雅黑" panose="020B0503020204020204" pitchFamily="34" charset="-122"/>
            </a:rPr>
            <a:t>“最高数据率”。</a:t>
          </a:r>
        </a:p>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单位就是数据率的单位 </a:t>
          </a:r>
          <a:r>
            <a:rPr lang="en-US" altLang="en-US" sz="1600" b="1" kern="1200" dirty="0">
              <a:latin typeface="微软雅黑" panose="020B0503020204020204" pitchFamily="34" charset="-122"/>
              <a:ea typeface="微软雅黑" panose="020B0503020204020204" pitchFamily="34" charset="-122"/>
            </a:rPr>
            <a:t>bit/s</a:t>
          </a:r>
          <a:r>
            <a:rPr lang="zh-CN" altLang="en-US" sz="1600" b="1" kern="1200" dirty="0">
              <a:latin typeface="微软雅黑" panose="020B0503020204020204" pitchFamily="34" charset="-122"/>
              <a:ea typeface="微软雅黑" panose="020B0503020204020204" pitchFamily="34" charset="-122"/>
            </a:rPr>
            <a:t>。</a:t>
          </a:r>
        </a:p>
      </dsp:txBody>
      <dsp:txXfrm rot="-5400000">
        <a:off x="1331066" y="1355223"/>
        <a:ext cx="6384632" cy="843313"/>
      </dsp:txXfrm>
    </dsp:sp>
    <dsp:sp modelId="{90C011AE-3F91-416D-B2FD-433B35EC17A6}">
      <dsp:nvSpPr>
        <dsp:cNvPr id="0" name=""/>
        <dsp:cNvSpPr/>
      </dsp:nvSpPr>
      <dsp:spPr>
        <a:xfrm>
          <a:off x="137354" y="1192766"/>
          <a:ext cx="1193710" cy="1168193"/>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ts val="2400"/>
            </a:lnSpc>
            <a:spcBef>
              <a:spcPts val="0"/>
            </a:spcBef>
            <a:spcAft>
              <a:spcPts val="0"/>
            </a:spcAft>
            <a:buNone/>
          </a:pPr>
          <a:r>
            <a:rPr lang="zh-CN" altLang="en-US" sz="1800" b="1" kern="1200" dirty="0">
              <a:solidFill>
                <a:schemeClr val="tx1"/>
              </a:solidFill>
              <a:latin typeface="微软雅黑" panose="020B0503020204020204" pitchFamily="34" charset="-122"/>
              <a:ea typeface="微软雅黑" panose="020B0503020204020204" pitchFamily="34" charset="-122"/>
            </a:rPr>
            <a:t>时域</a:t>
          </a:r>
        </a:p>
      </dsp:txBody>
      <dsp:txXfrm>
        <a:off x="194380" y="1249792"/>
        <a:ext cx="1079658" cy="105414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98D618-F8FC-4C90-851C-0B5A61F1FAD0}">
      <dsp:nvSpPr>
        <dsp:cNvPr id="0" name=""/>
        <dsp:cNvSpPr/>
      </dsp:nvSpPr>
      <dsp:spPr>
        <a:xfrm>
          <a:off x="29" y="3808"/>
          <a:ext cx="2848570" cy="527464"/>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w="9525" cap="flat" cmpd="sng" algn="ctr">
          <a:solidFill>
            <a:schemeClr val="accent2">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信道利用率</a:t>
          </a:r>
        </a:p>
      </dsp:txBody>
      <dsp:txXfrm>
        <a:off x="29" y="3808"/>
        <a:ext cx="2848570" cy="527464"/>
      </dsp:txXfrm>
    </dsp:sp>
    <dsp:sp modelId="{DD1A8C17-AB8B-4CDA-9C06-E3F6B80DFAB1}">
      <dsp:nvSpPr>
        <dsp:cNvPr id="0" name=""/>
        <dsp:cNvSpPr/>
      </dsp:nvSpPr>
      <dsp:spPr>
        <a:xfrm>
          <a:off x="29" y="531272"/>
          <a:ext cx="2848570" cy="208619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某信道有百分之几的时间是被利用的（即有数据通过）。</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完全空闲的信道的利用率是零。</a:t>
          </a:r>
        </a:p>
      </dsp:txBody>
      <dsp:txXfrm>
        <a:off x="29" y="531272"/>
        <a:ext cx="2848570" cy="2086199"/>
      </dsp:txXfrm>
    </dsp:sp>
    <dsp:sp modelId="{95E674E6-30C0-4846-A33C-8435093FF952}">
      <dsp:nvSpPr>
        <dsp:cNvPr id="0" name=""/>
        <dsp:cNvSpPr/>
      </dsp:nvSpPr>
      <dsp:spPr>
        <a:xfrm>
          <a:off x="3247399" y="3808"/>
          <a:ext cx="2848570" cy="527464"/>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网络利用率</a:t>
          </a:r>
        </a:p>
      </dsp:txBody>
      <dsp:txXfrm>
        <a:off x="3247399" y="3808"/>
        <a:ext cx="2848570" cy="527464"/>
      </dsp:txXfrm>
    </dsp:sp>
    <dsp:sp modelId="{D5B1C811-7FFB-4E90-B609-AF3320FECF06}">
      <dsp:nvSpPr>
        <dsp:cNvPr id="0" name=""/>
        <dsp:cNvSpPr/>
      </dsp:nvSpPr>
      <dsp:spPr>
        <a:xfrm>
          <a:off x="3247399" y="531272"/>
          <a:ext cx="2848570" cy="2086199"/>
        </a:xfrm>
        <a:prstGeom prst="rect">
          <a:avLst/>
        </a:prstGeom>
        <a:solidFill>
          <a:schemeClr val="accent3">
            <a:tint val="40000"/>
            <a:alpha val="90000"/>
            <a:hueOff val="0"/>
            <a:satOff val="0"/>
            <a:lumOff val="0"/>
            <a:alphaOff val="0"/>
          </a:schemeClr>
        </a:solidFill>
        <a:ln w="9525" cap="flat" cmpd="sng" algn="ctr">
          <a:solidFill>
            <a:schemeClr val="accent3">
              <a:tint val="40000"/>
              <a:alpha val="90000"/>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全网络的信道利用率的加权平均值。</a:t>
          </a:r>
        </a:p>
      </dsp:txBody>
      <dsp:txXfrm>
        <a:off x="3247399" y="531272"/>
        <a:ext cx="2848570" cy="208619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7B4ED7-5247-4B99-B038-972624275F7F}">
      <dsp:nvSpPr>
        <dsp:cNvPr id="0" name=""/>
        <dsp:cNvSpPr/>
      </dsp:nvSpPr>
      <dsp:spPr>
        <a:xfrm rot="5400000">
          <a:off x="3075854" y="75619"/>
          <a:ext cx="1155331" cy="1005138"/>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solidFill>
                <a:schemeClr val="tx1"/>
              </a:solidFill>
              <a:latin typeface="微软雅黑" panose="020B0503020204020204" pitchFamily="34" charset="-122"/>
              <a:ea typeface="微软雅黑" panose="020B0503020204020204" pitchFamily="34" charset="-122"/>
            </a:rPr>
            <a:t>费用</a:t>
          </a:r>
        </a:p>
      </dsp:txBody>
      <dsp:txXfrm rot="-5400000">
        <a:off x="3307584" y="180562"/>
        <a:ext cx="691870" cy="795253"/>
      </dsp:txXfrm>
    </dsp:sp>
    <dsp:sp modelId="{0EC6F23C-19FA-4BBB-96C2-30D954DFEC45}">
      <dsp:nvSpPr>
        <dsp:cNvPr id="0" name=""/>
        <dsp:cNvSpPr/>
      </dsp:nvSpPr>
      <dsp:spPr>
        <a:xfrm>
          <a:off x="4186590" y="231589"/>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标准化</a:t>
          </a:r>
        </a:p>
      </dsp:txBody>
      <dsp:txXfrm>
        <a:off x="4186590" y="231589"/>
        <a:ext cx="1289350" cy="693199"/>
      </dsp:txXfrm>
    </dsp:sp>
    <dsp:sp modelId="{538930E3-AFBB-40A2-9199-81FC54A0A713}">
      <dsp:nvSpPr>
        <dsp:cNvPr id="0" name=""/>
        <dsp:cNvSpPr/>
      </dsp:nvSpPr>
      <dsp:spPr>
        <a:xfrm rot="5400000">
          <a:off x="1990305" y="75619"/>
          <a:ext cx="1155331" cy="1005138"/>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2222035" y="180562"/>
        <a:ext cx="691870" cy="795253"/>
      </dsp:txXfrm>
    </dsp:sp>
    <dsp:sp modelId="{189B3354-A08F-46B4-AA51-80167B86E07E}">
      <dsp:nvSpPr>
        <dsp:cNvPr id="0" name=""/>
        <dsp:cNvSpPr/>
      </dsp:nvSpPr>
      <dsp:spPr>
        <a:xfrm rot="5400000">
          <a:off x="2531000" y="1056265"/>
          <a:ext cx="1155331" cy="1005138"/>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solidFill>
                <a:schemeClr val="tx1"/>
              </a:solidFill>
              <a:latin typeface="微软雅黑" panose="020B0503020204020204" pitchFamily="34" charset="-122"/>
              <a:ea typeface="微软雅黑" panose="020B0503020204020204" pitchFamily="34" charset="-122"/>
            </a:rPr>
            <a:t>质量</a:t>
          </a:r>
        </a:p>
      </dsp:txBody>
      <dsp:txXfrm rot="-5400000">
        <a:off x="2762730" y="1161208"/>
        <a:ext cx="691870" cy="795253"/>
      </dsp:txXfrm>
    </dsp:sp>
    <dsp:sp modelId="{30C810D8-43FD-41C8-A342-08B348498E1F}">
      <dsp:nvSpPr>
        <dsp:cNvPr id="0" name=""/>
        <dsp:cNvSpPr/>
      </dsp:nvSpPr>
      <dsp:spPr>
        <a:xfrm>
          <a:off x="1316746" y="1212234"/>
          <a:ext cx="1247758"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可靠性</a:t>
          </a:r>
        </a:p>
      </dsp:txBody>
      <dsp:txXfrm>
        <a:off x="1316746" y="1212234"/>
        <a:ext cx="1247758" cy="693199"/>
      </dsp:txXfrm>
    </dsp:sp>
    <dsp:sp modelId="{2E871E28-410D-4C73-B809-46EEEE1B5408}">
      <dsp:nvSpPr>
        <dsp:cNvPr id="0" name=""/>
        <dsp:cNvSpPr/>
      </dsp:nvSpPr>
      <dsp:spPr>
        <a:xfrm rot="5400000">
          <a:off x="3616550" y="1056265"/>
          <a:ext cx="1155331" cy="1005138"/>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3848280" y="1161208"/>
        <a:ext cx="691870" cy="795253"/>
      </dsp:txXfrm>
    </dsp:sp>
    <dsp:sp modelId="{6CCD66D6-E3E3-4758-A25B-E5A97FDFEEA0}">
      <dsp:nvSpPr>
        <dsp:cNvPr id="0" name=""/>
        <dsp:cNvSpPr/>
      </dsp:nvSpPr>
      <dsp:spPr>
        <a:xfrm rot="5400000">
          <a:off x="3075854" y="2036910"/>
          <a:ext cx="1155331" cy="1005138"/>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zh-CN" altLang="en-US" sz="1500" b="1" kern="1200" dirty="0">
              <a:solidFill>
                <a:schemeClr val="tx1"/>
              </a:solidFill>
              <a:latin typeface="微软雅黑" panose="020B0503020204020204" pitchFamily="34" charset="-122"/>
              <a:ea typeface="微软雅黑" panose="020B0503020204020204" pitchFamily="34" charset="-122"/>
            </a:rPr>
            <a:t>管理和维护</a:t>
          </a:r>
        </a:p>
      </dsp:txBody>
      <dsp:txXfrm rot="-5400000">
        <a:off x="3307584" y="2141853"/>
        <a:ext cx="691870" cy="795253"/>
      </dsp:txXfrm>
    </dsp:sp>
    <dsp:sp modelId="{95ED7348-6155-4B72-B2AA-9F71065BC8B5}">
      <dsp:nvSpPr>
        <dsp:cNvPr id="0" name=""/>
        <dsp:cNvSpPr/>
      </dsp:nvSpPr>
      <dsp:spPr>
        <a:xfrm>
          <a:off x="4186590" y="2192880"/>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可扩展性和可升级性</a:t>
          </a:r>
        </a:p>
      </dsp:txBody>
      <dsp:txXfrm>
        <a:off x="4186590" y="2192880"/>
        <a:ext cx="1289350" cy="693199"/>
      </dsp:txXfrm>
    </dsp:sp>
    <dsp:sp modelId="{F96182DC-DEA1-4092-96CB-670F76C0F2C9}">
      <dsp:nvSpPr>
        <dsp:cNvPr id="0" name=""/>
        <dsp:cNvSpPr/>
      </dsp:nvSpPr>
      <dsp:spPr>
        <a:xfrm rot="5400000">
          <a:off x="1990305" y="2036910"/>
          <a:ext cx="1155331" cy="1005138"/>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2222035" y="2141853"/>
        <a:ext cx="691870" cy="79525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591867-A15A-4C01-989E-2D8E71AD280E}">
      <dsp:nvSpPr>
        <dsp:cNvPr id="0" name=""/>
        <dsp:cNvSpPr/>
      </dsp:nvSpPr>
      <dsp:spPr>
        <a:xfrm>
          <a:off x="0" y="9188"/>
          <a:ext cx="4963885" cy="711360"/>
        </a:xfrm>
        <a:prstGeom prst="roundRect">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法律上的 </a:t>
          </a:r>
          <a:r>
            <a:rPr lang="en-US" altLang="en-US" sz="2000" b="1" kern="1200" dirty="0">
              <a:latin typeface="微软雅黑" panose="020B0503020204020204" pitchFamily="34" charset="-122"/>
              <a:ea typeface="微软雅黑" panose="020B0503020204020204" pitchFamily="34" charset="-122"/>
            </a:rPr>
            <a:t>(de jure) </a:t>
          </a:r>
          <a:r>
            <a:rPr lang="zh-CN" altLang="en-US" sz="2000" b="1" kern="1200" dirty="0">
              <a:latin typeface="微软雅黑" panose="020B0503020204020204" pitchFamily="34" charset="-122"/>
              <a:ea typeface="微软雅黑" panose="020B0503020204020204" pitchFamily="34" charset="-122"/>
            </a:rPr>
            <a:t>国际标准 </a:t>
          </a:r>
          <a:r>
            <a:rPr lang="en-US" altLang="en-US" sz="2000" b="1" kern="1200" dirty="0">
              <a:latin typeface="微软雅黑" panose="020B0503020204020204" pitchFamily="34" charset="-122"/>
              <a:ea typeface="微软雅黑" panose="020B0503020204020204" pitchFamily="34" charset="-122"/>
            </a:rPr>
            <a:t>OSI</a:t>
          </a:r>
          <a:endParaRPr lang="zh-CN" altLang="en-US" sz="2000" b="1" kern="1200" dirty="0">
            <a:latin typeface="微软雅黑" panose="020B0503020204020204" pitchFamily="34" charset="-122"/>
            <a:ea typeface="微软雅黑" panose="020B0503020204020204" pitchFamily="34" charset="-122"/>
          </a:endParaRPr>
        </a:p>
      </dsp:txBody>
      <dsp:txXfrm>
        <a:off x="34726" y="43914"/>
        <a:ext cx="4894433" cy="641908"/>
      </dsp:txXfrm>
    </dsp:sp>
    <dsp:sp modelId="{0CB64F91-1AC8-4F08-AB65-6A4FEE705282}">
      <dsp:nvSpPr>
        <dsp:cNvPr id="0" name=""/>
        <dsp:cNvSpPr/>
      </dsp:nvSpPr>
      <dsp:spPr>
        <a:xfrm>
          <a:off x="0" y="720548"/>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zh-CN" altLang="en-US" sz="2000" b="1" kern="1200" dirty="0">
              <a:latin typeface="微软雅黑" panose="020B0503020204020204" pitchFamily="34" charset="-122"/>
              <a:ea typeface="微软雅黑" panose="020B0503020204020204" pitchFamily="34" charset="-122"/>
            </a:rPr>
            <a:t>但并没有得到市场的认可。</a:t>
          </a:r>
        </a:p>
      </dsp:txBody>
      <dsp:txXfrm>
        <a:off x="0" y="720548"/>
        <a:ext cx="4963885" cy="629280"/>
      </dsp:txXfrm>
    </dsp:sp>
    <dsp:sp modelId="{533E5313-0390-4A3E-9304-2F63C7C13FAF}">
      <dsp:nvSpPr>
        <dsp:cNvPr id="0" name=""/>
        <dsp:cNvSpPr/>
      </dsp:nvSpPr>
      <dsp:spPr>
        <a:xfrm>
          <a:off x="0" y="1349829"/>
          <a:ext cx="4963885" cy="711360"/>
        </a:xfrm>
        <a:prstGeom prst="roundRect">
          <a:avLst/>
        </a:prstGeom>
        <a:gradFill rotWithShape="0">
          <a:gsLst>
            <a:gs pos="0">
              <a:schemeClr val="accent4">
                <a:hueOff val="-4464770"/>
                <a:satOff val="26899"/>
                <a:lumOff val="2156"/>
                <a:alphaOff val="0"/>
                <a:tint val="50000"/>
                <a:satMod val="300000"/>
              </a:schemeClr>
            </a:gs>
            <a:gs pos="35000">
              <a:schemeClr val="accent4">
                <a:hueOff val="-4464770"/>
                <a:satOff val="26899"/>
                <a:lumOff val="2156"/>
                <a:alphaOff val="0"/>
                <a:tint val="37000"/>
                <a:satMod val="300000"/>
              </a:schemeClr>
            </a:gs>
            <a:gs pos="100000">
              <a:schemeClr val="accent4">
                <a:hueOff val="-4464770"/>
                <a:satOff val="26899"/>
                <a:lumOff val="215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事实上的 </a:t>
          </a:r>
          <a:r>
            <a:rPr lang="en-US" altLang="en-US" sz="2000" b="1" kern="1200" dirty="0">
              <a:latin typeface="微软雅黑" panose="020B0503020204020204" pitchFamily="34" charset="-122"/>
              <a:ea typeface="微软雅黑" panose="020B0503020204020204" pitchFamily="34" charset="-122"/>
            </a:rPr>
            <a:t>(de facto) </a:t>
          </a:r>
          <a:r>
            <a:rPr lang="zh-CN" altLang="en-US" sz="2000" b="1" kern="1200" dirty="0">
              <a:latin typeface="微软雅黑" panose="020B0503020204020204" pitchFamily="34" charset="-122"/>
              <a:ea typeface="微软雅黑" panose="020B0503020204020204" pitchFamily="34" charset="-122"/>
            </a:rPr>
            <a:t>国际标准 </a:t>
          </a:r>
          <a:r>
            <a:rPr lang="en-US" altLang="en-US" sz="2000" b="1" kern="1200" dirty="0">
              <a:latin typeface="微软雅黑" panose="020B0503020204020204" pitchFamily="34" charset="-122"/>
              <a:ea typeface="微软雅黑" panose="020B0503020204020204" pitchFamily="34" charset="-122"/>
            </a:rPr>
            <a:t>TCP/IP</a:t>
          </a:r>
          <a:endParaRPr lang="zh-CN" altLang="en-US" sz="2000" b="1" kern="1200" dirty="0">
            <a:latin typeface="微软雅黑" panose="020B0503020204020204" pitchFamily="34" charset="-122"/>
            <a:ea typeface="微软雅黑" panose="020B0503020204020204" pitchFamily="34" charset="-122"/>
          </a:endParaRPr>
        </a:p>
      </dsp:txBody>
      <dsp:txXfrm>
        <a:off x="34726" y="1384555"/>
        <a:ext cx="4894433" cy="641908"/>
      </dsp:txXfrm>
    </dsp:sp>
    <dsp:sp modelId="{D4FB4936-BF1D-4807-8D25-E8B1D64E8CFA}">
      <dsp:nvSpPr>
        <dsp:cNvPr id="0" name=""/>
        <dsp:cNvSpPr/>
      </dsp:nvSpPr>
      <dsp:spPr>
        <a:xfrm>
          <a:off x="0" y="2061189"/>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zh-CN" altLang="en-US" sz="2000" b="1" kern="1200" dirty="0">
              <a:latin typeface="微软雅黑" panose="020B0503020204020204" pitchFamily="34" charset="-122"/>
              <a:ea typeface="微软雅黑" panose="020B0503020204020204" pitchFamily="34" charset="-122"/>
            </a:rPr>
            <a:t>获得了最广泛的应用。</a:t>
          </a:r>
        </a:p>
      </dsp:txBody>
      <dsp:txXfrm>
        <a:off x="0" y="2061189"/>
        <a:ext cx="4963885" cy="62928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355ABF-AFD4-4429-AC0C-B179A1BF75DA}">
      <dsp:nvSpPr>
        <dsp:cNvPr id="0" name=""/>
        <dsp:cNvSpPr/>
      </dsp:nvSpPr>
      <dsp:spPr>
        <a:xfrm>
          <a:off x="0" y="332336"/>
          <a:ext cx="6133577" cy="504000"/>
        </a:xfrm>
        <a:prstGeom prst="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1788D26-F979-4FB7-8A96-4711D82825B8}">
      <dsp:nvSpPr>
        <dsp:cNvPr id="0" name=""/>
        <dsp:cNvSpPr/>
      </dsp:nvSpPr>
      <dsp:spPr>
        <a:xfrm>
          <a:off x="306678" y="37136"/>
          <a:ext cx="4293503" cy="590400"/>
        </a:xfrm>
        <a:prstGeom prst="round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2284" tIns="0" rIns="162284" bIns="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solidFill>
                <a:schemeClr val="bg1"/>
              </a:solidFill>
              <a:latin typeface="微软雅黑" panose="020B0503020204020204" pitchFamily="34" charset="-122"/>
              <a:ea typeface="微软雅黑" panose="020B0503020204020204" pitchFamily="34" charset="-122"/>
            </a:rPr>
            <a:t>文字描述：便于人来阅读和理解。</a:t>
          </a:r>
        </a:p>
      </dsp:txBody>
      <dsp:txXfrm>
        <a:off x="335499" y="65957"/>
        <a:ext cx="4235861" cy="532758"/>
      </dsp:txXfrm>
    </dsp:sp>
    <dsp:sp modelId="{3072F165-7A76-46AC-BCC0-0FC97CA5F9F5}">
      <dsp:nvSpPr>
        <dsp:cNvPr id="0" name=""/>
        <dsp:cNvSpPr/>
      </dsp:nvSpPr>
      <dsp:spPr>
        <a:xfrm>
          <a:off x="0" y="1239536"/>
          <a:ext cx="6133577" cy="504000"/>
        </a:xfrm>
        <a:prstGeom prst="rect">
          <a:avLst/>
        </a:prstGeom>
        <a:solidFill>
          <a:schemeClr val="lt1">
            <a:alpha val="90000"/>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F367B3BE-A2DF-4CEA-8C18-99C09218A893}">
      <dsp:nvSpPr>
        <dsp:cNvPr id="0" name=""/>
        <dsp:cNvSpPr/>
      </dsp:nvSpPr>
      <dsp:spPr>
        <a:xfrm>
          <a:off x="306678" y="944336"/>
          <a:ext cx="4293503" cy="590400"/>
        </a:xfrm>
        <a:prstGeom prst="roundRect">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2284" tIns="0" rIns="162284" bIns="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solidFill>
                <a:srgbClr val="000066"/>
              </a:solidFill>
              <a:latin typeface="微软雅黑" panose="020B0503020204020204" pitchFamily="34" charset="-122"/>
              <a:ea typeface="微软雅黑" panose="020B0503020204020204" pitchFamily="34" charset="-122"/>
            </a:rPr>
            <a:t>程序代码：让计算机能够理解。</a:t>
          </a:r>
        </a:p>
      </dsp:txBody>
      <dsp:txXfrm>
        <a:off x="335499" y="973157"/>
        <a:ext cx="4235861" cy="532758"/>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333D2C-A9D6-4FB9-868E-7A2772597538}">
      <dsp:nvSpPr>
        <dsp:cNvPr id="0" name=""/>
        <dsp:cNvSpPr/>
      </dsp:nvSpPr>
      <dsp:spPr>
        <a:xfrm>
          <a:off x="285727" y="396795"/>
          <a:ext cx="5524544" cy="1891150"/>
        </a:xfrm>
        <a:prstGeom prst="rect">
          <a:avLst/>
        </a:prstGeom>
        <a:solidFill>
          <a:schemeClr val="tx2">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F411F94-BA29-40FB-AB99-7CD7DB1CFA05}">
      <dsp:nvSpPr>
        <dsp:cNvPr id="0" name=""/>
        <dsp:cNvSpPr/>
      </dsp:nvSpPr>
      <dsp:spPr>
        <a:xfrm>
          <a:off x="803796" y="582892"/>
          <a:ext cx="2089139" cy="1617856"/>
        </a:xfrm>
        <a:prstGeom prst="rect">
          <a:avLst/>
        </a:prstGeom>
        <a:gradFill rotWithShape="1">
          <a:gsLst>
            <a:gs pos="0">
              <a:schemeClr val="accent2">
                <a:tint val="50000"/>
                <a:satMod val="300000"/>
              </a:schemeClr>
            </a:gs>
            <a:gs pos="35000">
              <a:schemeClr val="accent2">
                <a:tint val="37000"/>
                <a:satMod val="300000"/>
              </a:schemeClr>
            </a:gs>
            <a:gs pos="100000">
              <a:schemeClr val="accent2">
                <a:tint val="15000"/>
                <a:satMod val="350000"/>
              </a:schemeClr>
            </a:gs>
          </a:gsLst>
          <a:lin ang="16200000" scaled="1"/>
        </a:gradFill>
        <a:ln w="9525" cap="flat" cmpd="sng" algn="ctr">
          <a:solidFill>
            <a:schemeClr val="accent2">
              <a:shade val="95000"/>
              <a:satMod val="105000"/>
            </a:schemeClr>
          </a:solidFill>
          <a:prstDash val="solid"/>
        </a:ln>
        <a:effectLst>
          <a:outerShdw blurRad="40000" dist="20000" dir="5400000" rotWithShape="0">
            <a:srgbClr val="000000">
              <a:alpha val="38000"/>
            </a:srgbClr>
          </a:outerShdw>
        </a:effectLst>
      </dsp:spPr>
      <dsp:style>
        <a:lnRef idx="1">
          <a:schemeClr val="accent2"/>
        </a:lnRef>
        <a:fillRef idx="2">
          <a:schemeClr val="accent2"/>
        </a:fillRef>
        <a:effectRef idx="1">
          <a:schemeClr val="accent2"/>
        </a:effectRef>
        <a:fontRef idx="minor">
          <a:schemeClr val="dk1"/>
        </a:fontRef>
      </dsp:style>
      <dsp:txBody>
        <a:bodyPr spcFirstLastPara="0" vert="horz" wrap="square" lIns="30480" tIns="30480" rIns="30480" bIns="30480" numCol="1" spcCol="1270" anchor="t" anchorCtr="0">
          <a:noAutofit/>
        </a:bodyPr>
        <a:lstStyle/>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各层之间是独立的。</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灵活性好。</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结构上可分割开。</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易于实现和维护</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能促进标准化工作。</a:t>
          </a:r>
        </a:p>
      </dsp:txBody>
      <dsp:txXfrm>
        <a:off x="803796" y="582892"/>
        <a:ext cx="2089139" cy="1617856"/>
      </dsp:txXfrm>
    </dsp:sp>
    <dsp:sp modelId="{CB7DDDF6-2C8B-4B30-A06C-1EA5DB141FBA}">
      <dsp:nvSpPr>
        <dsp:cNvPr id="0" name=""/>
        <dsp:cNvSpPr/>
      </dsp:nvSpPr>
      <dsp:spPr>
        <a:xfrm>
          <a:off x="3201159" y="580999"/>
          <a:ext cx="2110466" cy="1617856"/>
        </a:xfrm>
        <a:prstGeom prst="rect">
          <a:avLst/>
        </a:prstGeom>
        <a:gradFill rotWithShape="1">
          <a:gsLst>
            <a:gs pos="0">
              <a:schemeClr val="accent3">
                <a:tint val="50000"/>
                <a:satMod val="300000"/>
              </a:schemeClr>
            </a:gs>
            <a:gs pos="35000">
              <a:schemeClr val="accent3">
                <a:tint val="37000"/>
                <a:satMod val="300000"/>
              </a:schemeClr>
            </a:gs>
            <a:gs pos="100000">
              <a:schemeClr val="accent3">
                <a:tint val="15000"/>
                <a:satMod val="350000"/>
              </a:schemeClr>
            </a:gs>
          </a:gsLst>
          <a:lin ang="16200000" scaled="1"/>
        </a:gradFill>
        <a:ln w="9525" cap="flat" cmpd="sng" algn="ctr">
          <a:solidFill>
            <a:schemeClr val="accent3">
              <a:shade val="95000"/>
              <a:satMod val="105000"/>
            </a:schemeClr>
          </a:solidFill>
          <a:prstDash val="solid"/>
        </a:ln>
        <a:effectLst>
          <a:outerShdw blurRad="40000" dist="20000" dir="5400000" rotWithShape="0">
            <a:srgbClr val="000000">
              <a:alpha val="38000"/>
            </a:srgbClr>
          </a:outerShdw>
        </a:effectLst>
      </dsp:spPr>
      <dsp:style>
        <a:lnRef idx="1">
          <a:schemeClr val="accent3"/>
        </a:lnRef>
        <a:fillRef idx="2">
          <a:schemeClr val="accent3"/>
        </a:fillRef>
        <a:effectRef idx="1">
          <a:schemeClr val="accent3"/>
        </a:effectRef>
        <a:fontRef idx="minor">
          <a:schemeClr val="dk1"/>
        </a:fontRef>
      </dsp:style>
      <dsp:txBody>
        <a:bodyPr spcFirstLastPara="0" vert="horz" wrap="square" lIns="30480" tIns="30480" rIns="30480" bIns="30480" numCol="1" spcCol="1270" anchor="t" anchorCtr="0">
          <a:noAutofit/>
        </a:bodyPr>
        <a:lstStyle/>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有些功能会重复出现，因而产生了额外开销。</a:t>
          </a:r>
          <a:endParaRPr lang="en-US" altLang="zh-CN" sz="1600" b="1" kern="1200" dirty="0">
            <a:latin typeface="微软雅黑" panose="020B0503020204020204" pitchFamily="34" charset="-122"/>
            <a:ea typeface="微软雅黑" panose="020B0503020204020204" pitchFamily="34" charset="-122"/>
          </a:endParaRPr>
        </a:p>
      </dsp:txBody>
      <dsp:txXfrm>
        <a:off x="3201159" y="580999"/>
        <a:ext cx="2110466" cy="1617856"/>
      </dsp:txXfrm>
    </dsp:sp>
    <dsp:sp modelId="{DF706164-FCCA-4F26-8B31-EABB82ABC165}">
      <dsp:nvSpPr>
        <dsp:cNvPr id="0" name=""/>
        <dsp:cNvSpPr/>
      </dsp:nvSpPr>
      <dsp:spPr>
        <a:xfrm>
          <a:off x="0" y="18334"/>
          <a:ext cx="715053" cy="715053"/>
        </a:xfrm>
        <a:prstGeom prst="plus">
          <a:avLst>
            <a:gd name="adj" fmla="val 32810"/>
          </a:avLst>
        </a:prstGeom>
        <a:solidFill>
          <a:srgbClr val="990033"/>
        </a:solidFill>
        <a:ln w="25400" cap="flat" cmpd="sng" algn="ctr">
          <a:solidFill>
            <a:srgbClr val="990033"/>
          </a:solidFill>
          <a:prstDash val="solid"/>
        </a:ln>
        <a:effectLst/>
      </dsp:spPr>
      <dsp:style>
        <a:lnRef idx="2">
          <a:scrgbClr r="0" g="0" b="0"/>
        </a:lnRef>
        <a:fillRef idx="1">
          <a:scrgbClr r="0" g="0" b="0"/>
        </a:fillRef>
        <a:effectRef idx="0">
          <a:scrgbClr r="0" g="0" b="0"/>
        </a:effectRef>
        <a:fontRef idx="minor">
          <a:schemeClr val="lt1"/>
        </a:fontRef>
      </dsp:style>
    </dsp:sp>
    <dsp:sp modelId="{93B3F9F7-5DFA-451D-8AF0-C886EF2184F0}">
      <dsp:nvSpPr>
        <dsp:cNvPr id="0" name=""/>
        <dsp:cNvSpPr/>
      </dsp:nvSpPr>
      <dsp:spPr>
        <a:xfrm>
          <a:off x="5416478" y="257945"/>
          <a:ext cx="672991" cy="230628"/>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CF821AC-F873-42D9-B901-FF50109FC337}">
      <dsp:nvSpPr>
        <dsp:cNvPr id="0" name=""/>
        <dsp:cNvSpPr/>
      </dsp:nvSpPr>
      <dsp:spPr>
        <a:xfrm>
          <a:off x="3047999" y="621427"/>
          <a:ext cx="420" cy="1545208"/>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0F44A1-54FE-446F-9390-56E51903722C}">
      <dsp:nvSpPr>
        <dsp:cNvPr id="0" name=""/>
        <dsp:cNvSpPr/>
      </dsp:nvSpPr>
      <dsp:spPr>
        <a:xfrm>
          <a:off x="169874" y="1202"/>
          <a:ext cx="993826" cy="49691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zh-CN" altLang="en-US" sz="2000" b="1" kern="1200">
              <a:latin typeface="微软雅黑" panose="020B0503020204020204" pitchFamily="34" charset="-122"/>
              <a:ea typeface="微软雅黑" panose="020B0503020204020204" pitchFamily="34" charset="-122"/>
            </a:rPr>
            <a:t>协议</a:t>
          </a:r>
          <a:endParaRPr lang="zh-CN" altLang="en-US" sz="2000" b="1" kern="1200" dirty="0">
            <a:latin typeface="微软雅黑" panose="020B0503020204020204" pitchFamily="34" charset="-122"/>
            <a:ea typeface="微软雅黑" panose="020B0503020204020204" pitchFamily="34" charset="-122"/>
          </a:endParaRPr>
        </a:p>
      </dsp:txBody>
      <dsp:txXfrm>
        <a:off x="184428" y="15756"/>
        <a:ext cx="964718" cy="467805"/>
      </dsp:txXfrm>
    </dsp:sp>
    <dsp:sp modelId="{5F5FD024-96B9-4927-9522-4793C366CCDF}">
      <dsp:nvSpPr>
        <dsp:cNvPr id="0" name=""/>
        <dsp:cNvSpPr/>
      </dsp:nvSpPr>
      <dsp:spPr>
        <a:xfrm>
          <a:off x="269257" y="498115"/>
          <a:ext cx="192885" cy="448503"/>
        </a:xfrm>
        <a:custGeom>
          <a:avLst/>
          <a:gdLst/>
          <a:ahLst/>
          <a:cxnLst/>
          <a:rect l="0" t="0" r="0" b="0"/>
          <a:pathLst>
            <a:path>
              <a:moveTo>
                <a:pt x="0" y="0"/>
              </a:moveTo>
              <a:lnTo>
                <a:pt x="0" y="448503"/>
              </a:lnTo>
              <a:lnTo>
                <a:pt x="192885" y="448503"/>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8271D559-F991-45A8-861F-E02D43E73A7A}">
      <dsp:nvSpPr>
        <dsp:cNvPr id="0" name=""/>
        <dsp:cNvSpPr/>
      </dsp:nvSpPr>
      <dsp:spPr>
        <a:xfrm>
          <a:off x="462143" y="594277"/>
          <a:ext cx="3005775" cy="704682"/>
        </a:xfrm>
        <a:prstGeom prst="roundRect">
          <a:avLst>
            <a:gd name="adj" fmla="val 10000"/>
          </a:avLst>
        </a:prstGeom>
        <a:solidFill>
          <a:schemeClr val="lt1">
            <a:alpha val="90000"/>
            <a:hueOff val="0"/>
            <a:satOff val="0"/>
            <a:lumOff val="0"/>
            <a:alphaOff val="0"/>
          </a:schemeClr>
        </a:solidFill>
        <a:ln w="9525" cap="flat"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其实现保证了能够向上一层提供服务。</a:t>
          </a:r>
        </a:p>
      </dsp:txBody>
      <dsp:txXfrm>
        <a:off x="482782" y="614916"/>
        <a:ext cx="2964497" cy="663404"/>
      </dsp:txXfrm>
    </dsp:sp>
    <dsp:sp modelId="{D504C716-6CF6-4108-8639-E75778C37519}">
      <dsp:nvSpPr>
        <dsp:cNvPr id="0" name=""/>
        <dsp:cNvSpPr/>
      </dsp:nvSpPr>
      <dsp:spPr>
        <a:xfrm>
          <a:off x="269257" y="498115"/>
          <a:ext cx="192885" cy="1307885"/>
        </a:xfrm>
        <a:custGeom>
          <a:avLst/>
          <a:gdLst/>
          <a:ahLst/>
          <a:cxnLst/>
          <a:rect l="0" t="0" r="0" b="0"/>
          <a:pathLst>
            <a:path>
              <a:moveTo>
                <a:pt x="0" y="0"/>
              </a:moveTo>
              <a:lnTo>
                <a:pt x="0" y="1307885"/>
              </a:lnTo>
              <a:lnTo>
                <a:pt x="192885" y="1307885"/>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24467C9-0F5C-4007-8028-B7B163F30ADF}">
      <dsp:nvSpPr>
        <dsp:cNvPr id="0" name=""/>
        <dsp:cNvSpPr/>
      </dsp:nvSpPr>
      <dsp:spPr>
        <a:xfrm>
          <a:off x="462143" y="1451254"/>
          <a:ext cx="3005775" cy="709492"/>
        </a:xfrm>
        <a:prstGeom prst="roundRect">
          <a:avLst>
            <a:gd name="adj" fmla="val 10000"/>
          </a:avLst>
        </a:prstGeom>
        <a:solidFill>
          <a:schemeClr val="lt1">
            <a:alpha val="90000"/>
            <a:hueOff val="0"/>
            <a:satOff val="0"/>
            <a:lumOff val="0"/>
            <a:alphaOff val="0"/>
          </a:schemeClr>
        </a:solidFill>
        <a:ln w="9525" cap="flat" cmpd="sng" algn="ctr">
          <a:solidFill>
            <a:schemeClr val="accent3">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对上面的服务用户是透明的。 </a:t>
          </a:r>
        </a:p>
      </dsp:txBody>
      <dsp:txXfrm>
        <a:off x="482923" y="1472034"/>
        <a:ext cx="2964215" cy="667932"/>
      </dsp:txXfrm>
    </dsp:sp>
    <dsp:sp modelId="{9164C2E8-A8A5-4BDA-B5B7-3599D5C7C4A2}">
      <dsp:nvSpPr>
        <dsp:cNvPr id="0" name=""/>
        <dsp:cNvSpPr/>
      </dsp:nvSpPr>
      <dsp:spPr>
        <a:xfrm>
          <a:off x="269257" y="498115"/>
          <a:ext cx="192885" cy="2035316"/>
        </a:xfrm>
        <a:custGeom>
          <a:avLst/>
          <a:gdLst/>
          <a:ahLst/>
          <a:cxnLst/>
          <a:rect l="0" t="0" r="0" b="0"/>
          <a:pathLst>
            <a:path>
              <a:moveTo>
                <a:pt x="0" y="0"/>
              </a:moveTo>
              <a:lnTo>
                <a:pt x="0" y="2035316"/>
              </a:lnTo>
              <a:lnTo>
                <a:pt x="192885" y="2035316"/>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8A735DB-4E1F-4605-8178-66A449AC1BB2}">
      <dsp:nvSpPr>
        <dsp:cNvPr id="0" name=""/>
        <dsp:cNvSpPr/>
      </dsp:nvSpPr>
      <dsp:spPr>
        <a:xfrm>
          <a:off x="462143" y="2284974"/>
          <a:ext cx="3005775" cy="496913"/>
        </a:xfrm>
        <a:prstGeom prst="roundRect">
          <a:avLst>
            <a:gd name="adj" fmla="val 10000"/>
          </a:avLst>
        </a:prstGeom>
        <a:solidFill>
          <a:schemeClr val="lt1">
            <a:alpha val="90000"/>
            <a:hueOff val="0"/>
            <a:satOff val="0"/>
            <a:lumOff val="0"/>
            <a:alphaOff val="0"/>
          </a:schemeClr>
        </a:solidFill>
        <a:ln w="9525" cap="flat" cmpd="sng" algn="ctr">
          <a:solidFill>
            <a:schemeClr val="accent4">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是“水平的”</a:t>
          </a:r>
        </a:p>
      </dsp:txBody>
      <dsp:txXfrm>
        <a:off x="476697" y="2299528"/>
        <a:ext cx="2976667" cy="467805"/>
      </dsp:txXfrm>
    </dsp:sp>
    <dsp:sp modelId="{CF6D9EBE-6D4F-45DB-B63C-66E318350665}">
      <dsp:nvSpPr>
        <dsp:cNvPr id="0" name=""/>
        <dsp:cNvSpPr/>
      </dsp:nvSpPr>
      <dsp:spPr>
        <a:xfrm>
          <a:off x="4003487" y="1202"/>
          <a:ext cx="993826" cy="496913"/>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服务</a:t>
          </a:r>
          <a:endParaRPr lang="zh-CN" altLang="en-US" sz="1400" b="1" kern="1200" dirty="0">
            <a:latin typeface="微软雅黑" panose="020B0503020204020204" pitchFamily="34" charset="-122"/>
            <a:ea typeface="微软雅黑" panose="020B0503020204020204" pitchFamily="34" charset="-122"/>
          </a:endParaRPr>
        </a:p>
      </dsp:txBody>
      <dsp:txXfrm>
        <a:off x="4018041" y="15756"/>
        <a:ext cx="964718" cy="467805"/>
      </dsp:txXfrm>
    </dsp:sp>
    <dsp:sp modelId="{D73DB642-839F-46E4-BEFB-357122DA8B2A}">
      <dsp:nvSpPr>
        <dsp:cNvPr id="0" name=""/>
        <dsp:cNvSpPr/>
      </dsp:nvSpPr>
      <dsp:spPr>
        <a:xfrm>
          <a:off x="4102870" y="498115"/>
          <a:ext cx="192802" cy="477401"/>
        </a:xfrm>
        <a:custGeom>
          <a:avLst/>
          <a:gdLst/>
          <a:ahLst/>
          <a:cxnLst/>
          <a:rect l="0" t="0" r="0" b="0"/>
          <a:pathLst>
            <a:path>
              <a:moveTo>
                <a:pt x="0" y="0"/>
              </a:moveTo>
              <a:lnTo>
                <a:pt x="0" y="477401"/>
              </a:lnTo>
              <a:lnTo>
                <a:pt x="192802" y="477401"/>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66E8205-074B-465F-84D3-7E9C2A4B087A}">
      <dsp:nvSpPr>
        <dsp:cNvPr id="0" name=""/>
        <dsp:cNvSpPr/>
      </dsp:nvSpPr>
      <dsp:spPr>
        <a:xfrm>
          <a:off x="4295672" y="622343"/>
          <a:ext cx="3006872" cy="706347"/>
        </a:xfrm>
        <a:prstGeom prst="roundRect">
          <a:avLst>
            <a:gd name="adj" fmla="val 10000"/>
          </a:avLst>
        </a:prstGeom>
        <a:solidFill>
          <a:schemeClr val="lt1">
            <a:alpha val="90000"/>
            <a:hueOff val="0"/>
            <a:satOff val="0"/>
            <a:lumOff val="0"/>
            <a:alphaOff val="0"/>
          </a:schemeClr>
        </a:solidFill>
        <a:ln w="9525" cap="flat" cmpd="sng" algn="ctr">
          <a:solidFill>
            <a:schemeClr val="accent5">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上层使用服务原语获得下层所提供的服务。</a:t>
          </a:r>
        </a:p>
      </dsp:txBody>
      <dsp:txXfrm>
        <a:off x="4316360" y="643031"/>
        <a:ext cx="2965496" cy="664971"/>
      </dsp:txXfrm>
    </dsp:sp>
    <dsp:sp modelId="{C7786CBF-29A7-4F46-ACE1-BFAF2ED2906F}">
      <dsp:nvSpPr>
        <dsp:cNvPr id="0" name=""/>
        <dsp:cNvSpPr/>
      </dsp:nvSpPr>
      <dsp:spPr>
        <a:xfrm>
          <a:off x="4102870" y="498115"/>
          <a:ext cx="192802" cy="1309549"/>
        </a:xfrm>
        <a:custGeom>
          <a:avLst/>
          <a:gdLst/>
          <a:ahLst/>
          <a:cxnLst/>
          <a:rect l="0" t="0" r="0" b="0"/>
          <a:pathLst>
            <a:path>
              <a:moveTo>
                <a:pt x="0" y="0"/>
              </a:moveTo>
              <a:lnTo>
                <a:pt x="0" y="1309549"/>
              </a:lnTo>
              <a:lnTo>
                <a:pt x="192802" y="1309549"/>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4FAB220-39C0-4BB8-B879-AEB1A16B7CDC}">
      <dsp:nvSpPr>
        <dsp:cNvPr id="0" name=""/>
        <dsp:cNvSpPr/>
      </dsp:nvSpPr>
      <dsp:spPr>
        <a:xfrm>
          <a:off x="4295672" y="1452918"/>
          <a:ext cx="3006872" cy="709492"/>
        </a:xfrm>
        <a:prstGeom prst="roundRect">
          <a:avLst>
            <a:gd name="adj" fmla="val 10000"/>
          </a:avLst>
        </a:prstGeom>
        <a:solidFill>
          <a:schemeClr val="lt1">
            <a:alpha val="90000"/>
            <a:hueOff val="0"/>
            <a:satOff val="0"/>
            <a:lumOff val="0"/>
            <a:alphaOff val="0"/>
          </a:schemeClr>
        </a:solidFill>
        <a:ln w="9525" cap="flat" cmpd="sng" algn="ctr">
          <a:solidFill>
            <a:schemeClr val="accent6">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上面的服务用户只能看见服务，无法看见下面的协议。</a:t>
          </a:r>
        </a:p>
      </dsp:txBody>
      <dsp:txXfrm>
        <a:off x="4316452" y="1473698"/>
        <a:ext cx="2965312" cy="667932"/>
      </dsp:txXfrm>
    </dsp:sp>
    <dsp:sp modelId="{55CE1C91-58A7-4FD4-86EE-26622EF07DF3}">
      <dsp:nvSpPr>
        <dsp:cNvPr id="0" name=""/>
        <dsp:cNvSpPr/>
      </dsp:nvSpPr>
      <dsp:spPr>
        <a:xfrm>
          <a:off x="4102870" y="498115"/>
          <a:ext cx="208091" cy="2036980"/>
        </a:xfrm>
        <a:custGeom>
          <a:avLst/>
          <a:gdLst/>
          <a:ahLst/>
          <a:cxnLst/>
          <a:rect l="0" t="0" r="0" b="0"/>
          <a:pathLst>
            <a:path>
              <a:moveTo>
                <a:pt x="0" y="0"/>
              </a:moveTo>
              <a:lnTo>
                <a:pt x="0" y="2036980"/>
              </a:lnTo>
              <a:lnTo>
                <a:pt x="208091" y="2036980"/>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747B9FB-319E-4006-A500-0E79D539374F}">
      <dsp:nvSpPr>
        <dsp:cNvPr id="0" name=""/>
        <dsp:cNvSpPr/>
      </dsp:nvSpPr>
      <dsp:spPr>
        <a:xfrm>
          <a:off x="4310961" y="2286639"/>
          <a:ext cx="3006872" cy="496913"/>
        </a:xfrm>
        <a:prstGeom prst="roundRect">
          <a:avLst>
            <a:gd name="adj" fmla="val 10000"/>
          </a:avLst>
        </a:prstGeom>
        <a:solidFill>
          <a:schemeClr val="lt1">
            <a:alpha val="90000"/>
            <a:hueOff val="0"/>
            <a:satOff val="0"/>
            <a:lumOff val="0"/>
            <a:alphaOff val="0"/>
          </a:schemeClr>
        </a:solidFill>
        <a:ln w="9525" cap="flat"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是“垂直的”</a:t>
          </a:r>
        </a:p>
      </dsp:txBody>
      <dsp:txXfrm>
        <a:off x="4325515" y="2301193"/>
        <a:ext cx="2977764" cy="467805"/>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radial3">
  <dgm:title val=""/>
  <dgm:desc val=""/>
  <dgm:catLst>
    <dgm:cat type="relationship" pri="31000"/>
    <dgm:cat type="cycle" pri="1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omposite">
    <dgm:varLst>
      <dgm:chMax val="1"/>
      <dgm:dir/>
      <dgm:resizeHandles val="exact"/>
    </dgm:varLst>
    <dgm:alg type="composite">
      <dgm:param type="ar" val="1"/>
    </dgm:alg>
    <dgm:shape xmlns:r="http://schemas.openxmlformats.org/officeDocument/2006/relationships" r:blip="">
      <dgm:adjLst/>
    </dgm:shape>
    <dgm:presOf/>
    <dgm:constrLst/>
    <dgm:ruleLst/>
    <dgm:layoutNode name="radial">
      <dgm:varLst>
        <dgm:animLvl val="ctr"/>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h" for="ch" forName="centerShape" refType="h"/>
        <dgm:constr type="w" for="ch" forName="node" refType="w" fact="0.5"/>
        <dgm:constr type="h" for="ch" forName="node" refType="h" fact="0.5"/>
        <dgm:constr type="sp" refType="w" refFor="ch" refForName="node" fact="-0.2"/>
        <dgm:constr type="sibSp" refType="w" refFor="ch" refForName="node" fact="-0.2"/>
        <dgm:constr type="primFontSz" for="ch" forName="centerShape" val="65"/>
        <dgm:constr type="primFontSz" for="des" forName="node" val="65"/>
        <dgm:constr type="primFontSz" for="ch" forName="node" refType="primFontSz" refFor="ch" refForName="centerShape" op="lte"/>
      </dgm:constrLst>
      <dgm:ruleLst/>
      <dgm:forEach name="Name6" axis="ch" ptType="node" cnt="1">
        <dgm:layoutNode name="centerShape" styleLbl="vennNode1">
          <dgm:alg type="tx"/>
          <dgm:shape xmlns:r="http://schemas.openxmlformats.org/officeDocument/2006/relationships" type="ellipse"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7" axis="ch" ptType="node">
          <dgm:layoutNode name="node" styleLbl="vennNode1">
            <dgm:varLst>
              <dgm:bulletEnabled val="1"/>
            </dgm:varLst>
            <dgm:alg type="tx">
              <dgm:param type="txAnchorVertCh" val="mid"/>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14.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defRPr>
            </a:lvl1pPr>
          </a:lstStyle>
          <a:p>
            <a:pPr>
              <a:defRPr/>
            </a:pPr>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mn-lt"/>
                <a:ea typeface="+mn-ea"/>
              </a:defRPr>
            </a:lvl1pPr>
          </a:lstStyle>
          <a:p>
            <a:pPr>
              <a:defRPr/>
            </a:pPr>
            <a:fld id="{FA4006E8-8395-4ADA-895B-2208204B7025}" type="datetimeFigureOut">
              <a:rPr lang="zh-CN" altLang="en-US"/>
              <a:pPr>
                <a:defRPr/>
              </a:pPr>
              <a:t>2025/11/1</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zh-CN" altLang="en-US" noProof="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defRPr>
            </a:lvl1pPr>
          </a:lstStyle>
          <a:p>
            <a:pPr>
              <a:defRPr/>
            </a:pPr>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mn-lt"/>
                <a:ea typeface="+mn-ea"/>
              </a:defRPr>
            </a:lvl1pPr>
          </a:lstStyle>
          <a:p>
            <a:pPr>
              <a:defRPr/>
            </a:pPr>
            <a:fld id="{CD1CD96A-A6EF-4B0B-9885-C22D65D2CD20}" type="slidenum">
              <a:rPr lang="zh-CN" altLang="en-US"/>
              <a:pPr>
                <a:defRPr/>
              </a:pPr>
              <a:t>‹#›</a:t>
            </a:fld>
            <a:endParaRPr lang="zh-CN" altLang="en-US"/>
          </a:p>
        </p:txBody>
      </p:sp>
    </p:spTree>
    <p:extLst>
      <p:ext uri="{BB962C8B-B14F-4D97-AF65-F5344CB8AC3E}">
        <p14:creationId xmlns:p14="http://schemas.microsoft.com/office/powerpoint/2010/main" val="1798960164"/>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mn-ea"/>
        <a:cs typeface="+mn-cs"/>
      </a:defRPr>
    </a:lvl1pPr>
    <a:lvl2pPr marL="457200" algn="l" rtl="0" fontAlgn="base">
      <a:spcBef>
        <a:spcPct val="30000"/>
      </a:spcBef>
      <a:spcAft>
        <a:spcPct val="0"/>
      </a:spcAft>
      <a:defRPr sz="1200" kern="1200">
        <a:solidFill>
          <a:schemeClr val="tx1"/>
        </a:solidFill>
        <a:latin typeface="+mn-lt"/>
        <a:ea typeface="+mn-ea"/>
        <a:cs typeface="+mn-cs"/>
      </a:defRPr>
    </a:lvl2pPr>
    <a:lvl3pPr marL="914400" algn="l" rtl="0" fontAlgn="base">
      <a:spcBef>
        <a:spcPct val="30000"/>
      </a:spcBef>
      <a:spcAft>
        <a:spcPct val="0"/>
      </a:spcAft>
      <a:defRPr sz="1200" kern="1200">
        <a:solidFill>
          <a:schemeClr val="tx1"/>
        </a:solidFill>
        <a:latin typeface="+mn-lt"/>
        <a:ea typeface="+mn-ea"/>
        <a:cs typeface="+mn-cs"/>
      </a:defRPr>
    </a:lvl3pPr>
    <a:lvl4pPr marL="1371600" algn="l" rtl="0" fontAlgn="base">
      <a:spcBef>
        <a:spcPct val="30000"/>
      </a:spcBef>
      <a:spcAft>
        <a:spcPct val="0"/>
      </a:spcAft>
      <a:defRPr sz="1200" kern="1200">
        <a:solidFill>
          <a:schemeClr val="tx1"/>
        </a:solidFill>
        <a:latin typeface="+mn-lt"/>
        <a:ea typeface="+mn-ea"/>
        <a:cs typeface="+mn-cs"/>
      </a:defRPr>
    </a:lvl4pPr>
    <a:lvl5pPr marL="1828800" algn="l" rtl="0" fontAlgn="base">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305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zh-CN" altLang="en-US"/>
          </a:p>
        </p:txBody>
      </p:sp>
      <p:sp>
        <p:nvSpPr>
          <p:cNvPr id="17306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fontAlgn="base">
              <a:spcBef>
                <a:spcPct val="0"/>
              </a:spcBef>
              <a:spcAft>
                <a:spcPct val="0"/>
              </a:spcAft>
            </a:pPr>
            <a:fld id="{43D57F7D-0BB2-4E6A-B5AF-2BE2E0FD8C1D}" type="slidenum">
              <a:rPr lang="zh-CN" altLang="en-US"/>
              <a:pPr fontAlgn="base">
                <a:spcBef>
                  <a:spcPct val="0"/>
                </a:spcBef>
                <a:spcAft>
                  <a:spcPct val="0"/>
                </a:spcAft>
              </a:pPr>
              <a:t>2</a:t>
            </a:fld>
            <a:endParaRPr lang="zh-CN" altLang="en-US"/>
          </a:p>
        </p:txBody>
      </p:sp>
    </p:spTree>
    <p:extLst>
      <p:ext uri="{BB962C8B-B14F-4D97-AF65-F5344CB8AC3E}">
        <p14:creationId xmlns:p14="http://schemas.microsoft.com/office/powerpoint/2010/main" val="2534817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a:t>
            </a:fld>
            <a:endParaRPr lang="zh-CN" altLang="en-US"/>
          </a:p>
        </p:txBody>
      </p:sp>
    </p:spTree>
    <p:extLst>
      <p:ext uri="{BB962C8B-B14F-4D97-AF65-F5344CB8AC3E}">
        <p14:creationId xmlns:p14="http://schemas.microsoft.com/office/powerpoint/2010/main" val="7635405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a:t>
            </a:fld>
            <a:endParaRPr lang="zh-CN" altLang="en-US"/>
          </a:p>
        </p:txBody>
      </p:sp>
    </p:spTree>
    <p:extLst>
      <p:ext uri="{BB962C8B-B14F-4D97-AF65-F5344CB8AC3E}">
        <p14:creationId xmlns:p14="http://schemas.microsoft.com/office/powerpoint/2010/main" val="16928558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a:t>
            </a:fld>
            <a:endParaRPr lang="zh-CN" altLang="en-US"/>
          </a:p>
        </p:txBody>
      </p:sp>
    </p:spTree>
    <p:extLst>
      <p:ext uri="{BB962C8B-B14F-4D97-AF65-F5344CB8AC3E}">
        <p14:creationId xmlns:p14="http://schemas.microsoft.com/office/powerpoint/2010/main" val="7071489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a:t>
            </a:fld>
            <a:endParaRPr lang="zh-CN" altLang="en-US"/>
          </a:p>
        </p:txBody>
      </p:sp>
    </p:spTree>
    <p:extLst>
      <p:ext uri="{BB962C8B-B14F-4D97-AF65-F5344CB8AC3E}">
        <p14:creationId xmlns:p14="http://schemas.microsoft.com/office/powerpoint/2010/main" val="39396432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22</a:t>
            </a:fld>
            <a:endParaRPr lang="zh-CN" altLang="en-US"/>
          </a:p>
        </p:txBody>
      </p:sp>
    </p:spTree>
    <p:extLst>
      <p:ext uri="{BB962C8B-B14F-4D97-AF65-F5344CB8AC3E}">
        <p14:creationId xmlns:p14="http://schemas.microsoft.com/office/powerpoint/2010/main" val="30403247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23</a:t>
            </a:fld>
            <a:endParaRPr lang="zh-CN" altLang="en-US"/>
          </a:p>
        </p:txBody>
      </p:sp>
    </p:spTree>
    <p:extLst>
      <p:ext uri="{BB962C8B-B14F-4D97-AF65-F5344CB8AC3E}">
        <p14:creationId xmlns:p14="http://schemas.microsoft.com/office/powerpoint/2010/main" val="18948000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26</a:t>
            </a:fld>
            <a:endParaRPr lang="zh-CN" altLang="en-US"/>
          </a:p>
        </p:txBody>
      </p:sp>
    </p:spTree>
    <p:extLst>
      <p:ext uri="{BB962C8B-B14F-4D97-AF65-F5344CB8AC3E}">
        <p14:creationId xmlns:p14="http://schemas.microsoft.com/office/powerpoint/2010/main" val="16881778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38</a:t>
            </a:fld>
            <a:endParaRPr lang="zh-CN" altLang="en-US"/>
          </a:p>
        </p:txBody>
      </p:sp>
    </p:spTree>
    <p:extLst>
      <p:ext uri="{BB962C8B-B14F-4D97-AF65-F5344CB8AC3E}">
        <p14:creationId xmlns:p14="http://schemas.microsoft.com/office/powerpoint/2010/main" val="15315675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39</a:t>
            </a:fld>
            <a:endParaRPr lang="zh-CN" altLang="en-US"/>
          </a:p>
        </p:txBody>
      </p:sp>
    </p:spTree>
    <p:extLst>
      <p:ext uri="{BB962C8B-B14F-4D97-AF65-F5344CB8AC3E}">
        <p14:creationId xmlns:p14="http://schemas.microsoft.com/office/powerpoint/2010/main" val="23248730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41</a:t>
            </a:fld>
            <a:endParaRPr lang="zh-CN" altLang="en-US"/>
          </a:p>
        </p:txBody>
      </p:sp>
    </p:spTree>
    <p:extLst>
      <p:ext uri="{BB962C8B-B14F-4D97-AF65-F5344CB8AC3E}">
        <p14:creationId xmlns:p14="http://schemas.microsoft.com/office/powerpoint/2010/main" val="41446140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42</a:t>
            </a:fld>
            <a:endParaRPr lang="zh-CN" altLang="en-US"/>
          </a:p>
        </p:txBody>
      </p:sp>
    </p:spTree>
    <p:extLst>
      <p:ext uri="{BB962C8B-B14F-4D97-AF65-F5344CB8AC3E}">
        <p14:creationId xmlns:p14="http://schemas.microsoft.com/office/powerpoint/2010/main" val="5760005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43</a:t>
            </a:fld>
            <a:endParaRPr lang="zh-CN" altLang="en-US"/>
          </a:p>
        </p:txBody>
      </p:sp>
    </p:spTree>
    <p:extLst>
      <p:ext uri="{BB962C8B-B14F-4D97-AF65-F5344CB8AC3E}">
        <p14:creationId xmlns:p14="http://schemas.microsoft.com/office/powerpoint/2010/main" val="34437511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45</a:t>
            </a:fld>
            <a:endParaRPr lang="zh-CN" altLang="en-US"/>
          </a:p>
        </p:txBody>
      </p:sp>
    </p:spTree>
    <p:extLst>
      <p:ext uri="{BB962C8B-B14F-4D97-AF65-F5344CB8AC3E}">
        <p14:creationId xmlns:p14="http://schemas.microsoft.com/office/powerpoint/2010/main" val="1072329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48</a:t>
            </a:fld>
            <a:endParaRPr lang="zh-CN" altLang="en-US"/>
          </a:p>
        </p:txBody>
      </p:sp>
    </p:spTree>
    <p:extLst>
      <p:ext uri="{BB962C8B-B14F-4D97-AF65-F5344CB8AC3E}">
        <p14:creationId xmlns:p14="http://schemas.microsoft.com/office/powerpoint/2010/main" val="33957587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49</a:t>
            </a:fld>
            <a:endParaRPr lang="zh-CN" altLang="en-US"/>
          </a:p>
        </p:txBody>
      </p:sp>
    </p:spTree>
    <p:extLst>
      <p:ext uri="{BB962C8B-B14F-4D97-AF65-F5344CB8AC3E}">
        <p14:creationId xmlns:p14="http://schemas.microsoft.com/office/powerpoint/2010/main" val="14887812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64</a:t>
            </a:fld>
            <a:endParaRPr lang="zh-CN" altLang="en-US"/>
          </a:p>
        </p:txBody>
      </p:sp>
    </p:spTree>
    <p:extLst>
      <p:ext uri="{BB962C8B-B14F-4D97-AF65-F5344CB8AC3E}">
        <p14:creationId xmlns:p14="http://schemas.microsoft.com/office/powerpoint/2010/main" val="14631520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71</a:t>
            </a:fld>
            <a:endParaRPr lang="zh-CN" altLang="en-US"/>
          </a:p>
        </p:txBody>
      </p:sp>
    </p:spTree>
    <p:extLst>
      <p:ext uri="{BB962C8B-B14F-4D97-AF65-F5344CB8AC3E}">
        <p14:creationId xmlns:p14="http://schemas.microsoft.com/office/powerpoint/2010/main" val="42164581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75</a:t>
            </a:fld>
            <a:endParaRPr lang="zh-CN" altLang="en-US"/>
          </a:p>
        </p:txBody>
      </p:sp>
    </p:spTree>
    <p:extLst>
      <p:ext uri="{BB962C8B-B14F-4D97-AF65-F5344CB8AC3E}">
        <p14:creationId xmlns:p14="http://schemas.microsoft.com/office/powerpoint/2010/main" val="23834971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82</a:t>
            </a:fld>
            <a:endParaRPr lang="zh-CN" altLang="en-US"/>
          </a:p>
        </p:txBody>
      </p:sp>
    </p:spTree>
    <p:extLst>
      <p:ext uri="{BB962C8B-B14F-4D97-AF65-F5344CB8AC3E}">
        <p14:creationId xmlns:p14="http://schemas.microsoft.com/office/powerpoint/2010/main" val="21306363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83</a:t>
            </a:fld>
            <a:endParaRPr lang="zh-CN" altLang="en-US"/>
          </a:p>
        </p:txBody>
      </p:sp>
    </p:spTree>
    <p:extLst>
      <p:ext uri="{BB962C8B-B14F-4D97-AF65-F5344CB8AC3E}">
        <p14:creationId xmlns:p14="http://schemas.microsoft.com/office/powerpoint/2010/main" val="19577990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88</a:t>
            </a:fld>
            <a:endParaRPr lang="zh-CN" altLang="en-US"/>
          </a:p>
        </p:txBody>
      </p:sp>
    </p:spTree>
    <p:extLst>
      <p:ext uri="{BB962C8B-B14F-4D97-AF65-F5344CB8AC3E}">
        <p14:creationId xmlns:p14="http://schemas.microsoft.com/office/powerpoint/2010/main" val="26721362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101</a:t>
            </a:fld>
            <a:endParaRPr lang="zh-CN" altLang="en-US"/>
          </a:p>
        </p:txBody>
      </p:sp>
    </p:spTree>
    <p:extLst>
      <p:ext uri="{BB962C8B-B14F-4D97-AF65-F5344CB8AC3E}">
        <p14:creationId xmlns:p14="http://schemas.microsoft.com/office/powerpoint/2010/main" val="29325979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106</a:t>
            </a:fld>
            <a:endParaRPr lang="zh-CN" altLang="en-US"/>
          </a:p>
        </p:txBody>
      </p:sp>
    </p:spTree>
    <p:extLst>
      <p:ext uri="{BB962C8B-B14F-4D97-AF65-F5344CB8AC3E}">
        <p14:creationId xmlns:p14="http://schemas.microsoft.com/office/powerpoint/2010/main" val="2100962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110</a:t>
            </a:fld>
            <a:endParaRPr lang="zh-CN" altLang="en-US"/>
          </a:p>
        </p:txBody>
      </p:sp>
    </p:spTree>
    <p:extLst>
      <p:ext uri="{BB962C8B-B14F-4D97-AF65-F5344CB8AC3E}">
        <p14:creationId xmlns:p14="http://schemas.microsoft.com/office/powerpoint/2010/main" val="168951537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111</a:t>
            </a:fld>
            <a:endParaRPr lang="zh-CN" altLang="en-US"/>
          </a:p>
        </p:txBody>
      </p:sp>
    </p:spTree>
    <p:extLst>
      <p:ext uri="{BB962C8B-B14F-4D97-AF65-F5344CB8AC3E}">
        <p14:creationId xmlns:p14="http://schemas.microsoft.com/office/powerpoint/2010/main" val="33309870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112</a:t>
            </a:fld>
            <a:endParaRPr lang="zh-CN" altLang="en-US"/>
          </a:p>
        </p:txBody>
      </p:sp>
    </p:spTree>
    <p:extLst>
      <p:ext uri="{BB962C8B-B14F-4D97-AF65-F5344CB8AC3E}">
        <p14:creationId xmlns:p14="http://schemas.microsoft.com/office/powerpoint/2010/main" val="21835761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113</a:t>
            </a:fld>
            <a:endParaRPr lang="zh-CN" altLang="en-US"/>
          </a:p>
        </p:txBody>
      </p:sp>
    </p:spTree>
    <p:extLst>
      <p:ext uri="{BB962C8B-B14F-4D97-AF65-F5344CB8AC3E}">
        <p14:creationId xmlns:p14="http://schemas.microsoft.com/office/powerpoint/2010/main" val="17706786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114</a:t>
            </a:fld>
            <a:endParaRPr lang="zh-CN" altLang="en-US"/>
          </a:p>
        </p:txBody>
      </p:sp>
    </p:spTree>
    <p:extLst>
      <p:ext uri="{BB962C8B-B14F-4D97-AF65-F5344CB8AC3E}">
        <p14:creationId xmlns:p14="http://schemas.microsoft.com/office/powerpoint/2010/main" val="1727381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115</a:t>
            </a:fld>
            <a:endParaRPr lang="zh-CN" altLang="en-US"/>
          </a:p>
        </p:txBody>
      </p:sp>
    </p:spTree>
    <p:extLst>
      <p:ext uri="{BB962C8B-B14F-4D97-AF65-F5344CB8AC3E}">
        <p14:creationId xmlns:p14="http://schemas.microsoft.com/office/powerpoint/2010/main" val="42192800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116</a:t>
            </a:fld>
            <a:endParaRPr lang="zh-CN" altLang="en-US"/>
          </a:p>
        </p:txBody>
      </p:sp>
    </p:spTree>
    <p:extLst>
      <p:ext uri="{BB962C8B-B14F-4D97-AF65-F5344CB8AC3E}">
        <p14:creationId xmlns:p14="http://schemas.microsoft.com/office/powerpoint/2010/main" val="11160911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117</a:t>
            </a:fld>
            <a:endParaRPr lang="zh-CN" altLang="en-US"/>
          </a:p>
        </p:txBody>
      </p:sp>
    </p:spTree>
    <p:extLst>
      <p:ext uri="{BB962C8B-B14F-4D97-AF65-F5344CB8AC3E}">
        <p14:creationId xmlns:p14="http://schemas.microsoft.com/office/powerpoint/2010/main" val="418251905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131</a:t>
            </a:fld>
            <a:endParaRPr lang="zh-CN" altLang="en-US"/>
          </a:p>
        </p:txBody>
      </p:sp>
    </p:spTree>
    <p:extLst>
      <p:ext uri="{BB962C8B-B14F-4D97-AF65-F5344CB8AC3E}">
        <p14:creationId xmlns:p14="http://schemas.microsoft.com/office/powerpoint/2010/main" val="41738575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132</a:t>
            </a:fld>
            <a:endParaRPr lang="zh-CN" altLang="en-US"/>
          </a:p>
        </p:txBody>
      </p:sp>
    </p:spTree>
    <p:extLst>
      <p:ext uri="{BB962C8B-B14F-4D97-AF65-F5344CB8AC3E}">
        <p14:creationId xmlns:p14="http://schemas.microsoft.com/office/powerpoint/2010/main" val="36005044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133</a:t>
            </a:fld>
            <a:endParaRPr lang="zh-CN" altLang="en-US"/>
          </a:p>
        </p:txBody>
      </p:sp>
    </p:spTree>
    <p:extLst>
      <p:ext uri="{BB962C8B-B14F-4D97-AF65-F5344CB8AC3E}">
        <p14:creationId xmlns:p14="http://schemas.microsoft.com/office/powerpoint/2010/main" val="32198975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134</a:t>
            </a:fld>
            <a:endParaRPr lang="zh-CN" altLang="en-US"/>
          </a:p>
        </p:txBody>
      </p:sp>
    </p:spTree>
    <p:extLst>
      <p:ext uri="{BB962C8B-B14F-4D97-AF65-F5344CB8AC3E}">
        <p14:creationId xmlns:p14="http://schemas.microsoft.com/office/powerpoint/2010/main" val="356586727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135</a:t>
            </a:fld>
            <a:endParaRPr lang="zh-CN" altLang="en-US"/>
          </a:p>
        </p:txBody>
      </p:sp>
    </p:spTree>
    <p:extLst>
      <p:ext uri="{BB962C8B-B14F-4D97-AF65-F5344CB8AC3E}">
        <p14:creationId xmlns:p14="http://schemas.microsoft.com/office/powerpoint/2010/main" val="19977386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136</a:t>
            </a:fld>
            <a:endParaRPr lang="zh-CN" altLang="en-US"/>
          </a:p>
        </p:txBody>
      </p:sp>
    </p:spTree>
    <p:extLst>
      <p:ext uri="{BB962C8B-B14F-4D97-AF65-F5344CB8AC3E}">
        <p14:creationId xmlns:p14="http://schemas.microsoft.com/office/powerpoint/2010/main" val="10303503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137</a:t>
            </a:fld>
            <a:endParaRPr lang="zh-CN" altLang="en-US"/>
          </a:p>
        </p:txBody>
      </p:sp>
    </p:spTree>
    <p:extLst>
      <p:ext uri="{BB962C8B-B14F-4D97-AF65-F5344CB8AC3E}">
        <p14:creationId xmlns:p14="http://schemas.microsoft.com/office/powerpoint/2010/main" val="84811355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138</a:t>
            </a:fld>
            <a:endParaRPr lang="zh-CN" altLang="en-US"/>
          </a:p>
        </p:txBody>
      </p:sp>
    </p:spTree>
    <p:extLst>
      <p:ext uri="{BB962C8B-B14F-4D97-AF65-F5344CB8AC3E}">
        <p14:creationId xmlns:p14="http://schemas.microsoft.com/office/powerpoint/2010/main" val="76154706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144</a:t>
            </a:fld>
            <a:endParaRPr lang="zh-CN" altLang="en-US"/>
          </a:p>
        </p:txBody>
      </p:sp>
    </p:spTree>
    <p:extLst>
      <p:ext uri="{BB962C8B-B14F-4D97-AF65-F5344CB8AC3E}">
        <p14:creationId xmlns:p14="http://schemas.microsoft.com/office/powerpoint/2010/main" val="34139176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sp>
        <p:nvSpPr>
          <p:cNvPr id="4" name="AutoShape 5"/>
          <p:cNvSpPr>
            <a:spLocks noChangeArrowheads="1"/>
          </p:cNvSpPr>
          <p:nvPr userDrawn="1"/>
        </p:nvSpPr>
        <p:spPr bwMode="auto">
          <a:xfrm>
            <a:off x="466344" y="609269"/>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p>
        </p:txBody>
      </p:sp>
      <p:sp>
        <p:nvSpPr>
          <p:cNvPr id="8" name="内容占位符 7"/>
          <p:cNvSpPr>
            <a:spLocks noGrp="1"/>
          </p:cNvSpPr>
          <p:nvPr>
            <p:ph sz="quarter" idx="10"/>
          </p:nvPr>
        </p:nvSpPr>
        <p:spPr>
          <a:xfrm>
            <a:off x="466344" y="969626"/>
            <a:ext cx="8129016" cy="3389873"/>
          </a:xfrm>
          <a:prstGeom prst="rect">
            <a:avLst/>
          </a:prstGeom>
        </p:spPr>
        <p:txBody>
          <a:bodyPr/>
          <a:lstStyle>
            <a:lvl1pPr marL="0" indent="-180000">
              <a:lnSpc>
                <a:spcPct val="150000"/>
              </a:lnSpc>
              <a:spcBef>
                <a:spcPts val="0"/>
              </a:spcBef>
              <a:buClrTx/>
              <a:buFont typeface="Wingdings" panose="05000000000000000000" pitchFamily="2" charset="2"/>
              <a:buChar char="§"/>
              <a:defRPr lang="zh-CN" altLang="en-US" sz="1800" b="0" kern="1200" baseline="0" dirty="0" smtClean="0">
                <a:solidFill>
                  <a:schemeClr val="tx1"/>
                </a:solidFill>
                <a:latin typeface="Courier New" panose="02070309020205020404" pitchFamily="49" charset="0"/>
                <a:ea typeface="微软雅黑" pitchFamily="34" charset="-122"/>
                <a:cs typeface="+mn-cs"/>
              </a:defRPr>
            </a:lvl1pPr>
            <a:lvl2pPr marL="360000" indent="-180000">
              <a:lnSpc>
                <a:spcPct val="150000"/>
              </a:lnSpc>
              <a:spcBef>
                <a:spcPts val="0"/>
              </a:spcBef>
              <a:buClrTx/>
              <a:buFont typeface="Wingdings" panose="05000000000000000000" pitchFamily="2" charset="2"/>
              <a:buChar char=""/>
              <a:defRPr sz="1600" b="0" baseline="0">
                <a:latin typeface="Courier New" panose="02070309020205020404" pitchFamily="49" charset="0"/>
                <a:ea typeface="微软雅黑" panose="020B0503020204020204" pitchFamily="34" charset="-122"/>
              </a:defRPr>
            </a:lvl2pPr>
            <a:lvl3pPr marL="540000" indent="-180000">
              <a:lnSpc>
                <a:spcPct val="150000"/>
              </a:lnSpc>
              <a:spcBef>
                <a:spcPts val="0"/>
              </a:spcBef>
              <a:buClr>
                <a:srgbClr val="006600"/>
              </a:buClr>
              <a:buFont typeface="Wingdings" panose="05000000000000000000" pitchFamily="2" charset="2"/>
              <a:buChar char="ü"/>
              <a:defRPr sz="1400" b="0" baseline="0">
                <a:latin typeface="Courier New" panose="02070309020205020404" pitchFamily="49" charset="0"/>
                <a:ea typeface="微软雅黑" panose="020B0503020204020204" pitchFamily="34" charset="-122"/>
              </a:defRPr>
            </a:lvl3pPr>
            <a:lvl4pPr marL="720000" indent="-180000">
              <a:lnSpc>
                <a:spcPct val="150000"/>
              </a:lnSpc>
              <a:spcBef>
                <a:spcPts val="0"/>
              </a:spcBef>
              <a:defRPr sz="1200" b="0" baseline="0">
                <a:latin typeface="Courier New" panose="02070309020205020404" pitchFamily="49" charset="0"/>
                <a:ea typeface="微软雅黑" panose="020B0503020204020204" pitchFamily="34" charset="-122"/>
              </a:defRPr>
            </a:lvl4pPr>
            <a:lvl5pPr marL="900000" indent="-180000">
              <a:lnSpc>
                <a:spcPct val="150000"/>
              </a:lnSpc>
              <a:spcBef>
                <a:spcPts val="0"/>
              </a:spcBef>
              <a:defRPr sz="1200" b="0" baseline="0">
                <a:latin typeface="Courier New" panose="02070309020205020404" pitchFamily="49" charset="0"/>
                <a:ea typeface="微软雅黑" panose="020B0503020204020204" pitchFamily="34" charset="-122"/>
              </a:defRPr>
            </a:lvl5pPr>
          </a:lstStyle>
          <a:p>
            <a:pPr lvl="0"/>
            <a:r>
              <a:rPr lang="zh-CN" altLang="en-US" dirty="0"/>
              <a:t>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6" name="文本占位符 11"/>
          <p:cNvSpPr>
            <a:spLocks noGrp="1"/>
          </p:cNvSpPr>
          <p:nvPr>
            <p:ph type="body" sz="quarter" idx="11" hasCustomPrompt="1"/>
          </p:nvPr>
        </p:nvSpPr>
        <p:spPr>
          <a:xfrm>
            <a:off x="1214565" y="616998"/>
            <a:ext cx="6632575" cy="338554"/>
          </a:xfrm>
          <a:prstGeom prst="rect">
            <a:avLst/>
          </a:prstGeom>
        </p:spPr>
        <p:txBody>
          <a:bodyPr anchor="ctr">
            <a:spAutoFit/>
          </a:bodyPr>
          <a:lstStyle>
            <a:lvl1pPr marL="0" indent="0" algn="ctr">
              <a:buFontTx/>
              <a:buNone/>
              <a:defRPr sz="1600" b="0">
                <a:solidFill>
                  <a:schemeClr val="bg1"/>
                </a:solidFill>
                <a:latin typeface="微软雅黑" panose="020B0503020204020204" pitchFamily="34" charset="-122"/>
                <a:ea typeface="微软雅黑" panose="020B0503020204020204" pitchFamily="34" charset="-122"/>
              </a:defRPr>
            </a:lvl1pPr>
          </a:lstStyle>
          <a:p>
            <a:pPr lvl="0"/>
            <a:r>
              <a:rPr lang="zh-CN" altLang="en-US" dirty="0"/>
              <a:t>编辑母版文本样式</a:t>
            </a:r>
          </a:p>
        </p:txBody>
      </p:sp>
    </p:spTree>
    <p:extLst>
      <p:ext uri="{BB962C8B-B14F-4D97-AF65-F5344CB8AC3E}">
        <p14:creationId xmlns:p14="http://schemas.microsoft.com/office/powerpoint/2010/main" val="81862355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AutoShape 5">
            <a:extLst>
              <a:ext uri="{FF2B5EF4-FFF2-40B4-BE49-F238E27FC236}">
                <a16:creationId xmlns:a16="http://schemas.microsoft.com/office/drawing/2014/main" id="{15A31A78-A00E-7EE5-18AB-998496536A20}"/>
              </a:ext>
            </a:extLst>
          </p:cNvPr>
          <p:cNvSpPr>
            <a:spLocks noChangeArrowheads="1"/>
          </p:cNvSpPr>
          <p:nvPr userDrawn="1"/>
        </p:nvSpPr>
        <p:spPr bwMode="auto">
          <a:xfrm>
            <a:off x="466344" y="609269"/>
            <a:ext cx="8129016" cy="354012"/>
          </a:xfrm>
          <a:prstGeom prst="roundRect">
            <a:avLst>
              <a:gd name="adj" fmla="val 16667"/>
            </a:avLst>
          </a:prstGeom>
          <a:solidFill>
            <a:srgbClr val="0089FA"/>
          </a:solidFill>
          <a:ln>
            <a:noFill/>
          </a:ln>
          <a:effectLst/>
        </p:spPr>
        <p:txBody>
          <a:bodyPr wrap="none" anchor="ctr"/>
          <a:lstStyle/>
          <a:p>
            <a:endParaRPr lang="zh-CN" altLang="en-US" sz="1600" dirty="0"/>
          </a:p>
        </p:txBody>
      </p:sp>
      <p:sp>
        <p:nvSpPr>
          <p:cNvPr id="17" name="文本占位符 11"/>
          <p:cNvSpPr>
            <a:spLocks noGrp="1"/>
          </p:cNvSpPr>
          <p:nvPr>
            <p:ph type="body" sz="quarter" idx="10"/>
          </p:nvPr>
        </p:nvSpPr>
        <p:spPr>
          <a:xfrm>
            <a:off x="1214565" y="616998"/>
            <a:ext cx="6632575" cy="338554"/>
          </a:xfrm>
          <a:prstGeom prst="rect">
            <a:avLst/>
          </a:prstGeom>
        </p:spPr>
        <p:txBody>
          <a:bodyPr anchor="ctr">
            <a:spAutoFit/>
          </a:bodyPr>
          <a:lstStyle>
            <a:lvl1pPr>
              <a:defRPr lang="zh-CN" altLang="en-US" sz="1600" b="0" dirty="0" smtClean="0">
                <a:solidFill>
                  <a:schemeClr val="bg1"/>
                </a:solidFill>
                <a:latin typeface="微软雅黑" panose="020B0503020204020204" pitchFamily="34" charset="-122"/>
                <a:ea typeface="微软雅黑" panose="020B0503020204020204" pitchFamily="34" charset="-122"/>
              </a:defRPr>
            </a:lvl1pPr>
          </a:lstStyle>
          <a:p>
            <a:pPr marL="0" lvl="0" indent="0" algn="ctr">
              <a:buFontTx/>
              <a:buNone/>
            </a:pPr>
            <a:r>
              <a:rPr lang="zh-CN" altLang="en-US" dirty="0"/>
              <a:t>编辑母版文本样式</a:t>
            </a:r>
          </a:p>
        </p:txBody>
      </p:sp>
    </p:spTree>
    <p:extLst>
      <p:ext uri="{BB962C8B-B14F-4D97-AF65-F5344CB8AC3E}">
        <p14:creationId xmlns:p14="http://schemas.microsoft.com/office/powerpoint/2010/main" val="21945708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9716237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标题和内容">
    <p:spTree>
      <p:nvGrpSpPr>
        <p:cNvPr id="1" name=""/>
        <p:cNvGrpSpPr/>
        <p:nvPr/>
      </p:nvGrpSpPr>
      <p:grpSpPr>
        <a:xfrm>
          <a:off x="0" y="0"/>
          <a:ext cx="0" cy="0"/>
          <a:chOff x="0" y="0"/>
          <a:chExt cx="0" cy="0"/>
        </a:xfrm>
      </p:grpSpPr>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theme" Target="../theme/theme2.xml"/><Relationship Id="rId1" Type="http://schemas.openxmlformats.org/officeDocument/2006/relationships/slideLayout" Target="../slideLayouts/slideLayout4.xml"/><Relationship Id="rId5" Type="http://schemas.openxmlformats.org/officeDocument/2006/relationships/image" Target="../media/image5.jpeg"/><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9" name="Line 3"/>
          <p:cNvSpPr>
            <a:spLocks noChangeShapeType="1"/>
          </p:cNvSpPr>
          <p:nvPr userDrawn="1"/>
        </p:nvSpPr>
        <p:spPr bwMode="auto">
          <a:xfrm>
            <a:off x="0" y="301625"/>
            <a:ext cx="2880000" cy="0"/>
          </a:xfrm>
          <a:prstGeom prst="line">
            <a:avLst/>
          </a:prstGeom>
          <a:noFill/>
          <a:ln w="12700" algn="ctr">
            <a:solidFill>
              <a:srgbClr val="84CFF5"/>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30" name="Rectangle 4"/>
          <p:cNvSpPr>
            <a:spLocks noChangeArrowheads="1"/>
          </p:cNvSpPr>
          <p:nvPr userDrawn="1"/>
        </p:nvSpPr>
        <p:spPr bwMode="auto">
          <a:xfrm>
            <a:off x="4751173" y="163513"/>
            <a:ext cx="1065213" cy="2619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fr-FR" sz="1100" b="0" dirty="0">
                <a:solidFill>
                  <a:srgbClr val="0070C0"/>
                </a:solidFill>
                <a:latin typeface="微软雅黑" pitchFamily="34" charset="-122"/>
                <a:ea typeface="微软雅黑" pitchFamily="34" charset="-122"/>
              </a:rPr>
              <a:t>谢希仁 编著</a:t>
            </a:r>
          </a:p>
        </p:txBody>
      </p:sp>
      <p:sp>
        <p:nvSpPr>
          <p:cNvPr id="1031" name="Rectangle 5"/>
          <p:cNvSpPr>
            <a:spLocks noChangeArrowheads="1"/>
          </p:cNvSpPr>
          <p:nvPr userDrawn="1"/>
        </p:nvSpPr>
        <p:spPr bwMode="auto">
          <a:xfrm>
            <a:off x="2900111" y="165100"/>
            <a:ext cx="149271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0070C0"/>
                </a:solidFill>
                <a:latin typeface="微软雅黑" pitchFamily="34" charset="-122"/>
                <a:ea typeface="微软雅黑" pitchFamily="34" charset="-122"/>
              </a:rPr>
              <a:t>计算机网络 </a:t>
            </a:r>
            <a:r>
              <a:rPr lang="en-US" altLang="zh-CN" sz="1100" b="0" dirty="0">
                <a:solidFill>
                  <a:srgbClr val="0070C0"/>
                </a:solidFill>
                <a:latin typeface="微软雅黑" pitchFamily="34" charset="-122"/>
                <a:ea typeface="微软雅黑" pitchFamily="34" charset="-122"/>
              </a:rPr>
              <a:t>(</a:t>
            </a:r>
            <a:r>
              <a:rPr lang="zh-CN" altLang="en-US" sz="1100" b="0" dirty="0">
                <a:solidFill>
                  <a:srgbClr val="0070C0"/>
                </a:solidFill>
                <a:latin typeface="微软雅黑" pitchFamily="34" charset="-122"/>
                <a:ea typeface="微软雅黑" pitchFamily="34" charset="-122"/>
              </a:rPr>
              <a:t>第 </a:t>
            </a:r>
            <a:r>
              <a:rPr lang="en-US" altLang="zh-CN" sz="1100" b="0" dirty="0">
                <a:solidFill>
                  <a:srgbClr val="0070C0"/>
                </a:solidFill>
                <a:latin typeface="微软雅黑" pitchFamily="34" charset="-122"/>
                <a:ea typeface="微软雅黑" pitchFamily="34" charset="-122"/>
              </a:rPr>
              <a:t>8 </a:t>
            </a:r>
            <a:r>
              <a:rPr lang="zh-CN" altLang="en-US" sz="1100" b="0" dirty="0">
                <a:solidFill>
                  <a:srgbClr val="0070C0"/>
                </a:solidFill>
                <a:latin typeface="微软雅黑" pitchFamily="34" charset="-122"/>
                <a:ea typeface="微软雅黑" pitchFamily="34" charset="-122"/>
              </a:rPr>
              <a:t>版</a:t>
            </a:r>
            <a:r>
              <a:rPr lang="en-US" altLang="zh-CN" sz="1100" b="0" dirty="0">
                <a:solidFill>
                  <a:srgbClr val="0070C0"/>
                </a:solidFill>
                <a:latin typeface="微软雅黑" pitchFamily="34" charset="-122"/>
                <a:ea typeface="微软雅黑" pitchFamily="34" charset="-122"/>
              </a:rPr>
              <a:t>)</a:t>
            </a:r>
            <a:endParaRPr lang="fr-FR" altLang="zh-CN" sz="1100" b="0" dirty="0">
              <a:solidFill>
                <a:srgbClr val="0070C0"/>
              </a:solidFill>
              <a:latin typeface="微软雅黑" pitchFamily="34" charset="-122"/>
              <a:ea typeface="微软雅黑" pitchFamily="34" charset="-122"/>
            </a:endParaRPr>
          </a:p>
        </p:txBody>
      </p:sp>
      <p:sp>
        <p:nvSpPr>
          <p:cNvPr id="1032" name="椭圆 11"/>
          <p:cNvSpPr>
            <a:spLocks noChangeArrowheads="1"/>
          </p:cNvSpPr>
          <p:nvPr userDrawn="1"/>
        </p:nvSpPr>
        <p:spPr bwMode="auto">
          <a:xfrm>
            <a:off x="2794275" y="258763"/>
            <a:ext cx="85725" cy="85725"/>
          </a:xfrm>
          <a:prstGeom prst="ellipse">
            <a:avLst/>
          </a:prstGeom>
          <a:solidFill>
            <a:schemeClr val="bg1"/>
          </a:solidFill>
          <a:ln w="12700" algn="ctr">
            <a:solidFill>
              <a:srgbClr val="84CFF5"/>
            </a:solidFill>
            <a:round/>
            <a:headEnd/>
            <a:tailEnd/>
          </a:ln>
        </p:spPr>
        <p:txBody>
          <a:bodyPr/>
          <a:lstStyle/>
          <a:p>
            <a:endParaRPr lang="zh-CN" altLang="en-US">
              <a:latin typeface="Arial" charset="0"/>
            </a:endParaRPr>
          </a:p>
        </p:txBody>
      </p:sp>
      <p:sp>
        <p:nvSpPr>
          <p:cNvPr id="1033" name="Line 3"/>
          <p:cNvSpPr>
            <a:spLocks noChangeShapeType="1"/>
          </p:cNvSpPr>
          <p:nvPr userDrawn="1"/>
        </p:nvSpPr>
        <p:spPr bwMode="auto">
          <a:xfrm>
            <a:off x="6264000" y="301625"/>
            <a:ext cx="2880000" cy="0"/>
          </a:xfrm>
          <a:prstGeom prst="line">
            <a:avLst/>
          </a:prstGeom>
          <a:noFill/>
          <a:ln w="12700" algn="ctr">
            <a:solidFill>
              <a:srgbClr val="84CFF5"/>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34" name="椭圆 13"/>
          <p:cNvSpPr>
            <a:spLocks noChangeArrowheads="1"/>
          </p:cNvSpPr>
          <p:nvPr userDrawn="1"/>
        </p:nvSpPr>
        <p:spPr bwMode="auto">
          <a:xfrm>
            <a:off x="6264000" y="258763"/>
            <a:ext cx="85725" cy="85725"/>
          </a:xfrm>
          <a:prstGeom prst="ellipse">
            <a:avLst/>
          </a:prstGeom>
          <a:solidFill>
            <a:schemeClr val="bg1"/>
          </a:solidFill>
          <a:ln w="12700" algn="ctr">
            <a:solidFill>
              <a:srgbClr val="84CFF5"/>
            </a:solidFill>
            <a:round/>
            <a:headEnd/>
            <a:tailEnd/>
          </a:ln>
        </p:spPr>
        <p:txBody>
          <a:bodyPr/>
          <a:lstStyle/>
          <a:p>
            <a:endParaRPr lang="zh-CN" altLang="en-US">
              <a:latin typeface="Arial" charset="0"/>
            </a:endParaRPr>
          </a:p>
        </p:txBody>
      </p:sp>
      <p:pic>
        <p:nvPicPr>
          <p:cNvPr id="11" name="图片 1"/>
          <p:cNvPicPr>
            <a:picLocks noChangeAspect="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Line 3"/>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3" name="Rectangle 9"/>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8" name="矩形 7"/>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5" name="图片 14"/>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4392827" y="149234"/>
            <a:ext cx="358346" cy="458684"/>
          </a:xfrm>
          <a:prstGeom prst="rect">
            <a:avLst/>
          </a:prstGeom>
        </p:spPr>
      </p:pic>
      <p:pic>
        <p:nvPicPr>
          <p:cNvPr id="6" name="图片 5">
            <a:extLst>
              <a:ext uri="{FF2B5EF4-FFF2-40B4-BE49-F238E27FC236}">
                <a16:creationId xmlns:a16="http://schemas.microsoft.com/office/drawing/2014/main" id="{414EAB92-11E9-D7CB-105E-AE0104FA57FE}"/>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spTree>
  </p:cSld>
  <p:clrMap bg1="lt1" tx1="dk1" bg2="lt2" tx2="dk2" accent1="accent1" accent2="accent2" accent3="accent3" accent4="accent4" accent5="accent5" accent6="accent6" hlink="hlink" folHlink="folHlink"/>
  <p:sldLayoutIdLst>
    <p:sldLayoutId id="2147483682" r:id="rId1"/>
    <p:sldLayoutId id="2147483683" r:id="rId2"/>
    <p:sldLayoutId id="2147483675" r:id="rId3"/>
  </p:sldLayoutIdLst>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xStyles>
    <p:titleStyle>
      <a:lvl1pPr algn="ctr" rtl="0" fontAlgn="base">
        <a:spcBef>
          <a:spcPct val="0"/>
        </a:spcBef>
        <a:spcAft>
          <a:spcPct val="0"/>
        </a:spcAft>
        <a:defRPr sz="4400" kern="1200">
          <a:solidFill>
            <a:schemeClr val="tx1"/>
          </a:solidFill>
          <a:latin typeface="+mj-lt"/>
          <a:ea typeface="+mj-ea"/>
          <a:cs typeface="+mj-cs"/>
        </a:defRPr>
      </a:lvl1pPr>
      <a:lvl2pPr algn="ctr" rtl="0" fontAlgn="base">
        <a:spcBef>
          <a:spcPct val="0"/>
        </a:spcBef>
        <a:spcAft>
          <a:spcPct val="0"/>
        </a:spcAft>
        <a:defRPr sz="4400">
          <a:solidFill>
            <a:schemeClr val="tx1"/>
          </a:solidFill>
          <a:latin typeface="Calibri" pitchFamily="34" charset="0"/>
          <a:ea typeface="宋体" charset="-122"/>
        </a:defRPr>
      </a:lvl2pPr>
      <a:lvl3pPr algn="ctr" rtl="0" fontAlgn="base">
        <a:spcBef>
          <a:spcPct val="0"/>
        </a:spcBef>
        <a:spcAft>
          <a:spcPct val="0"/>
        </a:spcAft>
        <a:defRPr sz="4400">
          <a:solidFill>
            <a:schemeClr val="tx1"/>
          </a:solidFill>
          <a:latin typeface="Calibri" pitchFamily="34" charset="0"/>
          <a:ea typeface="宋体" charset="-122"/>
        </a:defRPr>
      </a:lvl3pPr>
      <a:lvl4pPr algn="ctr" rtl="0" fontAlgn="base">
        <a:spcBef>
          <a:spcPct val="0"/>
        </a:spcBef>
        <a:spcAft>
          <a:spcPct val="0"/>
        </a:spcAft>
        <a:defRPr sz="4400">
          <a:solidFill>
            <a:schemeClr val="tx1"/>
          </a:solidFill>
          <a:latin typeface="Calibri" pitchFamily="34" charset="0"/>
          <a:ea typeface="宋体" charset="-122"/>
        </a:defRPr>
      </a:lvl4pPr>
      <a:lvl5pPr algn="ctr" rtl="0" fontAlgn="base">
        <a:spcBef>
          <a:spcPct val="0"/>
        </a:spcBef>
        <a:spcAft>
          <a:spcPct val="0"/>
        </a:spcAft>
        <a:defRPr sz="4400">
          <a:solidFill>
            <a:schemeClr val="tx1"/>
          </a:solidFill>
          <a:latin typeface="Calibri" pitchFamily="34" charset="0"/>
          <a:ea typeface="宋体" charset="-122"/>
        </a:defRPr>
      </a:lvl5pPr>
      <a:lvl6pPr marL="457200" algn="ctr" rtl="0" fontAlgn="base">
        <a:spcBef>
          <a:spcPct val="0"/>
        </a:spcBef>
        <a:spcAft>
          <a:spcPct val="0"/>
        </a:spcAft>
        <a:defRPr sz="4400">
          <a:solidFill>
            <a:schemeClr val="tx1"/>
          </a:solidFill>
          <a:latin typeface="Calibri" pitchFamily="34" charset="0"/>
          <a:ea typeface="宋体" charset="-122"/>
        </a:defRPr>
      </a:lvl6pPr>
      <a:lvl7pPr marL="914400" algn="ctr" rtl="0" fontAlgn="base">
        <a:spcBef>
          <a:spcPct val="0"/>
        </a:spcBef>
        <a:spcAft>
          <a:spcPct val="0"/>
        </a:spcAft>
        <a:defRPr sz="4400">
          <a:solidFill>
            <a:schemeClr val="tx1"/>
          </a:solidFill>
          <a:latin typeface="Calibri" pitchFamily="34" charset="0"/>
          <a:ea typeface="宋体" charset="-122"/>
        </a:defRPr>
      </a:lvl7pPr>
      <a:lvl8pPr marL="1371600" algn="ctr" rtl="0" fontAlgn="base">
        <a:spcBef>
          <a:spcPct val="0"/>
        </a:spcBef>
        <a:spcAft>
          <a:spcPct val="0"/>
        </a:spcAft>
        <a:defRPr sz="4400">
          <a:solidFill>
            <a:schemeClr val="tx1"/>
          </a:solidFill>
          <a:latin typeface="Calibri" pitchFamily="34" charset="0"/>
          <a:ea typeface="宋体" charset="-122"/>
        </a:defRPr>
      </a:lvl8pPr>
      <a:lvl9pPr marL="1828800" algn="ctr" rtl="0" fontAlgn="base">
        <a:spcBef>
          <a:spcPct val="0"/>
        </a:spcBef>
        <a:spcAft>
          <a:spcPct val="0"/>
        </a:spcAft>
        <a:defRPr sz="4400">
          <a:solidFill>
            <a:schemeClr val="tx1"/>
          </a:solidFill>
          <a:latin typeface="Calibri" pitchFamily="34" charset="0"/>
          <a:ea typeface="宋体" charset="-122"/>
        </a:defRPr>
      </a:lvl9pPr>
    </p:titleStyle>
    <p:bodyStyle>
      <a:lvl1pPr marL="342900" indent="-342900" algn="l" rtl="0" fontAlgn="base">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fontAlgn="base">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fontAlgn="base">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fontAlgn="base">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fontAlgn="base">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7" name="Line 3"/>
          <p:cNvSpPr>
            <a:spLocks noChangeShapeType="1"/>
          </p:cNvSpPr>
          <p:nvPr userDrawn="1"/>
        </p:nvSpPr>
        <p:spPr bwMode="auto">
          <a:xfrm>
            <a:off x="0" y="428625"/>
            <a:ext cx="9144000" cy="0"/>
          </a:xfrm>
          <a:prstGeom prst="line">
            <a:avLst/>
          </a:prstGeom>
          <a:noFill/>
          <a:ln w="25400" algn="ctr">
            <a:solidFill>
              <a:srgbClr val="85D1F7"/>
            </a:solidFill>
            <a:round/>
          </a:ln>
          <a:extLst>
            <a:ext uri="{909E8E84-426E-40DD-AFC4-6F175D3DCCD1}">
              <a14:hiddenFill xmlns:a14="http://schemas.microsoft.com/office/drawing/2010/main">
                <a:noFill/>
              </a14:hiddenFill>
            </a:ext>
          </a:extLst>
        </p:spPr>
        <p:txBody>
          <a:bodyPr/>
          <a:lstStyle/>
          <a:p>
            <a:endParaRPr lang="zh-CN" altLang="en-US">
              <a:solidFill>
                <a:prstClr val="black"/>
              </a:solidFill>
              <a:ea typeface="宋体" panose="02010600030101010101" pitchFamily="2" charset="-122"/>
            </a:endParaRPr>
          </a:p>
        </p:txBody>
      </p:sp>
      <p:sp>
        <p:nvSpPr>
          <p:cNvPr id="8" name="矩形 7"/>
          <p:cNvSpPr/>
          <p:nvPr userDrawn="1"/>
        </p:nvSpPr>
        <p:spPr>
          <a:xfrm>
            <a:off x="4232275" y="123825"/>
            <a:ext cx="679450"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1029" name="Line 3"/>
          <p:cNvSpPr>
            <a:spLocks noChangeShapeType="1"/>
          </p:cNvSpPr>
          <p:nvPr userDrawn="1"/>
        </p:nvSpPr>
        <p:spPr bwMode="auto">
          <a:xfrm>
            <a:off x="0" y="301625"/>
            <a:ext cx="2960688" cy="0"/>
          </a:xfrm>
          <a:prstGeom prst="line">
            <a:avLst/>
          </a:prstGeom>
          <a:noFill/>
          <a:ln w="12700" algn="ctr">
            <a:solidFill>
              <a:srgbClr val="00CC00"/>
            </a:solidFill>
            <a:round/>
          </a:ln>
          <a:extLst>
            <a:ext uri="{909E8E84-426E-40DD-AFC4-6F175D3DCCD1}">
              <a14:hiddenFill xmlns:a14="http://schemas.microsoft.com/office/drawing/2010/main">
                <a:noFill/>
              </a14:hiddenFill>
            </a:ext>
          </a:extLst>
        </p:spPr>
        <p:txBody>
          <a:bodyPr/>
          <a:lstStyle/>
          <a:p>
            <a:endParaRPr lang="zh-CN" altLang="en-US">
              <a:solidFill>
                <a:prstClr val="black"/>
              </a:solidFill>
              <a:ea typeface="宋体" panose="02010600030101010101" pitchFamily="2" charset="-122"/>
            </a:endParaRPr>
          </a:p>
        </p:txBody>
      </p:sp>
      <p:sp>
        <p:nvSpPr>
          <p:cNvPr id="1030" name="Rectangle 4"/>
          <p:cNvSpPr>
            <a:spLocks noChangeArrowheads="1"/>
          </p:cNvSpPr>
          <p:nvPr userDrawn="1"/>
        </p:nvSpPr>
        <p:spPr bwMode="auto">
          <a:xfrm>
            <a:off x="4810125" y="163513"/>
            <a:ext cx="1065213" cy="2619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100" b="1">
                <a:solidFill>
                  <a:srgbClr val="0070C0"/>
                </a:solidFill>
                <a:latin typeface="微软雅黑" panose="020B0503020204020204" pitchFamily="34" charset="-122"/>
                <a:ea typeface="微软雅黑" panose="020B0503020204020204" pitchFamily="34" charset="-122"/>
              </a:rPr>
              <a:t>谢希仁 编著</a:t>
            </a:r>
          </a:p>
        </p:txBody>
      </p:sp>
      <p:sp>
        <p:nvSpPr>
          <p:cNvPr id="1031" name="Rectangle 5"/>
          <p:cNvSpPr>
            <a:spLocks noChangeArrowheads="1"/>
          </p:cNvSpPr>
          <p:nvPr userDrawn="1"/>
        </p:nvSpPr>
        <p:spPr bwMode="auto">
          <a:xfrm>
            <a:off x="2960688" y="165100"/>
            <a:ext cx="1366837" cy="2619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1">
                <a:solidFill>
                  <a:srgbClr val="0070C0"/>
                </a:solidFill>
                <a:latin typeface="微软雅黑" panose="020B0503020204020204" pitchFamily="34" charset="-122"/>
                <a:ea typeface="微软雅黑" panose="020B0503020204020204" pitchFamily="34" charset="-122"/>
              </a:rPr>
              <a:t>计算机网络</a:t>
            </a:r>
            <a:r>
              <a:rPr lang="en-US" altLang="zh-CN" sz="1100" b="1">
                <a:solidFill>
                  <a:srgbClr val="0070C0"/>
                </a:solidFill>
                <a:latin typeface="微软雅黑" panose="020B0503020204020204" pitchFamily="34" charset="-122"/>
                <a:ea typeface="微软雅黑" panose="020B0503020204020204" pitchFamily="34" charset="-122"/>
              </a:rPr>
              <a:t>(</a:t>
            </a:r>
            <a:r>
              <a:rPr lang="zh-CN" altLang="en-US" sz="1100" b="1">
                <a:solidFill>
                  <a:srgbClr val="0070C0"/>
                </a:solidFill>
                <a:latin typeface="微软雅黑" panose="020B0503020204020204" pitchFamily="34" charset="-122"/>
                <a:ea typeface="微软雅黑" panose="020B0503020204020204" pitchFamily="34" charset="-122"/>
              </a:rPr>
              <a:t>第</a:t>
            </a:r>
            <a:r>
              <a:rPr lang="en-US" altLang="zh-CN" sz="1100" b="1">
                <a:solidFill>
                  <a:srgbClr val="0070C0"/>
                </a:solidFill>
                <a:latin typeface="微软雅黑" panose="020B0503020204020204" pitchFamily="34" charset="-122"/>
                <a:ea typeface="微软雅黑" panose="020B0503020204020204" pitchFamily="34" charset="-122"/>
              </a:rPr>
              <a:t>7</a:t>
            </a:r>
            <a:r>
              <a:rPr lang="zh-CN" altLang="en-US" sz="1100" b="1">
                <a:solidFill>
                  <a:srgbClr val="0070C0"/>
                </a:solidFill>
                <a:latin typeface="微软雅黑" panose="020B0503020204020204" pitchFamily="34" charset="-122"/>
                <a:ea typeface="微软雅黑" panose="020B0503020204020204" pitchFamily="34" charset="-122"/>
              </a:rPr>
              <a:t>版</a:t>
            </a:r>
            <a:r>
              <a:rPr lang="en-US" altLang="zh-CN" sz="1100" b="1">
                <a:solidFill>
                  <a:srgbClr val="0070C0"/>
                </a:solidFill>
                <a:latin typeface="微软雅黑" panose="020B0503020204020204" pitchFamily="34" charset="-122"/>
                <a:ea typeface="微软雅黑" panose="020B0503020204020204" pitchFamily="34" charset="-122"/>
              </a:rPr>
              <a:t>)</a:t>
            </a:r>
            <a:endParaRPr lang="fr-FR" altLang="zh-CN" sz="1100" b="1">
              <a:solidFill>
                <a:srgbClr val="0070C0"/>
              </a:solidFill>
              <a:latin typeface="微软雅黑" panose="020B0503020204020204" pitchFamily="34" charset="-122"/>
              <a:ea typeface="微软雅黑" panose="020B0503020204020204" pitchFamily="34" charset="-122"/>
            </a:endParaRPr>
          </a:p>
        </p:txBody>
      </p:sp>
      <p:sp>
        <p:nvSpPr>
          <p:cNvPr id="1032" name="椭圆 11"/>
          <p:cNvSpPr>
            <a:spLocks noChangeArrowheads="1"/>
          </p:cNvSpPr>
          <p:nvPr userDrawn="1"/>
        </p:nvSpPr>
        <p:spPr bwMode="auto">
          <a:xfrm>
            <a:off x="2941638" y="258763"/>
            <a:ext cx="85725" cy="85725"/>
          </a:xfrm>
          <a:prstGeom prst="ellipse">
            <a:avLst/>
          </a:prstGeom>
          <a:solidFill>
            <a:schemeClr val="bg1"/>
          </a:solidFill>
          <a:ln w="12700" algn="ctr">
            <a:solidFill>
              <a:srgbClr val="00B050"/>
            </a:solidFill>
            <a:round/>
          </a:ln>
        </p:spPr>
        <p:txBody>
          <a:bodyPr/>
          <a:lstStyle/>
          <a:p>
            <a:endParaRPr lang="zh-CN" altLang="en-US">
              <a:solidFill>
                <a:prstClr val="black"/>
              </a:solidFill>
              <a:latin typeface="Arial" panose="020B0604020202020204" pitchFamily="34" charset="0"/>
              <a:ea typeface="宋体" panose="02010600030101010101" pitchFamily="2" charset="-122"/>
            </a:endParaRPr>
          </a:p>
        </p:txBody>
      </p:sp>
      <p:sp>
        <p:nvSpPr>
          <p:cNvPr id="1033" name="Line 3"/>
          <p:cNvSpPr>
            <a:spLocks noChangeShapeType="1"/>
          </p:cNvSpPr>
          <p:nvPr userDrawn="1"/>
        </p:nvSpPr>
        <p:spPr bwMode="auto">
          <a:xfrm>
            <a:off x="5670550" y="301625"/>
            <a:ext cx="3473450" cy="0"/>
          </a:xfrm>
          <a:prstGeom prst="line">
            <a:avLst/>
          </a:prstGeom>
          <a:noFill/>
          <a:ln w="12700" algn="ctr">
            <a:solidFill>
              <a:srgbClr val="00CC00"/>
            </a:solidFill>
            <a:round/>
          </a:ln>
          <a:extLst>
            <a:ext uri="{909E8E84-426E-40DD-AFC4-6F175D3DCCD1}">
              <a14:hiddenFill xmlns:a14="http://schemas.microsoft.com/office/drawing/2010/main">
                <a:noFill/>
              </a14:hiddenFill>
            </a:ext>
          </a:extLst>
        </p:spPr>
        <p:txBody>
          <a:bodyPr/>
          <a:lstStyle/>
          <a:p>
            <a:endParaRPr lang="zh-CN" altLang="en-US">
              <a:solidFill>
                <a:prstClr val="black"/>
              </a:solidFill>
              <a:ea typeface="宋体" panose="02010600030101010101" pitchFamily="2" charset="-122"/>
            </a:endParaRPr>
          </a:p>
        </p:txBody>
      </p:sp>
      <p:sp>
        <p:nvSpPr>
          <p:cNvPr id="1034" name="椭圆 13"/>
          <p:cNvSpPr>
            <a:spLocks noChangeArrowheads="1"/>
          </p:cNvSpPr>
          <p:nvPr userDrawn="1"/>
        </p:nvSpPr>
        <p:spPr bwMode="auto">
          <a:xfrm>
            <a:off x="5670550" y="258763"/>
            <a:ext cx="85725" cy="85725"/>
          </a:xfrm>
          <a:prstGeom prst="ellipse">
            <a:avLst/>
          </a:prstGeom>
          <a:solidFill>
            <a:schemeClr val="bg1"/>
          </a:solidFill>
          <a:ln w="12700" algn="ctr">
            <a:solidFill>
              <a:srgbClr val="00B050"/>
            </a:solidFill>
            <a:round/>
          </a:ln>
        </p:spPr>
        <p:txBody>
          <a:bodyPr/>
          <a:lstStyle/>
          <a:p>
            <a:endParaRPr lang="zh-CN" altLang="en-US">
              <a:solidFill>
                <a:prstClr val="black"/>
              </a:solidFill>
              <a:latin typeface="Arial" panose="020B0604020202020204" pitchFamily="34" charset="0"/>
              <a:ea typeface="宋体" panose="02010600030101010101" pitchFamily="2" charset="-122"/>
            </a:endParaRPr>
          </a:p>
        </p:txBody>
      </p:sp>
      <p:pic>
        <p:nvPicPr>
          <p:cNvPr id="1035" name="图片 14"/>
          <p:cNvPicPr>
            <a:picLocks noChangeAspect="1"/>
          </p:cNvPicPr>
          <p:nvPr userDrawn="1"/>
        </p:nvPicPr>
        <p:blipFill>
          <a:blip r:embed="rId3" cstate="print"/>
          <a:srcRect/>
          <a:stretch>
            <a:fillRect/>
          </a:stretch>
        </p:blipFill>
        <p:spPr bwMode="auto">
          <a:xfrm>
            <a:off x="4392613" y="149225"/>
            <a:ext cx="358775" cy="458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 name="图片 1"/>
          <p:cNvPicPr>
            <a:picLocks noChangeAspect="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Line 3"/>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3" name="Rectangle 9"/>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pic>
        <p:nvPicPr>
          <p:cNvPr id="14" name="图片 13"/>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8262049" y="4419021"/>
            <a:ext cx="503429" cy="559959"/>
          </a:xfrm>
          <a:prstGeom prst="rect">
            <a:avLst/>
          </a:prstGeom>
        </p:spPr>
      </p:pic>
    </p:spTree>
  </p:cSld>
  <p:clrMap bg1="lt1" tx1="dk1" bg2="lt2" tx2="dk2" accent1="accent1" accent2="accent2" accent3="accent3" accent4="accent4" accent5="accent5" accent6="accent6" hlink="hlink" folHlink="folHlink"/>
  <p:sldLayoutIdLst>
    <p:sldLayoutId id="2147483681" r:id="rId1"/>
  </p:sldLayoutIdLst>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xStyles>
    <p:titleStyle>
      <a:lvl1pPr algn="ctr" rtl="0" fontAlgn="base">
        <a:spcBef>
          <a:spcPct val="0"/>
        </a:spcBef>
        <a:spcAft>
          <a:spcPct val="0"/>
        </a:spcAft>
        <a:defRPr sz="4400" kern="1200">
          <a:solidFill>
            <a:schemeClr val="tx1"/>
          </a:solidFill>
          <a:latin typeface="+mj-lt"/>
          <a:ea typeface="+mj-ea"/>
          <a:cs typeface="+mj-cs"/>
        </a:defRPr>
      </a:lvl1pPr>
      <a:lvl2pPr algn="ctr" rtl="0" fontAlgn="base">
        <a:spcBef>
          <a:spcPct val="0"/>
        </a:spcBef>
        <a:spcAft>
          <a:spcPct val="0"/>
        </a:spcAft>
        <a:defRPr sz="4400">
          <a:solidFill>
            <a:schemeClr val="tx1"/>
          </a:solidFill>
          <a:latin typeface="Calibri" panose="020F0502020204030204" pitchFamily="34" charset="0"/>
          <a:ea typeface="宋体" panose="02010600030101010101" pitchFamily="2" charset="-122"/>
        </a:defRPr>
      </a:lvl2pPr>
      <a:lvl3pPr algn="ctr" rtl="0" fontAlgn="base">
        <a:spcBef>
          <a:spcPct val="0"/>
        </a:spcBef>
        <a:spcAft>
          <a:spcPct val="0"/>
        </a:spcAft>
        <a:defRPr sz="4400">
          <a:solidFill>
            <a:schemeClr val="tx1"/>
          </a:solidFill>
          <a:latin typeface="Calibri" panose="020F0502020204030204" pitchFamily="34" charset="0"/>
          <a:ea typeface="宋体" panose="02010600030101010101" pitchFamily="2" charset="-122"/>
        </a:defRPr>
      </a:lvl3pPr>
      <a:lvl4pPr algn="ctr" rtl="0" fontAlgn="base">
        <a:spcBef>
          <a:spcPct val="0"/>
        </a:spcBef>
        <a:spcAft>
          <a:spcPct val="0"/>
        </a:spcAft>
        <a:defRPr sz="4400">
          <a:solidFill>
            <a:schemeClr val="tx1"/>
          </a:solidFill>
          <a:latin typeface="Calibri" panose="020F0502020204030204" pitchFamily="34" charset="0"/>
          <a:ea typeface="宋体" panose="02010600030101010101" pitchFamily="2" charset="-122"/>
        </a:defRPr>
      </a:lvl4pPr>
      <a:lvl5pPr algn="ctr" rtl="0" fontAlgn="base">
        <a:spcBef>
          <a:spcPct val="0"/>
        </a:spcBef>
        <a:spcAft>
          <a:spcPct val="0"/>
        </a:spcAft>
        <a:defRPr sz="4400">
          <a:solidFill>
            <a:schemeClr val="tx1"/>
          </a:solidFill>
          <a:latin typeface="Calibri" panose="020F0502020204030204" pitchFamily="34" charset="0"/>
          <a:ea typeface="宋体" panose="02010600030101010101" pitchFamily="2" charset="-122"/>
        </a:defRPr>
      </a:lvl5pPr>
      <a:lvl6pPr marL="457200" algn="ctr" rtl="0" fontAlgn="base">
        <a:spcBef>
          <a:spcPct val="0"/>
        </a:spcBef>
        <a:spcAft>
          <a:spcPct val="0"/>
        </a:spcAft>
        <a:defRPr sz="4400">
          <a:solidFill>
            <a:schemeClr val="tx1"/>
          </a:solidFill>
          <a:latin typeface="Calibri" panose="020F0502020204030204" pitchFamily="34" charset="0"/>
          <a:ea typeface="宋体" panose="02010600030101010101" pitchFamily="2" charset="-122"/>
        </a:defRPr>
      </a:lvl6pPr>
      <a:lvl7pPr marL="914400" algn="ctr" rtl="0" fontAlgn="base">
        <a:spcBef>
          <a:spcPct val="0"/>
        </a:spcBef>
        <a:spcAft>
          <a:spcPct val="0"/>
        </a:spcAft>
        <a:defRPr sz="4400">
          <a:solidFill>
            <a:schemeClr val="tx1"/>
          </a:solidFill>
          <a:latin typeface="Calibri" panose="020F0502020204030204" pitchFamily="34" charset="0"/>
          <a:ea typeface="宋体" panose="02010600030101010101" pitchFamily="2" charset="-122"/>
        </a:defRPr>
      </a:lvl7pPr>
      <a:lvl8pPr marL="1371600" algn="ctr" rtl="0" fontAlgn="base">
        <a:spcBef>
          <a:spcPct val="0"/>
        </a:spcBef>
        <a:spcAft>
          <a:spcPct val="0"/>
        </a:spcAft>
        <a:defRPr sz="4400">
          <a:solidFill>
            <a:schemeClr val="tx1"/>
          </a:solidFill>
          <a:latin typeface="Calibri" panose="020F0502020204030204" pitchFamily="34" charset="0"/>
          <a:ea typeface="宋体" panose="02010600030101010101" pitchFamily="2" charset="-122"/>
        </a:defRPr>
      </a:lvl8pPr>
      <a:lvl9pPr marL="1828800" algn="ctr" rtl="0" fontAlgn="base">
        <a:spcBef>
          <a:spcPct val="0"/>
        </a:spcBef>
        <a:spcAft>
          <a:spcPct val="0"/>
        </a:spcAft>
        <a:defRPr sz="4400">
          <a:solidFill>
            <a:schemeClr val="tx1"/>
          </a:solidFill>
          <a:latin typeface="Calibri" panose="020F0502020204030204" pitchFamily="34" charset="0"/>
          <a:ea typeface="宋体" panose="02010600030101010101" pitchFamily="2" charset="-122"/>
        </a:defRPr>
      </a:lvl9pPr>
    </p:titleStyle>
    <p:bodyStyle>
      <a:lvl1pPr marL="342900" indent="-342900" algn="l" rtl="0" fontAlgn="base">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fontAlgn="base">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fontAlgn="base">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fontAlgn="base">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fontAlgn="base">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wmf"/><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wmf"/><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8.wmf"/></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wmf"/><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wmf"/></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1.wm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21.wmf"/><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1.wmf"/><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9.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40.wmf"/><Relationship Id="rId2" Type="http://schemas.openxmlformats.org/officeDocument/2006/relationships/image" Target="../media/image34.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21.wmf"/><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8" Type="http://schemas.openxmlformats.org/officeDocument/2006/relationships/image" Target="../media/image49.jpeg"/><Relationship Id="rId3" Type="http://schemas.microsoft.com/office/2007/relationships/hdphoto" Target="../media/hdphoto1.wdp"/><Relationship Id="rId7" Type="http://schemas.microsoft.com/office/2007/relationships/hdphoto" Target="../media/hdphoto3.wdp"/><Relationship Id="rId2" Type="http://schemas.openxmlformats.org/officeDocument/2006/relationships/image" Target="../media/image46.png"/><Relationship Id="rId1" Type="http://schemas.openxmlformats.org/officeDocument/2006/relationships/slideLayout" Target="../slideLayouts/slideLayout1.xml"/><Relationship Id="rId6" Type="http://schemas.openxmlformats.org/officeDocument/2006/relationships/image" Target="../media/image48.png"/><Relationship Id="rId5" Type="http://schemas.microsoft.com/office/2007/relationships/hdphoto" Target="../media/hdphoto2.wdp"/><Relationship Id="rId4" Type="http://schemas.openxmlformats.org/officeDocument/2006/relationships/image" Target="../media/image47.png"/></Relationships>
</file>

<file path=ppt/slides/_rels/slide64.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50.png"/><Relationship Id="rId7" Type="http://schemas.microsoft.com/office/2007/relationships/hdphoto" Target="../media/hdphoto4.wdp"/><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3.png"/><Relationship Id="rId5" Type="http://schemas.openxmlformats.org/officeDocument/2006/relationships/image" Target="../media/image52.png"/><Relationship Id="rId10" Type="http://schemas.openxmlformats.org/officeDocument/2006/relationships/image" Target="../media/image56.png"/><Relationship Id="rId4" Type="http://schemas.openxmlformats.org/officeDocument/2006/relationships/image" Target="../media/image51.png"/><Relationship Id="rId9"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40.wmf"/><Relationship Id="rId7" Type="http://schemas.openxmlformats.org/officeDocument/2006/relationships/image" Target="../media/image60.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9.png"/><Relationship Id="rId11" Type="http://schemas.openxmlformats.org/officeDocument/2006/relationships/image" Target="../media/image63.png"/><Relationship Id="rId5" Type="http://schemas.openxmlformats.org/officeDocument/2006/relationships/image" Target="../media/image58.png"/><Relationship Id="rId10" Type="http://schemas.openxmlformats.org/officeDocument/2006/relationships/image" Target="../media/image62.png"/><Relationship Id="rId4" Type="http://schemas.openxmlformats.org/officeDocument/2006/relationships/image" Target="../media/image57.png"/><Relationship Id="rId9" Type="http://schemas.openxmlformats.org/officeDocument/2006/relationships/image" Target="../media/image3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1.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0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10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1.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21.wmf"/></Relationships>
</file>

<file path=ppt/slides/_rels/slide13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21.wmf"/></Relationships>
</file>

<file path=ppt/slides/_rels/slide13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21.wmf"/></Relationships>
</file>

<file path=ppt/slides/_rels/slide13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1.wmf"/></Relationships>
</file>

<file path=ppt/slides/_rels/slide13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1.wmf"/></Relationships>
</file>

<file path=ppt/slides/_rels/slide1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21.wmf"/></Relationships>
</file>

<file path=ppt/slides/_rels/slide1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21.wmf"/></Relationships>
</file>

<file path=ppt/slides/_rels/slide1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21.wmf"/></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1.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3" Type="http://schemas.openxmlformats.org/officeDocument/2006/relationships/image" Target="../media/image64.wmf"/><Relationship Id="rId2" Type="http://schemas.openxmlformats.org/officeDocument/2006/relationships/oleObject" Target="../embeddings/oleObject1.bin"/><Relationship Id="rId1" Type="http://schemas.openxmlformats.org/officeDocument/2006/relationships/slideLayout" Target="../slideLayouts/slideLayout2.xml"/><Relationship Id="rId6" Type="http://schemas.openxmlformats.org/officeDocument/2006/relationships/image" Target="../media/image21.wmf"/><Relationship Id="rId5" Type="http://schemas.openxmlformats.org/officeDocument/2006/relationships/image" Target="../media/image41.png"/><Relationship Id="rId4" Type="http://schemas.openxmlformats.org/officeDocument/2006/relationships/image" Target="../media/image65.wmf"/></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64.wmf"/><Relationship Id="rId2" Type="http://schemas.openxmlformats.org/officeDocument/2006/relationships/oleObject" Target="../embeddings/oleObject2.bin"/><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65.w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sp>
        <p:nvSpPr>
          <p:cNvPr id="13" name="矩形 6"/>
          <p:cNvSpPr>
            <a:spLocks noChangeArrowheads="1"/>
          </p:cNvSpPr>
          <p:nvPr/>
        </p:nvSpPr>
        <p:spPr bwMode="auto">
          <a:xfrm>
            <a:off x="5226050" y="2219325"/>
            <a:ext cx="2016125" cy="938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5500" b="1">
                <a:solidFill>
                  <a:schemeClr val="bg1"/>
                </a:solidFill>
                <a:latin typeface="微软雅黑" pitchFamily="34" charset="-122"/>
                <a:ea typeface="微软雅黑" pitchFamily="34" charset="-122"/>
              </a:rPr>
              <a:t>概  述</a:t>
            </a:r>
          </a:p>
        </p:txBody>
      </p:sp>
      <p:sp>
        <p:nvSpPr>
          <p:cNvPr id="14" name="矩形 7"/>
          <p:cNvSpPr>
            <a:spLocks noChangeArrowheads="1"/>
          </p:cNvSpPr>
          <p:nvPr/>
        </p:nvSpPr>
        <p:spPr bwMode="auto">
          <a:xfrm>
            <a:off x="5565775" y="1736725"/>
            <a:ext cx="13382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2800" b="1">
                <a:solidFill>
                  <a:schemeClr val="bg1"/>
                </a:solidFill>
                <a:latin typeface="微软雅黑" pitchFamily="34" charset="-122"/>
                <a:ea typeface="微软雅黑" pitchFamily="34" charset="-122"/>
              </a:rPr>
              <a:t>第 1 章</a:t>
            </a:r>
          </a:p>
        </p:txBody>
      </p:sp>
      <p:cxnSp>
        <p:nvCxnSpPr>
          <p:cNvPr id="15" name="直接连接符 14"/>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6"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1654175" y="100330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5" name="Rectangle 10"/>
          <p:cNvSpPr>
            <a:spLocks noChangeArrowheads="1"/>
          </p:cNvSpPr>
          <p:nvPr/>
        </p:nvSpPr>
        <p:spPr bwMode="auto">
          <a:xfrm>
            <a:off x="1654175" y="1484313"/>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6" name="Rectangle 11"/>
          <p:cNvSpPr>
            <a:spLocks noChangeArrowheads="1"/>
          </p:cNvSpPr>
          <p:nvPr/>
        </p:nvSpPr>
        <p:spPr bwMode="auto">
          <a:xfrm>
            <a:off x="1654175" y="197485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7" name="Rectangle 12"/>
          <p:cNvSpPr>
            <a:spLocks noChangeArrowheads="1"/>
          </p:cNvSpPr>
          <p:nvPr/>
        </p:nvSpPr>
        <p:spPr bwMode="auto">
          <a:xfrm>
            <a:off x="1654175" y="2462213"/>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8" name="Rectangle 13"/>
          <p:cNvSpPr>
            <a:spLocks noChangeArrowheads="1"/>
          </p:cNvSpPr>
          <p:nvPr/>
        </p:nvSpPr>
        <p:spPr bwMode="auto">
          <a:xfrm>
            <a:off x="1654175" y="2943225"/>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9" name="Rectangle 14"/>
          <p:cNvSpPr>
            <a:spLocks noChangeArrowheads="1"/>
          </p:cNvSpPr>
          <p:nvPr/>
        </p:nvSpPr>
        <p:spPr bwMode="auto">
          <a:xfrm>
            <a:off x="1654175" y="343693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10" name="Rectangle 15"/>
          <p:cNvSpPr>
            <a:spLocks noChangeArrowheads="1"/>
          </p:cNvSpPr>
          <p:nvPr/>
        </p:nvSpPr>
        <p:spPr bwMode="auto">
          <a:xfrm>
            <a:off x="1652588" y="3927475"/>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12297" name="Line 16"/>
          <p:cNvSpPr>
            <a:spLocks noChangeShapeType="1"/>
          </p:cNvSpPr>
          <p:nvPr/>
        </p:nvSpPr>
        <p:spPr bwMode="auto">
          <a:xfrm>
            <a:off x="2401888" y="822325"/>
            <a:ext cx="0" cy="391795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2298" name="Rectangle 17"/>
          <p:cNvSpPr>
            <a:spLocks noChangeArrowheads="1"/>
          </p:cNvSpPr>
          <p:nvPr/>
        </p:nvSpPr>
        <p:spPr bwMode="auto">
          <a:xfrm>
            <a:off x="1685925" y="968375"/>
            <a:ext cx="578235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fr-FR" altLang="zh-CN" sz="2000" b="1" dirty="0">
                <a:solidFill>
                  <a:schemeClr val="bg1"/>
                </a:solidFill>
                <a:latin typeface="微软雅黑" pitchFamily="34" charset="-122"/>
                <a:ea typeface="微软雅黑" pitchFamily="34" charset="-122"/>
              </a:rPr>
              <a:t>1.1                     </a:t>
            </a:r>
            <a:r>
              <a:rPr lang="zh-CN" altLang="en-US" sz="2000" b="1" dirty="0">
                <a:solidFill>
                  <a:schemeClr val="bg1"/>
                </a:solidFill>
                <a:latin typeface="微软雅黑" pitchFamily="34" charset="-122"/>
                <a:ea typeface="微软雅黑" pitchFamily="34" charset="-122"/>
              </a:rPr>
              <a:t>计算机网络在信息时代中的作用</a:t>
            </a:r>
            <a:endParaRPr lang="fr-FR" sz="2000" b="1" dirty="0">
              <a:solidFill>
                <a:schemeClr val="bg1"/>
              </a:solidFill>
              <a:latin typeface="微软雅黑" pitchFamily="34" charset="-122"/>
              <a:ea typeface="微软雅黑" pitchFamily="34" charset="-122"/>
            </a:endParaRPr>
          </a:p>
        </p:txBody>
      </p:sp>
      <p:sp>
        <p:nvSpPr>
          <p:cNvPr id="12299" name="Rectangle 18"/>
          <p:cNvSpPr>
            <a:spLocks noChangeArrowheads="1"/>
          </p:cNvSpPr>
          <p:nvPr/>
        </p:nvSpPr>
        <p:spPr bwMode="auto">
          <a:xfrm>
            <a:off x="1685925" y="1449388"/>
            <a:ext cx="57737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1.2                                                  </a:t>
            </a:r>
            <a:r>
              <a:rPr lang="fr-FR" sz="2000" b="1" dirty="0">
                <a:solidFill>
                  <a:schemeClr val="bg1"/>
                </a:solidFill>
                <a:latin typeface="微软雅黑" pitchFamily="34" charset="-122"/>
                <a:ea typeface="微软雅黑" pitchFamily="34" charset="-122"/>
              </a:rPr>
              <a:t>互联网概述</a:t>
            </a:r>
          </a:p>
        </p:txBody>
      </p:sp>
      <p:sp>
        <p:nvSpPr>
          <p:cNvPr id="12300" name="Rectangle 19"/>
          <p:cNvSpPr>
            <a:spLocks noChangeArrowheads="1"/>
          </p:cNvSpPr>
          <p:nvPr/>
        </p:nvSpPr>
        <p:spPr bwMode="auto">
          <a:xfrm>
            <a:off x="1685925" y="1939925"/>
            <a:ext cx="58372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chemeClr val="bg1"/>
                </a:solidFill>
                <a:latin typeface="微软雅黑" pitchFamily="34" charset="-122"/>
                <a:ea typeface="微软雅黑" pitchFamily="34" charset="-122"/>
              </a:rPr>
              <a:t>1.3                                               </a:t>
            </a:r>
            <a:r>
              <a:rPr lang="fr-FR" sz="2000" b="1">
                <a:solidFill>
                  <a:schemeClr val="bg1"/>
                </a:solidFill>
                <a:latin typeface="微软雅黑" pitchFamily="34" charset="-122"/>
                <a:ea typeface="微软雅黑" pitchFamily="34" charset="-122"/>
              </a:rPr>
              <a:t>互联网的组成</a:t>
            </a:r>
          </a:p>
        </p:txBody>
      </p:sp>
      <p:sp>
        <p:nvSpPr>
          <p:cNvPr id="12301" name="Rectangle 20"/>
          <p:cNvSpPr>
            <a:spLocks noChangeArrowheads="1"/>
          </p:cNvSpPr>
          <p:nvPr/>
        </p:nvSpPr>
        <p:spPr bwMode="auto">
          <a:xfrm>
            <a:off x="1685925" y="2422525"/>
            <a:ext cx="57229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1.4                              </a:t>
            </a:r>
            <a:r>
              <a:rPr lang="fr-FR" sz="2000" b="1" dirty="0">
                <a:solidFill>
                  <a:schemeClr val="bg1"/>
                </a:solidFill>
                <a:latin typeface="微软雅黑" pitchFamily="34" charset="-122"/>
                <a:ea typeface="微软雅黑" pitchFamily="34" charset="-122"/>
              </a:rPr>
              <a:t>计算机网络在我国的发展</a:t>
            </a:r>
          </a:p>
        </p:txBody>
      </p:sp>
      <p:sp>
        <p:nvSpPr>
          <p:cNvPr id="12302" name="Rectangle 21"/>
          <p:cNvSpPr>
            <a:spLocks noChangeArrowheads="1"/>
          </p:cNvSpPr>
          <p:nvPr/>
        </p:nvSpPr>
        <p:spPr bwMode="auto">
          <a:xfrm>
            <a:off x="1685925" y="2901950"/>
            <a:ext cx="57737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chemeClr val="bg1"/>
                </a:solidFill>
                <a:latin typeface="微软雅黑" pitchFamily="34" charset="-122"/>
                <a:ea typeface="微软雅黑" pitchFamily="34" charset="-122"/>
              </a:rPr>
              <a:t>1.5                                        </a:t>
            </a:r>
            <a:r>
              <a:rPr lang="fr-FR" sz="2000" b="1">
                <a:solidFill>
                  <a:schemeClr val="bg1"/>
                </a:solidFill>
                <a:latin typeface="微软雅黑" pitchFamily="34" charset="-122"/>
                <a:ea typeface="微软雅黑" pitchFamily="34" charset="-122"/>
              </a:rPr>
              <a:t>计算机网络的类别</a:t>
            </a:r>
          </a:p>
        </p:txBody>
      </p:sp>
      <p:sp>
        <p:nvSpPr>
          <p:cNvPr id="12303" name="Rectangle 22"/>
          <p:cNvSpPr>
            <a:spLocks noChangeArrowheads="1"/>
          </p:cNvSpPr>
          <p:nvPr/>
        </p:nvSpPr>
        <p:spPr bwMode="auto">
          <a:xfrm>
            <a:off x="1685925" y="3402013"/>
            <a:ext cx="5826125"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1.6                                        </a:t>
            </a:r>
            <a:r>
              <a:rPr lang="fr-FR" sz="2000" b="1" dirty="0">
                <a:solidFill>
                  <a:schemeClr val="bg1"/>
                </a:solidFill>
                <a:latin typeface="微软雅黑" pitchFamily="34" charset="-122"/>
                <a:ea typeface="微软雅黑" pitchFamily="34" charset="-122"/>
              </a:rPr>
              <a:t>计算机网络的性能</a:t>
            </a:r>
          </a:p>
        </p:txBody>
      </p:sp>
      <p:sp>
        <p:nvSpPr>
          <p:cNvPr id="12304" name="Rectangle 23"/>
          <p:cNvSpPr>
            <a:spLocks noChangeArrowheads="1"/>
          </p:cNvSpPr>
          <p:nvPr/>
        </p:nvSpPr>
        <p:spPr bwMode="auto">
          <a:xfrm>
            <a:off x="1685925" y="3892550"/>
            <a:ext cx="5743575"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1.7                                 </a:t>
            </a:r>
            <a:r>
              <a:rPr lang="fr-FR" sz="2000" b="1" dirty="0">
                <a:solidFill>
                  <a:schemeClr val="bg1"/>
                </a:solidFill>
                <a:latin typeface="微软雅黑" pitchFamily="34" charset="-122"/>
                <a:ea typeface="微软雅黑" pitchFamily="34" charset="-122"/>
              </a:rPr>
              <a:t>计算机网络的体系结构</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8900" y="1297991"/>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5" name="Rectangle 10"/>
          <p:cNvSpPr>
            <a:spLocks noChangeArrowheads="1"/>
          </p:cNvSpPr>
          <p:nvPr/>
        </p:nvSpPr>
        <p:spPr bwMode="auto">
          <a:xfrm>
            <a:off x="2628900" y="1904416"/>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25605" name="Line 16"/>
          <p:cNvSpPr>
            <a:spLocks noChangeShapeType="1"/>
          </p:cNvSpPr>
          <p:nvPr/>
        </p:nvSpPr>
        <p:spPr bwMode="auto">
          <a:xfrm>
            <a:off x="3636963" y="122655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5606" name="Rectangle 8"/>
          <p:cNvSpPr>
            <a:spLocks noChangeArrowheads="1"/>
          </p:cNvSpPr>
          <p:nvPr/>
        </p:nvSpPr>
        <p:spPr bwMode="auto">
          <a:xfrm>
            <a:off x="2700337" y="1043991"/>
            <a:ext cx="5625515"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1.1.1                                    </a:t>
            </a:r>
            <a:r>
              <a:rPr lang="zh-CN" altLang="en-US" sz="2000" b="1" dirty="0">
                <a:solidFill>
                  <a:schemeClr val="bg1"/>
                </a:solidFill>
                <a:latin typeface="微软雅黑" pitchFamily="34" charset="-122"/>
                <a:ea typeface="微软雅黑" pitchFamily="34" charset="-122"/>
              </a:rPr>
              <a:t>计算机网络的定义</a:t>
            </a:r>
            <a:r>
              <a:rPr lang="en-US" altLang="zh-CN" sz="2000" b="1" dirty="0">
                <a:solidFill>
                  <a:schemeClr val="bg1"/>
                </a:solidFill>
                <a:latin typeface="微软雅黑" pitchFamily="34" charset="-122"/>
                <a:ea typeface="微软雅黑" pitchFamily="34" charset="-122"/>
              </a:rPr>
              <a:t>1.1.2                                    </a:t>
            </a:r>
            <a:r>
              <a:rPr lang="zh-CN" altLang="en-US" sz="2000" b="1" dirty="0">
                <a:solidFill>
                  <a:schemeClr val="bg1"/>
                </a:solidFill>
                <a:latin typeface="微软雅黑" pitchFamily="34" charset="-122"/>
                <a:ea typeface="微软雅黑" pitchFamily="34" charset="-122"/>
              </a:rPr>
              <a:t>计算机网络的特点</a:t>
            </a:r>
            <a:endParaRPr lang="en-US" altLang="zh-CN" sz="2000" b="1" dirty="0">
              <a:solidFill>
                <a:schemeClr val="bg1"/>
              </a:solidFill>
              <a:latin typeface="微软雅黑" pitchFamily="34" charset="-122"/>
              <a:ea typeface="微软雅黑" pitchFamily="34" charset="-122"/>
            </a:endParaRPr>
          </a:p>
        </p:txBody>
      </p:sp>
      <p:sp>
        <p:nvSpPr>
          <p:cNvPr id="9" name="Rectangle 27"/>
          <p:cNvSpPr>
            <a:spLocks noChangeArrowheads="1"/>
          </p:cNvSpPr>
          <p:nvPr/>
        </p:nvSpPr>
        <p:spPr bwMode="auto">
          <a:xfrm>
            <a:off x="639730" y="129767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charset="-122"/>
              <a:ea typeface="+mn-ea"/>
            </a:endParaRPr>
          </a:p>
        </p:txBody>
      </p:sp>
      <p:sp>
        <p:nvSpPr>
          <p:cNvPr id="25610" name="Rectangle 29"/>
          <p:cNvSpPr>
            <a:spLocks noChangeArrowheads="1"/>
          </p:cNvSpPr>
          <p:nvPr/>
        </p:nvSpPr>
        <p:spPr bwMode="auto">
          <a:xfrm>
            <a:off x="649288" y="1393241"/>
            <a:ext cx="1627187"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1.1</a:t>
            </a:r>
          </a:p>
          <a:p>
            <a:pPr eaLnBrk="0" hangingPunct="0"/>
            <a:r>
              <a:rPr lang="zh-CN" altLang="en-US" sz="2000" b="1" dirty="0">
                <a:solidFill>
                  <a:schemeClr val="bg1"/>
                </a:solidFill>
                <a:latin typeface="微软雅黑" pitchFamily="34" charset="-122"/>
                <a:ea typeface="微软雅黑" pitchFamily="34" charset="-122"/>
              </a:rPr>
              <a:t>计算机网络在信息时代中的作用</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326541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670150"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7" name="组合 6"/>
          <p:cNvGrpSpPr/>
          <p:nvPr/>
        </p:nvGrpSpPr>
        <p:grpSpPr>
          <a:xfrm>
            <a:off x="466344" y="585760"/>
            <a:ext cx="8129016" cy="400110"/>
            <a:chOff x="466344" y="1151890"/>
            <a:chExt cx="8129016" cy="400110"/>
          </a:xfrm>
        </p:grpSpPr>
        <p:sp>
          <p:nvSpPr>
            <p:cNvPr id="8"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027878" y="1151890"/>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信息时代：以网络为核心</a:t>
              </a:r>
              <a:endParaRPr lang="fr-FR" altLang="zh-CN" sz="2000" b="1" dirty="0">
                <a:solidFill>
                  <a:schemeClr val="bg1"/>
                </a:solidFill>
                <a:latin typeface="微软雅黑" pitchFamily="34" charset="-122"/>
                <a:ea typeface="微软雅黑" pitchFamily="34" charset="-122"/>
              </a:endParaRPr>
            </a:p>
          </p:txBody>
        </p:sp>
      </p:grpSp>
      <p:pic>
        <p:nvPicPr>
          <p:cNvPr id="10" name="图片 9"/>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1228262" y="1029104"/>
            <a:ext cx="6426572" cy="3488812"/>
          </a:xfrm>
          <a:prstGeom prst="rect">
            <a:avLst/>
          </a:prstGeom>
        </p:spPr>
      </p:pic>
      <p:sp>
        <p:nvSpPr>
          <p:cNvPr id="11" name="矩形 10"/>
          <p:cNvSpPr/>
          <p:nvPr/>
        </p:nvSpPr>
        <p:spPr>
          <a:xfrm>
            <a:off x="2157830" y="1020055"/>
            <a:ext cx="1210588" cy="400110"/>
          </a:xfrm>
          <a:prstGeom prst="rect">
            <a:avLst/>
          </a:prstGeom>
        </p:spPr>
        <p:txBody>
          <a:bodyPr wrap="none">
            <a:spAutoFit/>
          </a:bodyPr>
          <a:lstStyle/>
          <a:p>
            <a:r>
              <a:rPr lang="zh-CN" altLang="en-US" sz="2000" b="1" dirty="0">
                <a:solidFill>
                  <a:schemeClr val="bg1"/>
                </a:solidFill>
                <a:latin typeface="微软雅黑" pitchFamily="34" charset="-122"/>
                <a:ea typeface="微软雅黑" pitchFamily="34" charset="-122"/>
              </a:rPr>
              <a:t>万物联网</a:t>
            </a:r>
          </a:p>
        </p:txBody>
      </p:sp>
      <p:sp>
        <p:nvSpPr>
          <p:cNvPr id="12" name="矩形 11"/>
          <p:cNvSpPr/>
          <p:nvPr/>
        </p:nvSpPr>
        <p:spPr>
          <a:xfrm>
            <a:off x="5359690" y="1020055"/>
            <a:ext cx="1210588" cy="400110"/>
          </a:xfrm>
          <a:prstGeom prst="rect">
            <a:avLst/>
          </a:prstGeom>
        </p:spPr>
        <p:txBody>
          <a:bodyPr wrap="none">
            <a:spAutoFit/>
          </a:bodyPr>
          <a:lstStyle/>
          <a:p>
            <a:r>
              <a:rPr lang="zh-CN" altLang="en-US" sz="2000" b="1" dirty="0">
                <a:solidFill>
                  <a:schemeClr val="bg1"/>
                </a:solidFill>
                <a:latin typeface="微软雅黑" pitchFamily="34" charset="-122"/>
                <a:ea typeface="微软雅黑" pitchFamily="34" charset="-122"/>
              </a:rPr>
              <a:t>人人用网</a:t>
            </a:r>
          </a:p>
        </p:txBody>
      </p:sp>
    </p:spTree>
    <p:extLst>
      <p:ext uri="{BB962C8B-B14F-4D97-AF65-F5344CB8AC3E}">
        <p14:creationId xmlns:p14="http://schemas.microsoft.com/office/powerpoint/2010/main" val="38467723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3809354" y="1109843"/>
            <a:ext cx="1261884" cy="1198413"/>
            <a:chOff x="3809354" y="1151665"/>
            <a:chExt cx="1261884" cy="1198413"/>
          </a:xfrm>
        </p:grpSpPr>
        <p:pic>
          <p:nvPicPr>
            <p:cNvPr id="7" name="图片 6"/>
            <p:cNvPicPr>
              <a:picLocks noChangeAspect="1"/>
            </p:cNvPicPr>
            <p:nvPr/>
          </p:nvPicPr>
          <p:blipFill rotWithShape="1">
            <a:blip r:embed="rId2" cstate="print">
              <a:extLst>
                <a:ext uri="{28A0092B-C50C-407E-A947-70E740481C1C}">
                  <a14:useLocalDpi xmlns:a14="http://schemas.microsoft.com/office/drawing/2010/main" val="0"/>
                </a:ext>
              </a:extLst>
            </a:blip>
            <a:srcRect l="36426" t="20817" r="35548" b="30525"/>
            <a:stretch/>
          </p:blipFill>
          <p:spPr>
            <a:xfrm>
              <a:off x="3950913" y="1394200"/>
              <a:ext cx="978767" cy="955878"/>
            </a:xfrm>
            <a:prstGeom prst="rect">
              <a:avLst/>
            </a:prstGeom>
          </p:spPr>
        </p:pic>
        <p:sp>
          <p:nvSpPr>
            <p:cNvPr id="5" name="矩形 4"/>
            <p:cNvSpPr/>
            <p:nvPr/>
          </p:nvSpPr>
          <p:spPr>
            <a:xfrm>
              <a:off x="3809354" y="1151665"/>
              <a:ext cx="1261884" cy="307777"/>
            </a:xfrm>
            <a:prstGeom prst="rect">
              <a:avLst/>
            </a:prstGeom>
          </p:spPr>
          <p:txBody>
            <a:bodyPr wrap="none">
              <a:spAutoFit/>
            </a:bodyPr>
            <a:lstStyle/>
            <a:p>
              <a:pPr algn="ctr"/>
              <a:r>
                <a:rPr lang="fr-FR" altLang="zh-CN" sz="1400" b="1" dirty="0">
                  <a:latin typeface="微软雅黑" pitchFamily="34" charset="-122"/>
                  <a:ea typeface="微软雅黑" pitchFamily="34" charset="-122"/>
                </a:rPr>
                <a:t>有线电视网络</a:t>
              </a:r>
              <a:endParaRPr lang="zh-CN" altLang="en-US" sz="1400" dirty="0"/>
            </a:p>
          </p:txBody>
        </p:sp>
      </p:grpSp>
      <p:grpSp>
        <p:nvGrpSpPr>
          <p:cNvPr id="18" name="组合 17"/>
          <p:cNvGrpSpPr/>
          <p:nvPr/>
        </p:nvGrpSpPr>
        <p:grpSpPr>
          <a:xfrm>
            <a:off x="1200583" y="1109843"/>
            <a:ext cx="1013414" cy="1214992"/>
            <a:chOff x="1200583" y="1151665"/>
            <a:chExt cx="1013414" cy="1214992"/>
          </a:xfrm>
        </p:grpSpPr>
        <p:pic>
          <p:nvPicPr>
            <p:cNvPr id="3" name="图片 2"/>
            <p:cNvPicPr>
              <a:picLocks noChangeAspect="1"/>
            </p:cNvPicPr>
            <p:nvPr/>
          </p:nvPicPr>
          <p:blipFill rotWithShape="1">
            <a:blip r:embed="rId2" cstate="print">
              <a:extLst>
                <a:ext uri="{28A0092B-C50C-407E-A947-70E740481C1C}">
                  <a14:useLocalDpi xmlns:a14="http://schemas.microsoft.com/office/drawing/2010/main" val="0"/>
                </a:ext>
              </a:extLst>
            </a:blip>
            <a:srcRect l="4184" t="20817" r="66798" b="29681"/>
            <a:stretch/>
          </p:blipFill>
          <p:spPr>
            <a:xfrm>
              <a:off x="1200583" y="1394200"/>
              <a:ext cx="1013414" cy="972457"/>
            </a:xfrm>
            <a:prstGeom prst="rect">
              <a:avLst/>
            </a:prstGeom>
          </p:spPr>
        </p:pic>
        <p:sp>
          <p:nvSpPr>
            <p:cNvPr id="11" name="矩形 10"/>
            <p:cNvSpPr/>
            <p:nvPr/>
          </p:nvSpPr>
          <p:spPr>
            <a:xfrm>
              <a:off x="1262220" y="1151665"/>
              <a:ext cx="902811"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电信</a:t>
              </a:r>
              <a:r>
                <a:rPr lang="fr-FR" altLang="zh-CN" sz="1400" b="1" dirty="0">
                  <a:latin typeface="微软雅黑" pitchFamily="34" charset="-122"/>
                  <a:ea typeface="微软雅黑" pitchFamily="34" charset="-122"/>
                </a:rPr>
                <a:t>网络</a:t>
              </a:r>
              <a:endParaRPr lang="zh-CN" altLang="en-US" sz="1400" dirty="0"/>
            </a:p>
          </p:txBody>
        </p:sp>
      </p:grpSp>
      <p:grpSp>
        <p:nvGrpSpPr>
          <p:cNvPr id="17" name="组合 16"/>
          <p:cNvGrpSpPr/>
          <p:nvPr/>
        </p:nvGrpSpPr>
        <p:grpSpPr>
          <a:xfrm>
            <a:off x="6704357" y="1109843"/>
            <a:ext cx="1082348" cy="1191148"/>
            <a:chOff x="6704357" y="1151665"/>
            <a:chExt cx="1082348" cy="1191148"/>
          </a:xfrm>
        </p:grpSpPr>
        <p:pic>
          <p:nvPicPr>
            <p:cNvPr id="8" name="图片 7"/>
            <p:cNvPicPr>
              <a:picLocks noChangeAspect="1"/>
            </p:cNvPicPr>
            <p:nvPr/>
          </p:nvPicPr>
          <p:blipFill rotWithShape="1">
            <a:blip r:embed="rId3" cstate="print">
              <a:extLst>
                <a:ext uri="{28A0092B-C50C-407E-A947-70E740481C1C}">
                  <a14:useLocalDpi xmlns:a14="http://schemas.microsoft.com/office/drawing/2010/main" val="0"/>
                </a:ext>
              </a:extLst>
            </a:blip>
            <a:srcRect l="67179" t="20817" r="4051" b="30894"/>
            <a:stretch/>
          </p:blipFill>
          <p:spPr>
            <a:xfrm>
              <a:off x="6741634" y="1394200"/>
              <a:ext cx="1004753" cy="948613"/>
            </a:xfrm>
            <a:prstGeom prst="rect">
              <a:avLst/>
            </a:prstGeom>
          </p:spPr>
        </p:pic>
        <p:sp>
          <p:nvSpPr>
            <p:cNvPr id="12" name="矩形 11"/>
            <p:cNvSpPr/>
            <p:nvPr/>
          </p:nvSpPr>
          <p:spPr>
            <a:xfrm>
              <a:off x="6704357" y="1151665"/>
              <a:ext cx="1082348"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计算机</a:t>
              </a:r>
              <a:r>
                <a:rPr lang="fr-FR" altLang="zh-CN" sz="1400" b="1" dirty="0">
                  <a:latin typeface="微软雅黑" pitchFamily="34" charset="-122"/>
                  <a:ea typeface="微软雅黑" pitchFamily="34" charset="-122"/>
                </a:rPr>
                <a:t>网络</a:t>
              </a:r>
              <a:endParaRPr lang="zh-CN" altLang="en-US" sz="1400" dirty="0"/>
            </a:p>
          </p:txBody>
        </p:sp>
      </p:grpSp>
      <p:sp>
        <p:nvSpPr>
          <p:cNvPr id="13" name="矩形 12"/>
          <p:cNvSpPr/>
          <p:nvPr/>
        </p:nvSpPr>
        <p:spPr>
          <a:xfrm>
            <a:off x="835424" y="2267079"/>
            <a:ext cx="2023890" cy="810478"/>
          </a:xfrm>
          <a:prstGeom prst="rect">
            <a:avLst/>
          </a:prstGeom>
        </p:spPr>
        <p:txBody>
          <a:bodyPr wrap="square">
            <a:spAutoFit/>
          </a:bodyPr>
          <a:lstStyle/>
          <a:p>
            <a:pPr>
              <a:lnSpc>
                <a:spcPts val="2800"/>
              </a:lnSpc>
            </a:pPr>
            <a:r>
              <a:rPr lang="fr-FR" altLang="zh-CN" sz="2000" b="1" dirty="0">
                <a:latin typeface="微软雅黑" pitchFamily="34" charset="-122"/>
                <a:ea typeface="微软雅黑" pitchFamily="34" charset="-122"/>
              </a:rPr>
              <a:t>提供电话、电报及传真等服务</a:t>
            </a:r>
            <a:r>
              <a:rPr lang="zh-CN" altLang="en-US" sz="2000" b="1" dirty="0">
                <a:latin typeface="微软雅黑" pitchFamily="34" charset="-122"/>
                <a:ea typeface="微软雅黑" pitchFamily="34" charset="-122"/>
              </a:rPr>
              <a:t>。</a:t>
            </a:r>
            <a:endParaRPr lang="fr-FR" altLang="zh-CN" sz="2000" b="1" dirty="0">
              <a:latin typeface="微软雅黑" pitchFamily="34" charset="-122"/>
              <a:ea typeface="微软雅黑" pitchFamily="34" charset="-122"/>
            </a:endParaRPr>
          </a:p>
        </p:txBody>
      </p:sp>
      <p:sp>
        <p:nvSpPr>
          <p:cNvPr id="14" name="矩形 13"/>
          <p:cNvSpPr/>
          <p:nvPr/>
        </p:nvSpPr>
        <p:spPr>
          <a:xfrm>
            <a:off x="3470291" y="2267079"/>
            <a:ext cx="1940009" cy="810478"/>
          </a:xfrm>
          <a:prstGeom prst="rect">
            <a:avLst/>
          </a:prstGeom>
        </p:spPr>
        <p:txBody>
          <a:bodyPr wrap="square">
            <a:spAutoFit/>
          </a:bodyPr>
          <a:lstStyle/>
          <a:p>
            <a:pPr algn="ctr">
              <a:lnSpc>
                <a:spcPts val="2800"/>
              </a:lnSpc>
            </a:pPr>
            <a:r>
              <a:rPr lang="fr-FR" altLang="zh-CN" sz="2000" b="1" dirty="0">
                <a:latin typeface="微软雅黑" pitchFamily="34" charset="-122"/>
                <a:ea typeface="微软雅黑" pitchFamily="34" charset="-122"/>
              </a:rPr>
              <a:t>向用户传送各种电视节目</a:t>
            </a:r>
            <a:r>
              <a:rPr lang="zh-CN" altLang="en-US" sz="2000" b="1" dirty="0">
                <a:latin typeface="微软雅黑" pitchFamily="34" charset="-122"/>
                <a:ea typeface="微软雅黑" pitchFamily="34" charset="-122"/>
              </a:rPr>
              <a:t>。</a:t>
            </a:r>
          </a:p>
        </p:txBody>
      </p:sp>
      <p:sp>
        <p:nvSpPr>
          <p:cNvPr id="15" name="矩形 14"/>
          <p:cNvSpPr/>
          <p:nvPr/>
        </p:nvSpPr>
        <p:spPr>
          <a:xfrm>
            <a:off x="6097828" y="2267079"/>
            <a:ext cx="2465598" cy="810478"/>
          </a:xfrm>
          <a:prstGeom prst="rect">
            <a:avLst/>
          </a:prstGeom>
        </p:spPr>
        <p:txBody>
          <a:bodyPr wrap="square">
            <a:spAutoFit/>
          </a:bodyPr>
          <a:lstStyle/>
          <a:p>
            <a:pPr>
              <a:lnSpc>
                <a:spcPts val="2800"/>
              </a:lnSpc>
            </a:pPr>
            <a:r>
              <a:rPr lang="fr-FR" altLang="zh-CN" sz="2000" b="1" dirty="0">
                <a:latin typeface="微软雅黑" pitchFamily="34" charset="-122"/>
                <a:ea typeface="微软雅黑" pitchFamily="34" charset="-122"/>
              </a:rPr>
              <a:t>使用户能在计算机之间传送数据文件</a:t>
            </a:r>
            <a:r>
              <a:rPr lang="zh-CN" altLang="en-US" sz="2000" b="1" dirty="0">
                <a:latin typeface="微软雅黑" pitchFamily="34" charset="-122"/>
                <a:ea typeface="微软雅黑" pitchFamily="34" charset="-122"/>
              </a:rPr>
              <a:t>。</a:t>
            </a:r>
          </a:p>
        </p:txBody>
      </p:sp>
      <p:grpSp>
        <p:nvGrpSpPr>
          <p:cNvPr id="25" name="组合 24"/>
          <p:cNvGrpSpPr>
            <a:grpSpLocks/>
          </p:cNvGrpSpPr>
          <p:nvPr/>
        </p:nvGrpSpPr>
        <p:grpSpPr bwMode="auto">
          <a:xfrm>
            <a:off x="938463" y="3267883"/>
            <a:ext cx="7355306" cy="685800"/>
            <a:chOff x="944499" y="4852174"/>
            <a:chExt cx="7009644" cy="809625"/>
          </a:xfrm>
        </p:grpSpPr>
        <p:sp>
          <p:nvSpPr>
            <p:cNvPr id="26" name="Rectangle 118"/>
            <p:cNvSpPr>
              <a:spLocks noChangeArrowheads="1"/>
            </p:cNvSpPr>
            <p:nvPr/>
          </p:nvSpPr>
          <p:spPr bwMode="auto">
            <a:xfrm>
              <a:off x="944499" y="4852174"/>
              <a:ext cx="7009644" cy="809625"/>
            </a:xfrm>
            <a:prstGeom prst="rect">
              <a:avLst/>
            </a:prstGeom>
            <a:solidFill>
              <a:srgbClr val="0098F6"/>
            </a:solidFill>
            <a:ln w="9525" algn="ctr">
              <a:noFill/>
              <a:miter lim="1000000"/>
              <a:headEnd/>
              <a:tailEnd/>
            </a:ln>
            <a:effectLst/>
            <a:scene3d>
              <a:camera prst="orthographicFront">
                <a:rot lat="0" lon="0" rev="0"/>
              </a:camera>
              <a:lightRig rig="glow" dir="t">
                <a:rot lat="0" lon="0" rev="14100000"/>
              </a:lightRig>
            </a:scene3d>
            <a:sp3d prstMaterial="softEdge">
              <a:bevelT w="127000" prst="artDeco"/>
            </a:sp3d>
          </p:spPr>
          <p:txBody>
            <a:bodyPr wrap="none" anchor="ctr"/>
            <a:lstStyle/>
            <a:p>
              <a:pPr eaLnBrk="0" fontAlgn="auto" hangingPunct="0">
                <a:spcBef>
                  <a:spcPts val="0"/>
                </a:spcBef>
                <a:spcAft>
                  <a:spcPts val="0"/>
                </a:spcAft>
                <a:defRPr/>
              </a:pPr>
              <a:endParaRPr lang="fr-FR">
                <a:latin typeface="宋体" charset="-122"/>
                <a:ea typeface="+mn-ea"/>
              </a:endParaRPr>
            </a:p>
          </p:txBody>
        </p:sp>
        <p:sp>
          <p:nvSpPr>
            <p:cNvPr id="27" name="矩形 6"/>
            <p:cNvSpPr>
              <a:spLocks noChangeArrowheads="1"/>
            </p:cNvSpPr>
            <p:nvPr/>
          </p:nvSpPr>
          <p:spPr bwMode="auto">
            <a:xfrm>
              <a:off x="1874707" y="5054045"/>
              <a:ext cx="5064530" cy="436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lnSpc>
                  <a:spcPct val="90000"/>
                </a:lnSpc>
              </a:pPr>
              <a:r>
                <a:rPr lang="zh-CN" altLang="en-US" sz="2000" b="1" dirty="0">
                  <a:solidFill>
                    <a:schemeClr val="bg1"/>
                  </a:solidFill>
                  <a:latin typeface="微软雅黑" pitchFamily="34" charset="-122"/>
                  <a:ea typeface="微软雅黑" pitchFamily="34" charset="-122"/>
                </a:rPr>
                <a:t>发展最快的并起到核心作用的是</a:t>
              </a:r>
              <a:r>
                <a:rPr lang="zh-CN" altLang="en-US" sz="2000" b="1" dirty="0">
                  <a:solidFill>
                    <a:srgbClr val="FFFF00"/>
                  </a:solidFill>
                  <a:latin typeface="微软雅黑" pitchFamily="34" charset="-122"/>
                  <a:ea typeface="微软雅黑" pitchFamily="34" charset="-122"/>
                </a:rPr>
                <a:t>计算机网络。</a:t>
              </a:r>
              <a:endParaRPr lang="en-US" altLang="zh-CN" sz="2000" b="1" dirty="0">
                <a:solidFill>
                  <a:srgbClr val="FFFF00"/>
                </a:solidFill>
                <a:latin typeface="微软雅黑" pitchFamily="34" charset="-122"/>
                <a:ea typeface="微软雅黑" pitchFamily="34" charset="-122"/>
              </a:endParaRPr>
            </a:p>
          </p:txBody>
        </p:sp>
      </p:grpSp>
      <p:sp>
        <p:nvSpPr>
          <p:cNvPr id="20" name="矩形 19"/>
          <p:cNvSpPr/>
          <p:nvPr/>
        </p:nvSpPr>
        <p:spPr>
          <a:xfrm>
            <a:off x="1670150"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21" name="矩形 20"/>
          <p:cNvSpPr/>
          <p:nvPr/>
        </p:nvSpPr>
        <p:spPr>
          <a:xfrm>
            <a:off x="5908327"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22" name="组合 21"/>
          <p:cNvGrpSpPr/>
          <p:nvPr/>
        </p:nvGrpSpPr>
        <p:grpSpPr>
          <a:xfrm>
            <a:off x="466344" y="585760"/>
            <a:ext cx="8129016" cy="400110"/>
            <a:chOff x="466344" y="1151890"/>
            <a:chExt cx="8129016" cy="400110"/>
          </a:xfrm>
        </p:grpSpPr>
        <p:sp>
          <p:nvSpPr>
            <p:cNvPr id="23"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Rectangle 6"/>
            <p:cNvSpPr>
              <a:spLocks noChangeArrowheads="1"/>
            </p:cNvSpPr>
            <p:nvPr/>
          </p:nvSpPr>
          <p:spPr bwMode="auto">
            <a:xfrm>
              <a:off x="3156118" y="1151890"/>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大众熟悉的三大类网络</a:t>
              </a:r>
              <a:endParaRPr lang="fr-FR" altLang="zh-CN" sz="2000" b="1" dirty="0">
                <a:solidFill>
                  <a:schemeClr val="bg1"/>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6146516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04772" y="1024759"/>
            <a:ext cx="5852160" cy="3291840"/>
          </a:xfrm>
          <a:prstGeom prst="rect">
            <a:avLst/>
          </a:prstGeom>
        </p:spPr>
      </p:pic>
      <p:sp>
        <p:nvSpPr>
          <p:cNvPr id="7" name="矩形 6"/>
          <p:cNvSpPr/>
          <p:nvPr/>
        </p:nvSpPr>
        <p:spPr>
          <a:xfrm>
            <a:off x="1670150"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8" name="矩形 7"/>
          <p:cNvSpPr/>
          <p:nvPr/>
        </p:nvSpPr>
        <p:spPr>
          <a:xfrm>
            <a:off x="5908327"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9" name="组合 8"/>
          <p:cNvGrpSpPr/>
          <p:nvPr/>
        </p:nvGrpSpPr>
        <p:grpSpPr>
          <a:xfrm>
            <a:off x="466344" y="585760"/>
            <a:ext cx="8129016" cy="400110"/>
            <a:chOff x="466344" y="1151890"/>
            <a:chExt cx="8129016" cy="400110"/>
          </a:xfrm>
        </p:grpSpPr>
        <p:sp>
          <p:nvSpPr>
            <p:cNvPr id="10"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Rectangle 6"/>
            <p:cNvSpPr>
              <a:spLocks noChangeArrowheads="1"/>
            </p:cNvSpPr>
            <p:nvPr/>
          </p:nvSpPr>
          <p:spPr bwMode="auto">
            <a:xfrm>
              <a:off x="2130197" y="1151890"/>
              <a:ext cx="48013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“三网融合”：融入现代计算机网络技术</a:t>
              </a:r>
              <a:endParaRPr lang="fr-FR" altLang="zh-CN" sz="2000" b="1" dirty="0">
                <a:solidFill>
                  <a:schemeClr val="bg1"/>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2090724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7" name="组合 6"/>
          <p:cNvGrpSpPr/>
          <p:nvPr/>
        </p:nvGrpSpPr>
        <p:grpSpPr>
          <a:xfrm>
            <a:off x="466344" y="633886"/>
            <a:ext cx="8129016" cy="400110"/>
            <a:chOff x="466344" y="1151890"/>
            <a:chExt cx="8129016" cy="400110"/>
          </a:xfrm>
        </p:grpSpPr>
        <p:sp>
          <p:nvSpPr>
            <p:cNvPr id="8"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4438491" y="1151890"/>
              <a:ext cx="184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endParaRPr lang="fr-FR" altLang="zh-CN" sz="2000" b="1" dirty="0">
                <a:solidFill>
                  <a:schemeClr val="bg1"/>
                </a:solidFill>
                <a:latin typeface="微软雅黑" pitchFamily="34" charset="-122"/>
                <a:ea typeface="微软雅黑" pitchFamily="34" charset="-122"/>
              </a:endParaRPr>
            </a:p>
          </p:txBody>
        </p:sp>
      </p:grpSp>
      <p:sp>
        <p:nvSpPr>
          <p:cNvPr id="11" name="内容占位符 10"/>
          <p:cNvSpPr>
            <a:spLocks noGrp="1"/>
          </p:cNvSpPr>
          <p:nvPr>
            <p:ph sz="quarter" idx="10"/>
          </p:nvPr>
        </p:nvSpPr>
        <p:spPr>
          <a:xfrm>
            <a:off x="466344" y="969626"/>
            <a:ext cx="8129016" cy="3389873"/>
          </a:xfrm>
        </p:spPr>
        <p:txBody>
          <a:bodyPr/>
          <a:lstStyle/>
          <a:p>
            <a:r>
              <a:rPr lang="zh-CN" altLang="en-US" dirty="0"/>
              <a:t>如何称呼 </a:t>
            </a:r>
            <a:r>
              <a:rPr lang="en-US" altLang="zh-CN" dirty="0"/>
              <a:t>Internet</a:t>
            </a:r>
            <a:r>
              <a:rPr lang="zh-CN" altLang="en-US" dirty="0"/>
              <a:t>？</a:t>
            </a:r>
          </a:p>
          <a:p>
            <a:r>
              <a:rPr lang="zh-CN" altLang="en-US" dirty="0"/>
              <a:t>因特网：推荐，但却长期未得到推广。</a:t>
            </a:r>
          </a:p>
          <a:p>
            <a:r>
              <a:rPr lang="zh-CN" altLang="en-US" dirty="0"/>
              <a:t>互联网：目前流行最广，事实上的标准译名。</a:t>
            </a:r>
          </a:p>
          <a:p>
            <a:r>
              <a:rPr lang="zh-CN" altLang="en-US" dirty="0"/>
              <a:t>互联网 ≠互连网。</a:t>
            </a:r>
          </a:p>
          <a:p>
            <a:pPr lvl="1"/>
            <a:r>
              <a:rPr lang="zh-CN" altLang="en-US" dirty="0"/>
              <a:t>互连网：局部范围互连起来的计算机网络。</a:t>
            </a:r>
          </a:p>
          <a:p>
            <a:endParaRPr lang="zh-CN" altLang="en-US" dirty="0"/>
          </a:p>
        </p:txBody>
      </p:sp>
      <p:sp>
        <p:nvSpPr>
          <p:cNvPr id="4" name="文本占位符 3">
            <a:extLst>
              <a:ext uri="{FF2B5EF4-FFF2-40B4-BE49-F238E27FC236}">
                <a16:creationId xmlns:a16="http://schemas.microsoft.com/office/drawing/2014/main" id="{9BE7D319-83DF-6D21-678D-2BEA661776D4}"/>
              </a:ext>
            </a:extLst>
          </p:cNvPr>
          <p:cNvSpPr>
            <a:spLocks noGrp="1"/>
          </p:cNvSpPr>
          <p:nvPr>
            <p:ph type="body" sz="quarter" idx="11"/>
          </p:nvPr>
        </p:nvSpPr>
        <p:spPr>
          <a:xfrm>
            <a:off x="1214565" y="616998"/>
            <a:ext cx="6632575" cy="338554"/>
          </a:xfrm>
        </p:spPr>
        <p:txBody>
          <a:bodyPr/>
          <a:lstStyle/>
          <a:p>
            <a:r>
              <a:rPr lang="en-US" altLang="zh-CN" dirty="0"/>
              <a:t>Internet</a:t>
            </a:r>
            <a:r>
              <a:rPr lang="zh-CN" altLang="en-US" dirty="0"/>
              <a:t>：全球最大、最重要的计算机网络</a:t>
            </a:r>
            <a:endParaRPr lang="fr-FR" altLang="zh-CN" dirty="0"/>
          </a:p>
        </p:txBody>
      </p:sp>
      <p:sp>
        <p:nvSpPr>
          <p:cNvPr id="3" name="矩形 2"/>
          <p:cNvSpPr/>
          <p:nvPr/>
        </p:nvSpPr>
        <p:spPr>
          <a:xfrm>
            <a:off x="923118" y="3133186"/>
            <a:ext cx="7114894" cy="810478"/>
          </a:xfrm>
          <a:prstGeom prst="rect">
            <a:avLst/>
          </a:prstGeom>
          <a:solidFill>
            <a:srgbClr val="0066FF"/>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2800"/>
              </a:lnSpc>
              <a:spcBef>
                <a:spcPts val="0"/>
              </a:spcBef>
              <a:spcAft>
                <a:spcPts val="0"/>
              </a:spcAft>
            </a:pPr>
            <a:r>
              <a:rPr lang="zh-CN" altLang="en-US" sz="2000" b="1" dirty="0">
                <a:latin typeface="微软雅黑" panose="020B0503020204020204" pitchFamily="34" charset="-122"/>
                <a:ea typeface="微软雅黑" panose="020B0503020204020204" pitchFamily="34" charset="-122"/>
              </a:rPr>
              <a:t>思考：它们说的是哪个网？</a:t>
            </a:r>
            <a:endParaRPr lang="en-US" altLang="zh-CN" sz="2000" b="1" dirty="0">
              <a:latin typeface="微软雅黑" panose="020B0503020204020204" pitchFamily="34" charset="-122"/>
              <a:ea typeface="微软雅黑" panose="020B0503020204020204" pitchFamily="34" charset="-122"/>
            </a:endParaRPr>
          </a:p>
          <a:p>
            <a:pPr>
              <a:lnSpc>
                <a:spcPts val="2800"/>
              </a:lnSpc>
              <a:spcBef>
                <a:spcPts val="0"/>
              </a:spcBef>
              <a:spcAft>
                <a:spcPts val="0"/>
              </a:spcAft>
            </a:pPr>
            <a:r>
              <a:rPr lang="zh-CN" altLang="en-US" sz="2000" b="1" dirty="0">
                <a:latin typeface="微软雅黑" panose="020B0503020204020204" pitchFamily="34" charset="-122"/>
                <a:ea typeface="微软雅黑" panose="020B0503020204020204" pitchFamily="34" charset="-122"/>
              </a:rPr>
              <a:t>上网，联网，网民，网吧，网银，网购，网管，知网。</a:t>
            </a:r>
          </a:p>
        </p:txBody>
      </p:sp>
    </p:spTree>
    <p:extLst>
      <p:ext uri="{BB962C8B-B14F-4D97-AF65-F5344CB8AC3E}">
        <p14:creationId xmlns:p14="http://schemas.microsoft.com/office/powerpoint/2010/main" val="32387476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7" name="组合 6"/>
          <p:cNvGrpSpPr/>
          <p:nvPr/>
        </p:nvGrpSpPr>
        <p:grpSpPr>
          <a:xfrm>
            <a:off x="466344" y="577739"/>
            <a:ext cx="8129016" cy="400110"/>
            <a:chOff x="466344" y="1151890"/>
            <a:chExt cx="8129016" cy="400110"/>
          </a:xfrm>
        </p:grpSpPr>
        <p:sp>
          <p:nvSpPr>
            <p:cNvPr id="8"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4438490" y="1151890"/>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endParaRPr lang="fr-FR" altLang="zh-CN" sz="2000" b="1" dirty="0">
                <a:solidFill>
                  <a:schemeClr val="bg1"/>
                </a:solidFill>
                <a:latin typeface="微软雅黑" pitchFamily="34" charset="-122"/>
                <a:ea typeface="微软雅黑" pitchFamily="34" charset="-122"/>
              </a:endParaRPr>
            </a:p>
          </p:txBody>
        </p:sp>
      </p:grpSp>
      <p:graphicFrame>
        <p:nvGraphicFramePr>
          <p:cNvPr id="3" name="图示 2"/>
          <p:cNvGraphicFramePr/>
          <p:nvPr>
            <p:extLst>
              <p:ext uri="{D42A27DB-BD31-4B8C-83A1-F6EECF244321}">
                <p14:modId xmlns:p14="http://schemas.microsoft.com/office/powerpoint/2010/main" val="1512883145"/>
              </p:ext>
            </p:extLst>
          </p:nvPr>
        </p:nvGraphicFramePr>
        <p:xfrm>
          <a:off x="304796" y="1067257"/>
          <a:ext cx="8464736" cy="27208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文本框 3">
            <a:extLst>
              <a:ext uri="{FF2B5EF4-FFF2-40B4-BE49-F238E27FC236}">
                <a16:creationId xmlns:a16="http://schemas.microsoft.com/office/drawing/2014/main" id="{74F7360A-6A13-7B51-045E-792CE16A5B52}"/>
              </a:ext>
            </a:extLst>
          </p:cNvPr>
          <p:cNvSpPr txBox="1"/>
          <p:nvPr/>
        </p:nvSpPr>
        <p:spPr>
          <a:xfrm>
            <a:off x="2289942" y="2389054"/>
            <a:ext cx="4579882" cy="369332"/>
          </a:xfrm>
          <a:prstGeom prst="rect">
            <a:avLst/>
          </a:prstGeom>
          <a:noFill/>
        </p:spPr>
        <p:txBody>
          <a:bodyPr wrap="square">
            <a:spAutoFit/>
          </a:bodyPr>
          <a:lstStyle/>
          <a:p>
            <a:pPr algn="ctr" eaLnBrk="0" hangingPunct="0"/>
            <a:r>
              <a:rPr lang="zh-CN" altLang="en-US" sz="1800" b="1" dirty="0">
                <a:solidFill>
                  <a:schemeClr val="bg1"/>
                </a:solidFill>
                <a:latin typeface="微软雅黑" pitchFamily="34" charset="-122"/>
                <a:ea typeface="微软雅黑" pitchFamily="34" charset="-122"/>
              </a:rPr>
              <a:t>互联网是什么？</a:t>
            </a:r>
            <a:endParaRPr lang="fr-FR" altLang="zh-CN" sz="1800" b="1" dirty="0">
              <a:solidFill>
                <a:schemeClr val="bg1"/>
              </a:solidFill>
              <a:latin typeface="微软雅黑" pitchFamily="34" charset="-122"/>
              <a:ea typeface="微软雅黑" pitchFamily="34" charset="-122"/>
            </a:endParaRPr>
          </a:p>
        </p:txBody>
      </p:sp>
      <p:sp>
        <p:nvSpPr>
          <p:cNvPr id="13" name="内容占位符 12">
            <a:extLst>
              <a:ext uri="{FF2B5EF4-FFF2-40B4-BE49-F238E27FC236}">
                <a16:creationId xmlns:a16="http://schemas.microsoft.com/office/drawing/2014/main" id="{5A1E69C8-A830-DA02-2F7D-B1A46610693A}"/>
              </a:ext>
            </a:extLst>
          </p:cNvPr>
          <p:cNvSpPr>
            <a:spLocks noGrp="1"/>
          </p:cNvSpPr>
          <p:nvPr>
            <p:ph sz="quarter" idx="10"/>
          </p:nvPr>
        </p:nvSpPr>
        <p:spPr/>
        <p:txBody>
          <a:bodyPr/>
          <a:lstStyle/>
          <a:p>
            <a:endParaRPr lang="zh-CN" altLang="en-US"/>
          </a:p>
        </p:txBody>
      </p:sp>
      <p:sp>
        <p:nvSpPr>
          <p:cNvPr id="11" name="文本占位符 10">
            <a:extLst>
              <a:ext uri="{FF2B5EF4-FFF2-40B4-BE49-F238E27FC236}">
                <a16:creationId xmlns:a16="http://schemas.microsoft.com/office/drawing/2014/main" id="{6441E677-8719-A8FB-C3D5-196935828D79}"/>
              </a:ext>
            </a:extLst>
          </p:cNvPr>
          <p:cNvSpPr>
            <a:spLocks noGrp="1"/>
          </p:cNvSpPr>
          <p:nvPr>
            <p:ph type="body" sz="quarter" idx="11"/>
          </p:nvPr>
        </p:nvSpPr>
        <p:spPr>
          <a:xfrm>
            <a:off x="1249591" y="609269"/>
            <a:ext cx="6632575" cy="354012"/>
          </a:xfrm>
        </p:spPr>
        <p:txBody>
          <a:bodyPr/>
          <a:lstStyle/>
          <a:p>
            <a:r>
              <a:rPr lang="zh-CN" altLang="en-US" dirty="0"/>
              <a:t>互联网是什么？</a:t>
            </a:r>
            <a:endParaRPr lang="fr-FR" altLang="zh-CN" dirty="0"/>
          </a:p>
        </p:txBody>
      </p:sp>
    </p:spTree>
    <p:extLst>
      <p:ext uri="{BB962C8B-B14F-4D97-AF65-F5344CB8AC3E}">
        <p14:creationId xmlns:p14="http://schemas.microsoft.com/office/powerpoint/2010/main" val="25430760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7" name="组合 6"/>
          <p:cNvGrpSpPr/>
          <p:nvPr/>
        </p:nvGrpSpPr>
        <p:grpSpPr>
          <a:xfrm>
            <a:off x="466344" y="577739"/>
            <a:ext cx="8129016" cy="400110"/>
            <a:chOff x="466344" y="1151890"/>
            <a:chExt cx="8129016" cy="400110"/>
          </a:xfrm>
        </p:grpSpPr>
        <p:sp>
          <p:nvSpPr>
            <p:cNvPr id="8"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4438491" y="1151890"/>
              <a:ext cx="184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endParaRPr lang="fr-FR" altLang="zh-CN" sz="2000" b="1" dirty="0">
                <a:solidFill>
                  <a:schemeClr val="bg1"/>
                </a:solidFill>
                <a:latin typeface="微软雅黑" pitchFamily="34" charset="-122"/>
                <a:ea typeface="微软雅黑" pitchFamily="34" charset="-122"/>
              </a:endParaRPr>
            </a:p>
          </p:txBody>
        </p:sp>
      </p:grpSp>
      <p:graphicFrame>
        <p:nvGraphicFramePr>
          <p:cNvPr id="3" name="图示 2"/>
          <p:cNvGraphicFramePr/>
          <p:nvPr>
            <p:extLst>
              <p:ext uri="{D42A27DB-BD31-4B8C-83A1-F6EECF244321}">
                <p14:modId xmlns:p14="http://schemas.microsoft.com/office/powerpoint/2010/main" val="3379243481"/>
              </p:ext>
            </p:extLst>
          </p:nvPr>
        </p:nvGraphicFramePr>
        <p:xfrm>
          <a:off x="1288868" y="1022337"/>
          <a:ext cx="6540138" cy="284587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4" name="矩形 13"/>
          <p:cNvSpPr/>
          <p:nvPr/>
        </p:nvSpPr>
        <p:spPr>
          <a:xfrm>
            <a:off x="1288868" y="3989627"/>
            <a:ext cx="6540138" cy="369332"/>
          </a:xfrm>
          <a:prstGeom prst="rect">
            <a:avLst/>
          </a:prstGeom>
          <a:solidFill>
            <a:srgbClr val="0066FF"/>
          </a:solidFill>
        </p:spPr>
        <p:style>
          <a:lnRef idx="1">
            <a:schemeClr val="accent1"/>
          </a:lnRef>
          <a:fillRef idx="3">
            <a:schemeClr val="accent1"/>
          </a:fillRef>
          <a:effectRef idx="2">
            <a:schemeClr val="accent1"/>
          </a:effectRef>
          <a:fontRef idx="minor">
            <a:schemeClr val="lt1"/>
          </a:fontRef>
        </p:style>
        <p:txBody>
          <a:bodyPr wrap="square">
            <a:spAutoFit/>
          </a:bodyPr>
          <a:lstStyle/>
          <a:p>
            <a:pPr algn="ctr"/>
            <a:r>
              <a:rPr lang="zh-CN" altLang="en-US" b="1" dirty="0">
                <a:latin typeface="微软雅黑" panose="020B0503020204020204" pitchFamily="34" charset="-122"/>
                <a:ea typeface="微软雅黑" panose="020B0503020204020204" pitchFamily="34" charset="-122"/>
              </a:rPr>
              <a:t>是 </a:t>
            </a:r>
            <a:r>
              <a:rPr lang="en-US" altLang="zh-CN" b="1" dirty="0">
                <a:latin typeface="微软雅黑" panose="020B0503020204020204" pitchFamily="34" charset="-122"/>
                <a:ea typeface="微软雅黑" panose="020B0503020204020204" pitchFamily="34" charset="-122"/>
              </a:rPr>
              <a:t>Internet </a:t>
            </a:r>
            <a:r>
              <a:rPr lang="zh-CN" altLang="en-US" b="1" dirty="0">
                <a:latin typeface="微软雅黑" panose="020B0503020204020204" pitchFamily="34" charset="-122"/>
                <a:ea typeface="微软雅黑" panose="020B0503020204020204" pitchFamily="34" charset="-122"/>
              </a:rPr>
              <a:t>提供许多服务的基础。</a:t>
            </a:r>
          </a:p>
        </p:txBody>
      </p:sp>
      <p:sp>
        <p:nvSpPr>
          <p:cNvPr id="11" name="内容占位符 10">
            <a:extLst>
              <a:ext uri="{FF2B5EF4-FFF2-40B4-BE49-F238E27FC236}">
                <a16:creationId xmlns:a16="http://schemas.microsoft.com/office/drawing/2014/main" id="{BDDC8CD5-1A1C-C066-0AF0-35294DD3927A}"/>
              </a:ext>
            </a:extLst>
          </p:cNvPr>
          <p:cNvSpPr>
            <a:spLocks noGrp="1"/>
          </p:cNvSpPr>
          <p:nvPr>
            <p:ph sz="quarter" idx="10"/>
          </p:nvPr>
        </p:nvSpPr>
        <p:spPr/>
        <p:txBody>
          <a:bodyPr/>
          <a:lstStyle/>
          <a:p>
            <a:endParaRPr lang="zh-CN" altLang="en-US"/>
          </a:p>
        </p:txBody>
      </p:sp>
      <p:sp>
        <p:nvSpPr>
          <p:cNvPr id="4" name="文本占位符 3">
            <a:extLst>
              <a:ext uri="{FF2B5EF4-FFF2-40B4-BE49-F238E27FC236}">
                <a16:creationId xmlns:a16="http://schemas.microsoft.com/office/drawing/2014/main" id="{4E6C6CC9-A258-9DB4-C460-537F1CCBF3E7}"/>
              </a:ext>
            </a:extLst>
          </p:cNvPr>
          <p:cNvSpPr>
            <a:spLocks noGrp="1"/>
          </p:cNvSpPr>
          <p:nvPr>
            <p:ph type="body" sz="quarter" idx="11"/>
          </p:nvPr>
        </p:nvSpPr>
        <p:spPr>
          <a:xfrm>
            <a:off x="1249591" y="609269"/>
            <a:ext cx="6632575" cy="354012"/>
          </a:xfrm>
        </p:spPr>
        <p:txBody>
          <a:bodyPr/>
          <a:lstStyle/>
          <a:p>
            <a:r>
              <a:rPr lang="zh-CN" altLang="en-US" dirty="0"/>
              <a:t>互联网的 </a:t>
            </a:r>
            <a:r>
              <a:rPr lang="en-US" altLang="zh-CN" dirty="0"/>
              <a:t>2 </a:t>
            </a:r>
            <a:r>
              <a:rPr lang="zh-CN" altLang="en-US" dirty="0"/>
              <a:t>个重要基本特点</a:t>
            </a:r>
            <a:endParaRPr lang="fr-FR" altLang="zh-CN" dirty="0"/>
          </a:p>
        </p:txBody>
      </p:sp>
    </p:spTree>
    <p:extLst>
      <p:ext uri="{BB962C8B-B14F-4D97-AF65-F5344CB8AC3E}">
        <p14:creationId xmlns:p14="http://schemas.microsoft.com/office/powerpoint/2010/main" val="5342536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7" name="组合 6"/>
          <p:cNvGrpSpPr/>
          <p:nvPr/>
        </p:nvGrpSpPr>
        <p:grpSpPr>
          <a:xfrm>
            <a:off x="466344" y="577739"/>
            <a:ext cx="8129016" cy="400110"/>
            <a:chOff x="466344" y="1151890"/>
            <a:chExt cx="8129016" cy="400110"/>
          </a:xfrm>
        </p:grpSpPr>
        <p:sp>
          <p:nvSpPr>
            <p:cNvPr id="8"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4438493" y="1151890"/>
              <a:ext cx="184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endParaRPr lang="fr-FR" altLang="zh-CN" sz="2000" b="1" dirty="0">
                <a:solidFill>
                  <a:schemeClr val="bg1"/>
                </a:solidFill>
                <a:latin typeface="微软雅黑" pitchFamily="34" charset="-122"/>
                <a:ea typeface="微软雅黑" pitchFamily="34" charset="-122"/>
              </a:endParaRPr>
            </a:p>
          </p:txBody>
        </p:sp>
      </p:grpSp>
      <p:grpSp>
        <p:nvGrpSpPr>
          <p:cNvPr id="12" name="组合 11"/>
          <p:cNvGrpSpPr>
            <a:grpSpLocks noChangeAspect="1"/>
          </p:cNvGrpSpPr>
          <p:nvPr/>
        </p:nvGrpSpPr>
        <p:grpSpPr>
          <a:xfrm>
            <a:off x="1358544" y="1292186"/>
            <a:ext cx="6295066" cy="581639"/>
            <a:chOff x="1950729" y="2654620"/>
            <a:chExt cx="5259967" cy="486000"/>
          </a:xfrm>
        </p:grpSpPr>
        <p:sp>
          <p:nvSpPr>
            <p:cNvPr id="10" name="五边形 9"/>
            <p:cNvSpPr/>
            <p:nvPr/>
          </p:nvSpPr>
          <p:spPr>
            <a:xfrm flipH="1">
              <a:off x="2159723" y="2654620"/>
              <a:ext cx="5050973" cy="486000"/>
            </a:xfrm>
            <a:prstGeom prst="homePlat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rtlCol="0" anchor="ctr"/>
            <a:lstStyle/>
            <a:p>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已经融入人们的生活、工作、学习和交往。</a:t>
              </a:r>
            </a:p>
          </p:txBody>
        </p:sp>
        <p:sp>
          <p:nvSpPr>
            <p:cNvPr id="11" name="椭圆 10"/>
            <p:cNvSpPr>
              <a:spLocks noChangeAspect="1"/>
            </p:cNvSpPr>
            <p:nvPr/>
          </p:nvSpPr>
          <p:spPr>
            <a:xfrm>
              <a:off x="1950729" y="2654620"/>
              <a:ext cx="486000" cy="486000"/>
            </a:xfrm>
            <a:prstGeom prst="ellipse">
              <a:avLst/>
            </a:prstGeom>
            <a:solidFill>
              <a:srgbClr val="FFC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tx1"/>
                  </a:solidFill>
                  <a:latin typeface="微软雅黑" panose="020B0503020204020204" pitchFamily="34" charset="-122"/>
                  <a:ea typeface="微软雅黑" panose="020B0503020204020204" pitchFamily="34" charset="-122"/>
                  <a:sym typeface="Wingdings 2" panose="05020102010507070707" pitchFamily="18" charset="2"/>
                </a:rPr>
                <a:t></a:t>
              </a:r>
              <a:endParaRPr lang="zh-CN" altLang="en-US" sz="2000" b="1" dirty="0">
                <a:solidFill>
                  <a:schemeClr val="tx1"/>
                </a:solidFill>
                <a:latin typeface="微软雅黑" panose="020B0503020204020204" pitchFamily="34" charset="-122"/>
                <a:ea typeface="微软雅黑" panose="020B0503020204020204" pitchFamily="34" charset="-122"/>
              </a:endParaRPr>
            </a:p>
          </p:txBody>
        </p:sp>
      </p:grpSp>
      <p:grpSp>
        <p:nvGrpSpPr>
          <p:cNvPr id="18" name="组合 17"/>
          <p:cNvGrpSpPr>
            <a:grpSpLocks noChangeAspect="1"/>
          </p:cNvGrpSpPr>
          <p:nvPr/>
        </p:nvGrpSpPr>
        <p:grpSpPr>
          <a:xfrm>
            <a:off x="1358544" y="2061874"/>
            <a:ext cx="6295066" cy="581639"/>
            <a:chOff x="1950729" y="2654620"/>
            <a:chExt cx="5259967" cy="486000"/>
          </a:xfrm>
        </p:grpSpPr>
        <p:sp>
          <p:nvSpPr>
            <p:cNvPr id="19" name="五边形 18"/>
            <p:cNvSpPr/>
            <p:nvPr/>
          </p:nvSpPr>
          <p:spPr>
            <a:xfrm flipH="1">
              <a:off x="2159723" y="2654620"/>
              <a:ext cx="5050973" cy="486000"/>
            </a:xfrm>
            <a:prstGeom prst="homePlat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rtlCol="0" anchor="ctr"/>
            <a:lstStyle/>
            <a:p>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已经成为社会最为重要的基础设施之一。</a:t>
              </a:r>
            </a:p>
          </p:txBody>
        </p:sp>
        <p:sp>
          <p:nvSpPr>
            <p:cNvPr id="20" name="椭圆 19"/>
            <p:cNvSpPr>
              <a:spLocks noChangeAspect="1"/>
            </p:cNvSpPr>
            <p:nvPr/>
          </p:nvSpPr>
          <p:spPr>
            <a:xfrm>
              <a:off x="1950729" y="2654620"/>
              <a:ext cx="486000" cy="486000"/>
            </a:xfrm>
            <a:prstGeom prst="ellipse">
              <a:avLst/>
            </a:prstGeom>
            <a:solidFill>
              <a:srgbClr val="FFC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zh-CN" sz="2000" b="1" dirty="0">
                  <a:solidFill>
                    <a:schemeClr val="tx1"/>
                  </a:solidFill>
                  <a:latin typeface="微软雅黑" panose="020B0503020204020204" pitchFamily="34" charset="-122"/>
                  <a:ea typeface="微软雅黑" panose="020B0503020204020204" pitchFamily="34" charset="-122"/>
                  <a:sym typeface="Wingdings 2" panose="05020102010507070707" pitchFamily="18" charset="2"/>
                </a:rPr>
                <a:t></a:t>
              </a:r>
              <a:endParaRPr lang="zh-CN" altLang="en-US" sz="2000" b="1" dirty="0">
                <a:solidFill>
                  <a:schemeClr val="tx1"/>
                </a:solidFill>
                <a:latin typeface="微软雅黑" panose="020B0503020204020204" pitchFamily="34" charset="-122"/>
                <a:ea typeface="微软雅黑" panose="020B0503020204020204" pitchFamily="34" charset="-122"/>
              </a:endParaRPr>
            </a:p>
          </p:txBody>
        </p:sp>
      </p:grpSp>
      <p:sp>
        <p:nvSpPr>
          <p:cNvPr id="13" name="内容占位符 12">
            <a:extLst>
              <a:ext uri="{FF2B5EF4-FFF2-40B4-BE49-F238E27FC236}">
                <a16:creationId xmlns:a16="http://schemas.microsoft.com/office/drawing/2014/main" id="{2B0D35E8-EA52-F3F6-6B76-A818AFD5E23D}"/>
              </a:ext>
            </a:extLst>
          </p:cNvPr>
          <p:cNvSpPr>
            <a:spLocks noGrp="1"/>
          </p:cNvSpPr>
          <p:nvPr>
            <p:ph sz="quarter" idx="10"/>
          </p:nvPr>
        </p:nvSpPr>
        <p:spPr/>
        <p:txBody>
          <a:bodyPr/>
          <a:lstStyle/>
          <a:p>
            <a:endParaRPr lang="zh-CN" altLang="en-US"/>
          </a:p>
        </p:txBody>
      </p:sp>
      <p:sp>
        <p:nvSpPr>
          <p:cNvPr id="3" name="文本占位符 2">
            <a:extLst>
              <a:ext uri="{FF2B5EF4-FFF2-40B4-BE49-F238E27FC236}">
                <a16:creationId xmlns:a16="http://schemas.microsoft.com/office/drawing/2014/main" id="{95C937C6-EF6E-5538-9281-86AFC6E5AA9B}"/>
              </a:ext>
            </a:extLst>
          </p:cNvPr>
          <p:cNvSpPr>
            <a:spLocks noGrp="1"/>
          </p:cNvSpPr>
          <p:nvPr>
            <p:ph type="body" sz="quarter" idx="11"/>
          </p:nvPr>
        </p:nvSpPr>
        <p:spPr>
          <a:xfrm>
            <a:off x="1249591" y="609269"/>
            <a:ext cx="6632575" cy="354012"/>
          </a:xfrm>
        </p:spPr>
        <p:txBody>
          <a:bodyPr/>
          <a:lstStyle/>
          <a:p>
            <a:r>
              <a:rPr lang="zh-CN" altLang="en-US" dirty="0"/>
              <a:t>互联网在生活中地位</a:t>
            </a:r>
            <a:endParaRPr lang="fr-FR" altLang="zh-CN" dirty="0"/>
          </a:p>
        </p:txBody>
      </p:sp>
    </p:spTree>
    <p:extLst>
      <p:ext uri="{BB962C8B-B14F-4D97-AF65-F5344CB8AC3E}">
        <p14:creationId xmlns:p14="http://schemas.microsoft.com/office/powerpoint/2010/main" val="20872555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7" name="组合 6"/>
          <p:cNvGrpSpPr/>
          <p:nvPr/>
        </p:nvGrpSpPr>
        <p:grpSpPr>
          <a:xfrm>
            <a:off x="466344" y="633886"/>
            <a:ext cx="8129016" cy="400110"/>
            <a:chOff x="466344" y="1151890"/>
            <a:chExt cx="8129016" cy="400110"/>
          </a:xfrm>
        </p:grpSpPr>
        <p:sp>
          <p:nvSpPr>
            <p:cNvPr id="8"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4438493" y="1151890"/>
              <a:ext cx="184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endParaRPr lang="fr-FR" altLang="zh-CN" sz="2000" b="1" dirty="0">
                <a:solidFill>
                  <a:schemeClr val="bg1"/>
                </a:solidFill>
                <a:latin typeface="微软雅黑" pitchFamily="34" charset="-122"/>
                <a:ea typeface="微软雅黑" pitchFamily="34" charset="-122"/>
              </a:endParaRPr>
            </a:p>
          </p:txBody>
        </p:sp>
      </p:grpSp>
      <p:sp>
        <p:nvSpPr>
          <p:cNvPr id="3" name="内容占位符 2"/>
          <p:cNvSpPr>
            <a:spLocks noGrp="1"/>
          </p:cNvSpPr>
          <p:nvPr>
            <p:ph sz="quarter" idx="10"/>
          </p:nvPr>
        </p:nvSpPr>
        <p:spPr>
          <a:xfrm>
            <a:off x="466344" y="969626"/>
            <a:ext cx="8129016" cy="3389873"/>
          </a:xfrm>
        </p:spPr>
        <p:txBody>
          <a:bodyPr/>
          <a:lstStyle/>
          <a:p>
            <a:r>
              <a:rPr lang="zh-CN" altLang="en-US" dirty="0"/>
              <a:t>指“互联网</a:t>
            </a:r>
            <a:r>
              <a:rPr lang="en-US" altLang="zh-CN" dirty="0"/>
              <a:t>+</a:t>
            </a:r>
            <a:r>
              <a:rPr lang="zh-CN" altLang="en-US" dirty="0"/>
              <a:t>各个传统行业”。</a:t>
            </a:r>
            <a:endParaRPr lang="en-US" altLang="zh-CN" dirty="0"/>
          </a:p>
          <a:p>
            <a:r>
              <a:rPr lang="zh-CN" altLang="en-US" dirty="0"/>
              <a:t>把互联网的创新成果深度融合于经济社会各领域。</a:t>
            </a:r>
            <a:endParaRPr lang="en-US" altLang="zh-CN" dirty="0"/>
          </a:p>
          <a:p>
            <a:endParaRPr lang="zh-CN" altLang="en-US" dirty="0"/>
          </a:p>
        </p:txBody>
      </p:sp>
      <p:sp>
        <p:nvSpPr>
          <p:cNvPr id="2" name="文本占位符 1">
            <a:extLst>
              <a:ext uri="{FF2B5EF4-FFF2-40B4-BE49-F238E27FC236}">
                <a16:creationId xmlns:a16="http://schemas.microsoft.com/office/drawing/2014/main" id="{38AD80B0-AD8F-42B4-A232-B0A49791FAA3}"/>
              </a:ext>
            </a:extLst>
          </p:cNvPr>
          <p:cNvSpPr>
            <a:spLocks noGrp="1"/>
          </p:cNvSpPr>
          <p:nvPr>
            <p:ph type="body" sz="quarter" idx="11"/>
          </p:nvPr>
        </p:nvSpPr>
        <p:spPr>
          <a:xfrm>
            <a:off x="1214565" y="616998"/>
            <a:ext cx="6632575" cy="338554"/>
          </a:xfrm>
        </p:spPr>
        <p:txBody>
          <a:bodyPr/>
          <a:lstStyle/>
          <a:p>
            <a:r>
              <a:rPr lang="zh-CN" altLang="en-US" dirty="0"/>
              <a:t>互联网</a:t>
            </a:r>
            <a:r>
              <a:rPr lang="en-US" altLang="zh-CN" dirty="0"/>
              <a:t>+</a:t>
            </a:r>
            <a:r>
              <a:rPr lang="zh-CN" altLang="en-US" dirty="0"/>
              <a:t>：新的经济形态</a:t>
            </a:r>
            <a:endParaRPr lang="fr-FR" altLang="zh-CN" dirty="0"/>
          </a:p>
        </p:txBody>
      </p:sp>
      <p:graphicFrame>
        <p:nvGraphicFramePr>
          <p:cNvPr id="13" name="图示 12"/>
          <p:cNvGraphicFramePr/>
          <p:nvPr>
            <p:extLst>
              <p:ext uri="{D42A27DB-BD31-4B8C-83A1-F6EECF244321}">
                <p14:modId xmlns:p14="http://schemas.microsoft.com/office/powerpoint/2010/main" val="3708377587"/>
              </p:ext>
            </p:extLst>
          </p:nvPr>
        </p:nvGraphicFramePr>
        <p:xfrm>
          <a:off x="1524000" y="1801069"/>
          <a:ext cx="5634446" cy="26822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140846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928340574"/>
              </p:ext>
            </p:extLst>
          </p:nvPr>
        </p:nvGraphicFramePr>
        <p:xfrm>
          <a:off x="1670151" y="1109315"/>
          <a:ext cx="5871472" cy="29012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1" name="矩形 10"/>
          <p:cNvSpPr/>
          <p:nvPr/>
        </p:nvSpPr>
        <p:spPr>
          <a:xfrm>
            <a:off x="1957137" y="4098681"/>
            <a:ext cx="5510463" cy="400110"/>
          </a:xfrm>
          <a:prstGeom prst="rect">
            <a:avLst/>
          </a:prstGeom>
          <a:solidFill>
            <a:schemeClr val="accent2">
              <a:lumMod val="60000"/>
              <a:lumOff val="40000"/>
            </a:schemeClr>
          </a:solidFill>
        </p:spPr>
        <p:txBody>
          <a:bodyPr wrap="squar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2000" b="1" i="0" u="none" strike="noStrike" kern="0" cap="none" spc="0" normalizeH="0" baseline="0" noProof="0" dirty="0">
                <a:ln>
                  <a:noFill/>
                </a:ln>
                <a:solidFill>
                  <a:srgbClr val="000099"/>
                </a:solidFill>
                <a:effectLst/>
                <a:uLnTx/>
                <a:uFillTx/>
                <a:latin typeface="微软雅黑" panose="020B0503020204020204" pitchFamily="34" charset="-122"/>
                <a:ea typeface="微软雅黑" panose="020B0503020204020204" pitchFamily="34" charset="-122"/>
              </a:rPr>
              <a:t>需要加强</a:t>
            </a:r>
            <a:r>
              <a:rPr kumimoji="0" lang="zh-CN" altLang="zh-CN" sz="2000" b="1" i="0" u="none" strike="noStrike" kern="0" cap="none" spc="0" normalizeH="0" baseline="0" noProof="0" dirty="0">
                <a:ln>
                  <a:noFill/>
                </a:ln>
                <a:solidFill>
                  <a:srgbClr val="000099"/>
                </a:solidFill>
                <a:effectLst/>
                <a:uLnTx/>
                <a:uFillTx/>
                <a:latin typeface="微软雅黑" panose="020B0503020204020204" pitchFamily="34" charset="-122"/>
                <a:ea typeface="微软雅黑" panose="020B0503020204020204" pitchFamily="34" charset="-122"/>
              </a:rPr>
              <a:t>对互联网的管理</a:t>
            </a:r>
            <a:r>
              <a:rPr kumimoji="0" lang="zh-CN" altLang="en-US" sz="2000" b="1" i="0" u="none" strike="noStrike" kern="0" cap="none" spc="0" normalizeH="0" baseline="0" noProof="0" dirty="0">
                <a:ln>
                  <a:noFill/>
                </a:ln>
                <a:solidFill>
                  <a:srgbClr val="000099"/>
                </a:solidFill>
                <a:effectLst/>
                <a:uLnTx/>
                <a:uFillTx/>
                <a:latin typeface="微软雅黑" panose="020B0503020204020204" pitchFamily="34" charset="-122"/>
                <a:ea typeface="微软雅黑" panose="020B0503020204020204" pitchFamily="34" charset="-122"/>
              </a:rPr>
              <a:t>。</a:t>
            </a:r>
          </a:p>
        </p:txBody>
      </p:sp>
      <p:sp>
        <p:nvSpPr>
          <p:cNvPr id="4" name="文本占位符 3">
            <a:extLst>
              <a:ext uri="{FF2B5EF4-FFF2-40B4-BE49-F238E27FC236}">
                <a16:creationId xmlns:a16="http://schemas.microsoft.com/office/drawing/2014/main" id="{35CDA576-C03F-B88B-2AC4-7C83C96F1954}"/>
              </a:ext>
            </a:extLst>
          </p:cNvPr>
          <p:cNvSpPr>
            <a:spLocks noGrp="1"/>
          </p:cNvSpPr>
          <p:nvPr>
            <p:ph type="body" sz="quarter" idx="10"/>
          </p:nvPr>
        </p:nvSpPr>
        <p:spPr>
          <a:xfrm>
            <a:off x="1214565" y="616998"/>
            <a:ext cx="6632575" cy="338554"/>
          </a:xfrm>
        </p:spPr>
        <p:txBody>
          <a:bodyPr/>
          <a:lstStyle/>
          <a:p>
            <a:r>
              <a:rPr lang="zh-CN" altLang="en-US" dirty="0"/>
              <a:t>互联网的负面影响</a:t>
            </a:r>
            <a:endParaRPr lang="fr-FR" altLang="zh-CN" dirty="0"/>
          </a:p>
        </p:txBody>
      </p:sp>
    </p:spTree>
    <p:extLst>
      <p:ext uri="{BB962C8B-B14F-4D97-AF65-F5344CB8AC3E}">
        <p14:creationId xmlns:p14="http://schemas.microsoft.com/office/powerpoint/2010/main" val="24060067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8900" y="1330075"/>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5" name="Rectangle 10"/>
          <p:cNvSpPr>
            <a:spLocks noChangeArrowheads="1"/>
          </p:cNvSpPr>
          <p:nvPr/>
        </p:nvSpPr>
        <p:spPr bwMode="auto">
          <a:xfrm>
            <a:off x="2628900" y="1936500"/>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6" name="Rectangle 11"/>
          <p:cNvSpPr>
            <a:spLocks noChangeArrowheads="1"/>
          </p:cNvSpPr>
          <p:nvPr/>
        </p:nvSpPr>
        <p:spPr bwMode="auto">
          <a:xfrm>
            <a:off x="2628900" y="2554037"/>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宋体" charset="-122"/>
              <a:ea typeface="+mn-ea"/>
            </a:endParaRPr>
          </a:p>
        </p:txBody>
      </p:sp>
      <p:sp>
        <p:nvSpPr>
          <p:cNvPr id="25605" name="Line 16"/>
          <p:cNvSpPr>
            <a:spLocks noChangeShapeType="1"/>
          </p:cNvSpPr>
          <p:nvPr/>
        </p:nvSpPr>
        <p:spPr bwMode="auto">
          <a:xfrm>
            <a:off x="3636963" y="125863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5606" name="Rectangle 8"/>
          <p:cNvSpPr>
            <a:spLocks noChangeArrowheads="1"/>
          </p:cNvSpPr>
          <p:nvPr/>
        </p:nvSpPr>
        <p:spPr bwMode="auto">
          <a:xfrm>
            <a:off x="2700337" y="1076075"/>
            <a:ext cx="5641557"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1.2.1                                              </a:t>
            </a:r>
            <a:r>
              <a:rPr lang="zh-CN" altLang="en-US" sz="2000" b="1" dirty="0">
                <a:solidFill>
                  <a:schemeClr val="bg1"/>
                </a:solidFill>
                <a:latin typeface="微软雅黑" pitchFamily="34" charset="-122"/>
                <a:ea typeface="微软雅黑" pitchFamily="34" charset="-122"/>
              </a:rPr>
              <a:t>网络的网络</a:t>
            </a:r>
            <a:r>
              <a:rPr lang="en-US" altLang="zh-CN" sz="2000" b="1" dirty="0">
                <a:solidFill>
                  <a:schemeClr val="bg1"/>
                </a:solidFill>
                <a:latin typeface="微软雅黑" pitchFamily="34" charset="-122"/>
                <a:ea typeface="微软雅黑" pitchFamily="34" charset="-122"/>
              </a:rPr>
              <a:t>1.2.2                </a:t>
            </a:r>
            <a:r>
              <a:rPr lang="zh-CN" altLang="zh-CN" sz="2000" b="1" dirty="0">
                <a:solidFill>
                  <a:schemeClr val="bg1"/>
                </a:solidFill>
                <a:latin typeface="微软雅黑" pitchFamily="34" charset="-122"/>
                <a:ea typeface="微软雅黑" pitchFamily="34" charset="-122"/>
              </a:rPr>
              <a:t>互联网基础结构发展的三个阶段</a:t>
            </a:r>
          </a:p>
          <a:p>
            <a:pPr eaLnBrk="0" hangingPunct="0">
              <a:lnSpc>
                <a:spcPct val="200000"/>
              </a:lnSpc>
            </a:pPr>
            <a:r>
              <a:rPr lang="en-US" altLang="zh-CN" sz="2000" b="1" dirty="0">
                <a:solidFill>
                  <a:schemeClr val="bg1"/>
                </a:solidFill>
                <a:latin typeface="微软雅黑" pitchFamily="34" charset="-122"/>
                <a:ea typeface="微软雅黑" pitchFamily="34" charset="-122"/>
              </a:rPr>
              <a:t>1.2.3                                 </a:t>
            </a:r>
            <a:r>
              <a:rPr lang="zh-CN" altLang="zh-CN" sz="2000" b="1" dirty="0">
                <a:solidFill>
                  <a:schemeClr val="bg1"/>
                </a:solidFill>
                <a:latin typeface="微软雅黑" pitchFamily="34" charset="-122"/>
                <a:ea typeface="微软雅黑" pitchFamily="34" charset="-122"/>
              </a:rPr>
              <a:t>互联网的标准化工作</a:t>
            </a:r>
            <a:endParaRPr lang="fr-FR" sz="2000" b="1" dirty="0">
              <a:solidFill>
                <a:schemeClr val="bg1"/>
              </a:solidFill>
              <a:latin typeface="微软雅黑" pitchFamily="34" charset="-122"/>
              <a:ea typeface="微软雅黑" pitchFamily="34" charset="-122"/>
            </a:endParaRPr>
          </a:p>
        </p:txBody>
      </p:sp>
      <p:sp>
        <p:nvSpPr>
          <p:cNvPr id="9" name="Rectangle 27"/>
          <p:cNvSpPr>
            <a:spLocks noChangeArrowheads="1"/>
          </p:cNvSpPr>
          <p:nvPr/>
        </p:nvSpPr>
        <p:spPr bwMode="auto">
          <a:xfrm>
            <a:off x="639730" y="132975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charset="-122"/>
              <a:ea typeface="+mn-ea"/>
            </a:endParaRPr>
          </a:p>
        </p:txBody>
      </p:sp>
      <p:sp>
        <p:nvSpPr>
          <p:cNvPr id="25610" name="Rectangle 29"/>
          <p:cNvSpPr>
            <a:spLocks noChangeArrowheads="1"/>
          </p:cNvSpPr>
          <p:nvPr/>
        </p:nvSpPr>
        <p:spPr bwMode="auto">
          <a:xfrm>
            <a:off x="649288" y="1425325"/>
            <a:ext cx="1627187" cy="7080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1.2</a:t>
            </a:r>
          </a:p>
          <a:p>
            <a:pPr eaLnBrk="0" hangingPunct="0"/>
            <a:r>
              <a:rPr lang="zh-CN" altLang="fr-FR" sz="2000" b="1">
                <a:solidFill>
                  <a:schemeClr val="bg1"/>
                </a:solidFill>
                <a:latin typeface="微软雅黑" pitchFamily="34" charset="-122"/>
                <a:ea typeface="微软雅黑" pitchFamily="34" charset="-122"/>
              </a:rPr>
              <a:t>互联网概述</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zh-CN" altLang="en-US" dirty="0">
                <a:solidFill>
                  <a:srgbClr val="0033CC"/>
                </a:solidFill>
              </a:rPr>
              <a:t>计算机网络：</a:t>
            </a:r>
            <a:endParaRPr lang="en-US" altLang="zh-CN" dirty="0">
              <a:solidFill>
                <a:srgbClr val="0033CC"/>
              </a:solidFill>
            </a:endParaRPr>
          </a:p>
          <a:p>
            <a:pPr lvl="1"/>
            <a:r>
              <a:rPr lang="zh-CN" altLang="en-US" dirty="0"/>
              <a:t>由若干</a:t>
            </a:r>
            <a:r>
              <a:rPr lang="zh-CN" altLang="en-US" dirty="0">
                <a:solidFill>
                  <a:srgbClr val="C00000"/>
                </a:solidFill>
              </a:rPr>
              <a:t>节点</a:t>
            </a:r>
            <a:r>
              <a:rPr lang="en-US" altLang="zh-CN" dirty="0"/>
              <a:t>(node)</a:t>
            </a:r>
            <a:r>
              <a:rPr lang="zh-CN" altLang="en-US" dirty="0"/>
              <a:t>和连接这些节点的</a:t>
            </a:r>
            <a:r>
              <a:rPr lang="zh-CN" altLang="en-US" dirty="0">
                <a:solidFill>
                  <a:srgbClr val="C00000"/>
                </a:solidFill>
              </a:rPr>
              <a:t>链路</a:t>
            </a:r>
            <a:r>
              <a:rPr lang="en-US" altLang="zh-CN" dirty="0"/>
              <a:t>(link)</a:t>
            </a:r>
            <a:r>
              <a:rPr lang="zh-CN" altLang="en-US" dirty="0"/>
              <a:t>组成。</a:t>
            </a:r>
            <a:endParaRPr lang="en-US" altLang="zh-CN" dirty="0"/>
          </a:p>
          <a:p>
            <a:pPr lvl="1"/>
            <a:r>
              <a:rPr lang="zh-CN" altLang="en-US" dirty="0">
                <a:solidFill>
                  <a:srgbClr val="C00000"/>
                </a:solidFill>
              </a:rPr>
              <a:t>节点</a:t>
            </a:r>
            <a:r>
              <a:rPr lang="zh-CN" altLang="en-US" dirty="0"/>
              <a:t>可以是计算机、集线器、交换机或路由器等。</a:t>
            </a:r>
          </a:p>
        </p:txBody>
      </p:sp>
      <p:sp>
        <p:nvSpPr>
          <p:cNvPr id="10" name="文本占位符 9"/>
          <p:cNvSpPr>
            <a:spLocks noGrp="1"/>
          </p:cNvSpPr>
          <p:nvPr>
            <p:ph type="body" sz="quarter" idx="11"/>
          </p:nvPr>
        </p:nvSpPr>
        <p:spPr/>
        <p:txBody>
          <a:bodyPr/>
          <a:lstStyle/>
          <a:p>
            <a:r>
              <a:rPr lang="en-US" altLang="zh-CN" dirty="0"/>
              <a:t>1.2.1  </a:t>
            </a:r>
            <a:r>
              <a:rPr lang="zh-CN" altLang="en-US" dirty="0"/>
              <a:t>网络的网络</a:t>
            </a:r>
          </a:p>
        </p:txBody>
      </p:sp>
      <p:sp>
        <p:nvSpPr>
          <p:cNvPr id="7" name="Text Box 1185"/>
          <p:cNvSpPr txBox="1">
            <a:spLocks noChangeArrowheads="1"/>
          </p:cNvSpPr>
          <p:nvPr/>
        </p:nvSpPr>
        <p:spPr bwMode="auto">
          <a:xfrm>
            <a:off x="5497318" y="3771091"/>
            <a:ext cx="2032929"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600" b="1" dirty="0">
                <a:latin typeface="Times New Roman" pitchFamily="18" charset="0"/>
                <a:ea typeface="微软雅黑" pitchFamily="34" charset="-122"/>
              </a:rPr>
              <a:t>图</a:t>
            </a:r>
            <a:r>
              <a:rPr kumimoji="1" lang="en-US" altLang="zh-CN" sz="1600" b="1" dirty="0">
                <a:latin typeface="Times New Roman" pitchFamily="18" charset="0"/>
                <a:ea typeface="微软雅黑" pitchFamily="34" charset="-122"/>
              </a:rPr>
              <a:t>1-1 (a) </a:t>
            </a:r>
            <a:r>
              <a:rPr kumimoji="1" lang="zh-CN" altLang="en-US" sz="1600" b="1" dirty="0">
                <a:latin typeface="Times New Roman" pitchFamily="18" charset="0"/>
                <a:ea typeface="微软雅黑" pitchFamily="34" charset="-122"/>
              </a:rPr>
              <a:t>简单的网络</a:t>
            </a:r>
          </a:p>
        </p:txBody>
      </p:sp>
      <p:grpSp>
        <p:nvGrpSpPr>
          <p:cNvPr id="8" name="Group 1282"/>
          <p:cNvGrpSpPr>
            <a:grpSpLocks/>
          </p:cNvGrpSpPr>
          <p:nvPr/>
        </p:nvGrpSpPr>
        <p:grpSpPr bwMode="auto">
          <a:xfrm>
            <a:off x="4810169" y="1237641"/>
            <a:ext cx="3360987" cy="2299844"/>
            <a:chOff x="1680" y="240"/>
            <a:chExt cx="2529" cy="1270"/>
          </a:xfrm>
          <a:scene3d>
            <a:camera prst="orthographicFront">
              <a:rot lat="0" lon="0" rev="0"/>
            </a:camera>
            <a:lightRig rig="contrasting" dir="t">
              <a:rot lat="0" lon="0" rev="7800000"/>
            </a:lightRig>
          </a:scene3d>
        </p:grpSpPr>
        <p:sp>
          <p:nvSpPr>
            <p:cNvPr id="9" name="Oval 1283"/>
            <p:cNvSpPr>
              <a:spLocks noChangeArrowheads="1"/>
            </p:cNvSpPr>
            <p:nvPr/>
          </p:nvSpPr>
          <p:spPr bwMode="auto">
            <a:xfrm>
              <a:off x="2554" y="240"/>
              <a:ext cx="1088"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 name="Oval 1284"/>
            <p:cNvSpPr>
              <a:spLocks noChangeArrowheads="1"/>
            </p:cNvSpPr>
            <p:nvPr/>
          </p:nvSpPr>
          <p:spPr bwMode="auto">
            <a:xfrm>
              <a:off x="1941" y="381"/>
              <a:ext cx="827"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3" name="Oval 1285"/>
            <p:cNvSpPr>
              <a:spLocks noChangeArrowheads="1"/>
            </p:cNvSpPr>
            <p:nvPr/>
          </p:nvSpPr>
          <p:spPr bwMode="auto">
            <a:xfrm>
              <a:off x="1680" y="702"/>
              <a:ext cx="552" cy="41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286"/>
            <p:cNvSpPr>
              <a:spLocks noChangeArrowheads="1"/>
            </p:cNvSpPr>
            <p:nvPr/>
          </p:nvSpPr>
          <p:spPr bwMode="auto">
            <a:xfrm>
              <a:off x="1849" y="894"/>
              <a:ext cx="842" cy="450"/>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287"/>
            <p:cNvSpPr>
              <a:spLocks noChangeArrowheads="1"/>
            </p:cNvSpPr>
            <p:nvPr/>
          </p:nvSpPr>
          <p:spPr bwMode="auto">
            <a:xfrm>
              <a:off x="2462" y="971"/>
              <a:ext cx="1272" cy="53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288"/>
            <p:cNvSpPr>
              <a:spLocks noChangeArrowheads="1"/>
            </p:cNvSpPr>
            <p:nvPr/>
          </p:nvSpPr>
          <p:spPr bwMode="auto">
            <a:xfrm>
              <a:off x="3289" y="394"/>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289"/>
            <p:cNvSpPr>
              <a:spLocks noChangeArrowheads="1"/>
            </p:cNvSpPr>
            <p:nvPr/>
          </p:nvSpPr>
          <p:spPr bwMode="auto">
            <a:xfrm>
              <a:off x="3412" y="663"/>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290"/>
            <p:cNvSpPr>
              <a:spLocks noChangeArrowheads="1"/>
            </p:cNvSpPr>
            <p:nvPr/>
          </p:nvSpPr>
          <p:spPr bwMode="auto">
            <a:xfrm>
              <a:off x="3335" y="753"/>
              <a:ext cx="797" cy="66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291"/>
            <p:cNvSpPr>
              <a:spLocks noChangeArrowheads="1"/>
            </p:cNvSpPr>
            <p:nvPr/>
          </p:nvSpPr>
          <p:spPr bwMode="auto">
            <a:xfrm>
              <a:off x="2140" y="548"/>
              <a:ext cx="1640" cy="667"/>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20" name="组合 19"/>
          <p:cNvGrpSpPr/>
          <p:nvPr/>
        </p:nvGrpSpPr>
        <p:grpSpPr>
          <a:xfrm>
            <a:off x="5273288" y="1482278"/>
            <a:ext cx="2573344" cy="1809582"/>
            <a:chOff x="1137102" y="1439863"/>
            <a:chExt cx="2573344" cy="1809582"/>
          </a:xfrm>
        </p:grpSpPr>
        <p:sp>
          <p:nvSpPr>
            <p:cNvPr id="21" name="Line 1503"/>
            <p:cNvSpPr>
              <a:spLocks noChangeShapeType="1"/>
            </p:cNvSpPr>
            <p:nvPr/>
          </p:nvSpPr>
          <p:spPr bwMode="auto">
            <a:xfrm flipH="1" flipV="1">
              <a:off x="2711904" y="1747835"/>
              <a:ext cx="828675" cy="11493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209"/>
            <p:cNvSpPr>
              <a:spLocks noChangeShapeType="1"/>
            </p:cNvSpPr>
            <p:nvPr/>
          </p:nvSpPr>
          <p:spPr bwMode="auto">
            <a:xfrm flipV="1">
              <a:off x="1399042" y="1747835"/>
              <a:ext cx="1066800" cy="796925"/>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3" name="Line 1204"/>
            <p:cNvSpPr>
              <a:spLocks noChangeShapeType="1"/>
            </p:cNvSpPr>
            <p:nvPr/>
          </p:nvSpPr>
          <p:spPr bwMode="auto">
            <a:xfrm flipV="1">
              <a:off x="2302329" y="1747835"/>
              <a:ext cx="246063" cy="13271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4" name="Group 204"/>
            <p:cNvGrpSpPr>
              <a:grpSpLocks/>
            </p:cNvGrpSpPr>
            <p:nvPr/>
          </p:nvGrpSpPr>
          <p:grpSpPr bwMode="auto">
            <a:xfrm>
              <a:off x="2173744" y="1439863"/>
              <a:ext cx="800099" cy="695325"/>
              <a:chOff x="1148" y="1715"/>
              <a:chExt cx="504" cy="438"/>
            </a:xfrm>
          </p:grpSpPr>
          <p:sp>
            <p:nvSpPr>
              <p:cNvPr id="34" name="Oval 1529"/>
              <p:cNvSpPr>
                <a:spLocks noChangeArrowheads="1"/>
              </p:cNvSpPr>
              <p:nvPr/>
            </p:nvSpPr>
            <p:spPr bwMode="auto">
              <a:xfrm>
                <a:off x="1148" y="1715"/>
                <a:ext cx="504" cy="438"/>
              </a:xfrm>
              <a:prstGeom prst="ellipse">
                <a:avLst/>
              </a:prstGeom>
              <a:solidFill>
                <a:schemeClr val="bg1"/>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5" name="Picture 146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640517">
                <a:off x="1206" y="1813"/>
                <a:ext cx="401" cy="2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5" name="Group 194"/>
            <p:cNvGrpSpPr>
              <a:grpSpLocks/>
            </p:cNvGrpSpPr>
            <p:nvPr/>
          </p:nvGrpSpPr>
          <p:grpSpPr bwMode="auto">
            <a:xfrm>
              <a:off x="2000702" y="2620229"/>
              <a:ext cx="646113" cy="629216"/>
              <a:chOff x="975" y="2584"/>
              <a:chExt cx="407" cy="438"/>
            </a:xfrm>
          </p:grpSpPr>
          <p:sp>
            <p:nvSpPr>
              <p:cNvPr id="3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3" name="Picture 193"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6" name="Group 195"/>
            <p:cNvGrpSpPr>
              <a:grpSpLocks/>
            </p:cNvGrpSpPr>
            <p:nvPr/>
          </p:nvGrpSpPr>
          <p:grpSpPr bwMode="auto">
            <a:xfrm>
              <a:off x="1137102" y="2091591"/>
              <a:ext cx="646113" cy="629216"/>
              <a:chOff x="975" y="2584"/>
              <a:chExt cx="407" cy="438"/>
            </a:xfrm>
          </p:grpSpPr>
          <p:sp>
            <p:nvSpPr>
              <p:cNvPr id="3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1"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7" name="Group 198"/>
            <p:cNvGrpSpPr>
              <a:grpSpLocks/>
            </p:cNvGrpSpPr>
            <p:nvPr/>
          </p:nvGrpSpPr>
          <p:grpSpPr bwMode="auto">
            <a:xfrm>
              <a:off x="3064333" y="2404329"/>
              <a:ext cx="646113" cy="629216"/>
              <a:chOff x="975" y="2584"/>
              <a:chExt cx="407" cy="438"/>
            </a:xfrm>
          </p:grpSpPr>
          <p:sp>
            <p:nvSpPr>
              <p:cNvPr id="2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36" name="Text Box 1185"/>
          <p:cNvSpPr txBox="1">
            <a:spLocks noChangeArrowheads="1"/>
          </p:cNvSpPr>
          <p:nvPr/>
        </p:nvSpPr>
        <p:spPr bwMode="auto">
          <a:xfrm>
            <a:off x="7068791" y="1588398"/>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b="1">
                <a:solidFill>
                  <a:srgbClr val="0000FF"/>
                </a:solidFill>
                <a:latin typeface="Times New Roman" pitchFamily="18" charset="0"/>
                <a:ea typeface="微软雅黑" pitchFamily="34" charset="-122"/>
              </a:defRPr>
            </a:lvl1pPr>
            <a:lvl2pPr marL="742950" indent="-285750"/>
            <a:lvl3pPr marL="1143000" indent="-228600"/>
            <a:lvl4pPr marL="1600200" indent="-228600"/>
            <a:lvl5pPr marL="2057400" indent="-228600"/>
            <a:lvl6pPr marL="2514600" indent="-228600" fontAlgn="base">
              <a:spcBef>
                <a:spcPct val="0"/>
              </a:spcBef>
              <a:spcAft>
                <a:spcPct val="0"/>
              </a:spcAft>
            </a:lvl6pPr>
            <a:lvl7pPr marL="2971800" indent="-228600" fontAlgn="base">
              <a:spcBef>
                <a:spcPct val="0"/>
              </a:spcBef>
              <a:spcAft>
                <a:spcPct val="0"/>
              </a:spcAft>
            </a:lvl7pPr>
            <a:lvl8pPr marL="3429000" indent="-228600" fontAlgn="base">
              <a:spcBef>
                <a:spcPct val="0"/>
              </a:spcBef>
              <a:spcAft>
                <a:spcPct val="0"/>
              </a:spcAft>
            </a:lvl8pPr>
            <a:lvl9pPr marL="3886200" indent="-228600" fontAlgn="base">
              <a:spcBef>
                <a:spcPct val="0"/>
              </a:spcBef>
              <a:spcAft>
                <a:spcPct val="0"/>
              </a:spcAft>
            </a:lvl9pPr>
          </a:lstStyle>
          <a:p>
            <a:r>
              <a:rPr lang="zh-CN" altLang="en-US" dirty="0"/>
              <a:t>节点</a:t>
            </a:r>
          </a:p>
        </p:txBody>
      </p:sp>
      <p:sp>
        <p:nvSpPr>
          <p:cNvPr id="37" name="Text Box 1524"/>
          <p:cNvSpPr txBox="1">
            <a:spLocks noChangeArrowheads="1"/>
          </p:cNvSpPr>
          <p:nvPr/>
        </p:nvSpPr>
        <p:spPr bwMode="auto">
          <a:xfrm>
            <a:off x="7144372" y="202588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链路</a:t>
            </a:r>
          </a:p>
        </p:txBody>
      </p:sp>
      <p:grpSp>
        <p:nvGrpSpPr>
          <p:cNvPr id="105" name="组合 104"/>
          <p:cNvGrpSpPr/>
          <p:nvPr/>
        </p:nvGrpSpPr>
        <p:grpSpPr>
          <a:xfrm>
            <a:off x="4046005" y="3283357"/>
            <a:ext cx="1223325" cy="762765"/>
            <a:chOff x="4148066" y="3740075"/>
            <a:chExt cx="1223325" cy="762765"/>
          </a:xfrm>
        </p:grpSpPr>
        <p:sp>
          <p:nvSpPr>
            <p:cNvPr id="84" name="Text Box 1482"/>
            <p:cNvSpPr txBox="1">
              <a:spLocks noChangeArrowheads="1"/>
            </p:cNvSpPr>
            <p:nvPr/>
          </p:nvSpPr>
          <p:spPr bwMode="auto">
            <a:xfrm>
              <a:off x="4148066" y="3740075"/>
              <a:ext cx="342807"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a:latin typeface="Times New Roman" pitchFamily="18" charset="0"/>
                  <a:ea typeface="微软雅黑" pitchFamily="34" charset="-122"/>
                </a:rPr>
                <a:t>图例</a:t>
              </a:r>
            </a:p>
          </p:txBody>
        </p:sp>
        <p:sp>
          <p:nvSpPr>
            <p:cNvPr id="85" name="Text Box 1484"/>
            <p:cNvSpPr txBox="1">
              <a:spLocks noChangeArrowheads="1"/>
            </p:cNvSpPr>
            <p:nvPr/>
          </p:nvSpPr>
          <p:spPr bwMode="auto">
            <a:xfrm>
              <a:off x="4874988" y="3795652"/>
              <a:ext cx="438032"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计算机</a:t>
              </a:r>
            </a:p>
          </p:txBody>
        </p:sp>
        <p:pic>
          <p:nvPicPr>
            <p:cNvPr id="86" name="Picture 1485"/>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640517">
              <a:off x="4588148" y="4035207"/>
              <a:ext cx="298627" cy="189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7" name="Text Box 1486"/>
            <p:cNvSpPr txBox="1">
              <a:spLocks noChangeArrowheads="1"/>
            </p:cNvSpPr>
            <p:nvPr/>
          </p:nvSpPr>
          <p:spPr bwMode="auto">
            <a:xfrm>
              <a:off x="4874988" y="4030016"/>
              <a:ext cx="438032"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集线器</a:t>
              </a:r>
            </a:p>
          </p:txBody>
        </p:sp>
        <p:pic>
          <p:nvPicPr>
            <p:cNvPr id="9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611724" y="3786032"/>
              <a:ext cx="263264" cy="2148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Rectangle 254"/>
            <p:cNvSpPr>
              <a:spLocks noChangeArrowheads="1"/>
            </p:cNvSpPr>
            <p:nvPr/>
          </p:nvSpPr>
          <p:spPr bwMode="auto">
            <a:xfrm>
              <a:off x="4159854" y="3746215"/>
              <a:ext cx="1211537" cy="756625"/>
            </a:xfrm>
            <a:prstGeom prst="rect">
              <a:avLst/>
            </a:prstGeom>
            <a:noFill/>
            <a:ln w="28575">
              <a:solidFill>
                <a:srgbClr val="368AD6"/>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grpSp>
          <p:nvGrpSpPr>
            <p:cNvPr id="92" name="Group 1356"/>
            <p:cNvGrpSpPr>
              <a:grpSpLocks/>
            </p:cNvGrpSpPr>
            <p:nvPr/>
          </p:nvGrpSpPr>
          <p:grpSpPr bwMode="auto">
            <a:xfrm rot="20527939">
              <a:off x="4611289" y="4296111"/>
              <a:ext cx="270310" cy="142136"/>
              <a:chOff x="2949" y="196"/>
              <a:chExt cx="941" cy="598"/>
            </a:xfrm>
            <a:solidFill>
              <a:schemeClr val="bg1"/>
            </a:solidFill>
          </p:grpSpPr>
          <p:sp>
            <p:nvSpPr>
              <p:cNvPr id="94" name="Oval 1357"/>
              <p:cNvSpPr>
                <a:spLocks noChangeArrowheads="1"/>
              </p:cNvSpPr>
              <p:nvPr/>
            </p:nvSpPr>
            <p:spPr bwMode="auto">
              <a:xfrm>
                <a:off x="3168" y="196"/>
                <a:ext cx="407" cy="162"/>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95" name="Oval 1358"/>
              <p:cNvSpPr>
                <a:spLocks noChangeArrowheads="1"/>
              </p:cNvSpPr>
              <p:nvPr/>
            </p:nvSpPr>
            <p:spPr bwMode="auto">
              <a:xfrm rot="900000">
                <a:off x="3512" y="252"/>
                <a:ext cx="275" cy="131"/>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96" name="Oval 1359"/>
              <p:cNvSpPr>
                <a:spLocks noChangeArrowheads="1"/>
              </p:cNvSpPr>
              <p:nvPr/>
            </p:nvSpPr>
            <p:spPr bwMode="auto">
              <a:xfrm rot="1500000">
                <a:off x="3650" y="385"/>
                <a:ext cx="240" cy="153"/>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97" name="Oval 1360"/>
              <p:cNvSpPr>
                <a:spLocks noChangeArrowheads="1"/>
              </p:cNvSpPr>
              <p:nvPr/>
            </p:nvSpPr>
            <p:spPr bwMode="auto">
              <a:xfrm rot="-1560000">
                <a:off x="3573" y="537"/>
                <a:ext cx="291" cy="189"/>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98" name="Oval 1361"/>
              <p:cNvSpPr>
                <a:spLocks noChangeArrowheads="1"/>
              </p:cNvSpPr>
              <p:nvPr/>
            </p:nvSpPr>
            <p:spPr bwMode="auto">
              <a:xfrm>
                <a:off x="3216" y="555"/>
                <a:ext cx="471" cy="239"/>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99" name="Oval 1362"/>
              <p:cNvSpPr>
                <a:spLocks noChangeArrowheads="1"/>
              </p:cNvSpPr>
              <p:nvPr/>
            </p:nvSpPr>
            <p:spPr bwMode="auto">
              <a:xfrm rot="1080000">
                <a:off x="3023" y="555"/>
                <a:ext cx="265" cy="156"/>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100" name="Oval 1363"/>
              <p:cNvSpPr>
                <a:spLocks noChangeArrowheads="1"/>
              </p:cNvSpPr>
              <p:nvPr/>
            </p:nvSpPr>
            <p:spPr bwMode="auto">
              <a:xfrm>
                <a:off x="2949" y="432"/>
                <a:ext cx="217" cy="156"/>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101" name="Oval 1364"/>
              <p:cNvSpPr>
                <a:spLocks noChangeArrowheads="1"/>
              </p:cNvSpPr>
              <p:nvPr/>
            </p:nvSpPr>
            <p:spPr bwMode="auto">
              <a:xfrm rot="-1860000">
                <a:off x="2984" y="310"/>
                <a:ext cx="295" cy="156"/>
              </a:xfrm>
              <a:prstGeom prst="ellipse">
                <a:avLst/>
              </a:prstGeom>
              <a:grpFill/>
              <a:ln w="12700">
                <a:solidFill>
                  <a:srgbClr val="000000"/>
                </a:solidFill>
                <a:round/>
                <a:headEnd/>
                <a:tailEnd/>
              </a:ln>
            </p:spPr>
            <p:txBody>
              <a:bodyPr vert="eaVert" wrap="none" anchor="ctr"/>
              <a:lstStyle/>
              <a:p>
                <a:endParaRPr lang="zh-CN" altLang="en-US" b="1">
                  <a:solidFill>
                    <a:srgbClr val="000000"/>
                  </a:solidFill>
                </a:endParaRPr>
              </a:p>
            </p:txBody>
          </p:sp>
          <p:sp>
            <p:nvSpPr>
              <p:cNvPr id="10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w="9525">
                <a:solidFill>
                  <a:srgbClr val="000000"/>
                </a:solidFill>
                <a:round/>
                <a:headEnd/>
                <a:tailEnd/>
              </a:ln>
            </p:spPr>
            <p:txBody>
              <a:bodyPr/>
              <a:lstStyle/>
              <a:p>
                <a:endParaRPr lang="zh-CN" altLang="en-US" sz="1600"/>
              </a:p>
            </p:txBody>
          </p:sp>
          <p:sp>
            <p:nvSpPr>
              <p:cNvPr id="10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w="9525">
                <a:solidFill>
                  <a:srgbClr val="000000"/>
                </a:solidFill>
                <a:round/>
                <a:headEnd/>
                <a:tailEnd/>
              </a:ln>
            </p:spPr>
            <p:txBody>
              <a:bodyPr/>
              <a:lstStyle/>
              <a:p>
                <a:endParaRPr lang="zh-CN" altLang="en-US" sz="1600"/>
              </a:p>
            </p:txBody>
          </p:sp>
          <p:sp>
            <p:nvSpPr>
              <p:cNvPr id="104"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w="9525">
                <a:solidFill>
                  <a:schemeClr val="bg1"/>
                </a:solidFill>
                <a:round/>
                <a:headEnd/>
                <a:tailEnd/>
              </a:ln>
            </p:spPr>
            <p:txBody>
              <a:bodyPr/>
              <a:lstStyle/>
              <a:p>
                <a:endParaRPr lang="zh-CN" altLang="en-US" sz="1600"/>
              </a:p>
            </p:txBody>
          </p:sp>
        </p:grpSp>
        <p:sp>
          <p:nvSpPr>
            <p:cNvPr id="93" name="Text Box 1488"/>
            <p:cNvSpPr txBox="1">
              <a:spLocks noChangeArrowheads="1"/>
            </p:cNvSpPr>
            <p:nvPr/>
          </p:nvSpPr>
          <p:spPr bwMode="auto">
            <a:xfrm>
              <a:off x="4874988" y="4279218"/>
              <a:ext cx="342807"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网络</a:t>
              </a:r>
            </a:p>
          </p:txBody>
        </p:sp>
      </p:grpSp>
    </p:spTree>
    <p:extLst>
      <p:ext uri="{BB962C8B-B14F-4D97-AF65-F5344CB8AC3E}">
        <p14:creationId xmlns:p14="http://schemas.microsoft.com/office/powerpoint/2010/main" val="4939186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zh-CN" altLang="en-US" dirty="0">
                <a:solidFill>
                  <a:srgbClr val="0033CC"/>
                </a:solidFill>
              </a:rPr>
              <a:t>互连网 </a:t>
            </a:r>
            <a:r>
              <a:rPr lang="en-US" altLang="zh-CN" dirty="0">
                <a:solidFill>
                  <a:srgbClr val="0033CC"/>
                </a:solidFill>
              </a:rPr>
              <a:t>(internetwork </a:t>
            </a:r>
            <a:r>
              <a:rPr lang="zh-CN" altLang="en-US" dirty="0">
                <a:solidFill>
                  <a:srgbClr val="0033CC"/>
                </a:solidFill>
              </a:rPr>
              <a:t>或 </a:t>
            </a:r>
            <a:r>
              <a:rPr lang="en-US" altLang="zh-CN" dirty="0">
                <a:solidFill>
                  <a:srgbClr val="0033CC"/>
                </a:solidFill>
              </a:rPr>
              <a:t>internet)</a:t>
            </a:r>
            <a:r>
              <a:rPr lang="zh-CN" altLang="en-US" dirty="0">
                <a:solidFill>
                  <a:srgbClr val="0033CC"/>
                </a:solidFill>
              </a:rPr>
              <a:t>：</a:t>
            </a:r>
            <a:endParaRPr lang="en-US" altLang="zh-CN" dirty="0">
              <a:solidFill>
                <a:srgbClr val="0033CC"/>
              </a:solidFill>
            </a:endParaRPr>
          </a:p>
          <a:p>
            <a:pPr lvl="1"/>
            <a:r>
              <a:rPr lang="zh-CN" altLang="en-US" dirty="0">
                <a:solidFill>
                  <a:srgbClr val="C00000"/>
                </a:solidFill>
              </a:rPr>
              <a:t>多个网络</a:t>
            </a:r>
            <a:r>
              <a:rPr lang="zh-CN" altLang="en-US" dirty="0"/>
              <a:t>通过一些路由器</a:t>
            </a:r>
            <a:r>
              <a:rPr lang="zh-CN" altLang="en-US" dirty="0">
                <a:solidFill>
                  <a:srgbClr val="C00000"/>
                </a:solidFill>
              </a:rPr>
              <a:t>相互连接</a:t>
            </a:r>
            <a:r>
              <a:rPr lang="zh-CN" altLang="en-US" dirty="0"/>
              <a:t>起来，构成了一个覆盖范围更大的计算机网络。</a:t>
            </a:r>
            <a:endParaRPr lang="en-US" altLang="zh-CN" dirty="0"/>
          </a:p>
          <a:p>
            <a:pPr lvl="1"/>
            <a:r>
              <a:rPr lang="zh-CN" altLang="en-US" dirty="0">
                <a:solidFill>
                  <a:srgbClr val="CC00CC"/>
                </a:solidFill>
              </a:rPr>
              <a:t>“网络的网络”</a:t>
            </a:r>
            <a:r>
              <a:rPr lang="en-US" altLang="zh-CN" dirty="0"/>
              <a:t>(network of networks)</a:t>
            </a:r>
            <a:r>
              <a:rPr lang="zh-CN" altLang="en-US" dirty="0"/>
              <a:t>。</a:t>
            </a:r>
          </a:p>
        </p:txBody>
      </p:sp>
      <p:sp>
        <p:nvSpPr>
          <p:cNvPr id="10" name="文本占位符 9"/>
          <p:cNvSpPr>
            <a:spLocks noGrp="1"/>
          </p:cNvSpPr>
          <p:nvPr>
            <p:ph type="body" sz="quarter" idx="11"/>
          </p:nvPr>
        </p:nvSpPr>
        <p:spPr/>
        <p:txBody>
          <a:bodyPr/>
          <a:lstStyle/>
          <a:p>
            <a:r>
              <a:rPr lang="en-US" altLang="zh-CN" dirty="0"/>
              <a:t>1.2.1  </a:t>
            </a:r>
            <a:r>
              <a:rPr lang="zh-CN" altLang="en-US" dirty="0"/>
              <a:t>网络的网络</a:t>
            </a:r>
          </a:p>
        </p:txBody>
      </p:sp>
      <p:sp>
        <p:nvSpPr>
          <p:cNvPr id="7" name="Text Box 1185"/>
          <p:cNvSpPr txBox="1">
            <a:spLocks noChangeArrowheads="1"/>
          </p:cNvSpPr>
          <p:nvPr/>
        </p:nvSpPr>
        <p:spPr bwMode="auto">
          <a:xfrm>
            <a:off x="5404113" y="3818798"/>
            <a:ext cx="2864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600" b="1" dirty="0">
                <a:latin typeface="Times New Roman" pitchFamily="18" charset="0"/>
                <a:ea typeface="微软雅黑" pitchFamily="34" charset="-122"/>
              </a:rPr>
              <a:t>图</a:t>
            </a:r>
            <a:r>
              <a:rPr kumimoji="1" lang="en-US" altLang="zh-CN" sz="1600" b="1" dirty="0">
                <a:latin typeface="Times New Roman" pitchFamily="18" charset="0"/>
                <a:ea typeface="微软雅黑" pitchFamily="34" charset="-122"/>
              </a:rPr>
              <a:t>1-1 (b) </a:t>
            </a:r>
            <a:r>
              <a:rPr kumimoji="1" lang="zh-CN" altLang="en-US" sz="1600" b="1" dirty="0">
                <a:latin typeface="Times New Roman" pitchFamily="18" charset="0"/>
                <a:ea typeface="微软雅黑" pitchFamily="34" charset="-122"/>
              </a:rPr>
              <a:t>由网络构成的互连网</a:t>
            </a:r>
          </a:p>
        </p:txBody>
      </p:sp>
      <p:grpSp>
        <p:nvGrpSpPr>
          <p:cNvPr id="5" name="组合 4"/>
          <p:cNvGrpSpPr/>
          <p:nvPr/>
        </p:nvGrpSpPr>
        <p:grpSpPr>
          <a:xfrm>
            <a:off x="4369194" y="1224482"/>
            <a:ext cx="4408248" cy="2462968"/>
            <a:chOff x="2133597" y="1913604"/>
            <a:chExt cx="4408248" cy="2462968"/>
          </a:xfrm>
        </p:grpSpPr>
        <p:grpSp>
          <p:nvGrpSpPr>
            <p:cNvPr id="61" name="Group 1504"/>
            <p:cNvGrpSpPr>
              <a:grpSpLocks/>
            </p:cNvGrpSpPr>
            <p:nvPr/>
          </p:nvGrpSpPr>
          <p:grpSpPr bwMode="auto">
            <a:xfrm rot="21364930">
              <a:off x="2133597" y="1913604"/>
              <a:ext cx="4408248" cy="2462968"/>
              <a:chOff x="109" y="1226"/>
              <a:chExt cx="2516" cy="1675"/>
            </a:xfrm>
            <a:scene3d>
              <a:camera prst="orthographicFront">
                <a:rot lat="0" lon="0" rev="0"/>
              </a:camera>
              <a:lightRig rig="contrasting" dir="t">
                <a:rot lat="0" lon="0" rev="7800000"/>
              </a:lightRig>
            </a:scene3d>
          </p:grpSpPr>
          <p:grpSp>
            <p:nvGrpSpPr>
              <p:cNvPr id="62" name="Group 1505"/>
              <p:cNvGrpSpPr>
                <a:grpSpLocks/>
              </p:cNvGrpSpPr>
              <p:nvPr/>
            </p:nvGrpSpPr>
            <p:grpSpPr bwMode="auto">
              <a:xfrm>
                <a:off x="109" y="1226"/>
                <a:ext cx="2516" cy="1675"/>
                <a:chOff x="109" y="1226"/>
                <a:chExt cx="2516" cy="1675"/>
              </a:xfrm>
            </p:grpSpPr>
            <p:grpSp>
              <p:nvGrpSpPr>
                <p:cNvPr id="64" name="Group 1506"/>
                <p:cNvGrpSpPr>
                  <a:grpSpLocks/>
                </p:cNvGrpSpPr>
                <p:nvPr/>
              </p:nvGrpSpPr>
              <p:grpSpPr bwMode="auto">
                <a:xfrm>
                  <a:off x="109" y="1226"/>
                  <a:ext cx="2516" cy="1675"/>
                  <a:chOff x="109" y="1226"/>
                  <a:chExt cx="2516" cy="1675"/>
                </a:xfrm>
              </p:grpSpPr>
              <p:sp>
                <p:nvSpPr>
                  <p:cNvPr id="66"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67"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68"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69"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70"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71"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72"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65"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63"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4" name="组合 3"/>
            <p:cNvGrpSpPr/>
            <p:nvPr/>
          </p:nvGrpSpPr>
          <p:grpSpPr>
            <a:xfrm>
              <a:off x="2388737" y="2148716"/>
              <a:ext cx="3733232" cy="2102118"/>
              <a:chOff x="2388737" y="2148716"/>
              <a:chExt cx="3733232" cy="2102118"/>
            </a:xfrm>
          </p:grpSpPr>
          <p:sp>
            <p:nvSpPr>
              <p:cNvPr id="74" name="Line 1481"/>
              <p:cNvSpPr>
                <a:spLocks noChangeShapeType="1"/>
              </p:cNvSpPr>
              <p:nvPr/>
            </p:nvSpPr>
            <p:spPr bwMode="auto">
              <a:xfrm flipH="1">
                <a:off x="4173376" y="3060166"/>
                <a:ext cx="59008" cy="55511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5" name="Line 1480"/>
              <p:cNvSpPr>
                <a:spLocks noChangeShapeType="1"/>
              </p:cNvSpPr>
              <p:nvPr/>
            </p:nvSpPr>
            <p:spPr bwMode="auto">
              <a:xfrm flipH="1" flipV="1">
                <a:off x="3811385" y="2776383"/>
                <a:ext cx="361992" cy="2153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6" name="Line 1296"/>
              <p:cNvSpPr>
                <a:spLocks noChangeShapeType="1"/>
              </p:cNvSpPr>
              <p:nvPr/>
            </p:nvSpPr>
            <p:spPr bwMode="auto">
              <a:xfrm flipH="1" flipV="1">
                <a:off x="3650248" y="3462192"/>
                <a:ext cx="947532" cy="18172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7" name="Line 1297"/>
              <p:cNvSpPr>
                <a:spLocks noChangeShapeType="1"/>
              </p:cNvSpPr>
              <p:nvPr/>
            </p:nvSpPr>
            <p:spPr bwMode="auto">
              <a:xfrm flipV="1">
                <a:off x="3834080" y="2215040"/>
                <a:ext cx="292770" cy="68456"/>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8" name="Line 1440"/>
              <p:cNvSpPr>
                <a:spLocks noChangeShapeType="1"/>
              </p:cNvSpPr>
              <p:nvPr/>
            </p:nvSpPr>
            <p:spPr bwMode="auto">
              <a:xfrm flipH="1">
                <a:off x="3306413" y="2768915"/>
                <a:ext cx="527667" cy="6970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9" name="Line 1443"/>
              <p:cNvSpPr>
                <a:spLocks noChangeShapeType="1"/>
              </p:cNvSpPr>
              <p:nvPr/>
            </p:nvSpPr>
            <p:spPr bwMode="auto">
              <a:xfrm>
                <a:off x="4280574" y="2235496"/>
                <a:ext cx="245612" cy="17210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0" name="Line 1444"/>
              <p:cNvSpPr>
                <a:spLocks noChangeShapeType="1"/>
              </p:cNvSpPr>
              <p:nvPr/>
            </p:nvSpPr>
            <p:spPr bwMode="auto">
              <a:xfrm>
                <a:off x="4807307" y="2519218"/>
                <a:ext cx="551902" cy="5260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1" name="Line 1446"/>
              <p:cNvSpPr>
                <a:spLocks noChangeShapeType="1"/>
              </p:cNvSpPr>
              <p:nvPr/>
            </p:nvSpPr>
            <p:spPr bwMode="auto">
              <a:xfrm>
                <a:off x="4691713" y="2530844"/>
                <a:ext cx="10907" cy="512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2" name="Line 1447"/>
              <p:cNvSpPr>
                <a:spLocks noChangeShapeType="1"/>
              </p:cNvSpPr>
              <p:nvPr/>
            </p:nvSpPr>
            <p:spPr bwMode="auto">
              <a:xfrm flipV="1">
                <a:off x="3823868" y="2422898"/>
                <a:ext cx="773912" cy="32485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3" name="Line 1448"/>
              <p:cNvSpPr>
                <a:spLocks noChangeShapeType="1"/>
              </p:cNvSpPr>
              <p:nvPr/>
            </p:nvSpPr>
            <p:spPr bwMode="auto">
              <a:xfrm>
                <a:off x="3658191" y="2353197"/>
                <a:ext cx="118016" cy="41447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4" name="Line 1449"/>
              <p:cNvSpPr>
                <a:spLocks noChangeShapeType="1"/>
              </p:cNvSpPr>
              <p:nvPr/>
            </p:nvSpPr>
            <p:spPr bwMode="auto">
              <a:xfrm flipV="1">
                <a:off x="4233519" y="3073341"/>
                <a:ext cx="429151" cy="565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5" name="Line 1452"/>
              <p:cNvSpPr>
                <a:spLocks noChangeShapeType="1"/>
              </p:cNvSpPr>
              <p:nvPr/>
            </p:nvSpPr>
            <p:spPr bwMode="auto">
              <a:xfrm flipV="1">
                <a:off x="4765021" y="3045229"/>
                <a:ext cx="536315" cy="130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6" name="Line 1453"/>
              <p:cNvSpPr>
                <a:spLocks noChangeShapeType="1"/>
              </p:cNvSpPr>
              <p:nvPr/>
            </p:nvSpPr>
            <p:spPr bwMode="auto">
              <a:xfrm flipH="1">
                <a:off x="3682122" y="2838616"/>
                <a:ext cx="35077" cy="44558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7" name="Line 1456"/>
              <p:cNvSpPr>
                <a:spLocks noChangeShapeType="1"/>
              </p:cNvSpPr>
              <p:nvPr/>
            </p:nvSpPr>
            <p:spPr bwMode="auto">
              <a:xfrm flipH="1">
                <a:off x="4675605" y="3101161"/>
                <a:ext cx="77316" cy="41008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88" name="Group 1320"/>
              <p:cNvGrpSpPr>
                <a:grpSpLocks/>
              </p:cNvGrpSpPr>
              <p:nvPr/>
            </p:nvGrpSpPr>
            <p:grpSpPr bwMode="auto">
              <a:xfrm>
                <a:off x="3497051" y="2228552"/>
                <a:ext cx="527667" cy="346016"/>
                <a:chOff x="2949" y="196"/>
                <a:chExt cx="941" cy="598"/>
              </a:xfrm>
            </p:grpSpPr>
            <p:sp>
              <p:nvSpPr>
                <p:cNvPr id="195"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6"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7"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8"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9"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00"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01"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02"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03"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04"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05"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89" name="Line 1445"/>
              <p:cNvSpPr>
                <a:spLocks noChangeShapeType="1"/>
              </p:cNvSpPr>
              <p:nvPr/>
            </p:nvSpPr>
            <p:spPr bwMode="auto">
              <a:xfrm flipH="1">
                <a:off x="4761186" y="3129867"/>
                <a:ext cx="585541" cy="4854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90"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87836" y="2668097"/>
                <a:ext cx="341565"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97487" y="3487442"/>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2"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56279" y="2978727"/>
                <a:ext cx="341565"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3"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86498" y="2691567"/>
                <a:ext cx="341566" cy="252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4"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56495" y="2148716"/>
                <a:ext cx="340431"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5"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2536" y="3235663"/>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96" name="Group 1468"/>
              <p:cNvGrpSpPr>
                <a:grpSpLocks/>
              </p:cNvGrpSpPr>
              <p:nvPr/>
            </p:nvGrpSpPr>
            <p:grpSpPr bwMode="auto">
              <a:xfrm rot="20933218">
                <a:off x="3942533" y="2848396"/>
                <a:ext cx="518589" cy="472972"/>
                <a:chOff x="2949" y="196"/>
                <a:chExt cx="941" cy="598"/>
              </a:xfrm>
            </p:grpSpPr>
            <p:sp>
              <p:nvSpPr>
                <p:cNvPr id="184"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5"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6"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7"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8"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9"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0"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1"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2"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93"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94"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97" name="Text Box 1524"/>
              <p:cNvSpPr txBox="1">
                <a:spLocks noChangeArrowheads="1"/>
              </p:cNvSpPr>
              <p:nvPr/>
            </p:nvSpPr>
            <p:spPr bwMode="auto">
              <a:xfrm>
                <a:off x="4040519" y="29392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98" name="Text Box 1524"/>
              <p:cNvSpPr txBox="1">
                <a:spLocks noChangeArrowheads="1"/>
              </p:cNvSpPr>
              <p:nvPr/>
            </p:nvSpPr>
            <p:spPr bwMode="auto">
              <a:xfrm>
                <a:off x="3578016" y="2249726"/>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sp>
            <p:nvSpPr>
              <p:cNvPr id="99" name="Line 1453"/>
              <p:cNvSpPr>
                <a:spLocks noChangeShapeType="1"/>
              </p:cNvSpPr>
              <p:nvPr/>
            </p:nvSpPr>
            <p:spPr bwMode="auto">
              <a:xfrm flipH="1">
                <a:off x="3238781" y="3451217"/>
                <a:ext cx="436948" cy="1733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00" name="Group 1428"/>
              <p:cNvGrpSpPr>
                <a:grpSpLocks/>
              </p:cNvGrpSpPr>
              <p:nvPr/>
            </p:nvGrpSpPr>
            <p:grpSpPr bwMode="auto">
              <a:xfrm rot="20745072">
                <a:off x="3438042" y="3118668"/>
                <a:ext cx="468659" cy="482929"/>
                <a:chOff x="2949" y="196"/>
                <a:chExt cx="941" cy="598"/>
              </a:xfrm>
            </p:grpSpPr>
            <p:sp>
              <p:nvSpPr>
                <p:cNvPr id="17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8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8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8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01" name="Text Box 1524"/>
              <p:cNvSpPr txBox="1">
                <a:spLocks noChangeArrowheads="1"/>
              </p:cNvSpPr>
              <p:nvPr/>
            </p:nvSpPr>
            <p:spPr bwMode="auto">
              <a:xfrm>
                <a:off x="3489503" y="3208298"/>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02" name="Group 198"/>
              <p:cNvGrpSpPr>
                <a:grpSpLocks/>
              </p:cNvGrpSpPr>
              <p:nvPr/>
            </p:nvGrpSpPr>
            <p:grpSpPr bwMode="auto">
              <a:xfrm>
                <a:off x="2972193" y="3488983"/>
                <a:ext cx="381369" cy="419031"/>
                <a:chOff x="975" y="2584"/>
                <a:chExt cx="407" cy="438"/>
              </a:xfrm>
            </p:grpSpPr>
            <p:sp>
              <p:nvSpPr>
                <p:cNvPr id="17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7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3" name="Line 1453"/>
              <p:cNvSpPr>
                <a:spLocks noChangeShapeType="1"/>
              </p:cNvSpPr>
              <p:nvPr/>
            </p:nvSpPr>
            <p:spPr bwMode="auto">
              <a:xfrm flipH="1">
                <a:off x="2656099" y="2887241"/>
                <a:ext cx="511874" cy="1623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04" name="Group 1356"/>
              <p:cNvGrpSpPr>
                <a:grpSpLocks/>
              </p:cNvGrpSpPr>
              <p:nvPr/>
            </p:nvGrpSpPr>
            <p:grpSpPr bwMode="auto">
              <a:xfrm rot="20527939">
                <a:off x="2965494" y="2653873"/>
                <a:ext cx="549228" cy="414472"/>
                <a:chOff x="2949" y="196"/>
                <a:chExt cx="941" cy="598"/>
              </a:xfrm>
            </p:grpSpPr>
            <p:sp>
              <p:nvSpPr>
                <p:cNvPr id="160"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1"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2"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3"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4"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5"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6"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7"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68"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69"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70"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05" name="Text Box 1524"/>
              <p:cNvSpPr txBox="1">
                <a:spLocks noChangeArrowheads="1"/>
              </p:cNvSpPr>
              <p:nvPr/>
            </p:nvSpPr>
            <p:spPr bwMode="auto">
              <a:xfrm>
                <a:off x="3050998" y="271238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06" name="Group 198"/>
              <p:cNvGrpSpPr>
                <a:grpSpLocks/>
              </p:cNvGrpSpPr>
              <p:nvPr/>
            </p:nvGrpSpPr>
            <p:grpSpPr bwMode="auto">
              <a:xfrm>
                <a:off x="2388737" y="2850667"/>
                <a:ext cx="381369" cy="419031"/>
                <a:chOff x="975" y="2584"/>
                <a:chExt cx="407" cy="438"/>
              </a:xfrm>
            </p:grpSpPr>
            <p:sp>
              <p:nvSpPr>
                <p:cNvPr id="15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7" name="Line 1443"/>
              <p:cNvSpPr>
                <a:spLocks noChangeShapeType="1"/>
              </p:cNvSpPr>
              <p:nvPr/>
            </p:nvSpPr>
            <p:spPr bwMode="auto">
              <a:xfrm>
                <a:off x="5422285" y="3146487"/>
                <a:ext cx="441869" cy="31326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08" name="Group 1416"/>
              <p:cNvGrpSpPr>
                <a:grpSpLocks/>
              </p:cNvGrpSpPr>
              <p:nvPr/>
            </p:nvGrpSpPr>
            <p:grpSpPr bwMode="auto">
              <a:xfrm rot="282232">
                <a:off x="5170838" y="2926987"/>
                <a:ext cx="460716" cy="346016"/>
                <a:chOff x="2949" y="196"/>
                <a:chExt cx="941" cy="598"/>
              </a:xfrm>
            </p:grpSpPr>
            <p:sp>
              <p:nvSpPr>
                <p:cNvPr id="147"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48"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49"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0"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1"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2"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3"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4"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5"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56"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57"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09" name="Text Box 1524"/>
              <p:cNvSpPr txBox="1">
                <a:spLocks noChangeArrowheads="1"/>
              </p:cNvSpPr>
              <p:nvPr/>
            </p:nvSpPr>
            <p:spPr bwMode="auto">
              <a:xfrm>
                <a:off x="5226838" y="29344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10" name="Group 198"/>
              <p:cNvGrpSpPr>
                <a:grpSpLocks/>
              </p:cNvGrpSpPr>
              <p:nvPr/>
            </p:nvGrpSpPr>
            <p:grpSpPr bwMode="auto">
              <a:xfrm>
                <a:off x="5740600" y="3297577"/>
                <a:ext cx="381369" cy="419031"/>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11" name="Line 1452"/>
              <p:cNvSpPr>
                <a:spLocks noChangeShapeType="1"/>
              </p:cNvSpPr>
              <p:nvPr/>
            </p:nvSpPr>
            <p:spPr bwMode="auto">
              <a:xfrm flipV="1">
                <a:off x="4824588" y="2393080"/>
                <a:ext cx="532912" cy="10404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12" name="Group 1344"/>
              <p:cNvGrpSpPr>
                <a:grpSpLocks/>
              </p:cNvGrpSpPr>
              <p:nvPr/>
            </p:nvGrpSpPr>
            <p:grpSpPr bwMode="auto">
              <a:xfrm>
                <a:off x="4431781" y="2228552"/>
                <a:ext cx="527667" cy="484173"/>
                <a:chOff x="2949" y="196"/>
                <a:chExt cx="941" cy="598"/>
              </a:xfrm>
            </p:grpSpPr>
            <p:sp>
              <p:nvSpPr>
                <p:cNvPr id="134"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8"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9"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40"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41"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42"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43"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44"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13" name="Text Box 1524"/>
              <p:cNvSpPr txBox="1">
                <a:spLocks noChangeArrowheads="1"/>
              </p:cNvSpPr>
              <p:nvPr/>
            </p:nvSpPr>
            <p:spPr bwMode="auto">
              <a:xfrm>
                <a:off x="4513881" y="231942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14" name="Group 198"/>
              <p:cNvGrpSpPr>
                <a:grpSpLocks/>
              </p:cNvGrpSpPr>
              <p:nvPr/>
            </p:nvGrpSpPr>
            <p:grpSpPr bwMode="auto">
              <a:xfrm>
                <a:off x="5205901" y="2196963"/>
                <a:ext cx="381369" cy="419031"/>
                <a:chOff x="975" y="2584"/>
                <a:chExt cx="407" cy="438"/>
              </a:xfrm>
            </p:grpSpPr>
            <p:sp>
              <p:nvSpPr>
                <p:cNvPr id="13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3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15" name="Line 1443"/>
              <p:cNvSpPr>
                <a:spLocks noChangeShapeType="1"/>
              </p:cNvSpPr>
              <p:nvPr/>
            </p:nvSpPr>
            <p:spPr bwMode="auto">
              <a:xfrm>
                <a:off x="4713558" y="3658367"/>
                <a:ext cx="214291" cy="25538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16" name="Group 198"/>
              <p:cNvGrpSpPr>
                <a:grpSpLocks/>
              </p:cNvGrpSpPr>
              <p:nvPr/>
            </p:nvGrpSpPr>
            <p:grpSpPr bwMode="auto">
              <a:xfrm>
                <a:off x="4726460" y="3831803"/>
                <a:ext cx="381369" cy="419031"/>
                <a:chOff x="975" y="2584"/>
                <a:chExt cx="407" cy="438"/>
              </a:xfrm>
            </p:grpSpPr>
            <p:sp>
              <p:nvSpPr>
                <p:cNvPr id="13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3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17" name="Group 1404"/>
              <p:cNvGrpSpPr>
                <a:grpSpLocks/>
              </p:cNvGrpSpPr>
              <p:nvPr/>
            </p:nvGrpSpPr>
            <p:grpSpPr bwMode="auto">
              <a:xfrm rot="20933218">
                <a:off x="4477820" y="3396224"/>
                <a:ext cx="436886" cy="410739"/>
                <a:chOff x="2949" y="196"/>
                <a:chExt cx="941" cy="598"/>
              </a:xfrm>
            </p:grpSpPr>
            <p:sp>
              <p:nvSpPr>
                <p:cNvPr id="119"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6"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7"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9"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18" name="Text Box 1524"/>
              <p:cNvSpPr txBox="1">
                <a:spLocks noChangeArrowheads="1"/>
              </p:cNvSpPr>
              <p:nvPr/>
            </p:nvSpPr>
            <p:spPr bwMode="auto">
              <a:xfrm>
                <a:off x="4506585" y="3431090"/>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grpSp>
      <p:grpSp>
        <p:nvGrpSpPr>
          <p:cNvPr id="209" name="组合 208"/>
          <p:cNvGrpSpPr/>
          <p:nvPr/>
        </p:nvGrpSpPr>
        <p:grpSpPr>
          <a:xfrm>
            <a:off x="4075877" y="3651844"/>
            <a:ext cx="1223325" cy="943886"/>
            <a:chOff x="178755" y="3409311"/>
            <a:chExt cx="1482726" cy="1402008"/>
          </a:xfrm>
        </p:grpSpPr>
        <p:sp>
          <p:nvSpPr>
            <p:cNvPr id="210" name="Text Box 1482"/>
            <p:cNvSpPr txBox="1">
              <a:spLocks noChangeArrowheads="1"/>
            </p:cNvSpPr>
            <p:nvPr/>
          </p:nvSpPr>
          <p:spPr bwMode="auto">
            <a:xfrm>
              <a:off x="178755" y="3409311"/>
              <a:ext cx="415498"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a:latin typeface="Times New Roman" pitchFamily="18" charset="0"/>
                  <a:ea typeface="微软雅黑" pitchFamily="34" charset="-122"/>
                </a:rPr>
                <a:t>图例</a:t>
              </a:r>
            </a:p>
          </p:txBody>
        </p:sp>
        <p:sp>
          <p:nvSpPr>
            <p:cNvPr id="211" name="Text Box 1484"/>
            <p:cNvSpPr txBox="1">
              <a:spLocks noChangeArrowheads="1"/>
            </p:cNvSpPr>
            <p:nvPr/>
          </p:nvSpPr>
          <p:spPr bwMode="auto">
            <a:xfrm>
              <a:off x="1059818" y="3491862"/>
              <a:ext cx="530915"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计算机</a:t>
              </a:r>
            </a:p>
          </p:txBody>
        </p:sp>
        <p:pic>
          <p:nvPicPr>
            <p:cNvPr id="212" name="Picture 1485"/>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20640517">
              <a:off x="712155" y="3847688"/>
              <a:ext cx="361950"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3" name="Text Box 1486"/>
            <p:cNvSpPr txBox="1">
              <a:spLocks noChangeArrowheads="1"/>
            </p:cNvSpPr>
            <p:nvPr/>
          </p:nvSpPr>
          <p:spPr bwMode="auto">
            <a:xfrm>
              <a:off x="1059818" y="3839977"/>
              <a:ext cx="530915"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集线器</a:t>
              </a:r>
            </a:p>
          </p:txBody>
        </p:sp>
        <p:pic>
          <p:nvPicPr>
            <p:cNvPr id="214" name="Picture 148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0418" y="4224152"/>
              <a:ext cx="2540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5" name="Text Box 1488"/>
            <p:cNvSpPr txBox="1">
              <a:spLocks noChangeArrowheads="1"/>
            </p:cNvSpPr>
            <p:nvPr/>
          </p:nvSpPr>
          <p:spPr bwMode="auto">
            <a:xfrm>
              <a:off x="1059818" y="4195351"/>
              <a:ext cx="530915"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路由器</a:t>
              </a:r>
            </a:p>
          </p:txBody>
        </p:sp>
        <p:pic>
          <p:nvPicPr>
            <p:cNvPr id="216"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40730" y="3477574"/>
              <a:ext cx="319088"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7" name="Rectangle 254"/>
            <p:cNvSpPr>
              <a:spLocks noChangeArrowheads="1"/>
            </p:cNvSpPr>
            <p:nvPr/>
          </p:nvSpPr>
          <p:spPr bwMode="auto">
            <a:xfrm>
              <a:off x="193043" y="3418431"/>
              <a:ext cx="1468438" cy="1392888"/>
            </a:xfrm>
            <a:prstGeom prst="rect">
              <a:avLst/>
            </a:prstGeom>
            <a:noFill/>
            <a:ln w="28575">
              <a:solidFill>
                <a:srgbClr val="368AD6"/>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grpSp>
          <p:nvGrpSpPr>
            <p:cNvPr id="218" name="Group 1356"/>
            <p:cNvGrpSpPr>
              <a:grpSpLocks/>
            </p:cNvGrpSpPr>
            <p:nvPr/>
          </p:nvGrpSpPr>
          <p:grpSpPr bwMode="auto">
            <a:xfrm rot="20527939">
              <a:off x="740202" y="4528170"/>
              <a:ext cx="327628" cy="211123"/>
              <a:chOff x="2949" y="196"/>
              <a:chExt cx="941" cy="598"/>
            </a:xfrm>
            <a:solidFill>
              <a:schemeClr val="bg1"/>
            </a:solidFill>
          </p:grpSpPr>
          <p:sp>
            <p:nvSpPr>
              <p:cNvPr id="220" name="Oval 1357"/>
              <p:cNvSpPr>
                <a:spLocks noChangeArrowheads="1"/>
              </p:cNvSpPr>
              <p:nvPr/>
            </p:nvSpPr>
            <p:spPr bwMode="auto">
              <a:xfrm>
                <a:off x="3168" y="196"/>
                <a:ext cx="407" cy="162"/>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1" name="Oval 1358"/>
              <p:cNvSpPr>
                <a:spLocks noChangeArrowheads="1"/>
              </p:cNvSpPr>
              <p:nvPr/>
            </p:nvSpPr>
            <p:spPr bwMode="auto">
              <a:xfrm rot="900000">
                <a:off x="3512" y="252"/>
                <a:ext cx="275" cy="131"/>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2" name="Oval 1359"/>
              <p:cNvSpPr>
                <a:spLocks noChangeArrowheads="1"/>
              </p:cNvSpPr>
              <p:nvPr/>
            </p:nvSpPr>
            <p:spPr bwMode="auto">
              <a:xfrm rot="1500000">
                <a:off x="3650" y="385"/>
                <a:ext cx="240" cy="153"/>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3" name="Oval 1360"/>
              <p:cNvSpPr>
                <a:spLocks noChangeArrowheads="1"/>
              </p:cNvSpPr>
              <p:nvPr/>
            </p:nvSpPr>
            <p:spPr bwMode="auto">
              <a:xfrm rot="-1560000">
                <a:off x="3573" y="537"/>
                <a:ext cx="291" cy="189"/>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4" name="Oval 1361"/>
              <p:cNvSpPr>
                <a:spLocks noChangeArrowheads="1"/>
              </p:cNvSpPr>
              <p:nvPr/>
            </p:nvSpPr>
            <p:spPr bwMode="auto">
              <a:xfrm>
                <a:off x="3216" y="555"/>
                <a:ext cx="471" cy="239"/>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5" name="Oval 1362"/>
              <p:cNvSpPr>
                <a:spLocks noChangeArrowheads="1"/>
              </p:cNvSpPr>
              <p:nvPr/>
            </p:nvSpPr>
            <p:spPr bwMode="auto">
              <a:xfrm rot="1080000">
                <a:off x="3023" y="555"/>
                <a:ext cx="265" cy="156"/>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6" name="Oval 1363"/>
              <p:cNvSpPr>
                <a:spLocks noChangeArrowheads="1"/>
              </p:cNvSpPr>
              <p:nvPr/>
            </p:nvSpPr>
            <p:spPr bwMode="auto">
              <a:xfrm>
                <a:off x="2949" y="432"/>
                <a:ext cx="217" cy="156"/>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7" name="Oval 1364"/>
              <p:cNvSpPr>
                <a:spLocks noChangeArrowheads="1"/>
              </p:cNvSpPr>
              <p:nvPr/>
            </p:nvSpPr>
            <p:spPr bwMode="auto">
              <a:xfrm rot="-1860000">
                <a:off x="2984" y="310"/>
                <a:ext cx="295" cy="156"/>
              </a:xfrm>
              <a:prstGeom prst="ellipse">
                <a:avLst/>
              </a:prstGeom>
              <a:grpFill/>
              <a:ln w="12700">
                <a:solidFill>
                  <a:srgbClr val="000000"/>
                </a:solidFill>
                <a:round/>
                <a:headEnd/>
                <a:tailEnd/>
              </a:ln>
            </p:spPr>
            <p:txBody>
              <a:bodyPr vert="eaVert" wrap="none" anchor="ctr"/>
              <a:lstStyle/>
              <a:p>
                <a:endParaRPr lang="zh-CN" altLang="en-US" b="1">
                  <a:solidFill>
                    <a:srgbClr val="000000"/>
                  </a:solidFill>
                </a:endParaRPr>
              </a:p>
            </p:txBody>
          </p:sp>
          <p:sp>
            <p:nvSpPr>
              <p:cNvPr id="228"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w="9525">
                <a:solidFill>
                  <a:srgbClr val="000000"/>
                </a:solidFill>
                <a:round/>
                <a:headEnd/>
                <a:tailEnd/>
              </a:ln>
            </p:spPr>
            <p:txBody>
              <a:bodyPr/>
              <a:lstStyle/>
              <a:p>
                <a:endParaRPr lang="zh-CN" altLang="en-US" sz="1600"/>
              </a:p>
            </p:txBody>
          </p:sp>
          <p:sp>
            <p:nvSpPr>
              <p:cNvPr id="229"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w="9525">
                <a:solidFill>
                  <a:srgbClr val="000000"/>
                </a:solidFill>
                <a:round/>
                <a:headEnd/>
                <a:tailEnd/>
              </a:ln>
            </p:spPr>
            <p:txBody>
              <a:bodyPr/>
              <a:lstStyle/>
              <a:p>
                <a:endParaRPr lang="zh-CN" altLang="en-US" sz="1600"/>
              </a:p>
            </p:txBody>
          </p:sp>
          <p:sp>
            <p:nvSpPr>
              <p:cNvPr id="230"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w="9525">
                <a:solidFill>
                  <a:schemeClr val="bg1"/>
                </a:solidFill>
                <a:round/>
                <a:headEnd/>
                <a:tailEnd/>
              </a:ln>
            </p:spPr>
            <p:txBody>
              <a:bodyPr/>
              <a:lstStyle/>
              <a:p>
                <a:endParaRPr lang="zh-CN" altLang="en-US" sz="1600"/>
              </a:p>
            </p:txBody>
          </p:sp>
        </p:grpSp>
        <p:sp>
          <p:nvSpPr>
            <p:cNvPr id="219" name="Text Box 1488"/>
            <p:cNvSpPr txBox="1">
              <a:spLocks noChangeArrowheads="1"/>
            </p:cNvSpPr>
            <p:nvPr/>
          </p:nvSpPr>
          <p:spPr bwMode="auto">
            <a:xfrm>
              <a:off x="1059818" y="4503078"/>
              <a:ext cx="415498"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网络</a:t>
              </a:r>
            </a:p>
          </p:txBody>
        </p:sp>
      </p:grpSp>
    </p:spTree>
    <p:extLst>
      <p:ext uri="{BB962C8B-B14F-4D97-AF65-F5344CB8AC3E}">
        <p14:creationId xmlns:p14="http://schemas.microsoft.com/office/powerpoint/2010/main" val="2588824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0" name="组合 229"/>
          <p:cNvGrpSpPr/>
          <p:nvPr/>
        </p:nvGrpSpPr>
        <p:grpSpPr>
          <a:xfrm>
            <a:off x="567494" y="1376748"/>
            <a:ext cx="3360987" cy="2299844"/>
            <a:chOff x="1998820" y="1760370"/>
            <a:chExt cx="3360987" cy="2299844"/>
          </a:xfrm>
        </p:grpSpPr>
        <p:grpSp>
          <p:nvGrpSpPr>
            <p:cNvPr id="231" name="Group 1282"/>
            <p:cNvGrpSpPr>
              <a:grpSpLocks/>
            </p:cNvGrpSpPr>
            <p:nvPr/>
          </p:nvGrpSpPr>
          <p:grpSpPr bwMode="auto">
            <a:xfrm>
              <a:off x="1998820" y="1760370"/>
              <a:ext cx="3360987" cy="2299844"/>
              <a:chOff x="1680" y="240"/>
              <a:chExt cx="2529" cy="1270"/>
            </a:xfrm>
            <a:scene3d>
              <a:camera prst="orthographicFront">
                <a:rot lat="0" lon="0" rev="0"/>
              </a:camera>
              <a:lightRig rig="contrasting" dir="t">
                <a:rot lat="0" lon="0" rev="7800000"/>
              </a:lightRig>
            </a:scene3d>
          </p:grpSpPr>
          <p:sp>
            <p:nvSpPr>
              <p:cNvPr id="250" name="Oval 1283"/>
              <p:cNvSpPr>
                <a:spLocks noChangeArrowheads="1"/>
              </p:cNvSpPr>
              <p:nvPr/>
            </p:nvSpPr>
            <p:spPr bwMode="auto">
              <a:xfrm>
                <a:off x="2554" y="240"/>
                <a:ext cx="1088"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51" name="Oval 1284"/>
              <p:cNvSpPr>
                <a:spLocks noChangeArrowheads="1"/>
              </p:cNvSpPr>
              <p:nvPr/>
            </p:nvSpPr>
            <p:spPr bwMode="auto">
              <a:xfrm>
                <a:off x="1941" y="381"/>
                <a:ext cx="827"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6" name="Oval 1285"/>
              <p:cNvSpPr>
                <a:spLocks noChangeArrowheads="1"/>
              </p:cNvSpPr>
              <p:nvPr/>
            </p:nvSpPr>
            <p:spPr bwMode="auto">
              <a:xfrm>
                <a:off x="1680" y="702"/>
                <a:ext cx="552" cy="41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7" name="Oval 1286"/>
              <p:cNvSpPr>
                <a:spLocks noChangeArrowheads="1"/>
              </p:cNvSpPr>
              <p:nvPr/>
            </p:nvSpPr>
            <p:spPr bwMode="auto">
              <a:xfrm>
                <a:off x="1849" y="894"/>
                <a:ext cx="842" cy="450"/>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8" name="Oval 1287"/>
              <p:cNvSpPr>
                <a:spLocks noChangeArrowheads="1"/>
              </p:cNvSpPr>
              <p:nvPr/>
            </p:nvSpPr>
            <p:spPr bwMode="auto">
              <a:xfrm>
                <a:off x="2462" y="971"/>
                <a:ext cx="1272" cy="53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9" name="Oval 1288"/>
              <p:cNvSpPr>
                <a:spLocks noChangeArrowheads="1"/>
              </p:cNvSpPr>
              <p:nvPr/>
            </p:nvSpPr>
            <p:spPr bwMode="auto">
              <a:xfrm>
                <a:off x="3289" y="394"/>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80" name="Oval 1289"/>
              <p:cNvSpPr>
                <a:spLocks noChangeArrowheads="1"/>
              </p:cNvSpPr>
              <p:nvPr/>
            </p:nvSpPr>
            <p:spPr bwMode="auto">
              <a:xfrm>
                <a:off x="3412" y="663"/>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81" name="Oval 1290"/>
              <p:cNvSpPr>
                <a:spLocks noChangeArrowheads="1"/>
              </p:cNvSpPr>
              <p:nvPr/>
            </p:nvSpPr>
            <p:spPr bwMode="auto">
              <a:xfrm>
                <a:off x="3335" y="753"/>
                <a:ext cx="797" cy="66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82" name="Oval 1291"/>
              <p:cNvSpPr>
                <a:spLocks noChangeArrowheads="1"/>
              </p:cNvSpPr>
              <p:nvPr/>
            </p:nvSpPr>
            <p:spPr bwMode="auto">
              <a:xfrm>
                <a:off x="2140" y="548"/>
                <a:ext cx="1640" cy="667"/>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232" name="组合 231"/>
            <p:cNvGrpSpPr/>
            <p:nvPr/>
          </p:nvGrpSpPr>
          <p:grpSpPr>
            <a:xfrm>
              <a:off x="2461939" y="2005007"/>
              <a:ext cx="2573344" cy="1809582"/>
              <a:chOff x="1137102" y="1439863"/>
              <a:chExt cx="2573344" cy="1809582"/>
            </a:xfrm>
          </p:grpSpPr>
          <p:sp>
            <p:nvSpPr>
              <p:cNvPr id="235" name="Line 1503"/>
              <p:cNvSpPr>
                <a:spLocks noChangeShapeType="1"/>
              </p:cNvSpPr>
              <p:nvPr/>
            </p:nvSpPr>
            <p:spPr bwMode="auto">
              <a:xfrm flipH="1" flipV="1">
                <a:off x="2711904" y="1747835"/>
                <a:ext cx="828675" cy="11493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36" name="Line 1209"/>
              <p:cNvSpPr>
                <a:spLocks noChangeShapeType="1"/>
              </p:cNvSpPr>
              <p:nvPr/>
            </p:nvSpPr>
            <p:spPr bwMode="auto">
              <a:xfrm flipV="1">
                <a:off x="1399042" y="1747835"/>
                <a:ext cx="1066800" cy="796925"/>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37" name="Line 1204"/>
              <p:cNvSpPr>
                <a:spLocks noChangeShapeType="1"/>
              </p:cNvSpPr>
              <p:nvPr/>
            </p:nvSpPr>
            <p:spPr bwMode="auto">
              <a:xfrm flipV="1">
                <a:off x="2302329" y="1747835"/>
                <a:ext cx="246063" cy="13271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38" name="Group 204"/>
              <p:cNvGrpSpPr>
                <a:grpSpLocks/>
              </p:cNvGrpSpPr>
              <p:nvPr/>
            </p:nvGrpSpPr>
            <p:grpSpPr bwMode="auto">
              <a:xfrm>
                <a:off x="2173744" y="1439863"/>
                <a:ext cx="800099" cy="695325"/>
                <a:chOff x="1148" y="1715"/>
                <a:chExt cx="504" cy="438"/>
              </a:xfrm>
            </p:grpSpPr>
            <p:sp>
              <p:nvSpPr>
                <p:cNvPr id="248" name="Oval 1529"/>
                <p:cNvSpPr>
                  <a:spLocks noChangeArrowheads="1"/>
                </p:cNvSpPr>
                <p:nvPr/>
              </p:nvSpPr>
              <p:spPr bwMode="auto">
                <a:xfrm>
                  <a:off x="1148" y="1715"/>
                  <a:ext cx="504" cy="438"/>
                </a:xfrm>
                <a:prstGeom prst="ellipse">
                  <a:avLst/>
                </a:prstGeom>
                <a:solidFill>
                  <a:schemeClr val="bg1"/>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49" name="Picture 146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640517">
                  <a:off x="1206" y="1813"/>
                  <a:ext cx="401" cy="2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39" name="Group 194"/>
              <p:cNvGrpSpPr>
                <a:grpSpLocks/>
              </p:cNvGrpSpPr>
              <p:nvPr/>
            </p:nvGrpSpPr>
            <p:grpSpPr bwMode="auto">
              <a:xfrm>
                <a:off x="2000702" y="2620229"/>
                <a:ext cx="646113" cy="629216"/>
                <a:chOff x="975" y="2584"/>
                <a:chExt cx="407" cy="438"/>
              </a:xfrm>
            </p:grpSpPr>
            <p:sp>
              <p:nvSpPr>
                <p:cNvPr id="246"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47" name="Picture 193"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40" name="Group 195"/>
              <p:cNvGrpSpPr>
                <a:grpSpLocks/>
              </p:cNvGrpSpPr>
              <p:nvPr/>
            </p:nvGrpSpPr>
            <p:grpSpPr bwMode="auto">
              <a:xfrm>
                <a:off x="1137102" y="2091591"/>
                <a:ext cx="646113" cy="629216"/>
                <a:chOff x="975" y="2584"/>
                <a:chExt cx="407" cy="438"/>
              </a:xfrm>
            </p:grpSpPr>
            <p:sp>
              <p:nvSpPr>
                <p:cNvPr id="24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41" name="Group 198"/>
              <p:cNvGrpSpPr>
                <a:grpSpLocks/>
              </p:cNvGrpSpPr>
              <p:nvPr/>
            </p:nvGrpSpPr>
            <p:grpSpPr bwMode="auto">
              <a:xfrm>
                <a:off x="3064333" y="2404329"/>
                <a:ext cx="646113" cy="629216"/>
                <a:chOff x="975" y="2584"/>
                <a:chExt cx="407" cy="438"/>
              </a:xfrm>
            </p:grpSpPr>
            <p:sp>
              <p:nvSpPr>
                <p:cNvPr id="2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233" name="Text Box 1185"/>
            <p:cNvSpPr txBox="1">
              <a:spLocks noChangeArrowheads="1"/>
            </p:cNvSpPr>
            <p:nvPr/>
          </p:nvSpPr>
          <p:spPr bwMode="auto">
            <a:xfrm>
              <a:off x="4257442" y="2111127"/>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b="1">
                  <a:solidFill>
                    <a:srgbClr val="0000FF"/>
                  </a:solidFill>
                  <a:latin typeface="Times New Roman" pitchFamily="18" charset="0"/>
                  <a:ea typeface="微软雅黑" pitchFamily="34" charset="-122"/>
                </a:defRPr>
              </a:lvl1pPr>
              <a:lvl2pPr marL="742950" indent="-285750"/>
              <a:lvl3pPr marL="1143000" indent="-228600"/>
              <a:lvl4pPr marL="1600200" indent="-228600"/>
              <a:lvl5pPr marL="2057400" indent="-228600"/>
              <a:lvl6pPr marL="2514600" indent="-228600" fontAlgn="base">
                <a:spcBef>
                  <a:spcPct val="0"/>
                </a:spcBef>
                <a:spcAft>
                  <a:spcPct val="0"/>
                </a:spcAft>
              </a:lvl6pPr>
              <a:lvl7pPr marL="2971800" indent="-228600" fontAlgn="base">
                <a:spcBef>
                  <a:spcPct val="0"/>
                </a:spcBef>
                <a:spcAft>
                  <a:spcPct val="0"/>
                </a:spcAft>
              </a:lvl7pPr>
              <a:lvl8pPr marL="3429000" indent="-228600" fontAlgn="base">
                <a:spcBef>
                  <a:spcPct val="0"/>
                </a:spcBef>
                <a:spcAft>
                  <a:spcPct val="0"/>
                </a:spcAft>
              </a:lvl8pPr>
              <a:lvl9pPr marL="3886200" indent="-228600" fontAlgn="base">
                <a:spcBef>
                  <a:spcPct val="0"/>
                </a:spcBef>
                <a:spcAft>
                  <a:spcPct val="0"/>
                </a:spcAft>
              </a:lvl9pPr>
            </a:lstStyle>
            <a:p>
              <a:r>
                <a:rPr lang="zh-CN" altLang="en-US" dirty="0"/>
                <a:t>节点</a:t>
              </a:r>
            </a:p>
          </p:txBody>
        </p:sp>
        <p:sp>
          <p:nvSpPr>
            <p:cNvPr id="234" name="Text Box 1524"/>
            <p:cNvSpPr txBox="1">
              <a:spLocks noChangeArrowheads="1"/>
            </p:cNvSpPr>
            <p:nvPr/>
          </p:nvSpPr>
          <p:spPr bwMode="auto">
            <a:xfrm>
              <a:off x="4333023" y="2548614"/>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链路</a:t>
              </a:r>
            </a:p>
          </p:txBody>
        </p:sp>
      </p:grpSp>
      <p:grpSp>
        <p:nvGrpSpPr>
          <p:cNvPr id="283" name="组合 282"/>
          <p:cNvGrpSpPr/>
          <p:nvPr/>
        </p:nvGrpSpPr>
        <p:grpSpPr>
          <a:xfrm>
            <a:off x="4075626" y="1399800"/>
            <a:ext cx="4408248" cy="2462968"/>
            <a:chOff x="2133597" y="1913604"/>
            <a:chExt cx="4408248" cy="2462968"/>
          </a:xfrm>
        </p:grpSpPr>
        <p:grpSp>
          <p:nvGrpSpPr>
            <p:cNvPr id="284" name="Group 1504"/>
            <p:cNvGrpSpPr>
              <a:grpSpLocks/>
            </p:cNvGrpSpPr>
            <p:nvPr/>
          </p:nvGrpSpPr>
          <p:grpSpPr bwMode="auto">
            <a:xfrm rot="21364930">
              <a:off x="2133597" y="1913604"/>
              <a:ext cx="4408248" cy="2462968"/>
              <a:chOff x="109" y="1226"/>
              <a:chExt cx="2516" cy="1675"/>
            </a:xfrm>
            <a:scene3d>
              <a:camera prst="orthographicFront">
                <a:rot lat="0" lon="0" rev="0"/>
              </a:camera>
              <a:lightRig rig="contrasting" dir="t">
                <a:rot lat="0" lon="0" rev="7800000"/>
              </a:lightRig>
            </a:scene3d>
          </p:grpSpPr>
          <p:grpSp>
            <p:nvGrpSpPr>
              <p:cNvPr id="418" name="Group 1505"/>
              <p:cNvGrpSpPr>
                <a:grpSpLocks/>
              </p:cNvGrpSpPr>
              <p:nvPr/>
            </p:nvGrpSpPr>
            <p:grpSpPr bwMode="auto">
              <a:xfrm>
                <a:off x="109" y="1226"/>
                <a:ext cx="2516" cy="1675"/>
                <a:chOff x="109" y="1226"/>
                <a:chExt cx="2516" cy="1675"/>
              </a:xfrm>
            </p:grpSpPr>
            <p:grpSp>
              <p:nvGrpSpPr>
                <p:cNvPr id="420" name="Group 1506"/>
                <p:cNvGrpSpPr>
                  <a:grpSpLocks/>
                </p:cNvGrpSpPr>
                <p:nvPr/>
              </p:nvGrpSpPr>
              <p:grpSpPr bwMode="auto">
                <a:xfrm>
                  <a:off x="109" y="1226"/>
                  <a:ext cx="2516" cy="1675"/>
                  <a:chOff x="109" y="1226"/>
                  <a:chExt cx="2516" cy="1675"/>
                </a:xfrm>
              </p:grpSpPr>
              <p:sp>
                <p:nvSpPr>
                  <p:cNvPr id="422"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3"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4"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5"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6"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7"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8"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421"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41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285" name="组合 284"/>
            <p:cNvGrpSpPr/>
            <p:nvPr/>
          </p:nvGrpSpPr>
          <p:grpSpPr>
            <a:xfrm>
              <a:off x="2388737" y="2148716"/>
              <a:ext cx="3733232" cy="2102118"/>
              <a:chOff x="2388737" y="2148716"/>
              <a:chExt cx="3733232" cy="2102118"/>
            </a:xfrm>
          </p:grpSpPr>
          <p:sp>
            <p:nvSpPr>
              <p:cNvPr id="286" name="Line 1481"/>
              <p:cNvSpPr>
                <a:spLocks noChangeShapeType="1"/>
              </p:cNvSpPr>
              <p:nvPr/>
            </p:nvSpPr>
            <p:spPr bwMode="auto">
              <a:xfrm flipH="1">
                <a:off x="4173376" y="3060166"/>
                <a:ext cx="59008" cy="55511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7" name="Line 1480"/>
              <p:cNvSpPr>
                <a:spLocks noChangeShapeType="1"/>
              </p:cNvSpPr>
              <p:nvPr/>
            </p:nvSpPr>
            <p:spPr bwMode="auto">
              <a:xfrm flipH="1" flipV="1">
                <a:off x="3811385" y="2776383"/>
                <a:ext cx="361992" cy="2153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8" name="Line 1296"/>
              <p:cNvSpPr>
                <a:spLocks noChangeShapeType="1"/>
              </p:cNvSpPr>
              <p:nvPr/>
            </p:nvSpPr>
            <p:spPr bwMode="auto">
              <a:xfrm flipH="1" flipV="1">
                <a:off x="3650248" y="3462192"/>
                <a:ext cx="947532" cy="18172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9" name="Line 1297"/>
              <p:cNvSpPr>
                <a:spLocks noChangeShapeType="1"/>
              </p:cNvSpPr>
              <p:nvPr/>
            </p:nvSpPr>
            <p:spPr bwMode="auto">
              <a:xfrm flipV="1">
                <a:off x="3834080" y="2215040"/>
                <a:ext cx="292770" cy="68456"/>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0" name="Line 1440"/>
              <p:cNvSpPr>
                <a:spLocks noChangeShapeType="1"/>
              </p:cNvSpPr>
              <p:nvPr/>
            </p:nvSpPr>
            <p:spPr bwMode="auto">
              <a:xfrm flipH="1">
                <a:off x="3306413" y="2768915"/>
                <a:ext cx="527667" cy="6970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1" name="Line 1443"/>
              <p:cNvSpPr>
                <a:spLocks noChangeShapeType="1"/>
              </p:cNvSpPr>
              <p:nvPr/>
            </p:nvSpPr>
            <p:spPr bwMode="auto">
              <a:xfrm>
                <a:off x="4280574" y="2235496"/>
                <a:ext cx="245612" cy="17210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2" name="Line 1444"/>
              <p:cNvSpPr>
                <a:spLocks noChangeShapeType="1"/>
              </p:cNvSpPr>
              <p:nvPr/>
            </p:nvSpPr>
            <p:spPr bwMode="auto">
              <a:xfrm>
                <a:off x="4807307" y="2519218"/>
                <a:ext cx="551902" cy="5260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3" name="Line 1446"/>
              <p:cNvSpPr>
                <a:spLocks noChangeShapeType="1"/>
              </p:cNvSpPr>
              <p:nvPr/>
            </p:nvSpPr>
            <p:spPr bwMode="auto">
              <a:xfrm>
                <a:off x="4691713" y="2530844"/>
                <a:ext cx="10907" cy="512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4" name="Line 1447"/>
              <p:cNvSpPr>
                <a:spLocks noChangeShapeType="1"/>
              </p:cNvSpPr>
              <p:nvPr/>
            </p:nvSpPr>
            <p:spPr bwMode="auto">
              <a:xfrm flipV="1">
                <a:off x="3823868" y="2422898"/>
                <a:ext cx="773912" cy="32485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5" name="Line 1448"/>
              <p:cNvSpPr>
                <a:spLocks noChangeShapeType="1"/>
              </p:cNvSpPr>
              <p:nvPr/>
            </p:nvSpPr>
            <p:spPr bwMode="auto">
              <a:xfrm>
                <a:off x="3658191" y="2353197"/>
                <a:ext cx="118016" cy="41447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6" name="Line 1449"/>
              <p:cNvSpPr>
                <a:spLocks noChangeShapeType="1"/>
              </p:cNvSpPr>
              <p:nvPr/>
            </p:nvSpPr>
            <p:spPr bwMode="auto">
              <a:xfrm flipV="1">
                <a:off x="4233519" y="3073341"/>
                <a:ext cx="429151" cy="565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7" name="Line 1452"/>
              <p:cNvSpPr>
                <a:spLocks noChangeShapeType="1"/>
              </p:cNvSpPr>
              <p:nvPr/>
            </p:nvSpPr>
            <p:spPr bwMode="auto">
              <a:xfrm flipV="1">
                <a:off x="4765021" y="3045229"/>
                <a:ext cx="536315" cy="130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8" name="Line 1453"/>
              <p:cNvSpPr>
                <a:spLocks noChangeShapeType="1"/>
              </p:cNvSpPr>
              <p:nvPr/>
            </p:nvSpPr>
            <p:spPr bwMode="auto">
              <a:xfrm flipH="1">
                <a:off x="3682122" y="2838616"/>
                <a:ext cx="35077" cy="44558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9" name="Line 1456"/>
              <p:cNvSpPr>
                <a:spLocks noChangeShapeType="1"/>
              </p:cNvSpPr>
              <p:nvPr/>
            </p:nvSpPr>
            <p:spPr bwMode="auto">
              <a:xfrm flipH="1">
                <a:off x="4675605" y="3101161"/>
                <a:ext cx="77316" cy="41008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00" name="Group 1320"/>
              <p:cNvGrpSpPr>
                <a:grpSpLocks/>
              </p:cNvGrpSpPr>
              <p:nvPr/>
            </p:nvGrpSpPr>
            <p:grpSpPr bwMode="auto">
              <a:xfrm>
                <a:off x="3497051" y="2228552"/>
                <a:ext cx="527667" cy="346016"/>
                <a:chOff x="2949" y="196"/>
                <a:chExt cx="941" cy="598"/>
              </a:xfrm>
            </p:grpSpPr>
            <p:sp>
              <p:nvSpPr>
                <p:cNvPr id="407"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8"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9"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0"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1"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2"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3"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4"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5"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16"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17"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01" name="Line 1445"/>
              <p:cNvSpPr>
                <a:spLocks noChangeShapeType="1"/>
              </p:cNvSpPr>
              <p:nvPr/>
            </p:nvSpPr>
            <p:spPr bwMode="auto">
              <a:xfrm flipH="1">
                <a:off x="4761186" y="3129867"/>
                <a:ext cx="585541" cy="4854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302"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87836" y="2668097"/>
                <a:ext cx="341565"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3" name="Picture 14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97487" y="3487442"/>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4"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56279" y="2978727"/>
                <a:ext cx="341565"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5" name="Picture 14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6498" y="2691567"/>
                <a:ext cx="341566" cy="252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6"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56495" y="2148716"/>
                <a:ext cx="340431"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 name="Picture 14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32536" y="3235663"/>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08" name="Group 1468"/>
              <p:cNvGrpSpPr>
                <a:grpSpLocks/>
              </p:cNvGrpSpPr>
              <p:nvPr/>
            </p:nvGrpSpPr>
            <p:grpSpPr bwMode="auto">
              <a:xfrm rot="20933218">
                <a:off x="3942533" y="2848396"/>
                <a:ext cx="518589" cy="472972"/>
                <a:chOff x="2949" y="196"/>
                <a:chExt cx="941" cy="598"/>
              </a:xfrm>
            </p:grpSpPr>
            <p:sp>
              <p:nvSpPr>
                <p:cNvPr id="396"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7"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8"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9"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0"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1"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2"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3"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4"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05"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06"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09" name="Text Box 1524"/>
              <p:cNvSpPr txBox="1">
                <a:spLocks noChangeArrowheads="1"/>
              </p:cNvSpPr>
              <p:nvPr/>
            </p:nvSpPr>
            <p:spPr bwMode="auto">
              <a:xfrm>
                <a:off x="4040519" y="29392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310" name="Text Box 1524"/>
              <p:cNvSpPr txBox="1">
                <a:spLocks noChangeArrowheads="1"/>
              </p:cNvSpPr>
              <p:nvPr/>
            </p:nvSpPr>
            <p:spPr bwMode="auto">
              <a:xfrm>
                <a:off x="3578016" y="2249726"/>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sp>
            <p:nvSpPr>
              <p:cNvPr id="311" name="Line 1453"/>
              <p:cNvSpPr>
                <a:spLocks noChangeShapeType="1"/>
              </p:cNvSpPr>
              <p:nvPr/>
            </p:nvSpPr>
            <p:spPr bwMode="auto">
              <a:xfrm flipH="1">
                <a:off x="3238781" y="3451217"/>
                <a:ext cx="436948" cy="1733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12" name="Group 1428"/>
              <p:cNvGrpSpPr>
                <a:grpSpLocks/>
              </p:cNvGrpSpPr>
              <p:nvPr/>
            </p:nvGrpSpPr>
            <p:grpSpPr bwMode="auto">
              <a:xfrm rot="20745072">
                <a:off x="3438042" y="3118668"/>
                <a:ext cx="468659" cy="482929"/>
                <a:chOff x="2949" y="196"/>
                <a:chExt cx="941" cy="598"/>
              </a:xfrm>
            </p:grpSpPr>
            <p:sp>
              <p:nvSpPr>
                <p:cNvPr id="385"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86"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87"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88"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89"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0"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1"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2"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393"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4"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5"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13" name="Text Box 1524"/>
              <p:cNvSpPr txBox="1">
                <a:spLocks noChangeArrowheads="1"/>
              </p:cNvSpPr>
              <p:nvPr/>
            </p:nvSpPr>
            <p:spPr bwMode="auto">
              <a:xfrm>
                <a:off x="3489503" y="3208298"/>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14" name="Group 198"/>
              <p:cNvGrpSpPr>
                <a:grpSpLocks/>
              </p:cNvGrpSpPr>
              <p:nvPr/>
            </p:nvGrpSpPr>
            <p:grpSpPr bwMode="auto">
              <a:xfrm>
                <a:off x="2972193" y="3488983"/>
                <a:ext cx="381369" cy="419031"/>
                <a:chOff x="975" y="2584"/>
                <a:chExt cx="407" cy="438"/>
              </a:xfrm>
            </p:grpSpPr>
            <p:sp>
              <p:nvSpPr>
                <p:cNvPr id="383"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84"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15" name="Line 1453"/>
              <p:cNvSpPr>
                <a:spLocks noChangeShapeType="1"/>
              </p:cNvSpPr>
              <p:nvPr/>
            </p:nvSpPr>
            <p:spPr bwMode="auto">
              <a:xfrm flipH="1">
                <a:off x="2656099" y="2887241"/>
                <a:ext cx="511874" cy="1623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16" name="Group 1356"/>
              <p:cNvGrpSpPr>
                <a:grpSpLocks/>
              </p:cNvGrpSpPr>
              <p:nvPr/>
            </p:nvGrpSpPr>
            <p:grpSpPr bwMode="auto">
              <a:xfrm rot="20527939">
                <a:off x="2965494" y="2653873"/>
                <a:ext cx="549228" cy="414472"/>
                <a:chOff x="2949" y="196"/>
                <a:chExt cx="941" cy="598"/>
              </a:xfrm>
            </p:grpSpPr>
            <p:sp>
              <p:nvSpPr>
                <p:cNvPr id="372"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3"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4"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5"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6"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7"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8"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9"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380"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81"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82"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17" name="Text Box 1524"/>
              <p:cNvSpPr txBox="1">
                <a:spLocks noChangeArrowheads="1"/>
              </p:cNvSpPr>
              <p:nvPr/>
            </p:nvSpPr>
            <p:spPr bwMode="auto">
              <a:xfrm>
                <a:off x="3050998" y="271238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18" name="Group 198"/>
              <p:cNvGrpSpPr>
                <a:grpSpLocks/>
              </p:cNvGrpSpPr>
              <p:nvPr/>
            </p:nvGrpSpPr>
            <p:grpSpPr bwMode="auto">
              <a:xfrm>
                <a:off x="2388737" y="2850667"/>
                <a:ext cx="381369" cy="419031"/>
                <a:chOff x="975" y="2584"/>
                <a:chExt cx="407" cy="438"/>
              </a:xfrm>
            </p:grpSpPr>
            <p:sp>
              <p:nvSpPr>
                <p:cNvPr id="37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71"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19" name="Line 1443"/>
              <p:cNvSpPr>
                <a:spLocks noChangeShapeType="1"/>
              </p:cNvSpPr>
              <p:nvPr/>
            </p:nvSpPr>
            <p:spPr bwMode="auto">
              <a:xfrm>
                <a:off x="5422285" y="3146487"/>
                <a:ext cx="441869" cy="31326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20" name="Group 1416"/>
              <p:cNvGrpSpPr>
                <a:grpSpLocks/>
              </p:cNvGrpSpPr>
              <p:nvPr/>
            </p:nvGrpSpPr>
            <p:grpSpPr bwMode="auto">
              <a:xfrm rot="282232">
                <a:off x="5170838" y="2926987"/>
                <a:ext cx="460716" cy="346016"/>
                <a:chOff x="2949" y="196"/>
                <a:chExt cx="941" cy="598"/>
              </a:xfrm>
            </p:grpSpPr>
            <p:sp>
              <p:nvSpPr>
                <p:cNvPr id="359"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0"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1"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2"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3"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4"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5"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6"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7"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68"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69"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21" name="Text Box 1524"/>
              <p:cNvSpPr txBox="1">
                <a:spLocks noChangeArrowheads="1"/>
              </p:cNvSpPr>
              <p:nvPr/>
            </p:nvSpPr>
            <p:spPr bwMode="auto">
              <a:xfrm>
                <a:off x="5226838" y="29344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22" name="Group 198"/>
              <p:cNvGrpSpPr>
                <a:grpSpLocks/>
              </p:cNvGrpSpPr>
              <p:nvPr/>
            </p:nvGrpSpPr>
            <p:grpSpPr bwMode="auto">
              <a:xfrm>
                <a:off x="5740600" y="3297577"/>
                <a:ext cx="381369" cy="419031"/>
                <a:chOff x="975" y="2584"/>
                <a:chExt cx="407" cy="438"/>
              </a:xfrm>
            </p:grpSpPr>
            <p:sp>
              <p:nvSpPr>
                <p:cNvPr id="3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58"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23" name="Line 1452"/>
              <p:cNvSpPr>
                <a:spLocks noChangeShapeType="1"/>
              </p:cNvSpPr>
              <p:nvPr/>
            </p:nvSpPr>
            <p:spPr bwMode="auto">
              <a:xfrm flipV="1">
                <a:off x="4824588" y="2393080"/>
                <a:ext cx="532912" cy="10404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24" name="Group 1344"/>
              <p:cNvGrpSpPr>
                <a:grpSpLocks/>
              </p:cNvGrpSpPr>
              <p:nvPr/>
            </p:nvGrpSpPr>
            <p:grpSpPr bwMode="auto">
              <a:xfrm>
                <a:off x="4431781" y="2228552"/>
                <a:ext cx="527667" cy="484173"/>
                <a:chOff x="2949" y="196"/>
                <a:chExt cx="941" cy="598"/>
              </a:xfrm>
            </p:grpSpPr>
            <p:sp>
              <p:nvSpPr>
                <p:cNvPr id="346"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47"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48"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49"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50"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51"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52"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53"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54"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55"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56"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25" name="Text Box 1524"/>
              <p:cNvSpPr txBox="1">
                <a:spLocks noChangeArrowheads="1"/>
              </p:cNvSpPr>
              <p:nvPr/>
            </p:nvSpPr>
            <p:spPr bwMode="auto">
              <a:xfrm>
                <a:off x="4513881" y="231942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26" name="Group 198"/>
              <p:cNvGrpSpPr>
                <a:grpSpLocks/>
              </p:cNvGrpSpPr>
              <p:nvPr/>
            </p:nvGrpSpPr>
            <p:grpSpPr bwMode="auto">
              <a:xfrm>
                <a:off x="5205901" y="2196963"/>
                <a:ext cx="381369" cy="419031"/>
                <a:chOff x="975" y="2584"/>
                <a:chExt cx="407" cy="438"/>
              </a:xfrm>
            </p:grpSpPr>
            <p:sp>
              <p:nvSpPr>
                <p:cNvPr id="34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45"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27" name="Line 1443"/>
              <p:cNvSpPr>
                <a:spLocks noChangeShapeType="1"/>
              </p:cNvSpPr>
              <p:nvPr/>
            </p:nvSpPr>
            <p:spPr bwMode="auto">
              <a:xfrm>
                <a:off x="4713558" y="3658367"/>
                <a:ext cx="214291" cy="25538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28" name="Group 198"/>
              <p:cNvGrpSpPr>
                <a:grpSpLocks/>
              </p:cNvGrpSpPr>
              <p:nvPr/>
            </p:nvGrpSpPr>
            <p:grpSpPr bwMode="auto">
              <a:xfrm>
                <a:off x="4726460" y="3831803"/>
                <a:ext cx="381369" cy="419031"/>
                <a:chOff x="975" y="2584"/>
                <a:chExt cx="407" cy="438"/>
              </a:xfrm>
            </p:grpSpPr>
            <p:sp>
              <p:nvSpPr>
                <p:cNvPr id="3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43"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329" name="Group 1404"/>
              <p:cNvGrpSpPr>
                <a:grpSpLocks/>
              </p:cNvGrpSpPr>
              <p:nvPr/>
            </p:nvGrpSpPr>
            <p:grpSpPr bwMode="auto">
              <a:xfrm rot="20933218">
                <a:off x="4477820" y="3396224"/>
                <a:ext cx="436886" cy="410739"/>
                <a:chOff x="2949" y="196"/>
                <a:chExt cx="941" cy="598"/>
              </a:xfrm>
            </p:grpSpPr>
            <p:sp>
              <p:nvSpPr>
                <p:cNvPr id="331"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2"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3"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4"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5"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6"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7"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8"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9"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40"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41"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30" name="Text Box 1524"/>
              <p:cNvSpPr txBox="1">
                <a:spLocks noChangeArrowheads="1"/>
              </p:cNvSpPr>
              <p:nvPr/>
            </p:nvSpPr>
            <p:spPr bwMode="auto">
              <a:xfrm>
                <a:off x="4506585" y="3431090"/>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grpSp>
      <p:sp>
        <p:nvSpPr>
          <p:cNvPr id="4" name="文本占位符 3"/>
          <p:cNvSpPr>
            <a:spLocks noGrp="1"/>
          </p:cNvSpPr>
          <p:nvPr>
            <p:ph type="body" sz="quarter" idx="10"/>
          </p:nvPr>
        </p:nvSpPr>
        <p:spPr/>
        <p:txBody>
          <a:bodyPr/>
          <a:lstStyle/>
          <a:p>
            <a:r>
              <a:rPr lang="zh-CN" altLang="en-US" dirty="0"/>
              <a:t>用“云”表示网络：</a:t>
            </a:r>
            <a:r>
              <a:rPr lang="zh-CN" altLang="en-US" dirty="0">
                <a:solidFill>
                  <a:srgbClr val="FFFF00"/>
                </a:solidFill>
              </a:rPr>
              <a:t>主机在“云”里</a:t>
            </a:r>
          </a:p>
        </p:txBody>
      </p:sp>
    </p:spTree>
    <p:extLst>
      <p:ext uri="{BB962C8B-B14F-4D97-AF65-F5344CB8AC3E}">
        <p14:creationId xmlns:p14="http://schemas.microsoft.com/office/powerpoint/2010/main" val="570861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837224" y="1469260"/>
            <a:ext cx="5091729" cy="2789231"/>
            <a:chOff x="1944797" y="1469260"/>
            <a:chExt cx="5091729" cy="2789231"/>
          </a:xfrm>
        </p:grpSpPr>
        <p:grpSp>
          <p:nvGrpSpPr>
            <p:cNvPr id="15" name="Group 1504"/>
            <p:cNvGrpSpPr>
              <a:grpSpLocks/>
            </p:cNvGrpSpPr>
            <p:nvPr/>
          </p:nvGrpSpPr>
          <p:grpSpPr bwMode="auto">
            <a:xfrm>
              <a:off x="2587241" y="1469260"/>
              <a:ext cx="3787245" cy="2524447"/>
              <a:chOff x="109" y="1226"/>
              <a:chExt cx="2516" cy="1675"/>
            </a:xfrm>
            <a:scene3d>
              <a:camera prst="orthographicFront">
                <a:rot lat="0" lon="0" rev="0"/>
              </a:camera>
              <a:lightRig rig="contrasting" dir="t">
                <a:rot lat="0" lon="0" rev="7800000"/>
              </a:lightRig>
            </a:scene3d>
          </p:grpSpPr>
          <p:grpSp>
            <p:nvGrpSpPr>
              <p:cNvPr id="16" name="Group 1505"/>
              <p:cNvGrpSpPr>
                <a:grpSpLocks/>
              </p:cNvGrpSpPr>
              <p:nvPr/>
            </p:nvGrpSpPr>
            <p:grpSpPr bwMode="auto">
              <a:xfrm>
                <a:off x="109" y="1226"/>
                <a:ext cx="2516" cy="1675"/>
                <a:chOff x="109" y="1226"/>
                <a:chExt cx="2516" cy="1675"/>
              </a:xfrm>
            </p:grpSpPr>
            <p:grpSp>
              <p:nvGrpSpPr>
                <p:cNvPr id="18" name="Group 1506"/>
                <p:cNvGrpSpPr>
                  <a:grpSpLocks/>
                </p:cNvGrpSpPr>
                <p:nvPr/>
              </p:nvGrpSpPr>
              <p:grpSpPr bwMode="auto">
                <a:xfrm>
                  <a:off x="109" y="1226"/>
                  <a:ext cx="2516" cy="1675"/>
                  <a:chOff x="109" y="1226"/>
                  <a:chExt cx="2516" cy="1675"/>
                </a:xfrm>
              </p:grpSpPr>
              <p:sp>
                <p:nvSpPr>
                  <p:cNvPr id="20"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1"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2"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3"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4"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5"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6"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9"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7"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11" name="Line 1453"/>
            <p:cNvSpPr>
              <a:spLocks noChangeShapeType="1"/>
            </p:cNvSpPr>
            <p:nvPr/>
          </p:nvSpPr>
          <p:spPr bwMode="auto">
            <a:xfrm flipH="1">
              <a:off x="2229229" y="2536991"/>
              <a:ext cx="907434"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2" name="Line 1443"/>
            <p:cNvSpPr>
              <a:spLocks noChangeShapeType="1"/>
            </p:cNvSpPr>
            <p:nvPr/>
          </p:nvSpPr>
          <p:spPr bwMode="auto">
            <a:xfrm>
              <a:off x="5734567" y="2749994"/>
              <a:ext cx="1014678" cy="78634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3" name="Line 1452"/>
            <p:cNvSpPr>
              <a:spLocks noChangeShapeType="1"/>
            </p:cNvSpPr>
            <p:nvPr/>
          </p:nvSpPr>
          <p:spPr bwMode="auto">
            <a:xfrm flipV="1">
              <a:off x="5044324" y="1866368"/>
              <a:ext cx="1532263" cy="23713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4" name="Line 1443"/>
            <p:cNvSpPr>
              <a:spLocks noChangeShapeType="1"/>
            </p:cNvSpPr>
            <p:nvPr/>
          </p:nvSpPr>
          <p:spPr bwMode="auto">
            <a:xfrm flipH="1">
              <a:off x="4141598" y="3279132"/>
              <a:ext cx="830808" cy="76014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95" name="Line 1443"/>
            <p:cNvSpPr>
              <a:spLocks noChangeShapeType="1"/>
            </p:cNvSpPr>
            <p:nvPr/>
          </p:nvSpPr>
          <p:spPr bwMode="auto">
            <a:xfrm flipV="1">
              <a:off x="5751228" y="2650297"/>
              <a:ext cx="1055660" cy="8283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 name="组合 1"/>
            <p:cNvGrpSpPr/>
            <p:nvPr/>
          </p:nvGrpSpPr>
          <p:grpSpPr>
            <a:xfrm>
              <a:off x="2668371" y="1727739"/>
              <a:ext cx="3359225" cy="1889284"/>
              <a:chOff x="2826813" y="1437329"/>
              <a:chExt cx="4042416" cy="2405378"/>
            </a:xfrm>
          </p:grpSpPr>
          <p:sp>
            <p:nvSpPr>
              <p:cNvPr id="27"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1"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2"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1"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27684"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5"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6"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7"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8"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8" y="153984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9"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7690" name="Group 1468"/>
              <p:cNvGrpSpPr>
                <a:grpSpLocks/>
              </p:cNvGrpSpPr>
              <p:nvPr/>
            </p:nvGrpSpPr>
            <p:grpSpPr bwMode="auto">
              <a:xfrm rot="20933218">
                <a:off x="4506350" y="2466491"/>
                <a:ext cx="725487" cy="603250"/>
                <a:chOff x="2949" y="196"/>
                <a:chExt cx="941" cy="598"/>
              </a:xfrm>
            </p:grpSpPr>
            <p:sp>
              <p:nvSpPr>
                <p:cNvPr id="27718"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19"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0"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1"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2"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3"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4"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5"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6"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27"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28"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2"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210"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7679" name="Group 1356"/>
              <p:cNvGrpSpPr>
                <a:grpSpLocks/>
              </p:cNvGrpSpPr>
              <p:nvPr/>
            </p:nvGrpSpPr>
            <p:grpSpPr bwMode="auto">
              <a:xfrm rot="20527939">
                <a:off x="3139508" y="2218388"/>
                <a:ext cx="768350" cy="528637"/>
                <a:chOff x="2949" y="196"/>
                <a:chExt cx="941" cy="598"/>
              </a:xfrm>
            </p:grpSpPr>
            <p:sp>
              <p:nvSpPr>
                <p:cNvPr id="27762"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3"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4"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5"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6"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7"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8"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9"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27770"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71"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72"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6"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27678" name="Group 1344"/>
              <p:cNvGrpSpPr>
                <a:grpSpLocks/>
              </p:cNvGrpSpPr>
              <p:nvPr/>
            </p:nvGrpSpPr>
            <p:grpSpPr bwMode="auto">
              <a:xfrm>
                <a:off x="5190791" y="1675914"/>
                <a:ext cx="738187" cy="617537"/>
                <a:chOff x="2949" y="196"/>
                <a:chExt cx="941" cy="598"/>
              </a:xfrm>
            </p:grpSpPr>
            <p:sp>
              <p:nvSpPr>
                <p:cNvPr id="27773"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4"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5"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6"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7"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8"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9"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0"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1"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82"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83"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5"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27682" name="Group 1404"/>
              <p:cNvGrpSpPr>
                <a:grpSpLocks/>
              </p:cNvGrpSpPr>
              <p:nvPr/>
            </p:nvGrpSpPr>
            <p:grpSpPr bwMode="auto">
              <a:xfrm rot="20933218">
                <a:off x="5255197" y="3165217"/>
                <a:ext cx="611187" cy="523875"/>
                <a:chOff x="2949" y="196"/>
                <a:chExt cx="941" cy="598"/>
              </a:xfrm>
            </p:grpSpPr>
            <p:sp>
              <p:nvSpPr>
                <p:cNvPr id="27740"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1"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2"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3"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4"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5"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6"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7"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8"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49"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50"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8"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27683" name="Group 1416"/>
              <p:cNvGrpSpPr>
                <a:grpSpLocks/>
              </p:cNvGrpSpPr>
              <p:nvPr/>
            </p:nvGrpSpPr>
            <p:grpSpPr bwMode="auto">
              <a:xfrm rot="282232">
                <a:off x="6224704" y="2566730"/>
                <a:ext cx="644525" cy="441325"/>
                <a:chOff x="2949" y="196"/>
                <a:chExt cx="941" cy="598"/>
              </a:xfrm>
            </p:grpSpPr>
            <p:sp>
              <p:nvSpPr>
                <p:cNvPr id="27729"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0"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1"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2"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3"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4"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5"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6"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7"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38"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39"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3"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196" name="Line 1453"/>
              <p:cNvSpPr>
                <a:spLocks noChangeShapeType="1"/>
              </p:cNvSpPr>
              <p:nvPr/>
            </p:nvSpPr>
            <p:spPr bwMode="auto">
              <a:xfrm flipH="1" flipV="1">
                <a:off x="2826813" y="1437329"/>
                <a:ext cx="1358429" cy="43670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7677" name="Group 1320"/>
              <p:cNvGrpSpPr>
                <a:grpSpLocks/>
              </p:cNvGrpSpPr>
              <p:nvPr/>
            </p:nvGrpSpPr>
            <p:grpSpPr bwMode="auto">
              <a:xfrm>
                <a:off x="3883138" y="1675914"/>
                <a:ext cx="738187" cy="441325"/>
                <a:chOff x="2949" y="196"/>
                <a:chExt cx="941" cy="598"/>
              </a:xfrm>
            </p:grpSpPr>
            <p:sp>
              <p:nvSpPr>
                <p:cNvPr id="2778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9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9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9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9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9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7"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27680" name="Group 1428"/>
              <p:cNvGrpSpPr>
                <a:grpSpLocks/>
              </p:cNvGrpSpPr>
              <p:nvPr/>
            </p:nvGrpSpPr>
            <p:grpSpPr bwMode="auto">
              <a:xfrm rot="20745072">
                <a:off x="3800586" y="2811209"/>
                <a:ext cx="655637" cy="615950"/>
                <a:chOff x="2949" y="196"/>
                <a:chExt cx="941" cy="598"/>
              </a:xfrm>
            </p:grpSpPr>
            <p:sp>
              <p:nvSpPr>
                <p:cNvPr id="27751"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2"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3"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4"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5"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6"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7"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8"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27759"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60"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61"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4"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97" name="Text Box 1524"/>
            <p:cNvSpPr txBox="1">
              <a:spLocks noChangeArrowheads="1"/>
            </p:cNvSpPr>
            <p:nvPr/>
          </p:nvSpPr>
          <p:spPr bwMode="auto">
            <a:xfrm>
              <a:off x="6585210" y="2857687"/>
              <a:ext cx="451316" cy="2418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主机</a:t>
              </a:r>
            </a:p>
          </p:txBody>
        </p:sp>
        <p:grpSp>
          <p:nvGrpSpPr>
            <p:cNvPr id="200" name="Group 198"/>
            <p:cNvGrpSpPr>
              <a:grpSpLocks/>
            </p:cNvGrpSpPr>
            <p:nvPr/>
          </p:nvGrpSpPr>
          <p:grpSpPr bwMode="auto">
            <a:xfrm>
              <a:off x="2528565" y="3407083"/>
              <a:ext cx="443354" cy="419781"/>
              <a:chOff x="975" y="2584"/>
              <a:chExt cx="407" cy="438"/>
            </a:xfrm>
          </p:grpSpPr>
          <p:sp>
            <p:nvSpPr>
              <p:cNvPr id="20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0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88" name="Group 198"/>
            <p:cNvGrpSpPr>
              <a:grpSpLocks/>
            </p:cNvGrpSpPr>
            <p:nvPr/>
          </p:nvGrpSpPr>
          <p:grpSpPr bwMode="auto">
            <a:xfrm>
              <a:off x="1944797" y="2316570"/>
              <a:ext cx="443354" cy="419781"/>
              <a:chOff x="975" y="2584"/>
              <a:chExt cx="407" cy="438"/>
            </a:xfrm>
          </p:grpSpPr>
          <p:sp>
            <p:nvSpPr>
              <p:cNvPr id="18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9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06" name="Group 198"/>
            <p:cNvGrpSpPr>
              <a:grpSpLocks/>
            </p:cNvGrpSpPr>
            <p:nvPr/>
          </p:nvGrpSpPr>
          <p:grpSpPr bwMode="auto">
            <a:xfrm>
              <a:off x="6354911" y="1642580"/>
              <a:ext cx="443354" cy="419781"/>
              <a:chOff x="975" y="2584"/>
              <a:chExt cx="407" cy="438"/>
            </a:xfrm>
          </p:grpSpPr>
          <p:sp>
            <p:nvSpPr>
              <p:cNvPr id="2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15" name="Group 198"/>
            <p:cNvGrpSpPr>
              <a:grpSpLocks/>
            </p:cNvGrpSpPr>
            <p:nvPr/>
          </p:nvGrpSpPr>
          <p:grpSpPr bwMode="auto">
            <a:xfrm>
              <a:off x="3909107" y="3838710"/>
              <a:ext cx="443354" cy="419781"/>
              <a:chOff x="975" y="2584"/>
              <a:chExt cx="407" cy="438"/>
            </a:xfrm>
          </p:grpSpPr>
          <p:sp>
            <p:nvSpPr>
              <p:cNvPr id="216"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17"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92" name="Group 198"/>
            <p:cNvGrpSpPr>
              <a:grpSpLocks/>
            </p:cNvGrpSpPr>
            <p:nvPr/>
          </p:nvGrpSpPr>
          <p:grpSpPr bwMode="auto">
            <a:xfrm>
              <a:off x="6501622" y="3263500"/>
              <a:ext cx="443354" cy="419781"/>
              <a:chOff x="975" y="2584"/>
              <a:chExt cx="407" cy="438"/>
            </a:xfrm>
          </p:grpSpPr>
          <p:sp>
            <p:nvSpPr>
              <p:cNvPr id="193"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94"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03" name="Group 198"/>
            <p:cNvGrpSpPr>
              <a:grpSpLocks/>
            </p:cNvGrpSpPr>
            <p:nvPr/>
          </p:nvGrpSpPr>
          <p:grpSpPr bwMode="auto">
            <a:xfrm>
              <a:off x="6585210" y="2407614"/>
              <a:ext cx="443354" cy="419781"/>
              <a:chOff x="975" y="2584"/>
              <a:chExt cx="407" cy="438"/>
            </a:xfrm>
          </p:grpSpPr>
          <p:sp>
            <p:nvSpPr>
              <p:cNvPr id="20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0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86" name="Group 198"/>
            <p:cNvGrpSpPr>
              <a:grpSpLocks/>
            </p:cNvGrpSpPr>
            <p:nvPr/>
          </p:nvGrpSpPr>
          <p:grpSpPr bwMode="auto">
            <a:xfrm>
              <a:off x="2349839" y="1522967"/>
              <a:ext cx="443354" cy="419781"/>
              <a:chOff x="975" y="2584"/>
              <a:chExt cx="407" cy="438"/>
            </a:xfrm>
          </p:grpSpPr>
          <p:sp>
            <p:nvSpPr>
              <p:cNvPr id="18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9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3" name="文本占位符 2"/>
          <p:cNvSpPr>
            <a:spLocks noGrp="1"/>
          </p:cNvSpPr>
          <p:nvPr>
            <p:ph type="body" sz="quarter" idx="10"/>
          </p:nvPr>
        </p:nvSpPr>
        <p:spPr/>
        <p:txBody>
          <a:bodyPr/>
          <a:lstStyle/>
          <a:p>
            <a:r>
              <a:rPr lang="zh-CN" altLang="en-US" dirty="0"/>
              <a:t>用“云”表示网络：</a:t>
            </a:r>
            <a:r>
              <a:rPr lang="zh-CN" altLang="en-US" dirty="0">
                <a:solidFill>
                  <a:srgbClr val="FFFF00"/>
                </a:solidFill>
              </a:rPr>
              <a:t>主机在“云”外</a:t>
            </a:r>
          </a:p>
        </p:txBody>
      </p:sp>
    </p:spTree>
    <p:extLst>
      <p:ext uri="{BB962C8B-B14F-4D97-AF65-F5344CB8AC3E}">
        <p14:creationId xmlns:p14="http://schemas.microsoft.com/office/powerpoint/2010/main" val="29987229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3"/>
          <p:cNvSpPr>
            <a:spLocks noChangeArrowheads="1"/>
          </p:cNvSpPr>
          <p:nvPr/>
        </p:nvSpPr>
        <p:spPr bwMode="auto">
          <a:xfrm>
            <a:off x="497958" y="1288874"/>
            <a:ext cx="8088693" cy="1967673"/>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defRPr/>
            </a:pPr>
            <a:endParaRPr lang="zh-CN" altLang="zh-CN" sz="2400" b="1" dirty="0">
              <a:solidFill>
                <a:schemeClr val="bg1"/>
              </a:solidFill>
              <a:latin typeface="微软雅黑" pitchFamily="34" charset="-122"/>
              <a:ea typeface="微软雅黑" pitchFamily="34" charset="-122"/>
            </a:endParaRPr>
          </a:p>
        </p:txBody>
      </p:sp>
      <p:sp>
        <p:nvSpPr>
          <p:cNvPr id="4" name="矩形 3"/>
          <p:cNvSpPr/>
          <p:nvPr/>
        </p:nvSpPr>
        <p:spPr>
          <a:xfrm>
            <a:off x="661851" y="1390536"/>
            <a:ext cx="7752233" cy="1631216"/>
          </a:xfrm>
          <a:prstGeom prst="rect">
            <a:avLst/>
          </a:prstGeom>
        </p:spPr>
        <p:txBody>
          <a:bodyPr wrap="square">
            <a:spAutoFit/>
          </a:bodyPr>
          <a:lstStyle/>
          <a:p>
            <a:pPr marL="342900" indent="-342900" eaLnBrk="0" fontAlgn="auto" hangingPunct="0">
              <a:lnSpc>
                <a:spcPts val="3000"/>
              </a:lnSpc>
              <a:spcBef>
                <a:spcPts val="0"/>
              </a:spcBef>
              <a:spcAft>
                <a:spcPts val="0"/>
              </a:spcAft>
              <a:buFont typeface="Wingdings" panose="05000000000000000000" pitchFamily="2" charset="2"/>
              <a:buChar char="l"/>
            </a:pPr>
            <a:r>
              <a:rPr lang="zh-CN" altLang="en-US" sz="2000" b="1" dirty="0">
                <a:solidFill>
                  <a:srgbClr val="FFFF00"/>
                </a:solidFill>
                <a:latin typeface="微软雅黑" pitchFamily="34" charset="-122"/>
                <a:ea typeface="微软雅黑" pitchFamily="34" charset="-122"/>
              </a:rPr>
              <a:t>网络：</a:t>
            </a:r>
            <a:r>
              <a:rPr lang="zh-CN" altLang="en-US" sz="2000" b="1" dirty="0">
                <a:solidFill>
                  <a:schemeClr val="bg1"/>
                </a:solidFill>
                <a:latin typeface="微软雅黑" pitchFamily="34" charset="-122"/>
                <a:ea typeface="微软雅黑" pitchFamily="34" charset="-122"/>
              </a:rPr>
              <a:t>把许多计算机连接在一起。</a:t>
            </a:r>
            <a:endParaRPr lang="en-US" altLang="zh-CN" sz="2000" b="1" dirty="0">
              <a:solidFill>
                <a:schemeClr val="bg1"/>
              </a:solidFill>
              <a:latin typeface="微软雅黑" pitchFamily="34" charset="-122"/>
              <a:ea typeface="微软雅黑" pitchFamily="34" charset="-122"/>
            </a:endParaRPr>
          </a:p>
          <a:p>
            <a:pPr marL="342900" indent="-342900" eaLnBrk="0" fontAlgn="auto" hangingPunct="0">
              <a:lnSpc>
                <a:spcPts val="3000"/>
              </a:lnSpc>
              <a:spcBef>
                <a:spcPts val="0"/>
              </a:spcBef>
              <a:spcAft>
                <a:spcPts val="0"/>
              </a:spcAft>
              <a:buFont typeface="Wingdings" panose="05000000000000000000" pitchFamily="2" charset="2"/>
              <a:buChar char="l"/>
            </a:pPr>
            <a:r>
              <a:rPr lang="zh-CN" altLang="en-US" sz="2000" b="1" dirty="0">
                <a:solidFill>
                  <a:srgbClr val="FFFF00"/>
                </a:solidFill>
                <a:latin typeface="微软雅黑" pitchFamily="34" charset="-122"/>
                <a:ea typeface="微软雅黑" pitchFamily="34" charset="-122"/>
              </a:rPr>
              <a:t>互连网：</a:t>
            </a:r>
            <a:r>
              <a:rPr lang="zh-CN" altLang="en-US" sz="2000" b="1" dirty="0">
                <a:solidFill>
                  <a:schemeClr val="bg1"/>
                </a:solidFill>
                <a:latin typeface="微软雅黑" pitchFamily="34" charset="-122"/>
                <a:ea typeface="微软雅黑" pitchFamily="34" charset="-122"/>
              </a:rPr>
              <a:t>把许多网络通过一些路由器连接在一起。与网络相连的计算机常称为</a:t>
            </a:r>
            <a:r>
              <a:rPr lang="zh-CN" altLang="en-US" sz="2000" b="1" dirty="0">
                <a:solidFill>
                  <a:srgbClr val="FFC000"/>
                </a:solidFill>
                <a:latin typeface="微软雅黑" pitchFamily="34" charset="-122"/>
                <a:ea typeface="微软雅黑" pitchFamily="34" charset="-122"/>
              </a:rPr>
              <a:t>主机。</a:t>
            </a:r>
            <a:endParaRPr lang="en-US" altLang="zh-CN" sz="2000" b="1" dirty="0">
              <a:solidFill>
                <a:srgbClr val="FFC000"/>
              </a:solidFill>
              <a:latin typeface="微软雅黑" pitchFamily="34" charset="-122"/>
              <a:ea typeface="微软雅黑" pitchFamily="34" charset="-122"/>
            </a:endParaRPr>
          </a:p>
          <a:p>
            <a:pPr marL="342900" indent="-342900" eaLnBrk="0" fontAlgn="auto" hangingPunct="0">
              <a:lnSpc>
                <a:spcPts val="3000"/>
              </a:lnSpc>
              <a:spcBef>
                <a:spcPts val="0"/>
              </a:spcBef>
              <a:spcAft>
                <a:spcPts val="0"/>
              </a:spcAft>
              <a:buFont typeface="Wingdings" panose="05000000000000000000" pitchFamily="2" charset="2"/>
              <a:buChar char="l"/>
            </a:pPr>
            <a:r>
              <a:rPr lang="zh-CN" altLang="en-US" sz="2000" b="1" dirty="0">
                <a:solidFill>
                  <a:schemeClr val="bg1"/>
                </a:solidFill>
                <a:latin typeface="微软雅黑" pitchFamily="34" charset="-122"/>
                <a:ea typeface="微软雅黑" pitchFamily="34" charset="-122"/>
              </a:rPr>
              <a:t>互连网 </a:t>
            </a:r>
            <a:r>
              <a:rPr lang="en-US" altLang="zh-CN" sz="2000" b="1" dirty="0">
                <a:solidFill>
                  <a:schemeClr val="bg1"/>
                </a:solidFill>
                <a:latin typeface="微软雅黑" pitchFamily="34" charset="-122"/>
                <a:ea typeface="微软雅黑" pitchFamily="34" charset="-122"/>
              </a:rPr>
              <a:t>(internet)</a:t>
            </a:r>
            <a:r>
              <a:rPr lang="zh-CN" altLang="en-US" sz="2000" b="1" dirty="0">
                <a:solidFill>
                  <a:schemeClr val="bg1"/>
                </a:solidFill>
                <a:latin typeface="微软雅黑" pitchFamily="34" charset="-122"/>
                <a:ea typeface="微软雅黑" pitchFamily="34" charset="-122"/>
              </a:rPr>
              <a:t> </a:t>
            </a:r>
            <a:r>
              <a:rPr lang="zh-CN" altLang="en-US" sz="2000" b="1" dirty="0">
                <a:solidFill>
                  <a:srgbClr val="FFFF00"/>
                </a:solidFill>
                <a:latin typeface="微软雅黑" pitchFamily="34" charset="-122"/>
                <a:ea typeface="微软雅黑" pitchFamily="34" charset="-122"/>
              </a:rPr>
              <a:t>≠</a:t>
            </a:r>
            <a:r>
              <a:rPr lang="zh-CN" altLang="en-US" sz="2000" b="1" dirty="0">
                <a:solidFill>
                  <a:schemeClr val="bg1"/>
                </a:solidFill>
                <a:latin typeface="微软雅黑" pitchFamily="34" charset="-122"/>
                <a:ea typeface="微软雅黑" pitchFamily="34" charset="-122"/>
              </a:rPr>
              <a:t> 互联网 </a:t>
            </a:r>
            <a:r>
              <a:rPr lang="en-US" altLang="zh-CN" sz="2000" b="1" dirty="0">
                <a:solidFill>
                  <a:schemeClr val="bg1"/>
                </a:solidFill>
                <a:latin typeface="微软雅黑" pitchFamily="34" charset="-122"/>
                <a:ea typeface="微软雅黑" pitchFamily="34" charset="-122"/>
              </a:rPr>
              <a:t>(Internet)</a:t>
            </a:r>
            <a:endParaRPr lang="zh-CN" altLang="zh-CN" sz="2000" b="1" dirty="0">
              <a:solidFill>
                <a:schemeClr val="bg1"/>
              </a:solidFill>
              <a:latin typeface="微软雅黑" pitchFamily="34" charset="-122"/>
              <a:ea typeface="微软雅黑" pitchFamily="34" charset="-122"/>
            </a:endParaRPr>
          </a:p>
        </p:txBody>
      </p:sp>
      <p:sp>
        <p:nvSpPr>
          <p:cNvPr id="2" name="文本占位符 1"/>
          <p:cNvSpPr>
            <a:spLocks noGrp="1"/>
          </p:cNvSpPr>
          <p:nvPr>
            <p:ph type="body" sz="quarter" idx="10"/>
          </p:nvPr>
        </p:nvSpPr>
        <p:spPr/>
        <p:txBody>
          <a:bodyPr/>
          <a:lstStyle/>
          <a:p>
            <a:r>
              <a:rPr lang="zh-CN" altLang="en-US" dirty="0"/>
              <a:t>网络与互连网</a:t>
            </a:r>
          </a:p>
        </p:txBody>
      </p:sp>
    </p:spTree>
    <p:extLst>
      <p:ext uri="{BB962C8B-B14F-4D97-AF65-F5344CB8AC3E}">
        <p14:creationId xmlns:p14="http://schemas.microsoft.com/office/powerpoint/2010/main" val="4155289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0"/>
          </p:nvPr>
        </p:nvSpPr>
        <p:spPr/>
        <p:txBody>
          <a:bodyPr/>
          <a:lstStyle/>
          <a:p>
            <a:r>
              <a:rPr lang="en-US" altLang="zh-CN" dirty="0"/>
              <a:t>1.2.2  </a:t>
            </a:r>
            <a:r>
              <a:rPr lang="zh-CN" altLang="en-US" dirty="0"/>
              <a:t>互联网基础结构发展的三个阶段</a:t>
            </a:r>
          </a:p>
        </p:txBody>
      </p:sp>
      <p:graphicFrame>
        <p:nvGraphicFramePr>
          <p:cNvPr id="7" name="图示 6"/>
          <p:cNvGraphicFramePr/>
          <p:nvPr>
            <p:extLst>
              <p:ext uri="{D42A27DB-BD31-4B8C-83A1-F6EECF244321}">
                <p14:modId xmlns:p14="http://schemas.microsoft.com/office/powerpoint/2010/main" val="1302312913"/>
              </p:ext>
            </p:extLst>
          </p:nvPr>
        </p:nvGraphicFramePr>
        <p:xfrm>
          <a:off x="525103" y="1210493"/>
          <a:ext cx="7991880" cy="27431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973465"/>
            <a:ext cx="5202940" cy="3172691"/>
          </a:xfrm>
        </p:spPr>
        <p:txBody>
          <a:bodyPr/>
          <a:lstStyle/>
          <a:p>
            <a:pPr fontAlgn="auto">
              <a:lnSpc>
                <a:spcPts val="3200"/>
              </a:lnSpc>
              <a:defRPr/>
            </a:pPr>
            <a:r>
              <a:rPr lang="en-US" altLang="zh-CN" dirty="0">
                <a:solidFill>
                  <a:srgbClr val="C00000"/>
                </a:solidFill>
              </a:rPr>
              <a:t>ARPANET</a:t>
            </a:r>
            <a:r>
              <a:rPr lang="zh-CN" altLang="en-US" dirty="0">
                <a:solidFill>
                  <a:srgbClr val="C00000"/>
                </a:solidFill>
              </a:rPr>
              <a:t>：</a:t>
            </a:r>
            <a:r>
              <a:rPr lang="zh-CN" altLang="en-US" dirty="0"/>
              <a:t>最初只是一个单个的分组交换网，</a:t>
            </a:r>
            <a:r>
              <a:rPr lang="zh-CN" altLang="en-US" dirty="0">
                <a:solidFill>
                  <a:srgbClr val="0000CC"/>
                </a:solidFill>
              </a:rPr>
              <a:t>不是</a:t>
            </a:r>
            <a:r>
              <a:rPr lang="zh-CN" altLang="en-US" dirty="0"/>
              <a:t>一个互连网。 </a:t>
            </a:r>
          </a:p>
          <a:p>
            <a:pPr marL="357188" indent="-357188" fontAlgn="auto">
              <a:lnSpc>
                <a:spcPts val="3200"/>
              </a:lnSpc>
              <a:buClr>
                <a:srgbClr val="0070C0"/>
              </a:buClr>
              <a:defRPr/>
            </a:pPr>
            <a:r>
              <a:rPr lang="en-US" altLang="zh-CN" dirty="0"/>
              <a:t>1983 </a:t>
            </a:r>
            <a:r>
              <a:rPr lang="zh-CN" altLang="en-US" dirty="0"/>
              <a:t>年，</a:t>
            </a:r>
            <a:r>
              <a:rPr lang="en-US" altLang="zh-CN" dirty="0">
                <a:solidFill>
                  <a:srgbClr val="C00000"/>
                </a:solidFill>
              </a:rPr>
              <a:t>TCP/IP </a:t>
            </a:r>
            <a:r>
              <a:rPr lang="zh-CN" altLang="en-US" dirty="0">
                <a:solidFill>
                  <a:srgbClr val="C00000"/>
                </a:solidFill>
              </a:rPr>
              <a:t>协议</a:t>
            </a:r>
            <a:r>
              <a:rPr lang="zh-CN" altLang="en-US" dirty="0"/>
              <a:t>成为 </a:t>
            </a:r>
            <a:r>
              <a:rPr lang="en-US" altLang="zh-CN" dirty="0"/>
              <a:t>ARPANET </a:t>
            </a:r>
            <a:r>
              <a:rPr lang="zh-CN" altLang="en-US" dirty="0"/>
              <a:t>上的标准协议，</a:t>
            </a:r>
            <a:r>
              <a:rPr lang="zh-CN" altLang="zh-CN" dirty="0"/>
              <a:t>使得所有使用</a:t>
            </a:r>
            <a:r>
              <a:rPr lang="en-US" altLang="zh-CN" dirty="0"/>
              <a:t> TCP/IP </a:t>
            </a:r>
            <a:r>
              <a:rPr lang="zh-CN" altLang="zh-CN" dirty="0"/>
              <a:t>协议的计算机都能利用互连网相互通信</a:t>
            </a:r>
            <a:r>
              <a:rPr lang="zh-CN" altLang="en-US" dirty="0"/>
              <a:t>。</a:t>
            </a:r>
          </a:p>
          <a:p>
            <a:pPr marL="357188" indent="-357188" fontAlgn="auto">
              <a:lnSpc>
                <a:spcPts val="3200"/>
              </a:lnSpc>
              <a:buClr>
                <a:srgbClr val="0070C0"/>
              </a:buClr>
              <a:defRPr/>
            </a:pPr>
            <a:r>
              <a:rPr lang="zh-CN" altLang="en-US" dirty="0">
                <a:solidFill>
                  <a:srgbClr val="C00000"/>
                </a:solidFill>
              </a:rPr>
              <a:t>人们把 </a:t>
            </a:r>
            <a:r>
              <a:rPr lang="en-US" altLang="zh-CN" dirty="0">
                <a:solidFill>
                  <a:srgbClr val="0000CC"/>
                </a:solidFill>
              </a:rPr>
              <a:t>1983 </a:t>
            </a:r>
            <a:r>
              <a:rPr lang="zh-CN" altLang="en-US" dirty="0">
                <a:solidFill>
                  <a:srgbClr val="0000CC"/>
                </a:solidFill>
              </a:rPr>
              <a:t>年</a:t>
            </a:r>
            <a:r>
              <a:rPr lang="zh-CN" altLang="en-US" dirty="0">
                <a:solidFill>
                  <a:srgbClr val="C00000"/>
                </a:solidFill>
              </a:rPr>
              <a:t>作为互联网的诞生时间。</a:t>
            </a:r>
            <a:endParaRPr lang="en-US" altLang="zh-CN" dirty="0">
              <a:solidFill>
                <a:srgbClr val="C00000"/>
              </a:solidFill>
            </a:endParaRPr>
          </a:p>
          <a:p>
            <a:pPr marL="357188" indent="-357188" fontAlgn="auto">
              <a:lnSpc>
                <a:spcPts val="3200"/>
              </a:lnSpc>
              <a:buClr>
                <a:srgbClr val="0070C0"/>
              </a:buClr>
              <a:defRPr/>
            </a:pPr>
            <a:r>
              <a:rPr lang="en-US" altLang="zh-CN" dirty="0"/>
              <a:t>1990 </a:t>
            </a:r>
            <a:r>
              <a:rPr lang="zh-CN" altLang="zh-CN" dirty="0"/>
              <a:t>年</a:t>
            </a:r>
            <a:r>
              <a:rPr lang="zh-CN" altLang="en-US" dirty="0"/>
              <a:t>，</a:t>
            </a:r>
            <a:r>
              <a:rPr lang="en-US" altLang="zh-CN" dirty="0"/>
              <a:t>ARPANET </a:t>
            </a:r>
            <a:r>
              <a:rPr lang="zh-CN" altLang="zh-CN" dirty="0"/>
              <a:t>正式宣布关闭</a:t>
            </a:r>
            <a:r>
              <a:rPr lang="zh-CN" altLang="en-US" dirty="0"/>
              <a:t>。</a:t>
            </a:r>
            <a:endParaRPr lang="en-US" altLang="zh-CN" dirty="0"/>
          </a:p>
          <a:p>
            <a:pPr>
              <a:lnSpc>
                <a:spcPts val="3200"/>
              </a:lnSpc>
            </a:pPr>
            <a:endParaRPr lang="zh-CN" altLang="en-US" dirty="0"/>
          </a:p>
        </p:txBody>
      </p:sp>
      <p:sp>
        <p:nvSpPr>
          <p:cNvPr id="3" name="文本占位符 2"/>
          <p:cNvSpPr>
            <a:spLocks noGrp="1"/>
          </p:cNvSpPr>
          <p:nvPr>
            <p:ph type="body" sz="quarter" idx="11"/>
          </p:nvPr>
        </p:nvSpPr>
        <p:spPr/>
        <p:txBody>
          <a:bodyPr/>
          <a:lstStyle/>
          <a:p>
            <a:r>
              <a:rPr lang="zh-CN" altLang="en-US" dirty="0"/>
              <a:t>第一阶段：</a:t>
            </a:r>
            <a:r>
              <a:rPr lang="en-US" altLang="zh-CN" dirty="0"/>
              <a:t>1969 – 1990 </a:t>
            </a:r>
            <a:endParaRPr lang="zh-CN" altLang="en-US" dirty="0"/>
          </a:p>
        </p:txBody>
      </p:sp>
      <p:grpSp>
        <p:nvGrpSpPr>
          <p:cNvPr id="36" name="组合 35"/>
          <p:cNvGrpSpPr/>
          <p:nvPr/>
        </p:nvGrpSpPr>
        <p:grpSpPr>
          <a:xfrm>
            <a:off x="5763014" y="1231687"/>
            <a:ext cx="2369638" cy="2239778"/>
            <a:chOff x="5512528" y="1295507"/>
            <a:chExt cx="2369638" cy="2239778"/>
          </a:xfrm>
        </p:grpSpPr>
        <p:sp>
          <p:nvSpPr>
            <p:cNvPr id="2" name="椭圆 1"/>
            <p:cNvSpPr/>
            <p:nvPr/>
          </p:nvSpPr>
          <p:spPr>
            <a:xfrm>
              <a:off x="6584585" y="1295507"/>
              <a:ext cx="444137"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SRI</a:t>
              </a:r>
              <a:endParaRPr lang="zh-CN" altLang="en-US" sz="1600" b="1" dirty="0">
                <a:solidFill>
                  <a:schemeClr val="tx1"/>
                </a:solidFill>
              </a:endParaRPr>
            </a:p>
          </p:txBody>
        </p:sp>
        <p:sp>
          <p:nvSpPr>
            <p:cNvPr id="4" name="椭圆 3"/>
            <p:cNvSpPr/>
            <p:nvPr/>
          </p:nvSpPr>
          <p:spPr>
            <a:xfrm>
              <a:off x="6723923" y="1558834"/>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nvSpPr>
          <p:spPr>
            <a:xfrm>
              <a:off x="6070777" y="2301158"/>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椭圆 6"/>
            <p:cNvSpPr/>
            <p:nvPr/>
          </p:nvSpPr>
          <p:spPr>
            <a:xfrm>
              <a:off x="6723923" y="3043484"/>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椭圆 7"/>
            <p:cNvSpPr/>
            <p:nvPr/>
          </p:nvSpPr>
          <p:spPr>
            <a:xfrm>
              <a:off x="7577367" y="1558834"/>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 name="直接连接符 9"/>
            <p:cNvCxnSpPr>
              <a:stCxn id="4" idx="3"/>
              <a:endCxn id="6" idx="7"/>
            </p:cNvCxnSpPr>
            <p:nvPr/>
          </p:nvCxnSpPr>
          <p:spPr>
            <a:xfrm flipH="1">
              <a:off x="6271475" y="1759532"/>
              <a:ext cx="486882" cy="576060"/>
            </a:xfrm>
            <a:prstGeom prst="line">
              <a:avLst/>
            </a:prstGeom>
            <a:ln w="19050"/>
          </p:spPr>
          <p:style>
            <a:lnRef idx="1">
              <a:schemeClr val="dk1"/>
            </a:lnRef>
            <a:fillRef idx="0">
              <a:schemeClr val="dk1"/>
            </a:fillRef>
            <a:effectRef idx="0">
              <a:schemeClr val="dk1"/>
            </a:effectRef>
            <a:fontRef idx="minor">
              <a:schemeClr val="tx1"/>
            </a:fontRef>
          </p:style>
        </p:cxnSp>
        <p:cxnSp>
          <p:nvCxnSpPr>
            <p:cNvPr id="12" name="直接连接符 11"/>
            <p:cNvCxnSpPr>
              <a:stCxn id="6" idx="5"/>
              <a:endCxn id="7" idx="1"/>
            </p:cNvCxnSpPr>
            <p:nvPr/>
          </p:nvCxnSpPr>
          <p:spPr>
            <a:xfrm>
              <a:off x="6271475" y="2501856"/>
              <a:ext cx="486882" cy="576062"/>
            </a:xfrm>
            <a:prstGeom prst="line">
              <a:avLst/>
            </a:prstGeom>
            <a:ln w="19050"/>
          </p:spPr>
          <p:style>
            <a:lnRef idx="1">
              <a:schemeClr val="dk1"/>
            </a:lnRef>
            <a:fillRef idx="0">
              <a:schemeClr val="dk1"/>
            </a:fillRef>
            <a:effectRef idx="0">
              <a:schemeClr val="dk1"/>
            </a:effectRef>
            <a:fontRef idx="minor">
              <a:schemeClr val="tx1"/>
            </a:fontRef>
          </p:style>
        </p:cxnSp>
        <p:cxnSp>
          <p:nvCxnSpPr>
            <p:cNvPr id="15" name="直接连接符 14"/>
            <p:cNvCxnSpPr>
              <a:stCxn id="8" idx="2"/>
              <a:endCxn id="4" idx="6"/>
            </p:cNvCxnSpPr>
            <p:nvPr/>
          </p:nvCxnSpPr>
          <p:spPr>
            <a:xfrm flipH="1">
              <a:off x="6959055" y="1676400"/>
              <a:ext cx="618312"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8" name="直接连接符 17"/>
            <p:cNvCxnSpPr>
              <a:stCxn id="7" idx="0"/>
              <a:endCxn id="4" idx="4"/>
            </p:cNvCxnSpPr>
            <p:nvPr/>
          </p:nvCxnSpPr>
          <p:spPr>
            <a:xfrm flipV="1">
              <a:off x="6841489" y="1793966"/>
              <a:ext cx="0" cy="1249518"/>
            </a:xfrm>
            <a:prstGeom prst="line">
              <a:avLst/>
            </a:prstGeom>
            <a:ln w="19050"/>
          </p:spPr>
          <p:style>
            <a:lnRef idx="1">
              <a:schemeClr val="dk1"/>
            </a:lnRef>
            <a:fillRef idx="0">
              <a:schemeClr val="dk1"/>
            </a:fillRef>
            <a:effectRef idx="0">
              <a:schemeClr val="dk1"/>
            </a:effectRef>
            <a:fontRef idx="minor">
              <a:schemeClr val="tx1"/>
            </a:fontRef>
          </p:style>
        </p:cxnSp>
        <p:sp>
          <p:nvSpPr>
            <p:cNvPr id="21" name="椭圆 20"/>
            <p:cNvSpPr/>
            <p:nvPr/>
          </p:nvSpPr>
          <p:spPr>
            <a:xfrm>
              <a:off x="5512528" y="2271404"/>
              <a:ext cx="570416"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UCSB</a:t>
              </a:r>
              <a:endParaRPr lang="zh-CN" altLang="en-US" sz="1600" b="1" dirty="0">
                <a:solidFill>
                  <a:schemeClr val="tx1"/>
                </a:solidFill>
              </a:endParaRPr>
            </a:p>
          </p:txBody>
        </p:sp>
        <p:sp>
          <p:nvSpPr>
            <p:cNvPr id="22" name="椭圆 21"/>
            <p:cNvSpPr/>
            <p:nvPr/>
          </p:nvSpPr>
          <p:spPr>
            <a:xfrm>
              <a:off x="6564990" y="3240644"/>
              <a:ext cx="570416"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UCLA</a:t>
              </a:r>
              <a:endParaRPr lang="zh-CN" altLang="en-US" sz="1600" b="1" dirty="0">
                <a:solidFill>
                  <a:schemeClr val="tx1"/>
                </a:solidFill>
              </a:endParaRPr>
            </a:p>
          </p:txBody>
        </p:sp>
        <p:sp>
          <p:nvSpPr>
            <p:cNvPr id="23" name="椭圆 22"/>
            <p:cNvSpPr/>
            <p:nvPr/>
          </p:nvSpPr>
          <p:spPr>
            <a:xfrm>
              <a:off x="7438029" y="1295507"/>
              <a:ext cx="444137"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UTAH</a:t>
              </a:r>
              <a:endParaRPr lang="zh-CN" altLang="en-US" sz="1600" b="1" dirty="0">
                <a:solidFill>
                  <a:schemeClr val="tx1"/>
                </a:solidFill>
              </a:endParaRPr>
            </a:p>
          </p:txBody>
        </p:sp>
      </p:grpSp>
      <p:sp>
        <p:nvSpPr>
          <p:cNvPr id="37" name="矩形 36"/>
          <p:cNvSpPr/>
          <p:nvPr/>
        </p:nvSpPr>
        <p:spPr>
          <a:xfrm>
            <a:off x="6099319" y="3464914"/>
            <a:ext cx="227748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kumimoji="1" lang="en-US" altLang="zh-CN" sz="1600" b="1" dirty="0">
                <a:latin typeface="微软雅黑" panose="020B0503020204020204" pitchFamily="34" charset="-122"/>
                <a:ea typeface="微软雅黑" panose="020B0503020204020204" pitchFamily="34" charset="-122"/>
              </a:rPr>
              <a:t>1969 </a:t>
            </a:r>
            <a:r>
              <a:rPr kumimoji="1" lang="zh-CN" altLang="en-US" sz="1600" b="1" dirty="0">
                <a:latin typeface="微软雅黑" panose="020B0503020204020204" pitchFamily="34" charset="-122"/>
                <a:ea typeface="微软雅黑" panose="020B0503020204020204" pitchFamily="34" charset="-122"/>
              </a:rPr>
              <a:t>年的 </a:t>
            </a:r>
            <a:r>
              <a:rPr kumimoji="1" lang="en-US" altLang="zh-CN" sz="1600" b="1" dirty="0">
                <a:latin typeface="微软雅黑" panose="020B0503020204020204" pitchFamily="34" charset="-122"/>
                <a:ea typeface="微软雅黑" panose="020B0503020204020204" pitchFamily="34" charset="-122"/>
              </a:rPr>
              <a:t>ARPANET </a:t>
            </a:r>
            <a:endParaRPr kumimoji="1" lang="zh-CN" altLang="en-US"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890282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963554"/>
            <a:ext cx="3990407" cy="3172691"/>
          </a:xfrm>
        </p:spPr>
        <p:txBody>
          <a:bodyPr/>
          <a:lstStyle/>
          <a:p>
            <a:pPr fontAlgn="auto">
              <a:lnSpc>
                <a:spcPts val="3200"/>
              </a:lnSpc>
              <a:defRPr/>
            </a:pPr>
            <a:r>
              <a:rPr lang="zh-CN" altLang="en-US" dirty="0"/>
              <a:t>国家科学基金网 </a:t>
            </a:r>
            <a:r>
              <a:rPr lang="en-US" altLang="zh-CN" dirty="0"/>
              <a:t>NSFNET</a:t>
            </a:r>
            <a:r>
              <a:rPr lang="zh-CN" altLang="en-US" dirty="0"/>
              <a:t>。</a:t>
            </a:r>
            <a:endParaRPr lang="en-US" altLang="zh-CN" dirty="0"/>
          </a:p>
          <a:p>
            <a:pPr fontAlgn="auto">
              <a:lnSpc>
                <a:spcPts val="3200"/>
              </a:lnSpc>
              <a:defRPr/>
            </a:pPr>
            <a:r>
              <a:rPr lang="zh-CN" altLang="en-US" dirty="0">
                <a:solidFill>
                  <a:srgbClr val="C00000"/>
                </a:solidFill>
              </a:rPr>
              <a:t>三级结构：</a:t>
            </a:r>
            <a:r>
              <a:rPr lang="zh-CN" altLang="en-US" dirty="0"/>
              <a:t>主干网、地区网和校园网（或企业网）。</a:t>
            </a:r>
            <a:endParaRPr lang="en-US" altLang="zh-CN" dirty="0"/>
          </a:p>
          <a:p>
            <a:pPr fontAlgn="auto">
              <a:lnSpc>
                <a:spcPts val="3200"/>
              </a:lnSpc>
              <a:defRPr/>
            </a:pPr>
            <a:r>
              <a:rPr lang="zh-CN" altLang="en-US" dirty="0"/>
              <a:t>覆盖了全美国主要的大学和研究所，并且成为互联网中的主要组成部分。</a:t>
            </a:r>
            <a:endParaRPr lang="en-US" altLang="zh-CN" dirty="0"/>
          </a:p>
          <a:p>
            <a:pPr>
              <a:lnSpc>
                <a:spcPts val="3200"/>
              </a:lnSpc>
            </a:pPr>
            <a:endParaRPr lang="zh-CN" altLang="en-US" dirty="0"/>
          </a:p>
        </p:txBody>
      </p:sp>
      <p:sp>
        <p:nvSpPr>
          <p:cNvPr id="3" name="文本占位符 2"/>
          <p:cNvSpPr>
            <a:spLocks noGrp="1"/>
          </p:cNvSpPr>
          <p:nvPr>
            <p:ph type="body" sz="quarter" idx="11"/>
          </p:nvPr>
        </p:nvSpPr>
        <p:spPr/>
        <p:txBody>
          <a:bodyPr/>
          <a:lstStyle/>
          <a:p>
            <a:r>
              <a:rPr lang="zh-CN" altLang="en-US" dirty="0"/>
              <a:t>第二阶段：</a:t>
            </a:r>
            <a:r>
              <a:rPr lang="en-US" altLang="zh-CN" dirty="0"/>
              <a:t>1985 – 1993 </a:t>
            </a:r>
            <a:endParaRPr lang="zh-CN" altLang="en-US" dirty="0"/>
          </a:p>
        </p:txBody>
      </p:sp>
      <p:grpSp>
        <p:nvGrpSpPr>
          <p:cNvPr id="4" name="组合 96"/>
          <p:cNvGrpSpPr>
            <a:grpSpLocks/>
          </p:cNvGrpSpPr>
          <p:nvPr/>
        </p:nvGrpSpPr>
        <p:grpSpPr bwMode="auto">
          <a:xfrm>
            <a:off x="4298722" y="1252665"/>
            <a:ext cx="4414878" cy="2319685"/>
            <a:chOff x="1526812" y="3062631"/>
            <a:chExt cx="6236139" cy="2752192"/>
          </a:xfrm>
        </p:grpSpPr>
        <p:cxnSp>
          <p:nvCxnSpPr>
            <p:cNvPr id="6" name="直接连接符 83"/>
            <p:cNvCxnSpPr>
              <a:cxnSpLocks noChangeShapeType="1"/>
            </p:cNvCxnSpPr>
            <p:nvPr/>
          </p:nvCxnSpPr>
          <p:spPr bwMode="auto">
            <a:xfrm flipH="1">
              <a:off x="6189663" y="4492436"/>
              <a:ext cx="334962" cy="8842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7" name="直接连接符 5"/>
            <p:cNvCxnSpPr>
              <a:cxnSpLocks noChangeShapeType="1"/>
            </p:cNvCxnSpPr>
            <p:nvPr/>
          </p:nvCxnSpPr>
          <p:spPr bwMode="auto">
            <a:xfrm flipH="1">
              <a:off x="3155950" y="3458973"/>
              <a:ext cx="1058862"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8" name="直接连接符 6"/>
            <p:cNvCxnSpPr>
              <a:cxnSpLocks noChangeShapeType="1"/>
            </p:cNvCxnSpPr>
            <p:nvPr/>
          </p:nvCxnSpPr>
          <p:spPr bwMode="auto">
            <a:xfrm flipH="1">
              <a:off x="4162425" y="3458973"/>
              <a:ext cx="403225" cy="9842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9" name="直接连接符 7"/>
            <p:cNvCxnSpPr>
              <a:cxnSpLocks noChangeShapeType="1"/>
            </p:cNvCxnSpPr>
            <p:nvPr/>
          </p:nvCxnSpPr>
          <p:spPr bwMode="auto">
            <a:xfrm>
              <a:off x="5087938" y="3458973"/>
              <a:ext cx="1241425"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10"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41700" y="36669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1" name="直接连接符 83"/>
            <p:cNvCxnSpPr>
              <a:cxnSpLocks noChangeShapeType="1"/>
            </p:cNvCxnSpPr>
            <p:nvPr/>
          </p:nvCxnSpPr>
          <p:spPr bwMode="auto">
            <a:xfrm flipH="1">
              <a:off x="2001838" y="4519423"/>
              <a:ext cx="484187" cy="854075"/>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2" name="直接连接符 67"/>
            <p:cNvCxnSpPr>
              <a:cxnSpLocks noChangeShapeType="1"/>
            </p:cNvCxnSpPr>
            <p:nvPr/>
          </p:nvCxnSpPr>
          <p:spPr bwMode="auto">
            <a:xfrm>
              <a:off x="4211638"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3" name="直接连接符 37"/>
            <p:cNvCxnSpPr>
              <a:cxnSpLocks noChangeShapeType="1"/>
            </p:cNvCxnSpPr>
            <p:nvPr/>
          </p:nvCxnSpPr>
          <p:spPr bwMode="auto">
            <a:xfrm>
              <a:off x="6632575" y="4443223"/>
              <a:ext cx="631032" cy="8953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grpSp>
          <p:nvGrpSpPr>
            <p:cNvPr id="14" name="Group 194"/>
            <p:cNvGrpSpPr>
              <a:grpSpLocks/>
            </p:cNvGrpSpPr>
            <p:nvPr/>
          </p:nvGrpSpPr>
          <p:grpSpPr bwMode="auto">
            <a:xfrm>
              <a:off x="5795963" y="5338573"/>
              <a:ext cx="860425" cy="476250"/>
              <a:chOff x="2569" y="3268"/>
              <a:chExt cx="542" cy="300"/>
            </a:xfrm>
            <a:solidFill>
              <a:srgbClr val="0070C0"/>
            </a:solidFill>
          </p:grpSpPr>
          <p:sp>
            <p:nvSpPr>
              <p:cNvPr id="87"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8"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9"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0"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1"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2"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3"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4"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5"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6"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7"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sp>
          <p:nvSpPr>
            <p:cNvPr id="15" name="Oval 187"/>
            <p:cNvSpPr>
              <a:spLocks noChangeArrowheads="1"/>
            </p:cNvSpPr>
            <p:nvPr/>
          </p:nvSpPr>
          <p:spPr bwMode="auto">
            <a:xfrm>
              <a:off x="4003676" y="3062631"/>
              <a:ext cx="1177924" cy="516612"/>
            </a:xfrm>
            <a:prstGeom prst="ellipse">
              <a:avLst/>
            </a:prstGeom>
            <a:solidFill>
              <a:srgbClr val="368AD6"/>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16" name="Text Box 1524"/>
            <p:cNvSpPr txBox="1">
              <a:spLocks noChangeArrowheads="1"/>
            </p:cNvSpPr>
            <p:nvPr/>
          </p:nvSpPr>
          <p:spPr bwMode="auto">
            <a:xfrm>
              <a:off x="4082320" y="3124067"/>
              <a:ext cx="1021646" cy="365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solidFill>
                    <a:schemeClr val="bg1"/>
                  </a:solidFill>
                  <a:latin typeface="Times New Roman" pitchFamily="18" charset="0"/>
                  <a:ea typeface="微软雅黑" pitchFamily="34" charset="-122"/>
                </a:rPr>
                <a:t>主干网</a:t>
              </a:r>
            </a:p>
          </p:txBody>
        </p:sp>
        <p:pic>
          <p:nvPicPr>
            <p:cNvPr id="17"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2425" y="373202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1963" y="36494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9" name="Group 195"/>
            <p:cNvGrpSpPr>
              <a:grpSpLocks/>
            </p:cNvGrpSpPr>
            <p:nvPr/>
          </p:nvGrpSpPr>
          <p:grpSpPr bwMode="auto">
            <a:xfrm>
              <a:off x="6877050" y="5338573"/>
              <a:ext cx="860425" cy="476250"/>
              <a:chOff x="2569" y="3268"/>
              <a:chExt cx="542" cy="300"/>
            </a:xfrm>
            <a:solidFill>
              <a:srgbClr val="0070C0"/>
            </a:solidFill>
          </p:grpSpPr>
          <p:sp>
            <p:nvSpPr>
              <p:cNvPr id="76"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7"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8"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9"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0"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1"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2"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3"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4"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5"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6"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0" name="Group 207"/>
            <p:cNvGrpSpPr>
              <a:grpSpLocks/>
            </p:cNvGrpSpPr>
            <p:nvPr/>
          </p:nvGrpSpPr>
          <p:grpSpPr bwMode="auto">
            <a:xfrm>
              <a:off x="3990975" y="5338573"/>
              <a:ext cx="860425" cy="476250"/>
              <a:chOff x="2569" y="3268"/>
              <a:chExt cx="542" cy="300"/>
            </a:xfrm>
            <a:solidFill>
              <a:srgbClr val="0070C0"/>
            </a:solidFill>
          </p:grpSpPr>
          <p:sp>
            <p:nvSpPr>
              <p:cNvPr id="65"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6"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7"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8"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9"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0"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1"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2"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3"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4"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5"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1" name="Group 231"/>
            <p:cNvGrpSpPr>
              <a:grpSpLocks/>
            </p:cNvGrpSpPr>
            <p:nvPr/>
          </p:nvGrpSpPr>
          <p:grpSpPr bwMode="auto">
            <a:xfrm>
              <a:off x="1547813" y="5338573"/>
              <a:ext cx="860425" cy="476250"/>
              <a:chOff x="2569" y="3268"/>
              <a:chExt cx="542" cy="300"/>
            </a:xfrm>
            <a:solidFill>
              <a:srgbClr val="0070C0"/>
            </a:solidFill>
          </p:grpSpPr>
          <p:sp>
            <p:nvSpPr>
              <p:cNvPr id="54"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5"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6"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7"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8"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9"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0"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1"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2"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3"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4"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pic>
          <p:nvPicPr>
            <p:cNvPr id="2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51050"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00513" y="47972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2200" y="4763898"/>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70688"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6" name="Group 248"/>
            <p:cNvGrpSpPr>
              <a:grpSpLocks/>
            </p:cNvGrpSpPr>
            <p:nvPr/>
          </p:nvGrpSpPr>
          <p:grpSpPr bwMode="auto">
            <a:xfrm>
              <a:off x="3708400" y="4195573"/>
              <a:ext cx="1089025" cy="479425"/>
              <a:chOff x="642" y="2212"/>
              <a:chExt cx="686" cy="302"/>
            </a:xfrm>
            <a:effectLst/>
            <a:scene3d>
              <a:camera prst="orthographicFront">
                <a:rot lat="0" lon="0" rev="0"/>
              </a:camera>
              <a:lightRig rig="balanced" dir="t">
                <a:rot lat="0" lon="0" rev="8700000"/>
              </a:lightRig>
            </a:scene3d>
          </p:grpSpPr>
          <p:sp>
            <p:nvSpPr>
              <p:cNvPr id="52" name="Oval 249"/>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3" name="Text Box 1524"/>
              <p:cNvSpPr txBox="1">
                <a:spLocks noChangeArrowheads="1"/>
              </p:cNvSpPr>
              <p:nvPr/>
            </p:nvSpPr>
            <p:spPr bwMode="auto">
              <a:xfrm>
                <a:off x="665"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grpSp>
          <p:nvGrpSpPr>
            <p:cNvPr id="27" name="Group 251"/>
            <p:cNvGrpSpPr>
              <a:grpSpLocks/>
            </p:cNvGrpSpPr>
            <p:nvPr/>
          </p:nvGrpSpPr>
          <p:grpSpPr bwMode="auto">
            <a:xfrm>
              <a:off x="6011863" y="4039998"/>
              <a:ext cx="1089025" cy="479425"/>
              <a:chOff x="642" y="2212"/>
              <a:chExt cx="686" cy="302"/>
            </a:xfrm>
            <a:effectLst/>
            <a:scene3d>
              <a:camera prst="orthographicFront">
                <a:rot lat="0" lon="0" rev="0"/>
              </a:camera>
              <a:lightRig rig="balanced" dir="t">
                <a:rot lat="0" lon="0" rev="8700000"/>
              </a:lightRig>
            </a:scene3d>
          </p:grpSpPr>
          <p:sp>
            <p:nvSpPr>
              <p:cNvPr id="50" name="Oval 252"/>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1" name="Text Box 1524"/>
              <p:cNvSpPr txBox="1">
                <a:spLocks noChangeArrowheads="1"/>
              </p:cNvSpPr>
              <p:nvPr/>
            </p:nvSpPr>
            <p:spPr bwMode="auto">
              <a:xfrm>
                <a:off x="671"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cxnSp>
          <p:nvCxnSpPr>
            <p:cNvPr id="28" name="直接连接符 67"/>
            <p:cNvCxnSpPr>
              <a:cxnSpLocks noChangeShapeType="1"/>
            </p:cNvCxnSpPr>
            <p:nvPr/>
          </p:nvCxnSpPr>
          <p:spPr bwMode="auto">
            <a:xfrm>
              <a:off x="2882900"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29"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71775" y="47416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0" name="Group 219"/>
            <p:cNvGrpSpPr>
              <a:grpSpLocks/>
            </p:cNvGrpSpPr>
            <p:nvPr/>
          </p:nvGrpSpPr>
          <p:grpSpPr bwMode="auto">
            <a:xfrm>
              <a:off x="2700338" y="5338573"/>
              <a:ext cx="860425" cy="476250"/>
              <a:chOff x="2569" y="3268"/>
              <a:chExt cx="542" cy="300"/>
            </a:xfrm>
            <a:solidFill>
              <a:srgbClr val="0070C0"/>
            </a:solidFill>
          </p:grpSpPr>
          <p:sp>
            <p:nvSpPr>
              <p:cNvPr id="39"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0"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1"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2"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3"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4"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5"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6"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7"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8"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9"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31" name="Group 190"/>
            <p:cNvGrpSpPr>
              <a:grpSpLocks/>
            </p:cNvGrpSpPr>
            <p:nvPr/>
          </p:nvGrpSpPr>
          <p:grpSpPr bwMode="auto">
            <a:xfrm>
              <a:off x="2224088" y="4095561"/>
              <a:ext cx="1089025" cy="479425"/>
              <a:chOff x="642" y="2212"/>
              <a:chExt cx="686" cy="302"/>
            </a:xfrm>
            <a:effectLst/>
            <a:scene3d>
              <a:camera prst="orthographicFront">
                <a:rot lat="0" lon="0" rev="0"/>
              </a:camera>
              <a:lightRig rig="balanced" dir="t">
                <a:rot lat="0" lon="0" rev="8700000"/>
              </a:lightRig>
            </a:scene3d>
          </p:grpSpPr>
          <p:sp>
            <p:nvSpPr>
              <p:cNvPr id="37" name="Oval 188"/>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38" name="Text Box 1524"/>
              <p:cNvSpPr txBox="1">
                <a:spLocks noChangeArrowheads="1"/>
              </p:cNvSpPr>
              <p:nvPr/>
            </p:nvSpPr>
            <p:spPr bwMode="auto">
              <a:xfrm>
                <a:off x="658" y="2236"/>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sp>
          <p:nvSpPr>
            <p:cNvPr id="32" name="Text Box 1524"/>
            <p:cNvSpPr txBox="1">
              <a:spLocks noChangeArrowheads="1"/>
            </p:cNvSpPr>
            <p:nvPr/>
          </p:nvSpPr>
          <p:spPr bwMode="auto">
            <a:xfrm>
              <a:off x="1526812" y="5387000"/>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chemeClr val="bg1"/>
                  </a:solidFill>
                  <a:latin typeface="Times New Roman" pitchFamily="18" charset="0"/>
                  <a:ea typeface="微软雅黑" pitchFamily="34" charset="-122"/>
                </a:rPr>
                <a:t>校园网</a:t>
              </a:r>
            </a:p>
          </p:txBody>
        </p:sp>
        <p:sp>
          <p:nvSpPr>
            <p:cNvPr id="33" name="Text Box 1524"/>
            <p:cNvSpPr txBox="1">
              <a:spLocks noChangeArrowheads="1"/>
            </p:cNvSpPr>
            <p:nvPr/>
          </p:nvSpPr>
          <p:spPr bwMode="auto">
            <a:xfrm>
              <a:off x="2673278"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4" name="Text Box 1524"/>
            <p:cNvSpPr txBox="1">
              <a:spLocks noChangeArrowheads="1"/>
            </p:cNvSpPr>
            <p:nvPr/>
          </p:nvSpPr>
          <p:spPr bwMode="auto">
            <a:xfrm>
              <a:off x="3968674"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5" name="Text Box 1524"/>
            <p:cNvSpPr txBox="1">
              <a:spLocks noChangeArrowheads="1"/>
            </p:cNvSpPr>
            <p:nvPr/>
          </p:nvSpPr>
          <p:spPr bwMode="auto">
            <a:xfrm>
              <a:off x="5768903"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6" name="Text Box 1524"/>
            <p:cNvSpPr txBox="1">
              <a:spLocks noChangeArrowheads="1"/>
            </p:cNvSpPr>
            <p:nvPr/>
          </p:nvSpPr>
          <p:spPr bwMode="auto">
            <a:xfrm>
              <a:off x="6849990"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grpSp>
    </p:spTree>
    <p:extLst>
      <p:ext uri="{BB962C8B-B14F-4D97-AF65-F5344CB8AC3E}">
        <p14:creationId xmlns:p14="http://schemas.microsoft.com/office/powerpoint/2010/main" val="319601894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969626"/>
            <a:ext cx="8129016" cy="3389873"/>
          </a:xfrm>
        </p:spPr>
        <p:txBody>
          <a:bodyPr/>
          <a:lstStyle/>
          <a:p>
            <a:r>
              <a:rPr lang="zh-CN" altLang="en-US" dirty="0"/>
              <a:t>出现了互联网服务提供者 </a:t>
            </a:r>
            <a:r>
              <a:rPr lang="en-US" altLang="zh-CN" dirty="0"/>
              <a:t>ISP (Internet Service Provider)</a:t>
            </a:r>
            <a:r>
              <a:rPr lang="zh-CN" altLang="en-US" dirty="0"/>
              <a:t>：</a:t>
            </a:r>
            <a:endParaRPr lang="en-US" altLang="zh-CN" dirty="0"/>
          </a:p>
          <a:p>
            <a:pPr lvl="1"/>
            <a:r>
              <a:rPr lang="zh-CN" altLang="en-US" dirty="0"/>
              <a:t>提供接入到互联网的服务。</a:t>
            </a:r>
            <a:endParaRPr lang="en-US" altLang="zh-CN" dirty="0"/>
          </a:p>
          <a:p>
            <a:pPr lvl="1"/>
            <a:r>
              <a:rPr lang="zh-CN" altLang="en-US" dirty="0"/>
              <a:t>需要收取一定的费用。</a:t>
            </a:r>
          </a:p>
          <a:p>
            <a:r>
              <a:rPr lang="zh-CN" altLang="en-US" dirty="0"/>
              <a:t>多层次 </a:t>
            </a:r>
            <a:r>
              <a:rPr lang="en-US" altLang="zh-CN" dirty="0"/>
              <a:t>ISP </a:t>
            </a:r>
            <a:r>
              <a:rPr lang="zh-CN" altLang="en-US" dirty="0"/>
              <a:t>结构：</a:t>
            </a:r>
            <a:endParaRPr lang="en-US" altLang="zh-CN" dirty="0"/>
          </a:p>
          <a:p>
            <a:pPr lvl="1"/>
            <a:r>
              <a:rPr lang="zh-CN" altLang="en-US" dirty="0"/>
              <a:t>主干 </a:t>
            </a:r>
            <a:r>
              <a:rPr lang="en-US" altLang="zh-CN" dirty="0"/>
              <a:t>ISP</a:t>
            </a:r>
            <a:r>
              <a:rPr lang="zh-CN" altLang="en-US" dirty="0"/>
              <a:t>、地区 </a:t>
            </a:r>
            <a:r>
              <a:rPr lang="en-US" altLang="zh-CN" dirty="0"/>
              <a:t>ISP </a:t>
            </a:r>
            <a:r>
              <a:rPr lang="zh-CN" altLang="en-US" dirty="0"/>
              <a:t>和本地 </a:t>
            </a:r>
            <a:r>
              <a:rPr lang="en-US" altLang="zh-CN" dirty="0"/>
              <a:t>ISP</a:t>
            </a:r>
            <a:r>
              <a:rPr lang="zh-CN" altLang="en-US" dirty="0"/>
              <a:t>。</a:t>
            </a:r>
            <a:endParaRPr lang="en-US" altLang="zh-CN" dirty="0"/>
          </a:p>
          <a:p>
            <a:pPr lvl="1"/>
            <a:r>
              <a:rPr lang="zh-CN" altLang="en-US" dirty="0"/>
              <a:t>覆盖面积大小和所拥有的 </a:t>
            </a:r>
            <a:r>
              <a:rPr lang="en-US" altLang="zh-CN" dirty="0"/>
              <a:t>IP </a:t>
            </a:r>
            <a:r>
              <a:rPr lang="zh-CN" altLang="en-US" dirty="0"/>
              <a:t>地址数目的不同</a:t>
            </a:r>
          </a:p>
          <a:p>
            <a:endParaRPr lang="en-US" altLang="zh-CN" dirty="0"/>
          </a:p>
          <a:p>
            <a:pPr lvl="1"/>
            <a:endParaRPr lang="zh-CN" altLang="en-US" dirty="0"/>
          </a:p>
        </p:txBody>
      </p:sp>
      <p:sp>
        <p:nvSpPr>
          <p:cNvPr id="3" name="文本占位符 2"/>
          <p:cNvSpPr>
            <a:spLocks noGrp="1"/>
          </p:cNvSpPr>
          <p:nvPr>
            <p:ph type="body" sz="quarter" idx="11"/>
          </p:nvPr>
        </p:nvSpPr>
        <p:spPr>
          <a:xfrm>
            <a:off x="1214565" y="616998"/>
            <a:ext cx="6632575" cy="338554"/>
          </a:xfrm>
        </p:spPr>
        <p:txBody>
          <a:bodyPr/>
          <a:lstStyle/>
          <a:p>
            <a:r>
              <a:rPr lang="zh-CN" altLang="en-US" dirty="0"/>
              <a:t>第三阶段：</a:t>
            </a:r>
            <a:r>
              <a:rPr lang="en-US" altLang="zh-CN" dirty="0"/>
              <a:t>1993 – </a:t>
            </a:r>
            <a:r>
              <a:rPr lang="zh-CN" altLang="en-US" dirty="0"/>
              <a:t>现在</a:t>
            </a:r>
            <a:r>
              <a:rPr lang="en-US" altLang="zh-CN" dirty="0"/>
              <a:t> </a:t>
            </a:r>
            <a:endParaRPr lang="zh-CN" altLang="en-US" dirty="0"/>
          </a:p>
        </p:txBody>
      </p:sp>
    </p:spTree>
    <p:extLst>
      <p:ext uri="{BB962C8B-B14F-4D97-AF65-F5344CB8AC3E}">
        <p14:creationId xmlns:p14="http://schemas.microsoft.com/office/powerpoint/2010/main" val="235072549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4" name="组合 133"/>
          <p:cNvGrpSpPr/>
          <p:nvPr/>
        </p:nvGrpSpPr>
        <p:grpSpPr>
          <a:xfrm>
            <a:off x="1149531" y="4128718"/>
            <a:ext cx="6879772" cy="321069"/>
            <a:chOff x="1776552" y="4257054"/>
            <a:chExt cx="6387156" cy="321069"/>
          </a:xfrm>
        </p:grpSpPr>
        <p:sp>
          <p:nvSpPr>
            <p:cNvPr id="45" name="Text Box 273"/>
            <p:cNvSpPr txBox="1">
              <a:spLocks noChangeArrowheads="1"/>
            </p:cNvSpPr>
            <p:nvPr/>
          </p:nvSpPr>
          <p:spPr bwMode="auto">
            <a:xfrm>
              <a:off x="1785262" y="4291361"/>
              <a:ext cx="63649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ct val="15000"/>
                </a:spcBef>
                <a:spcAft>
                  <a:spcPct val="15000"/>
                </a:spcAft>
                <a:buClrTx/>
                <a:buSzTx/>
                <a:buFontTx/>
                <a:buNone/>
                <a:tabLst/>
                <a:defRPr/>
              </a:pPr>
              <a:r>
                <a:rPr lang="zh-CN" altLang="en-US" sz="1200" b="1" kern="0" dirty="0">
                  <a:solidFill>
                    <a:srgbClr val="000000"/>
                  </a:solidFill>
                  <a:latin typeface="微软雅黑" panose="020B0503020204020204" pitchFamily="34" charset="-122"/>
                  <a:ea typeface="微软雅黑" panose="020B0503020204020204" pitchFamily="34" charset="-122"/>
                </a:rPr>
                <a:t>通信</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举例：主机</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A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本地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地区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主干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地区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本地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主机</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B</a:t>
              </a:r>
            </a:p>
          </p:txBody>
        </p:sp>
        <p:sp>
          <p:nvSpPr>
            <p:cNvPr id="46" name="Rectangle 274"/>
            <p:cNvSpPr>
              <a:spLocks noChangeArrowheads="1"/>
            </p:cNvSpPr>
            <p:nvPr/>
          </p:nvSpPr>
          <p:spPr bwMode="auto">
            <a:xfrm>
              <a:off x="1776552" y="4257054"/>
              <a:ext cx="6387156" cy="321069"/>
            </a:xfrm>
            <a:prstGeom prst="rect">
              <a:avLst/>
            </a:prstGeom>
            <a:noFill/>
            <a:ln w="38100" cmpd="dbl">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grpSp>
      <p:grpSp>
        <p:nvGrpSpPr>
          <p:cNvPr id="136" name="组合 135"/>
          <p:cNvGrpSpPr/>
          <p:nvPr/>
        </p:nvGrpSpPr>
        <p:grpSpPr>
          <a:xfrm>
            <a:off x="1550122" y="1064051"/>
            <a:ext cx="6172145" cy="2971789"/>
            <a:chOff x="2063931" y="1515290"/>
            <a:chExt cx="6172145" cy="2640865"/>
          </a:xfrm>
        </p:grpSpPr>
        <p:sp>
          <p:nvSpPr>
            <p:cNvPr id="5" name="Line 372"/>
            <p:cNvSpPr>
              <a:spLocks noChangeShapeType="1"/>
            </p:cNvSpPr>
            <p:nvPr/>
          </p:nvSpPr>
          <p:spPr bwMode="auto">
            <a:xfrm>
              <a:off x="2873954" y="1881793"/>
              <a:ext cx="762745" cy="137413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6" name="Line 316"/>
            <p:cNvSpPr>
              <a:spLocks noChangeShapeType="1"/>
            </p:cNvSpPr>
            <p:nvPr/>
          </p:nvSpPr>
          <p:spPr bwMode="auto">
            <a:xfrm flipH="1">
              <a:off x="2683792" y="1836359"/>
              <a:ext cx="95606" cy="823874"/>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7" name="Line 282"/>
            <p:cNvSpPr>
              <a:spLocks noChangeShapeType="1"/>
            </p:cNvSpPr>
            <p:nvPr/>
          </p:nvSpPr>
          <p:spPr bwMode="auto">
            <a:xfrm>
              <a:off x="2922282" y="1836359"/>
              <a:ext cx="619861" cy="82387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8" name="Line 282"/>
            <p:cNvSpPr>
              <a:spLocks noChangeShapeType="1"/>
            </p:cNvSpPr>
            <p:nvPr/>
          </p:nvSpPr>
          <p:spPr bwMode="auto">
            <a:xfrm>
              <a:off x="3160770" y="1836359"/>
              <a:ext cx="714417" cy="320059"/>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9" name="Line 282"/>
            <p:cNvSpPr>
              <a:spLocks noChangeShapeType="1"/>
            </p:cNvSpPr>
            <p:nvPr/>
          </p:nvSpPr>
          <p:spPr bwMode="auto">
            <a:xfrm>
              <a:off x="3159720" y="1810107"/>
              <a:ext cx="2908097" cy="30087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0" name="Line 282"/>
            <p:cNvSpPr>
              <a:spLocks noChangeShapeType="1"/>
            </p:cNvSpPr>
            <p:nvPr/>
          </p:nvSpPr>
          <p:spPr bwMode="auto">
            <a:xfrm flipV="1">
              <a:off x="3256378" y="1699046"/>
              <a:ext cx="1524438" cy="353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5" name="Line 410"/>
            <p:cNvSpPr>
              <a:spLocks noChangeShapeType="1"/>
            </p:cNvSpPr>
            <p:nvPr/>
          </p:nvSpPr>
          <p:spPr bwMode="auto">
            <a:xfrm>
              <a:off x="6210699" y="2688503"/>
              <a:ext cx="904577" cy="0"/>
            </a:xfrm>
            <a:prstGeom prst="line">
              <a:avLst/>
            </a:prstGeom>
            <a:ln w="63500" cmpd="tri">
              <a:solidFill>
                <a:schemeClr val="tx1"/>
              </a:solidFill>
              <a:headEnd/>
              <a:tailEnd/>
            </a:ln>
          </p:spPr>
          <p:style>
            <a:lnRef idx="1">
              <a:schemeClr val="accent3"/>
            </a:lnRef>
            <a:fillRef idx="3">
              <a:schemeClr val="accent3"/>
            </a:fillRef>
            <a:effectRef idx="2">
              <a:schemeClr val="accent3"/>
            </a:effectRef>
            <a:fontRef idx="minor">
              <a:schemeClr val="lt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6" name="Line 407"/>
            <p:cNvSpPr>
              <a:spLocks noChangeShapeType="1"/>
            </p:cNvSpPr>
            <p:nvPr/>
          </p:nvSpPr>
          <p:spPr bwMode="auto">
            <a:xfrm>
              <a:off x="7163604"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7" name="Line 408"/>
            <p:cNvSpPr>
              <a:spLocks noChangeShapeType="1"/>
            </p:cNvSpPr>
            <p:nvPr/>
          </p:nvSpPr>
          <p:spPr bwMode="auto">
            <a:xfrm flipH="1">
              <a:off x="6733904" y="3255927"/>
              <a:ext cx="286817"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8" name="Text Box 409"/>
            <p:cNvSpPr txBox="1">
              <a:spLocks noChangeArrowheads="1"/>
            </p:cNvSpPr>
            <p:nvPr/>
          </p:nvSpPr>
          <p:spPr bwMode="auto">
            <a:xfrm>
              <a:off x="6877838" y="3485116"/>
              <a:ext cx="4154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19" name="Line 377"/>
            <p:cNvSpPr>
              <a:spLocks noChangeShapeType="1"/>
            </p:cNvSpPr>
            <p:nvPr/>
          </p:nvSpPr>
          <p:spPr bwMode="auto">
            <a:xfrm flipH="1">
              <a:off x="7020721"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0" name="Line 376"/>
            <p:cNvSpPr>
              <a:spLocks noChangeShapeType="1"/>
            </p:cNvSpPr>
            <p:nvPr/>
          </p:nvSpPr>
          <p:spPr bwMode="auto">
            <a:xfrm flipH="1">
              <a:off x="5447954"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1" name="Line 370"/>
            <p:cNvSpPr>
              <a:spLocks noChangeShapeType="1"/>
            </p:cNvSpPr>
            <p:nvPr/>
          </p:nvSpPr>
          <p:spPr bwMode="auto">
            <a:xfrm>
              <a:off x="5923881" y="2660233"/>
              <a:ext cx="334095" cy="64112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2" name="Line 371"/>
            <p:cNvSpPr>
              <a:spLocks noChangeShapeType="1"/>
            </p:cNvSpPr>
            <p:nvPr/>
          </p:nvSpPr>
          <p:spPr bwMode="auto">
            <a:xfrm>
              <a:off x="4446720" y="2798555"/>
              <a:ext cx="95606"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3" name="Line 372"/>
            <p:cNvSpPr>
              <a:spLocks noChangeShapeType="1"/>
            </p:cNvSpPr>
            <p:nvPr/>
          </p:nvSpPr>
          <p:spPr bwMode="auto">
            <a:xfrm flipH="1">
              <a:off x="3732304" y="2798555"/>
              <a:ext cx="476978"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4" name="Line 373"/>
            <p:cNvSpPr>
              <a:spLocks noChangeShapeType="1"/>
            </p:cNvSpPr>
            <p:nvPr/>
          </p:nvSpPr>
          <p:spPr bwMode="auto">
            <a:xfrm>
              <a:off x="2779398" y="2798555"/>
              <a:ext cx="47277" cy="502806"/>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5" name="Line 308"/>
            <p:cNvSpPr>
              <a:spLocks noChangeShapeType="1"/>
            </p:cNvSpPr>
            <p:nvPr/>
          </p:nvSpPr>
          <p:spPr bwMode="auto">
            <a:xfrm>
              <a:off x="7496649" y="2798555"/>
              <a:ext cx="285767" cy="59468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6" name="Line 316"/>
            <p:cNvSpPr>
              <a:spLocks noChangeShapeType="1"/>
            </p:cNvSpPr>
            <p:nvPr/>
          </p:nvSpPr>
          <p:spPr bwMode="auto">
            <a:xfrm flipH="1">
              <a:off x="2873954" y="2248296"/>
              <a:ext cx="858350" cy="366503"/>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7" name="Line 283"/>
            <p:cNvSpPr>
              <a:spLocks noChangeShapeType="1"/>
            </p:cNvSpPr>
            <p:nvPr/>
          </p:nvSpPr>
          <p:spPr bwMode="auto">
            <a:xfrm>
              <a:off x="5590838" y="1744480"/>
              <a:ext cx="524255" cy="274625"/>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8" name="Line 254"/>
            <p:cNvSpPr>
              <a:spLocks noChangeShapeType="1"/>
            </p:cNvSpPr>
            <p:nvPr/>
          </p:nvSpPr>
          <p:spPr bwMode="auto">
            <a:xfrm>
              <a:off x="6353582"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9" name="Line 255"/>
            <p:cNvSpPr>
              <a:spLocks noChangeShapeType="1"/>
            </p:cNvSpPr>
            <p:nvPr/>
          </p:nvSpPr>
          <p:spPr bwMode="auto">
            <a:xfrm>
              <a:off x="3779582" y="3347805"/>
              <a:ext cx="239539" cy="508072"/>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0" name="Line 256"/>
            <p:cNvSpPr>
              <a:spLocks noChangeShapeType="1"/>
            </p:cNvSpPr>
            <p:nvPr/>
          </p:nvSpPr>
          <p:spPr bwMode="auto">
            <a:xfrm flipH="1">
              <a:off x="5923881" y="3255927"/>
              <a:ext cx="286818"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1" name="Line 257"/>
            <p:cNvSpPr>
              <a:spLocks noChangeShapeType="1"/>
            </p:cNvSpPr>
            <p:nvPr/>
          </p:nvSpPr>
          <p:spPr bwMode="auto">
            <a:xfrm>
              <a:off x="7782415" y="3393239"/>
              <a:ext cx="95605"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2" name="Line 197"/>
            <p:cNvSpPr>
              <a:spLocks noChangeShapeType="1"/>
            </p:cNvSpPr>
            <p:nvPr/>
          </p:nvSpPr>
          <p:spPr bwMode="auto">
            <a:xfrm flipH="1">
              <a:off x="3350932" y="3301361"/>
              <a:ext cx="381372" cy="55026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3" name="Line 192"/>
            <p:cNvSpPr>
              <a:spLocks noChangeShapeType="1"/>
            </p:cNvSpPr>
            <p:nvPr/>
          </p:nvSpPr>
          <p:spPr bwMode="auto">
            <a:xfrm flipH="1">
              <a:off x="2350749" y="2752111"/>
              <a:ext cx="142883" cy="972293"/>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4" name="Line 179"/>
            <p:cNvSpPr>
              <a:spLocks noChangeShapeType="1"/>
            </p:cNvSpPr>
            <p:nvPr/>
          </p:nvSpPr>
          <p:spPr bwMode="auto">
            <a:xfrm flipH="1" flipV="1">
              <a:off x="5543560" y="3347805"/>
              <a:ext cx="237438"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5" name="Line 180"/>
            <p:cNvSpPr>
              <a:spLocks noChangeShapeType="1"/>
            </p:cNvSpPr>
            <p:nvPr/>
          </p:nvSpPr>
          <p:spPr bwMode="auto">
            <a:xfrm flipV="1">
              <a:off x="4589603" y="3347805"/>
              <a:ext cx="663987"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6" name="Line 26"/>
            <p:cNvSpPr>
              <a:spLocks noChangeShapeType="1"/>
            </p:cNvSpPr>
            <p:nvPr/>
          </p:nvSpPr>
          <p:spPr bwMode="auto">
            <a:xfrm>
              <a:off x="4209282" y="2340174"/>
              <a:ext cx="94555" cy="320059"/>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7" name="Line 36"/>
            <p:cNvSpPr>
              <a:spLocks noChangeShapeType="1"/>
            </p:cNvSpPr>
            <p:nvPr/>
          </p:nvSpPr>
          <p:spPr bwMode="auto">
            <a:xfrm flipH="1">
              <a:off x="5209465" y="3347805"/>
              <a:ext cx="142883"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8" name="Oval 183"/>
            <p:cNvSpPr>
              <a:spLocks noChangeArrowheads="1"/>
            </p:cNvSpPr>
            <p:nvPr/>
          </p:nvSpPr>
          <p:spPr bwMode="auto">
            <a:xfrm>
              <a:off x="2063931" y="3576995"/>
              <a:ext cx="618811" cy="32106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大公司</a:t>
              </a:r>
            </a:p>
          </p:txBody>
        </p:sp>
        <p:sp>
          <p:nvSpPr>
            <p:cNvPr id="39" name="Oval 194"/>
            <p:cNvSpPr>
              <a:spLocks noChangeArrowheads="1"/>
            </p:cNvSpPr>
            <p:nvPr/>
          </p:nvSpPr>
          <p:spPr bwMode="auto">
            <a:xfrm>
              <a:off x="4343760" y="3667864"/>
              <a:ext cx="627216" cy="29077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公司</a:t>
              </a:r>
            </a:p>
          </p:txBody>
        </p:sp>
        <p:sp>
          <p:nvSpPr>
            <p:cNvPr id="40" name="Oval 195"/>
            <p:cNvSpPr>
              <a:spLocks noChangeArrowheads="1"/>
            </p:cNvSpPr>
            <p:nvPr/>
          </p:nvSpPr>
          <p:spPr bwMode="auto">
            <a:xfrm>
              <a:off x="5060278" y="3196357"/>
              <a:ext cx="626165" cy="245345"/>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42" name="Text Box 268"/>
            <p:cNvSpPr txBox="1">
              <a:spLocks noChangeArrowheads="1"/>
            </p:cNvSpPr>
            <p:nvPr/>
          </p:nvSpPr>
          <p:spPr bwMode="auto">
            <a:xfrm>
              <a:off x="4930326" y="3737529"/>
              <a:ext cx="29046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A</a:t>
              </a:r>
            </a:p>
          </p:txBody>
        </p:sp>
        <p:sp>
          <p:nvSpPr>
            <p:cNvPr id="44" name="Text Box 271"/>
            <p:cNvSpPr txBox="1">
              <a:spLocks noChangeArrowheads="1"/>
            </p:cNvSpPr>
            <p:nvPr/>
          </p:nvSpPr>
          <p:spPr bwMode="auto">
            <a:xfrm>
              <a:off x="7955230" y="3722370"/>
              <a:ext cx="280846"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B</a:t>
              </a:r>
            </a:p>
          </p:txBody>
        </p:sp>
        <p:sp>
          <p:nvSpPr>
            <p:cNvPr id="47" name="Line 282"/>
            <p:cNvSpPr>
              <a:spLocks noChangeShapeType="1"/>
            </p:cNvSpPr>
            <p:nvPr/>
          </p:nvSpPr>
          <p:spPr bwMode="auto">
            <a:xfrm flipV="1">
              <a:off x="4160954" y="1744480"/>
              <a:ext cx="810023" cy="4119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8" name="Line 284"/>
            <p:cNvSpPr>
              <a:spLocks noChangeShapeType="1"/>
            </p:cNvSpPr>
            <p:nvPr/>
          </p:nvSpPr>
          <p:spPr bwMode="auto">
            <a:xfrm flipV="1">
              <a:off x="4399443" y="2157427"/>
              <a:ext cx="1715650" cy="4543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9" name="Oval 292"/>
            <p:cNvSpPr>
              <a:spLocks noChangeArrowheads="1"/>
            </p:cNvSpPr>
            <p:nvPr/>
          </p:nvSpPr>
          <p:spPr bwMode="auto">
            <a:xfrm>
              <a:off x="7402094" y="3199386"/>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0" name="Line 297"/>
            <p:cNvSpPr>
              <a:spLocks noChangeShapeType="1"/>
            </p:cNvSpPr>
            <p:nvPr/>
          </p:nvSpPr>
          <p:spPr bwMode="auto">
            <a:xfrm flipH="1">
              <a:off x="5829326" y="2157427"/>
              <a:ext cx="475928" cy="45737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1" name="Line 298"/>
            <p:cNvSpPr>
              <a:spLocks noChangeShapeType="1"/>
            </p:cNvSpPr>
            <p:nvPr/>
          </p:nvSpPr>
          <p:spPr bwMode="auto">
            <a:xfrm flipH="1" flipV="1">
              <a:off x="6829509" y="2110984"/>
              <a:ext cx="429701" cy="45838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2" name="Oval 14"/>
            <p:cNvSpPr>
              <a:spLocks noChangeArrowheads="1"/>
            </p:cNvSpPr>
            <p:nvPr/>
          </p:nvSpPr>
          <p:spPr bwMode="auto">
            <a:xfrm>
              <a:off x="3399261" y="2065549"/>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主干 </a:t>
              </a:r>
              <a:r>
                <a:rPr kumimoji="1" lang="en-US" altLang="zh-CN"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3" name="Oval 305"/>
            <p:cNvSpPr>
              <a:spLocks noChangeArrowheads="1"/>
            </p:cNvSpPr>
            <p:nvPr/>
          </p:nvSpPr>
          <p:spPr bwMode="auto">
            <a:xfrm>
              <a:off x="3391905"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4" name="Oval 306"/>
            <p:cNvSpPr>
              <a:spLocks noChangeArrowheads="1"/>
            </p:cNvSpPr>
            <p:nvPr/>
          </p:nvSpPr>
          <p:spPr bwMode="auto">
            <a:xfrm>
              <a:off x="2486277"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6" name="Oval 319"/>
            <p:cNvSpPr>
              <a:spLocks noChangeArrowheads="1"/>
            </p:cNvSpPr>
            <p:nvPr/>
          </p:nvSpPr>
          <p:spPr bwMode="auto">
            <a:xfrm>
              <a:off x="4637932" y="151529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主干 </a:t>
              </a:r>
              <a:r>
                <a:rPr kumimoji="1" lang="en-US" altLang="zh-CN"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7" name="Oval 320"/>
            <p:cNvSpPr>
              <a:spLocks noChangeArrowheads="1"/>
            </p:cNvSpPr>
            <p:nvPr/>
          </p:nvSpPr>
          <p:spPr bwMode="auto">
            <a:xfrm>
              <a:off x="5876604" y="197468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主干 </a:t>
              </a:r>
              <a:r>
                <a:rPr kumimoji="1" lang="en-US" altLang="zh-CN"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1" name="Text Box 342"/>
            <p:cNvSpPr txBox="1">
              <a:spLocks noChangeArrowheads="1"/>
            </p:cNvSpPr>
            <p:nvPr/>
          </p:nvSpPr>
          <p:spPr bwMode="auto">
            <a:xfrm>
              <a:off x="4850155" y="2298778"/>
              <a:ext cx="6463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3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62" name="Oval 348"/>
            <p:cNvSpPr>
              <a:spLocks noChangeArrowheads="1"/>
            </p:cNvSpPr>
            <p:nvPr/>
          </p:nvSpPr>
          <p:spPr bwMode="auto">
            <a:xfrm>
              <a:off x="5923881"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3" name="Oval 349"/>
            <p:cNvSpPr>
              <a:spLocks noChangeArrowheads="1"/>
            </p:cNvSpPr>
            <p:nvPr/>
          </p:nvSpPr>
          <p:spPr bwMode="auto">
            <a:xfrm>
              <a:off x="4209282"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7" name="Text Box 374"/>
            <p:cNvSpPr txBox="1">
              <a:spLocks noChangeArrowheads="1"/>
            </p:cNvSpPr>
            <p:nvPr/>
          </p:nvSpPr>
          <p:spPr bwMode="auto">
            <a:xfrm>
              <a:off x="3055709" y="3024716"/>
              <a:ext cx="44114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20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68" name="Oval 375"/>
            <p:cNvSpPr>
              <a:spLocks noChangeArrowheads="1"/>
            </p:cNvSpPr>
            <p:nvPr/>
          </p:nvSpPr>
          <p:spPr bwMode="auto">
            <a:xfrm>
              <a:off x="6686626" y="3197367"/>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75" name="Text Box 405"/>
            <p:cNvSpPr txBox="1">
              <a:spLocks noChangeArrowheads="1"/>
            </p:cNvSpPr>
            <p:nvPr/>
          </p:nvSpPr>
          <p:spPr bwMode="auto">
            <a:xfrm>
              <a:off x="5345409" y="3611831"/>
              <a:ext cx="4154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76" name="Text Box 406"/>
            <p:cNvSpPr txBox="1">
              <a:spLocks noChangeArrowheads="1"/>
            </p:cNvSpPr>
            <p:nvPr/>
          </p:nvSpPr>
          <p:spPr bwMode="auto">
            <a:xfrm>
              <a:off x="6067816" y="3485116"/>
              <a:ext cx="4154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79" name="Oval 14"/>
            <p:cNvSpPr>
              <a:spLocks noChangeArrowheads="1"/>
            </p:cNvSpPr>
            <p:nvPr/>
          </p:nvSpPr>
          <p:spPr bwMode="auto">
            <a:xfrm>
              <a:off x="2349698" y="1607168"/>
              <a:ext cx="1042207" cy="320059"/>
            </a:xfrm>
            <a:prstGeom prst="ellipse">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内容提供者</a:t>
              </a:r>
              <a:endPar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grpSp>
          <p:nvGrpSpPr>
            <p:cNvPr id="92" name="组合 91"/>
            <p:cNvGrpSpPr/>
            <p:nvPr/>
          </p:nvGrpSpPr>
          <p:grpSpPr>
            <a:xfrm>
              <a:off x="6411686" y="2589558"/>
              <a:ext cx="425498" cy="267294"/>
              <a:chOff x="3320162" y="2589558"/>
              <a:chExt cx="425498" cy="267294"/>
            </a:xfrm>
          </p:grpSpPr>
          <p:grpSp>
            <p:nvGrpSpPr>
              <p:cNvPr id="93"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95"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6"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7"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8"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9"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0"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1"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2"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3"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94" name="Text Box 354"/>
              <p:cNvSpPr txBox="1">
                <a:spLocks noChangeArrowheads="1"/>
              </p:cNvSpPr>
              <p:nvPr/>
            </p:nvSpPr>
            <p:spPr bwMode="auto">
              <a:xfrm>
                <a:off x="3320162" y="2595353"/>
                <a:ext cx="425498" cy="261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IXP</a:t>
                </a:r>
              </a:p>
            </p:txBody>
          </p:sp>
        </p:grpSp>
        <p:grpSp>
          <p:nvGrpSpPr>
            <p:cNvPr id="116" name="组合 115"/>
            <p:cNvGrpSpPr/>
            <p:nvPr/>
          </p:nvGrpSpPr>
          <p:grpSpPr>
            <a:xfrm>
              <a:off x="3017798" y="3842143"/>
              <a:ext cx="653027" cy="314012"/>
              <a:chOff x="3017798" y="3842143"/>
              <a:chExt cx="653027" cy="314012"/>
            </a:xfrm>
          </p:grpSpPr>
          <p:grpSp>
            <p:nvGrpSpPr>
              <p:cNvPr id="105"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07"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8"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9"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0"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1"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2"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3"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4"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5"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06" name="Text Box 354"/>
              <p:cNvSpPr txBox="1">
                <a:spLocks noChangeArrowheads="1"/>
              </p:cNvSpPr>
              <p:nvPr/>
            </p:nvSpPr>
            <p:spPr bwMode="auto">
              <a:xfrm>
                <a:off x="3017798" y="3873742"/>
                <a:ext cx="65302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校园网</a:t>
                </a:r>
                <a:endParaRPr kumimoji="1" lang="en-US" altLang="zh-CN"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grpSp>
        <p:grpSp>
          <p:nvGrpSpPr>
            <p:cNvPr id="117" name="组合 116"/>
            <p:cNvGrpSpPr/>
            <p:nvPr/>
          </p:nvGrpSpPr>
          <p:grpSpPr>
            <a:xfrm>
              <a:off x="3694355" y="3842143"/>
              <a:ext cx="653027" cy="314012"/>
              <a:chOff x="3017798" y="3842143"/>
              <a:chExt cx="653027" cy="314012"/>
            </a:xfrm>
          </p:grpSpPr>
          <p:grpSp>
            <p:nvGrpSpPr>
              <p:cNvPr id="118"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20"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1"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2"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3"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4"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5"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6"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7"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8"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19" name="Text Box 354"/>
              <p:cNvSpPr txBox="1">
                <a:spLocks noChangeArrowheads="1"/>
              </p:cNvSpPr>
              <p:nvPr/>
            </p:nvSpPr>
            <p:spPr bwMode="auto">
              <a:xfrm>
                <a:off x="3017798" y="3873742"/>
                <a:ext cx="65302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校园网</a:t>
                </a:r>
                <a:endParaRPr kumimoji="1" lang="en-US" altLang="zh-CN"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grpSp>
        <p:pic>
          <p:nvPicPr>
            <p:cNvPr id="12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17698" y="3765383"/>
              <a:ext cx="247252"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0" name="Picture 24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02171" y="3736583"/>
              <a:ext cx="248323"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2" name="直接连接符 131"/>
            <p:cNvCxnSpPr/>
            <p:nvPr/>
          </p:nvCxnSpPr>
          <p:spPr>
            <a:xfrm>
              <a:off x="2971398" y="2701807"/>
              <a:ext cx="1123026" cy="0"/>
            </a:xfrm>
            <a:prstGeom prst="line">
              <a:avLst/>
            </a:prstGeom>
            <a:ln w="63500" cmpd="tri">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3" name="组合 132"/>
            <p:cNvGrpSpPr/>
            <p:nvPr/>
          </p:nvGrpSpPr>
          <p:grpSpPr>
            <a:xfrm>
              <a:off x="2206814" y="2569365"/>
              <a:ext cx="5656498" cy="287487"/>
              <a:chOff x="2206814" y="2569365"/>
              <a:chExt cx="5656498" cy="287487"/>
            </a:xfrm>
          </p:grpSpPr>
          <p:sp>
            <p:nvSpPr>
              <p:cNvPr id="55" name="Oval 289"/>
              <p:cNvSpPr>
                <a:spLocks noChangeArrowheads="1"/>
              </p:cNvSpPr>
              <p:nvPr/>
            </p:nvSpPr>
            <p:spPr bwMode="auto">
              <a:xfrm>
                <a:off x="540067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8" name="Oval 327"/>
              <p:cNvSpPr>
                <a:spLocks noChangeArrowheads="1"/>
              </p:cNvSpPr>
              <p:nvPr/>
            </p:nvSpPr>
            <p:spPr bwMode="auto">
              <a:xfrm>
                <a:off x="6972393"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9" name="Oval 328"/>
              <p:cNvSpPr>
                <a:spLocks noChangeArrowheads="1"/>
              </p:cNvSpPr>
              <p:nvPr/>
            </p:nvSpPr>
            <p:spPr bwMode="auto">
              <a:xfrm>
                <a:off x="2206814"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0" name="Oval 329"/>
              <p:cNvSpPr>
                <a:spLocks noChangeArrowheads="1"/>
              </p:cNvSpPr>
              <p:nvPr/>
            </p:nvSpPr>
            <p:spPr bwMode="auto">
              <a:xfrm>
                <a:off x="388989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grpSp>
            <p:nvGrpSpPr>
              <p:cNvPr id="91" name="组合 90"/>
              <p:cNvGrpSpPr/>
              <p:nvPr/>
            </p:nvGrpSpPr>
            <p:grpSpPr>
              <a:xfrm>
                <a:off x="3320162" y="2589558"/>
                <a:ext cx="425498" cy="267294"/>
                <a:chOff x="3320162" y="2589558"/>
                <a:chExt cx="425498" cy="267294"/>
              </a:xfrm>
            </p:grpSpPr>
            <p:grpSp>
              <p:nvGrpSpPr>
                <p:cNvPr id="81"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82"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3"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4"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5"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6"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7"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8"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9"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0"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4" name="Text Box 354"/>
                <p:cNvSpPr txBox="1">
                  <a:spLocks noChangeArrowheads="1"/>
                </p:cNvSpPr>
                <p:nvPr/>
              </p:nvSpPr>
              <p:spPr bwMode="auto">
                <a:xfrm>
                  <a:off x="3320162" y="2595353"/>
                  <a:ext cx="425498" cy="261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IXP</a:t>
                  </a:r>
                </a:p>
              </p:txBody>
            </p:sp>
          </p:grpSp>
        </p:grpSp>
        <p:sp>
          <p:nvSpPr>
            <p:cNvPr id="77" name="Freeform 272"/>
            <p:cNvSpPr>
              <a:spLocks/>
            </p:cNvSpPr>
            <p:nvPr/>
          </p:nvSpPr>
          <p:spPr bwMode="auto">
            <a:xfrm>
              <a:off x="5348146" y="2212958"/>
              <a:ext cx="2454231" cy="1592218"/>
            </a:xfrm>
            <a:custGeom>
              <a:avLst/>
              <a:gdLst>
                <a:gd name="T0" fmla="*/ 0 w 2336"/>
                <a:gd name="T1" fmla="*/ 2147483647 h 1577"/>
                <a:gd name="T2" fmla="*/ 632558359 w 2336"/>
                <a:gd name="T3" fmla="*/ 2147483647 h 1577"/>
                <a:gd name="T4" fmla="*/ 2001004020 w 2336"/>
                <a:gd name="T5" fmla="*/ 627519829 h 1577"/>
                <a:gd name="T6" fmla="*/ 2147483647 w 2336"/>
                <a:gd name="T7" fmla="*/ 68045030 h 1577"/>
                <a:gd name="T8" fmla="*/ 2147483647 w 2336"/>
                <a:gd name="T9" fmla="*/ 1043344970 h 1577"/>
                <a:gd name="T10" fmla="*/ 2147483647 w 2336"/>
                <a:gd name="T11" fmla="*/ 2147483647 h 1577"/>
                <a:gd name="T12" fmla="*/ 2147483647 w 2336"/>
                <a:gd name="T13" fmla="*/ 2147483647 h 1577"/>
                <a:gd name="T14" fmla="*/ 0 60000 65536"/>
                <a:gd name="T15" fmla="*/ 0 60000 65536"/>
                <a:gd name="T16" fmla="*/ 0 60000 65536"/>
                <a:gd name="T17" fmla="*/ 0 60000 65536"/>
                <a:gd name="T18" fmla="*/ 0 60000 65536"/>
                <a:gd name="T19" fmla="*/ 0 60000 65536"/>
                <a:gd name="T20" fmla="*/ 0 60000 65536"/>
                <a:gd name="T21" fmla="*/ 0 w 2336"/>
                <a:gd name="T22" fmla="*/ 0 h 1577"/>
                <a:gd name="T23" fmla="*/ 2336 w 2336"/>
                <a:gd name="T24" fmla="*/ 1577 h 157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336" h="1577">
                  <a:moveTo>
                    <a:pt x="0" y="1577"/>
                  </a:moveTo>
                  <a:cubicBezTo>
                    <a:pt x="41" y="1491"/>
                    <a:pt x="119" y="1283"/>
                    <a:pt x="251" y="1062"/>
                  </a:cubicBezTo>
                  <a:cubicBezTo>
                    <a:pt x="383" y="841"/>
                    <a:pt x="624" y="421"/>
                    <a:pt x="794" y="249"/>
                  </a:cubicBezTo>
                  <a:cubicBezTo>
                    <a:pt x="964" y="77"/>
                    <a:pt x="1130" y="0"/>
                    <a:pt x="1274" y="27"/>
                  </a:cubicBezTo>
                  <a:cubicBezTo>
                    <a:pt x="1418" y="54"/>
                    <a:pt x="1517" y="236"/>
                    <a:pt x="1661" y="414"/>
                  </a:cubicBezTo>
                  <a:cubicBezTo>
                    <a:pt x="1805" y="592"/>
                    <a:pt x="2026" y="903"/>
                    <a:pt x="2138" y="1095"/>
                  </a:cubicBezTo>
                  <a:cubicBezTo>
                    <a:pt x="2250" y="1287"/>
                    <a:pt x="2295" y="1470"/>
                    <a:pt x="2336" y="1569"/>
                  </a:cubicBezTo>
                </a:path>
              </a:pathLst>
            </a:custGeom>
            <a:noFill/>
            <a:ln w="76200" cmpd="sng">
              <a:solidFill>
                <a:srgbClr val="CC0099">
                  <a:alpha val="60000"/>
                </a:srgbClr>
              </a:solidFill>
              <a:round/>
              <a:headEnd type="triangle" w="sm" len="med"/>
              <a:tailEnd type="triangle" w="sm" len="med"/>
            </a:ln>
            <a:extLst>
              <a:ext uri="{909E8E84-426E-40DD-AFC4-6F175D3DCCD1}">
                <a14:hiddenFill xmlns:a14="http://schemas.microsoft.com/office/drawing/2010/main">
                  <a:solidFill>
                    <a:srgbClr val="FFFFFF"/>
                  </a:solidFill>
                </a14:hiddenFill>
              </a:ext>
            </a:extLst>
          </p:spPr>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sp>
          <p:nvSpPr>
            <p:cNvPr id="78" name="Line 411"/>
            <p:cNvSpPr>
              <a:spLocks noChangeShapeType="1"/>
            </p:cNvSpPr>
            <p:nvPr/>
          </p:nvSpPr>
          <p:spPr bwMode="auto">
            <a:xfrm flipV="1">
              <a:off x="6032980" y="2771110"/>
              <a:ext cx="1191393" cy="0"/>
            </a:xfrm>
            <a:prstGeom prst="line">
              <a:avLst/>
            </a:prstGeom>
            <a:ln w="50800">
              <a:solidFill>
                <a:srgbClr val="0000CC">
                  <a:alpha val="60000"/>
                </a:srgbClr>
              </a:solidFill>
              <a:prstDash val="sysDot"/>
              <a:headEnd type="triangle" w="sm" len="lg"/>
              <a:tailEnd type="triangle" w="sm" len="lg"/>
            </a:ln>
          </p:spPr>
          <p:style>
            <a:lnRef idx="1">
              <a:schemeClr val="accent3"/>
            </a:lnRef>
            <a:fillRef idx="3">
              <a:schemeClr val="accent3"/>
            </a:fillRef>
            <a:effectRef idx="2">
              <a:schemeClr val="accent3"/>
            </a:effectRef>
            <a:fontRef idx="minor">
              <a:schemeClr val="lt1"/>
            </a:fontRef>
          </p:style>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grpSp>
      <p:sp>
        <p:nvSpPr>
          <p:cNvPr id="2" name="文本占位符 1"/>
          <p:cNvSpPr>
            <a:spLocks noGrp="1"/>
          </p:cNvSpPr>
          <p:nvPr>
            <p:ph type="body" sz="quarter" idx="10"/>
          </p:nvPr>
        </p:nvSpPr>
        <p:spPr>
          <a:xfrm>
            <a:off x="1214565" y="616998"/>
            <a:ext cx="6632575" cy="338554"/>
          </a:xfrm>
        </p:spPr>
        <p:txBody>
          <a:bodyPr/>
          <a:lstStyle/>
          <a:p>
            <a:r>
              <a:rPr lang="zh-CN" altLang="en-US" dirty="0"/>
              <a:t>第三阶段：</a:t>
            </a:r>
            <a:r>
              <a:rPr lang="en-US" altLang="zh-CN" dirty="0"/>
              <a:t>1993 – </a:t>
            </a:r>
            <a:r>
              <a:rPr lang="zh-CN" altLang="en-US" dirty="0"/>
              <a:t>现在 </a:t>
            </a:r>
          </a:p>
        </p:txBody>
      </p:sp>
    </p:spTree>
    <p:extLst>
      <p:ext uri="{BB962C8B-B14F-4D97-AF65-F5344CB8AC3E}">
        <p14:creationId xmlns:p14="http://schemas.microsoft.com/office/powerpoint/2010/main" val="16183618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969626"/>
            <a:ext cx="8129016" cy="3389873"/>
          </a:xfrm>
        </p:spPr>
        <p:txBody>
          <a:bodyPr/>
          <a:lstStyle/>
          <a:p>
            <a:r>
              <a:rPr lang="zh-CN" altLang="en-US" dirty="0"/>
              <a:t>互联网交换点 </a:t>
            </a:r>
            <a:r>
              <a:rPr lang="en-US" altLang="zh-CN" dirty="0"/>
              <a:t>IXP (Internet </a:t>
            </a:r>
            <a:r>
              <a:rPr lang="en-US" altLang="zh-CN" dirty="0" err="1"/>
              <a:t>eXchange</a:t>
            </a:r>
            <a:r>
              <a:rPr lang="en-US" altLang="zh-CN" dirty="0"/>
              <a:t> Point)</a:t>
            </a:r>
            <a:r>
              <a:rPr lang="zh-CN" altLang="en-US" dirty="0"/>
              <a:t>：允许两个网络直接相连并快速交换分组。</a:t>
            </a:r>
            <a:endParaRPr lang="en-US" altLang="zh-CN" dirty="0"/>
          </a:p>
          <a:p>
            <a:pPr lvl="1"/>
            <a:r>
              <a:rPr lang="zh-CN" altLang="en-US" dirty="0"/>
              <a:t>常采用工作在数据链路层的网络交换机。</a:t>
            </a:r>
            <a:endParaRPr lang="en-US" altLang="zh-CN" dirty="0"/>
          </a:p>
          <a:p>
            <a:pPr lvl="1"/>
            <a:r>
              <a:rPr lang="zh-CN" altLang="en-US" dirty="0"/>
              <a:t>世界上较大的 </a:t>
            </a:r>
            <a:r>
              <a:rPr lang="en-US" altLang="zh-CN" dirty="0"/>
              <a:t>IXP </a:t>
            </a:r>
            <a:r>
              <a:rPr lang="zh-CN" altLang="en-US" dirty="0"/>
              <a:t>的峰值吞吐量都在 </a:t>
            </a:r>
            <a:r>
              <a:rPr lang="en-US" altLang="zh-CN" dirty="0" err="1"/>
              <a:t>Tbit</a:t>
            </a:r>
            <a:r>
              <a:rPr lang="en-US" altLang="zh-CN" dirty="0"/>
              <a:t>/s </a:t>
            </a:r>
            <a:r>
              <a:rPr lang="zh-CN" altLang="en-US" dirty="0"/>
              <a:t>量级。</a:t>
            </a:r>
            <a:endParaRPr lang="en-US" altLang="zh-CN" dirty="0"/>
          </a:p>
          <a:p>
            <a:r>
              <a:rPr lang="zh-CN" altLang="en-US" dirty="0"/>
              <a:t>内容提供者 </a:t>
            </a:r>
            <a:r>
              <a:rPr lang="en-US" altLang="zh-CN" dirty="0"/>
              <a:t>(Content Provider)</a:t>
            </a:r>
            <a:r>
              <a:rPr lang="zh-CN" altLang="en-US" dirty="0"/>
              <a:t>：在互联网上向所有用户提供视频等内容的公司。不向用户提供互联网的转接服务。</a:t>
            </a:r>
          </a:p>
        </p:txBody>
      </p:sp>
      <p:sp>
        <p:nvSpPr>
          <p:cNvPr id="4" name="文本占位符 3"/>
          <p:cNvSpPr>
            <a:spLocks noGrp="1"/>
          </p:cNvSpPr>
          <p:nvPr>
            <p:ph type="body" sz="quarter" idx="11"/>
          </p:nvPr>
        </p:nvSpPr>
        <p:spPr>
          <a:xfrm>
            <a:off x="1214565" y="616998"/>
            <a:ext cx="6632575" cy="338554"/>
          </a:xfrm>
        </p:spPr>
        <p:txBody>
          <a:bodyPr/>
          <a:lstStyle/>
          <a:p>
            <a:r>
              <a:rPr lang="zh-CN" altLang="en-US" dirty="0"/>
              <a:t>第三阶段：</a:t>
            </a:r>
            <a:r>
              <a:rPr lang="en-US" altLang="zh-CN" dirty="0"/>
              <a:t>1993 – </a:t>
            </a:r>
            <a:r>
              <a:rPr lang="zh-CN" altLang="en-US" dirty="0"/>
              <a:t>现在</a:t>
            </a:r>
            <a:r>
              <a:rPr lang="en-US" altLang="zh-CN" dirty="0"/>
              <a:t> </a:t>
            </a:r>
            <a:endParaRPr lang="zh-CN" altLang="en-US" dirty="0"/>
          </a:p>
        </p:txBody>
      </p:sp>
    </p:spTree>
    <p:extLst>
      <p:ext uri="{BB962C8B-B14F-4D97-AF65-F5344CB8AC3E}">
        <p14:creationId xmlns:p14="http://schemas.microsoft.com/office/powerpoint/2010/main" val="3704576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969626"/>
            <a:ext cx="8129016" cy="3389873"/>
          </a:xfrm>
        </p:spPr>
        <p:txBody>
          <a:bodyPr/>
          <a:lstStyle/>
          <a:p>
            <a:r>
              <a:rPr lang="zh-CN" altLang="en-US" dirty="0"/>
              <a:t>万维网 </a:t>
            </a:r>
            <a:r>
              <a:rPr lang="en-US" altLang="zh-CN" dirty="0"/>
              <a:t>WWW  (World Wide Web)</a:t>
            </a:r>
            <a:r>
              <a:rPr lang="zh-CN" altLang="en-US" dirty="0"/>
              <a:t>：</a:t>
            </a:r>
            <a:endParaRPr lang="en-US" altLang="zh-CN" dirty="0"/>
          </a:p>
          <a:p>
            <a:pPr lvl="1">
              <a:lnSpc>
                <a:spcPts val="3000"/>
              </a:lnSpc>
            </a:pPr>
            <a:r>
              <a:rPr lang="zh-CN" altLang="en-US" dirty="0"/>
              <a:t>由欧洲原子核研究组织 </a:t>
            </a:r>
            <a:r>
              <a:rPr lang="en-US" altLang="zh-CN" dirty="0"/>
              <a:t>CERN </a:t>
            </a:r>
            <a:r>
              <a:rPr lang="zh-CN" altLang="en-US" dirty="0"/>
              <a:t>开发。</a:t>
            </a:r>
          </a:p>
          <a:p>
            <a:pPr lvl="1">
              <a:lnSpc>
                <a:spcPts val="3000"/>
              </a:lnSpc>
            </a:pPr>
            <a:r>
              <a:rPr lang="zh-CN" altLang="en-US" dirty="0"/>
              <a:t>成为互联网指数级增长的主要驱动力。</a:t>
            </a:r>
          </a:p>
          <a:p>
            <a:pPr lvl="1">
              <a:lnSpc>
                <a:spcPts val="3000"/>
              </a:lnSpc>
            </a:pPr>
            <a:r>
              <a:rPr lang="en-US" altLang="zh-CN" dirty="0"/>
              <a:t>2019 </a:t>
            </a:r>
            <a:r>
              <a:rPr lang="zh-CN" altLang="en-US" dirty="0"/>
              <a:t>年 </a:t>
            </a:r>
            <a:r>
              <a:rPr lang="en-US" altLang="zh-CN" dirty="0"/>
              <a:t>3 </a:t>
            </a:r>
            <a:r>
              <a:rPr lang="zh-CN" altLang="en-US" dirty="0"/>
              <a:t>月底，互联网的用户数已超过了 </a:t>
            </a:r>
            <a:r>
              <a:rPr lang="en-US" altLang="zh-CN" dirty="0"/>
              <a:t>43.8</a:t>
            </a:r>
            <a:r>
              <a:rPr lang="zh-CN" altLang="en-US" dirty="0"/>
              <a:t>亿。</a:t>
            </a:r>
          </a:p>
          <a:p>
            <a:endParaRPr lang="en-US" altLang="zh-CN" dirty="0"/>
          </a:p>
        </p:txBody>
      </p:sp>
      <p:sp>
        <p:nvSpPr>
          <p:cNvPr id="3" name="文本占位符 2"/>
          <p:cNvSpPr>
            <a:spLocks noGrp="1"/>
          </p:cNvSpPr>
          <p:nvPr>
            <p:ph type="body" sz="quarter" idx="11"/>
          </p:nvPr>
        </p:nvSpPr>
        <p:spPr>
          <a:xfrm>
            <a:off x="1214565" y="616998"/>
            <a:ext cx="6632575" cy="338554"/>
          </a:xfrm>
        </p:spPr>
        <p:txBody>
          <a:bodyPr/>
          <a:lstStyle/>
          <a:p>
            <a:r>
              <a:rPr lang="en-US" altLang="zh-CN" dirty="0"/>
              <a:t>20 </a:t>
            </a:r>
            <a:r>
              <a:rPr lang="zh-CN" altLang="en-US" dirty="0"/>
              <a:t>世纪 </a:t>
            </a:r>
            <a:r>
              <a:rPr lang="en-US" altLang="zh-CN" dirty="0"/>
              <a:t>90 </a:t>
            </a:r>
            <a:r>
              <a:rPr lang="zh-CN" altLang="en-US" dirty="0"/>
              <a:t>年代：万维网 </a:t>
            </a:r>
            <a:r>
              <a:rPr lang="en-US" altLang="zh-CN" dirty="0"/>
              <a:t>WWW </a:t>
            </a:r>
            <a:r>
              <a:rPr lang="zh-CN" altLang="en-US" dirty="0"/>
              <a:t>的问世</a:t>
            </a:r>
          </a:p>
        </p:txBody>
      </p:sp>
      <p:sp>
        <p:nvSpPr>
          <p:cNvPr id="5" name="内容占位符 1"/>
          <p:cNvSpPr txBox="1">
            <a:spLocks/>
          </p:cNvSpPr>
          <p:nvPr/>
        </p:nvSpPr>
        <p:spPr>
          <a:xfrm>
            <a:off x="318299" y="1350004"/>
            <a:ext cx="3924187" cy="2562969"/>
          </a:xfrm>
          <a:prstGeom prst="rect">
            <a:avLst/>
          </a:prstGeom>
        </p:spPr>
        <p:txBody>
          <a:bodyPr/>
          <a:lstStyle>
            <a:lvl1pPr marL="342900" indent="-342900" algn="l" rtl="0" fontAlgn="base">
              <a:lnSpc>
                <a:spcPts val="2800"/>
              </a:lnSpc>
              <a:spcBef>
                <a:spcPts val="0"/>
              </a:spcBef>
              <a:spcAft>
                <a:spcPct val="0"/>
              </a:spcAft>
              <a:buClr>
                <a:srgbClr val="0066CC"/>
              </a:buClr>
              <a:buFont typeface="Wingdings" panose="05000000000000000000" pitchFamily="2" charset="2"/>
              <a:buChar char="l"/>
              <a:defRPr lang="zh-CN" altLang="en-US" sz="2000" b="1" kern="1200" dirty="0" smtClean="0">
                <a:solidFill>
                  <a:schemeClr val="tx1"/>
                </a:solidFill>
                <a:latin typeface="微软雅黑" pitchFamily="34" charset="-122"/>
                <a:ea typeface="微软雅黑" pitchFamily="34" charset="-122"/>
                <a:cs typeface="+mn-cs"/>
              </a:defRPr>
            </a:lvl1pPr>
            <a:lvl2pPr marL="742950" indent="-285750" algn="l" rtl="0" fontAlgn="base">
              <a:lnSpc>
                <a:spcPts val="2800"/>
              </a:lnSpc>
              <a:spcBef>
                <a:spcPts val="0"/>
              </a:spcBef>
              <a:spcAft>
                <a:spcPct val="0"/>
              </a:spcAft>
              <a:buClr>
                <a:schemeClr val="accent6">
                  <a:lumMod val="50000"/>
                </a:schemeClr>
              </a:buClr>
              <a:buFont typeface="Wingdings" panose="05000000000000000000" pitchFamily="2" charset="2"/>
              <a:buChar char="u"/>
              <a:defRPr sz="1800" b="1" kern="1200">
                <a:solidFill>
                  <a:schemeClr val="tx1"/>
                </a:solidFill>
                <a:latin typeface="微软雅黑" panose="020B0503020204020204" pitchFamily="34" charset="-122"/>
                <a:ea typeface="微软雅黑" panose="020B0503020204020204" pitchFamily="34" charset="-122"/>
                <a:cs typeface="+mn-cs"/>
              </a:defRPr>
            </a:lvl2pPr>
            <a:lvl3pPr marL="1143000" indent="-228600" algn="l" rtl="0" fontAlgn="base">
              <a:lnSpc>
                <a:spcPts val="2800"/>
              </a:lnSpc>
              <a:spcBef>
                <a:spcPts val="0"/>
              </a:spcBef>
              <a:spcAft>
                <a:spcPct val="0"/>
              </a:spcAft>
              <a:buClr>
                <a:srgbClr val="006600"/>
              </a:buClr>
              <a:buFont typeface="Wingdings" panose="05000000000000000000" pitchFamily="2" charset="2"/>
              <a:buChar char="Ø"/>
              <a:defRPr sz="1600" b="1" kern="1200">
                <a:solidFill>
                  <a:schemeClr val="tx1"/>
                </a:solidFill>
                <a:latin typeface="微软雅黑" panose="020B0503020204020204" pitchFamily="34" charset="-122"/>
                <a:ea typeface="微软雅黑" panose="020B0503020204020204" pitchFamily="34" charset="-122"/>
                <a:cs typeface="+mn-cs"/>
              </a:defRPr>
            </a:lvl3pPr>
            <a:lvl4pPr marL="1600200" indent="-228600" algn="l" rtl="0" fontAlgn="base">
              <a:lnSpc>
                <a:spcPts val="28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4pPr>
            <a:lvl5pPr marL="2057400" indent="-228600" algn="l" rtl="0" fontAlgn="base">
              <a:lnSpc>
                <a:spcPts val="28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lvl="1">
              <a:lnSpc>
                <a:spcPts val="3000"/>
              </a:lnSpc>
            </a:pPr>
            <a:endParaRPr lang="zh-CN" altLang="en-US" dirty="0"/>
          </a:p>
        </p:txBody>
      </p:sp>
      <p:pic>
        <p:nvPicPr>
          <p:cNvPr id="9" name="图片 8"/>
          <p:cNvPicPr>
            <a:picLocks noChangeAspect="1"/>
          </p:cNvPicPr>
          <p:nvPr/>
        </p:nvPicPr>
        <p:blipFill>
          <a:blip r:embed="rId2"/>
          <a:stretch>
            <a:fillRect/>
          </a:stretch>
        </p:blipFill>
        <p:spPr>
          <a:xfrm>
            <a:off x="9249434" y="1145942"/>
            <a:ext cx="2755620" cy="2247392"/>
          </a:xfrm>
          <a:prstGeom prst="rect">
            <a:avLst/>
          </a:prstGeom>
        </p:spPr>
      </p:pic>
      <p:pic>
        <p:nvPicPr>
          <p:cNvPr id="8" name="图片 7"/>
          <p:cNvPicPr>
            <a:picLocks noChangeAspect="1"/>
          </p:cNvPicPr>
          <p:nvPr/>
        </p:nvPicPr>
        <p:blipFill>
          <a:blip r:embed="rId3"/>
          <a:stretch>
            <a:fillRect/>
          </a:stretch>
        </p:blipFill>
        <p:spPr>
          <a:xfrm>
            <a:off x="4361084" y="1474912"/>
            <a:ext cx="4190133" cy="2661060"/>
          </a:xfrm>
          <a:prstGeom prst="rect">
            <a:avLst/>
          </a:prstGeom>
        </p:spPr>
      </p:pic>
    </p:spTree>
    <p:extLst>
      <p:ext uri="{BB962C8B-B14F-4D97-AF65-F5344CB8AC3E}">
        <p14:creationId xmlns:p14="http://schemas.microsoft.com/office/powerpoint/2010/main" val="5542006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44"/>
          <p:cNvSpPr>
            <a:spLocks noChangeArrowheads="1"/>
          </p:cNvSpPr>
          <p:nvPr/>
        </p:nvSpPr>
        <p:spPr bwMode="auto">
          <a:xfrm>
            <a:off x="5116595" y="2513371"/>
            <a:ext cx="2774284" cy="1729338"/>
          </a:xfrm>
          <a:prstGeom prst="roundRect">
            <a:avLst>
              <a:gd name="adj" fmla="val 16667"/>
            </a:avLst>
          </a:prstGeom>
          <a:solidFill>
            <a:srgbClr val="368AD6"/>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6" name="AutoShape 43"/>
          <p:cNvSpPr>
            <a:spLocks noChangeArrowheads="1"/>
          </p:cNvSpPr>
          <p:nvPr/>
        </p:nvSpPr>
        <p:spPr bwMode="auto">
          <a:xfrm>
            <a:off x="1985559" y="2513371"/>
            <a:ext cx="2834003" cy="1729338"/>
          </a:xfrm>
          <a:prstGeom prst="roundRect">
            <a:avLst>
              <a:gd name="adj" fmla="val 16667"/>
            </a:avLst>
          </a:prstGeom>
          <a:solidFill>
            <a:srgbClr val="368AD6"/>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41999" name="Line 6"/>
          <p:cNvSpPr>
            <a:spLocks noChangeShapeType="1"/>
          </p:cNvSpPr>
          <p:nvPr/>
        </p:nvSpPr>
        <p:spPr bwMode="auto">
          <a:xfrm>
            <a:off x="3660511" y="3387409"/>
            <a:ext cx="425707" cy="366748"/>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0" name="Line 8"/>
          <p:cNvSpPr>
            <a:spLocks noChangeShapeType="1"/>
          </p:cNvSpPr>
          <p:nvPr/>
        </p:nvSpPr>
        <p:spPr bwMode="auto">
          <a:xfrm flipH="1">
            <a:off x="2918870" y="3387409"/>
            <a:ext cx="424369" cy="366748"/>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1" name="Line 18"/>
          <p:cNvSpPr>
            <a:spLocks noChangeShapeType="1"/>
          </p:cNvSpPr>
          <p:nvPr/>
        </p:nvSpPr>
        <p:spPr bwMode="auto">
          <a:xfrm flipV="1">
            <a:off x="5880918" y="3368670"/>
            <a:ext cx="101741" cy="137866"/>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2" name="Line 19"/>
          <p:cNvSpPr>
            <a:spLocks noChangeShapeType="1"/>
          </p:cNvSpPr>
          <p:nvPr/>
        </p:nvSpPr>
        <p:spPr bwMode="auto">
          <a:xfrm>
            <a:off x="6826042" y="3367332"/>
            <a:ext cx="164661" cy="107080"/>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3" name="Line 24"/>
          <p:cNvSpPr>
            <a:spLocks noChangeShapeType="1"/>
          </p:cNvSpPr>
          <p:nvPr/>
        </p:nvSpPr>
        <p:spPr bwMode="auto">
          <a:xfrm flipH="1">
            <a:off x="5504743" y="3683217"/>
            <a:ext cx="211515"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4" name="Line 25"/>
          <p:cNvSpPr>
            <a:spLocks noChangeShapeType="1"/>
          </p:cNvSpPr>
          <p:nvPr/>
        </p:nvSpPr>
        <p:spPr bwMode="auto">
          <a:xfrm>
            <a:off x="5876902" y="3683217"/>
            <a:ext cx="318611"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5" name="Line 26"/>
          <p:cNvSpPr>
            <a:spLocks noChangeShapeType="1"/>
          </p:cNvSpPr>
          <p:nvPr/>
        </p:nvSpPr>
        <p:spPr bwMode="auto">
          <a:xfrm flipH="1">
            <a:off x="6619882" y="3683217"/>
            <a:ext cx="266402"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6" name="Line 27"/>
          <p:cNvSpPr>
            <a:spLocks noChangeShapeType="1"/>
          </p:cNvSpPr>
          <p:nvPr/>
        </p:nvSpPr>
        <p:spPr bwMode="auto">
          <a:xfrm>
            <a:off x="7044250" y="3683217"/>
            <a:ext cx="266402"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7" name="Freeform 4"/>
          <p:cNvSpPr>
            <a:spLocks/>
          </p:cNvSpPr>
          <p:nvPr/>
        </p:nvSpPr>
        <p:spPr bwMode="auto">
          <a:xfrm>
            <a:off x="4031789" y="2025516"/>
            <a:ext cx="1749684" cy="156605"/>
          </a:xfrm>
          <a:custGeom>
            <a:avLst/>
            <a:gdLst>
              <a:gd name="T0" fmla="*/ 0 w 1584"/>
              <a:gd name="T1" fmla="*/ 0 h 336"/>
              <a:gd name="T2" fmla="*/ 2147483647 w 1584"/>
              <a:gd name="T3" fmla="*/ 0 h 336"/>
              <a:gd name="T4" fmla="*/ 2147483647 w 1584"/>
              <a:gd name="T5" fmla="*/ 136021576 h 336"/>
              <a:gd name="T6" fmla="*/ 544752399 w 1584"/>
              <a:gd name="T7" fmla="*/ 136021576 h 336"/>
              <a:gd name="T8" fmla="*/ 0 w 1584"/>
              <a:gd name="T9" fmla="*/ 0 h 336"/>
              <a:gd name="T10" fmla="*/ 0 60000 65536"/>
              <a:gd name="T11" fmla="*/ 0 60000 65536"/>
              <a:gd name="T12" fmla="*/ 0 60000 65536"/>
              <a:gd name="T13" fmla="*/ 0 60000 65536"/>
              <a:gd name="T14" fmla="*/ 0 60000 65536"/>
              <a:gd name="T15" fmla="*/ 0 w 1584"/>
              <a:gd name="T16" fmla="*/ 0 h 336"/>
              <a:gd name="T17" fmla="*/ 1584 w 1584"/>
              <a:gd name="T18" fmla="*/ 336 h 336"/>
            </a:gdLst>
            <a:ahLst/>
            <a:cxnLst>
              <a:cxn ang="T10">
                <a:pos x="T0" y="T1"/>
              </a:cxn>
              <a:cxn ang="T11">
                <a:pos x="T2" y="T3"/>
              </a:cxn>
              <a:cxn ang="T12">
                <a:pos x="T4" y="T5"/>
              </a:cxn>
              <a:cxn ang="T13">
                <a:pos x="T6" y="T7"/>
              </a:cxn>
              <a:cxn ang="T14">
                <a:pos x="T8" y="T9"/>
              </a:cxn>
            </a:cxnLst>
            <a:rect l="T15" t="T16" r="T17" b="T18"/>
            <a:pathLst>
              <a:path w="1584" h="336">
                <a:moveTo>
                  <a:pt x="0" y="0"/>
                </a:moveTo>
                <a:lnTo>
                  <a:pt x="1584" y="0"/>
                </a:lnTo>
                <a:lnTo>
                  <a:pt x="1344" y="336"/>
                </a:lnTo>
                <a:lnTo>
                  <a:pt x="240" y="336"/>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2009" name="Text Box 12"/>
          <p:cNvSpPr txBox="1">
            <a:spLocks noChangeArrowheads="1"/>
          </p:cNvSpPr>
          <p:nvPr/>
        </p:nvSpPr>
        <p:spPr bwMode="auto">
          <a:xfrm>
            <a:off x="2212271" y="2588935"/>
            <a:ext cx="223659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chemeClr val="bg1"/>
                </a:solidFill>
                <a:latin typeface="微软雅黑" pitchFamily="34" charset="-122"/>
                <a:ea typeface="微软雅黑" pitchFamily="34" charset="-122"/>
              </a:rPr>
              <a:t>互联网研究部 </a:t>
            </a:r>
            <a:r>
              <a:rPr kumimoji="1" lang="en-US" altLang="zh-CN" sz="1600" b="1" dirty="0">
                <a:solidFill>
                  <a:schemeClr val="bg1"/>
                </a:solidFill>
                <a:latin typeface="微软雅黑" pitchFamily="34" charset="-122"/>
                <a:ea typeface="微软雅黑" pitchFamily="34" charset="-122"/>
              </a:rPr>
              <a:t>IRTF </a:t>
            </a:r>
          </a:p>
        </p:txBody>
      </p:sp>
      <p:sp>
        <p:nvSpPr>
          <p:cNvPr id="42010" name="Text Box 13"/>
          <p:cNvSpPr txBox="1">
            <a:spLocks noChangeArrowheads="1"/>
          </p:cNvSpPr>
          <p:nvPr/>
        </p:nvSpPr>
        <p:spPr bwMode="auto">
          <a:xfrm>
            <a:off x="5582387" y="2588935"/>
            <a:ext cx="2137749"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chemeClr val="bg1"/>
                </a:solidFill>
                <a:latin typeface="微软雅黑" pitchFamily="34" charset="-122"/>
                <a:ea typeface="微软雅黑" pitchFamily="34" charset="-122"/>
              </a:rPr>
              <a:t>互联网工程部 </a:t>
            </a:r>
            <a:r>
              <a:rPr kumimoji="1" lang="en-US" altLang="zh-CN" sz="1600" b="1" dirty="0">
                <a:solidFill>
                  <a:schemeClr val="bg1"/>
                </a:solidFill>
                <a:latin typeface="微软雅黑" pitchFamily="34" charset="-122"/>
                <a:ea typeface="微软雅黑" pitchFamily="34" charset="-122"/>
              </a:rPr>
              <a:t>IETF </a:t>
            </a:r>
          </a:p>
        </p:txBody>
      </p:sp>
      <p:sp>
        <p:nvSpPr>
          <p:cNvPr id="42012" name="Text Box 17"/>
          <p:cNvSpPr txBox="1">
            <a:spLocks noChangeArrowheads="1"/>
          </p:cNvSpPr>
          <p:nvPr/>
        </p:nvSpPr>
        <p:spPr bwMode="auto">
          <a:xfrm>
            <a:off x="6228981" y="3386071"/>
            <a:ext cx="326643" cy="283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a:solidFill>
                  <a:schemeClr val="bg1"/>
                </a:solidFill>
                <a:latin typeface="Arial" charset="0"/>
                <a:ea typeface="黑体" pitchFamily="49" charset="-122"/>
              </a:rPr>
              <a:t>…</a:t>
            </a:r>
          </a:p>
        </p:txBody>
      </p:sp>
      <p:sp>
        <p:nvSpPr>
          <p:cNvPr id="42013" name="Rectangle 20"/>
          <p:cNvSpPr>
            <a:spLocks noChangeArrowheads="1"/>
          </p:cNvSpPr>
          <p:nvPr/>
        </p:nvSpPr>
        <p:spPr bwMode="auto">
          <a:xfrm>
            <a:off x="2759564" y="3754157"/>
            <a:ext cx="317273"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RG</a:t>
            </a:r>
          </a:p>
        </p:txBody>
      </p:sp>
      <p:sp>
        <p:nvSpPr>
          <p:cNvPr id="42014" name="Rectangle 21"/>
          <p:cNvSpPr>
            <a:spLocks noChangeArrowheads="1"/>
          </p:cNvSpPr>
          <p:nvPr/>
        </p:nvSpPr>
        <p:spPr bwMode="auto">
          <a:xfrm>
            <a:off x="7250410" y="3780927"/>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sp>
        <p:nvSpPr>
          <p:cNvPr id="42015" name="Text Box 22"/>
          <p:cNvSpPr txBox="1">
            <a:spLocks noChangeArrowheads="1"/>
          </p:cNvSpPr>
          <p:nvPr/>
        </p:nvSpPr>
        <p:spPr bwMode="auto">
          <a:xfrm>
            <a:off x="5712242" y="3711325"/>
            <a:ext cx="326643" cy="283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a:solidFill>
                  <a:schemeClr val="bg1"/>
                </a:solidFill>
                <a:latin typeface="Arial" charset="0"/>
                <a:ea typeface="黑体" pitchFamily="49" charset="-122"/>
              </a:rPr>
              <a:t>…</a:t>
            </a:r>
          </a:p>
        </p:txBody>
      </p:sp>
      <p:sp>
        <p:nvSpPr>
          <p:cNvPr id="42016" name="Text Box 23"/>
          <p:cNvSpPr txBox="1">
            <a:spLocks noChangeArrowheads="1"/>
          </p:cNvSpPr>
          <p:nvPr/>
        </p:nvSpPr>
        <p:spPr bwMode="auto">
          <a:xfrm>
            <a:off x="6921089" y="3711325"/>
            <a:ext cx="326643" cy="283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a:solidFill>
                  <a:schemeClr val="bg1"/>
                </a:solidFill>
                <a:latin typeface="Arial" charset="0"/>
                <a:ea typeface="黑体" pitchFamily="49" charset="-122"/>
              </a:rPr>
              <a:t>…</a:t>
            </a:r>
          </a:p>
        </p:txBody>
      </p:sp>
      <p:sp>
        <p:nvSpPr>
          <p:cNvPr id="42017" name="Rectangle 28"/>
          <p:cNvSpPr>
            <a:spLocks noChangeArrowheads="1"/>
          </p:cNvSpPr>
          <p:nvPr/>
        </p:nvSpPr>
        <p:spPr bwMode="auto">
          <a:xfrm>
            <a:off x="3926912" y="3754157"/>
            <a:ext cx="318611"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RG</a:t>
            </a:r>
          </a:p>
        </p:txBody>
      </p:sp>
      <p:sp>
        <p:nvSpPr>
          <p:cNvPr id="42018" name="Text Box 29"/>
          <p:cNvSpPr txBox="1">
            <a:spLocks noChangeArrowheads="1"/>
          </p:cNvSpPr>
          <p:nvPr/>
        </p:nvSpPr>
        <p:spPr bwMode="auto">
          <a:xfrm>
            <a:off x="3300399" y="3730064"/>
            <a:ext cx="326643" cy="283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a:solidFill>
                  <a:schemeClr val="bg1"/>
                </a:solidFill>
                <a:latin typeface="Arial" charset="0"/>
                <a:ea typeface="黑体" pitchFamily="49" charset="-122"/>
              </a:rPr>
              <a:t>…</a:t>
            </a:r>
          </a:p>
        </p:txBody>
      </p:sp>
      <p:sp>
        <p:nvSpPr>
          <p:cNvPr id="42019" name="Rectangle 30"/>
          <p:cNvSpPr>
            <a:spLocks noChangeArrowheads="1"/>
          </p:cNvSpPr>
          <p:nvPr/>
        </p:nvSpPr>
        <p:spPr bwMode="auto">
          <a:xfrm>
            <a:off x="5669404" y="3474412"/>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zh-CN" altLang="en-US" sz="1200" b="1">
                <a:latin typeface="微软雅黑" pitchFamily="34" charset="-122"/>
                <a:ea typeface="微软雅黑" pitchFamily="34" charset="-122"/>
              </a:rPr>
              <a:t>领域</a:t>
            </a:r>
          </a:p>
        </p:txBody>
      </p:sp>
      <p:sp>
        <p:nvSpPr>
          <p:cNvPr id="42020" name="Rectangle 31"/>
          <p:cNvSpPr>
            <a:spLocks noChangeArrowheads="1"/>
          </p:cNvSpPr>
          <p:nvPr/>
        </p:nvSpPr>
        <p:spPr bwMode="auto">
          <a:xfrm>
            <a:off x="6874235" y="3474412"/>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zh-CN" altLang="en-US" sz="1200" b="1">
                <a:latin typeface="微软雅黑" pitchFamily="34" charset="-122"/>
                <a:ea typeface="微软雅黑" pitchFamily="34" charset="-122"/>
              </a:rPr>
              <a:t>领域</a:t>
            </a:r>
          </a:p>
        </p:txBody>
      </p:sp>
      <p:sp>
        <p:nvSpPr>
          <p:cNvPr id="42024" name="Rectangle 33"/>
          <p:cNvSpPr>
            <a:spLocks noChangeArrowheads="1"/>
          </p:cNvSpPr>
          <p:nvPr/>
        </p:nvSpPr>
        <p:spPr bwMode="auto">
          <a:xfrm>
            <a:off x="6504754" y="3780927"/>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sp>
        <p:nvSpPr>
          <p:cNvPr id="42025" name="Rectangle 34"/>
          <p:cNvSpPr>
            <a:spLocks noChangeArrowheads="1"/>
          </p:cNvSpPr>
          <p:nvPr/>
        </p:nvSpPr>
        <p:spPr bwMode="auto">
          <a:xfrm>
            <a:off x="6006756" y="3780927"/>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sp>
        <p:nvSpPr>
          <p:cNvPr id="42026" name="Rectangle 35"/>
          <p:cNvSpPr>
            <a:spLocks noChangeArrowheads="1"/>
          </p:cNvSpPr>
          <p:nvPr/>
        </p:nvSpPr>
        <p:spPr bwMode="auto">
          <a:xfrm>
            <a:off x="5333389" y="3780927"/>
            <a:ext cx="372159"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cxnSp>
        <p:nvCxnSpPr>
          <p:cNvPr id="42027" name="AutoShape 45"/>
          <p:cNvCxnSpPr>
            <a:cxnSpLocks noChangeShapeType="1"/>
          </p:cNvCxnSpPr>
          <p:nvPr/>
        </p:nvCxnSpPr>
        <p:spPr bwMode="auto">
          <a:xfrm>
            <a:off x="5096479" y="2332674"/>
            <a:ext cx="804138" cy="681295"/>
          </a:xfrm>
          <a:prstGeom prst="straightConnector1">
            <a:avLst/>
          </a:prstGeom>
          <a:noFill/>
          <a:ln w="3810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8" name="AutoShape 46"/>
          <p:cNvCxnSpPr>
            <a:cxnSpLocks noChangeShapeType="1"/>
            <a:stCxn id="43" idx="2"/>
            <a:endCxn id="30" idx="0"/>
          </p:cNvCxnSpPr>
          <p:nvPr/>
        </p:nvCxnSpPr>
        <p:spPr bwMode="auto">
          <a:xfrm>
            <a:off x="4937907" y="1674062"/>
            <a:ext cx="0" cy="190816"/>
          </a:xfrm>
          <a:prstGeom prst="straightConnector1">
            <a:avLst/>
          </a:prstGeom>
          <a:noFill/>
          <a:ln w="3810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9" name="AutoShape 47"/>
          <p:cNvCxnSpPr>
            <a:cxnSpLocks noChangeShapeType="1"/>
          </p:cNvCxnSpPr>
          <p:nvPr/>
        </p:nvCxnSpPr>
        <p:spPr bwMode="auto">
          <a:xfrm flipH="1">
            <a:off x="4031790" y="2332674"/>
            <a:ext cx="737037" cy="681295"/>
          </a:xfrm>
          <a:prstGeom prst="straightConnector1">
            <a:avLst/>
          </a:prstGeom>
          <a:noFill/>
          <a:ln w="3810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Rectangle 32"/>
          <p:cNvSpPr>
            <a:spLocks noChangeArrowheads="1"/>
          </p:cNvSpPr>
          <p:nvPr/>
        </p:nvSpPr>
        <p:spPr bwMode="auto">
          <a:xfrm>
            <a:off x="4003493" y="1864878"/>
            <a:ext cx="1868827" cy="480522"/>
          </a:xfrm>
          <a:prstGeom prst="rect">
            <a:avLst/>
          </a:prstGeom>
          <a:solidFill>
            <a:srgbClr val="FF9933"/>
          </a:solidFill>
          <a:ln w="28575">
            <a:solidFill>
              <a:srgbClr val="000066"/>
            </a:solidFill>
            <a:miter lim="800000"/>
            <a:headEnd/>
            <a:tailEnd/>
          </a:ln>
          <a:effectLst/>
        </p:spPr>
        <p:txBody>
          <a:bodyPr wrap="none" anchor="ctr"/>
          <a:lstStyle/>
          <a:p>
            <a:pPr algn="ctr" eaLnBrk="0" fontAlgn="auto" hangingPunct="0">
              <a:spcBef>
                <a:spcPts val="0"/>
              </a:spcBef>
              <a:spcAft>
                <a:spcPts val="0"/>
              </a:spcAft>
              <a:defRPr/>
            </a:pPr>
            <a:r>
              <a:rPr kumimoji="1" lang="zh-CN" altLang="en-US" sz="1400" b="1" dirty="0">
                <a:solidFill>
                  <a:srgbClr val="0033CC"/>
                </a:solidFill>
                <a:latin typeface="微软雅黑" pitchFamily="34" charset="-122"/>
                <a:ea typeface="微软雅黑" pitchFamily="34" charset="-122"/>
              </a:rPr>
              <a:t>互联网体系结构</a:t>
            </a:r>
          </a:p>
          <a:p>
            <a:pPr algn="ctr" eaLnBrk="0" fontAlgn="auto" hangingPunct="0">
              <a:spcBef>
                <a:spcPts val="0"/>
              </a:spcBef>
              <a:spcAft>
                <a:spcPts val="0"/>
              </a:spcAft>
              <a:defRPr/>
            </a:pPr>
            <a:r>
              <a:rPr kumimoji="1" lang="zh-CN" altLang="en-US" sz="1400" b="1" dirty="0">
                <a:solidFill>
                  <a:srgbClr val="0033CC"/>
                </a:solidFill>
                <a:latin typeface="微软雅黑" pitchFamily="34" charset="-122"/>
                <a:ea typeface="微软雅黑" pitchFamily="34" charset="-122"/>
              </a:rPr>
              <a:t>研究委员会 </a:t>
            </a:r>
            <a:r>
              <a:rPr kumimoji="1" lang="en-US" altLang="zh-CN" sz="1400" b="1" dirty="0">
                <a:solidFill>
                  <a:srgbClr val="0033CC"/>
                </a:solidFill>
                <a:latin typeface="微软雅黑" pitchFamily="34" charset="-122"/>
                <a:ea typeface="微软雅黑" pitchFamily="34" charset="-122"/>
              </a:rPr>
              <a:t>IAB </a:t>
            </a:r>
          </a:p>
        </p:txBody>
      </p:sp>
      <p:sp>
        <p:nvSpPr>
          <p:cNvPr id="42008" name="Rectangle 10"/>
          <p:cNvSpPr>
            <a:spLocks noChangeArrowheads="1"/>
          </p:cNvSpPr>
          <p:nvPr/>
        </p:nvSpPr>
        <p:spPr bwMode="auto">
          <a:xfrm>
            <a:off x="2455830" y="2981845"/>
            <a:ext cx="1890096" cy="418950"/>
          </a:xfrm>
          <a:prstGeom prst="rect">
            <a:avLst/>
          </a:prstGeom>
          <a:ln>
            <a:solidFill>
              <a:srgbClr val="000099"/>
            </a:solidFill>
          </a:ln>
        </p:spPr>
        <p:style>
          <a:lnRef idx="2">
            <a:schemeClr val="accent3"/>
          </a:lnRef>
          <a:fillRef idx="1">
            <a:schemeClr val="lt1"/>
          </a:fillRef>
          <a:effectRef idx="0">
            <a:schemeClr val="accent3"/>
          </a:effectRef>
          <a:fontRef idx="minor">
            <a:schemeClr val="dk1"/>
          </a:fontRef>
        </p:style>
        <p:txBody>
          <a:bodyPr wrap="none" anchor="ctr"/>
          <a:lstStyle/>
          <a:p>
            <a:pPr algn="ctr" eaLnBrk="0" hangingPunct="0"/>
            <a:r>
              <a:rPr kumimoji="1" lang="zh-CN" altLang="en-US" sz="1200" b="1" dirty="0">
                <a:solidFill>
                  <a:srgbClr val="000099"/>
                </a:solidFill>
                <a:latin typeface="微软雅黑" pitchFamily="34" charset="-122"/>
                <a:ea typeface="微软雅黑" pitchFamily="34" charset="-122"/>
              </a:rPr>
              <a:t>互联网研究指导小组</a:t>
            </a:r>
          </a:p>
          <a:p>
            <a:pPr algn="ctr" eaLnBrk="0" hangingPunct="0"/>
            <a:r>
              <a:rPr kumimoji="1" lang="en-US" altLang="zh-CN" sz="1200" b="1" dirty="0">
                <a:solidFill>
                  <a:srgbClr val="000099"/>
                </a:solidFill>
                <a:latin typeface="微软雅黑" pitchFamily="34" charset="-122"/>
                <a:ea typeface="微软雅黑" pitchFamily="34" charset="-122"/>
              </a:rPr>
              <a:t>IRSG </a:t>
            </a:r>
          </a:p>
        </p:txBody>
      </p:sp>
      <p:sp>
        <p:nvSpPr>
          <p:cNvPr id="42011" name="Rectangle 16"/>
          <p:cNvSpPr>
            <a:spLocks noChangeArrowheads="1"/>
          </p:cNvSpPr>
          <p:nvPr/>
        </p:nvSpPr>
        <p:spPr bwMode="auto">
          <a:xfrm>
            <a:off x="5582387" y="2981845"/>
            <a:ext cx="1840716" cy="418950"/>
          </a:xfrm>
          <a:prstGeom prst="rect">
            <a:avLst/>
          </a:prstGeom>
          <a:ln>
            <a:solidFill>
              <a:srgbClr val="000099"/>
            </a:solidFill>
          </a:ln>
        </p:spPr>
        <p:style>
          <a:lnRef idx="2">
            <a:schemeClr val="accent3"/>
          </a:lnRef>
          <a:fillRef idx="1">
            <a:schemeClr val="lt1"/>
          </a:fillRef>
          <a:effectRef idx="0">
            <a:schemeClr val="accent3"/>
          </a:effectRef>
          <a:fontRef idx="minor">
            <a:schemeClr val="dk1"/>
          </a:fontRef>
        </p:style>
        <p:txBody>
          <a:bodyPr wrap="none" anchor="ctr"/>
          <a:lstStyle/>
          <a:p>
            <a:pPr algn="ctr" eaLnBrk="0" hangingPunct="0"/>
            <a:r>
              <a:rPr kumimoji="1" lang="zh-CN" altLang="en-US" sz="1200" b="1" dirty="0">
                <a:solidFill>
                  <a:srgbClr val="000099"/>
                </a:solidFill>
                <a:latin typeface="微软雅黑" pitchFamily="34" charset="-122"/>
                <a:ea typeface="微软雅黑" pitchFamily="34" charset="-122"/>
              </a:rPr>
              <a:t>互联网工程指导小组</a:t>
            </a:r>
          </a:p>
          <a:p>
            <a:pPr algn="ctr" eaLnBrk="0" hangingPunct="0"/>
            <a:r>
              <a:rPr kumimoji="1" lang="en-US" altLang="zh-CN" sz="1200" b="1" dirty="0">
                <a:solidFill>
                  <a:srgbClr val="000099"/>
                </a:solidFill>
                <a:latin typeface="微软雅黑" pitchFamily="34" charset="-122"/>
                <a:ea typeface="微软雅黑" pitchFamily="34" charset="-122"/>
              </a:rPr>
              <a:t>IESG </a:t>
            </a:r>
          </a:p>
        </p:txBody>
      </p:sp>
      <p:sp>
        <p:nvSpPr>
          <p:cNvPr id="43" name="Rectangle 5"/>
          <p:cNvSpPr>
            <a:spLocks noChangeArrowheads="1"/>
          </p:cNvSpPr>
          <p:nvPr/>
        </p:nvSpPr>
        <p:spPr bwMode="auto">
          <a:xfrm>
            <a:off x="4003493" y="1244565"/>
            <a:ext cx="1868827" cy="429497"/>
          </a:xfrm>
          <a:prstGeom prst="rect">
            <a:avLst/>
          </a:prstGeom>
          <a:solidFill>
            <a:srgbClr val="339933"/>
          </a:solidFill>
          <a:ln w="28575">
            <a:solidFill>
              <a:srgbClr val="000066"/>
            </a:solidFill>
            <a:miter lim="800000"/>
            <a:headEnd/>
            <a:tailEnd/>
          </a:ln>
          <a:effectLst/>
        </p:spPr>
        <p:txBody>
          <a:bodyPr wrap="none" anchor="ctr"/>
          <a:lstStyle/>
          <a:p>
            <a:pPr algn="ctr" eaLnBrk="0" fontAlgn="auto" hangingPunct="0">
              <a:spcBef>
                <a:spcPts val="0"/>
              </a:spcBef>
              <a:spcAft>
                <a:spcPts val="0"/>
              </a:spcAft>
              <a:defRPr/>
            </a:pPr>
            <a:r>
              <a:rPr kumimoji="1" lang="zh-CN" altLang="en-US" sz="1400" b="1" dirty="0">
                <a:solidFill>
                  <a:schemeClr val="bg1"/>
                </a:solidFill>
                <a:latin typeface="微软雅黑" pitchFamily="34" charset="-122"/>
                <a:ea typeface="微软雅黑" pitchFamily="34" charset="-122"/>
              </a:rPr>
              <a:t>互联网协会 </a:t>
            </a:r>
            <a:r>
              <a:rPr kumimoji="1" lang="en-US" altLang="zh-CN" sz="1400" b="1" dirty="0">
                <a:solidFill>
                  <a:schemeClr val="bg1"/>
                </a:solidFill>
                <a:latin typeface="微软雅黑" pitchFamily="34" charset="-122"/>
                <a:ea typeface="微软雅黑" pitchFamily="34" charset="-122"/>
              </a:rPr>
              <a:t>ISOC</a:t>
            </a:r>
          </a:p>
        </p:txBody>
      </p:sp>
      <p:sp>
        <p:nvSpPr>
          <p:cNvPr id="2" name="内容占位符 1"/>
          <p:cNvSpPr>
            <a:spLocks noGrp="1"/>
          </p:cNvSpPr>
          <p:nvPr>
            <p:ph sz="quarter" idx="10"/>
          </p:nvPr>
        </p:nvSpPr>
        <p:spPr>
          <a:xfrm>
            <a:off x="466344" y="969626"/>
            <a:ext cx="8129016" cy="3389873"/>
          </a:xfrm>
        </p:spPr>
        <p:txBody>
          <a:bodyPr/>
          <a:lstStyle/>
          <a:p>
            <a:r>
              <a:rPr lang="zh-CN" altLang="en-US" dirty="0"/>
              <a:t>互联网的标准化工作对互联网的发展起到了非常重要的作用。</a:t>
            </a:r>
          </a:p>
        </p:txBody>
      </p:sp>
      <p:sp>
        <p:nvSpPr>
          <p:cNvPr id="3" name="文本占位符 2"/>
          <p:cNvSpPr>
            <a:spLocks noGrp="1"/>
          </p:cNvSpPr>
          <p:nvPr>
            <p:ph type="body" sz="quarter" idx="11"/>
          </p:nvPr>
        </p:nvSpPr>
        <p:spPr>
          <a:xfrm>
            <a:off x="1214565" y="616998"/>
            <a:ext cx="6632575" cy="338554"/>
          </a:xfrm>
        </p:spPr>
        <p:txBody>
          <a:bodyPr/>
          <a:lstStyle/>
          <a:p>
            <a:r>
              <a:rPr lang="en-US" altLang="zh-CN" dirty="0"/>
              <a:t>1.2.3  </a:t>
            </a:r>
            <a:r>
              <a:rPr lang="zh-CN" altLang="en-US" dirty="0"/>
              <a:t>互联网的标准化工作</a:t>
            </a:r>
          </a:p>
        </p:txBody>
      </p:sp>
      <p:sp>
        <p:nvSpPr>
          <p:cNvPr id="37" name="Rectangle 8"/>
          <p:cNvSpPr>
            <a:spLocks noChangeArrowheads="1"/>
          </p:cNvSpPr>
          <p:nvPr/>
        </p:nvSpPr>
        <p:spPr bwMode="auto">
          <a:xfrm>
            <a:off x="3400878" y="4392488"/>
            <a:ext cx="313106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1600" b="1" dirty="0">
                <a:ea typeface="微软雅黑" pitchFamily="34" charset="-122"/>
              </a:rPr>
              <a:t>组织架构</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969626"/>
            <a:ext cx="8129016" cy="3389873"/>
          </a:xfrm>
        </p:spPr>
        <p:txBody>
          <a:bodyPr/>
          <a:lstStyle/>
          <a:p>
            <a:r>
              <a:rPr lang="en-US" altLang="zh-CN" dirty="0"/>
              <a:t>RFC</a:t>
            </a:r>
            <a:r>
              <a:rPr lang="zh-CN" altLang="en-US" dirty="0"/>
              <a:t>：</a:t>
            </a:r>
            <a:r>
              <a:rPr lang="en-US" altLang="zh-CN" dirty="0"/>
              <a:t>Request For Comments </a:t>
            </a:r>
            <a:r>
              <a:rPr lang="zh-CN" altLang="en-US" dirty="0"/>
              <a:t>（请求评论）。</a:t>
            </a:r>
            <a:endParaRPr lang="en-US" altLang="zh-CN" dirty="0"/>
          </a:p>
          <a:p>
            <a:r>
              <a:rPr lang="zh-CN" altLang="en-US" dirty="0"/>
              <a:t>所有的 </a:t>
            </a:r>
            <a:r>
              <a:rPr lang="en-US" altLang="zh-CN" dirty="0"/>
              <a:t>RFC </a:t>
            </a:r>
            <a:r>
              <a:rPr lang="zh-CN" altLang="en-US" dirty="0"/>
              <a:t>文档都可从互联网上免费下载。</a:t>
            </a:r>
            <a:endParaRPr lang="en-US" altLang="zh-CN" dirty="0"/>
          </a:p>
          <a:p>
            <a:r>
              <a:rPr lang="zh-CN" altLang="en-US" dirty="0"/>
              <a:t>任何人都可以用电子邮件随时发表对某个文档的意见或建议。</a:t>
            </a:r>
            <a:endParaRPr lang="en-US" altLang="zh-CN" dirty="0"/>
          </a:p>
          <a:p>
            <a:r>
              <a:rPr lang="zh-CN" altLang="en-US" dirty="0"/>
              <a:t>但并非所有的 </a:t>
            </a:r>
            <a:r>
              <a:rPr lang="en-US" altLang="zh-CN" dirty="0"/>
              <a:t>RFC </a:t>
            </a:r>
            <a:r>
              <a:rPr lang="zh-CN" altLang="en-US" dirty="0"/>
              <a:t>文档都是互联网标准。只有很少部分的 </a:t>
            </a:r>
            <a:r>
              <a:rPr lang="en-US" altLang="zh-CN" dirty="0"/>
              <a:t>RFC </a:t>
            </a:r>
            <a:r>
              <a:rPr lang="zh-CN" altLang="en-US" dirty="0"/>
              <a:t>文档最后才能变成互联网标准。</a:t>
            </a:r>
            <a:endParaRPr lang="en-US" altLang="zh-CN" dirty="0"/>
          </a:p>
          <a:p>
            <a:r>
              <a:rPr lang="en-US" altLang="zh-CN" dirty="0"/>
              <a:t>RFC </a:t>
            </a:r>
            <a:r>
              <a:rPr lang="zh-CN" altLang="en-US" dirty="0"/>
              <a:t>文档按发表时间的先后编上序号（即 </a:t>
            </a:r>
            <a:r>
              <a:rPr lang="en-US" altLang="zh-CN" dirty="0" err="1"/>
              <a:t>RFCxxxx</a:t>
            </a:r>
            <a:r>
              <a:rPr lang="zh-CN" altLang="en-US" dirty="0"/>
              <a:t>，</a:t>
            </a:r>
            <a:r>
              <a:rPr lang="en-US" altLang="zh-CN" dirty="0" err="1"/>
              <a:t>xxxx</a:t>
            </a:r>
            <a:r>
              <a:rPr lang="en-US" altLang="zh-CN" dirty="0"/>
              <a:t> </a:t>
            </a:r>
            <a:r>
              <a:rPr lang="zh-CN" altLang="en-US" dirty="0"/>
              <a:t>是阿拉伯数字）。</a:t>
            </a:r>
            <a:endParaRPr lang="en-US" altLang="zh-CN" dirty="0"/>
          </a:p>
        </p:txBody>
      </p:sp>
      <p:sp>
        <p:nvSpPr>
          <p:cNvPr id="4" name="文本占位符 3"/>
          <p:cNvSpPr>
            <a:spLocks noGrp="1"/>
          </p:cNvSpPr>
          <p:nvPr>
            <p:ph type="body" sz="quarter" idx="11"/>
          </p:nvPr>
        </p:nvSpPr>
        <p:spPr>
          <a:xfrm>
            <a:off x="1214565" y="616998"/>
            <a:ext cx="6632575" cy="338554"/>
          </a:xfrm>
        </p:spPr>
        <p:txBody>
          <a:bodyPr/>
          <a:lstStyle/>
          <a:p>
            <a:r>
              <a:rPr lang="zh-CN" altLang="en-US" dirty="0"/>
              <a:t>标准发表：以 </a:t>
            </a:r>
            <a:r>
              <a:rPr lang="en-US" altLang="zh-CN" dirty="0"/>
              <a:t>RFC </a:t>
            </a:r>
            <a:r>
              <a:rPr lang="zh-CN" altLang="en-US" dirty="0"/>
              <a:t>的形式</a:t>
            </a:r>
          </a:p>
        </p:txBody>
      </p:sp>
    </p:spTree>
    <p:extLst>
      <p:ext uri="{BB962C8B-B14F-4D97-AF65-F5344CB8AC3E}">
        <p14:creationId xmlns:p14="http://schemas.microsoft.com/office/powerpoint/2010/main" val="297599439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p:cNvGrpSpPr/>
          <p:nvPr/>
        </p:nvGrpSpPr>
        <p:grpSpPr>
          <a:xfrm>
            <a:off x="1143116" y="1041242"/>
            <a:ext cx="6731727" cy="3473765"/>
            <a:chOff x="1143116" y="1087304"/>
            <a:chExt cx="6731727" cy="3473765"/>
          </a:xfrm>
        </p:grpSpPr>
        <p:sp>
          <p:nvSpPr>
            <p:cNvPr id="27" name="圆角矩形 26"/>
            <p:cNvSpPr/>
            <p:nvPr/>
          </p:nvSpPr>
          <p:spPr>
            <a:xfrm>
              <a:off x="1143116" y="1657386"/>
              <a:ext cx="6731727" cy="2903683"/>
            </a:xfrm>
            <a:prstGeom prst="roundRect">
              <a:avLst>
                <a:gd name="adj" fmla="val 3266"/>
              </a:avLst>
            </a:prstGeom>
            <a:solidFill>
              <a:schemeClr val="bg1">
                <a:lumMod val="85000"/>
              </a:schemeClr>
            </a:solidFill>
            <a:ln>
              <a:noFill/>
            </a:ln>
          </p:spPr>
          <p:style>
            <a:lnRef idx="1">
              <a:schemeClr val="dk1"/>
            </a:lnRef>
            <a:fillRef idx="2">
              <a:schemeClr val="dk1"/>
            </a:fillRef>
            <a:effectRef idx="1">
              <a:schemeClr val="dk1"/>
            </a:effectRef>
            <a:fontRef idx="minor">
              <a:schemeClr val="dk1"/>
            </a:fontRef>
          </p:style>
          <p:txBody>
            <a:bodyPr rtlCol="0" anchor="ctr"/>
            <a:lstStyle/>
            <a:p>
              <a:pPr algn="ctr"/>
              <a:endParaRPr lang="zh-CN" altLang="en-US" sz="1400" dirty="0"/>
            </a:p>
          </p:txBody>
        </p:sp>
        <p:sp>
          <p:nvSpPr>
            <p:cNvPr id="28" name="文本框 27"/>
            <p:cNvSpPr txBox="1"/>
            <p:nvPr/>
          </p:nvSpPr>
          <p:spPr>
            <a:xfrm>
              <a:off x="3139910" y="1616294"/>
              <a:ext cx="1369070" cy="307777"/>
            </a:xfrm>
            <a:prstGeom prst="rect">
              <a:avLst/>
            </a:prstGeom>
            <a:noFill/>
          </p:spPr>
          <p:txBody>
            <a:bodyPr wrap="square" rtlCol="0">
              <a:spAutoFit/>
            </a:bodyPr>
            <a:lstStyle/>
            <a:p>
              <a:pPr algn="r"/>
              <a:r>
                <a:rPr lang="en-US" altLang="zh-CN" sz="1400" b="1" dirty="0" err="1">
                  <a:latin typeface="微软雅黑" panose="020B0503020204020204" pitchFamily="34" charset="-122"/>
                  <a:ea typeface="微软雅黑" panose="020B0503020204020204" pitchFamily="34" charset="-122"/>
                </a:rPr>
                <a:t>RFCxxxx</a:t>
              </a:r>
              <a:endParaRPr lang="zh-CN" altLang="en-US" sz="1400" b="1" dirty="0">
                <a:latin typeface="微软雅黑" panose="020B0503020204020204" pitchFamily="34" charset="-122"/>
                <a:ea typeface="微软雅黑" panose="020B0503020204020204" pitchFamily="34" charset="-122"/>
              </a:endParaRPr>
            </a:p>
          </p:txBody>
        </p:sp>
        <p:cxnSp>
          <p:nvCxnSpPr>
            <p:cNvPr id="43021" name="直接箭头连接符 43020"/>
            <p:cNvCxnSpPr/>
            <p:nvPr/>
          </p:nvCxnSpPr>
          <p:spPr>
            <a:xfrm flipH="1">
              <a:off x="2717895" y="1904139"/>
              <a:ext cx="3595815" cy="0"/>
            </a:xfrm>
            <a:prstGeom prst="straightConnector1">
              <a:avLst/>
            </a:prstGeom>
            <a:ln w="1905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2" name="直接箭头连接符 81"/>
            <p:cNvCxnSpPr/>
            <p:nvPr/>
          </p:nvCxnSpPr>
          <p:spPr>
            <a:xfrm>
              <a:off x="4528448" y="1491288"/>
              <a:ext cx="0" cy="408414"/>
            </a:xfrm>
            <a:prstGeom prst="straightConnector1">
              <a:avLst/>
            </a:prstGeom>
            <a:ln w="1905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0" name="任意多边形 19"/>
            <p:cNvSpPr/>
            <p:nvPr/>
          </p:nvSpPr>
          <p:spPr>
            <a:xfrm>
              <a:off x="3413711" y="1087304"/>
              <a:ext cx="2229474" cy="464358"/>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rgbClr val="00FFFF"/>
            </a:solidFill>
            <a:ln>
              <a:noFill/>
            </a:ln>
            <a:scene3d>
              <a:camera prst="orthographicFront"/>
              <a:lightRig rig="flat" dir="t"/>
            </a:scene3d>
            <a:sp3d prstMaterial="dkEdge">
              <a:bevelT w="8200" h="38100"/>
            </a:sp3d>
          </p:spPr>
          <p:style>
            <a:lnRef idx="1">
              <a:schemeClr val="accent5"/>
            </a:lnRef>
            <a:fillRef idx="2">
              <a:schemeClr val="accent5"/>
            </a:fillRef>
            <a:effectRef idx="1">
              <a:schemeClr val="accent5"/>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b="1" kern="1200" dirty="0">
                  <a:latin typeface="微软雅黑" panose="020B0503020204020204" pitchFamily="34" charset="-122"/>
                  <a:ea typeface="微软雅黑" panose="020B0503020204020204" pitchFamily="34" charset="-122"/>
                </a:rPr>
                <a:t>互联网草案</a:t>
              </a:r>
              <a:endParaRPr lang="en-US" altLang="zh-CN" sz="1200" b="1" kern="1200" dirty="0">
                <a:latin typeface="微软雅黑" panose="020B0503020204020204" pitchFamily="34" charset="-122"/>
                <a:ea typeface="微软雅黑" panose="020B0503020204020204" pitchFamily="34" charset="-122"/>
              </a:endParaRPr>
            </a:p>
            <a:p>
              <a:pPr lvl="0" algn="ctr" defTabSz="800100">
                <a:spcBef>
                  <a:spcPct val="0"/>
                </a:spcBef>
                <a:spcAft>
                  <a:spcPts val="0"/>
                </a:spcAft>
              </a:pPr>
              <a:r>
                <a:rPr lang="zh-CN" altLang="en-US" sz="1200" b="1" kern="1200" dirty="0">
                  <a:latin typeface="微软雅黑" panose="020B0503020204020204" pitchFamily="34" charset="-122"/>
                  <a:ea typeface="微软雅黑" panose="020B0503020204020204" pitchFamily="34" charset="-122"/>
                </a:rPr>
                <a:t> </a:t>
              </a:r>
              <a:r>
                <a:rPr lang="en-US" altLang="en-US" sz="1200" b="1" kern="1200" dirty="0">
                  <a:latin typeface="微软雅黑" panose="020B0503020204020204" pitchFamily="34" charset="-122"/>
                  <a:ea typeface="微软雅黑" panose="020B0503020204020204" pitchFamily="34" charset="-122"/>
                </a:rPr>
                <a:t>(Internet Draft)</a:t>
              </a:r>
              <a:endParaRPr lang="zh-CN" altLang="en-US" sz="1200" b="1" kern="1200" dirty="0">
                <a:latin typeface="微软雅黑" panose="020B0503020204020204" pitchFamily="34" charset="-122"/>
                <a:ea typeface="微软雅黑" panose="020B0503020204020204" pitchFamily="34" charset="-122"/>
              </a:endParaRPr>
            </a:p>
          </p:txBody>
        </p:sp>
        <p:sp>
          <p:nvSpPr>
            <p:cNvPr id="7" name="圆角矩形 6"/>
            <p:cNvSpPr/>
            <p:nvPr/>
          </p:nvSpPr>
          <p:spPr>
            <a:xfrm>
              <a:off x="1454345" y="2011680"/>
              <a:ext cx="2542903" cy="2412274"/>
            </a:xfrm>
            <a:prstGeom prst="roundRect">
              <a:avLst>
                <a:gd name="adj" fmla="val 2949"/>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任意多边形 32"/>
            <p:cNvSpPr/>
            <p:nvPr/>
          </p:nvSpPr>
          <p:spPr>
            <a:xfrm>
              <a:off x="1755952" y="2395071"/>
              <a:ext cx="1937432" cy="436333"/>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rgbClr val="92D050"/>
            </a:solidFill>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建议标准 </a:t>
              </a:r>
              <a:endParaRPr lang="en-US" altLang="zh-CN" sz="1100" b="1" kern="1200" dirty="0">
                <a:latin typeface="微软雅黑" panose="020B0503020204020204" pitchFamily="34" charset="-122"/>
                <a:ea typeface="微软雅黑" panose="020B0503020204020204" pitchFamily="34" charset="-122"/>
              </a:endParaRPr>
            </a:p>
            <a:p>
              <a:pPr lvl="0" algn="ctr" defTabSz="800100">
                <a:spcBef>
                  <a:spcPct val="0"/>
                </a:spcBef>
                <a:spcAft>
                  <a:spcPts val="0"/>
                </a:spcAft>
              </a:pPr>
              <a:r>
                <a:rPr lang="en-US" altLang="en-US" sz="1100" b="1" kern="1200" dirty="0">
                  <a:latin typeface="微软雅黑" panose="020B0503020204020204" pitchFamily="34" charset="-122"/>
                  <a:ea typeface="微软雅黑" panose="020B0503020204020204" pitchFamily="34" charset="-122"/>
                </a:rPr>
                <a:t>(Proposed Standard)</a:t>
              </a:r>
              <a:endParaRPr lang="zh-CN" altLang="en-US" sz="1100" b="1" kern="1200" dirty="0">
                <a:latin typeface="微软雅黑" panose="020B0503020204020204" pitchFamily="34" charset="-122"/>
                <a:ea typeface="微软雅黑" panose="020B0503020204020204" pitchFamily="34" charset="-122"/>
              </a:endParaRPr>
            </a:p>
          </p:txBody>
        </p:sp>
        <p:sp>
          <p:nvSpPr>
            <p:cNvPr id="34" name="任意多边形 33"/>
            <p:cNvSpPr/>
            <p:nvPr/>
          </p:nvSpPr>
          <p:spPr>
            <a:xfrm>
              <a:off x="1755952" y="3699085"/>
              <a:ext cx="1937432" cy="617856"/>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rgbClr val="FF9900"/>
            </a:solidFill>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互联网标准</a:t>
              </a:r>
              <a:endParaRPr lang="en-US" altLang="zh-CN" sz="1100" b="1" kern="1200" dirty="0">
                <a:latin typeface="微软雅黑" panose="020B0503020204020204" pitchFamily="34" charset="-122"/>
                <a:ea typeface="微软雅黑" panose="020B0503020204020204" pitchFamily="34" charset="-122"/>
              </a:endParaRPr>
            </a:p>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 </a:t>
              </a:r>
              <a:r>
                <a:rPr lang="en-US" altLang="en-US" sz="1100" b="1" kern="1200" dirty="0">
                  <a:latin typeface="微软雅黑" panose="020B0503020204020204" pitchFamily="34" charset="-122"/>
                  <a:ea typeface="微软雅黑" panose="020B0503020204020204" pitchFamily="34" charset="-122"/>
                </a:rPr>
                <a:t>(Internet Standard)</a:t>
              </a:r>
            </a:p>
            <a:p>
              <a:pPr lvl="0" algn="ctr" defTabSz="800100">
                <a:spcAft>
                  <a:spcPts val="0"/>
                </a:spcAft>
              </a:pPr>
              <a:r>
                <a:rPr lang="en-US" altLang="zh-CN" sz="1100" b="1" dirty="0">
                  <a:latin typeface="微软雅黑" panose="020B0503020204020204" pitchFamily="34" charset="-122"/>
                  <a:ea typeface="微软雅黑" panose="020B0503020204020204" pitchFamily="34" charset="-122"/>
                </a:rPr>
                <a:t>(</a:t>
              </a:r>
              <a:r>
                <a:rPr lang="zh-CN" altLang="en-US" sz="1100" b="1" dirty="0">
                  <a:latin typeface="微软雅黑" panose="020B0503020204020204" pitchFamily="34" charset="-122"/>
                  <a:ea typeface="微软雅黑" panose="020B0503020204020204" pitchFamily="34" charset="-122"/>
                </a:rPr>
                <a:t>记为 </a:t>
              </a:r>
              <a:r>
                <a:rPr lang="en-US" altLang="zh-CN" sz="1100" b="1" dirty="0" err="1">
                  <a:latin typeface="微软雅黑" panose="020B0503020204020204" pitchFamily="34" charset="-122"/>
                  <a:ea typeface="微软雅黑" panose="020B0503020204020204" pitchFamily="34" charset="-122"/>
                </a:rPr>
                <a:t>STDxx</a:t>
              </a:r>
              <a:r>
                <a:rPr lang="en-US" altLang="zh-CN" sz="1100" b="1" dirty="0">
                  <a:latin typeface="微软雅黑" panose="020B0503020204020204" pitchFamily="34" charset="-122"/>
                  <a:ea typeface="微软雅黑" panose="020B0503020204020204" pitchFamily="34" charset="-122"/>
                </a:rPr>
                <a:t>)</a:t>
              </a:r>
              <a:endParaRPr lang="zh-CN" altLang="en-US" sz="1100" b="1" kern="1200" dirty="0">
                <a:latin typeface="微软雅黑" panose="020B0503020204020204" pitchFamily="34" charset="-122"/>
                <a:ea typeface="微软雅黑" panose="020B0503020204020204" pitchFamily="34" charset="-122"/>
              </a:endParaRPr>
            </a:p>
          </p:txBody>
        </p:sp>
        <p:sp>
          <p:nvSpPr>
            <p:cNvPr id="35" name="任意多边形 34"/>
            <p:cNvSpPr/>
            <p:nvPr/>
          </p:nvSpPr>
          <p:spPr>
            <a:xfrm>
              <a:off x="2194579" y="3067623"/>
              <a:ext cx="1498805"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tx2">
                <a:lumMod val="60000"/>
                <a:lumOff val="40000"/>
              </a:schemeClr>
            </a:solidFill>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草案标准</a:t>
              </a:r>
              <a:endParaRPr lang="en-US" altLang="zh-CN" sz="1100" b="1" kern="1200" dirty="0">
                <a:latin typeface="微软雅黑" panose="020B0503020204020204" pitchFamily="34" charset="-122"/>
                <a:ea typeface="微软雅黑" panose="020B0503020204020204" pitchFamily="34" charset="-122"/>
              </a:endParaRPr>
            </a:p>
            <a:p>
              <a:pPr lvl="0" algn="ctr" defTabSz="800100">
                <a:spcAft>
                  <a:spcPts val="0"/>
                </a:spcAft>
              </a:pPr>
              <a:r>
                <a:rPr lang="zh-CN" altLang="en-US" sz="1100" b="1" kern="1200" dirty="0">
                  <a:latin typeface="微软雅黑" panose="020B0503020204020204" pitchFamily="34" charset="-122"/>
                  <a:ea typeface="微软雅黑" panose="020B0503020204020204" pitchFamily="34" charset="-122"/>
                </a:rPr>
                <a:t> </a:t>
              </a:r>
              <a:r>
                <a:rPr lang="en-US" altLang="en-US" sz="1100" b="1" dirty="0">
                  <a:latin typeface="微软雅黑" panose="020B0503020204020204" pitchFamily="34" charset="-122"/>
                  <a:ea typeface="微软雅黑" panose="020B0503020204020204" pitchFamily="34" charset="-122"/>
                </a:rPr>
                <a:t>(Draft </a:t>
              </a:r>
              <a:r>
                <a:rPr lang="en-US" altLang="en-US" sz="1100" b="1" kern="1200" dirty="0">
                  <a:latin typeface="微软雅黑" panose="020B0503020204020204" pitchFamily="34" charset="-122"/>
                  <a:ea typeface="微软雅黑" panose="020B0503020204020204" pitchFamily="34" charset="-122"/>
                </a:rPr>
                <a:t>Standard)</a:t>
              </a:r>
              <a:endParaRPr lang="zh-CN" altLang="en-US" sz="1100" b="1" kern="1200" dirty="0">
                <a:latin typeface="微软雅黑" panose="020B0503020204020204" pitchFamily="34" charset="-122"/>
                <a:ea typeface="微软雅黑" panose="020B0503020204020204" pitchFamily="34" charset="-122"/>
              </a:endParaRPr>
            </a:p>
          </p:txBody>
        </p:sp>
        <p:cxnSp>
          <p:nvCxnSpPr>
            <p:cNvPr id="133" name="直接箭头连接符 132"/>
            <p:cNvCxnSpPr/>
            <p:nvPr/>
          </p:nvCxnSpPr>
          <p:spPr>
            <a:xfrm>
              <a:off x="2717890" y="2845397"/>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34" name="直接箭头连接符 133"/>
            <p:cNvCxnSpPr/>
            <p:nvPr/>
          </p:nvCxnSpPr>
          <p:spPr>
            <a:xfrm>
              <a:off x="2717890" y="3487961"/>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56" name="直接箭头连接符 155"/>
            <p:cNvCxnSpPr/>
            <p:nvPr/>
          </p:nvCxnSpPr>
          <p:spPr>
            <a:xfrm>
              <a:off x="2029912" y="2845397"/>
              <a:ext cx="0" cy="852467"/>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55" name="直接箭头连接符 54"/>
            <p:cNvCxnSpPr/>
            <p:nvPr/>
          </p:nvCxnSpPr>
          <p:spPr>
            <a:xfrm>
              <a:off x="2717890" y="1899702"/>
              <a:ext cx="0" cy="495369"/>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9" name="矩形 8"/>
            <p:cNvSpPr/>
            <p:nvPr/>
          </p:nvSpPr>
          <p:spPr>
            <a:xfrm>
              <a:off x="1463726" y="2020455"/>
              <a:ext cx="902811"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标准轨道</a:t>
              </a:r>
            </a:p>
          </p:txBody>
        </p:sp>
        <p:cxnSp>
          <p:nvCxnSpPr>
            <p:cNvPr id="40" name="直接箭头连接符 39"/>
            <p:cNvCxnSpPr/>
            <p:nvPr/>
          </p:nvCxnSpPr>
          <p:spPr>
            <a:xfrm>
              <a:off x="3693384" y="2621552"/>
              <a:ext cx="480196"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41" name="直接箭头连接符 40"/>
            <p:cNvCxnSpPr/>
            <p:nvPr/>
          </p:nvCxnSpPr>
          <p:spPr>
            <a:xfrm>
              <a:off x="3693384" y="3283408"/>
              <a:ext cx="480196"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p:nvPr/>
          </p:nvCxnSpPr>
          <p:spPr>
            <a:xfrm>
              <a:off x="3693384" y="4032355"/>
              <a:ext cx="480196"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47" name="直接箭头连接符 46"/>
            <p:cNvCxnSpPr/>
            <p:nvPr/>
          </p:nvCxnSpPr>
          <p:spPr>
            <a:xfrm>
              <a:off x="4173580" y="2627817"/>
              <a:ext cx="0" cy="1404261"/>
            </a:xfrm>
            <a:prstGeom prst="straightConnector1">
              <a:avLst/>
            </a:prstGeom>
            <a:ln w="19050">
              <a:prstDash val="sys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圆角矩形 47"/>
            <p:cNvSpPr/>
            <p:nvPr/>
          </p:nvSpPr>
          <p:spPr>
            <a:xfrm>
              <a:off x="5076712" y="2011680"/>
              <a:ext cx="2542903" cy="2412274"/>
            </a:xfrm>
            <a:prstGeom prst="roundRect">
              <a:avLst>
                <a:gd name="adj" fmla="val 2949"/>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6505318" y="2020455"/>
              <a:ext cx="1083909" cy="276999"/>
            </a:xfrm>
            <a:prstGeom prst="rect">
              <a:avLst/>
            </a:prstGeom>
            <a:noFill/>
          </p:spPr>
          <p:txBody>
            <a:bodyPr wrap="square" rtlCol="0">
              <a:spAutoFit/>
            </a:bodyPr>
            <a:lstStyle/>
            <a:p>
              <a:pPr algn="r"/>
              <a:r>
                <a:rPr lang="zh-CN" altLang="en-US" sz="1200" b="1" dirty="0">
                  <a:latin typeface="微软雅黑" panose="020B0503020204020204" pitchFamily="34" charset="-122"/>
                  <a:ea typeface="微软雅黑" panose="020B0503020204020204" pitchFamily="34" charset="-122"/>
                </a:rPr>
                <a:t>非标准轨道</a:t>
              </a:r>
            </a:p>
          </p:txBody>
        </p:sp>
        <p:sp>
          <p:nvSpPr>
            <p:cNvPr id="36" name="任意多边形 35"/>
            <p:cNvSpPr/>
            <p:nvPr/>
          </p:nvSpPr>
          <p:spPr>
            <a:xfrm>
              <a:off x="5354664" y="3804703"/>
              <a:ext cx="1942670" cy="406619"/>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accent5">
                <a:lumMod val="20000"/>
                <a:lumOff val="80000"/>
              </a:schemeClr>
            </a:solidFill>
            <a:ln>
              <a:solidFill>
                <a:schemeClr val="tx1"/>
              </a:solid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100" b="1" dirty="0">
                  <a:latin typeface="微软雅黑" panose="020B0503020204020204" pitchFamily="34" charset="-122"/>
                  <a:ea typeface="微软雅黑" panose="020B0503020204020204" pitchFamily="34" charset="-122"/>
                </a:rPr>
                <a:t>历史</a:t>
              </a:r>
              <a:endParaRPr lang="en-US" altLang="zh-CN" sz="1100" b="1" dirty="0">
                <a:latin typeface="微软雅黑" panose="020B0503020204020204" pitchFamily="34" charset="-122"/>
                <a:ea typeface="微软雅黑" panose="020B0503020204020204" pitchFamily="34" charset="-122"/>
              </a:endParaRPr>
            </a:p>
            <a:p>
              <a:pPr lvl="0" algn="ctr" defTabSz="800100">
                <a:spcAft>
                  <a:spcPts val="0"/>
                </a:spcAft>
              </a:pPr>
              <a:r>
                <a:rPr lang="en-US" altLang="en-US" sz="1100" b="1" kern="1200" dirty="0">
                  <a:latin typeface="微软雅黑" panose="020B0503020204020204" pitchFamily="34" charset="-122"/>
                  <a:ea typeface="微软雅黑" panose="020B0503020204020204" pitchFamily="34" charset="-122"/>
                </a:rPr>
                <a:t>(</a:t>
              </a:r>
              <a:r>
                <a:rPr lang="en-US" altLang="zh-CN" sz="1100" b="1" kern="1200" dirty="0">
                  <a:latin typeface="微软雅黑" panose="020B0503020204020204" pitchFamily="34" charset="-122"/>
                  <a:ea typeface="微软雅黑" panose="020B0503020204020204" pitchFamily="34" charset="-122"/>
                </a:rPr>
                <a:t>Historic</a:t>
              </a:r>
              <a:r>
                <a:rPr lang="en-US" altLang="en-US" sz="1100" b="1" kern="1200" dirty="0">
                  <a:latin typeface="微软雅黑" panose="020B0503020204020204" pitchFamily="34" charset="-122"/>
                  <a:ea typeface="微软雅黑" panose="020B0503020204020204" pitchFamily="34" charset="-122"/>
                </a:rPr>
                <a:t>)</a:t>
              </a:r>
              <a:endParaRPr lang="zh-CN" altLang="en-US" sz="1100" b="1" kern="1200" dirty="0">
                <a:latin typeface="微软雅黑" panose="020B0503020204020204" pitchFamily="34" charset="-122"/>
                <a:ea typeface="微软雅黑" panose="020B0503020204020204" pitchFamily="34" charset="-122"/>
              </a:endParaRPr>
            </a:p>
          </p:txBody>
        </p:sp>
        <p:sp>
          <p:nvSpPr>
            <p:cNvPr id="37" name="任意多边形 36"/>
            <p:cNvSpPr/>
            <p:nvPr/>
          </p:nvSpPr>
          <p:spPr>
            <a:xfrm>
              <a:off x="5354664" y="3109228"/>
              <a:ext cx="1942670"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accent5">
                <a:lumMod val="20000"/>
                <a:lumOff val="80000"/>
              </a:schemeClr>
            </a:solidFill>
            <a:ln>
              <a:solidFill>
                <a:schemeClr val="tx1"/>
              </a:solid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100" b="1" dirty="0">
                  <a:latin typeface="微软雅黑" panose="020B0503020204020204" pitchFamily="34" charset="-122"/>
                  <a:ea typeface="微软雅黑" panose="020B0503020204020204" pitchFamily="34" charset="-122"/>
                </a:rPr>
                <a:t>信息</a:t>
              </a:r>
              <a:endParaRPr lang="en-US" altLang="zh-CN" sz="1100" b="1" dirty="0">
                <a:latin typeface="微软雅黑" panose="020B0503020204020204" pitchFamily="34" charset="-122"/>
                <a:ea typeface="微软雅黑" panose="020B0503020204020204" pitchFamily="34" charset="-122"/>
              </a:endParaRPr>
            </a:p>
            <a:p>
              <a:pPr lvl="0" algn="ctr" defTabSz="800100">
                <a:spcAft>
                  <a:spcPts val="0"/>
                </a:spcAft>
              </a:pPr>
              <a:r>
                <a:rPr lang="en-US" altLang="en-US" sz="1100" b="1" dirty="0">
                  <a:latin typeface="微软雅黑" panose="020B0503020204020204" pitchFamily="34" charset="-122"/>
                  <a:ea typeface="微软雅黑" panose="020B0503020204020204" pitchFamily="34" charset="-122"/>
                </a:rPr>
                <a:t>(Informational)</a:t>
              </a:r>
              <a:endParaRPr lang="zh-CN" altLang="en-US" sz="1100" b="1" kern="1200" dirty="0">
                <a:latin typeface="微软雅黑" panose="020B0503020204020204" pitchFamily="34" charset="-122"/>
                <a:ea typeface="微软雅黑" panose="020B0503020204020204" pitchFamily="34" charset="-122"/>
              </a:endParaRPr>
            </a:p>
          </p:txBody>
        </p:sp>
        <p:sp>
          <p:nvSpPr>
            <p:cNvPr id="38" name="任意多边形 37"/>
            <p:cNvSpPr/>
            <p:nvPr/>
          </p:nvSpPr>
          <p:spPr>
            <a:xfrm>
              <a:off x="5359902" y="2395071"/>
              <a:ext cx="1937432"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accent5">
                <a:lumMod val="20000"/>
                <a:lumOff val="80000"/>
              </a:schemeClr>
            </a:solidFill>
            <a:ln>
              <a:solidFill>
                <a:schemeClr val="tx1"/>
              </a:solid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dirty="0">
                  <a:latin typeface="微软雅黑" panose="020B0503020204020204" pitchFamily="34" charset="-122"/>
                  <a:ea typeface="微软雅黑" panose="020B0503020204020204" pitchFamily="34" charset="-122"/>
                </a:rPr>
                <a:t>实验</a:t>
              </a:r>
              <a:endParaRPr lang="en-US" altLang="zh-CN" sz="1100" b="1" kern="1200" dirty="0">
                <a:latin typeface="微软雅黑" panose="020B0503020204020204" pitchFamily="34" charset="-122"/>
                <a:ea typeface="微软雅黑" panose="020B0503020204020204" pitchFamily="34" charset="-122"/>
              </a:endParaRPr>
            </a:p>
            <a:p>
              <a:pPr lvl="0" algn="ctr" defTabSz="800100">
                <a:spcAft>
                  <a:spcPts val="0"/>
                </a:spcAft>
              </a:pPr>
              <a:r>
                <a:rPr lang="zh-CN" altLang="en-US" sz="1100" b="1" kern="1200" dirty="0">
                  <a:latin typeface="微软雅黑" panose="020B0503020204020204" pitchFamily="34" charset="-122"/>
                  <a:ea typeface="微软雅黑" panose="020B0503020204020204" pitchFamily="34" charset="-122"/>
                </a:rPr>
                <a:t> </a:t>
              </a:r>
              <a:r>
                <a:rPr lang="en-US" altLang="en-US" sz="1100" b="1" dirty="0">
                  <a:latin typeface="微软雅黑" panose="020B0503020204020204" pitchFamily="34" charset="-122"/>
                  <a:ea typeface="微软雅黑" panose="020B0503020204020204" pitchFamily="34" charset="-122"/>
                </a:rPr>
                <a:t>(</a:t>
              </a:r>
              <a:r>
                <a:rPr lang="en-US" altLang="zh-CN" sz="1100" b="1" dirty="0">
                  <a:latin typeface="微软雅黑" panose="020B0503020204020204" pitchFamily="34" charset="-122"/>
                  <a:ea typeface="微软雅黑" panose="020B0503020204020204" pitchFamily="34" charset="-122"/>
                </a:rPr>
                <a:t>Experimental</a:t>
              </a:r>
              <a:r>
                <a:rPr lang="en-US" altLang="en-US" sz="1100" b="1" kern="1200" dirty="0">
                  <a:latin typeface="微软雅黑" panose="020B0503020204020204" pitchFamily="34" charset="-122"/>
                  <a:ea typeface="微软雅黑" panose="020B0503020204020204" pitchFamily="34" charset="-122"/>
                </a:rPr>
                <a:t>)</a:t>
              </a:r>
              <a:endParaRPr lang="zh-CN" altLang="en-US" sz="1100" b="1" kern="1200" dirty="0">
                <a:latin typeface="微软雅黑" panose="020B0503020204020204" pitchFamily="34" charset="-122"/>
                <a:ea typeface="微软雅黑" panose="020B0503020204020204" pitchFamily="34" charset="-122"/>
              </a:endParaRPr>
            </a:p>
          </p:txBody>
        </p:sp>
        <p:cxnSp>
          <p:nvCxnSpPr>
            <p:cNvPr id="135" name="直接箭头连接符 134"/>
            <p:cNvCxnSpPr/>
            <p:nvPr/>
          </p:nvCxnSpPr>
          <p:spPr>
            <a:xfrm>
              <a:off x="6313710" y="1899702"/>
              <a:ext cx="0" cy="495369"/>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0" name="直接箭头连接符 59"/>
            <p:cNvCxnSpPr/>
            <p:nvPr/>
          </p:nvCxnSpPr>
          <p:spPr>
            <a:xfrm>
              <a:off x="4173580" y="4032078"/>
              <a:ext cx="1181084"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grpSp>
      <p:sp>
        <p:nvSpPr>
          <p:cNvPr id="2" name="文本占位符 1"/>
          <p:cNvSpPr>
            <a:spLocks noGrp="1"/>
          </p:cNvSpPr>
          <p:nvPr>
            <p:ph type="body" sz="quarter" idx="10"/>
          </p:nvPr>
        </p:nvSpPr>
        <p:spPr/>
        <p:txBody>
          <a:bodyPr/>
          <a:lstStyle/>
          <a:p>
            <a:pPr marL="0" indent="0">
              <a:buNone/>
            </a:pPr>
            <a:r>
              <a:rPr lang="zh-CN" altLang="en-US" dirty="0"/>
              <a:t>标准化过程</a:t>
            </a:r>
          </a:p>
        </p:txBody>
      </p:sp>
    </p:spTree>
    <p:extLst>
      <p:ext uri="{BB962C8B-B14F-4D97-AF65-F5344CB8AC3E}">
        <p14:creationId xmlns:p14="http://schemas.microsoft.com/office/powerpoint/2010/main" val="102875834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7"/>
          <p:cNvSpPr>
            <a:spLocks noChangeArrowheads="1"/>
          </p:cNvSpPr>
          <p:nvPr/>
        </p:nvSpPr>
        <p:spPr bwMode="auto">
          <a:xfrm>
            <a:off x="639730" y="127361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panose="02010600030101010101" pitchFamily="2" charset="-122"/>
              <a:ea typeface="+mn-ea"/>
            </a:endParaRPr>
          </a:p>
        </p:txBody>
      </p:sp>
      <p:sp>
        <p:nvSpPr>
          <p:cNvPr id="45061" name="Rectangle 29"/>
          <p:cNvSpPr>
            <a:spLocks noChangeArrowheads="1"/>
          </p:cNvSpPr>
          <p:nvPr/>
        </p:nvSpPr>
        <p:spPr bwMode="auto">
          <a:xfrm>
            <a:off x="649288" y="1369178"/>
            <a:ext cx="1627187" cy="1014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anose="020B0503020204020204" pitchFamily="34" charset="-122"/>
                <a:ea typeface="微软雅黑" panose="020B0503020204020204" pitchFamily="34" charset="-122"/>
              </a:rPr>
              <a:t>1.3</a:t>
            </a:r>
          </a:p>
          <a:p>
            <a:pPr eaLnBrk="0" hangingPunct="0"/>
            <a:r>
              <a:rPr lang="zh-CN" altLang="fr-FR" sz="2000" b="1">
                <a:solidFill>
                  <a:schemeClr val="bg1"/>
                </a:solidFill>
                <a:latin typeface="微软雅黑" panose="020B0503020204020204" pitchFamily="34" charset="-122"/>
                <a:ea typeface="微软雅黑" panose="020B0503020204020204" pitchFamily="34" charset="-122"/>
              </a:rPr>
              <a:t>互联网的</a:t>
            </a:r>
            <a:endParaRPr lang="en-US" altLang="zh-CN" sz="2000" b="1">
              <a:solidFill>
                <a:schemeClr val="bg1"/>
              </a:solidFill>
              <a:latin typeface="微软雅黑" panose="020B0503020204020204" pitchFamily="34" charset="-122"/>
              <a:ea typeface="微软雅黑" panose="020B0503020204020204" pitchFamily="34" charset="-122"/>
            </a:endParaRPr>
          </a:p>
          <a:p>
            <a:pPr eaLnBrk="0" hangingPunct="0"/>
            <a:r>
              <a:rPr lang="zh-CN" altLang="fr-FR" sz="2000" b="1">
                <a:solidFill>
                  <a:schemeClr val="bg1"/>
                </a:solidFill>
                <a:latin typeface="微软雅黑" panose="020B0503020204020204" pitchFamily="34" charset="-122"/>
                <a:ea typeface="微软雅黑" panose="020B0503020204020204" pitchFamily="34" charset="-122"/>
              </a:rPr>
              <a:t>组成</a:t>
            </a:r>
          </a:p>
        </p:txBody>
      </p:sp>
      <p:sp>
        <p:nvSpPr>
          <p:cNvPr id="8" name="Rectangle 9"/>
          <p:cNvSpPr>
            <a:spLocks noChangeArrowheads="1"/>
          </p:cNvSpPr>
          <p:nvPr/>
        </p:nvSpPr>
        <p:spPr bwMode="auto">
          <a:xfrm>
            <a:off x="2628900" y="1273928"/>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panose="02010600030101010101" pitchFamily="2" charset="-122"/>
              <a:ea typeface="+mn-ea"/>
            </a:endParaRPr>
          </a:p>
        </p:txBody>
      </p:sp>
      <p:sp>
        <p:nvSpPr>
          <p:cNvPr id="9" name="Rectangle 10"/>
          <p:cNvSpPr>
            <a:spLocks noChangeArrowheads="1"/>
          </p:cNvSpPr>
          <p:nvPr/>
        </p:nvSpPr>
        <p:spPr bwMode="auto">
          <a:xfrm>
            <a:off x="2628900" y="1880353"/>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panose="02010600030101010101" pitchFamily="2" charset="-122"/>
              <a:ea typeface="+mn-ea"/>
            </a:endParaRPr>
          </a:p>
        </p:txBody>
      </p:sp>
      <p:sp>
        <p:nvSpPr>
          <p:cNvPr id="45064" name="Line 16"/>
          <p:cNvSpPr>
            <a:spLocks noChangeShapeType="1"/>
          </p:cNvSpPr>
          <p:nvPr/>
        </p:nvSpPr>
        <p:spPr bwMode="auto">
          <a:xfrm>
            <a:off x="3636963" y="1202490"/>
            <a:ext cx="0" cy="1181100"/>
          </a:xfrm>
          <a:prstGeom prst="line">
            <a:avLst/>
          </a:prstGeom>
          <a:noFill/>
          <a:ln w="28575" algn="ctr">
            <a:solidFill>
              <a:srgbClr val="FFFFFF"/>
            </a:solidFill>
            <a:round/>
          </a:ln>
          <a:extLst>
            <a:ext uri="{909E8E84-426E-40DD-AFC4-6F175D3DCCD1}">
              <a14:hiddenFill xmlns:a14="http://schemas.microsoft.com/office/drawing/2010/main">
                <a:noFill/>
              </a14:hiddenFill>
            </a:ext>
          </a:extLst>
        </p:spPr>
        <p:txBody>
          <a:bodyPr/>
          <a:lstStyle/>
          <a:p>
            <a:endParaRPr lang="zh-CN" altLang="en-US"/>
          </a:p>
        </p:txBody>
      </p:sp>
      <p:sp>
        <p:nvSpPr>
          <p:cNvPr id="45065" name="Rectangle 8"/>
          <p:cNvSpPr>
            <a:spLocks noChangeArrowheads="1"/>
          </p:cNvSpPr>
          <p:nvPr/>
        </p:nvSpPr>
        <p:spPr bwMode="auto">
          <a:xfrm>
            <a:off x="2700337" y="1019928"/>
            <a:ext cx="5641557"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anose="020B0503020204020204" pitchFamily="34" charset="-122"/>
                <a:ea typeface="微软雅黑" panose="020B0503020204020204" pitchFamily="34" charset="-122"/>
              </a:rPr>
              <a:t>1.3.1                                    </a:t>
            </a:r>
            <a:r>
              <a:rPr lang="zh-CN" altLang="zh-CN" sz="2000" b="1" dirty="0">
                <a:solidFill>
                  <a:schemeClr val="bg1"/>
                </a:solidFill>
                <a:ea typeface="微软雅黑" panose="020B0503020204020204" pitchFamily="34" charset="-122"/>
              </a:rPr>
              <a:t>互联网的边缘部分</a:t>
            </a:r>
            <a:endParaRPr lang="en-US" altLang="zh-CN" sz="2000" b="1" dirty="0">
              <a:solidFill>
                <a:schemeClr val="bg1"/>
              </a:solidFill>
              <a:latin typeface="微软雅黑" panose="020B0503020204020204" pitchFamily="34" charset="-122"/>
              <a:ea typeface="微软雅黑" panose="020B0503020204020204" pitchFamily="34" charset="-122"/>
            </a:endParaRPr>
          </a:p>
          <a:p>
            <a:pPr eaLnBrk="0" hangingPunct="0">
              <a:lnSpc>
                <a:spcPct val="200000"/>
              </a:lnSpc>
            </a:pPr>
            <a:r>
              <a:rPr lang="en-US" altLang="zh-CN" sz="2000" b="1" dirty="0">
                <a:solidFill>
                  <a:schemeClr val="bg1"/>
                </a:solidFill>
                <a:latin typeface="微软雅黑" panose="020B0503020204020204" pitchFamily="34" charset="-122"/>
                <a:ea typeface="微软雅黑" panose="020B0503020204020204" pitchFamily="34" charset="-122"/>
              </a:rPr>
              <a:t>1.3.2                                    </a:t>
            </a:r>
            <a:r>
              <a:rPr lang="zh-CN" altLang="zh-CN" sz="2000" b="1" dirty="0">
                <a:solidFill>
                  <a:schemeClr val="bg1"/>
                </a:solidFill>
                <a:ea typeface="微软雅黑" panose="020B0503020204020204" pitchFamily="34" charset="-122"/>
              </a:rPr>
              <a:t>互联网的核心部分</a:t>
            </a:r>
            <a:endParaRPr lang="fr-FR" altLang="zh-CN" sz="2000" b="1"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969626"/>
            <a:ext cx="8129016" cy="3389873"/>
          </a:xfrm>
        </p:spPr>
        <p:txBody>
          <a:bodyPr/>
          <a:lstStyle/>
          <a:p>
            <a:r>
              <a:rPr lang="zh-CN" altLang="en-US"/>
              <a:t>从互联网的工作方式上看，可以划分为两大块：</a:t>
            </a:r>
            <a:endParaRPr lang="en-US" altLang="zh-CN"/>
          </a:p>
          <a:p>
            <a:r>
              <a:rPr lang="zh-CN" altLang="en-US"/>
              <a:t>边缘部分： 由所有连接在互联网上的主机组成，由用户直接使用，用来进行通信（传送数据、音频或视频）和资源共享。</a:t>
            </a:r>
          </a:p>
          <a:p>
            <a:r>
              <a:rPr lang="zh-CN" altLang="en-US"/>
              <a:t>核心部分：由大量网络和连接这些网络的路由器组成，为边缘部分提供服务（提供连通性和交换）。</a:t>
            </a:r>
            <a:endParaRPr lang="en-US" altLang="zh-CN"/>
          </a:p>
          <a:p>
            <a:endParaRPr lang="zh-CN" altLang="en-US" dirty="0"/>
          </a:p>
        </p:txBody>
      </p:sp>
      <p:sp>
        <p:nvSpPr>
          <p:cNvPr id="2" name="文本占位符 1"/>
          <p:cNvSpPr>
            <a:spLocks noGrp="1"/>
          </p:cNvSpPr>
          <p:nvPr>
            <p:ph type="body" sz="quarter" idx="11"/>
          </p:nvPr>
        </p:nvSpPr>
        <p:spPr>
          <a:xfrm>
            <a:off x="1214565" y="616998"/>
            <a:ext cx="6632575" cy="338554"/>
          </a:xfrm>
        </p:spPr>
        <p:txBody>
          <a:bodyPr/>
          <a:lstStyle/>
          <a:p>
            <a:r>
              <a:rPr lang="fr-FR" altLang="zh-CN"/>
              <a:t>1.3  </a:t>
            </a:r>
            <a:r>
              <a:rPr lang="zh-CN" altLang="en-US"/>
              <a:t>互联网的组成</a:t>
            </a:r>
            <a:endParaRPr lang="zh-CN" altLang="en-US" dirty="0"/>
          </a:p>
        </p:txBody>
      </p:sp>
    </p:spTree>
    <p:extLst>
      <p:ext uri="{BB962C8B-B14F-4D97-AF65-F5344CB8AC3E}">
        <p14:creationId xmlns:p14="http://schemas.microsoft.com/office/powerpoint/2010/main" val="18013868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2CA7DED7-9399-EBD2-642E-97CE1B96F3CC}"/>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p:txBody>
          <a:bodyPr/>
          <a:lstStyle/>
          <a:p>
            <a:r>
              <a:rPr lang="fr-FR" altLang="zh-CN" dirty="0">
                <a:solidFill>
                  <a:srgbClr val="FFFF00"/>
                </a:solidFill>
              </a:rPr>
              <a:t>1.3  </a:t>
            </a:r>
            <a:r>
              <a:rPr lang="zh-CN" altLang="en-US" dirty="0"/>
              <a:t>互联网的组成</a:t>
            </a:r>
          </a:p>
        </p:txBody>
      </p:sp>
      <p:grpSp>
        <p:nvGrpSpPr>
          <p:cNvPr id="5" name="Group 174"/>
          <p:cNvGrpSpPr/>
          <p:nvPr/>
        </p:nvGrpSpPr>
        <p:grpSpPr bwMode="auto">
          <a:xfrm>
            <a:off x="1385888" y="1263429"/>
            <a:ext cx="6299200" cy="3198812"/>
            <a:chOff x="411" y="1240"/>
            <a:chExt cx="4856" cy="2466"/>
          </a:xfrm>
        </p:grpSpPr>
        <p:sp>
          <p:nvSpPr>
            <p:cNvPr id="6" name="Oval 4"/>
            <p:cNvSpPr>
              <a:spLocks noChangeArrowheads="1"/>
            </p:cNvSpPr>
            <p:nvPr/>
          </p:nvSpPr>
          <p:spPr bwMode="auto">
            <a:xfrm>
              <a:off x="411" y="1240"/>
              <a:ext cx="4856" cy="2466"/>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1194" y="1830"/>
              <a:ext cx="3407" cy="1313"/>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a:solidFill>
                  <a:srgbClr val="368AD6"/>
                </a:solidFill>
              </a:endParaRPr>
            </a:p>
          </p:txBody>
        </p:sp>
        <p:pic>
          <p:nvPicPr>
            <p:cNvPr id="8"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41" y="208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9" name="Group 124"/>
            <p:cNvGrpSpPr/>
            <p:nvPr/>
          </p:nvGrpSpPr>
          <p:grpSpPr bwMode="auto">
            <a:xfrm>
              <a:off x="1385" y="2250"/>
              <a:ext cx="568" cy="309"/>
              <a:chOff x="130" y="1123"/>
              <a:chExt cx="568" cy="309"/>
            </a:xfrm>
          </p:grpSpPr>
          <p:sp>
            <p:nvSpPr>
              <p:cNvPr id="74"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5"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6"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7"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8"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9"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0"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1"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2"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83"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84"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pic>
          <p:nvPicPr>
            <p:cNvPr id="10" name="Picture 6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70" y="266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 name="Picture 6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53" y="280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7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6" y="261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 name="Picture 7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0" y="2085"/>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78"/>
            <p:cNvSpPr txBox="1">
              <a:spLocks noChangeArrowheads="1"/>
            </p:cNvSpPr>
            <p:nvPr/>
          </p:nvSpPr>
          <p:spPr bwMode="auto">
            <a:xfrm>
              <a:off x="2204" y="2345"/>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CC00CC"/>
                  </a:solidFill>
                  <a:latin typeface="Times New Roman" panose="02020603050405020304" pitchFamily="18" charset="0"/>
                  <a:ea typeface="微软雅黑" panose="020B0503020204020204" pitchFamily="34" charset="-122"/>
                </a:rPr>
                <a:t>互联网的核心部分</a:t>
              </a:r>
            </a:p>
          </p:txBody>
        </p:sp>
        <p:sp>
          <p:nvSpPr>
            <p:cNvPr id="15" name="Text Box 79"/>
            <p:cNvSpPr txBox="1">
              <a:spLocks noChangeArrowheads="1"/>
            </p:cNvSpPr>
            <p:nvPr/>
          </p:nvSpPr>
          <p:spPr bwMode="auto">
            <a:xfrm>
              <a:off x="2190" y="1436"/>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Times New Roman" panose="02020603050405020304" pitchFamily="18" charset="0"/>
                  <a:ea typeface="微软雅黑" panose="020B0503020204020204" pitchFamily="34" charset="-122"/>
                </a:rPr>
                <a:t>互联网的边缘部分</a:t>
              </a:r>
            </a:p>
          </p:txBody>
        </p:sp>
        <p:sp>
          <p:nvSpPr>
            <p:cNvPr id="16" name="Text Box 1523"/>
            <p:cNvSpPr txBox="1">
              <a:spLocks noChangeArrowheads="1"/>
            </p:cNvSpPr>
            <p:nvPr/>
          </p:nvSpPr>
          <p:spPr bwMode="auto">
            <a:xfrm>
              <a:off x="670" y="2074"/>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主机</a:t>
              </a:r>
            </a:p>
          </p:txBody>
        </p:sp>
        <p:pic>
          <p:nvPicPr>
            <p:cNvPr id="17" name="Picture 115"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5" y="1663"/>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16"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3" y="2300"/>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9" name="Picture 117"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9" y="302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 name="Picture 118"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62" y="324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119"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61" y="308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 name="Picture 120"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40" y="2335"/>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21"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51" y="1598"/>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 name="Text Box 1523"/>
            <p:cNvSpPr txBox="1">
              <a:spLocks noChangeArrowheads="1"/>
            </p:cNvSpPr>
            <p:nvPr/>
          </p:nvSpPr>
          <p:spPr bwMode="auto">
            <a:xfrm>
              <a:off x="2024" y="1873"/>
              <a:ext cx="498"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路由器</a:t>
              </a:r>
            </a:p>
          </p:txBody>
        </p:sp>
        <p:sp>
          <p:nvSpPr>
            <p:cNvPr id="25" name="Text Box 1523"/>
            <p:cNvSpPr txBox="1">
              <a:spLocks noChangeArrowheads="1"/>
            </p:cNvSpPr>
            <p:nvPr/>
          </p:nvSpPr>
          <p:spPr bwMode="auto">
            <a:xfrm>
              <a:off x="1482" y="2312"/>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grpSp>
          <p:nvGrpSpPr>
            <p:cNvPr id="26" name="Group 126"/>
            <p:cNvGrpSpPr/>
            <p:nvPr/>
          </p:nvGrpSpPr>
          <p:grpSpPr bwMode="auto">
            <a:xfrm>
              <a:off x="2182" y="2681"/>
              <a:ext cx="568" cy="309"/>
              <a:chOff x="130" y="1123"/>
              <a:chExt cx="568" cy="309"/>
            </a:xfrm>
          </p:grpSpPr>
          <p:sp>
            <p:nvSpPr>
              <p:cNvPr id="63"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4"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5"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6"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7"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8"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9"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0"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1"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72"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73"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nvGrpSpPr>
            <p:cNvPr id="27" name="Group 138"/>
            <p:cNvGrpSpPr/>
            <p:nvPr/>
          </p:nvGrpSpPr>
          <p:grpSpPr bwMode="auto">
            <a:xfrm>
              <a:off x="3243" y="2659"/>
              <a:ext cx="568" cy="309"/>
              <a:chOff x="130" y="1123"/>
              <a:chExt cx="568" cy="309"/>
            </a:xfrm>
          </p:grpSpPr>
          <p:sp>
            <p:nvSpPr>
              <p:cNvPr id="5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6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6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nvGrpSpPr>
            <p:cNvPr id="28" name="Group 150"/>
            <p:cNvGrpSpPr/>
            <p:nvPr/>
          </p:nvGrpSpPr>
          <p:grpSpPr bwMode="auto">
            <a:xfrm>
              <a:off x="3706" y="2216"/>
              <a:ext cx="568" cy="309"/>
              <a:chOff x="130" y="1123"/>
              <a:chExt cx="568" cy="309"/>
            </a:xfrm>
          </p:grpSpPr>
          <p:sp>
            <p:nvSpPr>
              <p:cNvPr id="4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5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5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nvGrpSpPr>
            <p:cNvPr id="29" name="Group 162"/>
            <p:cNvGrpSpPr/>
            <p:nvPr/>
          </p:nvGrpSpPr>
          <p:grpSpPr bwMode="auto">
            <a:xfrm>
              <a:off x="2643" y="1933"/>
              <a:ext cx="568" cy="309"/>
              <a:chOff x="130" y="1123"/>
              <a:chExt cx="568" cy="309"/>
            </a:xfrm>
          </p:grpSpPr>
          <p:sp>
            <p:nvSpPr>
              <p:cNvPr id="3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3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4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spTree>
    <p:extLst>
      <p:ext uri="{BB962C8B-B14F-4D97-AF65-F5344CB8AC3E}">
        <p14:creationId xmlns:p14="http://schemas.microsoft.com/office/powerpoint/2010/main" val="260232260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969626"/>
            <a:ext cx="8129016" cy="3389873"/>
          </a:xfrm>
        </p:spPr>
        <p:txBody>
          <a:bodyPr/>
          <a:lstStyle/>
          <a:p>
            <a:r>
              <a:rPr lang="zh-CN" altLang="en-US" dirty="0"/>
              <a:t>处在互联网边缘部分的就是连接在互联网上的所有的主机。这些主机又称为端系统 </a:t>
            </a:r>
            <a:r>
              <a:rPr lang="en-US" altLang="zh-CN" dirty="0"/>
              <a:t>(end system)</a:t>
            </a:r>
            <a:r>
              <a:rPr lang="zh-CN" altLang="en-US" dirty="0"/>
              <a:t>。</a:t>
            </a:r>
            <a:endParaRPr lang="en-US" altLang="zh-CN" dirty="0"/>
          </a:p>
          <a:p>
            <a:r>
              <a:rPr lang="zh-CN" altLang="zh-CN" dirty="0"/>
              <a:t>端系统在功能上可能有很大差别</a:t>
            </a:r>
            <a:r>
              <a:rPr lang="zh-CN" altLang="en-US" dirty="0"/>
              <a:t>：</a:t>
            </a:r>
            <a:endParaRPr lang="en-US" altLang="zh-CN" dirty="0"/>
          </a:p>
          <a:p>
            <a:pPr lvl="1"/>
            <a:r>
              <a:rPr lang="zh-CN" altLang="zh-CN" dirty="0"/>
              <a:t>小的端系统</a:t>
            </a:r>
            <a:r>
              <a:rPr lang="zh-CN" altLang="en-US" dirty="0"/>
              <a:t>：</a:t>
            </a:r>
            <a:r>
              <a:rPr lang="zh-CN" altLang="zh-CN" dirty="0"/>
              <a:t>普通个人电脑</a:t>
            </a:r>
            <a:r>
              <a:rPr lang="zh-CN" altLang="en-US" dirty="0"/>
              <a:t>、</a:t>
            </a:r>
            <a:r>
              <a:rPr lang="zh-CN" altLang="zh-CN" dirty="0"/>
              <a:t>智能手机</a:t>
            </a:r>
            <a:r>
              <a:rPr lang="zh-CN" altLang="en-US" dirty="0"/>
              <a:t>、</a:t>
            </a:r>
            <a:r>
              <a:rPr lang="zh-CN" altLang="zh-CN" dirty="0"/>
              <a:t>网络摄像头</a:t>
            </a:r>
            <a:r>
              <a:rPr lang="zh-CN" altLang="en-US" dirty="0"/>
              <a:t>等。</a:t>
            </a:r>
            <a:endParaRPr lang="en-US" altLang="zh-CN" dirty="0"/>
          </a:p>
          <a:p>
            <a:pPr lvl="1"/>
            <a:r>
              <a:rPr lang="zh-CN" altLang="zh-CN" dirty="0"/>
              <a:t>大的端系统</a:t>
            </a:r>
            <a:r>
              <a:rPr lang="zh-CN" altLang="en-US" dirty="0"/>
              <a:t>：</a:t>
            </a:r>
            <a:r>
              <a:rPr lang="zh-CN" altLang="zh-CN" dirty="0"/>
              <a:t>非常昂贵的大型计算机</a:t>
            </a:r>
            <a:r>
              <a:rPr lang="zh-CN" altLang="en-US" dirty="0"/>
              <a:t>或服务器</a:t>
            </a:r>
            <a:r>
              <a:rPr lang="zh-CN" altLang="zh-CN" dirty="0"/>
              <a:t>。</a:t>
            </a:r>
            <a:endParaRPr lang="en-US" altLang="zh-CN" dirty="0"/>
          </a:p>
          <a:p>
            <a:r>
              <a:rPr lang="zh-CN" altLang="zh-CN" dirty="0"/>
              <a:t>端系统的拥有者</a:t>
            </a:r>
            <a:r>
              <a:rPr lang="zh-CN" altLang="en-US" dirty="0"/>
              <a:t>：</a:t>
            </a:r>
            <a:r>
              <a:rPr lang="zh-CN" altLang="zh-CN" dirty="0"/>
              <a:t>可以是个人</a:t>
            </a:r>
            <a:r>
              <a:rPr lang="zh-CN" altLang="en-US" dirty="0"/>
              <a:t>、</a:t>
            </a:r>
            <a:r>
              <a:rPr lang="zh-CN" altLang="zh-CN" dirty="0"/>
              <a:t>单位</a:t>
            </a:r>
            <a:r>
              <a:rPr lang="zh-CN" altLang="en-US" dirty="0"/>
              <a:t>、或</a:t>
            </a:r>
            <a:r>
              <a:rPr lang="zh-CN" altLang="zh-CN" dirty="0"/>
              <a:t>某个</a:t>
            </a:r>
            <a:r>
              <a:rPr lang="en-US" altLang="zh-CN" dirty="0"/>
              <a:t> ISP</a:t>
            </a:r>
            <a:r>
              <a:rPr lang="zh-CN" altLang="en-US" dirty="0"/>
              <a:t>。</a:t>
            </a:r>
          </a:p>
        </p:txBody>
      </p:sp>
      <p:sp>
        <p:nvSpPr>
          <p:cNvPr id="4" name="文本占位符 3"/>
          <p:cNvSpPr>
            <a:spLocks noGrp="1"/>
          </p:cNvSpPr>
          <p:nvPr>
            <p:ph type="body" sz="quarter" idx="11"/>
          </p:nvPr>
        </p:nvSpPr>
        <p:spPr>
          <a:xfrm>
            <a:off x="1214565" y="616998"/>
            <a:ext cx="6632575" cy="338554"/>
          </a:xfrm>
        </p:spPr>
        <p:txBody>
          <a:bodyPr/>
          <a:lstStyle/>
          <a:p>
            <a:r>
              <a:rPr lang="en-US" altLang="zh-CN" dirty="0"/>
              <a:t>1.3.1  </a:t>
            </a:r>
            <a:r>
              <a:rPr lang="zh-CN" altLang="en-US" dirty="0"/>
              <a:t>互联网的边缘部分</a:t>
            </a:r>
          </a:p>
        </p:txBody>
      </p:sp>
    </p:spTree>
    <p:extLst>
      <p:ext uri="{BB962C8B-B14F-4D97-AF65-F5344CB8AC3E}">
        <p14:creationId xmlns:p14="http://schemas.microsoft.com/office/powerpoint/2010/main" val="10547811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0"/>
          </p:nvPr>
        </p:nvSpPr>
        <p:spPr/>
        <p:txBody>
          <a:bodyPr/>
          <a:lstStyle/>
          <a:p>
            <a:pPr marL="0" indent="0">
              <a:buNone/>
            </a:pPr>
            <a:r>
              <a:rPr lang="en-US" altLang="zh-CN" dirty="0"/>
              <a:t>1.3.1  </a:t>
            </a:r>
            <a:r>
              <a:rPr lang="zh-CN" altLang="en-US" dirty="0"/>
              <a:t>互联网的边缘部分</a:t>
            </a:r>
          </a:p>
        </p:txBody>
      </p:sp>
      <p:sp>
        <p:nvSpPr>
          <p:cNvPr id="6" name="Oval 4"/>
          <p:cNvSpPr>
            <a:spLocks noChangeArrowheads="1"/>
          </p:cNvSpPr>
          <p:nvPr/>
        </p:nvSpPr>
        <p:spPr bwMode="auto">
          <a:xfrm>
            <a:off x="1385888" y="1231262"/>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2401595" y="1996590"/>
            <a:ext cx="4419558" cy="1703179"/>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hangingPunct="0"/>
            <a:endParaRPr lang="zh-CN" altLang="en-US" sz="1400">
              <a:solidFill>
                <a:srgbClr val="368AD6"/>
              </a:solidFill>
            </a:endParaRPr>
          </a:p>
        </p:txBody>
      </p:sp>
      <p:sp>
        <p:nvSpPr>
          <p:cNvPr id="8" name="Text Box 78"/>
          <p:cNvSpPr txBox="1">
            <a:spLocks noChangeArrowheads="1"/>
          </p:cNvSpPr>
          <p:nvPr/>
        </p:nvSpPr>
        <p:spPr bwMode="auto">
          <a:xfrm>
            <a:off x="3711766" y="2664631"/>
            <a:ext cx="1826457" cy="33856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a:solidFill>
                  <a:srgbClr val="CC00CC"/>
                </a:solidFill>
                <a:latin typeface="Times New Roman" pitchFamily="18" charset="0"/>
                <a:ea typeface="微软雅黑" pitchFamily="34" charset="-122"/>
              </a:rPr>
              <a:t>互联网的核心部分</a:t>
            </a:r>
          </a:p>
        </p:txBody>
      </p:sp>
      <p:sp>
        <p:nvSpPr>
          <p:cNvPr id="9" name="Text Box 79"/>
          <p:cNvSpPr txBox="1">
            <a:spLocks noChangeArrowheads="1"/>
          </p:cNvSpPr>
          <p:nvPr/>
        </p:nvSpPr>
        <p:spPr bwMode="auto">
          <a:xfrm>
            <a:off x="3693606" y="1485507"/>
            <a:ext cx="1826457" cy="33856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rgbClr val="0000FF"/>
                </a:solidFill>
                <a:latin typeface="Times New Roman" pitchFamily="18" charset="0"/>
                <a:ea typeface="微软雅黑" pitchFamily="34" charset="-122"/>
              </a:rPr>
              <a:t>互联网的边缘部分</a:t>
            </a:r>
          </a:p>
        </p:txBody>
      </p:sp>
      <p:pic>
        <p:nvPicPr>
          <p:cNvPr id="10" name="Picture 115"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28424" y="1602974"/>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1" name="组合 10"/>
          <p:cNvGrpSpPr/>
          <p:nvPr/>
        </p:nvGrpSpPr>
        <p:grpSpPr>
          <a:xfrm>
            <a:off x="2064845" y="1706027"/>
            <a:ext cx="492936" cy="652481"/>
            <a:chOff x="2352292" y="1506329"/>
            <a:chExt cx="492936" cy="652481"/>
          </a:xfrm>
        </p:grpSpPr>
        <p:sp>
          <p:nvSpPr>
            <p:cNvPr id="12" name="Text Box 1523"/>
            <p:cNvSpPr txBox="1">
              <a:spLocks noChangeArrowheads="1"/>
            </p:cNvSpPr>
            <p:nvPr/>
          </p:nvSpPr>
          <p:spPr bwMode="auto">
            <a:xfrm>
              <a:off x="2352292" y="1506329"/>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rgbClr val="0000FF"/>
                  </a:solidFill>
                  <a:latin typeface="Times New Roman" pitchFamily="18" charset="0"/>
                  <a:ea typeface="微软雅黑" pitchFamily="34" charset="-122"/>
                </a:rPr>
                <a:t>主机</a:t>
              </a:r>
            </a:p>
          </p:txBody>
        </p:sp>
        <p:pic>
          <p:nvPicPr>
            <p:cNvPr id="13" name="Picture 11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5099" y="174760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14" name="Picture 118"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2617" y="3790869"/>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120"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21153" y="224045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121"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18570" y="158538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Text Box 79"/>
          <p:cNvSpPr txBox="1">
            <a:spLocks noChangeArrowheads="1"/>
          </p:cNvSpPr>
          <p:nvPr/>
        </p:nvSpPr>
        <p:spPr bwMode="auto">
          <a:xfrm>
            <a:off x="334851" y="3126229"/>
            <a:ext cx="800220" cy="338554"/>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rgbClr val="0000FF"/>
                </a:solidFill>
                <a:latin typeface="Times New Roman" pitchFamily="18" charset="0"/>
                <a:ea typeface="微软雅黑" pitchFamily="34" charset="-122"/>
              </a:rPr>
              <a:t>端系统</a:t>
            </a:r>
          </a:p>
        </p:txBody>
      </p:sp>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65921" y="3779710"/>
            <a:ext cx="1427543" cy="545087"/>
          </a:xfrm>
          <a:prstGeom prst="rect">
            <a:avLst/>
          </a:prstGeom>
        </p:spPr>
      </p:pic>
      <p:grpSp>
        <p:nvGrpSpPr>
          <p:cNvPr id="19" name="组合 18"/>
          <p:cNvGrpSpPr/>
          <p:nvPr/>
        </p:nvGrpSpPr>
        <p:grpSpPr>
          <a:xfrm>
            <a:off x="1737913" y="2404333"/>
            <a:ext cx="748923" cy="614889"/>
            <a:chOff x="1598523" y="2132245"/>
            <a:chExt cx="748923" cy="614889"/>
          </a:xfrm>
        </p:grpSpPr>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813758" y="2345811"/>
              <a:ext cx="254205" cy="401323"/>
            </a:xfrm>
            <a:prstGeom prst="rect">
              <a:avLst/>
            </a:prstGeom>
          </p:spPr>
        </p:pic>
        <p:sp>
          <p:nvSpPr>
            <p:cNvPr id="21" name="Text Box 1523"/>
            <p:cNvSpPr txBox="1">
              <a:spLocks noChangeArrowheads="1"/>
            </p:cNvSpPr>
            <p:nvPr/>
          </p:nvSpPr>
          <p:spPr bwMode="auto">
            <a:xfrm>
              <a:off x="1598523" y="2132245"/>
              <a:ext cx="74892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050" b="1" dirty="0">
                  <a:solidFill>
                    <a:srgbClr val="0000FF"/>
                  </a:solidFill>
                  <a:latin typeface="Times New Roman" pitchFamily="18" charset="0"/>
                  <a:ea typeface="微软雅黑" pitchFamily="34" charset="-122"/>
                </a:rPr>
                <a:t>智能手机</a:t>
              </a:r>
            </a:p>
          </p:txBody>
        </p:sp>
      </p:grpSp>
      <p:grpSp>
        <p:nvGrpSpPr>
          <p:cNvPr id="22" name="组合 21"/>
          <p:cNvGrpSpPr/>
          <p:nvPr/>
        </p:nvGrpSpPr>
        <p:grpSpPr>
          <a:xfrm>
            <a:off x="1850822" y="3045231"/>
            <a:ext cx="800219" cy="672111"/>
            <a:chOff x="1958668" y="2963511"/>
            <a:chExt cx="800219" cy="672111"/>
          </a:xfrm>
        </p:grpSpPr>
        <p:pic>
          <p:nvPicPr>
            <p:cNvPr id="23" name="图片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02536" y="3167808"/>
              <a:ext cx="350861" cy="467814"/>
            </a:xfrm>
            <a:prstGeom prst="rect">
              <a:avLst/>
            </a:prstGeom>
          </p:spPr>
        </p:pic>
        <p:sp>
          <p:nvSpPr>
            <p:cNvPr id="24" name="Text Box 1523"/>
            <p:cNvSpPr txBox="1">
              <a:spLocks noChangeArrowheads="1"/>
            </p:cNvSpPr>
            <p:nvPr/>
          </p:nvSpPr>
          <p:spPr bwMode="auto">
            <a:xfrm>
              <a:off x="1958668" y="2963511"/>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en-US" altLang="zh-CN" sz="1200" b="1" dirty="0">
                  <a:solidFill>
                    <a:srgbClr val="0000FF"/>
                  </a:solidFill>
                  <a:latin typeface="Times New Roman" pitchFamily="18" charset="0"/>
                  <a:ea typeface="微软雅黑" pitchFamily="34" charset="-122"/>
                </a:rPr>
                <a:t>IP</a:t>
              </a:r>
              <a:r>
                <a:rPr kumimoji="1" lang="zh-CN" altLang="en-US" sz="1200" b="1" dirty="0">
                  <a:solidFill>
                    <a:srgbClr val="0000FF"/>
                  </a:solidFill>
                  <a:latin typeface="Times New Roman" pitchFamily="18" charset="0"/>
                  <a:ea typeface="微软雅黑" pitchFamily="34" charset="-122"/>
                </a:rPr>
                <a:t>摄像头</a:t>
              </a:r>
            </a:p>
          </p:txBody>
        </p:sp>
      </p:grpSp>
      <p:sp>
        <p:nvSpPr>
          <p:cNvPr id="25" name="Text Box 1523"/>
          <p:cNvSpPr txBox="1">
            <a:spLocks noChangeArrowheads="1"/>
          </p:cNvSpPr>
          <p:nvPr/>
        </p:nvSpPr>
        <p:spPr bwMode="auto">
          <a:xfrm>
            <a:off x="2688612" y="3602648"/>
            <a:ext cx="141577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rgbClr val="0000FF"/>
                </a:solidFill>
                <a:latin typeface="Times New Roman" pitchFamily="18" charset="0"/>
                <a:ea typeface="微软雅黑" pitchFamily="34" charset="-122"/>
              </a:rPr>
              <a:t>大型或超级计算机</a:t>
            </a:r>
          </a:p>
        </p:txBody>
      </p:sp>
      <p:cxnSp>
        <p:nvCxnSpPr>
          <p:cNvPr id="26" name="直接箭头连接符 25"/>
          <p:cNvCxnSpPr>
            <a:stCxn id="17" idx="3"/>
          </p:cNvCxnSpPr>
          <p:nvPr/>
        </p:nvCxnSpPr>
        <p:spPr>
          <a:xfrm flipV="1">
            <a:off x="1135071" y="2159392"/>
            <a:ext cx="906517" cy="1136114"/>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直接箭头连接符 26"/>
          <p:cNvCxnSpPr>
            <a:stCxn id="17" idx="3"/>
          </p:cNvCxnSpPr>
          <p:nvPr/>
        </p:nvCxnSpPr>
        <p:spPr>
          <a:xfrm flipV="1">
            <a:off x="1135071" y="2921268"/>
            <a:ext cx="714186" cy="374238"/>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a:stCxn id="17" idx="3"/>
          </p:cNvCxnSpPr>
          <p:nvPr/>
        </p:nvCxnSpPr>
        <p:spPr>
          <a:xfrm>
            <a:off x="1135071" y="3295506"/>
            <a:ext cx="750808" cy="84161"/>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stCxn id="17" idx="3"/>
          </p:cNvCxnSpPr>
          <p:nvPr/>
        </p:nvCxnSpPr>
        <p:spPr>
          <a:xfrm>
            <a:off x="1135071" y="3295506"/>
            <a:ext cx="1998959" cy="820137"/>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0" name="图片 39"/>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631675" y="3356572"/>
            <a:ext cx="368623" cy="517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Text Box 1523"/>
          <p:cNvSpPr txBox="1">
            <a:spLocks noChangeArrowheads="1"/>
          </p:cNvSpPr>
          <p:nvPr/>
        </p:nvSpPr>
        <p:spPr bwMode="auto">
          <a:xfrm>
            <a:off x="6533780" y="3088127"/>
            <a:ext cx="64633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rgbClr val="0000FF"/>
                </a:solidFill>
                <a:latin typeface="Times New Roman" pitchFamily="18" charset="0"/>
                <a:ea typeface="微软雅黑" pitchFamily="34" charset="-122"/>
              </a:rPr>
              <a:t>服务器</a:t>
            </a:r>
          </a:p>
        </p:txBody>
      </p:sp>
    </p:spTree>
    <p:extLst>
      <p:ext uri="{BB962C8B-B14F-4D97-AF65-F5344CB8AC3E}">
        <p14:creationId xmlns:p14="http://schemas.microsoft.com/office/powerpoint/2010/main" val="27061898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3"/>
          <p:cNvSpPr>
            <a:spLocks noChangeArrowheads="1"/>
          </p:cNvSpPr>
          <p:nvPr/>
        </p:nvSpPr>
        <p:spPr bwMode="auto">
          <a:xfrm>
            <a:off x="1077985" y="1168086"/>
            <a:ext cx="6804181" cy="1117915"/>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defRPr/>
            </a:pPr>
            <a:endParaRPr lang="zh-CN" altLang="zh-CN" sz="2400" b="1" dirty="0">
              <a:solidFill>
                <a:schemeClr val="bg1"/>
              </a:solidFill>
              <a:latin typeface="微软雅黑" pitchFamily="34" charset="-122"/>
              <a:ea typeface="微软雅黑" pitchFamily="34" charset="-122"/>
            </a:endParaRPr>
          </a:p>
        </p:txBody>
      </p:sp>
      <p:sp>
        <p:nvSpPr>
          <p:cNvPr id="8" name="矩形 7"/>
          <p:cNvSpPr/>
          <p:nvPr/>
        </p:nvSpPr>
        <p:spPr>
          <a:xfrm>
            <a:off x="1241880" y="1325894"/>
            <a:ext cx="6495908" cy="759182"/>
          </a:xfrm>
          <a:prstGeom prst="rect">
            <a:avLst/>
          </a:prstGeom>
        </p:spPr>
        <p:txBody>
          <a:bodyPr wrap="square">
            <a:spAutoFit/>
          </a:bodyPr>
          <a:lstStyle/>
          <a:p>
            <a:pPr eaLnBrk="0" fontAlgn="auto" hangingPunct="0">
              <a:lnSpc>
                <a:spcPts val="2600"/>
              </a:lnSpc>
              <a:spcBef>
                <a:spcPts val="0"/>
              </a:spcBef>
              <a:spcAft>
                <a:spcPts val="0"/>
              </a:spcAft>
            </a:pPr>
            <a:r>
              <a:rPr lang="zh-CN" altLang="en-US" sz="2000" b="1" dirty="0">
                <a:solidFill>
                  <a:schemeClr val="bg1"/>
                </a:solidFill>
                <a:latin typeface="微软雅黑" pitchFamily="34" charset="-122"/>
                <a:ea typeface="微软雅黑" pitchFamily="34" charset="-122"/>
              </a:rPr>
              <a:t>实际上是指：</a:t>
            </a:r>
            <a:endParaRPr lang="en-US" altLang="zh-CN" sz="2000" b="1" dirty="0">
              <a:solidFill>
                <a:schemeClr val="bg1"/>
              </a:solidFill>
              <a:latin typeface="微软雅黑" pitchFamily="34" charset="-122"/>
              <a:ea typeface="微软雅黑" pitchFamily="34" charset="-122"/>
            </a:endParaRPr>
          </a:p>
          <a:p>
            <a:pPr eaLnBrk="0" fontAlgn="auto" hangingPunct="0">
              <a:lnSpc>
                <a:spcPts val="2600"/>
              </a:lnSpc>
              <a:spcBef>
                <a:spcPts val="0"/>
              </a:spcBef>
              <a:spcAft>
                <a:spcPts val="0"/>
              </a:spcAft>
            </a:pPr>
            <a:r>
              <a:rPr lang="zh-CN" altLang="en-US" sz="2000" b="1" dirty="0">
                <a:solidFill>
                  <a:schemeClr val="bg1"/>
                </a:solidFill>
                <a:latin typeface="微软雅黑" pitchFamily="34" charset="-122"/>
                <a:ea typeface="微软雅黑" pitchFamily="34" charset="-122"/>
              </a:rPr>
              <a:t>主机 </a:t>
            </a:r>
            <a:r>
              <a:rPr lang="en-US" altLang="zh-CN" sz="2000" b="1" dirty="0">
                <a:solidFill>
                  <a:schemeClr val="bg1"/>
                </a:solidFill>
                <a:latin typeface="微软雅黑" pitchFamily="34" charset="-122"/>
                <a:ea typeface="微软雅黑" pitchFamily="34" charset="-122"/>
              </a:rPr>
              <a:t>A </a:t>
            </a:r>
            <a:r>
              <a:rPr lang="zh-CN" altLang="en-US" sz="2000" b="1" dirty="0">
                <a:solidFill>
                  <a:schemeClr val="bg1"/>
                </a:solidFill>
                <a:latin typeface="微软雅黑" pitchFamily="34" charset="-122"/>
                <a:ea typeface="微软雅黑" pitchFamily="34" charset="-122"/>
              </a:rPr>
              <a:t>的某个</a:t>
            </a:r>
            <a:r>
              <a:rPr lang="zh-CN" altLang="en-US" sz="2000" b="1" dirty="0">
                <a:solidFill>
                  <a:srgbClr val="FFFF00"/>
                </a:solidFill>
                <a:latin typeface="微软雅黑" pitchFamily="34" charset="-122"/>
                <a:ea typeface="微软雅黑" pitchFamily="34" charset="-122"/>
              </a:rPr>
              <a:t>进程</a:t>
            </a:r>
            <a:r>
              <a:rPr lang="zh-CN" altLang="en-US" sz="2000" b="1" dirty="0">
                <a:solidFill>
                  <a:schemeClr val="bg1"/>
                </a:solidFill>
                <a:latin typeface="微软雅黑" pitchFamily="34" charset="-122"/>
                <a:ea typeface="微软雅黑" pitchFamily="34" charset="-122"/>
              </a:rPr>
              <a:t>和主机 </a:t>
            </a:r>
            <a:r>
              <a:rPr lang="en-US" altLang="zh-CN" sz="2000" b="1" dirty="0">
                <a:solidFill>
                  <a:schemeClr val="bg1"/>
                </a:solidFill>
                <a:latin typeface="微软雅黑" pitchFamily="34" charset="-122"/>
                <a:ea typeface="微软雅黑" pitchFamily="34" charset="-122"/>
              </a:rPr>
              <a:t>B </a:t>
            </a:r>
            <a:r>
              <a:rPr lang="zh-CN" altLang="en-US" sz="2000" b="1" dirty="0">
                <a:solidFill>
                  <a:schemeClr val="bg1"/>
                </a:solidFill>
                <a:latin typeface="微软雅黑" pitchFamily="34" charset="-122"/>
                <a:ea typeface="微软雅黑" pitchFamily="34" charset="-122"/>
              </a:rPr>
              <a:t>上的另一个</a:t>
            </a:r>
            <a:r>
              <a:rPr lang="zh-CN" altLang="en-US" sz="2000" b="1" dirty="0">
                <a:solidFill>
                  <a:srgbClr val="FFFF00"/>
                </a:solidFill>
                <a:latin typeface="微软雅黑" pitchFamily="34" charset="-122"/>
                <a:ea typeface="微软雅黑" pitchFamily="34" charset="-122"/>
              </a:rPr>
              <a:t>进程</a:t>
            </a:r>
            <a:r>
              <a:rPr lang="zh-CN" altLang="en-US" sz="2000" b="1" dirty="0">
                <a:solidFill>
                  <a:schemeClr val="bg1"/>
                </a:solidFill>
                <a:latin typeface="微软雅黑" pitchFamily="34" charset="-122"/>
                <a:ea typeface="微软雅黑" pitchFamily="34" charset="-122"/>
              </a:rPr>
              <a:t>进行通信。</a:t>
            </a:r>
          </a:p>
        </p:txBody>
      </p:sp>
      <p:sp>
        <p:nvSpPr>
          <p:cNvPr id="2" name="文本占位符 1"/>
          <p:cNvSpPr>
            <a:spLocks noGrp="1"/>
          </p:cNvSpPr>
          <p:nvPr>
            <p:ph type="body" sz="quarter" idx="10"/>
          </p:nvPr>
        </p:nvSpPr>
        <p:spPr/>
        <p:txBody>
          <a:bodyPr/>
          <a:lstStyle/>
          <a:p>
            <a:pPr marL="0" indent="0">
              <a:buNone/>
            </a:pPr>
            <a:r>
              <a:rPr lang="zh-CN" altLang="en-US" dirty="0"/>
              <a:t>“计算机之间通信”的含义</a:t>
            </a:r>
          </a:p>
        </p:txBody>
      </p:sp>
    </p:spTree>
    <p:extLst>
      <p:ext uri="{BB962C8B-B14F-4D97-AF65-F5344CB8AC3E}">
        <p14:creationId xmlns:p14="http://schemas.microsoft.com/office/powerpoint/2010/main" val="9039273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2882279671"/>
              </p:ext>
            </p:extLst>
          </p:nvPr>
        </p:nvGraphicFramePr>
        <p:xfrm>
          <a:off x="1195343" y="1213012"/>
          <a:ext cx="6618514" cy="1828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文本占位符 3"/>
          <p:cNvSpPr>
            <a:spLocks noGrp="1"/>
          </p:cNvSpPr>
          <p:nvPr>
            <p:ph type="body" sz="quarter" idx="10"/>
          </p:nvPr>
        </p:nvSpPr>
        <p:spPr/>
        <p:txBody>
          <a:bodyPr/>
          <a:lstStyle/>
          <a:p>
            <a:pPr marL="0" indent="0">
              <a:buNone/>
            </a:pPr>
            <a:r>
              <a:rPr lang="zh-CN" altLang="en-US" dirty="0"/>
              <a:t>端系统之间的两种通信方式</a:t>
            </a:r>
          </a:p>
        </p:txBody>
      </p:sp>
    </p:spTree>
    <p:extLst>
      <p:ext uri="{BB962C8B-B14F-4D97-AF65-F5344CB8AC3E}">
        <p14:creationId xmlns:p14="http://schemas.microsoft.com/office/powerpoint/2010/main" val="2362936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3" y="956743"/>
            <a:ext cx="3136192" cy="2048916"/>
          </a:xfrm>
        </p:spPr>
        <p:txBody>
          <a:bodyPr/>
          <a:lstStyle/>
          <a:p>
            <a:r>
              <a:rPr lang="zh-CN" altLang="en-US" dirty="0"/>
              <a:t>客户</a:t>
            </a:r>
            <a:r>
              <a:rPr lang="en-US" altLang="zh-CN" dirty="0"/>
              <a:t>/</a:t>
            </a:r>
            <a:r>
              <a:rPr lang="zh-CN" altLang="en-US" dirty="0"/>
              <a:t>服务器方式所描述的是</a:t>
            </a:r>
            <a:r>
              <a:rPr lang="zh-CN" altLang="en-US" dirty="0">
                <a:solidFill>
                  <a:srgbClr val="0000FF"/>
                </a:solidFill>
              </a:rPr>
              <a:t>进程之间</a:t>
            </a:r>
            <a:r>
              <a:rPr lang="zh-CN" altLang="en-US" dirty="0">
                <a:solidFill>
                  <a:srgbClr val="C00000"/>
                </a:solidFill>
              </a:rPr>
              <a:t>服务和被服务</a:t>
            </a:r>
            <a:r>
              <a:rPr lang="zh-CN" altLang="en-US" dirty="0">
                <a:solidFill>
                  <a:srgbClr val="0000FF"/>
                </a:solidFill>
              </a:rPr>
              <a:t>的关系。</a:t>
            </a:r>
          </a:p>
          <a:p>
            <a:r>
              <a:rPr lang="zh-CN" altLang="en-US" dirty="0"/>
              <a:t>客户是服务的</a:t>
            </a:r>
            <a:r>
              <a:rPr lang="zh-CN" altLang="en-US" dirty="0">
                <a:solidFill>
                  <a:srgbClr val="C00000"/>
                </a:solidFill>
              </a:rPr>
              <a:t>请求方</a:t>
            </a:r>
            <a:r>
              <a:rPr lang="zh-CN" altLang="en-US" dirty="0"/>
              <a:t>，服务器是服务的</a:t>
            </a:r>
            <a:r>
              <a:rPr lang="zh-CN" altLang="en-US" dirty="0">
                <a:solidFill>
                  <a:srgbClr val="C00000"/>
                </a:solidFill>
              </a:rPr>
              <a:t>提供方</a:t>
            </a:r>
            <a:r>
              <a:rPr lang="zh-CN" altLang="en-US" dirty="0"/>
              <a:t>。</a:t>
            </a:r>
          </a:p>
        </p:txBody>
      </p:sp>
      <p:sp>
        <p:nvSpPr>
          <p:cNvPr id="4" name="文本占位符 3"/>
          <p:cNvSpPr>
            <a:spLocks noGrp="1"/>
          </p:cNvSpPr>
          <p:nvPr>
            <p:ph type="body" sz="quarter" idx="11"/>
          </p:nvPr>
        </p:nvSpPr>
        <p:spPr/>
        <p:txBody>
          <a:bodyPr/>
          <a:lstStyle/>
          <a:p>
            <a:r>
              <a:rPr lang="en-US" altLang="zh-CN" dirty="0"/>
              <a:t>1.  </a:t>
            </a:r>
            <a:r>
              <a:rPr lang="zh-CN" altLang="en-US" dirty="0"/>
              <a:t>客户</a:t>
            </a:r>
            <a:r>
              <a:rPr lang="en-US" altLang="zh-CN" dirty="0"/>
              <a:t>-</a:t>
            </a:r>
            <a:r>
              <a:rPr lang="zh-CN" altLang="en-US" dirty="0"/>
              <a:t>服务器方式（</a:t>
            </a:r>
            <a:r>
              <a:rPr lang="en-US" altLang="zh-CN" dirty="0"/>
              <a:t>C/S </a:t>
            </a:r>
            <a:r>
              <a:rPr lang="zh-CN" altLang="en-US" dirty="0"/>
              <a:t>方式）</a:t>
            </a:r>
          </a:p>
        </p:txBody>
      </p:sp>
      <p:sp>
        <p:nvSpPr>
          <p:cNvPr id="5" name="Oval 4"/>
          <p:cNvSpPr>
            <a:spLocks noChangeArrowheads="1"/>
          </p:cNvSpPr>
          <p:nvPr/>
        </p:nvSpPr>
        <p:spPr bwMode="auto">
          <a:xfrm>
            <a:off x="3970351" y="1149927"/>
            <a:ext cx="4240165" cy="2968568"/>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7" name="Line 6"/>
          <p:cNvSpPr>
            <a:spLocks noChangeShapeType="1"/>
          </p:cNvSpPr>
          <p:nvPr/>
        </p:nvSpPr>
        <p:spPr bwMode="auto">
          <a:xfrm flipH="1" flipV="1">
            <a:off x="4419387" y="2552134"/>
            <a:ext cx="645802" cy="16459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Line 7"/>
          <p:cNvSpPr>
            <a:spLocks noChangeShapeType="1"/>
          </p:cNvSpPr>
          <p:nvPr/>
        </p:nvSpPr>
        <p:spPr bwMode="auto">
          <a:xfrm flipH="1">
            <a:off x="6869127" y="2843733"/>
            <a:ext cx="576263" cy="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Line 8"/>
          <p:cNvSpPr>
            <a:spLocks noChangeShapeType="1"/>
          </p:cNvSpPr>
          <p:nvPr/>
        </p:nvSpPr>
        <p:spPr bwMode="auto">
          <a:xfrm flipH="1">
            <a:off x="6445265" y="1638820"/>
            <a:ext cx="503237" cy="7223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Line 9"/>
          <p:cNvSpPr>
            <a:spLocks noChangeShapeType="1"/>
          </p:cNvSpPr>
          <p:nvPr/>
        </p:nvSpPr>
        <p:spPr bwMode="auto">
          <a:xfrm flipH="1" flipV="1">
            <a:off x="6384940" y="3116783"/>
            <a:ext cx="320675" cy="3683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Line 10"/>
          <p:cNvSpPr>
            <a:spLocks noChangeShapeType="1"/>
          </p:cNvSpPr>
          <p:nvPr/>
        </p:nvSpPr>
        <p:spPr bwMode="auto">
          <a:xfrm>
            <a:off x="5243527" y="1732483"/>
            <a:ext cx="320675" cy="5302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Line 11"/>
          <p:cNvSpPr>
            <a:spLocks noChangeShapeType="1"/>
          </p:cNvSpPr>
          <p:nvPr/>
        </p:nvSpPr>
        <p:spPr bwMode="auto">
          <a:xfrm flipV="1">
            <a:off x="5429265" y="3058045"/>
            <a:ext cx="166687" cy="460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Text Box 16"/>
          <p:cNvSpPr txBox="1">
            <a:spLocks noChangeArrowheads="1"/>
          </p:cNvSpPr>
          <p:nvPr/>
        </p:nvSpPr>
        <p:spPr bwMode="auto">
          <a:xfrm>
            <a:off x="3437745" y="1669001"/>
            <a:ext cx="822325" cy="461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latin typeface="微软雅黑" panose="020B0503020204020204" pitchFamily="34" charset="-122"/>
                <a:ea typeface="微软雅黑" panose="020B0503020204020204" pitchFamily="34" charset="-122"/>
              </a:rPr>
              <a:t>运行</a:t>
            </a:r>
            <a:endParaRPr kumimoji="1" lang="en-US" altLang="zh-CN" sz="1200" b="1" dirty="0">
              <a:latin typeface="微软雅黑" panose="020B0503020204020204" pitchFamily="34" charset="-122"/>
              <a:ea typeface="微软雅黑" panose="020B0503020204020204" pitchFamily="34" charset="-122"/>
            </a:endParaRPr>
          </a:p>
          <a:p>
            <a:pPr algn="ctr"/>
            <a:r>
              <a:rPr kumimoji="1" lang="zh-CN" altLang="en-US" sz="1200" b="1" dirty="0">
                <a:latin typeface="微软雅黑" panose="020B0503020204020204" pitchFamily="34" charset="-122"/>
                <a:ea typeface="微软雅黑" panose="020B0503020204020204" pitchFamily="34" charset="-122"/>
              </a:rPr>
              <a:t>客户程序</a:t>
            </a:r>
          </a:p>
        </p:txBody>
      </p:sp>
      <p:grpSp>
        <p:nvGrpSpPr>
          <p:cNvPr id="14" name="Group 18"/>
          <p:cNvGrpSpPr/>
          <p:nvPr/>
        </p:nvGrpSpPr>
        <p:grpSpPr bwMode="auto">
          <a:xfrm>
            <a:off x="4869334" y="1839086"/>
            <a:ext cx="2307127" cy="1602670"/>
            <a:chOff x="1680" y="240"/>
            <a:chExt cx="2529" cy="1270"/>
          </a:xfrm>
          <a:solidFill>
            <a:schemeClr val="bg1"/>
          </a:solidFill>
        </p:grpSpPr>
        <p:sp>
          <p:nvSpPr>
            <p:cNvPr id="15" name="Oval 19"/>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16" name="Oval 20"/>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17" name="Oval 21"/>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18" name="Oval 22"/>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19" name="Oval 23"/>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20" name="Oval 24"/>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21" name="Oval 25"/>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22" name="Oval 26"/>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23" name="Oval 27"/>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grpSp>
      <p:sp>
        <p:nvSpPr>
          <p:cNvPr id="24" name="Text Box 28"/>
          <p:cNvSpPr txBox="1">
            <a:spLocks noChangeArrowheads="1"/>
          </p:cNvSpPr>
          <p:nvPr/>
        </p:nvSpPr>
        <p:spPr bwMode="auto">
          <a:xfrm>
            <a:off x="5622940" y="1387995"/>
            <a:ext cx="903287"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网络边缘</a:t>
            </a:r>
          </a:p>
        </p:txBody>
      </p:sp>
      <p:sp>
        <p:nvSpPr>
          <p:cNvPr id="25" name="Text Box 29"/>
          <p:cNvSpPr txBox="1">
            <a:spLocks noChangeArrowheads="1"/>
          </p:cNvSpPr>
          <p:nvPr/>
        </p:nvSpPr>
        <p:spPr bwMode="auto">
          <a:xfrm>
            <a:off x="5677456" y="2983414"/>
            <a:ext cx="903288" cy="307975"/>
          </a:xfrm>
          <a:prstGeom prst="rect">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网络核心</a:t>
            </a:r>
          </a:p>
        </p:txBody>
      </p:sp>
      <p:sp>
        <p:nvSpPr>
          <p:cNvPr id="26" name="Text Box 31"/>
          <p:cNvSpPr txBox="1">
            <a:spLocks noChangeArrowheads="1"/>
          </p:cNvSpPr>
          <p:nvPr/>
        </p:nvSpPr>
        <p:spPr bwMode="auto">
          <a:xfrm>
            <a:off x="7968539" y="1549250"/>
            <a:ext cx="1016000" cy="461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latin typeface="微软雅黑" panose="020B0503020204020204" pitchFamily="34" charset="-122"/>
                <a:ea typeface="微软雅黑" panose="020B0503020204020204" pitchFamily="34" charset="-122"/>
              </a:rPr>
              <a:t>运行</a:t>
            </a:r>
          </a:p>
          <a:p>
            <a:pPr algn="ctr"/>
            <a:r>
              <a:rPr kumimoji="1" lang="zh-CN" altLang="en-US" sz="1200" b="1" dirty="0">
                <a:latin typeface="微软雅黑" panose="020B0503020204020204" pitchFamily="34" charset="-122"/>
                <a:ea typeface="微软雅黑" panose="020B0503020204020204" pitchFamily="34" charset="-122"/>
              </a:rPr>
              <a:t>服务器程序</a:t>
            </a:r>
          </a:p>
        </p:txBody>
      </p:sp>
      <p:sp>
        <p:nvSpPr>
          <p:cNvPr id="27" name="Line 33"/>
          <p:cNvSpPr>
            <a:spLocks noChangeShapeType="1"/>
          </p:cNvSpPr>
          <p:nvPr/>
        </p:nvSpPr>
        <p:spPr bwMode="auto">
          <a:xfrm>
            <a:off x="3946182" y="2113339"/>
            <a:ext cx="432821" cy="42545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8" name="Line 34"/>
          <p:cNvSpPr>
            <a:spLocks noChangeShapeType="1"/>
          </p:cNvSpPr>
          <p:nvPr/>
        </p:nvSpPr>
        <p:spPr bwMode="auto">
          <a:xfrm flipH="1">
            <a:off x="7647002" y="2045472"/>
            <a:ext cx="643075" cy="6283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9" name="Text Box 35"/>
          <p:cNvSpPr txBox="1">
            <a:spLocks noChangeArrowheads="1"/>
          </p:cNvSpPr>
          <p:nvPr/>
        </p:nvSpPr>
        <p:spPr bwMode="auto">
          <a:xfrm>
            <a:off x="4286265" y="2131227"/>
            <a:ext cx="30956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0000FF"/>
                </a:solidFill>
                <a:ea typeface="黑体" panose="02010609060101010101" pitchFamily="2" charset="-122"/>
              </a:rPr>
              <a:t>A</a:t>
            </a:r>
          </a:p>
        </p:txBody>
      </p:sp>
      <p:sp>
        <p:nvSpPr>
          <p:cNvPr id="30" name="Text Box 36"/>
          <p:cNvSpPr txBox="1">
            <a:spLocks noChangeArrowheads="1"/>
          </p:cNvSpPr>
          <p:nvPr/>
        </p:nvSpPr>
        <p:spPr bwMode="auto">
          <a:xfrm>
            <a:off x="7575565" y="1924570"/>
            <a:ext cx="300037"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0000FF"/>
                </a:solidFill>
                <a:ea typeface="黑体" panose="02010609060101010101" pitchFamily="2" charset="-122"/>
              </a:rPr>
              <a:t>B</a:t>
            </a:r>
          </a:p>
        </p:txBody>
      </p:sp>
      <p:grpSp>
        <p:nvGrpSpPr>
          <p:cNvPr id="31" name="组合 30"/>
          <p:cNvGrpSpPr/>
          <p:nvPr/>
        </p:nvGrpSpPr>
        <p:grpSpPr bwMode="auto">
          <a:xfrm>
            <a:off x="4686315" y="2222436"/>
            <a:ext cx="2667000" cy="351413"/>
            <a:chOff x="2799680" y="2545502"/>
            <a:chExt cx="3658879" cy="1012182"/>
          </a:xfrm>
        </p:grpSpPr>
        <p:sp>
          <p:nvSpPr>
            <p:cNvPr id="32" name="Freeform 32"/>
            <p:cNvSpPr/>
            <p:nvPr/>
          </p:nvSpPr>
          <p:spPr bwMode="auto">
            <a:xfrm rot="60000">
              <a:off x="2799680" y="3080925"/>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3" name="Text Box 39"/>
            <p:cNvSpPr txBox="1">
              <a:spLocks noChangeArrowheads="1"/>
            </p:cNvSpPr>
            <p:nvPr/>
          </p:nvSpPr>
          <p:spPr bwMode="auto">
            <a:xfrm rot="240000">
              <a:off x="4031413" y="2545502"/>
              <a:ext cx="1373076" cy="3801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b="1" dirty="0">
                  <a:solidFill>
                    <a:srgbClr val="CC00CC"/>
                  </a:solidFill>
                  <a:latin typeface="微软雅黑" panose="020B0503020204020204" pitchFamily="34" charset="-122"/>
                  <a:ea typeface="微软雅黑" panose="020B0503020204020204" pitchFamily="34" charset="-122"/>
                </a:rPr>
                <a:t>① </a:t>
              </a:r>
              <a:r>
                <a:rPr kumimoji="1" lang="zh-CN" altLang="en-US" sz="1200" b="1" dirty="0">
                  <a:solidFill>
                    <a:srgbClr val="CC00CC"/>
                  </a:solidFill>
                  <a:latin typeface="微软雅黑" panose="020B0503020204020204" pitchFamily="34" charset="-122"/>
                  <a:ea typeface="微软雅黑" panose="020B0503020204020204" pitchFamily="34" charset="-122"/>
                </a:rPr>
                <a:t>请求服务</a:t>
              </a:r>
            </a:p>
          </p:txBody>
        </p:sp>
      </p:grpSp>
      <p:sp>
        <p:nvSpPr>
          <p:cNvPr id="34" name="Text Box 41"/>
          <p:cNvSpPr txBox="1">
            <a:spLocks noChangeArrowheads="1"/>
          </p:cNvSpPr>
          <p:nvPr/>
        </p:nvSpPr>
        <p:spPr bwMode="auto">
          <a:xfrm>
            <a:off x="4218002" y="2737652"/>
            <a:ext cx="4921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latin typeface="微软雅黑" panose="020B0503020204020204" pitchFamily="34" charset="-122"/>
                <a:ea typeface="微软雅黑" panose="020B0503020204020204" pitchFamily="34" charset="-122"/>
              </a:rPr>
              <a:t>客户</a:t>
            </a:r>
          </a:p>
        </p:txBody>
      </p:sp>
      <p:sp>
        <p:nvSpPr>
          <p:cNvPr id="35" name="Text Box 42"/>
          <p:cNvSpPr txBox="1">
            <a:spLocks noChangeArrowheads="1"/>
          </p:cNvSpPr>
          <p:nvPr/>
        </p:nvSpPr>
        <p:spPr bwMode="auto">
          <a:xfrm>
            <a:off x="7364427" y="3005658"/>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latin typeface="微软雅黑" panose="020B0503020204020204" pitchFamily="34" charset="-122"/>
                <a:ea typeface="微软雅黑" panose="020B0503020204020204" pitchFamily="34" charset="-122"/>
              </a:rPr>
              <a:t>服务器</a:t>
            </a:r>
          </a:p>
        </p:txBody>
      </p:sp>
      <p:pic>
        <p:nvPicPr>
          <p:cNvPr id="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2452" y="2392100"/>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86365" y="1418158"/>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65940" y="1365770"/>
            <a:ext cx="366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965" y="3466033"/>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43527" y="3518420"/>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图片 39"/>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367602" y="2148408"/>
            <a:ext cx="619125" cy="86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矩形 40"/>
          <p:cNvSpPr>
            <a:spLocks noChangeArrowheads="1"/>
          </p:cNvSpPr>
          <p:nvPr/>
        </p:nvSpPr>
        <p:spPr bwMode="auto">
          <a:xfrm>
            <a:off x="4498583" y="4146385"/>
            <a:ext cx="3431709"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客户 </a:t>
            </a:r>
            <a:r>
              <a:rPr lang="en-US" altLang="zh-CN" sz="1600" b="1" dirty="0">
                <a:solidFill>
                  <a:srgbClr val="0000FF"/>
                </a:solidFill>
                <a:latin typeface="微软雅黑" panose="020B0503020204020204" pitchFamily="34" charset="-122"/>
                <a:ea typeface="微软雅黑" panose="020B0503020204020204" pitchFamily="34" charset="-122"/>
              </a:rPr>
              <a:t>A </a:t>
            </a:r>
            <a:r>
              <a:rPr lang="zh-CN" altLang="en-US" sz="1600" b="1" dirty="0">
                <a:solidFill>
                  <a:srgbClr val="0000FF"/>
                </a:solidFill>
                <a:latin typeface="微软雅黑" panose="020B0503020204020204" pitchFamily="34" charset="-122"/>
                <a:ea typeface="微软雅黑" panose="020B0503020204020204" pitchFamily="34" charset="-122"/>
              </a:rPr>
              <a:t>向服务器 </a:t>
            </a:r>
            <a:r>
              <a:rPr lang="en-US" altLang="zh-CN" sz="1600" b="1" dirty="0">
                <a:solidFill>
                  <a:srgbClr val="0000FF"/>
                </a:solidFill>
                <a:latin typeface="微软雅黑" panose="020B0503020204020204" pitchFamily="34" charset="-122"/>
                <a:ea typeface="微软雅黑" panose="020B0503020204020204" pitchFamily="34" charset="-122"/>
              </a:rPr>
              <a:t>B </a:t>
            </a:r>
            <a:r>
              <a:rPr lang="zh-CN" altLang="en-US" sz="1600" b="1" dirty="0">
                <a:solidFill>
                  <a:srgbClr val="0000FF"/>
                </a:solidFill>
                <a:latin typeface="微软雅黑" panose="020B0503020204020204" pitchFamily="34" charset="-122"/>
                <a:ea typeface="微软雅黑" panose="020B0503020204020204" pitchFamily="34" charset="-122"/>
              </a:rPr>
              <a:t>发出请求服务，</a:t>
            </a:r>
            <a:endParaRPr lang="en-US" altLang="zh-CN" sz="1600" b="1" dirty="0">
              <a:solidFill>
                <a:srgbClr val="0000FF"/>
              </a:solidFill>
              <a:latin typeface="微软雅黑" panose="020B0503020204020204" pitchFamily="34" charset="-122"/>
              <a:ea typeface="微软雅黑" panose="020B0503020204020204" pitchFamily="34" charset="-122"/>
            </a:endParaRPr>
          </a:p>
          <a:p>
            <a:r>
              <a:rPr lang="zh-CN" altLang="en-US" sz="1600" b="1" dirty="0">
                <a:solidFill>
                  <a:srgbClr val="0000FF"/>
                </a:solidFill>
                <a:latin typeface="微软雅黑" panose="020B0503020204020204" pitchFamily="34" charset="-122"/>
                <a:ea typeface="微软雅黑" panose="020B0503020204020204" pitchFamily="34" charset="-122"/>
              </a:rPr>
              <a:t>服务器 </a:t>
            </a:r>
            <a:r>
              <a:rPr lang="en-US" altLang="zh-CN" sz="1600" b="1" dirty="0">
                <a:solidFill>
                  <a:srgbClr val="0000FF"/>
                </a:solidFill>
                <a:latin typeface="微软雅黑" panose="020B0503020204020204" pitchFamily="34" charset="-122"/>
                <a:ea typeface="微软雅黑" panose="020B0503020204020204" pitchFamily="34" charset="-122"/>
              </a:rPr>
              <a:t>B </a:t>
            </a:r>
            <a:r>
              <a:rPr lang="zh-CN" altLang="en-US" sz="1600" b="1" dirty="0">
                <a:solidFill>
                  <a:srgbClr val="0000FF"/>
                </a:solidFill>
                <a:latin typeface="微软雅黑" panose="020B0503020204020204" pitchFamily="34" charset="-122"/>
                <a:ea typeface="微软雅黑" panose="020B0503020204020204" pitchFamily="34" charset="-122"/>
              </a:rPr>
              <a:t>向客户 </a:t>
            </a:r>
            <a:r>
              <a:rPr lang="en-US" altLang="zh-CN" sz="1600" b="1" dirty="0">
                <a:solidFill>
                  <a:srgbClr val="0000FF"/>
                </a:solidFill>
                <a:latin typeface="微软雅黑" panose="020B0503020204020204" pitchFamily="34" charset="-122"/>
                <a:ea typeface="微软雅黑" panose="020B0503020204020204" pitchFamily="34" charset="-122"/>
              </a:rPr>
              <a:t>A </a:t>
            </a:r>
            <a:r>
              <a:rPr lang="zh-CN" altLang="en-US" sz="1600" b="1" dirty="0">
                <a:solidFill>
                  <a:srgbClr val="0000FF"/>
                </a:solidFill>
                <a:latin typeface="微软雅黑" panose="020B0503020204020204" pitchFamily="34" charset="-122"/>
                <a:ea typeface="微软雅黑" panose="020B0503020204020204" pitchFamily="34" charset="-122"/>
              </a:rPr>
              <a:t>提供服务。</a:t>
            </a:r>
          </a:p>
        </p:txBody>
      </p:sp>
      <p:grpSp>
        <p:nvGrpSpPr>
          <p:cNvPr id="44" name="组合 43"/>
          <p:cNvGrpSpPr/>
          <p:nvPr/>
        </p:nvGrpSpPr>
        <p:grpSpPr bwMode="auto">
          <a:xfrm rot="-60000">
            <a:off x="4638201" y="2580481"/>
            <a:ext cx="2665413" cy="303219"/>
            <a:chOff x="2717737" y="3239081"/>
            <a:chExt cx="3658879" cy="639036"/>
          </a:xfrm>
        </p:grpSpPr>
        <p:sp>
          <p:nvSpPr>
            <p:cNvPr id="45" name="Text Box 40"/>
            <p:cNvSpPr txBox="1">
              <a:spLocks noChangeArrowheads="1"/>
            </p:cNvSpPr>
            <p:nvPr/>
          </p:nvSpPr>
          <p:spPr bwMode="auto">
            <a:xfrm rot="300000">
              <a:off x="3965549" y="3498003"/>
              <a:ext cx="1373075" cy="380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b="1" dirty="0">
                  <a:solidFill>
                    <a:srgbClr val="CC00CC"/>
                  </a:solidFill>
                  <a:latin typeface="微软雅黑" panose="020B0503020204020204" pitchFamily="34" charset="-122"/>
                  <a:ea typeface="微软雅黑" panose="020B0503020204020204" pitchFamily="34" charset="-122"/>
                </a:rPr>
                <a:t>② </a:t>
              </a:r>
              <a:r>
                <a:rPr kumimoji="1" lang="zh-CN" altLang="en-US" sz="1200" b="1" dirty="0">
                  <a:solidFill>
                    <a:srgbClr val="CC00CC"/>
                  </a:solidFill>
                  <a:latin typeface="微软雅黑" panose="020B0503020204020204" pitchFamily="34" charset="-122"/>
                  <a:ea typeface="微软雅黑" panose="020B0503020204020204" pitchFamily="34" charset="-122"/>
                </a:rPr>
                <a:t>得到服务</a:t>
              </a:r>
            </a:p>
          </p:txBody>
        </p:sp>
        <p:sp>
          <p:nvSpPr>
            <p:cNvPr id="46" name="Freeform 38"/>
            <p:cNvSpPr/>
            <p:nvPr/>
          </p:nvSpPr>
          <p:spPr bwMode="auto">
            <a:xfrm rot="10800000">
              <a:off x="2717737" y="3239081"/>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47" name="对角圆角矩形 46"/>
          <p:cNvSpPr/>
          <p:nvPr/>
        </p:nvSpPr>
        <p:spPr>
          <a:xfrm>
            <a:off x="458322" y="3021356"/>
            <a:ext cx="3515160" cy="1350118"/>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400"/>
          </a:p>
        </p:txBody>
      </p:sp>
      <p:sp>
        <p:nvSpPr>
          <p:cNvPr id="48" name="矩形 5"/>
          <p:cNvSpPr>
            <a:spLocks noChangeArrowheads="1"/>
          </p:cNvSpPr>
          <p:nvPr/>
        </p:nvSpPr>
        <p:spPr bwMode="auto">
          <a:xfrm>
            <a:off x="581106" y="3176458"/>
            <a:ext cx="3326604"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400"/>
              </a:lnSpc>
              <a:spcBef>
                <a:spcPts val="0"/>
              </a:spcBef>
            </a:pPr>
            <a:r>
              <a:rPr lang="zh-CN" altLang="zh-CN" b="1" dirty="0">
                <a:solidFill>
                  <a:schemeClr val="bg1"/>
                </a:solidFill>
                <a:latin typeface="微软雅黑" panose="020B0503020204020204" pitchFamily="34" charset="-122"/>
                <a:ea typeface="微软雅黑" panose="020B0503020204020204" pitchFamily="34" charset="-122"/>
              </a:rPr>
              <a:t>客户与服务器的通信关系建立后，通信可以是</a:t>
            </a:r>
            <a:r>
              <a:rPr lang="zh-CN" altLang="zh-CN" b="1" dirty="0">
                <a:solidFill>
                  <a:srgbClr val="FFFF00"/>
                </a:solidFill>
                <a:latin typeface="微软雅黑" panose="020B0503020204020204" pitchFamily="34" charset="-122"/>
                <a:ea typeface="微软雅黑" panose="020B0503020204020204" pitchFamily="34" charset="-122"/>
              </a:rPr>
              <a:t>双向</a:t>
            </a:r>
            <a:r>
              <a:rPr lang="zh-CN" altLang="zh-CN" b="1" dirty="0">
                <a:solidFill>
                  <a:schemeClr val="bg1"/>
                </a:solidFill>
                <a:latin typeface="微软雅黑" panose="020B0503020204020204" pitchFamily="34" charset="-122"/>
                <a:ea typeface="微软雅黑" panose="020B0503020204020204" pitchFamily="34" charset="-122"/>
              </a:rPr>
              <a:t>的，客户和服务器都可发送和接收数据。</a:t>
            </a:r>
            <a:endParaRPr lang="zh-CN" altLang="en-US" b="1"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129191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2000"/>
                                        <p:tgtEl>
                                          <p:spTgt spid="31"/>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44"/>
                                        </p:tgtEl>
                                        <p:attrNameLst>
                                          <p:attrName>style.visibility</p:attrName>
                                        </p:attrNameLst>
                                      </p:cBhvr>
                                      <p:to>
                                        <p:strVal val="visible"/>
                                      </p:to>
                                    </p:set>
                                    <p:animEffect transition="in" filter="wipe(right)">
                                      <p:cBhvr>
                                        <p:cTn id="11" dur="20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zh-CN" altLang="en-US" dirty="0">
                <a:solidFill>
                  <a:srgbClr val="0000FF"/>
                </a:solidFill>
              </a:rPr>
              <a:t>客户程序</a:t>
            </a:r>
            <a:endParaRPr lang="en-US" altLang="zh-CN" dirty="0">
              <a:solidFill>
                <a:srgbClr val="0000FF"/>
              </a:solidFill>
            </a:endParaRPr>
          </a:p>
          <a:p>
            <a:pPr lvl="1"/>
            <a:r>
              <a:rPr lang="zh-CN" altLang="en-US" dirty="0"/>
              <a:t>被用户</a:t>
            </a:r>
            <a:r>
              <a:rPr lang="zh-CN" altLang="en-US" dirty="0">
                <a:solidFill>
                  <a:srgbClr val="C00000"/>
                </a:solidFill>
              </a:rPr>
              <a:t>调用后运行，</a:t>
            </a:r>
            <a:r>
              <a:rPr lang="zh-CN" altLang="en-US" dirty="0"/>
              <a:t>需</a:t>
            </a:r>
            <a:r>
              <a:rPr lang="zh-CN" altLang="en-US" dirty="0">
                <a:solidFill>
                  <a:srgbClr val="C00000"/>
                </a:solidFill>
              </a:rPr>
              <a:t>主动</a:t>
            </a:r>
            <a:r>
              <a:rPr lang="zh-CN" altLang="en-US" dirty="0"/>
              <a:t>向远地服务器发起通信（请求服务）。必须知道服务器程序的地址。</a:t>
            </a:r>
            <a:endParaRPr lang="en-US" altLang="zh-CN" dirty="0"/>
          </a:p>
          <a:p>
            <a:pPr lvl="1"/>
            <a:r>
              <a:rPr lang="zh-CN" altLang="en-US" dirty="0"/>
              <a:t>不需要特殊的硬件和很复杂的操作系统。</a:t>
            </a:r>
            <a:endParaRPr lang="en-US" altLang="zh-CN" dirty="0"/>
          </a:p>
          <a:p>
            <a:r>
              <a:rPr lang="zh-CN" altLang="en-US" dirty="0">
                <a:solidFill>
                  <a:srgbClr val="0000FF"/>
                </a:solidFill>
              </a:rPr>
              <a:t>服务器程序</a:t>
            </a:r>
            <a:endParaRPr lang="en-US" altLang="zh-CN" dirty="0">
              <a:solidFill>
                <a:srgbClr val="0000FF"/>
              </a:solidFill>
            </a:endParaRPr>
          </a:p>
          <a:p>
            <a:pPr lvl="1"/>
            <a:r>
              <a:rPr lang="zh-CN" altLang="en-US" dirty="0"/>
              <a:t>专门用来提供某种服务的程序，可同时处理多个客户请求。</a:t>
            </a:r>
          </a:p>
          <a:p>
            <a:pPr lvl="1"/>
            <a:r>
              <a:rPr lang="zh-CN" altLang="en-US" dirty="0"/>
              <a:t>一直</a:t>
            </a:r>
            <a:r>
              <a:rPr lang="zh-CN" altLang="en-US" dirty="0">
                <a:solidFill>
                  <a:srgbClr val="C00000"/>
                </a:solidFill>
              </a:rPr>
              <a:t>不断地运行着，被动</a:t>
            </a:r>
            <a:r>
              <a:rPr lang="zh-CN" altLang="en-US" dirty="0"/>
              <a:t>地等待并接受来自各地的客户的通信请求。不需要知道客户程序的地址。</a:t>
            </a:r>
          </a:p>
          <a:p>
            <a:pPr lvl="1"/>
            <a:r>
              <a:rPr lang="zh-CN" altLang="en-US" dirty="0"/>
              <a:t>一般需要强大的硬件和高级的操作系统支持。</a:t>
            </a:r>
          </a:p>
        </p:txBody>
      </p:sp>
      <p:sp>
        <p:nvSpPr>
          <p:cNvPr id="3" name="文本占位符 2"/>
          <p:cNvSpPr>
            <a:spLocks noGrp="1"/>
          </p:cNvSpPr>
          <p:nvPr>
            <p:ph type="body" sz="quarter" idx="11"/>
          </p:nvPr>
        </p:nvSpPr>
        <p:spPr/>
        <p:txBody>
          <a:bodyPr/>
          <a:lstStyle/>
          <a:p>
            <a:r>
              <a:rPr lang="zh-CN" altLang="en-US" dirty="0"/>
              <a:t>客户程序和服务器程序主要特点</a:t>
            </a:r>
          </a:p>
        </p:txBody>
      </p:sp>
    </p:spTree>
    <p:extLst>
      <p:ext uri="{BB962C8B-B14F-4D97-AF65-F5344CB8AC3E}">
        <p14:creationId xmlns:p14="http://schemas.microsoft.com/office/powerpoint/2010/main" val="244201009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963281"/>
            <a:ext cx="3425066" cy="3172691"/>
          </a:xfrm>
        </p:spPr>
        <p:txBody>
          <a:bodyPr/>
          <a:lstStyle/>
          <a:p>
            <a:r>
              <a:rPr lang="zh-CN" altLang="en-US" dirty="0"/>
              <a:t>两台主机在通信时</a:t>
            </a:r>
            <a:r>
              <a:rPr lang="zh-CN" altLang="en-US" dirty="0">
                <a:solidFill>
                  <a:srgbClr val="C00000"/>
                </a:solidFill>
              </a:rPr>
              <a:t>不区分</a:t>
            </a:r>
            <a:r>
              <a:rPr lang="zh-CN" altLang="en-US" dirty="0"/>
              <a:t>服务请求方和服务提供方。</a:t>
            </a:r>
          </a:p>
          <a:p>
            <a:r>
              <a:rPr lang="zh-CN" altLang="en-US" dirty="0"/>
              <a:t>只要都运行了 </a:t>
            </a:r>
            <a:r>
              <a:rPr lang="en-US" altLang="zh-CN" dirty="0"/>
              <a:t>P2P </a:t>
            </a:r>
            <a:r>
              <a:rPr lang="zh-CN" altLang="en-US" dirty="0"/>
              <a:t>软件，就可以进行</a:t>
            </a:r>
            <a:r>
              <a:rPr lang="zh-CN" altLang="en-US" dirty="0">
                <a:solidFill>
                  <a:srgbClr val="C00000"/>
                </a:solidFill>
              </a:rPr>
              <a:t>平等的、对等连接通信。</a:t>
            </a:r>
          </a:p>
        </p:txBody>
      </p:sp>
      <p:sp>
        <p:nvSpPr>
          <p:cNvPr id="4" name="文本占位符 3"/>
          <p:cNvSpPr>
            <a:spLocks noGrp="1"/>
          </p:cNvSpPr>
          <p:nvPr>
            <p:ph type="body" sz="quarter" idx="11"/>
          </p:nvPr>
        </p:nvSpPr>
        <p:spPr/>
        <p:txBody>
          <a:bodyPr/>
          <a:lstStyle/>
          <a:p>
            <a:r>
              <a:rPr lang="en-US" altLang="zh-CN" dirty="0"/>
              <a:t>2. </a:t>
            </a:r>
            <a:r>
              <a:rPr lang="zh-CN" altLang="en-US" dirty="0"/>
              <a:t>对等连接方式（</a:t>
            </a:r>
            <a:r>
              <a:rPr lang="en-US" altLang="zh-CN" dirty="0"/>
              <a:t>P2P </a:t>
            </a:r>
            <a:r>
              <a:rPr lang="zh-CN" altLang="en-US" dirty="0"/>
              <a:t>方式）</a:t>
            </a:r>
          </a:p>
        </p:txBody>
      </p:sp>
      <p:sp>
        <p:nvSpPr>
          <p:cNvPr id="47" name="对角圆角矩形 46"/>
          <p:cNvSpPr/>
          <p:nvPr/>
        </p:nvSpPr>
        <p:spPr>
          <a:xfrm>
            <a:off x="466344" y="3043575"/>
            <a:ext cx="3575703" cy="1432010"/>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400"/>
          </a:p>
        </p:txBody>
      </p:sp>
      <p:sp>
        <p:nvSpPr>
          <p:cNvPr id="48" name="矩形 5"/>
          <p:cNvSpPr>
            <a:spLocks noChangeArrowheads="1"/>
          </p:cNvSpPr>
          <p:nvPr/>
        </p:nvSpPr>
        <p:spPr bwMode="auto">
          <a:xfrm>
            <a:off x="673767" y="3103186"/>
            <a:ext cx="3352127"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400"/>
              </a:lnSpc>
              <a:spcBef>
                <a:spcPts val="0"/>
              </a:spcBef>
            </a:pPr>
            <a:r>
              <a:rPr lang="zh-CN" altLang="en-US" b="1" dirty="0">
                <a:solidFill>
                  <a:schemeClr val="bg1"/>
                </a:solidFill>
                <a:latin typeface="微软雅黑" panose="020B0503020204020204" pitchFamily="34" charset="-122"/>
                <a:ea typeface="微软雅黑" panose="020B0503020204020204" pitchFamily="34" charset="-122"/>
              </a:rPr>
              <a:t>对等连接方式从本质上看仍然是使用客户服务器方式，只是对等连接中的每一个主机</a:t>
            </a:r>
            <a:r>
              <a:rPr lang="zh-CN" altLang="en-US" b="1" dirty="0">
                <a:solidFill>
                  <a:srgbClr val="FFFF00"/>
                </a:solidFill>
                <a:latin typeface="微软雅黑" panose="020B0503020204020204" pitchFamily="34" charset="-122"/>
                <a:ea typeface="微软雅黑" panose="020B0503020204020204" pitchFamily="34" charset="-122"/>
              </a:rPr>
              <a:t>既是客户又是服务器。</a:t>
            </a:r>
          </a:p>
        </p:txBody>
      </p:sp>
      <p:sp>
        <p:nvSpPr>
          <p:cNvPr id="49" name="Oval 4"/>
          <p:cNvSpPr>
            <a:spLocks noChangeArrowheads="1"/>
          </p:cNvSpPr>
          <p:nvPr/>
        </p:nvSpPr>
        <p:spPr bwMode="auto">
          <a:xfrm>
            <a:off x="4093027" y="1165157"/>
            <a:ext cx="4441371" cy="2858197"/>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Line 5"/>
          <p:cNvSpPr>
            <a:spLocks noChangeShapeType="1"/>
          </p:cNvSpPr>
          <p:nvPr/>
        </p:nvSpPr>
        <p:spPr bwMode="auto">
          <a:xfrm flipV="1">
            <a:off x="4977095" y="2890233"/>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 name="Line 6"/>
          <p:cNvSpPr>
            <a:spLocks noChangeShapeType="1"/>
          </p:cNvSpPr>
          <p:nvPr/>
        </p:nvSpPr>
        <p:spPr bwMode="auto">
          <a:xfrm flipH="1" flipV="1">
            <a:off x="4727213" y="2334227"/>
            <a:ext cx="772509" cy="269821"/>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7"/>
          <p:cNvSpPr>
            <a:spLocks noChangeShapeType="1"/>
          </p:cNvSpPr>
          <p:nvPr/>
        </p:nvSpPr>
        <p:spPr bwMode="auto">
          <a:xfrm flipH="1">
            <a:off x="7155734" y="2612821"/>
            <a:ext cx="783490" cy="0"/>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 name="Line 8"/>
          <p:cNvSpPr>
            <a:spLocks noChangeShapeType="1"/>
          </p:cNvSpPr>
          <p:nvPr/>
        </p:nvSpPr>
        <p:spPr bwMode="auto">
          <a:xfrm flipH="1">
            <a:off x="6635152" y="1666913"/>
            <a:ext cx="449997" cy="669683"/>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4" name="Line 9"/>
          <p:cNvSpPr>
            <a:spLocks noChangeShapeType="1"/>
          </p:cNvSpPr>
          <p:nvPr/>
        </p:nvSpPr>
        <p:spPr bwMode="auto">
          <a:xfrm flipH="1" flipV="1">
            <a:off x="6630429" y="3083294"/>
            <a:ext cx="397570" cy="394714"/>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5" name="Line 10"/>
          <p:cNvSpPr>
            <a:spLocks noChangeShapeType="1"/>
          </p:cNvSpPr>
          <p:nvPr/>
        </p:nvSpPr>
        <p:spPr bwMode="auto">
          <a:xfrm>
            <a:off x="5316072" y="1761107"/>
            <a:ext cx="451453" cy="483413"/>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6" name="Line 11"/>
          <p:cNvSpPr>
            <a:spLocks noChangeShapeType="1"/>
          </p:cNvSpPr>
          <p:nvPr/>
        </p:nvSpPr>
        <p:spPr bwMode="auto">
          <a:xfrm flipV="1">
            <a:off x="5707527" y="3039086"/>
            <a:ext cx="91747" cy="548460"/>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57" name="Group 17"/>
          <p:cNvGrpSpPr/>
          <p:nvPr/>
        </p:nvGrpSpPr>
        <p:grpSpPr bwMode="auto">
          <a:xfrm>
            <a:off x="5258040" y="1947503"/>
            <a:ext cx="2136571" cy="1415756"/>
            <a:chOff x="1680" y="240"/>
            <a:chExt cx="2529" cy="1270"/>
          </a:xfrm>
          <a:solidFill>
            <a:schemeClr val="bg1"/>
          </a:solidFill>
        </p:grpSpPr>
        <p:sp>
          <p:nvSpPr>
            <p:cNvPr id="58" name="Oval 18"/>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9" name="Oval 19"/>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0" name="Oval 20"/>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1" name="Oval 21"/>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2" name="Oval 22"/>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3" name="Oval 23"/>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4" name="Oval 24"/>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5" name="Oval 25"/>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6" name="Oval 26"/>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grpSp>
      <p:sp>
        <p:nvSpPr>
          <p:cNvPr id="67" name="Text Box 27"/>
          <p:cNvSpPr txBox="1">
            <a:spLocks noChangeArrowheads="1"/>
          </p:cNvSpPr>
          <p:nvPr/>
        </p:nvSpPr>
        <p:spPr bwMode="auto">
          <a:xfrm>
            <a:off x="5640252" y="1381948"/>
            <a:ext cx="118030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网络边缘</a:t>
            </a:r>
          </a:p>
        </p:txBody>
      </p:sp>
      <p:sp>
        <p:nvSpPr>
          <p:cNvPr id="68" name="Text Box 28"/>
          <p:cNvSpPr txBox="1">
            <a:spLocks noChangeArrowheads="1"/>
          </p:cNvSpPr>
          <p:nvPr/>
        </p:nvSpPr>
        <p:spPr bwMode="auto">
          <a:xfrm>
            <a:off x="5884044" y="2577967"/>
            <a:ext cx="1090078" cy="307777"/>
          </a:xfrm>
          <a:prstGeom prst="rect">
            <a:avLst/>
          </a:prstGeom>
          <a:solidFill>
            <a:schemeClr val="bg1"/>
          </a:solidFill>
          <a:ln>
            <a:noFill/>
          </a:ln>
          <a:effectLst/>
          <a:extLst>
            <a:ext uri="{91240B29-F687-4F45-9708-019B960494DF}">
              <a14:hiddenLine xmlns:a14="http://schemas.microsoft.com/office/drawing/2010/main" w="19050">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网络核心</a:t>
            </a:r>
          </a:p>
        </p:txBody>
      </p:sp>
      <p:sp>
        <p:nvSpPr>
          <p:cNvPr id="69" name="Text Box 30"/>
          <p:cNvSpPr txBox="1">
            <a:spLocks noChangeArrowheads="1"/>
          </p:cNvSpPr>
          <p:nvPr/>
        </p:nvSpPr>
        <p:spPr bwMode="auto">
          <a:xfrm>
            <a:off x="7189671" y="1738140"/>
            <a:ext cx="86370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70" name="Text Box 31"/>
          <p:cNvSpPr txBox="1">
            <a:spLocks noChangeArrowheads="1"/>
          </p:cNvSpPr>
          <p:nvPr/>
        </p:nvSpPr>
        <p:spPr bwMode="auto">
          <a:xfrm>
            <a:off x="7309650" y="3089163"/>
            <a:ext cx="86206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71" name="Line 32"/>
          <p:cNvSpPr>
            <a:spLocks noChangeShapeType="1"/>
          </p:cNvSpPr>
          <p:nvPr/>
        </p:nvSpPr>
        <p:spPr bwMode="auto">
          <a:xfrm flipH="1">
            <a:off x="7105061" y="1855231"/>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 name="Line 33"/>
          <p:cNvSpPr>
            <a:spLocks noChangeShapeType="1"/>
          </p:cNvSpPr>
          <p:nvPr/>
        </p:nvSpPr>
        <p:spPr bwMode="auto">
          <a:xfrm flipH="1" flipV="1">
            <a:off x="7224507" y="1672751"/>
            <a:ext cx="231860" cy="132613"/>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 name="Line 34"/>
          <p:cNvSpPr>
            <a:spLocks noChangeShapeType="1"/>
          </p:cNvSpPr>
          <p:nvPr/>
        </p:nvSpPr>
        <p:spPr bwMode="auto">
          <a:xfrm flipH="1">
            <a:off x="7199702" y="3449107"/>
            <a:ext cx="232938" cy="12973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4" name="Text Box 35"/>
          <p:cNvSpPr txBox="1">
            <a:spLocks noChangeArrowheads="1"/>
          </p:cNvSpPr>
          <p:nvPr/>
        </p:nvSpPr>
        <p:spPr bwMode="auto">
          <a:xfrm>
            <a:off x="6648512" y="3459924"/>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ea typeface="黑体" panose="02010609060101010101" pitchFamily="2" charset="-122"/>
              </a:rPr>
              <a:t>D</a:t>
            </a:r>
          </a:p>
        </p:txBody>
      </p:sp>
      <p:sp>
        <p:nvSpPr>
          <p:cNvPr id="75" name="Text Box 36"/>
          <p:cNvSpPr txBox="1">
            <a:spLocks noChangeArrowheads="1"/>
          </p:cNvSpPr>
          <p:nvPr/>
        </p:nvSpPr>
        <p:spPr bwMode="auto">
          <a:xfrm>
            <a:off x="7207428" y="1384781"/>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ea typeface="黑体" panose="02010609060101010101" pitchFamily="2" charset="-122"/>
              </a:rPr>
              <a:t>C</a:t>
            </a:r>
          </a:p>
        </p:txBody>
      </p:sp>
      <p:sp>
        <p:nvSpPr>
          <p:cNvPr id="76" name="Line 38"/>
          <p:cNvSpPr>
            <a:spLocks noChangeShapeType="1"/>
          </p:cNvSpPr>
          <p:nvPr/>
        </p:nvSpPr>
        <p:spPr bwMode="auto">
          <a:xfrm flipH="1">
            <a:off x="5071118" y="1925375"/>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 name="Text Box 39"/>
          <p:cNvSpPr txBox="1">
            <a:spLocks noChangeArrowheads="1"/>
          </p:cNvSpPr>
          <p:nvPr/>
        </p:nvSpPr>
        <p:spPr bwMode="auto">
          <a:xfrm>
            <a:off x="4989076" y="1390091"/>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ea typeface="黑体" panose="02010609060101010101" pitchFamily="2" charset="-122"/>
              </a:rPr>
              <a:t>E</a:t>
            </a:r>
          </a:p>
        </p:txBody>
      </p:sp>
      <p:sp>
        <p:nvSpPr>
          <p:cNvPr id="78" name="Text Box 40"/>
          <p:cNvSpPr txBox="1">
            <a:spLocks noChangeArrowheads="1"/>
          </p:cNvSpPr>
          <p:nvPr/>
        </p:nvSpPr>
        <p:spPr bwMode="auto">
          <a:xfrm>
            <a:off x="4669949" y="3169789"/>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ea typeface="黑体" panose="02010609060101010101" pitchFamily="2" charset="-122"/>
              </a:rPr>
              <a:t>F</a:t>
            </a:r>
          </a:p>
        </p:txBody>
      </p:sp>
      <p:sp>
        <p:nvSpPr>
          <p:cNvPr id="79" name="Text Box 41"/>
          <p:cNvSpPr txBox="1">
            <a:spLocks noChangeArrowheads="1"/>
          </p:cNvSpPr>
          <p:nvPr/>
        </p:nvSpPr>
        <p:spPr bwMode="auto">
          <a:xfrm>
            <a:off x="4357491" y="1720893"/>
            <a:ext cx="86206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80" name="Text Box 42"/>
          <p:cNvSpPr txBox="1">
            <a:spLocks noChangeArrowheads="1"/>
          </p:cNvSpPr>
          <p:nvPr/>
        </p:nvSpPr>
        <p:spPr bwMode="auto">
          <a:xfrm>
            <a:off x="4181616" y="2586777"/>
            <a:ext cx="86370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81" name="Line 43"/>
          <p:cNvSpPr>
            <a:spLocks noChangeShapeType="1"/>
          </p:cNvSpPr>
          <p:nvPr/>
        </p:nvSpPr>
        <p:spPr bwMode="auto">
          <a:xfrm flipV="1">
            <a:off x="4975609" y="1681236"/>
            <a:ext cx="401939" cy="15966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2" name="Line 44"/>
          <p:cNvSpPr>
            <a:spLocks noChangeShapeType="1"/>
          </p:cNvSpPr>
          <p:nvPr/>
        </p:nvSpPr>
        <p:spPr bwMode="auto">
          <a:xfrm>
            <a:off x="4727214" y="2974119"/>
            <a:ext cx="240625" cy="1891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3" name="Line 45"/>
          <p:cNvSpPr>
            <a:spLocks noChangeShapeType="1"/>
          </p:cNvSpPr>
          <p:nvPr/>
        </p:nvSpPr>
        <p:spPr bwMode="auto">
          <a:xfrm flipH="1">
            <a:off x="5181679" y="1757553"/>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05034" y="1563606"/>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5"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816048" y="2290852"/>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54085" y="2205950"/>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7237" y="3063827"/>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2688" y="3381371"/>
            <a:ext cx="374018"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00840" y="3449185"/>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66004" y="1490444"/>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529030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barn(outHorizontal)">
                                      <p:cBhvr>
                                        <p:cTn id="7" dur="2000"/>
                                        <p:tgtEl>
                                          <p:spTgt spid="71"/>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83"/>
                                        </p:tgtEl>
                                        <p:attrNameLst>
                                          <p:attrName>style.visibility</p:attrName>
                                        </p:attrNameLst>
                                      </p:cBhvr>
                                      <p:to>
                                        <p:strVal val="visible"/>
                                      </p:to>
                                    </p:set>
                                    <p:animEffect transition="in" filter="barn(outHorizontal)">
                                      <p:cBhvr>
                                        <p:cTn id="11" dur="2000"/>
                                        <p:tgtEl>
                                          <p:spTgt spid="83"/>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76"/>
                                        </p:tgtEl>
                                        <p:attrNameLst>
                                          <p:attrName>style.visibility</p:attrName>
                                        </p:attrNameLst>
                                      </p:cBhvr>
                                      <p:to>
                                        <p:strVal val="visible"/>
                                      </p:to>
                                    </p:set>
                                    <p:animEffect transition="in" filter="barn(outHorizontal)">
                                      <p:cBhvr>
                                        <p:cTn id="15" dur="20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animBg="1"/>
      <p:bldP spid="76" grpId="0" animBg="1"/>
      <p:bldP spid="83"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p:txBody>
          <a:bodyPr/>
          <a:lstStyle/>
          <a:p>
            <a:r>
              <a:rPr lang="zh-CN" altLang="en-US" dirty="0"/>
              <a:t>是互联网中最复杂的部分。</a:t>
            </a:r>
          </a:p>
          <a:p>
            <a:r>
              <a:rPr lang="zh-CN" altLang="en-US" dirty="0"/>
              <a:t>向网络边缘中的主机</a:t>
            </a:r>
            <a:r>
              <a:rPr lang="zh-CN" altLang="en-US" dirty="0">
                <a:solidFill>
                  <a:srgbClr val="C00000"/>
                </a:solidFill>
              </a:rPr>
              <a:t>提供连通性，</a:t>
            </a:r>
            <a:r>
              <a:rPr lang="zh-CN" altLang="en-US" dirty="0"/>
              <a:t>使任何一台主机都能够向其他主机通信。</a:t>
            </a:r>
            <a:endParaRPr lang="en-US" altLang="zh-CN" dirty="0"/>
          </a:p>
          <a:p>
            <a:endParaRPr lang="zh-CN" altLang="en-US" dirty="0"/>
          </a:p>
          <a:p>
            <a:endParaRPr lang="zh-CN" altLang="en-US" dirty="0"/>
          </a:p>
        </p:txBody>
      </p:sp>
      <p:sp>
        <p:nvSpPr>
          <p:cNvPr id="4" name="文本占位符 3"/>
          <p:cNvSpPr>
            <a:spLocks noGrp="1"/>
          </p:cNvSpPr>
          <p:nvPr>
            <p:ph type="body" sz="quarter" idx="11"/>
          </p:nvPr>
        </p:nvSpPr>
        <p:spPr/>
        <p:txBody>
          <a:bodyPr/>
          <a:lstStyle/>
          <a:p>
            <a:r>
              <a:rPr lang="en-US" altLang="zh-CN" dirty="0"/>
              <a:t>1.3.2  </a:t>
            </a:r>
            <a:r>
              <a:rPr lang="zh-CN" altLang="en-US" dirty="0"/>
              <a:t>互联网的核心部分</a:t>
            </a:r>
          </a:p>
        </p:txBody>
      </p:sp>
      <p:grpSp>
        <p:nvGrpSpPr>
          <p:cNvPr id="6" name="组合 5"/>
          <p:cNvGrpSpPr/>
          <p:nvPr/>
        </p:nvGrpSpPr>
        <p:grpSpPr>
          <a:xfrm>
            <a:off x="4180122" y="1948891"/>
            <a:ext cx="4702629" cy="2316480"/>
            <a:chOff x="1385888" y="1118045"/>
            <a:chExt cx="6299200" cy="3198812"/>
          </a:xfrm>
        </p:grpSpPr>
        <p:sp>
          <p:nvSpPr>
            <p:cNvPr id="7" name="Oval 4"/>
            <p:cNvSpPr>
              <a:spLocks noChangeArrowheads="1"/>
            </p:cNvSpPr>
            <p:nvPr/>
          </p:nvSpPr>
          <p:spPr bwMode="auto">
            <a:xfrm>
              <a:off x="1385888" y="1118045"/>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8" name="Oval 5"/>
            <p:cNvSpPr>
              <a:spLocks noChangeArrowheads="1"/>
            </p:cNvSpPr>
            <p:nvPr/>
          </p:nvSpPr>
          <p:spPr bwMode="auto">
            <a:xfrm>
              <a:off x="2236764" y="1742101"/>
              <a:ext cx="4684539" cy="1901320"/>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a:solidFill>
                  <a:srgbClr val="368AD6"/>
                </a:solidFill>
              </a:endParaRPr>
            </a:p>
          </p:txBody>
        </p:sp>
        <p:sp>
          <p:nvSpPr>
            <p:cNvPr id="9" name="Text Box 79"/>
            <p:cNvSpPr txBox="1">
              <a:spLocks noChangeArrowheads="1"/>
            </p:cNvSpPr>
            <p:nvPr/>
          </p:nvSpPr>
          <p:spPr bwMode="auto">
            <a:xfrm>
              <a:off x="3300774" y="1240001"/>
              <a:ext cx="2505488" cy="467507"/>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Times New Roman" panose="02020603050405020304" pitchFamily="18" charset="0"/>
                  <a:ea typeface="微软雅黑" panose="020B0503020204020204" pitchFamily="34" charset="-122"/>
                </a:rPr>
                <a:t>互联网的边缘部分</a:t>
              </a:r>
            </a:p>
          </p:txBody>
        </p:sp>
        <p:sp>
          <p:nvSpPr>
            <p:cNvPr id="10" name="Text Box 1523"/>
            <p:cNvSpPr txBox="1">
              <a:spLocks noChangeArrowheads="1"/>
            </p:cNvSpPr>
            <p:nvPr/>
          </p:nvSpPr>
          <p:spPr bwMode="auto">
            <a:xfrm>
              <a:off x="3319922" y="1842941"/>
              <a:ext cx="877080"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solidFill>
                    <a:srgbClr val="C00000"/>
                  </a:solidFill>
                  <a:latin typeface="Times New Roman" panose="02020603050405020304" pitchFamily="18" charset="0"/>
                  <a:ea typeface="微软雅黑" panose="020B0503020204020204" pitchFamily="34" charset="-122"/>
                </a:rPr>
                <a:t>路由器</a:t>
              </a:r>
            </a:p>
          </p:txBody>
        </p:sp>
        <p:sp>
          <p:nvSpPr>
            <p:cNvPr id="11" name="Text Box 1523"/>
            <p:cNvSpPr txBox="1">
              <a:spLocks noChangeArrowheads="1"/>
            </p:cNvSpPr>
            <p:nvPr/>
          </p:nvSpPr>
          <p:spPr bwMode="auto">
            <a:xfrm>
              <a:off x="2775188" y="2508607"/>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cxnSp>
          <p:nvCxnSpPr>
            <p:cNvPr id="12" name="直接连接符 11"/>
            <p:cNvCxnSpPr/>
            <p:nvPr/>
          </p:nvCxnSpPr>
          <p:spPr>
            <a:xfrm flipV="1">
              <a:off x="3829114" y="2242472"/>
              <a:ext cx="726827" cy="7889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4167323" y="3210766"/>
              <a:ext cx="1071833" cy="1096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815964" y="2173289"/>
              <a:ext cx="1118900" cy="32373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3327609" y="3081385"/>
              <a:ext cx="517467" cy="139001"/>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flipV="1">
              <a:off x="3198733" y="2335157"/>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5509041" y="3010286"/>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flipV="1">
              <a:off x="5996091" y="2603380"/>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flipV="1">
              <a:off x="3126458" y="2702276"/>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pic>
          <p:nvPicPr>
            <p:cNvPr id="20"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06628" y="2899054"/>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53649" y="3144219"/>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2" name="直接连接符 21"/>
            <p:cNvCxnSpPr/>
            <p:nvPr/>
          </p:nvCxnSpPr>
          <p:spPr>
            <a:xfrm flipH="1" flipV="1">
              <a:off x="3734378" y="2295964"/>
              <a:ext cx="112810" cy="855373"/>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23" name="Text Box 78"/>
            <p:cNvSpPr txBox="1">
              <a:spLocks noChangeArrowheads="1"/>
            </p:cNvSpPr>
            <p:nvPr/>
          </p:nvSpPr>
          <p:spPr bwMode="auto">
            <a:xfrm>
              <a:off x="3711766" y="2551414"/>
              <a:ext cx="1826457" cy="33856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CC00CC"/>
                  </a:solidFill>
                  <a:latin typeface="Times New Roman" panose="02020603050405020304" pitchFamily="18" charset="0"/>
                  <a:ea typeface="微软雅黑" panose="020B0503020204020204" pitchFamily="34" charset="-122"/>
                </a:rPr>
                <a:t>互联网的核心部分</a:t>
              </a:r>
            </a:p>
          </p:txBody>
        </p:sp>
        <p:cxnSp>
          <p:nvCxnSpPr>
            <p:cNvPr id="24" name="直接连接符 23"/>
            <p:cNvCxnSpPr/>
            <p:nvPr/>
          </p:nvCxnSpPr>
          <p:spPr>
            <a:xfrm flipV="1">
              <a:off x="5435194" y="2256354"/>
              <a:ext cx="55682" cy="88199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grpSp>
          <p:nvGrpSpPr>
            <p:cNvPr id="25" name="Group 162"/>
            <p:cNvGrpSpPr/>
            <p:nvPr/>
          </p:nvGrpSpPr>
          <p:grpSpPr bwMode="auto">
            <a:xfrm>
              <a:off x="4281237" y="2016981"/>
              <a:ext cx="736809" cy="400824"/>
              <a:chOff x="130" y="1123"/>
              <a:chExt cx="568" cy="309"/>
            </a:xfrm>
          </p:grpSpPr>
          <p:sp>
            <p:nvSpPr>
              <p:cNvPr id="8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9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9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9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pic>
          <p:nvPicPr>
            <p:cNvPr id="26"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48782" y="2962615"/>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02133" y="2214150"/>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8" name="Group 138"/>
            <p:cNvGrpSpPr/>
            <p:nvPr/>
          </p:nvGrpSpPr>
          <p:grpSpPr bwMode="auto">
            <a:xfrm>
              <a:off x="5059557" y="2958724"/>
              <a:ext cx="736809" cy="400824"/>
              <a:chOff x="130" y="1123"/>
              <a:chExt cx="568" cy="309"/>
            </a:xfrm>
          </p:grpSpPr>
          <p:sp>
            <p:nvSpPr>
              <p:cNvPr id="7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8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8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nvGrpSpPr>
            <p:cNvPr id="29" name="Group 126"/>
            <p:cNvGrpSpPr/>
            <p:nvPr/>
          </p:nvGrpSpPr>
          <p:grpSpPr bwMode="auto">
            <a:xfrm>
              <a:off x="3683228" y="2987262"/>
              <a:ext cx="736809" cy="400824"/>
              <a:chOff x="130" y="1123"/>
              <a:chExt cx="568" cy="309"/>
            </a:xfrm>
          </p:grpSpPr>
          <p:sp>
            <p:nvSpPr>
              <p:cNvPr id="6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6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7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pic>
          <p:nvPicPr>
            <p:cNvPr id="30" name="Picture 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30043" y="2211556"/>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1" name="直接连接符 30"/>
            <p:cNvCxnSpPr/>
            <p:nvPr/>
          </p:nvCxnSpPr>
          <p:spPr>
            <a:xfrm>
              <a:off x="2236764" y="2363535"/>
              <a:ext cx="670083" cy="26624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236764" y="2649548"/>
              <a:ext cx="704672" cy="39018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3" name="Group 124"/>
            <p:cNvGrpSpPr/>
            <p:nvPr/>
          </p:nvGrpSpPr>
          <p:grpSpPr bwMode="auto">
            <a:xfrm>
              <a:off x="2649360" y="2428183"/>
              <a:ext cx="736809" cy="400824"/>
              <a:chOff x="130" y="1123"/>
              <a:chExt cx="568" cy="309"/>
            </a:xfrm>
          </p:grpSpPr>
          <p:sp>
            <p:nvSpPr>
              <p:cNvPr id="4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5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5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sp>
          <p:nvSpPr>
            <p:cNvPr id="34" name="Text Box 1523"/>
            <p:cNvSpPr txBox="1">
              <a:spLocks noChangeArrowheads="1"/>
            </p:cNvSpPr>
            <p:nvPr/>
          </p:nvSpPr>
          <p:spPr bwMode="auto">
            <a:xfrm>
              <a:off x="2632854" y="2434101"/>
              <a:ext cx="780544"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solidFill>
                    <a:srgbClr val="C00000"/>
                  </a:solidFill>
                  <a:latin typeface="Times New Roman" panose="02020603050405020304" pitchFamily="18" charset="0"/>
                  <a:ea typeface="微软雅黑" panose="020B0503020204020204" pitchFamily="34" charset="-122"/>
                </a:rPr>
                <a:t>网络</a:t>
              </a:r>
            </a:p>
          </p:txBody>
        </p:sp>
        <p:cxnSp>
          <p:nvCxnSpPr>
            <p:cNvPr id="35" name="直接连接符 34"/>
            <p:cNvCxnSpPr/>
            <p:nvPr/>
          </p:nvCxnSpPr>
          <p:spPr>
            <a:xfrm flipH="1">
              <a:off x="6094889" y="2196129"/>
              <a:ext cx="826414" cy="419902"/>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6137091" y="2579524"/>
              <a:ext cx="826416" cy="458805"/>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7" name="Group 150"/>
            <p:cNvGrpSpPr/>
            <p:nvPr/>
          </p:nvGrpSpPr>
          <p:grpSpPr bwMode="auto">
            <a:xfrm>
              <a:off x="5660160" y="2384079"/>
              <a:ext cx="736809" cy="400824"/>
              <a:chOff x="130" y="1123"/>
              <a:chExt cx="568" cy="309"/>
            </a:xfrm>
          </p:grpSpPr>
          <p:sp>
            <p:nvSpPr>
              <p:cNvPr id="3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4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4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sp>
        <p:nvSpPr>
          <p:cNvPr id="93" name="矩形 92"/>
          <p:cNvSpPr/>
          <p:nvPr/>
        </p:nvSpPr>
        <p:spPr>
          <a:xfrm>
            <a:off x="454496" y="2156796"/>
            <a:ext cx="3649807" cy="2785378"/>
          </a:xfrm>
          <a:prstGeom prst="rect">
            <a:avLst/>
          </a:prstGeom>
        </p:spPr>
        <p:txBody>
          <a:bodyPr/>
          <a:lstStyle/>
          <a:p>
            <a:pPr marL="342900" indent="-342900">
              <a:lnSpc>
                <a:spcPts val="3000"/>
              </a:lnSpc>
              <a:spcBef>
                <a:spcPts val="0"/>
              </a:spcBef>
              <a:spcAft>
                <a:spcPts val="0"/>
              </a:spcAft>
              <a:buClr>
                <a:srgbClr val="0066CC"/>
              </a:buClr>
              <a:buFont typeface="Wingdings" panose="05000000000000000000" pitchFamily="2" charset="2"/>
              <a:buChar char="l"/>
            </a:pPr>
            <a:r>
              <a:rPr lang="zh-CN" altLang="en-US" sz="2000" b="1" dirty="0">
                <a:latin typeface="微软雅黑" pitchFamily="34" charset="-122"/>
                <a:ea typeface="微软雅黑" pitchFamily="34" charset="-122"/>
              </a:rPr>
              <a:t>在网络核心部分起特殊作用的是</a:t>
            </a:r>
            <a:r>
              <a:rPr lang="zh-CN" altLang="en-US" sz="2000" b="1" dirty="0">
                <a:solidFill>
                  <a:srgbClr val="C00000"/>
                </a:solidFill>
                <a:latin typeface="微软雅黑" pitchFamily="34" charset="-122"/>
                <a:ea typeface="微软雅黑" pitchFamily="34" charset="-122"/>
              </a:rPr>
              <a:t>路由器</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(router)</a:t>
            </a:r>
            <a:r>
              <a:rPr lang="zh-CN" altLang="en-US" sz="2000" b="1" dirty="0">
                <a:latin typeface="微软雅黑" pitchFamily="34" charset="-122"/>
                <a:ea typeface="微软雅黑" pitchFamily="34" charset="-122"/>
              </a:rPr>
              <a:t>。</a:t>
            </a:r>
          </a:p>
          <a:p>
            <a:pPr marL="342900" indent="-342900">
              <a:lnSpc>
                <a:spcPts val="3000"/>
              </a:lnSpc>
              <a:spcBef>
                <a:spcPts val="0"/>
              </a:spcBef>
              <a:spcAft>
                <a:spcPts val="0"/>
              </a:spcAft>
              <a:buClr>
                <a:srgbClr val="0066CC"/>
              </a:buClr>
              <a:buFont typeface="Wingdings" panose="05000000000000000000" pitchFamily="2" charset="2"/>
              <a:buChar char="l"/>
            </a:pPr>
            <a:r>
              <a:rPr lang="zh-CN" altLang="en-US" sz="2000" b="1" dirty="0">
                <a:latin typeface="微软雅黑" pitchFamily="34" charset="-122"/>
                <a:ea typeface="微软雅黑" pitchFamily="34" charset="-122"/>
              </a:rPr>
              <a:t>路由器是实现</a:t>
            </a:r>
            <a:r>
              <a:rPr lang="zh-CN" altLang="en-US" sz="2000" b="1" dirty="0">
                <a:solidFill>
                  <a:srgbClr val="C00000"/>
                </a:solidFill>
                <a:latin typeface="微软雅黑" pitchFamily="34" charset="-122"/>
                <a:ea typeface="微软雅黑" pitchFamily="34" charset="-122"/>
              </a:rPr>
              <a:t>分组交换</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(packet switching) </a:t>
            </a:r>
            <a:r>
              <a:rPr lang="zh-CN" altLang="en-US" sz="2000" b="1" dirty="0">
                <a:latin typeface="微软雅黑" pitchFamily="34" charset="-122"/>
                <a:ea typeface="微软雅黑" pitchFamily="34" charset="-122"/>
              </a:rPr>
              <a:t>的关键构件，其任务是</a:t>
            </a:r>
            <a:r>
              <a:rPr lang="zh-CN" altLang="en-US" sz="2000" b="1" dirty="0">
                <a:solidFill>
                  <a:srgbClr val="C00000"/>
                </a:solidFill>
                <a:latin typeface="微软雅黑" pitchFamily="34" charset="-122"/>
                <a:ea typeface="微软雅黑" pitchFamily="34" charset="-122"/>
              </a:rPr>
              <a:t>转发</a:t>
            </a:r>
            <a:r>
              <a:rPr lang="zh-CN" altLang="en-US" sz="2000" b="1" dirty="0">
                <a:latin typeface="微软雅黑" pitchFamily="34" charset="-122"/>
                <a:ea typeface="微软雅黑" pitchFamily="34" charset="-122"/>
              </a:rPr>
              <a:t>收到的分组。</a:t>
            </a:r>
          </a:p>
        </p:txBody>
      </p:sp>
      <p:sp>
        <p:nvSpPr>
          <p:cNvPr id="95" name="对角圆角矩形 94"/>
          <p:cNvSpPr/>
          <p:nvPr/>
        </p:nvSpPr>
        <p:spPr>
          <a:xfrm>
            <a:off x="2590116" y="4261911"/>
            <a:ext cx="4388848" cy="500682"/>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600"/>
          </a:p>
        </p:txBody>
      </p:sp>
      <p:sp>
        <p:nvSpPr>
          <p:cNvPr id="96" name="矩形 5"/>
          <p:cNvSpPr>
            <a:spLocks noChangeArrowheads="1"/>
          </p:cNvSpPr>
          <p:nvPr/>
        </p:nvSpPr>
        <p:spPr bwMode="auto">
          <a:xfrm>
            <a:off x="2702601" y="4327005"/>
            <a:ext cx="41452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400"/>
              </a:lnSpc>
              <a:spcBef>
                <a:spcPts val="0"/>
              </a:spcBef>
            </a:pPr>
            <a:r>
              <a:rPr lang="zh-CN" altLang="en-US" b="1" dirty="0">
                <a:solidFill>
                  <a:srgbClr val="FFFF00"/>
                </a:solidFill>
                <a:latin typeface="微软雅黑" panose="020B0503020204020204" pitchFamily="34" charset="-122"/>
                <a:ea typeface="微软雅黑" panose="020B0503020204020204" pitchFamily="34" charset="-122"/>
              </a:rPr>
              <a:t>分组转发</a:t>
            </a:r>
            <a:r>
              <a:rPr lang="zh-CN" altLang="en-US" b="1" dirty="0">
                <a:solidFill>
                  <a:schemeClr val="bg1"/>
                </a:solidFill>
                <a:latin typeface="微软雅黑" panose="020B0503020204020204" pitchFamily="34" charset="-122"/>
                <a:ea typeface="微软雅黑" panose="020B0503020204020204" pitchFamily="34" charset="-122"/>
              </a:rPr>
              <a:t>是网络核心部分最重要的功能。</a:t>
            </a:r>
          </a:p>
        </p:txBody>
      </p:sp>
    </p:spTree>
    <p:extLst>
      <p:ext uri="{BB962C8B-B14F-4D97-AF65-F5344CB8AC3E}">
        <p14:creationId xmlns:p14="http://schemas.microsoft.com/office/powerpoint/2010/main" val="40759939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r>
              <a:rPr lang="zh-CN" altLang="en-US" dirty="0"/>
              <a:t>典型交换技术包括：</a:t>
            </a:r>
          </a:p>
          <a:p>
            <a:pPr lvl="1"/>
            <a:r>
              <a:rPr lang="zh-CN" altLang="en-US" dirty="0"/>
              <a:t>电路交换</a:t>
            </a:r>
          </a:p>
          <a:p>
            <a:pPr lvl="1"/>
            <a:r>
              <a:rPr lang="zh-CN" altLang="en-US" dirty="0"/>
              <a:t>分组交换</a:t>
            </a:r>
          </a:p>
          <a:p>
            <a:pPr lvl="1"/>
            <a:r>
              <a:rPr lang="zh-CN" altLang="en-US" dirty="0"/>
              <a:t>报文交换 等。</a:t>
            </a:r>
          </a:p>
          <a:p>
            <a:r>
              <a:rPr lang="zh-CN" altLang="en-US" dirty="0">
                <a:solidFill>
                  <a:srgbClr val="0000FF"/>
                </a:solidFill>
              </a:rPr>
              <a:t>互联网的核心部分采用</a:t>
            </a:r>
            <a:r>
              <a:rPr lang="zh-CN" altLang="en-US" dirty="0">
                <a:solidFill>
                  <a:srgbClr val="C00000"/>
                </a:solidFill>
              </a:rPr>
              <a:t>分组交换技术。</a:t>
            </a:r>
          </a:p>
          <a:p>
            <a:endParaRPr lang="zh-CN" altLang="en-US" dirty="0"/>
          </a:p>
        </p:txBody>
      </p:sp>
      <p:sp>
        <p:nvSpPr>
          <p:cNvPr id="2" name="文本占位符 1"/>
          <p:cNvSpPr>
            <a:spLocks noGrp="1"/>
          </p:cNvSpPr>
          <p:nvPr>
            <p:ph type="body" sz="quarter" idx="11"/>
          </p:nvPr>
        </p:nvSpPr>
        <p:spPr/>
        <p:txBody>
          <a:bodyPr/>
          <a:lstStyle/>
          <a:p>
            <a:r>
              <a:rPr lang="en-US" altLang="zh-CN" dirty="0"/>
              <a:t>1.3.2  </a:t>
            </a:r>
            <a:r>
              <a:rPr lang="zh-CN" altLang="en-US" dirty="0"/>
              <a:t>互联网的核心部分</a:t>
            </a:r>
          </a:p>
        </p:txBody>
      </p:sp>
    </p:spTree>
    <p:extLst>
      <p:ext uri="{BB962C8B-B14F-4D97-AF65-F5344CB8AC3E}">
        <p14:creationId xmlns:p14="http://schemas.microsoft.com/office/powerpoint/2010/main" val="280148107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内容占位符 102"/>
          <p:cNvSpPr>
            <a:spLocks noGrp="1"/>
          </p:cNvSpPr>
          <p:nvPr>
            <p:ph sz="quarter" idx="10"/>
          </p:nvPr>
        </p:nvSpPr>
        <p:spPr>
          <a:xfrm>
            <a:off x="466344" y="973465"/>
            <a:ext cx="8338022" cy="3172691"/>
          </a:xfrm>
        </p:spPr>
        <p:txBody>
          <a:bodyPr/>
          <a:lstStyle/>
          <a:p>
            <a:pPr marL="0" indent="0">
              <a:buNone/>
            </a:pPr>
            <a:r>
              <a:rPr lang="zh-CN" altLang="en-US" dirty="0">
                <a:solidFill>
                  <a:srgbClr val="0000FF"/>
                </a:solidFill>
              </a:rPr>
              <a:t>电线对的数量与电话机数量的平方（</a:t>
            </a:r>
            <a:r>
              <a:rPr lang="en-US" altLang="zh-CN" dirty="0">
                <a:solidFill>
                  <a:srgbClr val="0000FF"/>
                </a:solidFill>
              </a:rPr>
              <a:t>N</a:t>
            </a:r>
            <a:r>
              <a:rPr lang="en-US" altLang="zh-CN" baseline="30000" dirty="0">
                <a:solidFill>
                  <a:srgbClr val="0000FF"/>
                </a:solidFill>
              </a:rPr>
              <a:t>2</a:t>
            </a:r>
            <a:r>
              <a:rPr lang="zh-CN" altLang="en-US" dirty="0">
                <a:solidFill>
                  <a:srgbClr val="0000FF"/>
                </a:solidFill>
              </a:rPr>
              <a:t>）成正比。</a:t>
            </a:r>
          </a:p>
        </p:txBody>
      </p:sp>
      <p:sp>
        <p:nvSpPr>
          <p:cNvPr id="5" name="文本占位符 4"/>
          <p:cNvSpPr>
            <a:spLocks noGrp="1"/>
          </p:cNvSpPr>
          <p:nvPr>
            <p:ph type="body" sz="quarter" idx="11"/>
          </p:nvPr>
        </p:nvSpPr>
        <p:spPr/>
        <p:txBody>
          <a:bodyPr/>
          <a:lstStyle/>
          <a:p>
            <a:r>
              <a:rPr lang="en-US" altLang="zh-CN" dirty="0"/>
              <a:t>1. </a:t>
            </a:r>
            <a:r>
              <a:rPr lang="zh-CN" altLang="en-US" dirty="0"/>
              <a:t>电路交换的主要特点</a:t>
            </a:r>
          </a:p>
        </p:txBody>
      </p:sp>
      <p:sp>
        <p:nvSpPr>
          <p:cNvPr id="11" name="圆角矩形 10"/>
          <p:cNvSpPr/>
          <p:nvPr/>
        </p:nvSpPr>
        <p:spPr>
          <a:xfrm>
            <a:off x="525694" y="1451791"/>
            <a:ext cx="7992897" cy="2178532"/>
          </a:xfrm>
          <a:prstGeom prst="roundRect">
            <a:avLst/>
          </a:prstGeom>
          <a:solidFill>
            <a:srgbClr val="0070C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grpSp>
        <p:nvGrpSpPr>
          <p:cNvPr id="6" name="组合 5"/>
          <p:cNvGrpSpPr/>
          <p:nvPr/>
        </p:nvGrpSpPr>
        <p:grpSpPr>
          <a:xfrm>
            <a:off x="749161" y="2205186"/>
            <a:ext cx="1709659" cy="476704"/>
            <a:chOff x="1490663" y="2400300"/>
            <a:chExt cx="4064009" cy="825500"/>
          </a:xfrm>
        </p:grpSpPr>
        <p:cxnSp>
          <p:nvCxnSpPr>
            <p:cNvPr id="7" name="直接连接符 6"/>
            <p:cNvCxnSpPr/>
            <p:nvPr/>
          </p:nvCxnSpPr>
          <p:spPr>
            <a:xfrm>
              <a:off x="1970811" y="2802885"/>
              <a:ext cx="3147991" cy="0"/>
            </a:xfrm>
            <a:prstGeom prst="line">
              <a:avLst/>
            </a:prstGeom>
            <a:ln w="25400">
              <a:solidFill>
                <a:srgbClr val="99FF99"/>
              </a:solidFill>
            </a:ln>
          </p:spPr>
          <p:style>
            <a:lnRef idx="1">
              <a:schemeClr val="accent1"/>
            </a:lnRef>
            <a:fillRef idx="0">
              <a:schemeClr val="accent1"/>
            </a:fillRef>
            <a:effectRef idx="0">
              <a:schemeClr val="accent1"/>
            </a:effectRef>
            <a:fontRef idx="minor">
              <a:schemeClr val="tx1"/>
            </a:fontRef>
          </p:style>
        </p:cxnSp>
        <p:grpSp>
          <p:nvGrpSpPr>
            <p:cNvPr id="8" name="组合 11"/>
            <p:cNvGrpSpPr/>
            <p:nvPr/>
          </p:nvGrpSpPr>
          <p:grpSpPr bwMode="auto">
            <a:xfrm>
              <a:off x="1490663" y="2400300"/>
              <a:ext cx="4064009" cy="825500"/>
              <a:chOff x="115860" y="3847459"/>
              <a:chExt cx="4014114" cy="824998"/>
            </a:xfrm>
          </p:grpSpPr>
          <p:pic>
            <p:nvPicPr>
              <p:cNvPr id="9" name="图片 12"/>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5860" y="3867779"/>
                <a:ext cx="914408" cy="804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图片 13"/>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5568" y="3847459"/>
                <a:ext cx="914406" cy="804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grpSp>
        <p:nvGrpSpPr>
          <p:cNvPr id="18" name="组合 23"/>
          <p:cNvGrpSpPr/>
          <p:nvPr/>
        </p:nvGrpSpPr>
        <p:grpSpPr bwMode="auto">
          <a:xfrm>
            <a:off x="5646033" y="1511100"/>
            <a:ext cx="2540225" cy="2093096"/>
            <a:chOff x="2607464" y="2947482"/>
            <a:chExt cx="3757622" cy="3145044"/>
          </a:xfrm>
        </p:grpSpPr>
        <p:cxnSp>
          <p:nvCxnSpPr>
            <p:cNvPr id="19" name="直接连接符 18"/>
            <p:cNvCxnSpPr/>
            <p:nvPr/>
          </p:nvCxnSpPr>
          <p:spPr>
            <a:xfrm>
              <a:off x="3594891" y="5320950"/>
              <a:ext cx="1866904"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909090" y="4520798"/>
              <a:ext cx="3197233"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a:off x="3594891" y="3693656"/>
              <a:ext cx="1866904"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a:off x="3615529" y="3723821"/>
              <a:ext cx="0" cy="159713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5476084" y="3723821"/>
              <a:ext cx="0" cy="159713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a:off x="4531519" y="3188798"/>
              <a:ext cx="0" cy="260208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flipH="1">
              <a:off x="3686967" y="3188798"/>
              <a:ext cx="649290" cy="427066"/>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a:off x="4623594" y="5400331"/>
              <a:ext cx="741365" cy="42230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4623594" y="3174510"/>
              <a:ext cx="852490" cy="441354"/>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909090" y="3693656"/>
              <a:ext cx="576264" cy="79539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flipV="1">
              <a:off x="2894803" y="4557312"/>
              <a:ext cx="517526" cy="720772"/>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flipV="1">
              <a:off x="3525041" y="5400331"/>
              <a:ext cx="884240" cy="46516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5560221" y="3765099"/>
              <a:ext cx="628652" cy="765225"/>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560221" y="4557312"/>
              <a:ext cx="546101" cy="72394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flipV="1">
              <a:off x="3615529" y="3693656"/>
              <a:ext cx="1846266" cy="162411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V="1">
              <a:off x="3615529" y="3765099"/>
              <a:ext cx="1758954" cy="1516161"/>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flipH="1" flipV="1">
              <a:off x="2894803" y="4485871"/>
              <a:ext cx="2479681" cy="79538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3686967" y="3693656"/>
              <a:ext cx="2287593" cy="86842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3615529" y="3261828"/>
              <a:ext cx="792164" cy="201625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flipH="1" flipV="1">
              <a:off x="4550569" y="3188798"/>
              <a:ext cx="911227" cy="212897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flipV="1">
              <a:off x="3615529" y="4549375"/>
              <a:ext cx="2490793" cy="72871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flipV="1">
              <a:off x="2986878" y="3693656"/>
              <a:ext cx="2500318" cy="836668"/>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1" name="直接连接符 40"/>
            <p:cNvCxnSpPr/>
            <p:nvPr/>
          </p:nvCxnSpPr>
          <p:spPr>
            <a:xfrm flipV="1">
              <a:off x="4552157" y="3723821"/>
              <a:ext cx="909639" cy="2057535"/>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flipH="1" flipV="1">
              <a:off x="3615529" y="3693656"/>
              <a:ext cx="871539" cy="2055948"/>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flipV="1">
              <a:off x="4623594" y="4485871"/>
              <a:ext cx="1482729" cy="126373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flipH="1" flipV="1">
              <a:off x="2986878" y="4504922"/>
              <a:ext cx="1565279" cy="128595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flipV="1">
              <a:off x="2967828" y="3261828"/>
              <a:ext cx="1368428" cy="1300248"/>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flipH="1" flipV="1">
              <a:off x="4552157" y="3188798"/>
              <a:ext cx="1422403" cy="136057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pic>
          <p:nvPicPr>
            <p:cNvPr id="47" name="图片 52"/>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24880" y="3496528"/>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图片 53"/>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02416" y="3496528"/>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9" name="组合 54"/>
            <p:cNvGrpSpPr/>
            <p:nvPr/>
          </p:nvGrpSpPr>
          <p:grpSpPr bwMode="auto">
            <a:xfrm>
              <a:off x="2607464" y="4292409"/>
              <a:ext cx="3757622" cy="455190"/>
              <a:chOff x="2627784" y="4149080"/>
              <a:chExt cx="3757622" cy="455190"/>
            </a:xfrm>
          </p:grpSpPr>
          <p:pic>
            <p:nvPicPr>
              <p:cNvPr id="55" name="图片 60"/>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68144" y="414908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图片 61"/>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27784" y="414908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0" name="图片 55"/>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24880" y="509264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图片 56"/>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02416" y="509264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2" name="组合 57"/>
            <p:cNvGrpSpPr/>
            <p:nvPr/>
          </p:nvGrpSpPr>
          <p:grpSpPr bwMode="auto">
            <a:xfrm>
              <a:off x="4227644" y="2947482"/>
              <a:ext cx="517262" cy="3145044"/>
              <a:chOff x="4311758" y="2755370"/>
              <a:chExt cx="517262" cy="3145044"/>
            </a:xfrm>
          </p:grpSpPr>
          <p:pic>
            <p:nvPicPr>
              <p:cNvPr id="53" name="图片 5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11758" y="275537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4" name="图片 59"/>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11758" y="5445224"/>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cxnSp>
        <p:nvCxnSpPr>
          <p:cNvPr id="57" name="直接连接符 56"/>
          <p:cNvCxnSpPr/>
          <p:nvPr/>
        </p:nvCxnSpPr>
        <p:spPr>
          <a:xfrm>
            <a:off x="3174604" y="2260324"/>
            <a:ext cx="1954702" cy="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V="1">
            <a:off x="3174604" y="1742726"/>
            <a:ext cx="868422" cy="512289"/>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flipH="1" flipV="1">
            <a:off x="4171531" y="1746837"/>
            <a:ext cx="825673" cy="524717"/>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flipV="1">
            <a:off x="4578591" y="2209699"/>
            <a:ext cx="419644" cy="999989"/>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H="1" flipV="1">
            <a:off x="3194494" y="2274903"/>
            <a:ext cx="444093" cy="879833"/>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3511909" y="3143611"/>
            <a:ext cx="1158938" cy="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flipV="1">
            <a:off x="3498141" y="1696234"/>
            <a:ext cx="587128" cy="1690238"/>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flipH="1" flipV="1">
            <a:off x="4114121" y="1598838"/>
            <a:ext cx="529721" cy="1525393"/>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flipH="1" flipV="1">
            <a:off x="3139401" y="2249095"/>
            <a:ext cx="1498282" cy="875136"/>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6" name="直接连接符 65"/>
          <p:cNvCxnSpPr/>
          <p:nvPr/>
        </p:nvCxnSpPr>
        <p:spPr>
          <a:xfrm flipH="1">
            <a:off x="3608845" y="2217546"/>
            <a:ext cx="1373789" cy="92606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grpSp>
        <p:nvGrpSpPr>
          <p:cNvPr id="67" name="组合 17"/>
          <p:cNvGrpSpPr/>
          <p:nvPr/>
        </p:nvGrpSpPr>
        <p:grpSpPr bwMode="auto">
          <a:xfrm>
            <a:off x="2908065" y="1525876"/>
            <a:ext cx="2308081" cy="1894664"/>
            <a:chOff x="2699792" y="2433478"/>
            <a:chExt cx="3602460" cy="2855140"/>
          </a:xfrm>
        </p:grpSpPr>
        <p:pic>
          <p:nvPicPr>
            <p:cNvPr id="68" name="图片 18"/>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164078" y="2433478"/>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图片 19"/>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99792" y="3284984"/>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0" name="图片 20"/>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0112" y="3212976"/>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1" name="图片 21"/>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419872" y="4653136"/>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2" name="图片 22"/>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004048" y="4653136"/>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4" name="矩形 103"/>
          <p:cNvSpPr/>
          <p:nvPr/>
        </p:nvSpPr>
        <p:spPr>
          <a:xfrm>
            <a:off x="2969621" y="3603649"/>
            <a:ext cx="2177143" cy="584775"/>
          </a:xfrm>
          <a:prstGeom prst="rect">
            <a:avLst/>
          </a:prstGeom>
        </p:spPr>
        <p:txBody>
          <a:bodyPr wrap="square">
            <a:spAutoFit/>
          </a:bodyPr>
          <a:lstStyle/>
          <a:p>
            <a:r>
              <a:rPr lang="en-US" altLang="zh-CN" sz="1600" b="1" dirty="0">
                <a:latin typeface="微软雅黑" panose="020B0503020204020204" pitchFamily="34" charset="-122"/>
                <a:ea typeface="微软雅黑" panose="020B0503020204020204" pitchFamily="34" charset="-122"/>
              </a:rPr>
              <a:t>5 </a:t>
            </a:r>
            <a:r>
              <a:rPr lang="zh-CN" altLang="en-US" sz="1600" b="1" dirty="0">
                <a:latin typeface="微软雅黑" panose="020B0503020204020204" pitchFamily="34" charset="-122"/>
                <a:ea typeface="微软雅黑" panose="020B0503020204020204" pitchFamily="34" charset="-122"/>
              </a:rPr>
              <a:t>部电话机两两直接相连，需 </a:t>
            </a:r>
            <a:r>
              <a:rPr lang="en-US" altLang="zh-CN" sz="1600" b="1" dirty="0">
                <a:latin typeface="微软雅黑" panose="020B0503020204020204" pitchFamily="34" charset="-122"/>
                <a:ea typeface="微软雅黑" panose="020B0503020204020204" pitchFamily="34" charset="-122"/>
              </a:rPr>
              <a:t>10 </a:t>
            </a:r>
            <a:r>
              <a:rPr lang="zh-CN" altLang="en-US" sz="1600" b="1" dirty="0">
                <a:latin typeface="微软雅黑" panose="020B0503020204020204" pitchFamily="34" charset="-122"/>
                <a:ea typeface="微软雅黑" panose="020B0503020204020204" pitchFamily="34" charset="-122"/>
              </a:rPr>
              <a:t>对电线。</a:t>
            </a:r>
          </a:p>
        </p:txBody>
      </p:sp>
      <p:sp>
        <p:nvSpPr>
          <p:cNvPr id="105" name="矩形 104"/>
          <p:cNvSpPr/>
          <p:nvPr/>
        </p:nvSpPr>
        <p:spPr>
          <a:xfrm>
            <a:off x="5724414" y="3603649"/>
            <a:ext cx="2524139" cy="584775"/>
          </a:xfrm>
          <a:prstGeom prst="rect">
            <a:avLst/>
          </a:prstGeom>
        </p:spPr>
        <p:txBody>
          <a:bodyPr wrap="square">
            <a:spAutoFit/>
          </a:bodyPr>
          <a:lstStyle/>
          <a:p>
            <a:r>
              <a:rPr lang="en-US" altLang="zh-CN" sz="1600" b="1" dirty="0">
                <a:latin typeface="微软雅黑" panose="020B0503020204020204" pitchFamily="34" charset="-122"/>
                <a:ea typeface="微软雅黑" panose="020B0503020204020204" pitchFamily="34" charset="-122"/>
              </a:rPr>
              <a:t>N </a:t>
            </a:r>
            <a:r>
              <a:rPr lang="zh-CN" altLang="en-US" sz="1600" b="1" dirty="0">
                <a:latin typeface="微软雅黑" panose="020B0503020204020204" pitchFamily="34" charset="-122"/>
                <a:ea typeface="微软雅黑" panose="020B0503020204020204" pitchFamily="34" charset="-122"/>
              </a:rPr>
              <a:t>部电话机两两直接相连，需 </a:t>
            </a:r>
            <a:r>
              <a:rPr lang="en-US" altLang="zh-CN" sz="1600" b="1" dirty="0">
                <a:latin typeface="微软雅黑" panose="020B0503020204020204" pitchFamily="34" charset="-122"/>
                <a:ea typeface="微软雅黑" panose="020B0503020204020204" pitchFamily="34" charset="-122"/>
              </a:rPr>
              <a:t>N(N –1)/2  </a:t>
            </a:r>
            <a:r>
              <a:rPr lang="zh-CN" altLang="en-US" sz="1600" b="1" dirty="0">
                <a:latin typeface="微软雅黑" panose="020B0503020204020204" pitchFamily="34" charset="-122"/>
                <a:ea typeface="微软雅黑" panose="020B0503020204020204" pitchFamily="34" charset="-122"/>
              </a:rPr>
              <a:t>对电线。</a:t>
            </a:r>
          </a:p>
        </p:txBody>
      </p:sp>
    </p:spTree>
    <p:extLst>
      <p:ext uri="{BB962C8B-B14F-4D97-AF65-F5344CB8AC3E}">
        <p14:creationId xmlns:p14="http://schemas.microsoft.com/office/powerpoint/2010/main" val="24348663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
                                        <p:tgtEl>
                                          <p:spTgt spid="58"/>
                                        </p:tgtEl>
                                      </p:cBhvr>
                                    </p:animEffect>
                                  </p:childTnLst>
                                </p:cTn>
                              </p:par>
                            </p:childTnLst>
                          </p:cTn>
                        </p:par>
                        <p:par>
                          <p:cTn id="8" fill="hold">
                            <p:stCondLst>
                              <p:cond delay="250"/>
                            </p:stCondLst>
                            <p:childTnLst>
                              <p:par>
                                <p:cTn id="9" presetID="22" presetClass="entr" presetSubtype="8" fill="hold" nodeType="afterEffect">
                                  <p:stCondLst>
                                    <p:cond delay="0"/>
                                  </p:stCondLst>
                                  <p:childTnLst>
                                    <p:set>
                                      <p:cBhvr>
                                        <p:cTn id="10" dur="1" fill="hold">
                                          <p:stCondLst>
                                            <p:cond delay="0"/>
                                          </p:stCondLst>
                                        </p:cTn>
                                        <p:tgtEl>
                                          <p:spTgt spid="57"/>
                                        </p:tgtEl>
                                        <p:attrNameLst>
                                          <p:attrName>style.visibility</p:attrName>
                                        </p:attrNameLst>
                                      </p:cBhvr>
                                      <p:to>
                                        <p:strVal val="visible"/>
                                      </p:to>
                                    </p:set>
                                    <p:animEffect transition="in" filter="wipe(left)">
                                      <p:cBhvr>
                                        <p:cTn id="11" dur="250"/>
                                        <p:tgtEl>
                                          <p:spTgt spid="57"/>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65"/>
                                        </p:tgtEl>
                                        <p:attrNameLst>
                                          <p:attrName>style.visibility</p:attrName>
                                        </p:attrNameLst>
                                      </p:cBhvr>
                                      <p:to>
                                        <p:strVal val="visible"/>
                                      </p:to>
                                    </p:set>
                                    <p:animEffect transition="in" filter="wipe(left)">
                                      <p:cBhvr>
                                        <p:cTn id="15" dur="250"/>
                                        <p:tgtEl>
                                          <p:spTgt spid="65"/>
                                        </p:tgtEl>
                                      </p:cBhvr>
                                    </p:animEffect>
                                  </p:childTnLst>
                                </p:cTn>
                              </p:par>
                            </p:childTnLst>
                          </p:cTn>
                        </p:par>
                        <p:par>
                          <p:cTn id="16" fill="hold">
                            <p:stCondLst>
                              <p:cond delay="750"/>
                            </p:stCondLst>
                            <p:childTnLst>
                              <p:par>
                                <p:cTn id="17" presetID="22" presetClass="entr" presetSubtype="1" fill="hold" nodeType="after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wipe(up)">
                                      <p:cBhvr>
                                        <p:cTn id="19" dur="250"/>
                                        <p:tgtEl>
                                          <p:spTgt spid="61"/>
                                        </p:tgtEl>
                                      </p:cBhvr>
                                    </p:animEffect>
                                  </p:childTnLst>
                                </p:cTn>
                              </p:par>
                            </p:childTnLst>
                          </p:cTn>
                        </p:par>
                        <p:par>
                          <p:cTn id="20" fill="hold">
                            <p:stCondLst>
                              <p:cond delay="1000"/>
                            </p:stCondLst>
                            <p:childTnLst>
                              <p:par>
                                <p:cTn id="21" presetID="22" presetClass="entr" presetSubtype="1" fill="hold" nodeType="afterEffect">
                                  <p:stCondLst>
                                    <p:cond delay="0"/>
                                  </p:stCondLst>
                                  <p:childTnLst>
                                    <p:set>
                                      <p:cBhvr>
                                        <p:cTn id="22" dur="1" fill="hold">
                                          <p:stCondLst>
                                            <p:cond delay="0"/>
                                          </p:stCondLst>
                                        </p:cTn>
                                        <p:tgtEl>
                                          <p:spTgt spid="63"/>
                                        </p:tgtEl>
                                        <p:attrNameLst>
                                          <p:attrName>style.visibility</p:attrName>
                                        </p:attrNameLst>
                                      </p:cBhvr>
                                      <p:to>
                                        <p:strVal val="visible"/>
                                      </p:to>
                                    </p:set>
                                    <p:animEffect transition="in" filter="wipe(up)">
                                      <p:cBhvr>
                                        <p:cTn id="23" dur="250"/>
                                        <p:tgtEl>
                                          <p:spTgt spid="63"/>
                                        </p:tgtEl>
                                      </p:cBhvr>
                                    </p:animEffect>
                                  </p:childTnLst>
                                </p:cTn>
                              </p:par>
                            </p:childTnLst>
                          </p:cTn>
                        </p:par>
                        <p:par>
                          <p:cTn id="24" fill="hold">
                            <p:stCondLst>
                              <p:cond delay="1250"/>
                            </p:stCondLst>
                            <p:childTnLst>
                              <p:par>
                                <p:cTn id="25" presetID="22" presetClass="entr" presetSubtype="1" fill="hold" nodeType="after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wipe(up)">
                                      <p:cBhvr>
                                        <p:cTn id="27" dur="250"/>
                                        <p:tgtEl>
                                          <p:spTgt spid="64"/>
                                        </p:tgtEl>
                                      </p:cBhvr>
                                    </p:animEffect>
                                  </p:childTnLst>
                                </p:cTn>
                              </p:par>
                            </p:childTnLst>
                          </p:cTn>
                        </p:par>
                        <p:par>
                          <p:cTn id="28" fill="hold">
                            <p:stCondLst>
                              <p:cond delay="1500"/>
                            </p:stCondLst>
                            <p:childTnLst>
                              <p:par>
                                <p:cTn id="29" presetID="22" presetClass="entr" presetSubtype="1" fill="hold" nodeType="after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wipe(up)">
                                      <p:cBhvr>
                                        <p:cTn id="31" dur="250"/>
                                        <p:tgtEl>
                                          <p:spTgt spid="59"/>
                                        </p:tgtEl>
                                      </p:cBhvr>
                                    </p:animEffect>
                                  </p:childTnLst>
                                </p:cTn>
                              </p:par>
                            </p:childTnLst>
                          </p:cTn>
                        </p:par>
                        <p:par>
                          <p:cTn id="32" fill="hold">
                            <p:stCondLst>
                              <p:cond delay="1750"/>
                            </p:stCondLst>
                            <p:childTnLst>
                              <p:par>
                                <p:cTn id="33" presetID="22" presetClass="entr" presetSubtype="8" fill="hold" nodeType="afterEffect">
                                  <p:stCondLst>
                                    <p:cond delay="0"/>
                                  </p:stCondLst>
                                  <p:childTnLst>
                                    <p:set>
                                      <p:cBhvr>
                                        <p:cTn id="34" dur="1" fill="hold">
                                          <p:stCondLst>
                                            <p:cond delay="0"/>
                                          </p:stCondLst>
                                        </p:cTn>
                                        <p:tgtEl>
                                          <p:spTgt spid="66"/>
                                        </p:tgtEl>
                                        <p:attrNameLst>
                                          <p:attrName>style.visibility</p:attrName>
                                        </p:attrNameLst>
                                      </p:cBhvr>
                                      <p:to>
                                        <p:strVal val="visible"/>
                                      </p:to>
                                    </p:set>
                                    <p:animEffect transition="in" filter="wipe(left)">
                                      <p:cBhvr>
                                        <p:cTn id="35" dur="250"/>
                                        <p:tgtEl>
                                          <p:spTgt spid="66"/>
                                        </p:tgtEl>
                                      </p:cBhvr>
                                    </p:animEffect>
                                  </p:childTnLst>
                                </p:cTn>
                              </p:par>
                            </p:childTnLst>
                          </p:cTn>
                        </p:par>
                        <p:par>
                          <p:cTn id="36" fill="hold">
                            <p:stCondLst>
                              <p:cond delay="2000"/>
                            </p:stCondLst>
                            <p:childTnLst>
                              <p:par>
                                <p:cTn id="37" presetID="22" presetClass="entr" presetSubtype="4" fill="hold" nodeType="after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down)">
                                      <p:cBhvr>
                                        <p:cTn id="39" dur="250"/>
                                        <p:tgtEl>
                                          <p:spTgt spid="62"/>
                                        </p:tgtEl>
                                      </p:cBhvr>
                                    </p:animEffect>
                                  </p:childTnLst>
                                </p:cTn>
                              </p:par>
                            </p:childTnLst>
                          </p:cTn>
                        </p:par>
                        <p:par>
                          <p:cTn id="40" fill="hold">
                            <p:stCondLst>
                              <p:cond delay="2250"/>
                            </p:stCondLst>
                            <p:childTnLst>
                              <p:par>
                                <p:cTn id="41" presetID="22" presetClass="entr" presetSubtype="4" fill="hold" nodeType="afterEffect">
                                  <p:stCondLst>
                                    <p:cond delay="0"/>
                                  </p:stCondLst>
                                  <p:childTnLst>
                                    <p:set>
                                      <p:cBhvr>
                                        <p:cTn id="42" dur="1" fill="hold">
                                          <p:stCondLst>
                                            <p:cond delay="0"/>
                                          </p:stCondLst>
                                        </p:cTn>
                                        <p:tgtEl>
                                          <p:spTgt spid="60"/>
                                        </p:tgtEl>
                                        <p:attrNameLst>
                                          <p:attrName>style.visibility</p:attrName>
                                        </p:attrNameLst>
                                      </p:cBhvr>
                                      <p:to>
                                        <p:strVal val="visible"/>
                                      </p:to>
                                    </p:set>
                                    <p:animEffect transition="in" filter="wipe(down)">
                                      <p:cBhvr>
                                        <p:cTn id="43" dur="2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内容占位符 102"/>
          <p:cNvSpPr>
            <a:spLocks noGrp="1"/>
          </p:cNvSpPr>
          <p:nvPr>
            <p:ph sz="quarter" idx="10"/>
          </p:nvPr>
        </p:nvSpPr>
        <p:spPr>
          <a:xfrm>
            <a:off x="466344" y="973465"/>
            <a:ext cx="8338022" cy="3172691"/>
          </a:xfrm>
        </p:spPr>
        <p:txBody>
          <a:bodyPr/>
          <a:lstStyle/>
          <a:p>
            <a:pPr marL="0" indent="0">
              <a:buNone/>
            </a:pPr>
            <a:r>
              <a:rPr lang="zh-CN" altLang="en-US" dirty="0"/>
              <a:t>当电话机的数量增多时，使用</a:t>
            </a:r>
            <a:r>
              <a:rPr lang="zh-CN" altLang="en-US" dirty="0">
                <a:solidFill>
                  <a:srgbClr val="C00000"/>
                </a:solidFill>
              </a:rPr>
              <a:t>电话交换机</a:t>
            </a:r>
            <a:r>
              <a:rPr lang="zh-CN" altLang="en-US" dirty="0"/>
              <a:t>将这些电话连接起来。</a:t>
            </a:r>
          </a:p>
        </p:txBody>
      </p:sp>
      <p:sp>
        <p:nvSpPr>
          <p:cNvPr id="5" name="文本占位符 4"/>
          <p:cNvSpPr>
            <a:spLocks noGrp="1"/>
          </p:cNvSpPr>
          <p:nvPr>
            <p:ph type="body" sz="quarter" idx="11"/>
          </p:nvPr>
        </p:nvSpPr>
        <p:spPr/>
        <p:txBody>
          <a:bodyPr/>
          <a:lstStyle/>
          <a:p>
            <a:r>
              <a:rPr lang="zh-CN" altLang="en-US" dirty="0"/>
              <a:t>使用交换机</a:t>
            </a:r>
          </a:p>
        </p:txBody>
      </p:sp>
      <p:sp>
        <p:nvSpPr>
          <p:cNvPr id="73" name="圆角矩形 72"/>
          <p:cNvSpPr/>
          <p:nvPr/>
        </p:nvSpPr>
        <p:spPr>
          <a:xfrm>
            <a:off x="558922" y="1514328"/>
            <a:ext cx="4492050" cy="2710243"/>
          </a:xfrm>
          <a:prstGeom prst="roundRect">
            <a:avLst/>
          </a:prstGeom>
          <a:solidFill>
            <a:srgbClr val="0070C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cxnSp>
        <p:nvCxnSpPr>
          <p:cNvPr id="74" name="直接连接符 73"/>
          <p:cNvCxnSpPr/>
          <p:nvPr/>
        </p:nvCxnSpPr>
        <p:spPr>
          <a:xfrm>
            <a:off x="1874459" y="2044142"/>
            <a:ext cx="688975" cy="60642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5" name="直接连接符 74"/>
          <p:cNvCxnSpPr/>
          <p:nvPr/>
        </p:nvCxnSpPr>
        <p:spPr>
          <a:xfrm>
            <a:off x="1164846" y="2650567"/>
            <a:ext cx="1263650" cy="1143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6" name="直接连接符 75"/>
          <p:cNvCxnSpPr/>
          <p:nvPr/>
        </p:nvCxnSpPr>
        <p:spPr>
          <a:xfrm flipV="1">
            <a:off x="1672846" y="2896630"/>
            <a:ext cx="971550" cy="57626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7" name="直接连接符 76"/>
          <p:cNvCxnSpPr/>
          <p:nvPr/>
        </p:nvCxnSpPr>
        <p:spPr>
          <a:xfrm flipV="1">
            <a:off x="2563434" y="2980767"/>
            <a:ext cx="233362" cy="9080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8" name="直接连接符 77"/>
          <p:cNvCxnSpPr/>
          <p:nvPr/>
        </p:nvCxnSpPr>
        <p:spPr>
          <a:xfrm flipH="1" flipV="1">
            <a:off x="3079371" y="2956955"/>
            <a:ext cx="677863" cy="45561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9" name="直接连接符 78"/>
          <p:cNvCxnSpPr>
            <a:stCxn id="92" idx="1"/>
          </p:cNvCxnSpPr>
          <p:nvPr/>
        </p:nvCxnSpPr>
        <p:spPr>
          <a:xfrm flipV="1">
            <a:off x="2719009" y="1804430"/>
            <a:ext cx="131762" cy="8064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0" name="直接连接符 79"/>
          <p:cNvCxnSpPr/>
          <p:nvPr/>
        </p:nvCxnSpPr>
        <p:spPr>
          <a:xfrm flipV="1">
            <a:off x="3174621" y="1928255"/>
            <a:ext cx="493713" cy="5969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1" name="直接连接符 80"/>
          <p:cNvCxnSpPr>
            <a:stCxn id="92" idx="5"/>
          </p:cNvCxnSpPr>
          <p:nvPr/>
        </p:nvCxnSpPr>
        <p:spPr>
          <a:xfrm flipV="1">
            <a:off x="3306384" y="2525155"/>
            <a:ext cx="993775" cy="16192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2" name="直接连接符 81"/>
          <p:cNvCxnSpPr/>
          <p:nvPr/>
        </p:nvCxnSpPr>
        <p:spPr>
          <a:xfrm flipV="1">
            <a:off x="4131246" y="2930828"/>
            <a:ext cx="179495" cy="265114"/>
          </a:xfrm>
          <a:prstGeom prst="line">
            <a:avLst/>
          </a:prstGeom>
          <a:ln w="63500">
            <a:solidFill>
              <a:schemeClr val="bg1"/>
            </a:solidFill>
            <a:prstDash val="sysDot"/>
          </a:ln>
        </p:spPr>
        <p:style>
          <a:lnRef idx="1">
            <a:schemeClr val="accent1"/>
          </a:lnRef>
          <a:fillRef idx="0">
            <a:schemeClr val="accent1"/>
          </a:fillRef>
          <a:effectRef idx="0">
            <a:schemeClr val="accent1"/>
          </a:effectRef>
          <a:fontRef idx="minor">
            <a:schemeClr val="tx1"/>
          </a:fontRef>
        </p:style>
      </p:cxnSp>
      <p:pic>
        <p:nvPicPr>
          <p:cNvPr id="83" name="图片 14"/>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6084" y="2474355"/>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4" name="图片 15"/>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48996" y="3310967"/>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5" name="图片 16"/>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23721" y="3660217"/>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图片 17"/>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57209" y="3222067"/>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 name="图片 1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5371" y="1763155"/>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图片 1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3434" y="1588530"/>
            <a:ext cx="515937"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9" name="图片 20"/>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8471" y="1701242"/>
            <a:ext cx="517525" cy="45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0" name="图片 21"/>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74734" y="2287030"/>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91" name="组合 90"/>
          <p:cNvGrpSpPr/>
          <p:nvPr/>
        </p:nvGrpSpPr>
        <p:grpSpPr>
          <a:xfrm>
            <a:off x="2286091" y="2457234"/>
            <a:ext cx="1020162" cy="614353"/>
            <a:chOff x="2495198" y="3865333"/>
            <a:chExt cx="1020162" cy="614353"/>
          </a:xfrm>
          <a:solidFill>
            <a:srgbClr val="0000FF"/>
          </a:solidFill>
        </p:grpSpPr>
        <p:sp>
          <p:nvSpPr>
            <p:cNvPr id="92" name="立方体 91"/>
            <p:cNvSpPr/>
            <p:nvPr/>
          </p:nvSpPr>
          <p:spPr>
            <a:xfrm>
              <a:off x="2495198" y="3865333"/>
              <a:ext cx="1020162" cy="614353"/>
            </a:xfrm>
            <a:prstGeom prst="cube">
              <a:avLst/>
            </a:prstGeom>
            <a:grp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93" name="矩形 92"/>
            <p:cNvSpPr/>
            <p:nvPr/>
          </p:nvSpPr>
          <p:spPr>
            <a:xfrm>
              <a:off x="2593495" y="4082725"/>
              <a:ext cx="723275" cy="307777"/>
            </a:xfrm>
            <a:prstGeom prst="rect">
              <a:avLst/>
            </a:prstGeom>
            <a:grpFill/>
            <a:ln>
              <a:noFill/>
            </a:ln>
          </p:spPr>
          <p:txBody>
            <a:bodyPr wrap="none">
              <a:spAutoFit/>
            </a:bodyPr>
            <a:lstStyle/>
            <a:p>
              <a:pPr algn="ctr" fontAlgn="auto">
                <a:spcBef>
                  <a:spcPts val="0"/>
                </a:spcBef>
                <a:spcAft>
                  <a:spcPts val="0"/>
                </a:spcAft>
                <a:defRPr/>
              </a:pPr>
              <a:r>
                <a:rPr kumimoji="1" lang="zh-CN" altLang="en-US" sz="1400" b="1" dirty="0">
                  <a:solidFill>
                    <a:prstClr val="white"/>
                  </a:solidFill>
                  <a:latin typeface="微软雅黑" panose="020B0503020204020204" pitchFamily="34" charset="-122"/>
                  <a:ea typeface="微软雅黑" panose="020B0503020204020204" pitchFamily="34" charset="-122"/>
                </a:rPr>
                <a:t>交换机</a:t>
              </a:r>
            </a:p>
          </p:txBody>
        </p:sp>
      </p:grpSp>
      <p:grpSp>
        <p:nvGrpSpPr>
          <p:cNvPr id="94" name="组合 25"/>
          <p:cNvGrpSpPr/>
          <p:nvPr/>
        </p:nvGrpSpPr>
        <p:grpSpPr bwMode="auto">
          <a:xfrm>
            <a:off x="5398134" y="1514328"/>
            <a:ext cx="3128501" cy="2423320"/>
            <a:chOff x="5342542" y="2445544"/>
            <a:chExt cx="2801549" cy="2576158"/>
          </a:xfrm>
        </p:grpSpPr>
        <p:sp>
          <p:nvSpPr>
            <p:cNvPr id="95" name="对角圆角矩形 94"/>
            <p:cNvSpPr/>
            <p:nvPr/>
          </p:nvSpPr>
          <p:spPr>
            <a:xfrm>
              <a:off x="5342542" y="2445544"/>
              <a:ext cx="2801549" cy="257615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96" name="矩形 27"/>
            <p:cNvSpPr>
              <a:spLocks noChangeArrowheads="1"/>
            </p:cNvSpPr>
            <p:nvPr/>
          </p:nvSpPr>
          <p:spPr bwMode="auto">
            <a:xfrm>
              <a:off x="5438561" y="2674897"/>
              <a:ext cx="2654203" cy="2061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300"/>
                </a:lnSpc>
                <a:spcBef>
                  <a:spcPts val="600"/>
                </a:spcBef>
              </a:pPr>
              <a:r>
                <a:rPr lang="zh-CN" altLang="zh-CN" b="1" dirty="0">
                  <a:solidFill>
                    <a:prstClr val="white"/>
                  </a:solidFill>
                  <a:latin typeface="微软雅黑" panose="020B0503020204020204" pitchFamily="34" charset="-122"/>
                  <a:ea typeface="微软雅黑" panose="020B0503020204020204" pitchFamily="34" charset="-122"/>
                </a:rPr>
                <a:t>每一部电话都</a:t>
              </a:r>
              <a:r>
                <a:rPr lang="zh-CN" altLang="en-US" b="1" dirty="0">
                  <a:solidFill>
                    <a:prstClr val="white"/>
                  </a:solidFill>
                  <a:latin typeface="微软雅黑" panose="020B0503020204020204" pitchFamily="34" charset="-122"/>
                  <a:ea typeface="微软雅黑" panose="020B0503020204020204" pitchFamily="34" charset="-122"/>
                </a:rPr>
                <a:t>直接</a:t>
              </a:r>
              <a:r>
                <a:rPr lang="zh-CN" altLang="zh-CN" b="1" dirty="0">
                  <a:solidFill>
                    <a:prstClr val="white"/>
                  </a:solidFill>
                  <a:latin typeface="微软雅黑" panose="020B0503020204020204" pitchFamily="34" charset="-122"/>
                  <a:ea typeface="微软雅黑" panose="020B0503020204020204" pitchFamily="34" charset="-122"/>
                </a:rPr>
                <a:t>连接到交换机上，而交换机使用</a:t>
              </a:r>
              <a:r>
                <a:rPr lang="zh-CN" altLang="zh-CN" b="1" dirty="0">
                  <a:solidFill>
                    <a:srgbClr val="FFFF00"/>
                  </a:solidFill>
                  <a:latin typeface="微软雅黑" panose="020B0503020204020204" pitchFamily="34" charset="-122"/>
                  <a:ea typeface="微软雅黑" panose="020B0503020204020204" pitchFamily="34" charset="-122"/>
                </a:rPr>
                <a:t>交换</a:t>
              </a:r>
              <a:r>
                <a:rPr lang="zh-CN" altLang="zh-CN" b="1" dirty="0">
                  <a:solidFill>
                    <a:prstClr val="white"/>
                  </a:solidFill>
                  <a:latin typeface="微软雅黑" panose="020B0503020204020204" pitchFamily="34" charset="-122"/>
                  <a:ea typeface="微软雅黑" panose="020B0503020204020204" pitchFamily="34" charset="-122"/>
                </a:rPr>
                <a:t>的方法，让电话用户彼此之间可以很方便地通信。</a:t>
              </a:r>
              <a:r>
                <a:rPr lang="zh-CN" altLang="en-US" b="1" dirty="0">
                  <a:solidFill>
                    <a:prstClr val="white"/>
                  </a:solidFill>
                  <a:latin typeface="微软雅黑" panose="020B0503020204020204" pitchFamily="34" charset="-122"/>
                  <a:ea typeface="微软雅黑" panose="020B0503020204020204" pitchFamily="34" charset="-122"/>
                </a:rPr>
                <a:t> </a:t>
              </a:r>
              <a:endParaRPr lang="en-US" altLang="zh-CN" b="1" dirty="0">
                <a:solidFill>
                  <a:prstClr val="white"/>
                </a:solidFill>
                <a:latin typeface="微软雅黑" panose="020B0503020204020204" pitchFamily="34" charset="-122"/>
                <a:ea typeface="微软雅黑" panose="020B0503020204020204" pitchFamily="34" charset="-122"/>
              </a:endParaRPr>
            </a:p>
            <a:p>
              <a:pPr>
                <a:lnSpc>
                  <a:spcPts val="2300"/>
                </a:lnSpc>
                <a:spcBef>
                  <a:spcPts val="600"/>
                </a:spcBef>
              </a:pPr>
              <a:r>
                <a:rPr lang="zh-CN" altLang="en-US" b="1" dirty="0">
                  <a:solidFill>
                    <a:prstClr val="white"/>
                  </a:solidFill>
                  <a:latin typeface="微软雅黑" panose="020B0503020204020204" pitchFamily="34" charset="-122"/>
                  <a:ea typeface="微软雅黑" panose="020B0503020204020204" pitchFamily="34" charset="-122"/>
                </a:rPr>
                <a:t>这种</a:t>
              </a:r>
              <a:r>
                <a:rPr lang="zh-CN" altLang="zh-CN" b="1" dirty="0">
                  <a:solidFill>
                    <a:prstClr val="white"/>
                  </a:solidFill>
                  <a:latin typeface="微软雅黑" panose="020B0503020204020204" pitchFamily="34" charset="-122"/>
                  <a:ea typeface="微软雅黑" panose="020B0503020204020204" pitchFamily="34" charset="-122"/>
                </a:rPr>
                <a:t>交换方式</a:t>
              </a:r>
              <a:r>
                <a:rPr lang="zh-CN" altLang="en-US" b="1" dirty="0">
                  <a:solidFill>
                    <a:prstClr val="white"/>
                  </a:solidFill>
                  <a:latin typeface="微软雅黑" panose="020B0503020204020204" pitchFamily="34" charset="-122"/>
                  <a:ea typeface="微软雅黑" panose="020B0503020204020204" pitchFamily="34" charset="-122"/>
                </a:rPr>
                <a:t>就</a:t>
              </a:r>
              <a:r>
                <a:rPr lang="zh-CN" altLang="zh-CN" b="1" dirty="0">
                  <a:solidFill>
                    <a:prstClr val="white"/>
                  </a:solidFill>
                  <a:latin typeface="微软雅黑" panose="020B0503020204020204" pitchFamily="34" charset="-122"/>
                  <a:ea typeface="微软雅黑" panose="020B0503020204020204" pitchFamily="34" charset="-122"/>
                </a:rPr>
                <a:t>是</a:t>
              </a:r>
              <a:r>
                <a:rPr lang="zh-CN" altLang="zh-CN" b="1" dirty="0">
                  <a:solidFill>
                    <a:srgbClr val="FFFF00"/>
                  </a:solidFill>
                  <a:latin typeface="微软雅黑" panose="020B0503020204020204" pitchFamily="34" charset="-122"/>
                  <a:ea typeface="微软雅黑" panose="020B0503020204020204" pitchFamily="34" charset="-122"/>
                </a:rPr>
                <a:t>电路交换</a:t>
              </a:r>
              <a:r>
                <a:rPr lang="en-US" altLang="zh-CN" b="1" dirty="0">
                  <a:solidFill>
                    <a:srgbClr val="FFFF00"/>
                  </a:solidFill>
                  <a:latin typeface="微软雅黑" panose="020B0503020204020204" pitchFamily="34" charset="-122"/>
                  <a:ea typeface="微软雅黑" panose="020B0503020204020204" pitchFamily="34" charset="-122"/>
                </a:rPr>
                <a:t> (circuit switching)</a:t>
              </a:r>
              <a:r>
                <a:rPr lang="zh-CN" altLang="en-US" b="1" dirty="0">
                  <a:solidFill>
                    <a:srgbClr val="FFFF00"/>
                  </a:solidFill>
                  <a:latin typeface="微软雅黑" panose="020B0503020204020204" pitchFamily="34" charset="-122"/>
                  <a:ea typeface="微软雅黑" panose="020B0503020204020204" pitchFamily="34" charset="-122"/>
                </a:rPr>
                <a:t>。</a:t>
              </a:r>
            </a:p>
          </p:txBody>
        </p:sp>
      </p:grpSp>
    </p:spTree>
    <p:extLst>
      <p:ext uri="{BB962C8B-B14F-4D97-AF65-F5344CB8AC3E}">
        <p14:creationId xmlns:p14="http://schemas.microsoft.com/office/powerpoint/2010/main" val="20635354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5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250"/>
                                        <p:tgtEl>
                                          <p:spTgt spid="81"/>
                                        </p:tgtEl>
                                      </p:cBhvr>
                                    </p:animEffect>
                                  </p:childTnLst>
                                </p:cTn>
                              </p:par>
                            </p:childTnLst>
                          </p:cTn>
                        </p:par>
                        <p:par>
                          <p:cTn id="8" fill="hold">
                            <p:stCondLst>
                              <p:cond delay="500"/>
                            </p:stCondLst>
                            <p:childTnLst>
                              <p:par>
                                <p:cTn id="9" presetID="22" presetClass="entr" presetSubtype="4" fill="hold" nodeType="afterEffect">
                                  <p:stCondLst>
                                    <p:cond delay="250"/>
                                  </p:stCondLst>
                                  <p:childTnLst>
                                    <p:set>
                                      <p:cBhvr>
                                        <p:cTn id="10" dur="1" fill="hold">
                                          <p:stCondLst>
                                            <p:cond delay="0"/>
                                          </p:stCondLst>
                                        </p:cTn>
                                        <p:tgtEl>
                                          <p:spTgt spid="80"/>
                                        </p:tgtEl>
                                        <p:attrNameLst>
                                          <p:attrName>style.visibility</p:attrName>
                                        </p:attrNameLst>
                                      </p:cBhvr>
                                      <p:to>
                                        <p:strVal val="visible"/>
                                      </p:to>
                                    </p:set>
                                    <p:animEffect transition="in" filter="wipe(down)">
                                      <p:cBhvr>
                                        <p:cTn id="11" dur="250"/>
                                        <p:tgtEl>
                                          <p:spTgt spid="80"/>
                                        </p:tgtEl>
                                      </p:cBhvr>
                                    </p:animEffect>
                                  </p:childTnLst>
                                </p:cTn>
                              </p:par>
                            </p:childTnLst>
                          </p:cTn>
                        </p:par>
                        <p:par>
                          <p:cTn id="12" fill="hold">
                            <p:stCondLst>
                              <p:cond delay="1000"/>
                            </p:stCondLst>
                            <p:childTnLst>
                              <p:par>
                                <p:cTn id="13" presetID="22" presetClass="entr" presetSubtype="4" fill="hold" nodeType="afterEffect">
                                  <p:stCondLst>
                                    <p:cond delay="250"/>
                                  </p:stCondLst>
                                  <p:childTnLst>
                                    <p:set>
                                      <p:cBhvr>
                                        <p:cTn id="14" dur="1" fill="hold">
                                          <p:stCondLst>
                                            <p:cond delay="0"/>
                                          </p:stCondLst>
                                        </p:cTn>
                                        <p:tgtEl>
                                          <p:spTgt spid="79"/>
                                        </p:tgtEl>
                                        <p:attrNameLst>
                                          <p:attrName>style.visibility</p:attrName>
                                        </p:attrNameLst>
                                      </p:cBhvr>
                                      <p:to>
                                        <p:strVal val="visible"/>
                                      </p:to>
                                    </p:set>
                                    <p:animEffect transition="in" filter="wipe(down)">
                                      <p:cBhvr>
                                        <p:cTn id="15" dur="250"/>
                                        <p:tgtEl>
                                          <p:spTgt spid="79"/>
                                        </p:tgtEl>
                                      </p:cBhvr>
                                    </p:animEffect>
                                  </p:childTnLst>
                                </p:cTn>
                              </p:par>
                            </p:childTnLst>
                          </p:cTn>
                        </p:par>
                        <p:par>
                          <p:cTn id="16" fill="hold">
                            <p:stCondLst>
                              <p:cond delay="1500"/>
                            </p:stCondLst>
                            <p:childTnLst>
                              <p:par>
                                <p:cTn id="17" presetID="22" presetClass="entr" presetSubtype="2" fill="hold" nodeType="afterEffect">
                                  <p:stCondLst>
                                    <p:cond delay="250"/>
                                  </p:stCondLst>
                                  <p:childTnLst>
                                    <p:set>
                                      <p:cBhvr>
                                        <p:cTn id="18" dur="1" fill="hold">
                                          <p:stCondLst>
                                            <p:cond delay="0"/>
                                          </p:stCondLst>
                                        </p:cTn>
                                        <p:tgtEl>
                                          <p:spTgt spid="74"/>
                                        </p:tgtEl>
                                        <p:attrNameLst>
                                          <p:attrName>style.visibility</p:attrName>
                                        </p:attrNameLst>
                                      </p:cBhvr>
                                      <p:to>
                                        <p:strVal val="visible"/>
                                      </p:to>
                                    </p:set>
                                    <p:animEffect transition="in" filter="wipe(right)">
                                      <p:cBhvr>
                                        <p:cTn id="19" dur="250"/>
                                        <p:tgtEl>
                                          <p:spTgt spid="74"/>
                                        </p:tgtEl>
                                      </p:cBhvr>
                                    </p:animEffect>
                                  </p:childTnLst>
                                </p:cTn>
                              </p:par>
                            </p:childTnLst>
                          </p:cTn>
                        </p:par>
                        <p:par>
                          <p:cTn id="20" fill="hold">
                            <p:stCondLst>
                              <p:cond delay="2000"/>
                            </p:stCondLst>
                            <p:childTnLst>
                              <p:par>
                                <p:cTn id="21" presetID="22" presetClass="entr" presetSubtype="2" fill="hold" nodeType="afterEffect">
                                  <p:stCondLst>
                                    <p:cond delay="250"/>
                                  </p:stCondLst>
                                  <p:childTnLst>
                                    <p:set>
                                      <p:cBhvr>
                                        <p:cTn id="22" dur="1" fill="hold">
                                          <p:stCondLst>
                                            <p:cond delay="0"/>
                                          </p:stCondLst>
                                        </p:cTn>
                                        <p:tgtEl>
                                          <p:spTgt spid="75"/>
                                        </p:tgtEl>
                                        <p:attrNameLst>
                                          <p:attrName>style.visibility</p:attrName>
                                        </p:attrNameLst>
                                      </p:cBhvr>
                                      <p:to>
                                        <p:strVal val="visible"/>
                                      </p:to>
                                    </p:set>
                                    <p:animEffect transition="in" filter="wipe(right)">
                                      <p:cBhvr>
                                        <p:cTn id="23" dur="250"/>
                                        <p:tgtEl>
                                          <p:spTgt spid="75"/>
                                        </p:tgtEl>
                                      </p:cBhvr>
                                    </p:animEffect>
                                  </p:childTnLst>
                                </p:cTn>
                              </p:par>
                            </p:childTnLst>
                          </p:cTn>
                        </p:par>
                        <p:par>
                          <p:cTn id="24" fill="hold">
                            <p:stCondLst>
                              <p:cond delay="2500"/>
                            </p:stCondLst>
                            <p:childTnLst>
                              <p:par>
                                <p:cTn id="25" presetID="22" presetClass="entr" presetSubtype="2" fill="hold" nodeType="afterEffect">
                                  <p:stCondLst>
                                    <p:cond delay="250"/>
                                  </p:stCondLst>
                                  <p:childTnLst>
                                    <p:set>
                                      <p:cBhvr>
                                        <p:cTn id="26" dur="1" fill="hold">
                                          <p:stCondLst>
                                            <p:cond delay="0"/>
                                          </p:stCondLst>
                                        </p:cTn>
                                        <p:tgtEl>
                                          <p:spTgt spid="76"/>
                                        </p:tgtEl>
                                        <p:attrNameLst>
                                          <p:attrName>style.visibility</p:attrName>
                                        </p:attrNameLst>
                                      </p:cBhvr>
                                      <p:to>
                                        <p:strVal val="visible"/>
                                      </p:to>
                                    </p:set>
                                    <p:animEffect transition="in" filter="wipe(right)">
                                      <p:cBhvr>
                                        <p:cTn id="27" dur="250"/>
                                        <p:tgtEl>
                                          <p:spTgt spid="76"/>
                                        </p:tgtEl>
                                      </p:cBhvr>
                                    </p:animEffect>
                                  </p:childTnLst>
                                </p:cTn>
                              </p:par>
                            </p:childTnLst>
                          </p:cTn>
                        </p:par>
                        <p:par>
                          <p:cTn id="28" fill="hold">
                            <p:stCondLst>
                              <p:cond delay="3000"/>
                            </p:stCondLst>
                            <p:childTnLst>
                              <p:par>
                                <p:cTn id="29" presetID="22" presetClass="entr" presetSubtype="1" fill="hold" nodeType="afterEffect">
                                  <p:stCondLst>
                                    <p:cond delay="250"/>
                                  </p:stCondLst>
                                  <p:childTnLst>
                                    <p:set>
                                      <p:cBhvr>
                                        <p:cTn id="30" dur="1" fill="hold">
                                          <p:stCondLst>
                                            <p:cond delay="0"/>
                                          </p:stCondLst>
                                        </p:cTn>
                                        <p:tgtEl>
                                          <p:spTgt spid="77"/>
                                        </p:tgtEl>
                                        <p:attrNameLst>
                                          <p:attrName>style.visibility</p:attrName>
                                        </p:attrNameLst>
                                      </p:cBhvr>
                                      <p:to>
                                        <p:strVal val="visible"/>
                                      </p:to>
                                    </p:set>
                                    <p:animEffect transition="in" filter="wipe(up)">
                                      <p:cBhvr>
                                        <p:cTn id="31" dur="250"/>
                                        <p:tgtEl>
                                          <p:spTgt spid="77"/>
                                        </p:tgtEl>
                                      </p:cBhvr>
                                    </p:animEffect>
                                  </p:childTnLst>
                                </p:cTn>
                              </p:par>
                            </p:childTnLst>
                          </p:cTn>
                        </p:par>
                        <p:par>
                          <p:cTn id="32" fill="hold">
                            <p:stCondLst>
                              <p:cond delay="3500"/>
                            </p:stCondLst>
                            <p:childTnLst>
                              <p:par>
                                <p:cTn id="33" presetID="22" presetClass="entr" presetSubtype="1" fill="hold" nodeType="afterEffect">
                                  <p:stCondLst>
                                    <p:cond delay="250"/>
                                  </p:stCondLst>
                                  <p:childTnLst>
                                    <p:set>
                                      <p:cBhvr>
                                        <p:cTn id="34" dur="1" fill="hold">
                                          <p:stCondLst>
                                            <p:cond delay="0"/>
                                          </p:stCondLst>
                                        </p:cTn>
                                        <p:tgtEl>
                                          <p:spTgt spid="78"/>
                                        </p:tgtEl>
                                        <p:attrNameLst>
                                          <p:attrName>style.visibility</p:attrName>
                                        </p:attrNameLst>
                                      </p:cBhvr>
                                      <p:to>
                                        <p:strVal val="visible"/>
                                      </p:to>
                                    </p:set>
                                    <p:animEffect transition="in" filter="wipe(up)">
                                      <p:cBhvr>
                                        <p:cTn id="35" dur="25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p:cNvSpPr>
            <a:spLocks noGrp="1"/>
          </p:cNvSpPr>
          <p:nvPr>
            <p:ph type="body" sz="quarter" idx="11"/>
          </p:nvPr>
        </p:nvSpPr>
        <p:spPr/>
        <p:txBody>
          <a:bodyPr/>
          <a:lstStyle/>
          <a:p>
            <a:r>
              <a:rPr lang="zh-CN" altLang="en-US" dirty="0"/>
              <a:t>“交换 </a:t>
            </a:r>
            <a:r>
              <a:rPr lang="en-US" altLang="zh-CN" dirty="0"/>
              <a:t>(switching)</a:t>
            </a:r>
            <a:r>
              <a:rPr lang="zh-CN" altLang="en-US" dirty="0"/>
              <a:t>”的含义</a:t>
            </a:r>
          </a:p>
        </p:txBody>
      </p:sp>
      <p:sp>
        <p:nvSpPr>
          <p:cNvPr id="2" name="内容占位符 1"/>
          <p:cNvSpPr>
            <a:spLocks noGrp="1"/>
          </p:cNvSpPr>
          <p:nvPr>
            <p:ph sz="quarter" idx="10"/>
          </p:nvPr>
        </p:nvSpPr>
        <p:spPr>
          <a:xfrm>
            <a:off x="466344" y="973465"/>
            <a:ext cx="3663537" cy="3172691"/>
          </a:xfrm>
        </p:spPr>
        <p:txBody>
          <a:bodyPr/>
          <a:lstStyle/>
          <a:p>
            <a:r>
              <a:rPr lang="zh-CN" altLang="en-US" dirty="0">
                <a:solidFill>
                  <a:srgbClr val="C00000"/>
                </a:solidFill>
              </a:rPr>
              <a:t>转接：</a:t>
            </a:r>
            <a:r>
              <a:rPr lang="zh-CN" altLang="en-US" dirty="0"/>
              <a:t>把一条电话线转接到另一条电话线，使它们连通起来。</a:t>
            </a:r>
          </a:p>
          <a:p>
            <a:r>
              <a:rPr lang="zh-CN" altLang="en-US" dirty="0"/>
              <a:t>从通信资源的分配角度来看，就是按照某种方式</a:t>
            </a:r>
            <a:r>
              <a:rPr lang="zh-CN" altLang="en-US" dirty="0">
                <a:solidFill>
                  <a:srgbClr val="C00000"/>
                </a:solidFill>
              </a:rPr>
              <a:t>动态地</a:t>
            </a:r>
            <a:r>
              <a:rPr lang="zh-CN" altLang="en-US" dirty="0">
                <a:solidFill>
                  <a:srgbClr val="0000FF"/>
                </a:solidFill>
              </a:rPr>
              <a:t>分配传输线路的资源。</a:t>
            </a:r>
          </a:p>
        </p:txBody>
      </p:sp>
      <p:sp>
        <p:nvSpPr>
          <p:cNvPr id="29" name="圆角矩形 28"/>
          <p:cNvSpPr/>
          <p:nvPr/>
        </p:nvSpPr>
        <p:spPr>
          <a:xfrm>
            <a:off x="4458789" y="1111034"/>
            <a:ext cx="4148217" cy="2823835"/>
          </a:xfrm>
          <a:prstGeom prst="roundRect">
            <a:avLst/>
          </a:prstGeom>
          <a:solidFill>
            <a:srgbClr val="0070C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cxnSp>
        <p:nvCxnSpPr>
          <p:cNvPr id="30" name="直接连接符 29"/>
          <p:cNvCxnSpPr/>
          <p:nvPr/>
        </p:nvCxnSpPr>
        <p:spPr>
          <a:xfrm>
            <a:off x="5649285" y="1707013"/>
            <a:ext cx="412223" cy="35003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a:off x="4939672" y="2313438"/>
            <a:ext cx="1263650" cy="1143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5447672" y="2559501"/>
            <a:ext cx="971550" cy="57626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6338260" y="2884938"/>
            <a:ext cx="224277" cy="6667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flipV="1">
            <a:off x="6854197" y="2619826"/>
            <a:ext cx="677863" cy="45561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a:stCxn id="46" idx="1"/>
          </p:cNvCxnSpPr>
          <p:nvPr/>
        </p:nvCxnSpPr>
        <p:spPr>
          <a:xfrm flipV="1">
            <a:off x="6450568" y="1383224"/>
            <a:ext cx="111969" cy="846884"/>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6949447" y="1591126"/>
            <a:ext cx="493713" cy="5969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a:stCxn id="46" idx="5"/>
          </p:cNvCxnSpPr>
          <p:nvPr/>
        </p:nvCxnSpPr>
        <p:spPr>
          <a:xfrm flipV="1">
            <a:off x="7273297" y="2103948"/>
            <a:ext cx="738628" cy="23610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pic>
        <p:nvPicPr>
          <p:cNvPr id="38" name="图片 14"/>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80910" y="2137226"/>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 name="图片 15"/>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23822" y="2973838"/>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 name="图片 16"/>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98547" y="3323088"/>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1" name="图片 17"/>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2035" y="2884938"/>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图片 1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30197" y="1426026"/>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图片 1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38260" y="1251401"/>
            <a:ext cx="515937"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20"/>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73297" y="1364113"/>
            <a:ext cx="517525" cy="45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图片 21"/>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49560" y="1949901"/>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6" name="立方体 45"/>
          <p:cNvSpPr/>
          <p:nvPr/>
        </p:nvSpPr>
        <p:spPr>
          <a:xfrm>
            <a:off x="5847723" y="2010237"/>
            <a:ext cx="1425574" cy="879535"/>
          </a:xfrm>
          <a:prstGeom prst="cube">
            <a:avLst/>
          </a:prstGeom>
          <a:solidFill>
            <a:srgbClr val="0000FF"/>
          </a:solid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cxnSp>
        <p:nvCxnSpPr>
          <p:cNvPr id="47" name="直接连接符 46"/>
          <p:cNvCxnSpPr/>
          <p:nvPr/>
        </p:nvCxnSpPr>
        <p:spPr>
          <a:xfrm>
            <a:off x="6026718" y="2034816"/>
            <a:ext cx="1047661" cy="753728"/>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6464636" y="2010237"/>
            <a:ext cx="808661" cy="315758"/>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49" name="直接连接符 48"/>
          <p:cNvCxnSpPr/>
          <p:nvPr/>
        </p:nvCxnSpPr>
        <p:spPr>
          <a:xfrm>
            <a:off x="5847722" y="2405513"/>
            <a:ext cx="714815" cy="479425"/>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50" name="直接连接符 49"/>
          <p:cNvCxnSpPr/>
          <p:nvPr/>
        </p:nvCxnSpPr>
        <p:spPr>
          <a:xfrm flipV="1">
            <a:off x="5938962" y="2010237"/>
            <a:ext cx="1135417" cy="834580"/>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51" name="直接连接符 50"/>
          <p:cNvCxnSpPr/>
          <p:nvPr/>
        </p:nvCxnSpPr>
        <p:spPr>
          <a:xfrm>
            <a:off x="6044972" y="2056269"/>
            <a:ext cx="517565" cy="828669"/>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64593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750"/>
                                  </p:stCondLst>
                                  <p:childTnLst>
                                    <p:set>
                                      <p:cBhvr>
                                        <p:cTn id="6" dur="1" fill="hold">
                                          <p:stCondLst>
                                            <p:cond delay="0"/>
                                          </p:stCondLst>
                                        </p:cTn>
                                        <p:tgtEl>
                                          <p:spTgt spid="48"/>
                                        </p:tgtEl>
                                        <p:attrNameLst>
                                          <p:attrName>style.visibility</p:attrName>
                                        </p:attrNameLst>
                                      </p:cBhvr>
                                      <p:to>
                                        <p:strVal val="visible"/>
                                      </p:to>
                                    </p:set>
                                    <p:animEffect transition="in" filter="wipe(right)">
                                      <p:cBhvr>
                                        <p:cTn id="7" dur="1000"/>
                                        <p:tgtEl>
                                          <p:spTgt spid="48"/>
                                        </p:tgtEl>
                                      </p:cBhvr>
                                    </p:animEffect>
                                  </p:childTnLst>
                                </p:cTn>
                              </p:par>
                            </p:childTnLst>
                          </p:cTn>
                        </p:par>
                        <p:par>
                          <p:cTn id="8" fill="hold">
                            <p:stCondLst>
                              <p:cond delay="1750"/>
                            </p:stCondLst>
                            <p:childTnLst>
                              <p:par>
                                <p:cTn id="9" presetID="22" presetClass="entr" presetSubtype="8" fill="hold" nodeType="afterEffect">
                                  <p:stCondLst>
                                    <p:cond delay="50"/>
                                  </p:stCondLst>
                                  <p:childTnLst>
                                    <p:set>
                                      <p:cBhvr>
                                        <p:cTn id="10" dur="1" fill="hold">
                                          <p:stCondLst>
                                            <p:cond delay="0"/>
                                          </p:stCondLst>
                                        </p:cTn>
                                        <p:tgtEl>
                                          <p:spTgt spid="47"/>
                                        </p:tgtEl>
                                        <p:attrNameLst>
                                          <p:attrName>style.visibility</p:attrName>
                                        </p:attrNameLst>
                                      </p:cBhvr>
                                      <p:to>
                                        <p:strVal val="visible"/>
                                      </p:to>
                                    </p:set>
                                    <p:animEffect transition="in" filter="wipe(left)">
                                      <p:cBhvr>
                                        <p:cTn id="11" dur="1000"/>
                                        <p:tgtEl>
                                          <p:spTgt spid="47"/>
                                        </p:tgtEl>
                                      </p:cBhvr>
                                    </p:animEffect>
                                  </p:childTnLst>
                                </p:cTn>
                              </p:par>
                            </p:childTnLst>
                          </p:cTn>
                        </p:par>
                        <p:par>
                          <p:cTn id="12" fill="hold">
                            <p:stCondLst>
                              <p:cond delay="2800"/>
                            </p:stCondLst>
                            <p:childTnLst>
                              <p:par>
                                <p:cTn id="13" presetID="22" presetClass="entr" presetSubtype="8" fill="hold" nodeType="afterEffect">
                                  <p:stCondLst>
                                    <p:cond delay="0"/>
                                  </p:stCondLst>
                                  <p:childTnLst>
                                    <p:set>
                                      <p:cBhvr>
                                        <p:cTn id="14" dur="1" fill="hold">
                                          <p:stCondLst>
                                            <p:cond delay="0"/>
                                          </p:stCondLst>
                                        </p:cTn>
                                        <p:tgtEl>
                                          <p:spTgt spid="49"/>
                                        </p:tgtEl>
                                        <p:attrNameLst>
                                          <p:attrName>style.visibility</p:attrName>
                                        </p:attrNameLst>
                                      </p:cBhvr>
                                      <p:to>
                                        <p:strVal val="visible"/>
                                      </p:to>
                                    </p:set>
                                    <p:animEffect transition="in" filter="wipe(left)">
                                      <p:cBhvr>
                                        <p:cTn id="15" dur="1000"/>
                                        <p:tgtEl>
                                          <p:spTgt spid="49"/>
                                        </p:tgtEl>
                                      </p:cBhvr>
                                    </p:animEffect>
                                  </p:childTnLst>
                                </p:cTn>
                              </p:par>
                            </p:childTnLst>
                          </p:cTn>
                        </p:par>
                        <p:par>
                          <p:cTn id="16" fill="hold">
                            <p:stCondLst>
                              <p:cond delay="3800"/>
                            </p:stCondLst>
                            <p:childTnLst>
                              <p:par>
                                <p:cTn id="17" presetID="22" presetClass="entr" presetSubtype="4" fill="hold" nodeType="afterEffect">
                                  <p:stCondLst>
                                    <p:cond delay="0"/>
                                  </p:stCondLst>
                                  <p:childTnLst>
                                    <p:set>
                                      <p:cBhvr>
                                        <p:cTn id="18" dur="1" fill="hold">
                                          <p:stCondLst>
                                            <p:cond delay="0"/>
                                          </p:stCondLst>
                                        </p:cTn>
                                        <p:tgtEl>
                                          <p:spTgt spid="50"/>
                                        </p:tgtEl>
                                        <p:attrNameLst>
                                          <p:attrName>style.visibility</p:attrName>
                                        </p:attrNameLst>
                                      </p:cBhvr>
                                      <p:to>
                                        <p:strVal val="visible"/>
                                      </p:to>
                                    </p:set>
                                    <p:animEffect transition="in" filter="wipe(down)">
                                      <p:cBhvr>
                                        <p:cTn id="19" dur="1000"/>
                                        <p:tgtEl>
                                          <p:spTgt spid="50"/>
                                        </p:tgtEl>
                                      </p:cBhvr>
                                    </p:animEffect>
                                  </p:childTnLst>
                                </p:cTn>
                              </p:par>
                            </p:childTnLst>
                          </p:cTn>
                        </p:par>
                        <p:par>
                          <p:cTn id="20" fill="hold">
                            <p:stCondLst>
                              <p:cond delay="4800"/>
                            </p:stCondLst>
                            <p:childTnLst>
                              <p:par>
                                <p:cTn id="21" presetID="22" presetClass="exit" presetSubtype="4" fill="hold" nodeType="afterEffect">
                                  <p:stCondLst>
                                    <p:cond delay="0"/>
                                  </p:stCondLst>
                                  <p:childTnLst>
                                    <p:animEffect transition="out" filter="wipe(down)">
                                      <p:cBhvr>
                                        <p:cTn id="22" dur="1000"/>
                                        <p:tgtEl>
                                          <p:spTgt spid="49"/>
                                        </p:tgtEl>
                                      </p:cBhvr>
                                    </p:animEffect>
                                    <p:set>
                                      <p:cBhvr>
                                        <p:cTn id="23" dur="1" fill="hold">
                                          <p:stCondLst>
                                            <p:cond delay="999"/>
                                          </p:stCondLst>
                                        </p:cTn>
                                        <p:tgtEl>
                                          <p:spTgt spid="49"/>
                                        </p:tgtEl>
                                        <p:attrNameLst>
                                          <p:attrName>style.visibility</p:attrName>
                                        </p:attrNameLst>
                                      </p:cBhvr>
                                      <p:to>
                                        <p:strVal val="hidden"/>
                                      </p:to>
                                    </p:set>
                                  </p:childTnLst>
                                </p:cTn>
                              </p:par>
                            </p:childTnLst>
                          </p:cTn>
                        </p:par>
                        <p:par>
                          <p:cTn id="24" fill="hold">
                            <p:stCondLst>
                              <p:cond delay="5800"/>
                            </p:stCondLst>
                            <p:childTnLst>
                              <p:par>
                                <p:cTn id="25" presetID="22" presetClass="exit" presetSubtype="1" fill="hold" nodeType="afterEffect">
                                  <p:stCondLst>
                                    <p:cond delay="0"/>
                                  </p:stCondLst>
                                  <p:childTnLst>
                                    <p:animEffect transition="out" filter="wipe(up)">
                                      <p:cBhvr>
                                        <p:cTn id="26" dur="1000"/>
                                        <p:tgtEl>
                                          <p:spTgt spid="47"/>
                                        </p:tgtEl>
                                      </p:cBhvr>
                                    </p:animEffect>
                                    <p:set>
                                      <p:cBhvr>
                                        <p:cTn id="27" dur="1" fill="hold">
                                          <p:stCondLst>
                                            <p:cond delay="999"/>
                                          </p:stCondLst>
                                        </p:cTn>
                                        <p:tgtEl>
                                          <p:spTgt spid="47"/>
                                        </p:tgtEl>
                                        <p:attrNameLst>
                                          <p:attrName>style.visibility</p:attrName>
                                        </p:attrNameLst>
                                      </p:cBhvr>
                                      <p:to>
                                        <p:strVal val="hidden"/>
                                      </p:to>
                                    </p:set>
                                  </p:childTnLst>
                                </p:cTn>
                              </p:par>
                            </p:childTnLst>
                          </p:cTn>
                        </p:par>
                        <p:par>
                          <p:cTn id="28" fill="hold">
                            <p:stCondLst>
                              <p:cond delay="6800"/>
                            </p:stCondLst>
                            <p:childTnLst>
                              <p:par>
                                <p:cTn id="29" presetID="22" presetClass="entr" presetSubtype="1" fill="hold" nodeType="afterEffect">
                                  <p:stCondLst>
                                    <p:cond delay="0"/>
                                  </p:stCondLst>
                                  <p:childTnLst>
                                    <p:set>
                                      <p:cBhvr>
                                        <p:cTn id="30" dur="1" fill="hold">
                                          <p:stCondLst>
                                            <p:cond delay="0"/>
                                          </p:stCondLst>
                                        </p:cTn>
                                        <p:tgtEl>
                                          <p:spTgt spid="51"/>
                                        </p:tgtEl>
                                        <p:attrNameLst>
                                          <p:attrName>style.visibility</p:attrName>
                                        </p:attrNameLst>
                                      </p:cBhvr>
                                      <p:to>
                                        <p:strVal val="visible"/>
                                      </p:to>
                                    </p:set>
                                    <p:animEffect transition="in" filter="wipe(up)">
                                      <p:cBhvr>
                                        <p:cTn id="31" dur="1000"/>
                                        <p:tgtEl>
                                          <p:spTgt spid="51"/>
                                        </p:tgtEl>
                                      </p:cBhvr>
                                    </p:animEffect>
                                  </p:childTnLst>
                                </p:cTn>
                              </p:par>
                            </p:childTnLst>
                          </p:cTn>
                        </p:par>
                        <p:par>
                          <p:cTn id="32" fill="hold">
                            <p:stCondLst>
                              <p:cond delay="7800"/>
                            </p:stCondLst>
                            <p:childTnLst>
                              <p:par>
                                <p:cTn id="33" presetID="22" presetClass="exit" presetSubtype="4" fill="hold" nodeType="afterEffect">
                                  <p:stCondLst>
                                    <p:cond delay="0"/>
                                  </p:stCondLst>
                                  <p:childTnLst>
                                    <p:animEffect transition="out" filter="wipe(down)">
                                      <p:cBhvr>
                                        <p:cTn id="34" dur="750"/>
                                        <p:tgtEl>
                                          <p:spTgt spid="50"/>
                                        </p:tgtEl>
                                      </p:cBhvr>
                                    </p:animEffect>
                                    <p:set>
                                      <p:cBhvr>
                                        <p:cTn id="35" dur="1" fill="hold">
                                          <p:stCondLst>
                                            <p:cond delay="749"/>
                                          </p:stCondLst>
                                        </p:cTn>
                                        <p:tgtEl>
                                          <p:spTgt spid="5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prstGeom prst="rect">
            <a:avLst/>
          </a:prstGeom>
        </p:spPr>
        <p:txBody>
          <a:bodyPr/>
          <a:lstStyle/>
          <a:p>
            <a:pPr marL="0" indent="0">
              <a:buNone/>
            </a:pPr>
            <a:r>
              <a:rPr lang="zh-CN" altLang="en-US" dirty="0"/>
              <a:t>分为三个阶段：</a:t>
            </a:r>
          </a:p>
          <a:p>
            <a:r>
              <a:rPr lang="zh-CN" altLang="en-US" dirty="0">
                <a:solidFill>
                  <a:srgbClr val="C00000"/>
                </a:solidFill>
              </a:rPr>
              <a:t>建立连接：</a:t>
            </a:r>
            <a:r>
              <a:rPr lang="zh-CN" altLang="en-US" dirty="0"/>
              <a:t>建立一条专用的物理通路（占用通信资源）。</a:t>
            </a:r>
            <a:endParaRPr lang="en-US" altLang="zh-CN" dirty="0"/>
          </a:p>
          <a:p>
            <a:r>
              <a:rPr lang="zh-CN" altLang="en-US" dirty="0">
                <a:solidFill>
                  <a:srgbClr val="C00000"/>
                </a:solidFill>
              </a:rPr>
              <a:t>通话：</a:t>
            </a:r>
            <a:r>
              <a:rPr lang="zh-CN" altLang="en-US" dirty="0"/>
              <a:t>主叫和被叫双方互相通电话（一直占用通信资源）。</a:t>
            </a:r>
          </a:p>
          <a:p>
            <a:r>
              <a:rPr lang="zh-CN" altLang="en-US" dirty="0">
                <a:solidFill>
                  <a:srgbClr val="C00000"/>
                </a:solidFill>
              </a:rPr>
              <a:t>释放连接：</a:t>
            </a:r>
            <a:r>
              <a:rPr lang="zh-CN" altLang="en-US" dirty="0"/>
              <a:t>释放刚才使用的专用的物理通路（归还通信资源）。</a:t>
            </a:r>
          </a:p>
          <a:p>
            <a:endParaRPr lang="zh-CN" altLang="en-US" dirty="0"/>
          </a:p>
        </p:txBody>
      </p:sp>
      <p:sp>
        <p:nvSpPr>
          <p:cNvPr id="3" name="文本占位符 2"/>
          <p:cNvSpPr>
            <a:spLocks noGrp="1"/>
          </p:cNvSpPr>
          <p:nvPr>
            <p:ph type="body" sz="quarter" idx="11"/>
          </p:nvPr>
        </p:nvSpPr>
        <p:spPr/>
        <p:txBody>
          <a:bodyPr/>
          <a:lstStyle/>
          <a:p>
            <a:r>
              <a:rPr lang="zh-CN" altLang="en-US" dirty="0"/>
              <a:t>电路交换特点</a:t>
            </a:r>
          </a:p>
        </p:txBody>
      </p:sp>
      <p:sp>
        <p:nvSpPr>
          <p:cNvPr id="5" name="圆角矩形 3"/>
          <p:cNvSpPr>
            <a:spLocks noChangeArrowheads="1"/>
          </p:cNvSpPr>
          <p:nvPr/>
        </p:nvSpPr>
        <p:spPr bwMode="auto">
          <a:xfrm>
            <a:off x="574766" y="2681948"/>
            <a:ext cx="7855131" cy="1095967"/>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defRPr/>
            </a:pPr>
            <a:endParaRPr lang="zh-CN" altLang="zh-CN" sz="2400" b="1" dirty="0">
              <a:solidFill>
                <a:schemeClr val="bg1"/>
              </a:solidFill>
              <a:latin typeface="微软雅黑" pitchFamily="34" charset="-122"/>
              <a:ea typeface="微软雅黑" pitchFamily="34" charset="-122"/>
            </a:endParaRPr>
          </a:p>
        </p:txBody>
      </p:sp>
      <p:sp>
        <p:nvSpPr>
          <p:cNvPr id="6" name="矩形 5"/>
          <p:cNvSpPr/>
          <p:nvPr/>
        </p:nvSpPr>
        <p:spPr>
          <a:xfrm>
            <a:off x="827313" y="2835078"/>
            <a:ext cx="7445829" cy="730777"/>
          </a:xfrm>
          <a:prstGeom prst="rect">
            <a:avLst/>
          </a:prstGeom>
        </p:spPr>
        <p:txBody>
          <a:bodyPr wrap="square">
            <a:spAutoFit/>
          </a:bodyPr>
          <a:lstStyle/>
          <a:p>
            <a:pP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这种必须经过“建立连接（占用通信资源）、通话（一直占用通信资源）、释放连接（归还通信资源）”三个步骤的交换方式称为</a:t>
            </a:r>
            <a:r>
              <a:rPr lang="zh-CN" altLang="en-US" b="1" dirty="0">
                <a:solidFill>
                  <a:srgbClr val="FFFF00"/>
                </a:solidFill>
                <a:latin typeface="微软雅黑" panose="020B0503020204020204" pitchFamily="34" charset="-122"/>
                <a:ea typeface="微软雅黑" panose="020B0503020204020204" pitchFamily="34" charset="-122"/>
              </a:rPr>
              <a:t>电路交换。</a:t>
            </a:r>
          </a:p>
        </p:txBody>
      </p:sp>
    </p:spTree>
    <p:extLst>
      <p:ext uri="{BB962C8B-B14F-4D97-AF65-F5344CB8AC3E}">
        <p14:creationId xmlns:p14="http://schemas.microsoft.com/office/powerpoint/2010/main" val="7200850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6"/>
          <p:cNvGrpSpPr/>
          <p:nvPr/>
        </p:nvGrpSpPr>
        <p:grpSpPr bwMode="auto">
          <a:xfrm>
            <a:off x="2421663" y="1114692"/>
            <a:ext cx="4343919" cy="2238103"/>
            <a:chOff x="1680" y="240"/>
            <a:chExt cx="2529" cy="1270"/>
          </a:xfrm>
          <a:solidFill>
            <a:srgbClr val="0098F6"/>
          </a:solidFill>
        </p:grpSpPr>
        <p:sp>
          <p:nvSpPr>
            <p:cNvPr id="6" name="Oval 7"/>
            <p:cNvSpPr>
              <a:spLocks noChangeArrowheads="1"/>
            </p:cNvSpPr>
            <p:nvPr/>
          </p:nvSpPr>
          <p:spPr bwMode="auto">
            <a:xfrm>
              <a:off x="2554" y="240"/>
              <a:ext cx="1088" cy="513"/>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7" name="Oval 8"/>
            <p:cNvSpPr>
              <a:spLocks noChangeArrowheads="1"/>
            </p:cNvSpPr>
            <p:nvPr/>
          </p:nvSpPr>
          <p:spPr bwMode="auto">
            <a:xfrm>
              <a:off x="1941" y="381"/>
              <a:ext cx="827" cy="513"/>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8" name="Oval 9"/>
            <p:cNvSpPr>
              <a:spLocks noChangeArrowheads="1"/>
            </p:cNvSpPr>
            <p:nvPr/>
          </p:nvSpPr>
          <p:spPr bwMode="auto">
            <a:xfrm>
              <a:off x="1680" y="702"/>
              <a:ext cx="552" cy="411"/>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9" name="Oval 10"/>
            <p:cNvSpPr>
              <a:spLocks noChangeArrowheads="1"/>
            </p:cNvSpPr>
            <p:nvPr/>
          </p:nvSpPr>
          <p:spPr bwMode="auto">
            <a:xfrm>
              <a:off x="1849" y="894"/>
              <a:ext cx="842" cy="450"/>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0" name="Oval 11"/>
            <p:cNvSpPr>
              <a:spLocks noChangeArrowheads="1"/>
            </p:cNvSpPr>
            <p:nvPr/>
          </p:nvSpPr>
          <p:spPr bwMode="auto">
            <a:xfrm>
              <a:off x="2462" y="971"/>
              <a:ext cx="1272" cy="539"/>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1" name="Oval 12"/>
            <p:cNvSpPr>
              <a:spLocks noChangeArrowheads="1"/>
            </p:cNvSpPr>
            <p:nvPr/>
          </p:nvSpPr>
          <p:spPr bwMode="auto">
            <a:xfrm>
              <a:off x="3289" y="394"/>
              <a:ext cx="797" cy="398"/>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2" name="Oval 13"/>
            <p:cNvSpPr>
              <a:spLocks noChangeArrowheads="1"/>
            </p:cNvSpPr>
            <p:nvPr/>
          </p:nvSpPr>
          <p:spPr bwMode="auto">
            <a:xfrm>
              <a:off x="3412" y="663"/>
              <a:ext cx="797" cy="398"/>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3" name="Oval 14"/>
            <p:cNvSpPr>
              <a:spLocks noChangeArrowheads="1"/>
            </p:cNvSpPr>
            <p:nvPr/>
          </p:nvSpPr>
          <p:spPr bwMode="auto">
            <a:xfrm>
              <a:off x="3335" y="753"/>
              <a:ext cx="797" cy="668"/>
            </a:xfrm>
            <a:prstGeom prst="ellipse">
              <a:avLst/>
            </a:prstGeom>
            <a:solidFill>
              <a:srgbClr val="C5E5FB"/>
            </a:solid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4" name="Oval 15"/>
            <p:cNvSpPr>
              <a:spLocks noChangeArrowheads="1"/>
            </p:cNvSpPr>
            <p:nvPr/>
          </p:nvSpPr>
          <p:spPr bwMode="auto">
            <a:xfrm>
              <a:off x="2140" y="548"/>
              <a:ext cx="1640" cy="667"/>
            </a:xfrm>
            <a:prstGeom prst="ellipse">
              <a:avLst/>
            </a:prstGeom>
            <a:solidFill>
              <a:srgbClr val="C5E5FB"/>
            </a:solid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15" name="Line 23"/>
          <p:cNvSpPr>
            <a:spLocks noChangeShapeType="1"/>
          </p:cNvSpPr>
          <p:nvPr/>
        </p:nvSpPr>
        <p:spPr bwMode="auto">
          <a:xfrm>
            <a:off x="3001310" y="2305489"/>
            <a:ext cx="3021012" cy="0"/>
          </a:xfrm>
          <a:prstGeom prst="line">
            <a:avLst/>
          </a:prstGeom>
          <a:noFill/>
          <a:ln w="38100" cmpd="dbl">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16" name="Text Box 24"/>
          <p:cNvSpPr txBox="1">
            <a:spLocks noChangeArrowheads="1"/>
          </p:cNvSpPr>
          <p:nvPr/>
        </p:nvSpPr>
        <p:spPr bwMode="auto">
          <a:xfrm>
            <a:off x="1278872" y="1786377"/>
            <a:ext cx="338138"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latin typeface="微软雅黑" panose="020B0503020204020204" pitchFamily="34" charset="-122"/>
                <a:ea typeface="微软雅黑" panose="020B0503020204020204" pitchFamily="34" charset="-122"/>
              </a:rPr>
              <a:t>A</a:t>
            </a:r>
          </a:p>
        </p:txBody>
      </p:sp>
      <p:sp>
        <p:nvSpPr>
          <p:cNvPr id="17" name="Text Box 25"/>
          <p:cNvSpPr txBox="1">
            <a:spLocks noChangeArrowheads="1"/>
          </p:cNvSpPr>
          <p:nvPr/>
        </p:nvSpPr>
        <p:spPr bwMode="auto">
          <a:xfrm>
            <a:off x="7351060" y="1786377"/>
            <a:ext cx="325437"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latin typeface="微软雅黑" panose="020B0503020204020204" pitchFamily="34" charset="-122"/>
                <a:ea typeface="微软雅黑" panose="020B0503020204020204" pitchFamily="34" charset="-122"/>
              </a:rPr>
              <a:t>B</a:t>
            </a:r>
          </a:p>
        </p:txBody>
      </p:sp>
      <p:sp>
        <p:nvSpPr>
          <p:cNvPr id="18" name="Line 26"/>
          <p:cNvSpPr>
            <a:spLocks noChangeShapeType="1"/>
          </p:cNvSpPr>
          <p:nvPr/>
        </p:nvSpPr>
        <p:spPr bwMode="auto">
          <a:xfrm>
            <a:off x="1563035" y="2305489"/>
            <a:ext cx="1314450" cy="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19" name="Line 27"/>
          <p:cNvSpPr>
            <a:spLocks noChangeShapeType="1"/>
          </p:cNvSpPr>
          <p:nvPr/>
        </p:nvSpPr>
        <p:spPr bwMode="auto">
          <a:xfrm>
            <a:off x="6084235" y="2305489"/>
            <a:ext cx="1400175" cy="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0" name="Text Box 28"/>
          <p:cNvSpPr txBox="1">
            <a:spLocks noChangeArrowheads="1"/>
          </p:cNvSpPr>
          <p:nvPr/>
        </p:nvSpPr>
        <p:spPr bwMode="auto">
          <a:xfrm>
            <a:off x="4449110" y="1269352"/>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latin typeface="微软雅黑" panose="020B0503020204020204" pitchFamily="34" charset="-122"/>
                <a:ea typeface="微软雅黑" panose="020B0503020204020204" pitchFamily="34" charset="-122"/>
              </a:rPr>
              <a:t>电信网</a:t>
            </a:r>
          </a:p>
        </p:txBody>
      </p:sp>
      <p:sp>
        <p:nvSpPr>
          <p:cNvPr id="21" name="Text Box 29"/>
          <p:cNvSpPr txBox="1">
            <a:spLocks noChangeArrowheads="1"/>
          </p:cNvSpPr>
          <p:nvPr/>
        </p:nvSpPr>
        <p:spPr bwMode="auto">
          <a:xfrm>
            <a:off x="2979085" y="1732402"/>
            <a:ext cx="723900" cy="306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2" name="Text Box 30"/>
          <p:cNvSpPr txBox="1">
            <a:spLocks noChangeArrowheads="1"/>
          </p:cNvSpPr>
          <p:nvPr/>
        </p:nvSpPr>
        <p:spPr bwMode="auto">
          <a:xfrm>
            <a:off x="3772835" y="1748277"/>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3" name="Text Box 31"/>
          <p:cNvSpPr txBox="1">
            <a:spLocks noChangeArrowheads="1"/>
          </p:cNvSpPr>
          <p:nvPr/>
        </p:nvSpPr>
        <p:spPr bwMode="auto">
          <a:xfrm>
            <a:off x="4733272" y="1748277"/>
            <a:ext cx="7223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4" name="Text Box 32"/>
          <p:cNvSpPr txBox="1">
            <a:spLocks noChangeArrowheads="1"/>
          </p:cNvSpPr>
          <p:nvPr/>
        </p:nvSpPr>
        <p:spPr bwMode="auto">
          <a:xfrm>
            <a:off x="5614335" y="1748277"/>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5" name="Text Box 34"/>
          <p:cNvSpPr txBox="1">
            <a:spLocks noChangeArrowheads="1"/>
          </p:cNvSpPr>
          <p:nvPr/>
        </p:nvSpPr>
        <p:spPr bwMode="auto">
          <a:xfrm>
            <a:off x="4176060" y="2908828"/>
            <a:ext cx="8001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b="1" dirty="0">
                <a:latin typeface="微软雅黑" panose="020B0503020204020204" pitchFamily="34" charset="-122"/>
                <a:ea typeface="微软雅黑" panose="020B0503020204020204" pitchFamily="34" charset="-122"/>
              </a:rPr>
              <a:t>中继线</a:t>
            </a:r>
          </a:p>
        </p:txBody>
      </p:sp>
      <p:sp>
        <p:nvSpPr>
          <p:cNvPr id="26" name="Line 35"/>
          <p:cNvSpPr>
            <a:spLocks noChangeShapeType="1"/>
          </p:cNvSpPr>
          <p:nvPr/>
        </p:nvSpPr>
        <p:spPr bwMode="auto">
          <a:xfrm>
            <a:off x="3442635" y="2324539"/>
            <a:ext cx="820689" cy="607285"/>
          </a:xfrm>
          <a:prstGeom prst="line">
            <a:avLst/>
          </a:prstGeom>
          <a:noFill/>
          <a:ln w="28575">
            <a:solidFill>
              <a:srgbClr val="0070C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7" name="Line 36"/>
          <p:cNvSpPr>
            <a:spLocks noChangeShapeType="1"/>
          </p:cNvSpPr>
          <p:nvPr/>
        </p:nvSpPr>
        <p:spPr bwMode="auto">
          <a:xfrm>
            <a:off x="4568172" y="2338827"/>
            <a:ext cx="0" cy="577850"/>
          </a:xfrm>
          <a:prstGeom prst="line">
            <a:avLst/>
          </a:prstGeom>
          <a:noFill/>
          <a:ln w="28575">
            <a:solidFill>
              <a:srgbClr val="0070C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8" name="Line 37"/>
          <p:cNvSpPr>
            <a:spLocks noChangeShapeType="1"/>
          </p:cNvSpPr>
          <p:nvPr/>
        </p:nvSpPr>
        <p:spPr bwMode="auto">
          <a:xfrm flipH="1">
            <a:off x="4869845" y="2346005"/>
            <a:ext cx="825223" cy="591332"/>
          </a:xfrm>
          <a:prstGeom prst="line">
            <a:avLst/>
          </a:prstGeom>
          <a:noFill/>
          <a:ln w="28575">
            <a:solidFill>
              <a:srgbClr val="0070C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9" name="Line 38"/>
          <p:cNvSpPr>
            <a:spLocks noChangeShapeType="1"/>
          </p:cNvSpPr>
          <p:nvPr/>
        </p:nvSpPr>
        <p:spPr bwMode="auto">
          <a:xfrm flipH="1">
            <a:off x="2163110" y="2313427"/>
            <a:ext cx="231775" cy="404812"/>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0" name="Line 39"/>
          <p:cNvSpPr>
            <a:spLocks noChangeShapeType="1"/>
          </p:cNvSpPr>
          <p:nvPr/>
        </p:nvSpPr>
        <p:spPr bwMode="auto">
          <a:xfrm>
            <a:off x="6887510" y="2313427"/>
            <a:ext cx="114300" cy="3905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1" name="Text Box 40"/>
          <p:cNvSpPr txBox="1">
            <a:spLocks noChangeArrowheads="1"/>
          </p:cNvSpPr>
          <p:nvPr/>
        </p:nvSpPr>
        <p:spPr bwMode="auto">
          <a:xfrm>
            <a:off x="1802747" y="2726177"/>
            <a:ext cx="7223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用户线</a:t>
            </a:r>
          </a:p>
        </p:txBody>
      </p:sp>
      <p:sp>
        <p:nvSpPr>
          <p:cNvPr id="32" name="Text Box 41"/>
          <p:cNvSpPr txBox="1">
            <a:spLocks noChangeArrowheads="1"/>
          </p:cNvSpPr>
          <p:nvPr/>
        </p:nvSpPr>
        <p:spPr bwMode="auto">
          <a:xfrm>
            <a:off x="6662085" y="2718239"/>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用户线</a:t>
            </a:r>
          </a:p>
        </p:txBody>
      </p:sp>
      <p:grpSp>
        <p:nvGrpSpPr>
          <p:cNvPr id="33" name="Group 56"/>
          <p:cNvGrpSpPr/>
          <p:nvPr/>
        </p:nvGrpSpPr>
        <p:grpSpPr bwMode="auto">
          <a:xfrm flipH="1">
            <a:off x="6330297" y="2079355"/>
            <a:ext cx="863600" cy="131762"/>
            <a:chOff x="1519" y="2160"/>
            <a:chExt cx="953" cy="227"/>
          </a:xfrm>
        </p:grpSpPr>
        <p:sp>
          <p:nvSpPr>
            <p:cNvPr id="34" name="Freeform 57"/>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5" name="Freeform 58"/>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6" name="Freeform 59"/>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7" name="Freeform 60"/>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8" name="Line 61"/>
            <p:cNvSpPr>
              <a:spLocks noChangeShapeType="1"/>
            </p:cNvSpPr>
            <p:nvPr/>
          </p:nvSpPr>
          <p:spPr bwMode="auto">
            <a:xfrm>
              <a:off x="2109" y="2258"/>
              <a:ext cx="363" cy="0"/>
            </a:xfrm>
            <a:prstGeom prst="line">
              <a:avLst/>
            </a:prstGeom>
            <a:noFill/>
            <a:ln w="1905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grpSp>
        <p:nvGrpSpPr>
          <p:cNvPr id="39" name="Group 64"/>
          <p:cNvGrpSpPr/>
          <p:nvPr/>
        </p:nvGrpSpPr>
        <p:grpSpPr bwMode="auto">
          <a:xfrm>
            <a:off x="1748772" y="2053955"/>
            <a:ext cx="863600" cy="131762"/>
            <a:chOff x="1519" y="2160"/>
            <a:chExt cx="953" cy="227"/>
          </a:xfrm>
        </p:grpSpPr>
        <p:sp>
          <p:nvSpPr>
            <p:cNvPr id="40" name="Freeform 65"/>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1" name="Freeform 66"/>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2" name="Freeform 67"/>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3" name="Freeform 68"/>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4" name="Line 69"/>
            <p:cNvSpPr>
              <a:spLocks noChangeShapeType="1"/>
            </p:cNvSpPr>
            <p:nvPr/>
          </p:nvSpPr>
          <p:spPr bwMode="auto">
            <a:xfrm>
              <a:off x="2109" y="2258"/>
              <a:ext cx="363" cy="0"/>
            </a:xfrm>
            <a:prstGeom prst="line">
              <a:avLst/>
            </a:prstGeom>
            <a:noFill/>
            <a:ln w="1905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sp>
        <p:nvSpPr>
          <p:cNvPr id="45" name="Freeform 71"/>
          <p:cNvSpPr/>
          <p:nvPr/>
        </p:nvSpPr>
        <p:spPr bwMode="auto">
          <a:xfrm>
            <a:off x="3228322" y="2103167"/>
            <a:ext cx="61595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0000FF"/>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6" name="Freeform 72"/>
          <p:cNvSpPr/>
          <p:nvPr/>
        </p:nvSpPr>
        <p:spPr bwMode="auto">
          <a:xfrm>
            <a:off x="4276072" y="2103167"/>
            <a:ext cx="61595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0000FF"/>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7" name="Freeform 73"/>
          <p:cNvSpPr/>
          <p:nvPr/>
        </p:nvSpPr>
        <p:spPr bwMode="auto">
          <a:xfrm>
            <a:off x="5263497" y="2103167"/>
            <a:ext cx="61595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0000FF"/>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8" name="立方体 47"/>
          <p:cNvSpPr/>
          <p:nvPr/>
        </p:nvSpPr>
        <p:spPr>
          <a:xfrm>
            <a:off x="2796522" y="2057839"/>
            <a:ext cx="387350"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立方体 48"/>
          <p:cNvSpPr/>
          <p:nvPr/>
        </p:nvSpPr>
        <p:spPr>
          <a:xfrm>
            <a:off x="3879197" y="2057839"/>
            <a:ext cx="387350"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立方体 49"/>
          <p:cNvSpPr/>
          <p:nvPr/>
        </p:nvSpPr>
        <p:spPr>
          <a:xfrm>
            <a:off x="4880910" y="2057839"/>
            <a:ext cx="388937"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立方体 50"/>
          <p:cNvSpPr/>
          <p:nvPr/>
        </p:nvSpPr>
        <p:spPr>
          <a:xfrm>
            <a:off x="5882622" y="2057839"/>
            <a:ext cx="388938"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Text Box 24"/>
          <p:cNvSpPr txBox="1">
            <a:spLocks noChangeArrowheads="1"/>
          </p:cNvSpPr>
          <p:nvPr/>
        </p:nvSpPr>
        <p:spPr bwMode="auto">
          <a:xfrm>
            <a:off x="2763185" y="2405354"/>
            <a:ext cx="32252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dirty="0">
                <a:solidFill>
                  <a:srgbClr val="0000FF"/>
                </a:solidFill>
                <a:latin typeface="微软雅黑" panose="020B0503020204020204" pitchFamily="34" charset="-122"/>
                <a:ea typeface="微软雅黑" panose="020B0503020204020204" pitchFamily="34" charset="-122"/>
              </a:rPr>
              <a:t>C</a:t>
            </a:r>
          </a:p>
        </p:txBody>
      </p:sp>
      <p:sp>
        <p:nvSpPr>
          <p:cNvPr id="53" name="Text Box 24"/>
          <p:cNvSpPr txBox="1">
            <a:spLocks noChangeArrowheads="1"/>
          </p:cNvSpPr>
          <p:nvPr/>
        </p:nvSpPr>
        <p:spPr bwMode="auto">
          <a:xfrm>
            <a:off x="3842685" y="2405354"/>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54" name="Text Box 24"/>
          <p:cNvSpPr txBox="1">
            <a:spLocks noChangeArrowheads="1"/>
          </p:cNvSpPr>
          <p:nvPr/>
        </p:nvSpPr>
        <p:spPr bwMode="auto">
          <a:xfrm>
            <a:off x="4861860" y="2405354"/>
            <a:ext cx="30168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55" name="Text Box 24"/>
          <p:cNvSpPr txBox="1">
            <a:spLocks noChangeArrowheads="1"/>
          </p:cNvSpPr>
          <p:nvPr/>
        </p:nvSpPr>
        <p:spPr bwMode="auto">
          <a:xfrm>
            <a:off x="5879447" y="240535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solidFill>
                  <a:srgbClr val="0000FF"/>
                </a:solidFill>
                <a:latin typeface="微软雅黑" panose="020B0503020204020204" pitchFamily="34" charset="-122"/>
                <a:ea typeface="微软雅黑" panose="020B0503020204020204" pitchFamily="34" charset="-122"/>
              </a:rPr>
              <a:t>F</a:t>
            </a:r>
          </a:p>
        </p:txBody>
      </p:sp>
      <p:sp>
        <p:nvSpPr>
          <p:cNvPr id="56" name="Line 26"/>
          <p:cNvSpPr>
            <a:spLocks noChangeShapeType="1"/>
          </p:cNvSpPr>
          <p:nvPr/>
        </p:nvSpPr>
        <p:spPr bwMode="auto">
          <a:xfrm>
            <a:off x="1563035" y="2260529"/>
            <a:ext cx="5788025" cy="0"/>
          </a:xfrm>
          <a:prstGeom prst="line">
            <a:avLst/>
          </a:prstGeom>
          <a:noFill/>
          <a:ln w="38100">
            <a:solidFill>
              <a:srgbClr val="C00000"/>
            </a:solidFill>
            <a:prstDash val="sysDot"/>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pic>
        <p:nvPicPr>
          <p:cNvPr id="57" name="图片 48"/>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85210" y="2078477"/>
            <a:ext cx="588962"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图片 49"/>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220885" y="2078477"/>
            <a:ext cx="58737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 name="圆角矩形 3"/>
          <p:cNvSpPr>
            <a:spLocks noChangeArrowheads="1"/>
          </p:cNvSpPr>
          <p:nvPr/>
        </p:nvSpPr>
        <p:spPr bwMode="auto">
          <a:xfrm>
            <a:off x="957945" y="3417211"/>
            <a:ext cx="7110090" cy="1163498"/>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pPr>
            <a:endParaRPr lang="zh-CN" altLang="zh-CN" sz="2400" b="1" dirty="0">
              <a:solidFill>
                <a:schemeClr val="bg1"/>
              </a:solidFill>
              <a:latin typeface="微软雅黑" pitchFamily="34" charset="-122"/>
              <a:ea typeface="微软雅黑" pitchFamily="34" charset="-122"/>
            </a:endParaRPr>
          </a:p>
        </p:txBody>
      </p:sp>
      <p:sp>
        <p:nvSpPr>
          <p:cNvPr id="61" name="矩形 60"/>
          <p:cNvSpPr/>
          <p:nvPr/>
        </p:nvSpPr>
        <p:spPr>
          <a:xfrm>
            <a:off x="1132116" y="3504796"/>
            <a:ext cx="6778499" cy="1015663"/>
          </a:xfrm>
          <a:prstGeom prst="rect">
            <a:avLst/>
          </a:prstGeom>
        </p:spPr>
        <p:txBody>
          <a:bodyPr wrap="square">
            <a:spAutoFit/>
          </a:bodyPr>
          <a:lstStyle/>
          <a:p>
            <a:pPr>
              <a:lnSpc>
                <a:spcPts val="2400"/>
              </a:lnSpc>
            </a:pPr>
            <a:r>
              <a:rPr lang="zh-CN" altLang="en-US" sz="1700" b="1" dirty="0">
                <a:solidFill>
                  <a:schemeClr val="bg1"/>
                </a:solidFill>
                <a:latin typeface="微软雅黑" panose="020B0503020204020204" pitchFamily="34" charset="-122"/>
                <a:ea typeface="微软雅黑" panose="020B0503020204020204" pitchFamily="34" charset="-122"/>
              </a:rPr>
              <a:t>计算机数据具有</a:t>
            </a:r>
            <a:r>
              <a:rPr lang="zh-CN" altLang="en-US" sz="1700" b="1" dirty="0">
                <a:solidFill>
                  <a:srgbClr val="FFFF00"/>
                </a:solidFill>
                <a:latin typeface="微软雅黑" panose="020B0503020204020204" pitchFamily="34" charset="-122"/>
                <a:ea typeface="微软雅黑" panose="020B0503020204020204" pitchFamily="34" charset="-122"/>
              </a:rPr>
              <a:t>突发性，</a:t>
            </a:r>
            <a:r>
              <a:rPr lang="zh-CN" altLang="en-US" sz="1700" b="1" dirty="0">
                <a:solidFill>
                  <a:schemeClr val="bg1"/>
                </a:solidFill>
                <a:latin typeface="微软雅黑" panose="020B0503020204020204" pitchFamily="34" charset="-122"/>
                <a:ea typeface="微软雅黑" panose="020B0503020204020204" pitchFamily="34" charset="-122"/>
              </a:rPr>
              <a:t>这导致在传送数据时，通信线路的利用率很低，真正用来传送数据的时间往往不到 </a:t>
            </a:r>
            <a:r>
              <a:rPr lang="en-US" altLang="zh-CN" sz="1700" b="1" dirty="0">
                <a:solidFill>
                  <a:schemeClr val="bg1"/>
                </a:solidFill>
                <a:latin typeface="微软雅黑" panose="020B0503020204020204" pitchFamily="34" charset="-122"/>
                <a:ea typeface="微软雅黑" panose="020B0503020204020204" pitchFamily="34" charset="-122"/>
              </a:rPr>
              <a:t>10%</a:t>
            </a:r>
            <a:r>
              <a:rPr lang="zh-CN" altLang="en-US" sz="1700" b="1" dirty="0">
                <a:solidFill>
                  <a:schemeClr val="bg1"/>
                </a:solidFill>
                <a:latin typeface="微软雅黑" panose="020B0503020204020204" pitchFamily="34" charset="-122"/>
                <a:ea typeface="微软雅黑" panose="020B0503020204020204" pitchFamily="34" charset="-122"/>
              </a:rPr>
              <a:t>，甚至不到 </a:t>
            </a:r>
            <a:r>
              <a:rPr lang="en-US" altLang="zh-CN" sz="1700" b="1" dirty="0">
                <a:solidFill>
                  <a:schemeClr val="bg1"/>
                </a:solidFill>
                <a:latin typeface="微软雅黑" panose="020B0503020204020204" pitchFamily="34" charset="-122"/>
                <a:ea typeface="微软雅黑" panose="020B0503020204020204" pitchFamily="34" charset="-122"/>
              </a:rPr>
              <a:t>1%</a:t>
            </a:r>
            <a:r>
              <a:rPr lang="zh-CN" altLang="en-US" sz="1700" b="1" dirty="0">
                <a:solidFill>
                  <a:schemeClr val="bg1"/>
                </a:solidFill>
                <a:latin typeface="微软雅黑" panose="020B0503020204020204" pitchFamily="34" charset="-122"/>
                <a:ea typeface="微软雅黑" panose="020B0503020204020204" pitchFamily="34" charset="-122"/>
              </a:rPr>
              <a:t>，已被用户占用的通信线路资源在绝大部分时间里都是空闲的。</a:t>
            </a:r>
            <a:endParaRPr lang="zh-CN" altLang="en-US" sz="1700" b="1" dirty="0">
              <a:solidFill>
                <a:srgbClr val="800000"/>
              </a:solidFill>
              <a:latin typeface="微软雅黑" panose="020B0503020204020204" pitchFamily="34" charset="-122"/>
              <a:ea typeface="微软雅黑" panose="020B0503020204020204" pitchFamily="34" charset="-122"/>
            </a:endParaRPr>
          </a:p>
        </p:txBody>
      </p:sp>
      <p:sp>
        <p:nvSpPr>
          <p:cNvPr id="2" name="文本占位符 1"/>
          <p:cNvSpPr>
            <a:spLocks noGrp="1"/>
          </p:cNvSpPr>
          <p:nvPr>
            <p:ph type="body" sz="quarter" idx="11"/>
          </p:nvPr>
        </p:nvSpPr>
        <p:spPr>
          <a:xfrm>
            <a:off x="957945" y="609269"/>
            <a:ext cx="7207487" cy="354012"/>
          </a:xfrm>
        </p:spPr>
        <p:txBody>
          <a:bodyPr/>
          <a:lstStyle/>
          <a:p>
            <a:r>
              <a:rPr lang="zh-CN" altLang="en-US" dirty="0">
                <a:solidFill>
                  <a:srgbClr val="FFFF00"/>
                </a:solidFill>
              </a:rPr>
              <a:t>电路交换特点：</a:t>
            </a:r>
            <a:r>
              <a:rPr lang="zh-CN" altLang="en-US" dirty="0"/>
              <a:t>通话的两个用户</a:t>
            </a:r>
            <a:r>
              <a:rPr lang="zh-CN" altLang="en-US" dirty="0">
                <a:solidFill>
                  <a:srgbClr val="FFFF00"/>
                </a:solidFill>
              </a:rPr>
              <a:t>始终占用</a:t>
            </a:r>
            <a:r>
              <a:rPr lang="zh-CN" altLang="en-US" dirty="0"/>
              <a:t>端到端的通信资源</a:t>
            </a:r>
          </a:p>
        </p:txBody>
      </p:sp>
    </p:spTree>
    <p:extLst>
      <p:ext uri="{BB962C8B-B14F-4D97-AF65-F5344CB8AC3E}">
        <p14:creationId xmlns:p14="http://schemas.microsoft.com/office/powerpoint/2010/main" val="69453570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1000"/>
                                  </p:stCondLst>
                                  <p:childTnLst>
                                    <p:set>
                                      <p:cBhvr>
                                        <p:cTn id="6" dur="1" fill="hold">
                                          <p:stCondLst>
                                            <p:cond delay="0"/>
                                          </p:stCondLst>
                                        </p:cTn>
                                        <p:tgtEl>
                                          <p:spTgt spid="56"/>
                                        </p:tgtEl>
                                        <p:attrNameLst>
                                          <p:attrName>style.visibility</p:attrName>
                                        </p:attrNameLst>
                                      </p:cBhvr>
                                      <p:to>
                                        <p:strVal val="visible"/>
                                      </p:to>
                                    </p:set>
                                    <p:animEffect transition="in" filter="wipe(left)">
                                      <p:cBhvr>
                                        <p:cTn id="7" dur="4000"/>
                                        <p:tgtEl>
                                          <p:spTgt spid="56"/>
                                        </p:tgtEl>
                                      </p:cBhvr>
                                    </p:animEffect>
                                  </p:childTnLst>
                                </p:cTn>
                              </p:par>
                            </p:childTnLst>
                          </p:cTn>
                        </p:par>
                        <p:par>
                          <p:cTn id="8" fill="hold">
                            <p:stCondLst>
                              <p:cond delay="5000"/>
                            </p:stCondLst>
                            <p:childTnLst>
                              <p:par>
                                <p:cTn id="9" presetID="35" presetClass="emph" presetSubtype="0" repeatCount="5000" fill="hold" grpId="1" nodeType="afterEffect">
                                  <p:stCondLst>
                                    <p:cond delay="0"/>
                                  </p:stCondLst>
                                  <p:childTnLst>
                                    <p:anim calcmode="discrete" valueType="str">
                                      <p:cBhvr>
                                        <p:cTn id="10" dur="1000" fill="hold"/>
                                        <p:tgtEl>
                                          <p:spTgt spid="56"/>
                                        </p:tgtEl>
                                        <p:attrNameLst>
                                          <p:attrName>style.visibility</p:attrName>
                                        </p:attrNameLst>
                                      </p:cBhvr>
                                      <p:tavLst>
                                        <p:tav tm="0">
                                          <p:val>
                                            <p:strVal val="hidden"/>
                                          </p:val>
                                        </p:tav>
                                        <p:tav tm="50000">
                                          <p:val>
                                            <p:strVal val="visible"/>
                                          </p:val>
                                        </p:tav>
                                      </p:tavLst>
                                    </p:anim>
                                  </p:childTnLst>
                                </p:cTn>
                              </p:par>
                            </p:childTnLst>
                          </p:cTn>
                        </p:par>
                        <p:par>
                          <p:cTn id="11" fill="hold">
                            <p:stCondLst>
                              <p:cond delay="10000"/>
                            </p:stCondLst>
                            <p:childTnLst>
                              <p:par>
                                <p:cTn id="12" presetID="22" presetClass="exit" presetSubtype="2" fill="hold" grpId="2" nodeType="afterEffect">
                                  <p:stCondLst>
                                    <p:cond delay="0"/>
                                  </p:stCondLst>
                                  <p:childTnLst>
                                    <p:animEffect transition="out" filter="wipe(right)">
                                      <p:cBhvr>
                                        <p:cTn id="13" dur="3000"/>
                                        <p:tgtEl>
                                          <p:spTgt spid="56"/>
                                        </p:tgtEl>
                                      </p:cBhvr>
                                    </p:animEffect>
                                    <p:set>
                                      <p:cBhvr>
                                        <p:cTn id="14" dur="1" fill="hold">
                                          <p:stCondLst>
                                            <p:cond delay="2999"/>
                                          </p:stCondLst>
                                        </p:cTn>
                                        <p:tgtEl>
                                          <p:spTgt spid="5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6" grpId="1" animBg="1"/>
      <p:bldP spid="56" grpId="2"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zh-CN" altLang="en-US" dirty="0"/>
              <a:t>采用</a:t>
            </a:r>
            <a:r>
              <a:rPr lang="zh-CN" altLang="en-US" dirty="0">
                <a:solidFill>
                  <a:srgbClr val="C00000"/>
                </a:solidFill>
              </a:rPr>
              <a:t>存储转发</a:t>
            </a:r>
            <a:r>
              <a:rPr lang="zh-CN" altLang="en-US" dirty="0"/>
              <a:t>技术。</a:t>
            </a:r>
          </a:p>
          <a:p>
            <a:endParaRPr lang="zh-CN" altLang="en-US" dirty="0"/>
          </a:p>
        </p:txBody>
      </p:sp>
      <p:sp>
        <p:nvSpPr>
          <p:cNvPr id="3" name="文本占位符 2"/>
          <p:cNvSpPr>
            <a:spLocks noGrp="1"/>
          </p:cNvSpPr>
          <p:nvPr>
            <p:ph type="body" sz="quarter" idx="11"/>
          </p:nvPr>
        </p:nvSpPr>
        <p:spPr/>
        <p:txBody>
          <a:bodyPr/>
          <a:lstStyle/>
          <a:p>
            <a:r>
              <a:rPr lang="en-US" altLang="zh-CN" dirty="0"/>
              <a:t>2. </a:t>
            </a:r>
            <a:r>
              <a:rPr lang="zh-CN" altLang="en-US" dirty="0"/>
              <a:t>分组交换的主要特点</a:t>
            </a:r>
          </a:p>
        </p:txBody>
      </p:sp>
      <p:sp>
        <p:nvSpPr>
          <p:cNvPr id="4" name="Line 8"/>
          <p:cNvSpPr>
            <a:spLocks noChangeShapeType="1"/>
          </p:cNvSpPr>
          <p:nvPr/>
        </p:nvSpPr>
        <p:spPr bwMode="auto">
          <a:xfrm>
            <a:off x="1511345" y="1936752"/>
            <a:ext cx="5616575"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Text Box 9"/>
          <p:cNvSpPr txBox="1">
            <a:spLocks noChangeArrowheads="1"/>
          </p:cNvSpPr>
          <p:nvPr/>
        </p:nvSpPr>
        <p:spPr bwMode="auto">
          <a:xfrm>
            <a:off x="4008482" y="1785940"/>
            <a:ext cx="593725" cy="3381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b="1">
                <a:latin typeface="微软雅黑" panose="020B0503020204020204" pitchFamily="34" charset="-122"/>
                <a:ea typeface="微软雅黑" panose="020B0503020204020204" pitchFamily="34" charset="-122"/>
              </a:rPr>
              <a:t>报文</a:t>
            </a:r>
          </a:p>
        </p:txBody>
      </p:sp>
      <p:sp>
        <p:nvSpPr>
          <p:cNvPr id="6" name="Rectangle 74"/>
          <p:cNvSpPr>
            <a:spLocks noChangeArrowheads="1"/>
          </p:cNvSpPr>
          <p:nvPr/>
        </p:nvSpPr>
        <p:spPr bwMode="auto">
          <a:xfrm>
            <a:off x="1511345" y="2152652"/>
            <a:ext cx="5747242" cy="431800"/>
          </a:xfrm>
          <a:prstGeom prst="rect">
            <a:avLst/>
          </a:prstGeom>
          <a:solidFill>
            <a:srgbClr val="CDF3CD"/>
          </a:solidFill>
          <a:ln w="19050">
            <a:solidFill>
              <a:srgbClr val="00CC00"/>
            </a:solidFill>
            <a:miter lim="800000"/>
          </a:ln>
        </p:spPr>
        <p:txBody>
          <a:bodyPr wrap="none" anchor="ctr"/>
          <a:lstStyle/>
          <a:p>
            <a:endParaRPr lang="zh-CN" altLang="en-US" b="1">
              <a:solidFill>
                <a:srgbClr val="000099"/>
              </a:solidFill>
            </a:endParaRPr>
          </a:p>
        </p:txBody>
      </p:sp>
      <p:cxnSp>
        <p:nvCxnSpPr>
          <p:cNvPr id="10" name="直接连接符 10"/>
          <p:cNvCxnSpPr>
            <a:cxnSpLocks noChangeShapeType="1"/>
          </p:cNvCxnSpPr>
          <p:nvPr/>
        </p:nvCxnSpPr>
        <p:spPr bwMode="auto">
          <a:xfrm>
            <a:off x="1512932" y="1697040"/>
            <a:ext cx="0" cy="400050"/>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直接连接符 11"/>
          <p:cNvCxnSpPr>
            <a:cxnSpLocks noChangeShapeType="1"/>
          </p:cNvCxnSpPr>
          <p:nvPr/>
        </p:nvCxnSpPr>
        <p:spPr bwMode="auto">
          <a:xfrm>
            <a:off x="7242675" y="1697040"/>
            <a:ext cx="0" cy="400050"/>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Text Box 76"/>
          <p:cNvSpPr txBox="1">
            <a:spLocks noChangeArrowheads="1"/>
          </p:cNvSpPr>
          <p:nvPr/>
        </p:nvSpPr>
        <p:spPr bwMode="auto">
          <a:xfrm>
            <a:off x="1476510" y="2164581"/>
            <a:ext cx="5908356"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2100" b="1" dirty="0">
                <a:solidFill>
                  <a:srgbClr val="0000FF"/>
                </a:solidFill>
              </a:rPr>
              <a:t>110100011010101011010101110001001101001011</a:t>
            </a:r>
          </a:p>
        </p:txBody>
      </p:sp>
      <p:grpSp>
        <p:nvGrpSpPr>
          <p:cNvPr id="13" name="组合 12"/>
          <p:cNvGrpSpPr/>
          <p:nvPr/>
        </p:nvGrpSpPr>
        <p:grpSpPr>
          <a:xfrm>
            <a:off x="1587729" y="2210760"/>
            <a:ext cx="5637534" cy="323557"/>
            <a:chOff x="1909947" y="3247087"/>
            <a:chExt cx="5637534" cy="323557"/>
          </a:xfrm>
        </p:grpSpPr>
        <p:sp>
          <p:nvSpPr>
            <p:cNvPr id="14" name="矩形 13"/>
            <p:cNvSpPr/>
            <p:nvPr/>
          </p:nvSpPr>
          <p:spPr>
            <a:xfrm>
              <a:off x="1909947" y="3247087"/>
              <a:ext cx="1993503" cy="323557"/>
            </a:xfrm>
            <a:prstGeom prst="rect">
              <a:avLst/>
            </a:prstGeom>
            <a:solidFill>
              <a:srgbClr val="66CCFF">
                <a:alpha val="40000"/>
              </a:srgbClr>
            </a:solidFill>
            <a:ln>
              <a:solidFill>
                <a:srgbClr val="0000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3903450" y="3247087"/>
              <a:ext cx="1926610" cy="323557"/>
            </a:xfrm>
            <a:prstGeom prst="rect">
              <a:avLst/>
            </a:prstGeom>
            <a:solidFill>
              <a:srgbClr val="66CCFF">
                <a:alpha val="40000"/>
              </a:srgbClr>
            </a:solidFill>
            <a:ln>
              <a:solidFill>
                <a:srgbClr val="0000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nvSpPr>
          <p:spPr>
            <a:xfrm>
              <a:off x="5827281" y="3247087"/>
              <a:ext cx="1720200" cy="323557"/>
            </a:xfrm>
            <a:prstGeom prst="rect">
              <a:avLst/>
            </a:prstGeom>
            <a:solidFill>
              <a:srgbClr val="66CCFF">
                <a:alpha val="40000"/>
              </a:srgbClr>
            </a:solidFill>
            <a:ln>
              <a:solidFill>
                <a:srgbClr val="0000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7" name="矩形 16"/>
          <p:cNvSpPr/>
          <p:nvPr/>
        </p:nvSpPr>
        <p:spPr>
          <a:xfrm>
            <a:off x="1511345" y="2788339"/>
            <a:ext cx="57472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在发送端，先把较长的报文划分成更小的等长数据段。 </a:t>
            </a:r>
          </a:p>
        </p:txBody>
      </p:sp>
    </p:spTree>
    <p:extLst>
      <p:ext uri="{BB962C8B-B14F-4D97-AF65-F5344CB8AC3E}">
        <p14:creationId xmlns:p14="http://schemas.microsoft.com/office/powerpoint/2010/main" val="31281174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10000" fill="hold" nodeType="afterEffect">
                                  <p:stCondLst>
                                    <p:cond delay="0"/>
                                  </p:stCondLst>
                                  <p:childTnLst>
                                    <p:anim calcmode="discrete" valueType="str">
                                      <p:cBhvr>
                                        <p:cTn id="6" dur="1000" fill="hold"/>
                                        <p:tgtEl>
                                          <p:spTgt spid="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2"/>
          <p:cNvSpPr>
            <a:spLocks noChangeArrowheads="1"/>
          </p:cNvSpPr>
          <p:nvPr/>
        </p:nvSpPr>
        <p:spPr bwMode="auto">
          <a:xfrm>
            <a:off x="2009821" y="1517097"/>
            <a:ext cx="1870075" cy="431800"/>
          </a:xfrm>
          <a:prstGeom prst="rect">
            <a:avLst/>
          </a:prstGeom>
          <a:solidFill>
            <a:srgbClr val="B1D8F9"/>
          </a:solidFill>
          <a:ln w="28575">
            <a:solidFill>
              <a:srgbClr val="000099"/>
            </a:solidFill>
            <a:miter lim="800000"/>
          </a:ln>
        </p:spPr>
        <p:txBody>
          <a:bodyPr wrap="none" anchor="ctr"/>
          <a:lstStyle/>
          <a:p>
            <a:pPr algn="ctr"/>
            <a:r>
              <a:rPr lang="zh-CN" altLang="en-US" b="1">
                <a:solidFill>
                  <a:prstClr val="black"/>
                </a:solidFill>
                <a:latin typeface="微软雅黑" panose="020B0503020204020204" pitchFamily="34" charset="-122"/>
                <a:ea typeface="微软雅黑" panose="020B0503020204020204" pitchFamily="34" charset="-122"/>
              </a:rPr>
              <a:t>数     据</a:t>
            </a:r>
          </a:p>
        </p:txBody>
      </p:sp>
      <p:sp>
        <p:nvSpPr>
          <p:cNvPr id="20" name="Rectangle 13"/>
          <p:cNvSpPr>
            <a:spLocks noChangeArrowheads="1"/>
          </p:cNvSpPr>
          <p:nvPr/>
        </p:nvSpPr>
        <p:spPr bwMode="auto">
          <a:xfrm>
            <a:off x="3881483" y="1517097"/>
            <a:ext cx="1871663" cy="431800"/>
          </a:xfrm>
          <a:prstGeom prst="rect">
            <a:avLst/>
          </a:prstGeom>
          <a:solidFill>
            <a:srgbClr val="B1D8F9"/>
          </a:solidFill>
          <a:ln w="28575">
            <a:solidFill>
              <a:srgbClr val="000099"/>
            </a:solidFill>
            <a:miter lim="800000"/>
          </a:ln>
        </p:spPr>
        <p:txBody>
          <a:bodyPr wrap="none" anchor="ctr"/>
          <a:lstStyle/>
          <a:p>
            <a:pPr algn="ctr"/>
            <a:r>
              <a:rPr lang="zh-CN" altLang="en-US" b="1">
                <a:solidFill>
                  <a:prstClr val="black"/>
                </a:solidFill>
                <a:latin typeface="微软雅黑" panose="020B0503020204020204" pitchFamily="34" charset="-122"/>
                <a:ea typeface="微软雅黑" panose="020B0503020204020204" pitchFamily="34" charset="-122"/>
              </a:rPr>
              <a:t>数     据</a:t>
            </a:r>
          </a:p>
        </p:txBody>
      </p:sp>
      <p:sp>
        <p:nvSpPr>
          <p:cNvPr id="21" name="Rectangle 14"/>
          <p:cNvSpPr>
            <a:spLocks noChangeArrowheads="1"/>
          </p:cNvSpPr>
          <p:nvPr/>
        </p:nvSpPr>
        <p:spPr bwMode="auto">
          <a:xfrm>
            <a:off x="5754733" y="1517097"/>
            <a:ext cx="1871663" cy="431800"/>
          </a:xfrm>
          <a:prstGeom prst="rect">
            <a:avLst/>
          </a:prstGeom>
          <a:solidFill>
            <a:srgbClr val="B1D8F9"/>
          </a:solidFill>
          <a:ln w="28575">
            <a:solidFill>
              <a:srgbClr val="000099"/>
            </a:solidFill>
            <a:miter lim="800000"/>
          </a:ln>
        </p:spPr>
        <p:txBody>
          <a:bodyPr wrap="none" anchor="ctr"/>
          <a:lstStyle/>
          <a:p>
            <a:pPr algn="ctr"/>
            <a:r>
              <a:rPr lang="zh-CN" altLang="en-US" b="1" dirty="0">
                <a:solidFill>
                  <a:prstClr val="black"/>
                </a:solidFill>
                <a:latin typeface="微软雅黑" panose="020B0503020204020204" pitchFamily="34" charset="-122"/>
                <a:ea typeface="微软雅黑" panose="020B0503020204020204" pitchFamily="34" charset="-122"/>
              </a:rPr>
              <a:t>数     据</a:t>
            </a:r>
          </a:p>
        </p:txBody>
      </p:sp>
      <p:sp>
        <p:nvSpPr>
          <p:cNvPr id="22" name="Rectangle 16"/>
          <p:cNvSpPr>
            <a:spLocks noChangeArrowheads="1"/>
          </p:cNvSpPr>
          <p:nvPr/>
        </p:nvSpPr>
        <p:spPr bwMode="auto">
          <a:xfrm>
            <a:off x="1384346" y="2125110"/>
            <a:ext cx="623887" cy="431800"/>
          </a:xfrm>
          <a:prstGeom prst="rect">
            <a:avLst/>
          </a:prstGeom>
          <a:solidFill>
            <a:srgbClr val="00B050"/>
          </a:solidFill>
          <a:ln w="28575">
            <a:solidFill>
              <a:schemeClr val="tx1"/>
            </a:solidFill>
            <a:miter lim="800000"/>
          </a:ln>
        </p:spPr>
        <p:txBody>
          <a:bodyPr wrap="none" anchor="ctr"/>
          <a:lstStyle/>
          <a:p>
            <a:pPr algn="ctr"/>
            <a:r>
              <a:rPr lang="zh-CN" altLang="en-US" b="1">
                <a:solidFill>
                  <a:prstClr val="white"/>
                </a:solidFill>
                <a:latin typeface="微软雅黑" panose="020B0503020204020204" pitchFamily="34" charset="-122"/>
                <a:ea typeface="微软雅黑" panose="020B0503020204020204" pitchFamily="34" charset="-122"/>
              </a:rPr>
              <a:t>首部</a:t>
            </a:r>
          </a:p>
        </p:txBody>
      </p:sp>
      <p:sp>
        <p:nvSpPr>
          <p:cNvPr id="23" name="Rectangle 19"/>
          <p:cNvSpPr>
            <a:spLocks noChangeArrowheads="1"/>
          </p:cNvSpPr>
          <p:nvPr/>
        </p:nvSpPr>
        <p:spPr bwMode="auto">
          <a:xfrm>
            <a:off x="3256008" y="2852185"/>
            <a:ext cx="623888" cy="431800"/>
          </a:xfrm>
          <a:prstGeom prst="rect">
            <a:avLst/>
          </a:prstGeom>
          <a:solidFill>
            <a:srgbClr val="00B050"/>
          </a:solidFill>
          <a:ln w="28575">
            <a:solidFill>
              <a:schemeClr val="tx1"/>
            </a:solidFill>
            <a:miter lim="800000"/>
          </a:ln>
        </p:spPr>
        <p:txBody>
          <a:bodyPr wrap="none" anchor="ctr"/>
          <a:lstStyle/>
          <a:p>
            <a:pPr algn="ctr"/>
            <a:r>
              <a:rPr lang="zh-CN" altLang="en-US" b="1">
                <a:solidFill>
                  <a:prstClr val="white"/>
                </a:solidFill>
                <a:latin typeface="微软雅黑" panose="020B0503020204020204" pitchFamily="34" charset="-122"/>
                <a:ea typeface="微软雅黑" panose="020B0503020204020204" pitchFamily="34" charset="-122"/>
              </a:rPr>
              <a:t>首部</a:t>
            </a:r>
          </a:p>
        </p:txBody>
      </p:sp>
      <p:sp>
        <p:nvSpPr>
          <p:cNvPr id="24" name="Rectangle 20"/>
          <p:cNvSpPr>
            <a:spLocks noChangeArrowheads="1"/>
          </p:cNvSpPr>
          <p:nvPr/>
        </p:nvSpPr>
        <p:spPr bwMode="auto">
          <a:xfrm>
            <a:off x="5135608" y="3526872"/>
            <a:ext cx="623888" cy="431800"/>
          </a:xfrm>
          <a:prstGeom prst="rect">
            <a:avLst/>
          </a:prstGeom>
          <a:solidFill>
            <a:srgbClr val="00B050"/>
          </a:solidFill>
          <a:ln w="28575">
            <a:solidFill>
              <a:schemeClr val="tx1"/>
            </a:solidFill>
            <a:miter lim="800000"/>
          </a:ln>
        </p:spPr>
        <p:txBody>
          <a:bodyPr wrap="none" anchor="ctr"/>
          <a:lstStyle/>
          <a:p>
            <a:pPr algn="ctr"/>
            <a:r>
              <a:rPr lang="zh-CN" altLang="en-US" b="1">
                <a:solidFill>
                  <a:prstClr val="white"/>
                </a:solidFill>
                <a:latin typeface="微软雅黑" panose="020B0503020204020204" pitchFamily="34" charset="-122"/>
                <a:ea typeface="微软雅黑" panose="020B0503020204020204" pitchFamily="34" charset="-122"/>
              </a:rPr>
              <a:t>首部</a:t>
            </a:r>
          </a:p>
        </p:txBody>
      </p:sp>
      <p:grpSp>
        <p:nvGrpSpPr>
          <p:cNvPr id="25" name="Group 25"/>
          <p:cNvGrpSpPr/>
          <p:nvPr/>
        </p:nvGrpSpPr>
        <p:grpSpPr bwMode="auto">
          <a:xfrm>
            <a:off x="1373233" y="1648726"/>
            <a:ext cx="2495550" cy="431800"/>
            <a:chOff x="2063" y="2574"/>
            <a:chExt cx="1451" cy="272"/>
          </a:xfrm>
        </p:grpSpPr>
        <p:sp>
          <p:nvSpPr>
            <p:cNvPr id="26" name="AutoShape 21"/>
            <p:cNvSpPr/>
            <p:nvPr/>
          </p:nvSpPr>
          <p:spPr bwMode="auto">
            <a:xfrm rot="5400000">
              <a:off x="2744" y="2075"/>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27" name="Text Box 24"/>
            <p:cNvSpPr txBox="1">
              <a:spLocks noChangeArrowheads="1"/>
            </p:cNvSpPr>
            <p:nvPr/>
          </p:nvSpPr>
          <p:spPr bwMode="auto">
            <a:xfrm>
              <a:off x="2627" y="2574"/>
              <a:ext cx="411" cy="19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1</a:t>
              </a:r>
            </a:p>
          </p:txBody>
        </p:sp>
      </p:grpSp>
      <p:grpSp>
        <p:nvGrpSpPr>
          <p:cNvPr id="28" name="Group 26"/>
          <p:cNvGrpSpPr/>
          <p:nvPr/>
        </p:nvGrpSpPr>
        <p:grpSpPr bwMode="auto">
          <a:xfrm>
            <a:off x="3256008" y="2387047"/>
            <a:ext cx="2495550" cy="425450"/>
            <a:chOff x="1973" y="2524"/>
            <a:chExt cx="1451" cy="268"/>
          </a:xfrm>
        </p:grpSpPr>
        <p:sp>
          <p:nvSpPr>
            <p:cNvPr id="29" name="AutoShape 27"/>
            <p:cNvSpPr/>
            <p:nvPr/>
          </p:nvSpPr>
          <p:spPr bwMode="auto">
            <a:xfrm rot="5400000">
              <a:off x="2654" y="2021"/>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30" name="Text Box 28"/>
            <p:cNvSpPr txBox="1">
              <a:spLocks noChangeArrowheads="1"/>
            </p:cNvSpPr>
            <p:nvPr/>
          </p:nvSpPr>
          <p:spPr bwMode="auto">
            <a:xfrm>
              <a:off x="2513" y="2524"/>
              <a:ext cx="368" cy="17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2</a:t>
              </a:r>
            </a:p>
          </p:txBody>
        </p:sp>
      </p:grpSp>
      <p:grpSp>
        <p:nvGrpSpPr>
          <p:cNvPr id="31" name="Group 29"/>
          <p:cNvGrpSpPr/>
          <p:nvPr/>
        </p:nvGrpSpPr>
        <p:grpSpPr bwMode="auto">
          <a:xfrm>
            <a:off x="5129258" y="3066497"/>
            <a:ext cx="2495550" cy="422275"/>
            <a:chOff x="1883" y="2394"/>
            <a:chExt cx="1451" cy="266"/>
          </a:xfrm>
        </p:grpSpPr>
        <p:sp>
          <p:nvSpPr>
            <p:cNvPr id="32" name="AutoShape 30"/>
            <p:cNvSpPr/>
            <p:nvPr/>
          </p:nvSpPr>
          <p:spPr bwMode="auto">
            <a:xfrm rot="5400000">
              <a:off x="2564" y="188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33" name="Text Box 31"/>
            <p:cNvSpPr txBox="1">
              <a:spLocks noChangeArrowheads="1"/>
            </p:cNvSpPr>
            <p:nvPr/>
          </p:nvSpPr>
          <p:spPr bwMode="auto">
            <a:xfrm>
              <a:off x="2411" y="2394"/>
              <a:ext cx="368" cy="17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3</a:t>
              </a:r>
            </a:p>
          </p:txBody>
        </p:sp>
      </p:grpSp>
      <p:grpSp>
        <p:nvGrpSpPr>
          <p:cNvPr id="34" name="组合 33"/>
          <p:cNvGrpSpPr/>
          <p:nvPr/>
        </p:nvGrpSpPr>
        <p:grpSpPr bwMode="auto">
          <a:xfrm>
            <a:off x="2009821" y="1166260"/>
            <a:ext cx="5616575" cy="307975"/>
            <a:chOff x="1898781" y="2727667"/>
            <a:chExt cx="5616840" cy="307975"/>
          </a:xfrm>
        </p:grpSpPr>
        <p:grpSp>
          <p:nvGrpSpPr>
            <p:cNvPr id="35" name="Group 15"/>
            <p:cNvGrpSpPr/>
            <p:nvPr/>
          </p:nvGrpSpPr>
          <p:grpSpPr bwMode="auto">
            <a:xfrm>
              <a:off x="1898781" y="2727667"/>
              <a:ext cx="5616840" cy="307975"/>
              <a:chOff x="1247" y="1803"/>
              <a:chExt cx="3266" cy="194"/>
            </a:xfrm>
          </p:grpSpPr>
          <p:sp>
            <p:nvSpPr>
              <p:cNvPr id="38" name="Line 2"/>
              <p:cNvSpPr>
                <a:spLocks noChangeShapeType="1"/>
              </p:cNvSpPr>
              <p:nvPr/>
            </p:nvSpPr>
            <p:spPr bwMode="auto">
              <a:xfrm>
                <a:off x="1247" y="1888"/>
                <a:ext cx="3266"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39" name="Text Box 3"/>
              <p:cNvSpPr txBox="1">
                <a:spLocks noChangeArrowheads="1"/>
              </p:cNvSpPr>
              <p:nvPr/>
            </p:nvSpPr>
            <p:spPr bwMode="auto">
              <a:xfrm>
                <a:off x="2699" y="1803"/>
                <a:ext cx="316" cy="194"/>
              </a:xfrm>
              <a:prstGeom prst="rect">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prstClr val="black"/>
                    </a:solidFill>
                    <a:latin typeface="微软雅黑" panose="020B0503020204020204" pitchFamily="34" charset="-122"/>
                    <a:ea typeface="微软雅黑" panose="020B0503020204020204" pitchFamily="34" charset="-122"/>
                  </a:rPr>
                  <a:t>报文</a:t>
                </a:r>
              </a:p>
            </p:txBody>
          </p:sp>
        </p:grpSp>
        <p:cxnSp>
          <p:nvCxnSpPr>
            <p:cNvPr id="36" name="直接连接符 21"/>
            <p:cNvCxnSpPr>
              <a:cxnSpLocks noChangeShapeType="1"/>
            </p:cNvCxnSpPr>
            <p:nvPr/>
          </p:nvCxnSpPr>
          <p:spPr bwMode="auto">
            <a:xfrm>
              <a:off x="1900501" y="2727671"/>
              <a:ext cx="0" cy="295331"/>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22"/>
            <p:cNvCxnSpPr>
              <a:cxnSpLocks noChangeShapeType="1"/>
            </p:cNvCxnSpPr>
            <p:nvPr/>
          </p:nvCxnSpPr>
          <p:spPr bwMode="auto">
            <a:xfrm>
              <a:off x="7500522" y="2727671"/>
              <a:ext cx="0" cy="295331"/>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40" name="Text Box 33"/>
          <p:cNvSpPr txBox="1">
            <a:spLocks noChangeArrowheads="1"/>
          </p:cNvSpPr>
          <p:nvPr/>
        </p:nvSpPr>
        <p:spPr bwMode="auto">
          <a:xfrm>
            <a:off x="981335" y="3558106"/>
            <a:ext cx="249299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b="1" dirty="0">
                <a:solidFill>
                  <a:srgbClr val="0000CC"/>
                </a:solidFill>
                <a:latin typeface="微软雅黑" panose="020B0503020204020204" pitchFamily="34" charset="-122"/>
                <a:ea typeface="微软雅黑" panose="020B0503020204020204" pitchFamily="34" charset="-122"/>
              </a:rPr>
              <a:t>注意：左边是“前面”</a:t>
            </a:r>
          </a:p>
        </p:txBody>
      </p:sp>
      <p:sp>
        <p:nvSpPr>
          <p:cNvPr id="41" name="矩形 40"/>
          <p:cNvSpPr/>
          <p:nvPr/>
        </p:nvSpPr>
        <p:spPr>
          <a:xfrm>
            <a:off x="1045030" y="4142276"/>
            <a:ext cx="6914204" cy="400110"/>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分组又称为“包”，而分组的首部也可称为“包头”。</a:t>
            </a:r>
          </a:p>
        </p:txBody>
      </p:sp>
      <p:sp>
        <p:nvSpPr>
          <p:cNvPr id="2" name="文本占位符 1"/>
          <p:cNvSpPr>
            <a:spLocks noGrp="1"/>
          </p:cNvSpPr>
          <p:nvPr>
            <p:ph type="body" sz="quarter" idx="10"/>
          </p:nvPr>
        </p:nvSpPr>
        <p:spPr/>
        <p:txBody>
          <a:bodyPr/>
          <a:lstStyle/>
          <a:p>
            <a:r>
              <a:rPr lang="zh-CN" altLang="en-US" dirty="0"/>
              <a:t>数据段前面添加首部就构成了</a:t>
            </a:r>
            <a:r>
              <a:rPr lang="zh-CN" altLang="en-US" dirty="0">
                <a:solidFill>
                  <a:srgbClr val="FFFF00"/>
                </a:solidFill>
              </a:rPr>
              <a:t>分组</a:t>
            </a:r>
            <a:r>
              <a:rPr lang="zh-CN" altLang="en-US" dirty="0"/>
              <a:t> </a:t>
            </a:r>
            <a:r>
              <a:rPr lang="en-US" altLang="zh-CN" dirty="0"/>
              <a:t>(packet)</a:t>
            </a:r>
          </a:p>
        </p:txBody>
      </p:sp>
    </p:spTree>
    <p:extLst>
      <p:ext uri="{BB962C8B-B14F-4D97-AF65-F5344CB8AC3E}">
        <p14:creationId xmlns:p14="http://schemas.microsoft.com/office/powerpoint/2010/main" val="13814291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afterEffect">
                                  <p:stCondLst>
                                    <p:cond delay="1000"/>
                                  </p:stCondLst>
                                  <p:childTnLst>
                                    <p:set>
                                      <p:cBhvr>
                                        <p:cTn id="6" dur="1" fill="hold">
                                          <p:stCondLst>
                                            <p:cond delay="0"/>
                                          </p:stCondLst>
                                        </p:cTn>
                                        <p:tgtEl>
                                          <p:spTgt spid="34"/>
                                        </p:tgtEl>
                                        <p:attrNameLst>
                                          <p:attrName>style.visibility</p:attrName>
                                        </p:attrNameLst>
                                      </p:cBhvr>
                                      <p:to>
                                        <p:strVal val="hidden"/>
                                      </p:to>
                                    </p:set>
                                  </p:childTnLst>
                                </p:cTn>
                              </p:par>
                            </p:childTnLst>
                          </p:cTn>
                        </p:par>
                        <p:par>
                          <p:cTn id="7" fill="hold">
                            <p:stCondLst>
                              <p:cond delay="1000"/>
                            </p:stCondLst>
                            <p:childTnLst>
                              <p:par>
                                <p:cTn id="8" presetID="42" presetClass="path" presetSubtype="0" accel="50000" decel="50000" fill="hold" grpId="0" nodeType="afterEffect">
                                  <p:stCondLst>
                                    <p:cond delay="0"/>
                                  </p:stCondLst>
                                  <p:childTnLst>
                                    <p:animMotion origin="layout" path="M 1.38889E-6 2.96296E-6 L 1.38889E-6 0.11852 " pathEditMode="relative" rAng="0" ptsTypes="AA">
                                      <p:cBhvr>
                                        <p:cTn id="9" dur="2000" fill="hold"/>
                                        <p:tgtEl>
                                          <p:spTgt spid="19"/>
                                        </p:tgtEl>
                                        <p:attrNameLst>
                                          <p:attrName>ppt_x</p:attrName>
                                          <p:attrName>ppt_y</p:attrName>
                                        </p:attrNameLst>
                                      </p:cBhvr>
                                      <p:rCtr x="0" y="5926"/>
                                    </p:animMotion>
                                  </p:childTnLst>
                                </p:cTn>
                              </p:par>
                            </p:childTnLst>
                          </p:cTn>
                        </p:par>
                        <p:par>
                          <p:cTn id="10" fill="hold">
                            <p:stCondLst>
                              <p:cond delay="3000"/>
                            </p:stCondLst>
                            <p:childTnLst>
                              <p:par>
                                <p:cTn id="11" presetID="1" presetClass="entr" presetSubtype="0" fill="hold" grpId="0" nodeType="afterEffect">
                                  <p:stCondLst>
                                    <p:cond delay="500"/>
                                  </p:stCondLst>
                                  <p:childTnLst>
                                    <p:set>
                                      <p:cBhvr>
                                        <p:cTn id="12" dur="1" fill="hold">
                                          <p:stCondLst>
                                            <p:cond delay="0"/>
                                          </p:stCondLst>
                                        </p:cTn>
                                        <p:tgtEl>
                                          <p:spTgt spid="22"/>
                                        </p:tgtEl>
                                        <p:attrNameLst>
                                          <p:attrName>style.visibility</p:attrName>
                                        </p:attrNameLst>
                                      </p:cBhvr>
                                      <p:to>
                                        <p:strVal val="visible"/>
                                      </p:to>
                                    </p:set>
                                  </p:childTnLst>
                                </p:cTn>
                              </p:par>
                            </p:childTnLst>
                          </p:cTn>
                        </p:par>
                        <p:par>
                          <p:cTn id="13" fill="hold">
                            <p:stCondLst>
                              <p:cond delay="3500"/>
                            </p:stCondLst>
                            <p:childTnLst>
                              <p:par>
                                <p:cTn id="14" presetID="1" presetClass="entr" presetSubtype="0" fill="hold" nodeType="afterEffect">
                                  <p:stCondLst>
                                    <p:cond delay="500"/>
                                  </p:stCondLst>
                                  <p:childTnLst>
                                    <p:set>
                                      <p:cBhvr>
                                        <p:cTn id="15" dur="1" fill="hold">
                                          <p:stCondLst>
                                            <p:cond delay="0"/>
                                          </p:stCondLst>
                                        </p:cTn>
                                        <p:tgtEl>
                                          <p:spTgt spid="25"/>
                                        </p:tgtEl>
                                        <p:attrNameLst>
                                          <p:attrName>style.visibility</p:attrName>
                                        </p:attrNameLst>
                                      </p:cBhvr>
                                      <p:to>
                                        <p:strVal val="visible"/>
                                      </p:to>
                                    </p:set>
                                  </p:childTnLst>
                                </p:cTn>
                              </p:par>
                            </p:childTnLst>
                          </p:cTn>
                        </p:par>
                        <p:par>
                          <p:cTn id="16" fill="hold">
                            <p:stCondLst>
                              <p:cond delay="4000"/>
                            </p:stCondLst>
                            <p:childTnLst>
                              <p:par>
                                <p:cTn id="17" presetID="42" presetClass="path" presetSubtype="0" accel="50000" decel="50000" fill="hold" grpId="0" nodeType="afterEffect">
                                  <p:stCondLst>
                                    <p:cond delay="500"/>
                                  </p:stCondLst>
                                  <p:childTnLst>
                                    <p:animMotion origin="layout" path="M 3.88889E-6 2.96296E-6 L 3.88889E-6 0.2608 " pathEditMode="relative" rAng="0" ptsTypes="AA">
                                      <p:cBhvr>
                                        <p:cTn id="18" dur="2000" fill="hold"/>
                                        <p:tgtEl>
                                          <p:spTgt spid="20"/>
                                        </p:tgtEl>
                                        <p:attrNameLst>
                                          <p:attrName>ppt_x</p:attrName>
                                          <p:attrName>ppt_y</p:attrName>
                                        </p:attrNameLst>
                                      </p:cBhvr>
                                      <p:rCtr x="0" y="13025"/>
                                    </p:animMotion>
                                  </p:childTnLst>
                                </p:cTn>
                              </p:par>
                            </p:childTnLst>
                          </p:cTn>
                        </p:par>
                        <p:par>
                          <p:cTn id="19" fill="hold">
                            <p:stCondLst>
                              <p:cond delay="6500"/>
                            </p:stCondLst>
                            <p:childTnLst>
                              <p:par>
                                <p:cTn id="20" presetID="1" presetClass="entr" presetSubtype="0" fill="hold" grpId="0" nodeType="afterEffect">
                                  <p:stCondLst>
                                    <p:cond delay="500"/>
                                  </p:stCondLst>
                                  <p:childTnLst>
                                    <p:set>
                                      <p:cBhvr>
                                        <p:cTn id="21" dur="1" fill="hold">
                                          <p:stCondLst>
                                            <p:cond delay="0"/>
                                          </p:stCondLst>
                                        </p:cTn>
                                        <p:tgtEl>
                                          <p:spTgt spid="23"/>
                                        </p:tgtEl>
                                        <p:attrNameLst>
                                          <p:attrName>style.visibility</p:attrName>
                                        </p:attrNameLst>
                                      </p:cBhvr>
                                      <p:to>
                                        <p:strVal val="visible"/>
                                      </p:to>
                                    </p:set>
                                  </p:childTnLst>
                                </p:cTn>
                              </p:par>
                            </p:childTnLst>
                          </p:cTn>
                        </p:par>
                        <p:par>
                          <p:cTn id="22" fill="hold">
                            <p:stCondLst>
                              <p:cond delay="7000"/>
                            </p:stCondLst>
                            <p:childTnLst>
                              <p:par>
                                <p:cTn id="23" presetID="1" presetClass="entr" presetSubtype="0" fill="hold" nodeType="afterEffect">
                                  <p:stCondLst>
                                    <p:cond delay="500"/>
                                  </p:stCondLst>
                                  <p:childTnLst>
                                    <p:set>
                                      <p:cBhvr>
                                        <p:cTn id="24" dur="1" fill="hold">
                                          <p:stCondLst>
                                            <p:cond delay="0"/>
                                          </p:stCondLst>
                                        </p:cTn>
                                        <p:tgtEl>
                                          <p:spTgt spid="28"/>
                                        </p:tgtEl>
                                        <p:attrNameLst>
                                          <p:attrName>style.visibility</p:attrName>
                                        </p:attrNameLst>
                                      </p:cBhvr>
                                      <p:to>
                                        <p:strVal val="visible"/>
                                      </p:to>
                                    </p:set>
                                  </p:childTnLst>
                                </p:cTn>
                              </p:par>
                            </p:childTnLst>
                          </p:cTn>
                        </p:par>
                        <p:par>
                          <p:cTn id="25" fill="hold">
                            <p:stCondLst>
                              <p:cond delay="7500"/>
                            </p:stCondLst>
                            <p:childTnLst>
                              <p:par>
                                <p:cTn id="26" presetID="42" presetClass="path" presetSubtype="0" accel="50000" decel="50000" fill="hold" grpId="0" nodeType="afterEffect">
                                  <p:stCondLst>
                                    <p:cond delay="500"/>
                                  </p:stCondLst>
                                  <p:childTnLst>
                                    <p:animMotion origin="layout" path="M 2.77778E-6 2.96296E-6 L 2.77778E-6 0.39105 " pathEditMode="relative" rAng="0" ptsTypes="AA">
                                      <p:cBhvr>
                                        <p:cTn id="27" dur="2000" fill="hold"/>
                                        <p:tgtEl>
                                          <p:spTgt spid="21"/>
                                        </p:tgtEl>
                                        <p:attrNameLst>
                                          <p:attrName>ppt_x</p:attrName>
                                          <p:attrName>ppt_y</p:attrName>
                                        </p:attrNameLst>
                                      </p:cBhvr>
                                      <p:rCtr x="0" y="19537"/>
                                    </p:animMotion>
                                  </p:childTnLst>
                                </p:cTn>
                              </p:par>
                            </p:childTnLst>
                          </p:cTn>
                        </p:par>
                        <p:par>
                          <p:cTn id="28" fill="hold">
                            <p:stCondLst>
                              <p:cond delay="10000"/>
                            </p:stCondLst>
                            <p:childTnLst>
                              <p:par>
                                <p:cTn id="29" presetID="1" presetClass="entr" presetSubtype="0" fill="hold" grpId="0" nodeType="afterEffect">
                                  <p:stCondLst>
                                    <p:cond delay="500"/>
                                  </p:stCondLst>
                                  <p:childTnLst>
                                    <p:set>
                                      <p:cBhvr>
                                        <p:cTn id="30" dur="1" fill="hold">
                                          <p:stCondLst>
                                            <p:cond delay="0"/>
                                          </p:stCondLst>
                                        </p:cTn>
                                        <p:tgtEl>
                                          <p:spTgt spid="24"/>
                                        </p:tgtEl>
                                        <p:attrNameLst>
                                          <p:attrName>style.visibility</p:attrName>
                                        </p:attrNameLst>
                                      </p:cBhvr>
                                      <p:to>
                                        <p:strVal val="visible"/>
                                      </p:to>
                                    </p:set>
                                  </p:childTnLst>
                                </p:cTn>
                              </p:par>
                            </p:childTnLst>
                          </p:cTn>
                        </p:par>
                        <p:par>
                          <p:cTn id="31" fill="hold">
                            <p:stCondLst>
                              <p:cond delay="10500"/>
                            </p:stCondLst>
                            <p:childTnLst>
                              <p:par>
                                <p:cTn id="32" presetID="1" presetClass="entr" presetSubtype="0" fill="hold" nodeType="afterEffect">
                                  <p:stCondLst>
                                    <p:cond delay="500"/>
                                  </p:stCondLst>
                                  <p:childTnLst>
                                    <p:set>
                                      <p:cBhvr>
                                        <p:cTn id="33" dur="1" fill="hold">
                                          <p:stCondLst>
                                            <p:cond delay="0"/>
                                          </p:stCondLst>
                                        </p:cTn>
                                        <p:tgtEl>
                                          <p:spTgt spid="31"/>
                                        </p:tgtEl>
                                        <p:attrNameLst>
                                          <p:attrName>style.visibility</p:attrName>
                                        </p:attrNameLst>
                                      </p:cBhvr>
                                      <p:to>
                                        <p:strVal val="visible"/>
                                      </p:to>
                                    </p:set>
                                  </p:childTnLst>
                                </p:cTn>
                              </p:par>
                            </p:childTnLst>
                          </p:cTn>
                        </p:par>
                        <p:par>
                          <p:cTn id="34" fill="hold">
                            <p:stCondLst>
                              <p:cond delay="11000"/>
                            </p:stCondLst>
                            <p:childTnLst>
                              <p:par>
                                <p:cTn id="35" presetID="1" presetClass="entr" presetSubtype="0" fill="hold" grpId="0" nodeType="afterEffect">
                                  <p:stCondLst>
                                    <p:cond delay="0"/>
                                  </p:stCondLst>
                                  <p:childTnLst>
                                    <p:set>
                                      <p:cBhvr>
                                        <p:cTn id="36" dur="1" fill="hold">
                                          <p:stCondLst>
                                            <p:cond delay="0"/>
                                          </p:stCondLst>
                                        </p:cTn>
                                        <p:tgtEl>
                                          <p:spTgt spid="40"/>
                                        </p:tgtEl>
                                        <p:attrNameLst>
                                          <p:attrName>style.visibility</p:attrName>
                                        </p:attrNameLst>
                                      </p:cBhvr>
                                      <p:to>
                                        <p:strVal val="visible"/>
                                      </p:to>
                                    </p:set>
                                  </p:childTnLst>
                                </p:cTn>
                              </p:par>
                            </p:childTnLst>
                          </p:cTn>
                        </p:par>
                        <p:par>
                          <p:cTn id="37" fill="hold">
                            <p:stCondLst>
                              <p:cond delay="11000"/>
                            </p:stCondLst>
                            <p:childTnLst>
                              <p:par>
                                <p:cTn id="38" presetID="35" presetClass="emph" presetSubtype="0" repeatCount="3000" fill="hold" grpId="1" nodeType="afterEffect">
                                  <p:stCondLst>
                                    <p:cond delay="0"/>
                                  </p:stCondLst>
                                  <p:childTnLst>
                                    <p:anim calcmode="discrete" valueType="str">
                                      <p:cBhvr>
                                        <p:cTn id="39" dur="1000" fill="hold"/>
                                        <p:tgtEl>
                                          <p:spTgt spid="40"/>
                                        </p:tgtEl>
                                        <p:attrNameLst>
                                          <p:attrName>style.visibility</p:attrName>
                                        </p:attrNameLst>
                                      </p:cBhvr>
                                      <p:tavLst>
                                        <p:tav tm="0">
                                          <p:val>
                                            <p:strVal val="hidden"/>
                                          </p:val>
                                        </p:tav>
                                        <p:tav tm="50000">
                                          <p:val>
                                            <p:strVal val="visible"/>
                                          </p:val>
                                        </p:tav>
                                      </p:tavLst>
                                    </p:anim>
                                  </p:childTnLst>
                                </p:cTn>
                              </p:par>
                            </p:childTnLst>
                          </p:cTn>
                        </p:par>
                        <p:par>
                          <p:cTn id="40" fill="hold">
                            <p:stCondLst>
                              <p:cond delay="14000"/>
                            </p:stCondLst>
                            <p:childTnLst>
                              <p:par>
                                <p:cTn id="41" presetID="1" presetClass="entr" presetSubtype="0" fill="hold" grpId="0" nodeType="afterEffect">
                                  <p:stCondLst>
                                    <p:cond delay="0"/>
                                  </p:stCondLst>
                                  <p:childTnLst>
                                    <p:set>
                                      <p:cBhvr>
                                        <p:cTn id="42"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40" grpId="0"/>
      <p:bldP spid="40" grpId="1"/>
      <p:bldP spid="41"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内容占位符 22"/>
          <p:cNvSpPr>
            <a:spLocks noGrp="1"/>
          </p:cNvSpPr>
          <p:nvPr>
            <p:ph sz="quarter" idx="10"/>
          </p:nvPr>
        </p:nvSpPr>
        <p:spPr/>
        <p:txBody>
          <a:bodyPr/>
          <a:lstStyle/>
          <a:p>
            <a:r>
              <a:rPr lang="zh-CN" altLang="en-US" dirty="0"/>
              <a:t>互联网采用分组交换技术。</a:t>
            </a:r>
            <a:r>
              <a:rPr lang="zh-CN" altLang="en-US" dirty="0">
                <a:solidFill>
                  <a:srgbClr val="0000FF"/>
                </a:solidFill>
              </a:rPr>
              <a:t>分组</a:t>
            </a:r>
            <a:r>
              <a:rPr lang="zh-CN" altLang="en-US" dirty="0">
                <a:solidFill>
                  <a:srgbClr val="C00000"/>
                </a:solidFill>
              </a:rPr>
              <a:t>是在互联网中传送的</a:t>
            </a:r>
            <a:r>
              <a:rPr lang="zh-CN" altLang="en-US" dirty="0">
                <a:solidFill>
                  <a:srgbClr val="0000FF"/>
                </a:solidFill>
              </a:rPr>
              <a:t>数据单元。</a:t>
            </a:r>
          </a:p>
          <a:p>
            <a:r>
              <a:rPr lang="zh-CN" altLang="en-US" dirty="0"/>
              <a:t>发送端</a:t>
            </a:r>
            <a:r>
              <a:rPr lang="zh-CN" altLang="en-US" dirty="0">
                <a:solidFill>
                  <a:srgbClr val="C00000"/>
                </a:solidFill>
              </a:rPr>
              <a:t>依次</a:t>
            </a:r>
            <a:r>
              <a:rPr lang="zh-CN" altLang="en-US" dirty="0"/>
              <a:t>把各分组发送到接收端。</a:t>
            </a:r>
          </a:p>
          <a:p>
            <a:endParaRPr lang="zh-CN" altLang="en-US" dirty="0"/>
          </a:p>
        </p:txBody>
      </p:sp>
      <p:sp>
        <p:nvSpPr>
          <p:cNvPr id="2" name="文本占位符 1"/>
          <p:cNvSpPr>
            <a:spLocks noGrp="1"/>
          </p:cNvSpPr>
          <p:nvPr>
            <p:ph type="body" sz="quarter" idx="11"/>
          </p:nvPr>
        </p:nvSpPr>
        <p:spPr/>
        <p:txBody>
          <a:bodyPr/>
          <a:lstStyle/>
          <a:p>
            <a:r>
              <a:rPr lang="zh-CN" altLang="en-US" dirty="0"/>
              <a:t>分组交换以“</a:t>
            </a:r>
            <a:r>
              <a:rPr lang="zh-CN" altLang="en-US" dirty="0">
                <a:solidFill>
                  <a:srgbClr val="FFFF00"/>
                </a:solidFill>
              </a:rPr>
              <a:t>分组</a:t>
            </a:r>
            <a:r>
              <a:rPr lang="zh-CN" altLang="en-US" dirty="0"/>
              <a:t>”作为数据传输单元</a:t>
            </a:r>
          </a:p>
        </p:txBody>
      </p:sp>
      <p:grpSp>
        <p:nvGrpSpPr>
          <p:cNvPr id="3" name="组合 2"/>
          <p:cNvGrpSpPr/>
          <p:nvPr/>
        </p:nvGrpSpPr>
        <p:grpSpPr bwMode="auto">
          <a:xfrm>
            <a:off x="1016000" y="2208805"/>
            <a:ext cx="2136775" cy="842743"/>
            <a:chOff x="2040721" y="2921091"/>
            <a:chExt cx="2135660" cy="841771"/>
          </a:xfrm>
        </p:grpSpPr>
        <p:sp>
          <p:nvSpPr>
            <p:cNvPr id="4" name="Rectangle 2"/>
            <p:cNvSpPr>
              <a:spLocks noChangeArrowheads="1"/>
            </p:cNvSpPr>
            <p:nvPr/>
          </p:nvSpPr>
          <p:spPr bwMode="auto">
            <a:xfrm>
              <a:off x="2574636" y="3393568"/>
              <a:ext cx="1600274" cy="369294"/>
            </a:xfrm>
            <a:prstGeom prst="rect">
              <a:avLst/>
            </a:prstGeom>
            <a:solidFill>
              <a:srgbClr val="B1D8F9"/>
            </a:solidFill>
            <a:ln w="28575">
              <a:solidFill>
                <a:schemeClr val="tx1"/>
              </a:solidFill>
              <a:miter lim="800000"/>
            </a:ln>
          </p:spPr>
          <p:txBody>
            <a:bodyPr wrap="none" anchor="ctr"/>
            <a:lstStyle/>
            <a:p>
              <a:pPr algn="ctr" eaLnBrk="0" hangingPunct="0"/>
              <a:r>
                <a:rPr lang="zh-CN" altLang="en-US" sz="1600" b="1">
                  <a:solidFill>
                    <a:prstClr val="black"/>
                  </a:solidFill>
                  <a:latin typeface="微软雅黑" panose="020B0503020204020204" pitchFamily="34" charset="-122"/>
                  <a:ea typeface="微软雅黑" panose="020B0503020204020204" pitchFamily="34" charset="-122"/>
                </a:rPr>
                <a:t>数     据</a:t>
              </a:r>
            </a:p>
          </p:txBody>
        </p:sp>
        <p:sp>
          <p:nvSpPr>
            <p:cNvPr id="5" name="Rectangle 10"/>
            <p:cNvSpPr>
              <a:spLocks noChangeArrowheads="1"/>
            </p:cNvSpPr>
            <p:nvPr/>
          </p:nvSpPr>
          <p:spPr bwMode="auto">
            <a:xfrm>
              <a:off x="2040721" y="3393568"/>
              <a:ext cx="533915" cy="369294"/>
            </a:xfrm>
            <a:prstGeom prst="rect">
              <a:avLst/>
            </a:prstGeom>
            <a:solidFill>
              <a:srgbClr val="00B050"/>
            </a:solidFill>
            <a:ln w="28575">
              <a:solidFill>
                <a:schemeClr val="tx1"/>
              </a:solidFill>
              <a:miter lim="800000"/>
            </a:ln>
          </p:spPr>
          <p:txBody>
            <a:bodyPr wrap="none" anchor="ctr"/>
            <a:lstStyle/>
            <a:p>
              <a:pPr algn="ctr" eaLnBrk="0" hangingPunct="0"/>
              <a:r>
                <a:rPr lang="zh-CN" altLang="en-US" sz="1600" b="1">
                  <a:solidFill>
                    <a:prstClr val="white"/>
                  </a:solidFill>
                  <a:latin typeface="微软雅黑" panose="020B0503020204020204" pitchFamily="34" charset="-122"/>
                  <a:ea typeface="微软雅黑" panose="020B0503020204020204" pitchFamily="34" charset="-122"/>
                </a:rPr>
                <a:t>首部</a:t>
              </a:r>
            </a:p>
          </p:txBody>
        </p:sp>
        <p:grpSp>
          <p:nvGrpSpPr>
            <p:cNvPr id="6" name="Group 13"/>
            <p:cNvGrpSpPr/>
            <p:nvPr/>
          </p:nvGrpSpPr>
          <p:grpSpPr bwMode="auto">
            <a:xfrm>
              <a:off x="2042192" y="2921091"/>
              <a:ext cx="2134189" cy="410025"/>
              <a:chOff x="1973" y="2538"/>
              <a:chExt cx="1451" cy="302"/>
            </a:xfrm>
          </p:grpSpPr>
          <p:sp>
            <p:nvSpPr>
              <p:cNvPr id="7" name="AutoShape 14"/>
              <p:cNvSpPr/>
              <p:nvPr/>
            </p:nvSpPr>
            <p:spPr bwMode="auto">
              <a:xfrm rot="5400000">
                <a:off x="2654" y="206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8" name="Text Box 15"/>
              <p:cNvSpPr txBox="1">
                <a:spLocks noChangeArrowheads="1"/>
              </p:cNvSpPr>
              <p:nvPr/>
            </p:nvSpPr>
            <p:spPr bwMode="auto">
              <a:xfrm>
                <a:off x="2489" y="2538"/>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1</a:t>
                </a:r>
              </a:p>
            </p:txBody>
          </p:sp>
        </p:grpSp>
      </p:grpSp>
      <p:grpSp>
        <p:nvGrpSpPr>
          <p:cNvPr id="9" name="组合 8"/>
          <p:cNvGrpSpPr/>
          <p:nvPr/>
        </p:nvGrpSpPr>
        <p:grpSpPr bwMode="auto">
          <a:xfrm>
            <a:off x="3516313" y="2694359"/>
            <a:ext cx="2133600" cy="849312"/>
            <a:chOff x="3642465" y="3652888"/>
            <a:chExt cx="2134187" cy="849919"/>
          </a:xfrm>
        </p:grpSpPr>
        <p:sp>
          <p:nvSpPr>
            <p:cNvPr id="10" name="Rectangle 3"/>
            <p:cNvSpPr>
              <a:spLocks noChangeArrowheads="1"/>
            </p:cNvSpPr>
            <p:nvPr/>
          </p:nvSpPr>
          <p:spPr bwMode="auto">
            <a:xfrm>
              <a:off x="4176379" y="4133513"/>
              <a:ext cx="1600273" cy="369294"/>
            </a:xfrm>
            <a:prstGeom prst="rect">
              <a:avLst/>
            </a:prstGeom>
            <a:solidFill>
              <a:srgbClr val="B1D8F9"/>
            </a:solidFill>
            <a:ln w="28575">
              <a:solidFill>
                <a:schemeClr val="tx1"/>
              </a:solidFill>
              <a:miter lim="800000"/>
            </a:ln>
          </p:spPr>
          <p:txBody>
            <a:bodyPr wrap="none" anchor="ctr"/>
            <a:lstStyle/>
            <a:p>
              <a:pPr algn="ctr" eaLnBrk="0" hangingPunct="0"/>
              <a:r>
                <a:rPr lang="zh-CN" altLang="en-US" sz="1600" b="1">
                  <a:solidFill>
                    <a:prstClr val="black"/>
                  </a:solidFill>
                  <a:latin typeface="微软雅黑" panose="020B0503020204020204" pitchFamily="34" charset="-122"/>
                  <a:ea typeface="微软雅黑" panose="020B0503020204020204" pitchFamily="34" charset="-122"/>
                </a:rPr>
                <a:t>数     据</a:t>
              </a:r>
            </a:p>
          </p:txBody>
        </p:sp>
        <p:sp>
          <p:nvSpPr>
            <p:cNvPr id="11" name="Rectangle 11"/>
            <p:cNvSpPr>
              <a:spLocks noChangeArrowheads="1"/>
            </p:cNvSpPr>
            <p:nvPr/>
          </p:nvSpPr>
          <p:spPr bwMode="auto">
            <a:xfrm>
              <a:off x="3642465" y="4133513"/>
              <a:ext cx="533914" cy="369294"/>
            </a:xfrm>
            <a:prstGeom prst="rect">
              <a:avLst/>
            </a:prstGeom>
            <a:solidFill>
              <a:srgbClr val="00B050"/>
            </a:solidFill>
            <a:ln w="28575">
              <a:solidFill>
                <a:schemeClr val="tx1"/>
              </a:solidFill>
              <a:miter lim="800000"/>
            </a:ln>
          </p:spPr>
          <p:txBody>
            <a:bodyPr wrap="none" anchor="ctr"/>
            <a:lstStyle/>
            <a:p>
              <a:pPr algn="ctr" eaLnBrk="0" hangingPunct="0"/>
              <a:r>
                <a:rPr lang="zh-CN" altLang="en-US" sz="1600" b="1">
                  <a:solidFill>
                    <a:prstClr val="white"/>
                  </a:solidFill>
                  <a:latin typeface="微软雅黑" panose="020B0503020204020204" pitchFamily="34" charset="-122"/>
                  <a:ea typeface="微软雅黑" panose="020B0503020204020204" pitchFamily="34" charset="-122"/>
                </a:rPr>
                <a:t>首部</a:t>
              </a:r>
            </a:p>
          </p:txBody>
        </p:sp>
        <p:grpSp>
          <p:nvGrpSpPr>
            <p:cNvPr id="12" name="Group 16"/>
            <p:cNvGrpSpPr/>
            <p:nvPr/>
          </p:nvGrpSpPr>
          <p:grpSpPr bwMode="auto">
            <a:xfrm>
              <a:off x="3642465" y="3652888"/>
              <a:ext cx="2134187" cy="418171"/>
              <a:chOff x="1973" y="2532"/>
              <a:chExt cx="1451" cy="308"/>
            </a:xfrm>
          </p:grpSpPr>
          <p:sp>
            <p:nvSpPr>
              <p:cNvPr id="13" name="AutoShape 17"/>
              <p:cNvSpPr/>
              <p:nvPr/>
            </p:nvSpPr>
            <p:spPr bwMode="auto">
              <a:xfrm rot="5400000">
                <a:off x="2654" y="206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14" name="Text Box 18"/>
              <p:cNvSpPr txBox="1">
                <a:spLocks noChangeArrowheads="1"/>
              </p:cNvSpPr>
              <p:nvPr/>
            </p:nvSpPr>
            <p:spPr bwMode="auto">
              <a:xfrm>
                <a:off x="2489"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分组 </a:t>
                </a:r>
                <a:r>
                  <a:rPr lang="en-US" altLang="zh-CN" sz="1400" b="1">
                    <a:solidFill>
                      <a:srgbClr val="0000FF"/>
                    </a:solidFill>
                    <a:latin typeface="微软雅黑" panose="020B0503020204020204" pitchFamily="34" charset="-122"/>
                    <a:ea typeface="微软雅黑" panose="020B0503020204020204" pitchFamily="34" charset="-122"/>
                  </a:rPr>
                  <a:t>2</a:t>
                </a:r>
              </a:p>
            </p:txBody>
          </p:sp>
        </p:grpSp>
      </p:grpSp>
      <p:grpSp>
        <p:nvGrpSpPr>
          <p:cNvPr id="15" name="组合 14"/>
          <p:cNvGrpSpPr/>
          <p:nvPr/>
        </p:nvGrpSpPr>
        <p:grpSpPr bwMode="auto">
          <a:xfrm>
            <a:off x="6062663" y="3249984"/>
            <a:ext cx="2139950" cy="839787"/>
            <a:chOff x="5242738" y="4391485"/>
            <a:chExt cx="2140071" cy="839059"/>
          </a:xfrm>
        </p:grpSpPr>
        <p:sp>
          <p:nvSpPr>
            <p:cNvPr id="16" name="Rectangle 4"/>
            <p:cNvSpPr>
              <a:spLocks noChangeArrowheads="1"/>
            </p:cNvSpPr>
            <p:nvPr/>
          </p:nvSpPr>
          <p:spPr bwMode="auto">
            <a:xfrm>
              <a:off x="5782536" y="4861249"/>
              <a:ext cx="1600273" cy="369295"/>
            </a:xfrm>
            <a:prstGeom prst="rect">
              <a:avLst/>
            </a:prstGeom>
            <a:solidFill>
              <a:srgbClr val="B1D8F9"/>
            </a:solidFill>
            <a:ln w="28575">
              <a:solidFill>
                <a:schemeClr val="tx1"/>
              </a:solidFill>
              <a:miter lim="800000"/>
            </a:ln>
          </p:spPr>
          <p:txBody>
            <a:bodyPr wrap="none" anchor="ctr"/>
            <a:lstStyle/>
            <a:p>
              <a:pPr algn="ctr" eaLnBrk="0" hangingPunct="0"/>
              <a:r>
                <a:rPr lang="zh-CN" altLang="en-US" sz="1600" b="1">
                  <a:solidFill>
                    <a:prstClr val="black"/>
                  </a:solidFill>
                  <a:latin typeface="微软雅黑" panose="020B0503020204020204" pitchFamily="34" charset="-122"/>
                  <a:ea typeface="微软雅黑" panose="020B0503020204020204" pitchFamily="34" charset="-122"/>
                </a:rPr>
                <a:t>数     据</a:t>
              </a:r>
            </a:p>
          </p:txBody>
        </p:sp>
        <p:sp>
          <p:nvSpPr>
            <p:cNvPr id="17" name="Rectangle 12"/>
            <p:cNvSpPr>
              <a:spLocks noChangeArrowheads="1"/>
            </p:cNvSpPr>
            <p:nvPr/>
          </p:nvSpPr>
          <p:spPr bwMode="auto">
            <a:xfrm>
              <a:off x="5242738" y="4859892"/>
              <a:ext cx="533915" cy="370652"/>
            </a:xfrm>
            <a:prstGeom prst="rect">
              <a:avLst/>
            </a:prstGeom>
            <a:solidFill>
              <a:srgbClr val="00B050"/>
            </a:solidFill>
            <a:ln w="28575">
              <a:solidFill>
                <a:schemeClr val="tx1"/>
              </a:solidFill>
              <a:miter lim="800000"/>
            </a:ln>
          </p:spPr>
          <p:txBody>
            <a:bodyPr wrap="none" anchor="ctr"/>
            <a:lstStyle/>
            <a:p>
              <a:pPr algn="ctr" eaLnBrk="0" hangingPunct="0"/>
              <a:r>
                <a:rPr lang="zh-CN" altLang="en-US" sz="1600" b="1">
                  <a:solidFill>
                    <a:prstClr val="white"/>
                  </a:solidFill>
                  <a:latin typeface="微软雅黑" panose="020B0503020204020204" pitchFamily="34" charset="-122"/>
                  <a:ea typeface="微软雅黑" panose="020B0503020204020204" pitchFamily="34" charset="-122"/>
                </a:rPr>
                <a:t>首部</a:t>
              </a:r>
            </a:p>
          </p:txBody>
        </p:sp>
        <p:grpSp>
          <p:nvGrpSpPr>
            <p:cNvPr id="18" name="Group 19"/>
            <p:cNvGrpSpPr/>
            <p:nvPr/>
          </p:nvGrpSpPr>
          <p:grpSpPr bwMode="auto">
            <a:xfrm>
              <a:off x="5242738" y="4391485"/>
              <a:ext cx="2134188" cy="418172"/>
              <a:chOff x="1973" y="2532"/>
              <a:chExt cx="1451" cy="308"/>
            </a:xfrm>
          </p:grpSpPr>
          <p:sp>
            <p:nvSpPr>
              <p:cNvPr id="19" name="AutoShape 20"/>
              <p:cNvSpPr/>
              <p:nvPr/>
            </p:nvSpPr>
            <p:spPr bwMode="auto">
              <a:xfrm rot="5400000">
                <a:off x="2654" y="206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20" name="Text Box 21"/>
              <p:cNvSpPr txBox="1">
                <a:spLocks noChangeArrowheads="1"/>
              </p:cNvSpPr>
              <p:nvPr/>
            </p:nvSpPr>
            <p:spPr bwMode="auto">
              <a:xfrm>
                <a:off x="2489"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分组 </a:t>
                </a:r>
                <a:r>
                  <a:rPr lang="en-US" altLang="zh-CN" sz="1400" b="1">
                    <a:solidFill>
                      <a:srgbClr val="0000FF"/>
                    </a:solidFill>
                    <a:latin typeface="微软雅黑" panose="020B0503020204020204" pitchFamily="34" charset="-122"/>
                    <a:ea typeface="微软雅黑" panose="020B0503020204020204" pitchFamily="34" charset="-122"/>
                  </a:rPr>
                  <a:t>3</a:t>
                </a:r>
              </a:p>
            </p:txBody>
          </p:sp>
        </p:grpSp>
      </p:grpSp>
    </p:spTree>
    <p:extLst>
      <p:ext uri="{BB962C8B-B14F-4D97-AF65-F5344CB8AC3E}">
        <p14:creationId xmlns:p14="http://schemas.microsoft.com/office/powerpoint/2010/main" val="30905559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par>
                          <p:cTn id="11" fill="hold">
                            <p:stCondLst>
                              <p:cond delay="0"/>
                            </p:stCondLst>
                            <p:childTnLst>
                              <p:par>
                                <p:cTn id="12" presetID="2" presetClass="exit" presetSubtype="8" fill="hold" nodeType="afterEffect">
                                  <p:stCondLst>
                                    <p:cond delay="1000"/>
                                  </p:stCondLst>
                                  <p:childTnLst>
                                    <p:anim calcmode="lin" valueType="num">
                                      <p:cBhvr additive="base">
                                        <p:cTn id="13" dur="2000"/>
                                        <p:tgtEl>
                                          <p:spTgt spid="3"/>
                                        </p:tgtEl>
                                        <p:attrNameLst>
                                          <p:attrName>ppt_x</p:attrName>
                                        </p:attrNameLst>
                                      </p:cBhvr>
                                      <p:tavLst>
                                        <p:tav tm="0">
                                          <p:val>
                                            <p:strVal val="ppt_x"/>
                                          </p:val>
                                        </p:tav>
                                        <p:tav tm="100000">
                                          <p:val>
                                            <p:strVal val="0-ppt_w/2"/>
                                          </p:val>
                                        </p:tav>
                                      </p:tavLst>
                                    </p:anim>
                                    <p:anim calcmode="lin" valueType="num">
                                      <p:cBhvr additive="base">
                                        <p:cTn id="14" dur="2000"/>
                                        <p:tgtEl>
                                          <p:spTgt spid="3"/>
                                        </p:tgtEl>
                                        <p:attrNameLst>
                                          <p:attrName>ppt_y</p:attrName>
                                        </p:attrNameLst>
                                      </p:cBhvr>
                                      <p:tavLst>
                                        <p:tav tm="0">
                                          <p:val>
                                            <p:strVal val="ppt_y"/>
                                          </p:val>
                                        </p:tav>
                                        <p:tav tm="100000">
                                          <p:val>
                                            <p:strVal val="ppt_y"/>
                                          </p:val>
                                        </p:tav>
                                      </p:tavLst>
                                    </p:anim>
                                    <p:set>
                                      <p:cBhvr>
                                        <p:cTn id="15" dur="1" fill="hold">
                                          <p:stCondLst>
                                            <p:cond delay="1999"/>
                                          </p:stCondLst>
                                        </p:cTn>
                                        <p:tgtEl>
                                          <p:spTgt spid="3"/>
                                        </p:tgtEl>
                                        <p:attrNameLst>
                                          <p:attrName>style.visibility</p:attrName>
                                        </p:attrNameLst>
                                      </p:cBhvr>
                                      <p:to>
                                        <p:strVal val="hidden"/>
                                      </p:to>
                                    </p:set>
                                  </p:childTnLst>
                                </p:cTn>
                              </p:par>
                            </p:childTnLst>
                          </p:cTn>
                        </p:par>
                        <p:par>
                          <p:cTn id="16" fill="hold">
                            <p:stCondLst>
                              <p:cond delay="3000"/>
                            </p:stCondLst>
                            <p:childTnLst>
                              <p:par>
                                <p:cTn id="17" presetID="2" presetClass="exit" presetSubtype="8" fill="hold" nodeType="afterEffect">
                                  <p:stCondLst>
                                    <p:cond delay="250"/>
                                  </p:stCondLst>
                                  <p:childTnLst>
                                    <p:anim calcmode="lin" valueType="num">
                                      <p:cBhvr additive="base">
                                        <p:cTn id="18" dur="2000"/>
                                        <p:tgtEl>
                                          <p:spTgt spid="9"/>
                                        </p:tgtEl>
                                        <p:attrNameLst>
                                          <p:attrName>ppt_x</p:attrName>
                                        </p:attrNameLst>
                                      </p:cBhvr>
                                      <p:tavLst>
                                        <p:tav tm="0">
                                          <p:val>
                                            <p:strVal val="ppt_x"/>
                                          </p:val>
                                        </p:tav>
                                        <p:tav tm="100000">
                                          <p:val>
                                            <p:strVal val="0-ppt_w/2"/>
                                          </p:val>
                                        </p:tav>
                                      </p:tavLst>
                                    </p:anim>
                                    <p:anim calcmode="lin" valueType="num">
                                      <p:cBhvr additive="base">
                                        <p:cTn id="19" dur="2000"/>
                                        <p:tgtEl>
                                          <p:spTgt spid="9"/>
                                        </p:tgtEl>
                                        <p:attrNameLst>
                                          <p:attrName>ppt_y</p:attrName>
                                        </p:attrNameLst>
                                      </p:cBhvr>
                                      <p:tavLst>
                                        <p:tav tm="0">
                                          <p:val>
                                            <p:strVal val="ppt_y"/>
                                          </p:val>
                                        </p:tav>
                                        <p:tav tm="100000">
                                          <p:val>
                                            <p:strVal val="ppt_y"/>
                                          </p:val>
                                        </p:tav>
                                      </p:tavLst>
                                    </p:anim>
                                    <p:set>
                                      <p:cBhvr>
                                        <p:cTn id="20" dur="1" fill="hold">
                                          <p:stCondLst>
                                            <p:cond delay="1999"/>
                                          </p:stCondLst>
                                        </p:cTn>
                                        <p:tgtEl>
                                          <p:spTgt spid="9"/>
                                        </p:tgtEl>
                                        <p:attrNameLst>
                                          <p:attrName>style.visibility</p:attrName>
                                        </p:attrNameLst>
                                      </p:cBhvr>
                                      <p:to>
                                        <p:strVal val="hidden"/>
                                      </p:to>
                                    </p:set>
                                  </p:childTnLst>
                                </p:cTn>
                              </p:par>
                            </p:childTnLst>
                          </p:cTn>
                        </p:par>
                        <p:par>
                          <p:cTn id="21" fill="hold">
                            <p:stCondLst>
                              <p:cond delay="5250"/>
                            </p:stCondLst>
                            <p:childTnLst>
                              <p:par>
                                <p:cTn id="22" presetID="2" presetClass="exit" presetSubtype="8" fill="hold" nodeType="afterEffect">
                                  <p:stCondLst>
                                    <p:cond delay="250"/>
                                  </p:stCondLst>
                                  <p:childTnLst>
                                    <p:anim calcmode="lin" valueType="num">
                                      <p:cBhvr additive="base">
                                        <p:cTn id="23" dur="2000"/>
                                        <p:tgtEl>
                                          <p:spTgt spid="15"/>
                                        </p:tgtEl>
                                        <p:attrNameLst>
                                          <p:attrName>ppt_x</p:attrName>
                                        </p:attrNameLst>
                                      </p:cBhvr>
                                      <p:tavLst>
                                        <p:tav tm="0">
                                          <p:val>
                                            <p:strVal val="ppt_x"/>
                                          </p:val>
                                        </p:tav>
                                        <p:tav tm="100000">
                                          <p:val>
                                            <p:strVal val="0-ppt_w/2"/>
                                          </p:val>
                                        </p:tav>
                                      </p:tavLst>
                                    </p:anim>
                                    <p:anim calcmode="lin" valueType="num">
                                      <p:cBhvr additive="base">
                                        <p:cTn id="24" dur="2000"/>
                                        <p:tgtEl>
                                          <p:spTgt spid="15"/>
                                        </p:tgtEl>
                                        <p:attrNameLst>
                                          <p:attrName>ppt_y</p:attrName>
                                        </p:attrNameLst>
                                      </p:cBhvr>
                                      <p:tavLst>
                                        <p:tav tm="0">
                                          <p:val>
                                            <p:strVal val="ppt_y"/>
                                          </p:val>
                                        </p:tav>
                                        <p:tav tm="100000">
                                          <p:val>
                                            <p:strVal val="ppt_y"/>
                                          </p:val>
                                        </p:tav>
                                      </p:tavLst>
                                    </p:anim>
                                    <p:set>
                                      <p:cBhvr>
                                        <p:cTn id="25" dur="1" fill="hold">
                                          <p:stCondLst>
                                            <p:cond delay="19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181013" y="1478417"/>
            <a:ext cx="1915512" cy="369887"/>
          </a:xfrm>
          <a:prstGeom prst="rect">
            <a:avLst/>
          </a:prstGeom>
          <a:solidFill>
            <a:srgbClr val="B1D8F9"/>
          </a:solidFill>
          <a:ln w="28575">
            <a:solidFill>
              <a:schemeClr val="tx1"/>
            </a:solidFill>
            <a:miter lim="800000"/>
            <a:headEnd/>
            <a:tailEnd/>
          </a:ln>
        </p:spPr>
        <p:txBody>
          <a:bodyPr wrap="none" anchor="ctr"/>
          <a:lstStyle/>
          <a:p>
            <a:pPr algn="ctr" eaLnBrk="0" hangingPunct="0"/>
            <a:r>
              <a:rPr lang="zh-CN" altLang="en-US" sz="1600" b="1">
                <a:latin typeface="微软雅黑" pitchFamily="34" charset="-122"/>
                <a:ea typeface="微软雅黑" pitchFamily="34" charset="-122"/>
              </a:rPr>
              <a:t>数     据</a:t>
            </a:r>
          </a:p>
        </p:txBody>
      </p:sp>
      <p:sp>
        <p:nvSpPr>
          <p:cNvPr id="5" name="Rectangle 10"/>
          <p:cNvSpPr>
            <a:spLocks noChangeArrowheads="1"/>
          </p:cNvSpPr>
          <p:nvPr/>
        </p:nvSpPr>
        <p:spPr bwMode="auto">
          <a:xfrm>
            <a:off x="1647613" y="1478417"/>
            <a:ext cx="533400" cy="369887"/>
          </a:xfrm>
          <a:prstGeom prst="rect">
            <a:avLst/>
          </a:prstGeom>
          <a:solidFill>
            <a:srgbClr val="00B050"/>
          </a:solidFill>
          <a:ln w="28575">
            <a:solidFill>
              <a:schemeClr val="tx1"/>
            </a:solidFill>
            <a:miter lim="800000"/>
            <a:headEnd/>
            <a:tailEnd/>
          </a:ln>
        </p:spPr>
        <p:txBody>
          <a:bodyPr wrap="none" anchor="ctr"/>
          <a:lstStyle/>
          <a:p>
            <a:pPr algn="ctr" eaLnBrk="0" hangingPunct="0"/>
            <a:r>
              <a:rPr lang="zh-CN" altLang="en-US" sz="1600" b="1">
                <a:solidFill>
                  <a:schemeClr val="bg1"/>
                </a:solidFill>
                <a:latin typeface="微软雅黑" pitchFamily="34" charset="-122"/>
                <a:ea typeface="微软雅黑" pitchFamily="34" charset="-122"/>
              </a:rPr>
              <a:t>首部</a:t>
            </a:r>
          </a:p>
        </p:txBody>
      </p:sp>
      <p:grpSp>
        <p:nvGrpSpPr>
          <p:cNvPr id="6" name="Group 13"/>
          <p:cNvGrpSpPr>
            <a:grpSpLocks/>
          </p:cNvGrpSpPr>
          <p:nvPr/>
        </p:nvGrpSpPr>
        <p:grpSpPr bwMode="auto">
          <a:xfrm>
            <a:off x="1666609" y="1006931"/>
            <a:ext cx="2429157" cy="433780"/>
            <a:chOff x="1973" y="2532"/>
            <a:chExt cx="1652" cy="320"/>
          </a:xfrm>
        </p:grpSpPr>
        <p:sp>
          <p:nvSpPr>
            <p:cNvPr id="7" name="AutoShape 14"/>
            <p:cNvSpPr>
              <a:spLocks/>
            </p:cNvSpPr>
            <p:nvPr/>
          </p:nvSpPr>
          <p:spPr bwMode="auto">
            <a:xfrm rot="5400000">
              <a:off x="2748" y="1975"/>
              <a:ext cx="102" cy="1652"/>
            </a:xfrm>
            <a:prstGeom prst="leftBrace">
              <a:avLst>
                <a:gd name="adj1" fmla="val 134352"/>
                <a:gd name="adj2" fmla="val 50000"/>
              </a:avLst>
            </a:prstGeom>
            <a:noFill/>
            <a:ln w="28575">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endParaRPr>
            </a:p>
          </p:txBody>
        </p:sp>
        <p:sp>
          <p:nvSpPr>
            <p:cNvPr id="8" name="Text Box 15"/>
            <p:cNvSpPr txBox="1">
              <a:spLocks noChangeArrowheads="1"/>
            </p:cNvSpPr>
            <p:nvPr/>
          </p:nvSpPr>
          <p:spPr bwMode="auto">
            <a:xfrm>
              <a:off x="2561"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solidFill>
                    <a:srgbClr val="0000FF"/>
                  </a:solidFill>
                  <a:latin typeface="微软雅黑" pitchFamily="34" charset="-122"/>
                  <a:ea typeface="微软雅黑" pitchFamily="34" charset="-122"/>
                </a:rPr>
                <a:t>分组 </a:t>
              </a:r>
              <a:r>
                <a:rPr lang="en-US" altLang="zh-CN" sz="1400" b="1" dirty="0">
                  <a:solidFill>
                    <a:srgbClr val="0000FF"/>
                  </a:solidFill>
                  <a:latin typeface="微软雅黑" pitchFamily="34" charset="-122"/>
                  <a:ea typeface="微软雅黑" pitchFamily="34" charset="-122"/>
                </a:rPr>
                <a:t>1</a:t>
              </a:r>
            </a:p>
          </p:txBody>
        </p:sp>
      </p:grpSp>
      <p:sp>
        <p:nvSpPr>
          <p:cNvPr id="9" name="Rectangle 3"/>
          <p:cNvSpPr>
            <a:spLocks noChangeArrowheads="1"/>
          </p:cNvSpPr>
          <p:nvPr/>
        </p:nvSpPr>
        <p:spPr bwMode="auto">
          <a:xfrm>
            <a:off x="4097123" y="2121577"/>
            <a:ext cx="1915432" cy="369887"/>
          </a:xfrm>
          <a:prstGeom prst="rect">
            <a:avLst/>
          </a:prstGeom>
          <a:solidFill>
            <a:srgbClr val="B1D8F9"/>
          </a:solidFill>
          <a:ln w="28575">
            <a:solidFill>
              <a:schemeClr val="tx1"/>
            </a:solidFill>
            <a:miter lim="800000"/>
            <a:headEnd/>
            <a:tailEnd/>
          </a:ln>
        </p:spPr>
        <p:txBody>
          <a:bodyPr wrap="none" anchor="ctr"/>
          <a:lstStyle/>
          <a:p>
            <a:pPr algn="ctr" eaLnBrk="0" hangingPunct="0"/>
            <a:r>
              <a:rPr lang="zh-CN" altLang="en-US" sz="1600" b="1">
                <a:latin typeface="微软雅黑" pitchFamily="34" charset="-122"/>
                <a:ea typeface="微软雅黑" pitchFamily="34" charset="-122"/>
              </a:rPr>
              <a:t>数     据</a:t>
            </a:r>
          </a:p>
        </p:txBody>
      </p:sp>
      <p:sp>
        <p:nvSpPr>
          <p:cNvPr id="10" name="Rectangle 11"/>
          <p:cNvSpPr>
            <a:spLocks noChangeArrowheads="1"/>
          </p:cNvSpPr>
          <p:nvPr/>
        </p:nvSpPr>
        <p:spPr bwMode="auto">
          <a:xfrm>
            <a:off x="3563723" y="2121577"/>
            <a:ext cx="533400" cy="369887"/>
          </a:xfrm>
          <a:prstGeom prst="rect">
            <a:avLst/>
          </a:prstGeom>
          <a:solidFill>
            <a:srgbClr val="00B050"/>
          </a:solidFill>
          <a:ln w="28575">
            <a:solidFill>
              <a:schemeClr val="tx1"/>
            </a:solidFill>
            <a:miter lim="800000"/>
            <a:headEnd/>
            <a:tailEnd/>
          </a:ln>
        </p:spPr>
        <p:txBody>
          <a:bodyPr wrap="none" anchor="ctr"/>
          <a:lstStyle/>
          <a:p>
            <a:pPr algn="ctr" eaLnBrk="0" hangingPunct="0"/>
            <a:r>
              <a:rPr lang="zh-CN" altLang="en-US" sz="1600" b="1">
                <a:solidFill>
                  <a:schemeClr val="bg1"/>
                </a:solidFill>
                <a:latin typeface="微软雅黑" pitchFamily="34" charset="-122"/>
                <a:ea typeface="微软雅黑" pitchFamily="34" charset="-122"/>
              </a:rPr>
              <a:t>首部</a:t>
            </a:r>
          </a:p>
        </p:txBody>
      </p:sp>
      <p:grpSp>
        <p:nvGrpSpPr>
          <p:cNvPr id="11" name="Group 16"/>
          <p:cNvGrpSpPr>
            <a:grpSpLocks/>
          </p:cNvGrpSpPr>
          <p:nvPr/>
        </p:nvGrpSpPr>
        <p:grpSpPr bwMode="auto">
          <a:xfrm>
            <a:off x="3565193" y="1640571"/>
            <a:ext cx="2429157" cy="457201"/>
            <a:chOff x="1974" y="2532"/>
            <a:chExt cx="1652" cy="336"/>
          </a:xfrm>
        </p:grpSpPr>
        <p:sp>
          <p:nvSpPr>
            <p:cNvPr id="12" name="AutoShape 17"/>
            <p:cNvSpPr>
              <a:spLocks/>
            </p:cNvSpPr>
            <p:nvPr/>
          </p:nvSpPr>
          <p:spPr bwMode="auto">
            <a:xfrm rot="5400000">
              <a:off x="2734" y="1977"/>
              <a:ext cx="131" cy="1652"/>
            </a:xfrm>
            <a:prstGeom prst="leftBrace">
              <a:avLst>
                <a:gd name="adj1" fmla="val 134352"/>
                <a:gd name="adj2" fmla="val 50000"/>
              </a:avLst>
            </a:prstGeom>
            <a:noFill/>
            <a:ln w="28575">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endParaRPr>
            </a:p>
          </p:txBody>
        </p:sp>
        <p:sp>
          <p:nvSpPr>
            <p:cNvPr id="13" name="Text Box 18"/>
            <p:cNvSpPr txBox="1">
              <a:spLocks noChangeArrowheads="1"/>
            </p:cNvSpPr>
            <p:nvPr/>
          </p:nvSpPr>
          <p:spPr bwMode="auto">
            <a:xfrm>
              <a:off x="2549"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solidFill>
                    <a:srgbClr val="0000FF"/>
                  </a:solidFill>
                  <a:latin typeface="微软雅黑" pitchFamily="34" charset="-122"/>
                  <a:ea typeface="微软雅黑" pitchFamily="34" charset="-122"/>
                </a:rPr>
                <a:t>分组 </a:t>
              </a:r>
              <a:r>
                <a:rPr lang="en-US" altLang="zh-CN" sz="1400" b="1" dirty="0">
                  <a:solidFill>
                    <a:srgbClr val="0000FF"/>
                  </a:solidFill>
                  <a:latin typeface="微软雅黑" pitchFamily="34" charset="-122"/>
                  <a:ea typeface="微软雅黑" pitchFamily="34" charset="-122"/>
                </a:rPr>
                <a:t>2</a:t>
              </a:r>
            </a:p>
          </p:txBody>
        </p:sp>
      </p:grpSp>
      <p:sp>
        <p:nvSpPr>
          <p:cNvPr id="14" name="Rectangle 4"/>
          <p:cNvSpPr>
            <a:spLocks noChangeArrowheads="1"/>
          </p:cNvSpPr>
          <p:nvPr/>
        </p:nvSpPr>
        <p:spPr bwMode="auto">
          <a:xfrm>
            <a:off x="6000583" y="2735394"/>
            <a:ext cx="1915512" cy="369888"/>
          </a:xfrm>
          <a:prstGeom prst="rect">
            <a:avLst/>
          </a:prstGeom>
          <a:solidFill>
            <a:srgbClr val="B1D8F9"/>
          </a:solidFill>
          <a:ln w="28575">
            <a:solidFill>
              <a:schemeClr val="tx1"/>
            </a:solidFill>
            <a:miter lim="800000"/>
            <a:headEnd/>
            <a:tailEnd/>
          </a:ln>
        </p:spPr>
        <p:txBody>
          <a:bodyPr wrap="none" anchor="ctr"/>
          <a:lstStyle/>
          <a:p>
            <a:pPr algn="ctr" eaLnBrk="0" hangingPunct="0"/>
            <a:r>
              <a:rPr lang="zh-CN" altLang="en-US" sz="1600" b="1">
                <a:latin typeface="微软雅黑" pitchFamily="34" charset="-122"/>
                <a:ea typeface="微软雅黑" pitchFamily="34" charset="-122"/>
              </a:rPr>
              <a:t>数     据</a:t>
            </a:r>
          </a:p>
        </p:txBody>
      </p:sp>
      <p:sp>
        <p:nvSpPr>
          <p:cNvPr id="15" name="Rectangle 12"/>
          <p:cNvSpPr>
            <a:spLocks noChangeArrowheads="1"/>
          </p:cNvSpPr>
          <p:nvPr/>
        </p:nvSpPr>
        <p:spPr bwMode="auto">
          <a:xfrm>
            <a:off x="5460833" y="2733807"/>
            <a:ext cx="533400" cy="371475"/>
          </a:xfrm>
          <a:prstGeom prst="rect">
            <a:avLst/>
          </a:prstGeom>
          <a:solidFill>
            <a:srgbClr val="00B050"/>
          </a:solidFill>
          <a:ln w="28575">
            <a:solidFill>
              <a:schemeClr val="tx1"/>
            </a:solidFill>
            <a:miter lim="800000"/>
            <a:headEnd/>
            <a:tailEnd/>
          </a:ln>
        </p:spPr>
        <p:txBody>
          <a:bodyPr wrap="none" anchor="ctr"/>
          <a:lstStyle/>
          <a:p>
            <a:pPr algn="ctr" eaLnBrk="0" hangingPunct="0"/>
            <a:r>
              <a:rPr lang="zh-CN" altLang="en-US" sz="1600" b="1">
                <a:solidFill>
                  <a:schemeClr val="bg1"/>
                </a:solidFill>
                <a:latin typeface="微软雅黑" pitchFamily="34" charset="-122"/>
                <a:ea typeface="微软雅黑" pitchFamily="34" charset="-122"/>
              </a:rPr>
              <a:t>首部</a:t>
            </a:r>
          </a:p>
        </p:txBody>
      </p:sp>
      <p:grpSp>
        <p:nvGrpSpPr>
          <p:cNvPr id="16" name="Group 19"/>
          <p:cNvGrpSpPr>
            <a:grpSpLocks/>
          </p:cNvGrpSpPr>
          <p:nvPr/>
        </p:nvGrpSpPr>
        <p:grpSpPr bwMode="auto">
          <a:xfrm>
            <a:off x="5460833" y="2265497"/>
            <a:ext cx="2455262" cy="437795"/>
            <a:chOff x="1973" y="2532"/>
            <a:chExt cx="1451" cy="327"/>
          </a:xfrm>
        </p:grpSpPr>
        <p:sp>
          <p:nvSpPr>
            <p:cNvPr id="17" name="AutoShape 20"/>
            <p:cNvSpPr>
              <a:spLocks/>
            </p:cNvSpPr>
            <p:nvPr/>
          </p:nvSpPr>
          <p:spPr bwMode="auto">
            <a:xfrm rot="5400000">
              <a:off x="2644" y="2079"/>
              <a:ext cx="109" cy="1451"/>
            </a:xfrm>
            <a:prstGeom prst="leftBrace">
              <a:avLst>
                <a:gd name="adj1" fmla="val 134352"/>
                <a:gd name="adj2" fmla="val 50000"/>
              </a:avLst>
            </a:prstGeom>
            <a:noFill/>
            <a:ln w="28575">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endParaRPr>
            </a:p>
          </p:txBody>
        </p:sp>
        <p:sp>
          <p:nvSpPr>
            <p:cNvPr id="18" name="Text Box 21"/>
            <p:cNvSpPr txBox="1">
              <a:spLocks noChangeArrowheads="1"/>
            </p:cNvSpPr>
            <p:nvPr/>
          </p:nvSpPr>
          <p:spPr bwMode="auto">
            <a:xfrm>
              <a:off x="2504" y="2532"/>
              <a:ext cx="483" cy="227"/>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solidFill>
                    <a:srgbClr val="0000FF"/>
                  </a:solidFill>
                  <a:latin typeface="微软雅黑" pitchFamily="34" charset="-122"/>
                  <a:ea typeface="微软雅黑" pitchFamily="34" charset="-122"/>
                </a:rPr>
                <a:t>分组 </a:t>
              </a:r>
              <a:r>
                <a:rPr lang="en-US" altLang="zh-CN" sz="1400" b="1" dirty="0">
                  <a:solidFill>
                    <a:srgbClr val="0000FF"/>
                  </a:solidFill>
                  <a:latin typeface="微软雅黑" pitchFamily="34" charset="-122"/>
                  <a:ea typeface="微软雅黑" pitchFamily="34" charset="-122"/>
                </a:rPr>
                <a:t>3</a:t>
              </a:r>
            </a:p>
          </p:txBody>
        </p:sp>
      </p:grpSp>
      <p:grpSp>
        <p:nvGrpSpPr>
          <p:cNvPr id="22" name="组合 21"/>
          <p:cNvGrpSpPr/>
          <p:nvPr/>
        </p:nvGrpSpPr>
        <p:grpSpPr bwMode="auto">
          <a:xfrm>
            <a:off x="2095472" y="3904552"/>
            <a:ext cx="5907387" cy="830208"/>
            <a:chOff x="1757943" y="3576228"/>
            <a:chExt cx="5908307" cy="830260"/>
          </a:xfrm>
        </p:grpSpPr>
        <p:grpSp>
          <p:nvGrpSpPr>
            <p:cNvPr id="23" name="组合 8"/>
            <p:cNvGrpSpPr/>
            <p:nvPr/>
          </p:nvGrpSpPr>
          <p:grpSpPr bwMode="auto">
            <a:xfrm>
              <a:off x="1843809" y="3576228"/>
              <a:ext cx="5741101" cy="830260"/>
              <a:chOff x="1843809" y="3576228"/>
              <a:chExt cx="5741101" cy="830260"/>
            </a:xfrm>
          </p:grpSpPr>
          <p:cxnSp>
            <p:nvCxnSpPr>
              <p:cNvPr id="25" name="直接连接符 10"/>
              <p:cNvCxnSpPr>
                <a:cxnSpLocks noChangeShapeType="1"/>
              </p:cNvCxnSpPr>
              <p:nvPr/>
            </p:nvCxnSpPr>
            <p:spPr bwMode="auto">
              <a:xfrm>
                <a:off x="1845529" y="3997434"/>
                <a:ext cx="0" cy="400111"/>
              </a:xfrm>
              <a:prstGeom prst="line">
                <a:avLst/>
              </a:prstGeom>
              <a:noFill/>
              <a:ln w="28575" algn="ctr">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11"/>
              <p:cNvCxnSpPr>
                <a:cxnSpLocks noChangeShapeType="1"/>
              </p:cNvCxnSpPr>
              <p:nvPr/>
            </p:nvCxnSpPr>
            <p:spPr bwMode="auto">
              <a:xfrm>
                <a:off x="7584910" y="3997437"/>
                <a:ext cx="0" cy="400111"/>
              </a:xfrm>
              <a:prstGeom prst="line">
                <a:avLst/>
              </a:prstGeom>
              <a:noFill/>
              <a:ln w="28575" algn="ctr">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27" name="Group 5"/>
              <p:cNvGrpSpPr/>
              <p:nvPr/>
            </p:nvGrpSpPr>
            <p:grpSpPr bwMode="auto">
              <a:xfrm>
                <a:off x="1843809" y="4068350"/>
                <a:ext cx="5740664" cy="338138"/>
                <a:chOff x="1247" y="2334"/>
                <a:chExt cx="3338" cy="213"/>
              </a:xfrm>
            </p:grpSpPr>
            <p:sp>
              <p:nvSpPr>
                <p:cNvPr id="33" name="Line 6"/>
                <p:cNvSpPr>
                  <a:spLocks noChangeShapeType="1"/>
                </p:cNvSpPr>
                <p:nvPr/>
              </p:nvSpPr>
              <p:spPr bwMode="auto">
                <a:xfrm>
                  <a:off x="1247" y="2428"/>
                  <a:ext cx="3338" cy="0"/>
                </a:xfrm>
                <a:prstGeom prst="line">
                  <a:avLst/>
                </a:prstGeom>
                <a:noFill/>
                <a:ln w="28575">
                  <a:solidFill>
                    <a:srgbClr val="00B05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34" name="Text Box 7"/>
                <p:cNvSpPr txBox="1">
                  <a:spLocks noChangeArrowheads="1"/>
                </p:cNvSpPr>
                <p:nvPr/>
              </p:nvSpPr>
              <p:spPr bwMode="auto">
                <a:xfrm>
                  <a:off x="2874" y="2334"/>
                  <a:ext cx="346" cy="21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prstClr val="black"/>
                      </a:solidFill>
                      <a:latin typeface="微软雅黑" panose="020B0503020204020204" pitchFamily="34" charset="-122"/>
                      <a:ea typeface="微软雅黑" panose="020B0503020204020204" pitchFamily="34" charset="-122"/>
                    </a:rPr>
                    <a:t>报文</a:t>
                  </a:r>
                </a:p>
              </p:txBody>
            </p:sp>
          </p:grpSp>
          <p:grpSp>
            <p:nvGrpSpPr>
              <p:cNvPr id="28" name="Group 24"/>
              <p:cNvGrpSpPr/>
              <p:nvPr/>
            </p:nvGrpSpPr>
            <p:grpSpPr bwMode="auto">
              <a:xfrm>
                <a:off x="1843809" y="3576228"/>
                <a:ext cx="5740664" cy="431800"/>
                <a:chOff x="1247" y="2931"/>
                <a:chExt cx="3338" cy="272"/>
              </a:xfrm>
            </p:grpSpPr>
            <p:sp>
              <p:nvSpPr>
                <p:cNvPr id="29" name="Rectangle 25"/>
                <p:cNvSpPr>
                  <a:spLocks noChangeArrowheads="1"/>
                </p:cNvSpPr>
                <p:nvPr/>
              </p:nvSpPr>
              <p:spPr bwMode="auto">
                <a:xfrm>
                  <a:off x="1248" y="2931"/>
                  <a:ext cx="1088" cy="272"/>
                </a:xfrm>
                <a:prstGeom prst="rect">
                  <a:avLst/>
                </a:prstGeom>
                <a:solidFill>
                  <a:srgbClr val="CDF3CD"/>
                </a:solidFill>
                <a:ln w="19050">
                  <a:solidFill>
                    <a:srgbClr val="00CC00"/>
                  </a:solidFill>
                  <a:miter lim="800000"/>
                </a:ln>
              </p:spPr>
              <p:txBody>
                <a:bodyPr wrap="none" anchor="ctr"/>
                <a:lstStyle/>
                <a:p>
                  <a:endParaRPr lang="zh-CN" altLang="zh-CN" b="1">
                    <a:solidFill>
                      <a:srgbClr val="000099"/>
                    </a:solidFill>
                    <a:ea typeface="宋体" panose="02010600030101010101" pitchFamily="2" charset="-122"/>
                  </a:endParaRPr>
                </a:p>
              </p:txBody>
            </p:sp>
            <p:sp>
              <p:nvSpPr>
                <p:cNvPr id="30" name="Rectangle 26"/>
                <p:cNvSpPr>
                  <a:spLocks noChangeArrowheads="1"/>
                </p:cNvSpPr>
                <p:nvPr/>
              </p:nvSpPr>
              <p:spPr bwMode="auto">
                <a:xfrm>
                  <a:off x="2336" y="2931"/>
                  <a:ext cx="1088" cy="272"/>
                </a:xfrm>
                <a:prstGeom prst="rect">
                  <a:avLst/>
                </a:prstGeom>
                <a:solidFill>
                  <a:srgbClr val="CDF3CD"/>
                </a:solidFill>
                <a:ln w="19050">
                  <a:solidFill>
                    <a:srgbClr val="00CC00"/>
                  </a:solidFill>
                  <a:miter lim="800000"/>
                </a:ln>
              </p:spPr>
              <p:txBody>
                <a:bodyPr wrap="none" anchor="ctr"/>
                <a:lstStyle/>
                <a:p>
                  <a:endParaRPr lang="zh-CN" altLang="zh-CN" b="1">
                    <a:solidFill>
                      <a:srgbClr val="000099"/>
                    </a:solidFill>
                    <a:ea typeface="宋体" panose="02010600030101010101" pitchFamily="2" charset="-122"/>
                  </a:endParaRPr>
                </a:p>
              </p:txBody>
            </p:sp>
            <p:sp>
              <p:nvSpPr>
                <p:cNvPr id="31" name="Rectangle 27"/>
                <p:cNvSpPr>
                  <a:spLocks noChangeArrowheads="1"/>
                </p:cNvSpPr>
                <p:nvPr/>
              </p:nvSpPr>
              <p:spPr bwMode="auto">
                <a:xfrm>
                  <a:off x="3425" y="2931"/>
                  <a:ext cx="1088" cy="272"/>
                </a:xfrm>
                <a:prstGeom prst="rect">
                  <a:avLst/>
                </a:prstGeom>
                <a:solidFill>
                  <a:srgbClr val="CDF3CD"/>
                </a:solidFill>
                <a:ln w="19050">
                  <a:solidFill>
                    <a:srgbClr val="00CC00"/>
                  </a:solidFill>
                  <a:miter lim="800000"/>
                </a:ln>
              </p:spPr>
              <p:txBody>
                <a:bodyPr wrap="none" anchor="ctr"/>
                <a:lstStyle/>
                <a:p>
                  <a:endParaRPr lang="zh-CN" altLang="zh-CN" b="1">
                    <a:solidFill>
                      <a:srgbClr val="000099"/>
                    </a:solidFill>
                    <a:ea typeface="宋体" panose="02010600030101010101" pitchFamily="2" charset="-122"/>
                  </a:endParaRPr>
                </a:p>
              </p:txBody>
            </p:sp>
            <p:sp>
              <p:nvSpPr>
                <p:cNvPr id="32" name="Rectangle 28"/>
                <p:cNvSpPr>
                  <a:spLocks noChangeArrowheads="1"/>
                </p:cNvSpPr>
                <p:nvPr/>
              </p:nvSpPr>
              <p:spPr bwMode="auto">
                <a:xfrm>
                  <a:off x="1247" y="2931"/>
                  <a:ext cx="3338" cy="272"/>
                </a:xfrm>
                <a:prstGeom prst="rect">
                  <a:avLst/>
                </a:prstGeom>
                <a:solidFill>
                  <a:srgbClr val="CDF3CD"/>
                </a:solidFill>
                <a:ln w="19050">
                  <a:solidFill>
                    <a:srgbClr val="00CC00"/>
                  </a:solidFill>
                  <a:miter lim="800000"/>
                </a:ln>
              </p:spPr>
              <p:txBody>
                <a:bodyPr wrap="none" anchor="ctr"/>
                <a:lstStyle/>
                <a:p>
                  <a:endParaRPr lang="zh-CN" altLang="en-US" b="1">
                    <a:solidFill>
                      <a:srgbClr val="000099"/>
                    </a:solidFill>
                    <a:ea typeface="宋体" panose="02010600030101010101" pitchFamily="2" charset="-122"/>
                  </a:endParaRPr>
                </a:p>
              </p:txBody>
            </p:sp>
          </p:grpSp>
        </p:grpSp>
        <p:sp>
          <p:nvSpPr>
            <p:cNvPr id="24" name="Text Box 29"/>
            <p:cNvSpPr txBox="1">
              <a:spLocks noChangeArrowheads="1"/>
            </p:cNvSpPr>
            <p:nvPr/>
          </p:nvSpPr>
          <p:spPr bwMode="auto">
            <a:xfrm>
              <a:off x="1757943" y="3596866"/>
              <a:ext cx="5908307" cy="4155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en-US" altLang="zh-CN" sz="2100" b="1" dirty="0">
                  <a:solidFill>
                    <a:srgbClr val="0000FF"/>
                  </a:solidFill>
                </a:rPr>
                <a:t>110100011010101011010101110001001101001011</a:t>
              </a:r>
            </a:p>
          </p:txBody>
        </p:sp>
      </p:grpSp>
      <p:sp>
        <p:nvSpPr>
          <p:cNvPr id="41" name="下箭头 40"/>
          <p:cNvSpPr/>
          <p:nvPr/>
        </p:nvSpPr>
        <p:spPr>
          <a:xfrm>
            <a:off x="4987699" y="3662950"/>
            <a:ext cx="220039" cy="203063"/>
          </a:xfrm>
          <a:prstGeom prst="downArrow">
            <a:avLst/>
          </a:prstGeom>
          <a:solidFill>
            <a:srgbClr val="CC6600"/>
          </a:solidFill>
          <a:ln>
            <a:solidFill>
              <a:srgbClr val="CC6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356478" y="2070415"/>
            <a:ext cx="2076133" cy="1015663"/>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假定分组在传输过程中没有出现差错，在转发时也没有被丢弃。</a:t>
            </a:r>
          </a:p>
        </p:txBody>
      </p:sp>
      <p:sp>
        <p:nvSpPr>
          <p:cNvPr id="2" name="文本占位符 1"/>
          <p:cNvSpPr>
            <a:spLocks noGrp="1"/>
          </p:cNvSpPr>
          <p:nvPr>
            <p:ph type="body" sz="quarter" idx="10"/>
          </p:nvPr>
        </p:nvSpPr>
        <p:spPr/>
        <p:txBody>
          <a:bodyPr/>
          <a:lstStyle/>
          <a:p>
            <a:r>
              <a:rPr lang="zh-CN" altLang="en-US" dirty="0"/>
              <a:t>接收端收到分组后</a:t>
            </a:r>
            <a:r>
              <a:rPr lang="zh-CN" altLang="en-US" dirty="0">
                <a:solidFill>
                  <a:srgbClr val="FFFF00"/>
                </a:solidFill>
              </a:rPr>
              <a:t>剥去</a:t>
            </a:r>
            <a:r>
              <a:rPr lang="zh-CN" altLang="en-US" dirty="0"/>
              <a:t>首部，</a:t>
            </a:r>
            <a:r>
              <a:rPr lang="zh-CN" altLang="en-US" dirty="0">
                <a:solidFill>
                  <a:srgbClr val="FFFF00"/>
                </a:solidFill>
              </a:rPr>
              <a:t>还原</a:t>
            </a:r>
            <a:r>
              <a:rPr lang="zh-CN" altLang="en-US" dirty="0"/>
              <a:t>成原来的报文</a:t>
            </a:r>
          </a:p>
        </p:txBody>
      </p:sp>
    </p:spTree>
    <p:extLst>
      <p:ext uri="{BB962C8B-B14F-4D97-AF65-F5344CB8AC3E}">
        <p14:creationId xmlns:p14="http://schemas.microsoft.com/office/powerpoint/2010/main" val="41565554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6"/>
                                        </p:tgtEl>
                                        <p:attrNameLst>
                                          <p:attrName>style.visibility</p:attrName>
                                        </p:attrNameLst>
                                      </p:cBhvr>
                                      <p:to>
                                        <p:strVal val="hidden"/>
                                      </p:to>
                                    </p:set>
                                  </p:childTnLst>
                                </p:cTn>
                              </p:par>
                            </p:childTnLst>
                          </p:cTn>
                        </p:par>
                        <p:par>
                          <p:cTn id="7" fill="hold">
                            <p:stCondLst>
                              <p:cond delay="0"/>
                            </p:stCondLst>
                            <p:childTnLst>
                              <p:par>
                                <p:cTn id="8" presetID="12" presetClass="exit" presetSubtype="8" fill="hold" grpId="0" nodeType="afterEffect">
                                  <p:stCondLst>
                                    <p:cond delay="500"/>
                                  </p:stCondLst>
                                  <p:childTnLst>
                                    <p:anim calcmode="lin" valueType="num">
                                      <p:cBhvr additive="base">
                                        <p:cTn id="9" dur="500"/>
                                        <p:tgtEl>
                                          <p:spTgt spid="5"/>
                                        </p:tgtEl>
                                        <p:attrNameLst>
                                          <p:attrName>ppt_x</p:attrName>
                                        </p:attrNameLst>
                                      </p:cBhvr>
                                      <p:tavLst>
                                        <p:tav tm="0">
                                          <p:val>
                                            <p:strVal val="#ppt_x"/>
                                          </p:val>
                                        </p:tav>
                                        <p:tav tm="100000">
                                          <p:val>
                                            <p:strVal val="#ppt_x-#ppt_w*1.125000"/>
                                          </p:val>
                                        </p:tav>
                                      </p:tavLst>
                                    </p:anim>
                                    <p:animEffect transition="out" filter="wipe(left)">
                                      <p:cBhvr>
                                        <p:cTn id="10" dur="500"/>
                                        <p:tgtEl>
                                          <p:spTgt spid="5"/>
                                        </p:tgtEl>
                                      </p:cBhvr>
                                    </p:animEffect>
                                    <p:set>
                                      <p:cBhvr>
                                        <p:cTn id="11" dur="1" fill="hold">
                                          <p:stCondLst>
                                            <p:cond delay="499"/>
                                          </p:stCondLst>
                                        </p:cTn>
                                        <p:tgtEl>
                                          <p:spTgt spid="5"/>
                                        </p:tgtEl>
                                        <p:attrNameLst>
                                          <p:attrName>style.visibility</p:attrName>
                                        </p:attrNameLst>
                                      </p:cBhvr>
                                      <p:to>
                                        <p:strVal val="hidden"/>
                                      </p:to>
                                    </p:set>
                                  </p:childTnLst>
                                </p:cTn>
                              </p:par>
                            </p:childTnLst>
                          </p:cTn>
                        </p:par>
                        <p:par>
                          <p:cTn id="12" fill="hold">
                            <p:stCondLst>
                              <p:cond delay="1000"/>
                            </p:stCondLst>
                            <p:childTnLst>
                              <p:par>
                                <p:cTn id="13" presetID="42" presetClass="path" presetSubtype="0" accel="50000" decel="50000" fill="hold" grpId="0" nodeType="afterEffect">
                                  <p:stCondLst>
                                    <p:cond delay="250"/>
                                  </p:stCondLst>
                                  <p:childTnLst>
                                    <p:animMotion origin="layout" path="M 8.33333E-7 1.85185E-6 L 8.33333E-7 0.33889 " pathEditMode="relative" rAng="0" ptsTypes="AA">
                                      <p:cBhvr>
                                        <p:cTn id="14" dur="2000" fill="hold"/>
                                        <p:tgtEl>
                                          <p:spTgt spid="4"/>
                                        </p:tgtEl>
                                        <p:attrNameLst>
                                          <p:attrName>ppt_x</p:attrName>
                                          <p:attrName>ppt_y</p:attrName>
                                        </p:attrNameLst>
                                      </p:cBhvr>
                                      <p:rCtr x="0" y="16944"/>
                                    </p:animMotion>
                                  </p:childTnLst>
                                </p:cTn>
                              </p:par>
                            </p:childTnLst>
                          </p:cTn>
                        </p:par>
                        <p:par>
                          <p:cTn id="15" fill="hold">
                            <p:stCondLst>
                              <p:cond delay="3250"/>
                            </p:stCondLst>
                            <p:childTnLst>
                              <p:par>
                                <p:cTn id="16" presetID="1" presetClass="exit" presetSubtype="0" fill="hold" nodeType="afterEffect">
                                  <p:stCondLst>
                                    <p:cond delay="500"/>
                                  </p:stCondLst>
                                  <p:childTnLst>
                                    <p:set>
                                      <p:cBhvr>
                                        <p:cTn id="17" dur="1" fill="hold">
                                          <p:stCondLst>
                                            <p:cond delay="0"/>
                                          </p:stCondLst>
                                        </p:cTn>
                                        <p:tgtEl>
                                          <p:spTgt spid="11"/>
                                        </p:tgtEl>
                                        <p:attrNameLst>
                                          <p:attrName>style.visibility</p:attrName>
                                        </p:attrNameLst>
                                      </p:cBhvr>
                                      <p:to>
                                        <p:strVal val="hidden"/>
                                      </p:to>
                                    </p:set>
                                  </p:childTnLst>
                                </p:cTn>
                              </p:par>
                            </p:childTnLst>
                          </p:cTn>
                        </p:par>
                        <p:par>
                          <p:cTn id="18" fill="hold">
                            <p:stCondLst>
                              <p:cond delay="3750"/>
                            </p:stCondLst>
                            <p:childTnLst>
                              <p:par>
                                <p:cTn id="19" presetID="12" presetClass="exit" presetSubtype="8" fill="hold" grpId="0" nodeType="afterEffect">
                                  <p:stCondLst>
                                    <p:cond delay="500"/>
                                  </p:stCondLst>
                                  <p:childTnLst>
                                    <p:anim calcmode="lin" valueType="num">
                                      <p:cBhvr additive="base">
                                        <p:cTn id="20" dur="500"/>
                                        <p:tgtEl>
                                          <p:spTgt spid="10"/>
                                        </p:tgtEl>
                                        <p:attrNameLst>
                                          <p:attrName>ppt_x</p:attrName>
                                        </p:attrNameLst>
                                      </p:cBhvr>
                                      <p:tavLst>
                                        <p:tav tm="0">
                                          <p:val>
                                            <p:strVal val="#ppt_x"/>
                                          </p:val>
                                        </p:tav>
                                        <p:tav tm="100000">
                                          <p:val>
                                            <p:strVal val="#ppt_x-#ppt_w*1.125000"/>
                                          </p:val>
                                        </p:tav>
                                      </p:tavLst>
                                    </p:anim>
                                    <p:animEffect transition="out" filter="wipe(left)">
                                      <p:cBhvr>
                                        <p:cTn id="21" dur="500"/>
                                        <p:tgtEl>
                                          <p:spTgt spid="10"/>
                                        </p:tgtEl>
                                      </p:cBhvr>
                                    </p:animEffect>
                                    <p:set>
                                      <p:cBhvr>
                                        <p:cTn id="22" dur="1" fill="hold">
                                          <p:stCondLst>
                                            <p:cond delay="499"/>
                                          </p:stCondLst>
                                        </p:cTn>
                                        <p:tgtEl>
                                          <p:spTgt spid="10"/>
                                        </p:tgtEl>
                                        <p:attrNameLst>
                                          <p:attrName>style.visibility</p:attrName>
                                        </p:attrNameLst>
                                      </p:cBhvr>
                                      <p:to>
                                        <p:strVal val="hidden"/>
                                      </p:to>
                                    </p:set>
                                  </p:childTnLst>
                                </p:cTn>
                              </p:par>
                            </p:childTnLst>
                          </p:cTn>
                        </p:par>
                        <p:par>
                          <p:cTn id="23" fill="hold">
                            <p:stCondLst>
                              <p:cond delay="4750"/>
                            </p:stCondLst>
                            <p:childTnLst>
                              <p:par>
                                <p:cTn id="24" presetID="42" presetClass="path" presetSubtype="0" accel="50000" decel="50000" fill="hold" grpId="0" nodeType="afterEffect">
                                  <p:stCondLst>
                                    <p:cond delay="250"/>
                                  </p:stCondLst>
                                  <p:childTnLst>
                                    <p:animMotion origin="layout" path="M 2.22222E-6 1.85185E-6 L 2.22222E-6 0.21389 " pathEditMode="relative" rAng="0" ptsTypes="AA">
                                      <p:cBhvr>
                                        <p:cTn id="25" dur="2000" fill="hold"/>
                                        <p:tgtEl>
                                          <p:spTgt spid="9"/>
                                        </p:tgtEl>
                                        <p:attrNameLst>
                                          <p:attrName>ppt_x</p:attrName>
                                          <p:attrName>ppt_y</p:attrName>
                                        </p:attrNameLst>
                                      </p:cBhvr>
                                      <p:rCtr x="0" y="10679"/>
                                    </p:animMotion>
                                  </p:childTnLst>
                                </p:cTn>
                              </p:par>
                            </p:childTnLst>
                          </p:cTn>
                        </p:par>
                        <p:par>
                          <p:cTn id="26" fill="hold">
                            <p:stCondLst>
                              <p:cond delay="7000"/>
                            </p:stCondLst>
                            <p:childTnLst>
                              <p:par>
                                <p:cTn id="27" presetID="1" presetClass="exit" presetSubtype="0" fill="hold" nodeType="afterEffect">
                                  <p:stCondLst>
                                    <p:cond delay="500"/>
                                  </p:stCondLst>
                                  <p:childTnLst>
                                    <p:set>
                                      <p:cBhvr>
                                        <p:cTn id="28" dur="1" fill="hold">
                                          <p:stCondLst>
                                            <p:cond delay="0"/>
                                          </p:stCondLst>
                                        </p:cTn>
                                        <p:tgtEl>
                                          <p:spTgt spid="16"/>
                                        </p:tgtEl>
                                        <p:attrNameLst>
                                          <p:attrName>style.visibility</p:attrName>
                                        </p:attrNameLst>
                                      </p:cBhvr>
                                      <p:to>
                                        <p:strVal val="hidden"/>
                                      </p:to>
                                    </p:set>
                                  </p:childTnLst>
                                </p:cTn>
                              </p:par>
                            </p:childTnLst>
                          </p:cTn>
                        </p:par>
                        <p:par>
                          <p:cTn id="29" fill="hold">
                            <p:stCondLst>
                              <p:cond delay="7500"/>
                            </p:stCondLst>
                            <p:childTnLst>
                              <p:par>
                                <p:cTn id="30" presetID="12" presetClass="exit" presetSubtype="8" fill="hold" grpId="0" nodeType="afterEffect">
                                  <p:stCondLst>
                                    <p:cond delay="500"/>
                                  </p:stCondLst>
                                  <p:childTnLst>
                                    <p:anim calcmode="lin" valueType="num">
                                      <p:cBhvr additive="base">
                                        <p:cTn id="31" dur="500"/>
                                        <p:tgtEl>
                                          <p:spTgt spid="15"/>
                                        </p:tgtEl>
                                        <p:attrNameLst>
                                          <p:attrName>ppt_x</p:attrName>
                                        </p:attrNameLst>
                                      </p:cBhvr>
                                      <p:tavLst>
                                        <p:tav tm="0">
                                          <p:val>
                                            <p:strVal val="#ppt_x"/>
                                          </p:val>
                                        </p:tav>
                                        <p:tav tm="100000">
                                          <p:val>
                                            <p:strVal val="#ppt_x-#ppt_w*1.125000"/>
                                          </p:val>
                                        </p:tav>
                                      </p:tavLst>
                                    </p:anim>
                                    <p:animEffect transition="out" filter="wipe(left)">
                                      <p:cBhvr>
                                        <p:cTn id="32" dur="500"/>
                                        <p:tgtEl>
                                          <p:spTgt spid="15"/>
                                        </p:tgtEl>
                                      </p:cBhvr>
                                    </p:animEffect>
                                    <p:set>
                                      <p:cBhvr>
                                        <p:cTn id="33" dur="1" fill="hold">
                                          <p:stCondLst>
                                            <p:cond delay="499"/>
                                          </p:stCondLst>
                                        </p:cTn>
                                        <p:tgtEl>
                                          <p:spTgt spid="15"/>
                                        </p:tgtEl>
                                        <p:attrNameLst>
                                          <p:attrName>style.visibility</p:attrName>
                                        </p:attrNameLst>
                                      </p:cBhvr>
                                      <p:to>
                                        <p:strVal val="hidden"/>
                                      </p:to>
                                    </p:set>
                                  </p:childTnLst>
                                </p:cTn>
                              </p:par>
                            </p:childTnLst>
                          </p:cTn>
                        </p:par>
                        <p:par>
                          <p:cTn id="34" fill="hold">
                            <p:stCondLst>
                              <p:cond delay="8500"/>
                            </p:stCondLst>
                            <p:childTnLst>
                              <p:par>
                                <p:cTn id="35" presetID="42" presetClass="path" presetSubtype="0" accel="50000" decel="50000" fill="hold" grpId="0" nodeType="afterEffect">
                                  <p:stCondLst>
                                    <p:cond delay="250"/>
                                  </p:stCondLst>
                                  <p:childTnLst>
                                    <p:animMotion origin="layout" path="M 2.5E-6 -2.59259E-6 L 2.5E-6 0.09445 " pathEditMode="relative" rAng="0" ptsTypes="AA">
                                      <p:cBhvr>
                                        <p:cTn id="36" dur="2000" fill="hold"/>
                                        <p:tgtEl>
                                          <p:spTgt spid="14"/>
                                        </p:tgtEl>
                                        <p:attrNameLst>
                                          <p:attrName>ppt_x</p:attrName>
                                          <p:attrName>ppt_y</p:attrName>
                                        </p:attrNameLst>
                                      </p:cBhvr>
                                      <p:rCtr x="0" y="4722"/>
                                    </p:animMotion>
                                  </p:childTnLst>
                                </p:cTn>
                              </p:par>
                            </p:childTnLst>
                          </p:cTn>
                        </p:par>
                        <p:par>
                          <p:cTn id="37" fill="hold">
                            <p:stCondLst>
                              <p:cond delay="10750"/>
                            </p:stCondLst>
                            <p:childTnLst>
                              <p:par>
                                <p:cTn id="38" presetID="22" presetClass="entr" presetSubtype="1" fill="hold" grpId="0" nodeType="afterEffect">
                                  <p:stCondLst>
                                    <p:cond delay="0"/>
                                  </p:stCondLst>
                                  <p:childTnLst>
                                    <p:set>
                                      <p:cBhvr>
                                        <p:cTn id="39" dur="1" fill="hold">
                                          <p:stCondLst>
                                            <p:cond delay="0"/>
                                          </p:stCondLst>
                                        </p:cTn>
                                        <p:tgtEl>
                                          <p:spTgt spid="41"/>
                                        </p:tgtEl>
                                        <p:attrNameLst>
                                          <p:attrName>style.visibility</p:attrName>
                                        </p:attrNameLst>
                                      </p:cBhvr>
                                      <p:to>
                                        <p:strVal val="visible"/>
                                      </p:to>
                                    </p:set>
                                    <p:animEffect transition="in" filter="wipe(up)">
                                      <p:cBhvr>
                                        <p:cTn id="40" dur="500"/>
                                        <p:tgtEl>
                                          <p:spTgt spid="41"/>
                                        </p:tgtEl>
                                      </p:cBhvr>
                                    </p:animEffect>
                                  </p:childTnLst>
                                </p:cTn>
                              </p:par>
                            </p:childTnLst>
                          </p:cTn>
                        </p:par>
                        <p:par>
                          <p:cTn id="41" fill="hold">
                            <p:stCondLst>
                              <p:cond delay="11250"/>
                            </p:stCondLst>
                            <p:childTnLst>
                              <p:par>
                                <p:cTn id="42" presetID="10" presetClass="entr" presetSubtype="0" fill="hold" nodeType="afterEffect">
                                  <p:stCondLst>
                                    <p:cond delay="50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7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9" grpId="0" animBg="1"/>
      <p:bldP spid="10" grpId="0" animBg="1"/>
      <p:bldP spid="14" grpId="0" animBg="1"/>
      <p:bldP spid="15" grpId="0" animBg="1"/>
      <p:bldP spid="41"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973353"/>
            <a:ext cx="4410456" cy="3172691"/>
          </a:xfrm>
        </p:spPr>
        <p:txBody>
          <a:bodyPr/>
          <a:lstStyle/>
          <a:p>
            <a:r>
              <a:rPr lang="zh-CN" altLang="en-US" dirty="0"/>
              <a:t>根据</a:t>
            </a:r>
            <a:r>
              <a:rPr lang="zh-CN" altLang="en-US" dirty="0">
                <a:solidFill>
                  <a:srgbClr val="C00000"/>
                </a:solidFill>
              </a:rPr>
              <a:t>首部</a:t>
            </a:r>
            <a:r>
              <a:rPr lang="zh-CN" altLang="en-US" dirty="0"/>
              <a:t>中包含的目的地址、源地址等重要控制信息进行转发。</a:t>
            </a:r>
            <a:endParaRPr lang="en-US" altLang="zh-CN" dirty="0"/>
          </a:p>
          <a:p>
            <a:r>
              <a:rPr lang="zh-CN" altLang="en-US" dirty="0"/>
              <a:t>每一个分组在互联网中</a:t>
            </a:r>
            <a:r>
              <a:rPr lang="zh-CN" altLang="en-US" dirty="0">
                <a:solidFill>
                  <a:srgbClr val="C00000"/>
                </a:solidFill>
              </a:rPr>
              <a:t>独立选择</a:t>
            </a:r>
            <a:r>
              <a:rPr lang="zh-CN" altLang="en-US" dirty="0"/>
              <a:t>传输路径。</a:t>
            </a:r>
            <a:endParaRPr lang="en-US" altLang="zh-CN" dirty="0"/>
          </a:p>
          <a:p>
            <a:r>
              <a:rPr lang="zh-CN" altLang="en-US" dirty="0"/>
              <a:t>位于网络核心部分的</a:t>
            </a:r>
            <a:r>
              <a:rPr lang="zh-CN" altLang="en-US" dirty="0">
                <a:solidFill>
                  <a:srgbClr val="C00000"/>
                </a:solidFill>
              </a:rPr>
              <a:t>路由器负责转发分组，</a:t>
            </a:r>
            <a:r>
              <a:rPr lang="zh-CN" altLang="en-US" dirty="0"/>
              <a:t>即进行分组交换。</a:t>
            </a:r>
            <a:endParaRPr lang="en-US" altLang="zh-CN" dirty="0"/>
          </a:p>
          <a:p>
            <a:r>
              <a:rPr lang="zh-CN" altLang="en-US" dirty="0"/>
              <a:t>路由器要创建和动态维护</a:t>
            </a:r>
            <a:r>
              <a:rPr lang="zh-CN" altLang="en-US" dirty="0">
                <a:solidFill>
                  <a:srgbClr val="C00000"/>
                </a:solidFill>
              </a:rPr>
              <a:t>转发表。</a:t>
            </a:r>
            <a:endParaRPr lang="en-US" altLang="zh-CN" dirty="0">
              <a:solidFill>
                <a:srgbClr val="C00000"/>
              </a:solidFill>
            </a:endParaRPr>
          </a:p>
          <a:p>
            <a:endParaRPr lang="en-US" altLang="zh-CN" dirty="0"/>
          </a:p>
        </p:txBody>
      </p:sp>
      <p:sp>
        <p:nvSpPr>
          <p:cNvPr id="2" name="文本占位符 1"/>
          <p:cNvSpPr>
            <a:spLocks noGrp="1"/>
          </p:cNvSpPr>
          <p:nvPr>
            <p:ph type="body" sz="quarter" idx="11"/>
          </p:nvPr>
        </p:nvSpPr>
        <p:spPr/>
        <p:txBody>
          <a:bodyPr/>
          <a:lstStyle/>
          <a:p>
            <a:r>
              <a:rPr lang="zh-CN" altLang="en-US" dirty="0"/>
              <a:t>分组在互联网中的转发</a:t>
            </a:r>
          </a:p>
        </p:txBody>
      </p:sp>
      <p:grpSp>
        <p:nvGrpSpPr>
          <p:cNvPr id="4" name="组合 3"/>
          <p:cNvGrpSpPr/>
          <p:nvPr/>
        </p:nvGrpSpPr>
        <p:grpSpPr>
          <a:xfrm>
            <a:off x="5286100" y="1171805"/>
            <a:ext cx="2682240" cy="3126677"/>
            <a:chOff x="5286100" y="1171805"/>
            <a:chExt cx="2682240" cy="3126677"/>
          </a:xfrm>
        </p:grpSpPr>
        <p:sp>
          <p:nvSpPr>
            <p:cNvPr id="5" name="圆角矩形 4"/>
            <p:cNvSpPr/>
            <p:nvPr/>
          </p:nvSpPr>
          <p:spPr>
            <a:xfrm>
              <a:off x="5286100" y="1171805"/>
              <a:ext cx="2682240" cy="383177"/>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600" b="1" dirty="0">
                  <a:solidFill>
                    <a:srgbClr val="000099"/>
                  </a:solidFill>
                  <a:latin typeface="微软雅黑" panose="020B0503020204020204" pitchFamily="34" charset="-122"/>
                  <a:ea typeface="微软雅黑" panose="020B0503020204020204" pitchFamily="34" charset="-122"/>
                </a:rPr>
                <a:t>暂存收到的分组。</a:t>
              </a:r>
            </a:p>
          </p:txBody>
        </p:sp>
        <p:sp>
          <p:nvSpPr>
            <p:cNvPr id="6" name="圆角矩形 5"/>
            <p:cNvSpPr/>
            <p:nvPr/>
          </p:nvSpPr>
          <p:spPr>
            <a:xfrm>
              <a:off x="5286100" y="1822612"/>
              <a:ext cx="2682240" cy="383177"/>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600" b="1" dirty="0">
                  <a:solidFill>
                    <a:srgbClr val="000099"/>
                  </a:solidFill>
                  <a:latin typeface="微软雅黑" panose="020B0503020204020204" pitchFamily="34" charset="-122"/>
                  <a:ea typeface="微软雅黑" panose="020B0503020204020204" pitchFamily="34" charset="-122"/>
                </a:rPr>
                <a:t>检查分组首部。</a:t>
              </a:r>
            </a:p>
          </p:txBody>
        </p:sp>
        <p:sp>
          <p:nvSpPr>
            <p:cNvPr id="7" name="圆角矩形 6"/>
            <p:cNvSpPr/>
            <p:nvPr/>
          </p:nvSpPr>
          <p:spPr>
            <a:xfrm>
              <a:off x="5286100" y="2488504"/>
              <a:ext cx="2682240" cy="383177"/>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600" b="1" dirty="0">
                  <a:solidFill>
                    <a:srgbClr val="000099"/>
                  </a:solidFill>
                  <a:latin typeface="微软雅黑" panose="020B0503020204020204" pitchFamily="34" charset="-122"/>
                  <a:ea typeface="微软雅黑" panose="020B0503020204020204" pitchFamily="34" charset="-122"/>
                </a:rPr>
                <a:t>查找转发表。</a:t>
              </a:r>
            </a:p>
          </p:txBody>
        </p:sp>
        <p:sp>
          <p:nvSpPr>
            <p:cNvPr id="8" name="圆角矩形 7"/>
            <p:cNvSpPr/>
            <p:nvPr/>
          </p:nvSpPr>
          <p:spPr>
            <a:xfrm>
              <a:off x="5286100" y="3154397"/>
              <a:ext cx="2682240" cy="664814"/>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r>
                <a:rPr lang="zh-CN" altLang="en-US" sz="1600" b="1" dirty="0">
                  <a:solidFill>
                    <a:srgbClr val="000099"/>
                  </a:solidFill>
                  <a:latin typeface="微软雅黑" panose="020B0503020204020204" pitchFamily="34" charset="-122"/>
                  <a:ea typeface="微软雅黑" panose="020B0503020204020204" pitchFamily="34" charset="-122"/>
                </a:rPr>
                <a:t>按照首部中的目的地址，找到合适的接口转发出去。</a:t>
              </a:r>
            </a:p>
          </p:txBody>
        </p:sp>
        <p:cxnSp>
          <p:nvCxnSpPr>
            <p:cNvPr id="10" name="直接箭头连接符 9"/>
            <p:cNvCxnSpPr>
              <a:stCxn id="5" idx="2"/>
              <a:endCxn id="6" idx="0"/>
            </p:cNvCxnSpPr>
            <p:nvPr/>
          </p:nvCxnSpPr>
          <p:spPr>
            <a:xfrm>
              <a:off x="6627220" y="1554982"/>
              <a:ext cx="0" cy="267630"/>
            </a:xfrm>
            <a:prstGeom prst="straightConnector1">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a:stCxn id="6" idx="2"/>
              <a:endCxn id="7" idx="0"/>
            </p:cNvCxnSpPr>
            <p:nvPr/>
          </p:nvCxnSpPr>
          <p:spPr>
            <a:xfrm>
              <a:off x="6627220" y="2205789"/>
              <a:ext cx="0" cy="282715"/>
            </a:xfrm>
            <a:prstGeom prst="straightConnector1">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14" name="直接箭头连接符 13"/>
            <p:cNvCxnSpPr>
              <a:stCxn id="7" idx="2"/>
              <a:endCxn id="8" idx="0"/>
            </p:cNvCxnSpPr>
            <p:nvPr/>
          </p:nvCxnSpPr>
          <p:spPr>
            <a:xfrm>
              <a:off x="6627220" y="2871681"/>
              <a:ext cx="0" cy="282716"/>
            </a:xfrm>
            <a:prstGeom prst="straightConnector1">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sp>
          <p:nvSpPr>
            <p:cNvPr id="24" name="矩形 23"/>
            <p:cNvSpPr/>
            <p:nvPr/>
          </p:nvSpPr>
          <p:spPr>
            <a:xfrm>
              <a:off x="5603590" y="3959928"/>
              <a:ext cx="223651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kumimoji="1" lang="zh-CN" altLang="en-US" sz="1600" b="1" dirty="0">
                  <a:latin typeface="微软雅黑" panose="020B0503020204020204" pitchFamily="34" charset="-122"/>
                  <a:ea typeface="微软雅黑" panose="020B0503020204020204" pitchFamily="34" charset="-122"/>
                </a:rPr>
                <a:t>路由器处理分组的过程</a:t>
              </a:r>
            </a:p>
          </p:txBody>
        </p:sp>
      </p:grpSp>
    </p:spTree>
    <p:extLst>
      <p:ext uri="{BB962C8B-B14F-4D97-AF65-F5344CB8AC3E}">
        <p14:creationId xmlns:p14="http://schemas.microsoft.com/office/powerpoint/2010/main" val="24930342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675914"/>
            <a:ext cx="8133857" cy="355688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74758" name="矩形 3"/>
          <p:cNvSpPr>
            <a:spLocks noChangeArrowheads="1"/>
          </p:cNvSpPr>
          <p:nvPr/>
        </p:nvSpPr>
        <p:spPr bwMode="auto">
          <a:xfrm>
            <a:off x="2773349" y="4276262"/>
            <a:ext cx="406320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kumimoji="1" lang="en-US" altLang="zh-CN" sz="1600" b="1" dirty="0">
                <a:latin typeface="微软雅黑" panose="020B0503020204020204" pitchFamily="34" charset="-122"/>
                <a:ea typeface="微软雅黑" panose="020B0503020204020204" pitchFamily="34" charset="-122"/>
              </a:rPr>
              <a:t>(a) </a:t>
            </a:r>
            <a:r>
              <a:rPr kumimoji="1" lang="zh-CN" altLang="zh-CN" sz="1600" b="1" dirty="0">
                <a:latin typeface="微软雅黑" panose="020B0503020204020204" pitchFamily="34" charset="-122"/>
                <a:ea typeface="微软雅黑" panose="020B0503020204020204" pitchFamily="34" charset="-122"/>
              </a:rPr>
              <a:t>核心部分的路由器把网络互连起来</a:t>
            </a:r>
            <a:endParaRPr kumimoji="1" lang="zh-CN" altLang="en-US" sz="1600" b="1" dirty="0">
              <a:latin typeface="微软雅黑" panose="020B0503020204020204" pitchFamily="34" charset="-122"/>
              <a:ea typeface="微软雅黑" panose="020B0503020204020204" pitchFamily="34" charset="-122"/>
            </a:endParaRPr>
          </a:p>
        </p:txBody>
      </p:sp>
      <p:grpSp>
        <p:nvGrpSpPr>
          <p:cNvPr id="5" name="组合 4"/>
          <p:cNvGrpSpPr/>
          <p:nvPr/>
        </p:nvGrpSpPr>
        <p:grpSpPr>
          <a:xfrm>
            <a:off x="1836055" y="838602"/>
            <a:ext cx="5713413" cy="3270250"/>
            <a:chOff x="1836055" y="838602"/>
            <a:chExt cx="5713413" cy="3270250"/>
          </a:xfrm>
        </p:grpSpPr>
        <p:sp>
          <p:nvSpPr>
            <p:cNvPr id="74766" name="Text Box 204"/>
            <p:cNvSpPr txBox="1">
              <a:spLocks noChangeArrowheads="1"/>
            </p:cNvSpPr>
            <p:nvPr/>
          </p:nvSpPr>
          <p:spPr bwMode="auto">
            <a:xfrm>
              <a:off x="4010293" y="838602"/>
              <a:ext cx="141546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sp>
          <p:nvSpPr>
            <p:cNvPr id="74768" name="Oval 4"/>
            <p:cNvSpPr>
              <a:spLocks noChangeArrowheads="1"/>
            </p:cNvSpPr>
            <p:nvPr/>
          </p:nvSpPr>
          <p:spPr bwMode="auto">
            <a:xfrm rot="19925028">
              <a:off x="3261024" y="1483825"/>
              <a:ext cx="1436906" cy="83058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69" name="Oval 5"/>
            <p:cNvSpPr>
              <a:spLocks noChangeArrowheads="1"/>
            </p:cNvSpPr>
            <p:nvPr/>
          </p:nvSpPr>
          <p:spPr bwMode="auto">
            <a:xfrm rot="20825028">
              <a:off x="4223452" y="1315710"/>
              <a:ext cx="1255006" cy="7714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0" name="Oval 6"/>
            <p:cNvSpPr>
              <a:spLocks noChangeArrowheads="1"/>
            </p:cNvSpPr>
            <p:nvPr/>
          </p:nvSpPr>
          <p:spPr bwMode="auto">
            <a:xfrm rot="21425028">
              <a:off x="5140647" y="1597012"/>
              <a:ext cx="926818" cy="997871"/>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1" name="Oval 7"/>
            <p:cNvSpPr>
              <a:spLocks noChangeArrowheads="1"/>
            </p:cNvSpPr>
            <p:nvPr/>
          </p:nvSpPr>
          <p:spPr bwMode="auto">
            <a:xfrm rot="18365028">
              <a:off x="5329718" y="2115794"/>
              <a:ext cx="823930" cy="863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2" name="Oval 8"/>
            <p:cNvSpPr>
              <a:spLocks noChangeArrowheads="1"/>
            </p:cNvSpPr>
            <p:nvPr/>
          </p:nvSpPr>
          <p:spPr bwMode="auto">
            <a:xfrm rot="19925028">
              <a:off x="4260987" y="2586559"/>
              <a:ext cx="1571645" cy="926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3" name="Oval 9"/>
            <p:cNvSpPr>
              <a:spLocks noChangeArrowheads="1"/>
            </p:cNvSpPr>
            <p:nvPr/>
          </p:nvSpPr>
          <p:spPr bwMode="auto">
            <a:xfrm rot="21005028">
              <a:off x="3644070" y="2977718"/>
              <a:ext cx="1123153" cy="640835"/>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4" name="Oval 10"/>
            <p:cNvSpPr>
              <a:spLocks noChangeArrowheads="1"/>
            </p:cNvSpPr>
            <p:nvPr/>
          </p:nvSpPr>
          <p:spPr bwMode="auto">
            <a:xfrm rot="19925028">
              <a:off x="3212903" y="2698914"/>
              <a:ext cx="711235" cy="757350"/>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5" name="Oval 11"/>
            <p:cNvSpPr>
              <a:spLocks noChangeArrowheads="1"/>
            </p:cNvSpPr>
            <p:nvPr/>
          </p:nvSpPr>
          <p:spPr bwMode="auto">
            <a:xfrm rot="18065028">
              <a:off x="2929036" y="2082904"/>
              <a:ext cx="950437" cy="846724"/>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6" name="Freeform 12"/>
            <p:cNvSpPr/>
            <p:nvPr/>
          </p:nvSpPr>
          <p:spPr bwMode="auto">
            <a:xfrm>
              <a:off x="3279311" y="1460523"/>
              <a:ext cx="2733295" cy="201987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77" name="Line 13"/>
            <p:cNvSpPr>
              <a:spLocks noChangeShapeType="1"/>
            </p:cNvSpPr>
            <p:nvPr/>
          </p:nvSpPr>
          <p:spPr bwMode="auto">
            <a:xfrm flipV="1">
              <a:off x="3975146" y="1450283"/>
              <a:ext cx="950879" cy="34871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78" name="Line 14"/>
            <p:cNvSpPr>
              <a:spLocks noChangeShapeType="1"/>
            </p:cNvSpPr>
            <p:nvPr/>
          </p:nvSpPr>
          <p:spPr bwMode="auto">
            <a:xfrm>
              <a:off x="5043441" y="1496889"/>
              <a:ext cx="562057" cy="87636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79" name="Line 15"/>
            <p:cNvSpPr>
              <a:spLocks noChangeShapeType="1"/>
            </p:cNvSpPr>
            <p:nvPr/>
          </p:nvSpPr>
          <p:spPr bwMode="auto">
            <a:xfrm flipH="1">
              <a:off x="3415013" y="1855590"/>
              <a:ext cx="493726" cy="78980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0" name="Line 16"/>
            <p:cNvSpPr>
              <a:spLocks noChangeShapeType="1"/>
            </p:cNvSpPr>
            <p:nvPr/>
          </p:nvSpPr>
          <p:spPr bwMode="auto">
            <a:xfrm>
              <a:off x="3444848" y="2755255"/>
              <a:ext cx="1158164" cy="52877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1" name="Line 17"/>
            <p:cNvSpPr>
              <a:spLocks noChangeShapeType="1"/>
            </p:cNvSpPr>
            <p:nvPr/>
          </p:nvSpPr>
          <p:spPr bwMode="auto">
            <a:xfrm flipV="1">
              <a:off x="4619973" y="2547192"/>
              <a:ext cx="985526" cy="81976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2" name="Line 18"/>
            <p:cNvSpPr>
              <a:spLocks noChangeShapeType="1"/>
            </p:cNvSpPr>
            <p:nvPr/>
          </p:nvSpPr>
          <p:spPr bwMode="auto">
            <a:xfrm>
              <a:off x="4013643" y="1859751"/>
              <a:ext cx="1580306" cy="59506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3" name="Line 19"/>
            <p:cNvSpPr>
              <a:spLocks noChangeShapeType="1"/>
            </p:cNvSpPr>
            <p:nvPr/>
          </p:nvSpPr>
          <p:spPr bwMode="auto">
            <a:xfrm>
              <a:off x="3938573" y="1759049"/>
              <a:ext cx="742995" cy="155131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4" name="Line 20"/>
            <p:cNvSpPr>
              <a:spLocks noChangeShapeType="1"/>
            </p:cNvSpPr>
            <p:nvPr/>
          </p:nvSpPr>
          <p:spPr bwMode="auto">
            <a:xfrm flipV="1">
              <a:off x="3943560" y="3368046"/>
              <a:ext cx="710097" cy="48084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5" name="Line 21"/>
            <p:cNvSpPr>
              <a:spLocks noChangeShapeType="1"/>
            </p:cNvSpPr>
            <p:nvPr/>
          </p:nvSpPr>
          <p:spPr bwMode="auto">
            <a:xfrm rot="16200000">
              <a:off x="5274732" y="791473"/>
              <a:ext cx="441496" cy="99647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6" name="Line 22"/>
            <p:cNvSpPr>
              <a:spLocks noChangeShapeType="1"/>
            </p:cNvSpPr>
            <p:nvPr/>
          </p:nvSpPr>
          <p:spPr bwMode="auto">
            <a:xfrm>
              <a:off x="5674794" y="2560760"/>
              <a:ext cx="475439" cy="63334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7" name="Line 23"/>
            <p:cNvSpPr>
              <a:spLocks noChangeShapeType="1"/>
            </p:cNvSpPr>
            <p:nvPr/>
          </p:nvSpPr>
          <p:spPr bwMode="auto">
            <a:xfrm>
              <a:off x="2409672" y="2737197"/>
              <a:ext cx="1011115" cy="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8" name="Line 24"/>
            <p:cNvSpPr>
              <a:spLocks noChangeShapeType="1"/>
            </p:cNvSpPr>
            <p:nvPr/>
          </p:nvSpPr>
          <p:spPr bwMode="auto">
            <a:xfrm rot="5400000" flipH="1">
              <a:off x="3538107" y="1405885"/>
              <a:ext cx="512122" cy="23299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9" name="Text Box 25"/>
            <p:cNvSpPr txBox="1">
              <a:spLocks noChangeArrowheads="1"/>
            </p:cNvSpPr>
            <p:nvPr/>
          </p:nvSpPr>
          <p:spPr bwMode="auto">
            <a:xfrm>
              <a:off x="1836055" y="2557062"/>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4790" name="Text Box 26"/>
            <p:cNvSpPr txBox="1">
              <a:spLocks noChangeArrowheads="1"/>
            </p:cNvSpPr>
            <p:nvPr/>
          </p:nvSpPr>
          <p:spPr bwMode="auto">
            <a:xfrm>
              <a:off x="6453740" y="3093303"/>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4791" name="Text Box 27"/>
            <p:cNvSpPr txBox="1">
              <a:spLocks noChangeArrowheads="1"/>
            </p:cNvSpPr>
            <p:nvPr/>
          </p:nvSpPr>
          <p:spPr bwMode="auto">
            <a:xfrm>
              <a:off x="3096610" y="877814"/>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4792" name="Text Box 28"/>
            <p:cNvSpPr txBox="1">
              <a:spLocks noChangeArrowheads="1"/>
            </p:cNvSpPr>
            <p:nvPr/>
          </p:nvSpPr>
          <p:spPr bwMode="auto">
            <a:xfrm>
              <a:off x="6177056" y="915018"/>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4793" name="Text Box 29"/>
            <p:cNvSpPr txBox="1">
              <a:spLocks noChangeArrowheads="1"/>
            </p:cNvSpPr>
            <p:nvPr/>
          </p:nvSpPr>
          <p:spPr bwMode="auto">
            <a:xfrm>
              <a:off x="3282259" y="3691429"/>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4794" name="Line 30"/>
            <p:cNvSpPr>
              <a:spLocks noChangeShapeType="1"/>
            </p:cNvSpPr>
            <p:nvPr/>
          </p:nvSpPr>
          <p:spPr bwMode="auto">
            <a:xfrm flipV="1">
              <a:off x="5674794" y="1834875"/>
              <a:ext cx="1132565" cy="61020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95" name="Text Box 31"/>
            <p:cNvSpPr txBox="1">
              <a:spLocks noChangeArrowheads="1"/>
            </p:cNvSpPr>
            <p:nvPr/>
          </p:nvSpPr>
          <p:spPr bwMode="auto">
            <a:xfrm>
              <a:off x="7143676" y="1684096"/>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grpSp>
          <p:nvGrpSpPr>
            <p:cNvPr id="74801" name="Group 43"/>
            <p:cNvGrpSpPr/>
            <p:nvPr/>
          </p:nvGrpSpPr>
          <p:grpSpPr bwMode="auto">
            <a:xfrm>
              <a:off x="4246550" y="1444709"/>
              <a:ext cx="449454" cy="323747"/>
              <a:chOff x="2949" y="196"/>
              <a:chExt cx="941" cy="598"/>
            </a:xfrm>
          </p:grpSpPr>
          <p:sp>
            <p:nvSpPr>
              <p:cNvPr id="74951" name="Oval 4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2" name="Oval 4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3" name="Oval 4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4" name="Oval 4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5" name="Oval 4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6" name="Oval 4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7" name="Oval 5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8" name="Oval 5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9" name="Freeform 5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60" name="Freeform 5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61" name="Freeform 5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2" name="Group 55"/>
            <p:cNvGrpSpPr/>
            <p:nvPr/>
          </p:nvGrpSpPr>
          <p:grpSpPr bwMode="auto">
            <a:xfrm rot="867730">
              <a:off x="4396690" y="1961537"/>
              <a:ext cx="674663" cy="388661"/>
              <a:chOff x="2949" y="196"/>
              <a:chExt cx="941" cy="598"/>
            </a:xfrm>
          </p:grpSpPr>
          <p:sp>
            <p:nvSpPr>
              <p:cNvPr id="74940" name="Oval 5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1" name="Oval 5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2" name="Oval 5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3" name="Oval 5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4" name="Oval 6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5" name="Oval 6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6" name="Oval 6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7" name="Oval 6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8" name="Freeform 6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49" name="Freeform 6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50" name="Freeform 6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3" name="Group 67"/>
            <p:cNvGrpSpPr/>
            <p:nvPr/>
          </p:nvGrpSpPr>
          <p:grpSpPr bwMode="auto">
            <a:xfrm>
              <a:off x="5746012" y="2091370"/>
              <a:ext cx="450416" cy="322913"/>
              <a:chOff x="2949" y="196"/>
              <a:chExt cx="941" cy="598"/>
            </a:xfrm>
          </p:grpSpPr>
          <p:sp>
            <p:nvSpPr>
              <p:cNvPr id="74929" name="Oval 6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0" name="Oval 6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1" name="Oval 7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2" name="Oval 7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3" name="Oval 7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4" name="Oval 7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5" name="Oval 7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6" name="Oval 7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7" name="Freeform 7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38" name="Freeform 7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39" name="Freeform 7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4" name="Group 79"/>
            <p:cNvGrpSpPr/>
            <p:nvPr/>
          </p:nvGrpSpPr>
          <p:grpSpPr bwMode="auto">
            <a:xfrm rot="21151335">
              <a:off x="5071352" y="1768455"/>
              <a:ext cx="674662" cy="387829"/>
              <a:chOff x="2949" y="196"/>
              <a:chExt cx="941" cy="598"/>
            </a:xfrm>
          </p:grpSpPr>
          <p:sp>
            <p:nvSpPr>
              <p:cNvPr id="74918" name="Oval 8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9" name="Oval 8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0" name="Oval 8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1" name="Oval 8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2" name="Oval 8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3" name="Oval 8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4" name="Oval 8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5" name="Oval 8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6" name="Freeform 8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27" name="Freeform 8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28" name="Freeform 9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5" name="Group 91"/>
            <p:cNvGrpSpPr/>
            <p:nvPr/>
          </p:nvGrpSpPr>
          <p:grpSpPr bwMode="auto">
            <a:xfrm>
              <a:off x="3947237" y="2348536"/>
              <a:ext cx="748770" cy="452746"/>
              <a:chOff x="2949" y="196"/>
              <a:chExt cx="941" cy="598"/>
            </a:xfrm>
          </p:grpSpPr>
          <p:sp>
            <p:nvSpPr>
              <p:cNvPr id="74907"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8"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9"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0"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1"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2"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3"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4"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5"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16"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17"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6" name="Group 103"/>
            <p:cNvGrpSpPr/>
            <p:nvPr/>
          </p:nvGrpSpPr>
          <p:grpSpPr bwMode="auto">
            <a:xfrm rot="21114427">
              <a:off x="4847107" y="2671449"/>
              <a:ext cx="674663" cy="388661"/>
              <a:chOff x="2949" y="196"/>
              <a:chExt cx="941" cy="598"/>
            </a:xfrm>
          </p:grpSpPr>
          <p:sp>
            <p:nvSpPr>
              <p:cNvPr id="74896" name="Oval 10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7" name="Oval 10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8" name="Oval 10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9" name="Oval 10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0" name="Oval 10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901" name="Oval 10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2" name="Oval 11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3" name="Oval 11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4" name="Freeform 11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rgbClr val="000000"/>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05" name="Freeform 11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06" name="Freeform 11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7" name="Group 115"/>
            <p:cNvGrpSpPr/>
            <p:nvPr/>
          </p:nvGrpSpPr>
          <p:grpSpPr bwMode="auto">
            <a:xfrm rot="19200976">
              <a:off x="5671908" y="2737198"/>
              <a:ext cx="449454" cy="322913"/>
              <a:chOff x="2949" y="196"/>
              <a:chExt cx="941" cy="598"/>
            </a:xfrm>
          </p:grpSpPr>
          <p:sp>
            <p:nvSpPr>
              <p:cNvPr id="74885" name="Oval 11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6" name="Oval 11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7" name="Oval 11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8" name="Oval 11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9" name="Oval 12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0" name="Oval 12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1" name="Oval 12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2" name="Oval 12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3" name="Freeform 12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94" name="Freeform 12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95" name="Freeform 12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8" name="Group 127"/>
            <p:cNvGrpSpPr/>
            <p:nvPr/>
          </p:nvGrpSpPr>
          <p:grpSpPr bwMode="auto">
            <a:xfrm rot="651098">
              <a:off x="4169346" y="3426342"/>
              <a:ext cx="449454" cy="259662"/>
              <a:chOff x="2949" y="196"/>
              <a:chExt cx="941" cy="598"/>
            </a:xfrm>
          </p:grpSpPr>
          <p:sp>
            <p:nvSpPr>
              <p:cNvPr id="74874" name="Oval 12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5" name="Oval 12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6" name="Oval 13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7" name="Oval 13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8" name="Oval 13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9" name="Oval 13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0" name="Oval 13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1" name="Oval 13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2" name="Freeform 13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83" name="Freeform 13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84" name="Freeform 13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9" name="Group 139"/>
            <p:cNvGrpSpPr/>
            <p:nvPr/>
          </p:nvGrpSpPr>
          <p:grpSpPr bwMode="auto">
            <a:xfrm rot="21035385">
              <a:off x="3731176" y="2848695"/>
              <a:ext cx="450416" cy="322913"/>
              <a:chOff x="2949" y="196"/>
              <a:chExt cx="941" cy="598"/>
            </a:xfrm>
          </p:grpSpPr>
          <p:sp>
            <p:nvSpPr>
              <p:cNvPr id="74863" name="Oval 14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4" name="Oval 14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5" name="Oval 14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6" name="Oval 14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7" name="Oval 14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8" name="Oval 14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9" name="Oval 14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0" name="Oval 14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1" name="Freeform 14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72" name="Freeform 14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73" name="Freeform 15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10" name="Group 151"/>
            <p:cNvGrpSpPr/>
            <p:nvPr/>
          </p:nvGrpSpPr>
          <p:grpSpPr bwMode="auto">
            <a:xfrm rot="1237793">
              <a:off x="5195508" y="1272435"/>
              <a:ext cx="332038" cy="203901"/>
              <a:chOff x="2949" y="196"/>
              <a:chExt cx="941" cy="598"/>
            </a:xfrm>
          </p:grpSpPr>
          <p:sp>
            <p:nvSpPr>
              <p:cNvPr id="7485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6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6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11" name="Group 163"/>
            <p:cNvGrpSpPr/>
            <p:nvPr/>
          </p:nvGrpSpPr>
          <p:grpSpPr bwMode="auto">
            <a:xfrm rot="1582351">
              <a:off x="3420786" y="2091369"/>
              <a:ext cx="450416" cy="322913"/>
              <a:chOff x="2949" y="196"/>
              <a:chExt cx="941" cy="598"/>
            </a:xfrm>
          </p:grpSpPr>
          <p:sp>
            <p:nvSpPr>
              <p:cNvPr id="74841" name="Oval 16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2" name="Oval 16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3" name="Oval 16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4" name="Oval 16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5" name="Oval 16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6" name="Oval 16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7" name="Oval 17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8" name="Oval 17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9" name="Freeform 17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50" name="Freeform 17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51" name="Freeform 17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13" name="Group 187"/>
            <p:cNvGrpSpPr/>
            <p:nvPr/>
          </p:nvGrpSpPr>
          <p:grpSpPr bwMode="auto">
            <a:xfrm rot="5241567">
              <a:off x="2853540" y="2586969"/>
              <a:ext cx="382837" cy="295468"/>
              <a:chOff x="2949" y="196"/>
              <a:chExt cx="941" cy="598"/>
            </a:xfrm>
          </p:grpSpPr>
          <p:sp>
            <p:nvSpPr>
              <p:cNvPr id="74819" name="Oval 18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0" name="Oval 18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1" name="Oval 19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2" name="Oval 19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3" name="Oval 19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4" name="Oval 19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5" name="Oval 19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6" name="Oval 19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7" name="Freeform 19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28" name="Freeform 19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29" name="Freeform 19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sp>
          <p:nvSpPr>
            <p:cNvPr id="74814" name="Text Box 200"/>
            <p:cNvSpPr txBox="1">
              <a:spLocks noChangeArrowheads="1"/>
            </p:cNvSpPr>
            <p:nvPr/>
          </p:nvSpPr>
          <p:spPr bwMode="auto">
            <a:xfrm>
              <a:off x="2504755" y="1419476"/>
              <a:ext cx="80004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61" name="Line 201"/>
            <p:cNvSpPr>
              <a:spLocks noChangeShapeType="1"/>
            </p:cNvSpPr>
            <p:nvPr/>
          </p:nvSpPr>
          <p:spPr bwMode="auto">
            <a:xfrm>
              <a:off x="3246265" y="1617924"/>
              <a:ext cx="502727" cy="214453"/>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ln w="12700">
                  <a:solidFill>
                    <a:prstClr val="black"/>
                  </a:solidFill>
                </a:ln>
                <a:solidFill>
                  <a:srgbClr val="000099"/>
                </a:solidFill>
              </a:endParaRPr>
            </a:p>
          </p:txBody>
        </p:sp>
        <p:sp>
          <p:nvSpPr>
            <p:cNvPr id="74816" name="Text Box 202"/>
            <p:cNvSpPr txBox="1">
              <a:spLocks noChangeArrowheads="1"/>
            </p:cNvSpPr>
            <p:nvPr/>
          </p:nvSpPr>
          <p:spPr bwMode="auto">
            <a:xfrm>
              <a:off x="4059391" y="2410411"/>
              <a:ext cx="543621"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网络</a:t>
              </a:r>
            </a:p>
          </p:txBody>
        </p:sp>
        <p:sp>
          <p:nvSpPr>
            <p:cNvPr id="74817" name="Line 205"/>
            <p:cNvSpPr>
              <a:spLocks noChangeShapeType="1"/>
            </p:cNvSpPr>
            <p:nvPr/>
          </p:nvSpPr>
          <p:spPr bwMode="auto">
            <a:xfrm>
              <a:off x="4569249" y="1131688"/>
              <a:ext cx="84494" cy="236529"/>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18" name="Text Box 206"/>
            <p:cNvSpPr txBox="1">
              <a:spLocks noChangeArrowheads="1"/>
            </p:cNvSpPr>
            <p:nvPr/>
          </p:nvSpPr>
          <p:spPr bwMode="auto">
            <a:xfrm>
              <a:off x="2098038" y="3005368"/>
              <a:ext cx="594907"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pic>
          <p:nvPicPr>
            <p:cNvPr id="7476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79530" y="1675214"/>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9255" y="914802"/>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2"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7368" y="868764"/>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118" y="2580089"/>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8505" y="3708802"/>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4368" y="3100789"/>
              <a:ext cx="401637"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8"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81372" y="2526325"/>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09"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82042" y="170776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54741" y="235152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53268" y="1385653"/>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07" name="Group 151"/>
            <p:cNvGrpSpPr/>
            <p:nvPr/>
          </p:nvGrpSpPr>
          <p:grpSpPr bwMode="auto">
            <a:xfrm rot="20376906">
              <a:off x="3627744" y="1439535"/>
              <a:ext cx="332038" cy="203901"/>
              <a:chOff x="2949" y="196"/>
              <a:chExt cx="941" cy="598"/>
            </a:xfrm>
          </p:grpSpPr>
          <p:sp>
            <p:nvSpPr>
              <p:cNvPr id="21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2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22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22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pic>
          <p:nvPicPr>
            <p:cNvPr id="223"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6535" y="3118409"/>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675913"/>
            <a:ext cx="8133857" cy="353903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75782" name="矩形 3"/>
          <p:cNvSpPr>
            <a:spLocks noChangeArrowheads="1"/>
          </p:cNvSpPr>
          <p:nvPr/>
        </p:nvSpPr>
        <p:spPr bwMode="auto">
          <a:xfrm>
            <a:off x="2806002" y="4265099"/>
            <a:ext cx="382508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kumimoji="1" lang="en-US" altLang="zh-CN" sz="1600" b="1" dirty="0">
                <a:latin typeface="微软雅黑" panose="020B0503020204020204" pitchFamily="34" charset="-122"/>
                <a:ea typeface="微软雅黑" panose="020B0503020204020204" pitchFamily="34" charset="-122"/>
              </a:rPr>
              <a:t>(b) </a:t>
            </a:r>
            <a:r>
              <a:rPr kumimoji="1" lang="zh-CN" altLang="zh-CN" sz="1600" b="1" dirty="0">
                <a:latin typeface="微软雅黑" panose="020B0503020204020204" pitchFamily="34" charset="-122"/>
                <a:ea typeface="微软雅黑" panose="020B0503020204020204" pitchFamily="34" charset="-122"/>
              </a:rPr>
              <a:t>核心部分</a:t>
            </a:r>
            <a:r>
              <a:rPr kumimoji="1" lang="zh-CN" altLang="en-US" sz="1600" b="1" dirty="0">
                <a:latin typeface="微软雅黑" panose="020B0503020204020204" pitchFamily="34" charset="-122"/>
                <a:ea typeface="微软雅黑" panose="020B0503020204020204" pitchFamily="34" charset="-122"/>
              </a:rPr>
              <a:t>中</a:t>
            </a:r>
            <a:r>
              <a:rPr kumimoji="1" lang="zh-CN" altLang="zh-CN" sz="1600" b="1" dirty="0">
                <a:latin typeface="微软雅黑" panose="020B0503020204020204" pitchFamily="34" charset="-122"/>
                <a:ea typeface="微软雅黑" panose="020B0503020204020204" pitchFamily="34" charset="-122"/>
              </a:rPr>
              <a:t>的</a:t>
            </a:r>
            <a:r>
              <a:rPr kumimoji="1" lang="zh-CN" altLang="en-US" sz="1600" b="1" dirty="0">
                <a:latin typeface="微软雅黑" panose="020B0503020204020204" pitchFamily="34" charset="-122"/>
                <a:ea typeface="微软雅黑" panose="020B0503020204020204" pitchFamily="34" charset="-122"/>
              </a:rPr>
              <a:t>网络</a:t>
            </a:r>
            <a:r>
              <a:rPr kumimoji="1" lang="zh-CN" altLang="zh-CN" sz="1600" b="1" dirty="0">
                <a:latin typeface="微软雅黑" panose="020B0503020204020204" pitchFamily="34" charset="-122"/>
                <a:ea typeface="微软雅黑" panose="020B0503020204020204" pitchFamily="34" charset="-122"/>
              </a:rPr>
              <a:t>可用一条链路表示</a:t>
            </a:r>
            <a:endParaRPr kumimoji="1" lang="zh-CN" altLang="en-US" sz="1600" b="1" dirty="0">
              <a:latin typeface="微软雅黑" panose="020B0503020204020204" pitchFamily="34" charset="-122"/>
              <a:ea typeface="微软雅黑" panose="020B0503020204020204" pitchFamily="34" charset="-122"/>
            </a:endParaRPr>
          </a:p>
        </p:txBody>
      </p:sp>
      <p:grpSp>
        <p:nvGrpSpPr>
          <p:cNvPr id="75783" name="组合 62"/>
          <p:cNvGrpSpPr/>
          <p:nvPr/>
        </p:nvGrpSpPr>
        <p:grpSpPr bwMode="auto">
          <a:xfrm>
            <a:off x="1702572" y="814614"/>
            <a:ext cx="5672137" cy="3197225"/>
            <a:chOff x="1077101" y="828844"/>
            <a:chExt cx="6958259" cy="3921427"/>
          </a:xfrm>
        </p:grpSpPr>
        <p:grpSp>
          <p:nvGrpSpPr>
            <p:cNvPr id="75784" name="组合 4"/>
            <p:cNvGrpSpPr/>
            <p:nvPr/>
          </p:nvGrpSpPr>
          <p:grpSpPr bwMode="auto">
            <a:xfrm>
              <a:off x="1077101" y="960352"/>
              <a:ext cx="6958259" cy="3561265"/>
              <a:chOff x="-754503" y="424192"/>
              <a:chExt cx="10689977" cy="5580717"/>
            </a:xfrm>
          </p:grpSpPr>
          <p:sp>
            <p:nvSpPr>
              <p:cNvPr id="75798" name="Oval 4"/>
              <p:cNvSpPr>
                <a:spLocks noChangeArrowheads="1"/>
              </p:cNvSpPr>
              <p:nvPr/>
            </p:nvSpPr>
            <p:spPr bwMode="auto">
              <a:xfrm rot="-1674972">
                <a:off x="2477133" y="1514475"/>
                <a:ext cx="2665677" cy="1519238"/>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799" name="Oval 5"/>
              <p:cNvSpPr>
                <a:spLocks noChangeArrowheads="1"/>
              </p:cNvSpPr>
              <p:nvPr/>
            </p:nvSpPr>
            <p:spPr bwMode="auto">
              <a:xfrm rot="-774972">
                <a:off x="4262276" y="1208088"/>
                <a:ext cx="2328598" cy="14097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0" name="Oval 6"/>
              <p:cNvSpPr>
                <a:spLocks noChangeArrowheads="1"/>
              </p:cNvSpPr>
              <p:nvPr/>
            </p:nvSpPr>
            <p:spPr bwMode="auto">
              <a:xfrm rot="-174972">
                <a:off x="5964870" y="1722439"/>
                <a:ext cx="1718071" cy="182403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1" name="Oval 7"/>
              <p:cNvSpPr>
                <a:spLocks noChangeArrowheads="1"/>
              </p:cNvSpPr>
              <p:nvPr/>
            </p:nvSpPr>
            <p:spPr bwMode="auto">
              <a:xfrm rot="-3234972">
                <a:off x="6326026" y="2658534"/>
                <a:ext cx="1506537" cy="1602846"/>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2" name="Oval 8"/>
              <p:cNvSpPr>
                <a:spLocks noChangeArrowheads="1"/>
              </p:cNvSpPr>
              <p:nvPr/>
            </p:nvSpPr>
            <p:spPr bwMode="auto">
              <a:xfrm rot="-1674972">
                <a:off x="4332788" y="3530601"/>
                <a:ext cx="2915047" cy="1693863"/>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3" name="Oval 9"/>
              <p:cNvSpPr>
                <a:spLocks noChangeArrowheads="1"/>
              </p:cNvSpPr>
              <p:nvPr/>
            </p:nvSpPr>
            <p:spPr bwMode="auto">
              <a:xfrm rot="-594972">
                <a:off x="3187405" y="4246564"/>
                <a:ext cx="2084388" cy="116998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4" name="Oval 10"/>
              <p:cNvSpPr>
                <a:spLocks noChangeArrowheads="1"/>
              </p:cNvSpPr>
              <p:nvPr/>
            </p:nvSpPr>
            <p:spPr bwMode="auto">
              <a:xfrm rot="-1674972">
                <a:off x="2387703" y="3736975"/>
                <a:ext cx="1319080" cy="13843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5" name="Oval 11"/>
              <p:cNvSpPr>
                <a:spLocks noChangeArrowheads="1"/>
              </p:cNvSpPr>
              <p:nvPr/>
            </p:nvSpPr>
            <p:spPr bwMode="auto">
              <a:xfrm rot="-3534972">
                <a:off x="2141707" y="2695510"/>
                <a:ext cx="1525588" cy="1322519"/>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6" name="Freeform 12"/>
              <p:cNvSpPr/>
              <p:nvPr/>
            </p:nvSpPr>
            <p:spPr bwMode="auto">
              <a:xfrm>
                <a:off x="2509808" y="1473200"/>
                <a:ext cx="5071666" cy="3690938"/>
              </a:xfrm>
              <a:custGeom>
                <a:avLst/>
                <a:gdLst>
                  <a:gd name="T0" fmla="*/ 1520712 w 1931"/>
                  <a:gd name="T1" fmla="*/ 576435 h 1684"/>
                  <a:gd name="T2" fmla="*/ 1659913 w 1931"/>
                  <a:gd name="T3" fmla="*/ 368217 h 1684"/>
                  <a:gd name="T4" fmla="*/ 1825380 w 1931"/>
                  <a:gd name="T5" fmla="*/ 276163 h 1684"/>
                  <a:gd name="T6" fmla="*/ 2405824 w 1931"/>
                  <a:gd name="T7" fmla="*/ 252053 h 1684"/>
                  <a:gd name="T8" fmla="*/ 2875958 w 1931"/>
                  <a:gd name="T9" fmla="*/ 113972 h 1684"/>
                  <a:gd name="T10" fmla="*/ 3041424 w 1931"/>
                  <a:gd name="T11" fmla="*/ 46027 h 1684"/>
                  <a:gd name="T12" fmla="*/ 3206890 w 1931"/>
                  <a:gd name="T13" fmla="*/ 0 h 1684"/>
                  <a:gd name="T14" fmla="*/ 3511557 w 1931"/>
                  <a:gd name="T15" fmla="*/ 92054 h 1684"/>
                  <a:gd name="T16" fmla="*/ 3677024 w 1931"/>
                  <a:gd name="T17" fmla="*/ 184109 h 1684"/>
                  <a:gd name="T18" fmla="*/ 3761070 w 1931"/>
                  <a:gd name="T19" fmla="*/ 230136 h 1684"/>
                  <a:gd name="T20" fmla="*/ 3952800 w 1931"/>
                  <a:gd name="T21" fmla="*/ 346299 h 1684"/>
                  <a:gd name="T22" fmla="*/ 4007956 w 1931"/>
                  <a:gd name="T23" fmla="*/ 414244 h 1684"/>
                  <a:gd name="T24" fmla="*/ 4092002 w 1931"/>
                  <a:gd name="T25" fmla="*/ 460271 h 1684"/>
                  <a:gd name="T26" fmla="*/ 4341514 w 1931"/>
                  <a:gd name="T27" fmla="*/ 644380 h 1684"/>
                  <a:gd name="T28" fmla="*/ 4562136 w 1931"/>
                  <a:gd name="T29" fmla="*/ 806571 h 1684"/>
                  <a:gd name="T30" fmla="*/ 4727602 w 1931"/>
                  <a:gd name="T31" fmla="*/ 852598 h 1684"/>
                  <a:gd name="T32" fmla="*/ 4811648 w 1931"/>
                  <a:gd name="T33" fmla="*/ 898625 h 1684"/>
                  <a:gd name="T34" fmla="*/ 5032269 w 1931"/>
                  <a:gd name="T35" fmla="*/ 1290952 h 1684"/>
                  <a:gd name="T36" fmla="*/ 4837912 w 1931"/>
                  <a:gd name="T37" fmla="*/ 2375877 h 1684"/>
                  <a:gd name="T38" fmla="*/ 4646182 w 1931"/>
                  <a:gd name="T39" fmla="*/ 2559986 h 1684"/>
                  <a:gd name="T40" fmla="*/ 4341514 w 1931"/>
                  <a:gd name="T41" fmla="*/ 2814231 h 1684"/>
                  <a:gd name="T42" fmla="*/ 4176048 w 1931"/>
                  <a:gd name="T43" fmla="*/ 2952312 h 1684"/>
                  <a:gd name="T44" fmla="*/ 4092002 w 1931"/>
                  <a:gd name="T45" fmla="*/ 2998339 h 1684"/>
                  <a:gd name="T46" fmla="*/ 3871380 w 1931"/>
                  <a:gd name="T47" fmla="*/ 3136421 h 1684"/>
                  <a:gd name="T48" fmla="*/ 3705914 w 1931"/>
                  <a:gd name="T49" fmla="*/ 3184639 h 1684"/>
                  <a:gd name="T50" fmla="*/ 3290936 w 1931"/>
                  <a:gd name="T51" fmla="*/ 3460802 h 1684"/>
                  <a:gd name="T52" fmla="*/ 3125470 w 1931"/>
                  <a:gd name="T53" fmla="*/ 3552857 h 1684"/>
                  <a:gd name="T54" fmla="*/ 2626445 w 1931"/>
                  <a:gd name="T55" fmla="*/ 3690938 h 1684"/>
                  <a:gd name="T56" fmla="*/ 1134624 w 1931"/>
                  <a:gd name="T57" fmla="*/ 3622993 h 1684"/>
                  <a:gd name="T58" fmla="*/ 885112 w 1931"/>
                  <a:gd name="T59" fmla="*/ 3552857 h 1684"/>
                  <a:gd name="T60" fmla="*/ 635600 w 1931"/>
                  <a:gd name="T61" fmla="*/ 3414775 h 1684"/>
                  <a:gd name="T62" fmla="*/ 441243 w 1931"/>
                  <a:gd name="T63" fmla="*/ 3206557 h 1684"/>
                  <a:gd name="T64" fmla="*/ 330932 w 1931"/>
                  <a:gd name="T65" fmla="*/ 3068476 h 1684"/>
                  <a:gd name="T66" fmla="*/ 275777 w 1931"/>
                  <a:gd name="T67" fmla="*/ 2998339 h 1684"/>
                  <a:gd name="T68" fmla="*/ 55155 w 1931"/>
                  <a:gd name="T69" fmla="*/ 2722176 h 1684"/>
                  <a:gd name="T70" fmla="*/ 84046 w 1931"/>
                  <a:gd name="T71" fmla="*/ 2259713 h 1684"/>
                  <a:gd name="T72" fmla="*/ 110311 w 1931"/>
                  <a:gd name="T73" fmla="*/ 1799442 h 1684"/>
                  <a:gd name="T74" fmla="*/ 220621 w 1931"/>
                  <a:gd name="T75" fmla="*/ 1383006 h 1684"/>
                  <a:gd name="T76" fmla="*/ 525289 w 1931"/>
                  <a:gd name="T77" fmla="*/ 738626 h 1684"/>
                  <a:gd name="T78" fmla="*/ 635600 w 1931"/>
                  <a:gd name="T79" fmla="*/ 576435 h 1684"/>
                  <a:gd name="T80" fmla="*/ 801066 w 1931"/>
                  <a:gd name="T81" fmla="*/ 552326 h 1684"/>
                  <a:gd name="T82" fmla="*/ 856221 w 1931"/>
                  <a:gd name="T83" fmla="*/ 414244 h 1684"/>
                  <a:gd name="T84" fmla="*/ 1050578 w 1931"/>
                  <a:gd name="T85" fmla="*/ 322190 h 1684"/>
                  <a:gd name="T86" fmla="*/ 1134624 w 1931"/>
                  <a:gd name="T87" fmla="*/ 368217 h 1684"/>
                  <a:gd name="T88" fmla="*/ 1189780 w 1931"/>
                  <a:gd name="T89" fmla="*/ 438354 h 1684"/>
                  <a:gd name="T90" fmla="*/ 1410401 w 1931"/>
                  <a:gd name="T91" fmla="*/ 460271 h 1684"/>
                  <a:gd name="T92" fmla="*/ 1465557 w 1931"/>
                  <a:gd name="T93" fmla="*/ 530408 h 1684"/>
                  <a:gd name="T94" fmla="*/ 1520712 w 1931"/>
                  <a:gd name="T95" fmla="*/ 576435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07" name="Line 13"/>
              <p:cNvSpPr>
                <a:spLocks noChangeShapeType="1"/>
              </p:cNvSpPr>
              <p:nvPr/>
            </p:nvSpPr>
            <p:spPr bwMode="auto">
              <a:xfrm flipV="1">
                <a:off x="3801372" y="1477964"/>
                <a:ext cx="1764506" cy="6381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08" name="Line 14"/>
              <p:cNvSpPr>
                <a:spLocks noChangeShapeType="1"/>
              </p:cNvSpPr>
              <p:nvPr/>
            </p:nvSpPr>
            <p:spPr bwMode="auto">
              <a:xfrm>
                <a:off x="5784291" y="1563689"/>
                <a:ext cx="1042194" cy="1603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09" name="Line 15"/>
              <p:cNvSpPr>
                <a:spLocks noChangeShapeType="1"/>
              </p:cNvSpPr>
              <p:nvPr/>
            </p:nvSpPr>
            <p:spPr bwMode="auto">
              <a:xfrm flipH="1">
                <a:off x="2760898" y="2219326"/>
                <a:ext cx="918369" cy="14446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0" name="Line 16"/>
              <p:cNvSpPr>
                <a:spLocks noChangeShapeType="1"/>
              </p:cNvSpPr>
              <p:nvPr/>
            </p:nvSpPr>
            <p:spPr bwMode="auto">
              <a:xfrm>
                <a:off x="2817651" y="3863976"/>
                <a:ext cx="2091267" cy="10144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1" name="Line 17"/>
              <p:cNvSpPr>
                <a:spLocks noChangeShapeType="1"/>
              </p:cNvSpPr>
              <p:nvPr/>
            </p:nvSpPr>
            <p:spPr bwMode="auto">
              <a:xfrm flipV="1">
                <a:off x="4998347" y="3484563"/>
                <a:ext cx="1828138" cy="14986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2" name="Line 18"/>
              <p:cNvSpPr>
                <a:spLocks noChangeShapeType="1"/>
              </p:cNvSpPr>
              <p:nvPr/>
            </p:nvSpPr>
            <p:spPr bwMode="auto">
              <a:xfrm>
                <a:off x="3871883" y="2227264"/>
                <a:ext cx="2933965" cy="108743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3" name="Line 19"/>
              <p:cNvSpPr>
                <a:spLocks noChangeShapeType="1"/>
              </p:cNvSpPr>
              <p:nvPr/>
            </p:nvSpPr>
            <p:spPr bwMode="auto">
              <a:xfrm>
                <a:off x="3734299" y="2043114"/>
                <a:ext cx="1377554" cy="28352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4" name="Line 20"/>
              <p:cNvSpPr>
                <a:spLocks noChangeShapeType="1"/>
              </p:cNvSpPr>
              <p:nvPr/>
            </p:nvSpPr>
            <p:spPr bwMode="auto">
              <a:xfrm flipV="1">
                <a:off x="4229599" y="4959349"/>
                <a:ext cx="830661" cy="77932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5" name="Line 21"/>
              <p:cNvSpPr>
                <a:spLocks noChangeShapeType="1"/>
              </p:cNvSpPr>
              <p:nvPr/>
            </p:nvSpPr>
            <p:spPr bwMode="auto">
              <a:xfrm rot="-5400000">
                <a:off x="6288672" y="401763"/>
                <a:ext cx="571552" cy="175229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6" name="Line 22"/>
              <p:cNvSpPr>
                <a:spLocks noChangeShapeType="1"/>
              </p:cNvSpPr>
              <p:nvPr/>
            </p:nvSpPr>
            <p:spPr bwMode="auto">
              <a:xfrm>
                <a:off x="6955471" y="3484563"/>
                <a:ext cx="1490108" cy="115728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7" name="Line 23"/>
              <p:cNvSpPr>
                <a:spLocks noChangeShapeType="1"/>
              </p:cNvSpPr>
              <p:nvPr/>
            </p:nvSpPr>
            <p:spPr bwMode="auto">
              <a:xfrm>
                <a:off x="397036" y="3769938"/>
                <a:ext cx="2377620" cy="3688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8" name="Line 24"/>
              <p:cNvSpPr>
                <a:spLocks noChangeShapeType="1"/>
              </p:cNvSpPr>
              <p:nvPr/>
            </p:nvSpPr>
            <p:spPr bwMode="auto">
              <a:xfrm rot="5400000" flipH="1">
                <a:off x="2734695" y="1104624"/>
                <a:ext cx="1107863" cy="788161"/>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9" name="Text Box 25"/>
              <p:cNvSpPr txBox="1">
                <a:spLocks noChangeArrowheads="1"/>
              </p:cNvSpPr>
              <p:nvPr/>
            </p:nvSpPr>
            <p:spPr bwMode="auto">
              <a:xfrm>
                <a:off x="-754503" y="352362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5820" name="Text Box 26"/>
              <p:cNvSpPr txBox="1">
                <a:spLocks noChangeArrowheads="1"/>
              </p:cNvSpPr>
              <p:nvPr/>
            </p:nvSpPr>
            <p:spPr bwMode="auto">
              <a:xfrm>
                <a:off x="8716388" y="4300540"/>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5821" name="Text Box 27"/>
              <p:cNvSpPr txBox="1">
                <a:spLocks noChangeArrowheads="1"/>
              </p:cNvSpPr>
              <p:nvPr/>
            </p:nvSpPr>
            <p:spPr bwMode="auto">
              <a:xfrm>
                <a:off x="1875510" y="42419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5822" name="Text Box 28"/>
              <p:cNvSpPr txBox="1">
                <a:spLocks noChangeArrowheads="1"/>
              </p:cNvSpPr>
              <p:nvPr/>
            </p:nvSpPr>
            <p:spPr bwMode="auto">
              <a:xfrm>
                <a:off x="7704732" y="618741"/>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5823" name="Text Box 29"/>
              <p:cNvSpPr txBox="1">
                <a:spLocks noChangeArrowheads="1"/>
              </p:cNvSpPr>
              <p:nvPr/>
            </p:nvSpPr>
            <p:spPr bwMode="auto">
              <a:xfrm>
                <a:off x="3136656" y="5413277"/>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5824" name="Line 30"/>
              <p:cNvSpPr>
                <a:spLocks noChangeShapeType="1"/>
              </p:cNvSpPr>
              <p:nvPr/>
            </p:nvSpPr>
            <p:spPr bwMode="auto">
              <a:xfrm flipV="1">
                <a:off x="6955471" y="2562221"/>
                <a:ext cx="1781989" cy="71120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25" name="Text Box 31"/>
              <p:cNvSpPr txBox="1">
                <a:spLocks noChangeArrowheads="1"/>
              </p:cNvSpPr>
              <p:nvPr/>
            </p:nvSpPr>
            <p:spPr bwMode="auto">
              <a:xfrm>
                <a:off x="9170575" y="2215125"/>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sp>
            <p:nvSpPr>
              <p:cNvPr id="75826" name="Text Box 38"/>
              <p:cNvSpPr txBox="1">
                <a:spLocks noChangeArrowheads="1"/>
              </p:cNvSpPr>
              <p:nvPr/>
            </p:nvSpPr>
            <p:spPr bwMode="auto">
              <a:xfrm>
                <a:off x="299942" y="4923211"/>
                <a:ext cx="2412411" cy="6507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发送的分组</a:t>
                </a:r>
              </a:p>
            </p:txBody>
          </p:sp>
          <p:pic>
            <p:nvPicPr>
              <p:cNvPr id="75827"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33589" y="1917700"/>
                <a:ext cx="85473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8"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80393" y="1327150"/>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9"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91379" y="3097213"/>
                <a:ext cx="856456" cy="5064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0"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877" y="4514851"/>
                <a:ext cx="856456" cy="506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1"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94331" y="3449638"/>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5832" name="Text Box 45"/>
              <p:cNvSpPr txBox="1">
                <a:spLocks noChangeArrowheads="1"/>
              </p:cNvSpPr>
              <p:nvPr/>
            </p:nvSpPr>
            <p:spPr bwMode="auto">
              <a:xfrm>
                <a:off x="917418" y="1459489"/>
                <a:ext cx="1508049" cy="6507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75833" name="Line 46"/>
              <p:cNvSpPr>
                <a:spLocks noChangeShapeType="1"/>
              </p:cNvSpPr>
              <p:nvPr/>
            </p:nvSpPr>
            <p:spPr bwMode="auto">
              <a:xfrm>
                <a:off x="2301320" y="1860060"/>
                <a:ext cx="1151910" cy="327959"/>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5834" name="Text Box 47"/>
              <p:cNvSpPr txBox="1">
                <a:spLocks noChangeArrowheads="1"/>
              </p:cNvSpPr>
              <p:nvPr/>
            </p:nvSpPr>
            <p:spPr bwMode="auto">
              <a:xfrm>
                <a:off x="3177049" y="3398623"/>
                <a:ext cx="63802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A</a:t>
                </a:r>
              </a:p>
            </p:txBody>
          </p:sp>
          <p:sp>
            <p:nvSpPr>
              <p:cNvPr id="75835" name="Text Box 48"/>
              <p:cNvSpPr txBox="1">
                <a:spLocks noChangeArrowheads="1"/>
              </p:cNvSpPr>
              <p:nvPr/>
            </p:nvSpPr>
            <p:spPr bwMode="auto">
              <a:xfrm>
                <a:off x="6650786" y="2562223"/>
                <a:ext cx="568540"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75836" name="Text Box 49"/>
              <p:cNvSpPr txBox="1">
                <a:spLocks noChangeArrowheads="1"/>
              </p:cNvSpPr>
              <p:nvPr/>
            </p:nvSpPr>
            <p:spPr bwMode="auto">
              <a:xfrm>
                <a:off x="5272315" y="1754932"/>
                <a:ext cx="653126"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75837" name="Text Box 50"/>
              <p:cNvSpPr txBox="1">
                <a:spLocks noChangeArrowheads="1"/>
              </p:cNvSpPr>
              <p:nvPr/>
            </p:nvSpPr>
            <p:spPr bwMode="auto">
              <a:xfrm>
                <a:off x="3587959" y="1406667"/>
                <a:ext cx="613854"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B</a:t>
                </a:r>
              </a:p>
            </p:txBody>
          </p:sp>
          <p:sp>
            <p:nvSpPr>
              <p:cNvPr id="75838" name="Text Box 51"/>
              <p:cNvSpPr txBox="1">
                <a:spLocks noChangeArrowheads="1"/>
              </p:cNvSpPr>
              <p:nvPr/>
            </p:nvSpPr>
            <p:spPr bwMode="auto">
              <a:xfrm>
                <a:off x="5324208" y="4578350"/>
                <a:ext cx="607812"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C</a:t>
                </a:r>
              </a:p>
            </p:txBody>
          </p:sp>
          <p:sp>
            <p:nvSpPr>
              <p:cNvPr id="75839" name="Line 52"/>
              <p:cNvSpPr>
                <a:spLocks noChangeShapeType="1"/>
              </p:cNvSpPr>
              <p:nvPr/>
            </p:nvSpPr>
            <p:spPr bwMode="auto">
              <a:xfrm flipV="1">
                <a:off x="1768579" y="4121150"/>
                <a:ext cx="278606" cy="825500"/>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5840" name="Line 73"/>
              <p:cNvSpPr>
                <a:spLocks noChangeShapeType="1"/>
              </p:cNvSpPr>
              <p:nvPr/>
            </p:nvSpPr>
            <p:spPr bwMode="auto">
              <a:xfrm>
                <a:off x="5108414" y="754806"/>
                <a:ext cx="137582" cy="474663"/>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5841" name="Text Box 74"/>
              <p:cNvSpPr txBox="1">
                <a:spLocks noChangeArrowheads="1"/>
              </p:cNvSpPr>
              <p:nvPr/>
            </p:nvSpPr>
            <p:spPr bwMode="auto">
              <a:xfrm>
                <a:off x="-289156" y="2916788"/>
                <a:ext cx="112137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grpSp>
        <p:sp>
          <p:nvSpPr>
            <p:cNvPr id="75785" name="Text Box 204"/>
            <p:cNvSpPr txBox="1">
              <a:spLocks noChangeArrowheads="1"/>
            </p:cNvSpPr>
            <p:nvPr/>
          </p:nvSpPr>
          <p:spPr bwMode="auto">
            <a:xfrm>
              <a:off x="4155246" y="828844"/>
              <a:ext cx="1736690" cy="4152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pic>
          <p:nvPicPr>
            <p:cNvPr id="757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6305" y="1111810"/>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63903" y="4247033"/>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13951" y="3514533"/>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47932" y="2119188"/>
              <a:ext cx="503239"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3343" y="2937872"/>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57" name="直接连接符 56"/>
            <p:cNvCxnSpPr/>
            <p:nvPr/>
          </p:nvCxnSpPr>
          <p:spPr>
            <a:xfrm flipH="1" flipV="1">
              <a:off x="4321562" y="2074978"/>
              <a:ext cx="1462539" cy="547131"/>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3316675" y="2199591"/>
              <a:ext cx="432335" cy="630855"/>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996300" y="2982319"/>
              <a:ext cx="1119786" cy="0"/>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1994352" y="3225705"/>
              <a:ext cx="1156789" cy="0"/>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V="1">
              <a:off x="5112229" y="2974530"/>
              <a:ext cx="615396" cy="517924"/>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flipH="1" flipV="1">
              <a:off x="3351729" y="3272435"/>
              <a:ext cx="1104207" cy="554918"/>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57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3930" y="942280"/>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05073" y="1143000"/>
            <a:ext cx="8133856" cy="32186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8" name="矩形 7"/>
          <p:cNvSpPr>
            <a:spLocks noChangeArrowheads="1"/>
          </p:cNvSpPr>
          <p:nvPr/>
        </p:nvSpPr>
        <p:spPr bwMode="auto">
          <a:xfrm>
            <a:off x="6106973" y="1734313"/>
            <a:ext cx="24929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kumimoji="1" lang="zh-CN" altLang="en-US" b="1" dirty="0">
                <a:solidFill>
                  <a:srgbClr val="C00000"/>
                </a:solidFill>
                <a:latin typeface="微软雅黑" panose="020B0503020204020204" pitchFamily="34" charset="-122"/>
                <a:ea typeface="微软雅黑" panose="020B0503020204020204" pitchFamily="34" charset="-122"/>
              </a:rPr>
              <a:t>注意分组路径的变化！</a:t>
            </a:r>
          </a:p>
        </p:txBody>
      </p:sp>
      <p:sp>
        <p:nvSpPr>
          <p:cNvPr id="6" name="Text Box 98"/>
          <p:cNvSpPr txBox="1">
            <a:spLocks noChangeArrowheads="1"/>
          </p:cNvSpPr>
          <p:nvPr/>
        </p:nvSpPr>
        <p:spPr bwMode="auto">
          <a:xfrm>
            <a:off x="1000364" y="3293701"/>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FF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FF0000"/>
                </a:solidFill>
                <a:latin typeface="微软雅黑" panose="020B0503020204020204" pitchFamily="34" charset="-122"/>
                <a:ea typeface="微软雅黑" panose="020B0503020204020204" pitchFamily="34" charset="-122"/>
              </a:rPr>
              <a:t>1</a:t>
            </a:r>
            <a:r>
              <a:rPr kumimoji="1" lang="en-US" altLang="zh-CN" sz="1600" b="1" dirty="0">
                <a:solidFill>
                  <a:srgbClr val="FF0000"/>
                </a:solidFill>
                <a:latin typeface="微软雅黑" panose="020B0503020204020204" pitchFamily="34" charset="-122"/>
                <a:ea typeface="微软雅黑" panose="020B0503020204020204" pitchFamily="34" charset="-122"/>
              </a:rPr>
              <a:t> </a:t>
            </a:r>
            <a:r>
              <a:rPr kumimoji="1" lang="zh-CN" altLang="en-US" sz="1600" b="1" dirty="0">
                <a:solidFill>
                  <a:srgbClr val="FF0000"/>
                </a:solidFill>
                <a:latin typeface="微软雅黑" panose="020B0503020204020204" pitchFamily="34" charset="-122"/>
                <a:ea typeface="微软雅黑" panose="020B0503020204020204" pitchFamily="34" charset="-122"/>
              </a:rPr>
              <a:t>向 </a:t>
            </a:r>
            <a:r>
              <a:rPr kumimoji="1" lang="en-US" altLang="zh-CN" sz="1600" b="1" dirty="0">
                <a:solidFill>
                  <a:srgbClr val="FF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FF0000"/>
                </a:solidFill>
                <a:latin typeface="微软雅黑" panose="020B0503020204020204" pitchFamily="34" charset="-122"/>
                <a:ea typeface="微软雅黑" panose="020B0503020204020204" pitchFamily="34" charset="-122"/>
              </a:rPr>
              <a:t>5</a:t>
            </a:r>
            <a:r>
              <a:rPr kumimoji="1" lang="en-US" altLang="zh-CN" sz="1600" b="1" dirty="0">
                <a:solidFill>
                  <a:srgbClr val="FF0000"/>
                </a:solidFill>
                <a:latin typeface="微软雅黑" panose="020B0503020204020204" pitchFamily="34" charset="-122"/>
                <a:ea typeface="微软雅黑" panose="020B0503020204020204" pitchFamily="34" charset="-122"/>
              </a:rPr>
              <a:t> </a:t>
            </a:r>
            <a:r>
              <a:rPr kumimoji="1" lang="zh-CN" altLang="en-US" sz="1600" b="1" dirty="0">
                <a:solidFill>
                  <a:srgbClr val="FF0000"/>
                </a:solidFill>
                <a:latin typeface="微软雅黑" panose="020B0503020204020204" pitchFamily="34" charset="-122"/>
                <a:ea typeface="微软雅黑" panose="020B0503020204020204" pitchFamily="34" charset="-122"/>
              </a:rPr>
              <a:t>发送分组</a:t>
            </a:r>
          </a:p>
        </p:txBody>
      </p:sp>
      <p:sp>
        <p:nvSpPr>
          <p:cNvPr id="7" name="Text Box 99"/>
          <p:cNvSpPr txBox="1">
            <a:spLocks noChangeArrowheads="1"/>
          </p:cNvSpPr>
          <p:nvPr/>
        </p:nvSpPr>
        <p:spPr bwMode="auto">
          <a:xfrm>
            <a:off x="1000125" y="3690871"/>
            <a:ext cx="1899879" cy="338554"/>
          </a:xfrm>
          <a:prstGeom prst="rect">
            <a:avLst/>
          </a:prstGeom>
          <a:solidFill>
            <a:schemeClr val="bg1"/>
          </a:solidFill>
          <a:ln w="19050">
            <a:solidFill>
              <a:srgbClr val="339933"/>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0000FF"/>
                </a:solidFill>
                <a:latin typeface="微软雅黑" panose="020B0503020204020204" pitchFamily="34" charset="-122"/>
                <a:ea typeface="微软雅黑" panose="020B0503020204020204" pitchFamily="34" charset="-122"/>
              </a:rPr>
              <a:t>H</a:t>
            </a:r>
            <a:r>
              <a:rPr kumimoji="1" lang="en-US" altLang="zh-CN" sz="1600" b="1" baseline="-25000" dirty="0">
                <a:solidFill>
                  <a:srgbClr val="0000FF"/>
                </a:solidFill>
                <a:latin typeface="微软雅黑" panose="020B0503020204020204" pitchFamily="34" charset="-122"/>
                <a:ea typeface="微软雅黑" panose="020B0503020204020204" pitchFamily="34" charset="-122"/>
              </a:rPr>
              <a:t>2</a:t>
            </a:r>
            <a:r>
              <a:rPr kumimoji="1" lang="en-US" altLang="zh-CN" sz="1600" b="1" dirty="0">
                <a:solidFill>
                  <a:srgbClr val="0000FF"/>
                </a:solidFill>
                <a:latin typeface="微软雅黑" panose="020B0503020204020204" pitchFamily="34" charset="-122"/>
                <a:ea typeface="微软雅黑" panose="020B0503020204020204" pitchFamily="34" charset="-122"/>
              </a:rPr>
              <a:t> </a:t>
            </a:r>
            <a:r>
              <a:rPr kumimoji="1" lang="zh-CN" altLang="en-US" sz="1600" b="1" dirty="0">
                <a:solidFill>
                  <a:srgbClr val="0000FF"/>
                </a:solidFill>
                <a:latin typeface="微软雅黑" panose="020B0503020204020204" pitchFamily="34" charset="-122"/>
                <a:ea typeface="微软雅黑" panose="020B0503020204020204" pitchFamily="34" charset="-122"/>
              </a:rPr>
              <a:t>向 </a:t>
            </a:r>
            <a:r>
              <a:rPr kumimoji="1" lang="en-US" altLang="zh-CN" sz="1600" b="1" dirty="0">
                <a:solidFill>
                  <a:srgbClr val="0000FF"/>
                </a:solidFill>
                <a:latin typeface="微软雅黑" panose="020B0503020204020204" pitchFamily="34" charset="-122"/>
                <a:ea typeface="微软雅黑" panose="020B0503020204020204" pitchFamily="34" charset="-122"/>
              </a:rPr>
              <a:t>H</a:t>
            </a:r>
            <a:r>
              <a:rPr kumimoji="1" lang="en-US" altLang="zh-CN" sz="1600" b="1" baseline="-25000" dirty="0">
                <a:solidFill>
                  <a:srgbClr val="0000FF"/>
                </a:solidFill>
                <a:latin typeface="微软雅黑" panose="020B0503020204020204" pitchFamily="34" charset="-122"/>
                <a:ea typeface="微软雅黑" panose="020B0503020204020204" pitchFamily="34" charset="-122"/>
              </a:rPr>
              <a:t>6</a:t>
            </a:r>
            <a:r>
              <a:rPr kumimoji="1" lang="en-US" altLang="zh-CN" sz="1600" b="1" dirty="0">
                <a:solidFill>
                  <a:srgbClr val="0000FF"/>
                </a:solidFill>
                <a:latin typeface="微软雅黑" panose="020B0503020204020204" pitchFamily="34" charset="-122"/>
                <a:ea typeface="微软雅黑" panose="020B0503020204020204" pitchFamily="34" charset="-122"/>
              </a:rPr>
              <a:t> </a:t>
            </a:r>
            <a:r>
              <a:rPr kumimoji="1" lang="zh-CN" altLang="en-US" sz="1600" b="1" dirty="0">
                <a:solidFill>
                  <a:srgbClr val="0000FF"/>
                </a:solidFill>
                <a:latin typeface="微软雅黑" panose="020B0503020204020204" pitchFamily="34" charset="-122"/>
                <a:ea typeface="微软雅黑" panose="020B0503020204020204" pitchFamily="34" charset="-122"/>
              </a:rPr>
              <a:t>发送分组</a:t>
            </a:r>
          </a:p>
        </p:txBody>
      </p:sp>
      <p:pic>
        <p:nvPicPr>
          <p:cNvPr id="7681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8463" y="1360488"/>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 name="Group 4"/>
          <p:cNvGrpSpPr/>
          <p:nvPr/>
        </p:nvGrpSpPr>
        <p:grpSpPr bwMode="auto">
          <a:xfrm>
            <a:off x="3061993" y="1629841"/>
            <a:ext cx="2650085" cy="2192781"/>
            <a:chOff x="2256" y="2386"/>
            <a:chExt cx="2147" cy="1919"/>
          </a:xfrm>
          <a:solidFill>
            <a:schemeClr val="bg1"/>
          </a:solidFill>
        </p:grpSpPr>
        <p:sp>
          <p:nvSpPr>
            <p:cNvPr id="11" name="Oval 5"/>
            <p:cNvSpPr>
              <a:spLocks noChangeArrowheads="1"/>
            </p:cNvSpPr>
            <p:nvPr/>
          </p:nvSpPr>
          <p:spPr bwMode="auto">
            <a:xfrm rot="-1674972">
              <a:off x="2346" y="2526"/>
              <a:ext cx="1015" cy="69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2" name="Oval 6"/>
            <p:cNvSpPr>
              <a:spLocks noChangeArrowheads="1"/>
            </p:cNvSpPr>
            <p:nvPr/>
          </p:nvSpPr>
          <p:spPr bwMode="auto">
            <a:xfrm rot="-774972">
              <a:off x="3025" y="2386"/>
              <a:ext cx="887" cy="64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3" name="Oval 7"/>
            <p:cNvSpPr>
              <a:spLocks noChangeArrowheads="1"/>
            </p:cNvSpPr>
            <p:nvPr/>
          </p:nvSpPr>
          <p:spPr bwMode="auto">
            <a:xfrm rot="-174972">
              <a:off x="3673" y="2621"/>
              <a:ext cx="655" cy="83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4" name="Oval 8"/>
            <p:cNvSpPr>
              <a:spLocks noChangeArrowheads="1"/>
            </p:cNvSpPr>
            <p:nvPr/>
          </p:nvSpPr>
          <p:spPr bwMode="auto">
            <a:xfrm rot="18365028">
              <a:off x="3754" y="3108"/>
              <a:ext cx="687" cy="610"/>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5" name="Oval 9"/>
            <p:cNvSpPr>
              <a:spLocks noChangeArrowheads="1"/>
            </p:cNvSpPr>
            <p:nvPr/>
          </p:nvSpPr>
          <p:spPr bwMode="auto">
            <a:xfrm rot="-1674972">
              <a:off x="3052" y="3445"/>
              <a:ext cx="1110" cy="77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6" name="Oval 10"/>
            <p:cNvSpPr>
              <a:spLocks noChangeArrowheads="1"/>
            </p:cNvSpPr>
            <p:nvPr/>
          </p:nvSpPr>
          <p:spPr bwMode="auto">
            <a:xfrm rot="-594972">
              <a:off x="2616" y="3772"/>
              <a:ext cx="793" cy="533"/>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7" name="Oval 11"/>
            <p:cNvSpPr>
              <a:spLocks noChangeArrowheads="1"/>
            </p:cNvSpPr>
            <p:nvPr/>
          </p:nvSpPr>
          <p:spPr bwMode="auto">
            <a:xfrm rot="-1674972">
              <a:off x="2311" y="3539"/>
              <a:ext cx="503" cy="631"/>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8" name="Oval 12"/>
            <p:cNvSpPr>
              <a:spLocks noChangeArrowheads="1"/>
            </p:cNvSpPr>
            <p:nvPr/>
          </p:nvSpPr>
          <p:spPr bwMode="auto">
            <a:xfrm rot="18065028">
              <a:off x="2160" y="3115"/>
              <a:ext cx="695" cy="504"/>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9" name="Freeform 13"/>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grpSp>
      <p:sp>
        <p:nvSpPr>
          <p:cNvPr id="76812" name="Line 14"/>
          <p:cNvSpPr>
            <a:spLocks noChangeShapeType="1"/>
          </p:cNvSpPr>
          <p:nvPr/>
        </p:nvSpPr>
        <p:spPr bwMode="auto">
          <a:xfrm flipV="1">
            <a:off x="3795713" y="1770063"/>
            <a:ext cx="828675" cy="3317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3" name="Line 15"/>
          <p:cNvSpPr>
            <a:spLocks noChangeShapeType="1"/>
          </p:cNvSpPr>
          <p:nvPr/>
        </p:nvSpPr>
        <p:spPr bwMode="auto">
          <a:xfrm>
            <a:off x="4727575" y="1814513"/>
            <a:ext cx="490538" cy="83661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4" name="Line 16"/>
          <p:cNvSpPr>
            <a:spLocks noChangeShapeType="1"/>
          </p:cNvSpPr>
          <p:nvPr/>
        </p:nvSpPr>
        <p:spPr bwMode="auto">
          <a:xfrm flipH="1">
            <a:off x="3305175" y="2157413"/>
            <a:ext cx="431800" cy="7508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5" name="Line 17"/>
          <p:cNvSpPr>
            <a:spLocks noChangeShapeType="1"/>
          </p:cNvSpPr>
          <p:nvPr/>
        </p:nvSpPr>
        <p:spPr bwMode="auto">
          <a:xfrm>
            <a:off x="3332163" y="3014663"/>
            <a:ext cx="985837" cy="52863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6" name="Line 18"/>
          <p:cNvSpPr>
            <a:spLocks noChangeShapeType="1"/>
          </p:cNvSpPr>
          <p:nvPr/>
        </p:nvSpPr>
        <p:spPr bwMode="auto">
          <a:xfrm flipV="1">
            <a:off x="4359275" y="2816225"/>
            <a:ext cx="858838" cy="7810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7" name="Line 19"/>
          <p:cNvSpPr>
            <a:spLocks noChangeShapeType="1"/>
          </p:cNvSpPr>
          <p:nvPr/>
        </p:nvSpPr>
        <p:spPr bwMode="auto">
          <a:xfrm>
            <a:off x="3829050" y="2162175"/>
            <a:ext cx="1376363" cy="5651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8" name="Line 20"/>
          <p:cNvSpPr>
            <a:spLocks noChangeShapeType="1"/>
          </p:cNvSpPr>
          <p:nvPr/>
        </p:nvSpPr>
        <p:spPr bwMode="auto">
          <a:xfrm>
            <a:off x="3763963" y="2063750"/>
            <a:ext cx="647700" cy="147796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9" name="Line 21"/>
          <p:cNvSpPr>
            <a:spLocks noChangeShapeType="1"/>
          </p:cNvSpPr>
          <p:nvPr/>
        </p:nvSpPr>
        <p:spPr bwMode="auto">
          <a:xfrm flipH="1" flipV="1">
            <a:off x="4387850" y="3584575"/>
            <a:ext cx="441325" cy="4064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0" name="Line 22"/>
          <p:cNvSpPr>
            <a:spLocks noChangeShapeType="1"/>
          </p:cNvSpPr>
          <p:nvPr/>
        </p:nvSpPr>
        <p:spPr bwMode="auto">
          <a:xfrm rot="-5400000">
            <a:off x="4903788" y="1228725"/>
            <a:ext cx="349250" cy="6985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1" name="Line 23"/>
          <p:cNvSpPr>
            <a:spLocks noChangeShapeType="1"/>
          </p:cNvSpPr>
          <p:nvPr/>
        </p:nvSpPr>
        <p:spPr bwMode="auto">
          <a:xfrm>
            <a:off x="5276850" y="2816225"/>
            <a:ext cx="730250" cy="7556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2" name="Line 24"/>
          <p:cNvSpPr>
            <a:spLocks noChangeShapeType="1"/>
          </p:cNvSpPr>
          <p:nvPr/>
        </p:nvSpPr>
        <p:spPr bwMode="auto">
          <a:xfrm>
            <a:off x="2571750" y="2476500"/>
            <a:ext cx="652463" cy="4492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3" name="Line 25"/>
          <p:cNvSpPr>
            <a:spLocks noChangeShapeType="1"/>
          </p:cNvSpPr>
          <p:nvPr/>
        </p:nvSpPr>
        <p:spPr bwMode="auto">
          <a:xfrm rot="5400000" flipH="1">
            <a:off x="3247231" y="1581944"/>
            <a:ext cx="528638" cy="4508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4" name="Oval 31"/>
          <p:cNvSpPr>
            <a:spLocks noChangeArrowheads="1"/>
          </p:cNvSpPr>
          <p:nvPr/>
        </p:nvSpPr>
        <p:spPr bwMode="auto">
          <a:xfrm>
            <a:off x="3144838" y="2816225"/>
            <a:ext cx="295275" cy="274638"/>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a:solidFill>
                  <a:schemeClr val="bg1"/>
                </a:solidFill>
                <a:latin typeface="Arial" panose="020B0604020202020204" pitchFamily="34" charset="0"/>
              </a:rPr>
              <a:t>A</a:t>
            </a:r>
          </a:p>
        </p:txBody>
      </p:sp>
      <p:sp>
        <p:nvSpPr>
          <p:cNvPr id="76825" name="Line 39"/>
          <p:cNvSpPr>
            <a:spLocks noChangeShapeType="1"/>
          </p:cNvSpPr>
          <p:nvPr/>
        </p:nvSpPr>
        <p:spPr bwMode="auto">
          <a:xfrm flipV="1">
            <a:off x="5276850" y="2422525"/>
            <a:ext cx="1141413" cy="2841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6" name="Oval 80"/>
          <p:cNvSpPr>
            <a:spLocks noChangeArrowheads="1"/>
          </p:cNvSpPr>
          <p:nvPr/>
        </p:nvSpPr>
        <p:spPr bwMode="auto">
          <a:xfrm>
            <a:off x="3613150" y="1998663"/>
            <a:ext cx="296863"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a:solidFill>
                  <a:schemeClr val="bg1"/>
                </a:solidFill>
                <a:latin typeface="Arial" panose="020B0604020202020204" pitchFamily="34" charset="0"/>
              </a:rPr>
              <a:t>B</a:t>
            </a:r>
          </a:p>
        </p:txBody>
      </p:sp>
      <p:sp>
        <p:nvSpPr>
          <p:cNvPr id="76827" name="Oval 81"/>
          <p:cNvSpPr>
            <a:spLocks noChangeArrowheads="1"/>
          </p:cNvSpPr>
          <p:nvPr/>
        </p:nvSpPr>
        <p:spPr bwMode="auto">
          <a:xfrm>
            <a:off x="4533900" y="1633538"/>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a:solidFill>
                  <a:schemeClr val="bg1"/>
                </a:solidFill>
                <a:latin typeface="Arial" panose="020B0604020202020204" pitchFamily="34" charset="0"/>
              </a:rPr>
              <a:t>D</a:t>
            </a:r>
          </a:p>
        </p:txBody>
      </p:sp>
      <p:sp>
        <p:nvSpPr>
          <p:cNvPr id="76828" name="Oval 82"/>
          <p:cNvSpPr>
            <a:spLocks noChangeArrowheads="1"/>
          </p:cNvSpPr>
          <p:nvPr/>
        </p:nvSpPr>
        <p:spPr bwMode="auto">
          <a:xfrm>
            <a:off x="5086350" y="2608263"/>
            <a:ext cx="296863" cy="273050"/>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a:solidFill>
                  <a:schemeClr val="bg1"/>
                </a:solidFill>
                <a:latin typeface="Arial" panose="020B0604020202020204" pitchFamily="34" charset="0"/>
              </a:rPr>
              <a:t>E</a:t>
            </a:r>
          </a:p>
        </p:txBody>
      </p:sp>
      <p:sp>
        <p:nvSpPr>
          <p:cNvPr id="76829" name="Oval 83"/>
          <p:cNvSpPr>
            <a:spLocks noChangeArrowheads="1"/>
          </p:cNvSpPr>
          <p:nvPr/>
        </p:nvSpPr>
        <p:spPr bwMode="auto">
          <a:xfrm>
            <a:off x="4240213" y="3395663"/>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a:solidFill>
                  <a:schemeClr val="bg1"/>
                </a:solidFill>
                <a:latin typeface="Arial" panose="020B0604020202020204" pitchFamily="34" charset="0"/>
              </a:rPr>
              <a:t>C</a:t>
            </a:r>
          </a:p>
        </p:txBody>
      </p:sp>
      <p:sp>
        <p:nvSpPr>
          <p:cNvPr id="76830" name="Line 106"/>
          <p:cNvSpPr>
            <a:spLocks noChangeShapeType="1"/>
          </p:cNvSpPr>
          <p:nvPr/>
        </p:nvSpPr>
        <p:spPr bwMode="auto">
          <a:xfrm flipH="1">
            <a:off x="3798888" y="1597025"/>
            <a:ext cx="133350" cy="3825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831" name="Line 107"/>
          <p:cNvSpPr>
            <a:spLocks noChangeShapeType="1"/>
          </p:cNvSpPr>
          <p:nvPr/>
        </p:nvSpPr>
        <p:spPr bwMode="auto">
          <a:xfrm>
            <a:off x="1765300" y="2476500"/>
            <a:ext cx="452438" cy="142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832" name="Text Box 45"/>
          <p:cNvSpPr txBox="1">
            <a:spLocks noChangeArrowheads="1"/>
          </p:cNvSpPr>
          <p:nvPr/>
        </p:nvSpPr>
        <p:spPr bwMode="auto">
          <a:xfrm>
            <a:off x="3570288" y="12985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pic>
        <p:nvPicPr>
          <p:cNvPr id="7683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18125" y="12985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2188" y="2303463"/>
            <a:ext cx="401637"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448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9950" y="385762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37" name="Text Box 27"/>
          <p:cNvSpPr txBox="1">
            <a:spLocks noChangeArrowheads="1"/>
          </p:cNvSpPr>
          <p:nvPr/>
        </p:nvSpPr>
        <p:spPr bwMode="auto">
          <a:xfrm>
            <a:off x="2611438" y="1398588"/>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2</a:t>
            </a:r>
          </a:p>
        </p:txBody>
      </p:sp>
      <p:sp>
        <p:nvSpPr>
          <p:cNvPr id="76838" name="Text Box 27"/>
          <p:cNvSpPr txBox="1">
            <a:spLocks noChangeArrowheads="1"/>
          </p:cNvSpPr>
          <p:nvPr/>
        </p:nvSpPr>
        <p:spPr bwMode="auto">
          <a:xfrm>
            <a:off x="5630863" y="1292225"/>
            <a:ext cx="406400" cy="306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4</a:t>
            </a:r>
          </a:p>
        </p:txBody>
      </p:sp>
      <p:sp>
        <p:nvSpPr>
          <p:cNvPr id="76839" name="Text Box 27"/>
          <p:cNvSpPr txBox="1">
            <a:spLocks noChangeArrowheads="1"/>
          </p:cNvSpPr>
          <p:nvPr/>
        </p:nvSpPr>
        <p:spPr bwMode="auto">
          <a:xfrm>
            <a:off x="6546850" y="23336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6</a:t>
            </a:r>
          </a:p>
        </p:txBody>
      </p:sp>
      <p:sp>
        <p:nvSpPr>
          <p:cNvPr id="76840" name="Text Box 27"/>
          <p:cNvSpPr txBox="1">
            <a:spLocks noChangeArrowheads="1"/>
          </p:cNvSpPr>
          <p:nvPr/>
        </p:nvSpPr>
        <p:spPr bwMode="auto">
          <a:xfrm>
            <a:off x="6237288" y="35020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5</a:t>
            </a:r>
          </a:p>
        </p:txBody>
      </p:sp>
      <p:sp>
        <p:nvSpPr>
          <p:cNvPr id="76841" name="Text Box 27"/>
          <p:cNvSpPr txBox="1">
            <a:spLocks noChangeArrowheads="1"/>
          </p:cNvSpPr>
          <p:nvPr/>
        </p:nvSpPr>
        <p:spPr bwMode="auto">
          <a:xfrm>
            <a:off x="5021263" y="3879850"/>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3</a:t>
            </a:r>
          </a:p>
        </p:txBody>
      </p:sp>
      <p:sp>
        <p:nvSpPr>
          <p:cNvPr id="76842" name="Text Box 27"/>
          <p:cNvSpPr txBox="1">
            <a:spLocks noChangeArrowheads="1"/>
          </p:cNvSpPr>
          <p:nvPr/>
        </p:nvSpPr>
        <p:spPr bwMode="auto">
          <a:xfrm>
            <a:off x="2259013" y="2049463"/>
            <a:ext cx="4048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1</a:t>
            </a:r>
          </a:p>
        </p:txBody>
      </p:sp>
      <p:sp>
        <p:nvSpPr>
          <p:cNvPr id="76843" name="Text Box 204"/>
          <p:cNvSpPr txBox="1">
            <a:spLocks noChangeArrowheads="1"/>
          </p:cNvSpPr>
          <p:nvPr/>
        </p:nvSpPr>
        <p:spPr bwMode="auto">
          <a:xfrm>
            <a:off x="4130675" y="26447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6844" name="Text Box 45"/>
          <p:cNvSpPr txBox="1">
            <a:spLocks noChangeArrowheads="1"/>
          </p:cNvSpPr>
          <p:nvPr/>
        </p:nvSpPr>
        <p:spPr bwMode="auto">
          <a:xfrm>
            <a:off x="1257300" y="2314575"/>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pic>
        <p:nvPicPr>
          <p:cNvPr id="7684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16650" y="2286000"/>
            <a:ext cx="403225" cy="40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Rectangle 96"/>
          <p:cNvSpPr>
            <a:spLocks noChangeArrowheads="1"/>
          </p:cNvSpPr>
          <p:nvPr/>
        </p:nvSpPr>
        <p:spPr bwMode="auto">
          <a:xfrm>
            <a:off x="3046413" y="1431925"/>
            <a:ext cx="184150" cy="169863"/>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a:solidFill>
                <a:srgbClr val="00CC00"/>
              </a:solidFill>
              <a:latin typeface="Arial" panose="020B0604020202020204" pitchFamily="34" charset="0"/>
            </a:endParaRPr>
          </a:p>
        </p:txBody>
      </p:sp>
      <p:sp>
        <p:nvSpPr>
          <p:cNvPr id="54" name="Rectangle 96"/>
          <p:cNvSpPr>
            <a:spLocks noChangeArrowheads="1"/>
          </p:cNvSpPr>
          <p:nvPr/>
        </p:nvSpPr>
        <p:spPr bwMode="auto">
          <a:xfrm>
            <a:off x="2368550" y="2373313"/>
            <a:ext cx="184150" cy="171450"/>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a:solidFill>
                <a:srgbClr val="00CC00"/>
              </a:solidFill>
              <a:latin typeface="Arial" panose="020B0604020202020204" pitchFamily="34" charset="0"/>
            </a:endParaRPr>
          </a:p>
        </p:txBody>
      </p:sp>
      <p:sp>
        <p:nvSpPr>
          <p:cNvPr id="3" name="文本占位符 2"/>
          <p:cNvSpPr>
            <a:spLocks noGrp="1"/>
          </p:cNvSpPr>
          <p:nvPr>
            <p:ph type="body" sz="quarter" idx="10"/>
          </p:nvPr>
        </p:nvSpPr>
        <p:spPr/>
        <p:txBody>
          <a:bodyPr/>
          <a:lstStyle/>
          <a:p>
            <a:r>
              <a:rPr lang="zh-CN" altLang="en-US" dirty="0"/>
              <a:t>每个分组</a:t>
            </a:r>
            <a:r>
              <a:rPr lang="zh-CN" altLang="en-US" dirty="0">
                <a:solidFill>
                  <a:srgbClr val="FFFF00"/>
                </a:solidFill>
              </a:rPr>
              <a:t>独立</a:t>
            </a:r>
            <a:r>
              <a:rPr lang="zh-CN" altLang="en-US" dirty="0"/>
              <a:t>选择传输路径</a:t>
            </a:r>
          </a:p>
        </p:txBody>
      </p:sp>
    </p:spTree>
    <p:extLst>
      <p:ext uri="{BB962C8B-B14F-4D97-AF65-F5344CB8AC3E}">
        <p14:creationId xmlns:p14="http://schemas.microsoft.com/office/powerpoint/2010/main" val="25182423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7" presetClass="emph" presetSubtype="0" repeatCount="5000" fill="remove" grpId="0" nodeType="afterEffect">
                                  <p:stCondLst>
                                    <p:cond delay="0"/>
                                  </p:stCondLst>
                                  <p:childTnLst>
                                    <p:animClr clrSpc="rgb" dir="cw">
                                      <p:cBhvr override="childStyle">
                                        <p:cTn id="6" dur="500" autoRev="1" fill="remove"/>
                                        <p:tgtEl>
                                          <p:spTgt spid="6"/>
                                        </p:tgtEl>
                                        <p:attrNameLst>
                                          <p:attrName>style.color</p:attrName>
                                        </p:attrNameLst>
                                      </p:cBhvr>
                                      <p:to>
                                        <a:schemeClr val="bg1"/>
                                      </p:to>
                                    </p:animClr>
                                    <p:animClr clrSpc="rgb" dir="cw">
                                      <p:cBhvr>
                                        <p:cTn id="7" dur="500" autoRev="1" fill="remove"/>
                                        <p:tgtEl>
                                          <p:spTgt spid="6"/>
                                        </p:tgtEl>
                                        <p:attrNameLst>
                                          <p:attrName>fillcolor</p:attrName>
                                        </p:attrNameLst>
                                      </p:cBhvr>
                                      <p:to>
                                        <a:schemeClr val="bg1"/>
                                      </p:to>
                                    </p:animClr>
                                    <p:set>
                                      <p:cBhvr>
                                        <p:cTn id="8" dur="500" autoRev="1" fill="remove"/>
                                        <p:tgtEl>
                                          <p:spTgt spid="6"/>
                                        </p:tgtEl>
                                        <p:attrNameLst>
                                          <p:attrName>fill.type</p:attrName>
                                        </p:attrNameLst>
                                      </p:cBhvr>
                                      <p:to>
                                        <p:strVal val="solid"/>
                                      </p:to>
                                    </p:set>
                                    <p:set>
                                      <p:cBhvr>
                                        <p:cTn id="9" dur="500" autoRev="1" fill="remove"/>
                                        <p:tgtEl>
                                          <p:spTgt spid="6"/>
                                        </p:tgtEl>
                                        <p:attrNameLst>
                                          <p:attrName>fill.on</p:attrName>
                                        </p:attrNameLst>
                                      </p:cBhvr>
                                      <p:to>
                                        <p:strVal val="true"/>
                                      </p:to>
                                    </p:set>
                                  </p:childTnLst>
                                </p:cTn>
                              </p:par>
                              <p:par>
                                <p:cTn id="10" presetID="0" presetClass="path" presetSubtype="0" accel="50000" decel="50000" fill="hold" grpId="0" nodeType="withEffect">
                                  <p:stCondLst>
                                    <p:cond delay="3000"/>
                                  </p:stCondLst>
                                  <p:childTnLst>
                                    <p:animMotion origin="layout" path="M 2.77778E-6 -4.02285E-6 L 0.09114 0.09571 L 0.21007 0.20655 L 0.30208 0.05465 L 0.3967 0.21921 " pathEditMode="relative" rAng="0" ptsTypes="AAAAA">
                                      <p:cBhvr>
                                        <p:cTn id="11" dur="3000" fill="hold"/>
                                        <p:tgtEl>
                                          <p:spTgt spid="54"/>
                                        </p:tgtEl>
                                        <p:attrNameLst>
                                          <p:attrName>ppt_x</p:attrName>
                                          <p:attrName>ppt_y</p:attrName>
                                        </p:attrNameLst>
                                      </p:cBhvr>
                                      <p:rCtr x="19826" y="10960"/>
                                    </p:animMotion>
                                  </p:childTnLst>
                                </p:cTn>
                              </p:par>
                            </p:childTnLst>
                          </p:cTn>
                        </p:par>
                      </p:childTnLst>
                    </p:cTn>
                  </p:par>
                  <p:par>
                    <p:cTn id="12" fill="hold">
                      <p:stCondLst>
                        <p:cond delay="indefinite"/>
                      </p:stCondLst>
                      <p:childTnLst>
                        <p:par>
                          <p:cTn id="13" fill="hold">
                            <p:stCondLst>
                              <p:cond delay="0"/>
                            </p:stCondLst>
                            <p:childTnLst>
                              <p:par>
                                <p:cTn id="14" presetID="27" presetClass="emph" presetSubtype="0" repeatCount="5000" fill="remove" grpId="1" nodeType="clickEffect">
                                  <p:stCondLst>
                                    <p:cond delay="0"/>
                                  </p:stCondLst>
                                  <p:childTnLst>
                                    <p:animClr clrSpc="rgb" dir="cw">
                                      <p:cBhvr override="childStyle">
                                        <p:cTn id="15" dur="500" autoRev="1" fill="remove"/>
                                        <p:tgtEl>
                                          <p:spTgt spid="6"/>
                                        </p:tgtEl>
                                        <p:attrNameLst>
                                          <p:attrName>style.color</p:attrName>
                                        </p:attrNameLst>
                                      </p:cBhvr>
                                      <p:to>
                                        <a:schemeClr val="bg1"/>
                                      </p:to>
                                    </p:animClr>
                                    <p:animClr clrSpc="rgb" dir="cw">
                                      <p:cBhvr>
                                        <p:cTn id="16" dur="500" autoRev="1" fill="remove"/>
                                        <p:tgtEl>
                                          <p:spTgt spid="6"/>
                                        </p:tgtEl>
                                        <p:attrNameLst>
                                          <p:attrName>fillcolor</p:attrName>
                                        </p:attrNameLst>
                                      </p:cBhvr>
                                      <p:to>
                                        <a:schemeClr val="bg1"/>
                                      </p:to>
                                    </p:animClr>
                                    <p:set>
                                      <p:cBhvr>
                                        <p:cTn id="17" dur="500" autoRev="1" fill="remove"/>
                                        <p:tgtEl>
                                          <p:spTgt spid="6"/>
                                        </p:tgtEl>
                                        <p:attrNameLst>
                                          <p:attrName>fill.type</p:attrName>
                                        </p:attrNameLst>
                                      </p:cBhvr>
                                      <p:to>
                                        <p:strVal val="solid"/>
                                      </p:to>
                                    </p:set>
                                    <p:set>
                                      <p:cBhvr>
                                        <p:cTn id="18" dur="500" autoRev="1" fill="remove"/>
                                        <p:tgtEl>
                                          <p:spTgt spid="6"/>
                                        </p:tgtEl>
                                        <p:attrNameLst>
                                          <p:attrName>fill.on</p:attrName>
                                        </p:attrNameLst>
                                      </p:cBhvr>
                                      <p:to>
                                        <p:strVal val="true"/>
                                      </p:to>
                                    </p:set>
                                  </p:childTnLst>
                                </p:cTn>
                              </p:par>
                              <p:par>
                                <p:cTn id="19" presetID="0" presetClass="path" presetSubtype="0" accel="50000" decel="50000" fill="hold" grpId="1" nodeType="withEffect">
                                  <p:stCondLst>
                                    <p:cond delay="1000"/>
                                  </p:stCondLst>
                                  <p:childTnLst>
                                    <p:animMotion origin="layout" path="M 0 0 L 0.09514 0.09386 L 0.14323 -0.06699 L 0.30555 0.05403 L 0.40087 0.21766 " pathEditMode="relative" ptsTypes="AAAAA">
                                      <p:cBhvr>
                                        <p:cTn id="20" dur="3000" fill="hold"/>
                                        <p:tgtEl>
                                          <p:spTgt spid="54"/>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27" presetClass="emph" presetSubtype="0" repeatCount="5000" fill="remove" grpId="0" nodeType="clickEffect">
                                  <p:stCondLst>
                                    <p:cond delay="0"/>
                                  </p:stCondLst>
                                  <p:childTnLst>
                                    <p:animClr clrSpc="rgb" dir="cw">
                                      <p:cBhvr override="childStyle">
                                        <p:cTn id="24" dur="500" autoRev="1" fill="remove"/>
                                        <p:tgtEl>
                                          <p:spTgt spid="7"/>
                                        </p:tgtEl>
                                        <p:attrNameLst>
                                          <p:attrName>style.color</p:attrName>
                                        </p:attrNameLst>
                                      </p:cBhvr>
                                      <p:to>
                                        <a:schemeClr val="bg1"/>
                                      </p:to>
                                    </p:animClr>
                                    <p:animClr clrSpc="rgb" dir="cw">
                                      <p:cBhvr>
                                        <p:cTn id="25" dur="500" autoRev="1" fill="remove"/>
                                        <p:tgtEl>
                                          <p:spTgt spid="7"/>
                                        </p:tgtEl>
                                        <p:attrNameLst>
                                          <p:attrName>fillcolor</p:attrName>
                                        </p:attrNameLst>
                                      </p:cBhvr>
                                      <p:to>
                                        <a:schemeClr val="bg1"/>
                                      </p:to>
                                    </p:animClr>
                                    <p:set>
                                      <p:cBhvr>
                                        <p:cTn id="26" dur="500" autoRev="1" fill="remove"/>
                                        <p:tgtEl>
                                          <p:spTgt spid="7"/>
                                        </p:tgtEl>
                                        <p:attrNameLst>
                                          <p:attrName>fill.type</p:attrName>
                                        </p:attrNameLst>
                                      </p:cBhvr>
                                      <p:to>
                                        <p:strVal val="solid"/>
                                      </p:to>
                                    </p:set>
                                    <p:set>
                                      <p:cBhvr>
                                        <p:cTn id="27" dur="500" autoRev="1" fill="remove"/>
                                        <p:tgtEl>
                                          <p:spTgt spid="7"/>
                                        </p:tgtEl>
                                        <p:attrNameLst>
                                          <p:attrName>fill.on</p:attrName>
                                        </p:attrNameLst>
                                      </p:cBhvr>
                                      <p:to>
                                        <p:strVal val="true"/>
                                      </p:to>
                                    </p:set>
                                  </p:childTnLst>
                                </p:cTn>
                              </p:par>
                              <p:par>
                                <p:cTn id="28" presetID="1" presetClass="entr" presetSubtype="0" fill="hold" grpId="1" nodeType="withEffect">
                                  <p:stCondLst>
                                    <p:cond delay="500"/>
                                  </p:stCondLst>
                                  <p:childTnLst>
                                    <p:set>
                                      <p:cBhvr>
                                        <p:cTn id="29" dur="1" fill="hold">
                                          <p:stCondLst>
                                            <p:cond delay="0"/>
                                          </p:stCondLst>
                                        </p:cTn>
                                        <p:tgtEl>
                                          <p:spTgt spid="7"/>
                                        </p:tgtEl>
                                        <p:attrNameLst>
                                          <p:attrName>style.visibility</p:attrName>
                                        </p:attrNameLst>
                                      </p:cBhvr>
                                      <p:to>
                                        <p:strVal val="visible"/>
                                      </p:to>
                                    </p:set>
                                  </p:childTnLst>
                                </p:cTn>
                              </p:par>
                              <p:par>
                                <p:cTn id="30" presetID="0" presetClass="path" presetSubtype="0" accel="50000" decel="50000" fill="hold" grpId="0" nodeType="withEffect">
                                  <p:stCondLst>
                                    <p:cond delay="1000"/>
                                  </p:stCondLst>
                                  <p:childTnLst>
                                    <p:animMotion origin="layout" path="M -2.5E-6 7.37265E-6 L 0.06649 0.12227 L 0.23125 0.24175 L 0.35677 0.18062 " pathEditMode="relative" ptsTypes="AAAA">
                                      <p:cBhvr>
                                        <p:cTn id="31" dur="3000" fill="hold"/>
                                        <p:tgtEl>
                                          <p:spTgt spid="40"/>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34" presetID="27" presetClass="emph" presetSubtype="0" repeatCount="5000" fill="remove" grpId="0" nodeType="clickEffect">
                                  <p:stCondLst>
                                    <p:cond delay="0"/>
                                  </p:stCondLst>
                                  <p:childTnLst>
                                    <p:animClr clrSpc="rgb" dir="cw">
                                      <p:cBhvr override="childStyle">
                                        <p:cTn id="35" dur="500" autoRev="1" fill="remove"/>
                                        <p:tgtEl>
                                          <p:spTgt spid="8"/>
                                        </p:tgtEl>
                                        <p:attrNameLst>
                                          <p:attrName>style.color</p:attrName>
                                        </p:attrNameLst>
                                      </p:cBhvr>
                                      <p:to>
                                        <a:schemeClr val="bg1"/>
                                      </p:to>
                                    </p:animClr>
                                    <p:animClr clrSpc="rgb" dir="cw">
                                      <p:cBhvr>
                                        <p:cTn id="36" dur="500" autoRev="1" fill="remove"/>
                                        <p:tgtEl>
                                          <p:spTgt spid="8"/>
                                        </p:tgtEl>
                                        <p:attrNameLst>
                                          <p:attrName>fillcolor</p:attrName>
                                        </p:attrNameLst>
                                      </p:cBhvr>
                                      <p:to>
                                        <a:schemeClr val="bg1"/>
                                      </p:to>
                                    </p:animClr>
                                    <p:set>
                                      <p:cBhvr>
                                        <p:cTn id="37" dur="500" autoRev="1" fill="remove"/>
                                        <p:tgtEl>
                                          <p:spTgt spid="8"/>
                                        </p:tgtEl>
                                        <p:attrNameLst>
                                          <p:attrName>fill.type</p:attrName>
                                        </p:attrNameLst>
                                      </p:cBhvr>
                                      <p:to>
                                        <p:strVal val="solid"/>
                                      </p:to>
                                    </p:set>
                                    <p:set>
                                      <p:cBhvr>
                                        <p:cTn id="38" dur="500" autoRev="1" fill="remove"/>
                                        <p:tgtEl>
                                          <p:spTgt spid="8"/>
                                        </p:tgtEl>
                                        <p:attrNameLst>
                                          <p:attrName>fill.on</p:attrName>
                                        </p:attrNameLst>
                                      </p:cBhvr>
                                      <p:to>
                                        <p:strVal val="true"/>
                                      </p:to>
                                    </p:set>
                                  </p:childTnLst>
                                </p:cTn>
                              </p:par>
                              <p:par>
                                <p:cTn id="39" presetID="0" presetClass="path" presetSubtype="0" accel="50000" decel="50000" fill="hold" grpId="2" nodeType="withEffect">
                                  <p:stCondLst>
                                    <p:cond delay="1000"/>
                                  </p:stCondLst>
                                  <p:childTnLst>
                                    <p:animMotion origin="layout" path="M 0 0 L 0.09045 0.09107 L 0.1408 -0.06824 L 0.30087 0.05402 L 0.39844 0.22074 " pathEditMode="relative" ptsTypes="AAAAA">
                                      <p:cBhvr>
                                        <p:cTn id="40" dur="3000" fill="hold"/>
                                        <p:tgtEl>
                                          <p:spTgt spid="54"/>
                                        </p:tgtEl>
                                        <p:attrNameLst>
                                          <p:attrName>ppt_x</p:attrName>
                                          <p:attrName>ppt_y</p:attrName>
                                        </p:attrNameLst>
                                      </p:cBhvr>
                                    </p:animMotion>
                                  </p:childTnLst>
                                </p:cTn>
                              </p:par>
                              <p:par>
                                <p:cTn id="41" presetID="0" presetClass="path" presetSubtype="0" accel="50000" decel="50000" fill="hold" grpId="1" nodeType="withEffect">
                                  <p:stCondLst>
                                    <p:cond delay="2000"/>
                                  </p:stCondLst>
                                  <p:childTnLst>
                                    <p:animMotion origin="layout" path="M 0 0 L 0.07049 0.1238 L 0.22969 0.23618 L 0.35764 0.17783 " pathEditMode="relative" ptsTypes="AAAA">
                                      <p:cBhvr>
                                        <p:cTn id="42" dur="3000" fill="hold"/>
                                        <p:tgtEl>
                                          <p:spTgt spid="40"/>
                                        </p:tgtEl>
                                        <p:attrNameLst>
                                          <p:attrName>ppt_x</p:attrName>
                                          <p:attrName>ppt_y</p:attrName>
                                        </p:attrNameLst>
                                      </p:cBhvr>
                                    </p:animMotion>
                                  </p:childTnLst>
                                </p:cTn>
                              </p:par>
                              <p:par>
                                <p:cTn id="43" presetID="0" presetClass="path" presetSubtype="0" accel="50000" decel="50000" fill="hold" grpId="3" nodeType="withEffect">
                                  <p:stCondLst>
                                    <p:cond delay="3000"/>
                                  </p:stCondLst>
                                  <p:childTnLst>
                                    <p:animMotion origin="layout" path="M 0 0 L 0.0927 0.09386 L 0.14479 -0.067 L 0.21111 0.20901 L 0.30156 0.06113 L 0.39913 0.22198 " pathEditMode="relative" ptsTypes="AAAAAA">
                                      <p:cBhvr>
                                        <p:cTn id="44" dur="3000" fill="hold"/>
                                        <p:tgtEl>
                                          <p:spTgt spid="5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6" grpId="0" animBg="1"/>
      <p:bldP spid="6" grpId="1" animBg="1"/>
      <p:bldP spid="7" grpId="0" animBg="1"/>
      <p:bldP spid="7" grpId="1" animBg="1"/>
      <p:bldP spid="40" grpId="0" animBg="1"/>
      <p:bldP spid="40" grpId="1" animBg="1"/>
      <p:bldP spid="54" grpId="0" animBg="1"/>
      <p:bldP spid="54" grpId="1" animBg="1"/>
      <p:bldP spid="54" grpId="2" animBg="1"/>
      <p:bldP spid="54" grpId="3"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05072" y="1179576"/>
            <a:ext cx="8133857" cy="32186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nvGrpSpPr>
          <p:cNvPr id="55" name="Group 3"/>
          <p:cNvGrpSpPr/>
          <p:nvPr/>
        </p:nvGrpSpPr>
        <p:grpSpPr bwMode="auto">
          <a:xfrm>
            <a:off x="3072041" y="1560753"/>
            <a:ext cx="2956714" cy="2446498"/>
            <a:chOff x="2256" y="2386"/>
            <a:chExt cx="2147" cy="1919"/>
          </a:xfrm>
          <a:solidFill>
            <a:schemeClr val="bg1"/>
          </a:solidFill>
        </p:grpSpPr>
        <p:sp>
          <p:nvSpPr>
            <p:cNvPr id="56" name="Oval 4"/>
            <p:cNvSpPr>
              <a:spLocks noChangeArrowheads="1"/>
            </p:cNvSpPr>
            <p:nvPr/>
          </p:nvSpPr>
          <p:spPr bwMode="auto">
            <a:xfrm rot="-1674972">
              <a:off x="2346" y="2526"/>
              <a:ext cx="1015" cy="69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7" name="Oval 5"/>
            <p:cNvSpPr>
              <a:spLocks noChangeArrowheads="1"/>
            </p:cNvSpPr>
            <p:nvPr/>
          </p:nvSpPr>
          <p:spPr bwMode="auto">
            <a:xfrm rot="-774972">
              <a:off x="3025" y="2386"/>
              <a:ext cx="887" cy="64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8" name="Oval 6"/>
            <p:cNvSpPr>
              <a:spLocks noChangeArrowheads="1"/>
            </p:cNvSpPr>
            <p:nvPr/>
          </p:nvSpPr>
          <p:spPr bwMode="auto">
            <a:xfrm rot="-174972">
              <a:off x="3673" y="2621"/>
              <a:ext cx="655" cy="83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9" name="Oval 7"/>
            <p:cNvSpPr>
              <a:spLocks noChangeArrowheads="1"/>
            </p:cNvSpPr>
            <p:nvPr/>
          </p:nvSpPr>
          <p:spPr bwMode="auto">
            <a:xfrm rot="18365028">
              <a:off x="3754" y="3108"/>
              <a:ext cx="687" cy="610"/>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0" name="Oval 8"/>
            <p:cNvSpPr>
              <a:spLocks noChangeArrowheads="1"/>
            </p:cNvSpPr>
            <p:nvPr/>
          </p:nvSpPr>
          <p:spPr bwMode="auto">
            <a:xfrm rot="-1674972">
              <a:off x="3052" y="3445"/>
              <a:ext cx="1110" cy="77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1" name="Oval 9"/>
            <p:cNvSpPr>
              <a:spLocks noChangeArrowheads="1"/>
            </p:cNvSpPr>
            <p:nvPr/>
          </p:nvSpPr>
          <p:spPr bwMode="auto">
            <a:xfrm rot="-594972">
              <a:off x="2616" y="3772"/>
              <a:ext cx="793" cy="533"/>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2" name="Oval 10"/>
            <p:cNvSpPr>
              <a:spLocks noChangeArrowheads="1"/>
            </p:cNvSpPr>
            <p:nvPr/>
          </p:nvSpPr>
          <p:spPr bwMode="auto">
            <a:xfrm rot="-1674972">
              <a:off x="2311" y="3539"/>
              <a:ext cx="503" cy="631"/>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3" name="Oval 11"/>
            <p:cNvSpPr>
              <a:spLocks noChangeArrowheads="1"/>
            </p:cNvSpPr>
            <p:nvPr/>
          </p:nvSpPr>
          <p:spPr bwMode="auto">
            <a:xfrm rot="18065028">
              <a:off x="2160" y="3115"/>
              <a:ext cx="695" cy="504"/>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4" name="Freeform 12"/>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grpSp>
      <p:sp>
        <p:nvSpPr>
          <p:cNvPr id="77832" name="Line 13"/>
          <p:cNvSpPr>
            <a:spLocks noChangeShapeType="1"/>
          </p:cNvSpPr>
          <p:nvPr/>
        </p:nvSpPr>
        <p:spPr bwMode="auto">
          <a:xfrm flipV="1">
            <a:off x="3889375" y="1717675"/>
            <a:ext cx="927100" cy="369888"/>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3" name="Line 14"/>
          <p:cNvSpPr>
            <a:spLocks noChangeShapeType="1"/>
          </p:cNvSpPr>
          <p:nvPr/>
        </p:nvSpPr>
        <p:spPr bwMode="auto">
          <a:xfrm>
            <a:off x="4929188" y="1766888"/>
            <a:ext cx="547687" cy="93345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4" name="Line 15"/>
          <p:cNvSpPr>
            <a:spLocks noChangeShapeType="1"/>
          </p:cNvSpPr>
          <p:nvPr/>
        </p:nvSpPr>
        <p:spPr bwMode="auto">
          <a:xfrm flipH="1">
            <a:off x="3343275" y="2149475"/>
            <a:ext cx="481013" cy="83820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5" name="Line 16"/>
          <p:cNvSpPr>
            <a:spLocks noChangeShapeType="1"/>
          </p:cNvSpPr>
          <p:nvPr/>
        </p:nvSpPr>
        <p:spPr bwMode="auto">
          <a:xfrm>
            <a:off x="3373438" y="3106738"/>
            <a:ext cx="1100137" cy="587375"/>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6" name="Line 17"/>
          <p:cNvSpPr>
            <a:spLocks noChangeShapeType="1"/>
          </p:cNvSpPr>
          <p:nvPr/>
        </p:nvSpPr>
        <p:spPr bwMode="auto">
          <a:xfrm flipV="1">
            <a:off x="4519613" y="2884488"/>
            <a:ext cx="957262" cy="8715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7" name="Line 18"/>
          <p:cNvSpPr>
            <a:spLocks noChangeShapeType="1"/>
          </p:cNvSpPr>
          <p:nvPr/>
        </p:nvSpPr>
        <p:spPr bwMode="auto">
          <a:xfrm>
            <a:off x="3927475" y="2154238"/>
            <a:ext cx="1536700" cy="6302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8" name="Line 19"/>
          <p:cNvSpPr>
            <a:spLocks noChangeShapeType="1"/>
          </p:cNvSpPr>
          <p:nvPr/>
        </p:nvSpPr>
        <p:spPr bwMode="auto">
          <a:xfrm>
            <a:off x="3854450" y="2044700"/>
            <a:ext cx="722313" cy="1649413"/>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9" name="Line 20"/>
          <p:cNvSpPr>
            <a:spLocks noChangeShapeType="1"/>
          </p:cNvSpPr>
          <p:nvPr/>
        </p:nvSpPr>
        <p:spPr bwMode="auto">
          <a:xfrm flipH="1" flipV="1">
            <a:off x="4551363" y="3741738"/>
            <a:ext cx="652462" cy="454025"/>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0" name="Line 21"/>
          <p:cNvSpPr>
            <a:spLocks noChangeShapeType="1"/>
          </p:cNvSpPr>
          <p:nvPr/>
        </p:nvSpPr>
        <p:spPr bwMode="auto">
          <a:xfrm rot="-5400000">
            <a:off x="5165725" y="1176338"/>
            <a:ext cx="155575" cy="73025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1" name="Line 22"/>
          <p:cNvSpPr>
            <a:spLocks noChangeShapeType="1"/>
          </p:cNvSpPr>
          <p:nvPr/>
        </p:nvSpPr>
        <p:spPr bwMode="auto">
          <a:xfrm>
            <a:off x="5543550" y="2884488"/>
            <a:ext cx="461963" cy="673100"/>
          </a:xfrm>
          <a:prstGeom prst="line">
            <a:avLst/>
          </a:prstGeom>
          <a:noFill/>
          <a:ln w="28575">
            <a:solidFill>
              <a:schemeClr val="tx2">
                <a:lumMod val="60000"/>
                <a:lumOff val="4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2" name="Line 23"/>
          <p:cNvSpPr>
            <a:spLocks noChangeShapeType="1"/>
          </p:cNvSpPr>
          <p:nvPr/>
        </p:nvSpPr>
        <p:spPr bwMode="auto">
          <a:xfrm flipV="1">
            <a:off x="2382838" y="3055938"/>
            <a:ext cx="792162" cy="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3" name="Line 24"/>
          <p:cNvSpPr>
            <a:spLocks noChangeShapeType="1"/>
          </p:cNvSpPr>
          <p:nvPr/>
        </p:nvSpPr>
        <p:spPr bwMode="auto">
          <a:xfrm rot="5400000" flipH="1">
            <a:off x="3313113" y="1539875"/>
            <a:ext cx="515938" cy="50958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4" name="Text Box 25"/>
          <p:cNvSpPr txBox="1">
            <a:spLocks noChangeArrowheads="1"/>
          </p:cNvSpPr>
          <p:nvPr/>
        </p:nvSpPr>
        <p:spPr bwMode="auto">
          <a:xfrm>
            <a:off x="1714500" y="2860675"/>
            <a:ext cx="4095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1</a:t>
            </a:r>
            <a:endParaRPr kumimoji="1" lang="en-US" altLang="zh-CN" b="1"/>
          </a:p>
        </p:txBody>
      </p:sp>
      <p:sp>
        <p:nvSpPr>
          <p:cNvPr id="77845" name="Oval 26"/>
          <p:cNvSpPr>
            <a:spLocks noChangeArrowheads="1"/>
          </p:cNvSpPr>
          <p:nvPr/>
        </p:nvSpPr>
        <p:spPr bwMode="auto">
          <a:xfrm>
            <a:off x="3114675" y="2878138"/>
            <a:ext cx="404813" cy="374650"/>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a:solidFill>
                  <a:srgbClr val="000099"/>
                </a:solidFill>
              </a:rPr>
              <a:t>A</a:t>
            </a:r>
          </a:p>
        </p:txBody>
      </p:sp>
      <p:sp>
        <p:nvSpPr>
          <p:cNvPr id="77846" name="Line 27"/>
          <p:cNvSpPr>
            <a:spLocks noChangeShapeType="1"/>
          </p:cNvSpPr>
          <p:nvPr/>
        </p:nvSpPr>
        <p:spPr bwMode="auto">
          <a:xfrm flipV="1">
            <a:off x="5543550" y="2233613"/>
            <a:ext cx="993775" cy="52863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7" name="Oval 35"/>
          <p:cNvSpPr>
            <a:spLocks noChangeArrowheads="1"/>
          </p:cNvSpPr>
          <p:nvPr/>
        </p:nvSpPr>
        <p:spPr bwMode="auto">
          <a:xfrm>
            <a:off x="3687763" y="1973263"/>
            <a:ext cx="381000" cy="3524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a:solidFill>
                  <a:srgbClr val="000099"/>
                </a:solidFill>
              </a:rPr>
              <a:t>B</a:t>
            </a:r>
          </a:p>
        </p:txBody>
      </p:sp>
      <p:sp>
        <p:nvSpPr>
          <p:cNvPr id="77848" name="Oval 36"/>
          <p:cNvSpPr>
            <a:spLocks noChangeArrowheads="1"/>
          </p:cNvSpPr>
          <p:nvPr/>
        </p:nvSpPr>
        <p:spPr bwMode="auto">
          <a:xfrm>
            <a:off x="4713288" y="1565275"/>
            <a:ext cx="373062" cy="344488"/>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a:solidFill>
                  <a:srgbClr val="000099"/>
                </a:solidFill>
              </a:rPr>
              <a:t>D</a:t>
            </a:r>
          </a:p>
        </p:txBody>
      </p:sp>
      <p:sp>
        <p:nvSpPr>
          <p:cNvPr id="77849" name="Oval 37"/>
          <p:cNvSpPr>
            <a:spLocks noChangeArrowheads="1"/>
          </p:cNvSpPr>
          <p:nvPr/>
        </p:nvSpPr>
        <p:spPr bwMode="auto">
          <a:xfrm>
            <a:off x="5292725" y="2657475"/>
            <a:ext cx="414338" cy="38417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a:solidFill>
                  <a:srgbClr val="000099"/>
                </a:solidFill>
              </a:rPr>
              <a:t>E</a:t>
            </a:r>
          </a:p>
        </p:txBody>
      </p:sp>
      <p:sp>
        <p:nvSpPr>
          <p:cNvPr id="77850" name="Oval 38"/>
          <p:cNvSpPr>
            <a:spLocks noChangeArrowheads="1"/>
          </p:cNvSpPr>
          <p:nvPr/>
        </p:nvSpPr>
        <p:spPr bwMode="auto">
          <a:xfrm>
            <a:off x="4386263" y="3532188"/>
            <a:ext cx="393700" cy="3651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a:solidFill>
                  <a:srgbClr val="000099"/>
                </a:solidFill>
              </a:rPr>
              <a:t>C</a:t>
            </a:r>
          </a:p>
        </p:txBody>
      </p:sp>
      <p:sp>
        <p:nvSpPr>
          <p:cNvPr id="77851" name="Text Box 39"/>
          <p:cNvSpPr txBox="1">
            <a:spLocks noChangeArrowheads="1"/>
          </p:cNvSpPr>
          <p:nvPr/>
        </p:nvSpPr>
        <p:spPr bwMode="auto">
          <a:xfrm>
            <a:off x="6267450" y="3432175"/>
            <a:ext cx="407988" cy="369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5</a:t>
            </a:r>
            <a:endParaRPr kumimoji="1" lang="en-US" altLang="zh-CN" b="1"/>
          </a:p>
        </p:txBody>
      </p:sp>
      <p:sp>
        <p:nvSpPr>
          <p:cNvPr id="77852" name="Text Box 40"/>
          <p:cNvSpPr txBox="1">
            <a:spLocks noChangeArrowheads="1"/>
          </p:cNvSpPr>
          <p:nvPr/>
        </p:nvSpPr>
        <p:spPr bwMode="auto">
          <a:xfrm>
            <a:off x="6788150" y="2039938"/>
            <a:ext cx="4095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6</a:t>
            </a:r>
            <a:endParaRPr kumimoji="1" lang="en-US" altLang="zh-CN" b="1"/>
          </a:p>
        </p:txBody>
      </p:sp>
      <p:sp>
        <p:nvSpPr>
          <p:cNvPr id="77853" name="Text Box 42"/>
          <p:cNvSpPr txBox="1">
            <a:spLocks noChangeArrowheads="1"/>
          </p:cNvSpPr>
          <p:nvPr/>
        </p:nvSpPr>
        <p:spPr bwMode="auto">
          <a:xfrm>
            <a:off x="3360738" y="1277938"/>
            <a:ext cx="4095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2</a:t>
            </a:r>
            <a:endParaRPr kumimoji="1" lang="en-US" altLang="zh-CN" b="1"/>
          </a:p>
        </p:txBody>
      </p:sp>
      <p:sp>
        <p:nvSpPr>
          <p:cNvPr id="77854" name="Text Box 43"/>
          <p:cNvSpPr txBox="1">
            <a:spLocks noChangeArrowheads="1"/>
          </p:cNvSpPr>
          <p:nvPr/>
        </p:nvSpPr>
        <p:spPr bwMode="auto">
          <a:xfrm>
            <a:off x="5367338" y="3902075"/>
            <a:ext cx="409575" cy="369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3</a:t>
            </a:r>
            <a:endParaRPr kumimoji="1" lang="en-US" altLang="zh-CN" b="1"/>
          </a:p>
        </p:txBody>
      </p:sp>
      <p:sp>
        <p:nvSpPr>
          <p:cNvPr id="77855" name="Text Box 55"/>
          <p:cNvSpPr txBox="1">
            <a:spLocks noChangeArrowheads="1"/>
          </p:cNvSpPr>
          <p:nvPr/>
        </p:nvSpPr>
        <p:spPr bwMode="auto">
          <a:xfrm>
            <a:off x="2247900" y="2038350"/>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sp>
        <p:nvSpPr>
          <p:cNvPr id="77856" name="Line 57"/>
          <p:cNvSpPr>
            <a:spLocks noChangeShapeType="1"/>
          </p:cNvSpPr>
          <p:nvPr/>
        </p:nvSpPr>
        <p:spPr bwMode="auto">
          <a:xfrm flipV="1">
            <a:off x="2971800" y="2058988"/>
            <a:ext cx="738188" cy="120650"/>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pic>
        <p:nvPicPr>
          <p:cNvPr id="7785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03800" y="3905250"/>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58" name="Line 58"/>
          <p:cNvSpPr>
            <a:spLocks noChangeShapeType="1"/>
          </p:cNvSpPr>
          <p:nvPr/>
        </p:nvSpPr>
        <p:spPr bwMode="auto">
          <a:xfrm>
            <a:off x="1979613" y="2513013"/>
            <a:ext cx="260350" cy="384175"/>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3" name="Text Box 64"/>
          <p:cNvSpPr txBox="1">
            <a:spLocks noChangeArrowheads="1"/>
          </p:cNvSpPr>
          <p:nvPr/>
        </p:nvSpPr>
        <p:spPr bwMode="auto">
          <a:xfrm>
            <a:off x="6121949" y="3077893"/>
            <a:ext cx="2262188" cy="338137"/>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最后到达目的主机 </a:t>
            </a:r>
            <a:r>
              <a:rPr kumimoji="1" lang="en-US" altLang="zh-CN" sz="1600" b="1" dirty="0">
                <a:solidFill>
                  <a:schemeClr val="bg1"/>
                </a:solidFill>
                <a:latin typeface="微软雅黑" panose="020B0503020204020204" pitchFamily="34" charset="-122"/>
                <a:ea typeface="微软雅黑" panose="020B0503020204020204" pitchFamily="34" charset="-122"/>
              </a:rPr>
              <a:t>H</a:t>
            </a:r>
            <a:r>
              <a:rPr kumimoji="1" lang="en-US" altLang="zh-CN" sz="1600" b="1" baseline="-25000" dirty="0">
                <a:solidFill>
                  <a:schemeClr val="bg1"/>
                </a:solidFill>
                <a:latin typeface="微软雅黑" panose="020B0503020204020204" pitchFamily="34" charset="-122"/>
                <a:ea typeface="微软雅黑" panose="020B0503020204020204" pitchFamily="34" charset="-122"/>
              </a:rPr>
              <a:t>5</a:t>
            </a:r>
          </a:p>
        </p:txBody>
      </p:sp>
      <p:sp>
        <p:nvSpPr>
          <p:cNvPr id="77860" name="Text Box 204"/>
          <p:cNvSpPr txBox="1">
            <a:spLocks noChangeArrowheads="1"/>
          </p:cNvSpPr>
          <p:nvPr/>
        </p:nvSpPr>
        <p:spPr bwMode="auto">
          <a:xfrm>
            <a:off x="4316413" y="2741613"/>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7861" name="Text Box 98"/>
          <p:cNvSpPr txBox="1">
            <a:spLocks noChangeArrowheads="1"/>
          </p:cNvSpPr>
          <p:nvPr/>
        </p:nvSpPr>
        <p:spPr bwMode="auto">
          <a:xfrm>
            <a:off x="705610" y="1494832"/>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1</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向 </a:t>
            </a:r>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5</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发送分组</a:t>
            </a:r>
          </a:p>
        </p:txBody>
      </p:sp>
      <p:sp>
        <p:nvSpPr>
          <p:cNvPr id="77862" name="Text Box 42"/>
          <p:cNvSpPr txBox="1">
            <a:spLocks noChangeArrowheads="1"/>
          </p:cNvSpPr>
          <p:nvPr/>
        </p:nvSpPr>
        <p:spPr bwMode="auto">
          <a:xfrm>
            <a:off x="5810250" y="1252538"/>
            <a:ext cx="409575" cy="369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4</a:t>
            </a:r>
            <a:endParaRPr kumimoji="1" lang="en-US" altLang="zh-CN" b="1"/>
          </a:p>
        </p:txBody>
      </p:sp>
      <p:pic>
        <p:nvPicPr>
          <p:cNvPr id="778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3663" y="2032000"/>
            <a:ext cx="433387"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54400"/>
            <a:ext cx="431800"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8825" y="2895600"/>
            <a:ext cx="433388"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7" name="Rectangle 46"/>
          <p:cNvSpPr>
            <a:spLocks noChangeArrowheads="1"/>
          </p:cNvSpPr>
          <p:nvPr/>
        </p:nvSpPr>
        <p:spPr bwMode="auto">
          <a:xfrm>
            <a:off x="2122488" y="2957513"/>
            <a:ext cx="233362" cy="214312"/>
          </a:xfrm>
          <a:prstGeom prst="rect">
            <a:avLst/>
          </a:prstGeom>
          <a:solidFill>
            <a:srgbClr val="FF0000"/>
          </a:solidFill>
          <a:ln w="9525">
            <a:solidFill>
              <a:srgbClr val="FF0000"/>
            </a:solidFill>
            <a:miter lim="800000"/>
          </a:ln>
        </p:spPr>
        <p:txBody>
          <a:bodyPr wrap="none" anchor="ctr"/>
          <a:lstStyle/>
          <a:p>
            <a:endParaRPr lang="zh-CN" altLang="en-US" b="1">
              <a:solidFill>
                <a:srgbClr val="000099"/>
              </a:solidFill>
            </a:endParaRPr>
          </a:p>
        </p:txBody>
      </p:sp>
      <p:pic>
        <p:nvPicPr>
          <p:cNvPr id="7786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75" y="1284288"/>
            <a:ext cx="431800"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5600" y="1266825"/>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5" name="Text Box 54"/>
          <p:cNvSpPr txBox="1">
            <a:spLocks noChangeArrowheads="1"/>
          </p:cNvSpPr>
          <p:nvPr/>
        </p:nvSpPr>
        <p:spPr bwMode="auto">
          <a:xfrm>
            <a:off x="3504033" y="1957476"/>
            <a:ext cx="2124075"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A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endParaRPr kumimoji="1" lang="en-US" altLang="zh-CN" sz="1600" b="1" dirty="0">
              <a:solidFill>
                <a:schemeClr val="bg1"/>
              </a:solidFill>
              <a:latin typeface="微软雅黑" panose="020B0503020204020204" pitchFamily="34" charset="-122"/>
              <a:ea typeface="微软雅黑" panose="020B0503020204020204" pitchFamily="34" charset="-122"/>
            </a:endParaRPr>
          </a:p>
        </p:txBody>
      </p:sp>
      <p:sp>
        <p:nvSpPr>
          <p:cNvPr id="117" name="Rectangle 46"/>
          <p:cNvSpPr>
            <a:spLocks noChangeArrowheads="1"/>
          </p:cNvSpPr>
          <p:nvPr/>
        </p:nvSpPr>
        <p:spPr bwMode="auto">
          <a:xfrm>
            <a:off x="3216275" y="2962275"/>
            <a:ext cx="233363" cy="214313"/>
          </a:xfrm>
          <a:prstGeom prst="rect">
            <a:avLst/>
          </a:prstGeom>
          <a:solidFill>
            <a:srgbClr val="FF0000"/>
          </a:solidFill>
          <a:ln w="9525">
            <a:solidFill>
              <a:srgbClr val="FF0000"/>
            </a:solidFill>
            <a:miter lim="800000"/>
          </a:ln>
        </p:spPr>
        <p:txBody>
          <a:bodyPr wrap="none" anchor="ctr"/>
          <a:lstStyle/>
          <a:p>
            <a:endParaRPr lang="zh-CN" altLang="en-US" b="1">
              <a:solidFill>
                <a:srgbClr val="000099"/>
              </a:solidFill>
            </a:endParaRPr>
          </a:p>
        </p:txBody>
      </p:sp>
      <p:sp>
        <p:nvSpPr>
          <p:cNvPr id="104" name="Text Box 60"/>
          <p:cNvSpPr txBox="1">
            <a:spLocks noChangeArrowheads="1"/>
          </p:cNvSpPr>
          <p:nvPr/>
        </p:nvSpPr>
        <p:spPr bwMode="auto">
          <a:xfrm flipH="1">
            <a:off x="3849004" y="2380172"/>
            <a:ext cx="1776413"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C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8" name="Rectangle 46"/>
          <p:cNvSpPr>
            <a:spLocks noChangeArrowheads="1"/>
          </p:cNvSpPr>
          <p:nvPr/>
        </p:nvSpPr>
        <p:spPr bwMode="auto">
          <a:xfrm>
            <a:off x="4478338" y="3608388"/>
            <a:ext cx="233362" cy="215900"/>
          </a:xfrm>
          <a:prstGeom prst="rect">
            <a:avLst/>
          </a:prstGeom>
          <a:solidFill>
            <a:srgbClr val="FF0000"/>
          </a:solidFill>
          <a:ln w="9525">
            <a:solidFill>
              <a:srgbClr val="FF0000"/>
            </a:solidFill>
            <a:miter lim="800000"/>
          </a:ln>
        </p:spPr>
        <p:txBody>
          <a:bodyPr wrap="none" anchor="ctr"/>
          <a:lstStyle/>
          <a:p>
            <a:endParaRPr lang="zh-CN" altLang="en-US" b="1">
              <a:solidFill>
                <a:srgbClr val="000099"/>
              </a:solidFill>
            </a:endParaRPr>
          </a:p>
        </p:txBody>
      </p:sp>
      <p:sp>
        <p:nvSpPr>
          <p:cNvPr id="102" name="Text Box 62"/>
          <p:cNvSpPr txBox="1">
            <a:spLocks noChangeArrowheads="1"/>
          </p:cNvSpPr>
          <p:nvPr/>
        </p:nvSpPr>
        <p:spPr bwMode="auto">
          <a:xfrm>
            <a:off x="3378200" y="2331380"/>
            <a:ext cx="1797050"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E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9" name="Rectangle 46"/>
          <p:cNvSpPr>
            <a:spLocks noChangeArrowheads="1"/>
          </p:cNvSpPr>
          <p:nvPr/>
        </p:nvSpPr>
        <p:spPr bwMode="auto">
          <a:xfrm>
            <a:off x="5399088" y="2746375"/>
            <a:ext cx="234950" cy="215900"/>
          </a:xfrm>
          <a:prstGeom prst="rect">
            <a:avLst/>
          </a:prstGeom>
          <a:solidFill>
            <a:srgbClr val="FF0000"/>
          </a:solidFill>
          <a:ln w="9525">
            <a:solidFill>
              <a:srgbClr val="FF0000"/>
            </a:solidFill>
            <a:miter lim="800000"/>
          </a:ln>
        </p:spPr>
        <p:txBody>
          <a:bodyPr wrap="none" anchor="ctr"/>
          <a:lstStyle/>
          <a:p>
            <a:endParaRPr lang="zh-CN" altLang="en-US" b="1">
              <a:solidFill>
                <a:srgbClr val="000099"/>
              </a:solidFill>
            </a:endParaRPr>
          </a:p>
        </p:txBody>
      </p:sp>
      <p:sp>
        <p:nvSpPr>
          <p:cNvPr id="65" name="Text Box 45"/>
          <p:cNvSpPr txBox="1">
            <a:spLocks noChangeArrowheads="1"/>
          </p:cNvSpPr>
          <p:nvPr/>
        </p:nvSpPr>
        <p:spPr bwMode="auto">
          <a:xfrm>
            <a:off x="1501793" y="2279856"/>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sp>
        <p:nvSpPr>
          <p:cNvPr id="3" name="文本占位符 2"/>
          <p:cNvSpPr>
            <a:spLocks noGrp="1"/>
          </p:cNvSpPr>
          <p:nvPr>
            <p:ph type="body" sz="quarter" idx="10"/>
          </p:nvPr>
        </p:nvSpPr>
        <p:spPr/>
        <p:txBody>
          <a:bodyPr/>
          <a:lstStyle/>
          <a:p>
            <a:r>
              <a:rPr lang="zh-CN" altLang="en-US" dirty="0"/>
              <a:t>分组的</a:t>
            </a:r>
            <a:r>
              <a:rPr lang="zh-CN" altLang="en-US" dirty="0">
                <a:solidFill>
                  <a:srgbClr val="FFFF00"/>
                </a:solidFill>
              </a:rPr>
              <a:t>存储转发</a:t>
            </a:r>
            <a:r>
              <a:rPr lang="zh-CN" altLang="en-US" dirty="0"/>
              <a:t>过程</a:t>
            </a:r>
          </a:p>
        </p:txBody>
      </p:sp>
    </p:spTree>
    <p:extLst>
      <p:ext uri="{BB962C8B-B14F-4D97-AF65-F5344CB8AC3E}">
        <p14:creationId xmlns:p14="http://schemas.microsoft.com/office/powerpoint/2010/main" val="3757513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afterEffect">
                                  <p:stCondLst>
                                    <p:cond delay="2000"/>
                                  </p:stCondLst>
                                  <p:childTnLst>
                                    <p:animMotion origin="layout" path="M 0.00052 -0.00093 L 0.11962 0.00093 " pathEditMode="relative" rAng="0" ptsTypes="AA">
                                      <p:cBhvr>
                                        <p:cTn id="6" dur="2000" fill="hold"/>
                                        <p:tgtEl>
                                          <p:spTgt spid="97"/>
                                        </p:tgtEl>
                                        <p:attrNameLst>
                                          <p:attrName>ppt_x</p:attrName>
                                          <p:attrName>ppt_y</p:attrName>
                                        </p:attrNameLst>
                                      </p:cBhvr>
                                      <p:rCtr x="5955" y="93"/>
                                    </p:animMotion>
                                  </p:childTnLst>
                                </p:cTn>
                              </p:par>
                            </p:childTnLst>
                          </p:cTn>
                        </p:par>
                        <p:par>
                          <p:cTn id="7" fill="hold">
                            <p:stCondLst>
                              <p:cond delay="4000"/>
                            </p:stCondLst>
                            <p:childTnLst>
                              <p:par>
                                <p:cTn id="8" presetID="53" presetClass="entr" presetSubtype="16" fill="hold" grpId="0" nodeType="afterEffect">
                                  <p:stCondLst>
                                    <p:cond delay="500"/>
                                  </p:stCondLst>
                                  <p:childTnLst>
                                    <p:set>
                                      <p:cBhvr>
                                        <p:cTn id="9" dur="1" fill="hold">
                                          <p:stCondLst>
                                            <p:cond delay="0"/>
                                          </p:stCondLst>
                                        </p:cTn>
                                        <p:tgtEl>
                                          <p:spTgt spid="105"/>
                                        </p:tgtEl>
                                        <p:attrNameLst>
                                          <p:attrName>style.visibility</p:attrName>
                                        </p:attrNameLst>
                                      </p:cBhvr>
                                      <p:to>
                                        <p:strVal val="visible"/>
                                      </p:to>
                                    </p:set>
                                    <p:anim calcmode="lin" valueType="num">
                                      <p:cBhvr>
                                        <p:cTn id="10" dur="500" fill="hold"/>
                                        <p:tgtEl>
                                          <p:spTgt spid="105"/>
                                        </p:tgtEl>
                                        <p:attrNameLst>
                                          <p:attrName>ppt_w</p:attrName>
                                        </p:attrNameLst>
                                      </p:cBhvr>
                                      <p:tavLst>
                                        <p:tav tm="0">
                                          <p:val>
                                            <p:fltVal val="0"/>
                                          </p:val>
                                        </p:tav>
                                        <p:tav tm="100000">
                                          <p:val>
                                            <p:strVal val="#ppt_w"/>
                                          </p:val>
                                        </p:tav>
                                      </p:tavLst>
                                    </p:anim>
                                    <p:anim calcmode="lin" valueType="num">
                                      <p:cBhvr>
                                        <p:cTn id="11" dur="500" fill="hold"/>
                                        <p:tgtEl>
                                          <p:spTgt spid="105"/>
                                        </p:tgtEl>
                                        <p:attrNameLst>
                                          <p:attrName>ppt_h</p:attrName>
                                        </p:attrNameLst>
                                      </p:cBhvr>
                                      <p:tavLst>
                                        <p:tav tm="0">
                                          <p:val>
                                            <p:fltVal val="0"/>
                                          </p:val>
                                        </p:tav>
                                        <p:tav tm="100000">
                                          <p:val>
                                            <p:strVal val="#ppt_h"/>
                                          </p:val>
                                        </p:tav>
                                      </p:tavLst>
                                    </p:anim>
                                    <p:animEffect transition="in" filter="fade">
                                      <p:cBhvr>
                                        <p:cTn id="12" dur="500"/>
                                        <p:tgtEl>
                                          <p:spTgt spid="105"/>
                                        </p:tgtEl>
                                      </p:cBhvr>
                                    </p:animEffect>
                                  </p:childTnLst>
                                </p:cTn>
                              </p:par>
                            </p:childTnLst>
                          </p:cTn>
                        </p:par>
                        <p:par>
                          <p:cTn id="13" fill="hold">
                            <p:stCondLst>
                              <p:cond delay="5000"/>
                            </p:stCondLst>
                            <p:childTnLst>
                              <p:par>
                                <p:cTn id="14" presetID="1" presetClass="exit" presetSubtype="0" fill="hold" grpId="1" nodeType="afterEffect">
                                  <p:stCondLst>
                                    <p:cond delay="0"/>
                                  </p:stCondLst>
                                  <p:childTnLst>
                                    <p:set>
                                      <p:cBhvr>
                                        <p:cTn id="15" dur="1" fill="hold">
                                          <p:stCondLst>
                                            <p:cond delay="0"/>
                                          </p:stCondLst>
                                        </p:cTn>
                                        <p:tgtEl>
                                          <p:spTgt spid="97"/>
                                        </p:tgtEl>
                                        <p:attrNameLst>
                                          <p:attrName>style.visibility</p:attrName>
                                        </p:attrNameLst>
                                      </p:cBhvr>
                                      <p:to>
                                        <p:strVal val="hidden"/>
                                      </p:to>
                                    </p:set>
                                  </p:childTnLst>
                                </p:cTn>
                              </p:par>
                            </p:childTnLst>
                          </p:cTn>
                        </p:par>
                        <p:par>
                          <p:cTn id="16" fill="hold">
                            <p:stCondLst>
                              <p:cond delay="5000"/>
                            </p:stCondLst>
                            <p:childTnLst>
                              <p:par>
                                <p:cTn id="17" presetID="1" presetClass="entr" presetSubtype="0" fill="hold" grpId="1" nodeType="afterEffect">
                                  <p:stCondLst>
                                    <p:cond delay="400"/>
                                  </p:stCondLst>
                                  <p:childTnLst>
                                    <p:set>
                                      <p:cBhvr>
                                        <p:cTn id="18" dur="1" fill="hold">
                                          <p:stCondLst>
                                            <p:cond delay="0"/>
                                          </p:stCondLst>
                                        </p:cTn>
                                        <p:tgtEl>
                                          <p:spTgt spid="117"/>
                                        </p:tgtEl>
                                        <p:attrNameLst>
                                          <p:attrName>style.visibility</p:attrName>
                                        </p:attrNameLst>
                                      </p:cBhvr>
                                      <p:to>
                                        <p:strVal val="visible"/>
                                      </p:to>
                                    </p:set>
                                  </p:childTnLst>
                                </p:cTn>
                              </p:par>
                            </p:childTnLst>
                          </p:cTn>
                        </p:par>
                        <p:par>
                          <p:cTn id="19" fill="hold">
                            <p:stCondLst>
                              <p:cond delay="5400"/>
                            </p:stCondLst>
                            <p:childTnLst>
                              <p:par>
                                <p:cTn id="20" presetID="1" presetClass="exit" presetSubtype="0" fill="hold" grpId="1" nodeType="afterEffect">
                                  <p:stCondLst>
                                    <p:cond delay="3000"/>
                                  </p:stCondLst>
                                  <p:childTnLst>
                                    <p:set>
                                      <p:cBhvr>
                                        <p:cTn id="21" dur="1" fill="hold">
                                          <p:stCondLst>
                                            <p:cond delay="0"/>
                                          </p:stCondLst>
                                        </p:cTn>
                                        <p:tgtEl>
                                          <p:spTgt spid="105"/>
                                        </p:tgtEl>
                                        <p:attrNameLst>
                                          <p:attrName>style.visibility</p:attrName>
                                        </p:attrNameLst>
                                      </p:cBhvr>
                                      <p:to>
                                        <p:strVal val="hidden"/>
                                      </p:to>
                                    </p:set>
                                  </p:childTnLst>
                                </p:cTn>
                              </p:par>
                            </p:childTnLst>
                          </p:cTn>
                        </p:par>
                        <p:par>
                          <p:cTn id="22" fill="hold">
                            <p:stCondLst>
                              <p:cond delay="8400"/>
                            </p:stCondLst>
                            <p:childTnLst>
                              <p:par>
                                <p:cTn id="23" presetID="0" presetClass="path" presetSubtype="0" accel="50000" decel="50000" fill="hold" grpId="0" nodeType="afterEffect">
                                  <p:stCondLst>
                                    <p:cond delay="0"/>
                                  </p:stCondLst>
                                  <p:childTnLst>
                                    <p:animMotion origin="layout" path="M 0 0 L 0.13403 0.13136 " pathEditMode="relative" ptsTypes="AA">
                                      <p:cBhvr>
                                        <p:cTn id="24" dur="2000" fill="hold"/>
                                        <p:tgtEl>
                                          <p:spTgt spid="117"/>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grpId="2" nodeType="afterEffect">
                                  <p:stCondLst>
                                    <p:cond delay="3000"/>
                                  </p:stCondLst>
                                  <p:childTnLst>
                                    <p:set>
                                      <p:cBhvr>
                                        <p:cTn id="31" dur="1" fill="hold">
                                          <p:stCondLst>
                                            <p:cond delay="0"/>
                                          </p:stCondLst>
                                        </p:cTn>
                                        <p:tgtEl>
                                          <p:spTgt spid="104"/>
                                        </p:tgtEl>
                                        <p:attrNameLst>
                                          <p:attrName>style.visibility</p:attrName>
                                        </p:attrNameLst>
                                      </p:cBhvr>
                                      <p:to>
                                        <p:strVal val="hidden"/>
                                      </p:to>
                                    </p:set>
                                  </p:childTnLst>
                                </p:cTn>
                              </p:par>
                            </p:childTnLst>
                          </p:cTn>
                        </p:par>
                        <p:par>
                          <p:cTn id="32" fill="hold">
                            <p:stCondLst>
                              <p:cond delay="3000"/>
                            </p:stCondLst>
                            <p:childTnLst>
                              <p:par>
                                <p:cTn id="33" presetID="1" presetClass="exit" presetSubtype="0" fill="hold" grpId="2" nodeType="afterEffect">
                                  <p:stCondLst>
                                    <p:cond delay="0"/>
                                  </p:stCondLst>
                                  <p:childTnLst>
                                    <p:set>
                                      <p:cBhvr>
                                        <p:cTn id="34" dur="1" fill="hold">
                                          <p:stCondLst>
                                            <p:cond delay="0"/>
                                          </p:stCondLst>
                                        </p:cTn>
                                        <p:tgtEl>
                                          <p:spTgt spid="117"/>
                                        </p:tgtEl>
                                        <p:attrNameLst>
                                          <p:attrName>style.visibility</p:attrName>
                                        </p:attrNameLst>
                                      </p:cBhvr>
                                      <p:to>
                                        <p:strVal val="hidden"/>
                                      </p:to>
                                    </p:set>
                                  </p:childTnLst>
                                </p:cTn>
                              </p:par>
                            </p:childTnLst>
                          </p:cTn>
                        </p:par>
                        <p:par>
                          <p:cTn id="35" fill="hold">
                            <p:stCondLst>
                              <p:cond delay="3000"/>
                            </p:stCondLst>
                            <p:childTnLst>
                              <p:par>
                                <p:cTn id="36" presetID="1" presetClass="entr" presetSubtype="0" fill="hold" grpId="0" nodeType="afterEffect">
                                  <p:stCondLst>
                                    <p:cond delay="0"/>
                                  </p:stCondLst>
                                  <p:childTnLst>
                                    <p:set>
                                      <p:cBhvr>
                                        <p:cTn id="37" dur="1" fill="hold">
                                          <p:stCondLst>
                                            <p:cond delay="0"/>
                                          </p:stCondLst>
                                        </p:cTn>
                                        <p:tgtEl>
                                          <p:spTgt spid="118"/>
                                        </p:tgtEl>
                                        <p:attrNameLst>
                                          <p:attrName>style.visibility</p:attrName>
                                        </p:attrNameLst>
                                      </p:cBhvr>
                                      <p:to>
                                        <p:strVal val="visible"/>
                                      </p:to>
                                    </p:set>
                                  </p:childTnLst>
                                </p:cTn>
                              </p:par>
                            </p:childTnLst>
                          </p:cTn>
                        </p:par>
                        <p:par>
                          <p:cTn id="38" fill="hold">
                            <p:stCondLst>
                              <p:cond delay="3000"/>
                            </p:stCondLst>
                            <p:childTnLst>
                              <p:par>
                                <p:cTn id="39" presetID="0" presetClass="path" presetSubtype="0" accel="50000" decel="50000" fill="hold" grpId="1" nodeType="afterEffect">
                                  <p:stCondLst>
                                    <p:cond delay="0"/>
                                  </p:stCondLst>
                                  <p:childTnLst>
                                    <p:animMotion origin="layout" path="M -0.00399 0.00555 L 0.1 -0.17145 " pathEditMode="relative" rAng="0" ptsTypes="AA">
                                      <p:cBhvr>
                                        <p:cTn id="40" dur="2000" fill="hold"/>
                                        <p:tgtEl>
                                          <p:spTgt spid="118"/>
                                        </p:tgtEl>
                                        <p:attrNameLst>
                                          <p:attrName>ppt_x</p:attrName>
                                          <p:attrName>ppt_y</p:attrName>
                                        </p:attrNameLst>
                                      </p:cBhvr>
                                      <p:rCtr x="5191" y="-8850"/>
                                    </p:animMotion>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02"/>
                                        </p:tgtEl>
                                        <p:attrNameLst>
                                          <p:attrName>style.visibility</p:attrName>
                                        </p:attrNameLst>
                                      </p:cBhvr>
                                      <p:to>
                                        <p:strVal val="visible"/>
                                      </p:to>
                                    </p:set>
                                  </p:childTnLst>
                                </p:cTn>
                              </p:par>
                            </p:childTnLst>
                          </p:cTn>
                        </p:par>
                        <p:par>
                          <p:cTn id="45" fill="hold">
                            <p:stCondLst>
                              <p:cond delay="0"/>
                            </p:stCondLst>
                            <p:childTnLst>
                              <p:par>
                                <p:cTn id="46" presetID="53" presetClass="entr" presetSubtype="16" fill="hold" grpId="1" nodeType="afterEffect">
                                  <p:stCondLst>
                                    <p:cond delay="0"/>
                                  </p:stCondLst>
                                  <p:childTnLst>
                                    <p:set>
                                      <p:cBhvr>
                                        <p:cTn id="47" dur="1" fill="hold">
                                          <p:stCondLst>
                                            <p:cond delay="0"/>
                                          </p:stCondLst>
                                        </p:cTn>
                                        <p:tgtEl>
                                          <p:spTgt spid="102"/>
                                        </p:tgtEl>
                                        <p:attrNameLst>
                                          <p:attrName>style.visibility</p:attrName>
                                        </p:attrNameLst>
                                      </p:cBhvr>
                                      <p:to>
                                        <p:strVal val="visible"/>
                                      </p:to>
                                    </p:set>
                                    <p:anim calcmode="lin" valueType="num">
                                      <p:cBhvr>
                                        <p:cTn id="48" dur="500" fill="hold"/>
                                        <p:tgtEl>
                                          <p:spTgt spid="102"/>
                                        </p:tgtEl>
                                        <p:attrNameLst>
                                          <p:attrName>ppt_w</p:attrName>
                                        </p:attrNameLst>
                                      </p:cBhvr>
                                      <p:tavLst>
                                        <p:tav tm="0">
                                          <p:val>
                                            <p:fltVal val="0"/>
                                          </p:val>
                                        </p:tav>
                                        <p:tav tm="100000">
                                          <p:val>
                                            <p:strVal val="#ppt_w"/>
                                          </p:val>
                                        </p:tav>
                                      </p:tavLst>
                                    </p:anim>
                                    <p:anim calcmode="lin" valueType="num">
                                      <p:cBhvr>
                                        <p:cTn id="49" dur="500" fill="hold"/>
                                        <p:tgtEl>
                                          <p:spTgt spid="102"/>
                                        </p:tgtEl>
                                        <p:attrNameLst>
                                          <p:attrName>ppt_h</p:attrName>
                                        </p:attrNameLst>
                                      </p:cBhvr>
                                      <p:tavLst>
                                        <p:tav tm="0">
                                          <p:val>
                                            <p:fltVal val="0"/>
                                          </p:val>
                                        </p:tav>
                                        <p:tav tm="100000">
                                          <p:val>
                                            <p:strVal val="#ppt_h"/>
                                          </p:val>
                                        </p:tav>
                                      </p:tavLst>
                                    </p:anim>
                                    <p:animEffect transition="in" filter="fade">
                                      <p:cBhvr>
                                        <p:cTn id="50" dur="500"/>
                                        <p:tgtEl>
                                          <p:spTgt spid="102"/>
                                        </p:tgtEl>
                                      </p:cBhvr>
                                    </p:animEffect>
                                  </p:childTnLst>
                                </p:cTn>
                              </p:par>
                            </p:childTnLst>
                          </p:cTn>
                        </p:par>
                        <p:par>
                          <p:cTn id="51" fill="hold">
                            <p:stCondLst>
                              <p:cond delay="500"/>
                            </p:stCondLst>
                            <p:childTnLst>
                              <p:par>
                                <p:cTn id="52" presetID="1" presetClass="exit" presetSubtype="0" fill="hold" grpId="2" nodeType="afterEffect">
                                  <p:stCondLst>
                                    <p:cond delay="3000"/>
                                  </p:stCondLst>
                                  <p:childTnLst>
                                    <p:set>
                                      <p:cBhvr>
                                        <p:cTn id="53" dur="1" fill="hold">
                                          <p:stCondLst>
                                            <p:cond delay="0"/>
                                          </p:stCondLst>
                                        </p:cTn>
                                        <p:tgtEl>
                                          <p:spTgt spid="118"/>
                                        </p:tgtEl>
                                        <p:attrNameLst>
                                          <p:attrName>style.visibility</p:attrName>
                                        </p:attrNameLst>
                                      </p:cBhvr>
                                      <p:to>
                                        <p:strVal val="hidden"/>
                                      </p:to>
                                    </p:set>
                                  </p:childTnLst>
                                </p:cTn>
                              </p:par>
                            </p:childTnLst>
                          </p:cTn>
                        </p:par>
                        <p:par>
                          <p:cTn id="54" fill="hold">
                            <p:stCondLst>
                              <p:cond delay="3500"/>
                            </p:stCondLst>
                            <p:childTnLst>
                              <p:par>
                                <p:cTn id="55" presetID="1" presetClass="exit" presetSubtype="0" fill="hold" grpId="2" nodeType="afterEffect">
                                  <p:stCondLst>
                                    <p:cond delay="0"/>
                                  </p:stCondLst>
                                  <p:childTnLst>
                                    <p:set>
                                      <p:cBhvr>
                                        <p:cTn id="56" dur="1" fill="hold">
                                          <p:stCondLst>
                                            <p:cond delay="0"/>
                                          </p:stCondLst>
                                        </p:cTn>
                                        <p:tgtEl>
                                          <p:spTgt spid="102"/>
                                        </p:tgtEl>
                                        <p:attrNameLst>
                                          <p:attrName>style.visibility</p:attrName>
                                        </p:attrNameLst>
                                      </p:cBhvr>
                                      <p:to>
                                        <p:strVal val="hidden"/>
                                      </p:to>
                                    </p:set>
                                  </p:childTnLst>
                                </p:cTn>
                              </p:par>
                            </p:childTnLst>
                          </p:cTn>
                        </p:par>
                        <p:par>
                          <p:cTn id="57" fill="hold">
                            <p:stCondLst>
                              <p:cond delay="3500"/>
                            </p:stCondLst>
                            <p:childTnLst>
                              <p:par>
                                <p:cTn id="58" presetID="1" presetClass="entr" presetSubtype="0" fill="hold" grpId="0" nodeType="afterEffect">
                                  <p:stCondLst>
                                    <p:cond delay="0"/>
                                  </p:stCondLst>
                                  <p:childTnLst>
                                    <p:set>
                                      <p:cBhvr>
                                        <p:cTn id="59" dur="1" fill="hold">
                                          <p:stCondLst>
                                            <p:cond delay="0"/>
                                          </p:stCondLst>
                                        </p:cTn>
                                        <p:tgtEl>
                                          <p:spTgt spid="119"/>
                                        </p:tgtEl>
                                        <p:attrNameLst>
                                          <p:attrName>style.visibility</p:attrName>
                                        </p:attrNameLst>
                                      </p:cBhvr>
                                      <p:to>
                                        <p:strVal val="visible"/>
                                      </p:to>
                                    </p:set>
                                  </p:childTnLst>
                                </p:cTn>
                              </p:par>
                            </p:childTnLst>
                          </p:cTn>
                        </p:par>
                        <p:par>
                          <p:cTn id="60" fill="hold">
                            <p:stCondLst>
                              <p:cond delay="3500"/>
                            </p:stCondLst>
                            <p:childTnLst>
                              <p:par>
                                <p:cTn id="61" presetID="0" presetClass="path" presetSubtype="0" accel="50000" decel="50000" fill="hold" grpId="1" nodeType="afterEffect">
                                  <p:stCondLst>
                                    <p:cond delay="0"/>
                                  </p:stCondLst>
                                  <p:childTnLst>
                                    <p:animMotion origin="layout" path="M -0.00087 -0.00402 L 0.0651 0.14907 " pathEditMode="relative" ptsTypes="AA">
                                      <p:cBhvr>
                                        <p:cTn id="62" dur="2000" fill="hold"/>
                                        <p:tgtEl>
                                          <p:spTgt spid="119"/>
                                        </p:tgtEl>
                                        <p:attrNameLst>
                                          <p:attrName>ppt_x</p:attrName>
                                          <p:attrName>ppt_y</p:attrName>
                                        </p:attrNameLst>
                                      </p:cBhvr>
                                    </p:animMotion>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03"/>
                                        </p:tgtEl>
                                        <p:attrNameLst>
                                          <p:attrName>style.visibility</p:attrName>
                                        </p:attrNameLst>
                                      </p:cBhvr>
                                      <p:to>
                                        <p:strVal val="visible"/>
                                      </p:to>
                                    </p:set>
                                  </p:childTnLst>
                                </p:cTn>
                              </p:par>
                            </p:childTnLst>
                          </p:cTn>
                        </p:par>
                        <p:par>
                          <p:cTn id="66" fill="hold">
                            <p:stCondLst>
                              <p:cond delay="5500"/>
                            </p:stCondLst>
                            <p:childTnLst>
                              <p:par>
                                <p:cTn id="67" presetID="53" presetClass="entr" presetSubtype="16" fill="hold" grpId="1" nodeType="afterEffect">
                                  <p:stCondLst>
                                    <p:cond delay="0"/>
                                  </p:stCondLst>
                                  <p:childTnLst>
                                    <p:set>
                                      <p:cBhvr>
                                        <p:cTn id="68" dur="1" fill="hold">
                                          <p:stCondLst>
                                            <p:cond delay="0"/>
                                          </p:stCondLst>
                                        </p:cTn>
                                        <p:tgtEl>
                                          <p:spTgt spid="103"/>
                                        </p:tgtEl>
                                        <p:attrNameLst>
                                          <p:attrName>style.visibility</p:attrName>
                                        </p:attrNameLst>
                                      </p:cBhvr>
                                      <p:to>
                                        <p:strVal val="visible"/>
                                      </p:to>
                                    </p:set>
                                    <p:anim calcmode="lin" valueType="num">
                                      <p:cBhvr>
                                        <p:cTn id="69" dur="500" fill="hold"/>
                                        <p:tgtEl>
                                          <p:spTgt spid="103"/>
                                        </p:tgtEl>
                                        <p:attrNameLst>
                                          <p:attrName>ppt_w</p:attrName>
                                        </p:attrNameLst>
                                      </p:cBhvr>
                                      <p:tavLst>
                                        <p:tav tm="0">
                                          <p:val>
                                            <p:fltVal val="0"/>
                                          </p:val>
                                        </p:tav>
                                        <p:tav tm="100000">
                                          <p:val>
                                            <p:strVal val="#ppt_w"/>
                                          </p:val>
                                        </p:tav>
                                      </p:tavLst>
                                    </p:anim>
                                    <p:anim calcmode="lin" valueType="num">
                                      <p:cBhvr>
                                        <p:cTn id="70" dur="500" fill="hold"/>
                                        <p:tgtEl>
                                          <p:spTgt spid="103"/>
                                        </p:tgtEl>
                                        <p:attrNameLst>
                                          <p:attrName>ppt_h</p:attrName>
                                        </p:attrNameLst>
                                      </p:cBhvr>
                                      <p:tavLst>
                                        <p:tav tm="0">
                                          <p:val>
                                            <p:fltVal val="0"/>
                                          </p:val>
                                        </p:tav>
                                        <p:tav tm="100000">
                                          <p:val>
                                            <p:strVal val="#ppt_h"/>
                                          </p:val>
                                        </p:tav>
                                      </p:tavLst>
                                    </p:anim>
                                    <p:animEffect transition="in" filter="fade">
                                      <p:cBhvr>
                                        <p:cTn id="71"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3" grpId="1" animBg="1"/>
      <p:bldP spid="97" grpId="0" animBg="1"/>
      <p:bldP spid="97" grpId="1" animBg="1"/>
      <p:bldP spid="105" grpId="0" animBg="1"/>
      <p:bldP spid="105" grpId="1" animBg="1"/>
      <p:bldP spid="117" grpId="0" animBg="1"/>
      <p:bldP spid="117" grpId="1" animBg="1"/>
      <p:bldP spid="117" grpId="2" animBg="1"/>
      <p:bldP spid="104" grpId="0" animBg="1"/>
      <p:bldP spid="104" grpId="2" animBg="1"/>
      <p:bldP spid="118" grpId="0" animBg="1"/>
      <p:bldP spid="118" grpId="1" animBg="1"/>
      <p:bldP spid="118" grpId="2" animBg="1"/>
      <p:bldP spid="102" grpId="0" animBg="1"/>
      <p:bldP spid="102" grpId="1" animBg="1"/>
      <p:bldP spid="102" grpId="2" animBg="1"/>
      <p:bldP spid="119" grpId="0" animBg="1"/>
      <p:bldP spid="119"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p:cNvGraphicFramePr/>
          <p:nvPr>
            <p:extLst>
              <p:ext uri="{D42A27DB-BD31-4B8C-83A1-F6EECF244321}">
                <p14:modId xmlns:p14="http://schemas.microsoft.com/office/powerpoint/2010/main" val="327712808"/>
              </p:ext>
            </p:extLst>
          </p:nvPr>
        </p:nvGraphicFramePr>
        <p:xfrm>
          <a:off x="505865" y="1082269"/>
          <a:ext cx="8133857" cy="2760664"/>
        </p:xfrm>
        <a:graphic>
          <a:graphicData uri="http://schemas.openxmlformats.org/drawingml/2006/table">
            <a:tbl>
              <a:tblPr firstRow="1" firstCol="1" bandRow="1" bandCol="1">
                <a:tableStyleId>{93296810-A885-4BE3-A3E7-6D5BEEA58F35}</a:tableStyleId>
              </a:tblPr>
              <a:tblGrid>
                <a:gridCol w="1017418">
                  <a:extLst>
                    <a:ext uri="{9D8B030D-6E8A-4147-A177-3AD203B41FA5}">
                      <a16:colId xmlns:a16="http://schemas.microsoft.com/office/drawing/2014/main" val="20000"/>
                    </a:ext>
                  </a:extLst>
                </a:gridCol>
                <a:gridCol w="7116439">
                  <a:extLst>
                    <a:ext uri="{9D8B030D-6E8A-4147-A177-3AD203B41FA5}">
                      <a16:colId xmlns:a16="http://schemas.microsoft.com/office/drawing/2014/main" val="20001"/>
                    </a:ext>
                  </a:extLst>
                </a:gridCol>
              </a:tblGrid>
              <a:tr h="472834">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优点</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107997" marR="107997" marT="72025" marB="720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CCFF"/>
                    </a:solidFill>
                  </a:tcPr>
                </a:tc>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所采用的手段</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CCFF"/>
                    </a:solidFill>
                  </a:tcPr>
                </a:tc>
                <a:extLst>
                  <a:ext uri="{0D108BD9-81ED-4DB2-BD59-A6C34878D82A}">
                    <a16:rowId xmlns:a16="http://schemas.microsoft.com/office/drawing/2014/main" val="10000"/>
                  </a:ext>
                </a:extLst>
              </a:tr>
              <a:tr h="467024">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高效</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在分组传输的过程中</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rPr>
                        <a:t>动态分配</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传输带宽，对通信链路是</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cs typeface="+mn-cs"/>
                        </a:rPr>
                        <a:t>逐段</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占用</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35881">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灵活</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为每一个分组</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cs typeface="+mn-cs"/>
                        </a:rPr>
                        <a:t>独立</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地选择最合适的转发路由</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59519">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迅速</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以分组作为传送单位，可以</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cs typeface="+mn-cs"/>
                        </a:rPr>
                        <a:t>不先建立连接</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就能向其他主机发送分组</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825406">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可靠</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保证可靠性的网络协议；分布式多路由的分组交换网，使网络有很好的生存性</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3" name="文本占位符 2"/>
          <p:cNvSpPr>
            <a:spLocks noGrp="1"/>
          </p:cNvSpPr>
          <p:nvPr>
            <p:ph type="body" sz="quarter" idx="10"/>
          </p:nvPr>
        </p:nvSpPr>
        <p:spPr/>
        <p:txBody>
          <a:bodyPr/>
          <a:lstStyle/>
          <a:p>
            <a:r>
              <a:rPr lang="zh-CN" altLang="en-US" dirty="0"/>
              <a:t>分组交换的优点</a:t>
            </a:r>
          </a:p>
        </p:txBody>
      </p:sp>
    </p:spTree>
    <p:extLst>
      <p:ext uri="{BB962C8B-B14F-4D97-AF65-F5344CB8AC3E}">
        <p14:creationId xmlns:p14="http://schemas.microsoft.com/office/powerpoint/2010/main" val="111611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zh-CN" altLang="en-US" dirty="0">
                <a:solidFill>
                  <a:srgbClr val="C00000"/>
                </a:solidFill>
              </a:rPr>
              <a:t>排队延迟：</a:t>
            </a:r>
            <a:r>
              <a:rPr lang="zh-CN" altLang="en-US" dirty="0"/>
              <a:t>分组在各路由器存储转发时需要排队。</a:t>
            </a:r>
            <a:endParaRPr lang="en-US" altLang="zh-CN" dirty="0"/>
          </a:p>
          <a:p>
            <a:r>
              <a:rPr lang="zh-CN" altLang="en-US" dirty="0">
                <a:solidFill>
                  <a:srgbClr val="C00000"/>
                </a:solidFill>
              </a:rPr>
              <a:t>不保证带宽：</a:t>
            </a:r>
            <a:r>
              <a:rPr lang="zh-CN" altLang="zh-CN" dirty="0"/>
              <a:t>动态分配</a:t>
            </a:r>
            <a:r>
              <a:rPr lang="zh-CN" altLang="en-US" dirty="0"/>
              <a:t>。</a:t>
            </a:r>
            <a:endParaRPr lang="en-US" altLang="zh-CN" dirty="0"/>
          </a:p>
          <a:p>
            <a:r>
              <a:rPr lang="zh-CN" altLang="en-US" dirty="0">
                <a:solidFill>
                  <a:srgbClr val="C00000"/>
                </a:solidFill>
              </a:rPr>
              <a:t>增加开销：</a:t>
            </a:r>
            <a:r>
              <a:rPr lang="zh-CN" altLang="en-US" dirty="0"/>
              <a:t>各分组必须携带控制信息；路由器要暂存分组，维护转发表等。</a:t>
            </a:r>
          </a:p>
        </p:txBody>
      </p:sp>
      <p:sp>
        <p:nvSpPr>
          <p:cNvPr id="3" name="文本占位符 2"/>
          <p:cNvSpPr>
            <a:spLocks noGrp="1"/>
          </p:cNvSpPr>
          <p:nvPr>
            <p:ph type="body" sz="quarter" idx="11"/>
          </p:nvPr>
        </p:nvSpPr>
        <p:spPr/>
        <p:txBody>
          <a:bodyPr/>
          <a:lstStyle/>
          <a:p>
            <a:r>
              <a:rPr lang="zh-CN" altLang="en-US" dirty="0"/>
              <a:t>分组交换带来的问题</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zh-CN" altLang="en-US" dirty="0"/>
              <a:t>在 </a:t>
            </a:r>
            <a:r>
              <a:rPr lang="en-US" altLang="zh-CN" dirty="0"/>
              <a:t>20 </a:t>
            </a:r>
            <a:r>
              <a:rPr lang="zh-CN" altLang="en-US" dirty="0"/>
              <a:t>世纪 </a:t>
            </a:r>
            <a:r>
              <a:rPr lang="en-US" altLang="zh-CN" dirty="0"/>
              <a:t>40 </a:t>
            </a:r>
            <a:r>
              <a:rPr lang="zh-CN" altLang="en-US" dirty="0"/>
              <a:t>年代，电报通信就采用了基于存储转发原理的</a:t>
            </a:r>
            <a:r>
              <a:rPr lang="zh-CN" altLang="en-US" dirty="0">
                <a:solidFill>
                  <a:srgbClr val="C00000"/>
                </a:solidFill>
              </a:rPr>
              <a:t>报文交换</a:t>
            </a:r>
            <a:r>
              <a:rPr lang="zh-CN" altLang="en-US" dirty="0"/>
              <a:t> </a:t>
            </a:r>
            <a:r>
              <a:rPr lang="en-US" altLang="zh-CN" dirty="0"/>
              <a:t>(message switching)</a:t>
            </a:r>
            <a:r>
              <a:rPr lang="zh-CN" altLang="en-US" dirty="0"/>
              <a:t>。 </a:t>
            </a:r>
          </a:p>
          <a:p>
            <a:r>
              <a:rPr lang="zh-CN" altLang="en-US" dirty="0"/>
              <a:t>但报文交换的时延较长，从几分钟到几小时不等。</a:t>
            </a:r>
            <a:endParaRPr lang="en-US" altLang="zh-CN" dirty="0"/>
          </a:p>
          <a:p>
            <a:r>
              <a:rPr lang="zh-CN" altLang="en-US" dirty="0"/>
              <a:t>现在报文交换已经很少有人使用了。 </a:t>
            </a:r>
          </a:p>
          <a:p>
            <a:endParaRPr lang="zh-CN" altLang="en-US" dirty="0"/>
          </a:p>
        </p:txBody>
      </p:sp>
      <p:sp>
        <p:nvSpPr>
          <p:cNvPr id="3" name="文本占位符 2"/>
          <p:cNvSpPr>
            <a:spLocks noGrp="1"/>
          </p:cNvSpPr>
          <p:nvPr>
            <p:ph type="body" sz="quarter" idx="11"/>
          </p:nvPr>
        </p:nvSpPr>
        <p:spPr/>
        <p:txBody>
          <a:bodyPr/>
          <a:lstStyle/>
          <a:p>
            <a:r>
              <a:rPr lang="zh-CN" altLang="en-US" dirty="0"/>
              <a:t>报文交换</a:t>
            </a:r>
          </a:p>
        </p:txBody>
      </p:sp>
    </p:spTree>
    <p:extLst>
      <p:ext uri="{BB962C8B-B14F-4D97-AF65-F5344CB8AC3E}">
        <p14:creationId xmlns:p14="http://schemas.microsoft.com/office/powerpoint/2010/main" val="2017669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123405" y="1000176"/>
            <a:ext cx="6923315" cy="3448594"/>
          </a:xfrm>
          <a:prstGeom prst="roundRect">
            <a:avLst>
              <a:gd name="adj" fmla="val 1297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214" name="组合 213"/>
          <p:cNvGrpSpPr/>
          <p:nvPr/>
        </p:nvGrpSpPr>
        <p:grpSpPr bwMode="auto">
          <a:xfrm>
            <a:off x="6087561" y="1690421"/>
            <a:ext cx="960437" cy="327025"/>
            <a:chOff x="5671771" y="1787171"/>
            <a:chExt cx="960767" cy="327823"/>
          </a:xfrm>
        </p:grpSpPr>
        <p:grpSp>
          <p:nvGrpSpPr>
            <p:cNvPr id="84112" name="组合 145"/>
            <p:cNvGrpSpPr/>
            <p:nvPr/>
          </p:nvGrpSpPr>
          <p:grpSpPr bwMode="auto">
            <a:xfrm>
              <a:off x="5671771" y="1787171"/>
              <a:ext cx="960767" cy="327823"/>
              <a:chOff x="6127637" y="2338510"/>
              <a:chExt cx="1464113" cy="499569"/>
            </a:xfrm>
          </p:grpSpPr>
          <p:sp>
            <p:nvSpPr>
              <p:cNvPr id="84114" name="AutoShape 54"/>
              <p:cNvSpPr>
                <a:spLocks noChangeArrowheads="1"/>
              </p:cNvSpPr>
              <p:nvPr/>
            </p:nvSpPr>
            <p:spPr bwMode="auto">
              <a:xfrm rot="5400000">
                <a:off x="6347066" y="2302899"/>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15" name="Line 56"/>
              <p:cNvSpPr>
                <a:spLocks noChangeShapeType="1"/>
              </p:cNvSpPr>
              <p:nvPr/>
            </p:nvSpPr>
            <p:spPr bwMode="auto">
              <a:xfrm>
                <a:off x="6240474" y="2402266"/>
                <a:ext cx="454598"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16" name="Line 57"/>
              <p:cNvSpPr>
                <a:spLocks noChangeShapeType="1"/>
              </p:cNvSpPr>
              <p:nvPr/>
            </p:nvSpPr>
            <p:spPr bwMode="auto">
              <a:xfrm>
                <a:off x="6236717" y="2576824"/>
                <a:ext cx="453346"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4117" name="Group 136"/>
              <p:cNvGrpSpPr/>
              <p:nvPr/>
            </p:nvGrpSpPr>
            <p:grpSpPr bwMode="auto">
              <a:xfrm>
                <a:off x="6685061" y="2478552"/>
                <a:ext cx="458356" cy="248542"/>
                <a:chOff x="4652" y="2004"/>
                <a:chExt cx="366" cy="215"/>
              </a:xfrm>
            </p:grpSpPr>
            <p:sp>
              <p:nvSpPr>
                <p:cNvPr id="84126" name="AutoShape 14"/>
                <p:cNvSpPr>
                  <a:spLocks noChangeArrowheads="1"/>
                </p:cNvSpPr>
                <p:nvPr/>
              </p:nvSpPr>
              <p:spPr bwMode="auto">
                <a:xfrm rot="5400000">
                  <a:off x="4732" y="1934"/>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7" name="Line 16"/>
                <p:cNvSpPr>
                  <a:spLocks noChangeShapeType="1"/>
                </p:cNvSpPr>
                <p:nvPr/>
              </p:nvSpPr>
              <p:spPr bwMode="auto">
                <a:xfrm>
                  <a:off x="4656" y="2004"/>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28" name="Line 17"/>
                <p:cNvSpPr>
                  <a:spLocks noChangeShapeType="1"/>
                </p:cNvSpPr>
                <p:nvPr/>
              </p:nvSpPr>
              <p:spPr bwMode="auto">
                <a:xfrm>
                  <a:off x="4652" y="2155"/>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29" name="AutoShape 18"/>
                <p:cNvSpPr>
                  <a:spLocks noChangeArrowheads="1"/>
                </p:cNvSpPr>
                <p:nvPr/>
              </p:nvSpPr>
              <p:spPr bwMode="auto">
                <a:xfrm rot="746037">
                  <a:off x="4846" y="2069"/>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118" name="Group 140"/>
              <p:cNvGrpSpPr/>
              <p:nvPr/>
            </p:nvGrpSpPr>
            <p:grpSpPr bwMode="auto">
              <a:xfrm>
                <a:off x="7008161" y="2486651"/>
                <a:ext cx="583589" cy="351428"/>
                <a:chOff x="4910" y="2011"/>
                <a:chExt cx="466" cy="304"/>
              </a:xfrm>
            </p:grpSpPr>
            <p:sp>
              <p:nvSpPr>
                <p:cNvPr id="84121" name="AutoShape 29"/>
                <p:cNvSpPr>
                  <a:spLocks noChangeArrowheads="1"/>
                </p:cNvSpPr>
                <p:nvPr/>
              </p:nvSpPr>
              <p:spPr bwMode="auto">
                <a:xfrm rot="5400000">
                  <a:off x="5091" y="2000"/>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2" name="Text Box 30"/>
                <p:cNvSpPr txBox="1">
                  <a:spLocks noChangeArrowheads="1"/>
                </p:cNvSpPr>
                <p:nvPr/>
              </p:nvSpPr>
              <p:spPr bwMode="auto">
                <a:xfrm rot="626605">
                  <a:off x="4910" y="2011"/>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123" name="Line 31"/>
                <p:cNvSpPr>
                  <a:spLocks noChangeShapeType="1"/>
                </p:cNvSpPr>
                <p:nvPr/>
              </p:nvSpPr>
              <p:spPr bwMode="auto">
                <a:xfrm>
                  <a:off x="5014" y="2071"/>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24" name="Line 32"/>
                <p:cNvSpPr>
                  <a:spLocks noChangeShapeType="1"/>
                </p:cNvSpPr>
                <p:nvPr/>
              </p:nvSpPr>
              <p:spPr bwMode="auto">
                <a:xfrm>
                  <a:off x="5010" y="222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25" name="AutoShape 33"/>
                <p:cNvSpPr>
                  <a:spLocks noChangeArrowheads="1"/>
                </p:cNvSpPr>
                <p:nvPr/>
              </p:nvSpPr>
              <p:spPr bwMode="auto">
                <a:xfrm rot="746037">
                  <a:off x="5204" y="2136"/>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9" name="Text Box 55"/>
              <p:cNvSpPr txBox="1">
                <a:spLocks noChangeArrowheads="1"/>
              </p:cNvSpPr>
              <p:nvPr/>
            </p:nvSpPr>
            <p:spPr bwMode="auto">
              <a:xfrm rot="626605">
                <a:off x="6127637" y="233851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20" name="AutoShape 58"/>
              <p:cNvSpPr>
                <a:spLocks noChangeArrowheads="1"/>
              </p:cNvSpPr>
              <p:nvPr/>
            </p:nvSpPr>
            <p:spPr bwMode="auto">
              <a:xfrm rot="746037">
                <a:off x="6493475" y="247740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3" name="Text Box 15"/>
            <p:cNvSpPr txBox="1">
              <a:spLocks noChangeArrowheads="1"/>
            </p:cNvSpPr>
            <p:nvPr/>
          </p:nvSpPr>
          <p:spPr bwMode="auto">
            <a:xfrm rot="626605">
              <a:off x="5968441" y="1836475"/>
              <a:ext cx="330540" cy="23083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164" name="组合 163"/>
          <p:cNvGrpSpPr/>
          <p:nvPr/>
        </p:nvGrpSpPr>
        <p:grpSpPr bwMode="auto">
          <a:xfrm>
            <a:off x="6395536" y="1784084"/>
            <a:ext cx="660400" cy="458787"/>
            <a:chOff x="6589886" y="2482016"/>
            <a:chExt cx="1006880" cy="698229"/>
          </a:xfrm>
        </p:grpSpPr>
        <p:sp>
          <p:nvSpPr>
            <p:cNvPr id="84097" name="AutoShape 54"/>
            <p:cNvSpPr>
              <a:spLocks noChangeArrowheads="1"/>
            </p:cNvSpPr>
            <p:nvPr/>
          </p:nvSpPr>
          <p:spPr bwMode="auto">
            <a:xfrm rot="5400000">
              <a:off x="6779122" y="2560691"/>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98" name="Group 141"/>
            <p:cNvGrpSpPr/>
            <p:nvPr/>
          </p:nvGrpSpPr>
          <p:grpSpPr bwMode="auto">
            <a:xfrm>
              <a:off x="7138410" y="2759463"/>
              <a:ext cx="458356" cy="247386"/>
              <a:chOff x="5014" y="2247"/>
              <a:chExt cx="366" cy="214"/>
            </a:xfrm>
          </p:grpSpPr>
          <p:sp>
            <p:nvSpPr>
              <p:cNvPr id="84108" name="AutoShape 34"/>
              <p:cNvSpPr>
                <a:spLocks noChangeArrowheads="1"/>
              </p:cNvSpPr>
              <p:nvPr/>
            </p:nvSpPr>
            <p:spPr bwMode="auto">
              <a:xfrm rot="5400000">
                <a:off x="5094" y="217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9" name="Line 36"/>
              <p:cNvSpPr>
                <a:spLocks noChangeShapeType="1"/>
              </p:cNvSpPr>
              <p:nvPr/>
            </p:nvSpPr>
            <p:spPr bwMode="auto">
              <a:xfrm>
                <a:off x="5017" y="224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10" name="Line 37"/>
              <p:cNvSpPr>
                <a:spLocks noChangeShapeType="1"/>
              </p:cNvSpPr>
              <p:nvPr/>
            </p:nvSpPr>
            <p:spPr bwMode="auto">
              <a:xfrm>
                <a:off x="5014" y="2398"/>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11" name="AutoShape 38"/>
              <p:cNvSpPr>
                <a:spLocks noChangeArrowheads="1"/>
              </p:cNvSpPr>
              <p:nvPr/>
            </p:nvSpPr>
            <p:spPr bwMode="auto">
              <a:xfrm rot="746037">
                <a:off x="5208" y="2312"/>
                <a:ext cx="133" cy="126"/>
              </a:xfrm>
              <a:prstGeom prst="rightArrow">
                <a:avLst>
                  <a:gd name="adj1" fmla="val 50000"/>
                  <a:gd name="adj2" fmla="val 26389"/>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99" name="Line 112"/>
            <p:cNvSpPr>
              <a:spLocks noChangeShapeType="1"/>
            </p:cNvSpPr>
            <p:nvPr/>
          </p:nvSpPr>
          <p:spPr bwMode="auto">
            <a:xfrm>
              <a:off x="6696956" y="2835856"/>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4100" name="Group 137"/>
            <p:cNvGrpSpPr/>
            <p:nvPr/>
          </p:nvGrpSpPr>
          <p:grpSpPr bwMode="auto">
            <a:xfrm>
              <a:off x="6589886" y="2482016"/>
              <a:ext cx="631179" cy="698229"/>
              <a:chOff x="4576" y="2007"/>
              <a:chExt cx="504" cy="604"/>
            </a:xfrm>
          </p:grpSpPr>
          <p:sp>
            <p:nvSpPr>
              <p:cNvPr id="84103" name="AutoShape 19"/>
              <p:cNvSpPr>
                <a:spLocks noChangeArrowheads="1"/>
              </p:cNvSpPr>
              <p:nvPr/>
            </p:nvSpPr>
            <p:spPr bwMode="auto">
              <a:xfrm rot="5400000">
                <a:off x="4637" y="2052"/>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4" name="Text Box 20"/>
              <p:cNvSpPr txBox="1">
                <a:spLocks noChangeArrowheads="1"/>
              </p:cNvSpPr>
              <p:nvPr/>
            </p:nvSpPr>
            <p:spPr bwMode="auto">
              <a:xfrm rot="626605">
                <a:off x="4576" y="211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05" name="Line 21"/>
              <p:cNvSpPr>
                <a:spLocks noChangeShapeType="1"/>
              </p:cNvSpPr>
              <p:nvPr/>
            </p:nvSpPr>
            <p:spPr bwMode="auto">
              <a:xfrm>
                <a:off x="4659" y="2180"/>
                <a:ext cx="363"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a:p>
            </p:txBody>
          </p:sp>
          <p:sp>
            <p:nvSpPr>
              <p:cNvPr id="84106" name="Line 22"/>
              <p:cNvSpPr>
                <a:spLocks noChangeShapeType="1"/>
              </p:cNvSpPr>
              <p:nvPr/>
            </p:nvSpPr>
            <p:spPr bwMode="auto">
              <a:xfrm>
                <a:off x="4656" y="2331"/>
                <a:ext cx="362"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a:p>
            </p:txBody>
          </p:sp>
          <p:sp>
            <p:nvSpPr>
              <p:cNvPr id="84107" name="AutoShape 23"/>
              <p:cNvSpPr>
                <a:spLocks noChangeArrowheads="1"/>
              </p:cNvSpPr>
              <p:nvPr/>
            </p:nvSpPr>
            <p:spPr bwMode="auto">
              <a:xfrm rot="746037">
                <a:off x="4788" y="2007"/>
                <a:ext cx="257" cy="604"/>
              </a:xfrm>
              <a:prstGeom prst="rightArrow">
                <a:avLst>
                  <a:gd name="adj1" fmla="val 50000"/>
                  <a:gd name="adj2" fmla="val 26190"/>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01" name="AutoShape 38"/>
            <p:cNvSpPr>
              <a:spLocks noChangeArrowheads="1"/>
            </p:cNvSpPr>
            <p:nvPr/>
          </p:nvSpPr>
          <p:spPr bwMode="auto">
            <a:xfrm rot="746037">
              <a:off x="6956606" y="2737924"/>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2" name="Text Box 35"/>
            <p:cNvSpPr txBox="1">
              <a:spLocks noChangeArrowheads="1"/>
            </p:cNvSpPr>
            <p:nvPr/>
          </p:nvSpPr>
          <p:spPr bwMode="auto">
            <a:xfrm rot="626605">
              <a:off x="7020553" y="2695710"/>
              <a:ext cx="503710" cy="35176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5" name="Group 127"/>
          <p:cNvGrpSpPr/>
          <p:nvPr/>
        </p:nvGrpSpPr>
        <p:grpSpPr bwMode="auto">
          <a:xfrm>
            <a:off x="4676579" y="1916993"/>
            <a:ext cx="325435" cy="518114"/>
            <a:chOff x="2869" y="2182"/>
            <a:chExt cx="396" cy="683"/>
          </a:xfrm>
          <a:solidFill>
            <a:srgbClr val="368AD6"/>
          </a:solidFill>
        </p:grpSpPr>
        <p:sp>
          <p:nvSpPr>
            <p:cNvPr id="6" name="AutoShape 59"/>
            <p:cNvSpPr>
              <a:spLocks noChangeArrowheads="1"/>
            </p:cNvSpPr>
            <p:nvPr/>
          </p:nvSpPr>
          <p:spPr bwMode="auto">
            <a:xfrm rot="5400000">
              <a:off x="2729" y="2350"/>
              <a:ext cx="674" cy="355"/>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7" name="Text Box 61"/>
            <p:cNvSpPr txBox="1">
              <a:spLocks noChangeArrowheads="1"/>
            </p:cNvSpPr>
            <p:nvPr/>
          </p:nvSpPr>
          <p:spPr bwMode="auto">
            <a:xfrm>
              <a:off x="2869" y="218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8" name="Line 62"/>
            <p:cNvSpPr>
              <a:spLocks noChangeShapeType="1"/>
            </p:cNvSpPr>
            <p:nvPr/>
          </p:nvSpPr>
          <p:spPr bwMode="auto">
            <a:xfrm>
              <a:off x="2876" y="2191"/>
              <a:ext cx="363" cy="57"/>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9" name="Line 63"/>
            <p:cNvSpPr>
              <a:spLocks noChangeShapeType="1"/>
            </p:cNvSpPr>
            <p:nvPr/>
          </p:nvSpPr>
          <p:spPr bwMode="auto">
            <a:xfrm>
              <a:off x="2876" y="2807"/>
              <a:ext cx="363"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0" name="AutoShape 60"/>
            <p:cNvSpPr>
              <a:spLocks noChangeArrowheads="1"/>
            </p:cNvSpPr>
            <p:nvPr/>
          </p:nvSpPr>
          <p:spPr bwMode="auto">
            <a:xfrm rot="746037">
              <a:off x="2960" y="2674"/>
              <a:ext cx="227" cy="127"/>
            </a:xfrm>
            <a:prstGeom prst="rightArrow">
              <a:avLst>
                <a:gd name="adj1" fmla="val 50000"/>
                <a:gd name="adj2" fmla="val 4468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1" name="Group 128"/>
          <p:cNvGrpSpPr/>
          <p:nvPr/>
        </p:nvGrpSpPr>
        <p:grpSpPr bwMode="auto">
          <a:xfrm>
            <a:off x="4990499" y="2550416"/>
            <a:ext cx="327076" cy="524184"/>
            <a:chOff x="3251" y="3017"/>
            <a:chExt cx="398" cy="691"/>
          </a:xfrm>
          <a:solidFill>
            <a:srgbClr val="368AD6"/>
          </a:solidFill>
        </p:grpSpPr>
        <p:sp>
          <p:nvSpPr>
            <p:cNvPr id="12" name="AutoShape 64"/>
            <p:cNvSpPr>
              <a:spLocks noChangeArrowheads="1"/>
            </p:cNvSpPr>
            <p:nvPr/>
          </p:nvSpPr>
          <p:spPr bwMode="auto">
            <a:xfrm rot="5400000">
              <a:off x="3102" y="3193"/>
              <a:ext cx="675" cy="355"/>
            </a:xfrm>
            <a:prstGeom prst="parallelogram">
              <a:avLst>
                <a:gd name="adj" fmla="val 18292"/>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3" name="Text Box 66"/>
            <p:cNvSpPr txBox="1">
              <a:spLocks noChangeArrowheads="1"/>
            </p:cNvSpPr>
            <p:nvPr/>
          </p:nvSpPr>
          <p:spPr bwMode="auto">
            <a:xfrm>
              <a:off x="3253" y="3017"/>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14" name="Line 67"/>
            <p:cNvSpPr>
              <a:spLocks noChangeShapeType="1"/>
            </p:cNvSpPr>
            <p:nvPr/>
          </p:nvSpPr>
          <p:spPr bwMode="auto">
            <a:xfrm>
              <a:off x="3251" y="3033"/>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5" name="Line 68"/>
            <p:cNvSpPr>
              <a:spLocks noChangeShapeType="1"/>
            </p:cNvSpPr>
            <p:nvPr/>
          </p:nvSpPr>
          <p:spPr bwMode="auto">
            <a:xfrm>
              <a:off x="3251" y="3650"/>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6" name="AutoShape 65"/>
            <p:cNvSpPr>
              <a:spLocks noChangeArrowheads="1"/>
            </p:cNvSpPr>
            <p:nvPr/>
          </p:nvSpPr>
          <p:spPr bwMode="auto">
            <a:xfrm rot="746037">
              <a:off x="3331" y="3527"/>
              <a:ext cx="226" cy="126"/>
            </a:xfrm>
            <a:prstGeom prst="rightArrow">
              <a:avLst>
                <a:gd name="adj1" fmla="val 50000"/>
                <a:gd name="adj2" fmla="val 44841"/>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7" name="Group 126"/>
          <p:cNvGrpSpPr/>
          <p:nvPr/>
        </p:nvGrpSpPr>
        <p:grpSpPr bwMode="auto">
          <a:xfrm>
            <a:off x="4387305" y="1302539"/>
            <a:ext cx="325434" cy="524942"/>
            <a:chOff x="2517" y="1372"/>
            <a:chExt cx="396" cy="692"/>
          </a:xfrm>
          <a:solidFill>
            <a:srgbClr val="368AD6"/>
          </a:solidFill>
        </p:grpSpPr>
        <p:sp>
          <p:nvSpPr>
            <p:cNvPr id="18" name="AutoShape 69"/>
            <p:cNvSpPr>
              <a:spLocks noChangeArrowheads="1"/>
            </p:cNvSpPr>
            <p:nvPr/>
          </p:nvSpPr>
          <p:spPr bwMode="auto">
            <a:xfrm rot="5400000">
              <a:off x="2363" y="1546"/>
              <a:ext cx="674" cy="362"/>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9" name="Text Box 71"/>
            <p:cNvSpPr txBox="1">
              <a:spLocks noChangeArrowheads="1"/>
            </p:cNvSpPr>
            <p:nvPr/>
          </p:nvSpPr>
          <p:spPr bwMode="auto">
            <a:xfrm>
              <a:off x="2517" y="137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20" name="Line 72"/>
            <p:cNvSpPr>
              <a:spLocks noChangeShapeType="1"/>
            </p:cNvSpPr>
            <p:nvPr/>
          </p:nvSpPr>
          <p:spPr bwMode="auto">
            <a:xfrm>
              <a:off x="2519" y="1395"/>
              <a:ext cx="357" cy="5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1" name="Line 73"/>
            <p:cNvSpPr>
              <a:spLocks noChangeShapeType="1"/>
            </p:cNvSpPr>
            <p:nvPr/>
          </p:nvSpPr>
          <p:spPr bwMode="auto">
            <a:xfrm>
              <a:off x="2519" y="2001"/>
              <a:ext cx="357" cy="6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2" name="AutoShape 70"/>
            <p:cNvSpPr>
              <a:spLocks noChangeArrowheads="1"/>
            </p:cNvSpPr>
            <p:nvPr/>
          </p:nvSpPr>
          <p:spPr bwMode="auto">
            <a:xfrm rot="746037">
              <a:off x="2591" y="1861"/>
              <a:ext cx="226" cy="127"/>
            </a:xfrm>
            <a:prstGeom prst="rightArrow">
              <a:avLst>
                <a:gd name="adj1" fmla="val 50000"/>
                <a:gd name="adj2" fmla="val 44488"/>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sp>
        <p:nvSpPr>
          <p:cNvPr id="83980" name="Line 74"/>
          <p:cNvSpPr>
            <a:spLocks noChangeShapeType="1"/>
          </p:cNvSpPr>
          <p:nvPr/>
        </p:nvSpPr>
        <p:spPr bwMode="auto">
          <a:xfrm>
            <a:off x="292049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81" name="Line 75"/>
          <p:cNvSpPr>
            <a:spLocks noChangeShapeType="1"/>
          </p:cNvSpPr>
          <p:nvPr/>
        </p:nvSpPr>
        <p:spPr bwMode="auto">
          <a:xfrm>
            <a:off x="321894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82" name="Text Box 76"/>
          <p:cNvSpPr txBox="1">
            <a:spLocks noChangeArrowheads="1"/>
          </p:cNvSpPr>
          <p:nvPr/>
        </p:nvSpPr>
        <p:spPr bwMode="auto">
          <a:xfrm>
            <a:off x="2471236" y="3125521"/>
            <a:ext cx="13303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0000FF"/>
                </a:solidFill>
                <a:latin typeface="微软雅黑" panose="020B0503020204020204" pitchFamily="34" charset="-122"/>
                <a:ea typeface="微软雅黑" panose="020B0503020204020204" pitchFamily="34" charset="-122"/>
              </a:rPr>
              <a:t>A    B    C     D </a:t>
            </a:r>
          </a:p>
        </p:txBody>
      </p:sp>
      <p:sp>
        <p:nvSpPr>
          <p:cNvPr id="83983" name="Text Box 77"/>
          <p:cNvSpPr txBox="1">
            <a:spLocks noChangeArrowheads="1"/>
          </p:cNvSpPr>
          <p:nvPr/>
        </p:nvSpPr>
        <p:spPr bwMode="auto">
          <a:xfrm>
            <a:off x="4265111" y="3125521"/>
            <a:ext cx="118903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990099"/>
                </a:solidFill>
                <a:latin typeface="微软雅黑" panose="020B0503020204020204" pitchFamily="34" charset="-122"/>
                <a:ea typeface="微软雅黑" panose="020B0503020204020204" pitchFamily="34" charset="-122"/>
              </a:rPr>
              <a:t>A    B    C    D</a:t>
            </a:r>
          </a:p>
        </p:txBody>
      </p:sp>
      <p:sp>
        <p:nvSpPr>
          <p:cNvPr id="83984" name="Text Box 78"/>
          <p:cNvSpPr txBox="1">
            <a:spLocks noChangeArrowheads="1"/>
          </p:cNvSpPr>
          <p:nvPr/>
        </p:nvSpPr>
        <p:spPr bwMode="auto">
          <a:xfrm>
            <a:off x="6028823" y="3125521"/>
            <a:ext cx="123666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a:solidFill>
                  <a:srgbClr val="C00000"/>
                </a:solidFill>
                <a:latin typeface="微软雅黑" panose="020B0503020204020204" pitchFamily="34" charset="-122"/>
                <a:ea typeface="微软雅黑" panose="020B0503020204020204" pitchFamily="34" charset="-122"/>
              </a:rPr>
              <a:t>A    B    C    D</a:t>
            </a:r>
          </a:p>
        </p:txBody>
      </p:sp>
      <p:sp>
        <p:nvSpPr>
          <p:cNvPr id="28" name="Line 79"/>
          <p:cNvSpPr>
            <a:spLocks noChangeShapeType="1"/>
          </p:cNvSpPr>
          <p:nvPr/>
        </p:nvSpPr>
        <p:spPr bwMode="auto">
          <a:xfrm>
            <a:off x="2622048" y="1379271"/>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9" name="Line 80"/>
          <p:cNvSpPr>
            <a:spLocks noChangeShapeType="1"/>
          </p:cNvSpPr>
          <p:nvPr/>
        </p:nvSpPr>
        <p:spPr bwMode="auto">
          <a:xfrm>
            <a:off x="2920498" y="1507859"/>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0" name="Line 81"/>
          <p:cNvSpPr>
            <a:spLocks noChangeShapeType="1"/>
          </p:cNvSpPr>
          <p:nvPr/>
        </p:nvSpPr>
        <p:spPr bwMode="auto">
          <a:xfrm>
            <a:off x="3218948" y="1634859"/>
            <a:ext cx="298450" cy="333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1" name="Line 82"/>
          <p:cNvSpPr>
            <a:spLocks noChangeShapeType="1"/>
          </p:cNvSpPr>
          <p:nvPr/>
        </p:nvSpPr>
        <p:spPr bwMode="auto">
          <a:xfrm flipH="1">
            <a:off x="2622048" y="1826946"/>
            <a:ext cx="895350" cy="128588"/>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2" name="Text Box 87"/>
          <p:cNvSpPr txBox="1">
            <a:spLocks noChangeArrowheads="1"/>
          </p:cNvSpPr>
          <p:nvPr/>
        </p:nvSpPr>
        <p:spPr bwMode="auto">
          <a:xfrm>
            <a:off x="44730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990099"/>
                </a:solidFill>
                <a:latin typeface="微软雅黑" panose="020B0503020204020204" pitchFamily="34" charset="-122"/>
                <a:ea typeface="微软雅黑" panose="020B0503020204020204" pitchFamily="34" charset="-122"/>
              </a:rPr>
              <a:t>报文交换</a:t>
            </a:r>
          </a:p>
        </p:txBody>
      </p:sp>
      <p:sp>
        <p:nvSpPr>
          <p:cNvPr id="83990" name="Text Box 88"/>
          <p:cNvSpPr txBox="1">
            <a:spLocks noChangeArrowheads="1"/>
          </p:cNvSpPr>
          <p:nvPr/>
        </p:nvSpPr>
        <p:spPr bwMode="auto">
          <a:xfrm>
            <a:off x="26696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0000FF"/>
                </a:solidFill>
                <a:latin typeface="微软雅黑" panose="020B0503020204020204" pitchFamily="34" charset="-122"/>
                <a:ea typeface="微软雅黑" panose="020B0503020204020204" pitchFamily="34" charset="-122"/>
              </a:rPr>
              <a:t>电路交换</a:t>
            </a:r>
          </a:p>
        </p:txBody>
      </p:sp>
      <p:sp>
        <p:nvSpPr>
          <p:cNvPr id="34" name="Text Box 89"/>
          <p:cNvSpPr txBox="1">
            <a:spLocks noChangeArrowheads="1"/>
          </p:cNvSpPr>
          <p:nvPr/>
        </p:nvSpPr>
        <p:spPr bwMode="auto">
          <a:xfrm>
            <a:off x="6206623" y="1025259"/>
            <a:ext cx="903288"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C00000"/>
                </a:solidFill>
                <a:latin typeface="微软雅黑" panose="020B0503020204020204" pitchFamily="34" charset="-122"/>
                <a:ea typeface="微软雅黑" panose="020B0503020204020204" pitchFamily="34" charset="-122"/>
              </a:rPr>
              <a:t>分组交换</a:t>
            </a:r>
          </a:p>
        </p:txBody>
      </p:sp>
      <p:sp>
        <p:nvSpPr>
          <p:cNvPr id="83992" name="Line 90"/>
          <p:cNvSpPr>
            <a:spLocks noChangeShapeType="1"/>
          </p:cNvSpPr>
          <p:nvPr/>
        </p:nvSpPr>
        <p:spPr bwMode="auto">
          <a:xfrm>
            <a:off x="3953961" y="1539609"/>
            <a:ext cx="0" cy="1311275"/>
          </a:xfrm>
          <a:prstGeom prst="line">
            <a:avLst/>
          </a:prstGeom>
          <a:noFill/>
          <a:ln w="28575">
            <a:solidFill>
              <a:srgbClr val="000099"/>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93" name="Text Box 91"/>
          <p:cNvSpPr txBox="1">
            <a:spLocks noChangeArrowheads="1"/>
          </p:cNvSpPr>
          <p:nvPr/>
        </p:nvSpPr>
        <p:spPr bwMode="auto">
          <a:xfrm>
            <a:off x="3821824" y="2780441"/>
            <a:ext cx="28742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solidFill>
                  <a:srgbClr val="000099"/>
                </a:solidFill>
                <a:ea typeface="黑体" panose="02010609060101010101" pitchFamily="2" charset="-122"/>
              </a:rPr>
              <a:t>t</a:t>
            </a:r>
          </a:p>
        </p:txBody>
      </p:sp>
      <p:grpSp>
        <p:nvGrpSpPr>
          <p:cNvPr id="42" name="Group 123"/>
          <p:cNvGrpSpPr/>
          <p:nvPr/>
        </p:nvGrpSpPr>
        <p:grpSpPr bwMode="auto">
          <a:xfrm>
            <a:off x="1694948" y="1965059"/>
            <a:ext cx="895350" cy="484187"/>
            <a:chOff x="-277" y="2246"/>
            <a:chExt cx="1089" cy="637"/>
          </a:xfrm>
        </p:grpSpPr>
        <p:sp>
          <p:nvSpPr>
            <p:cNvPr id="84094" name="Line 93"/>
            <p:cNvSpPr>
              <a:spLocks noChangeShapeType="1"/>
            </p:cNvSpPr>
            <p:nvPr/>
          </p:nvSpPr>
          <p:spPr bwMode="auto">
            <a:xfrm>
              <a:off x="630" y="288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95" name="Text Box 96"/>
            <p:cNvSpPr txBox="1">
              <a:spLocks noChangeArrowheads="1"/>
            </p:cNvSpPr>
            <p:nvPr/>
          </p:nvSpPr>
          <p:spPr bwMode="auto">
            <a:xfrm>
              <a:off x="-277" y="2405"/>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数据传送</a:t>
              </a:r>
            </a:p>
          </p:txBody>
        </p:sp>
        <p:sp>
          <p:nvSpPr>
            <p:cNvPr id="84096" name="Line 98"/>
            <p:cNvSpPr>
              <a:spLocks noChangeShapeType="1"/>
            </p:cNvSpPr>
            <p:nvPr/>
          </p:nvSpPr>
          <p:spPr bwMode="auto">
            <a:xfrm>
              <a:off x="721" y="2246"/>
              <a:ext cx="0" cy="637"/>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3995" name="Freeform 99"/>
          <p:cNvSpPr/>
          <p:nvPr/>
        </p:nvSpPr>
        <p:spPr bwMode="auto">
          <a:xfrm>
            <a:off x="2620461" y="1315771"/>
            <a:ext cx="1587" cy="1825625"/>
          </a:xfrm>
          <a:custGeom>
            <a:avLst/>
            <a:gdLst>
              <a:gd name="T0" fmla="*/ 2465 w 3"/>
              <a:gd name="T1" fmla="*/ 0 h 2742"/>
              <a:gd name="T2" fmla="*/ 0 w 3"/>
              <a:gd name="T3" fmla="*/ 1825917 h 2742"/>
              <a:gd name="T4" fmla="*/ 0 60000 65536"/>
              <a:gd name="T5" fmla="*/ 0 60000 65536"/>
            </a:gdLst>
            <a:ahLst/>
            <a:cxnLst>
              <a:cxn ang="T4">
                <a:pos x="T0" y="T1"/>
              </a:cxn>
              <a:cxn ang="T5">
                <a:pos x="T2" y="T3"/>
              </a:cxn>
            </a:cxnLst>
            <a:rect l="0" t="0" r="r" b="b"/>
            <a:pathLst>
              <a:path w="3" h="2742">
                <a:moveTo>
                  <a:pt x="3" y="0"/>
                </a:moveTo>
                <a:lnTo>
                  <a:pt x="0" y="2742"/>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96" name="Freeform 100"/>
          <p:cNvSpPr/>
          <p:nvPr/>
        </p:nvSpPr>
        <p:spPr bwMode="auto">
          <a:xfrm>
            <a:off x="5289048" y="1306246"/>
            <a:ext cx="1588" cy="1820863"/>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97" name="Line 104"/>
          <p:cNvSpPr>
            <a:spLocks noChangeShapeType="1"/>
          </p:cNvSpPr>
          <p:nvPr/>
        </p:nvSpPr>
        <p:spPr bwMode="auto">
          <a:xfrm>
            <a:off x="43873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98" name="Line 105"/>
          <p:cNvSpPr>
            <a:spLocks noChangeShapeType="1"/>
          </p:cNvSpPr>
          <p:nvPr/>
        </p:nvSpPr>
        <p:spPr bwMode="auto">
          <a:xfrm>
            <a:off x="4682623"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99" name="Line 106"/>
          <p:cNvSpPr>
            <a:spLocks noChangeShapeType="1"/>
          </p:cNvSpPr>
          <p:nvPr/>
        </p:nvSpPr>
        <p:spPr bwMode="auto">
          <a:xfrm>
            <a:off x="4989011"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54" name="Group 125"/>
          <p:cNvGrpSpPr/>
          <p:nvPr/>
        </p:nvGrpSpPr>
        <p:grpSpPr bwMode="auto">
          <a:xfrm>
            <a:off x="2615335" y="1959475"/>
            <a:ext cx="914666" cy="611420"/>
            <a:chOff x="817" y="2238"/>
            <a:chExt cx="1113" cy="806"/>
          </a:xfrm>
          <a:solidFill>
            <a:srgbClr val="92D050"/>
          </a:solidFill>
        </p:grpSpPr>
        <p:sp>
          <p:nvSpPr>
            <p:cNvPr id="55" name="Line 83"/>
            <p:cNvSpPr>
              <a:spLocks noChangeShapeType="1"/>
            </p:cNvSpPr>
            <p:nvPr/>
          </p:nvSpPr>
          <p:spPr bwMode="auto">
            <a:xfrm>
              <a:off x="841" y="2268"/>
              <a:ext cx="1089" cy="168"/>
            </a:xfrm>
            <a:prstGeom prst="line">
              <a:avLst/>
            </a:prstGeom>
            <a:grpFill/>
            <a:ln>
              <a:noFill/>
            </a:ln>
            <a:effectLst/>
            <a:extLst>
              <a:ext uri="{91240B29-F687-4F45-9708-019B960494DF}">
                <a14:hiddenLine xmlns:a14="http://schemas.microsoft.com/office/drawing/2010/main" w="19050">
                  <a:solidFill>
                    <a:schemeClr val="bg2"/>
                  </a:solidFill>
                  <a:round/>
                  <a:tailEnd type="none" w="sm"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6" name="AutoShape 84"/>
            <p:cNvSpPr>
              <a:spLocks noChangeArrowheads="1"/>
            </p:cNvSpPr>
            <p:nvPr/>
          </p:nvSpPr>
          <p:spPr bwMode="auto">
            <a:xfrm rot="5400000">
              <a:off x="976" y="2091"/>
              <a:ext cx="793" cy="1092"/>
            </a:xfrm>
            <a:prstGeom prst="parallelogram">
              <a:avLst>
                <a:gd name="adj" fmla="val 21176"/>
              </a:avLst>
            </a:prstGeom>
            <a:solidFill>
              <a:srgbClr val="00B05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7" name="Text Box 85"/>
            <p:cNvSpPr txBox="1">
              <a:spLocks noChangeArrowheads="1"/>
            </p:cNvSpPr>
            <p:nvPr/>
          </p:nvSpPr>
          <p:spPr bwMode="auto">
            <a:xfrm>
              <a:off x="1086" y="2373"/>
              <a:ext cx="599" cy="365"/>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dirty="0">
                  <a:solidFill>
                    <a:schemeClr val="bg1"/>
                  </a:solidFill>
                </a:rPr>
                <a:t>报文</a:t>
              </a:r>
            </a:p>
          </p:txBody>
        </p:sp>
        <p:sp>
          <p:nvSpPr>
            <p:cNvPr id="58" name="AutoShape 86"/>
            <p:cNvSpPr>
              <a:spLocks noChangeArrowheads="1"/>
            </p:cNvSpPr>
            <p:nvPr/>
          </p:nvSpPr>
          <p:spPr bwMode="auto">
            <a:xfrm rot="746037">
              <a:off x="1174" y="2713"/>
              <a:ext cx="408" cy="127"/>
            </a:xfrm>
            <a:prstGeom prst="rightArrow">
              <a:avLst>
                <a:gd name="adj1" fmla="val 50000"/>
                <a:gd name="adj2" fmla="val 8031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9" name="Line 108"/>
            <p:cNvSpPr>
              <a:spLocks noChangeShapeType="1"/>
            </p:cNvSpPr>
            <p:nvPr/>
          </p:nvSpPr>
          <p:spPr bwMode="auto">
            <a:xfrm>
              <a:off x="823" y="2238"/>
              <a:ext cx="1094" cy="174"/>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60" name="Line 109"/>
            <p:cNvSpPr>
              <a:spLocks noChangeShapeType="1"/>
            </p:cNvSpPr>
            <p:nvPr/>
          </p:nvSpPr>
          <p:spPr bwMode="auto">
            <a:xfrm>
              <a:off x="817" y="2865"/>
              <a:ext cx="1100" cy="179"/>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61" name="Group 130"/>
          <p:cNvGrpSpPr/>
          <p:nvPr/>
        </p:nvGrpSpPr>
        <p:grpSpPr bwMode="auto">
          <a:xfrm>
            <a:off x="6078036" y="1287196"/>
            <a:ext cx="379412" cy="230188"/>
            <a:chOff x="4196" y="1352"/>
            <a:chExt cx="461" cy="304"/>
          </a:xfrm>
        </p:grpSpPr>
        <p:sp>
          <p:nvSpPr>
            <p:cNvPr id="84089" name="AutoShape 110"/>
            <p:cNvSpPr>
              <a:spLocks noChangeArrowheads="1"/>
            </p:cNvSpPr>
            <p:nvPr/>
          </p:nvSpPr>
          <p:spPr bwMode="auto">
            <a:xfrm rot="5400000">
              <a:off x="4371" y="1337"/>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90" name="Text Box 111"/>
            <p:cNvSpPr txBox="1">
              <a:spLocks noChangeArrowheads="1"/>
            </p:cNvSpPr>
            <p:nvPr/>
          </p:nvSpPr>
          <p:spPr bwMode="auto">
            <a:xfrm rot="626605">
              <a:off x="4196" y="1352"/>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91" name="Line 112"/>
            <p:cNvSpPr>
              <a:spLocks noChangeShapeType="1"/>
            </p:cNvSpPr>
            <p:nvPr/>
          </p:nvSpPr>
          <p:spPr bwMode="auto">
            <a:xfrm>
              <a:off x="4295" y="1407"/>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92" name="Line 113"/>
            <p:cNvSpPr>
              <a:spLocks noChangeShapeType="1"/>
            </p:cNvSpPr>
            <p:nvPr/>
          </p:nvSpPr>
          <p:spPr bwMode="auto">
            <a:xfrm>
              <a:off x="4291" y="1558"/>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93" name="AutoShape 114"/>
            <p:cNvSpPr>
              <a:spLocks noChangeArrowheads="1"/>
            </p:cNvSpPr>
            <p:nvPr/>
          </p:nvSpPr>
          <p:spPr bwMode="auto">
            <a:xfrm rot="746037">
              <a:off x="4485" y="1472"/>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68" name="Line 116"/>
          <p:cNvSpPr>
            <a:spLocks noChangeShapeType="1"/>
          </p:cNvSpPr>
          <p:nvPr/>
        </p:nvSpPr>
        <p:spPr bwMode="auto">
          <a:xfrm>
            <a:off x="2620461" y="2488934"/>
            <a:ext cx="298450" cy="444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9" name="Line 117"/>
          <p:cNvSpPr>
            <a:spLocks noChangeShapeType="1"/>
          </p:cNvSpPr>
          <p:nvPr/>
        </p:nvSpPr>
        <p:spPr bwMode="auto">
          <a:xfrm>
            <a:off x="2923673" y="2574659"/>
            <a:ext cx="293688" cy="460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0" name="Line 118"/>
          <p:cNvSpPr>
            <a:spLocks noChangeShapeType="1"/>
          </p:cNvSpPr>
          <p:nvPr/>
        </p:nvSpPr>
        <p:spPr bwMode="auto">
          <a:xfrm>
            <a:off x="3217361" y="2665146"/>
            <a:ext cx="296862" cy="41275"/>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1" name="Group 124"/>
          <p:cNvGrpSpPr/>
          <p:nvPr/>
        </p:nvGrpSpPr>
        <p:grpSpPr bwMode="auto">
          <a:xfrm>
            <a:off x="1691773" y="2438134"/>
            <a:ext cx="885825" cy="325437"/>
            <a:chOff x="-281" y="2869"/>
            <a:chExt cx="1078" cy="429"/>
          </a:xfrm>
        </p:grpSpPr>
        <p:sp>
          <p:nvSpPr>
            <p:cNvPr id="84086" name="Line 119"/>
            <p:cNvSpPr>
              <a:spLocks noChangeShapeType="1"/>
            </p:cNvSpPr>
            <p:nvPr/>
          </p:nvSpPr>
          <p:spPr bwMode="auto">
            <a:xfrm>
              <a:off x="615" y="324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87" name="Line 120"/>
            <p:cNvSpPr>
              <a:spLocks noChangeShapeType="1"/>
            </p:cNvSpPr>
            <p:nvPr/>
          </p:nvSpPr>
          <p:spPr bwMode="auto">
            <a:xfrm>
              <a:off x="721" y="2869"/>
              <a:ext cx="0" cy="373"/>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88" name="Text Box 121"/>
            <p:cNvSpPr txBox="1">
              <a:spLocks noChangeArrowheads="1"/>
            </p:cNvSpPr>
            <p:nvPr/>
          </p:nvSpPr>
          <p:spPr bwMode="auto">
            <a:xfrm>
              <a:off x="-281" y="29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连接释放</a:t>
              </a:r>
            </a:p>
          </p:txBody>
        </p:sp>
      </p:grpSp>
      <p:sp>
        <p:nvSpPr>
          <p:cNvPr id="84006" name="Freeform 107"/>
          <p:cNvSpPr/>
          <p:nvPr/>
        </p:nvSpPr>
        <p:spPr bwMode="auto">
          <a:xfrm>
            <a:off x="3517398" y="1326884"/>
            <a:ext cx="3175" cy="1822450"/>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07" name="AutoShape 143"/>
          <p:cNvSpPr>
            <a:spLocks noChangeArrowheads="1"/>
          </p:cNvSpPr>
          <p:nvPr/>
        </p:nvSpPr>
        <p:spPr bwMode="auto">
          <a:xfrm>
            <a:off x="1833061" y="3438259"/>
            <a:ext cx="5542869" cy="800100"/>
          </a:xfrm>
          <a:prstGeom prst="roundRect">
            <a:avLst>
              <a:gd name="adj" fmla="val 16667"/>
            </a:avLst>
          </a:prstGeom>
          <a:solidFill>
            <a:schemeClr val="bg1"/>
          </a:solidFill>
          <a:ln w="19050">
            <a:solidFill>
              <a:srgbClr val="339933"/>
            </a:solidFill>
            <a:round/>
            <a:headEnd type="none" w="sm" len="lg"/>
            <a:tailEnd type="none" w="sm" len="lg"/>
          </a:ln>
        </p:spPr>
        <p:txBody>
          <a:bodyPr wrap="none" anchor="ctr"/>
          <a:lstStyle/>
          <a:p>
            <a:endParaRPr lang="zh-CN" altLang="en-US"/>
          </a:p>
        </p:txBody>
      </p:sp>
      <p:sp>
        <p:nvSpPr>
          <p:cNvPr id="84008" name="Line 144"/>
          <p:cNvSpPr>
            <a:spLocks noChangeShapeType="1"/>
          </p:cNvSpPr>
          <p:nvPr/>
        </p:nvSpPr>
        <p:spPr bwMode="auto">
          <a:xfrm>
            <a:off x="6188345"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4009" name="Line 145"/>
          <p:cNvSpPr>
            <a:spLocks noChangeShapeType="1"/>
          </p:cNvSpPr>
          <p:nvPr/>
        </p:nvSpPr>
        <p:spPr bwMode="auto">
          <a:xfrm>
            <a:off x="4380138"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4010" name="Line 146"/>
          <p:cNvSpPr>
            <a:spLocks noChangeShapeType="1"/>
          </p:cNvSpPr>
          <p:nvPr/>
        </p:nvSpPr>
        <p:spPr bwMode="auto">
          <a:xfrm>
            <a:off x="2636336" y="3927209"/>
            <a:ext cx="866775"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80" name="Group 147"/>
          <p:cNvGrpSpPr/>
          <p:nvPr/>
        </p:nvGrpSpPr>
        <p:grpSpPr bwMode="auto">
          <a:xfrm>
            <a:off x="2596226" y="3854693"/>
            <a:ext cx="986162" cy="109236"/>
            <a:chOff x="768" y="2544"/>
            <a:chExt cx="1200" cy="144"/>
          </a:xfrm>
          <a:solidFill>
            <a:srgbClr val="339933"/>
          </a:solidFill>
        </p:grpSpPr>
        <p:sp>
          <p:nvSpPr>
            <p:cNvPr id="81" name="AutoShape 14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2" name="AutoShape 14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3" name="AutoShape 15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4" name="AutoShape 15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85" name="Group 152"/>
          <p:cNvGrpSpPr/>
          <p:nvPr/>
        </p:nvGrpSpPr>
        <p:grpSpPr bwMode="auto">
          <a:xfrm>
            <a:off x="4341308" y="3854693"/>
            <a:ext cx="986162" cy="109236"/>
            <a:chOff x="768" y="2544"/>
            <a:chExt cx="1200" cy="144"/>
          </a:xfrm>
          <a:solidFill>
            <a:srgbClr val="368AD6"/>
          </a:solidFill>
        </p:grpSpPr>
        <p:sp>
          <p:nvSpPr>
            <p:cNvPr id="86" name="AutoShape 153"/>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7" name="AutoShape 154"/>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8" name="AutoShape 155"/>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9" name="AutoShape 156"/>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90" name="Group 157"/>
          <p:cNvGrpSpPr/>
          <p:nvPr/>
        </p:nvGrpSpPr>
        <p:grpSpPr bwMode="auto">
          <a:xfrm>
            <a:off x="6149170" y="3854693"/>
            <a:ext cx="986162" cy="109236"/>
            <a:chOff x="768" y="2544"/>
            <a:chExt cx="1200" cy="144"/>
          </a:xfrm>
          <a:solidFill>
            <a:srgbClr val="C00000"/>
          </a:solidFill>
        </p:grpSpPr>
        <p:sp>
          <p:nvSpPr>
            <p:cNvPr id="91" name="AutoShape 15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2" name="AutoShape 15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3" name="AutoShape 16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4" name="AutoShape 16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sp>
        <p:nvSpPr>
          <p:cNvPr id="84014" name="AutoShape 162"/>
          <p:cNvSpPr>
            <a:spLocks noChangeArrowheads="1"/>
          </p:cNvSpPr>
          <p:nvPr/>
        </p:nvSpPr>
        <p:spPr bwMode="auto">
          <a:xfrm>
            <a:off x="4342038" y="3673209"/>
            <a:ext cx="354012" cy="144462"/>
          </a:xfrm>
          <a:prstGeom prst="curvedDownArrow">
            <a:avLst>
              <a:gd name="adj1" fmla="val 49533"/>
              <a:gd name="adj2" fmla="val 94777"/>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a:p>
        </p:txBody>
      </p:sp>
      <p:sp>
        <p:nvSpPr>
          <p:cNvPr id="84015" name="AutoShape 163"/>
          <p:cNvSpPr>
            <a:spLocks noChangeArrowheads="1"/>
          </p:cNvSpPr>
          <p:nvPr/>
        </p:nvSpPr>
        <p:spPr bwMode="auto">
          <a:xfrm>
            <a:off x="4677000" y="3673209"/>
            <a:ext cx="354013" cy="144462"/>
          </a:xfrm>
          <a:prstGeom prst="curvedDownArrow">
            <a:avLst>
              <a:gd name="adj1" fmla="val 49533"/>
              <a:gd name="adj2" fmla="val 94778"/>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a:p>
        </p:txBody>
      </p:sp>
      <p:sp>
        <p:nvSpPr>
          <p:cNvPr id="84016" name="AutoShape 164"/>
          <p:cNvSpPr>
            <a:spLocks noChangeArrowheads="1"/>
          </p:cNvSpPr>
          <p:nvPr/>
        </p:nvSpPr>
        <p:spPr bwMode="auto">
          <a:xfrm>
            <a:off x="5011963" y="3673209"/>
            <a:ext cx="355600" cy="144462"/>
          </a:xfrm>
          <a:prstGeom prst="curvedDownArrow">
            <a:avLst>
              <a:gd name="adj1" fmla="val 49755"/>
              <a:gd name="adj2" fmla="val 95203"/>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a:p>
        </p:txBody>
      </p:sp>
      <p:sp>
        <p:nvSpPr>
          <p:cNvPr id="84017" name="AutoShape 165"/>
          <p:cNvSpPr>
            <a:spLocks noChangeArrowheads="1"/>
          </p:cNvSpPr>
          <p:nvPr/>
        </p:nvSpPr>
        <p:spPr bwMode="auto">
          <a:xfrm>
            <a:off x="2636336" y="3673209"/>
            <a:ext cx="985837" cy="144462"/>
          </a:xfrm>
          <a:prstGeom prst="rightArrow">
            <a:avLst>
              <a:gd name="adj1" fmla="val 58333"/>
              <a:gd name="adj2" fmla="val 110230"/>
            </a:avLst>
          </a:prstGeom>
          <a:solidFill>
            <a:srgbClr val="00B050"/>
          </a:solidFill>
          <a:ln w="9525">
            <a:solidFill>
              <a:schemeClr val="tx1"/>
            </a:solidFill>
            <a:miter lim="800000"/>
            <a:headEnd type="none" w="sm" len="lg"/>
            <a:tailEnd type="none" w="sm" len="lg"/>
          </a:ln>
        </p:spPr>
        <p:txBody>
          <a:bodyPr wrap="none" anchor="ctr"/>
          <a:lstStyle/>
          <a:p>
            <a:endParaRPr lang="zh-CN" altLang="en-US"/>
          </a:p>
        </p:txBody>
      </p:sp>
      <p:sp>
        <p:nvSpPr>
          <p:cNvPr id="84018" name="AutoShape 166"/>
          <p:cNvSpPr>
            <a:spLocks noChangeArrowheads="1"/>
          </p:cNvSpPr>
          <p:nvPr/>
        </p:nvSpPr>
        <p:spPr bwMode="auto">
          <a:xfrm>
            <a:off x="6148657"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a:p>
        </p:txBody>
      </p:sp>
      <p:sp>
        <p:nvSpPr>
          <p:cNvPr id="84019" name="AutoShape 167"/>
          <p:cNvSpPr>
            <a:spLocks noChangeArrowheads="1"/>
          </p:cNvSpPr>
          <p:nvPr/>
        </p:nvSpPr>
        <p:spPr bwMode="auto">
          <a:xfrm>
            <a:off x="6464570"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a:p>
        </p:txBody>
      </p:sp>
      <p:sp>
        <p:nvSpPr>
          <p:cNvPr id="84020" name="AutoShape 168"/>
          <p:cNvSpPr>
            <a:spLocks noChangeArrowheads="1"/>
          </p:cNvSpPr>
          <p:nvPr/>
        </p:nvSpPr>
        <p:spPr bwMode="auto">
          <a:xfrm>
            <a:off x="6780482"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a:p>
        </p:txBody>
      </p:sp>
      <p:sp>
        <p:nvSpPr>
          <p:cNvPr id="84021" name="Text Box 169"/>
          <p:cNvSpPr txBox="1">
            <a:spLocks noChangeArrowheads="1"/>
          </p:cNvSpPr>
          <p:nvPr/>
        </p:nvSpPr>
        <p:spPr bwMode="auto">
          <a:xfrm>
            <a:off x="1941129" y="3502089"/>
            <a:ext cx="492125" cy="646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数据</a:t>
            </a:r>
            <a:endParaRPr lang="en-US" altLang="zh-CN" sz="1200" b="1" dirty="0">
              <a:solidFill>
                <a:srgbClr val="0000FF"/>
              </a:solidFill>
              <a:latin typeface="微软雅黑" panose="020B0503020204020204" pitchFamily="34" charset="-122"/>
              <a:ea typeface="微软雅黑" panose="020B0503020204020204" pitchFamily="34" charset="-122"/>
            </a:endParaRP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传送</a:t>
            </a: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特点</a:t>
            </a:r>
          </a:p>
        </p:txBody>
      </p:sp>
      <p:sp>
        <p:nvSpPr>
          <p:cNvPr id="103" name="Text Box 170"/>
          <p:cNvSpPr txBox="1">
            <a:spLocks noChangeArrowheads="1"/>
          </p:cNvSpPr>
          <p:nvPr/>
        </p:nvSpPr>
        <p:spPr bwMode="auto">
          <a:xfrm>
            <a:off x="2525211" y="3471596"/>
            <a:ext cx="1171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比特流直达终点</a:t>
            </a:r>
          </a:p>
        </p:txBody>
      </p:sp>
      <p:sp>
        <p:nvSpPr>
          <p:cNvPr id="104" name="Text Box 171"/>
          <p:cNvSpPr txBox="1">
            <a:spLocks noChangeArrowheads="1"/>
          </p:cNvSpPr>
          <p:nvPr/>
        </p:nvSpPr>
        <p:spPr bwMode="auto">
          <a:xfrm>
            <a:off x="4300763"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5" name="Text Box 172"/>
          <p:cNvSpPr txBox="1">
            <a:spLocks noChangeArrowheads="1"/>
          </p:cNvSpPr>
          <p:nvPr/>
        </p:nvSpPr>
        <p:spPr bwMode="auto">
          <a:xfrm>
            <a:off x="4640488"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6" name="Text Box 173"/>
          <p:cNvSpPr txBox="1">
            <a:spLocks noChangeArrowheads="1"/>
          </p:cNvSpPr>
          <p:nvPr/>
        </p:nvSpPr>
        <p:spPr bwMode="auto">
          <a:xfrm>
            <a:off x="497545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7" name="Text Box 174"/>
          <p:cNvSpPr txBox="1">
            <a:spLocks noChangeArrowheads="1"/>
          </p:cNvSpPr>
          <p:nvPr/>
        </p:nvSpPr>
        <p:spPr bwMode="auto">
          <a:xfrm>
            <a:off x="6028007"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8" name="Text Box 175"/>
          <p:cNvSpPr txBox="1">
            <a:spLocks noChangeArrowheads="1"/>
          </p:cNvSpPr>
          <p:nvPr/>
        </p:nvSpPr>
        <p:spPr bwMode="auto">
          <a:xfrm>
            <a:off x="6353445"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9" name="Text Box 176"/>
          <p:cNvSpPr txBox="1">
            <a:spLocks noChangeArrowheads="1"/>
          </p:cNvSpPr>
          <p:nvPr/>
        </p:nvSpPr>
        <p:spPr bwMode="auto">
          <a:xfrm>
            <a:off x="668047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10" name="Text Box 177"/>
          <p:cNvSpPr txBox="1">
            <a:spLocks noChangeArrowheads="1"/>
          </p:cNvSpPr>
          <p:nvPr/>
        </p:nvSpPr>
        <p:spPr bwMode="auto">
          <a:xfrm>
            <a:off x="4202338"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14" name="组合 113"/>
          <p:cNvGrpSpPr/>
          <p:nvPr/>
        </p:nvGrpSpPr>
        <p:grpSpPr bwMode="auto">
          <a:xfrm>
            <a:off x="6085973" y="1422134"/>
            <a:ext cx="668338" cy="280987"/>
            <a:chOff x="6125279" y="1930603"/>
            <a:chExt cx="1019406" cy="426741"/>
          </a:xfrm>
        </p:grpSpPr>
        <p:grpSp>
          <p:nvGrpSpPr>
            <p:cNvPr id="84074" name="Group 134"/>
            <p:cNvGrpSpPr/>
            <p:nvPr/>
          </p:nvGrpSpPr>
          <p:grpSpPr bwMode="auto">
            <a:xfrm>
              <a:off x="6686328" y="2069332"/>
              <a:ext cx="458357" cy="247387"/>
              <a:chOff x="4653" y="1650"/>
              <a:chExt cx="366" cy="214"/>
            </a:xfrm>
          </p:grpSpPr>
          <p:sp>
            <p:nvSpPr>
              <p:cNvPr id="84083" name="AutoShape 4"/>
              <p:cNvSpPr>
                <a:spLocks noChangeArrowheads="1"/>
              </p:cNvSpPr>
              <p:nvPr/>
            </p:nvSpPr>
            <p:spPr bwMode="auto">
              <a:xfrm rot="5400000">
                <a:off x="4733" y="1579"/>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4" name="Line 6"/>
              <p:cNvSpPr>
                <a:spLocks noChangeShapeType="1"/>
              </p:cNvSpPr>
              <p:nvPr/>
            </p:nvSpPr>
            <p:spPr bwMode="auto">
              <a:xfrm>
                <a:off x="4656" y="165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85" name="Line 7"/>
              <p:cNvSpPr>
                <a:spLocks noChangeShapeType="1"/>
              </p:cNvSpPr>
              <p:nvPr/>
            </p:nvSpPr>
            <p:spPr bwMode="auto">
              <a:xfrm>
                <a:off x="4653" y="1801"/>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84075" name="Group 131"/>
            <p:cNvGrpSpPr/>
            <p:nvPr/>
          </p:nvGrpSpPr>
          <p:grpSpPr bwMode="auto">
            <a:xfrm>
              <a:off x="6125279" y="1930603"/>
              <a:ext cx="561050" cy="351427"/>
              <a:chOff x="4205" y="1530"/>
              <a:chExt cx="448" cy="304"/>
            </a:xfrm>
          </p:grpSpPr>
          <p:sp>
            <p:nvSpPr>
              <p:cNvPr id="84078" name="AutoShape 44"/>
              <p:cNvSpPr>
                <a:spLocks noChangeArrowheads="1"/>
              </p:cNvSpPr>
              <p:nvPr/>
            </p:nvSpPr>
            <p:spPr bwMode="auto">
              <a:xfrm rot="5400000">
                <a:off x="4367" y="151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9" name="Text Box 45"/>
              <p:cNvSpPr txBox="1">
                <a:spLocks noChangeArrowheads="1"/>
              </p:cNvSpPr>
              <p:nvPr/>
            </p:nvSpPr>
            <p:spPr bwMode="auto">
              <a:xfrm rot="626605">
                <a:off x="4205" y="153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80" name="Line 47"/>
              <p:cNvSpPr>
                <a:spLocks noChangeShapeType="1"/>
              </p:cNvSpPr>
              <p:nvPr/>
            </p:nvSpPr>
            <p:spPr bwMode="auto">
              <a:xfrm>
                <a:off x="4286" y="1738"/>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81" name="AutoShape 48"/>
              <p:cNvSpPr>
                <a:spLocks noChangeArrowheads="1"/>
              </p:cNvSpPr>
              <p:nvPr/>
            </p:nvSpPr>
            <p:spPr bwMode="auto">
              <a:xfrm rot="746037">
                <a:off x="4493" y="1652"/>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2" name="Line 46"/>
              <p:cNvSpPr>
                <a:spLocks noChangeShapeType="1"/>
              </p:cNvSpPr>
              <p:nvPr/>
            </p:nvSpPr>
            <p:spPr bwMode="auto">
              <a:xfrm>
                <a:off x="4290" y="158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4076" name="Text Box 5"/>
            <p:cNvSpPr txBox="1">
              <a:spLocks noChangeArrowheads="1"/>
            </p:cNvSpPr>
            <p:nvPr/>
          </p:nvSpPr>
          <p:spPr bwMode="auto">
            <a:xfrm rot="626605">
              <a:off x="6584756" y="2005580"/>
              <a:ext cx="503711" cy="35176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77" name="AutoShape 8"/>
            <p:cNvSpPr>
              <a:spLocks noChangeArrowheads="1"/>
            </p:cNvSpPr>
            <p:nvPr/>
          </p:nvSpPr>
          <p:spPr bwMode="auto">
            <a:xfrm rot="746037">
              <a:off x="6929283" y="2144470"/>
              <a:ext cx="166561" cy="145658"/>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27" name="组合 126"/>
          <p:cNvGrpSpPr/>
          <p:nvPr/>
        </p:nvGrpSpPr>
        <p:grpSpPr bwMode="auto">
          <a:xfrm>
            <a:off x="6084386" y="1557071"/>
            <a:ext cx="966787" cy="333375"/>
            <a:chOff x="6124016" y="2136378"/>
            <a:chExt cx="1473997" cy="508646"/>
          </a:xfrm>
        </p:grpSpPr>
        <p:grpSp>
          <p:nvGrpSpPr>
            <p:cNvPr id="84056" name="Group 135"/>
            <p:cNvGrpSpPr/>
            <p:nvPr/>
          </p:nvGrpSpPr>
          <p:grpSpPr bwMode="auto">
            <a:xfrm>
              <a:off x="6680052" y="2276252"/>
              <a:ext cx="459609" cy="247386"/>
              <a:chOff x="4648" y="1829"/>
              <a:chExt cx="367" cy="214"/>
            </a:xfrm>
          </p:grpSpPr>
          <p:sp>
            <p:nvSpPr>
              <p:cNvPr id="84071" name="AutoShape 9"/>
              <p:cNvSpPr>
                <a:spLocks noChangeArrowheads="1"/>
              </p:cNvSpPr>
              <p:nvPr/>
            </p:nvSpPr>
            <p:spPr bwMode="auto">
              <a:xfrm rot="5400000">
                <a:off x="4729" y="1758"/>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2" name="Line 11"/>
              <p:cNvSpPr>
                <a:spLocks noChangeShapeType="1"/>
              </p:cNvSpPr>
              <p:nvPr/>
            </p:nvSpPr>
            <p:spPr bwMode="auto">
              <a:xfrm>
                <a:off x="4652" y="1829"/>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73" name="Line 12"/>
              <p:cNvSpPr>
                <a:spLocks noChangeShapeType="1"/>
              </p:cNvSpPr>
              <p:nvPr/>
            </p:nvSpPr>
            <p:spPr bwMode="auto">
              <a:xfrm>
                <a:off x="4648" y="198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84057" name="Group 139"/>
            <p:cNvGrpSpPr/>
            <p:nvPr/>
          </p:nvGrpSpPr>
          <p:grpSpPr bwMode="auto">
            <a:xfrm>
              <a:off x="7023189" y="2293596"/>
              <a:ext cx="574824" cy="351428"/>
              <a:chOff x="4922" y="1844"/>
              <a:chExt cx="459" cy="304"/>
            </a:xfrm>
          </p:grpSpPr>
          <p:sp>
            <p:nvSpPr>
              <p:cNvPr id="84066" name="AutoShape 24"/>
              <p:cNvSpPr>
                <a:spLocks noChangeArrowheads="1"/>
              </p:cNvSpPr>
              <p:nvPr/>
            </p:nvSpPr>
            <p:spPr bwMode="auto">
              <a:xfrm rot="5400000">
                <a:off x="5096" y="1821"/>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7" name="Text Box 25"/>
              <p:cNvSpPr txBox="1">
                <a:spLocks noChangeArrowheads="1"/>
              </p:cNvSpPr>
              <p:nvPr/>
            </p:nvSpPr>
            <p:spPr bwMode="auto">
              <a:xfrm rot="626605">
                <a:off x="4922" y="184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68" name="Line 26"/>
              <p:cNvSpPr>
                <a:spLocks noChangeShapeType="1"/>
              </p:cNvSpPr>
              <p:nvPr/>
            </p:nvSpPr>
            <p:spPr bwMode="auto">
              <a:xfrm>
                <a:off x="5018" y="189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69" name="Line 27"/>
              <p:cNvSpPr>
                <a:spLocks noChangeShapeType="1"/>
              </p:cNvSpPr>
              <p:nvPr/>
            </p:nvSpPr>
            <p:spPr bwMode="auto">
              <a:xfrm>
                <a:off x="5015" y="2043"/>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70" name="AutoShape 28"/>
              <p:cNvSpPr>
                <a:spLocks noChangeArrowheads="1"/>
              </p:cNvSpPr>
              <p:nvPr/>
            </p:nvSpPr>
            <p:spPr bwMode="auto">
              <a:xfrm rot="746037">
                <a:off x="5209" y="1957"/>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058" name="Group 132"/>
            <p:cNvGrpSpPr/>
            <p:nvPr/>
          </p:nvGrpSpPr>
          <p:grpSpPr bwMode="auto">
            <a:xfrm>
              <a:off x="6124016" y="2136378"/>
              <a:ext cx="566057" cy="351428"/>
              <a:chOff x="4204" y="1708"/>
              <a:chExt cx="452" cy="304"/>
            </a:xfrm>
          </p:grpSpPr>
          <p:sp>
            <p:nvSpPr>
              <p:cNvPr id="84061" name="AutoShape 49"/>
              <p:cNvSpPr>
                <a:spLocks noChangeArrowheads="1"/>
              </p:cNvSpPr>
              <p:nvPr/>
            </p:nvSpPr>
            <p:spPr bwMode="auto">
              <a:xfrm rot="5400000">
                <a:off x="4371" y="1691"/>
                <a:ext cx="210" cy="360"/>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2" name="Text Box 50"/>
              <p:cNvSpPr txBox="1">
                <a:spLocks noChangeArrowheads="1"/>
              </p:cNvSpPr>
              <p:nvPr/>
            </p:nvSpPr>
            <p:spPr bwMode="auto">
              <a:xfrm rot="626605">
                <a:off x="4204" y="1708"/>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sp>
            <p:nvSpPr>
              <p:cNvPr id="84063" name="Line 51"/>
              <p:cNvSpPr>
                <a:spLocks noChangeShapeType="1"/>
              </p:cNvSpPr>
              <p:nvPr/>
            </p:nvSpPr>
            <p:spPr bwMode="auto">
              <a:xfrm>
                <a:off x="4294" y="1762"/>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64" name="Line 52"/>
              <p:cNvSpPr>
                <a:spLocks noChangeShapeType="1"/>
              </p:cNvSpPr>
              <p:nvPr/>
            </p:nvSpPr>
            <p:spPr bwMode="auto">
              <a:xfrm>
                <a:off x="4290" y="1913"/>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65" name="AutoShape 53"/>
              <p:cNvSpPr>
                <a:spLocks noChangeArrowheads="1"/>
              </p:cNvSpPr>
              <p:nvPr/>
            </p:nvSpPr>
            <p:spPr bwMode="auto">
              <a:xfrm rot="746037">
                <a:off x="4496" y="1827"/>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59" name="Text Box 10"/>
            <p:cNvSpPr txBox="1">
              <a:spLocks noChangeArrowheads="1"/>
            </p:cNvSpPr>
            <p:nvPr/>
          </p:nvSpPr>
          <p:spPr bwMode="auto">
            <a:xfrm rot="626605">
              <a:off x="6570965" y="221250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60" name="AutoShape 13"/>
            <p:cNvSpPr>
              <a:spLocks noChangeArrowheads="1"/>
            </p:cNvSpPr>
            <p:nvPr/>
          </p:nvSpPr>
          <p:spPr bwMode="auto">
            <a:xfrm rot="746037">
              <a:off x="6924259" y="2351391"/>
              <a:ext cx="165309" cy="145657"/>
            </a:xfrm>
            <a:prstGeom prst="rightArrow">
              <a:avLst>
                <a:gd name="adj1" fmla="val 50000"/>
                <a:gd name="adj2" fmla="val 26192"/>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80" name="组合 179"/>
          <p:cNvGrpSpPr/>
          <p:nvPr/>
        </p:nvGrpSpPr>
        <p:grpSpPr bwMode="auto">
          <a:xfrm>
            <a:off x="6673348" y="2039671"/>
            <a:ext cx="431800" cy="312738"/>
            <a:chOff x="7021271" y="2851447"/>
            <a:chExt cx="657481" cy="475119"/>
          </a:xfrm>
        </p:grpSpPr>
        <p:sp>
          <p:nvSpPr>
            <p:cNvPr id="84049" name="AutoShape 54"/>
            <p:cNvSpPr>
              <a:spLocks noChangeArrowheads="1"/>
            </p:cNvSpPr>
            <p:nvPr/>
          </p:nvSpPr>
          <p:spPr bwMode="auto">
            <a:xfrm rot="5400000">
              <a:off x="7244991" y="2836979"/>
              <a:ext cx="243919" cy="449589"/>
            </a:xfrm>
            <a:prstGeom prst="parallelogram">
              <a:avLst>
                <a:gd name="adj" fmla="val 29162"/>
              </a:avLst>
            </a:prstGeom>
            <a:solidFill>
              <a:srgbClr val="C000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50" name="组合 181"/>
            <p:cNvGrpSpPr/>
            <p:nvPr/>
          </p:nvGrpSpPr>
          <p:grpSpPr bwMode="auto">
            <a:xfrm>
              <a:off x="7021271" y="2851447"/>
              <a:ext cx="657481" cy="475119"/>
              <a:chOff x="7021271" y="2851447"/>
              <a:chExt cx="657481" cy="475119"/>
            </a:xfrm>
          </p:grpSpPr>
          <p:grpSp>
            <p:nvGrpSpPr>
              <p:cNvPr id="84051" name="Group 142"/>
              <p:cNvGrpSpPr/>
              <p:nvPr/>
            </p:nvGrpSpPr>
            <p:grpSpPr bwMode="auto">
              <a:xfrm>
                <a:off x="7021271" y="2851447"/>
                <a:ext cx="657481" cy="475119"/>
                <a:chOff x="4917" y="2326"/>
                <a:chExt cx="525" cy="411"/>
              </a:xfrm>
            </p:grpSpPr>
            <p:sp>
              <p:nvSpPr>
                <p:cNvPr id="84054" name="AutoShape 39"/>
                <p:cNvSpPr>
                  <a:spLocks noChangeArrowheads="1"/>
                </p:cNvSpPr>
                <p:nvPr/>
              </p:nvSpPr>
              <p:spPr bwMode="auto">
                <a:xfrm rot="5400000">
                  <a:off x="4999" y="2295"/>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55" name="Text Box 40"/>
                <p:cNvSpPr txBox="1">
                  <a:spLocks noChangeArrowheads="1"/>
                </p:cNvSpPr>
                <p:nvPr/>
              </p:nvSpPr>
              <p:spPr bwMode="auto">
                <a:xfrm rot="626605">
                  <a:off x="4917" y="235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grpSp>
          <p:sp>
            <p:nvSpPr>
              <p:cNvPr id="84052" name="Line 112"/>
              <p:cNvSpPr>
                <a:spLocks noChangeShapeType="1"/>
              </p:cNvSpPr>
              <p:nvPr/>
            </p:nvSpPr>
            <p:spPr bwMode="auto">
              <a:xfrm>
                <a:off x="7129282" y="3113994"/>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53" name="AutoShape 38"/>
              <p:cNvSpPr>
                <a:spLocks noChangeArrowheads="1"/>
              </p:cNvSpPr>
              <p:nvPr/>
            </p:nvSpPr>
            <p:spPr bwMode="auto">
              <a:xfrm rot="746037">
                <a:off x="7396188" y="300788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sp>
        <p:nvSpPr>
          <p:cNvPr id="190" name="Text Box 177"/>
          <p:cNvSpPr txBox="1">
            <a:spLocks noChangeArrowheads="1"/>
          </p:cNvSpPr>
          <p:nvPr/>
        </p:nvSpPr>
        <p:spPr bwMode="auto">
          <a:xfrm>
            <a:off x="481987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1" name="Text Box 177"/>
          <p:cNvSpPr txBox="1">
            <a:spLocks noChangeArrowheads="1"/>
          </p:cNvSpPr>
          <p:nvPr/>
        </p:nvSpPr>
        <p:spPr bwMode="auto">
          <a:xfrm>
            <a:off x="5919286" y="4000234"/>
            <a:ext cx="722312"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2" name="Text Box 177"/>
          <p:cNvSpPr txBox="1">
            <a:spLocks noChangeArrowheads="1"/>
          </p:cNvSpPr>
          <p:nvPr/>
        </p:nvSpPr>
        <p:spPr bwMode="auto">
          <a:xfrm>
            <a:off x="654394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96" name="组合 195"/>
          <p:cNvGrpSpPr/>
          <p:nvPr/>
        </p:nvGrpSpPr>
        <p:grpSpPr bwMode="auto">
          <a:xfrm>
            <a:off x="1715586" y="1339584"/>
            <a:ext cx="884237" cy="611187"/>
            <a:chOff x="1986461" y="1436989"/>
            <a:chExt cx="883227" cy="610785"/>
          </a:xfrm>
        </p:grpSpPr>
        <p:grpSp>
          <p:nvGrpSpPr>
            <p:cNvPr id="84041" name="Group 122"/>
            <p:cNvGrpSpPr/>
            <p:nvPr/>
          </p:nvGrpSpPr>
          <p:grpSpPr bwMode="auto">
            <a:xfrm>
              <a:off x="1986461" y="1436989"/>
              <a:ext cx="800435" cy="587904"/>
              <a:chOff x="71" y="1473"/>
              <a:chExt cx="974" cy="775"/>
            </a:xfrm>
          </p:grpSpPr>
          <p:sp>
            <p:nvSpPr>
              <p:cNvPr id="84045" name="Line 92"/>
              <p:cNvSpPr>
                <a:spLocks noChangeShapeType="1"/>
              </p:cNvSpPr>
              <p:nvPr/>
            </p:nvSpPr>
            <p:spPr bwMode="auto">
              <a:xfrm>
                <a:off x="630" y="1474"/>
                <a:ext cx="182"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a:p>
            </p:txBody>
          </p:sp>
          <p:sp>
            <p:nvSpPr>
              <p:cNvPr id="84046" name="Line 94"/>
              <p:cNvSpPr>
                <a:spLocks noChangeShapeType="1"/>
              </p:cNvSpPr>
              <p:nvPr/>
            </p:nvSpPr>
            <p:spPr bwMode="auto">
              <a:xfrm>
                <a:off x="622" y="2248"/>
                <a:ext cx="181"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a:p>
            </p:txBody>
          </p:sp>
          <p:sp>
            <p:nvSpPr>
              <p:cNvPr id="84047" name="Text Box 95"/>
              <p:cNvSpPr txBox="1">
                <a:spLocks noChangeArrowheads="1"/>
              </p:cNvSpPr>
              <p:nvPr/>
            </p:nvSpPr>
            <p:spPr bwMode="auto">
              <a:xfrm>
                <a:off x="71" y="17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连接建立</a:t>
                </a:r>
              </a:p>
            </p:txBody>
          </p:sp>
          <p:sp>
            <p:nvSpPr>
              <p:cNvPr id="84048" name="Line 97"/>
              <p:cNvSpPr>
                <a:spLocks noChangeShapeType="1"/>
              </p:cNvSpPr>
              <p:nvPr/>
            </p:nvSpPr>
            <p:spPr bwMode="auto">
              <a:xfrm>
                <a:off x="720" y="1473"/>
                <a:ext cx="0" cy="759"/>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a:p>
            </p:txBody>
          </p:sp>
        </p:grpSp>
        <p:sp>
          <p:nvSpPr>
            <p:cNvPr id="84042" name="Line 98"/>
            <p:cNvSpPr>
              <a:spLocks noChangeShapeType="1"/>
            </p:cNvSpPr>
            <p:nvPr/>
          </p:nvSpPr>
          <p:spPr bwMode="auto">
            <a:xfrm>
              <a:off x="2785557" y="1492950"/>
              <a:ext cx="0" cy="504318"/>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43" name="Line 93"/>
            <p:cNvSpPr>
              <a:spLocks noChangeShapeType="1"/>
            </p:cNvSpPr>
            <p:nvPr/>
          </p:nvSpPr>
          <p:spPr bwMode="auto">
            <a:xfrm>
              <a:off x="2708145" y="2047774"/>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44" name="Line 93"/>
            <p:cNvSpPr>
              <a:spLocks noChangeShapeType="1"/>
            </p:cNvSpPr>
            <p:nvPr/>
          </p:nvSpPr>
          <p:spPr bwMode="auto">
            <a:xfrm>
              <a:off x="2720120" y="1448209"/>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4037" name="Line 102"/>
          <p:cNvSpPr>
            <a:spLocks noChangeShapeType="1"/>
          </p:cNvSpPr>
          <p:nvPr/>
        </p:nvSpPr>
        <p:spPr bwMode="auto">
          <a:xfrm>
            <a:off x="6751136" y="13221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38" name="Line 103"/>
          <p:cNvSpPr>
            <a:spLocks noChangeShapeType="1"/>
          </p:cNvSpPr>
          <p:nvPr/>
        </p:nvSpPr>
        <p:spPr bwMode="auto">
          <a:xfrm>
            <a:off x="64574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39" name="Line 101"/>
          <p:cNvSpPr>
            <a:spLocks noChangeShapeType="1"/>
          </p:cNvSpPr>
          <p:nvPr/>
        </p:nvSpPr>
        <p:spPr bwMode="auto">
          <a:xfrm>
            <a:off x="7049586" y="132847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40" name="Line 115"/>
          <p:cNvSpPr>
            <a:spLocks noChangeShapeType="1"/>
          </p:cNvSpPr>
          <p:nvPr/>
        </p:nvSpPr>
        <p:spPr bwMode="auto">
          <a:xfrm>
            <a:off x="6154236" y="13094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文本占位符 2"/>
          <p:cNvSpPr>
            <a:spLocks noGrp="1"/>
          </p:cNvSpPr>
          <p:nvPr>
            <p:ph type="body" sz="quarter" idx="10"/>
          </p:nvPr>
        </p:nvSpPr>
        <p:spPr/>
        <p:txBody>
          <a:bodyPr/>
          <a:lstStyle/>
          <a:p>
            <a:r>
              <a:rPr lang="zh-CN" altLang="en-US" dirty="0"/>
              <a:t>电路交换、报文交换和分组交换的主要区别</a:t>
            </a:r>
          </a:p>
        </p:txBody>
      </p:sp>
    </p:spTree>
    <p:extLst>
      <p:ext uri="{BB962C8B-B14F-4D97-AF65-F5344CB8AC3E}">
        <p14:creationId xmlns:p14="http://schemas.microsoft.com/office/powerpoint/2010/main" val="36042741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1000"/>
                                  </p:stCondLst>
                                  <p:childTnLst>
                                    <p:set>
                                      <p:cBhvr>
                                        <p:cTn id="6" dur="1" fill="hold">
                                          <p:stCondLst>
                                            <p:cond delay="0"/>
                                          </p:stCondLst>
                                        </p:cTn>
                                        <p:tgtEl>
                                          <p:spTgt spid="196"/>
                                        </p:tgtEl>
                                        <p:attrNameLst>
                                          <p:attrName>style.visibility</p:attrName>
                                        </p:attrNameLst>
                                      </p:cBhvr>
                                      <p:to>
                                        <p:strVal val="visible"/>
                                      </p:to>
                                    </p:set>
                                    <p:animEffect transition="in" filter="wipe(left)">
                                      <p:cBhvr>
                                        <p:cTn id="7" dur="1000"/>
                                        <p:tgtEl>
                                          <p:spTgt spid="196"/>
                                        </p:tgtEl>
                                      </p:cBhvr>
                                    </p:animEffect>
                                  </p:childTnLst>
                                </p:cTn>
                              </p:par>
                            </p:childTnLst>
                          </p:cTn>
                        </p:par>
                        <p:par>
                          <p:cTn id="8" fill="hold">
                            <p:stCondLst>
                              <p:cond delay="2000"/>
                            </p:stCondLst>
                            <p:childTnLst>
                              <p:par>
                                <p:cTn id="9" presetID="22" presetClass="entr" presetSubtype="8"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left)">
                                      <p:cBhvr>
                                        <p:cTn id="11" dur="1000"/>
                                        <p:tgtEl>
                                          <p:spTgt spid="28"/>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wipe(left)">
                                      <p:cBhvr>
                                        <p:cTn id="15" dur="1000"/>
                                        <p:tgtEl>
                                          <p:spTgt spid="29"/>
                                        </p:tgtEl>
                                      </p:cBhvr>
                                    </p:animEffect>
                                  </p:childTnLst>
                                </p:cTn>
                              </p:par>
                            </p:childTnLst>
                          </p:cTn>
                        </p:par>
                        <p:par>
                          <p:cTn id="16" fill="hold">
                            <p:stCondLst>
                              <p:cond delay="4000"/>
                            </p:stCondLst>
                            <p:childTnLst>
                              <p:par>
                                <p:cTn id="17" presetID="22" presetClass="entr" presetSubtype="8" fill="hold" grpId="0" nodeType="after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left)">
                                      <p:cBhvr>
                                        <p:cTn id="19" dur="1000"/>
                                        <p:tgtEl>
                                          <p:spTgt spid="30"/>
                                        </p:tgtEl>
                                      </p:cBhvr>
                                    </p:animEffect>
                                  </p:childTnLst>
                                </p:cTn>
                              </p:par>
                            </p:childTnLst>
                          </p:cTn>
                        </p:par>
                        <p:par>
                          <p:cTn id="20" fill="hold">
                            <p:stCondLst>
                              <p:cond delay="5000"/>
                            </p:stCondLst>
                            <p:childTnLst>
                              <p:par>
                                <p:cTn id="21" presetID="22" presetClass="entr" presetSubtype="2" fill="hold" grpId="0" nodeType="after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wipe(right)">
                                      <p:cBhvr>
                                        <p:cTn id="23" dur="1000"/>
                                        <p:tgtEl>
                                          <p:spTgt spid="31"/>
                                        </p:tgtEl>
                                      </p:cBhvr>
                                    </p:animEffect>
                                  </p:childTnLst>
                                </p:cTn>
                              </p:par>
                            </p:childTnLst>
                          </p:cTn>
                        </p:par>
                        <p:par>
                          <p:cTn id="24" fill="hold">
                            <p:stCondLst>
                              <p:cond delay="6000"/>
                            </p:stCondLst>
                            <p:childTnLst>
                              <p:par>
                                <p:cTn id="25" presetID="22" presetClass="entr" presetSubtype="8" fill="hold" nodeType="after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wipe(left)">
                                      <p:cBhvr>
                                        <p:cTn id="27" dur="1000"/>
                                        <p:tgtEl>
                                          <p:spTgt spid="42"/>
                                        </p:tgtEl>
                                      </p:cBhvr>
                                    </p:animEffect>
                                  </p:childTnLst>
                                </p:cTn>
                              </p:par>
                            </p:childTnLst>
                          </p:cTn>
                        </p:par>
                        <p:par>
                          <p:cTn id="28" fill="hold">
                            <p:stCondLst>
                              <p:cond delay="7000"/>
                            </p:stCondLst>
                            <p:childTnLst>
                              <p:par>
                                <p:cTn id="29" presetID="22" presetClass="entr" presetSubtype="8" fill="hold" nodeType="afterEffect">
                                  <p:stCondLst>
                                    <p:cond delay="0"/>
                                  </p:stCondLst>
                                  <p:childTnLst>
                                    <p:set>
                                      <p:cBhvr>
                                        <p:cTn id="30" dur="1" fill="hold">
                                          <p:stCondLst>
                                            <p:cond delay="0"/>
                                          </p:stCondLst>
                                        </p:cTn>
                                        <p:tgtEl>
                                          <p:spTgt spid="54"/>
                                        </p:tgtEl>
                                        <p:attrNameLst>
                                          <p:attrName>style.visibility</p:attrName>
                                        </p:attrNameLst>
                                      </p:cBhvr>
                                      <p:to>
                                        <p:strVal val="visible"/>
                                      </p:to>
                                    </p:set>
                                    <p:animEffect transition="in" filter="wipe(left)">
                                      <p:cBhvr>
                                        <p:cTn id="31" dur="1000"/>
                                        <p:tgtEl>
                                          <p:spTgt spid="54"/>
                                        </p:tgtEl>
                                      </p:cBhvr>
                                    </p:animEffect>
                                  </p:childTnLst>
                                </p:cTn>
                              </p:par>
                            </p:childTnLst>
                          </p:cTn>
                        </p:par>
                        <p:par>
                          <p:cTn id="32" fill="hold">
                            <p:stCondLst>
                              <p:cond delay="8000"/>
                            </p:stCondLst>
                            <p:childTnLst>
                              <p:par>
                                <p:cTn id="33" presetID="22" presetClass="entr" presetSubtype="8" fill="hold" nodeType="afterEffect">
                                  <p:stCondLst>
                                    <p:cond delay="0"/>
                                  </p:stCondLst>
                                  <p:childTnLst>
                                    <p:set>
                                      <p:cBhvr>
                                        <p:cTn id="34" dur="1" fill="hold">
                                          <p:stCondLst>
                                            <p:cond delay="0"/>
                                          </p:stCondLst>
                                        </p:cTn>
                                        <p:tgtEl>
                                          <p:spTgt spid="71"/>
                                        </p:tgtEl>
                                        <p:attrNameLst>
                                          <p:attrName>style.visibility</p:attrName>
                                        </p:attrNameLst>
                                      </p:cBhvr>
                                      <p:to>
                                        <p:strVal val="visible"/>
                                      </p:to>
                                    </p:set>
                                    <p:animEffect transition="in" filter="wipe(left)">
                                      <p:cBhvr>
                                        <p:cTn id="35" dur="1000"/>
                                        <p:tgtEl>
                                          <p:spTgt spid="71"/>
                                        </p:tgtEl>
                                      </p:cBhvr>
                                    </p:animEffect>
                                  </p:childTnLst>
                                </p:cTn>
                              </p:par>
                            </p:childTnLst>
                          </p:cTn>
                        </p:par>
                        <p:par>
                          <p:cTn id="36" fill="hold">
                            <p:stCondLst>
                              <p:cond delay="9000"/>
                            </p:stCondLst>
                            <p:childTnLst>
                              <p:par>
                                <p:cTn id="37" presetID="22" presetClass="entr" presetSubtype="8" fill="hold" grpId="0" nodeType="after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wipe(left)">
                                      <p:cBhvr>
                                        <p:cTn id="39" dur="1000"/>
                                        <p:tgtEl>
                                          <p:spTgt spid="68"/>
                                        </p:tgtEl>
                                      </p:cBhvr>
                                    </p:animEffect>
                                  </p:childTnLst>
                                </p:cTn>
                              </p:par>
                            </p:childTnLst>
                          </p:cTn>
                        </p:par>
                        <p:par>
                          <p:cTn id="40" fill="hold">
                            <p:stCondLst>
                              <p:cond delay="10000"/>
                            </p:stCondLst>
                            <p:childTnLst>
                              <p:par>
                                <p:cTn id="41" presetID="22" presetClass="entr" presetSubtype="8" fill="hold" grpId="0" nodeType="afterEffect">
                                  <p:stCondLst>
                                    <p:cond delay="0"/>
                                  </p:stCondLst>
                                  <p:childTnLst>
                                    <p:set>
                                      <p:cBhvr>
                                        <p:cTn id="42" dur="1" fill="hold">
                                          <p:stCondLst>
                                            <p:cond delay="0"/>
                                          </p:stCondLst>
                                        </p:cTn>
                                        <p:tgtEl>
                                          <p:spTgt spid="69"/>
                                        </p:tgtEl>
                                        <p:attrNameLst>
                                          <p:attrName>style.visibility</p:attrName>
                                        </p:attrNameLst>
                                      </p:cBhvr>
                                      <p:to>
                                        <p:strVal val="visible"/>
                                      </p:to>
                                    </p:set>
                                    <p:animEffect transition="in" filter="wipe(left)">
                                      <p:cBhvr>
                                        <p:cTn id="43" dur="1000"/>
                                        <p:tgtEl>
                                          <p:spTgt spid="69"/>
                                        </p:tgtEl>
                                      </p:cBhvr>
                                    </p:animEffect>
                                  </p:childTnLst>
                                </p:cTn>
                              </p:par>
                            </p:childTnLst>
                          </p:cTn>
                        </p:par>
                        <p:par>
                          <p:cTn id="44" fill="hold">
                            <p:stCondLst>
                              <p:cond delay="11000"/>
                            </p:stCondLst>
                            <p:childTnLst>
                              <p:par>
                                <p:cTn id="45" presetID="22" presetClass="entr" presetSubtype="8" fill="hold" grpId="0" nodeType="afterEffect">
                                  <p:stCondLst>
                                    <p:cond delay="0"/>
                                  </p:stCondLst>
                                  <p:childTnLst>
                                    <p:set>
                                      <p:cBhvr>
                                        <p:cTn id="46" dur="1" fill="hold">
                                          <p:stCondLst>
                                            <p:cond delay="0"/>
                                          </p:stCondLst>
                                        </p:cTn>
                                        <p:tgtEl>
                                          <p:spTgt spid="70"/>
                                        </p:tgtEl>
                                        <p:attrNameLst>
                                          <p:attrName>style.visibility</p:attrName>
                                        </p:attrNameLst>
                                      </p:cBhvr>
                                      <p:to>
                                        <p:strVal val="visible"/>
                                      </p:to>
                                    </p:set>
                                    <p:animEffect transition="in" filter="wipe(left)">
                                      <p:cBhvr>
                                        <p:cTn id="47" dur="1000"/>
                                        <p:tgtEl>
                                          <p:spTgt spid="70"/>
                                        </p:tgtEl>
                                      </p:cBhvr>
                                    </p:animEffec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32"/>
                                        </p:tgtEl>
                                        <p:attrNameLst>
                                          <p:attrName>style.visibility</p:attrName>
                                        </p:attrNameLst>
                                      </p:cBhvr>
                                      <p:to>
                                        <p:strVal val="visible"/>
                                      </p:to>
                                    </p:set>
                                  </p:childTnLst>
                                </p:cTn>
                              </p:par>
                            </p:childTnLst>
                          </p:cTn>
                        </p:par>
                        <p:par>
                          <p:cTn id="52" fill="hold">
                            <p:stCondLst>
                              <p:cond delay="0"/>
                            </p:stCondLst>
                            <p:childTnLst>
                              <p:par>
                                <p:cTn id="53" presetID="22" presetClass="entr" presetSubtype="8" fill="hold" nodeType="after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2000"/>
                                        <p:tgtEl>
                                          <p:spTgt spid="17"/>
                                        </p:tgtEl>
                                      </p:cBhvr>
                                    </p:animEffect>
                                  </p:childTnLst>
                                </p:cTn>
                              </p:par>
                            </p:childTnLst>
                          </p:cTn>
                        </p:par>
                        <p:par>
                          <p:cTn id="56" fill="hold">
                            <p:stCondLst>
                              <p:cond delay="2000"/>
                            </p:stCondLst>
                            <p:childTnLst>
                              <p:par>
                                <p:cTn id="57" presetID="22" presetClass="entr" presetSubtype="8" fill="hold" nodeType="afterEffect">
                                  <p:stCondLst>
                                    <p:cond delay="0"/>
                                  </p:stCondLst>
                                  <p:childTnLst>
                                    <p:set>
                                      <p:cBhvr>
                                        <p:cTn id="58" dur="1" fill="hold">
                                          <p:stCondLst>
                                            <p:cond delay="0"/>
                                          </p:stCondLst>
                                        </p:cTn>
                                        <p:tgtEl>
                                          <p:spTgt spid="5"/>
                                        </p:tgtEl>
                                        <p:attrNameLst>
                                          <p:attrName>style.visibility</p:attrName>
                                        </p:attrNameLst>
                                      </p:cBhvr>
                                      <p:to>
                                        <p:strVal val="visible"/>
                                      </p:to>
                                    </p:set>
                                    <p:animEffect transition="in" filter="wipe(left)">
                                      <p:cBhvr>
                                        <p:cTn id="59" dur="2000"/>
                                        <p:tgtEl>
                                          <p:spTgt spid="5"/>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1"/>
                                        </p:tgtEl>
                                        <p:attrNameLst>
                                          <p:attrName>style.visibility</p:attrName>
                                        </p:attrNameLst>
                                      </p:cBhvr>
                                      <p:to>
                                        <p:strVal val="visible"/>
                                      </p:to>
                                    </p:set>
                                    <p:animEffect transition="in" filter="wipe(left)">
                                      <p:cBhvr>
                                        <p:cTn id="63" dur="2000"/>
                                        <p:tgtEl>
                                          <p:spTgt spid="11"/>
                                        </p:tgtEl>
                                      </p:cBhvr>
                                    </p:animEffec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34"/>
                                        </p:tgtEl>
                                        <p:attrNameLst>
                                          <p:attrName>style.visibility</p:attrName>
                                        </p:attrNameLst>
                                      </p:cBhvr>
                                      <p:to>
                                        <p:strVal val="visible"/>
                                      </p:to>
                                    </p:set>
                                  </p:childTnLst>
                                </p:cTn>
                              </p:par>
                            </p:childTnLst>
                          </p:cTn>
                        </p:par>
                        <p:par>
                          <p:cTn id="68" fill="hold">
                            <p:stCondLst>
                              <p:cond delay="0"/>
                            </p:stCondLst>
                            <p:childTnLst>
                              <p:par>
                                <p:cTn id="69" presetID="22" presetClass="entr" presetSubtype="8" fill="hold" nodeType="afterEffect">
                                  <p:stCondLst>
                                    <p:cond delay="0"/>
                                  </p:stCondLst>
                                  <p:childTnLst>
                                    <p:set>
                                      <p:cBhvr>
                                        <p:cTn id="70" dur="1" fill="hold">
                                          <p:stCondLst>
                                            <p:cond delay="0"/>
                                          </p:stCondLst>
                                        </p:cTn>
                                        <p:tgtEl>
                                          <p:spTgt spid="61"/>
                                        </p:tgtEl>
                                        <p:attrNameLst>
                                          <p:attrName>style.visibility</p:attrName>
                                        </p:attrNameLst>
                                      </p:cBhvr>
                                      <p:to>
                                        <p:strVal val="visible"/>
                                      </p:to>
                                    </p:set>
                                    <p:animEffect transition="in" filter="wipe(left)">
                                      <p:cBhvr>
                                        <p:cTn id="71" dur="2000"/>
                                        <p:tgtEl>
                                          <p:spTgt spid="61"/>
                                        </p:tgtEl>
                                      </p:cBhvr>
                                    </p:animEffect>
                                  </p:childTnLst>
                                </p:cTn>
                              </p:par>
                            </p:childTnLst>
                          </p:cTn>
                        </p:par>
                        <p:par>
                          <p:cTn id="72" fill="hold">
                            <p:stCondLst>
                              <p:cond delay="2000"/>
                            </p:stCondLst>
                            <p:childTnLst>
                              <p:par>
                                <p:cTn id="73" presetID="22" presetClass="entr" presetSubtype="8" fill="hold" nodeType="afterEffect">
                                  <p:stCondLst>
                                    <p:cond delay="0"/>
                                  </p:stCondLst>
                                  <p:childTnLst>
                                    <p:set>
                                      <p:cBhvr>
                                        <p:cTn id="74" dur="1" fill="hold">
                                          <p:stCondLst>
                                            <p:cond delay="0"/>
                                          </p:stCondLst>
                                        </p:cTn>
                                        <p:tgtEl>
                                          <p:spTgt spid="114"/>
                                        </p:tgtEl>
                                        <p:attrNameLst>
                                          <p:attrName>style.visibility</p:attrName>
                                        </p:attrNameLst>
                                      </p:cBhvr>
                                      <p:to>
                                        <p:strVal val="visible"/>
                                      </p:to>
                                    </p:set>
                                    <p:animEffect transition="in" filter="wipe(left)">
                                      <p:cBhvr>
                                        <p:cTn id="75" dur="2000"/>
                                        <p:tgtEl>
                                          <p:spTgt spid="114"/>
                                        </p:tgtEl>
                                      </p:cBhvr>
                                    </p:animEffect>
                                  </p:childTnLst>
                                </p:cTn>
                              </p:par>
                            </p:childTnLst>
                          </p:cTn>
                        </p:par>
                        <p:par>
                          <p:cTn id="76" fill="hold">
                            <p:stCondLst>
                              <p:cond delay="4000"/>
                            </p:stCondLst>
                            <p:childTnLst>
                              <p:par>
                                <p:cTn id="77" presetID="22" presetClass="entr" presetSubtype="8" fill="hold" nodeType="afterEffect">
                                  <p:stCondLst>
                                    <p:cond delay="0"/>
                                  </p:stCondLst>
                                  <p:childTnLst>
                                    <p:set>
                                      <p:cBhvr>
                                        <p:cTn id="78" dur="1" fill="hold">
                                          <p:stCondLst>
                                            <p:cond delay="0"/>
                                          </p:stCondLst>
                                        </p:cTn>
                                        <p:tgtEl>
                                          <p:spTgt spid="127"/>
                                        </p:tgtEl>
                                        <p:attrNameLst>
                                          <p:attrName>style.visibility</p:attrName>
                                        </p:attrNameLst>
                                      </p:cBhvr>
                                      <p:to>
                                        <p:strVal val="visible"/>
                                      </p:to>
                                    </p:set>
                                    <p:animEffect transition="in" filter="wipe(left)">
                                      <p:cBhvr>
                                        <p:cTn id="79" dur="2000"/>
                                        <p:tgtEl>
                                          <p:spTgt spid="127"/>
                                        </p:tgtEl>
                                      </p:cBhvr>
                                    </p:animEffect>
                                  </p:childTnLst>
                                </p:cTn>
                              </p:par>
                            </p:childTnLst>
                          </p:cTn>
                        </p:par>
                        <p:par>
                          <p:cTn id="80" fill="hold">
                            <p:stCondLst>
                              <p:cond delay="6000"/>
                            </p:stCondLst>
                            <p:childTnLst>
                              <p:par>
                                <p:cTn id="81" presetID="22" presetClass="entr" presetSubtype="8" fill="hold" nodeType="afterEffect">
                                  <p:stCondLst>
                                    <p:cond delay="0"/>
                                  </p:stCondLst>
                                  <p:childTnLst>
                                    <p:set>
                                      <p:cBhvr>
                                        <p:cTn id="82" dur="1" fill="hold">
                                          <p:stCondLst>
                                            <p:cond delay="0"/>
                                          </p:stCondLst>
                                        </p:cTn>
                                        <p:tgtEl>
                                          <p:spTgt spid="214"/>
                                        </p:tgtEl>
                                        <p:attrNameLst>
                                          <p:attrName>style.visibility</p:attrName>
                                        </p:attrNameLst>
                                      </p:cBhvr>
                                      <p:to>
                                        <p:strVal val="visible"/>
                                      </p:to>
                                    </p:set>
                                    <p:animEffect transition="in" filter="wipe(left)">
                                      <p:cBhvr>
                                        <p:cTn id="83" dur="2000"/>
                                        <p:tgtEl>
                                          <p:spTgt spid="214"/>
                                        </p:tgtEl>
                                      </p:cBhvr>
                                    </p:animEffect>
                                  </p:childTnLst>
                                </p:cTn>
                              </p:par>
                            </p:childTnLst>
                          </p:cTn>
                        </p:par>
                        <p:par>
                          <p:cTn id="84" fill="hold">
                            <p:stCondLst>
                              <p:cond delay="8000"/>
                            </p:stCondLst>
                            <p:childTnLst>
                              <p:par>
                                <p:cTn id="85" presetID="22" presetClass="entr" presetSubtype="8" fill="hold" nodeType="afterEffect">
                                  <p:stCondLst>
                                    <p:cond delay="0"/>
                                  </p:stCondLst>
                                  <p:childTnLst>
                                    <p:set>
                                      <p:cBhvr>
                                        <p:cTn id="86" dur="1" fill="hold">
                                          <p:stCondLst>
                                            <p:cond delay="0"/>
                                          </p:stCondLst>
                                        </p:cTn>
                                        <p:tgtEl>
                                          <p:spTgt spid="164"/>
                                        </p:tgtEl>
                                        <p:attrNameLst>
                                          <p:attrName>style.visibility</p:attrName>
                                        </p:attrNameLst>
                                      </p:cBhvr>
                                      <p:to>
                                        <p:strVal val="visible"/>
                                      </p:to>
                                    </p:set>
                                    <p:animEffect transition="in" filter="wipe(left)">
                                      <p:cBhvr>
                                        <p:cTn id="87" dur="2000"/>
                                        <p:tgtEl>
                                          <p:spTgt spid="164"/>
                                        </p:tgtEl>
                                      </p:cBhvr>
                                    </p:animEffect>
                                  </p:childTnLst>
                                </p:cTn>
                              </p:par>
                            </p:childTnLst>
                          </p:cTn>
                        </p:par>
                        <p:par>
                          <p:cTn id="88" fill="hold">
                            <p:stCondLst>
                              <p:cond delay="10000"/>
                            </p:stCondLst>
                            <p:childTnLst>
                              <p:par>
                                <p:cTn id="89" presetID="22" presetClass="entr" presetSubtype="8" fill="hold" nodeType="afterEffect">
                                  <p:stCondLst>
                                    <p:cond delay="0"/>
                                  </p:stCondLst>
                                  <p:childTnLst>
                                    <p:set>
                                      <p:cBhvr>
                                        <p:cTn id="90" dur="1" fill="hold">
                                          <p:stCondLst>
                                            <p:cond delay="0"/>
                                          </p:stCondLst>
                                        </p:cTn>
                                        <p:tgtEl>
                                          <p:spTgt spid="180"/>
                                        </p:tgtEl>
                                        <p:attrNameLst>
                                          <p:attrName>style.visibility</p:attrName>
                                        </p:attrNameLst>
                                      </p:cBhvr>
                                      <p:to>
                                        <p:strVal val="visible"/>
                                      </p:to>
                                    </p:set>
                                    <p:animEffect transition="in" filter="wipe(left)">
                                      <p:cBhvr>
                                        <p:cTn id="91" dur="20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p:bldP spid="34" grpId="0"/>
      <p:bldP spid="68" grpId="0" animBg="1"/>
      <p:bldP spid="69" grpId="0" animBg="1"/>
      <p:bldP spid="70"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r>
              <a:rPr lang="zh-CN" altLang="en-US" dirty="0"/>
              <a:t>若要连续传送</a:t>
            </a:r>
            <a:r>
              <a:rPr lang="zh-CN" altLang="en-US" dirty="0">
                <a:solidFill>
                  <a:srgbClr val="0000CC"/>
                </a:solidFill>
              </a:rPr>
              <a:t>大量</a:t>
            </a:r>
            <a:r>
              <a:rPr lang="zh-CN" altLang="en-US" dirty="0"/>
              <a:t>的数据，且其传送时间</a:t>
            </a:r>
            <a:r>
              <a:rPr lang="zh-CN" altLang="en-US" dirty="0">
                <a:solidFill>
                  <a:srgbClr val="0000CC"/>
                </a:solidFill>
              </a:rPr>
              <a:t>远大于</a:t>
            </a:r>
            <a:r>
              <a:rPr lang="zh-CN" altLang="en-US" dirty="0"/>
              <a:t>连接建立时间，则</a:t>
            </a:r>
            <a:r>
              <a:rPr lang="zh-CN" altLang="en-US" dirty="0">
                <a:solidFill>
                  <a:srgbClr val="C00000"/>
                </a:solidFill>
              </a:rPr>
              <a:t>电路交换</a:t>
            </a:r>
            <a:r>
              <a:rPr lang="zh-CN" altLang="en-US" dirty="0"/>
              <a:t>的传输速率较快。</a:t>
            </a:r>
          </a:p>
          <a:p>
            <a:r>
              <a:rPr lang="zh-CN" altLang="en-US" dirty="0">
                <a:solidFill>
                  <a:srgbClr val="C00000"/>
                </a:solidFill>
              </a:rPr>
              <a:t>报文交换</a:t>
            </a:r>
            <a:r>
              <a:rPr lang="zh-CN" altLang="en-US" dirty="0"/>
              <a:t>和</a:t>
            </a:r>
            <a:r>
              <a:rPr lang="zh-CN" altLang="en-US" dirty="0">
                <a:solidFill>
                  <a:srgbClr val="C00000"/>
                </a:solidFill>
              </a:rPr>
              <a:t>分组交换</a:t>
            </a:r>
            <a:r>
              <a:rPr lang="zh-CN" altLang="en-US" dirty="0"/>
              <a:t>不需要预先分配传输带宽，在传送</a:t>
            </a:r>
            <a:r>
              <a:rPr lang="zh-CN" altLang="en-US" dirty="0">
                <a:solidFill>
                  <a:srgbClr val="0000CC"/>
                </a:solidFill>
              </a:rPr>
              <a:t>突发数据</a:t>
            </a:r>
            <a:r>
              <a:rPr lang="zh-CN" altLang="en-US" dirty="0"/>
              <a:t>时可提高整个网络的信道利用率。</a:t>
            </a:r>
          </a:p>
          <a:p>
            <a:r>
              <a:rPr lang="zh-CN" altLang="en-US" dirty="0"/>
              <a:t>由于一个分组的长度往往</a:t>
            </a:r>
            <a:r>
              <a:rPr lang="zh-CN" altLang="en-US" dirty="0">
                <a:solidFill>
                  <a:srgbClr val="0000CC"/>
                </a:solidFill>
              </a:rPr>
              <a:t>远小于</a:t>
            </a:r>
            <a:r>
              <a:rPr lang="zh-CN" altLang="en-US" dirty="0"/>
              <a:t>整个报文的长度，因此</a:t>
            </a:r>
            <a:r>
              <a:rPr lang="zh-CN" altLang="en-US" dirty="0">
                <a:solidFill>
                  <a:srgbClr val="C00000"/>
                </a:solidFill>
              </a:rPr>
              <a:t>分组交换</a:t>
            </a:r>
            <a:r>
              <a:rPr lang="zh-CN" altLang="en-US" dirty="0"/>
              <a:t>比报文交换的时延小，同时也具有更好的灵活性。</a:t>
            </a:r>
          </a:p>
          <a:p>
            <a:endParaRPr lang="zh-CN" altLang="en-US" dirty="0"/>
          </a:p>
        </p:txBody>
      </p:sp>
      <p:sp>
        <p:nvSpPr>
          <p:cNvPr id="2" name="文本占位符 1"/>
          <p:cNvSpPr>
            <a:spLocks noGrp="1"/>
          </p:cNvSpPr>
          <p:nvPr>
            <p:ph type="body" sz="quarter" idx="11"/>
          </p:nvPr>
        </p:nvSpPr>
        <p:spPr/>
        <p:txBody>
          <a:bodyPr/>
          <a:lstStyle/>
          <a:p>
            <a:r>
              <a:rPr lang="zh-CN" altLang="en-US" dirty="0"/>
              <a:t>三种交换方式的比较</a:t>
            </a:r>
          </a:p>
        </p:txBody>
      </p:sp>
    </p:spTree>
    <p:extLst>
      <p:ext uri="{BB962C8B-B14F-4D97-AF65-F5344CB8AC3E}">
        <p14:creationId xmlns:p14="http://schemas.microsoft.com/office/powerpoint/2010/main" val="5947867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p:txBody>
          <a:bodyPr/>
          <a:lstStyle/>
          <a:p>
            <a:r>
              <a:rPr lang="en-US" altLang="zh-CN" dirty="0"/>
              <a:t>1980 </a:t>
            </a:r>
            <a:r>
              <a:rPr lang="zh-CN" altLang="en-US" dirty="0"/>
              <a:t>年，铁道部开始进行计算机联网实验。</a:t>
            </a:r>
          </a:p>
          <a:p>
            <a:r>
              <a:rPr lang="en-US" altLang="zh-CN" dirty="0"/>
              <a:t>1989 </a:t>
            </a:r>
            <a:r>
              <a:rPr lang="zh-CN" altLang="en-US" dirty="0"/>
              <a:t>年 </a:t>
            </a:r>
            <a:r>
              <a:rPr lang="en-US" altLang="zh-CN" dirty="0"/>
              <a:t>11 </a:t>
            </a:r>
            <a:r>
              <a:rPr lang="zh-CN" altLang="en-US" dirty="0"/>
              <a:t>月，我国第一个公用分组交换网 </a:t>
            </a:r>
            <a:r>
              <a:rPr lang="en-US" altLang="zh-CN" dirty="0"/>
              <a:t>CNPAC </a:t>
            </a:r>
            <a:r>
              <a:rPr lang="zh-CN" altLang="en-US" dirty="0"/>
              <a:t>建成运行。 </a:t>
            </a:r>
          </a:p>
          <a:p>
            <a:r>
              <a:rPr lang="en-US" altLang="zh-CN" dirty="0"/>
              <a:t>1994 </a:t>
            </a:r>
            <a:r>
              <a:rPr lang="zh-CN" altLang="en-US" dirty="0"/>
              <a:t>年 </a:t>
            </a:r>
            <a:r>
              <a:rPr lang="en-US" altLang="zh-CN" dirty="0"/>
              <a:t>4 </a:t>
            </a:r>
            <a:r>
              <a:rPr lang="zh-CN" altLang="en-US" dirty="0"/>
              <a:t>月 </a:t>
            </a:r>
            <a:r>
              <a:rPr lang="en-US" altLang="zh-CN" dirty="0"/>
              <a:t>20 </a:t>
            </a:r>
            <a:r>
              <a:rPr lang="zh-CN" altLang="en-US" dirty="0"/>
              <a:t>日，我国用 </a:t>
            </a:r>
            <a:r>
              <a:rPr lang="en-US" altLang="zh-CN" dirty="0"/>
              <a:t>64 </a:t>
            </a:r>
            <a:r>
              <a:rPr lang="en-US" altLang="zh-CN" dirty="0" err="1"/>
              <a:t>kbit</a:t>
            </a:r>
            <a:r>
              <a:rPr lang="en-US" altLang="zh-CN" dirty="0"/>
              <a:t>/s </a:t>
            </a:r>
            <a:r>
              <a:rPr lang="zh-CN" altLang="en-US" dirty="0"/>
              <a:t>专线正式连入互联网，我国被国际上正式承认为接入互联网的国家。</a:t>
            </a:r>
          </a:p>
          <a:p>
            <a:r>
              <a:rPr lang="en-US" altLang="zh-CN" dirty="0"/>
              <a:t>1994 </a:t>
            </a:r>
            <a:r>
              <a:rPr lang="zh-CN" altLang="en-US" dirty="0"/>
              <a:t>年 </a:t>
            </a:r>
            <a:r>
              <a:rPr lang="en-US" altLang="zh-CN" dirty="0"/>
              <a:t>5 </a:t>
            </a:r>
            <a:r>
              <a:rPr lang="zh-CN" altLang="en-US" dirty="0"/>
              <a:t>月，中国科学院高能物理研究所设立了我国的第一个万维网服务器。</a:t>
            </a:r>
          </a:p>
          <a:p>
            <a:r>
              <a:rPr lang="en-US" altLang="zh-CN" dirty="0"/>
              <a:t>1994 </a:t>
            </a:r>
            <a:r>
              <a:rPr lang="zh-CN" altLang="en-US" dirty="0"/>
              <a:t>年 </a:t>
            </a:r>
            <a:r>
              <a:rPr lang="en-US" altLang="zh-CN" dirty="0"/>
              <a:t>9 </a:t>
            </a:r>
            <a:r>
              <a:rPr lang="zh-CN" altLang="en-US" dirty="0"/>
              <a:t>月，中国公用计算机互联网 </a:t>
            </a:r>
            <a:r>
              <a:rPr lang="en-US" altLang="zh-CN" dirty="0"/>
              <a:t>CHINANET </a:t>
            </a:r>
            <a:r>
              <a:rPr lang="zh-CN" altLang="en-US" dirty="0"/>
              <a:t>正式启动。</a:t>
            </a:r>
          </a:p>
          <a:p>
            <a:endParaRPr lang="zh-CN" altLang="en-US" dirty="0"/>
          </a:p>
        </p:txBody>
      </p:sp>
      <p:sp>
        <p:nvSpPr>
          <p:cNvPr id="4" name="文本占位符 3"/>
          <p:cNvSpPr>
            <a:spLocks noGrp="1"/>
          </p:cNvSpPr>
          <p:nvPr>
            <p:ph type="body" sz="quarter" idx="11"/>
          </p:nvPr>
        </p:nvSpPr>
        <p:spPr/>
        <p:txBody>
          <a:bodyPr/>
          <a:lstStyle/>
          <a:p>
            <a:r>
              <a:rPr lang="en-US" altLang="zh-CN" dirty="0"/>
              <a:t>1.4  </a:t>
            </a:r>
            <a:r>
              <a:rPr lang="zh-CN" altLang="en-US" dirty="0"/>
              <a:t>计算机网络在我国的发展</a:t>
            </a:r>
          </a:p>
        </p:txBody>
      </p:sp>
    </p:spTree>
    <p:extLst>
      <p:ext uri="{BB962C8B-B14F-4D97-AF65-F5344CB8AC3E}">
        <p14:creationId xmlns:p14="http://schemas.microsoft.com/office/powerpoint/2010/main" val="31731728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p:txBody>
          <a:bodyPr/>
          <a:lstStyle/>
          <a:p>
            <a:r>
              <a:rPr lang="zh-CN" altLang="en-US" dirty="0"/>
              <a:t>到目前为止，我国陆续建造了基于互联网技术的并能够和互联网互连的多个全国范围的公用计算机网络，其中规模最大的就是下面这五个：</a:t>
            </a:r>
          </a:p>
          <a:p>
            <a:pPr lvl="1"/>
            <a:r>
              <a:rPr lang="zh-CN" altLang="en-US" dirty="0"/>
              <a:t>中国电信互联网 </a:t>
            </a:r>
            <a:r>
              <a:rPr lang="en-US" altLang="zh-CN" dirty="0"/>
              <a:t>CHINANET</a:t>
            </a:r>
            <a:r>
              <a:rPr lang="zh-CN" altLang="en-US" dirty="0"/>
              <a:t>（也就是原来的中国公用计算机互联网）</a:t>
            </a:r>
          </a:p>
          <a:p>
            <a:pPr lvl="1"/>
            <a:r>
              <a:rPr lang="zh-CN" altLang="en-US" dirty="0"/>
              <a:t>中国联通互联网 </a:t>
            </a:r>
            <a:r>
              <a:rPr lang="en-US" altLang="zh-CN" dirty="0"/>
              <a:t>UNINET</a:t>
            </a:r>
          </a:p>
          <a:p>
            <a:pPr lvl="1"/>
            <a:r>
              <a:rPr lang="zh-CN" altLang="en-US" dirty="0"/>
              <a:t>中国移动互联网 </a:t>
            </a:r>
            <a:r>
              <a:rPr lang="en-US" altLang="zh-CN" dirty="0"/>
              <a:t>CMNET</a:t>
            </a:r>
          </a:p>
          <a:p>
            <a:pPr lvl="1"/>
            <a:r>
              <a:rPr lang="zh-CN" altLang="en-US" dirty="0"/>
              <a:t>中国教育和科研计算机网 </a:t>
            </a:r>
            <a:r>
              <a:rPr lang="en-US" altLang="zh-CN" dirty="0"/>
              <a:t>CERNET</a:t>
            </a:r>
          </a:p>
          <a:p>
            <a:pPr lvl="1"/>
            <a:r>
              <a:rPr lang="zh-CN" altLang="en-US" dirty="0"/>
              <a:t>中国科学技术网 </a:t>
            </a:r>
            <a:r>
              <a:rPr lang="en-US" altLang="zh-CN" dirty="0"/>
              <a:t>CSTNET</a:t>
            </a:r>
          </a:p>
          <a:p>
            <a:endParaRPr lang="zh-CN" altLang="en-US" dirty="0"/>
          </a:p>
        </p:txBody>
      </p:sp>
      <p:sp>
        <p:nvSpPr>
          <p:cNvPr id="4" name="文本占位符 3"/>
          <p:cNvSpPr>
            <a:spLocks noGrp="1"/>
          </p:cNvSpPr>
          <p:nvPr>
            <p:ph type="body" sz="quarter" idx="11"/>
          </p:nvPr>
        </p:nvSpPr>
        <p:spPr/>
        <p:txBody>
          <a:bodyPr/>
          <a:lstStyle/>
          <a:p>
            <a:r>
              <a:rPr lang="en-US" altLang="zh-CN" dirty="0">
                <a:solidFill>
                  <a:srgbClr val="FFFF00"/>
                </a:solidFill>
              </a:rPr>
              <a:t>1.4</a:t>
            </a:r>
            <a:r>
              <a:rPr lang="en-US" altLang="zh-CN" dirty="0"/>
              <a:t>  </a:t>
            </a:r>
            <a:r>
              <a:rPr lang="zh-CN" altLang="en-US" dirty="0"/>
              <a:t>计算机网络在我国的发展</a:t>
            </a:r>
          </a:p>
        </p:txBody>
      </p:sp>
    </p:spTree>
    <p:extLst>
      <p:ext uri="{BB962C8B-B14F-4D97-AF65-F5344CB8AC3E}">
        <p14:creationId xmlns:p14="http://schemas.microsoft.com/office/powerpoint/2010/main" val="334029365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p:txBody>
          <a:bodyPr/>
          <a:lstStyle/>
          <a:p>
            <a:pPr>
              <a:lnSpc>
                <a:spcPts val="2800"/>
              </a:lnSpc>
            </a:pPr>
            <a:r>
              <a:rPr lang="en-US" altLang="zh-CN" sz="1800" dirty="0"/>
              <a:t>                 1994 </a:t>
            </a:r>
            <a:r>
              <a:rPr lang="zh-CN" altLang="en-US" sz="1800" dirty="0"/>
              <a:t>年，中国教育和科研计算机网 </a:t>
            </a:r>
            <a:r>
              <a:rPr lang="en-US" altLang="zh-CN" sz="1800" dirty="0"/>
              <a:t>CERNET (China Education and Research </a:t>
            </a:r>
            <a:r>
              <a:rPr lang="en-US" altLang="zh-CN" sz="1800" dirty="0" err="1"/>
              <a:t>NETwork</a:t>
            </a:r>
            <a:r>
              <a:rPr lang="en-US" altLang="zh-CN" sz="1800" dirty="0"/>
              <a:t>) </a:t>
            </a:r>
            <a:r>
              <a:rPr lang="zh-CN" altLang="en-US" sz="1800" dirty="0"/>
              <a:t>是我国第一个 </a:t>
            </a:r>
            <a:r>
              <a:rPr lang="en-US" altLang="zh-CN" sz="1800" dirty="0"/>
              <a:t>IPv4 </a:t>
            </a:r>
            <a:r>
              <a:rPr lang="zh-CN" altLang="en-US" sz="1800" dirty="0"/>
              <a:t>互联网主干网。</a:t>
            </a:r>
          </a:p>
          <a:p>
            <a:pPr>
              <a:lnSpc>
                <a:spcPts val="2800"/>
              </a:lnSpc>
            </a:pPr>
            <a:r>
              <a:rPr lang="en-US" altLang="zh-CN" sz="1800" dirty="0"/>
              <a:t>2004 </a:t>
            </a:r>
            <a:r>
              <a:rPr lang="zh-CN" altLang="en-US" sz="1800" dirty="0"/>
              <a:t>年 </a:t>
            </a:r>
            <a:r>
              <a:rPr lang="en-US" altLang="zh-CN" sz="1800" dirty="0"/>
              <a:t>2 </a:t>
            </a:r>
            <a:r>
              <a:rPr lang="zh-CN" altLang="en-US" sz="1800" dirty="0"/>
              <a:t>月，我国的第一个下一代互联网 </a:t>
            </a:r>
            <a:r>
              <a:rPr lang="en-US" altLang="zh-CN" sz="1800" dirty="0"/>
              <a:t>CNGI </a:t>
            </a:r>
            <a:r>
              <a:rPr lang="zh-CN" altLang="en-US" sz="1800" dirty="0"/>
              <a:t>的主干网 </a:t>
            </a:r>
            <a:r>
              <a:rPr lang="en-US" altLang="zh-CN" sz="1800" dirty="0"/>
              <a:t>CERNET2 </a:t>
            </a:r>
            <a:r>
              <a:rPr lang="zh-CN" altLang="en-US" sz="1800" dirty="0"/>
              <a:t>试验网正式开通，并提供服务。</a:t>
            </a:r>
            <a:endParaRPr lang="en-US" altLang="zh-CN" sz="1800" dirty="0"/>
          </a:p>
          <a:p>
            <a:pPr lvl="1">
              <a:lnSpc>
                <a:spcPts val="2800"/>
              </a:lnSpc>
            </a:pPr>
            <a:r>
              <a:rPr lang="zh-CN" altLang="en-US" sz="1600" dirty="0"/>
              <a:t>试验网以 </a:t>
            </a:r>
            <a:r>
              <a:rPr lang="en-US" altLang="zh-CN" sz="1600" dirty="0"/>
              <a:t>2.5~10 </a:t>
            </a:r>
            <a:r>
              <a:rPr lang="en-US" altLang="zh-CN" sz="1600" dirty="0" err="1"/>
              <a:t>Gbit</a:t>
            </a:r>
            <a:r>
              <a:rPr lang="en-US" altLang="zh-CN" sz="1600" dirty="0"/>
              <a:t>/s </a:t>
            </a:r>
            <a:r>
              <a:rPr lang="zh-CN" altLang="en-US" sz="1600" dirty="0"/>
              <a:t>的速率连接北京、上海和广州三个 </a:t>
            </a:r>
            <a:r>
              <a:rPr lang="en-US" altLang="zh-CN" sz="1600" dirty="0"/>
              <a:t>CERNET </a:t>
            </a:r>
            <a:r>
              <a:rPr lang="zh-CN" altLang="en-US" sz="1600" dirty="0"/>
              <a:t>核心节点，并与国际下一代互联网相连接。</a:t>
            </a:r>
          </a:p>
          <a:p>
            <a:pPr>
              <a:lnSpc>
                <a:spcPts val="2800"/>
              </a:lnSpc>
            </a:pPr>
            <a:r>
              <a:rPr lang="zh-CN" altLang="en-US" sz="1800" dirty="0"/>
              <a:t>               中国互联网络信息中心 </a:t>
            </a:r>
            <a:r>
              <a:rPr lang="en-US" altLang="zh-CN" sz="1800" dirty="0"/>
              <a:t>CNNIC (</a:t>
            </a:r>
            <a:r>
              <a:rPr lang="en-US" altLang="zh-CN" sz="1800" dirty="0" err="1"/>
              <a:t>ChiNa</a:t>
            </a:r>
            <a:r>
              <a:rPr lang="en-US" altLang="zh-CN" sz="1800" dirty="0"/>
              <a:t> Network Information Center)  </a:t>
            </a:r>
            <a:r>
              <a:rPr lang="zh-CN" altLang="en-US" sz="1800" dirty="0"/>
              <a:t>每年两次公布我国互联网的发展情况。</a:t>
            </a:r>
            <a:endParaRPr lang="en-US" altLang="zh-CN" sz="1800" dirty="0"/>
          </a:p>
          <a:p>
            <a:pPr>
              <a:lnSpc>
                <a:spcPts val="2800"/>
              </a:lnSpc>
            </a:pPr>
            <a:r>
              <a:rPr lang="zh-CN" altLang="en-US" sz="1800" dirty="0"/>
              <a:t>到 </a:t>
            </a:r>
            <a:r>
              <a:rPr lang="en-US" altLang="zh-CN" sz="1800" dirty="0"/>
              <a:t>2019 </a:t>
            </a:r>
            <a:r>
              <a:rPr lang="zh-CN" altLang="en-US" sz="1800" dirty="0"/>
              <a:t>年底，我国的国际出口带宽已超过 </a:t>
            </a:r>
            <a:r>
              <a:rPr lang="en-US" altLang="zh-CN" sz="1800" dirty="0"/>
              <a:t>8.8 </a:t>
            </a:r>
            <a:r>
              <a:rPr lang="en-US" altLang="zh-CN" sz="1800" dirty="0" err="1"/>
              <a:t>Tbit</a:t>
            </a:r>
            <a:r>
              <a:rPr lang="en-US" altLang="zh-CN" sz="1800" dirty="0"/>
              <a:t>/s </a:t>
            </a:r>
            <a:r>
              <a:rPr lang="zh-CN" altLang="en-US" sz="1800" dirty="0"/>
              <a:t>（</a:t>
            </a:r>
            <a:r>
              <a:rPr lang="en-US" altLang="zh-CN" sz="1800" dirty="0"/>
              <a:t>1 </a:t>
            </a:r>
            <a:r>
              <a:rPr lang="en-US" altLang="zh-CN" sz="1800" dirty="0" err="1"/>
              <a:t>Tbit</a:t>
            </a:r>
            <a:r>
              <a:rPr lang="en-US" altLang="zh-CN" sz="1800" dirty="0"/>
              <a:t>/s = 103 </a:t>
            </a:r>
            <a:r>
              <a:rPr lang="en-US" altLang="zh-CN" sz="1800" dirty="0" err="1"/>
              <a:t>Gbit</a:t>
            </a:r>
            <a:r>
              <a:rPr lang="en-US" altLang="zh-CN" sz="1800" dirty="0"/>
              <a:t>/s</a:t>
            </a:r>
            <a:r>
              <a:rPr lang="zh-CN" altLang="en-US" sz="1800" dirty="0"/>
              <a:t>）。</a:t>
            </a:r>
          </a:p>
          <a:p>
            <a:pPr>
              <a:lnSpc>
                <a:spcPts val="2800"/>
              </a:lnSpc>
            </a:pPr>
            <a:endParaRPr lang="zh-CN" altLang="en-US" sz="1800" dirty="0"/>
          </a:p>
        </p:txBody>
      </p:sp>
      <p:sp>
        <p:nvSpPr>
          <p:cNvPr id="4" name="文本占位符 3"/>
          <p:cNvSpPr>
            <a:spLocks noGrp="1"/>
          </p:cNvSpPr>
          <p:nvPr>
            <p:ph type="body" sz="quarter" idx="11"/>
          </p:nvPr>
        </p:nvSpPr>
        <p:spPr/>
        <p:txBody>
          <a:bodyPr/>
          <a:lstStyle/>
          <a:p>
            <a:r>
              <a:rPr lang="en-US" altLang="zh-CN" dirty="0">
                <a:solidFill>
                  <a:srgbClr val="FFFF00"/>
                </a:solidFill>
              </a:rPr>
              <a:t>1.4</a:t>
            </a:r>
            <a:r>
              <a:rPr lang="en-US" altLang="zh-CN" dirty="0"/>
              <a:t>  </a:t>
            </a:r>
            <a:r>
              <a:rPr lang="zh-CN" altLang="en-US" dirty="0"/>
              <a:t>计算机网络在我国的发展</a:t>
            </a:r>
          </a:p>
        </p:txBody>
      </p:sp>
      <p:pic>
        <p:nvPicPr>
          <p:cNvPr id="2" name="图片 1"/>
          <p:cNvPicPr>
            <a:picLocks noChangeAspect="1"/>
          </p:cNvPicPr>
          <p:nvPr/>
        </p:nvPicPr>
        <p:blipFill rotWithShape="1">
          <a:blip r:embed="rId2"/>
          <a:srcRect l="6500" t="16439" r="68843" b="15068"/>
          <a:stretch/>
        </p:blipFill>
        <p:spPr>
          <a:xfrm>
            <a:off x="899575" y="1098470"/>
            <a:ext cx="1114696" cy="387047"/>
          </a:xfrm>
          <a:prstGeom prst="rect">
            <a:avLst/>
          </a:prstGeom>
          <a:effectLst>
            <a:glow rad="63500">
              <a:schemeClr val="accent1">
                <a:satMod val="175000"/>
                <a:alpha val="40000"/>
              </a:schemeClr>
            </a:glow>
          </a:effectLst>
        </p:spPr>
      </p:pic>
      <p:pic>
        <p:nvPicPr>
          <p:cNvPr id="6" name="图片 5"/>
          <p:cNvPicPr>
            <a:picLocks noChangeAspect="1"/>
          </p:cNvPicPr>
          <p:nvPr/>
        </p:nvPicPr>
        <p:blipFill rotWithShape="1">
          <a:blip r:embed="rId3" cstate="print"/>
          <a:srcRect l="5940" t="20867" r="9032" b="12357"/>
          <a:stretch/>
        </p:blipFill>
        <p:spPr>
          <a:xfrm>
            <a:off x="899575" y="3235065"/>
            <a:ext cx="913183" cy="40213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368053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p:txBody>
          <a:bodyPr/>
          <a:lstStyle/>
          <a:p>
            <a:r>
              <a:rPr lang="en-US" altLang="zh-CN" sz="1800" dirty="0"/>
              <a:t>             1996 </a:t>
            </a:r>
            <a:r>
              <a:rPr lang="zh-CN" altLang="en-US" sz="1800" dirty="0"/>
              <a:t>年，张朝阳创立了中国第一家以风险投资资金建立的互联网公司</a:t>
            </a:r>
            <a:r>
              <a:rPr lang="en-US" altLang="zh-CN" sz="1800" dirty="0"/>
              <a:t>—</a:t>
            </a:r>
            <a:r>
              <a:rPr lang="zh-CN" altLang="en-US" sz="1800" dirty="0"/>
              <a:t>爱特信公司。两年后，爱特信公司推出“搜狐”产品，并更名为搜狐公司</a:t>
            </a:r>
            <a:r>
              <a:rPr lang="en-US" altLang="zh-CN" sz="1800" dirty="0"/>
              <a:t>(</a:t>
            </a:r>
            <a:r>
              <a:rPr lang="en-US" altLang="zh-CN" sz="1800" dirty="0" err="1"/>
              <a:t>Sohu</a:t>
            </a:r>
            <a:r>
              <a:rPr lang="en-US" altLang="zh-CN" sz="1800" dirty="0"/>
              <a:t>)</a:t>
            </a:r>
            <a:r>
              <a:rPr lang="zh-CN" altLang="en-US" sz="1800" dirty="0"/>
              <a:t>。搜狐网站</a:t>
            </a:r>
            <a:r>
              <a:rPr lang="en-US" altLang="zh-CN" sz="1800" dirty="0"/>
              <a:t>(Sohu.com) </a:t>
            </a:r>
            <a:r>
              <a:rPr lang="zh-CN" altLang="en-US" sz="1800" dirty="0"/>
              <a:t>是中国首家大型分类查询搜索引擎。</a:t>
            </a:r>
            <a:endParaRPr lang="en-US" altLang="zh-CN" sz="1800" dirty="0"/>
          </a:p>
          <a:p>
            <a:r>
              <a:rPr lang="en-US" altLang="zh-CN" sz="1800" dirty="0"/>
              <a:t>                  1997 </a:t>
            </a:r>
            <a:r>
              <a:rPr lang="zh-CN" altLang="en-US" sz="1800" dirty="0"/>
              <a:t>年，丁磊创立了网易公司</a:t>
            </a:r>
            <a:r>
              <a:rPr lang="en-US" altLang="zh-CN" sz="1800" dirty="0"/>
              <a:t>(</a:t>
            </a:r>
            <a:r>
              <a:rPr lang="en-US" altLang="zh-CN" sz="1800" dirty="0" err="1"/>
              <a:t>NetEase</a:t>
            </a:r>
            <a:r>
              <a:rPr lang="en-US" altLang="zh-CN" sz="1800" dirty="0"/>
              <a:t>)</a:t>
            </a:r>
            <a:r>
              <a:rPr lang="zh-CN" altLang="en-US" sz="1800" dirty="0"/>
              <a:t>，推出了中国第一家中文全文搜索引擎，开发的超大容量免费邮箱（如</a:t>
            </a:r>
            <a:r>
              <a:rPr lang="en-US" altLang="zh-CN" sz="1800" dirty="0"/>
              <a:t>163</a:t>
            </a:r>
            <a:r>
              <a:rPr lang="zh-CN" altLang="en-US" sz="1800" dirty="0"/>
              <a:t>和</a:t>
            </a:r>
            <a:r>
              <a:rPr lang="en-US" altLang="zh-CN" sz="1800" dirty="0"/>
              <a:t>126</a:t>
            </a:r>
            <a:r>
              <a:rPr lang="zh-CN" altLang="en-US" sz="1800" dirty="0"/>
              <a:t>等）。</a:t>
            </a:r>
            <a:endParaRPr lang="en-US" altLang="zh-CN" sz="1800" dirty="0"/>
          </a:p>
          <a:p>
            <a:r>
              <a:rPr lang="en-US" altLang="zh-CN" sz="1800" dirty="0"/>
              <a:t>                  1998 </a:t>
            </a:r>
            <a:r>
              <a:rPr lang="zh-CN" altLang="en-US" sz="1800" dirty="0"/>
              <a:t>年，王志东创立新浪网站</a:t>
            </a:r>
            <a:r>
              <a:rPr lang="en-US" altLang="zh-CN" sz="1800" dirty="0"/>
              <a:t>(Sina.com )</a:t>
            </a:r>
            <a:r>
              <a:rPr lang="zh-CN" altLang="en-US" sz="1800" dirty="0"/>
              <a:t> 。</a:t>
            </a:r>
            <a:endParaRPr lang="en-US" altLang="zh-CN" sz="1800" dirty="0"/>
          </a:p>
          <a:p>
            <a:r>
              <a:rPr lang="zh-CN" altLang="en-US" sz="1800" dirty="0"/>
              <a:t>      新浪的微博是全球使用最多的微博之一。</a:t>
            </a:r>
            <a:endParaRPr lang="en-US" altLang="zh-CN" sz="1800" dirty="0"/>
          </a:p>
          <a:p>
            <a:endParaRPr lang="zh-CN" altLang="en-US" sz="1800" dirty="0"/>
          </a:p>
        </p:txBody>
      </p:sp>
      <p:sp>
        <p:nvSpPr>
          <p:cNvPr id="4" name="文本占位符 3"/>
          <p:cNvSpPr>
            <a:spLocks noGrp="1"/>
          </p:cNvSpPr>
          <p:nvPr>
            <p:ph type="body" sz="quarter" idx="11"/>
          </p:nvPr>
        </p:nvSpPr>
        <p:spPr/>
        <p:txBody>
          <a:bodyPr/>
          <a:lstStyle/>
          <a:p>
            <a:r>
              <a:rPr lang="zh-CN" altLang="en-US" dirty="0"/>
              <a:t>对我国互联网事业发展影响较大的人物和事件</a:t>
            </a:r>
          </a:p>
        </p:txBody>
      </p:sp>
      <p:pic>
        <p:nvPicPr>
          <p:cNvPr id="2" name="图片 1"/>
          <p:cNvPicPr>
            <a:picLocks noChangeAspect="1"/>
          </p:cNvPicPr>
          <p:nvPr/>
        </p:nvPicPr>
        <p:blipFill rotWithShape="1">
          <a:blip r:embed="rId2" cstate="print">
            <a:extLst>
              <a:ext uri="{BEBA8EAE-BF5A-486C-A8C5-ECC9F3942E4B}">
                <a14:imgProps xmlns:a14="http://schemas.microsoft.com/office/drawing/2010/main">
                  <a14:imgLayer r:embed="rId3">
                    <a14:imgEffect>
                      <a14:artisticMosiaicBubbles/>
                    </a14:imgEffect>
                  </a14:imgLayer>
                </a14:imgProps>
              </a:ext>
            </a:extLst>
          </a:blip>
          <a:srcRect l="6929" r="9066" b="-1941"/>
          <a:stretch/>
        </p:blipFill>
        <p:spPr>
          <a:xfrm>
            <a:off x="910530" y="1036453"/>
            <a:ext cx="830477" cy="421718"/>
          </a:xfrm>
          <a:prstGeom prst="rect">
            <a:avLst/>
          </a:prstGeom>
          <a:effectLst>
            <a:glow rad="63500">
              <a:schemeClr val="accent1">
                <a:satMod val="175000"/>
                <a:alpha val="40000"/>
              </a:schemeClr>
            </a:glow>
          </a:effectLst>
        </p:spPr>
      </p:pic>
      <p:pic>
        <p:nvPicPr>
          <p:cNvPr id="3" name="图片 2"/>
          <p:cNvPicPr>
            <a:picLocks noChangeAspect="1"/>
          </p:cNvPicPr>
          <p:nvPr/>
        </p:nvPicPr>
        <p:blipFill rotWithShape="1">
          <a:blip r:embed="rId4" cstate="print">
            <a:extLst>
              <a:ext uri="{BEBA8EAE-BF5A-486C-A8C5-ECC9F3942E4B}">
                <a14:imgProps xmlns:a14="http://schemas.microsoft.com/office/drawing/2010/main">
                  <a14:imgLayer r:embed="rId5">
                    <a14:imgEffect>
                      <a14:artisticMosiaicBubbles/>
                    </a14:imgEffect>
                  </a14:imgLayer>
                </a14:imgProps>
              </a:ext>
            </a:extLst>
          </a:blip>
          <a:srcRect l="9192" t="30767" r="7380" b="38525"/>
          <a:stretch/>
        </p:blipFill>
        <p:spPr>
          <a:xfrm>
            <a:off x="908692" y="2196059"/>
            <a:ext cx="1166948" cy="405465"/>
          </a:xfrm>
          <a:prstGeom prst="rect">
            <a:avLst/>
          </a:prstGeom>
          <a:effectLst>
            <a:glow rad="63500">
              <a:schemeClr val="accent1">
                <a:satMod val="175000"/>
                <a:alpha val="40000"/>
              </a:schemeClr>
            </a:glow>
          </a:effectLst>
        </p:spPr>
      </p:pic>
      <p:pic>
        <p:nvPicPr>
          <p:cNvPr id="6" name="图片 5"/>
          <p:cNvPicPr>
            <a:picLocks noChangeAspect="1"/>
          </p:cNvPicPr>
          <p:nvPr/>
        </p:nvPicPr>
        <p:blipFill>
          <a:blip r:embed="rId6" cstate="print">
            <a:extLst>
              <a:ext uri="{BEBA8EAE-BF5A-486C-A8C5-ECC9F3942E4B}">
                <a14:imgProps xmlns:a14="http://schemas.microsoft.com/office/drawing/2010/main">
                  <a14:imgLayer r:embed="rId7">
                    <a14:imgEffect>
                      <a14:artisticMosiaicBubbles/>
                    </a14:imgEffect>
                  </a14:imgLayer>
                </a14:imgProps>
              </a:ext>
            </a:extLst>
          </a:blip>
          <a:stretch>
            <a:fillRect/>
          </a:stretch>
        </p:blipFill>
        <p:spPr>
          <a:xfrm>
            <a:off x="908692" y="2943603"/>
            <a:ext cx="1123430" cy="390449"/>
          </a:xfrm>
          <a:prstGeom prst="rect">
            <a:avLst/>
          </a:prstGeom>
          <a:effectLst>
            <a:glow rad="63500">
              <a:schemeClr val="accent1">
                <a:satMod val="175000"/>
                <a:alpha val="40000"/>
              </a:schemeClr>
            </a:glow>
          </a:effectLst>
        </p:spPr>
      </p:pic>
      <p:pic>
        <p:nvPicPr>
          <p:cNvPr id="7" name="图片 6"/>
          <p:cNvPicPr>
            <a:picLocks noChangeAspect="1"/>
          </p:cNvPicPr>
          <p:nvPr/>
        </p:nvPicPr>
        <p:blipFill>
          <a:blip r:embed="rId8" cstate="print"/>
          <a:stretch>
            <a:fillRect/>
          </a:stretch>
        </p:blipFill>
        <p:spPr>
          <a:xfrm flipH="1">
            <a:off x="909668" y="3398362"/>
            <a:ext cx="372291" cy="372291"/>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99605822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969626"/>
            <a:ext cx="8268582" cy="3389873"/>
          </a:xfrm>
        </p:spPr>
        <p:txBody>
          <a:bodyPr/>
          <a:lstStyle/>
          <a:p>
            <a:pPr>
              <a:lnSpc>
                <a:spcPts val="3200"/>
              </a:lnSpc>
            </a:pPr>
            <a:r>
              <a:rPr lang="en-US" altLang="zh-CN" sz="1800" dirty="0"/>
              <a:t>                    1998 </a:t>
            </a:r>
            <a:r>
              <a:rPr lang="zh-CN" altLang="en-US" sz="1800" dirty="0"/>
              <a:t>年，马化腾、张志东创立了腾讯公司 </a:t>
            </a:r>
            <a:r>
              <a:rPr lang="en-US" altLang="zh-CN" sz="1800" dirty="0"/>
              <a:t>(</a:t>
            </a:r>
            <a:r>
              <a:rPr lang="en-US" altLang="zh-CN" sz="1800" dirty="0" err="1"/>
              <a:t>Tencent</a:t>
            </a:r>
            <a:r>
              <a:rPr lang="en-US" altLang="zh-CN" sz="1800" dirty="0"/>
              <a:t>) </a:t>
            </a:r>
            <a:r>
              <a:rPr lang="zh-CN" altLang="en-US" sz="1800" dirty="0"/>
              <a:t>。</a:t>
            </a:r>
            <a:endParaRPr lang="en-US" altLang="zh-CN" sz="1800" dirty="0"/>
          </a:p>
          <a:p>
            <a:pPr>
              <a:lnSpc>
                <a:spcPts val="3200"/>
              </a:lnSpc>
            </a:pPr>
            <a:r>
              <a:rPr lang="en-US" altLang="zh-CN" sz="1800" dirty="0"/>
              <a:t>    1999 </a:t>
            </a:r>
            <a:r>
              <a:rPr lang="zh-CN" altLang="en-US" sz="1800" dirty="0"/>
              <a:t>年，腾讯就推出了用在 </a:t>
            </a:r>
            <a:r>
              <a:rPr lang="en-US" altLang="zh-CN" sz="1800" dirty="0"/>
              <a:t>PC </a:t>
            </a:r>
            <a:r>
              <a:rPr lang="zh-CN" altLang="en-US" sz="1800" dirty="0"/>
              <a:t>上的即时通信软件 </a:t>
            </a:r>
            <a:r>
              <a:rPr lang="en-US" altLang="zh-CN" sz="1800" dirty="0"/>
              <a:t>OICQ</a:t>
            </a:r>
            <a:r>
              <a:rPr lang="zh-CN" altLang="en-US" sz="1800" dirty="0"/>
              <a:t>，后改名为 </a:t>
            </a:r>
            <a:r>
              <a:rPr lang="en-US" altLang="zh-CN" sz="1800" dirty="0"/>
              <a:t>QQ</a:t>
            </a:r>
            <a:r>
              <a:rPr lang="zh-CN" altLang="en-US" sz="1800" dirty="0"/>
              <a:t>。</a:t>
            </a:r>
            <a:endParaRPr lang="en-US" altLang="zh-CN" sz="1800" dirty="0"/>
          </a:p>
          <a:p>
            <a:pPr>
              <a:lnSpc>
                <a:spcPts val="3200"/>
              </a:lnSpc>
            </a:pPr>
            <a:r>
              <a:rPr lang="en-US" altLang="zh-CN" sz="1800" dirty="0"/>
              <a:t>     2011 </a:t>
            </a:r>
            <a:r>
              <a:rPr lang="zh-CN" altLang="en-US" sz="1800" dirty="0"/>
              <a:t>年，腾讯推出了专门供智能手机使用的即时通信软件“微信”。</a:t>
            </a:r>
            <a:endParaRPr lang="en-US" altLang="zh-CN" sz="1800" dirty="0"/>
          </a:p>
          <a:p>
            <a:pPr>
              <a:lnSpc>
                <a:spcPts val="3200"/>
              </a:lnSpc>
            </a:pPr>
            <a:r>
              <a:rPr lang="en-US" altLang="zh-CN" sz="1800" dirty="0"/>
              <a:t>          2000 </a:t>
            </a:r>
            <a:r>
              <a:rPr lang="zh-CN" altLang="en-US" sz="1800" dirty="0"/>
              <a:t>年，李彦宏和徐勇创建了百度网站 </a:t>
            </a:r>
            <a:r>
              <a:rPr lang="en-US" altLang="zh-CN" sz="1800" dirty="0"/>
              <a:t>(Baidu.com)</a:t>
            </a:r>
            <a:r>
              <a:rPr lang="zh-CN" altLang="en-US" sz="1800" dirty="0"/>
              <a:t>，现在已成为全球最大的中文搜索引擎。</a:t>
            </a:r>
            <a:endParaRPr lang="en-US" altLang="zh-CN" sz="1800" dirty="0"/>
          </a:p>
          <a:p>
            <a:pPr>
              <a:lnSpc>
                <a:spcPts val="3200"/>
              </a:lnSpc>
            </a:pPr>
            <a:r>
              <a:rPr lang="en-US" altLang="zh-CN" sz="1800" dirty="0"/>
              <a:t>         1999 </a:t>
            </a:r>
            <a:r>
              <a:rPr lang="zh-CN" altLang="en-US" sz="1800" dirty="0"/>
              <a:t>年，马云创建了阿里巴巴网站 </a:t>
            </a:r>
            <a:r>
              <a:rPr lang="en-US" altLang="zh-CN" sz="1800" dirty="0"/>
              <a:t>(Alibaba.com)</a:t>
            </a:r>
            <a:r>
              <a:rPr lang="zh-CN" altLang="en-US" sz="1800" dirty="0"/>
              <a:t>。</a:t>
            </a:r>
            <a:endParaRPr lang="en-US" altLang="zh-CN" sz="1800" dirty="0"/>
          </a:p>
          <a:p>
            <a:pPr>
              <a:lnSpc>
                <a:spcPts val="3200"/>
              </a:lnSpc>
            </a:pPr>
            <a:r>
              <a:rPr lang="en-US" altLang="zh-CN" sz="1800" dirty="0"/>
              <a:t>     2003 </a:t>
            </a:r>
            <a:r>
              <a:rPr lang="zh-CN" altLang="en-US" sz="1800" dirty="0"/>
              <a:t>年，马云创立了个人网上贸易市场平台</a:t>
            </a:r>
            <a:r>
              <a:rPr lang="en-US" altLang="zh-CN" sz="1800" dirty="0"/>
              <a:t>—</a:t>
            </a:r>
            <a:r>
              <a:rPr lang="zh-CN" altLang="en-US" sz="1800" dirty="0"/>
              <a:t>淘宝网 </a:t>
            </a:r>
            <a:r>
              <a:rPr lang="en-US" altLang="zh-CN" sz="1800" dirty="0"/>
              <a:t>(Taobao.com)</a:t>
            </a:r>
            <a:r>
              <a:rPr lang="zh-CN" altLang="en-US" sz="1800" dirty="0"/>
              <a:t>。</a:t>
            </a:r>
            <a:endParaRPr lang="en-US" altLang="zh-CN" sz="1800" dirty="0"/>
          </a:p>
          <a:p>
            <a:pPr>
              <a:lnSpc>
                <a:spcPts val="3200"/>
              </a:lnSpc>
            </a:pPr>
            <a:r>
              <a:rPr lang="en-US" altLang="zh-CN" sz="1800" dirty="0"/>
              <a:t>            2004 </a:t>
            </a:r>
            <a:r>
              <a:rPr lang="zh-CN" altLang="en-US" sz="1800" dirty="0"/>
              <a:t>年，阿里巴巴集团创立了第三方支付平台</a:t>
            </a:r>
            <a:r>
              <a:rPr lang="en-US" altLang="zh-CN" sz="1800" dirty="0"/>
              <a:t>—</a:t>
            </a:r>
            <a:r>
              <a:rPr lang="zh-CN" altLang="en-US" sz="1800" dirty="0"/>
              <a:t>支付宝</a:t>
            </a:r>
            <a:r>
              <a:rPr lang="en-US" altLang="zh-CN" sz="1800" dirty="0"/>
              <a:t>(Alipay.com)</a:t>
            </a:r>
            <a:r>
              <a:rPr lang="zh-CN" altLang="en-US" sz="1800" dirty="0"/>
              <a:t>。</a:t>
            </a:r>
          </a:p>
        </p:txBody>
      </p:sp>
      <p:sp>
        <p:nvSpPr>
          <p:cNvPr id="4" name="文本占位符 3"/>
          <p:cNvSpPr>
            <a:spLocks noGrp="1"/>
          </p:cNvSpPr>
          <p:nvPr>
            <p:ph type="body" sz="quarter" idx="11"/>
          </p:nvPr>
        </p:nvSpPr>
        <p:spPr/>
        <p:txBody>
          <a:bodyPr/>
          <a:lstStyle/>
          <a:p>
            <a:r>
              <a:rPr lang="zh-CN" altLang="en-US" dirty="0"/>
              <a:t>对我国互联网事业发展影响较大的人物和事件</a:t>
            </a:r>
          </a:p>
        </p:txBody>
      </p:sp>
      <p:pic>
        <p:nvPicPr>
          <p:cNvPr id="6" name="图片 5"/>
          <p:cNvPicPr>
            <a:picLocks noChangeAspect="1"/>
          </p:cNvPicPr>
          <p:nvPr/>
        </p:nvPicPr>
        <p:blipFill rotWithShape="1">
          <a:blip r:embed="rId3" cstate="print"/>
          <a:srcRect t="34295" b="37765"/>
          <a:stretch/>
        </p:blipFill>
        <p:spPr>
          <a:xfrm>
            <a:off x="840766" y="1070486"/>
            <a:ext cx="1402572" cy="296729"/>
          </a:xfrm>
          <a:prstGeom prst="rect">
            <a:avLst/>
          </a:prstGeom>
          <a:effectLst>
            <a:glow rad="63500">
              <a:schemeClr val="accent1">
                <a:satMod val="175000"/>
                <a:alpha val="40000"/>
              </a:schemeClr>
            </a:glow>
          </a:effectLst>
        </p:spPr>
      </p:pic>
      <p:pic>
        <p:nvPicPr>
          <p:cNvPr id="7" name="图片 6"/>
          <p:cNvPicPr>
            <a:picLocks noChangeAspect="1"/>
          </p:cNvPicPr>
          <p:nvPr/>
        </p:nvPicPr>
        <p:blipFill>
          <a:blip r:embed="rId4" cstate="print"/>
          <a:stretch>
            <a:fillRect/>
          </a:stretch>
        </p:blipFill>
        <p:spPr>
          <a:xfrm>
            <a:off x="840766" y="1432043"/>
            <a:ext cx="349251" cy="349251"/>
          </a:xfrm>
          <a:prstGeom prst="rect">
            <a:avLst/>
          </a:prstGeom>
          <a:effectLst>
            <a:glow rad="63500">
              <a:schemeClr val="accent1">
                <a:satMod val="175000"/>
                <a:alpha val="40000"/>
              </a:schemeClr>
            </a:glow>
          </a:effectLst>
        </p:spPr>
      </p:pic>
      <p:pic>
        <p:nvPicPr>
          <p:cNvPr id="8" name="图片 7"/>
          <p:cNvPicPr>
            <a:picLocks noChangeAspect="1"/>
          </p:cNvPicPr>
          <p:nvPr/>
        </p:nvPicPr>
        <p:blipFill>
          <a:blip r:embed="rId5" cstate="print"/>
          <a:stretch>
            <a:fillRect/>
          </a:stretch>
        </p:blipFill>
        <p:spPr>
          <a:xfrm>
            <a:off x="830662" y="1853717"/>
            <a:ext cx="338728" cy="338728"/>
          </a:xfrm>
          <a:prstGeom prst="rect">
            <a:avLst/>
          </a:prstGeom>
          <a:effectLst>
            <a:glow rad="63500">
              <a:schemeClr val="accent1">
                <a:satMod val="175000"/>
                <a:alpha val="40000"/>
              </a:schemeClr>
            </a:glow>
          </a:effectLst>
        </p:spPr>
      </p:pic>
      <p:pic>
        <p:nvPicPr>
          <p:cNvPr id="9" name="图片 8"/>
          <p:cNvPicPr>
            <a:picLocks noChangeAspect="1"/>
          </p:cNvPicPr>
          <p:nvPr/>
        </p:nvPicPr>
        <p:blipFill>
          <a:blip r:embed="rId6" cstate="print">
            <a:extLst>
              <a:ext uri="{BEBA8EAE-BF5A-486C-A8C5-ECC9F3942E4B}">
                <a14:imgProps xmlns:a14="http://schemas.microsoft.com/office/drawing/2010/main">
                  <a14:imgLayer r:embed="rId7">
                    <a14:imgEffect>
                      <a14:artisticMosiaicBubbles/>
                    </a14:imgEffect>
                  </a14:imgLayer>
                </a14:imgProps>
              </a:ext>
            </a:extLst>
          </a:blip>
          <a:stretch>
            <a:fillRect/>
          </a:stretch>
        </p:blipFill>
        <p:spPr>
          <a:xfrm>
            <a:off x="830662" y="2290635"/>
            <a:ext cx="638015" cy="337575"/>
          </a:xfrm>
          <a:prstGeom prst="rect">
            <a:avLst/>
          </a:prstGeom>
          <a:effectLst>
            <a:glow rad="63500">
              <a:schemeClr val="accent1">
                <a:satMod val="175000"/>
                <a:alpha val="40000"/>
              </a:schemeClr>
            </a:glow>
          </a:effectLst>
        </p:spPr>
      </p:pic>
      <p:pic>
        <p:nvPicPr>
          <p:cNvPr id="10" name="图片 9"/>
          <p:cNvPicPr>
            <a:picLocks noChangeAspect="1"/>
          </p:cNvPicPr>
          <p:nvPr/>
        </p:nvPicPr>
        <p:blipFill>
          <a:blip r:embed="rId8" cstate="print"/>
          <a:stretch>
            <a:fillRect/>
          </a:stretch>
        </p:blipFill>
        <p:spPr>
          <a:xfrm>
            <a:off x="830662" y="3115865"/>
            <a:ext cx="578960" cy="329578"/>
          </a:xfrm>
          <a:prstGeom prst="rect">
            <a:avLst/>
          </a:prstGeom>
          <a:effectLst>
            <a:glow rad="63500">
              <a:schemeClr val="accent1">
                <a:satMod val="175000"/>
                <a:alpha val="40000"/>
              </a:schemeClr>
            </a:glow>
          </a:effectLst>
        </p:spPr>
      </p:pic>
      <p:pic>
        <p:nvPicPr>
          <p:cNvPr id="11" name="图片 10"/>
          <p:cNvPicPr>
            <a:picLocks noChangeAspect="1"/>
          </p:cNvPicPr>
          <p:nvPr/>
        </p:nvPicPr>
        <p:blipFill>
          <a:blip r:embed="rId9" cstate="print"/>
          <a:stretch>
            <a:fillRect/>
          </a:stretch>
        </p:blipFill>
        <p:spPr>
          <a:xfrm>
            <a:off x="830176" y="3563134"/>
            <a:ext cx="319493" cy="319493"/>
          </a:xfrm>
          <a:prstGeom prst="rect">
            <a:avLst/>
          </a:prstGeom>
          <a:effectLst>
            <a:glow rad="63500">
              <a:schemeClr val="accent1">
                <a:satMod val="175000"/>
                <a:alpha val="40000"/>
              </a:schemeClr>
            </a:glow>
          </a:effectLst>
        </p:spPr>
      </p:pic>
      <p:pic>
        <p:nvPicPr>
          <p:cNvPr id="14" name="图片 13"/>
          <p:cNvPicPr>
            <a:picLocks noChangeAspect="1"/>
          </p:cNvPicPr>
          <p:nvPr/>
        </p:nvPicPr>
        <p:blipFill rotWithShape="1">
          <a:blip r:embed="rId10" cstate="print"/>
          <a:srcRect l="8877" t="1" r="6786" b="11025"/>
          <a:stretch/>
        </p:blipFill>
        <p:spPr>
          <a:xfrm>
            <a:off x="822870" y="3960723"/>
            <a:ext cx="853441" cy="343651"/>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25784890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7"/>
          <p:cNvSpPr>
            <a:spLocks noChangeArrowheads="1"/>
          </p:cNvSpPr>
          <p:nvPr/>
        </p:nvSpPr>
        <p:spPr bwMode="auto">
          <a:xfrm>
            <a:off x="639730" y="134303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charset="-122"/>
              <a:ea typeface="+mn-ea"/>
            </a:endParaRPr>
          </a:p>
        </p:txBody>
      </p:sp>
      <p:sp>
        <p:nvSpPr>
          <p:cNvPr id="89093" name="Rectangle 29"/>
          <p:cNvSpPr>
            <a:spLocks noChangeArrowheads="1"/>
          </p:cNvSpPr>
          <p:nvPr/>
        </p:nvSpPr>
        <p:spPr bwMode="auto">
          <a:xfrm>
            <a:off x="649288" y="1438598"/>
            <a:ext cx="1627187" cy="1014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1.5</a:t>
            </a:r>
          </a:p>
          <a:p>
            <a:r>
              <a:rPr lang="zh-CN" altLang="zh-CN" sz="2000" b="1">
                <a:solidFill>
                  <a:schemeClr val="bg1"/>
                </a:solidFill>
                <a:latin typeface="微软雅黑" pitchFamily="34" charset="-122"/>
                <a:ea typeface="微软雅黑" pitchFamily="34" charset="-122"/>
              </a:rPr>
              <a:t>计算机网络的类别</a:t>
            </a:r>
            <a:endParaRPr lang="zh-CN" altLang="en-US" sz="2000" b="1">
              <a:solidFill>
                <a:schemeClr val="bg1"/>
              </a:solidFill>
              <a:latin typeface="微软雅黑" pitchFamily="34" charset="-122"/>
              <a:ea typeface="微软雅黑" pitchFamily="34" charset="-122"/>
            </a:endParaRPr>
          </a:p>
        </p:txBody>
      </p:sp>
      <p:sp>
        <p:nvSpPr>
          <p:cNvPr id="4" name="Rectangle 9"/>
          <p:cNvSpPr>
            <a:spLocks noChangeArrowheads="1"/>
          </p:cNvSpPr>
          <p:nvPr/>
        </p:nvSpPr>
        <p:spPr bwMode="auto">
          <a:xfrm>
            <a:off x="2628900" y="1343348"/>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5" name="Rectangle 10"/>
          <p:cNvSpPr>
            <a:spLocks noChangeArrowheads="1"/>
          </p:cNvSpPr>
          <p:nvPr/>
        </p:nvSpPr>
        <p:spPr bwMode="auto">
          <a:xfrm>
            <a:off x="2628900" y="1949773"/>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89096" name="Line 16"/>
          <p:cNvSpPr>
            <a:spLocks noChangeShapeType="1"/>
          </p:cNvSpPr>
          <p:nvPr/>
        </p:nvSpPr>
        <p:spPr bwMode="auto">
          <a:xfrm>
            <a:off x="3636963" y="1271910"/>
            <a:ext cx="0" cy="118110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9097" name="Rectangle 8"/>
          <p:cNvSpPr>
            <a:spLocks noChangeArrowheads="1"/>
          </p:cNvSpPr>
          <p:nvPr/>
        </p:nvSpPr>
        <p:spPr bwMode="auto">
          <a:xfrm>
            <a:off x="2700338" y="1308423"/>
            <a:ext cx="54721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dirty="0">
                <a:solidFill>
                  <a:schemeClr val="bg1"/>
                </a:solidFill>
                <a:latin typeface="微软雅黑" pitchFamily="34" charset="-122"/>
                <a:ea typeface="微软雅黑" pitchFamily="34" charset="-122"/>
              </a:rPr>
              <a:t>1.5.1                                 </a:t>
            </a:r>
            <a:r>
              <a:rPr lang="zh-CN" altLang="zh-CN" sz="2000" b="1" dirty="0">
                <a:solidFill>
                  <a:schemeClr val="bg1"/>
                </a:solidFill>
                <a:ea typeface="微软雅黑" pitchFamily="34" charset="-122"/>
              </a:rPr>
              <a:t>计算机网络的定义</a:t>
            </a:r>
            <a:endParaRPr lang="en-US" altLang="zh-CN" sz="2000" b="1" dirty="0">
              <a:solidFill>
                <a:schemeClr val="bg1"/>
              </a:solidFill>
              <a:ea typeface="微软雅黑" pitchFamily="34" charset="-122"/>
            </a:endParaRPr>
          </a:p>
          <a:p>
            <a:endParaRPr lang="zh-CN" altLang="zh-CN" sz="2000" b="1" dirty="0">
              <a:solidFill>
                <a:schemeClr val="bg1"/>
              </a:solidFill>
              <a:ea typeface="微软雅黑" pitchFamily="34" charset="-122"/>
            </a:endParaRPr>
          </a:p>
          <a:p>
            <a:r>
              <a:rPr lang="en-US" altLang="zh-CN" sz="2000" b="1" dirty="0">
                <a:solidFill>
                  <a:schemeClr val="bg1"/>
                </a:solidFill>
                <a:latin typeface="微软雅黑" pitchFamily="34" charset="-122"/>
                <a:ea typeface="微软雅黑" pitchFamily="34" charset="-122"/>
              </a:rPr>
              <a:t>1.5.2                     </a:t>
            </a:r>
            <a:r>
              <a:rPr lang="zh-CN" altLang="zh-CN" sz="2000" b="1" dirty="0">
                <a:solidFill>
                  <a:schemeClr val="bg1"/>
                </a:solidFill>
                <a:ea typeface="微软雅黑" pitchFamily="34" charset="-122"/>
              </a:rPr>
              <a:t>几种不同类别的</a:t>
            </a:r>
            <a:r>
              <a:rPr lang="zh-CN" altLang="en-US" sz="2000" b="1" dirty="0">
                <a:solidFill>
                  <a:schemeClr val="bg1"/>
                </a:solidFill>
                <a:ea typeface="微软雅黑" pitchFamily="34" charset="-122"/>
              </a:rPr>
              <a:t>计算机</a:t>
            </a:r>
            <a:r>
              <a:rPr lang="zh-CN" altLang="zh-CN" sz="2000" b="1" dirty="0">
                <a:solidFill>
                  <a:schemeClr val="bg1"/>
                </a:solidFill>
                <a:ea typeface="微软雅黑" pitchFamily="34" charset="-122"/>
              </a:rPr>
              <a:t>网络</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pPr>
              <a:lnSpc>
                <a:spcPts val="3200"/>
              </a:lnSpc>
            </a:pPr>
            <a:r>
              <a:rPr lang="zh-CN" altLang="en-US" dirty="0"/>
              <a:t>计算机网络的精确定义并未统一。</a:t>
            </a:r>
            <a:endParaRPr lang="en-US" altLang="zh-CN" dirty="0"/>
          </a:p>
          <a:p>
            <a:pPr>
              <a:lnSpc>
                <a:spcPts val="3200"/>
              </a:lnSpc>
            </a:pPr>
            <a:r>
              <a:rPr lang="zh-CN" altLang="en-US" dirty="0"/>
              <a:t>较好的定义：</a:t>
            </a:r>
          </a:p>
          <a:p>
            <a:pPr>
              <a:lnSpc>
                <a:spcPts val="3200"/>
              </a:lnSpc>
            </a:pPr>
            <a:endParaRPr lang="zh-CN" altLang="en-US" dirty="0"/>
          </a:p>
        </p:txBody>
      </p:sp>
      <p:sp>
        <p:nvSpPr>
          <p:cNvPr id="2" name="文本占位符 1"/>
          <p:cNvSpPr>
            <a:spLocks noGrp="1"/>
          </p:cNvSpPr>
          <p:nvPr>
            <p:ph type="body" sz="quarter" idx="11"/>
          </p:nvPr>
        </p:nvSpPr>
        <p:spPr/>
        <p:txBody>
          <a:bodyPr/>
          <a:lstStyle/>
          <a:p>
            <a:r>
              <a:rPr lang="en-US" altLang="zh-CN" dirty="0"/>
              <a:t>1.5.1  </a:t>
            </a:r>
            <a:r>
              <a:rPr lang="zh-CN" altLang="en-US" dirty="0"/>
              <a:t>计算机网络的定义</a:t>
            </a:r>
          </a:p>
        </p:txBody>
      </p:sp>
      <p:sp>
        <p:nvSpPr>
          <p:cNvPr id="4" name="矩形 3"/>
          <p:cNvSpPr/>
          <p:nvPr/>
        </p:nvSpPr>
        <p:spPr>
          <a:xfrm>
            <a:off x="874225" y="1926007"/>
            <a:ext cx="7242372" cy="1528624"/>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nSpc>
                <a:spcPts val="2800"/>
              </a:lnSpc>
            </a:pPr>
            <a:r>
              <a:rPr lang="zh-CN" altLang="en-US" b="1" dirty="0">
                <a:latin typeface="微软雅黑" panose="020B0503020204020204" pitchFamily="34" charset="-122"/>
                <a:ea typeface="微软雅黑" panose="020B0503020204020204" pitchFamily="34" charset="-122"/>
              </a:rPr>
              <a:t>计算机网络主要是由一些通用的、可编程的硬件互连而成的，而这些硬件并非专门用来实现某一特定目的（例如，传送数据或视频信号）。这些可编程的硬件能够用来传送多种不同类型的数据，并能支持广泛的和日益增长的应用。</a:t>
            </a:r>
          </a:p>
        </p:txBody>
      </p:sp>
    </p:spTree>
    <p:extLst>
      <p:ext uri="{BB962C8B-B14F-4D97-AF65-F5344CB8AC3E}">
        <p14:creationId xmlns:p14="http://schemas.microsoft.com/office/powerpoint/2010/main" val="34667470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p:txBody>
          <a:bodyPr/>
          <a:lstStyle/>
          <a:p>
            <a:pPr>
              <a:lnSpc>
                <a:spcPts val="3200"/>
              </a:lnSpc>
            </a:pPr>
            <a:r>
              <a:rPr lang="zh-CN" altLang="en-US" dirty="0">
                <a:solidFill>
                  <a:srgbClr val="C00000"/>
                </a:solidFill>
              </a:rPr>
              <a:t>“可编程的硬件”表明：</a:t>
            </a:r>
            <a:r>
              <a:rPr lang="zh-CN" altLang="en-US" dirty="0"/>
              <a:t>这种硬件一定包含有</a:t>
            </a:r>
            <a:r>
              <a:rPr lang="zh-CN" altLang="en-US" dirty="0">
                <a:solidFill>
                  <a:srgbClr val="0000FF"/>
                </a:solidFill>
              </a:rPr>
              <a:t>中央处理器 </a:t>
            </a:r>
            <a:r>
              <a:rPr lang="en-US" altLang="zh-CN" dirty="0">
                <a:solidFill>
                  <a:srgbClr val="0000FF"/>
                </a:solidFill>
              </a:rPr>
              <a:t>CPU</a:t>
            </a:r>
            <a:r>
              <a:rPr lang="zh-CN" altLang="en-US" dirty="0">
                <a:solidFill>
                  <a:srgbClr val="0000FF"/>
                </a:solidFill>
              </a:rPr>
              <a:t>。</a:t>
            </a:r>
            <a:endParaRPr lang="en-US" altLang="zh-CN" dirty="0">
              <a:solidFill>
                <a:srgbClr val="0000FF"/>
              </a:solidFill>
            </a:endParaRPr>
          </a:p>
          <a:p>
            <a:pPr>
              <a:lnSpc>
                <a:spcPts val="3200"/>
              </a:lnSpc>
            </a:pPr>
            <a:r>
              <a:rPr lang="zh-CN" altLang="en-US" dirty="0"/>
              <a:t>计算机网络所连接的硬件包括：</a:t>
            </a:r>
            <a:endParaRPr lang="en-US" altLang="zh-CN" dirty="0"/>
          </a:p>
          <a:p>
            <a:pPr lvl="1">
              <a:lnSpc>
                <a:spcPts val="3200"/>
              </a:lnSpc>
            </a:pPr>
            <a:r>
              <a:rPr lang="zh-CN" altLang="en-US" dirty="0"/>
              <a:t>一般的计算机；</a:t>
            </a:r>
            <a:endParaRPr lang="en-US" altLang="zh-CN" dirty="0"/>
          </a:p>
          <a:p>
            <a:pPr lvl="1">
              <a:lnSpc>
                <a:spcPts val="3200"/>
              </a:lnSpc>
            </a:pPr>
            <a:r>
              <a:rPr lang="zh-CN" altLang="en-US" dirty="0"/>
              <a:t>智能手机、电视 等。</a:t>
            </a:r>
          </a:p>
          <a:p>
            <a:pPr>
              <a:lnSpc>
                <a:spcPts val="3200"/>
              </a:lnSpc>
            </a:pPr>
            <a:r>
              <a:rPr lang="zh-CN" altLang="en-US" dirty="0"/>
              <a:t>计算机网络可以：</a:t>
            </a:r>
            <a:endParaRPr lang="en-US" altLang="zh-CN" dirty="0"/>
          </a:p>
          <a:p>
            <a:pPr lvl="1">
              <a:lnSpc>
                <a:spcPts val="3200"/>
              </a:lnSpc>
            </a:pPr>
            <a:r>
              <a:rPr lang="zh-CN" altLang="en-US" dirty="0"/>
              <a:t>传送数据；</a:t>
            </a:r>
            <a:endParaRPr lang="en-US" altLang="zh-CN" dirty="0"/>
          </a:p>
          <a:p>
            <a:pPr lvl="1">
              <a:lnSpc>
                <a:spcPts val="3200"/>
              </a:lnSpc>
            </a:pPr>
            <a:r>
              <a:rPr lang="zh-CN" altLang="en-US" dirty="0"/>
              <a:t>支持多种应用（包括今后可能出现的各种应用）。</a:t>
            </a:r>
          </a:p>
          <a:p>
            <a:pPr>
              <a:lnSpc>
                <a:spcPts val="3200"/>
              </a:lnSpc>
            </a:pPr>
            <a:endParaRPr lang="zh-CN" altLang="en-US" dirty="0"/>
          </a:p>
        </p:txBody>
      </p:sp>
      <p:sp>
        <p:nvSpPr>
          <p:cNvPr id="5" name="文本占位符 4"/>
          <p:cNvSpPr>
            <a:spLocks noGrp="1"/>
          </p:cNvSpPr>
          <p:nvPr>
            <p:ph type="body" sz="quarter" idx="11"/>
          </p:nvPr>
        </p:nvSpPr>
        <p:spPr/>
        <p:txBody>
          <a:bodyPr/>
          <a:lstStyle/>
          <a:p>
            <a:r>
              <a:rPr lang="zh-CN" altLang="en-US" dirty="0"/>
              <a:t>如何理解？</a:t>
            </a:r>
          </a:p>
        </p:txBody>
      </p:sp>
    </p:spTree>
    <p:extLst>
      <p:ext uri="{BB962C8B-B14F-4D97-AF65-F5344CB8AC3E}">
        <p14:creationId xmlns:p14="http://schemas.microsoft.com/office/powerpoint/2010/main" val="1018350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p:txBody>
          <a:bodyPr/>
          <a:lstStyle/>
          <a:p>
            <a:pPr>
              <a:lnSpc>
                <a:spcPts val="3200"/>
              </a:lnSpc>
            </a:pPr>
            <a:r>
              <a:rPr lang="zh-CN" altLang="en-US" dirty="0"/>
              <a:t>计算机网络有多种类别。</a:t>
            </a:r>
            <a:endParaRPr lang="en-US" altLang="zh-CN" dirty="0"/>
          </a:p>
          <a:p>
            <a:pPr>
              <a:lnSpc>
                <a:spcPts val="3200"/>
              </a:lnSpc>
            </a:pPr>
            <a:r>
              <a:rPr lang="zh-CN" altLang="en-US" dirty="0"/>
              <a:t>可以按以下方法分类：</a:t>
            </a:r>
          </a:p>
          <a:p>
            <a:pPr lvl="1">
              <a:lnSpc>
                <a:spcPts val="3200"/>
              </a:lnSpc>
            </a:pPr>
            <a:r>
              <a:rPr lang="zh-CN" altLang="en-US" dirty="0"/>
              <a:t>按照网络的作用范围进行分类；</a:t>
            </a:r>
          </a:p>
          <a:p>
            <a:pPr lvl="1">
              <a:lnSpc>
                <a:spcPts val="3200"/>
              </a:lnSpc>
            </a:pPr>
            <a:r>
              <a:rPr lang="zh-CN" altLang="en-US" dirty="0"/>
              <a:t>按照网络的使用者进行分类；</a:t>
            </a:r>
          </a:p>
          <a:p>
            <a:pPr lvl="1">
              <a:lnSpc>
                <a:spcPts val="3200"/>
              </a:lnSpc>
            </a:pPr>
            <a:r>
              <a:rPr lang="zh-CN" altLang="en-US" dirty="0"/>
              <a:t>用来把用户接入到互联网的网络。</a:t>
            </a:r>
          </a:p>
          <a:p>
            <a:pPr>
              <a:lnSpc>
                <a:spcPts val="3200"/>
              </a:lnSpc>
            </a:pPr>
            <a:endParaRPr lang="zh-CN" altLang="en-US" dirty="0"/>
          </a:p>
        </p:txBody>
      </p:sp>
      <p:sp>
        <p:nvSpPr>
          <p:cNvPr id="4" name="文本占位符 3"/>
          <p:cNvSpPr>
            <a:spLocks noGrp="1"/>
          </p:cNvSpPr>
          <p:nvPr>
            <p:ph type="body" sz="quarter" idx="11"/>
          </p:nvPr>
        </p:nvSpPr>
        <p:spPr/>
        <p:txBody>
          <a:bodyPr/>
          <a:lstStyle/>
          <a:p>
            <a:r>
              <a:rPr lang="en-US" altLang="zh-CN" dirty="0"/>
              <a:t>1.5.2  </a:t>
            </a:r>
            <a:r>
              <a:rPr lang="zh-CN" altLang="en-US" dirty="0"/>
              <a:t>几种不同类别的计算机网络</a:t>
            </a:r>
          </a:p>
        </p:txBody>
      </p:sp>
    </p:spTree>
    <p:extLst>
      <p:ext uri="{BB962C8B-B14F-4D97-AF65-F5344CB8AC3E}">
        <p14:creationId xmlns:p14="http://schemas.microsoft.com/office/powerpoint/2010/main" val="40562084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p:cNvGraphicFramePr>
            <a:graphicFrameLocks noGrp="1"/>
          </p:cNvGraphicFramePr>
          <p:nvPr>
            <p:ph sz="quarter" idx="10"/>
            <p:extLst>
              <p:ext uri="{D42A27DB-BD31-4B8C-83A1-F6EECF244321}">
                <p14:modId xmlns:p14="http://schemas.microsoft.com/office/powerpoint/2010/main" val="1420287654"/>
              </p:ext>
            </p:extLst>
          </p:nvPr>
        </p:nvGraphicFramePr>
        <p:xfrm>
          <a:off x="618311" y="1067195"/>
          <a:ext cx="7794172" cy="2651760"/>
        </p:xfrm>
        <a:graphic>
          <a:graphicData uri="http://schemas.openxmlformats.org/drawingml/2006/table">
            <a:tbl>
              <a:tblPr firstRow="1" bandRow="1" bandCol="1">
                <a:tableStyleId>{69012ECD-51FC-41F1-AA8D-1B2483CD663E}</a:tableStyleId>
              </a:tblPr>
              <a:tblGrid>
                <a:gridCol w="3441843">
                  <a:extLst>
                    <a:ext uri="{9D8B030D-6E8A-4147-A177-3AD203B41FA5}">
                      <a16:colId xmlns:a16="http://schemas.microsoft.com/office/drawing/2014/main" val="2752561288"/>
                    </a:ext>
                  </a:extLst>
                </a:gridCol>
                <a:gridCol w="4352329">
                  <a:extLst>
                    <a:ext uri="{9D8B030D-6E8A-4147-A177-3AD203B41FA5}">
                      <a16:colId xmlns:a16="http://schemas.microsoft.com/office/drawing/2014/main" val="1271823278"/>
                    </a:ext>
                  </a:extLst>
                </a:gridCol>
              </a:tblGrid>
              <a:tr h="274193">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类别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F0"/>
                    </a:solidFill>
                  </a:tcPr>
                </a:tc>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作用范围或距离</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F0"/>
                    </a:solidFill>
                  </a:tcPr>
                </a:tc>
                <a:extLst>
                  <a:ext uri="{0D108BD9-81ED-4DB2-BD59-A6C34878D82A}">
                    <a16:rowId xmlns:a16="http://schemas.microsoft.com/office/drawing/2014/main" val="3833287312"/>
                  </a:ext>
                </a:extLst>
              </a:tr>
              <a:tr h="473606">
                <a:tc>
                  <a:txBody>
                    <a:bodyPr/>
                    <a:lstStyle/>
                    <a:p>
                      <a:pPr algn="l"/>
                      <a:r>
                        <a:rPr lang="zh-CN" altLang="en-US" sz="1600" b="1" dirty="0">
                          <a:solidFill>
                            <a:srgbClr val="0000FF"/>
                          </a:solidFill>
                          <a:latin typeface="微软雅黑" panose="020B0503020204020204" pitchFamily="34" charset="-122"/>
                          <a:ea typeface="微软雅黑" panose="020B0503020204020204" pitchFamily="34" charset="-122"/>
                        </a:rPr>
                        <a:t>广域网 </a:t>
                      </a:r>
                      <a:r>
                        <a:rPr lang="en-US" altLang="zh-CN" sz="1600" b="1" dirty="0">
                          <a:solidFill>
                            <a:srgbClr val="0000FF"/>
                          </a:solidFill>
                          <a:latin typeface="微软雅黑" panose="020B0503020204020204" pitchFamily="34" charset="-122"/>
                          <a:ea typeface="微软雅黑" panose="020B0503020204020204" pitchFamily="34" charset="-122"/>
                        </a:rPr>
                        <a:t>WAN </a:t>
                      </a:r>
                    </a:p>
                    <a:p>
                      <a:pPr algn="l"/>
                      <a:r>
                        <a:rPr lang="en-US" altLang="zh-CN" sz="1600" b="1" dirty="0">
                          <a:latin typeface="微软雅黑" panose="020B0503020204020204" pitchFamily="34" charset="-122"/>
                          <a:ea typeface="微软雅黑" panose="020B0503020204020204" pitchFamily="34" charset="-122"/>
                        </a:rPr>
                        <a:t>(Wide Area Network)</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通常为几十到几千公里。有时也称为</a:t>
                      </a:r>
                      <a:r>
                        <a:rPr lang="zh-CN" altLang="en-US" sz="1600" b="1" dirty="0">
                          <a:solidFill>
                            <a:srgbClr val="0000FF"/>
                          </a:solidFill>
                          <a:latin typeface="微软雅黑" panose="020B0503020204020204" pitchFamily="34" charset="-122"/>
                          <a:ea typeface="微软雅黑" panose="020B0503020204020204" pitchFamily="34" charset="-122"/>
                        </a:rPr>
                        <a:t>远程网</a:t>
                      </a:r>
                      <a:r>
                        <a:rPr lang="en-US" altLang="zh-CN" sz="1600" b="1" dirty="0">
                          <a:latin typeface="微软雅黑" panose="020B0503020204020204" pitchFamily="34" charset="-122"/>
                          <a:ea typeface="微软雅黑" panose="020B0503020204020204" pitchFamily="34" charset="-122"/>
                        </a:rPr>
                        <a:t>(long haul network)</a:t>
                      </a:r>
                      <a:r>
                        <a:rPr lang="zh-CN" altLang="en-US" sz="1600" b="1" dirty="0">
                          <a:latin typeface="微软雅黑" panose="020B0503020204020204" pitchFamily="34" charset="-122"/>
                          <a:ea typeface="微软雅黑" panose="020B0503020204020204" pitchFamily="34" charset="-122"/>
                        </a:rPr>
                        <a:t>。是互联网的核心部分。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1952148"/>
                  </a:ext>
                </a:extLst>
              </a:tr>
              <a:tr h="473606">
                <a:tc>
                  <a:txBody>
                    <a:bodyPr/>
                    <a:lstStyle/>
                    <a:p>
                      <a:pPr algn="l"/>
                      <a:r>
                        <a:rPr lang="zh-CN" altLang="en-US" sz="1600" b="1" kern="1200" dirty="0">
                          <a:solidFill>
                            <a:srgbClr val="0000FF"/>
                          </a:solidFill>
                          <a:latin typeface="微软雅黑" panose="020B0503020204020204" pitchFamily="34" charset="-122"/>
                          <a:ea typeface="微软雅黑" panose="020B0503020204020204" pitchFamily="34" charset="-122"/>
                          <a:cs typeface="+mn-cs"/>
                        </a:rPr>
                        <a:t>城域网 </a:t>
                      </a:r>
                      <a:r>
                        <a:rPr lang="en-US" altLang="zh-CN" sz="1600" b="1" kern="1200" dirty="0">
                          <a:solidFill>
                            <a:srgbClr val="0000FF"/>
                          </a:solidFill>
                          <a:latin typeface="微软雅黑" panose="020B0503020204020204" pitchFamily="34" charset="-122"/>
                          <a:ea typeface="微软雅黑" panose="020B0503020204020204" pitchFamily="34" charset="-122"/>
                          <a:cs typeface="+mn-cs"/>
                        </a:rPr>
                        <a:t>MAN </a:t>
                      </a:r>
                    </a:p>
                    <a:p>
                      <a:pPr algn="l"/>
                      <a:r>
                        <a:rPr lang="en-US" altLang="zh-CN" sz="1600" b="1" dirty="0">
                          <a:latin typeface="微软雅黑" panose="020B0503020204020204" pitchFamily="34" charset="-122"/>
                          <a:ea typeface="微软雅黑" panose="020B0503020204020204" pitchFamily="34" charset="-122"/>
                        </a:rPr>
                        <a:t>(Metropolitan Area Network)</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作用范围一般是一个城市，作用距离约为 </a:t>
                      </a:r>
                      <a:r>
                        <a:rPr lang="en-US" altLang="zh-CN" sz="1600" b="1" dirty="0">
                          <a:latin typeface="微软雅黑" panose="020B0503020204020204" pitchFamily="34" charset="-122"/>
                          <a:ea typeface="微软雅黑" panose="020B0503020204020204" pitchFamily="34" charset="-122"/>
                        </a:rPr>
                        <a:t>5~50 </a:t>
                      </a:r>
                      <a:r>
                        <a:rPr lang="zh-CN" altLang="en-US" sz="1600" b="1" dirty="0">
                          <a:latin typeface="微软雅黑" panose="020B0503020204020204" pitchFamily="34" charset="-122"/>
                          <a:ea typeface="微软雅黑" panose="020B0503020204020204" pitchFamily="34" charset="-122"/>
                        </a:rPr>
                        <a:t>公里。</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436720"/>
                  </a:ext>
                </a:extLst>
              </a:tr>
              <a:tr h="473606">
                <a:tc>
                  <a:txBody>
                    <a:bodyPr/>
                    <a:lstStyle/>
                    <a:p>
                      <a:pPr marL="0" algn="l" defTabSz="914400" rtl="0" eaLnBrk="1" latinLnBrk="0" hangingPunct="1"/>
                      <a:r>
                        <a:rPr lang="zh-CN" altLang="en-US" sz="1600" b="1" kern="1200" dirty="0">
                          <a:solidFill>
                            <a:srgbClr val="0000FF"/>
                          </a:solidFill>
                          <a:latin typeface="微软雅黑" panose="020B0503020204020204" pitchFamily="34" charset="-122"/>
                          <a:ea typeface="微软雅黑" panose="020B0503020204020204" pitchFamily="34" charset="-122"/>
                          <a:cs typeface="+mn-cs"/>
                        </a:rPr>
                        <a:t>局域网 </a:t>
                      </a:r>
                      <a:r>
                        <a:rPr lang="en-US" altLang="zh-CN" sz="1600" b="1" kern="1200" dirty="0">
                          <a:solidFill>
                            <a:srgbClr val="0000FF"/>
                          </a:solidFill>
                          <a:latin typeface="微软雅黑" panose="020B0503020204020204" pitchFamily="34" charset="-122"/>
                          <a:ea typeface="微软雅黑" panose="020B0503020204020204" pitchFamily="34" charset="-122"/>
                          <a:cs typeface="+mn-cs"/>
                        </a:rPr>
                        <a:t>LAN </a:t>
                      </a:r>
                    </a:p>
                    <a:p>
                      <a:pPr algn="l"/>
                      <a:r>
                        <a:rPr lang="en-US" altLang="zh-CN" sz="1600" b="1" dirty="0">
                          <a:latin typeface="微软雅黑" panose="020B0503020204020204" pitchFamily="34" charset="-122"/>
                          <a:ea typeface="微软雅黑" panose="020B0503020204020204" pitchFamily="34" charset="-122"/>
                        </a:rPr>
                        <a:t>(Local Area Network) </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局限在较小的范围（如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公里左右）。通常采用高速通信线路。</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2654821"/>
                  </a:ext>
                </a:extLst>
              </a:tr>
              <a:tr h="473606">
                <a:tc>
                  <a:txBody>
                    <a:bodyPr/>
                    <a:lstStyle/>
                    <a:p>
                      <a:pPr algn="l"/>
                      <a:r>
                        <a:rPr lang="zh-CN" altLang="en-US" sz="1600" b="1" kern="1200" dirty="0">
                          <a:solidFill>
                            <a:srgbClr val="0000FF"/>
                          </a:solidFill>
                          <a:latin typeface="微软雅黑" panose="020B0503020204020204" pitchFamily="34" charset="-122"/>
                          <a:ea typeface="微软雅黑" panose="020B0503020204020204" pitchFamily="34" charset="-122"/>
                          <a:cs typeface="+mn-cs"/>
                        </a:rPr>
                        <a:t>个人区域网 </a:t>
                      </a:r>
                      <a:r>
                        <a:rPr lang="en-US" altLang="zh-CN" sz="1600" b="1" kern="1200" dirty="0">
                          <a:solidFill>
                            <a:srgbClr val="0000FF"/>
                          </a:solidFill>
                          <a:latin typeface="微软雅黑" panose="020B0503020204020204" pitchFamily="34" charset="-122"/>
                          <a:ea typeface="微软雅黑" panose="020B0503020204020204" pitchFamily="34" charset="-122"/>
                          <a:cs typeface="+mn-cs"/>
                        </a:rPr>
                        <a:t>PAN </a:t>
                      </a:r>
                    </a:p>
                    <a:p>
                      <a:pPr algn="l"/>
                      <a:r>
                        <a:rPr lang="en-US" altLang="zh-CN" sz="1600" b="1" dirty="0">
                          <a:latin typeface="微软雅黑" panose="020B0503020204020204" pitchFamily="34" charset="-122"/>
                          <a:ea typeface="微软雅黑" panose="020B0503020204020204" pitchFamily="34" charset="-122"/>
                        </a:rPr>
                        <a:t>(Personal Area Network) </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范围很小，大约在 </a:t>
                      </a:r>
                      <a:r>
                        <a:rPr lang="en-US" altLang="zh-CN" sz="1600" b="1" dirty="0">
                          <a:latin typeface="微软雅黑" panose="020B0503020204020204" pitchFamily="34" charset="-122"/>
                          <a:ea typeface="微软雅黑" panose="020B0503020204020204" pitchFamily="34" charset="-122"/>
                        </a:rPr>
                        <a:t>10 </a:t>
                      </a:r>
                      <a:r>
                        <a:rPr lang="zh-CN" altLang="en-US" sz="1600" b="1" dirty="0">
                          <a:latin typeface="微软雅黑" panose="020B0503020204020204" pitchFamily="34" charset="-122"/>
                          <a:ea typeface="微软雅黑" panose="020B0503020204020204" pitchFamily="34" charset="-122"/>
                        </a:rPr>
                        <a:t>米左右。有时也称为</a:t>
                      </a:r>
                      <a:r>
                        <a:rPr lang="zh-CN" altLang="en-US" sz="1600" b="1" dirty="0">
                          <a:solidFill>
                            <a:srgbClr val="0000FF"/>
                          </a:solidFill>
                          <a:latin typeface="微软雅黑" panose="020B0503020204020204" pitchFamily="34" charset="-122"/>
                          <a:ea typeface="微软雅黑" panose="020B0503020204020204" pitchFamily="34" charset="-122"/>
                        </a:rPr>
                        <a:t>无线个人区域网</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WPAN (Wireless PAN)</a:t>
                      </a:r>
                      <a:r>
                        <a:rPr lang="zh-CN" altLang="en-US" sz="1600" b="1" dirty="0">
                          <a:latin typeface="微软雅黑" panose="020B0503020204020204" pitchFamily="34" charset="-122"/>
                          <a:ea typeface="微软雅黑" panose="020B0503020204020204" pitchFamily="34" charset="-122"/>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9985109"/>
                  </a:ext>
                </a:extLst>
              </a:tr>
            </a:tbl>
          </a:graphicData>
        </a:graphic>
      </p:graphicFrame>
      <p:sp>
        <p:nvSpPr>
          <p:cNvPr id="5" name="文本占位符 4"/>
          <p:cNvSpPr>
            <a:spLocks noGrp="1"/>
          </p:cNvSpPr>
          <p:nvPr>
            <p:ph type="body" sz="quarter" idx="11"/>
          </p:nvPr>
        </p:nvSpPr>
        <p:spPr/>
        <p:txBody>
          <a:bodyPr/>
          <a:lstStyle/>
          <a:p>
            <a:r>
              <a:rPr lang="en-US" altLang="zh-CN" dirty="0"/>
              <a:t>1. </a:t>
            </a:r>
            <a:r>
              <a:rPr lang="zh-CN" altLang="en-US" dirty="0"/>
              <a:t>按照网络的作用范围进行分类</a:t>
            </a:r>
          </a:p>
        </p:txBody>
      </p:sp>
      <p:sp>
        <p:nvSpPr>
          <p:cNvPr id="2" name="矩形 1"/>
          <p:cNvSpPr/>
          <p:nvPr/>
        </p:nvSpPr>
        <p:spPr>
          <a:xfrm>
            <a:off x="1327135" y="3791428"/>
            <a:ext cx="6196612" cy="759182"/>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若中央处理机之间的距离非常近（如仅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米甚至更小些），则一般就称之为</a:t>
            </a:r>
            <a:r>
              <a:rPr lang="zh-CN" altLang="en-US" b="1" dirty="0">
                <a:solidFill>
                  <a:srgbClr val="C00000"/>
                </a:solidFill>
                <a:latin typeface="微软雅黑" pitchFamily="34" charset="-122"/>
                <a:ea typeface="微软雅黑" pitchFamily="34" charset="-122"/>
              </a:rPr>
              <a:t>多处理机系统，</a:t>
            </a:r>
            <a:r>
              <a:rPr lang="zh-CN" altLang="en-US" b="1" dirty="0">
                <a:latin typeface="微软雅黑" pitchFamily="34" charset="-122"/>
                <a:ea typeface="微软雅黑" pitchFamily="34" charset="-122"/>
              </a:rPr>
              <a:t>而不称它为计算机网络。 </a:t>
            </a:r>
          </a:p>
        </p:txBody>
      </p:sp>
    </p:spTree>
    <p:extLst>
      <p:ext uri="{BB962C8B-B14F-4D97-AF65-F5344CB8AC3E}">
        <p14:creationId xmlns:p14="http://schemas.microsoft.com/office/powerpoint/2010/main" val="9585271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p:cNvGraphicFramePr>
            <a:graphicFrameLocks noGrp="1"/>
          </p:cNvGraphicFramePr>
          <p:nvPr>
            <p:ph sz="quarter" idx="10"/>
            <p:extLst>
              <p:ext uri="{D42A27DB-BD31-4B8C-83A1-F6EECF244321}">
                <p14:modId xmlns:p14="http://schemas.microsoft.com/office/powerpoint/2010/main" val="1251054638"/>
              </p:ext>
            </p:extLst>
          </p:nvPr>
        </p:nvGraphicFramePr>
        <p:xfrm>
          <a:off x="705393" y="1067195"/>
          <a:ext cx="7654835" cy="1493520"/>
        </p:xfrm>
        <a:graphic>
          <a:graphicData uri="http://schemas.openxmlformats.org/drawingml/2006/table">
            <a:tbl>
              <a:tblPr firstRow="1" bandRow="1" bandCol="1">
                <a:tableStyleId>{69012ECD-51FC-41F1-AA8D-1B2483CD663E}</a:tableStyleId>
              </a:tblPr>
              <a:tblGrid>
                <a:gridCol w="3108961">
                  <a:extLst>
                    <a:ext uri="{9D8B030D-6E8A-4147-A177-3AD203B41FA5}">
                      <a16:colId xmlns:a16="http://schemas.microsoft.com/office/drawing/2014/main" val="2752561288"/>
                    </a:ext>
                  </a:extLst>
                </a:gridCol>
                <a:gridCol w="4545874">
                  <a:extLst>
                    <a:ext uri="{9D8B030D-6E8A-4147-A177-3AD203B41FA5}">
                      <a16:colId xmlns:a16="http://schemas.microsoft.com/office/drawing/2014/main" val="1271823278"/>
                    </a:ext>
                  </a:extLst>
                </a:gridCol>
              </a:tblGrid>
              <a:tr h="274193">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类别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66"/>
                    </a:solidFill>
                  </a:tcPr>
                </a:tc>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作用范围或距离</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66"/>
                    </a:solidFill>
                  </a:tcPr>
                </a:tc>
                <a:extLst>
                  <a:ext uri="{0D108BD9-81ED-4DB2-BD59-A6C34878D82A}">
                    <a16:rowId xmlns:a16="http://schemas.microsoft.com/office/drawing/2014/main" val="3833287312"/>
                  </a:ext>
                </a:extLst>
              </a:tr>
              <a:tr h="473606">
                <a:tc>
                  <a:txBody>
                    <a:bodyPr/>
                    <a:lstStyle/>
                    <a:p>
                      <a:pPr algn="l"/>
                      <a:r>
                        <a:rPr lang="zh-CN" altLang="en-US" sz="1600" b="1" kern="1200" dirty="0">
                          <a:solidFill>
                            <a:srgbClr val="0000FF"/>
                          </a:solidFill>
                          <a:latin typeface="微软雅黑" pitchFamily="34" charset="-122"/>
                          <a:ea typeface="微软雅黑" pitchFamily="34" charset="-122"/>
                          <a:cs typeface="+mn-cs"/>
                        </a:rPr>
                        <a:t>公用网 </a:t>
                      </a:r>
                      <a:endParaRPr lang="en-US" altLang="zh-CN" sz="1600" b="1" kern="1200" dirty="0">
                        <a:solidFill>
                          <a:srgbClr val="0000FF"/>
                        </a:solidFill>
                        <a:latin typeface="微软雅黑" pitchFamily="34" charset="-122"/>
                        <a:ea typeface="微软雅黑" pitchFamily="34" charset="-122"/>
                        <a:cs typeface="+mn-cs"/>
                      </a:endParaRPr>
                    </a:p>
                    <a:p>
                      <a:pPr algn="l"/>
                      <a:r>
                        <a:rPr lang="en-US" altLang="zh-CN" sz="1600" b="1" dirty="0">
                          <a:latin typeface="微软雅黑" panose="020B0503020204020204" pitchFamily="34" charset="-122"/>
                          <a:ea typeface="微软雅黑" panose="020B0503020204020204" pitchFamily="34" charset="-122"/>
                        </a:rPr>
                        <a:t>(public network)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按规定交纳费用的人都可以使用的网络。也可称为</a:t>
                      </a:r>
                      <a:r>
                        <a:rPr lang="zh-CN" altLang="en-US" sz="1600" b="1" dirty="0">
                          <a:solidFill>
                            <a:srgbClr val="0000FF"/>
                          </a:solidFill>
                          <a:latin typeface="微软雅黑" panose="020B0503020204020204" pitchFamily="34" charset="-122"/>
                          <a:ea typeface="微软雅黑" panose="020B0503020204020204" pitchFamily="34" charset="-122"/>
                        </a:rPr>
                        <a:t>公众网。</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1952148"/>
                  </a:ext>
                </a:extLst>
              </a:tr>
              <a:tr h="473606">
                <a:tc>
                  <a:txBody>
                    <a:bodyPr/>
                    <a:lstStyle/>
                    <a:p>
                      <a:pPr algn="l"/>
                      <a:r>
                        <a:rPr lang="zh-CN" altLang="en-US" sz="1600" b="1" dirty="0">
                          <a:solidFill>
                            <a:srgbClr val="0000FF"/>
                          </a:solidFill>
                          <a:latin typeface="微软雅黑" pitchFamily="34" charset="-122"/>
                          <a:ea typeface="微软雅黑" pitchFamily="34" charset="-122"/>
                        </a:rPr>
                        <a:t>专用网</a:t>
                      </a:r>
                      <a:r>
                        <a:rPr lang="zh-CN" altLang="en-US" sz="1600" b="1" dirty="0">
                          <a:latin typeface="微软雅黑" pitchFamily="34" charset="-122"/>
                          <a:ea typeface="微软雅黑" pitchFamily="34" charset="-122"/>
                        </a:rPr>
                        <a:t> </a:t>
                      </a:r>
                      <a:endParaRPr lang="en-US" altLang="zh-CN" sz="1600" b="1" dirty="0">
                        <a:latin typeface="微软雅黑" pitchFamily="34" charset="-122"/>
                        <a:ea typeface="微软雅黑" pitchFamily="34" charset="-122"/>
                      </a:endParaRPr>
                    </a:p>
                    <a:p>
                      <a:pPr algn="l"/>
                      <a:r>
                        <a:rPr lang="en-US" altLang="zh-CN" sz="1600" b="1" dirty="0">
                          <a:latin typeface="微软雅黑" pitchFamily="34" charset="-122"/>
                          <a:ea typeface="微软雅黑" pitchFamily="34" charset="-122"/>
                        </a:rPr>
                        <a:t>(private network) </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为特殊业务工作的需要而建造的网络。</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436720"/>
                  </a:ext>
                </a:extLst>
              </a:tr>
            </a:tbl>
          </a:graphicData>
        </a:graphic>
      </p:graphicFrame>
      <p:sp>
        <p:nvSpPr>
          <p:cNvPr id="5" name="文本占位符 4"/>
          <p:cNvSpPr>
            <a:spLocks noGrp="1"/>
          </p:cNvSpPr>
          <p:nvPr>
            <p:ph type="body" sz="quarter" idx="11"/>
          </p:nvPr>
        </p:nvSpPr>
        <p:spPr/>
        <p:txBody>
          <a:bodyPr/>
          <a:lstStyle/>
          <a:p>
            <a:r>
              <a:rPr lang="en-US" altLang="zh-CN" dirty="0"/>
              <a:t>2. </a:t>
            </a:r>
            <a:r>
              <a:rPr lang="zh-CN" altLang="en-US" dirty="0"/>
              <a:t>按照网络的使用者进行分类</a:t>
            </a:r>
          </a:p>
        </p:txBody>
      </p:sp>
      <p:sp>
        <p:nvSpPr>
          <p:cNvPr id="2" name="矩形 1"/>
          <p:cNvSpPr/>
          <p:nvPr/>
        </p:nvSpPr>
        <p:spPr>
          <a:xfrm>
            <a:off x="1577947" y="2664629"/>
            <a:ext cx="5988105" cy="759182"/>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600"/>
              </a:lnSpc>
              <a:spcBef>
                <a:spcPts val="0"/>
              </a:spcBef>
            </a:pPr>
            <a:r>
              <a:rPr lang="zh-CN" altLang="en-US" b="1" dirty="0">
                <a:latin typeface="微软雅黑" pitchFamily="34" charset="-122"/>
                <a:ea typeface="微软雅黑" pitchFamily="34" charset="-122"/>
              </a:rPr>
              <a:t>公用网和专用网都可以传送多种业务。如传送的是计算机数据，则分别是</a:t>
            </a:r>
            <a:r>
              <a:rPr lang="zh-CN" altLang="en-US" b="1" dirty="0">
                <a:solidFill>
                  <a:srgbClr val="C00000"/>
                </a:solidFill>
                <a:latin typeface="微软雅黑" pitchFamily="34" charset="-122"/>
                <a:ea typeface="微软雅黑" pitchFamily="34" charset="-122"/>
              </a:rPr>
              <a:t>公用计算机网络</a:t>
            </a:r>
            <a:r>
              <a:rPr lang="zh-CN" altLang="en-US" b="1" dirty="0">
                <a:latin typeface="微软雅黑" pitchFamily="34" charset="-122"/>
                <a:ea typeface="微软雅黑" pitchFamily="34" charset="-122"/>
              </a:rPr>
              <a:t>和</a:t>
            </a:r>
            <a:r>
              <a:rPr lang="zh-CN" altLang="en-US" b="1" dirty="0">
                <a:solidFill>
                  <a:srgbClr val="C00000"/>
                </a:solidFill>
                <a:latin typeface="微软雅黑" pitchFamily="34" charset="-122"/>
                <a:ea typeface="微软雅黑" pitchFamily="34" charset="-122"/>
              </a:rPr>
              <a:t>专用计算机网络。 </a:t>
            </a:r>
          </a:p>
        </p:txBody>
      </p:sp>
    </p:spTree>
    <p:extLst>
      <p:ext uri="{BB962C8B-B14F-4D97-AF65-F5344CB8AC3E}">
        <p14:creationId xmlns:p14="http://schemas.microsoft.com/office/powerpoint/2010/main" val="9783827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3" y="971903"/>
            <a:ext cx="5571809" cy="3172691"/>
          </a:xfrm>
        </p:spPr>
        <p:txBody>
          <a:bodyPr/>
          <a:lstStyle/>
          <a:p>
            <a:r>
              <a:rPr lang="zh-CN" altLang="en-US" dirty="0">
                <a:solidFill>
                  <a:srgbClr val="C00000"/>
                </a:solidFill>
              </a:rPr>
              <a:t>接入网 </a:t>
            </a:r>
            <a:r>
              <a:rPr lang="en-US" altLang="zh-CN" dirty="0">
                <a:solidFill>
                  <a:srgbClr val="C00000"/>
                </a:solidFill>
              </a:rPr>
              <a:t>AN </a:t>
            </a:r>
            <a:r>
              <a:rPr lang="en-US" altLang="zh-CN" dirty="0"/>
              <a:t>(Access Network)</a:t>
            </a:r>
          </a:p>
          <a:p>
            <a:pPr marL="622300" lvl="1"/>
            <a:r>
              <a:rPr lang="zh-CN" altLang="en-US" dirty="0"/>
              <a:t>又称为</a:t>
            </a:r>
            <a:r>
              <a:rPr lang="zh-CN" altLang="en-US" dirty="0">
                <a:solidFill>
                  <a:srgbClr val="0000FF"/>
                </a:solidFill>
              </a:rPr>
              <a:t>本地接入网</a:t>
            </a:r>
            <a:r>
              <a:rPr lang="zh-CN" altLang="en-US" dirty="0"/>
              <a:t>或</a:t>
            </a:r>
            <a:r>
              <a:rPr lang="zh-CN" altLang="en-US" dirty="0">
                <a:solidFill>
                  <a:srgbClr val="0000FF"/>
                </a:solidFill>
              </a:rPr>
              <a:t>居民接入网。</a:t>
            </a:r>
            <a:endParaRPr lang="en-US" altLang="zh-CN" dirty="0">
              <a:solidFill>
                <a:srgbClr val="0000FF"/>
              </a:solidFill>
            </a:endParaRPr>
          </a:p>
          <a:p>
            <a:pPr marL="622300" lvl="1"/>
            <a:r>
              <a:rPr lang="zh-CN" altLang="en-US" dirty="0">
                <a:solidFill>
                  <a:srgbClr val="0000FF"/>
                </a:solidFill>
              </a:rPr>
              <a:t>用于将用户接入互联网。</a:t>
            </a:r>
          </a:p>
          <a:p>
            <a:pPr marL="622300" lvl="1"/>
            <a:r>
              <a:rPr lang="zh-CN" altLang="en-US" dirty="0"/>
              <a:t>实际上就是本地 </a:t>
            </a:r>
            <a:r>
              <a:rPr lang="en-US" altLang="zh-CN" dirty="0"/>
              <a:t>ISP </a:t>
            </a:r>
            <a:r>
              <a:rPr lang="zh-CN" altLang="en-US" dirty="0"/>
              <a:t>所拥有的网络，它既不是互联网的核心部分，也不是互联网的边缘部分。</a:t>
            </a:r>
          </a:p>
          <a:p>
            <a:pPr marL="622300" lvl="1"/>
            <a:r>
              <a:rPr lang="zh-CN" altLang="en-US" dirty="0"/>
              <a:t>是从某个用户端系统到本地 </a:t>
            </a:r>
            <a:r>
              <a:rPr lang="en-US" altLang="zh-CN" dirty="0"/>
              <a:t>ISP </a:t>
            </a:r>
            <a:r>
              <a:rPr lang="zh-CN" altLang="en-US" dirty="0"/>
              <a:t>的</a:t>
            </a:r>
            <a:r>
              <a:rPr lang="zh-CN" altLang="en-US" dirty="0">
                <a:solidFill>
                  <a:srgbClr val="C00000"/>
                </a:solidFill>
              </a:rPr>
              <a:t>第一个</a:t>
            </a:r>
            <a:r>
              <a:rPr lang="zh-CN" altLang="en-US" dirty="0"/>
              <a:t>路由器（也称为边缘路由器）之间的一种网络。</a:t>
            </a:r>
            <a:endParaRPr lang="en-US" altLang="zh-CN" dirty="0"/>
          </a:p>
          <a:p>
            <a:pPr marL="622300" lvl="1"/>
            <a:r>
              <a:rPr lang="zh-CN" altLang="en-US" dirty="0"/>
              <a:t>从覆盖的范围看，很多接入网还是属于局域网。</a:t>
            </a:r>
          </a:p>
        </p:txBody>
      </p:sp>
      <p:sp>
        <p:nvSpPr>
          <p:cNvPr id="5" name="文本占位符 4"/>
          <p:cNvSpPr>
            <a:spLocks noGrp="1"/>
          </p:cNvSpPr>
          <p:nvPr>
            <p:ph type="body" sz="quarter" idx="11"/>
          </p:nvPr>
        </p:nvSpPr>
        <p:spPr/>
        <p:txBody>
          <a:bodyPr/>
          <a:lstStyle/>
          <a:p>
            <a:r>
              <a:rPr lang="en-US" altLang="zh-CN" dirty="0"/>
              <a:t>3. </a:t>
            </a:r>
            <a:r>
              <a:rPr lang="zh-CN" altLang="en-US" dirty="0"/>
              <a:t>用来把用户接入到互联网的网络</a:t>
            </a:r>
          </a:p>
        </p:txBody>
      </p:sp>
      <p:grpSp>
        <p:nvGrpSpPr>
          <p:cNvPr id="74" name="组合 73"/>
          <p:cNvGrpSpPr/>
          <p:nvPr/>
        </p:nvGrpSpPr>
        <p:grpSpPr>
          <a:xfrm>
            <a:off x="5910047" y="1247574"/>
            <a:ext cx="2610599" cy="2905642"/>
            <a:chOff x="6144716" y="1121534"/>
            <a:chExt cx="2610599" cy="2905642"/>
          </a:xfrm>
        </p:grpSpPr>
        <p:grpSp>
          <p:nvGrpSpPr>
            <p:cNvPr id="73" name="组合 72"/>
            <p:cNvGrpSpPr/>
            <p:nvPr/>
          </p:nvGrpSpPr>
          <p:grpSpPr>
            <a:xfrm>
              <a:off x="6144716" y="1121534"/>
              <a:ext cx="2610599" cy="1222104"/>
              <a:chOff x="6144716" y="1121534"/>
              <a:chExt cx="2610599" cy="1222104"/>
            </a:xfrm>
          </p:grpSpPr>
          <p:grpSp>
            <p:nvGrpSpPr>
              <p:cNvPr id="23" name="组合 22"/>
              <p:cNvGrpSpPr/>
              <p:nvPr/>
            </p:nvGrpSpPr>
            <p:grpSpPr>
              <a:xfrm rot="542862">
                <a:off x="6144716" y="1121534"/>
                <a:ext cx="2610599" cy="1222104"/>
                <a:chOff x="3291761" y="1881768"/>
                <a:chExt cx="2359495" cy="1384214"/>
              </a:xfrm>
            </p:grpSpPr>
            <p:sp>
              <p:nvSpPr>
                <p:cNvPr id="56" name="Oval 8"/>
                <p:cNvSpPr>
                  <a:spLocks noChangeArrowheads="1"/>
                </p:cNvSpPr>
                <p:nvPr/>
              </p:nvSpPr>
              <p:spPr bwMode="auto">
                <a:xfrm rot="19925028">
                  <a:off x="4232468" y="2618460"/>
                  <a:ext cx="1254312" cy="556788"/>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57" name="Oval 4"/>
                <p:cNvSpPr>
                  <a:spLocks noChangeArrowheads="1"/>
                </p:cNvSpPr>
                <p:nvPr/>
              </p:nvSpPr>
              <p:spPr bwMode="auto">
                <a:xfrm rot="19925028">
                  <a:off x="3498803" y="1982820"/>
                  <a:ext cx="1062001" cy="499257"/>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58" name="Oval 5"/>
                <p:cNvSpPr>
                  <a:spLocks noChangeArrowheads="1"/>
                </p:cNvSpPr>
                <p:nvPr/>
              </p:nvSpPr>
              <p:spPr bwMode="auto">
                <a:xfrm rot="20825028">
                  <a:off x="4210122" y="1881768"/>
                  <a:ext cx="927560" cy="46373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59" name="Oval 6"/>
                <p:cNvSpPr>
                  <a:spLocks noChangeArrowheads="1"/>
                </p:cNvSpPr>
                <p:nvPr/>
              </p:nvSpPr>
              <p:spPr bwMode="auto">
                <a:xfrm rot="21425028">
                  <a:off x="4888010" y="2050856"/>
                  <a:ext cx="685001" cy="59980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60" name="Oval 7"/>
                <p:cNvSpPr>
                  <a:spLocks noChangeArrowheads="1"/>
                </p:cNvSpPr>
                <p:nvPr/>
              </p:nvSpPr>
              <p:spPr bwMode="auto">
                <a:xfrm rot="18365028">
                  <a:off x="5084601" y="2303123"/>
                  <a:ext cx="495255" cy="63805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61" name="Oval 9"/>
                <p:cNvSpPr>
                  <a:spLocks noChangeArrowheads="1"/>
                </p:cNvSpPr>
                <p:nvPr/>
              </p:nvSpPr>
              <p:spPr bwMode="auto">
                <a:xfrm rot="21005028">
                  <a:off x="3781908" y="2880783"/>
                  <a:ext cx="830109" cy="38519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62" name="Oval 10"/>
                <p:cNvSpPr>
                  <a:spLocks noChangeArrowheads="1"/>
                </p:cNvSpPr>
                <p:nvPr/>
              </p:nvSpPr>
              <p:spPr bwMode="auto">
                <a:xfrm rot="19925028">
                  <a:off x="3463237" y="2713197"/>
                  <a:ext cx="525666" cy="455235"/>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63" name="Oval 11"/>
                <p:cNvSpPr>
                  <a:spLocks noChangeArrowheads="1"/>
                </p:cNvSpPr>
                <p:nvPr/>
              </p:nvSpPr>
              <p:spPr bwMode="auto">
                <a:xfrm rot="18065028">
                  <a:off x="3319014" y="2284496"/>
                  <a:ext cx="571297" cy="62580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64" name="Freeform 12"/>
                <p:cNvSpPr/>
                <p:nvPr/>
              </p:nvSpPr>
              <p:spPr bwMode="auto">
                <a:xfrm>
                  <a:off x="3512318" y="1968814"/>
                  <a:ext cx="2020147" cy="121412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grpSp>
          <p:sp>
            <p:nvSpPr>
              <p:cNvPr id="24" name="Line 14"/>
              <p:cNvSpPr>
                <a:spLocks noChangeShapeType="1"/>
              </p:cNvSpPr>
              <p:nvPr/>
            </p:nvSpPr>
            <p:spPr bwMode="auto">
              <a:xfrm>
                <a:off x="6614431" y="1661676"/>
                <a:ext cx="807064" cy="14933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25" name="Line 19"/>
              <p:cNvSpPr>
                <a:spLocks noChangeShapeType="1"/>
              </p:cNvSpPr>
              <p:nvPr/>
            </p:nvSpPr>
            <p:spPr bwMode="auto">
              <a:xfrm>
                <a:off x="7461156" y="1762360"/>
                <a:ext cx="4421" cy="35213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26" name="Line 15"/>
              <p:cNvSpPr>
                <a:spLocks noChangeShapeType="1"/>
              </p:cNvSpPr>
              <p:nvPr/>
            </p:nvSpPr>
            <p:spPr bwMode="auto">
              <a:xfrm flipH="1">
                <a:off x="7610781" y="1526097"/>
                <a:ext cx="587219" cy="2849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27" name="Line 16"/>
              <p:cNvSpPr>
                <a:spLocks noChangeShapeType="1"/>
              </p:cNvSpPr>
              <p:nvPr/>
            </p:nvSpPr>
            <p:spPr bwMode="auto">
              <a:xfrm flipV="1">
                <a:off x="6568928" y="1401359"/>
                <a:ext cx="818737" cy="22740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28" name="Line 18"/>
              <p:cNvSpPr>
                <a:spLocks noChangeShapeType="1"/>
              </p:cNvSpPr>
              <p:nvPr/>
            </p:nvSpPr>
            <p:spPr bwMode="auto">
              <a:xfrm>
                <a:off x="7340210" y="1382431"/>
                <a:ext cx="849590" cy="1493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grpSp>
            <p:nvGrpSpPr>
              <p:cNvPr id="29" name="Group 91"/>
              <p:cNvGrpSpPr/>
              <p:nvPr/>
            </p:nvGrpSpPr>
            <p:grpSpPr bwMode="auto">
              <a:xfrm>
                <a:off x="7076296" y="1583569"/>
                <a:ext cx="723152" cy="332967"/>
                <a:chOff x="2949" y="196"/>
                <a:chExt cx="941" cy="598"/>
              </a:xfrm>
            </p:grpSpPr>
            <p:sp>
              <p:nvSpPr>
                <p:cNvPr id="45"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6"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7"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8"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9"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50"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51"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52"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53"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54"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55"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pic>
            <p:nvPicPr>
              <p:cNvPr id="3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40375" y="2022144"/>
                <a:ext cx="495054" cy="250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33" name="Group 151"/>
              <p:cNvGrpSpPr/>
              <p:nvPr/>
            </p:nvGrpSpPr>
            <p:grpSpPr bwMode="auto">
              <a:xfrm rot="20600977">
                <a:off x="7153351" y="1292473"/>
                <a:ext cx="433883" cy="192432"/>
                <a:chOff x="2949" y="196"/>
                <a:chExt cx="941" cy="598"/>
              </a:xfrm>
            </p:grpSpPr>
            <p:sp>
              <p:nvSpPr>
                <p:cNvPr id="34"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35"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36"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37"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38"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39"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0"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1"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2"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43"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44"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sp>
            <p:nvSpPr>
              <p:cNvPr id="65" name="矩形 64"/>
              <p:cNvSpPr/>
              <p:nvPr/>
            </p:nvSpPr>
            <p:spPr>
              <a:xfrm>
                <a:off x="7804514" y="1881867"/>
                <a:ext cx="692818" cy="261610"/>
              </a:xfrm>
              <a:prstGeom prst="rect">
                <a:avLst/>
              </a:prstGeom>
            </p:spPr>
            <p:txBody>
              <a:bodyPr wrap="none">
                <a:spAutoFit/>
              </a:bodyPr>
              <a:lstStyle/>
              <a:p>
                <a:pPr eaLnBrk="0" hangingPunct="0"/>
                <a:r>
                  <a:rPr lang="zh-CN" altLang="en-US" sz="1100" b="1" dirty="0">
                    <a:solidFill>
                      <a:srgbClr val="0000FF"/>
                    </a:solidFill>
                    <a:latin typeface="微软雅黑" panose="020B0503020204020204" pitchFamily="34" charset="-122"/>
                    <a:ea typeface="微软雅黑" panose="020B0503020204020204" pitchFamily="34" charset="-122"/>
                  </a:rPr>
                  <a:t>本地</a:t>
                </a:r>
                <a:r>
                  <a:rPr lang="en-US" altLang="zh-CN" sz="1100" b="1" dirty="0">
                    <a:solidFill>
                      <a:srgbClr val="0000FF"/>
                    </a:solidFill>
                    <a:latin typeface="微软雅黑" panose="020B0503020204020204" pitchFamily="34" charset="-122"/>
                    <a:ea typeface="微软雅黑" panose="020B0503020204020204" pitchFamily="34" charset="-122"/>
                  </a:rPr>
                  <a:t>ISP</a:t>
                </a:r>
                <a:endParaRPr lang="zh-CN" altLang="en-US" sz="1100" b="1" dirty="0">
                  <a:solidFill>
                    <a:srgbClr val="0000FF"/>
                  </a:solidFill>
                  <a:latin typeface="微软雅黑" panose="020B0503020204020204" pitchFamily="34" charset="-122"/>
                  <a:ea typeface="微软雅黑" panose="020B0503020204020204" pitchFamily="34" charset="-122"/>
                </a:endParaRPr>
              </a:p>
            </p:txBody>
          </p:sp>
          <p:sp>
            <p:nvSpPr>
              <p:cNvPr id="71" name="Line 18"/>
              <p:cNvSpPr>
                <a:spLocks noChangeShapeType="1"/>
              </p:cNvSpPr>
              <p:nvPr/>
            </p:nvSpPr>
            <p:spPr bwMode="auto">
              <a:xfrm flipV="1">
                <a:off x="8186006" y="1269750"/>
                <a:ext cx="247507" cy="268653"/>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pic>
            <p:nvPicPr>
              <p:cNvPr id="32"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56896" y="1478046"/>
                <a:ext cx="427758" cy="160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Line 18"/>
              <p:cNvSpPr>
                <a:spLocks noChangeShapeType="1"/>
              </p:cNvSpPr>
              <p:nvPr/>
            </p:nvSpPr>
            <p:spPr bwMode="auto">
              <a:xfrm flipH="1" flipV="1">
                <a:off x="6275644" y="1149926"/>
                <a:ext cx="264521" cy="493601"/>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pic>
            <p:nvPicPr>
              <p:cNvPr id="3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05503" y="1585553"/>
                <a:ext cx="427758" cy="17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grpSp>
          <p:nvGrpSpPr>
            <p:cNvPr id="69" name="组合 68"/>
            <p:cNvGrpSpPr/>
            <p:nvPr/>
          </p:nvGrpSpPr>
          <p:grpSpPr>
            <a:xfrm>
              <a:off x="6357254" y="2272472"/>
              <a:ext cx="2239962" cy="1754704"/>
              <a:chOff x="6357254" y="2272472"/>
              <a:chExt cx="2239962" cy="1754704"/>
            </a:xfrm>
          </p:grpSpPr>
          <p:grpSp>
            <p:nvGrpSpPr>
              <p:cNvPr id="68" name="组合 67"/>
              <p:cNvGrpSpPr/>
              <p:nvPr/>
            </p:nvGrpSpPr>
            <p:grpSpPr>
              <a:xfrm>
                <a:off x="6357254" y="2605585"/>
                <a:ext cx="2239962" cy="1421591"/>
                <a:chOff x="6357254" y="2605585"/>
                <a:chExt cx="2239962" cy="1421591"/>
              </a:xfrm>
            </p:grpSpPr>
            <p:sp>
              <p:nvSpPr>
                <p:cNvPr id="9" name="Line 17"/>
                <p:cNvSpPr>
                  <a:spLocks noChangeShapeType="1"/>
                </p:cNvSpPr>
                <p:nvPr/>
              </p:nvSpPr>
              <p:spPr bwMode="auto">
                <a:xfrm flipV="1">
                  <a:off x="6526065" y="3256686"/>
                  <a:ext cx="261782" cy="37199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pic>
              <p:nvPicPr>
                <p:cNvPr id="11" name="图片 10"/>
                <p:cNvPicPr>
                  <a:picLocks noChangeAspect="1"/>
                </p:cNvPicPr>
                <p:nvPr/>
              </p:nvPicPr>
              <p:blipFill rotWithShape="1">
                <a:blip r:embed="rId4" cstate="print">
                  <a:extLst>
                    <a:ext uri="{28A0092B-C50C-407E-A947-70E740481C1C}">
                      <a14:useLocalDpi xmlns:a14="http://schemas.microsoft.com/office/drawing/2010/main" val="0"/>
                    </a:ext>
                  </a:extLst>
                </a:blip>
                <a:srcRect l="12119" r="11766"/>
                <a:stretch/>
              </p:blipFill>
              <p:spPr>
                <a:xfrm flipH="1">
                  <a:off x="7703263" y="3595416"/>
                  <a:ext cx="267428" cy="431760"/>
                </a:xfrm>
                <a:prstGeom prst="rect">
                  <a:avLst/>
                </a:prstGeom>
              </p:spPr>
            </p:pic>
            <p:sp>
              <p:nvSpPr>
                <p:cNvPr id="12" name="椭圆 11"/>
                <p:cNvSpPr/>
                <p:nvPr/>
              </p:nvSpPr>
              <p:spPr>
                <a:xfrm>
                  <a:off x="6388256" y="2605585"/>
                  <a:ext cx="2208960" cy="741579"/>
                </a:xfrm>
                <a:prstGeom prst="ellipse">
                  <a:avLst/>
                </a:prstGeom>
                <a:solidFill>
                  <a:srgbClr val="33CC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79090" y="2929431"/>
                  <a:ext cx="234039" cy="326725"/>
                </a:xfrm>
                <a:prstGeom prst="rect">
                  <a:avLst/>
                </a:prstGeom>
              </p:spPr>
            </p:pic>
            <p:pic>
              <p:nvPicPr>
                <p:cNvPr id="15" name="图片 14" descr="LAN-蓝.png"/>
                <p:cNvPicPr>
                  <a:picLocks noChangeAspect="1"/>
                </p:cNvPicPr>
                <p:nvPr/>
              </p:nvPicPr>
              <p:blipFill>
                <a:blip r:embed="rId6" cstate="print"/>
                <a:stretch>
                  <a:fillRect/>
                </a:stretch>
              </p:blipFill>
              <p:spPr>
                <a:xfrm>
                  <a:off x="6669206" y="2910534"/>
                  <a:ext cx="488612" cy="263499"/>
                </a:xfrm>
                <a:prstGeom prst="rect">
                  <a:avLst/>
                </a:prstGeom>
              </p:spPr>
            </p:pic>
            <p:pic>
              <p:nvPicPr>
                <p:cNvPr id="16" name="图片 15" descr="PSTN-蓝.png"/>
                <p:cNvPicPr>
                  <a:picLocks noChangeAspect="1"/>
                </p:cNvPicPr>
                <p:nvPr/>
              </p:nvPicPr>
              <p:blipFill>
                <a:blip r:embed="rId7" cstate="print"/>
                <a:stretch>
                  <a:fillRect/>
                </a:stretch>
              </p:blipFill>
              <p:spPr>
                <a:xfrm>
                  <a:off x="7803913" y="2895430"/>
                  <a:ext cx="532346" cy="287084"/>
                </a:xfrm>
                <a:prstGeom prst="rect">
                  <a:avLst/>
                </a:prstGeom>
              </p:spPr>
            </p:pic>
            <p:sp>
              <p:nvSpPr>
                <p:cNvPr id="17" name="Line 17"/>
                <p:cNvSpPr>
                  <a:spLocks noChangeShapeType="1"/>
                </p:cNvSpPr>
                <p:nvPr/>
              </p:nvSpPr>
              <p:spPr bwMode="auto">
                <a:xfrm flipV="1">
                  <a:off x="7133258" y="3315598"/>
                  <a:ext cx="68263" cy="32254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18" name="Line 17"/>
                <p:cNvSpPr>
                  <a:spLocks noChangeShapeType="1"/>
                </p:cNvSpPr>
                <p:nvPr/>
              </p:nvSpPr>
              <p:spPr bwMode="auto">
                <a:xfrm flipH="1" flipV="1">
                  <a:off x="8163665" y="3256686"/>
                  <a:ext cx="246450" cy="39016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pic>
              <p:nvPicPr>
                <p:cNvPr id="19" name="图片 18" descr="wifi信号蓝.png"/>
                <p:cNvPicPr>
                  <a:picLocks noChangeAspect="1"/>
                </p:cNvPicPr>
                <p:nvPr/>
              </p:nvPicPr>
              <p:blipFill>
                <a:blip r:embed="rId8" cstate="print"/>
                <a:stretch>
                  <a:fillRect/>
                </a:stretch>
              </p:blipFill>
              <p:spPr>
                <a:xfrm>
                  <a:off x="7725041" y="3360335"/>
                  <a:ext cx="218732" cy="194596"/>
                </a:xfrm>
                <a:prstGeom prst="rect">
                  <a:avLst/>
                </a:prstGeom>
              </p:spPr>
            </p:pic>
            <p:pic>
              <p:nvPicPr>
                <p:cNvPr id="20" name="Picture 246" descr="jisuanji"/>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7254" y="3542758"/>
                  <a:ext cx="378025" cy="3656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图片 20" descr="SAN网络-蓝.png"/>
                <p:cNvPicPr>
                  <a:picLocks noChangeAspect="1"/>
                </p:cNvPicPr>
                <p:nvPr/>
              </p:nvPicPr>
              <p:blipFill>
                <a:blip r:embed="rId10" cstate="print"/>
                <a:stretch>
                  <a:fillRect/>
                </a:stretch>
              </p:blipFill>
              <p:spPr>
                <a:xfrm>
                  <a:off x="8273037" y="3527191"/>
                  <a:ext cx="324178" cy="280782"/>
                </a:xfrm>
                <a:prstGeom prst="rect">
                  <a:avLst/>
                </a:prstGeom>
              </p:spPr>
            </p:pic>
            <p:pic>
              <p:nvPicPr>
                <p:cNvPr id="22" name="图片 38"/>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7019451" y="3512809"/>
                  <a:ext cx="263394" cy="3915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7"/>
                <p:cNvSpPr/>
                <p:nvPr/>
              </p:nvSpPr>
              <p:spPr>
                <a:xfrm>
                  <a:off x="7196830" y="2608936"/>
                  <a:ext cx="692818" cy="276999"/>
                </a:xfrm>
                <a:prstGeom prst="rect">
                  <a:avLst/>
                </a:prstGeom>
              </p:spPr>
              <p:txBody>
                <a:bodyPr wrap="none">
                  <a:spAutoFit/>
                </a:bodyPr>
                <a:lstStyle/>
                <a:p>
                  <a:r>
                    <a:rPr lang="zh-CN" altLang="en-US" sz="1200" b="1" dirty="0">
                      <a:solidFill>
                        <a:srgbClr val="0000FF"/>
                      </a:solidFill>
                      <a:latin typeface="微软雅黑" pitchFamily="34" charset="-122"/>
                      <a:ea typeface="微软雅黑" pitchFamily="34" charset="-122"/>
                    </a:rPr>
                    <a:t>接入网 </a:t>
                  </a:r>
                  <a:endParaRPr lang="zh-CN" altLang="en-US" sz="1200" dirty="0">
                    <a:solidFill>
                      <a:srgbClr val="0000FF"/>
                    </a:solidFill>
                  </a:endParaRPr>
                </a:p>
              </p:txBody>
            </p:sp>
          </p:grpSp>
          <p:cxnSp>
            <p:nvCxnSpPr>
              <p:cNvPr id="13" name="直接连接符 12"/>
              <p:cNvCxnSpPr>
                <a:stCxn id="30" idx="2"/>
                <a:endCxn id="12" idx="0"/>
              </p:cNvCxnSpPr>
              <p:nvPr/>
            </p:nvCxnSpPr>
            <p:spPr>
              <a:xfrm>
                <a:off x="7487902" y="2272472"/>
                <a:ext cx="4834" cy="333113"/>
              </a:xfrm>
              <a:prstGeom prst="line">
                <a:avLst/>
              </a:prstGeom>
              <a:ln w="28575">
                <a:solidFill>
                  <a:srgbClr val="000099"/>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9042085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7"/>
          <p:cNvSpPr>
            <a:spLocks noChangeArrowheads="1"/>
          </p:cNvSpPr>
          <p:nvPr/>
        </p:nvSpPr>
        <p:spPr bwMode="auto">
          <a:xfrm>
            <a:off x="639730" y="1343033"/>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charset="-122"/>
              <a:ea typeface="+mn-ea"/>
            </a:endParaRPr>
          </a:p>
        </p:txBody>
      </p:sp>
      <p:sp>
        <p:nvSpPr>
          <p:cNvPr id="97285" name="Rectangle 29"/>
          <p:cNvSpPr>
            <a:spLocks noChangeArrowheads="1"/>
          </p:cNvSpPr>
          <p:nvPr/>
        </p:nvSpPr>
        <p:spPr bwMode="auto">
          <a:xfrm>
            <a:off x="649288" y="1438599"/>
            <a:ext cx="1627187" cy="1014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1.6</a:t>
            </a:r>
          </a:p>
          <a:p>
            <a:r>
              <a:rPr lang="zh-CN" altLang="zh-CN" sz="2000" b="1">
                <a:solidFill>
                  <a:schemeClr val="bg1"/>
                </a:solidFill>
                <a:latin typeface="微软雅黑" pitchFamily="34" charset="-122"/>
                <a:ea typeface="微软雅黑" pitchFamily="34" charset="-122"/>
              </a:rPr>
              <a:t>计算机网络的性能</a:t>
            </a:r>
            <a:endParaRPr lang="zh-CN" altLang="en-US" sz="2000" b="1">
              <a:solidFill>
                <a:schemeClr val="bg1"/>
              </a:solidFill>
              <a:latin typeface="微软雅黑" pitchFamily="34" charset="-122"/>
              <a:ea typeface="微软雅黑" pitchFamily="34" charset="-122"/>
            </a:endParaRPr>
          </a:p>
        </p:txBody>
      </p:sp>
      <p:sp>
        <p:nvSpPr>
          <p:cNvPr id="4" name="Rectangle 9"/>
          <p:cNvSpPr>
            <a:spLocks noChangeArrowheads="1"/>
          </p:cNvSpPr>
          <p:nvPr/>
        </p:nvSpPr>
        <p:spPr bwMode="auto">
          <a:xfrm>
            <a:off x="2628900" y="1343349"/>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5" name="Rectangle 10"/>
          <p:cNvSpPr>
            <a:spLocks noChangeArrowheads="1"/>
          </p:cNvSpPr>
          <p:nvPr/>
        </p:nvSpPr>
        <p:spPr bwMode="auto">
          <a:xfrm>
            <a:off x="2628900" y="1949774"/>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97288" name="Line 16"/>
          <p:cNvSpPr>
            <a:spLocks noChangeShapeType="1"/>
          </p:cNvSpPr>
          <p:nvPr/>
        </p:nvSpPr>
        <p:spPr bwMode="auto">
          <a:xfrm>
            <a:off x="3636963" y="1271911"/>
            <a:ext cx="0" cy="118110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7289" name="Rectangle 8"/>
          <p:cNvSpPr>
            <a:spLocks noChangeArrowheads="1"/>
          </p:cNvSpPr>
          <p:nvPr/>
        </p:nvSpPr>
        <p:spPr bwMode="auto">
          <a:xfrm>
            <a:off x="2700338" y="1308424"/>
            <a:ext cx="5472112" cy="1016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a:solidFill>
                  <a:schemeClr val="bg1"/>
                </a:solidFill>
                <a:latin typeface="微软雅黑" pitchFamily="34" charset="-122"/>
                <a:ea typeface="微软雅黑" pitchFamily="34" charset="-122"/>
              </a:rPr>
              <a:t>1.6.1                           </a:t>
            </a:r>
            <a:r>
              <a:rPr lang="zh-CN" altLang="zh-CN" sz="2000" b="1">
                <a:solidFill>
                  <a:schemeClr val="bg1"/>
                </a:solidFill>
                <a:ea typeface="微软雅黑" pitchFamily="34" charset="-122"/>
              </a:rPr>
              <a:t>计算机网络的性能指标</a:t>
            </a:r>
            <a:endParaRPr lang="en-US" altLang="zh-CN" sz="2000" b="1">
              <a:solidFill>
                <a:schemeClr val="bg1"/>
              </a:solidFill>
              <a:ea typeface="微软雅黑" pitchFamily="34" charset="-122"/>
            </a:endParaRPr>
          </a:p>
          <a:p>
            <a:endParaRPr lang="zh-CN" altLang="zh-CN" sz="2000" b="1">
              <a:solidFill>
                <a:schemeClr val="bg1"/>
              </a:solidFill>
              <a:ea typeface="微软雅黑" pitchFamily="34" charset="-122"/>
            </a:endParaRPr>
          </a:p>
          <a:p>
            <a:r>
              <a:rPr lang="en-US" altLang="zh-CN" sz="2000" b="1">
                <a:solidFill>
                  <a:schemeClr val="bg1"/>
                </a:solidFill>
                <a:latin typeface="微软雅黑" pitchFamily="34" charset="-122"/>
                <a:ea typeface="微软雅黑" pitchFamily="34" charset="-122"/>
              </a:rPr>
              <a:t>1.6.2                        </a:t>
            </a:r>
            <a:r>
              <a:rPr lang="zh-CN" altLang="zh-CN" sz="2000" b="1">
                <a:solidFill>
                  <a:schemeClr val="bg1"/>
                </a:solidFill>
                <a:ea typeface="微软雅黑" pitchFamily="34" charset="-122"/>
              </a:rPr>
              <a:t>计算机网络的非性能特征</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D31F4F29-D8B7-C279-6E15-4E7EC0A4D8E5}"/>
              </a:ext>
            </a:extLst>
          </p:cNvPr>
          <p:cNvSpPr>
            <a:spLocks noGrp="1"/>
          </p:cNvSpPr>
          <p:nvPr>
            <p:ph sz="quarter" idx="10"/>
          </p:nvPr>
        </p:nvSpPr>
        <p:spPr>
          <a:xfrm>
            <a:off x="466344" y="969626"/>
            <a:ext cx="8129016" cy="3389873"/>
          </a:xfrm>
        </p:spPr>
        <p:txBody>
          <a:bodyPr/>
          <a:lstStyle/>
          <a:p>
            <a:r>
              <a:rPr lang="zh-CN" altLang="en-US" dirty="0"/>
              <a:t>性能指标：</a:t>
            </a:r>
            <a:endParaRPr lang="en-US" altLang="zh-CN" dirty="0"/>
          </a:p>
          <a:p>
            <a:r>
              <a:rPr lang="zh-CN" altLang="en-US" dirty="0"/>
              <a:t>从不同的方面来度量计算机网络的性能。</a:t>
            </a:r>
          </a:p>
          <a:p>
            <a:endParaRPr lang="zh-CN" altLang="en-US" dirty="0"/>
          </a:p>
        </p:txBody>
      </p:sp>
      <p:sp>
        <p:nvSpPr>
          <p:cNvPr id="2" name="文本占位符 1"/>
          <p:cNvSpPr>
            <a:spLocks noGrp="1"/>
          </p:cNvSpPr>
          <p:nvPr>
            <p:ph type="body" sz="quarter" idx="11"/>
          </p:nvPr>
        </p:nvSpPr>
        <p:spPr>
          <a:xfrm>
            <a:off x="1214565" y="616998"/>
            <a:ext cx="6632575" cy="338554"/>
          </a:xfrm>
        </p:spPr>
        <p:txBody>
          <a:bodyPr/>
          <a:lstStyle/>
          <a:p>
            <a:r>
              <a:rPr lang="en-US" altLang="zh-CN" dirty="0"/>
              <a:t>1.6.1  </a:t>
            </a:r>
            <a:r>
              <a:rPr lang="zh-CN" altLang="en-US" dirty="0"/>
              <a:t>计算机网络的性能指标</a:t>
            </a:r>
          </a:p>
        </p:txBody>
      </p:sp>
      <p:graphicFrame>
        <p:nvGraphicFramePr>
          <p:cNvPr id="5" name="图示 4"/>
          <p:cNvGraphicFramePr/>
          <p:nvPr>
            <p:extLst>
              <p:ext uri="{D42A27DB-BD31-4B8C-83A1-F6EECF244321}">
                <p14:modId xmlns:p14="http://schemas.microsoft.com/office/powerpoint/2010/main" val="4050962110"/>
              </p:ext>
            </p:extLst>
          </p:nvPr>
        </p:nvGraphicFramePr>
        <p:xfrm>
          <a:off x="3329234" y="1264394"/>
          <a:ext cx="5713731" cy="31525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284328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p:txBody>
          <a:bodyPr/>
          <a:lstStyle/>
          <a:p>
            <a:r>
              <a:rPr lang="zh-CN" altLang="en-US" dirty="0"/>
              <a:t>最重要的一个性能指标。</a:t>
            </a:r>
            <a:endParaRPr lang="en-US" altLang="zh-CN" dirty="0"/>
          </a:p>
          <a:p>
            <a:r>
              <a:rPr lang="zh-CN" altLang="en-US" dirty="0"/>
              <a:t>指的是</a:t>
            </a:r>
            <a:r>
              <a:rPr lang="zh-CN" altLang="en-US" dirty="0">
                <a:solidFill>
                  <a:srgbClr val="C00000"/>
                </a:solidFill>
              </a:rPr>
              <a:t>数据的传送速率，</a:t>
            </a:r>
            <a:r>
              <a:rPr lang="zh-CN" altLang="en-US" dirty="0"/>
              <a:t>也称为</a:t>
            </a:r>
            <a:r>
              <a:rPr lang="zh-CN" altLang="en-US" dirty="0">
                <a:solidFill>
                  <a:srgbClr val="C00000"/>
                </a:solidFill>
              </a:rPr>
              <a:t>数据率</a:t>
            </a:r>
            <a:r>
              <a:rPr lang="zh-CN" altLang="en-US" dirty="0"/>
              <a:t> </a:t>
            </a:r>
            <a:r>
              <a:rPr lang="en-US" altLang="zh-CN" dirty="0"/>
              <a:t>(data rate) </a:t>
            </a:r>
            <a:r>
              <a:rPr lang="zh-CN" altLang="en-US" dirty="0"/>
              <a:t>或</a:t>
            </a:r>
            <a:r>
              <a:rPr lang="zh-CN" altLang="en-US" dirty="0">
                <a:solidFill>
                  <a:srgbClr val="C00000"/>
                </a:solidFill>
              </a:rPr>
              <a:t>比特率</a:t>
            </a:r>
            <a:r>
              <a:rPr lang="zh-CN" altLang="en-US" dirty="0"/>
              <a:t> </a:t>
            </a:r>
            <a:r>
              <a:rPr lang="en-US" altLang="zh-CN" dirty="0"/>
              <a:t>(bit rate)</a:t>
            </a:r>
            <a:r>
              <a:rPr lang="zh-CN" altLang="en-US" dirty="0"/>
              <a:t>。</a:t>
            </a:r>
          </a:p>
          <a:p>
            <a:r>
              <a:rPr lang="zh-CN" altLang="en-US" dirty="0">
                <a:solidFill>
                  <a:srgbClr val="0000FF"/>
                </a:solidFill>
              </a:rPr>
              <a:t>单位：</a:t>
            </a:r>
            <a:r>
              <a:rPr lang="en-US" altLang="zh-CN" dirty="0"/>
              <a:t>bit/s</a:t>
            </a:r>
            <a:r>
              <a:rPr lang="zh-CN" altLang="en-US" dirty="0"/>
              <a:t>，或 </a:t>
            </a:r>
            <a:r>
              <a:rPr lang="en-US" altLang="zh-CN" dirty="0" err="1"/>
              <a:t>kbit</a:t>
            </a:r>
            <a:r>
              <a:rPr lang="en-US" altLang="zh-CN" dirty="0"/>
              <a:t>/s</a:t>
            </a:r>
            <a:r>
              <a:rPr lang="zh-CN" altLang="en-US" dirty="0"/>
              <a:t>、</a:t>
            </a:r>
            <a:r>
              <a:rPr lang="en-US" altLang="zh-CN" dirty="0"/>
              <a:t>Mbit/s</a:t>
            </a:r>
            <a:r>
              <a:rPr lang="zh-CN" altLang="en-US" dirty="0"/>
              <a:t>、 </a:t>
            </a:r>
            <a:r>
              <a:rPr lang="en-US" altLang="zh-CN" dirty="0" err="1"/>
              <a:t>Gbit</a:t>
            </a:r>
            <a:r>
              <a:rPr lang="en-US" altLang="zh-CN" dirty="0"/>
              <a:t>/s </a:t>
            </a:r>
            <a:r>
              <a:rPr lang="zh-CN" altLang="en-US" dirty="0"/>
              <a:t>等。</a:t>
            </a:r>
            <a:endParaRPr lang="en-US" altLang="zh-CN" dirty="0"/>
          </a:p>
          <a:p>
            <a:pPr marL="0" indent="0">
              <a:buNone/>
            </a:pPr>
            <a:r>
              <a:rPr lang="en-US" altLang="zh-CN" dirty="0"/>
              <a:t>    </a:t>
            </a:r>
            <a:r>
              <a:rPr lang="zh-CN" altLang="en-US" dirty="0"/>
              <a:t>例如 </a:t>
            </a:r>
            <a:r>
              <a:rPr lang="en-US" altLang="zh-CN" dirty="0"/>
              <a:t>4 </a:t>
            </a:r>
            <a:r>
              <a:rPr lang="en-US" altLang="zh-CN" dirty="0">
                <a:sym typeface="Symbol" pitchFamily="18" charset="2"/>
              </a:rPr>
              <a:t></a:t>
            </a:r>
            <a:r>
              <a:rPr lang="en-US" altLang="zh-CN" dirty="0"/>
              <a:t> 10</a:t>
            </a:r>
            <a:r>
              <a:rPr lang="en-US" altLang="zh-CN" baseline="30000" dirty="0"/>
              <a:t>10  </a:t>
            </a:r>
            <a:r>
              <a:rPr lang="en-US" altLang="zh-CN" dirty="0"/>
              <a:t>bit/s </a:t>
            </a:r>
            <a:r>
              <a:rPr lang="zh-CN" altLang="zh-CN" dirty="0"/>
              <a:t>的数据率就记为</a:t>
            </a:r>
            <a:r>
              <a:rPr lang="en-US" altLang="zh-CN" dirty="0"/>
              <a:t> 40 </a:t>
            </a:r>
            <a:r>
              <a:rPr lang="en-US" altLang="zh-CN" dirty="0" err="1"/>
              <a:t>Gbit</a:t>
            </a:r>
            <a:r>
              <a:rPr lang="en-US" altLang="zh-CN" dirty="0"/>
              <a:t>/s</a:t>
            </a:r>
            <a:r>
              <a:rPr lang="zh-CN" altLang="en-US" dirty="0"/>
              <a:t>。</a:t>
            </a:r>
          </a:p>
          <a:p>
            <a:r>
              <a:rPr lang="zh-CN" altLang="en-US" dirty="0"/>
              <a:t>速率往往是指</a:t>
            </a:r>
            <a:r>
              <a:rPr lang="zh-CN" altLang="en-US" dirty="0">
                <a:solidFill>
                  <a:srgbClr val="C00000"/>
                </a:solidFill>
              </a:rPr>
              <a:t>额定速率</a:t>
            </a:r>
            <a:r>
              <a:rPr lang="zh-CN" altLang="en-US" dirty="0"/>
              <a:t>或</a:t>
            </a:r>
            <a:r>
              <a:rPr lang="zh-CN" altLang="en-US" dirty="0">
                <a:solidFill>
                  <a:srgbClr val="C00000"/>
                </a:solidFill>
              </a:rPr>
              <a:t>标称速率，</a:t>
            </a:r>
            <a:r>
              <a:rPr lang="zh-CN" altLang="en-US" dirty="0"/>
              <a:t>非实际运行速率。</a:t>
            </a:r>
          </a:p>
        </p:txBody>
      </p:sp>
      <p:sp>
        <p:nvSpPr>
          <p:cNvPr id="5" name="文本占位符 4"/>
          <p:cNvSpPr>
            <a:spLocks noGrp="1"/>
          </p:cNvSpPr>
          <p:nvPr>
            <p:ph type="body" sz="quarter" idx="11"/>
          </p:nvPr>
        </p:nvSpPr>
        <p:spPr/>
        <p:txBody>
          <a:bodyPr/>
          <a:lstStyle/>
          <a:p>
            <a:r>
              <a:rPr lang="en-US" altLang="zh-CN" dirty="0"/>
              <a:t>1. </a:t>
            </a:r>
            <a:r>
              <a:rPr lang="zh-CN" altLang="en-US" dirty="0"/>
              <a:t>速率</a:t>
            </a:r>
          </a:p>
        </p:txBody>
      </p:sp>
      <p:sp>
        <p:nvSpPr>
          <p:cNvPr id="6" name="圆角矩形 5"/>
          <p:cNvSpPr/>
          <p:nvPr/>
        </p:nvSpPr>
        <p:spPr>
          <a:xfrm>
            <a:off x="842879" y="3383779"/>
            <a:ext cx="7228116" cy="854669"/>
          </a:xfrm>
          <a:prstGeom prst="roundRect">
            <a:avLst/>
          </a:prstGeom>
          <a:solidFill>
            <a:schemeClr val="tx2">
              <a:lumMod val="20000"/>
              <a:lumOff val="80000"/>
            </a:schemeClr>
          </a:solidFill>
          <a:ln>
            <a:solidFill>
              <a:srgbClr val="000099"/>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zh-CN" altLang="en-US" dirty="0"/>
          </a:p>
        </p:txBody>
      </p:sp>
      <p:sp>
        <p:nvSpPr>
          <p:cNvPr id="7" name="文本框 6"/>
          <p:cNvSpPr txBox="1"/>
          <p:nvPr/>
        </p:nvSpPr>
        <p:spPr>
          <a:xfrm>
            <a:off x="918390" y="3428532"/>
            <a:ext cx="7021977" cy="759182"/>
          </a:xfrm>
          <a:prstGeom prst="rect">
            <a:avLst/>
          </a:prstGeom>
          <a:noFill/>
        </p:spPr>
        <p:txBody>
          <a:bodyPr wrap="square" rtlCol="0">
            <a:spAutoFit/>
          </a:bodyPr>
          <a:lstStyle/>
          <a:p>
            <a:pPr>
              <a:lnSpc>
                <a:spcPts val="2600"/>
              </a:lnSpc>
            </a:pPr>
            <a:r>
              <a:rPr lang="zh-CN" altLang="zh-CN" sz="1600" b="1" dirty="0">
                <a:latin typeface="微软雅黑" panose="020B0503020204020204" pitchFamily="34" charset="-122"/>
                <a:ea typeface="微软雅黑" panose="020B0503020204020204" pitchFamily="34" charset="-122"/>
              </a:rPr>
              <a:t>千</a:t>
            </a:r>
            <a:r>
              <a:rPr lang="en-US" altLang="zh-CN" sz="1600" b="1" dirty="0">
                <a:latin typeface="微软雅黑" panose="020B0503020204020204" pitchFamily="34" charset="-122"/>
                <a:ea typeface="微软雅黑" panose="020B0503020204020204" pitchFamily="34" charset="-122"/>
              </a:rPr>
              <a:t> = </a:t>
            </a:r>
            <a:r>
              <a:rPr lang="en-US" altLang="zh-CN" sz="1600" b="1" dirty="0">
                <a:solidFill>
                  <a:srgbClr val="C00000"/>
                </a:solidFill>
                <a:latin typeface="微软雅黑" panose="020B0503020204020204" pitchFamily="34" charset="-122"/>
                <a:ea typeface="微软雅黑" panose="020B0503020204020204" pitchFamily="34" charset="-122"/>
              </a:rPr>
              <a:t>K</a:t>
            </a:r>
            <a:r>
              <a:rPr lang="en-US" altLang="zh-CN" sz="1600" b="1" dirty="0">
                <a:latin typeface="微软雅黑" panose="020B0503020204020204" pitchFamily="34" charset="-122"/>
                <a:ea typeface="微软雅黑" panose="020B0503020204020204" pitchFamily="34" charset="-122"/>
              </a:rPr>
              <a:t> = 2</a:t>
            </a:r>
            <a:r>
              <a:rPr lang="en-US" altLang="zh-CN" sz="1600" b="1" baseline="30000" dirty="0">
                <a:latin typeface="微软雅黑" panose="020B0503020204020204" pitchFamily="34" charset="-122"/>
                <a:ea typeface="微软雅黑" panose="020B0503020204020204" pitchFamily="34" charset="-122"/>
              </a:rPr>
              <a:t>10</a:t>
            </a:r>
            <a:r>
              <a:rPr lang="en-US" altLang="zh-CN" sz="1600" b="1" dirty="0">
                <a:latin typeface="微软雅黑" panose="020B0503020204020204" pitchFamily="34" charset="-122"/>
                <a:ea typeface="微软雅黑" panose="020B0503020204020204" pitchFamily="34" charset="-122"/>
              </a:rPr>
              <a:t> = 1024</a:t>
            </a:r>
            <a:r>
              <a:rPr lang="zh-CN" altLang="zh-CN" sz="1600" b="1" dirty="0">
                <a:latin typeface="微软雅黑" panose="020B0503020204020204" pitchFamily="34" charset="-122"/>
                <a:ea typeface="微软雅黑" panose="020B0503020204020204" pitchFamily="34" charset="-122"/>
              </a:rPr>
              <a:t>，兆 </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M</a:t>
            </a:r>
            <a:r>
              <a:rPr lang="en-US" altLang="zh-CN" sz="1600" b="1" dirty="0">
                <a:latin typeface="微软雅黑" panose="020B0503020204020204" pitchFamily="34" charset="-122"/>
                <a:ea typeface="微软雅黑" panose="020B0503020204020204" pitchFamily="34" charset="-122"/>
              </a:rPr>
              <a:t> = 2</a:t>
            </a:r>
            <a:r>
              <a:rPr lang="en-US" altLang="zh-CN" sz="1600" b="1" baseline="30000" dirty="0">
                <a:latin typeface="微软雅黑" panose="020B0503020204020204" pitchFamily="34" charset="-122"/>
                <a:ea typeface="微软雅黑" panose="020B0503020204020204" pitchFamily="34" charset="-122"/>
              </a:rPr>
              <a:t>20 </a:t>
            </a:r>
            <a:r>
              <a:rPr lang="en-US" altLang="zh-CN" sz="1600" b="1" dirty="0">
                <a:latin typeface="微软雅黑" panose="020B0503020204020204" pitchFamily="34" charset="-122"/>
                <a:ea typeface="微软雅黑" panose="020B0503020204020204" pitchFamily="34" charset="-122"/>
              </a:rPr>
              <a:t>= 1024 K</a:t>
            </a:r>
            <a:r>
              <a:rPr lang="zh-CN" altLang="zh-CN" sz="1600" b="1" dirty="0">
                <a:latin typeface="微软雅黑" panose="020B0503020204020204" pitchFamily="34" charset="-122"/>
                <a:ea typeface="微软雅黑" panose="020B0503020204020204" pitchFamily="34" charset="-122"/>
              </a:rPr>
              <a:t>，吉 </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G</a:t>
            </a:r>
            <a:r>
              <a:rPr lang="en-US" altLang="zh-CN" sz="1600" b="1" dirty="0">
                <a:latin typeface="微软雅黑" panose="020B0503020204020204" pitchFamily="34" charset="-122"/>
                <a:ea typeface="微软雅黑" panose="020B0503020204020204" pitchFamily="34" charset="-122"/>
              </a:rPr>
              <a:t> = 2</a:t>
            </a:r>
            <a:r>
              <a:rPr lang="en-US" altLang="zh-CN" sz="1600" b="1" baseline="30000" dirty="0">
                <a:latin typeface="微软雅黑" panose="020B0503020204020204" pitchFamily="34" charset="-122"/>
                <a:ea typeface="微软雅黑" panose="020B0503020204020204" pitchFamily="34" charset="-122"/>
              </a:rPr>
              <a:t>30 </a:t>
            </a:r>
            <a:r>
              <a:rPr lang="en-US" altLang="zh-CN" sz="1600" b="1" dirty="0">
                <a:latin typeface="微软雅黑" panose="020B0503020204020204" pitchFamily="34" charset="-122"/>
                <a:ea typeface="微软雅黑" panose="020B0503020204020204" pitchFamily="34" charset="-122"/>
              </a:rPr>
              <a:t>= 1024 M</a:t>
            </a:r>
          </a:p>
          <a:p>
            <a:pPr>
              <a:lnSpc>
                <a:spcPts val="2600"/>
              </a:lnSpc>
            </a:pP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字节 </a:t>
            </a:r>
            <a:r>
              <a:rPr lang="en-US" altLang="zh-CN" sz="1600" b="1" dirty="0">
                <a:latin typeface="微软雅黑" panose="020B0503020204020204" pitchFamily="34" charset="-122"/>
                <a:ea typeface="微软雅黑" panose="020B0503020204020204" pitchFamily="34" charset="-122"/>
              </a:rPr>
              <a:t>(Byte) =  8 </a:t>
            </a:r>
            <a:r>
              <a:rPr lang="zh-CN" altLang="en-US" sz="1600" b="1" dirty="0">
                <a:latin typeface="微软雅黑" panose="020B0503020204020204" pitchFamily="34" charset="-122"/>
                <a:ea typeface="微软雅黑" panose="020B0503020204020204" pitchFamily="34" charset="-122"/>
              </a:rPr>
              <a:t>比特 </a:t>
            </a:r>
            <a:r>
              <a:rPr lang="en-US" altLang="zh-CN" sz="1600" b="1" dirty="0">
                <a:latin typeface="微软雅黑" panose="020B0503020204020204" pitchFamily="34" charset="-122"/>
                <a:ea typeface="微软雅黑" panose="020B0503020204020204" pitchFamily="34" charset="-122"/>
              </a:rPr>
              <a:t>(bit</a:t>
            </a:r>
            <a:r>
              <a:rPr lang="zh-CN" altLang="en-US" sz="1600"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577537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2087418391"/>
              </p:ext>
            </p:extLst>
          </p:nvPr>
        </p:nvGraphicFramePr>
        <p:xfrm>
          <a:off x="548639" y="1085158"/>
          <a:ext cx="7898674" cy="23948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文本占位符 1"/>
          <p:cNvSpPr>
            <a:spLocks noGrp="1"/>
          </p:cNvSpPr>
          <p:nvPr>
            <p:ph type="body" sz="quarter" idx="10"/>
          </p:nvPr>
        </p:nvSpPr>
        <p:spPr/>
        <p:txBody>
          <a:bodyPr/>
          <a:lstStyle/>
          <a:p>
            <a:r>
              <a:rPr lang="en-US" altLang="zh-CN" dirty="0"/>
              <a:t>2. </a:t>
            </a:r>
            <a:r>
              <a:rPr lang="zh-CN" altLang="en-US" dirty="0"/>
              <a:t>带宽 </a:t>
            </a:r>
            <a:r>
              <a:rPr lang="en-US" altLang="zh-CN" dirty="0"/>
              <a:t>(bandwidth)</a:t>
            </a:r>
            <a:endParaRPr lang="zh-CN" altLang="en-US" dirty="0"/>
          </a:p>
        </p:txBody>
      </p:sp>
      <p:sp>
        <p:nvSpPr>
          <p:cNvPr id="3" name="矩形 2"/>
          <p:cNvSpPr/>
          <p:nvPr/>
        </p:nvSpPr>
        <p:spPr>
          <a:xfrm>
            <a:off x="2061198" y="3462849"/>
            <a:ext cx="5911728" cy="1092607"/>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marL="285750" indent="-285750">
              <a:lnSpc>
                <a:spcPts val="2600"/>
              </a:lnSpc>
              <a:spcBef>
                <a:spcPts val="0"/>
              </a:spcBef>
              <a:spcAft>
                <a:spcPts val="0"/>
              </a:spcAft>
              <a:buSzPct val="85000"/>
              <a:buFont typeface="Wingdings" panose="05000000000000000000" pitchFamily="2" charset="2"/>
              <a:buChar char="u"/>
            </a:pPr>
            <a:r>
              <a:rPr lang="zh-CN" altLang="en-US" b="1" dirty="0">
                <a:latin typeface="微软雅黑" pitchFamily="34" charset="-122"/>
                <a:ea typeface="微软雅黑" pitchFamily="34" charset="-122"/>
              </a:rPr>
              <a:t>两者</a:t>
            </a:r>
            <a:r>
              <a:rPr lang="zh-CN" altLang="zh-CN" b="1" dirty="0">
                <a:solidFill>
                  <a:srgbClr val="C00000"/>
                </a:solidFill>
                <a:latin typeface="微软雅黑" pitchFamily="34" charset="-122"/>
                <a:ea typeface="微软雅黑" pitchFamily="34" charset="-122"/>
              </a:rPr>
              <a:t>本质相同</a:t>
            </a:r>
            <a:r>
              <a:rPr lang="zh-CN" altLang="zh-CN"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marL="285750" indent="-285750">
              <a:lnSpc>
                <a:spcPts val="2600"/>
              </a:lnSpc>
              <a:spcBef>
                <a:spcPts val="0"/>
              </a:spcBef>
              <a:spcAft>
                <a:spcPts val="0"/>
              </a:spcAft>
              <a:buSzPct val="85000"/>
              <a:buFont typeface="Wingdings" panose="05000000000000000000" pitchFamily="2" charset="2"/>
              <a:buChar char="u"/>
            </a:pPr>
            <a:r>
              <a:rPr lang="zh-CN" altLang="zh-CN" b="1" dirty="0">
                <a:latin typeface="微软雅黑" pitchFamily="34" charset="-122"/>
                <a:ea typeface="微软雅黑" pitchFamily="34" charset="-122"/>
              </a:rPr>
              <a:t>一条通信链路的“带宽”越宽，其所能传输的“最高数据率”也越高。</a:t>
            </a:r>
          </a:p>
        </p:txBody>
      </p:sp>
    </p:spTree>
    <p:extLst>
      <p:ext uri="{BB962C8B-B14F-4D97-AF65-F5344CB8AC3E}">
        <p14:creationId xmlns:p14="http://schemas.microsoft.com/office/powerpoint/2010/main" val="132909597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zh-CN" altLang="en-US" dirty="0"/>
              <a:t>单位时间内通过某个网络（或信道、接口）的</a:t>
            </a:r>
            <a:r>
              <a:rPr lang="zh-CN" altLang="en-US" dirty="0">
                <a:solidFill>
                  <a:srgbClr val="C00000"/>
                </a:solidFill>
              </a:rPr>
              <a:t>实际数据量。</a:t>
            </a:r>
            <a:endParaRPr lang="en-US" altLang="zh-CN" dirty="0">
              <a:solidFill>
                <a:srgbClr val="C00000"/>
              </a:solidFill>
            </a:endParaRPr>
          </a:p>
          <a:p>
            <a:r>
              <a:rPr lang="zh-CN" altLang="en-US" dirty="0"/>
              <a:t>受网络的带宽或网络的额定速率的限制。</a:t>
            </a:r>
            <a:endParaRPr lang="en-US" altLang="zh-CN" dirty="0"/>
          </a:p>
          <a:p>
            <a:pPr lvl="1"/>
            <a:r>
              <a:rPr lang="zh-CN" altLang="en-US" dirty="0"/>
              <a:t>额定速率是绝对上限值。</a:t>
            </a:r>
            <a:endParaRPr lang="en-US" altLang="zh-CN" dirty="0"/>
          </a:p>
          <a:p>
            <a:pPr lvl="1"/>
            <a:r>
              <a:rPr lang="zh-CN" altLang="en-US" dirty="0"/>
              <a:t>可能会远小于额定速率，甚至下降到零！</a:t>
            </a:r>
            <a:endParaRPr lang="en-US" altLang="zh-CN" dirty="0"/>
          </a:p>
          <a:p>
            <a:r>
              <a:rPr lang="zh-CN" altLang="en-US" dirty="0"/>
              <a:t>有时可用</a:t>
            </a:r>
            <a:r>
              <a:rPr lang="zh-CN" altLang="en-US" dirty="0">
                <a:solidFill>
                  <a:srgbClr val="0000FF"/>
                </a:solidFill>
              </a:rPr>
              <a:t>每秒传送的字节数</a:t>
            </a:r>
            <a:r>
              <a:rPr lang="zh-CN" altLang="en-US" dirty="0"/>
              <a:t>或</a:t>
            </a:r>
            <a:r>
              <a:rPr lang="zh-CN" altLang="en-US" dirty="0">
                <a:solidFill>
                  <a:srgbClr val="0000FF"/>
                </a:solidFill>
              </a:rPr>
              <a:t>帧数</a:t>
            </a:r>
            <a:r>
              <a:rPr lang="zh-CN" altLang="en-US" dirty="0"/>
              <a:t>来表示。</a:t>
            </a:r>
          </a:p>
        </p:txBody>
      </p:sp>
      <p:sp>
        <p:nvSpPr>
          <p:cNvPr id="3" name="文本占位符 2"/>
          <p:cNvSpPr>
            <a:spLocks noGrp="1"/>
          </p:cNvSpPr>
          <p:nvPr>
            <p:ph type="body" sz="quarter" idx="11"/>
          </p:nvPr>
        </p:nvSpPr>
        <p:spPr/>
        <p:txBody>
          <a:bodyPr/>
          <a:lstStyle/>
          <a:p>
            <a:r>
              <a:rPr lang="en-US" altLang="zh-CN" dirty="0"/>
              <a:t>3. </a:t>
            </a:r>
            <a:r>
              <a:rPr lang="zh-CN" altLang="en-US" dirty="0"/>
              <a:t>吞吐量 </a:t>
            </a:r>
            <a:r>
              <a:rPr lang="en-US" altLang="zh-CN" dirty="0"/>
              <a:t>(throughput)</a:t>
            </a:r>
            <a:endParaRPr lang="zh-CN" altLang="en-US" dirty="0"/>
          </a:p>
        </p:txBody>
      </p:sp>
    </p:spTree>
    <p:extLst>
      <p:ext uri="{BB962C8B-B14F-4D97-AF65-F5344CB8AC3E}">
        <p14:creationId xmlns:p14="http://schemas.microsoft.com/office/powerpoint/2010/main" val="4131284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zh-CN" altLang="en-US" dirty="0"/>
              <a:t>指数据（一个报文或分组，甚至比特）从网络（或链路）的</a:t>
            </a:r>
            <a:r>
              <a:rPr lang="zh-CN" altLang="en-US" dirty="0">
                <a:solidFill>
                  <a:srgbClr val="C00000"/>
                </a:solidFill>
              </a:rPr>
              <a:t>一端传送到另一端所需的</a:t>
            </a:r>
            <a:r>
              <a:rPr lang="zh-CN" altLang="en-US" dirty="0">
                <a:solidFill>
                  <a:srgbClr val="0000CC"/>
                </a:solidFill>
              </a:rPr>
              <a:t>时间。</a:t>
            </a:r>
          </a:p>
          <a:p>
            <a:r>
              <a:rPr lang="zh-CN" altLang="en-US" dirty="0"/>
              <a:t>有时也称为</a:t>
            </a:r>
            <a:r>
              <a:rPr lang="zh-CN" altLang="en-US" dirty="0">
                <a:solidFill>
                  <a:srgbClr val="0000CC"/>
                </a:solidFill>
              </a:rPr>
              <a:t>延迟</a:t>
            </a:r>
            <a:r>
              <a:rPr lang="zh-CN" altLang="en-US" dirty="0"/>
              <a:t>或</a:t>
            </a:r>
            <a:r>
              <a:rPr lang="zh-CN" altLang="en-US" dirty="0">
                <a:solidFill>
                  <a:srgbClr val="0000CC"/>
                </a:solidFill>
              </a:rPr>
              <a:t>迟延。</a:t>
            </a:r>
            <a:endParaRPr lang="en-US" altLang="zh-CN" dirty="0">
              <a:solidFill>
                <a:srgbClr val="0000CC"/>
              </a:solidFill>
            </a:endParaRPr>
          </a:p>
          <a:p>
            <a:r>
              <a:rPr lang="zh-CN" altLang="en-US" dirty="0"/>
              <a:t>组成：</a:t>
            </a:r>
          </a:p>
          <a:p>
            <a:pPr lvl="1"/>
            <a:r>
              <a:rPr lang="zh-CN" altLang="en-US" dirty="0"/>
              <a:t>（</a:t>
            </a:r>
            <a:r>
              <a:rPr lang="en-US" altLang="zh-CN" dirty="0"/>
              <a:t>1</a:t>
            </a:r>
            <a:r>
              <a:rPr lang="zh-CN" altLang="en-US" dirty="0"/>
              <a:t>）发送时延</a:t>
            </a:r>
            <a:endParaRPr lang="en-US" altLang="zh-CN" dirty="0"/>
          </a:p>
          <a:p>
            <a:pPr lvl="1"/>
            <a:r>
              <a:rPr lang="zh-CN" altLang="en-US" dirty="0"/>
              <a:t>（</a:t>
            </a:r>
            <a:r>
              <a:rPr lang="en-US" altLang="zh-CN" dirty="0"/>
              <a:t>2</a:t>
            </a:r>
            <a:r>
              <a:rPr lang="zh-CN" altLang="en-US" dirty="0"/>
              <a:t>）传播时延</a:t>
            </a:r>
          </a:p>
          <a:p>
            <a:pPr lvl="1"/>
            <a:r>
              <a:rPr lang="zh-CN" altLang="en-US" dirty="0"/>
              <a:t>（</a:t>
            </a:r>
            <a:r>
              <a:rPr lang="en-US" altLang="zh-CN" dirty="0"/>
              <a:t>3</a:t>
            </a:r>
            <a:r>
              <a:rPr lang="zh-CN" altLang="en-US" dirty="0"/>
              <a:t>）处理时延</a:t>
            </a:r>
          </a:p>
          <a:p>
            <a:pPr lvl="1"/>
            <a:r>
              <a:rPr lang="zh-CN" altLang="en-US" dirty="0"/>
              <a:t>（</a:t>
            </a:r>
            <a:r>
              <a:rPr lang="en-US" altLang="zh-CN" dirty="0"/>
              <a:t>4</a:t>
            </a:r>
            <a:r>
              <a:rPr lang="zh-CN" altLang="en-US" dirty="0"/>
              <a:t>）排队时延</a:t>
            </a:r>
            <a:endParaRPr lang="en-US" altLang="zh-CN" dirty="0"/>
          </a:p>
          <a:p>
            <a:endParaRPr lang="zh-CN" altLang="en-US" dirty="0"/>
          </a:p>
        </p:txBody>
      </p:sp>
      <p:sp>
        <p:nvSpPr>
          <p:cNvPr id="3" name="文本占位符 2"/>
          <p:cNvSpPr>
            <a:spLocks noGrp="1"/>
          </p:cNvSpPr>
          <p:nvPr>
            <p:ph type="body" sz="quarter" idx="11"/>
          </p:nvPr>
        </p:nvSpPr>
        <p:spPr/>
        <p:txBody>
          <a:bodyPr/>
          <a:lstStyle/>
          <a:p>
            <a:r>
              <a:rPr lang="en-US" altLang="zh-CN" dirty="0"/>
              <a:t>4. </a:t>
            </a:r>
            <a:r>
              <a:rPr lang="zh-CN" altLang="en-US" dirty="0"/>
              <a:t>时延 </a:t>
            </a:r>
            <a:r>
              <a:rPr lang="en-US" altLang="zh-CN" dirty="0"/>
              <a:t>(delay </a:t>
            </a:r>
            <a:r>
              <a:rPr lang="zh-CN" altLang="en-US" dirty="0"/>
              <a:t>或 </a:t>
            </a:r>
            <a:r>
              <a:rPr lang="en-US" altLang="zh-CN" dirty="0"/>
              <a:t>latency)</a:t>
            </a:r>
            <a:endParaRPr lang="zh-CN" altLang="en-US" dirty="0"/>
          </a:p>
        </p:txBody>
      </p:sp>
    </p:spTree>
    <p:extLst>
      <p:ext uri="{BB962C8B-B14F-4D97-AF65-F5344CB8AC3E}">
        <p14:creationId xmlns:p14="http://schemas.microsoft.com/office/powerpoint/2010/main" val="32293182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zh-CN" altLang="en-US" dirty="0"/>
              <a:t>也称为</a:t>
            </a:r>
            <a:r>
              <a:rPr lang="zh-CN" altLang="en-US" dirty="0">
                <a:solidFill>
                  <a:srgbClr val="0000FF"/>
                </a:solidFill>
              </a:rPr>
              <a:t>传输时延。</a:t>
            </a:r>
          </a:p>
          <a:p>
            <a:r>
              <a:rPr lang="zh-CN" altLang="en-US" dirty="0"/>
              <a:t>是主机或路由器发送数据帧所需要的时间，也就是从发送数据帧的</a:t>
            </a:r>
            <a:r>
              <a:rPr lang="zh-CN" altLang="en-US" dirty="0">
                <a:solidFill>
                  <a:srgbClr val="C00000"/>
                </a:solidFill>
              </a:rPr>
              <a:t>第一个比特</a:t>
            </a:r>
            <a:r>
              <a:rPr lang="zh-CN" altLang="en-US" dirty="0"/>
              <a:t>算起，到该帧的</a:t>
            </a:r>
            <a:r>
              <a:rPr lang="zh-CN" altLang="en-US" dirty="0">
                <a:solidFill>
                  <a:srgbClr val="C00000"/>
                </a:solidFill>
              </a:rPr>
              <a:t>最后一个比特</a:t>
            </a:r>
            <a:r>
              <a:rPr lang="zh-CN" altLang="en-US" dirty="0"/>
              <a:t>发送完毕所需的时间。</a:t>
            </a:r>
          </a:p>
          <a:p>
            <a:endParaRPr lang="zh-CN" altLang="en-US" dirty="0"/>
          </a:p>
        </p:txBody>
      </p:sp>
      <p:sp>
        <p:nvSpPr>
          <p:cNvPr id="3" name="文本占位符 2"/>
          <p:cNvSpPr>
            <a:spLocks noGrp="1"/>
          </p:cNvSpPr>
          <p:nvPr>
            <p:ph type="body" sz="quarter" idx="11"/>
          </p:nvPr>
        </p:nvSpPr>
        <p:spPr/>
        <p:txBody>
          <a:bodyPr/>
          <a:lstStyle/>
          <a:p>
            <a:r>
              <a:rPr lang="zh-CN" altLang="en-US" dirty="0">
                <a:solidFill>
                  <a:srgbClr val="FFFF00"/>
                </a:solidFill>
              </a:rPr>
              <a:t>（</a:t>
            </a:r>
            <a:r>
              <a:rPr lang="en-US" altLang="zh-CN" dirty="0">
                <a:solidFill>
                  <a:srgbClr val="FFFF00"/>
                </a:solidFill>
              </a:rPr>
              <a:t>1</a:t>
            </a:r>
            <a:r>
              <a:rPr lang="zh-CN" altLang="en-US" dirty="0">
                <a:solidFill>
                  <a:srgbClr val="FFFF00"/>
                </a:solidFill>
              </a:rPr>
              <a:t>）发送时延</a:t>
            </a:r>
          </a:p>
        </p:txBody>
      </p:sp>
      <p:sp>
        <p:nvSpPr>
          <p:cNvPr id="5" name="Rectangle 14"/>
          <p:cNvSpPr>
            <a:spLocks noChangeArrowheads="1"/>
          </p:cNvSpPr>
          <p:nvPr/>
        </p:nvSpPr>
        <p:spPr bwMode="auto">
          <a:xfrm>
            <a:off x="934391" y="2254901"/>
            <a:ext cx="6729074" cy="1225550"/>
          </a:xfrm>
          <a:prstGeom prst="rect">
            <a:avLst/>
          </a:prstGeom>
          <a:solidFill>
            <a:srgbClr val="FFFF99"/>
          </a:solidFill>
          <a:ln w="12700">
            <a:solidFill>
              <a:srgbClr val="000066"/>
            </a:solidFill>
            <a:headEnd/>
            <a:tailEnd/>
          </a:ln>
        </p:spPr>
        <p:style>
          <a:lnRef idx="2">
            <a:schemeClr val="accent1"/>
          </a:lnRef>
          <a:fillRef idx="1">
            <a:schemeClr val="lt1"/>
          </a:fillRef>
          <a:effectRef idx="0">
            <a:schemeClr val="accent1"/>
          </a:effectRef>
          <a:fontRef idx="minor">
            <a:schemeClr val="dk1"/>
          </a:fontRef>
        </p:style>
        <p:txBody>
          <a:bodyPr wrap="none" anchor="ctr"/>
          <a:lstStyle/>
          <a:p>
            <a:pPr fontAlgn="auto">
              <a:spcBef>
                <a:spcPts val="0"/>
              </a:spcBef>
              <a:spcAft>
                <a:spcPts val="0"/>
              </a:spcAft>
              <a:defRPr/>
            </a:pPr>
            <a:endParaRPr lang="zh-CN" altLang="en-US" sz="2000" b="1">
              <a:latin typeface="+mn-lt"/>
              <a:ea typeface="黑体" pitchFamily="2" charset="-122"/>
            </a:endParaRPr>
          </a:p>
        </p:txBody>
      </p:sp>
      <p:grpSp>
        <p:nvGrpSpPr>
          <p:cNvPr id="6" name="组合 6"/>
          <p:cNvGrpSpPr>
            <a:grpSpLocks/>
          </p:cNvGrpSpPr>
          <p:nvPr/>
        </p:nvGrpSpPr>
        <p:grpSpPr bwMode="auto">
          <a:xfrm>
            <a:off x="1591895" y="2453050"/>
            <a:ext cx="5319251" cy="847785"/>
            <a:chOff x="2539747" y="4370700"/>
            <a:chExt cx="4467381" cy="847785"/>
          </a:xfrm>
        </p:grpSpPr>
        <p:sp>
          <p:nvSpPr>
            <p:cNvPr id="7" name="Text Box 9"/>
            <p:cNvSpPr txBox="1">
              <a:spLocks noChangeArrowheads="1"/>
            </p:cNvSpPr>
            <p:nvPr/>
          </p:nvSpPr>
          <p:spPr bwMode="auto">
            <a:xfrm>
              <a:off x="2539747" y="4602475"/>
              <a:ext cx="131020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发送时延 </a:t>
              </a:r>
              <a:r>
                <a:rPr lang="en-US" altLang="zh-CN" sz="2000" b="1" dirty="0">
                  <a:solidFill>
                    <a:srgbClr val="000066"/>
                  </a:solidFill>
                  <a:latin typeface="微软雅黑" pitchFamily="34" charset="-122"/>
                  <a:ea typeface="微软雅黑" pitchFamily="34" charset="-122"/>
                </a:rPr>
                <a:t>= </a:t>
              </a:r>
            </a:p>
          </p:txBody>
        </p:sp>
        <p:sp>
          <p:nvSpPr>
            <p:cNvPr id="8" name="Text Box 10"/>
            <p:cNvSpPr txBox="1">
              <a:spLocks noChangeArrowheads="1"/>
            </p:cNvSpPr>
            <p:nvPr/>
          </p:nvSpPr>
          <p:spPr bwMode="auto">
            <a:xfrm>
              <a:off x="4333881" y="4370700"/>
              <a:ext cx="195911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数据帧长度（</a:t>
              </a:r>
              <a:r>
                <a:rPr lang="en-US" altLang="zh-CN" sz="2000" b="1" dirty="0">
                  <a:solidFill>
                    <a:srgbClr val="000066"/>
                  </a:solidFill>
                  <a:latin typeface="微软雅黑" pitchFamily="34" charset="-122"/>
                  <a:ea typeface="微软雅黑" pitchFamily="34" charset="-122"/>
                </a:rPr>
                <a:t>bit</a:t>
              </a:r>
              <a:r>
                <a:rPr lang="zh-CN" altLang="en-US" sz="2000" b="1" dirty="0">
                  <a:solidFill>
                    <a:srgbClr val="000066"/>
                  </a:solidFill>
                  <a:latin typeface="微软雅黑" pitchFamily="34" charset="-122"/>
                  <a:ea typeface="微软雅黑" pitchFamily="34" charset="-122"/>
                </a:rPr>
                <a:t>）</a:t>
              </a:r>
            </a:p>
          </p:txBody>
        </p:sp>
        <p:sp>
          <p:nvSpPr>
            <p:cNvPr id="9" name="Text Box 11"/>
            <p:cNvSpPr txBox="1">
              <a:spLocks noChangeArrowheads="1"/>
            </p:cNvSpPr>
            <p:nvPr/>
          </p:nvSpPr>
          <p:spPr bwMode="auto">
            <a:xfrm>
              <a:off x="4337429" y="4818375"/>
              <a:ext cx="1952379"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发送速率（</a:t>
              </a:r>
              <a:r>
                <a:rPr lang="en-US" altLang="zh-CN" sz="2000" b="1" dirty="0">
                  <a:solidFill>
                    <a:srgbClr val="000066"/>
                  </a:solidFill>
                  <a:latin typeface="微软雅黑" pitchFamily="34" charset="-122"/>
                  <a:ea typeface="微软雅黑" pitchFamily="34" charset="-122"/>
                </a:rPr>
                <a:t>bit/s</a:t>
              </a:r>
              <a:r>
                <a:rPr lang="zh-CN" altLang="en-US" sz="2000" b="1" dirty="0">
                  <a:solidFill>
                    <a:srgbClr val="000066"/>
                  </a:solidFill>
                  <a:latin typeface="微软雅黑" pitchFamily="34" charset="-122"/>
                  <a:ea typeface="微软雅黑" pitchFamily="34" charset="-122"/>
                </a:rPr>
                <a:t>）</a:t>
              </a:r>
            </a:p>
          </p:txBody>
        </p:sp>
        <p:sp>
          <p:nvSpPr>
            <p:cNvPr id="10" name="Line 12"/>
            <p:cNvSpPr>
              <a:spLocks noChangeShapeType="1"/>
            </p:cNvSpPr>
            <p:nvPr/>
          </p:nvSpPr>
          <p:spPr bwMode="auto">
            <a:xfrm>
              <a:off x="3780428" y="4805675"/>
              <a:ext cx="3226700"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srgbClr val="000099"/>
                </a:solidFill>
              </a:endParaRPr>
            </a:p>
          </p:txBody>
        </p:sp>
      </p:grpSp>
    </p:spTree>
    <p:extLst>
      <p:ext uri="{BB962C8B-B14F-4D97-AF65-F5344CB8AC3E}">
        <p14:creationId xmlns:p14="http://schemas.microsoft.com/office/powerpoint/2010/main" val="35197820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zh-CN" altLang="en-US" dirty="0"/>
              <a:t>是</a:t>
            </a:r>
            <a:r>
              <a:rPr lang="zh-CN" altLang="en-US" dirty="0">
                <a:solidFill>
                  <a:srgbClr val="C00000"/>
                </a:solidFill>
              </a:rPr>
              <a:t>电磁波</a:t>
            </a:r>
            <a:r>
              <a:rPr lang="zh-CN" altLang="en-US" dirty="0"/>
              <a:t>在信道中传播一定的距离需要花费的时间。</a:t>
            </a:r>
            <a:endParaRPr lang="en-US" altLang="zh-CN" dirty="0"/>
          </a:p>
          <a:p>
            <a:endParaRPr lang="en-US" altLang="zh-CN" dirty="0"/>
          </a:p>
          <a:p>
            <a:endParaRPr lang="en-US" altLang="zh-CN" dirty="0"/>
          </a:p>
          <a:p>
            <a:endParaRPr lang="en-US" altLang="zh-CN" dirty="0"/>
          </a:p>
          <a:p>
            <a:endParaRPr lang="en-US" altLang="zh-CN" dirty="0"/>
          </a:p>
          <a:p>
            <a:r>
              <a:rPr lang="zh-CN" altLang="en-US" dirty="0"/>
              <a:t>电磁波传播速率：</a:t>
            </a:r>
            <a:endParaRPr lang="en-US" altLang="zh-CN" dirty="0"/>
          </a:p>
          <a:p>
            <a:pPr lvl="1"/>
            <a:r>
              <a:rPr lang="zh-CN" altLang="en-US" dirty="0"/>
              <a:t>自由空间的传播速率是光速 </a:t>
            </a:r>
            <a:r>
              <a:rPr lang="en-US" altLang="zh-CN" dirty="0"/>
              <a:t>= 3.0 </a:t>
            </a:r>
            <a:r>
              <a:rPr lang="zh-CN" altLang="en-US" dirty="0"/>
              <a:t>ⅹ</a:t>
            </a:r>
            <a:r>
              <a:rPr lang="en-US" altLang="zh-CN" dirty="0"/>
              <a:t> 10</a:t>
            </a:r>
            <a:r>
              <a:rPr lang="en-US" altLang="zh-CN" baseline="30000" dirty="0"/>
              <a:t>5</a:t>
            </a:r>
            <a:r>
              <a:rPr lang="en-US" altLang="zh-CN" dirty="0"/>
              <a:t> km/s</a:t>
            </a:r>
          </a:p>
          <a:p>
            <a:pPr lvl="1"/>
            <a:r>
              <a:rPr lang="zh-CN" altLang="en-US" dirty="0"/>
              <a:t>在铜线电缆中的传播速率约 </a:t>
            </a:r>
            <a:r>
              <a:rPr lang="en-US" altLang="zh-CN" dirty="0"/>
              <a:t>= 2.3 </a:t>
            </a:r>
            <a:r>
              <a:rPr lang="zh-CN" altLang="en-US" dirty="0"/>
              <a:t>ⅹ</a:t>
            </a:r>
            <a:r>
              <a:rPr lang="en-US" altLang="zh-CN" dirty="0"/>
              <a:t> 10</a:t>
            </a:r>
            <a:r>
              <a:rPr lang="en-US" altLang="zh-CN" baseline="30000" dirty="0"/>
              <a:t>5</a:t>
            </a:r>
            <a:r>
              <a:rPr lang="en-US" altLang="zh-CN" dirty="0"/>
              <a:t> km/s</a:t>
            </a:r>
          </a:p>
          <a:p>
            <a:pPr lvl="1"/>
            <a:r>
              <a:rPr lang="zh-CN" altLang="en-US" dirty="0"/>
              <a:t>在光纤中的传播速率约 </a:t>
            </a:r>
            <a:r>
              <a:rPr lang="en-US" altLang="zh-CN" dirty="0"/>
              <a:t>=</a:t>
            </a:r>
            <a:r>
              <a:rPr lang="zh-CN" altLang="en-US" dirty="0"/>
              <a:t> </a:t>
            </a:r>
            <a:r>
              <a:rPr lang="en-US" altLang="zh-CN" dirty="0"/>
              <a:t>2.0 </a:t>
            </a:r>
            <a:r>
              <a:rPr lang="zh-CN" altLang="en-US" dirty="0"/>
              <a:t>ⅹ </a:t>
            </a:r>
            <a:r>
              <a:rPr lang="en-US" altLang="zh-CN" dirty="0"/>
              <a:t>10</a:t>
            </a:r>
            <a:r>
              <a:rPr lang="en-US" altLang="zh-CN" baseline="30000" dirty="0"/>
              <a:t>5</a:t>
            </a:r>
            <a:r>
              <a:rPr lang="en-US" altLang="zh-CN" dirty="0"/>
              <a:t> km/s</a:t>
            </a:r>
          </a:p>
        </p:txBody>
      </p:sp>
      <p:sp>
        <p:nvSpPr>
          <p:cNvPr id="3" name="文本占位符 2"/>
          <p:cNvSpPr>
            <a:spLocks noGrp="1"/>
          </p:cNvSpPr>
          <p:nvPr>
            <p:ph type="body" sz="quarter" idx="11"/>
          </p:nvPr>
        </p:nvSpPr>
        <p:spPr/>
        <p:txBody>
          <a:bodyPr/>
          <a:lstStyle/>
          <a:p>
            <a:r>
              <a:rPr lang="zh-CN" altLang="en-US" dirty="0">
                <a:solidFill>
                  <a:srgbClr val="FFFF00"/>
                </a:solidFill>
              </a:rPr>
              <a:t>（</a:t>
            </a:r>
            <a:r>
              <a:rPr lang="en-US" altLang="zh-CN" dirty="0">
                <a:solidFill>
                  <a:srgbClr val="FFFF00"/>
                </a:solidFill>
              </a:rPr>
              <a:t>2</a:t>
            </a:r>
            <a:r>
              <a:rPr lang="zh-CN" altLang="en-US" dirty="0">
                <a:solidFill>
                  <a:srgbClr val="FFFF00"/>
                </a:solidFill>
              </a:rPr>
              <a:t>）传播时延</a:t>
            </a:r>
          </a:p>
        </p:txBody>
      </p:sp>
      <p:sp>
        <p:nvSpPr>
          <p:cNvPr id="12" name="Rectangle 14"/>
          <p:cNvSpPr>
            <a:spLocks noChangeArrowheads="1"/>
          </p:cNvSpPr>
          <p:nvPr/>
        </p:nvSpPr>
        <p:spPr bwMode="auto">
          <a:xfrm>
            <a:off x="1012844" y="1515743"/>
            <a:ext cx="7103543" cy="1225550"/>
          </a:xfrm>
          <a:prstGeom prst="rect">
            <a:avLst/>
          </a:prstGeom>
          <a:solidFill>
            <a:srgbClr val="FFFF99"/>
          </a:solidFill>
          <a:ln w="12700">
            <a:solidFill>
              <a:srgbClr val="000066"/>
            </a:solidFill>
            <a:headEnd/>
            <a:tailEnd/>
          </a:ln>
        </p:spPr>
        <p:style>
          <a:lnRef idx="2">
            <a:schemeClr val="accent1"/>
          </a:lnRef>
          <a:fillRef idx="1">
            <a:schemeClr val="lt1"/>
          </a:fillRef>
          <a:effectRef idx="0">
            <a:schemeClr val="accent1"/>
          </a:effectRef>
          <a:fontRef idx="minor">
            <a:schemeClr val="dk1"/>
          </a:fontRef>
        </p:style>
        <p:txBody>
          <a:bodyPr wrap="none" anchor="ctr"/>
          <a:lstStyle/>
          <a:p>
            <a:pPr fontAlgn="auto">
              <a:spcBef>
                <a:spcPts val="0"/>
              </a:spcBef>
              <a:spcAft>
                <a:spcPts val="0"/>
              </a:spcAft>
              <a:defRPr/>
            </a:pPr>
            <a:endParaRPr lang="zh-CN" altLang="en-US" sz="2000" b="1">
              <a:latin typeface="+mn-lt"/>
              <a:ea typeface="黑体" pitchFamily="2" charset="-122"/>
            </a:endParaRPr>
          </a:p>
        </p:txBody>
      </p:sp>
      <p:grpSp>
        <p:nvGrpSpPr>
          <p:cNvPr id="13" name="组合 13"/>
          <p:cNvGrpSpPr>
            <a:grpSpLocks/>
          </p:cNvGrpSpPr>
          <p:nvPr/>
        </p:nvGrpSpPr>
        <p:grpSpPr bwMode="auto">
          <a:xfrm>
            <a:off x="1443748" y="1677408"/>
            <a:ext cx="6399421" cy="857019"/>
            <a:chOff x="2196085" y="4343452"/>
            <a:chExt cx="5374557" cy="857019"/>
          </a:xfrm>
        </p:grpSpPr>
        <p:sp>
          <p:nvSpPr>
            <p:cNvPr id="14" name="Text Box 9"/>
            <p:cNvSpPr txBox="1">
              <a:spLocks noChangeArrowheads="1"/>
            </p:cNvSpPr>
            <p:nvPr/>
          </p:nvSpPr>
          <p:spPr bwMode="auto">
            <a:xfrm>
              <a:off x="2196085" y="4554685"/>
              <a:ext cx="131020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传播时延 </a:t>
              </a:r>
              <a:r>
                <a:rPr lang="en-US" altLang="zh-CN" sz="2000" b="1" dirty="0">
                  <a:solidFill>
                    <a:srgbClr val="000066"/>
                  </a:solidFill>
                  <a:latin typeface="微软雅黑" pitchFamily="34" charset="-122"/>
                  <a:ea typeface="微软雅黑" pitchFamily="34" charset="-122"/>
                </a:rPr>
                <a:t>= </a:t>
              </a:r>
            </a:p>
          </p:txBody>
        </p:sp>
        <p:sp>
          <p:nvSpPr>
            <p:cNvPr id="15" name="Text Box 10"/>
            <p:cNvSpPr txBox="1">
              <a:spLocks noChangeArrowheads="1"/>
            </p:cNvSpPr>
            <p:nvPr/>
          </p:nvSpPr>
          <p:spPr bwMode="auto">
            <a:xfrm>
              <a:off x="4527837" y="4343452"/>
              <a:ext cx="1662928"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a:solidFill>
                    <a:srgbClr val="000066"/>
                  </a:solidFill>
                  <a:latin typeface="微软雅黑" pitchFamily="34" charset="-122"/>
                  <a:ea typeface="微软雅黑" pitchFamily="34" charset="-122"/>
                </a:rPr>
                <a:t>信道长度（米）</a:t>
              </a:r>
            </a:p>
          </p:txBody>
        </p:sp>
        <p:sp>
          <p:nvSpPr>
            <p:cNvPr id="16" name="Text Box 11"/>
            <p:cNvSpPr txBox="1">
              <a:spLocks noChangeArrowheads="1"/>
            </p:cNvSpPr>
            <p:nvPr/>
          </p:nvSpPr>
          <p:spPr bwMode="auto">
            <a:xfrm>
              <a:off x="3429460" y="4800361"/>
              <a:ext cx="414118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a:solidFill>
                    <a:srgbClr val="000066"/>
                  </a:solidFill>
                  <a:latin typeface="微软雅黑" pitchFamily="34" charset="-122"/>
                  <a:ea typeface="微软雅黑" pitchFamily="34" charset="-122"/>
                </a:rPr>
                <a:t>信号在信道上的传播速率（米</a:t>
              </a:r>
              <a:r>
                <a:rPr lang="en-US" altLang="zh-CN" sz="2000" b="1">
                  <a:solidFill>
                    <a:srgbClr val="000066"/>
                  </a:solidFill>
                  <a:latin typeface="微软雅黑" pitchFamily="34" charset="-122"/>
                  <a:ea typeface="微软雅黑" pitchFamily="34" charset="-122"/>
                </a:rPr>
                <a:t>/</a:t>
              </a:r>
              <a:r>
                <a:rPr lang="zh-CN" altLang="en-US" sz="2000" b="1">
                  <a:solidFill>
                    <a:srgbClr val="000066"/>
                  </a:solidFill>
                  <a:latin typeface="微软雅黑" pitchFamily="34" charset="-122"/>
                  <a:ea typeface="微软雅黑" pitchFamily="34" charset="-122"/>
                </a:rPr>
                <a:t>秒）</a:t>
              </a:r>
            </a:p>
          </p:txBody>
        </p:sp>
        <p:sp>
          <p:nvSpPr>
            <p:cNvPr id="17" name="Line 12"/>
            <p:cNvSpPr>
              <a:spLocks noChangeShapeType="1"/>
            </p:cNvSpPr>
            <p:nvPr/>
          </p:nvSpPr>
          <p:spPr bwMode="auto">
            <a:xfrm>
              <a:off x="3429459" y="4759955"/>
              <a:ext cx="3842413"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srgbClr val="000099"/>
                </a:solidFill>
              </a:endParaRPr>
            </a:p>
          </p:txBody>
        </p:sp>
      </p:grpSp>
    </p:spTree>
    <p:extLst>
      <p:ext uri="{BB962C8B-B14F-4D97-AF65-F5344CB8AC3E}">
        <p14:creationId xmlns:p14="http://schemas.microsoft.com/office/powerpoint/2010/main" val="59751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969626"/>
            <a:ext cx="8129016" cy="3389873"/>
          </a:xfrm>
        </p:spPr>
        <p:txBody>
          <a:bodyPr/>
          <a:lstStyle/>
          <a:p>
            <a:pPr lvl="1"/>
            <a:r>
              <a:rPr lang="zh-CN" altLang="en-US" dirty="0"/>
              <a:t>注意：发送时延与传播时延</a:t>
            </a:r>
            <a:r>
              <a:rPr lang="zh-CN" altLang="zh-CN" dirty="0"/>
              <a:t>有本质上的不同</a:t>
            </a:r>
            <a:r>
              <a:rPr lang="zh-CN" altLang="en-US" dirty="0"/>
              <a:t>。</a:t>
            </a:r>
            <a:endParaRPr lang="en-US" altLang="zh-CN" dirty="0"/>
          </a:p>
          <a:p>
            <a:pPr lvl="1"/>
            <a:r>
              <a:rPr lang="zh-CN" altLang="en-US" dirty="0"/>
              <a:t>发送时延发生在机器内部的发送器中，与传输信道的长度（或信号传送的距离）没有任何关系。</a:t>
            </a:r>
            <a:endParaRPr lang="en-US" altLang="zh-CN" dirty="0"/>
          </a:p>
          <a:p>
            <a:pPr lvl="1"/>
            <a:r>
              <a:rPr lang="zh-CN" altLang="en-US" dirty="0"/>
              <a:t>传播时延则发生在机器外部的传输信道媒体上，而与信号的发送速率无关。信号传送的距离越远，传播时延就越大。</a:t>
            </a:r>
          </a:p>
        </p:txBody>
      </p:sp>
      <p:sp>
        <p:nvSpPr>
          <p:cNvPr id="3" name="文本占位符 2"/>
          <p:cNvSpPr>
            <a:spLocks noGrp="1"/>
          </p:cNvSpPr>
          <p:nvPr>
            <p:ph type="body" sz="quarter" idx="11"/>
          </p:nvPr>
        </p:nvSpPr>
        <p:spPr>
          <a:xfrm>
            <a:off x="1214565" y="616998"/>
            <a:ext cx="6632575" cy="338554"/>
          </a:xfrm>
        </p:spPr>
        <p:txBody>
          <a:bodyPr/>
          <a:lstStyle/>
          <a:p>
            <a:r>
              <a:rPr lang="zh-CN" altLang="en-US" dirty="0"/>
              <a:t>（</a:t>
            </a:r>
            <a:r>
              <a:rPr lang="en-US" altLang="zh-CN" dirty="0"/>
              <a:t>2</a:t>
            </a:r>
            <a:r>
              <a:rPr lang="zh-CN" altLang="en-US" dirty="0"/>
              <a:t>）传播时延</a:t>
            </a:r>
          </a:p>
        </p:txBody>
      </p:sp>
    </p:spTree>
    <p:extLst>
      <p:ext uri="{BB962C8B-B14F-4D97-AF65-F5344CB8AC3E}">
        <p14:creationId xmlns:p14="http://schemas.microsoft.com/office/powerpoint/2010/main" val="183324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969626"/>
            <a:ext cx="8129016" cy="3389873"/>
          </a:xfrm>
        </p:spPr>
        <p:txBody>
          <a:bodyPr/>
          <a:lstStyle/>
          <a:p>
            <a:r>
              <a:rPr lang="zh-CN" altLang="en-US" dirty="0"/>
              <a:t>（</a:t>
            </a:r>
            <a:r>
              <a:rPr lang="en-US" altLang="zh-CN" dirty="0"/>
              <a:t>3</a:t>
            </a:r>
            <a:r>
              <a:rPr lang="zh-CN" altLang="en-US" dirty="0"/>
              <a:t>）处理时延</a:t>
            </a:r>
            <a:endParaRPr lang="en-US" altLang="zh-CN" dirty="0"/>
          </a:p>
          <a:p>
            <a:pPr lvl="1"/>
            <a:r>
              <a:rPr lang="zh-CN" altLang="en-US" dirty="0"/>
              <a:t>主机或路由器在收到分组时，为处理分组（例如分析首部、提取数据、差错检验或查找路由）所花费的时间。 </a:t>
            </a:r>
          </a:p>
          <a:p>
            <a:r>
              <a:rPr lang="zh-CN" altLang="en-US" dirty="0"/>
              <a:t>（</a:t>
            </a:r>
            <a:r>
              <a:rPr lang="en-US" altLang="zh-CN" dirty="0"/>
              <a:t>4</a:t>
            </a:r>
            <a:r>
              <a:rPr lang="zh-CN" altLang="en-US" dirty="0"/>
              <a:t>）排队时延</a:t>
            </a:r>
            <a:endParaRPr lang="en-US" altLang="zh-CN" dirty="0"/>
          </a:p>
          <a:p>
            <a:pPr lvl="1"/>
            <a:r>
              <a:rPr lang="zh-CN" altLang="en-US" dirty="0"/>
              <a:t>分组在路由器输入输出队列中排队等待处理和转发所经历的时延。</a:t>
            </a:r>
          </a:p>
          <a:p>
            <a:pPr lvl="1"/>
            <a:r>
              <a:rPr lang="zh-CN" altLang="en-US" dirty="0"/>
              <a:t>排队时延的长短往往取决于网络中当时的通信量。当网络的通信量很大时会发生队列溢出，使分组丢失，这相当于排队时延为无穷大。</a:t>
            </a:r>
            <a:endParaRPr lang="en-US" altLang="zh-CN" dirty="0"/>
          </a:p>
          <a:p>
            <a:pPr lvl="1"/>
            <a:endParaRPr lang="zh-CN" altLang="en-US" dirty="0"/>
          </a:p>
        </p:txBody>
      </p:sp>
      <p:sp>
        <p:nvSpPr>
          <p:cNvPr id="3" name="文本占位符 2"/>
          <p:cNvSpPr>
            <a:spLocks noGrp="1"/>
          </p:cNvSpPr>
          <p:nvPr>
            <p:ph type="body" sz="quarter" idx="11"/>
          </p:nvPr>
        </p:nvSpPr>
        <p:spPr>
          <a:xfrm>
            <a:off x="1214565" y="616998"/>
            <a:ext cx="6632575" cy="338554"/>
          </a:xfrm>
        </p:spPr>
        <p:txBody>
          <a:bodyPr/>
          <a:lstStyle/>
          <a:p>
            <a:r>
              <a:rPr lang="zh-CN" altLang="en-US" dirty="0"/>
              <a:t>（</a:t>
            </a:r>
            <a:r>
              <a:rPr lang="en-US" altLang="zh-CN" dirty="0"/>
              <a:t>3</a:t>
            </a:r>
            <a:r>
              <a:rPr lang="zh-CN" altLang="en-US" dirty="0"/>
              <a:t>）处理时延 和（</a:t>
            </a:r>
            <a:r>
              <a:rPr lang="en-US" altLang="zh-CN" dirty="0"/>
              <a:t>4</a:t>
            </a:r>
            <a:r>
              <a:rPr lang="zh-CN" altLang="en-US" dirty="0"/>
              <a:t>）排队时延</a:t>
            </a:r>
          </a:p>
        </p:txBody>
      </p:sp>
    </p:spTree>
    <p:extLst>
      <p:ext uri="{BB962C8B-B14F-4D97-AF65-F5344CB8AC3E}">
        <p14:creationId xmlns:p14="http://schemas.microsoft.com/office/powerpoint/2010/main" val="10416022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endParaRPr lang="en-US" altLang="zh-CN" dirty="0"/>
          </a:p>
          <a:p>
            <a:endParaRPr lang="en-US" altLang="zh-CN" dirty="0"/>
          </a:p>
          <a:p>
            <a:endParaRPr lang="en-US" altLang="zh-CN" dirty="0"/>
          </a:p>
          <a:p>
            <a:r>
              <a:rPr lang="zh-CN" altLang="en-US" dirty="0"/>
              <a:t>一般说来，小时延的网络要</a:t>
            </a:r>
            <a:r>
              <a:rPr lang="zh-CN" altLang="en-US" dirty="0">
                <a:solidFill>
                  <a:srgbClr val="C00000"/>
                </a:solidFill>
              </a:rPr>
              <a:t>优于</a:t>
            </a:r>
            <a:r>
              <a:rPr lang="zh-CN" altLang="en-US" dirty="0"/>
              <a:t>大时延的网络。</a:t>
            </a:r>
            <a:endParaRPr lang="en-US" altLang="zh-CN" dirty="0"/>
          </a:p>
          <a:p>
            <a:r>
              <a:rPr lang="zh-CN" altLang="en-US" dirty="0"/>
              <a:t>在某些情况下，一个低速率、小时延的网络很可能要</a:t>
            </a:r>
            <a:r>
              <a:rPr lang="zh-CN" altLang="en-US" dirty="0">
                <a:solidFill>
                  <a:srgbClr val="C00000"/>
                </a:solidFill>
              </a:rPr>
              <a:t>优于</a:t>
            </a:r>
            <a:r>
              <a:rPr lang="zh-CN" altLang="en-US" dirty="0"/>
              <a:t>一个高速率但大时延的网络。</a:t>
            </a:r>
            <a:endParaRPr lang="en-US" altLang="zh-CN" dirty="0"/>
          </a:p>
          <a:p>
            <a:endParaRPr lang="en-US" altLang="zh-CN" dirty="0"/>
          </a:p>
          <a:p>
            <a:endParaRPr lang="en-US" altLang="zh-CN" dirty="0"/>
          </a:p>
          <a:p>
            <a:endParaRPr lang="zh-CN" altLang="en-US" dirty="0"/>
          </a:p>
        </p:txBody>
      </p:sp>
      <p:sp>
        <p:nvSpPr>
          <p:cNvPr id="3" name="文本占位符 2"/>
          <p:cNvSpPr>
            <a:spLocks noGrp="1"/>
          </p:cNvSpPr>
          <p:nvPr>
            <p:ph type="body" sz="quarter" idx="11"/>
          </p:nvPr>
        </p:nvSpPr>
        <p:spPr/>
        <p:txBody>
          <a:bodyPr/>
          <a:lstStyle/>
          <a:p>
            <a:r>
              <a:rPr lang="en-US" altLang="zh-CN" dirty="0"/>
              <a:t>4. </a:t>
            </a:r>
            <a:r>
              <a:rPr lang="zh-CN" altLang="en-US" dirty="0"/>
              <a:t>时延 </a:t>
            </a:r>
            <a:r>
              <a:rPr lang="en-US" altLang="zh-CN" dirty="0"/>
              <a:t>(delay </a:t>
            </a:r>
            <a:r>
              <a:rPr lang="zh-CN" altLang="en-US" dirty="0"/>
              <a:t>或 </a:t>
            </a:r>
            <a:r>
              <a:rPr lang="en-US" altLang="zh-CN" dirty="0"/>
              <a:t>latency)</a:t>
            </a:r>
            <a:endParaRPr lang="zh-CN" altLang="en-US" dirty="0"/>
          </a:p>
        </p:txBody>
      </p:sp>
      <p:sp>
        <p:nvSpPr>
          <p:cNvPr id="5" name="Rectangle 14"/>
          <p:cNvSpPr>
            <a:spLocks noChangeArrowheads="1"/>
          </p:cNvSpPr>
          <p:nvPr/>
        </p:nvSpPr>
        <p:spPr bwMode="auto">
          <a:xfrm>
            <a:off x="1116558" y="1239333"/>
            <a:ext cx="7147875" cy="815892"/>
          </a:xfrm>
          <a:prstGeom prst="rect">
            <a:avLst/>
          </a:prstGeom>
          <a:solidFill>
            <a:srgbClr val="FFFF99"/>
          </a:solidFill>
          <a:ln w="12700">
            <a:solidFill>
              <a:srgbClr val="000066"/>
            </a:solidFill>
            <a:headEnd/>
            <a:tailEnd/>
          </a:ln>
        </p:spPr>
        <p:style>
          <a:lnRef idx="2">
            <a:schemeClr val="accent1"/>
          </a:lnRef>
          <a:fillRef idx="1">
            <a:schemeClr val="lt1"/>
          </a:fillRef>
          <a:effectRef idx="0">
            <a:schemeClr val="accent1"/>
          </a:effectRef>
          <a:fontRef idx="minor">
            <a:schemeClr val="dk1"/>
          </a:fontRef>
        </p:style>
        <p:txBody>
          <a:bodyPr wrap="none" anchor="ctr"/>
          <a:lstStyle/>
          <a:p>
            <a:pPr fontAlgn="auto">
              <a:spcBef>
                <a:spcPts val="0"/>
              </a:spcBef>
              <a:spcAft>
                <a:spcPts val="0"/>
              </a:spcAft>
              <a:defRPr/>
            </a:pPr>
            <a:endParaRPr lang="zh-CN" altLang="en-US" sz="2000" b="1">
              <a:solidFill>
                <a:schemeClr val="tx1"/>
              </a:solidFill>
              <a:latin typeface="+mn-lt"/>
              <a:ea typeface="黑体" pitchFamily="2" charset="-122"/>
            </a:endParaRPr>
          </a:p>
        </p:txBody>
      </p:sp>
      <p:sp>
        <p:nvSpPr>
          <p:cNvPr id="6" name="矩形 13"/>
          <p:cNvSpPr>
            <a:spLocks noChangeArrowheads="1"/>
          </p:cNvSpPr>
          <p:nvPr/>
        </p:nvSpPr>
        <p:spPr bwMode="auto">
          <a:xfrm>
            <a:off x="1410578" y="1454755"/>
            <a:ext cx="657283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spcBef>
                <a:spcPts val="600"/>
              </a:spcBef>
            </a:pPr>
            <a:r>
              <a:rPr lang="zh-CN" altLang="en-US" sz="2000" b="1" dirty="0">
                <a:latin typeface="微软雅黑" pitchFamily="34" charset="-122"/>
                <a:ea typeface="微软雅黑" pitchFamily="34" charset="-122"/>
              </a:rPr>
              <a:t>总时延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传播时延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处理时延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排队时延</a:t>
            </a:r>
          </a:p>
        </p:txBody>
      </p:sp>
      <p:sp>
        <p:nvSpPr>
          <p:cNvPr id="4" name="矩形 3"/>
          <p:cNvSpPr/>
          <p:nvPr/>
        </p:nvSpPr>
        <p:spPr>
          <a:xfrm>
            <a:off x="2062069" y="3426545"/>
            <a:ext cx="4727219" cy="759182"/>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600"/>
              </a:lnSpc>
            </a:pPr>
            <a:r>
              <a:rPr lang="zh-CN" altLang="zh-CN" b="1" dirty="0">
                <a:latin typeface="微软雅黑" pitchFamily="34" charset="-122"/>
                <a:ea typeface="微软雅黑" pitchFamily="34" charset="-122"/>
              </a:rPr>
              <a:t>必须指出，在总时延中，究竟是哪一种时延</a:t>
            </a:r>
            <a:r>
              <a:rPr lang="zh-CN" altLang="zh-CN" b="1" dirty="0">
                <a:solidFill>
                  <a:srgbClr val="0000CC"/>
                </a:solidFill>
                <a:latin typeface="微软雅黑" pitchFamily="34" charset="-122"/>
                <a:ea typeface="微软雅黑" pitchFamily="34" charset="-122"/>
              </a:rPr>
              <a:t>占主导地位</a:t>
            </a:r>
            <a:r>
              <a:rPr lang="zh-CN" altLang="zh-CN" b="1" dirty="0">
                <a:latin typeface="微软雅黑" pitchFamily="34" charset="-122"/>
                <a:ea typeface="微软雅黑" pitchFamily="34" charset="-122"/>
              </a:rPr>
              <a:t>，必须具体分析</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9509313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775063" y="1008593"/>
            <a:ext cx="7323908" cy="298355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108551" name="Rectangle 7"/>
          <p:cNvSpPr>
            <a:spLocks noChangeArrowheads="1"/>
          </p:cNvSpPr>
          <p:nvPr/>
        </p:nvSpPr>
        <p:spPr bwMode="auto">
          <a:xfrm>
            <a:off x="3006696" y="3030623"/>
            <a:ext cx="3849687" cy="169862"/>
          </a:xfrm>
          <a:prstGeom prst="rect">
            <a:avLst/>
          </a:prstGeom>
          <a:gradFill rotWithShape="1">
            <a:gsLst>
              <a:gs pos="0">
                <a:srgbClr val="339933"/>
              </a:gs>
              <a:gs pos="50000">
                <a:srgbClr val="CDF3CD"/>
              </a:gs>
              <a:gs pos="100000">
                <a:srgbClr val="339933"/>
              </a:gs>
            </a:gsLst>
            <a:lin ang="5400000" scaled="1"/>
          </a:gradFill>
          <a:ln w="9525">
            <a:solidFill>
              <a:schemeClr val="folHlink"/>
            </a:solidFill>
            <a:miter lim="800000"/>
            <a:headEnd/>
            <a:tailEnd/>
          </a:ln>
        </p:spPr>
        <p:txBody>
          <a:bodyPr wrap="none" anchor="ctr"/>
          <a:lstStyle/>
          <a:p>
            <a:endParaRPr lang="zh-CN" altLang="en-US" sz="1200" b="1">
              <a:ea typeface="黑体" pitchFamily="49" charset="-122"/>
            </a:endParaRPr>
          </a:p>
        </p:txBody>
      </p:sp>
      <p:sp>
        <p:nvSpPr>
          <p:cNvPr id="8" name="Oval 9"/>
          <p:cNvSpPr>
            <a:spLocks noChangeArrowheads="1"/>
          </p:cNvSpPr>
          <p:nvPr/>
        </p:nvSpPr>
        <p:spPr bwMode="auto">
          <a:xfrm>
            <a:off x="2122882" y="2686973"/>
            <a:ext cx="947043" cy="856832"/>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pPr fontAlgn="auto">
              <a:spcBef>
                <a:spcPts val="0"/>
              </a:spcBef>
              <a:spcAft>
                <a:spcPts val="0"/>
              </a:spcAft>
              <a:defRPr/>
            </a:pPr>
            <a:endParaRPr lang="zh-CN" altLang="en-US" sz="1200" b="1">
              <a:latin typeface="+mn-lt"/>
              <a:ea typeface="黑体" pitchFamily="2" charset="-122"/>
            </a:endParaRPr>
          </a:p>
        </p:txBody>
      </p:sp>
      <p:sp>
        <p:nvSpPr>
          <p:cNvPr id="108555" name="Oval 10"/>
          <p:cNvSpPr>
            <a:spLocks noChangeArrowheads="1"/>
          </p:cNvSpPr>
          <p:nvPr/>
        </p:nvSpPr>
        <p:spPr bwMode="auto">
          <a:xfrm>
            <a:off x="6792883" y="2687723"/>
            <a:ext cx="947738" cy="855662"/>
          </a:xfrm>
          <a:prstGeom prst="ellipse">
            <a:avLst/>
          </a:prstGeom>
          <a:gradFill rotWithShape="1">
            <a:gsLst>
              <a:gs pos="0">
                <a:srgbClr val="85D1F7"/>
              </a:gs>
              <a:gs pos="100000">
                <a:srgbClr val="0070C0"/>
              </a:gs>
            </a:gsLst>
            <a:path path="shape">
              <a:fillToRect l="50000" t="50000" r="50000" b="50000"/>
            </a:path>
          </a:gradFill>
          <a:ln w="9525">
            <a:solidFill>
              <a:schemeClr val="folHlink"/>
            </a:solidFill>
            <a:round/>
            <a:headEnd/>
            <a:tailEnd/>
          </a:ln>
        </p:spPr>
        <p:txBody>
          <a:bodyPr wrap="none" anchor="ctr"/>
          <a:lstStyle/>
          <a:p>
            <a:endParaRPr lang="zh-CN" altLang="en-US" sz="1200" b="1">
              <a:ea typeface="黑体" pitchFamily="49" charset="-122"/>
            </a:endParaRPr>
          </a:p>
        </p:txBody>
      </p:sp>
      <p:grpSp>
        <p:nvGrpSpPr>
          <p:cNvPr id="108556" name="Group 11"/>
          <p:cNvGrpSpPr>
            <a:grpSpLocks/>
          </p:cNvGrpSpPr>
          <p:nvPr/>
        </p:nvGrpSpPr>
        <p:grpSpPr bwMode="auto">
          <a:xfrm>
            <a:off x="2374871" y="2949660"/>
            <a:ext cx="504825" cy="295275"/>
            <a:chOff x="1567" y="1056"/>
            <a:chExt cx="384" cy="336"/>
          </a:xfrm>
        </p:grpSpPr>
        <p:sp>
          <p:nvSpPr>
            <p:cNvPr id="11" name="Rectangle 12"/>
            <p:cNvSpPr>
              <a:spLocks noChangeArrowheads="1"/>
            </p:cNvSpPr>
            <p:nvPr/>
          </p:nvSpPr>
          <p:spPr bwMode="auto">
            <a:xfrm>
              <a:off x="1664" y="1056"/>
              <a:ext cx="287" cy="336"/>
            </a:xfrm>
            <a:prstGeom prst="rect">
              <a:avLst/>
            </a:prstGeom>
            <a:solidFill>
              <a:srgbClr val="85D1F7"/>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mn-lt"/>
                <a:ea typeface="黑体" pitchFamily="2" charset="-122"/>
              </a:endParaRPr>
            </a:p>
          </p:txBody>
        </p:sp>
        <p:sp>
          <p:nvSpPr>
            <p:cNvPr id="108579" name="Freeform 13"/>
            <p:cNvSpPr>
              <a:spLocks/>
            </p:cNvSpPr>
            <p:nvPr/>
          </p:nvSpPr>
          <p:spPr bwMode="auto">
            <a:xfrm>
              <a:off x="1567" y="1056"/>
              <a:ext cx="384" cy="336"/>
            </a:xfrm>
            <a:custGeom>
              <a:avLst/>
              <a:gdLst>
                <a:gd name="T0" fmla="*/ 0 w 384"/>
                <a:gd name="T1" fmla="*/ 0 h 336"/>
                <a:gd name="T2" fmla="*/ 384 w 384"/>
                <a:gd name="T3" fmla="*/ 0 h 336"/>
                <a:gd name="T4" fmla="*/ 384 w 384"/>
                <a:gd name="T5" fmla="*/ 336 h 336"/>
                <a:gd name="T6" fmla="*/ 0 w 384"/>
                <a:gd name="T7" fmla="*/ 336 h 33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384" h="336">
                  <a:moveTo>
                    <a:pt x="0" y="0"/>
                  </a:moveTo>
                  <a:lnTo>
                    <a:pt x="384" y="0"/>
                  </a:lnTo>
                  <a:lnTo>
                    <a:pt x="384" y="336"/>
                  </a:lnTo>
                  <a:lnTo>
                    <a:pt x="0" y="336"/>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8580" name="Line 14"/>
            <p:cNvSpPr>
              <a:spLocks noChangeShapeType="1"/>
            </p:cNvSpPr>
            <p:nvPr/>
          </p:nvSpPr>
          <p:spPr bwMode="auto">
            <a:xfrm>
              <a:off x="1855" y="1056"/>
              <a:ext cx="0" cy="336"/>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8581" name="Line 15"/>
            <p:cNvSpPr>
              <a:spLocks noChangeShapeType="1"/>
            </p:cNvSpPr>
            <p:nvPr/>
          </p:nvSpPr>
          <p:spPr bwMode="auto">
            <a:xfrm>
              <a:off x="1759" y="1056"/>
              <a:ext cx="0" cy="336"/>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8582" name="Line 16"/>
            <p:cNvSpPr>
              <a:spLocks noChangeShapeType="1"/>
            </p:cNvSpPr>
            <p:nvPr/>
          </p:nvSpPr>
          <p:spPr bwMode="auto">
            <a:xfrm>
              <a:off x="1663" y="1056"/>
              <a:ext cx="0" cy="336"/>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108557" name="Line 17"/>
          <p:cNvSpPr>
            <a:spLocks noChangeShapeType="1"/>
          </p:cNvSpPr>
          <p:nvPr/>
        </p:nvSpPr>
        <p:spPr bwMode="auto">
          <a:xfrm>
            <a:off x="2876521" y="3108410"/>
            <a:ext cx="188912" cy="317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8558" name="Rectangle 18"/>
          <p:cNvSpPr>
            <a:spLocks noChangeArrowheads="1"/>
          </p:cNvSpPr>
          <p:nvPr/>
        </p:nvSpPr>
        <p:spPr bwMode="auto">
          <a:xfrm>
            <a:off x="2927321" y="3048085"/>
            <a:ext cx="119062" cy="123825"/>
          </a:xfrm>
          <a:prstGeom prst="rect">
            <a:avLst/>
          </a:prstGeom>
          <a:solidFill>
            <a:srgbClr val="9AFEA6"/>
          </a:solidFill>
          <a:ln w="19050">
            <a:solidFill>
              <a:srgbClr val="0000FF"/>
            </a:solidFill>
            <a:miter lim="800000"/>
            <a:headEnd/>
            <a:tailEnd/>
          </a:ln>
        </p:spPr>
        <p:txBody>
          <a:bodyPr wrap="none" anchor="ctr"/>
          <a:lstStyle/>
          <a:p>
            <a:endParaRPr lang="zh-CN" altLang="en-US" sz="1200" b="1">
              <a:ea typeface="黑体" pitchFamily="49" charset="-122"/>
            </a:endParaRPr>
          </a:p>
        </p:txBody>
      </p:sp>
      <p:sp>
        <p:nvSpPr>
          <p:cNvPr id="108559" name="AutoShape 21"/>
          <p:cNvSpPr>
            <a:spLocks noChangeArrowheads="1"/>
          </p:cNvSpPr>
          <p:nvPr/>
        </p:nvSpPr>
        <p:spPr bwMode="auto">
          <a:xfrm>
            <a:off x="3448021" y="3063960"/>
            <a:ext cx="882650" cy="114300"/>
          </a:xfrm>
          <a:prstGeom prst="rightArrow">
            <a:avLst>
              <a:gd name="adj1" fmla="val 50000"/>
              <a:gd name="adj2" fmla="val 178219"/>
            </a:avLst>
          </a:prstGeom>
          <a:solidFill>
            <a:srgbClr val="FFCC00"/>
          </a:solidFill>
          <a:ln>
            <a:solidFill>
              <a:srgbClr val="000066"/>
            </a:solidFill>
          </a:ln>
        </p:spPr>
        <p:txBody>
          <a:bodyPr wrap="none" anchor="ctr"/>
          <a:lstStyle/>
          <a:p>
            <a:endParaRPr lang="zh-CN" altLang="en-US" sz="1200" b="1">
              <a:ea typeface="黑体" pitchFamily="49" charset="-122"/>
            </a:endParaRPr>
          </a:p>
        </p:txBody>
      </p:sp>
      <p:sp>
        <p:nvSpPr>
          <p:cNvPr id="108560" name="AutoShape 26"/>
          <p:cNvSpPr>
            <a:spLocks noChangeArrowheads="1"/>
          </p:cNvSpPr>
          <p:nvPr/>
        </p:nvSpPr>
        <p:spPr bwMode="auto">
          <a:xfrm>
            <a:off x="1703358" y="3063960"/>
            <a:ext cx="795338" cy="114300"/>
          </a:xfrm>
          <a:prstGeom prst="rightArrow">
            <a:avLst>
              <a:gd name="adj1" fmla="val 50000"/>
              <a:gd name="adj2" fmla="val 178436"/>
            </a:avLst>
          </a:prstGeom>
          <a:solidFill>
            <a:srgbClr val="FFCC00"/>
          </a:solidFill>
          <a:ln>
            <a:solidFill>
              <a:srgbClr val="000066"/>
            </a:solidFill>
          </a:ln>
        </p:spPr>
        <p:txBody>
          <a:bodyPr wrap="none" anchor="ctr"/>
          <a:lstStyle/>
          <a:p>
            <a:endParaRPr lang="zh-CN" altLang="en-US" sz="1200" b="1">
              <a:ea typeface="黑体" pitchFamily="49" charset="-122"/>
            </a:endParaRPr>
          </a:p>
        </p:txBody>
      </p:sp>
      <p:sp>
        <p:nvSpPr>
          <p:cNvPr id="108561" name="AutoShape 27"/>
          <p:cNvSpPr>
            <a:spLocks noChangeArrowheads="1"/>
          </p:cNvSpPr>
          <p:nvPr/>
        </p:nvSpPr>
        <p:spPr bwMode="auto">
          <a:xfrm>
            <a:off x="6313458" y="3059198"/>
            <a:ext cx="882650" cy="112712"/>
          </a:xfrm>
          <a:prstGeom prst="rightArrow">
            <a:avLst>
              <a:gd name="adj1" fmla="val 50000"/>
              <a:gd name="adj2" fmla="val 180730"/>
            </a:avLst>
          </a:prstGeom>
          <a:solidFill>
            <a:srgbClr val="FFCC00"/>
          </a:solidFill>
          <a:ln>
            <a:solidFill>
              <a:srgbClr val="000066"/>
            </a:solidFill>
          </a:ln>
        </p:spPr>
        <p:txBody>
          <a:bodyPr wrap="none" anchor="ctr"/>
          <a:lstStyle/>
          <a:p>
            <a:endParaRPr lang="zh-CN" altLang="en-US" sz="1200" b="1">
              <a:ea typeface="黑体" pitchFamily="49" charset="-122"/>
            </a:endParaRPr>
          </a:p>
        </p:txBody>
      </p:sp>
      <p:sp>
        <p:nvSpPr>
          <p:cNvPr id="108563" name="Text Box 29"/>
          <p:cNvSpPr txBox="1">
            <a:spLocks noChangeArrowheads="1"/>
          </p:cNvSpPr>
          <p:nvPr/>
        </p:nvSpPr>
        <p:spPr bwMode="auto">
          <a:xfrm>
            <a:off x="5473671" y="2882985"/>
            <a:ext cx="379412" cy="344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en-US" altLang="zh-CN" sz="2000" b="1">
                <a:ea typeface="黑体" pitchFamily="49" charset="-122"/>
              </a:rPr>
              <a:t>…</a:t>
            </a:r>
          </a:p>
        </p:txBody>
      </p:sp>
      <p:sp>
        <p:nvSpPr>
          <p:cNvPr id="108564" name="Text Box 32"/>
          <p:cNvSpPr txBox="1">
            <a:spLocks noChangeArrowheads="1"/>
          </p:cNvSpPr>
          <p:nvPr/>
        </p:nvSpPr>
        <p:spPr bwMode="auto">
          <a:xfrm>
            <a:off x="3273396" y="337193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a:latin typeface="微软雅黑" pitchFamily="34" charset="-122"/>
                <a:ea typeface="微软雅黑" pitchFamily="34" charset="-122"/>
              </a:rPr>
              <a:t>发送器</a:t>
            </a:r>
          </a:p>
        </p:txBody>
      </p:sp>
      <p:sp>
        <p:nvSpPr>
          <p:cNvPr id="108565" name="Text Box 34"/>
          <p:cNvSpPr txBox="1">
            <a:spLocks noChangeArrowheads="1"/>
          </p:cNvSpPr>
          <p:nvPr/>
        </p:nvSpPr>
        <p:spPr bwMode="auto">
          <a:xfrm>
            <a:off x="2389158" y="3217992"/>
            <a:ext cx="558800" cy="319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ea typeface="黑体" pitchFamily="49" charset="-122"/>
              </a:rPr>
              <a:t>队列</a:t>
            </a:r>
          </a:p>
        </p:txBody>
      </p:sp>
      <p:grpSp>
        <p:nvGrpSpPr>
          <p:cNvPr id="25" name="Group 45"/>
          <p:cNvGrpSpPr>
            <a:grpSpLocks/>
          </p:cNvGrpSpPr>
          <p:nvPr/>
        </p:nvGrpSpPr>
        <p:grpSpPr bwMode="auto">
          <a:xfrm>
            <a:off x="5110637" y="1883843"/>
            <a:ext cx="1644048" cy="1037594"/>
            <a:chOff x="3363" y="1933"/>
            <a:chExt cx="1486" cy="1016"/>
          </a:xfrm>
          <a:solidFill>
            <a:srgbClr val="0070C0"/>
          </a:solidFill>
        </p:grpSpPr>
        <p:sp>
          <p:nvSpPr>
            <p:cNvPr id="26" name="Line 33"/>
            <p:cNvSpPr>
              <a:spLocks noChangeShapeType="1"/>
            </p:cNvSpPr>
            <p:nvPr/>
          </p:nvSpPr>
          <p:spPr bwMode="auto">
            <a:xfrm flipH="1">
              <a:off x="3363" y="2369"/>
              <a:ext cx="322" cy="580"/>
            </a:xfrm>
            <a:prstGeom prst="line">
              <a:avLst/>
            </a:prstGeom>
            <a:grpFill/>
            <a:ln w="28575">
              <a:solidFill>
                <a:srgbClr val="993300"/>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600" b="1">
                <a:ln>
                  <a:solidFill>
                    <a:srgbClr val="993300"/>
                  </a:solidFill>
                </a:ln>
                <a:solidFill>
                  <a:schemeClr val="accent3"/>
                </a:solidFill>
                <a:latin typeface="微软雅黑" pitchFamily="34" charset="-122"/>
                <a:ea typeface="微软雅黑" pitchFamily="34" charset="-122"/>
              </a:endParaRPr>
            </a:p>
          </p:txBody>
        </p:sp>
        <p:sp>
          <p:nvSpPr>
            <p:cNvPr id="27" name="Text Box 36"/>
            <p:cNvSpPr txBox="1">
              <a:spLocks noChangeArrowheads="1"/>
            </p:cNvSpPr>
            <p:nvPr/>
          </p:nvSpPr>
          <p:spPr bwMode="auto">
            <a:xfrm>
              <a:off x="3506" y="1933"/>
              <a:ext cx="1343" cy="512"/>
            </a:xfrm>
            <a:prstGeom prst="rect">
              <a:avLst/>
            </a:prstGeom>
            <a:solidFill>
              <a:srgbClr val="663300"/>
            </a:solidFill>
            <a:ln w="76200" cmpd="tri">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fontAlgn="auto">
                <a:spcBef>
                  <a:spcPts val="0"/>
                </a:spcBef>
                <a:spcAft>
                  <a:spcPts val="0"/>
                </a:spcAft>
                <a:defRPr/>
              </a:pPr>
              <a:r>
                <a:rPr kumimoji="1" lang="zh-CN" altLang="en-US" sz="1400" b="1" dirty="0">
                  <a:solidFill>
                    <a:schemeClr val="bg1"/>
                  </a:solidFill>
                  <a:latin typeface="微软雅黑" pitchFamily="34" charset="-122"/>
                  <a:ea typeface="微软雅黑" pitchFamily="34" charset="-122"/>
                </a:rPr>
                <a:t>在链路上产生</a:t>
              </a:r>
            </a:p>
            <a:p>
              <a:pPr algn="ctr" fontAlgn="auto">
                <a:spcBef>
                  <a:spcPts val="0"/>
                </a:spcBef>
                <a:spcAft>
                  <a:spcPts val="0"/>
                </a:spcAft>
                <a:defRPr/>
              </a:pPr>
              <a:r>
                <a:rPr kumimoji="1" lang="zh-CN" altLang="en-US" sz="1400" b="1" dirty="0">
                  <a:solidFill>
                    <a:schemeClr val="bg1"/>
                  </a:solidFill>
                  <a:latin typeface="微软雅黑" pitchFamily="34" charset="-122"/>
                  <a:ea typeface="微软雅黑" pitchFamily="34" charset="-122"/>
                </a:rPr>
                <a:t>传播时延</a:t>
              </a:r>
            </a:p>
          </p:txBody>
        </p:sp>
      </p:grpSp>
      <p:sp>
        <p:nvSpPr>
          <p:cNvPr id="108567" name="Text Box 37"/>
          <p:cNvSpPr txBox="1">
            <a:spLocks noChangeArrowheads="1"/>
          </p:cNvSpPr>
          <p:nvPr/>
        </p:nvSpPr>
        <p:spPr bwMode="auto">
          <a:xfrm>
            <a:off x="6891308" y="3560076"/>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108568" name="Text Box 38"/>
          <p:cNvSpPr txBox="1">
            <a:spLocks noChangeArrowheads="1"/>
          </p:cNvSpPr>
          <p:nvPr/>
        </p:nvSpPr>
        <p:spPr bwMode="auto">
          <a:xfrm>
            <a:off x="2208866" y="3555536"/>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grpSp>
        <p:nvGrpSpPr>
          <p:cNvPr id="30" name="Group 44"/>
          <p:cNvGrpSpPr>
            <a:grpSpLocks/>
          </p:cNvGrpSpPr>
          <p:nvPr/>
        </p:nvGrpSpPr>
        <p:grpSpPr bwMode="auto">
          <a:xfrm>
            <a:off x="2987414" y="1728274"/>
            <a:ext cx="2027954" cy="1379714"/>
            <a:chOff x="1118" y="1781"/>
            <a:chExt cx="1833" cy="1351"/>
          </a:xfrm>
          <a:solidFill>
            <a:srgbClr val="0070C0"/>
          </a:solidFill>
        </p:grpSpPr>
        <p:sp>
          <p:nvSpPr>
            <p:cNvPr id="32" name="Line 40"/>
            <p:cNvSpPr>
              <a:spLocks noChangeShapeType="1"/>
            </p:cNvSpPr>
            <p:nvPr/>
          </p:nvSpPr>
          <p:spPr bwMode="auto">
            <a:xfrm flipH="1">
              <a:off x="1118" y="2195"/>
              <a:ext cx="122" cy="937"/>
            </a:xfrm>
            <a:prstGeom prst="line">
              <a:avLst/>
            </a:prstGeom>
            <a:grpFill/>
            <a:ln w="28575">
              <a:solidFill>
                <a:srgbClr val="993300"/>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600" b="1">
                <a:solidFill>
                  <a:schemeClr val="accent3"/>
                </a:solidFill>
                <a:latin typeface="微软雅黑" pitchFamily="34" charset="-122"/>
                <a:ea typeface="微软雅黑" pitchFamily="34" charset="-122"/>
              </a:endParaRPr>
            </a:p>
          </p:txBody>
        </p:sp>
        <p:sp>
          <p:nvSpPr>
            <p:cNvPr id="31" name="Text Box 24"/>
            <p:cNvSpPr txBox="1">
              <a:spLocks noChangeArrowheads="1"/>
            </p:cNvSpPr>
            <p:nvPr/>
          </p:nvSpPr>
          <p:spPr bwMode="auto">
            <a:xfrm>
              <a:off x="1161" y="1781"/>
              <a:ext cx="1790" cy="512"/>
            </a:xfrm>
            <a:prstGeom prst="rect">
              <a:avLst/>
            </a:prstGeom>
            <a:solidFill>
              <a:srgbClr val="006600"/>
            </a:solidFill>
            <a:ln w="76200" cmpd="tri">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fontAlgn="auto">
                <a:spcBef>
                  <a:spcPts val="0"/>
                </a:spcBef>
                <a:spcAft>
                  <a:spcPts val="0"/>
                </a:spcAft>
                <a:defRPr/>
              </a:pPr>
              <a:r>
                <a:rPr kumimoji="1" lang="zh-CN" altLang="en-US" sz="1400" b="1" dirty="0">
                  <a:solidFill>
                    <a:schemeClr val="bg1"/>
                  </a:solidFill>
                  <a:latin typeface="微软雅黑" pitchFamily="34" charset="-122"/>
                  <a:ea typeface="微软雅黑" pitchFamily="34" charset="-122"/>
                </a:rPr>
                <a:t>在发送器产生发送时延</a:t>
              </a:r>
            </a:p>
            <a:p>
              <a:pPr algn="ctr" fontAlgn="auto">
                <a:spcBef>
                  <a:spcPts val="0"/>
                </a:spcBef>
                <a:spcAft>
                  <a:spcPts val="0"/>
                </a:spcAft>
                <a:defRPr/>
              </a:pPr>
              <a:r>
                <a:rPr kumimoji="1" lang="en-US" altLang="zh-CN" sz="1400" b="1" dirty="0">
                  <a:solidFill>
                    <a:schemeClr val="bg1"/>
                  </a:solidFill>
                  <a:latin typeface="微软雅黑" pitchFamily="34" charset="-122"/>
                  <a:ea typeface="微软雅黑" pitchFamily="34" charset="-122"/>
                </a:rPr>
                <a:t>(</a:t>
              </a:r>
              <a:r>
                <a:rPr kumimoji="1" lang="zh-CN" altLang="en-US" sz="1400" b="1" dirty="0">
                  <a:solidFill>
                    <a:schemeClr val="bg1"/>
                  </a:solidFill>
                  <a:latin typeface="微软雅黑" pitchFamily="34" charset="-122"/>
                  <a:ea typeface="微软雅黑" pitchFamily="34" charset="-122"/>
                </a:rPr>
                <a:t>即传输时延</a:t>
              </a:r>
              <a:r>
                <a:rPr kumimoji="1" lang="en-US" altLang="zh-CN" sz="1400" b="1" dirty="0">
                  <a:solidFill>
                    <a:schemeClr val="bg1"/>
                  </a:solidFill>
                  <a:latin typeface="微软雅黑" pitchFamily="34" charset="-122"/>
                  <a:ea typeface="微软雅黑" pitchFamily="34" charset="-122"/>
                </a:rPr>
                <a:t>)</a:t>
              </a:r>
            </a:p>
          </p:txBody>
        </p:sp>
      </p:grpSp>
      <p:sp>
        <p:nvSpPr>
          <p:cNvPr id="108570" name="Line 41"/>
          <p:cNvSpPr>
            <a:spLocks noChangeShapeType="1"/>
          </p:cNvSpPr>
          <p:nvPr/>
        </p:nvSpPr>
        <p:spPr bwMode="auto">
          <a:xfrm flipH="1" flipV="1">
            <a:off x="3027332" y="3178260"/>
            <a:ext cx="280986" cy="365123"/>
          </a:xfrm>
          <a:prstGeom prst="line">
            <a:avLst/>
          </a:prstGeom>
          <a:noFill/>
          <a:ln w="28575">
            <a:solidFill>
              <a:srgbClr val="9933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108571" name="组合 40"/>
          <p:cNvGrpSpPr>
            <a:grpSpLocks/>
          </p:cNvGrpSpPr>
          <p:nvPr/>
        </p:nvGrpSpPr>
        <p:grpSpPr bwMode="auto">
          <a:xfrm>
            <a:off x="944534" y="1676855"/>
            <a:ext cx="1800225" cy="1384349"/>
            <a:chOff x="923708" y="1819146"/>
            <a:chExt cx="1800494" cy="1384449"/>
          </a:xfrm>
        </p:grpSpPr>
        <p:sp>
          <p:nvSpPr>
            <p:cNvPr id="108576" name="Line 39"/>
            <p:cNvSpPr>
              <a:spLocks noChangeShapeType="1"/>
            </p:cNvSpPr>
            <p:nvPr/>
          </p:nvSpPr>
          <p:spPr bwMode="auto">
            <a:xfrm>
              <a:off x="2011307" y="2293868"/>
              <a:ext cx="673995" cy="909727"/>
            </a:xfrm>
            <a:prstGeom prst="line">
              <a:avLst/>
            </a:prstGeom>
            <a:noFill/>
            <a:ln w="28575">
              <a:solidFill>
                <a:srgbClr val="9933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8577" name="Text Box 42"/>
            <p:cNvSpPr txBox="1">
              <a:spLocks noChangeArrowheads="1"/>
            </p:cNvSpPr>
            <p:nvPr/>
          </p:nvSpPr>
          <p:spPr bwMode="auto">
            <a:xfrm>
              <a:off x="923708" y="1819146"/>
              <a:ext cx="1800494" cy="523220"/>
            </a:xfrm>
            <a:prstGeom prst="rect">
              <a:avLst/>
            </a:prstGeom>
            <a:solidFill>
              <a:srgbClr val="000099"/>
            </a:solidFill>
            <a:ln>
              <a:noFill/>
            </a:ln>
            <a:extLst>
              <a:ext uri="{91240B29-F687-4F45-9708-019B960494DF}">
                <a14:hiddenLine xmlns:a14="http://schemas.microsoft.com/office/drawing/2010/main" w="76200" cmpd="tri">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solidFill>
                    <a:schemeClr val="bg1"/>
                  </a:solidFill>
                  <a:latin typeface="微软雅黑" pitchFamily="34" charset="-122"/>
                  <a:ea typeface="微软雅黑" pitchFamily="34" charset="-122"/>
                </a:rPr>
                <a:t>在这里产生</a:t>
              </a:r>
            </a:p>
            <a:p>
              <a:pPr algn="ctr"/>
              <a:r>
                <a:rPr kumimoji="1" lang="zh-CN" altLang="en-US" sz="1400" b="1" dirty="0">
                  <a:solidFill>
                    <a:schemeClr val="bg1"/>
                  </a:solidFill>
                  <a:latin typeface="微软雅黑" pitchFamily="34" charset="-122"/>
                  <a:ea typeface="微软雅黑" pitchFamily="34" charset="-122"/>
                </a:rPr>
                <a:t>处理时延和排队时延</a:t>
              </a:r>
            </a:p>
          </p:txBody>
        </p:sp>
      </p:grpSp>
      <p:sp>
        <p:nvSpPr>
          <p:cNvPr id="108572" name="Text Box 46"/>
          <p:cNvSpPr txBox="1">
            <a:spLocks noChangeArrowheads="1"/>
          </p:cNvSpPr>
          <p:nvPr/>
        </p:nvSpPr>
        <p:spPr bwMode="auto">
          <a:xfrm>
            <a:off x="1665258" y="3244935"/>
            <a:ext cx="555625" cy="317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a:latin typeface="微软雅黑" pitchFamily="34" charset="-122"/>
                <a:ea typeface="微软雅黑" pitchFamily="34" charset="-122"/>
              </a:rPr>
              <a:t>数据</a:t>
            </a:r>
          </a:p>
        </p:txBody>
      </p:sp>
      <p:sp>
        <p:nvSpPr>
          <p:cNvPr id="108573" name="Text Box 47"/>
          <p:cNvSpPr txBox="1">
            <a:spLocks noChangeArrowheads="1"/>
          </p:cNvSpPr>
          <p:nvPr/>
        </p:nvSpPr>
        <p:spPr bwMode="auto">
          <a:xfrm>
            <a:off x="2266589" y="1002436"/>
            <a:ext cx="4343217" cy="4385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lnSpc>
                <a:spcPts val="2700"/>
              </a:lnSpc>
              <a:spcBef>
                <a:spcPts val="600"/>
              </a:spcBef>
            </a:pPr>
            <a:r>
              <a:rPr kumimoji="1" lang="zh-CN" altLang="en-US" b="1" dirty="0">
                <a:solidFill>
                  <a:srgbClr val="0000FF"/>
                </a:solidFill>
                <a:latin typeface="微软雅黑" pitchFamily="34" charset="-122"/>
                <a:ea typeface="微软雅黑" pitchFamily="34" charset="-122"/>
              </a:rPr>
              <a:t>假设从结点 </a:t>
            </a:r>
            <a:r>
              <a:rPr kumimoji="1" lang="en-US" altLang="zh-CN" b="1" dirty="0">
                <a:solidFill>
                  <a:srgbClr val="0000FF"/>
                </a:solidFill>
                <a:latin typeface="微软雅黑" pitchFamily="34" charset="-122"/>
                <a:ea typeface="微软雅黑" pitchFamily="34" charset="-122"/>
              </a:rPr>
              <a:t>A </a:t>
            </a:r>
            <a:r>
              <a:rPr kumimoji="1" lang="zh-CN" altLang="en-US" b="1" dirty="0">
                <a:solidFill>
                  <a:srgbClr val="0000FF"/>
                </a:solidFill>
                <a:latin typeface="微软雅黑" pitchFamily="34" charset="-122"/>
                <a:ea typeface="微软雅黑" pitchFamily="34" charset="-122"/>
              </a:rPr>
              <a:t>向结点 </a:t>
            </a:r>
            <a:r>
              <a:rPr kumimoji="1" lang="en-US" altLang="zh-CN" b="1" dirty="0">
                <a:solidFill>
                  <a:srgbClr val="0000FF"/>
                </a:solidFill>
                <a:latin typeface="微软雅黑" pitchFamily="34" charset="-122"/>
                <a:ea typeface="微软雅黑" pitchFamily="34" charset="-122"/>
              </a:rPr>
              <a:t>B </a:t>
            </a:r>
            <a:r>
              <a:rPr kumimoji="1" lang="zh-CN" altLang="en-US" b="1" dirty="0">
                <a:solidFill>
                  <a:srgbClr val="0000FF"/>
                </a:solidFill>
                <a:latin typeface="微软雅黑" pitchFamily="34" charset="-122"/>
                <a:ea typeface="微软雅黑" pitchFamily="34" charset="-122"/>
              </a:rPr>
              <a:t>发送数据</a:t>
            </a:r>
          </a:p>
        </p:txBody>
      </p:sp>
      <p:sp>
        <p:nvSpPr>
          <p:cNvPr id="108574" name="Text Box 48"/>
          <p:cNvSpPr txBox="1">
            <a:spLocks noChangeArrowheads="1"/>
          </p:cNvSpPr>
          <p:nvPr/>
        </p:nvSpPr>
        <p:spPr bwMode="auto">
          <a:xfrm>
            <a:off x="4552921" y="3230648"/>
            <a:ext cx="557212" cy="317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a:latin typeface="微软雅黑" pitchFamily="34" charset="-122"/>
                <a:ea typeface="微软雅黑" pitchFamily="34" charset="-122"/>
              </a:rPr>
              <a:t>链路</a:t>
            </a:r>
          </a:p>
        </p:txBody>
      </p:sp>
      <p:sp>
        <p:nvSpPr>
          <p:cNvPr id="108575" name="矩形 38"/>
          <p:cNvSpPr>
            <a:spLocks noChangeArrowheads="1"/>
          </p:cNvSpPr>
          <p:nvPr/>
        </p:nvSpPr>
        <p:spPr bwMode="auto">
          <a:xfrm>
            <a:off x="2266589" y="4028885"/>
            <a:ext cx="457266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b="1" dirty="0">
                <a:latin typeface="微软雅黑" pitchFamily="34" charset="-122"/>
                <a:ea typeface="微软雅黑" pitchFamily="34" charset="-122"/>
              </a:rPr>
              <a:t>四</a:t>
            </a:r>
            <a:r>
              <a:rPr lang="zh-CN" altLang="zh-CN" b="1" dirty="0">
                <a:latin typeface="微软雅黑" pitchFamily="34" charset="-122"/>
                <a:ea typeface="微软雅黑" pitchFamily="34" charset="-122"/>
              </a:rPr>
              <a:t>种时延产生的地方不一样</a:t>
            </a:r>
            <a:endParaRPr lang="zh-CN" altLang="en-US" b="1" dirty="0">
              <a:latin typeface="微软雅黑" pitchFamily="34" charset="-122"/>
              <a:ea typeface="微软雅黑" pitchFamily="34" charset="-122"/>
            </a:endParaRPr>
          </a:p>
        </p:txBody>
      </p:sp>
      <p:cxnSp>
        <p:nvCxnSpPr>
          <p:cNvPr id="5" name="直接连接符 4"/>
          <p:cNvCxnSpPr/>
          <p:nvPr/>
        </p:nvCxnSpPr>
        <p:spPr>
          <a:xfrm>
            <a:off x="3069925" y="2781657"/>
            <a:ext cx="0" cy="28709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44" name="直接连接符 43"/>
          <p:cNvCxnSpPr/>
          <p:nvPr/>
        </p:nvCxnSpPr>
        <p:spPr>
          <a:xfrm>
            <a:off x="6792883" y="2781657"/>
            <a:ext cx="0" cy="28709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10" name="直接箭头连接符 9"/>
          <p:cNvCxnSpPr/>
          <p:nvPr/>
        </p:nvCxnSpPr>
        <p:spPr>
          <a:xfrm>
            <a:off x="3069925" y="2921437"/>
            <a:ext cx="3684858" cy="0"/>
          </a:xfrm>
          <a:prstGeom prst="straightConnector1">
            <a:avLst/>
          </a:prstGeom>
          <a:ln w="190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Freeform 119"/>
          <p:cNvSpPr>
            <a:spLocks/>
          </p:cNvSpPr>
          <p:nvPr/>
        </p:nvSpPr>
        <p:spPr bwMode="auto">
          <a:xfrm>
            <a:off x="4372342" y="3065349"/>
            <a:ext cx="1006222" cy="96385"/>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680"/>
              <a:gd name="T79" fmla="*/ 0 h 90"/>
              <a:gd name="T80" fmla="*/ 680 w 680"/>
              <a:gd name="T81" fmla="*/ 90 h 9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1905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4" name="文本占位符 3"/>
          <p:cNvSpPr>
            <a:spLocks noGrp="1"/>
          </p:cNvSpPr>
          <p:nvPr>
            <p:ph type="body" sz="quarter" idx="10"/>
          </p:nvPr>
        </p:nvSpPr>
        <p:spPr/>
        <p:txBody>
          <a:bodyPr/>
          <a:lstStyle/>
          <a:p>
            <a:r>
              <a:rPr lang="zh-CN" altLang="en-US" dirty="0"/>
              <a:t>四种时延产生的地方</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endParaRPr lang="en-US" altLang="zh-CN" dirty="0"/>
          </a:p>
          <a:p>
            <a:endParaRPr lang="en-US" altLang="zh-CN" dirty="0"/>
          </a:p>
          <a:p>
            <a:endParaRPr lang="en-US" altLang="zh-CN" dirty="0"/>
          </a:p>
          <a:p>
            <a:r>
              <a:rPr lang="zh-CN" altLang="en-US" dirty="0"/>
              <a:t>对于高速网络链路，我们</a:t>
            </a:r>
            <a:r>
              <a:rPr lang="zh-CN" altLang="en-US" dirty="0">
                <a:solidFill>
                  <a:srgbClr val="CC0000"/>
                </a:solidFill>
              </a:rPr>
              <a:t>提高的仅仅是数据的发送速率，</a:t>
            </a:r>
            <a:r>
              <a:rPr lang="zh-CN" altLang="en-US" dirty="0"/>
              <a:t>而不是比特在链路上的传播速率。</a:t>
            </a:r>
            <a:endParaRPr lang="en-US" altLang="zh-CN" dirty="0"/>
          </a:p>
          <a:p>
            <a:r>
              <a:rPr lang="zh-CN" altLang="en-US" dirty="0"/>
              <a:t>提高数据的发送速率</a:t>
            </a:r>
            <a:r>
              <a:rPr lang="zh-CN" altLang="en-US" dirty="0">
                <a:solidFill>
                  <a:srgbClr val="CC0000"/>
                </a:solidFill>
              </a:rPr>
              <a:t>只是减小了数据的发送时延。</a:t>
            </a:r>
          </a:p>
        </p:txBody>
      </p:sp>
      <p:sp>
        <p:nvSpPr>
          <p:cNvPr id="4" name="文本占位符 3"/>
          <p:cNvSpPr>
            <a:spLocks noGrp="1"/>
          </p:cNvSpPr>
          <p:nvPr>
            <p:ph type="body" sz="quarter" idx="11"/>
          </p:nvPr>
        </p:nvSpPr>
        <p:spPr/>
        <p:txBody>
          <a:bodyPr/>
          <a:lstStyle/>
          <a:p>
            <a:r>
              <a:rPr lang="zh-CN" altLang="en-US" dirty="0">
                <a:solidFill>
                  <a:srgbClr val="FFFF00"/>
                </a:solidFill>
              </a:rPr>
              <a:t>容易产生的错误概念</a:t>
            </a:r>
          </a:p>
        </p:txBody>
      </p:sp>
      <p:sp>
        <p:nvSpPr>
          <p:cNvPr id="2" name="矩形 1"/>
          <p:cNvSpPr/>
          <p:nvPr/>
        </p:nvSpPr>
        <p:spPr>
          <a:xfrm>
            <a:off x="1249590" y="1142351"/>
            <a:ext cx="6632575" cy="861774"/>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700"/>
              </a:lnSpc>
              <a:spcBef>
                <a:spcPts val="600"/>
              </a:spcBef>
            </a:pPr>
            <a:r>
              <a:rPr lang="zh-CN" altLang="en-US" b="1" dirty="0">
                <a:latin typeface="微软雅黑" pitchFamily="34" charset="-122"/>
                <a:ea typeface="微软雅黑" pitchFamily="34" charset="-122"/>
              </a:rPr>
              <a:t>以下说法是</a:t>
            </a:r>
            <a:r>
              <a:rPr lang="zh-CN" altLang="en-US" b="1" dirty="0">
                <a:solidFill>
                  <a:srgbClr val="C00000"/>
                </a:solidFill>
                <a:latin typeface="微软雅黑" pitchFamily="34" charset="-122"/>
                <a:ea typeface="微软雅黑" pitchFamily="34" charset="-122"/>
              </a:rPr>
              <a:t>错误</a:t>
            </a:r>
            <a:r>
              <a:rPr lang="zh-CN" altLang="en-US" b="1" dirty="0">
                <a:latin typeface="微软雅黑" pitchFamily="34" charset="-122"/>
                <a:ea typeface="微软雅黑" pitchFamily="34" charset="-122"/>
              </a:rPr>
              <a:t>的：</a:t>
            </a:r>
            <a:endParaRPr lang="en-US" altLang="zh-CN" b="1" dirty="0">
              <a:latin typeface="微软雅黑" pitchFamily="34" charset="-122"/>
              <a:ea typeface="微软雅黑" pitchFamily="34" charset="-122"/>
            </a:endParaRPr>
          </a:p>
          <a:p>
            <a:pPr>
              <a:lnSpc>
                <a:spcPts val="2700"/>
              </a:lnSpc>
              <a:spcBef>
                <a:spcPts val="600"/>
              </a:spcBef>
            </a:pPr>
            <a:r>
              <a:rPr lang="zh-CN" altLang="zh-CN" b="1" dirty="0">
                <a:latin typeface="微软雅黑" pitchFamily="34" charset="-122"/>
                <a:ea typeface="微软雅黑" pitchFamily="34" charset="-122"/>
              </a:rPr>
              <a:t>“在高速链路（或高带宽链路）上，比特会传送得更快些”。</a:t>
            </a:r>
            <a:endParaRPr lang="zh-CN" altLang="en-US" b="1" dirty="0">
              <a:latin typeface="微软雅黑" pitchFamily="34" charset="-122"/>
              <a:ea typeface="微软雅黑" pitchFamily="34" charset="-122"/>
            </a:endParaRPr>
          </a:p>
        </p:txBody>
      </p:sp>
    </p:spTree>
    <p:extLst>
      <p:ext uri="{BB962C8B-B14F-4D97-AF65-F5344CB8AC3E}">
        <p14:creationId xmlns:p14="http://schemas.microsoft.com/office/powerpoint/2010/main" val="108658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endParaRPr lang="en-US" altLang="zh-CN" sz="1800" dirty="0"/>
          </a:p>
          <a:p>
            <a:endParaRPr lang="en-US" altLang="zh-CN" sz="1800" dirty="0"/>
          </a:p>
          <a:p>
            <a:endParaRPr lang="en-US" altLang="zh-CN" sz="1800" dirty="0"/>
          </a:p>
          <a:p>
            <a:pPr>
              <a:lnSpc>
                <a:spcPts val="2800"/>
              </a:lnSpc>
            </a:pPr>
            <a:r>
              <a:rPr lang="zh-CN" altLang="en-US" sz="1800" dirty="0"/>
              <a:t>结点 </a:t>
            </a:r>
            <a:r>
              <a:rPr lang="en-US" altLang="zh-CN" sz="1800" dirty="0"/>
              <a:t>A </a:t>
            </a:r>
            <a:r>
              <a:rPr lang="zh-CN" altLang="en-US" sz="1800" dirty="0"/>
              <a:t>要将一个数据块通过 </a:t>
            </a:r>
            <a:r>
              <a:rPr lang="en-US" altLang="zh-CN" sz="1800" dirty="0"/>
              <a:t>1000 km </a:t>
            </a:r>
            <a:r>
              <a:rPr lang="zh-CN" altLang="en-US" sz="1800" dirty="0"/>
              <a:t>的光纤链路发送给结点 </a:t>
            </a:r>
            <a:r>
              <a:rPr lang="en-US" altLang="zh-CN" sz="1800" dirty="0"/>
              <a:t>B</a:t>
            </a:r>
            <a:r>
              <a:rPr lang="zh-CN" altLang="en-US" sz="1800" dirty="0"/>
              <a:t>。假设忽略处理时延和排队时延。请分别计算下列情况时的总时延，并验证“数据的发送速率越高，其传送的总时延就越小”的说法是否正确。</a:t>
            </a:r>
            <a:endParaRPr lang="en-US" altLang="zh-CN" sz="1800" dirty="0"/>
          </a:p>
          <a:p>
            <a:pPr lvl="1">
              <a:lnSpc>
                <a:spcPts val="2800"/>
              </a:lnSpc>
            </a:pPr>
            <a:r>
              <a:rPr lang="zh-CN" altLang="en-US" sz="1600" dirty="0"/>
              <a:t>（</a:t>
            </a:r>
            <a:r>
              <a:rPr lang="en-US" altLang="zh-CN" sz="1600" dirty="0"/>
              <a:t>1</a:t>
            </a:r>
            <a:r>
              <a:rPr lang="zh-CN" altLang="en-US" sz="1600" dirty="0"/>
              <a:t>）数据块大小为 </a:t>
            </a:r>
            <a:r>
              <a:rPr lang="en-US" altLang="zh-CN" sz="1600" dirty="0"/>
              <a:t>100 MB</a:t>
            </a:r>
            <a:r>
              <a:rPr lang="zh-CN" altLang="en-US" sz="1600" dirty="0"/>
              <a:t>，信道带宽为 </a:t>
            </a:r>
            <a:r>
              <a:rPr lang="en-US" altLang="zh-CN" sz="1600" dirty="0"/>
              <a:t>1 Mbit/s </a:t>
            </a:r>
          </a:p>
          <a:p>
            <a:pPr lvl="1">
              <a:lnSpc>
                <a:spcPts val="2800"/>
              </a:lnSpc>
            </a:pPr>
            <a:r>
              <a:rPr lang="zh-CN" altLang="en-US" sz="1600" dirty="0"/>
              <a:t>（</a:t>
            </a:r>
            <a:r>
              <a:rPr lang="en-US" altLang="zh-CN" sz="1600" dirty="0"/>
              <a:t>2</a:t>
            </a:r>
            <a:r>
              <a:rPr lang="zh-CN" altLang="en-US" sz="1600" dirty="0"/>
              <a:t>）数据块大小为 </a:t>
            </a:r>
            <a:r>
              <a:rPr lang="en-US" altLang="zh-CN" sz="1600" dirty="0"/>
              <a:t>100 MB</a:t>
            </a:r>
            <a:r>
              <a:rPr lang="zh-CN" altLang="en-US" sz="1600" dirty="0"/>
              <a:t>，信道带宽为 </a:t>
            </a:r>
            <a:r>
              <a:rPr lang="en-US" altLang="zh-CN" sz="1600" dirty="0"/>
              <a:t>100 Mbit/s</a:t>
            </a:r>
          </a:p>
          <a:p>
            <a:pPr lvl="1">
              <a:lnSpc>
                <a:spcPts val="2800"/>
              </a:lnSpc>
            </a:pPr>
            <a:r>
              <a:rPr lang="zh-CN" altLang="en-US" sz="1600" dirty="0"/>
              <a:t>（</a:t>
            </a:r>
            <a:r>
              <a:rPr lang="en-US" altLang="zh-CN" sz="1600" dirty="0"/>
              <a:t>3</a:t>
            </a:r>
            <a:r>
              <a:rPr lang="zh-CN" altLang="en-US" sz="1600" dirty="0"/>
              <a:t>）数据块大小为 </a:t>
            </a:r>
            <a:r>
              <a:rPr lang="en-US" altLang="zh-CN" sz="1600" dirty="0"/>
              <a:t>1 B</a:t>
            </a:r>
            <a:r>
              <a:rPr lang="zh-CN" altLang="en-US" sz="1600" dirty="0"/>
              <a:t>，信道带宽为 </a:t>
            </a:r>
            <a:r>
              <a:rPr lang="en-US" altLang="zh-CN" sz="1600" dirty="0"/>
              <a:t>1 Mbit/s </a:t>
            </a:r>
          </a:p>
          <a:p>
            <a:pPr lvl="1">
              <a:lnSpc>
                <a:spcPts val="2800"/>
              </a:lnSpc>
            </a:pPr>
            <a:r>
              <a:rPr lang="zh-CN" altLang="en-US" sz="1600" dirty="0"/>
              <a:t>（</a:t>
            </a:r>
            <a:r>
              <a:rPr lang="en-US" altLang="zh-CN" sz="1600" dirty="0"/>
              <a:t>4</a:t>
            </a:r>
            <a:r>
              <a:rPr lang="zh-CN" altLang="en-US" sz="1600" dirty="0"/>
              <a:t>）数据块大小为 </a:t>
            </a:r>
            <a:r>
              <a:rPr lang="en-US" altLang="zh-CN" sz="1600" dirty="0"/>
              <a:t>1 B</a:t>
            </a:r>
            <a:r>
              <a:rPr lang="zh-CN" altLang="en-US" sz="1600" dirty="0"/>
              <a:t>，信道带宽为 </a:t>
            </a:r>
            <a:r>
              <a:rPr lang="en-US" altLang="zh-CN" sz="1600" dirty="0"/>
              <a:t>1 </a:t>
            </a:r>
            <a:r>
              <a:rPr lang="en-US" altLang="zh-CN" sz="1600" dirty="0" err="1"/>
              <a:t>Gbit</a:t>
            </a:r>
            <a:r>
              <a:rPr lang="en-US" altLang="zh-CN" sz="1600" dirty="0"/>
              <a:t>/s</a:t>
            </a:r>
          </a:p>
          <a:p>
            <a:pPr>
              <a:lnSpc>
                <a:spcPts val="2800"/>
              </a:lnSpc>
            </a:pPr>
            <a:endParaRPr lang="zh-CN" altLang="en-US" sz="1800" dirty="0"/>
          </a:p>
        </p:txBody>
      </p:sp>
      <p:sp>
        <p:nvSpPr>
          <p:cNvPr id="3" name="文本占位符 2"/>
          <p:cNvSpPr>
            <a:spLocks noGrp="1"/>
          </p:cNvSpPr>
          <p:nvPr>
            <p:ph type="body" sz="quarter" idx="11"/>
          </p:nvPr>
        </p:nvSpPr>
        <p:spPr/>
        <p:txBody>
          <a:bodyPr/>
          <a:lstStyle/>
          <a:p>
            <a:r>
              <a:rPr lang="zh-CN" altLang="en-US" dirty="0"/>
              <a:t>分析举例</a:t>
            </a:r>
          </a:p>
        </p:txBody>
      </p:sp>
      <p:grpSp>
        <p:nvGrpSpPr>
          <p:cNvPr id="14" name="组合 13"/>
          <p:cNvGrpSpPr/>
          <p:nvPr/>
        </p:nvGrpSpPr>
        <p:grpSpPr>
          <a:xfrm>
            <a:off x="2192277" y="1087097"/>
            <a:ext cx="4747202" cy="895466"/>
            <a:chOff x="2163416" y="1246399"/>
            <a:chExt cx="4747202" cy="895466"/>
          </a:xfrm>
        </p:grpSpPr>
        <p:sp>
          <p:nvSpPr>
            <p:cNvPr id="4" name="椭圆 3"/>
            <p:cNvSpPr/>
            <p:nvPr/>
          </p:nvSpPr>
          <p:spPr>
            <a:xfrm>
              <a:off x="2360014" y="1375948"/>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p:nvSpPr>
          <p:spPr>
            <a:xfrm>
              <a:off x="6287580" y="1375948"/>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a:stCxn id="4" idx="6"/>
              <a:endCxn id="5" idx="2"/>
            </p:cNvCxnSpPr>
            <p:nvPr/>
          </p:nvCxnSpPr>
          <p:spPr>
            <a:xfrm>
              <a:off x="2778022" y="1584953"/>
              <a:ext cx="350955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文本框 8"/>
            <p:cNvSpPr txBox="1"/>
            <p:nvPr/>
          </p:nvSpPr>
          <p:spPr>
            <a:xfrm>
              <a:off x="3618544" y="1246399"/>
              <a:ext cx="2020105"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光纤链路 </a:t>
              </a:r>
              <a:r>
                <a:rPr lang="en-US" altLang="zh-CN" sz="1600" b="1" dirty="0">
                  <a:latin typeface="微软雅黑" panose="020B0503020204020204" pitchFamily="34" charset="-122"/>
                  <a:ea typeface="微软雅黑" panose="020B0503020204020204" pitchFamily="34" charset="-122"/>
                </a:rPr>
                <a:t>1000 km</a:t>
              </a:r>
              <a:endParaRPr lang="zh-CN" altLang="en-US" sz="1600" b="1" dirty="0">
                <a:latin typeface="微软雅黑" panose="020B0503020204020204" pitchFamily="34" charset="-122"/>
                <a:ea typeface="微软雅黑" panose="020B0503020204020204" pitchFamily="34" charset="-122"/>
              </a:endParaRPr>
            </a:p>
          </p:txBody>
        </p:sp>
        <p:sp>
          <p:nvSpPr>
            <p:cNvPr id="11" name="Text Box 37"/>
            <p:cNvSpPr txBox="1">
              <a:spLocks noChangeArrowheads="1"/>
            </p:cNvSpPr>
            <p:nvPr/>
          </p:nvSpPr>
          <p:spPr bwMode="auto">
            <a:xfrm>
              <a:off x="6113693" y="1803727"/>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12" name="Text Box 38"/>
            <p:cNvSpPr txBox="1">
              <a:spLocks noChangeArrowheads="1"/>
            </p:cNvSpPr>
            <p:nvPr/>
          </p:nvSpPr>
          <p:spPr bwMode="auto">
            <a:xfrm>
              <a:off x="2163416" y="1803727"/>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grpSp>
    </p:spTree>
    <p:extLst>
      <p:ext uri="{BB962C8B-B14F-4D97-AF65-F5344CB8AC3E}">
        <p14:creationId xmlns:p14="http://schemas.microsoft.com/office/powerpoint/2010/main" val="4792755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1"/>
          </p:nvPr>
        </p:nvSpPr>
        <p:spPr/>
        <p:txBody>
          <a:bodyPr/>
          <a:lstStyle/>
          <a:p>
            <a:r>
              <a:rPr lang="zh-CN" altLang="en-US" dirty="0"/>
              <a:t>分析举例</a:t>
            </a:r>
          </a:p>
        </p:txBody>
      </p:sp>
      <p:sp>
        <p:nvSpPr>
          <p:cNvPr id="6" name="内容占位符 5"/>
          <p:cNvSpPr>
            <a:spLocks noGrp="1"/>
          </p:cNvSpPr>
          <p:nvPr>
            <p:ph sz="quarter" idx="10"/>
          </p:nvPr>
        </p:nvSpPr>
        <p:spPr/>
        <p:txBody>
          <a:bodyPr/>
          <a:lstStyle/>
          <a:p>
            <a:pPr>
              <a:lnSpc>
                <a:spcPts val="2600"/>
              </a:lnSpc>
            </a:pPr>
            <a:r>
              <a:rPr lang="zh-CN" altLang="en-US" sz="1800" dirty="0"/>
              <a:t>解：</a:t>
            </a:r>
            <a:endParaRPr lang="en-US" altLang="zh-CN" sz="1800" dirty="0"/>
          </a:p>
          <a:p>
            <a:pPr marL="0" lvl="1" indent="0">
              <a:lnSpc>
                <a:spcPts val="2600"/>
              </a:lnSpc>
              <a:buClr>
                <a:srgbClr val="0066CC"/>
              </a:buClr>
              <a:buNone/>
            </a:pPr>
            <a:r>
              <a:rPr lang="zh-CN" altLang="en-US" sz="1700" dirty="0"/>
              <a:t>     </a:t>
            </a:r>
            <a:r>
              <a:rPr lang="zh-CN" altLang="en-US" sz="1700" dirty="0">
                <a:solidFill>
                  <a:srgbClr val="0000FF"/>
                </a:solidFill>
              </a:rPr>
              <a:t>传播时延 </a:t>
            </a:r>
            <a:r>
              <a:rPr lang="en-US" altLang="zh-CN" sz="1700" dirty="0"/>
              <a:t>= 1000 km / 2.0 </a:t>
            </a:r>
            <a:r>
              <a:rPr lang="zh-CN" altLang="en-US" sz="1700" dirty="0"/>
              <a:t>ⅹ </a:t>
            </a:r>
            <a:r>
              <a:rPr lang="en-US" altLang="zh-CN" sz="1700" dirty="0"/>
              <a:t>10</a:t>
            </a:r>
            <a:r>
              <a:rPr lang="en-US" altLang="zh-CN" sz="1700" baseline="30000" dirty="0"/>
              <a:t>5</a:t>
            </a:r>
            <a:r>
              <a:rPr lang="en-US" altLang="zh-CN" sz="1700" dirty="0"/>
              <a:t> km/s =</a:t>
            </a:r>
            <a:r>
              <a:rPr lang="zh-CN" altLang="en-US" sz="1700" dirty="0"/>
              <a:t> </a:t>
            </a:r>
            <a:r>
              <a:rPr lang="en-US" altLang="zh-CN" sz="1700" dirty="0"/>
              <a:t>5 </a:t>
            </a:r>
            <a:r>
              <a:rPr lang="en-US" altLang="zh-CN" sz="1700" dirty="0" err="1"/>
              <a:t>ms</a:t>
            </a:r>
            <a:r>
              <a:rPr lang="zh-CN" altLang="en-US" sz="1700" dirty="0"/>
              <a:t>。</a:t>
            </a:r>
            <a:endParaRPr lang="en-US" altLang="zh-CN" sz="1700" dirty="0"/>
          </a:p>
          <a:p>
            <a:pPr marL="0" indent="0">
              <a:lnSpc>
                <a:spcPts val="2600"/>
              </a:lnSpc>
              <a:buNone/>
            </a:pPr>
            <a:r>
              <a:rPr lang="zh-CN" altLang="en-US" sz="1700" dirty="0"/>
              <a:t>（</a:t>
            </a:r>
            <a:r>
              <a:rPr lang="en-US" altLang="zh-CN" sz="1700" dirty="0"/>
              <a:t>1</a:t>
            </a:r>
            <a:r>
              <a:rPr lang="zh-CN" altLang="en-US" sz="1700" dirty="0"/>
              <a:t>）</a:t>
            </a:r>
            <a:r>
              <a:rPr lang="zh-CN" altLang="zh-CN" sz="1700" dirty="0"/>
              <a:t>发送时延</a:t>
            </a:r>
            <a:r>
              <a:rPr lang="en-US" altLang="zh-CN" sz="1700" dirty="0"/>
              <a:t> = 100 </a:t>
            </a:r>
            <a:r>
              <a:rPr lang="en-US" altLang="zh-CN" sz="1700" dirty="0">
                <a:sym typeface="Symbol" panose="05050102010706020507" pitchFamily="18" charset="2"/>
              </a:rPr>
              <a:t></a:t>
            </a:r>
            <a:r>
              <a:rPr lang="en-US" altLang="zh-CN" sz="1700" dirty="0"/>
              <a:t> 2</a:t>
            </a:r>
            <a:r>
              <a:rPr lang="en-US" altLang="zh-CN" sz="1700" baseline="30000" dirty="0"/>
              <a:t>20</a:t>
            </a:r>
            <a:r>
              <a:rPr lang="en-US" altLang="zh-CN" sz="1700" dirty="0"/>
              <a:t> </a:t>
            </a:r>
            <a:r>
              <a:rPr lang="en-US" altLang="zh-CN" sz="1700" dirty="0">
                <a:sym typeface="Symbol" panose="05050102010706020507" pitchFamily="18" charset="2"/>
              </a:rPr>
              <a:t></a:t>
            </a:r>
            <a:r>
              <a:rPr lang="en-US" altLang="zh-CN" sz="1700" dirty="0"/>
              <a:t> 8 </a:t>
            </a:r>
            <a:r>
              <a:rPr lang="en-US" altLang="zh-CN" sz="1700" dirty="0">
                <a:sym typeface="Symbol" panose="05050102010706020507" pitchFamily="18" charset="2"/>
              </a:rPr>
              <a:t></a:t>
            </a:r>
            <a:r>
              <a:rPr lang="en-US" altLang="zh-CN" sz="1700" dirty="0"/>
              <a:t> 10</a:t>
            </a:r>
            <a:r>
              <a:rPr lang="en-US" altLang="zh-CN" sz="1700" baseline="30000" dirty="0"/>
              <a:t>6</a:t>
            </a:r>
            <a:r>
              <a:rPr lang="en-US" altLang="zh-CN" sz="1700" dirty="0"/>
              <a:t> = 838.9 s</a:t>
            </a:r>
            <a:r>
              <a:rPr lang="zh-CN" altLang="en-US" sz="1700" dirty="0"/>
              <a:t>，</a:t>
            </a:r>
            <a:endParaRPr lang="en-US" altLang="zh-CN" sz="1700" dirty="0"/>
          </a:p>
          <a:p>
            <a:pPr marL="0" indent="0">
              <a:lnSpc>
                <a:spcPts val="2600"/>
              </a:lnSpc>
              <a:buNone/>
            </a:pPr>
            <a:r>
              <a:rPr lang="en-US" altLang="zh-CN" sz="1700" dirty="0"/>
              <a:t>        </a:t>
            </a:r>
            <a:r>
              <a:rPr lang="zh-CN" altLang="en-US" sz="1700" dirty="0">
                <a:solidFill>
                  <a:srgbClr val="C00000"/>
                </a:solidFill>
              </a:rPr>
              <a:t>总时延 </a:t>
            </a:r>
            <a:r>
              <a:rPr lang="en-US" altLang="zh-CN" sz="1700" dirty="0"/>
              <a:t>= 838.9 + 0.005 ≈ 838.9 s</a:t>
            </a:r>
            <a:r>
              <a:rPr lang="zh-CN" altLang="en-US" sz="1700" dirty="0"/>
              <a:t>。</a:t>
            </a:r>
            <a:endParaRPr lang="zh-CN" altLang="zh-CN" sz="1700" dirty="0"/>
          </a:p>
          <a:p>
            <a:pPr marL="0" indent="0">
              <a:lnSpc>
                <a:spcPts val="2600"/>
              </a:lnSpc>
              <a:buNone/>
            </a:pPr>
            <a:r>
              <a:rPr lang="zh-CN" altLang="en-US" sz="1700" dirty="0"/>
              <a:t>（</a:t>
            </a:r>
            <a:r>
              <a:rPr lang="en-US" altLang="zh-CN" sz="1700" dirty="0"/>
              <a:t>2</a:t>
            </a:r>
            <a:r>
              <a:rPr lang="zh-CN" altLang="en-US" sz="1700" dirty="0"/>
              <a:t>）</a:t>
            </a:r>
            <a:r>
              <a:rPr lang="zh-CN" altLang="zh-CN" sz="1700" dirty="0"/>
              <a:t>发送时延</a:t>
            </a:r>
            <a:r>
              <a:rPr lang="en-US" altLang="zh-CN" sz="1700" dirty="0"/>
              <a:t> = 100 </a:t>
            </a:r>
            <a:r>
              <a:rPr lang="en-US" altLang="zh-CN" sz="1700" dirty="0">
                <a:sym typeface="Symbol" panose="05050102010706020507" pitchFamily="18" charset="2"/>
              </a:rPr>
              <a:t></a:t>
            </a:r>
            <a:r>
              <a:rPr lang="en-US" altLang="zh-CN" sz="1700" dirty="0"/>
              <a:t> 2</a:t>
            </a:r>
            <a:r>
              <a:rPr lang="en-US" altLang="zh-CN" sz="1700" baseline="30000" dirty="0"/>
              <a:t>20</a:t>
            </a:r>
            <a:r>
              <a:rPr lang="en-US" altLang="zh-CN" sz="1700" dirty="0"/>
              <a:t> </a:t>
            </a:r>
            <a:r>
              <a:rPr lang="en-US" altLang="zh-CN" sz="1700" dirty="0">
                <a:sym typeface="Symbol" panose="05050102010706020507" pitchFamily="18" charset="2"/>
              </a:rPr>
              <a:t></a:t>
            </a:r>
            <a:r>
              <a:rPr lang="en-US" altLang="zh-CN" sz="1700" dirty="0"/>
              <a:t> 8 </a:t>
            </a:r>
            <a:r>
              <a:rPr lang="en-US" altLang="zh-CN" sz="1700" dirty="0">
                <a:sym typeface="Symbol" panose="05050102010706020507" pitchFamily="18" charset="2"/>
              </a:rPr>
              <a:t></a:t>
            </a:r>
            <a:r>
              <a:rPr lang="en-US" altLang="zh-CN" sz="1700" dirty="0"/>
              <a:t> 10</a:t>
            </a:r>
            <a:r>
              <a:rPr lang="en-US" altLang="zh-CN" sz="1700" baseline="30000" dirty="0"/>
              <a:t>8</a:t>
            </a:r>
            <a:r>
              <a:rPr lang="en-US" altLang="zh-CN" sz="1700" dirty="0"/>
              <a:t> = 8.389 s</a:t>
            </a:r>
          </a:p>
          <a:p>
            <a:pPr marL="0" indent="0">
              <a:lnSpc>
                <a:spcPts val="2600"/>
              </a:lnSpc>
              <a:buNone/>
            </a:pPr>
            <a:r>
              <a:rPr lang="en-US" altLang="zh-CN" sz="1700" dirty="0"/>
              <a:t>        </a:t>
            </a:r>
            <a:r>
              <a:rPr lang="zh-CN" altLang="en-US" sz="1700" dirty="0">
                <a:solidFill>
                  <a:srgbClr val="C00000"/>
                </a:solidFill>
              </a:rPr>
              <a:t>总时延 </a:t>
            </a:r>
            <a:r>
              <a:rPr lang="en-US" altLang="zh-CN" sz="1700" dirty="0"/>
              <a:t>= 8.389 + 0.005</a:t>
            </a:r>
            <a:r>
              <a:rPr lang="zh-CN" altLang="en-US" sz="1700" dirty="0"/>
              <a:t> </a:t>
            </a:r>
            <a:r>
              <a:rPr lang="en-US" altLang="zh-CN" sz="1700" dirty="0"/>
              <a:t>= 8.394 s</a:t>
            </a:r>
            <a:r>
              <a:rPr lang="zh-CN" altLang="en-US" sz="1700" dirty="0"/>
              <a:t>。</a:t>
            </a:r>
            <a:r>
              <a:rPr lang="zh-CN" altLang="en-US" sz="1700" dirty="0">
                <a:solidFill>
                  <a:srgbClr val="0000FF"/>
                </a:solidFill>
              </a:rPr>
              <a:t>缩小到（</a:t>
            </a:r>
            <a:r>
              <a:rPr lang="en-US" altLang="zh-CN" sz="1700" dirty="0">
                <a:solidFill>
                  <a:srgbClr val="0000FF"/>
                </a:solidFill>
              </a:rPr>
              <a:t>1</a:t>
            </a:r>
            <a:r>
              <a:rPr lang="zh-CN" altLang="en-US" sz="1700" dirty="0">
                <a:solidFill>
                  <a:srgbClr val="0000FF"/>
                </a:solidFill>
              </a:rPr>
              <a:t>）的近 </a:t>
            </a:r>
            <a:r>
              <a:rPr lang="en-US" altLang="zh-CN" sz="1700" dirty="0">
                <a:solidFill>
                  <a:srgbClr val="0000FF"/>
                </a:solidFill>
              </a:rPr>
              <a:t>1/100</a:t>
            </a:r>
            <a:r>
              <a:rPr lang="zh-CN" altLang="en-US" sz="1700" dirty="0">
                <a:solidFill>
                  <a:srgbClr val="0000FF"/>
                </a:solidFill>
              </a:rPr>
              <a:t>。</a:t>
            </a:r>
            <a:endParaRPr lang="en-US" altLang="zh-CN" sz="1700" dirty="0">
              <a:solidFill>
                <a:srgbClr val="0000FF"/>
              </a:solidFill>
            </a:endParaRPr>
          </a:p>
          <a:p>
            <a:pPr marL="0" indent="0">
              <a:lnSpc>
                <a:spcPts val="2600"/>
              </a:lnSpc>
              <a:buNone/>
            </a:pPr>
            <a:r>
              <a:rPr lang="zh-CN" altLang="en-US" sz="1700" dirty="0"/>
              <a:t>（</a:t>
            </a:r>
            <a:r>
              <a:rPr lang="en-US" altLang="zh-CN" sz="1700" dirty="0"/>
              <a:t>3</a:t>
            </a:r>
            <a:r>
              <a:rPr lang="zh-CN" altLang="en-US" sz="1700" dirty="0"/>
              <a:t>）</a:t>
            </a:r>
            <a:r>
              <a:rPr lang="zh-CN" altLang="zh-CN" sz="1700" dirty="0"/>
              <a:t>发送时延</a:t>
            </a:r>
            <a:r>
              <a:rPr lang="en-US" altLang="zh-CN" sz="1700" dirty="0"/>
              <a:t> = 1 </a:t>
            </a:r>
            <a:r>
              <a:rPr lang="en-US" altLang="zh-CN" sz="1700" dirty="0">
                <a:sym typeface="Symbol" panose="05050102010706020507" pitchFamily="18" charset="2"/>
              </a:rPr>
              <a:t></a:t>
            </a:r>
            <a:r>
              <a:rPr lang="en-US" altLang="zh-CN" sz="1700" dirty="0"/>
              <a:t> 8 </a:t>
            </a:r>
            <a:r>
              <a:rPr lang="en-US" altLang="zh-CN" sz="1700" dirty="0">
                <a:sym typeface="Symbol" panose="05050102010706020507" pitchFamily="18" charset="2"/>
              </a:rPr>
              <a:t></a:t>
            </a:r>
            <a:r>
              <a:rPr lang="en-US" altLang="zh-CN" sz="1700" dirty="0"/>
              <a:t> 10</a:t>
            </a:r>
            <a:r>
              <a:rPr lang="en-US" altLang="zh-CN" sz="1700" baseline="30000" dirty="0"/>
              <a:t>6</a:t>
            </a:r>
            <a:r>
              <a:rPr lang="en-US" altLang="zh-CN" sz="1700" dirty="0"/>
              <a:t> = 8 </a:t>
            </a:r>
            <a:r>
              <a:rPr lang="en-US" altLang="zh-CN" sz="1700" dirty="0">
                <a:sym typeface="Symbol" panose="05050102010706020507" pitchFamily="18" charset="2"/>
              </a:rPr>
              <a:t></a:t>
            </a:r>
            <a:r>
              <a:rPr lang="en-US" altLang="zh-CN" sz="1700" dirty="0"/>
              <a:t> 10</a:t>
            </a:r>
            <a:r>
              <a:rPr lang="en-US" altLang="zh-CN" sz="1700" baseline="30000" dirty="0"/>
              <a:t>–6 </a:t>
            </a:r>
            <a:r>
              <a:rPr lang="en-US" altLang="zh-CN" sz="1700" dirty="0"/>
              <a:t>s = 8 </a:t>
            </a:r>
            <a:r>
              <a:rPr lang="en-US" altLang="zh-CN" sz="1700" dirty="0">
                <a:sym typeface="Symbol" panose="05050102010706020507" pitchFamily="18" charset="2"/>
              </a:rPr>
              <a:t></a:t>
            </a:r>
            <a:r>
              <a:rPr lang="en-US" altLang="zh-CN" sz="1700" dirty="0"/>
              <a:t>s, </a:t>
            </a:r>
            <a:r>
              <a:rPr lang="zh-CN" altLang="en-US" sz="1700" dirty="0"/>
              <a:t> </a:t>
            </a:r>
            <a:endParaRPr lang="en-US" altLang="zh-CN" sz="1700" dirty="0"/>
          </a:p>
          <a:p>
            <a:pPr marL="0" indent="0">
              <a:lnSpc>
                <a:spcPts val="2600"/>
              </a:lnSpc>
              <a:buNone/>
            </a:pPr>
            <a:r>
              <a:rPr lang="en-US" altLang="zh-CN" sz="1700" dirty="0">
                <a:solidFill>
                  <a:srgbClr val="C00000"/>
                </a:solidFill>
              </a:rPr>
              <a:t>        </a:t>
            </a:r>
            <a:r>
              <a:rPr lang="zh-CN" altLang="en-US" sz="1700" dirty="0">
                <a:solidFill>
                  <a:srgbClr val="C00000"/>
                </a:solidFill>
              </a:rPr>
              <a:t>总时延 </a:t>
            </a:r>
            <a:r>
              <a:rPr lang="en-US" altLang="zh-CN" sz="1700" dirty="0"/>
              <a:t>= 0.008 + 5 = 5.008 </a:t>
            </a:r>
            <a:r>
              <a:rPr lang="en-US" altLang="zh-CN" sz="1700" dirty="0" err="1"/>
              <a:t>ms</a:t>
            </a:r>
            <a:r>
              <a:rPr lang="zh-CN" altLang="en-US" sz="1700" dirty="0"/>
              <a:t>。</a:t>
            </a:r>
            <a:endParaRPr lang="en-US" altLang="zh-CN" sz="1700" dirty="0"/>
          </a:p>
          <a:p>
            <a:pPr marL="0" indent="0">
              <a:lnSpc>
                <a:spcPts val="2600"/>
              </a:lnSpc>
              <a:buNone/>
            </a:pPr>
            <a:r>
              <a:rPr lang="zh-CN" altLang="en-US" sz="1700" dirty="0"/>
              <a:t>（</a:t>
            </a:r>
            <a:r>
              <a:rPr lang="en-US" altLang="zh-CN" sz="1700" dirty="0"/>
              <a:t>4</a:t>
            </a:r>
            <a:r>
              <a:rPr lang="zh-CN" altLang="en-US" sz="1700" dirty="0"/>
              <a:t>）</a:t>
            </a:r>
            <a:r>
              <a:rPr lang="zh-CN" altLang="zh-CN" sz="1700" dirty="0"/>
              <a:t>发送时延</a:t>
            </a:r>
            <a:r>
              <a:rPr lang="en-US" altLang="zh-CN" sz="1700" dirty="0"/>
              <a:t> = 1 </a:t>
            </a:r>
            <a:r>
              <a:rPr lang="en-US" altLang="zh-CN" sz="1700" dirty="0">
                <a:sym typeface="Symbol" panose="05050102010706020507" pitchFamily="18" charset="2"/>
              </a:rPr>
              <a:t></a:t>
            </a:r>
            <a:r>
              <a:rPr lang="en-US" altLang="zh-CN" sz="1700" dirty="0"/>
              <a:t> 8 </a:t>
            </a:r>
            <a:r>
              <a:rPr lang="en-US" altLang="zh-CN" sz="1700" dirty="0">
                <a:sym typeface="Symbol" panose="05050102010706020507" pitchFamily="18" charset="2"/>
              </a:rPr>
              <a:t></a:t>
            </a:r>
            <a:r>
              <a:rPr lang="en-US" altLang="zh-CN" sz="1700" dirty="0"/>
              <a:t> 10</a:t>
            </a:r>
            <a:r>
              <a:rPr lang="en-US" altLang="zh-CN" sz="1700" baseline="30000" dirty="0"/>
              <a:t>9</a:t>
            </a:r>
            <a:r>
              <a:rPr lang="en-US" altLang="zh-CN" sz="1700" dirty="0"/>
              <a:t> = 8 </a:t>
            </a:r>
            <a:r>
              <a:rPr lang="en-US" altLang="zh-CN" sz="1700" dirty="0">
                <a:sym typeface="Symbol" panose="05050102010706020507" pitchFamily="18" charset="2"/>
              </a:rPr>
              <a:t></a:t>
            </a:r>
            <a:r>
              <a:rPr lang="en-US" altLang="zh-CN" sz="1700" dirty="0"/>
              <a:t> 10</a:t>
            </a:r>
            <a:r>
              <a:rPr lang="en-US" altLang="zh-CN" sz="1700" baseline="30000" dirty="0"/>
              <a:t>–9 </a:t>
            </a:r>
            <a:r>
              <a:rPr lang="en-US" altLang="zh-CN" sz="1700" dirty="0"/>
              <a:t>s = 0.008 </a:t>
            </a:r>
            <a:r>
              <a:rPr lang="en-US" altLang="zh-CN" sz="1700" dirty="0">
                <a:sym typeface="Symbol" panose="05050102010706020507" pitchFamily="18" charset="2"/>
              </a:rPr>
              <a:t></a:t>
            </a:r>
            <a:r>
              <a:rPr lang="en-US" altLang="zh-CN" sz="1700" dirty="0"/>
              <a:t>s</a:t>
            </a:r>
            <a:endParaRPr lang="zh-CN" altLang="zh-CN" sz="1700" dirty="0"/>
          </a:p>
          <a:p>
            <a:pPr marL="0" indent="0">
              <a:lnSpc>
                <a:spcPts val="2600"/>
              </a:lnSpc>
              <a:buNone/>
            </a:pPr>
            <a:r>
              <a:rPr lang="en-US" altLang="zh-CN" sz="1700" dirty="0">
                <a:solidFill>
                  <a:srgbClr val="C00000"/>
                </a:solidFill>
              </a:rPr>
              <a:t>        </a:t>
            </a:r>
            <a:r>
              <a:rPr lang="zh-CN" altLang="en-US" sz="1700" dirty="0">
                <a:solidFill>
                  <a:srgbClr val="C00000"/>
                </a:solidFill>
              </a:rPr>
              <a:t>总时延 </a:t>
            </a:r>
            <a:r>
              <a:rPr lang="en-US" altLang="zh-CN" sz="1700" dirty="0"/>
              <a:t>= 0.000008 + 5 = 5.000008 </a:t>
            </a:r>
            <a:r>
              <a:rPr lang="en-US" altLang="zh-CN" sz="1700" dirty="0" err="1"/>
              <a:t>ms</a:t>
            </a:r>
            <a:r>
              <a:rPr lang="zh-CN" altLang="en-US" sz="1700" dirty="0"/>
              <a:t>。</a:t>
            </a:r>
            <a:r>
              <a:rPr lang="zh-CN" altLang="en-US" sz="1700" dirty="0">
                <a:solidFill>
                  <a:srgbClr val="0000FF"/>
                </a:solidFill>
              </a:rPr>
              <a:t>与（</a:t>
            </a:r>
            <a:r>
              <a:rPr lang="en-US" altLang="zh-CN" sz="1700" dirty="0">
                <a:solidFill>
                  <a:srgbClr val="0000FF"/>
                </a:solidFill>
              </a:rPr>
              <a:t>3</a:t>
            </a:r>
            <a:r>
              <a:rPr lang="zh-CN" altLang="en-US" sz="1700" dirty="0">
                <a:solidFill>
                  <a:srgbClr val="0000FF"/>
                </a:solidFill>
              </a:rPr>
              <a:t>）相比没有明显减小。</a:t>
            </a:r>
          </a:p>
        </p:txBody>
      </p:sp>
      <p:sp>
        <p:nvSpPr>
          <p:cNvPr id="8" name="矩形 7"/>
          <p:cNvSpPr/>
          <p:nvPr/>
        </p:nvSpPr>
        <p:spPr>
          <a:xfrm>
            <a:off x="6009830" y="1366501"/>
            <a:ext cx="2730137" cy="1134734"/>
          </a:xfrm>
          <a:prstGeom prst="rect">
            <a:avLst/>
          </a:prstGeom>
          <a:solidFill>
            <a:srgbClr val="FFFF99"/>
          </a:solidFill>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800"/>
              </a:lnSpc>
            </a:pPr>
            <a:r>
              <a:rPr lang="zh-CN" altLang="en-US" b="1" dirty="0">
                <a:latin typeface="微软雅黑" panose="020B0503020204020204" pitchFamily="34" charset="-122"/>
                <a:ea typeface="微软雅黑" panose="020B0503020204020204" pitchFamily="34" charset="-122"/>
              </a:rPr>
              <a:t>不能笼统地认为：“数据的发送速率越高，其传送的总时延就越小”。</a:t>
            </a:r>
          </a:p>
        </p:txBody>
      </p:sp>
    </p:spTree>
    <p:extLst>
      <p:ext uri="{BB962C8B-B14F-4D97-AF65-F5344CB8AC3E}">
        <p14:creationId xmlns:p14="http://schemas.microsoft.com/office/powerpoint/2010/main" val="14645426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010193" y="1016082"/>
            <a:ext cx="6749144" cy="226319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5" name="AutoShape 37"/>
          <p:cNvSpPr>
            <a:spLocks noChangeArrowheads="1"/>
          </p:cNvSpPr>
          <p:nvPr/>
        </p:nvSpPr>
        <p:spPr bwMode="auto">
          <a:xfrm rot="-5400000">
            <a:off x="4449423" y="84209"/>
            <a:ext cx="564106" cy="4572000"/>
          </a:xfrm>
          <a:prstGeom prst="can">
            <a:avLst>
              <a:gd name="adj" fmla="val 49784"/>
            </a:avLst>
          </a:prstGeom>
          <a:gradFill rotWithShape="1">
            <a:gsLst>
              <a:gs pos="0">
                <a:srgbClr val="004776"/>
              </a:gs>
              <a:gs pos="50000">
                <a:srgbClr val="0099FF"/>
              </a:gs>
              <a:gs pos="100000">
                <a:srgbClr val="004776"/>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1956B9"/>
              </a:solidFill>
              <a:latin typeface="微软雅黑" pitchFamily="34" charset="-122"/>
              <a:ea typeface="微软雅黑" pitchFamily="34" charset="-122"/>
            </a:endParaRPr>
          </a:p>
        </p:txBody>
      </p:sp>
      <p:sp>
        <p:nvSpPr>
          <p:cNvPr id="6" name="Line 38"/>
          <p:cNvSpPr>
            <a:spLocks noChangeShapeType="1"/>
          </p:cNvSpPr>
          <p:nvPr/>
        </p:nvSpPr>
        <p:spPr bwMode="auto">
          <a:xfrm>
            <a:off x="2594701" y="1935755"/>
            <a:ext cx="4273550" cy="0"/>
          </a:xfrm>
          <a:prstGeom prst="line">
            <a:avLst/>
          </a:prstGeom>
          <a:noFill/>
          <a:ln w="254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200" b="1">
              <a:ln>
                <a:solidFill>
                  <a:schemeClr val="accent3"/>
                </a:solidFill>
              </a:ln>
              <a:solidFill>
                <a:srgbClr val="1956B9"/>
              </a:solidFill>
              <a:latin typeface="微软雅黑" pitchFamily="34" charset="-122"/>
              <a:ea typeface="微软雅黑" pitchFamily="34" charset="-122"/>
            </a:endParaRPr>
          </a:p>
        </p:txBody>
      </p:sp>
      <p:sp>
        <p:nvSpPr>
          <p:cNvPr id="7" name="Text Box 39"/>
          <p:cNvSpPr txBox="1">
            <a:spLocks noChangeArrowheads="1"/>
          </p:cNvSpPr>
          <p:nvPr/>
        </p:nvSpPr>
        <p:spPr bwMode="auto">
          <a:xfrm>
            <a:off x="3779520" y="1591267"/>
            <a:ext cx="252747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latin typeface="微软雅黑" pitchFamily="34" charset="-122"/>
                <a:ea typeface="微软雅黑" pitchFamily="34" charset="-122"/>
              </a:rPr>
              <a:t>（传播）时延（管道长度）</a:t>
            </a:r>
          </a:p>
        </p:txBody>
      </p:sp>
      <p:sp>
        <p:nvSpPr>
          <p:cNvPr id="8" name="Text Box 40"/>
          <p:cNvSpPr txBox="1">
            <a:spLocks noChangeArrowheads="1"/>
          </p:cNvSpPr>
          <p:nvPr/>
        </p:nvSpPr>
        <p:spPr bwMode="auto">
          <a:xfrm>
            <a:off x="4433026" y="2243730"/>
            <a:ext cx="655638"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600" b="1">
                <a:solidFill>
                  <a:schemeClr val="bg1"/>
                </a:solidFill>
                <a:latin typeface="微软雅黑" pitchFamily="34" charset="-122"/>
                <a:ea typeface="微软雅黑" pitchFamily="34" charset="-122"/>
              </a:rPr>
              <a:t>链 路</a:t>
            </a:r>
          </a:p>
        </p:txBody>
      </p:sp>
      <p:sp>
        <p:nvSpPr>
          <p:cNvPr id="9" name="Text Box 41"/>
          <p:cNvSpPr txBox="1">
            <a:spLocks noChangeArrowheads="1"/>
          </p:cNvSpPr>
          <p:nvPr/>
        </p:nvSpPr>
        <p:spPr bwMode="auto">
          <a:xfrm>
            <a:off x="1249591" y="1674145"/>
            <a:ext cx="134511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b="1" dirty="0">
                <a:latin typeface="微软雅黑" pitchFamily="34" charset="-122"/>
                <a:ea typeface="微软雅黑" pitchFamily="34" charset="-122"/>
              </a:rPr>
              <a:t>带宽</a:t>
            </a:r>
            <a:endParaRPr lang="en-US" altLang="zh-CN" sz="1400" b="1" dirty="0">
              <a:latin typeface="微软雅黑" pitchFamily="34" charset="-122"/>
              <a:ea typeface="微软雅黑" pitchFamily="34" charset="-122"/>
            </a:endParaRPr>
          </a:p>
          <a:p>
            <a:pPr algn="ctr"/>
            <a:r>
              <a:rPr lang="zh-CN" altLang="en-US" sz="1400" b="1" dirty="0">
                <a:latin typeface="微软雅黑" pitchFamily="34" charset="-122"/>
                <a:ea typeface="微软雅黑" pitchFamily="34" charset="-122"/>
              </a:rPr>
              <a:t>（管道截面积）</a:t>
            </a:r>
          </a:p>
        </p:txBody>
      </p:sp>
      <p:sp>
        <p:nvSpPr>
          <p:cNvPr id="10" name="Line 42"/>
          <p:cNvSpPr>
            <a:spLocks noChangeShapeType="1"/>
          </p:cNvSpPr>
          <p:nvPr/>
        </p:nvSpPr>
        <p:spPr bwMode="auto">
          <a:xfrm>
            <a:off x="2229394" y="2197365"/>
            <a:ext cx="365307" cy="213052"/>
          </a:xfrm>
          <a:prstGeom prst="line">
            <a:avLst/>
          </a:prstGeom>
          <a:noFill/>
          <a:ln w="25400">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200" b="1">
              <a:ln>
                <a:solidFill>
                  <a:schemeClr val="accent3"/>
                </a:solidFill>
              </a:ln>
              <a:solidFill>
                <a:srgbClr val="1956B9"/>
              </a:solidFill>
              <a:latin typeface="微软雅黑" pitchFamily="34" charset="-122"/>
              <a:ea typeface="微软雅黑" pitchFamily="34" charset="-122"/>
            </a:endParaRPr>
          </a:p>
        </p:txBody>
      </p:sp>
      <p:sp>
        <p:nvSpPr>
          <p:cNvPr id="11" name="Text Box 43"/>
          <p:cNvSpPr txBox="1">
            <a:spLocks noChangeArrowheads="1"/>
          </p:cNvSpPr>
          <p:nvPr/>
        </p:nvSpPr>
        <p:spPr bwMode="auto">
          <a:xfrm>
            <a:off x="2695031" y="1099190"/>
            <a:ext cx="3650358" cy="400110"/>
          </a:xfrm>
          <a:prstGeom prst="rect">
            <a:avLst/>
          </a:prstGeom>
          <a:solidFill>
            <a:srgbClr val="FFCC66"/>
          </a:solidFill>
          <a:ln>
            <a:noFill/>
          </a:ln>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99"/>
                </a:solidFill>
                <a:latin typeface="微软雅黑" pitchFamily="34" charset="-122"/>
                <a:ea typeface="微软雅黑" pitchFamily="34" charset="-122"/>
              </a:rPr>
              <a:t>时延带宽积 </a:t>
            </a:r>
            <a:r>
              <a:rPr lang="en-US" altLang="zh-CN" sz="2000" b="1" dirty="0">
                <a:solidFill>
                  <a:srgbClr val="000099"/>
                </a:solidFill>
                <a:latin typeface="微软雅黑" pitchFamily="34" charset="-122"/>
                <a:ea typeface="微软雅黑" pitchFamily="34" charset="-122"/>
              </a:rPr>
              <a:t>= </a:t>
            </a:r>
            <a:r>
              <a:rPr lang="zh-CN" altLang="en-US" sz="2000" b="1" dirty="0">
                <a:solidFill>
                  <a:srgbClr val="000099"/>
                </a:solidFill>
                <a:latin typeface="微软雅黑" pitchFamily="34" charset="-122"/>
                <a:ea typeface="微软雅黑" pitchFamily="34" charset="-122"/>
              </a:rPr>
              <a:t>传播时延 </a:t>
            </a:r>
            <a:r>
              <a:rPr lang="zh-CN" altLang="en-US" sz="2000" b="1" dirty="0">
                <a:solidFill>
                  <a:srgbClr val="000099"/>
                </a:solidFill>
                <a:latin typeface="微软雅黑" pitchFamily="34" charset="-122"/>
                <a:ea typeface="微软雅黑" pitchFamily="34" charset="-122"/>
                <a:sym typeface="Symbol" pitchFamily="18" charset="2"/>
              </a:rPr>
              <a:t> 带宽</a:t>
            </a:r>
          </a:p>
        </p:txBody>
      </p:sp>
      <p:sp>
        <p:nvSpPr>
          <p:cNvPr id="12" name="矩形 12"/>
          <p:cNvSpPr>
            <a:spLocks noChangeArrowheads="1"/>
          </p:cNvSpPr>
          <p:nvPr/>
        </p:nvSpPr>
        <p:spPr bwMode="auto">
          <a:xfrm>
            <a:off x="1116738" y="3362387"/>
            <a:ext cx="6632575" cy="1092607"/>
          </a:xfrm>
          <a:prstGeom prst="rect">
            <a:avLst/>
          </a:prstGeom>
          <a:ln/>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600"/>
              </a:lnSpc>
            </a:pPr>
            <a:r>
              <a:rPr lang="zh-CN" altLang="en-US" b="1" dirty="0">
                <a:solidFill>
                  <a:schemeClr val="tx1"/>
                </a:solidFill>
                <a:latin typeface="微软雅黑" pitchFamily="34" charset="-122"/>
                <a:ea typeface="微软雅黑" pitchFamily="34" charset="-122"/>
              </a:rPr>
              <a:t>链路的</a:t>
            </a:r>
            <a:r>
              <a:rPr lang="zh-CN" altLang="en-US" b="1" dirty="0">
                <a:solidFill>
                  <a:srgbClr val="C00000"/>
                </a:solidFill>
                <a:latin typeface="微软雅黑" pitchFamily="34" charset="-122"/>
                <a:ea typeface="微软雅黑" pitchFamily="34" charset="-122"/>
              </a:rPr>
              <a:t>时延带宽积</a:t>
            </a:r>
            <a:r>
              <a:rPr lang="zh-CN" altLang="en-US" b="1" dirty="0">
                <a:solidFill>
                  <a:schemeClr val="tx1"/>
                </a:solidFill>
                <a:latin typeface="微软雅黑" pitchFamily="34" charset="-122"/>
                <a:ea typeface="微软雅黑" pitchFamily="34" charset="-122"/>
              </a:rPr>
              <a:t>又称为以比特为单位的</a:t>
            </a:r>
            <a:r>
              <a:rPr lang="zh-CN" altLang="en-US" b="1" dirty="0">
                <a:solidFill>
                  <a:srgbClr val="C00000"/>
                </a:solidFill>
                <a:latin typeface="微软雅黑" pitchFamily="34" charset="-122"/>
                <a:ea typeface="微软雅黑" pitchFamily="34" charset="-122"/>
              </a:rPr>
              <a:t>链路长度。</a:t>
            </a:r>
            <a:endParaRPr lang="en-US" altLang="zh-CN" b="1" dirty="0">
              <a:solidFill>
                <a:srgbClr val="C00000"/>
              </a:solidFill>
              <a:latin typeface="微软雅黑" pitchFamily="34" charset="-122"/>
              <a:ea typeface="微软雅黑" pitchFamily="34" charset="-122"/>
            </a:endParaRPr>
          </a:p>
          <a:p>
            <a:pPr>
              <a:lnSpc>
                <a:spcPts val="2600"/>
              </a:lnSpc>
            </a:pPr>
            <a:r>
              <a:rPr lang="zh-CN" altLang="en-US" b="1" dirty="0">
                <a:solidFill>
                  <a:schemeClr val="tx1"/>
                </a:solidFill>
                <a:latin typeface="微软雅黑" pitchFamily="34" charset="-122"/>
                <a:ea typeface="微软雅黑" pitchFamily="34" charset="-122"/>
              </a:rPr>
              <a:t>管道中的比特数表示从发送端发出</a:t>
            </a:r>
            <a:r>
              <a:rPr lang="zh-CN" altLang="en-US" b="1" dirty="0">
                <a:solidFill>
                  <a:srgbClr val="0000CC"/>
                </a:solidFill>
                <a:latin typeface="微软雅黑" pitchFamily="34" charset="-122"/>
                <a:ea typeface="微软雅黑" pitchFamily="34" charset="-122"/>
              </a:rPr>
              <a:t>但尚未</a:t>
            </a:r>
            <a:r>
              <a:rPr lang="zh-CN" altLang="en-US" b="1" dirty="0">
                <a:solidFill>
                  <a:schemeClr val="tx1"/>
                </a:solidFill>
                <a:latin typeface="微软雅黑" pitchFamily="34" charset="-122"/>
                <a:ea typeface="微软雅黑" pitchFamily="34" charset="-122"/>
              </a:rPr>
              <a:t>到达接收端的比特数。</a:t>
            </a:r>
            <a:endParaRPr lang="en-US" altLang="zh-CN" b="1" dirty="0">
              <a:solidFill>
                <a:schemeClr val="tx1"/>
              </a:solidFill>
              <a:latin typeface="微软雅黑" pitchFamily="34" charset="-122"/>
              <a:ea typeface="微软雅黑" pitchFamily="34" charset="-122"/>
            </a:endParaRPr>
          </a:p>
          <a:p>
            <a:pPr>
              <a:lnSpc>
                <a:spcPts val="2600"/>
              </a:lnSpc>
            </a:pPr>
            <a:r>
              <a:rPr lang="zh-CN" altLang="zh-CN" b="1" dirty="0">
                <a:solidFill>
                  <a:schemeClr val="tx1"/>
                </a:solidFill>
                <a:latin typeface="微软雅黑" pitchFamily="34" charset="-122"/>
                <a:ea typeface="微软雅黑" pitchFamily="34" charset="-122"/>
              </a:rPr>
              <a:t>只有在代表链路的管道都充满比特时，链路才得到</a:t>
            </a:r>
            <a:r>
              <a:rPr lang="zh-CN" altLang="en-US" b="1" dirty="0">
                <a:solidFill>
                  <a:schemeClr val="tx1"/>
                </a:solidFill>
                <a:latin typeface="微软雅黑" pitchFamily="34" charset="-122"/>
                <a:ea typeface="微软雅黑" pitchFamily="34" charset="-122"/>
              </a:rPr>
              <a:t>了</a:t>
            </a:r>
            <a:r>
              <a:rPr lang="zh-CN" altLang="zh-CN" b="1" dirty="0">
                <a:solidFill>
                  <a:schemeClr val="tx1"/>
                </a:solidFill>
                <a:latin typeface="微软雅黑" pitchFamily="34" charset="-122"/>
                <a:ea typeface="微软雅黑" pitchFamily="34" charset="-122"/>
              </a:rPr>
              <a:t>充分利用</a:t>
            </a:r>
            <a:r>
              <a:rPr lang="zh-CN" altLang="en-US" b="1" dirty="0">
                <a:solidFill>
                  <a:schemeClr val="tx1"/>
                </a:solidFill>
                <a:latin typeface="微软雅黑" pitchFamily="34" charset="-122"/>
                <a:ea typeface="微软雅黑" pitchFamily="34" charset="-122"/>
              </a:rPr>
              <a:t>。</a:t>
            </a:r>
            <a:endParaRPr lang="en-US" altLang="zh-CN" b="1" dirty="0">
              <a:solidFill>
                <a:schemeClr val="tx1"/>
              </a:solidFill>
              <a:latin typeface="微软雅黑" pitchFamily="34" charset="-122"/>
              <a:ea typeface="微软雅黑" pitchFamily="34" charset="-122"/>
            </a:endParaRPr>
          </a:p>
        </p:txBody>
      </p:sp>
      <p:sp>
        <p:nvSpPr>
          <p:cNvPr id="13" name="矩形 13"/>
          <p:cNvSpPr>
            <a:spLocks noChangeArrowheads="1"/>
          </p:cNvSpPr>
          <p:nvPr/>
        </p:nvSpPr>
        <p:spPr bwMode="auto">
          <a:xfrm>
            <a:off x="3256689" y="2743110"/>
            <a:ext cx="30083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zh-CN" b="1" dirty="0">
                <a:latin typeface="微软雅黑" pitchFamily="34" charset="-122"/>
                <a:ea typeface="微软雅黑" pitchFamily="34" charset="-122"/>
              </a:rPr>
              <a:t>链路像一条空心管道</a:t>
            </a:r>
            <a:endParaRPr lang="zh-CN" altLang="en-US" b="1" dirty="0">
              <a:latin typeface="微软雅黑" pitchFamily="34" charset="-122"/>
              <a:ea typeface="微软雅黑" pitchFamily="34" charset="-122"/>
            </a:endParaRPr>
          </a:p>
        </p:txBody>
      </p:sp>
      <p:sp>
        <p:nvSpPr>
          <p:cNvPr id="2" name="文本占位符 1"/>
          <p:cNvSpPr>
            <a:spLocks noGrp="1"/>
          </p:cNvSpPr>
          <p:nvPr>
            <p:ph type="body" sz="quarter" idx="10"/>
          </p:nvPr>
        </p:nvSpPr>
        <p:spPr/>
        <p:txBody>
          <a:bodyPr/>
          <a:lstStyle/>
          <a:p>
            <a:r>
              <a:rPr lang="en-US" altLang="zh-CN" dirty="0"/>
              <a:t>5. </a:t>
            </a:r>
            <a:r>
              <a:rPr lang="zh-CN" altLang="en-US" dirty="0"/>
              <a:t>时延带宽积</a:t>
            </a:r>
          </a:p>
        </p:txBody>
      </p:sp>
    </p:spTree>
    <p:extLst>
      <p:ext uri="{BB962C8B-B14F-4D97-AF65-F5344CB8AC3E}">
        <p14:creationId xmlns:p14="http://schemas.microsoft.com/office/powerpoint/2010/main" val="17168711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968691"/>
            <a:ext cx="4062113" cy="3172691"/>
          </a:xfrm>
        </p:spPr>
        <p:txBody>
          <a:bodyPr/>
          <a:lstStyle/>
          <a:p>
            <a:r>
              <a:rPr lang="zh-CN" altLang="en-US" dirty="0"/>
              <a:t>表示从发送方</a:t>
            </a:r>
            <a:r>
              <a:rPr lang="zh-CN" altLang="en-US" dirty="0">
                <a:solidFill>
                  <a:srgbClr val="C00000"/>
                </a:solidFill>
              </a:rPr>
              <a:t>发送完数据</a:t>
            </a:r>
            <a:r>
              <a:rPr lang="zh-CN" altLang="en-US" dirty="0"/>
              <a:t>，到发送方</a:t>
            </a:r>
            <a:r>
              <a:rPr lang="zh-CN" altLang="en-US" dirty="0">
                <a:solidFill>
                  <a:srgbClr val="C00000"/>
                </a:solidFill>
              </a:rPr>
              <a:t>收到来自接收方的确认</a:t>
            </a:r>
            <a:r>
              <a:rPr lang="zh-CN" altLang="en-US" dirty="0"/>
              <a:t>总共经历的时间。</a:t>
            </a:r>
            <a:r>
              <a:rPr lang="en-US" altLang="zh-CN" dirty="0"/>
              <a:t> </a:t>
            </a:r>
          </a:p>
          <a:p>
            <a:endParaRPr lang="zh-CN" altLang="en-US" dirty="0"/>
          </a:p>
          <a:p>
            <a:endParaRPr lang="zh-CN" altLang="en-US" dirty="0"/>
          </a:p>
        </p:txBody>
      </p:sp>
      <p:sp>
        <p:nvSpPr>
          <p:cNvPr id="2" name="文本占位符 1"/>
          <p:cNvSpPr>
            <a:spLocks noGrp="1"/>
          </p:cNvSpPr>
          <p:nvPr>
            <p:ph type="body" sz="quarter" idx="11"/>
          </p:nvPr>
        </p:nvSpPr>
        <p:spPr/>
        <p:txBody>
          <a:bodyPr/>
          <a:lstStyle/>
          <a:p>
            <a:r>
              <a:rPr lang="en-US" altLang="zh-CN" dirty="0"/>
              <a:t>6. </a:t>
            </a:r>
            <a:r>
              <a:rPr lang="zh-CN" altLang="en-US" dirty="0"/>
              <a:t>往返时间 </a:t>
            </a:r>
            <a:r>
              <a:rPr lang="en-US" altLang="zh-CN" dirty="0"/>
              <a:t>RTT (Round-Trip Time)</a:t>
            </a:r>
            <a:endParaRPr lang="zh-CN" altLang="en-US" dirty="0"/>
          </a:p>
        </p:txBody>
      </p:sp>
      <p:sp>
        <p:nvSpPr>
          <p:cNvPr id="50" name="矩形 49"/>
          <p:cNvSpPr/>
          <p:nvPr/>
        </p:nvSpPr>
        <p:spPr>
          <a:xfrm>
            <a:off x="533945" y="2207531"/>
            <a:ext cx="4535216" cy="2246769"/>
          </a:xfrm>
          <a:prstGeom prst="rect">
            <a:avLst/>
          </a:prstGeom>
          <a:ln>
            <a:solidFill>
              <a:srgbClr val="C00000"/>
            </a:solidFill>
          </a:ln>
        </p:spPr>
        <p:style>
          <a:lnRef idx="2">
            <a:schemeClr val="accent2"/>
          </a:lnRef>
          <a:fillRef idx="1">
            <a:schemeClr val="lt1"/>
          </a:fillRef>
          <a:effectRef idx="0">
            <a:schemeClr val="accent2"/>
          </a:effectRef>
          <a:fontRef idx="minor">
            <a:schemeClr val="dk1"/>
          </a:fontRef>
        </p:style>
        <p:txBody>
          <a:bodyPr wrap="non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往返时间 </a:t>
            </a:r>
            <a:r>
              <a:rPr lang="en-US" altLang="zh-CN" sz="1600" b="1" dirty="0">
                <a:latin typeface="微软雅黑" panose="020B0503020204020204" pitchFamily="34" charset="-122"/>
                <a:ea typeface="微软雅黑" panose="020B0503020204020204" pitchFamily="34" charset="-122"/>
              </a:rPr>
              <a:t>RTT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A </a:t>
            </a:r>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的传播时延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处理和排队时延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PQB</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发送时延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TB</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A </a:t>
            </a:r>
            <a:r>
              <a:rPr lang="zh-CN" altLang="en-US" sz="1600" b="1" dirty="0">
                <a:latin typeface="微软雅黑" panose="020B0503020204020204" pitchFamily="34" charset="-122"/>
                <a:ea typeface="微软雅黑" panose="020B0503020204020204" pitchFamily="34" charset="-122"/>
              </a:rPr>
              <a:t>的传播时延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2 x </a:t>
            </a:r>
            <a:r>
              <a:rPr lang="zh-CN" altLang="en-US" sz="1600" b="1" dirty="0">
                <a:latin typeface="微软雅黑" panose="020B0503020204020204" pitchFamily="34" charset="-122"/>
                <a:ea typeface="微软雅黑" panose="020B0503020204020204" pitchFamily="34" charset="-122"/>
              </a:rPr>
              <a:t>传播时延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处理和排队时延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PQB</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发送时延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TB</a:t>
            </a:r>
            <a:r>
              <a:rPr lang="en-US" altLang="zh-CN" sz="1600" b="1" dirty="0">
                <a:latin typeface="微软雅黑" panose="020B0503020204020204" pitchFamily="34" charset="-122"/>
                <a:ea typeface="微软雅黑" panose="020B0503020204020204" pitchFamily="34" charset="-122"/>
              </a:rPr>
              <a:t> </a:t>
            </a:r>
          </a:p>
        </p:txBody>
      </p:sp>
      <p:grpSp>
        <p:nvGrpSpPr>
          <p:cNvPr id="66" name="组合 65"/>
          <p:cNvGrpSpPr/>
          <p:nvPr/>
        </p:nvGrpSpPr>
        <p:grpSpPr>
          <a:xfrm>
            <a:off x="5217132" y="1241434"/>
            <a:ext cx="4057502" cy="2781927"/>
            <a:chOff x="5217132" y="1241434"/>
            <a:chExt cx="4057502" cy="2781927"/>
          </a:xfrm>
        </p:grpSpPr>
        <p:cxnSp>
          <p:nvCxnSpPr>
            <p:cNvPr id="13" name="直接连接符 12"/>
            <p:cNvCxnSpPr/>
            <p:nvPr/>
          </p:nvCxnSpPr>
          <p:spPr>
            <a:xfrm flipH="1">
              <a:off x="6339846" y="2760145"/>
              <a:ext cx="249065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flipH="1">
              <a:off x="6783982" y="2980344"/>
              <a:ext cx="2046517"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H="1">
              <a:off x="5427623" y="3595848"/>
              <a:ext cx="3402878"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a:off x="8386361" y="3169710"/>
              <a:ext cx="444137"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5427623" y="1863424"/>
              <a:ext cx="295874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H="1">
              <a:off x="6026342" y="2324978"/>
              <a:ext cx="757636"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6383389" y="1241434"/>
              <a:ext cx="731290" cy="307777"/>
            </a:xfrm>
            <a:prstGeom prst="rect">
              <a:avLst/>
            </a:prstGeom>
          </p:spPr>
          <p:txBody>
            <a:bodyPr wrap="none">
              <a:spAutoFit/>
            </a:bodyPr>
            <a:lstStyle/>
            <a:p>
              <a:r>
                <a:rPr kumimoji="1" lang="zh-CN" altLang="en-US" sz="1400" b="1" dirty="0">
                  <a:solidFill>
                    <a:srgbClr val="0000FF"/>
                  </a:solidFill>
                  <a:latin typeface="微软雅黑" pitchFamily="34" charset="-122"/>
                  <a:ea typeface="微软雅黑" pitchFamily="34" charset="-122"/>
                </a:rPr>
                <a:t>结点 </a:t>
              </a:r>
              <a:r>
                <a:rPr kumimoji="1" lang="en-US" altLang="zh-CN" sz="1400" b="1" dirty="0">
                  <a:solidFill>
                    <a:srgbClr val="0000FF"/>
                  </a:solidFill>
                  <a:latin typeface="微软雅黑" pitchFamily="34" charset="-122"/>
                  <a:ea typeface="微软雅黑" pitchFamily="34" charset="-122"/>
                </a:rPr>
                <a:t>A</a:t>
              </a:r>
            </a:p>
          </p:txBody>
        </p:sp>
        <p:sp>
          <p:nvSpPr>
            <p:cNvPr id="24" name="矩形 23"/>
            <p:cNvSpPr/>
            <p:nvPr/>
          </p:nvSpPr>
          <p:spPr>
            <a:xfrm>
              <a:off x="8020716" y="1241434"/>
              <a:ext cx="720069" cy="307777"/>
            </a:xfrm>
            <a:prstGeom prst="rect">
              <a:avLst/>
            </a:prstGeom>
          </p:spPr>
          <p:txBody>
            <a:bodyPr wrap="none">
              <a:spAutoFit/>
            </a:bodyPr>
            <a:lstStyle/>
            <a:p>
              <a:r>
                <a:rPr kumimoji="1" lang="zh-CN" altLang="en-US" sz="1400" b="1" dirty="0">
                  <a:solidFill>
                    <a:srgbClr val="0000FF"/>
                  </a:solidFill>
                  <a:latin typeface="微软雅黑" pitchFamily="34" charset="-122"/>
                  <a:ea typeface="微软雅黑" pitchFamily="34" charset="-122"/>
                </a:rPr>
                <a:t>结点 </a:t>
              </a:r>
              <a:r>
                <a:rPr kumimoji="1" lang="en-US" altLang="zh-CN" sz="1400" b="1" dirty="0">
                  <a:solidFill>
                    <a:srgbClr val="0000FF"/>
                  </a:solidFill>
                  <a:latin typeface="微软雅黑" pitchFamily="34" charset="-122"/>
                  <a:ea typeface="微软雅黑" pitchFamily="34" charset="-122"/>
                </a:rPr>
                <a:t>B</a:t>
              </a:r>
            </a:p>
          </p:txBody>
        </p:sp>
        <p:grpSp>
          <p:nvGrpSpPr>
            <p:cNvPr id="65" name="组合 64"/>
            <p:cNvGrpSpPr/>
            <p:nvPr/>
          </p:nvGrpSpPr>
          <p:grpSpPr>
            <a:xfrm>
              <a:off x="6698428" y="1628504"/>
              <a:ext cx="1774282" cy="2394857"/>
              <a:chOff x="6698428" y="1628504"/>
              <a:chExt cx="1774282" cy="2394857"/>
            </a:xfrm>
          </p:grpSpPr>
          <p:sp>
            <p:nvSpPr>
              <p:cNvPr id="7" name="平行四边形 6"/>
              <p:cNvSpPr/>
              <p:nvPr/>
            </p:nvSpPr>
            <p:spPr>
              <a:xfrm rot="900000" flipV="1">
                <a:off x="6698428" y="2085467"/>
                <a:ext cx="1774282" cy="444137"/>
              </a:xfrm>
              <a:prstGeom prst="parallelogram">
                <a:avLst>
                  <a:gd name="adj" fmla="val 26894"/>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 name="直接连接符 4"/>
              <p:cNvCxnSpPr/>
              <p:nvPr/>
            </p:nvCxnSpPr>
            <p:spPr>
              <a:xfrm>
                <a:off x="6783978" y="1628504"/>
                <a:ext cx="0" cy="23948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p:nvCxnSpPr>
            <p:spPr>
              <a:xfrm>
                <a:off x="8386357" y="1628504"/>
                <a:ext cx="0" cy="23948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平行四边形 7"/>
              <p:cNvSpPr/>
              <p:nvPr/>
            </p:nvSpPr>
            <p:spPr>
              <a:xfrm rot="20700000" flipH="1" flipV="1">
                <a:off x="6731852" y="3197906"/>
                <a:ext cx="1704669" cy="178367"/>
              </a:xfrm>
              <a:prstGeom prst="parallelogram">
                <a:avLst>
                  <a:gd name="adj" fmla="val 26894"/>
                </a:avLst>
              </a:prstGeom>
              <a:solidFill>
                <a:srgbClr val="00B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p:cNvSpPr/>
              <p:nvPr/>
            </p:nvSpPr>
            <p:spPr>
              <a:xfrm rot="911734">
                <a:off x="7271892" y="2153091"/>
                <a:ext cx="543739" cy="307777"/>
              </a:xfrm>
              <a:prstGeom prst="rect">
                <a:avLst/>
              </a:prstGeom>
            </p:spPr>
            <p:txBody>
              <a:bodyPr wrap="none">
                <a:spAutoFit/>
              </a:bodyPr>
              <a:lstStyle/>
              <a:p>
                <a:r>
                  <a:rPr kumimoji="1" lang="zh-CN" altLang="en-US" sz="1400" b="1" dirty="0">
                    <a:latin typeface="微软雅黑" pitchFamily="34" charset="-122"/>
                    <a:ea typeface="微软雅黑" pitchFamily="34" charset="-122"/>
                  </a:rPr>
                  <a:t>数据</a:t>
                </a:r>
                <a:endParaRPr kumimoji="1" lang="en-US" altLang="zh-CN" sz="1400" b="1" dirty="0">
                  <a:latin typeface="微软雅黑" pitchFamily="34" charset="-122"/>
                  <a:ea typeface="微软雅黑" pitchFamily="34" charset="-122"/>
                </a:endParaRPr>
              </a:p>
            </p:txBody>
          </p:sp>
          <p:sp>
            <p:nvSpPr>
              <p:cNvPr id="27" name="矩形 26"/>
              <p:cNvSpPr/>
              <p:nvPr/>
            </p:nvSpPr>
            <p:spPr>
              <a:xfrm rot="20641677">
                <a:off x="7315436" y="3156193"/>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确认</a:t>
                </a:r>
                <a:endParaRPr kumimoji="1" lang="en-US" altLang="zh-CN" sz="1200" b="1" dirty="0">
                  <a:latin typeface="微软雅黑" pitchFamily="34" charset="-122"/>
                  <a:ea typeface="微软雅黑" pitchFamily="34" charset="-122"/>
                </a:endParaRPr>
              </a:p>
            </p:txBody>
          </p:sp>
        </p:grpSp>
        <p:cxnSp>
          <p:nvCxnSpPr>
            <p:cNvPr id="29" name="直接箭头连接符 28"/>
            <p:cNvCxnSpPr/>
            <p:nvPr/>
          </p:nvCxnSpPr>
          <p:spPr>
            <a:xfrm>
              <a:off x="6561913" y="1863424"/>
              <a:ext cx="0" cy="44355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0" name="直接箭头连接符 29"/>
            <p:cNvCxnSpPr/>
            <p:nvPr/>
          </p:nvCxnSpPr>
          <p:spPr>
            <a:xfrm>
              <a:off x="6561913" y="2308092"/>
              <a:ext cx="0" cy="44355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1" name="直接箭头连接符 30"/>
            <p:cNvCxnSpPr/>
            <p:nvPr/>
          </p:nvCxnSpPr>
          <p:spPr>
            <a:xfrm>
              <a:off x="6561913" y="2771659"/>
              <a:ext cx="0" cy="82217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6" name="直接箭头连接符 35"/>
            <p:cNvCxnSpPr/>
            <p:nvPr/>
          </p:nvCxnSpPr>
          <p:spPr>
            <a:xfrm>
              <a:off x="6213573" y="2324978"/>
              <a:ext cx="0" cy="1268857"/>
            </a:xfrm>
            <a:prstGeom prst="straightConnector1">
              <a:avLst/>
            </a:prstGeom>
            <a:ln w="19050">
              <a:solidFill>
                <a:srgbClr val="C00000"/>
              </a:solidFill>
              <a:headEnd type="triangle"/>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p:cNvCxnSpPr/>
            <p:nvPr/>
          </p:nvCxnSpPr>
          <p:spPr>
            <a:xfrm>
              <a:off x="8621492" y="3169710"/>
              <a:ext cx="0" cy="42412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40" name="直接箭头连接符 39"/>
            <p:cNvCxnSpPr/>
            <p:nvPr/>
          </p:nvCxnSpPr>
          <p:spPr>
            <a:xfrm>
              <a:off x="8621492" y="2760145"/>
              <a:ext cx="0" cy="220199"/>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42" name="直接箭头连接符 41"/>
            <p:cNvCxnSpPr/>
            <p:nvPr/>
          </p:nvCxnSpPr>
          <p:spPr>
            <a:xfrm>
              <a:off x="8621492" y="2980344"/>
              <a:ext cx="0" cy="18936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sp>
          <p:nvSpPr>
            <p:cNvPr id="43" name="文本框 42"/>
            <p:cNvSpPr txBox="1"/>
            <p:nvPr/>
          </p:nvSpPr>
          <p:spPr>
            <a:xfrm>
              <a:off x="6100273" y="1898490"/>
              <a:ext cx="461554" cy="338554"/>
            </a:xfrm>
            <a:prstGeom prst="rect">
              <a:avLst/>
            </a:prstGeom>
            <a:noFill/>
          </p:spPr>
          <p:txBody>
            <a:bodyPr wrap="square" rtlCol="0">
              <a:spAutoFit/>
            </a:bodyPr>
            <a:lstStyle/>
            <a:p>
              <a:pPr algn="r"/>
              <a:r>
                <a:rPr lang="en-US" altLang="zh-CN" sz="1600" dirty="0" err="1"/>
                <a:t>t</a:t>
              </a:r>
              <a:r>
                <a:rPr lang="en-US" altLang="zh-CN" sz="1400" b="1" baseline="-25000" dirty="0" err="1"/>
                <a:t>TA</a:t>
              </a:r>
              <a:endParaRPr lang="zh-CN" altLang="en-US" sz="1400" b="1" baseline="-25000" dirty="0"/>
            </a:p>
          </p:txBody>
        </p:sp>
        <p:sp>
          <p:nvSpPr>
            <p:cNvPr id="44" name="文本框 43"/>
            <p:cNvSpPr txBox="1"/>
            <p:nvPr/>
          </p:nvSpPr>
          <p:spPr>
            <a:xfrm>
              <a:off x="6100273" y="2360573"/>
              <a:ext cx="461554" cy="338554"/>
            </a:xfrm>
            <a:prstGeom prst="rect">
              <a:avLst/>
            </a:prstGeom>
            <a:noFill/>
          </p:spPr>
          <p:txBody>
            <a:bodyPr wrap="square" rtlCol="0">
              <a:spAutoFit/>
            </a:bodyPr>
            <a:lstStyle/>
            <a:p>
              <a:pPr algn="r"/>
              <a:r>
                <a:rPr lang="en-US" altLang="zh-CN" sz="1600" dirty="0" err="1"/>
                <a:t>t</a:t>
              </a:r>
              <a:r>
                <a:rPr lang="en-US" altLang="zh-CN" sz="1400" b="1" baseline="-25000" dirty="0" err="1"/>
                <a:t>P</a:t>
              </a:r>
              <a:endParaRPr lang="zh-CN" altLang="en-US" sz="1400" b="1" baseline="-25000" dirty="0"/>
            </a:p>
          </p:txBody>
        </p:sp>
        <p:sp>
          <p:nvSpPr>
            <p:cNvPr id="45" name="文本框 44"/>
            <p:cNvSpPr txBox="1"/>
            <p:nvPr/>
          </p:nvSpPr>
          <p:spPr>
            <a:xfrm>
              <a:off x="8626506" y="3203786"/>
              <a:ext cx="461554" cy="338554"/>
            </a:xfrm>
            <a:prstGeom prst="rect">
              <a:avLst/>
            </a:prstGeom>
            <a:noFill/>
          </p:spPr>
          <p:txBody>
            <a:bodyPr wrap="square" rtlCol="0">
              <a:spAutoFit/>
            </a:bodyPr>
            <a:lstStyle/>
            <a:p>
              <a:r>
                <a:rPr lang="en-US" altLang="zh-CN" sz="1600" dirty="0" err="1"/>
                <a:t>t</a:t>
              </a:r>
              <a:r>
                <a:rPr lang="en-US" altLang="zh-CN" sz="1400" b="1" baseline="-25000" dirty="0" err="1"/>
                <a:t>P</a:t>
              </a:r>
              <a:endParaRPr lang="zh-CN" altLang="en-US" sz="1400" b="1" baseline="-25000" dirty="0"/>
            </a:p>
          </p:txBody>
        </p:sp>
        <p:sp>
          <p:nvSpPr>
            <p:cNvPr id="46" name="文本框 45"/>
            <p:cNvSpPr txBox="1"/>
            <p:nvPr/>
          </p:nvSpPr>
          <p:spPr>
            <a:xfrm>
              <a:off x="8626506" y="2687627"/>
              <a:ext cx="648128" cy="338554"/>
            </a:xfrm>
            <a:prstGeom prst="rect">
              <a:avLst/>
            </a:prstGeom>
            <a:noFill/>
          </p:spPr>
          <p:txBody>
            <a:bodyPr wrap="square" rtlCol="0">
              <a:spAutoFit/>
            </a:bodyPr>
            <a:lstStyle/>
            <a:p>
              <a:r>
                <a:rPr lang="en-US" altLang="zh-CN" sz="1600" dirty="0" err="1"/>
                <a:t>t</a:t>
              </a:r>
              <a:r>
                <a:rPr lang="en-US" altLang="zh-CN" sz="1600" baseline="-25000" dirty="0" err="1"/>
                <a:t>P</a:t>
              </a:r>
              <a:r>
                <a:rPr lang="en-US" altLang="zh-CN" sz="1400" b="1" baseline="-25000" dirty="0" err="1"/>
                <a:t>QB</a:t>
              </a:r>
              <a:endParaRPr lang="zh-CN" altLang="en-US" sz="1400" b="1" baseline="-25000" dirty="0"/>
            </a:p>
          </p:txBody>
        </p:sp>
        <p:sp>
          <p:nvSpPr>
            <p:cNvPr id="47" name="矩形 46"/>
            <p:cNvSpPr/>
            <p:nvPr/>
          </p:nvSpPr>
          <p:spPr>
            <a:xfrm>
              <a:off x="5747338" y="2592252"/>
              <a:ext cx="543739" cy="738664"/>
            </a:xfrm>
            <a:prstGeom prst="rect">
              <a:avLst/>
            </a:prstGeom>
          </p:spPr>
          <p:txBody>
            <a:bodyPr wrap="none">
              <a:spAutoFit/>
            </a:bodyPr>
            <a:lstStyle/>
            <a:p>
              <a:r>
                <a:rPr kumimoji="1" lang="zh-CN" altLang="en-US" sz="1400" b="1" dirty="0">
                  <a:latin typeface="微软雅黑" pitchFamily="34" charset="-122"/>
                  <a:ea typeface="微软雅黑" pitchFamily="34" charset="-122"/>
                </a:rPr>
                <a:t>往返</a:t>
              </a:r>
              <a:endParaRPr kumimoji="1" lang="en-US" altLang="zh-CN" sz="1400" b="1" dirty="0">
                <a:latin typeface="微软雅黑" pitchFamily="34" charset="-122"/>
                <a:ea typeface="微软雅黑" pitchFamily="34" charset="-122"/>
              </a:endParaRPr>
            </a:p>
            <a:p>
              <a:r>
                <a:rPr kumimoji="1" lang="zh-CN" altLang="en-US" sz="1400" b="1" dirty="0">
                  <a:latin typeface="微软雅黑" pitchFamily="34" charset="-122"/>
                  <a:ea typeface="微软雅黑" pitchFamily="34" charset="-122"/>
                </a:rPr>
                <a:t>时间</a:t>
              </a:r>
              <a:endParaRPr kumimoji="1" lang="en-US" altLang="zh-CN" sz="1400" b="1" dirty="0">
                <a:latin typeface="微软雅黑" pitchFamily="34" charset="-122"/>
                <a:ea typeface="微软雅黑" pitchFamily="34" charset="-122"/>
              </a:endParaRPr>
            </a:p>
            <a:p>
              <a:r>
                <a:rPr kumimoji="1" lang="en-US" altLang="zh-CN" sz="1400" b="1" dirty="0">
                  <a:latin typeface="微软雅黑" pitchFamily="34" charset="-122"/>
                  <a:ea typeface="微软雅黑" pitchFamily="34" charset="-122"/>
                </a:rPr>
                <a:t>RTT</a:t>
              </a:r>
            </a:p>
          </p:txBody>
        </p:sp>
        <p:sp>
          <p:nvSpPr>
            <p:cNvPr id="49" name="文本框 48"/>
            <p:cNvSpPr txBox="1"/>
            <p:nvPr/>
          </p:nvSpPr>
          <p:spPr>
            <a:xfrm>
              <a:off x="8626504" y="2881624"/>
              <a:ext cx="461554" cy="338554"/>
            </a:xfrm>
            <a:prstGeom prst="rect">
              <a:avLst/>
            </a:prstGeom>
            <a:noFill/>
          </p:spPr>
          <p:txBody>
            <a:bodyPr wrap="square" rtlCol="0">
              <a:spAutoFit/>
            </a:bodyPr>
            <a:lstStyle/>
            <a:p>
              <a:r>
                <a:rPr lang="en-US" altLang="zh-CN" sz="1600" dirty="0" err="1"/>
                <a:t>t</a:t>
              </a:r>
              <a:r>
                <a:rPr lang="en-US" altLang="zh-CN" sz="1400" b="1" baseline="-25000" dirty="0" err="1"/>
                <a:t>TB</a:t>
              </a:r>
              <a:endParaRPr lang="zh-CN" altLang="en-US" sz="1400" b="1" baseline="-25000" dirty="0"/>
            </a:p>
          </p:txBody>
        </p:sp>
        <p:cxnSp>
          <p:nvCxnSpPr>
            <p:cNvPr id="59" name="直接箭头连接符 58"/>
            <p:cNvCxnSpPr/>
            <p:nvPr/>
          </p:nvCxnSpPr>
          <p:spPr>
            <a:xfrm>
              <a:off x="5687628" y="1863424"/>
              <a:ext cx="0" cy="1730411"/>
            </a:xfrm>
            <a:prstGeom prst="straightConnector1">
              <a:avLst/>
            </a:prstGeom>
            <a:ln w="19050">
              <a:solidFill>
                <a:srgbClr val="0000CC"/>
              </a:solidFill>
              <a:headEnd type="triangle"/>
              <a:tailEnd type="triangle"/>
            </a:ln>
          </p:spPr>
          <p:style>
            <a:lnRef idx="1">
              <a:schemeClr val="dk1"/>
            </a:lnRef>
            <a:fillRef idx="0">
              <a:schemeClr val="dk1"/>
            </a:fillRef>
            <a:effectRef idx="0">
              <a:schemeClr val="dk1"/>
            </a:effectRef>
            <a:fontRef idx="minor">
              <a:schemeClr val="tx1"/>
            </a:fontRef>
          </p:style>
        </p:cxnSp>
        <p:sp>
          <p:nvSpPr>
            <p:cNvPr id="60" name="矩形 59"/>
            <p:cNvSpPr/>
            <p:nvPr/>
          </p:nvSpPr>
          <p:spPr>
            <a:xfrm>
              <a:off x="5217132" y="2272997"/>
              <a:ext cx="560425" cy="954107"/>
            </a:xfrm>
            <a:prstGeom prst="rect">
              <a:avLst/>
            </a:prstGeom>
          </p:spPr>
          <p:txBody>
            <a:bodyPr wrap="square">
              <a:spAutoFit/>
            </a:bodyPr>
            <a:lstStyle/>
            <a:p>
              <a:r>
                <a:rPr kumimoji="1" lang="zh-CN" altLang="en-US" sz="1400" b="1" dirty="0">
                  <a:latin typeface="微软雅黑" pitchFamily="34" charset="-122"/>
                  <a:ea typeface="微软雅黑" pitchFamily="34" charset="-122"/>
                </a:rPr>
                <a:t>成功发送的总时延</a:t>
              </a:r>
              <a:endParaRPr kumimoji="1" lang="en-US" altLang="zh-CN" sz="1400" b="1" dirty="0">
                <a:latin typeface="微软雅黑" pitchFamily="34" charset="-122"/>
                <a:ea typeface="微软雅黑" pitchFamily="34" charset="-122"/>
              </a:endParaRPr>
            </a:p>
          </p:txBody>
        </p:sp>
      </p:grpSp>
    </p:spTree>
    <p:extLst>
      <p:ext uri="{BB962C8B-B14F-4D97-AF65-F5344CB8AC3E}">
        <p14:creationId xmlns:p14="http://schemas.microsoft.com/office/powerpoint/2010/main" val="8580189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endParaRPr lang="en-US" altLang="zh-CN" dirty="0"/>
          </a:p>
          <a:p>
            <a:endParaRPr lang="en-US" altLang="zh-CN" dirty="0"/>
          </a:p>
          <a:p>
            <a:endParaRPr lang="en-US" altLang="zh-CN" dirty="0"/>
          </a:p>
          <a:p>
            <a:r>
              <a:rPr lang="zh-CN" altLang="en-US" dirty="0"/>
              <a:t>结点 </a:t>
            </a:r>
            <a:r>
              <a:rPr lang="en-US" altLang="zh-CN" dirty="0"/>
              <a:t>A </a:t>
            </a:r>
            <a:r>
              <a:rPr lang="zh-CN" altLang="en-US" dirty="0"/>
              <a:t>要将一个 </a:t>
            </a:r>
            <a:r>
              <a:rPr lang="en-US" altLang="zh-CN" dirty="0"/>
              <a:t>100 MB </a:t>
            </a:r>
            <a:r>
              <a:rPr lang="zh-CN" altLang="en-US" dirty="0"/>
              <a:t>数据以 </a:t>
            </a:r>
            <a:r>
              <a:rPr lang="en-US" altLang="zh-CN" dirty="0"/>
              <a:t>100 Mbit/s </a:t>
            </a:r>
            <a:r>
              <a:rPr lang="zh-CN" altLang="en-US" dirty="0"/>
              <a:t>的速率发送给结点 </a:t>
            </a:r>
            <a:r>
              <a:rPr lang="en-US" altLang="zh-CN" dirty="0"/>
              <a:t>B</a:t>
            </a:r>
            <a:r>
              <a:rPr lang="zh-CN" altLang="en-US" dirty="0"/>
              <a:t>，</a:t>
            </a:r>
            <a:r>
              <a:rPr lang="en-US" altLang="zh-CN" dirty="0"/>
              <a:t>B </a:t>
            </a:r>
            <a:r>
              <a:rPr lang="zh-CN" altLang="en-US" dirty="0"/>
              <a:t>正确收完该数据后，就立即向 </a:t>
            </a:r>
            <a:r>
              <a:rPr lang="en-US" altLang="zh-CN" dirty="0"/>
              <a:t>A </a:t>
            </a:r>
            <a:r>
              <a:rPr lang="zh-CN" altLang="en-US" dirty="0"/>
              <a:t>发送确认。假定 </a:t>
            </a:r>
            <a:r>
              <a:rPr lang="en-US" altLang="zh-CN" dirty="0"/>
              <a:t>A </a:t>
            </a:r>
            <a:r>
              <a:rPr lang="zh-CN" altLang="en-US" dirty="0"/>
              <a:t>只有在收到 </a:t>
            </a:r>
            <a:r>
              <a:rPr lang="en-US" altLang="zh-CN" dirty="0"/>
              <a:t>B </a:t>
            </a:r>
            <a:r>
              <a:rPr lang="zh-CN" altLang="en-US" dirty="0"/>
              <a:t>的确认信息后，才能继续向 </a:t>
            </a:r>
            <a:r>
              <a:rPr lang="en-US" altLang="zh-CN" dirty="0"/>
              <a:t>B </a:t>
            </a:r>
            <a:r>
              <a:rPr lang="zh-CN" altLang="en-US" dirty="0"/>
              <a:t>发送数据，且确认信息很短。计算 </a:t>
            </a:r>
            <a:r>
              <a:rPr lang="en-US" altLang="zh-CN" dirty="0"/>
              <a:t>A </a:t>
            </a:r>
            <a:r>
              <a:rPr lang="zh-CN" altLang="en-US" dirty="0"/>
              <a:t>向 </a:t>
            </a:r>
            <a:r>
              <a:rPr lang="en-US" altLang="zh-CN" dirty="0"/>
              <a:t>B </a:t>
            </a:r>
            <a:r>
              <a:rPr lang="zh-CN" altLang="en-US" dirty="0"/>
              <a:t>发送数据的有效数据率。</a:t>
            </a:r>
          </a:p>
        </p:txBody>
      </p:sp>
      <p:sp>
        <p:nvSpPr>
          <p:cNvPr id="2" name="文本占位符 1"/>
          <p:cNvSpPr>
            <a:spLocks noGrp="1"/>
          </p:cNvSpPr>
          <p:nvPr>
            <p:ph type="body" sz="quarter" idx="11"/>
          </p:nvPr>
        </p:nvSpPr>
        <p:spPr/>
        <p:txBody>
          <a:bodyPr/>
          <a:lstStyle/>
          <a:p>
            <a:r>
              <a:rPr lang="zh-CN" altLang="en-US" dirty="0"/>
              <a:t>分析举例</a:t>
            </a:r>
          </a:p>
        </p:txBody>
      </p:sp>
      <p:grpSp>
        <p:nvGrpSpPr>
          <p:cNvPr id="4" name="组合 3"/>
          <p:cNvGrpSpPr/>
          <p:nvPr/>
        </p:nvGrpSpPr>
        <p:grpSpPr>
          <a:xfrm>
            <a:off x="2163416" y="1098586"/>
            <a:ext cx="4747202" cy="895466"/>
            <a:chOff x="2163416" y="1139776"/>
            <a:chExt cx="4747202" cy="895466"/>
          </a:xfrm>
        </p:grpSpPr>
        <p:sp>
          <p:nvSpPr>
            <p:cNvPr id="17" name="椭圆 16"/>
            <p:cNvSpPr/>
            <p:nvPr/>
          </p:nvSpPr>
          <p:spPr>
            <a:xfrm>
              <a:off x="2360014"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p:cNvSpPr/>
            <p:nvPr/>
          </p:nvSpPr>
          <p:spPr>
            <a:xfrm>
              <a:off x="6287580"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9" name="直接连接符 18"/>
            <p:cNvCxnSpPr>
              <a:stCxn id="17" idx="6"/>
              <a:endCxn id="18" idx="2"/>
            </p:cNvCxnSpPr>
            <p:nvPr/>
          </p:nvCxnSpPr>
          <p:spPr>
            <a:xfrm>
              <a:off x="2778022" y="1478330"/>
              <a:ext cx="350955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932056" y="1139776"/>
              <a:ext cx="1317990"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100 Mbit/s</a:t>
              </a:r>
              <a:endParaRPr lang="zh-CN" altLang="en-US" sz="1600" b="1" dirty="0">
                <a:latin typeface="微软雅黑" panose="020B0503020204020204" pitchFamily="34" charset="-122"/>
                <a:ea typeface="微软雅黑" panose="020B0503020204020204" pitchFamily="34" charset="-122"/>
              </a:endParaRPr>
            </a:p>
          </p:txBody>
        </p:sp>
        <p:sp>
          <p:nvSpPr>
            <p:cNvPr id="21" name="Text Box 37"/>
            <p:cNvSpPr txBox="1">
              <a:spLocks noChangeArrowheads="1"/>
            </p:cNvSpPr>
            <p:nvPr/>
          </p:nvSpPr>
          <p:spPr bwMode="auto">
            <a:xfrm>
              <a:off x="6113693" y="1697104"/>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22" name="Text Box 38"/>
            <p:cNvSpPr txBox="1">
              <a:spLocks noChangeArrowheads="1"/>
            </p:cNvSpPr>
            <p:nvPr/>
          </p:nvSpPr>
          <p:spPr bwMode="auto">
            <a:xfrm>
              <a:off x="2163416" y="1697104"/>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23" name="文本框 22"/>
            <p:cNvSpPr txBox="1"/>
            <p:nvPr/>
          </p:nvSpPr>
          <p:spPr>
            <a:xfrm>
              <a:off x="3932056" y="1518057"/>
              <a:ext cx="1149482"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RTT = 2 s</a:t>
              </a:r>
              <a:endParaRPr lang="zh-CN" altLang="en-US"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155415816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endParaRPr lang="en-US" altLang="zh-CN" dirty="0"/>
          </a:p>
          <a:p>
            <a:endParaRPr lang="en-US" altLang="zh-CN" dirty="0"/>
          </a:p>
          <a:p>
            <a:endParaRPr lang="en-US" altLang="zh-CN" dirty="0"/>
          </a:p>
          <a:p>
            <a:r>
              <a:rPr lang="zh-CN" altLang="en-US" dirty="0"/>
              <a:t>解：</a:t>
            </a:r>
            <a:endParaRPr lang="en-US" altLang="zh-CN" dirty="0"/>
          </a:p>
          <a:p>
            <a:endParaRPr lang="en-US" altLang="zh-CN" dirty="0"/>
          </a:p>
        </p:txBody>
      </p:sp>
      <p:sp>
        <p:nvSpPr>
          <p:cNvPr id="2" name="文本占位符 1"/>
          <p:cNvSpPr>
            <a:spLocks noGrp="1"/>
          </p:cNvSpPr>
          <p:nvPr>
            <p:ph type="body" sz="quarter" idx="11"/>
          </p:nvPr>
        </p:nvSpPr>
        <p:spPr/>
        <p:txBody>
          <a:bodyPr/>
          <a:lstStyle/>
          <a:p>
            <a:r>
              <a:rPr lang="zh-CN" altLang="en-US" dirty="0"/>
              <a:t>分析举例</a:t>
            </a:r>
          </a:p>
        </p:txBody>
      </p:sp>
      <p:grpSp>
        <p:nvGrpSpPr>
          <p:cNvPr id="9" name="组合 8"/>
          <p:cNvGrpSpPr/>
          <p:nvPr/>
        </p:nvGrpSpPr>
        <p:grpSpPr>
          <a:xfrm>
            <a:off x="809892" y="2673889"/>
            <a:ext cx="5537741" cy="738664"/>
            <a:chOff x="940526" y="2682598"/>
            <a:chExt cx="5537741" cy="738664"/>
          </a:xfrm>
        </p:grpSpPr>
        <p:sp>
          <p:nvSpPr>
            <p:cNvPr id="4" name="文本框 3"/>
            <p:cNvSpPr txBox="1"/>
            <p:nvPr/>
          </p:nvSpPr>
          <p:spPr>
            <a:xfrm>
              <a:off x="940526" y="2867264"/>
              <a:ext cx="1422184"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发送时延 </a:t>
              </a:r>
              <a:r>
                <a:rPr lang="en-US" altLang="zh-CN" b="1" dirty="0">
                  <a:latin typeface="微软雅黑" panose="020B0503020204020204" pitchFamily="34" charset="-122"/>
                  <a:ea typeface="微软雅黑" panose="020B0503020204020204" pitchFamily="34" charset="-122"/>
                </a:rPr>
                <a:t>= </a:t>
              </a:r>
              <a:endParaRPr lang="zh-CN" altLang="en-US" b="1" dirty="0">
                <a:latin typeface="微软雅黑" panose="020B0503020204020204" pitchFamily="34" charset="-122"/>
                <a:ea typeface="微软雅黑" panose="020B0503020204020204" pitchFamily="34" charset="-122"/>
              </a:endParaRPr>
            </a:p>
          </p:txBody>
        </p:sp>
        <p:sp>
          <p:nvSpPr>
            <p:cNvPr id="13" name="文本框 12"/>
            <p:cNvSpPr txBox="1"/>
            <p:nvPr/>
          </p:nvSpPr>
          <p:spPr>
            <a:xfrm>
              <a:off x="2360014" y="2682598"/>
              <a:ext cx="110799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数据长度</a:t>
              </a:r>
            </a:p>
          </p:txBody>
        </p:sp>
        <p:sp>
          <p:nvSpPr>
            <p:cNvPr id="14" name="文本框 13"/>
            <p:cNvSpPr txBox="1"/>
            <p:nvPr/>
          </p:nvSpPr>
          <p:spPr>
            <a:xfrm>
              <a:off x="2360014" y="3051930"/>
              <a:ext cx="110799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发送速率</a:t>
              </a:r>
            </a:p>
          </p:txBody>
        </p:sp>
        <p:cxnSp>
          <p:nvCxnSpPr>
            <p:cNvPr id="6" name="直接连接符 5"/>
            <p:cNvCxnSpPr/>
            <p:nvPr/>
          </p:nvCxnSpPr>
          <p:spPr>
            <a:xfrm>
              <a:off x="2266911" y="3051930"/>
              <a:ext cx="1233930" cy="0"/>
            </a:xfrm>
            <a:prstGeom prst="line">
              <a:avLst/>
            </a:prstGeom>
            <a:ln w="19050"/>
          </p:spPr>
          <p:style>
            <a:lnRef idx="1">
              <a:schemeClr val="dk1"/>
            </a:lnRef>
            <a:fillRef idx="0">
              <a:schemeClr val="dk1"/>
            </a:fillRef>
            <a:effectRef idx="0">
              <a:schemeClr val="dk1"/>
            </a:effectRef>
            <a:fontRef idx="minor">
              <a:schemeClr val="tx1"/>
            </a:fontRef>
          </p:style>
        </p:cxnSp>
        <p:sp>
          <p:nvSpPr>
            <p:cNvPr id="23" name="文本框 22"/>
            <p:cNvSpPr txBox="1"/>
            <p:nvPr/>
          </p:nvSpPr>
          <p:spPr>
            <a:xfrm>
              <a:off x="3468010" y="2867264"/>
              <a:ext cx="360996"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4" name="文本框 23"/>
            <p:cNvSpPr txBox="1"/>
            <p:nvPr/>
          </p:nvSpPr>
          <p:spPr>
            <a:xfrm>
              <a:off x="3838954" y="2682598"/>
              <a:ext cx="1522726"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100×2</a:t>
              </a:r>
              <a:r>
                <a:rPr lang="en-US" altLang="zh-CN" b="1" baseline="30000" dirty="0">
                  <a:latin typeface="微软雅黑" panose="020B0503020204020204" pitchFamily="34" charset="-122"/>
                  <a:ea typeface="微软雅黑" panose="020B0503020204020204" pitchFamily="34" charset="-122"/>
                </a:rPr>
                <a:t>20</a:t>
              </a:r>
              <a:r>
                <a:rPr lang="en-US" altLang="zh-CN" b="1" dirty="0">
                  <a:latin typeface="微软雅黑" panose="020B0503020204020204" pitchFamily="34" charset="-122"/>
                  <a:ea typeface="微软雅黑" panose="020B0503020204020204" pitchFamily="34" charset="-122"/>
                </a:rPr>
                <a:t>×8</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3871785" y="3051930"/>
              <a:ext cx="1489895"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100×10</a:t>
              </a:r>
              <a:r>
                <a:rPr lang="en-US" altLang="zh-CN" b="1" baseline="30000" dirty="0">
                  <a:latin typeface="微软雅黑" panose="020B0503020204020204" pitchFamily="34" charset="-122"/>
                  <a:ea typeface="微软雅黑" panose="020B0503020204020204" pitchFamily="34" charset="-122"/>
                </a:rPr>
                <a:t>6</a:t>
              </a:r>
              <a:endParaRPr lang="zh-CN" altLang="en-US" b="1" baseline="30000"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3838953" y="3051930"/>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27" name="文本框 26"/>
            <p:cNvSpPr txBox="1"/>
            <p:nvPr/>
          </p:nvSpPr>
          <p:spPr>
            <a:xfrm>
              <a:off x="5371874" y="2867264"/>
              <a:ext cx="1106393"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 8.39 s</a:t>
              </a:r>
              <a:endParaRPr lang="zh-CN" altLang="en-US" b="1" dirty="0">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809892" y="3532535"/>
            <a:ext cx="7351788" cy="738664"/>
            <a:chOff x="940526" y="3549953"/>
            <a:chExt cx="7351788" cy="738664"/>
          </a:xfrm>
        </p:grpSpPr>
        <p:sp>
          <p:nvSpPr>
            <p:cNvPr id="31" name="文本框 30"/>
            <p:cNvSpPr txBox="1"/>
            <p:nvPr/>
          </p:nvSpPr>
          <p:spPr>
            <a:xfrm>
              <a:off x="940526" y="3734619"/>
              <a:ext cx="1653017"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有效数据率 </a:t>
              </a:r>
              <a:r>
                <a:rPr lang="en-US" altLang="zh-CN" b="1" dirty="0">
                  <a:latin typeface="微软雅黑" panose="020B0503020204020204" pitchFamily="34" charset="-122"/>
                  <a:ea typeface="微软雅黑" panose="020B0503020204020204" pitchFamily="34" charset="-122"/>
                </a:rPr>
                <a:t>= </a:t>
              </a:r>
              <a:endParaRPr lang="zh-CN" altLang="en-US" b="1" dirty="0">
                <a:latin typeface="微软雅黑" panose="020B0503020204020204" pitchFamily="34" charset="-122"/>
                <a:ea typeface="微软雅黑" panose="020B0503020204020204" pitchFamily="34" charset="-122"/>
              </a:endParaRPr>
            </a:p>
          </p:txBody>
        </p:sp>
        <p:sp>
          <p:nvSpPr>
            <p:cNvPr id="32" name="文本框 31"/>
            <p:cNvSpPr txBox="1"/>
            <p:nvPr/>
          </p:nvSpPr>
          <p:spPr>
            <a:xfrm>
              <a:off x="2560318" y="3549953"/>
              <a:ext cx="1811385" cy="369332"/>
            </a:xfrm>
            <a:prstGeom prst="rect">
              <a:avLst/>
            </a:prstGeom>
            <a:noFill/>
          </p:spPr>
          <p:txBody>
            <a:bodyPr wrap="square" rtlCol="0">
              <a:spAutoFit/>
            </a:bodyPr>
            <a:lstStyle/>
            <a:p>
              <a:pPr algn="ctr"/>
              <a:r>
                <a:rPr lang="zh-CN" altLang="en-US" b="1" dirty="0">
                  <a:latin typeface="微软雅黑" panose="020B0503020204020204" pitchFamily="34" charset="-122"/>
                  <a:ea typeface="微软雅黑" panose="020B0503020204020204" pitchFamily="34" charset="-122"/>
                </a:rPr>
                <a:t>数据长度</a:t>
              </a:r>
            </a:p>
          </p:txBody>
        </p:sp>
        <p:sp>
          <p:nvSpPr>
            <p:cNvPr id="33" name="文本框 32"/>
            <p:cNvSpPr txBox="1"/>
            <p:nvPr/>
          </p:nvSpPr>
          <p:spPr>
            <a:xfrm>
              <a:off x="2560319" y="3919285"/>
              <a:ext cx="187243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发送时间 </a:t>
              </a:r>
              <a:r>
                <a:rPr lang="en-US" altLang="zh-CN" b="1" dirty="0">
                  <a:latin typeface="微软雅黑" panose="020B0503020204020204" pitchFamily="34" charset="-122"/>
                  <a:ea typeface="微软雅黑" panose="020B0503020204020204" pitchFamily="34" charset="-122"/>
                </a:rPr>
                <a:t>+ RTT</a:t>
              </a:r>
              <a:endParaRPr lang="zh-CN" altLang="en-US" b="1" dirty="0">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2467216" y="3919285"/>
              <a:ext cx="1965539" cy="0"/>
            </a:xfrm>
            <a:prstGeom prst="line">
              <a:avLst/>
            </a:prstGeom>
            <a:ln w="19050"/>
          </p:spPr>
          <p:style>
            <a:lnRef idx="1">
              <a:schemeClr val="dk1"/>
            </a:lnRef>
            <a:fillRef idx="0">
              <a:schemeClr val="dk1"/>
            </a:fillRef>
            <a:effectRef idx="0">
              <a:schemeClr val="dk1"/>
            </a:effectRef>
            <a:fontRef idx="minor">
              <a:schemeClr val="tx1"/>
            </a:fontRef>
          </p:style>
        </p:cxnSp>
        <p:sp>
          <p:nvSpPr>
            <p:cNvPr id="35" name="文本框 34"/>
            <p:cNvSpPr txBox="1"/>
            <p:nvPr/>
          </p:nvSpPr>
          <p:spPr>
            <a:xfrm>
              <a:off x="4547882" y="3734619"/>
              <a:ext cx="360996"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36" name="文本框 35"/>
            <p:cNvSpPr txBox="1"/>
            <p:nvPr/>
          </p:nvSpPr>
          <p:spPr>
            <a:xfrm>
              <a:off x="4918826" y="3549953"/>
              <a:ext cx="1522726"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100×2</a:t>
              </a:r>
              <a:r>
                <a:rPr lang="en-US" altLang="zh-CN" b="1" baseline="30000" dirty="0">
                  <a:latin typeface="微软雅黑" panose="020B0503020204020204" pitchFamily="34" charset="-122"/>
                  <a:ea typeface="微软雅黑" panose="020B0503020204020204" pitchFamily="34" charset="-122"/>
                </a:rPr>
                <a:t>20</a:t>
              </a:r>
              <a:r>
                <a:rPr lang="en-US" altLang="zh-CN" b="1" dirty="0">
                  <a:latin typeface="微软雅黑" panose="020B0503020204020204" pitchFamily="34" charset="-122"/>
                  <a:ea typeface="微软雅黑" panose="020B0503020204020204" pitchFamily="34" charset="-122"/>
                </a:rPr>
                <a:t>×8</a:t>
              </a:r>
              <a:endParaRPr lang="zh-CN" altLang="en-US" b="1" dirty="0">
                <a:latin typeface="微软雅黑" panose="020B0503020204020204" pitchFamily="34" charset="-122"/>
                <a:ea typeface="微软雅黑" panose="020B0503020204020204" pitchFamily="34" charset="-122"/>
              </a:endParaRPr>
            </a:p>
          </p:txBody>
        </p:sp>
        <p:sp>
          <p:nvSpPr>
            <p:cNvPr id="37" name="文本框 36"/>
            <p:cNvSpPr txBox="1"/>
            <p:nvPr/>
          </p:nvSpPr>
          <p:spPr>
            <a:xfrm>
              <a:off x="4951657" y="3919285"/>
              <a:ext cx="1489895"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8.39 + 2</a:t>
              </a:r>
              <a:endParaRPr lang="zh-CN" altLang="en-US" b="1" baseline="30000" dirty="0">
                <a:latin typeface="微软雅黑" panose="020B0503020204020204" pitchFamily="34" charset="-122"/>
                <a:ea typeface="微软雅黑" panose="020B0503020204020204" pitchFamily="34" charset="-122"/>
              </a:endParaRPr>
            </a:p>
          </p:txBody>
        </p:sp>
        <p:cxnSp>
          <p:nvCxnSpPr>
            <p:cNvPr id="38" name="直接连接符 37"/>
            <p:cNvCxnSpPr/>
            <p:nvPr/>
          </p:nvCxnSpPr>
          <p:spPr>
            <a:xfrm>
              <a:off x="4918825" y="3919285"/>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39" name="文本框 38"/>
            <p:cNvSpPr txBox="1"/>
            <p:nvPr/>
          </p:nvSpPr>
          <p:spPr>
            <a:xfrm>
              <a:off x="6451746" y="3734619"/>
              <a:ext cx="1840568"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 80.7 Mbit/s</a:t>
              </a:r>
              <a:endParaRPr lang="zh-CN" altLang="en-US" b="1" dirty="0">
                <a:latin typeface="微软雅黑" panose="020B0503020204020204" pitchFamily="34" charset="-122"/>
                <a:ea typeface="微软雅黑" panose="020B0503020204020204" pitchFamily="34" charset="-122"/>
              </a:endParaRPr>
            </a:p>
          </p:txBody>
        </p:sp>
      </p:grpSp>
      <p:grpSp>
        <p:nvGrpSpPr>
          <p:cNvPr id="40" name="组合 39"/>
          <p:cNvGrpSpPr/>
          <p:nvPr/>
        </p:nvGrpSpPr>
        <p:grpSpPr>
          <a:xfrm>
            <a:off x="2163416" y="1098586"/>
            <a:ext cx="4747202" cy="895466"/>
            <a:chOff x="2163416" y="1139776"/>
            <a:chExt cx="4747202" cy="895466"/>
          </a:xfrm>
        </p:grpSpPr>
        <p:sp>
          <p:nvSpPr>
            <p:cNvPr id="41" name="椭圆 40"/>
            <p:cNvSpPr/>
            <p:nvPr/>
          </p:nvSpPr>
          <p:spPr>
            <a:xfrm>
              <a:off x="2360014"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椭圆 41"/>
            <p:cNvSpPr/>
            <p:nvPr/>
          </p:nvSpPr>
          <p:spPr>
            <a:xfrm>
              <a:off x="6287580"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3" name="直接连接符 42"/>
            <p:cNvCxnSpPr>
              <a:stCxn id="41" idx="6"/>
              <a:endCxn id="42" idx="2"/>
            </p:cNvCxnSpPr>
            <p:nvPr/>
          </p:nvCxnSpPr>
          <p:spPr>
            <a:xfrm>
              <a:off x="2778022" y="1478330"/>
              <a:ext cx="350955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文本框 43"/>
            <p:cNvSpPr txBox="1"/>
            <p:nvPr/>
          </p:nvSpPr>
          <p:spPr>
            <a:xfrm>
              <a:off x="3932056" y="1139776"/>
              <a:ext cx="1317990"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100 Mbit/s</a:t>
              </a:r>
              <a:endParaRPr lang="zh-CN" altLang="en-US" sz="1600" b="1" dirty="0">
                <a:latin typeface="微软雅黑" panose="020B0503020204020204" pitchFamily="34" charset="-122"/>
                <a:ea typeface="微软雅黑" panose="020B0503020204020204" pitchFamily="34" charset="-122"/>
              </a:endParaRPr>
            </a:p>
          </p:txBody>
        </p:sp>
        <p:sp>
          <p:nvSpPr>
            <p:cNvPr id="45" name="Text Box 37"/>
            <p:cNvSpPr txBox="1">
              <a:spLocks noChangeArrowheads="1"/>
            </p:cNvSpPr>
            <p:nvPr/>
          </p:nvSpPr>
          <p:spPr bwMode="auto">
            <a:xfrm>
              <a:off x="6113693" y="1697104"/>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46" name="Text Box 38"/>
            <p:cNvSpPr txBox="1">
              <a:spLocks noChangeArrowheads="1"/>
            </p:cNvSpPr>
            <p:nvPr/>
          </p:nvSpPr>
          <p:spPr bwMode="auto">
            <a:xfrm>
              <a:off x="2163416" y="1697104"/>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47" name="文本框 46"/>
            <p:cNvSpPr txBox="1"/>
            <p:nvPr/>
          </p:nvSpPr>
          <p:spPr>
            <a:xfrm>
              <a:off x="3932056" y="1518057"/>
              <a:ext cx="1149482"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RTT = 2 s</a:t>
              </a:r>
              <a:endParaRPr lang="zh-CN" altLang="en-US"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16990323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endParaRPr lang="en-US" altLang="zh-CN" dirty="0"/>
          </a:p>
          <a:p>
            <a:endParaRPr lang="en-US" altLang="zh-CN" dirty="0"/>
          </a:p>
          <a:p>
            <a:endParaRPr lang="en-US" altLang="zh-CN" dirty="0"/>
          </a:p>
          <a:p>
            <a:r>
              <a:rPr lang="zh-CN" altLang="en-US" dirty="0"/>
              <a:t>在互联网中，往返时间</a:t>
            </a:r>
            <a:r>
              <a:rPr lang="zh-CN" altLang="en-US" dirty="0">
                <a:solidFill>
                  <a:srgbClr val="C00000"/>
                </a:solidFill>
              </a:rPr>
              <a:t>还包括各中间结点</a:t>
            </a:r>
            <a:r>
              <a:rPr lang="zh-CN" altLang="en-US" dirty="0"/>
              <a:t>的处理时延、排队时延以及转发数据时的发送时延。</a:t>
            </a:r>
          </a:p>
          <a:p>
            <a:r>
              <a:rPr lang="zh-CN" altLang="en-US" dirty="0"/>
              <a:t>当使用卫星通信时，往返时间 </a:t>
            </a:r>
            <a:r>
              <a:rPr lang="en-US" altLang="zh-CN" dirty="0"/>
              <a:t>RTT </a:t>
            </a:r>
            <a:r>
              <a:rPr lang="zh-CN" altLang="en-US" dirty="0"/>
              <a:t>相对较长，此时，</a:t>
            </a:r>
            <a:r>
              <a:rPr lang="en-US" altLang="zh-CN" dirty="0"/>
              <a:t>RTT </a:t>
            </a:r>
            <a:r>
              <a:rPr lang="zh-CN" altLang="en-US" dirty="0"/>
              <a:t>是很重要的一个性能指标。</a:t>
            </a:r>
          </a:p>
          <a:p>
            <a:endParaRPr lang="zh-CN" altLang="en-US" dirty="0"/>
          </a:p>
        </p:txBody>
      </p:sp>
      <p:sp>
        <p:nvSpPr>
          <p:cNvPr id="2" name="文本占位符 1"/>
          <p:cNvSpPr>
            <a:spLocks noGrp="1"/>
          </p:cNvSpPr>
          <p:nvPr>
            <p:ph type="body" sz="quarter" idx="11"/>
          </p:nvPr>
        </p:nvSpPr>
        <p:spPr/>
        <p:txBody>
          <a:bodyPr/>
          <a:lstStyle/>
          <a:p>
            <a:r>
              <a:rPr lang="en-US" altLang="zh-CN" dirty="0"/>
              <a:t>6. </a:t>
            </a:r>
            <a:r>
              <a:rPr lang="zh-CN" altLang="en-US" dirty="0"/>
              <a:t>往返时间 </a:t>
            </a:r>
            <a:r>
              <a:rPr lang="en-US" altLang="zh-CN" dirty="0"/>
              <a:t>RTT (Round-Trip Time)</a:t>
            </a:r>
            <a:endParaRPr lang="zh-CN" altLang="en-US" dirty="0"/>
          </a:p>
        </p:txBody>
      </p:sp>
      <p:grpSp>
        <p:nvGrpSpPr>
          <p:cNvPr id="15" name="组合 14"/>
          <p:cNvGrpSpPr/>
          <p:nvPr/>
        </p:nvGrpSpPr>
        <p:grpSpPr>
          <a:xfrm>
            <a:off x="1597353" y="1252099"/>
            <a:ext cx="6192832" cy="765917"/>
            <a:chOff x="1597353" y="1219186"/>
            <a:chExt cx="6192832" cy="765917"/>
          </a:xfrm>
        </p:grpSpPr>
        <p:sp>
          <p:nvSpPr>
            <p:cNvPr id="5" name="椭圆 4"/>
            <p:cNvSpPr/>
            <p:nvPr/>
          </p:nvSpPr>
          <p:spPr>
            <a:xfrm>
              <a:off x="1793951" y="1219186"/>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nvSpPr>
          <p:spPr>
            <a:xfrm>
              <a:off x="7167147" y="1219186"/>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a:stCxn id="5" idx="6"/>
              <a:endCxn id="6" idx="2"/>
            </p:cNvCxnSpPr>
            <p:nvPr/>
          </p:nvCxnSpPr>
          <p:spPr>
            <a:xfrm>
              <a:off x="2211959" y="1428191"/>
              <a:ext cx="495518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 Box 37"/>
            <p:cNvSpPr txBox="1">
              <a:spLocks noChangeArrowheads="1"/>
            </p:cNvSpPr>
            <p:nvPr/>
          </p:nvSpPr>
          <p:spPr bwMode="auto">
            <a:xfrm>
              <a:off x="6993260" y="1646965"/>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10" name="Text Box 38"/>
            <p:cNvSpPr txBox="1">
              <a:spLocks noChangeArrowheads="1"/>
            </p:cNvSpPr>
            <p:nvPr/>
          </p:nvSpPr>
          <p:spPr bwMode="auto">
            <a:xfrm>
              <a:off x="1597353" y="1646965"/>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12" name="椭圆 11"/>
            <p:cNvSpPr/>
            <p:nvPr/>
          </p:nvSpPr>
          <p:spPr>
            <a:xfrm>
              <a:off x="3265700" y="1271441"/>
              <a:ext cx="304813" cy="304814"/>
            </a:xfrm>
            <a:prstGeom prst="ellipse">
              <a:avLst/>
            </a:prstGeom>
            <a:solidFill>
              <a:srgbClr val="00B05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p:cNvSpPr/>
            <p:nvPr/>
          </p:nvSpPr>
          <p:spPr>
            <a:xfrm>
              <a:off x="4567642" y="1271441"/>
              <a:ext cx="304813" cy="304814"/>
            </a:xfrm>
            <a:prstGeom prst="ellipse">
              <a:avLst/>
            </a:prstGeom>
            <a:solidFill>
              <a:srgbClr val="00B05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p:cNvSpPr/>
            <p:nvPr/>
          </p:nvSpPr>
          <p:spPr>
            <a:xfrm>
              <a:off x="5808556" y="1271441"/>
              <a:ext cx="304813" cy="304814"/>
            </a:xfrm>
            <a:prstGeom prst="ellipse">
              <a:avLst/>
            </a:prstGeom>
            <a:solidFill>
              <a:srgbClr val="00B05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350740659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p:cNvGraphicFramePr/>
          <p:nvPr>
            <p:extLst>
              <p:ext uri="{D42A27DB-BD31-4B8C-83A1-F6EECF244321}">
                <p14:modId xmlns:p14="http://schemas.microsoft.com/office/powerpoint/2010/main" val="2921566290"/>
              </p:ext>
            </p:extLst>
          </p:nvPr>
        </p:nvGraphicFramePr>
        <p:xfrm>
          <a:off x="1663337" y="1051733"/>
          <a:ext cx="6096000" cy="26212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矩形 6"/>
          <p:cNvSpPr/>
          <p:nvPr/>
        </p:nvSpPr>
        <p:spPr>
          <a:xfrm>
            <a:off x="2542902" y="3816799"/>
            <a:ext cx="4336869" cy="400110"/>
          </a:xfrm>
          <a:prstGeom prst="rect">
            <a:avLst/>
          </a:prstGeom>
          <a:solidFill>
            <a:srgbClr val="FFFF99"/>
          </a:solidFill>
          <a:ln>
            <a:solidFill>
              <a:srgbClr val="000066"/>
            </a:solidFill>
          </a:ln>
        </p:spPr>
        <p:style>
          <a:lnRef idx="1">
            <a:schemeClr val="accent5"/>
          </a:lnRef>
          <a:fillRef idx="3">
            <a:schemeClr val="accent5"/>
          </a:fillRef>
          <a:effectRef idx="2">
            <a:schemeClr val="accent5"/>
          </a:effectRef>
          <a:fontRef idx="minor">
            <a:schemeClr val="lt1"/>
          </a:fontRef>
        </p:style>
        <p:txBody>
          <a:bodyPr wrap="square">
            <a:spAutoFit/>
          </a:bodyPr>
          <a:lstStyle/>
          <a:p>
            <a:pPr algn="ctr"/>
            <a:r>
              <a:rPr lang="zh-CN" altLang="en-US" sz="2000" b="1" dirty="0">
                <a:solidFill>
                  <a:srgbClr val="0000CC"/>
                </a:solidFill>
                <a:latin typeface="微软雅黑" panose="020B0503020204020204" pitchFamily="34" charset="-122"/>
                <a:ea typeface="微软雅黑" panose="020B0503020204020204" pitchFamily="34" charset="-122"/>
              </a:rPr>
              <a:t>问题：信道利用率越高越好吗？</a:t>
            </a:r>
          </a:p>
        </p:txBody>
      </p:sp>
      <p:sp>
        <p:nvSpPr>
          <p:cNvPr id="2" name="文本占位符 1"/>
          <p:cNvSpPr>
            <a:spLocks noGrp="1"/>
          </p:cNvSpPr>
          <p:nvPr>
            <p:ph type="body" sz="quarter" idx="10"/>
          </p:nvPr>
        </p:nvSpPr>
        <p:spPr/>
        <p:txBody>
          <a:bodyPr/>
          <a:lstStyle/>
          <a:p>
            <a:r>
              <a:rPr lang="en-US" altLang="zh-CN" dirty="0"/>
              <a:t>7. </a:t>
            </a:r>
            <a:r>
              <a:rPr lang="zh-CN" altLang="en-US" dirty="0"/>
              <a:t>利用率</a:t>
            </a:r>
          </a:p>
        </p:txBody>
      </p:sp>
    </p:spTree>
    <p:extLst>
      <p:ext uri="{BB962C8B-B14F-4D97-AF65-F5344CB8AC3E}">
        <p14:creationId xmlns:p14="http://schemas.microsoft.com/office/powerpoint/2010/main" val="25312172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r>
              <a:rPr lang="zh-CN" altLang="en-US" dirty="0"/>
              <a:t>根据排队论，当某信道的利用率增大时，时延会迅速增加。</a:t>
            </a:r>
          </a:p>
        </p:txBody>
      </p:sp>
      <p:sp>
        <p:nvSpPr>
          <p:cNvPr id="4" name="文本占位符 3"/>
          <p:cNvSpPr>
            <a:spLocks noGrp="1"/>
          </p:cNvSpPr>
          <p:nvPr>
            <p:ph type="body" sz="quarter" idx="11"/>
          </p:nvPr>
        </p:nvSpPr>
        <p:spPr/>
        <p:txBody>
          <a:bodyPr/>
          <a:lstStyle/>
          <a:p>
            <a:r>
              <a:rPr lang="zh-CN" altLang="en-US" dirty="0"/>
              <a:t>时延与网络利用率的关系</a:t>
            </a:r>
          </a:p>
        </p:txBody>
      </p:sp>
      <p:sp>
        <p:nvSpPr>
          <p:cNvPr id="5" name="矩形 5"/>
          <p:cNvSpPr>
            <a:spLocks noChangeArrowheads="1"/>
          </p:cNvSpPr>
          <p:nvPr/>
        </p:nvSpPr>
        <p:spPr bwMode="auto">
          <a:xfrm>
            <a:off x="987288" y="2644395"/>
            <a:ext cx="3088101" cy="1631216"/>
          </a:xfrm>
          <a:prstGeom prst="rect">
            <a:avLst/>
          </a:prstGeom>
          <a:noFill/>
          <a:ln>
            <a:noFill/>
          </a:ln>
        </p:spPr>
        <p:txBody>
          <a:bodyPr wrap="square">
            <a:spAutoFit/>
          </a:bodyPr>
          <a:lstStyle/>
          <a:p>
            <a:pPr>
              <a:lnSpc>
                <a:spcPts val="2400"/>
              </a:lnSpc>
            </a:pPr>
            <a:r>
              <a:rPr lang="zh-CN" altLang="en-US" sz="1600" b="1" dirty="0">
                <a:latin typeface="微软雅黑" pitchFamily="34" charset="-122"/>
                <a:ea typeface="微软雅黑" pitchFamily="34" charset="-122"/>
              </a:rPr>
              <a:t>其中：</a:t>
            </a:r>
            <a:endParaRPr lang="en-US" altLang="zh-CN" sz="1600" b="1" dirty="0">
              <a:latin typeface="微软雅黑" pitchFamily="34" charset="-122"/>
              <a:ea typeface="微软雅黑" pitchFamily="34" charset="-122"/>
            </a:endParaRPr>
          </a:p>
          <a:p>
            <a:pPr>
              <a:lnSpc>
                <a:spcPts val="2400"/>
              </a:lnSpc>
            </a:pPr>
            <a:r>
              <a:rPr lang="en-US" altLang="zh-CN" sz="1600" b="1" dirty="0">
                <a:latin typeface="微软雅黑" pitchFamily="34" charset="-122"/>
                <a:ea typeface="微软雅黑" pitchFamily="34" charset="-122"/>
              </a:rPr>
              <a:t>D</a:t>
            </a:r>
            <a:r>
              <a:rPr lang="en-US" altLang="zh-CN" sz="1600" b="1" baseline="-25000" dirty="0">
                <a:latin typeface="微软雅黑" pitchFamily="34" charset="-122"/>
                <a:ea typeface="微软雅黑" pitchFamily="34" charset="-122"/>
              </a:rPr>
              <a:t>0</a:t>
            </a:r>
            <a:r>
              <a:rPr lang="zh-CN" altLang="en-US" sz="1600" b="1" dirty="0">
                <a:latin typeface="微软雅黑" pitchFamily="34" charset="-122"/>
                <a:ea typeface="微软雅黑" pitchFamily="34" charset="-122"/>
              </a:rPr>
              <a:t>：网络空闲时的时延。</a:t>
            </a:r>
            <a:endParaRPr lang="en-US" altLang="zh-CN" sz="1600" b="1" dirty="0">
              <a:latin typeface="微软雅黑" pitchFamily="34" charset="-122"/>
              <a:ea typeface="微软雅黑" pitchFamily="34" charset="-122"/>
            </a:endParaRPr>
          </a:p>
          <a:p>
            <a:pPr>
              <a:lnSpc>
                <a:spcPts val="2400"/>
              </a:lnSpc>
            </a:pPr>
            <a:r>
              <a:rPr lang="en-US" altLang="zh-CN" sz="1600" b="1" dirty="0">
                <a:latin typeface="微软雅黑" pitchFamily="34" charset="-122"/>
                <a:ea typeface="微软雅黑" pitchFamily="34" charset="-122"/>
              </a:rPr>
              <a:t>D</a:t>
            </a:r>
            <a:r>
              <a:rPr lang="zh-CN" altLang="en-US" sz="1600" b="1" dirty="0">
                <a:latin typeface="微软雅黑" pitchFamily="34" charset="-122"/>
                <a:ea typeface="微软雅黑" pitchFamily="34" charset="-122"/>
              </a:rPr>
              <a:t>：网络在当前的时延。</a:t>
            </a:r>
            <a:endParaRPr lang="en-US" altLang="zh-CN" sz="1600" b="1" dirty="0">
              <a:latin typeface="微软雅黑" pitchFamily="34" charset="-122"/>
              <a:ea typeface="微软雅黑" pitchFamily="34" charset="-122"/>
            </a:endParaRPr>
          </a:p>
          <a:p>
            <a:pPr marL="357188" indent="-357188">
              <a:lnSpc>
                <a:spcPts val="2400"/>
              </a:lnSpc>
            </a:pPr>
            <a:r>
              <a:rPr lang="en-US" altLang="zh-CN" sz="1600" b="1" dirty="0">
                <a:latin typeface="微软雅黑" pitchFamily="34" charset="-122"/>
                <a:ea typeface="微软雅黑" pitchFamily="34" charset="-122"/>
              </a:rPr>
              <a:t>U</a:t>
            </a:r>
            <a:r>
              <a:rPr lang="zh-CN" altLang="en-US" sz="1600" b="1" dirty="0">
                <a:latin typeface="微软雅黑" pitchFamily="34" charset="-122"/>
                <a:ea typeface="微软雅黑" pitchFamily="34" charset="-122"/>
              </a:rPr>
              <a:t>：网络当前的利用率，数值在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之间。</a:t>
            </a:r>
            <a:endParaRPr lang="en-US" altLang="zh-CN" sz="1600" b="1" dirty="0">
              <a:latin typeface="微软雅黑" pitchFamily="34" charset="-122"/>
              <a:ea typeface="微软雅黑" pitchFamily="34" charset="-122"/>
            </a:endParaRPr>
          </a:p>
        </p:txBody>
      </p:sp>
      <p:grpSp>
        <p:nvGrpSpPr>
          <p:cNvPr id="20" name="组合 19"/>
          <p:cNvGrpSpPr/>
          <p:nvPr/>
        </p:nvGrpSpPr>
        <p:grpSpPr>
          <a:xfrm>
            <a:off x="1448819" y="1557064"/>
            <a:ext cx="1611086" cy="894481"/>
            <a:chOff x="2760617" y="1739421"/>
            <a:chExt cx="1611086" cy="894481"/>
          </a:xfrm>
          <a:solidFill>
            <a:srgbClr val="FFCC66"/>
          </a:solidFill>
        </p:grpSpPr>
        <p:sp>
          <p:nvSpPr>
            <p:cNvPr id="19" name="圆角矩形 18"/>
            <p:cNvSpPr/>
            <p:nvPr/>
          </p:nvSpPr>
          <p:spPr>
            <a:xfrm>
              <a:off x="2760617" y="1739421"/>
              <a:ext cx="1611086" cy="894481"/>
            </a:xfrm>
            <a:prstGeom prst="roundRect">
              <a:avLst/>
            </a:prstGeom>
            <a:grpFill/>
          </p:spPr>
          <p:style>
            <a:lnRef idx="1">
              <a:schemeClr val="accent5"/>
            </a:lnRef>
            <a:fillRef idx="2">
              <a:schemeClr val="accent5"/>
            </a:fillRef>
            <a:effectRef idx="1">
              <a:schemeClr val="accent5"/>
            </a:effectRef>
            <a:fontRef idx="minor">
              <a:schemeClr val="dk1"/>
            </a:fontRef>
          </p:style>
          <p:txBody>
            <a:bodyPr rtlCol="0" anchor="ctr"/>
            <a:lstStyle/>
            <a:p>
              <a:pPr algn="ctr"/>
              <a:endParaRPr lang="zh-CN" altLang="en-US" sz="2000"/>
            </a:p>
          </p:txBody>
        </p:sp>
        <p:grpSp>
          <p:nvGrpSpPr>
            <p:cNvPr id="18" name="组合 17"/>
            <p:cNvGrpSpPr/>
            <p:nvPr/>
          </p:nvGrpSpPr>
          <p:grpSpPr>
            <a:xfrm>
              <a:off x="2830280" y="1827192"/>
              <a:ext cx="1419505" cy="769442"/>
              <a:chOff x="801181" y="1895238"/>
              <a:chExt cx="1419505" cy="769442"/>
            </a:xfrm>
            <a:grpFill/>
          </p:grpSpPr>
          <p:sp>
            <p:nvSpPr>
              <p:cNvPr id="8" name="文本框 7"/>
              <p:cNvSpPr txBox="1"/>
              <p:nvPr/>
            </p:nvSpPr>
            <p:spPr>
              <a:xfrm>
                <a:off x="801181" y="2079904"/>
                <a:ext cx="737702" cy="400110"/>
              </a:xfrm>
              <a:prstGeom prst="rect">
                <a:avLst/>
              </a:prstGeom>
              <a:grpFill/>
            </p:spPr>
            <p:txBody>
              <a:bodyPr wrap="none" rtlCol="0">
                <a:spAutoFit/>
              </a:bodyPr>
              <a:lstStyle/>
              <a:p>
                <a:r>
                  <a:rPr lang="en-US" altLang="zh-CN" sz="2000" b="1" dirty="0">
                    <a:latin typeface="微软雅黑" panose="020B0503020204020204" pitchFamily="34" charset="-122"/>
                    <a:ea typeface="微软雅黑" panose="020B0503020204020204" pitchFamily="34" charset="-122"/>
                  </a:rPr>
                  <a:t>D = </a:t>
                </a:r>
                <a:endParaRPr lang="zh-CN" altLang="en-US" sz="2000" b="1" dirty="0">
                  <a:latin typeface="微软雅黑" panose="020B0503020204020204" pitchFamily="34" charset="-122"/>
                  <a:ea typeface="微软雅黑" panose="020B0503020204020204" pitchFamily="34" charset="-122"/>
                </a:endParaRPr>
              </a:p>
            </p:txBody>
          </p:sp>
          <p:sp>
            <p:nvSpPr>
              <p:cNvPr id="9" name="文本框 8"/>
              <p:cNvSpPr txBox="1"/>
              <p:nvPr/>
            </p:nvSpPr>
            <p:spPr>
              <a:xfrm>
                <a:off x="1489152" y="1895238"/>
                <a:ext cx="618323" cy="400110"/>
              </a:xfrm>
              <a:prstGeom prst="rect">
                <a:avLst/>
              </a:prstGeom>
              <a:grpFill/>
            </p:spPr>
            <p:txBody>
              <a:bodyPr wrap="square" rtlCol="0">
                <a:spAutoFit/>
              </a:bodyPr>
              <a:lstStyle/>
              <a:p>
                <a:r>
                  <a:rPr lang="en-US" altLang="zh-CN" sz="2000" b="1" dirty="0">
                    <a:latin typeface="微软雅黑" panose="020B0503020204020204" pitchFamily="34" charset="-122"/>
                    <a:ea typeface="微软雅黑" panose="020B0503020204020204" pitchFamily="34" charset="-122"/>
                  </a:rPr>
                  <a:t>D</a:t>
                </a:r>
                <a:r>
                  <a:rPr lang="en-US" altLang="zh-CN" sz="2000" b="1" baseline="-25000" dirty="0">
                    <a:latin typeface="微软雅黑" panose="020B0503020204020204" pitchFamily="34" charset="-122"/>
                    <a:ea typeface="微软雅黑" panose="020B0503020204020204" pitchFamily="34" charset="-122"/>
                  </a:rPr>
                  <a:t>0</a:t>
                </a:r>
                <a:r>
                  <a:rPr lang="en-US" altLang="zh-CN" sz="2000" b="1" dirty="0">
                    <a:latin typeface="微软雅黑" panose="020B0503020204020204" pitchFamily="34" charset="-122"/>
                    <a:ea typeface="微软雅黑" panose="020B0503020204020204" pitchFamily="34" charset="-122"/>
                  </a:rPr>
                  <a:t> </a:t>
                </a:r>
                <a:endParaRPr lang="zh-CN" altLang="en-US" sz="2000" b="1" dirty="0">
                  <a:latin typeface="微软雅黑" panose="020B0503020204020204" pitchFamily="34" charset="-122"/>
                  <a:ea typeface="微软雅黑" panose="020B0503020204020204" pitchFamily="34" charset="-122"/>
                </a:endParaRPr>
              </a:p>
            </p:txBody>
          </p:sp>
          <p:sp>
            <p:nvSpPr>
              <p:cNvPr id="10" name="文本框 9"/>
              <p:cNvSpPr txBox="1"/>
              <p:nvPr/>
            </p:nvSpPr>
            <p:spPr>
              <a:xfrm>
                <a:off x="1361216" y="2264570"/>
                <a:ext cx="859470" cy="400110"/>
              </a:xfrm>
              <a:prstGeom prst="rect">
                <a:avLst/>
              </a:prstGeom>
              <a:grpFill/>
            </p:spPr>
            <p:txBody>
              <a:bodyPr wrap="square" rtlCol="0">
                <a:spAutoFit/>
              </a:bodyPr>
              <a:lstStyle/>
              <a:p>
                <a:r>
                  <a:rPr lang="en-US" altLang="zh-CN" sz="2000" b="1" dirty="0">
                    <a:latin typeface="微软雅黑" panose="020B0503020204020204" pitchFamily="34" charset="-122"/>
                    <a:ea typeface="微软雅黑" panose="020B0503020204020204" pitchFamily="34" charset="-122"/>
                  </a:rPr>
                  <a:t>1 - U</a:t>
                </a:r>
                <a:endParaRPr lang="zh-CN" altLang="en-US" sz="2000" b="1" dirty="0">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1361215" y="2264570"/>
                <a:ext cx="859471" cy="0"/>
              </a:xfrm>
              <a:prstGeom prst="line">
                <a:avLst/>
              </a:prstGeom>
              <a:grpFill/>
              <a:ln w="19050"/>
            </p:spPr>
            <p:style>
              <a:lnRef idx="1">
                <a:schemeClr val="dk1"/>
              </a:lnRef>
              <a:fillRef idx="0">
                <a:schemeClr val="dk1"/>
              </a:fillRef>
              <a:effectRef idx="0">
                <a:schemeClr val="dk1"/>
              </a:effectRef>
              <a:fontRef idx="minor">
                <a:schemeClr val="tx1"/>
              </a:fontRef>
            </p:style>
          </p:cxnSp>
        </p:grpSp>
      </p:grpSp>
      <p:grpSp>
        <p:nvGrpSpPr>
          <p:cNvPr id="35" name="组合 34"/>
          <p:cNvGrpSpPr/>
          <p:nvPr/>
        </p:nvGrpSpPr>
        <p:grpSpPr>
          <a:xfrm>
            <a:off x="4342338" y="1495850"/>
            <a:ext cx="3986073" cy="2297090"/>
            <a:chOff x="4580707" y="1670485"/>
            <a:chExt cx="3724192" cy="2086103"/>
          </a:xfrm>
        </p:grpSpPr>
        <p:sp>
          <p:nvSpPr>
            <p:cNvPr id="21" name="圆角矩形 20"/>
            <p:cNvSpPr/>
            <p:nvPr/>
          </p:nvSpPr>
          <p:spPr>
            <a:xfrm>
              <a:off x="4580707" y="1670485"/>
              <a:ext cx="3724192" cy="2086103"/>
            </a:xfrm>
            <a:prstGeom prst="roundRect">
              <a:avLst>
                <a:gd name="adj" fmla="val 10067"/>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22" name="组合 4"/>
            <p:cNvGrpSpPr>
              <a:grpSpLocks/>
            </p:cNvGrpSpPr>
            <p:nvPr/>
          </p:nvGrpSpPr>
          <p:grpSpPr bwMode="auto">
            <a:xfrm>
              <a:off x="4695973" y="1783699"/>
              <a:ext cx="3400366" cy="1894737"/>
              <a:chOff x="2135973" y="2446456"/>
              <a:chExt cx="4890755" cy="2671462"/>
            </a:xfrm>
          </p:grpSpPr>
          <p:sp>
            <p:nvSpPr>
              <p:cNvPr id="23" name="Rectangle 4"/>
              <p:cNvSpPr>
                <a:spLocks noChangeArrowheads="1"/>
              </p:cNvSpPr>
              <p:nvPr/>
            </p:nvSpPr>
            <p:spPr bwMode="auto">
              <a:xfrm>
                <a:off x="4631067" y="2641057"/>
                <a:ext cx="921221" cy="2086023"/>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zh-CN" altLang="en-US" sz="1050" b="1">
                  <a:solidFill>
                    <a:srgbClr val="1956B9"/>
                  </a:solidFill>
                  <a:latin typeface="微软雅黑" pitchFamily="34" charset="-122"/>
                  <a:ea typeface="微软雅黑" pitchFamily="34" charset="-122"/>
                </a:endParaRPr>
              </a:p>
            </p:txBody>
          </p:sp>
          <p:sp>
            <p:nvSpPr>
              <p:cNvPr id="24" name="Text Box 5"/>
              <p:cNvSpPr txBox="1">
                <a:spLocks noChangeArrowheads="1"/>
              </p:cNvSpPr>
              <p:nvPr/>
            </p:nvSpPr>
            <p:spPr bwMode="auto">
              <a:xfrm>
                <a:off x="2135973" y="2446456"/>
                <a:ext cx="887931"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rgbClr val="000066"/>
                    </a:solidFill>
                    <a:latin typeface="微软雅黑" pitchFamily="34" charset="-122"/>
                    <a:ea typeface="微软雅黑" pitchFamily="34" charset="-122"/>
                  </a:rPr>
                  <a:t>时延 </a:t>
                </a:r>
                <a:r>
                  <a:rPr lang="en-US" altLang="zh-CN" sz="1200" b="1" i="1" dirty="0">
                    <a:solidFill>
                      <a:srgbClr val="000066"/>
                    </a:solidFill>
                    <a:latin typeface="微软雅黑" pitchFamily="34" charset="-122"/>
                    <a:ea typeface="微软雅黑" pitchFamily="34" charset="-122"/>
                  </a:rPr>
                  <a:t>D</a:t>
                </a:r>
              </a:p>
            </p:txBody>
          </p:sp>
          <p:sp>
            <p:nvSpPr>
              <p:cNvPr id="25" name="Line 6"/>
              <p:cNvSpPr>
                <a:spLocks noChangeShapeType="1"/>
              </p:cNvSpPr>
              <p:nvPr/>
            </p:nvSpPr>
            <p:spPr bwMode="auto">
              <a:xfrm flipV="1">
                <a:off x="3029805" y="2543654"/>
                <a:ext cx="0" cy="2183427"/>
              </a:xfrm>
              <a:prstGeom prst="line">
                <a:avLst/>
              </a:prstGeom>
              <a:noFill/>
              <a:ln w="25400">
                <a:solidFill>
                  <a:srgbClr val="1956B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26" name="Line 7"/>
              <p:cNvSpPr>
                <a:spLocks noChangeShapeType="1"/>
              </p:cNvSpPr>
              <p:nvPr/>
            </p:nvSpPr>
            <p:spPr bwMode="auto">
              <a:xfrm rot="5400000" flipV="1">
                <a:off x="4836015" y="2920871"/>
                <a:ext cx="0" cy="3612419"/>
              </a:xfrm>
              <a:prstGeom prst="line">
                <a:avLst/>
              </a:prstGeom>
              <a:noFill/>
              <a:ln w="25400">
                <a:solidFill>
                  <a:srgbClr val="1956B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27" name="Line 8"/>
              <p:cNvSpPr>
                <a:spLocks noChangeShapeType="1"/>
              </p:cNvSpPr>
              <p:nvPr/>
            </p:nvSpPr>
            <p:spPr bwMode="auto">
              <a:xfrm>
                <a:off x="5552286" y="2568280"/>
                <a:ext cx="0" cy="2158801"/>
              </a:xfrm>
              <a:prstGeom prst="line">
                <a:avLst/>
              </a:prstGeom>
              <a:noFill/>
              <a:ln w="9525">
                <a:solidFill>
                  <a:srgbClr val="CC000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28" name="Arc 9"/>
              <p:cNvSpPr>
                <a:spLocks/>
              </p:cNvSpPr>
              <p:nvPr/>
            </p:nvSpPr>
            <p:spPr bwMode="auto">
              <a:xfrm flipV="1">
                <a:off x="3029804" y="2641057"/>
                <a:ext cx="2510540" cy="1942842"/>
              </a:xfrm>
              <a:custGeom>
                <a:avLst/>
                <a:gdLst>
                  <a:gd name="T0" fmla="*/ 0 w 21600"/>
                  <a:gd name="T1" fmla="*/ 0 h 21612"/>
                  <a:gd name="T2" fmla="*/ 2510540 w 21600"/>
                  <a:gd name="T3" fmla="*/ 1942842 h 21612"/>
                  <a:gd name="T4" fmla="*/ 0 w 21600"/>
                  <a:gd name="T5" fmla="*/ 1941763 h 21612"/>
                  <a:gd name="T6" fmla="*/ 0 60000 65536"/>
                  <a:gd name="T7" fmla="*/ 0 60000 65536"/>
                  <a:gd name="T8" fmla="*/ 0 60000 65536"/>
                </a:gdLst>
                <a:ahLst/>
                <a:cxnLst>
                  <a:cxn ang="T6">
                    <a:pos x="T0" y="T1"/>
                  </a:cxn>
                  <a:cxn ang="T7">
                    <a:pos x="T2" y="T3"/>
                  </a:cxn>
                  <a:cxn ang="T8">
                    <a:pos x="T4" y="T5"/>
                  </a:cxn>
                </a:cxnLst>
                <a:rect l="0" t="0" r="r" b="b"/>
                <a:pathLst>
                  <a:path w="21600" h="21612" fill="none" extrusionOk="0">
                    <a:moveTo>
                      <a:pt x="-1" y="0"/>
                    </a:moveTo>
                    <a:cubicBezTo>
                      <a:pt x="11929" y="0"/>
                      <a:pt x="21600" y="9670"/>
                      <a:pt x="21600" y="21600"/>
                    </a:cubicBezTo>
                    <a:cubicBezTo>
                      <a:pt x="21600" y="21603"/>
                      <a:pt x="21599" y="21607"/>
                      <a:pt x="21599" y="21611"/>
                    </a:cubicBezTo>
                  </a:path>
                  <a:path w="21600" h="21612" stroke="0" extrusionOk="0">
                    <a:moveTo>
                      <a:pt x="-1" y="0"/>
                    </a:moveTo>
                    <a:cubicBezTo>
                      <a:pt x="11929" y="0"/>
                      <a:pt x="21600" y="9670"/>
                      <a:pt x="21600" y="21600"/>
                    </a:cubicBezTo>
                    <a:cubicBezTo>
                      <a:pt x="21600" y="21603"/>
                      <a:pt x="21599" y="21607"/>
                      <a:pt x="21599" y="21611"/>
                    </a:cubicBezTo>
                    <a:lnTo>
                      <a:pt x="0" y="21600"/>
                    </a:lnTo>
                    <a:lnTo>
                      <a:pt x="-1" y="0"/>
                    </a:lnTo>
                    <a:close/>
                  </a:path>
                </a:pathLst>
              </a:custGeom>
              <a:noFill/>
              <a:ln w="381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29" name="Text Box 10"/>
              <p:cNvSpPr txBox="1">
                <a:spLocks noChangeArrowheads="1"/>
              </p:cNvSpPr>
              <p:nvPr/>
            </p:nvSpPr>
            <p:spPr bwMode="auto">
              <a:xfrm>
                <a:off x="5934155" y="4763239"/>
                <a:ext cx="1092573"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a:solidFill>
                      <a:srgbClr val="000066"/>
                    </a:solidFill>
                    <a:latin typeface="微软雅黑" pitchFamily="34" charset="-122"/>
                    <a:ea typeface="微软雅黑" pitchFamily="34" charset="-122"/>
                  </a:rPr>
                  <a:t>利用率 </a:t>
                </a:r>
                <a:r>
                  <a:rPr lang="en-US" altLang="zh-CN" sz="1200" b="1" i="1">
                    <a:solidFill>
                      <a:srgbClr val="000066"/>
                    </a:solidFill>
                    <a:latin typeface="微软雅黑" pitchFamily="34" charset="-122"/>
                    <a:ea typeface="微软雅黑" pitchFamily="34" charset="-122"/>
                  </a:rPr>
                  <a:t>U</a:t>
                </a:r>
              </a:p>
            </p:txBody>
          </p:sp>
          <p:sp>
            <p:nvSpPr>
              <p:cNvPr id="30" name="Text Box 11"/>
              <p:cNvSpPr txBox="1">
                <a:spLocks noChangeArrowheads="1"/>
              </p:cNvSpPr>
              <p:nvPr/>
            </p:nvSpPr>
            <p:spPr bwMode="auto">
              <a:xfrm>
                <a:off x="5400721" y="4719961"/>
                <a:ext cx="375250"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微软雅黑" pitchFamily="34" charset="-122"/>
                    <a:ea typeface="微软雅黑" pitchFamily="34" charset="-122"/>
                  </a:rPr>
                  <a:t>1</a:t>
                </a:r>
                <a:endParaRPr lang="en-US" altLang="zh-CN" sz="1200" b="1" i="1">
                  <a:solidFill>
                    <a:srgbClr val="000066"/>
                  </a:solidFill>
                  <a:latin typeface="微软雅黑" pitchFamily="34" charset="-122"/>
                  <a:ea typeface="微软雅黑" pitchFamily="34" charset="-122"/>
                </a:endParaRPr>
              </a:p>
            </p:txBody>
          </p:sp>
          <p:sp>
            <p:nvSpPr>
              <p:cNvPr id="31" name="Text Box 12"/>
              <p:cNvSpPr txBox="1">
                <a:spLocks noChangeArrowheads="1"/>
              </p:cNvSpPr>
              <p:nvPr/>
            </p:nvSpPr>
            <p:spPr bwMode="auto">
              <a:xfrm>
                <a:off x="2828045" y="4685155"/>
                <a:ext cx="375250"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微软雅黑" pitchFamily="34" charset="-122"/>
                    <a:ea typeface="微软雅黑" pitchFamily="34" charset="-122"/>
                  </a:rPr>
                  <a:t>0</a:t>
                </a:r>
                <a:endParaRPr lang="en-US" altLang="zh-CN" sz="1200" b="1" i="1">
                  <a:solidFill>
                    <a:srgbClr val="000066"/>
                  </a:solidFill>
                  <a:latin typeface="微软雅黑" pitchFamily="34" charset="-122"/>
                  <a:ea typeface="微软雅黑" pitchFamily="34" charset="-122"/>
                </a:endParaRPr>
              </a:p>
            </p:txBody>
          </p:sp>
          <p:sp>
            <p:nvSpPr>
              <p:cNvPr id="32" name="Text Box 13"/>
              <p:cNvSpPr txBox="1">
                <a:spLocks noChangeArrowheads="1"/>
              </p:cNvSpPr>
              <p:nvPr/>
            </p:nvSpPr>
            <p:spPr bwMode="auto">
              <a:xfrm>
                <a:off x="2585254" y="4385342"/>
                <a:ext cx="495881"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i="1">
                    <a:solidFill>
                      <a:srgbClr val="000066"/>
                    </a:solidFill>
                    <a:latin typeface="微软雅黑" pitchFamily="34" charset="-122"/>
                    <a:ea typeface="微软雅黑" pitchFamily="34" charset="-122"/>
                  </a:rPr>
                  <a:t>D</a:t>
                </a:r>
                <a:r>
                  <a:rPr lang="en-US" altLang="zh-CN" sz="1200" b="1" baseline="-25000">
                    <a:solidFill>
                      <a:srgbClr val="000066"/>
                    </a:solidFill>
                    <a:latin typeface="微软雅黑" pitchFamily="34" charset="-122"/>
                    <a:ea typeface="微软雅黑" pitchFamily="34" charset="-122"/>
                  </a:rPr>
                  <a:t>0</a:t>
                </a:r>
                <a:endParaRPr lang="en-US" altLang="zh-CN" sz="1200" b="1" i="1" baseline="-25000">
                  <a:solidFill>
                    <a:srgbClr val="000066"/>
                  </a:solidFill>
                  <a:latin typeface="微软雅黑" pitchFamily="34" charset="-122"/>
                  <a:ea typeface="微软雅黑" pitchFamily="34" charset="-122"/>
                </a:endParaRPr>
              </a:p>
            </p:txBody>
          </p:sp>
          <p:sp>
            <p:nvSpPr>
              <p:cNvPr id="33" name="Text Box 14"/>
              <p:cNvSpPr txBox="1">
                <a:spLocks noChangeArrowheads="1"/>
              </p:cNvSpPr>
              <p:nvPr/>
            </p:nvSpPr>
            <p:spPr bwMode="auto">
              <a:xfrm>
                <a:off x="4656119" y="2647003"/>
                <a:ext cx="704682" cy="816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chemeClr val="bg1"/>
                    </a:solidFill>
                    <a:latin typeface="微软雅黑" pitchFamily="34" charset="-122"/>
                    <a:ea typeface="微软雅黑" pitchFamily="34" charset="-122"/>
                  </a:rPr>
                  <a:t>时延急剧增大</a:t>
                </a:r>
                <a:endParaRPr lang="zh-CN" altLang="en-US" sz="1200" b="1" i="1" dirty="0">
                  <a:solidFill>
                    <a:schemeClr val="bg1"/>
                  </a:solidFill>
                  <a:latin typeface="微软雅黑" pitchFamily="34" charset="-122"/>
                  <a:ea typeface="微软雅黑" pitchFamily="34" charset="-122"/>
                </a:endParaRPr>
              </a:p>
            </p:txBody>
          </p:sp>
        </p:grpSp>
      </p:grpSp>
      <p:sp>
        <p:nvSpPr>
          <p:cNvPr id="34" name="矩形 16"/>
          <p:cNvSpPr>
            <a:spLocks noChangeArrowheads="1"/>
          </p:cNvSpPr>
          <p:nvPr/>
        </p:nvSpPr>
        <p:spPr bwMode="auto">
          <a:xfrm>
            <a:off x="4461804" y="3792939"/>
            <a:ext cx="3796939"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400"/>
              </a:lnSpc>
            </a:pPr>
            <a:r>
              <a:rPr lang="zh-CN" altLang="en-US" sz="1600" b="1" dirty="0">
                <a:latin typeface="微软雅黑" pitchFamily="34" charset="-122"/>
                <a:ea typeface="微软雅黑" pitchFamily="34" charset="-122"/>
              </a:rPr>
              <a:t>当信道的利用率增大时，</a:t>
            </a:r>
            <a:endParaRPr lang="en-US" altLang="zh-CN" sz="1600" b="1" dirty="0">
              <a:latin typeface="微软雅黑" pitchFamily="34" charset="-122"/>
              <a:ea typeface="微软雅黑" pitchFamily="34" charset="-122"/>
            </a:endParaRPr>
          </a:p>
          <a:p>
            <a:pPr algn="ctr">
              <a:lnSpc>
                <a:spcPts val="2400"/>
              </a:lnSpc>
            </a:pPr>
            <a:r>
              <a:rPr lang="zh-CN" altLang="en-US" sz="1600" b="1" dirty="0">
                <a:latin typeface="微软雅黑" pitchFamily="34" charset="-122"/>
                <a:ea typeface="微软雅黑" pitchFamily="34" charset="-122"/>
              </a:rPr>
              <a:t>该信道引起的时延迅速增加。</a:t>
            </a:r>
          </a:p>
        </p:txBody>
      </p:sp>
    </p:spTree>
    <p:extLst>
      <p:ext uri="{BB962C8B-B14F-4D97-AF65-F5344CB8AC3E}">
        <p14:creationId xmlns:p14="http://schemas.microsoft.com/office/powerpoint/2010/main" val="15950974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0"/>
          </p:nvPr>
        </p:nvSpPr>
        <p:spPr/>
        <p:txBody>
          <a:bodyPr/>
          <a:lstStyle/>
          <a:p>
            <a:r>
              <a:rPr lang="en-US" altLang="zh-CN" dirty="0"/>
              <a:t>1.6.2  </a:t>
            </a:r>
            <a:r>
              <a:rPr lang="zh-CN" altLang="en-US" dirty="0"/>
              <a:t>计算机网络的非性能特征</a:t>
            </a:r>
          </a:p>
        </p:txBody>
      </p:sp>
      <p:graphicFrame>
        <p:nvGraphicFramePr>
          <p:cNvPr id="5" name="图示 4"/>
          <p:cNvGraphicFramePr/>
          <p:nvPr>
            <p:extLst>
              <p:ext uri="{D42A27DB-BD31-4B8C-83A1-F6EECF244321}">
                <p14:modId xmlns:p14="http://schemas.microsoft.com/office/powerpoint/2010/main" val="2490804546"/>
              </p:ext>
            </p:extLst>
          </p:nvPr>
        </p:nvGraphicFramePr>
        <p:xfrm>
          <a:off x="141512" y="1184365"/>
          <a:ext cx="6792688" cy="31176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矩形 5"/>
          <p:cNvSpPr/>
          <p:nvPr/>
        </p:nvSpPr>
        <p:spPr>
          <a:xfrm>
            <a:off x="5878162" y="2178862"/>
            <a:ext cx="2294793" cy="707886"/>
          </a:xfrm>
          <a:prstGeom prst="rect">
            <a:avLst/>
          </a:prstGeom>
          <a:solidFill>
            <a:srgbClr val="FFFF99"/>
          </a:solidFill>
        </p:spPr>
        <p:style>
          <a:lnRef idx="1">
            <a:schemeClr val="accent5"/>
          </a:lnRef>
          <a:fillRef idx="2">
            <a:schemeClr val="accent5"/>
          </a:fillRef>
          <a:effectRef idx="1">
            <a:schemeClr val="accent5"/>
          </a:effectRef>
          <a:fontRef idx="minor">
            <a:schemeClr val="dk1"/>
          </a:fontRef>
        </p:style>
        <p:txBody>
          <a:bodyPr vert="horz" wrap="square" anchor="ctr" anchorCtr="0">
            <a:spAutoFit/>
          </a:bodyPr>
          <a:lstStyle/>
          <a:p>
            <a:pPr>
              <a:lnSpc>
                <a:spcPts val="2400"/>
              </a:lnSpc>
            </a:pPr>
            <a:r>
              <a:rPr lang="zh-CN" altLang="en-US" b="1" dirty="0">
                <a:solidFill>
                  <a:schemeClr val="tx1"/>
                </a:solidFill>
                <a:latin typeface="微软雅黑" panose="020B0503020204020204" pitchFamily="34" charset="-122"/>
                <a:ea typeface="微软雅黑" panose="020B0503020204020204" pitchFamily="34" charset="-122"/>
              </a:rPr>
              <a:t>这些非性能特征与性能指标有很大的关系。</a:t>
            </a:r>
          </a:p>
        </p:txBody>
      </p:sp>
    </p:spTree>
    <p:extLst>
      <p:ext uri="{BB962C8B-B14F-4D97-AF65-F5344CB8AC3E}">
        <p14:creationId xmlns:p14="http://schemas.microsoft.com/office/powerpoint/2010/main" val="25184075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8900" y="2925763"/>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panose="02010600030101010101" pitchFamily="2" charset="-122"/>
              <a:ea typeface="+mn-ea"/>
            </a:endParaRPr>
          </a:p>
        </p:txBody>
      </p:sp>
      <p:sp>
        <p:nvSpPr>
          <p:cNvPr id="10" name="Rectangle 11"/>
          <p:cNvSpPr>
            <a:spLocks noChangeArrowheads="1"/>
          </p:cNvSpPr>
          <p:nvPr/>
        </p:nvSpPr>
        <p:spPr bwMode="auto">
          <a:xfrm>
            <a:off x="2628900" y="3543300"/>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宋体" panose="02010600030101010101" pitchFamily="2" charset="-122"/>
              <a:ea typeface="+mn-ea"/>
            </a:endParaRPr>
          </a:p>
        </p:txBody>
      </p:sp>
      <p:sp>
        <p:nvSpPr>
          <p:cNvPr id="2" name="Rectangle 9"/>
          <p:cNvSpPr>
            <a:spLocks noChangeArrowheads="1"/>
          </p:cNvSpPr>
          <p:nvPr/>
        </p:nvSpPr>
        <p:spPr bwMode="auto">
          <a:xfrm>
            <a:off x="2628900" y="1108075"/>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panose="02010600030101010101" pitchFamily="2" charset="-122"/>
              <a:ea typeface="+mn-ea"/>
            </a:endParaRPr>
          </a:p>
        </p:txBody>
      </p:sp>
      <p:sp>
        <p:nvSpPr>
          <p:cNvPr id="3" name="Rectangle 10"/>
          <p:cNvSpPr>
            <a:spLocks noChangeArrowheads="1"/>
          </p:cNvSpPr>
          <p:nvPr/>
        </p:nvSpPr>
        <p:spPr bwMode="auto">
          <a:xfrm>
            <a:off x="2628900" y="1714500"/>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panose="02010600030101010101" pitchFamily="2" charset="-122"/>
              <a:ea typeface="+mn-ea"/>
            </a:endParaRPr>
          </a:p>
        </p:txBody>
      </p:sp>
      <p:sp>
        <p:nvSpPr>
          <p:cNvPr id="4" name="Rectangle 11"/>
          <p:cNvSpPr>
            <a:spLocks noChangeArrowheads="1"/>
          </p:cNvSpPr>
          <p:nvPr/>
        </p:nvSpPr>
        <p:spPr bwMode="auto">
          <a:xfrm>
            <a:off x="2628900" y="2332038"/>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宋体" panose="02010600030101010101" pitchFamily="2" charset="-122"/>
              <a:ea typeface="+mn-ea"/>
            </a:endParaRPr>
          </a:p>
        </p:txBody>
      </p:sp>
      <p:sp>
        <p:nvSpPr>
          <p:cNvPr id="116743" name="Line 16"/>
          <p:cNvSpPr>
            <a:spLocks noChangeShapeType="1"/>
          </p:cNvSpPr>
          <p:nvPr/>
        </p:nvSpPr>
        <p:spPr bwMode="auto">
          <a:xfrm>
            <a:off x="3636963" y="1036638"/>
            <a:ext cx="0" cy="2898775"/>
          </a:xfrm>
          <a:prstGeom prst="line">
            <a:avLst/>
          </a:prstGeom>
          <a:noFill/>
          <a:ln w="28575" algn="ctr">
            <a:solidFill>
              <a:srgbClr val="FFFFFF"/>
            </a:solidFill>
            <a:round/>
          </a:ln>
          <a:extLst>
            <a:ext uri="{909E8E84-426E-40DD-AFC4-6F175D3DCCD1}">
              <a14:hiddenFill xmlns:a14="http://schemas.microsoft.com/office/drawing/2010/main">
                <a:noFill/>
              </a14:hiddenFill>
            </a:ext>
          </a:extLst>
        </p:spPr>
        <p:txBody>
          <a:bodyPr/>
          <a:lstStyle/>
          <a:p>
            <a:endParaRPr lang="zh-CN" altLang="en-US"/>
          </a:p>
        </p:txBody>
      </p:sp>
      <p:sp>
        <p:nvSpPr>
          <p:cNvPr id="116744" name="Rectangle 8"/>
          <p:cNvSpPr>
            <a:spLocks noChangeArrowheads="1"/>
          </p:cNvSpPr>
          <p:nvPr/>
        </p:nvSpPr>
        <p:spPr bwMode="auto">
          <a:xfrm>
            <a:off x="2700338" y="1073150"/>
            <a:ext cx="5472112"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dirty="0">
                <a:solidFill>
                  <a:schemeClr val="bg1"/>
                </a:solidFill>
                <a:latin typeface="微软雅黑" panose="020B0503020204020204" pitchFamily="34" charset="-122"/>
                <a:ea typeface="微软雅黑" panose="020B0503020204020204" pitchFamily="34" charset="-122"/>
              </a:rPr>
              <a:t>1.7.1                     </a:t>
            </a:r>
            <a:r>
              <a:rPr lang="zh-CN" altLang="zh-CN" sz="2000" b="1" dirty="0">
                <a:solidFill>
                  <a:schemeClr val="bg1"/>
                </a:solidFill>
                <a:latin typeface="微软雅黑" panose="020B0503020204020204" pitchFamily="34" charset="-122"/>
                <a:ea typeface="微软雅黑" panose="020B0503020204020204" pitchFamily="34" charset="-122"/>
              </a:rPr>
              <a:t>计算机网络体系结构的形成</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zh-CN"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1.7.2                                     </a:t>
            </a:r>
            <a:r>
              <a:rPr lang="zh-CN" altLang="zh-CN" sz="2000" b="1" dirty="0">
                <a:solidFill>
                  <a:schemeClr val="bg1"/>
                </a:solidFill>
                <a:latin typeface="微软雅黑" panose="020B0503020204020204" pitchFamily="34" charset="-122"/>
                <a:ea typeface="微软雅黑" panose="020B0503020204020204" pitchFamily="34" charset="-122"/>
              </a:rPr>
              <a:t>协议与划分层次</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en-US"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1.7.3                        </a:t>
            </a:r>
            <a:r>
              <a:rPr lang="zh-CN" altLang="zh-CN" sz="2000" b="1" dirty="0">
                <a:solidFill>
                  <a:schemeClr val="bg1"/>
                </a:solidFill>
                <a:latin typeface="微软雅黑" panose="020B0503020204020204" pitchFamily="34" charset="-122"/>
                <a:ea typeface="微软雅黑" panose="020B0503020204020204" pitchFamily="34" charset="-122"/>
              </a:rPr>
              <a:t>具有五层协议的体系结构</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en-US"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1.7.4              </a:t>
            </a:r>
            <a:r>
              <a:rPr lang="zh-CN" altLang="zh-CN" sz="2000" b="1" dirty="0">
                <a:solidFill>
                  <a:schemeClr val="bg1"/>
                </a:solidFill>
                <a:latin typeface="微软雅黑" panose="020B0503020204020204" pitchFamily="34" charset="-122"/>
                <a:ea typeface="微软雅黑" panose="020B0503020204020204" pitchFamily="34" charset="-122"/>
              </a:rPr>
              <a:t>实体、协议、服务和服务访问点</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en-US"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1.7.5                                TCP/IP </a:t>
            </a:r>
            <a:r>
              <a:rPr lang="zh-CN" altLang="zh-CN" sz="2000" b="1" dirty="0">
                <a:solidFill>
                  <a:schemeClr val="bg1"/>
                </a:solidFill>
                <a:latin typeface="微软雅黑" panose="020B0503020204020204" pitchFamily="34" charset="-122"/>
                <a:ea typeface="微软雅黑" panose="020B0503020204020204" pitchFamily="34" charset="-122"/>
              </a:rPr>
              <a:t>的体系结构</a:t>
            </a:r>
          </a:p>
        </p:txBody>
      </p:sp>
      <p:sp>
        <p:nvSpPr>
          <p:cNvPr id="7" name="Rectangle 27"/>
          <p:cNvSpPr>
            <a:spLocks noChangeArrowheads="1"/>
          </p:cNvSpPr>
          <p:nvPr/>
        </p:nvSpPr>
        <p:spPr bwMode="auto">
          <a:xfrm>
            <a:off x="639730" y="110822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panose="02010600030101010101" pitchFamily="2" charset="-122"/>
              <a:ea typeface="+mn-ea"/>
            </a:endParaRPr>
          </a:p>
        </p:txBody>
      </p:sp>
      <p:sp>
        <p:nvSpPr>
          <p:cNvPr id="116748" name="Rectangle 29"/>
          <p:cNvSpPr>
            <a:spLocks noChangeArrowheads="1"/>
          </p:cNvSpPr>
          <p:nvPr/>
        </p:nvSpPr>
        <p:spPr bwMode="auto">
          <a:xfrm>
            <a:off x="649288" y="1203325"/>
            <a:ext cx="1627187" cy="1016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rgbClr val="FFFF00"/>
                </a:solidFill>
                <a:latin typeface="微软雅黑" panose="020B0503020204020204" pitchFamily="34" charset="-122"/>
                <a:ea typeface="微软雅黑" panose="020B0503020204020204" pitchFamily="34" charset="-122"/>
              </a:rPr>
              <a:t>1.7</a:t>
            </a:r>
          </a:p>
          <a:p>
            <a:r>
              <a:rPr lang="zh-CN" altLang="zh-CN" sz="2000" b="1" dirty="0">
                <a:solidFill>
                  <a:schemeClr val="bg1"/>
                </a:solidFill>
                <a:latin typeface="微软雅黑" panose="020B0503020204020204" pitchFamily="34" charset="-122"/>
                <a:ea typeface="微软雅黑" panose="020B0503020204020204" pitchFamily="34" charset="-122"/>
              </a:rPr>
              <a:t>计算机网络体系结构</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en-US" altLang="zh-CN" dirty="0"/>
              <a:t>1.7.1  </a:t>
            </a:r>
            <a:r>
              <a:rPr lang="zh-CN" altLang="zh-CN" dirty="0"/>
              <a:t>计算机网络体系结构的形成</a:t>
            </a:r>
            <a:endParaRPr lang="zh-CN" altLang="en-US" dirty="0"/>
          </a:p>
        </p:txBody>
      </p:sp>
      <p:sp>
        <p:nvSpPr>
          <p:cNvPr id="6" name="Line 1453"/>
          <p:cNvSpPr>
            <a:spLocks noChangeShapeType="1"/>
          </p:cNvSpPr>
          <p:nvPr/>
        </p:nvSpPr>
        <p:spPr bwMode="auto">
          <a:xfrm flipH="1">
            <a:off x="1069517" y="2980716"/>
            <a:ext cx="1381272"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5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3008"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 name="Line 1453"/>
          <p:cNvSpPr>
            <a:spLocks noChangeShapeType="1"/>
          </p:cNvSpPr>
          <p:nvPr/>
        </p:nvSpPr>
        <p:spPr bwMode="auto">
          <a:xfrm flipH="1">
            <a:off x="7257944" y="2980716"/>
            <a:ext cx="907434"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03253"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组合 4"/>
          <p:cNvGrpSpPr/>
          <p:nvPr/>
        </p:nvGrpSpPr>
        <p:grpSpPr>
          <a:xfrm>
            <a:off x="1858607" y="1555624"/>
            <a:ext cx="5964008" cy="3126378"/>
            <a:chOff x="2002985" y="1193073"/>
            <a:chExt cx="5964008" cy="3370217"/>
          </a:xfrm>
        </p:grpSpPr>
        <p:grpSp>
          <p:nvGrpSpPr>
            <p:cNvPr id="4" name="组合 3"/>
            <p:cNvGrpSpPr/>
            <p:nvPr/>
          </p:nvGrpSpPr>
          <p:grpSpPr>
            <a:xfrm>
              <a:off x="2002985" y="1193073"/>
              <a:ext cx="5964008" cy="3370217"/>
              <a:chOff x="2002985" y="1193073"/>
              <a:chExt cx="5964008" cy="3370217"/>
            </a:xfrm>
          </p:grpSpPr>
          <p:sp>
            <p:nvSpPr>
              <p:cNvPr id="152" name="Oval 1507"/>
              <p:cNvSpPr>
                <a:spLocks noChangeArrowheads="1"/>
              </p:cNvSpPr>
              <p:nvPr/>
            </p:nvSpPr>
            <p:spPr bwMode="auto">
              <a:xfrm rot="21341795">
                <a:off x="5839397" y="2482362"/>
                <a:ext cx="2127596" cy="1867215"/>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3" name="Oval 1508"/>
              <p:cNvSpPr>
                <a:spLocks noChangeArrowheads="1"/>
              </p:cNvSpPr>
              <p:nvPr/>
            </p:nvSpPr>
            <p:spPr bwMode="auto">
              <a:xfrm rot="21341795">
                <a:off x="2002985" y="2096229"/>
                <a:ext cx="1967142" cy="1681512"/>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4" name="Oval 1509"/>
              <p:cNvSpPr>
                <a:spLocks noChangeArrowheads="1"/>
              </p:cNvSpPr>
              <p:nvPr/>
            </p:nvSpPr>
            <p:spPr bwMode="auto">
              <a:xfrm rot="21341795">
                <a:off x="5449660" y="1367840"/>
                <a:ext cx="2295437" cy="1886844"/>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5" name="Oval 1510"/>
              <p:cNvSpPr>
                <a:spLocks noChangeArrowheads="1"/>
              </p:cNvSpPr>
              <p:nvPr/>
            </p:nvSpPr>
            <p:spPr bwMode="auto">
              <a:xfrm rot="21341795">
                <a:off x="4391764" y="2851426"/>
                <a:ext cx="2298063" cy="1711864"/>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6" name="Oval 1511"/>
              <p:cNvSpPr>
                <a:spLocks noChangeArrowheads="1"/>
              </p:cNvSpPr>
              <p:nvPr/>
            </p:nvSpPr>
            <p:spPr bwMode="auto">
              <a:xfrm rot="21341795">
                <a:off x="2405455" y="2831144"/>
                <a:ext cx="2295437" cy="1622830"/>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7" name="Oval 1512"/>
              <p:cNvSpPr>
                <a:spLocks noChangeArrowheads="1"/>
              </p:cNvSpPr>
              <p:nvPr/>
            </p:nvSpPr>
            <p:spPr bwMode="auto">
              <a:xfrm rot="21341795">
                <a:off x="4041542" y="1193073"/>
                <a:ext cx="2256042" cy="1677465"/>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8" name="Oval 1513"/>
              <p:cNvSpPr>
                <a:spLocks noChangeArrowheads="1"/>
              </p:cNvSpPr>
              <p:nvPr/>
            </p:nvSpPr>
            <p:spPr bwMode="auto">
              <a:xfrm rot="21341795">
                <a:off x="2366784" y="1286239"/>
                <a:ext cx="2256042" cy="1616760"/>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1" name="Oval 1514"/>
              <p:cNvSpPr>
                <a:spLocks noChangeArrowheads="1"/>
              </p:cNvSpPr>
              <p:nvPr/>
            </p:nvSpPr>
            <p:spPr bwMode="auto">
              <a:xfrm rot="21341795">
                <a:off x="2175632" y="1600537"/>
                <a:ext cx="5289099" cy="2415001"/>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63" name="文本框 162"/>
            <p:cNvSpPr txBox="1"/>
            <p:nvPr/>
          </p:nvSpPr>
          <p:spPr>
            <a:xfrm>
              <a:off x="2566179" y="1538206"/>
              <a:ext cx="5035719" cy="2391809"/>
            </a:xfrm>
            <a:prstGeom prst="rect">
              <a:avLst/>
            </a:prstGeom>
            <a:noFill/>
            <a:ln>
              <a:noFill/>
            </a:ln>
          </p:spPr>
          <p:txBody>
            <a:bodyPr wrap="square" rtlCol="0">
              <a:spAutoFit/>
            </a:bodyPr>
            <a:lstStyle/>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(1) </a:t>
              </a:r>
              <a:r>
                <a:rPr lang="zh-CN" altLang="en-US" sz="1600" b="1" dirty="0">
                  <a:solidFill>
                    <a:srgbClr val="000066"/>
                  </a:solidFill>
                  <a:latin typeface="微软雅黑" panose="020B0503020204020204" pitchFamily="34" charset="-122"/>
                  <a:ea typeface="微软雅黑" panose="020B0503020204020204" pitchFamily="34" charset="-122"/>
                </a:rPr>
                <a:t>必须有一条传送数据的通路。</a:t>
              </a:r>
              <a:endParaRPr lang="en-US" altLang="zh-CN" sz="1600" b="1" dirty="0">
                <a:solidFill>
                  <a:srgbClr val="000066"/>
                </a:solidFill>
                <a:latin typeface="微软雅黑" panose="020B0503020204020204" pitchFamily="34" charset="-122"/>
                <a:ea typeface="微软雅黑" panose="020B0503020204020204" pitchFamily="34" charset="-122"/>
              </a:endParaRP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(2) </a:t>
              </a:r>
              <a:r>
                <a:rPr lang="zh-CN" altLang="en-US" sz="1600" b="1" dirty="0">
                  <a:solidFill>
                    <a:srgbClr val="000066"/>
                  </a:solidFill>
                  <a:latin typeface="微软雅黑" panose="020B0503020204020204" pitchFamily="34" charset="-122"/>
                  <a:ea typeface="微软雅黑" panose="020B0503020204020204" pitchFamily="34" charset="-122"/>
                </a:rPr>
                <a:t>发起方必须激活通路。</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(3) </a:t>
              </a:r>
              <a:r>
                <a:rPr lang="zh-CN" altLang="en-US" sz="1600" b="1" dirty="0">
                  <a:solidFill>
                    <a:srgbClr val="000066"/>
                  </a:solidFill>
                  <a:latin typeface="微软雅黑" panose="020B0503020204020204" pitchFamily="34" charset="-122"/>
                  <a:ea typeface="微软雅黑" panose="020B0503020204020204" pitchFamily="34" charset="-122"/>
                </a:rPr>
                <a:t>要告诉网络如何识别接收方。</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(4) </a:t>
              </a:r>
              <a:r>
                <a:rPr lang="zh-CN" altLang="en-US" sz="1600" b="1" dirty="0">
                  <a:solidFill>
                    <a:srgbClr val="000066"/>
                  </a:solidFill>
                  <a:latin typeface="微软雅黑" panose="020B0503020204020204" pitchFamily="34" charset="-122"/>
                  <a:ea typeface="微软雅黑" panose="020B0503020204020204" pitchFamily="34" charset="-122"/>
                </a:rPr>
                <a:t>发起方要清楚对方是否已开机，且与网络连接正常。</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(5) </a:t>
              </a:r>
              <a:r>
                <a:rPr lang="zh-CN" altLang="en-US" sz="1600" b="1" dirty="0">
                  <a:solidFill>
                    <a:srgbClr val="000066"/>
                  </a:solidFill>
                  <a:latin typeface="微软雅黑" panose="020B0503020204020204" pitchFamily="34" charset="-122"/>
                  <a:ea typeface="微软雅黑" panose="020B0503020204020204" pitchFamily="34" charset="-122"/>
                </a:rPr>
                <a:t>发起方要清楚对方是否准备好接收和存储文件。</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(6) </a:t>
              </a:r>
              <a:r>
                <a:rPr lang="zh-CN" altLang="en-US" sz="1600" b="1" dirty="0">
                  <a:solidFill>
                    <a:srgbClr val="000066"/>
                  </a:solidFill>
                  <a:latin typeface="微软雅黑" panose="020B0503020204020204" pitchFamily="34" charset="-122"/>
                  <a:ea typeface="微软雅黑" panose="020B0503020204020204" pitchFamily="34" charset="-122"/>
                </a:rPr>
                <a:t>若文件格式不兼容，要完成格式的转换。</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(7) </a:t>
              </a:r>
              <a:r>
                <a:rPr lang="zh-CN" altLang="en-US" sz="1600" b="1" dirty="0">
                  <a:solidFill>
                    <a:srgbClr val="000066"/>
                  </a:solidFill>
                  <a:latin typeface="微软雅黑" panose="020B0503020204020204" pitchFamily="34" charset="-122"/>
                  <a:ea typeface="微软雅黑" panose="020B0503020204020204" pitchFamily="34" charset="-122"/>
                </a:rPr>
                <a:t>要处理各种差错和意外事故，保证收到正确的文件。</a:t>
              </a:r>
            </a:p>
          </p:txBody>
        </p:sp>
      </p:grpSp>
      <p:sp>
        <p:nvSpPr>
          <p:cNvPr id="165" name="矩形 164"/>
          <p:cNvSpPr/>
          <p:nvPr/>
        </p:nvSpPr>
        <p:spPr>
          <a:xfrm>
            <a:off x="510870" y="1223188"/>
            <a:ext cx="2097536" cy="646331"/>
          </a:xfrm>
          <a:prstGeom prst="rect">
            <a:avLst/>
          </a:prstGeom>
          <a:ln w="19050">
            <a:solidFill>
              <a:srgbClr val="C00000"/>
            </a:solidFill>
          </a:ln>
        </p:spPr>
        <p:style>
          <a:lnRef idx="2">
            <a:schemeClr val="accent1"/>
          </a:lnRef>
          <a:fillRef idx="1">
            <a:schemeClr val="lt1"/>
          </a:fillRef>
          <a:effectRef idx="0">
            <a:schemeClr val="accent1"/>
          </a:effectRef>
          <a:fontRef idx="minor">
            <a:schemeClr val="dk1"/>
          </a:fontRef>
        </p:style>
        <p:txBody>
          <a:bodyPr wrap="square">
            <a:spAutoFit/>
          </a:bodyPr>
          <a:lstStyle/>
          <a:p>
            <a:r>
              <a:rPr lang="zh-CN" altLang="zh-CN" b="1" kern="100" dirty="0">
                <a:latin typeface="微软雅黑" panose="020B0503020204020204" pitchFamily="34" charset="-122"/>
                <a:ea typeface="微软雅黑" panose="020B0503020204020204" pitchFamily="34" charset="-122"/>
                <a:cs typeface="Times New Roman" panose="02020603050405020304" pitchFamily="18" charset="0"/>
              </a:rPr>
              <a:t>计算机网络是</a:t>
            </a:r>
            <a:r>
              <a:rPr lang="zh-CN" altLang="en-US" b="1" kern="100" dirty="0">
                <a:latin typeface="微软雅黑" panose="020B0503020204020204" pitchFamily="34" charset="-122"/>
                <a:ea typeface="微软雅黑" panose="020B0503020204020204" pitchFamily="34" charset="-122"/>
                <a:cs typeface="Times New Roman" panose="02020603050405020304" pitchFamily="18" charset="0"/>
              </a:rPr>
              <a:t>一</a:t>
            </a:r>
            <a:r>
              <a:rPr lang="zh-CN" altLang="zh-CN" b="1" kern="100" dirty="0">
                <a:latin typeface="微软雅黑" panose="020B0503020204020204" pitchFamily="34" charset="-122"/>
                <a:ea typeface="微软雅黑" panose="020B0503020204020204" pitchFamily="34" charset="-122"/>
                <a:cs typeface="Times New Roman" panose="02020603050405020304" pitchFamily="18" charset="0"/>
              </a:rPr>
              <a:t>个非常复杂的系统。</a:t>
            </a:r>
            <a:endParaRPr lang="zh-CN" altLang="en-US" b="1" dirty="0">
              <a:latin typeface="微软雅黑" panose="020B0503020204020204" pitchFamily="34" charset="-122"/>
              <a:ea typeface="微软雅黑" panose="020B0503020204020204" pitchFamily="34" charset="-122"/>
            </a:endParaRPr>
          </a:p>
        </p:txBody>
      </p:sp>
      <p:sp>
        <p:nvSpPr>
          <p:cNvPr id="3" name="矩形 2"/>
          <p:cNvSpPr/>
          <p:nvPr/>
        </p:nvSpPr>
        <p:spPr>
          <a:xfrm>
            <a:off x="2673626" y="1200719"/>
            <a:ext cx="4570482" cy="369332"/>
          </a:xfrm>
          <a:prstGeom prst="rect">
            <a:avLst/>
          </a:prstGeom>
        </p:spPr>
        <p:txBody>
          <a:bodyPr wrap="none">
            <a:spAutoFit/>
          </a:bodyPr>
          <a:lstStyle/>
          <a:p>
            <a:r>
              <a:rPr lang="zh-CN" altLang="en-US" b="1" dirty="0">
                <a:solidFill>
                  <a:srgbClr val="0000CC"/>
                </a:solidFill>
                <a:latin typeface="微软雅黑" panose="020B0503020204020204" pitchFamily="34" charset="-122"/>
                <a:ea typeface="微软雅黑" panose="020B0503020204020204" pitchFamily="34" charset="-122"/>
              </a:rPr>
              <a:t>两台计算机要互相传送文件需解决很多问题</a:t>
            </a:r>
          </a:p>
        </p:txBody>
      </p:sp>
      <p:sp>
        <p:nvSpPr>
          <p:cNvPr id="19" name="Text Box 38"/>
          <p:cNvSpPr txBox="1">
            <a:spLocks noChangeArrowheads="1"/>
          </p:cNvSpPr>
          <p:nvPr/>
        </p:nvSpPr>
        <p:spPr bwMode="auto">
          <a:xfrm>
            <a:off x="714176" y="3341650"/>
            <a:ext cx="101502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计算机 </a:t>
            </a:r>
            <a:r>
              <a:rPr kumimoji="1" lang="en-US" altLang="zh-CN" sz="1600" b="1" dirty="0">
                <a:solidFill>
                  <a:srgbClr val="0000FF"/>
                </a:solidFill>
                <a:latin typeface="微软雅黑" pitchFamily="34" charset="-122"/>
                <a:ea typeface="微软雅黑" pitchFamily="34" charset="-122"/>
              </a:rPr>
              <a:t>A</a:t>
            </a:r>
          </a:p>
        </p:txBody>
      </p:sp>
      <p:sp>
        <p:nvSpPr>
          <p:cNvPr id="20" name="Text Box 38"/>
          <p:cNvSpPr txBox="1">
            <a:spLocks noChangeArrowheads="1"/>
          </p:cNvSpPr>
          <p:nvPr/>
        </p:nvSpPr>
        <p:spPr bwMode="auto">
          <a:xfrm>
            <a:off x="7780404" y="3341650"/>
            <a:ext cx="101502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计算机 </a:t>
            </a:r>
            <a:r>
              <a:rPr kumimoji="1" lang="en-US" altLang="zh-CN" sz="1600" b="1" dirty="0">
                <a:solidFill>
                  <a:srgbClr val="0000FF"/>
                </a:solidFill>
                <a:latin typeface="微软雅黑" pitchFamily="34" charset="-122"/>
                <a:ea typeface="微软雅黑" pitchFamily="34" charset="-122"/>
              </a:rPr>
              <a:t>B</a:t>
            </a:r>
          </a:p>
        </p:txBody>
      </p:sp>
    </p:spTree>
    <p:extLst>
      <p:ext uri="{BB962C8B-B14F-4D97-AF65-F5344CB8AC3E}">
        <p14:creationId xmlns:p14="http://schemas.microsoft.com/office/powerpoint/2010/main" val="170511812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r>
              <a:rPr lang="zh-CN" altLang="en-US" dirty="0"/>
              <a:t>最初的 </a:t>
            </a:r>
            <a:r>
              <a:rPr lang="en-US" altLang="zh-CN" dirty="0">
                <a:solidFill>
                  <a:srgbClr val="C00000"/>
                </a:solidFill>
              </a:rPr>
              <a:t>ARPANET</a:t>
            </a:r>
            <a:r>
              <a:rPr lang="en-US" altLang="zh-CN" dirty="0"/>
              <a:t> </a:t>
            </a:r>
            <a:r>
              <a:rPr lang="zh-CN" altLang="en-US" dirty="0"/>
              <a:t>设计时提出了</a:t>
            </a:r>
            <a:r>
              <a:rPr lang="zh-CN" altLang="en-US" dirty="0">
                <a:solidFill>
                  <a:srgbClr val="0000FF"/>
                </a:solidFill>
              </a:rPr>
              <a:t>分层</a:t>
            </a:r>
            <a:r>
              <a:rPr lang="zh-CN" altLang="en-US" dirty="0"/>
              <a:t>的设计方法。</a:t>
            </a:r>
          </a:p>
          <a:p>
            <a:r>
              <a:rPr lang="zh-CN" altLang="en-US" dirty="0">
                <a:solidFill>
                  <a:srgbClr val="C00000"/>
                </a:solidFill>
              </a:rPr>
              <a:t>分层：</a:t>
            </a:r>
            <a:r>
              <a:rPr lang="zh-CN" altLang="en-US" dirty="0"/>
              <a:t>将庞大而复杂的问题，转化为若干较小的局部问题。</a:t>
            </a:r>
            <a:endParaRPr lang="en-US" altLang="zh-CN" dirty="0"/>
          </a:p>
          <a:p>
            <a:r>
              <a:rPr lang="en-US" altLang="zh-CN" dirty="0"/>
              <a:t>1974 </a:t>
            </a:r>
            <a:r>
              <a:rPr lang="zh-CN" altLang="en-US" dirty="0"/>
              <a:t>年，</a:t>
            </a:r>
            <a:r>
              <a:rPr lang="en-US" altLang="zh-CN" dirty="0"/>
              <a:t>IBM </a:t>
            </a:r>
            <a:r>
              <a:rPr lang="zh-CN" altLang="en-US" dirty="0"/>
              <a:t>按照分层的方法制定并提出了</a:t>
            </a:r>
            <a:r>
              <a:rPr lang="zh-CN" altLang="en-US" dirty="0">
                <a:solidFill>
                  <a:srgbClr val="C00000"/>
                </a:solidFill>
              </a:rPr>
              <a:t>系统网络体系结构 </a:t>
            </a:r>
            <a:r>
              <a:rPr lang="en-US" altLang="zh-CN" dirty="0">
                <a:solidFill>
                  <a:srgbClr val="C00000"/>
                </a:solidFill>
              </a:rPr>
              <a:t>SNA </a:t>
            </a:r>
            <a:r>
              <a:rPr lang="en-US" altLang="zh-CN" dirty="0"/>
              <a:t>(System Network Architecture)</a:t>
            </a:r>
            <a:r>
              <a:rPr lang="zh-CN" altLang="en-US" dirty="0"/>
              <a:t> 。</a:t>
            </a:r>
          </a:p>
          <a:p>
            <a:r>
              <a:rPr lang="zh-CN" altLang="en-US" dirty="0"/>
              <a:t>此后，其他一些公司也相继推出了具有不同名称的体系结构。</a:t>
            </a:r>
          </a:p>
          <a:p>
            <a:endParaRPr lang="en-US" altLang="zh-CN" dirty="0"/>
          </a:p>
        </p:txBody>
      </p:sp>
      <p:sp>
        <p:nvSpPr>
          <p:cNvPr id="2" name="文本占位符 1"/>
          <p:cNvSpPr>
            <a:spLocks noGrp="1"/>
          </p:cNvSpPr>
          <p:nvPr>
            <p:ph type="body" sz="quarter" idx="11"/>
          </p:nvPr>
        </p:nvSpPr>
        <p:spPr/>
        <p:txBody>
          <a:bodyPr/>
          <a:lstStyle/>
          <a:p>
            <a:r>
              <a:rPr lang="zh-CN" altLang="en-US" dirty="0"/>
              <a:t>提出了不同体系结构</a:t>
            </a:r>
          </a:p>
        </p:txBody>
      </p:sp>
      <p:sp>
        <p:nvSpPr>
          <p:cNvPr id="4" name="矩形 3"/>
          <p:cNvSpPr/>
          <p:nvPr/>
        </p:nvSpPr>
        <p:spPr>
          <a:xfrm>
            <a:off x="773103" y="3094935"/>
            <a:ext cx="7515497" cy="400110"/>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但由于网络体系结构的不同，不同公司的设备很难互相连通。</a:t>
            </a:r>
          </a:p>
        </p:txBody>
      </p:sp>
    </p:spTree>
    <p:extLst>
      <p:ext uri="{BB962C8B-B14F-4D97-AF65-F5344CB8AC3E}">
        <p14:creationId xmlns:p14="http://schemas.microsoft.com/office/powerpoint/2010/main" val="12660672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en-US" altLang="zh-CN" dirty="0"/>
              <a:t>ISO (</a:t>
            </a:r>
            <a:r>
              <a:rPr lang="zh-CN" altLang="en-US" dirty="0"/>
              <a:t>国际标准化组织</a:t>
            </a:r>
            <a:r>
              <a:rPr lang="en-US" altLang="zh-CN" dirty="0"/>
              <a:t>) </a:t>
            </a:r>
            <a:r>
              <a:rPr lang="zh-CN" altLang="en-US" dirty="0"/>
              <a:t>提出的 </a:t>
            </a:r>
            <a:r>
              <a:rPr lang="en-US" altLang="zh-CN" dirty="0">
                <a:solidFill>
                  <a:srgbClr val="C00000"/>
                </a:solidFill>
              </a:rPr>
              <a:t>OSI/RM</a:t>
            </a:r>
            <a:r>
              <a:rPr lang="en-US" altLang="zh-CN" dirty="0"/>
              <a:t> (Open Systems Interconnection Reference Model) </a:t>
            </a:r>
            <a:r>
              <a:rPr lang="zh-CN" altLang="en-US" dirty="0"/>
              <a:t>是使各种计算机在世界范围内互连成网的</a:t>
            </a:r>
            <a:r>
              <a:rPr lang="zh-CN" altLang="en-US" dirty="0">
                <a:solidFill>
                  <a:srgbClr val="C00000"/>
                </a:solidFill>
              </a:rPr>
              <a:t>标准框架。</a:t>
            </a:r>
            <a:endParaRPr lang="en-US" altLang="zh-CN" dirty="0">
              <a:solidFill>
                <a:srgbClr val="C00000"/>
              </a:solidFill>
            </a:endParaRPr>
          </a:p>
          <a:p>
            <a:r>
              <a:rPr lang="en-US" altLang="zh-CN" dirty="0"/>
              <a:t>OSI/RM </a:t>
            </a:r>
            <a:r>
              <a:rPr lang="zh-CN" altLang="en-US" dirty="0"/>
              <a:t>是个</a:t>
            </a:r>
            <a:r>
              <a:rPr lang="zh-CN" altLang="en-US" dirty="0">
                <a:solidFill>
                  <a:srgbClr val="C00000"/>
                </a:solidFill>
              </a:rPr>
              <a:t>抽象的概念。</a:t>
            </a:r>
            <a:endParaRPr lang="en-US" altLang="zh-CN" dirty="0">
              <a:solidFill>
                <a:srgbClr val="C00000"/>
              </a:solidFill>
            </a:endParaRPr>
          </a:p>
          <a:p>
            <a:r>
              <a:rPr lang="en-US" altLang="zh-CN" dirty="0"/>
              <a:t>1983</a:t>
            </a:r>
            <a:r>
              <a:rPr lang="zh-CN" altLang="en-US" dirty="0"/>
              <a:t>年，形成了著名的 </a:t>
            </a:r>
            <a:r>
              <a:rPr lang="en-US" altLang="zh-CN" dirty="0"/>
              <a:t>ISO 7498 </a:t>
            </a:r>
            <a:r>
              <a:rPr lang="zh-CN" altLang="en-US" dirty="0"/>
              <a:t>国际标准，即</a:t>
            </a:r>
            <a:r>
              <a:rPr lang="zh-CN" altLang="en-US" dirty="0">
                <a:solidFill>
                  <a:srgbClr val="C00000"/>
                </a:solidFill>
              </a:rPr>
              <a:t>七层协议的体系结构。</a:t>
            </a:r>
          </a:p>
        </p:txBody>
      </p:sp>
      <p:sp>
        <p:nvSpPr>
          <p:cNvPr id="3" name="文本占位符 2"/>
          <p:cNvSpPr>
            <a:spLocks noGrp="1"/>
          </p:cNvSpPr>
          <p:nvPr>
            <p:ph type="body" sz="quarter" idx="11"/>
          </p:nvPr>
        </p:nvSpPr>
        <p:spPr/>
        <p:txBody>
          <a:bodyPr/>
          <a:lstStyle/>
          <a:p>
            <a:r>
              <a:rPr lang="zh-CN" altLang="en-US" dirty="0"/>
              <a:t>国际标准：开放系统互连参考模型 </a:t>
            </a:r>
            <a:r>
              <a:rPr lang="en-US" altLang="zh-CN" dirty="0"/>
              <a:t>OSI/RM</a:t>
            </a:r>
          </a:p>
        </p:txBody>
      </p:sp>
      <p:grpSp>
        <p:nvGrpSpPr>
          <p:cNvPr id="6" name="组合 5"/>
          <p:cNvGrpSpPr/>
          <p:nvPr/>
        </p:nvGrpSpPr>
        <p:grpSpPr>
          <a:xfrm>
            <a:off x="1418539" y="3055781"/>
            <a:ext cx="6819153" cy="1092215"/>
            <a:chOff x="949201" y="3346526"/>
            <a:chExt cx="6819153" cy="1092215"/>
          </a:xfrm>
        </p:grpSpPr>
        <p:sp>
          <p:nvSpPr>
            <p:cNvPr id="4" name="对角圆角矩形 3"/>
            <p:cNvSpPr/>
            <p:nvPr/>
          </p:nvSpPr>
          <p:spPr>
            <a:xfrm>
              <a:off x="949201" y="3346526"/>
              <a:ext cx="6819153" cy="109221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 name="矩形 5"/>
            <p:cNvSpPr>
              <a:spLocks noChangeArrowheads="1"/>
            </p:cNvSpPr>
            <p:nvPr/>
          </p:nvSpPr>
          <p:spPr bwMode="auto">
            <a:xfrm>
              <a:off x="1104651" y="3453725"/>
              <a:ext cx="6558507"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3000"/>
                </a:lnSpc>
              </a:pPr>
              <a:r>
                <a:rPr lang="en-US" altLang="zh-CN" b="1" dirty="0">
                  <a:solidFill>
                    <a:schemeClr val="bg1"/>
                  </a:solidFill>
                  <a:latin typeface="微软雅黑" panose="020B0503020204020204" pitchFamily="34" charset="-122"/>
                  <a:ea typeface="微软雅黑" panose="020B0503020204020204" pitchFamily="34" charset="-122"/>
                </a:rPr>
                <a:t>OSI </a:t>
              </a:r>
              <a:r>
                <a:rPr lang="zh-CN" altLang="en-US" b="1" dirty="0">
                  <a:solidFill>
                    <a:schemeClr val="bg1"/>
                  </a:solidFill>
                  <a:latin typeface="微软雅黑" panose="020B0503020204020204" pitchFamily="34" charset="-122"/>
                  <a:ea typeface="微软雅黑" panose="020B0503020204020204" pitchFamily="34" charset="-122"/>
                </a:rPr>
                <a:t>试图达到一种</a:t>
              </a:r>
              <a:r>
                <a:rPr lang="zh-CN" altLang="en-US" b="1" dirty="0">
                  <a:solidFill>
                    <a:srgbClr val="FFFF00"/>
                  </a:solidFill>
                  <a:latin typeface="微软雅黑" panose="020B0503020204020204" pitchFamily="34" charset="-122"/>
                  <a:ea typeface="微软雅黑" panose="020B0503020204020204" pitchFamily="34" charset="-122"/>
                </a:rPr>
                <a:t>理想境界：</a:t>
              </a:r>
              <a:r>
                <a:rPr lang="zh-CN" altLang="en-US" b="1" dirty="0">
                  <a:solidFill>
                    <a:schemeClr val="bg1"/>
                  </a:solidFill>
                  <a:latin typeface="微软雅黑" panose="020B0503020204020204" pitchFamily="34" charset="-122"/>
                  <a:ea typeface="微软雅黑" panose="020B0503020204020204" pitchFamily="34" charset="-122"/>
                </a:rPr>
                <a:t>全球计算机网络都遵循这个统一标准，因而全球的计算机将能够很方便地进行互连和交换数据。</a:t>
              </a:r>
            </a:p>
          </p:txBody>
        </p:sp>
      </p:grpSp>
    </p:spTree>
    <p:extLst>
      <p:ext uri="{BB962C8B-B14F-4D97-AF65-F5344CB8AC3E}">
        <p14:creationId xmlns:p14="http://schemas.microsoft.com/office/powerpoint/2010/main" val="27115834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zh-CN" altLang="en-US" dirty="0">
                <a:solidFill>
                  <a:srgbClr val="0000FF"/>
                </a:solidFill>
              </a:rPr>
              <a:t>基于 </a:t>
            </a:r>
            <a:r>
              <a:rPr lang="en-US" altLang="zh-CN" dirty="0">
                <a:solidFill>
                  <a:srgbClr val="0000FF"/>
                </a:solidFill>
              </a:rPr>
              <a:t>TCP/IP </a:t>
            </a:r>
            <a:r>
              <a:rPr lang="zh-CN" altLang="en-US" dirty="0">
                <a:solidFill>
                  <a:srgbClr val="0000FF"/>
                </a:solidFill>
              </a:rPr>
              <a:t>的互联网已抢先在全球相当大的范围成功地运行了。</a:t>
            </a:r>
            <a:endParaRPr lang="en-US" altLang="zh-CN" dirty="0">
              <a:solidFill>
                <a:srgbClr val="0000FF"/>
              </a:solidFill>
            </a:endParaRPr>
          </a:p>
          <a:p>
            <a:r>
              <a:rPr lang="en-US" altLang="zh-CN" dirty="0"/>
              <a:t>OSI </a:t>
            </a:r>
            <a:r>
              <a:rPr lang="zh-CN" altLang="en-US" dirty="0"/>
              <a:t>的专家们在完成 </a:t>
            </a:r>
            <a:r>
              <a:rPr lang="en-US" altLang="zh-CN" dirty="0"/>
              <a:t>OSI </a:t>
            </a:r>
            <a:r>
              <a:rPr lang="zh-CN" altLang="en-US" dirty="0"/>
              <a:t>标准时</a:t>
            </a:r>
            <a:r>
              <a:rPr lang="zh-CN" altLang="en-US" dirty="0">
                <a:solidFill>
                  <a:srgbClr val="C00000"/>
                </a:solidFill>
              </a:rPr>
              <a:t>没有商业驱动力；</a:t>
            </a:r>
          </a:p>
          <a:p>
            <a:r>
              <a:rPr lang="en-US" altLang="zh-CN" dirty="0"/>
              <a:t>OSI </a:t>
            </a:r>
            <a:r>
              <a:rPr lang="zh-CN" altLang="en-US" dirty="0"/>
              <a:t>的协议实现起来</a:t>
            </a:r>
            <a:r>
              <a:rPr lang="zh-CN" altLang="en-US" dirty="0">
                <a:solidFill>
                  <a:srgbClr val="C00000"/>
                </a:solidFill>
              </a:rPr>
              <a:t>过分复杂，</a:t>
            </a:r>
            <a:r>
              <a:rPr lang="zh-CN" altLang="en-US" dirty="0"/>
              <a:t>且运行效率很低；</a:t>
            </a:r>
          </a:p>
          <a:p>
            <a:r>
              <a:rPr lang="en-US" altLang="zh-CN" dirty="0"/>
              <a:t>OSI </a:t>
            </a:r>
            <a:r>
              <a:rPr lang="zh-CN" altLang="en-US" dirty="0"/>
              <a:t>标准的制定</a:t>
            </a:r>
            <a:r>
              <a:rPr lang="zh-CN" altLang="en-US" dirty="0">
                <a:solidFill>
                  <a:srgbClr val="C00000"/>
                </a:solidFill>
              </a:rPr>
              <a:t>周期太长，</a:t>
            </a:r>
            <a:r>
              <a:rPr lang="zh-CN" altLang="en-US" dirty="0"/>
              <a:t>使得按 </a:t>
            </a:r>
            <a:r>
              <a:rPr lang="en-US" altLang="zh-CN" dirty="0"/>
              <a:t>OSI </a:t>
            </a:r>
            <a:r>
              <a:rPr lang="zh-CN" altLang="en-US" dirty="0"/>
              <a:t>标准生产的设备无法及时进入市场；</a:t>
            </a:r>
          </a:p>
          <a:p>
            <a:r>
              <a:rPr lang="en-US" altLang="zh-CN" dirty="0"/>
              <a:t>OSI </a:t>
            </a:r>
            <a:r>
              <a:rPr lang="zh-CN" altLang="en-US" dirty="0"/>
              <a:t>的层次</a:t>
            </a:r>
            <a:r>
              <a:rPr lang="zh-CN" altLang="en-US" dirty="0">
                <a:solidFill>
                  <a:srgbClr val="C00000"/>
                </a:solidFill>
              </a:rPr>
              <a:t>划分也不太合理，</a:t>
            </a:r>
            <a:r>
              <a:rPr lang="zh-CN" altLang="en-US" dirty="0"/>
              <a:t>有些功能在多个层次中重复出现。 </a:t>
            </a:r>
          </a:p>
        </p:txBody>
      </p:sp>
      <p:sp>
        <p:nvSpPr>
          <p:cNvPr id="3" name="文本占位符 2"/>
          <p:cNvSpPr>
            <a:spLocks noGrp="1"/>
          </p:cNvSpPr>
          <p:nvPr>
            <p:ph type="body" sz="quarter" idx="11"/>
          </p:nvPr>
        </p:nvSpPr>
        <p:spPr/>
        <p:txBody>
          <a:bodyPr/>
          <a:lstStyle/>
          <a:p>
            <a:r>
              <a:rPr lang="zh-CN" altLang="en-US" dirty="0"/>
              <a:t>但 </a:t>
            </a:r>
            <a:r>
              <a:rPr lang="en-US" altLang="zh-CN" dirty="0"/>
              <a:t>ISO/OSI </a:t>
            </a:r>
            <a:r>
              <a:rPr lang="zh-CN" altLang="en-US" dirty="0"/>
              <a:t>失败了</a:t>
            </a:r>
            <a:endParaRPr lang="en-US" altLang="zh-CN" dirty="0"/>
          </a:p>
        </p:txBody>
      </p:sp>
    </p:spTree>
    <p:extLst>
      <p:ext uri="{BB962C8B-B14F-4D97-AF65-F5344CB8AC3E}">
        <p14:creationId xmlns:p14="http://schemas.microsoft.com/office/powerpoint/2010/main" val="36232572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4154710858"/>
              </p:ext>
            </p:extLst>
          </p:nvPr>
        </p:nvGraphicFramePr>
        <p:xfrm>
          <a:off x="2002972" y="1229690"/>
          <a:ext cx="4963885" cy="26996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文本占位符 1"/>
          <p:cNvSpPr>
            <a:spLocks noGrp="1"/>
          </p:cNvSpPr>
          <p:nvPr>
            <p:ph type="body" sz="quarter" idx="10"/>
          </p:nvPr>
        </p:nvSpPr>
        <p:spPr/>
        <p:txBody>
          <a:bodyPr/>
          <a:lstStyle/>
          <a:p>
            <a:r>
              <a:rPr lang="zh-CN" altLang="en-US" dirty="0"/>
              <a:t>存在两种国际标准</a:t>
            </a:r>
          </a:p>
        </p:txBody>
      </p:sp>
    </p:spTree>
    <p:extLst>
      <p:ext uri="{BB962C8B-B14F-4D97-AF65-F5344CB8AC3E}">
        <p14:creationId xmlns:p14="http://schemas.microsoft.com/office/powerpoint/2010/main" val="30216062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p:txBody>
          <a:bodyPr/>
          <a:lstStyle/>
          <a:p>
            <a:pPr>
              <a:lnSpc>
                <a:spcPts val="2800"/>
              </a:lnSpc>
            </a:pPr>
            <a:r>
              <a:rPr lang="zh-CN" altLang="en-US" dirty="0">
                <a:solidFill>
                  <a:srgbClr val="C00000"/>
                </a:solidFill>
              </a:rPr>
              <a:t>网络协议</a:t>
            </a:r>
            <a:r>
              <a:rPr lang="zh-CN" altLang="en-US" dirty="0"/>
              <a:t> </a:t>
            </a:r>
            <a:r>
              <a:rPr lang="en-US" altLang="zh-CN" dirty="0"/>
              <a:t>(network protocol)</a:t>
            </a:r>
            <a:r>
              <a:rPr lang="zh-CN" altLang="en-US" dirty="0"/>
              <a:t>，简称为</a:t>
            </a:r>
            <a:r>
              <a:rPr lang="zh-CN" altLang="en-US" dirty="0">
                <a:solidFill>
                  <a:srgbClr val="0000FF"/>
                </a:solidFill>
              </a:rPr>
              <a:t>协议</a:t>
            </a:r>
            <a:r>
              <a:rPr lang="zh-CN" altLang="en-US" dirty="0"/>
              <a:t>，是为进行网络中的数据交换而建立的规则、标准或约定。</a:t>
            </a:r>
            <a:endParaRPr lang="en-US" altLang="zh-CN" dirty="0"/>
          </a:p>
          <a:p>
            <a:pPr>
              <a:lnSpc>
                <a:spcPts val="2800"/>
              </a:lnSpc>
            </a:pPr>
            <a:r>
              <a:rPr lang="zh-CN" altLang="en-US" dirty="0">
                <a:solidFill>
                  <a:srgbClr val="C00000"/>
                </a:solidFill>
              </a:rPr>
              <a:t>三个组成要素：</a:t>
            </a:r>
            <a:endParaRPr lang="en-US" altLang="zh-CN" dirty="0">
              <a:solidFill>
                <a:srgbClr val="C00000"/>
              </a:solidFill>
            </a:endParaRPr>
          </a:p>
          <a:p>
            <a:pPr lvl="1">
              <a:lnSpc>
                <a:spcPts val="2800"/>
              </a:lnSpc>
            </a:pPr>
            <a:r>
              <a:rPr lang="zh-CN" altLang="en-US" dirty="0">
                <a:solidFill>
                  <a:srgbClr val="0000FF"/>
                </a:solidFill>
              </a:rPr>
              <a:t>语法：</a:t>
            </a:r>
            <a:r>
              <a:rPr lang="zh-CN" altLang="en-US" dirty="0"/>
              <a:t>数据与控制信息的结构或格式 。 </a:t>
            </a:r>
          </a:p>
          <a:p>
            <a:pPr lvl="1">
              <a:lnSpc>
                <a:spcPts val="2800"/>
              </a:lnSpc>
            </a:pPr>
            <a:r>
              <a:rPr lang="zh-CN" altLang="en-US" dirty="0">
                <a:solidFill>
                  <a:srgbClr val="0000FF"/>
                </a:solidFill>
              </a:rPr>
              <a:t>语义：</a:t>
            </a:r>
            <a:r>
              <a:rPr lang="zh-CN" altLang="en-US" dirty="0"/>
              <a:t>需要发出何种控制信息，完成何种动作以及做出何种响应。 </a:t>
            </a:r>
          </a:p>
          <a:p>
            <a:pPr lvl="1">
              <a:lnSpc>
                <a:spcPts val="2800"/>
              </a:lnSpc>
            </a:pPr>
            <a:r>
              <a:rPr lang="zh-CN" altLang="en-US" dirty="0">
                <a:solidFill>
                  <a:srgbClr val="0000FF"/>
                </a:solidFill>
              </a:rPr>
              <a:t>同步：</a:t>
            </a:r>
            <a:r>
              <a:rPr lang="zh-CN" altLang="en-US" dirty="0"/>
              <a:t>事件实现顺序的详细说明。 </a:t>
            </a:r>
          </a:p>
          <a:p>
            <a:pPr>
              <a:lnSpc>
                <a:spcPts val="2800"/>
              </a:lnSpc>
            </a:pPr>
            <a:endParaRPr lang="zh-CN" altLang="en-US" dirty="0"/>
          </a:p>
        </p:txBody>
      </p:sp>
      <p:sp>
        <p:nvSpPr>
          <p:cNvPr id="3" name="文本占位符 2"/>
          <p:cNvSpPr>
            <a:spLocks noGrp="1"/>
          </p:cNvSpPr>
          <p:nvPr>
            <p:ph type="body" sz="quarter" idx="11"/>
          </p:nvPr>
        </p:nvSpPr>
        <p:spPr/>
        <p:txBody>
          <a:bodyPr/>
          <a:lstStyle/>
          <a:p>
            <a:r>
              <a:rPr lang="en-US" altLang="zh-CN" dirty="0"/>
              <a:t>1.7.2  </a:t>
            </a:r>
            <a:r>
              <a:rPr lang="zh-CN" altLang="zh-CN" dirty="0"/>
              <a:t>协议与划分层次</a:t>
            </a:r>
            <a:endParaRPr lang="zh-CN" altLang="en-US" dirty="0"/>
          </a:p>
        </p:txBody>
      </p:sp>
      <p:grpSp>
        <p:nvGrpSpPr>
          <p:cNvPr id="55" name="组合 54"/>
          <p:cNvGrpSpPr/>
          <p:nvPr/>
        </p:nvGrpSpPr>
        <p:grpSpPr>
          <a:xfrm>
            <a:off x="6599456" y="1255007"/>
            <a:ext cx="2073387" cy="2870623"/>
            <a:chOff x="6246699" y="1147924"/>
            <a:chExt cx="2195405" cy="2870623"/>
          </a:xfrm>
        </p:grpSpPr>
        <p:sp>
          <p:nvSpPr>
            <p:cNvPr id="32" name="Text Box 29"/>
            <p:cNvSpPr txBox="1">
              <a:spLocks noChangeArrowheads="1"/>
            </p:cNvSpPr>
            <p:nvPr/>
          </p:nvSpPr>
          <p:spPr bwMode="auto">
            <a:xfrm rot="540000">
              <a:off x="6540332" y="1717379"/>
              <a:ext cx="1780221"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0" hangingPunct="0"/>
              <a:r>
                <a:rPr lang="en-US" altLang="zh-CN" sz="1050" b="1" dirty="0">
                  <a:latin typeface="微软雅黑" panose="020B0503020204020204" pitchFamily="34" charset="-122"/>
                  <a:ea typeface="微软雅黑" panose="020B0503020204020204" pitchFamily="34" charset="-122"/>
                </a:rPr>
                <a:t>TCP connection req.</a:t>
              </a:r>
            </a:p>
          </p:txBody>
        </p:sp>
        <p:sp>
          <p:nvSpPr>
            <p:cNvPr id="33" name="Line 30"/>
            <p:cNvSpPr>
              <a:spLocks noChangeShapeType="1"/>
            </p:cNvSpPr>
            <p:nvPr/>
          </p:nvSpPr>
          <p:spPr bwMode="auto">
            <a:xfrm flipV="1">
              <a:off x="6460287" y="3327225"/>
              <a:ext cx="1773324" cy="574742"/>
            </a:xfrm>
            <a:prstGeom prst="line">
              <a:avLst/>
            </a:prstGeom>
            <a:noFill/>
            <a:ln w="28575">
              <a:solidFill>
                <a:srgbClr val="FF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4" name="Line 31"/>
            <p:cNvSpPr>
              <a:spLocks noChangeShapeType="1"/>
            </p:cNvSpPr>
            <p:nvPr/>
          </p:nvSpPr>
          <p:spPr bwMode="auto">
            <a:xfrm>
              <a:off x="6460287" y="1807064"/>
              <a:ext cx="1773324" cy="281951"/>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5" name="Line 32"/>
            <p:cNvSpPr>
              <a:spLocks noChangeShapeType="1"/>
            </p:cNvSpPr>
            <p:nvPr/>
          </p:nvSpPr>
          <p:spPr bwMode="auto">
            <a:xfrm flipV="1">
              <a:off x="6460287" y="2283803"/>
              <a:ext cx="1773324" cy="428980"/>
            </a:xfrm>
            <a:prstGeom prst="line">
              <a:avLst/>
            </a:prstGeom>
            <a:noFill/>
            <a:ln w="28575">
              <a:solidFill>
                <a:srgbClr val="FF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8" name="Text Box 35"/>
            <p:cNvSpPr txBox="1">
              <a:spLocks noChangeArrowheads="1"/>
            </p:cNvSpPr>
            <p:nvPr/>
          </p:nvSpPr>
          <p:spPr bwMode="auto">
            <a:xfrm rot="20700000">
              <a:off x="6421820" y="2242925"/>
              <a:ext cx="1867209"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r>
                <a:rPr lang="en-US" altLang="zh-CN" sz="1050" dirty="0"/>
                <a:t>TCP connection reply.</a:t>
              </a:r>
            </a:p>
          </p:txBody>
        </p:sp>
        <p:sp>
          <p:nvSpPr>
            <p:cNvPr id="39" name="Line 36"/>
            <p:cNvSpPr>
              <a:spLocks noChangeShapeType="1"/>
            </p:cNvSpPr>
            <p:nvPr/>
          </p:nvSpPr>
          <p:spPr bwMode="auto">
            <a:xfrm>
              <a:off x="6460288" y="2859821"/>
              <a:ext cx="1773324" cy="393127"/>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42" name="Text Box 39"/>
            <p:cNvSpPr txBox="1">
              <a:spLocks noChangeArrowheads="1"/>
            </p:cNvSpPr>
            <p:nvPr/>
          </p:nvSpPr>
          <p:spPr bwMode="auto">
            <a:xfrm rot="720000">
              <a:off x="6714568" y="2811044"/>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r>
                <a:rPr lang="en-US" altLang="zh-CN" sz="1050" dirty="0"/>
                <a:t>get plan.pdf</a:t>
              </a:r>
            </a:p>
          </p:txBody>
        </p:sp>
        <p:pic>
          <p:nvPicPr>
            <p:cNvPr id="4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6699" y="1203201"/>
              <a:ext cx="435820" cy="4150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098885" y="1147924"/>
              <a:ext cx="343219" cy="5023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8" name="直接连接符 47"/>
            <p:cNvCxnSpPr>
              <a:stCxn id="46" idx="2"/>
            </p:cNvCxnSpPr>
            <p:nvPr/>
          </p:nvCxnSpPr>
          <p:spPr>
            <a:xfrm flipH="1">
              <a:off x="6430765" y="1618286"/>
              <a:ext cx="33844" cy="2400261"/>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49" name="直接连接符 48"/>
            <p:cNvCxnSpPr>
              <a:stCxn id="47" idx="2"/>
            </p:cNvCxnSpPr>
            <p:nvPr/>
          </p:nvCxnSpPr>
          <p:spPr>
            <a:xfrm flipH="1">
              <a:off x="8262001" y="1650319"/>
              <a:ext cx="8494" cy="2368228"/>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52" name="Text Box 39"/>
            <p:cNvSpPr txBox="1">
              <a:spLocks noChangeArrowheads="1"/>
            </p:cNvSpPr>
            <p:nvPr/>
          </p:nvSpPr>
          <p:spPr bwMode="auto">
            <a:xfrm rot="20501025">
              <a:off x="6706154" y="3339318"/>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r>
                <a:rPr lang="en-US" altLang="zh-CN" sz="1050" dirty="0"/>
                <a:t>&lt; plan.pdf &gt;</a:t>
              </a:r>
            </a:p>
          </p:txBody>
        </p:sp>
      </p:grpSp>
      <p:grpSp>
        <p:nvGrpSpPr>
          <p:cNvPr id="58" name="组合 57"/>
          <p:cNvGrpSpPr/>
          <p:nvPr/>
        </p:nvGrpSpPr>
        <p:grpSpPr>
          <a:xfrm>
            <a:off x="679843" y="3951071"/>
            <a:ext cx="5572193" cy="646848"/>
            <a:chOff x="595996" y="3877027"/>
            <a:chExt cx="5572193" cy="646848"/>
          </a:xfrm>
        </p:grpSpPr>
        <p:sp>
          <p:nvSpPr>
            <p:cNvPr id="56" name="对角圆角矩形 55"/>
            <p:cNvSpPr/>
            <p:nvPr/>
          </p:nvSpPr>
          <p:spPr>
            <a:xfrm>
              <a:off x="595996" y="3877027"/>
              <a:ext cx="5572193" cy="64684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7" name="矩形 5"/>
            <p:cNvSpPr>
              <a:spLocks noChangeArrowheads="1"/>
            </p:cNvSpPr>
            <p:nvPr/>
          </p:nvSpPr>
          <p:spPr bwMode="auto">
            <a:xfrm>
              <a:off x="729916" y="3987587"/>
              <a:ext cx="5309938" cy="4069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700"/>
                </a:lnSpc>
              </a:pPr>
              <a:r>
                <a:rPr lang="zh-CN" altLang="zh-CN" b="1" dirty="0">
                  <a:solidFill>
                    <a:schemeClr val="bg1"/>
                  </a:solidFill>
                  <a:latin typeface="微软雅黑" panose="020B0503020204020204" pitchFamily="34" charset="-122"/>
                  <a:ea typeface="微软雅黑" panose="020B0503020204020204" pitchFamily="34" charset="-122"/>
                </a:rPr>
                <a:t>网络协议是计算机网络的不可缺少的组成部分。</a:t>
              </a:r>
              <a:endParaRPr lang="zh-CN" altLang="en-US" b="1" dirty="0">
                <a:solidFill>
                  <a:schemeClr val="bg1"/>
                </a:solidFill>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82506023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p:cNvSpPr>
            <a:spLocks noGrp="1"/>
          </p:cNvSpPr>
          <p:nvPr>
            <p:ph type="body" sz="quarter" idx="11"/>
          </p:nvPr>
        </p:nvSpPr>
        <p:spPr/>
        <p:txBody>
          <a:bodyPr/>
          <a:lstStyle/>
          <a:p>
            <a:r>
              <a:rPr lang="zh-CN" altLang="en-US" dirty="0"/>
              <a:t>协议的两种形式</a:t>
            </a:r>
          </a:p>
        </p:txBody>
      </p:sp>
      <p:graphicFrame>
        <p:nvGraphicFramePr>
          <p:cNvPr id="8" name="内容占位符 7"/>
          <p:cNvGraphicFramePr>
            <a:graphicFrameLocks noGrp="1"/>
          </p:cNvGraphicFramePr>
          <p:nvPr>
            <p:ph sz="quarter" idx="10"/>
            <p:extLst>
              <p:ext uri="{D42A27DB-BD31-4B8C-83A1-F6EECF244321}">
                <p14:modId xmlns:p14="http://schemas.microsoft.com/office/powerpoint/2010/main" val="4005021743"/>
              </p:ext>
            </p:extLst>
          </p:nvPr>
        </p:nvGraphicFramePr>
        <p:xfrm>
          <a:off x="1507956" y="1089587"/>
          <a:ext cx="6133577" cy="1780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矩形 8"/>
          <p:cNvSpPr/>
          <p:nvPr/>
        </p:nvSpPr>
        <p:spPr>
          <a:xfrm>
            <a:off x="700575" y="3225591"/>
            <a:ext cx="7748337" cy="400110"/>
          </a:xfrm>
          <a:prstGeom prst="rect">
            <a:avLst/>
          </a:prstGeom>
          <a:solidFill>
            <a:srgbClr val="339933"/>
          </a:solidFill>
          <a:ln>
            <a:noFill/>
          </a:ln>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不论什么形式，都必须能够对网络上信息交换过程做出</a:t>
            </a:r>
            <a:r>
              <a:rPr lang="zh-CN" altLang="en-US" sz="2000" b="1" dirty="0">
                <a:solidFill>
                  <a:srgbClr val="FFFF00"/>
                </a:solidFill>
                <a:latin typeface="微软雅黑" panose="020B0503020204020204" pitchFamily="34" charset="-122"/>
                <a:ea typeface="微软雅黑" panose="020B0503020204020204" pitchFamily="34" charset="-122"/>
              </a:rPr>
              <a:t>精确的解释。</a:t>
            </a:r>
          </a:p>
        </p:txBody>
      </p:sp>
    </p:spTree>
    <p:extLst>
      <p:ext uri="{BB962C8B-B14F-4D97-AF65-F5344CB8AC3E}">
        <p14:creationId xmlns:p14="http://schemas.microsoft.com/office/powerpoint/2010/main" val="24847947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71441" y="1275295"/>
            <a:ext cx="7147875" cy="1110838"/>
            <a:chOff x="1116558" y="1239333"/>
            <a:chExt cx="7147875" cy="815892"/>
          </a:xfrm>
        </p:grpSpPr>
        <p:sp>
          <p:nvSpPr>
            <p:cNvPr id="5" name="Rectangle 14"/>
            <p:cNvSpPr>
              <a:spLocks noChangeArrowheads="1"/>
            </p:cNvSpPr>
            <p:nvPr/>
          </p:nvSpPr>
          <p:spPr bwMode="auto">
            <a:xfrm>
              <a:off x="1116558" y="1239333"/>
              <a:ext cx="7147875" cy="815892"/>
            </a:xfrm>
            <a:prstGeom prst="rect">
              <a:avLst/>
            </a:prstGeom>
            <a:solidFill>
              <a:srgbClr val="0098F6"/>
            </a:solidFill>
            <a:ln w="76200" cmpd="tri">
              <a:noFill/>
              <a:miter lim="800000"/>
              <a:headEnd/>
              <a:tailEnd/>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2000" b="1">
                <a:latin typeface="+mn-lt"/>
                <a:ea typeface="黑体" pitchFamily="2" charset="-122"/>
              </a:endParaRPr>
            </a:p>
          </p:txBody>
        </p:sp>
        <p:sp>
          <p:nvSpPr>
            <p:cNvPr id="6" name="矩形 13"/>
            <p:cNvSpPr>
              <a:spLocks noChangeArrowheads="1"/>
            </p:cNvSpPr>
            <p:nvPr/>
          </p:nvSpPr>
          <p:spPr bwMode="auto">
            <a:xfrm>
              <a:off x="1369053" y="1347339"/>
              <a:ext cx="6572834" cy="632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3000"/>
                </a:lnSpc>
                <a:spcBef>
                  <a:spcPts val="0"/>
                </a:spcBef>
              </a:pPr>
              <a:r>
                <a:rPr lang="en-US" altLang="zh-CN" sz="2000" b="1" dirty="0">
                  <a:solidFill>
                    <a:schemeClr val="bg1"/>
                  </a:solidFill>
                  <a:latin typeface="微软雅黑" pitchFamily="34" charset="-122"/>
                  <a:ea typeface="微软雅黑" pitchFamily="34" charset="-122"/>
                </a:rPr>
                <a:t>ARPANET </a:t>
              </a:r>
              <a:r>
                <a:rPr lang="zh-CN" altLang="en-US" sz="2000" b="1" dirty="0">
                  <a:solidFill>
                    <a:schemeClr val="bg1"/>
                  </a:solidFill>
                  <a:latin typeface="微软雅黑" pitchFamily="34" charset="-122"/>
                  <a:ea typeface="微软雅黑" pitchFamily="34" charset="-122"/>
                </a:rPr>
                <a:t>的研制经验表明：对于非常复杂的计算机网络协议，其结构应该是</a:t>
              </a:r>
              <a:r>
                <a:rPr lang="zh-CN" altLang="en-US" sz="2000" b="1" dirty="0">
                  <a:solidFill>
                    <a:srgbClr val="FFFF00"/>
                  </a:solidFill>
                  <a:latin typeface="微软雅黑" pitchFamily="34" charset="-122"/>
                  <a:ea typeface="微软雅黑" pitchFamily="34" charset="-122"/>
                </a:rPr>
                <a:t>层次式</a:t>
              </a:r>
              <a:r>
                <a:rPr lang="zh-CN" altLang="en-US" sz="2000" b="1" dirty="0">
                  <a:solidFill>
                    <a:schemeClr val="bg1"/>
                  </a:solidFill>
                  <a:latin typeface="微软雅黑" pitchFamily="34" charset="-122"/>
                  <a:ea typeface="微软雅黑" pitchFamily="34" charset="-122"/>
                </a:rPr>
                <a:t>的。</a:t>
              </a:r>
            </a:p>
          </p:txBody>
        </p:sp>
      </p:grpSp>
      <p:sp>
        <p:nvSpPr>
          <p:cNvPr id="2" name="文本占位符 1"/>
          <p:cNvSpPr>
            <a:spLocks noGrp="1"/>
          </p:cNvSpPr>
          <p:nvPr>
            <p:ph type="body" sz="quarter" idx="10"/>
          </p:nvPr>
        </p:nvSpPr>
        <p:spPr/>
        <p:txBody>
          <a:bodyPr/>
          <a:lstStyle/>
          <a:p>
            <a:r>
              <a:rPr lang="zh-CN" altLang="en-US" dirty="0"/>
              <a:t>层次式协议结构</a:t>
            </a:r>
          </a:p>
        </p:txBody>
      </p:sp>
    </p:spTree>
    <p:extLst>
      <p:ext uri="{BB962C8B-B14F-4D97-AF65-F5344CB8AC3E}">
        <p14:creationId xmlns:p14="http://schemas.microsoft.com/office/powerpoint/2010/main" val="3540046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1170432"/>
            <a:ext cx="8133855"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2000" b="1" dirty="0">
              <a:solidFill>
                <a:schemeClr val="bg1"/>
              </a:solidFill>
              <a:ea typeface="微软雅黑" panose="020B0503020204020204" pitchFamily="34" charset="-122"/>
            </a:endParaRPr>
          </a:p>
        </p:txBody>
      </p:sp>
      <p:sp>
        <p:nvSpPr>
          <p:cNvPr id="39" name="Rectangle 16"/>
          <p:cNvSpPr>
            <a:spLocks noChangeArrowheads="1"/>
          </p:cNvSpPr>
          <p:nvPr/>
        </p:nvSpPr>
        <p:spPr bwMode="auto">
          <a:xfrm>
            <a:off x="6035015"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727200" y="2208217"/>
            <a:ext cx="1414463"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128014" name="Text Box 6"/>
          <p:cNvSpPr txBox="1">
            <a:spLocks noChangeArrowheads="1"/>
          </p:cNvSpPr>
          <p:nvPr/>
        </p:nvSpPr>
        <p:spPr bwMode="auto">
          <a:xfrm>
            <a:off x="206216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1</a:t>
            </a:r>
          </a:p>
        </p:txBody>
      </p:sp>
      <p:sp>
        <p:nvSpPr>
          <p:cNvPr id="128015" name="Text Box 9"/>
          <p:cNvSpPr txBox="1">
            <a:spLocks noChangeArrowheads="1"/>
          </p:cNvSpPr>
          <p:nvPr/>
        </p:nvSpPr>
        <p:spPr bwMode="auto">
          <a:xfrm>
            <a:off x="635489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2</a:t>
            </a:r>
          </a:p>
        </p:txBody>
      </p:sp>
      <p:sp>
        <p:nvSpPr>
          <p:cNvPr id="128016" name="Text Box 10"/>
          <p:cNvSpPr txBox="1">
            <a:spLocks noChangeArrowheads="1"/>
          </p:cNvSpPr>
          <p:nvPr/>
        </p:nvSpPr>
        <p:spPr bwMode="auto">
          <a:xfrm>
            <a:off x="6018343" y="2208217"/>
            <a:ext cx="14160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45" name="Line 11"/>
          <p:cNvSpPr>
            <a:spLocks noChangeShapeType="1"/>
          </p:cNvSpPr>
          <p:nvPr/>
        </p:nvSpPr>
        <p:spPr bwMode="auto">
          <a:xfrm>
            <a:off x="3125788" y="2408242"/>
            <a:ext cx="2883814"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Text Box 12"/>
          <p:cNvSpPr txBox="1">
            <a:spLocks noChangeArrowheads="1"/>
          </p:cNvSpPr>
          <p:nvPr/>
        </p:nvSpPr>
        <p:spPr bwMode="auto">
          <a:xfrm>
            <a:off x="3133147"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128019" name="Line 17"/>
          <p:cNvSpPr>
            <a:spLocks noChangeShapeType="1"/>
          </p:cNvSpPr>
          <p:nvPr/>
        </p:nvSpPr>
        <p:spPr bwMode="auto">
          <a:xfrm>
            <a:off x="1371600" y="2701929"/>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0" name="Text Box 20"/>
          <p:cNvSpPr txBox="1">
            <a:spLocks noChangeArrowheads="1"/>
          </p:cNvSpPr>
          <p:nvPr/>
        </p:nvSpPr>
        <p:spPr bwMode="auto">
          <a:xfrm>
            <a:off x="1551238" y="2888336"/>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51" name="Text Box 21"/>
          <p:cNvSpPr txBox="1">
            <a:spLocks noChangeArrowheads="1"/>
          </p:cNvSpPr>
          <p:nvPr/>
        </p:nvSpPr>
        <p:spPr bwMode="auto">
          <a:xfrm>
            <a:off x="5924681" y="2888336"/>
            <a:ext cx="1620837"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dirty="0">
                <a:solidFill>
                  <a:srgbClr val="0000FF"/>
                </a:solidFill>
                <a:latin typeface="微软雅黑" panose="020B0503020204020204" pitchFamily="34" charset="-122"/>
                <a:ea typeface="微软雅黑" panose="020B0503020204020204" pitchFamily="34" charset="-122"/>
              </a:rPr>
              <a:t>上层模块</a:t>
            </a:r>
          </a:p>
        </p:txBody>
      </p:sp>
      <p:sp>
        <p:nvSpPr>
          <p:cNvPr id="4" name="矩形 3"/>
          <p:cNvSpPr/>
          <p:nvPr/>
        </p:nvSpPr>
        <p:spPr>
          <a:xfrm>
            <a:off x="2414337" y="1253372"/>
            <a:ext cx="4323347" cy="3693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1</a:t>
            </a:r>
            <a:r>
              <a:rPr lang="zh-CN" altLang="en-US" b="1" dirty="0">
                <a:solidFill>
                  <a:srgbClr val="0000FF"/>
                </a:solidFill>
                <a:latin typeface="微软雅黑" panose="020B0503020204020204" pitchFamily="34" charset="-122"/>
                <a:ea typeface="微软雅黑" panose="020B0503020204020204" pitchFamily="34" charset="-122"/>
              </a:rPr>
              <a:t>，将</a:t>
            </a:r>
            <a:r>
              <a:rPr lang="zh-CN" altLang="en-US" b="1" dirty="0">
                <a:solidFill>
                  <a:srgbClr val="C00000"/>
                </a:solidFill>
                <a:latin typeface="微软雅黑" panose="020B0503020204020204" pitchFamily="34" charset="-122"/>
                <a:ea typeface="微软雅黑" panose="020B0503020204020204" pitchFamily="34" charset="-122"/>
              </a:rPr>
              <a:t>文件传送模块</a:t>
            </a:r>
            <a:r>
              <a:rPr lang="zh-CN" altLang="en-US" b="1" dirty="0">
                <a:solidFill>
                  <a:srgbClr val="0000FF"/>
                </a:solidFill>
                <a:latin typeface="微软雅黑" panose="020B0503020204020204" pitchFamily="34" charset="-122"/>
                <a:ea typeface="微软雅黑" panose="020B0503020204020204" pitchFamily="34" charset="-122"/>
              </a:rPr>
              <a:t>作为最高的一层</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41685"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6" name="文本占位符 5"/>
          <p:cNvSpPr>
            <a:spLocks noGrp="1"/>
          </p:cNvSpPr>
          <p:nvPr>
            <p:ph type="body" sz="quarter" idx="10"/>
          </p:nvPr>
        </p:nvSpPr>
        <p:spPr/>
        <p:txBody>
          <a:bodyPr/>
          <a:lstStyle/>
          <a:p>
            <a:r>
              <a:rPr lang="zh-CN" altLang="en-US" dirty="0"/>
              <a:t>划分层次的概念举例：两台主机通过网络传送文件</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up)">
                                      <p:cBhvr>
                                        <p:cTn id="7" dur="500"/>
                                        <p:tgtEl>
                                          <p:spTgt spid="50"/>
                                        </p:tgtEl>
                                      </p:cBhvr>
                                    </p:animEffect>
                                  </p:childTnLst>
                                </p:cTn>
                              </p:par>
                            </p:childTnLst>
                          </p:cTn>
                        </p:par>
                        <p:par>
                          <p:cTn id="8" fill="hold">
                            <p:stCondLst>
                              <p:cond delay="500"/>
                            </p:stCondLst>
                            <p:childTnLst>
                              <p:par>
                                <p:cTn id="9" presetID="22" presetClass="entr" presetSubtype="8" fill="hold" grpId="0" nodeType="afterEffect">
                                  <p:stCondLst>
                                    <p:cond delay="500"/>
                                  </p:stCondLst>
                                  <p:childTnLst>
                                    <p:set>
                                      <p:cBhvr>
                                        <p:cTn id="10" dur="1" fill="hold">
                                          <p:stCondLst>
                                            <p:cond delay="0"/>
                                          </p:stCondLst>
                                        </p:cTn>
                                        <p:tgtEl>
                                          <p:spTgt spid="51"/>
                                        </p:tgtEl>
                                        <p:attrNameLst>
                                          <p:attrName>style.visibility</p:attrName>
                                        </p:attrNameLst>
                                      </p:cBhvr>
                                      <p:to>
                                        <p:strVal val="visible"/>
                                      </p:to>
                                    </p:set>
                                    <p:animEffect transition="in" filter="wipe(left)">
                                      <p:cBhvr>
                                        <p:cTn id="11" dur="500"/>
                                        <p:tgtEl>
                                          <p:spTgt spid="5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up)">
                                      <p:cBhvr>
                                        <p:cTn id="16" dur="500"/>
                                        <p:tgtEl>
                                          <p:spTgt spid="46"/>
                                        </p:tgtEl>
                                      </p:cBhvr>
                                    </p:animEffect>
                                  </p:childTnLst>
                                </p:cTn>
                              </p:par>
                            </p:childTnLst>
                          </p:cTn>
                        </p:par>
                        <p:par>
                          <p:cTn id="17" fill="hold">
                            <p:stCondLst>
                              <p:cond delay="500"/>
                            </p:stCondLst>
                            <p:childTnLst>
                              <p:par>
                                <p:cTn id="18" presetID="22" presetClass="entr" presetSubtype="8" fill="hold" grpId="0" nodeType="afterEffect">
                                  <p:stCondLst>
                                    <p:cond delay="500"/>
                                  </p:stCondLst>
                                  <p:childTnLst>
                                    <p:set>
                                      <p:cBhvr>
                                        <p:cTn id="19" dur="1" fill="hold">
                                          <p:stCondLst>
                                            <p:cond delay="0"/>
                                          </p:stCondLst>
                                        </p:cTn>
                                        <p:tgtEl>
                                          <p:spTgt spid="45"/>
                                        </p:tgtEl>
                                        <p:attrNameLst>
                                          <p:attrName>style.visibility</p:attrName>
                                        </p:attrNameLst>
                                      </p:cBhvr>
                                      <p:to>
                                        <p:strVal val="visible"/>
                                      </p:to>
                                    </p:set>
                                    <p:animEffect transition="in" filter="wipe(left)">
                                      <p:cBhvr>
                                        <p:cTn id="20"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p:bldP spid="50" grpId="0"/>
      <p:bldP spid="51" grpId="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1170432"/>
            <a:ext cx="8133855"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2000" b="1" dirty="0">
              <a:solidFill>
                <a:schemeClr val="bg1"/>
              </a:solidFill>
              <a:ea typeface="微软雅黑" panose="020B0503020204020204" pitchFamily="34" charset="-122"/>
            </a:endParaRPr>
          </a:p>
        </p:txBody>
      </p:sp>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727200" y="2208217"/>
            <a:ext cx="1414463"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128014" name="Text Box 6"/>
          <p:cNvSpPr txBox="1">
            <a:spLocks noChangeArrowheads="1"/>
          </p:cNvSpPr>
          <p:nvPr/>
        </p:nvSpPr>
        <p:spPr bwMode="auto">
          <a:xfrm>
            <a:off x="206216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2</a:t>
            </a:r>
          </a:p>
        </p:txBody>
      </p:sp>
      <p:sp>
        <p:nvSpPr>
          <p:cNvPr id="128016" name="Text Box 10"/>
          <p:cNvSpPr txBox="1">
            <a:spLocks noChangeArrowheads="1"/>
          </p:cNvSpPr>
          <p:nvPr/>
        </p:nvSpPr>
        <p:spPr bwMode="auto">
          <a:xfrm>
            <a:off x="6010105" y="2208217"/>
            <a:ext cx="14160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4" name="矩形 3"/>
          <p:cNvSpPr/>
          <p:nvPr/>
        </p:nvSpPr>
        <p:spPr>
          <a:xfrm>
            <a:off x="2414337" y="1253372"/>
            <a:ext cx="4323347" cy="3693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2</a:t>
            </a:r>
            <a:r>
              <a:rPr lang="zh-CN" altLang="en-US" b="1" dirty="0">
                <a:solidFill>
                  <a:srgbClr val="0000FF"/>
                </a:solidFill>
                <a:latin typeface="微软雅黑" panose="020B0503020204020204" pitchFamily="34" charset="-122"/>
                <a:ea typeface="微软雅黑" panose="020B0503020204020204" pitchFamily="34" charset="-122"/>
              </a:rPr>
              <a:t>，再设计一个</a:t>
            </a:r>
            <a:r>
              <a:rPr lang="zh-CN" altLang="en-US" b="1" dirty="0">
                <a:solidFill>
                  <a:srgbClr val="C00000"/>
                </a:solidFill>
                <a:latin typeface="微软雅黑" panose="020B0503020204020204" pitchFamily="34" charset="-122"/>
                <a:ea typeface="微软雅黑" panose="020B0503020204020204" pitchFamily="34" charset="-122"/>
              </a:rPr>
              <a:t>通信服务模块</a:t>
            </a:r>
            <a:r>
              <a:rPr lang="zh-CN" altLang="en-US" b="1" dirty="0">
                <a:solidFill>
                  <a:srgbClr val="0000FF"/>
                </a:solidFill>
                <a:latin typeface="微软雅黑" panose="020B0503020204020204" pitchFamily="34" charset="-122"/>
                <a:ea typeface="微软雅黑" panose="020B0503020204020204" pitchFamily="34" charset="-122"/>
              </a:rPr>
              <a:t>层</a:t>
            </a:r>
          </a:p>
        </p:txBody>
      </p:sp>
      <p:sp>
        <p:nvSpPr>
          <p:cNvPr id="18" name="Line 11"/>
          <p:cNvSpPr>
            <a:spLocks noChangeShapeType="1"/>
          </p:cNvSpPr>
          <p:nvPr/>
        </p:nvSpPr>
        <p:spPr bwMode="auto">
          <a:xfrm>
            <a:off x="3139072" y="3023352"/>
            <a:ext cx="2871032"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1384885" y="3367004"/>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4" name="Text Box 20"/>
          <p:cNvSpPr txBox="1">
            <a:spLocks noChangeArrowheads="1"/>
          </p:cNvSpPr>
          <p:nvPr/>
        </p:nvSpPr>
        <p:spPr bwMode="auto">
          <a:xfrm>
            <a:off x="1548481" y="3564941"/>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25" name="Text Box 21"/>
          <p:cNvSpPr txBox="1">
            <a:spLocks noChangeArrowheads="1"/>
          </p:cNvSpPr>
          <p:nvPr/>
        </p:nvSpPr>
        <p:spPr bwMode="auto">
          <a:xfrm>
            <a:off x="5921706" y="3564941"/>
            <a:ext cx="1620838"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a:solidFill>
                  <a:srgbClr val="0000FF"/>
                </a:solidFill>
                <a:latin typeface="微软雅黑" panose="020B0503020204020204" pitchFamily="34" charset="-122"/>
                <a:ea typeface="微软雅黑" panose="020B0503020204020204" pitchFamily="34" charset="-122"/>
              </a:rPr>
              <a:t>上层模块</a:t>
            </a: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740485"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30" name="Text Box 10"/>
          <p:cNvSpPr txBox="1">
            <a:spLocks noChangeArrowheads="1"/>
          </p:cNvSpPr>
          <p:nvPr/>
        </p:nvSpPr>
        <p:spPr bwMode="auto">
          <a:xfrm>
            <a:off x="6023390"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4"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6" name="文本占位符 5"/>
          <p:cNvSpPr>
            <a:spLocks noGrp="1"/>
          </p:cNvSpPr>
          <p:nvPr>
            <p:ph type="body" sz="quarter" idx="10"/>
          </p:nvPr>
        </p:nvSpPr>
        <p:spPr/>
        <p:txBody>
          <a:bodyPr/>
          <a:lstStyle/>
          <a:p>
            <a:r>
              <a:rPr lang="zh-CN" altLang="en-US" dirty="0"/>
              <a:t>划分层次的概念举例：两台主机通过网络传送文件</a:t>
            </a:r>
          </a:p>
        </p:txBody>
      </p:sp>
    </p:spTree>
    <p:extLst>
      <p:ext uri="{BB962C8B-B14F-4D97-AF65-F5344CB8AC3E}">
        <p14:creationId xmlns:p14="http://schemas.microsoft.com/office/powerpoint/2010/main" val="39214054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250"/>
                                        <p:tgtEl>
                                          <p:spTgt spid="24"/>
                                        </p:tgtEl>
                                      </p:cBhvr>
                                    </p:animEffect>
                                  </p:childTnLst>
                                </p:cTn>
                              </p:par>
                            </p:childTnLst>
                          </p:cTn>
                        </p:par>
                        <p:par>
                          <p:cTn id="8" fill="hold">
                            <p:stCondLst>
                              <p:cond delay="250"/>
                            </p:stCondLst>
                            <p:childTnLst>
                              <p:par>
                                <p:cTn id="9" presetID="22" presetClass="entr" presetSubtype="8" fill="hold" grpId="0" nodeType="afterEffect">
                                  <p:stCondLst>
                                    <p:cond delay="25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500"/>
                                        <p:tgtEl>
                                          <p:spTgt spid="2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250"/>
                                        <p:tgtEl>
                                          <p:spTgt spid="19"/>
                                        </p:tgtEl>
                                      </p:cBhvr>
                                    </p:animEffect>
                                  </p:childTnLst>
                                </p:cTn>
                              </p:par>
                            </p:childTnLst>
                          </p:cTn>
                        </p:par>
                        <p:par>
                          <p:cTn id="17" fill="hold">
                            <p:stCondLst>
                              <p:cond delay="250"/>
                            </p:stCondLst>
                            <p:childTnLst>
                              <p:par>
                                <p:cTn id="18" presetID="22" presetClass="entr" presetSubtype="8" fill="hold" grpId="0" nodeType="afterEffect">
                                  <p:stCondLst>
                                    <p:cond delay="250"/>
                                  </p:stCondLst>
                                  <p:childTnLst>
                                    <p:set>
                                      <p:cBhvr>
                                        <p:cTn id="19" dur="1" fill="hold">
                                          <p:stCondLst>
                                            <p:cond delay="0"/>
                                          </p:stCondLst>
                                        </p:cTn>
                                        <p:tgtEl>
                                          <p:spTgt spid="18"/>
                                        </p:tgtEl>
                                        <p:attrNameLst>
                                          <p:attrName>style.visibility</p:attrName>
                                        </p:attrNameLst>
                                      </p:cBhvr>
                                      <p:to>
                                        <p:strVal val="visible"/>
                                      </p:to>
                                    </p:set>
                                    <p:animEffect transition="in" filter="wipe(left)">
                                      <p:cBhvr>
                                        <p:cTn id="2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p:bldP spid="24" grpId="0"/>
      <p:bldP spid="25"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1170432"/>
            <a:ext cx="8133855"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2000" b="1" dirty="0">
              <a:solidFill>
                <a:schemeClr val="bg1"/>
              </a:solidFill>
              <a:ea typeface="微软雅黑" panose="020B0503020204020204" pitchFamily="34" charset="-122"/>
            </a:endParaRPr>
          </a:p>
        </p:txBody>
      </p:sp>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727200" y="2208217"/>
            <a:ext cx="1414463"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128014" name="Text Box 6"/>
          <p:cNvSpPr txBox="1">
            <a:spLocks noChangeArrowheads="1"/>
          </p:cNvSpPr>
          <p:nvPr/>
        </p:nvSpPr>
        <p:spPr bwMode="auto">
          <a:xfrm>
            <a:off x="206216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2</a:t>
            </a:r>
          </a:p>
        </p:txBody>
      </p:sp>
      <p:sp>
        <p:nvSpPr>
          <p:cNvPr id="128016" name="Text Box 10"/>
          <p:cNvSpPr txBox="1">
            <a:spLocks noChangeArrowheads="1"/>
          </p:cNvSpPr>
          <p:nvPr/>
        </p:nvSpPr>
        <p:spPr bwMode="auto">
          <a:xfrm>
            <a:off x="6010105" y="2208217"/>
            <a:ext cx="14160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4" name="矩形 3"/>
          <p:cNvSpPr/>
          <p:nvPr/>
        </p:nvSpPr>
        <p:spPr>
          <a:xfrm>
            <a:off x="2414337" y="1253372"/>
            <a:ext cx="4323347" cy="3693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3</a:t>
            </a:r>
            <a:r>
              <a:rPr lang="zh-CN" altLang="en-US" b="1" dirty="0">
                <a:solidFill>
                  <a:srgbClr val="0000FF"/>
                </a:solidFill>
                <a:latin typeface="微软雅黑" panose="020B0503020204020204" pitchFamily="34" charset="-122"/>
                <a:ea typeface="微软雅黑" panose="020B0503020204020204" pitchFamily="34" charset="-122"/>
              </a:rPr>
              <a:t>，再设计一个</a:t>
            </a:r>
            <a:r>
              <a:rPr lang="zh-CN" altLang="en-US" b="1" dirty="0">
                <a:solidFill>
                  <a:srgbClr val="C00000"/>
                </a:solidFill>
                <a:latin typeface="微软雅黑" panose="020B0503020204020204" pitchFamily="34" charset="-122"/>
                <a:ea typeface="微软雅黑" panose="020B0503020204020204" pitchFamily="34" charset="-122"/>
              </a:rPr>
              <a:t>网络接入模块</a:t>
            </a:r>
            <a:r>
              <a:rPr lang="zh-CN" altLang="en-US" b="1" dirty="0">
                <a:solidFill>
                  <a:srgbClr val="0000FF"/>
                </a:solidFill>
                <a:latin typeface="微软雅黑" panose="020B0503020204020204" pitchFamily="34" charset="-122"/>
                <a:ea typeface="微软雅黑" panose="020B0503020204020204" pitchFamily="34" charset="-122"/>
              </a:rPr>
              <a:t>层</a:t>
            </a:r>
          </a:p>
        </p:txBody>
      </p:sp>
      <p:sp>
        <p:nvSpPr>
          <p:cNvPr id="18" name="Line 11"/>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2638926" y="3735970"/>
            <a:ext cx="4243138" cy="0"/>
          </a:xfrm>
          <a:prstGeom prst="line">
            <a:avLst/>
          </a:prstGeom>
          <a:noFill/>
          <a:ln w="38100">
            <a:solidFill>
              <a:srgbClr val="0000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740485"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30" name="Text Box 10"/>
          <p:cNvSpPr txBox="1">
            <a:spLocks noChangeArrowheads="1"/>
          </p:cNvSpPr>
          <p:nvPr/>
        </p:nvSpPr>
        <p:spPr bwMode="auto">
          <a:xfrm>
            <a:off x="6023390"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6" name="Rectangle 16"/>
          <p:cNvSpPr>
            <a:spLocks noChangeArrowheads="1"/>
          </p:cNvSpPr>
          <p:nvPr/>
        </p:nvSpPr>
        <p:spPr bwMode="auto">
          <a:xfrm>
            <a:off x="6048215"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Rectangle 15"/>
          <p:cNvSpPr>
            <a:spLocks noChangeArrowheads="1"/>
          </p:cNvSpPr>
          <p:nvPr/>
        </p:nvSpPr>
        <p:spPr bwMode="auto">
          <a:xfrm>
            <a:off x="1765298"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4" name="Text Box 5"/>
          <p:cNvSpPr txBox="1">
            <a:spLocks noChangeArrowheads="1"/>
          </p:cNvSpPr>
          <p:nvPr/>
        </p:nvSpPr>
        <p:spPr bwMode="auto">
          <a:xfrm>
            <a:off x="1748506" y="3568196"/>
            <a:ext cx="14160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网络接入模块</a:t>
            </a:r>
          </a:p>
        </p:txBody>
      </p:sp>
      <p:sp>
        <p:nvSpPr>
          <p:cNvPr id="35" name="Text Box 10"/>
          <p:cNvSpPr txBox="1">
            <a:spLocks noChangeArrowheads="1"/>
          </p:cNvSpPr>
          <p:nvPr/>
        </p:nvSpPr>
        <p:spPr bwMode="auto">
          <a:xfrm>
            <a:off x="6031411" y="3568196"/>
            <a:ext cx="14160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网络接入模块</a:t>
            </a:r>
          </a:p>
        </p:txBody>
      </p:sp>
      <p:sp>
        <p:nvSpPr>
          <p:cNvPr id="36" name="Text Box 6"/>
          <p:cNvSpPr txBox="1">
            <a:spLocks noChangeArrowheads="1"/>
          </p:cNvSpPr>
          <p:nvPr/>
        </p:nvSpPr>
        <p:spPr bwMode="auto">
          <a:xfrm>
            <a:off x="3129714"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网络</a:t>
            </a:r>
            <a:endParaRPr lang="en-US" altLang="zh-CN" sz="1200" b="1" dirty="0">
              <a:solidFill>
                <a:srgbClr val="0000FF"/>
              </a:solidFill>
              <a:latin typeface="微软雅黑" panose="020B0503020204020204" pitchFamily="34" charset="-122"/>
              <a:ea typeface="微软雅黑" panose="020B0503020204020204" pitchFamily="34" charset="-122"/>
            </a:endParaRPr>
          </a:p>
          <a:p>
            <a:r>
              <a:rPr lang="zh-CN" altLang="en-US" sz="1200" b="1" dirty="0">
                <a:solidFill>
                  <a:srgbClr val="0000FF"/>
                </a:solidFill>
                <a:latin typeface="微软雅黑" panose="020B0503020204020204" pitchFamily="34" charset="-122"/>
                <a:ea typeface="微软雅黑" panose="020B0503020204020204" pitchFamily="34" charset="-122"/>
              </a:rPr>
              <a:t>接口</a:t>
            </a:r>
            <a:endParaRPr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41" name="Text Box 6"/>
          <p:cNvSpPr txBox="1">
            <a:spLocks noChangeArrowheads="1"/>
          </p:cNvSpPr>
          <p:nvPr/>
        </p:nvSpPr>
        <p:spPr bwMode="auto">
          <a:xfrm>
            <a:off x="5577469"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网络</a:t>
            </a:r>
            <a:endParaRPr lang="en-US" altLang="zh-CN" sz="1200" b="1">
              <a:solidFill>
                <a:srgbClr val="0000FF"/>
              </a:solidFill>
              <a:latin typeface="微软雅黑" panose="020B0503020204020204" pitchFamily="34" charset="-122"/>
              <a:ea typeface="微软雅黑" panose="020B0503020204020204" pitchFamily="34" charset="-122"/>
            </a:endParaRPr>
          </a:p>
          <a:p>
            <a:r>
              <a:rPr lang="zh-CN" altLang="en-US" sz="1200" b="1">
                <a:solidFill>
                  <a:srgbClr val="0000FF"/>
                </a:solidFill>
                <a:latin typeface="微软雅黑" panose="020B0503020204020204" pitchFamily="34" charset="-122"/>
                <a:ea typeface="微软雅黑" panose="020B0503020204020204" pitchFamily="34" charset="-122"/>
              </a:rPr>
              <a:t>接口</a:t>
            </a:r>
            <a:endParaRPr lang="en-US" altLang="zh-CN" sz="1200" b="1">
              <a:solidFill>
                <a:srgbClr val="0000FF"/>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2"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grpSp>
        <p:nvGrpSpPr>
          <p:cNvPr id="44" name="Group 6"/>
          <p:cNvGrpSpPr/>
          <p:nvPr/>
        </p:nvGrpSpPr>
        <p:grpSpPr bwMode="auto">
          <a:xfrm>
            <a:off x="3819512" y="3373343"/>
            <a:ext cx="1501300" cy="646662"/>
            <a:chOff x="1680" y="240"/>
            <a:chExt cx="2529" cy="1270"/>
          </a:xfrm>
          <a:solidFill>
            <a:schemeClr val="bg1">
              <a:lumMod val="85000"/>
            </a:schemeClr>
          </a:solidFill>
        </p:grpSpPr>
        <p:sp>
          <p:nvSpPr>
            <p:cNvPr id="45" name="Oval 7"/>
            <p:cNvSpPr>
              <a:spLocks noChangeArrowheads="1"/>
            </p:cNvSpPr>
            <p:nvPr/>
          </p:nvSpPr>
          <p:spPr bwMode="auto">
            <a:xfrm>
              <a:off x="2554" y="240"/>
              <a:ext cx="1088" cy="513"/>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6" name="Oval 8"/>
            <p:cNvSpPr>
              <a:spLocks noChangeArrowheads="1"/>
            </p:cNvSpPr>
            <p:nvPr/>
          </p:nvSpPr>
          <p:spPr bwMode="auto">
            <a:xfrm>
              <a:off x="1941" y="381"/>
              <a:ext cx="827" cy="513"/>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7" name="Oval 9"/>
            <p:cNvSpPr>
              <a:spLocks noChangeArrowheads="1"/>
            </p:cNvSpPr>
            <p:nvPr/>
          </p:nvSpPr>
          <p:spPr bwMode="auto">
            <a:xfrm>
              <a:off x="1680" y="702"/>
              <a:ext cx="552" cy="411"/>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8" name="Oval 10"/>
            <p:cNvSpPr>
              <a:spLocks noChangeArrowheads="1"/>
            </p:cNvSpPr>
            <p:nvPr/>
          </p:nvSpPr>
          <p:spPr bwMode="auto">
            <a:xfrm>
              <a:off x="1849" y="894"/>
              <a:ext cx="842" cy="450"/>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Oval 11"/>
            <p:cNvSpPr>
              <a:spLocks noChangeArrowheads="1"/>
            </p:cNvSpPr>
            <p:nvPr/>
          </p:nvSpPr>
          <p:spPr bwMode="auto">
            <a:xfrm>
              <a:off x="2462" y="971"/>
              <a:ext cx="1272" cy="539"/>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Oval 12"/>
            <p:cNvSpPr>
              <a:spLocks noChangeArrowheads="1"/>
            </p:cNvSpPr>
            <p:nvPr/>
          </p:nvSpPr>
          <p:spPr bwMode="auto">
            <a:xfrm>
              <a:off x="3289" y="394"/>
              <a:ext cx="797" cy="398"/>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Oval 13"/>
            <p:cNvSpPr>
              <a:spLocks noChangeArrowheads="1"/>
            </p:cNvSpPr>
            <p:nvPr/>
          </p:nvSpPr>
          <p:spPr bwMode="auto">
            <a:xfrm>
              <a:off x="3412" y="663"/>
              <a:ext cx="797" cy="398"/>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Oval 14"/>
            <p:cNvSpPr>
              <a:spLocks noChangeArrowheads="1"/>
            </p:cNvSpPr>
            <p:nvPr/>
          </p:nvSpPr>
          <p:spPr bwMode="auto">
            <a:xfrm>
              <a:off x="3335" y="753"/>
              <a:ext cx="797" cy="668"/>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3" name="Oval 15"/>
            <p:cNvSpPr>
              <a:spLocks noChangeArrowheads="1"/>
            </p:cNvSpPr>
            <p:nvPr/>
          </p:nvSpPr>
          <p:spPr bwMode="auto">
            <a:xfrm>
              <a:off x="2102" y="432"/>
              <a:ext cx="1821" cy="82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38" name="Text Box 31"/>
          <p:cNvSpPr txBox="1">
            <a:spLocks noChangeArrowheads="1"/>
          </p:cNvSpPr>
          <p:nvPr/>
        </p:nvSpPr>
        <p:spPr bwMode="auto">
          <a:xfrm>
            <a:off x="4166350" y="3547570"/>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66"/>
                </a:solidFill>
                <a:latin typeface="微软雅黑" panose="020B0503020204020204" pitchFamily="34" charset="-122"/>
                <a:ea typeface="微软雅黑" panose="020B0503020204020204" pitchFamily="34" charset="-122"/>
              </a:rPr>
              <a:t>通信网络</a:t>
            </a:r>
          </a:p>
        </p:txBody>
      </p:sp>
      <p:sp>
        <p:nvSpPr>
          <p:cNvPr id="54" name="矩形 53"/>
          <p:cNvSpPr/>
          <p:nvPr/>
        </p:nvSpPr>
        <p:spPr>
          <a:xfrm>
            <a:off x="1441622" y="4384118"/>
            <a:ext cx="6631459" cy="307777"/>
          </a:xfrm>
          <a:prstGeom prst="rect">
            <a:avLst/>
          </a:prstGeom>
        </p:spPr>
        <p:txBody>
          <a:bodyPr wrap="square">
            <a:spAutoFit/>
          </a:bodyPr>
          <a:lstStyle/>
          <a:p>
            <a:pPr lvl="0"/>
            <a:r>
              <a:rPr lang="zh-CN" altLang="en-US" sz="1400" b="1" dirty="0">
                <a:solidFill>
                  <a:srgbClr val="0000FF"/>
                </a:solidFill>
                <a:latin typeface="微软雅黑" panose="020B0503020204020204" pitchFamily="34" charset="-122"/>
                <a:ea typeface="微软雅黑" panose="020B0503020204020204" pitchFamily="34" charset="-122"/>
              </a:rPr>
              <a:t>网络接入模块</a:t>
            </a:r>
            <a:r>
              <a:rPr lang="zh-CN" altLang="en-US" sz="1400" b="1" dirty="0">
                <a:solidFill>
                  <a:prstClr val="black"/>
                </a:solidFill>
                <a:latin typeface="微软雅黑" panose="020B0503020204020204" pitchFamily="34" charset="-122"/>
                <a:ea typeface="微软雅黑" panose="020B0503020204020204" pitchFamily="34" charset="-122"/>
              </a:rPr>
              <a:t>负责做与网络接口细节有关的工作，并向上层提供接入和通信服务。</a:t>
            </a:r>
          </a:p>
        </p:txBody>
      </p:sp>
      <p:sp>
        <p:nvSpPr>
          <p:cNvPr id="6" name="文本占位符 5"/>
          <p:cNvSpPr>
            <a:spLocks noGrp="1"/>
          </p:cNvSpPr>
          <p:nvPr>
            <p:ph type="body" sz="quarter" idx="10"/>
          </p:nvPr>
        </p:nvSpPr>
        <p:spPr/>
        <p:txBody>
          <a:bodyPr/>
          <a:lstStyle/>
          <a:p>
            <a:r>
              <a:rPr lang="zh-CN" altLang="en-US" dirty="0"/>
              <a:t>划分层次的概念举例：两台主机通过网络传送文件</a:t>
            </a:r>
          </a:p>
        </p:txBody>
      </p:sp>
    </p:spTree>
    <p:extLst>
      <p:ext uri="{BB962C8B-B14F-4D97-AF65-F5344CB8AC3E}">
        <p14:creationId xmlns:p14="http://schemas.microsoft.com/office/powerpoint/2010/main" val="10256114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1157659543"/>
              </p:ext>
            </p:extLst>
          </p:nvPr>
        </p:nvGraphicFramePr>
        <p:xfrm>
          <a:off x="1522310" y="1050332"/>
          <a:ext cx="6096000" cy="23062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文本占位符 1"/>
          <p:cNvSpPr>
            <a:spLocks noGrp="1"/>
          </p:cNvSpPr>
          <p:nvPr>
            <p:ph type="body" sz="quarter" idx="10"/>
          </p:nvPr>
        </p:nvSpPr>
        <p:spPr/>
        <p:txBody>
          <a:bodyPr/>
          <a:lstStyle/>
          <a:p>
            <a:r>
              <a:rPr lang="zh-CN" altLang="en-US" dirty="0"/>
              <a:t>分层的优点与缺点</a:t>
            </a:r>
          </a:p>
        </p:txBody>
      </p:sp>
      <p:grpSp>
        <p:nvGrpSpPr>
          <p:cNvPr id="12" name="组合 11"/>
          <p:cNvGrpSpPr/>
          <p:nvPr/>
        </p:nvGrpSpPr>
        <p:grpSpPr>
          <a:xfrm>
            <a:off x="899052" y="3392041"/>
            <a:ext cx="7333652" cy="1112068"/>
            <a:chOff x="595996" y="3877027"/>
            <a:chExt cx="5719975" cy="1112068"/>
          </a:xfrm>
        </p:grpSpPr>
        <p:sp>
          <p:nvSpPr>
            <p:cNvPr id="13" name="对角圆角矩形 12"/>
            <p:cNvSpPr/>
            <p:nvPr/>
          </p:nvSpPr>
          <p:spPr>
            <a:xfrm>
              <a:off x="595996" y="3877027"/>
              <a:ext cx="5719975" cy="111206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fontAlgn="auto">
                <a:spcBef>
                  <a:spcPts val="0"/>
                </a:spcBef>
                <a:spcAft>
                  <a:spcPts val="0"/>
                </a:spcAft>
                <a:defRPr/>
              </a:pPr>
              <a:endParaRPr lang="zh-CN" altLang="en-US" sz="1600" dirty="0"/>
            </a:p>
          </p:txBody>
        </p:sp>
        <p:sp>
          <p:nvSpPr>
            <p:cNvPr id="14" name="矩形 5"/>
            <p:cNvSpPr>
              <a:spLocks noChangeArrowheads="1"/>
            </p:cNvSpPr>
            <p:nvPr/>
          </p:nvSpPr>
          <p:spPr bwMode="auto">
            <a:xfrm>
              <a:off x="710641" y="3955503"/>
              <a:ext cx="5476826" cy="938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200"/>
                </a:lnSpc>
              </a:pPr>
              <a:r>
                <a:rPr lang="zh-CN" altLang="en-US" sz="1600" b="1" dirty="0">
                  <a:solidFill>
                    <a:srgbClr val="FFFF00"/>
                  </a:solidFill>
                  <a:latin typeface="微软雅黑" panose="020B0503020204020204" pitchFamily="34" charset="-122"/>
                  <a:ea typeface="微软雅黑" panose="020B0503020204020204" pitchFamily="34" charset="-122"/>
                </a:rPr>
                <a:t>注意：每一层的功能应非常明确。</a:t>
              </a:r>
              <a:endParaRPr lang="en-US" altLang="zh-CN" sz="1600" b="1" dirty="0">
                <a:solidFill>
                  <a:srgbClr val="FFFF00"/>
                </a:solidFill>
                <a:latin typeface="微软雅黑" panose="020B0503020204020204" pitchFamily="34" charset="-122"/>
                <a:ea typeface="微软雅黑" panose="020B0503020204020204" pitchFamily="34" charset="-122"/>
              </a:endParaRPr>
            </a:p>
            <a:p>
              <a:pPr>
                <a:lnSpc>
                  <a:spcPts val="2200"/>
                </a:lnSpc>
              </a:pPr>
              <a:r>
                <a:rPr lang="zh-CN" altLang="en-US" sz="1600" b="1" dirty="0">
                  <a:solidFill>
                    <a:schemeClr val="bg1"/>
                  </a:solidFill>
                  <a:latin typeface="微软雅黑" panose="020B0503020204020204" pitchFamily="34" charset="-122"/>
                  <a:ea typeface="微软雅黑" panose="020B0503020204020204" pitchFamily="34" charset="-122"/>
                </a:rPr>
                <a:t>层数太少，就会使每一层的协议太复杂。</a:t>
              </a:r>
              <a:endParaRPr lang="en-US" altLang="zh-CN" sz="1600" b="1" dirty="0">
                <a:solidFill>
                  <a:schemeClr val="bg1"/>
                </a:solidFill>
                <a:latin typeface="微软雅黑" panose="020B0503020204020204" pitchFamily="34" charset="-122"/>
                <a:ea typeface="微软雅黑" panose="020B0503020204020204" pitchFamily="34" charset="-122"/>
              </a:endParaRPr>
            </a:p>
            <a:p>
              <a:pPr>
                <a:lnSpc>
                  <a:spcPts val="2200"/>
                </a:lnSpc>
              </a:pPr>
              <a:r>
                <a:rPr lang="zh-CN" altLang="en-US" sz="1600" b="1" dirty="0">
                  <a:solidFill>
                    <a:schemeClr val="bg1"/>
                  </a:solidFill>
                  <a:latin typeface="微软雅黑" panose="020B0503020204020204" pitchFamily="34" charset="-122"/>
                  <a:ea typeface="微软雅黑" panose="020B0503020204020204" pitchFamily="34" charset="-122"/>
                </a:rPr>
                <a:t>层数太多，又会在描述和综合各层功能的系统工程任务时遇到较多的困难。</a:t>
              </a:r>
            </a:p>
          </p:txBody>
        </p:sp>
      </p:grpSp>
    </p:spTree>
    <p:extLst>
      <p:ext uri="{BB962C8B-B14F-4D97-AF65-F5344CB8AC3E}">
        <p14:creationId xmlns:p14="http://schemas.microsoft.com/office/powerpoint/2010/main" val="157229006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1000" fill="hold"/>
                                        <p:tgtEl>
                                          <p:spTgt spid="12"/>
                                        </p:tgtEl>
                                        <p:attrNameLst>
                                          <p:attrName>ppt_w</p:attrName>
                                        </p:attrNameLst>
                                      </p:cBhvr>
                                      <p:tavLst>
                                        <p:tav tm="0">
                                          <p:val>
                                            <p:fltVal val="0"/>
                                          </p:val>
                                        </p:tav>
                                        <p:tav tm="100000">
                                          <p:val>
                                            <p:strVal val="#ppt_w"/>
                                          </p:val>
                                        </p:tav>
                                      </p:tavLst>
                                    </p:anim>
                                    <p:anim calcmode="lin" valueType="num">
                                      <p:cBhvr>
                                        <p:cTn id="8" dur="1000" fill="hold"/>
                                        <p:tgtEl>
                                          <p:spTgt spid="12"/>
                                        </p:tgtEl>
                                        <p:attrNameLst>
                                          <p:attrName>ppt_h</p:attrName>
                                        </p:attrNameLst>
                                      </p:cBhvr>
                                      <p:tavLst>
                                        <p:tav tm="0">
                                          <p:val>
                                            <p:fltVal val="0"/>
                                          </p:val>
                                        </p:tav>
                                        <p:tav tm="100000">
                                          <p:val>
                                            <p:strVal val="#ppt_h"/>
                                          </p:val>
                                        </p:tav>
                                      </p:tavLst>
                                    </p:anim>
                                    <p:animEffect transition="in" filter="fade">
                                      <p:cBhvr>
                                        <p:cTn id="9"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r>
              <a:rPr lang="zh-CN" altLang="en-US" dirty="0">
                <a:solidFill>
                  <a:srgbClr val="C00000"/>
                </a:solidFill>
              </a:rPr>
              <a:t>差错控制：</a:t>
            </a:r>
            <a:r>
              <a:rPr lang="zh-CN" altLang="en-US" dirty="0"/>
              <a:t>使相应层次对等方的通信更加可靠。</a:t>
            </a:r>
          </a:p>
          <a:p>
            <a:r>
              <a:rPr lang="zh-CN" altLang="en-US" dirty="0">
                <a:solidFill>
                  <a:srgbClr val="C00000"/>
                </a:solidFill>
              </a:rPr>
              <a:t>流量控制：</a:t>
            </a:r>
            <a:r>
              <a:rPr lang="zh-CN" altLang="en-US" dirty="0"/>
              <a:t>发送端的发送速率必须使接收端来得及接收，不要太快。</a:t>
            </a:r>
          </a:p>
          <a:p>
            <a:r>
              <a:rPr lang="zh-CN" altLang="en-US" dirty="0">
                <a:solidFill>
                  <a:srgbClr val="C00000"/>
                </a:solidFill>
              </a:rPr>
              <a:t>分段和重装：</a:t>
            </a:r>
            <a:r>
              <a:rPr lang="zh-CN" altLang="en-US" dirty="0"/>
              <a:t>发送端将要发送的数据块划分为更小的单位，在接收端将其还原。</a:t>
            </a:r>
          </a:p>
          <a:p>
            <a:r>
              <a:rPr lang="zh-CN" altLang="en-US" dirty="0">
                <a:solidFill>
                  <a:srgbClr val="C00000"/>
                </a:solidFill>
              </a:rPr>
              <a:t>复用和分用：</a:t>
            </a:r>
            <a:r>
              <a:rPr lang="zh-CN" altLang="en-US" dirty="0"/>
              <a:t>发送端几个高层会话复用一条低层的连接，在接收端再进行分用。</a:t>
            </a:r>
          </a:p>
          <a:p>
            <a:r>
              <a:rPr lang="zh-CN" altLang="en-US" dirty="0">
                <a:solidFill>
                  <a:srgbClr val="C00000"/>
                </a:solidFill>
              </a:rPr>
              <a:t>连接建立和释放：</a:t>
            </a:r>
            <a:r>
              <a:rPr lang="zh-CN" altLang="en-US" dirty="0"/>
              <a:t>交换数据前先建立一条逻辑连接，数据传送结束后释放连接。</a:t>
            </a:r>
          </a:p>
          <a:p>
            <a:endParaRPr lang="zh-CN" altLang="en-US" dirty="0"/>
          </a:p>
        </p:txBody>
      </p:sp>
      <p:sp>
        <p:nvSpPr>
          <p:cNvPr id="4" name="文本占位符 3"/>
          <p:cNvSpPr>
            <a:spLocks noGrp="1"/>
          </p:cNvSpPr>
          <p:nvPr>
            <p:ph type="body" sz="quarter" idx="11"/>
          </p:nvPr>
        </p:nvSpPr>
        <p:spPr/>
        <p:txBody>
          <a:bodyPr/>
          <a:lstStyle/>
          <a:p>
            <a:r>
              <a:rPr lang="zh-CN" altLang="zh-CN" dirty="0"/>
              <a:t>各层完成的主要功能</a:t>
            </a:r>
            <a:endParaRPr lang="zh-CN" altLang="en-US" dirty="0"/>
          </a:p>
        </p:txBody>
      </p:sp>
    </p:spTree>
    <p:extLst>
      <p:ext uri="{BB962C8B-B14F-4D97-AF65-F5344CB8AC3E}">
        <p14:creationId xmlns:p14="http://schemas.microsoft.com/office/powerpoint/2010/main" val="8385035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zh-CN" altLang="en-US" dirty="0">
                <a:solidFill>
                  <a:srgbClr val="C00000"/>
                </a:solidFill>
              </a:rPr>
              <a:t>网络的体系结构 </a:t>
            </a:r>
            <a:r>
              <a:rPr lang="en-US" altLang="zh-CN" dirty="0"/>
              <a:t>(Network Architecture) </a:t>
            </a:r>
            <a:r>
              <a:rPr lang="zh-CN" altLang="en-US" dirty="0"/>
              <a:t>是计算机网络的各层及其协议的</a:t>
            </a:r>
            <a:r>
              <a:rPr lang="zh-CN" altLang="en-US" dirty="0">
                <a:solidFill>
                  <a:srgbClr val="C00000"/>
                </a:solidFill>
              </a:rPr>
              <a:t>集合，</a:t>
            </a:r>
            <a:r>
              <a:rPr lang="zh-CN" altLang="en-US" dirty="0"/>
              <a:t>就是这个计算机网络及其构件所应完成的</a:t>
            </a:r>
            <a:r>
              <a:rPr lang="zh-CN" altLang="en-US" dirty="0">
                <a:solidFill>
                  <a:srgbClr val="C00000"/>
                </a:solidFill>
              </a:rPr>
              <a:t>功能的精确定义（不涉及实现）。</a:t>
            </a:r>
          </a:p>
          <a:p>
            <a:r>
              <a:rPr lang="zh-CN" altLang="en-US" dirty="0">
                <a:solidFill>
                  <a:srgbClr val="0000FF"/>
                </a:solidFill>
              </a:rPr>
              <a:t>实现</a:t>
            </a:r>
            <a:r>
              <a:rPr lang="zh-CN" altLang="en-US" dirty="0"/>
              <a:t> </a:t>
            </a:r>
            <a:r>
              <a:rPr lang="en-US" altLang="zh-CN" dirty="0"/>
              <a:t>(implementation) </a:t>
            </a:r>
            <a:r>
              <a:rPr lang="zh-CN" altLang="en-US" dirty="0"/>
              <a:t>是遵循这种体系结构的前提下，用何种硬件或软件完成这些功能的问题。</a:t>
            </a:r>
          </a:p>
        </p:txBody>
      </p:sp>
      <p:sp>
        <p:nvSpPr>
          <p:cNvPr id="4" name="文本占位符 3"/>
          <p:cNvSpPr>
            <a:spLocks noGrp="1"/>
          </p:cNvSpPr>
          <p:nvPr>
            <p:ph type="body" sz="quarter" idx="11"/>
          </p:nvPr>
        </p:nvSpPr>
        <p:spPr/>
        <p:txBody>
          <a:bodyPr/>
          <a:lstStyle/>
          <a:p>
            <a:r>
              <a:rPr lang="zh-CN" altLang="en-US" dirty="0"/>
              <a:t>计算机网络的体系结构</a:t>
            </a:r>
          </a:p>
        </p:txBody>
      </p:sp>
      <p:grpSp>
        <p:nvGrpSpPr>
          <p:cNvPr id="5" name="组合 4"/>
          <p:cNvGrpSpPr/>
          <p:nvPr/>
        </p:nvGrpSpPr>
        <p:grpSpPr>
          <a:xfrm>
            <a:off x="1674699" y="3024453"/>
            <a:ext cx="5263652" cy="959666"/>
            <a:chOff x="595997" y="3877027"/>
            <a:chExt cx="4614827" cy="1042751"/>
          </a:xfrm>
        </p:grpSpPr>
        <p:sp>
          <p:nvSpPr>
            <p:cNvPr id="6" name="对角圆角矩形 5"/>
            <p:cNvSpPr/>
            <p:nvPr/>
          </p:nvSpPr>
          <p:spPr>
            <a:xfrm>
              <a:off x="595997" y="3877027"/>
              <a:ext cx="4614827" cy="104275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fontAlgn="auto">
                <a:spcBef>
                  <a:spcPts val="0"/>
                </a:spcBef>
                <a:spcAft>
                  <a:spcPts val="0"/>
                </a:spcAft>
                <a:defRPr/>
              </a:pPr>
              <a:endParaRPr lang="zh-CN" altLang="en-US" sz="1600" dirty="0"/>
            </a:p>
          </p:txBody>
        </p:sp>
        <p:sp>
          <p:nvSpPr>
            <p:cNvPr id="7" name="矩形 5"/>
            <p:cNvSpPr>
              <a:spLocks noChangeArrowheads="1"/>
            </p:cNvSpPr>
            <p:nvPr/>
          </p:nvSpPr>
          <p:spPr bwMode="auto">
            <a:xfrm>
              <a:off x="710641" y="3981649"/>
              <a:ext cx="4389878" cy="8249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体系结构是</a:t>
              </a:r>
              <a:r>
                <a:rPr lang="zh-CN" altLang="en-US" b="1" dirty="0">
                  <a:solidFill>
                    <a:srgbClr val="FFFF00"/>
                  </a:solidFill>
                  <a:latin typeface="微软雅黑" panose="020B0503020204020204" pitchFamily="34" charset="-122"/>
                  <a:ea typeface="微软雅黑" panose="020B0503020204020204" pitchFamily="34" charset="-122"/>
                </a:rPr>
                <a:t>抽象</a:t>
              </a:r>
              <a:r>
                <a:rPr lang="zh-CN" altLang="en-US" b="1" dirty="0">
                  <a:solidFill>
                    <a:schemeClr val="bg1"/>
                  </a:solidFill>
                  <a:latin typeface="微软雅黑" panose="020B0503020204020204" pitchFamily="34" charset="-122"/>
                  <a:ea typeface="微软雅黑" panose="020B0503020204020204" pitchFamily="34" charset="-122"/>
                </a:rPr>
                <a:t>的，而实现则是</a:t>
              </a:r>
              <a:r>
                <a:rPr lang="zh-CN" altLang="en-US" b="1" dirty="0">
                  <a:solidFill>
                    <a:srgbClr val="FFFF00"/>
                  </a:solidFill>
                  <a:latin typeface="微软雅黑" panose="020B0503020204020204" pitchFamily="34" charset="-122"/>
                  <a:ea typeface="微软雅黑" panose="020B0503020204020204" pitchFamily="34" charset="-122"/>
                </a:rPr>
                <a:t>具体</a:t>
              </a:r>
              <a:r>
                <a:rPr lang="zh-CN" altLang="en-US" b="1" dirty="0">
                  <a:solidFill>
                    <a:schemeClr val="bg1"/>
                  </a:solidFill>
                  <a:latin typeface="微软雅黑" panose="020B0503020204020204" pitchFamily="34" charset="-122"/>
                  <a:ea typeface="微软雅黑" panose="020B0503020204020204" pitchFamily="34" charset="-122"/>
                </a:rPr>
                <a:t>的，是真正在运行的计算机硬件和软件。</a:t>
              </a:r>
            </a:p>
          </p:txBody>
        </p:sp>
      </p:grpSp>
    </p:spTree>
    <p:extLst>
      <p:ext uri="{BB962C8B-B14F-4D97-AF65-F5344CB8AC3E}">
        <p14:creationId xmlns:p14="http://schemas.microsoft.com/office/powerpoint/2010/main" val="29807249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fltVal val="0"/>
                                          </p:val>
                                        </p:tav>
                                        <p:tav tm="100000">
                                          <p:val>
                                            <p:strVal val="#ppt_w"/>
                                          </p:val>
                                        </p:tav>
                                      </p:tavLst>
                                    </p:anim>
                                    <p:anim calcmode="lin" valueType="num">
                                      <p:cBhvr>
                                        <p:cTn id="8" dur="1000" fill="hold"/>
                                        <p:tgtEl>
                                          <p:spTgt spid="5"/>
                                        </p:tgtEl>
                                        <p:attrNameLst>
                                          <p:attrName>ppt_h</p:attrName>
                                        </p:attrNameLst>
                                      </p:cBhvr>
                                      <p:tavLst>
                                        <p:tav tm="0">
                                          <p:val>
                                            <p:fltVal val="0"/>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0"/>
          </p:nvPr>
        </p:nvSpPr>
        <p:spPr/>
        <p:txBody>
          <a:bodyPr/>
          <a:lstStyle/>
          <a:p>
            <a:r>
              <a:rPr lang="en-US" altLang="zh-CN" dirty="0"/>
              <a:t>1.7.3  </a:t>
            </a:r>
            <a:r>
              <a:rPr lang="zh-CN" altLang="en-US" dirty="0"/>
              <a:t>具有五层协议的体系结构</a:t>
            </a:r>
          </a:p>
        </p:txBody>
      </p:sp>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4" name="组合 53"/>
          <p:cNvGrpSpPr/>
          <p:nvPr/>
        </p:nvGrpSpPr>
        <p:grpSpPr>
          <a:xfrm>
            <a:off x="1557339" y="1623511"/>
            <a:ext cx="1341438" cy="2356685"/>
            <a:chOff x="1557339" y="1623511"/>
            <a:chExt cx="1341438" cy="2356685"/>
          </a:xfrm>
        </p:grpSpPr>
        <p:sp>
          <p:nvSpPr>
            <p:cNvPr id="7"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8"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9"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0"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1"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2"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3"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4"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15" name="Text Box 23"/>
            <p:cNvSpPr txBox="1">
              <a:spLocks noChangeArrowheads="1"/>
            </p:cNvSpPr>
            <p:nvPr/>
          </p:nvSpPr>
          <p:spPr bwMode="auto">
            <a:xfrm>
              <a:off x="2006602" y="2661736"/>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运输层</a:t>
              </a:r>
            </a:p>
          </p:txBody>
        </p:sp>
        <p:sp>
          <p:nvSpPr>
            <p:cNvPr id="16"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网络层</a:t>
              </a:r>
            </a:p>
          </p:txBody>
        </p:sp>
        <p:sp>
          <p:nvSpPr>
            <p:cNvPr id="17"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18"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19"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数据链路层</a:t>
              </a:r>
            </a:p>
          </p:txBody>
        </p:sp>
        <p:sp>
          <p:nvSpPr>
            <p:cNvPr id="20"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21"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22" name="Text Box 13"/>
          <p:cNvSpPr txBox="1">
            <a:spLocks noChangeArrowheads="1"/>
          </p:cNvSpPr>
          <p:nvPr/>
        </p:nvSpPr>
        <p:spPr bwMode="auto">
          <a:xfrm>
            <a:off x="1156623" y="128696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99"/>
                </a:solidFill>
                <a:latin typeface="微软雅黑" panose="020B0503020204020204" pitchFamily="34" charset="-122"/>
                <a:ea typeface="微软雅黑" panose="020B0503020204020204" pitchFamily="34" charset="-122"/>
              </a:rPr>
              <a:t>OSI </a:t>
            </a:r>
            <a:r>
              <a:rPr kumimoji="1" lang="zh-CN" altLang="en-US" sz="1400" b="1"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32" name="Text Box 12"/>
          <p:cNvSpPr txBox="1">
            <a:spLocks noChangeArrowheads="1"/>
          </p:cNvSpPr>
          <p:nvPr/>
        </p:nvSpPr>
        <p:spPr bwMode="auto">
          <a:xfrm>
            <a:off x="3432593" y="127584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latin typeface="微软雅黑" panose="020B0503020204020204" pitchFamily="34" charset="-122"/>
                <a:ea typeface="微软雅黑" panose="020B0503020204020204" pitchFamily="34" charset="-122"/>
              </a:rPr>
              <a:t>TCP/IP </a:t>
            </a:r>
            <a:r>
              <a:rPr kumimoji="1" lang="zh-CN" altLang="en-US" sz="1400" b="1" dirty="0">
                <a:latin typeface="微软雅黑" panose="020B0503020204020204" pitchFamily="34" charset="-122"/>
                <a:ea typeface="微软雅黑" panose="020B0503020204020204" pitchFamily="34" charset="-122"/>
              </a:rPr>
              <a:t>的四层协议体系结构</a:t>
            </a:r>
          </a:p>
        </p:txBody>
      </p:sp>
      <p:sp>
        <p:nvSpPr>
          <p:cNvPr id="33" name="Text Box 95"/>
          <p:cNvSpPr txBox="1">
            <a:spLocks noChangeArrowheads="1"/>
          </p:cNvSpPr>
          <p:nvPr/>
        </p:nvSpPr>
        <p:spPr bwMode="auto">
          <a:xfrm>
            <a:off x="1993066" y="392538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34" name="Text Box 96"/>
          <p:cNvSpPr txBox="1">
            <a:spLocks noChangeArrowheads="1"/>
          </p:cNvSpPr>
          <p:nvPr/>
        </p:nvSpPr>
        <p:spPr bwMode="auto">
          <a:xfrm>
            <a:off x="4328191" y="392538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35" name="Text Box 97"/>
          <p:cNvSpPr txBox="1">
            <a:spLocks noChangeArrowheads="1"/>
          </p:cNvSpPr>
          <p:nvPr/>
        </p:nvSpPr>
        <p:spPr bwMode="auto">
          <a:xfrm>
            <a:off x="6655970" y="393340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47" name="Text Box 113"/>
          <p:cNvSpPr txBox="1">
            <a:spLocks noChangeArrowheads="1"/>
          </p:cNvSpPr>
          <p:nvPr/>
        </p:nvSpPr>
        <p:spPr bwMode="auto">
          <a:xfrm>
            <a:off x="5946357" y="127108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b="1"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53" name="组合 52"/>
          <p:cNvGrpSpPr/>
          <p:nvPr/>
        </p:nvGrpSpPr>
        <p:grpSpPr>
          <a:xfrm>
            <a:off x="3578724" y="1591761"/>
            <a:ext cx="1974894" cy="2338387"/>
            <a:chOff x="3578724" y="1591761"/>
            <a:chExt cx="1974894" cy="2338387"/>
          </a:xfrm>
        </p:grpSpPr>
        <p:sp>
          <p:nvSpPr>
            <p:cNvPr id="23"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4"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25"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26"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27"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28"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29"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30"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31"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   </a:t>
              </a:r>
              <a:r>
                <a:rPr kumimoji="1" lang="zh-CN" altLang="en-US" sz="1100" b="1" dirty="0">
                  <a:latin typeface="微软雅黑" panose="020B0503020204020204" pitchFamily="34" charset="-122"/>
                  <a:ea typeface="微软雅黑" panose="020B0503020204020204" pitchFamily="34" charset="-122"/>
                </a:rPr>
                <a:t>运输层 </a:t>
              </a:r>
              <a:r>
                <a:rPr kumimoji="1" lang="en-US" altLang="zh-CN" sz="1100" b="1" dirty="0">
                  <a:latin typeface="微软雅黑" panose="020B0503020204020204" pitchFamily="34" charset="-122"/>
                  <a:ea typeface="微软雅黑" panose="020B0503020204020204" pitchFamily="34" charset="-122"/>
                </a:rPr>
                <a:t>(TCP </a:t>
              </a:r>
              <a:r>
                <a:rPr kumimoji="1" lang="zh-CN" altLang="en-US" sz="1100" b="1" dirty="0">
                  <a:latin typeface="微软雅黑" panose="020B0503020204020204" pitchFamily="34" charset="-122"/>
                  <a:ea typeface="微软雅黑" panose="020B0503020204020204" pitchFamily="34" charset="-122"/>
                </a:rPr>
                <a:t>或 </a:t>
              </a:r>
              <a:r>
                <a:rPr kumimoji="1" lang="en-US" altLang="zh-CN" sz="1100" b="1" dirty="0">
                  <a:latin typeface="微软雅黑" panose="020B0503020204020204" pitchFamily="34" charset="-122"/>
                  <a:ea typeface="微软雅黑" panose="020B0503020204020204" pitchFamily="34" charset="-122"/>
                </a:rPr>
                <a:t>UDP)</a:t>
              </a:r>
            </a:p>
          </p:txBody>
        </p:sp>
        <p:sp>
          <p:nvSpPr>
            <p:cNvPr id="48"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3" name="直接连接符 2"/>
          <p:cNvCxnSpPr/>
          <p:nvPr/>
        </p:nvCxnSpPr>
        <p:spPr>
          <a:xfrm>
            <a:off x="5334249" y="329372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51" name="直接连接符 50"/>
          <p:cNvCxnSpPr/>
          <p:nvPr/>
        </p:nvCxnSpPr>
        <p:spPr>
          <a:xfrm>
            <a:off x="5334249" y="392246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52" name="组合 51"/>
          <p:cNvGrpSpPr/>
          <p:nvPr/>
        </p:nvGrpSpPr>
        <p:grpSpPr>
          <a:xfrm>
            <a:off x="6217820" y="1623594"/>
            <a:ext cx="1341437" cy="2350069"/>
            <a:chOff x="6217820" y="1623594"/>
            <a:chExt cx="1341437" cy="2350069"/>
          </a:xfrm>
        </p:grpSpPr>
        <p:sp>
          <p:nvSpPr>
            <p:cNvPr id="3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3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38"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3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4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41"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运输层</a:t>
              </a:r>
            </a:p>
          </p:txBody>
        </p:sp>
        <p:sp>
          <p:nvSpPr>
            <p:cNvPr id="42"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网络层</a:t>
              </a:r>
            </a:p>
          </p:txBody>
        </p:sp>
        <p:sp>
          <p:nvSpPr>
            <p:cNvPr id="43"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44"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数据链路层</a:t>
              </a:r>
            </a:p>
          </p:txBody>
        </p:sp>
        <p:sp>
          <p:nvSpPr>
            <p:cNvPr id="45"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46"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Tree>
    <p:extLst>
      <p:ext uri="{BB962C8B-B14F-4D97-AF65-F5344CB8AC3E}">
        <p14:creationId xmlns:p14="http://schemas.microsoft.com/office/powerpoint/2010/main" val="41903863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13162"/>
              <a:gd name="adj2" fmla="val 31"/>
              <a:gd name="adj3" fmla="val 22639"/>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30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通过应用进程间的交互来完成特定网络应用。</a:t>
            </a:r>
          </a:p>
          <a:p>
            <a:pPr marL="285750" indent="-285750">
              <a:lnSpc>
                <a:spcPts val="30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协议：</a:t>
            </a:r>
            <a:r>
              <a:rPr lang="zh-CN" altLang="en-US" b="1" dirty="0">
                <a:solidFill>
                  <a:srgbClr val="000066"/>
                </a:solidFill>
                <a:latin typeface="微软雅黑" panose="020B0503020204020204" pitchFamily="34" charset="-122"/>
                <a:ea typeface="微软雅黑" panose="020B0503020204020204" pitchFamily="34" charset="-122"/>
              </a:rPr>
              <a:t>定义的是</a:t>
            </a:r>
            <a:r>
              <a:rPr lang="zh-CN" altLang="en-US" b="1" dirty="0">
                <a:solidFill>
                  <a:srgbClr val="C00000"/>
                </a:solidFill>
                <a:latin typeface="微软雅黑" panose="020B0503020204020204" pitchFamily="34" charset="-122"/>
                <a:ea typeface="微软雅黑" panose="020B0503020204020204" pitchFamily="34" charset="-122"/>
              </a:rPr>
              <a:t>应用进程</a:t>
            </a:r>
            <a:r>
              <a:rPr lang="zh-CN" altLang="en-US" b="1" dirty="0">
                <a:solidFill>
                  <a:srgbClr val="000066"/>
                </a:solidFill>
                <a:latin typeface="微软雅黑" panose="020B0503020204020204" pitchFamily="34" charset="-122"/>
                <a:ea typeface="微软雅黑" panose="020B0503020204020204" pitchFamily="34" charset="-122"/>
              </a:rPr>
              <a:t>间通信和交互的规则。</a:t>
            </a:r>
          </a:p>
          <a:p>
            <a:pPr marL="285750" indent="-285750">
              <a:lnSpc>
                <a:spcPts val="30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把应用层交互的数据单元称为</a:t>
            </a:r>
            <a:r>
              <a:rPr lang="zh-CN" altLang="en-US" b="1" dirty="0">
                <a:solidFill>
                  <a:srgbClr val="C00000"/>
                </a:solidFill>
                <a:latin typeface="微软雅黑" panose="020B0503020204020204" pitchFamily="34" charset="-122"/>
                <a:ea typeface="微软雅黑" panose="020B0503020204020204" pitchFamily="34" charset="-122"/>
              </a:rPr>
              <a:t>报文</a:t>
            </a:r>
            <a:r>
              <a:rPr lang="en-US" altLang="zh-CN" b="1" dirty="0">
                <a:solidFill>
                  <a:srgbClr val="000066"/>
                </a:solidFill>
                <a:latin typeface="微软雅黑" panose="020B0503020204020204" pitchFamily="34" charset="-122"/>
                <a:ea typeface="微软雅黑" panose="020B0503020204020204" pitchFamily="34" charset="-122"/>
              </a:rPr>
              <a:t>(message)</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30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例如：</a:t>
            </a:r>
            <a:r>
              <a:rPr lang="en-US" altLang="zh-CN" b="1" dirty="0">
                <a:solidFill>
                  <a:srgbClr val="000066"/>
                </a:solidFill>
                <a:latin typeface="微软雅黑" panose="020B0503020204020204" pitchFamily="34" charset="-122"/>
                <a:ea typeface="微软雅黑" panose="020B0503020204020204" pitchFamily="34" charset="-122"/>
              </a:rPr>
              <a:t>DNS</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HTTP</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SMTP</a:t>
            </a:r>
          </a:p>
          <a:p>
            <a:pPr marL="285750" indent="-285750">
              <a:lnSpc>
                <a:spcPts val="3000"/>
              </a:lnSpc>
              <a:buFont typeface="Wingdings" panose="05000000000000000000" pitchFamily="2" charset="2"/>
              <a:buChar char="l"/>
            </a:pPr>
            <a:endParaRPr lang="zh-CN" altLang="en-US" b="1" dirty="0">
              <a:solidFill>
                <a:srgbClr val="000066"/>
              </a:solidFill>
              <a:latin typeface="微软雅黑" panose="020B0503020204020204" pitchFamily="34" charset="-122"/>
              <a:ea typeface="微软雅黑" panose="020B0503020204020204" pitchFamily="34" charset="-122"/>
            </a:endParaRPr>
          </a:p>
        </p:txBody>
      </p:sp>
      <p:sp>
        <p:nvSpPr>
          <p:cNvPr id="2" name="文本占位符 1"/>
          <p:cNvSpPr>
            <a:spLocks noGrp="1"/>
          </p:cNvSpPr>
          <p:nvPr>
            <p:ph type="body" sz="quarter" idx="10"/>
          </p:nvPr>
        </p:nvSpPr>
        <p:spPr/>
        <p:txBody>
          <a:bodyPr/>
          <a:lstStyle/>
          <a:p>
            <a:r>
              <a:rPr lang="zh-CN" altLang="en-US" dirty="0"/>
              <a:t>各层的主要功能</a:t>
            </a:r>
          </a:p>
        </p:txBody>
      </p:sp>
    </p:spTree>
    <p:extLst>
      <p:ext uri="{BB962C8B-B14F-4D97-AF65-F5344CB8AC3E}">
        <p14:creationId xmlns:p14="http://schemas.microsoft.com/office/powerpoint/2010/main" val="10344065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13162"/>
              <a:gd name="adj2" fmla="val 31"/>
              <a:gd name="adj3" fmla="val 52900"/>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8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负责向两台主机中</a:t>
            </a:r>
            <a:r>
              <a:rPr lang="zh-CN" altLang="en-US" b="1" dirty="0">
                <a:solidFill>
                  <a:srgbClr val="C00000"/>
                </a:solidFill>
                <a:latin typeface="微软雅黑" panose="020B0503020204020204" pitchFamily="34" charset="-122"/>
                <a:ea typeface="微软雅黑" panose="020B0503020204020204" pitchFamily="34" charset="-122"/>
              </a:rPr>
              <a:t>进程</a:t>
            </a:r>
            <a:r>
              <a:rPr lang="zh-CN" altLang="en-US" b="1" dirty="0">
                <a:solidFill>
                  <a:srgbClr val="000066"/>
                </a:solidFill>
                <a:latin typeface="微软雅黑" panose="020B0503020204020204" pitchFamily="34" charset="-122"/>
                <a:ea typeface="微软雅黑" panose="020B0503020204020204" pitchFamily="34" charset="-122"/>
              </a:rPr>
              <a:t>之间的通信提供通用的数据传输服务。</a:t>
            </a: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具有复用和分用的功能。</a:t>
            </a: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主要使用</a:t>
            </a:r>
            <a:r>
              <a:rPr lang="zh-CN" altLang="en-US" b="1" dirty="0">
                <a:solidFill>
                  <a:srgbClr val="C00000"/>
                </a:solidFill>
                <a:latin typeface="微软雅黑" panose="020B0503020204020204" pitchFamily="34" charset="-122"/>
                <a:ea typeface="微软雅黑" panose="020B0503020204020204" pitchFamily="34" charset="-122"/>
              </a:rPr>
              <a:t>两种协议： </a:t>
            </a:r>
          </a:p>
          <a:p>
            <a:pPr marL="742950" lvl="1" indent="-285750">
              <a:lnSpc>
                <a:spcPts val="28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传输控制协议 </a:t>
            </a:r>
            <a:r>
              <a:rPr lang="en-US" altLang="zh-CN" sz="1600" b="1" dirty="0">
                <a:solidFill>
                  <a:srgbClr val="000066"/>
                </a:solidFill>
                <a:latin typeface="微软雅黑" panose="020B0503020204020204" pitchFamily="34" charset="-122"/>
                <a:ea typeface="微软雅黑" panose="020B0503020204020204" pitchFamily="34" charset="-122"/>
              </a:rPr>
              <a:t>TCP </a:t>
            </a:r>
          </a:p>
          <a:p>
            <a:pPr marL="742950" lvl="1" indent="-285750">
              <a:lnSpc>
                <a:spcPts val="28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用户数据报协议 </a:t>
            </a:r>
            <a:r>
              <a:rPr lang="en-US" altLang="zh-CN" sz="1600" b="1" dirty="0">
                <a:solidFill>
                  <a:srgbClr val="000066"/>
                </a:solidFill>
                <a:latin typeface="微软雅黑" panose="020B0503020204020204" pitchFamily="34" charset="-122"/>
                <a:ea typeface="微软雅黑" panose="020B0503020204020204" pitchFamily="34" charset="-122"/>
              </a:rPr>
              <a:t>UDP </a:t>
            </a:r>
            <a:r>
              <a:rPr lang="zh-CN" altLang="en-US" sz="1600" b="1" dirty="0">
                <a:solidFill>
                  <a:srgbClr val="000066"/>
                </a:solidFill>
                <a:latin typeface="微软雅黑" panose="020B0503020204020204" pitchFamily="34" charset="-122"/>
                <a:ea typeface="微软雅黑" panose="020B0503020204020204" pitchFamily="34" charset="-122"/>
              </a:rPr>
              <a:t>。</a:t>
            </a:r>
          </a:p>
          <a:p>
            <a:pPr marL="285750" indent="-285750">
              <a:lnSpc>
                <a:spcPts val="2800"/>
              </a:lnSpc>
              <a:buFont typeface="Wingdings" panose="05000000000000000000" pitchFamily="2" charset="2"/>
              <a:buChar char="l"/>
            </a:pP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endParaRPr lang="zh-CN" altLang="en-US" b="1" dirty="0">
              <a:solidFill>
                <a:srgbClr val="000066"/>
              </a:solidFill>
              <a:latin typeface="微软雅黑" panose="020B0503020204020204" pitchFamily="34" charset="-122"/>
              <a:ea typeface="微软雅黑" panose="020B0503020204020204" pitchFamily="34" charset="-122"/>
            </a:endParaRPr>
          </a:p>
        </p:txBody>
      </p:sp>
      <p:sp>
        <p:nvSpPr>
          <p:cNvPr id="2" name="文本占位符 1"/>
          <p:cNvSpPr>
            <a:spLocks noGrp="1"/>
          </p:cNvSpPr>
          <p:nvPr>
            <p:ph type="body" sz="quarter" idx="10"/>
          </p:nvPr>
        </p:nvSpPr>
        <p:spPr/>
        <p:txBody>
          <a:bodyPr/>
          <a:lstStyle/>
          <a:p>
            <a:r>
              <a:rPr lang="zh-CN" altLang="en-US" dirty="0"/>
              <a:t>各层的主要功能</a:t>
            </a:r>
          </a:p>
        </p:txBody>
      </p:sp>
    </p:spTree>
    <p:extLst>
      <p:ext uri="{BB962C8B-B14F-4D97-AF65-F5344CB8AC3E}">
        <p14:creationId xmlns:p14="http://schemas.microsoft.com/office/powerpoint/2010/main" val="28359761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13162"/>
              <a:gd name="adj2" fmla="val 31"/>
              <a:gd name="adj3" fmla="val 52601"/>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600"/>
              </a:lnSpc>
              <a:buFont typeface="Wingdings" panose="05000000000000000000" pitchFamily="2" charset="2"/>
              <a:buChar char="l"/>
            </a:pPr>
            <a:r>
              <a:rPr lang="en-US" altLang="zh-CN" b="1" dirty="0">
                <a:solidFill>
                  <a:srgbClr val="000066"/>
                </a:solidFill>
                <a:latin typeface="微软雅黑" panose="020B0503020204020204" pitchFamily="34" charset="-122"/>
                <a:ea typeface="微软雅黑" panose="020B0503020204020204" pitchFamily="34" charset="-122"/>
              </a:rPr>
              <a:t>TCP (Transmission Control Protocol)</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提供</a:t>
            </a:r>
            <a:r>
              <a:rPr lang="zh-CN" altLang="en-US" sz="1600" b="1" dirty="0">
                <a:solidFill>
                  <a:srgbClr val="C00000"/>
                </a:solidFill>
                <a:latin typeface="微软雅黑" panose="020B0503020204020204" pitchFamily="34" charset="-122"/>
                <a:ea typeface="微软雅黑" panose="020B0503020204020204" pitchFamily="34" charset="-122"/>
              </a:rPr>
              <a:t>面向连接</a:t>
            </a:r>
            <a:r>
              <a:rPr lang="zh-CN" altLang="en-US" sz="1600" b="1" dirty="0">
                <a:solidFill>
                  <a:srgbClr val="000066"/>
                </a:solidFill>
                <a:latin typeface="微软雅黑" panose="020B0503020204020204" pitchFamily="34" charset="-122"/>
                <a:ea typeface="微软雅黑" panose="020B0503020204020204" pitchFamily="34" charset="-122"/>
              </a:rPr>
              <a:t>的、</a:t>
            </a:r>
            <a:r>
              <a:rPr lang="zh-CN" altLang="en-US" sz="1600" b="1" dirty="0">
                <a:solidFill>
                  <a:srgbClr val="C00000"/>
                </a:solidFill>
                <a:latin typeface="微软雅黑" panose="020B0503020204020204" pitchFamily="34" charset="-122"/>
                <a:ea typeface="微软雅黑" panose="020B0503020204020204" pitchFamily="34" charset="-122"/>
              </a:rPr>
              <a:t>可靠</a:t>
            </a:r>
            <a:r>
              <a:rPr lang="zh-CN" altLang="en-US" sz="1600" b="1" dirty="0">
                <a:solidFill>
                  <a:srgbClr val="000066"/>
                </a:solidFill>
                <a:latin typeface="微软雅黑" panose="020B0503020204020204" pitchFamily="34" charset="-122"/>
                <a:ea typeface="微软雅黑" panose="020B0503020204020204" pitchFamily="34" charset="-122"/>
              </a:rPr>
              <a:t>的数据传输服务。</a:t>
            </a:r>
            <a:endParaRPr lang="en-US" altLang="zh-CN" sz="1600"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数据传输的单位是</a:t>
            </a:r>
            <a:r>
              <a:rPr lang="zh-CN" altLang="en-US" sz="1600" b="1" dirty="0">
                <a:solidFill>
                  <a:srgbClr val="C00000"/>
                </a:solidFill>
                <a:latin typeface="微软雅黑" panose="020B0503020204020204" pitchFamily="34" charset="-122"/>
                <a:ea typeface="微软雅黑" panose="020B0503020204020204" pitchFamily="34" charset="-122"/>
              </a:rPr>
              <a:t>报文段</a:t>
            </a:r>
            <a:r>
              <a:rPr lang="zh-CN" altLang="en-US" sz="1600" b="1" dirty="0">
                <a:solidFill>
                  <a:srgbClr val="000066"/>
                </a:solidFill>
                <a:latin typeface="微软雅黑" panose="020B0503020204020204" pitchFamily="34" charset="-122"/>
                <a:ea typeface="微软雅黑" panose="020B0503020204020204" pitchFamily="34" charset="-122"/>
              </a:rPr>
              <a:t> </a:t>
            </a:r>
            <a:r>
              <a:rPr lang="en-US" altLang="zh-CN" sz="1600" b="1" dirty="0">
                <a:solidFill>
                  <a:srgbClr val="000066"/>
                </a:solidFill>
                <a:latin typeface="微软雅黑" panose="020B0503020204020204" pitchFamily="34" charset="-122"/>
                <a:ea typeface="微软雅黑" panose="020B0503020204020204" pitchFamily="34" charset="-122"/>
              </a:rPr>
              <a:t>(segment)</a:t>
            </a:r>
            <a:r>
              <a:rPr lang="zh-CN" altLang="en-US" sz="1600" b="1" dirty="0">
                <a:solidFill>
                  <a:srgbClr val="000066"/>
                </a:solidFill>
                <a:latin typeface="微软雅黑" panose="020B0503020204020204" pitchFamily="34" charset="-122"/>
                <a:ea typeface="微软雅黑" panose="020B0503020204020204" pitchFamily="34" charset="-122"/>
              </a:rPr>
              <a:t>。</a:t>
            </a:r>
          </a:p>
          <a:p>
            <a:pPr marL="285750" indent="-285750">
              <a:lnSpc>
                <a:spcPts val="2600"/>
              </a:lnSpc>
              <a:buFont typeface="Wingdings" panose="05000000000000000000" pitchFamily="2" charset="2"/>
              <a:buChar char="l"/>
            </a:pPr>
            <a:r>
              <a:rPr lang="en-US" altLang="zh-CN" b="1" dirty="0">
                <a:solidFill>
                  <a:srgbClr val="000066"/>
                </a:solidFill>
                <a:latin typeface="微软雅黑" panose="020B0503020204020204" pitchFamily="34" charset="-122"/>
                <a:ea typeface="微软雅黑" panose="020B0503020204020204" pitchFamily="34" charset="-122"/>
              </a:rPr>
              <a:t>UDP (User Datagram Protocol)</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提供无连接的</a:t>
            </a:r>
            <a:r>
              <a:rPr lang="zh-CN" altLang="en-US" sz="1600" b="1" dirty="0">
                <a:solidFill>
                  <a:srgbClr val="C00000"/>
                </a:solidFill>
                <a:latin typeface="微软雅黑" panose="020B0503020204020204" pitchFamily="34" charset="-122"/>
                <a:ea typeface="微软雅黑" panose="020B0503020204020204" pitchFamily="34" charset="-122"/>
              </a:rPr>
              <a:t>尽最大努力 </a:t>
            </a:r>
            <a:r>
              <a:rPr lang="en-US" altLang="zh-CN" sz="1600" b="1" dirty="0">
                <a:solidFill>
                  <a:srgbClr val="000066"/>
                </a:solidFill>
                <a:latin typeface="微软雅黑" panose="020B0503020204020204" pitchFamily="34" charset="-122"/>
                <a:ea typeface="微软雅黑" panose="020B0503020204020204" pitchFamily="34" charset="-122"/>
              </a:rPr>
              <a:t>(best-effort) </a:t>
            </a:r>
            <a:r>
              <a:rPr lang="zh-CN" altLang="en-US" sz="1600" b="1" dirty="0">
                <a:solidFill>
                  <a:srgbClr val="000066"/>
                </a:solidFill>
                <a:latin typeface="微软雅黑" panose="020B0503020204020204" pitchFamily="34" charset="-122"/>
                <a:ea typeface="微软雅黑" panose="020B0503020204020204" pitchFamily="34" charset="-122"/>
              </a:rPr>
              <a:t>的数据传输服务（</a:t>
            </a:r>
            <a:r>
              <a:rPr lang="zh-CN" altLang="en-US" sz="1600" b="1" dirty="0">
                <a:solidFill>
                  <a:srgbClr val="C00000"/>
                </a:solidFill>
                <a:latin typeface="微软雅黑" panose="020B0503020204020204" pitchFamily="34" charset="-122"/>
                <a:ea typeface="微软雅黑" panose="020B0503020204020204" pitchFamily="34" charset="-122"/>
              </a:rPr>
              <a:t>不保证数据传输的可靠性</a:t>
            </a:r>
            <a:r>
              <a:rPr lang="zh-CN" altLang="en-US" sz="1600" b="1" dirty="0">
                <a:solidFill>
                  <a:srgbClr val="000066"/>
                </a:solidFill>
                <a:latin typeface="微软雅黑" panose="020B0503020204020204" pitchFamily="34" charset="-122"/>
                <a:ea typeface="微软雅黑" panose="020B0503020204020204" pitchFamily="34" charset="-122"/>
              </a:rPr>
              <a:t>）。</a:t>
            </a:r>
            <a:endParaRPr lang="en-US" altLang="zh-CN" sz="1600"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数据传输的单位是</a:t>
            </a:r>
            <a:r>
              <a:rPr lang="zh-CN" altLang="en-US" sz="1600" b="1" dirty="0">
                <a:solidFill>
                  <a:srgbClr val="C00000"/>
                </a:solidFill>
                <a:latin typeface="微软雅黑" panose="020B0503020204020204" pitchFamily="34" charset="-122"/>
                <a:ea typeface="微软雅黑" panose="020B0503020204020204" pitchFamily="34" charset="-122"/>
              </a:rPr>
              <a:t>用户数据报。</a:t>
            </a:r>
          </a:p>
          <a:p>
            <a:pPr marL="285750" indent="-285750">
              <a:lnSpc>
                <a:spcPts val="2600"/>
              </a:lnSpc>
              <a:buFont typeface="Wingdings" panose="05000000000000000000" pitchFamily="2" charset="2"/>
              <a:buChar char="l"/>
            </a:pPr>
            <a:endParaRPr lang="zh-CN" altLang="en-US" b="1" dirty="0">
              <a:solidFill>
                <a:srgbClr val="000066"/>
              </a:solidFill>
              <a:latin typeface="微软雅黑" panose="020B0503020204020204" pitchFamily="34" charset="-122"/>
              <a:ea typeface="微软雅黑" panose="020B0503020204020204" pitchFamily="34" charset="-122"/>
            </a:endParaRPr>
          </a:p>
        </p:txBody>
      </p:sp>
      <p:sp>
        <p:nvSpPr>
          <p:cNvPr id="2" name="文本占位符 1"/>
          <p:cNvSpPr>
            <a:spLocks noGrp="1"/>
          </p:cNvSpPr>
          <p:nvPr>
            <p:ph type="body" sz="quarter" idx="10"/>
          </p:nvPr>
        </p:nvSpPr>
        <p:spPr/>
        <p:txBody>
          <a:bodyPr/>
          <a:lstStyle/>
          <a:p>
            <a:r>
              <a:rPr lang="zh-CN" altLang="en-US" dirty="0"/>
              <a:t>各层的主要功能</a:t>
            </a:r>
          </a:p>
        </p:txBody>
      </p:sp>
    </p:spTree>
    <p:extLst>
      <p:ext uri="{BB962C8B-B14F-4D97-AF65-F5344CB8AC3E}">
        <p14:creationId xmlns:p14="http://schemas.microsoft.com/office/powerpoint/2010/main" val="123344360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66982"/>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4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为分组交换网上的不同</a:t>
            </a:r>
            <a:r>
              <a:rPr lang="zh-CN" altLang="en-US" b="1" dirty="0">
                <a:solidFill>
                  <a:srgbClr val="C00000"/>
                </a:solidFill>
                <a:latin typeface="微软雅黑" panose="020B0503020204020204" pitchFamily="34" charset="-122"/>
                <a:ea typeface="微软雅黑" panose="020B0503020204020204" pitchFamily="34" charset="-122"/>
              </a:rPr>
              <a:t>主机</a:t>
            </a:r>
            <a:r>
              <a:rPr lang="zh-CN" altLang="en-US" b="1" dirty="0">
                <a:solidFill>
                  <a:srgbClr val="000066"/>
                </a:solidFill>
                <a:latin typeface="微软雅黑" panose="020B0503020204020204" pitchFamily="34" charset="-122"/>
                <a:ea typeface="微软雅黑" panose="020B0503020204020204" pitchFamily="34" charset="-122"/>
              </a:rPr>
              <a:t>提供通信服务。</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两个具体</a:t>
            </a:r>
            <a:r>
              <a:rPr lang="zh-CN" altLang="en-US" b="1" dirty="0">
                <a:solidFill>
                  <a:srgbClr val="0000FF"/>
                </a:solidFill>
                <a:latin typeface="微软雅黑" panose="020B0503020204020204" pitchFamily="34" charset="-122"/>
                <a:ea typeface="微软雅黑" panose="020B0503020204020204" pitchFamily="34" charset="-122"/>
              </a:rPr>
              <a:t>任务：</a:t>
            </a:r>
            <a:endParaRPr lang="en-US" altLang="zh-CN" b="1" dirty="0">
              <a:solidFill>
                <a:srgbClr val="0000FF"/>
              </a:solidFill>
              <a:latin typeface="微软雅黑" panose="020B0503020204020204" pitchFamily="34" charset="-122"/>
              <a:ea typeface="微软雅黑" panose="020B0503020204020204" pitchFamily="34" charset="-122"/>
            </a:endParaRPr>
          </a:p>
          <a:p>
            <a:pPr marL="742950" lvl="1" indent="-285750">
              <a:lnSpc>
                <a:spcPts val="2400"/>
              </a:lnSpc>
              <a:buClr>
                <a:schemeClr val="accent6">
                  <a:lumMod val="75000"/>
                </a:schemeClr>
              </a:buClr>
              <a:buFont typeface="Wingdings" panose="05000000000000000000" pitchFamily="2" charset="2"/>
              <a:buChar char="u"/>
            </a:pPr>
            <a:r>
              <a:rPr lang="zh-CN" altLang="en-US" sz="1600" b="1" dirty="0">
                <a:solidFill>
                  <a:srgbClr val="C00000"/>
                </a:solidFill>
                <a:latin typeface="微软雅黑" panose="020B0503020204020204" pitchFamily="34" charset="-122"/>
                <a:ea typeface="微软雅黑" panose="020B0503020204020204" pitchFamily="34" charset="-122"/>
              </a:rPr>
              <a:t>路由选择：</a:t>
            </a:r>
            <a:r>
              <a:rPr lang="zh-CN" altLang="en-US" sz="1600" b="1" dirty="0">
                <a:solidFill>
                  <a:srgbClr val="000066"/>
                </a:solidFill>
                <a:latin typeface="微软雅黑" panose="020B0503020204020204" pitchFamily="34" charset="-122"/>
                <a:ea typeface="微软雅黑" panose="020B0503020204020204" pitchFamily="34" charset="-122"/>
              </a:rPr>
              <a:t>通过一定的算法，在互联网中的每一个路由器上，</a:t>
            </a:r>
            <a:r>
              <a:rPr lang="zh-CN" altLang="en-US" sz="1600" b="1" dirty="0">
                <a:solidFill>
                  <a:srgbClr val="C00000"/>
                </a:solidFill>
                <a:latin typeface="微软雅黑" panose="020B0503020204020204" pitchFamily="34" charset="-122"/>
                <a:ea typeface="微软雅黑" panose="020B0503020204020204" pitchFamily="34" charset="-122"/>
              </a:rPr>
              <a:t>生成</a:t>
            </a:r>
            <a:r>
              <a:rPr lang="zh-CN" altLang="en-US" sz="1600" b="1" dirty="0">
                <a:solidFill>
                  <a:srgbClr val="000066"/>
                </a:solidFill>
                <a:latin typeface="微软雅黑" panose="020B0503020204020204" pitchFamily="34" charset="-122"/>
                <a:ea typeface="微软雅黑" panose="020B0503020204020204" pitchFamily="34" charset="-122"/>
              </a:rPr>
              <a:t>一个用来转发分组的</a:t>
            </a:r>
            <a:r>
              <a:rPr lang="zh-CN" altLang="en-US" sz="1600" b="1" dirty="0">
                <a:solidFill>
                  <a:srgbClr val="C00000"/>
                </a:solidFill>
                <a:latin typeface="微软雅黑" panose="020B0503020204020204" pitchFamily="34" charset="-122"/>
                <a:ea typeface="微软雅黑" panose="020B0503020204020204" pitchFamily="34" charset="-122"/>
              </a:rPr>
              <a:t>转发表。</a:t>
            </a:r>
            <a:endParaRPr lang="en-US" altLang="zh-CN" sz="1600" b="1" dirty="0">
              <a:solidFill>
                <a:srgbClr val="C00000"/>
              </a:solidFill>
              <a:latin typeface="微软雅黑" panose="020B0503020204020204" pitchFamily="34" charset="-122"/>
              <a:ea typeface="微软雅黑" panose="020B0503020204020204" pitchFamily="34" charset="-122"/>
            </a:endParaRPr>
          </a:p>
          <a:p>
            <a:pPr marL="742950" lvl="1" indent="-285750">
              <a:lnSpc>
                <a:spcPts val="2400"/>
              </a:lnSpc>
              <a:buClr>
                <a:schemeClr val="accent6">
                  <a:lumMod val="75000"/>
                </a:schemeClr>
              </a:buClr>
              <a:buFont typeface="Wingdings" panose="05000000000000000000" pitchFamily="2" charset="2"/>
              <a:buChar char="u"/>
            </a:pPr>
            <a:r>
              <a:rPr lang="zh-CN" altLang="en-US" sz="1600" b="1" dirty="0">
                <a:solidFill>
                  <a:srgbClr val="C00000"/>
                </a:solidFill>
                <a:latin typeface="微软雅黑" panose="020B0503020204020204" pitchFamily="34" charset="-122"/>
                <a:ea typeface="微软雅黑" panose="020B0503020204020204" pitchFamily="34" charset="-122"/>
              </a:rPr>
              <a:t>转发：</a:t>
            </a:r>
            <a:r>
              <a:rPr lang="zh-CN" altLang="en-US" sz="1600" b="1" dirty="0">
                <a:solidFill>
                  <a:srgbClr val="000066"/>
                </a:solidFill>
                <a:latin typeface="微软雅黑" panose="020B0503020204020204" pitchFamily="34" charset="-122"/>
                <a:ea typeface="微软雅黑" panose="020B0503020204020204" pitchFamily="34" charset="-122"/>
              </a:rPr>
              <a:t>每一个路由器在接收到一个分组时，要依据转发表中指明的路径把分组</a:t>
            </a:r>
            <a:r>
              <a:rPr lang="zh-CN" altLang="en-US" sz="1600" b="1" dirty="0">
                <a:solidFill>
                  <a:srgbClr val="C00000"/>
                </a:solidFill>
                <a:latin typeface="微软雅黑" panose="020B0503020204020204" pitchFamily="34" charset="-122"/>
                <a:ea typeface="微软雅黑" panose="020B0503020204020204" pitchFamily="34" charset="-122"/>
              </a:rPr>
              <a:t>转发</a:t>
            </a:r>
            <a:r>
              <a:rPr lang="zh-CN" altLang="en-US" sz="1600" b="1" dirty="0">
                <a:solidFill>
                  <a:srgbClr val="000066"/>
                </a:solidFill>
                <a:latin typeface="微软雅黑" panose="020B0503020204020204" pitchFamily="34" charset="-122"/>
                <a:ea typeface="微软雅黑" panose="020B0503020204020204" pitchFamily="34" charset="-122"/>
              </a:rPr>
              <a:t>到下一个路由器。</a:t>
            </a:r>
            <a:endParaRPr lang="en-US" altLang="zh-CN" sz="1600" b="1" dirty="0">
              <a:solidFill>
                <a:srgbClr val="000066"/>
              </a:solidFill>
              <a:latin typeface="微软雅黑" panose="020B0503020204020204" pitchFamily="34" charset="-122"/>
              <a:ea typeface="微软雅黑" panose="020B0503020204020204" pitchFamily="34" charset="-122"/>
            </a:endParaRPr>
          </a:p>
        </p:txBody>
      </p:sp>
      <p:sp>
        <p:nvSpPr>
          <p:cNvPr id="2" name="文本占位符 1"/>
          <p:cNvSpPr>
            <a:spLocks noGrp="1"/>
          </p:cNvSpPr>
          <p:nvPr>
            <p:ph type="body" sz="quarter" idx="10"/>
          </p:nvPr>
        </p:nvSpPr>
        <p:spPr/>
        <p:txBody>
          <a:bodyPr/>
          <a:lstStyle/>
          <a:p>
            <a:r>
              <a:rPr lang="zh-CN" altLang="en-US" dirty="0"/>
              <a:t>各层的主要功能</a:t>
            </a:r>
          </a:p>
        </p:txBody>
      </p:sp>
    </p:spTree>
    <p:extLst>
      <p:ext uri="{BB962C8B-B14F-4D97-AF65-F5344CB8AC3E}">
        <p14:creationId xmlns:p14="http://schemas.microsoft.com/office/powerpoint/2010/main" val="11700718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66982"/>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6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互联网使用的网络层协议是</a:t>
            </a:r>
            <a:r>
              <a:rPr lang="zh-CN" altLang="en-US" b="1" dirty="0">
                <a:solidFill>
                  <a:srgbClr val="C00000"/>
                </a:solidFill>
                <a:latin typeface="微软雅黑" panose="020B0503020204020204" pitchFamily="34" charset="-122"/>
                <a:ea typeface="微软雅黑" panose="020B0503020204020204" pitchFamily="34" charset="-122"/>
              </a:rPr>
              <a:t>无连接</a:t>
            </a:r>
            <a:r>
              <a:rPr lang="zh-CN" altLang="en-US" b="1" dirty="0">
                <a:solidFill>
                  <a:srgbClr val="000066"/>
                </a:solidFill>
                <a:latin typeface="微软雅黑" panose="020B0503020204020204" pitchFamily="34" charset="-122"/>
                <a:ea typeface="微软雅黑" panose="020B0503020204020204" pitchFamily="34" charset="-122"/>
              </a:rPr>
              <a:t>的</a:t>
            </a:r>
            <a:r>
              <a:rPr lang="zh-CN" altLang="en-US" b="1" dirty="0">
                <a:solidFill>
                  <a:srgbClr val="C00000"/>
                </a:solidFill>
                <a:latin typeface="微软雅黑" panose="020B0503020204020204" pitchFamily="34" charset="-122"/>
                <a:ea typeface="微软雅黑" panose="020B0503020204020204" pitchFamily="34" charset="-122"/>
              </a:rPr>
              <a:t>网际协议 </a:t>
            </a:r>
            <a:r>
              <a:rPr lang="en-US" altLang="zh-CN" b="1" dirty="0">
                <a:solidFill>
                  <a:srgbClr val="C00000"/>
                </a:solidFill>
                <a:latin typeface="微软雅黑" panose="020B0503020204020204" pitchFamily="34" charset="-122"/>
                <a:ea typeface="微软雅黑" panose="020B0503020204020204" pitchFamily="34" charset="-122"/>
              </a:rPr>
              <a:t>IP  </a:t>
            </a:r>
            <a:r>
              <a:rPr lang="en-US" altLang="zh-CN" b="1" dirty="0">
                <a:solidFill>
                  <a:srgbClr val="000066"/>
                </a:solidFill>
                <a:latin typeface="微软雅黑" panose="020B0503020204020204" pitchFamily="34" charset="-122"/>
                <a:ea typeface="微软雅黑" panose="020B0503020204020204" pitchFamily="34" charset="-122"/>
              </a:rPr>
              <a:t>(Internet Protocol) </a:t>
            </a:r>
            <a:r>
              <a:rPr lang="zh-CN" altLang="en-US" b="1" dirty="0">
                <a:solidFill>
                  <a:srgbClr val="000066"/>
                </a:solidFill>
                <a:latin typeface="微软雅黑" panose="020B0503020204020204" pitchFamily="34" charset="-122"/>
                <a:ea typeface="微软雅黑" panose="020B0503020204020204" pitchFamily="34" charset="-122"/>
              </a:rPr>
              <a:t>和许多种路由选择协议，因此互联网的网络层也叫做</a:t>
            </a:r>
            <a:r>
              <a:rPr lang="zh-CN" altLang="en-US" b="1" dirty="0">
                <a:solidFill>
                  <a:srgbClr val="0000FF"/>
                </a:solidFill>
                <a:latin typeface="微软雅黑" panose="020B0503020204020204" pitchFamily="34" charset="-122"/>
                <a:ea typeface="微软雅黑" panose="020B0503020204020204" pitchFamily="34" charset="-122"/>
              </a:rPr>
              <a:t>网际层</a:t>
            </a:r>
            <a:r>
              <a:rPr lang="zh-CN" altLang="en-US" b="1" dirty="0">
                <a:solidFill>
                  <a:srgbClr val="000066"/>
                </a:solidFill>
                <a:latin typeface="微软雅黑" panose="020B0503020204020204" pitchFamily="34" charset="-122"/>
                <a:ea typeface="微软雅黑" panose="020B0503020204020204" pitchFamily="34" charset="-122"/>
              </a:rPr>
              <a:t>或 </a:t>
            </a:r>
            <a:r>
              <a:rPr lang="en-US" altLang="zh-CN" b="1" dirty="0">
                <a:solidFill>
                  <a:srgbClr val="0000FF"/>
                </a:solidFill>
                <a:latin typeface="微软雅黑" panose="020B0503020204020204" pitchFamily="34" charset="-122"/>
                <a:ea typeface="微软雅黑" panose="020B0503020204020204" pitchFamily="34" charset="-122"/>
              </a:rPr>
              <a:t>IP </a:t>
            </a:r>
            <a:r>
              <a:rPr lang="zh-CN" altLang="en-US" b="1" dirty="0">
                <a:solidFill>
                  <a:srgbClr val="0000FF"/>
                </a:solidFill>
                <a:latin typeface="微软雅黑" panose="020B0503020204020204" pitchFamily="34" charset="-122"/>
                <a:ea typeface="微软雅黑" panose="020B0503020204020204" pitchFamily="34" charset="-122"/>
              </a:rPr>
              <a:t>层。</a:t>
            </a:r>
            <a:endParaRPr lang="en-US" altLang="zh-CN" b="1" dirty="0">
              <a:solidFill>
                <a:srgbClr val="0000FF"/>
              </a:solidFill>
              <a:latin typeface="微软雅黑" panose="020B0503020204020204" pitchFamily="34" charset="-122"/>
              <a:ea typeface="微软雅黑" panose="020B0503020204020204" pitchFamily="34" charset="-122"/>
            </a:endParaRPr>
          </a:p>
          <a:p>
            <a:pPr marL="285750" indent="-285750">
              <a:lnSpc>
                <a:spcPts val="2600"/>
              </a:lnSpc>
              <a:buFont typeface="Wingdings" panose="05000000000000000000" pitchFamily="2" charset="2"/>
              <a:buChar char="l"/>
            </a:pPr>
            <a:r>
              <a:rPr lang="en-US" altLang="zh-CN" b="1" dirty="0">
                <a:solidFill>
                  <a:srgbClr val="000066"/>
                </a:solidFill>
                <a:latin typeface="微软雅黑" panose="020B0503020204020204" pitchFamily="34" charset="-122"/>
                <a:ea typeface="微软雅黑" panose="020B0503020204020204" pitchFamily="34" charset="-122"/>
              </a:rPr>
              <a:t>IP </a:t>
            </a:r>
            <a:r>
              <a:rPr lang="zh-CN" altLang="en-US" b="1" dirty="0">
                <a:solidFill>
                  <a:srgbClr val="000066"/>
                </a:solidFill>
                <a:latin typeface="微软雅黑" panose="020B0503020204020204" pitchFamily="34" charset="-122"/>
                <a:ea typeface="微软雅黑" panose="020B0503020204020204" pitchFamily="34" charset="-122"/>
              </a:rPr>
              <a:t>协议分组也叫做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数据报，</a:t>
            </a:r>
            <a:r>
              <a:rPr lang="zh-CN" altLang="en-US" b="1" dirty="0">
                <a:solidFill>
                  <a:srgbClr val="000066"/>
                </a:solidFill>
                <a:latin typeface="微软雅黑" panose="020B0503020204020204" pitchFamily="34" charset="-122"/>
                <a:ea typeface="微软雅黑" panose="020B0503020204020204" pitchFamily="34" charset="-122"/>
              </a:rPr>
              <a:t>或简称为</a:t>
            </a:r>
            <a:r>
              <a:rPr lang="zh-CN" altLang="en-US" b="1" dirty="0">
                <a:solidFill>
                  <a:srgbClr val="C00000"/>
                </a:solidFill>
                <a:latin typeface="微软雅黑" panose="020B0503020204020204" pitchFamily="34" charset="-122"/>
                <a:ea typeface="微软雅黑" panose="020B0503020204020204" pitchFamily="34" charset="-122"/>
              </a:rPr>
              <a:t>数据报。</a:t>
            </a:r>
          </a:p>
        </p:txBody>
      </p:sp>
      <p:sp>
        <p:nvSpPr>
          <p:cNvPr id="2" name="文本占位符 1"/>
          <p:cNvSpPr>
            <a:spLocks noGrp="1"/>
          </p:cNvSpPr>
          <p:nvPr>
            <p:ph type="body" sz="quarter" idx="10"/>
          </p:nvPr>
        </p:nvSpPr>
        <p:spPr/>
        <p:txBody>
          <a:bodyPr/>
          <a:lstStyle/>
          <a:p>
            <a:r>
              <a:rPr lang="zh-CN" altLang="en-US" dirty="0"/>
              <a:t>各层的主要功能</a:t>
            </a:r>
          </a:p>
        </p:txBody>
      </p:sp>
    </p:spTree>
    <p:extLst>
      <p:ext uri="{BB962C8B-B14F-4D97-AF65-F5344CB8AC3E}">
        <p14:creationId xmlns:p14="http://schemas.microsoft.com/office/powerpoint/2010/main" val="11750113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79865"/>
              <a:gd name="adj4" fmla="val -14684"/>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常简称为</a:t>
            </a:r>
            <a:r>
              <a:rPr lang="zh-CN" altLang="en-US" b="1" dirty="0">
                <a:solidFill>
                  <a:srgbClr val="C00000"/>
                </a:solidFill>
                <a:latin typeface="微软雅黑" panose="020B0503020204020204" pitchFamily="34" charset="-122"/>
                <a:ea typeface="微软雅黑" panose="020B0503020204020204" pitchFamily="34" charset="-122"/>
              </a:rPr>
              <a:t>链路层。</a:t>
            </a:r>
            <a:endParaRPr lang="en-US" altLang="zh-CN" b="1" dirty="0">
              <a:solidFill>
                <a:srgbClr val="C00000"/>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实现两个</a:t>
            </a:r>
            <a:r>
              <a:rPr lang="zh-CN" altLang="en-US" b="1" dirty="0">
                <a:solidFill>
                  <a:srgbClr val="C00000"/>
                </a:solidFill>
                <a:latin typeface="微软雅黑" panose="020B0503020204020204" pitchFamily="34" charset="-122"/>
                <a:ea typeface="微软雅黑" panose="020B0503020204020204" pitchFamily="34" charset="-122"/>
              </a:rPr>
              <a:t>相邻节点</a:t>
            </a:r>
            <a:r>
              <a:rPr lang="zh-CN" altLang="en-US" b="1" dirty="0">
                <a:solidFill>
                  <a:srgbClr val="000066"/>
                </a:solidFill>
                <a:latin typeface="微软雅黑" panose="020B0503020204020204" pitchFamily="34" charset="-122"/>
                <a:ea typeface="微软雅黑" panose="020B0503020204020204" pitchFamily="34" charset="-122"/>
              </a:rPr>
              <a:t>之间的</a:t>
            </a:r>
            <a:r>
              <a:rPr lang="zh-CN" altLang="en-US" b="1" dirty="0">
                <a:solidFill>
                  <a:srgbClr val="C00000"/>
                </a:solidFill>
                <a:latin typeface="微软雅黑" panose="020B0503020204020204" pitchFamily="34" charset="-122"/>
                <a:ea typeface="微软雅黑" panose="020B0503020204020204" pitchFamily="34" charset="-122"/>
              </a:rPr>
              <a:t>可靠通信。</a:t>
            </a:r>
            <a:endParaRPr lang="en-US" altLang="zh-CN" b="1" dirty="0">
              <a:solidFill>
                <a:srgbClr val="C00000"/>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在两个相邻节点间的链路上传送</a:t>
            </a:r>
            <a:r>
              <a:rPr lang="zh-CN" altLang="en-US" b="1" dirty="0">
                <a:solidFill>
                  <a:srgbClr val="C00000"/>
                </a:solidFill>
                <a:latin typeface="微软雅黑" panose="020B0503020204020204" pitchFamily="34" charset="-122"/>
                <a:ea typeface="微软雅黑" panose="020B0503020204020204" pitchFamily="34" charset="-122"/>
              </a:rPr>
              <a:t>帧</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frame</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如发现有差错，就简单地</a:t>
            </a:r>
            <a:r>
              <a:rPr lang="zh-CN" altLang="en-US" b="1" dirty="0">
                <a:solidFill>
                  <a:srgbClr val="C00000"/>
                </a:solidFill>
                <a:latin typeface="微软雅黑" panose="020B0503020204020204" pitchFamily="34" charset="-122"/>
                <a:ea typeface="微软雅黑" panose="020B0503020204020204" pitchFamily="34" charset="-122"/>
              </a:rPr>
              <a:t>丢弃</a:t>
            </a:r>
            <a:r>
              <a:rPr lang="zh-CN" altLang="en-US" b="1" dirty="0">
                <a:solidFill>
                  <a:srgbClr val="000066"/>
                </a:solidFill>
                <a:latin typeface="微软雅黑" panose="020B0503020204020204" pitchFamily="34" charset="-122"/>
                <a:ea typeface="微软雅黑" panose="020B0503020204020204" pitchFamily="34" charset="-122"/>
              </a:rPr>
              <a:t>出错帧。</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如果需要改正出现的差错，就要采用</a:t>
            </a:r>
            <a:r>
              <a:rPr lang="zh-CN" altLang="en-US" b="1" dirty="0">
                <a:solidFill>
                  <a:srgbClr val="C00000"/>
                </a:solidFill>
                <a:latin typeface="微软雅黑" panose="020B0503020204020204" pitchFamily="34" charset="-122"/>
                <a:ea typeface="微软雅黑" panose="020B0503020204020204" pitchFamily="34" charset="-122"/>
              </a:rPr>
              <a:t>可靠传输协议</a:t>
            </a:r>
            <a:r>
              <a:rPr lang="zh-CN" altLang="en-US" b="1" dirty="0">
                <a:solidFill>
                  <a:srgbClr val="000066"/>
                </a:solidFill>
                <a:latin typeface="微软雅黑" panose="020B0503020204020204" pitchFamily="34" charset="-122"/>
                <a:ea typeface="微软雅黑" panose="020B0503020204020204" pitchFamily="34" charset="-122"/>
              </a:rPr>
              <a:t>来</a:t>
            </a:r>
            <a:r>
              <a:rPr lang="zh-CN" altLang="en-US" b="1" dirty="0">
                <a:solidFill>
                  <a:srgbClr val="C00000"/>
                </a:solidFill>
                <a:latin typeface="微软雅黑" panose="020B0503020204020204" pitchFamily="34" charset="-122"/>
                <a:ea typeface="微软雅黑" panose="020B0503020204020204" pitchFamily="34" charset="-122"/>
              </a:rPr>
              <a:t>纠正</a:t>
            </a:r>
            <a:r>
              <a:rPr lang="zh-CN" altLang="en-US" b="1" dirty="0">
                <a:solidFill>
                  <a:srgbClr val="000066"/>
                </a:solidFill>
                <a:latin typeface="微软雅黑" panose="020B0503020204020204" pitchFamily="34" charset="-122"/>
                <a:ea typeface="微软雅黑" panose="020B0503020204020204" pitchFamily="34" charset="-122"/>
              </a:rPr>
              <a:t>出现的差错。这种方法会使数据链路层协议复杂。</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2" name="文本占位符 1"/>
          <p:cNvSpPr>
            <a:spLocks noGrp="1"/>
          </p:cNvSpPr>
          <p:nvPr>
            <p:ph type="body" sz="quarter" idx="10"/>
          </p:nvPr>
        </p:nvSpPr>
        <p:spPr/>
        <p:txBody>
          <a:bodyPr/>
          <a:lstStyle/>
          <a:p>
            <a:r>
              <a:rPr lang="zh-CN" altLang="en-US" dirty="0"/>
              <a:t>各层的主要功能</a:t>
            </a:r>
          </a:p>
        </p:txBody>
      </p:sp>
    </p:spTree>
    <p:extLst>
      <p:ext uri="{BB962C8B-B14F-4D97-AF65-F5344CB8AC3E}">
        <p14:creationId xmlns:p14="http://schemas.microsoft.com/office/powerpoint/2010/main" val="28263363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92748"/>
              <a:gd name="adj4" fmla="val -18474"/>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8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实现</a:t>
            </a:r>
            <a:r>
              <a:rPr lang="zh-CN" altLang="en-US" b="1" dirty="0">
                <a:solidFill>
                  <a:srgbClr val="C00000"/>
                </a:solidFill>
                <a:latin typeface="微软雅黑" panose="020B0503020204020204" pitchFamily="34" charset="-122"/>
                <a:ea typeface="微软雅黑" panose="020B0503020204020204" pitchFamily="34" charset="-122"/>
              </a:rPr>
              <a:t>比特</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0 </a:t>
            </a:r>
            <a:r>
              <a:rPr lang="zh-CN" altLang="en-US" b="1" dirty="0">
                <a:solidFill>
                  <a:srgbClr val="000066"/>
                </a:solidFill>
                <a:latin typeface="微软雅黑" panose="020B0503020204020204" pitchFamily="34" charset="-122"/>
                <a:ea typeface="微软雅黑" panose="020B0503020204020204" pitchFamily="34" charset="-122"/>
              </a:rPr>
              <a:t>或 </a:t>
            </a:r>
            <a:r>
              <a:rPr lang="en-US" altLang="zh-CN" b="1" dirty="0">
                <a:solidFill>
                  <a:srgbClr val="000066"/>
                </a:solidFill>
                <a:latin typeface="微软雅黑" panose="020B0503020204020204" pitchFamily="34" charset="-122"/>
                <a:ea typeface="微软雅黑" panose="020B0503020204020204" pitchFamily="34" charset="-122"/>
              </a:rPr>
              <a:t>1</a:t>
            </a:r>
            <a:r>
              <a:rPr lang="zh-CN" altLang="en-US" b="1" dirty="0">
                <a:solidFill>
                  <a:srgbClr val="000066"/>
                </a:solidFill>
                <a:latin typeface="微软雅黑" panose="020B0503020204020204" pitchFamily="34" charset="-122"/>
                <a:ea typeface="微软雅黑" panose="020B0503020204020204" pitchFamily="34" charset="-122"/>
              </a:rPr>
              <a:t>）的传输。</a:t>
            </a:r>
            <a:endParaRPr lang="en-US" altLang="zh-CN" b="1" dirty="0">
              <a:solidFill>
                <a:srgbClr val="C00000"/>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确定连接电缆的</a:t>
            </a:r>
            <a:r>
              <a:rPr lang="zh-CN" altLang="en-US" b="1" dirty="0">
                <a:solidFill>
                  <a:srgbClr val="0000FF"/>
                </a:solidFill>
                <a:latin typeface="微软雅黑" panose="020B0503020204020204" pitchFamily="34" charset="-122"/>
                <a:ea typeface="微软雅黑" panose="020B0503020204020204" pitchFamily="34" charset="-122"/>
              </a:rPr>
              <a:t>插头</a:t>
            </a:r>
            <a:r>
              <a:rPr lang="zh-CN" altLang="en-US" b="1" dirty="0">
                <a:solidFill>
                  <a:srgbClr val="000066"/>
                </a:solidFill>
                <a:latin typeface="微软雅黑" panose="020B0503020204020204" pitchFamily="34" charset="-122"/>
                <a:ea typeface="微软雅黑" panose="020B0503020204020204" pitchFamily="34" charset="-122"/>
              </a:rPr>
              <a:t>应当有多少根</a:t>
            </a:r>
            <a:r>
              <a:rPr lang="zh-CN" altLang="en-US" b="1" dirty="0">
                <a:solidFill>
                  <a:srgbClr val="0000FF"/>
                </a:solidFill>
                <a:latin typeface="微软雅黑" panose="020B0503020204020204" pitchFamily="34" charset="-122"/>
                <a:ea typeface="微软雅黑" panose="020B0503020204020204" pitchFamily="34" charset="-122"/>
              </a:rPr>
              <a:t>引脚</a:t>
            </a:r>
            <a:r>
              <a:rPr lang="zh-CN" altLang="en-US" b="1" dirty="0">
                <a:solidFill>
                  <a:srgbClr val="000066"/>
                </a:solidFill>
                <a:latin typeface="微软雅黑" panose="020B0503020204020204" pitchFamily="34" charset="-122"/>
                <a:ea typeface="微软雅黑" panose="020B0503020204020204" pitchFamily="34" charset="-122"/>
              </a:rPr>
              <a:t>，以及各引脚应如何</a:t>
            </a:r>
            <a:r>
              <a:rPr lang="zh-CN" altLang="en-US" b="1" dirty="0">
                <a:solidFill>
                  <a:srgbClr val="0000FF"/>
                </a:solidFill>
                <a:latin typeface="微软雅黑" panose="020B0503020204020204" pitchFamily="34" charset="-122"/>
                <a:ea typeface="微软雅黑" panose="020B0503020204020204" pitchFamily="34" charset="-122"/>
              </a:rPr>
              <a:t>连接</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C00000"/>
                </a:solidFill>
                <a:latin typeface="微软雅黑" panose="020B0503020204020204" pitchFamily="34" charset="-122"/>
                <a:ea typeface="微软雅黑" panose="020B0503020204020204" pitchFamily="34" charset="-122"/>
              </a:rPr>
              <a:t>注意：</a:t>
            </a:r>
            <a:r>
              <a:rPr lang="zh-CN" altLang="en-US" b="1" dirty="0">
                <a:solidFill>
                  <a:srgbClr val="000066"/>
                </a:solidFill>
                <a:latin typeface="微软雅黑" panose="020B0503020204020204" pitchFamily="34" charset="-122"/>
                <a:ea typeface="微软雅黑" panose="020B0503020204020204" pitchFamily="34" charset="-122"/>
              </a:rPr>
              <a:t>传递信息所利用的一些</a:t>
            </a:r>
            <a:r>
              <a:rPr lang="zh-CN" altLang="en-US" b="1" dirty="0">
                <a:solidFill>
                  <a:srgbClr val="C00000"/>
                </a:solidFill>
                <a:latin typeface="微软雅黑" panose="020B0503020204020204" pitchFamily="34" charset="-122"/>
                <a:ea typeface="微软雅黑" panose="020B0503020204020204" pitchFamily="34" charset="-122"/>
              </a:rPr>
              <a:t>物理媒体</a:t>
            </a:r>
            <a:r>
              <a:rPr lang="zh-CN" altLang="en-US" b="1" dirty="0">
                <a:solidFill>
                  <a:srgbClr val="000066"/>
                </a:solidFill>
                <a:latin typeface="微软雅黑" panose="020B0503020204020204" pitchFamily="34" charset="-122"/>
                <a:ea typeface="微软雅黑" panose="020B0503020204020204" pitchFamily="34" charset="-122"/>
              </a:rPr>
              <a:t>，如双绞线、同轴电缆、光缆、无线信道等，并</a:t>
            </a:r>
            <a:r>
              <a:rPr lang="zh-CN" altLang="en-US" b="1" dirty="0">
                <a:solidFill>
                  <a:srgbClr val="C00000"/>
                </a:solidFill>
                <a:latin typeface="微软雅黑" panose="020B0503020204020204" pitchFamily="34" charset="-122"/>
                <a:ea typeface="微软雅黑" panose="020B0503020204020204" pitchFamily="34" charset="-122"/>
              </a:rPr>
              <a:t>不在物理层协议之内，</a:t>
            </a:r>
            <a:r>
              <a:rPr lang="zh-CN" altLang="en-US" b="1" dirty="0">
                <a:solidFill>
                  <a:srgbClr val="000066"/>
                </a:solidFill>
                <a:latin typeface="微软雅黑" panose="020B0503020204020204" pitchFamily="34" charset="-122"/>
                <a:ea typeface="微软雅黑" panose="020B0503020204020204" pitchFamily="34" charset="-122"/>
              </a:rPr>
              <a:t>而是在物理层协议的下面。</a:t>
            </a:r>
          </a:p>
        </p:txBody>
      </p:sp>
      <p:sp>
        <p:nvSpPr>
          <p:cNvPr id="2" name="文本占位符 1"/>
          <p:cNvSpPr>
            <a:spLocks noGrp="1"/>
          </p:cNvSpPr>
          <p:nvPr>
            <p:ph type="body" sz="quarter" idx="10"/>
          </p:nvPr>
        </p:nvSpPr>
        <p:spPr/>
        <p:txBody>
          <a:bodyPr/>
          <a:lstStyle/>
          <a:p>
            <a:r>
              <a:rPr lang="zh-CN" altLang="en-US" dirty="0"/>
              <a:t>各层的主要功能</a:t>
            </a:r>
          </a:p>
        </p:txBody>
      </p:sp>
    </p:spTree>
    <p:extLst>
      <p:ext uri="{BB962C8B-B14F-4D97-AF65-F5344CB8AC3E}">
        <p14:creationId xmlns:p14="http://schemas.microsoft.com/office/powerpoint/2010/main" val="368537804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248" name="直接箭头连接符 247"/>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50"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251"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29" name="文本占位符 28"/>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40894707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72"/>
                                        </p:tgtEl>
                                        <p:attrNameLst>
                                          <p:attrName>style.visibility</p:attrName>
                                        </p:attrNameLst>
                                      </p:cBhvr>
                                      <p:to>
                                        <p:strVal val="visible"/>
                                      </p:to>
                                    </p:set>
                                    <p:animEffect transition="in" filter="wipe(up)">
                                      <p:cBhvr>
                                        <p:cTn id="7" dur="10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5" name="Group 31"/>
          <p:cNvGrpSpPr/>
          <p:nvPr/>
        </p:nvGrpSpPr>
        <p:grpSpPr bwMode="auto">
          <a:xfrm>
            <a:off x="2121518" y="1714788"/>
            <a:ext cx="890566" cy="740472"/>
            <a:chOff x="1823" y="1479"/>
            <a:chExt cx="756" cy="681"/>
          </a:xfrm>
        </p:grpSpPr>
        <p:sp>
          <p:nvSpPr>
            <p:cNvPr id="76" name="Text Box 32"/>
            <p:cNvSpPr txBox="1">
              <a:spLocks noChangeArrowheads="1"/>
            </p:cNvSpPr>
            <p:nvPr/>
          </p:nvSpPr>
          <p:spPr bwMode="auto">
            <a:xfrm>
              <a:off x="1823" y="1479"/>
              <a:ext cx="756" cy="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应用层首部</a:t>
              </a:r>
            </a:p>
          </p:txBody>
        </p:sp>
        <p:sp>
          <p:nvSpPr>
            <p:cNvPr id="77" name="Line 33"/>
            <p:cNvSpPr>
              <a:spLocks noChangeShapeType="1"/>
            </p:cNvSpPr>
            <p:nvPr/>
          </p:nvSpPr>
          <p:spPr bwMode="auto">
            <a:xfrm>
              <a:off x="2359" y="1693"/>
              <a:ext cx="99" cy="24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8" name="Rectangle 34"/>
            <p:cNvSpPr>
              <a:spLocks noChangeArrowheads="1"/>
            </p:cNvSpPr>
            <p:nvPr/>
          </p:nvSpPr>
          <p:spPr bwMode="auto">
            <a:xfrm>
              <a:off x="2343" y="1934"/>
              <a:ext cx="211"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gr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61" name="直接箭头连接符 60"/>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70"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0" name="矩形 79"/>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文本占位符 28"/>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22419849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75"/>
                                        </p:tgtEl>
                                        <p:attrNameLst>
                                          <p:attrName>style.visibility</p:attrName>
                                        </p:attrNameLst>
                                      </p:cBhvr>
                                      <p:to>
                                        <p:strVal val="visible"/>
                                      </p:to>
                                    </p:set>
                                    <p:anim calcmode="lin" valueType="num">
                                      <p:cBhvr additive="base">
                                        <p:cTn id="7" dur="1000" fill="hold"/>
                                        <p:tgtEl>
                                          <p:spTgt spid="75"/>
                                        </p:tgtEl>
                                        <p:attrNameLst>
                                          <p:attrName>ppt_x</p:attrName>
                                        </p:attrNameLst>
                                      </p:cBhvr>
                                      <p:tavLst>
                                        <p:tav tm="0">
                                          <p:val>
                                            <p:strVal val="0-#ppt_w/2"/>
                                          </p:val>
                                        </p:tav>
                                        <p:tav tm="100000">
                                          <p:val>
                                            <p:strVal val="#ppt_x"/>
                                          </p:val>
                                        </p:tav>
                                      </p:tavLst>
                                    </p:anim>
                                    <p:anim calcmode="lin" valueType="num">
                                      <p:cBhvr additive="base">
                                        <p:cTn id="8" dur="1000" fill="hold"/>
                                        <p:tgtEl>
                                          <p:spTgt spid="75"/>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1" fill="hold" nodeType="afterEffect">
                                  <p:stCondLst>
                                    <p:cond delay="0"/>
                                  </p:stCondLst>
                                  <p:childTnLst>
                                    <p:set>
                                      <p:cBhvr>
                                        <p:cTn id="11" dur="1" fill="hold">
                                          <p:stCondLst>
                                            <p:cond delay="0"/>
                                          </p:stCondLst>
                                        </p:cTn>
                                        <p:tgtEl>
                                          <p:spTgt spid="87"/>
                                        </p:tgtEl>
                                        <p:attrNameLst>
                                          <p:attrName>style.visibility</p:attrName>
                                        </p:attrNameLst>
                                      </p:cBhvr>
                                      <p:to>
                                        <p:strVal val="visible"/>
                                      </p:to>
                                    </p:set>
                                    <p:animEffect transition="in" filter="wipe(up)">
                                      <p:cBhvr>
                                        <p:cTn id="12"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6"/>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grpSp>
        <p:nvGrpSpPr>
          <p:cNvPr id="83" name="Group 65"/>
          <p:cNvGrpSpPr/>
          <p:nvPr/>
        </p:nvGrpSpPr>
        <p:grpSpPr bwMode="auto">
          <a:xfrm>
            <a:off x="1853282" y="2058217"/>
            <a:ext cx="889953" cy="741362"/>
            <a:chOff x="1596" y="1840"/>
            <a:chExt cx="756" cy="683"/>
          </a:xfrm>
        </p:grpSpPr>
        <p:sp>
          <p:nvSpPr>
            <p:cNvPr id="84" name="Rectangle 66"/>
            <p:cNvSpPr>
              <a:spLocks noChangeArrowheads="1"/>
            </p:cNvSpPr>
            <p:nvPr/>
          </p:nvSpPr>
          <p:spPr bwMode="auto">
            <a:xfrm>
              <a:off x="2155" y="2296"/>
              <a:ext cx="188" cy="227"/>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85" name="Text Box 67"/>
            <p:cNvSpPr txBox="1">
              <a:spLocks noChangeArrowheads="1"/>
            </p:cNvSpPr>
            <p:nvPr/>
          </p:nvSpPr>
          <p:spPr bwMode="auto">
            <a:xfrm>
              <a:off x="1596" y="1840"/>
              <a:ext cx="756" cy="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运输层首部</a:t>
              </a:r>
            </a:p>
          </p:txBody>
        </p:sp>
        <p:sp>
          <p:nvSpPr>
            <p:cNvPr id="86" name="Line 68"/>
            <p:cNvSpPr>
              <a:spLocks noChangeShapeType="1"/>
            </p:cNvSpPr>
            <p:nvPr/>
          </p:nvSpPr>
          <p:spPr bwMode="auto">
            <a:xfrm>
              <a:off x="2148" y="2046"/>
              <a:ext cx="94" cy="2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4" name="Group 56"/>
          <p:cNvGrpSpPr/>
          <p:nvPr/>
        </p:nvGrpSpPr>
        <p:grpSpPr bwMode="auto">
          <a:xfrm>
            <a:off x="1235121" y="2777819"/>
            <a:ext cx="2054125" cy="271275"/>
            <a:chOff x="434" y="2411"/>
            <a:chExt cx="1745" cy="274"/>
          </a:xfrm>
          <a:solidFill>
            <a:srgbClr val="CC00CC"/>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矩形 28"/>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142"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3"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75" name="矩形 74"/>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文本占位符 30"/>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20778860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83"/>
                                        </p:tgtEl>
                                        <p:attrNameLst>
                                          <p:attrName>style.visibility</p:attrName>
                                        </p:attrNameLst>
                                      </p:cBhvr>
                                      <p:to>
                                        <p:strVal val="visible"/>
                                      </p:to>
                                    </p:set>
                                    <p:anim calcmode="lin" valueType="num">
                                      <p:cBhvr additive="base">
                                        <p:cTn id="7" dur="1000" fill="hold"/>
                                        <p:tgtEl>
                                          <p:spTgt spid="83"/>
                                        </p:tgtEl>
                                        <p:attrNameLst>
                                          <p:attrName>ppt_x</p:attrName>
                                        </p:attrNameLst>
                                      </p:cBhvr>
                                      <p:tavLst>
                                        <p:tav tm="0">
                                          <p:val>
                                            <p:strVal val="0-#ppt_w/2"/>
                                          </p:val>
                                        </p:tav>
                                        <p:tav tm="100000">
                                          <p:val>
                                            <p:strVal val="#ppt_x"/>
                                          </p:val>
                                        </p:tav>
                                      </p:tavLst>
                                    </p:anim>
                                    <p:anim calcmode="lin" valueType="num">
                                      <p:cBhvr additive="base">
                                        <p:cTn id="8" dur="1000" fill="hold"/>
                                        <p:tgtEl>
                                          <p:spTgt spid="83"/>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1" fill="hold" nodeType="afterEffect">
                                  <p:stCondLst>
                                    <p:cond delay="0"/>
                                  </p:stCondLst>
                                  <p:childTnLst>
                                    <p:set>
                                      <p:cBhvr>
                                        <p:cTn id="11" dur="1" fill="hold">
                                          <p:stCondLst>
                                            <p:cond delay="0"/>
                                          </p:stCondLst>
                                        </p:cTn>
                                        <p:tgtEl>
                                          <p:spTgt spid="94"/>
                                        </p:tgtEl>
                                        <p:attrNameLst>
                                          <p:attrName>style.visibility</p:attrName>
                                        </p:attrNameLst>
                                      </p:cBhvr>
                                      <p:to>
                                        <p:strVal val="visible"/>
                                      </p:to>
                                    </p:set>
                                    <p:animEffect transition="in" filter="wipe(up)">
                                      <p:cBhvr>
                                        <p:cTn id="12" dur="100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37923" y="1048836"/>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4"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90" name="Group 41"/>
          <p:cNvGrpSpPr/>
          <p:nvPr/>
        </p:nvGrpSpPr>
        <p:grpSpPr bwMode="auto">
          <a:xfrm>
            <a:off x="2511051" y="2932328"/>
            <a:ext cx="946569" cy="246063"/>
            <a:chOff x="2169" y="2660"/>
            <a:chExt cx="804" cy="226"/>
          </a:xfrm>
        </p:grpSpPr>
        <p:sp>
          <p:nvSpPr>
            <p:cNvPr id="9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2"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3"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grpSp>
        <p:nvGrpSpPr>
          <p:cNvPr id="97" name="Group 69"/>
          <p:cNvGrpSpPr/>
          <p:nvPr/>
        </p:nvGrpSpPr>
        <p:grpSpPr bwMode="auto">
          <a:xfrm>
            <a:off x="1687074" y="2380636"/>
            <a:ext cx="889765" cy="797755"/>
            <a:chOff x="1224" y="2152"/>
            <a:chExt cx="756" cy="734"/>
          </a:xfrm>
        </p:grpSpPr>
        <p:sp>
          <p:nvSpPr>
            <p:cNvPr id="98" name="Rectangle 70"/>
            <p:cNvSpPr>
              <a:spLocks noChangeArrowheads="1"/>
            </p:cNvSpPr>
            <p:nvPr/>
          </p:nvSpPr>
          <p:spPr bwMode="auto">
            <a:xfrm>
              <a:off x="1739" y="2660"/>
              <a:ext cx="188"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sp>
          <p:nvSpPr>
            <p:cNvPr id="99" name="Text Box 71"/>
            <p:cNvSpPr txBox="1">
              <a:spLocks noChangeArrowheads="1"/>
            </p:cNvSpPr>
            <p:nvPr/>
          </p:nvSpPr>
          <p:spPr bwMode="auto">
            <a:xfrm>
              <a:off x="1224" y="2152"/>
              <a:ext cx="756" cy="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网络层首部</a:t>
              </a:r>
            </a:p>
          </p:txBody>
        </p:sp>
        <p:sp>
          <p:nvSpPr>
            <p:cNvPr id="100" name="Line 72"/>
            <p:cNvSpPr>
              <a:spLocks noChangeShapeType="1"/>
            </p:cNvSpPr>
            <p:nvPr/>
          </p:nvSpPr>
          <p:spPr bwMode="auto">
            <a:xfrm>
              <a:off x="1719" y="2379"/>
              <a:ext cx="122" cy="28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56"/>
          <p:cNvGrpSpPr/>
          <p:nvPr/>
        </p:nvGrpSpPr>
        <p:grpSpPr bwMode="auto">
          <a:xfrm>
            <a:off x="1226181" y="3158334"/>
            <a:ext cx="2062367" cy="253754"/>
            <a:chOff x="420" y="2461"/>
            <a:chExt cx="1752" cy="269"/>
          </a:xfrm>
          <a:solidFill>
            <a:srgbClr val="CC00CC"/>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143"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4"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3" name="矩形 82"/>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文本占位符 28"/>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23265387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97"/>
                                        </p:tgtEl>
                                        <p:attrNameLst>
                                          <p:attrName>style.visibility</p:attrName>
                                        </p:attrNameLst>
                                      </p:cBhvr>
                                      <p:to>
                                        <p:strVal val="visible"/>
                                      </p:to>
                                    </p:set>
                                    <p:anim calcmode="lin" valueType="num">
                                      <p:cBhvr additive="base">
                                        <p:cTn id="7" dur="1000" fill="hold"/>
                                        <p:tgtEl>
                                          <p:spTgt spid="97"/>
                                        </p:tgtEl>
                                        <p:attrNameLst>
                                          <p:attrName>ppt_x</p:attrName>
                                        </p:attrNameLst>
                                      </p:cBhvr>
                                      <p:tavLst>
                                        <p:tav tm="0">
                                          <p:val>
                                            <p:strVal val="0-#ppt_w/2"/>
                                          </p:val>
                                        </p:tav>
                                        <p:tav tm="100000">
                                          <p:val>
                                            <p:strVal val="#ppt_x"/>
                                          </p:val>
                                        </p:tav>
                                      </p:tavLst>
                                    </p:anim>
                                    <p:anim calcmode="lin" valueType="num">
                                      <p:cBhvr additive="base">
                                        <p:cTn id="8" dur="1000" fill="hold"/>
                                        <p:tgtEl>
                                          <p:spTgt spid="97"/>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1" fill="hold" nodeType="afterEffect">
                                  <p:stCondLst>
                                    <p:cond delay="0"/>
                                  </p:stCondLst>
                                  <p:childTnLst>
                                    <p:set>
                                      <p:cBhvr>
                                        <p:cTn id="11" dur="1" fill="hold">
                                          <p:stCondLst>
                                            <p:cond delay="0"/>
                                          </p:stCondLst>
                                        </p:cTn>
                                        <p:tgtEl>
                                          <p:spTgt spid="106"/>
                                        </p:tgtEl>
                                        <p:attrNameLst>
                                          <p:attrName>style.visibility</p:attrName>
                                        </p:attrNameLst>
                                      </p:cBhvr>
                                      <p:to>
                                        <p:strVal val="visible"/>
                                      </p:to>
                                    </p:set>
                                    <p:animEffect transition="in" filter="wipe(up)">
                                      <p:cBhvr>
                                        <p:cTn id="12" dur="10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4"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90" name="Group 41"/>
          <p:cNvGrpSpPr/>
          <p:nvPr/>
        </p:nvGrpSpPr>
        <p:grpSpPr bwMode="auto">
          <a:xfrm>
            <a:off x="2511051" y="2932328"/>
            <a:ext cx="946569" cy="246063"/>
            <a:chOff x="2169" y="2660"/>
            <a:chExt cx="804" cy="226"/>
          </a:xfrm>
        </p:grpSpPr>
        <p:sp>
          <p:nvSpPr>
            <p:cNvPr id="9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2"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3"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8"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grpSp>
        <p:nvGrpSpPr>
          <p:cNvPr id="109" name="Group 73"/>
          <p:cNvGrpSpPr/>
          <p:nvPr/>
        </p:nvGrpSpPr>
        <p:grpSpPr bwMode="auto">
          <a:xfrm>
            <a:off x="1695605" y="2710163"/>
            <a:ext cx="607498" cy="838412"/>
            <a:chOff x="1106" y="2477"/>
            <a:chExt cx="516" cy="771"/>
          </a:xfrm>
        </p:grpSpPr>
        <p:sp>
          <p:nvSpPr>
            <p:cNvPr id="110" name="Rectangle 74"/>
            <p:cNvSpPr>
              <a:spLocks noChangeArrowheads="1"/>
            </p:cNvSpPr>
            <p:nvPr/>
          </p:nvSpPr>
          <p:spPr bwMode="auto">
            <a:xfrm>
              <a:off x="1423" y="3022"/>
              <a:ext cx="187" cy="226"/>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1" name="Text Box 75"/>
            <p:cNvSpPr txBox="1">
              <a:spLocks noChangeArrowheads="1"/>
            </p:cNvSpPr>
            <p:nvPr/>
          </p:nvSpPr>
          <p:spPr bwMode="auto">
            <a:xfrm>
              <a:off x="1106" y="2477"/>
              <a:ext cx="516"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首部</a:t>
              </a:r>
            </a:p>
          </p:txBody>
        </p:sp>
        <p:sp>
          <p:nvSpPr>
            <p:cNvPr id="112" name="Line 76"/>
            <p:cNvSpPr>
              <a:spLocks noChangeShapeType="1"/>
            </p:cNvSpPr>
            <p:nvPr/>
          </p:nvSpPr>
          <p:spPr bwMode="auto">
            <a:xfrm>
              <a:off x="1422" y="2834"/>
              <a:ext cx="85" cy="203"/>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13" name="Group 77"/>
          <p:cNvGrpSpPr/>
          <p:nvPr/>
        </p:nvGrpSpPr>
        <p:grpSpPr bwMode="auto">
          <a:xfrm>
            <a:off x="3390694" y="2700859"/>
            <a:ext cx="607954" cy="847725"/>
            <a:chOff x="4135" y="2468"/>
            <a:chExt cx="517" cy="781"/>
          </a:xfrm>
        </p:grpSpPr>
        <p:sp>
          <p:nvSpPr>
            <p:cNvPr id="114" name="Rectangle 78"/>
            <p:cNvSpPr>
              <a:spLocks noChangeArrowheads="1"/>
            </p:cNvSpPr>
            <p:nvPr/>
          </p:nvSpPr>
          <p:spPr bwMode="auto">
            <a:xfrm>
              <a:off x="4191" y="3023"/>
              <a:ext cx="179" cy="226"/>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15" name="Line 79"/>
            <p:cNvSpPr>
              <a:spLocks noChangeShapeType="1"/>
            </p:cNvSpPr>
            <p:nvPr/>
          </p:nvSpPr>
          <p:spPr bwMode="auto">
            <a:xfrm flipH="1">
              <a:off x="4265" y="2834"/>
              <a:ext cx="93" cy="188"/>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6" name="Text Box 80"/>
            <p:cNvSpPr txBox="1">
              <a:spLocks noChangeArrowheads="1"/>
            </p:cNvSpPr>
            <p:nvPr/>
          </p:nvSpPr>
          <p:spPr bwMode="auto">
            <a:xfrm>
              <a:off x="4135" y="2468"/>
              <a:ext cx="517" cy="3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尾部</a:t>
              </a:r>
            </a:p>
          </p:txBody>
        </p:sp>
      </p:gr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3" name="矩形 142"/>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矩形 143"/>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145"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6"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97" name="矩形 96"/>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文本占位符 28"/>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14116530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109"/>
                                        </p:tgtEl>
                                        <p:attrNameLst>
                                          <p:attrName>style.visibility</p:attrName>
                                        </p:attrNameLst>
                                      </p:cBhvr>
                                      <p:to>
                                        <p:strVal val="visible"/>
                                      </p:to>
                                    </p:set>
                                    <p:anim calcmode="lin" valueType="num">
                                      <p:cBhvr additive="base">
                                        <p:cTn id="7" dur="1000" fill="hold"/>
                                        <p:tgtEl>
                                          <p:spTgt spid="109"/>
                                        </p:tgtEl>
                                        <p:attrNameLst>
                                          <p:attrName>ppt_x</p:attrName>
                                        </p:attrNameLst>
                                      </p:cBhvr>
                                      <p:tavLst>
                                        <p:tav tm="0">
                                          <p:val>
                                            <p:strVal val="0-#ppt_w/2"/>
                                          </p:val>
                                        </p:tav>
                                        <p:tav tm="100000">
                                          <p:val>
                                            <p:strVal val="#ppt_x"/>
                                          </p:val>
                                        </p:tav>
                                      </p:tavLst>
                                    </p:anim>
                                    <p:anim calcmode="lin" valueType="num">
                                      <p:cBhvr additive="base">
                                        <p:cTn id="8" dur="1000" fill="hold"/>
                                        <p:tgtEl>
                                          <p:spTgt spid="109"/>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0"/>
                                  </p:stCondLst>
                                  <p:childTnLst>
                                    <p:set>
                                      <p:cBhvr>
                                        <p:cTn id="10" dur="1" fill="hold">
                                          <p:stCondLst>
                                            <p:cond delay="0"/>
                                          </p:stCondLst>
                                        </p:cTn>
                                        <p:tgtEl>
                                          <p:spTgt spid="113"/>
                                        </p:tgtEl>
                                        <p:attrNameLst>
                                          <p:attrName>style.visibility</p:attrName>
                                        </p:attrNameLst>
                                      </p:cBhvr>
                                      <p:to>
                                        <p:strVal val="visible"/>
                                      </p:to>
                                    </p:set>
                                    <p:anim calcmode="lin" valueType="num">
                                      <p:cBhvr additive="base">
                                        <p:cTn id="11" dur="1000" fill="hold"/>
                                        <p:tgtEl>
                                          <p:spTgt spid="113"/>
                                        </p:tgtEl>
                                        <p:attrNameLst>
                                          <p:attrName>ppt_x</p:attrName>
                                        </p:attrNameLst>
                                      </p:cBhvr>
                                      <p:tavLst>
                                        <p:tav tm="0">
                                          <p:val>
                                            <p:strVal val="1+#ppt_w/2"/>
                                          </p:val>
                                        </p:tav>
                                        <p:tav tm="100000">
                                          <p:val>
                                            <p:strVal val="#ppt_x"/>
                                          </p:val>
                                        </p:tav>
                                      </p:tavLst>
                                    </p:anim>
                                    <p:anim calcmode="lin" valueType="num">
                                      <p:cBhvr additive="base">
                                        <p:cTn id="12" dur="1000" fill="hold"/>
                                        <p:tgtEl>
                                          <p:spTgt spid="113"/>
                                        </p:tgtEl>
                                        <p:attrNameLst>
                                          <p:attrName>ppt_y</p:attrName>
                                        </p:attrNameLst>
                                      </p:cBhvr>
                                      <p:tavLst>
                                        <p:tav tm="0">
                                          <p:val>
                                            <p:strVal val="#ppt_y"/>
                                          </p:val>
                                        </p:tav>
                                        <p:tav tm="100000">
                                          <p:val>
                                            <p:strVal val="#ppt_y"/>
                                          </p:val>
                                        </p:tav>
                                      </p:tavLst>
                                    </p:anim>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18"/>
                                        </p:tgtEl>
                                        <p:attrNameLst>
                                          <p:attrName>style.visibility</p:attrName>
                                        </p:attrNameLst>
                                      </p:cBhvr>
                                      <p:to>
                                        <p:strVal val="visible"/>
                                      </p:to>
                                    </p:set>
                                    <p:animEffect transition="in" filter="wipe(up)">
                                      <p:cBhvr>
                                        <p:cTn id="16" dur="10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4"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90" name="Group 41"/>
          <p:cNvGrpSpPr/>
          <p:nvPr/>
        </p:nvGrpSpPr>
        <p:grpSpPr bwMode="auto">
          <a:xfrm>
            <a:off x="2511051" y="2932328"/>
            <a:ext cx="946569" cy="246063"/>
            <a:chOff x="2169" y="2660"/>
            <a:chExt cx="804" cy="226"/>
          </a:xfrm>
        </p:grpSpPr>
        <p:sp>
          <p:nvSpPr>
            <p:cNvPr id="9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2"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3"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8"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3" name="矩形 142"/>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矩形 143"/>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9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00"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09" name="矩形 108"/>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文本占位符 28"/>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595645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250"/>
                                  </p:stCondLst>
                                  <p:childTnLst>
                                    <p:set>
                                      <p:cBhvr>
                                        <p:cTn id="6" dur="1" fill="hold">
                                          <p:stCondLst>
                                            <p:cond delay="0"/>
                                          </p:stCondLst>
                                        </p:cTn>
                                        <p:tgtEl>
                                          <p:spTgt spid="97"/>
                                        </p:tgtEl>
                                        <p:attrNameLst>
                                          <p:attrName>style.visibility</p:attrName>
                                        </p:attrNameLst>
                                      </p:cBhvr>
                                      <p:to>
                                        <p:strVal val="visible"/>
                                      </p:to>
                                    </p:set>
                                    <p:animEffect transition="in" filter="wipe(up)">
                                      <p:cBhvr>
                                        <p:cTn id="7"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29" name="文本占位符 28"/>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148885096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wipe(left)">
                                      <p:cBhvr>
                                        <p:cTn id="7" dur="750"/>
                                        <p:tgtEl>
                                          <p:spTgt spid="100"/>
                                        </p:tgtEl>
                                      </p:cBhvr>
                                    </p:animEffect>
                                  </p:childTnLst>
                                </p:cTn>
                              </p:par>
                            </p:childTnLst>
                          </p:cTn>
                        </p:par>
                        <p:par>
                          <p:cTn id="8" fill="hold">
                            <p:stCondLst>
                              <p:cond delay="750"/>
                            </p:stCondLst>
                            <p:childTnLst>
                              <p:par>
                                <p:cTn id="9" presetID="22" presetClass="entr" presetSubtype="8" fill="hold" nodeType="afterEffect">
                                  <p:stCondLst>
                                    <p:cond delay="0"/>
                                  </p:stCondLst>
                                  <p:childTnLst>
                                    <p:set>
                                      <p:cBhvr>
                                        <p:cTn id="10" dur="1" fill="hold">
                                          <p:stCondLst>
                                            <p:cond delay="0"/>
                                          </p:stCondLst>
                                        </p:cTn>
                                        <p:tgtEl>
                                          <p:spTgt spid="125"/>
                                        </p:tgtEl>
                                        <p:attrNameLst>
                                          <p:attrName>style.visibility</p:attrName>
                                        </p:attrNameLst>
                                      </p:cBhvr>
                                      <p:to>
                                        <p:strVal val="visible"/>
                                      </p:to>
                                    </p:set>
                                    <p:animEffect transition="in" filter="wipe(left)">
                                      <p:cBhvr>
                                        <p:cTn id="11" dur="750"/>
                                        <p:tgtEl>
                                          <p:spTgt spid="125"/>
                                        </p:tgtEl>
                                      </p:cBhvr>
                                    </p:animEffect>
                                  </p:childTnLst>
                                </p:cTn>
                              </p:par>
                            </p:childTnLst>
                          </p:cTn>
                        </p:par>
                        <p:par>
                          <p:cTn id="12" fill="hold">
                            <p:stCondLst>
                              <p:cond delay="1500"/>
                            </p:stCondLst>
                            <p:childTnLst>
                              <p:par>
                                <p:cTn id="13" presetID="22" presetClass="entr" presetSubtype="4" fill="hold" grpId="0" nodeType="after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wipe(down)">
                                      <p:cBhvr>
                                        <p:cTn id="15" dur="75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11"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29" name="文本占位符 28"/>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47017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left)">
                                      <p:cBhvr>
                                        <p:cTn id="7" dur="10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9" name="组合 28"/>
          <p:cNvGrpSpPr/>
          <p:nvPr/>
        </p:nvGrpSpPr>
        <p:grpSpPr>
          <a:xfrm>
            <a:off x="2068815" y="3302812"/>
            <a:ext cx="1598226" cy="252136"/>
            <a:chOff x="2068815" y="3302812"/>
            <a:chExt cx="1598226" cy="252136"/>
          </a:xfrm>
        </p:grpSpPr>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文本占位符 30"/>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13501594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down)">
                                      <p:cBhvr>
                                        <p:cTn id="7" dur="1000"/>
                                        <p:tgtEl>
                                          <p:spTgt spid="87"/>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left)">
                                      <p:cBhvr>
                                        <p:cTn id="1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文本占位符 30"/>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1061375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wipe(down)">
                                      <p:cBhvr>
                                        <p:cTn id="7" dur="1000"/>
                                        <p:tgtEl>
                                          <p:spTgt spid="8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left)">
                                      <p:cBhvr>
                                        <p:cTn id="1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3" name="组合 82"/>
          <p:cNvGrpSpPr/>
          <p:nvPr/>
        </p:nvGrpSpPr>
        <p:grpSpPr>
          <a:xfrm>
            <a:off x="5718485" y="2932328"/>
            <a:ext cx="1166697" cy="246063"/>
            <a:chOff x="2293194" y="2932328"/>
            <a:chExt cx="1166697" cy="246063"/>
          </a:xfrm>
        </p:grpSpPr>
        <p:grpSp>
          <p:nvGrpSpPr>
            <p:cNvPr id="84" name="Group 41"/>
            <p:cNvGrpSpPr/>
            <p:nvPr/>
          </p:nvGrpSpPr>
          <p:grpSpPr bwMode="auto">
            <a:xfrm>
              <a:off x="2511051" y="2932328"/>
              <a:ext cx="946569" cy="246063"/>
              <a:chOff x="2169" y="2660"/>
              <a:chExt cx="804" cy="226"/>
            </a:xfrm>
          </p:grpSpPr>
          <p:sp>
            <p:nvSpPr>
              <p:cNvPr id="89"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1"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6" name="矩形 8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1" name="文本占位符 30"/>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316394638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left)">
                                      <p:cBhvr>
                                        <p:cTn id="7" dur="10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3" name="组合 82"/>
          <p:cNvGrpSpPr/>
          <p:nvPr/>
        </p:nvGrpSpPr>
        <p:grpSpPr>
          <a:xfrm>
            <a:off x="5718485" y="2932328"/>
            <a:ext cx="1166697" cy="246063"/>
            <a:chOff x="2293194" y="2932328"/>
            <a:chExt cx="1166697" cy="246063"/>
          </a:xfrm>
        </p:grpSpPr>
        <p:grpSp>
          <p:nvGrpSpPr>
            <p:cNvPr id="84" name="Group 41"/>
            <p:cNvGrpSpPr/>
            <p:nvPr/>
          </p:nvGrpSpPr>
          <p:grpSpPr bwMode="auto">
            <a:xfrm>
              <a:off x="2511051" y="2932328"/>
              <a:ext cx="946569" cy="246063"/>
              <a:chOff x="2169" y="2660"/>
              <a:chExt cx="804" cy="226"/>
            </a:xfrm>
          </p:grpSpPr>
          <p:sp>
            <p:nvSpPr>
              <p:cNvPr id="89"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1"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6" name="矩形 8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8" name="Group 73"/>
          <p:cNvGrpSpPr/>
          <p:nvPr/>
        </p:nvGrpSpPr>
        <p:grpSpPr bwMode="auto">
          <a:xfrm>
            <a:off x="5120649" y="2892852"/>
            <a:ext cx="621626" cy="655723"/>
            <a:chOff x="1110" y="2645"/>
            <a:chExt cx="528" cy="603"/>
          </a:xfrm>
        </p:grpSpPr>
        <p:sp>
          <p:nvSpPr>
            <p:cNvPr id="112" name="Rectangle 74"/>
            <p:cNvSpPr>
              <a:spLocks noChangeArrowheads="1"/>
            </p:cNvSpPr>
            <p:nvPr/>
          </p:nvSpPr>
          <p:spPr bwMode="auto">
            <a:xfrm>
              <a:off x="1432" y="3022"/>
              <a:ext cx="187" cy="226"/>
            </a:xfrm>
            <a:prstGeom prst="rect">
              <a:avLst/>
            </a:prstGeom>
            <a:solidFill>
              <a:srgbClr val="00206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113" name="Text Box 75"/>
            <p:cNvSpPr txBox="1">
              <a:spLocks noChangeArrowheads="1"/>
            </p:cNvSpPr>
            <p:nvPr/>
          </p:nvSpPr>
          <p:spPr bwMode="auto">
            <a:xfrm>
              <a:off x="1110" y="2645"/>
              <a:ext cx="528"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1416" y="2842"/>
              <a:ext cx="91" cy="195"/>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16" name="Group 77"/>
          <p:cNvGrpSpPr/>
          <p:nvPr/>
        </p:nvGrpSpPr>
        <p:grpSpPr bwMode="auto">
          <a:xfrm>
            <a:off x="6827490" y="2890811"/>
            <a:ext cx="607954" cy="657774"/>
            <a:chOff x="4149" y="2643"/>
            <a:chExt cx="517" cy="606"/>
          </a:xfrm>
        </p:grpSpPr>
        <p:sp>
          <p:nvSpPr>
            <p:cNvPr id="117" name="Rectangle 78"/>
            <p:cNvSpPr>
              <a:spLocks noChangeArrowheads="1"/>
            </p:cNvSpPr>
            <p:nvPr/>
          </p:nvSpPr>
          <p:spPr bwMode="auto">
            <a:xfrm>
              <a:off x="4191" y="3023"/>
              <a:ext cx="179" cy="226"/>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18" name="Line 79"/>
            <p:cNvSpPr>
              <a:spLocks noChangeShapeType="1"/>
            </p:cNvSpPr>
            <p:nvPr/>
          </p:nvSpPr>
          <p:spPr bwMode="auto">
            <a:xfrm flipH="1">
              <a:off x="4265" y="2834"/>
              <a:ext cx="93" cy="188"/>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0" name="Text Box 80"/>
            <p:cNvSpPr txBox="1">
              <a:spLocks noChangeArrowheads="1"/>
            </p:cNvSpPr>
            <p:nvPr/>
          </p:nvSpPr>
          <p:spPr bwMode="auto">
            <a:xfrm>
              <a:off x="4149" y="2643"/>
              <a:ext cx="517"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grpSp>
      <p:grpSp>
        <p:nvGrpSpPr>
          <p:cNvPr id="31" name="组合 30"/>
          <p:cNvGrpSpPr/>
          <p:nvPr/>
        </p:nvGrpSpPr>
        <p:grpSpPr>
          <a:xfrm>
            <a:off x="5713004" y="3304109"/>
            <a:ext cx="1164318" cy="250839"/>
            <a:chOff x="5713004" y="3304109"/>
            <a:chExt cx="1164318" cy="250839"/>
          </a:xfrm>
        </p:grpSpPr>
        <p:grpSp>
          <p:nvGrpSpPr>
            <p:cNvPr id="93" name="Group 45"/>
            <p:cNvGrpSpPr/>
            <p:nvPr/>
          </p:nvGrpSpPr>
          <p:grpSpPr bwMode="auto">
            <a:xfrm>
              <a:off x="5713004" y="3304109"/>
              <a:ext cx="1164318" cy="244475"/>
              <a:chOff x="1984" y="3023"/>
              <a:chExt cx="989" cy="226"/>
            </a:xfrm>
          </p:grpSpPr>
          <p:sp>
            <p:nvSpPr>
              <p:cNvPr id="94"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6"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98"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6"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1" name="矩形 120"/>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2" name="文本占位符 31"/>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31751284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up)">
                                      <p:cBhvr>
                                        <p:cTn id="7" dur="1000"/>
                                        <p:tgtEl>
                                          <p:spTgt spid="92"/>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wipe(up)">
                                      <p:cBhvr>
                                        <p:cTn id="11" dur="1000"/>
                                        <p:tgtEl>
                                          <p:spTgt spid="31"/>
                                        </p:tgtEl>
                                      </p:cBhvr>
                                    </p:animEffect>
                                  </p:childTnLst>
                                </p:cTn>
                              </p:par>
                            </p:childTnLst>
                          </p:cTn>
                        </p:par>
                        <p:par>
                          <p:cTn id="12" fill="hold">
                            <p:stCondLst>
                              <p:cond delay="2000"/>
                            </p:stCondLst>
                            <p:childTnLst>
                              <p:par>
                                <p:cTn id="13" presetID="2" presetClass="entr" presetSubtype="8" fill="hold" nodeType="afterEffect">
                                  <p:stCondLst>
                                    <p:cond delay="0"/>
                                  </p:stCondLst>
                                  <p:childTnLst>
                                    <p:set>
                                      <p:cBhvr>
                                        <p:cTn id="14" dur="1" fill="hold">
                                          <p:stCondLst>
                                            <p:cond delay="0"/>
                                          </p:stCondLst>
                                        </p:cTn>
                                        <p:tgtEl>
                                          <p:spTgt spid="108"/>
                                        </p:tgtEl>
                                        <p:attrNameLst>
                                          <p:attrName>style.visibility</p:attrName>
                                        </p:attrNameLst>
                                      </p:cBhvr>
                                      <p:to>
                                        <p:strVal val="visible"/>
                                      </p:to>
                                    </p:set>
                                    <p:anim calcmode="lin" valueType="num">
                                      <p:cBhvr additive="base">
                                        <p:cTn id="15" dur="1000" fill="hold"/>
                                        <p:tgtEl>
                                          <p:spTgt spid="108"/>
                                        </p:tgtEl>
                                        <p:attrNameLst>
                                          <p:attrName>ppt_x</p:attrName>
                                        </p:attrNameLst>
                                      </p:cBhvr>
                                      <p:tavLst>
                                        <p:tav tm="0">
                                          <p:val>
                                            <p:strVal val="0-#ppt_w/2"/>
                                          </p:val>
                                        </p:tav>
                                        <p:tav tm="100000">
                                          <p:val>
                                            <p:strVal val="#ppt_x"/>
                                          </p:val>
                                        </p:tav>
                                      </p:tavLst>
                                    </p:anim>
                                    <p:anim calcmode="lin" valueType="num">
                                      <p:cBhvr additive="base">
                                        <p:cTn id="16" dur="1000" fill="hold"/>
                                        <p:tgtEl>
                                          <p:spTgt spid="108"/>
                                        </p:tgtEl>
                                        <p:attrNameLst>
                                          <p:attrName>ppt_y</p:attrName>
                                        </p:attrNameLst>
                                      </p:cBhvr>
                                      <p:tavLst>
                                        <p:tav tm="0">
                                          <p:val>
                                            <p:strVal val="#ppt_y"/>
                                          </p:val>
                                        </p:tav>
                                        <p:tav tm="100000">
                                          <p:val>
                                            <p:strVal val="#ppt_y"/>
                                          </p:val>
                                        </p:tav>
                                      </p:tavLst>
                                    </p:anim>
                                  </p:childTnLst>
                                </p:cTn>
                              </p:par>
                            </p:childTnLst>
                          </p:cTn>
                        </p:par>
                        <p:par>
                          <p:cTn id="17" fill="hold">
                            <p:stCondLst>
                              <p:cond delay="3000"/>
                            </p:stCondLst>
                            <p:childTnLst>
                              <p:par>
                                <p:cTn id="18" presetID="2" presetClass="entr" presetSubtype="2" fill="hold" nodeType="afterEffect">
                                  <p:stCondLst>
                                    <p:cond delay="0"/>
                                  </p:stCondLst>
                                  <p:childTnLst>
                                    <p:set>
                                      <p:cBhvr>
                                        <p:cTn id="19" dur="1" fill="hold">
                                          <p:stCondLst>
                                            <p:cond delay="0"/>
                                          </p:stCondLst>
                                        </p:cTn>
                                        <p:tgtEl>
                                          <p:spTgt spid="116"/>
                                        </p:tgtEl>
                                        <p:attrNameLst>
                                          <p:attrName>style.visibility</p:attrName>
                                        </p:attrNameLst>
                                      </p:cBhvr>
                                      <p:to>
                                        <p:strVal val="visible"/>
                                      </p:to>
                                    </p:set>
                                    <p:anim calcmode="lin" valueType="num">
                                      <p:cBhvr additive="base">
                                        <p:cTn id="20" dur="1000" fill="hold"/>
                                        <p:tgtEl>
                                          <p:spTgt spid="116"/>
                                        </p:tgtEl>
                                        <p:attrNameLst>
                                          <p:attrName>ppt_x</p:attrName>
                                        </p:attrNameLst>
                                      </p:cBhvr>
                                      <p:tavLst>
                                        <p:tav tm="0">
                                          <p:val>
                                            <p:strVal val="1+#ppt_w/2"/>
                                          </p:val>
                                        </p:tav>
                                        <p:tav tm="100000">
                                          <p:val>
                                            <p:strVal val="#ppt_x"/>
                                          </p:val>
                                        </p:tav>
                                      </p:tavLst>
                                    </p:anim>
                                    <p:anim calcmode="lin" valueType="num">
                                      <p:cBhvr additive="base">
                                        <p:cTn id="21" dur="1000" fill="hold"/>
                                        <p:tgtEl>
                                          <p:spTgt spid="11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3" name="组合 82"/>
          <p:cNvGrpSpPr/>
          <p:nvPr/>
        </p:nvGrpSpPr>
        <p:grpSpPr>
          <a:xfrm>
            <a:off x="5718485" y="2932328"/>
            <a:ext cx="1166697" cy="246063"/>
            <a:chOff x="2293194" y="2932328"/>
            <a:chExt cx="1166697" cy="246063"/>
          </a:xfrm>
        </p:grpSpPr>
        <p:grpSp>
          <p:nvGrpSpPr>
            <p:cNvPr id="84" name="Group 41"/>
            <p:cNvGrpSpPr/>
            <p:nvPr/>
          </p:nvGrpSpPr>
          <p:grpSpPr bwMode="auto">
            <a:xfrm>
              <a:off x="2511051" y="2932328"/>
              <a:ext cx="946569" cy="246063"/>
              <a:chOff x="2169" y="2660"/>
              <a:chExt cx="804" cy="226"/>
            </a:xfrm>
          </p:grpSpPr>
          <p:sp>
            <p:nvSpPr>
              <p:cNvPr id="89"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1"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6" name="矩形 8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8" name="Group 73"/>
          <p:cNvGrpSpPr/>
          <p:nvPr/>
        </p:nvGrpSpPr>
        <p:grpSpPr bwMode="auto">
          <a:xfrm>
            <a:off x="5120649" y="2892852"/>
            <a:ext cx="621626" cy="655723"/>
            <a:chOff x="1110" y="2645"/>
            <a:chExt cx="528" cy="603"/>
          </a:xfrm>
        </p:grpSpPr>
        <p:sp>
          <p:nvSpPr>
            <p:cNvPr id="112" name="Rectangle 74"/>
            <p:cNvSpPr>
              <a:spLocks noChangeArrowheads="1"/>
            </p:cNvSpPr>
            <p:nvPr/>
          </p:nvSpPr>
          <p:spPr bwMode="auto">
            <a:xfrm>
              <a:off x="1432" y="3022"/>
              <a:ext cx="187" cy="226"/>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113" name="Text Box 75"/>
            <p:cNvSpPr txBox="1">
              <a:spLocks noChangeArrowheads="1"/>
            </p:cNvSpPr>
            <p:nvPr/>
          </p:nvSpPr>
          <p:spPr bwMode="auto">
            <a:xfrm>
              <a:off x="1110" y="2645"/>
              <a:ext cx="528"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1416" y="2842"/>
              <a:ext cx="91" cy="195"/>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16" name="Group 77"/>
          <p:cNvGrpSpPr/>
          <p:nvPr/>
        </p:nvGrpSpPr>
        <p:grpSpPr bwMode="auto">
          <a:xfrm>
            <a:off x="6827490" y="2890811"/>
            <a:ext cx="607954" cy="657774"/>
            <a:chOff x="4149" y="2643"/>
            <a:chExt cx="517" cy="606"/>
          </a:xfrm>
        </p:grpSpPr>
        <p:sp>
          <p:nvSpPr>
            <p:cNvPr id="117" name="Rectangle 78"/>
            <p:cNvSpPr>
              <a:spLocks noChangeArrowheads="1"/>
            </p:cNvSpPr>
            <p:nvPr/>
          </p:nvSpPr>
          <p:spPr bwMode="auto">
            <a:xfrm>
              <a:off x="4191" y="3023"/>
              <a:ext cx="179" cy="226"/>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18" name="Line 79"/>
            <p:cNvSpPr>
              <a:spLocks noChangeShapeType="1"/>
            </p:cNvSpPr>
            <p:nvPr/>
          </p:nvSpPr>
          <p:spPr bwMode="auto">
            <a:xfrm flipH="1">
              <a:off x="4265" y="2834"/>
              <a:ext cx="93" cy="188"/>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0" name="Text Box 80"/>
            <p:cNvSpPr txBox="1">
              <a:spLocks noChangeArrowheads="1"/>
            </p:cNvSpPr>
            <p:nvPr/>
          </p:nvSpPr>
          <p:spPr bwMode="auto">
            <a:xfrm>
              <a:off x="4149" y="2643"/>
              <a:ext cx="517"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grpSp>
      <p:grpSp>
        <p:nvGrpSpPr>
          <p:cNvPr id="31" name="组合 30"/>
          <p:cNvGrpSpPr/>
          <p:nvPr/>
        </p:nvGrpSpPr>
        <p:grpSpPr>
          <a:xfrm>
            <a:off x="5713004" y="3304109"/>
            <a:ext cx="1164318" cy="250839"/>
            <a:chOff x="5713004" y="3304109"/>
            <a:chExt cx="1164318" cy="250839"/>
          </a:xfrm>
        </p:grpSpPr>
        <p:grpSp>
          <p:nvGrpSpPr>
            <p:cNvPr id="93" name="Group 45"/>
            <p:cNvGrpSpPr/>
            <p:nvPr/>
          </p:nvGrpSpPr>
          <p:grpSpPr bwMode="auto">
            <a:xfrm>
              <a:off x="5713004" y="3304109"/>
              <a:ext cx="1164318" cy="244475"/>
              <a:chOff x="1984" y="3023"/>
              <a:chExt cx="989" cy="226"/>
            </a:xfrm>
          </p:grpSpPr>
          <p:sp>
            <p:nvSpPr>
              <p:cNvPr id="94"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6"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98"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6"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1" name="矩形 120"/>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占位符 31"/>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378748050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124"/>
                                        </p:tgtEl>
                                        <p:attrNameLst>
                                          <p:attrName>style.visibility</p:attrName>
                                        </p:attrNameLst>
                                      </p:cBhvr>
                                      <p:to>
                                        <p:strVal val="visible"/>
                                      </p:to>
                                    </p:set>
                                    <p:animEffect transition="in" filter="wipe(up)">
                                      <p:cBhvr>
                                        <p:cTn id="7" dur="1000"/>
                                        <p:tgtEl>
                                          <p:spTgt spid="12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23"/>
                                        </p:tgtEl>
                                        <p:attrNameLst>
                                          <p:attrName>style.visibility</p:attrName>
                                        </p:attrNameLst>
                                      </p:cBhvr>
                                      <p:to>
                                        <p:strVal val="visible"/>
                                      </p:to>
                                    </p:set>
                                    <p:animEffect transition="in" filter="wipe(up)">
                                      <p:cBhvr>
                                        <p:cTn id="11" dur="1000"/>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P spid="124"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9" name="文本占位符 28"/>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40294741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2"/>
                                        </p:tgtEl>
                                        <p:attrNameLst>
                                          <p:attrName>style.visibility</p:attrName>
                                        </p:attrNameLst>
                                      </p:cBhvr>
                                      <p:to>
                                        <p:strVal val="visible"/>
                                      </p:to>
                                    </p:set>
                                    <p:animEffect transition="in" filter="wipe(left)">
                                      <p:cBhvr>
                                        <p:cTn id="7" dur="1000"/>
                                        <p:tgtEl>
                                          <p:spTgt spid="14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44"/>
                                        </p:tgtEl>
                                        <p:attrNameLst>
                                          <p:attrName>style.visibility</p:attrName>
                                        </p:attrNameLst>
                                      </p:cBhvr>
                                      <p:to>
                                        <p:strVal val="visible"/>
                                      </p:to>
                                    </p:set>
                                    <p:animEffect transition="in" filter="wipe(left)">
                                      <p:cBhvr>
                                        <p:cTn id="11" dur="1000"/>
                                        <p:tgtEl>
                                          <p:spTgt spid="144"/>
                                        </p:tgtEl>
                                      </p:cBhvr>
                                    </p:animEffect>
                                  </p:childTnLst>
                                </p:cTn>
                              </p:par>
                            </p:childTnLst>
                          </p:cTn>
                        </p:par>
                        <p:par>
                          <p:cTn id="12" fill="hold">
                            <p:stCondLst>
                              <p:cond delay="2000"/>
                            </p:stCondLst>
                            <p:childTnLst>
                              <p:par>
                                <p:cTn id="13" presetID="22" presetClass="entr" presetSubtype="8" fill="hold" grpId="0" nodeType="afterEffect">
                                  <p:stCondLst>
                                    <p:cond delay="0"/>
                                  </p:stCondLst>
                                  <p:childTnLst>
                                    <p:set>
                                      <p:cBhvr>
                                        <p:cTn id="14" dur="1" fill="hold">
                                          <p:stCondLst>
                                            <p:cond delay="0"/>
                                          </p:stCondLst>
                                        </p:cTn>
                                        <p:tgtEl>
                                          <p:spTgt spid="143"/>
                                        </p:tgtEl>
                                        <p:attrNameLst>
                                          <p:attrName>style.visibility</p:attrName>
                                        </p:attrNameLst>
                                      </p:cBhvr>
                                      <p:to>
                                        <p:strVal val="visible"/>
                                      </p:to>
                                    </p:set>
                                    <p:animEffect transition="in" filter="wipe(left)">
                                      <p:cBhvr>
                                        <p:cTn id="15" dur="10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 grpId="0" animBg="1"/>
      <p:bldP spid="143"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29" name="文本占位符 28"/>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35280576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wipe(left)">
                                      <p:cBhvr>
                                        <p:cTn id="7" dur="10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文本占位符 30"/>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275891592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wipe(down)">
                                      <p:cBhvr>
                                        <p:cTn id="7" dur="1000"/>
                                        <p:tgtEl>
                                          <p:spTgt spid="104"/>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down)">
                                      <p:cBhvr>
                                        <p:cTn id="1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1" name="文本占位符 30"/>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40430826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6"/>
                                        </p:tgtEl>
                                        <p:attrNameLst>
                                          <p:attrName>style.visibility</p:attrName>
                                        </p:attrNameLst>
                                      </p:cBhvr>
                                      <p:to>
                                        <p:strVal val="visible"/>
                                      </p:to>
                                    </p:set>
                                    <p:animEffect transition="in" filter="wipe(down)">
                                      <p:cBhvr>
                                        <p:cTn id="7" dur="1000"/>
                                        <p:tgtEl>
                                          <p:spTgt spid="8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90"/>
                                        </p:tgtEl>
                                        <p:attrNameLst>
                                          <p:attrName>style.visibility</p:attrName>
                                        </p:attrNameLst>
                                      </p:cBhvr>
                                      <p:to>
                                        <p:strVal val="visible"/>
                                      </p:to>
                                    </p:set>
                                    <p:animEffect transition="in" filter="wipe(down)">
                                      <p:cBhvr>
                                        <p:cTn id="11" dur="10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占位符 31"/>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31435840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2"/>
                                        </p:tgtEl>
                                        <p:attrNameLst>
                                          <p:attrName>style.visibility</p:attrName>
                                        </p:attrNameLst>
                                      </p:cBhvr>
                                      <p:to>
                                        <p:strVal val="visible"/>
                                      </p:to>
                                    </p:set>
                                    <p:animEffect transition="in" filter="wipe(down)">
                                      <p:cBhvr>
                                        <p:cTn id="7" dur="1000"/>
                                        <p:tgtEl>
                                          <p:spTgt spid="12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wipe(down)">
                                      <p:cBhvr>
                                        <p:cTn id="11" dur="10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2" name="组合 31"/>
          <p:cNvGrpSpPr/>
          <p:nvPr/>
        </p:nvGrpSpPr>
        <p:grpSpPr>
          <a:xfrm>
            <a:off x="6142401" y="2209195"/>
            <a:ext cx="725819" cy="246069"/>
            <a:chOff x="6142401" y="2209195"/>
            <a:chExt cx="725819" cy="246069"/>
          </a:xfrm>
        </p:grpSpPr>
        <p:grpSp>
          <p:nvGrpSpPr>
            <p:cNvPr id="113" name="组合 112"/>
            <p:cNvGrpSpPr/>
            <p:nvPr/>
          </p:nvGrpSpPr>
          <p:grpSpPr>
            <a:xfrm>
              <a:off x="6142401" y="2209195"/>
              <a:ext cx="725819" cy="246069"/>
              <a:chOff x="6142401" y="2209195"/>
              <a:chExt cx="725819" cy="246069"/>
            </a:xfrm>
          </p:grpSpPr>
          <p:sp>
            <p:nvSpPr>
              <p:cNvPr id="114" name="Rectangle 34"/>
              <p:cNvSpPr>
                <a:spLocks noChangeArrowheads="1"/>
              </p:cNvSpPr>
              <p:nvPr/>
            </p:nvSpPr>
            <p:spPr bwMode="auto">
              <a:xfrm>
                <a:off x="6142401"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5" name="Rectangle 37"/>
              <p:cNvSpPr>
                <a:spLocks noChangeArrowheads="1"/>
              </p:cNvSpPr>
              <p:nvPr/>
            </p:nvSpPr>
            <p:spPr bwMode="auto">
              <a:xfrm>
                <a:off x="6382187"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9" name="矩形 128"/>
            <p:cNvSpPr/>
            <p:nvPr/>
          </p:nvSpPr>
          <p:spPr>
            <a:xfrm>
              <a:off x="6396220"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3" name="文本占位符 32"/>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255930163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wipe(down)">
                                      <p:cBhvr>
                                        <p:cTn id="7" dur="1000"/>
                                        <p:tgtEl>
                                          <p:spTgt spid="123"/>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wipe(down)">
                                      <p:cBhvr>
                                        <p:cTn id="11"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Rectangle 37"/>
          <p:cNvSpPr>
            <a:spLocks noChangeArrowheads="1"/>
          </p:cNvSpPr>
          <p:nvPr/>
        </p:nvSpPr>
        <p:spPr bwMode="auto">
          <a:xfrm>
            <a:off x="6382187"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31" name="组合 130"/>
          <p:cNvGrpSpPr/>
          <p:nvPr/>
        </p:nvGrpSpPr>
        <p:grpSpPr>
          <a:xfrm>
            <a:off x="6142401" y="2209195"/>
            <a:ext cx="725819" cy="246069"/>
            <a:chOff x="6142401" y="2209195"/>
            <a:chExt cx="725819" cy="246069"/>
          </a:xfrm>
        </p:grpSpPr>
        <p:grpSp>
          <p:nvGrpSpPr>
            <p:cNvPr id="132" name="组合 131"/>
            <p:cNvGrpSpPr/>
            <p:nvPr/>
          </p:nvGrpSpPr>
          <p:grpSpPr>
            <a:xfrm>
              <a:off x="6142401" y="2209195"/>
              <a:ext cx="725819" cy="246069"/>
              <a:chOff x="6142401" y="2209195"/>
              <a:chExt cx="725819" cy="246069"/>
            </a:xfrm>
          </p:grpSpPr>
          <p:sp>
            <p:nvSpPr>
              <p:cNvPr id="134" name="Rectangle 34"/>
              <p:cNvSpPr>
                <a:spLocks noChangeArrowheads="1"/>
              </p:cNvSpPr>
              <p:nvPr/>
            </p:nvSpPr>
            <p:spPr bwMode="auto">
              <a:xfrm>
                <a:off x="6142401"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35" name="Rectangle 37"/>
              <p:cNvSpPr>
                <a:spLocks noChangeArrowheads="1"/>
              </p:cNvSpPr>
              <p:nvPr/>
            </p:nvSpPr>
            <p:spPr bwMode="auto">
              <a:xfrm>
                <a:off x="6382187"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33" name="矩形 132"/>
            <p:cNvSpPr/>
            <p:nvPr/>
          </p:nvSpPr>
          <p:spPr>
            <a:xfrm>
              <a:off x="6396220"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2" name="文本占位符 31"/>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5948842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wipe(down)">
                                      <p:cBhvr>
                                        <p:cTn id="7" dur="1000"/>
                                        <p:tgtEl>
                                          <p:spTgt spid="130"/>
                                        </p:tgtEl>
                                      </p:cBhvr>
                                    </p:animEffect>
                                  </p:childTnLst>
                                </p:cTn>
                              </p:par>
                            </p:childTnLst>
                          </p:cTn>
                        </p:par>
                        <p:par>
                          <p:cTn id="8" fill="hold">
                            <p:stCondLst>
                              <p:cond delay="1000"/>
                            </p:stCondLst>
                            <p:childTnLst>
                              <p:par>
                                <p:cTn id="9" presetID="22" presetClass="entr" presetSubtype="4" fill="hold" grpId="0"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down)">
                                      <p:cBhvr>
                                        <p:cTn id="11" dur="1000"/>
                                        <p:tgtEl>
                                          <p:spTgt spid="1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P spid="130"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1" name="直接箭头连接符 160"/>
          <p:cNvCxnSpPr/>
          <p:nvPr/>
        </p:nvCxnSpPr>
        <p:spPr>
          <a:xfrm>
            <a:off x="1671704" y="1973300"/>
            <a:ext cx="5761554" cy="0"/>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2" name="直接箭头连接符 161"/>
          <p:cNvCxnSpPr/>
          <p:nvPr/>
        </p:nvCxnSpPr>
        <p:spPr>
          <a:xfrm>
            <a:off x="1754257" y="2321828"/>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3" name="直接箭头连接符 162"/>
          <p:cNvCxnSpPr/>
          <p:nvPr/>
        </p:nvCxnSpPr>
        <p:spPr>
          <a:xfrm>
            <a:off x="1754257" y="2675694"/>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1754257" y="3071247"/>
            <a:ext cx="2198623" cy="722788"/>
            <a:chOff x="1754257" y="3071247"/>
            <a:chExt cx="2198623" cy="722788"/>
          </a:xfrm>
        </p:grpSpPr>
        <p:cxnSp>
          <p:nvCxnSpPr>
            <p:cNvPr id="164" name="直接箭头连接符 163"/>
            <p:cNvCxnSpPr/>
            <p:nvPr/>
          </p:nvCxnSpPr>
          <p:spPr>
            <a:xfrm>
              <a:off x="1754257"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5" name="直接箭头连接符 164"/>
            <p:cNvCxnSpPr/>
            <p:nvPr/>
          </p:nvCxnSpPr>
          <p:spPr>
            <a:xfrm>
              <a:off x="1754257"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6" name="直接箭头连接符 165"/>
            <p:cNvCxnSpPr/>
            <p:nvPr/>
          </p:nvCxnSpPr>
          <p:spPr>
            <a:xfrm>
              <a:off x="1754257"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2" name="组合 41"/>
          <p:cNvGrpSpPr/>
          <p:nvPr/>
        </p:nvGrpSpPr>
        <p:grpSpPr>
          <a:xfrm>
            <a:off x="5067116" y="3071247"/>
            <a:ext cx="2291530" cy="722788"/>
            <a:chOff x="5067116" y="3071247"/>
            <a:chExt cx="2198623" cy="722788"/>
          </a:xfrm>
        </p:grpSpPr>
        <p:cxnSp>
          <p:nvCxnSpPr>
            <p:cNvPr id="167" name="直接箭头连接符 166"/>
            <p:cNvCxnSpPr/>
            <p:nvPr/>
          </p:nvCxnSpPr>
          <p:spPr>
            <a:xfrm>
              <a:off x="5067116"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8" name="直接箭头连接符 167"/>
            <p:cNvCxnSpPr/>
            <p:nvPr/>
          </p:nvCxnSpPr>
          <p:spPr>
            <a:xfrm>
              <a:off x="5067116"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a:off x="5067116"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7" name="组合 46"/>
          <p:cNvGrpSpPr/>
          <p:nvPr/>
        </p:nvGrpSpPr>
        <p:grpSpPr>
          <a:xfrm>
            <a:off x="2068815" y="1870804"/>
            <a:ext cx="1598226" cy="2045269"/>
            <a:chOff x="2068815" y="1870804"/>
            <a:chExt cx="1598226" cy="2045269"/>
          </a:xfrm>
        </p:grpSpPr>
        <p:sp>
          <p:nvSpPr>
            <p:cNvPr id="13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132"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33"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134" name="Group 38"/>
            <p:cNvGrpSpPr/>
            <p:nvPr/>
          </p:nvGrpSpPr>
          <p:grpSpPr bwMode="auto">
            <a:xfrm>
              <a:off x="2736195" y="2554801"/>
              <a:ext cx="723947" cy="245571"/>
              <a:chOff x="2346" y="2297"/>
              <a:chExt cx="615" cy="226"/>
            </a:xfrm>
            <a:solidFill>
              <a:srgbClr val="00B0F0"/>
            </a:solidFill>
          </p:grpSpPr>
          <p:sp>
            <p:nvSpPr>
              <p:cNvPr id="135"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36"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37"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138" name="Group 41"/>
            <p:cNvGrpSpPr/>
            <p:nvPr/>
          </p:nvGrpSpPr>
          <p:grpSpPr bwMode="auto">
            <a:xfrm>
              <a:off x="2511051" y="2932328"/>
              <a:ext cx="946569" cy="246063"/>
              <a:chOff x="2169" y="2660"/>
              <a:chExt cx="804" cy="226"/>
            </a:xfrm>
          </p:grpSpPr>
          <p:sp>
            <p:nvSpPr>
              <p:cNvPr id="14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47"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48"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49"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nvGrpSpPr>
            <p:cNvPr id="150" name="Group 45"/>
            <p:cNvGrpSpPr/>
            <p:nvPr/>
          </p:nvGrpSpPr>
          <p:grpSpPr bwMode="auto">
            <a:xfrm>
              <a:off x="2292670" y="3304109"/>
              <a:ext cx="1164318" cy="244475"/>
              <a:chOff x="1984" y="3023"/>
              <a:chExt cx="989" cy="226"/>
            </a:xfrm>
          </p:grpSpPr>
          <p:sp>
            <p:nvSpPr>
              <p:cNvPr id="151"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52"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53"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54"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55"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56"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57" name="矩形 156"/>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8" name="矩形 157"/>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9" name="矩形 158"/>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0"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13" name="组合 112"/>
          <p:cNvGrpSpPr/>
          <p:nvPr/>
        </p:nvGrpSpPr>
        <p:grpSpPr>
          <a:xfrm>
            <a:off x="6142401" y="2209195"/>
            <a:ext cx="725819" cy="246069"/>
            <a:chOff x="6142401" y="2209195"/>
            <a:chExt cx="725819" cy="246069"/>
          </a:xfrm>
        </p:grpSpPr>
        <p:sp>
          <p:nvSpPr>
            <p:cNvPr id="114" name="Rectangle 34"/>
            <p:cNvSpPr>
              <a:spLocks noChangeArrowheads="1"/>
            </p:cNvSpPr>
            <p:nvPr/>
          </p:nvSpPr>
          <p:spPr bwMode="auto">
            <a:xfrm>
              <a:off x="6142401"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5" name="Rectangle 37"/>
            <p:cNvSpPr>
              <a:spLocks noChangeArrowheads="1"/>
            </p:cNvSpPr>
            <p:nvPr/>
          </p:nvSpPr>
          <p:spPr bwMode="auto">
            <a:xfrm>
              <a:off x="6382187"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9" name="Rectangle 37"/>
          <p:cNvSpPr>
            <a:spLocks noChangeArrowheads="1"/>
          </p:cNvSpPr>
          <p:nvPr/>
        </p:nvSpPr>
        <p:spPr bwMode="auto">
          <a:xfrm>
            <a:off x="6382187"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170" name="矩形 169"/>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1" name="矩形 170"/>
          <p:cNvSpPr/>
          <p:nvPr/>
        </p:nvSpPr>
        <p:spPr>
          <a:xfrm>
            <a:off x="6396220"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占位符 31"/>
          <p:cNvSpPr>
            <a:spLocks noGrp="1"/>
          </p:cNvSpPr>
          <p:nvPr>
            <p:ph type="body" sz="quarter" idx="10"/>
          </p:nvPr>
        </p:nvSpPr>
        <p:spPr/>
        <p:txBody>
          <a:bodyPr/>
          <a:lstStyle/>
          <a:p>
            <a:r>
              <a:rPr lang="zh-CN" altLang="en-US" dirty="0"/>
              <a:t>数据在各层之间的传递过程</a:t>
            </a:r>
          </a:p>
        </p:txBody>
      </p:sp>
    </p:spTree>
    <p:extLst>
      <p:ext uri="{BB962C8B-B14F-4D97-AF65-F5344CB8AC3E}">
        <p14:creationId xmlns:p14="http://schemas.microsoft.com/office/powerpoint/2010/main" val="25166082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r>
              <a:rPr lang="en-US" altLang="zh-CN" dirty="0"/>
              <a:t>OSI </a:t>
            </a:r>
            <a:r>
              <a:rPr lang="zh-CN" altLang="en-US" dirty="0"/>
              <a:t>参考模型把对等层次之间传送的数据单位称为该层的</a:t>
            </a:r>
            <a:r>
              <a:rPr lang="zh-CN" altLang="en-US" dirty="0">
                <a:solidFill>
                  <a:srgbClr val="C00000"/>
                </a:solidFill>
              </a:rPr>
              <a:t>协议数据单元 </a:t>
            </a:r>
            <a:r>
              <a:rPr lang="en-US" altLang="zh-CN" dirty="0">
                <a:solidFill>
                  <a:srgbClr val="C00000"/>
                </a:solidFill>
              </a:rPr>
              <a:t>PDU</a:t>
            </a:r>
            <a:r>
              <a:rPr lang="en-US" altLang="zh-CN" dirty="0"/>
              <a:t> (Protocol Data Unit)</a:t>
            </a:r>
            <a:r>
              <a:rPr lang="zh-CN" altLang="en-US" dirty="0"/>
              <a:t>。</a:t>
            </a:r>
            <a:endParaRPr lang="en-US" altLang="zh-CN" dirty="0"/>
          </a:p>
          <a:p>
            <a:r>
              <a:rPr lang="zh-CN" altLang="en-US" dirty="0"/>
              <a:t>任何两个同样的层次把 </a:t>
            </a:r>
            <a:r>
              <a:rPr lang="en-US" altLang="zh-CN" dirty="0"/>
              <a:t>PDU </a:t>
            </a:r>
            <a:r>
              <a:rPr lang="zh-CN" altLang="en-US" dirty="0"/>
              <a:t>（即数据单元加上控制信息）通过水平虚线直接传递给对方。这就是所谓的</a:t>
            </a:r>
            <a:r>
              <a:rPr lang="zh-CN" altLang="en-US" dirty="0">
                <a:solidFill>
                  <a:srgbClr val="C00000"/>
                </a:solidFill>
              </a:rPr>
              <a:t>“对等层”</a:t>
            </a:r>
            <a:r>
              <a:rPr lang="zh-CN" altLang="en-US" dirty="0"/>
              <a:t>之间的通信。</a:t>
            </a:r>
          </a:p>
          <a:p>
            <a:endParaRPr lang="zh-CN" altLang="en-US" dirty="0"/>
          </a:p>
        </p:txBody>
      </p:sp>
      <p:sp>
        <p:nvSpPr>
          <p:cNvPr id="4" name="文本占位符 3"/>
          <p:cNvSpPr>
            <a:spLocks noGrp="1"/>
          </p:cNvSpPr>
          <p:nvPr>
            <p:ph type="body" sz="quarter" idx="11"/>
          </p:nvPr>
        </p:nvSpPr>
        <p:spPr/>
        <p:txBody>
          <a:bodyPr/>
          <a:lstStyle/>
          <a:p>
            <a:r>
              <a:rPr lang="zh-CN" altLang="en-US" dirty="0"/>
              <a:t>对等层与协议数据单元</a:t>
            </a:r>
          </a:p>
        </p:txBody>
      </p:sp>
      <p:grpSp>
        <p:nvGrpSpPr>
          <p:cNvPr id="5" name="组合 4"/>
          <p:cNvGrpSpPr/>
          <p:nvPr/>
        </p:nvGrpSpPr>
        <p:grpSpPr>
          <a:xfrm>
            <a:off x="705051" y="2664562"/>
            <a:ext cx="7721653" cy="630805"/>
            <a:chOff x="595997" y="3877027"/>
            <a:chExt cx="4614827" cy="1042751"/>
          </a:xfrm>
        </p:grpSpPr>
        <p:sp>
          <p:nvSpPr>
            <p:cNvPr id="6" name="对角圆角矩形 5"/>
            <p:cNvSpPr/>
            <p:nvPr/>
          </p:nvSpPr>
          <p:spPr>
            <a:xfrm>
              <a:off x="595997" y="3877027"/>
              <a:ext cx="4614827" cy="104275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fontAlgn="auto">
                <a:spcBef>
                  <a:spcPts val="0"/>
                </a:spcBef>
                <a:spcAft>
                  <a:spcPts val="0"/>
                </a:spcAft>
                <a:defRPr/>
              </a:pPr>
              <a:endParaRPr lang="zh-CN" altLang="en-US" sz="1600" dirty="0"/>
            </a:p>
          </p:txBody>
        </p:sp>
        <p:sp>
          <p:nvSpPr>
            <p:cNvPr id="7" name="矩形 5"/>
            <p:cNvSpPr>
              <a:spLocks noChangeArrowheads="1"/>
            </p:cNvSpPr>
            <p:nvPr/>
          </p:nvSpPr>
          <p:spPr bwMode="auto">
            <a:xfrm>
              <a:off x="710641" y="4034685"/>
              <a:ext cx="4389878" cy="666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各层协议实际上就是在各个</a:t>
              </a:r>
              <a:r>
                <a:rPr lang="zh-CN" altLang="en-US" sz="2000" b="1" dirty="0">
                  <a:solidFill>
                    <a:srgbClr val="FFFF00"/>
                  </a:solidFill>
                  <a:latin typeface="微软雅黑" panose="020B0503020204020204" pitchFamily="34" charset="-122"/>
                  <a:ea typeface="微软雅黑" panose="020B0503020204020204" pitchFamily="34" charset="-122"/>
                </a:rPr>
                <a:t>对等层</a:t>
              </a:r>
              <a:r>
                <a:rPr lang="zh-CN" altLang="en-US" sz="2000" b="1" dirty="0">
                  <a:solidFill>
                    <a:schemeClr val="bg1"/>
                  </a:solidFill>
                  <a:latin typeface="微软雅黑" panose="020B0503020204020204" pitchFamily="34" charset="-122"/>
                  <a:ea typeface="微软雅黑" panose="020B0503020204020204" pitchFamily="34" charset="-122"/>
                </a:rPr>
                <a:t>之间传递数据时的各项规定。</a:t>
              </a:r>
            </a:p>
          </p:txBody>
        </p:sp>
      </p:grpSp>
    </p:spTree>
    <p:extLst>
      <p:ext uri="{BB962C8B-B14F-4D97-AF65-F5344CB8AC3E}">
        <p14:creationId xmlns:p14="http://schemas.microsoft.com/office/powerpoint/2010/main" val="5589178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p:txBody>
          <a:bodyPr/>
          <a:lstStyle/>
          <a:p>
            <a:pPr>
              <a:lnSpc>
                <a:spcPts val="3300"/>
              </a:lnSpc>
              <a:buClr>
                <a:srgbClr val="0070C0"/>
              </a:buClr>
            </a:pPr>
            <a:r>
              <a:rPr lang="zh-CN" altLang="en-US" dirty="0">
                <a:solidFill>
                  <a:srgbClr val="C00000"/>
                </a:solidFill>
              </a:rPr>
              <a:t>实体 </a:t>
            </a:r>
            <a:r>
              <a:rPr lang="en-US" altLang="zh-CN" dirty="0"/>
              <a:t>(entity) </a:t>
            </a:r>
            <a:r>
              <a:rPr lang="zh-CN" altLang="en-US" dirty="0"/>
              <a:t>：表示任何可发送或接收信息的硬件或软件进程。 </a:t>
            </a:r>
          </a:p>
          <a:p>
            <a:pPr>
              <a:lnSpc>
                <a:spcPts val="3300"/>
              </a:lnSpc>
              <a:buClr>
                <a:srgbClr val="0070C0"/>
              </a:buClr>
            </a:pPr>
            <a:r>
              <a:rPr lang="zh-CN" altLang="en-US" dirty="0">
                <a:solidFill>
                  <a:srgbClr val="C00000"/>
                </a:solidFill>
              </a:rPr>
              <a:t>协议：</a:t>
            </a:r>
            <a:r>
              <a:rPr lang="zh-CN" altLang="en-US" dirty="0"/>
              <a:t>控制</a:t>
            </a:r>
            <a:r>
              <a:rPr lang="zh-CN" altLang="en-US" dirty="0">
                <a:solidFill>
                  <a:srgbClr val="0000FF"/>
                </a:solidFill>
              </a:rPr>
              <a:t>两个</a:t>
            </a:r>
            <a:r>
              <a:rPr lang="zh-CN" altLang="en-US" dirty="0">
                <a:solidFill>
                  <a:srgbClr val="C00000"/>
                </a:solidFill>
              </a:rPr>
              <a:t>对等实体</a:t>
            </a:r>
            <a:r>
              <a:rPr lang="zh-CN" altLang="en-US" dirty="0"/>
              <a:t>进行通信的规则的集合。 </a:t>
            </a:r>
          </a:p>
          <a:p>
            <a:pPr>
              <a:lnSpc>
                <a:spcPts val="3300"/>
              </a:lnSpc>
              <a:buClr>
                <a:srgbClr val="0070C0"/>
              </a:buClr>
            </a:pPr>
            <a:r>
              <a:rPr lang="zh-CN" altLang="en-US" dirty="0"/>
              <a:t>在协议的控制下，两个对等实体间的通信使得本层能够</a:t>
            </a:r>
            <a:r>
              <a:rPr lang="zh-CN" altLang="en-US" dirty="0">
                <a:solidFill>
                  <a:srgbClr val="0000FF"/>
                </a:solidFill>
              </a:rPr>
              <a:t>向上一层</a:t>
            </a:r>
            <a:r>
              <a:rPr lang="zh-CN" altLang="en-US" dirty="0">
                <a:solidFill>
                  <a:srgbClr val="C00000"/>
                </a:solidFill>
              </a:rPr>
              <a:t>提供</a:t>
            </a:r>
            <a:r>
              <a:rPr lang="zh-CN" altLang="en-US" dirty="0">
                <a:solidFill>
                  <a:srgbClr val="0000FF"/>
                </a:solidFill>
              </a:rPr>
              <a:t>服务。</a:t>
            </a:r>
          </a:p>
          <a:p>
            <a:pPr>
              <a:lnSpc>
                <a:spcPts val="3300"/>
              </a:lnSpc>
              <a:buClr>
                <a:srgbClr val="0070C0"/>
              </a:buClr>
            </a:pPr>
            <a:r>
              <a:rPr lang="zh-CN" altLang="en-US" dirty="0"/>
              <a:t>要实现本层协议，还需要</a:t>
            </a:r>
            <a:r>
              <a:rPr lang="zh-CN" altLang="en-US" dirty="0">
                <a:solidFill>
                  <a:srgbClr val="C00000"/>
                </a:solidFill>
              </a:rPr>
              <a:t>使用</a:t>
            </a:r>
            <a:r>
              <a:rPr lang="zh-CN" altLang="en-US" dirty="0">
                <a:solidFill>
                  <a:srgbClr val="0000FF"/>
                </a:solidFill>
              </a:rPr>
              <a:t>下层所提供的服务。</a:t>
            </a:r>
            <a:endParaRPr lang="zh-CN" altLang="en-US" dirty="0"/>
          </a:p>
        </p:txBody>
      </p:sp>
      <p:sp>
        <p:nvSpPr>
          <p:cNvPr id="4" name="文本占位符 3"/>
          <p:cNvSpPr>
            <a:spLocks noGrp="1"/>
          </p:cNvSpPr>
          <p:nvPr>
            <p:ph type="body" sz="quarter" idx="11"/>
          </p:nvPr>
        </p:nvSpPr>
        <p:spPr/>
        <p:txBody>
          <a:bodyPr/>
          <a:lstStyle/>
          <a:p>
            <a:r>
              <a:rPr lang="en-US" altLang="zh-CN" dirty="0"/>
              <a:t>1.7.4  </a:t>
            </a:r>
            <a:r>
              <a:rPr lang="zh-CN" altLang="zh-CN" dirty="0"/>
              <a:t>实体、协议、服务和服务访问点</a:t>
            </a:r>
            <a:endParaRPr lang="zh-CN" altLang="en-US" dirty="0"/>
          </a:p>
        </p:txBody>
      </p:sp>
    </p:spTree>
    <p:extLst>
      <p:ext uri="{BB962C8B-B14F-4D97-AF65-F5344CB8AC3E}">
        <p14:creationId xmlns:p14="http://schemas.microsoft.com/office/powerpoint/2010/main" val="8169826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p:cNvGraphicFramePr>
            <a:graphicFrameLocks noGrp="1"/>
          </p:cNvGraphicFramePr>
          <p:nvPr>
            <p:ph sz="quarter" idx="10"/>
            <p:extLst>
              <p:ext uri="{D42A27DB-BD31-4B8C-83A1-F6EECF244321}">
                <p14:modId xmlns:p14="http://schemas.microsoft.com/office/powerpoint/2010/main" val="732848079"/>
              </p:ext>
            </p:extLst>
          </p:nvPr>
        </p:nvGraphicFramePr>
        <p:xfrm>
          <a:off x="716160" y="1156066"/>
          <a:ext cx="7958381" cy="27847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文本占位符 4"/>
          <p:cNvSpPr>
            <a:spLocks noGrp="1"/>
          </p:cNvSpPr>
          <p:nvPr>
            <p:ph type="body" sz="quarter" idx="11"/>
          </p:nvPr>
        </p:nvSpPr>
        <p:spPr/>
        <p:txBody>
          <a:bodyPr/>
          <a:lstStyle/>
          <a:p>
            <a:r>
              <a:rPr lang="zh-CN" altLang="en-US" dirty="0"/>
              <a:t>注意：协议和服务在概念上是</a:t>
            </a:r>
            <a:r>
              <a:rPr lang="zh-CN" altLang="en-US" dirty="0">
                <a:solidFill>
                  <a:srgbClr val="FFFF00"/>
                </a:solidFill>
              </a:rPr>
              <a:t>不一样</a:t>
            </a:r>
            <a:r>
              <a:rPr lang="zh-CN" altLang="en-US" dirty="0"/>
              <a:t>的</a:t>
            </a:r>
          </a:p>
        </p:txBody>
      </p:sp>
    </p:spTree>
    <p:extLst>
      <p:ext uri="{BB962C8B-B14F-4D97-AF65-F5344CB8AC3E}">
        <p14:creationId xmlns:p14="http://schemas.microsoft.com/office/powerpoint/2010/main" val="38946736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p:txBody>
          <a:bodyPr/>
          <a:lstStyle/>
          <a:p>
            <a:r>
              <a:rPr lang="zh-CN" altLang="en-US" dirty="0"/>
              <a:t>在同一系统中相邻两层的实体进行交互（即交换信息）</a:t>
            </a:r>
            <a:r>
              <a:rPr lang="en-US" altLang="zh-CN" dirty="0"/>
              <a:t> </a:t>
            </a:r>
            <a:r>
              <a:rPr lang="zh-CN" altLang="en-US" dirty="0"/>
              <a:t>的地方，通常称为</a:t>
            </a:r>
            <a:r>
              <a:rPr lang="zh-CN" altLang="en-US" dirty="0">
                <a:solidFill>
                  <a:srgbClr val="C00000"/>
                </a:solidFill>
              </a:rPr>
              <a:t>服务访问点 </a:t>
            </a:r>
            <a:r>
              <a:rPr lang="en-US" altLang="zh-CN" dirty="0">
                <a:solidFill>
                  <a:srgbClr val="C00000"/>
                </a:solidFill>
              </a:rPr>
              <a:t>SAP </a:t>
            </a:r>
            <a:r>
              <a:rPr lang="en-US" altLang="zh-CN" dirty="0"/>
              <a:t>(Service Access Point)</a:t>
            </a:r>
            <a:r>
              <a:rPr lang="zh-CN" altLang="en-US" dirty="0"/>
              <a:t>。</a:t>
            </a:r>
            <a:endParaRPr lang="en-US" altLang="zh-CN" dirty="0"/>
          </a:p>
          <a:p>
            <a:r>
              <a:rPr lang="en-US" altLang="zh-CN" dirty="0"/>
              <a:t>SAP </a:t>
            </a:r>
            <a:r>
              <a:rPr lang="zh-CN" altLang="en-US" dirty="0"/>
              <a:t>是一个抽象的概念，它实际上就是一个</a:t>
            </a:r>
            <a:r>
              <a:rPr lang="zh-CN" altLang="en-US" dirty="0">
                <a:solidFill>
                  <a:srgbClr val="0000FF"/>
                </a:solidFill>
              </a:rPr>
              <a:t>逻辑接口。</a:t>
            </a:r>
            <a:endParaRPr lang="en-US" altLang="zh-CN" dirty="0">
              <a:solidFill>
                <a:srgbClr val="0000FF"/>
              </a:solidFill>
            </a:endParaRPr>
          </a:p>
          <a:p>
            <a:r>
              <a:rPr lang="en-US" altLang="zh-CN" dirty="0"/>
              <a:t>OSI </a:t>
            </a:r>
            <a:r>
              <a:rPr lang="zh-CN" altLang="en-US" dirty="0"/>
              <a:t>把层与层之间交换的数据的单位称为</a:t>
            </a:r>
            <a:r>
              <a:rPr lang="zh-CN" altLang="en-US" dirty="0">
                <a:solidFill>
                  <a:srgbClr val="C00000"/>
                </a:solidFill>
              </a:rPr>
              <a:t>服务数据单元 </a:t>
            </a:r>
            <a:r>
              <a:rPr lang="en-US" altLang="zh-CN" dirty="0">
                <a:solidFill>
                  <a:srgbClr val="C00000"/>
                </a:solidFill>
              </a:rPr>
              <a:t>SDU </a:t>
            </a:r>
            <a:r>
              <a:rPr lang="en-US" altLang="zh-CN" dirty="0"/>
              <a:t>(Service Data Unit)</a:t>
            </a:r>
            <a:r>
              <a:rPr lang="zh-CN" altLang="en-US" dirty="0"/>
              <a:t>。</a:t>
            </a:r>
          </a:p>
          <a:p>
            <a:r>
              <a:rPr lang="en-US" altLang="zh-CN" dirty="0">
                <a:solidFill>
                  <a:srgbClr val="0000FF"/>
                </a:solidFill>
              </a:rPr>
              <a:t>SDU </a:t>
            </a:r>
            <a:r>
              <a:rPr lang="zh-CN" altLang="en-US" dirty="0">
                <a:solidFill>
                  <a:srgbClr val="0000FF"/>
                </a:solidFill>
              </a:rPr>
              <a:t>可以与 </a:t>
            </a:r>
            <a:r>
              <a:rPr lang="en-US" altLang="zh-CN" dirty="0">
                <a:solidFill>
                  <a:srgbClr val="0000FF"/>
                </a:solidFill>
              </a:rPr>
              <a:t>PDU </a:t>
            </a:r>
            <a:r>
              <a:rPr lang="zh-CN" altLang="en-US" dirty="0">
                <a:solidFill>
                  <a:srgbClr val="0000FF"/>
                </a:solidFill>
              </a:rPr>
              <a:t>不一样。</a:t>
            </a:r>
            <a:endParaRPr lang="en-US" altLang="zh-CN" dirty="0">
              <a:solidFill>
                <a:srgbClr val="0000FF"/>
              </a:solidFill>
            </a:endParaRPr>
          </a:p>
          <a:p>
            <a:pPr lvl="1"/>
            <a:r>
              <a:rPr lang="zh-CN" altLang="en-US" dirty="0"/>
              <a:t>例如：可以是多个 </a:t>
            </a:r>
            <a:r>
              <a:rPr lang="en-US" altLang="zh-CN" dirty="0"/>
              <a:t>SDU </a:t>
            </a:r>
            <a:r>
              <a:rPr lang="zh-CN" altLang="en-US" dirty="0"/>
              <a:t>合成为一个 </a:t>
            </a:r>
            <a:r>
              <a:rPr lang="en-US" altLang="zh-CN" dirty="0"/>
              <a:t>PDU</a:t>
            </a:r>
            <a:r>
              <a:rPr lang="zh-CN" altLang="en-US" dirty="0"/>
              <a:t>，也可以是一个 </a:t>
            </a:r>
            <a:r>
              <a:rPr lang="en-US" altLang="zh-CN" dirty="0"/>
              <a:t>SDU </a:t>
            </a:r>
            <a:r>
              <a:rPr lang="zh-CN" altLang="en-US" dirty="0"/>
              <a:t>划分为几个 </a:t>
            </a:r>
            <a:r>
              <a:rPr lang="en-US" altLang="zh-CN" dirty="0"/>
              <a:t>PDU</a:t>
            </a:r>
            <a:r>
              <a:rPr lang="zh-CN" altLang="en-US" dirty="0"/>
              <a:t>。</a:t>
            </a:r>
          </a:p>
          <a:p>
            <a:endParaRPr lang="zh-CN" altLang="en-US" dirty="0"/>
          </a:p>
        </p:txBody>
      </p:sp>
      <p:sp>
        <p:nvSpPr>
          <p:cNvPr id="3" name="文本占位符 2"/>
          <p:cNvSpPr>
            <a:spLocks noGrp="1"/>
          </p:cNvSpPr>
          <p:nvPr>
            <p:ph type="body" sz="quarter" idx="11"/>
          </p:nvPr>
        </p:nvSpPr>
        <p:spPr/>
        <p:txBody>
          <a:bodyPr/>
          <a:lstStyle/>
          <a:p>
            <a:r>
              <a:rPr lang="zh-CN" altLang="en-US" dirty="0"/>
              <a:t>服务访问点 </a:t>
            </a:r>
            <a:r>
              <a:rPr lang="en-US" altLang="zh-CN" dirty="0"/>
              <a:t>SAP</a:t>
            </a:r>
            <a:endParaRPr lang="zh-CN" altLang="en-US" dirty="0"/>
          </a:p>
        </p:txBody>
      </p:sp>
    </p:spTree>
    <p:extLst>
      <p:ext uri="{BB962C8B-B14F-4D97-AF65-F5344CB8AC3E}">
        <p14:creationId xmlns:p14="http://schemas.microsoft.com/office/powerpoint/2010/main" val="30981003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圆角矩形 32"/>
          <p:cNvSpPr/>
          <p:nvPr/>
        </p:nvSpPr>
        <p:spPr>
          <a:xfrm>
            <a:off x="496168" y="1123226"/>
            <a:ext cx="8053712" cy="3200121"/>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Rectangle 63"/>
          <p:cNvSpPr>
            <a:spLocks noChangeArrowheads="1"/>
          </p:cNvSpPr>
          <p:nvPr/>
        </p:nvSpPr>
        <p:spPr bwMode="auto">
          <a:xfrm>
            <a:off x="874295" y="2674019"/>
            <a:ext cx="7259052" cy="1245882"/>
          </a:xfrm>
          <a:prstGeom prst="rect">
            <a:avLst/>
          </a:prstGeom>
          <a:solidFill>
            <a:schemeClr val="bg1"/>
          </a:solidFill>
          <a:ln w="9525">
            <a:solidFill>
              <a:srgbClr val="000066"/>
            </a:solidFill>
            <a:prstDash val="dash"/>
            <a:round/>
          </a:ln>
          <a:effectLst>
            <a:glow rad="63500">
              <a:schemeClr val="accent1">
                <a:satMod val="175000"/>
                <a:alpha val="40000"/>
              </a:schemeClr>
            </a:glow>
          </a:effectLst>
          <a:scene3d>
            <a:camera prst="orthographicFront">
              <a:rot lat="0" lon="0" rev="0"/>
            </a:camera>
            <a:lightRig rig="contrasting" dir="t">
              <a:rot lat="0" lon="0" rev="7800000"/>
            </a:lightRig>
          </a:scene3d>
          <a:sp3d>
            <a:bevelT w="139700" h="139700"/>
          </a:sp3d>
        </p:spPr>
        <p:txBody>
          <a:bodyPr wrap="none" anchor="ctr"/>
          <a:lstStyle/>
          <a:p>
            <a:pPr fontAlgn="auto">
              <a:spcBef>
                <a:spcPts val="0"/>
              </a:spcBef>
              <a:spcAft>
                <a:spcPts val="0"/>
              </a:spcAft>
              <a:defRPr/>
            </a:pPr>
            <a:endParaRPr lang="zh-CN" altLang="en-US" sz="1400" b="1" dirty="0">
              <a:solidFill>
                <a:srgbClr val="368AD6"/>
              </a:solidFill>
              <a:latin typeface="+mn-lt"/>
              <a:ea typeface="黑体" panose="02010609060101010101" pitchFamily="49" charset="-122"/>
            </a:endParaRPr>
          </a:p>
        </p:txBody>
      </p:sp>
      <p:sp>
        <p:nvSpPr>
          <p:cNvPr id="5" name="Rectangle 35"/>
          <p:cNvSpPr>
            <a:spLocks noChangeArrowheads="1"/>
          </p:cNvSpPr>
          <p:nvPr/>
        </p:nvSpPr>
        <p:spPr bwMode="auto">
          <a:xfrm>
            <a:off x="1882692" y="3153276"/>
            <a:ext cx="4800600" cy="571500"/>
          </a:xfrm>
          <a:prstGeom prst="rect">
            <a:avLst/>
          </a:prstGeom>
          <a:noFill/>
          <a:ln>
            <a:noFill/>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6" name="Rectangle 36"/>
          <p:cNvSpPr>
            <a:spLocks noChangeArrowheads="1"/>
          </p:cNvSpPr>
          <p:nvPr/>
        </p:nvSpPr>
        <p:spPr bwMode="auto">
          <a:xfrm>
            <a:off x="2593892" y="3048501"/>
            <a:ext cx="188912"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7" name="Line 37"/>
          <p:cNvSpPr>
            <a:spLocks noChangeShapeType="1"/>
          </p:cNvSpPr>
          <p:nvPr/>
        </p:nvSpPr>
        <p:spPr bwMode="auto">
          <a:xfrm>
            <a:off x="3284454" y="1734051"/>
            <a:ext cx="2038350"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Text Box 38"/>
          <p:cNvSpPr txBox="1">
            <a:spLocks noChangeArrowheads="1"/>
          </p:cNvSpPr>
          <p:nvPr/>
        </p:nvSpPr>
        <p:spPr bwMode="auto">
          <a:xfrm>
            <a:off x="3716254" y="1548314"/>
            <a:ext cx="1258888" cy="338137"/>
          </a:xfrm>
          <a:prstGeom prst="rect">
            <a:avLst/>
          </a:prstGeom>
          <a:solidFill>
            <a:srgbClr val="C3E3F9"/>
          </a:solidFill>
          <a:ln>
            <a:noFill/>
          </a:ln>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协议 </a:t>
            </a:r>
            <a:r>
              <a:rPr kumimoji="1" lang="en-US" altLang="zh-CN" sz="1600" b="1" dirty="0">
                <a:solidFill>
                  <a:srgbClr val="0000FF"/>
                </a:solidFill>
                <a:latin typeface="微软雅黑" panose="020B0503020204020204" pitchFamily="34" charset="-122"/>
                <a:ea typeface="微软雅黑" panose="020B0503020204020204" pitchFamily="34" charset="-122"/>
              </a:rPr>
              <a:t>(</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a:t>
            </a:r>
          </a:p>
        </p:txBody>
      </p:sp>
      <p:sp>
        <p:nvSpPr>
          <p:cNvPr id="9" name="Text Box 39"/>
          <p:cNvSpPr txBox="1">
            <a:spLocks noChangeArrowheads="1"/>
          </p:cNvSpPr>
          <p:nvPr/>
        </p:nvSpPr>
        <p:spPr bwMode="auto">
          <a:xfrm>
            <a:off x="2730417" y="273576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CC00CC"/>
                </a:solidFill>
                <a:latin typeface="微软雅黑" panose="020B0503020204020204" pitchFamily="34" charset="-122"/>
                <a:ea typeface="微软雅黑" panose="020B0503020204020204" pitchFamily="34" charset="-122"/>
              </a:rPr>
              <a:t>SAP</a:t>
            </a:r>
          </a:p>
        </p:txBody>
      </p:sp>
      <p:sp>
        <p:nvSpPr>
          <p:cNvPr id="10" name="Text Box 40"/>
          <p:cNvSpPr txBox="1">
            <a:spLocks noChangeArrowheads="1"/>
          </p:cNvSpPr>
          <p:nvPr/>
        </p:nvSpPr>
        <p:spPr bwMode="auto">
          <a:xfrm>
            <a:off x="5245017" y="275481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CC00CC"/>
                </a:solidFill>
                <a:latin typeface="微软雅黑" panose="020B0503020204020204" pitchFamily="34" charset="-122"/>
                <a:ea typeface="微软雅黑" panose="020B0503020204020204" pitchFamily="34" charset="-122"/>
              </a:rPr>
              <a:t>SAP</a:t>
            </a:r>
          </a:p>
        </p:txBody>
      </p:sp>
      <p:sp>
        <p:nvSpPr>
          <p:cNvPr id="11" name="Text Box 41"/>
          <p:cNvSpPr txBox="1">
            <a:spLocks noChangeArrowheads="1"/>
          </p:cNvSpPr>
          <p:nvPr/>
        </p:nvSpPr>
        <p:spPr bwMode="auto">
          <a:xfrm>
            <a:off x="2701257" y="2017553"/>
            <a:ext cx="1415772"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2" name="AutoShape 42"/>
          <p:cNvSpPr>
            <a:spLocks noChangeArrowheads="1"/>
          </p:cNvSpPr>
          <p:nvPr/>
        </p:nvSpPr>
        <p:spPr bwMode="auto">
          <a:xfrm>
            <a:off x="2617704" y="1957889"/>
            <a:ext cx="128588" cy="1074737"/>
          </a:xfrm>
          <a:prstGeom prst="upDownArrow">
            <a:avLst>
              <a:gd name="adj1" fmla="val 50000"/>
              <a:gd name="adj2" fmla="val 181090"/>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3" name="Rectangle 43"/>
          <p:cNvSpPr>
            <a:spLocks noChangeArrowheads="1"/>
          </p:cNvSpPr>
          <p:nvPr/>
        </p:nvSpPr>
        <p:spPr bwMode="auto">
          <a:xfrm>
            <a:off x="5754604" y="3048501"/>
            <a:ext cx="192088"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14" name="AutoShape 44"/>
          <p:cNvSpPr>
            <a:spLocks noChangeArrowheads="1"/>
          </p:cNvSpPr>
          <p:nvPr/>
        </p:nvSpPr>
        <p:spPr bwMode="auto">
          <a:xfrm>
            <a:off x="5776829" y="1957889"/>
            <a:ext cx="130175" cy="1074737"/>
          </a:xfrm>
          <a:prstGeom prst="upDownArrow">
            <a:avLst>
              <a:gd name="adj1" fmla="val 50000"/>
              <a:gd name="adj2" fmla="val 178882"/>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5" name="Text Box 45"/>
          <p:cNvSpPr txBox="1">
            <a:spLocks noChangeArrowheads="1"/>
          </p:cNvSpPr>
          <p:nvPr/>
        </p:nvSpPr>
        <p:spPr bwMode="auto">
          <a:xfrm>
            <a:off x="4438150"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6" name="Rectangle 46"/>
          <p:cNvSpPr>
            <a:spLocks noChangeArrowheads="1"/>
          </p:cNvSpPr>
          <p:nvPr/>
        </p:nvSpPr>
        <p:spPr bwMode="auto">
          <a:xfrm>
            <a:off x="2112879" y="1559426"/>
            <a:ext cx="1150938"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17" name="Text Box 47"/>
          <p:cNvSpPr txBox="1">
            <a:spLocks noChangeArrowheads="1"/>
          </p:cNvSpPr>
          <p:nvPr/>
        </p:nvSpPr>
        <p:spPr bwMode="auto">
          <a:xfrm>
            <a:off x="2144629" y="1614989"/>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18" name="Text Box 48"/>
          <p:cNvSpPr txBox="1">
            <a:spLocks noChangeArrowheads="1"/>
          </p:cNvSpPr>
          <p:nvPr/>
        </p:nvSpPr>
        <p:spPr bwMode="auto">
          <a:xfrm>
            <a:off x="1033379" y="3077076"/>
            <a:ext cx="849313"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服务</a:t>
            </a:r>
            <a:endParaRPr kumimoji="1" lang="en-US" altLang="zh-CN" sz="1600" b="1" dirty="0">
              <a:latin typeface="微软雅黑" panose="020B0503020204020204" pitchFamily="34" charset="-122"/>
              <a:ea typeface="微软雅黑" panose="020B0503020204020204" pitchFamily="34" charset="-122"/>
            </a:endParaRPr>
          </a:p>
          <a:p>
            <a:r>
              <a:rPr kumimoji="1" lang="zh-CN" altLang="en-US" sz="1600" b="1" dirty="0">
                <a:latin typeface="微软雅黑" panose="020B0503020204020204" pitchFamily="34" charset="-122"/>
                <a:ea typeface="微软雅黑" panose="020B0503020204020204" pitchFamily="34" charset="-122"/>
              </a:rPr>
              <a:t>提供者</a:t>
            </a:r>
          </a:p>
        </p:txBody>
      </p:sp>
      <p:sp>
        <p:nvSpPr>
          <p:cNvPr id="19" name="Line 49"/>
          <p:cNvSpPr>
            <a:spLocks noChangeShapeType="1"/>
          </p:cNvSpPr>
          <p:nvPr/>
        </p:nvSpPr>
        <p:spPr bwMode="auto">
          <a:xfrm>
            <a:off x="505072" y="2494631"/>
            <a:ext cx="8053712" cy="0"/>
          </a:xfrm>
          <a:prstGeom prst="line">
            <a:avLst/>
          </a:prstGeom>
          <a:noFill/>
          <a:ln w="28575">
            <a:solidFill>
              <a:srgbClr val="000066"/>
            </a:solidFill>
            <a:prstDash val="dash"/>
            <a:round/>
            <a:headEnd type="non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0" name="Text Box 50"/>
          <p:cNvSpPr txBox="1">
            <a:spLocks noChangeArrowheads="1"/>
          </p:cNvSpPr>
          <p:nvPr/>
        </p:nvSpPr>
        <p:spPr bwMode="auto">
          <a:xfrm>
            <a:off x="6975392" y="3223126"/>
            <a:ext cx="849913" cy="338554"/>
          </a:xfrm>
          <a:prstGeom prst="rect">
            <a:avLst/>
          </a:prstGeom>
          <a:no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1" name="Text Box 51"/>
          <p:cNvSpPr txBox="1">
            <a:spLocks noChangeArrowheads="1"/>
          </p:cNvSpPr>
          <p:nvPr/>
        </p:nvSpPr>
        <p:spPr bwMode="auto">
          <a:xfrm>
            <a:off x="6742029" y="1576889"/>
            <a:ext cx="1132041"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2" name="Rectangle 52"/>
          <p:cNvSpPr>
            <a:spLocks noChangeArrowheads="1"/>
          </p:cNvSpPr>
          <p:nvPr/>
        </p:nvSpPr>
        <p:spPr bwMode="auto">
          <a:xfrm>
            <a:off x="5284704" y="1559426"/>
            <a:ext cx="1149350"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3" name="Text Box 53"/>
          <p:cNvSpPr txBox="1">
            <a:spLocks noChangeArrowheads="1"/>
          </p:cNvSpPr>
          <p:nvPr/>
        </p:nvSpPr>
        <p:spPr bwMode="auto">
          <a:xfrm>
            <a:off x="5316454" y="1613401"/>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24" name="Text Box 54"/>
          <p:cNvSpPr txBox="1">
            <a:spLocks noChangeArrowheads="1"/>
          </p:cNvSpPr>
          <p:nvPr/>
        </p:nvSpPr>
        <p:spPr bwMode="auto">
          <a:xfrm>
            <a:off x="5808579" y="1427664"/>
            <a:ext cx="12491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endParaRPr kumimoji="1" lang="zh-CN" altLang="zh-CN" sz="1600" b="1">
              <a:latin typeface="微软雅黑" panose="020B0503020204020204" pitchFamily="34" charset="-122"/>
              <a:ea typeface="微软雅黑" panose="020B0503020204020204" pitchFamily="34" charset="-122"/>
            </a:endParaRPr>
          </a:p>
        </p:txBody>
      </p:sp>
      <p:sp>
        <p:nvSpPr>
          <p:cNvPr id="25" name="Text Box 55"/>
          <p:cNvSpPr txBox="1">
            <a:spLocks noChangeArrowheads="1"/>
          </p:cNvSpPr>
          <p:nvPr/>
        </p:nvSpPr>
        <p:spPr bwMode="auto">
          <a:xfrm>
            <a:off x="1033379" y="1481639"/>
            <a:ext cx="674688"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latin typeface="微软雅黑" panose="020B0503020204020204" pitchFamily="34" charset="-122"/>
                <a:ea typeface="微软雅黑" panose="020B0503020204020204" pitchFamily="34" charset="-122"/>
              </a:rPr>
              <a:t>服务用户</a:t>
            </a:r>
          </a:p>
        </p:txBody>
      </p:sp>
      <p:sp>
        <p:nvSpPr>
          <p:cNvPr id="26" name="Rectangle 56"/>
          <p:cNvSpPr>
            <a:spLocks noChangeArrowheads="1"/>
          </p:cNvSpPr>
          <p:nvPr/>
        </p:nvSpPr>
        <p:spPr bwMode="auto">
          <a:xfrm>
            <a:off x="21128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7" name="Rectangle 57"/>
          <p:cNvSpPr>
            <a:spLocks noChangeArrowheads="1"/>
          </p:cNvSpPr>
          <p:nvPr/>
        </p:nvSpPr>
        <p:spPr bwMode="auto">
          <a:xfrm>
            <a:off x="52624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8" name="Text Box 58"/>
          <p:cNvSpPr txBox="1">
            <a:spLocks noChangeArrowheads="1"/>
          </p:cNvSpPr>
          <p:nvPr/>
        </p:nvSpPr>
        <p:spPr bwMode="auto">
          <a:xfrm>
            <a:off x="2224004"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29" name="Text Box 59"/>
          <p:cNvSpPr txBox="1">
            <a:spLocks noChangeArrowheads="1"/>
          </p:cNvSpPr>
          <p:nvPr/>
        </p:nvSpPr>
        <p:spPr bwMode="auto">
          <a:xfrm>
            <a:off x="5433929"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30" name="Line 60"/>
          <p:cNvSpPr>
            <a:spLocks noChangeShapeType="1"/>
          </p:cNvSpPr>
          <p:nvPr/>
        </p:nvSpPr>
        <p:spPr bwMode="auto">
          <a:xfrm>
            <a:off x="3266992" y="3421564"/>
            <a:ext cx="1995487" cy="0"/>
          </a:xfrm>
          <a:prstGeom prst="line">
            <a:avLst/>
          </a:prstGeom>
          <a:noFill/>
          <a:ln w="19050">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1" name="Text Box 61"/>
          <p:cNvSpPr txBox="1">
            <a:spLocks noChangeArrowheads="1"/>
          </p:cNvSpPr>
          <p:nvPr/>
        </p:nvSpPr>
        <p:spPr bwMode="auto">
          <a:xfrm>
            <a:off x="3867067" y="3256155"/>
            <a:ext cx="889000" cy="338137"/>
          </a:xfrm>
          <a:prstGeom prst="rect">
            <a:avLst/>
          </a:prstGeom>
          <a:solidFill>
            <a:schemeClr val="bg1"/>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协议</a:t>
            </a:r>
            <a:r>
              <a:rPr kumimoji="1" lang="en-US" altLang="zh-CN" sz="1600" b="1" dirty="0">
                <a:latin typeface="微软雅黑" panose="020B0503020204020204" pitchFamily="34" charset="-122"/>
                <a:ea typeface="微软雅黑" panose="020B0503020204020204" pitchFamily="34" charset="-122"/>
              </a:rPr>
              <a:t>(</a:t>
            </a:r>
            <a:r>
              <a:rPr kumimoji="1" lang="en-US" altLang="zh-CN" sz="1600" b="1" i="1" dirty="0">
                <a:latin typeface="微软雅黑" panose="020B0503020204020204" pitchFamily="34" charset="-122"/>
                <a:ea typeface="微软雅黑" panose="020B0503020204020204" pitchFamily="34" charset="-122"/>
              </a:rPr>
              <a:t>n</a:t>
            </a:r>
            <a:r>
              <a:rPr kumimoji="1" lang="en-US" altLang="zh-CN" sz="1600" b="1" dirty="0">
                <a:latin typeface="微软雅黑" panose="020B0503020204020204" pitchFamily="34" charset="-122"/>
                <a:ea typeface="微软雅黑" panose="020B0503020204020204" pitchFamily="34" charset="-122"/>
              </a:rPr>
              <a:t>)</a:t>
            </a:r>
          </a:p>
        </p:txBody>
      </p:sp>
      <p:sp>
        <p:nvSpPr>
          <p:cNvPr id="2" name="文本占位符 1"/>
          <p:cNvSpPr>
            <a:spLocks noGrp="1"/>
          </p:cNvSpPr>
          <p:nvPr>
            <p:ph type="body" sz="quarter" idx="10"/>
          </p:nvPr>
        </p:nvSpPr>
        <p:spPr/>
        <p:txBody>
          <a:bodyPr/>
          <a:lstStyle/>
          <a:p>
            <a:r>
              <a:rPr lang="zh-CN" altLang="en-US" dirty="0"/>
              <a:t>相邻两层之间的关系</a:t>
            </a:r>
          </a:p>
        </p:txBody>
      </p:sp>
    </p:spTree>
    <p:extLst>
      <p:ext uri="{BB962C8B-B14F-4D97-AF65-F5344CB8AC3E}">
        <p14:creationId xmlns:p14="http://schemas.microsoft.com/office/powerpoint/2010/main" val="31300141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1"/>
          <p:cNvGrpSpPr/>
          <p:nvPr/>
        </p:nvGrpSpPr>
        <p:grpSpPr bwMode="auto">
          <a:xfrm>
            <a:off x="1352067" y="3378017"/>
            <a:ext cx="6279792" cy="1263710"/>
            <a:chOff x="229549" y="4412749"/>
            <a:chExt cx="9721983" cy="2504059"/>
          </a:xfrm>
        </p:grpSpPr>
        <p:sp>
          <p:nvSpPr>
            <p:cNvPr id="4" name="Freeform 2"/>
            <p:cNvSpPr/>
            <p:nvPr/>
          </p:nvSpPr>
          <p:spPr bwMode="auto">
            <a:xfrm>
              <a:off x="229549" y="5027683"/>
              <a:ext cx="9721983" cy="1889125"/>
            </a:xfrm>
            <a:custGeom>
              <a:avLst/>
              <a:gdLst>
                <a:gd name="T0" fmla="*/ 0 w 5653"/>
                <a:gd name="T1" fmla="*/ 1839913 h 1190"/>
                <a:gd name="T2" fmla="*/ 1595967 w 5653"/>
                <a:gd name="T3" fmla="*/ 142875 h 1190"/>
                <a:gd name="T4" fmla="*/ 2999317 w 5653"/>
                <a:gd name="T5" fmla="*/ 981075 h 1190"/>
                <a:gd name="T6" fmla="*/ 4815417 w 5653"/>
                <a:gd name="T7" fmla="*/ 1743075 h 1190"/>
                <a:gd name="T8" fmla="*/ 5811176 w 5653"/>
                <a:gd name="T9" fmla="*/ 1789113 h 1190"/>
                <a:gd name="T10" fmla="*/ 6548967 w 5653"/>
                <a:gd name="T11" fmla="*/ 1743075 h 1190"/>
                <a:gd name="T12" fmla="*/ 7291917 w 5653"/>
                <a:gd name="T13" fmla="*/ 1057275 h 1190"/>
                <a:gd name="T14" fmla="*/ 7838811 w 5653"/>
                <a:gd name="T15" fmla="*/ 319088 h 1190"/>
                <a:gd name="T16" fmla="*/ 8526728 w 5653"/>
                <a:gd name="T17" fmla="*/ 385763 h 1190"/>
                <a:gd name="T18" fmla="*/ 8870686 w 5653"/>
                <a:gd name="T19" fmla="*/ 1154113 h 1190"/>
                <a:gd name="T20" fmla="*/ 9142413 w 5653"/>
                <a:gd name="T21" fmla="*/ 1471613 h 1190"/>
                <a:gd name="T22" fmla="*/ 9304074 w 5653"/>
                <a:gd name="T23" fmla="*/ 1639888 h 1190"/>
                <a:gd name="T24" fmla="*/ 9721983 w 5653"/>
                <a:gd name="T25" fmla="*/ 1889125 h 119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5653" h="1190">
                  <a:moveTo>
                    <a:pt x="0" y="1159"/>
                  </a:moveTo>
                  <a:cubicBezTo>
                    <a:pt x="153" y="981"/>
                    <a:pt x="637" y="180"/>
                    <a:pt x="928" y="90"/>
                  </a:cubicBezTo>
                  <a:cubicBezTo>
                    <a:pt x="1219" y="0"/>
                    <a:pt x="1432" y="450"/>
                    <a:pt x="1744" y="618"/>
                  </a:cubicBezTo>
                  <a:cubicBezTo>
                    <a:pt x="2056" y="786"/>
                    <a:pt x="2528" y="1013"/>
                    <a:pt x="2800" y="1098"/>
                  </a:cubicBezTo>
                  <a:cubicBezTo>
                    <a:pt x="3072" y="1183"/>
                    <a:pt x="3211" y="1127"/>
                    <a:pt x="3379" y="1127"/>
                  </a:cubicBezTo>
                  <a:cubicBezTo>
                    <a:pt x="3547" y="1127"/>
                    <a:pt x="3665" y="1175"/>
                    <a:pt x="3808" y="1098"/>
                  </a:cubicBezTo>
                  <a:cubicBezTo>
                    <a:pt x="3951" y="1021"/>
                    <a:pt x="4115" y="816"/>
                    <a:pt x="4240" y="666"/>
                  </a:cubicBezTo>
                  <a:cubicBezTo>
                    <a:pt x="4365" y="516"/>
                    <a:pt x="4438" y="272"/>
                    <a:pt x="4558" y="201"/>
                  </a:cubicBezTo>
                  <a:cubicBezTo>
                    <a:pt x="4678" y="130"/>
                    <a:pt x="4858" y="155"/>
                    <a:pt x="4958" y="243"/>
                  </a:cubicBezTo>
                  <a:cubicBezTo>
                    <a:pt x="5058" y="331"/>
                    <a:pt x="5098" y="613"/>
                    <a:pt x="5158" y="727"/>
                  </a:cubicBezTo>
                  <a:cubicBezTo>
                    <a:pt x="5218" y="841"/>
                    <a:pt x="5274" y="876"/>
                    <a:pt x="5316" y="927"/>
                  </a:cubicBezTo>
                  <a:cubicBezTo>
                    <a:pt x="5358" y="978"/>
                    <a:pt x="5354" y="989"/>
                    <a:pt x="5410" y="1033"/>
                  </a:cubicBezTo>
                  <a:cubicBezTo>
                    <a:pt x="5466" y="1077"/>
                    <a:pt x="5603" y="1157"/>
                    <a:pt x="5653" y="1190"/>
                  </a:cubicBezTo>
                </a:path>
              </a:pathLst>
            </a:custGeom>
            <a:solidFill>
              <a:srgbClr val="339933"/>
            </a:solidFill>
            <a:ln w="9525">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Line 3"/>
            <p:cNvSpPr>
              <a:spLocks noChangeShapeType="1"/>
            </p:cNvSpPr>
            <p:nvPr/>
          </p:nvSpPr>
          <p:spPr bwMode="auto">
            <a:xfrm>
              <a:off x="1990616" y="44127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AutoShape 4"/>
            <p:cNvSpPr>
              <a:spLocks noChangeArrowheads="1"/>
            </p:cNvSpPr>
            <p:nvPr/>
          </p:nvSpPr>
          <p:spPr bwMode="auto">
            <a:xfrm rot="-252939">
              <a:off x="1990616" y="44127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a:p>
          </p:txBody>
        </p:sp>
        <p:sp>
          <p:nvSpPr>
            <p:cNvPr id="7" name="Line 5"/>
            <p:cNvSpPr>
              <a:spLocks noChangeShapeType="1"/>
            </p:cNvSpPr>
            <p:nvPr/>
          </p:nvSpPr>
          <p:spPr bwMode="auto">
            <a:xfrm>
              <a:off x="8346966" y="45651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AutoShape 6"/>
            <p:cNvSpPr>
              <a:spLocks noChangeArrowheads="1"/>
            </p:cNvSpPr>
            <p:nvPr/>
          </p:nvSpPr>
          <p:spPr bwMode="auto">
            <a:xfrm rot="-252939">
              <a:off x="8346966" y="45651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a:p>
          </p:txBody>
        </p:sp>
        <p:sp>
          <p:nvSpPr>
            <p:cNvPr id="9" name="AutoShape 7"/>
            <p:cNvSpPr>
              <a:spLocks noChangeArrowheads="1"/>
            </p:cNvSpPr>
            <p:nvPr/>
          </p:nvSpPr>
          <p:spPr bwMode="auto">
            <a:xfrm rot="-252939">
              <a:off x="5232424" y="5852612"/>
              <a:ext cx="1382713" cy="762000"/>
            </a:xfrm>
            <a:prstGeom prst="wave">
              <a:avLst>
                <a:gd name="adj1" fmla="val 12500"/>
                <a:gd name="adj2" fmla="val -1639"/>
              </a:avLst>
            </a:prstGeom>
            <a:solidFill>
              <a:schemeClr val="bg1"/>
            </a:solidFill>
            <a:ln w="19050">
              <a:solidFill>
                <a:srgbClr val="0098F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Line 8"/>
            <p:cNvSpPr>
              <a:spLocks noChangeShapeType="1"/>
            </p:cNvSpPr>
            <p:nvPr/>
          </p:nvSpPr>
          <p:spPr bwMode="auto">
            <a:xfrm>
              <a:off x="5270259" y="5860550"/>
              <a:ext cx="0" cy="862013"/>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1" name="Group 9"/>
          <p:cNvGrpSpPr/>
          <p:nvPr/>
        </p:nvGrpSpPr>
        <p:grpSpPr bwMode="auto">
          <a:xfrm>
            <a:off x="979905" y="1051223"/>
            <a:ext cx="1994413" cy="502953"/>
            <a:chOff x="888" y="192"/>
            <a:chExt cx="1358" cy="371"/>
          </a:xfrm>
          <a:solidFill>
            <a:srgbClr val="368AD6"/>
          </a:solidFill>
        </p:grpSpPr>
        <p:sp>
          <p:nvSpPr>
            <p:cNvPr id="12" name="AutoShape 10"/>
            <p:cNvSpPr>
              <a:spLocks noChangeArrowheads="1"/>
            </p:cNvSpPr>
            <p:nvPr/>
          </p:nvSpPr>
          <p:spPr bwMode="auto">
            <a:xfrm>
              <a:off x="912" y="192"/>
              <a:ext cx="1334" cy="371"/>
            </a:xfrm>
            <a:prstGeom prst="rightArrow">
              <a:avLst>
                <a:gd name="adj1" fmla="val 50000"/>
                <a:gd name="adj2" fmla="val 86006"/>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3" name="Text Box 11"/>
            <p:cNvSpPr txBox="1">
              <a:spLocks noChangeArrowheads="1"/>
            </p:cNvSpPr>
            <p:nvPr/>
          </p:nvSpPr>
          <p:spPr bwMode="auto">
            <a:xfrm>
              <a:off x="888" y="266"/>
              <a:ext cx="1348" cy="22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明日正午进攻，同意？</a:t>
              </a:r>
            </a:p>
          </p:txBody>
        </p:sp>
      </p:grpSp>
      <p:grpSp>
        <p:nvGrpSpPr>
          <p:cNvPr id="14" name="Group 12"/>
          <p:cNvGrpSpPr/>
          <p:nvPr/>
        </p:nvGrpSpPr>
        <p:grpSpPr bwMode="auto">
          <a:xfrm>
            <a:off x="6843525" y="1415885"/>
            <a:ext cx="1331797" cy="460841"/>
            <a:chOff x="4492" y="700"/>
            <a:chExt cx="1066" cy="349"/>
          </a:xfrm>
          <a:solidFill>
            <a:srgbClr val="00CC00"/>
          </a:solidFill>
        </p:grpSpPr>
        <p:sp>
          <p:nvSpPr>
            <p:cNvPr id="15" name="AutoShape 13"/>
            <p:cNvSpPr>
              <a:spLocks noChangeArrowheads="1"/>
            </p:cNvSpPr>
            <p:nvPr/>
          </p:nvSpPr>
          <p:spPr bwMode="auto">
            <a:xfrm rot="10800000">
              <a:off x="4492" y="700"/>
              <a:ext cx="1039" cy="349"/>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6" name="Text Box 14"/>
            <p:cNvSpPr txBox="1">
              <a:spLocks noChangeArrowheads="1"/>
            </p:cNvSpPr>
            <p:nvPr/>
          </p:nvSpPr>
          <p:spPr bwMode="auto">
            <a:xfrm>
              <a:off x="5123" y="753"/>
              <a:ext cx="435" cy="233"/>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同意</a:t>
              </a:r>
            </a:p>
          </p:txBody>
        </p:sp>
      </p:grpSp>
      <p:grpSp>
        <p:nvGrpSpPr>
          <p:cNvPr id="17" name="Group 15"/>
          <p:cNvGrpSpPr/>
          <p:nvPr/>
        </p:nvGrpSpPr>
        <p:grpSpPr bwMode="auto">
          <a:xfrm>
            <a:off x="959703" y="1794318"/>
            <a:ext cx="2013171" cy="457423"/>
            <a:chOff x="882" y="234"/>
            <a:chExt cx="1386" cy="319"/>
          </a:xfrm>
          <a:solidFill>
            <a:srgbClr val="368AD6"/>
          </a:solidFill>
        </p:grpSpPr>
        <p:sp>
          <p:nvSpPr>
            <p:cNvPr id="18"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9" name="Text Box 17"/>
            <p:cNvSpPr txBox="1">
              <a:spLocks noChangeArrowheads="1"/>
            </p:cNvSpPr>
            <p:nvPr/>
          </p:nvSpPr>
          <p:spPr bwMode="auto">
            <a:xfrm>
              <a:off x="882" y="290"/>
              <a:ext cx="1116"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你确认“同意”？</a:t>
              </a:r>
            </a:p>
          </p:txBody>
        </p:sp>
      </p:grpSp>
      <p:grpSp>
        <p:nvGrpSpPr>
          <p:cNvPr id="20" name="Group 18"/>
          <p:cNvGrpSpPr/>
          <p:nvPr/>
        </p:nvGrpSpPr>
        <p:grpSpPr bwMode="auto">
          <a:xfrm>
            <a:off x="6272564" y="2130181"/>
            <a:ext cx="1995194" cy="508459"/>
            <a:chOff x="4035" y="1601"/>
            <a:chExt cx="1597" cy="307"/>
          </a:xfrm>
          <a:solidFill>
            <a:srgbClr val="00CC00"/>
          </a:solidFill>
        </p:grpSpPr>
        <p:sp>
          <p:nvSpPr>
            <p:cNvPr id="21"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22" name="Text Box 20"/>
            <p:cNvSpPr txBox="1">
              <a:spLocks noChangeArrowheads="1"/>
            </p:cNvSpPr>
            <p:nvPr/>
          </p:nvSpPr>
          <p:spPr bwMode="auto">
            <a:xfrm>
              <a:off x="4478" y="1662"/>
              <a:ext cx="1154"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我确认“同意”</a:t>
              </a:r>
            </a:p>
          </p:txBody>
        </p:sp>
      </p:grpSp>
      <p:grpSp>
        <p:nvGrpSpPr>
          <p:cNvPr id="30" name="Group 15"/>
          <p:cNvGrpSpPr/>
          <p:nvPr/>
        </p:nvGrpSpPr>
        <p:grpSpPr bwMode="auto">
          <a:xfrm>
            <a:off x="959703" y="2565293"/>
            <a:ext cx="2023339" cy="457423"/>
            <a:chOff x="882" y="234"/>
            <a:chExt cx="1393" cy="319"/>
          </a:xfrm>
          <a:solidFill>
            <a:srgbClr val="368AD6"/>
          </a:solidFill>
        </p:grpSpPr>
        <p:sp>
          <p:nvSpPr>
            <p:cNvPr id="31"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2" name="Text Box 17"/>
            <p:cNvSpPr txBox="1">
              <a:spLocks noChangeArrowheads="1"/>
            </p:cNvSpPr>
            <p:nvPr/>
          </p:nvSpPr>
          <p:spPr bwMode="auto">
            <a:xfrm>
              <a:off x="882" y="291"/>
              <a:ext cx="1393" cy="10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3" name="Group 18"/>
          <p:cNvGrpSpPr/>
          <p:nvPr/>
        </p:nvGrpSpPr>
        <p:grpSpPr bwMode="auto">
          <a:xfrm>
            <a:off x="6272564" y="2920164"/>
            <a:ext cx="1995194" cy="508459"/>
            <a:chOff x="4035" y="1601"/>
            <a:chExt cx="1597" cy="307"/>
          </a:xfrm>
          <a:solidFill>
            <a:srgbClr val="00CC00"/>
          </a:solidFill>
        </p:grpSpPr>
        <p:sp>
          <p:nvSpPr>
            <p:cNvPr id="34"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5"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36" name="Group 15"/>
          <p:cNvGrpSpPr/>
          <p:nvPr/>
        </p:nvGrpSpPr>
        <p:grpSpPr bwMode="auto">
          <a:xfrm>
            <a:off x="955581" y="2569100"/>
            <a:ext cx="2023339" cy="457423"/>
            <a:chOff x="882" y="234"/>
            <a:chExt cx="1393" cy="319"/>
          </a:xfrm>
          <a:solidFill>
            <a:srgbClr val="368AD6"/>
          </a:solidFill>
        </p:grpSpPr>
        <p:sp>
          <p:nvSpPr>
            <p:cNvPr id="37"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8"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9" name="Group 18"/>
          <p:cNvGrpSpPr/>
          <p:nvPr/>
        </p:nvGrpSpPr>
        <p:grpSpPr bwMode="auto">
          <a:xfrm>
            <a:off x="6276463" y="2920300"/>
            <a:ext cx="1995194" cy="508459"/>
            <a:chOff x="4035" y="1601"/>
            <a:chExt cx="1597" cy="307"/>
          </a:xfrm>
          <a:solidFill>
            <a:srgbClr val="00CC00"/>
          </a:solidFill>
        </p:grpSpPr>
        <p:sp>
          <p:nvSpPr>
            <p:cNvPr id="40"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1"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42" name="Group 15"/>
          <p:cNvGrpSpPr/>
          <p:nvPr/>
        </p:nvGrpSpPr>
        <p:grpSpPr bwMode="auto">
          <a:xfrm>
            <a:off x="959699" y="2568484"/>
            <a:ext cx="2023339" cy="457423"/>
            <a:chOff x="882" y="234"/>
            <a:chExt cx="1393" cy="319"/>
          </a:xfrm>
          <a:solidFill>
            <a:srgbClr val="368AD6"/>
          </a:solidFill>
        </p:grpSpPr>
        <p:sp>
          <p:nvSpPr>
            <p:cNvPr id="43"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4"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45" name="Group 18"/>
          <p:cNvGrpSpPr/>
          <p:nvPr/>
        </p:nvGrpSpPr>
        <p:grpSpPr bwMode="auto">
          <a:xfrm>
            <a:off x="6272560" y="2920903"/>
            <a:ext cx="1995194" cy="508459"/>
            <a:chOff x="4035" y="1601"/>
            <a:chExt cx="1597" cy="307"/>
          </a:xfrm>
          <a:solidFill>
            <a:srgbClr val="00CC00"/>
          </a:solidFill>
        </p:grpSpPr>
        <p:sp>
          <p:nvSpPr>
            <p:cNvPr id="46"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7"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sp>
        <p:nvSpPr>
          <p:cNvPr id="29" name="Text Box 27"/>
          <p:cNvSpPr txBox="1">
            <a:spLocks noChangeArrowheads="1"/>
          </p:cNvSpPr>
          <p:nvPr/>
        </p:nvSpPr>
        <p:spPr bwMode="auto">
          <a:xfrm>
            <a:off x="3288824" y="2030379"/>
            <a:ext cx="2702889" cy="923330"/>
          </a:xfrm>
          <a:prstGeom prst="rect">
            <a:avLst/>
          </a:prstGeom>
          <a:solidFill>
            <a:srgbClr val="CC6600"/>
          </a:solidFill>
          <a:ln>
            <a:noFill/>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b="1" dirty="0">
                <a:solidFill>
                  <a:schemeClr val="bg1"/>
                </a:solidFill>
                <a:latin typeface="微软雅黑" panose="020B0503020204020204" pitchFamily="34" charset="-122"/>
                <a:ea typeface="微软雅黑" panose="020B0503020204020204" pitchFamily="34" charset="-122"/>
              </a:rPr>
              <a:t>这样的协议无法实现！</a:t>
            </a:r>
            <a:endParaRPr lang="en-US" altLang="zh-CN" b="1" dirty="0">
              <a:solidFill>
                <a:schemeClr val="bg1"/>
              </a:solidFill>
              <a:latin typeface="微软雅黑" panose="020B0503020204020204" pitchFamily="34" charset="-122"/>
              <a:ea typeface="微软雅黑" panose="020B0503020204020204" pitchFamily="34" charset="-122"/>
            </a:endParaRPr>
          </a:p>
          <a:p>
            <a:pPr algn="ctr"/>
            <a:r>
              <a:rPr lang="zh-CN" altLang="en-US" b="1" dirty="0">
                <a:solidFill>
                  <a:srgbClr val="000066"/>
                </a:solidFill>
                <a:latin typeface="微软雅黑" panose="020B0503020204020204" pitchFamily="34" charset="-122"/>
                <a:ea typeface="微软雅黑" panose="020B0503020204020204" pitchFamily="34" charset="-122"/>
              </a:rPr>
              <a:t>没有一种协议能够使蓝军 </a:t>
            </a:r>
            <a:r>
              <a:rPr lang="en-US" altLang="zh-CN" b="1" dirty="0">
                <a:solidFill>
                  <a:srgbClr val="000066"/>
                </a:solidFill>
                <a:latin typeface="微软雅黑" panose="020B0503020204020204" pitchFamily="34" charset="-122"/>
                <a:ea typeface="微软雅黑" panose="020B0503020204020204" pitchFamily="34" charset="-122"/>
              </a:rPr>
              <a:t>100% </a:t>
            </a:r>
            <a:r>
              <a:rPr lang="zh-CN" altLang="en-US" b="1" dirty="0">
                <a:solidFill>
                  <a:srgbClr val="000066"/>
                </a:solidFill>
                <a:latin typeface="微软雅黑" panose="020B0503020204020204" pitchFamily="34" charset="-122"/>
                <a:ea typeface="微软雅黑" panose="020B0503020204020204" pitchFamily="34" charset="-122"/>
              </a:rPr>
              <a:t>获胜。</a:t>
            </a:r>
            <a:endParaRPr lang="en-US" altLang="zh-CN" b="1" dirty="0">
              <a:solidFill>
                <a:srgbClr val="000066"/>
              </a:solidFill>
              <a:latin typeface="微软雅黑" panose="020B0503020204020204" pitchFamily="34" charset="-122"/>
              <a:ea typeface="微软雅黑" panose="020B0503020204020204" pitchFamily="34" charset="-122"/>
            </a:endParaRPr>
          </a:p>
        </p:txBody>
      </p:sp>
      <p:sp>
        <p:nvSpPr>
          <p:cNvPr id="23" name="文本占位符 22"/>
          <p:cNvSpPr>
            <a:spLocks noGrp="1"/>
          </p:cNvSpPr>
          <p:nvPr>
            <p:ph type="body" sz="quarter" idx="10"/>
          </p:nvPr>
        </p:nvSpPr>
        <p:spPr/>
        <p:txBody>
          <a:bodyPr/>
          <a:lstStyle/>
          <a:p>
            <a:r>
              <a:rPr lang="zh-CN" altLang="en-US" dirty="0"/>
              <a:t>协议很复杂，要应付所有异常情况</a:t>
            </a:r>
          </a:p>
        </p:txBody>
      </p:sp>
    </p:spTree>
    <p:extLst>
      <p:ext uri="{BB962C8B-B14F-4D97-AF65-F5344CB8AC3E}">
        <p14:creationId xmlns:p14="http://schemas.microsoft.com/office/powerpoint/2010/main" val="33921827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par>
                          <p:cTn id="7" fill="hold">
                            <p:stCondLst>
                              <p:cond delay="10"/>
                            </p:stCondLst>
                            <p:childTnLst>
                              <p:par>
                                <p:cTn id="8" presetID="63" presetClass="path" presetSubtype="0" accel="50000" decel="50000" fill="hold" nodeType="afterEffect">
                                  <p:stCondLst>
                                    <p:cond delay="0"/>
                                  </p:stCondLst>
                                  <p:childTnLst>
                                    <p:animMotion origin="layout" path="M 4.16667E-6 3.58025E-6 L 0.5802 0.00031 " pathEditMode="relative" rAng="0" ptsTypes="AA">
                                      <p:cBhvr>
                                        <p:cTn id="9" dur="4000" fill="hold"/>
                                        <p:tgtEl>
                                          <p:spTgt spid="11"/>
                                        </p:tgtEl>
                                        <p:attrNameLst>
                                          <p:attrName>ppt_x</p:attrName>
                                          <p:attrName>ppt_y</p:attrName>
                                        </p:attrNameLst>
                                      </p:cBhvr>
                                      <p:rCtr x="29010" y="0"/>
                                    </p:animMotion>
                                  </p:childTnLst>
                                </p:cTn>
                              </p:par>
                            </p:childTnLst>
                          </p:cTn>
                        </p:par>
                        <p:par>
                          <p:cTn id="10" fill="hold">
                            <p:stCondLst>
                              <p:cond delay="4010"/>
                            </p:stCondLst>
                            <p:childTnLst>
                              <p:par>
                                <p:cTn id="11" presetID="1" presetClass="entr" presetSubtype="0" fill="hold" nodeType="afterEffect">
                                  <p:stCondLst>
                                    <p:cond delay="500"/>
                                  </p:stCondLst>
                                  <p:childTnLst>
                                    <p:set>
                                      <p:cBhvr>
                                        <p:cTn id="12" dur="1" fill="hold">
                                          <p:stCondLst>
                                            <p:cond delay="0"/>
                                          </p:stCondLst>
                                        </p:cTn>
                                        <p:tgtEl>
                                          <p:spTgt spid="14"/>
                                        </p:tgtEl>
                                        <p:attrNameLst>
                                          <p:attrName>style.visibility</p:attrName>
                                        </p:attrNameLst>
                                      </p:cBhvr>
                                      <p:to>
                                        <p:strVal val="visible"/>
                                      </p:to>
                                    </p:set>
                                  </p:childTnLst>
                                </p:cTn>
                              </p:par>
                            </p:childTnLst>
                          </p:cTn>
                        </p:par>
                        <p:par>
                          <p:cTn id="13" fill="hold">
                            <p:stCondLst>
                              <p:cond delay="4510"/>
                            </p:stCondLst>
                            <p:childTnLst>
                              <p:par>
                                <p:cTn id="14" presetID="35" presetClass="path" presetSubtype="0" accel="50000" decel="50000" fill="hold" nodeType="afterEffect">
                                  <p:stCondLst>
                                    <p:cond delay="0"/>
                                  </p:stCondLst>
                                  <p:childTnLst>
                                    <p:animMotion origin="layout" path="M -5.55556E-7 -1.7284E-6 L -0.6033 0.00525 " pathEditMode="relative" rAng="0" ptsTypes="AA">
                                      <p:cBhvr>
                                        <p:cTn id="15" dur="4000" fill="hold"/>
                                        <p:tgtEl>
                                          <p:spTgt spid="14"/>
                                        </p:tgtEl>
                                        <p:attrNameLst>
                                          <p:attrName>ppt_x</p:attrName>
                                          <p:attrName>ppt_y</p:attrName>
                                        </p:attrNameLst>
                                      </p:cBhvr>
                                      <p:rCtr x="-30174" y="247"/>
                                    </p:animMotion>
                                  </p:childTnLst>
                                </p:cTn>
                              </p:par>
                            </p:childTnLst>
                          </p:cTn>
                        </p:par>
                        <p:par>
                          <p:cTn id="16" fill="hold">
                            <p:stCondLst>
                              <p:cond delay="8510"/>
                            </p:stCondLst>
                            <p:childTnLst>
                              <p:par>
                                <p:cTn id="17" presetID="1" presetClass="entr" presetSubtype="0" fill="hold" nodeType="afterEffect">
                                  <p:stCondLst>
                                    <p:cond delay="500"/>
                                  </p:stCondLst>
                                  <p:childTnLst>
                                    <p:set>
                                      <p:cBhvr>
                                        <p:cTn id="18" dur="1" fill="hold">
                                          <p:stCondLst>
                                            <p:cond delay="0"/>
                                          </p:stCondLst>
                                        </p:cTn>
                                        <p:tgtEl>
                                          <p:spTgt spid="17"/>
                                        </p:tgtEl>
                                        <p:attrNameLst>
                                          <p:attrName>style.visibility</p:attrName>
                                        </p:attrNameLst>
                                      </p:cBhvr>
                                      <p:to>
                                        <p:strVal val="visible"/>
                                      </p:to>
                                    </p:set>
                                  </p:childTnLst>
                                </p:cTn>
                              </p:par>
                            </p:childTnLst>
                          </p:cTn>
                        </p:par>
                        <p:par>
                          <p:cTn id="19" fill="hold">
                            <p:stCondLst>
                              <p:cond delay="9010"/>
                            </p:stCondLst>
                            <p:childTnLst>
                              <p:par>
                                <p:cTn id="20" presetID="63" presetClass="path" presetSubtype="0" accel="50000" decel="50000" fill="hold" nodeType="afterEffect">
                                  <p:stCondLst>
                                    <p:cond delay="500"/>
                                  </p:stCondLst>
                                  <p:childTnLst>
                                    <p:animMotion origin="layout" path="M -4.16667E-6 1.23457E-7 L 0.58021 -0.00062 " pathEditMode="relative" rAng="0" ptsTypes="AA">
                                      <p:cBhvr>
                                        <p:cTn id="21" dur="4000" fill="hold"/>
                                        <p:tgtEl>
                                          <p:spTgt spid="17"/>
                                        </p:tgtEl>
                                        <p:attrNameLst>
                                          <p:attrName>ppt_x</p:attrName>
                                          <p:attrName>ppt_y</p:attrName>
                                        </p:attrNameLst>
                                      </p:cBhvr>
                                      <p:rCtr x="29010" y="-31"/>
                                    </p:animMotion>
                                  </p:childTnLst>
                                </p:cTn>
                              </p:par>
                            </p:childTnLst>
                          </p:cTn>
                        </p:par>
                        <p:par>
                          <p:cTn id="22" fill="hold">
                            <p:stCondLst>
                              <p:cond delay="13510"/>
                            </p:stCondLst>
                            <p:childTnLst>
                              <p:par>
                                <p:cTn id="23" presetID="1" presetClass="entr" presetSubtype="0" fill="hold" nodeType="after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par>
                          <p:cTn id="25" fill="hold">
                            <p:stCondLst>
                              <p:cond delay="13510"/>
                            </p:stCondLst>
                            <p:childTnLst>
                              <p:par>
                                <p:cTn id="26" presetID="35" presetClass="path" presetSubtype="0" accel="50000" decel="50000" fill="hold" nodeType="afterEffect">
                                  <p:stCondLst>
                                    <p:cond delay="500"/>
                                  </p:stCondLst>
                                  <p:childTnLst>
                                    <p:animMotion origin="layout" path="M 4.72222E-6 -3.95062E-6 L -0.58056 0.00432 " pathEditMode="relative" rAng="0" ptsTypes="AA">
                                      <p:cBhvr>
                                        <p:cTn id="27" dur="4000" fill="hold"/>
                                        <p:tgtEl>
                                          <p:spTgt spid="20"/>
                                        </p:tgtEl>
                                        <p:attrNameLst>
                                          <p:attrName>ppt_x</p:attrName>
                                          <p:attrName>ppt_y</p:attrName>
                                        </p:attrNameLst>
                                      </p:cBhvr>
                                      <p:rCtr x="-29028" y="216"/>
                                    </p:animMotion>
                                  </p:childTnLst>
                                </p:cTn>
                              </p:par>
                            </p:childTnLst>
                          </p:cTn>
                        </p:par>
                        <p:par>
                          <p:cTn id="28" fill="hold">
                            <p:stCondLst>
                              <p:cond delay="18010"/>
                            </p:stCondLst>
                            <p:childTnLst>
                              <p:par>
                                <p:cTn id="29" presetID="1" presetClass="entr" presetSubtype="0" fill="hold" nodeType="afterEffect">
                                  <p:stCondLst>
                                    <p:cond delay="500"/>
                                  </p:stCondLst>
                                  <p:childTnLst>
                                    <p:set>
                                      <p:cBhvr>
                                        <p:cTn id="30" dur="1" fill="hold">
                                          <p:stCondLst>
                                            <p:cond delay="0"/>
                                          </p:stCondLst>
                                        </p:cTn>
                                        <p:tgtEl>
                                          <p:spTgt spid="30"/>
                                        </p:tgtEl>
                                        <p:attrNameLst>
                                          <p:attrName>style.visibility</p:attrName>
                                        </p:attrNameLst>
                                      </p:cBhvr>
                                      <p:to>
                                        <p:strVal val="visible"/>
                                      </p:to>
                                    </p:set>
                                  </p:childTnLst>
                                </p:cTn>
                              </p:par>
                            </p:childTnLst>
                          </p:cTn>
                        </p:par>
                        <p:par>
                          <p:cTn id="31" fill="hold">
                            <p:stCondLst>
                              <p:cond delay="18510"/>
                            </p:stCondLst>
                            <p:childTnLst>
                              <p:par>
                                <p:cTn id="32" presetID="63" presetClass="path" presetSubtype="0" accel="50000" decel="50000" fill="hold" nodeType="afterEffect">
                                  <p:stCondLst>
                                    <p:cond delay="500"/>
                                  </p:stCondLst>
                                  <p:childTnLst>
                                    <p:animMotion origin="layout" path="M 5E-6 1.23457E-7 L 0.58021 -0.00062 " pathEditMode="relative" rAng="0" ptsTypes="AA">
                                      <p:cBhvr>
                                        <p:cTn id="33" dur="4000" fill="hold"/>
                                        <p:tgtEl>
                                          <p:spTgt spid="30"/>
                                        </p:tgtEl>
                                        <p:attrNameLst>
                                          <p:attrName>ppt_x</p:attrName>
                                          <p:attrName>ppt_y</p:attrName>
                                        </p:attrNameLst>
                                      </p:cBhvr>
                                      <p:rCtr x="29010" y="-31"/>
                                    </p:animMotion>
                                  </p:childTnLst>
                                </p:cTn>
                              </p:par>
                            </p:childTnLst>
                          </p:cTn>
                        </p:par>
                        <p:par>
                          <p:cTn id="34" fill="hold">
                            <p:stCondLst>
                              <p:cond delay="23010"/>
                            </p:stCondLst>
                            <p:childTnLst>
                              <p:par>
                                <p:cTn id="35" presetID="1" presetClass="entr" presetSubtype="0" fill="hold" nodeType="afterEffect">
                                  <p:stCondLst>
                                    <p:cond delay="0"/>
                                  </p:stCondLst>
                                  <p:childTnLst>
                                    <p:set>
                                      <p:cBhvr>
                                        <p:cTn id="36" dur="1" fill="hold">
                                          <p:stCondLst>
                                            <p:cond delay="0"/>
                                          </p:stCondLst>
                                        </p:cTn>
                                        <p:tgtEl>
                                          <p:spTgt spid="33"/>
                                        </p:tgtEl>
                                        <p:attrNameLst>
                                          <p:attrName>style.visibility</p:attrName>
                                        </p:attrNameLst>
                                      </p:cBhvr>
                                      <p:to>
                                        <p:strVal val="visible"/>
                                      </p:to>
                                    </p:set>
                                  </p:childTnLst>
                                </p:cTn>
                              </p:par>
                            </p:childTnLst>
                          </p:cTn>
                        </p:par>
                        <p:par>
                          <p:cTn id="37" fill="hold">
                            <p:stCondLst>
                              <p:cond delay="23010"/>
                            </p:stCondLst>
                            <p:childTnLst>
                              <p:par>
                                <p:cTn id="38" presetID="35" presetClass="path" presetSubtype="0" accel="50000" decel="50000" fill="hold" nodeType="afterEffect">
                                  <p:stCondLst>
                                    <p:cond delay="500"/>
                                  </p:stCondLst>
                                  <p:childTnLst>
                                    <p:animMotion origin="layout" path="M 4.72222E-6 4.69136E-6 L -0.58056 0.00432 " pathEditMode="relative" rAng="0" ptsTypes="AA">
                                      <p:cBhvr>
                                        <p:cTn id="39" dur="4000" fill="hold"/>
                                        <p:tgtEl>
                                          <p:spTgt spid="33"/>
                                        </p:tgtEl>
                                        <p:attrNameLst>
                                          <p:attrName>ppt_x</p:attrName>
                                          <p:attrName>ppt_y</p:attrName>
                                        </p:attrNameLst>
                                      </p:cBhvr>
                                      <p:rCtr x="-29028" y="216"/>
                                    </p:animMotion>
                                  </p:childTnLst>
                                </p:cTn>
                              </p:par>
                            </p:childTnLst>
                          </p:cTn>
                        </p:par>
                        <p:par>
                          <p:cTn id="40" fill="hold">
                            <p:stCondLst>
                              <p:cond delay="27510"/>
                            </p:stCondLst>
                            <p:childTnLst>
                              <p:par>
                                <p:cTn id="41" presetID="1" presetClass="exit" presetSubtype="0" fill="hold" nodeType="afterEffect">
                                  <p:stCondLst>
                                    <p:cond delay="500"/>
                                  </p:stCondLst>
                                  <p:childTnLst>
                                    <p:set>
                                      <p:cBhvr>
                                        <p:cTn id="42" dur="1" fill="hold">
                                          <p:stCondLst>
                                            <p:cond delay="0"/>
                                          </p:stCondLst>
                                        </p:cTn>
                                        <p:tgtEl>
                                          <p:spTgt spid="30"/>
                                        </p:tgtEl>
                                        <p:attrNameLst>
                                          <p:attrName>style.visibility</p:attrName>
                                        </p:attrNameLst>
                                      </p:cBhvr>
                                      <p:to>
                                        <p:strVal val="hidden"/>
                                      </p:to>
                                    </p:set>
                                  </p:childTnLst>
                                </p:cTn>
                              </p:par>
                            </p:childTnLst>
                          </p:cTn>
                        </p:par>
                        <p:par>
                          <p:cTn id="43" fill="hold">
                            <p:stCondLst>
                              <p:cond delay="28010"/>
                            </p:stCondLst>
                            <p:childTnLst>
                              <p:par>
                                <p:cTn id="44" presetID="1" presetClass="exit" presetSubtype="0" fill="hold" nodeType="afterEffect">
                                  <p:stCondLst>
                                    <p:cond delay="0"/>
                                  </p:stCondLst>
                                  <p:childTnLst>
                                    <p:set>
                                      <p:cBhvr>
                                        <p:cTn id="45" dur="1" fill="hold">
                                          <p:stCondLst>
                                            <p:cond delay="0"/>
                                          </p:stCondLst>
                                        </p:cTn>
                                        <p:tgtEl>
                                          <p:spTgt spid="33"/>
                                        </p:tgtEl>
                                        <p:attrNameLst>
                                          <p:attrName>style.visibility</p:attrName>
                                        </p:attrNameLst>
                                      </p:cBhvr>
                                      <p:to>
                                        <p:strVal val="hidden"/>
                                      </p:to>
                                    </p:set>
                                  </p:childTnLst>
                                </p:cTn>
                              </p:par>
                            </p:childTnLst>
                          </p:cTn>
                        </p:par>
                        <p:par>
                          <p:cTn id="46" fill="hold">
                            <p:stCondLst>
                              <p:cond delay="28010"/>
                            </p:stCondLst>
                            <p:childTnLst>
                              <p:par>
                                <p:cTn id="47" presetID="1" presetClass="entr" presetSubtype="0" fill="hold" nodeType="afterEffect">
                                  <p:stCondLst>
                                    <p:cond delay="250"/>
                                  </p:stCondLst>
                                  <p:childTnLst>
                                    <p:set>
                                      <p:cBhvr>
                                        <p:cTn id="48" dur="1" fill="hold">
                                          <p:stCondLst>
                                            <p:cond delay="0"/>
                                          </p:stCondLst>
                                        </p:cTn>
                                        <p:tgtEl>
                                          <p:spTgt spid="36"/>
                                        </p:tgtEl>
                                        <p:attrNameLst>
                                          <p:attrName>style.visibility</p:attrName>
                                        </p:attrNameLst>
                                      </p:cBhvr>
                                      <p:to>
                                        <p:strVal val="visible"/>
                                      </p:to>
                                    </p:set>
                                  </p:childTnLst>
                                </p:cTn>
                              </p:par>
                            </p:childTnLst>
                          </p:cTn>
                        </p:par>
                        <p:par>
                          <p:cTn id="49" fill="hold">
                            <p:stCondLst>
                              <p:cond delay="28260"/>
                            </p:stCondLst>
                            <p:childTnLst>
                              <p:par>
                                <p:cTn id="50" presetID="63" presetClass="path" presetSubtype="0" accel="50000" decel="50000" fill="hold" nodeType="afterEffect">
                                  <p:stCondLst>
                                    <p:cond delay="500"/>
                                  </p:stCondLst>
                                  <p:childTnLst>
                                    <p:animMotion origin="layout" path="M -4.16667E-6 -3.95062E-6 L 0.58021 -0.00061 " pathEditMode="relative" rAng="0" ptsTypes="AA">
                                      <p:cBhvr>
                                        <p:cTn id="51" dur="4000" fill="hold"/>
                                        <p:tgtEl>
                                          <p:spTgt spid="36"/>
                                        </p:tgtEl>
                                        <p:attrNameLst>
                                          <p:attrName>ppt_x</p:attrName>
                                          <p:attrName>ppt_y</p:attrName>
                                        </p:attrNameLst>
                                      </p:cBhvr>
                                      <p:rCtr x="29010" y="-31"/>
                                    </p:animMotion>
                                  </p:childTnLst>
                                </p:cTn>
                              </p:par>
                            </p:childTnLst>
                          </p:cTn>
                        </p:par>
                        <p:par>
                          <p:cTn id="52" fill="hold">
                            <p:stCondLst>
                              <p:cond delay="32760"/>
                            </p:stCondLst>
                            <p:childTnLst>
                              <p:par>
                                <p:cTn id="53" presetID="1" presetClass="entr" presetSubtype="0" fill="hold" nodeType="afterEffect">
                                  <p:stCondLst>
                                    <p:cond delay="0"/>
                                  </p:stCondLst>
                                  <p:childTnLst>
                                    <p:set>
                                      <p:cBhvr>
                                        <p:cTn id="54" dur="1" fill="hold">
                                          <p:stCondLst>
                                            <p:cond delay="0"/>
                                          </p:stCondLst>
                                        </p:cTn>
                                        <p:tgtEl>
                                          <p:spTgt spid="39"/>
                                        </p:tgtEl>
                                        <p:attrNameLst>
                                          <p:attrName>style.visibility</p:attrName>
                                        </p:attrNameLst>
                                      </p:cBhvr>
                                      <p:to>
                                        <p:strVal val="visible"/>
                                      </p:to>
                                    </p:set>
                                  </p:childTnLst>
                                </p:cTn>
                              </p:par>
                            </p:childTnLst>
                          </p:cTn>
                        </p:par>
                        <p:par>
                          <p:cTn id="55" fill="hold">
                            <p:stCondLst>
                              <p:cond delay="32760"/>
                            </p:stCondLst>
                            <p:childTnLst>
                              <p:par>
                                <p:cTn id="56" presetID="35" presetClass="path" presetSubtype="0" accel="50000" decel="50000" fill="hold" nodeType="afterEffect">
                                  <p:stCondLst>
                                    <p:cond delay="500"/>
                                  </p:stCondLst>
                                  <p:childTnLst>
                                    <p:animMotion origin="layout" path="M 1.94444E-6 1.97531E-6 L -0.58056 0.00432 " pathEditMode="relative" rAng="0" ptsTypes="AA">
                                      <p:cBhvr>
                                        <p:cTn id="57" dur="4000" fill="hold"/>
                                        <p:tgtEl>
                                          <p:spTgt spid="39"/>
                                        </p:tgtEl>
                                        <p:attrNameLst>
                                          <p:attrName>ppt_x</p:attrName>
                                          <p:attrName>ppt_y</p:attrName>
                                        </p:attrNameLst>
                                      </p:cBhvr>
                                      <p:rCtr x="-29028" y="216"/>
                                    </p:animMotion>
                                  </p:childTnLst>
                                </p:cTn>
                              </p:par>
                            </p:childTnLst>
                          </p:cTn>
                        </p:par>
                        <p:par>
                          <p:cTn id="58" fill="hold">
                            <p:stCondLst>
                              <p:cond delay="37260"/>
                            </p:stCondLst>
                            <p:childTnLst>
                              <p:par>
                                <p:cTn id="59" presetID="1" presetClass="exit" presetSubtype="0" fill="hold" nodeType="afterEffect">
                                  <p:stCondLst>
                                    <p:cond delay="250"/>
                                  </p:stCondLst>
                                  <p:childTnLst>
                                    <p:set>
                                      <p:cBhvr>
                                        <p:cTn id="60" dur="1" fill="hold">
                                          <p:stCondLst>
                                            <p:cond delay="0"/>
                                          </p:stCondLst>
                                        </p:cTn>
                                        <p:tgtEl>
                                          <p:spTgt spid="36"/>
                                        </p:tgtEl>
                                        <p:attrNameLst>
                                          <p:attrName>style.visibility</p:attrName>
                                        </p:attrNameLst>
                                      </p:cBhvr>
                                      <p:to>
                                        <p:strVal val="hidden"/>
                                      </p:to>
                                    </p:set>
                                  </p:childTnLst>
                                </p:cTn>
                              </p:par>
                            </p:childTnLst>
                          </p:cTn>
                        </p:par>
                        <p:par>
                          <p:cTn id="61" fill="hold">
                            <p:stCondLst>
                              <p:cond delay="37510"/>
                            </p:stCondLst>
                            <p:childTnLst>
                              <p:par>
                                <p:cTn id="62" presetID="1" presetClass="exit" presetSubtype="0" fill="hold" nodeType="afterEffect">
                                  <p:stCondLst>
                                    <p:cond delay="0"/>
                                  </p:stCondLst>
                                  <p:childTnLst>
                                    <p:set>
                                      <p:cBhvr>
                                        <p:cTn id="63" dur="1" fill="hold">
                                          <p:stCondLst>
                                            <p:cond delay="0"/>
                                          </p:stCondLst>
                                        </p:cTn>
                                        <p:tgtEl>
                                          <p:spTgt spid="39"/>
                                        </p:tgtEl>
                                        <p:attrNameLst>
                                          <p:attrName>style.visibility</p:attrName>
                                        </p:attrNameLst>
                                      </p:cBhvr>
                                      <p:to>
                                        <p:strVal val="hidden"/>
                                      </p:to>
                                    </p:set>
                                  </p:childTnLst>
                                </p:cTn>
                              </p:par>
                            </p:childTnLst>
                          </p:cTn>
                        </p:par>
                        <p:par>
                          <p:cTn id="64" fill="hold">
                            <p:stCondLst>
                              <p:cond delay="37510"/>
                            </p:stCondLst>
                            <p:childTnLst>
                              <p:par>
                                <p:cTn id="65" presetID="1" presetClass="entr" presetSubtype="0" fill="hold" nodeType="afterEffect">
                                  <p:stCondLst>
                                    <p:cond delay="500"/>
                                  </p:stCondLst>
                                  <p:childTnLst>
                                    <p:set>
                                      <p:cBhvr>
                                        <p:cTn id="66" dur="1" fill="hold">
                                          <p:stCondLst>
                                            <p:cond delay="0"/>
                                          </p:stCondLst>
                                        </p:cTn>
                                        <p:tgtEl>
                                          <p:spTgt spid="42"/>
                                        </p:tgtEl>
                                        <p:attrNameLst>
                                          <p:attrName>style.visibility</p:attrName>
                                        </p:attrNameLst>
                                      </p:cBhvr>
                                      <p:to>
                                        <p:strVal val="visible"/>
                                      </p:to>
                                    </p:set>
                                  </p:childTnLst>
                                </p:cTn>
                              </p:par>
                            </p:childTnLst>
                          </p:cTn>
                        </p:par>
                        <p:par>
                          <p:cTn id="67" fill="hold">
                            <p:stCondLst>
                              <p:cond delay="38010"/>
                            </p:stCondLst>
                            <p:childTnLst>
                              <p:par>
                                <p:cTn id="68" presetID="63" presetClass="path" presetSubtype="0" accel="50000" decel="50000" fill="hold" nodeType="afterEffect">
                                  <p:stCondLst>
                                    <p:cond delay="250"/>
                                  </p:stCondLst>
                                  <p:childTnLst>
                                    <p:animMotion origin="layout" path="M 5E-6 1.23457E-7 L 0.58021 -0.00062 " pathEditMode="relative" rAng="0" ptsTypes="AA">
                                      <p:cBhvr>
                                        <p:cTn id="69" dur="4000" fill="hold"/>
                                        <p:tgtEl>
                                          <p:spTgt spid="42"/>
                                        </p:tgtEl>
                                        <p:attrNameLst>
                                          <p:attrName>ppt_x</p:attrName>
                                          <p:attrName>ppt_y</p:attrName>
                                        </p:attrNameLst>
                                      </p:cBhvr>
                                      <p:rCtr x="29010" y="-31"/>
                                    </p:animMotion>
                                  </p:childTnLst>
                                </p:cTn>
                              </p:par>
                            </p:childTnLst>
                          </p:cTn>
                        </p:par>
                        <p:par>
                          <p:cTn id="70" fill="hold">
                            <p:stCondLst>
                              <p:cond delay="42260"/>
                            </p:stCondLst>
                            <p:childTnLst>
                              <p:par>
                                <p:cTn id="71" presetID="1" presetClass="entr" presetSubtype="0" fill="hold" nodeType="afterEffect">
                                  <p:stCondLst>
                                    <p:cond delay="0"/>
                                  </p:stCondLst>
                                  <p:childTnLst>
                                    <p:set>
                                      <p:cBhvr>
                                        <p:cTn id="72" dur="1" fill="hold">
                                          <p:stCondLst>
                                            <p:cond delay="0"/>
                                          </p:stCondLst>
                                        </p:cTn>
                                        <p:tgtEl>
                                          <p:spTgt spid="45"/>
                                        </p:tgtEl>
                                        <p:attrNameLst>
                                          <p:attrName>style.visibility</p:attrName>
                                        </p:attrNameLst>
                                      </p:cBhvr>
                                      <p:to>
                                        <p:strVal val="visible"/>
                                      </p:to>
                                    </p:set>
                                  </p:childTnLst>
                                </p:cTn>
                              </p:par>
                            </p:childTnLst>
                          </p:cTn>
                        </p:par>
                        <p:par>
                          <p:cTn id="73" fill="hold">
                            <p:stCondLst>
                              <p:cond delay="42260"/>
                            </p:stCondLst>
                            <p:childTnLst>
                              <p:par>
                                <p:cTn id="74" presetID="35" presetClass="path" presetSubtype="0" accel="50000" decel="50000" fill="hold" nodeType="afterEffect">
                                  <p:stCondLst>
                                    <p:cond delay="500"/>
                                  </p:stCondLst>
                                  <p:childTnLst>
                                    <p:animMotion origin="layout" path="M 4.72222E-6 4.69136E-6 L -0.58056 0.00432 " pathEditMode="relative" rAng="0" ptsTypes="AA">
                                      <p:cBhvr>
                                        <p:cTn id="75" dur="4000" fill="hold"/>
                                        <p:tgtEl>
                                          <p:spTgt spid="45"/>
                                        </p:tgtEl>
                                        <p:attrNameLst>
                                          <p:attrName>ppt_x</p:attrName>
                                          <p:attrName>ppt_y</p:attrName>
                                        </p:attrNameLst>
                                      </p:cBhvr>
                                      <p:rCtr x="-29028" y="216"/>
                                    </p:animMotion>
                                  </p:childTnLst>
                                </p:cTn>
                              </p:par>
                            </p:childTnLst>
                          </p:cTn>
                        </p:par>
                        <p:par>
                          <p:cTn id="76" fill="hold">
                            <p:stCondLst>
                              <p:cond delay="46760"/>
                            </p:stCondLst>
                            <p:childTnLst>
                              <p:par>
                                <p:cTn id="77" presetID="4" presetClass="entr" presetSubtype="32" fill="hold" grpId="0" nodeType="after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box(out)">
                                      <p:cBhvr>
                                        <p:cTn id="79" dur="1000"/>
                                        <p:tgtEl>
                                          <p:spTgt spid="29"/>
                                        </p:tgtEl>
                                      </p:cBhvr>
                                    </p:animEffect>
                                  </p:childTnLst>
                                </p:cTn>
                              </p:par>
                            </p:childTnLst>
                          </p:cTn>
                        </p:par>
                        <p:par>
                          <p:cTn id="80" fill="hold">
                            <p:stCondLst>
                              <p:cond delay="47760"/>
                            </p:stCondLst>
                            <p:childTnLst>
                              <p:par>
                                <p:cTn id="81" presetID="6" presetClass="emph" presetSubtype="0" fill="hold" grpId="1" nodeType="afterEffect">
                                  <p:stCondLst>
                                    <p:cond delay="0"/>
                                  </p:stCondLst>
                                  <p:childTnLst>
                                    <p:animScale>
                                      <p:cBhvr>
                                        <p:cTn id="82" dur="1000" fill="hold"/>
                                        <p:tgtEl>
                                          <p:spTgt spid="29"/>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9" grpId="1" animBg="1"/>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en-US" altLang="zh-CN" dirty="0"/>
              <a:t>1.7.5  TCP/IP </a:t>
            </a:r>
            <a:r>
              <a:rPr lang="zh-CN" altLang="zh-CN" dirty="0"/>
              <a:t>的体系结构</a:t>
            </a:r>
            <a:endParaRPr lang="zh-CN" altLang="en-US" dirty="0"/>
          </a:p>
        </p:txBody>
      </p:sp>
      <p:sp>
        <p:nvSpPr>
          <p:cNvPr id="4" name="圆角矩形 3"/>
          <p:cNvSpPr/>
          <p:nvPr/>
        </p:nvSpPr>
        <p:spPr>
          <a:xfrm>
            <a:off x="505072" y="1775699"/>
            <a:ext cx="7658625" cy="28916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aphicFrame>
        <p:nvGraphicFramePr>
          <p:cNvPr id="5" name="Object 2"/>
          <p:cNvGraphicFramePr>
            <a:graphicFrameLocks noChangeAspect="1"/>
          </p:cNvGraphicFramePr>
          <p:nvPr>
            <p:extLst>
              <p:ext uri="{D42A27DB-BD31-4B8C-83A1-F6EECF244321}">
                <p14:modId xmlns:p14="http://schemas.microsoft.com/office/powerpoint/2010/main" val="3147707979"/>
              </p:ext>
            </p:extLst>
          </p:nvPr>
        </p:nvGraphicFramePr>
        <p:xfrm>
          <a:off x="2331306" y="3661121"/>
          <a:ext cx="1400946"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306" y="3661121"/>
                        <a:ext cx="1400946"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 name="Object 3"/>
          <p:cNvGraphicFramePr>
            <a:graphicFrameLocks noChangeAspect="1"/>
          </p:cNvGraphicFramePr>
          <p:nvPr>
            <p:extLst>
              <p:ext uri="{D42A27DB-BD31-4B8C-83A1-F6EECF244321}">
                <p14:modId xmlns:p14="http://schemas.microsoft.com/office/powerpoint/2010/main" val="4192345011"/>
              </p:ext>
            </p:extLst>
          </p:nvPr>
        </p:nvGraphicFramePr>
        <p:xfrm>
          <a:off x="4979732" y="3637093"/>
          <a:ext cx="1402319"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79732" y="3637093"/>
                        <a:ext cx="1402319"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 name="AutoShape 5"/>
          <p:cNvSpPr>
            <a:spLocks noChangeArrowheads="1"/>
          </p:cNvSpPr>
          <p:nvPr/>
        </p:nvSpPr>
        <p:spPr bwMode="auto">
          <a:xfrm>
            <a:off x="1060238" y="1988837"/>
            <a:ext cx="1325562" cy="1749425"/>
          </a:xfrm>
          <a:prstGeom prst="cube">
            <a:avLst>
              <a:gd name="adj" fmla="val 25301"/>
            </a:avLst>
          </a:prstGeom>
          <a:solidFill>
            <a:srgbClr val="0098F6"/>
          </a:solidFill>
          <a:ln w="12700">
            <a:solidFill>
              <a:schemeClr val="tx1"/>
            </a:solidFill>
            <a:miter lim="800000"/>
          </a:ln>
        </p:spPr>
        <p:txBody>
          <a:bodyPr wrap="none" anchor="ctr"/>
          <a:lstStyle/>
          <a:p>
            <a:endParaRPr lang="zh-CN" altLang="en-US" sz="1600" b="1">
              <a:solidFill>
                <a:srgbClr val="000099"/>
              </a:solidFill>
              <a:latin typeface="微软雅黑" panose="020B0503020204020204" pitchFamily="34" charset="-122"/>
              <a:ea typeface="微软雅黑" panose="020B0503020204020204" pitchFamily="34" charset="-122"/>
            </a:endParaRPr>
          </a:p>
        </p:txBody>
      </p:sp>
      <p:sp>
        <p:nvSpPr>
          <p:cNvPr id="8" name="Freeform 6"/>
          <p:cNvSpPr/>
          <p:nvPr/>
        </p:nvSpPr>
        <p:spPr bwMode="auto">
          <a:xfrm>
            <a:off x="1058650" y="2288875"/>
            <a:ext cx="1323975" cy="282575"/>
          </a:xfrm>
          <a:custGeom>
            <a:avLst/>
            <a:gdLst>
              <a:gd name="T0" fmla="*/ 1323868 w 1000"/>
              <a:gd name="T1" fmla="*/ 0 h 230"/>
              <a:gd name="T2" fmla="*/ 1019378 w 1000"/>
              <a:gd name="T3" fmla="*/ 276179 h 230"/>
              <a:gd name="T4" fmla="*/ 0 w 1000"/>
              <a:gd name="T5" fmla="*/ 281067 h 230"/>
              <a:gd name="T6" fmla="*/ 0 60000 65536"/>
              <a:gd name="T7" fmla="*/ 0 60000 65536"/>
              <a:gd name="T8" fmla="*/ 0 60000 65536"/>
            </a:gdLst>
            <a:ahLst/>
            <a:cxnLst>
              <a:cxn ang="T6">
                <a:pos x="T0" y="T1"/>
              </a:cxn>
              <a:cxn ang="T7">
                <a:pos x="T2" y="T3"/>
              </a:cxn>
              <a:cxn ang="T8">
                <a:pos x="T4" y="T5"/>
              </a:cxn>
            </a:cxnLst>
            <a:rect l="0" t="0" r="r" b="b"/>
            <a:pathLst>
              <a:path w="1000" h="230">
                <a:moveTo>
                  <a:pt x="1000" y="0"/>
                </a:moveTo>
                <a:lnTo>
                  <a:pt x="770" y="226"/>
                </a:lnTo>
                <a:lnTo>
                  <a:pt x="0" y="230"/>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Text Box 7"/>
          <p:cNvSpPr txBox="1">
            <a:spLocks noChangeArrowheads="1"/>
          </p:cNvSpPr>
          <p:nvPr/>
        </p:nvSpPr>
        <p:spPr bwMode="auto">
          <a:xfrm>
            <a:off x="1234863" y="2253950"/>
            <a:ext cx="723900" cy="1484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应用层</a:t>
            </a:r>
          </a:p>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运输层</a:t>
            </a:r>
          </a:p>
          <a:p>
            <a:pPr algn="ctr">
              <a:lnSpc>
                <a:spcPct val="130000"/>
              </a:lnSpc>
              <a:spcBef>
                <a:spcPts val="200"/>
              </a:spcBef>
            </a:pPr>
            <a:r>
              <a:rPr kumimoji="1" lang="zh-CN" altLang="en-US" sz="1400" b="1">
                <a:solidFill>
                  <a:schemeClr val="bg1"/>
                </a:solidFill>
                <a:latin typeface="微软雅黑" panose="020B0503020204020204" pitchFamily="34" charset="-122"/>
                <a:ea typeface="微软雅黑" panose="020B0503020204020204" pitchFamily="34" charset="-122"/>
              </a:rPr>
              <a:t>网际层</a:t>
            </a:r>
          </a:p>
          <a:p>
            <a:pPr algn="ctr">
              <a:lnSpc>
                <a:spcPct val="130000"/>
              </a:lnSpc>
              <a:spcBef>
                <a:spcPts val="200"/>
              </a:spcBef>
            </a:pPr>
            <a:r>
              <a:rPr kumimoji="1" lang="zh-CN" altLang="en-US" sz="1400" b="1">
                <a:solidFill>
                  <a:schemeClr val="bg1"/>
                </a:solidFill>
                <a:latin typeface="微软雅黑" panose="020B0503020204020204" pitchFamily="34" charset="-122"/>
                <a:ea typeface="微软雅黑" panose="020B0503020204020204" pitchFamily="34" charset="-122"/>
              </a:rPr>
              <a:t>网络</a:t>
            </a:r>
          </a:p>
          <a:p>
            <a:pPr algn="ctr">
              <a:lnSpc>
                <a:spcPct val="90000"/>
              </a:lnSpc>
              <a:spcBef>
                <a:spcPts val="200"/>
              </a:spcBef>
            </a:pPr>
            <a:r>
              <a:rPr kumimoji="1" lang="zh-CN" altLang="en-US" sz="1400" b="1">
                <a:solidFill>
                  <a:schemeClr val="bg1"/>
                </a:solidFill>
                <a:latin typeface="微软雅黑" panose="020B0503020204020204" pitchFamily="34" charset="-122"/>
                <a:ea typeface="微软雅黑" panose="020B0503020204020204" pitchFamily="34" charset="-122"/>
              </a:rPr>
              <a:t>接口层</a:t>
            </a:r>
          </a:p>
        </p:txBody>
      </p:sp>
      <p:sp>
        <p:nvSpPr>
          <p:cNvPr id="10" name="Freeform 8"/>
          <p:cNvSpPr/>
          <p:nvPr/>
        </p:nvSpPr>
        <p:spPr bwMode="auto">
          <a:xfrm>
            <a:off x="1055475" y="2590500"/>
            <a:ext cx="1327150" cy="298450"/>
          </a:xfrm>
          <a:custGeom>
            <a:avLst/>
            <a:gdLst>
              <a:gd name="T0" fmla="*/ 1326515 w 1002"/>
              <a:gd name="T1" fmla="*/ 0 h 244"/>
              <a:gd name="T2" fmla="*/ 1019378 w 1002"/>
              <a:gd name="T3" fmla="*/ 293288 h 244"/>
              <a:gd name="T4" fmla="*/ 0 w 1002"/>
              <a:gd name="T5" fmla="*/ 298176 h 244"/>
              <a:gd name="T6" fmla="*/ 0 60000 65536"/>
              <a:gd name="T7" fmla="*/ 0 60000 65536"/>
              <a:gd name="T8" fmla="*/ 0 60000 65536"/>
            </a:gdLst>
            <a:ahLst/>
            <a:cxnLst>
              <a:cxn ang="T6">
                <a:pos x="T0" y="T1"/>
              </a:cxn>
              <a:cxn ang="T7">
                <a:pos x="T2" y="T3"/>
              </a:cxn>
              <a:cxn ang="T8">
                <a:pos x="T4" y="T5"/>
              </a:cxn>
            </a:cxnLst>
            <a:rect l="0" t="0" r="r" b="b"/>
            <a:pathLst>
              <a:path w="1002" h="244">
                <a:moveTo>
                  <a:pt x="1002" y="0"/>
                </a:moveTo>
                <a:lnTo>
                  <a:pt x="770" y="240"/>
                </a:lnTo>
                <a:lnTo>
                  <a:pt x="0" y="244"/>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Freeform 9"/>
          <p:cNvSpPr/>
          <p:nvPr/>
        </p:nvSpPr>
        <p:spPr bwMode="auto">
          <a:xfrm>
            <a:off x="1055475" y="2890537"/>
            <a:ext cx="1327150" cy="315913"/>
          </a:xfrm>
          <a:custGeom>
            <a:avLst/>
            <a:gdLst>
              <a:gd name="T0" fmla="*/ 1326515 w 1002"/>
              <a:gd name="T1" fmla="*/ 0 h 258"/>
              <a:gd name="T2" fmla="*/ 1019378 w 1002"/>
              <a:gd name="T3" fmla="*/ 310396 h 258"/>
              <a:gd name="T4" fmla="*/ 0 w 1002"/>
              <a:gd name="T5" fmla="*/ 315284 h 258"/>
              <a:gd name="T6" fmla="*/ 0 60000 65536"/>
              <a:gd name="T7" fmla="*/ 0 60000 65536"/>
              <a:gd name="T8" fmla="*/ 0 60000 65536"/>
            </a:gdLst>
            <a:ahLst/>
            <a:cxnLst>
              <a:cxn ang="T6">
                <a:pos x="T0" y="T1"/>
              </a:cxn>
              <a:cxn ang="T7">
                <a:pos x="T2" y="T3"/>
              </a:cxn>
              <a:cxn ang="T8">
                <a:pos x="T4" y="T5"/>
              </a:cxn>
            </a:cxnLst>
            <a:rect l="0" t="0" r="r" b="b"/>
            <a:pathLst>
              <a:path w="1002" h="258">
                <a:moveTo>
                  <a:pt x="1002" y="0"/>
                </a:moveTo>
                <a:lnTo>
                  <a:pt x="770" y="254"/>
                </a:lnTo>
                <a:lnTo>
                  <a:pt x="0" y="258"/>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AutoShape 10"/>
          <p:cNvSpPr>
            <a:spLocks noChangeArrowheads="1"/>
          </p:cNvSpPr>
          <p:nvPr/>
        </p:nvSpPr>
        <p:spPr bwMode="auto">
          <a:xfrm>
            <a:off x="6507246" y="1988837"/>
            <a:ext cx="1325562" cy="1749425"/>
          </a:xfrm>
          <a:prstGeom prst="cube">
            <a:avLst>
              <a:gd name="adj" fmla="val 25301"/>
            </a:avLst>
          </a:prstGeom>
          <a:solidFill>
            <a:srgbClr val="0098F6"/>
          </a:solidFill>
          <a:ln w="19050">
            <a:solidFill>
              <a:schemeClr val="tx1"/>
            </a:solidFill>
            <a:miter lim="800000"/>
          </a:ln>
        </p:spPr>
        <p:txBody>
          <a:bodyPr wrap="none" anchor="ctr"/>
          <a:lstStyle/>
          <a:p>
            <a:endParaRPr lang="zh-CN" altLang="en-US" sz="1600" b="1">
              <a:solidFill>
                <a:srgbClr val="000099"/>
              </a:solidFill>
              <a:latin typeface="微软雅黑" panose="020B0503020204020204" pitchFamily="34" charset="-122"/>
              <a:ea typeface="微软雅黑" panose="020B0503020204020204" pitchFamily="34" charset="-122"/>
            </a:endParaRPr>
          </a:p>
        </p:txBody>
      </p:sp>
      <p:sp>
        <p:nvSpPr>
          <p:cNvPr id="13" name="Freeform 11"/>
          <p:cNvSpPr/>
          <p:nvPr/>
        </p:nvSpPr>
        <p:spPr bwMode="auto">
          <a:xfrm>
            <a:off x="6505658" y="2288875"/>
            <a:ext cx="1331913" cy="282575"/>
          </a:xfrm>
          <a:custGeom>
            <a:avLst/>
            <a:gdLst>
              <a:gd name="T0" fmla="*/ 1331810 w 1006"/>
              <a:gd name="T1" fmla="*/ 0 h 230"/>
              <a:gd name="T2" fmla="*/ 1019377 w 1006"/>
              <a:gd name="T3" fmla="*/ 276179 h 230"/>
              <a:gd name="T4" fmla="*/ 0 w 1006"/>
              <a:gd name="T5" fmla="*/ 281067 h 230"/>
              <a:gd name="T6" fmla="*/ 0 60000 65536"/>
              <a:gd name="T7" fmla="*/ 0 60000 65536"/>
              <a:gd name="T8" fmla="*/ 0 60000 65536"/>
            </a:gdLst>
            <a:ahLst/>
            <a:cxnLst>
              <a:cxn ang="T6">
                <a:pos x="T0" y="T1"/>
              </a:cxn>
              <a:cxn ang="T7">
                <a:pos x="T2" y="T3"/>
              </a:cxn>
              <a:cxn ang="T8">
                <a:pos x="T4" y="T5"/>
              </a:cxn>
            </a:cxnLst>
            <a:rect l="0" t="0" r="r" b="b"/>
            <a:pathLst>
              <a:path w="1006" h="230">
                <a:moveTo>
                  <a:pt x="1006" y="0"/>
                </a:moveTo>
                <a:lnTo>
                  <a:pt x="770" y="226"/>
                </a:lnTo>
                <a:lnTo>
                  <a:pt x="0" y="230"/>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2"/>
          <p:cNvSpPr/>
          <p:nvPr/>
        </p:nvSpPr>
        <p:spPr bwMode="auto">
          <a:xfrm>
            <a:off x="6502483" y="2596850"/>
            <a:ext cx="1319213" cy="292100"/>
          </a:xfrm>
          <a:custGeom>
            <a:avLst/>
            <a:gdLst>
              <a:gd name="T0" fmla="*/ 1318572 w 996"/>
              <a:gd name="T1" fmla="*/ 0 h 238"/>
              <a:gd name="T2" fmla="*/ 1019378 w 996"/>
              <a:gd name="T3" fmla="*/ 285955 h 238"/>
              <a:gd name="T4" fmla="*/ 0 w 996"/>
              <a:gd name="T5" fmla="*/ 290843 h 238"/>
              <a:gd name="T6" fmla="*/ 0 60000 65536"/>
              <a:gd name="T7" fmla="*/ 0 60000 65536"/>
              <a:gd name="T8" fmla="*/ 0 60000 65536"/>
            </a:gdLst>
            <a:ahLst/>
            <a:cxnLst>
              <a:cxn ang="T6">
                <a:pos x="T0" y="T1"/>
              </a:cxn>
              <a:cxn ang="T7">
                <a:pos x="T2" y="T3"/>
              </a:cxn>
              <a:cxn ang="T8">
                <a:pos x="T4" y="T5"/>
              </a:cxn>
            </a:cxnLst>
            <a:rect l="0" t="0" r="r" b="b"/>
            <a:pathLst>
              <a:path w="996" h="238">
                <a:moveTo>
                  <a:pt x="996" y="0"/>
                </a:moveTo>
                <a:lnTo>
                  <a:pt x="770" y="234"/>
                </a:lnTo>
                <a:lnTo>
                  <a:pt x="0" y="238"/>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Freeform 13"/>
          <p:cNvSpPr/>
          <p:nvPr/>
        </p:nvSpPr>
        <p:spPr bwMode="auto">
          <a:xfrm>
            <a:off x="6502483" y="2904825"/>
            <a:ext cx="1319213" cy="301625"/>
          </a:xfrm>
          <a:custGeom>
            <a:avLst/>
            <a:gdLst>
              <a:gd name="T0" fmla="*/ 1318572 w 996"/>
              <a:gd name="T1" fmla="*/ 0 h 246"/>
              <a:gd name="T2" fmla="*/ 1019378 w 996"/>
              <a:gd name="T3" fmla="*/ 295732 h 246"/>
              <a:gd name="T4" fmla="*/ 0 w 996"/>
              <a:gd name="T5" fmla="*/ 300620 h 246"/>
              <a:gd name="T6" fmla="*/ 0 60000 65536"/>
              <a:gd name="T7" fmla="*/ 0 60000 65536"/>
              <a:gd name="T8" fmla="*/ 0 60000 65536"/>
            </a:gdLst>
            <a:ahLst/>
            <a:cxnLst>
              <a:cxn ang="T6">
                <a:pos x="T0" y="T1"/>
              </a:cxn>
              <a:cxn ang="T7">
                <a:pos x="T2" y="T3"/>
              </a:cxn>
              <a:cxn ang="T8">
                <a:pos x="T4" y="T5"/>
              </a:cxn>
            </a:cxnLst>
            <a:rect l="0" t="0" r="r" b="b"/>
            <a:pathLst>
              <a:path w="996" h="246">
                <a:moveTo>
                  <a:pt x="996" y="0"/>
                </a:moveTo>
                <a:lnTo>
                  <a:pt x="770" y="242"/>
                </a:lnTo>
                <a:lnTo>
                  <a:pt x="0" y="246"/>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 name="AutoShape 14"/>
          <p:cNvSpPr>
            <a:spLocks noChangeArrowheads="1"/>
          </p:cNvSpPr>
          <p:nvPr/>
        </p:nvSpPr>
        <p:spPr bwMode="auto">
          <a:xfrm>
            <a:off x="3795713" y="2628600"/>
            <a:ext cx="1316120" cy="1114425"/>
          </a:xfrm>
          <a:prstGeom prst="cube">
            <a:avLst>
              <a:gd name="adj" fmla="val 25301"/>
            </a:avLst>
          </a:prstGeom>
          <a:solidFill>
            <a:srgbClr val="00CC00"/>
          </a:solidFill>
          <a:ln w="19050">
            <a:solidFill>
              <a:schemeClr val="tx1"/>
            </a:solidFill>
            <a:miter lim="800000"/>
          </a:ln>
        </p:spPr>
        <p:txBody>
          <a:bodyPr wrap="none" anchor="ctr"/>
          <a:lstStyle/>
          <a:p>
            <a:endParaRPr lang="zh-CN" altLang="en-US" sz="1600" b="1">
              <a:solidFill>
                <a:srgbClr val="000099"/>
              </a:solidFill>
              <a:latin typeface="微软雅黑" panose="020B0503020204020204" pitchFamily="34" charset="-122"/>
              <a:ea typeface="微软雅黑" panose="020B0503020204020204" pitchFamily="34" charset="-122"/>
            </a:endParaRPr>
          </a:p>
        </p:txBody>
      </p:sp>
      <p:sp>
        <p:nvSpPr>
          <p:cNvPr id="17" name="Freeform 15"/>
          <p:cNvSpPr/>
          <p:nvPr/>
        </p:nvSpPr>
        <p:spPr bwMode="auto">
          <a:xfrm>
            <a:off x="3790950" y="2927050"/>
            <a:ext cx="1328738" cy="282575"/>
          </a:xfrm>
          <a:custGeom>
            <a:avLst/>
            <a:gdLst>
              <a:gd name="T0" fmla="*/ 1327839 w 1003"/>
              <a:gd name="T1" fmla="*/ 0 h 231"/>
              <a:gd name="T2" fmla="*/ 1019378 w 1003"/>
              <a:gd name="T3" fmla="*/ 277402 h 231"/>
              <a:gd name="T4" fmla="*/ 0 w 1003"/>
              <a:gd name="T5" fmla="*/ 282290 h 231"/>
              <a:gd name="T6" fmla="*/ 0 60000 65536"/>
              <a:gd name="T7" fmla="*/ 0 60000 65536"/>
              <a:gd name="T8" fmla="*/ 0 60000 65536"/>
            </a:gdLst>
            <a:ahLst/>
            <a:cxnLst>
              <a:cxn ang="T6">
                <a:pos x="T0" y="T1"/>
              </a:cxn>
              <a:cxn ang="T7">
                <a:pos x="T2" y="T3"/>
              </a:cxn>
              <a:cxn ang="T8">
                <a:pos x="T4" y="T5"/>
              </a:cxn>
            </a:cxnLst>
            <a:rect l="0" t="0" r="r" b="b"/>
            <a:pathLst>
              <a:path w="1003" h="231">
                <a:moveTo>
                  <a:pt x="1003" y="0"/>
                </a:moveTo>
                <a:lnTo>
                  <a:pt x="770" y="227"/>
                </a:lnTo>
                <a:lnTo>
                  <a:pt x="0" y="231"/>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8" name="Text Box 16"/>
          <p:cNvSpPr txBox="1">
            <a:spLocks noChangeArrowheads="1"/>
          </p:cNvSpPr>
          <p:nvPr/>
        </p:nvSpPr>
        <p:spPr bwMode="auto">
          <a:xfrm>
            <a:off x="481275" y="1199983"/>
            <a:ext cx="679450" cy="3079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99"/>
                </a:solidFill>
                <a:latin typeface="微软雅黑" panose="020B0503020204020204" pitchFamily="34" charset="-122"/>
                <a:ea typeface="微软雅黑" panose="020B0503020204020204" pitchFamily="34" charset="-122"/>
              </a:rPr>
              <a:t>主机</a:t>
            </a:r>
            <a:r>
              <a:rPr kumimoji="1" lang="en-US" altLang="zh-CN" sz="1400" b="1" dirty="0">
                <a:solidFill>
                  <a:srgbClr val="000099"/>
                </a:solidFill>
                <a:latin typeface="微软雅黑" panose="020B0503020204020204" pitchFamily="34" charset="-122"/>
                <a:ea typeface="微软雅黑" panose="020B0503020204020204" pitchFamily="34" charset="-122"/>
              </a:rPr>
              <a:t>A</a:t>
            </a:r>
          </a:p>
        </p:txBody>
      </p:sp>
      <p:sp>
        <p:nvSpPr>
          <p:cNvPr id="21" name="Text Box 19"/>
          <p:cNvSpPr txBox="1">
            <a:spLocks noChangeArrowheads="1"/>
          </p:cNvSpPr>
          <p:nvPr/>
        </p:nvSpPr>
        <p:spPr bwMode="auto">
          <a:xfrm>
            <a:off x="5327310" y="3825189"/>
            <a:ext cx="707245"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latin typeface="微软雅黑" panose="020B0503020204020204" pitchFamily="34" charset="-122"/>
                <a:ea typeface="微软雅黑" panose="020B0503020204020204" pitchFamily="34" charset="-122"/>
              </a:rPr>
              <a:t>网络 </a:t>
            </a:r>
            <a:r>
              <a:rPr kumimoji="1" lang="en-US" altLang="zh-CN" sz="1400" b="1">
                <a:latin typeface="微软雅黑" panose="020B0503020204020204" pitchFamily="34" charset="-122"/>
                <a:ea typeface="微软雅黑" panose="020B0503020204020204" pitchFamily="34" charset="-122"/>
              </a:rPr>
              <a:t>2</a:t>
            </a:r>
          </a:p>
        </p:txBody>
      </p:sp>
      <p:sp>
        <p:nvSpPr>
          <p:cNvPr id="22" name="Text Box 20"/>
          <p:cNvSpPr txBox="1">
            <a:spLocks noChangeArrowheads="1"/>
          </p:cNvSpPr>
          <p:nvPr/>
        </p:nvSpPr>
        <p:spPr bwMode="auto">
          <a:xfrm>
            <a:off x="2698149" y="3853980"/>
            <a:ext cx="707245"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网络 </a:t>
            </a:r>
            <a:r>
              <a:rPr kumimoji="1" lang="en-US" altLang="zh-CN" sz="1400" b="1" dirty="0">
                <a:latin typeface="微软雅黑" panose="020B0503020204020204" pitchFamily="34" charset="-122"/>
                <a:ea typeface="微软雅黑" panose="020B0503020204020204" pitchFamily="34" charset="-122"/>
              </a:rPr>
              <a:t>1</a:t>
            </a:r>
          </a:p>
        </p:txBody>
      </p:sp>
      <p:sp>
        <p:nvSpPr>
          <p:cNvPr id="23" name="Line 21"/>
          <p:cNvSpPr>
            <a:spLocks noChangeShapeType="1"/>
          </p:cNvSpPr>
          <p:nvPr/>
        </p:nvSpPr>
        <p:spPr bwMode="auto">
          <a:xfrm>
            <a:off x="1898735" y="3738261"/>
            <a:ext cx="762686" cy="265113"/>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4" name="Line 22"/>
          <p:cNvSpPr>
            <a:spLocks noChangeShapeType="1"/>
          </p:cNvSpPr>
          <p:nvPr/>
        </p:nvSpPr>
        <p:spPr bwMode="auto">
          <a:xfrm flipH="1">
            <a:off x="3534186" y="3745800"/>
            <a:ext cx="493964" cy="26000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5" name="Line 23"/>
          <p:cNvSpPr>
            <a:spLocks noChangeShapeType="1"/>
          </p:cNvSpPr>
          <p:nvPr/>
        </p:nvSpPr>
        <p:spPr bwMode="auto">
          <a:xfrm>
            <a:off x="4634406" y="3738262"/>
            <a:ext cx="602188" cy="260486"/>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Line 24"/>
          <p:cNvSpPr>
            <a:spLocks noChangeShapeType="1"/>
          </p:cNvSpPr>
          <p:nvPr/>
        </p:nvSpPr>
        <p:spPr bwMode="auto">
          <a:xfrm flipH="1">
            <a:off x="6035746" y="3739849"/>
            <a:ext cx="696842" cy="26595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7" name="Text Box 25"/>
          <p:cNvSpPr txBox="1">
            <a:spLocks noChangeArrowheads="1"/>
          </p:cNvSpPr>
          <p:nvPr/>
        </p:nvSpPr>
        <p:spPr bwMode="auto">
          <a:xfrm>
            <a:off x="6659646" y="2253950"/>
            <a:ext cx="723900" cy="14589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zh-CN" altLang="en-US" sz="1400" b="1" dirty="0">
                <a:solidFill>
                  <a:schemeClr val="bg1"/>
                </a:solidFill>
                <a:latin typeface="微软雅黑" panose="020B0503020204020204" pitchFamily="34" charset="-122"/>
                <a:ea typeface="微软雅黑" panose="020B0503020204020204" pitchFamily="34" charset="-122"/>
              </a:rPr>
              <a:t>应用层</a:t>
            </a:r>
          </a:p>
          <a:p>
            <a:pPr algn="ctr">
              <a:lnSpc>
                <a:spcPct val="130000"/>
              </a:lnSpc>
            </a:pPr>
            <a:r>
              <a:rPr kumimoji="1" lang="zh-CN" altLang="en-US" sz="1400" b="1" dirty="0">
                <a:solidFill>
                  <a:schemeClr val="bg1"/>
                </a:solidFill>
                <a:latin typeface="微软雅黑" panose="020B0503020204020204" pitchFamily="34" charset="-122"/>
                <a:ea typeface="微软雅黑" panose="020B0503020204020204" pitchFamily="34" charset="-122"/>
              </a:rPr>
              <a:t>运输层</a:t>
            </a:r>
          </a:p>
          <a:p>
            <a:pPr algn="ctr">
              <a:lnSpc>
                <a:spcPct val="130000"/>
              </a:lnSpc>
              <a:spcBef>
                <a:spcPts val="200"/>
              </a:spcBef>
            </a:pPr>
            <a:r>
              <a:rPr kumimoji="1" lang="zh-CN" altLang="en-US" sz="1400" b="1" dirty="0">
                <a:solidFill>
                  <a:schemeClr val="bg1"/>
                </a:solidFill>
                <a:latin typeface="微软雅黑" panose="020B0503020204020204" pitchFamily="34" charset="-122"/>
                <a:ea typeface="微软雅黑" panose="020B0503020204020204" pitchFamily="34" charset="-122"/>
              </a:rPr>
              <a:t>网际层</a:t>
            </a:r>
          </a:p>
          <a:p>
            <a:pPr algn="ctr">
              <a:lnSpc>
                <a:spcPct val="130000"/>
              </a:lnSpc>
              <a:spcBef>
                <a:spcPts val="200"/>
              </a:spcBef>
            </a:pPr>
            <a:r>
              <a:rPr kumimoji="1" lang="zh-CN" altLang="en-US" sz="1400" b="1" dirty="0">
                <a:solidFill>
                  <a:schemeClr val="bg1"/>
                </a:solidFill>
                <a:latin typeface="微软雅黑" panose="020B0503020204020204" pitchFamily="34" charset="-122"/>
                <a:ea typeface="微软雅黑" panose="020B0503020204020204" pitchFamily="34" charset="-122"/>
              </a:rPr>
              <a:t>网络</a:t>
            </a:r>
          </a:p>
          <a:p>
            <a:pPr algn="ctr">
              <a:lnSpc>
                <a:spcPct val="90000"/>
              </a:lnSpc>
            </a:pPr>
            <a:r>
              <a:rPr kumimoji="1" lang="zh-CN" altLang="en-US" sz="1400" b="1" dirty="0">
                <a:solidFill>
                  <a:schemeClr val="bg1"/>
                </a:solidFill>
                <a:latin typeface="微软雅黑" panose="020B0503020204020204" pitchFamily="34" charset="-122"/>
                <a:ea typeface="微软雅黑" panose="020B0503020204020204" pitchFamily="34" charset="-122"/>
              </a:rPr>
              <a:t>接口层</a:t>
            </a:r>
          </a:p>
        </p:txBody>
      </p:sp>
      <p:sp>
        <p:nvSpPr>
          <p:cNvPr id="28" name="Text Box 26"/>
          <p:cNvSpPr txBox="1">
            <a:spLocks noChangeArrowheads="1"/>
          </p:cNvSpPr>
          <p:nvPr/>
        </p:nvSpPr>
        <p:spPr bwMode="auto">
          <a:xfrm>
            <a:off x="3935413" y="2869900"/>
            <a:ext cx="723900" cy="846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网际层</a:t>
            </a:r>
          </a:p>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网络</a:t>
            </a:r>
          </a:p>
          <a:p>
            <a:pPr algn="ctr">
              <a:lnSpc>
                <a:spcPct val="90000"/>
              </a:lnSpc>
            </a:pPr>
            <a:r>
              <a:rPr kumimoji="1" lang="zh-CN" altLang="en-US" sz="1400" b="1">
                <a:solidFill>
                  <a:schemeClr val="bg1"/>
                </a:solidFill>
                <a:latin typeface="微软雅黑" panose="020B0503020204020204" pitchFamily="34" charset="-122"/>
                <a:ea typeface="微软雅黑" panose="020B0503020204020204" pitchFamily="34" charset="-122"/>
              </a:rPr>
              <a:t>接口层</a:t>
            </a:r>
          </a:p>
        </p:txBody>
      </p:sp>
      <p:sp>
        <p:nvSpPr>
          <p:cNvPr id="29" name="Text Box 27"/>
          <p:cNvSpPr txBox="1">
            <a:spLocks noChangeArrowheads="1"/>
          </p:cNvSpPr>
          <p:nvPr/>
        </p:nvSpPr>
        <p:spPr bwMode="auto">
          <a:xfrm>
            <a:off x="684000" y="2233312"/>
            <a:ext cx="311150" cy="1433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en-US" altLang="zh-CN" sz="1600" b="1">
                <a:solidFill>
                  <a:srgbClr val="000099"/>
                </a:solidFill>
                <a:latin typeface="微软雅黑" panose="020B0503020204020204" pitchFamily="34" charset="-122"/>
                <a:ea typeface="微软雅黑" panose="020B0503020204020204" pitchFamily="34" charset="-122"/>
              </a:rPr>
              <a:t>4</a:t>
            </a:r>
          </a:p>
          <a:p>
            <a:pPr algn="ctr">
              <a:lnSpc>
                <a:spcPct val="130000"/>
              </a:lnSpc>
            </a:pPr>
            <a:r>
              <a:rPr kumimoji="1" lang="en-US" altLang="zh-CN" sz="1600" b="1">
                <a:solidFill>
                  <a:srgbClr val="000099"/>
                </a:solidFill>
                <a:latin typeface="微软雅黑" panose="020B0503020204020204" pitchFamily="34" charset="-122"/>
                <a:ea typeface="微软雅黑" panose="020B0503020204020204" pitchFamily="34" charset="-122"/>
              </a:rPr>
              <a:t>3</a:t>
            </a:r>
          </a:p>
          <a:p>
            <a:pPr algn="ctr">
              <a:lnSpc>
                <a:spcPct val="130000"/>
              </a:lnSpc>
            </a:pPr>
            <a:r>
              <a:rPr kumimoji="1" lang="en-US" altLang="zh-CN" sz="1600" b="1">
                <a:solidFill>
                  <a:srgbClr val="000099"/>
                </a:solidFill>
                <a:latin typeface="微软雅黑" panose="020B0503020204020204" pitchFamily="34" charset="-122"/>
                <a:ea typeface="微软雅黑" panose="020B0503020204020204" pitchFamily="34" charset="-122"/>
              </a:rPr>
              <a:t>2</a:t>
            </a:r>
          </a:p>
          <a:p>
            <a:pPr algn="ctr">
              <a:lnSpc>
                <a:spcPct val="155000"/>
              </a:lnSpc>
            </a:pPr>
            <a:r>
              <a:rPr kumimoji="1" lang="en-US" altLang="zh-CN" sz="1600" b="1">
                <a:solidFill>
                  <a:srgbClr val="000099"/>
                </a:solidFill>
                <a:latin typeface="微软雅黑" panose="020B0503020204020204" pitchFamily="34" charset="-122"/>
                <a:ea typeface="微软雅黑" panose="020B0503020204020204" pitchFamily="34" charset="-122"/>
              </a:rPr>
              <a:t>1</a:t>
            </a:r>
          </a:p>
        </p:txBody>
      </p:sp>
      <p:sp>
        <p:nvSpPr>
          <p:cNvPr id="30" name="矩形 30"/>
          <p:cNvSpPr>
            <a:spLocks noChangeArrowheads="1"/>
          </p:cNvSpPr>
          <p:nvPr/>
        </p:nvSpPr>
        <p:spPr bwMode="auto">
          <a:xfrm>
            <a:off x="3168612" y="1768040"/>
            <a:ext cx="26511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TCP/IP </a:t>
            </a:r>
            <a:r>
              <a:rPr lang="zh-CN" altLang="en-US" b="1" dirty="0">
                <a:solidFill>
                  <a:srgbClr val="0000FF"/>
                </a:solidFill>
                <a:latin typeface="微软雅黑" panose="020B0503020204020204" pitchFamily="34" charset="-122"/>
                <a:ea typeface="微软雅黑" panose="020B0503020204020204" pitchFamily="34" charset="-122"/>
              </a:rPr>
              <a:t>是四层体系结构</a:t>
            </a:r>
          </a:p>
        </p:txBody>
      </p:sp>
      <p:sp>
        <p:nvSpPr>
          <p:cNvPr id="31" name="矩形 31"/>
          <p:cNvSpPr>
            <a:spLocks noChangeArrowheads="1"/>
          </p:cNvSpPr>
          <p:nvPr/>
        </p:nvSpPr>
        <p:spPr bwMode="auto">
          <a:xfrm>
            <a:off x="1484313" y="4330400"/>
            <a:ext cx="594995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en-US" sz="1400" b="1" dirty="0">
                <a:solidFill>
                  <a:srgbClr val="000066"/>
                </a:solidFill>
                <a:latin typeface="微软雅黑" panose="020B0503020204020204" pitchFamily="34" charset="-122"/>
                <a:ea typeface="微软雅黑" panose="020B0503020204020204" pitchFamily="34" charset="-122"/>
              </a:rPr>
              <a:t>路由器在转发分组时</a:t>
            </a:r>
            <a:r>
              <a:rPr lang="zh-CN" altLang="en-US" sz="1400" b="1" dirty="0">
                <a:solidFill>
                  <a:srgbClr val="C00000"/>
                </a:solidFill>
                <a:latin typeface="微软雅黑" panose="020B0503020204020204" pitchFamily="34" charset="-122"/>
                <a:ea typeface="微软雅黑" panose="020B0503020204020204" pitchFamily="34" charset="-122"/>
              </a:rPr>
              <a:t>最高</a:t>
            </a:r>
            <a:r>
              <a:rPr lang="zh-CN" altLang="en-US" sz="1400" b="1" dirty="0">
                <a:solidFill>
                  <a:srgbClr val="000066"/>
                </a:solidFill>
                <a:latin typeface="微软雅黑" panose="020B0503020204020204" pitchFamily="34" charset="-122"/>
                <a:ea typeface="微软雅黑" panose="020B0503020204020204" pitchFamily="34" charset="-122"/>
              </a:rPr>
              <a:t>只用到</a:t>
            </a:r>
            <a:r>
              <a:rPr lang="zh-CN" altLang="en-US" sz="1400" b="1" dirty="0">
                <a:solidFill>
                  <a:srgbClr val="C00000"/>
                </a:solidFill>
                <a:latin typeface="微软雅黑" panose="020B0503020204020204" pitchFamily="34" charset="-122"/>
                <a:ea typeface="微软雅黑" panose="020B0503020204020204" pitchFamily="34" charset="-122"/>
              </a:rPr>
              <a:t>网际层，</a:t>
            </a:r>
            <a:r>
              <a:rPr lang="zh-CN" altLang="en-US" sz="1400" b="1" dirty="0">
                <a:solidFill>
                  <a:srgbClr val="000066"/>
                </a:solidFill>
                <a:latin typeface="微软雅黑" panose="020B0503020204020204" pitchFamily="34" charset="-122"/>
                <a:ea typeface="微软雅黑" panose="020B0503020204020204" pitchFamily="34" charset="-122"/>
              </a:rPr>
              <a:t>没有使用运输层和应用层。 </a:t>
            </a:r>
          </a:p>
        </p:txBody>
      </p:sp>
      <p:sp>
        <p:nvSpPr>
          <p:cNvPr id="32" name="Text Box 29"/>
          <p:cNvSpPr txBox="1">
            <a:spLocks noChangeArrowheads="1"/>
          </p:cNvSpPr>
          <p:nvPr/>
        </p:nvSpPr>
        <p:spPr bwMode="auto">
          <a:xfrm>
            <a:off x="1419936" y="1075100"/>
            <a:ext cx="6543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C00000"/>
                </a:solidFill>
                <a:latin typeface="微软雅黑" panose="020B0503020204020204" pitchFamily="34" charset="-122"/>
                <a:ea typeface="微软雅黑" panose="020B0503020204020204" pitchFamily="34" charset="-122"/>
              </a:rPr>
              <a:t>主机 </a:t>
            </a:r>
            <a:r>
              <a:rPr kumimoji="1" lang="en-US" altLang="zh-CN" sz="1200" b="1" dirty="0">
                <a:solidFill>
                  <a:srgbClr val="C00000"/>
                </a:solidFill>
                <a:latin typeface="微软雅黑" panose="020B0503020204020204" pitchFamily="34" charset="-122"/>
                <a:ea typeface="微软雅黑" panose="020B0503020204020204" pitchFamily="34" charset="-122"/>
              </a:rPr>
              <a:t>A</a:t>
            </a:r>
          </a:p>
        </p:txBody>
      </p:sp>
      <p:sp>
        <p:nvSpPr>
          <p:cNvPr id="33" name="Text Box 29"/>
          <p:cNvSpPr txBox="1">
            <a:spLocks noChangeArrowheads="1"/>
          </p:cNvSpPr>
          <p:nvPr/>
        </p:nvSpPr>
        <p:spPr bwMode="auto">
          <a:xfrm>
            <a:off x="6900196" y="1075100"/>
            <a:ext cx="6447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C00000"/>
                </a:solidFill>
                <a:latin typeface="微软雅黑" panose="020B0503020204020204" pitchFamily="34" charset="-122"/>
                <a:ea typeface="微软雅黑" panose="020B0503020204020204" pitchFamily="34" charset="-122"/>
              </a:rPr>
              <a:t>主机 </a:t>
            </a:r>
            <a:r>
              <a:rPr kumimoji="1" lang="en-US" altLang="zh-CN" sz="1200" b="1" dirty="0">
                <a:solidFill>
                  <a:srgbClr val="C00000"/>
                </a:solidFill>
                <a:latin typeface="微软雅黑" panose="020B0503020204020204" pitchFamily="34" charset="-122"/>
                <a:ea typeface="微软雅黑" panose="020B0503020204020204" pitchFamily="34" charset="-122"/>
              </a:rPr>
              <a:t>B</a:t>
            </a:r>
          </a:p>
        </p:txBody>
      </p:sp>
      <p:sp>
        <p:nvSpPr>
          <p:cNvPr id="34" name="Text Box 29"/>
          <p:cNvSpPr txBox="1">
            <a:spLocks noChangeArrowheads="1"/>
          </p:cNvSpPr>
          <p:nvPr/>
        </p:nvSpPr>
        <p:spPr bwMode="auto">
          <a:xfrm>
            <a:off x="4086071"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C00000"/>
                </a:solidFill>
                <a:latin typeface="微软雅黑" panose="020B0503020204020204" pitchFamily="34" charset="-122"/>
                <a:ea typeface="微软雅黑" panose="020B0503020204020204" pitchFamily="34" charset="-122"/>
              </a:rPr>
              <a:t>路由器</a:t>
            </a:r>
            <a:endParaRPr kumimoji="1" lang="en-US" altLang="zh-CN" sz="1200" b="1" dirty="0">
              <a:solidFill>
                <a:srgbClr val="C00000"/>
              </a:solidFill>
              <a:latin typeface="微软雅黑" panose="020B0503020204020204" pitchFamily="34" charset="-122"/>
              <a:ea typeface="微软雅黑" panose="020B0503020204020204" pitchFamily="34" charset="-122"/>
            </a:endParaRPr>
          </a:p>
        </p:txBody>
      </p:sp>
      <p:cxnSp>
        <p:nvCxnSpPr>
          <p:cNvPr id="35" name="直接连接符 34"/>
          <p:cNvCxnSpPr/>
          <p:nvPr/>
        </p:nvCxnSpPr>
        <p:spPr>
          <a:xfrm>
            <a:off x="1703983" y="1507958"/>
            <a:ext cx="5553552"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08858"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98872"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43"/>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179983"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0" name="组合 49"/>
          <p:cNvGrpSpPr/>
          <p:nvPr/>
        </p:nvGrpSpPr>
        <p:grpSpPr>
          <a:xfrm>
            <a:off x="2519141" y="1250953"/>
            <a:ext cx="977660" cy="448910"/>
            <a:chOff x="2461478" y="1292143"/>
            <a:chExt cx="977660" cy="448910"/>
          </a:xfrm>
        </p:grpSpPr>
        <p:grpSp>
          <p:nvGrpSpPr>
            <p:cNvPr id="39" name="Group 17"/>
            <p:cNvGrpSpPr/>
            <p:nvPr/>
          </p:nvGrpSpPr>
          <p:grpSpPr bwMode="auto">
            <a:xfrm>
              <a:off x="2461478" y="1292143"/>
              <a:ext cx="977660" cy="448910"/>
              <a:chOff x="1680" y="240"/>
              <a:chExt cx="2529" cy="1270"/>
            </a:xfrm>
            <a:solidFill>
              <a:schemeClr val="bg1"/>
            </a:solidFill>
          </p:grpSpPr>
          <p:sp>
            <p:nvSpPr>
              <p:cNvPr id="40"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1"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2"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3"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4"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5"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6"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7"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8"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黑体" panose="02010609060101010101" pitchFamily="2" charset="-122"/>
                </a:endParaRPr>
              </a:p>
            </p:txBody>
          </p:sp>
        </p:grpSp>
        <p:sp>
          <p:nvSpPr>
            <p:cNvPr id="49" name="文本框 48"/>
            <p:cNvSpPr txBox="1"/>
            <p:nvPr/>
          </p:nvSpPr>
          <p:spPr>
            <a:xfrm>
              <a:off x="2702534" y="1377137"/>
              <a:ext cx="633507" cy="2769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rPr>
                <a:t>网络 </a:t>
              </a:r>
              <a:r>
                <a:rPr lang="en-US" altLang="zh-CN" sz="1200" b="1" dirty="0">
                  <a:latin typeface="微软雅黑" panose="020B0503020204020204" pitchFamily="34" charset="-122"/>
                  <a:ea typeface="微软雅黑" panose="020B0503020204020204" pitchFamily="34" charset="-122"/>
                </a:rPr>
                <a:t>1</a:t>
              </a:r>
              <a:endParaRPr lang="zh-CN" altLang="en-US" sz="1200" b="1" dirty="0">
                <a:latin typeface="微软雅黑" panose="020B0503020204020204" pitchFamily="34" charset="-122"/>
                <a:ea typeface="微软雅黑" panose="020B0503020204020204" pitchFamily="34" charset="-122"/>
              </a:endParaRPr>
            </a:p>
          </p:txBody>
        </p:sp>
      </p:grpSp>
      <p:grpSp>
        <p:nvGrpSpPr>
          <p:cNvPr id="51" name="组合 50"/>
          <p:cNvGrpSpPr/>
          <p:nvPr/>
        </p:nvGrpSpPr>
        <p:grpSpPr>
          <a:xfrm>
            <a:off x="5244462" y="1250953"/>
            <a:ext cx="977660" cy="448910"/>
            <a:chOff x="2461478" y="1292143"/>
            <a:chExt cx="977660" cy="448910"/>
          </a:xfrm>
        </p:grpSpPr>
        <p:grpSp>
          <p:nvGrpSpPr>
            <p:cNvPr id="52" name="Group 17"/>
            <p:cNvGrpSpPr/>
            <p:nvPr/>
          </p:nvGrpSpPr>
          <p:grpSpPr bwMode="auto">
            <a:xfrm>
              <a:off x="2461478" y="1292143"/>
              <a:ext cx="977660" cy="448910"/>
              <a:chOff x="1680" y="240"/>
              <a:chExt cx="2529" cy="1270"/>
            </a:xfrm>
            <a:solidFill>
              <a:schemeClr val="bg1"/>
            </a:solidFill>
          </p:grpSpPr>
          <p:sp>
            <p:nvSpPr>
              <p:cNvPr id="54"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5"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6"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7"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8"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9"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0"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1"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2"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黑体" panose="02010609060101010101" pitchFamily="2" charset="-122"/>
                </a:endParaRPr>
              </a:p>
            </p:txBody>
          </p:sp>
        </p:grpSp>
        <p:sp>
          <p:nvSpPr>
            <p:cNvPr id="53" name="文本框 52"/>
            <p:cNvSpPr txBox="1"/>
            <p:nvPr/>
          </p:nvSpPr>
          <p:spPr>
            <a:xfrm>
              <a:off x="2702534" y="1377137"/>
              <a:ext cx="633507" cy="2769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rPr>
                <a:t>网络 </a:t>
              </a:r>
              <a:r>
                <a:rPr lang="en-US" altLang="zh-CN" sz="1200" b="1" dirty="0">
                  <a:latin typeface="微软雅黑" panose="020B0503020204020204" pitchFamily="34" charset="-122"/>
                  <a:ea typeface="微软雅黑" panose="020B0503020204020204" pitchFamily="34" charset="-122"/>
                </a:rPr>
                <a:t>2</a:t>
              </a:r>
              <a:endParaRPr lang="zh-CN" altLang="en-US" sz="12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7497647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r>
              <a:rPr lang="zh-CN" altLang="en-US" dirty="0"/>
              <a:t>现在互联网使用的 </a:t>
            </a:r>
            <a:r>
              <a:rPr lang="en-US" altLang="zh-CN" dirty="0"/>
              <a:t>TCP/IP </a:t>
            </a:r>
            <a:r>
              <a:rPr lang="zh-CN" altLang="en-US" dirty="0"/>
              <a:t>体系结构已经发生了演变，即某些应用程序可以直接使用 </a:t>
            </a:r>
            <a:r>
              <a:rPr lang="en-US" altLang="zh-CN" dirty="0"/>
              <a:t>IP </a:t>
            </a:r>
            <a:r>
              <a:rPr lang="zh-CN" altLang="en-US" dirty="0"/>
              <a:t>层，或甚至直接使用最下面的网络接口层。</a:t>
            </a:r>
          </a:p>
          <a:p>
            <a:endParaRPr lang="zh-CN" altLang="en-US" dirty="0"/>
          </a:p>
        </p:txBody>
      </p:sp>
      <p:sp>
        <p:nvSpPr>
          <p:cNvPr id="4" name="文本占位符 3"/>
          <p:cNvSpPr>
            <a:spLocks noGrp="1"/>
          </p:cNvSpPr>
          <p:nvPr>
            <p:ph type="body" sz="quarter" idx="11"/>
          </p:nvPr>
        </p:nvSpPr>
        <p:spPr/>
        <p:txBody>
          <a:bodyPr/>
          <a:lstStyle/>
          <a:p>
            <a:r>
              <a:rPr lang="en-US" altLang="zh-CN" dirty="0"/>
              <a:t>TCP/IP </a:t>
            </a:r>
            <a:r>
              <a:rPr lang="zh-CN" altLang="en-US" dirty="0"/>
              <a:t>体系结构的另一种表示方法</a:t>
            </a:r>
          </a:p>
        </p:txBody>
      </p:sp>
      <p:sp>
        <p:nvSpPr>
          <p:cNvPr id="5" name="圆角矩形 4"/>
          <p:cNvSpPr/>
          <p:nvPr/>
        </p:nvSpPr>
        <p:spPr>
          <a:xfrm>
            <a:off x="505072" y="1828799"/>
            <a:ext cx="7658625" cy="240832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6" name="组合 5"/>
          <p:cNvGrpSpPr/>
          <p:nvPr/>
        </p:nvGrpSpPr>
        <p:grpSpPr bwMode="auto">
          <a:xfrm>
            <a:off x="2862264" y="2042984"/>
            <a:ext cx="3299640" cy="1943272"/>
            <a:chOff x="2778939" y="3395364"/>
            <a:chExt cx="3502942" cy="2128590"/>
          </a:xfrm>
        </p:grpSpPr>
        <p:sp>
          <p:nvSpPr>
            <p:cNvPr id="7" name="Rectangle 5"/>
            <p:cNvSpPr>
              <a:spLocks noChangeArrowheads="1"/>
            </p:cNvSpPr>
            <p:nvPr/>
          </p:nvSpPr>
          <p:spPr bwMode="auto">
            <a:xfrm>
              <a:off x="2778939" y="3395364"/>
              <a:ext cx="3502942" cy="2128590"/>
            </a:xfrm>
            <a:prstGeom prst="rect">
              <a:avLst/>
            </a:prstGeom>
            <a:ln w="38100">
              <a:solidFill>
                <a:srgbClr val="339933"/>
              </a:solidFill>
            </a:ln>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8" name="Line 6"/>
            <p:cNvSpPr>
              <a:spLocks noChangeShapeType="1"/>
            </p:cNvSpPr>
            <p:nvPr/>
          </p:nvSpPr>
          <p:spPr bwMode="auto">
            <a:xfrm>
              <a:off x="2778939" y="5010251"/>
              <a:ext cx="3502942" cy="0"/>
            </a:xfrm>
            <a:prstGeom prst="line">
              <a:avLst/>
            </a:prstGeom>
            <a:ln w="38100">
              <a:solidFill>
                <a:srgbClr val="339933"/>
              </a:solidFill>
            </a:ln>
            <a:extLst>
              <a:ext uri="{909E8E84-426E-40DD-AFC4-6F175D3DCCD1}">
                <a14:hiddenFill xmlns:a14="http://schemas.microsoft.com/office/drawing/2010/main">
                  <a:no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9" name="Freeform 7"/>
            <p:cNvSpPr/>
            <p:nvPr/>
          </p:nvSpPr>
          <p:spPr bwMode="auto">
            <a:xfrm>
              <a:off x="2778939" y="4460452"/>
              <a:ext cx="2589890" cy="531751"/>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10" name="Freeform 8"/>
            <p:cNvSpPr/>
            <p:nvPr/>
          </p:nvSpPr>
          <p:spPr bwMode="auto">
            <a:xfrm>
              <a:off x="2778939" y="3910655"/>
              <a:ext cx="1675251" cy="530957"/>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11" name="Line 9"/>
            <p:cNvSpPr>
              <a:spLocks noChangeShapeType="1"/>
            </p:cNvSpPr>
            <p:nvPr/>
          </p:nvSpPr>
          <p:spPr bwMode="auto">
            <a:xfrm>
              <a:off x="3616890" y="3928350"/>
              <a:ext cx="0" cy="531310"/>
            </a:xfrm>
            <a:prstGeom prst="line">
              <a:avLst/>
            </a:prstGeom>
            <a:noFill/>
            <a:ln w="38100">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Text Box 10"/>
            <p:cNvSpPr txBox="1">
              <a:spLocks noChangeArrowheads="1"/>
            </p:cNvSpPr>
            <p:nvPr/>
          </p:nvSpPr>
          <p:spPr bwMode="auto">
            <a:xfrm>
              <a:off x="2900239" y="3991336"/>
              <a:ext cx="1505317"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b="1" dirty="0">
                  <a:solidFill>
                    <a:srgbClr val="000066"/>
                  </a:solidFill>
                  <a:latin typeface="微软雅黑" panose="020B0503020204020204" pitchFamily="34" charset="-122"/>
                  <a:ea typeface="微软雅黑" panose="020B0503020204020204" pitchFamily="34" charset="-122"/>
                </a:rPr>
                <a:t>TCP    UDP</a:t>
              </a:r>
            </a:p>
          </p:txBody>
        </p:sp>
        <p:sp>
          <p:nvSpPr>
            <p:cNvPr id="13" name="Text Box 11"/>
            <p:cNvSpPr txBox="1">
              <a:spLocks noChangeArrowheads="1"/>
            </p:cNvSpPr>
            <p:nvPr/>
          </p:nvSpPr>
          <p:spPr bwMode="auto">
            <a:xfrm>
              <a:off x="3804968" y="4550166"/>
              <a:ext cx="439398"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b="1">
                  <a:solidFill>
                    <a:srgbClr val="000066"/>
                  </a:solidFill>
                  <a:latin typeface="微软雅黑" panose="020B0503020204020204" pitchFamily="34" charset="-122"/>
                  <a:ea typeface="微软雅黑" panose="020B0503020204020204" pitchFamily="34" charset="-122"/>
                </a:rPr>
                <a:t>IP</a:t>
              </a:r>
            </a:p>
          </p:txBody>
        </p:sp>
        <p:sp>
          <p:nvSpPr>
            <p:cNvPr id="14" name="Text Box 4"/>
            <p:cNvSpPr txBox="1">
              <a:spLocks noChangeArrowheads="1"/>
            </p:cNvSpPr>
            <p:nvPr/>
          </p:nvSpPr>
          <p:spPr bwMode="auto">
            <a:xfrm>
              <a:off x="4149216" y="3470787"/>
              <a:ext cx="931208"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b="1" dirty="0">
                  <a:solidFill>
                    <a:srgbClr val="000066"/>
                  </a:solidFill>
                  <a:latin typeface="微软雅黑" panose="020B0503020204020204" pitchFamily="34" charset="-122"/>
                  <a:ea typeface="微软雅黑" panose="020B0503020204020204" pitchFamily="34" charset="-122"/>
                </a:rPr>
                <a:t>应用层</a:t>
              </a:r>
            </a:p>
          </p:txBody>
        </p:sp>
        <p:sp>
          <p:nvSpPr>
            <p:cNvPr id="15" name="Text Box 12"/>
            <p:cNvSpPr txBox="1">
              <a:spLocks noChangeArrowheads="1"/>
            </p:cNvSpPr>
            <p:nvPr/>
          </p:nvSpPr>
          <p:spPr bwMode="auto">
            <a:xfrm>
              <a:off x="3328057" y="5068067"/>
              <a:ext cx="2646592"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b="1" dirty="0">
                  <a:solidFill>
                    <a:srgbClr val="000066"/>
                  </a:solidFill>
                  <a:latin typeface="微软雅黑" panose="020B0503020204020204" pitchFamily="34" charset="-122"/>
                  <a:ea typeface="微软雅黑" panose="020B0503020204020204" pitchFamily="34" charset="-122"/>
                </a:rPr>
                <a:t>网络接口层（子网层）</a:t>
              </a:r>
            </a:p>
          </p:txBody>
        </p:sp>
      </p:grpSp>
    </p:spTree>
    <p:extLst>
      <p:ext uri="{BB962C8B-B14F-4D97-AF65-F5344CB8AC3E}">
        <p14:creationId xmlns:p14="http://schemas.microsoft.com/office/powerpoint/2010/main" val="22428513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bwMode="auto">
          <a:xfrm>
            <a:off x="1258543" y="2447564"/>
            <a:ext cx="4977496" cy="2082456"/>
            <a:chOff x="1166919" y="2653839"/>
            <a:chExt cx="4977696" cy="2081864"/>
          </a:xfrm>
        </p:grpSpPr>
        <p:sp>
          <p:nvSpPr>
            <p:cNvPr id="5" name="Text Box 37"/>
            <p:cNvSpPr txBox="1">
              <a:spLocks noChangeArrowheads="1"/>
            </p:cNvSpPr>
            <p:nvPr/>
          </p:nvSpPr>
          <p:spPr bwMode="auto">
            <a:xfrm>
              <a:off x="1166919" y="4384938"/>
              <a:ext cx="4977696" cy="350765"/>
            </a:xfrm>
            <a:prstGeom prst="rect">
              <a:avLst/>
            </a:prstGeom>
            <a:solidFill>
              <a:schemeClr val="accent6">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IP over Everything</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协议可以在多种类型的网络上运行</a:t>
              </a:r>
            </a:p>
          </p:txBody>
        </p:sp>
        <p:sp>
          <p:nvSpPr>
            <p:cNvPr id="6" name="AutoShape 2"/>
            <p:cNvSpPr>
              <a:spLocks noChangeArrowheads="1"/>
            </p:cNvSpPr>
            <p:nvPr/>
          </p:nvSpPr>
          <p:spPr bwMode="auto">
            <a:xfrm>
              <a:off x="1283573" y="2653839"/>
              <a:ext cx="4724528" cy="1692581"/>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a:solidFill>
                  <a:srgbClr val="000099"/>
                </a:solidFill>
                <a:ea typeface="黑体" panose="02010609060101010101" pitchFamily="49" charset="-122"/>
              </a:endParaRPr>
            </a:p>
          </p:txBody>
        </p:sp>
      </p:grpSp>
      <p:grpSp>
        <p:nvGrpSpPr>
          <p:cNvPr id="7" name="组合 6"/>
          <p:cNvGrpSpPr/>
          <p:nvPr/>
        </p:nvGrpSpPr>
        <p:grpSpPr bwMode="auto">
          <a:xfrm>
            <a:off x="1258542" y="1155615"/>
            <a:ext cx="4977497" cy="2246823"/>
            <a:chOff x="1093314" y="1740194"/>
            <a:chExt cx="6917709" cy="3122074"/>
          </a:xfrm>
        </p:grpSpPr>
        <p:sp>
          <p:nvSpPr>
            <p:cNvPr id="8" name="AutoShape 3"/>
            <p:cNvSpPr>
              <a:spLocks noChangeArrowheads="1"/>
            </p:cNvSpPr>
            <p:nvPr/>
          </p:nvSpPr>
          <p:spPr bwMode="auto">
            <a:xfrm flipV="1">
              <a:off x="1246437" y="2269258"/>
              <a:ext cx="6566083" cy="2593010"/>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a:solidFill>
                  <a:srgbClr val="000099"/>
                </a:solidFill>
                <a:ea typeface="黑体" panose="02010609060101010101" pitchFamily="49" charset="-122"/>
              </a:endParaRPr>
            </a:p>
          </p:txBody>
        </p:sp>
        <p:sp>
          <p:nvSpPr>
            <p:cNvPr id="9" name="Text Box 37"/>
            <p:cNvSpPr txBox="1">
              <a:spLocks noChangeArrowheads="1"/>
            </p:cNvSpPr>
            <p:nvPr/>
          </p:nvSpPr>
          <p:spPr bwMode="auto">
            <a:xfrm>
              <a:off x="1093314" y="1740194"/>
              <a:ext cx="6917709" cy="487545"/>
            </a:xfrm>
            <a:prstGeom prst="rect">
              <a:avLst/>
            </a:prstGeom>
            <a:solidFill>
              <a:srgbClr val="FFC000"/>
            </a:solidFill>
            <a:ln w="9525">
              <a:solidFill>
                <a:srgbClr val="339933"/>
              </a:solidFill>
              <a:miter lim="800000"/>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Everything over IP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层可以支持多种的运输层协议</a:t>
              </a:r>
            </a:p>
          </p:txBody>
        </p:sp>
      </p:grpSp>
      <p:sp>
        <p:nvSpPr>
          <p:cNvPr id="10" name="Rectangle 5"/>
          <p:cNvSpPr>
            <a:spLocks noChangeArrowheads="1"/>
          </p:cNvSpPr>
          <p:nvPr/>
        </p:nvSpPr>
        <p:spPr bwMode="auto">
          <a:xfrm>
            <a:off x="2087950"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HTTP</a:t>
            </a:r>
          </a:p>
        </p:txBody>
      </p:sp>
      <p:sp>
        <p:nvSpPr>
          <p:cNvPr id="11" name="Rectangle 6"/>
          <p:cNvSpPr>
            <a:spLocks noChangeArrowheads="1"/>
          </p:cNvSpPr>
          <p:nvPr/>
        </p:nvSpPr>
        <p:spPr bwMode="auto">
          <a:xfrm>
            <a:off x="3097600"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SMTP</a:t>
            </a:r>
          </a:p>
        </p:txBody>
      </p:sp>
      <p:sp>
        <p:nvSpPr>
          <p:cNvPr id="12" name="Rectangle 7"/>
          <p:cNvSpPr>
            <a:spLocks noChangeArrowheads="1"/>
          </p:cNvSpPr>
          <p:nvPr/>
        </p:nvSpPr>
        <p:spPr bwMode="auto">
          <a:xfrm>
            <a:off x="3843725"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DNS</a:t>
            </a:r>
          </a:p>
        </p:txBody>
      </p:sp>
      <p:sp>
        <p:nvSpPr>
          <p:cNvPr id="13" name="Rectangle 8"/>
          <p:cNvSpPr>
            <a:spLocks noChangeArrowheads="1"/>
          </p:cNvSpPr>
          <p:nvPr/>
        </p:nvSpPr>
        <p:spPr bwMode="auto">
          <a:xfrm>
            <a:off x="4853375"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RTP</a:t>
            </a:r>
          </a:p>
        </p:txBody>
      </p:sp>
      <p:sp>
        <p:nvSpPr>
          <p:cNvPr id="14" name="Rectangle 9"/>
          <p:cNvSpPr>
            <a:spLocks noChangeArrowheads="1"/>
          </p:cNvSpPr>
          <p:nvPr/>
        </p:nvSpPr>
        <p:spPr bwMode="auto">
          <a:xfrm>
            <a:off x="256578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TCP</a:t>
            </a:r>
          </a:p>
        </p:txBody>
      </p:sp>
      <p:sp>
        <p:nvSpPr>
          <p:cNvPr id="15" name="Rectangle 10"/>
          <p:cNvSpPr>
            <a:spLocks noChangeArrowheads="1"/>
          </p:cNvSpPr>
          <p:nvPr/>
        </p:nvSpPr>
        <p:spPr bwMode="auto">
          <a:xfrm>
            <a:off x="437553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UDP</a:t>
            </a:r>
          </a:p>
        </p:txBody>
      </p:sp>
      <p:sp>
        <p:nvSpPr>
          <p:cNvPr id="16" name="Rectangle 12"/>
          <p:cNvSpPr>
            <a:spLocks noChangeArrowheads="1"/>
          </p:cNvSpPr>
          <p:nvPr/>
        </p:nvSpPr>
        <p:spPr bwMode="auto">
          <a:xfrm>
            <a:off x="20879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a:solidFill>
                <a:srgbClr val="000099"/>
              </a:solidFill>
              <a:ea typeface="黑体" panose="02010609060101010101" pitchFamily="49" charset="-122"/>
            </a:endParaRPr>
          </a:p>
        </p:txBody>
      </p:sp>
      <p:sp>
        <p:nvSpPr>
          <p:cNvPr id="17" name="Rectangle 13"/>
          <p:cNvSpPr>
            <a:spLocks noChangeArrowheads="1"/>
          </p:cNvSpPr>
          <p:nvPr/>
        </p:nvSpPr>
        <p:spPr bwMode="auto">
          <a:xfrm>
            <a:off x="32055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a:solidFill>
                <a:srgbClr val="000099"/>
              </a:solidFill>
              <a:ea typeface="黑体" panose="02010609060101010101" pitchFamily="49" charset="-122"/>
            </a:endParaRPr>
          </a:p>
        </p:txBody>
      </p:sp>
      <p:sp>
        <p:nvSpPr>
          <p:cNvPr id="18" name="Rectangle 14"/>
          <p:cNvSpPr>
            <a:spLocks noChangeArrowheads="1"/>
          </p:cNvSpPr>
          <p:nvPr/>
        </p:nvSpPr>
        <p:spPr bwMode="auto">
          <a:xfrm>
            <a:off x="4535875"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a:solidFill>
                <a:srgbClr val="000099"/>
              </a:solidFill>
              <a:ea typeface="黑体" panose="02010609060101010101" pitchFamily="49" charset="-122"/>
            </a:endParaRPr>
          </a:p>
        </p:txBody>
      </p:sp>
      <p:sp>
        <p:nvSpPr>
          <p:cNvPr id="19" name="Line 15"/>
          <p:cNvSpPr>
            <a:spLocks noChangeShapeType="1"/>
          </p:cNvSpPr>
          <p:nvPr/>
        </p:nvSpPr>
        <p:spPr bwMode="auto">
          <a:xfrm>
            <a:off x="1322775" y="3315125"/>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0" name="Line 16"/>
          <p:cNvSpPr>
            <a:spLocks noChangeShapeType="1"/>
          </p:cNvSpPr>
          <p:nvPr/>
        </p:nvSpPr>
        <p:spPr bwMode="auto">
          <a:xfrm>
            <a:off x="1322775" y="2697588"/>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1" name="Line 17"/>
          <p:cNvSpPr>
            <a:spLocks noChangeShapeType="1"/>
          </p:cNvSpPr>
          <p:nvPr/>
        </p:nvSpPr>
        <p:spPr bwMode="auto">
          <a:xfrm>
            <a:off x="1322775" y="2078463"/>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2" name="Text Box 18"/>
          <p:cNvSpPr txBox="1">
            <a:spLocks noChangeArrowheads="1"/>
          </p:cNvSpPr>
          <p:nvPr/>
        </p:nvSpPr>
        <p:spPr bwMode="auto">
          <a:xfrm>
            <a:off x="947821" y="2816650"/>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a:latin typeface="微软雅黑" panose="020B0503020204020204" pitchFamily="34" charset="-122"/>
                <a:ea typeface="微软雅黑" panose="020B0503020204020204" pitchFamily="34" charset="-122"/>
              </a:rPr>
              <a:t>网际层</a:t>
            </a:r>
          </a:p>
        </p:txBody>
      </p:sp>
      <p:sp>
        <p:nvSpPr>
          <p:cNvPr id="23" name="Text Box 19"/>
          <p:cNvSpPr txBox="1">
            <a:spLocks noChangeArrowheads="1"/>
          </p:cNvSpPr>
          <p:nvPr/>
        </p:nvSpPr>
        <p:spPr bwMode="auto">
          <a:xfrm>
            <a:off x="844634" y="3577062"/>
            <a:ext cx="95408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网络接口层</a:t>
            </a:r>
          </a:p>
        </p:txBody>
      </p:sp>
      <p:sp>
        <p:nvSpPr>
          <p:cNvPr id="24" name="Text Box 20"/>
          <p:cNvSpPr txBox="1">
            <a:spLocks noChangeArrowheads="1"/>
          </p:cNvSpPr>
          <p:nvPr/>
        </p:nvSpPr>
        <p:spPr bwMode="auto">
          <a:xfrm>
            <a:off x="947821" y="2210225"/>
            <a:ext cx="646113"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a:latin typeface="微软雅黑" panose="020B0503020204020204" pitchFamily="34" charset="-122"/>
                <a:ea typeface="微软雅黑" panose="020B0503020204020204" pitchFamily="34" charset="-122"/>
              </a:rPr>
              <a:t>运输层</a:t>
            </a:r>
          </a:p>
        </p:txBody>
      </p:sp>
      <p:sp>
        <p:nvSpPr>
          <p:cNvPr id="25" name="Text Box 21"/>
          <p:cNvSpPr txBox="1">
            <a:spLocks noChangeArrowheads="1"/>
          </p:cNvSpPr>
          <p:nvPr/>
        </p:nvSpPr>
        <p:spPr bwMode="auto">
          <a:xfrm>
            <a:off x="947821" y="1645075"/>
            <a:ext cx="64611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a:latin typeface="微软雅黑" panose="020B0503020204020204" pitchFamily="34" charset="-122"/>
                <a:ea typeface="微软雅黑" panose="020B0503020204020204" pitchFamily="34" charset="-122"/>
              </a:rPr>
              <a:t>应用层</a:t>
            </a:r>
          </a:p>
        </p:txBody>
      </p:sp>
      <p:sp>
        <p:nvSpPr>
          <p:cNvPr id="26" name="Text Box 22"/>
          <p:cNvSpPr txBox="1">
            <a:spLocks noChangeArrowheads="1"/>
          </p:cNvSpPr>
          <p:nvPr/>
        </p:nvSpPr>
        <p:spPr bwMode="auto">
          <a:xfrm>
            <a:off x="2702312" y="1600625"/>
            <a:ext cx="265113" cy="241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a:solidFill>
                  <a:srgbClr val="000099"/>
                </a:solidFill>
                <a:ea typeface="黑体" panose="02010609060101010101" pitchFamily="49" charset="-122"/>
              </a:rPr>
              <a:t>…</a:t>
            </a:r>
          </a:p>
        </p:txBody>
      </p:sp>
      <p:sp>
        <p:nvSpPr>
          <p:cNvPr id="27" name="Text Box 23"/>
          <p:cNvSpPr txBox="1">
            <a:spLocks noChangeArrowheads="1"/>
          </p:cNvSpPr>
          <p:nvPr/>
        </p:nvSpPr>
        <p:spPr bwMode="auto">
          <a:xfrm>
            <a:off x="4462850" y="1600625"/>
            <a:ext cx="265112" cy="241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a:solidFill>
                  <a:srgbClr val="000099"/>
                </a:solidFill>
                <a:ea typeface="黑体" panose="02010609060101010101" pitchFamily="49" charset="-122"/>
              </a:rPr>
              <a:t>…</a:t>
            </a:r>
          </a:p>
        </p:txBody>
      </p:sp>
      <p:sp>
        <p:nvSpPr>
          <p:cNvPr id="28" name="Text Box 24"/>
          <p:cNvSpPr txBox="1">
            <a:spLocks noChangeArrowheads="1"/>
          </p:cNvSpPr>
          <p:nvPr/>
        </p:nvSpPr>
        <p:spPr bwMode="auto">
          <a:xfrm>
            <a:off x="4165987" y="3648500"/>
            <a:ext cx="234950" cy="204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000099"/>
                </a:solidFill>
                <a:ea typeface="黑体" panose="02010609060101010101" pitchFamily="49" charset="-122"/>
              </a:rPr>
              <a:t>…</a:t>
            </a:r>
          </a:p>
        </p:txBody>
      </p:sp>
      <p:sp>
        <p:nvSpPr>
          <p:cNvPr id="29" name="Line 25"/>
          <p:cNvSpPr>
            <a:spLocks noChangeShapeType="1"/>
          </p:cNvSpPr>
          <p:nvPr/>
        </p:nvSpPr>
        <p:spPr bwMode="auto">
          <a:xfrm>
            <a:off x="2345125" y="1905425"/>
            <a:ext cx="333375" cy="3302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0" name="Line 26"/>
          <p:cNvSpPr>
            <a:spLocks noChangeShapeType="1"/>
          </p:cNvSpPr>
          <p:nvPr/>
        </p:nvSpPr>
        <p:spPr bwMode="auto">
          <a:xfrm>
            <a:off x="4097725" y="1916538"/>
            <a:ext cx="384175" cy="2984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1" name="Line 27"/>
          <p:cNvSpPr>
            <a:spLocks noChangeShapeType="1"/>
          </p:cNvSpPr>
          <p:nvPr/>
        </p:nvSpPr>
        <p:spPr bwMode="auto">
          <a:xfrm flipH="1">
            <a:off x="2973775" y="1907013"/>
            <a:ext cx="381000" cy="312737"/>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Line 28"/>
          <p:cNvSpPr>
            <a:spLocks noChangeShapeType="1"/>
          </p:cNvSpPr>
          <p:nvPr/>
        </p:nvSpPr>
        <p:spPr bwMode="auto">
          <a:xfrm flipH="1">
            <a:off x="4747012" y="1907013"/>
            <a:ext cx="373063" cy="3175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3" name="Line 29"/>
          <p:cNvSpPr>
            <a:spLocks noChangeShapeType="1"/>
          </p:cNvSpPr>
          <p:nvPr/>
        </p:nvSpPr>
        <p:spPr bwMode="auto">
          <a:xfrm>
            <a:off x="2829312" y="2476925"/>
            <a:ext cx="750888" cy="4000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4" name="Line 30"/>
          <p:cNvSpPr>
            <a:spLocks noChangeShapeType="1"/>
          </p:cNvSpPr>
          <p:nvPr/>
        </p:nvSpPr>
        <p:spPr bwMode="auto">
          <a:xfrm flipH="1">
            <a:off x="3896112" y="2486450"/>
            <a:ext cx="752475" cy="39052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5" name="Line 31"/>
          <p:cNvSpPr>
            <a:spLocks noChangeShapeType="1"/>
          </p:cNvSpPr>
          <p:nvPr/>
        </p:nvSpPr>
        <p:spPr bwMode="auto">
          <a:xfrm>
            <a:off x="3924687" y="3156375"/>
            <a:ext cx="1063625" cy="50641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6" name="Line 32"/>
          <p:cNvSpPr>
            <a:spLocks noChangeShapeType="1"/>
          </p:cNvSpPr>
          <p:nvPr/>
        </p:nvSpPr>
        <p:spPr bwMode="auto">
          <a:xfrm flipH="1">
            <a:off x="2449900" y="3151613"/>
            <a:ext cx="1074737" cy="51117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7" name="Line 33"/>
          <p:cNvSpPr>
            <a:spLocks noChangeShapeType="1"/>
          </p:cNvSpPr>
          <p:nvPr/>
        </p:nvSpPr>
        <p:spPr bwMode="auto">
          <a:xfrm flipH="1">
            <a:off x="3578612" y="3124625"/>
            <a:ext cx="158750" cy="53816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8" name="Text Box 34"/>
          <p:cNvSpPr txBox="1">
            <a:spLocks noChangeArrowheads="1"/>
          </p:cNvSpPr>
          <p:nvPr/>
        </p:nvSpPr>
        <p:spPr bwMode="auto">
          <a:xfrm>
            <a:off x="2049850"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1</a:t>
            </a:r>
          </a:p>
        </p:txBody>
      </p:sp>
      <p:sp>
        <p:nvSpPr>
          <p:cNvPr id="39" name="Text Box 35"/>
          <p:cNvSpPr txBox="1">
            <a:spLocks noChangeArrowheads="1"/>
          </p:cNvSpPr>
          <p:nvPr/>
        </p:nvSpPr>
        <p:spPr bwMode="auto">
          <a:xfrm>
            <a:off x="317062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2</a:t>
            </a:r>
          </a:p>
        </p:txBody>
      </p:sp>
      <p:sp>
        <p:nvSpPr>
          <p:cNvPr id="40" name="Text Box 36"/>
          <p:cNvSpPr txBox="1">
            <a:spLocks noChangeArrowheads="1"/>
          </p:cNvSpPr>
          <p:nvPr/>
        </p:nvSpPr>
        <p:spPr bwMode="auto">
          <a:xfrm>
            <a:off x="451047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3</a:t>
            </a:r>
          </a:p>
        </p:txBody>
      </p:sp>
      <p:sp>
        <p:nvSpPr>
          <p:cNvPr id="41" name="Rectangle 11"/>
          <p:cNvSpPr>
            <a:spLocks noChangeArrowheads="1"/>
          </p:cNvSpPr>
          <p:nvPr/>
        </p:nvSpPr>
        <p:spPr bwMode="auto">
          <a:xfrm>
            <a:off x="3391287" y="2849988"/>
            <a:ext cx="636588" cy="284162"/>
          </a:xfrm>
          <a:prstGeom prst="rect">
            <a:avLst/>
          </a:prstGeom>
          <a:solidFill>
            <a:srgbClr val="CC00CC"/>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2000" b="1">
                <a:solidFill>
                  <a:schemeClr val="bg1"/>
                </a:solidFill>
                <a:ea typeface="黑体" panose="02010609060101010101" pitchFamily="49" charset="-122"/>
              </a:rPr>
              <a:t>IP</a:t>
            </a:r>
          </a:p>
        </p:txBody>
      </p:sp>
      <p:sp>
        <p:nvSpPr>
          <p:cNvPr id="81" name="矩形 80"/>
          <p:cNvSpPr/>
          <p:nvPr/>
        </p:nvSpPr>
        <p:spPr>
          <a:xfrm>
            <a:off x="6277314" y="2612324"/>
            <a:ext cx="2322985" cy="7571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ct val="120000"/>
              </a:lnSpc>
            </a:pPr>
            <a:r>
              <a:rPr lang="zh-CN" altLang="en-US" b="1" dirty="0">
                <a:latin typeface="微软雅黑" panose="020B0503020204020204" pitchFamily="34" charset="-122"/>
                <a:ea typeface="微软雅黑" panose="020B0503020204020204" pitchFamily="34" charset="-122"/>
              </a:rPr>
              <a:t>设计理念：网络核心部分越简单越好。</a:t>
            </a:r>
          </a:p>
        </p:txBody>
      </p:sp>
      <p:sp>
        <p:nvSpPr>
          <p:cNvPr id="2" name="文本占位符 1"/>
          <p:cNvSpPr>
            <a:spLocks noGrp="1"/>
          </p:cNvSpPr>
          <p:nvPr>
            <p:ph type="body" sz="quarter" idx="10"/>
          </p:nvPr>
        </p:nvSpPr>
        <p:spPr/>
        <p:txBody>
          <a:bodyPr/>
          <a:lstStyle/>
          <a:p>
            <a:r>
              <a:rPr lang="zh-CN" altLang="en-US" dirty="0"/>
              <a:t>沙漏计时器形状的 </a:t>
            </a:r>
            <a:r>
              <a:rPr lang="en-US" altLang="zh-CN" dirty="0"/>
              <a:t>TCP/IP </a:t>
            </a:r>
            <a:r>
              <a:rPr lang="zh-CN" altLang="en-US" dirty="0"/>
              <a:t>协议族</a:t>
            </a:r>
          </a:p>
        </p:txBody>
      </p:sp>
    </p:spTree>
    <p:extLst>
      <p:ext uri="{BB962C8B-B14F-4D97-AF65-F5344CB8AC3E}">
        <p14:creationId xmlns:p14="http://schemas.microsoft.com/office/powerpoint/2010/main" val="21651153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35" presetClass="emph" presetSubtype="0" repeatCount="indefinite"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93124" y="1008414"/>
            <a:ext cx="7801233" cy="33676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 name="组合 33"/>
          <p:cNvGrpSpPr/>
          <p:nvPr/>
        </p:nvGrpSpPr>
        <p:grpSpPr bwMode="auto">
          <a:xfrm>
            <a:off x="1160463" y="1419949"/>
            <a:ext cx="1604962" cy="2439298"/>
            <a:chOff x="961895" y="2010459"/>
            <a:chExt cx="1695715" cy="2836863"/>
          </a:xfrm>
        </p:grpSpPr>
        <p:sp>
          <p:nvSpPr>
            <p:cNvPr id="6" name="Rectangle 14"/>
            <p:cNvSpPr>
              <a:spLocks noChangeArrowheads="1"/>
            </p:cNvSpPr>
            <p:nvPr/>
          </p:nvSpPr>
          <p:spPr bwMode="auto">
            <a:xfrm>
              <a:off x="961895" y="2010459"/>
              <a:ext cx="1695715" cy="2836863"/>
            </a:xfrm>
            <a:prstGeom prst="rect">
              <a:avLst/>
            </a:prstGeom>
            <a:solidFill>
              <a:srgbClr val="0070C0"/>
            </a:solidFill>
            <a:ln w="19050">
              <a:solidFill>
                <a:schemeClr val="tx1"/>
              </a:solidFill>
              <a:miter lim="800000"/>
            </a:ln>
            <a:effectLst/>
          </p:spPr>
          <p:txBody>
            <a:bodyPr wrap="none" anchor="ctr"/>
            <a:lstStyle/>
            <a:p>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7" name="Text Box 15"/>
            <p:cNvSpPr txBox="1">
              <a:spLocks noChangeArrowheads="1"/>
            </p:cNvSpPr>
            <p:nvPr/>
          </p:nvSpPr>
          <p:spPr bwMode="auto">
            <a:xfrm>
              <a:off x="1126950" y="4027207"/>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数据链路层</a:t>
              </a:r>
            </a:p>
          </p:txBody>
        </p:sp>
        <p:sp>
          <p:nvSpPr>
            <p:cNvPr id="8" name="Line 16"/>
            <p:cNvSpPr>
              <a:spLocks noChangeShapeType="1"/>
            </p:cNvSpPr>
            <p:nvPr/>
          </p:nvSpPr>
          <p:spPr bwMode="auto">
            <a:xfrm>
              <a:off x="961895" y="4404408"/>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Line 17"/>
            <p:cNvSpPr>
              <a:spLocks noChangeShapeType="1"/>
            </p:cNvSpPr>
            <p:nvPr/>
          </p:nvSpPr>
          <p:spPr bwMode="auto">
            <a:xfrm>
              <a:off x="961895" y="3961496"/>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Line 18"/>
            <p:cNvSpPr>
              <a:spLocks noChangeShapeType="1"/>
            </p:cNvSpPr>
            <p:nvPr/>
          </p:nvSpPr>
          <p:spPr bwMode="auto">
            <a:xfrm>
              <a:off x="961895" y="35185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Line 19"/>
            <p:cNvSpPr>
              <a:spLocks noChangeShapeType="1"/>
            </p:cNvSpPr>
            <p:nvPr/>
          </p:nvSpPr>
          <p:spPr bwMode="auto">
            <a:xfrm>
              <a:off x="961895" y="30740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Text Box 20"/>
            <p:cNvSpPr txBox="1">
              <a:spLocks noChangeArrowheads="1"/>
            </p:cNvSpPr>
            <p:nvPr/>
          </p:nvSpPr>
          <p:spPr bwMode="auto">
            <a:xfrm>
              <a:off x="1393516" y="447011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物理层</a:t>
              </a:r>
            </a:p>
          </p:txBody>
        </p:sp>
        <p:sp>
          <p:nvSpPr>
            <p:cNvPr id="13" name="Text Box 21"/>
            <p:cNvSpPr txBox="1">
              <a:spLocks noChangeArrowheads="1"/>
            </p:cNvSpPr>
            <p:nvPr/>
          </p:nvSpPr>
          <p:spPr bwMode="auto">
            <a:xfrm>
              <a:off x="1393516" y="315567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运输层</a:t>
              </a:r>
            </a:p>
          </p:txBody>
        </p:sp>
        <p:sp>
          <p:nvSpPr>
            <p:cNvPr id="14" name="Text Box 22"/>
            <p:cNvSpPr txBox="1">
              <a:spLocks noChangeArrowheads="1"/>
            </p:cNvSpPr>
            <p:nvPr/>
          </p:nvSpPr>
          <p:spPr bwMode="auto">
            <a:xfrm>
              <a:off x="1393516" y="3598583"/>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网络层</a:t>
              </a:r>
            </a:p>
          </p:txBody>
        </p:sp>
        <p:sp>
          <p:nvSpPr>
            <p:cNvPr id="15" name="Line 23"/>
            <p:cNvSpPr>
              <a:spLocks noChangeShapeType="1"/>
            </p:cNvSpPr>
            <p:nvPr/>
          </p:nvSpPr>
          <p:spPr bwMode="auto">
            <a:xfrm>
              <a:off x="1795994" y="2847288"/>
              <a:ext cx="0" cy="22679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 name="Text Box 31"/>
            <p:cNvSpPr txBox="1">
              <a:spLocks noChangeArrowheads="1"/>
            </p:cNvSpPr>
            <p:nvPr/>
          </p:nvSpPr>
          <p:spPr bwMode="auto">
            <a:xfrm>
              <a:off x="1411236" y="203452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应用层</a:t>
              </a:r>
            </a:p>
          </p:txBody>
        </p:sp>
      </p:grpSp>
      <p:grpSp>
        <p:nvGrpSpPr>
          <p:cNvPr id="17" name="组合 45"/>
          <p:cNvGrpSpPr/>
          <p:nvPr/>
        </p:nvGrpSpPr>
        <p:grpSpPr bwMode="auto">
          <a:xfrm>
            <a:off x="6234113" y="1419949"/>
            <a:ext cx="1604962" cy="2439298"/>
            <a:chOff x="961895" y="2010459"/>
            <a:chExt cx="1695715" cy="2836863"/>
          </a:xfrm>
          <a:effectLst/>
        </p:grpSpPr>
        <p:sp>
          <p:nvSpPr>
            <p:cNvPr id="18" name="Rectangle 14"/>
            <p:cNvSpPr>
              <a:spLocks noChangeArrowheads="1"/>
            </p:cNvSpPr>
            <p:nvPr/>
          </p:nvSpPr>
          <p:spPr bwMode="auto">
            <a:xfrm>
              <a:off x="961895" y="2010459"/>
              <a:ext cx="1695715" cy="2836863"/>
            </a:xfrm>
            <a:prstGeom prst="rect">
              <a:avLst/>
            </a:prstGeom>
            <a:solidFill>
              <a:srgbClr val="339933"/>
            </a:solidFill>
            <a:ln w="19050">
              <a:solidFill>
                <a:schemeClr val="tx1"/>
              </a:solidFill>
              <a:miter lim="800000"/>
            </a:ln>
            <a:effectLst/>
          </p:spPr>
          <p:txBody>
            <a:bodyPr wrap="none" anchor="ctr"/>
            <a:lstStyle/>
            <a:p>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19" name="Text Box 15"/>
            <p:cNvSpPr txBox="1">
              <a:spLocks noChangeArrowheads="1"/>
            </p:cNvSpPr>
            <p:nvPr/>
          </p:nvSpPr>
          <p:spPr bwMode="auto">
            <a:xfrm>
              <a:off x="1242130" y="4009487"/>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数据链路层</a:t>
              </a:r>
            </a:p>
          </p:txBody>
        </p:sp>
        <p:sp>
          <p:nvSpPr>
            <p:cNvPr id="20" name="Line 16"/>
            <p:cNvSpPr>
              <a:spLocks noChangeShapeType="1"/>
            </p:cNvSpPr>
            <p:nvPr/>
          </p:nvSpPr>
          <p:spPr bwMode="auto">
            <a:xfrm>
              <a:off x="961895" y="4404408"/>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1" name="Line 17"/>
            <p:cNvSpPr>
              <a:spLocks noChangeShapeType="1"/>
            </p:cNvSpPr>
            <p:nvPr/>
          </p:nvSpPr>
          <p:spPr bwMode="auto">
            <a:xfrm>
              <a:off x="961895" y="3961496"/>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Line 18"/>
            <p:cNvSpPr>
              <a:spLocks noChangeShapeType="1"/>
            </p:cNvSpPr>
            <p:nvPr/>
          </p:nvSpPr>
          <p:spPr bwMode="auto">
            <a:xfrm>
              <a:off x="961895" y="35185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Line 19"/>
            <p:cNvSpPr>
              <a:spLocks noChangeShapeType="1"/>
            </p:cNvSpPr>
            <p:nvPr/>
          </p:nvSpPr>
          <p:spPr bwMode="auto">
            <a:xfrm>
              <a:off x="961895" y="30740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Text Box 20"/>
            <p:cNvSpPr txBox="1">
              <a:spLocks noChangeArrowheads="1"/>
            </p:cNvSpPr>
            <p:nvPr/>
          </p:nvSpPr>
          <p:spPr bwMode="auto">
            <a:xfrm>
              <a:off x="1428956" y="445239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物理层</a:t>
              </a:r>
            </a:p>
          </p:txBody>
        </p:sp>
        <p:sp>
          <p:nvSpPr>
            <p:cNvPr id="25" name="Text Box 21"/>
            <p:cNvSpPr txBox="1">
              <a:spLocks noChangeArrowheads="1"/>
            </p:cNvSpPr>
            <p:nvPr/>
          </p:nvSpPr>
          <p:spPr bwMode="auto">
            <a:xfrm>
              <a:off x="1428956" y="313795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运输层</a:t>
              </a:r>
            </a:p>
          </p:txBody>
        </p:sp>
        <p:sp>
          <p:nvSpPr>
            <p:cNvPr id="26" name="Text Box 22"/>
            <p:cNvSpPr txBox="1">
              <a:spLocks noChangeArrowheads="1"/>
            </p:cNvSpPr>
            <p:nvPr/>
          </p:nvSpPr>
          <p:spPr bwMode="auto">
            <a:xfrm>
              <a:off x="1428956" y="3580863"/>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网络层</a:t>
              </a:r>
            </a:p>
          </p:txBody>
        </p:sp>
        <p:sp>
          <p:nvSpPr>
            <p:cNvPr id="27" name="Line 23"/>
            <p:cNvSpPr>
              <a:spLocks noChangeShapeType="1"/>
            </p:cNvSpPr>
            <p:nvPr/>
          </p:nvSpPr>
          <p:spPr bwMode="auto">
            <a:xfrm>
              <a:off x="1795994" y="2847288"/>
              <a:ext cx="0" cy="22679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8" name="Text Box 31"/>
            <p:cNvSpPr txBox="1">
              <a:spLocks noChangeArrowheads="1"/>
            </p:cNvSpPr>
            <p:nvPr/>
          </p:nvSpPr>
          <p:spPr bwMode="auto">
            <a:xfrm>
              <a:off x="1420096" y="202566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应用层</a:t>
              </a:r>
            </a:p>
          </p:txBody>
        </p:sp>
      </p:grpSp>
      <p:sp>
        <p:nvSpPr>
          <p:cNvPr id="29" name="Freeform 3"/>
          <p:cNvSpPr/>
          <p:nvPr/>
        </p:nvSpPr>
        <p:spPr bwMode="auto">
          <a:xfrm>
            <a:off x="1849438" y="3862534"/>
            <a:ext cx="5186362" cy="242521"/>
          </a:xfrm>
          <a:custGeom>
            <a:avLst/>
            <a:gdLst>
              <a:gd name="T0" fmla="*/ 0 w 2752"/>
              <a:gd name="T1" fmla="*/ 0 h 240"/>
              <a:gd name="T2" fmla="*/ 0 w 2752"/>
              <a:gd name="T3" fmla="*/ 121108 h 240"/>
              <a:gd name="T4" fmla="*/ 5654 w 2752"/>
              <a:gd name="T5" fmla="*/ 205356 h 240"/>
              <a:gd name="T6" fmla="*/ 56536 w 2752"/>
              <a:gd name="T7" fmla="*/ 280391 h 240"/>
              <a:gd name="T8" fmla="*/ 180915 w 2752"/>
              <a:gd name="T9" fmla="*/ 308035 h 240"/>
              <a:gd name="T10" fmla="*/ 260065 w 2752"/>
              <a:gd name="T11" fmla="*/ 310667 h 240"/>
              <a:gd name="T12" fmla="*/ 4939357 w 2752"/>
              <a:gd name="T13" fmla="*/ 313300 h 240"/>
              <a:gd name="T14" fmla="*/ 5031699 w 2752"/>
              <a:gd name="T15" fmla="*/ 315933 h 240"/>
              <a:gd name="T16" fmla="*/ 5139118 w 2752"/>
              <a:gd name="T17" fmla="*/ 284340 h 240"/>
              <a:gd name="T18" fmla="*/ 5178693 w 2752"/>
              <a:gd name="T19" fmla="*/ 209306 h 240"/>
              <a:gd name="T20" fmla="*/ 5186231 w 2752"/>
              <a:gd name="T21" fmla="*/ 148752 h 240"/>
              <a:gd name="T22" fmla="*/ 5184346 w 2752"/>
              <a:gd name="T23" fmla="*/ 0 h 2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52" h="240">
                <a:moveTo>
                  <a:pt x="0" y="0"/>
                </a:moveTo>
                <a:lnTo>
                  <a:pt x="0" y="92"/>
                </a:lnTo>
                <a:lnTo>
                  <a:pt x="3" y="156"/>
                </a:lnTo>
                <a:lnTo>
                  <a:pt x="30" y="213"/>
                </a:lnTo>
                <a:lnTo>
                  <a:pt x="96" y="234"/>
                </a:lnTo>
                <a:lnTo>
                  <a:pt x="138" y="236"/>
                </a:lnTo>
                <a:lnTo>
                  <a:pt x="2621" y="238"/>
                </a:lnTo>
                <a:lnTo>
                  <a:pt x="2670" y="240"/>
                </a:lnTo>
                <a:lnTo>
                  <a:pt x="2727" y="216"/>
                </a:lnTo>
                <a:lnTo>
                  <a:pt x="2748" y="159"/>
                </a:lnTo>
                <a:lnTo>
                  <a:pt x="2752" y="113"/>
                </a:lnTo>
                <a:lnTo>
                  <a:pt x="2751" y="0"/>
                </a:lnTo>
              </a:path>
            </a:pathLst>
          </a:custGeom>
          <a:noFill/>
          <a:ln w="38100" cmpd="sng">
            <a:solidFill>
              <a:srgbClr val="0070C0"/>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30" name="Object 4"/>
          <p:cNvGraphicFramePr>
            <a:graphicFrameLocks noChangeAspect="1"/>
          </p:cNvGraphicFramePr>
          <p:nvPr>
            <p:extLst>
              <p:ext uri="{D42A27DB-BD31-4B8C-83A1-F6EECF244321}">
                <p14:modId xmlns:p14="http://schemas.microsoft.com/office/powerpoint/2010/main" val="1744239413"/>
              </p:ext>
            </p:extLst>
          </p:nvPr>
        </p:nvGraphicFramePr>
        <p:xfrm>
          <a:off x="3932238" y="3635796"/>
          <a:ext cx="1417637" cy="71913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32238" y="3635796"/>
                        <a:ext cx="1417637" cy="719138"/>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31" name="Group 25"/>
          <p:cNvGrpSpPr/>
          <p:nvPr/>
        </p:nvGrpSpPr>
        <p:grpSpPr bwMode="auto">
          <a:xfrm>
            <a:off x="2561538" y="1528919"/>
            <a:ext cx="3794397" cy="324374"/>
            <a:chOff x="1438" y="1436"/>
            <a:chExt cx="2712" cy="225"/>
          </a:xfrm>
        </p:grpSpPr>
        <p:sp>
          <p:nvSpPr>
            <p:cNvPr id="32" name="Line 26"/>
            <p:cNvSpPr>
              <a:spLocks noChangeShapeType="1"/>
            </p:cNvSpPr>
            <p:nvPr/>
          </p:nvSpPr>
          <p:spPr bwMode="auto">
            <a:xfrm>
              <a:off x="1438" y="1655"/>
              <a:ext cx="2712" cy="6"/>
            </a:xfrm>
            <a:prstGeom prst="line">
              <a:avLst/>
            </a:prstGeom>
            <a:noFill/>
            <a:ln w="38100">
              <a:solidFill>
                <a:srgbClr val="000099"/>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3" name="Text Box 27"/>
            <p:cNvSpPr txBox="1">
              <a:spLocks noChangeArrowheads="1"/>
            </p:cNvSpPr>
            <p:nvPr/>
          </p:nvSpPr>
          <p:spPr bwMode="auto">
            <a:xfrm>
              <a:off x="2013" y="1436"/>
              <a:ext cx="161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a:solidFill>
                    <a:srgbClr val="0000FF"/>
                  </a:solidFill>
                  <a:latin typeface="微软雅黑" panose="020B0503020204020204" pitchFamily="34" charset="-122"/>
                  <a:ea typeface="微软雅黑" panose="020B0503020204020204" pitchFamily="34" charset="-122"/>
                </a:rPr>
                <a:t>① </a:t>
              </a:r>
              <a:r>
                <a:rPr kumimoji="1" lang="zh-CN" altLang="en-US" sz="1400" b="1">
                  <a:solidFill>
                    <a:srgbClr val="0000FF"/>
                  </a:solidFill>
                  <a:latin typeface="微软雅黑" panose="020B0503020204020204" pitchFamily="34" charset="-122"/>
                  <a:ea typeface="微软雅黑" panose="020B0503020204020204" pitchFamily="34" charset="-122"/>
                </a:rPr>
                <a:t>客户发起连接建立请求</a:t>
              </a:r>
            </a:p>
          </p:txBody>
        </p:sp>
      </p:grpSp>
      <p:grpSp>
        <p:nvGrpSpPr>
          <p:cNvPr id="34" name="Group 28"/>
          <p:cNvGrpSpPr/>
          <p:nvPr/>
        </p:nvGrpSpPr>
        <p:grpSpPr bwMode="auto">
          <a:xfrm>
            <a:off x="2541443" y="2075731"/>
            <a:ext cx="3818984" cy="289775"/>
            <a:chOff x="1521" y="1752"/>
            <a:chExt cx="2755" cy="201"/>
          </a:xfrm>
        </p:grpSpPr>
        <p:sp>
          <p:nvSpPr>
            <p:cNvPr id="35" name="Line 29"/>
            <p:cNvSpPr>
              <a:spLocks noChangeShapeType="1"/>
            </p:cNvSpPr>
            <p:nvPr/>
          </p:nvSpPr>
          <p:spPr bwMode="auto">
            <a:xfrm flipH="1" flipV="1">
              <a:off x="1521" y="1752"/>
              <a:ext cx="2755" cy="9"/>
            </a:xfrm>
            <a:prstGeom prst="line">
              <a:avLst/>
            </a:prstGeom>
            <a:noFill/>
            <a:ln w="38100">
              <a:solidFill>
                <a:srgbClr val="CC00CC"/>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6" name="Text Box 30"/>
            <p:cNvSpPr txBox="1">
              <a:spLocks noChangeArrowheads="1"/>
            </p:cNvSpPr>
            <p:nvPr/>
          </p:nvSpPr>
          <p:spPr bwMode="auto">
            <a:xfrm>
              <a:off x="2017" y="1759"/>
              <a:ext cx="176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② </a:t>
              </a:r>
              <a:r>
                <a:rPr kumimoji="1" lang="zh-CN" altLang="en-US" sz="1400" b="1" dirty="0">
                  <a:solidFill>
                    <a:srgbClr val="0000FF"/>
                  </a:solidFill>
                  <a:latin typeface="微软雅黑" panose="020B0503020204020204" pitchFamily="34" charset="-122"/>
                  <a:ea typeface="微软雅黑" panose="020B0503020204020204" pitchFamily="34" charset="-122"/>
                </a:rPr>
                <a:t>服务器接受连接建立请求</a:t>
              </a:r>
            </a:p>
          </p:txBody>
        </p:sp>
      </p:grpSp>
      <p:sp>
        <p:nvSpPr>
          <p:cNvPr id="37" name="Text Box 33"/>
          <p:cNvSpPr txBox="1">
            <a:spLocks noChangeArrowheads="1"/>
          </p:cNvSpPr>
          <p:nvPr/>
        </p:nvSpPr>
        <p:spPr bwMode="auto">
          <a:xfrm>
            <a:off x="4235450" y="3807632"/>
            <a:ext cx="8001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nvGrpSpPr>
          <p:cNvPr id="38" name="Group 34"/>
          <p:cNvGrpSpPr/>
          <p:nvPr/>
        </p:nvGrpSpPr>
        <p:grpSpPr bwMode="auto">
          <a:xfrm>
            <a:off x="1373188" y="1767433"/>
            <a:ext cx="1146175" cy="379157"/>
            <a:chOff x="835" y="1519"/>
            <a:chExt cx="812" cy="335"/>
          </a:xfrm>
        </p:grpSpPr>
        <p:sp>
          <p:nvSpPr>
            <p:cNvPr id="39" name="Oval 35"/>
            <p:cNvSpPr>
              <a:spLocks noChangeArrowheads="1"/>
            </p:cNvSpPr>
            <p:nvPr/>
          </p:nvSpPr>
          <p:spPr bwMode="auto">
            <a:xfrm>
              <a:off x="835" y="1519"/>
              <a:ext cx="812" cy="335"/>
            </a:xfrm>
            <a:prstGeom prst="ellipse">
              <a:avLst/>
            </a:prstGeom>
            <a:solidFill>
              <a:srgbClr val="00FF99"/>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b="1">
                <a:solidFill>
                  <a:srgbClr val="0000FF"/>
                </a:solidFill>
                <a:latin typeface="微软雅黑" panose="020B0503020204020204" pitchFamily="34" charset="-122"/>
                <a:ea typeface="微软雅黑" panose="020B0503020204020204" pitchFamily="34" charset="-122"/>
              </a:endParaRPr>
            </a:p>
          </p:txBody>
        </p:sp>
        <p:sp>
          <p:nvSpPr>
            <p:cNvPr id="40" name="Text Box 36"/>
            <p:cNvSpPr txBox="1">
              <a:spLocks noChangeArrowheads="1"/>
            </p:cNvSpPr>
            <p:nvPr/>
          </p:nvSpPr>
          <p:spPr bwMode="auto">
            <a:xfrm>
              <a:off x="1031" y="1526"/>
              <a:ext cx="601" cy="326"/>
            </a:xfrm>
            <a:prstGeom prst="rect">
              <a:avLst/>
            </a:prstGeom>
            <a:noFill/>
            <a:ln>
              <a:noFill/>
            </a:ln>
          </p:spPr>
          <p:style>
            <a:lnRef idx="2">
              <a:schemeClr val="accent3"/>
            </a:lnRef>
            <a:fillRef idx="1">
              <a:schemeClr val="lt1"/>
            </a:fillRef>
            <a:effectRef idx="0">
              <a:schemeClr val="accent3"/>
            </a:effectRef>
            <a:fontRef idx="minor">
              <a:schemeClr val="dk1"/>
            </a:fontRef>
          </p:style>
          <p:txBody>
            <a:bodyPr wrap="square">
              <a:spAutoFit/>
            </a:bodyPr>
            <a:lstStyle/>
            <a:p>
              <a:pPr fontAlgn="auto">
                <a:spcBef>
                  <a:spcPts val="0"/>
                </a:spcBef>
                <a:spcAft>
                  <a:spcPts val="0"/>
                </a:spcAft>
                <a:defRPr/>
              </a:pPr>
              <a:r>
                <a:rPr kumimoji="1" lang="zh-CN" altLang="en-US" b="1" dirty="0">
                  <a:solidFill>
                    <a:srgbClr val="0000FF"/>
                  </a:solidFill>
                  <a:latin typeface="微软雅黑" panose="020B0503020204020204" pitchFamily="34" charset="-122"/>
                  <a:ea typeface="微软雅黑" panose="020B0503020204020204" pitchFamily="34" charset="-122"/>
                </a:rPr>
                <a:t>客户</a:t>
              </a:r>
            </a:p>
          </p:txBody>
        </p:sp>
      </p:grpSp>
      <p:grpSp>
        <p:nvGrpSpPr>
          <p:cNvPr id="41" name="Group 37"/>
          <p:cNvGrpSpPr/>
          <p:nvPr/>
        </p:nvGrpSpPr>
        <p:grpSpPr bwMode="auto">
          <a:xfrm>
            <a:off x="6456766" y="1739689"/>
            <a:ext cx="1152261" cy="397900"/>
            <a:chOff x="4142" y="1536"/>
            <a:chExt cx="670" cy="276"/>
          </a:xfrm>
          <a:solidFill>
            <a:srgbClr val="FFFF00"/>
          </a:solidFill>
        </p:grpSpPr>
        <p:sp>
          <p:nvSpPr>
            <p:cNvPr id="42" name="Oval 38"/>
            <p:cNvSpPr>
              <a:spLocks noChangeArrowheads="1"/>
            </p:cNvSpPr>
            <p:nvPr/>
          </p:nvSpPr>
          <p:spPr bwMode="auto">
            <a:xfrm>
              <a:off x="4142" y="1536"/>
              <a:ext cx="670" cy="276"/>
            </a:xfrm>
            <a:prstGeom prst="ellipse">
              <a:avLst/>
            </a:prstGeom>
            <a:grp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b="1">
                <a:solidFill>
                  <a:srgbClr val="0000FF"/>
                </a:solidFill>
                <a:latin typeface="微软雅黑" panose="020B0503020204020204" pitchFamily="34" charset="-122"/>
                <a:ea typeface="微软雅黑" panose="020B0503020204020204" pitchFamily="34" charset="-122"/>
              </a:endParaRPr>
            </a:p>
          </p:txBody>
        </p:sp>
        <p:sp>
          <p:nvSpPr>
            <p:cNvPr id="43" name="Text Box 39"/>
            <p:cNvSpPr txBox="1">
              <a:spLocks noChangeArrowheads="1"/>
            </p:cNvSpPr>
            <p:nvPr/>
          </p:nvSpPr>
          <p:spPr bwMode="auto">
            <a:xfrm>
              <a:off x="4226" y="1536"/>
              <a:ext cx="513" cy="233"/>
            </a:xfrm>
            <a:prstGeom prst="rect">
              <a:avLst/>
            </a:prstGeom>
            <a:noFill/>
            <a:ln>
              <a:noFill/>
            </a:ln>
          </p:spPr>
          <p:style>
            <a:lnRef idx="2">
              <a:schemeClr val="accent4"/>
            </a:lnRef>
            <a:fillRef idx="1">
              <a:schemeClr val="lt1"/>
            </a:fillRef>
            <a:effectRef idx="0">
              <a:schemeClr val="accent4"/>
            </a:effectRef>
            <a:fontRef idx="minor">
              <a:schemeClr val="dk1"/>
            </a:fontRef>
          </p:style>
          <p:txBody>
            <a:bodyPr wrap="none">
              <a:spAutoFit/>
            </a:bodyPr>
            <a:lstStyle/>
            <a:p>
              <a:pPr fontAlgn="auto">
                <a:spcBef>
                  <a:spcPts val="0"/>
                </a:spcBef>
                <a:spcAft>
                  <a:spcPts val="0"/>
                </a:spcAft>
                <a:defRPr/>
              </a:pPr>
              <a:r>
                <a:rPr kumimoji="1" lang="zh-CN" altLang="en-US" b="1" dirty="0">
                  <a:solidFill>
                    <a:srgbClr val="0000FF"/>
                  </a:solidFill>
                  <a:latin typeface="微软雅黑" panose="020B0503020204020204" pitchFamily="34" charset="-122"/>
                  <a:ea typeface="微软雅黑" panose="020B0503020204020204" pitchFamily="34" charset="-122"/>
                </a:rPr>
                <a:t>服务器</a:t>
              </a:r>
            </a:p>
          </p:txBody>
        </p:sp>
      </p:grpSp>
      <p:sp>
        <p:nvSpPr>
          <p:cNvPr id="44" name="Text Box 40"/>
          <p:cNvSpPr txBox="1">
            <a:spLocks noChangeArrowheads="1"/>
          </p:cNvSpPr>
          <p:nvPr/>
        </p:nvSpPr>
        <p:spPr bwMode="auto">
          <a:xfrm>
            <a:off x="2934892" y="2604122"/>
            <a:ext cx="3158952" cy="707886"/>
          </a:xfrm>
          <a:prstGeom prst="rect">
            <a:avLst/>
          </a:prstGeom>
          <a:solidFill>
            <a:srgbClr val="FFFF99"/>
          </a:solidFill>
          <a:ln>
            <a:noFill/>
          </a:ln>
        </p:spPr>
        <p:style>
          <a:lnRef idx="2">
            <a:schemeClr val="accent4"/>
          </a:lnRef>
          <a:fillRef idx="1">
            <a:schemeClr val="lt1"/>
          </a:fillRef>
          <a:effectRef idx="0">
            <a:schemeClr val="accent4"/>
          </a:effectRef>
          <a:fontRef idx="minor">
            <a:schemeClr val="dk1"/>
          </a:fontRef>
        </p:style>
        <p:txBody>
          <a:bodyPr wrap="square">
            <a:spAutoFit/>
          </a:bodyPr>
          <a:lstStyle/>
          <a:p>
            <a:pPr algn="ctr" fontAlgn="auto">
              <a:lnSpc>
                <a:spcPts val="2400"/>
              </a:lnSpc>
              <a:spcBef>
                <a:spcPts val="0"/>
              </a:spcBef>
              <a:spcAft>
                <a:spcPts val="0"/>
              </a:spcAft>
              <a:defRPr/>
            </a:pPr>
            <a:r>
              <a:rPr lang="zh-CN" altLang="en-US" sz="1600" b="1" dirty="0">
                <a:solidFill>
                  <a:schemeClr val="tx1"/>
                </a:solidFill>
                <a:latin typeface="微软雅黑" panose="020B0503020204020204" pitchFamily="34" charset="-122"/>
                <a:ea typeface="微软雅黑" panose="020B0503020204020204" pitchFamily="34" charset="-122"/>
              </a:rPr>
              <a:t>所有这些通信实际上都需要使用下面各层所提供的服务。</a:t>
            </a:r>
          </a:p>
        </p:txBody>
      </p:sp>
      <p:sp>
        <p:nvSpPr>
          <p:cNvPr id="46" name="Text Box 38"/>
          <p:cNvSpPr txBox="1">
            <a:spLocks noChangeArrowheads="1"/>
          </p:cNvSpPr>
          <p:nvPr/>
        </p:nvSpPr>
        <p:spPr bwMode="auto">
          <a:xfrm>
            <a:off x="1491785" y="1110675"/>
            <a:ext cx="101502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计算机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47" name="Text Box 53"/>
          <p:cNvSpPr txBox="1">
            <a:spLocks noChangeArrowheads="1"/>
          </p:cNvSpPr>
          <p:nvPr/>
        </p:nvSpPr>
        <p:spPr bwMode="auto">
          <a:xfrm>
            <a:off x="6585297" y="1120416"/>
            <a:ext cx="100219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计算机 </a:t>
            </a:r>
            <a:r>
              <a:rPr kumimoji="1" lang="en-US" altLang="zh-CN" sz="1600" b="1" dirty="0">
                <a:solidFill>
                  <a:srgbClr val="0000FF"/>
                </a:solidFill>
                <a:latin typeface="微软雅黑" panose="020B0503020204020204" pitchFamily="34" charset="-122"/>
                <a:ea typeface="微软雅黑" panose="020B0503020204020204" pitchFamily="34" charset="-122"/>
              </a:rPr>
              <a:t>B</a:t>
            </a:r>
          </a:p>
        </p:txBody>
      </p:sp>
      <p:sp>
        <p:nvSpPr>
          <p:cNvPr id="2" name="文本占位符 1"/>
          <p:cNvSpPr>
            <a:spLocks noGrp="1"/>
          </p:cNvSpPr>
          <p:nvPr>
            <p:ph type="body" sz="quarter" idx="10"/>
          </p:nvPr>
        </p:nvSpPr>
        <p:spPr/>
        <p:txBody>
          <a:bodyPr/>
          <a:lstStyle/>
          <a:p>
            <a:r>
              <a:rPr lang="zh-CN" altLang="en-US" dirty="0"/>
              <a:t>互联网中客户</a:t>
            </a:r>
            <a:r>
              <a:rPr lang="en-US" altLang="zh-CN" dirty="0"/>
              <a:t>-</a:t>
            </a:r>
            <a:r>
              <a:rPr lang="zh-CN" altLang="en-US" dirty="0"/>
              <a:t>服务器工作方式</a:t>
            </a:r>
          </a:p>
        </p:txBody>
      </p:sp>
    </p:spTree>
    <p:extLst>
      <p:ext uri="{BB962C8B-B14F-4D97-AF65-F5344CB8AC3E}">
        <p14:creationId xmlns:p14="http://schemas.microsoft.com/office/powerpoint/2010/main" val="306503313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500" fill="hold"/>
                                        <p:tgtEl>
                                          <p:spTgt spid="38"/>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8" fill="hold" nodeType="after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wipe(left)">
                                      <p:cBhvr>
                                        <p:cTn id="10" dur="500"/>
                                        <p:tgtEl>
                                          <p:spTgt spid="31"/>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nodeType="clickEffect">
                                  <p:stCondLst>
                                    <p:cond delay="0"/>
                                  </p:stCondLst>
                                  <p:childTnLst>
                                    <p:anim calcmode="discrete" valueType="str">
                                      <p:cBhvr>
                                        <p:cTn id="14" dur="500" fill="hold"/>
                                        <p:tgtEl>
                                          <p:spTgt spid="41"/>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34"/>
                                        </p:tgtEl>
                                        <p:attrNameLst>
                                          <p:attrName>style.visibility</p:attrName>
                                        </p:attrNameLst>
                                      </p:cBhvr>
                                      <p:to>
                                        <p:strVal val="visible"/>
                                      </p:to>
                                    </p:set>
                                    <p:animEffect transition="in" filter="wipe(right)">
                                      <p:cBhvr>
                                        <p:cTn id="18" dur="1000"/>
                                        <p:tgtEl>
                                          <p:spTgt spid="34"/>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圆角矩形 61"/>
          <p:cNvSpPr/>
          <p:nvPr/>
        </p:nvSpPr>
        <p:spPr>
          <a:xfrm>
            <a:off x="593124" y="1008414"/>
            <a:ext cx="7801233" cy="33676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Line 3"/>
          <p:cNvSpPr>
            <a:spLocks noChangeShapeType="1"/>
          </p:cNvSpPr>
          <p:nvPr/>
        </p:nvSpPr>
        <p:spPr bwMode="auto">
          <a:xfrm>
            <a:off x="4537075" y="3490264"/>
            <a:ext cx="0" cy="249620"/>
          </a:xfrm>
          <a:prstGeom prst="line">
            <a:avLst/>
          </a:prstGeom>
          <a:noFill/>
          <a:ln w="3810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Rectangle 4"/>
          <p:cNvSpPr>
            <a:spLocks noChangeArrowheads="1"/>
          </p:cNvSpPr>
          <p:nvPr/>
        </p:nvSpPr>
        <p:spPr bwMode="auto">
          <a:xfrm>
            <a:off x="3365500" y="1423721"/>
            <a:ext cx="2409825" cy="2066925"/>
          </a:xfrm>
          <a:prstGeom prst="rect">
            <a:avLst/>
          </a:prstGeom>
          <a:solidFill>
            <a:srgbClr val="339933"/>
          </a:solid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6" name="Text Box 5"/>
          <p:cNvSpPr txBox="1">
            <a:spLocks noChangeArrowheads="1"/>
          </p:cNvSpPr>
          <p:nvPr/>
        </p:nvSpPr>
        <p:spPr bwMode="auto">
          <a:xfrm>
            <a:off x="4010025" y="2869934"/>
            <a:ext cx="108267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数据链路层</a:t>
            </a:r>
          </a:p>
        </p:txBody>
      </p:sp>
      <p:sp>
        <p:nvSpPr>
          <p:cNvPr id="7" name="Line 6"/>
          <p:cNvSpPr>
            <a:spLocks noChangeShapeType="1"/>
          </p:cNvSpPr>
          <p:nvPr/>
        </p:nvSpPr>
        <p:spPr bwMode="auto">
          <a:xfrm>
            <a:off x="3365500" y="31779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Line 7"/>
          <p:cNvSpPr>
            <a:spLocks noChangeShapeType="1"/>
          </p:cNvSpPr>
          <p:nvPr/>
        </p:nvSpPr>
        <p:spPr bwMode="auto">
          <a:xfrm>
            <a:off x="3365500" y="2863584"/>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Line 8"/>
          <p:cNvSpPr>
            <a:spLocks noChangeShapeType="1"/>
          </p:cNvSpPr>
          <p:nvPr/>
        </p:nvSpPr>
        <p:spPr bwMode="auto">
          <a:xfrm>
            <a:off x="3365500" y="2550846"/>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Line 9"/>
          <p:cNvSpPr>
            <a:spLocks noChangeShapeType="1"/>
          </p:cNvSpPr>
          <p:nvPr/>
        </p:nvSpPr>
        <p:spPr bwMode="auto">
          <a:xfrm>
            <a:off x="3365500" y="22381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Text Box 10"/>
          <p:cNvSpPr txBox="1">
            <a:spLocks noChangeArrowheads="1"/>
          </p:cNvSpPr>
          <p:nvPr/>
        </p:nvSpPr>
        <p:spPr bwMode="auto">
          <a:xfrm>
            <a:off x="4205288" y="3184259"/>
            <a:ext cx="722312" cy="306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物理层</a:t>
            </a:r>
          </a:p>
        </p:txBody>
      </p:sp>
      <p:sp>
        <p:nvSpPr>
          <p:cNvPr id="12" name="Text Box 11"/>
          <p:cNvSpPr txBox="1">
            <a:spLocks noChangeArrowheads="1"/>
          </p:cNvSpPr>
          <p:nvPr/>
        </p:nvSpPr>
        <p:spPr bwMode="auto">
          <a:xfrm>
            <a:off x="4205288" y="2253984"/>
            <a:ext cx="7223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运输层</a:t>
            </a:r>
          </a:p>
        </p:txBody>
      </p:sp>
      <p:sp>
        <p:nvSpPr>
          <p:cNvPr id="13" name="Text Box 12"/>
          <p:cNvSpPr txBox="1">
            <a:spLocks noChangeArrowheads="1"/>
          </p:cNvSpPr>
          <p:nvPr/>
        </p:nvSpPr>
        <p:spPr bwMode="auto">
          <a:xfrm>
            <a:off x="4205288" y="2566721"/>
            <a:ext cx="7223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网络层</a:t>
            </a:r>
          </a:p>
        </p:txBody>
      </p:sp>
      <p:sp>
        <p:nvSpPr>
          <p:cNvPr id="14" name="Text Box 13"/>
          <p:cNvSpPr txBox="1">
            <a:spLocks noChangeArrowheads="1"/>
          </p:cNvSpPr>
          <p:nvPr/>
        </p:nvSpPr>
        <p:spPr bwMode="auto">
          <a:xfrm>
            <a:off x="4179888" y="1418959"/>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应用层</a:t>
            </a:r>
          </a:p>
        </p:txBody>
      </p:sp>
      <p:sp>
        <p:nvSpPr>
          <p:cNvPr id="15" name="Text Box 14"/>
          <p:cNvSpPr txBox="1">
            <a:spLocks noChangeArrowheads="1"/>
          </p:cNvSpPr>
          <p:nvPr/>
        </p:nvSpPr>
        <p:spPr bwMode="auto">
          <a:xfrm>
            <a:off x="4144963" y="1125271"/>
            <a:ext cx="89639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C</a:t>
            </a:r>
          </a:p>
        </p:txBody>
      </p:sp>
      <p:grpSp>
        <p:nvGrpSpPr>
          <p:cNvPr id="16" name="Group 15"/>
          <p:cNvGrpSpPr/>
          <p:nvPr/>
        </p:nvGrpSpPr>
        <p:grpSpPr bwMode="auto">
          <a:xfrm>
            <a:off x="3511550" y="1674546"/>
            <a:ext cx="949325" cy="571500"/>
            <a:chOff x="2100" y="1727"/>
            <a:chExt cx="720" cy="470"/>
          </a:xfrm>
        </p:grpSpPr>
        <p:sp>
          <p:nvSpPr>
            <p:cNvPr id="17" name="Line 16"/>
            <p:cNvSpPr>
              <a:spLocks noChangeShapeType="1"/>
            </p:cNvSpPr>
            <p:nvPr/>
          </p:nvSpPr>
          <p:spPr bwMode="auto">
            <a:xfrm>
              <a:off x="2460" y="2119"/>
              <a:ext cx="1" cy="78"/>
            </a:xfrm>
            <a:prstGeom prst="line">
              <a:avLst/>
            </a:prstGeom>
            <a:noFill/>
            <a:ln w="28575">
              <a:solidFill>
                <a:srgbClr val="3333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8" name="Oval 17"/>
            <p:cNvSpPr>
              <a:spLocks noChangeArrowheads="1"/>
            </p:cNvSpPr>
            <p:nvPr/>
          </p:nvSpPr>
          <p:spPr bwMode="auto">
            <a:xfrm>
              <a:off x="2100" y="1727"/>
              <a:ext cx="720" cy="413"/>
            </a:xfrm>
            <a:prstGeom prst="ellipse">
              <a:avLst/>
            </a:prstGeom>
            <a:solidFill>
              <a:srgbClr val="FFFF00"/>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19" name="Text Box 18"/>
            <p:cNvSpPr txBox="1">
              <a:spLocks noChangeArrowheads="1"/>
            </p:cNvSpPr>
            <p:nvPr/>
          </p:nvSpPr>
          <p:spPr bwMode="auto">
            <a:xfrm>
              <a:off x="2164" y="1756"/>
              <a:ext cx="610" cy="440"/>
            </a:xfrm>
            <a:prstGeom prst="rect">
              <a:avLst/>
            </a:prstGeom>
            <a:noFill/>
            <a:ln>
              <a:noFill/>
            </a:ln>
          </p:spPr>
          <p:style>
            <a:lnRef idx="2">
              <a:schemeClr val="accent4"/>
            </a:lnRef>
            <a:fillRef idx="1">
              <a:schemeClr val="lt1"/>
            </a:fillRef>
            <a:effectRef idx="0">
              <a:schemeClr val="accent4"/>
            </a:effectRef>
            <a:fontRef idx="minor">
              <a:schemeClr val="dk1"/>
            </a:fontRef>
          </p:style>
          <p:txBody>
            <a:bodyPr wrap="none">
              <a:spAutoFit/>
            </a:bodyPr>
            <a:lstStyle/>
            <a:p>
              <a:pPr algn="ctr" fontAlgn="auto">
                <a:lnSpc>
                  <a:spcPct val="90000"/>
                </a:lnSpc>
                <a:spcBef>
                  <a:spcPts val="0"/>
                </a:spcBef>
                <a:spcAft>
                  <a:spcPts val="0"/>
                </a:spcAft>
                <a:defRPr/>
              </a:pPr>
              <a:r>
                <a:rPr kumimoji="1" lang="zh-CN" altLang="en-US" sz="1600" b="1" dirty="0">
                  <a:solidFill>
                    <a:schemeClr val="tx1"/>
                  </a:solidFill>
                  <a:latin typeface="微软雅黑" panose="020B0503020204020204" pitchFamily="34" charset="-122"/>
                  <a:ea typeface="微软雅黑" panose="020B0503020204020204" pitchFamily="34" charset="-122"/>
                </a:rPr>
                <a:t>服务器</a:t>
              </a:r>
            </a:p>
            <a:p>
              <a:pPr algn="ctr" fontAlgn="auto">
                <a:lnSpc>
                  <a:spcPct val="90000"/>
                </a:lnSpc>
                <a:spcBef>
                  <a:spcPts val="0"/>
                </a:spcBef>
                <a:spcAft>
                  <a:spcPts val="0"/>
                </a:spcAft>
                <a:defRPr/>
              </a:pPr>
              <a:r>
                <a:rPr kumimoji="1" lang="en-US" altLang="zh-CN" sz="1600" b="1" dirty="0">
                  <a:solidFill>
                    <a:schemeClr val="tx1"/>
                  </a:solidFill>
                  <a:latin typeface="微软雅黑" panose="020B0503020204020204" pitchFamily="34" charset="-122"/>
                  <a:ea typeface="微软雅黑" panose="020B0503020204020204" pitchFamily="34" charset="-122"/>
                </a:rPr>
                <a:t>1</a:t>
              </a:r>
            </a:p>
          </p:txBody>
        </p:sp>
      </p:grpSp>
      <p:grpSp>
        <p:nvGrpSpPr>
          <p:cNvPr id="20" name="Group 19"/>
          <p:cNvGrpSpPr/>
          <p:nvPr/>
        </p:nvGrpSpPr>
        <p:grpSpPr bwMode="auto">
          <a:xfrm>
            <a:off x="4679950" y="1693596"/>
            <a:ext cx="949325" cy="566738"/>
            <a:chOff x="2986" y="1727"/>
            <a:chExt cx="719" cy="465"/>
          </a:xfrm>
        </p:grpSpPr>
        <p:sp>
          <p:nvSpPr>
            <p:cNvPr id="21" name="Line 20"/>
            <p:cNvSpPr>
              <a:spLocks noChangeShapeType="1"/>
            </p:cNvSpPr>
            <p:nvPr/>
          </p:nvSpPr>
          <p:spPr bwMode="auto">
            <a:xfrm>
              <a:off x="3344" y="2113"/>
              <a:ext cx="1" cy="77"/>
            </a:xfrm>
            <a:prstGeom prst="line">
              <a:avLst/>
            </a:prstGeom>
            <a:noFill/>
            <a:ln w="28575">
              <a:solidFill>
                <a:srgbClr val="3333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Oval 21"/>
            <p:cNvSpPr>
              <a:spLocks noChangeArrowheads="1"/>
            </p:cNvSpPr>
            <p:nvPr/>
          </p:nvSpPr>
          <p:spPr bwMode="auto">
            <a:xfrm>
              <a:off x="2986" y="1727"/>
              <a:ext cx="719" cy="412"/>
            </a:xfrm>
            <a:prstGeom prst="ellipse">
              <a:avLst/>
            </a:prstGeom>
            <a:solidFill>
              <a:srgbClr val="FFFF00"/>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23" name="Text Box 22"/>
            <p:cNvSpPr txBox="1">
              <a:spLocks noChangeArrowheads="1"/>
            </p:cNvSpPr>
            <p:nvPr/>
          </p:nvSpPr>
          <p:spPr bwMode="auto">
            <a:xfrm>
              <a:off x="3049" y="1752"/>
              <a:ext cx="611" cy="440"/>
            </a:xfrm>
            <a:prstGeom prst="rect">
              <a:avLst/>
            </a:prstGeom>
            <a:noFill/>
            <a:ln>
              <a:noFill/>
            </a:ln>
          </p:spPr>
          <p:style>
            <a:lnRef idx="2">
              <a:schemeClr val="accent4"/>
            </a:lnRef>
            <a:fillRef idx="1">
              <a:schemeClr val="lt1"/>
            </a:fillRef>
            <a:effectRef idx="0">
              <a:schemeClr val="accent4"/>
            </a:effectRef>
            <a:fontRef idx="minor">
              <a:schemeClr val="dk1"/>
            </a:fontRef>
          </p:style>
          <p:txBody>
            <a:bodyPr wrap="none">
              <a:spAutoFit/>
            </a:bodyPr>
            <a:lstStyle/>
            <a:p>
              <a:pPr algn="ctr" fontAlgn="auto">
                <a:lnSpc>
                  <a:spcPct val="90000"/>
                </a:lnSpc>
                <a:spcBef>
                  <a:spcPts val="0"/>
                </a:spcBef>
                <a:spcAft>
                  <a:spcPts val="0"/>
                </a:spcAft>
                <a:defRPr/>
              </a:pPr>
              <a:r>
                <a:rPr kumimoji="1" lang="zh-CN" altLang="en-US" sz="1600" b="1" dirty="0">
                  <a:solidFill>
                    <a:schemeClr val="tx1"/>
                  </a:solidFill>
                  <a:latin typeface="微软雅黑" panose="020B0503020204020204" pitchFamily="34" charset="-122"/>
                  <a:ea typeface="微软雅黑" panose="020B0503020204020204" pitchFamily="34" charset="-122"/>
                </a:rPr>
                <a:t>服务器</a:t>
              </a:r>
            </a:p>
            <a:p>
              <a:pPr algn="ctr" fontAlgn="auto">
                <a:lnSpc>
                  <a:spcPct val="90000"/>
                </a:lnSpc>
                <a:spcBef>
                  <a:spcPts val="0"/>
                </a:spcBef>
                <a:spcAft>
                  <a:spcPts val="0"/>
                </a:spcAft>
                <a:defRPr/>
              </a:pPr>
              <a:r>
                <a:rPr kumimoji="1" lang="en-US" altLang="zh-CN" sz="1600" b="1" dirty="0">
                  <a:solidFill>
                    <a:schemeClr val="tx1"/>
                  </a:solidFill>
                  <a:latin typeface="微软雅黑" panose="020B0503020204020204" pitchFamily="34" charset="-122"/>
                  <a:ea typeface="微软雅黑" panose="020B0503020204020204" pitchFamily="34" charset="-122"/>
                </a:rPr>
                <a:t>2</a:t>
              </a:r>
            </a:p>
          </p:txBody>
        </p:sp>
      </p:grpSp>
      <p:grpSp>
        <p:nvGrpSpPr>
          <p:cNvPr id="24" name="组合 23"/>
          <p:cNvGrpSpPr/>
          <p:nvPr/>
        </p:nvGrpSpPr>
        <p:grpSpPr bwMode="auto">
          <a:xfrm>
            <a:off x="1249363" y="1126859"/>
            <a:ext cx="6569075" cy="2863850"/>
            <a:chOff x="1248628" y="2159392"/>
            <a:chExt cx="6570396" cy="2864425"/>
          </a:xfrm>
        </p:grpSpPr>
        <p:sp>
          <p:nvSpPr>
            <p:cNvPr id="25" name="Freeform 24"/>
            <p:cNvSpPr/>
            <p:nvPr/>
          </p:nvSpPr>
          <p:spPr bwMode="auto">
            <a:xfrm>
              <a:off x="1856851" y="4523273"/>
              <a:ext cx="5364504" cy="5005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38100" cmpd="sng">
              <a:solidFill>
                <a:srgbClr val="368AD6"/>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26" name="Group 25"/>
            <p:cNvGrpSpPr/>
            <p:nvPr/>
          </p:nvGrpSpPr>
          <p:grpSpPr bwMode="auto">
            <a:xfrm>
              <a:off x="1248628" y="2159392"/>
              <a:ext cx="1241515" cy="2365100"/>
              <a:chOff x="385" y="1278"/>
              <a:chExt cx="941" cy="1942"/>
            </a:xfrm>
          </p:grpSpPr>
          <p:sp>
            <p:nvSpPr>
              <p:cNvPr id="42" name="Rectangle 26"/>
              <p:cNvSpPr>
                <a:spLocks noChangeArrowheads="1"/>
              </p:cNvSpPr>
              <p:nvPr/>
            </p:nvSpPr>
            <p:spPr bwMode="auto">
              <a:xfrm>
                <a:off x="385" y="1522"/>
                <a:ext cx="941" cy="1697"/>
              </a:xfrm>
              <a:prstGeom prst="rect">
                <a:avLst/>
              </a:prstGeom>
              <a:solidFill>
                <a:srgbClr val="0070C0"/>
              </a:solid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43" name="Text Box 27"/>
              <p:cNvSpPr txBox="1">
                <a:spLocks noChangeArrowheads="1"/>
              </p:cNvSpPr>
              <p:nvPr/>
            </p:nvSpPr>
            <p:spPr bwMode="auto">
              <a:xfrm>
                <a:off x="431" y="2710"/>
                <a:ext cx="820"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数据链路层</a:t>
                </a:r>
              </a:p>
            </p:txBody>
          </p:sp>
          <p:sp>
            <p:nvSpPr>
              <p:cNvPr id="44" name="Line 28"/>
              <p:cNvSpPr>
                <a:spLocks noChangeShapeType="1"/>
              </p:cNvSpPr>
              <p:nvPr/>
            </p:nvSpPr>
            <p:spPr bwMode="auto">
              <a:xfrm>
                <a:off x="385" y="2962"/>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5" name="Line 29"/>
              <p:cNvSpPr>
                <a:spLocks noChangeShapeType="1"/>
              </p:cNvSpPr>
              <p:nvPr/>
            </p:nvSpPr>
            <p:spPr bwMode="auto">
              <a:xfrm>
                <a:off x="385" y="2704"/>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6" name="Line 30"/>
              <p:cNvSpPr>
                <a:spLocks noChangeShapeType="1"/>
              </p:cNvSpPr>
              <p:nvPr/>
            </p:nvSpPr>
            <p:spPr bwMode="auto">
              <a:xfrm>
                <a:off x="385" y="2447"/>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 name="Line 31"/>
              <p:cNvSpPr>
                <a:spLocks noChangeShapeType="1"/>
              </p:cNvSpPr>
              <p:nvPr/>
            </p:nvSpPr>
            <p:spPr bwMode="auto">
              <a:xfrm>
                <a:off x="385" y="2190"/>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Text Box 32"/>
              <p:cNvSpPr txBox="1">
                <a:spLocks noChangeArrowheads="1"/>
              </p:cNvSpPr>
              <p:nvPr/>
            </p:nvSpPr>
            <p:spPr bwMode="auto">
              <a:xfrm>
                <a:off x="578" y="2967"/>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物理层</a:t>
                </a:r>
              </a:p>
            </p:txBody>
          </p:sp>
          <p:sp>
            <p:nvSpPr>
              <p:cNvPr id="49" name="Text Box 33"/>
              <p:cNvSpPr txBox="1">
                <a:spLocks noChangeArrowheads="1"/>
              </p:cNvSpPr>
              <p:nvPr/>
            </p:nvSpPr>
            <p:spPr bwMode="auto">
              <a:xfrm>
                <a:off x="578" y="2204"/>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运输层</a:t>
                </a:r>
              </a:p>
            </p:txBody>
          </p:sp>
          <p:sp>
            <p:nvSpPr>
              <p:cNvPr id="50" name="Text Box 34"/>
              <p:cNvSpPr txBox="1">
                <a:spLocks noChangeArrowheads="1"/>
              </p:cNvSpPr>
              <p:nvPr/>
            </p:nvSpPr>
            <p:spPr bwMode="auto">
              <a:xfrm>
                <a:off x="578" y="2461"/>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网络层</a:t>
                </a:r>
              </a:p>
            </p:txBody>
          </p:sp>
          <p:sp>
            <p:nvSpPr>
              <p:cNvPr id="51" name="Line 35"/>
              <p:cNvSpPr>
                <a:spLocks noChangeShapeType="1"/>
              </p:cNvSpPr>
              <p:nvPr/>
            </p:nvSpPr>
            <p:spPr bwMode="auto">
              <a:xfrm>
                <a:off x="845" y="2036"/>
                <a:ext cx="2" cy="15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Oval 36"/>
              <p:cNvSpPr>
                <a:spLocks noChangeArrowheads="1"/>
              </p:cNvSpPr>
              <p:nvPr/>
            </p:nvSpPr>
            <p:spPr bwMode="auto">
              <a:xfrm>
                <a:off x="468" y="1779"/>
                <a:ext cx="775" cy="309"/>
              </a:xfrm>
              <a:prstGeom prst="ellipse">
                <a:avLst/>
              </a:prstGeom>
              <a:solidFill>
                <a:srgbClr val="00FF99"/>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53" name="Text Box 37"/>
              <p:cNvSpPr txBox="1">
                <a:spLocks noChangeArrowheads="1"/>
              </p:cNvSpPr>
              <p:nvPr/>
            </p:nvSpPr>
            <p:spPr bwMode="auto">
              <a:xfrm>
                <a:off x="583" y="1527"/>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应用层</a:t>
                </a:r>
              </a:p>
            </p:txBody>
          </p:sp>
          <p:sp>
            <p:nvSpPr>
              <p:cNvPr id="54" name="Text Box 38"/>
              <p:cNvSpPr txBox="1">
                <a:spLocks noChangeArrowheads="1"/>
              </p:cNvSpPr>
              <p:nvPr/>
            </p:nvSpPr>
            <p:spPr bwMode="auto">
              <a:xfrm>
                <a:off x="537" y="1278"/>
                <a:ext cx="690"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55" name="Text Box 39"/>
              <p:cNvSpPr txBox="1">
                <a:spLocks noChangeArrowheads="1"/>
              </p:cNvSpPr>
              <p:nvPr/>
            </p:nvSpPr>
            <p:spPr bwMode="auto">
              <a:xfrm>
                <a:off x="585" y="1803"/>
                <a:ext cx="593" cy="2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rgbClr val="0000FF"/>
                    </a:solidFill>
                    <a:latin typeface="微软雅黑" panose="020B0503020204020204" pitchFamily="34" charset="-122"/>
                    <a:ea typeface="微软雅黑" panose="020B0503020204020204" pitchFamily="34" charset="-122"/>
                  </a:rPr>
                  <a:t>客户 </a:t>
                </a:r>
                <a:r>
                  <a:rPr kumimoji="1" lang="en-US" altLang="zh-CN" sz="1600" b="1">
                    <a:solidFill>
                      <a:srgbClr val="0000FF"/>
                    </a:solidFill>
                    <a:latin typeface="微软雅黑" panose="020B0503020204020204" pitchFamily="34" charset="-122"/>
                    <a:ea typeface="微软雅黑" panose="020B0503020204020204" pitchFamily="34" charset="-122"/>
                  </a:rPr>
                  <a:t>1</a:t>
                </a:r>
              </a:p>
            </p:txBody>
          </p:sp>
        </p:grpSp>
        <p:grpSp>
          <p:nvGrpSpPr>
            <p:cNvPr id="27" name="Group 40"/>
            <p:cNvGrpSpPr/>
            <p:nvPr/>
          </p:nvGrpSpPr>
          <p:grpSpPr bwMode="auto">
            <a:xfrm>
              <a:off x="6577509" y="2169135"/>
              <a:ext cx="1241515" cy="2355357"/>
              <a:chOff x="4424" y="1286"/>
              <a:chExt cx="941" cy="1934"/>
            </a:xfrm>
          </p:grpSpPr>
          <p:sp>
            <p:nvSpPr>
              <p:cNvPr id="28" name="Rectangle 41"/>
              <p:cNvSpPr>
                <a:spLocks noChangeArrowheads="1"/>
              </p:cNvSpPr>
              <p:nvPr/>
            </p:nvSpPr>
            <p:spPr bwMode="auto">
              <a:xfrm>
                <a:off x="4424" y="1522"/>
                <a:ext cx="941" cy="1697"/>
              </a:xfrm>
              <a:prstGeom prst="rect">
                <a:avLst/>
              </a:prstGeom>
              <a:solidFill>
                <a:srgbClr val="0070C0"/>
              </a:solid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29" name="Text Box 42"/>
              <p:cNvSpPr txBox="1">
                <a:spLocks noChangeArrowheads="1"/>
              </p:cNvSpPr>
              <p:nvPr/>
            </p:nvSpPr>
            <p:spPr bwMode="auto">
              <a:xfrm>
                <a:off x="4494" y="2710"/>
                <a:ext cx="820"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数据链路层</a:t>
                </a:r>
              </a:p>
            </p:txBody>
          </p:sp>
          <p:sp>
            <p:nvSpPr>
              <p:cNvPr id="30" name="Line 43"/>
              <p:cNvSpPr>
                <a:spLocks noChangeShapeType="1"/>
              </p:cNvSpPr>
              <p:nvPr/>
            </p:nvSpPr>
            <p:spPr bwMode="auto">
              <a:xfrm>
                <a:off x="4424" y="2962"/>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1" name="Line 44"/>
              <p:cNvSpPr>
                <a:spLocks noChangeShapeType="1"/>
              </p:cNvSpPr>
              <p:nvPr/>
            </p:nvSpPr>
            <p:spPr bwMode="auto">
              <a:xfrm>
                <a:off x="4424" y="2704"/>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2" name="Line 45"/>
              <p:cNvSpPr>
                <a:spLocks noChangeShapeType="1"/>
              </p:cNvSpPr>
              <p:nvPr/>
            </p:nvSpPr>
            <p:spPr bwMode="auto">
              <a:xfrm>
                <a:off x="4424" y="2447"/>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3" name="Line 46"/>
              <p:cNvSpPr>
                <a:spLocks noChangeShapeType="1"/>
              </p:cNvSpPr>
              <p:nvPr/>
            </p:nvSpPr>
            <p:spPr bwMode="auto">
              <a:xfrm>
                <a:off x="4424" y="2190"/>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4" name="Text Box 47"/>
              <p:cNvSpPr txBox="1">
                <a:spLocks noChangeArrowheads="1"/>
              </p:cNvSpPr>
              <p:nvPr/>
            </p:nvSpPr>
            <p:spPr bwMode="auto">
              <a:xfrm>
                <a:off x="4642" y="2967"/>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物理层</a:t>
                </a:r>
              </a:p>
            </p:txBody>
          </p:sp>
          <p:sp>
            <p:nvSpPr>
              <p:cNvPr id="35" name="Text Box 48"/>
              <p:cNvSpPr txBox="1">
                <a:spLocks noChangeArrowheads="1"/>
              </p:cNvSpPr>
              <p:nvPr/>
            </p:nvSpPr>
            <p:spPr bwMode="auto">
              <a:xfrm>
                <a:off x="4642" y="2204"/>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运输层</a:t>
                </a:r>
              </a:p>
            </p:txBody>
          </p:sp>
          <p:sp>
            <p:nvSpPr>
              <p:cNvPr id="36" name="Text Box 49"/>
              <p:cNvSpPr txBox="1">
                <a:spLocks noChangeArrowheads="1"/>
              </p:cNvSpPr>
              <p:nvPr/>
            </p:nvSpPr>
            <p:spPr bwMode="auto">
              <a:xfrm>
                <a:off x="4642" y="2461"/>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网络层</a:t>
                </a:r>
              </a:p>
            </p:txBody>
          </p:sp>
          <p:sp>
            <p:nvSpPr>
              <p:cNvPr id="37" name="Line 50"/>
              <p:cNvSpPr>
                <a:spLocks noChangeShapeType="1"/>
              </p:cNvSpPr>
              <p:nvPr/>
            </p:nvSpPr>
            <p:spPr bwMode="auto">
              <a:xfrm>
                <a:off x="4911" y="2065"/>
                <a:ext cx="2" cy="12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Oval 51"/>
              <p:cNvSpPr>
                <a:spLocks noChangeArrowheads="1"/>
              </p:cNvSpPr>
              <p:nvPr/>
            </p:nvSpPr>
            <p:spPr bwMode="auto">
              <a:xfrm>
                <a:off x="4507" y="1779"/>
                <a:ext cx="775" cy="309"/>
              </a:xfrm>
              <a:prstGeom prst="ellipse">
                <a:avLst/>
              </a:prstGeom>
              <a:solidFill>
                <a:srgbClr val="ABEBD7"/>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39" name="Text Box 52"/>
              <p:cNvSpPr txBox="1">
                <a:spLocks noChangeArrowheads="1"/>
              </p:cNvSpPr>
              <p:nvPr/>
            </p:nvSpPr>
            <p:spPr bwMode="auto">
              <a:xfrm>
                <a:off x="4637" y="1535"/>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应用层</a:t>
                </a:r>
              </a:p>
            </p:txBody>
          </p:sp>
          <p:sp>
            <p:nvSpPr>
              <p:cNvPr id="40" name="Text Box 53"/>
              <p:cNvSpPr txBox="1">
                <a:spLocks noChangeArrowheads="1"/>
              </p:cNvSpPr>
              <p:nvPr/>
            </p:nvSpPr>
            <p:spPr bwMode="auto">
              <a:xfrm>
                <a:off x="4567" y="1286"/>
                <a:ext cx="682"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sp>
            <p:nvSpPr>
              <p:cNvPr id="41" name="Text Box 54"/>
              <p:cNvSpPr txBox="1">
                <a:spLocks noChangeArrowheads="1"/>
              </p:cNvSpPr>
              <p:nvPr/>
            </p:nvSpPr>
            <p:spPr bwMode="auto">
              <a:xfrm>
                <a:off x="4625" y="1789"/>
                <a:ext cx="593" cy="278"/>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fontAlgn="auto">
                  <a:spcBef>
                    <a:spcPts val="0"/>
                  </a:spcBef>
                  <a:spcAft>
                    <a:spcPts val="0"/>
                  </a:spcAft>
                  <a:defRPr/>
                </a:pPr>
                <a:r>
                  <a:rPr kumimoji="1" lang="zh-CN" altLang="en-US" sz="1600" b="1" dirty="0">
                    <a:solidFill>
                      <a:srgbClr val="0000FF"/>
                    </a:solidFill>
                    <a:latin typeface="微软雅黑" panose="020B0503020204020204" pitchFamily="34" charset="-122"/>
                    <a:ea typeface="微软雅黑" panose="020B0503020204020204" pitchFamily="34" charset="-122"/>
                  </a:rPr>
                  <a:t>客户 </a:t>
                </a:r>
                <a:r>
                  <a:rPr kumimoji="1" lang="en-US" altLang="zh-CN" sz="1600" b="1" dirty="0">
                    <a:solidFill>
                      <a:srgbClr val="0000FF"/>
                    </a:solidFill>
                    <a:latin typeface="微软雅黑" panose="020B0503020204020204" pitchFamily="34" charset="-122"/>
                    <a:ea typeface="微软雅黑" panose="020B0503020204020204" pitchFamily="34" charset="-122"/>
                  </a:rPr>
                  <a:t>2</a:t>
                </a:r>
              </a:p>
            </p:txBody>
          </p:sp>
        </p:grpSp>
      </p:grpSp>
      <p:grpSp>
        <p:nvGrpSpPr>
          <p:cNvPr id="56" name="Group 55"/>
          <p:cNvGrpSpPr/>
          <p:nvPr/>
        </p:nvGrpSpPr>
        <p:grpSpPr bwMode="auto">
          <a:xfrm>
            <a:off x="3857625" y="3606534"/>
            <a:ext cx="1316038" cy="666750"/>
            <a:chOff x="2245" y="3313"/>
            <a:chExt cx="1286" cy="707"/>
          </a:xfrm>
        </p:grpSpPr>
        <p:graphicFrame>
          <p:nvGraphicFramePr>
            <p:cNvPr id="57" name="Object 56"/>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8" name="Text Box 57"/>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grpSp>
        <p:nvGrpSpPr>
          <p:cNvPr id="59" name="Group 58"/>
          <p:cNvGrpSpPr/>
          <p:nvPr/>
        </p:nvGrpSpPr>
        <p:grpSpPr bwMode="auto">
          <a:xfrm>
            <a:off x="2416175" y="1961884"/>
            <a:ext cx="4308475" cy="0"/>
            <a:chOff x="1270" y="1933"/>
            <a:chExt cx="3265" cy="0"/>
          </a:xfrm>
        </p:grpSpPr>
        <p:sp>
          <p:nvSpPr>
            <p:cNvPr id="60" name="Line 59"/>
            <p:cNvSpPr>
              <a:spLocks noChangeShapeType="1"/>
            </p:cNvSpPr>
            <p:nvPr/>
          </p:nvSpPr>
          <p:spPr bwMode="auto">
            <a:xfrm>
              <a:off x="3705"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 name="Line 60"/>
            <p:cNvSpPr>
              <a:spLocks noChangeShapeType="1"/>
            </p:cNvSpPr>
            <p:nvPr/>
          </p:nvSpPr>
          <p:spPr bwMode="auto">
            <a:xfrm>
              <a:off x="1270"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3" name="文本占位符 2"/>
          <p:cNvSpPr>
            <a:spLocks noGrp="1"/>
          </p:cNvSpPr>
          <p:nvPr>
            <p:ph type="body" sz="quarter" idx="10"/>
          </p:nvPr>
        </p:nvSpPr>
        <p:spPr/>
        <p:txBody>
          <a:bodyPr/>
          <a:lstStyle/>
          <a:p>
            <a:r>
              <a:rPr lang="zh-CN" altLang="en-US" dirty="0">
                <a:solidFill>
                  <a:srgbClr val="FFFF00"/>
                </a:solidFill>
              </a:rPr>
              <a:t>同时运行</a:t>
            </a:r>
            <a:r>
              <a:rPr lang="zh-CN" altLang="en-US" dirty="0"/>
              <a:t>多个服务器进程同时为多个客户进程提供服务</a:t>
            </a:r>
          </a:p>
        </p:txBody>
      </p:sp>
    </p:spTree>
    <p:extLst>
      <p:ext uri="{BB962C8B-B14F-4D97-AF65-F5344CB8AC3E}">
        <p14:creationId xmlns:p14="http://schemas.microsoft.com/office/powerpoint/2010/main" val="10878934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500" fill="hold"/>
                                        <p:tgtEl>
                                          <p:spTgt spid="16"/>
                                        </p:tgtEl>
                                        <p:attrNameLst>
                                          <p:attrName>style.visibility</p:attrName>
                                        </p:attrNameLst>
                                      </p:cBhvr>
                                      <p:tavLst>
                                        <p:tav tm="0">
                                          <p:val>
                                            <p:strVal val="hidden"/>
                                          </p:val>
                                        </p:tav>
                                        <p:tav tm="50000">
                                          <p:val>
                                            <p:strVal val="visible"/>
                                          </p:val>
                                        </p:tav>
                                      </p:tavLst>
                                    </p:anim>
                                  </p:childTnLst>
                                </p:cTn>
                              </p:par>
                            </p:childTnLst>
                          </p:cTn>
                        </p:par>
                        <p:par>
                          <p:cTn id="10" fill="hold">
                            <p:stCondLst>
                              <p:cond delay="1500"/>
                            </p:stCondLst>
                            <p:childTnLst>
                              <p:par>
                                <p:cTn id="11" presetID="1" presetClass="entr" presetSubtype="0" fill="hold" nodeType="after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par>
                          <p:cTn id="13" fill="hold">
                            <p:stCondLst>
                              <p:cond delay="1500"/>
                            </p:stCondLst>
                            <p:childTnLst>
                              <p:par>
                                <p:cTn id="14" presetID="35" presetClass="emph" presetSubtype="0" repeatCount="3000" fill="hold" nodeType="afterEffect">
                                  <p:stCondLst>
                                    <p:cond delay="0"/>
                                  </p:stCondLst>
                                  <p:childTnLst>
                                    <p:anim calcmode="discrete" valueType="str">
                                      <p:cBhvr>
                                        <p:cTn id="15" dur="500" fill="hold"/>
                                        <p:tgtEl>
                                          <p:spTgt spid="20"/>
                                        </p:tgtEl>
                                        <p:attrNameLst>
                                          <p:attrName>style.visibility</p:attrName>
                                        </p:attrNameLst>
                                      </p:cBhvr>
                                      <p:tavLst>
                                        <p:tav tm="0">
                                          <p:val>
                                            <p:strVal val="hidden"/>
                                          </p:val>
                                        </p:tav>
                                        <p:tav tm="50000">
                                          <p:val>
                                            <p:strVal val="visible"/>
                                          </p:val>
                                        </p:tav>
                                      </p:tavLst>
                                    </p:anim>
                                  </p:childTnLst>
                                </p:cTn>
                              </p:par>
                            </p:childTnLst>
                          </p:cTn>
                        </p:par>
                        <p:par>
                          <p:cTn id="16" fill="hold">
                            <p:stCondLst>
                              <p:cond delay="3000"/>
                            </p:stCondLst>
                            <p:childTnLst>
                              <p:par>
                                <p:cTn id="17" presetID="1" presetClass="entr" presetSubtype="0" fill="hold" nodeType="afterEffect">
                                  <p:stCondLst>
                                    <p:cond delay="500"/>
                                  </p:stCondLst>
                                  <p:childTnLst>
                                    <p:set>
                                      <p:cBhvr>
                                        <p:cTn id="18" dur="1" fill="hold">
                                          <p:stCondLst>
                                            <p:cond delay="0"/>
                                          </p:stCondLst>
                                        </p:cTn>
                                        <p:tgtEl>
                                          <p:spTgt spid="59"/>
                                        </p:tgtEl>
                                        <p:attrNameLst>
                                          <p:attrName>style.visibility</p:attrName>
                                        </p:attrNameLst>
                                      </p:cBhvr>
                                      <p:to>
                                        <p:strVal val="visible"/>
                                      </p:to>
                                    </p:set>
                                  </p:childTnLst>
                                </p:cTn>
                              </p:par>
                            </p:childTnLst>
                          </p:cTn>
                        </p:par>
                        <p:par>
                          <p:cTn id="19" fill="hold">
                            <p:stCondLst>
                              <p:cond delay="3500"/>
                            </p:stCondLst>
                            <p:childTnLst>
                              <p:par>
                                <p:cTn id="20" presetID="35" presetClass="emph" presetSubtype="0" repeatCount="4000" fill="hold" nodeType="afterEffect">
                                  <p:stCondLst>
                                    <p:cond delay="0"/>
                                  </p:stCondLst>
                                  <p:childTnLst>
                                    <p:anim calcmode="discrete" valueType="str">
                                      <p:cBhvr>
                                        <p:cTn id="21" dur="5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8043</TotalTime>
  <Words>9539</Words>
  <Application>Microsoft Office PowerPoint</Application>
  <PresentationFormat>全屏显示(16:9)</PresentationFormat>
  <Paragraphs>2154</Paragraphs>
  <Slides>149</Slides>
  <Notes>41</Notes>
  <HiddenSlides>0</HiddenSlides>
  <MMClips>0</MMClips>
  <ScaleCrop>false</ScaleCrop>
  <HeadingPairs>
    <vt:vector size="8" baseType="variant">
      <vt:variant>
        <vt:lpstr>已用的字体</vt:lpstr>
      </vt:variant>
      <vt:variant>
        <vt:i4>9</vt:i4>
      </vt:variant>
      <vt:variant>
        <vt:lpstr>主题</vt:lpstr>
      </vt:variant>
      <vt:variant>
        <vt:i4>2</vt:i4>
      </vt:variant>
      <vt:variant>
        <vt:lpstr>嵌入 OLE 服务器</vt:lpstr>
      </vt:variant>
      <vt:variant>
        <vt:i4>1</vt:i4>
      </vt:variant>
      <vt:variant>
        <vt:lpstr>幻灯片标题</vt:lpstr>
      </vt:variant>
      <vt:variant>
        <vt:i4>149</vt:i4>
      </vt:variant>
    </vt:vector>
  </HeadingPairs>
  <TitlesOfParts>
    <vt:vector size="161" baseType="lpstr">
      <vt:lpstr>微软雅黑</vt:lpstr>
      <vt:lpstr>Wingdings</vt:lpstr>
      <vt:lpstr>Courier New</vt:lpstr>
      <vt:lpstr>黑体</vt:lpstr>
      <vt:lpstr>Times New Roman</vt:lpstr>
      <vt:lpstr>Arial</vt:lpstr>
      <vt:lpstr>Symbol</vt:lpstr>
      <vt:lpstr>宋体</vt:lpstr>
      <vt:lpstr>Calibri</vt:lpstr>
      <vt:lpstr>Office 主题​​</vt:lpstr>
      <vt:lpstr>1_Office 主题​​</vt:lpstr>
      <vt:lpstr>VISIO</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666</cp:revision>
  <dcterms:created xsi:type="dcterms:W3CDTF">2018-07-18T08:51:30Z</dcterms:created>
  <dcterms:modified xsi:type="dcterms:W3CDTF">2025-11-01T02:32:44Z</dcterms:modified>
</cp:coreProperties>
</file>