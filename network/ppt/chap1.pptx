
<file path=[Content_Types].xml><?xml version="1.0" encoding="utf-8"?>
<Types xmlns="http://schemas.openxmlformats.org/package/2006/content-types">
  <Default Extension="bin" ContentType="application/vnd.openxmlformats-officedocument.oleObject"/>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svg" ContentType="image/svg+xml"/>
  <Default Extension="wdp" ContentType="image/vnd.ms-photo"/>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84" r:id="rId1"/>
  </p:sldMasterIdLst>
  <p:notesMasterIdLst>
    <p:notesMasterId r:id="rId143"/>
  </p:notesMasterIdLst>
  <p:sldIdLst>
    <p:sldId id="257" r:id="rId2"/>
    <p:sldId id="256" r:id="rId3"/>
    <p:sldId id="289" r:id="rId4"/>
    <p:sldId id="656" r:id="rId5"/>
    <p:sldId id="294" r:id="rId6"/>
    <p:sldId id="481" r:id="rId7"/>
    <p:sldId id="485" r:id="rId8"/>
    <p:sldId id="483" r:id="rId9"/>
    <p:sldId id="488" r:id="rId10"/>
    <p:sldId id="487" r:id="rId11"/>
    <p:sldId id="650" r:id="rId12"/>
    <p:sldId id="649" r:id="rId13"/>
    <p:sldId id="304" r:id="rId14"/>
    <p:sldId id="489" r:id="rId15"/>
    <p:sldId id="492" r:id="rId16"/>
    <p:sldId id="493" r:id="rId17"/>
    <p:sldId id="311" r:id="rId18"/>
    <p:sldId id="496" r:id="rId19"/>
    <p:sldId id="651" r:id="rId20"/>
    <p:sldId id="497" r:id="rId21"/>
    <p:sldId id="652" r:id="rId22"/>
    <p:sldId id="508" r:id="rId23"/>
    <p:sldId id="499" r:id="rId24"/>
    <p:sldId id="502" r:id="rId25"/>
    <p:sldId id="503" r:id="rId26"/>
    <p:sldId id="324" r:id="rId27"/>
    <p:sldId id="505" r:id="rId28"/>
    <p:sldId id="514" r:id="rId29"/>
    <p:sldId id="329" r:id="rId30"/>
    <p:sldId id="515" r:id="rId31"/>
    <p:sldId id="518" r:id="rId32"/>
    <p:sldId id="519" r:id="rId33"/>
    <p:sldId id="520" r:id="rId34"/>
    <p:sldId id="522" r:id="rId35"/>
    <p:sldId id="523" r:id="rId36"/>
    <p:sldId id="524" r:id="rId37"/>
    <p:sldId id="525" r:id="rId38"/>
    <p:sldId id="526" r:id="rId39"/>
    <p:sldId id="527" r:id="rId40"/>
    <p:sldId id="654" r:id="rId41"/>
    <p:sldId id="528" r:id="rId42"/>
    <p:sldId id="530" r:id="rId43"/>
    <p:sldId id="531" r:id="rId44"/>
    <p:sldId id="655" r:id="rId45"/>
    <p:sldId id="533" r:id="rId46"/>
    <p:sldId id="535" r:id="rId47"/>
    <p:sldId id="536" r:id="rId48"/>
    <p:sldId id="359" r:id="rId49"/>
    <p:sldId id="360" r:id="rId50"/>
    <p:sldId id="475" r:id="rId51"/>
    <p:sldId id="476" r:id="rId52"/>
    <p:sldId id="477" r:id="rId53"/>
    <p:sldId id="538" r:id="rId54"/>
    <p:sldId id="478" r:id="rId55"/>
    <p:sldId id="539" r:id="rId56"/>
    <p:sldId id="540" r:id="rId57"/>
    <p:sldId id="541" r:id="rId58"/>
    <p:sldId id="542" r:id="rId59"/>
    <p:sldId id="543" r:id="rId60"/>
    <p:sldId id="544" r:id="rId61"/>
    <p:sldId id="374" r:id="rId62"/>
    <p:sldId id="545" r:id="rId63"/>
    <p:sldId id="546" r:id="rId64"/>
    <p:sldId id="547" r:id="rId65"/>
    <p:sldId id="551" r:id="rId66"/>
    <p:sldId id="549" r:id="rId67"/>
    <p:sldId id="550" r:id="rId68"/>
    <p:sldId id="382" r:id="rId69"/>
    <p:sldId id="552" r:id="rId70"/>
    <p:sldId id="553" r:id="rId71"/>
    <p:sldId id="554" r:id="rId72"/>
    <p:sldId id="555" r:id="rId73"/>
    <p:sldId id="556" r:id="rId74"/>
    <p:sldId id="558" r:id="rId75"/>
    <p:sldId id="560" r:id="rId76"/>
    <p:sldId id="562" r:id="rId77"/>
    <p:sldId id="648" r:id="rId78"/>
    <p:sldId id="563" r:id="rId79"/>
    <p:sldId id="396" r:id="rId80"/>
    <p:sldId id="564" r:id="rId81"/>
    <p:sldId id="565" r:id="rId82"/>
    <p:sldId id="566" r:id="rId83"/>
    <p:sldId id="567" r:id="rId84"/>
    <p:sldId id="568" r:id="rId85"/>
    <p:sldId id="569" r:id="rId86"/>
    <p:sldId id="571" r:id="rId87"/>
    <p:sldId id="570" r:id="rId88"/>
    <p:sldId id="572" r:id="rId89"/>
    <p:sldId id="573" r:id="rId90"/>
    <p:sldId id="574" r:id="rId91"/>
    <p:sldId id="408" r:id="rId92"/>
    <p:sldId id="575" r:id="rId93"/>
    <p:sldId id="576" r:id="rId94"/>
    <p:sldId id="577" r:id="rId95"/>
    <p:sldId id="579" r:id="rId96"/>
    <p:sldId id="580" r:id="rId97"/>
    <p:sldId id="581" r:id="rId98"/>
    <p:sldId id="582" r:id="rId99"/>
    <p:sldId id="419" r:id="rId100"/>
    <p:sldId id="585" r:id="rId101"/>
    <p:sldId id="586" r:id="rId102"/>
    <p:sldId id="591" r:id="rId103"/>
    <p:sldId id="588" r:id="rId104"/>
    <p:sldId id="589" r:id="rId105"/>
    <p:sldId id="590" r:id="rId106"/>
    <p:sldId id="593" r:id="rId107"/>
    <p:sldId id="596" r:id="rId108"/>
    <p:sldId id="598" r:id="rId109"/>
    <p:sldId id="600" r:id="rId110"/>
    <p:sldId id="601" r:id="rId111"/>
    <p:sldId id="602" r:id="rId112"/>
    <p:sldId id="606" r:id="rId113"/>
    <p:sldId id="605" r:id="rId114"/>
    <p:sldId id="607" r:id="rId115"/>
    <p:sldId id="608" r:id="rId116"/>
    <p:sldId id="610" r:id="rId117"/>
    <p:sldId id="613" r:id="rId118"/>
    <p:sldId id="615" r:id="rId119"/>
    <p:sldId id="616" r:id="rId120"/>
    <p:sldId id="618" r:id="rId121"/>
    <p:sldId id="619" r:id="rId122"/>
    <p:sldId id="620" r:id="rId123"/>
    <p:sldId id="621" r:id="rId124"/>
    <p:sldId id="623" r:id="rId125"/>
    <p:sldId id="625" r:id="rId126"/>
    <p:sldId id="624" r:id="rId127"/>
    <p:sldId id="627" r:id="rId128"/>
    <p:sldId id="628" r:id="rId129"/>
    <p:sldId id="630" r:id="rId130"/>
    <p:sldId id="631" r:id="rId131"/>
    <p:sldId id="632" r:id="rId132"/>
    <p:sldId id="633" r:id="rId133"/>
    <p:sldId id="634" r:id="rId134"/>
    <p:sldId id="635" r:id="rId135"/>
    <p:sldId id="637" r:id="rId136"/>
    <p:sldId id="639" r:id="rId137"/>
    <p:sldId id="641" r:id="rId138"/>
    <p:sldId id="642" r:id="rId139"/>
    <p:sldId id="643" r:id="rId140"/>
    <p:sldId id="645" r:id="rId141"/>
    <p:sldId id="646" r:id="rId142"/>
  </p:sldIdLst>
  <p:sldSz cx="9144000" cy="5143500" type="screen16x9"/>
  <p:notesSz cx="6858000" cy="9144000"/>
  <p:embeddedFontLst>
    <p:embeddedFont>
      <p:font typeface="Montserrat" panose="00000500000000000000" pitchFamily="2" charset="0"/>
      <p:regular r:id="rId144"/>
    </p:embeddedFont>
    <p:embeddedFont>
      <p:font typeface="微软雅黑" panose="020B0503020204020204" pitchFamily="34" charset="-122"/>
      <p:regular r:id="rId145"/>
      <p:bold r:id="rId146"/>
    </p:embeddedFont>
    <p:embeddedFont>
      <p:font typeface="微软雅黑 Light" panose="020B0502040204020203" pitchFamily="34" charset="-122"/>
      <p:regular r:id="rId147"/>
    </p:embeddedFont>
  </p:embeddedFontLst>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2F2F2"/>
    <a:srgbClr val="0089FA"/>
    <a:srgbClr val="D4237A"/>
    <a:srgbClr val="7CE07C"/>
    <a:srgbClr val="85D1F7"/>
    <a:srgbClr val="000000"/>
    <a:srgbClr val="607FC1"/>
    <a:srgbClr val="84CFF5"/>
    <a:srgbClr val="0000FF"/>
    <a:srgbClr val="9900CC"/>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93296810-A885-4BE3-A3E7-6D5BEEA58F35}" styleName="中度样式 2 - 强调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中度样式 2 - 强调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69012ECD-51FC-41F1-AA8D-1B2483CD663E}" styleName="浅色样式 2 - 强调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2D5ABB26-0587-4C30-8999-92F81FD0307C}" styleName="无样式，无网格">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C2FFA5D-87B4-456A-9821-1D502468CF0F}" styleName="主题样式 1 - 强调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5940675A-B579-460E-94D1-54222C63F5DA}" styleName="无样式，网格型">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3009" autoAdjust="0"/>
    <p:restoredTop sz="90533" autoAdjust="0"/>
  </p:normalViewPr>
  <p:slideViewPr>
    <p:cSldViewPr snapToGrid="0">
      <p:cViewPr varScale="1">
        <p:scale>
          <a:sx n="149" d="100"/>
          <a:sy n="149" d="100"/>
        </p:scale>
        <p:origin x="654" y="126"/>
      </p:cViewPr>
      <p:guideLst>
        <p:guide orient="horz" pos="1620"/>
        <p:guide pos="2880"/>
      </p:guideLst>
    </p:cSldViewPr>
  </p:slideViewPr>
  <p:outlineViewPr>
    <p:cViewPr>
      <p:scale>
        <a:sx n="33" d="100"/>
        <a:sy n="33" d="100"/>
      </p:scale>
      <p:origin x="0" y="-5700"/>
    </p:cViewPr>
  </p:outlineViewPr>
  <p:notesTextViewPr>
    <p:cViewPr>
      <p:scale>
        <a:sx n="1" d="1"/>
        <a:sy n="1" d="1"/>
      </p:scale>
      <p:origin x="0" y="0"/>
    </p:cViewPr>
  </p:notesTextViewPr>
  <p:sorterViewPr>
    <p:cViewPr>
      <p:scale>
        <a:sx n="100" d="100"/>
        <a:sy n="100" d="100"/>
      </p:scale>
      <p:origin x="0" y="0"/>
    </p:cViewPr>
  </p:sorter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openxmlformats.org/officeDocument/2006/relationships/slide" Target="slides/slide137.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149" Type="http://schemas.openxmlformats.org/officeDocument/2006/relationships/viewProps" Target="viewProps.xml"/><Relationship Id="rId5" Type="http://schemas.openxmlformats.org/officeDocument/2006/relationships/slide" Target="slides/slide4.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slide" Target="slides/slide112.xml"/><Relationship Id="rId118" Type="http://schemas.openxmlformats.org/officeDocument/2006/relationships/slide" Target="slides/slide117.xml"/><Relationship Id="rId134" Type="http://schemas.openxmlformats.org/officeDocument/2006/relationships/slide" Target="slides/slide133.xml"/><Relationship Id="rId139" Type="http://schemas.openxmlformats.org/officeDocument/2006/relationships/slide" Target="slides/slide138.xml"/><Relationship Id="rId80" Type="http://schemas.openxmlformats.org/officeDocument/2006/relationships/slide" Target="slides/slide79.xml"/><Relationship Id="rId85" Type="http://schemas.openxmlformats.org/officeDocument/2006/relationships/slide" Target="slides/slide84.xml"/><Relationship Id="rId150" Type="http://schemas.openxmlformats.org/officeDocument/2006/relationships/theme" Target="theme/theme1.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slide" Target="slides/slide123.xml"/><Relationship Id="rId129" Type="http://schemas.openxmlformats.org/officeDocument/2006/relationships/slide" Target="slides/slide128.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40" Type="http://schemas.openxmlformats.org/officeDocument/2006/relationships/slide" Target="slides/slide139.xml"/><Relationship Id="rId145" Type="http://schemas.openxmlformats.org/officeDocument/2006/relationships/font" Target="fonts/font2.fntdata"/><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0" Type="http://schemas.openxmlformats.org/officeDocument/2006/relationships/slide" Target="slides/slide129.xml"/><Relationship Id="rId135" Type="http://schemas.openxmlformats.org/officeDocument/2006/relationships/slide" Target="slides/slide134.xml"/><Relationship Id="rId151" Type="http://schemas.openxmlformats.org/officeDocument/2006/relationships/tableStyles" Target="tableStyles.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141" Type="http://schemas.openxmlformats.org/officeDocument/2006/relationships/slide" Target="slides/slide140.xml"/><Relationship Id="rId146" Type="http://schemas.openxmlformats.org/officeDocument/2006/relationships/font" Target="fonts/font3.fntdata"/><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slide" Target="slides/slide130.xml"/><Relationship Id="rId136" Type="http://schemas.openxmlformats.org/officeDocument/2006/relationships/slide" Target="slides/slide135.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font" Target="fonts/font4.fntdata"/><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openxmlformats.org/officeDocument/2006/relationships/slide" Target="slides/slide136.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notesMaster" Target="notesMasters/notesMaster1.xml"/><Relationship Id="rId148"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6" Type="http://schemas.openxmlformats.org/officeDocument/2006/relationships/slide" Target="slides/slide15.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font" Target="fonts/font1.fntdata"/><Relationship Id="rId90" Type="http://schemas.openxmlformats.org/officeDocument/2006/relationships/slide" Target="slides/slide89.xml"/></Relationships>
</file>

<file path=ppt/diagrams/colors1.xml><?xml version="1.0" encoding="utf-8"?>
<dgm:colorsDef xmlns:dgm="http://schemas.openxmlformats.org/drawingml/2006/diagram" xmlns:a="http://schemas.openxmlformats.org/drawingml/2006/main" uniqueId="urn:microsoft.com/office/officeart/2005/8/colors/colorful1#6">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4#1">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135FF3CF-44DC-43E7-AC27-8E824204EC36}" type="doc">
      <dgm:prSet loTypeId="urn:microsoft.com/office/officeart/2008/layout/AlternatingHexagons" loCatId="list" qsTypeId="urn:microsoft.com/office/officeart/2005/8/quickstyle/simple1#1" qsCatId="simple" csTypeId="urn:microsoft.com/office/officeart/2005/8/colors/colorful1#6" csCatId="colorful" phldr="1"/>
      <dgm:spPr/>
      <dgm:t>
        <a:bodyPr/>
        <a:lstStyle/>
        <a:p>
          <a:endParaRPr lang="zh-CN" altLang="en-US"/>
        </a:p>
      </dgm:t>
    </dgm:pt>
    <dgm:pt modelId="{05D41365-1355-4DAD-B4F1-FB33A078461A}">
      <dgm:prSet phldrT="[文本]" custT="1"/>
      <dgm:spPr/>
      <dgm:t>
        <a:bodyPr/>
        <a:lstStyle/>
        <a:p>
          <a:r>
            <a:rPr lang="zh-CN" altLang="en-US" sz="1600" b="1" i="0" baseline="0" dirty="0">
              <a:solidFill>
                <a:schemeClr val="tx1"/>
              </a:solidFill>
              <a:latin typeface="+mj-lt"/>
              <a:ea typeface="+mj-ea"/>
            </a:rPr>
            <a:t>费用</a:t>
          </a:r>
        </a:p>
      </dgm:t>
    </dgm:pt>
    <dgm:pt modelId="{BED6549C-B35E-4354-84E8-A7AE58E7EC07}" type="parTrans" cxnId="{56CC0E7C-D98A-4C46-81A3-3B1F60601F38}">
      <dgm:prSet/>
      <dgm:spPr/>
      <dgm:t>
        <a:bodyPr/>
        <a:lstStyle/>
        <a:p>
          <a:endParaRPr lang="zh-CN" altLang="en-US" sz="1800" b="1" i="0" baseline="0">
            <a:latin typeface="+mj-lt"/>
            <a:ea typeface="+mj-ea"/>
          </a:endParaRPr>
        </a:p>
      </dgm:t>
    </dgm:pt>
    <dgm:pt modelId="{5C027A28-57B2-4775-8438-4AAECBE023C8}" type="sibTrans" cxnId="{56CC0E7C-D98A-4C46-81A3-3B1F60601F38}">
      <dgm:prSet custT="1"/>
      <dgm:spPr/>
      <dgm:t>
        <a:bodyPr/>
        <a:lstStyle/>
        <a:p>
          <a:endParaRPr lang="zh-CN" altLang="en-US" sz="1800" b="1" i="0" baseline="0">
            <a:latin typeface="+mj-lt"/>
            <a:ea typeface="+mj-ea"/>
          </a:endParaRPr>
        </a:p>
      </dgm:t>
    </dgm:pt>
    <dgm:pt modelId="{E173A921-6651-451D-81E9-F0ACC1536AAC}">
      <dgm:prSet phldrT="[文本]" custT="1"/>
      <dgm:spPr/>
      <dgm:t>
        <a:bodyPr/>
        <a:lstStyle/>
        <a:p>
          <a:r>
            <a:rPr lang="zh-CN" altLang="en-US" sz="1800" b="1" i="0" baseline="0" dirty="0">
              <a:latin typeface="+mj-lt"/>
              <a:ea typeface="+mj-ea"/>
            </a:rPr>
            <a:t>标准化</a:t>
          </a:r>
        </a:p>
      </dgm:t>
    </dgm:pt>
    <dgm:pt modelId="{DF4FD089-4E3D-4F03-9D3C-F28F49D8F119}" type="parTrans" cxnId="{FDAAE633-85C8-42F8-B4AA-4B51C3A57B39}">
      <dgm:prSet/>
      <dgm:spPr/>
      <dgm:t>
        <a:bodyPr/>
        <a:lstStyle/>
        <a:p>
          <a:endParaRPr lang="zh-CN" altLang="en-US" sz="1800" b="1" i="0" baseline="0">
            <a:latin typeface="+mj-lt"/>
            <a:ea typeface="+mj-ea"/>
          </a:endParaRPr>
        </a:p>
      </dgm:t>
    </dgm:pt>
    <dgm:pt modelId="{739184D2-A650-4378-9B66-79745068F954}" type="sibTrans" cxnId="{FDAAE633-85C8-42F8-B4AA-4B51C3A57B39}">
      <dgm:prSet/>
      <dgm:spPr/>
      <dgm:t>
        <a:bodyPr/>
        <a:lstStyle/>
        <a:p>
          <a:endParaRPr lang="zh-CN" altLang="en-US" sz="1800" b="1" i="0" baseline="0">
            <a:latin typeface="+mj-lt"/>
            <a:ea typeface="+mj-ea"/>
          </a:endParaRPr>
        </a:p>
      </dgm:t>
    </dgm:pt>
    <dgm:pt modelId="{D199F25F-9525-43C5-955C-BB6FEFFBA60E}">
      <dgm:prSet phldrT="[文本]" custT="1"/>
      <dgm:spPr/>
      <dgm:t>
        <a:bodyPr/>
        <a:lstStyle/>
        <a:p>
          <a:r>
            <a:rPr lang="zh-CN" altLang="en-US" sz="1600" b="1" i="0" baseline="0" dirty="0">
              <a:solidFill>
                <a:schemeClr val="tx1"/>
              </a:solidFill>
              <a:latin typeface="+mj-lt"/>
              <a:ea typeface="+mj-ea"/>
            </a:rPr>
            <a:t>质量</a:t>
          </a:r>
        </a:p>
      </dgm:t>
    </dgm:pt>
    <dgm:pt modelId="{92F37460-E89E-4259-A2EF-B2A638C38A45}" type="parTrans" cxnId="{12D5EFDF-084C-4857-A4BE-12B60B2E2A98}">
      <dgm:prSet/>
      <dgm:spPr/>
      <dgm:t>
        <a:bodyPr/>
        <a:lstStyle/>
        <a:p>
          <a:endParaRPr lang="zh-CN" altLang="en-US" sz="1800" b="1" i="0" baseline="0">
            <a:latin typeface="+mj-lt"/>
            <a:ea typeface="+mj-ea"/>
          </a:endParaRPr>
        </a:p>
      </dgm:t>
    </dgm:pt>
    <dgm:pt modelId="{2E4C2D13-B647-4CF6-B1F7-03AB183A1123}" type="sibTrans" cxnId="{12D5EFDF-084C-4857-A4BE-12B60B2E2A98}">
      <dgm:prSet custT="1"/>
      <dgm:spPr/>
      <dgm:t>
        <a:bodyPr/>
        <a:lstStyle/>
        <a:p>
          <a:endParaRPr lang="zh-CN" altLang="en-US" sz="1800" b="1" i="0" baseline="0">
            <a:latin typeface="+mj-lt"/>
            <a:ea typeface="+mj-ea"/>
          </a:endParaRPr>
        </a:p>
      </dgm:t>
    </dgm:pt>
    <dgm:pt modelId="{3EC4611C-A3C3-451C-AE74-8846F1901302}">
      <dgm:prSet phldrT="[文本]" custT="1"/>
      <dgm:spPr/>
      <dgm:t>
        <a:bodyPr/>
        <a:lstStyle/>
        <a:p>
          <a:r>
            <a:rPr lang="zh-CN" altLang="en-US" sz="1600" b="1" i="0" baseline="0" dirty="0">
              <a:latin typeface="+mj-lt"/>
              <a:ea typeface="+mj-ea"/>
            </a:rPr>
            <a:t>可靠性</a:t>
          </a:r>
        </a:p>
      </dgm:t>
    </dgm:pt>
    <dgm:pt modelId="{68F328E8-C43C-478E-B670-0B24656D9E35}" type="parTrans" cxnId="{BF7B8AEA-CFF9-4BFA-A92B-C9AA4345FE48}">
      <dgm:prSet/>
      <dgm:spPr/>
      <dgm:t>
        <a:bodyPr/>
        <a:lstStyle/>
        <a:p>
          <a:endParaRPr lang="zh-CN" altLang="en-US" sz="1800" b="1" i="0" baseline="0">
            <a:latin typeface="+mj-lt"/>
            <a:ea typeface="+mj-ea"/>
          </a:endParaRPr>
        </a:p>
      </dgm:t>
    </dgm:pt>
    <dgm:pt modelId="{2E561528-8DA9-408B-83C6-171ECD06B86B}" type="sibTrans" cxnId="{BF7B8AEA-CFF9-4BFA-A92B-C9AA4345FE48}">
      <dgm:prSet/>
      <dgm:spPr/>
      <dgm:t>
        <a:bodyPr/>
        <a:lstStyle/>
        <a:p>
          <a:endParaRPr lang="zh-CN" altLang="en-US" sz="1800" b="1" i="0" baseline="0">
            <a:latin typeface="+mj-lt"/>
            <a:ea typeface="+mj-ea"/>
          </a:endParaRPr>
        </a:p>
      </dgm:t>
    </dgm:pt>
    <dgm:pt modelId="{C40893AA-1044-4C1A-AFE8-154BD0AD6229}">
      <dgm:prSet phldrT="[文本]" custT="1"/>
      <dgm:spPr/>
      <dgm:t>
        <a:bodyPr/>
        <a:lstStyle/>
        <a:p>
          <a:r>
            <a:rPr lang="zh-CN" altLang="en-US" sz="1400" b="1" i="0" baseline="0" dirty="0">
              <a:solidFill>
                <a:schemeClr val="tx1"/>
              </a:solidFill>
              <a:latin typeface="+mj-lt"/>
              <a:ea typeface="+mj-ea"/>
            </a:rPr>
            <a:t>维护</a:t>
          </a:r>
        </a:p>
      </dgm:t>
    </dgm:pt>
    <dgm:pt modelId="{5D5965E2-EEFF-40D7-B453-CDF2231F9E32}" type="parTrans" cxnId="{5DC1683A-A3BA-477F-922D-A91C5AAC3E85}">
      <dgm:prSet/>
      <dgm:spPr/>
      <dgm:t>
        <a:bodyPr/>
        <a:lstStyle/>
        <a:p>
          <a:endParaRPr lang="zh-CN" altLang="en-US" sz="1800" b="1" i="0" baseline="0">
            <a:latin typeface="+mj-lt"/>
            <a:ea typeface="+mj-ea"/>
          </a:endParaRPr>
        </a:p>
      </dgm:t>
    </dgm:pt>
    <dgm:pt modelId="{0EE1A90B-D747-4792-8CF8-D1D86F0C6D30}" type="sibTrans" cxnId="{5DC1683A-A3BA-477F-922D-A91C5AAC3E85}">
      <dgm:prSet custT="1"/>
      <dgm:spPr/>
      <dgm:t>
        <a:bodyPr/>
        <a:lstStyle/>
        <a:p>
          <a:r>
            <a:rPr lang="zh-CN" altLang="en-US" sz="1600" b="1" i="0" baseline="0" dirty="0">
              <a:latin typeface="+mj-lt"/>
              <a:ea typeface="+mj-ea"/>
            </a:rPr>
            <a:t>管理</a:t>
          </a:r>
        </a:p>
      </dgm:t>
    </dgm:pt>
    <dgm:pt modelId="{32415517-2817-485B-84FB-EEB772F05388}">
      <dgm:prSet phldrT="[文本]" custT="1"/>
      <dgm:spPr/>
      <dgm:t>
        <a:bodyPr/>
        <a:lstStyle/>
        <a:p>
          <a:r>
            <a:rPr lang="zh-CN" altLang="en-US" sz="1800" b="1" i="0" baseline="0" dirty="0">
              <a:latin typeface="+mj-lt"/>
              <a:ea typeface="+mj-ea"/>
            </a:rPr>
            <a:t>可扩展性和可升级性</a:t>
          </a:r>
        </a:p>
      </dgm:t>
    </dgm:pt>
    <dgm:pt modelId="{9389711E-63B1-48BC-8B0D-E77AD36B0F70}" type="parTrans" cxnId="{C8E4366A-7323-4BAE-BF0B-D491A4B1C631}">
      <dgm:prSet/>
      <dgm:spPr/>
      <dgm:t>
        <a:bodyPr/>
        <a:lstStyle/>
        <a:p>
          <a:endParaRPr lang="zh-CN" altLang="en-US" sz="1800" b="1" i="0" baseline="0">
            <a:latin typeface="+mj-lt"/>
            <a:ea typeface="+mj-ea"/>
          </a:endParaRPr>
        </a:p>
      </dgm:t>
    </dgm:pt>
    <dgm:pt modelId="{8B057A99-57DA-4C5E-AFDE-4E731CDF706D}" type="sibTrans" cxnId="{C8E4366A-7323-4BAE-BF0B-D491A4B1C631}">
      <dgm:prSet/>
      <dgm:spPr/>
      <dgm:t>
        <a:bodyPr/>
        <a:lstStyle/>
        <a:p>
          <a:endParaRPr lang="zh-CN" altLang="en-US" sz="1800" b="1" i="0" baseline="0">
            <a:latin typeface="+mj-lt"/>
            <a:ea typeface="+mj-ea"/>
          </a:endParaRPr>
        </a:p>
      </dgm:t>
    </dgm:pt>
    <dgm:pt modelId="{044216E9-137E-4B54-AB85-D985D58783B6}" type="pres">
      <dgm:prSet presAssocID="{135FF3CF-44DC-43E7-AC27-8E824204EC36}" presName="Name0" presStyleCnt="0">
        <dgm:presLayoutVars>
          <dgm:chMax/>
          <dgm:chPref/>
          <dgm:dir/>
          <dgm:animLvl val="lvl"/>
        </dgm:presLayoutVars>
      </dgm:prSet>
      <dgm:spPr/>
    </dgm:pt>
    <dgm:pt modelId="{6E6AB5B1-8C45-4545-BA69-7F63DEE5163B}" type="pres">
      <dgm:prSet presAssocID="{05D41365-1355-4DAD-B4F1-FB33A078461A}" presName="composite" presStyleCnt="0"/>
      <dgm:spPr/>
    </dgm:pt>
    <dgm:pt modelId="{737B4ED7-5247-4B99-B038-972624275F7F}" type="pres">
      <dgm:prSet presAssocID="{05D41365-1355-4DAD-B4F1-FB33A078461A}" presName="Parent1" presStyleLbl="node1" presStyleIdx="0" presStyleCnt="6" custLinFactNeighborY="0">
        <dgm:presLayoutVars>
          <dgm:chMax val="1"/>
          <dgm:chPref val="1"/>
          <dgm:bulletEnabled val="1"/>
        </dgm:presLayoutVars>
      </dgm:prSet>
      <dgm:spPr/>
    </dgm:pt>
    <dgm:pt modelId="{0EC6F23C-19FA-4BBB-96C2-30D954DFEC45}" type="pres">
      <dgm:prSet presAssocID="{05D41365-1355-4DAD-B4F1-FB33A078461A}" presName="Childtext1" presStyleLbl="revTx" presStyleIdx="0" presStyleCnt="3">
        <dgm:presLayoutVars>
          <dgm:chMax val="0"/>
          <dgm:chPref val="0"/>
          <dgm:bulletEnabled val="1"/>
        </dgm:presLayoutVars>
      </dgm:prSet>
      <dgm:spPr/>
    </dgm:pt>
    <dgm:pt modelId="{E72809E6-925A-4033-A3E6-30F40589AE8C}" type="pres">
      <dgm:prSet presAssocID="{05D41365-1355-4DAD-B4F1-FB33A078461A}" presName="BalanceSpacing" presStyleCnt="0"/>
      <dgm:spPr/>
    </dgm:pt>
    <dgm:pt modelId="{8A426D04-7387-4BF5-B7A9-CE9CF71A10A4}" type="pres">
      <dgm:prSet presAssocID="{05D41365-1355-4DAD-B4F1-FB33A078461A}" presName="BalanceSpacing1" presStyleCnt="0"/>
      <dgm:spPr/>
    </dgm:pt>
    <dgm:pt modelId="{538930E3-AFBB-40A2-9199-81FC54A0A713}" type="pres">
      <dgm:prSet presAssocID="{5C027A28-57B2-4775-8438-4AAECBE023C8}" presName="Accent1Text" presStyleLbl="node1" presStyleIdx="1" presStyleCnt="6"/>
      <dgm:spPr/>
    </dgm:pt>
    <dgm:pt modelId="{770EB172-9189-4CB8-B1B4-B4830FDDB2B7}" type="pres">
      <dgm:prSet presAssocID="{5C027A28-57B2-4775-8438-4AAECBE023C8}" presName="spaceBetweenRectangles" presStyleCnt="0"/>
      <dgm:spPr/>
    </dgm:pt>
    <dgm:pt modelId="{B8000619-585E-43B1-97D0-9E973B5CFF02}" type="pres">
      <dgm:prSet presAssocID="{D199F25F-9525-43C5-955C-BB6FEFFBA60E}" presName="composite" presStyleCnt="0"/>
      <dgm:spPr/>
    </dgm:pt>
    <dgm:pt modelId="{189B3354-A08F-46B4-AA51-80167B86E07E}" type="pres">
      <dgm:prSet presAssocID="{D199F25F-9525-43C5-955C-BB6FEFFBA60E}" presName="Parent1" presStyleLbl="node1" presStyleIdx="2" presStyleCnt="6">
        <dgm:presLayoutVars>
          <dgm:chMax val="1"/>
          <dgm:chPref val="1"/>
          <dgm:bulletEnabled val="1"/>
        </dgm:presLayoutVars>
      </dgm:prSet>
      <dgm:spPr/>
    </dgm:pt>
    <dgm:pt modelId="{30C810D8-43FD-41C8-A342-08B348498E1F}" type="pres">
      <dgm:prSet presAssocID="{D199F25F-9525-43C5-955C-BB6FEFFBA60E}" presName="Childtext1" presStyleLbl="revTx" presStyleIdx="1" presStyleCnt="3">
        <dgm:presLayoutVars>
          <dgm:chMax val="0"/>
          <dgm:chPref val="0"/>
          <dgm:bulletEnabled val="1"/>
        </dgm:presLayoutVars>
      </dgm:prSet>
      <dgm:spPr/>
    </dgm:pt>
    <dgm:pt modelId="{DDAB6A08-FDE4-4250-B857-22C6F4C875CD}" type="pres">
      <dgm:prSet presAssocID="{D199F25F-9525-43C5-955C-BB6FEFFBA60E}" presName="BalanceSpacing" presStyleCnt="0"/>
      <dgm:spPr/>
    </dgm:pt>
    <dgm:pt modelId="{456BFF4D-8D17-4008-8FD8-97C1E973905D}" type="pres">
      <dgm:prSet presAssocID="{D199F25F-9525-43C5-955C-BB6FEFFBA60E}" presName="BalanceSpacing1" presStyleCnt="0"/>
      <dgm:spPr/>
    </dgm:pt>
    <dgm:pt modelId="{2E871E28-410D-4C73-B809-46EEEE1B5408}" type="pres">
      <dgm:prSet presAssocID="{2E4C2D13-B647-4CF6-B1F7-03AB183A1123}" presName="Accent1Text" presStyleLbl="node1" presStyleIdx="3" presStyleCnt="6"/>
      <dgm:spPr/>
    </dgm:pt>
    <dgm:pt modelId="{32342D5D-D85B-4C93-8081-CE9B08BF8EF3}" type="pres">
      <dgm:prSet presAssocID="{2E4C2D13-B647-4CF6-B1F7-03AB183A1123}" presName="spaceBetweenRectangles" presStyleCnt="0"/>
      <dgm:spPr/>
    </dgm:pt>
    <dgm:pt modelId="{0250A542-5660-4811-BA9A-A026384EC288}" type="pres">
      <dgm:prSet presAssocID="{C40893AA-1044-4C1A-AFE8-154BD0AD6229}" presName="composite" presStyleCnt="0"/>
      <dgm:spPr/>
    </dgm:pt>
    <dgm:pt modelId="{6CCD66D6-E3E3-4758-A25B-E5A97FDFEEA0}" type="pres">
      <dgm:prSet presAssocID="{C40893AA-1044-4C1A-AFE8-154BD0AD6229}" presName="Parent1" presStyleLbl="node1" presStyleIdx="4" presStyleCnt="6">
        <dgm:presLayoutVars>
          <dgm:chMax val="1"/>
          <dgm:chPref val="1"/>
          <dgm:bulletEnabled val="1"/>
        </dgm:presLayoutVars>
      </dgm:prSet>
      <dgm:spPr/>
    </dgm:pt>
    <dgm:pt modelId="{95ED7348-6155-4B72-B2AA-9F71065BC8B5}" type="pres">
      <dgm:prSet presAssocID="{C40893AA-1044-4C1A-AFE8-154BD0AD6229}" presName="Childtext1" presStyleLbl="revTx" presStyleIdx="2" presStyleCnt="3">
        <dgm:presLayoutVars>
          <dgm:chMax val="0"/>
          <dgm:chPref val="0"/>
          <dgm:bulletEnabled val="1"/>
        </dgm:presLayoutVars>
      </dgm:prSet>
      <dgm:spPr/>
    </dgm:pt>
    <dgm:pt modelId="{5C3E9DE1-CF2D-48B8-B1BE-CF5807B39F22}" type="pres">
      <dgm:prSet presAssocID="{C40893AA-1044-4C1A-AFE8-154BD0AD6229}" presName="BalanceSpacing" presStyleCnt="0"/>
      <dgm:spPr/>
    </dgm:pt>
    <dgm:pt modelId="{248FEED7-91A8-4070-8E60-258F9D3AF8A1}" type="pres">
      <dgm:prSet presAssocID="{C40893AA-1044-4C1A-AFE8-154BD0AD6229}" presName="BalanceSpacing1" presStyleCnt="0"/>
      <dgm:spPr/>
    </dgm:pt>
    <dgm:pt modelId="{F96182DC-DEA1-4092-96CB-670F76C0F2C9}" type="pres">
      <dgm:prSet presAssocID="{0EE1A90B-D747-4792-8CF8-D1D86F0C6D30}" presName="Accent1Text" presStyleLbl="node1" presStyleIdx="5" presStyleCnt="6"/>
      <dgm:spPr/>
    </dgm:pt>
  </dgm:ptLst>
  <dgm:cxnLst>
    <dgm:cxn modelId="{BA2E6409-3E4A-424E-BB60-F086F21B6F67}" type="presOf" srcId="{3EC4611C-A3C3-451C-AE74-8846F1901302}" destId="{30C810D8-43FD-41C8-A342-08B348498E1F}" srcOrd="0" destOrd="0" presId="urn:microsoft.com/office/officeart/2008/layout/AlternatingHexagons"/>
    <dgm:cxn modelId="{7BC92210-9AB6-43C0-90C4-DF11243359CB}" type="presOf" srcId="{135FF3CF-44DC-43E7-AC27-8E824204EC36}" destId="{044216E9-137E-4B54-AB85-D985D58783B6}" srcOrd="0" destOrd="0" presId="urn:microsoft.com/office/officeart/2008/layout/AlternatingHexagons"/>
    <dgm:cxn modelId="{830EAB10-70C3-4576-ACC1-3D0E7A058F4E}" type="presOf" srcId="{5C027A28-57B2-4775-8438-4AAECBE023C8}" destId="{538930E3-AFBB-40A2-9199-81FC54A0A713}" srcOrd="0" destOrd="0" presId="urn:microsoft.com/office/officeart/2008/layout/AlternatingHexagons"/>
    <dgm:cxn modelId="{FDAAE633-85C8-42F8-B4AA-4B51C3A57B39}" srcId="{05D41365-1355-4DAD-B4F1-FB33A078461A}" destId="{E173A921-6651-451D-81E9-F0ACC1536AAC}" srcOrd="0" destOrd="0" parTransId="{DF4FD089-4E3D-4F03-9D3C-F28F49D8F119}" sibTransId="{739184D2-A650-4378-9B66-79745068F954}"/>
    <dgm:cxn modelId="{5DC1683A-A3BA-477F-922D-A91C5AAC3E85}" srcId="{135FF3CF-44DC-43E7-AC27-8E824204EC36}" destId="{C40893AA-1044-4C1A-AFE8-154BD0AD6229}" srcOrd="2" destOrd="0" parTransId="{5D5965E2-EEFF-40D7-B453-CDF2231F9E32}" sibTransId="{0EE1A90B-D747-4792-8CF8-D1D86F0C6D30}"/>
    <dgm:cxn modelId="{C8E4366A-7323-4BAE-BF0B-D491A4B1C631}" srcId="{C40893AA-1044-4C1A-AFE8-154BD0AD6229}" destId="{32415517-2817-485B-84FB-EEB772F05388}" srcOrd="0" destOrd="0" parTransId="{9389711E-63B1-48BC-8B0D-E77AD36B0F70}" sibTransId="{8B057A99-57DA-4C5E-AFDE-4E731CDF706D}"/>
    <dgm:cxn modelId="{5857F84F-9800-49D5-B361-DA81A0D7F1EB}" type="presOf" srcId="{2E4C2D13-B647-4CF6-B1F7-03AB183A1123}" destId="{2E871E28-410D-4C73-B809-46EEEE1B5408}" srcOrd="0" destOrd="0" presId="urn:microsoft.com/office/officeart/2008/layout/AlternatingHexagons"/>
    <dgm:cxn modelId="{AA881378-41E8-4992-84F9-8EF56DC92BDF}" type="presOf" srcId="{0EE1A90B-D747-4792-8CF8-D1D86F0C6D30}" destId="{F96182DC-DEA1-4092-96CB-670F76C0F2C9}" srcOrd="0" destOrd="0" presId="urn:microsoft.com/office/officeart/2008/layout/AlternatingHexagons"/>
    <dgm:cxn modelId="{56CC0E7C-D98A-4C46-81A3-3B1F60601F38}" srcId="{135FF3CF-44DC-43E7-AC27-8E824204EC36}" destId="{05D41365-1355-4DAD-B4F1-FB33A078461A}" srcOrd="0" destOrd="0" parTransId="{BED6549C-B35E-4354-84E8-A7AE58E7EC07}" sibTransId="{5C027A28-57B2-4775-8438-4AAECBE023C8}"/>
    <dgm:cxn modelId="{7B427E83-BD3E-48A8-951F-C804AF59934D}" type="presOf" srcId="{32415517-2817-485B-84FB-EEB772F05388}" destId="{95ED7348-6155-4B72-B2AA-9F71065BC8B5}" srcOrd="0" destOrd="0" presId="urn:microsoft.com/office/officeart/2008/layout/AlternatingHexagons"/>
    <dgm:cxn modelId="{0A1EC099-5441-4FCA-9F43-CE9422B12AA5}" type="presOf" srcId="{C40893AA-1044-4C1A-AFE8-154BD0AD6229}" destId="{6CCD66D6-E3E3-4758-A25B-E5A97FDFEEA0}" srcOrd="0" destOrd="0" presId="urn:microsoft.com/office/officeart/2008/layout/AlternatingHexagons"/>
    <dgm:cxn modelId="{52D28FAE-D183-4D72-9F19-1814CFCBB661}" type="presOf" srcId="{05D41365-1355-4DAD-B4F1-FB33A078461A}" destId="{737B4ED7-5247-4B99-B038-972624275F7F}" srcOrd="0" destOrd="0" presId="urn:microsoft.com/office/officeart/2008/layout/AlternatingHexagons"/>
    <dgm:cxn modelId="{245089B8-B9F0-4AC2-A60C-31B22EF355B6}" type="presOf" srcId="{D199F25F-9525-43C5-955C-BB6FEFFBA60E}" destId="{189B3354-A08F-46B4-AA51-80167B86E07E}" srcOrd="0" destOrd="0" presId="urn:microsoft.com/office/officeart/2008/layout/AlternatingHexagons"/>
    <dgm:cxn modelId="{12D5EFDF-084C-4857-A4BE-12B60B2E2A98}" srcId="{135FF3CF-44DC-43E7-AC27-8E824204EC36}" destId="{D199F25F-9525-43C5-955C-BB6FEFFBA60E}" srcOrd="1" destOrd="0" parTransId="{92F37460-E89E-4259-A2EF-B2A638C38A45}" sibTransId="{2E4C2D13-B647-4CF6-B1F7-03AB183A1123}"/>
    <dgm:cxn modelId="{BF7B8AEA-CFF9-4BFA-A92B-C9AA4345FE48}" srcId="{D199F25F-9525-43C5-955C-BB6FEFFBA60E}" destId="{3EC4611C-A3C3-451C-AE74-8846F1901302}" srcOrd="0" destOrd="0" parTransId="{68F328E8-C43C-478E-B670-0B24656D9E35}" sibTransId="{2E561528-8DA9-408B-83C6-171ECD06B86B}"/>
    <dgm:cxn modelId="{9CC835F5-C067-446B-80F3-D2FFA3E86768}" type="presOf" srcId="{E173A921-6651-451D-81E9-F0ACC1536AAC}" destId="{0EC6F23C-19FA-4BBB-96C2-30D954DFEC45}" srcOrd="0" destOrd="0" presId="urn:microsoft.com/office/officeart/2008/layout/AlternatingHexagons"/>
    <dgm:cxn modelId="{405F724F-32CA-4298-9526-DD1D7E219A96}" type="presParOf" srcId="{044216E9-137E-4B54-AB85-D985D58783B6}" destId="{6E6AB5B1-8C45-4545-BA69-7F63DEE5163B}" srcOrd="0" destOrd="0" presId="urn:microsoft.com/office/officeart/2008/layout/AlternatingHexagons"/>
    <dgm:cxn modelId="{213C1377-06D4-43BD-BF89-8F1DF1831F51}" type="presParOf" srcId="{6E6AB5B1-8C45-4545-BA69-7F63DEE5163B}" destId="{737B4ED7-5247-4B99-B038-972624275F7F}" srcOrd="0" destOrd="0" presId="urn:microsoft.com/office/officeart/2008/layout/AlternatingHexagons"/>
    <dgm:cxn modelId="{15885657-0B50-4B83-B32C-792A662D4265}" type="presParOf" srcId="{6E6AB5B1-8C45-4545-BA69-7F63DEE5163B}" destId="{0EC6F23C-19FA-4BBB-96C2-30D954DFEC45}" srcOrd="1" destOrd="0" presId="urn:microsoft.com/office/officeart/2008/layout/AlternatingHexagons"/>
    <dgm:cxn modelId="{C4E93D95-384E-4FCB-ADE1-AA29CB88139A}" type="presParOf" srcId="{6E6AB5B1-8C45-4545-BA69-7F63DEE5163B}" destId="{E72809E6-925A-4033-A3E6-30F40589AE8C}" srcOrd="2" destOrd="0" presId="urn:microsoft.com/office/officeart/2008/layout/AlternatingHexagons"/>
    <dgm:cxn modelId="{5C06105E-7261-4842-B8C3-5736A79AE428}" type="presParOf" srcId="{6E6AB5B1-8C45-4545-BA69-7F63DEE5163B}" destId="{8A426D04-7387-4BF5-B7A9-CE9CF71A10A4}" srcOrd="3" destOrd="0" presId="urn:microsoft.com/office/officeart/2008/layout/AlternatingHexagons"/>
    <dgm:cxn modelId="{C163A788-818C-460E-AE0E-C5DDA82442B5}" type="presParOf" srcId="{6E6AB5B1-8C45-4545-BA69-7F63DEE5163B}" destId="{538930E3-AFBB-40A2-9199-81FC54A0A713}" srcOrd="4" destOrd="0" presId="urn:microsoft.com/office/officeart/2008/layout/AlternatingHexagons"/>
    <dgm:cxn modelId="{FF4F9A51-FEE2-4642-BED2-DFAB7C4B4B30}" type="presParOf" srcId="{044216E9-137E-4B54-AB85-D985D58783B6}" destId="{770EB172-9189-4CB8-B1B4-B4830FDDB2B7}" srcOrd="1" destOrd="0" presId="urn:microsoft.com/office/officeart/2008/layout/AlternatingHexagons"/>
    <dgm:cxn modelId="{FD37A0EE-184F-4AA5-BE31-360AA961BD44}" type="presParOf" srcId="{044216E9-137E-4B54-AB85-D985D58783B6}" destId="{B8000619-585E-43B1-97D0-9E973B5CFF02}" srcOrd="2" destOrd="0" presId="urn:microsoft.com/office/officeart/2008/layout/AlternatingHexagons"/>
    <dgm:cxn modelId="{8FB49210-30B0-44F7-8E62-18871ADA0358}" type="presParOf" srcId="{B8000619-585E-43B1-97D0-9E973B5CFF02}" destId="{189B3354-A08F-46B4-AA51-80167B86E07E}" srcOrd="0" destOrd="0" presId="urn:microsoft.com/office/officeart/2008/layout/AlternatingHexagons"/>
    <dgm:cxn modelId="{F06CFED1-BDEE-4FE7-9629-E768AD01C060}" type="presParOf" srcId="{B8000619-585E-43B1-97D0-9E973B5CFF02}" destId="{30C810D8-43FD-41C8-A342-08B348498E1F}" srcOrd="1" destOrd="0" presId="urn:microsoft.com/office/officeart/2008/layout/AlternatingHexagons"/>
    <dgm:cxn modelId="{9D25BD80-F455-41AA-B3D4-16AE6FDD1ABC}" type="presParOf" srcId="{B8000619-585E-43B1-97D0-9E973B5CFF02}" destId="{DDAB6A08-FDE4-4250-B857-22C6F4C875CD}" srcOrd="2" destOrd="0" presId="urn:microsoft.com/office/officeart/2008/layout/AlternatingHexagons"/>
    <dgm:cxn modelId="{179D948A-D2D9-401B-AADD-A5422238354E}" type="presParOf" srcId="{B8000619-585E-43B1-97D0-9E973B5CFF02}" destId="{456BFF4D-8D17-4008-8FD8-97C1E973905D}" srcOrd="3" destOrd="0" presId="urn:microsoft.com/office/officeart/2008/layout/AlternatingHexagons"/>
    <dgm:cxn modelId="{24084E30-3C73-493C-81DF-EE623005A631}" type="presParOf" srcId="{B8000619-585E-43B1-97D0-9E973B5CFF02}" destId="{2E871E28-410D-4C73-B809-46EEEE1B5408}" srcOrd="4" destOrd="0" presId="urn:microsoft.com/office/officeart/2008/layout/AlternatingHexagons"/>
    <dgm:cxn modelId="{CD055EE5-C6AF-4919-997E-491C8B4B095B}" type="presParOf" srcId="{044216E9-137E-4B54-AB85-D985D58783B6}" destId="{32342D5D-D85B-4C93-8081-CE9B08BF8EF3}" srcOrd="3" destOrd="0" presId="urn:microsoft.com/office/officeart/2008/layout/AlternatingHexagons"/>
    <dgm:cxn modelId="{AB40E92D-2651-45AD-B522-301008D5FF55}" type="presParOf" srcId="{044216E9-137E-4B54-AB85-D985D58783B6}" destId="{0250A542-5660-4811-BA9A-A026384EC288}" srcOrd="4" destOrd="0" presId="urn:microsoft.com/office/officeart/2008/layout/AlternatingHexagons"/>
    <dgm:cxn modelId="{90B33D6A-B174-4FFF-ADD4-E32E6A41D685}" type="presParOf" srcId="{0250A542-5660-4811-BA9A-A026384EC288}" destId="{6CCD66D6-E3E3-4758-A25B-E5A97FDFEEA0}" srcOrd="0" destOrd="0" presId="urn:microsoft.com/office/officeart/2008/layout/AlternatingHexagons"/>
    <dgm:cxn modelId="{2DA2593B-F079-4D80-8521-40BDF08CF9D4}" type="presParOf" srcId="{0250A542-5660-4811-BA9A-A026384EC288}" destId="{95ED7348-6155-4B72-B2AA-9F71065BC8B5}" srcOrd="1" destOrd="0" presId="urn:microsoft.com/office/officeart/2008/layout/AlternatingHexagons"/>
    <dgm:cxn modelId="{2FDB2E88-C2EE-4B59-AE9B-8DFF0BDBF607}" type="presParOf" srcId="{0250A542-5660-4811-BA9A-A026384EC288}" destId="{5C3E9DE1-CF2D-48B8-B1BE-CF5807B39F22}" srcOrd="2" destOrd="0" presId="urn:microsoft.com/office/officeart/2008/layout/AlternatingHexagons"/>
    <dgm:cxn modelId="{90BA8F63-9159-4A17-8FD9-840351D6AB4C}" type="presParOf" srcId="{0250A542-5660-4811-BA9A-A026384EC288}" destId="{248FEED7-91A8-4070-8E60-258F9D3AF8A1}" srcOrd="3" destOrd="0" presId="urn:microsoft.com/office/officeart/2008/layout/AlternatingHexagons"/>
    <dgm:cxn modelId="{9B33B9C9-B3D3-4C87-BFAB-1BDB62C83F0F}" type="presParOf" srcId="{0250A542-5660-4811-BA9A-A026384EC288}" destId="{F96182DC-DEA1-4092-96CB-670F76C0F2C9}" srcOrd="4" destOrd="0" presId="urn:microsoft.com/office/officeart/2008/layout/AlternatingHexagons"/>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1D71CD6F-E65B-4CC0-8EAA-DB821D24E722}" type="doc">
      <dgm:prSet loTypeId="urn:microsoft.com/office/officeart/2005/8/layout/vList2" loCatId="list" qsTypeId="urn:microsoft.com/office/officeart/2005/8/quickstyle/simple3#1" qsCatId="simple" csTypeId="urn:microsoft.com/office/officeart/2005/8/colors/colorful4#1" csCatId="colorful" phldr="1"/>
      <dgm:spPr/>
      <dgm:t>
        <a:bodyPr/>
        <a:lstStyle/>
        <a:p>
          <a:endParaRPr lang="zh-CN" altLang="en-US"/>
        </a:p>
      </dgm:t>
    </dgm:pt>
    <dgm:pt modelId="{EFCA2B14-9468-4F2F-84A6-5C119482CD49}">
      <dgm:prSet phldrT="[文本]" custT="1"/>
      <dgm:spPr>
        <a:ln>
          <a:noFill/>
        </a:ln>
        <a:scene3d>
          <a:camera prst="orthographicFront"/>
          <a:lightRig rig="flat" dir="t"/>
        </a:scene3d>
        <a:sp3d prstMaterial="dkEdge"/>
      </dgm:spPr>
      <dgm:t>
        <a:bodyPr/>
        <a:lstStyle/>
        <a:p>
          <a:r>
            <a:rPr lang="zh-CN" altLang="en-US" sz="1600" b="0" i="0" baseline="0" dirty="0">
              <a:latin typeface="+mn-lt"/>
              <a:ea typeface="+mn-ea"/>
            </a:rPr>
            <a:t>法律上的 </a:t>
          </a:r>
          <a:r>
            <a:rPr lang="en-US" altLang="en-US" sz="1600" b="0" i="0" baseline="0" dirty="0">
              <a:latin typeface="+mn-lt"/>
              <a:ea typeface="+mn-ea"/>
            </a:rPr>
            <a:t>(de jure) </a:t>
          </a:r>
          <a:r>
            <a:rPr lang="zh-CN" altLang="en-US" sz="1600" b="0" i="0" baseline="0" dirty="0">
              <a:latin typeface="+mn-lt"/>
              <a:ea typeface="+mn-ea"/>
            </a:rPr>
            <a:t>国际标准 </a:t>
          </a:r>
          <a:r>
            <a:rPr lang="en-US" altLang="en-US" sz="1600" b="0" i="0" baseline="0" dirty="0">
              <a:latin typeface="+mn-lt"/>
              <a:ea typeface="+mn-ea"/>
            </a:rPr>
            <a:t>OSI</a:t>
          </a:r>
          <a:endParaRPr lang="zh-CN" altLang="en-US" sz="1600" b="0" i="0" baseline="0" dirty="0">
            <a:latin typeface="+mn-lt"/>
            <a:ea typeface="+mn-ea"/>
          </a:endParaRPr>
        </a:p>
      </dgm:t>
    </dgm:pt>
    <dgm:pt modelId="{E38B7B80-E684-4487-8667-BCC0A5171417}" type="parTrans" cxnId="{9E21BC85-7589-4E30-94BE-94BFF4B03EBC}">
      <dgm:prSet/>
      <dgm:spPr/>
      <dgm:t>
        <a:bodyPr/>
        <a:lstStyle/>
        <a:p>
          <a:endParaRPr lang="zh-CN" altLang="en-US" sz="1600" b="0" i="0" baseline="0">
            <a:latin typeface="+mn-lt"/>
            <a:ea typeface="+mn-ea"/>
          </a:endParaRPr>
        </a:p>
      </dgm:t>
    </dgm:pt>
    <dgm:pt modelId="{6756D47E-79F4-44F1-9DC8-F8FF9A3DB365}" type="sibTrans" cxnId="{9E21BC85-7589-4E30-94BE-94BFF4B03EBC}">
      <dgm:prSet/>
      <dgm:spPr/>
      <dgm:t>
        <a:bodyPr/>
        <a:lstStyle/>
        <a:p>
          <a:endParaRPr lang="zh-CN" altLang="en-US" sz="1600" b="0" i="0" baseline="0">
            <a:latin typeface="+mn-lt"/>
            <a:ea typeface="+mn-ea"/>
          </a:endParaRPr>
        </a:p>
      </dgm:t>
    </dgm:pt>
    <dgm:pt modelId="{226438D5-AF60-4FC2-B7B1-1FAFE6F029F4}">
      <dgm:prSet phldrT="[文本]" custT="1"/>
      <dgm:spPr/>
      <dgm:t>
        <a:bodyPr/>
        <a:lstStyle/>
        <a:p>
          <a:r>
            <a:rPr lang="zh-CN" altLang="en-US" sz="1600" b="0" i="0" baseline="0" dirty="0">
              <a:latin typeface="+mn-lt"/>
              <a:ea typeface="+mn-ea"/>
            </a:rPr>
            <a:t>但并没有得到市场的认可</a:t>
          </a:r>
        </a:p>
      </dgm:t>
    </dgm:pt>
    <dgm:pt modelId="{E2043F32-4A49-416A-8197-C2B2393B2255}" type="parTrans" cxnId="{23AA8198-F998-4AB6-A021-FDD348C07171}">
      <dgm:prSet/>
      <dgm:spPr/>
      <dgm:t>
        <a:bodyPr/>
        <a:lstStyle/>
        <a:p>
          <a:endParaRPr lang="zh-CN" altLang="en-US" sz="1600" b="0" i="0" baseline="0">
            <a:latin typeface="+mn-lt"/>
            <a:ea typeface="+mn-ea"/>
          </a:endParaRPr>
        </a:p>
      </dgm:t>
    </dgm:pt>
    <dgm:pt modelId="{F4028441-B185-4303-8082-46E98E8EBA28}" type="sibTrans" cxnId="{23AA8198-F998-4AB6-A021-FDD348C07171}">
      <dgm:prSet/>
      <dgm:spPr/>
      <dgm:t>
        <a:bodyPr/>
        <a:lstStyle/>
        <a:p>
          <a:endParaRPr lang="zh-CN" altLang="en-US" sz="1600" b="0" i="0" baseline="0">
            <a:latin typeface="+mn-lt"/>
            <a:ea typeface="+mn-ea"/>
          </a:endParaRPr>
        </a:p>
      </dgm:t>
    </dgm:pt>
    <dgm:pt modelId="{0986DFCC-564B-42E1-8E43-BFE75079EEDF}">
      <dgm:prSet phldrT="[文本]" custT="1"/>
      <dgm:spPr>
        <a:ln>
          <a:noFill/>
        </a:ln>
        <a:scene3d>
          <a:camera prst="orthographicFront"/>
          <a:lightRig rig="flat" dir="t"/>
        </a:scene3d>
        <a:sp3d prstMaterial="dkEdge"/>
      </dgm:spPr>
      <dgm:t>
        <a:bodyPr/>
        <a:lstStyle/>
        <a:p>
          <a:r>
            <a:rPr lang="zh-CN" altLang="en-US" sz="1600" b="0" i="0" baseline="0" dirty="0">
              <a:latin typeface="+mn-lt"/>
              <a:ea typeface="+mn-ea"/>
            </a:rPr>
            <a:t>事实上的 </a:t>
          </a:r>
          <a:r>
            <a:rPr lang="en-US" altLang="en-US" sz="1600" b="0" i="0" baseline="0" dirty="0">
              <a:latin typeface="+mn-lt"/>
              <a:ea typeface="+mn-ea"/>
            </a:rPr>
            <a:t>(de facto) </a:t>
          </a:r>
          <a:r>
            <a:rPr lang="zh-CN" altLang="en-US" sz="1600" b="0" i="0" baseline="0" dirty="0">
              <a:latin typeface="+mn-lt"/>
              <a:ea typeface="+mn-ea"/>
            </a:rPr>
            <a:t>国际标准 </a:t>
          </a:r>
          <a:r>
            <a:rPr lang="en-US" altLang="en-US" sz="1600" b="0" i="0" baseline="0" dirty="0">
              <a:latin typeface="+mn-lt"/>
              <a:ea typeface="+mn-ea"/>
            </a:rPr>
            <a:t>TCP/IP</a:t>
          </a:r>
          <a:endParaRPr lang="zh-CN" altLang="en-US" sz="1600" b="0" i="0" baseline="0" dirty="0">
            <a:latin typeface="+mn-lt"/>
            <a:ea typeface="+mn-ea"/>
          </a:endParaRPr>
        </a:p>
      </dgm:t>
    </dgm:pt>
    <dgm:pt modelId="{BB601F7A-8E86-4A9E-9EF8-CC003C5EF85D}" type="parTrans" cxnId="{49E9C9C9-3C6E-4805-BAA2-32EF310CFED5}">
      <dgm:prSet/>
      <dgm:spPr/>
      <dgm:t>
        <a:bodyPr/>
        <a:lstStyle/>
        <a:p>
          <a:endParaRPr lang="zh-CN" altLang="en-US" sz="1600" b="0" i="0" baseline="0">
            <a:latin typeface="+mn-lt"/>
            <a:ea typeface="+mn-ea"/>
          </a:endParaRPr>
        </a:p>
      </dgm:t>
    </dgm:pt>
    <dgm:pt modelId="{FD297112-55F6-448E-AECB-EFD048EDDB28}" type="sibTrans" cxnId="{49E9C9C9-3C6E-4805-BAA2-32EF310CFED5}">
      <dgm:prSet/>
      <dgm:spPr/>
      <dgm:t>
        <a:bodyPr/>
        <a:lstStyle/>
        <a:p>
          <a:endParaRPr lang="zh-CN" altLang="en-US" sz="1600" b="0" i="0" baseline="0">
            <a:latin typeface="+mn-lt"/>
            <a:ea typeface="+mn-ea"/>
          </a:endParaRPr>
        </a:p>
      </dgm:t>
    </dgm:pt>
    <dgm:pt modelId="{2CC66CB7-D7AD-41A6-98DD-74D4F514E2BD}">
      <dgm:prSet phldrT="[文本]" custT="1"/>
      <dgm:spPr/>
      <dgm:t>
        <a:bodyPr/>
        <a:lstStyle/>
        <a:p>
          <a:r>
            <a:rPr lang="zh-CN" altLang="en-US" sz="1600" b="0" i="0" baseline="0" dirty="0">
              <a:latin typeface="+mn-lt"/>
              <a:ea typeface="+mn-ea"/>
            </a:rPr>
            <a:t>获得了最广泛的应用</a:t>
          </a:r>
        </a:p>
      </dgm:t>
    </dgm:pt>
    <dgm:pt modelId="{85BE533B-2396-46D9-AFFB-686B13690F8B}" type="parTrans" cxnId="{831BB112-8E09-4BF6-9DC2-BFF8996C5A45}">
      <dgm:prSet/>
      <dgm:spPr/>
      <dgm:t>
        <a:bodyPr/>
        <a:lstStyle/>
        <a:p>
          <a:endParaRPr lang="zh-CN" altLang="en-US" sz="1600" b="0" i="0" baseline="0">
            <a:latin typeface="+mn-lt"/>
            <a:ea typeface="+mn-ea"/>
          </a:endParaRPr>
        </a:p>
      </dgm:t>
    </dgm:pt>
    <dgm:pt modelId="{28DE6DB6-6A4C-41DA-8F55-0D1076B0DD18}" type="sibTrans" cxnId="{831BB112-8E09-4BF6-9DC2-BFF8996C5A45}">
      <dgm:prSet/>
      <dgm:spPr/>
      <dgm:t>
        <a:bodyPr/>
        <a:lstStyle/>
        <a:p>
          <a:endParaRPr lang="zh-CN" altLang="en-US" sz="1600" b="0" i="0" baseline="0">
            <a:latin typeface="+mn-lt"/>
            <a:ea typeface="+mn-ea"/>
          </a:endParaRPr>
        </a:p>
      </dgm:t>
    </dgm:pt>
    <dgm:pt modelId="{98B905C2-E6DF-4B75-9416-AF7446358B35}" type="pres">
      <dgm:prSet presAssocID="{1D71CD6F-E65B-4CC0-8EAA-DB821D24E722}" presName="linear" presStyleCnt="0">
        <dgm:presLayoutVars>
          <dgm:animLvl val="lvl"/>
          <dgm:resizeHandles val="exact"/>
        </dgm:presLayoutVars>
      </dgm:prSet>
      <dgm:spPr/>
    </dgm:pt>
    <dgm:pt modelId="{41591867-A15A-4C01-989E-2D8E71AD280E}" type="pres">
      <dgm:prSet presAssocID="{EFCA2B14-9468-4F2F-84A6-5C119482CD49}" presName="parentText" presStyleLbl="node1" presStyleIdx="0" presStyleCnt="2">
        <dgm:presLayoutVars>
          <dgm:chMax val="0"/>
          <dgm:bulletEnabled val="1"/>
        </dgm:presLayoutVars>
      </dgm:prSet>
      <dgm:spPr>
        <a:prstGeom prst="rect">
          <a:avLst/>
        </a:prstGeom>
      </dgm:spPr>
    </dgm:pt>
    <dgm:pt modelId="{0CB64F91-1AC8-4F08-AB65-6A4FEE705282}" type="pres">
      <dgm:prSet presAssocID="{EFCA2B14-9468-4F2F-84A6-5C119482CD49}" presName="childText" presStyleLbl="revTx" presStyleIdx="0" presStyleCnt="2">
        <dgm:presLayoutVars>
          <dgm:bulletEnabled val="1"/>
        </dgm:presLayoutVars>
      </dgm:prSet>
      <dgm:spPr/>
    </dgm:pt>
    <dgm:pt modelId="{533E5313-0390-4A3E-9304-2F63C7C13FAF}" type="pres">
      <dgm:prSet presAssocID="{0986DFCC-564B-42E1-8E43-BFE75079EEDF}" presName="parentText" presStyleLbl="node1" presStyleIdx="1" presStyleCnt="2">
        <dgm:presLayoutVars>
          <dgm:chMax val="0"/>
          <dgm:bulletEnabled val="1"/>
        </dgm:presLayoutVars>
      </dgm:prSet>
      <dgm:spPr>
        <a:prstGeom prst="rect">
          <a:avLst/>
        </a:prstGeom>
      </dgm:spPr>
    </dgm:pt>
    <dgm:pt modelId="{D4FB4936-BF1D-4807-8D25-E8B1D64E8CFA}" type="pres">
      <dgm:prSet presAssocID="{0986DFCC-564B-42E1-8E43-BFE75079EEDF}" presName="childText" presStyleLbl="revTx" presStyleIdx="1" presStyleCnt="2">
        <dgm:presLayoutVars>
          <dgm:bulletEnabled val="1"/>
        </dgm:presLayoutVars>
      </dgm:prSet>
      <dgm:spPr/>
    </dgm:pt>
  </dgm:ptLst>
  <dgm:cxnLst>
    <dgm:cxn modelId="{831BB112-8E09-4BF6-9DC2-BFF8996C5A45}" srcId="{0986DFCC-564B-42E1-8E43-BFE75079EEDF}" destId="{2CC66CB7-D7AD-41A6-98DD-74D4F514E2BD}" srcOrd="0" destOrd="0" parTransId="{85BE533B-2396-46D9-AFFB-686B13690F8B}" sibTransId="{28DE6DB6-6A4C-41DA-8F55-0D1076B0DD18}"/>
    <dgm:cxn modelId="{BB84275B-8B79-4927-AEBD-CCB80DFC9B4C}" type="presOf" srcId="{1D71CD6F-E65B-4CC0-8EAA-DB821D24E722}" destId="{98B905C2-E6DF-4B75-9416-AF7446358B35}" srcOrd="0" destOrd="0" presId="urn:microsoft.com/office/officeart/2005/8/layout/vList2"/>
    <dgm:cxn modelId="{87C4B245-7D03-47D6-A58A-FE65D816A8BA}" type="presOf" srcId="{0986DFCC-564B-42E1-8E43-BFE75079EEDF}" destId="{533E5313-0390-4A3E-9304-2F63C7C13FAF}" srcOrd="0" destOrd="0" presId="urn:microsoft.com/office/officeart/2005/8/layout/vList2"/>
    <dgm:cxn modelId="{DC3E0283-EE3A-4847-AC4B-B24480331CA1}" type="presOf" srcId="{2CC66CB7-D7AD-41A6-98DD-74D4F514E2BD}" destId="{D4FB4936-BF1D-4807-8D25-E8B1D64E8CFA}" srcOrd="0" destOrd="0" presId="urn:microsoft.com/office/officeart/2005/8/layout/vList2"/>
    <dgm:cxn modelId="{9E21BC85-7589-4E30-94BE-94BFF4B03EBC}" srcId="{1D71CD6F-E65B-4CC0-8EAA-DB821D24E722}" destId="{EFCA2B14-9468-4F2F-84A6-5C119482CD49}" srcOrd="0" destOrd="0" parTransId="{E38B7B80-E684-4487-8667-BCC0A5171417}" sibTransId="{6756D47E-79F4-44F1-9DC8-F8FF9A3DB365}"/>
    <dgm:cxn modelId="{23AA8198-F998-4AB6-A021-FDD348C07171}" srcId="{EFCA2B14-9468-4F2F-84A6-5C119482CD49}" destId="{226438D5-AF60-4FC2-B7B1-1FAFE6F029F4}" srcOrd="0" destOrd="0" parTransId="{E2043F32-4A49-416A-8197-C2B2393B2255}" sibTransId="{F4028441-B185-4303-8082-46E98E8EBA28}"/>
    <dgm:cxn modelId="{49E9C9C9-3C6E-4805-BAA2-32EF310CFED5}" srcId="{1D71CD6F-E65B-4CC0-8EAA-DB821D24E722}" destId="{0986DFCC-564B-42E1-8E43-BFE75079EEDF}" srcOrd="1" destOrd="0" parTransId="{BB601F7A-8E86-4A9E-9EF8-CC003C5EF85D}" sibTransId="{FD297112-55F6-448E-AECB-EFD048EDDB28}"/>
    <dgm:cxn modelId="{75CADFD2-DA7B-46F7-89E8-DC800A77BE41}" type="presOf" srcId="{EFCA2B14-9468-4F2F-84A6-5C119482CD49}" destId="{41591867-A15A-4C01-989E-2D8E71AD280E}" srcOrd="0" destOrd="0" presId="urn:microsoft.com/office/officeart/2005/8/layout/vList2"/>
    <dgm:cxn modelId="{C9EBB2F8-1242-4DB0-B9B1-32B0EE5BD1DD}" type="presOf" srcId="{226438D5-AF60-4FC2-B7B1-1FAFE6F029F4}" destId="{0CB64F91-1AC8-4F08-AB65-6A4FEE705282}" srcOrd="0" destOrd="0" presId="urn:microsoft.com/office/officeart/2005/8/layout/vList2"/>
    <dgm:cxn modelId="{64062E8C-5E46-4D49-BAD3-4772A44F09C0}" type="presParOf" srcId="{98B905C2-E6DF-4B75-9416-AF7446358B35}" destId="{41591867-A15A-4C01-989E-2D8E71AD280E}" srcOrd="0" destOrd="0" presId="urn:microsoft.com/office/officeart/2005/8/layout/vList2"/>
    <dgm:cxn modelId="{CA918946-BF6A-4EC6-9FCA-45A48A711BF0}" type="presParOf" srcId="{98B905C2-E6DF-4B75-9416-AF7446358B35}" destId="{0CB64F91-1AC8-4F08-AB65-6A4FEE705282}" srcOrd="1" destOrd="0" presId="urn:microsoft.com/office/officeart/2005/8/layout/vList2"/>
    <dgm:cxn modelId="{25C6509F-6344-421B-B6B7-1C5D6B562EEE}" type="presParOf" srcId="{98B905C2-E6DF-4B75-9416-AF7446358B35}" destId="{533E5313-0390-4A3E-9304-2F63C7C13FAF}" srcOrd="2" destOrd="0" presId="urn:microsoft.com/office/officeart/2005/8/layout/vList2"/>
    <dgm:cxn modelId="{3FEA8797-2866-4D9F-8576-8A10DA896460}" type="presParOf" srcId="{98B905C2-E6DF-4B75-9416-AF7446358B35}" destId="{D4FB4936-BF1D-4807-8D25-E8B1D64E8CFA}" srcOrd="3"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37B4ED7-5247-4B99-B038-972624275F7F}">
      <dsp:nvSpPr>
        <dsp:cNvPr id="0" name=""/>
        <dsp:cNvSpPr/>
      </dsp:nvSpPr>
      <dsp:spPr>
        <a:xfrm rot="5400000">
          <a:off x="3075854" y="75619"/>
          <a:ext cx="1155331" cy="1005138"/>
        </a:xfrm>
        <a:prstGeom prst="hexagon">
          <a:avLst>
            <a:gd name="adj" fmla="val 25000"/>
            <a:gd name="vf" fmla="val 115470"/>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zh-CN" altLang="en-US" sz="1600" b="1" i="0" kern="1200" baseline="0" dirty="0">
              <a:solidFill>
                <a:schemeClr val="tx1"/>
              </a:solidFill>
              <a:latin typeface="+mj-lt"/>
              <a:ea typeface="+mj-ea"/>
            </a:rPr>
            <a:t>费用</a:t>
          </a:r>
        </a:p>
      </dsp:txBody>
      <dsp:txXfrm rot="-5400000">
        <a:off x="3307584" y="180562"/>
        <a:ext cx="691870" cy="795253"/>
      </dsp:txXfrm>
    </dsp:sp>
    <dsp:sp modelId="{0EC6F23C-19FA-4BBB-96C2-30D954DFEC45}">
      <dsp:nvSpPr>
        <dsp:cNvPr id="0" name=""/>
        <dsp:cNvSpPr/>
      </dsp:nvSpPr>
      <dsp:spPr>
        <a:xfrm>
          <a:off x="4186590" y="231589"/>
          <a:ext cx="1289350" cy="69319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8580" tIns="68580" rIns="68580" bIns="68580" numCol="1" spcCol="1270" anchor="ctr" anchorCtr="0">
          <a:noAutofit/>
        </a:bodyPr>
        <a:lstStyle/>
        <a:p>
          <a:pPr marL="0" lvl="0" indent="0" algn="l" defTabSz="800100">
            <a:lnSpc>
              <a:spcPct val="90000"/>
            </a:lnSpc>
            <a:spcBef>
              <a:spcPct val="0"/>
            </a:spcBef>
            <a:spcAft>
              <a:spcPct val="35000"/>
            </a:spcAft>
            <a:buNone/>
          </a:pPr>
          <a:r>
            <a:rPr lang="zh-CN" altLang="en-US" sz="1800" b="1" i="0" kern="1200" baseline="0" dirty="0">
              <a:latin typeface="+mj-lt"/>
              <a:ea typeface="+mj-ea"/>
            </a:rPr>
            <a:t>标准化</a:t>
          </a:r>
        </a:p>
      </dsp:txBody>
      <dsp:txXfrm>
        <a:off x="4186590" y="231589"/>
        <a:ext cx="1289350" cy="693199"/>
      </dsp:txXfrm>
    </dsp:sp>
    <dsp:sp modelId="{538930E3-AFBB-40A2-9199-81FC54A0A713}">
      <dsp:nvSpPr>
        <dsp:cNvPr id="0" name=""/>
        <dsp:cNvSpPr/>
      </dsp:nvSpPr>
      <dsp:spPr>
        <a:xfrm rot="5400000">
          <a:off x="1990305" y="75619"/>
          <a:ext cx="1155331" cy="1005138"/>
        </a:xfrm>
        <a:prstGeom prst="hexagon">
          <a:avLst>
            <a:gd name="adj" fmla="val 25000"/>
            <a:gd name="vf" fmla="val 115470"/>
          </a:avLst>
        </a:prstGeom>
        <a:solidFill>
          <a:schemeClr val="accent3">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b="1" i="0" kern="1200" baseline="0">
            <a:latin typeface="+mj-lt"/>
            <a:ea typeface="+mj-ea"/>
          </a:endParaRPr>
        </a:p>
      </dsp:txBody>
      <dsp:txXfrm rot="-5400000">
        <a:off x="2222035" y="180562"/>
        <a:ext cx="691870" cy="795253"/>
      </dsp:txXfrm>
    </dsp:sp>
    <dsp:sp modelId="{189B3354-A08F-46B4-AA51-80167B86E07E}">
      <dsp:nvSpPr>
        <dsp:cNvPr id="0" name=""/>
        <dsp:cNvSpPr/>
      </dsp:nvSpPr>
      <dsp:spPr>
        <a:xfrm rot="5400000">
          <a:off x="2531000" y="1056265"/>
          <a:ext cx="1155331" cy="1005138"/>
        </a:xfrm>
        <a:prstGeom prst="hexagon">
          <a:avLst>
            <a:gd name="adj" fmla="val 25000"/>
            <a:gd name="vf" fmla="val 115470"/>
          </a:avLst>
        </a:prstGeom>
        <a:solidFill>
          <a:schemeClr val="accent4">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zh-CN" altLang="en-US" sz="1600" b="1" i="0" kern="1200" baseline="0" dirty="0">
              <a:solidFill>
                <a:schemeClr val="tx1"/>
              </a:solidFill>
              <a:latin typeface="+mj-lt"/>
              <a:ea typeface="+mj-ea"/>
            </a:rPr>
            <a:t>质量</a:t>
          </a:r>
        </a:p>
      </dsp:txBody>
      <dsp:txXfrm rot="-5400000">
        <a:off x="2762730" y="1161208"/>
        <a:ext cx="691870" cy="795253"/>
      </dsp:txXfrm>
    </dsp:sp>
    <dsp:sp modelId="{30C810D8-43FD-41C8-A342-08B348498E1F}">
      <dsp:nvSpPr>
        <dsp:cNvPr id="0" name=""/>
        <dsp:cNvSpPr/>
      </dsp:nvSpPr>
      <dsp:spPr>
        <a:xfrm>
          <a:off x="1316746" y="1212234"/>
          <a:ext cx="1247758" cy="69319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0960" tIns="60960" rIns="60960" bIns="60960" numCol="1" spcCol="1270" anchor="ctr" anchorCtr="0">
          <a:noAutofit/>
        </a:bodyPr>
        <a:lstStyle/>
        <a:p>
          <a:pPr marL="0" lvl="0" indent="0" algn="r" defTabSz="711200">
            <a:lnSpc>
              <a:spcPct val="90000"/>
            </a:lnSpc>
            <a:spcBef>
              <a:spcPct val="0"/>
            </a:spcBef>
            <a:spcAft>
              <a:spcPct val="35000"/>
            </a:spcAft>
            <a:buNone/>
          </a:pPr>
          <a:r>
            <a:rPr lang="zh-CN" altLang="en-US" sz="1600" b="1" i="0" kern="1200" baseline="0" dirty="0">
              <a:latin typeface="+mj-lt"/>
              <a:ea typeface="+mj-ea"/>
            </a:rPr>
            <a:t>可靠性</a:t>
          </a:r>
        </a:p>
      </dsp:txBody>
      <dsp:txXfrm>
        <a:off x="1316746" y="1212234"/>
        <a:ext cx="1247758" cy="693199"/>
      </dsp:txXfrm>
    </dsp:sp>
    <dsp:sp modelId="{2E871E28-410D-4C73-B809-46EEEE1B5408}">
      <dsp:nvSpPr>
        <dsp:cNvPr id="0" name=""/>
        <dsp:cNvSpPr/>
      </dsp:nvSpPr>
      <dsp:spPr>
        <a:xfrm rot="5400000">
          <a:off x="3616550" y="1056265"/>
          <a:ext cx="1155331" cy="1005138"/>
        </a:xfrm>
        <a:prstGeom prst="hexagon">
          <a:avLst>
            <a:gd name="adj" fmla="val 25000"/>
            <a:gd name="vf" fmla="val 115470"/>
          </a:avLst>
        </a:prstGeom>
        <a:solidFill>
          <a:schemeClr val="accent5">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b="1" i="0" kern="1200" baseline="0">
            <a:latin typeface="+mj-lt"/>
            <a:ea typeface="+mj-ea"/>
          </a:endParaRPr>
        </a:p>
      </dsp:txBody>
      <dsp:txXfrm rot="-5400000">
        <a:off x="3848280" y="1161208"/>
        <a:ext cx="691870" cy="795253"/>
      </dsp:txXfrm>
    </dsp:sp>
    <dsp:sp modelId="{6CCD66D6-E3E3-4758-A25B-E5A97FDFEEA0}">
      <dsp:nvSpPr>
        <dsp:cNvPr id="0" name=""/>
        <dsp:cNvSpPr/>
      </dsp:nvSpPr>
      <dsp:spPr>
        <a:xfrm rot="5400000">
          <a:off x="3075854" y="2036910"/>
          <a:ext cx="1155331" cy="1005138"/>
        </a:xfrm>
        <a:prstGeom prst="hexagon">
          <a:avLst>
            <a:gd name="adj" fmla="val 25000"/>
            <a:gd name="vf" fmla="val 115470"/>
          </a:avLst>
        </a:prstGeom>
        <a:solidFill>
          <a:schemeClr val="accent6">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ct val="35000"/>
            </a:spcAft>
            <a:buNone/>
          </a:pPr>
          <a:r>
            <a:rPr lang="zh-CN" altLang="en-US" sz="1400" b="1" i="0" kern="1200" baseline="0" dirty="0">
              <a:solidFill>
                <a:schemeClr val="tx1"/>
              </a:solidFill>
              <a:latin typeface="+mj-lt"/>
              <a:ea typeface="+mj-ea"/>
            </a:rPr>
            <a:t>维护</a:t>
          </a:r>
        </a:p>
      </dsp:txBody>
      <dsp:txXfrm rot="-5400000">
        <a:off x="3307584" y="2141853"/>
        <a:ext cx="691870" cy="795253"/>
      </dsp:txXfrm>
    </dsp:sp>
    <dsp:sp modelId="{95ED7348-6155-4B72-B2AA-9F71065BC8B5}">
      <dsp:nvSpPr>
        <dsp:cNvPr id="0" name=""/>
        <dsp:cNvSpPr/>
      </dsp:nvSpPr>
      <dsp:spPr>
        <a:xfrm>
          <a:off x="4186590" y="2192880"/>
          <a:ext cx="1289350" cy="69319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8580" tIns="68580" rIns="68580" bIns="68580" numCol="1" spcCol="1270" anchor="ctr" anchorCtr="0">
          <a:noAutofit/>
        </a:bodyPr>
        <a:lstStyle/>
        <a:p>
          <a:pPr marL="0" lvl="0" indent="0" algn="l" defTabSz="800100">
            <a:lnSpc>
              <a:spcPct val="90000"/>
            </a:lnSpc>
            <a:spcBef>
              <a:spcPct val="0"/>
            </a:spcBef>
            <a:spcAft>
              <a:spcPct val="35000"/>
            </a:spcAft>
            <a:buNone/>
          </a:pPr>
          <a:r>
            <a:rPr lang="zh-CN" altLang="en-US" sz="1800" b="1" i="0" kern="1200" baseline="0" dirty="0">
              <a:latin typeface="+mj-lt"/>
              <a:ea typeface="+mj-ea"/>
            </a:rPr>
            <a:t>可扩展性和可升级性</a:t>
          </a:r>
        </a:p>
      </dsp:txBody>
      <dsp:txXfrm>
        <a:off x="4186590" y="2192880"/>
        <a:ext cx="1289350" cy="693199"/>
      </dsp:txXfrm>
    </dsp:sp>
    <dsp:sp modelId="{F96182DC-DEA1-4092-96CB-670F76C0F2C9}">
      <dsp:nvSpPr>
        <dsp:cNvPr id="0" name=""/>
        <dsp:cNvSpPr/>
      </dsp:nvSpPr>
      <dsp:spPr>
        <a:xfrm rot="5400000">
          <a:off x="1990305" y="2036910"/>
          <a:ext cx="1155331" cy="1005138"/>
        </a:xfrm>
        <a:prstGeom prst="hexagon">
          <a:avLst>
            <a:gd name="adj" fmla="val 25000"/>
            <a:gd name="vf" fmla="val 115470"/>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711200">
            <a:lnSpc>
              <a:spcPct val="90000"/>
            </a:lnSpc>
            <a:spcBef>
              <a:spcPct val="0"/>
            </a:spcBef>
            <a:spcAft>
              <a:spcPct val="35000"/>
            </a:spcAft>
            <a:buNone/>
          </a:pPr>
          <a:r>
            <a:rPr lang="zh-CN" altLang="en-US" sz="1600" b="1" i="0" kern="1200" baseline="0" dirty="0">
              <a:latin typeface="+mj-lt"/>
              <a:ea typeface="+mj-ea"/>
            </a:rPr>
            <a:t>管理</a:t>
          </a:r>
        </a:p>
      </dsp:txBody>
      <dsp:txXfrm rot="-5400000">
        <a:off x="2222035" y="2141853"/>
        <a:ext cx="691870" cy="795253"/>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1591867-A15A-4C01-989E-2D8E71AD280E}">
      <dsp:nvSpPr>
        <dsp:cNvPr id="0" name=""/>
        <dsp:cNvSpPr/>
      </dsp:nvSpPr>
      <dsp:spPr>
        <a:xfrm>
          <a:off x="0" y="9188"/>
          <a:ext cx="4963885" cy="711360"/>
        </a:xfrm>
        <a:prstGeom prst="rect">
          <a:avLst/>
        </a:prstGeom>
        <a:gradFill rotWithShape="0">
          <a:gsLst>
            <a:gs pos="0">
              <a:schemeClr val="accent4">
                <a:hueOff val="0"/>
                <a:satOff val="0"/>
                <a:lumOff val="0"/>
                <a:alphaOff val="0"/>
                <a:lumMod val="110000"/>
                <a:satMod val="105000"/>
                <a:tint val="67000"/>
              </a:schemeClr>
            </a:gs>
            <a:gs pos="50000">
              <a:schemeClr val="accent4">
                <a:hueOff val="0"/>
                <a:satOff val="0"/>
                <a:lumOff val="0"/>
                <a:alphaOff val="0"/>
                <a:lumMod val="105000"/>
                <a:satMod val="103000"/>
                <a:tint val="73000"/>
              </a:schemeClr>
            </a:gs>
            <a:gs pos="100000">
              <a:schemeClr val="accent4">
                <a:hueOff val="0"/>
                <a:satOff val="0"/>
                <a:lumOff val="0"/>
                <a:alphaOff val="0"/>
                <a:lumMod val="105000"/>
                <a:satMod val="109000"/>
                <a:tint val="81000"/>
              </a:schemeClr>
            </a:gs>
          </a:gsLst>
          <a:lin ang="5400000" scaled="0"/>
        </a:gradFill>
        <a:ln>
          <a:noFill/>
        </a:ln>
        <a:effectLst/>
        <a:scene3d>
          <a:camera prst="orthographicFront"/>
          <a:lightRig rig="flat" dir="t"/>
        </a:scene3d>
        <a:sp3d prstMaterial="dkEdge"/>
      </dsp:spPr>
      <dsp:style>
        <a:lnRef idx="0">
          <a:scrgbClr r="0" g="0" b="0"/>
        </a:lnRef>
        <a:fillRef idx="2">
          <a:scrgbClr r="0" g="0" b="0"/>
        </a:fillRef>
        <a:effectRef idx="1">
          <a:scrgbClr r="0" g="0" b="0"/>
        </a:effectRef>
        <a:fontRef idx="minor">
          <a:schemeClr val="dk1"/>
        </a:fontRef>
      </dsp:style>
      <dsp:txBody>
        <a:bodyPr spcFirstLastPara="0" vert="horz" wrap="square" lIns="60960" tIns="60960" rIns="60960" bIns="60960" numCol="1" spcCol="1270" anchor="ctr" anchorCtr="0">
          <a:noAutofit/>
        </a:bodyPr>
        <a:lstStyle/>
        <a:p>
          <a:pPr marL="0" lvl="0" indent="0" algn="l" defTabSz="711200">
            <a:lnSpc>
              <a:spcPct val="90000"/>
            </a:lnSpc>
            <a:spcBef>
              <a:spcPct val="0"/>
            </a:spcBef>
            <a:spcAft>
              <a:spcPct val="35000"/>
            </a:spcAft>
            <a:buNone/>
          </a:pPr>
          <a:r>
            <a:rPr lang="zh-CN" altLang="en-US" sz="1600" b="0" i="0" kern="1200" baseline="0" dirty="0">
              <a:latin typeface="+mn-lt"/>
              <a:ea typeface="+mn-ea"/>
            </a:rPr>
            <a:t>法律上的 </a:t>
          </a:r>
          <a:r>
            <a:rPr lang="en-US" altLang="en-US" sz="1600" b="0" i="0" kern="1200" baseline="0" dirty="0">
              <a:latin typeface="+mn-lt"/>
              <a:ea typeface="+mn-ea"/>
            </a:rPr>
            <a:t>(de jure) </a:t>
          </a:r>
          <a:r>
            <a:rPr lang="zh-CN" altLang="en-US" sz="1600" b="0" i="0" kern="1200" baseline="0" dirty="0">
              <a:latin typeface="+mn-lt"/>
              <a:ea typeface="+mn-ea"/>
            </a:rPr>
            <a:t>国际标准 </a:t>
          </a:r>
          <a:r>
            <a:rPr lang="en-US" altLang="en-US" sz="1600" b="0" i="0" kern="1200" baseline="0" dirty="0">
              <a:latin typeface="+mn-lt"/>
              <a:ea typeface="+mn-ea"/>
            </a:rPr>
            <a:t>OSI</a:t>
          </a:r>
          <a:endParaRPr lang="zh-CN" altLang="en-US" sz="1600" b="0" i="0" kern="1200" baseline="0" dirty="0">
            <a:latin typeface="+mn-lt"/>
            <a:ea typeface="+mn-ea"/>
          </a:endParaRPr>
        </a:p>
      </dsp:txBody>
      <dsp:txXfrm>
        <a:off x="0" y="9188"/>
        <a:ext cx="4963885" cy="711360"/>
      </dsp:txXfrm>
    </dsp:sp>
    <dsp:sp modelId="{0CB64F91-1AC8-4F08-AB65-6A4FEE705282}">
      <dsp:nvSpPr>
        <dsp:cNvPr id="0" name=""/>
        <dsp:cNvSpPr/>
      </dsp:nvSpPr>
      <dsp:spPr>
        <a:xfrm>
          <a:off x="0" y="720548"/>
          <a:ext cx="4963885" cy="62928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57603" tIns="20320" rIns="113792" bIns="20320" numCol="1" spcCol="1270" anchor="t" anchorCtr="0">
          <a:noAutofit/>
        </a:bodyPr>
        <a:lstStyle/>
        <a:p>
          <a:pPr marL="171450" lvl="1" indent="-171450" algn="l" defTabSz="711200">
            <a:lnSpc>
              <a:spcPct val="90000"/>
            </a:lnSpc>
            <a:spcBef>
              <a:spcPct val="0"/>
            </a:spcBef>
            <a:spcAft>
              <a:spcPct val="20000"/>
            </a:spcAft>
            <a:buChar char="•"/>
          </a:pPr>
          <a:r>
            <a:rPr lang="zh-CN" altLang="en-US" sz="1600" b="0" i="0" kern="1200" baseline="0" dirty="0">
              <a:latin typeface="+mn-lt"/>
              <a:ea typeface="+mn-ea"/>
            </a:rPr>
            <a:t>但并没有得到市场的认可</a:t>
          </a:r>
        </a:p>
      </dsp:txBody>
      <dsp:txXfrm>
        <a:off x="0" y="720548"/>
        <a:ext cx="4963885" cy="629280"/>
      </dsp:txXfrm>
    </dsp:sp>
    <dsp:sp modelId="{533E5313-0390-4A3E-9304-2F63C7C13FAF}">
      <dsp:nvSpPr>
        <dsp:cNvPr id="0" name=""/>
        <dsp:cNvSpPr/>
      </dsp:nvSpPr>
      <dsp:spPr>
        <a:xfrm>
          <a:off x="0" y="1349829"/>
          <a:ext cx="4963885" cy="711360"/>
        </a:xfrm>
        <a:prstGeom prst="rect">
          <a:avLst/>
        </a:prstGeom>
        <a:gradFill rotWithShape="0">
          <a:gsLst>
            <a:gs pos="0">
              <a:schemeClr val="accent4">
                <a:hueOff val="9800891"/>
                <a:satOff val="-40777"/>
                <a:lumOff val="9608"/>
                <a:alphaOff val="0"/>
                <a:lumMod val="110000"/>
                <a:satMod val="105000"/>
                <a:tint val="67000"/>
              </a:schemeClr>
            </a:gs>
            <a:gs pos="50000">
              <a:schemeClr val="accent4">
                <a:hueOff val="9800891"/>
                <a:satOff val="-40777"/>
                <a:lumOff val="9608"/>
                <a:alphaOff val="0"/>
                <a:lumMod val="105000"/>
                <a:satMod val="103000"/>
                <a:tint val="73000"/>
              </a:schemeClr>
            </a:gs>
            <a:gs pos="100000">
              <a:schemeClr val="accent4">
                <a:hueOff val="9800891"/>
                <a:satOff val="-40777"/>
                <a:lumOff val="9608"/>
                <a:alphaOff val="0"/>
                <a:lumMod val="105000"/>
                <a:satMod val="109000"/>
                <a:tint val="81000"/>
              </a:schemeClr>
            </a:gs>
          </a:gsLst>
          <a:lin ang="5400000" scaled="0"/>
        </a:gradFill>
        <a:ln>
          <a:noFill/>
        </a:ln>
        <a:effectLst/>
        <a:scene3d>
          <a:camera prst="orthographicFront"/>
          <a:lightRig rig="flat" dir="t"/>
        </a:scene3d>
        <a:sp3d prstMaterial="dkEdge"/>
      </dsp:spPr>
      <dsp:style>
        <a:lnRef idx="0">
          <a:scrgbClr r="0" g="0" b="0"/>
        </a:lnRef>
        <a:fillRef idx="2">
          <a:scrgbClr r="0" g="0" b="0"/>
        </a:fillRef>
        <a:effectRef idx="1">
          <a:scrgbClr r="0" g="0" b="0"/>
        </a:effectRef>
        <a:fontRef idx="minor">
          <a:schemeClr val="dk1"/>
        </a:fontRef>
      </dsp:style>
      <dsp:txBody>
        <a:bodyPr spcFirstLastPara="0" vert="horz" wrap="square" lIns="60960" tIns="60960" rIns="60960" bIns="60960" numCol="1" spcCol="1270" anchor="ctr" anchorCtr="0">
          <a:noAutofit/>
        </a:bodyPr>
        <a:lstStyle/>
        <a:p>
          <a:pPr marL="0" lvl="0" indent="0" algn="l" defTabSz="711200">
            <a:lnSpc>
              <a:spcPct val="90000"/>
            </a:lnSpc>
            <a:spcBef>
              <a:spcPct val="0"/>
            </a:spcBef>
            <a:spcAft>
              <a:spcPct val="35000"/>
            </a:spcAft>
            <a:buNone/>
          </a:pPr>
          <a:r>
            <a:rPr lang="zh-CN" altLang="en-US" sz="1600" b="0" i="0" kern="1200" baseline="0" dirty="0">
              <a:latin typeface="+mn-lt"/>
              <a:ea typeface="+mn-ea"/>
            </a:rPr>
            <a:t>事实上的 </a:t>
          </a:r>
          <a:r>
            <a:rPr lang="en-US" altLang="en-US" sz="1600" b="0" i="0" kern="1200" baseline="0" dirty="0">
              <a:latin typeface="+mn-lt"/>
              <a:ea typeface="+mn-ea"/>
            </a:rPr>
            <a:t>(de facto) </a:t>
          </a:r>
          <a:r>
            <a:rPr lang="zh-CN" altLang="en-US" sz="1600" b="0" i="0" kern="1200" baseline="0" dirty="0">
              <a:latin typeface="+mn-lt"/>
              <a:ea typeface="+mn-ea"/>
            </a:rPr>
            <a:t>国际标准 </a:t>
          </a:r>
          <a:r>
            <a:rPr lang="en-US" altLang="en-US" sz="1600" b="0" i="0" kern="1200" baseline="0" dirty="0">
              <a:latin typeface="+mn-lt"/>
              <a:ea typeface="+mn-ea"/>
            </a:rPr>
            <a:t>TCP/IP</a:t>
          </a:r>
          <a:endParaRPr lang="zh-CN" altLang="en-US" sz="1600" b="0" i="0" kern="1200" baseline="0" dirty="0">
            <a:latin typeface="+mn-lt"/>
            <a:ea typeface="+mn-ea"/>
          </a:endParaRPr>
        </a:p>
      </dsp:txBody>
      <dsp:txXfrm>
        <a:off x="0" y="1349829"/>
        <a:ext cx="4963885" cy="711360"/>
      </dsp:txXfrm>
    </dsp:sp>
    <dsp:sp modelId="{D4FB4936-BF1D-4807-8D25-E8B1D64E8CFA}">
      <dsp:nvSpPr>
        <dsp:cNvPr id="0" name=""/>
        <dsp:cNvSpPr/>
      </dsp:nvSpPr>
      <dsp:spPr>
        <a:xfrm>
          <a:off x="0" y="2061189"/>
          <a:ext cx="4963885" cy="62928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57603" tIns="20320" rIns="113792" bIns="20320" numCol="1" spcCol="1270" anchor="t" anchorCtr="0">
          <a:noAutofit/>
        </a:bodyPr>
        <a:lstStyle/>
        <a:p>
          <a:pPr marL="171450" lvl="1" indent="-171450" algn="l" defTabSz="711200">
            <a:lnSpc>
              <a:spcPct val="90000"/>
            </a:lnSpc>
            <a:spcBef>
              <a:spcPct val="0"/>
            </a:spcBef>
            <a:spcAft>
              <a:spcPct val="20000"/>
            </a:spcAft>
            <a:buChar char="•"/>
          </a:pPr>
          <a:r>
            <a:rPr lang="zh-CN" altLang="en-US" sz="1600" b="0" i="0" kern="1200" baseline="0" dirty="0">
              <a:latin typeface="+mn-lt"/>
              <a:ea typeface="+mn-ea"/>
            </a:rPr>
            <a:t>获得了最广泛的应用</a:t>
          </a:r>
        </a:p>
      </dsp:txBody>
      <dsp:txXfrm>
        <a:off x="0" y="2061189"/>
        <a:ext cx="4963885" cy="629280"/>
      </dsp:txXfrm>
    </dsp:sp>
  </dsp:spTree>
</dsp:drawing>
</file>

<file path=ppt/diagrams/layout1.xml><?xml version="1.0" encoding="utf-8"?>
<dgm:layoutDef xmlns:dgm="http://schemas.openxmlformats.org/drawingml/2006/diagram" xmlns:a="http://schemas.openxmlformats.org/drawingml/2006/main" uniqueId="urn:microsoft.com/office/officeart/2008/layout/AlternatingHexagons">
  <dgm:title val=""/>
  <dgm:desc val=""/>
  <dgm:catLst>
    <dgm:cat type="list" pri="1500"/>
  </dgm:catLst>
  <dgm:sampData>
    <dgm:dataModel>
      <dgm:ptLst>
        <dgm:pt modelId="0" type="doc"/>
        <dgm:pt modelId="10">
          <dgm:prSet phldr="1"/>
        </dgm:pt>
        <dgm:pt modelId="11">
          <dgm:prSet phldr="1"/>
        </dgm:pt>
        <dgm:pt modelId="20">
          <dgm:prSet phldr="1"/>
        </dgm:pt>
        <dgm:pt modelId="21">
          <dgm:prSet phldr="1"/>
        </dgm:pt>
        <dgm:pt modelId="30">
          <dgm:prSet phldr="1"/>
        </dgm:pt>
        <dgm:pt modelId="31">
          <dgm:prSet phldr="1"/>
        </dgm:pt>
      </dgm:ptLst>
      <dgm:cxnLst>
        <dgm:cxn modelId="40" srcId="0" destId="10" srcOrd="0" destOrd="0"/>
        <dgm:cxn modelId="12" srcId="10" destId="11" srcOrd="0" destOrd="0"/>
        <dgm:cxn modelId="50" srcId="0" destId="20" srcOrd="1" destOrd="0"/>
        <dgm:cxn modelId="22" srcId="20" destId="21" srcOrd="0" destOrd="0"/>
        <dgm:cxn modelId="60" srcId="0" destId="30" srcOrd="1" destOrd="0"/>
        <dgm:cxn modelId="32" srcId="30" destId="31" srcOrd="0" destOrd="0"/>
      </dgm:cxnLst>
      <dgm:bg/>
      <dgm:whole/>
    </dgm:dataModel>
  </dgm:sampData>
  <dgm:styleData>
    <dgm:dataModel>
      <dgm:ptLst>
        <dgm:pt modelId="0" type="doc"/>
        <dgm:pt modelId="10">
          <dgm:prSet phldr="1"/>
        </dgm:pt>
        <dgm:pt modelId="20">
          <dgm:prSet phldr="1"/>
        </dgm:pt>
      </dgm:ptLst>
      <dgm:cxnLst>
        <dgm:cxn modelId="60" srcId="0" destId="10" srcOrd="0" destOrd="0"/>
        <dgm:cxn modelId="7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60" srcId="0" destId="10" srcOrd="0" destOrd="0"/>
        <dgm:cxn modelId="70" srcId="0" destId="20" srcOrd="1" destOrd="0"/>
        <dgm:cxn modelId="80" srcId="0" destId="30" srcOrd="2" destOrd="0"/>
        <dgm:cxn modelId="90" srcId="0" destId="40" srcOrd="3" destOrd="0"/>
      </dgm:cxnLst>
      <dgm:bg/>
      <dgm:whole/>
    </dgm:dataModel>
  </dgm:clrData>
  <dgm:layoutNode name="Name0">
    <dgm:varLst>
      <dgm:chMax/>
      <dgm:chPref/>
      <dgm:dir/>
      <dgm:animLvl val="lvl"/>
    </dgm:varLst>
    <dgm:alg type="lin">
      <dgm:param type="linDir" val="fromT"/>
    </dgm:alg>
    <dgm:shape xmlns:r="http://schemas.openxmlformats.org/officeDocument/2006/relationships" r:blip="">
      <dgm:adjLst/>
    </dgm:shape>
    <dgm:constrLst>
      <dgm:constr type="primFontSz" for="des" forName="Parent1" val="65"/>
      <dgm:constr type="primFontSz" for="des" forName="Childtext1" refType="primFontSz" refFor="des" refForName="Parent1" op="lte"/>
      <dgm:constr type="w" for="ch" forName="composite" refType="w"/>
      <dgm:constr type="h" for="ch" forName="composite" refType="h"/>
      <dgm:constr type="h" for="ch" forName="spaceBetweenRectangles" refType="w" refFor="ch" refForName="composite" fact="-0.042"/>
      <dgm:constr type="sp" refType="h" refFor="ch" refForName="composite" op="equ" fact="0.1"/>
    </dgm:constrLst>
    <dgm:forEach name="nodesForEach" axis="ch" ptType="node">
      <dgm:layoutNode name="composite">
        <dgm:alg type="composite">
          <dgm:param type="ar" val="3.6"/>
        </dgm:alg>
        <dgm:shape xmlns:r="http://schemas.openxmlformats.org/officeDocument/2006/relationships" r:blip="">
          <dgm:adjLst/>
        </dgm:shape>
        <dgm:choose name="Name1">
          <dgm:if name="Name2" func="var" arg="dir" op="equ" val="norm">
            <dgm:choose name="Name3">
              <dgm:if name="Name4" axis="self" ptType="node" func="posOdd" op="equ" val="1">
                <dgm:constrLst>
                  <dgm:constr type="l" for="ch" forName="Accent1" refType="w" fact="0.18"/>
                  <dgm:constr type="t" for="ch" forName="Accent1" refType="h" fact="0"/>
                  <dgm:constr type="h" for="ch" forName="Accent1" refType="h"/>
                  <dgm:constr type="w" for="ch" forName="Accent1" refType="h" fact="0.87"/>
                  <dgm:constr type="l" for="ch" forName="Accent1Text" refType="w" fact="0.18"/>
                  <dgm:constr type="t" for="ch" forName="Accent1Text" refType="h" fact="0"/>
                  <dgm:constr type="h" for="ch" forName="Accent1Text" refType="h"/>
                  <dgm:constr type="w" for="ch" forName="Accent1Text" refType="h" fact="0.87"/>
                  <dgm:constr type="l" for="ch" forName="Parent1" refType="w" fact="0.441"/>
                  <dgm:constr type="t" for="ch" forName="Parent1" refType="h" fact="0"/>
                  <dgm:constr type="h" for="ch" forName="Parent1" refType="h"/>
                  <dgm:constr type="w" for="ch" forName="Parent1" refType="h" fact="0.87"/>
                  <dgm:constr type="l" for="ch" forName="Childtext1" refType="w" fact="0.69"/>
                  <dgm:constr type="t" for="ch" forName="Childtext1" refType="h" fact="0.2"/>
                  <dgm:constr type="w" for="ch" forName="Childtext1" refType="w" fact="0.31"/>
                  <dgm:constr type="h" for="ch" forName="Childtext1" refType="h" fact="0.6"/>
                  <dgm:constr type="l" for="ch" forName="BalanceSpacing" refType="w" fact="0"/>
                  <dgm:constr type="t" for="ch" forName="BalanceSpacing" refType="h" fact="0"/>
                  <dgm:constr type="w" for="ch" forName="BalanceSpacing" refType="w"/>
                  <dgm:constr type="h" for="ch" forName="BalanceSpacing" refType="h" fact="0.1"/>
                  <dgm:constr type="l" for="ch" forName="BalanceSpacing1" refType="w" fact="0.69"/>
                  <dgm:constr type="t" for="ch" forName="BalanceSpacing1" refType="h" fact="0.2"/>
                  <dgm:constr type="w" for="ch" forName="BalanceSpacing1" refType="w" fact="0.31"/>
                  <dgm:constr type="h" for="ch" forName="BalanceSpacing1" refType="h" fact="0.6"/>
                </dgm:constrLst>
              </dgm:if>
              <dgm:else name="Name5">
                <dgm:constrLst>
                  <dgm:constr type="l" for="ch" forName="Accent1" refType="w" fact="0.571"/>
                  <dgm:constr type="t" for="ch" forName="Accent1" refType="h" fact="0"/>
                  <dgm:constr type="h" for="ch" forName="Accent1" refType="h"/>
                  <dgm:constr type="w" for="ch" forName="Accent1" refType="h" fact="0.87"/>
                  <dgm:constr type="l" for="ch" forName="Accent1Text" refType="w" fact="0.571"/>
                  <dgm:constr type="t" for="ch" forName="Accent1Text" refType="h" fact="0"/>
                  <dgm:constr type="h" for="ch" forName="Accent1Text" refType="h"/>
                  <dgm:constr type="w" for="ch" forName="Accent1Text" refType="h" fact="0.87"/>
                  <dgm:constr type="l" for="ch" forName="Parent1" refType="w" fact="0.31"/>
                  <dgm:constr type="t" for="ch" forName="Parent1" refType="h" fact="0"/>
                  <dgm:constr type="h" for="ch" forName="Parent1" refType="h"/>
                  <dgm:constr type="w" for="ch" forName="Parent1" refType="h" fact="0.87"/>
                  <dgm:constr type="l" for="ch" forName="Childtext1" refType="w" fact="0"/>
                  <dgm:constr type="t" for="ch" forName="Childtext1" refType="h" fact="0.2"/>
                  <dgm:constr type="w" for="ch" forName="Childtext1" refType="w" fact="0.3"/>
                  <dgm:constr type="h" for="ch" forName="Childtext1" refType="h" fact="0.6"/>
                  <dgm:constr type="l" for="ch" forName="BalanceSpacing" refType="w" fact="0.82"/>
                  <dgm:constr type="t" for="ch" forName="BalanceSpacing" refType="h" fact="0"/>
                  <dgm:constr type="w" for="ch" forName="BalanceSpacing" refType="w" fact="0.18"/>
                  <dgm:constr type="h" for="ch" forName="BalanceSpacing" refType="h"/>
                  <dgm:constr type="l" for="ch" forName="BalanceSpacing1" refType="w" fact="0"/>
                  <dgm:constr type="t" for="ch" forName="BalanceSpacing1" refType="h" fact="0.2"/>
                  <dgm:constr type="w" for="ch" forName="BalanceSpacing1" refType="w" fact="0.3"/>
                  <dgm:constr type="h" for="ch" forName="BalanceSpacing1" refType="h" fact="0.6"/>
                </dgm:constrLst>
              </dgm:else>
            </dgm:choose>
          </dgm:if>
          <dgm:else name="Name6">
            <dgm:choose name="Name7">
              <dgm:if name="Name8" axis="self" ptType="node" func="posOdd" op="equ" val="1">
                <dgm:constrLst>
                  <dgm:constr type="l" for="ch" forName="Accent1" refType="w" fact="0.571"/>
                  <dgm:constr type="t" for="ch" forName="Accent1" refType="h" fact="0"/>
                  <dgm:constr type="h" for="ch" forName="Accent1" refType="h"/>
                  <dgm:constr type="w" for="ch" forName="Accent1" refType="h" fact="0.87"/>
                  <dgm:constr type="l" for="ch" forName="Accent1Text" refType="w" fact="0.571"/>
                  <dgm:constr type="t" for="ch" forName="Accent1Text" refType="h" fact="0"/>
                  <dgm:constr type="h" for="ch" forName="Accent1Text" refType="h"/>
                  <dgm:constr type="w" for="ch" forName="Accent1Text" refType="h" fact="0.87"/>
                  <dgm:constr type="l" for="ch" forName="Parent1" refType="w" fact="0.31"/>
                  <dgm:constr type="t" for="ch" forName="Parent1" refType="h" fact="0"/>
                  <dgm:constr type="h" for="ch" forName="Parent1" refType="h"/>
                  <dgm:constr type="w" for="ch" forName="Parent1" refType="h" fact="0.87"/>
                  <dgm:constr type="l" for="ch" forName="Childtext1" refType="w" fact="0"/>
                  <dgm:constr type="t" for="ch" forName="Childtext1" refType="h" fact="0.2"/>
                  <dgm:constr type="w" for="ch" forName="Childtext1" refType="w" fact="0.3"/>
                  <dgm:constr type="h" for="ch" forName="Childtext1" refType="h" fact="0.6"/>
                  <dgm:constr type="l" for="ch" forName="BalanceSpacing" refType="w" fact="0.82"/>
                  <dgm:constr type="t" for="ch" forName="BalanceSpacing" refType="h" fact="0"/>
                  <dgm:constr type="w" for="ch" forName="BalanceSpacing" refType="w" fact="0.18"/>
                  <dgm:constr type="h" for="ch" forName="BalanceSpacing" refType="h"/>
                </dgm:constrLst>
              </dgm:if>
              <dgm:else name="Name9">
                <dgm:constrLst>
                  <dgm:constr type="l" for="ch" forName="Accent1" refType="w" fact="0.18"/>
                  <dgm:constr type="t" for="ch" forName="Accent1" refType="h" fact="0"/>
                  <dgm:constr type="h" for="ch" forName="Accent1" refType="h"/>
                  <dgm:constr type="w" for="ch" forName="Accent1" refType="h" fact="0.87"/>
                  <dgm:constr type="l" for="ch" forName="Accent1Text" refType="w" fact="0.18"/>
                  <dgm:constr type="t" for="ch" forName="Accent1Text" refType="h" fact="0"/>
                  <dgm:constr type="h" for="ch" forName="Accent1Text" refType="h"/>
                  <dgm:constr type="w" for="ch" forName="Accent1Text" refType="h" fact="0.87"/>
                  <dgm:constr type="l" for="ch" forName="Parent1" refType="w" fact="0.441"/>
                  <dgm:constr type="t" for="ch" forName="Parent1" refType="h" fact="0"/>
                  <dgm:constr type="h" for="ch" forName="Parent1" refType="h"/>
                  <dgm:constr type="w" for="ch" forName="Parent1" refType="h" fact="0.87"/>
                  <dgm:constr type="l" for="ch" forName="Childtext1" refType="w" fact="0.69"/>
                  <dgm:constr type="t" for="ch" forName="Childtext1" refType="h" fact="0.2"/>
                  <dgm:constr type="w" for="ch" forName="Childtext1" refType="w" fact="0.31"/>
                  <dgm:constr type="h" for="ch" forName="Childtext1" refType="h" fact="0.6"/>
                  <dgm:constr type="l" for="ch" forName="BalanceSpacing" refType="w" fact="0"/>
                  <dgm:constr type="t" for="ch" forName="BalanceSpacing" refType="h" fact="0"/>
                  <dgm:constr type="w" for="ch" forName="BalanceSpacing" refType="w" fact="0.18"/>
                  <dgm:constr type="h" for="ch" forName="BalanceSpacing" refType="h"/>
                </dgm:constrLst>
              </dgm:else>
            </dgm:choose>
          </dgm:else>
        </dgm:choose>
        <dgm:layoutNode name="Parent1" styleLbl="node1">
          <dgm:varLst>
            <dgm:chMax val="1"/>
            <dgm:chPref val="1"/>
            <dgm:bulletEnabled val="1"/>
          </dgm:varLst>
          <dgm:alg type="tx"/>
          <dgm:shape xmlns:r="http://schemas.openxmlformats.org/officeDocument/2006/relationships" rot="90" type="hexagon" r:blip="">
            <dgm:adjLst>
              <dgm:adj idx="1" val="0.25"/>
              <dgm:adj idx="2" val="1.1547"/>
            </dgm:adjLst>
          </dgm:shape>
          <dgm:presOf axis="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Childtext1" styleLbl="revTx">
          <dgm:varLst>
            <dgm:chMax val="0"/>
            <dgm:chPref val="0"/>
            <dgm:bulletEnabled val="1"/>
          </dgm:varLst>
          <dgm:choose name="Name10">
            <dgm:if name="Name11" func="var" arg="dir" op="equ" val="norm">
              <dgm:choose name="Name12">
                <dgm:if name="Name13" axis="self" ptType="node" func="posOdd" op="equ" val="1">
                  <dgm:alg type="tx">
                    <dgm:param type="parTxLTRAlign" val="l"/>
                  </dgm:alg>
                </dgm:if>
                <dgm:else name="Name14">
                  <dgm:alg type="tx">
                    <dgm:param type="parTxLTRAlign" val="r"/>
                  </dgm:alg>
                </dgm:else>
              </dgm:choose>
            </dgm:if>
            <dgm:else name="Name15">
              <dgm:choose name="Name16">
                <dgm:if name="Name17" axis="self" ptType="node" func="posOdd" op="equ" val="1">
                  <dgm:alg type="tx">
                    <dgm:param type="parTxLTRAlign" val="r"/>
                  </dgm:alg>
                </dgm:if>
                <dgm:else name="Name18">
                  <dgm:alg type="tx">
                    <dgm:param type="parTxLTRAlign" val="l"/>
                  </dgm:alg>
                </dgm:else>
              </dgm:choose>
            </dgm:else>
          </dgm:choose>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BalanceSpacing">
          <dgm:alg type="sp"/>
          <dgm:shape xmlns:r="http://schemas.openxmlformats.org/officeDocument/2006/relationships" r:blip="">
            <dgm:adjLst/>
          </dgm:shape>
        </dgm:layoutNode>
        <dgm:layoutNode name="BalanceSpacing1">
          <dgm:alg type="sp"/>
          <dgm:shape xmlns:r="http://schemas.openxmlformats.org/officeDocument/2006/relationships" r:blip="">
            <dgm:adjLst/>
          </dgm:shape>
        </dgm:layoutNode>
        <dgm:forEach name="Name19" axis="followSib" ptType="sibTrans" hideLastTrans="0" cnt="1">
          <dgm:layoutNode name="Accent1Text" styleLbl="node1">
            <dgm:alg type="tx"/>
            <dgm:shape xmlns:r="http://schemas.openxmlformats.org/officeDocument/2006/relationships" rot="90" type="hexagon" r:blip="">
              <dgm:adjLst>
                <dgm:adj idx="1" val="0.25"/>
                <dgm:adj idx="2" val="1.1547"/>
              </dgm:adjLst>
            </dgm:shape>
            <dgm:presOf axis="self" ptType="sibTrans"/>
            <dgm:constrLst>
              <dgm:constr type="lMarg"/>
              <dgm:constr type="rMarg"/>
              <dgm:constr type="tMarg"/>
              <dgm:constr type="bMarg"/>
            </dgm:constrLst>
            <dgm:ruleLst>
              <dgm:rule type="primFontSz" val="5" fact="NaN" max="NaN"/>
            </dgm:ruleLst>
          </dgm:layoutNode>
        </dgm:forEach>
      </dgm:layoutNode>
      <dgm:forEach name="Name2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3#1">
  <dgm:title val=""/>
  <dgm:desc val=""/>
  <dgm:catLst>
    <dgm:cat type="simple" pri="10300"/>
  </dgm:catLst>
  <dgm:scene3d>
    <a:camera prst="orthographicFront"/>
    <a:lightRig rig="threePt" dir="t"/>
  </dgm:scene3d>
  <dgm:styleLbl name="node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lnNode1">
    <dgm:scene3d>
      <a:camera prst="orthographicFront"/>
      <a:lightRig rig="flat" dir="t"/>
    </dgm:scene3d>
    <dgm:sp3d prstMaterial="dkEdge">
      <a:bevelT w="8200" h="38100"/>
    </dgm:sp3d>
    <dgm:txPr/>
    <dgm:style>
      <a:lnRef idx="1">
        <a:scrgbClr r="0" g="0" b="0"/>
      </a:lnRef>
      <a:fillRef idx="2">
        <a:scrgbClr r="0" g="0" b="0"/>
      </a:fillRef>
      <a:effectRef idx="0">
        <a:scrgbClr r="0" g="0" b="0"/>
      </a:effectRef>
      <a:fontRef idx="minor">
        <a:schemeClr val="dk1"/>
      </a:fontRef>
    </dgm:style>
  </dgm:styleLbl>
  <dgm:styleLbl name="vennNode1">
    <dgm:scene3d>
      <a:camera prst="orthographicFront"/>
      <a:lightRig rig="flat" dir="t"/>
    </dgm:scene3d>
    <dgm:sp3d prstMaterial="dkEdge">
      <a:bevelT w="8200" h="38100"/>
    </dgm:sp3d>
    <dgm:txPr/>
    <dgm:style>
      <a:lnRef idx="0">
        <a:scrgbClr r="0" g="0" b="0"/>
      </a:lnRef>
      <a:fillRef idx="2">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node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f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f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b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2">
        <a:scrgbClr r="0" g="0" b="0"/>
      </a:fillRef>
      <a:effectRef idx="1">
        <a:scrgbClr r="0" g="0" b="0"/>
      </a:effectRef>
      <a:fontRef idx="minor"/>
    </dgm:style>
  </dgm:styleLbl>
  <dgm:styleLbl name="asst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parChTrans2D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2">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3">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4">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2">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prstMaterial="dkEdge">
      <a:bevelT w="8200" h="38100"/>
    </dgm:sp3d>
    <dgm:txPr/>
    <dgm:style>
      <a:lnRef idx="1">
        <a:scrgbClr r="0" g="0" b="0"/>
      </a:lnRef>
      <a:fillRef idx="2">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7200"/>
          </a:xfrm>
          <a:prstGeom prst="rect">
            <a:avLst/>
          </a:prstGeom>
        </p:spPr>
        <p:txBody>
          <a:bodyPr vert="horz" lIns="91440" tIns="45720" rIns="91440" bIns="45720" rtlCol="0"/>
          <a:lstStyle>
            <a:lvl1pPr algn="l" fontAlgn="auto">
              <a:spcBef>
                <a:spcPts val="0"/>
              </a:spcBef>
              <a:spcAft>
                <a:spcPts val="0"/>
              </a:spcAft>
              <a:defRPr sz="1200">
                <a:latin typeface="Times New Roman" panose="02020603050405020304" pitchFamily="18" charset="0"/>
                <a:ea typeface="微软雅黑 Light" panose="020B0502040204020203" pitchFamily="34" charset="-122"/>
              </a:defRPr>
            </a:lvl1pPr>
          </a:lstStyle>
          <a:p>
            <a:pPr>
              <a:defRPr/>
            </a:pPr>
            <a:endParaRPr lang="zh-CN" altLang="en-US" dirty="0"/>
          </a:p>
        </p:txBody>
      </p:sp>
      <p:sp>
        <p:nvSpPr>
          <p:cNvPr id="3" name="日期占位符 2"/>
          <p:cNvSpPr>
            <a:spLocks noGrp="1"/>
          </p:cNvSpPr>
          <p:nvPr>
            <p:ph type="dt" idx="1"/>
          </p:nvPr>
        </p:nvSpPr>
        <p:spPr>
          <a:xfrm>
            <a:off x="3884613" y="0"/>
            <a:ext cx="2971800" cy="457200"/>
          </a:xfrm>
          <a:prstGeom prst="rect">
            <a:avLst/>
          </a:prstGeom>
        </p:spPr>
        <p:txBody>
          <a:bodyPr vert="horz" lIns="91440" tIns="45720" rIns="91440" bIns="45720" rtlCol="0"/>
          <a:lstStyle>
            <a:lvl1pPr algn="r" fontAlgn="auto">
              <a:spcBef>
                <a:spcPts val="0"/>
              </a:spcBef>
              <a:spcAft>
                <a:spcPts val="0"/>
              </a:spcAft>
              <a:defRPr sz="1200" smtClean="0">
                <a:latin typeface="Times New Roman" panose="02020603050405020304" pitchFamily="18" charset="0"/>
                <a:ea typeface="微软雅黑 Light" panose="020B0502040204020203" pitchFamily="34" charset="-122"/>
              </a:defRPr>
            </a:lvl1pPr>
          </a:lstStyle>
          <a:p>
            <a:pPr>
              <a:defRPr/>
            </a:pPr>
            <a:fld id="{FA4006E8-8395-4ADA-895B-2208204B7025}" type="datetimeFigureOut">
              <a:rPr lang="zh-CN" altLang="en-US" smtClean="0"/>
              <a:pPr>
                <a:defRPr/>
              </a:pPr>
              <a:t>2026/8/30</a:t>
            </a:fld>
            <a:endParaRPr lang="zh-CN" altLang="en-US" dirty="0"/>
          </a:p>
        </p:txBody>
      </p:sp>
      <p:sp>
        <p:nvSpPr>
          <p:cNvPr id="4" name="幻灯片图像占位符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pPr lvl="0"/>
            <a:endParaRPr lang="zh-CN" altLang="en-US" noProof="0" dirty="0"/>
          </a:p>
        </p:txBody>
      </p:sp>
      <p:sp>
        <p:nvSpPr>
          <p:cNvPr id="5" name="备注占位符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zh-CN" altLang="en-US" noProof="0"/>
              <a:t>单击此处编辑母版文本样式</a:t>
            </a:r>
          </a:p>
          <a:p>
            <a:pPr lvl="1"/>
            <a:r>
              <a:rPr lang="zh-CN" altLang="en-US" noProof="0"/>
              <a:t>第二级</a:t>
            </a:r>
          </a:p>
          <a:p>
            <a:pPr lvl="2"/>
            <a:r>
              <a:rPr lang="zh-CN" altLang="en-US" noProof="0"/>
              <a:t>第三级</a:t>
            </a:r>
          </a:p>
          <a:p>
            <a:pPr lvl="3"/>
            <a:r>
              <a:rPr lang="zh-CN" altLang="en-US" noProof="0"/>
              <a:t>第四级</a:t>
            </a:r>
          </a:p>
          <a:p>
            <a:pPr lvl="4"/>
            <a:r>
              <a:rPr lang="zh-CN" altLang="en-US" noProof="0"/>
              <a:t>第五级</a:t>
            </a:r>
          </a:p>
        </p:txBody>
      </p:sp>
      <p:sp>
        <p:nvSpPr>
          <p:cNvPr id="6" name="页脚占位符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fontAlgn="auto">
              <a:spcBef>
                <a:spcPts val="0"/>
              </a:spcBef>
              <a:spcAft>
                <a:spcPts val="0"/>
              </a:spcAft>
              <a:defRPr sz="1200">
                <a:latin typeface="Times New Roman" panose="02020603050405020304" pitchFamily="18" charset="0"/>
                <a:ea typeface="微软雅黑 Light" panose="020B0502040204020203" pitchFamily="34" charset="-122"/>
              </a:defRPr>
            </a:lvl1pPr>
          </a:lstStyle>
          <a:p>
            <a:pPr>
              <a:defRPr/>
            </a:pPr>
            <a:endParaRPr lang="zh-CN" altLang="en-US" dirty="0"/>
          </a:p>
        </p:txBody>
      </p:sp>
      <p:sp>
        <p:nvSpPr>
          <p:cNvPr id="7" name="灯片编号占位符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fontAlgn="auto">
              <a:spcBef>
                <a:spcPts val="0"/>
              </a:spcBef>
              <a:spcAft>
                <a:spcPts val="0"/>
              </a:spcAft>
              <a:defRPr sz="1200" smtClean="0">
                <a:latin typeface="Times New Roman" panose="02020603050405020304" pitchFamily="18" charset="0"/>
                <a:ea typeface="微软雅黑 Light" panose="020B0502040204020203" pitchFamily="34" charset="-122"/>
              </a:defRPr>
            </a:lvl1pPr>
          </a:lstStyle>
          <a:p>
            <a:pPr>
              <a:defRPr/>
            </a:pPr>
            <a:fld id="{CD1CD96A-A6EF-4B0B-9885-C22D65D2CD20}" type="slidenum">
              <a:rPr lang="zh-CN" altLang="en-US" smtClean="0"/>
              <a:pPr>
                <a:defRPr/>
              </a:pPr>
              <a:t>‹#›</a:t>
            </a:fld>
            <a:endParaRPr lang="zh-CN" altLang="en-US" dirty="0"/>
          </a:p>
        </p:txBody>
      </p:sp>
    </p:spTree>
    <p:extLst>
      <p:ext uri="{BB962C8B-B14F-4D97-AF65-F5344CB8AC3E}">
        <p14:creationId xmlns:p14="http://schemas.microsoft.com/office/powerpoint/2010/main" val="1798960164"/>
      </p:ext>
    </p:extLst>
  </p:cSld>
  <p:clrMap bg1="lt1" tx1="dk1" bg2="lt2" tx2="dk2" accent1="accent1" accent2="accent2" accent3="accent3" accent4="accent4" accent5="accent5" accent6="accent6" hlink="hlink" folHlink="folHlink"/>
  <p:notesStyle>
    <a:lvl1pPr algn="l" rtl="0" fontAlgn="base">
      <a:spcBef>
        <a:spcPct val="30000"/>
      </a:spcBef>
      <a:spcAft>
        <a:spcPct val="0"/>
      </a:spcAft>
      <a:defRPr sz="1200" kern="1200">
        <a:solidFill>
          <a:schemeClr val="tx1"/>
        </a:solidFill>
        <a:latin typeface="Times New Roman" panose="02020603050405020304" pitchFamily="18" charset="0"/>
        <a:ea typeface="微软雅黑 Light" panose="020B0502040204020203" pitchFamily="34" charset="-122"/>
        <a:cs typeface="+mn-cs"/>
      </a:defRPr>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124.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129.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130.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13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3058" name="幻灯片图像占位符 1"/>
          <p:cNvSpPr>
            <a:spLocks noGrp="1" noRot="1" noChangeAspect="1" noTextEdit="1"/>
          </p:cNvSpPr>
          <p:nvPr>
            <p:ph type="sldImg"/>
          </p:nvPr>
        </p:nvSpPr>
        <p:spPr bwMode="auto">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173059" name="备注占位符 2"/>
          <p:cNvSpPr>
            <a:spLocks noGrp="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pPr>
              <a:spcBef>
                <a:spcPct val="0"/>
              </a:spcBef>
            </a:pPr>
            <a:endParaRPr lang="zh-CN" altLang="en-US"/>
          </a:p>
        </p:txBody>
      </p:sp>
      <p:sp>
        <p:nvSpPr>
          <p:cNvPr id="173060" name="灯片编号占位符 3"/>
          <p:cNvSpPr>
            <a:spLocks noGrp="1"/>
          </p:cNvSpPr>
          <p:nvPr>
            <p:ph type="sldNum" sz="quarter" idx="5"/>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Ctr="0" compatLnSpc="1">
            <a:prstTxWarp prst="textNoShape">
              <a:avLst/>
            </a:prstTxWarp>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fontAlgn="base">
              <a:spcBef>
                <a:spcPct val="0"/>
              </a:spcBef>
              <a:spcAft>
                <a:spcPct val="0"/>
              </a:spcAft>
            </a:pPr>
            <a:fld id="{43D57F7D-0BB2-4E6A-B5AF-2BE2E0FD8C1D}" type="slidenum">
              <a:rPr lang="zh-CN" altLang="en-US">
                <a:latin typeface="Times New Roman" panose="02020603050405020304" pitchFamily="18" charset="0"/>
                <a:ea typeface="微软雅黑 Light" panose="020B0502040204020203" pitchFamily="34" charset="-122"/>
              </a:rPr>
              <a:pPr fontAlgn="base">
                <a:spcBef>
                  <a:spcPct val="0"/>
                </a:spcBef>
                <a:spcAft>
                  <a:spcPct val="0"/>
                </a:spcAft>
              </a:pPr>
              <a:t>2</a:t>
            </a:fld>
            <a:endParaRPr lang="zh-CN" altLang="en-US" dirty="0">
              <a:latin typeface="Times New Roman" panose="02020603050405020304" pitchFamily="18" charset="0"/>
              <a:ea typeface="微软雅黑 Light" panose="020B0502040204020203" pitchFamily="34" charset="-122"/>
            </a:endParaRPr>
          </a:p>
        </p:txBody>
      </p:sp>
    </p:spTree>
    <p:extLst>
      <p:ext uri="{BB962C8B-B14F-4D97-AF65-F5344CB8AC3E}">
        <p14:creationId xmlns:p14="http://schemas.microsoft.com/office/powerpoint/2010/main" val="253481781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a:defRPr/>
            </a:pPr>
            <a:fld id="{CD1CD96A-A6EF-4B0B-9885-C22D65D2CD20}" type="slidenum">
              <a:rPr lang="zh-CN" altLang="en-US" smtClean="0"/>
              <a:pPr>
                <a:defRPr/>
              </a:pPr>
              <a:t>3</a:t>
            </a:fld>
            <a:endParaRPr lang="zh-CN" altLang="en-US"/>
          </a:p>
        </p:txBody>
      </p:sp>
    </p:spTree>
    <p:extLst>
      <p:ext uri="{BB962C8B-B14F-4D97-AF65-F5344CB8AC3E}">
        <p14:creationId xmlns:p14="http://schemas.microsoft.com/office/powerpoint/2010/main" val="76354058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发展最快的并起到核心作用的是计算机网络</a:t>
            </a:r>
          </a:p>
          <a:p>
            <a:endParaRPr lang="zh-CN" altLang="en-US" dirty="0"/>
          </a:p>
        </p:txBody>
      </p:sp>
      <p:sp>
        <p:nvSpPr>
          <p:cNvPr id="4" name="灯片编号占位符 3"/>
          <p:cNvSpPr>
            <a:spLocks noGrp="1"/>
          </p:cNvSpPr>
          <p:nvPr>
            <p:ph type="sldNum" sz="quarter" idx="5"/>
          </p:nvPr>
        </p:nvSpPr>
        <p:spPr/>
        <p:txBody>
          <a:bodyPr/>
          <a:lstStyle/>
          <a:p>
            <a:pPr>
              <a:defRPr/>
            </a:pPr>
            <a:fld id="{CD1CD96A-A6EF-4B0B-9885-C22D65D2CD20}" type="slidenum">
              <a:rPr lang="zh-CN" altLang="en-US" smtClean="0"/>
              <a:pPr>
                <a:defRPr/>
              </a:pPr>
              <a:t>5</a:t>
            </a:fld>
            <a:endParaRPr lang="zh-CN" altLang="en-US" dirty="0"/>
          </a:p>
        </p:txBody>
      </p:sp>
    </p:spTree>
    <p:extLst>
      <p:ext uri="{BB962C8B-B14F-4D97-AF65-F5344CB8AC3E}">
        <p14:creationId xmlns:p14="http://schemas.microsoft.com/office/powerpoint/2010/main" val="389232863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l" defTabSz="914400" rtl="0" eaLnBrk="1" fontAlgn="base" latinLnBrk="0" hangingPunct="1">
              <a:lnSpc>
                <a:spcPct val="100000"/>
              </a:lnSpc>
              <a:spcBef>
                <a:spcPct val="30000"/>
              </a:spcBef>
              <a:spcAft>
                <a:spcPct val="0"/>
              </a:spcAft>
              <a:buClrTx/>
              <a:buSzTx/>
              <a:buFontTx/>
              <a:buNone/>
              <a:tabLst/>
              <a:defRPr/>
            </a:pPr>
            <a:r>
              <a:rPr lang="zh-CN" altLang="en-US" dirty="0"/>
              <a:t>互连网 ≠ 互联网</a:t>
            </a:r>
          </a:p>
          <a:p>
            <a:endParaRPr lang="zh-CN" altLang="en-US" dirty="0"/>
          </a:p>
        </p:txBody>
      </p:sp>
      <p:sp>
        <p:nvSpPr>
          <p:cNvPr id="4" name="灯片编号占位符 3"/>
          <p:cNvSpPr>
            <a:spLocks noGrp="1"/>
          </p:cNvSpPr>
          <p:nvPr>
            <p:ph type="sldNum" sz="quarter" idx="5"/>
          </p:nvPr>
        </p:nvSpPr>
        <p:spPr/>
        <p:txBody>
          <a:bodyPr/>
          <a:lstStyle/>
          <a:p>
            <a:pPr>
              <a:defRPr/>
            </a:pPr>
            <a:fld id="{CD1CD96A-A6EF-4B0B-9885-C22D65D2CD20}" type="slidenum">
              <a:rPr lang="zh-CN" altLang="en-US" smtClean="0"/>
              <a:pPr>
                <a:defRPr/>
              </a:pPr>
              <a:t>6</a:t>
            </a:fld>
            <a:endParaRPr lang="zh-CN" altLang="en-US" dirty="0"/>
          </a:p>
        </p:txBody>
      </p:sp>
    </p:spTree>
    <p:extLst>
      <p:ext uri="{BB962C8B-B14F-4D97-AF65-F5344CB8AC3E}">
        <p14:creationId xmlns:p14="http://schemas.microsoft.com/office/powerpoint/2010/main" val="46178959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9</a:t>
            </a:fld>
            <a:endParaRPr lang="zh-CN" altLang="en-US"/>
          </a:p>
        </p:txBody>
      </p:sp>
    </p:spTree>
    <p:extLst>
      <p:ext uri="{BB962C8B-B14F-4D97-AF65-F5344CB8AC3E}">
        <p14:creationId xmlns:p14="http://schemas.microsoft.com/office/powerpoint/2010/main" val="393964326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10</a:t>
            </a:fld>
            <a:endParaRPr lang="zh-CN" altLang="en-US"/>
          </a:p>
        </p:txBody>
      </p:sp>
    </p:spTree>
    <p:extLst>
      <p:ext uri="{BB962C8B-B14F-4D97-AF65-F5344CB8AC3E}">
        <p14:creationId xmlns:p14="http://schemas.microsoft.com/office/powerpoint/2010/main" val="70714895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951618-ABEC-35D9-1B3F-AB394BCDE420}"/>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8CBE9D5A-EA1E-7752-D545-EA805E1F3370}"/>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510A0E73-0622-9FE2-B477-F0B73573A01A}"/>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756F0F6B-05DC-2618-2808-2F5686391C44}"/>
              </a:ext>
            </a:extLst>
          </p:cNvPr>
          <p:cNvSpPr>
            <a:spLocks noGrp="1"/>
          </p:cNvSpPr>
          <p:nvPr>
            <p:ph type="sldNum" sz="quarter" idx="10"/>
          </p:nvPr>
        </p:nvSpPr>
        <p:spPr/>
        <p:txBody>
          <a:bodyPr/>
          <a:lstStyle/>
          <a:p>
            <a:pPr>
              <a:defRPr/>
            </a:pPr>
            <a:fld id="{CD1CD96A-A6EF-4B0B-9885-C22D65D2CD20}" type="slidenum">
              <a:rPr lang="zh-CN" altLang="en-US" smtClean="0"/>
              <a:pPr>
                <a:defRPr/>
              </a:pPr>
              <a:t>11</a:t>
            </a:fld>
            <a:endParaRPr lang="zh-CN" altLang="en-US"/>
          </a:p>
        </p:txBody>
      </p:sp>
    </p:spTree>
    <p:extLst>
      <p:ext uri="{BB962C8B-B14F-4D97-AF65-F5344CB8AC3E}">
        <p14:creationId xmlns:p14="http://schemas.microsoft.com/office/powerpoint/2010/main" val="27360740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a:defRPr/>
            </a:pPr>
            <a:fld id="{CD1CD96A-A6EF-4B0B-9885-C22D65D2CD20}" type="slidenum">
              <a:rPr lang="zh-CN" altLang="en-US" smtClean="0"/>
              <a:pPr>
                <a:defRPr/>
              </a:pPr>
              <a:t>17</a:t>
            </a:fld>
            <a:endParaRPr lang="zh-CN" altLang="en-US" dirty="0"/>
          </a:p>
        </p:txBody>
      </p:sp>
    </p:spTree>
    <p:extLst>
      <p:ext uri="{BB962C8B-B14F-4D97-AF65-F5344CB8AC3E}">
        <p14:creationId xmlns:p14="http://schemas.microsoft.com/office/powerpoint/2010/main" val="47187445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22</a:t>
            </a:fld>
            <a:endParaRPr lang="zh-CN" altLang="en-US"/>
          </a:p>
        </p:txBody>
      </p:sp>
    </p:spTree>
    <p:extLst>
      <p:ext uri="{BB962C8B-B14F-4D97-AF65-F5344CB8AC3E}">
        <p14:creationId xmlns:p14="http://schemas.microsoft.com/office/powerpoint/2010/main" val="304032474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23</a:t>
            </a:fld>
            <a:endParaRPr lang="zh-CN" altLang="en-US"/>
          </a:p>
        </p:txBody>
      </p:sp>
    </p:spTree>
    <p:extLst>
      <p:ext uri="{BB962C8B-B14F-4D97-AF65-F5344CB8AC3E}">
        <p14:creationId xmlns:p14="http://schemas.microsoft.com/office/powerpoint/2010/main" val="189480007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26</a:t>
            </a:fld>
            <a:endParaRPr lang="zh-CN" altLang="en-US"/>
          </a:p>
        </p:txBody>
      </p:sp>
    </p:spTree>
    <p:extLst>
      <p:ext uri="{BB962C8B-B14F-4D97-AF65-F5344CB8AC3E}">
        <p14:creationId xmlns:p14="http://schemas.microsoft.com/office/powerpoint/2010/main" val="168817785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36</a:t>
            </a:fld>
            <a:endParaRPr lang="zh-CN" altLang="en-US"/>
          </a:p>
        </p:txBody>
      </p:sp>
    </p:spTree>
    <p:extLst>
      <p:ext uri="{BB962C8B-B14F-4D97-AF65-F5344CB8AC3E}">
        <p14:creationId xmlns:p14="http://schemas.microsoft.com/office/powerpoint/2010/main" val="153156757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37</a:t>
            </a:fld>
            <a:endParaRPr lang="zh-CN" altLang="en-US"/>
          </a:p>
        </p:txBody>
      </p:sp>
    </p:spTree>
    <p:extLst>
      <p:ext uri="{BB962C8B-B14F-4D97-AF65-F5344CB8AC3E}">
        <p14:creationId xmlns:p14="http://schemas.microsoft.com/office/powerpoint/2010/main" val="232487305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39</a:t>
            </a:fld>
            <a:endParaRPr lang="zh-CN" altLang="en-US"/>
          </a:p>
        </p:txBody>
      </p:sp>
    </p:spTree>
    <p:extLst>
      <p:ext uri="{BB962C8B-B14F-4D97-AF65-F5344CB8AC3E}">
        <p14:creationId xmlns:p14="http://schemas.microsoft.com/office/powerpoint/2010/main" val="414461405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50DACA-7CB4-08EA-BB26-D8DFD9290D58}"/>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C12A515C-16F5-3BB1-944A-CA87D18D0AA4}"/>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EA6EBA8D-D558-654F-971C-18D9E4E21D31}"/>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4391CD89-0CA8-D9D7-3508-86BDE799B898}"/>
              </a:ext>
            </a:extLst>
          </p:cNvPr>
          <p:cNvSpPr>
            <a:spLocks noGrp="1"/>
          </p:cNvSpPr>
          <p:nvPr>
            <p:ph type="sldNum" sz="quarter" idx="10"/>
          </p:nvPr>
        </p:nvSpPr>
        <p:spPr/>
        <p:txBody>
          <a:bodyPr/>
          <a:lstStyle/>
          <a:p>
            <a:pPr>
              <a:defRPr/>
            </a:pPr>
            <a:fld id="{CD1CD96A-A6EF-4B0B-9885-C22D65D2CD20}" type="slidenum">
              <a:rPr lang="zh-CN" altLang="en-US" smtClean="0"/>
              <a:pPr>
                <a:defRPr/>
              </a:pPr>
              <a:t>40</a:t>
            </a:fld>
            <a:endParaRPr lang="zh-CN" altLang="en-US"/>
          </a:p>
        </p:txBody>
      </p:sp>
    </p:spTree>
    <p:extLst>
      <p:ext uri="{BB962C8B-B14F-4D97-AF65-F5344CB8AC3E}">
        <p14:creationId xmlns:p14="http://schemas.microsoft.com/office/powerpoint/2010/main" val="255330542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41</a:t>
            </a:fld>
            <a:endParaRPr lang="zh-CN" altLang="en-US"/>
          </a:p>
        </p:txBody>
      </p:sp>
    </p:spTree>
    <p:extLst>
      <p:ext uri="{BB962C8B-B14F-4D97-AF65-F5344CB8AC3E}">
        <p14:creationId xmlns:p14="http://schemas.microsoft.com/office/powerpoint/2010/main" val="57600055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43</a:t>
            </a:fld>
            <a:endParaRPr lang="zh-CN" altLang="en-US"/>
          </a:p>
        </p:txBody>
      </p:sp>
    </p:spTree>
    <p:extLst>
      <p:ext uri="{BB962C8B-B14F-4D97-AF65-F5344CB8AC3E}">
        <p14:creationId xmlns:p14="http://schemas.microsoft.com/office/powerpoint/2010/main" val="107232940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46</a:t>
            </a:fld>
            <a:endParaRPr lang="zh-CN" altLang="en-US"/>
          </a:p>
        </p:txBody>
      </p:sp>
    </p:spTree>
    <p:extLst>
      <p:ext uri="{BB962C8B-B14F-4D97-AF65-F5344CB8AC3E}">
        <p14:creationId xmlns:p14="http://schemas.microsoft.com/office/powerpoint/2010/main" val="148878127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60</a:t>
            </a:fld>
            <a:endParaRPr lang="zh-CN" altLang="en-US"/>
          </a:p>
        </p:txBody>
      </p:sp>
    </p:spTree>
    <p:extLst>
      <p:ext uri="{BB962C8B-B14F-4D97-AF65-F5344CB8AC3E}">
        <p14:creationId xmlns:p14="http://schemas.microsoft.com/office/powerpoint/2010/main" val="146315205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若中央处理机之间的距离非常近（如仅 </a:t>
            </a:r>
            <a:r>
              <a:rPr lang="en-US" altLang="zh-CN" dirty="0"/>
              <a:t>1 </a:t>
            </a:r>
            <a:r>
              <a:rPr lang="zh-CN" altLang="en-US" dirty="0"/>
              <a:t>米甚至更小些），则一般就称之为多处理机系统，而不称它为计算机网络。 </a:t>
            </a:r>
          </a:p>
        </p:txBody>
      </p:sp>
      <p:sp>
        <p:nvSpPr>
          <p:cNvPr id="4" name="灯片编号占位符 3"/>
          <p:cNvSpPr>
            <a:spLocks noGrp="1"/>
          </p:cNvSpPr>
          <p:nvPr>
            <p:ph type="sldNum" sz="quarter" idx="5"/>
          </p:nvPr>
        </p:nvSpPr>
        <p:spPr/>
        <p:txBody>
          <a:bodyPr/>
          <a:lstStyle/>
          <a:p>
            <a:pPr>
              <a:defRPr/>
            </a:pPr>
            <a:fld id="{CD1CD96A-A6EF-4B0B-9885-C22D65D2CD20}" type="slidenum">
              <a:rPr lang="zh-CN" altLang="en-US" smtClean="0"/>
              <a:pPr>
                <a:defRPr/>
              </a:pPr>
              <a:t>65</a:t>
            </a:fld>
            <a:endParaRPr lang="zh-CN" altLang="en-US" dirty="0"/>
          </a:p>
        </p:txBody>
      </p:sp>
    </p:spTree>
    <p:extLst>
      <p:ext uri="{BB962C8B-B14F-4D97-AF65-F5344CB8AC3E}">
        <p14:creationId xmlns:p14="http://schemas.microsoft.com/office/powerpoint/2010/main" val="942091862"/>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67</a:t>
            </a:fld>
            <a:endParaRPr lang="zh-CN" altLang="en-US"/>
          </a:p>
        </p:txBody>
      </p:sp>
    </p:spTree>
    <p:extLst>
      <p:ext uri="{BB962C8B-B14F-4D97-AF65-F5344CB8AC3E}">
        <p14:creationId xmlns:p14="http://schemas.microsoft.com/office/powerpoint/2010/main" val="421645818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千 </a:t>
            </a:r>
            <a:r>
              <a:rPr lang="en-US" altLang="zh-CN" dirty="0"/>
              <a:t>= K = 210 = 1024</a:t>
            </a:r>
            <a:r>
              <a:rPr lang="zh-CN" altLang="en-US" dirty="0"/>
              <a:t>，兆 </a:t>
            </a:r>
            <a:r>
              <a:rPr lang="en-US" altLang="zh-CN" dirty="0"/>
              <a:t>= M = 220 = 1024 K</a:t>
            </a:r>
            <a:r>
              <a:rPr lang="zh-CN" altLang="en-US" dirty="0"/>
              <a:t>，吉 </a:t>
            </a:r>
            <a:r>
              <a:rPr lang="en-US" altLang="zh-CN" dirty="0"/>
              <a:t>= G = 230 = 1024 M</a:t>
            </a:r>
          </a:p>
          <a:p>
            <a:r>
              <a:rPr lang="en-US" altLang="zh-CN" dirty="0"/>
              <a:t>1 </a:t>
            </a:r>
            <a:r>
              <a:rPr lang="zh-CN" altLang="en-US" dirty="0"/>
              <a:t>字节 </a:t>
            </a:r>
            <a:r>
              <a:rPr lang="en-US" altLang="zh-CN" dirty="0"/>
              <a:t>(Byte) =  8 </a:t>
            </a:r>
            <a:r>
              <a:rPr lang="zh-CN" altLang="en-US" dirty="0"/>
              <a:t>比特 </a:t>
            </a:r>
            <a:r>
              <a:rPr lang="en-US" altLang="zh-CN" dirty="0"/>
              <a:t>(bit</a:t>
            </a:r>
            <a:r>
              <a:rPr lang="zh-CN" altLang="en-US" dirty="0"/>
              <a:t>）</a:t>
            </a:r>
          </a:p>
          <a:p>
            <a:endParaRPr lang="zh-CN" altLang="en-US" dirty="0"/>
          </a:p>
        </p:txBody>
      </p:sp>
      <p:sp>
        <p:nvSpPr>
          <p:cNvPr id="4" name="灯片编号占位符 3"/>
          <p:cNvSpPr>
            <a:spLocks noGrp="1"/>
          </p:cNvSpPr>
          <p:nvPr>
            <p:ph type="sldNum" sz="quarter" idx="5"/>
          </p:nvPr>
        </p:nvSpPr>
        <p:spPr/>
        <p:txBody>
          <a:bodyPr/>
          <a:lstStyle/>
          <a:p>
            <a:pPr>
              <a:defRPr/>
            </a:pPr>
            <a:fld id="{CD1CD96A-A6EF-4B0B-9885-C22D65D2CD20}" type="slidenum">
              <a:rPr lang="zh-CN" altLang="en-US" smtClean="0"/>
              <a:pPr>
                <a:defRPr/>
              </a:pPr>
              <a:t>70</a:t>
            </a:fld>
            <a:endParaRPr lang="zh-CN" altLang="en-US" dirty="0"/>
          </a:p>
        </p:txBody>
      </p:sp>
    </p:spTree>
    <p:extLst>
      <p:ext uri="{BB962C8B-B14F-4D97-AF65-F5344CB8AC3E}">
        <p14:creationId xmlns:p14="http://schemas.microsoft.com/office/powerpoint/2010/main" val="9491213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71</a:t>
            </a:fld>
            <a:endParaRPr lang="zh-CN" altLang="en-US"/>
          </a:p>
        </p:txBody>
      </p:sp>
    </p:spTree>
    <p:extLst>
      <p:ext uri="{BB962C8B-B14F-4D97-AF65-F5344CB8AC3E}">
        <p14:creationId xmlns:p14="http://schemas.microsoft.com/office/powerpoint/2010/main" val="2383497109"/>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注意单位大小写</a:t>
            </a:r>
          </a:p>
        </p:txBody>
      </p:sp>
      <p:sp>
        <p:nvSpPr>
          <p:cNvPr id="4" name="灯片编号占位符 3"/>
          <p:cNvSpPr>
            <a:spLocks noGrp="1"/>
          </p:cNvSpPr>
          <p:nvPr>
            <p:ph type="sldNum" sz="quarter" idx="5"/>
          </p:nvPr>
        </p:nvSpPr>
        <p:spPr/>
        <p:txBody>
          <a:bodyPr/>
          <a:lstStyle/>
          <a:p>
            <a:pPr>
              <a:defRPr/>
            </a:pPr>
            <a:fld id="{CD1CD96A-A6EF-4B0B-9885-C22D65D2CD20}" type="slidenum">
              <a:rPr lang="zh-CN" altLang="en-US" smtClean="0"/>
              <a:pPr>
                <a:defRPr/>
              </a:pPr>
              <a:t>75</a:t>
            </a:fld>
            <a:endParaRPr lang="zh-CN" altLang="en-US" dirty="0"/>
          </a:p>
        </p:txBody>
      </p:sp>
    </p:spTree>
    <p:extLst>
      <p:ext uri="{BB962C8B-B14F-4D97-AF65-F5344CB8AC3E}">
        <p14:creationId xmlns:p14="http://schemas.microsoft.com/office/powerpoint/2010/main" val="2383365828"/>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78</a:t>
            </a:fld>
            <a:endParaRPr lang="zh-CN" altLang="en-US"/>
          </a:p>
        </p:txBody>
      </p:sp>
    </p:spTree>
    <p:extLst>
      <p:ext uri="{BB962C8B-B14F-4D97-AF65-F5344CB8AC3E}">
        <p14:creationId xmlns:p14="http://schemas.microsoft.com/office/powerpoint/2010/main" val="213063630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79</a:t>
            </a:fld>
            <a:endParaRPr lang="zh-CN" altLang="en-US"/>
          </a:p>
        </p:txBody>
      </p:sp>
    </p:spTree>
    <p:extLst>
      <p:ext uri="{BB962C8B-B14F-4D97-AF65-F5344CB8AC3E}">
        <p14:creationId xmlns:p14="http://schemas.microsoft.com/office/powerpoint/2010/main" val="1957799085"/>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不能笼统地认为：“数据的发送速率越高，其传送的总时延就越小”。</a:t>
            </a:r>
          </a:p>
          <a:p>
            <a:r>
              <a:rPr lang="zh-CN" altLang="en-US" dirty="0"/>
              <a:t>数据的容量</a:t>
            </a:r>
            <a:endParaRPr lang="en-US" altLang="zh-CN" dirty="0"/>
          </a:p>
          <a:p>
            <a:r>
              <a:rPr lang="en-US" altLang="zh-CN" dirty="0"/>
              <a:t>1Byte=8bit</a:t>
            </a:r>
          </a:p>
          <a:p>
            <a:r>
              <a:rPr lang="en-US" altLang="zh-CN" dirty="0"/>
              <a:t>1Kbit=2^10bit</a:t>
            </a:r>
          </a:p>
          <a:p>
            <a:pPr marL="0" marR="0" lvl="0" indent="0" algn="l" defTabSz="914400" rtl="0" eaLnBrk="1" fontAlgn="base" latinLnBrk="0" hangingPunct="1">
              <a:lnSpc>
                <a:spcPct val="100000"/>
              </a:lnSpc>
              <a:spcBef>
                <a:spcPct val="30000"/>
              </a:spcBef>
              <a:spcAft>
                <a:spcPct val="0"/>
              </a:spcAft>
              <a:buClrTx/>
              <a:buSzTx/>
              <a:buFontTx/>
              <a:buNone/>
              <a:tabLst/>
              <a:defRPr/>
            </a:pPr>
            <a:r>
              <a:rPr lang="en-US" altLang="zh-CN" dirty="0"/>
              <a:t>1Mbit=2^20bit</a:t>
            </a:r>
          </a:p>
          <a:p>
            <a:pPr marL="0" marR="0" lvl="0" indent="0" algn="l" defTabSz="914400" rtl="0" eaLnBrk="1" fontAlgn="base" latinLnBrk="0" hangingPunct="1">
              <a:lnSpc>
                <a:spcPct val="100000"/>
              </a:lnSpc>
              <a:spcBef>
                <a:spcPct val="30000"/>
              </a:spcBef>
              <a:spcAft>
                <a:spcPct val="0"/>
              </a:spcAft>
              <a:buClrTx/>
              <a:buSzTx/>
              <a:buFontTx/>
              <a:buNone/>
              <a:tabLst/>
              <a:defRPr/>
            </a:pPr>
            <a:r>
              <a:rPr lang="en-US" altLang="zh-CN" dirty="0"/>
              <a:t>1Gbit=2^30bit</a:t>
            </a:r>
            <a:endParaRPr lang="zh-CN" altLang="en-US" dirty="0"/>
          </a:p>
        </p:txBody>
      </p:sp>
      <p:sp>
        <p:nvSpPr>
          <p:cNvPr id="4" name="灯片编号占位符 3"/>
          <p:cNvSpPr>
            <a:spLocks noGrp="1"/>
          </p:cNvSpPr>
          <p:nvPr>
            <p:ph type="sldNum" sz="quarter" idx="5"/>
          </p:nvPr>
        </p:nvSpPr>
        <p:spPr/>
        <p:txBody>
          <a:bodyPr/>
          <a:lstStyle/>
          <a:p>
            <a:pPr>
              <a:defRPr/>
            </a:pPr>
            <a:fld id="{CD1CD96A-A6EF-4B0B-9885-C22D65D2CD20}" type="slidenum">
              <a:rPr lang="zh-CN" altLang="en-US" smtClean="0"/>
              <a:pPr>
                <a:defRPr/>
              </a:pPr>
              <a:t>82</a:t>
            </a:fld>
            <a:endParaRPr lang="zh-CN" altLang="en-US" dirty="0"/>
          </a:p>
        </p:txBody>
      </p:sp>
    </p:spTree>
    <p:extLst>
      <p:ext uri="{BB962C8B-B14F-4D97-AF65-F5344CB8AC3E}">
        <p14:creationId xmlns:p14="http://schemas.microsoft.com/office/powerpoint/2010/main" val="1013537588"/>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84</a:t>
            </a:fld>
            <a:endParaRPr lang="zh-CN" altLang="en-US"/>
          </a:p>
        </p:txBody>
      </p:sp>
    </p:spTree>
    <p:extLst>
      <p:ext uri="{BB962C8B-B14F-4D97-AF65-F5344CB8AC3E}">
        <p14:creationId xmlns:p14="http://schemas.microsoft.com/office/powerpoint/2010/main" val="2672136290"/>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97</a:t>
            </a:fld>
            <a:endParaRPr lang="zh-CN" altLang="en-US"/>
          </a:p>
        </p:txBody>
      </p:sp>
    </p:spTree>
    <p:extLst>
      <p:ext uri="{BB962C8B-B14F-4D97-AF65-F5344CB8AC3E}">
        <p14:creationId xmlns:p14="http://schemas.microsoft.com/office/powerpoint/2010/main" val="2932597922"/>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101</a:t>
            </a:fld>
            <a:endParaRPr lang="zh-CN" altLang="en-US"/>
          </a:p>
        </p:txBody>
      </p:sp>
    </p:spTree>
    <p:extLst>
      <p:ext uri="{BB962C8B-B14F-4D97-AF65-F5344CB8AC3E}">
        <p14:creationId xmlns:p14="http://schemas.microsoft.com/office/powerpoint/2010/main" val="210096253"/>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这一层并没有具体内容</a:t>
            </a:r>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105</a:t>
            </a:fld>
            <a:endParaRPr lang="zh-CN" altLang="en-US"/>
          </a:p>
        </p:txBody>
      </p:sp>
    </p:spTree>
    <p:extLst>
      <p:ext uri="{BB962C8B-B14F-4D97-AF65-F5344CB8AC3E}">
        <p14:creationId xmlns:p14="http://schemas.microsoft.com/office/powerpoint/2010/main" val="1689515376"/>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106</a:t>
            </a:fld>
            <a:endParaRPr lang="zh-CN" altLang="en-US"/>
          </a:p>
        </p:txBody>
      </p:sp>
    </p:spTree>
    <p:extLst>
      <p:ext uri="{BB962C8B-B14F-4D97-AF65-F5344CB8AC3E}">
        <p14:creationId xmlns:p14="http://schemas.microsoft.com/office/powerpoint/2010/main" val="3330987092"/>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107</a:t>
            </a:fld>
            <a:endParaRPr lang="zh-CN" altLang="en-US"/>
          </a:p>
        </p:txBody>
      </p:sp>
    </p:spTree>
    <p:extLst>
      <p:ext uri="{BB962C8B-B14F-4D97-AF65-F5344CB8AC3E}">
        <p14:creationId xmlns:p14="http://schemas.microsoft.com/office/powerpoint/2010/main" val="2183576143"/>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108</a:t>
            </a:fld>
            <a:endParaRPr lang="zh-CN" altLang="en-US"/>
          </a:p>
        </p:txBody>
      </p:sp>
    </p:spTree>
    <p:extLst>
      <p:ext uri="{BB962C8B-B14F-4D97-AF65-F5344CB8AC3E}">
        <p14:creationId xmlns:p14="http://schemas.microsoft.com/office/powerpoint/2010/main" val="172738104"/>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109</a:t>
            </a:fld>
            <a:endParaRPr lang="zh-CN" altLang="en-US"/>
          </a:p>
        </p:txBody>
      </p:sp>
    </p:spTree>
    <p:extLst>
      <p:ext uri="{BB962C8B-B14F-4D97-AF65-F5344CB8AC3E}">
        <p14:creationId xmlns:p14="http://schemas.microsoft.com/office/powerpoint/2010/main" val="11160911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110</a:t>
            </a:fld>
            <a:endParaRPr lang="zh-CN" altLang="en-US"/>
          </a:p>
        </p:txBody>
      </p:sp>
    </p:spTree>
    <p:extLst>
      <p:ext uri="{BB962C8B-B14F-4D97-AF65-F5344CB8AC3E}">
        <p14:creationId xmlns:p14="http://schemas.microsoft.com/office/powerpoint/2010/main" val="4182519052"/>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124</a:t>
            </a:fld>
            <a:endParaRPr lang="zh-CN" altLang="en-US"/>
          </a:p>
        </p:txBody>
      </p:sp>
    </p:spTree>
    <p:extLst>
      <p:ext uri="{BB962C8B-B14F-4D97-AF65-F5344CB8AC3E}">
        <p14:creationId xmlns:p14="http://schemas.microsoft.com/office/powerpoint/2010/main" val="4173857538"/>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125</a:t>
            </a:fld>
            <a:endParaRPr lang="zh-CN" altLang="en-US"/>
          </a:p>
        </p:txBody>
      </p:sp>
    </p:spTree>
    <p:extLst>
      <p:ext uri="{BB962C8B-B14F-4D97-AF65-F5344CB8AC3E}">
        <p14:creationId xmlns:p14="http://schemas.microsoft.com/office/powerpoint/2010/main" val="3600504426"/>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126</a:t>
            </a:fld>
            <a:endParaRPr lang="zh-CN" altLang="en-US"/>
          </a:p>
        </p:txBody>
      </p:sp>
    </p:spTree>
    <p:extLst>
      <p:ext uri="{BB962C8B-B14F-4D97-AF65-F5344CB8AC3E}">
        <p14:creationId xmlns:p14="http://schemas.microsoft.com/office/powerpoint/2010/main" val="3219897514"/>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127</a:t>
            </a:fld>
            <a:endParaRPr lang="zh-CN" altLang="en-US"/>
          </a:p>
        </p:txBody>
      </p:sp>
    </p:spTree>
    <p:extLst>
      <p:ext uri="{BB962C8B-B14F-4D97-AF65-F5344CB8AC3E}">
        <p14:creationId xmlns:p14="http://schemas.microsoft.com/office/powerpoint/2010/main" val="3565867279"/>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128</a:t>
            </a:fld>
            <a:endParaRPr lang="zh-CN" altLang="en-US"/>
          </a:p>
        </p:txBody>
      </p:sp>
    </p:spTree>
    <p:extLst>
      <p:ext uri="{BB962C8B-B14F-4D97-AF65-F5344CB8AC3E}">
        <p14:creationId xmlns:p14="http://schemas.microsoft.com/office/powerpoint/2010/main" val="1997738642"/>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129</a:t>
            </a:fld>
            <a:endParaRPr lang="zh-CN" altLang="en-US"/>
          </a:p>
        </p:txBody>
      </p:sp>
    </p:spTree>
    <p:extLst>
      <p:ext uri="{BB962C8B-B14F-4D97-AF65-F5344CB8AC3E}">
        <p14:creationId xmlns:p14="http://schemas.microsoft.com/office/powerpoint/2010/main" val="1030350359"/>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130</a:t>
            </a:fld>
            <a:endParaRPr lang="zh-CN" altLang="en-US"/>
          </a:p>
        </p:txBody>
      </p:sp>
    </p:spTree>
    <p:extLst>
      <p:ext uri="{BB962C8B-B14F-4D97-AF65-F5344CB8AC3E}">
        <p14:creationId xmlns:p14="http://schemas.microsoft.com/office/powerpoint/2010/main" val="848113556"/>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131</a:t>
            </a:fld>
            <a:endParaRPr lang="zh-CN" altLang="en-US"/>
          </a:p>
        </p:txBody>
      </p:sp>
    </p:spTree>
    <p:extLst>
      <p:ext uri="{BB962C8B-B14F-4D97-AF65-F5344CB8AC3E}">
        <p14:creationId xmlns:p14="http://schemas.microsoft.com/office/powerpoint/2010/main" val="761547069"/>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pPr>
              <a:defRPr/>
            </a:pPr>
            <a:fld id="{CD1CD96A-A6EF-4B0B-9885-C22D65D2CD20}" type="slidenum">
              <a:rPr lang="zh-CN" altLang="en-US" smtClean="0"/>
              <a:pPr>
                <a:defRPr/>
              </a:pPr>
              <a:t>136</a:t>
            </a:fld>
            <a:endParaRPr lang="zh-CN" altLang="en-US"/>
          </a:p>
        </p:txBody>
      </p:sp>
    </p:spTree>
    <p:extLst>
      <p:ext uri="{BB962C8B-B14F-4D97-AF65-F5344CB8AC3E}">
        <p14:creationId xmlns:p14="http://schemas.microsoft.com/office/powerpoint/2010/main" val="3413917692"/>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section">
    <p:spTree>
      <p:nvGrpSpPr>
        <p:cNvPr id="1" name=""/>
        <p:cNvGrpSpPr/>
        <p:nvPr/>
      </p:nvGrpSpPr>
      <p:grpSpPr>
        <a:xfrm>
          <a:off x="0" y="0"/>
          <a:ext cx="0" cy="0"/>
          <a:chOff x="0" y="0"/>
          <a:chExt cx="0" cy="0"/>
        </a:xfrm>
      </p:grpSpPr>
      <p:sp>
        <p:nvSpPr>
          <p:cNvPr id="5" name="任意多边形: 形状 4">
            <a:extLst>
              <a:ext uri="{FF2B5EF4-FFF2-40B4-BE49-F238E27FC236}">
                <a16:creationId xmlns:a16="http://schemas.microsoft.com/office/drawing/2014/main" id="{B036402E-D1D1-F187-DFE8-5723BFFE9FBF}"/>
              </a:ext>
            </a:extLst>
          </p:cNvPr>
          <p:cNvSpPr/>
          <p:nvPr userDrawn="1"/>
        </p:nvSpPr>
        <p:spPr>
          <a:xfrm>
            <a:off x="0" y="1"/>
            <a:ext cx="4741817" cy="5143501"/>
          </a:xfrm>
          <a:custGeom>
            <a:avLst/>
            <a:gdLst>
              <a:gd name="csX0" fmla="*/ 0 w 4741817"/>
              <a:gd name="csY0" fmla="*/ 0 h 5143501"/>
              <a:gd name="csX1" fmla="*/ 1272194 w 4741817"/>
              <a:gd name="csY1" fmla="*/ 0 h 5143501"/>
              <a:gd name="csX2" fmla="*/ 4741817 w 4741817"/>
              <a:gd name="csY2" fmla="*/ 5143501 h 5143501"/>
              <a:gd name="csX3" fmla="*/ 0 w 4741817"/>
              <a:gd name="csY3" fmla="*/ 5143501 h 5143501"/>
              <a:gd name="csX4" fmla="*/ 0 w 4741817"/>
              <a:gd name="csY4" fmla="*/ 5143500 h 5143501"/>
              <a:gd name="csX5" fmla="*/ 1503503 w 4741817"/>
              <a:gd name="csY5" fmla="*/ 5143500 h 5143501"/>
              <a:gd name="csX6" fmla="*/ 0 w 4741817"/>
              <a:gd name="csY6" fmla="*/ 2914650 h 514350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4741817" h="5143501">
                <a:moveTo>
                  <a:pt x="0" y="0"/>
                </a:moveTo>
                <a:lnTo>
                  <a:pt x="1272194" y="0"/>
                </a:lnTo>
                <a:lnTo>
                  <a:pt x="4741817" y="5143501"/>
                </a:lnTo>
                <a:lnTo>
                  <a:pt x="0" y="5143501"/>
                </a:lnTo>
                <a:lnTo>
                  <a:pt x="0" y="5143500"/>
                </a:lnTo>
                <a:lnTo>
                  <a:pt x="1503503" y="5143500"/>
                </a:lnTo>
                <a:lnTo>
                  <a:pt x="0" y="2914650"/>
                </a:lnTo>
                <a:close/>
              </a:path>
            </a:pathLst>
          </a:custGeom>
          <a:blipFill dpi="0" rotWithShape="1">
            <a:blip r:embed="rId2"/>
            <a:srcRect/>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a:p>
        </p:txBody>
      </p:sp>
      <p:sp>
        <p:nvSpPr>
          <p:cNvPr id="8" name="任意多边形: 形状 7">
            <a:extLst>
              <a:ext uri="{FF2B5EF4-FFF2-40B4-BE49-F238E27FC236}">
                <a16:creationId xmlns:a16="http://schemas.microsoft.com/office/drawing/2014/main" id="{EE83E7A8-DBD4-6E7B-661C-5B2F868BF548}"/>
              </a:ext>
            </a:extLst>
          </p:cNvPr>
          <p:cNvSpPr/>
          <p:nvPr userDrawn="1"/>
        </p:nvSpPr>
        <p:spPr>
          <a:xfrm>
            <a:off x="2228850" y="1000125"/>
            <a:ext cx="6915147" cy="4143375"/>
          </a:xfrm>
          <a:custGeom>
            <a:avLst/>
            <a:gdLst>
              <a:gd name="csX0" fmla="*/ 0 w 6915147"/>
              <a:gd name="csY0" fmla="*/ 0 h 4143375"/>
              <a:gd name="csX1" fmla="*/ 4552956 w 6915147"/>
              <a:gd name="csY1" fmla="*/ 0 h 4143375"/>
              <a:gd name="csX2" fmla="*/ 6915147 w 6915147"/>
              <a:gd name="csY2" fmla="*/ 3501803 h 4143375"/>
              <a:gd name="csX3" fmla="*/ 6915147 w 6915147"/>
              <a:gd name="csY3" fmla="*/ 4143375 h 4143375"/>
              <a:gd name="csX4" fmla="*/ 2794973 w 6915147"/>
              <a:gd name="csY4" fmla="*/ 4143375 h 4143375"/>
              <a:gd name="csX5" fmla="*/ 0 w 6915147"/>
              <a:gd name="csY5" fmla="*/ 1 h 4143375"/>
            </a:gdLst>
            <a:ahLst/>
            <a:cxnLst>
              <a:cxn ang="0">
                <a:pos x="csX0" y="csY0"/>
              </a:cxn>
              <a:cxn ang="0">
                <a:pos x="csX1" y="csY1"/>
              </a:cxn>
              <a:cxn ang="0">
                <a:pos x="csX2" y="csY2"/>
              </a:cxn>
              <a:cxn ang="0">
                <a:pos x="csX3" y="csY3"/>
              </a:cxn>
              <a:cxn ang="0">
                <a:pos x="csX4" y="csY4"/>
              </a:cxn>
              <a:cxn ang="0">
                <a:pos x="csX5" y="csY5"/>
              </a:cxn>
            </a:cxnLst>
            <a:rect l="l" t="t" r="r" b="b"/>
            <a:pathLst>
              <a:path w="6915147" h="4143375">
                <a:moveTo>
                  <a:pt x="0" y="0"/>
                </a:moveTo>
                <a:lnTo>
                  <a:pt x="4552956" y="0"/>
                </a:lnTo>
                <a:lnTo>
                  <a:pt x="6915147" y="3501803"/>
                </a:lnTo>
                <a:lnTo>
                  <a:pt x="6915147" y="4143375"/>
                </a:lnTo>
                <a:lnTo>
                  <a:pt x="2794973" y="4143375"/>
                </a:lnTo>
                <a:lnTo>
                  <a:pt x="0" y="1"/>
                </a:lnTo>
                <a:close/>
              </a:path>
            </a:pathLst>
          </a:cu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a:p>
        </p:txBody>
      </p:sp>
      <p:sp>
        <p:nvSpPr>
          <p:cNvPr id="2" name="标题 1">
            <a:extLst>
              <a:ext uri="{FF2B5EF4-FFF2-40B4-BE49-F238E27FC236}">
                <a16:creationId xmlns:a16="http://schemas.microsoft.com/office/drawing/2014/main" id="{88B184FF-622D-3306-B0F2-2D5466C757ED}"/>
              </a:ext>
            </a:extLst>
          </p:cNvPr>
          <p:cNvSpPr>
            <a:spLocks noGrp="1"/>
          </p:cNvSpPr>
          <p:nvPr>
            <p:ph type="title"/>
          </p:nvPr>
        </p:nvSpPr>
        <p:spPr>
          <a:xfrm>
            <a:off x="2228850" y="403553"/>
            <a:ext cx="6562725" cy="523220"/>
          </a:xfrm>
        </p:spPr>
        <p:txBody>
          <a:bodyPr/>
          <a:lstStyle>
            <a:lvl1pPr>
              <a:lnSpc>
                <a:spcPct val="100000"/>
              </a:lnSpc>
              <a:defRPr sz="2800">
                <a:solidFill>
                  <a:schemeClr val="tx1"/>
                </a:solidFill>
              </a:defRPr>
            </a:lvl1pPr>
          </a:lstStyle>
          <a:p>
            <a:r>
              <a:rPr lang="zh-CN" altLang="en-US" dirty="0"/>
              <a:t>单击此处编辑母版标题样式</a:t>
            </a:r>
          </a:p>
        </p:txBody>
      </p:sp>
    </p:spTree>
    <p:extLst>
      <p:ext uri="{BB962C8B-B14F-4D97-AF65-F5344CB8AC3E}">
        <p14:creationId xmlns:p14="http://schemas.microsoft.com/office/powerpoint/2010/main" val="32065757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userDrawn="1">
  <p:cSld name="cont">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43200F1-A367-DE63-EF07-8BDA9D773628}"/>
              </a:ext>
            </a:extLst>
          </p:cNvPr>
          <p:cNvSpPr>
            <a:spLocks noGrp="1"/>
          </p:cNvSpPr>
          <p:nvPr>
            <p:ph type="title"/>
          </p:nvPr>
        </p:nvSpPr>
        <p:spPr>
          <a:xfrm>
            <a:off x="612000" y="144000"/>
            <a:ext cx="7920000" cy="341632"/>
          </a:xfrm>
        </p:spPr>
        <p:txBody>
          <a:bodyPr/>
          <a:lstStyle>
            <a:lvl1pPr>
              <a:defRPr lang="zh-CN" altLang="en-US" dirty="0">
                <a:solidFill>
                  <a:schemeClr val="bg1"/>
                </a:solidFill>
              </a:defRPr>
            </a:lvl1pPr>
          </a:lstStyle>
          <a:p>
            <a:r>
              <a:rPr lang="zh-CN" altLang="en-US" dirty="0"/>
              <a:t>单击此处编辑母版标题样式</a:t>
            </a:r>
          </a:p>
        </p:txBody>
      </p:sp>
      <p:sp>
        <p:nvSpPr>
          <p:cNvPr id="5" name="内容占位符 4">
            <a:extLst>
              <a:ext uri="{FF2B5EF4-FFF2-40B4-BE49-F238E27FC236}">
                <a16:creationId xmlns:a16="http://schemas.microsoft.com/office/drawing/2014/main" id="{8C33CEDD-DCDC-C7AD-8118-634E9A643E6D}"/>
              </a:ext>
            </a:extLst>
          </p:cNvPr>
          <p:cNvSpPr>
            <a:spLocks noGrp="1"/>
          </p:cNvSpPr>
          <p:nvPr>
            <p:ph sz="quarter" idx="10"/>
          </p:nvPr>
        </p:nvSpPr>
        <p:spPr>
          <a:xfrm>
            <a:off x="612000" y="899999"/>
            <a:ext cx="7920000" cy="3780000"/>
          </a:xfrm>
        </p:spPr>
        <p:txBody>
          <a:bodyPr/>
          <a:lstStyle>
            <a:lvl1pPr>
              <a:buFont typeface="Wingdings" panose="05000000000000000000" pitchFamily="2" charset="2"/>
              <a:buChar char="§"/>
              <a:defRPr lang="zh-CN" altLang="en-US" dirty="0"/>
            </a:lvl1pPr>
            <a:lvl2pPr>
              <a:defRPr lang="zh-CN" altLang="en-US" dirty="0"/>
            </a:lvl2pPr>
            <a:lvl3pPr marL="540000">
              <a:defRPr/>
            </a:lvl3pPr>
          </a:lstStyle>
          <a:p>
            <a:pPr lvl="0"/>
            <a:r>
              <a:rPr lang="zh-CN" altLang="en-US" dirty="0"/>
              <a:t>单击此处编辑母版文本样式</a:t>
            </a:r>
          </a:p>
          <a:p>
            <a:pPr lvl="1"/>
            <a:r>
              <a:rPr lang="zh-CN" altLang="en-US" dirty="0"/>
              <a:t>二级</a:t>
            </a:r>
            <a:endParaRPr lang="en-US" altLang="zh-CN" dirty="0"/>
          </a:p>
          <a:p>
            <a:pPr lvl="2"/>
            <a:r>
              <a:rPr lang="zh-CN" altLang="en-US" dirty="0"/>
              <a:t>三级</a:t>
            </a:r>
          </a:p>
        </p:txBody>
      </p:sp>
    </p:spTree>
    <p:extLst>
      <p:ext uri="{BB962C8B-B14F-4D97-AF65-F5344CB8AC3E}">
        <p14:creationId xmlns:p14="http://schemas.microsoft.com/office/powerpoint/2010/main" val="58060291"/>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title">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E087E70-7160-B4F6-FB83-D01296B0D4C4}"/>
              </a:ext>
            </a:extLst>
          </p:cNvPr>
          <p:cNvSpPr>
            <a:spLocks noGrp="1"/>
          </p:cNvSpPr>
          <p:nvPr>
            <p:ph type="title"/>
          </p:nvPr>
        </p:nvSpPr>
        <p:spPr>
          <a:xfrm>
            <a:off x="612000" y="144000"/>
            <a:ext cx="7920000" cy="341632"/>
          </a:xfrm>
        </p:spPr>
        <p:txBody>
          <a:bodyPr/>
          <a:lstStyle>
            <a:lvl1pPr>
              <a:defRPr lang="zh-CN" altLang="en-US" dirty="0">
                <a:solidFill>
                  <a:schemeClr val="bg1"/>
                </a:solidFill>
              </a:defRPr>
            </a:lvl1pPr>
          </a:lstStyle>
          <a:p>
            <a:r>
              <a:rPr lang="zh-CN" altLang="en-US" dirty="0"/>
              <a:t>单击此处编辑母版标题样式</a:t>
            </a:r>
          </a:p>
        </p:txBody>
      </p:sp>
    </p:spTree>
    <p:extLst>
      <p:ext uri="{BB962C8B-B14F-4D97-AF65-F5344CB8AC3E}">
        <p14:creationId xmlns:p14="http://schemas.microsoft.com/office/powerpoint/2010/main" val="714026065"/>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blank" preserve="1">
  <p:cSld name="空白">
    <p:spTree>
      <p:nvGrpSpPr>
        <p:cNvPr id="1" name=""/>
        <p:cNvGrpSpPr/>
        <p:nvPr/>
      </p:nvGrpSpPr>
      <p:grpSpPr>
        <a:xfrm>
          <a:off x="0" y="0"/>
          <a:ext cx="0" cy="0"/>
          <a:chOff x="0" y="0"/>
          <a:chExt cx="0" cy="0"/>
        </a:xfrm>
      </p:grpSpPr>
    </p:spTree>
    <p:extLst>
      <p:ext uri="{BB962C8B-B14F-4D97-AF65-F5344CB8AC3E}">
        <p14:creationId xmlns:p14="http://schemas.microsoft.com/office/powerpoint/2010/main" val="1235748077"/>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image" Target="../media/image1.jpg"/><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任意多边形: 形状 3">
            <a:extLst>
              <a:ext uri="{FF2B5EF4-FFF2-40B4-BE49-F238E27FC236}">
                <a16:creationId xmlns:a16="http://schemas.microsoft.com/office/drawing/2014/main" id="{872EF6DB-335D-41E7-ADDC-05F45EA1790E}"/>
              </a:ext>
            </a:extLst>
          </p:cNvPr>
          <p:cNvSpPr/>
          <p:nvPr userDrawn="1"/>
        </p:nvSpPr>
        <p:spPr>
          <a:xfrm>
            <a:off x="0" y="0"/>
            <a:ext cx="9144000" cy="840441"/>
          </a:xfrm>
          <a:custGeom>
            <a:avLst/>
            <a:gdLst>
              <a:gd name="connsiteX0" fmla="*/ 205288 w 12192000"/>
              <a:gd name="connsiteY0" fmla="*/ 0 h 1820202"/>
              <a:gd name="connsiteX1" fmla="*/ 12192000 w 12192000"/>
              <a:gd name="connsiteY1" fmla="*/ 0 h 1820202"/>
              <a:gd name="connsiteX2" fmla="*/ 12192000 w 12192000"/>
              <a:gd name="connsiteY2" fmla="*/ 858056 h 1820202"/>
              <a:gd name="connsiteX3" fmla="*/ 12004367 w 12192000"/>
              <a:gd name="connsiteY3" fmla="*/ 753507 h 1820202"/>
              <a:gd name="connsiteX4" fmla="*/ 10435239 w 12192000"/>
              <a:gd name="connsiteY4" fmla="*/ 351792 h 1820202"/>
              <a:gd name="connsiteX5" fmla="*/ 5605786 w 12192000"/>
              <a:gd name="connsiteY5" fmla="*/ 1798852 h 1820202"/>
              <a:gd name="connsiteX6" fmla="*/ 288062 w 12192000"/>
              <a:gd name="connsiteY6" fmla="*/ 1133027 h 1820202"/>
              <a:gd name="connsiteX7" fmla="*/ 116570 w 12192000"/>
              <a:gd name="connsiteY7" fmla="*/ 1072832 h 1820202"/>
              <a:gd name="connsiteX8" fmla="*/ 0 w 12192000"/>
              <a:gd name="connsiteY8" fmla="*/ 1028114 h 1820202"/>
              <a:gd name="connsiteX9" fmla="*/ 0 w 12192000"/>
              <a:gd name="connsiteY9" fmla="*/ 23063 h 18202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2192000" h="1820202">
                <a:moveTo>
                  <a:pt x="205288" y="0"/>
                </a:moveTo>
                <a:lnTo>
                  <a:pt x="12192000" y="0"/>
                </a:lnTo>
                <a:lnTo>
                  <a:pt x="12192000" y="858056"/>
                </a:lnTo>
                <a:lnTo>
                  <a:pt x="12004367" y="753507"/>
                </a:lnTo>
                <a:cubicBezTo>
                  <a:pt x="11576389" y="524537"/>
                  <a:pt x="11050017" y="300746"/>
                  <a:pt x="10435239" y="351792"/>
                </a:cubicBezTo>
                <a:cubicBezTo>
                  <a:pt x="9205682" y="453885"/>
                  <a:pt x="7296982" y="1668646"/>
                  <a:pt x="5605786" y="1798852"/>
                </a:cubicBezTo>
                <a:cubicBezTo>
                  <a:pt x="3914590" y="1929058"/>
                  <a:pt x="1183227" y="1433388"/>
                  <a:pt x="288062" y="1133027"/>
                </a:cubicBezTo>
                <a:cubicBezTo>
                  <a:pt x="232114" y="1114254"/>
                  <a:pt x="174641" y="1094124"/>
                  <a:pt x="116570" y="1072832"/>
                </a:cubicBezTo>
                <a:lnTo>
                  <a:pt x="0" y="1028114"/>
                </a:lnTo>
                <a:lnTo>
                  <a:pt x="0" y="23063"/>
                </a:lnTo>
                <a:close/>
              </a:path>
            </a:pathLst>
          </a:custGeom>
          <a:solidFill>
            <a:srgbClr val="FFC000"/>
          </a:soli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4000" dirty="0">
              <a:effectLst/>
            </a:endParaRPr>
          </a:p>
        </p:txBody>
      </p:sp>
      <p:sp>
        <p:nvSpPr>
          <p:cNvPr id="5" name="任意多边形: 形状 4">
            <a:extLst>
              <a:ext uri="{FF2B5EF4-FFF2-40B4-BE49-F238E27FC236}">
                <a16:creationId xmlns:a16="http://schemas.microsoft.com/office/drawing/2014/main" id="{B97DF034-3308-4BA6-A390-1C3EEDAA1039}"/>
              </a:ext>
            </a:extLst>
          </p:cNvPr>
          <p:cNvSpPr/>
          <p:nvPr userDrawn="1"/>
        </p:nvSpPr>
        <p:spPr>
          <a:xfrm>
            <a:off x="0" y="0"/>
            <a:ext cx="9144000" cy="773206"/>
          </a:xfrm>
          <a:custGeom>
            <a:avLst/>
            <a:gdLst>
              <a:gd name="connsiteX0" fmla="*/ 0 w 12192000"/>
              <a:gd name="connsiteY0" fmla="*/ 0 h 1658639"/>
              <a:gd name="connsiteX1" fmla="*/ 12192000 w 12192000"/>
              <a:gd name="connsiteY1" fmla="*/ 0 h 1658639"/>
              <a:gd name="connsiteX2" fmla="*/ 12192000 w 12192000"/>
              <a:gd name="connsiteY2" fmla="*/ 993063 h 1658639"/>
              <a:gd name="connsiteX3" fmla="*/ 12108056 w 12192000"/>
              <a:gd name="connsiteY3" fmla="*/ 961496 h 1658639"/>
              <a:gd name="connsiteX4" fmla="*/ 9854214 w 12192000"/>
              <a:gd name="connsiteY4" fmla="*/ 190229 h 1658639"/>
              <a:gd name="connsiteX5" fmla="*/ 5024761 w 12192000"/>
              <a:gd name="connsiteY5" fmla="*/ 1637289 h 1658639"/>
              <a:gd name="connsiteX6" fmla="*/ 123178 w 12192000"/>
              <a:gd name="connsiteY6" fmla="*/ 1091651 h 1658639"/>
              <a:gd name="connsiteX7" fmla="*/ 0 w 12192000"/>
              <a:gd name="connsiteY7" fmla="*/ 1056075 h 16586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192000" h="1658639">
                <a:moveTo>
                  <a:pt x="0" y="0"/>
                </a:moveTo>
                <a:lnTo>
                  <a:pt x="12192000" y="0"/>
                </a:lnTo>
                <a:lnTo>
                  <a:pt x="12192000" y="993063"/>
                </a:lnTo>
                <a:lnTo>
                  <a:pt x="12108056" y="961496"/>
                </a:lnTo>
                <a:cubicBezTo>
                  <a:pt x="11618795" y="750071"/>
                  <a:pt x="10853229" y="107278"/>
                  <a:pt x="9854214" y="190229"/>
                </a:cubicBezTo>
                <a:cubicBezTo>
                  <a:pt x="8624657" y="292322"/>
                  <a:pt x="6715957" y="1507083"/>
                  <a:pt x="5024761" y="1637289"/>
                </a:cubicBezTo>
                <a:cubicBezTo>
                  <a:pt x="3544965" y="1751219"/>
                  <a:pt x="1268790" y="1385963"/>
                  <a:pt x="123178" y="1091651"/>
                </a:cubicBezTo>
                <a:lnTo>
                  <a:pt x="0" y="1056075"/>
                </a:lnTo>
                <a:close/>
              </a:path>
            </a:pathLst>
          </a:custGeom>
          <a:solidFill>
            <a:srgbClr val="0070C0"/>
          </a:solidFill>
          <a:ln>
            <a:no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4000" dirty="0">
              <a:effectLst/>
              <a:latin typeface="微软雅黑" panose="020B0503020204020204" pitchFamily="34" charset="-122"/>
              <a:ea typeface="微软雅黑" panose="020B0503020204020204" pitchFamily="34" charset="-122"/>
            </a:endParaRPr>
          </a:p>
        </p:txBody>
      </p:sp>
      <p:sp>
        <p:nvSpPr>
          <p:cNvPr id="2" name="标题占位符 1">
            <a:extLst>
              <a:ext uri="{FF2B5EF4-FFF2-40B4-BE49-F238E27FC236}">
                <a16:creationId xmlns:a16="http://schemas.microsoft.com/office/drawing/2014/main" id="{4D67AE12-B998-CFE6-5E5E-6AE6643E7916}"/>
              </a:ext>
            </a:extLst>
          </p:cNvPr>
          <p:cNvSpPr>
            <a:spLocks noGrp="1"/>
          </p:cNvSpPr>
          <p:nvPr>
            <p:ph type="title"/>
          </p:nvPr>
        </p:nvSpPr>
        <p:spPr>
          <a:xfrm>
            <a:off x="612000" y="144000"/>
            <a:ext cx="7920000" cy="341632"/>
          </a:xfrm>
          <a:prstGeom prst="rect">
            <a:avLst/>
          </a:prstGeom>
        </p:spPr>
        <p:txBody>
          <a:bodyPr vert="horz" lIns="91440" tIns="45720" rIns="91440" bIns="45720" rtlCol="0" anchor="ctr">
            <a:spAutoFit/>
          </a:bodyPr>
          <a:lstStyle/>
          <a:p>
            <a:r>
              <a:rPr lang="zh-CN" altLang="en-US" dirty="0"/>
              <a:t>单击此处编辑母版标题样式</a:t>
            </a:r>
          </a:p>
        </p:txBody>
      </p:sp>
      <p:sp>
        <p:nvSpPr>
          <p:cNvPr id="3" name="文本占位符 2">
            <a:extLst>
              <a:ext uri="{FF2B5EF4-FFF2-40B4-BE49-F238E27FC236}">
                <a16:creationId xmlns:a16="http://schemas.microsoft.com/office/drawing/2014/main" id="{4EE75C8C-FA0F-A9D4-2F98-DC890073FF3C}"/>
              </a:ext>
            </a:extLst>
          </p:cNvPr>
          <p:cNvSpPr>
            <a:spLocks noGrp="1"/>
          </p:cNvSpPr>
          <p:nvPr>
            <p:ph type="body" idx="1"/>
          </p:nvPr>
        </p:nvSpPr>
        <p:spPr>
          <a:xfrm>
            <a:off x="612000" y="900000"/>
            <a:ext cx="7920000" cy="3780000"/>
          </a:xfrm>
          <a:prstGeom prst="rect">
            <a:avLst/>
          </a:prstGeom>
        </p:spPr>
        <p:txBody>
          <a:bodyPr vert="horz" lIns="91440" tIns="45720" rIns="91440" bIns="45720" rtlCol="0">
            <a:normAutofit/>
          </a:bodyPr>
          <a:lstStyle/>
          <a:p>
            <a:pPr lvl="0"/>
            <a:r>
              <a:rPr lang="zh-CN" altLang="en-US" dirty="0"/>
              <a:t>单击此处编辑母版文本样式</a:t>
            </a:r>
          </a:p>
          <a:p>
            <a:pPr lvl="1"/>
            <a:r>
              <a:rPr lang="zh-CN" altLang="en-US" dirty="0"/>
              <a:t>二级</a:t>
            </a:r>
            <a:endParaRPr lang="en-US" altLang="zh-CN" dirty="0"/>
          </a:p>
          <a:p>
            <a:pPr lvl="2"/>
            <a:r>
              <a:rPr lang="zh-CN" altLang="en-US" dirty="0"/>
              <a:t>三级</a:t>
            </a:r>
          </a:p>
        </p:txBody>
      </p:sp>
      <p:sp>
        <p:nvSpPr>
          <p:cNvPr id="8" name="Rectangle 5">
            <a:extLst>
              <a:ext uri="{FF2B5EF4-FFF2-40B4-BE49-F238E27FC236}">
                <a16:creationId xmlns:a16="http://schemas.microsoft.com/office/drawing/2014/main" id="{A544FBB2-85F9-2332-79F8-2108E64F5687}"/>
              </a:ext>
            </a:extLst>
          </p:cNvPr>
          <p:cNvSpPr>
            <a:spLocks noChangeArrowheads="1"/>
          </p:cNvSpPr>
          <p:nvPr userDrawn="1"/>
        </p:nvSpPr>
        <p:spPr bwMode="auto">
          <a:xfrm>
            <a:off x="3002703" y="4805682"/>
            <a:ext cx="1390124" cy="21544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r" eaLnBrk="0" hangingPunct="0"/>
            <a:r>
              <a:rPr lang="en-US" altLang="zh-CN" sz="800" baseline="0" dirty="0">
                <a:solidFill>
                  <a:schemeClr val="tx1">
                    <a:lumMod val="50000"/>
                    <a:lumOff val="50000"/>
                  </a:schemeClr>
                </a:solidFill>
                <a:latin typeface="+mn-lt"/>
                <a:ea typeface="+mn-ea"/>
              </a:rPr>
              <a:t>Computer Network 8th</a:t>
            </a:r>
            <a:endParaRPr lang="fr-FR" altLang="zh-CN" sz="800" baseline="0" dirty="0">
              <a:solidFill>
                <a:schemeClr val="tx1">
                  <a:lumMod val="50000"/>
                  <a:lumOff val="50000"/>
                </a:schemeClr>
              </a:solidFill>
              <a:latin typeface="+mn-lt"/>
              <a:ea typeface="+mn-ea"/>
            </a:endParaRPr>
          </a:p>
        </p:txBody>
      </p:sp>
      <p:sp>
        <p:nvSpPr>
          <p:cNvPr id="13" name="文本框 12">
            <a:extLst>
              <a:ext uri="{FF2B5EF4-FFF2-40B4-BE49-F238E27FC236}">
                <a16:creationId xmlns:a16="http://schemas.microsoft.com/office/drawing/2014/main" id="{55D5D21A-270B-1DEE-1850-7EE79091AF02}"/>
              </a:ext>
            </a:extLst>
          </p:cNvPr>
          <p:cNvSpPr txBox="1"/>
          <p:nvPr userDrawn="1"/>
        </p:nvSpPr>
        <p:spPr>
          <a:xfrm>
            <a:off x="4751173" y="4805682"/>
            <a:ext cx="1532792" cy="21544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zh-CN"/>
            </a:defPPr>
            <a:lvl1pPr lvl="0" eaLnBrk="0" hangingPunct="0">
              <a:defRPr sz="1100" b="0">
                <a:solidFill>
                  <a:srgbClr val="0070C0"/>
                </a:solidFill>
                <a:latin typeface="Montserrat" panose="00000500000000000000" pitchFamily="2" charset="0"/>
                <a:ea typeface="微软雅黑" pitchFamily="34" charset="-122"/>
              </a:defRPr>
            </a:lvl1pPr>
          </a:lstStyle>
          <a:p>
            <a:pPr lvl="0"/>
            <a:r>
              <a:rPr lang="en-US" altLang="zh-CN" sz="800" baseline="0" dirty="0">
                <a:solidFill>
                  <a:schemeClr val="tx1">
                    <a:lumMod val="50000"/>
                    <a:lumOff val="50000"/>
                  </a:schemeClr>
                </a:solidFill>
                <a:latin typeface="+mn-lt"/>
                <a:ea typeface="+mn-ea"/>
              </a:rPr>
              <a:t>glplaman.github.io</a:t>
            </a:r>
            <a:endParaRPr lang="fr-FR" altLang="zh-CN" sz="800" baseline="0" dirty="0">
              <a:solidFill>
                <a:schemeClr val="tx1">
                  <a:lumMod val="50000"/>
                  <a:lumOff val="50000"/>
                </a:schemeClr>
              </a:solidFill>
              <a:latin typeface="+mn-lt"/>
              <a:ea typeface="+mn-ea"/>
            </a:endParaRPr>
          </a:p>
        </p:txBody>
      </p:sp>
      <p:sp>
        <p:nvSpPr>
          <p:cNvPr id="6" name="椭圆 5">
            <a:extLst>
              <a:ext uri="{FF2B5EF4-FFF2-40B4-BE49-F238E27FC236}">
                <a16:creationId xmlns:a16="http://schemas.microsoft.com/office/drawing/2014/main" id="{DC82DB3A-7A48-8D2E-7CC2-3C9757752EA7}"/>
              </a:ext>
            </a:extLst>
          </p:cNvPr>
          <p:cNvSpPr/>
          <p:nvPr userDrawn="1"/>
        </p:nvSpPr>
        <p:spPr>
          <a:xfrm>
            <a:off x="4391173" y="4733404"/>
            <a:ext cx="360000" cy="360000"/>
          </a:xfrm>
          <a:prstGeom prst="ellipse">
            <a:avLst/>
          </a:prstGeom>
          <a:blipFill>
            <a:blip r:embed="rId6"/>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4288848597"/>
      </p:ext>
    </p:extLst>
  </p:cSld>
  <p:clrMap bg1="lt1" tx1="dk1" bg2="lt2" tx2="dk2" accent1="accent1" accent2="accent2" accent3="accent3" accent4="accent4" accent5="accent5" accent6="accent6" hlink="hlink" folHlink="folHlink"/>
  <p:sldLayoutIdLst>
    <p:sldLayoutId id="2147483698" r:id="rId1"/>
    <p:sldLayoutId id="2147483697" r:id="rId2"/>
    <p:sldLayoutId id="2147483696" r:id="rId3"/>
    <p:sldLayoutId id="2147483691" r:id="rId4"/>
  </p:sldLayoutIdLst>
  <p:txStyles>
    <p:titleStyle>
      <a:lvl1pPr algn="l" defTabSz="685800" rtl="0" eaLnBrk="1" latinLnBrk="0" hangingPunct="1">
        <a:lnSpc>
          <a:spcPct val="90000"/>
        </a:lnSpc>
        <a:spcBef>
          <a:spcPct val="0"/>
        </a:spcBef>
        <a:buNone/>
        <a:defRPr sz="1800" kern="1200">
          <a:solidFill>
            <a:schemeClr val="bg1"/>
          </a:solidFill>
          <a:latin typeface="+mj-lt"/>
          <a:ea typeface="+mj-ea"/>
          <a:cs typeface="+mj-cs"/>
        </a:defRPr>
      </a:lvl1pPr>
    </p:titleStyle>
    <p:bodyStyle>
      <a:lvl1pPr marL="180000" indent="-180000" algn="l" defTabSz="685800" rtl="0" eaLnBrk="1" latinLnBrk="0" hangingPunct="1">
        <a:lnSpc>
          <a:spcPct val="100000"/>
        </a:lnSpc>
        <a:spcBef>
          <a:spcPts val="0"/>
        </a:spcBef>
        <a:spcAft>
          <a:spcPts val="600"/>
        </a:spcAft>
        <a:buFont typeface="Wingdings" panose="05000000000000000000" pitchFamily="2" charset="2"/>
        <a:buChar char="§"/>
        <a:defRPr sz="1600" kern="1200">
          <a:solidFill>
            <a:schemeClr val="tx1"/>
          </a:solidFill>
          <a:latin typeface="+mn-lt"/>
          <a:ea typeface="+mn-ea"/>
          <a:cs typeface="+mn-cs"/>
        </a:defRPr>
      </a:lvl1pPr>
      <a:lvl2pPr marL="360000" indent="-180000" algn="l" defTabSz="685800" rtl="0" eaLnBrk="1" latinLnBrk="0" hangingPunct="1">
        <a:lnSpc>
          <a:spcPct val="100000"/>
        </a:lnSpc>
        <a:spcBef>
          <a:spcPts val="0"/>
        </a:spcBef>
        <a:spcAft>
          <a:spcPts val="600"/>
        </a:spcAft>
        <a:buFont typeface="Arial" panose="020B0604020202020204" pitchFamily="34" charset="0"/>
        <a:buChar char="•"/>
        <a:defRPr sz="1400" kern="1200">
          <a:solidFill>
            <a:schemeClr val="tx1"/>
          </a:solidFill>
          <a:latin typeface="+mn-lt"/>
          <a:ea typeface="+mn-ea"/>
          <a:cs typeface="+mn-cs"/>
        </a:defRPr>
      </a:lvl2pPr>
      <a:lvl3pPr marL="540000" indent="-180000" algn="l" defTabSz="685800" rtl="0" eaLnBrk="1" latinLnBrk="0" hangingPunct="1">
        <a:lnSpc>
          <a:spcPct val="100000"/>
        </a:lnSpc>
        <a:spcBef>
          <a:spcPts val="0"/>
        </a:spcBef>
        <a:spcAft>
          <a:spcPts val="600"/>
        </a:spcAft>
        <a:buFont typeface="Montserrat" panose="00000500000000000000" pitchFamily="2" charset="0"/>
        <a:buChar char="−"/>
        <a:defRPr sz="12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zh-CN"/>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jpeg"/><Relationship Id="rId1" Type="http://schemas.openxmlformats.org/officeDocument/2006/relationships/slideLayout" Target="../slideLayouts/slideLayout4.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4.xml"/><Relationship Id="rId4" Type="http://schemas.openxmlformats.org/officeDocument/2006/relationships/image" Target="../media/image7.png"/></Relationships>
</file>

<file path=ppt/slides/_rels/slide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3.xml"/><Relationship Id="rId1" Type="http://schemas.openxmlformats.org/officeDocument/2006/relationships/slideLayout" Target="../slideLayouts/slideLayout4.xml"/><Relationship Id="rId5" Type="http://schemas.openxmlformats.org/officeDocument/2006/relationships/image" Target="../media/image10.png"/><Relationship Id="rId4" Type="http://schemas.openxmlformats.org/officeDocument/2006/relationships/image" Target="../media/image9.png"/></Relationships>
</file>

<file path=ppt/slides/_rels/slide6.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4.xml"/><Relationship Id="rId1" Type="http://schemas.openxmlformats.org/officeDocument/2006/relationships/slideLayout" Target="../slideLayouts/slideLayout4.xml"/><Relationship Id="rId4" Type="http://schemas.microsoft.com/office/2007/relationships/hdphoto" Target="../media/hdphoto1.wdp"/></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3" Type="http://schemas.openxmlformats.org/officeDocument/2006/relationships/image" Target="../media/image13.svg"/><Relationship Id="rId2" Type="http://schemas.openxmlformats.org/officeDocument/2006/relationships/image" Target="../media/image12.sv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hyperlink" Target="https://www.chinadaily.com.cn/business/2015-12/30/content_22868675.htm" TargetMode="External"/><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6.png"/><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2" Type="http://schemas.openxmlformats.org/officeDocument/2006/relationships/hyperlink" Target="https://www.nsf.gov/impacts/internet" TargetMode="Externa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3" Type="http://schemas.openxmlformats.org/officeDocument/2006/relationships/image" Target="../media/image18.wmf"/><Relationship Id="rId2" Type="http://schemas.openxmlformats.org/officeDocument/2006/relationships/hyperlink" Target="https://nsf.net/about" TargetMode="Externa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2" Type="http://schemas.openxmlformats.org/officeDocument/2006/relationships/hyperlink" Target="https://www.w3.org/" TargetMode="Externa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hyperlink" Target="https://www.rfc-editor.org/series/rfc/" TargetMode="Externa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18.wmf"/><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Layout" Target="../slideLayouts/slideLayout3.xml"/><Relationship Id="rId6" Type="http://schemas.openxmlformats.org/officeDocument/2006/relationships/image" Target="../media/image26.png"/><Relationship Id="rId5" Type="http://schemas.openxmlformats.org/officeDocument/2006/relationships/image" Target="../media/image25.png"/><Relationship Id="rId4" Type="http://schemas.openxmlformats.org/officeDocument/2006/relationships/image" Target="../media/image24.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12.xml"/><Relationship Id="rId1" Type="http://schemas.openxmlformats.org/officeDocument/2006/relationships/slideLayout" Target="../slideLayouts/slideLayout2.xml"/><Relationship Id="rId5" Type="http://schemas.openxmlformats.org/officeDocument/2006/relationships/image" Target="../media/image15.png"/><Relationship Id="rId4" Type="http://schemas.openxmlformats.org/officeDocument/2006/relationships/image" Target="../media/image29.png"/></Relationships>
</file>

<file path=ppt/slides/_rels/slide37.xml.rels><?xml version="1.0" encoding="UTF-8" standalone="yes"?>
<Relationships xmlns="http://schemas.openxmlformats.org/package/2006/relationships"><Relationship Id="rId3" Type="http://schemas.openxmlformats.org/officeDocument/2006/relationships/image" Target="../media/image18.wmf"/><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hyperlink" Target="https://blog.csdn.net/Lswblue/article/details/149030966" TargetMode="External"/><Relationship Id="rId2" Type="http://schemas.openxmlformats.org/officeDocument/2006/relationships/notesSlide" Target="../notesSlides/notesSlide15.xml"/><Relationship Id="rId1" Type="http://schemas.openxmlformats.org/officeDocument/2006/relationships/slideLayout" Target="../slideLayouts/slideLayout2.xml"/><Relationship Id="rId5" Type="http://schemas.openxmlformats.org/officeDocument/2006/relationships/image" Target="../media/image31.png"/><Relationship Id="rId4" Type="http://schemas.openxmlformats.org/officeDocument/2006/relationships/image" Target="../media/image30.png"/></Relationships>
</file>

<file path=ppt/slides/_rels/slide41.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image" Target="../media/image32.wmf"/><Relationship Id="rId2" Type="http://schemas.openxmlformats.org/officeDocument/2006/relationships/image" Target="../media/image29.png"/><Relationship Id="rId1" Type="http://schemas.openxmlformats.org/officeDocument/2006/relationships/slideLayout" Target="../slideLayouts/slideLayout4.xml"/></Relationships>
</file>

<file path=ppt/slides/_rels/slide49.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18.wmf"/><Relationship Id="rId1" Type="http://schemas.openxmlformats.org/officeDocument/2006/relationships/slideLayout" Target="../slideLayouts/slideLayout4.xml"/></Relationships>
</file>

<file path=ppt/slides/_rels/slide50.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3.xml"/></Relationships>
</file>

<file path=ppt/slides/_rels/slide51.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3.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hyperlink" Target="https://www.cnnic.cn/" TargetMode="External"/><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7.xml.rels><?xml version="1.0" encoding="UTF-8" standalone="yes"?>
<Relationships xmlns="http://schemas.openxmlformats.org/package/2006/relationships"><Relationship Id="rId8" Type="http://schemas.openxmlformats.org/officeDocument/2006/relationships/image" Target="../media/image40.png"/><Relationship Id="rId3" Type="http://schemas.openxmlformats.org/officeDocument/2006/relationships/image" Target="../media/image32.wmf"/><Relationship Id="rId7" Type="http://schemas.openxmlformats.org/officeDocument/2006/relationships/image" Target="../media/image39.png"/><Relationship Id="rId2" Type="http://schemas.openxmlformats.org/officeDocument/2006/relationships/notesSlide" Target="../notesSlides/notesSlide21.xml"/><Relationship Id="rId1" Type="http://schemas.openxmlformats.org/officeDocument/2006/relationships/slideLayout" Target="../slideLayouts/slideLayout2.xml"/><Relationship Id="rId6" Type="http://schemas.openxmlformats.org/officeDocument/2006/relationships/image" Target="../media/image38.png"/><Relationship Id="rId11" Type="http://schemas.openxmlformats.org/officeDocument/2006/relationships/image" Target="../media/image42.png"/><Relationship Id="rId5" Type="http://schemas.openxmlformats.org/officeDocument/2006/relationships/image" Target="../media/image37.png"/><Relationship Id="rId10" Type="http://schemas.openxmlformats.org/officeDocument/2006/relationships/image" Target="../media/image41.png"/><Relationship Id="rId4" Type="http://schemas.openxmlformats.org/officeDocument/2006/relationships/image" Target="../media/image36.png"/><Relationship Id="rId9" Type="http://schemas.openxmlformats.org/officeDocument/2006/relationships/image" Target="../media/image29.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2" Type="http://schemas.openxmlformats.org/officeDocument/2006/relationships/hyperlink" Target="packet%20switch.mp4" TargetMode="External"/><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3" Type="http://schemas.openxmlformats.org/officeDocument/2006/relationships/image" Target="../media/image43.jpe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3" Type="http://schemas.openxmlformats.org/officeDocument/2006/relationships/image" Target="../media/image44.jpe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3.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3.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3.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2.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3.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3.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97.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29.xml"/><Relationship Id="rId1" Type="http://schemas.openxmlformats.org/officeDocument/2006/relationships/slideLayout" Target="../slideLayouts/slideLayout2.xml"/><Relationship Id="rId4" Type="http://schemas.openxmlformats.org/officeDocument/2006/relationships/image" Target="../media/image42.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1.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3.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3.xml"/></Relationships>
</file>

<file path=ppt/slides/_rels/slide106.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3.xml"/></Relationships>
</file>

<file path=ppt/slides/_rels/slide107.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3.xml"/></Relationships>
</file>

<file path=ppt/slides/_rels/slide108.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3.xml"/></Relationships>
</file>

<file path=ppt/slides/_rels/slide109.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3.xml"/></Relationships>
</file>

<file path=ppt/slides/_rels/slide110.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3.xml"/></Relationships>
</file>

<file path=ppt/slides/_rels/slide111.xml.rels><?xml version="1.0" encoding="UTF-8" standalone="yes"?>
<Relationships xmlns="http://schemas.openxmlformats.org/package/2006/relationships"><Relationship Id="rId3" Type="http://schemas.openxmlformats.org/officeDocument/2006/relationships/image" Target="../media/image18.wmf"/><Relationship Id="rId2" Type="http://schemas.openxmlformats.org/officeDocument/2006/relationships/image" Target="../media/image33.png"/><Relationship Id="rId1" Type="http://schemas.openxmlformats.org/officeDocument/2006/relationships/slideLayout" Target="../slideLayouts/slideLayout3.xml"/></Relationships>
</file>

<file path=ppt/slides/_rels/slide112.xml.rels><?xml version="1.0" encoding="UTF-8" standalone="yes"?>
<Relationships xmlns="http://schemas.openxmlformats.org/package/2006/relationships"><Relationship Id="rId3" Type="http://schemas.openxmlformats.org/officeDocument/2006/relationships/image" Target="../media/image18.wmf"/><Relationship Id="rId2" Type="http://schemas.openxmlformats.org/officeDocument/2006/relationships/image" Target="../media/image33.png"/><Relationship Id="rId1" Type="http://schemas.openxmlformats.org/officeDocument/2006/relationships/slideLayout" Target="../slideLayouts/slideLayout3.xml"/></Relationships>
</file>

<file path=ppt/slides/_rels/slide113.xml.rels><?xml version="1.0" encoding="UTF-8" standalone="yes"?>
<Relationships xmlns="http://schemas.openxmlformats.org/package/2006/relationships"><Relationship Id="rId3" Type="http://schemas.openxmlformats.org/officeDocument/2006/relationships/image" Target="../media/image18.wmf"/><Relationship Id="rId2" Type="http://schemas.openxmlformats.org/officeDocument/2006/relationships/image" Target="../media/image33.png"/><Relationship Id="rId1" Type="http://schemas.openxmlformats.org/officeDocument/2006/relationships/slideLayout" Target="../slideLayouts/slideLayout3.xml"/></Relationships>
</file>

<file path=ppt/slides/_rels/slide114.xml.rels><?xml version="1.0" encoding="UTF-8" standalone="yes"?>
<Relationships xmlns="http://schemas.openxmlformats.org/package/2006/relationships"><Relationship Id="rId3" Type="http://schemas.openxmlformats.org/officeDocument/2006/relationships/image" Target="../media/image18.wmf"/><Relationship Id="rId2" Type="http://schemas.openxmlformats.org/officeDocument/2006/relationships/image" Target="../media/image33.png"/><Relationship Id="rId1" Type="http://schemas.openxmlformats.org/officeDocument/2006/relationships/slideLayout" Target="../slideLayouts/slideLayout3.xml"/></Relationships>
</file>

<file path=ppt/slides/_rels/slide115.xml.rels><?xml version="1.0" encoding="UTF-8" standalone="yes"?>
<Relationships xmlns="http://schemas.openxmlformats.org/package/2006/relationships"><Relationship Id="rId3" Type="http://schemas.openxmlformats.org/officeDocument/2006/relationships/image" Target="../media/image18.wmf"/><Relationship Id="rId2" Type="http://schemas.openxmlformats.org/officeDocument/2006/relationships/image" Target="../media/image33.png"/><Relationship Id="rId1" Type="http://schemas.openxmlformats.org/officeDocument/2006/relationships/slideLayout" Target="../slideLayouts/slideLayout3.xml"/></Relationships>
</file>

<file path=ppt/slides/_rels/slide116.xml.rels><?xml version="1.0" encoding="UTF-8" standalone="yes"?>
<Relationships xmlns="http://schemas.openxmlformats.org/package/2006/relationships"><Relationship Id="rId3" Type="http://schemas.openxmlformats.org/officeDocument/2006/relationships/image" Target="../media/image18.wmf"/><Relationship Id="rId2" Type="http://schemas.openxmlformats.org/officeDocument/2006/relationships/image" Target="../media/image33.png"/><Relationship Id="rId1" Type="http://schemas.openxmlformats.org/officeDocument/2006/relationships/slideLayout" Target="../slideLayouts/slideLayout3.xml"/></Relationships>
</file>

<file path=ppt/slides/_rels/slide117.xml.rels><?xml version="1.0" encoding="UTF-8" standalone="yes"?>
<Relationships xmlns="http://schemas.openxmlformats.org/package/2006/relationships"><Relationship Id="rId3" Type="http://schemas.openxmlformats.org/officeDocument/2006/relationships/image" Target="../media/image18.wmf"/><Relationship Id="rId2" Type="http://schemas.openxmlformats.org/officeDocument/2006/relationships/image" Target="../media/image33.png"/><Relationship Id="rId1" Type="http://schemas.openxmlformats.org/officeDocument/2006/relationships/slideLayout" Target="../slideLayouts/slideLayout3.xml"/></Relationships>
</file>

<file path=ppt/slides/_rels/slide118.xml.rels><?xml version="1.0" encoding="UTF-8" standalone="yes"?>
<Relationships xmlns="http://schemas.openxmlformats.org/package/2006/relationships"><Relationship Id="rId3" Type="http://schemas.openxmlformats.org/officeDocument/2006/relationships/image" Target="../media/image18.wmf"/><Relationship Id="rId2" Type="http://schemas.openxmlformats.org/officeDocument/2006/relationships/image" Target="../media/image33.png"/><Relationship Id="rId1" Type="http://schemas.openxmlformats.org/officeDocument/2006/relationships/slideLayout" Target="../slideLayouts/slideLayout3.xml"/></Relationships>
</file>

<file path=ppt/slides/_rels/slide119.xml.rels><?xml version="1.0" encoding="UTF-8" standalone="yes"?>
<Relationships xmlns="http://schemas.openxmlformats.org/package/2006/relationships"><Relationship Id="rId3" Type="http://schemas.openxmlformats.org/officeDocument/2006/relationships/image" Target="../media/image18.wmf"/><Relationship Id="rId2" Type="http://schemas.openxmlformats.org/officeDocument/2006/relationships/image" Target="../media/image33.png"/><Relationship Id="rId1" Type="http://schemas.openxmlformats.org/officeDocument/2006/relationships/slideLayout" Target="../slideLayouts/slideLayout3.xml"/></Relationships>
</file>

<file path=ppt/slides/_rels/slide120.xml.rels><?xml version="1.0" encoding="UTF-8" standalone="yes"?>
<Relationships xmlns="http://schemas.openxmlformats.org/package/2006/relationships"><Relationship Id="rId3" Type="http://schemas.openxmlformats.org/officeDocument/2006/relationships/image" Target="../media/image18.wmf"/><Relationship Id="rId2" Type="http://schemas.openxmlformats.org/officeDocument/2006/relationships/image" Target="../media/image33.png"/><Relationship Id="rId1" Type="http://schemas.openxmlformats.org/officeDocument/2006/relationships/slideLayout" Target="../slideLayouts/slideLayout3.xml"/></Relationships>
</file>

<file path=ppt/slides/_rels/slide121.xml.rels><?xml version="1.0" encoding="UTF-8" standalone="yes"?>
<Relationships xmlns="http://schemas.openxmlformats.org/package/2006/relationships"><Relationship Id="rId3" Type="http://schemas.openxmlformats.org/officeDocument/2006/relationships/image" Target="../media/image18.wmf"/><Relationship Id="rId2" Type="http://schemas.openxmlformats.org/officeDocument/2006/relationships/image" Target="../media/image33.png"/><Relationship Id="rId1" Type="http://schemas.openxmlformats.org/officeDocument/2006/relationships/slideLayout" Target="../slideLayouts/slideLayout3.xml"/></Relationships>
</file>

<file path=ppt/slides/_rels/slide122.xml.rels><?xml version="1.0" encoding="UTF-8" standalone="yes"?>
<Relationships xmlns="http://schemas.openxmlformats.org/package/2006/relationships"><Relationship Id="rId3" Type="http://schemas.openxmlformats.org/officeDocument/2006/relationships/image" Target="../media/image18.wmf"/><Relationship Id="rId2" Type="http://schemas.openxmlformats.org/officeDocument/2006/relationships/image" Target="../media/image33.png"/><Relationship Id="rId1" Type="http://schemas.openxmlformats.org/officeDocument/2006/relationships/slideLayout" Target="../slideLayouts/slideLayout3.xml"/></Relationships>
</file>

<file path=ppt/slides/_rels/slide123.xml.rels><?xml version="1.0" encoding="UTF-8" standalone="yes"?>
<Relationships xmlns="http://schemas.openxmlformats.org/package/2006/relationships"><Relationship Id="rId3" Type="http://schemas.openxmlformats.org/officeDocument/2006/relationships/image" Target="../media/image18.wmf"/><Relationship Id="rId2" Type="http://schemas.openxmlformats.org/officeDocument/2006/relationships/image" Target="../media/image33.png"/><Relationship Id="rId1" Type="http://schemas.openxmlformats.org/officeDocument/2006/relationships/slideLayout" Target="../slideLayouts/slideLayout3.xml"/></Relationships>
</file>

<file path=ppt/slides/_rels/slide124.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37.xml"/><Relationship Id="rId1" Type="http://schemas.openxmlformats.org/officeDocument/2006/relationships/slideLayout" Target="../slideLayouts/slideLayout3.xml"/><Relationship Id="rId4" Type="http://schemas.openxmlformats.org/officeDocument/2006/relationships/image" Target="../media/image18.wmf"/></Relationships>
</file>

<file path=ppt/slides/_rels/slide125.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38.xml"/><Relationship Id="rId1" Type="http://schemas.openxmlformats.org/officeDocument/2006/relationships/slideLayout" Target="../slideLayouts/slideLayout3.xml"/><Relationship Id="rId4" Type="http://schemas.openxmlformats.org/officeDocument/2006/relationships/image" Target="../media/image18.wmf"/></Relationships>
</file>

<file path=ppt/slides/_rels/slide126.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39.xml"/><Relationship Id="rId1" Type="http://schemas.openxmlformats.org/officeDocument/2006/relationships/slideLayout" Target="../slideLayouts/slideLayout3.xml"/><Relationship Id="rId4" Type="http://schemas.openxmlformats.org/officeDocument/2006/relationships/image" Target="../media/image18.wmf"/></Relationships>
</file>

<file path=ppt/slides/_rels/slide127.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40.xml"/><Relationship Id="rId1" Type="http://schemas.openxmlformats.org/officeDocument/2006/relationships/slideLayout" Target="../slideLayouts/slideLayout3.xml"/><Relationship Id="rId4" Type="http://schemas.openxmlformats.org/officeDocument/2006/relationships/image" Target="../media/image18.wmf"/></Relationships>
</file>

<file path=ppt/slides/_rels/slide128.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41.xml"/><Relationship Id="rId1" Type="http://schemas.openxmlformats.org/officeDocument/2006/relationships/slideLayout" Target="../slideLayouts/slideLayout3.xml"/><Relationship Id="rId4" Type="http://schemas.openxmlformats.org/officeDocument/2006/relationships/image" Target="../media/image18.wmf"/></Relationships>
</file>

<file path=ppt/slides/_rels/slide129.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42.xml"/><Relationship Id="rId1" Type="http://schemas.openxmlformats.org/officeDocument/2006/relationships/slideLayout" Target="../slideLayouts/slideLayout3.xml"/><Relationship Id="rId4" Type="http://schemas.openxmlformats.org/officeDocument/2006/relationships/image" Target="../media/image18.wmf"/></Relationships>
</file>

<file path=ppt/slides/_rels/slide130.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43.xml"/><Relationship Id="rId1" Type="http://schemas.openxmlformats.org/officeDocument/2006/relationships/slideLayout" Target="../slideLayouts/slideLayout3.xml"/><Relationship Id="rId4" Type="http://schemas.openxmlformats.org/officeDocument/2006/relationships/image" Target="../media/image18.wmf"/></Relationships>
</file>

<file path=ppt/slides/_rels/slide131.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44.xml"/><Relationship Id="rId1" Type="http://schemas.openxmlformats.org/officeDocument/2006/relationships/slideLayout" Target="../slideLayouts/slideLayout3.xml"/><Relationship Id="rId4" Type="http://schemas.openxmlformats.org/officeDocument/2006/relationships/image" Target="../media/image18.wmf"/></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6.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3.xml"/></Relationships>
</file>

<file path=ppt/slides/_rels/slide137.xml.rels><?xml version="1.0" encoding="UTF-8" standalone="yes"?>
<Relationships xmlns="http://schemas.openxmlformats.org/package/2006/relationships"><Relationship Id="rId3" Type="http://schemas.openxmlformats.org/officeDocument/2006/relationships/image" Target="../media/image45.wmf"/><Relationship Id="rId2" Type="http://schemas.openxmlformats.org/officeDocument/2006/relationships/oleObject" Target="../embeddings/oleObject1.bin"/><Relationship Id="rId1" Type="http://schemas.openxmlformats.org/officeDocument/2006/relationships/slideLayout" Target="../slideLayouts/slideLayout3.xml"/><Relationship Id="rId6" Type="http://schemas.openxmlformats.org/officeDocument/2006/relationships/image" Target="../media/image18.wmf"/><Relationship Id="rId5" Type="http://schemas.openxmlformats.org/officeDocument/2006/relationships/image" Target="../media/image33.png"/><Relationship Id="rId4" Type="http://schemas.openxmlformats.org/officeDocument/2006/relationships/image" Target="../media/image46.wmf"/></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0.xml.rels><?xml version="1.0" encoding="UTF-8" standalone="yes"?>
<Relationships xmlns="http://schemas.openxmlformats.org/package/2006/relationships"><Relationship Id="rId3" Type="http://schemas.openxmlformats.org/officeDocument/2006/relationships/image" Target="../media/image46.wmf"/><Relationship Id="rId2" Type="http://schemas.openxmlformats.org/officeDocument/2006/relationships/oleObject" Target="../embeddings/oleObject2.bin"/><Relationship Id="rId1" Type="http://schemas.openxmlformats.org/officeDocument/2006/relationships/slideLayout" Target="../slideLayouts/slideLayout3.xml"/></Relationships>
</file>

<file path=ppt/slides/_rels/slide141.xml.rels><?xml version="1.0" encoding="UTF-8" standalone="yes"?>
<Relationships xmlns="http://schemas.openxmlformats.org/package/2006/relationships"><Relationship Id="rId3" Type="http://schemas.openxmlformats.org/officeDocument/2006/relationships/image" Target="../media/image46.wmf"/><Relationship Id="rId2" Type="http://schemas.openxmlformats.org/officeDocument/2006/relationships/oleObject" Target="../embeddings/oleObject2.bin"/><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11" name="Rectangle 4"/>
          <p:cNvSpPr>
            <a:spLocks noChangeArrowheads="1"/>
          </p:cNvSpPr>
          <p:nvPr/>
        </p:nvSpPr>
        <p:spPr bwMode="auto">
          <a:xfrm>
            <a:off x="86780" y="2295525"/>
            <a:ext cx="1206500" cy="27622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0" hangingPunct="0"/>
            <a:r>
              <a:rPr lang="fr-FR" sz="1200" b="1" dirty="0">
                <a:solidFill>
                  <a:srgbClr val="00B0F0"/>
                </a:solidFill>
                <a:latin typeface="微软雅黑" pitchFamily="34" charset="-122"/>
                <a:ea typeface="微软雅黑" pitchFamily="34" charset="-122"/>
              </a:rPr>
              <a:t>谢希仁  编著</a:t>
            </a:r>
          </a:p>
        </p:txBody>
      </p:sp>
      <p:sp>
        <p:nvSpPr>
          <p:cNvPr id="13" name="矩形 6"/>
          <p:cNvSpPr>
            <a:spLocks noChangeArrowheads="1"/>
          </p:cNvSpPr>
          <p:nvPr/>
        </p:nvSpPr>
        <p:spPr bwMode="auto">
          <a:xfrm>
            <a:off x="3869567" y="2571750"/>
            <a:ext cx="2016125" cy="9382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p>
            <a:pPr algn="ctr" eaLnBrk="0" hangingPunct="0"/>
            <a:r>
              <a:rPr lang="fr-FR" altLang="zh-CN" sz="5500" b="1" dirty="0">
                <a:solidFill>
                  <a:schemeClr val="bg1"/>
                </a:solidFill>
                <a:latin typeface="微软雅黑" pitchFamily="34" charset="-122"/>
                <a:ea typeface="微软雅黑" pitchFamily="34" charset="-122"/>
              </a:rPr>
              <a:t>概  述</a:t>
            </a:r>
          </a:p>
        </p:txBody>
      </p:sp>
      <p:sp>
        <p:nvSpPr>
          <p:cNvPr id="14" name="矩形 7"/>
          <p:cNvSpPr>
            <a:spLocks noChangeArrowheads="1"/>
          </p:cNvSpPr>
          <p:nvPr/>
        </p:nvSpPr>
        <p:spPr bwMode="auto">
          <a:xfrm>
            <a:off x="3869567" y="2089150"/>
            <a:ext cx="1338263" cy="523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p>
            <a:pPr algn="ctr" eaLnBrk="0" hangingPunct="0"/>
            <a:r>
              <a:rPr lang="fr-FR" altLang="zh-CN" sz="2800" b="1" dirty="0">
                <a:solidFill>
                  <a:schemeClr val="bg1"/>
                </a:solidFill>
                <a:latin typeface="微软雅黑" pitchFamily="34" charset="-122"/>
                <a:ea typeface="微软雅黑" pitchFamily="34" charset="-122"/>
              </a:rPr>
              <a:t>第 1 章</a:t>
            </a:r>
          </a:p>
        </p:txBody>
      </p:sp>
      <p:cxnSp>
        <p:nvCxnSpPr>
          <p:cNvPr id="15" name="直接连接符 14"/>
          <p:cNvCxnSpPr/>
          <p:nvPr/>
        </p:nvCxnSpPr>
        <p:spPr>
          <a:xfrm>
            <a:off x="0" y="2236788"/>
            <a:ext cx="2749685" cy="3175"/>
          </a:xfrm>
          <a:prstGeom prst="line">
            <a:avLst/>
          </a:prstGeom>
          <a:ln w="19050">
            <a:solidFill>
              <a:srgbClr val="6DAAE1"/>
            </a:solidFill>
          </a:ln>
        </p:spPr>
        <p:style>
          <a:lnRef idx="1">
            <a:schemeClr val="accent1"/>
          </a:lnRef>
          <a:fillRef idx="0">
            <a:schemeClr val="accent1"/>
          </a:fillRef>
          <a:effectRef idx="0">
            <a:schemeClr val="accent1"/>
          </a:effectRef>
          <a:fontRef idx="minor">
            <a:schemeClr val="tx1"/>
          </a:fontRef>
        </p:style>
      </p:cxnSp>
      <p:pic>
        <p:nvPicPr>
          <p:cNvPr id="16" name="图片 9"/>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6780" y="2667000"/>
            <a:ext cx="1198563" cy="285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矩形: 圆角 1">
            <a:extLst>
              <a:ext uri="{FF2B5EF4-FFF2-40B4-BE49-F238E27FC236}">
                <a16:creationId xmlns:a16="http://schemas.microsoft.com/office/drawing/2014/main" id="{CDC31DF7-3597-B8EC-20E9-32DD9DD52870}"/>
              </a:ext>
            </a:extLst>
          </p:cNvPr>
          <p:cNvSpPr/>
          <p:nvPr/>
        </p:nvSpPr>
        <p:spPr>
          <a:xfrm>
            <a:off x="5565775" y="605977"/>
            <a:ext cx="1279669" cy="914386"/>
          </a:xfrm>
          <a:prstGeom prst="roundRect">
            <a:avLst/>
          </a:prstGeom>
          <a:solidFill>
            <a:srgbClr val="00B0F0"/>
          </a:solidFill>
          <a:ln w="34925">
            <a:solidFill>
              <a:srgbClr val="FFFFFF"/>
            </a:solidFill>
          </a:ln>
          <a:effectLst>
            <a:outerShdw blurRad="317500" dir="2700000" algn="ctr">
              <a:srgbClr val="000000">
                <a:alpha val="43000"/>
              </a:srgbClr>
            </a:outerShdw>
          </a:effectLst>
          <a:scene3d>
            <a:camera prst="perspectiveFront" fov="2700000">
              <a:rot lat="19086000" lon="19067999" rev="3108000"/>
            </a:camera>
            <a:lightRig rig="threePt" dir="t">
              <a:rot lat="0" lon="0" rev="0"/>
            </a:lightRig>
          </a:scene3d>
          <a:sp3d extrusionH="38100" prstMaterial="clear">
            <a:bevelT w="260350" h="50800" prst="softRound"/>
            <a:bevelB prst="softRound"/>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2000" dirty="0">
                <a:solidFill>
                  <a:schemeClr val="bg1"/>
                </a:solidFill>
                <a:latin typeface="+mj-lt"/>
              </a:rPr>
              <a:t>Router</a:t>
            </a:r>
            <a:endParaRPr lang="zh-CN" altLang="en-US" sz="2000" dirty="0">
              <a:solidFill>
                <a:schemeClr val="bg1"/>
              </a:solidFill>
              <a:latin typeface="+mj-lt"/>
            </a:endParaRPr>
          </a:p>
        </p:txBody>
      </p:sp>
      <p:sp>
        <p:nvSpPr>
          <p:cNvPr id="3" name="矩形: 圆角 2">
            <a:extLst>
              <a:ext uri="{FF2B5EF4-FFF2-40B4-BE49-F238E27FC236}">
                <a16:creationId xmlns:a16="http://schemas.microsoft.com/office/drawing/2014/main" id="{3CCCCC83-1A63-13C6-B208-0AC5B2EF4B8B}"/>
              </a:ext>
            </a:extLst>
          </p:cNvPr>
          <p:cNvSpPr/>
          <p:nvPr/>
        </p:nvSpPr>
        <p:spPr>
          <a:xfrm>
            <a:off x="6205609" y="1173851"/>
            <a:ext cx="1279669" cy="914386"/>
          </a:xfrm>
          <a:prstGeom prst="roundRect">
            <a:avLst/>
          </a:prstGeom>
          <a:solidFill>
            <a:srgbClr val="00B0F0"/>
          </a:solidFill>
          <a:ln w="34925">
            <a:solidFill>
              <a:srgbClr val="FFFFFF"/>
            </a:solidFill>
          </a:ln>
          <a:effectLst>
            <a:outerShdw blurRad="317500" dir="2700000" algn="ctr">
              <a:srgbClr val="000000">
                <a:alpha val="43000"/>
              </a:srgbClr>
            </a:outerShdw>
          </a:effectLst>
          <a:scene3d>
            <a:camera prst="perspectiveFront" fov="2700000">
              <a:rot lat="19086000" lon="19067999" rev="3108000"/>
            </a:camera>
            <a:lightRig rig="threePt" dir="t">
              <a:rot lat="0" lon="0" rev="0"/>
            </a:lightRig>
          </a:scene3d>
          <a:sp3d extrusionH="38100" prstMaterial="clear">
            <a:bevelT w="260350" h="50800" prst="softRound"/>
            <a:bevelB prst="softRound"/>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2000" dirty="0">
                <a:solidFill>
                  <a:schemeClr val="bg1"/>
                </a:solidFill>
                <a:latin typeface="+mj-lt"/>
              </a:rPr>
              <a:t>IP</a:t>
            </a:r>
            <a:endParaRPr lang="zh-CN" altLang="en-US" sz="2000" dirty="0">
              <a:solidFill>
                <a:schemeClr val="bg1"/>
              </a:solidFill>
              <a:latin typeface="+mj-lt"/>
            </a:endParaRPr>
          </a:p>
        </p:txBody>
      </p:sp>
      <p:sp>
        <p:nvSpPr>
          <p:cNvPr id="4" name="矩形: 圆角 3">
            <a:extLst>
              <a:ext uri="{FF2B5EF4-FFF2-40B4-BE49-F238E27FC236}">
                <a16:creationId xmlns:a16="http://schemas.microsoft.com/office/drawing/2014/main" id="{91EBB856-04AB-A475-32C6-EE320B892A39}"/>
              </a:ext>
            </a:extLst>
          </p:cNvPr>
          <p:cNvSpPr/>
          <p:nvPr/>
        </p:nvSpPr>
        <p:spPr>
          <a:xfrm>
            <a:off x="6755384" y="148784"/>
            <a:ext cx="1279669" cy="914386"/>
          </a:xfrm>
          <a:prstGeom prst="roundRect">
            <a:avLst/>
          </a:prstGeom>
          <a:solidFill>
            <a:srgbClr val="00B0F0"/>
          </a:solidFill>
          <a:ln w="34925">
            <a:solidFill>
              <a:srgbClr val="FFFFFF"/>
            </a:solidFill>
          </a:ln>
          <a:effectLst>
            <a:outerShdw blurRad="317500" dir="2700000" algn="ctr">
              <a:srgbClr val="000000">
                <a:alpha val="43000"/>
              </a:srgbClr>
            </a:outerShdw>
          </a:effectLst>
          <a:scene3d>
            <a:camera prst="perspectiveFront" fov="2700000">
              <a:rot lat="19086000" lon="19067999" rev="3108000"/>
            </a:camera>
            <a:lightRig rig="threePt" dir="t">
              <a:rot lat="0" lon="0" rev="0"/>
            </a:lightRig>
          </a:scene3d>
          <a:sp3d extrusionH="38100" prstMaterial="clear">
            <a:bevelT w="260350" h="50800" prst="softRound"/>
            <a:bevelB prst="softRound"/>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2000" dirty="0">
                <a:solidFill>
                  <a:schemeClr val="bg1"/>
                </a:solidFill>
                <a:latin typeface="+mj-lt"/>
              </a:rPr>
              <a:t>TCP</a:t>
            </a:r>
          </a:p>
        </p:txBody>
      </p:sp>
      <p:sp>
        <p:nvSpPr>
          <p:cNvPr id="5" name="矩形: 圆角 4">
            <a:extLst>
              <a:ext uri="{FF2B5EF4-FFF2-40B4-BE49-F238E27FC236}">
                <a16:creationId xmlns:a16="http://schemas.microsoft.com/office/drawing/2014/main" id="{EA62A992-73A6-4BB3-439C-F439906C5B92}"/>
              </a:ext>
            </a:extLst>
          </p:cNvPr>
          <p:cNvSpPr/>
          <p:nvPr/>
        </p:nvSpPr>
        <p:spPr>
          <a:xfrm>
            <a:off x="7395218" y="716658"/>
            <a:ext cx="1279669" cy="914386"/>
          </a:xfrm>
          <a:prstGeom prst="roundRect">
            <a:avLst/>
          </a:prstGeom>
          <a:solidFill>
            <a:srgbClr val="00B0F0"/>
          </a:solidFill>
          <a:ln w="34925">
            <a:solidFill>
              <a:srgbClr val="FFFFFF"/>
            </a:solidFill>
          </a:ln>
          <a:effectLst>
            <a:outerShdw blurRad="317500" dir="2700000" algn="ctr">
              <a:srgbClr val="000000">
                <a:alpha val="43000"/>
              </a:srgbClr>
            </a:outerShdw>
          </a:effectLst>
          <a:scene3d>
            <a:camera prst="perspectiveFront" fov="2700000">
              <a:rot lat="19086000" lon="19067999" rev="3108000"/>
            </a:camera>
            <a:lightRig rig="threePt" dir="t">
              <a:rot lat="0" lon="0" rev="0"/>
            </a:lightRig>
          </a:scene3d>
          <a:sp3d extrusionH="38100" prstMaterial="clear">
            <a:bevelT w="260350" h="50800" prst="softRound"/>
            <a:bevelB prst="softRound"/>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2000" dirty="0">
                <a:solidFill>
                  <a:schemeClr val="bg1"/>
                </a:solidFill>
                <a:latin typeface="+mj-lt"/>
              </a:rPr>
              <a:t>WLAN</a:t>
            </a:r>
            <a:endParaRPr lang="zh-CN" altLang="en-US" sz="2000" dirty="0">
              <a:solidFill>
                <a:schemeClr val="bg1"/>
              </a:solidFill>
              <a:latin typeface="+mj-lt"/>
            </a:endParaRPr>
          </a:p>
        </p:txBody>
      </p:sp>
      <p:sp>
        <p:nvSpPr>
          <p:cNvPr id="6" name="标题 7">
            <a:extLst>
              <a:ext uri="{FF2B5EF4-FFF2-40B4-BE49-F238E27FC236}">
                <a16:creationId xmlns:a16="http://schemas.microsoft.com/office/drawing/2014/main" id="{F2E160D8-3654-484B-647B-E4DE724FC643}"/>
              </a:ext>
            </a:extLst>
          </p:cNvPr>
          <p:cNvSpPr txBox="1">
            <a:spLocks/>
          </p:cNvSpPr>
          <p:nvPr/>
        </p:nvSpPr>
        <p:spPr>
          <a:xfrm>
            <a:off x="86780" y="1534598"/>
            <a:ext cx="5209309" cy="699404"/>
          </a:xfrm>
          <a:prstGeom prst="rect">
            <a:avLst/>
          </a:prstGeom>
        </p:spPr>
        <p:txBody>
          <a:bodyPr vert="horz" wrap="square" lIns="91440" tIns="72000" rIns="91440" bIns="72000" rtlCol="0" anchor="ctr">
            <a:spAutoFit/>
          </a:bodyPr>
          <a:lstStyle>
            <a:lvl1pPr algn="l" defTabSz="914400" rtl="0" eaLnBrk="1" latinLnBrk="0" hangingPunct="1">
              <a:lnSpc>
                <a:spcPct val="90000"/>
              </a:lnSpc>
              <a:spcBef>
                <a:spcPct val="0"/>
              </a:spcBef>
              <a:buNone/>
              <a:defRPr lang="zh-CN" altLang="en-US" sz="4000" kern="1200">
                <a:solidFill>
                  <a:schemeClr val="tx1"/>
                </a:solidFill>
                <a:latin typeface="微软雅黑" panose="020B0503020204020204" pitchFamily="34" charset="-122"/>
                <a:ea typeface="微软雅黑" panose="020B0503020204020204" pitchFamily="34" charset="-122"/>
                <a:cs typeface="+mj-cs"/>
              </a:defRPr>
            </a:lvl1pPr>
          </a:lstStyle>
          <a:p>
            <a:r>
              <a:rPr lang="zh-CN" altLang="en-US" b="1" dirty="0">
                <a:ln w="9525">
                  <a:solidFill>
                    <a:schemeClr val="bg1"/>
                  </a:solidFill>
                  <a:prstDash val="solid"/>
                </a:ln>
                <a:solidFill>
                  <a:srgbClr val="00B0F0"/>
                </a:solidFill>
                <a:effectLst>
                  <a:outerShdw blurRad="50800" dist="38100" dir="2700000" algn="tl" rotWithShape="0">
                    <a:prstClr val="black">
                      <a:alpha val="40000"/>
                    </a:prstClr>
                  </a:outerShdw>
                </a:effectLst>
                <a:latin typeface="+mj-lt"/>
                <a:ea typeface="+mj-ea"/>
              </a:rPr>
              <a:t>计算机网络 </a:t>
            </a:r>
            <a:r>
              <a:rPr lang="en-US" altLang="zh-CN" sz="2400" b="1" baseline="-25000" dirty="0">
                <a:ln w="9525">
                  <a:solidFill>
                    <a:schemeClr val="bg1"/>
                  </a:solidFill>
                  <a:prstDash val="solid"/>
                </a:ln>
                <a:solidFill>
                  <a:srgbClr val="00B0F0"/>
                </a:solidFill>
                <a:effectLst>
                  <a:outerShdw blurRad="50800" dist="38100" dir="2700000" algn="tl" rotWithShape="0">
                    <a:prstClr val="black">
                      <a:alpha val="40000"/>
                    </a:prstClr>
                  </a:outerShdw>
                </a:effectLst>
                <a:latin typeface="+mj-lt"/>
                <a:ea typeface="+mj-ea"/>
              </a:rPr>
              <a:t>9th</a:t>
            </a:r>
            <a:endParaRPr lang="en-US" sz="2000" spc="600" dirty="0">
              <a:solidFill>
                <a:srgbClr val="00B0F0"/>
              </a:solidFill>
              <a:effectLst>
                <a:outerShdw blurRad="50800" dist="38100" dir="2700000" algn="tl" rotWithShape="0">
                  <a:prstClr val="black">
                    <a:alpha val="40000"/>
                  </a:prstClr>
                </a:outerShdw>
              </a:effectLst>
              <a:latin typeface="+mj-lt"/>
              <a:ea typeface="+mj-ea"/>
              <a:cs typeface="Roboto" panose="02000000000000000000" pitchFamily="2" charset="0"/>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anim calcmode="lin" valueType="num">
                                      <p:cBhvr>
                                        <p:cTn id="8" dur="500" fill="hold"/>
                                        <p:tgtEl>
                                          <p:spTgt spid="4"/>
                                        </p:tgtEl>
                                        <p:attrNameLst>
                                          <p:attrName>ppt_x</p:attrName>
                                        </p:attrNameLst>
                                      </p:cBhvr>
                                      <p:tavLst>
                                        <p:tav tm="0">
                                          <p:val>
                                            <p:strVal val="#ppt_x"/>
                                          </p:val>
                                        </p:tav>
                                        <p:tav tm="100000">
                                          <p:val>
                                            <p:strVal val="#ppt_x"/>
                                          </p:val>
                                        </p:tav>
                                      </p:tavLst>
                                    </p:anim>
                                    <p:anim calcmode="lin" valueType="num">
                                      <p:cBhvr>
                                        <p:cTn id="9" dur="500" fill="hold"/>
                                        <p:tgtEl>
                                          <p:spTgt spid="4"/>
                                        </p:tgtEl>
                                        <p:attrNameLst>
                                          <p:attrName>ppt_y</p:attrName>
                                        </p:attrNameLst>
                                      </p:cBhvr>
                                      <p:tavLst>
                                        <p:tav tm="0">
                                          <p:val>
                                            <p:strVal val="#ppt_y+.1"/>
                                          </p:val>
                                        </p:tav>
                                        <p:tav tm="100000">
                                          <p:val>
                                            <p:strVal val="#ppt_y"/>
                                          </p:val>
                                        </p:tav>
                                      </p:tavLst>
                                    </p:anim>
                                  </p:childTnLst>
                                </p:cTn>
                              </p:par>
                            </p:childTnLst>
                          </p:cTn>
                        </p:par>
                        <p:par>
                          <p:cTn id="10" fill="hold">
                            <p:stCondLst>
                              <p:cond delay="500"/>
                            </p:stCondLst>
                            <p:childTnLst>
                              <p:par>
                                <p:cTn id="11" presetID="42" presetClass="entr" presetSubtype="0" fill="hold" grpId="0" nodeType="after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500"/>
                                        <p:tgtEl>
                                          <p:spTgt spid="5"/>
                                        </p:tgtEl>
                                      </p:cBhvr>
                                    </p:animEffect>
                                    <p:anim calcmode="lin" valueType="num">
                                      <p:cBhvr>
                                        <p:cTn id="14" dur="500" fill="hold"/>
                                        <p:tgtEl>
                                          <p:spTgt spid="5"/>
                                        </p:tgtEl>
                                        <p:attrNameLst>
                                          <p:attrName>ppt_x</p:attrName>
                                        </p:attrNameLst>
                                      </p:cBhvr>
                                      <p:tavLst>
                                        <p:tav tm="0">
                                          <p:val>
                                            <p:strVal val="#ppt_x"/>
                                          </p:val>
                                        </p:tav>
                                        <p:tav tm="100000">
                                          <p:val>
                                            <p:strVal val="#ppt_x"/>
                                          </p:val>
                                        </p:tav>
                                      </p:tavLst>
                                    </p:anim>
                                    <p:anim calcmode="lin" valueType="num">
                                      <p:cBhvr>
                                        <p:cTn id="15" dur="500" fill="hold"/>
                                        <p:tgtEl>
                                          <p:spTgt spid="5"/>
                                        </p:tgtEl>
                                        <p:attrNameLst>
                                          <p:attrName>ppt_y</p:attrName>
                                        </p:attrNameLst>
                                      </p:cBhvr>
                                      <p:tavLst>
                                        <p:tav tm="0">
                                          <p:val>
                                            <p:strVal val="#ppt_y+.1"/>
                                          </p:val>
                                        </p:tav>
                                        <p:tav tm="100000">
                                          <p:val>
                                            <p:strVal val="#ppt_y"/>
                                          </p:val>
                                        </p:tav>
                                      </p:tavLst>
                                    </p:anim>
                                  </p:childTnLst>
                                </p:cTn>
                              </p:par>
                            </p:childTnLst>
                          </p:cTn>
                        </p:par>
                        <p:par>
                          <p:cTn id="16" fill="hold">
                            <p:stCondLst>
                              <p:cond delay="1000"/>
                            </p:stCondLst>
                            <p:childTnLst>
                              <p:par>
                                <p:cTn id="17" presetID="42" presetClass="entr" presetSubtype="0" fill="hold" grpId="0" nodeType="afterEffect">
                                  <p:stCondLst>
                                    <p:cond delay="0"/>
                                  </p:stCondLst>
                                  <p:childTnLst>
                                    <p:set>
                                      <p:cBhvr>
                                        <p:cTn id="18" dur="1" fill="hold">
                                          <p:stCondLst>
                                            <p:cond delay="0"/>
                                          </p:stCondLst>
                                        </p:cTn>
                                        <p:tgtEl>
                                          <p:spTgt spid="2"/>
                                        </p:tgtEl>
                                        <p:attrNameLst>
                                          <p:attrName>style.visibility</p:attrName>
                                        </p:attrNameLst>
                                      </p:cBhvr>
                                      <p:to>
                                        <p:strVal val="visible"/>
                                      </p:to>
                                    </p:set>
                                    <p:animEffect transition="in" filter="fade">
                                      <p:cBhvr>
                                        <p:cTn id="19" dur="500"/>
                                        <p:tgtEl>
                                          <p:spTgt spid="2"/>
                                        </p:tgtEl>
                                      </p:cBhvr>
                                    </p:animEffect>
                                    <p:anim calcmode="lin" valueType="num">
                                      <p:cBhvr>
                                        <p:cTn id="20" dur="500" fill="hold"/>
                                        <p:tgtEl>
                                          <p:spTgt spid="2"/>
                                        </p:tgtEl>
                                        <p:attrNameLst>
                                          <p:attrName>ppt_x</p:attrName>
                                        </p:attrNameLst>
                                      </p:cBhvr>
                                      <p:tavLst>
                                        <p:tav tm="0">
                                          <p:val>
                                            <p:strVal val="#ppt_x"/>
                                          </p:val>
                                        </p:tav>
                                        <p:tav tm="100000">
                                          <p:val>
                                            <p:strVal val="#ppt_x"/>
                                          </p:val>
                                        </p:tav>
                                      </p:tavLst>
                                    </p:anim>
                                    <p:anim calcmode="lin" valueType="num">
                                      <p:cBhvr>
                                        <p:cTn id="21" dur="500" fill="hold"/>
                                        <p:tgtEl>
                                          <p:spTgt spid="2"/>
                                        </p:tgtEl>
                                        <p:attrNameLst>
                                          <p:attrName>ppt_y</p:attrName>
                                        </p:attrNameLst>
                                      </p:cBhvr>
                                      <p:tavLst>
                                        <p:tav tm="0">
                                          <p:val>
                                            <p:strVal val="#ppt_y+.1"/>
                                          </p:val>
                                        </p:tav>
                                        <p:tav tm="100000">
                                          <p:val>
                                            <p:strVal val="#ppt_y"/>
                                          </p:val>
                                        </p:tav>
                                      </p:tavLst>
                                    </p:anim>
                                  </p:childTnLst>
                                </p:cTn>
                              </p:par>
                            </p:childTnLst>
                          </p:cTn>
                        </p:par>
                        <p:par>
                          <p:cTn id="22" fill="hold">
                            <p:stCondLst>
                              <p:cond delay="1500"/>
                            </p:stCondLst>
                            <p:childTnLst>
                              <p:par>
                                <p:cTn id="23" presetID="42" presetClass="entr" presetSubtype="0" fill="hold" grpId="0" nodeType="afterEffect">
                                  <p:stCondLst>
                                    <p:cond delay="0"/>
                                  </p:stCondLst>
                                  <p:childTnLst>
                                    <p:set>
                                      <p:cBhvr>
                                        <p:cTn id="24" dur="1" fill="hold">
                                          <p:stCondLst>
                                            <p:cond delay="0"/>
                                          </p:stCondLst>
                                        </p:cTn>
                                        <p:tgtEl>
                                          <p:spTgt spid="3"/>
                                        </p:tgtEl>
                                        <p:attrNameLst>
                                          <p:attrName>style.visibility</p:attrName>
                                        </p:attrNameLst>
                                      </p:cBhvr>
                                      <p:to>
                                        <p:strVal val="visible"/>
                                      </p:to>
                                    </p:set>
                                    <p:animEffect transition="in" filter="fade">
                                      <p:cBhvr>
                                        <p:cTn id="25" dur="500"/>
                                        <p:tgtEl>
                                          <p:spTgt spid="3"/>
                                        </p:tgtEl>
                                      </p:cBhvr>
                                    </p:animEffect>
                                    <p:anim calcmode="lin" valueType="num">
                                      <p:cBhvr>
                                        <p:cTn id="26" dur="500" fill="hold"/>
                                        <p:tgtEl>
                                          <p:spTgt spid="3"/>
                                        </p:tgtEl>
                                        <p:attrNameLst>
                                          <p:attrName>ppt_x</p:attrName>
                                        </p:attrNameLst>
                                      </p:cBhvr>
                                      <p:tavLst>
                                        <p:tav tm="0">
                                          <p:val>
                                            <p:strVal val="#ppt_x"/>
                                          </p:val>
                                        </p:tav>
                                        <p:tav tm="100000">
                                          <p:val>
                                            <p:strVal val="#ppt_x"/>
                                          </p:val>
                                        </p:tav>
                                      </p:tavLst>
                                    </p:anim>
                                    <p:anim calcmode="lin" valueType="num">
                                      <p:cBhvr>
                                        <p:cTn id="27" dur="500" fill="hold"/>
                                        <p:tgtEl>
                                          <p:spTgt spid="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5" grpId="0" animBg="1"/>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任意多边形: 形状 11">
            <a:extLst>
              <a:ext uri="{FF2B5EF4-FFF2-40B4-BE49-F238E27FC236}">
                <a16:creationId xmlns:a16="http://schemas.microsoft.com/office/drawing/2014/main" id="{19E68F16-B059-978D-736F-3AD1F09A06AC}"/>
              </a:ext>
            </a:extLst>
          </p:cNvPr>
          <p:cNvSpPr/>
          <p:nvPr/>
        </p:nvSpPr>
        <p:spPr>
          <a:xfrm rot="5400000">
            <a:off x="-1052512" y="1052514"/>
            <a:ext cx="5143500" cy="3038474"/>
          </a:xfrm>
          <a:custGeom>
            <a:avLst/>
            <a:gdLst>
              <a:gd name="csX0" fmla="*/ 0 w 4572000"/>
              <a:gd name="csY0" fmla="*/ 138152 h 5143499"/>
              <a:gd name="csX1" fmla="*/ 5948 w 4572000"/>
              <a:gd name="csY1" fmla="*/ 395688 h 5143499"/>
              <a:gd name="csX2" fmla="*/ 4571999 w 4572000"/>
              <a:gd name="csY2" fmla="*/ 5143498 h 5143499"/>
              <a:gd name="csX3" fmla="*/ 4572000 w 4572000"/>
              <a:gd name="csY3" fmla="*/ 5143498 h 5143499"/>
              <a:gd name="csX4" fmla="*/ 4572000 w 4572000"/>
              <a:gd name="csY4" fmla="*/ 5143499 h 5143499"/>
              <a:gd name="csX5" fmla="*/ 0 w 4572000"/>
              <a:gd name="csY5" fmla="*/ 5143499 h 5143499"/>
              <a:gd name="csX6" fmla="*/ 0 w 4572000"/>
              <a:gd name="csY6" fmla="*/ 0 h 5143499"/>
              <a:gd name="csX7" fmla="*/ 3189 w 4572000"/>
              <a:gd name="csY7" fmla="*/ 0 h 5143499"/>
              <a:gd name="csX8" fmla="*/ 0 w 4572000"/>
              <a:gd name="csY8" fmla="*/ 138070 h 51434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4572000" h="5143499">
                <a:moveTo>
                  <a:pt x="0" y="138152"/>
                </a:moveTo>
                <a:lnTo>
                  <a:pt x="5948" y="395688"/>
                </a:lnTo>
                <a:cubicBezTo>
                  <a:pt x="128401" y="3040383"/>
                  <a:pt x="2125861" y="5143498"/>
                  <a:pt x="4571999" y="5143498"/>
                </a:cubicBezTo>
                <a:lnTo>
                  <a:pt x="4572000" y="5143498"/>
                </a:lnTo>
                <a:lnTo>
                  <a:pt x="4572000" y="5143499"/>
                </a:lnTo>
                <a:lnTo>
                  <a:pt x="0" y="5143499"/>
                </a:lnTo>
                <a:close/>
                <a:moveTo>
                  <a:pt x="0" y="0"/>
                </a:moveTo>
                <a:lnTo>
                  <a:pt x="3189" y="0"/>
                </a:lnTo>
                <a:lnTo>
                  <a:pt x="0" y="138070"/>
                </a:lnTo>
                <a:close/>
              </a:path>
            </a:pathLst>
          </a:custGeom>
          <a:solidFill>
            <a:schemeClr val="bg2">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a:p>
        </p:txBody>
      </p:sp>
      <p:sp>
        <p:nvSpPr>
          <p:cNvPr id="16" name="任意多边形: 形状 15">
            <a:extLst>
              <a:ext uri="{FF2B5EF4-FFF2-40B4-BE49-F238E27FC236}">
                <a16:creationId xmlns:a16="http://schemas.microsoft.com/office/drawing/2014/main" id="{A709590B-FFB1-CD14-0250-57F350A838E2}"/>
              </a:ext>
            </a:extLst>
          </p:cNvPr>
          <p:cNvSpPr/>
          <p:nvPr/>
        </p:nvSpPr>
        <p:spPr>
          <a:xfrm rot="5400000">
            <a:off x="-1190625" y="1190626"/>
            <a:ext cx="5143500" cy="2762250"/>
          </a:xfrm>
          <a:custGeom>
            <a:avLst/>
            <a:gdLst>
              <a:gd name="csX0" fmla="*/ 0 w 4572000"/>
              <a:gd name="csY0" fmla="*/ 138152 h 5143499"/>
              <a:gd name="csX1" fmla="*/ 5948 w 4572000"/>
              <a:gd name="csY1" fmla="*/ 395688 h 5143499"/>
              <a:gd name="csX2" fmla="*/ 4571999 w 4572000"/>
              <a:gd name="csY2" fmla="*/ 5143498 h 5143499"/>
              <a:gd name="csX3" fmla="*/ 4572000 w 4572000"/>
              <a:gd name="csY3" fmla="*/ 5143498 h 5143499"/>
              <a:gd name="csX4" fmla="*/ 4572000 w 4572000"/>
              <a:gd name="csY4" fmla="*/ 5143499 h 5143499"/>
              <a:gd name="csX5" fmla="*/ 0 w 4572000"/>
              <a:gd name="csY5" fmla="*/ 5143499 h 5143499"/>
              <a:gd name="csX6" fmla="*/ 0 w 4572000"/>
              <a:gd name="csY6" fmla="*/ 0 h 5143499"/>
              <a:gd name="csX7" fmla="*/ 3189 w 4572000"/>
              <a:gd name="csY7" fmla="*/ 0 h 5143499"/>
              <a:gd name="csX8" fmla="*/ 0 w 4572000"/>
              <a:gd name="csY8" fmla="*/ 138070 h 51434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4572000" h="5143499">
                <a:moveTo>
                  <a:pt x="0" y="138152"/>
                </a:moveTo>
                <a:lnTo>
                  <a:pt x="5948" y="395688"/>
                </a:lnTo>
                <a:cubicBezTo>
                  <a:pt x="128401" y="3040383"/>
                  <a:pt x="2125861" y="5143498"/>
                  <a:pt x="4571999" y="5143498"/>
                </a:cubicBezTo>
                <a:lnTo>
                  <a:pt x="4572000" y="5143498"/>
                </a:lnTo>
                <a:lnTo>
                  <a:pt x="4572000" y="5143499"/>
                </a:lnTo>
                <a:lnTo>
                  <a:pt x="0" y="5143499"/>
                </a:lnTo>
                <a:close/>
                <a:moveTo>
                  <a:pt x="0" y="0"/>
                </a:moveTo>
                <a:lnTo>
                  <a:pt x="3189" y="0"/>
                </a:lnTo>
                <a:lnTo>
                  <a:pt x="0" y="138070"/>
                </a:lnTo>
                <a:close/>
              </a:path>
            </a:pathLst>
          </a:cu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a:p>
        </p:txBody>
      </p:sp>
      <p:sp>
        <p:nvSpPr>
          <p:cNvPr id="14" name="任意多边形: 形状 13">
            <a:extLst>
              <a:ext uri="{FF2B5EF4-FFF2-40B4-BE49-F238E27FC236}">
                <a16:creationId xmlns:a16="http://schemas.microsoft.com/office/drawing/2014/main" id="{A0AADA2D-6F81-7598-EFB5-4638777E165B}"/>
              </a:ext>
            </a:extLst>
          </p:cNvPr>
          <p:cNvSpPr/>
          <p:nvPr/>
        </p:nvSpPr>
        <p:spPr>
          <a:xfrm>
            <a:off x="0" y="0"/>
            <a:ext cx="4572000" cy="5143499"/>
          </a:xfrm>
          <a:custGeom>
            <a:avLst/>
            <a:gdLst>
              <a:gd name="csX0" fmla="*/ 0 w 4572000"/>
              <a:gd name="csY0" fmla="*/ 138152 h 5143499"/>
              <a:gd name="csX1" fmla="*/ 5948 w 4572000"/>
              <a:gd name="csY1" fmla="*/ 395688 h 5143499"/>
              <a:gd name="csX2" fmla="*/ 4571999 w 4572000"/>
              <a:gd name="csY2" fmla="*/ 5143498 h 5143499"/>
              <a:gd name="csX3" fmla="*/ 4572000 w 4572000"/>
              <a:gd name="csY3" fmla="*/ 5143498 h 5143499"/>
              <a:gd name="csX4" fmla="*/ 4572000 w 4572000"/>
              <a:gd name="csY4" fmla="*/ 5143499 h 5143499"/>
              <a:gd name="csX5" fmla="*/ 0 w 4572000"/>
              <a:gd name="csY5" fmla="*/ 5143499 h 5143499"/>
              <a:gd name="csX6" fmla="*/ 0 w 4572000"/>
              <a:gd name="csY6" fmla="*/ 0 h 5143499"/>
              <a:gd name="csX7" fmla="*/ 3189 w 4572000"/>
              <a:gd name="csY7" fmla="*/ 0 h 5143499"/>
              <a:gd name="csX8" fmla="*/ 0 w 4572000"/>
              <a:gd name="csY8" fmla="*/ 138070 h 51434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4572000" h="5143499">
                <a:moveTo>
                  <a:pt x="0" y="138152"/>
                </a:moveTo>
                <a:lnTo>
                  <a:pt x="5948" y="395688"/>
                </a:lnTo>
                <a:cubicBezTo>
                  <a:pt x="128401" y="3040383"/>
                  <a:pt x="2125861" y="5143498"/>
                  <a:pt x="4571999" y="5143498"/>
                </a:cubicBezTo>
                <a:lnTo>
                  <a:pt x="4572000" y="5143498"/>
                </a:lnTo>
                <a:lnTo>
                  <a:pt x="4572000" y="5143499"/>
                </a:lnTo>
                <a:lnTo>
                  <a:pt x="0" y="5143499"/>
                </a:lnTo>
                <a:close/>
                <a:moveTo>
                  <a:pt x="0" y="0"/>
                </a:moveTo>
                <a:lnTo>
                  <a:pt x="3189" y="0"/>
                </a:lnTo>
                <a:lnTo>
                  <a:pt x="0" y="138070"/>
                </a:lnTo>
                <a:close/>
              </a:path>
            </a:pathLst>
          </a:custGeom>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a:p>
        </p:txBody>
      </p:sp>
      <p:sp>
        <p:nvSpPr>
          <p:cNvPr id="18" name="Rectangle 17">
            <a:extLst>
              <a:ext uri="{FF2B5EF4-FFF2-40B4-BE49-F238E27FC236}">
                <a16:creationId xmlns:a16="http://schemas.microsoft.com/office/drawing/2014/main" id="{62F072BD-0C06-D327-5138-1EBB264D752C}"/>
              </a:ext>
            </a:extLst>
          </p:cNvPr>
          <p:cNvSpPr>
            <a:spLocks noChangeArrowheads="1"/>
          </p:cNvSpPr>
          <p:nvPr/>
        </p:nvSpPr>
        <p:spPr bwMode="auto">
          <a:xfrm>
            <a:off x="2337029" y="863580"/>
            <a:ext cx="3960000" cy="36933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lang="en-US" altLang="zh-CN" dirty="0">
                <a:latin typeface="+mj-lt"/>
                <a:ea typeface="+mj-ea"/>
              </a:rPr>
              <a:t>1.1 </a:t>
            </a:r>
            <a:r>
              <a:rPr lang="zh-CN" altLang="en-US" dirty="0">
                <a:latin typeface="+mj-lt"/>
                <a:ea typeface="+mj-ea"/>
              </a:rPr>
              <a:t>计算机网络在信息时代中的作用</a:t>
            </a:r>
          </a:p>
        </p:txBody>
      </p:sp>
      <p:sp>
        <p:nvSpPr>
          <p:cNvPr id="20" name="Rectangle 18">
            <a:extLst>
              <a:ext uri="{FF2B5EF4-FFF2-40B4-BE49-F238E27FC236}">
                <a16:creationId xmlns:a16="http://schemas.microsoft.com/office/drawing/2014/main" id="{4896F58D-53DF-263A-1BEB-18FCB477A208}"/>
              </a:ext>
            </a:extLst>
          </p:cNvPr>
          <p:cNvSpPr>
            <a:spLocks noChangeArrowheads="1"/>
          </p:cNvSpPr>
          <p:nvPr/>
        </p:nvSpPr>
        <p:spPr bwMode="auto">
          <a:xfrm>
            <a:off x="2337029" y="1350943"/>
            <a:ext cx="3960000" cy="36933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0" hangingPunct="0"/>
            <a:r>
              <a:rPr lang="en-US" altLang="zh-CN" dirty="0">
                <a:latin typeface="+mj-lt"/>
                <a:ea typeface="+mj-ea"/>
              </a:rPr>
              <a:t>1.2 </a:t>
            </a:r>
            <a:r>
              <a:rPr lang="zh-CN" altLang="en-US" dirty="0">
                <a:latin typeface="+mj-lt"/>
                <a:ea typeface="+mj-ea"/>
              </a:rPr>
              <a:t>互联网概述</a:t>
            </a:r>
          </a:p>
        </p:txBody>
      </p:sp>
      <p:sp>
        <p:nvSpPr>
          <p:cNvPr id="22" name="Rectangle 19">
            <a:extLst>
              <a:ext uri="{FF2B5EF4-FFF2-40B4-BE49-F238E27FC236}">
                <a16:creationId xmlns:a16="http://schemas.microsoft.com/office/drawing/2014/main" id="{AC48F89F-AF58-4916-8142-4FAB48EA042C}"/>
              </a:ext>
            </a:extLst>
          </p:cNvPr>
          <p:cNvSpPr>
            <a:spLocks noChangeArrowheads="1"/>
          </p:cNvSpPr>
          <p:nvPr/>
        </p:nvSpPr>
        <p:spPr bwMode="auto">
          <a:xfrm>
            <a:off x="2337029" y="1838306"/>
            <a:ext cx="3960000" cy="36933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0" hangingPunct="0"/>
            <a:r>
              <a:rPr lang="en-US" altLang="zh-CN" dirty="0">
                <a:latin typeface="+mj-lt"/>
                <a:ea typeface="+mj-ea"/>
              </a:rPr>
              <a:t>1.3 </a:t>
            </a:r>
            <a:r>
              <a:rPr lang="zh-CN" altLang="en-US" dirty="0">
                <a:latin typeface="+mj-lt"/>
                <a:ea typeface="+mj-ea"/>
              </a:rPr>
              <a:t>互联网的组成</a:t>
            </a:r>
          </a:p>
        </p:txBody>
      </p:sp>
      <p:sp>
        <p:nvSpPr>
          <p:cNvPr id="24" name="Rectangle 20">
            <a:extLst>
              <a:ext uri="{FF2B5EF4-FFF2-40B4-BE49-F238E27FC236}">
                <a16:creationId xmlns:a16="http://schemas.microsoft.com/office/drawing/2014/main" id="{3942270A-5317-C630-7DC3-58655E6F5127}"/>
              </a:ext>
            </a:extLst>
          </p:cNvPr>
          <p:cNvSpPr>
            <a:spLocks noChangeArrowheads="1"/>
          </p:cNvSpPr>
          <p:nvPr/>
        </p:nvSpPr>
        <p:spPr bwMode="auto">
          <a:xfrm>
            <a:off x="2337029" y="2325669"/>
            <a:ext cx="3960000" cy="36933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0" hangingPunct="0"/>
            <a:r>
              <a:rPr lang="en-US" altLang="zh-CN" dirty="0">
                <a:latin typeface="+mj-lt"/>
                <a:ea typeface="+mj-ea"/>
              </a:rPr>
              <a:t>1.4 </a:t>
            </a:r>
            <a:r>
              <a:rPr lang="zh-CN" altLang="en-US" dirty="0">
                <a:latin typeface="+mj-lt"/>
                <a:ea typeface="+mj-ea"/>
              </a:rPr>
              <a:t>计算机网络在我国的发展</a:t>
            </a:r>
          </a:p>
        </p:txBody>
      </p:sp>
      <p:sp>
        <p:nvSpPr>
          <p:cNvPr id="26" name="Rectangle 21">
            <a:extLst>
              <a:ext uri="{FF2B5EF4-FFF2-40B4-BE49-F238E27FC236}">
                <a16:creationId xmlns:a16="http://schemas.microsoft.com/office/drawing/2014/main" id="{427888CC-B087-31F1-2C04-336E53A564A4}"/>
              </a:ext>
            </a:extLst>
          </p:cNvPr>
          <p:cNvSpPr>
            <a:spLocks noChangeArrowheads="1"/>
          </p:cNvSpPr>
          <p:nvPr/>
        </p:nvSpPr>
        <p:spPr bwMode="auto">
          <a:xfrm>
            <a:off x="2337029" y="2813032"/>
            <a:ext cx="3960000" cy="36933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0" hangingPunct="0"/>
            <a:r>
              <a:rPr lang="en-US" altLang="zh-CN" dirty="0">
                <a:latin typeface="+mj-lt"/>
                <a:ea typeface="+mj-ea"/>
              </a:rPr>
              <a:t>1.5 </a:t>
            </a:r>
            <a:r>
              <a:rPr lang="zh-CN" altLang="en-US" dirty="0">
                <a:latin typeface="+mj-lt"/>
                <a:ea typeface="+mj-ea"/>
              </a:rPr>
              <a:t>计算机网络的类别</a:t>
            </a:r>
          </a:p>
        </p:txBody>
      </p:sp>
      <p:sp>
        <p:nvSpPr>
          <p:cNvPr id="28" name="Rectangle 22">
            <a:extLst>
              <a:ext uri="{FF2B5EF4-FFF2-40B4-BE49-F238E27FC236}">
                <a16:creationId xmlns:a16="http://schemas.microsoft.com/office/drawing/2014/main" id="{871EA3BD-189A-61AD-CADF-768F562655DE}"/>
              </a:ext>
            </a:extLst>
          </p:cNvPr>
          <p:cNvSpPr>
            <a:spLocks noChangeArrowheads="1"/>
          </p:cNvSpPr>
          <p:nvPr/>
        </p:nvSpPr>
        <p:spPr bwMode="auto">
          <a:xfrm>
            <a:off x="2337029" y="3300395"/>
            <a:ext cx="3960000" cy="36933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0" hangingPunct="0"/>
            <a:r>
              <a:rPr lang="en-US" altLang="zh-CN" dirty="0">
                <a:latin typeface="+mj-lt"/>
                <a:ea typeface="+mj-ea"/>
              </a:rPr>
              <a:t>1.6 </a:t>
            </a:r>
            <a:r>
              <a:rPr lang="zh-CN" altLang="en-US" dirty="0">
                <a:latin typeface="+mj-lt"/>
                <a:ea typeface="+mj-ea"/>
              </a:rPr>
              <a:t>计算机网络的性能</a:t>
            </a:r>
          </a:p>
        </p:txBody>
      </p:sp>
      <p:sp>
        <p:nvSpPr>
          <p:cNvPr id="30" name="Rectangle 23">
            <a:extLst>
              <a:ext uri="{FF2B5EF4-FFF2-40B4-BE49-F238E27FC236}">
                <a16:creationId xmlns:a16="http://schemas.microsoft.com/office/drawing/2014/main" id="{5E7FFD08-7795-7243-7614-4C83BDEF1065}"/>
              </a:ext>
            </a:extLst>
          </p:cNvPr>
          <p:cNvSpPr>
            <a:spLocks noChangeArrowheads="1"/>
          </p:cNvSpPr>
          <p:nvPr/>
        </p:nvSpPr>
        <p:spPr bwMode="auto">
          <a:xfrm>
            <a:off x="2337029" y="3787755"/>
            <a:ext cx="3960000" cy="36933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0" hangingPunct="0"/>
            <a:r>
              <a:rPr lang="en-US" altLang="zh-CN" dirty="0">
                <a:latin typeface="+mj-lt"/>
                <a:ea typeface="+mj-ea"/>
              </a:rPr>
              <a:t>1.7 </a:t>
            </a:r>
            <a:r>
              <a:rPr lang="zh-CN" altLang="en-US" dirty="0">
                <a:latin typeface="+mj-lt"/>
                <a:ea typeface="+mj-ea"/>
              </a:rPr>
              <a:t>计算机网络的体系结构</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6B3715C-31B3-ABB8-BD70-63C55D4F1680}"/>
              </a:ext>
            </a:extLst>
          </p:cNvPr>
          <p:cNvSpPr>
            <a:spLocks noGrp="1"/>
          </p:cNvSpPr>
          <p:nvPr>
            <p:ph type="title"/>
          </p:nvPr>
        </p:nvSpPr>
        <p:spPr>
          <a:xfrm>
            <a:off x="2228850" y="403553"/>
            <a:ext cx="6562725" cy="523220"/>
          </a:xfrm>
        </p:spPr>
        <p:txBody>
          <a:bodyPr/>
          <a:lstStyle/>
          <a:p>
            <a:r>
              <a:rPr lang="fr-FR" altLang="zh-CN" dirty="0"/>
              <a:t>1.1 </a:t>
            </a:r>
            <a:r>
              <a:rPr lang="zh-CN" altLang="en-US" dirty="0"/>
              <a:t>计算机网络在信息时代中的作用</a:t>
            </a:r>
          </a:p>
        </p:txBody>
      </p:sp>
      <p:sp>
        <p:nvSpPr>
          <p:cNvPr id="31" name="文本框 30">
            <a:extLst>
              <a:ext uri="{FF2B5EF4-FFF2-40B4-BE49-F238E27FC236}">
                <a16:creationId xmlns:a16="http://schemas.microsoft.com/office/drawing/2014/main" id="{BF368EE3-3AC1-0E0F-E74C-5E53B3B90A77}"/>
              </a:ext>
            </a:extLst>
          </p:cNvPr>
          <p:cNvSpPr txBox="1"/>
          <p:nvPr/>
        </p:nvSpPr>
        <p:spPr>
          <a:xfrm>
            <a:off x="3398858" y="1224975"/>
            <a:ext cx="2236510" cy="707886"/>
          </a:xfrm>
          <a:prstGeom prst="rect">
            <a:avLst/>
          </a:prstGeom>
          <a:noFill/>
        </p:spPr>
        <p:txBody>
          <a:bodyPr wrap="none" rtlCol="0">
            <a:spAutoFit/>
          </a:bodyPr>
          <a:lstStyle/>
          <a:p>
            <a:r>
              <a:rPr lang="en-US" altLang="zh-CN" sz="2000" dirty="0"/>
              <a:t>1.1.1 </a:t>
            </a:r>
          </a:p>
          <a:p>
            <a:r>
              <a:rPr lang="zh-CN" altLang="en-US" sz="2000" dirty="0"/>
              <a:t>计算机网络的定义</a:t>
            </a:r>
            <a:endParaRPr lang="en-US" altLang="zh-CN" sz="2000" dirty="0"/>
          </a:p>
        </p:txBody>
      </p:sp>
      <p:sp>
        <p:nvSpPr>
          <p:cNvPr id="32" name="文本框 31">
            <a:extLst>
              <a:ext uri="{FF2B5EF4-FFF2-40B4-BE49-F238E27FC236}">
                <a16:creationId xmlns:a16="http://schemas.microsoft.com/office/drawing/2014/main" id="{1FB372A0-FA3F-FF5F-3C57-99400378F8B7}"/>
              </a:ext>
            </a:extLst>
          </p:cNvPr>
          <p:cNvSpPr txBox="1"/>
          <p:nvPr/>
        </p:nvSpPr>
        <p:spPr>
          <a:xfrm>
            <a:off x="4416703" y="2302173"/>
            <a:ext cx="2236510" cy="707886"/>
          </a:xfrm>
          <a:prstGeom prst="rect">
            <a:avLst/>
          </a:prstGeom>
          <a:noFill/>
        </p:spPr>
        <p:txBody>
          <a:bodyPr wrap="none" rtlCol="0">
            <a:spAutoFit/>
          </a:bodyPr>
          <a:lstStyle/>
          <a:p>
            <a:r>
              <a:rPr lang="en-US" altLang="zh-CN" sz="2000" dirty="0"/>
              <a:t>1.1.2 </a:t>
            </a:r>
          </a:p>
          <a:p>
            <a:r>
              <a:rPr lang="zh-CN" altLang="en-US" sz="2000" dirty="0"/>
              <a:t>计算机网络的特点</a:t>
            </a:r>
          </a:p>
        </p:txBody>
      </p:sp>
    </p:spTree>
    <p:extLst>
      <p:ext uri="{BB962C8B-B14F-4D97-AF65-F5344CB8AC3E}">
        <p14:creationId xmlns:p14="http://schemas.microsoft.com/office/powerpoint/2010/main" val="303265411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框 2">
            <a:extLst>
              <a:ext uri="{FF2B5EF4-FFF2-40B4-BE49-F238E27FC236}">
                <a16:creationId xmlns:a16="http://schemas.microsoft.com/office/drawing/2014/main" id="{68C3004A-B262-53C4-B4ED-F5078A8FA748}"/>
              </a:ext>
            </a:extLst>
          </p:cNvPr>
          <p:cNvSpPr txBox="1"/>
          <p:nvPr/>
        </p:nvSpPr>
        <p:spPr>
          <a:xfrm>
            <a:off x="1216959" y="2402473"/>
            <a:ext cx="2236510" cy="338554"/>
          </a:xfrm>
          <a:prstGeom prst="rect">
            <a:avLst/>
          </a:prstGeom>
          <a:noFill/>
        </p:spPr>
        <p:txBody>
          <a:bodyPr wrap="none" rtlCol="0">
            <a:spAutoFit/>
          </a:bodyPr>
          <a:lstStyle/>
          <a:p>
            <a:pPr algn="l"/>
            <a:r>
              <a:rPr lang="zh-CN" altLang="en-US" sz="1600" dirty="0"/>
              <a:t>你心中的网络是什么？</a:t>
            </a:r>
          </a:p>
        </p:txBody>
      </p:sp>
      <p:sp>
        <p:nvSpPr>
          <p:cNvPr id="14" name="等腰三角形 13">
            <a:extLst>
              <a:ext uri="{FF2B5EF4-FFF2-40B4-BE49-F238E27FC236}">
                <a16:creationId xmlns:a16="http://schemas.microsoft.com/office/drawing/2014/main" id="{ACCFB4B9-EF89-100E-8D9D-ACBD57217246}"/>
              </a:ext>
            </a:extLst>
          </p:cNvPr>
          <p:cNvSpPr/>
          <p:nvPr/>
        </p:nvSpPr>
        <p:spPr>
          <a:xfrm rot="-5400000">
            <a:off x="5197657" y="1197157"/>
            <a:ext cx="5143500" cy="2749186"/>
          </a:xfrm>
          <a:prstGeom prst="triangle">
            <a:avLst/>
          </a:prstGeom>
          <a:blipFill dpi="0" rotWithShape="0">
            <a:blip r:embed="rId2"/>
            <a:srcRect/>
            <a:tile tx="0" ty="0" sx="100000" sy="100000" flip="none" algn="ctr"/>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6" name="等腰三角形 15">
            <a:extLst>
              <a:ext uri="{FF2B5EF4-FFF2-40B4-BE49-F238E27FC236}">
                <a16:creationId xmlns:a16="http://schemas.microsoft.com/office/drawing/2014/main" id="{09B3277A-F815-9B9E-0451-1E92E9D56A02}"/>
              </a:ext>
            </a:extLst>
          </p:cNvPr>
          <p:cNvSpPr/>
          <p:nvPr/>
        </p:nvSpPr>
        <p:spPr>
          <a:xfrm flipV="1">
            <a:off x="3645629" y="0"/>
            <a:ext cx="5358067" cy="2465309"/>
          </a:xfrm>
          <a:prstGeom prst="triangle">
            <a:avLst/>
          </a:prstGeom>
          <a:blipFill dpi="0" rotWithShape="0">
            <a:blip r:embed="rId3"/>
            <a:srcRect/>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8" name="等腰三角形 17">
            <a:extLst>
              <a:ext uri="{FF2B5EF4-FFF2-40B4-BE49-F238E27FC236}">
                <a16:creationId xmlns:a16="http://schemas.microsoft.com/office/drawing/2014/main" id="{332BDFBD-E897-2DF1-F15F-593790AF4217}"/>
              </a:ext>
            </a:extLst>
          </p:cNvPr>
          <p:cNvSpPr/>
          <p:nvPr/>
        </p:nvSpPr>
        <p:spPr>
          <a:xfrm>
            <a:off x="3645629" y="2678192"/>
            <a:ext cx="5358067" cy="2465309"/>
          </a:xfrm>
          <a:prstGeom prst="triangle">
            <a:avLst/>
          </a:prstGeom>
          <a:blipFill dpi="0" rotWithShape="0">
            <a:blip r:embed="rId4"/>
            <a:srcRect/>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9" name="椭圆 18">
            <a:extLst>
              <a:ext uri="{FF2B5EF4-FFF2-40B4-BE49-F238E27FC236}">
                <a16:creationId xmlns:a16="http://schemas.microsoft.com/office/drawing/2014/main" id="{6777FBFC-4D1D-4388-BDBA-9BF928F401A5}"/>
              </a:ext>
            </a:extLst>
          </p:cNvPr>
          <p:cNvSpPr>
            <a:spLocks noChangeAspect="1"/>
          </p:cNvSpPr>
          <p:nvPr/>
        </p:nvSpPr>
        <p:spPr>
          <a:xfrm>
            <a:off x="5424662" y="1671750"/>
            <a:ext cx="1800000" cy="1800000"/>
          </a:xfrm>
          <a:prstGeom prst="ellipse">
            <a:avLst/>
          </a:prstGeom>
          <a:noFill/>
          <a:ln w="12700">
            <a:solidFill>
              <a:srgbClr val="D4237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20" name="椭圆 19">
            <a:extLst>
              <a:ext uri="{FF2B5EF4-FFF2-40B4-BE49-F238E27FC236}">
                <a16:creationId xmlns:a16="http://schemas.microsoft.com/office/drawing/2014/main" id="{8D45D00A-98BD-588D-DE08-6AFD66391F7B}"/>
              </a:ext>
            </a:extLst>
          </p:cNvPr>
          <p:cNvSpPr>
            <a:spLocks noChangeAspect="1"/>
          </p:cNvSpPr>
          <p:nvPr/>
        </p:nvSpPr>
        <p:spPr>
          <a:xfrm>
            <a:off x="5424662" y="1671750"/>
            <a:ext cx="1800000" cy="1800000"/>
          </a:xfrm>
          <a:prstGeom prst="ellipse">
            <a:avLst/>
          </a:prstGeom>
          <a:noFill/>
          <a:ln w="12700">
            <a:solidFill>
              <a:srgbClr val="D4237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21" name="椭圆 20">
            <a:extLst>
              <a:ext uri="{FF2B5EF4-FFF2-40B4-BE49-F238E27FC236}">
                <a16:creationId xmlns:a16="http://schemas.microsoft.com/office/drawing/2014/main" id="{4C4904D4-6F5F-650D-6A7B-DC7B7FCED3C0}"/>
              </a:ext>
            </a:extLst>
          </p:cNvPr>
          <p:cNvSpPr>
            <a:spLocks noChangeAspect="1"/>
          </p:cNvSpPr>
          <p:nvPr/>
        </p:nvSpPr>
        <p:spPr>
          <a:xfrm>
            <a:off x="5424662" y="1671750"/>
            <a:ext cx="1800000" cy="1800000"/>
          </a:xfrm>
          <a:prstGeom prst="ellipse">
            <a:avLst/>
          </a:prstGeom>
          <a:noFill/>
          <a:ln w="12700">
            <a:solidFill>
              <a:srgbClr val="D4237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22" name="椭圆 21">
            <a:extLst>
              <a:ext uri="{FF2B5EF4-FFF2-40B4-BE49-F238E27FC236}">
                <a16:creationId xmlns:a16="http://schemas.microsoft.com/office/drawing/2014/main" id="{6867E2BB-8A82-B8C8-1251-2CA4CD85383C}"/>
              </a:ext>
            </a:extLst>
          </p:cNvPr>
          <p:cNvSpPr>
            <a:spLocks noChangeAspect="1"/>
          </p:cNvSpPr>
          <p:nvPr/>
        </p:nvSpPr>
        <p:spPr>
          <a:xfrm>
            <a:off x="5424662" y="1671750"/>
            <a:ext cx="1800000" cy="1800000"/>
          </a:xfrm>
          <a:prstGeom prst="ellipse">
            <a:avLst/>
          </a:prstGeom>
          <a:noFill/>
          <a:ln w="12700">
            <a:solidFill>
              <a:srgbClr val="D4237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Tree>
    <p:extLst>
      <p:ext uri="{BB962C8B-B14F-4D97-AF65-F5344CB8AC3E}">
        <p14:creationId xmlns:p14="http://schemas.microsoft.com/office/powerpoint/2010/main" val="17808316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3" presetClass="entr" presetSubtype="16" repeatCount="indefinite" grpId="0" nodeType="withEffect">
                                  <p:stCondLst>
                                    <p:cond delay="0"/>
                                  </p:stCondLst>
                                  <p:childTnLst>
                                    <p:set>
                                      <p:cBhvr>
                                        <p:cTn id="6" dur="1" fill="hold">
                                          <p:stCondLst>
                                            <p:cond delay="0"/>
                                          </p:stCondLst>
                                        </p:cTn>
                                        <p:tgtEl>
                                          <p:spTgt spid="19"/>
                                        </p:tgtEl>
                                        <p:attrNameLst>
                                          <p:attrName>style.visibility</p:attrName>
                                        </p:attrNameLst>
                                      </p:cBhvr>
                                      <p:to>
                                        <p:strVal val="visible"/>
                                      </p:to>
                                    </p:set>
                                    <p:anim calcmode="lin" valueType="num">
                                      <p:cBhvr>
                                        <p:cTn id="7" dur="2000" fill="hold"/>
                                        <p:tgtEl>
                                          <p:spTgt spid="19"/>
                                        </p:tgtEl>
                                        <p:attrNameLst>
                                          <p:attrName>ppt_w</p:attrName>
                                        </p:attrNameLst>
                                      </p:cBhvr>
                                      <p:tavLst>
                                        <p:tav tm="0">
                                          <p:val>
                                            <p:fltVal val="0"/>
                                          </p:val>
                                        </p:tav>
                                        <p:tav tm="100000">
                                          <p:val>
                                            <p:strVal val="#ppt_w"/>
                                          </p:val>
                                        </p:tav>
                                      </p:tavLst>
                                    </p:anim>
                                    <p:anim calcmode="lin" valueType="num">
                                      <p:cBhvr>
                                        <p:cTn id="8" dur="2000" fill="hold"/>
                                        <p:tgtEl>
                                          <p:spTgt spid="19"/>
                                        </p:tgtEl>
                                        <p:attrNameLst>
                                          <p:attrName>ppt_h</p:attrName>
                                        </p:attrNameLst>
                                      </p:cBhvr>
                                      <p:tavLst>
                                        <p:tav tm="0">
                                          <p:val>
                                            <p:fltVal val="0"/>
                                          </p:val>
                                        </p:tav>
                                        <p:tav tm="100000">
                                          <p:val>
                                            <p:strVal val="#ppt_h"/>
                                          </p:val>
                                        </p:tav>
                                      </p:tavLst>
                                    </p:anim>
                                  </p:childTnLst>
                                </p:cTn>
                              </p:par>
                              <p:par>
                                <p:cTn id="9" presetID="10" presetClass="exit" presetSubtype="0" repeatCount="indefinite" fill="hold" grpId="1" nodeType="withEffect">
                                  <p:stCondLst>
                                    <p:cond delay="0"/>
                                  </p:stCondLst>
                                  <p:endCondLst>
                                    <p:cond evt="onNext" delay="0">
                                      <p:tgtEl>
                                        <p:sldTgt/>
                                      </p:tgtEl>
                                    </p:cond>
                                  </p:endCondLst>
                                  <p:childTnLst>
                                    <p:animEffect transition="out" filter="fade">
                                      <p:cBhvr>
                                        <p:cTn id="10" dur="2000"/>
                                        <p:tgtEl>
                                          <p:spTgt spid="19"/>
                                        </p:tgtEl>
                                      </p:cBhvr>
                                    </p:animEffect>
                                    <p:set>
                                      <p:cBhvr>
                                        <p:cTn id="11" dur="1" fill="hold">
                                          <p:stCondLst>
                                            <p:cond delay="1999"/>
                                          </p:stCondLst>
                                        </p:cTn>
                                        <p:tgtEl>
                                          <p:spTgt spid="19"/>
                                        </p:tgtEl>
                                        <p:attrNameLst>
                                          <p:attrName>style.visibility</p:attrName>
                                        </p:attrNameLst>
                                      </p:cBhvr>
                                      <p:to>
                                        <p:strVal val="hidden"/>
                                      </p:to>
                                    </p:set>
                                  </p:childTnLst>
                                </p:cTn>
                              </p:par>
                              <p:par>
                                <p:cTn id="12" presetID="23" presetClass="entr" presetSubtype="16" repeatCount="indefinite" grpId="0" nodeType="withEffect">
                                  <p:stCondLst>
                                    <p:cond delay="500"/>
                                  </p:stCondLst>
                                  <p:childTnLst>
                                    <p:set>
                                      <p:cBhvr>
                                        <p:cTn id="13" dur="1" fill="hold">
                                          <p:stCondLst>
                                            <p:cond delay="0"/>
                                          </p:stCondLst>
                                        </p:cTn>
                                        <p:tgtEl>
                                          <p:spTgt spid="20"/>
                                        </p:tgtEl>
                                        <p:attrNameLst>
                                          <p:attrName>style.visibility</p:attrName>
                                        </p:attrNameLst>
                                      </p:cBhvr>
                                      <p:to>
                                        <p:strVal val="visible"/>
                                      </p:to>
                                    </p:set>
                                    <p:anim calcmode="lin" valueType="num">
                                      <p:cBhvr>
                                        <p:cTn id="14" dur="2000" fill="hold"/>
                                        <p:tgtEl>
                                          <p:spTgt spid="20"/>
                                        </p:tgtEl>
                                        <p:attrNameLst>
                                          <p:attrName>ppt_w</p:attrName>
                                        </p:attrNameLst>
                                      </p:cBhvr>
                                      <p:tavLst>
                                        <p:tav tm="0">
                                          <p:val>
                                            <p:fltVal val="0"/>
                                          </p:val>
                                        </p:tav>
                                        <p:tav tm="100000">
                                          <p:val>
                                            <p:strVal val="#ppt_w"/>
                                          </p:val>
                                        </p:tav>
                                      </p:tavLst>
                                    </p:anim>
                                    <p:anim calcmode="lin" valueType="num">
                                      <p:cBhvr>
                                        <p:cTn id="15" dur="2000" fill="hold"/>
                                        <p:tgtEl>
                                          <p:spTgt spid="20"/>
                                        </p:tgtEl>
                                        <p:attrNameLst>
                                          <p:attrName>ppt_h</p:attrName>
                                        </p:attrNameLst>
                                      </p:cBhvr>
                                      <p:tavLst>
                                        <p:tav tm="0">
                                          <p:val>
                                            <p:fltVal val="0"/>
                                          </p:val>
                                        </p:tav>
                                        <p:tav tm="100000">
                                          <p:val>
                                            <p:strVal val="#ppt_h"/>
                                          </p:val>
                                        </p:tav>
                                      </p:tavLst>
                                    </p:anim>
                                  </p:childTnLst>
                                </p:cTn>
                              </p:par>
                              <p:par>
                                <p:cTn id="16" presetID="10" presetClass="exit" presetSubtype="0" repeatCount="indefinite" fill="hold" grpId="1" nodeType="withEffect">
                                  <p:stCondLst>
                                    <p:cond delay="500"/>
                                  </p:stCondLst>
                                  <p:endCondLst>
                                    <p:cond evt="onNext" delay="0">
                                      <p:tgtEl>
                                        <p:sldTgt/>
                                      </p:tgtEl>
                                    </p:cond>
                                  </p:endCondLst>
                                  <p:childTnLst>
                                    <p:animEffect transition="out" filter="fade">
                                      <p:cBhvr>
                                        <p:cTn id="17" dur="2000"/>
                                        <p:tgtEl>
                                          <p:spTgt spid="20"/>
                                        </p:tgtEl>
                                      </p:cBhvr>
                                    </p:animEffect>
                                    <p:set>
                                      <p:cBhvr>
                                        <p:cTn id="18" dur="1" fill="hold">
                                          <p:stCondLst>
                                            <p:cond delay="1999"/>
                                          </p:stCondLst>
                                        </p:cTn>
                                        <p:tgtEl>
                                          <p:spTgt spid="20"/>
                                        </p:tgtEl>
                                        <p:attrNameLst>
                                          <p:attrName>style.visibility</p:attrName>
                                        </p:attrNameLst>
                                      </p:cBhvr>
                                      <p:to>
                                        <p:strVal val="hidden"/>
                                      </p:to>
                                    </p:set>
                                  </p:childTnLst>
                                </p:cTn>
                              </p:par>
                              <p:par>
                                <p:cTn id="19" presetID="23" presetClass="entr" presetSubtype="16" repeatCount="indefinite" grpId="0" nodeType="withEffect">
                                  <p:stCondLst>
                                    <p:cond delay="1000"/>
                                  </p:stCondLst>
                                  <p:childTnLst>
                                    <p:set>
                                      <p:cBhvr>
                                        <p:cTn id="20" dur="1" fill="hold">
                                          <p:stCondLst>
                                            <p:cond delay="0"/>
                                          </p:stCondLst>
                                        </p:cTn>
                                        <p:tgtEl>
                                          <p:spTgt spid="21"/>
                                        </p:tgtEl>
                                        <p:attrNameLst>
                                          <p:attrName>style.visibility</p:attrName>
                                        </p:attrNameLst>
                                      </p:cBhvr>
                                      <p:to>
                                        <p:strVal val="visible"/>
                                      </p:to>
                                    </p:set>
                                    <p:anim calcmode="lin" valueType="num">
                                      <p:cBhvr>
                                        <p:cTn id="21" dur="2000" fill="hold"/>
                                        <p:tgtEl>
                                          <p:spTgt spid="21"/>
                                        </p:tgtEl>
                                        <p:attrNameLst>
                                          <p:attrName>ppt_w</p:attrName>
                                        </p:attrNameLst>
                                      </p:cBhvr>
                                      <p:tavLst>
                                        <p:tav tm="0">
                                          <p:val>
                                            <p:fltVal val="0"/>
                                          </p:val>
                                        </p:tav>
                                        <p:tav tm="100000">
                                          <p:val>
                                            <p:strVal val="#ppt_w"/>
                                          </p:val>
                                        </p:tav>
                                      </p:tavLst>
                                    </p:anim>
                                    <p:anim calcmode="lin" valueType="num">
                                      <p:cBhvr>
                                        <p:cTn id="22" dur="2000" fill="hold"/>
                                        <p:tgtEl>
                                          <p:spTgt spid="21"/>
                                        </p:tgtEl>
                                        <p:attrNameLst>
                                          <p:attrName>ppt_h</p:attrName>
                                        </p:attrNameLst>
                                      </p:cBhvr>
                                      <p:tavLst>
                                        <p:tav tm="0">
                                          <p:val>
                                            <p:fltVal val="0"/>
                                          </p:val>
                                        </p:tav>
                                        <p:tav tm="100000">
                                          <p:val>
                                            <p:strVal val="#ppt_h"/>
                                          </p:val>
                                        </p:tav>
                                      </p:tavLst>
                                    </p:anim>
                                  </p:childTnLst>
                                </p:cTn>
                              </p:par>
                              <p:par>
                                <p:cTn id="23" presetID="10" presetClass="exit" presetSubtype="0" repeatCount="indefinite" fill="hold" grpId="1" nodeType="withEffect">
                                  <p:stCondLst>
                                    <p:cond delay="1000"/>
                                  </p:stCondLst>
                                  <p:endCondLst>
                                    <p:cond evt="onNext" delay="0">
                                      <p:tgtEl>
                                        <p:sldTgt/>
                                      </p:tgtEl>
                                    </p:cond>
                                  </p:endCondLst>
                                  <p:childTnLst>
                                    <p:animEffect transition="out" filter="fade">
                                      <p:cBhvr>
                                        <p:cTn id="24" dur="2000"/>
                                        <p:tgtEl>
                                          <p:spTgt spid="21"/>
                                        </p:tgtEl>
                                      </p:cBhvr>
                                    </p:animEffect>
                                    <p:set>
                                      <p:cBhvr>
                                        <p:cTn id="25" dur="1" fill="hold">
                                          <p:stCondLst>
                                            <p:cond delay="1999"/>
                                          </p:stCondLst>
                                        </p:cTn>
                                        <p:tgtEl>
                                          <p:spTgt spid="21"/>
                                        </p:tgtEl>
                                        <p:attrNameLst>
                                          <p:attrName>style.visibility</p:attrName>
                                        </p:attrNameLst>
                                      </p:cBhvr>
                                      <p:to>
                                        <p:strVal val="hidden"/>
                                      </p:to>
                                    </p:set>
                                  </p:childTnLst>
                                </p:cTn>
                              </p:par>
                              <p:par>
                                <p:cTn id="26" presetID="23" presetClass="entr" presetSubtype="16" repeatCount="indefinite" grpId="0" nodeType="withEffect">
                                  <p:stCondLst>
                                    <p:cond delay="1500"/>
                                  </p:stCondLst>
                                  <p:childTnLst>
                                    <p:set>
                                      <p:cBhvr>
                                        <p:cTn id="27" dur="1" fill="hold">
                                          <p:stCondLst>
                                            <p:cond delay="0"/>
                                          </p:stCondLst>
                                        </p:cTn>
                                        <p:tgtEl>
                                          <p:spTgt spid="22"/>
                                        </p:tgtEl>
                                        <p:attrNameLst>
                                          <p:attrName>style.visibility</p:attrName>
                                        </p:attrNameLst>
                                      </p:cBhvr>
                                      <p:to>
                                        <p:strVal val="visible"/>
                                      </p:to>
                                    </p:set>
                                    <p:anim calcmode="lin" valueType="num">
                                      <p:cBhvr>
                                        <p:cTn id="28" dur="2000" fill="hold"/>
                                        <p:tgtEl>
                                          <p:spTgt spid="22"/>
                                        </p:tgtEl>
                                        <p:attrNameLst>
                                          <p:attrName>ppt_w</p:attrName>
                                        </p:attrNameLst>
                                      </p:cBhvr>
                                      <p:tavLst>
                                        <p:tav tm="0">
                                          <p:val>
                                            <p:fltVal val="0"/>
                                          </p:val>
                                        </p:tav>
                                        <p:tav tm="100000">
                                          <p:val>
                                            <p:strVal val="#ppt_w"/>
                                          </p:val>
                                        </p:tav>
                                      </p:tavLst>
                                    </p:anim>
                                    <p:anim calcmode="lin" valueType="num">
                                      <p:cBhvr>
                                        <p:cTn id="29" dur="2000" fill="hold"/>
                                        <p:tgtEl>
                                          <p:spTgt spid="22"/>
                                        </p:tgtEl>
                                        <p:attrNameLst>
                                          <p:attrName>ppt_h</p:attrName>
                                        </p:attrNameLst>
                                      </p:cBhvr>
                                      <p:tavLst>
                                        <p:tav tm="0">
                                          <p:val>
                                            <p:fltVal val="0"/>
                                          </p:val>
                                        </p:tav>
                                        <p:tav tm="100000">
                                          <p:val>
                                            <p:strVal val="#ppt_h"/>
                                          </p:val>
                                        </p:tav>
                                      </p:tavLst>
                                    </p:anim>
                                  </p:childTnLst>
                                </p:cTn>
                              </p:par>
                              <p:par>
                                <p:cTn id="30" presetID="10" presetClass="exit" presetSubtype="0" repeatCount="indefinite" fill="hold" grpId="1" nodeType="withEffect">
                                  <p:stCondLst>
                                    <p:cond delay="1500"/>
                                  </p:stCondLst>
                                  <p:endCondLst>
                                    <p:cond evt="onNext" delay="0">
                                      <p:tgtEl>
                                        <p:sldTgt/>
                                      </p:tgtEl>
                                    </p:cond>
                                  </p:endCondLst>
                                  <p:childTnLst>
                                    <p:animEffect transition="out" filter="fade">
                                      <p:cBhvr>
                                        <p:cTn id="31" dur="2000"/>
                                        <p:tgtEl>
                                          <p:spTgt spid="22"/>
                                        </p:tgtEl>
                                      </p:cBhvr>
                                    </p:animEffect>
                                    <p:set>
                                      <p:cBhvr>
                                        <p:cTn id="32" dur="1" fill="hold">
                                          <p:stCondLst>
                                            <p:cond delay="1999"/>
                                          </p:stCondLst>
                                        </p:cTn>
                                        <p:tgtEl>
                                          <p:spTgt spid="22"/>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19" grpId="1" animBg="1"/>
      <p:bldP spid="20" grpId="0" animBg="1"/>
      <p:bldP spid="20" grpId="1" animBg="1"/>
      <p:bldP spid="21" grpId="0" animBg="1"/>
      <p:bldP spid="21" grpId="1" animBg="1"/>
      <p:bldP spid="22" grpId="0" animBg="1"/>
      <p:bldP spid="22" grpId="1" animBg="1"/>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框 2">
            <a:extLst>
              <a:ext uri="{FF2B5EF4-FFF2-40B4-BE49-F238E27FC236}">
                <a16:creationId xmlns:a16="http://schemas.microsoft.com/office/drawing/2014/main" id="{3E8D0ED2-8058-5239-5C88-9B814E0F344E}"/>
              </a:ext>
            </a:extLst>
          </p:cNvPr>
          <p:cNvSpPr txBox="1"/>
          <p:nvPr/>
        </p:nvSpPr>
        <p:spPr>
          <a:xfrm>
            <a:off x="5021691" y="2384108"/>
            <a:ext cx="1005403" cy="338554"/>
          </a:xfrm>
          <a:prstGeom prst="rect">
            <a:avLst/>
          </a:prstGeom>
          <a:noFill/>
        </p:spPr>
        <p:txBody>
          <a:bodyPr wrap="none" rtlCol="0">
            <a:spAutoFit/>
          </a:bodyPr>
          <a:lstStyle/>
          <a:p>
            <a:r>
              <a:rPr lang="zh-CN" altLang="en-US" sz="1600" dirty="0">
                <a:latin typeface="+mj-ea"/>
                <a:ea typeface="+mj-ea"/>
              </a:rPr>
              <a:t>电信网络</a:t>
            </a:r>
          </a:p>
        </p:txBody>
      </p:sp>
      <p:sp>
        <p:nvSpPr>
          <p:cNvPr id="14" name="文本框 13">
            <a:extLst>
              <a:ext uri="{FF2B5EF4-FFF2-40B4-BE49-F238E27FC236}">
                <a16:creationId xmlns:a16="http://schemas.microsoft.com/office/drawing/2014/main" id="{423E291A-455E-E67F-5442-825A77B1E10F}"/>
              </a:ext>
            </a:extLst>
          </p:cNvPr>
          <p:cNvSpPr txBox="1"/>
          <p:nvPr/>
        </p:nvSpPr>
        <p:spPr>
          <a:xfrm>
            <a:off x="4412091" y="2724245"/>
            <a:ext cx="2518638" cy="307777"/>
          </a:xfrm>
          <a:prstGeom prst="rect">
            <a:avLst/>
          </a:prstGeom>
          <a:noFill/>
        </p:spPr>
        <p:txBody>
          <a:bodyPr wrap="none" rtlCol="0">
            <a:spAutoFit/>
          </a:bodyPr>
          <a:lstStyle/>
          <a:p>
            <a:r>
              <a:rPr lang="zh-CN" altLang="en-US" sz="1400" dirty="0"/>
              <a:t>提供电话、电报及传真等服务</a:t>
            </a:r>
          </a:p>
        </p:txBody>
      </p:sp>
      <p:pic>
        <p:nvPicPr>
          <p:cNvPr id="23" name="图片 22">
            <a:extLst>
              <a:ext uri="{FF2B5EF4-FFF2-40B4-BE49-F238E27FC236}">
                <a16:creationId xmlns:a16="http://schemas.microsoft.com/office/drawing/2014/main" id="{4CA1D1E8-9C0E-1C83-A0D8-BC9CF1C9D69C}"/>
              </a:ext>
            </a:extLst>
          </p:cNvPr>
          <p:cNvPicPr>
            <a:picLocks noChangeAspect="1"/>
          </p:cNvPicPr>
          <p:nvPr/>
        </p:nvPicPr>
        <p:blipFill>
          <a:blip r:embed="rId3">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4412091" y="2113062"/>
            <a:ext cx="609600" cy="609600"/>
          </a:xfrm>
          <a:prstGeom prst="rect">
            <a:avLst/>
          </a:prstGeom>
        </p:spPr>
      </p:pic>
      <p:sp>
        <p:nvSpPr>
          <p:cNvPr id="6" name="文本框 5">
            <a:extLst>
              <a:ext uri="{FF2B5EF4-FFF2-40B4-BE49-F238E27FC236}">
                <a16:creationId xmlns:a16="http://schemas.microsoft.com/office/drawing/2014/main" id="{249BD636-A92C-19BC-73D5-FE1C53C3C006}"/>
              </a:ext>
            </a:extLst>
          </p:cNvPr>
          <p:cNvSpPr txBox="1"/>
          <p:nvPr/>
        </p:nvSpPr>
        <p:spPr>
          <a:xfrm>
            <a:off x="5021691" y="3585450"/>
            <a:ext cx="1210588" cy="338554"/>
          </a:xfrm>
          <a:prstGeom prst="rect">
            <a:avLst/>
          </a:prstGeom>
          <a:noFill/>
        </p:spPr>
        <p:txBody>
          <a:bodyPr wrap="none" rtlCol="0">
            <a:spAutoFit/>
          </a:bodyPr>
          <a:lstStyle/>
          <a:p>
            <a:r>
              <a:rPr lang="zh-CN" altLang="en-US" sz="1600" dirty="0">
                <a:latin typeface="+mj-ea"/>
                <a:ea typeface="+mj-ea"/>
              </a:rPr>
              <a:t>计算机网络</a:t>
            </a:r>
          </a:p>
        </p:txBody>
      </p:sp>
      <p:sp>
        <p:nvSpPr>
          <p:cNvPr id="15" name="文本框 14">
            <a:extLst>
              <a:ext uri="{FF2B5EF4-FFF2-40B4-BE49-F238E27FC236}">
                <a16:creationId xmlns:a16="http://schemas.microsoft.com/office/drawing/2014/main" id="{607BF0CF-D512-CBDC-04ED-FED6642F03BE}"/>
              </a:ext>
            </a:extLst>
          </p:cNvPr>
          <p:cNvSpPr txBox="1"/>
          <p:nvPr/>
        </p:nvSpPr>
        <p:spPr>
          <a:xfrm>
            <a:off x="4412091" y="3912461"/>
            <a:ext cx="3057247" cy="307777"/>
          </a:xfrm>
          <a:prstGeom prst="rect">
            <a:avLst/>
          </a:prstGeom>
          <a:noFill/>
        </p:spPr>
        <p:txBody>
          <a:bodyPr wrap="none" rtlCol="0">
            <a:spAutoFit/>
          </a:bodyPr>
          <a:lstStyle/>
          <a:p>
            <a:r>
              <a:rPr lang="zh-CN" altLang="en-US" sz="1400" dirty="0"/>
              <a:t>使用户能在计算机之间传送数据文件</a:t>
            </a:r>
          </a:p>
        </p:txBody>
      </p:sp>
      <p:pic>
        <p:nvPicPr>
          <p:cNvPr id="25" name="图片 24">
            <a:extLst>
              <a:ext uri="{FF2B5EF4-FFF2-40B4-BE49-F238E27FC236}">
                <a16:creationId xmlns:a16="http://schemas.microsoft.com/office/drawing/2014/main" id="{A3E47C13-7E27-4EE9-0AF9-91AFC089D59A}"/>
              </a:ext>
            </a:extLst>
          </p:cNvPr>
          <p:cNvPicPr>
            <a:picLocks noChangeAspect="1"/>
          </p:cNvPicPr>
          <p:nvPr/>
        </p:nvPicPr>
        <p:blipFill>
          <a:blip r:embed="rId4">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4412091" y="3302861"/>
            <a:ext cx="609600" cy="609600"/>
          </a:xfrm>
          <a:prstGeom prst="rect">
            <a:avLst/>
          </a:prstGeom>
        </p:spPr>
      </p:pic>
      <p:sp>
        <p:nvSpPr>
          <p:cNvPr id="5" name="文本框 4">
            <a:extLst>
              <a:ext uri="{FF2B5EF4-FFF2-40B4-BE49-F238E27FC236}">
                <a16:creationId xmlns:a16="http://schemas.microsoft.com/office/drawing/2014/main" id="{C3F7E2BA-F5F7-A907-2356-FA1E3A5EF40D}"/>
              </a:ext>
            </a:extLst>
          </p:cNvPr>
          <p:cNvSpPr txBox="1"/>
          <p:nvPr/>
        </p:nvSpPr>
        <p:spPr>
          <a:xfrm>
            <a:off x="5021691" y="1195100"/>
            <a:ext cx="1415772" cy="338554"/>
          </a:xfrm>
          <a:prstGeom prst="rect">
            <a:avLst/>
          </a:prstGeom>
          <a:noFill/>
        </p:spPr>
        <p:txBody>
          <a:bodyPr wrap="none" rtlCol="0">
            <a:spAutoFit/>
          </a:bodyPr>
          <a:lstStyle/>
          <a:p>
            <a:r>
              <a:rPr lang="zh-CN" altLang="en-US" sz="1600" dirty="0">
                <a:latin typeface="+mj-ea"/>
                <a:ea typeface="+mj-ea"/>
              </a:rPr>
              <a:t>有线电视网络</a:t>
            </a:r>
          </a:p>
        </p:txBody>
      </p:sp>
      <p:sp>
        <p:nvSpPr>
          <p:cNvPr id="13" name="文本框 12">
            <a:extLst>
              <a:ext uri="{FF2B5EF4-FFF2-40B4-BE49-F238E27FC236}">
                <a16:creationId xmlns:a16="http://schemas.microsoft.com/office/drawing/2014/main" id="{890F7E65-76D0-378B-A074-876A844DF059}"/>
              </a:ext>
            </a:extLst>
          </p:cNvPr>
          <p:cNvSpPr txBox="1"/>
          <p:nvPr/>
        </p:nvSpPr>
        <p:spPr>
          <a:xfrm>
            <a:off x="4412091" y="1534445"/>
            <a:ext cx="2159566" cy="307777"/>
          </a:xfrm>
          <a:prstGeom prst="rect">
            <a:avLst/>
          </a:prstGeom>
          <a:noFill/>
        </p:spPr>
        <p:txBody>
          <a:bodyPr wrap="none" rtlCol="0">
            <a:spAutoFit/>
          </a:bodyPr>
          <a:lstStyle/>
          <a:p>
            <a:r>
              <a:rPr lang="zh-CN" altLang="en-US" sz="1400" dirty="0"/>
              <a:t>向用户传送各种电视节目</a:t>
            </a:r>
          </a:p>
        </p:txBody>
      </p:sp>
      <p:pic>
        <p:nvPicPr>
          <p:cNvPr id="27" name="图片 26">
            <a:extLst>
              <a:ext uri="{FF2B5EF4-FFF2-40B4-BE49-F238E27FC236}">
                <a16:creationId xmlns:a16="http://schemas.microsoft.com/office/drawing/2014/main" id="{9D5A4CBC-B61D-9188-4D4E-0B97602F9EF4}"/>
              </a:ext>
            </a:extLst>
          </p:cNvPr>
          <p:cNvPicPr>
            <a:picLocks noChangeAspect="1"/>
          </p:cNvPicPr>
          <p:nvPr/>
        </p:nvPicPr>
        <p:blipFill>
          <a:blip r:embed="rId5">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4412091" y="923262"/>
            <a:ext cx="609600" cy="609600"/>
          </a:xfrm>
          <a:prstGeom prst="rect">
            <a:avLst/>
          </a:prstGeom>
        </p:spPr>
      </p:pic>
      <p:sp>
        <p:nvSpPr>
          <p:cNvPr id="10" name="菱形 9">
            <a:extLst>
              <a:ext uri="{FF2B5EF4-FFF2-40B4-BE49-F238E27FC236}">
                <a16:creationId xmlns:a16="http://schemas.microsoft.com/office/drawing/2014/main" id="{F3694D86-7E07-D8F9-5CB5-A97C0551235A}"/>
              </a:ext>
            </a:extLst>
          </p:cNvPr>
          <p:cNvSpPr/>
          <p:nvPr/>
        </p:nvSpPr>
        <p:spPr>
          <a:xfrm>
            <a:off x="1786688" y="1851750"/>
            <a:ext cx="1440000" cy="1440000"/>
          </a:xfrm>
          <a:prstGeom prst="diamond">
            <a:avLst/>
          </a:prstGeom>
          <a:solidFill>
            <a:srgbClr val="D4237A"/>
          </a:solidFill>
          <a:ln>
            <a:no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r>
              <a:rPr lang="zh-CN" altLang="en-US" dirty="0">
                <a:latin typeface="+mj-lt"/>
                <a:ea typeface="+mj-ea"/>
              </a:rPr>
              <a:t>三网融合</a:t>
            </a:r>
          </a:p>
        </p:txBody>
      </p:sp>
      <p:cxnSp>
        <p:nvCxnSpPr>
          <p:cNvPr id="18" name="直接连接符 17">
            <a:extLst>
              <a:ext uri="{FF2B5EF4-FFF2-40B4-BE49-F238E27FC236}">
                <a16:creationId xmlns:a16="http://schemas.microsoft.com/office/drawing/2014/main" id="{14C2E509-0402-D4C6-AEB8-66265ABF61A3}"/>
              </a:ext>
            </a:extLst>
          </p:cNvPr>
          <p:cNvCxnSpPr>
            <a:cxnSpLocks/>
          </p:cNvCxnSpPr>
          <p:nvPr/>
        </p:nvCxnSpPr>
        <p:spPr>
          <a:xfrm>
            <a:off x="2506688" y="0"/>
            <a:ext cx="0" cy="1656000"/>
          </a:xfrm>
          <a:prstGeom prst="line">
            <a:avLst/>
          </a:prstGeom>
          <a:ln w="12700">
            <a:solidFill>
              <a:srgbClr val="D4237A"/>
            </a:solidFill>
          </a:ln>
        </p:spPr>
        <p:style>
          <a:lnRef idx="1">
            <a:schemeClr val="accent1"/>
          </a:lnRef>
          <a:fillRef idx="0">
            <a:schemeClr val="accent1"/>
          </a:fillRef>
          <a:effectRef idx="0">
            <a:schemeClr val="accent1"/>
          </a:effectRef>
          <a:fontRef idx="minor">
            <a:schemeClr val="tx1"/>
          </a:fontRef>
        </p:style>
      </p:cxnSp>
      <p:cxnSp>
        <p:nvCxnSpPr>
          <p:cNvPr id="19" name="直接连接符 18">
            <a:extLst>
              <a:ext uri="{FF2B5EF4-FFF2-40B4-BE49-F238E27FC236}">
                <a16:creationId xmlns:a16="http://schemas.microsoft.com/office/drawing/2014/main" id="{E67B47DA-4DBE-E919-9D03-32C1A7792BFB}"/>
              </a:ext>
            </a:extLst>
          </p:cNvPr>
          <p:cNvCxnSpPr>
            <a:cxnSpLocks/>
          </p:cNvCxnSpPr>
          <p:nvPr/>
        </p:nvCxnSpPr>
        <p:spPr>
          <a:xfrm>
            <a:off x="2506689" y="3487500"/>
            <a:ext cx="0" cy="1656000"/>
          </a:xfrm>
          <a:prstGeom prst="line">
            <a:avLst/>
          </a:prstGeom>
          <a:ln w="12700">
            <a:solidFill>
              <a:srgbClr val="D4237A"/>
            </a:solidFill>
          </a:ln>
        </p:spPr>
        <p:style>
          <a:lnRef idx="1">
            <a:schemeClr val="accent1"/>
          </a:lnRef>
          <a:fillRef idx="0">
            <a:schemeClr val="accent1"/>
          </a:fillRef>
          <a:effectRef idx="0">
            <a:schemeClr val="accent1"/>
          </a:effectRef>
          <a:fontRef idx="minor">
            <a:schemeClr val="tx1"/>
          </a:fontRef>
        </p:style>
      </p:cxnSp>
      <p:cxnSp>
        <p:nvCxnSpPr>
          <p:cNvPr id="31" name="直接连接符 30">
            <a:extLst>
              <a:ext uri="{FF2B5EF4-FFF2-40B4-BE49-F238E27FC236}">
                <a16:creationId xmlns:a16="http://schemas.microsoft.com/office/drawing/2014/main" id="{216F8860-5E5A-8B74-5599-434DFD6A3A1B}"/>
              </a:ext>
            </a:extLst>
          </p:cNvPr>
          <p:cNvCxnSpPr>
            <a:cxnSpLocks/>
          </p:cNvCxnSpPr>
          <p:nvPr/>
        </p:nvCxnSpPr>
        <p:spPr>
          <a:xfrm rot="-2700000">
            <a:off x="1284104" y="2162410"/>
            <a:ext cx="1432346" cy="0"/>
          </a:xfrm>
          <a:prstGeom prst="line">
            <a:avLst/>
          </a:prstGeom>
          <a:ln w="12700">
            <a:solidFill>
              <a:srgbClr val="D4237A"/>
            </a:solidFill>
          </a:ln>
        </p:spPr>
        <p:style>
          <a:lnRef idx="1">
            <a:schemeClr val="accent1"/>
          </a:lnRef>
          <a:fillRef idx="0">
            <a:schemeClr val="accent1"/>
          </a:fillRef>
          <a:effectRef idx="0">
            <a:schemeClr val="accent1"/>
          </a:effectRef>
          <a:fontRef idx="minor">
            <a:schemeClr val="tx1"/>
          </a:fontRef>
        </p:style>
      </p:cxnSp>
      <p:cxnSp>
        <p:nvCxnSpPr>
          <p:cNvPr id="32" name="直接连接符 31">
            <a:extLst>
              <a:ext uri="{FF2B5EF4-FFF2-40B4-BE49-F238E27FC236}">
                <a16:creationId xmlns:a16="http://schemas.microsoft.com/office/drawing/2014/main" id="{7A46ED3C-BABF-2063-0AAB-EE78A2C32A14}"/>
              </a:ext>
            </a:extLst>
          </p:cNvPr>
          <p:cNvCxnSpPr>
            <a:cxnSpLocks/>
          </p:cNvCxnSpPr>
          <p:nvPr/>
        </p:nvCxnSpPr>
        <p:spPr>
          <a:xfrm rot="-8100000">
            <a:off x="1284105" y="2981089"/>
            <a:ext cx="1432346" cy="0"/>
          </a:xfrm>
          <a:prstGeom prst="line">
            <a:avLst/>
          </a:prstGeom>
          <a:ln w="12700">
            <a:solidFill>
              <a:srgbClr val="D4237A"/>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0907242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图片占位符 3">
            <a:extLst>
              <a:ext uri="{FF2B5EF4-FFF2-40B4-BE49-F238E27FC236}">
                <a16:creationId xmlns:a16="http://schemas.microsoft.com/office/drawing/2014/main" id="{67891A8C-FC04-150E-D48A-858FC27E9C81}"/>
              </a:ext>
            </a:extLst>
          </p:cNvPr>
          <p:cNvPicPr>
            <a:picLocks noChangeAspect="1"/>
          </p:cNvPicPr>
          <p:nvPr/>
        </p:nvPicPr>
        <p:blipFill rotWithShape="1">
          <a:blip r:embed="rId3" cstate="screen">
            <a:extLst>
              <a:ext uri="{BEBA8EAE-BF5A-486C-A8C5-ECC9F3942E4B}">
                <a14:imgProps xmlns:a14="http://schemas.microsoft.com/office/drawing/2010/main">
                  <a14:imgLayer r:embed="rId4">
                    <a14:imgEffect>
                      <a14:saturation sat="33000"/>
                    </a14:imgEffect>
                  </a14:imgLayer>
                </a14:imgProps>
              </a:ext>
              <a:ext uri="{28A0092B-C50C-407E-A947-70E740481C1C}">
                <a14:useLocalDpi xmlns:a14="http://schemas.microsoft.com/office/drawing/2010/main"/>
              </a:ext>
            </a:extLst>
          </a:blip>
          <a:srcRect/>
          <a:stretch/>
        </p:blipFill>
        <p:spPr>
          <a:xfrm>
            <a:off x="612000" y="0"/>
            <a:ext cx="7920000" cy="3264070"/>
          </a:xfrm>
          <a:prstGeom prst="rect">
            <a:avLst/>
          </a:prstGeom>
        </p:spPr>
      </p:pic>
      <p:sp>
        <p:nvSpPr>
          <p:cNvPr id="7" name="矩形 6">
            <a:extLst>
              <a:ext uri="{FF2B5EF4-FFF2-40B4-BE49-F238E27FC236}">
                <a16:creationId xmlns:a16="http://schemas.microsoft.com/office/drawing/2014/main" id="{6146E648-0BDD-7BD6-9A68-3714AFD1D903}"/>
              </a:ext>
            </a:extLst>
          </p:cNvPr>
          <p:cNvSpPr/>
          <p:nvPr/>
        </p:nvSpPr>
        <p:spPr>
          <a:xfrm>
            <a:off x="1332000" y="2138082"/>
            <a:ext cx="6480000" cy="2736000"/>
          </a:xfrm>
          <a:prstGeom prst="rect">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 name="文本框 3">
            <a:extLst>
              <a:ext uri="{FF2B5EF4-FFF2-40B4-BE49-F238E27FC236}">
                <a16:creationId xmlns:a16="http://schemas.microsoft.com/office/drawing/2014/main" id="{35A3DF28-D80D-FDDA-3A97-83C0A3B7CED3}"/>
              </a:ext>
            </a:extLst>
          </p:cNvPr>
          <p:cNvSpPr txBox="1"/>
          <p:nvPr/>
        </p:nvSpPr>
        <p:spPr>
          <a:xfrm>
            <a:off x="4732015" y="3748132"/>
            <a:ext cx="2880000" cy="738664"/>
          </a:xfrm>
          <a:prstGeom prst="rect">
            <a:avLst/>
          </a:prstGeom>
          <a:noFill/>
        </p:spPr>
        <p:txBody>
          <a:bodyPr wrap="square" rtlCol="0">
            <a:spAutoFit/>
          </a:bodyPr>
          <a:lstStyle>
            <a:defPPr>
              <a:defRPr lang="zh-CN"/>
            </a:defPPr>
            <a:lvl1pPr>
              <a:defRPr sz="1400"/>
            </a:lvl1pPr>
            <a:lvl2pPr marL="180000" lvl="1" indent="-180000">
              <a:buFont typeface="Arial" panose="020B0604020202020204" pitchFamily="34" charset="0"/>
              <a:buChar char="•"/>
              <a:defRPr sz="1400"/>
            </a:lvl2pPr>
          </a:lstStyle>
          <a:p>
            <a:r>
              <a:rPr lang="zh-CN" altLang="en-US" dirty="0">
                <a:solidFill>
                  <a:srgbClr val="D4237A"/>
                </a:solidFill>
                <a:latin typeface="+mj-lt"/>
                <a:ea typeface="+mj-ea"/>
              </a:rPr>
              <a:t>互联网 </a:t>
            </a:r>
            <a:r>
              <a:rPr lang="en-US" altLang="zh-CN" dirty="0">
                <a:solidFill>
                  <a:srgbClr val="D4237A"/>
                </a:solidFill>
                <a:latin typeface="+mj-lt"/>
                <a:ea typeface="+mj-ea"/>
              </a:rPr>
              <a:t>Internet</a:t>
            </a:r>
          </a:p>
          <a:p>
            <a:pPr lvl="1"/>
            <a:r>
              <a:rPr lang="zh-CN" altLang="en-US" dirty="0"/>
              <a:t>目前流行最广，事实上的标准译名</a:t>
            </a:r>
          </a:p>
        </p:txBody>
      </p:sp>
      <p:sp>
        <p:nvSpPr>
          <p:cNvPr id="5" name="文本框 4">
            <a:extLst>
              <a:ext uri="{FF2B5EF4-FFF2-40B4-BE49-F238E27FC236}">
                <a16:creationId xmlns:a16="http://schemas.microsoft.com/office/drawing/2014/main" id="{37CF2F00-C945-0E78-1683-30017BEAA056}"/>
              </a:ext>
            </a:extLst>
          </p:cNvPr>
          <p:cNvSpPr txBox="1"/>
          <p:nvPr/>
        </p:nvSpPr>
        <p:spPr>
          <a:xfrm>
            <a:off x="1531985" y="3748132"/>
            <a:ext cx="2880000" cy="954107"/>
          </a:xfrm>
          <a:prstGeom prst="rect">
            <a:avLst/>
          </a:prstGeom>
          <a:noFill/>
        </p:spPr>
        <p:txBody>
          <a:bodyPr wrap="square" rtlCol="0">
            <a:spAutoFit/>
          </a:bodyPr>
          <a:lstStyle>
            <a:defPPr>
              <a:defRPr lang="zh-CN"/>
            </a:defPPr>
            <a:lvl1pPr>
              <a:defRPr sz="1400"/>
            </a:lvl1pPr>
            <a:lvl2pPr marL="180000" lvl="1" indent="-180000">
              <a:buFont typeface="Arial" panose="020B0604020202020204" pitchFamily="34" charset="0"/>
              <a:buChar char="•"/>
              <a:defRPr sz="1400"/>
            </a:lvl2pPr>
          </a:lstStyle>
          <a:p>
            <a:r>
              <a:rPr lang="zh-CN" altLang="en-US" dirty="0">
                <a:latin typeface="+mj-lt"/>
                <a:ea typeface="+mj-ea"/>
              </a:rPr>
              <a:t>因特网 </a:t>
            </a:r>
            <a:endParaRPr lang="en-US" altLang="zh-CN" dirty="0">
              <a:latin typeface="+mj-lt"/>
              <a:ea typeface="+mj-ea"/>
            </a:endParaRPr>
          </a:p>
          <a:p>
            <a:pPr lvl="1"/>
            <a:r>
              <a:rPr lang="zh-CN" altLang="en-US" dirty="0"/>
              <a:t>全球最大、最重要的计算机网络</a:t>
            </a:r>
            <a:endParaRPr lang="en-US" altLang="zh-CN" dirty="0"/>
          </a:p>
          <a:p>
            <a:pPr lvl="1"/>
            <a:r>
              <a:rPr lang="zh-CN" altLang="en-US" dirty="0"/>
              <a:t>全国科学技术名词审定委员会推荐的规范译名</a:t>
            </a:r>
            <a:endParaRPr lang="en-US" altLang="zh-CN" dirty="0"/>
          </a:p>
        </p:txBody>
      </p:sp>
      <p:sp>
        <p:nvSpPr>
          <p:cNvPr id="3" name="文本框 2">
            <a:extLst>
              <a:ext uri="{FF2B5EF4-FFF2-40B4-BE49-F238E27FC236}">
                <a16:creationId xmlns:a16="http://schemas.microsoft.com/office/drawing/2014/main" id="{7555463B-94EF-655D-94E5-EF3D957FC885}"/>
              </a:ext>
            </a:extLst>
          </p:cNvPr>
          <p:cNvSpPr txBox="1"/>
          <p:nvPr/>
        </p:nvSpPr>
        <p:spPr>
          <a:xfrm>
            <a:off x="1531985" y="2356956"/>
            <a:ext cx="2880000" cy="1169551"/>
          </a:xfrm>
          <a:prstGeom prst="rect">
            <a:avLst/>
          </a:prstGeom>
          <a:noFill/>
        </p:spPr>
        <p:txBody>
          <a:bodyPr wrap="square" rtlCol="0">
            <a:spAutoFit/>
          </a:bodyPr>
          <a:lstStyle/>
          <a:p>
            <a:r>
              <a:rPr lang="zh-CN" altLang="en-US" sz="1400" dirty="0">
                <a:solidFill>
                  <a:srgbClr val="D4237A"/>
                </a:solidFill>
                <a:latin typeface="+mj-lt"/>
                <a:ea typeface="+mj-ea"/>
              </a:rPr>
              <a:t>网络 </a:t>
            </a:r>
            <a:r>
              <a:rPr lang="en-US" altLang="zh-CN" sz="1400" dirty="0">
                <a:solidFill>
                  <a:srgbClr val="D4237A"/>
                </a:solidFill>
                <a:latin typeface="+mj-lt"/>
                <a:ea typeface="+mj-ea"/>
              </a:rPr>
              <a:t>Network</a:t>
            </a:r>
          </a:p>
          <a:p>
            <a:pPr marL="180000" lvl="1" indent="-180000">
              <a:buFont typeface="Arial" panose="020B0604020202020204" pitchFamily="34" charset="0"/>
              <a:buChar char="•"/>
            </a:pPr>
            <a:r>
              <a:rPr lang="zh-CN" altLang="en-US" sz="1400" dirty="0"/>
              <a:t>通常指计算机网络</a:t>
            </a:r>
            <a:endParaRPr lang="en-US" altLang="zh-CN" sz="1400" dirty="0"/>
          </a:p>
          <a:p>
            <a:pPr marL="180000" lvl="1" indent="-180000">
              <a:buFont typeface="Arial" panose="020B0604020202020204" pitchFamily="34" charset="0"/>
              <a:buChar char="•"/>
            </a:pPr>
            <a:r>
              <a:rPr lang="zh-CN" altLang="en-US" sz="1400" dirty="0"/>
              <a:t>由若干节点（如计算机、路由器、交换机等）和连接这些节点的链路组成的系统</a:t>
            </a:r>
            <a:endParaRPr lang="en-US" altLang="zh-CN" sz="1400" dirty="0"/>
          </a:p>
        </p:txBody>
      </p:sp>
      <p:sp>
        <p:nvSpPr>
          <p:cNvPr id="6" name="文本框 5">
            <a:extLst>
              <a:ext uri="{FF2B5EF4-FFF2-40B4-BE49-F238E27FC236}">
                <a16:creationId xmlns:a16="http://schemas.microsoft.com/office/drawing/2014/main" id="{A11E7D3C-DF86-D55D-BD55-7AE67FA34539}"/>
              </a:ext>
            </a:extLst>
          </p:cNvPr>
          <p:cNvSpPr txBox="1"/>
          <p:nvPr/>
        </p:nvSpPr>
        <p:spPr>
          <a:xfrm>
            <a:off x="4732015" y="2356956"/>
            <a:ext cx="2880000" cy="738664"/>
          </a:xfrm>
          <a:prstGeom prst="rect">
            <a:avLst/>
          </a:prstGeom>
          <a:noFill/>
        </p:spPr>
        <p:txBody>
          <a:bodyPr wrap="square" rtlCol="0">
            <a:spAutoFit/>
          </a:bodyPr>
          <a:lstStyle>
            <a:defPPr>
              <a:defRPr lang="zh-CN"/>
            </a:defPPr>
            <a:lvl1pPr>
              <a:defRPr sz="1400"/>
            </a:lvl1pPr>
            <a:lvl2pPr marL="180000" lvl="1" indent="-180000">
              <a:buFont typeface="Arial" panose="020B0604020202020204" pitchFamily="34" charset="0"/>
              <a:buChar char="•"/>
              <a:defRPr sz="1400"/>
            </a:lvl2pPr>
          </a:lstStyle>
          <a:p>
            <a:r>
              <a:rPr lang="zh-CN" altLang="en-US" dirty="0">
                <a:latin typeface="+mj-lt"/>
                <a:ea typeface="+mj-ea"/>
              </a:rPr>
              <a:t>互连网 </a:t>
            </a:r>
            <a:r>
              <a:rPr lang="en-US" altLang="zh-CN" dirty="0">
                <a:latin typeface="+mj-lt"/>
                <a:ea typeface="+mj-ea"/>
              </a:rPr>
              <a:t>internet</a:t>
            </a:r>
          </a:p>
          <a:p>
            <a:pPr lvl="1"/>
            <a:r>
              <a:rPr lang="zh-CN" altLang="en-US" dirty="0"/>
              <a:t>泛指任何由多个网络通过路由器互联而成的计算机网络</a:t>
            </a:r>
          </a:p>
        </p:txBody>
      </p:sp>
      <p:cxnSp>
        <p:nvCxnSpPr>
          <p:cNvPr id="12" name="直接连接符 11">
            <a:extLst>
              <a:ext uri="{FF2B5EF4-FFF2-40B4-BE49-F238E27FC236}">
                <a16:creationId xmlns:a16="http://schemas.microsoft.com/office/drawing/2014/main" id="{4B21DCC5-7938-972C-4523-CD66C45C0342}"/>
              </a:ext>
            </a:extLst>
          </p:cNvPr>
          <p:cNvCxnSpPr>
            <a:stCxn id="7" idx="1"/>
            <a:endCxn id="7" idx="3"/>
          </p:cNvCxnSpPr>
          <p:nvPr/>
        </p:nvCxnSpPr>
        <p:spPr>
          <a:xfrm>
            <a:off x="1332000" y="3506082"/>
            <a:ext cx="6480000" cy="0"/>
          </a:xfrm>
          <a:prstGeom prst="line">
            <a:avLst/>
          </a:prstGeom>
          <a:ln w="38100">
            <a:solidFill>
              <a:schemeClr val="bg1"/>
            </a:solidFill>
          </a:ln>
        </p:spPr>
        <p:style>
          <a:lnRef idx="1">
            <a:schemeClr val="accent1"/>
          </a:lnRef>
          <a:fillRef idx="0">
            <a:schemeClr val="accent1"/>
          </a:fillRef>
          <a:effectRef idx="0">
            <a:schemeClr val="accent1"/>
          </a:effectRef>
          <a:fontRef idx="minor">
            <a:schemeClr val="tx1"/>
          </a:fontRef>
        </p:style>
      </p:cxnSp>
      <p:cxnSp>
        <p:nvCxnSpPr>
          <p:cNvPr id="14" name="直接连接符 13">
            <a:extLst>
              <a:ext uri="{FF2B5EF4-FFF2-40B4-BE49-F238E27FC236}">
                <a16:creationId xmlns:a16="http://schemas.microsoft.com/office/drawing/2014/main" id="{2E6F8A27-9DD6-397B-980E-68EA55DBF68D}"/>
              </a:ext>
            </a:extLst>
          </p:cNvPr>
          <p:cNvCxnSpPr>
            <a:stCxn id="7" idx="0"/>
            <a:endCxn id="7" idx="2"/>
          </p:cNvCxnSpPr>
          <p:nvPr/>
        </p:nvCxnSpPr>
        <p:spPr>
          <a:xfrm>
            <a:off x="4572000" y="2138082"/>
            <a:ext cx="0" cy="2736000"/>
          </a:xfrm>
          <a:prstGeom prst="line">
            <a:avLst/>
          </a:prstGeom>
          <a:ln w="38100">
            <a:solidFill>
              <a:schemeClr val="bg1"/>
            </a:solidFill>
          </a:ln>
        </p:spPr>
        <p:style>
          <a:lnRef idx="1">
            <a:schemeClr val="accent1"/>
          </a:lnRef>
          <a:fillRef idx="0">
            <a:schemeClr val="accent1"/>
          </a:fillRef>
          <a:effectRef idx="0">
            <a:schemeClr val="accent1"/>
          </a:effectRef>
          <a:fontRef idx="minor">
            <a:schemeClr val="tx1"/>
          </a:fontRef>
        </p:style>
      </p:cxnSp>
      <p:sp>
        <p:nvSpPr>
          <p:cNvPr id="15" name="文本框 14">
            <a:extLst>
              <a:ext uri="{FF2B5EF4-FFF2-40B4-BE49-F238E27FC236}">
                <a16:creationId xmlns:a16="http://schemas.microsoft.com/office/drawing/2014/main" id="{62C03C28-BC7B-21CA-1EDA-026633536934}"/>
              </a:ext>
            </a:extLst>
          </p:cNvPr>
          <p:cNvSpPr txBox="1"/>
          <p:nvPr/>
        </p:nvSpPr>
        <p:spPr>
          <a:xfrm>
            <a:off x="1332000" y="441261"/>
            <a:ext cx="800219" cy="461665"/>
          </a:xfrm>
          <a:prstGeom prst="rect">
            <a:avLst/>
          </a:prstGeom>
          <a:noFill/>
        </p:spPr>
        <p:txBody>
          <a:bodyPr wrap="none" rtlCol="0">
            <a:spAutoFit/>
          </a:bodyPr>
          <a:lstStyle/>
          <a:p>
            <a:pPr algn="l"/>
            <a:r>
              <a:rPr lang="zh-CN" altLang="en-US" sz="2400" dirty="0">
                <a:solidFill>
                  <a:schemeClr val="bg1"/>
                </a:solidFill>
              </a:rPr>
              <a:t>概念</a:t>
            </a:r>
          </a:p>
        </p:txBody>
      </p:sp>
      <p:sp>
        <p:nvSpPr>
          <p:cNvPr id="16" name="文本框 15">
            <a:extLst>
              <a:ext uri="{FF2B5EF4-FFF2-40B4-BE49-F238E27FC236}">
                <a16:creationId xmlns:a16="http://schemas.microsoft.com/office/drawing/2014/main" id="{5DA3B6C4-FB3D-D0B9-47C8-1D0007C281DC}"/>
              </a:ext>
            </a:extLst>
          </p:cNvPr>
          <p:cNvSpPr txBox="1"/>
          <p:nvPr/>
        </p:nvSpPr>
        <p:spPr>
          <a:xfrm>
            <a:off x="1332000" y="899764"/>
            <a:ext cx="1572866" cy="338554"/>
          </a:xfrm>
          <a:prstGeom prst="rect">
            <a:avLst/>
          </a:prstGeom>
          <a:noFill/>
        </p:spPr>
        <p:txBody>
          <a:bodyPr wrap="none" rtlCol="0">
            <a:spAutoFit/>
          </a:bodyPr>
          <a:lstStyle/>
          <a:p>
            <a:pPr algn="l"/>
            <a:r>
              <a:rPr lang="en-US" altLang="zh-CN" sz="1600" spc="400" dirty="0">
                <a:solidFill>
                  <a:schemeClr val="bg1"/>
                </a:solidFill>
              </a:rPr>
              <a:t>Concepts</a:t>
            </a:r>
            <a:endParaRPr lang="zh-CN" altLang="en-US" sz="1600" spc="400" dirty="0">
              <a:solidFill>
                <a:schemeClr val="bg1"/>
              </a:solidFill>
            </a:endParaRPr>
          </a:p>
        </p:txBody>
      </p:sp>
    </p:spTree>
    <p:extLst>
      <p:ext uri="{BB962C8B-B14F-4D97-AF65-F5344CB8AC3E}">
        <p14:creationId xmlns:p14="http://schemas.microsoft.com/office/powerpoint/2010/main" val="323874768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标题 7">
            <a:extLst>
              <a:ext uri="{FF2B5EF4-FFF2-40B4-BE49-F238E27FC236}">
                <a16:creationId xmlns:a16="http://schemas.microsoft.com/office/drawing/2014/main" id="{278D4748-C87A-71A8-D079-50F124F4E3FB}"/>
              </a:ext>
            </a:extLst>
          </p:cNvPr>
          <p:cNvSpPr>
            <a:spLocks noGrp="1"/>
          </p:cNvSpPr>
          <p:nvPr>
            <p:ph type="title"/>
          </p:nvPr>
        </p:nvSpPr>
        <p:spPr>
          <a:xfrm>
            <a:off x="612000" y="229850"/>
            <a:ext cx="7920000" cy="341632"/>
          </a:xfrm>
        </p:spPr>
        <p:txBody>
          <a:bodyPr/>
          <a:lstStyle/>
          <a:p>
            <a:r>
              <a:rPr lang="zh-CN" altLang="en-US" dirty="0"/>
              <a:t>互联网 </a:t>
            </a:r>
            <a:r>
              <a:rPr lang="en-US" altLang="zh-CN" dirty="0"/>
              <a:t>Internet</a:t>
            </a:r>
            <a:endParaRPr lang="zh-CN" altLang="en-US" dirty="0"/>
          </a:p>
        </p:txBody>
      </p:sp>
      <p:sp>
        <p:nvSpPr>
          <p:cNvPr id="2" name="矩形: 圆角 1">
            <a:extLst>
              <a:ext uri="{FF2B5EF4-FFF2-40B4-BE49-F238E27FC236}">
                <a16:creationId xmlns:a16="http://schemas.microsoft.com/office/drawing/2014/main" id="{3E37B869-1816-3E28-9305-A5B5E7552E2F}"/>
              </a:ext>
            </a:extLst>
          </p:cNvPr>
          <p:cNvSpPr/>
          <p:nvPr/>
        </p:nvSpPr>
        <p:spPr>
          <a:xfrm>
            <a:off x="502920" y="1999395"/>
            <a:ext cx="1534886" cy="816428"/>
          </a:xfrm>
          <a:prstGeom prst="roundRect">
            <a:avLst/>
          </a:prstGeom>
          <a:solidFill>
            <a:srgbClr val="D4237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r>
              <a:rPr lang="zh-CN" altLang="en-US" dirty="0"/>
              <a:t>应用和服务</a:t>
            </a:r>
          </a:p>
        </p:txBody>
      </p:sp>
      <p:sp>
        <p:nvSpPr>
          <p:cNvPr id="4" name="矩形: 圆角 3">
            <a:extLst>
              <a:ext uri="{FF2B5EF4-FFF2-40B4-BE49-F238E27FC236}">
                <a16:creationId xmlns:a16="http://schemas.microsoft.com/office/drawing/2014/main" id="{2D0B2BA3-553E-94E5-46B4-E7CA24C0AEE5}"/>
              </a:ext>
            </a:extLst>
          </p:cNvPr>
          <p:cNvSpPr/>
          <p:nvPr/>
        </p:nvSpPr>
        <p:spPr>
          <a:xfrm>
            <a:off x="502920" y="3069655"/>
            <a:ext cx="1534886" cy="816428"/>
          </a:xfrm>
          <a:prstGeom prst="roundRect">
            <a:avLst/>
          </a:prstGeom>
          <a:solidFill>
            <a:srgbClr val="D4237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r>
              <a:rPr lang="zh-CN" altLang="en-US" dirty="0"/>
              <a:t>工作原理</a:t>
            </a:r>
          </a:p>
        </p:txBody>
      </p:sp>
      <p:sp>
        <p:nvSpPr>
          <p:cNvPr id="5" name="文本框 4">
            <a:extLst>
              <a:ext uri="{FF2B5EF4-FFF2-40B4-BE49-F238E27FC236}">
                <a16:creationId xmlns:a16="http://schemas.microsoft.com/office/drawing/2014/main" id="{3325FA8D-4986-E4C0-FBE0-7445B07D82B5}"/>
              </a:ext>
            </a:extLst>
          </p:cNvPr>
          <p:cNvSpPr txBox="1"/>
          <p:nvPr/>
        </p:nvSpPr>
        <p:spPr>
          <a:xfrm>
            <a:off x="2184694" y="1992111"/>
            <a:ext cx="4264629" cy="830997"/>
          </a:xfrm>
          <a:prstGeom prst="rect">
            <a:avLst/>
          </a:prstGeom>
          <a:noFill/>
        </p:spPr>
        <p:txBody>
          <a:bodyPr wrap="none" rtlCol="0">
            <a:spAutoFit/>
          </a:bodyPr>
          <a:lstStyle/>
          <a:p>
            <a:pPr marL="180000" lvl="0" indent="-180000">
              <a:buClr>
                <a:srgbClr val="D4237A"/>
              </a:buClr>
              <a:buFont typeface="Wingdings" panose="05000000000000000000" pitchFamily="2" charset="2"/>
              <a:buChar char=""/>
            </a:pPr>
            <a:r>
              <a:rPr lang="zh-CN" altLang="en-US" sz="1600" dirty="0"/>
              <a:t>游戏，视频，社交，电子邮件，购物，网店</a:t>
            </a:r>
          </a:p>
          <a:p>
            <a:pPr marL="180000" lvl="0" indent="-180000">
              <a:buClr>
                <a:srgbClr val="D4237A"/>
              </a:buClr>
              <a:buFont typeface="Wingdings" panose="05000000000000000000" pitchFamily="2" charset="2"/>
              <a:buChar char=""/>
            </a:pPr>
            <a:r>
              <a:rPr lang="zh-CN" altLang="en-US" sz="1600" dirty="0"/>
              <a:t>网银，无现金支付，数字钱包，数字货币</a:t>
            </a:r>
            <a:endParaRPr lang="en-US" altLang="zh-CN" sz="1600" dirty="0"/>
          </a:p>
          <a:p>
            <a:pPr marL="180000" lvl="0" indent="-180000">
              <a:buClr>
                <a:srgbClr val="D4237A"/>
              </a:buClr>
              <a:buFont typeface="Wingdings" panose="05000000000000000000" pitchFamily="2" charset="2"/>
              <a:buChar char=""/>
            </a:pPr>
            <a:r>
              <a:rPr lang="en-US" altLang="zh-CN" sz="1600" dirty="0"/>
              <a:t>…</a:t>
            </a:r>
            <a:endParaRPr lang="zh-CN" altLang="en-US" sz="1600" dirty="0"/>
          </a:p>
        </p:txBody>
      </p:sp>
      <p:sp>
        <p:nvSpPr>
          <p:cNvPr id="6" name="文本框 5">
            <a:extLst>
              <a:ext uri="{FF2B5EF4-FFF2-40B4-BE49-F238E27FC236}">
                <a16:creationId xmlns:a16="http://schemas.microsoft.com/office/drawing/2014/main" id="{CB271D9C-D3BC-92B9-A276-30CBF2306F2D}"/>
              </a:ext>
            </a:extLst>
          </p:cNvPr>
          <p:cNvSpPr txBox="1"/>
          <p:nvPr/>
        </p:nvSpPr>
        <p:spPr>
          <a:xfrm>
            <a:off x="2184694" y="3062371"/>
            <a:ext cx="2547813" cy="830997"/>
          </a:xfrm>
          <a:prstGeom prst="rect">
            <a:avLst/>
          </a:prstGeom>
          <a:noFill/>
        </p:spPr>
        <p:txBody>
          <a:bodyPr wrap="none" rtlCol="0">
            <a:spAutoFit/>
          </a:bodyPr>
          <a:lstStyle/>
          <a:p>
            <a:pPr marL="180000" lvl="0" indent="-180000">
              <a:buClr>
                <a:srgbClr val="D4237A"/>
              </a:buClr>
              <a:buFont typeface="Wingdings" panose="05000000000000000000" pitchFamily="2" charset="2"/>
              <a:buChar char=""/>
            </a:pPr>
            <a:r>
              <a:rPr lang="zh-CN" altLang="en-US" sz="1600" dirty="0"/>
              <a:t>互连结构，交换技术，</a:t>
            </a:r>
          </a:p>
          <a:p>
            <a:pPr marL="180000" lvl="0" indent="-180000">
              <a:buClr>
                <a:srgbClr val="D4237A"/>
              </a:buClr>
              <a:buFont typeface="Wingdings" panose="05000000000000000000" pitchFamily="2" charset="2"/>
              <a:buChar char=""/>
            </a:pPr>
            <a:r>
              <a:rPr lang="en-US" altLang="zh-CN" sz="1600" dirty="0"/>
              <a:t>TCP/IP </a:t>
            </a:r>
            <a:r>
              <a:rPr lang="zh-CN" altLang="en-US" sz="1600" dirty="0"/>
              <a:t>体系结构与协议</a:t>
            </a:r>
            <a:endParaRPr lang="en-US" altLang="zh-CN" sz="1600" dirty="0"/>
          </a:p>
          <a:p>
            <a:pPr marL="180000" lvl="0" indent="-180000">
              <a:buClr>
                <a:srgbClr val="D4237A"/>
              </a:buClr>
              <a:buFont typeface="Wingdings" panose="05000000000000000000" pitchFamily="2" charset="2"/>
              <a:buChar char=""/>
            </a:pPr>
            <a:r>
              <a:rPr lang="en-US" altLang="zh-CN" sz="1600" dirty="0"/>
              <a:t>…</a:t>
            </a:r>
          </a:p>
        </p:txBody>
      </p:sp>
    </p:spTree>
    <p:extLst>
      <p:ext uri="{BB962C8B-B14F-4D97-AF65-F5344CB8AC3E}">
        <p14:creationId xmlns:p14="http://schemas.microsoft.com/office/powerpoint/2010/main" val="2543076053"/>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EE21791-296C-EBF9-AD63-EE60FD86AA72}"/>
              </a:ext>
            </a:extLst>
          </p:cNvPr>
          <p:cNvSpPr>
            <a:spLocks noGrp="1"/>
          </p:cNvSpPr>
          <p:nvPr>
            <p:ph type="title"/>
          </p:nvPr>
        </p:nvSpPr>
        <p:spPr>
          <a:xfrm>
            <a:off x="612000" y="229850"/>
            <a:ext cx="7920000" cy="341632"/>
          </a:xfrm>
        </p:spPr>
        <p:txBody>
          <a:bodyPr/>
          <a:lstStyle/>
          <a:p>
            <a:r>
              <a:rPr lang="zh-CN" altLang="en-US" dirty="0"/>
              <a:t>互联网 </a:t>
            </a:r>
            <a:r>
              <a:rPr lang="en-US" altLang="zh-CN" dirty="0"/>
              <a:t>Internet</a:t>
            </a:r>
            <a:endParaRPr lang="zh-CN" altLang="en-US" dirty="0"/>
          </a:p>
        </p:txBody>
      </p:sp>
      <p:sp>
        <p:nvSpPr>
          <p:cNvPr id="7" name="内容占位符 6">
            <a:extLst>
              <a:ext uri="{FF2B5EF4-FFF2-40B4-BE49-F238E27FC236}">
                <a16:creationId xmlns:a16="http://schemas.microsoft.com/office/drawing/2014/main" id="{ABAF985D-B81E-56BA-3791-47EDB9E1C940}"/>
              </a:ext>
            </a:extLst>
          </p:cNvPr>
          <p:cNvSpPr>
            <a:spLocks noGrp="1"/>
          </p:cNvSpPr>
          <p:nvPr>
            <p:ph sz="quarter" idx="10"/>
          </p:nvPr>
        </p:nvSpPr>
        <p:spPr>
          <a:xfrm>
            <a:off x="612000" y="1152000"/>
            <a:ext cx="7920000" cy="3496659"/>
          </a:xfrm>
        </p:spPr>
        <p:txBody>
          <a:bodyPr/>
          <a:lstStyle/>
          <a:p>
            <a:r>
              <a:rPr lang="zh-CN" altLang="en-US" dirty="0"/>
              <a:t>重要基本特点</a:t>
            </a:r>
            <a:endParaRPr lang="en-US" altLang="zh-CN" dirty="0"/>
          </a:p>
          <a:p>
            <a:pPr lvl="1"/>
            <a:r>
              <a:rPr lang="zh-CN" altLang="en-US" dirty="0">
                <a:solidFill>
                  <a:srgbClr val="D4237A"/>
                </a:solidFill>
              </a:rPr>
              <a:t>连通性 </a:t>
            </a:r>
            <a:r>
              <a:rPr lang="en-US" altLang="en-US" dirty="0">
                <a:solidFill>
                  <a:srgbClr val="D4237A"/>
                </a:solidFill>
              </a:rPr>
              <a:t>connectivity</a:t>
            </a:r>
            <a:endParaRPr lang="en-US" altLang="zh-CN" dirty="0">
              <a:solidFill>
                <a:srgbClr val="D4237A"/>
              </a:solidFill>
            </a:endParaRPr>
          </a:p>
          <a:p>
            <a:pPr lvl="2"/>
            <a:r>
              <a:rPr lang="zh-CN" altLang="en-US" dirty="0"/>
              <a:t>使上网用户之间可以非常便捷、非常经济地交换各种信息</a:t>
            </a:r>
          </a:p>
          <a:p>
            <a:pPr lvl="2"/>
            <a:r>
              <a:rPr lang="zh-CN" altLang="en-US" dirty="0"/>
              <a:t>好像这些用户终端都彼此直接连通一样</a:t>
            </a:r>
            <a:endParaRPr lang="en-US" altLang="zh-CN" dirty="0"/>
          </a:p>
          <a:p>
            <a:pPr lvl="1"/>
            <a:r>
              <a:rPr lang="zh-CN" altLang="en-US" dirty="0">
                <a:solidFill>
                  <a:srgbClr val="D4237A"/>
                </a:solidFill>
              </a:rPr>
              <a:t>资源共享 </a:t>
            </a:r>
            <a:r>
              <a:rPr lang="en-US" altLang="en-US" dirty="0">
                <a:solidFill>
                  <a:srgbClr val="D4237A"/>
                </a:solidFill>
              </a:rPr>
              <a:t>Sharing</a:t>
            </a:r>
            <a:endParaRPr lang="zh-CN" altLang="en-US" dirty="0">
              <a:solidFill>
                <a:srgbClr val="D4237A"/>
              </a:solidFill>
            </a:endParaRPr>
          </a:p>
          <a:p>
            <a:pPr lvl="2"/>
            <a:r>
              <a:rPr lang="zh-CN" altLang="en-US" dirty="0"/>
              <a:t>实现信息共享、软件共享、硬件共享</a:t>
            </a:r>
          </a:p>
          <a:p>
            <a:pPr lvl="2"/>
            <a:r>
              <a:rPr lang="zh-CN" altLang="en-US" dirty="0"/>
              <a:t>由于网络的存在，这些资源好像就在用户身边一样地方便使用</a:t>
            </a:r>
          </a:p>
          <a:p>
            <a:r>
              <a:rPr lang="zh-CN" altLang="en-US" dirty="0"/>
              <a:t>是 </a:t>
            </a:r>
            <a:r>
              <a:rPr lang="en-US" altLang="zh-CN" dirty="0"/>
              <a:t>Internet </a:t>
            </a:r>
            <a:r>
              <a:rPr lang="zh-CN" altLang="en-US" dirty="0"/>
              <a:t>提供许多服务的基础</a:t>
            </a:r>
            <a:endParaRPr lang="en-US" altLang="zh-CN" dirty="0"/>
          </a:p>
          <a:p>
            <a:r>
              <a:rPr lang="zh-CN" altLang="en-US" dirty="0"/>
              <a:t>已经融入人们的生活、工作、学习和交往</a:t>
            </a:r>
            <a:endParaRPr lang="en-US" altLang="zh-CN" dirty="0"/>
          </a:p>
          <a:p>
            <a:r>
              <a:rPr lang="zh-CN" altLang="en-US" dirty="0"/>
              <a:t>已经成为社会最为重要的基础设施之一</a:t>
            </a:r>
          </a:p>
        </p:txBody>
      </p:sp>
      <p:grpSp>
        <p:nvGrpSpPr>
          <p:cNvPr id="29" name="组合 28">
            <a:extLst>
              <a:ext uri="{FF2B5EF4-FFF2-40B4-BE49-F238E27FC236}">
                <a16:creationId xmlns:a16="http://schemas.microsoft.com/office/drawing/2014/main" id="{FB04CF3D-0FF1-8C06-3D13-FE94703E225E}"/>
              </a:ext>
            </a:extLst>
          </p:cNvPr>
          <p:cNvGrpSpPr/>
          <p:nvPr/>
        </p:nvGrpSpPr>
        <p:grpSpPr>
          <a:xfrm>
            <a:off x="5664865" y="823071"/>
            <a:ext cx="1472624" cy="1472624"/>
            <a:chOff x="5416094" y="970989"/>
            <a:chExt cx="1472624" cy="1472624"/>
          </a:xfrm>
        </p:grpSpPr>
        <p:grpSp>
          <p:nvGrpSpPr>
            <p:cNvPr id="19" name="组合 18">
              <a:extLst>
                <a:ext uri="{FF2B5EF4-FFF2-40B4-BE49-F238E27FC236}">
                  <a16:creationId xmlns:a16="http://schemas.microsoft.com/office/drawing/2014/main" id="{A3325BA3-8F8E-2EC8-6EE2-D4F9F17235AA}"/>
                </a:ext>
              </a:extLst>
            </p:cNvPr>
            <p:cNvGrpSpPr/>
            <p:nvPr/>
          </p:nvGrpSpPr>
          <p:grpSpPr>
            <a:xfrm>
              <a:off x="5416094" y="970989"/>
              <a:ext cx="1472624" cy="1472624"/>
              <a:chOff x="1674457" y="2181224"/>
              <a:chExt cx="3240000" cy="3240000"/>
            </a:xfrm>
          </p:grpSpPr>
          <p:sp>
            <p:nvSpPr>
              <p:cNvPr id="20" name="任意多边形: 形状 19">
                <a:extLst>
                  <a:ext uri="{FF2B5EF4-FFF2-40B4-BE49-F238E27FC236}">
                    <a16:creationId xmlns:a16="http://schemas.microsoft.com/office/drawing/2014/main" id="{A5270FAD-D64F-D257-4384-DD968908CF25}"/>
                  </a:ext>
                </a:extLst>
              </p:cNvPr>
              <p:cNvSpPr/>
              <p:nvPr/>
            </p:nvSpPr>
            <p:spPr>
              <a:xfrm>
                <a:off x="1674457" y="2181224"/>
                <a:ext cx="3240000" cy="1620000"/>
              </a:xfrm>
              <a:custGeom>
                <a:avLst/>
                <a:gdLst>
                  <a:gd name="connsiteX0" fmla="*/ 1620000 w 3240000"/>
                  <a:gd name="connsiteY0" fmla="*/ 0 h 1620000"/>
                  <a:gd name="connsiteX1" fmla="*/ 3240000 w 3240000"/>
                  <a:gd name="connsiteY1" fmla="*/ 1620000 h 1620000"/>
                  <a:gd name="connsiteX2" fmla="*/ 0 w 3240000"/>
                  <a:gd name="connsiteY2" fmla="*/ 1620000 h 1620000"/>
                  <a:gd name="connsiteX3" fmla="*/ 1620000 w 3240000"/>
                  <a:gd name="connsiteY3" fmla="*/ 0 h 1620000"/>
                </a:gdLst>
                <a:ahLst/>
                <a:cxnLst>
                  <a:cxn ang="0">
                    <a:pos x="connsiteX0" y="connsiteY0"/>
                  </a:cxn>
                  <a:cxn ang="0">
                    <a:pos x="connsiteX1" y="connsiteY1"/>
                  </a:cxn>
                  <a:cxn ang="0">
                    <a:pos x="connsiteX2" y="connsiteY2"/>
                  </a:cxn>
                  <a:cxn ang="0">
                    <a:pos x="connsiteX3" y="connsiteY3"/>
                  </a:cxn>
                </a:cxnLst>
                <a:rect l="l" t="t" r="r" b="b"/>
                <a:pathLst>
                  <a:path w="3240000" h="1620000">
                    <a:moveTo>
                      <a:pt x="1620000" y="0"/>
                    </a:moveTo>
                    <a:cubicBezTo>
                      <a:pt x="2514701" y="0"/>
                      <a:pt x="3240000" y="725299"/>
                      <a:pt x="3240000" y="1620000"/>
                    </a:cubicBezTo>
                    <a:lnTo>
                      <a:pt x="0" y="1620000"/>
                    </a:lnTo>
                    <a:cubicBezTo>
                      <a:pt x="0" y="725299"/>
                      <a:pt x="725299" y="0"/>
                      <a:pt x="1620000" y="0"/>
                    </a:cubicBezTo>
                    <a:close/>
                  </a:path>
                </a:pathLst>
              </a:custGeom>
              <a:solidFill>
                <a:srgbClr val="D4237A"/>
              </a:solidFill>
              <a:ln/>
            </p:spPr>
            <p:style>
              <a:lnRef idx="0">
                <a:schemeClr val="accent2"/>
              </a:lnRef>
              <a:fillRef idx="3">
                <a:schemeClr val="accent2"/>
              </a:fillRef>
              <a:effectRef idx="3">
                <a:schemeClr val="accent2"/>
              </a:effectRef>
              <a:fontRef idx="minor">
                <a:schemeClr val="lt1"/>
              </a:fontRef>
            </p:style>
            <p:txBody>
              <a:bodyPr wrap="square" rtlCol="0" anchor="ctr">
                <a:noAutofit/>
              </a:bodyPr>
              <a:lstStyle/>
              <a:p>
                <a:pPr algn="ctr"/>
                <a:endParaRPr lang="zh-CN" altLang="en-US" sz="1100"/>
              </a:p>
            </p:txBody>
          </p:sp>
          <p:sp>
            <p:nvSpPr>
              <p:cNvPr id="21" name="任意多边形: 形状 20">
                <a:extLst>
                  <a:ext uri="{FF2B5EF4-FFF2-40B4-BE49-F238E27FC236}">
                    <a16:creationId xmlns:a16="http://schemas.microsoft.com/office/drawing/2014/main" id="{79624847-FE86-A27E-ABE2-9B780813BF0D}"/>
                  </a:ext>
                </a:extLst>
              </p:cNvPr>
              <p:cNvSpPr/>
              <p:nvPr/>
            </p:nvSpPr>
            <p:spPr>
              <a:xfrm flipV="1">
                <a:off x="1674457" y="3801224"/>
                <a:ext cx="3240000" cy="1620000"/>
              </a:xfrm>
              <a:custGeom>
                <a:avLst/>
                <a:gdLst>
                  <a:gd name="connsiteX0" fmla="*/ 1620000 w 3240000"/>
                  <a:gd name="connsiteY0" fmla="*/ 0 h 1620000"/>
                  <a:gd name="connsiteX1" fmla="*/ 3240000 w 3240000"/>
                  <a:gd name="connsiteY1" fmla="*/ 1620000 h 1620000"/>
                  <a:gd name="connsiteX2" fmla="*/ 0 w 3240000"/>
                  <a:gd name="connsiteY2" fmla="*/ 1620000 h 1620000"/>
                  <a:gd name="connsiteX3" fmla="*/ 1620000 w 3240000"/>
                  <a:gd name="connsiteY3" fmla="*/ 0 h 1620000"/>
                </a:gdLst>
                <a:ahLst/>
                <a:cxnLst>
                  <a:cxn ang="0">
                    <a:pos x="connsiteX0" y="connsiteY0"/>
                  </a:cxn>
                  <a:cxn ang="0">
                    <a:pos x="connsiteX1" y="connsiteY1"/>
                  </a:cxn>
                  <a:cxn ang="0">
                    <a:pos x="connsiteX2" y="connsiteY2"/>
                  </a:cxn>
                  <a:cxn ang="0">
                    <a:pos x="connsiteX3" y="connsiteY3"/>
                  </a:cxn>
                </a:cxnLst>
                <a:rect l="l" t="t" r="r" b="b"/>
                <a:pathLst>
                  <a:path w="3240000" h="1620000">
                    <a:moveTo>
                      <a:pt x="1620000" y="0"/>
                    </a:moveTo>
                    <a:cubicBezTo>
                      <a:pt x="2514701" y="0"/>
                      <a:pt x="3240000" y="725299"/>
                      <a:pt x="3240000" y="1620000"/>
                    </a:cubicBezTo>
                    <a:lnTo>
                      <a:pt x="0" y="1620000"/>
                    </a:lnTo>
                    <a:cubicBezTo>
                      <a:pt x="0" y="725299"/>
                      <a:pt x="725299" y="0"/>
                      <a:pt x="1620000" y="0"/>
                    </a:cubicBezTo>
                    <a:close/>
                  </a:path>
                </a:pathLst>
              </a:custGeom>
              <a:noFill/>
              <a:ln>
                <a:solidFill>
                  <a:srgbClr val="D4237A"/>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100"/>
              </a:p>
            </p:txBody>
          </p:sp>
        </p:grpSp>
        <p:pic>
          <p:nvPicPr>
            <p:cNvPr id="22" name="图形 21" descr="云计算">
              <a:extLst>
                <a:ext uri="{FF2B5EF4-FFF2-40B4-BE49-F238E27FC236}">
                  <a16:creationId xmlns:a16="http://schemas.microsoft.com/office/drawing/2014/main" id="{D29654F1-403B-72FD-F592-30D09CEF64E6}"/>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5944603" y="1221771"/>
              <a:ext cx="415607" cy="415607"/>
            </a:xfrm>
            <a:prstGeom prst="rect">
              <a:avLst/>
            </a:prstGeom>
            <a:effectLst>
              <a:outerShdw blurRad="50800" dist="38100" dir="2700000" algn="tl" rotWithShape="0">
                <a:prstClr val="black">
                  <a:alpha val="40000"/>
                </a:prstClr>
              </a:outerShdw>
            </a:effectLst>
          </p:spPr>
        </p:pic>
        <p:sp>
          <p:nvSpPr>
            <p:cNvPr id="24" name="文本框 23">
              <a:extLst>
                <a:ext uri="{FF2B5EF4-FFF2-40B4-BE49-F238E27FC236}">
                  <a16:creationId xmlns:a16="http://schemas.microsoft.com/office/drawing/2014/main" id="{4A293751-3AE4-D960-5FCE-B2A774FF14E9}"/>
                </a:ext>
              </a:extLst>
            </p:cNvPr>
            <p:cNvSpPr txBox="1"/>
            <p:nvPr/>
          </p:nvSpPr>
          <p:spPr>
            <a:xfrm>
              <a:off x="5880537" y="1783242"/>
              <a:ext cx="543739" cy="307777"/>
            </a:xfrm>
            <a:prstGeom prst="rect">
              <a:avLst/>
            </a:prstGeom>
            <a:noFill/>
          </p:spPr>
          <p:txBody>
            <a:bodyPr wrap="none" rtlCol="0">
              <a:spAutoFit/>
            </a:bodyPr>
            <a:lstStyle/>
            <a:p>
              <a:pPr algn="ctr"/>
              <a:r>
                <a:rPr lang="zh-CN" altLang="en-US" sz="1400" dirty="0"/>
                <a:t>连通</a:t>
              </a:r>
            </a:p>
          </p:txBody>
        </p:sp>
        <p:sp>
          <p:nvSpPr>
            <p:cNvPr id="25" name="文本框 24">
              <a:extLst>
                <a:ext uri="{FF2B5EF4-FFF2-40B4-BE49-F238E27FC236}">
                  <a16:creationId xmlns:a16="http://schemas.microsoft.com/office/drawing/2014/main" id="{1D8FDD19-5312-EEDE-32BE-4A17CA6744E8}"/>
                </a:ext>
              </a:extLst>
            </p:cNvPr>
            <p:cNvSpPr txBox="1"/>
            <p:nvPr/>
          </p:nvSpPr>
          <p:spPr>
            <a:xfrm>
              <a:off x="5575163" y="1989017"/>
              <a:ext cx="1154483" cy="276999"/>
            </a:xfrm>
            <a:prstGeom prst="rect">
              <a:avLst/>
            </a:prstGeom>
            <a:noFill/>
          </p:spPr>
          <p:txBody>
            <a:bodyPr wrap="none" rtlCol="0">
              <a:spAutoFit/>
            </a:bodyPr>
            <a:lstStyle/>
            <a:p>
              <a:pPr algn="ctr"/>
              <a:r>
                <a:rPr lang="en-US" altLang="zh-CN" sz="1200" dirty="0"/>
                <a:t>Connectivity</a:t>
              </a:r>
              <a:endParaRPr lang="zh-CN" altLang="en-US" sz="1200" dirty="0"/>
            </a:p>
          </p:txBody>
        </p:sp>
      </p:grpSp>
      <p:grpSp>
        <p:nvGrpSpPr>
          <p:cNvPr id="30" name="组合 29">
            <a:extLst>
              <a:ext uri="{FF2B5EF4-FFF2-40B4-BE49-F238E27FC236}">
                <a16:creationId xmlns:a16="http://schemas.microsoft.com/office/drawing/2014/main" id="{49963E4F-8712-5C57-3EB3-0A35CE9ABBB5}"/>
              </a:ext>
            </a:extLst>
          </p:cNvPr>
          <p:cNvGrpSpPr/>
          <p:nvPr/>
        </p:nvGrpSpPr>
        <p:grpSpPr>
          <a:xfrm>
            <a:off x="7059376" y="1707301"/>
            <a:ext cx="1472624" cy="1472624"/>
            <a:chOff x="7543470" y="970989"/>
            <a:chExt cx="1472624" cy="1472624"/>
          </a:xfrm>
        </p:grpSpPr>
        <p:grpSp>
          <p:nvGrpSpPr>
            <p:cNvPr id="16" name="组合 15">
              <a:extLst>
                <a:ext uri="{FF2B5EF4-FFF2-40B4-BE49-F238E27FC236}">
                  <a16:creationId xmlns:a16="http://schemas.microsoft.com/office/drawing/2014/main" id="{52EE5C20-68A7-8824-3ED2-C5D10BED9A1E}"/>
                </a:ext>
              </a:extLst>
            </p:cNvPr>
            <p:cNvGrpSpPr/>
            <p:nvPr/>
          </p:nvGrpSpPr>
          <p:grpSpPr>
            <a:xfrm>
              <a:off x="7543470" y="970989"/>
              <a:ext cx="1472624" cy="1472624"/>
              <a:chOff x="1674457" y="2181224"/>
              <a:chExt cx="3240000" cy="3240000"/>
            </a:xfrm>
          </p:grpSpPr>
          <p:sp>
            <p:nvSpPr>
              <p:cNvPr id="17" name="任意多边形: 形状 16">
                <a:extLst>
                  <a:ext uri="{FF2B5EF4-FFF2-40B4-BE49-F238E27FC236}">
                    <a16:creationId xmlns:a16="http://schemas.microsoft.com/office/drawing/2014/main" id="{61F1EB37-437B-7B15-124C-1B8C42371F3F}"/>
                  </a:ext>
                </a:extLst>
              </p:cNvPr>
              <p:cNvSpPr/>
              <p:nvPr/>
            </p:nvSpPr>
            <p:spPr>
              <a:xfrm>
                <a:off x="1674457" y="2181224"/>
                <a:ext cx="3240000" cy="1620000"/>
              </a:xfrm>
              <a:custGeom>
                <a:avLst/>
                <a:gdLst>
                  <a:gd name="connsiteX0" fmla="*/ 1620000 w 3240000"/>
                  <a:gd name="connsiteY0" fmla="*/ 0 h 1620000"/>
                  <a:gd name="connsiteX1" fmla="*/ 3240000 w 3240000"/>
                  <a:gd name="connsiteY1" fmla="*/ 1620000 h 1620000"/>
                  <a:gd name="connsiteX2" fmla="*/ 0 w 3240000"/>
                  <a:gd name="connsiteY2" fmla="*/ 1620000 h 1620000"/>
                  <a:gd name="connsiteX3" fmla="*/ 1620000 w 3240000"/>
                  <a:gd name="connsiteY3" fmla="*/ 0 h 1620000"/>
                </a:gdLst>
                <a:ahLst/>
                <a:cxnLst>
                  <a:cxn ang="0">
                    <a:pos x="connsiteX0" y="connsiteY0"/>
                  </a:cxn>
                  <a:cxn ang="0">
                    <a:pos x="connsiteX1" y="connsiteY1"/>
                  </a:cxn>
                  <a:cxn ang="0">
                    <a:pos x="connsiteX2" y="connsiteY2"/>
                  </a:cxn>
                  <a:cxn ang="0">
                    <a:pos x="connsiteX3" y="connsiteY3"/>
                  </a:cxn>
                </a:cxnLst>
                <a:rect l="l" t="t" r="r" b="b"/>
                <a:pathLst>
                  <a:path w="3240000" h="1620000">
                    <a:moveTo>
                      <a:pt x="1620000" y="0"/>
                    </a:moveTo>
                    <a:cubicBezTo>
                      <a:pt x="2514701" y="0"/>
                      <a:pt x="3240000" y="725299"/>
                      <a:pt x="3240000" y="1620000"/>
                    </a:cubicBezTo>
                    <a:lnTo>
                      <a:pt x="0" y="1620000"/>
                    </a:lnTo>
                    <a:cubicBezTo>
                      <a:pt x="0" y="725299"/>
                      <a:pt x="725299" y="0"/>
                      <a:pt x="1620000" y="0"/>
                    </a:cubicBezTo>
                    <a:close/>
                  </a:path>
                </a:pathLst>
              </a:custGeom>
              <a:solidFill>
                <a:srgbClr val="D4237A"/>
              </a:solidFill>
              <a:ln/>
            </p:spPr>
            <p:style>
              <a:lnRef idx="0">
                <a:schemeClr val="accent2"/>
              </a:lnRef>
              <a:fillRef idx="3">
                <a:schemeClr val="accent2"/>
              </a:fillRef>
              <a:effectRef idx="3">
                <a:schemeClr val="accent2"/>
              </a:effectRef>
              <a:fontRef idx="minor">
                <a:schemeClr val="lt1"/>
              </a:fontRef>
            </p:style>
            <p:txBody>
              <a:bodyPr wrap="square" rtlCol="0" anchor="ctr">
                <a:noAutofit/>
              </a:bodyPr>
              <a:lstStyle/>
              <a:p>
                <a:pPr algn="ctr"/>
                <a:endParaRPr lang="zh-CN" altLang="en-US" sz="1100"/>
              </a:p>
            </p:txBody>
          </p:sp>
          <p:sp>
            <p:nvSpPr>
              <p:cNvPr id="18" name="任意多边形: 形状 17">
                <a:extLst>
                  <a:ext uri="{FF2B5EF4-FFF2-40B4-BE49-F238E27FC236}">
                    <a16:creationId xmlns:a16="http://schemas.microsoft.com/office/drawing/2014/main" id="{851CB840-BBCE-3F52-D7EE-25C08FB2970A}"/>
                  </a:ext>
                </a:extLst>
              </p:cNvPr>
              <p:cNvSpPr/>
              <p:nvPr/>
            </p:nvSpPr>
            <p:spPr>
              <a:xfrm flipV="1">
                <a:off x="1674457" y="3801224"/>
                <a:ext cx="3240000" cy="1620000"/>
              </a:xfrm>
              <a:custGeom>
                <a:avLst/>
                <a:gdLst>
                  <a:gd name="connsiteX0" fmla="*/ 1620000 w 3240000"/>
                  <a:gd name="connsiteY0" fmla="*/ 0 h 1620000"/>
                  <a:gd name="connsiteX1" fmla="*/ 3240000 w 3240000"/>
                  <a:gd name="connsiteY1" fmla="*/ 1620000 h 1620000"/>
                  <a:gd name="connsiteX2" fmla="*/ 0 w 3240000"/>
                  <a:gd name="connsiteY2" fmla="*/ 1620000 h 1620000"/>
                  <a:gd name="connsiteX3" fmla="*/ 1620000 w 3240000"/>
                  <a:gd name="connsiteY3" fmla="*/ 0 h 1620000"/>
                </a:gdLst>
                <a:ahLst/>
                <a:cxnLst>
                  <a:cxn ang="0">
                    <a:pos x="connsiteX0" y="connsiteY0"/>
                  </a:cxn>
                  <a:cxn ang="0">
                    <a:pos x="connsiteX1" y="connsiteY1"/>
                  </a:cxn>
                  <a:cxn ang="0">
                    <a:pos x="connsiteX2" y="connsiteY2"/>
                  </a:cxn>
                  <a:cxn ang="0">
                    <a:pos x="connsiteX3" y="connsiteY3"/>
                  </a:cxn>
                </a:cxnLst>
                <a:rect l="l" t="t" r="r" b="b"/>
                <a:pathLst>
                  <a:path w="3240000" h="1620000">
                    <a:moveTo>
                      <a:pt x="1620000" y="0"/>
                    </a:moveTo>
                    <a:cubicBezTo>
                      <a:pt x="2514701" y="0"/>
                      <a:pt x="3240000" y="725299"/>
                      <a:pt x="3240000" y="1620000"/>
                    </a:cubicBezTo>
                    <a:lnTo>
                      <a:pt x="0" y="1620000"/>
                    </a:lnTo>
                    <a:cubicBezTo>
                      <a:pt x="0" y="725299"/>
                      <a:pt x="725299" y="0"/>
                      <a:pt x="1620000" y="0"/>
                    </a:cubicBezTo>
                    <a:close/>
                  </a:path>
                </a:pathLst>
              </a:custGeom>
              <a:noFill/>
              <a:ln>
                <a:solidFill>
                  <a:srgbClr val="D4237A"/>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100"/>
              </a:p>
            </p:txBody>
          </p:sp>
        </p:grpSp>
        <p:pic>
          <p:nvPicPr>
            <p:cNvPr id="23" name="图形 22" descr="同步云">
              <a:extLst>
                <a:ext uri="{FF2B5EF4-FFF2-40B4-BE49-F238E27FC236}">
                  <a16:creationId xmlns:a16="http://schemas.microsoft.com/office/drawing/2014/main" id="{5DE16726-B2D5-A942-9322-7F72B7B2A69D}"/>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8071978" y="1221771"/>
              <a:ext cx="415607" cy="415607"/>
            </a:xfrm>
            <a:prstGeom prst="rect">
              <a:avLst/>
            </a:prstGeom>
            <a:effectLst>
              <a:outerShdw blurRad="50800" dist="38100" dir="2700000" algn="tl" rotWithShape="0">
                <a:prstClr val="black">
                  <a:alpha val="40000"/>
                </a:prstClr>
              </a:outerShdw>
            </a:effectLst>
          </p:spPr>
        </p:pic>
        <p:sp>
          <p:nvSpPr>
            <p:cNvPr id="26" name="文本框 25">
              <a:extLst>
                <a:ext uri="{FF2B5EF4-FFF2-40B4-BE49-F238E27FC236}">
                  <a16:creationId xmlns:a16="http://schemas.microsoft.com/office/drawing/2014/main" id="{3020BCDC-DC42-7D7E-88A5-C4A8913A54E9}"/>
                </a:ext>
              </a:extLst>
            </p:cNvPr>
            <p:cNvSpPr txBox="1"/>
            <p:nvPr/>
          </p:nvSpPr>
          <p:spPr>
            <a:xfrm>
              <a:off x="8007913" y="1783242"/>
              <a:ext cx="543739" cy="307777"/>
            </a:xfrm>
            <a:prstGeom prst="rect">
              <a:avLst/>
            </a:prstGeom>
            <a:noFill/>
          </p:spPr>
          <p:txBody>
            <a:bodyPr wrap="none" rtlCol="0">
              <a:spAutoFit/>
            </a:bodyPr>
            <a:lstStyle/>
            <a:p>
              <a:pPr algn="ctr"/>
              <a:r>
                <a:rPr lang="zh-CN" altLang="en-US" sz="1400" dirty="0"/>
                <a:t>共享</a:t>
              </a:r>
            </a:p>
          </p:txBody>
        </p:sp>
        <p:sp>
          <p:nvSpPr>
            <p:cNvPr id="27" name="文本框 26">
              <a:extLst>
                <a:ext uri="{FF2B5EF4-FFF2-40B4-BE49-F238E27FC236}">
                  <a16:creationId xmlns:a16="http://schemas.microsoft.com/office/drawing/2014/main" id="{FB6A0828-203D-1B6F-FE1F-A65C4638CC18}"/>
                </a:ext>
              </a:extLst>
            </p:cNvPr>
            <p:cNvSpPr txBox="1"/>
            <p:nvPr/>
          </p:nvSpPr>
          <p:spPr>
            <a:xfrm>
              <a:off x="7835590" y="1989017"/>
              <a:ext cx="888385" cy="307777"/>
            </a:xfrm>
            <a:prstGeom prst="rect">
              <a:avLst/>
            </a:prstGeom>
            <a:noFill/>
          </p:spPr>
          <p:txBody>
            <a:bodyPr wrap="none" rtlCol="0">
              <a:spAutoFit/>
            </a:bodyPr>
            <a:lstStyle/>
            <a:p>
              <a:pPr algn="ctr"/>
              <a:r>
                <a:rPr lang="en-US" altLang="zh-CN" sz="1400" dirty="0"/>
                <a:t>Sharing</a:t>
              </a:r>
              <a:endParaRPr lang="zh-CN" altLang="en-US" sz="1400" dirty="0"/>
            </a:p>
          </p:txBody>
        </p:sp>
      </p:grpSp>
    </p:spTree>
    <p:extLst>
      <p:ext uri="{BB962C8B-B14F-4D97-AF65-F5344CB8AC3E}">
        <p14:creationId xmlns:p14="http://schemas.microsoft.com/office/powerpoint/2010/main" val="534253692"/>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F43255C0-3D60-BF02-22B9-06940BF9DC33}"/>
              </a:ext>
            </a:extLst>
          </p:cNvPr>
          <p:cNvSpPr>
            <a:spLocks noGrp="1"/>
          </p:cNvSpPr>
          <p:nvPr>
            <p:ph type="title"/>
          </p:nvPr>
        </p:nvSpPr>
        <p:spPr>
          <a:xfrm>
            <a:off x="612000" y="229850"/>
            <a:ext cx="7920000" cy="341632"/>
          </a:xfrm>
        </p:spPr>
        <p:txBody>
          <a:bodyPr/>
          <a:lstStyle/>
          <a:p>
            <a:r>
              <a:rPr lang="zh-CN" altLang="en-US" dirty="0"/>
              <a:t>互联网 </a:t>
            </a:r>
            <a:r>
              <a:rPr lang="en-US" altLang="zh-CN" dirty="0"/>
              <a:t>Internet</a:t>
            </a:r>
            <a:endParaRPr lang="zh-CN" altLang="en-US" dirty="0"/>
          </a:p>
        </p:txBody>
      </p:sp>
      <p:sp>
        <p:nvSpPr>
          <p:cNvPr id="6" name="内容占位符 5">
            <a:extLst>
              <a:ext uri="{FF2B5EF4-FFF2-40B4-BE49-F238E27FC236}">
                <a16:creationId xmlns:a16="http://schemas.microsoft.com/office/drawing/2014/main" id="{54CC598B-BFEC-1EF2-DB2B-9B8A1BA33A7F}"/>
              </a:ext>
            </a:extLst>
          </p:cNvPr>
          <p:cNvSpPr>
            <a:spLocks noGrp="1"/>
          </p:cNvSpPr>
          <p:nvPr>
            <p:ph sz="quarter" idx="10"/>
          </p:nvPr>
        </p:nvSpPr>
        <p:spPr>
          <a:xfrm>
            <a:off x="612000" y="1152000"/>
            <a:ext cx="7920000" cy="3496659"/>
          </a:xfrm>
        </p:spPr>
        <p:txBody>
          <a:bodyPr>
            <a:normAutofit/>
          </a:bodyPr>
          <a:lstStyle/>
          <a:p>
            <a:r>
              <a:rPr lang="zh-CN" altLang="en-US" dirty="0"/>
              <a:t>负面影响</a:t>
            </a:r>
            <a:endParaRPr lang="en-US" altLang="zh-CN" dirty="0"/>
          </a:p>
          <a:p>
            <a:pPr lvl="1"/>
            <a:r>
              <a:rPr lang="zh-CN" altLang="en-US" dirty="0"/>
              <a:t>传播病毒</a:t>
            </a:r>
          </a:p>
          <a:p>
            <a:pPr lvl="1"/>
            <a:r>
              <a:rPr lang="zh-CN" altLang="en-US" dirty="0"/>
              <a:t>窃取：数据，钱财等</a:t>
            </a:r>
          </a:p>
          <a:p>
            <a:pPr lvl="1"/>
            <a:r>
              <a:rPr lang="zh-CN" altLang="en-US" dirty="0"/>
              <a:t>散布谣言</a:t>
            </a:r>
          </a:p>
          <a:p>
            <a:pPr lvl="1"/>
            <a:r>
              <a:rPr lang="zh-CN" altLang="en-US" dirty="0"/>
              <a:t>不良信息</a:t>
            </a:r>
          </a:p>
          <a:p>
            <a:pPr lvl="1"/>
            <a:r>
              <a:rPr lang="zh-CN" altLang="en-US" dirty="0"/>
              <a:t>欺诈</a:t>
            </a:r>
          </a:p>
          <a:p>
            <a:pPr lvl="1"/>
            <a:r>
              <a:rPr lang="zh-CN" altLang="en-US" dirty="0"/>
              <a:t>网瘾</a:t>
            </a:r>
          </a:p>
          <a:p>
            <a:pPr lvl="1"/>
            <a:r>
              <a:rPr lang="en-US" altLang="zh-CN" dirty="0"/>
              <a:t>……</a:t>
            </a:r>
          </a:p>
          <a:p>
            <a:r>
              <a:rPr lang="zh-CN" altLang="en-US" dirty="0"/>
              <a:t>需要加强</a:t>
            </a:r>
            <a:r>
              <a:rPr lang="zh-CN" altLang="zh-CN" dirty="0"/>
              <a:t>对互联网的管理</a:t>
            </a:r>
            <a:endParaRPr lang="zh-CN" altLang="en-US" dirty="0"/>
          </a:p>
        </p:txBody>
      </p:sp>
    </p:spTree>
    <p:extLst>
      <p:ext uri="{BB962C8B-B14F-4D97-AF65-F5344CB8AC3E}">
        <p14:creationId xmlns:p14="http://schemas.microsoft.com/office/powerpoint/2010/main" val="2406006785"/>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标题 6">
            <a:extLst>
              <a:ext uri="{FF2B5EF4-FFF2-40B4-BE49-F238E27FC236}">
                <a16:creationId xmlns:a16="http://schemas.microsoft.com/office/drawing/2014/main" id="{132C8544-859B-D1AF-F894-D8B40F50894F}"/>
              </a:ext>
            </a:extLst>
          </p:cNvPr>
          <p:cNvSpPr>
            <a:spLocks noGrp="1"/>
          </p:cNvSpPr>
          <p:nvPr>
            <p:ph type="title"/>
          </p:nvPr>
        </p:nvSpPr>
        <p:spPr>
          <a:xfrm>
            <a:off x="612000" y="229850"/>
            <a:ext cx="7920000" cy="341632"/>
          </a:xfrm>
        </p:spPr>
        <p:txBody>
          <a:bodyPr/>
          <a:lstStyle/>
          <a:p>
            <a:r>
              <a:rPr lang="zh-CN" altLang="en-US" dirty="0"/>
              <a:t>互联网</a:t>
            </a:r>
            <a:r>
              <a:rPr lang="en-US" altLang="zh-CN" dirty="0"/>
              <a:t>+ Internet Plus</a:t>
            </a:r>
            <a:endParaRPr lang="fr-FR" altLang="zh-CN" dirty="0"/>
          </a:p>
        </p:txBody>
      </p:sp>
      <p:sp>
        <p:nvSpPr>
          <p:cNvPr id="3" name="内容占位符 2"/>
          <p:cNvSpPr>
            <a:spLocks noGrp="1"/>
          </p:cNvSpPr>
          <p:nvPr>
            <p:ph sz="quarter" idx="10"/>
          </p:nvPr>
        </p:nvSpPr>
        <p:spPr>
          <a:xfrm>
            <a:off x="612000" y="1152000"/>
            <a:ext cx="7920000" cy="3496659"/>
          </a:xfrm>
        </p:spPr>
        <p:txBody>
          <a:bodyPr/>
          <a:lstStyle/>
          <a:p>
            <a:r>
              <a:rPr lang="zh-CN" altLang="en-US" dirty="0"/>
              <a:t>互联网</a:t>
            </a:r>
            <a:r>
              <a:rPr lang="en-US" altLang="zh-CN" dirty="0"/>
              <a:t>+</a:t>
            </a:r>
          </a:p>
          <a:p>
            <a:r>
              <a:rPr lang="zh-CN" altLang="en-US" dirty="0"/>
              <a:t>新的经济形态</a:t>
            </a:r>
            <a:endParaRPr lang="en-US" altLang="zh-CN" dirty="0"/>
          </a:p>
          <a:p>
            <a:r>
              <a:rPr lang="zh-CN" altLang="en-US" dirty="0"/>
              <a:t>互联网 </a:t>
            </a:r>
            <a:r>
              <a:rPr lang="en-US" altLang="zh-CN" dirty="0"/>
              <a:t>+ </a:t>
            </a:r>
            <a:r>
              <a:rPr lang="zh-CN" altLang="en-US" dirty="0"/>
              <a:t>各个传统行业</a:t>
            </a:r>
            <a:endParaRPr lang="en-US" altLang="zh-CN" dirty="0"/>
          </a:p>
          <a:p>
            <a:r>
              <a:rPr lang="zh-CN" altLang="en-US" dirty="0"/>
              <a:t>把互联网的创新成果深度融合于经济社会各领域</a:t>
            </a:r>
            <a:endParaRPr lang="en-US" altLang="zh-CN" dirty="0"/>
          </a:p>
        </p:txBody>
      </p:sp>
      <p:grpSp>
        <p:nvGrpSpPr>
          <p:cNvPr id="2" name="组合 1">
            <a:extLst>
              <a:ext uri="{FF2B5EF4-FFF2-40B4-BE49-F238E27FC236}">
                <a16:creationId xmlns:a16="http://schemas.microsoft.com/office/drawing/2014/main" id="{3284353B-3454-C7B5-BED5-8C20FAEE7625}"/>
              </a:ext>
            </a:extLst>
          </p:cNvPr>
          <p:cNvGrpSpPr/>
          <p:nvPr/>
        </p:nvGrpSpPr>
        <p:grpSpPr>
          <a:xfrm>
            <a:off x="6140755" y="1676604"/>
            <a:ext cx="2447515" cy="2447515"/>
            <a:chOff x="6140755" y="1676604"/>
            <a:chExt cx="2447515" cy="2447515"/>
          </a:xfrm>
        </p:grpSpPr>
        <p:sp>
          <p:nvSpPr>
            <p:cNvPr id="4" name="任意多边形: 形状 3">
              <a:extLst>
                <a:ext uri="{FF2B5EF4-FFF2-40B4-BE49-F238E27FC236}">
                  <a16:creationId xmlns:a16="http://schemas.microsoft.com/office/drawing/2014/main" id="{84127B24-10A3-0311-5D10-5822052B0B09}"/>
                </a:ext>
              </a:extLst>
            </p:cNvPr>
            <p:cNvSpPr/>
            <p:nvPr/>
          </p:nvSpPr>
          <p:spPr>
            <a:xfrm>
              <a:off x="6685575" y="2221424"/>
              <a:ext cx="1357875" cy="1357875"/>
            </a:xfrm>
            <a:custGeom>
              <a:avLst/>
              <a:gdLst>
                <a:gd name="csX0" fmla="*/ 0 w 1357875"/>
                <a:gd name="csY0" fmla="*/ 678938 h 1357875"/>
                <a:gd name="csX1" fmla="*/ 678938 w 1357875"/>
                <a:gd name="csY1" fmla="*/ 0 h 1357875"/>
                <a:gd name="csX2" fmla="*/ 1357876 w 1357875"/>
                <a:gd name="csY2" fmla="*/ 678938 h 1357875"/>
                <a:gd name="csX3" fmla="*/ 678938 w 1357875"/>
                <a:gd name="csY3" fmla="*/ 1357876 h 1357875"/>
                <a:gd name="csX4" fmla="*/ 0 w 1357875"/>
                <a:gd name="csY4" fmla="*/ 678938 h 1357875"/>
              </a:gdLst>
              <a:ahLst/>
              <a:cxnLst>
                <a:cxn ang="0">
                  <a:pos x="csX0" y="csY0"/>
                </a:cxn>
                <a:cxn ang="0">
                  <a:pos x="csX1" y="csY1"/>
                </a:cxn>
                <a:cxn ang="0">
                  <a:pos x="csX2" y="csY2"/>
                </a:cxn>
                <a:cxn ang="0">
                  <a:pos x="csX3" y="csY3"/>
                </a:cxn>
                <a:cxn ang="0">
                  <a:pos x="csX4" y="csY4"/>
                </a:cxn>
              </a:cxnLst>
              <a:rect l="l" t="t" r="r" b="b"/>
              <a:pathLst>
                <a:path w="1357875" h="1357875">
                  <a:moveTo>
                    <a:pt x="0" y="678938"/>
                  </a:moveTo>
                  <a:cubicBezTo>
                    <a:pt x="0" y="303971"/>
                    <a:pt x="303971" y="0"/>
                    <a:pt x="678938" y="0"/>
                  </a:cubicBezTo>
                  <a:cubicBezTo>
                    <a:pt x="1053905" y="0"/>
                    <a:pt x="1357876" y="303971"/>
                    <a:pt x="1357876" y="678938"/>
                  </a:cubicBezTo>
                  <a:cubicBezTo>
                    <a:pt x="1357876" y="1053905"/>
                    <a:pt x="1053905" y="1357876"/>
                    <a:pt x="678938" y="1357876"/>
                  </a:cubicBezTo>
                  <a:cubicBezTo>
                    <a:pt x="303971" y="1357876"/>
                    <a:pt x="0" y="1053905"/>
                    <a:pt x="0" y="678938"/>
                  </a:cubicBezTo>
                  <a:close/>
                </a:path>
              </a:pathLst>
            </a:custGeom>
          </p:spPr>
          <p:style>
            <a:lnRef idx="0">
              <a:schemeClr val="lt1">
                <a:hueOff val="0"/>
                <a:satOff val="0"/>
                <a:lumOff val="0"/>
                <a:alphaOff val="0"/>
              </a:schemeClr>
            </a:lnRef>
            <a:fillRef idx="3">
              <a:schemeClr val="accent2">
                <a:alpha val="50000"/>
                <a:hueOff val="0"/>
                <a:satOff val="0"/>
                <a:lumOff val="0"/>
                <a:alphaOff val="0"/>
              </a:schemeClr>
            </a:fillRef>
            <a:effectRef idx="0">
              <a:schemeClr val="accent2">
                <a:alpha val="50000"/>
                <a:hueOff val="0"/>
                <a:satOff val="0"/>
                <a:lumOff val="0"/>
                <a:alphaOff val="0"/>
              </a:schemeClr>
            </a:effectRef>
            <a:fontRef idx="minor">
              <a:schemeClr val="tx1"/>
            </a:fontRef>
          </p:style>
          <p:txBody>
            <a:bodyPr spcFirstLastPara="0" vert="horz" wrap="square" lIns="212826" tIns="212826" rIns="212826" bIns="212826" numCol="1" spcCol="1270" anchor="ctr" anchorCtr="0">
              <a:noAutofit/>
            </a:bodyPr>
            <a:lstStyle/>
            <a:p>
              <a:pPr marL="0" lvl="0" indent="0" algn="ctr" defTabSz="466725">
                <a:lnSpc>
                  <a:spcPct val="90000"/>
                </a:lnSpc>
                <a:spcBef>
                  <a:spcPct val="0"/>
                </a:spcBef>
                <a:spcAft>
                  <a:spcPct val="35000"/>
                </a:spcAft>
                <a:buNone/>
              </a:pPr>
              <a:r>
                <a:rPr lang="zh-CN" altLang="en-US" sz="1050" kern="1200" dirty="0"/>
                <a:t>互联网 </a:t>
              </a:r>
              <a:r>
                <a:rPr lang="en-US" altLang="zh-CN" sz="1050" kern="1200" dirty="0"/>
                <a:t>Internet</a:t>
              </a:r>
              <a:endParaRPr lang="zh-CN" altLang="en-US" sz="1050" kern="1200" dirty="0"/>
            </a:p>
          </p:txBody>
        </p:sp>
        <p:sp>
          <p:nvSpPr>
            <p:cNvPr id="5" name="任意多边形: 形状 4">
              <a:extLst>
                <a:ext uri="{FF2B5EF4-FFF2-40B4-BE49-F238E27FC236}">
                  <a16:creationId xmlns:a16="http://schemas.microsoft.com/office/drawing/2014/main" id="{AC406563-6590-EFDB-95F0-A6AFD797687F}"/>
                </a:ext>
              </a:extLst>
            </p:cNvPr>
            <p:cNvSpPr/>
            <p:nvPr/>
          </p:nvSpPr>
          <p:spPr>
            <a:xfrm>
              <a:off x="7025044" y="1676604"/>
              <a:ext cx="678937" cy="678937"/>
            </a:xfrm>
            <a:custGeom>
              <a:avLst/>
              <a:gdLst>
                <a:gd name="csX0" fmla="*/ 0 w 678937"/>
                <a:gd name="csY0" fmla="*/ 339469 h 678937"/>
                <a:gd name="csX1" fmla="*/ 339469 w 678937"/>
                <a:gd name="csY1" fmla="*/ 0 h 678937"/>
                <a:gd name="csX2" fmla="*/ 678938 w 678937"/>
                <a:gd name="csY2" fmla="*/ 339469 h 678937"/>
                <a:gd name="csX3" fmla="*/ 339469 w 678937"/>
                <a:gd name="csY3" fmla="*/ 678938 h 678937"/>
                <a:gd name="csX4" fmla="*/ 0 w 678937"/>
                <a:gd name="csY4" fmla="*/ 339469 h 678937"/>
              </a:gdLst>
              <a:ahLst/>
              <a:cxnLst>
                <a:cxn ang="0">
                  <a:pos x="csX0" y="csY0"/>
                </a:cxn>
                <a:cxn ang="0">
                  <a:pos x="csX1" y="csY1"/>
                </a:cxn>
                <a:cxn ang="0">
                  <a:pos x="csX2" y="csY2"/>
                </a:cxn>
                <a:cxn ang="0">
                  <a:pos x="csX3" y="csY3"/>
                </a:cxn>
                <a:cxn ang="0">
                  <a:pos x="csX4" y="csY4"/>
                </a:cxn>
              </a:cxnLst>
              <a:rect l="l" t="t" r="r" b="b"/>
              <a:pathLst>
                <a:path w="678937" h="678937">
                  <a:moveTo>
                    <a:pt x="0" y="339469"/>
                  </a:moveTo>
                  <a:cubicBezTo>
                    <a:pt x="0" y="151985"/>
                    <a:pt x="151985" y="0"/>
                    <a:pt x="339469" y="0"/>
                  </a:cubicBezTo>
                  <a:cubicBezTo>
                    <a:pt x="526953" y="0"/>
                    <a:pt x="678938" y="151985"/>
                    <a:pt x="678938" y="339469"/>
                  </a:cubicBezTo>
                  <a:cubicBezTo>
                    <a:pt x="678938" y="526953"/>
                    <a:pt x="526953" y="678938"/>
                    <a:pt x="339469" y="678938"/>
                  </a:cubicBezTo>
                  <a:cubicBezTo>
                    <a:pt x="151985" y="678938"/>
                    <a:pt x="0" y="526953"/>
                    <a:pt x="0" y="339469"/>
                  </a:cubicBezTo>
                  <a:close/>
                </a:path>
              </a:pathLst>
            </a:custGeom>
          </p:spPr>
          <p:style>
            <a:lnRef idx="0">
              <a:schemeClr val="lt1">
                <a:hueOff val="0"/>
                <a:satOff val="0"/>
                <a:lumOff val="0"/>
                <a:alphaOff val="0"/>
              </a:schemeClr>
            </a:lnRef>
            <a:fillRef idx="3">
              <a:schemeClr val="accent3">
                <a:alpha val="50000"/>
                <a:hueOff val="0"/>
                <a:satOff val="0"/>
                <a:lumOff val="0"/>
                <a:alphaOff val="0"/>
              </a:schemeClr>
            </a:fillRef>
            <a:effectRef idx="0">
              <a:schemeClr val="accent3">
                <a:alpha val="50000"/>
                <a:hueOff val="0"/>
                <a:satOff val="0"/>
                <a:lumOff val="0"/>
                <a:alphaOff val="0"/>
              </a:schemeClr>
            </a:effectRef>
            <a:fontRef idx="minor">
              <a:schemeClr val="tx1"/>
            </a:fontRef>
          </p:style>
          <p:txBody>
            <a:bodyPr spcFirstLastPara="0" vert="horz" wrap="square" lIns="110858" tIns="110858" rIns="110858" bIns="110858" numCol="1" spcCol="1270" anchor="ctr" anchorCtr="0">
              <a:noAutofit/>
            </a:bodyPr>
            <a:lstStyle/>
            <a:p>
              <a:pPr marL="0" lvl="0" indent="0" algn="ctr" defTabSz="400050">
                <a:lnSpc>
                  <a:spcPct val="90000"/>
                </a:lnSpc>
                <a:spcBef>
                  <a:spcPct val="0"/>
                </a:spcBef>
                <a:spcAft>
                  <a:spcPct val="35000"/>
                </a:spcAft>
                <a:buNone/>
              </a:pPr>
              <a:r>
                <a:rPr lang="zh-CN" altLang="en-US" sz="900" kern="1200" dirty="0"/>
                <a:t>工业</a:t>
              </a:r>
              <a:r>
                <a:rPr lang="en-US" altLang="zh-CN" sz="900" kern="1200" dirty="0"/>
                <a:t>/I</a:t>
              </a:r>
              <a:endParaRPr lang="zh-CN" altLang="en-US" sz="900" kern="1200" dirty="0"/>
            </a:p>
          </p:txBody>
        </p:sp>
        <p:sp>
          <p:nvSpPr>
            <p:cNvPr id="6" name="任意多边形: 形状 5">
              <a:extLst>
                <a:ext uri="{FF2B5EF4-FFF2-40B4-BE49-F238E27FC236}">
                  <a16:creationId xmlns:a16="http://schemas.microsoft.com/office/drawing/2014/main" id="{2D0DBC30-ADD2-D648-ED64-41457404A0AA}"/>
                </a:ext>
              </a:extLst>
            </p:cNvPr>
            <p:cNvSpPr/>
            <p:nvPr/>
          </p:nvSpPr>
          <p:spPr>
            <a:xfrm>
              <a:off x="7650330" y="1935606"/>
              <a:ext cx="678937" cy="678937"/>
            </a:xfrm>
            <a:custGeom>
              <a:avLst/>
              <a:gdLst>
                <a:gd name="csX0" fmla="*/ 0 w 678937"/>
                <a:gd name="csY0" fmla="*/ 339469 h 678937"/>
                <a:gd name="csX1" fmla="*/ 339469 w 678937"/>
                <a:gd name="csY1" fmla="*/ 0 h 678937"/>
                <a:gd name="csX2" fmla="*/ 678938 w 678937"/>
                <a:gd name="csY2" fmla="*/ 339469 h 678937"/>
                <a:gd name="csX3" fmla="*/ 339469 w 678937"/>
                <a:gd name="csY3" fmla="*/ 678938 h 678937"/>
                <a:gd name="csX4" fmla="*/ 0 w 678937"/>
                <a:gd name="csY4" fmla="*/ 339469 h 678937"/>
              </a:gdLst>
              <a:ahLst/>
              <a:cxnLst>
                <a:cxn ang="0">
                  <a:pos x="csX0" y="csY0"/>
                </a:cxn>
                <a:cxn ang="0">
                  <a:pos x="csX1" y="csY1"/>
                </a:cxn>
                <a:cxn ang="0">
                  <a:pos x="csX2" y="csY2"/>
                </a:cxn>
                <a:cxn ang="0">
                  <a:pos x="csX3" y="csY3"/>
                </a:cxn>
                <a:cxn ang="0">
                  <a:pos x="csX4" y="csY4"/>
                </a:cxn>
              </a:cxnLst>
              <a:rect l="l" t="t" r="r" b="b"/>
              <a:pathLst>
                <a:path w="678937" h="678937">
                  <a:moveTo>
                    <a:pt x="0" y="339469"/>
                  </a:moveTo>
                  <a:cubicBezTo>
                    <a:pt x="0" y="151985"/>
                    <a:pt x="151985" y="0"/>
                    <a:pt x="339469" y="0"/>
                  </a:cubicBezTo>
                  <a:cubicBezTo>
                    <a:pt x="526953" y="0"/>
                    <a:pt x="678938" y="151985"/>
                    <a:pt x="678938" y="339469"/>
                  </a:cubicBezTo>
                  <a:cubicBezTo>
                    <a:pt x="678938" y="526953"/>
                    <a:pt x="526953" y="678938"/>
                    <a:pt x="339469" y="678938"/>
                  </a:cubicBezTo>
                  <a:cubicBezTo>
                    <a:pt x="151985" y="678938"/>
                    <a:pt x="0" y="526953"/>
                    <a:pt x="0" y="339469"/>
                  </a:cubicBezTo>
                  <a:close/>
                </a:path>
              </a:pathLst>
            </a:custGeom>
          </p:spPr>
          <p:style>
            <a:lnRef idx="0">
              <a:schemeClr val="lt1">
                <a:hueOff val="0"/>
                <a:satOff val="0"/>
                <a:lumOff val="0"/>
                <a:alphaOff val="0"/>
              </a:schemeClr>
            </a:lnRef>
            <a:fillRef idx="3">
              <a:schemeClr val="accent4">
                <a:alpha val="50000"/>
                <a:hueOff val="0"/>
                <a:satOff val="0"/>
                <a:lumOff val="0"/>
                <a:alphaOff val="0"/>
              </a:schemeClr>
            </a:fillRef>
            <a:effectRef idx="0">
              <a:schemeClr val="accent4">
                <a:alpha val="50000"/>
                <a:hueOff val="0"/>
                <a:satOff val="0"/>
                <a:lumOff val="0"/>
                <a:alphaOff val="0"/>
              </a:schemeClr>
            </a:effectRef>
            <a:fontRef idx="minor">
              <a:schemeClr val="tx1"/>
            </a:fontRef>
          </p:style>
          <p:txBody>
            <a:bodyPr spcFirstLastPara="0" vert="horz" wrap="square" lIns="110858" tIns="110858" rIns="110858" bIns="110858" numCol="1" spcCol="1270" anchor="ctr" anchorCtr="0">
              <a:noAutofit/>
            </a:bodyPr>
            <a:lstStyle/>
            <a:p>
              <a:pPr marL="0" lvl="0" indent="0" algn="ctr" defTabSz="400050">
                <a:lnSpc>
                  <a:spcPct val="90000"/>
                </a:lnSpc>
                <a:spcBef>
                  <a:spcPct val="0"/>
                </a:spcBef>
                <a:spcAft>
                  <a:spcPct val="35000"/>
                </a:spcAft>
                <a:buNone/>
              </a:pPr>
              <a:r>
                <a:rPr lang="zh-CN" altLang="en-US" sz="900" kern="1200" dirty="0"/>
                <a:t>农业</a:t>
              </a:r>
              <a:r>
                <a:rPr lang="en-US" altLang="zh-CN" sz="900" kern="1200" dirty="0"/>
                <a:t>/A</a:t>
              </a:r>
              <a:endParaRPr lang="zh-CN" altLang="en-US" sz="900" kern="1200" dirty="0"/>
            </a:p>
          </p:txBody>
        </p:sp>
        <p:sp>
          <p:nvSpPr>
            <p:cNvPr id="8" name="任意多边形: 形状 7">
              <a:extLst>
                <a:ext uri="{FF2B5EF4-FFF2-40B4-BE49-F238E27FC236}">
                  <a16:creationId xmlns:a16="http://schemas.microsoft.com/office/drawing/2014/main" id="{BC060A1B-C208-E612-F43C-9C6C5B5F8538}"/>
                </a:ext>
              </a:extLst>
            </p:cNvPr>
            <p:cNvSpPr/>
            <p:nvPr/>
          </p:nvSpPr>
          <p:spPr>
            <a:xfrm>
              <a:off x="7909333" y="2560893"/>
              <a:ext cx="678937" cy="678937"/>
            </a:xfrm>
            <a:custGeom>
              <a:avLst/>
              <a:gdLst>
                <a:gd name="csX0" fmla="*/ 0 w 678937"/>
                <a:gd name="csY0" fmla="*/ 339469 h 678937"/>
                <a:gd name="csX1" fmla="*/ 339469 w 678937"/>
                <a:gd name="csY1" fmla="*/ 0 h 678937"/>
                <a:gd name="csX2" fmla="*/ 678938 w 678937"/>
                <a:gd name="csY2" fmla="*/ 339469 h 678937"/>
                <a:gd name="csX3" fmla="*/ 339469 w 678937"/>
                <a:gd name="csY3" fmla="*/ 678938 h 678937"/>
                <a:gd name="csX4" fmla="*/ 0 w 678937"/>
                <a:gd name="csY4" fmla="*/ 339469 h 678937"/>
              </a:gdLst>
              <a:ahLst/>
              <a:cxnLst>
                <a:cxn ang="0">
                  <a:pos x="csX0" y="csY0"/>
                </a:cxn>
                <a:cxn ang="0">
                  <a:pos x="csX1" y="csY1"/>
                </a:cxn>
                <a:cxn ang="0">
                  <a:pos x="csX2" y="csY2"/>
                </a:cxn>
                <a:cxn ang="0">
                  <a:pos x="csX3" y="csY3"/>
                </a:cxn>
                <a:cxn ang="0">
                  <a:pos x="csX4" y="csY4"/>
                </a:cxn>
              </a:cxnLst>
              <a:rect l="l" t="t" r="r" b="b"/>
              <a:pathLst>
                <a:path w="678937" h="678937">
                  <a:moveTo>
                    <a:pt x="0" y="339469"/>
                  </a:moveTo>
                  <a:cubicBezTo>
                    <a:pt x="0" y="151985"/>
                    <a:pt x="151985" y="0"/>
                    <a:pt x="339469" y="0"/>
                  </a:cubicBezTo>
                  <a:cubicBezTo>
                    <a:pt x="526953" y="0"/>
                    <a:pt x="678938" y="151985"/>
                    <a:pt x="678938" y="339469"/>
                  </a:cubicBezTo>
                  <a:cubicBezTo>
                    <a:pt x="678938" y="526953"/>
                    <a:pt x="526953" y="678938"/>
                    <a:pt x="339469" y="678938"/>
                  </a:cubicBezTo>
                  <a:cubicBezTo>
                    <a:pt x="151985" y="678938"/>
                    <a:pt x="0" y="526953"/>
                    <a:pt x="0" y="339469"/>
                  </a:cubicBezTo>
                  <a:close/>
                </a:path>
              </a:pathLst>
            </a:custGeom>
          </p:spPr>
          <p:style>
            <a:lnRef idx="0">
              <a:schemeClr val="lt1">
                <a:hueOff val="0"/>
                <a:satOff val="0"/>
                <a:lumOff val="0"/>
                <a:alphaOff val="0"/>
              </a:schemeClr>
            </a:lnRef>
            <a:fillRef idx="3">
              <a:schemeClr val="accent5">
                <a:alpha val="50000"/>
                <a:hueOff val="0"/>
                <a:satOff val="0"/>
                <a:lumOff val="0"/>
                <a:alphaOff val="0"/>
              </a:schemeClr>
            </a:fillRef>
            <a:effectRef idx="0">
              <a:schemeClr val="accent5">
                <a:alpha val="50000"/>
                <a:hueOff val="0"/>
                <a:satOff val="0"/>
                <a:lumOff val="0"/>
                <a:alphaOff val="0"/>
              </a:schemeClr>
            </a:effectRef>
            <a:fontRef idx="minor">
              <a:schemeClr val="tx1"/>
            </a:fontRef>
          </p:style>
          <p:txBody>
            <a:bodyPr spcFirstLastPara="0" vert="horz" wrap="square" lIns="110858" tIns="110858" rIns="110858" bIns="110858" numCol="1" spcCol="1270" anchor="ctr" anchorCtr="0">
              <a:noAutofit/>
            </a:bodyPr>
            <a:lstStyle/>
            <a:p>
              <a:pPr marL="0" lvl="0" indent="0" algn="ctr" defTabSz="400050">
                <a:lnSpc>
                  <a:spcPct val="90000"/>
                </a:lnSpc>
                <a:spcBef>
                  <a:spcPct val="0"/>
                </a:spcBef>
                <a:spcAft>
                  <a:spcPct val="35000"/>
                </a:spcAft>
                <a:buNone/>
              </a:pPr>
              <a:r>
                <a:rPr lang="zh-CN" altLang="en-US" sz="900" kern="1200" dirty="0"/>
                <a:t>教育</a:t>
              </a:r>
              <a:r>
                <a:rPr lang="en-US" altLang="zh-CN" sz="900" kern="1200" dirty="0"/>
                <a:t>/E</a:t>
              </a:r>
              <a:endParaRPr lang="zh-CN" altLang="en-US" sz="900" kern="1200" dirty="0"/>
            </a:p>
          </p:txBody>
        </p:sp>
        <p:sp>
          <p:nvSpPr>
            <p:cNvPr id="9" name="任意多边形: 形状 8">
              <a:extLst>
                <a:ext uri="{FF2B5EF4-FFF2-40B4-BE49-F238E27FC236}">
                  <a16:creationId xmlns:a16="http://schemas.microsoft.com/office/drawing/2014/main" id="{1B49D42B-FCC8-5623-43EA-3BC2A622BCDF}"/>
                </a:ext>
              </a:extLst>
            </p:cNvPr>
            <p:cNvSpPr/>
            <p:nvPr/>
          </p:nvSpPr>
          <p:spPr>
            <a:xfrm>
              <a:off x="7650330" y="3186179"/>
              <a:ext cx="678937" cy="678937"/>
            </a:xfrm>
            <a:custGeom>
              <a:avLst/>
              <a:gdLst>
                <a:gd name="csX0" fmla="*/ 0 w 678937"/>
                <a:gd name="csY0" fmla="*/ 339469 h 678937"/>
                <a:gd name="csX1" fmla="*/ 339469 w 678937"/>
                <a:gd name="csY1" fmla="*/ 0 h 678937"/>
                <a:gd name="csX2" fmla="*/ 678938 w 678937"/>
                <a:gd name="csY2" fmla="*/ 339469 h 678937"/>
                <a:gd name="csX3" fmla="*/ 339469 w 678937"/>
                <a:gd name="csY3" fmla="*/ 678938 h 678937"/>
                <a:gd name="csX4" fmla="*/ 0 w 678937"/>
                <a:gd name="csY4" fmla="*/ 339469 h 678937"/>
              </a:gdLst>
              <a:ahLst/>
              <a:cxnLst>
                <a:cxn ang="0">
                  <a:pos x="csX0" y="csY0"/>
                </a:cxn>
                <a:cxn ang="0">
                  <a:pos x="csX1" y="csY1"/>
                </a:cxn>
                <a:cxn ang="0">
                  <a:pos x="csX2" y="csY2"/>
                </a:cxn>
                <a:cxn ang="0">
                  <a:pos x="csX3" y="csY3"/>
                </a:cxn>
                <a:cxn ang="0">
                  <a:pos x="csX4" y="csY4"/>
                </a:cxn>
              </a:cxnLst>
              <a:rect l="l" t="t" r="r" b="b"/>
              <a:pathLst>
                <a:path w="678937" h="678937">
                  <a:moveTo>
                    <a:pt x="0" y="339469"/>
                  </a:moveTo>
                  <a:cubicBezTo>
                    <a:pt x="0" y="151985"/>
                    <a:pt x="151985" y="0"/>
                    <a:pt x="339469" y="0"/>
                  </a:cubicBezTo>
                  <a:cubicBezTo>
                    <a:pt x="526953" y="0"/>
                    <a:pt x="678938" y="151985"/>
                    <a:pt x="678938" y="339469"/>
                  </a:cubicBezTo>
                  <a:cubicBezTo>
                    <a:pt x="678938" y="526953"/>
                    <a:pt x="526953" y="678938"/>
                    <a:pt x="339469" y="678938"/>
                  </a:cubicBezTo>
                  <a:cubicBezTo>
                    <a:pt x="151985" y="678938"/>
                    <a:pt x="0" y="526953"/>
                    <a:pt x="0" y="339469"/>
                  </a:cubicBezTo>
                  <a:close/>
                </a:path>
              </a:pathLst>
            </a:custGeom>
          </p:spPr>
          <p:style>
            <a:lnRef idx="0">
              <a:schemeClr val="lt1">
                <a:hueOff val="0"/>
                <a:satOff val="0"/>
                <a:lumOff val="0"/>
                <a:alphaOff val="0"/>
              </a:schemeClr>
            </a:lnRef>
            <a:fillRef idx="3">
              <a:schemeClr val="accent6">
                <a:alpha val="50000"/>
                <a:hueOff val="0"/>
                <a:satOff val="0"/>
                <a:lumOff val="0"/>
                <a:alphaOff val="0"/>
              </a:schemeClr>
            </a:fillRef>
            <a:effectRef idx="0">
              <a:schemeClr val="accent6">
                <a:alpha val="50000"/>
                <a:hueOff val="0"/>
                <a:satOff val="0"/>
                <a:lumOff val="0"/>
                <a:alphaOff val="0"/>
              </a:schemeClr>
            </a:effectRef>
            <a:fontRef idx="minor">
              <a:schemeClr val="tx1"/>
            </a:fontRef>
          </p:style>
          <p:txBody>
            <a:bodyPr spcFirstLastPara="0" vert="horz" wrap="square" lIns="110858" tIns="110858" rIns="110858" bIns="110858" numCol="1" spcCol="1270" anchor="ctr" anchorCtr="0">
              <a:noAutofit/>
            </a:bodyPr>
            <a:lstStyle/>
            <a:p>
              <a:pPr marL="0" lvl="0" indent="0" algn="ctr" defTabSz="400050">
                <a:lnSpc>
                  <a:spcPct val="90000"/>
                </a:lnSpc>
                <a:spcBef>
                  <a:spcPct val="0"/>
                </a:spcBef>
                <a:spcAft>
                  <a:spcPct val="35000"/>
                </a:spcAft>
                <a:buNone/>
              </a:pPr>
              <a:r>
                <a:rPr lang="zh-CN" altLang="en-US" sz="900" kern="1200" dirty="0"/>
                <a:t>医疗</a:t>
              </a:r>
              <a:r>
                <a:rPr lang="en-US" altLang="zh-CN" sz="900" kern="1200" dirty="0"/>
                <a:t>/M</a:t>
              </a:r>
              <a:endParaRPr lang="zh-CN" altLang="en-US" sz="900" kern="1200" dirty="0"/>
            </a:p>
          </p:txBody>
        </p:sp>
        <p:sp>
          <p:nvSpPr>
            <p:cNvPr id="10" name="任意多边形: 形状 9">
              <a:extLst>
                <a:ext uri="{FF2B5EF4-FFF2-40B4-BE49-F238E27FC236}">
                  <a16:creationId xmlns:a16="http://schemas.microsoft.com/office/drawing/2014/main" id="{1233CF8C-302D-5BB7-7D19-6D04D39DE921}"/>
                </a:ext>
              </a:extLst>
            </p:cNvPr>
            <p:cNvSpPr/>
            <p:nvPr/>
          </p:nvSpPr>
          <p:spPr>
            <a:xfrm>
              <a:off x="7025044" y="3445182"/>
              <a:ext cx="678937" cy="678937"/>
            </a:xfrm>
            <a:custGeom>
              <a:avLst/>
              <a:gdLst>
                <a:gd name="csX0" fmla="*/ 0 w 678937"/>
                <a:gd name="csY0" fmla="*/ 339469 h 678937"/>
                <a:gd name="csX1" fmla="*/ 339469 w 678937"/>
                <a:gd name="csY1" fmla="*/ 0 h 678937"/>
                <a:gd name="csX2" fmla="*/ 678938 w 678937"/>
                <a:gd name="csY2" fmla="*/ 339469 h 678937"/>
                <a:gd name="csX3" fmla="*/ 339469 w 678937"/>
                <a:gd name="csY3" fmla="*/ 678938 h 678937"/>
                <a:gd name="csX4" fmla="*/ 0 w 678937"/>
                <a:gd name="csY4" fmla="*/ 339469 h 678937"/>
              </a:gdLst>
              <a:ahLst/>
              <a:cxnLst>
                <a:cxn ang="0">
                  <a:pos x="csX0" y="csY0"/>
                </a:cxn>
                <a:cxn ang="0">
                  <a:pos x="csX1" y="csY1"/>
                </a:cxn>
                <a:cxn ang="0">
                  <a:pos x="csX2" y="csY2"/>
                </a:cxn>
                <a:cxn ang="0">
                  <a:pos x="csX3" y="csY3"/>
                </a:cxn>
                <a:cxn ang="0">
                  <a:pos x="csX4" y="csY4"/>
                </a:cxn>
              </a:cxnLst>
              <a:rect l="l" t="t" r="r" b="b"/>
              <a:pathLst>
                <a:path w="678937" h="678937">
                  <a:moveTo>
                    <a:pt x="0" y="339469"/>
                  </a:moveTo>
                  <a:cubicBezTo>
                    <a:pt x="0" y="151985"/>
                    <a:pt x="151985" y="0"/>
                    <a:pt x="339469" y="0"/>
                  </a:cubicBezTo>
                  <a:cubicBezTo>
                    <a:pt x="526953" y="0"/>
                    <a:pt x="678938" y="151985"/>
                    <a:pt x="678938" y="339469"/>
                  </a:cubicBezTo>
                  <a:cubicBezTo>
                    <a:pt x="678938" y="526953"/>
                    <a:pt x="526953" y="678938"/>
                    <a:pt x="339469" y="678938"/>
                  </a:cubicBezTo>
                  <a:cubicBezTo>
                    <a:pt x="151985" y="678938"/>
                    <a:pt x="0" y="526953"/>
                    <a:pt x="0" y="339469"/>
                  </a:cubicBezTo>
                  <a:close/>
                </a:path>
              </a:pathLst>
            </a:custGeom>
          </p:spPr>
          <p:style>
            <a:lnRef idx="0">
              <a:schemeClr val="lt1">
                <a:hueOff val="0"/>
                <a:satOff val="0"/>
                <a:lumOff val="0"/>
                <a:alphaOff val="0"/>
              </a:schemeClr>
            </a:lnRef>
            <a:fillRef idx="3">
              <a:schemeClr val="accent2">
                <a:alpha val="50000"/>
                <a:hueOff val="0"/>
                <a:satOff val="0"/>
                <a:lumOff val="0"/>
                <a:alphaOff val="0"/>
              </a:schemeClr>
            </a:fillRef>
            <a:effectRef idx="0">
              <a:schemeClr val="accent2">
                <a:alpha val="50000"/>
                <a:hueOff val="0"/>
                <a:satOff val="0"/>
                <a:lumOff val="0"/>
                <a:alphaOff val="0"/>
              </a:schemeClr>
            </a:effectRef>
            <a:fontRef idx="minor">
              <a:schemeClr val="tx1"/>
            </a:fontRef>
          </p:style>
          <p:txBody>
            <a:bodyPr spcFirstLastPara="0" vert="horz" wrap="square" lIns="110858" tIns="110858" rIns="110858" bIns="110858" numCol="1" spcCol="1270" anchor="ctr" anchorCtr="0">
              <a:noAutofit/>
            </a:bodyPr>
            <a:lstStyle/>
            <a:p>
              <a:pPr marL="0" lvl="0" indent="0" algn="ctr" defTabSz="400050">
                <a:lnSpc>
                  <a:spcPct val="90000"/>
                </a:lnSpc>
                <a:spcBef>
                  <a:spcPct val="0"/>
                </a:spcBef>
                <a:spcAft>
                  <a:spcPct val="35000"/>
                </a:spcAft>
                <a:buNone/>
              </a:pPr>
              <a:r>
                <a:rPr lang="zh-CN" altLang="en-US" sz="900" kern="1200" dirty="0"/>
                <a:t>商业</a:t>
              </a:r>
              <a:r>
                <a:rPr lang="en-US" altLang="zh-CN" sz="900" kern="1200" dirty="0"/>
                <a:t>/C</a:t>
              </a:r>
              <a:endParaRPr lang="zh-CN" altLang="en-US" sz="900" kern="1200" dirty="0"/>
            </a:p>
          </p:txBody>
        </p:sp>
        <p:sp>
          <p:nvSpPr>
            <p:cNvPr id="11" name="任意多边形: 形状 10">
              <a:extLst>
                <a:ext uri="{FF2B5EF4-FFF2-40B4-BE49-F238E27FC236}">
                  <a16:creationId xmlns:a16="http://schemas.microsoft.com/office/drawing/2014/main" id="{79CB7324-39A9-39E6-26B8-8902B9160C94}"/>
                </a:ext>
              </a:extLst>
            </p:cNvPr>
            <p:cNvSpPr/>
            <p:nvPr/>
          </p:nvSpPr>
          <p:spPr>
            <a:xfrm>
              <a:off x="6399757" y="3186179"/>
              <a:ext cx="678937" cy="678937"/>
            </a:xfrm>
            <a:custGeom>
              <a:avLst/>
              <a:gdLst>
                <a:gd name="csX0" fmla="*/ 0 w 678937"/>
                <a:gd name="csY0" fmla="*/ 339469 h 678937"/>
                <a:gd name="csX1" fmla="*/ 339469 w 678937"/>
                <a:gd name="csY1" fmla="*/ 0 h 678937"/>
                <a:gd name="csX2" fmla="*/ 678938 w 678937"/>
                <a:gd name="csY2" fmla="*/ 339469 h 678937"/>
                <a:gd name="csX3" fmla="*/ 339469 w 678937"/>
                <a:gd name="csY3" fmla="*/ 678938 h 678937"/>
                <a:gd name="csX4" fmla="*/ 0 w 678937"/>
                <a:gd name="csY4" fmla="*/ 339469 h 678937"/>
              </a:gdLst>
              <a:ahLst/>
              <a:cxnLst>
                <a:cxn ang="0">
                  <a:pos x="csX0" y="csY0"/>
                </a:cxn>
                <a:cxn ang="0">
                  <a:pos x="csX1" y="csY1"/>
                </a:cxn>
                <a:cxn ang="0">
                  <a:pos x="csX2" y="csY2"/>
                </a:cxn>
                <a:cxn ang="0">
                  <a:pos x="csX3" y="csY3"/>
                </a:cxn>
                <a:cxn ang="0">
                  <a:pos x="csX4" y="csY4"/>
                </a:cxn>
              </a:cxnLst>
              <a:rect l="l" t="t" r="r" b="b"/>
              <a:pathLst>
                <a:path w="678937" h="678937">
                  <a:moveTo>
                    <a:pt x="0" y="339469"/>
                  </a:moveTo>
                  <a:cubicBezTo>
                    <a:pt x="0" y="151985"/>
                    <a:pt x="151985" y="0"/>
                    <a:pt x="339469" y="0"/>
                  </a:cubicBezTo>
                  <a:cubicBezTo>
                    <a:pt x="526953" y="0"/>
                    <a:pt x="678938" y="151985"/>
                    <a:pt x="678938" y="339469"/>
                  </a:cubicBezTo>
                  <a:cubicBezTo>
                    <a:pt x="678938" y="526953"/>
                    <a:pt x="526953" y="678938"/>
                    <a:pt x="339469" y="678938"/>
                  </a:cubicBezTo>
                  <a:cubicBezTo>
                    <a:pt x="151985" y="678938"/>
                    <a:pt x="0" y="526953"/>
                    <a:pt x="0" y="339469"/>
                  </a:cubicBezTo>
                  <a:close/>
                </a:path>
              </a:pathLst>
            </a:custGeom>
          </p:spPr>
          <p:style>
            <a:lnRef idx="0">
              <a:schemeClr val="lt1">
                <a:hueOff val="0"/>
                <a:satOff val="0"/>
                <a:lumOff val="0"/>
                <a:alphaOff val="0"/>
              </a:schemeClr>
            </a:lnRef>
            <a:fillRef idx="3">
              <a:schemeClr val="accent3">
                <a:alpha val="50000"/>
                <a:hueOff val="0"/>
                <a:satOff val="0"/>
                <a:lumOff val="0"/>
                <a:alphaOff val="0"/>
              </a:schemeClr>
            </a:fillRef>
            <a:effectRef idx="0">
              <a:schemeClr val="accent3">
                <a:alpha val="50000"/>
                <a:hueOff val="0"/>
                <a:satOff val="0"/>
                <a:lumOff val="0"/>
                <a:alphaOff val="0"/>
              </a:schemeClr>
            </a:effectRef>
            <a:fontRef idx="minor">
              <a:schemeClr val="tx1"/>
            </a:fontRef>
          </p:style>
          <p:txBody>
            <a:bodyPr spcFirstLastPara="0" vert="horz" wrap="square" lIns="110858" tIns="110858" rIns="110858" bIns="110858" numCol="1" spcCol="1270" anchor="ctr" anchorCtr="0">
              <a:noAutofit/>
            </a:bodyPr>
            <a:lstStyle/>
            <a:p>
              <a:pPr marL="0" lvl="0" indent="0" algn="ctr" defTabSz="400050">
                <a:lnSpc>
                  <a:spcPct val="90000"/>
                </a:lnSpc>
                <a:spcBef>
                  <a:spcPct val="0"/>
                </a:spcBef>
                <a:spcAft>
                  <a:spcPct val="35000"/>
                </a:spcAft>
                <a:buNone/>
              </a:pPr>
              <a:r>
                <a:rPr lang="zh-CN" altLang="en-US" sz="900" kern="1200" dirty="0"/>
                <a:t>交通</a:t>
              </a:r>
              <a:r>
                <a:rPr lang="en-US" altLang="zh-CN" sz="900" kern="1200" dirty="0"/>
                <a:t>/T</a:t>
              </a:r>
              <a:endParaRPr lang="zh-CN" altLang="en-US" sz="900" kern="1200" dirty="0"/>
            </a:p>
          </p:txBody>
        </p:sp>
        <p:sp>
          <p:nvSpPr>
            <p:cNvPr id="12" name="任意多边形: 形状 11">
              <a:extLst>
                <a:ext uri="{FF2B5EF4-FFF2-40B4-BE49-F238E27FC236}">
                  <a16:creationId xmlns:a16="http://schemas.microsoft.com/office/drawing/2014/main" id="{104EC5B2-2718-D246-5157-10A37553B8B5}"/>
                </a:ext>
              </a:extLst>
            </p:cNvPr>
            <p:cNvSpPr/>
            <p:nvPr/>
          </p:nvSpPr>
          <p:spPr>
            <a:xfrm>
              <a:off x="6140755" y="2560893"/>
              <a:ext cx="678937" cy="678937"/>
            </a:xfrm>
            <a:custGeom>
              <a:avLst/>
              <a:gdLst>
                <a:gd name="csX0" fmla="*/ 0 w 678937"/>
                <a:gd name="csY0" fmla="*/ 339469 h 678937"/>
                <a:gd name="csX1" fmla="*/ 339469 w 678937"/>
                <a:gd name="csY1" fmla="*/ 0 h 678937"/>
                <a:gd name="csX2" fmla="*/ 678938 w 678937"/>
                <a:gd name="csY2" fmla="*/ 339469 h 678937"/>
                <a:gd name="csX3" fmla="*/ 339469 w 678937"/>
                <a:gd name="csY3" fmla="*/ 678938 h 678937"/>
                <a:gd name="csX4" fmla="*/ 0 w 678937"/>
                <a:gd name="csY4" fmla="*/ 339469 h 678937"/>
              </a:gdLst>
              <a:ahLst/>
              <a:cxnLst>
                <a:cxn ang="0">
                  <a:pos x="csX0" y="csY0"/>
                </a:cxn>
                <a:cxn ang="0">
                  <a:pos x="csX1" y="csY1"/>
                </a:cxn>
                <a:cxn ang="0">
                  <a:pos x="csX2" y="csY2"/>
                </a:cxn>
                <a:cxn ang="0">
                  <a:pos x="csX3" y="csY3"/>
                </a:cxn>
                <a:cxn ang="0">
                  <a:pos x="csX4" y="csY4"/>
                </a:cxn>
              </a:cxnLst>
              <a:rect l="l" t="t" r="r" b="b"/>
              <a:pathLst>
                <a:path w="678937" h="678937">
                  <a:moveTo>
                    <a:pt x="0" y="339469"/>
                  </a:moveTo>
                  <a:cubicBezTo>
                    <a:pt x="0" y="151985"/>
                    <a:pt x="151985" y="0"/>
                    <a:pt x="339469" y="0"/>
                  </a:cubicBezTo>
                  <a:cubicBezTo>
                    <a:pt x="526953" y="0"/>
                    <a:pt x="678938" y="151985"/>
                    <a:pt x="678938" y="339469"/>
                  </a:cubicBezTo>
                  <a:cubicBezTo>
                    <a:pt x="678938" y="526953"/>
                    <a:pt x="526953" y="678938"/>
                    <a:pt x="339469" y="678938"/>
                  </a:cubicBezTo>
                  <a:cubicBezTo>
                    <a:pt x="151985" y="678938"/>
                    <a:pt x="0" y="526953"/>
                    <a:pt x="0" y="339469"/>
                  </a:cubicBezTo>
                  <a:close/>
                </a:path>
              </a:pathLst>
            </a:custGeom>
          </p:spPr>
          <p:style>
            <a:lnRef idx="0">
              <a:schemeClr val="lt1">
                <a:hueOff val="0"/>
                <a:satOff val="0"/>
                <a:lumOff val="0"/>
                <a:alphaOff val="0"/>
              </a:schemeClr>
            </a:lnRef>
            <a:fillRef idx="3">
              <a:schemeClr val="accent4">
                <a:alpha val="50000"/>
                <a:hueOff val="0"/>
                <a:satOff val="0"/>
                <a:lumOff val="0"/>
                <a:alphaOff val="0"/>
              </a:schemeClr>
            </a:fillRef>
            <a:effectRef idx="0">
              <a:schemeClr val="accent4">
                <a:alpha val="50000"/>
                <a:hueOff val="0"/>
                <a:satOff val="0"/>
                <a:lumOff val="0"/>
                <a:alphaOff val="0"/>
              </a:schemeClr>
            </a:effectRef>
            <a:fontRef idx="minor">
              <a:schemeClr val="tx1"/>
            </a:fontRef>
          </p:style>
          <p:txBody>
            <a:bodyPr spcFirstLastPara="0" vert="horz" wrap="square" lIns="110858" tIns="110858" rIns="110858" bIns="110858" numCol="1" spcCol="1270" anchor="ctr" anchorCtr="0">
              <a:noAutofit/>
            </a:bodyPr>
            <a:lstStyle/>
            <a:p>
              <a:pPr marL="0" lvl="0" indent="0" algn="ctr" defTabSz="400050">
                <a:lnSpc>
                  <a:spcPct val="90000"/>
                </a:lnSpc>
                <a:spcBef>
                  <a:spcPct val="0"/>
                </a:spcBef>
                <a:spcAft>
                  <a:spcPct val="35000"/>
                </a:spcAft>
                <a:buNone/>
              </a:pPr>
              <a:r>
                <a:rPr lang="zh-CN" altLang="en-US" sz="900" kern="1200" dirty="0"/>
                <a:t>金融</a:t>
              </a:r>
              <a:r>
                <a:rPr lang="en-US" altLang="zh-CN" sz="900" kern="1200" dirty="0"/>
                <a:t>/F</a:t>
              </a:r>
              <a:endParaRPr lang="zh-CN" altLang="en-US" sz="900" kern="1200" dirty="0"/>
            </a:p>
          </p:txBody>
        </p:sp>
        <p:sp>
          <p:nvSpPr>
            <p:cNvPr id="14" name="任意多边形: 形状 13">
              <a:extLst>
                <a:ext uri="{FF2B5EF4-FFF2-40B4-BE49-F238E27FC236}">
                  <a16:creationId xmlns:a16="http://schemas.microsoft.com/office/drawing/2014/main" id="{AB861643-2DDC-A0E7-F5A0-8D92F81CBBFC}"/>
                </a:ext>
              </a:extLst>
            </p:cNvPr>
            <p:cNvSpPr/>
            <p:nvPr/>
          </p:nvSpPr>
          <p:spPr>
            <a:xfrm>
              <a:off x="6399757" y="1935606"/>
              <a:ext cx="678937" cy="678937"/>
            </a:xfrm>
            <a:custGeom>
              <a:avLst/>
              <a:gdLst>
                <a:gd name="csX0" fmla="*/ 0 w 678937"/>
                <a:gd name="csY0" fmla="*/ 339469 h 678937"/>
                <a:gd name="csX1" fmla="*/ 339469 w 678937"/>
                <a:gd name="csY1" fmla="*/ 0 h 678937"/>
                <a:gd name="csX2" fmla="*/ 678938 w 678937"/>
                <a:gd name="csY2" fmla="*/ 339469 h 678937"/>
                <a:gd name="csX3" fmla="*/ 339469 w 678937"/>
                <a:gd name="csY3" fmla="*/ 678938 h 678937"/>
                <a:gd name="csX4" fmla="*/ 0 w 678937"/>
                <a:gd name="csY4" fmla="*/ 339469 h 678937"/>
              </a:gdLst>
              <a:ahLst/>
              <a:cxnLst>
                <a:cxn ang="0">
                  <a:pos x="csX0" y="csY0"/>
                </a:cxn>
                <a:cxn ang="0">
                  <a:pos x="csX1" y="csY1"/>
                </a:cxn>
                <a:cxn ang="0">
                  <a:pos x="csX2" y="csY2"/>
                </a:cxn>
                <a:cxn ang="0">
                  <a:pos x="csX3" y="csY3"/>
                </a:cxn>
                <a:cxn ang="0">
                  <a:pos x="csX4" y="csY4"/>
                </a:cxn>
              </a:cxnLst>
              <a:rect l="l" t="t" r="r" b="b"/>
              <a:pathLst>
                <a:path w="678937" h="678937">
                  <a:moveTo>
                    <a:pt x="0" y="339469"/>
                  </a:moveTo>
                  <a:cubicBezTo>
                    <a:pt x="0" y="151985"/>
                    <a:pt x="151985" y="0"/>
                    <a:pt x="339469" y="0"/>
                  </a:cubicBezTo>
                  <a:cubicBezTo>
                    <a:pt x="526953" y="0"/>
                    <a:pt x="678938" y="151985"/>
                    <a:pt x="678938" y="339469"/>
                  </a:cubicBezTo>
                  <a:cubicBezTo>
                    <a:pt x="678938" y="526953"/>
                    <a:pt x="526953" y="678938"/>
                    <a:pt x="339469" y="678938"/>
                  </a:cubicBezTo>
                  <a:cubicBezTo>
                    <a:pt x="151985" y="678938"/>
                    <a:pt x="0" y="526953"/>
                    <a:pt x="0" y="339469"/>
                  </a:cubicBezTo>
                  <a:close/>
                </a:path>
              </a:pathLst>
            </a:custGeom>
          </p:spPr>
          <p:style>
            <a:lnRef idx="0">
              <a:schemeClr val="lt1">
                <a:hueOff val="0"/>
                <a:satOff val="0"/>
                <a:lumOff val="0"/>
                <a:alphaOff val="0"/>
              </a:schemeClr>
            </a:lnRef>
            <a:fillRef idx="3">
              <a:schemeClr val="accent5">
                <a:alpha val="50000"/>
                <a:hueOff val="0"/>
                <a:satOff val="0"/>
                <a:lumOff val="0"/>
                <a:alphaOff val="0"/>
              </a:schemeClr>
            </a:fillRef>
            <a:effectRef idx="0">
              <a:schemeClr val="accent5">
                <a:alpha val="50000"/>
                <a:hueOff val="0"/>
                <a:satOff val="0"/>
                <a:lumOff val="0"/>
                <a:alphaOff val="0"/>
              </a:schemeClr>
            </a:effectRef>
            <a:fontRef idx="minor">
              <a:schemeClr val="tx1"/>
            </a:fontRef>
          </p:style>
          <p:txBody>
            <a:bodyPr spcFirstLastPara="0" vert="horz" wrap="square" lIns="110858" tIns="110858" rIns="110858" bIns="110858" numCol="1" spcCol="1270" anchor="ctr" anchorCtr="0">
              <a:noAutofit/>
            </a:bodyPr>
            <a:lstStyle/>
            <a:p>
              <a:pPr marL="0" lvl="0" indent="0" algn="ctr" defTabSz="400050">
                <a:lnSpc>
                  <a:spcPct val="90000"/>
                </a:lnSpc>
                <a:spcBef>
                  <a:spcPct val="0"/>
                </a:spcBef>
                <a:spcAft>
                  <a:spcPct val="35000"/>
                </a:spcAft>
                <a:buNone/>
              </a:pPr>
              <a:r>
                <a:rPr lang="zh-CN" altLang="en-US" sz="900" kern="1200" dirty="0"/>
                <a:t>政务</a:t>
              </a:r>
              <a:r>
                <a:rPr lang="en-US" altLang="zh-CN" sz="900" kern="1200" dirty="0"/>
                <a:t>/P</a:t>
              </a:r>
              <a:endParaRPr lang="zh-CN" altLang="en-US" sz="900" kern="1200" dirty="0"/>
            </a:p>
          </p:txBody>
        </p:sp>
      </p:grpSp>
    </p:spTree>
    <p:extLst>
      <p:ext uri="{BB962C8B-B14F-4D97-AF65-F5344CB8AC3E}">
        <p14:creationId xmlns:p14="http://schemas.microsoft.com/office/powerpoint/2010/main" val="1514084697"/>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DE1D7F-5FAD-5658-3A9B-3F0CEC873714}"/>
            </a:ext>
          </a:extLst>
        </p:cNvPr>
        <p:cNvGrpSpPr/>
        <p:nvPr/>
      </p:nvGrpSpPr>
      <p:grpSpPr>
        <a:xfrm>
          <a:off x="0" y="0"/>
          <a:ext cx="0" cy="0"/>
          <a:chOff x="0" y="0"/>
          <a:chExt cx="0" cy="0"/>
        </a:xfrm>
      </p:grpSpPr>
      <p:sp>
        <p:nvSpPr>
          <p:cNvPr id="7" name="标题 6">
            <a:extLst>
              <a:ext uri="{FF2B5EF4-FFF2-40B4-BE49-F238E27FC236}">
                <a16:creationId xmlns:a16="http://schemas.microsoft.com/office/drawing/2014/main" id="{39E7BF32-29D8-98DF-AC28-0E2A8DF87507}"/>
              </a:ext>
            </a:extLst>
          </p:cNvPr>
          <p:cNvSpPr>
            <a:spLocks noGrp="1"/>
          </p:cNvSpPr>
          <p:nvPr>
            <p:ph type="title"/>
          </p:nvPr>
        </p:nvSpPr>
        <p:spPr>
          <a:xfrm>
            <a:off x="612000" y="229850"/>
            <a:ext cx="7920000" cy="341632"/>
          </a:xfrm>
        </p:spPr>
        <p:txBody>
          <a:bodyPr/>
          <a:lstStyle/>
          <a:p>
            <a:r>
              <a:rPr lang="zh-CN" altLang="en-US" dirty="0"/>
              <a:t>互联网</a:t>
            </a:r>
            <a:r>
              <a:rPr lang="en-US" altLang="zh-CN" dirty="0"/>
              <a:t>+ Internet Plus</a:t>
            </a:r>
            <a:endParaRPr lang="fr-FR" altLang="zh-CN" dirty="0"/>
          </a:p>
        </p:txBody>
      </p:sp>
      <p:sp>
        <p:nvSpPr>
          <p:cNvPr id="3" name="内容占位符 2">
            <a:extLst>
              <a:ext uri="{FF2B5EF4-FFF2-40B4-BE49-F238E27FC236}">
                <a16:creationId xmlns:a16="http://schemas.microsoft.com/office/drawing/2014/main" id="{095BF98C-B632-E1F9-EEA0-2055C5609E74}"/>
              </a:ext>
            </a:extLst>
          </p:cNvPr>
          <p:cNvSpPr>
            <a:spLocks noGrp="1"/>
          </p:cNvSpPr>
          <p:nvPr>
            <p:ph sz="quarter" idx="10"/>
          </p:nvPr>
        </p:nvSpPr>
        <p:spPr>
          <a:xfrm>
            <a:off x="612000" y="1152000"/>
            <a:ext cx="7920000" cy="3496659"/>
          </a:xfrm>
        </p:spPr>
        <p:txBody>
          <a:bodyPr/>
          <a:lstStyle/>
          <a:p>
            <a:r>
              <a:rPr lang="zh-CN" altLang="en-US" dirty="0"/>
              <a:t>课堂讨论</a:t>
            </a:r>
            <a:endParaRPr lang="en-US" altLang="zh-CN" dirty="0"/>
          </a:p>
          <a:p>
            <a:pPr lvl="1"/>
            <a:r>
              <a:rPr lang="zh-CN" altLang="en-US" dirty="0"/>
              <a:t>通过阅读：</a:t>
            </a:r>
            <a:r>
              <a:rPr lang="zh-CN" altLang="en-US" dirty="0">
                <a:hlinkClick r:id="rId3"/>
              </a:rPr>
              <a:t>互联网</a:t>
            </a:r>
            <a:r>
              <a:rPr lang="en-US" altLang="zh-CN" dirty="0">
                <a:hlinkClick r:id="rId3"/>
              </a:rPr>
              <a:t>+</a:t>
            </a:r>
            <a:r>
              <a:rPr lang="zh-CN" altLang="en-US" dirty="0">
                <a:hlinkClick r:id="rId3"/>
              </a:rPr>
              <a:t>改变生活</a:t>
            </a:r>
            <a:endParaRPr lang="en-US" altLang="zh-CN" dirty="0"/>
          </a:p>
          <a:p>
            <a:pPr lvl="1"/>
            <a:r>
              <a:rPr lang="zh-CN" altLang="en-US" dirty="0"/>
              <a:t>小组分工</a:t>
            </a:r>
            <a:endParaRPr lang="en-US" altLang="zh-CN" dirty="0"/>
          </a:p>
          <a:p>
            <a:pPr lvl="1"/>
            <a:r>
              <a:rPr lang="zh-CN" altLang="en-US" dirty="0"/>
              <a:t>或结合自身实际情况，分析互联网带来的变化</a:t>
            </a:r>
          </a:p>
        </p:txBody>
      </p:sp>
    </p:spTree>
    <p:extLst>
      <p:ext uri="{BB962C8B-B14F-4D97-AF65-F5344CB8AC3E}">
        <p14:creationId xmlns:p14="http://schemas.microsoft.com/office/powerpoint/2010/main" val="2919782141"/>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2AE736D-B3C2-918F-7687-76FCC4CDAA72}"/>
              </a:ext>
            </a:extLst>
          </p:cNvPr>
          <p:cNvSpPr>
            <a:spLocks noGrp="1"/>
          </p:cNvSpPr>
          <p:nvPr>
            <p:ph type="title"/>
          </p:nvPr>
        </p:nvSpPr>
        <p:spPr>
          <a:xfrm>
            <a:off x="612000" y="229850"/>
            <a:ext cx="7920000" cy="341632"/>
          </a:xfrm>
        </p:spPr>
        <p:txBody>
          <a:bodyPr/>
          <a:lstStyle/>
          <a:p>
            <a:r>
              <a:rPr lang="zh-CN" altLang="en-US" dirty="0"/>
              <a:t>课后思考</a:t>
            </a:r>
            <a:endParaRPr lang="en-US" altLang="zh-CN" dirty="0"/>
          </a:p>
        </p:txBody>
      </p:sp>
      <p:sp>
        <p:nvSpPr>
          <p:cNvPr id="3" name="内容占位符 2">
            <a:extLst>
              <a:ext uri="{FF2B5EF4-FFF2-40B4-BE49-F238E27FC236}">
                <a16:creationId xmlns:a16="http://schemas.microsoft.com/office/drawing/2014/main" id="{6332D36E-7C2E-0376-978B-6AAC2CD05E4F}"/>
              </a:ext>
            </a:extLst>
          </p:cNvPr>
          <p:cNvSpPr>
            <a:spLocks noGrp="1"/>
          </p:cNvSpPr>
          <p:nvPr>
            <p:ph sz="quarter" idx="10"/>
          </p:nvPr>
        </p:nvSpPr>
        <p:spPr>
          <a:xfrm>
            <a:off x="612000" y="1152000"/>
            <a:ext cx="7920000" cy="3496659"/>
          </a:xfrm>
        </p:spPr>
        <p:txBody>
          <a:bodyPr/>
          <a:lstStyle/>
          <a:p>
            <a:r>
              <a:rPr lang="zh-CN" altLang="en-US" dirty="0"/>
              <a:t>下面表述分别是哪个网？</a:t>
            </a:r>
            <a:endParaRPr lang="en-US" altLang="zh-CN" dirty="0"/>
          </a:p>
          <a:p>
            <a:pPr lvl="1"/>
            <a:r>
              <a:rPr lang="zh-CN" altLang="en-US" dirty="0"/>
              <a:t>上网</a:t>
            </a:r>
            <a:endParaRPr lang="en-US" altLang="zh-CN" dirty="0"/>
          </a:p>
          <a:p>
            <a:pPr lvl="1"/>
            <a:r>
              <a:rPr lang="zh-CN" altLang="en-US" dirty="0"/>
              <a:t>联网</a:t>
            </a:r>
            <a:endParaRPr lang="en-US" altLang="zh-CN" dirty="0"/>
          </a:p>
          <a:p>
            <a:pPr lvl="1"/>
            <a:r>
              <a:rPr lang="zh-CN" altLang="en-US" dirty="0"/>
              <a:t>网民</a:t>
            </a:r>
            <a:endParaRPr lang="en-US" altLang="zh-CN" dirty="0"/>
          </a:p>
          <a:p>
            <a:pPr lvl="1"/>
            <a:r>
              <a:rPr lang="zh-CN" altLang="en-US" dirty="0"/>
              <a:t>网吧</a:t>
            </a:r>
            <a:endParaRPr lang="en-US" altLang="zh-CN" dirty="0"/>
          </a:p>
          <a:p>
            <a:pPr lvl="1"/>
            <a:r>
              <a:rPr lang="zh-CN" altLang="en-US" dirty="0"/>
              <a:t>网银</a:t>
            </a:r>
            <a:endParaRPr lang="en-US" altLang="zh-CN" dirty="0"/>
          </a:p>
          <a:p>
            <a:pPr lvl="1"/>
            <a:r>
              <a:rPr lang="zh-CN" altLang="en-US" dirty="0"/>
              <a:t>网购</a:t>
            </a:r>
            <a:endParaRPr lang="en-US" altLang="zh-CN" dirty="0"/>
          </a:p>
          <a:p>
            <a:pPr lvl="1"/>
            <a:r>
              <a:rPr lang="zh-CN" altLang="en-US" dirty="0"/>
              <a:t>网管</a:t>
            </a:r>
            <a:endParaRPr lang="en-US" altLang="zh-CN" dirty="0"/>
          </a:p>
          <a:p>
            <a:pPr lvl="1"/>
            <a:r>
              <a:rPr lang="zh-CN" altLang="en-US" dirty="0"/>
              <a:t>知网</a:t>
            </a:r>
          </a:p>
        </p:txBody>
      </p:sp>
    </p:spTree>
    <p:extLst>
      <p:ext uri="{BB962C8B-B14F-4D97-AF65-F5344CB8AC3E}">
        <p14:creationId xmlns:p14="http://schemas.microsoft.com/office/powerpoint/2010/main" val="327792134"/>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6539D0B-8B87-D524-77D4-F56BC98F19C4}"/>
              </a:ext>
            </a:extLst>
          </p:cNvPr>
          <p:cNvSpPr>
            <a:spLocks noGrp="1"/>
          </p:cNvSpPr>
          <p:nvPr>
            <p:ph type="title"/>
          </p:nvPr>
        </p:nvSpPr>
        <p:spPr>
          <a:xfrm>
            <a:off x="2228850" y="403553"/>
            <a:ext cx="6562725" cy="523220"/>
          </a:xfrm>
        </p:spPr>
        <p:txBody>
          <a:bodyPr/>
          <a:lstStyle/>
          <a:p>
            <a:r>
              <a:rPr lang="fr-FR" altLang="zh-CN" dirty="0"/>
              <a:t>1.2 </a:t>
            </a:r>
            <a:r>
              <a:rPr lang="zh-CN" altLang="fr-FR" dirty="0"/>
              <a:t>互联网概述</a:t>
            </a:r>
          </a:p>
        </p:txBody>
      </p:sp>
      <p:sp>
        <p:nvSpPr>
          <p:cNvPr id="5" name="文本框 4">
            <a:extLst>
              <a:ext uri="{FF2B5EF4-FFF2-40B4-BE49-F238E27FC236}">
                <a16:creationId xmlns:a16="http://schemas.microsoft.com/office/drawing/2014/main" id="{E2FBC6A8-51C1-C9CC-BB8D-766434F14146}"/>
              </a:ext>
            </a:extLst>
          </p:cNvPr>
          <p:cNvSpPr txBox="1"/>
          <p:nvPr/>
        </p:nvSpPr>
        <p:spPr>
          <a:xfrm>
            <a:off x="3138488" y="1345253"/>
            <a:ext cx="1338828" cy="646331"/>
          </a:xfrm>
          <a:prstGeom prst="rect">
            <a:avLst/>
          </a:prstGeom>
          <a:noFill/>
        </p:spPr>
        <p:txBody>
          <a:bodyPr wrap="none" rtlCol="0">
            <a:spAutoFit/>
          </a:bodyPr>
          <a:lstStyle/>
          <a:p>
            <a:r>
              <a:rPr lang="en-US" altLang="zh-CN" dirty="0"/>
              <a:t>1.2.1 </a:t>
            </a:r>
          </a:p>
          <a:p>
            <a:r>
              <a:rPr lang="zh-CN" altLang="en-US" dirty="0"/>
              <a:t>网络的网络</a:t>
            </a:r>
            <a:endParaRPr lang="en-US" altLang="zh-CN" dirty="0"/>
          </a:p>
        </p:txBody>
      </p:sp>
      <p:sp>
        <p:nvSpPr>
          <p:cNvPr id="6" name="文本框 5">
            <a:extLst>
              <a:ext uri="{FF2B5EF4-FFF2-40B4-BE49-F238E27FC236}">
                <a16:creationId xmlns:a16="http://schemas.microsoft.com/office/drawing/2014/main" id="{7062736F-C385-EB2D-6360-D4932D64A0DC}"/>
              </a:ext>
            </a:extLst>
          </p:cNvPr>
          <p:cNvSpPr txBox="1"/>
          <p:nvPr/>
        </p:nvSpPr>
        <p:spPr>
          <a:xfrm>
            <a:off x="3946562" y="2202419"/>
            <a:ext cx="3416320" cy="646331"/>
          </a:xfrm>
          <a:prstGeom prst="rect">
            <a:avLst/>
          </a:prstGeom>
          <a:noFill/>
        </p:spPr>
        <p:txBody>
          <a:bodyPr wrap="none" rtlCol="0">
            <a:spAutoFit/>
          </a:bodyPr>
          <a:lstStyle/>
          <a:p>
            <a:r>
              <a:rPr lang="en-US" altLang="zh-CN" dirty="0"/>
              <a:t>1.2.2 </a:t>
            </a:r>
          </a:p>
          <a:p>
            <a:r>
              <a:rPr lang="zh-CN" altLang="zh-CN" dirty="0"/>
              <a:t>互联网基础结构发展的三个阶段</a:t>
            </a:r>
          </a:p>
        </p:txBody>
      </p:sp>
      <p:sp>
        <p:nvSpPr>
          <p:cNvPr id="7" name="文本框 6">
            <a:extLst>
              <a:ext uri="{FF2B5EF4-FFF2-40B4-BE49-F238E27FC236}">
                <a16:creationId xmlns:a16="http://schemas.microsoft.com/office/drawing/2014/main" id="{B28F28F2-8DD0-AA89-8072-761E33D988B7}"/>
              </a:ext>
            </a:extLst>
          </p:cNvPr>
          <p:cNvSpPr txBox="1"/>
          <p:nvPr/>
        </p:nvSpPr>
        <p:spPr>
          <a:xfrm>
            <a:off x="4346612" y="3059584"/>
            <a:ext cx="2262158" cy="646331"/>
          </a:xfrm>
          <a:prstGeom prst="rect">
            <a:avLst/>
          </a:prstGeom>
          <a:noFill/>
        </p:spPr>
        <p:txBody>
          <a:bodyPr wrap="none" rtlCol="0">
            <a:spAutoFit/>
          </a:bodyPr>
          <a:lstStyle/>
          <a:p>
            <a:r>
              <a:rPr lang="en-US" altLang="zh-CN" dirty="0"/>
              <a:t>1.2.3 </a:t>
            </a:r>
          </a:p>
          <a:p>
            <a:r>
              <a:rPr lang="zh-CN" altLang="zh-CN" dirty="0"/>
              <a:t>互联网的标准化工作</a:t>
            </a:r>
            <a:endParaRPr lang="fr-FR" altLang="zh-CN"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98DD33AA-68BC-C27F-7A70-0CD8F96817AA}"/>
              </a:ext>
            </a:extLst>
          </p:cNvPr>
          <p:cNvSpPr>
            <a:spLocks noGrp="1"/>
          </p:cNvSpPr>
          <p:nvPr>
            <p:ph type="title"/>
          </p:nvPr>
        </p:nvSpPr>
        <p:spPr>
          <a:xfrm>
            <a:off x="612000" y="144000"/>
            <a:ext cx="7920000" cy="341632"/>
          </a:xfrm>
        </p:spPr>
        <p:txBody>
          <a:bodyPr/>
          <a:lstStyle/>
          <a:p>
            <a:r>
              <a:rPr lang="en-US" altLang="zh-CN" dirty="0"/>
              <a:t>1.2.1  </a:t>
            </a:r>
            <a:r>
              <a:rPr lang="zh-CN" altLang="en-US" dirty="0"/>
              <a:t>网络的网络</a:t>
            </a:r>
          </a:p>
        </p:txBody>
      </p:sp>
      <p:sp>
        <p:nvSpPr>
          <p:cNvPr id="2" name="内容占位符 1"/>
          <p:cNvSpPr>
            <a:spLocks noGrp="1"/>
          </p:cNvSpPr>
          <p:nvPr>
            <p:ph sz="quarter" idx="10"/>
          </p:nvPr>
        </p:nvSpPr>
        <p:spPr>
          <a:xfrm>
            <a:off x="612000" y="899999"/>
            <a:ext cx="7920000" cy="3780000"/>
          </a:xfrm>
        </p:spPr>
        <p:txBody>
          <a:bodyPr/>
          <a:lstStyle/>
          <a:p>
            <a:r>
              <a:rPr lang="zh-CN" altLang="en-US" dirty="0"/>
              <a:t>计算机网络</a:t>
            </a:r>
            <a:endParaRPr lang="en-US" altLang="zh-CN" dirty="0"/>
          </a:p>
          <a:p>
            <a:pPr lvl="1"/>
            <a:r>
              <a:rPr lang="zh-CN" altLang="en-US" dirty="0"/>
              <a:t>由若干节点</a:t>
            </a:r>
            <a:r>
              <a:rPr lang="en-US" altLang="zh-CN" dirty="0"/>
              <a:t>(Node)</a:t>
            </a:r>
            <a:r>
              <a:rPr lang="zh-CN" altLang="en-US" dirty="0"/>
              <a:t>和连接这些节点的链路</a:t>
            </a:r>
            <a:r>
              <a:rPr lang="en-US" altLang="zh-CN" dirty="0"/>
              <a:t>(Link)</a:t>
            </a:r>
            <a:r>
              <a:rPr lang="zh-CN" altLang="en-US" dirty="0"/>
              <a:t>组成</a:t>
            </a:r>
            <a:endParaRPr lang="en-US" altLang="zh-CN" dirty="0"/>
          </a:p>
          <a:p>
            <a:pPr lvl="1"/>
            <a:r>
              <a:rPr lang="zh-CN" altLang="en-US" dirty="0"/>
              <a:t>用于数据通信和资源共享</a:t>
            </a:r>
            <a:endParaRPr lang="en-US" altLang="zh-CN" dirty="0"/>
          </a:p>
          <a:p>
            <a:pPr lvl="1"/>
            <a:r>
              <a:rPr lang="zh-CN" altLang="en-US" dirty="0"/>
              <a:t>节点可以是计算机、集线器、交换机或路由器等</a:t>
            </a:r>
          </a:p>
        </p:txBody>
      </p:sp>
      <p:sp>
        <p:nvSpPr>
          <p:cNvPr id="6" name="文本框 5">
            <a:extLst>
              <a:ext uri="{FF2B5EF4-FFF2-40B4-BE49-F238E27FC236}">
                <a16:creationId xmlns:a16="http://schemas.microsoft.com/office/drawing/2014/main" id="{39C487A5-8C66-8D05-A23B-1D253C8C55C6}"/>
              </a:ext>
            </a:extLst>
          </p:cNvPr>
          <p:cNvSpPr txBox="1"/>
          <p:nvPr/>
        </p:nvSpPr>
        <p:spPr>
          <a:xfrm>
            <a:off x="3795185" y="4340423"/>
            <a:ext cx="1553630" cy="276999"/>
          </a:xfrm>
          <a:prstGeom prst="rect">
            <a:avLst/>
          </a:prstGeom>
          <a:noFill/>
        </p:spPr>
        <p:txBody>
          <a:bodyPr wrap="none" rtlCol="0">
            <a:spAutoFit/>
          </a:bodyPr>
          <a:lstStyle/>
          <a:p>
            <a:pPr algn="ctr"/>
            <a:r>
              <a:rPr lang="zh-CN" altLang="en-US" sz="1200" dirty="0"/>
              <a:t>图</a:t>
            </a:r>
            <a:r>
              <a:rPr lang="en-US" altLang="zh-CN" sz="1200" dirty="0"/>
              <a:t>1-1 (a) </a:t>
            </a:r>
            <a:r>
              <a:rPr lang="zh-CN" altLang="en-US" sz="1200" dirty="0"/>
              <a:t>简单的网络</a:t>
            </a:r>
          </a:p>
        </p:txBody>
      </p:sp>
      <p:grpSp>
        <p:nvGrpSpPr>
          <p:cNvPr id="45" name="组合 44">
            <a:extLst>
              <a:ext uri="{FF2B5EF4-FFF2-40B4-BE49-F238E27FC236}">
                <a16:creationId xmlns:a16="http://schemas.microsoft.com/office/drawing/2014/main" id="{87E3553A-08F8-71B2-A897-3B16E70C1BF6}"/>
              </a:ext>
            </a:extLst>
          </p:cNvPr>
          <p:cNvGrpSpPr/>
          <p:nvPr/>
        </p:nvGrpSpPr>
        <p:grpSpPr>
          <a:xfrm>
            <a:off x="4710837" y="2707145"/>
            <a:ext cx="504000" cy="504000"/>
            <a:chOff x="2551367" y="2755692"/>
            <a:chExt cx="504000" cy="504000"/>
          </a:xfrm>
        </p:grpSpPr>
        <p:sp>
          <p:nvSpPr>
            <p:cNvPr id="44" name="椭圆 43">
              <a:extLst>
                <a:ext uri="{FF2B5EF4-FFF2-40B4-BE49-F238E27FC236}">
                  <a16:creationId xmlns:a16="http://schemas.microsoft.com/office/drawing/2014/main" id="{C6AFAB37-1288-401C-72A9-1974112359D3}"/>
                </a:ext>
              </a:extLst>
            </p:cNvPr>
            <p:cNvSpPr/>
            <p:nvPr/>
          </p:nvSpPr>
          <p:spPr>
            <a:xfrm>
              <a:off x="2551367" y="2755692"/>
              <a:ext cx="504000" cy="504000"/>
            </a:xfrm>
            <a:prstGeom prst="ellipse">
              <a:avLst/>
            </a:prstGeom>
            <a:noFill/>
            <a:ln w="6350">
              <a:solidFill>
                <a:srgbClr val="607FC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050"/>
            </a:p>
          </p:txBody>
        </p:sp>
        <p:pic>
          <p:nvPicPr>
            <p:cNvPr id="11" name="图片 10">
              <a:extLst>
                <a:ext uri="{FF2B5EF4-FFF2-40B4-BE49-F238E27FC236}">
                  <a16:creationId xmlns:a16="http://schemas.microsoft.com/office/drawing/2014/main" id="{50570DF5-C62F-0B7B-B00C-4889EFD0A4C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603342" y="2855292"/>
              <a:ext cx="400050" cy="304800"/>
            </a:xfrm>
            <a:prstGeom prst="rect">
              <a:avLst/>
            </a:prstGeom>
          </p:spPr>
        </p:pic>
      </p:grpSp>
      <p:grpSp>
        <p:nvGrpSpPr>
          <p:cNvPr id="50" name="组合 49">
            <a:extLst>
              <a:ext uri="{FF2B5EF4-FFF2-40B4-BE49-F238E27FC236}">
                <a16:creationId xmlns:a16="http://schemas.microsoft.com/office/drawing/2014/main" id="{1D343AB3-F211-0D5A-74FA-BDBC82C431E5}"/>
              </a:ext>
            </a:extLst>
          </p:cNvPr>
          <p:cNvGrpSpPr/>
          <p:nvPr/>
        </p:nvGrpSpPr>
        <p:grpSpPr>
          <a:xfrm>
            <a:off x="3610971" y="3217778"/>
            <a:ext cx="504000" cy="504000"/>
            <a:chOff x="2611895" y="3430082"/>
            <a:chExt cx="504000" cy="504000"/>
          </a:xfrm>
        </p:grpSpPr>
        <p:sp>
          <p:nvSpPr>
            <p:cNvPr id="47" name="椭圆 46">
              <a:extLst>
                <a:ext uri="{FF2B5EF4-FFF2-40B4-BE49-F238E27FC236}">
                  <a16:creationId xmlns:a16="http://schemas.microsoft.com/office/drawing/2014/main" id="{8EDB8C56-0264-CF8D-71C6-85A3A756D5A8}"/>
                </a:ext>
              </a:extLst>
            </p:cNvPr>
            <p:cNvSpPr/>
            <p:nvPr/>
          </p:nvSpPr>
          <p:spPr>
            <a:xfrm>
              <a:off x="2611895" y="3430082"/>
              <a:ext cx="504000" cy="504000"/>
            </a:xfrm>
            <a:prstGeom prst="ellipse">
              <a:avLst/>
            </a:prstGeom>
            <a:noFill/>
            <a:ln w="6350">
              <a:solidFill>
                <a:srgbClr val="607FC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050"/>
            </a:p>
          </p:txBody>
        </p:sp>
        <p:pic>
          <p:nvPicPr>
            <p:cNvPr id="49" name="图片 48">
              <a:extLst>
                <a:ext uri="{FF2B5EF4-FFF2-40B4-BE49-F238E27FC236}">
                  <a16:creationId xmlns:a16="http://schemas.microsoft.com/office/drawing/2014/main" id="{6AA9B1C2-15CA-C09B-7AF8-6279E01A588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701970" y="3529682"/>
              <a:ext cx="323850" cy="304800"/>
            </a:xfrm>
            <a:prstGeom prst="rect">
              <a:avLst/>
            </a:prstGeom>
          </p:spPr>
        </p:pic>
      </p:grpSp>
      <p:grpSp>
        <p:nvGrpSpPr>
          <p:cNvPr id="56" name="组合 55">
            <a:extLst>
              <a:ext uri="{FF2B5EF4-FFF2-40B4-BE49-F238E27FC236}">
                <a16:creationId xmlns:a16="http://schemas.microsoft.com/office/drawing/2014/main" id="{C591C6A3-700C-BB31-F5FA-7B9533647FE6}"/>
              </a:ext>
            </a:extLst>
          </p:cNvPr>
          <p:cNvGrpSpPr/>
          <p:nvPr/>
        </p:nvGrpSpPr>
        <p:grpSpPr>
          <a:xfrm>
            <a:off x="4458837" y="3721778"/>
            <a:ext cx="504000" cy="504000"/>
            <a:chOff x="2611895" y="3430082"/>
            <a:chExt cx="504000" cy="504000"/>
          </a:xfrm>
        </p:grpSpPr>
        <p:sp>
          <p:nvSpPr>
            <p:cNvPr id="57" name="椭圆 56">
              <a:extLst>
                <a:ext uri="{FF2B5EF4-FFF2-40B4-BE49-F238E27FC236}">
                  <a16:creationId xmlns:a16="http://schemas.microsoft.com/office/drawing/2014/main" id="{9367A77F-3F2E-C419-DEE4-47EA631E25BD}"/>
                </a:ext>
              </a:extLst>
            </p:cNvPr>
            <p:cNvSpPr/>
            <p:nvPr/>
          </p:nvSpPr>
          <p:spPr>
            <a:xfrm>
              <a:off x="2611895" y="3430082"/>
              <a:ext cx="504000" cy="504000"/>
            </a:xfrm>
            <a:prstGeom prst="ellipse">
              <a:avLst/>
            </a:prstGeom>
            <a:noFill/>
            <a:ln w="6350">
              <a:solidFill>
                <a:srgbClr val="607FC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050"/>
            </a:p>
          </p:txBody>
        </p:sp>
        <p:pic>
          <p:nvPicPr>
            <p:cNvPr id="58" name="图片 57">
              <a:extLst>
                <a:ext uri="{FF2B5EF4-FFF2-40B4-BE49-F238E27FC236}">
                  <a16:creationId xmlns:a16="http://schemas.microsoft.com/office/drawing/2014/main" id="{3C9D04D1-E809-785E-5356-187D82258BB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701970" y="3529682"/>
              <a:ext cx="323850" cy="304800"/>
            </a:xfrm>
            <a:prstGeom prst="rect">
              <a:avLst/>
            </a:prstGeom>
          </p:spPr>
        </p:pic>
      </p:grpSp>
      <p:grpSp>
        <p:nvGrpSpPr>
          <p:cNvPr id="59" name="组合 58">
            <a:extLst>
              <a:ext uri="{FF2B5EF4-FFF2-40B4-BE49-F238E27FC236}">
                <a16:creationId xmlns:a16="http://schemas.microsoft.com/office/drawing/2014/main" id="{EDD080C4-CB2C-E7D0-26E6-AF52A277787C}"/>
              </a:ext>
            </a:extLst>
          </p:cNvPr>
          <p:cNvGrpSpPr/>
          <p:nvPr/>
        </p:nvGrpSpPr>
        <p:grpSpPr>
          <a:xfrm>
            <a:off x="3701046" y="2406318"/>
            <a:ext cx="504000" cy="504000"/>
            <a:chOff x="2611895" y="3430082"/>
            <a:chExt cx="504000" cy="504000"/>
          </a:xfrm>
        </p:grpSpPr>
        <p:sp>
          <p:nvSpPr>
            <p:cNvPr id="60" name="椭圆 59">
              <a:extLst>
                <a:ext uri="{FF2B5EF4-FFF2-40B4-BE49-F238E27FC236}">
                  <a16:creationId xmlns:a16="http://schemas.microsoft.com/office/drawing/2014/main" id="{19A21BE1-40D1-99F0-7EDD-682363B677DF}"/>
                </a:ext>
              </a:extLst>
            </p:cNvPr>
            <p:cNvSpPr/>
            <p:nvPr/>
          </p:nvSpPr>
          <p:spPr>
            <a:xfrm>
              <a:off x="2611895" y="3430082"/>
              <a:ext cx="504000" cy="504000"/>
            </a:xfrm>
            <a:prstGeom prst="ellipse">
              <a:avLst/>
            </a:prstGeom>
            <a:noFill/>
            <a:ln w="6350">
              <a:solidFill>
                <a:srgbClr val="607FC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050"/>
            </a:p>
          </p:txBody>
        </p:sp>
        <p:pic>
          <p:nvPicPr>
            <p:cNvPr id="61" name="图片 60">
              <a:extLst>
                <a:ext uri="{FF2B5EF4-FFF2-40B4-BE49-F238E27FC236}">
                  <a16:creationId xmlns:a16="http://schemas.microsoft.com/office/drawing/2014/main" id="{D30758D5-33FD-BFD3-8431-D4F038AA1A1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701970" y="3529682"/>
              <a:ext cx="323850" cy="304800"/>
            </a:xfrm>
            <a:prstGeom prst="rect">
              <a:avLst/>
            </a:prstGeom>
          </p:spPr>
        </p:pic>
      </p:grpSp>
      <p:cxnSp>
        <p:nvCxnSpPr>
          <p:cNvPr id="63" name="直接连接符 62">
            <a:extLst>
              <a:ext uri="{FF2B5EF4-FFF2-40B4-BE49-F238E27FC236}">
                <a16:creationId xmlns:a16="http://schemas.microsoft.com/office/drawing/2014/main" id="{723287AD-BC62-4B6B-B9A9-8B835188FFC8}"/>
              </a:ext>
            </a:extLst>
          </p:cNvPr>
          <p:cNvCxnSpPr>
            <a:cxnSpLocks/>
            <a:stCxn id="60" idx="6"/>
            <a:endCxn id="44" idx="2"/>
          </p:cNvCxnSpPr>
          <p:nvPr/>
        </p:nvCxnSpPr>
        <p:spPr>
          <a:xfrm>
            <a:off x="4205046" y="2658318"/>
            <a:ext cx="505791" cy="300827"/>
          </a:xfrm>
          <a:prstGeom prst="line">
            <a:avLst/>
          </a:prstGeom>
        </p:spPr>
        <p:style>
          <a:lnRef idx="1">
            <a:schemeClr val="accent1"/>
          </a:lnRef>
          <a:fillRef idx="0">
            <a:schemeClr val="accent1"/>
          </a:fillRef>
          <a:effectRef idx="0">
            <a:schemeClr val="accent1"/>
          </a:effectRef>
          <a:fontRef idx="minor">
            <a:schemeClr val="tx1"/>
          </a:fontRef>
        </p:style>
      </p:cxnSp>
      <p:cxnSp>
        <p:nvCxnSpPr>
          <p:cNvPr id="65" name="直接连接符 64">
            <a:extLst>
              <a:ext uri="{FF2B5EF4-FFF2-40B4-BE49-F238E27FC236}">
                <a16:creationId xmlns:a16="http://schemas.microsoft.com/office/drawing/2014/main" id="{1660BBC3-3E52-6957-7607-C392E961CD10}"/>
              </a:ext>
            </a:extLst>
          </p:cNvPr>
          <p:cNvCxnSpPr>
            <a:stCxn id="47" idx="6"/>
            <a:endCxn id="44" idx="3"/>
          </p:cNvCxnSpPr>
          <p:nvPr/>
        </p:nvCxnSpPr>
        <p:spPr>
          <a:xfrm flipV="1">
            <a:off x="4114971" y="3137336"/>
            <a:ext cx="669675" cy="332442"/>
          </a:xfrm>
          <a:prstGeom prst="line">
            <a:avLst/>
          </a:prstGeom>
        </p:spPr>
        <p:style>
          <a:lnRef idx="1">
            <a:schemeClr val="accent1"/>
          </a:lnRef>
          <a:fillRef idx="0">
            <a:schemeClr val="accent1"/>
          </a:fillRef>
          <a:effectRef idx="0">
            <a:schemeClr val="accent1"/>
          </a:effectRef>
          <a:fontRef idx="minor">
            <a:schemeClr val="tx1"/>
          </a:fontRef>
        </p:style>
      </p:cxnSp>
      <p:cxnSp>
        <p:nvCxnSpPr>
          <p:cNvPr id="67" name="直接连接符 66">
            <a:extLst>
              <a:ext uri="{FF2B5EF4-FFF2-40B4-BE49-F238E27FC236}">
                <a16:creationId xmlns:a16="http://schemas.microsoft.com/office/drawing/2014/main" id="{0594954C-EDB6-A35A-4151-F932E4707F75}"/>
              </a:ext>
            </a:extLst>
          </p:cNvPr>
          <p:cNvCxnSpPr>
            <a:cxnSpLocks/>
            <a:stCxn id="57" idx="0"/>
            <a:endCxn id="44" idx="4"/>
          </p:cNvCxnSpPr>
          <p:nvPr/>
        </p:nvCxnSpPr>
        <p:spPr>
          <a:xfrm flipV="1">
            <a:off x="4710837" y="3211145"/>
            <a:ext cx="252000" cy="510633"/>
          </a:xfrm>
          <a:prstGeom prst="line">
            <a:avLst/>
          </a:prstGeom>
        </p:spPr>
        <p:style>
          <a:lnRef idx="1">
            <a:schemeClr val="accent1"/>
          </a:lnRef>
          <a:fillRef idx="0">
            <a:schemeClr val="accent1"/>
          </a:fillRef>
          <a:effectRef idx="0">
            <a:schemeClr val="accent1"/>
          </a:effectRef>
          <a:fontRef idx="minor">
            <a:schemeClr val="tx1"/>
          </a:fontRef>
        </p:style>
      </p:cxnSp>
      <p:sp>
        <p:nvSpPr>
          <p:cNvPr id="74" name="文本框 73">
            <a:extLst>
              <a:ext uri="{FF2B5EF4-FFF2-40B4-BE49-F238E27FC236}">
                <a16:creationId xmlns:a16="http://schemas.microsoft.com/office/drawing/2014/main" id="{041763E5-0AB8-8852-A51E-7D45382D3802}"/>
              </a:ext>
            </a:extLst>
          </p:cNvPr>
          <p:cNvSpPr txBox="1"/>
          <p:nvPr/>
        </p:nvSpPr>
        <p:spPr>
          <a:xfrm>
            <a:off x="5228185" y="2820645"/>
            <a:ext cx="463588" cy="215444"/>
          </a:xfrm>
          <a:prstGeom prst="rect">
            <a:avLst/>
          </a:prstGeom>
          <a:noFill/>
        </p:spPr>
        <p:txBody>
          <a:bodyPr wrap="none" rtlCol="0">
            <a:spAutoFit/>
          </a:bodyPr>
          <a:lstStyle/>
          <a:p>
            <a:pPr algn="l"/>
            <a:r>
              <a:rPr lang="en-US" altLang="zh-CN" sz="800" dirty="0"/>
              <a:t>Node</a:t>
            </a:r>
            <a:endParaRPr lang="zh-CN" altLang="en-US" sz="800" dirty="0"/>
          </a:p>
        </p:txBody>
      </p:sp>
      <p:sp>
        <p:nvSpPr>
          <p:cNvPr id="76" name="文本框 75">
            <a:extLst>
              <a:ext uri="{FF2B5EF4-FFF2-40B4-BE49-F238E27FC236}">
                <a16:creationId xmlns:a16="http://schemas.microsoft.com/office/drawing/2014/main" id="{8253B971-6AC0-75F9-72B2-EC7608E2C333}"/>
              </a:ext>
            </a:extLst>
          </p:cNvPr>
          <p:cNvSpPr txBox="1"/>
          <p:nvPr/>
        </p:nvSpPr>
        <p:spPr>
          <a:xfrm>
            <a:off x="4947626" y="3872200"/>
            <a:ext cx="463588" cy="215444"/>
          </a:xfrm>
          <a:prstGeom prst="rect">
            <a:avLst/>
          </a:prstGeom>
          <a:noFill/>
        </p:spPr>
        <p:txBody>
          <a:bodyPr wrap="none" rtlCol="0">
            <a:spAutoFit/>
          </a:bodyPr>
          <a:lstStyle/>
          <a:p>
            <a:r>
              <a:rPr lang="en-US" altLang="zh-CN" sz="800" dirty="0"/>
              <a:t>Node</a:t>
            </a:r>
            <a:endParaRPr lang="zh-CN" altLang="en-US" sz="800" dirty="0"/>
          </a:p>
        </p:txBody>
      </p:sp>
      <p:sp>
        <p:nvSpPr>
          <p:cNvPr id="78" name="文本框 77">
            <a:extLst>
              <a:ext uri="{FF2B5EF4-FFF2-40B4-BE49-F238E27FC236}">
                <a16:creationId xmlns:a16="http://schemas.microsoft.com/office/drawing/2014/main" id="{7EDAE8B5-5613-B003-A500-F03E473A620A}"/>
              </a:ext>
            </a:extLst>
          </p:cNvPr>
          <p:cNvSpPr txBox="1"/>
          <p:nvPr/>
        </p:nvSpPr>
        <p:spPr>
          <a:xfrm>
            <a:off x="3087173" y="3345179"/>
            <a:ext cx="463588" cy="215444"/>
          </a:xfrm>
          <a:prstGeom prst="rect">
            <a:avLst/>
          </a:prstGeom>
          <a:noFill/>
        </p:spPr>
        <p:txBody>
          <a:bodyPr wrap="none" rtlCol="0">
            <a:spAutoFit/>
          </a:bodyPr>
          <a:lstStyle/>
          <a:p>
            <a:r>
              <a:rPr lang="en-US" altLang="zh-CN" sz="800" dirty="0"/>
              <a:t>Node</a:t>
            </a:r>
            <a:endParaRPr lang="zh-CN" altLang="en-US" sz="800" dirty="0"/>
          </a:p>
        </p:txBody>
      </p:sp>
      <p:sp>
        <p:nvSpPr>
          <p:cNvPr id="80" name="文本框 79">
            <a:extLst>
              <a:ext uri="{FF2B5EF4-FFF2-40B4-BE49-F238E27FC236}">
                <a16:creationId xmlns:a16="http://schemas.microsoft.com/office/drawing/2014/main" id="{002FB94D-647F-0797-C4F5-ED44E9FB8EDC}"/>
              </a:ext>
            </a:extLst>
          </p:cNvPr>
          <p:cNvSpPr txBox="1"/>
          <p:nvPr/>
        </p:nvSpPr>
        <p:spPr>
          <a:xfrm>
            <a:off x="3183027" y="2433250"/>
            <a:ext cx="463588" cy="215444"/>
          </a:xfrm>
          <a:prstGeom prst="rect">
            <a:avLst/>
          </a:prstGeom>
          <a:noFill/>
        </p:spPr>
        <p:txBody>
          <a:bodyPr wrap="none" rtlCol="0">
            <a:spAutoFit/>
          </a:bodyPr>
          <a:lstStyle/>
          <a:p>
            <a:r>
              <a:rPr lang="en-US" altLang="zh-CN" sz="800" dirty="0"/>
              <a:t>Node</a:t>
            </a:r>
            <a:endParaRPr lang="zh-CN" altLang="en-US" sz="800" dirty="0"/>
          </a:p>
        </p:txBody>
      </p:sp>
      <p:sp>
        <p:nvSpPr>
          <p:cNvPr id="82" name="文本框 81">
            <a:extLst>
              <a:ext uri="{FF2B5EF4-FFF2-40B4-BE49-F238E27FC236}">
                <a16:creationId xmlns:a16="http://schemas.microsoft.com/office/drawing/2014/main" id="{B237FDD5-E54D-B7F3-675F-ABCFAF82530B}"/>
              </a:ext>
            </a:extLst>
          </p:cNvPr>
          <p:cNvSpPr txBox="1"/>
          <p:nvPr/>
        </p:nvSpPr>
        <p:spPr>
          <a:xfrm>
            <a:off x="4784646" y="3381079"/>
            <a:ext cx="402674" cy="215444"/>
          </a:xfrm>
          <a:prstGeom prst="rect">
            <a:avLst/>
          </a:prstGeom>
          <a:noFill/>
        </p:spPr>
        <p:txBody>
          <a:bodyPr wrap="none" rtlCol="0">
            <a:spAutoFit/>
          </a:bodyPr>
          <a:lstStyle/>
          <a:p>
            <a:pPr algn="l"/>
            <a:r>
              <a:rPr lang="en-US" altLang="zh-CN" sz="800" dirty="0"/>
              <a:t>Link</a:t>
            </a:r>
            <a:endParaRPr lang="zh-CN" altLang="en-US" sz="800" dirty="0"/>
          </a:p>
        </p:txBody>
      </p:sp>
      <p:sp>
        <p:nvSpPr>
          <p:cNvPr id="88" name="文本框 87">
            <a:extLst>
              <a:ext uri="{FF2B5EF4-FFF2-40B4-BE49-F238E27FC236}">
                <a16:creationId xmlns:a16="http://schemas.microsoft.com/office/drawing/2014/main" id="{0892F003-D4C0-061E-4432-70A98CF42B89}"/>
              </a:ext>
            </a:extLst>
          </p:cNvPr>
          <p:cNvSpPr txBox="1"/>
          <p:nvPr/>
        </p:nvSpPr>
        <p:spPr>
          <a:xfrm>
            <a:off x="4212858" y="3317378"/>
            <a:ext cx="402674" cy="215444"/>
          </a:xfrm>
          <a:prstGeom prst="rect">
            <a:avLst/>
          </a:prstGeom>
          <a:noFill/>
        </p:spPr>
        <p:txBody>
          <a:bodyPr wrap="none" rtlCol="0">
            <a:spAutoFit/>
          </a:bodyPr>
          <a:lstStyle/>
          <a:p>
            <a:pPr algn="l"/>
            <a:r>
              <a:rPr lang="en-US" altLang="zh-CN" sz="800" dirty="0"/>
              <a:t>Link</a:t>
            </a:r>
            <a:endParaRPr lang="zh-CN" altLang="en-US" sz="800" dirty="0"/>
          </a:p>
        </p:txBody>
      </p:sp>
      <p:sp>
        <p:nvSpPr>
          <p:cNvPr id="106" name="文本框 105">
            <a:extLst>
              <a:ext uri="{FF2B5EF4-FFF2-40B4-BE49-F238E27FC236}">
                <a16:creationId xmlns:a16="http://schemas.microsoft.com/office/drawing/2014/main" id="{75A6AC7F-8CD4-4CD2-1EAD-5D87575871FD}"/>
              </a:ext>
            </a:extLst>
          </p:cNvPr>
          <p:cNvSpPr txBox="1"/>
          <p:nvPr/>
        </p:nvSpPr>
        <p:spPr>
          <a:xfrm>
            <a:off x="4297620" y="2494836"/>
            <a:ext cx="402674" cy="215444"/>
          </a:xfrm>
          <a:prstGeom prst="rect">
            <a:avLst/>
          </a:prstGeom>
          <a:noFill/>
        </p:spPr>
        <p:txBody>
          <a:bodyPr wrap="none" rtlCol="0">
            <a:spAutoFit/>
          </a:bodyPr>
          <a:lstStyle/>
          <a:p>
            <a:pPr algn="l"/>
            <a:r>
              <a:rPr lang="en-US" altLang="zh-CN" sz="800" dirty="0"/>
              <a:t>Link</a:t>
            </a:r>
            <a:endParaRPr lang="zh-CN" altLang="en-US" sz="800" dirty="0"/>
          </a:p>
        </p:txBody>
      </p:sp>
    </p:spTree>
    <p:extLst>
      <p:ext uri="{BB962C8B-B14F-4D97-AF65-F5344CB8AC3E}">
        <p14:creationId xmlns:p14="http://schemas.microsoft.com/office/powerpoint/2010/main" val="493918622"/>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F3AE89C9-78DA-F6D1-857D-2B48C5C19DF7}"/>
              </a:ext>
            </a:extLst>
          </p:cNvPr>
          <p:cNvSpPr>
            <a:spLocks noGrp="1"/>
          </p:cNvSpPr>
          <p:nvPr>
            <p:ph type="title"/>
          </p:nvPr>
        </p:nvSpPr>
        <p:spPr>
          <a:xfrm>
            <a:off x="612000" y="144000"/>
            <a:ext cx="7920000" cy="341632"/>
          </a:xfrm>
        </p:spPr>
        <p:txBody>
          <a:bodyPr/>
          <a:lstStyle/>
          <a:p>
            <a:r>
              <a:rPr lang="en-US" altLang="zh-CN" dirty="0"/>
              <a:t>1.2.1  </a:t>
            </a:r>
            <a:r>
              <a:rPr lang="zh-CN" altLang="en-US" dirty="0"/>
              <a:t>网络的网络</a:t>
            </a:r>
          </a:p>
        </p:txBody>
      </p:sp>
      <p:sp>
        <p:nvSpPr>
          <p:cNvPr id="2" name="内容占位符 1"/>
          <p:cNvSpPr>
            <a:spLocks noGrp="1"/>
          </p:cNvSpPr>
          <p:nvPr>
            <p:ph sz="quarter" idx="10"/>
          </p:nvPr>
        </p:nvSpPr>
        <p:spPr>
          <a:xfrm>
            <a:off x="612000" y="899999"/>
            <a:ext cx="7920000" cy="3780000"/>
          </a:xfrm>
        </p:spPr>
        <p:txBody>
          <a:bodyPr/>
          <a:lstStyle/>
          <a:p>
            <a:r>
              <a:rPr lang="zh-CN" altLang="en-US" dirty="0"/>
              <a:t>多个网络通过路由器相互连接，构成覆盖范围更大的计算机网络</a:t>
            </a:r>
            <a:endParaRPr lang="en-US" altLang="zh-CN" dirty="0"/>
          </a:p>
          <a:p>
            <a:r>
              <a:rPr lang="zh-CN" altLang="en-US" dirty="0"/>
              <a:t>网络的网络 </a:t>
            </a:r>
            <a:r>
              <a:rPr lang="en-US" altLang="zh-CN" dirty="0"/>
              <a:t>Network of networks</a:t>
            </a:r>
            <a:endParaRPr lang="zh-CN" altLang="en-US" dirty="0"/>
          </a:p>
        </p:txBody>
      </p:sp>
      <p:grpSp>
        <p:nvGrpSpPr>
          <p:cNvPr id="13" name="组合 12">
            <a:extLst>
              <a:ext uri="{FF2B5EF4-FFF2-40B4-BE49-F238E27FC236}">
                <a16:creationId xmlns:a16="http://schemas.microsoft.com/office/drawing/2014/main" id="{1BA15F0F-E801-DAA7-F68D-2EEC2731AFA5}"/>
              </a:ext>
            </a:extLst>
          </p:cNvPr>
          <p:cNvGrpSpPr/>
          <p:nvPr/>
        </p:nvGrpSpPr>
        <p:grpSpPr>
          <a:xfrm>
            <a:off x="4122551" y="2911766"/>
            <a:ext cx="504000" cy="504000"/>
            <a:chOff x="1110463" y="3137054"/>
            <a:chExt cx="504000" cy="504000"/>
          </a:xfrm>
        </p:grpSpPr>
        <p:sp>
          <p:nvSpPr>
            <p:cNvPr id="14" name="椭圆 13">
              <a:extLst>
                <a:ext uri="{FF2B5EF4-FFF2-40B4-BE49-F238E27FC236}">
                  <a16:creationId xmlns:a16="http://schemas.microsoft.com/office/drawing/2014/main" id="{284520A2-DD3F-884C-F6B8-C15EDDB3FA5E}"/>
                </a:ext>
              </a:extLst>
            </p:cNvPr>
            <p:cNvSpPr/>
            <p:nvPr/>
          </p:nvSpPr>
          <p:spPr>
            <a:xfrm>
              <a:off x="1110463" y="3137054"/>
              <a:ext cx="504000" cy="504000"/>
            </a:xfrm>
            <a:prstGeom prst="ellipse">
              <a:avLst/>
            </a:prstGeom>
            <a:noFill/>
            <a:ln w="6350">
              <a:solidFill>
                <a:srgbClr val="607FC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100"/>
            </a:p>
          </p:txBody>
        </p:sp>
        <p:pic>
          <p:nvPicPr>
            <p:cNvPr id="15" name="图片 14">
              <a:extLst>
                <a:ext uri="{FF2B5EF4-FFF2-40B4-BE49-F238E27FC236}">
                  <a16:creationId xmlns:a16="http://schemas.microsoft.com/office/drawing/2014/main" id="{C7B55484-E180-E315-1FA3-69813392067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171963" y="3236654"/>
              <a:ext cx="381000" cy="304800"/>
            </a:xfrm>
            <a:prstGeom prst="rect">
              <a:avLst/>
            </a:prstGeom>
          </p:spPr>
        </p:pic>
      </p:grpSp>
      <p:sp>
        <p:nvSpPr>
          <p:cNvPr id="26" name="文本框 25">
            <a:extLst>
              <a:ext uri="{FF2B5EF4-FFF2-40B4-BE49-F238E27FC236}">
                <a16:creationId xmlns:a16="http://schemas.microsoft.com/office/drawing/2014/main" id="{BF8691F0-791F-FA5A-3A2A-FDCC85E796EE}"/>
              </a:ext>
            </a:extLst>
          </p:cNvPr>
          <p:cNvSpPr txBox="1"/>
          <p:nvPr/>
        </p:nvSpPr>
        <p:spPr>
          <a:xfrm>
            <a:off x="3480996" y="4340423"/>
            <a:ext cx="2182008" cy="276999"/>
          </a:xfrm>
          <a:prstGeom prst="rect">
            <a:avLst/>
          </a:prstGeom>
          <a:noFill/>
        </p:spPr>
        <p:txBody>
          <a:bodyPr wrap="none" rtlCol="0">
            <a:spAutoFit/>
          </a:bodyPr>
          <a:lstStyle/>
          <a:p>
            <a:pPr algn="ctr"/>
            <a:r>
              <a:rPr lang="zh-CN" altLang="en-US" sz="1200" dirty="0"/>
              <a:t>图</a:t>
            </a:r>
            <a:r>
              <a:rPr lang="en-US" altLang="zh-CN" sz="1200" dirty="0"/>
              <a:t>1-1 (b) </a:t>
            </a:r>
            <a:r>
              <a:rPr lang="zh-CN" altLang="en-US" sz="1200" dirty="0"/>
              <a:t>由网络构成的互连网</a:t>
            </a:r>
          </a:p>
        </p:txBody>
      </p:sp>
      <p:grpSp>
        <p:nvGrpSpPr>
          <p:cNvPr id="30" name="组合 29">
            <a:extLst>
              <a:ext uri="{FF2B5EF4-FFF2-40B4-BE49-F238E27FC236}">
                <a16:creationId xmlns:a16="http://schemas.microsoft.com/office/drawing/2014/main" id="{569EB175-D252-00D4-7634-7C282236752C}"/>
              </a:ext>
            </a:extLst>
          </p:cNvPr>
          <p:cNvGrpSpPr/>
          <p:nvPr/>
        </p:nvGrpSpPr>
        <p:grpSpPr>
          <a:xfrm>
            <a:off x="2650379" y="3283277"/>
            <a:ext cx="504000" cy="504000"/>
            <a:chOff x="2611895" y="3430082"/>
            <a:chExt cx="504000" cy="504000"/>
          </a:xfrm>
        </p:grpSpPr>
        <p:sp>
          <p:nvSpPr>
            <p:cNvPr id="31" name="椭圆 30">
              <a:extLst>
                <a:ext uri="{FF2B5EF4-FFF2-40B4-BE49-F238E27FC236}">
                  <a16:creationId xmlns:a16="http://schemas.microsoft.com/office/drawing/2014/main" id="{0266F34A-D34C-242C-51CA-84BB1A803604}"/>
                </a:ext>
              </a:extLst>
            </p:cNvPr>
            <p:cNvSpPr/>
            <p:nvPr/>
          </p:nvSpPr>
          <p:spPr>
            <a:xfrm>
              <a:off x="2611895" y="3430082"/>
              <a:ext cx="504000" cy="504000"/>
            </a:xfrm>
            <a:prstGeom prst="ellipse">
              <a:avLst/>
            </a:prstGeom>
            <a:noFill/>
            <a:ln w="6350">
              <a:solidFill>
                <a:srgbClr val="607FC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100"/>
            </a:p>
          </p:txBody>
        </p:sp>
        <p:pic>
          <p:nvPicPr>
            <p:cNvPr id="32" name="图片 31">
              <a:extLst>
                <a:ext uri="{FF2B5EF4-FFF2-40B4-BE49-F238E27FC236}">
                  <a16:creationId xmlns:a16="http://schemas.microsoft.com/office/drawing/2014/main" id="{FA46F20B-0796-A415-5673-18E6910FF48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701970" y="3529682"/>
              <a:ext cx="323850" cy="304800"/>
            </a:xfrm>
            <a:prstGeom prst="rect">
              <a:avLst/>
            </a:prstGeom>
          </p:spPr>
        </p:pic>
      </p:grpSp>
      <p:grpSp>
        <p:nvGrpSpPr>
          <p:cNvPr id="33" name="组合 32">
            <a:extLst>
              <a:ext uri="{FF2B5EF4-FFF2-40B4-BE49-F238E27FC236}">
                <a16:creationId xmlns:a16="http://schemas.microsoft.com/office/drawing/2014/main" id="{A86B86A4-BF94-13F8-EDDF-A3B6C6EA51FA}"/>
              </a:ext>
            </a:extLst>
          </p:cNvPr>
          <p:cNvGrpSpPr/>
          <p:nvPr/>
        </p:nvGrpSpPr>
        <p:grpSpPr>
          <a:xfrm>
            <a:off x="5552884" y="3822902"/>
            <a:ext cx="504000" cy="504000"/>
            <a:chOff x="2611895" y="3430082"/>
            <a:chExt cx="504000" cy="504000"/>
          </a:xfrm>
        </p:grpSpPr>
        <p:sp>
          <p:nvSpPr>
            <p:cNvPr id="34" name="椭圆 33">
              <a:extLst>
                <a:ext uri="{FF2B5EF4-FFF2-40B4-BE49-F238E27FC236}">
                  <a16:creationId xmlns:a16="http://schemas.microsoft.com/office/drawing/2014/main" id="{38A55995-A7A9-BC68-51E6-58A5DE9D5D70}"/>
                </a:ext>
              </a:extLst>
            </p:cNvPr>
            <p:cNvSpPr/>
            <p:nvPr/>
          </p:nvSpPr>
          <p:spPr>
            <a:xfrm>
              <a:off x="2611895" y="3430082"/>
              <a:ext cx="504000" cy="504000"/>
            </a:xfrm>
            <a:prstGeom prst="ellipse">
              <a:avLst/>
            </a:prstGeom>
            <a:noFill/>
            <a:ln w="6350">
              <a:solidFill>
                <a:srgbClr val="607FC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100"/>
            </a:p>
          </p:txBody>
        </p:sp>
        <p:pic>
          <p:nvPicPr>
            <p:cNvPr id="35" name="图片 34">
              <a:extLst>
                <a:ext uri="{FF2B5EF4-FFF2-40B4-BE49-F238E27FC236}">
                  <a16:creationId xmlns:a16="http://schemas.microsoft.com/office/drawing/2014/main" id="{F766D472-B4C4-7F14-7375-E184F382EF7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701970" y="3529682"/>
              <a:ext cx="323850" cy="304800"/>
            </a:xfrm>
            <a:prstGeom prst="rect">
              <a:avLst/>
            </a:prstGeom>
          </p:spPr>
        </p:pic>
      </p:grpSp>
      <p:grpSp>
        <p:nvGrpSpPr>
          <p:cNvPr id="36" name="组合 35">
            <a:extLst>
              <a:ext uri="{FF2B5EF4-FFF2-40B4-BE49-F238E27FC236}">
                <a16:creationId xmlns:a16="http://schemas.microsoft.com/office/drawing/2014/main" id="{00120E77-F615-27C4-AE47-02043A3A8BCC}"/>
              </a:ext>
            </a:extLst>
          </p:cNvPr>
          <p:cNvGrpSpPr/>
          <p:nvPr/>
        </p:nvGrpSpPr>
        <p:grpSpPr>
          <a:xfrm>
            <a:off x="3737502" y="2155766"/>
            <a:ext cx="504000" cy="504000"/>
            <a:chOff x="2611895" y="3430082"/>
            <a:chExt cx="504000" cy="504000"/>
          </a:xfrm>
        </p:grpSpPr>
        <p:sp>
          <p:nvSpPr>
            <p:cNvPr id="37" name="椭圆 36">
              <a:extLst>
                <a:ext uri="{FF2B5EF4-FFF2-40B4-BE49-F238E27FC236}">
                  <a16:creationId xmlns:a16="http://schemas.microsoft.com/office/drawing/2014/main" id="{1C9AA61C-D877-7962-D09C-C36104F9636A}"/>
                </a:ext>
              </a:extLst>
            </p:cNvPr>
            <p:cNvSpPr/>
            <p:nvPr/>
          </p:nvSpPr>
          <p:spPr>
            <a:xfrm>
              <a:off x="2611895" y="3430082"/>
              <a:ext cx="504000" cy="504000"/>
            </a:xfrm>
            <a:prstGeom prst="ellipse">
              <a:avLst/>
            </a:prstGeom>
            <a:noFill/>
            <a:ln w="6350">
              <a:solidFill>
                <a:srgbClr val="607FC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100"/>
            </a:p>
          </p:txBody>
        </p:sp>
        <p:pic>
          <p:nvPicPr>
            <p:cNvPr id="38" name="图片 37">
              <a:extLst>
                <a:ext uri="{FF2B5EF4-FFF2-40B4-BE49-F238E27FC236}">
                  <a16:creationId xmlns:a16="http://schemas.microsoft.com/office/drawing/2014/main" id="{CC1E9184-20DF-4F4A-07BF-A8498579FFA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701970" y="3529682"/>
              <a:ext cx="323850" cy="304800"/>
            </a:xfrm>
            <a:prstGeom prst="rect">
              <a:avLst/>
            </a:prstGeom>
          </p:spPr>
        </p:pic>
      </p:grpSp>
      <p:cxnSp>
        <p:nvCxnSpPr>
          <p:cNvPr id="39" name="直接连接符 38">
            <a:extLst>
              <a:ext uri="{FF2B5EF4-FFF2-40B4-BE49-F238E27FC236}">
                <a16:creationId xmlns:a16="http://schemas.microsoft.com/office/drawing/2014/main" id="{E4291012-88CF-961E-ADCF-FA39A517A07E}"/>
              </a:ext>
            </a:extLst>
          </p:cNvPr>
          <p:cNvCxnSpPr>
            <a:cxnSpLocks/>
            <a:stCxn id="37" idx="6"/>
            <a:endCxn id="52" idx="2"/>
          </p:cNvCxnSpPr>
          <p:nvPr/>
        </p:nvCxnSpPr>
        <p:spPr>
          <a:xfrm>
            <a:off x="4241502" y="2407766"/>
            <a:ext cx="387205" cy="109890"/>
          </a:xfrm>
          <a:prstGeom prst="line">
            <a:avLst/>
          </a:prstGeom>
        </p:spPr>
        <p:style>
          <a:lnRef idx="1">
            <a:schemeClr val="accent1"/>
          </a:lnRef>
          <a:fillRef idx="0">
            <a:schemeClr val="accent1"/>
          </a:fillRef>
          <a:effectRef idx="0">
            <a:schemeClr val="accent1"/>
          </a:effectRef>
          <a:fontRef idx="minor">
            <a:schemeClr val="tx1"/>
          </a:fontRef>
        </p:style>
      </p:cxnSp>
      <p:cxnSp>
        <p:nvCxnSpPr>
          <p:cNvPr id="40" name="直接连接符 39">
            <a:extLst>
              <a:ext uri="{FF2B5EF4-FFF2-40B4-BE49-F238E27FC236}">
                <a16:creationId xmlns:a16="http://schemas.microsoft.com/office/drawing/2014/main" id="{F2797DE4-6559-647E-9EB2-00F6EDA80AA4}"/>
              </a:ext>
            </a:extLst>
          </p:cNvPr>
          <p:cNvCxnSpPr>
            <a:cxnSpLocks/>
            <a:stCxn id="31" idx="6"/>
            <a:endCxn id="58" idx="2"/>
          </p:cNvCxnSpPr>
          <p:nvPr/>
        </p:nvCxnSpPr>
        <p:spPr>
          <a:xfrm>
            <a:off x="3154379" y="3535277"/>
            <a:ext cx="223494" cy="4998"/>
          </a:xfrm>
          <a:prstGeom prst="line">
            <a:avLst/>
          </a:prstGeom>
        </p:spPr>
        <p:style>
          <a:lnRef idx="1">
            <a:schemeClr val="accent1"/>
          </a:lnRef>
          <a:fillRef idx="0">
            <a:schemeClr val="accent1"/>
          </a:fillRef>
          <a:effectRef idx="0">
            <a:schemeClr val="accent1"/>
          </a:effectRef>
          <a:fontRef idx="minor">
            <a:schemeClr val="tx1"/>
          </a:fontRef>
        </p:style>
      </p:cxnSp>
      <p:cxnSp>
        <p:nvCxnSpPr>
          <p:cNvPr id="41" name="直接连接符 40">
            <a:extLst>
              <a:ext uri="{FF2B5EF4-FFF2-40B4-BE49-F238E27FC236}">
                <a16:creationId xmlns:a16="http://schemas.microsoft.com/office/drawing/2014/main" id="{59C8C134-9963-0DD3-66C7-28FB56297538}"/>
              </a:ext>
            </a:extLst>
          </p:cNvPr>
          <p:cNvCxnSpPr>
            <a:cxnSpLocks/>
            <a:stCxn id="34" idx="2"/>
          </p:cNvCxnSpPr>
          <p:nvPr/>
        </p:nvCxnSpPr>
        <p:spPr>
          <a:xfrm flipH="1" flipV="1">
            <a:off x="5346868" y="3753425"/>
            <a:ext cx="206016" cy="321477"/>
          </a:xfrm>
          <a:prstGeom prst="line">
            <a:avLst/>
          </a:prstGeom>
        </p:spPr>
        <p:style>
          <a:lnRef idx="1">
            <a:schemeClr val="accent1"/>
          </a:lnRef>
          <a:fillRef idx="0">
            <a:schemeClr val="accent1"/>
          </a:fillRef>
          <a:effectRef idx="0">
            <a:schemeClr val="accent1"/>
          </a:effectRef>
          <a:fontRef idx="minor">
            <a:schemeClr val="tx1"/>
          </a:fontRef>
        </p:style>
      </p:cxnSp>
      <p:grpSp>
        <p:nvGrpSpPr>
          <p:cNvPr id="49" name="组合 48">
            <a:extLst>
              <a:ext uri="{FF2B5EF4-FFF2-40B4-BE49-F238E27FC236}">
                <a16:creationId xmlns:a16="http://schemas.microsoft.com/office/drawing/2014/main" id="{84A5706D-2BBC-4E9E-2F0F-5013CE46E621}"/>
              </a:ext>
            </a:extLst>
          </p:cNvPr>
          <p:cNvGrpSpPr/>
          <p:nvPr/>
        </p:nvGrpSpPr>
        <p:grpSpPr>
          <a:xfrm>
            <a:off x="5249919" y="2636255"/>
            <a:ext cx="504000" cy="504000"/>
            <a:chOff x="1110463" y="3137054"/>
            <a:chExt cx="504000" cy="504000"/>
          </a:xfrm>
        </p:grpSpPr>
        <p:sp>
          <p:nvSpPr>
            <p:cNvPr id="50" name="椭圆 49">
              <a:extLst>
                <a:ext uri="{FF2B5EF4-FFF2-40B4-BE49-F238E27FC236}">
                  <a16:creationId xmlns:a16="http://schemas.microsoft.com/office/drawing/2014/main" id="{1501810C-4424-3E57-3F05-B8003E9B20B3}"/>
                </a:ext>
              </a:extLst>
            </p:cNvPr>
            <p:cNvSpPr/>
            <p:nvPr/>
          </p:nvSpPr>
          <p:spPr>
            <a:xfrm>
              <a:off x="1110463" y="3137054"/>
              <a:ext cx="504000" cy="504000"/>
            </a:xfrm>
            <a:prstGeom prst="ellipse">
              <a:avLst/>
            </a:prstGeom>
            <a:noFill/>
            <a:ln w="6350">
              <a:solidFill>
                <a:srgbClr val="607FC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100"/>
            </a:p>
          </p:txBody>
        </p:sp>
        <p:pic>
          <p:nvPicPr>
            <p:cNvPr id="51" name="图片 50">
              <a:extLst>
                <a:ext uri="{FF2B5EF4-FFF2-40B4-BE49-F238E27FC236}">
                  <a16:creationId xmlns:a16="http://schemas.microsoft.com/office/drawing/2014/main" id="{48ADFEAD-8055-040E-E857-C15DF06B91B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171963" y="3236654"/>
              <a:ext cx="381000" cy="304800"/>
            </a:xfrm>
            <a:prstGeom prst="rect">
              <a:avLst/>
            </a:prstGeom>
          </p:spPr>
        </p:pic>
      </p:grpSp>
      <p:sp>
        <p:nvSpPr>
          <p:cNvPr id="52" name="云形 51">
            <a:extLst>
              <a:ext uri="{FF2B5EF4-FFF2-40B4-BE49-F238E27FC236}">
                <a16:creationId xmlns:a16="http://schemas.microsoft.com/office/drawing/2014/main" id="{4274C14B-2F93-6E69-71AC-778D44860BC0}"/>
              </a:ext>
            </a:extLst>
          </p:cNvPr>
          <p:cNvSpPr/>
          <p:nvPr/>
        </p:nvSpPr>
        <p:spPr>
          <a:xfrm>
            <a:off x="4626551" y="2223794"/>
            <a:ext cx="695218" cy="587723"/>
          </a:xfrm>
          <a:prstGeom prst="cloud">
            <a:avLst/>
          </a:prstGeom>
          <a:noFill/>
          <a:ln w="6350">
            <a:solidFill>
              <a:srgbClr val="607FC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800" dirty="0">
                <a:solidFill>
                  <a:schemeClr val="tx1"/>
                </a:solidFill>
              </a:rPr>
              <a:t>Net</a:t>
            </a:r>
            <a:endParaRPr lang="zh-CN" altLang="en-US" sz="800" dirty="0">
              <a:solidFill>
                <a:schemeClr val="tx1"/>
              </a:solidFill>
            </a:endParaRPr>
          </a:p>
        </p:txBody>
      </p:sp>
      <p:sp>
        <p:nvSpPr>
          <p:cNvPr id="54" name="云形 53">
            <a:extLst>
              <a:ext uri="{FF2B5EF4-FFF2-40B4-BE49-F238E27FC236}">
                <a16:creationId xmlns:a16="http://schemas.microsoft.com/office/drawing/2014/main" id="{59E6134B-8549-615C-E954-4640101EF698}"/>
              </a:ext>
            </a:extLst>
          </p:cNvPr>
          <p:cNvSpPr/>
          <p:nvPr/>
        </p:nvSpPr>
        <p:spPr>
          <a:xfrm>
            <a:off x="4730260" y="3297699"/>
            <a:ext cx="695218" cy="587723"/>
          </a:xfrm>
          <a:prstGeom prst="cloud">
            <a:avLst/>
          </a:prstGeom>
          <a:noFill/>
          <a:ln w="6350">
            <a:solidFill>
              <a:srgbClr val="607FC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800" dirty="0">
                <a:solidFill>
                  <a:schemeClr val="tx1"/>
                </a:solidFill>
              </a:rPr>
              <a:t>Net</a:t>
            </a:r>
            <a:endParaRPr lang="zh-CN" altLang="en-US" sz="800" dirty="0">
              <a:solidFill>
                <a:schemeClr val="tx1"/>
              </a:solidFill>
            </a:endParaRPr>
          </a:p>
        </p:txBody>
      </p:sp>
      <p:sp>
        <p:nvSpPr>
          <p:cNvPr id="56" name="云形 55">
            <a:extLst>
              <a:ext uri="{FF2B5EF4-FFF2-40B4-BE49-F238E27FC236}">
                <a16:creationId xmlns:a16="http://schemas.microsoft.com/office/drawing/2014/main" id="{2B2A0086-53B1-C05C-C2B5-73FBA026C444}"/>
              </a:ext>
            </a:extLst>
          </p:cNvPr>
          <p:cNvSpPr/>
          <p:nvPr/>
        </p:nvSpPr>
        <p:spPr>
          <a:xfrm>
            <a:off x="5753919" y="2972940"/>
            <a:ext cx="695218" cy="587723"/>
          </a:xfrm>
          <a:prstGeom prst="cloud">
            <a:avLst/>
          </a:prstGeom>
          <a:noFill/>
          <a:ln w="6350">
            <a:solidFill>
              <a:srgbClr val="607FC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800" dirty="0">
                <a:solidFill>
                  <a:schemeClr val="tx1"/>
                </a:solidFill>
              </a:rPr>
              <a:t>Net</a:t>
            </a:r>
            <a:endParaRPr lang="zh-CN" altLang="en-US" sz="800" dirty="0">
              <a:solidFill>
                <a:schemeClr val="tx1"/>
              </a:solidFill>
            </a:endParaRPr>
          </a:p>
        </p:txBody>
      </p:sp>
      <p:sp>
        <p:nvSpPr>
          <p:cNvPr id="58" name="云形 57">
            <a:extLst>
              <a:ext uri="{FF2B5EF4-FFF2-40B4-BE49-F238E27FC236}">
                <a16:creationId xmlns:a16="http://schemas.microsoft.com/office/drawing/2014/main" id="{7FE3474E-6B37-1654-9FC3-64C6104D6E52}"/>
              </a:ext>
            </a:extLst>
          </p:cNvPr>
          <p:cNvSpPr/>
          <p:nvPr/>
        </p:nvSpPr>
        <p:spPr>
          <a:xfrm>
            <a:off x="3375717" y="3246413"/>
            <a:ext cx="695218" cy="587723"/>
          </a:xfrm>
          <a:prstGeom prst="cloud">
            <a:avLst/>
          </a:prstGeom>
          <a:noFill/>
          <a:ln w="6350">
            <a:solidFill>
              <a:srgbClr val="607FC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800" dirty="0">
                <a:solidFill>
                  <a:schemeClr val="tx1"/>
                </a:solidFill>
              </a:rPr>
              <a:t>Net</a:t>
            </a:r>
            <a:endParaRPr lang="zh-CN" altLang="en-US" sz="800" dirty="0">
              <a:solidFill>
                <a:schemeClr val="tx1"/>
              </a:solidFill>
            </a:endParaRPr>
          </a:p>
        </p:txBody>
      </p:sp>
      <p:cxnSp>
        <p:nvCxnSpPr>
          <p:cNvPr id="231" name="直接连接符 230">
            <a:extLst>
              <a:ext uri="{FF2B5EF4-FFF2-40B4-BE49-F238E27FC236}">
                <a16:creationId xmlns:a16="http://schemas.microsoft.com/office/drawing/2014/main" id="{5797734B-170F-AED8-AE0A-0F78524ECA5C}"/>
              </a:ext>
            </a:extLst>
          </p:cNvPr>
          <p:cNvCxnSpPr>
            <a:cxnSpLocks/>
            <a:endCxn id="14" idx="2"/>
          </p:cNvCxnSpPr>
          <p:nvPr/>
        </p:nvCxnSpPr>
        <p:spPr>
          <a:xfrm flipV="1">
            <a:off x="3961393" y="3163766"/>
            <a:ext cx="161158" cy="119511"/>
          </a:xfrm>
          <a:prstGeom prst="line">
            <a:avLst/>
          </a:prstGeom>
        </p:spPr>
        <p:style>
          <a:lnRef idx="1">
            <a:schemeClr val="accent1"/>
          </a:lnRef>
          <a:fillRef idx="0">
            <a:schemeClr val="accent1"/>
          </a:fillRef>
          <a:effectRef idx="0">
            <a:schemeClr val="accent1"/>
          </a:effectRef>
          <a:fontRef idx="minor">
            <a:schemeClr val="tx1"/>
          </a:fontRef>
        </p:style>
      </p:cxnSp>
      <p:cxnSp>
        <p:nvCxnSpPr>
          <p:cNvPr id="233" name="直接连接符 232">
            <a:extLst>
              <a:ext uri="{FF2B5EF4-FFF2-40B4-BE49-F238E27FC236}">
                <a16:creationId xmlns:a16="http://schemas.microsoft.com/office/drawing/2014/main" id="{2E03CE02-6FB8-EC47-3A9E-26316E3E3C62}"/>
              </a:ext>
            </a:extLst>
          </p:cNvPr>
          <p:cNvCxnSpPr>
            <a:cxnSpLocks/>
            <a:endCxn id="50" idx="1"/>
          </p:cNvCxnSpPr>
          <p:nvPr/>
        </p:nvCxnSpPr>
        <p:spPr>
          <a:xfrm>
            <a:off x="5249919" y="2679262"/>
            <a:ext cx="73809" cy="30802"/>
          </a:xfrm>
          <a:prstGeom prst="line">
            <a:avLst/>
          </a:prstGeom>
        </p:spPr>
        <p:style>
          <a:lnRef idx="1">
            <a:schemeClr val="accent1"/>
          </a:lnRef>
          <a:fillRef idx="0">
            <a:schemeClr val="accent1"/>
          </a:fillRef>
          <a:effectRef idx="0">
            <a:schemeClr val="accent1"/>
          </a:effectRef>
          <a:fontRef idx="minor">
            <a:schemeClr val="tx1"/>
          </a:fontRef>
        </p:style>
      </p:cxnSp>
      <p:grpSp>
        <p:nvGrpSpPr>
          <p:cNvPr id="234" name="组合 233">
            <a:extLst>
              <a:ext uri="{FF2B5EF4-FFF2-40B4-BE49-F238E27FC236}">
                <a16:creationId xmlns:a16="http://schemas.microsoft.com/office/drawing/2014/main" id="{76F10F30-0F1E-B17F-A142-AEDBB941F331}"/>
              </a:ext>
            </a:extLst>
          </p:cNvPr>
          <p:cNvGrpSpPr/>
          <p:nvPr/>
        </p:nvGrpSpPr>
        <p:grpSpPr>
          <a:xfrm>
            <a:off x="6734181" y="3014801"/>
            <a:ext cx="504000" cy="504000"/>
            <a:chOff x="2611895" y="3430082"/>
            <a:chExt cx="504000" cy="504000"/>
          </a:xfrm>
        </p:grpSpPr>
        <p:sp>
          <p:nvSpPr>
            <p:cNvPr id="235" name="椭圆 234">
              <a:extLst>
                <a:ext uri="{FF2B5EF4-FFF2-40B4-BE49-F238E27FC236}">
                  <a16:creationId xmlns:a16="http://schemas.microsoft.com/office/drawing/2014/main" id="{68857C7B-F184-1FAD-631B-CBCD547C4E06}"/>
                </a:ext>
              </a:extLst>
            </p:cNvPr>
            <p:cNvSpPr/>
            <p:nvPr/>
          </p:nvSpPr>
          <p:spPr>
            <a:xfrm>
              <a:off x="2611895" y="3430082"/>
              <a:ext cx="504000" cy="504000"/>
            </a:xfrm>
            <a:prstGeom prst="ellipse">
              <a:avLst/>
            </a:prstGeom>
            <a:noFill/>
            <a:ln w="6350">
              <a:solidFill>
                <a:srgbClr val="607FC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100"/>
            </a:p>
          </p:txBody>
        </p:sp>
        <p:pic>
          <p:nvPicPr>
            <p:cNvPr id="236" name="图片 235">
              <a:extLst>
                <a:ext uri="{FF2B5EF4-FFF2-40B4-BE49-F238E27FC236}">
                  <a16:creationId xmlns:a16="http://schemas.microsoft.com/office/drawing/2014/main" id="{54D901C9-EEF8-2E84-E157-65BD32A85F7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701970" y="3529682"/>
              <a:ext cx="323850" cy="304800"/>
            </a:xfrm>
            <a:prstGeom prst="rect">
              <a:avLst/>
            </a:prstGeom>
          </p:spPr>
        </p:pic>
      </p:grpSp>
      <p:cxnSp>
        <p:nvCxnSpPr>
          <p:cNvPr id="238" name="直接连接符 237">
            <a:extLst>
              <a:ext uri="{FF2B5EF4-FFF2-40B4-BE49-F238E27FC236}">
                <a16:creationId xmlns:a16="http://schemas.microsoft.com/office/drawing/2014/main" id="{880DABA4-891F-286F-226A-3CCBC99DDC01}"/>
              </a:ext>
            </a:extLst>
          </p:cNvPr>
          <p:cNvCxnSpPr>
            <a:stCxn id="235" idx="2"/>
            <a:endCxn id="56" idx="0"/>
          </p:cNvCxnSpPr>
          <p:nvPr/>
        </p:nvCxnSpPr>
        <p:spPr>
          <a:xfrm flipH="1">
            <a:off x="6448558" y="3266801"/>
            <a:ext cx="285623" cy="1"/>
          </a:xfrm>
          <a:prstGeom prst="line">
            <a:avLst/>
          </a:prstGeom>
        </p:spPr>
        <p:style>
          <a:lnRef idx="1">
            <a:schemeClr val="accent1"/>
          </a:lnRef>
          <a:fillRef idx="0">
            <a:schemeClr val="accent1"/>
          </a:fillRef>
          <a:effectRef idx="0">
            <a:schemeClr val="accent1"/>
          </a:effectRef>
          <a:fontRef idx="minor">
            <a:schemeClr val="tx1"/>
          </a:fontRef>
        </p:style>
      </p:cxnSp>
      <p:cxnSp>
        <p:nvCxnSpPr>
          <p:cNvPr id="240" name="直接连接符 239">
            <a:extLst>
              <a:ext uri="{FF2B5EF4-FFF2-40B4-BE49-F238E27FC236}">
                <a16:creationId xmlns:a16="http://schemas.microsoft.com/office/drawing/2014/main" id="{688DA0DD-C1CA-8B82-D800-4FB7A6D80455}"/>
              </a:ext>
            </a:extLst>
          </p:cNvPr>
          <p:cNvCxnSpPr>
            <a:cxnSpLocks/>
            <a:endCxn id="50" idx="5"/>
          </p:cNvCxnSpPr>
          <p:nvPr/>
        </p:nvCxnSpPr>
        <p:spPr>
          <a:xfrm flipH="1" flipV="1">
            <a:off x="5680110" y="3066446"/>
            <a:ext cx="135309" cy="23431"/>
          </a:xfrm>
          <a:prstGeom prst="line">
            <a:avLst/>
          </a:prstGeom>
        </p:spPr>
        <p:style>
          <a:lnRef idx="1">
            <a:schemeClr val="accent1"/>
          </a:lnRef>
          <a:fillRef idx="0">
            <a:schemeClr val="accent1"/>
          </a:fillRef>
          <a:effectRef idx="0">
            <a:schemeClr val="accent1"/>
          </a:effectRef>
          <a:fontRef idx="minor">
            <a:schemeClr val="tx1"/>
          </a:fontRef>
        </p:style>
      </p:cxnSp>
      <p:grpSp>
        <p:nvGrpSpPr>
          <p:cNvPr id="241" name="组合 240">
            <a:extLst>
              <a:ext uri="{FF2B5EF4-FFF2-40B4-BE49-F238E27FC236}">
                <a16:creationId xmlns:a16="http://schemas.microsoft.com/office/drawing/2014/main" id="{758DF446-5130-59B6-5146-DFF3FF746E08}"/>
              </a:ext>
            </a:extLst>
          </p:cNvPr>
          <p:cNvGrpSpPr/>
          <p:nvPr/>
        </p:nvGrpSpPr>
        <p:grpSpPr>
          <a:xfrm>
            <a:off x="4184051" y="3773534"/>
            <a:ext cx="504000" cy="504000"/>
            <a:chOff x="1110463" y="3137054"/>
            <a:chExt cx="504000" cy="504000"/>
          </a:xfrm>
        </p:grpSpPr>
        <p:sp>
          <p:nvSpPr>
            <p:cNvPr id="242" name="椭圆 241">
              <a:extLst>
                <a:ext uri="{FF2B5EF4-FFF2-40B4-BE49-F238E27FC236}">
                  <a16:creationId xmlns:a16="http://schemas.microsoft.com/office/drawing/2014/main" id="{E794457F-B7AC-8272-F237-A9B61A21332F}"/>
                </a:ext>
              </a:extLst>
            </p:cNvPr>
            <p:cNvSpPr/>
            <p:nvPr/>
          </p:nvSpPr>
          <p:spPr>
            <a:xfrm>
              <a:off x="1110463" y="3137054"/>
              <a:ext cx="504000" cy="504000"/>
            </a:xfrm>
            <a:prstGeom prst="ellipse">
              <a:avLst/>
            </a:prstGeom>
            <a:noFill/>
            <a:ln w="6350">
              <a:solidFill>
                <a:srgbClr val="607FC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100"/>
            </a:p>
          </p:txBody>
        </p:sp>
        <p:pic>
          <p:nvPicPr>
            <p:cNvPr id="243" name="图片 242">
              <a:extLst>
                <a:ext uri="{FF2B5EF4-FFF2-40B4-BE49-F238E27FC236}">
                  <a16:creationId xmlns:a16="http://schemas.microsoft.com/office/drawing/2014/main" id="{C81A3C94-84F5-6994-3829-9F5641A7E7F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171963" y="3236654"/>
              <a:ext cx="381000" cy="304800"/>
            </a:xfrm>
            <a:prstGeom prst="rect">
              <a:avLst/>
            </a:prstGeom>
          </p:spPr>
        </p:pic>
      </p:grpSp>
      <p:cxnSp>
        <p:nvCxnSpPr>
          <p:cNvPr id="252" name="直接连接符 251">
            <a:extLst>
              <a:ext uri="{FF2B5EF4-FFF2-40B4-BE49-F238E27FC236}">
                <a16:creationId xmlns:a16="http://schemas.microsoft.com/office/drawing/2014/main" id="{CDB0ACC8-41FD-6C3B-43D0-6400C284902D}"/>
              </a:ext>
            </a:extLst>
          </p:cNvPr>
          <p:cNvCxnSpPr>
            <a:stCxn id="14" idx="7"/>
          </p:cNvCxnSpPr>
          <p:nvPr/>
        </p:nvCxnSpPr>
        <p:spPr>
          <a:xfrm flipV="1">
            <a:off x="4552742" y="2776371"/>
            <a:ext cx="223879" cy="209204"/>
          </a:xfrm>
          <a:prstGeom prst="line">
            <a:avLst/>
          </a:prstGeom>
        </p:spPr>
        <p:style>
          <a:lnRef idx="1">
            <a:schemeClr val="accent1"/>
          </a:lnRef>
          <a:fillRef idx="0">
            <a:schemeClr val="accent1"/>
          </a:fillRef>
          <a:effectRef idx="0">
            <a:schemeClr val="accent1"/>
          </a:effectRef>
          <a:fontRef idx="minor">
            <a:schemeClr val="tx1"/>
          </a:fontRef>
        </p:style>
      </p:cxnSp>
      <p:cxnSp>
        <p:nvCxnSpPr>
          <p:cNvPr id="256" name="直接连接符 255">
            <a:extLst>
              <a:ext uri="{FF2B5EF4-FFF2-40B4-BE49-F238E27FC236}">
                <a16:creationId xmlns:a16="http://schemas.microsoft.com/office/drawing/2014/main" id="{0A20AD23-29DD-65EB-3543-5D04B1EA79D8}"/>
              </a:ext>
            </a:extLst>
          </p:cNvPr>
          <p:cNvCxnSpPr>
            <a:cxnSpLocks/>
            <a:stCxn id="54" idx="1"/>
            <a:endCxn id="242" idx="6"/>
          </p:cNvCxnSpPr>
          <p:nvPr/>
        </p:nvCxnSpPr>
        <p:spPr>
          <a:xfrm flipH="1">
            <a:off x="4688051" y="3884796"/>
            <a:ext cx="389818" cy="140738"/>
          </a:xfrm>
          <a:prstGeom prst="line">
            <a:avLst/>
          </a:prstGeom>
        </p:spPr>
        <p:style>
          <a:lnRef idx="1">
            <a:schemeClr val="accent1"/>
          </a:lnRef>
          <a:fillRef idx="0">
            <a:schemeClr val="accent1"/>
          </a:fillRef>
          <a:effectRef idx="0">
            <a:schemeClr val="accent1"/>
          </a:effectRef>
          <a:fontRef idx="minor">
            <a:schemeClr val="tx1"/>
          </a:fontRef>
        </p:style>
      </p:cxnSp>
      <p:cxnSp>
        <p:nvCxnSpPr>
          <p:cNvPr id="258" name="直接连接符 257">
            <a:extLst>
              <a:ext uri="{FF2B5EF4-FFF2-40B4-BE49-F238E27FC236}">
                <a16:creationId xmlns:a16="http://schemas.microsoft.com/office/drawing/2014/main" id="{30C886FC-1AFA-BC1B-FA16-3C9BF4BFBA30}"/>
              </a:ext>
            </a:extLst>
          </p:cNvPr>
          <p:cNvCxnSpPr>
            <a:cxnSpLocks/>
            <a:stCxn id="242" idx="2"/>
            <a:endCxn id="58" idx="1"/>
          </p:cNvCxnSpPr>
          <p:nvPr/>
        </p:nvCxnSpPr>
        <p:spPr>
          <a:xfrm flipH="1" flipV="1">
            <a:off x="3723326" y="3833510"/>
            <a:ext cx="460725" cy="192024"/>
          </a:xfrm>
          <a:prstGeom prst="line">
            <a:avLst/>
          </a:prstGeom>
        </p:spPr>
        <p:style>
          <a:lnRef idx="1">
            <a:schemeClr val="accent1"/>
          </a:lnRef>
          <a:fillRef idx="0">
            <a:schemeClr val="accent1"/>
          </a:fillRef>
          <a:effectRef idx="0">
            <a:schemeClr val="accent1"/>
          </a:effectRef>
          <a:fontRef idx="minor">
            <a:schemeClr val="tx1"/>
          </a:fontRef>
        </p:style>
      </p:cxnSp>
      <p:cxnSp>
        <p:nvCxnSpPr>
          <p:cNvPr id="260" name="直接连接符 259">
            <a:extLst>
              <a:ext uri="{FF2B5EF4-FFF2-40B4-BE49-F238E27FC236}">
                <a16:creationId xmlns:a16="http://schemas.microsoft.com/office/drawing/2014/main" id="{9E1321CD-5608-D577-7603-E4EC3FC9133D}"/>
              </a:ext>
            </a:extLst>
          </p:cNvPr>
          <p:cNvCxnSpPr>
            <a:cxnSpLocks/>
            <a:stCxn id="56" idx="1"/>
            <a:endCxn id="34" idx="0"/>
          </p:cNvCxnSpPr>
          <p:nvPr/>
        </p:nvCxnSpPr>
        <p:spPr>
          <a:xfrm flipH="1">
            <a:off x="5804884" y="3560037"/>
            <a:ext cx="296644" cy="262865"/>
          </a:xfrm>
          <a:prstGeom prst="line">
            <a:avLst/>
          </a:prstGeom>
        </p:spPr>
        <p:style>
          <a:lnRef idx="1">
            <a:schemeClr val="accent1"/>
          </a:lnRef>
          <a:fillRef idx="0">
            <a:schemeClr val="accent1"/>
          </a:fillRef>
          <a:effectRef idx="0">
            <a:schemeClr val="accent1"/>
          </a:effectRef>
          <a:fontRef idx="minor">
            <a:schemeClr val="tx1"/>
          </a:fontRef>
        </p:style>
      </p:cxnSp>
      <p:cxnSp>
        <p:nvCxnSpPr>
          <p:cNvPr id="265" name="直接连接符 264">
            <a:extLst>
              <a:ext uri="{FF2B5EF4-FFF2-40B4-BE49-F238E27FC236}">
                <a16:creationId xmlns:a16="http://schemas.microsoft.com/office/drawing/2014/main" id="{3E318CCF-FDF0-264D-32BB-FBB5AB9C9D7E}"/>
              </a:ext>
            </a:extLst>
          </p:cNvPr>
          <p:cNvCxnSpPr>
            <a:cxnSpLocks/>
            <a:stCxn id="14" idx="5"/>
          </p:cNvCxnSpPr>
          <p:nvPr/>
        </p:nvCxnSpPr>
        <p:spPr>
          <a:xfrm>
            <a:off x="4552742" y="3341957"/>
            <a:ext cx="223879" cy="73809"/>
          </a:xfrm>
          <a:prstGeom prst="line">
            <a:avLst/>
          </a:prstGeom>
        </p:spPr>
        <p:style>
          <a:lnRef idx="1">
            <a:schemeClr val="accent1"/>
          </a:lnRef>
          <a:fillRef idx="0">
            <a:schemeClr val="accent1"/>
          </a:fillRef>
          <a:effectRef idx="0">
            <a:schemeClr val="accent1"/>
          </a:effectRef>
          <a:fontRef idx="minor">
            <a:schemeClr val="tx1"/>
          </a:fontRef>
        </p:style>
      </p:cxnSp>
      <p:cxnSp>
        <p:nvCxnSpPr>
          <p:cNvPr id="283" name="直接连接符 282">
            <a:extLst>
              <a:ext uri="{FF2B5EF4-FFF2-40B4-BE49-F238E27FC236}">
                <a16:creationId xmlns:a16="http://schemas.microsoft.com/office/drawing/2014/main" id="{C123562C-A48A-9A6D-2249-3866BC750119}"/>
              </a:ext>
            </a:extLst>
          </p:cNvPr>
          <p:cNvCxnSpPr>
            <a:cxnSpLocks/>
            <a:stCxn id="50" idx="3"/>
            <a:endCxn id="54" idx="3"/>
          </p:cNvCxnSpPr>
          <p:nvPr/>
        </p:nvCxnSpPr>
        <p:spPr>
          <a:xfrm flipH="1">
            <a:off x="5077869" y="3066446"/>
            <a:ext cx="245859" cy="264857"/>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588824149"/>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 name="云形 43">
            <a:extLst>
              <a:ext uri="{FF2B5EF4-FFF2-40B4-BE49-F238E27FC236}">
                <a16:creationId xmlns:a16="http://schemas.microsoft.com/office/drawing/2014/main" id="{5116DFA7-F9EE-5311-2C20-9D9562BCB8CE}"/>
              </a:ext>
            </a:extLst>
          </p:cNvPr>
          <p:cNvSpPr/>
          <p:nvPr/>
        </p:nvSpPr>
        <p:spPr>
          <a:xfrm>
            <a:off x="2037445" y="1242377"/>
            <a:ext cx="5385630" cy="3338777"/>
          </a:xfrm>
          <a:prstGeom prst="cloud">
            <a:avLst/>
          </a:prstGeom>
          <a:noFill/>
          <a:ln w="6350">
            <a:solidFill>
              <a:schemeClr val="tx1">
                <a:lumMod val="50000"/>
                <a:lumOff val="5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100" dirty="0">
              <a:solidFill>
                <a:schemeClr val="tx1"/>
              </a:solidFill>
            </a:endParaRPr>
          </a:p>
        </p:txBody>
      </p:sp>
      <p:sp>
        <p:nvSpPr>
          <p:cNvPr id="2" name="标题 1">
            <a:extLst>
              <a:ext uri="{FF2B5EF4-FFF2-40B4-BE49-F238E27FC236}">
                <a16:creationId xmlns:a16="http://schemas.microsoft.com/office/drawing/2014/main" id="{8E703439-3F25-B35C-BB49-0168DFE3E9E3}"/>
              </a:ext>
            </a:extLst>
          </p:cNvPr>
          <p:cNvSpPr>
            <a:spLocks noGrp="1"/>
          </p:cNvSpPr>
          <p:nvPr>
            <p:ph type="title"/>
          </p:nvPr>
        </p:nvSpPr>
        <p:spPr>
          <a:xfrm>
            <a:off x="612000" y="144000"/>
            <a:ext cx="7920000" cy="341632"/>
          </a:xfrm>
        </p:spPr>
        <p:txBody>
          <a:bodyPr/>
          <a:lstStyle/>
          <a:p>
            <a:r>
              <a:rPr lang="en-US" altLang="zh-CN" dirty="0"/>
              <a:t>1.2.1  </a:t>
            </a:r>
            <a:r>
              <a:rPr lang="zh-CN" altLang="en-US" dirty="0"/>
              <a:t>网络的网络</a:t>
            </a:r>
          </a:p>
        </p:txBody>
      </p:sp>
      <p:grpSp>
        <p:nvGrpSpPr>
          <p:cNvPr id="3" name="组合 2">
            <a:extLst>
              <a:ext uri="{FF2B5EF4-FFF2-40B4-BE49-F238E27FC236}">
                <a16:creationId xmlns:a16="http://schemas.microsoft.com/office/drawing/2014/main" id="{2B27AE64-8490-18D2-BD49-D0F9E9E48827}"/>
              </a:ext>
            </a:extLst>
          </p:cNvPr>
          <p:cNvGrpSpPr/>
          <p:nvPr/>
        </p:nvGrpSpPr>
        <p:grpSpPr>
          <a:xfrm>
            <a:off x="3990925" y="2456325"/>
            <a:ext cx="504000" cy="504000"/>
            <a:chOff x="1110463" y="3137054"/>
            <a:chExt cx="504000" cy="504000"/>
          </a:xfrm>
        </p:grpSpPr>
        <p:sp>
          <p:nvSpPr>
            <p:cNvPr id="4" name="椭圆 3">
              <a:extLst>
                <a:ext uri="{FF2B5EF4-FFF2-40B4-BE49-F238E27FC236}">
                  <a16:creationId xmlns:a16="http://schemas.microsoft.com/office/drawing/2014/main" id="{1811C8D7-D532-10A0-4BC4-401650515FD6}"/>
                </a:ext>
              </a:extLst>
            </p:cNvPr>
            <p:cNvSpPr/>
            <p:nvPr/>
          </p:nvSpPr>
          <p:spPr>
            <a:xfrm>
              <a:off x="1110463" y="3137054"/>
              <a:ext cx="504000" cy="504000"/>
            </a:xfrm>
            <a:prstGeom prst="ellipse">
              <a:avLst/>
            </a:prstGeom>
            <a:noFill/>
            <a:ln w="6350">
              <a:solidFill>
                <a:srgbClr val="607FC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5" name="图片 4">
              <a:extLst>
                <a:ext uri="{FF2B5EF4-FFF2-40B4-BE49-F238E27FC236}">
                  <a16:creationId xmlns:a16="http://schemas.microsoft.com/office/drawing/2014/main" id="{3A096507-861B-A020-B50B-E5BCDBB2E86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171963" y="3236654"/>
              <a:ext cx="381000" cy="304800"/>
            </a:xfrm>
            <a:prstGeom prst="rect">
              <a:avLst/>
            </a:prstGeom>
          </p:spPr>
        </p:pic>
      </p:grpSp>
      <p:sp>
        <p:nvSpPr>
          <p:cNvPr id="6" name="文本框 5">
            <a:extLst>
              <a:ext uri="{FF2B5EF4-FFF2-40B4-BE49-F238E27FC236}">
                <a16:creationId xmlns:a16="http://schemas.microsoft.com/office/drawing/2014/main" id="{ED29DC35-56F8-220D-9873-8C2C6DCDE072}"/>
              </a:ext>
            </a:extLst>
          </p:cNvPr>
          <p:cNvSpPr txBox="1"/>
          <p:nvPr/>
        </p:nvSpPr>
        <p:spPr>
          <a:xfrm>
            <a:off x="3480996" y="4340423"/>
            <a:ext cx="2182008" cy="276999"/>
          </a:xfrm>
          <a:prstGeom prst="rect">
            <a:avLst/>
          </a:prstGeom>
          <a:noFill/>
        </p:spPr>
        <p:txBody>
          <a:bodyPr wrap="none" rtlCol="0">
            <a:spAutoFit/>
          </a:bodyPr>
          <a:lstStyle/>
          <a:p>
            <a:pPr algn="ctr"/>
            <a:r>
              <a:rPr lang="zh-CN" altLang="en-US" sz="1200" dirty="0"/>
              <a:t>图</a:t>
            </a:r>
            <a:r>
              <a:rPr lang="en-US" altLang="zh-CN" sz="1200" dirty="0"/>
              <a:t>1-1 (b) </a:t>
            </a:r>
            <a:r>
              <a:rPr lang="zh-CN" altLang="en-US" sz="1200" dirty="0"/>
              <a:t>由网络构成的互连网</a:t>
            </a:r>
          </a:p>
        </p:txBody>
      </p:sp>
      <p:grpSp>
        <p:nvGrpSpPr>
          <p:cNvPr id="7" name="组合 6">
            <a:extLst>
              <a:ext uri="{FF2B5EF4-FFF2-40B4-BE49-F238E27FC236}">
                <a16:creationId xmlns:a16="http://schemas.microsoft.com/office/drawing/2014/main" id="{F6FCE3C8-FB0D-DD57-DE8A-1CD3D5442FA2}"/>
              </a:ext>
            </a:extLst>
          </p:cNvPr>
          <p:cNvGrpSpPr/>
          <p:nvPr/>
        </p:nvGrpSpPr>
        <p:grpSpPr>
          <a:xfrm>
            <a:off x="2518753" y="2827836"/>
            <a:ext cx="504000" cy="504000"/>
            <a:chOff x="2611895" y="3430082"/>
            <a:chExt cx="504000" cy="504000"/>
          </a:xfrm>
        </p:grpSpPr>
        <p:sp>
          <p:nvSpPr>
            <p:cNvPr id="8" name="椭圆 7">
              <a:extLst>
                <a:ext uri="{FF2B5EF4-FFF2-40B4-BE49-F238E27FC236}">
                  <a16:creationId xmlns:a16="http://schemas.microsoft.com/office/drawing/2014/main" id="{AAC8D2EF-98D1-4864-B792-F14DE10CDDBB}"/>
                </a:ext>
              </a:extLst>
            </p:cNvPr>
            <p:cNvSpPr/>
            <p:nvPr/>
          </p:nvSpPr>
          <p:spPr>
            <a:xfrm>
              <a:off x="2611895" y="3430082"/>
              <a:ext cx="504000" cy="504000"/>
            </a:xfrm>
            <a:prstGeom prst="ellipse">
              <a:avLst/>
            </a:prstGeom>
            <a:noFill/>
            <a:ln w="6350">
              <a:solidFill>
                <a:srgbClr val="607FC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9" name="图片 8">
              <a:extLst>
                <a:ext uri="{FF2B5EF4-FFF2-40B4-BE49-F238E27FC236}">
                  <a16:creationId xmlns:a16="http://schemas.microsoft.com/office/drawing/2014/main" id="{E122BF27-B933-337B-FD37-1247A80489D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701970" y="3529682"/>
              <a:ext cx="323850" cy="304800"/>
            </a:xfrm>
            <a:prstGeom prst="rect">
              <a:avLst/>
            </a:prstGeom>
          </p:spPr>
        </p:pic>
      </p:grpSp>
      <p:grpSp>
        <p:nvGrpSpPr>
          <p:cNvPr id="10" name="组合 9">
            <a:extLst>
              <a:ext uri="{FF2B5EF4-FFF2-40B4-BE49-F238E27FC236}">
                <a16:creationId xmlns:a16="http://schemas.microsoft.com/office/drawing/2014/main" id="{33B3089C-0A19-30C4-38DF-B58D6FA7224A}"/>
              </a:ext>
            </a:extLst>
          </p:cNvPr>
          <p:cNvGrpSpPr/>
          <p:nvPr/>
        </p:nvGrpSpPr>
        <p:grpSpPr>
          <a:xfrm>
            <a:off x="5421258" y="3367461"/>
            <a:ext cx="504000" cy="504000"/>
            <a:chOff x="2611895" y="3430082"/>
            <a:chExt cx="504000" cy="504000"/>
          </a:xfrm>
        </p:grpSpPr>
        <p:sp>
          <p:nvSpPr>
            <p:cNvPr id="11" name="椭圆 10">
              <a:extLst>
                <a:ext uri="{FF2B5EF4-FFF2-40B4-BE49-F238E27FC236}">
                  <a16:creationId xmlns:a16="http://schemas.microsoft.com/office/drawing/2014/main" id="{8416408B-8DF0-5F1F-E3D1-7EE57B143E97}"/>
                </a:ext>
              </a:extLst>
            </p:cNvPr>
            <p:cNvSpPr/>
            <p:nvPr/>
          </p:nvSpPr>
          <p:spPr>
            <a:xfrm>
              <a:off x="2611895" y="3430082"/>
              <a:ext cx="504000" cy="504000"/>
            </a:xfrm>
            <a:prstGeom prst="ellipse">
              <a:avLst/>
            </a:prstGeom>
            <a:noFill/>
            <a:ln w="6350">
              <a:solidFill>
                <a:srgbClr val="607FC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12" name="图片 11">
              <a:extLst>
                <a:ext uri="{FF2B5EF4-FFF2-40B4-BE49-F238E27FC236}">
                  <a16:creationId xmlns:a16="http://schemas.microsoft.com/office/drawing/2014/main" id="{EDBF2FA0-F581-C92D-2633-6281755F615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701970" y="3529682"/>
              <a:ext cx="323850" cy="304800"/>
            </a:xfrm>
            <a:prstGeom prst="rect">
              <a:avLst/>
            </a:prstGeom>
          </p:spPr>
        </p:pic>
      </p:grpSp>
      <p:grpSp>
        <p:nvGrpSpPr>
          <p:cNvPr id="13" name="组合 12">
            <a:extLst>
              <a:ext uri="{FF2B5EF4-FFF2-40B4-BE49-F238E27FC236}">
                <a16:creationId xmlns:a16="http://schemas.microsoft.com/office/drawing/2014/main" id="{420F3833-9442-C537-EEA7-83533D4CFC47}"/>
              </a:ext>
            </a:extLst>
          </p:cNvPr>
          <p:cNvGrpSpPr/>
          <p:nvPr/>
        </p:nvGrpSpPr>
        <p:grpSpPr>
          <a:xfrm>
            <a:off x="3605876" y="1700325"/>
            <a:ext cx="504000" cy="504000"/>
            <a:chOff x="2611895" y="3430082"/>
            <a:chExt cx="504000" cy="504000"/>
          </a:xfrm>
        </p:grpSpPr>
        <p:sp>
          <p:nvSpPr>
            <p:cNvPr id="14" name="椭圆 13">
              <a:extLst>
                <a:ext uri="{FF2B5EF4-FFF2-40B4-BE49-F238E27FC236}">
                  <a16:creationId xmlns:a16="http://schemas.microsoft.com/office/drawing/2014/main" id="{41D11292-00D9-BBBB-0F50-4EE5EE9A00F9}"/>
                </a:ext>
              </a:extLst>
            </p:cNvPr>
            <p:cNvSpPr/>
            <p:nvPr/>
          </p:nvSpPr>
          <p:spPr>
            <a:xfrm>
              <a:off x="2611895" y="3430082"/>
              <a:ext cx="504000" cy="504000"/>
            </a:xfrm>
            <a:prstGeom prst="ellipse">
              <a:avLst/>
            </a:prstGeom>
            <a:noFill/>
            <a:ln w="6350">
              <a:solidFill>
                <a:srgbClr val="607FC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15" name="图片 14">
              <a:extLst>
                <a:ext uri="{FF2B5EF4-FFF2-40B4-BE49-F238E27FC236}">
                  <a16:creationId xmlns:a16="http://schemas.microsoft.com/office/drawing/2014/main" id="{2A548932-8208-E34A-E869-B0D4FBD5954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701970" y="3529682"/>
              <a:ext cx="323850" cy="304800"/>
            </a:xfrm>
            <a:prstGeom prst="rect">
              <a:avLst/>
            </a:prstGeom>
          </p:spPr>
        </p:pic>
      </p:grpSp>
      <p:cxnSp>
        <p:nvCxnSpPr>
          <p:cNvPr id="16" name="直接连接符 15">
            <a:extLst>
              <a:ext uri="{FF2B5EF4-FFF2-40B4-BE49-F238E27FC236}">
                <a16:creationId xmlns:a16="http://schemas.microsoft.com/office/drawing/2014/main" id="{6F5C3CD0-61F2-6D42-7E60-6524D8B16985}"/>
              </a:ext>
            </a:extLst>
          </p:cNvPr>
          <p:cNvCxnSpPr>
            <a:cxnSpLocks/>
            <a:stCxn id="14" idx="6"/>
            <a:endCxn id="22" idx="2"/>
          </p:cNvCxnSpPr>
          <p:nvPr/>
        </p:nvCxnSpPr>
        <p:spPr>
          <a:xfrm>
            <a:off x="4109876" y="1952325"/>
            <a:ext cx="387205" cy="109890"/>
          </a:xfrm>
          <a:prstGeom prst="line">
            <a:avLst/>
          </a:prstGeom>
        </p:spPr>
        <p:style>
          <a:lnRef idx="1">
            <a:schemeClr val="accent1"/>
          </a:lnRef>
          <a:fillRef idx="0">
            <a:schemeClr val="accent1"/>
          </a:fillRef>
          <a:effectRef idx="0">
            <a:schemeClr val="accent1"/>
          </a:effectRef>
          <a:fontRef idx="minor">
            <a:schemeClr val="tx1"/>
          </a:fontRef>
        </p:style>
      </p:cxnSp>
      <p:cxnSp>
        <p:nvCxnSpPr>
          <p:cNvPr id="17" name="直接连接符 16">
            <a:extLst>
              <a:ext uri="{FF2B5EF4-FFF2-40B4-BE49-F238E27FC236}">
                <a16:creationId xmlns:a16="http://schemas.microsoft.com/office/drawing/2014/main" id="{D70A6DD3-5289-D91F-E113-A6B21B0DE250}"/>
              </a:ext>
            </a:extLst>
          </p:cNvPr>
          <p:cNvCxnSpPr>
            <a:cxnSpLocks/>
            <a:stCxn id="8" idx="6"/>
            <a:endCxn id="25" idx="2"/>
          </p:cNvCxnSpPr>
          <p:nvPr/>
        </p:nvCxnSpPr>
        <p:spPr>
          <a:xfrm>
            <a:off x="3022753" y="3079836"/>
            <a:ext cx="223660" cy="49319"/>
          </a:xfrm>
          <a:prstGeom prst="line">
            <a:avLst/>
          </a:prstGeom>
        </p:spPr>
        <p:style>
          <a:lnRef idx="1">
            <a:schemeClr val="accent1"/>
          </a:lnRef>
          <a:fillRef idx="0">
            <a:schemeClr val="accent1"/>
          </a:fillRef>
          <a:effectRef idx="0">
            <a:schemeClr val="accent1"/>
          </a:effectRef>
          <a:fontRef idx="minor">
            <a:schemeClr val="tx1"/>
          </a:fontRef>
        </p:style>
      </p:cxnSp>
      <p:cxnSp>
        <p:nvCxnSpPr>
          <p:cNvPr id="18" name="直接连接符 17">
            <a:extLst>
              <a:ext uri="{FF2B5EF4-FFF2-40B4-BE49-F238E27FC236}">
                <a16:creationId xmlns:a16="http://schemas.microsoft.com/office/drawing/2014/main" id="{B860B3E9-07C8-1D9A-B468-F0ABF7A35931}"/>
              </a:ext>
            </a:extLst>
          </p:cNvPr>
          <p:cNvCxnSpPr>
            <a:cxnSpLocks/>
            <a:stCxn id="11" idx="1"/>
          </p:cNvCxnSpPr>
          <p:nvPr/>
        </p:nvCxnSpPr>
        <p:spPr>
          <a:xfrm flipH="1" flipV="1">
            <a:off x="5179793" y="3331836"/>
            <a:ext cx="315274" cy="109434"/>
          </a:xfrm>
          <a:prstGeom prst="line">
            <a:avLst/>
          </a:prstGeom>
        </p:spPr>
        <p:style>
          <a:lnRef idx="1">
            <a:schemeClr val="accent1"/>
          </a:lnRef>
          <a:fillRef idx="0">
            <a:schemeClr val="accent1"/>
          </a:fillRef>
          <a:effectRef idx="0">
            <a:schemeClr val="accent1"/>
          </a:effectRef>
          <a:fontRef idx="minor">
            <a:schemeClr val="tx1"/>
          </a:fontRef>
        </p:style>
      </p:cxnSp>
      <p:grpSp>
        <p:nvGrpSpPr>
          <p:cNvPr id="19" name="组合 18">
            <a:extLst>
              <a:ext uri="{FF2B5EF4-FFF2-40B4-BE49-F238E27FC236}">
                <a16:creationId xmlns:a16="http://schemas.microsoft.com/office/drawing/2014/main" id="{60717602-FDC2-C35E-DC85-31C76C930E54}"/>
              </a:ext>
            </a:extLst>
          </p:cNvPr>
          <p:cNvGrpSpPr/>
          <p:nvPr/>
        </p:nvGrpSpPr>
        <p:grpSpPr>
          <a:xfrm>
            <a:off x="5118293" y="2180814"/>
            <a:ext cx="504000" cy="504000"/>
            <a:chOff x="1110463" y="3137054"/>
            <a:chExt cx="504000" cy="504000"/>
          </a:xfrm>
        </p:grpSpPr>
        <p:sp>
          <p:nvSpPr>
            <p:cNvPr id="20" name="椭圆 19">
              <a:extLst>
                <a:ext uri="{FF2B5EF4-FFF2-40B4-BE49-F238E27FC236}">
                  <a16:creationId xmlns:a16="http://schemas.microsoft.com/office/drawing/2014/main" id="{3AB9CC72-B824-D20E-BAAB-C74127341F68}"/>
                </a:ext>
              </a:extLst>
            </p:cNvPr>
            <p:cNvSpPr/>
            <p:nvPr/>
          </p:nvSpPr>
          <p:spPr>
            <a:xfrm>
              <a:off x="1110463" y="3137054"/>
              <a:ext cx="504000" cy="504000"/>
            </a:xfrm>
            <a:prstGeom prst="ellipse">
              <a:avLst/>
            </a:prstGeom>
            <a:noFill/>
            <a:ln w="6350">
              <a:solidFill>
                <a:srgbClr val="607FC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21" name="图片 20">
              <a:extLst>
                <a:ext uri="{FF2B5EF4-FFF2-40B4-BE49-F238E27FC236}">
                  <a16:creationId xmlns:a16="http://schemas.microsoft.com/office/drawing/2014/main" id="{A0286893-9267-752C-6872-C33B629F113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171963" y="3236654"/>
              <a:ext cx="381000" cy="304800"/>
            </a:xfrm>
            <a:prstGeom prst="rect">
              <a:avLst/>
            </a:prstGeom>
          </p:spPr>
        </p:pic>
      </p:grpSp>
      <p:sp>
        <p:nvSpPr>
          <p:cNvPr id="22" name="云形 21">
            <a:extLst>
              <a:ext uri="{FF2B5EF4-FFF2-40B4-BE49-F238E27FC236}">
                <a16:creationId xmlns:a16="http://schemas.microsoft.com/office/drawing/2014/main" id="{3EB944C3-C6E5-E4E0-8C02-2C88507470D3}"/>
              </a:ext>
            </a:extLst>
          </p:cNvPr>
          <p:cNvSpPr/>
          <p:nvPr/>
        </p:nvSpPr>
        <p:spPr>
          <a:xfrm>
            <a:off x="4494925" y="1768353"/>
            <a:ext cx="695218" cy="587723"/>
          </a:xfrm>
          <a:prstGeom prst="cloud">
            <a:avLst/>
          </a:prstGeom>
          <a:noFill/>
          <a:ln w="6350">
            <a:solidFill>
              <a:srgbClr val="607FC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rPr>
              <a:t>Net</a:t>
            </a:r>
            <a:endParaRPr lang="zh-CN" altLang="en-US" sz="1100" dirty="0">
              <a:solidFill>
                <a:schemeClr val="tx1"/>
              </a:solidFill>
            </a:endParaRPr>
          </a:p>
        </p:txBody>
      </p:sp>
      <p:sp>
        <p:nvSpPr>
          <p:cNvPr id="23" name="云形 22">
            <a:extLst>
              <a:ext uri="{FF2B5EF4-FFF2-40B4-BE49-F238E27FC236}">
                <a16:creationId xmlns:a16="http://schemas.microsoft.com/office/drawing/2014/main" id="{C8E32129-45DE-CB16-6070-0AA92EC2ED32}"/>
              </a:ext>
            </a:extLst>
          </p:cNvPr>
          <p:cNvSpPr/>
          <p:nvPr/>
        </p:nvSpPr>
        <p:spPr>
          <a:xfrm>
            <a:off x="4598634" y="2842258"/>
            <a:ext cx="695218" cy="587723"/>
          </a:xfrm>
          <a:prstGeom prst="cloud">
            <a:avLst/>
          </a:prstGeom>
          <a:noFill/>
          <a:ln w="6350">
            <a:solidFill>
              <a:srgbClr val="607FC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rPr>
              <a:t>Net</a:t>
            </a:r>
            <a:endParaRPr lang="zh-CN" altLang="en-US" sz="1100" dirty="0">
              <a:solidFill>
                <a:schemeClr val="tx1"/>
              </a:solidFill>
            </a:endParaRPr>
          </a:p>
        </p:txBody>
      </p:sp>
      <p:sp>
        <p:nvSpPr>
          <p:cNvPr id="24" name="云形 23">
            <a:extLst>
              <a:ext uri="{FF2B5EF4-FFF2-40B4-BE49-F238E27FC236}">
                <a16:creationId xmlns:a16="http://schemas.microsoft.com/office/drawing/2014/main" id="{5A37AEB8-3A4C-79FD-B6E7-3BFAAB4EF6B6}"/>
              </a:ext>
            </a:extLst>
          </p:cNvPr>
          <p:cNvSpPr/>
          <p:nvPr/>
        </p:nvSpPr>
        <p:spPr>
          <a:xfrm>
            <a:off x="5622293" y="2517499"/>
            <a:ext cx="695218" cy="587723"/>
          </a:xfrm>
          <a:prstGeom prst="cloud">
            <a:avLst/>
          </a:prstGeom>
          <a:noFill/>
          <a:ln w="6350">
            <a:solidFill>
              <a:srgbClr val="607FC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rPr>
              <a:t>Net</a:t>
            </a:r>
            <a:endParaRPr lang="zh-CN" altLang="en-US" sz="1100" dirty="0">
              <a:solidFill>
                <a:schemeClr val="tx1"/>
              </a:solidFill>
            </a:endParaRPr>
          </a:p>
        </p:txBody>
      </p:sp>
      <p:sp>
        <p:nvSpPr>
          <p:cNvPr id="25" name="云形 24">
            <a:extLst>
              <a:ext uri="{FF2B5EF4-FFF2-40B4-BE49-F238E27FC236}">
                <a16:creationId xmlns:a16="http://schemas.microsoft.com/office/drawing/2014/main" id="{C56A5766-6A52-5AF7-C2D3-62BEE63FF5FB}"/>
              </a:ext>
            </a:extLst>
          </p:cNvPr>
          <p:cNvSpPr/>
          <p:nvPr/>
        </p:nvSpPr>
        <p:spPr>
          <a:xfrm>
            <a:off x="3244257" y="2835293"/>
            <a:ext cx="695218" cy="587723"/>
          </a:xfrm>
          <a:prstGeom prst="cloud">
            <a:avLst/>
          </a:prstGeom>
          <a:noFill/>
          <a:ln w="6350">
            <a:solidFill>
              <a:srgbClr val="607FC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rPr>
              <a:t>Net</a:t>
            </a:r>
            <a:endParaRPr lang="zh-CN" altLang="en-US" sz="1100" dirty="0">
              <a:solidFill>
                <a:schemeClr val="tx1"/>
              </a:solidFill>
            </a:endParaRPr>
          </a:p>
        </p:txBody>
      </p:sp>
      <p:cxnSp>
        <p:nvCxnSpPr>
          <p:cNvPr id="26" name="直接连接符 25">
            <a:extLst>
              <a:ext uri="{FF2B5EF4-FFF2-40B4-BE49-F238E27FC236}">
                <a16:creationId xmlns:a16="http://schemas.microsoft.com/office/drawing/2014/main" id="{68B71BB2-1253-81B0-03C9-0C8E29C0E864}"/>
              </a:ext>
            </a:extLst>
          </p:cNvPr>
          <p:cNvCxnSpPr>
            <a:cxnSpLocks/>
            <a:endCxn id="4" idx="2"/>
          </p:cNvCxnSpPr>
          <p:nvPr/>
        </p:nvCxnSpPr>
        <p:spPr>
          <a:xfrm flipV="1">
            <a:off x="3829767" y="2708325"/>
            <a:ext cx="161158" cy="119511"/>
          </a:xfrm>
          <a:prstGeom prst="line">
            <a:avLst/>
          </a:prstGeom>
        </p:spPr>
        <p:style>
          <a:lnRef idx="1">
            <a:schemeClr val="accent1"/>
          </a:lnRef>
          <a:fillRef idx="0">
            <a:schemeClr val="accent1"/>
          </a:fillRef>
          <a:effectRef idx="0">
            <a:schemeClr val="accent1"/>
          </a:effectRef>
          <a:fontRef idx="minor">
            <a:schemeClr val="tx1"/>
          </a:fontRef>
        </p:style>
      </p:cxnSp>
      <p:cxnSp>
        <p:nvCxnSpPr>
          <p:cNvPr id="27" name="直接连接符 26">
            <a:extLst>
              <a:ext uri="{FF2B5EF4-FFF2-40B4-BE49-F238E27FC236}">
                <a16:creationId xmlns:a16="http://schemas.microsoft.com/office/drawing/2014/main" id="{76A7612A-C6AB-5A04-7CED-E0E941FB6665}"/>
              </a:ext>
            </a:extLst>
          </p:cNvPr>
          <p:cNvCxnSpPr>
            <a:cxnSpLocks/>
            <a:endCxn id="20" idx="1"/>
          </p:cNvCxnSpPr>
          <p:nvPr/>
        </p:nvCxnSpPr>
        <p:spPr>
          <a:xfrm>
            <a:off x="5118293" y="2223821"/>
            <a:ext cx="73809" cy="30802"/>
          </a:xfrm>
          <a:prstGeom prst="line">
            <a:avLst/>
          </a:prstGeom>
        </p:spPr>
        <p:style>
          <a:lnRef idx="1">
            <a:schemeClr val="accent1"/>
          </a:lnRef>
          <a:fillRef idx="0">
            <a:schemeClr val="accent1"/>
          </a:fillRef>
          <a:effectRef idx="0">
            <a:schemeClr val="accent1"/>
          </a:effectRef>
          <a:fontRef idx="minor">
            <a:schemeClr val="tx1"/>
          </a:fontRef>
        </p:style>
      </p:cxnSp>
      <p:grpSp>
        <p:nvGrpSpPr>
          <p:cNvPr id="28" name="组合 27">
            <a:extLst>
              <a:ext uri="{FF2B5EF4-FFF2-40B4-BE49-F238E27FC236}">
                <a16:creationId xmlns:a16="http://schemas.microsoft.com/office/drawing/2014/main" id="{7B2C96FD-8E5B-D434-97BF-7093DD003291}"/>
              </a:ext>
            </a:extLst>
          </p:cNvPr>
          <p:cNvGrpSpPr/>
          <p:nvPr/>
        </p:nvGrpSpPr>
        <p:grpSpPr>
          <a:xfrm>
            <a:off x="6602555" y="2559360"/>
            <a:ext cx="504000" cy="504000"/>
            <a:chOff x="2611895" y="3430082"/>
            <a:chExt cx="504000" cy="504000"/>
          </a:xfrm>
        </p:grpSpPr>
        <p:sp>
          <p:nvSpPr>
            <p:cNvPr id="29" name="椭圆 28">
              <a:extLst>
                <a:ext uri="{FF2B5EF4-FFF2-40B4-BE49-F238E27FC236}">
                  <a16:creationId xmlns:a16="http://schemas.microsoft.com/office/drawing/2014/main" id="{709DC931-095A-51FA-722E-ECB4092C2A88}"/>
                </a:ext>
              </a:extLst>
            </p:cNvPr>
            <p:cNvSpPr/>
            <p:nvPr/>
          </p:nvSpPr>
          <p:spPr>
            <a:xfrm>
              <a:off x="2611895" y="3430082"/>
              <a:ext cx="504000" cy="504000"/>
            </a:xfrm>
            <a:prstGeom prst="ellipse">
              <a:avLst/>
            </a:prstGeom>
            <a:noFill/>
            <a:ln w="6350">
              <a:solidFill>
                <a:srgbClr val="607FC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30" name="图片 29">
              <a:extLst>
                <a:ext uri="{FF2B5EF4-FFF2-40B4-BE49-F238E27FC236}">
                  <a16:creationId xmlns:a16="http://schemas.microsoft.com/office/drawing/2014/main" id="{55F6B010-2D3B-C2D7-205C-CAC4F26D096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701970" y="3529682"/>
              <a:ext cx="323850" cy="304800"/>
            </a:xfrm>
            <a:prstGeom prst="rect">
              <a:avLst/>
            </a:prstGeom>
          </p:spPr>
        </p:pic>
      </p:grpSp>
      <p:cxnSp>
        <p:nvCxnSpPr>
          <p:cNvPr id="31" name="直接连接符 30">
            <a:extLst>
              <a:ext uri="{FF2B5EF4-FFF2-40B4-BE49-F238E27FC236}">
                <a16:creationId xmlns:a16="http://schemas.microsoft.com/office/drawing/2014/main" id="{97CA4AC4-834E-7E08-DAAF-9E3A27090F0F}"/>
              </a:ext>
            </a:extLst>
          </p:cNvPr>
          <p:cNvCxnSpPr>
            <a:stCxn id="29" idx="2"/>
            <a:endCxn id="24" idx="0"/>
          </p:cNvCxnSpPr>
          <p:nvPr/>
        </p:nvCxnSpPr>
        <p:spPr>
          <a:xfrm flipH="1">
            <a:off x="6316932" y="2811360"/>
            <a:ext cx="285623" cy="1"/>
          </a:xfrm>
          <a:prstGeom prst="line">
            <a:avLst/>
          </a:prstGeom>
        </p:spPr>
        <p:style>
          <a:lnRef idx="1">
            <a:schemeClr val="accent1"/>
          </a:lnRef>
          <a:fillRef idx="0">
            <a:schemeClr val="accent1"/>
          </a:fillRef>
          <a:effectRef idx="0">
            <a:schemeClr val="accent1"/>
          </a:effectRef>
          <a:fontRef idx="minor">
            <a:schemeClr val="tx1"/>
          </a:fontRef>
        </p:style>
      </p:cxnSp>
      <p:cxnSp>
        <p:nvCxnSpPr>
          <p:cNvPr id="32" name="直接连接符 31">
            <a:extLst>
              <a:ext uri="{FF2B5EF4-FFF2-40B4-BE49-F238E27FC236}">
                <a16:creationId xmlns:a16="http://schemas.microsoft.com/office/drawing/2014/main" id="{5CCC76F4-4ADC-8593-8AED-F7284CBBD720}"/>
              </a:ext>
            </a:extLst>
          </p:cNvPr>
          <p:cNvCxnSpPr>
            <a:cxnSpLocks/>
            <a:endCxn id="20" idx="5"/>
          </p:cNvCxnSpPr>
          <p:nvPr/>
        </p:nvCxnSpPr>
        <p:spPr>
          <a:xfrm flipH="1" flipV="1">
            <a:off x="5548484" y="2611005"/>
            <a:ext cx="146345" cy="73809"/>
          </a:xfrm>
          <a:prstGeom prst="line">
            <a:avLst/>
          </a:prstGeom>
        </p:spPr>
        <p:style>
          <a:lnRef idx="1">
            <a:schemeClr val="accent1"/>
          </a:lnRef>
          <a:fillRef idx="0">
            <a:schemeClr val="accent1"/>
          </a:fillRef>
          <a:effectRef idx="0">
            <a:schemeClr val="accent1"/>
          </a:effectRef>
          <a:fontRef idx="minor">
            <a:schemeClr val="tx1"/>
          </a:fontRef>
        </p:style>
      </p:cxnSp>
      <p:grpSp>
        <p:nvGrpSpPr>
          <p:cNvPr id="33" name="组合 32">
            <a:extLst>
              <a:ext uri="{FF2B5EF4-FFF2-40B4-BE49-F238E27FC236}">
                <a16:creationId xmlns:a16="http://schemas.microsoft.com/office/drawing/2014/main" id="{A69D2361-F60B-6E65-5C5E-0E4E7DE08B4A}"/>
              </a:ext>
            </a:extLst>
          </p:cNvPr>
          <p:cNvGrpSpPr/>
          <p:nvPr/>
        </p:nvGrpSpPr>
        <p:grpSpPr>
          <a:xfrm>
            <a:off x="4052425" y="3318093"/>
            <a:ext cx="504000" cy="504000"/>
            <a:chOff x="1110463" y="3137054"/>
            <a:chExt cx="504000" cy="504000"/>
          </a:xfrm>
        </p:grpSpPr>
        <p:sp>
          <p:nvSpPr>
            <p:cNvPr id="34" name="椭圆 33">
              <a:extLst>
                <a:ext uri="{FF2B5EF4-FFF2-40B4-BE49-F238E27FC236}">
                  <a16:creationId xmlns:a16="http://schemas.microsoft.com/office/drawing/2014/main" id="{BA5605EE-2DAE-5FBE-6A73-20EFBCDC9739}"/>
                </a:ext>
              </a:extLst>
            </p:cNvPr>
            <p:cNvSpPr/>
            <p:nvPr/>
          </p:nvSpPr>
          <p:spPr>
            <a:xfrm>
              <a:off x="1110463" y="3137054"/>
              <a:ext cx="504000" cy="504000"/>
            </a:xfrm>
            <a:prstGeom prst="ellipse">
              <a:avLst/>
            </a:prstGeom>
            <a:noFill/>
            <a:ln w="6350">
              <a:solidFill>
                <a:srgbClr val="607FC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35" name="图片 34">
              <a:extLst>
                <a:ext uri="{FF2B5EF4-FFF2-40B4-BE49-F238E27FC236}">
                  <a16:creationId xmlns:a16="http://schemas.microsoft.com/office/drawing/2014/main" id="{AD1028AD-2311-44BE-5095-A1B07E91A89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171963" y="3236654"/>
              <a:ext cx="381000" cy="304800"/>
            </a:xfrm>
            <a:prstGeom prst="rect">
              <a:avLst/>
            </a:prstGeom>
          </p:spPr>
        </p:pic>
      </p:grpSp>
      <p:cxnSp>
        <p:nvCxnSpPr>
          <p:cNvPr id="36" name="直接连接符 35">
            <a:extLst>
              <a:ext uri="{FF2B5EF4-FFF2-40B4-BE49-F238E27FC236}">
                <a16:creationId xmlns:a16="http://schemas.microsoft.com/office/drawing/2014/main" id="{6FDB6B47-1BB1-B34B-DABE-4A3ACBF71060}"/>
              </a:ext>
            </a:extLst>
          </p:cNvPr>
          <p:cNvCxnSpPr>
            <a:stCxn id="4" idx="7"/>
          </p:cNvCxnSpPr>
          <p:nvPr/>
        </p:nvCxnSpPr>
        <p:spPr>
          <a:xfrm flipV="1">
            <a:off x="4421116" y="2320930"/>
            <a:ext cx="223879" cy="209204"/>
          </a:xfrm>
          <a:prstGeom prst="line">
            <a:avLst/>
          </a:prstGeom>
        </p:spPr>
        <p:style>
          <a:lnRef idx="1">
            <a:schemeClr val="accent1"/>
          </a:lnRef>
          <a:fillRef idx="0">
            <a:schemeClr val="accent1"/>
          </a:fillRef>
          <a:effectRef idx="0">
            <a:schemeClr val="accent1"/>
          </a:effectRef>
          <a:fontRef idx="minor">
            <a:schemeClr val="tx1"/>
          </a:fontRef>
        </p:style>
      </p:cxnSp>
      <p:cxnSp>
        <p:nvCxnSpPr>
          <p:cNvPr id="37" name="直接连接符 36">
            <a:extLst>
              <a:ext uri="{FF2B5EF4-FFF2-40B4-BE49-F238E27FC236}">
                <a16:creationId xmlns:a16="http://schemas.microsoft.com/office/drawing/2014/main" id="{D40EE388-E646-4CCC-E19D-DC2B141FA633}"/>
              </a:ext>
            </a:extLst>
          </p:cNvPr>
          <p:cNvCxnSpPr>
            <a:cxnSpLocks/>
            <a:endCxn id="34" idx="6"/>
          </p:cNvCxnSpPr>
          <p:nvPr/>
        </p:nvCxnSpPr>
        <p:spPr>
          <a:xfrm flipH="1">
            <a:off x="4556425" y="3378695"/>
            <a:ext cx="156769" cy="191398"/>
          </a:xfrm>
          <a:prstGeom prst="line">
            <a:avLst/>
          </a:prstGeom>
        </p:spPr>
        <p:style>
          <a:lnRef idx="1">
            <a:schemeClr val="accent1"/>
          </a:lnRef>
          <a:fillRef idx="0">
            <a:schemeClr val="accent1"/>
          </a:fillRef>
          <a:effectRef idx="0">
            <a:schemeClr val="accent1"/>
          </a:effectRef>
          <a:fontRef idx="minor">
            <a:schemeClr val="tx1"/>
          </a:fontRef>
        </p:style>
      </p:cxnSp>
      <p:cxnSp>
        <p:nvCxnSpPr>
          <p:cNvPr id="38" name="直接连接符 37">
            <a:extLst>
              <a:ext uri="{FF2B5EF4-FFF2-40B4-BE49-F238E27FC236}">
                <a16:creationId xmlns:a16="http://schemas.microsoft.com/office/drawing/2014/main" id="{8EEBDC97-CC81-F0A4-8289-94CCEE5114DF}"/>
              </a:ext>
            </a:extLst>
          </p:cNvPr>
          <p:cNvCxnSpPr>
            <a:cxnSpLocks/>
            <a:stCxn id="34" idx="2"/>
          </p:cNvCxnSpPr>
          <p:nvPr/>
        </p:nvCxnSpPr>
        <p:spPr>
          <a:xfrm flipH="1" flipV="1">
            <a:off x="3829767" y="3297984"/>
            <a:ext cx="222658" cy="272109"/>
          </a:xfrm>
          <a:prstGeom prst="line">
            <a:avLst/>
          </a:prstGeom>
        </p:spPr>
        <p:style>
          <a:lnRef idx="1">
            <a:schemeClr val="accent1"/>
          </a:lnRef>
          <a:fillRef idx="0">
            <a:schemeClr val="accent1"/>
          </a:fillRef>
          <a:effectRef idx="0">
            <a:schemeClr val="accent1"/>
          </a:effectRef>
          <a:fontRef idx="minor">
            <a:schemeClr val="tx1"/>
          </a:fontRef>
        </p:style>
      </p:cxnSp>
      <p:cxnSp>
        <p:nvCxnSpPr>
          <p:cNvPr id="39" name="直接连接符 38">
            <a:extLst>
              <a:ext uri="{FF2B5EF4-FFF2-40B4-BE49-F238E27FC236}">
                <a16:creationId xmlns:a16="http://schemas.microsoft.com/office/drawing/2014/main" id="{9AB46C6C-C234-4DFA-E92B-3BBD7DAC79E1}"/>
              </a:ext>
            </a:extLst>
          </p:cNvPr>
          <p:cNvCxnSpPr>
            <a:cxnSpLocks/>
            <a:stCxn id="24" idx="1"/>
            <a:endCxn id="11" idx="7"/>
          </p:cNvCxnSpPr>
          <p:nvPr/>
        </p:nvCxnSpPr>
        <p:spPr>
          <a:xfrm flipH="1">
            <a:off x="5851449" y="3104596"/>
            <a:ext cx="118453" cy="336674"/>
          </a:xfrm>
          <a:prstGeom prst="line">
            <a:avLst/>
          </a:prstGeom>
        </p:spPr>
        <p:style>
          <a:lnRef idx="1">
            <a:schemeClr val="accent1"/>
          </a:lnRef>
          <a:fillRef idx="0">
            <a:schemeClr val="accent1"/>
          </a:fillRef>
          <a:effectRef idx="0">
            <a:schemeClr val="accent1"/>
          </a:effectRef>
          <a:fontRef idx="minor">
            <a:schemeClr val="tx1"/>
          </a:fontRef>
        </p:style>
      </p:cxnSp>
      <p:cxnSp>
        <p:nvCxnSpPr>
          <p:cNvPr id="40" name="直接连接符 39">
            <a:extLst>
              <a:ext uri="{FF2B5EF4-FFF2-40B4-BE49-F238E27FC236}">
                <a16:creationId xmlns:a16="http://schemas.microsoft.com/office/drawing/2014/main" id="{553F5AB4-4EC7-236E-7112-CEA631B9E2F5}"/>
              </a:ext>
            </a:extLst>
          </p:cNvPr>
          <p:cNvCxnSpPr>
            <a:cxnSpLocks/>
            <a:stCxn id="4" idx="5"/>
          </p:cNvCxnSpPr>
          <p:nvPr/>
        </p:nvCxnSpPr>
        <p:spPr>
          <a:xfrm>
            <a:off x="4421116" y="2886516"/>
            <a:ext cx="223879" cy="176844"/>
          </a:xfrm>
          <a:prstGeom prst="line">
            <a:avLst/>
          </a:prstGeom>
        </p:spPr>
        <p:style>
          <a:lnRef idx="1">
            <a:schemeClr val="accent1"/>
          </a:lnRef>
          <a:fillRef idx="0">
            <a:schemeClr val="accent1"/>
          </a:fillRef>
          <a:effectRef idx="0">
            <a:schemeClr val="accent1"/>
          </a:effectRef>
          <a:fontRef idx="minor">
            <a:schemeClr val="tx1"/>
          </a:fontRef>
        </p:style>
      </p:cxnSp>
      <p:cxnSp>
        <p:nvCxnSpPr>
          <p:cNvPr id="41" name="直接连接符 40">
            <a:extLst>
              <a:ext uri="{FF2B5EF4-FFF2-40B4-BE49-F238E27FC236}">
                <a16:creationId xmlns:a16="http://schemas.microsoft.com/office/drawing/2014/main" id="{BADCAC53-C8D8-CC10-96CF-2A9D859003AA}"/>
              </a:ext>
            </a:extLst>
          </p:cNvPr>
          <p:cNvCxnSpPr>
            <a:cxnSpLocks/>
            <a:stCxn id="20" idx="3"/>
            <a:endCxn id="23" idx="3"/>
          </p:cNvCxnSpPr>
          <p:nvPr/>
        </p:nvCxnSpPr>
        <p:spPr>
          <a:xfrm flipH="1">
            <a:off x="4946243" y="2611005"/>
            <a:ext cx="245859" cy="264857"/>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7086113"/>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2A2E9FA-B5FD-5C38-74E1-F2339865FE2B}"/>
              </a:ext>
            </a:extLst>
          </p:cNvPr>
          <p:cNvSpPr>
            <a:spLocks noGrp="1"/>
          </p:cNvSpPr>
          <p:nvPr>
            <p:ph type="title"/>
          </p:nvPr>
        </p:nvSpPr>
        <p:spPr>
          <a:xfrm>
            <a:off x="612000" y="144000"/>
            <a:ext cx="7920000" cy="341632"/>
          </a:xfrm>
        </p:spPr>
        <p:txBody>
          <a:bodyPr/>
          <a:lstStyle/>
          <a:p>
            <a:r>
              <a:rPr lang="en-US" altLang="zh-CN" dirty="0"/>
              <a:t>1.2.2  </a:t>
            </a:r>
            <a:r>
              <a:rPr lang="zh-CN" altLang="en-US" dirty="0"/>
              <a:t>互联网基础结构发展的三个阶段</a:t>
            </a:r>
          </a:p>
        </p:txBody>
      </p:sp>
      <p:sp>
        <p:nvSpPr>
          <p:cNvPr id="5" name="文本框 4">
            <a:extLst>
              <a:ext uri="{FF2B5EF4-FFF2-40B4-BE49-F238E27FC236}">
                <a16:creationId xmlns:a16="http://schemas.microsoft.com/office/drawing/2014/main" id="{D44EA98F-8E80-5B6D-B3FA-E4CB33CD9721}"/>
              </a:ext>
            </a:extLst>
          </p:cNvPr>
          <p:cNvSpPr txBox="1"/>
          <p:nvPr/>
        </p:nvSpPr>
        <p:spPr>
          <a:xfrm>
            <a:off x="612775" y="3756836"/>
            <a:ext cx="3135795" cy="769441"/>
          </a:xfrm>
          <a:prstGeom prst="rect">
            <a:avLst/>
          </a:prstGeom>
          <a:noFill/>
        </p:spPr>
        <p:txBody>
          <a:bodyPr wrap="none" rtlCol="0">
            <a:spAutoFit/>
          </a:bodyPr>
          <a:lstStyle/>
          <a:p>
            <a:pPr algn="l"/>
            <a:r>
              <a:rPr lang="en-US" altLang="zh-CN" sz="1600" dirty="0">
                <a:solidFill>
                  <a:srgbClr val="D4237A"/>
                </a:solidFill>
              </a:rPr>
              <a:t>1969 – 1990</a:t>
            </a:r>
          </a:p>
          <a:p>
            <a:pPr algn="l"/>
            <a:r>
              <a:rPr lang="zh-CN" altLang="en-US" sz="1400" dirty="0"/>
              <a:t>从单个网络 </a:t>
            </a:r>
            <a:r>
              <a:rPr lang="en-US" altLang="zh-CN" sz="1400" dirty="0"/>
              <a:t>ARPANET </a:t>
            </a:r>
            <a:r>
              <a:rPr lang="zh-CN" altLang="en-US" sz="1400" dirty="0"/>
              <a:t>向互联网发展</a:t>
            </a:r>
          </a:p>
          <a:p>
            <a:pPr algn="l"/>
            <a:r>
              <a:rPr lang="en-US" altLang="zh-CN" sz="1400" dirty="0"/>
              <a:t>4</a:t>
            </a:r>
            <a:r>
              <a:rPr lang="zh-CN" altLang="en-US" sz="1400" dirty="0"/>
              <a:t>个节点 → 多个节点</a:t>
            </a:r>
          </a:p>
        </p:txBody>
      </p:sp>
      <p:sp>
        <p:nvSpPr>
          <p:cNvPr id="6" name="文本框 5">
            <a:extLst>
              <a:ext uri="{FF2B5EF4-FFF2-40B4-BE49-F238E27FC236}">
                <a16:creationId xmlns:a16="http://schemas.microsoft.com/office/drawing/2014/main" id="{34C8920A-A846-DF09-5D44-C02BB6204648}"/>
              </a:ext>
            </a:extLst>
          </p:cNvPr>
          <p:cNvSpPr txBox="1"/>
          <p:nvPr/>
        </p:nvSpPr>
        <p:spPr>
          <a:xfrm>
            <a:off x="3354359" y="2671287"/>
            <a:ext cx="2816797" cy="769441"/>
          </a:xfrm>
          <a:prstGeom prst="rect">
            <a:avLst/>
          </a:prstGeom>
          <a:noFill/>
        </p:spPr>
        <p:txBody>
          <a:bodyPr wrap="none" rtlCol="0">
            <a:spAutoFit/>
          </a:bodyPr>
          <a:lstStyle/>
          <a:p>
            <a:pPr algn="l"/>
            <a:r>
              <a:rPr lang="en-US" altLang="zh-CN" sz="1600" dirty="0">
                <a:solidFill>
                  <a:srgbClr val="D4237A"/>
                </a:solidFill>
              </a:rPr>
              <a:t>1985 – 1993</a:t>
            </a:r>
          </a:p>
          <a:p>
            <a:pPr algn="l"/>
            <a:r>
              <a:rPr lang="zh-CN" altLang="en-US" sz="1400" dirty="0"/>
              <a:t>建成了三级结构的互联网</a:t>
            </a:r>
            <a:endParaRPr lang="en-US" altLang="zh-CN" sz="1400" dirty="0"/>
          </a:p>
          <a:p>
            <a:r>
              <a:rPr lang="zh-CN" altLang="en-US" sz="1400" dirty="0"/>
              <a:t>主干网、地区网和校园网</a:t>
            </a:r>
            <a:r>
              <a:rPr lang="en-US" altLang="zh-CN" sz="1400" dirty="0"/>
              <a:t>(</a:t>
            </a:r>
            <a:r>
              <a:rPr lang="zh-CN" altLang="en-US" sz="1400" dirty="0"/>
              <a:t>企业网</a:t>
            </a:r>
            <a:r>
              <a:rPr lang="en-US" altLang="zh-CN" sz="1400" dirty="0"/>
              <a:t>)</a:t>
            </a:r>
            <a:endParaRPr lang="zh-CN" altLang="en-US" sz="1400" dirty="0"/>
          </a:p>
        </p:txBody>
      </p:sp>
      <p:sp>
        <p:nvSpPr>
          <p:cNvPr id="8" name="文本框 7">
            <a:extLst>
              <a:ext uri="{FF2B5EF4-FFF2-40B4-BE49-F238E27FC236}">
                <a16:creationId xmlns:a16="http://schemas.microsoft.com/office/drawing/2014/main" id="{DCD49801-7F30-1696-3966-FFE3A0477FFF}"/>
              </a:ext>
            </a:extLst>
          </p:cNvPr>
          <p:cNvSpPr txBox="1"/>
          <p:nvPr/>
        </p:nvSpPr>
        <p:spPr>
          <a:xfrm>
            <a:off x="5028343" y="1585739"/>
            <a:ext cx="3084499" cy="553998"/>
          </a:xfrm>
          <a:prstGeom prst="rect">
            <a:avLst/>
          </a:prstGeom>
          <a:noFill/>
        </p:spPr>
        <p:txBody>
          <a:bodyPr wrap="none" rtlCol="0">
            <a:spAutoFit/>
          </a:bodyPr>
          <a:lstStyle/>
          <a:p>
            <a:pPr algn="l"/>
            <a:r>
              <a:rPr lang="en-US" altLang="zh-CN" sz="1600" dirty="0">
                <a:solidFill>
                  <a:srgbClr val="D4237A"/>
                </a:solidFill>
              </a:rPr>
              <a:t>1993 –</a:t>
            </a:r>
            <a:endParaRPr lang="zh-CN" altLang="en-US" sz="1600" dirty="0">
              <a:solidFill>
                <a:srgbClr val="D4237A"/>
              </a:solidFill>
            </a:endParaRPr>
          </a:p>
          <a:p>
            <a:pPr algn="l"/>
            <a:r>
              <a:rPr lang="zh-CN" altLang="en-US" sz="1400" dirty="0"/>
              <a:t>全球范围的多层次 </a:t>
            </a:r>
            <a:r>
              <a:rPr lang="en-US" altLang="zh-CN" sz="1400" dirty="0"/>
              <a:t>ISP </a:t>
            </a:r>
            <a:r>
              <a:rPr lang="zh-CN" altLang="en-US" sz="1400" dirty="0"/>
              <a:t>结构的互联网</a:t>
            </a:r>
          </a:p>
        </p:txBody>
      </p:sp>
      <p:sp>
        <p:nvSpPr>
          <p:cNvPr id="9" name="矩形 8">
            <a:extLst>
              <a:ext uri="{FF2B5EF4-FFF2-40B4-BE49-F238E27FC236}">
                <a16:creationId xmlns:a16="http://schemas.microsoft.com/office/drawing/2014/main" id="{DC25A42C-8569-CAC8-2B0D-B0DE8C504C96}"/>
              </a:ext>
            </a:extLst>
          </p:cNvPr>
          <p:cNvSpPr/>
          <p:nvPr/>
        </p:nvSpPr>
        <p:spPr>
          <a:xfrm>
            <a:off x="612776" y="3756836"/>
            <a:ext cx="2880000" cy="36000"/>
          </a:xfrm>
          <a:prstGeom prst="rect">
            <a:avLst/>
          </a:prstGeom>
          <a:solidFill>
            <a:srgbClr val="D4237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 name="矩形 10">
            <a:extLst>
              <a:ext uri="{FF2B5EF4-FFF2-40B4-BE49-F238E27FC236}">
                <a16:creationId xmlns:a16="http://schemas.microsoft.com/office/drawing/2014/main" id="{FB26D378-4EC0-05E1-F7DC-FD8C438A6E1E}"/>
              </a:ext>
            </a:extLst>
          </p:cNvPr>
          <p:cNvSpPr/>
          <p:nvPr/>
        </p:nvSpPr>
        <p:spPr>
          <a:xfrm>
            <a:off x="3354359" y="2671287"/>
            <a:ext cx="2880000" cy="36000"/>
          </a:xfrm>
          <a:prstGeom prst="rect">
            <a:avLst/>
          </a:prstGeom>
          <a:solidFill>
            <a:srgbClr val="D4237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 name="矩形 12">
            <a:extLst>
              <a:ext uri="{FF2B5EF4-FFF2-40B4-BE49-F238E27FC236}">
                <a16:creationId xmlns:a16="http://schemas.microsoft.com/office/drawing/2014/main" id="{66488692-CEFC-8281-3EA6-9EABAA42E764}"/>
              </a:ext>
            </a:extLst>
          </p:cNvPr>
          <p:cNvSpPr/>
          <p:nvPr/>
        </p:nvSpPr>
        <p:spPr>
          <a:xfrm>
            <a:off x="5028343" y="1585739"/>
            <a:ext cx="2880000" cy="36000"/>
          </a:xfrm>
          <a:prstGeom prst="rect">
            <a:avLst/>
          </a:prstGeom>
          <a:solidFill>
            <a:srgbClr val="D4237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椭圆 13">
            <a:extLst>
              <a:ext uri="{FF2B5EF4-FFF2-40B4-BE49-F238E27FC236}">
                <a16:creationId xmlns:a16="http://schemas.microsoft.com/office/drawing/2014/main" id="{1A58796A-F392-2915-D9C3-3B7143ECEAEA}"/>
              </a:ext>
            </a:extLst>
          </p:cNvPr>
          <p:cNvSpPr/>
          <p:nvPr/>
        </p:nvSpPr>
        <p:spPr>
          <a:xfrm>
            <a:off x="612775" y="3320405"/>
            <a:ext cx="333154" cy="341312"/>
          </a:xfrm>
          <a:prstGeom prst="ellipse">
            <a:avLst/>
          </a:prstGeom>
          <a:solidFill>
            <a:srgbClr val="D4237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t>1</a:t>
            </a:r>
            <a:endParaRPr lang="zh-CN" altLang="en-US" dirty="0"/>
          </a:p>
        </p:txBody>
      </p:sp>
      <p:sp>
        <p:nvSpPr>
          <p:cNvPr id="16" name="椭圆 15">
            <a:extLst>
              <a:ext uri="{FF2B5EF4-FFF2-40B4-BE49-F238E27FC236}">
                <a16:creationId xmlns:a16="http://schemas.microsoft.com/office/drawing/2014/main" id="{7BE39CF3-88FD-09D8-D52E-F076F73E2911}"/>
              </a:ext>
            </a:extLst>
          </p:cNvPr>
          <p:cNvSpPr/>
          <p:nvPr/>
        </p:nvSpPr>
        <p:spPr>
          <a:xfrm>
            <a:off x="3354359" y="2234856"/>
            <a:ext cx="333154" cy="341312"/>
          </a:xfrm>
          <a:prstGeom prst="ellipse">
            <a:avLst/>
          </a:prstGeom>
          <a:solidFill>
            <a:srgbClr val="D4237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t>2</a:t>
            </a:r>
            <a:endParaRPr lang="zh-CN" altLang="en-US" dirty="0"/>
          </a:p>
        </p:txBody>
      </p:sp>
      <p:sp>
        <p:nvSpPr>
          <p:cNvPr id="18" name="椭圆 17">
            <a:extLst>
              <a:ext uri="{FF2B5EF4-FFF2-40B4-BE49-F238E27FC236}">
                <a16:creationId xmlns:a16="http://schemas.microsoft.com/office/drawing/2014/main" id="{D99ABD10-54A1-27B6-2741-DC603F643FFB}"/>
              </a:ext>
            </a:extLst>
          </p:cNvPr>
          <p:cNvSpPr/>
          <p:nvPr/>
        </p:nvSpPr>
        <p:spPr>
          <a:xfrm>
            <a:off x="5028343" y="1196868"/>
            <a:ext cx="333154" cy="341312"/>
          </a:xfrm>
          <a:prstGeom prst="ellipse">
            <a:avLst/>
          </a:prstGeom>
          <a:solidFill>
            <a:srgbClr val="D4237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t>3</a:t>
            </a:r>
            <a:endParaRPr lang="zh-CN" altLang="en-US" dirty="0"/>
          </a:p>
        </p:txBody>
      </p:sp>
    </p:spTree>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标题 10">
            <a:extLst>
              <a:ext uri="{FF2B5EF4-FFF2-40B4-BE49-F238E27FC236}">
                <a16:creationId xmlns:a16="http://schemas.microsoft.com/office/drawing/2014/main" id="{D8931A3E-A796-2D0F-47FC-DBF527742BC1}"/>
              </a:ext>
            </a:extLst>
          </p:cNvPr>
          <p:cNvSpPr>
            <a:spLocks noGrp="1"/>
          </p:cNvSpPr>
          <p:nvPr>
            <p:ph type="title"/>
          </p:nvPr>
        </p:nvSpPr>
        <p:spPr>
          <a:xfrm>
            <a:off x="612000" y="144000"/>
            <a:ext cx="7920000" cy="341632"/>
          </a:xfrm>
        </p:spPr>
        <p:txBody>
          <a:bodyPr/>
          <a:lstStyle/>
          <a:p>
            <a:r>
              <a:rPr lang="zh-CN" altLang="en-US" dirty="0"/>
              <a:t>第一阶段：</a:t>
            </a:r>
            <a:r>
              <a:rPr lang="en-US" altLang="zh-CN" dirty="0"/>
              <a:t>1969 – 1990 </a:t>
            </a:r>
            <a:endParaRPr lang="zh-CN" altLang="en-US" dirty="0"/>
          </a:p>
        </p:txBody>
      </p:sp>
      <p:sp>
        <p:nvSpPr>
          <p:cNvPr id="5" name="内容占位符 4"/>
          <p:cNvSpPr>
            <a:spLocks noGrp="1"/>
          </p:cNvSpPr>
          <p:nvPr>
            <p:ph sz="quarter" idx="10"/>
          </p:nvPr>
        </p:nvSpPr>
        <p:spPr>
          <a:xfrm>
            <a:off x="612000" y="899999"/>
            <a:ext cx="7920000" cy="3780000"/>
          </a:xfrm>
        </p:spPr>
        <p:txBody>
          <a:bodyPr>
            <a:normAutofit/>
          </a:bodyPr>
          <a:lstStyle/>
          <a:p>
            <a:r>
              <a:rPr lang="zh-CN" altLang="zh-CN" dirty="0"/>
              <a:t>阿帕网</a:t>
            </a:r>
            <a:r>
              <a:rPr lang="en-US" altLang="zh-CN" dirty="0"/>
              <a:t> </a:t>
            </a:r>
            <a:r>
              <a:rPr lang="en-US" altLang="zh-CN" dirty="0">
                <a:hlinkClick r:id="rId2"/>
              </a:rPr>
              <a:t>ARPANET</a:t>
            </a:r>
            <a:endParaRPr lang="en-US" altLang="zh-CN" dirty="0"/>
          </a:p>
          <a:p>
            <a:pPr lvl="1"/>
            <a:r>
              <a:rPr lang="en-US" altLang="zh-CN" dirty="0"/>
              <a:t>1969</a:t>
            </a:r>
            <a:r>
              <a:rPr lang="zh-CN" altLang="en-US" dirty="0"/>
              <a:t>年诞生</a:t>
            </a:r>
            <a:endParaRPr lang="en-US" altLang="zh-CN" dirty="0"/>
          </a:p>
          <a:p>
            <a:pPr lvl="1"/>
            <a:r>
              <a:rPr lang="zh-CN" altLang="en-US" dirty="0"/>
              <a:t>只有</a:t>
            </a:r>
            <a:r>
              <a:rPr lang="zh-CN" altLang="zh-CN" dirty="0"/>
              <a:t>四个节点</a:t>
            </a:r>
            <a:endParaRPr lang="en-US" altLang="zh-CN" dirty="0"/>
          </a:p>
          <a:p>
            <a:pPr lvl="2"/>
            <a:r>
              <a:rPr lang="zh-CN" altLang="zh-CN" dirty="0"/>
              <a:t>UCLA</a:t>
            </a:r>
            <a:r>
              <a:rPr lang="en-US" altLang="zh-CN" dirty="0"/>
              <a:t> </a:t>
            </a:r>
            <a:r>
              <a:rPr lang="zh-CN" altLang="zh-CN" dirty="0"/>
              <a:t>加州大学洛杉矶分校节点</a:t>
            </a:r>
          </a:p>
          <a:p>
            <a:pPr lvl="2"/>
            <a:r>
              <a:rPr lang="zh-CN" altLang="zh-CN" dirty="0"/>
              <a:t>SRI</a:t>
            </a:r>
            <a:r>
              <a:rPr lang="en-US" altLang="zh-CN" dirty="0"/>
              <a:t> </a:t>
            </a:r>
            <a:r>
              <a:rPr lang="zh-CN" altLang="zh-CN" dirty="0"/>
              <a:t>斯坦福研究所节点</a:t>
            </a:r>
          </a:p>
          <a:p>
            <a:pPr lvl="2"/>
            <a:r>
              <a:rPr lang="zh-CN" altLang="zh-CN" dirty="0"/>
              <a:t>UCSB</a:t>
            </a:r>
            <a:r>
              <a:rPr lang="en-US" altLang="zh-CN" dirty="0"/>
              <a:t> </a:t>
            </a:r>
            <a:r>
              <a:rPr lang="zh-CN" altLang="zh-CN" dirty="0"/>
              <a:t>加州大学圣塔芭芭拉分校节点</a:t>
            </a:r>
          </a:p>
          <a:p>
            <a:pPr lvl="2"/>
            <a:r>
              <a:rPr lang="zh-CN" altLang="zh-CN" dirty="0"/>
              <a:t>UTAH</a:t>
            </a:r>
            <a:r>
              <a:rPr lang="en-US" altLang="zh-CN" dirty="0"/>
              <a:t> </a:t>
            </a:r>
            <a:r>
              <a:rPr lang="zh-CN" altLang="zh-CN" dirty="0"/>
              <a:t>犹他大学节点</a:t>
            </a:r>
            <a:endParaRPr lang="en-US" altLang="zh-CN" dirty="0"/>
          </a:p>
          <a:p>
            <a:pPr lvl="1"/>
            <a:r>
              <a:rPr lang="zh-CN" altLang="en-US" dirty="0"/>
              <a:t>是一个单个的分组交换网，不是一个互连网</a:t>
            </a:r>
          </a:p>
          <a:p>
            <a:pPr lvl="1"/>
            <a:r>
              <a:rPr lang="en-US" altLang="zh-CN" dirty="0"/>
              <a:t>1983 </a:t>
            </a:r>
            <a:r>
              <a:rPr lang="zh-CN" altLang="en-US" dirty="0"/>
              <a:t>年，</a:t>
            </a:r>
            <a:r>
              <a:rPr lang="en-US" altLang="zh-CN" dirty="0"/>
              <a:t>TCP/IP </a:t>
            </a:r>
            <a:r>
              <a:rPr lang="zh-CN" altLang="en-US" dirty="0"/>
              <a:t>协议成为 </a:t>
            </a:r>
            <a:r>
              <a:rPr lang="en-US" altLang="zh-CN" dirty="0"/>
              <a:t>ARPANET </a:t>
            </a:r>
            <a:r>
              <a:rPr lang="zh-CN" altLang="en-US" dirty="0"/>
              <a:t>上的标准协议</a:t>
            </a:r>
            <a:endParaRPr lang="en-US" altLang="zh-CN" dirty="0"/>
          </a:p>
          <a:p>
            <a:pPr lvl="1"/>
            <a:r>
              <a:rPr lang="zh-CN" altLang="zh-CN" dirty="0"/>
              <a:t>使得所有使用</a:t>
            </a:r>
            <a:r>
              <a:rPr lang="en-US" altLang="zh-CN" dirty="0"/>
              <a:t> TCP/IP </a:t>
            </a:r>
            <a:r>
              <a:rPr lang="zh-CN" altLang="zh-CN" dirty="0"/>
              <a:t>协议的计算机都能利用互连网相互通信</a:t>
            </a:r>
            <a:endParaRPr lang="zh-CN" altLang="en-US" dirty="0"/>
          </a:p>
          <a:p>
            <a:pPr lvl="1"/>
            <a:r>
              <a:rPr lang="en-US" altLang="zh-CN" dirty="0"/>
              <a:t>1983 </a:t>
            </a:r>
            <a:r>
              <a:rPr lang="zh-CN" altLang="en-US" dirty="0"/>
              <a:t>年作为互联网的诞生时间</a:t>
            </a:r>
            <a:endParaRPr lang="en-US" altLang="zh-CN" dirty="0"/>
          </a:p>
          <a:p>
            <a:pPr lvl="1"/>
            <a:r>
              <a:rPr lang="en-US" altLang="zh-CN" dirty="0"/>
              <a:t>1990 </a:t>
            </a:r>
            <a:r>
              <a:rPr lang="zh-CN" altLang="zh-CN" dirty="0"/>
              <a:t>年</a:t>
            </a:r>
            <a:r>
              <a:rPr lang="zh-CN" altLang="en-US" dirty="0"/>
              <a:t>，</a:t>
            </a:r>
            <a:r>
              <a:rPr lang="zh-CN" altLang="zh-CN" dirty="0"/>
              <a:t>正式宣布关闭</a:t>
            </a:r>
            <a:endParaRPr lang="en-US" altLang="zh-CN" dirty="0"/>
          </a:p>
          <a:p>
            <a:endParaRPr lang="zh-CN" altLang="en-US" dirty="0"/>
          </a:p>
        </p:txBody>
      </p:sp>
    </p:spTree>
    <p:extLst>
      <p:ext uri="{BB962C8B-B14F-4D97-AF65-F5344CB8AC3E}">
        <p14:creationId xmlns:p14="http://schemas.microsoft.com/office/powerpoint/2010/main" val="389028268"/>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图片 4" descr="A map of the ARPANET network in 1969, depicting one connection in Utah and three in California.">
            <a:extLst>
              <a:ext uri="{FF2B5EF4-FFF2-40B4-BE49-F238E27FC236}">
                <a16:creationId xmlns:a16="http://schemas.microsoft.com/office/drawing/2014/main" id="{C62C5856-39DA-A10F-E40B-AD4061FA1991}"/>
              </a:ext>
            </a:extLst>
          </p:cNvPr>
          <p:cNvPicPr>
            <a:picLocks noChangeAspect="1"/>
          </p:cNvPicPr>
          <p:nvPr/>
        </p:nvPicPr>
        <p:blipFill>
          <a:blip r:embed="rId2"/>
          <a:stretch>
            <a:fillRect/>
          </a:stretch>
        </p:blipFill>
        <p:spPr>
          <a:xfrm>
            <a:off x="1524381" y="994139"/>
            <a:ext cx="6095238" cy="3710476"/>
          </a:xfrm>
          <a:prstGeom prst="rect">
            <a:avLst/>
          </a:prstGeom>
        </p:spPr>
      </p:pic>
      <p:sp>
        <p:nvSpPr>
          <p:cNvPr id="4" name="标题 3">
            <a:extLst>
              <a:ext uri="{FF2B5EF4-FFF2-40B4-BE49-F238E27FC236}">
                <a16:creationId xmlns:a16="http://schemas.microsoft.com/office/drawing/2014/main" id="{DCEBA2CF-323C-59CD-0B8F-88367ECCB70C}"/>
              </a:ext>
            </a:extLst>
          </p:cNvPr>
          <p:cNvSpPr>
            <a:spLocks noGrp="1"/>
          </p:cNvSpPr>
          <p:nvPr>
            <p:ph type="title"/>
          </p:nvPr>
        </p:nvSpPr>
        <p:spPr>
          <a:xfrm>
            <a:off x="612000" y="144000"/>
            <a:ext cx="7920000" cy="341632"/>
          </a:xfrm>
        </p:spPr>
        <p:txBody>
          <a:bodyPr/>
          <a:lstStyle/>
          <a:p>
            <a:r>
              <a:rPr lang="zh-CN" altLang="en-US" dirty="0"/>
              <a:t>第一阶段：</a:t>
            </a:r>
            <a:r>
              <a:rPr lang="en-US" altLang="zh-CN" dirty="0"/>
              <a:t>1969 – 1990 </a:t>
            </a:r>
            <a:endParaRPr lang="zh-CN" altLang="en-US" dirty="0"/>
          </a:p>
        </p:txBody>
      </p:sp>
      <p:sp>
        <p:nvSpPr>
          <p:cNvPr id="2" name="文本框 1">
            <a:extLst>
              <a:ext uri="{FF2B5EF4-FFF2-40B4-BE49-F238E27FC236}">
                <a16:creationId xmlns:a16="http://schemas.microsoft.com/office/drawing/2014/main" id="{1ED79CB9-CEA6-2EF9-74A5-6489BE96B75C}"/>
              </a:ext>
            </a:extLst>
          </p:cNvPr>
          <p:cNvSpPr txBox="1"/>
          <p:nvPr/>
        </p:nvSpPr>
        <p:spPr>
          <a:xfrm>
            <a:off x="2233527" y="2376605"/>
            <a:ext cx="1415772" cy="276999"/>
          </a:xfrm>
          <a:prstGeom prst="rect">
            <a:avLst/>
          </a:prstGeom>
          <a:noFill/>
        </p:spPr>
        <p:txBody>
          <a:bodyPr wrap="none" rtlCol="0">
            <a:spAutoFit/>
          </a:bodyPr>
          <a:lstStyle/>
          <a:p>
            <a:pPr marL="0" lvl="2"/>
            <a:r>
              <a:rPr lang="zh-CN" altLang="zh-CN" sz="1200" dirty="0"/>
              <a:t>斯坦福研究所节点</a:t>
            </a:r>
            <a:endParaRPr lang="zh-CN" altLang="en-US" sz="1200" dirty="0"/>
          </a:p>
        </p:txBody>
      </p:sp>
      <p:sp>
        <p:nvSpPr>
          <p:cNvPr id="6" name="文本框 5">
            <a:extLst>
              <a:ext uri="{FF2B5EF4-FFF2-40B4-BE49-F238E27FC236}">
                <a16:creationId xmlns:a16="http://schemas.microsoft.com/office/drawing/2014/main" id="{BBDA6DB5-55A7-8BC0-CE15-5913D1BD2DEE}"/>
              </a:ext>
            </a:extLst>
          </p:cNvPr>
          <p:cNvSpPr txBox="1"/>
          <p:nvPr/>
        </p:nvSpPr>
        <p:spPr>
          <a:xfrm>
            <a:off x="2926447" y="3162111"/>
            <a:ext cx="1877437" cy="276999"/>
          </a:xfrm>
          <a:prstGeom prst="rect">
            <a:avLst/>
          </a:prstGeom>
          <a:noFill/>
        </p:spPr>
        <p:txBody>
          <a:bodyPr wrap="none" rtlCol="0">
            <a:spAutoFit/>
          </a:bodyPr>
          <a:lstStyle/>
          <a:p>
            <a:pPr marL="0" lvl="2"/>
            <a:r>
              <a:rPr lang="zh-CN" altLang="zh-CN" sz="1200" dirty="0"/>
              <a:t>加州大学洛杉矶分校节点</a:t>
            </a:r>
          </a:p>
        </p:txBody>
      </p:sp>
      <p:sp>
        <p:nvSpPr>
          <p:cNvPr id="8" name="文本框 7">
            <a:extLst>
              <a:ext uri="{FF2B5EF4-FFF2-40B4-BE49-F238E27FC236}">
                <a16:creationId xmlns:a16="http://schemas.microsoft.com/office/drawing/2014/main" id="{8F34972B-90D4-EC60-53DF-FF7460D33666}"/>
              </a:ext>
            </a:extLst>
          </p:cNvPr>
          <p:cNvSpPr txBox="1"/>
          <p:nvPr/>
        </p:nvSpPr>
        <p:spPr>
          <a:xfrm>
            <a:off x="2556692" y="3693364"/>
            <a:ext cx="2185214" cy="276999"/>
          </a:xfrm>
          <a:prstGeom prst="rect">
            <a:avLst/>
          </a:prstGeom>
          <a:noFill/>
        </p:spPr>
        <p:txBody>
          <a:bodyPr wrap="none" rtlCol="0">
            <a:spAutoFit/>
          </a:bodyPr>
          <a:lstStyle/>
          <a:p>
            <a:pPr marL="0" lvl="2"/>
            <a:r>
              <a:rPr lang="zh-CN" altLang="zh-CN" sz="1200" dirty="0"/>
              <a:t>加州大学圣塔芭芭拉分校节点</a:t>
            </a:r>
            <a:endParaRPr lang="zh-CN" altLang="en-US" sz="1200" dirty="0"/>
          </a:p>
        </p:txBody>
      </p:sp>
      <p:sp>
        <p:nvSpPr>
          <p:cNvPr id="10" name="文本框 9">
            <a:extLst>
              <a:ext uri="{FF2B5EF4-FFF2-40B4-BE49-F238E27FC236}">
                <a16:creationId xmlns:a16="http://schemas.microsoft.com/office/drawing/2014/main" id="{2C3F91CA-CC15-73BB-2D90-A6A2CF50609E}"/>
              </a:ext>
            </a:extLst>
          </p:cNvPr>
          <p:cNvSpPr txBox="1"/>
          <p:nvPr/>
        </p:nvSpPr>
        <p:spPr>
          <a:xfrm>
            <a:off x="3403711" y="2572378"/>
            <a:ext cx="1107996" cy="276999"/>
          </a:xfrm>
          <a:prstGeom prst="rect">
            <a:avLst/>
          </a:prstGeom>
          <a:noFill/>
        </p:spPr>
        <p:txBody>
          <a:bodyPr wrap="none" rtlCol="0">
            <a:spAutoFit/>
          </a:bodyPr>
          <a:lstStyle/>
          <a:p>
            <a:pPr marL="0" lvl="2"/>
            <a:r>
              <a:rPr lang="zh-CN" altLang="zh-CN" sz="1200" dirty="0"/>
              <a:t>犹他大学节点</a:t>
            </a:r>
            <a:endParaRPr lang="zh-CN" altLang="en-US" sz="1200" dirty="0"/>
          </a:p>
        </p:txBody>
      </p:sp>
    </p:spTree>
    <p:extLst>
      <p:ext uri="{BB962C8B-B14F-4D97-AF65-F5344CB8AC3E}">
        <p14:creationId xmlns:p14="http://schemas.microsoft.com/office/powerpoint/2010/main" val="1358025860"/>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6" name="直接连接符 83"/>
          <p:cNvCxnSpPr>
            <a:cxnSpLocks noChangeShapeType="1"/>
          </p:cNvCxnSpPr>
          <p:nvPr/>
        </p:nvCxnSpPr>
        <p:spPr bwMode="auto">
          <a:xfrm flipH="1">
            <a:off x="7417415" y="2835299"/>
            <a:ext cx="237137" cy="745280"/>
          </a:xfrm>
          <a:prstGeom prst="line">
            <a:avLst/>
          </a:prstGeom>
          <a:noFill/>
          <a:ln w="28575" algn="ctr">
            <a:solidFill>
              <a:schemeClr val="tx1"/>
            </a:solidFill>
            <a:round/>
            <a:headEnd/>
            <a:tailEnd/>
          </a:ln>
          <a:extLst>
            <a:ext uri="{909E8E84-426E-40DD-AFC4-6F175D3DCCD1}">
              <a14:hiddenFill xmlns:a14="http://schemas.microsoft.com/office/drawing/2010/main">
                <a:noFill/>
              </a14:hiddenFill>
            </a:ext>
          </a:extLst>
        </p:spPr>
      </p:cxnSp>
      <p:cxnSp>
        <p:nvCxnSpPr>
          <p:cNvPr id="7" name="直接连接符 5"/>
          <p:cNvCxnSpPr>
            <a:cxnSpLocks noChangeShapeType="1"/>
          </p:cNvCxnSpPr>
          <p:nvPr/>
        </p:nvCxnSpPr>
        <p:spPr bwMode="auto">
          <a:xfrm flipH="1">
            <a:off x="5269696" y="1964245"/>
            <a:ext cx="749622" cy="599435"/>
          </a:xfrm>
          <a:prstGeom prst="line">
            <a:avLst/>
          </a:prstGeom>
          <a:noFill/>
          <a:ln w="28575" algn="ctr">
            <a:solidFill>
              <a:schemeClr val="tx1"/>
            </a:solidFill>
            <a:round/>
            <a:headEnd/>
            <a:tailEnd/>
          </a:ln>
          <a:extLst>
            <a:ext uri="{909E8E84-426E-40DD-AFC4-6F175D3DCCD1}">
              <a14:hiddenFill xmlns:a14="http://schemas.microsoft.com/office/drawing/2010/main">
                <a:noFill/>
              </a14:hiddenFill>
            </a:ext>
          </a:extLst>
        </p:spPr>
      </p:cxnSp>
      <p:cxnSp>
        <p:nvCxnSpPr>
          <p:cNvPr id="8" name="直接连接符 6"/>
          <p:cNvCxnSpPr>
            <a:cxnSpLocks noChangeShapeType="1"/>
          </p:cNvCxnSpPr>
          <p:nvPr/>
        </p:nvCxnSpPr>
        <p:spPr bwMode="auto">
          <a:xfrm flipH="1">
            <a:off x="5982231" y="1964245"/>
            <a:ext cx="285463" cy="829575"/>
          </a:xfrm>
          <a:prstGeom prst="line">
            <a:avLst/>
          </a:prstGeom>
          <a:noFill/>
          <a:ln w="28575" algn="ctr">
            <a:solidFill>
              <a:schemeClr val="tx1"/>
            </a:solidFill>
            <a:round/>
            <a:headEnd/>
            <a:tailEnd/>
          </a:ln>
          <a:extLst>
            <a:ext uri="{909E8E84-426E-40DD-AFC4-6F175D3DCCD1}">
              <a14:hiddenFill xmlns:a14="http://schemas.microsoft.com/office/drawing/2010/main">
                <a:noFill/>
              </a14:hiddenFill>
            </a:ext>
          </a:extLst>
        </p:spPr>
      </p:cxnSp>
      <p:cxnSp>
        <p:nvCxnSpPr>
          <p:cNvPr id="9" name="直接连接符 7"/>
          <p:cNvCxnSpPr>
            <a:cxnSpLocks noChangeShapeType="1"/>
          </p:cNvCxnSpPr>
          <p:nvPr/>
        </p:nvCxnSpPr>
        <p:spPr bwMode="auto">
          <a:xfrm>
            <a:off x="6637448" y="1964245"/>
            <a:ext cx="878868" cy="599435"/>
          </a:xfrm>
          <a:prstGeom prst="line">
            <a:avLst/>
          </a:prstGeom>
          <a:noFill/>
          <a:ln w="28575" algn="ctr">
            <a:solidFill>
              <a:schemeClr val="tx1"/>
            </a:solidFill>
            <a:round/>
            <a:headEnd/>
            <a:tailEnd/>
          </a:ln>
          <a:extLst>
            <a:ext uri="{909E8E84-426E-40DD-AFC4-6F175D3DCCD1}">
              <a14:hiddenFill xmlns:a14="http://schemas.microsoft.com/office/drawing/2010/main">
                <a:noFill/>
              </a14:hiddenFill>
            </a:ext>
          </a:extLst>
        </p:spPr>
      </p:cxnSp>
      <p:cxnSp>
        <p:nvCxnSpPr>
          <p:cNvPr id="11" name="直接连接符 83"/>
          <p:cNvCxnSpPr>
            <a:cxnSpLocks noChangeShapeType="1"/>
          </p:cNvCxnSpPr>
          <p:nvPr/>
        </p:nvCxnSpPr>
        <p:spPr bwMode="auto">
          <a:xfrm flipH="1">
            <a:off x="4452642" y="2858045"/>
            <a:ext cx="342780" cy="719857"/>
          </a:xfrm>
          <a:prstGeom prst="line">
            <a:avLst/>
          </a:prstGeom>
          <a:noFill/>
          <a:ln w="28575" algn="ctr">
            <a:solidFill>
              <a:schemeClr val="tx1"/>
            </a:solidFill>
            <a:round/>
            <a:headEnd/>
            <a:tailEnd/>
          </a:ln>
          <a:extLst>
            <a:ext uri="{909E8E84-426E-40DD-AFC4-6F175D3DCCD1}">
              <a14:hiddenFill xmlns:a14="http://schemas.microsoft.com/office/drawing/2010/main">
                <a:noFill/>
              </a14:hiddenFill>
            </a:ext>
          </a:extLst>
        </p:spPr>
      </p:cxnSp>
      <p:cxnSp>
        <p:nvCxnSpPr>
          <p:cNvPr id="12" name="直接连接符 67"/>
          <p:cNvCxnSpPr>
            <a:cxnSpLocks noChangeShapeType="1"/>
          </p:cNvCxnSpPr>
          <p:nvPr/>
        </p:nvCxnSpPr>
        <p:spPr bwMode="auto">
          <a:xfrm>
            <a:off x="6017071" y="2835299"/>
            <a:ext cx="133740" cy="777393"/>
          </a:xfrm>
          <a:prstGeom prst="line">
            <a:avLst/>
          </a:prstGeom>
          <a:noFill/>
          <a:ln w="28575" algn="ctr">
            <a:solidFill>
              <a:schemeClr val="tx1"/>
            </a:solidFill>
            <a:round/>
            <a:headEnd/>
            <a:tailEnd/>
          </a:ln>
          <a:extLst>
            <a:ext uri="{909E8E84-426E-40DD-AFC4-6F175D3DCCD1}">
              <a14:hiddenFill xmlns:a14="http://schemas.microsoft.com/office/drawing/2010/main">
                <a:noFill/>
              </a14:hiddenFill>
            </a:ext>
          </a:extLst>
        </p:spPr>
      </p:cxnSp>
      <p:cxnSp>
        <p:nvCxnSpPr>
          <p:cNvPr id="13" name="直接连接符 37"/>
          <p:cNvCxnSpPr>
            <a:cxnSpLocks noChangeShapeType="1"/>
          </p:cNvCxnSpPr>
          <p:nvPr/>
        </p:nvCxnSpPr>
        <p:spPr bwMode="auto">
          <a:xfrm>
            <a:off x="7730975" y="2793820"/>
            <a:ext cx="446739" cy="754646"/>
          </a:xfrm>
          <a:prstGeom prst="line">
            <a:avLst/>
          </a:prstGeom>
          <a:noFill/>
          <a:ln w="28575" algn="ctr">
            <a:solidFill>
              <a:schemeClr val="tx1"/>
            </a:solidFill>
            <a:round/>
            <a:headEnd/>
            <a:tailEnd/>
          </a:ln>
          <a:extLst>
            <a:ext uri="{909E8E84-426E-40DD-AFC4-6F175D3DCCD1}">
              <a14:hiddenFill xmlns:a14="http://schemas.microsoft.com/office/drawing/2010/main">
                <a:noFill/>
              </a14:hiddenFill>
            </a:ext>
          </a:extLst>
        </p:spPr>
      </p:cxnSp>
      <p:cxnSp>
        <p:nvCxnSpPr>
          <p:cNvPr id="28" name="直接连接符 67"/>
          <p:cNvCxnSpPr>
            <a:cxnSpLocks noChangeShapeType="1"/>
          </p:cNvCxnSpPr>
          <p:nvPr/>
        </p:nvCxnSpPr>
        <p:spPr bwMode="auto">
          <a:xfrm>
            <a:off x="5076390" y="2835299"/>
            <a:ext cx="133740" cy="777393"/>
          </a:xfrm>
          <a:prstGeom prst="line">
            <a:avLst/>
          </a:prstGeom>
          <a:noFill/>
          <a:ln w="28575" algn="ctr">
            <a:solidFill>
              <a:schemeClr val="tx1"/>
            </a:solidFill>
            <a:round/>
            <a:headEnd/>
            <a:tailEnd/>
          </a:ln>
          <a:extLst>
            <a:ext uri="{909E8E84-426E-40DD-AFC4-6F175D3DCCD1}">
              <a14:hiddenFill xmlns:a14="http://schemas.microsoft.com/office/drawing/2010/main">
                <a:noFill/>
              </a14:hiddenFill>
            </a:ext>
          </a:extLst>
        </p:spPr>
      </p:cxnSp>
      <p:sp>
        <p:nvSpPr>
          <p:cNvPr id="98" name="标题 97">
            <a:extLst>
              <a:ext uri="{FF2B5EF4-FFF2-40B4-BE49-F238E27FC236}">
                <a16:creationId xmlns:a16="http://schemas.microsoft.com/office/drawing/2014/main" id="{589BBF43-6765-C032-1E24-C772ABCD59AF}"/>
              </a:ext>
            </a:extLst>
          </p:cNvPr>
          <p:cNvSpPr>
            <a:spLocks noGrp="1"/>
          </p:cNvSpPr>
          <p:nvPr>
            <p:ph type="title"/>
          </p:nvPr>
        </p:nvSpPr>
        <p:spPr>
          <a:xfrm>
            <a:off x="612000" y="144000"/>
            <a:ext cx="7920000" cy="341632"/>
          </a:xfrm>
        </p:spPr>
        <p:txBody>
          <a:bodyPr/>
          <a:lstStyle/>
          <a:p>
            <a:r>
              <a:rPr lang="zh-CN" altLang="en-US" dirty="0"/>
              <a:t>第二阶段：</a:t>
            </a:r>
            <a:r>
              <a:rPr lang="en-US" altLang="zh-CN" dirty="0"/>
              <a:t>1985 – 1993 </a:t>
            </a:r>
            <a:endParaRPr lang="zh-CN" altLang="en-US" dirty="0"/>
          </a:p>
        </p:txBody>
      </p:sp>
      <p:sp>
        <p:nvSpPr>
          <p:cNvPr id="5" name="内容占位符 4"/>
          <p:cNvSpPr>
            <a:spLocks noGrp="1"/>
          </p:cNvSpPr>
          <p:nvPr>
            <p:ph sz="quarter" idx="10"/>
          </p:nvPr>
        </p:nvSpPr>
        <p:spPr>
          <a:xfrm>
            <a:off x="612000" y="899999"/>
            <a:ext cx="7920000" cy="3780000"/>
          </a:xfrm>
        </p:spPr>
        <p:txBody>
          <a:bodyPr/>
          <a:lstStyle/>
          <a:p>
            <a:r>
              <a:rPr lang="zh-CN" altLang="en-US" dirty="0"/>
              <a:t>国家科学基金网 </a:t>
            </a:r>
            <a:r>
              <a:rPr lang="en-US" altLang="zh-CN" dirty="0">
                <a:hlinkClick r:id="rId2"/>
              </a:rPr>
              <a:t>NSFNET</a:t>
            </a:r>
            <a:endParaRPr lang="en-US" altLang="zh-CN" dirty="0"/>
          </a:p>
          <a:p>
            <a:pPr lvl="1"/>
            <a:r>
              <a:rPr lang="zh-CN" altLang="en-US" dirty="0"/>
              <a:t>三级结构：主干网、地区网和校园网</a:t>
            </a:r>
            <a:r>
              <a:rPr lang="en-US" altLang="zh-CN" dirty="0"/>
              <a:t>(</a:t>
            </a:r>
            <a:r>
              <a:rPr lang="zh-CN" altLang="en-US" dirty="0"/>
              <a:t>企业网</a:t>
            </a:r>
            <a:r>
              <a:rPr lang="en-US" altLang="zh-CN" dirty="0"/>
              <a:t>)</a:t>
            </a:r>
          </a:p>
          <a:p>
            <a:pPr lvl="1"/>
            <a:r>
              <a:rPr lang="zh-CN" altLang="en-US" dirty="0"/>
              <a:t>覆盖了全美国主要的大学和研究所</a:t>
            </a:r>
            <a:endParaRPr lang="en-US" altLang="zh-CN" dirty="0"/>
          </a:p>
          <a:p>
            <a:pPr lvl="1"/>
            <a:r>
              <a:rPr lang="zh-CN" altLang="en-US" dirty="0"/>
              <a:t>互联网中的主要组成部分</a:t>
            </a:r>
            <a:endParaRPr lang="en-US" altLang="zh-CN" dirty="0"/>
          </a:p>
          <a:p>
            <a:endParaRPr lang="zh-CN" altLang="en-US" dirty="0"/>
          </a:p>
        </p:txBody>
      </p:sp>
      <p:pic>
        <p:nvPicPr>
          <p:cNvPr id="10" name="Picture 146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471993" y="2139526"/>
            <a:ext cx="285463" cy="2823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6" name="Text Box 1524"/>
          <p:cNvSpPr txBox="1">
            <a:spLocks noChangeArrowheads="1"/>
          </p:cNvSpPr>
          <p:nvPr/>
        </p:nvSpPr>
        <p:spPr bwMode="auto">
          <a:xfrm>
            <a:off x="5925520" y="1681969"/>
            <a:ext cx="723275"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lang="zh-CN" altLang="en-US" sz="1400" dirty="0">
                <a:solidFill>
                  <a:schemeClr val="bg1"/>
                </a:solidFill>
                <a:latin typeface="+mn-lt"/>
                <a:ea typeface="+mn-ea"/>
              </a:rPr>
              <a:t>主干网</a:t>
            </a:r>
          </a:p>
        </p:txBody>
      </p:sp>
      <p:pic>
        <p:nvPicPr>
          <p:cNvPr id="17" name="Picture 146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982231" y="2194385"/>
            <a:ext cx="285463" cy="2823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8" name="Picture 146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958875" y="2124808"/>
            <a:ext cx="285463" cy="2823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 name="任意多边形: 形状 2">
            <a:extLst>
              <a:ext uri="{FF2B5EF4-FFF2-40B4-BE49-F238E27FC236}">
                <a16:creationId xmlns:a16="http://schemas.microsoft.com/office/drawing/2014/main" id="{DB32C537-140B-B5D8-7BC0-2B5C9AB65C23}"/>
              </a:ext>
            </a:extLst>
          </p:cNvPr>
          <p:cNvSpPr>
            <a:spLocks noChangeArrowheads="1"/>
          </p:cNvSpPr>
          <p:nvPr/>
        </p:nvSpPr>
        <p:spPr bwMode="auto">
          <a:xfrm>
            <a:off x="4945905" y="3472315"/>
            <a:ext cx="716448" cy="540000"/>
          </a:xfrm>
          <a:custGeom>
            <a:avLst/>
            <a:gdLst>
              <a:gd name="csX0" fmla="*/ 323469 w 716448"/>
              <a:gd name="csY0" fmla="*/ 0 h 540000"/>
              <a:gd name="csX1" fmla="*/ 467292 w 716448"/>
              <a:gd name="csY1" fmla="*/ 44524 h 540000"/>
              <a:gd name="csX2" fmla="*/ 470473 w 716448"/>
              <a:gd name="csY2" fmla="*/ 51883 h 540000"/>
              <a:gd name="csX3" fmla="*/ 474754 w 716448"/>
              <a:gd name="csY3" fmla="*/ 49901 h 540000"/>
              <a:gd name="csX4" fmla="*/ 551389 w 716448"/>
              <a:gd name="csY4" fmla="*/ 52424 h 540000"/>
              <a:gd name="csX5" fmla="*/ 638025 w 716448"/>
              <a:gd name="csY5" fmla="*/ 137134 h 540000"/>
              <a:gd name="csX6" fmla="*/ 624025 w 716448"/>
              <a:gd name="csY6" fmla="*/ 157319 h 540000"/>
              <a:gd name="csX7" fmla="*/ 600657 w 716448"/>
              <a:gd name="csY7" fmla="*/ 168134 h 540000"/>
              <a:gd name="csX8" fmla="*/ 622990 w 716448"/>
              <a:gd name="csY8" fmla="*/ 167351 h 540000"/>
              <a:gd name="csX9" fmla="*/ 657627 w 716448"/>
              <a:gd name="csY9" fmla="*/ 177493 h 540000"/>
              <a:gd name="csX10" fmla="*/ 711413 w 716448"/>
              <a:gd name="csY10" fmla="*/ 279038 h 540000"/>
              <a:gd name="csX11" fmla="*/ 666372 w 716448"/>
              <a:gd name="csY11" fmla="*/ 312103 h 540000"/>
              <a:gd name="csX12" fmla="*/ 652586 w 716448"/>
              <a:gd name="csY12" fmla="*/ 312587 h 540000"/>
              <a:gd name="csX13" fmla="*/ 666310 w 716448"/>
              <a:gd name="csY13" fmla="*/ 318315 h 540000"/>
              <a:gd name="csX14" fmla="*/ 688781 w 716448"/>
              <a:gd name="csY14" fmla="*/ 344383 h 540000"/>
              <a:gd name="csX15" fmla="*/ 625968 w 716448"/>
              <a:gd name="csY15" fmla="*/ 470147 h 540000"/>
              <a:gd name="csX16" fmla="*/ 544071 w 716448"/>
              <a:gd name="csY16" fmla="*/ 482228 h 540000"/>
              <a:gd name="csX17" fmla="*/ 542136 w 716448"/>
              <a:gd name="csY17" fmla="*/ 481420 h 540000"/>
              <a:gd name="csX18" fmla="*/ 511855 w 716448"/>
              <a:gd name="csY18" fmla="*/ 508368 h 540000"/>
              <a:gd name="csX19" fmla="*/ 384576 w 716448"/>
              <a:gd name="csY19" fmla="*/ 540000 h 540000"/>
              <a:gd name="csX20" fmla="*/ 218722 w 716448"/>
              <a:gd name="csY20" fmla="*/ 474039 h 540000"/>
              <a:gd name="csX21" fmla="*/ 214481 w 716448"/>
              <a:gd name="csY21" fmla="*/ 461437 h 540000"/>
              <a:gd name="csX22" fmla="*/ 210639 w 716448"/>
              <a:gd name="csY22" fmla="*/ 463470 h 540000"/>
              <a:gd name="csX23" fmla="*/ 136389 w 716448"/>
              <a:gd name="csY23" fmla="*/ 460964 h 540000"/>
              <a:gd name="csX24" fmla="*/ 62063 w 716448"/>
              <a:gd name="csY24" fmla="*/ 363002 h 540000"/>
              <a:gd name="csX25" fmla="*/ 69375 w 716448"/>
              <a:gd name="csY25" fmla="*/ 352240 h 540000"/>
              <a:gd name="csX26" fmla="*/ 50708 w 716448"/>
              <a:gd name="csY26" fmla="*/ 349013 h 540000"/>
              <a:gd name="csX27" fmla="*/ 0 w 716448"/>
              <a:gd name="csY27" fmla="*/ 283500 h 540000"/>
              <a:gd name="csX28" fmla="*/ 24318 w 716448"/>
              <a:gd name="csY28" fmla="*/ 233225 h 540000"/>
              <a:gd name="csX29" fmla="*/ 40995 w 716448"/>
              <a:gd name="csY29" fmla="*/ 223596 h 540000"/>
              <a:gd name="csX30" fmla="*/ 36228 w 716448"/>
              <a:gd name="csY30" fmla="*/ 202964 h 540000"/>
              <a:gd name="csX31" fmla="*/ 103327 w 716448"/>
              <a:gd name="csY31" fmla="*/ 112627 h 540000"/>
              <a:gd name="csX32" fmla="*/ 143842 w 716448"/>
              <a:gd name="csY32" fmla="*/ 94719 h 540000"/>
              <a:gd name="csX33" fmla="*/ 174866 w 716448"/>
              <a:gd name="csY33" fmla="*/ 90216 h 540000"/>
              <a:gd name="csX34" fmla="*/ 167380 w 716448"/>
              <a:gd name="csY34" fmla="*/ 72900 h 540000"/>
              <a:gd name="csX35" fmla="*/ 323469 w 716448"/>
              <a:gd name="csY35" fmla="*/ 0 h 54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716448" h="540000">
                <a:moveTo>
                  <a:pt x="323469" y="0"/>
                </a:moveTo>
                <a:cubicBezTo>
                  <a:pt x="388124" y="0"/>
                  <a:pt x="443597" y="18359"/>
                  <a:pt x="467292" y="44524"/>
                </a:cubicBezTo>
                <a:lnTo>
                  <a:pt x="470473" y="51883"/>
                </a:lnTo>
                <a:lnTo>
                  <a:pt x="474754" y="49901"/>
                </a:lnTo>
                <a:cubicBezTo>
                  <a:pt x="495997" y="44465"/>
                  <a:pt x="523220" y="44876"/>
                  <a:pt x="551389" y="52424"/>
                </a:cubicBezTo>
                <a:cubicBezTo>
                  <a:pt x="607727" y="67520"/>
                  <a:pt x="646516" y="105446"/>
                  <a:pt x="638025" y="137134"/>
                </a:cubicBezTo>
                <a:cubicBezTo>
                  <a:pt x="635903" y="145056"/>
                  <a:pt x="631026" y="151838"/>
                  <a:pt x="624025" y="157319"/>
                </a:cubicBezTo>
                <a:lnTo>
                  <a:pt x="600657" y="168134"/>
                </a:lnTo>
                <a:lnTo>
                  <a:pt x="622990" y="167351"/>
                </a:lnTo>
                <a:cubicBezTo>
                  <a:pt x="634410" y="168807"/>
                  <a:pt x="646157" y="172145"/>
                  <a:pt x="657627" y="177493"/>
                </a:cubicBezTo>
                <a:cubicBezTo>
                  <a:pt x="703507" y="198887"/>
                  <a:pt x="727588" y="244351"/>
                  <a:pt x="711413" y="279038"/>
                </a:cubicBezTo>
                <a:cubicBezTo>
                  <a:pt x="703326" y="296381"/>
                  <a:pt x="686706" y="307747"/>
                  <a:pt x="666372" y="312103"/>
                </a:cubicBezTo>
                <a:lnTo>
                  <a:pt x="652586" y="312587"/>
                </a:lnTo>
                <a:lnTo>
                  <a:pt x="666310" y="318315"/>
                </a:lnTo>
                <a:cubicBezTo>
                  <a:pt x="675869" y="325034"/>
                  <a:pt x="683606" y="333773"/>
                  <a:pt x="688781" y="344383"/>
                </a:cubicBezTo>
                <a:cubicBezTo>
                  <a:pt x="709481" y="386824"/>
                  <a:pt x="681359" y="443131"/>
                  <a:pt x="625968" y="470147"/>
                </a:cubicBezTo>
                <a:cubicBezTo>
                  <a:pt x="598273" y="483655"/>
                  <a:pt x="569004" y="487282"/>
                  <a:pt x="544071" y="482228"/>
                </a:cubicBezTo>
                <a:lnTo>
                  <a:pt x="542136" y="481420"/>
                </a:lnTo>
                <a:lnTo>
                  <a:pt x="511855" y="508368"/>
                </a:lnTo>
                <a:cubicBezTo>
                  <a:pt x="479282" y="527912"/>
                  <a:pt x="434282" y="540000"/>
                  <a:pt x="384576" y="540000"/>
                </a:cubicBezTo>
                <a:cubicBezTo>
                  <a:pt x="310018" y="540000"/>
                  <a:pt x="246047" y="512802"/>
                  <a:pt x="218722" y="474039"/>
                </a:cubicBezTo>
                <a:lnTo>
                  <a:pt x="214481" y="461437"/>
                </a:lnTo>
                <a:lnTo>
                  <a:pt x="210639" y="463470"/>
                </a:lnTo>
                <a:cubicBezTo>
                  <a:pt x="189337" y="469906"/>
                  <a:pt x="162904" y="469580"/>
                  <a:pt x="136389" y="460964"/>
                </a:cubicBezTo>
                <a:cubicBezTo>
                  <a:pt x="83359" y="443734"/>
                  <a:pt x="50082" y="399874"/>
                  <a:pt x="62063" y="363002"/>
                </a:cubicBezTo>
                <a:lnTo>
                  <a:pt x="69375" y="352240"/>
                </a:lnTo>
                <a:lnTo>
                  <a:pt x="50708" y="349013"/>
                </a:lnTo>
                <a:cubicBezTo>
                  <a:pt x="20909" y="338219"/>
                  <a:pt x="0" y="312950"/>
                  <a:pt x="0" y="283500"/>
                </a:cubicBezTo>
                <a:cubicBezTo>
                  <a:pt x="0" y="263867"/>
                  <a:pt x="9293" y="246092"/>
                  <a:pt x="24318" y="233225"/>
                </a:cubicBezTo>
                <a:lnTo>
                  <a:pt x="40995" y="223596"/>
                </a:lnTo>
                <a:lnTo>
                  <a:pt x="36228" y="202964"/>
                </a:lnTo>
                <a:cubicBezTo>
                  <a:pt x="37945" y="172538"/>
                  <a:pt x="63237" y="136716"/>
                  <a:pt x="103327" y="112627"/>
                </a:cubicBezTo>
                <a:cubicBezTo>
                  <a:pt x="116691" y="104597"/>
                  <a:pt x="130433" y="98632"/>
                  <a:pt x="143842" y="94719"/>
                </a:cubicBezTo>
                <a:lnTo>
                  <a:pt x="174866" y="90216"/>
                </a:lnTo>
                <a:lnTo>
                  <a:pt x="167380" y="72900"/>
                </a:lnTo>
                <a:cubicBezTo>
                  <a:pt x="167380" y="32638"/>
                  <a:pt x="237263" y="0"/>
                  <a:pt x="323469" y="0"/>
                </a:cubicBezTo>
                <a:close/>
              </a:path>
            </a:pathLst>
          </a:custGeom>
          <a:solidFill>
            <a:srgbClr val="F2F2F2"/>
          </a:solidFill>
          <a:ln>
            <a:noFill/>
          </a:ln>
        </p:spPr>
        <p:txBody>
          <a:bodyPr wrap="square" anchor="ctr">
            <a:noAutofit/>
          </a:bodyPr>
          <a:lstStyle/>
          <a:p>
            <a:pPr algn="ctr" eaLnBrk="0" hangingPunct="0">
              <a:defRPr/>
            </a:pPr>
            <a:r>
              <a:rPr lang="zh-CN" altLang="en-US" sz="1200" dirty="0">
                <a:solidFill>
                  <a:sysClr val="windowText" lastClr="000000"/>
                </a:solidFill>
              </a:rPr>
              <a:t>校园网</a:t>
            </a:r>
          </a:p>
        </p:txBody>
      </p:sp>
      <p:pic>
        <p:nvPicPr>
          <p:cNvPr id="22" name="Picture 146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487482" y="3093549"/>
            <a:ext cx="285463" cy="2823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3" name="Picture 146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938400" y="3149746"/>
            <a:ext cx="285463" cy="2823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4" name="Picture 146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405052" y="3121647"/>
            <a:ext cx="285463" cy="2823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5" name="Picture 146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828752" y="3093549"/>
            <a:ext cx="285463" cy="2823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9" name="Picture 146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997719" y="3102915"/>
            <a:ext cx="285463" cy="2823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0" name="任意多边形: 形状 99">
            <a:extLst>
              <a:ext uri="{FF2B5EF4-FFF2-40B4-BE49-F238E27FC236}">
                <a16:creationId xmlns:a16="http://schemas.microsoft.com/office/drawing/2014/main" id="{66AB8081-0598-7AFD-68D2-87E1C2B394F4}"/>
              </a:ext>
            </a:extLst>
          </p:cNvPr>
          <p:cNvSpPr>
            <a:spLocks noChangeArrowheads="1"/>
          </p:cNvSpPr>
          <p:nvPr/>
        </p:nvSpPr>
        <p:spPr bwMode="auto">
          <a:xfrm>
            <a:off x="5945723" y="3472315"/>
            <a:ext cx="716448" cy="540000"/>
          </a:xfrm>
          <a:custGeom>
            <a:avLst/>
            <a:gdLst>
              <a:gd name="csX0" fmla="*/ 323469 w 716448"/>
              <a:gd name="csY0" fmla="*/ 0 h 540000"/>
              <a:gd name="csX1" fmla="*/ 467292 w 716448"/>
              <a:gd name="csY1" fmla="*/ 44524 h 540000"/>
              <a:gd name="csX2" fmla="*/ 470473 w 716448"/>
              <a:gd name="csY2" fmla="*/ 51883 h 540000"/>
              <a:gd name="csX3" fmla="*/ 474754 w 716448"/>
              <a:gd name="csY3" fmla="*/ 49901 h 540000"/>
              <a:gd name="csX4" fmla="*/ 551389 w 716448"/>
              <a:gd name="csY4" fmla="*/ 52424 h 540000"/>
              <a:gd name="csX5" fmla="*/ 638025 w 716448"/>
              <a:gd name="csY5" fmla="*/ 137134 h 540000"/>
              <a:gd name="csX6" fmla="*/ 624025 w 716448"/>
              <a:gd name="csY6" fmla="*/ 157319 h 540000"/>
              <a:gd name="csX7" fmla="*/ 600657 w 716448"/>
              <a:gd name="csY7" fmla="*/ 168134 h 540000"/>
              <a:gd name="csX8" fmla="*/ 622990 w 716448"/>
              <a:gd name="csY8" fmla="*/ 167351 h 540000"/>
              <a:gd name="csX9" fmla="*/ 657627 w 716448"/>
              <a:gd name="csY9" fmla="*/ 177493 h 540000"/>
              <a:gd name="csX10" fmla="*/ 711413 w 716448"/>
              <a:gd name="csY10" fmla="*/ 279038 h 540000"/>
              <a:gd name="csX11" fmla="*/ 666372 w 716448"/>
              <a:gd name="csY11" fmla="*/ 312103 h 540000"/>
              <a:gd name="csX12" fmla="*/ 652586 w 716448"/>
              <a:gd name="csY12" fmla="*/ 312587 h 540000"/>
              <a:gd name="csX13" fmla="*/ 666310 w 716448"/>
              <a:gd name="csY13" fmla="*/ 318315 h 540000"/>
              <a:gd name="csX14" fmla="*/ 688781 w 716448"/>
              <a:gd name="csY14" fmla="*/ 344383 h 540000"/>
              <a:gd name="csX15" fmla="*/ 625968 w 716448"/>
              <a:gd name="csY15" fmla="*/ 470147 h 540000"/>
              <a:gd name="csX16" fmla="*/ 544071 w 716448"/>
              <a:gd name="csY16" fmla="*/ 482228 h 540000"/>
              <a:gd name="csX17" fmla="*/ 542136 w 716448"/>
              <a:gd name="csY17" fmla="*/ 481420 h 540000"/>
              <a:gd name="csX18" fmla="*/ 511855 w 716448"/>
              <a:gd name="csY18" fmla="*/ 508368 h 540000"/>
              <a:gd name="csX19" fmla="*/ 384576 w 716448"/>
              <a:gd name="csY19" fmla="*/ 540000 h 540000"/>
              <a:gd name="csX20" fmla="*/ 218722 w 716448"/>
              <a:gd name="csY20" fmla="*/ 474039 h 540000"/>
              <a:gd name="csX21" fmla="*/ 214481 w 716448"/>
              <a:gd name="csY21" fmla="*/ 461437 h 540000"/>
              <a:gd name="csX22" fmla="*/ 210639 w 716448"/>
              <a:gd name="csY22" fmla="*/ 463470 h 540000"/>
              <a:gd name="csX23" fmla="*/ 136389 w 716448"/>
              <a:gd name="csY23" fmla="*/ 460964 h 540000"/>
              <a:gd name="csX24" fmla="*/ 62063 w 716448"/>
              <a:gd name="csY24" fmla="*/ 363002 h 540000"/>
              <a:gd name="csX25" fmla="*/ 69375 w 716448"/>
              <a:gd name="csY25" fmla="*/ 352240 h 540000"/>
              <a:gd name="csX26" fmla="*/ 50708 w 716448"/>
              <a:gd name="csY26" fmla="*/ 349013 h 540000"/>
              <a:gd name="csX27" fmla="*/ 0 w 716448"/>
              <a:gd name="csY27" fmla="*/ 283500 h 540000"/>
              <a:gd name="csX28" fmla="*/ 24318 w 716448"/>
              <a:gd name="csY28" fmla="*/ 233225 h 540000"/>
              <a:gd name="csX29" fmla="*/ 40995 w 716448"/>
              <a:gd name="csY29" fmla="*/ 223596 h 540000"/>
              <a:gd name="csX30" fmla="*/ 36228 w 716448"/>
              <a:gd name="csY30" fmla="*/ 202964 h 540000"/>
              <a:gd name="csX31" fmla="*/ 103327 w 716448"/>
              <a:gd name="csY31" fmla="*/ 112627 h 540000"/>
              <a:gd name="csX32" fmla="*/ 143842 w 716448"/>
              <a:gd name="csY32" fmla="*/ 94719 h 540000"/>
              <a:gd name="csX33" fmla="*/ 174866 w 716448"/>
              <a:gd name="csY33" fmla="*/ 90216 h 540000"/>
              <a:gd name="csX34" fmla="*/ 167380 w 716448"/>
              <a:gd name="csY34" fmla="*/ 72900 h 540000"/>
              <a:gd name="csX35" fmla="*/ 323469 w 716448"/>
              <a:gd name="csY35" fmla="*/ 0 h 54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716448" h="540000">
                <a:moveTo>
                  <a:pt x="323469" y="0"/>
                </a:moveTo>
                <a:cubicBezTo>
                  <a:pt x="388124" y="0"/>
                  <a:pt x="443597" y="18359"/>
                  <a:pt x="467292" y="44524"/>
                </a:cubicBezTo>
                <a:lnTo>
                  <a:pt x="470473" y="51883"/>
                </a:lnTo>
                <a:lnTo>
                  <a:pt x="474754" y="49901"/>
                </a:lnTo>
                <a:cubicBezTo>
                  <a:pt x="495997" y="44465"/>
                  <a:pt x="523220" y="44876"/>
                  <a:pt x="551389" y="52424"/>
                </a:cubicBezTo>
                <a:cubicBezTo>
                  <a:pt x="607727" y="67520"/>
                  <a:pt x="646516" y="105446"/>
                  <a:pt x="638025" y="137134"/>
                </a:cubicBezTo>
                <a:cubicBezTo>
                  <a:pt x="635903" y="145056"/>
                  <a:pt x="631026" y="151838"/>
                  <a:pt x="624025" y="157319"/>
                </a:cubicBezTo>
                <a:lnTo>
                  <a:pt x="600657" y="168134"/>
                </a:lnTo>
                <a:lnTo>
                  <a:pt x="622990" y="167351"/>
                </a:lnTo>
                <a:cubicBezTo>
                  <a:pt x="634410" y="168807"/>
                  <a:pt x="646157" y="172145"/>
                  <a:pt x="657627" y="177493"/>
                </a:cubicBezTo>
                <a:cubicBezTo>
                  <a:pt x="703507" y="198887"/>
                  <a:pt x="727588" y="244351"/>
                  <a:pt x="711413" y="279038"/>
                </a:cubicBezTo>
                <a:cubicBezTo>
                  <a:pt x="703326" y="296381"/>
                  <a:pt x="686706" y="307747"/>
                  <a:pt x="666372" y="312103"/>
                </a:cubicBezTo>
                <a:lnTo>
                  <a:pt x="652586" y="312587"/>
                </a:lnTo>
                <a:lnTo>
                  <a:pt x="666310" y="318315"/>
                </a:lnTo>
                <a:cubicBezTo>
                  <a:pt x="675869" y="325034"/>
                  <a:pt x="683606" y="333773"/>
                  <a:pt x="688781" y="344383"/>
                </a:cubicBezTo>
                <a:cubicBezTo>
                  <a:pt x="709481" y="386824"/>
                  <a:pt x="681359" y="443131"/>
                  <a:pt x="625968" y="470147"/>
                </a:cubicBezTo>
                <a:cubicBezTo>
                  <a:pt x="598273" y="483655"/>
                  <a:pt x="569004" y="487282"/>
                  <a:pt x="544071" y="482228"/>
                </a:cubicBezTo>
                <a:lnTo>
                  <a:pt x="542136" y="481420"/>
                </a:lnTo>
                <a:lnTo>
                  <a:pt x="511855" y="508368"/>
                </a:lnTo>
                <a:cubicBezTo>
                  <a:pt x="479282" y="527912"/>
                  <a:pt x="434282" y="540000"/>
                  <a:pt x="384576" y="540000"/>
                </a:cubicBezTo>
                <a:cubicBezTo>
                  <a:pt x="310018" y="540000"/>
                  <a:pt x="246047" y="512802"/>
                  <a:pt x="218722" y="474039"/>
                </a:cubicBezTo>
                <a:lnTo>
                  <a:pt x="214481" y="461437"/>
                </a:lnTo>
                <a:lnTo>
                  <a:pt x="210639" y="463470"/>
                </a:lnTo>
                <a:cubicBezTo>
                  <a:pt x="189337" y="469906"/>
                  <a:pt x="162904" y="469580"/>
                  <a:pt x="136389" y="460964"/>
                </a:cubicBezTo>
                <a:cubicBezTo>
                  <a:pt x="83359" y="443734"/>
                  <a:pt x="50082" y="399874"/>
                  <a:pt x="62063" y="363002"/>
                </a:cubicBezTo>
                <a:lnTo>
                  <a:pt x="69375" y="352240"/>
                </a:lnTo>
                <a:lnTo>
                  <a:pt x="50708" y="349013"/>
                </a:lnTo>
                <a:cubicBezTo>
                  <a:pt x="20909" y="338219"/>
                  <a:pt x="0" y="312950"/>
                  <a:pt x="0" y="283500"/>
                </a:cubicBezTo>
                <a:cubicBezTo>
                  <a:pt x="0" y="263867"/>
                  <a:pt x="9293" y="246092"/>
                  <a:pt x="24318" y="233225"/>
                </a:cubicBezTo>
                <a:lnTo>
                  <a:pt x="40995" y="223596"/>
                </a:lnTo>
                <a:lnTo>
                  <a:pt x="36228" y="202964"/>
                </a:lnTo>
                <a:cubicBezTo>
                  <a:pt x="37945" y="172538"/>
                  <a:pt x="63237" y="136716"/>
                  <a:pt x="103327" y="112627"/>
                </a:cubicBezTo>
                <a:cubicBezTo>
                  <a:pt x="116691" y="104597"/>
                  <a:pt x="130433" y="98632"/>
                  <a:pt x="143842" y="94719"/>
                </a:cubicBezTo>
                <a:lnTo>
                  <a:pt x="174866" y="90216"/>
                </a:lnTo>
                <a:lnTo>
                  <a:pt x="167380" y="72900"/>
                </a:lnTo>
                <a:cubicBezTo>
                  <a:pt x="167380" y="32638"/>
                  <a:pt x="237263" y="0"/>
                  <a:pt x="323469" y="0"/>
                </a:cubicBezTo>
                <a:close/>
              </a:path>
            </a:pathLst>
          </a:custGeom>
          <a:solidFill>
            <a:srgbClr val="F2F2F2"/>
          </a:solidFill>
          <a:ln>
            <a:noFill/>
          </a:ln>
        </p:spPr>
        <p:txBody>
          <a:bodyPr wrap="square" anchor="ctr">
            <a:noAutofit/>
          </a:bodyPr>
          <a:lstStyle/>
          <a:p>
            <a:pPr algn="ctr" eaLnBrk="0" hangingPunct="0">
              <a:defRPr/>
            </a:pPr>
            <a:r>
              <a:rPr lang="zh-CN" altLang="en-US" sz="1200" dirty="0">
                <a:solidFill>
                  <a:sysClr val="windowText" lastClr="000000"/>
                </a:solidFill>
              </a:rPr>
              <a:t>校园网</a:t>
            </a:r>
          </a:p>
        </p:txBody>
      </p:sp>
      <p:sp>
        <p:nvSpPr>
          <p:cNvPr id="102" name="任意多边形: 形状 101">
            <a:extLst>
              <a:ext uri="{FF2B5EF4-FFF2-40B4-BE49-F238E27FC236}">
                <a16:creationId xmlns:a16="http://schemas.microsoft.com/office/drawing/2014/main" id="{7E3A536F-1D13-F8EC-616C-9711B9DACEB3}"/>
              </a:ext>
            </a:extLst>
          </p:cNvPr>
          <p:cNvSpPr>
            <a:spLocks noChangeArrowheads="1"/>
          </p:cNvSpPr>
          <p:nvPr/>
        </p:nvSpPr>
        <p:spPr bwMode="auto">
          <a:xfrm>
            <a:off x="6945541" y="3472315"/>
            <a:ext cx="716448" cy="540000"/>
          </a:xfrm>
          <a:custGeom>
            <a:avLst/>
            <a:gdLst>
              <a:gd name="csX0" fmla="*/ 323469 w 716448"/>
              <a:gd name="csY0" fmla="*/ 0 h 540000"/>
              <a:gd name="csX1" fmla="*/ 467292 w 716448"/>
              <a:gd name="csY1" fmla="*/ 44524 h 540000"/>
              <a:gd name="csX2" fmla="*/ 470473 w 716448"/>
              <a:gd name="csY2" fmla="*/ 51883 h 540000"/>
              <a:gd name="csX3" fmla="*/ 474754 w 716448"/>
              <a:gd name="csY3" fmla="*/ 49901 h 540000"/>
              <a:gd name="csX4" fmla="*/ 551389 w 716448"/>
              <a:gd name="csY4" fmla="*/ 52424 h 540000"/>
              <a:gd name="csX5" fmla="*/ 638025 w 716448"/>
              <a:gd name="csY5" fmla="*/ 137134 h 540000"/>
              <a:gd name="csX6" fmla="*/ 624025 w 716448"/>
              <a:gd name="csY6" fmla="*/ 157319 h 540000"/>
              <a:gd name="csX7" fmla="*/ 600657 w 716448"/>
              <a:gd name="csY7" fmla="*/ 168134 h 540000"/>
              <a:gd name="csX8" fmla="*/ 622990 w 716448"/>
              <a:gd name="csY8" fmla="*/ 167351 h 540000"/>
              <a:gd name="csX9" fmla="*/ 657627 w 716448"/>
              <a:gd name="csY9" fmla="*/ 177493 h 540000"/>
              <a:gd name="csX10" fmla="*/ 711413 w 716448"/>
              <a:gd name="csY10" fmla="*/ 279038 h 540000"/>
              <a:gd name="csX11" fmla="*/ 666372 w 716448"/>
              <a:gd name="csY11" fmla="*/ 312103 h 540000"/>
              <a:gd name="csX12" fmla="*/ 652586 w 716448"/>
              <a:gd name="csY12" fmla="*/ 312587 h 540000"/>
              <a:gd name="csX13" fmla="*/ 666310 w 716448"/>
              <a:gd name="csY13" fmla="*/ 318315 h 540000"/>
              <a:gd name="csX14" fmla="*/ 688781 w 716448"/>
              <a:gd name="csY14" fmla="*/ 344383 h 540000"/>
              <a:gd name="csX15" fmla="*/ 625968 w 716448"/>
              <a:gd name="csY15" fmla="*/ 470147 h 540000"/>
              <a:gd name="csX16" fmla="*/ 544071 w 716448"/>
              <a:gd name="csY16" fmla="*/ 482228 h 540000"/>
              <a:gd name="csX17" fmla="*/ 542136 w 716448"/>
              <a:gd name="csY17" fmla="*/ 481420 h 540000"/>
              <a:gd name="csX18" fmla="*/ 511855 w 716448"/>
              <a:gd name="csY18" fmla="*/ 508368 h 540000"/>
              <a:gd name="csX19" fmla="*/ 384576 w 716448"/>
              <a:gd name="csY19" fmla="*/ 540000 h 540000"/>
              <a:gd name="csX20" fmla="*/ 218722 w 716448"/>
              <a:gd name="csY20" fmla="*/ 474039 h 540000"/>
              <a:gd name="csX21" fmla="*/ 214481 w 716448"/>
              <a:gd name="csY21" fmla="*/ 461437 h 540000"/>
              <a:gd name="csX22" fmla="*/ 210639 w 716448"/>
              <a:gd name="csY22" fmla="*/ 463470 h 540000"/>
              <a:gd name="csX23" fmla="*/ 136389 w 716448"/>
              <a:gd name="csY23" fmla="*/ 460964 h 540000"/>
              <a:gd name="csX24" fmla="*/ 62063 w 716448"/>
              <a:gd name="csY24" fmla="*/ 363002 h 540000"/>
              <a:gd name="csX25" fmla="*/ 69375 w 716448"/>
              <a:gd name="csY25" fmla="*/ 352240 h 540000"/>
              <a:gd name="csX26" fmla="*/ 50708 w 716448"/>
              <a:gd name="csY26" fmla="*/ 349013 h 540000"/>
              <a:gd name="csX27" fmla="*/ 0 w 716448"/>
              <a:gd name="csY27" fmla="*/ 283500 h 540000"/>
              <a:gd name="csX28" fmla="*/ 24318 w 716448"/>
              <a:gd name="csY28" fmla="*/ 233225 h 540000"/>
              <a:gd name="csX29" fmla="*/ 40995 w 716448"/>
              <a:gd name="csY29" fmla="*/ 223596 h 540000"/>
              <a:gd name="csX30" fmla="*/ 36228 w 716448"/>
              <a:gd name="csY30" fmla="*/ 202964 h 540000"/>
              <a:gd name="csX31" fmla="*/ 103327 w 716448"/>
              <a:gd name="csY31" fmla="*/ 112627 h 540000"/>
              <a:gd name="csX32" fmla="*/ 143842 w 716448"/>
              <a:gd name="csY32" fmla="*/ 94719 h 540000"/>
              <a:gd name="csX33" fmla="*/ 174866 w 716448"/>
              <a:gd name="csY33" fmla="*/ 90216 h 540000"/>
              <a:gd name="csX34" fmla="*/ 167380 w 716448"/>
              <a:gd name="csY34" fmla="*/ 72900 h 540000"/>
              <a:gd name="csX35" fmla="*/ 323469 w 716448"/>
              <a:gd name="csY35" fmla="*/ 0 h 54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716448" h="540000">
                <a:moveTo>
                  <a:pt x="323469" y="0"/>
                </a:moveTo>
                <a:cubicBezTo>
                  <a:pt x="388124" y="0"/>
                  <a:pt x="443597" y="18359"/>
                  <a:pt x="467292" y="44524"/>
                </a:cubicBezTo>
                <a:lnTo>
                  <a:pt x="470473" y="51883"/>
                </a:lnTo>
                <a:lnTo>
                  <a:pt x="474754" y="49901"/>
                </a:lnTo>
                <a:cubicBezTo>
                  <a:pt x="495997" y="44465"/>
                  <a:pt x="523220" y="44876"/>
                  <a:pt x="551389" y="52424"/>
                </a:cubicBezTo>
                <a:cubicBezTo>
                  <a:pt x="607727" y="67520"/>
                  <a:pt x="646516" y="105446"/>
                  <a:pt x="638025" y="137134"/>
                </a:cubicBezTo>
                <a:cubicBezTo>
                  <a:pt x="635903" y="145056"/>
                  <a:pt x="631026" y="151838"/>
                  <a:pt x="624025" y="157319"/>
                </a:cubicBezTo>
                <a:lnTo>
                  <a:pt x="600657" y="168134"/>
                </a:lnTo>
                <a:lnTo>
                  <a:pt x="622990" y="167351"/>
                </a:lnTo>
                <a:cubicBezTo>
                  <a:pt x="634410" y="168807"/>
                  <a:pt x="646157" y="172145"/>
                  <a:pt x="657627" y="177493"/>
                </a:cubicBezTo>
                <a:cubicBezTo>
                  <a:pt x="703507" y="198887"/>
                  <a:pt x="727588" y="244351"/>
                  <a:pt x="711413" y="279038"/>
                </a:cubicBezTo>
                <a:cubicBezTo>
                  <a:pt x="703326" y="296381"/>
                  <a:pt x="686706" y="307747"/>
                  <a:pt x="666372" y="312103"/>
                </a:cubicBezTo>
                <a:lnTo>
                  <a:pt x="652586" y="312587"/>
                </a:lnTo>
                <a:lnTo>
                  <a:pt x="666310" y="318315"/>
                </a:lnTo>
                <a:cubicBezTo>
                  <a:pt x="675869" y="325034"/>
                  <a:pt x="683606" y="333773"/>
                  <a:pt x="688781" y="344383"/>
                </a:cubicBezTo>
                <a:cubicBezTo>
                  <a:pt x="709481" y="386824"/>
                  <a:pt x="681359" y="443131"/>
                  <a:pt x="625968" y="470147"/>
                </a:cubicBezTo>
                <a:cubicBezTo>
                  <a:pt x="598273" y="483655"/>
                  <a:pt x="569004" y="487282"/>
                  <a:pt x="544071" y="482228"/>
                </a:cubicBezTo>
                <a:lnTo>
                  <a:pt x="542136" y="481420"/>
                </a:lnTo>
                <a:lnTo>
                  <a:pt x="511855" y="508368"/>
                </a:lnTo>
                <a:cubicBezTo>
                  <a:pt x="479282" y="527912"/>
                  <a:pt x="434282" y="540000"/>
                  <a:pt x="384576" y="540000"/>
                </a:cubicBezTo>
                <a:cubicBezTo>
                  <a:pt x="310018" y="540000"/>
                  <a:pt x="246047" y="512802"/>
                  <a:pt x="218722" y="474039"/>
                </a:cubicBezTo>
                <a:lnTo>
                  <a:pt x="214481" y="461437"/>
                </a:lnTo>
                <a:lnTo>
                  <a:pt x="210639" y="463470"/>
                </a:lnTo>
                <a:cubicBezTo>
                  <a:pt x="189337" y="469906"/>
                  <a:pt x="162904" y="469580"/>
                  <a:pt x="136389" y="460964"/>
                </a:cubicBezTo>
                <a:cubicBezTo>
                  <a:pt x="83359" y="443734"/>
                  <a:pt x="50082" y="399874"/>
                  <a:pt x="62063" y="363002"/>
                </a:cubicBezTo>
                <a:lnTo>
                  <a:pt x="69375" y="352240"/>
                </a:lnTo>
                <a:lnTo>
                  <a:pt x="50708" y="349013"/>
                </a:lnTo>
                <a:cubicBezTo>
                  <a:pt x="20909" y="338219"/>
                  <a:pt x="0" y="312950"/>
                  <a:pt x="0" y="283500"/>
                </a:cubicBezTo>
                <a:cubicBezTo>
                  <a:pt x="0" y="263867"/>
                  <a:pt x="9293" y="246092"/>
                  <a:pt x="24318" y="233225"/>
                </a:cubicBezTo>
                <a:lnTo>
                  <a:pt x="40995" y="223596"/>
                </a:lnTo>
                <a:lnTo>
                  <a:pt x="36228" y="202964"/>
                </a:lnTo>
                <a:cubicBezTo>
                  <a:pt x="37945" y="172538"/>
                  <a:pt x="63237" y="136716"/>
                  <a:pt x="103327" y="112627"/>
                </a:cubicBezTo>
                <a:cubicBezTo>
                  <a:pt x="116691" y="104597"/>
                  <a:pt x="130433" y="98632"/>
                  <a:pt x="143842" y="94719"/>
                </a:cubicBezTo>
                <a:lnTo>
                  <a:pt x="174866" y="90216"/>
                </a:lnTo>
                <a:lnTo>
                  <a:pt x="167380" y="72900"/>
                </a:lnTo>
                <a:cubicBezTo>
                  <a:pt x="167380" y="32638"/>
                  <a:pt x="237263" y="0"/>
                  <a:pt x="323469" y="0"/>
                </a:cubicBezTo>
                <a:close/>
              </a:path>
            </a:pathLst>
          </a:custGeom>
          <a:solidFill>
            <a:srgbClr val="F2F2F2"/>
          </a:solidFill>
          <a:ln>
            <a:noFill/>
          </a:ln>
        </p:spPr>
        <p:txBody>
          <a:bodyPr wrap="square" anchor="ctr">
            <a:noAutofit/>
          </a:bodyPr>
          <a:lstStyle/>
          <a:p>
            <a:pPr algn="ctr" eaLnBrk="0" hangingPunct="0">
              <a:defRPr/>
            </a:pPr>
            <a:r>
              <a:rPr lang="zh-CN" altLang="en-US" sz="1200" dirty="0">
                <a:solidFill>
                  <a:sysClr val="windowText" lastClr="000000"/>
                </a:solidFill>
              </a:rPr>
              <a:t>校园网</a:t>
            </a:r>
          </a:p>
        </p:txBody>
      </p:sp>
      <p:sp>
        <p:nvSpPr>
          <p:cNvPr id="104" name="任意多边形: 形状 103">
            <a:extLst>
              <a:ext uri="{FF2B5EF4-FFF2-40B4-BE49-F238E27FC236}">
                <a16:creationId xmlns:a16="http://schemas.microsoft.com/office/drawing/2014/main" id="{424BC5E1-61F2-6490-53A6-BA105D9DF5FA}"/>
              </a:ext>
            </a:extLst>
          </p:cNvPr>
          <p:cNvSpPr>
            <a:spLocks noChangeArrowheads="1"/>
          </p:cNvSpPr>
          <p:nvPr/>
        </p:nvSpPr>
        <p:spPr bwMode="auto">
          <a:xfrm>
            <a:off x="7945359" y="3496285"/>
            <a:ext cx="716448" cy="540000"/>
          </a:xfrm>
          <a:custGeom>
            <a:avLst/>
            <a:gdLst>
              <a:gd name="csX0" fmla="*/ 323469 w 716448"/>
              <a:gd name="csY0" fmla="*/ 0 h 540000"/>
              <a:gd name="csX1" fmla="*/ 467292 w 716448"/>
              <a:gd name="csY1" fmla="*/ 44524 h 540000"/>
              <a:gd name="csX2" fmla="*/ 470473 w 716448"/>
              <a:gd name="csY2" fmla="*/ 51883 h 540000"/>
              <a:gd name="csX3" fmla="*/ 474754 w 716448"/>
              <a:gd name="csY3" fmla="*/ 49901 h 540000"/>
              <a:gd name="csX4" fmla="*/ 551389 w 716448"/>
              <a:gd name="csY4" fmla="*/ 52424 h 540000"/>
              <a:gd name="csX5" fmla="*/ 638025 w 716448"/>
              <a:gd name="csY5" fmla="*/ 137134 h 540000"/>
              <a:gd name="csX6" fmla="*/ 624025 w 716448"/>
              <a:gd name="csY6" fmla="*/ 157319 h 540000"/>
              <a:gd name="csX7" fmla="*/ 600657 w 716448"/>
              <a:gd name="csY7" fmla="*/ 168134 h 540000"/>
              <a:gd name="csX8" fmla="*/ 622990 w 716448"/>
              <a:gd name="csY8" fmla="*/ 167351 h 540000"/>
              <a:gd name="csX9" fmla="*/ 657627 w 716448"/>
              <a:gd name="csY9" fmla="*/ 177493 h 540000"/>
              <a:gd name="csX10" fmla="*/ 711413 w 716448"/>
              <a:gd name="csY10" fmla="*/ 279038 h 540000"/>
              <a:gd name="csX11" fmla="*/ 666372 w 716448"/>
              <a:gd name="csY11" fmla="*/ 312103 h 540000"/>
              <a:gd name="csX12" fmla="*/ 652586 w 716448"/>
              <a:gd name="csY12" fmla="*/ 312587 h 540000"/>
              <a:gd name="csX13" fmla="*/ 666310 w 716448"/>
              <a:gd name="csY13" fmla="*/ 318315 h 540000"/>
              <a:gd name="csX14" fmla="*/ 688781 w 716448"/>
              <a:gd name="csY14" fmla="*/ 344383 h 540000"/>
              <a:gd name="csX15" fmla="*/ 625968 w 716448"/>
              <a:gd name="csY15" fmla="*/ 470147 h 540000"/>
              <a:gd name="csX16" fmla="*/ 544071 w 716448"/>
              <a:gd name="csY16" fmla="*/ 482228 h 540000"/>
              <a:gd name="csX17" fmla="*/ 542136 w 716448"/>
              <a:gd name="csY17" fmla="*/ 481420 h 540000"/>
              <a:gd name="csX18" fmla="*/ 511855 w 716448"/>
              <a:gd name="csY18" fmla="*/ 508368 h 540000"/>
              <a:gd name="csX19" fmla="*/ 384576 w 716448"/>
              <a:gd name="csY19" fmla="*/ 540000 h 540000"/>
              <a:gd name="csX20" fmla="*/ 218722 w 716448"/>
              <a:gd name="csY20" fmla="*/ 474039 h 540000"/>
              <a:gd name="csX21" fmla="*/ 214481 w 716448"/>
              <a:gd name="csY21" fmla="*/ 461437 h 540000"/>
              <a:gd name="csX22" fmla="*/ 210639 w 716448"/>
              <a:gd name="csY22" fmla="*/ 463470 h 540000"/>
              <a:gd name="csX23" fmla="*/ 136389 w 716448"/>
              <a:gd name="csY23" fmla="*/ 460964 h 540000"/>
              <a:gd name="csX24" fmla="*/ 62063 w 716448"/>
              <a:gd name="csY24" fmla="*/ 363002 h 540000"/>
              <a:gd name="csX25" fmla="*/ 69375 w 716448"/>
              <a:gd name="csY25" fmla="*/ 352240 h 540000"/>
              <a:gd name="csX26" fmla="*/ 50708 w 716448"/>
              <a:gd name="csY26" fmla="*/ 349013 h 540000"/>
              <a:gd name="csX27" fmla="*/ 0 w 716448"/>
              <a:gd name="csY27" fmla="*/ 283500 h 540000"/>
              <a:gd name="csX28" fmla="*/ 24318 w 716448"/>
              <a:gd name="csY28" fmla="*/ 233225 h 540000"/>
              <a:gd name="csX29" fmla="*/ 40995 w 716448"/>
              <a:gd name="csY29" fmla="*/ 223596 h 540000"/>
              <a:gd name="csX30" fmla="*/ 36228 w 716448"/>
              <a:gd name="csY30" fmla="*/ 202964 h 540000"/>
              <a:gd name="csX31" fmla="*/ 103327 w 716448"/>
              <a:gd name="csY31" fmla="*/ 112627 h 540000"/>
              <a:gd name="csX32" fmla="*/ 143842 w 716448"/>
              <a:gd name="csY32" fmla="*/ 94719 h 540000"/>
              <a:gd name="csX33" fmla="*/ 174866 w 716448"/>
              <a:gd name="csY33" fmla="*/ 90216 h 540000"/>
              <a:gd name="csX34" fmla="*/ 167380 w 716448"/>
              <a:gd name="csY34" fmla="*/ 72900 h 540000"/>
              <a:gd name="csX35" fmla="*/ 323469 w 716448"/>
              <a:gd name="csY35" fmla="*/ 0 h 54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716448" h="540000">
                <a:moveTo>
                  <a:pt x="323469" y="0"/>
                </a:moveTo>
                <a:cubicBezTo>
                  <a:pt x="388124" y="0"/>
                  <a:pt x="443597" y="18359"/>
                  <a:pt x="467292" y="44524"/>
                </a:cubicBezTo>
                <a:lnTo>
                  <a:pt x="470473" y="51883"/>
                </a:lnTo>
                <a:lnTo>
                  <a:pt x="474754" y="49901"/>
                </a:lnTo>
                <a:cubicBezTo>
                  <a:pt x="495997" y="44465"/>
                  <a:pt x="523220" y="44876"/>
                  <a:pt x="551389" y="52424"/>
                </a:cubicBezTo>
                <a:cubicBezTo>
                  <a:pt x="607727" y="67520"/>
                  <a:pt x="646516" y="105446"/>
                  <a:pt x="638025" y="137134"/>
                </a:cubicBezTo>
                <a:cubicBezTo>
                  <a:pt x="635903" y="145056"/>
                  <a:pt x="631026" y="151838"/>
                  <a:pt x="624025" y="157319"/>
                </a:cubicBezTo>
                <a:lnTo>
                  <a:pt x="600657" y="168134"/>
                </a:lnTo>
                <a:lnTo>
                  <a:pt x="622990" y="167351"/>
                </a:lnTo>
                <a:cubicBezTo>
                  <a:pt x="634410" y="168807"/>
                  <a:pt x="646157" y="172145"/>
                  <a:pt x="657627" y="177493"/>
                </a:cubicBezTo>
                <a:cubicBezTo>
                  <a:pt x="703507" y="198887"/>
                  <a:pt x="727588" y="244351"/>
                  <a:pt x="711413" y="279038"/>
                </a:cubicBezTo>
                <a:cubicBezTo>
                  <a:pt x="703326" y="296381"/>
                  <a:pt x="686706" y="307747"/>
                  <a:pt x="666372" y="312103"/>
                </a:cubicBezTo>
                <a:lnTo>
                  <a:pt x="652586" y="312587"/>
                </a:lnTo>
                <a:lnTo>
                  <a:pt x="666310" y="318315"/>
                </a:lnTo>
                <a:cubicBezTo>
                  <a:pt x="675869" y="325034"/>
                  <a:pt x="683606" y="333773"/>
                  <a:pt x="688781" y="344383"/>
                </a:cubicBezTo>
                <a:cubicBezTo>
                  <a:pt x="709481" y="386824"/>
                  <a:pt x="681359" y="443131"/>
                  <a:pt x="625968" y="470147"/>
                </a:cubicBezTo>
                <a:cubicBezTo>
                  <a:pt x="598273" y="483655"/>
                  <a:pt x="569004" y="487282"/>
                  <a:pt x="544071" y="482228"/>
                </a:cubicBezTo>
                <a:lnTo>
                  <a:pt x="542136" y="481420"/>
                </a:lnTo>
                <a:lnTo>
                  <a:pt x="511855" y="508368"/>
                </a:lnTo>
                <a:cubicBezTo>
                  <a:pt x="479282" y="527912"/>
                  <a:pt x="434282" y="540000"/>
                  <a:pt x="384576" y="540000"/>
                </a:cubicBezTo>
                <a:cubicBezTo>
                  <a:pt x="310018" y="540000"/>
                  <a:pt x="246047" y="512802"/>
                  <a:pt x="218722" y="474039"/>
                </a:cubicBezTo>
                <a:lnTo>
                  <a:pt x="214481" y="461437"/>
                </a:lnTo>
                <a:lnTo>
                  <a:pt x="210639" y="463470"/>
                </a:lnTo>
                <a:cubicBezTo>
                  <a:pt x="189337" y="469906"/>
                  <a:pt x="162904" y="469580"/>
                  <a:pt x="136389" y="460964"/>
                </a:cubicBezTo>
                <a:cubicBezTo>
                  <a:pt x="83359" y="443734"/>
                  <a:pt x="50082" y="399874"/>
                  <a:pt x="62063" y="363002"/>
                </a:cubicBezTo>
                <a:lnTo>
                  <a:pt x="69375" y="352240"/>
                </a:lnTo>
                <a:lnTo>
                  <a:pt x="50708" y="349013"/>
                </a:lnTo>
                <a:cubicBezTo>
                  <a:pt x="20909" y="338219"/>
                  <a:pt x="0" y="312950"/>
                  <a:pt x="0" y="283500"/>
                </a:cubicBezTo>
                <a:cubicBezTo>
                  <a:pt x="0" y="263867"/>
                  <a:pt x="9293" y="246092"/>
                  <a:pt x="24318" y="233225"/>
                </a:cubicBezTo>
                <a:lnTo>
                  <a:pt x="40995" y="223596"/>
                </a:lnTo>
                <a:lnTo>
                  <a:pt x="36228" y="202964"/>
                </a:lnTo>
                <a:cubicBezTo>
                  <a:pt x="37945" y="172538"/>
                  <a:pt x="63237" y="136716"/>
                  <a:pt x="103327" y="112627"/>
                </a:cubicBezTo>
                <a:cubicBezTo>
                  <a:pt x="116691" y="104597"/>
                  <a:pt x="130433" y="98632"/>
                  <a:pt x="143842" y="94719"/>
                </a:cubicBezTo>
                <a:lnTo>
                  <a:pt x="174866" y="90216"/>
                </a:lnTo>
                <a:lnTo>
                  <a:pt x="167380" y="72900"/>
                </a:lnTo>
                <a:cubicBezTo>
                  <a:pt x="167380" y="32638"/>
                  <a:pt x="237263" y="0"/>
                  <a:pt x="323469" y="0"/>
                </a:cubicBezTo>
                <a:close/>
              </a:path>
            </a:pathLst>
          </a:custGeom>
          <a:solidFill>
            <a:srgbClr val="F2F2F2"/>
          </a:solidFill>
          <a:ln>
            <a:noFill/>
          </a:ln>
        </p:spPr>
        <p:txBody>
          <a:bodyPr wrap="square" anchor="ctr">
            <a:noAutofit/>
          </a:bodyPr>
          <a:lstStyle/>
          <a:p>
            <a:pPr algn="ctr" eaLnBrk="0" hangingPunct="0">
              <a:defRPr/>
            </a:pPr>
            <a:r>
              <a:rPr lang="zh-CN" altLang="en-US" sz="1200" dirty="0">
                <a:solidFill>
                  <a:sysClr val="windowText" lastClr="000000"/>
                </a:solidFill>
              </a:rPr>
              <a:t>校园网</a:t>
            </a:r>
          </a:p>
        </p:txBody>
      </p:sp>
      <p:sp>
        <p:nvSpPr>
          <p:cNvPr id="106" name="任意多边形: 形状 105">
            <a:extLst>
              <a:ext uri="{FF2B5EF4-FFF2-40B4-BE49-F238E27FC236}">
                <a16:creationId xmlns:a16="http://schemas.microsoft.com/office/drawing/2014/main" id="{3222ECC5-5366-777C-7752-0CEB7200F6AA}"/>
              </a:ext>
            </a:extLst>
          </p:cNvPr>
          <p:cNvSpPr>
            <a:spLocks noChangeArrowheads="1"/>
          </p:cNvSpPr>
          <p:nvPr/>
        </p:nvSpPr>
        <p:spPr bwMode="auto">
          <a:xfrm>
            <a:off x="3946087" y="3472315"/>
            <a:ext cx="716448" cy="540000"/>
          </a:xfrm>
          <a:custGeom>
            <a:avLst/>
            <a:gdLst>
              <a:gd name="csX0" fmla="*/ 323469 w 716448"/>
              <a:gd name="csY0" fmla="*/ 0 h 540000"/>
              <a:gd name="csX1" fmla="*/ 467292 w 716448"/>
              <a:gd name="csY1" fmla="*/ 44524 h 540000"/>
              <a:gd name="csX2" fmla="*/ 470473 w 716448"/>
              <a:gd name="csY2" fmla="*/ 51883 h 540000"/>
              <a:gd name="csX3" fmla="*/ 474754 w 716448"/>
              <a:gd name="csY3" fmla="*/ 49901 h 540000"/>
              <a:gd name="csX4" fmla="*/ 551389 w 716448"/>
              <a:gd name="csY4" fmla="*/ 52424 h 540000"/>
              <a:gd name="csX5" fmla="*/ 638025 w 716448"/>
              <a:gd name="csY5" fmla="*/ 137134 h 540000"/>
              <a:gd name="csX6" fmla="*/ 624025 w 716448"/>
              <a:gd name="csY6" fmla="*/ 157319 h 540000"/>
              <a:gd name="csX7" fmla="*/ 600657 w 716448"/>
              <a:gd name="csY7" fmla="*/ 168134 h 540000"/>
              <a:gd name="csX8" fmla="*/ 622990 w 716448"/>
              <a:gd name="csY8" fmla="*/ 167351 h 540000"/>
              <a:gd name="csX9" fmla="*/ 657627 w 716448"/>
              <a:gd name="csY9" fmla="*/ 177493 h 540000"/>
              <a:gd name="csX10" fmla="*/ 711413 w 716448"/>
              <a:gd name="csY10" fmla="*/ 279038 h 540000"/>
              <a:gd name="csX11" fmla="*/ 666372 w 716448"/>
              <a:gd name="csY11" fmla="*/ 312103 h 540000"/>
              <a:gd name="csX12" fmla="*/ 652586 w 716448"/>
              <a:gd name="csY12" fmla="*/ 312587 h 540000"/>
              <a:gd name="csX13" fmla="*/ 666310 w 716448"/>
              <a:gd name="csY13" fmla="*/ 318315 h 540000"/>
              <a:gd name="csX14" fmla="*/ 688781 w 716448"/>
              <a:gd name="csY14" fmla="*/ 344383 h 540000"/>
              <a:gd name="csX15" fmla="*/ 625968 w 716448"/>
              <a:gd name="csY15" fmla="*/ 470147 h 540000"/>
              <a:gd name="csX16" fmla="*/ 544071 w 716448"/>
              <a:gd name="csY16" fmla="*/ 482228 h 540000"/>
              <a:gd name="csX17" fmla="*/ 542136 w 716448"/>
              <a:gd name="csY17" fmla="*/ 481420 h 540000"/>
              <a:gd name="csX18" fmla="*/ 511855 w 716448"/>
              <a:gd name="csY18" fmla="*/ 508368 h 540000"/>
              <a:gd name="csX19" fmla="*/ 384576 w 716448"/>
              <a:gd name="csY19" fmla="*/ 540000 h 540000"/>
              <a:gd name="csX20" fmla="*/ 218722 w 716448"/>
              <a:gd name="csY20" fmla="*/ 474039 h 540000"/>
              <a:gd name="csX21" fmla="*/ 214481 w 716448"/>
              <a:gd name="csY21" fmla="*/ 461437 h 540000"/>
              <a:gd name="csX22" fmla="*/ 210639 w 716448"/>
              <a:gd name="csY22" fmla="*/ 463470 h 540000"/>
              <a:gd name="csX23" fmla="*/ 136389 w 716448"/>
              <a:gd name="csY23" fmla="*/ 460964 h 540000"/>
              <a:gd name="csX24" fmla="*/ 62063 w 716448"/>
              <a:gd name="csY24" fmla="*/ 363002 h 540000"/>
              <a:gd name="csX25" fmla="*/ 69375 w 716448"/>
              <a:gd name="csY25" fmla="*/ 352240 h 540000"/>
              <a:gd name="csX26" fmla="*/ 50708 w 716448"/>
              <a:gd name="csY26" fmla="*/ 349013 h 540000"/>
              <a:gd name="csX27" fmla="*/ 0 w 716448"/>
              <a:gd name="csY27" fmla="*/ 283500 h 540000"/>
              <a:gd name="csX28" fmla="*/ 24318 w 716448"/>
              <a:gd name="csY28" fmla="*/ 233225 h 540000"/>
              <a:gd name="csX29" fmla="*/ 40995 w 716448"/>
              <a:gd name="csY29" fmla="*/ 223596 h 540000"/>
              <a:gd name="csX30" fmla="*/ 36228 w 716448"/>
              <a:gd name="csY30" fmla="*/ 202964 h 540000"/>
              <a:gd name="csX31" fmla="*/ 103327 w 716448"/>
              <a:gd name="csY31" fmla="*/ 112627 h 540000"/>
              <a:gd name="csX32" fmla="*/ 143842 w 716448"/>
              <a:gd name="csY32" fmla="*/ 94719 h 540000"/>
              <a:gd name="csX33" fmla="*/ 174866 w 716448"/>
              <a:gd name="csY33" fmla="*/ 90216 h 540000"/>
              <a:gd name="csX34" fmla="*/ 167380 w 716448"/>
              <a:gd name="csY34" fmla="*/ 72900 h 540000"/>
              <a:gd name="csX35" fmla="*/ 323469 w 716448"/>
              <a:gd name="csY35" fmla="*/ 0 h 54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716448" h="540000">
                <a:moveTo>
                  <a:pt x="323469" y="0"/>
                </a:moveTo>
                <a:cubicBezTo>
                  <a:pt x="388124" y="0"/>
                  <a:pt x="443597" y="18359"/>
                  <a:pt x="467292" y="44524"/>
                </a:cubicBezTo>
                <a:lnTo>
                  <a:pt x="470473" y="51883"/>
                </a:lnTo>
                <a:lnTo>
                  <a:pt x="474754" y="49901"/>
                </a:lnTo>
                <a:cubicBezTo>
                  <a:pt x="495997" y="44465"/>
                  <a:pt x="523220" y="44876"/>
                  <a:pt x="551389" y="52424"/>
                </a:cubicBezTo>
                <a:cubicBezTo>
                  <a:pt x="607727" y="67520"/>
                  <a:pt x="646516" y="105446"/>
                  <a:pt x="638025" y="137134"/>
                </a:cubicBezTo>
                <a:cubicBezTo>
                  <a:pt x="635903" y="145056"/>
                  <a:pt x="631026" y="151838"/>
                  <a:pt x="624025" y="157319"/>
                </a:cubicBezTo>
                <a:lnTo>
                  <a:pt x="600657" y="168134"/>
                </a:lnTo>
                <a:lnTo>
                  <a:pt x="622990" y="167351"/>
                </a:lnTo>
                <a:cubicBezTo>
                  <a:pt x="634410" y="168807"/>
                  <a:pt x="646157" y="172145"/>
                  <a:pt x="657627" y="177493"/>
                </a:cubicBezTo>
                <a:cubicBezTo>
                  <a:pt x="703507" y="198887"/>
                  <a:pt x="727588" y="244351"/>
                  <a:pt x="711413" y="279038"/>
                </a:cubicBezTo>
                <a:cubicBezTo>
                  <a:pt x="703326" y="296381"/>
                  <a:pt x="686706" y="307747"/>
                  <a:pt x="666372" y="312103"/>
                </a:cubicBezTo>
                <a:lnTo>
                  <a:pt x="652586" y="312587"/>
                </a:lnTo>
                <a:lnTo>
                  <a:pt x="666310" y="318315"/>
                </a:lnTo>
                <a:cubicBezTo>
                  <a:pt x="675869" y="325034"/>
                  <a:pt x="683606" y="333773"/>
                  <a:pt x="688781" y="344383"/>
                </a:cubicBezTo>
                <a:cubicBezTo>
                  <a:pt x="709481" y="386824"/>
                  <a:pt x="681359" y="443131"/>
                  <a:pt x="625968" y="470147"/>
                </a:cubicBezTo>
                <a:cubicBezTo>
                  <a:pt x="598273" y="483655"/>
                  <a:pt x="569004" y="487282"/>
                  <a:pt x="544071" y="482228"/>
                </a:cubicBezTo>
                <a:lnTo>
                  <a:pt x="542136" y="481420"/>
                </a:lnTo>
                <a:lnTo>
                  <a:pt x="511855" y="508368"/>
                </a:lnTo>
                <a:cubicBezTo>
                  <a:pt x="479282" y="527912"/>
                  <a:pt x="434282" y="540000"/>
                  <a:pt x="384576" y="540000"/>
                </a:cubicBezTo>
                <a:cubicBezTo>
                  <a:pt x="310018" y="540000"/>
                  <a:pt x="246047" y="512802"/>
                  <a:pt x="218722" y="474039"/>
                </a:cubicBezTo>
                <a:lnTo>
                  <a:pt x="214481" y="461437"/>
                </a:lnTo>
                <a:lnTo>
                  <a:pt x="210639" y="463470"/>
                </a:lnTo>
                <a:cubicBezTo>
                  <a:pt x="189337" y="469906"/>
                  <a:pt x="162904" y="469580"/>
                  <a:pt x="136389" y="460964"/>
                </a:cubicBezTo>
                <a:cubicBezTo>
                  <a:pt x="83359" y="443734"/>
                  <a:pt x="50082" y="399874"/>
                  <a:pt x="62063" y="363002"/>
                </a:cubicBezTo>
                <a:lnTo>
                  <a:pt x="69375" y="352240"/>
                </a:lnTo>
                <a:lnTo>
                  <a:pt x="50708" y="349013"/>
                </a:lnTo>
                <a:cubicBezTo>
                  <a:pt x="20909" y="338219"/>
                  <a:pt x="0" y="312950"/>
                  <a:pt x="0" y="283500"/>
                </a:cubicBezTo>
                <a:cubicBezTo>
                  <a:pt x="0" y="263867"/>
                  <a:pt x="9293" y="246092"/>
                  <a:pt x="24318" y="233225"/>
                </a:cubicBezTo>
                <a:lnTo>
                  <a:pt x="40995" y="223596"/>
                </a:lnTo>
                <a:lnTo>
                  <a:pt x="36228" y="202964"/>
                </a:lnTo>
                <a:cubicBezTo>
                  <a:pt x="37945" y="172538"/>
                  <a:pt x="63237" y="136716"/>
                  <a:pt x="103327" y="112627"/>
                </a:cubicBezTo>
                <a:cubicBezTo>
                  <a:pt x="116691" y="104597"/>
                  <a:pt x="130433" y="98632"/>
                  <a:pt x="143842" y="94719"/>
                </a:cubicBezTo>
                <a:lnTo>
                  <a:pt x="174866" y="90216"/>
                </a:lnTo>
                <a:lnTo>
                  <a:pt x="167380" y="72900"/>
                </a:lnTo>
                <a:cubicBezTo>
                  <a:pt x="167380" y="32638"/>
                  <a:pt x="237263" y="0"/>
                  <a:pt x="323469" y="0"/>
                </a:cubicBezTo>
                <a:close/>
              </a:path>
            </a:pathLst>
          </a:custGeom>
          <a:solidFill>
            <a:srgbClr val="F2F2F2"/>
          </a:solidFill>
          <a:ln>
            <a:noFill/>
          </a:ln>
        </p:spPr>
        <p:txBody>
          <a:bodyPr wrap="square" anchor="ctr">
            <a:noAutofit/>
          </a:bodyPr>
          <a:lstStyle/>
          <a:p>
            <a:pPr algn="ctr" eaLnBrk="0" hangingPunct="0">
              <a:defRPr/>
            </a:pPr>
            <a:r>
              <a:rPr lang="zh-CN" altLang="en-US" sz="1200" dirty="0">
                <a:solidFill>
                  <a:sysClr val="windowText" lastClr="000000"/>
                </a:solidFill>
              </a:rPr>
              <a:t>校园网</a:t>
            </a:r>
          </a:p>
        </p:txBody>
      </p:sp>
      <p:sp>
        <p:nvSpPr>
          <p:cNvPr id="108" name="任意多边形: 形状 107">
            <a:extLst>
              <a:ext uri="{FF2B5EF4-FFF2-40B4-BE49-F238E27FC236}">
                <a16:creationId xmlns:a16="http://schemas.microsoft.com/office/drawing/2014/main" id="{254196E5-0109-915B-B4DB-6C3FA80B1DCF}"/>
              </a:ext>
            </a:extLst>
          </p:cNvPr>
          <p:cNvSpPr>
            <a:spLocks noChangeArrowheads="1"/>
          </p:cNvSpPr>
          <p:nvPr/>
        </p:nvSpPr>
        <p:spPr bwMode="auto">
          <a:xfrm>
            <a:off x="7255868" y="2370113"/>
            <a:ext cx="716448" cy="540000"/>
          </a:xfrm>
          <a:custGeom>
            <a:avLst/>
            <a:gdLst>
              <a:gd name="csX0" fmla="*/ 323469 w 716448"/>
              <a:gd name="csY0" fmla="*/ 0 h 540000"/>
              <a:gd name="csX1" fmla="*/ 467292 w 716448"/>
              <a:gd name="csY1" fmla="*/ 44524 h 540000"/>
              <a:gd name="csX2" fmla="*/ 470473 w 716448"/>
              <a:gd name="csY2" fmla="*/ 51883 h 540000"/>
              <a:gd name="csX3" fmla="*/ 474754 w 716448"/>
              <a:gd name="csY3" fmla="*/ 49901 h 540000"/>
              <a:gd name="csX4" fmla="*/ 551389 w 716448"/>
              <a:gd name="csY4" fmla="*/ 52424 h 540000"/>
              <a:gd name="csX5" fmla="*/ 638025 w 716448"/>
              <a:gd name="csY5" fmla="*/ 137134 h 540000"/>
              <a:gd name="csX6" fmla="*/ 624025 w 716448"/>
              <a:gd name="csY6" fmla="*/ 157319 h 540000"/>
              <a:gd name="csX7" fmla="*/ 600657 w 716448"/>
              <a:gd name="csY7" fmla="*/ 168134 h 540000"/>
              <a:gd name="csX8" fmla="*/ 622990 w 716448"/>
              <a:gd name="csY8" fmla="*/ 167351 h 540000"/>
              <a:gd name="csX9" fmla="*/ 657627 w 716448"/>
              <a:gd name="csY9" fmla="*/ 177493 h 540000"/>
              <a:gd name="csX10" fmla="*/ 711413 w 716448"/>
              <a:gd name="csY10" fmla="*/ 279038 h 540000"/>
              <a:gd name="csX11" fmla="*/ 666372 w 716448"/>
              <a:gd name="csY11" fmla="*/ 312103 h 540000"/>
              <a:gd name="csX12" fmla="*/ 652586 w 716448"/>
              <a:gd name="csY12" fmla="*/ 312587 h 540000"/>
              <a:gd name="csX13" fmla="*/ 666310 w 716448"/>
              <a:gd name="csY13" fmla="*/ 318315 h 540000"/>
              <a:gd name="csX14" fmla="*/ 688781 w 716448"/>
              <a:gd name="csY14" fmla="*/ 344383 h 540000"/>
              <a:gd name="csX15" fmla="*/ 625968 w 716448"/>
              <a:gd name="csY15" fmla="*/ 470147 h 540000"/>
              <a:gd name="csX16" fmla="*/ 544071 w 716448"/>
              <a:gd name="csY16" fmla="*/ 482228 h 540000"/>
              <a:gd name="csX17" fmla="*/ 542136 w 716448"/>
              <a:gd name="csY17" fmla="*/ 481420 h 540000"/>
              <a:gd name="csX18" fmla="*/ 511855 w 716448"/>
              <a:gd name="csY18" fmla="*/ 508368 h 540000"/>
              <a:gd name="csX19" fmla="*/ 384576 w 716448"/>
              <a:gd name="csY19" fmla="*/ 540000 h 540000"/>
              <a:gd name="csX20" fmla="*/ 218722 w 716448"/>
              <a:gd name="csY20" fmla="*/ 474039 h 540000"/>
              <a:gd name="csX21" fmla="*/ 214481 w 716448"/>
              <a:gd name="csY21" fmla="*/ 461437 h 540000"/>
              <a:gd name="csX22" fmla="*/ 210639 w 716448"/>
              <a:gd name="csY22" fmla="*/ 463470 h 540000"/>
              <a:gd name="csX23" fmla="*/ 136389 w 716448"/>
              <a:gd name="csY23" fmla="*/ 460964 h 540000"/>
              <a:gd name="csX24" fmla="*/ 62063 w 716448"/>
              <a:gd name="csY24" fmla="*/ 363002 h 540000"/>
              <a:gd name="csX25" fmla="*/ 69375 w 716448"/>
              <a:gd name="csY25" fmla="*/ 352240 h 540000"/>
              <a:gd name="csX26" fmla="*/ 50708 w 716448"/>
              <a:gd name="csY26" fmla="*/ 349013 h 540000"/>
              <a:gd name="csX27" fmla="*/ 0 w 716448"/>
              <a:gd name="csY27" fmla="*/ 283500 h 540000"/>
              <a:gd name="csX28" fmla="*/ 24318 w 716448"/>
              <a:gd name="csY28" fmla="*/ 233225 h 540000"/>
              <a:gd name="csX29" fmla="*/ 40995 w 716448"/>
              <a:gd name="csY29" fmla="*/ 223596 h 540000"/>
              <a:gd name="csX30" fmla="*/ 36228 w 716448"/>
              <a:gd name="csY30" fmla="*/ 202964 h 540000"/>
              <a:gd name="csX31" fmla="*/ 103327 w 716448"/>
              <a:gd name="csY31" fmla="*/ 112627 h 540000"/>
              <a:gd name="csX32" fmla="*/ 143842 w 716448"/>
              <a:gd name="csY32" fmla="*/ 94719 h 540000"/>
              <a:gd name="csX33" fmla="*/ 174866 w 716448"/>
              <a:gd name="csY33" fmla="*/ 90216 h 540000"/>
              <a:gd name="csX34" fmla="*/ 167380 w 716448"/>
              <a:gd name="csY34" fmla="*/ 72900 h 540000"/>
              <a:gd name="csX35" fmla="*/ 323469 w 716448"/>
              <a:gd name="csY35" fmla="*/ 0 h 54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716448" h="540000">
                <a:moveTo>
                  <a:pt x="323469" y="0"/>
                </a:moveTo>
                <a:cubicBezTo>
                  <a:pt x="388124" y="0"/>
                  <a:pt x="443597" y="18359"/>
                  <a:pt x="467292" y="44524"/>
                </a:cubicBezTo>
                <a:lnTo>
                  <a:pt x="470473" y="51883"/>
                </a:lnTo>
                <a:lnTo>
                  <a:pt x="474754" y="49901"/>
                </a:lnTo>
                <a:cubicBezTo>
                  <a:pt x="495997" y="44465"/>
                  <a:pt x="523220" y="44876"/>
                  <a:pt x="551389" y="52424"/>
                </a:cubicBezTo>
                <a:cubicBezTo>
                  <a:pt x="607727" y="67520"/>
                  <a:pt x="646516" y="105446"/>
                  <a:pt x="638025" y="137134"/>
                </a:cubicBezTo>
                <a:cubicBezTo>
                  <a:pt x="635903" y="145056"/>
                  <a:pt x="631026" y="151838"/>
                  <a:pt x="624025" y="157319"/>
                </a:cubicBezTo>
                <a:lnTo>
                  <a:pt x="600657" y="168134"/>
                </a:lnTo>
                <a:lnTo>
                  <a:pt x="622990" y="167351"/>
                </a:lnTo>
                <a:cubicBezTo>
                  <a:pt x="634410" y="168807"/>
                  <a:pt x="646157" y="172145"/>
                  <a:pt x="657627" y="177493"/>
                </a:cubicBezTo>
                <a:cubicBezTo>
                  <a:pt x="703507" y="198887"/>
                  <a:pt x="727588" y="244351"/>
                  <a:pt x="711413" y="279038"/>
                </a:cubicBezTo>
                <a:cubicBezTo>
                  <a:pt x="703326" y="296381"/>
                  <a:pt x="686706" y="307747"/>
                  <a:pt x="666372" y="312103"/>
                </a:cubicBezTo>
                <a:lnTo>
                  <a:pt x="652586" y="312587"/>
                </a:lnTo>
                <a:lnTo>
                  <a:pt x="666310" y="318315"/>
                </a:lnTo>
                <a:cubicBezTo>
                  <a:pt x="675869" y="325034"/>
                  <a:pt x="683606" y="333773"/>
                  <a:pt x="688781" y="344383"/>
                </a:cubicBezTo>
                <a:cubicBezTo>
                  <a:pt x="709481" y="386824"/>
                  <a:pt x="681359" y="443131"/>
                  <a:pt x="625968" y="470147"/>
                </a:cubicBezTo>
                <a:cubicBezTo>
                  <a:pt x="598273" y="483655"/>
                  <a:pt x="569004" y="487282"/>
                  <a:pt x="544071" y="482228"/>
                </a:cubicBezTo>
                <a:lnTo>
                  <a:pt x="542136" y="481420"/>
                </a:lnTo>
                <a:lnTo>
                  <a:pt x="511855" y="508368"/>
                </a:lnTo>
                <a:cubicBezTo>
                  <a:pt x="479282" y="527912"/>
                  <a:pt x="434282" y="540000"/>
                  <a:pt x="384576" y="540000"/>
                </a:cubicBezTo>
                <a:cubicBezTo>
                  <a:pt x="310018" y="540000"/>
                  <a:pt x="246047" y="512802"/>
                  <a:pt x="218722" y="474039"/>
                </a:cubicBezTo>
                <a:lnTo>
                  <a:pt x="214481" y="461437"/>
                </a:lnTo>
                <a:lnTo>
                  <a:pt x="210639" y="463470"/>
                </a:lnTo>
                <a:cubicBezTo>
                  <a:pt x="189337" y="469906"/>
                  <a:pt x="162904" y="469580"/>
                  <a:pt x="136389" y="460964"/>
                </a:cubicBezTo>
                <a:cubicBezTo>
                  <a:pt x="83359" y="443734"/>
                  <a:pt x="50082" y="399874"/>
                  <a:pt x="62063" y="363002"/>
                </a:cubicBezTo>
                <a:lnTo>
                  <a:pt x="69375" y="352240"/>
                </a:lnTo>
                <a:lnTo>
                  <a:pt x="50708" y="349013"/>
                </a:lnTo>
                <a:cubicBezTo>
                  <a:pt x="20909" y="338219"/>
                  <a:pt x="0" y="312950"/>
                  <a:pt x="0" y="283500"/>
                </a:cubicBezTo>
                <a:cubicBezTo>
                  <a:pt x="0" y="263867"/>
                  <a:pt x="9293" y="246092"/>
                  <a:pt x="24318" y="233225"/>
                </a:cubicBezTo>
                <a:lnTo>
                  <a:pt x="40995" y="223596"/>
                </a:lnTo>
                <a:lnTo>
                  <a:pt x="36228" y="202964"/>
                </a:lnTo>
                <a:cubicBezTo>
                  <a:pt x="37945" y="172538"/>
                  <a:pt x="63237" y="136716"/>
                  <a:pt x="103327" y="112627"/>
                </a:cubicBezTo>
                <a:cubicBezTo>
                  <a:pt x="116691" y="104597"/>
                  <a:pt x="130433" y="98632"/>
                  <a:pt x="143842" y="94719"/>
                </a:cubicBezTo>
                <a:lnTo>
                  <a:pt x="174866" y="90216"/>
                </a:lnTo>
                <a:lnTo>
                  <a:pt x="167380" y="72900"/>
                </a:lnTo>
                <a:cubicBezTo>
                  <a:pt x="167380" y="32638"/>
                  <a:pt x="237263" y="0"/>
                  <a:pt x="323469" y="0"/>
                </a:cubicBezTo>
                <a:close/>
              </a:path>
            </a:pathLst>
          </a:custGeom>
          <a:solidFill>
            <a:srgbClr val="0070C0"/>
          </a:solidFill>
          <a:ln>
            <a:noFill/>
          </a:ln>
          <a:extLst>
            <a:ext uri="{91240B29-F687-4F45-9708-019B960494DF}">
              <a14:hiddenLine xmlns:a14="http://schemas.microsoft.com/office/drawing/2010/main" w="12700">
                <a:solidFill>
                  <a:schemeClr val="tx1"/>
                </a:solidFill>
                <a:round/>
                <a:headEnd/>
                <a:tailEnd/>
              </a14:hiddenLine>
            </a:ext>
          </a:extLst>
        </p:spPr>
        <p:txBody>
          <a:bodyPr wrap="square" anchor="ctr">
            <a:noAutofit/>
          </a:bodyPr>
          <a:lstStyle/>
          <a:p>
            <a:pPr algn="ctr" eaLnBrk="0" hangingPunct="0">
              <a:defRPr/>
            </a:pPr>
            <a:r>
              <a:rPr lang="zh-CN" altLang="en-US" sz="1400" dirty="0">
                <a:solidFill>
                  <a:schemeClr val="bg1"/>
                </a:solidFill>
              </a:rPr>
              <a:t>地区网</a:t>
            </a:r>
          </a:p>
        </p:txBody>
      </p:sp>
      <p:sp>
        <p:nvSpPr>
          <p:cNvPr id="110" name="任意多边形: 形状 109">
            <a:extLst>
              <a:ext uri="{FF2B5EF4-FFF2-40B4-BE49-F238E27FC236}">
                <a16:creationId xmlns:a16="http://schemas.microsoft.com/office/drawing/2014/main" id="{69DEDECE-95D8-B06D-92A4-BF4169A9F807}"/>
              </a:ext>
            </a:extLst>
          </p:cNvPr>
          <p:cNvSpPr>
            <a:spLocks noChangeArrowheads="1"/>
          </p:cNvSpPr>
          <p:nvPr/>
        </p:nvSpPr>
        <p:spPr bwMode="auto">
          <a:xfrm>
            <a:off x="5668962" y="2534525"/>
            <a:ext cx="716448" cy="540000"/>
          </a:xfrm>
          <a:custGeom>
            <a:avLst/>
            <a:gdLst>
              <a:gd name="csX0" fmla="*/ 323469 w 716448"/>
              <a:gd name="csY0" fmla="*/ 0 h 540000"/>
              <a:gd name="csX1" fmla="*/ 467292 w 716448"/>
              <a:gd name="csY1" fmla="*/ 44524 h 540000"/>
              <a:gd name="csX2" fmla="*/ 470473 w 716448"/>
              <a:gd name="csY2" fmla="*/ 51883 h 540000"/>
              <a:gd name="csX3" fmla="*/ 474754 w 716448"/>
              <a:gd name="csY3" fmla="*/ 49901 h 540000"/>
              <a:gd name="csX4" fmla="*/ 551389 w 716448"/>
              <a:gd name="csY4" fmla="*/ 52424 h 540000"/>
              <a:gd name="csX5" fmla="*/ 638025 w 716448"/>
              <a:gd name="csY5" fmla="*/ 137134 h 540000"/>
              <a:gd name="csX6" fmla="*/ 624025 w 716448"/>
              <a:gd name="csY6" fmla="*/ 157319 h 540000"/>
              <a:gd name="csX7" fmla="*/ 600657 w 716448"/>
              <a:gd name="csY7" fmla="*/ 168134 h 540000"/>
              <a:gd name="csX8" fmla="*/ 622990 w 716448"/>
              <a:gd name="csY8" fmla="*/ 167351 h 540000"/>
              <a:gd name="csX9" fmla="*/ 657627 w 716448"/>
              <a:gd name="csY9" fmla="*/ 177493 h 540000"/>
              <a:gd name="csX10" fmla="*/ 711413 w 716448"/>
              <a:gd name="csY10" fmla="*/ 279038 h 540000"/>
              <a:gd name="csX11" fmla="*/ 666372 w 716448"/>
              <a:gd name="csY11" fmla="*/ 312103 h 540000"/>
              <a:gd name="csX12" fmla="*/ 652586 w 716448"/>
              <a:gd name="csY12" fmla="*/ 312587 h 540000"/>
              <a:gd name="csX13" fmla="*/ 666310 w 716448"/>
              <a:gd name="csY13" fmla="*/ 318315 h 540000"/>
              <a:gd name="csX14" fmla="*/ 688781 w 716448"/>
              <a:gd name="csY14" fmla="*/ 344383 h 540000"/>
              <a:gd name="csX15" fmla="*/ 625968 w 716448"/>
              <a:gd name="csY15" fmla="*/ 470147 h 540000"/>
              <a:gd name="csX16" fmla="*/ 544071 w 716448"/>
              <a:gd name="csY16" fmla="*/ 482228 h 540000"/>
              <a:gd name="csX17" fmla="*/ 542136 w 716448"/>
              <a:gd name="csY17" fmla="*/ 481420 h 540000"/>
              <a:gd name="csX18" fmla="*/ 511855 w 716448"/>
              <a:gd name="csY18" fmla="*/ 508368 h 540000"/>
              <a:gd name="csX19" fmla="*/ 384576 w 716448"/>
              <a:gd name="csY19" fmla="*/ 540000 h 540000"/>
              <a:gd name="csX20" fmla="*/ 218722 w 716448"/>
              <a:gd name="csY20" fmla="*/ 474039 h 540000"/>
              <a:gd name="csX21" fmla="*/ 214481 w 716448"/>
              <a:gd name="csY21" fmla="*/ 461437 h 540000"/>
              <a:gd name="csX22" fmla="*/ 210639 w 716448"/>
              <a:gd name="csY22" fmla="*/ 463470 h 540000"/>
              <a:gd name="csX23" fmla="*/ 136389 w 716448"/>
              <a:gd name="csY23" fmla="*/ 460964 h 540000"/>
              <a:gd name="csX24" fmla="*/ 62063 w 716448"/>
              <a:gd name="csY24" fmla="*/ 363002 h 540000"/>
              <a:gd name="csX25" fmla="*/ 69375 w 716448"/>
              <a:gd name="csY25" fmla="*/ 352240 h 540000"/>
              <a:gd name="csX26" fmla="*/ 50708 w 716448"/>
              <a:gd name="csY26" fmla="*/ 349013 h 540000"/>
              <a:gd name="csX27" fmla="*/ 0 w 716448"/>
              <a:gd name="csY27" fmla="*/ 283500 h 540000"/>
              <a:gd name="csX28" fmla="*/ 24318 w 716448"/>
              <a:gd name="csY28" fmla="*/ 233225 h 540000"/>
              <a:gd name="csX29" fmla="*/ 40995 w 716448"/>
              <a:gd name="csY29" fmla="*/ 223596 h 540000"/>
              <a:gd name="csX30" fmla="*/ 36228 w 716448"/>
              <a:gd name="csY30" fmla="*/ 202964 h 540000"/>
              <a:gd name="csX31" fmla="*/ 103327 w 716448"/>
              <a:gd name="csY31" fmla="*/ 112627 h 540000"/>
              <a:gd name="csX32" fmla="*/ 143842 w 716448"/>
              <a:gd name="csY32" fmla="*/ 94719 h 540000"/>
              <a:gd name="csX33" fmla="*/ 174866 w 716448"/>
              <a:gd name="csY33" fmla="*/ 90216 h 540000"/>
              <a:gd name="csX34" fmla="*/ 167380 w 716448"/>
              <a:gd name="csY34" fmla="*/ 72900 h 540000"/>
              <a:gd name="csX35" fmla="*/ 323469 w 716448"/>
              <a:gd name="csY35" fmla="*/ 0 h 54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716448" h="540000">
                <a:moveTo>
                  <a:pt x="323469" y="0"/>
                </a:moveTo>
                <a:cubicBezTo>
                  <a:pt x="388124" y="0"/>
                  <a:pt x="443597" y="18359"/>
                  <a:pt x="467292" y="44524"/>
                </a:cubicBezTo>
                <a:lnTo>
                  <a:pt x="470473" y="51883"/>
                </a:lnTo>
                <a:lnTo>
                  <a:pt x="474754" y="49901"/>
                </a:lnTo>
                <a:cubicBezTo>
                  <a:pt x="495997" y="44465"/>
                  <a:pt x="523220" y="44876"/>
                  <a:pt x="551389" y="52424"/>
                </a:cubicBezTo>
                <a:cubicBezTo>
                  <a:pt x="607727" y="67520"/>
                  <a:pt x="646516" y="105446"/>
                  <a:pt x="638025" y="137134"/>
                </a:cubicBezTo>
                <a:cubicBezTo>
                  <a:pt x="635903" y="145056"/>
                  <a:pt x="631026" y="151838"/>
                  <a:pt x="624025" y="157319"/>
                </a:cubicBezTo>
                <a:lnTo>
                  <a:pt x="600657" y="168134"/>
                </a:lnTo>
                <a:lnTo>
                  <a:pt x="622990" y="167351"/>
                </a:lnTo>
                <a:cubicBezTo>
                  <a:pt x="634410" y="168807"/>
                  <a:pt x="646157" y="172145"/>
                  <a:pt x="657627" y="177493"/>
                </a:cubicBezTo>
                <a:cubicBezTo>
                  <a:pt x="703507" y="198887"/>
                  <a:pt x="727588" y="244351"/>
                  <a:pt x="711413" y="279038"/>
                </a:cubicBezTo>
                <a:cubicBezTo>
                  <a:pt x="703326" y="296381"/>
                  <a:pt x="686706" y="307747"/>
                  <a:pt x="666372" y="312103"/>
                </a:cubicBezTo>
                <a:lnTo>
                  <a:pt x="652586" y="312587"/>
                </a:lnTo>
                <a:lnTo>
                  <a:pt x="666310" y="318315"/>
                </a:lnTo>
                <a:cubicBezTo>
                  <a:pt x="675869" y="325034"/>
                  <a:pt x="683606" y="333773"/>
                  <a:pt x="688781" y="344383"/>
                </a:cubicBezTo>
                <a:cubicBezTo>
                  <a:pt x="709481" y="386824"/>
                  <a:pt x="681359" y="443131"/>
                  <a:pt x="625968" y="470147"/>
                </a:cubicBezTo>
                <a:cubicBezTo>
                  <a:pt x="598273" y="483655"/>
                  <a:pt x="569004" y="487282"/>
                  <a:pt x="544071" y="482228"/>
                </a:cubicBezTo>
                <a:lnTo>
                  <a:pt x="542136" y="481420"/>
                </a:lnTo>
                <a:lnTo>
                  <a:pt x="511855" y="508368"/>
                </a:lnTo>
                <a:cubicBezTo>
                  <a:pt x="479282" y="527912"/>
                  <a:pt x="434282" y="540000"/>
                  <a:pt x="384576" y="540000"/>
                </a:cubicBezTo>
                <a:cubicBezTo>
                  <a:pt x="310018" y="540000"/>
                  <a:pt x="246047" y="512802"/>
                  <a:pt x="218722" y="474039"/>
                </a:cubicBezTo>
                <a:lnTo>
                  <a:pt x="214481" y="461437"/>
                </a:lnTo>
                <a:lnTo>
                  <a:pt x="210639" y="463470"/>
                </a:lnTo>
                <a:cubicBezTo>
                  <a:pt x="189337" y="469906"/>
                  <a:pt x="162904" y="469580"/>
                  <a:pt x="136389" y="460964"/>
                </a:cubicBezTo>
                <a:cubicBezTo>
                  <a:pt x="83359" y="443734"/>
                  <a:pt x="50082" y="399874"/>
                  <a:pt x="62063" y="363002"/>
                </a:cubicBezTo>
                <a:lnTo>
                  <a:pt x="69375" y="352240"/>
                </a:lnTo>
                <a:lnTo>
                  <a:pt x="50708" y="349013"/>
                </a:lnTo>
                <a:cubicBezTo>
                  <a:pt x="20909" y="338219"/>
                  <a:pt x="0" y="312950"/>
                  <a:pt x="0" y="283500"/>
                </a:cubicBezTo>
                <a:cubicBezTo>
                  <a:pt x="0" y="263867"/>
                  <a:pt x="9293" y="246092"/>
                  <a:pt x="24318" y="233225"/>
                </a:cubicBezTo>
                <a:lnTo>
                  <a:pt x="40995" y="223596"/>
                </a:lnTo>
                <a:lnTo>
                  <a:pt x="36228" y="202964"/>
                </a:lnTo>
                <a:cubicBezTo>
                  <a:pt x="37945" y="172538"/>
                  <a:pt x="63237" y="136716"/>
                  <a:pt x="103327" y="112627"/>
                </a:cubicBezTo>
                <a:cubicBezTo>
                  <a:pt x="116691" y="104597"/>
                  <a:pt x="130433" y="98632"/>
                  <a:pt x="143842" y="94719"/>
                </a:cubicBezTo>
                <a:lnTo>
                  <a:pt x="174866" y="90216"/>
                </a:lnTo>
                <a:lnTo>
                  <a:pt x="167380" y="72900"/>
                </a:lnTo>
                <a:cubicBezTo>
                  <a:pt x="167380" y="32638"/>
                  <a:pt x="237263" y="0"/>
                  <a:pt x="323469" y="0"/>
                </a:cubicBezTo>
                <a:close/>
              </a:path>
            </a:pathLst>
          </a:custGeom>
          <a:solidFill>
            <a:srgbClr val="0070C0"/>
          </a:solidFill>
          <a:ln>
            <a:noFill/>
          </a:ln>
          <a:extLst>
            <a:ext uri="{91240B29-F687-4F45-9708-019B960494DF}">
              <a14:hiddenLine xmlns:a14="http://schemas.microsoft.com/office/drawing/2010/main" w="12700">
                <a:solidFill>
                  <a:schemeClr val="tx1"/>
                </a:solidFill>
                <a:round/>
                <a:headEnd/>
                <a:tailEnd/>
              </a14:hiddenLine>
            </a:ext>
          </a:extLst>
        </p:spPr>
        <p:txBody>
          <a:bodyPr wrap="square" anchor="ctr">
            <a:noAutofit/>
          </a:bodyPr>
          <a:lstStyle/>
          <a:p>
            <a:pPr algn="ctr" eaLnBrk="0" hangingPunct="0">
              <a:defRPr/>
            </a:pPr>
            <a:r>
              <a:rPr lang="zh-CN" altLang="en-US" sz="1400" dirty="0">
                <a:solidFill>
                  <a:schemeClr val="bg1"/>
                </a:solidFill>
              </a:rPr>
              <a:t>地区网</a:t>
            </a:r>
          </a:p>
        </p:txBody>
      </p:sp>
      <p:sp>
        <p:nvSpPr>
          <p:cNvPr id="112" name="任意多边形: 形状 111">
            <a:extLst>
              <a:ext uri="{FF2B5EF4-FFF2-40B4-BE49-F238E27FC236}">
                <a16:creationId xmlns:a16="http://schemas.microsoft.com/office/drawing/2014/main" id="{76EF31F4-3FF3-A7EC-2062-7B9BDA8B2D51}"/>
              </a:ext>
            </a:extLst>
          </p:cNvPr>
          <p:cNvSpPr>
            <a:spLocks noChangeArrowheads="1"/>
          </p:cNvSpPr>
          <p:nvPr/>
        </p:nvSpPr>
        <p:spPr bwMode="auto">
          <a:xfrm>
            <a:off x="4652822" y="2428375"/>
            <a:ext cx="716448" cy="540000"/>
          </a:xfrm>
          <a:custGeom>
            <a:avLst/>
            <a:gdLst>
              <a:gd name="csX0" fmla="*/ 323469 w 716448"/>
              <a:gd name="csY0" fmla="*/ 0 h 540000"/>
              <a:gd name="csX1" fmla="*/ 467292 w 716448"/>
              <a:gd name="csY1" fmla="*/ 44524 h 540000"/>
              <a:gd name="csX2" fmla="*/ 470473 w 716448"/>
              <a:gd name="csY2" fmla="*/ 51883 h 540000"/>
              <a:gd name="csX3" fmla="*/ 474754 w 716448"/>
              <a:gd name="csY3" fmla="*/ 49901 h 540000"/>
              <a:gd name="csX4" fmla="*/ 551389 w 716448"/>
              <a:gd name="csY4" fmla="*/ 52424 h 540000"/>
              <a:gd name="csX5" fmla="*/ 638025 w 716448"/>
              <a:gd name="csY5" fmla="*/ 137134 h 540000"/>
              <a:gd name="csX6" fmla="*/ 624025 w 716448"/>
              <a:gd name="csY6" fmla="*/ 157319 h 540000"/>
              <a:gd name="csX7" fmla="*/ 600657 w 716448"/>
              <a:gd name="csY7" fmla="*/ 168134 h 540000"/>
              <a:gd name="csX8" fmla="*/ 622990 w 716448"/>
              <a:gd name="csY8" fmla="*/ 167351 h 540000"/>
              <a:gd name="csX9" fmla="*/ 657627 w 716448"/>
              <a:gd name="csY9" fmla="*/ 177493 h 540000"/>
              <a:gd name="csX10" fmla="*/ 711413 w 716448"/>
              <a:gd name="csY10" fmla="*/ 279038 h 540000"/>
              <a:gd name="csX11" fmla="*/ 666372 w 716448"/>
              <a:gd name="csY11" fmla="*/ 312103 h 540000"/>
              <a:gd name="csX12" fmla="*/ 652586 w 716448"/>
              <a:gd name="csY12" fmla="*/ 312587 h 540000"/>
              <a:gd name="csX13" fmla="*/ 666310 w 716448"/>
              <a:gd name="csY13" fmla="*/ 318315 h 540000"/>
              <a:gd name="csX14" fmla="*/ 688781 w 716448"/>
              <a:gd name="csY14" fmla="*/ 344383 h 540000"/>
              <a:gd name="csX15" fmla="*/ 625968 w 716448"/>
              <a:gd name="csY15" fmla="*/ 470147 h 540000"/>
              <a:gd name="csX16" fmla="*/ 544071 w 716448"/>
              <a:gd name="csY16" fmla="*/ 482228 h 540000"/>
              <a:gd name="csX17" fmla="*/ 542136 w 716448"/>
              <a:gd name="csY17" fmla="*/ 481420 h 540000"/>
              <a:gd name="csX18" fmla="*/ 511855 w 716448"/>
              <a:gd name="csY18" fmla="*/ 508368 h 540000"/>
              <a:gd name="csX19" fmla="*/ 384576 w 716448"/>
              <a:gd name="csY19" fmla="*/ 540000 h 540000"/>
              <a:gd name="csX20" fmla="*/ 218722 w 716448"/>
              <a:gd name="csY20" fmla="*/ 474039 h 540000"/>
              <a:gd name="csX21" fmla="*/ 214481 w 716448"/>
              <a:gd name="csY21" fmla="*/ 461437 h 540000"/>
              <a:gd name="csX22" fmla="*/ 210639 w 716448"/>
              <a:gd name="csY22" fmla="*/ 463470 h 540000"/>
              <a:gd name="csX23" fmla="*/ 136389 w 716448"/>
              <a:gd name="csY23" fmla="*/ 460964 h 540000"/>
              <a:gd name="csX24" fmla="*/ 62063 w 716448"/>
              <a:gd name="csY24" fmla="*/ 363002 h 540000"/>
              <a:gd name="csX25" fmla="*/ 69375 w 716448"/>
              <a:gd name="csY25" fmla="*/ 352240 h 540000"/>
              <a:gd name="csX26" fmla="*/ 50708 w 716448"/>
              <a:gd name="csY26" fmla="*/ 349013 h 540000"/>
              <a:gd name="csX27" fmla="*/ 0 w 716448"/>
              <a:gd name="csY27" fmla="*/ 283500 h 540000"/>
              <a:gd name="csX28" fmla="*/ 24318 w 716448"/>
              <a:gd name="csY28" fmla="*/ 233225 h 540000"/>
              <a:gd name="csX29" fmla="*/ 40995 w 716448"/>
              <a:gd name="csY29" fmla="*/ 223596 h 540000"/>
              <a:gd name="csX30" fmla="*/ 36228 w 716448"/>
              <a:gd name="csY30" fmla="*/ 202964 h 540000"/>
              <a:gd name="csX31" fmla="*/ 103327 w 716448"/>
              <a:gd name="csY31" fmla="*/ 112627 h 540000"/>
              <a:gd name="csX32" fmla="*/ 143842 w 716448"/>
              <a:gd name="csY32" fmla="*/ 94719 h 540000"/>
              <a:gd name="csX33" fmla="*/ 174866 w 716448"/>
              <a:gd name="csY33" fmla="*/ 90216 h 540000"/>
              <a:gd name="csX34" fmla="*/ 167380 w 716448"/>
              <a:gd name="csY34" fmla="*/ 72900 h 540000"/>
              <a:gd name="csX35" fmla="*/ 323469 w 716448"/>
              <a:gd name="csY35" fmla="*/ 0 h 54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716448" h="540000">
                <a:moveTo>
                  <a:pt x="323469" y="0"/>
                </a:moveTo>
                <a:cubicBezTo>
                  <a:pt x="388124" y="0"/>
                  <a:pt x="443597" y="18359"/>
                  <a:pt x="467292" y="44524"/>
                </a:cubicBezTo>
                <a:lnTo>
                  <a:pt x="470473" y="51883"/>
                </a:lnTo>
                <a:lnTo>
                  <a:pt x="474754" y="49901"/>
                </a:lnTo>
                <a:cubicBezTo>
                  <a:pt x="495997" y="44465"/>
                  <a:pt x="523220" y="44876"/>
                  <a:pt x="551389" y="52424"/>
                </a:cubicBezTo>
                <a:cubicBezTo>
                  <a:pt x="607727" y="67520"/>
                  <a:pt x="646516" y="105446"/>
                  <a:pt x="638025" y="137134"/>
                </a:cubicBezTo>
                <a:cubicBezTo>
                  <a:pt x="635903" y="145056"/>
                  <a:pt x="631026" y="151838"/>
                  <a:pt x="624025" y="157319"/>
                </a:cubicBezTo>
                <a:lnTo>
                  <a:pt x="600657" y="168134"/>
                </a:lnTo>
                <a:lnTo>
                  <a:pt x="622990" y="167351"/>
                </a:lnTo>
                <a:cubicBezTo>
                  <a:pt x="634410" y="168807"/>
                  <a:pt x="646157" y="172145"/>
                  <a:pt x="657627" y="177493"/>
                </a:cubicBezTo>
                <a:cubicBezTo>
                  <a:pt x="703507" y="198887"/>
                  <a:pt x="727588" y="244351"/>
                  <a:pt x="711413" y="279038"/>
                </a:cubicBezTo>
                <a:cubicBezTo>
                  <a:pt x="703326" y="296381"/>
                  <a:pt x="686706" y="307747"/>
                  <a:pt x="666372" y="312103"/>
                </a:cubicBezTo>
                <a:lnTo>
                  <a:pt x="652586" y="312587"/>
                </a:lnTo>
                <a:lnTo>
                  <a:pt x="666310" y="318315"/>
                </a:lnTo>
                <a:cubicBezTo>
                  <a:pt x="675869" y="325034"/>
                  <a:pt x="683606" y="333773"/>
                  <a:pt x="688781" y="344383"/>
                </a:cubicBezTo>
                <a:cubicBezTo>
                  <a:pt x="709481" y="386824"/>
                  <a:pt x="681359" y="443131"/>
                  <a:pt x="625968" y="470147"/>
                </a:cubicBezTo>
                <a:cubicBezTo>
                  <a:pt x="598273" y="483655"/>
                  <a:pt x="569004" y="487282"/>
                  <a:pt x="544071" y="482228"/>
                </a:cubicBezTo>
                <a:lnTo>
                  <a:pt x="542136" y="481420"/>
                </a:lnTo>
                <a:lnTo>
                  <a:pt x="511855" y="508368"/>
                </a:lnTo>
                <a:cubicBezTo>
                  <a:pt x="479282" y="527912"/>
                  <a:pt x="434282" y="540000"/>
                  <a:pt x="384576" y="540000"/>
                </a:cubicBezTo>
                <a:cubicBezTo>
                  <a:pt x="310018" y="540000"/>
                  <a:pt x="246047" y="512802"/>
                  <a:pt x="218722" y="474039"/>
                </a:cubicBezTo>
                <a:lnTo>
                  <a:pt x="214481" y="461437"/>
                </a:lnTo>
                <a:lnTo>
                  <a:pt x="210639" y="463470"/>
                </a:lnTo>
                <a:cubicBezTo>
                  <a:pt x="189337" y="469906"/>
                  <a:pt x="162904" y="469580"/>
                  <a:pt x="136389" y="460964"/>
                </a:cubicBezTo>
                <a:cubicBezTo>
                  <a:pt x="83359" y="443734"/>
                  <a:pt x="50082" y="399874"/>
                  <a:pt x="62063" y="363002"/>
                </a:cubicBezTo>
                <a:lnTo>
                  <a:pt x="69375" y="352240"/>
                </a:lnTo>
                <a:lnTo>
                  <a:pt x="50708" y="349013"/>
                </a:lnTo>
                <a:cubicBezTo>
                  <a:pt x="20909" y="338219"/>
                  <a:pt x="0" y="312950"/>
                  <a:pt x="0" y="283500"/>
                </a:cubicBezTo>
                <a:cubicBezTo>
                  <a:pt x="0" y="263867"/>
                  <a:pt x="9293" y="246092"/>
                  <a:pt x="24318" y="233225"/>
                </a:cubicBezTo>
                <a:lnTo>
                  <a:pt x="40995" y="223596"/>
                </a:lnTo>
                <a:lnTo>
                  <a:pt x="36228" y="202964"/>
                </a:lnTo>
                <a:cubicBezTo>
                  <a:pt x="37945" y="172538"/>
                  <a:pt x="63237" y="136716"/>
                  <a:pt x="103327" y="112627"/>
                </a:cubicBezTo>
                <a:cubicBezTo>
                  <a:pt x="116691" y="104597"/>
                  <a:pt x="130433" y="98632"/>
                  <a:pt x="143842" y="94719"/>
                </a:cubicBezTo>
                <a:lnTo>
                  <a:pt x="174866" y="90216"/>
                </a:lnTo>
                <a:lnTo>
                  <a:pt x="167380" y="72900"/>
                </a:lnTo>
                <a:cubicBezTo>
                  <a:pt x="167380" y="32638"/>
                  <a:pt x="237263" y="0"/>
                  <a:pt x="323469" y="0"/>
                </a:cubicBezTo>
                <a:close/>
              </a:path>
            </a:pathLst>
          </a:custGeom>
          <a:solidFill>
            <a:srgbClr val="0070C0"/>
          </a:solidFill>
          <a:ln>
            <a:noFill/>
          </a:ln>
          <a:extLst>
            <a:ext uri="{91240B29-F687-4F45-9708-019B960494DF}">
              <a14:hiddenLine xmlns:a14="http://schemas.microsoft.com/office/drawing/2010/main" w="12700">
                <a:solidFill>
                  <a:schemeClr val="tx1"/>
                </a:solidFill>
                <a:round/>
                <a:headEnd/>
                <a:tailEnd/>
              </a14:hiddenLine>
            </a:ext>
          </a:extLst>
        </p:spPr>
        <p:txBody>
          <a:bodyPr wrap="square" anchor="ctr">
            <a:noAutofit/>
          </a:bodyPr>
          <a:lstStyle/>
          <a:p>
            <a:pPr algn="ctr" eaLnBrk="0" hangingPunct="0">
              <a:defRPr/>
            </a:pPr>
            <a:r>
              <a:rPr lang="zh-CN" altLang="en-US" sz="1400" dirty="0">
                <a:solidFill>
                  <a:schemeClr val="bg1"/>
                </a:solidFill>
              </a:rPr>
              <a:t>地区网</a:t>
            </a:r>
          </a:p>
        </p:txBody>
      </p:sp>
      <p:sp>
        <p:nvSpPr>
          <p:cNvPr id="114" name="任意多边形: 形状 113">
            <a:extLst>
              <a:ext uri="{FF2B5EF4-FFF2-40B4-BE49-F238E27FC236}">
                <a16:creationId xmlns:a16="http://schemas.microsoft.com/office/drawing/2014/main" id="{BD80C2E8-551D-A5D0-D116-8F05219229F2}"/>
              </a:ext>
            </a:extLst>
          </p:cNvPr>
          <p:cNvSpPr>
            <a:spLocks noChangeArrowheads="1"/>
          </p:cNvSpPr>
          <p:nvPr/>
        </p:nvSpPr>
        <p:spPr bwMode="auto">
          <a:xfrm>
            <a:off x="5757456" y="1361710"/>
            <a:ext cx="1080000" cy="720000"/>
          </a:xfrm>
          <a:custGeom>
            <a:avLst/>
            <a:gdLst>
              <a:gd name="csX0" fmla="*/ 323469 w 716448"/>
              <a:gd name="csY0" fmla="*/ 0 h 540000"/>
              <a:gd name="csX1" fmla="*/ 467292 w 716448"/>
              <a:gd name="csY1" fmla="*/ 44524 h 540000"/>
              <a:gd name="csX2" fmla="*/ 470473 w 716448"/>
              <a:gd name="csY2" fmla="*/ 51883 h 540000"/>
              <a:gd name="csX3" fmla="*/ 474754 w 716448"/>
              <a:gd name="csY3" fmla="*/ 49901 h 540000"/>
              <a:gd name="csX4" fmla="*/ 551389 w 716448"/>
              <a:gd name="csY4" fmla="*/ 52424 h 540000"/>
              <a:gd name="csX5" fmla="*/ 638025 w 716448"/>
              <a:gd name="csY5" fmla="*/ 137134 h 540000"/>
              <a:gd name="csX6" fmla="*/ 624025 w 716448"/>
              <a:gd name="csY6" fmla="*/ 157319 h 540000"/>
              <a:gd name="csX7" fmla="*/ 600657 w 716448"/>
              <a:gd name="csY7" fmla="*/ 168134 h 540000"/>
              <a:gd name="csX8" fmla="*/ 622990 w 716448"/>
              <a:gd name="csY8" fmla="*/ 167351 h 540000"/>
              <a:gd name="csX9" fmla="*/ 657627 w 716448"/>
              <a:gd name="csY9" fmla="*/ 177493 h 540000"/>
              <a:gd name="csX10" fmla="*/ 711413 w 716448"/>
              <a:gd name="csY10" fmla="*/ 279038 h 540000"/>
              <a:gd name="csX11" fmla="*/ 666372 w 716448"/>
              <a:gd name="csY11" fmla="*/ 312103 h 540000"/>
              <a:gd name="csX12" fmla="*/ 652586 w 716448"/>
              <a:gd name="csY12" fmla="*/ 312587 h 540000"/>
              <a:gd name="csX13" fmla="*/ 666310 w 716448"/>
              <a:gd name="csY13" fmla="*/ 318315 h 540000"/>
              <a:gd name="csX14" fmla="*/ 688781 w 716448"/>
              <a:gd name="csY14" fmla="*/ 344383 h 540000"/>
              <a:gd name="csX15" fmla="*/ 625968 w 716448"/>
              <a:gd name="csY15" fmla="*/ 470147 h 540000"/>
              <a:gd name="csX16" fmla="*/ 544071 w 716448"/>
              <a:gd name="csY16" fmla="*/ 482228 h 540000"/>
              <a:gd name="csX17" fmla="*/ 542136 w 716448"/>
              <a:gd name="csY17" fmla="*/ 481420 h 540000"/>
              <a:gd name="csX18" fmla="*/ 511855 w 716448"/>
              <a:gd name="csY18" fmla="*/ 508368 h 540000"/>
              <a:gd name="csX19" fmla="*/ 384576 w 716448"/>
              <a:gd name="csY19" fmla="*/ 540000 h 540000"/>
              <a:gd name="csX20" fmla="*/ 218722 w 716448"/>
              <a:gd name="csY20" fmla="*/ 474039 h 540000"/>
              <a:gd name="csX21" fmla="*/ 214481 w 716448"/>
              <a:gd name="csY21" fmla="*/ 461437 h 540000"/>
              <a:gd name="csX22" fmla="*/ 210639 w 716448"/>
              <a:gd name="csY22" fmla="*/ 463470 h 540000"/>
              <a:gd name="csX23" fmla="*/ 136389 w 716448"/>
              <a:gd name="csY23" fmla="*/ 460964 h 540000"/>
              <a:gd name="csX24" fmla="*/ 62063 w 716448"/>
              <a:gd name="csY24" fmla="*/ 363002 h 540000"/>
              <a:gd name="csX25" fmla="*/ 69375 w 716448"/>
              <a:gd name="csY25" fmla="*/ 352240 h 540000"/>
              <a:gd name="csX26" fmla="*/ 50708 w 716448"/>
              <a:gd name="csY26" fmla="*/ 349013 h 540000"/>
              <a:gd name="csX27" fmla="*/ 0 w 716448"/>
              <a:gd name="csY27" fmla="*/ 283500 h 540000"/>
              <a:gd name="csX28" fmla="*/ 24318 w 716448"/>
              <a:gd name="csY28" fmla="*/ 233225 h 540000"/>
              <a:gd name="csX29" fmla="*/ 40995 w 716448"/>
              <a:gd name="csY29" fmla="*/ 223596 h 540000"/>
              <a:gd name="csX30" fmla="*/ 36228 w 716448"/>
              <a:gd name="csY30" fmla="*/ 202964 h 540000"/>
              <a:gd name="csX31" fmla="*/ 103327 w 716448"/>
              <a:gd name="csY31" fmla="*/ 112627 h 540000"/>
              <a:gd name="csX32" fmla="*/ 143842 w 716448"/>
              <a:gd name="csY32" fmla="*/ 94719 h 540000"/>
              <a:gd name="csX33" fmla="*/ 174866 w 716448"/>
              <a:gd name="csY33" fmla="*/ 90216 h 540000"/>
              <a:gd name="csX34" fmla="*/ 167380 w 716448"/>
              <a:gd name="csY34" fmla="*/ 72900 h 540000"/>
              <a:gd name="csX35" fmla="*/ 323469 w 716448"/>
              <a:gd name="csY35" fmla="*/ 0 h 54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716448" h="540000">
                <a:moveTo>
                  <a:pt x="323469" y="0"/>
                </a:moveTo>
                <a:cubicBezTo>
                  <a:pt x="388124" y="0"/>
                  <a:pt x="443597" y="18359"/>
                  <a:pt x="467292" y="44524"/>
                </a:cubicBezTo>
                <a:lnTo>
                  <a:pt x="470473" y="51883"/>
                </a:lnTo>
                <a:lnTo>
                  <a:pt x="474754" y="49901"/>
                </a:lnTo>
                <a:cubicBezTo>
                  <a:pt x="495997" y="44465"/>
                  <a:pt x="523220" y="44876"/>
                  <a:pt x="551389" y="52424"/>
                </a:cubicBezTo>
                <a:cubicBezTo>
                  <a:pt x="607727" y="67520"/>
                  <a:pt x="646516" y="105446"/>
                  <a:pt x="638025" y="137134"/>
                </a:cubicBezTo>
                <a:cubicBezTo>
                  <a:pt x="635903" y="145056"/>
                  <a:pt x="631026" y="151838"/>
                  <a:pt x="624025" y="157319"/>
                </a:cubicBezTo>
                <a:lnTo>
                  <a:pt x="600657" y="168134"/>
                </a:lnTo>
                <a:lnTo>
                  <a:pt x="622990" y="167351"/>
                </a:lnTo>
                <a:cubicBezTo>
                  <a:pt x="634410" y="168807"/>
                  <a:pt x="646157" y="172145"/>
                  <a:pt x="657627" y="177493"/>
                </a:cubicBezTo>
                <a:cubicBezTo>
                  <a:pt x="703507" y="198887"/>
                  <a:pt x="727588" y="244351"/>
                  <a:pt x="711413" y="279038"/>
                </a:cubicBezTo>
                <a:cubicBezTo>
                  <a:pt x="703326" y="296381"/>
                  <a:pt x="686706" y="307747"/>
                  <a:pt x="666372" y="312103"/>
                </a:cubicBezTo>
                <a:lnTo>
                  <a:pt x="652586" y="312587"/>
                </a:lnTo>
                <a:lnTo>
                  <a:pt x="666310" y="318315"/>
                </a:lnTo>
                <a:cubicBezTo>
                  <a:pt x="675869" y="325034"/>
                  <a:pt x="683606" y="333773"/>
                  <a:pt x="688781" y="344383"/>
                </a:cubicBezTo>
                <a:cubicBezTo>
                  <a:pt x="709481" y="386824"/>
                  <a:pt x="681359" y="443131"/>
                  <a:pt x="625968" y="470147"/>
                </a:cubicBezTo>
                <a:cubicBezTo>
                  <a:pt x="598273" y="483655"/>
                  <a:pt x="569004" y="487282"/>
                  <a:pt x="544071" y="482228"/>
                </a:cubicBezTo>
                <a:lnTo>
                  <a:pt x="542136" y="481420"/>
                </a:lnTo>
                <a:lnTo>
                  <a:pt x="511855" y="508368"/>
                </a:lnTo>
                <a:cubicBezTo>
                  <a:pt x="479282" y="527912"/>
                  <a:pt x="434282" y="540000"/>
                  <a:pt x="384576" y="540000"/>
                </a:cubicBezTo>
                <a:cubicBezTo>
                  <a:pt x="310018" y="540000"/>
                  <a:pt x="246047" y="512802"/>
                  <a:pt x="218722" y="474039"/>
                </a:cubicBezTo>
                <a:lnTo>
                  <a:pt x="214481" y="461437"/>
                </a:lnTo>
                <a:lnTo>
                  <a:pt x="210639" y="463470"/>
                </a:lnTo>
                <a:cubicBezTo>
                  <a:pt x="189337" y="469906"/>
                  <a:pt x="162904" y="469580"/>
                  <a:pt x="136389" y="460964"/>
                </a:cubicBezTo>
                <a:cubicBezTo>
                  <a:pt x="83359" y="443734"/>
                  <a:pt x="50082" y="399874"/>
                  <a:pt x="62063" y="363002"/>
                </a:cubicBezTo>
                <a:lnTo>
                  <a:pt x="69375" y="352240"/>
                </a:lnTo>
                <a:lnTo>
                  <a:pt x="50708" y="349013"/>
                </a:lnTo>
                <a:cubicBezTo>
                  <a:pt x="20909" y="338219"/>
                  <a:pt x="0" y="312950"/>
                  <a:pt x="0" y="283500"/>
                </a:cubicBezTo>
                <a:cubicBezTo>
                  <a:pt x="0" y="263867"/>
                  <a:pt x="9293" y="246092"/>
                  <a:pt x="24318" y="233225"/>
                </a:cubicBezTo>
                <a:lnTo>
                  <a:pt x="40995" y="223596"/>
                </a:lnTo>
                <a:lnTo>
                  <a:pt x="36228" y="202964"/>
                </a:lnTo>
                <a:cubicBezTo>
                  <a:pt x="37945" y="172538"/>
                  <a:pt x="63237" y="136716"/>
                  <a:pt x="103327" y="112627"/>
                </a:cubicBezTo>
                <a:cubicBezTo>
                  <a:pt x="116691" y="104597"/>
                  <a:pt x="130433" y="98632"/>
                  <a:pt x="143842" y="94719"/>
                </a:cubicBezTo>
                <a:lnTo>
                  <a:pt x="174866" y="90216"/>
                </a:lnTo>
                <a:lnTo>
                  <a:pt x="167380" y="72900"/>
                </a:lnTo>
                <a:cubicBezTo>
                  <a:pt x="167380" y="32638"/>
                  <a:pt x="237263" y="0"/>
                  <a:pt x="323469" y="0"/>
                </a:cubicBezTo>
                <a:close/>
              </a:path>
            </a:pathLst>
          </a:custGeom>
          <a:solidFill>
            <a:srgbClr val="00B050"/>
          </a:solidFill>
          <a:ln>
            <a:noFill/>
          </a:ln>
        </p:spPr>
        <p:txBody>
          <a:bodyPr wrap="square" anchor="ctr">
            <a:noAutofit/>
          </a:bodyPr>
          <a:lstStyle/>
          <a:p>
            <a:pPr algn="ctr" eaLnBrk="0" hangingPunct="0">
              <a:defRPr/>
            </a:pPr>
            <a:r>
              <a:rPr lang="zh-CN" altLang="en-US" sz="1600" dirty="0">
                <a:solidFill>
                  <a:schemeClr val="bg1"/>
                </a:solidFill>
              </a:rPr>
              <a:t>主干网</a:t>
            </a:r>
          </a:p>
        </p:txBody>
      </p:sp>
    </p:spTree>
    <p:extLst>
      <p:ext uri="{BB962C8B-B14F-4D97-AF65-F5344CB8AC3E}">
        <p14:creationId xmlns:p14="http://schemas.microsoft.com/office/powerpoint/2010/main" val="3196018942"/>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3A08C39-12CC-D480-C2B7-713C5F1B45EF}"/>
              </a:ext>
            </a:extLst>
          </p:cNvPr>
          <p:cNvSpPr>
            <a:spLocks noGrp="1"/>
          </p:cNvSpPr>
          <p:nvPr>
            <p:ph type="title"/>
          </p:nvPr>
        </p:nvSpPr>
        <p:spPr>
          <a:xfrm>
            <a:off x="612000" y="144000"/>
            <a:ext cx="7920000" cy="341632"/>
          </a:xfrm>
        </p:spPr>
        <p:txBody>
          <a:bodyPr/>
          <a:lstStyle/>
          <a:p>
            <a:r>
              <a:rPr lang="zh-CN" altLang="en-US" dirty="0"/>
              <a:t>第二阶段：</a:t>
            </a:r>
            <a:r>
              <a:rPr lang="en-US" altLang="zh-CN" dirty="0"/>
              <a:t>1985 – 1993 </a:t>
            </a:r>
            <a:endParaRPr lang="zh-CN" altLang="en-US" dirty="0"/>
          </a:p>
        </p:txBody>
      </p:sp>
      <p:pic>
        <p:nvPicPr>
          <p:cNvPr id="12" name="图片 11" descr="Map depicting the ARPANET network in 1977, with numerous connections spanning the country">
            <a:extLst>
              <a:ext uri="{FF2B5EF4-FFF2-40B4-BE49-F238E27FC236}">
                <a16:creationId xmlns:a16="http://schemas.microsoft.com/office/drawing/2014/main" id="{72C10DFD-291E-B3E3-DDAC-7DB71D039E76}"/>
              </a:ext>
            </a:extLst>
          </p:cNvPr>
          <p:cNvPicPr>
            <a:picLocks noChangeAspect="1"/>
          </p:cNvPicPr>
          <p:nvPr/>
        </p:nvPicPr>
        <p:blipFill>
          <a:blip r:embed="rId2"/>
          <a:stretch>
            <a:fillRect/>
          </a:stretch>
        </p:blipFill>
        <p:spPr>
          <a:xfrm>
            <a:off x="1524381" y="993600"/>
            <a:ext cx="6095238" cy="3710476"/>
          </a:xfrm>
          <a:prstGeom prst="rect">
            <a:avLst/>
          </a:prstGeom>
        </p:spPr>
      </p:pic>
    </p:spTree>
    <p:extLst>
      <p:ext uri="{BB962C8B-B14F-4D97-AF65-F5344CB8AC3E}">
        <p14:creationId xmlns:p14="http://schemas.microsoft.com/office/powerpoint/2010/main" val="4267559361"/>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53463B2A-E21A-D89F-57FC-9D2BB78136F8}"/>
              </a:ext>
            </a:extLst>
          </p:cNvPr>
          <p:cNvSpPr>
            <a:spLocks noGrp="1"/>
          </p:cNvSpPr>
          <p:nvPr>
            <p:ph type="title"/>
          </p:nvPr>
        </p:nvSpPr>
        <p:spPr>
          <a:xfrm>
            <a:off x="612000" y="144000"/>
            <a:ext cx="7920000" cy="341632"/>
          </a:xfrm>
        </p:spPr>
        <p:txBody>
          <a:bodyPr/>
          <a:lstStyle/>
          <a:p>
            <a:r>
              <a:rPr lang="zh-CN" altLang="en-US" dirty="0"/>
              <a:t>第三阶段：</a:t>
            </a:r>
            <a:r>
              <a:rPr lang="en-US" altLang="zh-CN" dirty="0"/>
              <a:t>1993 – </a:t>
            </a:r>
            <a:endParaRPr lang="zh-CN" altLang="en-US" dirty="0"/>
          </a:p>
        </p:txBody>
      </p:sp>
      <p:sp>
        <p:nvSpPr>
          <p:cNvPr id="2" name="内容占位符 1"/>
          <p:cNvSpPr>
            <a:spLocks noGrp="1"/>
          </p:cNvSpPr>
          <p:nvPr>
            <p:ph sz="quarter" idx="10"/>
          </p:nvPr>
        </p:nvSpPr>
        <p:spPr>
          <a:xfrm>
            <a:off x="612000" y="899999"/>
            <a:ext cx="7920000" cy="3780000"/>
          </a:xfrm>
        </p:spPr>
        <p:txBody>
          <a:bodyPr/>
          <a:lstStyle/>
          <a:p>
            <a:r>
              <a:rPr lang="zh-CN" altLang="en-US" dirty="0"/>
              <a:t>互联网服务提供者 </a:t>
            </a:r>
            <a:r>
              <a:rPr lang="en-US" altLang="zh-CN" dirty="0"/>
              <a:t>ISP (Internet Service Provider)</a:t>
            </a:r>
            <a:r>
              <a:rPr lang="zh-CN" altLang="en-US" dirty="0"/>
              <a:t>涌现</a:t>
            </a:r>
            <a:endParaRPr lang="en-US" altLang="zh-CN" dirty="0"/>
          </a:p>
          <a:p>
            <a:pPr lvl="1"/>
            <a:r>
              <a:rPr lang="zh-CN" altLang="en-US" dirty="0"/>
              <a:t>提供接入到互联网的服务</a:t>
            </a:r>
            <a:endParaRPr lang="en-US" altLang="zh-CN" dirty="0"/>
          </a:p>
          <a:p>
            <a:pPr lvl="1"/>
            <a:r>
              <a:rPr lang="zh-CN" altLang="en-US" dirty="0"/>
              <a:t>需要收取一定的费用</a:t>
            </a:r>
          </a:p>
          <a:p>
            <a:r>
              <a:rPr lang="zh-CN" altLang="en-US" dirty="0"/>
              <a:t>多层次 </a:t>
            </a:r>
            <a:r>
              <a:rPr lang="en-US" altLang="zh-CN" dirty="0"/>
              <a:t>ISP </a:t>
            </a:r>
            <a:r>
              <a:rPr lang="zh-CN" altLang="en-US" dirty="0"/>
              <a:t>结构</a:t>
            </a:r>
            <a:endParaRPr lang="en-US" altLang="zh-CN" dirty="0"/>
          </a:p>
          <a:p>
            <a:pPr lvl="1"/>
            <a:r>
              <a:rPr lang="zh-CN" altLang="en-US" dirty="0"/>
              <a:t>主干 </a:t>
            </a:r>
            <a:r>
              <a:rPr lang="en-US" altLang="zh-CN" dirty="0"/>
              <a:t>ISP</a:t>
            </a:r>
            <a:r>
              <a:rPr lang="zh-CN" altLang="en-US" dirty="0"/>
              <a:t>、地区 </a:t>
            </a:r>
            <a:r>
              <a:rPr lang="en-US" altLang="zh-CN" dirty="0"/>
              <a:t>ISP </a:t>
            </a:r>
            <a:r>
              <a:rPr lang="zh-CN" altLang="en-US" dirty="0"/>
              <a:t>和本地 </a:t>
            </a:r>
            <a:r>
              <a:rPr lang="en-US" altLang="zh-CN" dirty="0"/>
              <a:t>ISP</a:t>
            </a:r>
          </a:p>
          <a:p>
            <a:pPr lvl="1"/>
            <a:r>
              <a:rPr lang="zh-CN" altLang="en-US" dirty="0"/>
              <a:t>覆盖面积大小和所拥有的 </a:t>
            </a:r>
            <a:r>
              <a:rPr lang="en-US" altLang="zh-CN" dirty="0"/>
              <a:t>IP </a:t>
            </a:r>
            <a:r>
              <a:rPr lang="zh-CN" altLang="en-US" dirty="0"/>
              <a:t>地址数目的不同</a:t>
            </a:r>
          </a:p>
          <a:p>
            <a:endParaRPr lang="en-US" altLang="zh-CN" dirty="0"/>
          </a:p>
          <a:p>
            <a:pPr lvl="1"/>
            <a:endParaRPr lang="zh-CN" altLang="en-US" dirty="0"/>
          </a:p>
        </p:txBody>
      </p:sp>
    </p:spTree>
    <p:extLst>
      <p:ext uri="{BB962C8B-B14F-4D97-AF65-F5344CB8AC3E}">
        <p14:creationId xmlns:p14="http://schemas.microsoft.com/office/powerpoint/2010/main" val="2350725495"/>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36" name="组合 135"/>
          <p:cNvGrpSpPr/>
          <p:nvPr/>
        </p:nvGrpSpPr>
        <p:grpSpPr>
          <a:xfrm>
            <a:off x="1485928" y="1064051"/>
            <a:ext cx="6170543" cy="2971790"/>
            <a:chOff x="2063931" y="1515290"/>
            <a:chExt cx="6170543" cy="2640865"/>
          </a:xfrm>
        </p:grpSpPr>
        <p:sp>
          <p:nvSpPr>
            <p:cNvPr id="5" name="Line 372"/>
            <p:cNvSpPr>
              <a:spLocks noChangeShapeType="1"/>
            </p:cNvSpPr>
            <p:nvPr/>
          </p:nvSpPr>
          <p:spPr bwMode="auto">
            <a:xfrm>
              <a:off x="2873954" y="1881793"/>
              <a:ext cx="762745" cy="1374134"/>
            </a:xfrm>
            <a:prstGeom prst="line">
              <a:avLst/>
            </a:prstGeom>
            <a:noFill/>
            <a:ln w="12700">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6" name="Line 316"/>
            <p:cNvSpPr>
              <a:spLocks noChangeShapeType="1"/>
            </p:cNvSpPr>
            <p:nvPr/>
          </p:nvSpPr>
          <p:spPr bwMode="auto">
            <a:xfrm flipH="1">
              <a:off x="2683792" y="1836359"/>
              <a:ext cx="95606" cy="823874"/>
            </a:xfrm>
            <a:prstGeom prst="line">
              <a:avLst/>
            </a:prstGeom>
            <a:noFill/>
            <a:ln w="19050">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7" name="Line 282"/>
            <p:cNvSpPr>
              <a:spLocks noChangeShapeType="1"/>
            </p:cNvSpPr>
            <p:nvPr/>
          </p:nvSpPr>
          <p:spPr bwMode="auto">
            <a:xfrm>
              <a:off x="2922282" y="1836359"/>
              <a:ext cx="619861" cy="823874"/>
            </a:xfrm>
            <a:prstGeom prst="line">
              <a:avLst/>
            </a:prstGeom>
            <a:noFill/>
            <a:ln w="38100">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8" name="Line 282"/>
            <p:cNvSpPr>
              <a:spLocks noChangeShapeType="1"/>
            </p:cNvSpPr>
            <p:nvPr/>
          </p:nvSpPr>
          <p:spPr bwMode="auto">
            <a:xfrm>
              <a:off x="3160770" y="1836359"/>
              <a:ext cx="714417" cy="320059"/>
            </a:xfrm>
            <a:prstGeom prst="line">
              <a:avLst/>
            </a:prstGeom>
            <a:noFill/>
            <a:ln w="38100">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9" name="Line 282"/>
            <p:cNvSpPr>
              <a:spLocks noChangeShapeType="1"/>
            </p:cNvSpPr>
            <p:nvPr/>
          </p:nvSpPr>
          <p:spPr bwMode="auto">
            <a:xfrm>
              <a:off x="3159720" y="1810107"/>
              <a:ext cx="2908097" cy="300877"/>
            </a:xfrm>
            <a:prstGeom prst="line">
              <a:avLst/>
            </a:prstGeom>
            <a:noFill/>
            <a:ln w="38100">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10" name="Line 282"/>
            <p:cNvSpPr>
              <a:spLocks noChangeShapeType="1"/>
            </p:cNvSpPr>
            <p:nvPr/>
          </p:nvSpPr>
          <p:spPr bwMode="auto">
            <a:xfrm flipV="1">
              <a:off x="3256378" y="1699046"/>
              <a:ext cx="1524438" cy="35337"/>
            </a:xfrm>
            <a:prstGeom prst="line">
              <a:avLst/>
            </a:prstGeom>
            <a:noFill/>
            <a:ln w="38100">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15" name="Line 410"/>
            <p:cNvSpPr>
              <a:spLocks noChangeShapeType="1"/>
            </p:cNvSpPr>
            <p:nvPr/>
          </p:nvSpPr>
          <p:spPr bwMode="auto">
            <a:xfrm>
              <a:off x="6210699" y="2688503"/>
              <a:ext cx="904577" cy="0"/>
            </a:xfrm>
            <a:prstGeom prst="line">
              <a:avLst/>
            </a:prstGeom>
            <a:ln w="63500" cmpd="tri">
              <a:solidFill>
                <a:schemeClr val="tx1"/>
              </a:solidFill>
              <a:headEnd/>
              <a:tailEnd/>
            </a:ln>
          </p:spPr>
          <p:style>
            <a:lnRef idx="1">
              <a:schemeClr val="accent3"/>
            </a:lnRef>
            <a:fillRef idx="3">
              <a:schemeClr val="accent3"/>
            </a:fillRef>
            <a:effectRef idx="2">
              <a:schemeClr val="accent3"/>
            </a:effectRef>
            <a:fontRef idx="minor">
              <a:schemeClr val="lt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16" name="Line 407"/>
            <p:cNvSpPr>
              <a:spLocks noChangeShapeType="1"/>
            </p:cNvSpPr>
            <p:nvPr/>
          </p:nvSpPr>
          <p:spPr bwMode="auto">
            <a:xfrm>
              <a:off x="7163604" y="3301361"/>
              <a:ext cx="190161" cy="45838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17" name="Line 408"/>
            <p:cNvSpPr>
              <a:spLocks noChangeShapeType="1"/>
            </p:cNvSpPr>
            <p:nvPr/>
          </p:nvSpPr>
          <p:spPr bwMode="auto">
            <a:xfrm flipH="1">
              <a:off x="6733904" y="3255927"/>
              <a:ext cx="286817" cy="495738"/>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18" name="Text Box 409"/>
            <p:cNvSpPr txBox="1">
              <a:spLocks noChangeArrowheads="1"/>
            </p:cNvSpPr>
            <p:nvPr/>
          </p:nvSpPr>
          <p:spPr bwMode="auto">
            <a:xfrm>
              <a:off x="6877838" y="3485116"/>
              <a:ext cx="325730" cy="2324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lang="en-US" altLang="zh-CN" sz="1100">
                  <a:sym typeface="Symbol" panose="05050102010706020507" pitchFamily="18" charset="2"/>
                </a:rPr>
                <a:t></a:t>
              </a:r>
            </a:p>
          </p:txBody>
        </p:sp>
        <p:sp>
          <p:nvSpPr>
            <p:cNvPr id="19" name="Line 377"/>
            <p:cNvSpPr>
              <a:spLocks noChangeShapeType="1"/>
            </p:cNvSpPr>
            <p:nvPr/>
          </p:nvSpPr>
          <p:spPr bwMode="auto">
            <a:xfrm flipH="1">
              <a:off x="7020721" y="2706677"/>
              <a:ext cx="333044" cy="549250"/>
            </a:xfrm>
            <a:prstGeom prst="line">
              <a:avLst/>
            </a:prstGeom>
            <a:noFill/>
            <a:ln w="12700">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20" name="Line 376"/>
            <p:cNvSpPr>
              <a:spLocks noChangeShapeType="1"/>
            </p:cNvSpPr>
            <p:nvPr/>
          </p:nvSpPr>
          <p:spPr bwMode="auto">
            <a:xfrm flipH="1">
              <a:off x="5447954" y="2706677"/>
              <a:ext cx="333044" cy="549250"/>
            </a:xfrm>
            <a:prstGeom prst="line">
              <a:avLst/>
            </a:prstGeom>
            <a:noFill/>
            <a:ln w="12700">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21" name="Line 370"/>
            <p:cNvSpPr>
              <a:spLocks noChangeShapeType="1"/>
            </p:cNvSpPr>
            <p:nvPr/>
          </p:nvSpPr>
          <p:spPr bwMode="auto">
            <a:xfrm>
              <a:off x="5923881" y="2660233"/>
              <a:ext cx="334095" cy="641127"/>
            </a:xfrm>
            <a:prstGeom prst="line">
              <a:avLst/>
            </a:prstGeom>
            <a:noFill/>
            <a:ln w="12700">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22" name="Line 371"/>
            <p:cNvSpPr>
              <a:spLocks noChangeShapeType="1"/>
            </p:cNvSpPr>
            <p:nvPr/>
          </p:nvSpPr>
          <p:spPr bwMode="auto">
            <a:xfrm>
              <a:off x="4446720" y="2798555"/>
              <a:ext cx="95606" cy="457372"/>
            </a:xfrm>
            <a:prstGeom prst="line">
              <a:avLst/>
            </a:prstGeom>
            <a:noFill/>
            <a:ln w="12700">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23" name="Line 372"/>
            <p:cNvSpPr>
              <a:spLocks noChangeShapeType="1"/>
            </p:cNvSpPr>
            <p:nvPr/>
          </p:nvSpPr>
          <p:spPr bwMode="auto">
            <a:xfrm flipH="1">
              <a:off x="3732304" y="2798555"/>
              <a:ext cx="476978" cy="457372"/>
            </a:xfrm>
            <a:prstGeom prst="line">
              <a:avLst/>
            </a:prstGeom>
            <a:noFill/>
            <a:ln w="12700">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24" name="Line 373"/>
            <p:cNvSpPr>
              <a:spLocks noChangeShapeType="1"/>
            </p:cNvSpPr>
            <p:nvPr/>
          </p:nvSpPr>
          <p:spPr bwMode="auto">
            <a:xfrm>
              <a:off x="2779398" y="2798555"/>
              <a:ext cx="47277" cy="502806"/>
            </a:xfrm>
            <a:prstGeom prst="line">
              <a:avLst/>
            </a:prstGeom>
            <a:noFill/>
            <a:ln w="12700">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25" name="Line 308"/>
            <p:cNvSpPr>
              <a:spLocks noChangeShapeType="1"/>
            </p:cNvSpPr>
            <p:nvPr/>
          </p:nvSpPr>
          <p:spPr bwMode="auto">
            <a:xfrm>
              <a:off x="7496649" y="2798555"/>
              <a:ext cx="285767" cy="594684"/>
            </a:xfrm>
            <a:prstGeom prst="line">
              <a:avLst/>
            </a:prstGeom>
            <a:noFill/>
            <a:ln w="12700">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26" name="Line 316"/>
            <p:cNvSpPr>
              <a:spLocks noChangeShapeType="1"/>
            </p:cNvSpPr>
            <p:nvPr/>
          </p:nvSpPr>
          <p:spPr bwMode="auto">
            <a:xfrm flipH="1">
              <a:off x="2873954" y="2248296"/>
              <a:ext cx="858350" cy="366503"/>
            </a:xfrm>
            <a:prstGeom prst="line">
              <a:avLst/>
            </a:prstGeom>
            <a:noFill/>
            <a:ln w="19050">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27" name="Line 283"/>
            <p:cNvSpPr>
              <a:spLocks noChangeShapeType="1"/>
            </p:cNvSpPr>
            <p:nvPr/>
          </p:nvSpPr>
          <p:spPr bwMode="auto">
            <a:xfrm>
              <a:off x="5590838" y="1744480"/>
              <a:ext cx="524255" cy="274625"/>
            </a:xfrm>
            <a:prstGeom prst="line">
              <a:avLst/>
            </a:prstGeom>
            <a:noFill/>
            <a:ln w="38100">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28" name="Line 254"/>
            <p:cNvSpPr>
              <a:spLocks noChangeShapeType="1"/>
            </p:cNvSpPr>
            <p:nvPr/>
          </p:nvSpPr>
          <p:spPr bwMode="auto">
            <a:xfrm>
              <a:off x="6353582" y="3301361"/>
              <a:ext cx="190161" cy="45838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29" name="Line 255"/>
            <p:cNvSpPr>
              <a:spLocks noChangeShapeType="1"/>
            </p:cNvSpPr>
            <p:nvPr/>
          </p:nvSpPr>
          <p:spPr bwMode="auto">
            <a:xfrm>
              <a:off x="3779582" y="3347805"/>
              <a:ext cx="239539" cy="508072"/>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30" name="Line 256"/>
            <p:cNvSpPr>
              <a:spLocks noChangeShapeType="1"/>
            </p:cNvSpPr>
            <p:nvPr/>
          </p:nvSpPr>
          <p:spPr bwMode="auto">
            <a:xfrm flipH="1">
              <a:off x="5923881" y="3255927"/>
              <a:ext cx="286818" cy="495738"/>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31" name="Line 257"/>
            <p:cNvSpPr>
              <a:spLocks noChangeShapeType="1"/>
            </p:cNvSpPr>
            <p:nvPr/>
          </p:nvSpPr>
          <p:spPr bwMode="auto">
            <a:xfrm>
              <a:off x="7782415" y="3393239"/>
              <a:ext cx="95605" cy="411937"/>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32" name="Line 197"/>
            <p:cNvSpPr>
              <a:spLocks noChangeShapeType="1"/>
            </p:cNvSpPr>
            <p:nvPr/>
          </p:nvSpPr>
          <p:spPr bwMode="auto">
            <a:xfrm flipH="1">
              <a:off x="3350932" y="3301361"/>
              <a:ext cx="381372" cy="55026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33" name="Line 192"/>
            <p:cNvSpPr>
              <a:spLocks noChangeShapeType="1"/>
            </p:cNvSpPr>
            <p:nvPr/>
          </p:nvSpPr>
          <p:spPr bwMode="auto">
            <a:xfrm flipH="1">
              <a:off x="2350749" y="2752111"/>
              <a:ext cx="142883" cy="972293"/>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34" name="Line 179"/>
            <p:cNvSpPr>
              <a:spLocks noChangeShapeType="1"/>
            </p:cNvSpPr>
            <p:nvPr/>
          </p:nvSpPr>
          <p:spPr bwMode="auto">
            <a:xfrm flipH="1" flipV="1">
              <a:off x="5543560" y="3347805"/>
              <a:ext cx="237438" cy="411937"/>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35" name="Line 180"/>
            <p:cNvSpPr>
              <a:spLocks noChangeShapeType="1"/>
            </p:cNvSpPr>
            <p:nvPr/>
          </p:nvSpPr>
          <p:spPr bwMode="auto">
            <a:xfrm flipV="1">
              <a:off x="4589603" y="3347805"/>
              <a:ext cx="663987" cy="503816"/>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36" name="Line 26"/>
            <p:cNvSpPr>
              <a:spLocks noChangeShapeType="1"/>
            </p:cNvSpPr>
            <p:nvPr/>
          </p:nvSpPr>
          <p:spPr bwMode="auto">
            <a:xfrm>
              <a:off x="4209282" y="2340174"/>
              <a:ext cx="94555" cy="320059"/>
            </a:xfrm>
            <a:prstGeom prst="line">
              <a:avLst/>
            </a:prstGeom>
            <a:noFill/>
            <a:ln w="19050">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37" name="Line 36"/>
            <p:cNvSpPr>
              <a:spLocks noChangeShapeType="1"/>
            </p:cNvSpPr>
            <p:nvPr/>
          </p:nvSpPr>
          <p:spPr bwMode="auto">
            <a:xfrm flipH="1">
              <a:off x="5209465" y="3347805"/>
              <a:ext cx="142883" cy="503816"/>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38" name="Oval 183"/>
            <p:cNvSpPr>
              <a:spLocks noChangeArrowheads="1"/>
            </p:cNvSpPr>
            <p:nvPr/>
          </p:nvSpPr>
          <p:spPr bwMode="auto">
            <a:xfrm>
              <a:off x="2063931" y="3576995"/>
              <a:ext cx="618811" cy="321069"/>
            </a:xfrm>
            <a:prstGeom prst="ellipse">
              <a:avLst/>
            </a:prstGeom>
            <a:ln>
              <a:headEnd/>
              <a:tailEnd/>
            </a:ln>
          </p:spPr>
          <p:style>
            <a:lnRef idx="1">
              <a:schemeClr val="accent5"/>
            </a:lnRef>
            <a:fillRef idx="2">
              <a:schemeClr val="accent5"/>
            </a:fillRef>
            <a:effectRef idx="1">
              <a:schemeClr val="accent5"/>
            </a:effectRef>
            <a:fontRef idx="minor">
              <a:schemeClr val="dk1"/>
            </a:fontRef>
          </p:style>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zh-CN" altLang="en-US" sz="1100"/>
                <a:t>大公司</a:t>
              </a:r>
            </a:p>
          </p:txBody>
        </p:sp>
        <p:sp>
          <p:nvSpPr>
            <p:cNvPr id="39" name="Oval 194"/>
            <p:cNvSpPr>
              <a:spLocks noChangeArrowheads="1"/>
            </p:cNvSpPr>
            <p:nvPr/>
          </p:nvSpPr>
          <p:spPr bwMode="auto">
            <a:xfrm>
              <a:off x="4343760" y="3667864"/>
              <a:ext cx="627216" cy="290779"/>
            </a:xfrm>
            <a:prstGeom prst="ellipse">
              <a:avLst/>
            </a:prstGeom>
            <a:ln>
              <a:headEnd/>
              <a:tailEnd/>
            </a:ln>
          </p:spPr>
          <p:style>
            <a:lnRef idx="1">
              <a:schemeClr val="accent5"/>
            </a:lnRef>
            <a:fillRef idx="2">
              <a:schemeClr val="accent5"/>
            </a:fillRef>
            <a:effectRef idx="1">
              <a:schemeClr val="accent5"/>
            </a:effectRef>
            <a:fontRef idx="minor">
              <a:schemeClr val="dk1"/>
            </a:fontRef>
          </p:style>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zh-CN" altLang="en-US" sz="1100"/>
                <a:t>公司</a:t>
              </a:r>
            </a:p>
          </p:txBody>
        </p:sp>
        <p:sp>
          <p:nvSpPr>
            <p:cNvPr id="40" name="Oval 195"/>
            <p:cNvSpPr>
              <a:spLocks noChangeArrowheads="1"/>
            </p:cNvSpPr>
            <p:nvPr/>
          </p:nvSpPr>
          <p:spPr bwMode="auto">
            <a:xfrm>
              <a:off x="5060278" y="3196357"/>
              <a:ext cx="626165" cy="245345"/>
            </a:xfrm>
            <a:prstGeom prst="ellipse">
              <a:avLst/>
            </a:prstGeom>
            <a:solidFill>
              <a:srgbClr val="00B0F0"/>
            </a:solidFill>
            <a:ln>
              <a:headEnd/>
              <a:tailEnd/>
            </a:ln>
          </p:spPr>
          <p:style>
            <a:lnRef idx="1">
              <a:schemeClr val="accent1"/>
            </a:lnRef>
            <a:fillRef idx="3">
              <a:schemeClr val="accent1"/>
            </a:fillRef>
            <a:effectRef idx="2">
              <a:schemeClr val="accent1"/>
            </a:effectRef>
            <a:fontRef idx="minor">
              <a:schemeClr val="lt1"/>
            </a:fontRef>
          </p:style>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zh-CN" altLang="en-US" sz="1100"/>
                <a:t>本地 </a:t>
              </a:r>
              <a:r>
                <a:rPr lang="en-US" altLang="zh-CN" sz="1100"/>
                <a:t>ISP</a:t>
              </a:r>
            </a:p>
          </p:txBody>
        </p:sp>
        <p:sp>
          <p:nvSpPr>
            <p:cNvPr id="42" name="Text Box 268"/>
            <p:cNvSpPr txBox="1">
              <a:spLocks noChangeArrowheads="1"/>
            </p:cNvSpPr>
            <p:nvPr/>
          </p:nvSpPr>
          <p:spPr bwMode="auto">
            <a:xfrm>
              <a:off x="4930326" y="3737529"/>
              <a:ext cx="287258" cy="2324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lang="en-US" altLang="zh-CN" sz="1050" dirty="0"/>
                <a:t>A</a:t>
              </a:r>
            </a:p>
          </p:txBody>
        </p:sp>
        <p:sp>
          <p:nvSpPr>
            <p:cNvPr id="44" name="Text Box 271"/>
            <p:cNvSpPr txBox="1">
              <a:spLocks noChangeArrowheads="1"/>
            </p:cNvSpPr>
            <p:nvPr/>
          </p:nvSpPr>
          <p:spPr bwMode="auto">
            <a:xfrm>
              <a:off x="7955230" y="3722370"/>
              <a:ext cx="279244" cy="2324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lang="en-US" altLang="zh-CN" sz="1100" dirty="0"/>
                <a:t>B</a:t>
              </a:r>
            </a:p>
          </p:txBody>
        </p:sp>
        <p:sp>
          <p:nvSpPr>
            <p:cNvPr id="47" name="Line 282"/>
            <p:cNvSpPr>
              <a:spLocks noChangeShapeType="1"/>
            </p:cNvSpPr>
            <p:nvPr/>
          </p:nvSpPr>
          <p:spPr bwMode="auto">
            <a:xfrm flipV="1">
              <a:off x="4160954" y="1744480"/>
              <a:ext cx="810023" cy="411937"/>
            </a:xfrm>
            <a:prstGeom prst="line">
              <a:avLst/>
            </a:prstGeom>
            <a:noFill/>
            <a:ln w="38100">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48" name="Line 284"/>
            <p:cNvSpPr>
              <a:spLocks noChangeShapeType="1"/>
            </p:cNvSpPr>
            <p:nvPr/>
          </p:nvSpPr>
          <p:spPr bwMode="auto">
            <a:xfrm flipV="1">
              <a:off x="4399443" y="2157427"/>
              <a:ext cx="1715650" cy="45434"/>
            </a:xfrm>
            <a:prstGeom prst="line">
              <a:avLst/>
            </a:prstGeom>
            <a:noFill/>
            <a:ln w="38100">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49" name="Oval 292"/>
            <p:cNvSpPr>
              <a:spLocks noChangeArrowheads="1"/>
            </p:cNvSpPr>
            <p:nvPr/>
          </p:nvSpPr>
          <p:spPr bwMode="auto">
            <a:xfrm>
              <a:off x="7402094" y="3199386"/>
              <a:ext cx="626165" cy="242316"/>
            </a:xfrm>
            <a:prstGeom prst="ellipse">
              <a:avLst/>
            </a:prstGeom>
            <a:solidFill>
              <a:srgbClr val="00B0F0"/>
            </a:solidFill>
            <a:ln>
              <a:headEnd/>
              <a:tailEnd/>
            </a:ln>
          </p:spPr>
          <p:style>
            <a:lnRef idx="1">
              <a:schemeClr val="accent1"/>
            </a:lnRef>
            <a:fillRef idx="3">
              <a:schemeClr val="accent1"/>
            </a:fillRef>
            <a:effectRef idx="2">
              <a:schemeClr val="accent1"/>
            </a:effectRef>
            <a:fontRef idx="minor">
              <a:schemeClr val="lt1"/>
            </a:fontRef>
          </p:style>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zh-CN" altLang="en-US" sz="1100"/>
                <a:t>本地 </a:t>
              </a:r>
              <a:r>
                <a:rPr lang="en-US" altLang="zh-CN" sz="1100"/>
                <a:t>ISP</a:t>
              </a:r>
            </a:p>
          </p:txBody>
        </p:sp>
        <p:sp>
          <p:nvSpPr>
            <p:cNvPr id="50" name="Line 297"/>
            <p:cNvSpPr>
              <a:spLocks noChangeShapeType="1"/>
            </p:cNvSpPr>
            <p:nvPr/>
          </p:nvSpPr>
          <p:spPr bwMode="auto">
            <a:xfrm flipH="1">
              <a:off x="5829326" y="2157427"/>
              <a:ext cx="475928" cy="457371"/>
            </a:xfrm>
            <a:prstGeom prst="line">
              <a:avLst/>
            </a:prstGeom>
            <a:noFill/>
            <a:ln w="19050">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51" name="Line 298"/>
            <p:cNvSpPr>
              <a:spLocks noChangeShapeType="1"/>
            </p:cNvSpPr>
            <p:nvPr/>
          </p:nvSpPr>
          <p:spPr bwMode="auto">
            <a:xfrm flipH="1" flipV="1">
              <a:off x="6829509" y="2110984"/>
              <a:ext cx="429701" cy="458381"/>
            </a:xfrm>
            <a:prstGeom prst="line">
              <a:avLst/>
            </a:prstGeom>
            <a:noFill/>
            <a:ln w="19050">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600" b="1" i="0" u="none" strike="noStrike" kern="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endParaRPr>
            </a:p>
          </p:txBody>
        </p:sp>
        <p:sp>
          <p:nvSpPr>
            <p:cNvPr id="52" name="Oval 14"/>
            <p:cNvSpPr>
              <a:spLocks noChangeArrowheads="1"/>
            </p:cNvSpPr>
            <p:nvPr/>
          </p:nvSpPr>
          <p:spPr bwMode="auto">
            <a:xfrm>
              <a:off x="3399261" y="2065549"/>
              <a:ext cx="1285950" cy="320059"/>
            </a:xfrm>
            <a:prstGeom prst="ellipse">
              <a:avLst/>
            </a:prstGeom>
            <a:ln/>
          </p:spPr>
          <p:style>
            <a:lnRef idx="1">
              <a:schemeClr val="accent6"/>
            </a:lnRef>
            <a:fillRef idx="3">
              <a:schemeClr val="accent6"/>
            </a:fillRef>
            <a:effectRef idx="2">
              <a:schemeClr val="accent6"/>
            </a:effectRef>
            <a:fontRef idx="minor">
              <a:schemeClr val="lt1"/>
            </a:fontRef>
          </p:style>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zh-CN" altLang="en-US" sz="1100" dirty="0"/>
                <a:t>主</a:t>
              </a:r>
              <a:r>
                <a:rPr lang="zh-CN" altLang="en-US" sz="1100"/>
                <a:t>干 </a:t>
              </a:r>
              <a:r>
                <a:rPr lang="en-US" altLang="zh-CN" sz="1100" dirty="0"/>
                <a:t>ISP</a:t>
              </a:r>
            </a:p>
          </p:txBody>
        </p:sp>
        <p:sp>
          <p:nvSpPr>
            <p:cNvPr id="53" name="Oval 305"/>
            <p:cNvSpPr>
              <a:spLocks noChangeArrowheads="1"/>
            </p:cNvSpPr>
            <p:nvPr/>
          </p:nvSpPr>
          <p:spPr bwMode="auto">
            <a:xfrm>
              <a:off x="3391905" y="3164048"/>
              <a:ext cx="626165" cy="277654"/>
            </a:xfrm>
            <a:prstGeom prst="ellipse">
              <a:avLst/>
            </a:prstGeom>
            <a:solidFill>
              <a:srgbClr val="00B0F0"/>
            </a:solidFill>
            <a:ln>
              <a:headEnd/>
              <a:tailEnd/>
            </a:ln>
          </p:spPr>
          <p:style>
            <a:lnRef idx="1">
              <a:schemeClr val="accent1"/>
            </a:lnRef>
            <a:fillRef idx="3">
              <a:schemeClr val="accent1"/>
            </a:fillRef>
            <a:effectRef idx="2">
              <a:schemeClr val="accent1"/>
            </a:effectRef>
            <a:fontRef idx="minor">
              <a:schemeClr val="lt1"/>
            </a:fontRef>
          </p:style>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zh-CN" altLang="en-US" sz="1100"/>
                <a:t>本地 </a:t>
              </a:r>
              <a:r>
                <a:rPr lang="en-US" altLang="zh-CN" sz="1100"/>
                <a:t>ISP</a:t>
              </a:r>
            </a:p>
          </p:txBody>
        </p:sp>
        <p:sp>
          <p:nvSpPr>
            <p:cNvPr id="54" name="Oval 306"/>
            <p:cNvSpPr>
              <a:spLocks noChangeArrowheads="1"/>
            </p:cNvSpPr>
            <p:nvPr/>
          </p:nvSpPr>
          <p:spPr bwMode="auto">
            <a:xfrm>
              <a:off x="2486277" y="3164048"/>
              <a:ext cx="626165" cy="277654"/>
            </a:xfrm>
            <a:prstGeom prst="ellipse">
              <a:avLst/>
            </a:prstGeom>
            <a:solidFill>
              <a:srgbClr val="00B0F0"/>
            </a:solidFill>
            <a:ln>
              <a:headEnd/>
              <a:tailEnd/>
            </a:ln>
          </p:spPr>
          <p:style>
            <a:lnRef idx="1">
              <a:schemeClr val="accent1"/>
            </a:lnRef>
            <a:fillRef idx="3">
              <a:schemeClr val="accent1"/>
            </a:fillRef>
            <a:effectRef idx="2">
              <a:schemeClr val="accent1"/>
            </a:effectRef>
            <a:fontRef idx="minor">
              <a:schemeClr val="lt1"/>
            </a:fontRef>
          </p:style>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zh-CN" altLang="en-US" sz="1100" dirty="0"/>
                <a:t>本</a:t>
              </a:r>
              <a:r>
                <a:rPr lang="zh-CN" altLang="en-US" sz="1100"/>
                <a:t>地 </a:t>
              </a:r>
              <a:r>
                <a:rPr lang="en-US" altLang="zh-CN" sz="1100" dirty="0"/>
                <a:t>ISP</a:t>
              </a:r>
            </a:p>
          </p:txBody>
        </p:sp>
        <p:sp>
          <p:nvSpPr>
            <p:cNvPr id="56" name="Oval 319"/>
            <p:cNvSpPr>
              <a:spLocks noChangeArrowheads="1"/>
            </p:cNvSpPr>
            <p:nvPr/>
          </p:nvSpPr>
          <p:spPr bwMode="auto">
            <a:xfrm>
              <a:off x="4637932" y="1515290"/>
              <a:ext cx="1285950" cy="320059"/>
            </a:xfrm>
            <a:prstGeom prst="ellipse">
              <a:avLst/>
            </a:prstGeom>
            <a:ln/>
          </p:spPr>
          <p:style>
            <a:lnRef idx="1">
              <a:schemeClr val="accent6"/>
            </a:lnRef>
            <a:fillRef idx="3">
              <a:schemeClr val="accent6"/>
            </a:fillRef>
            <a:effectRef idx="2">
              <a:schemeClr val="accent6"/>
            </a:effectRef>
            <a:fontRef idx="minor">
              <a:schemeClr val="lt1"/>
            </a:fontRef>
          </p:style>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zh-CN" altLang="en-US" sz="1100" dirty="0"/>
                <a:t>主</a:t>
              </a:r>
              <a:r>
                <a:rPr lang="zh-CN" altLang="en-US" sz="1100"/>
                <a:t>干 </a:t>
              </a:r>
              <a:r>
                <a:rPr lang="en-US" altLang="zh-CN" sz="1100" dirty="0"/>
                <a:t>ISP</a:t>
              </a:r>
            </a:p>
          </p:txBody>
        </p:sp>
        <p:sp>
          <p:nvSpPr>
            <p:cNvPr id="57" name="Oval 320"/>
            <p:cNvSpPr>
              <a:spLocks noChangeArrowheads="1"/>
            </p:cNvSpPr>
            <p:nvPr/>
          </p:nvSpPr>
          <p:spPr bwMode="auto">
            <a:xfrm>
              <a:off x="5876604" y="1974680"/>
              <a:ext cx="1285950" cy="320059"/>
            </a:xfrm>
            <a:prstGeom prst="ellipse">
              <a:avLst/>
            </a:prstGeom>
            <a:ln/>
          </p:spPr>
          <p:style>
            <a:lnRef idx="1">
              <a:schemeClr val="accent6"/>
            </a:lnRef>
            <a:fillRef idx="3">
              <a:schemeClr val="accent6"/>
            </a:fillRef>
            <a:effectRef idx="2">
              <a:schemeClr val="accent6"/>
            </a:effectRef>
            <a:fontRef idx="minor">
              <a:schemeClr val="lt1"/>
            </a:fontRef>
          </p:style>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zh-CN" altLang="en-US" sz="1100" dirty="0"/>
                <a:t>主</a:t>
              </a:r>
              <a:r>
                <a:rPr lang="zh-CN" altLang="en-US" sz="1100"/>
                <a:t>干 </a:t>
              </a:r>
              <a:r>
                <a:rPr lang="en-US" altLang="zh-CN" sz="1100" dirty="0"/>
                <a:t>ISP</a:t>
              </a:r>
            </a:p>
          </p:txBody>
        </p:sp>
        <p:sp>
          <p:nvSpPr>
            <p:cNvPr id="61" name="Text Box 342"/>
            <p:cNvSpPr txBox="1">
              <a:spLocks noChangeArrowheads="1"/>
            </p:cNvSpPr>
            <p:nvPr/>
          </p:nvSpPr>
          <p:spPr bwMode="auto">
            <a:xfrm>
              <a:off x="4906143" y="2532771"/>
              <a:ext cx="325730" cy="2324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lang="en-US" altLang="zh-CN" sz="1100" dirty="0">
                  <a:sym typeface="Symbol" panose="05050102010706020507" pitchFamily="18" charset="2"/>
                </a:rPr>
                <a:t></a:t>
              </a:r>
            </a:p>
          </p:txBody>
        </p:sp>
        <p:sp>
          <p:nvSpPr>
            <p:cNvPr id="62" name="Oval 348"/>
            <p:cNvSpPr>
              <a:spLocks noChangeArrowheads="1"/>
            </p:cNvSpPr>
            <p:nvPr/>
          </p:nvSpPr>
          <p:spPr bwMode="auto">
            <a:xfrm>
              <a:off x="5923881" y="3164048"/>
              <a:ext cx="626165" cy="277654"/>
            </a:xfrm>
            <a:prstGeom prst="ellipse">
              <a:avLst/>
            </a:prstGeom>
            <a:solidFill>
              <a:srgbClr val="00B0F0"/>
            </a:solidFill>
            <a:ln>
              <a:headEnd/>
              <a:tailEnd/>
            </a:ln>
          </p:spPr>
          <p:style>
            <a:lnRef idx="1">
              <a:schemeClr val="accent1"/>
            </a:lnRef>
            <a:fillRef idx="3">
              <a:schemeClr val="accent1"/>
            </a:fillRef>
            <a:effectRef idx="2">
              <a:schemeClr val="accent1"/>
            </a:effectRef>
            <a:fontRef idx="minor">
              <a:schemeClr val="lt1"/>
            </a:fontRef>
          </p:style>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zh-CN" altLang="en-US" sz="1100"/>
                <a:t>本地 </a:t>
              </a:r>
              <a:r>
                <a:rPr lang="en-US" altLang="zh-CN" sz="1100"/>
                <a:t>ISP</a:t>
              </a:r>
            </a:p>
          </p:txBody>
        </p:sp>
        <p:sp>
          <p:nvSpPr>
            <p:cNvPr id="63" name="Oval 349"/>
            <p:cNvSpPr>
              <a:spLocks noChangeArrowheads="1"/>
            </p:cNvSpPr>
            <p:nvPr/>
          </p:nvSpPr>
          <p:spPr bwMode="auto">
            <a:xfrm>
              <a:off x="4209282" y="3164048"/>
              <a:ext cx="626165" cy="277654"/>
            </a:xfrm>
            <a:prstGeom prst="ellipse">
              <a:avLst/>
            </a:prstGeom>
            <a:solidFill>
              <a:srgbClr val="00B0F0"/>
            </a:solidFill>
            <a:ln>
              <a:headEnd/>
              <a:tailEnd/>
            </a:ln>
          </p:spPr>
          <p:style>
            <a:lnRef idx="1">
              <a:schemeClr val="accent1"/>
            </a:lnRef>
            <a:fillRef idx="3">
              <a:schemeClr val="accent1"/>
            </a:fillRef>
            <a:effectRef idx="2">
              <a:schemeClr val="accent1"/>
            </a:effectRef>
            <a:fontRef idx="minor">
              <a:schemeClr val="lt1"/>
            </a:fontRef>
          </p:style>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zh-CN" altLang="en-US" sz="1100"/>
                <a:t>本地 </a:t>
              </a:r>
              <a:r>
                <a:rPr lang="en-US" altLang="zh-CN" sz="1100"/>
                <a:t>ISP</a:t>
              </a:r>
            </a:p>
          </p:txBody>
        </p:sp>
        <p:sp>
          <p:nvSpPr>
            <p:cNvPr id="67" name="Text Box 374"/>
            <p:cNvSpPr txBox="1">
              <a:spLocks noChangeArrowheads="1"/>
            </p:cNvSpPr>
            <p:nvPr/>
          </p:nvSpPr>
          <p:spPr bwMode="auto">
            <a:xfrm>
              <a:off x="3055709" y="3024716"/>
              <a:ext cx="325730" cy="2324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lang="en-US" altLang="zh-CN" sz="1050" dirty="0">
                  <a:sym typeface="Symbol" panose="05050102010706020507" pitchFamily="18" charset="2"/>
                </a:rPr>
                <a:t></a:t>
              </a:r>
            </a:p>
          </p:txBody>
        </p:sp>
        <p:sp>
          <p:nvSpPr>
            <p:cNvPr id="68" name="Oval 375"/>
            <p:cNvSpPr>
              <a:spLocks noChangeArrowheads="1"/>
            </p:cNvSpPr>
            <p:nvPr/>
          </p:nvSpPr>
          <p:spPr bwMode="auto">
            <a:xfrm>
              <a:off x="6686626" y="3197367"/>
              <a:ext cx="626165" cy="242316"/>
            </a:xfrm>
            <a:prstGeom prst="ellipse">
              <a:avLst/>
            </a:prstGeom>
            <a:solidFill>
              <a:srgbClr val="00B0F0"/>
            </a:solidFill>
            <a:ln>
              <a:headEnd/>
              <a:tailEnd/>
            </a:ln>
          </p:spPr>
          <p:style>
            <a:lnRef idx="1">
              <a:schemeClr val="accent1"/>
            </a:lnRef>
            <a:fillRef idx="3">
              <a:schemeClr val="accent1"/>
            </a:fillRef>
            <a:effectRef idx="2">
              <a:schemeClr val="accent1"/>
            </a:effectRef>
            <a:fontRef idx="minor">
              <a:schemeClr val="lt1"/>
            </a:fontRef>
          </p:style>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zh-CN" altLang="en-US" sz="1100"/>
                <a:t>本地 </a:t>
              </a:r>
              <a:r>
                <a:rPr lang="en-US" altLang="zh-CN" sz="1100"/>
                <a:t>ISP</a:t>
              </a:r>
            </a:p>
          </p:txBody>
        </p:sp>
        <p:sp>
          <p:nvSpPr>
            <p:cNvPr id="75" name="Text Box 405"/>
            <p:cNvSpPr txBox="1">
              <a:spLocks noChangeArrowheads="1"/>
            </p:cNvSpPr>
            <p:nvPr/>
          </p:nvSpPr>
          <p:spPr bwMode="auto">
            <a:xfrm>
              <a:off x="5345409" y="3611831"/>
              <a:ext cx="325730" cy="2324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lang="en-US" altLang="zh-CN" sz="1100" dirty="0">
                  <a:sym typeface="Symbol" panose="05050102010706020507" pitchFamily="18" charset="2"/>
                </a:rPr>
                <a:t></a:t>
              </a:r>
            </a:p>
          </p:txBody>
        </p:sp>
        <p:sp>
          <p:nvSpPr>
            <p:cNvPr id="76" name="Text Box 406"/>
            <p:cNvSpPr txBox="1">
              <a:spLocks noChangeArrowheads="1"/>
            </p:cNvSpPr>
            <p:nvPr/>
          </p:nvSpPr>
          <p:spPr bwMode="auto">
            <a:xfrm>
              <a:off x="6067816" y="3485116"/>
              <a:ext cx="325730" cy="2324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lang="en-US" altLang="zh-CN" sz="1100" dirty="0">
                  <a:sym typeface="Symbol" panose="05050102010706020507" pitchFamily="18" charset="2"/>
                </a:rPr>
                <a:t></a:t>
              </a:r>
            </a:p>
          </p:txBody>
        </p:sp>
        <p:sp>
          <p:nvSpPr>
            <p:cNvPr id="79" name="Oval 14"/>
            <p:cNvSpPr>
              <a:spLocks noChangeArrowheads="1"/>
            </p:cNvSpPr>
            <p:nvPr/>
          </p:nvSpPr>
          <p:spPr bwMode="auto">
            <a:xfrm>
              <a:off x="2349698" y="1607168"/>
              <a:ext cx="1042207" cy="320059"/>
            </a:xfrm>
            <a:prstGeom prst="ellipse">
              <a:avLst/>
            </a:prstGeom>
            <a:ln>
              <a:headEnd/>
              <a:tailEnd/>
            </a:ln>
          </p:spPr>
          <p:style>
            <a:lnRef idx="1">
              <a:schemeClr val="accent2"/>
            </a:lnRef>
            <a:fillRef idx="2">
              <a:schemeClr val="accent2"/>
            </a:fillRef>
            <a:effectRef idx="1">
              <a:schemeClr val="accent2"/>
            </a:effectRef>
            <a:fontRef idx="minor">
              <a:schemeClr val="dk1"/>
            </a:fontRef>
          </p:style>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zh-CN" altLang="en-US" sz="1100" dirty="0"/>
                <a:t>内容提</a:t>
              </a:r>
              <a:r>
                <a:rPr lang="zh-CN" altLang="en-US" sz="1100"/>
                <a:t>供者</a:t>
              </a:r>
              <a:endParaRPr lang="en-US" altLang="zh-CN" sz="1100" dirty="0"/>
            </a:p>
          </p:txBody>
        </p:sp>
        <p:grpSp>
          <p:nvGrpSpPr>
            <p:cNvPr id="92" name="组合 91"/>
            <p:cNvGrpSpPr/>
            <p:nvPr/>
          </p:nvGrpSpPr>
          <p:grpSpPr>
            <a:xfrm>
              <a:off x="6411686" y="2589558"/>
              <a:ext cx="412292" cy="238274"/>
              <a:chOff x="3320162" y="2589558"/>
              <a:chExt cx="412292" cy="238274"/>
            </a:xfrm>
          </p:grpSpPr>
          <p:grpSp>
            <p:nvGrpSpPr>
              <p:cNvPr id="93" name="Group 1282"/>
              <p:cNvGrpSpPr>
                <a:grpSpLocks/>
              </p:cNvGrpSpPr>
              <p:nvPr/>
            </p:nvGrpSpPr>
            <p:grpSpPr bwMode="auto">
              <a:xfrm>
                <a:off x="3351808" y="2589558"/>
                <a:ext cx="342966" cy="229190"/>
                <a:chOff x="1680" y="240"/>
                <a:chExt cx="2529" cy="1270"/>
              </a:xfrm>
              <a:solidFill>
                <a:srgbClr val="FFC000"/>
              </a:solidFill>
              <a:scene3d>
                <a:camera prst="orthographicFront">
                  <a:rot lat="0" lon="0" rev="0"/>
                </a:camera>
                <a:lightRig rig="contrasting" dir="t">
                  <a:rot lat="0" lon="0" rev="7800000"/>
                </a:lightRig>
              </a:scene3d>
            </p:grpSpPr>
            <p:sp>
              <p:nvSpPr>
                <p:cNvPr id="95" name="Oval 1283"/>
                <p:cNvSpPr>
                  <a:spLocks noChangeArrowheads="1"/>
                </p:cNvSpPr>
                <p:nvPr/>
              </p:nvSpPr>
              <p:spPr bwMode="auto">
                <a:xfrm>
                  <a:off x="2554" y="240"/>
                  <a:ext cx="1088" cy="513"/>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96" name="Oval 1284"/>
                <p:cNvSpPr>
                  <a:spLocks noChangeArrowheads="1"/>
                </p:cNvSpPr>
                <p:nvPr/>
              </p:nvSpPr>
              <p:spPr bwMode="auto">
                <a:xfrm>
                  <a:off x="1941" y="381"/>
                  <a:ext cx="827" cy="513"/>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97" name="Oval 1285"/>
                <p:cNvSpPr>
                  <a:spLocks noChangeArrowheads="1"/>
                </p:cNvSpPr>
                <p:nvPr/>
              </p:nvSpPr>
              <p:spPr bwMode="auto">
                <a:xfrm>
                  <a:off x="1680" y="702"/>
                  <a:ext cx="552" cy="41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98" name="Oval 1286"/>
                <p:cNvSpPr>
                  <a:spLocks noChangeArrowheads="1"/>
                </p:cNvSpPr>
                <p:nvPr/>
              </p:nvSpPr>
              <p:spPr bwMode="auto">
                <a:xfrm>
                  <a:off x="1849" y="894"/>
                  <a:ext cx="842" cy="450"/>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99" name="Oval 1287"/>
                <p:cNvSpPr>
                  <a:spLocks noChangeArrowheads="1"/>
                </p:cNvSpPr>
                <p:nvPr/>
              </p:nvSpPr>
              <p:spPr bwMode="auto">
                <a:xfrm>
                  <a:off x="2462" y="971"/>
                  <a:ext cx="1272" cy="539"/>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00" name="Oval 1288"/>
                <p:cNvSpPr>
                  <a:spLocks noChangeArrowheads="1"/>
                </p:cNvSpPr>
                <p:nvPr/>
              </p:nvSpPr>
              <p:spPr bwMode="auto">
                <a:xfrm>
                  <a:off x="3289" y="394"/>
                  <a:ext cx="797" cy="398"/>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01" name="Oval 1289"/>
                <p:cNvSpPr>
                  <a:spLocks noChangeArrowheads="1"/>
                </p:cNvSpPr>
                <p:nvPr/>
              </p:nvSpPr>
              <p:spPr bwMode="auto">
                <a:xfrm>
                  <a:off x="3412" y="663"/>
                  <a:ext cx="797" cy="398"/>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02" name="Oval 1290"/>
                <p:cNvSpPr>
                  <a:spLocks noChangeArrowheads="1"/>
                </p:cNvSpPr>
                <p:nvPr/>
              </p:nvSpPr>
              <p:spPr bwMode="auto">
                <a:xfrm>
                  <a:off x="3335" y="753"/>
                  <a:ext cx="797" cy="668"/>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03" name="Oval 1291"/>
                <p:cNvSpPr>
                  <a:spLocks noChangeArrowheads="1"/>
                </p:cNvSpPr>
                <p:nvPr/>
              </p:nvSpPr>
              <p:spPr bwMode="auto">
                <a:xfrm>
                  <a:off x="2140" y="548"/>
                  <a:ext cx="1640" cy="667"/>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dirty="0">
                    <a:solidFill>
                      <a:srgbClr val="000000"/>
                    </a:solidFill>
                    <a:latin typeface="+mn-lt"/>
                    <a:ea typeface="+mn-ea"/>
                  </a:endParaRPr>
                </a:p>
              </p:txBody>
            </p:sp>
          </p:grpSp>
          <p:sp>
            <p:nvSpPr>
              <p:cNvPr id="94" name="Text Box 354"/>
              <p:cNvSpPr txBox="1">
                <a:spLocks noChangeArrowheads="1"/>
              </p:cNvSpPr>
              <p:nvPr/>
            </p:nvSpPr>
            <p:spPr bwMode="auto">
              <a:xfrm>
                <a:off x="3320162" y="2595353"/>
                <a:ext cx="412292" cy="2324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lang="en-US" altLang="zh-CN" sz="1100" dirty="0"/>
                  <a:t>IXP</a:t>
                </a:r>
              </a:p>
            </p:txBody>
          </p:sp>
        </p:grpSp>
        <p:grpSp>
          <p:nvGrpSpPr>
            <p:cNvPr id="116" name="组合 115"/>
            <p:cNvGrpSpPr/>
            <p:nvPr/>
          </p:nvGrpSpPr>
          <p:grpSpPr>
            <a:xfrm>
              <a:off x="3017798" y="3842143"/>
              <a:ext cx="653027" cy="314012"/>
              <a:chOff x="3017798" y="3842143"/>
              <a:chExt cx="653027" cy="314012"/>
            </a:xfrm>
          </p:grpSpPr>
          <p:grpSp>
            <p:nvGrpSpPr>
              <p:cNvPr id="105" name="Group 1282"/>
              <p:cNvGrpSpPr>
                <a:grpSpLocks/>
              </p:cNvGrpSpPr>
              <p:nvPr/>
            </p:nvGrpSpPr>
            <p:grpSpPr bwMode="auto">
              <a:xfrm>
                <a:off x="3037488" y="3842143"/>
                <a:ext cx="605046" cy="314012"/>
                <a:chOff x="1680" y="240"/>
                <a:chExt cx="2529" cy="1270"/>
              </a:xfrm>
              <a:solidFill>
                <a:schemeClr val="bg1">
                  <a:lumMod val="65000"/>
                </a:schemeClr>
              </a:solidFill>
              <a:scene3d>
                <a:camera prst="orthographicFront">
                  <a:rot lat="0" lon="0" rev="0"/>
                </a:camera>
                <a:lightRig rig="contrasting" dir="t">
                  <a:rot lat="0" lon="0" rev="7800000"/>
                </a:lightRig>
              </a:scene3d>
            </p:grpSpPr>
            <p:sp>
              <p:nvSpPr>
                <p:cNvPr id="107" name="Oval 1283"/>
                <p:cNvSpPr>
                  <a:spLocks noChangeArrowheads="1"/>
                </p:cNvSpPr>
                <p:nvPr/>
              </p:nvSpPr>
              <p:spPr bwMode="auto">
                <a:xfrm>
                  <a:off x="2554" y="240"/>
                  <a:ext cx="1088" cy="513"/>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08" name="Oval 1284"/>
                <p:cNvSpPr>
                  <a:spLocks noChangeArrowheads="1"/>
                </p:cNvSpPr>
                <p:nvPr/>
              </p:nvSpPr>
              <p:spPr bwMode="auto">
                <a:xfrm>
                  <a:off x="1941" y="381"/>
                  <a:ext cx="827" cy="513"/>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09" name="Oval 1285"/>
                <p:cNvSpPr>
                  <a:spLocks noChangeArrowheads="1"/>
                </p:cNvSpPr>
                <p:nvPr/>
              </p:nvSpPr>
              <p:spPr bwMode="auto">
                <a:xfrm>
                  <a:off x="1680" y="702"/>
                  <a:ext cx="552" cy="41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10" name="Oval 1286"/>
                <p:cNvSpPr>
                  <a:spLocks noChangeArrowheads="1"/>
                </p:cNvSpPr>
                <p:nvPr/>
              </p:nvSpPr>
              <p:spPr bwMode="auto">
                <a:xfrm>
                  <a:off x="1849" y="894"/>
                  <a:ext cx="842" cy="450"/>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11" name="Oval 1287"/>
                <p:cNvSpPr>
                  <a:spLocks noChangeArrowheads="1"/>
                </p:cNvSpPr>
                <p:nvPr/>
              </p:nvSpPr>
              <p:spPr bwMode="auto">
                <a:xfrm>
                  <a:off x="2462" y="971"/>
                  <a:ext cx="1272" cy="539"/>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12" name="Oval 1288"/>
                <p:cNvSpPr>
                  <a:spLocks noChangeArrowheads="1"/>
                </p:cNvSpPr>
                <p:nvPr/>
              </p:nvSpPr>
              <p:spPr bwMode="auto">
                <a:xfrm>
                  <a:off x="3289" y="394"/>
                  <a:ext cx="797" cy="398"/>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13" name="Oval 1289"/>
                <p:cNvSpPr>
                  <a:spLocks noChangeArrowheads="1"/>
                </p:cNvSpPr>
                <p:nvPr/>
              </p:nvSpPr>
              <p:spPr bwMode="auto">
                <a:xfrm>
                  <a:off x="3412" y="663"/>
                  <a:ext cx="797" cy="398"/>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14" name="Oval 1290"/>
                <p:cNvSpPr>
                  <a:spLocks noChangeArrowheads="1"/>
                </p:cNvSpPr>
                <p:nvPr/>
              </p:nvSpPr>
              <p:spPr bwMode="auto">
                <a:xfrm>
                  <a:off x="3335" y="753"/>
                  <a:ext cx="797" cy="668"/>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15" name="Oval 1291"/>
                <p:cNvSpPr>
                  <a:spLocks noChangeArrowheads="1"/>
                </p:cNvSpPr>
                <p:nvPr/>
              </p:nvSpPr>
              <p:spPr bwMode="auto">
                <a:xfrm>
                  <a:off x="2140" y="548"/>
                  <a:ext cx="1640" cy="667"/>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dirty="0">
                    <a:solidFill>
                      <a:srgbClr val="000000"/>
                    </a:solidFill>
                    <a:latin typeface="+mn-lt"/>
                    <a:ea typeface="+mn-ea"/>
                  </a:endParaRPr>
                </a:p>
              </p:txBody>
            </p:sp>
          </p:grpSp>
          <p:sp>
            <p:nvSpPr>
              <p:cNvPr id="106" name="Text Box 354"/>
              <p:cNvSpPr txBox="1">
                <a:spLocks noChangeArrowheads="1"/>
              </p:cNvSpPr>
              <p:nvPr/>
            </p:nvSpPr>
            <p:spPr bwMode="auto">
              <a:xfrm>
                <a:off x="3017798" y="3873741"/>
                <a:ext cx="653027" cy="2324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lang="zh-CN" altLang="en-US" sz="1100" dirty="0">
                    <a:solidFill>
                      <a:schemeClr val="bg1"/>
                    </a:solidFill>
                  </a:rPr>
                  <a:t>校园网</a:t>
                </a:r>
                <a:endParaRPr lang="en-US" altLang="zh-CN" sz="1100" dirty="0">
                  <a:solidFill>
                    <a:schemeClr val="bg1"/>
                  </a:solidFill>
                </a:endParaRPr>
              </a:p>
            </p:txBody>
          </p:sp>
        </p:grpSp>
        <p:grpSp>
          <p:nvGrpSpPr>
            <p:cNvPr id="117" name="组合 116"/>
            <p:cNvGrpSpPr/>
            <p:nvPr/>
          </p:nvGrpSpPr>
          <p:grpSpPr>
            <a:xfrm>
              <a:off x="3694355" y="3842143"/>
              <a:ext cx="653027" cy="314012"/>
              <a:chOff x="3017798" y="3842143"/>
              <a:chExt cx="653027" cy="314012"/>
            </a:xfrm>
          </p:grpSpPr>
          <p:grpSp>
            <p:nvGrpSpPr>
              <p:cNvPr id="118" name="Group 1282"/>
              <p:cNvGrpSpPr>
                <a:grpSpLocks/>
              </p:cNvGrpSpPr>
              <p:nvPr/>
            </p:nvGrpSpPr>
            <p:grpSpPr bwMode="auto">
              <a:xfrm>
                <a:off x="3037488" y="3842143"/>
                <a:ext cx="605046" cy="314012"/>
                <a:chOff x="1680" y="240"/>
                <a:chExt cx="2529" cy="1270"/>
              </a:xfrm>
              <a:solidFill>
                <a:schemeClr val="bg1">
                  <a:lumMod val="65000"/>
                </a:schemeClr>
              </a:solidFill>
              <a:scene3d>
                <a:camera prst="orthographicFront">
                  <a:rot lat="0" lon="0" rev="0"/>
                </a:camera>
                <a:lightRig rig="contrasting" dir="t">
                  <a:rot lat="0" lon="0" rev="7800000"/>
                </a:lightRig>
              </a:scene3d>
            </p:grpSpPr>
            <p:sp>
              <p:nvSpPr>
                <p:cNvPr id="120" name="Oval 1283"/>
                <p:cNvSpPr>
                  <a:spLocks noChangeArrowheads="1"/>
                </p:cNvSpPr>
                <p:nvPr/>
              </p:nvSpPr>
              <p:spPr bwMode="auto">
                <a:xfrm>
                  <a:off x="2554" y="240"/>
                  <a:ext cx="1088" cy="513"/>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21" name="Oval 1284"/>
                <p:cNvSpPr>
                  <a:spLocks noChangeArrowheads="1"/>
                </p:cNvSpPr>
                <p:nvPr/>
              </p:nvSpPr>
              <p:spPr bwMode="auto">
                <a:xfrm>
                  <a:off x="1941" y="381"/>
                  <a:ext cx="827" cy="513"/>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22" name="Oval 1285"/>
                <p:cNvSpPr>
                  <a:spLocks noChangeArrowheads="1"/>
                </p:cNvSpPr>
                <p:nvPr/>
              </p:nvSpPr>
              <p:spPr bwMode="auto">
                <a:xfrm>
                  <a:off x="1680" y="702"/>
                  <a:ext cx="552" cy="41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23" name="Oval 1286"/>
                <p:cNvSpPr>
                  <a:spLocks noChangeArrowheads="1"/>
                </p:cNvSpPr>
                <p:nvPr/>
              </p:nvSpPr>
              <p:spPr bwMode="auto">
                <a:xfrm>
                  <a:off x="1849" y="894"/>
                  <a:ext cx="842" cy="450"/>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24" name="Oval 1287"/>
                <p:cNvSpPr>
                  <a:spLocks noChangeArrowheads="1"/>
                </p:cNvSpPr>
                <p:nvPr/>
              </p:nvSpPr>
              <p:spPr bwMode="auto">
                <a:xfrm>
                  <a:off x="2462" y="971"/>
                  <a:ext cx="1272" cy="539"/>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25" name="Oval 1288"/>
                <p:cNvSpPr>
                  <a:spLocks noChangeArrowheads="1"/>
                </p:cNvSpPr>
                <p:nvPr/>
              </p:nvSpPr>
              <p:spPr bwMode="auto">
                <a:xfrm>
                  <a:off x="3289" y="394"/>
                  <a:ext cx="797" cy="398"/>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26" name="Oval 1289"/>
                <p:cNvSpPr>
                  <a:spLocks noChangeArrowheads="1"/>
                </p:cNvSpPr>
                <p:nvPr/>
              </p:nvSpPr>
              <p:spPr bwMode="auto">
                <a:xfrm>
                  <a:off x="3412" y="663"/>
                  <a:ext cx="797" cy="398"/>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27" name="Oval 1290"/>
                <p:cNvSpPr>
                  <a:spLocks noChangeArrowheads="1"/>
                </p:cNvSpPr>
                <p:nvPr/>
              </p:nvSpPr>
              <p:spPr bwMode="auto">
                <a:xfrm>
                  <a:off x="3335" y="753"/>
                  <a:ext cx="797" cy="668"/>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28" name="Oval 1291"/>
                <p:cNvSpPr>
                  <a:spLocks noChangeArrowheads="1"/>
                </p:cNvSpPr>
                <p:nvPr/>
              </p:nvSpPr>
              <p:spPr bwMode="auto">
                <a:xfrm>
                  <a:off x="2140" y="548"/>
                  <a:ext cx="1640" cy="667"/>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dirty="0">
                    <a:solidFill>
                      <a:srgbClr val="000000"/>
                    </a:solidFill>
                    <a:latin typeface="+mn-lt"/>
                    <a:ea typeface="+mn-ea"/>
                  </a:endParaRPr>
                </a:p>
              </p:txBody>
            </p:sp>
          </p:grpSp>
          <p:sp>
            <p:nvSpPr>
              <p:cNvPr id="119" name="Text Box 354"/>
              <p:cNvSpPr txBox="1">
                <a:spLocks noChangeArrowheads="1"/>
              </p:cNvSpPr>
              <p:nvPr/>
            </p:nvSpPr>
            <p:spPr bwMode="auto">
              <a:xfrm>
                <a:off x="3017798" y="3873742"/>
                <a:ext cx="653027" cy="2324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lang="zh-CN" altLang="en-US" sz="1100" dirty="0">
                    <a:solidFill>
                      <a:schemeClr val="bg1"/>
                    </a:solidFill>
                  </a:rPr>
                  <a:t>校园网</a:t>
                </a:r>
                <a:endParaRPr lang="en-US" altLang="zh-CN" sz="1100" dirty="0">
                  <a:solidFill>
                    <a:schemeClr val="bg1"/>
                  </a:solidFill>
                </a:endParaRPr>
              </a:p>
            </p:txBody>
          </p:sp>
        </p:grpSp>
        <p:pic>
          <p:nvPicPr>
            <p:cNvPr id="129"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117698" y="3765383"/>
              <a:ext cx="247252" cy="25852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30" name="Picture 24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802171" y="3736583"/>
              <a:ext cx="248323" cy="25852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132" name="直接连接符 131"/>
            <p:cNvCxnSpPr/>
            <p:nvPr/>
          </p:nvCxnSpPr>
          <p:spPr>
            <a:xfrm>
              <a:off x="2971398" y="2701807"/>
              <a:ext cx="1123026" cy="0"/>
            </a:xfrm>
            <a:prstGeom prst="line">
              <a:avLst/>
            </a:prstGeom>
            <a:ln w="63500" cmpd="tri">
              <a:solidFill>
                <a:schemeClr val="tx1"/>
              </a:solidFill>
            </a:ln>
          </p:spPr>
          <p:style>
            <a:lnRef idx="1">
              <a:schemeClr val="accent1"/>
            </a:lnRef>
            <a:fillRef idx="0">
              <a:schemeClr val="accent1"/>
            </a:fillRef>
            <a:effectRef idx="0">
              <a:schemeClr val="accent1"/>
            </a:effectRef>
            <a:fontRef idx="minor">
              <a:schemeClr val="tx1"/>
            </a:fontRef>
          </p:style>
        </p:cxnSp>
        <p:grpSp>
          <p:nvGrpSpPr>
            <p:cNvPr id="133" name="组合 132"/>
            <p:cNvGrpSpPr/>
            <p:nvPr/>
          </p:nvGrpSpPr>
          <p:grpSpPr>
            <a:xfrm>
              <a:off x="2206814" y="2569365"/>
              <a:ext cx="5656498" cy="258466"/>
              <a:chOff x="2206814" y="2569365"/>
              <a:chExt cx="5656498" cy="258466"/>
            </a:xfrm>
          </p:grpSpPr>
          <p:sp>
            <p:nvSpPr>
              <p:cNvPr id="55" name="Oval 289"/>
              <p:cNvSpPr>
                <a:spLocks noChangeArrowheads="1"/>
              </p:cNvSpPr>
              <p:nvPr/>
            </p:nvSpPr>
            <p:spPr bwMode="auto">
              <a:xfrm>
                <a:off x="5400676" y="2569365"/>
                <a:ext cx="890919" cy="247364"/>
              </a:xfrm>
              <a:prstGeom prst="ellipse">
                <a:avLst/>
              </a:prstGeom>
              <a:ln>
                <a:headEnd/>
                <a:tailEnd/>
              </a:ln>
            </p:spPr>
            <p:style>
              <a:lnRef idx="1">
                <a:schemeClr val="accent3"/>
              </a:lnRef>
              <a:fillRef idx="3">
                <a:schemeClr val="accent3"/>
              </a:fillRef>
              <a:effectRef idx="2">
                <a:schemeClr val="accent3"/>
              </a:effectRef>
              <a:fontRef idx="minor">
                <a:schemeClr val="lt1"/>
              </a:fontRef>
            </p:style>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zh-CN" altLang="en-US" sz="1100"/>
                  <a:t>地区  </a:t>
                </a:r>
                <a:r>
                  <a:rPr lang="en-US" altLang="zh-CN" sz="1100"/>
                  <a:t>ISP</a:t>
                </a:r>
              </a:p>
            </p:txBody>
          </p:sp>
          <p:sp>
            <p:nvSpPr>
              <p:cNvPr id="58" name="Oval 327"/>
              <p:cNvSpPr>
                <a:spLocks noChangeArrowheads="1"/>
              </p:cNvSpPr>
              <p:nvPr/>
            </p:nvSpPr>
            <p:spPr bwMode="auto">
              <a:xfrm>
                <a:off x="6972393" y="2569365"/>
                <a:ext cx="890919" cy="247364"/>
              </a:xfrm>
              <a:prstGeom prst="ellipse">
                <a:avLst/>
              </a:prstGeom>
              <a:ln>
                <a:headEnd/>
                <a:tailEnd/>
              </a:ln>
            </p:spPr>
            <p:style>
              <a:lnRef idx="1">
                <a:schemeClr val="accent3"/>
              </a:lnRef>
              <a:fillRef idx="3">
                <a:schemeClr val="accent3"/>
              </a:fillRef>
              <a:effectRef idx="2">
                <a:schemeClr val="accent3"/>
              </a:effectRef>
              <a:fontRef idx="minor">
                <a:schemeClr val="lt1"/>
              </a:fontRef>
            </p:style>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zh-CN" altLang="en-US" sz="1100"/>
                  <a:t>地区  </a:t>
                </a:r>
                <a:r>
                  <a:rPr lang="en-US" altLang="zh-CN" sz="1100"/>
                  <a:t>ISP</a:t>
                </a:r>
              </a:p>
            </p:txBody>
          </p:sp>
          <p:sp>
            <p:nvSpPr>
              <p:cNvPr id="59" name="Oval 328"/>
              <p:cNvSpPr>
                <a:spLocks noChangeArrowheads="1"/>
              </p:cNvSpPr>
              <p:nvPr/>
            </p:nvSpPr>
            <p:spPr bwMode="auto">
              <a:xfrm>
                <a:off x="2206814" y="2569365"/>
                <a:ext cx="890919" cy="247364"/>
              </a:xfrm>
              <a:prstGeom prst="ellipse">
                <a:avLst/>
              </a:prstGeom>
              <a:ln>
                <a:headEnd/>
                <a:tailEnd/>
              </a:ln>
            </p:spPr>
            <p:style>
              <a:lnRef idx="1">
                <a:schemeClr val="accent3"/>
              </a:lnRef>
              <a:fillRef idx="3">
                <a:schemeClr val="accent3"/>
              </a:fillRef>
              <a:effectRef idx="2">
                <a:schemeClr val="accent3"/>
              </a:effectRef>
              <a:fontRef idx="minor">
                <a:schemeClr val="lt1"/>
              </a:fontRef>
            </p:style>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zh-CN" altLang="en-US" sz="1100" dirty="0"/>
                  <a:t>地</a:t>
                </a:r>
                <a:r>
                  <a:rPr lang="zh-CN" altLang="en-US" sz="1100"/>
                  <a:t>区  </a:t>
                </a:r>
                <a:r>
                  <a:rPr lang="en-US" altLang="zh-CN" sz="1100" dirty="0"/>
                  <a:t>ISP</a:t>
                </a:r>
              </a:p>
            </p:txBody>
          </p:sp>
          <p:sp>
            <p:nvSpPr>
              <p:cNvPr id="60" name="Oval 329"/>
              <p:cNvSpPr>
                <a:spLocks noChangeArrowheads="1"/>
              </p:cNvSpPr>
              <p:nvPr/>
            </p:nvSpPr>
            <p:spPr bwMode="auto">
              <a:xfrm>
                <a:off x="3889896" y="2569365"/>
                <a:ext cx="890919" cy="247364"/>
              </a:xfrm>
              <a:prstGeom prst="ellipse">
                <a:avLst/>
              </a:prstGeom>
              <a:ln>
                <a:headEnd/>
                <a:tailEnd/>
              </a:ln>
            </p:spPr>
            <p:style>
              <a:lnRef idx="1">
                <a:schemeClr val="accent3"/>
              </a:lnRef>
              <a:fillRef idx="3">
                <a:schemeClr val="accent3"/>
              </a:fillRef>
              <a:effectRef idx="2">
                <a:schemeClr val="accent3"/>
              </a:effectRef>
              <a:fontRef idx="minor">
                <a:schemeClr val="lt1"/>
              </a:fontRef>
            </p:style>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zh-CN" altLang="en-US" sz="1100"/>
                  <a:t>地区  </a:t>
                </a:r>
                <a:r>
                  <a:rPr lang="en-US" altLang="zh-CN" sz="1100"/>
                  <a:t>ISP</a:t>
                </a:r>
              </a:p>
            </p:txBody>
          </p:sp>
          <p:grpSp>
            <p:nvGrpSpPr>
              <p:cNvPr id="91" name="组合 90"/>
              <p:cNvGrpSpPr/>
              <p:nvPr/>
            </p:nvGrpSpPr>
            <p:grpSpPr>
              <a:xfrm>
                <a:off x="3320162" y="2589558"/>
                <a:ext cx="412292" cy="238273"/>
                <a:chOff x="3320162" y="2589558"/>
                <a:chExt cx="412292" cy="238273"/>
              </a:xfrm>
            </p:grpSpPr>
            <p:grpSp>
              <p:nvGrpSpPr>
                <p:cNvPr id="81" name="Group 1282"/>
                <p:cNvGrpSpPr>
                  <a:grpSpLocks/>
                </p:cNvGrpSpPr>
                <p:nvPr/>
              </p:nvGrpSpPr>
              <p:grpSpPr bwMode="auto">
                <a:xfrm>
                  <a:off x="3351808" y="2589558"/>
                  <a:ext cx="342966" cy="229190"/>
                  <a:chOff x="1680" y="240"/>
                  <a:chExt cx="2529" cy="1270"/>
                </a:xfrm>
                <a:solidFill>
                  <a:srgbClr val="FFC000"/>
                </a:solidFill>
                <a:scene3d>
                  <a:camera prst="orthographicFront">
                    <a:rot lat="0" lon="0" rev="0"/>
                  </a:camera>
                  <a:lightRig rig="contrasting" dir="t">
                    <a:rot lat="0" lon="0" rev="7800000"/>
                  </a:lightRig>
                </a:scene3d>
              </p:grpSpPr>
              <p:sp>
                <p:nvSpPr>
                  <p:cNvPr id="82" name="Oval 1283"/>
                  <p:cNvSpPr>
                    <a:spLocks noChangeArrowheads="1"/>
                  </p:cNvSpPr>
                  <p:nvPr/>
                </p:nvSpPr>
                <p:spPr bwMode="auto">
                  <a:xfrm>
                    <a:off x="2554" y="240"/>
                    <a:ext cx="1088" cy="513"/>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83" name="Oval 1284"/>
                  <p:cNvSpPr>
                    <a:spLocks noChangeArrowheads="1"/>
                  </p:cNvSpPr>
                  <p:nvPr/>
                </p:nvSpPr>
                <p:spPr bwMode="auto">
                  <a:xfrm>
                    <a:off x="1941" y="381"/>
                    <a:ext cx="827" cy="513"/>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84" name="Oval 1285"/>
                  <p:cNvSpPr>
                    <a:spLocks noChangeArrowheads="1"/>
                  </p:cNvSpPr>
                  <p:nvPr/>
                </p:nvSpPr>
                <p:spPr bwMode="auto">
                  <a:xfrm>
                    <a:off x="1680" y="702"/>
                    <a:ext cx="552" cy="411"/>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85" name="Oval 1286"/>
                  <p:cNvSpPr>
                    <a:spLocks noChangeArrowheads="1"/>
                  </p:cNvSpPr>
                  <p:nvPr/>
                </p:nvSpPr>
                <p:spPr bwMode="auto">
                  <a:xfrm>
                    <a:off x="1849" y="894"/>
                    <a:ext cx="842" cy="450"/>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86" name="Oval 1287"/>
                  <p:cNvSpPr>
                    <a:spLocks noChangeArrowheads="1"/>
                  </p:cNvSpPr>
                  <p:nvPr/>
                </p:nvSpPr>
                <p:spPr bwMode="auto">
                  <a:xfrm>
                    <a:off x="2462" y="971"/>
                    <a:ext cx="1272" cy="539"/>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87" name="Oval 1288"/>
                  <p:cNvSpPr>
                    <a:spLocks noChangeArrowheads="1"/>
                  </p:cNvSpPr>
                  <p:nvPr/>
                </p:nvSpPr>
                <p:spPr bwMode="auto">
                  <a:xfrm>
                    <a:off x="3289" y="394"/>
                    <a:ext cx="797" cy="398"/>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88" name="Oval 1289"/>
                  <p:cNvSpPr>
                    <a:spLocks noChangeArrowheads="1"/>
                  </p:cNvSpPr>
                  <p:nvPr/>
                </p:nvSpPr>
                <p:spPr bwMode="auto">
                  <a:xfrm>
                    <a:off x="3412" y="663"/>
                    <a:ext cx="797" cy="398"/>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89" name="Oval 1290"/>
                  <p:cNvSpPr>
                    <a:spLocks noChangeArrowheads="1"/>
                  </p:cNvSpPr>
                  <p:nvPr/>
                </p:nvSpPr>
                <p:spPr bwMode="auto">
                  <a:xfrm>
                    <a:off x="3335" y="753"/>
                    <a:ext cx="797" cy="668"/>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90" name="Oval 1291"/>
                  <p:cNvSpPr>
                    <a:spLocks noChangeArrowheads="1"/>
                  </p:cNvSpPr>
                  <p:nvPr/>
                </p:nvSpPr>
                <p:spPr bwMode="auto">
                  <a:xfrm>
                    <a:off x="2140" y="548"/>
                    <a:ext cx="1640" cy="667"/>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fontAlgn="auto">
                      <a:spcBef>
                        <a:spcPts val="0"/>
                      </a:spcBef>
                      <a:spcAft>
                        <a:spcPts val="0"/>
                      </a:spcAft>
                      <a:defRPr/>
                    </a:pPr>
                    <a:endParaRPr lang="zh-CN" altLang="en-US" sz="2000" b="1" dirty="0">
                      <a:solidFill>
                        <a:srgbClr val="000000"/>
                      </a:solidFill>
                      <a:latin typeface="+mn-lt"/>
                      <a:ea typeface="+mn-ea"/>
                    </a:endParaRPr>
                  </a:p>
                </p:txBody>
              </p:sp>
            </p:grpSp>
            <p:sp>
              <p:nvSpPr>
                <p:cNvPr id="14" name="Text Box 354"/>
                <p:cNvSpPr txBox="1">
                  <a:spLocks noChangeArrowheads="1"/>
                </p:cNvSpPr>
                <p:nvPr/>
              </p:nvSpPr>
              <p:spPr bwMode="auto">
                <a:xfrm>
                  <a:off x="3320162" y="2595353"/>
                  <a:ext cx="412292" cy="2324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lang="en-US" altLang="zh-CN" sz="1100" dirty="0"/>
                    <a:t>IXP</a:t>
                  </a:r>
                </a:p>
              </p:txBody>
            </p:sp>
          </p:grpSp>
        </p:grpSp>
        <p:sp>
          <p:nvSpPr>
            <p:cNvPr id="77" name="Freeform 272"/>
            <p:cNvSpPr>
              <a:spLocks/>
            </p:cNvSpPr>
            <p:nvPr/>
          </p:nvSpPr>
          <p:spPr bwMode="auto">
            <a:xfrm>
              <a:off x="5348146" y="2212958"/>
              <a:ext cx="2454231" cy="1592218"/>
            </a:xfrm>
            <a:custGeom>
              <a:avLst/>
              <a:gdLst>
                <a:gd name="T0" fmla="*/ 0 w 2336"/>
                <a:gd name="T1" fmla="*/ 2147483647 h 1577"/>
                <a:gd name="T2" fmla="*/ 632558359 w 2336"/>
                <a:gd name="T3" fmla="*/ 2147483647 h 1577"/>
                <a:gd name="T4" fmla="*/ 2001004020 w 2336"/>
                <a:gd name="T5" fmla="*/ 627519829 h 1577"/>
                <a:gd name="T6" fmla="*/ 2147483647 w 2336"/>
                <a:gd name="T7" fmla="*/ 68045030 h 1577"/>
                <a:gd name="T8" fmla="*/ 2147483647 w 2336"/>
                <a:gd name="T9" fmla="*/ 1043344970 h 1577"/>
                <a:gd name="T10" fmla="*/ 2147483647 w 2336"/>
                <a:gd name="T11" fmla="*/ 2147483647 h 1577"/>
                <a:gd name="T12" fmla="*/ 2147483647 w 2336"/>
                <a:gd name="T13" fmla="*/ 2147483647 h 1577"/>
                <a:gd name="T14" fmla="*/ 0 60000 65536"/>
                <a:gd name="T15" fmla="*/ 0 60000 65536"/>
                <a:gd name="T16" fmla="*/ 0 60000 65536"/>
                <a:gd name="T17" fmla="*/ 0 60000 65536"/>
                <a:gd name="T18" fmla="*/ 0 60000 65536"/>
                <a:gd name="T19" fmla="*/ 0 60000 65536"/>
                <a:gd name="T20" fmla="*/ 0 60000 65536"/>
                <a:gd name="T21" fmla="*/ 0 w 2336"/>
                <a:gd name="T22" fmla="*/ 0 h 1577"/>
                <a:gd name="T23" fmla="*/ 2336 w 2336"/>
                <a:gd name="T24" fmla="*/ 1577 h 157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2336" h="1577">
                  <a:moveTo>
                    <a:pt x="0" y="1577"/>
                  </a:moveTo>
                  <a:cubicBezTo>
                    <a:pt x="41" y="1491"/>
                    <a:pt x="119" y="1283"/>
                    <a:pt x="251" y="1062"/>
                  </a:cubicBezTo>
                  <a:cubicBezTo>
                    <a:pt x="383" y="841"/>
                    <a:pt x="624" y="421"/>
                    <a:pt x="794" y="249"/>
                  </a:cubicBezTo>
                  <a:cubicBezTo>
                    <a:pt x="964" y="77"/>
                    <a:pt x="1130" y="0"/>
                    <a:pt x="1274" y="27"/>
                  </a:cubicBezTo>
                  <a:cubicBezTo>
                    <a:pt x="1418" y="54"/>
                    <a:pt x="1517" y="236"/>
                    <a:pt x="1661" y="414"/>
                  </a:cubicBezTo>
                  <a:cubicBezTo>
                    <a:pt x="1805" y="592"/>
                    <a:pt x="2026" y="903"/>
                    <a:pt x="2138" y="1095"/>
                  </a:cubicBezTo>
                  <a:cubicBezTo>
                    <a:pt x="2250" y="1287"/>
                    <a:pt x="2295" y="1470"/>
                    <a:pt x="2336" y="1569"/>
                  </a:cubicBezTo>
                </a:path>
              </a:pathLst>
            </a:custGeom>
            <a:noFill/>
            <a:ln w="76200" cmpd="sng">
              <a:solidFill>
                <a:srgbClr val="CC0099">
                  <a:alpha val="60000"/>
                </a:srgbClr>
              </a:solidFill>
              <a:round/>
              <a:headEnd type="triangle" w="sm" len="med"/>
              <a:tailEnd type="triangle" w="sm" len="med"/>
            </a:ln>
            <a:extLst>
              <a:ext uri="{909E8E84-426E-40DD-AFC4-6F175D3DCCD1}">
                <a14:hiddenFill xmlns:a14="http://schemas.microsoft.com/office/drawing/2010/main">
                  <a:solidFill>
                    <a:srgbClr val="FFFFFF"/>
                  </a:solidFill>
                </a14:hiddenFill>
              </a:ext>
            </a:extLst>
          </p:spPr>
          <p:txBody>
            <a:bodyPr/>
            <a:lstStyle/>
            <a:p>
              <a:endParaRPr kumimoji="1" lang="zh-CN" altLang="en-US" sz="1600" b="1">
                <a:solidFill>
                  <a:srgbClr val="000000"/>
                </a:solidFill>
                <a:latin typeface="微软雅黑" panose="020B0503020204020204" pitchFamily="34" charset="-122"/>
                <a:ea typeface="微软雅黑" panose="020B0503020204020204" pitchFamily="34" charset="-122"/>
              </a:endParaRPr>
            </a:p>
          </p:txBody>
        </p:sp>
        <p:sp>
          <p:nvSpPr>
            <p:cNvPr id="78" name="Line 411"/>
            <p:cNvSpPr>
              <a:spLocks noChangeShapeType="1"/>
            </p:cNvSpPr>
            <p:nvPr/>
          </p:nvSpPr>
          <p:spPr bwMode="auto">
            <a:xfrm flipV="1">
              <a:off x="6032980" y="2771110"/>
              <a:ext cx="1191393" cy="0"/>
            </a:xfrm>
            <a:prstGeom prst="line">
              <a:avLst/>
            </a:prstGeom>
            <a:ln w="50800">
              <a:solidFill>
                <a:srgbClr val="0000CC">
                  <a:alpha val="60000"/>
                </a:srgbClr>
              </a:solidFill>
              <a:prstDash val="sysDot"/>
              <a:headEnd type="triangle" w="sm" len="lg"/>
              <a:tailEnd type="triangle" w="sm" len="lg"/>
            </a:ln>
          </p:spPr>
          <p:style>
            <a:lnRef idx="1">
              <a:schemeClr val="accent3"/>
            </a:lnRef>
            <a:fillRef idx="3">
              <a:schemeClr val="accent3"/>
            </a:fillRef>
            <a:effectRef idx="2">
              <a:schemeClr val="accent3"/>
            </a:effectRef>
            <a:fontRef idx="minor">
              <a:schemeClr val="lt1"/>
            </a:fontRef>
          </p:style>
          <p:txBody>
            <a:bodyPr/>
            <a:lstStyle/>
            <a:p>
              <a:endParaRPr kumimoji="1" lang="zh-CN" altLang="en-US" sz="1600" b="1">
                <a:solidFill>
                  <a:srgbClr val="000000"/>
                </a:solidFill>
                <a:latin typeface="微软雅黑" panose="020B0503020204020204" pitchFamily="34" charset="-122"/>
                <a:ea typeface="微软雅黑" panose="020B0503020204020204" pitchFamily="34" charset="-122"/>
              </a:endParaRPr>
            </a:p>
          </p:txBody>
        </p:sp>
      </p:grpSp>
      <p:sp>
        <p:nvSpPr>
          <p:cNvPr id="11" name="标题 10">
            <a:extLst>
              <a:ext uri="{FF2B5EF4-FFF2-40B4-BE49-F238E27FC236}">
                <a16:creationId xmlns:a16="http://schemas.microsoft.com/office/drawing/2014/main" id="{B162DC1D-6FDE-6AF8-824A-8710FDBFB146}"/>
              </a:ext>
            </a:extLst>
          </p:cNvPr>
          <p:cNvSpPr>
            <a:spLocks noGrp="1"/>
          </p:cNvSpPr>
          <p:nvPr>
            <p:ph type="title"/>
          </p:nvPr>
        </p:nvSpPr>
        <p:spPr>
          <a:xfrm>
            <a:off x="612000" y="144000"/>
            <a:ext cx="7920000" cy="341632"/>
          </a:xfrm>
        </p:spPr>
        <p:txBody>
          <a:bodyPr/>
          <a:lstStyle/>
          <a:p>
            <a:r>
              <a:rPr lang="zh-CN" altLang="en-US" dirty="0"/>
              <a:t>第三阶段：</a:t>
            </a:r>
            <a:r>
              <a:rPr lang="en-US" altLang="zh-CN" dirty="0"/>
              <a:t>1993 –</a:t>
            </a:r>
            <a:endParaRPr lang="zh-CN" altLang="en-US" dirty="0"/>
          </a:p>
        </p:txBody>
      </p:sp>
      <p:sp>
        <p:nvSpPr>
          <p:cNvPr id="4" name="文本框 3">
            <a:extLst>
              <a:ext uri="{FF2B5EF4-FFF2-40B4-BE49-F238E27FC236}">
                <a16:creationId xmlns:a16="http://schemas.microsoft.com/office/drawing/2014/main" id="{1468BCF6-736F-5A91-75E4-AFC1B2F83CB7}"/>
              </a:ext>
            </a:extLst>
          </p:cNvPr>
          <p:cNvSpPr txBox="1"/>
          <p:nvPr/>
        </p:nvSpPr>
        <p:spPr>
          <a:xfrm>
            <a:off x="1191908" y="4325567"/>
            <a:ext cx="6760184" cy="307777"/>
          </a:xfrm>
          <a:prstGeom prst="rect">
            <a:avLst/>
          </a:prstGeom>
          <a:noFill/>
        </p:spPr>
        <p:txBody>
          <a:bodyPr wrap="none" rtlCol="0">
            <a:spAutoFit/>
          </a:bodyPr>
          <a:lstStyle/>
          <a:p>
            <a:pPr algn="ctr"/>
            <a:r>
              <a:rPr lang="zh-CN" altLang="en-US" sz="1400" dirty="0"/>
              <a:t>通信举例：主机</a:t>
            </a:r>
            <a:r>
              <a:rPr lang="en-US" altLang="zh-CN" sz="1400" dirty="0"/>
              <a:t>A → </a:t>
            </a:r>
            <a:r>
              <a:rPr lang="zh-CN" altLang="en-US" sz="1400" dirty="0"/>
              <a:t>本地 </a:t>
            </a:r>
            <a:r>
              <a:rPr lang="en-US" altLang="zh-CN" sz="1400" dirty="0"/>
              <a:t>ISP → </a:t>
            </a:r>
            <a:r>
              <a:rPr lang="zh-CN" altLang="en-US" sz="1400" dirty="0"/>
              <a:t>地区 </a:t>
            </a:r>
            <a:r>
              <a:rPr lang="en-US" altLang="zh-CN" sz="1400" dirty="0"/>
              <a:t>ISP → </a:t>
            </a:r>
            <a:r>
              <a:rPr lang="zh-CN" altLang="en-US" sz="1400" dirty="0"/>
              <a:t>主干 </a:t>
            </a:r>
            <a:r>
              <a:rPr lang="en-US" altLang="zh-CN" sz="1400" dirty="0"/>
              <a:t>ISP → </a:t>
            </a:r>
            <a:r>
              <a:rPr lang="zh-CN" altLang="en-US" sz="1400" dirty="0"/>
              <a:t>地区 </a:t>
            </a:r>
            <a:r>
              <a:rPr lang="en-US" altLang="zh-CN" sz="1400" dirty="0"/>
              <a:t>ISP → </a:t>
            </a:r>
            <a:r>
              <a:rPr lang="zh-CN" altLang="en-US" sz="1400" dirty="0"/>
              <a:t>本地 </a:t>
            </a:r>
            <a:r>
              <a:rPr lang="en-US" altLang="zh-CN" sz="1400" dirty="0"/>
              <a:t>ISP → </a:t>
            </a:r>
            <a:r>
              <a:rPr lang="zh-CN" altLang="en-US" sz="1400" dirty="0"/>
              <a:t>主机</a:t>
            </a:r>
            <a:r>
              <a:rPr lang="en-US" altLang="zh-CN" sz="1400" dirty="0"/>
              <a:t>B</a:t>
            </a:r>
          </a:p>
        </p:txBody>
      </p:sp>
    </p:spTree>
    <p:extLst>
      <p:ext uri="{BB962C8B-B14F-4D97-AF65-F5344CB8AC3E}">
        <p14:creationId xmlns:p14="http://schemas.microsoft.com/office/powerpoint/2010/main" val="1618361852"/>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8" name="组合 7">
            <a:extLst>
              <a:ext uri="{FF2B5EF4-FFF2-40B4-BE49-F238E27FC236}">
                <a16:creationId xmlns:a16="http://schemas.microsoft.com/office/drawing/2014/main" id="{CE3C9138-5C88-D684-7941-46E0197ED3E0}"/>
              </a:ext>
            </a:extLst>
          </p:cNvPr>
          <p:cNvGrpSpPr/>
          <p:nvPr/>
        </p:nvGrpSpPr>
        <p:grpSpPr>
          <a:xfrm>
            <a:off x="3852000" y="1205917"/>
            <a:ext cx="1440000" cy="1440000"/>
            <a:chOff x="4536476" y="1929112"/>
            <a:chExt cx="1440000" cy="1440000"/>
          </a:xfrm>
        </p:grpSpPr>
        <p:sp>
          <p:nvSpPr>
            <p:cNvPr id="4" name="菱形 3">
              <a:extLst>
                <a:ext uri="{FF2B5EF4-FFF2-40B4-BE49-F238E27FC236}">
                  <a16:creationId xmlns:a16="http://schemas.microsoft.com/office/drawing/2014/main" id="{6FFE359C-B351-F0C2-EEDA-7E19E7CE2F42}"/>
                </a:ext>
              </a:extLst>
            </p:cNvPr>
            <p:cNvSpPr/>
            <p:nvPr/>
          </p:nvSpPr>
          <p:spPr>
            <a:xfrm>
              <a:off x="4536476" y="1929112"/>
              <a:ext cx="1440000" cy="1440000"/>
            </a:xfrm>
            <a:prstGeom prst="diamond">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zh-CN" altLang="en-US" dirty="0"/>
            </a:p>
          </p:txBody>
        </p:sp>
        <p:sp>
          <p:nvSpPr>
            <p:cNvPr id="6" name="菱形 5">
              <a:extLst>
                <a:ext uri="{FF2B5EF4-FFF2-40B4-BE49-F238E27FC236}">
                  <a16:creationId xmlns:a16="http://schemas.microsoft.com/office/drawing/2014/main" id="{1873A152-C7D9-FF72-1CCE-EC9AB6F84E95}"/>
                </a:ext>
              </a:extLst>
            </p:cNvPr>
            <p:cNvSpPr/>
            <p:nvPr/>
          </p:nvSpPr>
          <p:spPr>
            <a:xfrm>
              <a:off x="4613838" y="2006474"/>
              <a:ext cx="1285276" cy="1285276"/>
            </a:xfrm>
            <a:prstGeom prst="diamond">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a:t>核心业务</a:t>
              </a:r>
              <a:endParaRPr lang="zh-CN" altLang="en-US" dirty="0"/>
            </a:p>
          </p:txBody>
        </p:sp>
      </p:grpSp>
      <p:sp>
        <p:nvSpPr>
          <p:cNvPr id="9" name="文本框 8">
            <a:extLst>
              <a:ext uri="{FF2B5EF4-FFF2-40B4-BE49-F238E27FC236}">
                <a16:creationId xmlns:a16="http://schemas.microsoft.com/office/drawing/2014/main" id="{9160B8BF-4647-37FB-C091-227CE33B43EE}"/>
              </a:ext>
            </a:extLst>
          </p:cNvPr>
          <p:cNvSpPr txBox="1"/>
          <p:nvPr/>
        </p:nvSpPr>
        <p:spPr>
          <a:xfrm>
            <a:off x="1254223" y="1999510"/>
            <a:ext cx="2460930" cy="1369606"/>
          </a:xfrm>
          <a:prstGeom prst="rect">
            <a:avLst/>
          </a:prstGeom>
          <a:noFill/>
        </p:spPr>
        <p:txBody>
          <a:bodyPr wrap="square" rtlCol="0">
            <a:spAutoFit/>
          </a:bodyPr>
          <a:lstStyle/>
          <a:p>
            <a:pPr marL="171450" lvl="1" indent="-171450">
              <a:buFont typeface="Arial" panose="020B0604020202020204" pitchFamily="34" charset="0"/>
              <a:buChar char="•"/>
            </a:pPr>
            <a:r>
              <a:rPr lang="zh-CN" altLang="en-US" sz="1200" dirty="0"/>
              <a:t>允许两个网络直接相连并快速交换分组</a:t>
            </a:r>
            <a:endParaRPr lang="en-US" altLang="zh-CN" sz="1200" dirty="0"/>
          </a:p>
          <a:p>
            <a:pPr marL="171450" lvl="1" indent="-171450">
              <a:buFont typeface="Arial" panose="020B0604020202020204" pitchFamily="34" charset="0"/>
              <a:buChar char="•"/>
            </a:pPr>
            <a:r>
              <a:rPr lang="zh-CN" altLang="en-US" sz="1200" dirty="0"/>
              <a:t>常采用工作在数据链路层的网络交换机</a:t>
            </a:r>
            <a:endParaRPr lang="en-US" altLang="zh-CN" sz="1200" dirty="0"/>
          </a:p>
          <a:p>
            <a:pPr marL="171450" lvl="1" indent="-171450">
              <a:buFont typeface="Arial" panose="020B0604020202020204" pitchFamily="34" charset="0"/>
              <a:buChar char="•"/>
            </a:pPr>
            <a:r>
              <a:rPr lang="zh-CN" altLang="en-US" sz="1200" dirty="0"/>
              <a:t>世界上较大的 </a:t>
            </a:r>
            <a:r>
              <a:rPr lang="en-US" altLang="zh-CN" sz="1200" dirty="0"/>
              <a:t>IXP </a:t>
            </a:r>
            <a:r>
              <a:rPr lang="zh-CN" altLang="en-US" sz="1200" dirty="0"/>
              <a:t>的峰值吞吐量都在 </a:t>
            </a:r>
            <a:r>
              <a:rPr lang="en-US" altLang="zh-CN" sz="1200" dirty="0"/>
              <a:t>Tbit/s </a:t>
            </a:r>
            <a:r>
              <a:rPr lang="zh-CN" altLang="en-US" sz="1200" dirty="0"/>
              <a:t>量级</a:t>
            </a:r>
            <a:endParaRPr lang="en-US" altLang="zh-CN" sz="1200" dirty="0"/>
          </a:p>
          <a:p>
            <a:pPr algn="l"/>
            <a:endParaRPr lang="zh-CN" altLang="en-US" sz="1100" dirty="0"/>
          </a:p>
        </p:txBody>
      </p:sp>
      <p:sp>
        <p:nvSpPr>
          <p:cNvPr id="10" name="文本框 9">
            <a:extLst>
              <a:ext uri="{FF2B5EF4-FFF2-40B4-BE49-F238E27FC236}">
                <a16:creationId xmlns:a16="http://schemas.microsoft.com/office/drawing/2014/main" id="{F2A861FF-54F6-7E3C-6B49-B7DC8DF3EB1C}"/>
              </a:ext>
            </a:extLst>
          </p:cNvPr>
          <p:cNvSpPr txBox="1"/>
          <p:nvPr/>
        </p:nvSpPr>
        <p:spPr>
          <a:xfrm>
            <a:off x="5428847" y="1984055"/>
            <a:ext cx="2460930" cy="830997"/>
          </a:xfrm>
          <a:prstGeom prst="rect">
            <a:avLst/>
          </a:prstGeom>
          <a:noFill/>
        </p:spPr>
        <p:txBody>
          <a:bodyPr wrap="square" rtlCol="0">
            <a:spAutoFit/>
          </a:bodyPr>
          <a:lstStyle/>
          <a:p>
            <a:pPr marL="285750" lvl="1" indent="-285750">
              <a:buFont typeface="Arial" panose="020B0604020202020204" pitchFamily="34" charset="0"/>
              <a:buChar char="•"/>
            </a:pPr>
            <a:r>
              <a:rPr lang="zh-CN" altLang="en-US" sz="1200" dirty="0"/>
              <a:t>在互联网上向所有用户提供视频等内容的公司</a:t>
            </a:r>
            <a:endParaRPr lang="en-US" altLang="zh-CN" sz="1200" dirty="0"/>
          </a:p>
          <a:p>
            <a:pPr marL="285750" lvl="1" indent="-285750">
              <a:buFont typeface="Arial" panose="020B0604020202020204" pitchFamily="34" charset="0"/>
              <a:buChar char="•"/>
            </a:pPr>
            <a:r>
              <a:rPr lang="zh-CN" altLang="en-US" sz="1200" dirty="0"/>
              <a:t>不向用户提供互联网的转接服务</a:t>
            </a:r>
          </a:p>
        </p:txBody>
      </p:sp>
      <p:sp>
        <p:nvSpPr>
          <p:cNvPr id="11" name="文本框 10">
            <a:extLst>
              <a:ext uri="{FF2B5EF4-FFF2-40B4-BE49-F238E27FC236}">
                <a16:creationId xmlns:a16="http://schemas.microsoft.com/office/drawing/2014/main" id="{A5B9F00C-C7C8-6F68-20F8-57EA12BE3910}"/>
              </a:ext>
            </a:extLst>
          </p:cNvPr>
          <p:cNvSpPr txBox="1"/>
          <p:nvPr/>
        </p:nvSpPr>
        <p:spPr>
          <a:xfrm>
            <a:off x="5428848" y="1402137"/>
            <a:ext cx="1790875" cy="523220"/>
          </a:xfrm>
          <a:prstGeom prst="rect">
            <a:avLst/>
          </a:prstGeom>
          <a:noFill/>
        </p:spPr>
        <p:txBody>
          <a:bodyPr wrap="none" rtlCol="0">
            <a:spAutoFit/>
          </a:bodyPr>
          <a:lstStyle/>
          <a:p>
            <a:r>
              <a:rPr lang="zh-CN" altLang="en-US" sz="1400" dirty="0"/>
              <a:t>内容提供者 </a:t>
            </a:r>
            <a:r>
              <a:rPr lang="en-US" altLang="zh-CN" sz="1400" dirty="0"/>
              <a:t>CP</a:t>
            </a:r>
          </a:p>
          <a:p>
            <a:r>
              <a:rPr lang="en-US" altLang="zh-CN" sz="1400" dirty="0"/>
              <a:t>Content Provider</a:t>
            </a:r>
          </a:p>
        </p:txBody>
      </p:sp>
      <p:sp>
        <p:nvSpPr>
          <p:cNvPr id="12" name="文本框 11">
            <a:extLst>
              <a:ext uri="{FF2B5EF4-FFF2-40B4-BE49-F238E27FC236}">
                <a16:creationId xmlns:a16="http://schemas.microsoft.com/office/drawing/2014/main" id="{4CB9DD72-1F21-D061-5C80-C9A7649A82D6}"/>
              </a:ext>
            </a:extLst>
          </p:cNvPr>
          <p:cNvSpPr txBox="1"/>
          <p:nvPr/>
        </p:nvSpPr>
        <p:spPr>
          <a:xfrm>
            <a:off x="1254222" y="1402137"/>
            <a:ext cx="2460930" cy="523220"/>
          </a:xfrm>
          <a:prstGeom prst="rect">
            <a:avLst/>
          </a:prstGeom>
          <a:noFill/>
        </p:spPr>
        <p:txBody>
          <a:bodyPr wrap="none" rtlCol="0">
            <a:spAutoFit/>
          </a:bodyPr>
          <a:lstStyle/>
          <a:p>
            <a:r>
              <a:rPr lang="zh-CN" altLang="en-US" sz="1400" dirty="0"/>
              <a:t>互联网交换点 </a:t>
            </a:r>
            <a:r>
              <a:rPr lang="en-US" altLang="zh-CN" sz="1400" dirty="0"/>
              <a:t>IXP</a:t>
            </a:r>
          </a:p>
          <a:p>
            <a:r>
              <a:rPr lang="en-US" altLang="zh-CN" sz="1400" dirty="0"/>
              <a:t>Internet </a:t>
            </a:r>
            <a:r>
              <a:rPr lang="en-US" altLang="zh-CN" sz="1400" dirty="0" err="1"/>
              <a:t>eXchange</a:t>
            </a:r>
            <a:r>
              <a:rPr lang="en-US" altLang="zh-CN" sz="1400" dirty="0"/>
              <a:t> Point</a:t>
            </a:r>
          </a:p>
        </p:txBody>
      </p:sp>
      <p:cxnSp>
        <p:nvCxnSpPr>
          <p:cNvPr id="14" name="直接连接符 13">
            <a:extLst>
              <a:ext uri="{FF2B5EF4-FFF2-40B4-BE49-F238E27FC236}">
                <a16:creationId xmlns:a16="http://schemas.microsoft.com/office/drawing/2014/main" id="{E9932A41-69CE-A7B3-C534-BCE260F75689}"/>
              </a:ext>
            </a:extLst>
          </p:cNvPr>
          <p:cNvCxnSpPr>
            <a:stCxn id="4" idx="1"/>
          </p:cNvCxnSpPr>
          <p:nvPr/>
        </p:nvCxnSpPr>
        <p:spPr>
          <a:xfrm flipH="1" flipV="1">
            <a:off x="728962" y="1925357"/>
            <a:ext cx="3123038" cy="56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6" name="直接连接符 15">
            <a:extLst>
              <a:ext uri="{FF2B5EF4-FFF2-40B4-BE49-F238E27FC236}">
                <a16:creationId xmlns:a16="http://schemas.microsoft.com/office/drawing/2014/main" id="{D72F23BF-C578-FBA6-25B8-8A5944A91897}"/>
              </a:ext>
            </a:extLst>
          </p:cNvPr>
          <p:cNvCxnSpPr>
            <a:stCxn id="4" idx="3"/>
          </p:cNvCxnSpPr>
          <p:nvPr/>
        </p:nvCxnSpPr>
        <p:spPr>
          <a:xfrm flipV="1">
            <a:off x="5292000" y="1925357"/>
            <a:ext cx="3027122" cy="56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0457615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标题 9">
            <a:extLst>
              <a:ext uri="{FF2B5EF4-FFF2-40B4-BE49-F238E27FC236}">
                <a16:creationId xmlns:a16="http://schemas.microsoft.com/office/drawing/2014/main" id="{27B82C64-AA89-9F6E-A7C9-557E283EB359}"/>
              </a:ext>
            </a:extLst>
          </p:cNvPr>
          <p:cNvSpPr>
            <a:spLocks noGrp="1"/>
          </p:cNvSpPr>
          <p:nvPr>
            <p:ph type="title"/>
          </p:nvPr>
        </p:nvSpPr>
        <p:spPr>
          <a:xfrm>
            <a:off x="612000" y="144000"/>
            <a:ext cx="7920000" cy="341632"/>
          </a:xfrm>
        </p:spPr>
        <p:txBody>
          <a:bodyPr/>
          <a:lstStyle/>
          <a:p>
            <a:r>
              <a:rPr lang="zh-CN" altLang="en-US" dirty="0"/>
              <a:t>万维网 </a:t>
            </a:r>
            <a:r>
              <a:rPr lang="en-US" altLang="zh-CN" dirty="0"/>
              <a:t>WWW</a:t>
            </a:r>
            <a:endParaRPr lang="zh-CN" altLang="en-US" dirty="0"/>
          </a:p>
        </p:txBody>
      </p:sp>
      <p:sp>
        <p:nvSpPr>
          <p:cNvPr id="2" name="内容占位符 1"/>
          <p:cNvSpPr>
            <a:spLocks noGrp="1"/>
          </p:cNvSpPr>
          <p:nvPr>
            <p:ph sz="quarter" idx="10"/>
          </p:nvPr>
        </p:nvSpPr>
        <p:spPr>
          <a:xfrm>
            <a:off x="612000" y="899999"/>
            <a:ext cx="7920000" cy="3780000"/>
          </a:xfrm>
        </p:spPr>
        <p:txBody>
          <a:bodyPr/>
          <a:lstStyle/>
          <a:p>
            <a:r>
              <a:rPr lang="en-US" altLang="zh-CN" dirty="0"/>
              <a:t>World Wide Web</a:t>
            </a:r>
          </a:p>
          <a:p>
            <a:r>
              <a:rPr lang="en-US" altLang="zh-CN" dirty="0"/>
              <a:t>20 </a:t>
            </a:r>
            <a:r>
              <a:rPr lang="zh-CN" altLang="en-US" dirty="0"/>
              <a:t>世纪 </a:t>
            </a:r>
            <a:r>
              <a:rPr lang="en-US" altLang="zh-CN" dirty="0"/>
              <a:t>90 </a:t>
            </a:r>
            <a:r>
              <a:rPr lang="zh-CN" altLang="en-US" dirty="0"/>
              <a:t>年代问世</a:t>
            </a:r>
            <a:endParaRPr lang="en-US" altLang="zh-CN" dirty="0"/>
          </a:p>
          <a:p>
            <a:r>
              <a:rPr lang="zh-CN" altLang="en-US" dirty="0"/>
              <a:t>由欧洲原子核研究组织 </a:t>
            </a:r>
            <a:r>
              <a:rPr lang="en-US" altLang="zh-CN" dirty="0"/>
              <a:t>CERN </a:t>
            </a:r>
            <a:r>
              <a:rPr lang="zh-CN" altLang="en-US" dirty="0"/>
              <a:t>开发</a:t>
            </a:r>
          </a:p>
          <a:p>
            <a:r>
              <a:rPr lang="zh-CN" altLang="en-US" dirty="0"/>
              <a:t>成为互联网指数级增长的主要驱动力</a:t>
            </a:r>
          </a:p>
          <a:p>
            <a:r>
              <a:rPr lang="en-US" altLang="zh-CN" dirty="0"/>
              <a:t>2019 </a:t>
            </a:r>
            <a:r>
              <a:rPr lang="zh-CN" altLang="en-US" dirty="0"/>
              <a:t>年 </a:t>
            </a:r>
            <a:r>
              <a:rPr lang="en-US" altLang="zh-CN" dirty="0"/>
              <a:t>3 </a:t>
            </a:r>
            <a:r>
              <a:rPr lang="zh-CN" altLang="en-US" dirty="0"/>
              <a:t>月底，互联网的用户数已超过了 </a:t>
            </a:r>
            <a:r>
              <a:rPr lang="en-US" altLang="zh-CN" dirty="0"/>
              <a:t>43.8</a:t>
            </a:r>
            <a:r>
              <a:rPr lang="zh-CN" altLang="en-US" dirty="0"/>
              <a:t>亿</a:t>
            </a:r>
          </a:p>
          <a:p>
            <a:r>
              <a:rPr lang="zh-CN" altLang="zh-CN" dirty="0"/>
              <a:t>管理机构是</a:t>
            </a:r>
            <a:r>
              <a:rPr lang="zh-CN" altLang="zh-CN" dirty="0">
                <a:hlinkClick r:id="rId2"/>
              </a:rPr>
              <a:t>万维网联盟</a:t>
            </a:r>
            <a:r>
              <a:rPr lang="zh-CN" altLang="zh-CN" dirty="0"/>
              <a:t> W3C（World Wide Web Consortium）</a:t>
            </a:r>
            <a:endParaRPr lang="en-US" altLang="zh-CN" dirty="0"/>
          </a:p>
        </p:txBody>
      </p:sp>
    </p:spTree>
    <p:extLst>
      <p:ext uri="{BB962C8B-B14F-4D97-AF65-F5344CB8AC3E}">
        <p14:creationId xmlns:p14="http://schemas.microsoft.com/office/powerpoint/2010/main" val="554200668"/>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标题 8">
            <a:extLst>
              <a:ext uri="{FF2B5EF4-FFF2-40B4-BE49-F238E27FC236}">
                <a16:creationId xmlns:a16="http://schemas.microsoft.com/office/drawing/2014/main" id="{E37C825B-9650-2163-FBDF-4D63627E3166}"/>
              </a:ext>
            </a:extLst>
          </p:cNvPr>
          <p:cNvSpPr>
            <a:spLocks noGrp="1"/>
          </p:cNvSpPr>
          <p:nvPr>
            <p:ph type="title"/>
          </p:nvPr>
        </p:nvSpPr>
        <p:spPr>
          <a:xfrm>
            <a:off x="612000" y="144000"/>
            <a:ext cx="7920000" cy="341632"/>
          </a:xfrm>
        </p:spPr>
        <p:txBody>
          <a:bodyPr/>
          <a:lstStyle/>
          <a:p>
            <a:r>
              <a:rPr lang="en-US" altLang="zh-CN" dirty="0"/>
              <a:t>1.2.3  </a:t>
            </a:r>
            <a:r>
              <a:rPr lang="zh-CN" altLang="en-US" dirty="0"/>
              <a:t>互联网的标准化工作</a:t>
            </a:r>
          </a:p>
        </p:txBody>
      </p:sp>
      <p:sp>
        <p:nvSpPr>
          <p:cNvPr id="2" name="内容占位符 1"/>
          <p:cNvSpPr>
            <a:spLocks noGrp="1"/>
          </p:cNvSpPr>
          <p:nvPr>
            <p:ph sz="quarter" idx="10"/>
          </p:nvPr>
        </p:nvSpPr>
        <p:spPr>
          <a:xfrm>
            <a:off x="612000" y="899999"/>
            <a:ext cx="7920000" cy="3780000"/>
          </a:xfrm>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r>
              <a:rPr lang="zh-CN" altLang="en-US" dirty="0"/>
              <a:t>互联网的标准化工作对互联网的发展起到了非常重要的作用</a:t>
            </a:r>
          </a:p>
        </p:txBody>
      </p:sp>
      <p:sp>
        <p:nvSpPr>
          <p:cNvPr id="5" name="AutoShape 44"/>
          <p:cNvSpPr>
            <a:spLocks noChangeArrowheads="1"/>
          </p:cNvSpPr>
          <p:nvPr/>
        </p:nvSpPr>
        <p:spPr bwMode="auto">
          <a:xfrm>
            <a:off x="4750376" y="2513371"/>
            <a:ext cx="2774284" cy="1729338"/>
          </a:xfrm>
          <a:prstGeom prst="rect">
            <a:avLst/>
          </a:prstGeom>
          <a:noFill/>
          <a:ln w="6350">
            <a:solidFill>
              <a:schemeClr val="tx1">
                <a:lumMod val="50000"/>
                <a:lumOff val="50000"/>
              </a:schemeClr>
            </a:solidFill>
          </a:ln>
          <a:effectLst/>
          <a:scene3d>
            <a:camera prst="orthographicFront">
              <a:rot lat="0" lon="0" rev="0"/>
            </a:camera>
            <a:lightRig rig="glow" dir="t">
              <a:rot lat="0" lon="0" rev="14100000"/>
            </a:lightRig>
          </a:scene3d>
          <a:sp3d prstMaterial="softEdge"/>
        </p:spPr>
        <p:txBody>
          <a:bodyPr wrap="none" anchor="ctr"/>
          <a:lstStyle/>
          <a:p>
            <a:endParaRPr lang="zh-CN" altLang="en-US"/>
          </a:p>
        </p:txBody>
      </p:sp>
      <p:sp>
        <p:nvSpPr>
          <p:cNvPr id="6" name="AutoShape 43"/>
          <p:cNvSpPr>
            <a:spLocks noChangeArrowheads="1"/>
          </p:cNvSpPr>
          <p:nvPr/>
        </p:nvSpPr>
        <p:spPr bwMode="auto">
          <a:xfrm>
            <a:off x="1619340" y="2513371"/>
            <a:ext cx="2834003" cy="1729338"/>
          </a:xfrm>
          <a:prstGeom prst="rect">
            <a:avLst/>
          </a:prstGeom>
          <a:noFill/>
          <a:ln w="6350">
            <a:solidFill>
              <a:schemeClr val="tx1">
                <a:lumMod val="50000"/>
                <a:lumOff val="50000"/>
              </a:schemeClr>
            </a:solidFill>
          </a:ln>
          <a:effectLst/>
          <a:scene3d>
            <a:camera prst="orthographicFront">
              <a:rot lat="0" lon="0" rev="0"/>
            </a:camera>
            <a:lightRig rig="glow" dir="t">
              <a:rot lat="0" lon="0" rev="14100000"/>
            </a:lightRig>
          </a:scene3d>
          <a:sp3d prstMaterial="softEdge"/>
        </p:spPr>
        <p:txBody>
          <a:bodyPr wrap="none" anchor="ctr"/>
          <a:lstStyle/>
          <a:p>
            <a:pPr fontAlgn="auto">
              <a:spcBef>
                <a:spcPts val="0"/>
              </a:spcBef>
              <a:spcAft>
                <a:spcPts val="0"/>
              </a:spcAft>
              <a:defRPr/>
            </a:pPr>
            <a:endParaRPr lang="zh-CN" altLang="en-US">
              <a:latin typeface="+mn-lt"/>
              <a:ea typeface="+mn-ea"/>
            </a:endParaRPr>
          </a:p>
        </p:txBody>
      </p:sp>
      <p:sp>
        <p:nvSpPr>
          <p:cNvPr id="42007" name="Freeform 4"/>
          <p:cNvSpPr>
            <a:spLocks/>
          </p:cNvSpPr>
          <p:nvPr/>
        </p:nvSpPr>
        <p:spPr bwMode="auto">
          <a:xfrm>
            <a:off x="3665570" y="2025516"/>
            <a:ext cx="1749684" cy="156605"/>
          </a:xfrm>
          <a:custGeom>
            <a:avLst/>
            <a:gdLst>
              <a:gd name="T0" fmla="*/ 0 w 1584"/>
              <a:gd name="T1" fmla="*/ 0 h 336"/>
              <a:gd name="T2" fmla="*/ 2147483647 w 1584"/>
              <a:gd name="T3" fmla="*/ 0 h 336"/>
              <a:gd name="T4" fmla="*/ 2147483647 w 1584"/>
              <a:gd name="T5" fmla="*/ 136021576 h 336"/>
              <a:gd name="T6" fmla="*/ 544752399 w 1584"/>
              <a:gd name="T7" fmla="*/ 136021576 h 336"/>
              <a:gd name="T8" fmla="*/ 0 w 1584"/>
              <a:gd name="T9" fmla="*/ 0 h 336"/>
              <a:gd name="T10" fmla="*/ 0 60000 65536"/>
              <a:gd name="T11" fmla="*/ 0 60000 65536"/>
              <a:gd name="T12" fmla="*/ 0 60000 65536"/>
              <a:gd name="T13" fmla="*/ 0 60000 65536"/>
              <a:gd name="T14" fmla="*/ 0 60000 65536"/>
              <a:gd name="T15" fmla="*/ 0 w 1584"/>
              <a:gd name="T16" fmla="*/ 0 h 336"/>
              <a:gd name="T17" fmla="*/ 1584 w 1584"/>
              <a:gd name="T18" fmla="*/ 336 h 336"/>
            </a:gdLst>
            <a:ahLst/>
            <a:cxnLst>
              <a:cxn ang="T10">
                <a:pos x="T0" y="T1"/>
              </a:cxn>
              <a:cxn ang="T11">
                <a:pos x="T2" y="T3"/>
              </a:cxn>
              <a:cxn ang="T12">
                <a:pos x="T4" y="T5"/>
              </a:cxn>
              <a:cxn ang="T13">
                <a:pos x="T6" y="T7"/>
              </a:cxn>
              <a:cxn ang="T14">
                <a:pos x="T8" y="T9"/>
              </a:cxn>
            </a:cxnLst>
            <a:rect l="T15" t="T16" r="T17" b="T18"/>
            <a:pathLst>
              <a:path w="1584" h="336">
                <a:moveTo>
                  <a:pt x="0" y="0"/>
                </a:moveTo>
                <a:lnTo>
                  <a:pt x="1584" y="0"/>
                </a:lnTo>
                <a:lnTo>
                  <a:pt x="1344" y="336"/>
                </a:lnTo>
                <a:lnTo>
                  <a:pt x="240" y="336"/>
                </a:lnTo>
                <a:lnTo>
                  <a:pt x="0" y="0"/>
                </a:lnTo>
                <a:close/>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42012" name="Text Box 17"/>
          <p:cNvSpPr txBox="1">
            <a:spLocks noChangeArrowheads="1"/>
          </p:cNvSpPr>
          <p:nvPr/>
        </p:nvSpPr>
        <p:spPr bwMode="auto">
          <a:xfrm>
            <a:off x="5978584" y="3534641"/>
            <a:ext cx="30809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eaLnBrk="0" hangingPunct="0"/>
            <a:r>
              <a:rPr lang="en-US" altLang="zh-CN" sz="1400" dirty="0"/>
              <a:t>…</a:t>
            </a:r>
          </a:p>
        </p:txBody>
      </p:sp>
      <p:sp>
        <p:nvSpPr>
          <p:cNvPr id="42013" name="Rectangle 20"/>
          <p:cNvSpPr>
            <a:spLocks noChangeArrowheads="1"/>
          </p:cNvSpPr>
          <p:nvPr/>
        </p:nvSpPr>
        <p:spPr bwMode="auto">
          <a:xfrm>
            <a:off x="2216012" y="3923528"/>
            <a:ext cx="317273" cy="261007"/>
          </a:xfrm>
          <a:prstGeom prst="rect">
            <a:avLst/>
          </a:prstGeom>
          <a:solidFill>
            <a:schemeClr val="bg1"/>
          </a:solidFill>
          <a:ln>
            <a:noFill/>
          </a:ln>
          <a:extLst>
            <a:ext uri="{91240B29-F687-4F45-9708-019B960494DF}">
              <a14:hiddenLine xmlns:a14="http://schemas.microsoft.com/office/drawing/2010/main" w="9525">
                <a:solidFill>
                  <a:srgbClr val="368AD6"/>
                </a:solidFill>
                <a:miter lim="800000"/>
                <a:headEnd/>
                <a:tailEnd/>
              </a14:hiddenLine>
            </a:ext>
          </a:extLst>
        </p:spPr>
        <p:txBody>
          <a:bodyPr wrap="none" anchor="ctr"/>
          <a:lstStyle/>
          <a:p>
            <a:pPr algn="ctr" eaLnBrk="0" hangingPunct="0"/>
            <a:r>
              <a:rPr lang="en-US" altLang="zh-CN" sz="1400" dirty="0"/>
              <a:t>RG</a:t>
            </a:r>
          </a:p>
        </p:txBody>
      </p:sp>
      <p:sp>
        <p:nvSpPr>
          <p:cNvPr id="42014" name="Rectangle 21"/>
          <p:cNvSpPr>
            <a:spLocks noChangeArrowheads="1"/>
          </p:cNvSpPr>
          <p:nvPr/>
        </p:nvSpPr>
        <p:spPr bwMode="auto">
          <a:xfrm>
            <a:off x="6884191" y="3922189"/>
            <a:ext cx="370821" cy="263684"/>
          </a:xfrm>
          <a:prstGeom prst="rect">
            <a:avLst/>
          </a:prstGeom>
          <a:solidFill>
            <a:schemeClr val="bg1"/>
          </a:solidFill>
          <a:ln>
            <a:noFill/>
          </a:ln>
          <a:extLst>
            <a:ext uri="{91240B29-F687-4F45-9708-019B960494DF}">
              <a14:hiddenLine xmlns:a14="http://schemas.microsoft.com/office/drawing/2010/main" w="9525">
                <a:solidFill>
                  <a:schemeClr val="tx1"/>
                </a:solidFill>
                <a:miter lim="800000"/>
                <a:headEnd/>
                <a:tailEnd/>
              </a14:hiddenLine>
            </a:ext>
          </a:extLst>
        </p:spPr>
        <p:txBody>
          <a:bodyPr wrap="none" anchor="ctr"/>
          <a:lstStyle/>
          <a:p>
            <a:pPr algn="ctr" eaLnBrk="0" hangingPunct="0"/>
            <a:r>
              <a:rPr lang="en-US" altLang="zh-CN" sz="1400"/>
              <a:t>WG</a:t>
            </a:r>
          </a:p>
        </p:txBody>
      </p:sp>
      <p:sp>
        <p:nvSpPr>
          <p:cNvPr id="42015" name="Text Box 22"/>
          <p:cNvSpPr txBox="1">
            <a:spLocks noChangeArrowheads="1"/>
          </p:cNvSpPr>
          <p:nvPr/>
        </p:nvSpPr>
        <p:spPr bwMode="auto">
          <a:xfrm>
            <a:off x="5346023" y="3878096"/>
            <a:ext cx="30809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eaLnBrk="0" hangingPunct="0"/>
            <a:r>
              <a:rPr lang="en-US" altLang="zh-CN" sz="1400" dirty="0"/>
              <a:t>…</a:t>
            </a:r>
          </a:p>
        </p:txBody>
      </p:sp>
      <p:sp>
        <p:nvSpPr>
          <p:cNvPr id="42016" name="Text Box 23"/>
          <p:cNvSpPr txBox="1">
            <a:spLocks noChangeArrowheads="1"/>
          </p:cNvSpPr>
          <p:nvPr/>
        </p:nvSpPr>
        <p:spPr bwMode="auto">
          <a:xfrm>
            <a:off x="6554870" y="3878096"/>
            <a:ext cx="30809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eaLnBrk="0" hangingPunct="0"/>
            <a:r>
              <a:rPr lang="en-US" altLang="zh-CN" sz="1400" dirty="0"/>
              <a:t>…</a:t>
            </a:r>
          </a:p>
        </p:txBody>
      </p:sp>
      <p:sp>
        <p:nvSpPr>
          <p:cNvPr id="42017" name="Rectangle 28"/>
          <p:cNvSpPr>
            <a:spLocks noChangeArrowheads="1"/>
          </p:cNvSpPr>
          <p:nvPr/>
        </p:nvSpPr>
        <p:spPr bwMode="auto">
          <a:xfrm>
            <a:off x="3560693" y="3923528"/>
            <a:ext cx="318611" cy="261007"/>
          </a:xfrm>
          <a:prstGeom prst="rect">
            <a:avLst/>
          </a:prstGeom>
          <a:solidFill>
            <a:schemeClr val="bg1"/>
          </a:solidFill>
          <a:ln>
            <a:noFill/>
          </a:ln>
          <a:extLst>
            <a:ext uri="{91240B29-F687-4F45-9708-019B960494DF}">
              <a14:hiddenLine xmlns:a14="http://schemas.microsoft.com/office/drawing/2010/main" w="9525">
                <a:solidFill>
                  <a:srgbClr val="368AD6"/>
                </a:solidFill>
                <a:miter lim="800000"/>
                <a:headEnd/>
                <a:tailEnd/>
              </a14:hiddenLine>
            </a:ext>
          </a:extLst>
        </p:spPr>
        <p:txBody>
          <a:bodyPr wrap="none" anchor="ctr"/>
          <a:lstStyle/>
          <a:p>
            <a:pPr algn="ctr" eaLnBrk="0" hangingPunct="0"/>
            <a:r>
              <a:rPr lang="en-US" altLang="zh-CN" sz="1400" dirty="0"/>
              <a:t>RG</a:t>
            </a:r>
          </a:p>
        </p:txBody>
      </p:sp>
      <p:sp>
        <p:nvSpPr>
          <p:cNvPr id="42018" name="Text Box 29"/>
          <p:cNvSpPr txBox="1">
            <a:spLocks noChangeArrowheads="1"/>
          </p:cNvSpPr>
          <p:nvPr/>
        </p:nvSpPr>
        <p:spPr bwMode="auto">
          <a:xfrm>
            <a:off x="2934180" y="3878096"/>
            <a:ext cx="30809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eaLnBrk="0" hangingPunct="0"/>
            <a:r>
              <a:rPr lang="en-US" altLang="zh-CN" sz="1400" dirty="0"/>
              <a:t>…</a:t>
            </a:r>
          </a:p>
        </p:txBody>
      </p:sp>
      <p:sp>
        <p:nvSpPr>
          <p:cNvPr id="42019" name="Rectangle 30"/>
          <p:cNvSpPr>
            <a:spLocks noChangeArrowheads="1"/>
          </p:cNvSpPr>
          <p:nvPr/>
        </p:nvSpPr>
        <p:spPr bwMode="auto">
          <a:xfrm>
            <a:off x="5330081" y="3564718"/>
            <a:ext cx="400272" cy="247622"/>
          </a:xfrm>
          <a:prstGeom prst="rect">
            <a:avLst/>
          </a:prstGeom>
          <a:solidFill>
            <a:schemeClr val="bg1"/>
          </a:solidFill>
          <a:ln>
            <a:noFill/>
          </a:ln>
          <a:extLst>
            <a:ext uri="{91240B29-F687-4F45-9708-019B960494DF}">
              <a14:hiddenLine xmlns:a14="http://schemas.microsoft.com/office/drawing/2010/main" w="9525">
                <a:solidFill>
                  <a:schemeClr val="tx1"/>
                </a:solidFill>
                <a:miter lim="800000"/>
                <a:headEnd/>
                <a:tailEnd/>
              </a14:hiddenLine>
            </a:ext>
          </a:extLst>
        </p:spPr>
        <p:txBody>
          <a:bodyPr wrap="none" anchor="ctr"/>
          <a:lstStyle/>
          <a:p>
            <a:pPr algn="ctr" eaLnBrk="0" hangingPunct="0"/>
            <a:r>
              <a:rPr lang="en-US" altLang="zh-CN" sz="1400" dirty="0"/>
              <a:t>Area</a:t>
            </a:r>
            <a:endParaRPr lang="zh-CN" altLang="en-US" sz="1400" dirty="0"/>
          </a:p>
        </p:txBody>
      </p:sp>
      <p:sp>
        <p:nvSpPr>
          <p:cNvPr id="42020" name="Rectangle 31"/>
          <p:cNvSpPr>
            <a:spLocks noChangeArrowheads="1"/>
          </p:cNvSpPr>
          <p:nvPr/>
        </p:nvSpPr>
        <p:spPr bwMode="auto">
          <a:xfrm>
            <a:off x="6534912" y="3564718"/>
            <a:ext cx="400272" cy="247622"/>
          </a:xfrm>
          <a:prstGeom prst="rect">
            <a:avLst/>
          </a:prstGeom>
          <a:solidFill>
            <a:schemeClr val="bg1"/>
          </a:solidFill>
          <a:ln>
            <a:noFill/>
          </a:ln>
          <a:extLst>
            <a:ext uri="{91240B29-F687-4F45-9708-019B960494DF}">
              <a14:hiddenLine xmlns:a14="http://schemas.microsoft.com/office/drawing/2010/main" w="9525">
                <a:solidFill>
                  <a:schemeClr val="tx1"/>
                </a:solidFill>
                <a:miter lim="800000"/>
                <a:headEnd/>
                <a:tailEnd/>
              </a14:hiddenLine>
            </a:ext>
          </a:extLst>
        </p:spPr>
        <p:txBody>
          <a:bodyPr wrap="none" anchor="ctr"/>
          <a:lstStyle/>
          <a:p>
            <a:pPr algn="ctr" eaLnBrk="0" hangingPunct="0"/>
            <a:r>
              <a:rPr lang="en-US" altLang="zh-CN" sz="1400" dirty="0"/>
              <a:t>Area</a:t>
            </a:r>
            <a:endParaRPr lang="zh-CN" altLang="en-US" sz="1400" dirty="0"/>
          </a:p>
        </p:txBody>
      </p:sp>
      <p:sp>
        <p:nvSpPr>
          <p:cNvPr id="42024" name="Rectangle 33"/>
          <p:cNvSpPr>
            <a:spLocks noChangeArrowheads="1"/>
          </p:cNvSpPr>
          <p:nvPr/>
        </p:nvSpPr>
        <p:spPr bwMode="auto">
          <a:xfrm>
            <a:off x="6138535" y="3922189"/>
            <a:ext cx="370821" cy="263684"/>
          </a:xfrm>
          <a:prstGeom prst="rect">
            <a:avLst/>
          </a:prstGeom>
          <a:solidFill>
            <a:schemeClr val="bg1"/>
          </a:solidFill>
          <a:ln>
            <a:noFill/>
          </a:ln>
          <a:extLst>
            <a:ext uri="{91240B29-F687-4F45-9708-019B960494DF}">
              <a14:hiddenLine xmlns:a14="http://schemas.microsoft.com/office/drawing/2010/main" w="9525">
                <a:solidFill>
                  <a:schemeClr val="tx1"/>
                </a:solidFill>
                <a:miter lim="800000"/>
                <a:headEnd/>
                <a:tailEnd/>
              </a14:hiddenLine>
            </a:ext>
          </a:extLst>
        </p:spPr>
        <p:txBody>
          <a:bodyPr wrap="none" anchor="ctr"/>
          <a:lstStyle/>
          <a:p>
            <a:pPr algn="ctr" eaLnBrk="0" hangingPunct="0"/>
            <a:r>
              <a:rPr lang="en-US" altLang="zh-CN" sz="1400"/>
              <a:t>WG</a:t>
            </a:r>
          </a:p>
        </p:txBody>
      </p:sp>
      <p:sp>
        <p:nvSpPr>
          <p:cNvPr id="42025" name="Rectangle 34"/>
          <p:cNvSpPr>
            <a:spLocks noChangeArrowheads="1"/>
          </p:cNvSpPr>
          <p:nvPr/>
        </p:nvSpPr>
        <p:spPr bwMode="auto">
          <a:xfrm>
            <a:off x="5640537" y="3922189"/>
            <a:ext cx="370821" cy="263684"/>
          </a:xfrm>
          <a:prstGeom prst="rect">
            <a:avLst/>
          </a:prstGeom>
          <a:solidFill>
            <a:schemeClr val="bg1"/>
          </a:solidFill>
          <a:ln>
            <a:noFill/>
          </a:ln>
          <a:extLst>
            <a:ext uri="{91240B29-F687-4F45-9708-019B960494DF}">
              <a14:hiddenLine xmlns:a14="http://schemas.microsoft.com/office/drawing/2010/main" w="9525">
                <a:solidFill>
                  <a:schemeClr val="tx1"/>
                </a:solidFill>
                <a:miter lim="800000"/>
                <a:headEnd/>
                <a:tailEnd/>
              </a14:hiddenLine>
            </a:ext>
          </a:extLst>
        </p:spPr>
        <p:txBody>
          <a:bodyPr wrap="none" anchor="ctr"/>
          <a:lstStyle/>
          <a:p>
            <a:pPr algn="ctr" eaLnBrk="0" hangingPunct="0"/>
            <a:r>
              <a:rPr lang="en-US" altLang="zh-CN" sz="1400"/>
              <a:t>WG</a:t>
            </a:r>
          </a:p>
        </p:txBody>
      </p:sp>
      <p:sp>
        <p:nvSpPr>
          <p:cNvPr id="42026" name="Rectangle 35"/>
          <p:cNvSpPr>
            <a:spLocks noChangeArrowheads="1"/>
          </p:cNvSpPr>
          <p:nvPr/>
        </p:nvSpPr>
        <p:spPr bwMode="auto">
          <a:xfrm>
            <a:off x="4967170" y="3922189"/>
            <a:ext cx="372159" cy="263684"/>
          </a:xfrm>
          <a:prstGeom prst="rect">
            <a:avLst/>
          </a:prstGeom>
          <a:solidFill>
            <a:schemeClr val="bg1"/>
          </a:solidFill>
          <a:ln>
            <a:noFill/>
          </a:ln>
          <a:extLst>
            <a:ext uri="{91240B29-F687-4F45-9708-019B960494DF}">
              <a14:hiddenLine xmlns:a14="http://schemas.microsoft.com/office/drawing/2010/main" w="9525">
                <a:solidFill>
                  <a:schemeClr val="tx1"/>
                </a:solidFill>
                <a:miter lim="800000"/>
                <a:headEnd/>
                <a:tailEnd/>
              </a14:hiddenLine>
            </a:ext>
          </a:extLst>
        </p:spPr>
        <p:txBody>
          <a:bodyPr wrap="none" anchor="ctr"/>
          <a:lstStyle/>
          <a:p>
            <a:pPr algn="ctr" eaLnBrk="0" hangingPunct="0"/>
            <a:r>
              <a:rPr lang="en-US" altLang="zh-CN" sz="1400" dirty="0"/>
              <a:t>WG</a:t>
            </a:r>
          </a:p>
        </p:txBody>
      </p:sp>
      <p:cxnSp>
        <p:nvCxnSpPr>
          <p:cNvPr id="42027" name="AutoShape 45"/>
          <p:cNvCxnSpPr>
            <a:cxnSpLocks noChangeShapeType="1"/>
            <a:stCxn id="30" idx="2"/>
            <a:endCxn id="42011" idx="0"/>
          </p:cNvCxnSpPr>
          <p:nvPr/>
        </p:nvCxnSpPr>
        <p:spPr bwMode="auto">
          <a:xfrm>
            <a:off x="4571687" y="2158170"/>
            <a:ext cx="1565831" cy="879261"/>
          </a:xfrm>
          <a:prstGeom prst="straightConnector1">
            <a:avLst/>
          </a:prstGeom>
          <a:noFill/>
          <a:ln w="12700">
            <a:solidFill>
              <a:schemeClr val="tx1">
                <a:lumMod val="50000"/>
                <a:lumOff val="50000"/>
              </a:schemeClr>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42028" name="AutoShape 46"/>
          <p:cNvCxnSpPr>
            <a:cxnSpLocks noChangeShapeType="1"/>
            <a:stCxn id="43" idx="2"/>
            <a:endCxn id="30" idx="0"/>
          </p:cNvCxnSpPr>
          <p:nvPr/>
        </p:nvCxnSpPr>
        <p:spPr bwMode="auto">
          <a:xfrm flipH="1">
            <a:off x="4571687" y="1727510"/>
            <a:ext cx="1" cy="122883"/>
          </a:xfrm>
          <a:prstGeom prst="straightConnector1">
            <a:avLst/>
          </a:prstGeom>
          <a:noFill/>
          <a:ln w="12700">
            <a:solidFill>
              <a:schemeClr val="tx1">
                <a:lumMod val="50000"/>
                <a:lumOff val="50000"/>
              </a:schemeClr>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42029" name="AutoShape 47"/>
          <p:cNvCxnSpPr>
            <a:cxnSpLocks noChangeShapeType="1"/>
            <a:stCxn id="30" idx="2"/>
            <a:endCxn id="42008" idx="0"/>
          </p:cNvCxnSpPr>
          <p:nvPr/>
        </p:nvCxnSpPr>
        <p:spPr bwMode="auto">
          <a:xfrm flipH="1">
            <a:off x="3036341" y="2158170"/>
            <a:ext cx="1535346" cy="879261"/>
          </a:xfrm>
          <a:prstGeom prst="straightConnector1">
            <a:avLst/>
          </a:prstGeom>
          <a:noFill/>
          <a:ln w="12700">
            <a:solidFill>
              <a:schemeClr val="tx1">
                <a:lumMod val="50000"/>
                <a:lumOff val="50000"/>
              </a:schemeClr>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30" name="Rectangle 32"/>
          <p:cNvSpPr>
            <a:spLocks noChangeArrowheads="1"/>
          </p:cNvSpPr>
          <p:nvPr/>
        </p:nvSpPr>
        <p:spPr bwMode="auto">
          <a:xfrm>
            <a:off x="3196951" y="1850393"/>
            <a:ext cx="2749472" cy="307777"/>
          </a:xfrm>
          <a:prstGeom prst="rect">
            <a:avLst/>
          </a:prstGeom>
          <a:noFill/>
          <a:ln w="6350">
            <a:noFill/>
            <a:miter lim="800000"/>
            <a:headEnd/>
            <a:tailEnd/>
          </a:ln>
          <a:effectLst/>
        </p:spPr>
        <p:txBody>
          <a:bodyPr wrap="none" anchor="ctr">
            <a:spAutoFit/>
          </a:bodyPr>
          <a:lstStyle/>
          <a:p>
            <a:pPr algn="ctr" eaLnBrk="0" fontAlgn="auto" hangingPunct="0">
              <a:spcBef>
                <a:spcPts val="0"/>
              </a:spcBef>
              <a:spcAft>
                <a:spcPts val="0"/>
              </a:spcAft>
              <a:defRPr/>
            </a:pPr>
            <a:r>
              <a:rPr lang="zh-CN" altLang="en-US" sz="1400" dirty="0"/>
              <a:t>互联网体系结构研究委员会 </a:t>
            </a:r>
            <a:r>
              <a:rPr lang="en-US" altLang="zh-CN" sz="1400" dirty="0"/>
              <a:t>IAB </a:t>
            </a:r>
          </a:p>
        </p:txBody>
      </p:sp>
      <p:sp>
        <p:nvSpPr>
          <p:cNvPr id="42008" name="Rectangle 10"/>
          <p:cNvSpPr>
            <a:spLocks noChangeArrowheads="1"/>
          </p:cNvSpPr>
          <p:nvPr/>
        </p:nvSpPr>
        <p:spPr bwMode="auto">
          <a:xfrm>
            <a:off x="1872401" y="3037431"/>
            <a:ext cx="2327880" cy="307777"/>
          </a:xfrm>
          <a:prstGeom prst="rect">
            <a:avLst/>
          </a:prstGeom>
          <a:ln>
            <a:solidFill>
              <a:schemeClr val="tx1">
                <a:lumMod val="50000"/>
                <a:lumOff val="50000"/>
              </a:schemeClr>
            </a:solidFill>
          </a:ln>
        </p:spPr>
        <p:style>
          <a:lnRef idx="2">
            <a:schemeClr val="accent3"/>
          </a:lnRef>
          <a:fillRef idx="1">
            <a:schemeClr val="lt1"/>
          </a:fillRef>
          <a:effectRef idx="0">
            <a:schemeClr val="accent3"/>
          </a:effectRef>
          <a:fontRef idx="minor">
            <a:schemeClr val="dk1"/>
          </a:fontRef>
        </p:style>
        <p:txBody>
          <a:bodyPr wrap="none" anchor="ctr">
            <a:spAutoFit/>
          </a:bodyPr>
          <a:lstStyle/>
          <a:p>
            <a:pPr algn="ctr" eaLnBrk="0" hangingPunct="0"/>
            <a:r>
              <a:rPr lang="zh-CN" altLang="en-US" sz="1400" dirty="0"/>
              <a:t>互联网研究指导小组 </a:t>
            </a:r>
            <a:r>
              <a:rPr lang="en-US" altLang="zh-CN" sz="1400" dirty="0"/>
              <a:t>I</a:t>
            </a:r>
            <a:r>
              <a:rPr lang="en-US" altLang="zh-CN" sz="1400" dirty="0">
                <a:solidFill>
                  <a:srgbClr val="D4237A"/>
                </a:solidFill>
              </a:rPr>
              <a:t>R</a:t>
            </a:r>
            <a:r>
              <a:rPr lang="en-US" altLang="zh-CN" sz="1400" dirty="0"/>
              <a:t>SG </a:t>
            </a:r>
          </a:p>
        </p:txBody>
      </p:sp>
      <p:sp>
        <p:nvSpPr>
          <p:cNvPr id="42011" name="Rectangle 16"/>
          <p:cNvSpPr>
            <a:spLocks noChangeArrowheads="1"/>
          </p:cNvSpPr>
          <p:nvPr/>
        </p:nvSpPr>
        <p:spPr bwMode="auto">
          <a:xfrm>
            <a:off x="4978386" y="3037431"/>
            <a:ext cx="2318263" cy="307777"/>
          </a:xfrm>
          <a:prstGeom prst="rect">
            <a:avLst/>
          </a:prstGeom>
          <a:ln>
            <a:solidFill>
              <a:schemeClr val="tx1">
                <a:lumMod val="50000"/>
                <a:lumOff val="50000"/>
              </a:schemeClr>
            </a:solidFill>
          </a:ln>
        </p:spPr>
        <p:style>
          <a:lnRef idx="2">
            <a:schemeClr val="accent3"/>
          </a:lnRef>
          <a:fillRef idx="1">
            <a:schemeClr val="lt1"/>
          </a:fillRef>
          <a:effectRef idx="0">
            <a:schemeClr val="accent3"/>
          </a:effectRef>
          <a:fontRef idx="minor">
            <a:schemeClr val="dk1"/>
          </a:fontRef>
        </p:style>
        <p:txBody>
          <a:bodyPr wrap="none" anchor="ctr">
            <a:spAutoFit/>
          </a:bodyPr>
          <a:lstStyle/>
          <a:p>
            <a:pPr algn="ctr" eaLnBrk="0" hangingPunct="0"/>
            <a:r>
              <a:rPr lang="zh-CN" altLang="en-US" sz="1400" dirty="0"/>
              <a:t>互联网工程指导小组 </a:t>
            </a:r>
            <a:r>
              <a:rPr lang="en-US" altLang="zh-CN" sz="1400" dirty="0"/>
              <a:t>I</a:t>
            </a:r>
            <a:r>
              <a:rPr lang="en-US" altLang="zh-CN" sz="1400" dirty="0">
                <a:solidFill>
                  <a:srgbClr val="D4237A"/>
                </a:solidFill>
              </a:rPr>
              <a:t>E</a:t>
            </a:r>
            <a:r>
              <a:rPr lang="en-US" altLang="zh-CN" sz="1400" dirty="0"/>
              <a:t>SG </a:t>
            </a:r>
          </a:p>
        </p:txBody>
      </p:sp>
      <p:sp>
        <p:nvSpPr>
          <p:cNvPr id="43" name="Rectangle 5"/>
          <p:cNvSpPr>
            <a:spLocks noChangeArrowheads="1"/>
          </p:cNvSpPr>
          <p:nvPr/>
        </p:nvSpPr>
        <p:spPr bwMode="auto">
          <a:xfrm>
            <a:off x="3784453" y="1419733"/>
            <a:ext cx="1574469" cy="307777"/>
          </a:xfrm>
          <a:prstGeom prst="rect">
            <a:avLst/>
          </a:prstGeom>
          <a:noFill/>
          <a:ln w="6350">
            <a:noFill/>
            <a:miter lim="800000"/>
            <a:headEnd/>
            <a:tailEnd/>
          </a:ln>
          <a:effectLst/>
        </p:spPr>
        <p:txBody>
          <a:bodyPr wrap="none" anchor="ctr">
            <a:spAutoFit/>
          </a:bodyPr>
          <a:lstStyle/>
          <a:p>
            <a:pPr algn="ctr" eaLnBrk="0" fontAlgn="auto" hangingPunct="0">
              <a:spcBef>
                <a:spcPts val="0"/>
              </a:spcBef>
              <a:spcAft>
                <a:spcPts val="0"/>
              </a:spcAft>
              <a:defRPr/>
            </a:pPr>
            <a:r>
              <a:rPr lang="zh-CN" altLang="en-US" sz="1400" dirty="0"/>
              <a:t>互联网协会 </a:t>
            </a:r>
            <a:r>
              <a:rPr lang="en-US" altLang="zh-CN" sz="1400" dirty="0"/>
              <a:t>ISOC</a:t>
            </a:r>
          </a:p>
        </p:txBody>
      </p:sp>
      <p:sp useBgFill="1">
        <p:nvSpPr>
          <p:cNvPr id="3" name="文本框 2">
            <a:extLst>
              <a:ext uri="{FF2B5EF4-FFF2-40B4-BE49-F238E27FC236}">
                <a16:creationId xmlns:a16="http://schemas.microsoft.com/office/drawing/2014/main" id="{80A6D7B6-4614-30E4-47C4-BE0682FD1796}"/>
              </a:ext>
            </a:extLst>
          </p:cNvPr>
          <p:cNvSpPr txBox="1"/>
          <p:nvPr/>
        </p:nvSpPr>
        <p:spPr>
          <a:xfrm>
            <a:off x="1619340" y="2513371"/>
            <a:ext cx="1755609" cy="307777"/>
          </a:xfrm>
          <a:prstGeom prst="rect">
            <a:avLst/>
          </a:prstGeom>
        </p:spPr>
        <p:txBody>
          <a:bodyPr wrap="none" rtlCol="0">
            <a:spAutoFit/>
          </a:bodyPr>
          <a:lstStyle/>
          <a:p>
            <a:pPr algn="ctr"/>
            <a:r>
              <a:rPr lang="zh-CN" altLang="en-US" sz="1400" dirty="0"/>
              <a:t>互联网研究部 </a:t>
            </a:r>
            <a:r>
              <a:rPr lang="en-US" altLang="zh-CN" sz="1400"/>
              <a:t>I</a:t>
            </a:r>
            <a:r>
              <a:rPr lang="en-US" altLang="zh-CN" sz="1400">
                <a:solidFill>
                  <a:srgbClr val="D4237A"/>
                </a:solidFill>
              </a:rPr>
              <a:t>R</a:t>
            </a:r>
            <a:r>
              <a:rPr lang="en-US" altLang="zh-CN" sz="1400"/>
              <a:t>TF </a:t>
            </a:r>
            <a:endParaRPr lang="en-US" altLang="zh-CN" sz="1400" dirty="0"/>
          </a:p>
        </p:txBody>
      </p:sp>
      <p:sp useBgFill="1">
        <p:nvSpPr>
          <p:cNvPr id="4" name="文本框 3">
            <a:extLst>
              <a:ext uri="{FF2B5EF4-FFF2-40B4-BE49-F238E27FC236}">
                <a16:creationId xmlns:a16="http://schemas.microsoft.com/office/drawing/2014/main" id="{EBF625F1-DA5B-F7F5-CA93-4338681275D6}"/>
              </a:ext>
            </a:extLst>
          </p:cNvPr>
          <p:cNvSpPr txBox="1"/>
          <p:nvPr/>
        </p:nvSpPr>
        <p:spPr>
          <a:xfrm>
            <a:off x="5778669" y="2513371"/>
            <a:ext cx="1745991" cy="307777"/>
          </a:xfrm>
          <a:prstGeom prst="rect">
            <a:avLst/>
          </a:prstGeom>
        </p:spPr>
        <p:txBody>
          <a:bodyPr wrap="none" rtlCol="0">
            <a:spAutoFit/>
          </a:bodyPr>
          <a:lstStyle/>
          <a:p>
            <a:pPr algn="l"/>
            <a:r>
              <a:rPr lang="zh-CN" altLang="en-US" sz="1400" dirty="0"/>
              <a:t>互联网工程部 </a:t>
            </a:r>
            <a:r>
              <a:rPr lang="en-US" altLang="zh-CN" sz="1400" dirty="0"/>
              <a:t>I</a:t>
            </a:r>
            <a:r>
              <a:rPr lang="en-US" altLang="zh-CN" sz="1400" dirty="0">
                <a:solidFill>
                  <a:srgbClr val="D4237A"/>
                </a:solidFill>
              </a:rPr>
              <a:t>E</a:t>
            </a:r>
            <a:r>
              <a:rPr lang="en-US" altLang="zh-CN" sz="1400" dirty="0"/>
              <a:t>TF </a:t>
            </a:r>
          </a:p>
        </p:txBody>
      </p:sp>
      <p:cxnSp>
        <p:nvCxnSpPr>
          <p:cNvPr id="15" name="直接连接符 14">
            <a:extLst>
              <a:ext uri="{FF2B5EF4-FFF2-40B4-BE49-F238E27FC236}">
                <a16:creationId xmlns:a16="http://schemas.microsoft.com/office/drawing/2014/main" id="{E1F30703-99E2-7090-ADC8-1D33CF419039}"/>
              </a:ext>
            </a:extLst>
          </p:cNvPr>
          <p:cNvCxnSpPr>
            <a:stCxn id="42008" idx="2"/>
            <a:endCxn id="42013" idx="0"/>
          </p:cNvCxnSpPr>
          <p:nvPr/>
        </p:nvCxnSpPr>
        <p:spPr>
          <a:xfrm flipH="1">
            <a:off x="2374649" y="3345208"/>
            <a:ext cx="661692" cy="57832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17" name="直接连接符 16">
            <a:extLst>
              <a:ext uri="{FF2B5EF4-FFF2-40B4-BE49-F238E27FC236}">
                <a16:creationId xmlns:a16="http://schemas.microsoft.com/office/drawing/2014/main" id="{4D63F0E9-542C-BCB7-6D73-4E69FC2E71A0}"/>
              </a:ext>
            </a:extLst>
          </p:cNvPr>
          <p:cNvCxnSpPr>
            <a:stCxn id="42008" idx="2"/>
            <a:endCxn id="42017" idx="0"/>
          </p:cNvCxnSpPr>
          <p:nvPr/>
        </p:nvCxnSpPr>
        <p:spPr>
          <a:xfrm>
            <a:off x="3036341" y="3345208"/>
            <a:ext cx="683658" cy="57832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22" name="直接连接符 21">
            <a:extLst>
              <a:ext uri="{FF2B5EF4-FFF2-40B4-BE49-F238E27FC236}">
                <a16:creationId xmlns:a16="http://schemas.microsoft.com/office/drawing/2014/main" id="{F2590E57-029C-81BE-6F9C-28C33D374104}"/>
              </a:ext>
            </a:extLst>
          </p:cNvPr>
          <p:cNvCxnSpPr>
            <a:stCxn id="42019" idx="2"/>
            <a:endCxn id="42026" idx="0"/>
          </p:cNvCxnSpPr>
          <p:nvPr/>
        </p:nvCxnSpPr>
        <p:spPr>
          <a:xfrm flipH="1">
            <a:off x="5153250" y="3812340"/>
            <a:ext cx="376967" cy="109849"/>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24" name="直接连接符 23">
            <a:extLst>
              <a:ext uri="{FF2B5EF4-FFF2-40B4-BE49-F238E27FC236}">
                <a16:creationId xmlns:a16="http://schemas.microsoft.com/office/drawing/2014/main" id="{A78102B0-1DC7-6EAB-8072-DE2124BFC6FD}"/>
              </a:ext>
            </a:extLst>
          </p:cNvPr>
          <p:cNvCxnSpPr>
            <a:stCxn id="42025" idx="0"/>
            <a:endCxn id="42019" idx="2"/>
          </p:cNvCxnSpPr>
          <p:nvPr/>
        </p:nvCxnSpPr>
        <p:spPr>
          <a:xfrm flipH="1" flipV="1">
            <a:off x="5530217" y="3812340"/>
            <a:ext cx="295731" cy="109849"/>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26" name="直接连接符 25">
            <a:extLst>
              <a:ext uri="{FF2B5EF4-FFF2-40B4-BE49-F238E27FC236}">
                <a16:creationId xmlns:a16="http://schemas.microsoft.com/office/drawing/2014/main" id="{ABCB6768-9DDA-6E8F-BF2B-D9B6D23BD16D}"/>
              </a:ext>
            </a:extLst>
          </p:cNvPr>
          <p:cNvCxnSpPr>
            <a:stCxn id="42020" idx="2"/>
            <a:endCxn id="42014" idx="0"/>
          </p:cNvCxnSpPr>
          <p:nvPr/>
        </p:nvCxnSpPr>
        <p:spPr>
          <a:xfrm>
            <a:off x="6735048" y="3812340"/>
            <a:ext cx="334554" cy="109849"/>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28" name="直接连接符 27">
            <a:extLst>
              <a:ext uri="{FF2B5EF4-FFF2-40B4-BE49-F238E27FC236}">
                <a16:creationId xmlns:a16="http://schemas.microsoft.com/office/drawing/2014/main" id="{C227F3D8-93A8-4704-78D6-73252919C093}"/>
              </a:ext>
            </a:extLst>
          </p:cNvPr>
          <p:cNvCxnSpPr>
            <a:stCxn id="42024" idx="0"/>
            <a:endCxn id="42020" idx="2"/>
          </p:cNvCxnSpPr>
          <p:nvPr/>
        </p:nvCxnSpPr>
        <p:spPr>
          <a:xfrm flipV="1">
            <a:off x="6323946" y="3812340"/>
            <a:ext cx="411102" cy="109849"/>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31" name="直接连接符 30">
            <a:extLst>
              <a:ext uri="{FF2B5EF4-FFF2-40B4-BE49-F238E27FC236}">
                <a16:creationId xmlns:a16="http://schemas.microsoft.com/office/drawing/2014/main" id="{489C25D1-2C93-C94E-C876-2D1282CAAE88}"/>
              </a:ext>
            </a:extLst>
          </p:cNvPr>
          <p:cNvCxnSpPr>
            <a:stCxn id="42011" idx="2"/>
            <a:endCxn id="42019" idx="0"/>
          </p:cNvCxnSpPr>
          <p:nvPr/>
        </p:nvCxnSpPr>
        <p:spPr>
          <a:xfrm flipH="1">
            <a:off x="5530217" y="3345208"/>
            <a:ext cx="607301" cy="21951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33" name="直接连接符 32">
            <a:extLst>
              <a:ext uri="{FF2B5EF4-FFF2-40B4-BE49-F238E27FC236}">
                <a16:creationId xmlns:a16="http://schemas.microsoft.com/office/drawing/2014/main" id="{67BBD509-6377-E66E-0C90-694A5C77B18E}"/>
              </a:ext>
            </a:extLst>
          </p:cNvPr>
          <p:cNvCxnSpPr>
            <a:stCxn id="42020" idx="0"/>
            <a:endCxn id="42011" idx="2"/>
          </p:cNvCxnSpPr>
          <p:nvPr/>
        </p:nvCxnSpPr>
        <p:spPr>
          <a:xfrm flipH="1" flipV="1">
            <a:off x="6137518" y="3345208"/>
            <a:ext cx="597530" cy="21951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标题 8">
            <a:extLst>
              <a:ext uri="{FF2B5EF4-FFF2-40B4-BE49-F238E27FC236}">
                <a16:creationId xmlns:a16="http://schemas.microsoft.com/office/drawing/2014/main" id="{267B31D6-891B-A187-9647-00D8E7414D08}"/>
              </a:ext>
            </a:extLst>
          </p:cNvPr>
          <p:cNvSpPr>
            <a:spLocks noGrp="1"/>
          </p:cNvSpPr>
          <p:nvPr>
            <p:ph type="title"/>
          </p:nvPr>
        </p:nvSpPr>
        <p:spPr>
          <a:xfrm>
            <a:off x="612000" y="144000"/>
            <a:ext cx="7920000" cy="341632"/>
          </a:xfrm>
        </p:spPr>
        <p:txBody>
          <a:bodyPr/>
          <a:lstStyle/>
          <a:p>
            <a:r>
              <a:rPr lang="zh-CN" altLang="en-US" dirty="0"/>
              <a:t>标准发表：以 </a:t>
            </a:r>
            <a:r>
              <a:rPr lang="en-US" altLang="zh-CN" dirty="0"/>
              <a:t>RFC </a:t>
            </a:r>
            <a:r>
              <a:rPr lang="zh-CN" altLang="en-US" dirty="0"/>
              <a:t>的形式</a:t>
            </a:r>
          </a:p>
        </p:txBody>
      </p:sp>
      <p:sp>
        <p:nvSpPr>
          <p:cNvPr id="3" name="内容占位符 2"/>
          <p:cNvSpPr>
            <a:spLocks noGrp="1"/>
          </p:cNvSpPr>
          <p:nvPr>
            <p:ph sz="quarter" idx="10"/>
          </p:nvPr>
        </p:nvSpPr>
        <p:spPr>
          <a:xfrm>
            <a:off x="612000" y="899999"/>
            <a:ext cx="7920000" cy="3780000"/>
          </a:xfrm>
        </p:spPr>
        <p:txBody>
          <a:bodyPr/>
          <a:lstStyle/>
          <a:p>
            <a:r>
              <a:rPr lang="en-US" altLang="zh-CN" dirty="0">
                <a:hlinkClick r:id="rId2"/>
              </a:rPr>
              <a:t>RFC</a:t>
            </a:r>
            <a:r>
              <a:rPr lang="zh-CN" altLang="en-US" dirty="0"/>
              <a:t>：</a:t>
            </a:r>
            <a:r>
              <a:rPr lang="en-US" altLang="zh-CN" dirty="0"/>
              <a:t>Request For Comments </a:t>
            </a:r>
            <a:r>
              <a:rPr lang="zh-CN" altLang="en-US" dirty="0"/>
              <a:t>（请求评论）</a:t>
            </a:r>
            <a:endParaRPr lang="en-US" altLang="zh-CN" dirty="0"/>
          </a:p>
          <a:p>
            <a:r>
              <a:rPr lang="zh-CN" altLang="en-US" dirty="0"/>
              <a:t>所有的 </a:t>
            </a:r>
            <a:r>
              <a:rPr lang="en-US" altLang="zh-CN" dirty="0"/>
              <a:t>RFC </a:t>
            </a:r>
            <a:r>
              <a:rPr lang="zh-CN" altLang="en-US" dirty="0"/>
              <a:t>文档都可从互联网上免费下载</a:t>
            </a:r>
            <a:endParaRPr lang="en-US" altLang="zh-CN" dirty="0"/>
          </a:p>
          <a:p>
            <a:r>
              <a:rPr lang="zh-CN" altLang="en-US" dirty="0"/>
              <a:t>任何人都可以用电子邮件随时发表对某个文档的意见或建议</a:t>
            </a:r>
            <a:endParaRPr lang="en-US" altLang="zh-CN" dirty="0"/>
          </a:p>
          <a:p>
            <a:r>
              <a:rPr lang="zh-CN" altLang="en-US" dirty="0"/>
              <a:t>但并非所有的 </a:t>
            </a:r>
            <a:r>
              <a:rPr lang="en-US" altLang="zh-CN" dirty="0"/>
              <a:t>RFC </a:t>
            </a:r>
            <a:r>
              <a:rPr lang="zh-CN" altLang="en-US" dirty="0"/>
              <a:t>文档都是互联网标准。只有很少部分的 </a:t>
            </a:r>
            <a:r>
              <a:rPr lang="en-US" altLang="zh-CN" dirty="0"/>
              <a:t>RFC </a:t>
            </a:r>
            <a:r>
              <a:rPr lang="zh-CN" altLang="en-US" dirty="0"/>
              <a:t>文档最后才能变成互联网标准</a:t>
            </a:r>
            <a:endParaRPr lang="en-US" altLang="zh-CN" dirty="0"/>
          </a:p>
          <a:p>
            <a:r>
              <a:rPr lang="en-US" altLang="zh-CN" dirty="0"/>
              <a:t>RFC </a:t>
            </a:r>
            <a:r>
              <a:rPr lang="zh-CN" altLang="en-US" dirty="0"/>
              <a:t>文档按发表时间的先后编上序号（即 </a:t>
            </a:r>
            <a:r>
              <a:rPr lang="en-US" altLang="zh-CN" dirty="0" err="1"/>
              <a:t>RFCxxxx</a:t>
            </a:r>
            <a:r>
              <a:rPr lang="zh-CN" altLang="en-US" dirty="0"/>
              <a:t>，</a:t>
            </a:r>
            <a:r>
              <a:rPr lang="en-US" altLang="zh-CN" dirty="0" err="1"/>
              <a:t>xxxx</a:t>
            </a:r>
            <a:r>
              <a:rPr lang="en-US" altLang="zh-CN" dirty="0"/>
              <a:t> </a:t>
            </a:r>
            <a:r>
              <a:rPr lang="zh-CN" altLang="en-US" dirty="0"/>
              <a:t>是阿拉伯数字）</a:t>
            </a:r>
            <a:endParaRPr lang="en-US" altLang="zh-CN" dirty="0"/>
          </a:p>
        </p:txBody>
      </p:sp>
    </p:spTree>
    <p:extLst>
      <p:ext uri="{BB962C8B-B14F-4D97-AF65-F5344CB8AC3E}">
        <p14:creationId xmlns:p14="http://schemas.microsoft.com/office/powerpoint/2010/main" val="2975994396"/>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 name="文本框 27"/>
          <p:cNvSpPr txBox="1"/>
          <p:nvPr/>
        </p:nvSpPr>
        <p:spPr>
          <a:xfrm>
            <a:off x="3139910" y="1570232"/>
            <a:ext cx="1369070" cy="276999"/>
          </a:xfrm>
          <a:prstGeom prst="rect">
            <a:avLst/>
          </a:prstGeom>
          <a:noFill/>
        </p:spPr>
        <p:txBody>
          <a:bodyPr wrap="square" rtlCol="0">
            <a:spAutoFit/>
          </a:bodyPr>
          <a:lstStyle/>
          <a:p>
            <a:pPr algn="r"/>
            <a:r>
              <a:rPr lang="en-US" altLang="zh-CN" sz="1200" dirty="0" err="1"/>
              <a:t>RFCxxxx</a:t>
            </a:r>
            <a:endParaRPr lang="zh-CN" altLang="en-US" sz="1200" dirty="0"/>
          </a:p>
        </p:txBody>
      </p:sp>
      <p:cxnSp>
        <p:nvCxnSpPr>
          <p:cNvPr id="43021" name="直接箭头连接符 43020"/>
          <p:cNvCxnSpPr/>
          <p:nvPr/>
        </p:nvCxnSpPr>
        <p:spPr>
          <a:xfrm flipH="1">
            <a:off x="2717895" y="1858077"/>
            <a:ext cx="3595815" cy="0"/>
          </a:xfrm>
          <a:prstGeom prst="straightConnector1">
            <a:avLst/>
          </a:prstGeom>
          <a:ln w="12700">
            <a:prstDash val="solid"/>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82" name="直接箭头连接符 81"/>
          <p:cNvCxnSpPr>
            <a:cxnSpLocks/>
          </p:cNvCxnSpPr>
          <p:nvPr/>
        </p:nvCxnSpPr>
        <p:spPr>
          <a:xfrm>
            <a:off x="4528448" y="1505600"/>
            <a:ext cx="0" cy="348040"/>
          </a:xfrm>
          <a:prstGeom prst="straightConnector1">
            <a:avLst/>
          </a:prstGeom>
          <a:ln w="12700">
            <a:prstDash val="solid"/>
            <a:headEnd type="none" w="med" len="med"/>
            <a:tailEnd type="none" w="med" len="med"/>
          </a:ln>
        </p:spPr>
        <p:style>
          <a:lnRef idx="1">
            <a:schemeClr val="dk1"/>
          </a:lnRef>
          <a:fillRef idx="0">
            <a:schemeClr val="dk1"/>
          </a:fillRef>
          <a:effectRef idx="0">
            <a:schemeClr val="dk1"/>
          </a:effectRef>
          <a:fontRef idx="minor">
            <a:schemeClr val="tx1"/>
          </a:fontRef>
        </p:style>
      </p:cxnSp>
      <p:sp>
        <p:nvSpPr>
          <p:cNvPr id="20" name="任意多边形 19"/>
          <p:cNvSpPr/>
          <p:nvPr/>
        </p:nvSpPr>
        <p:spPr>
          <a:xfrm>
            <a:off x="3413711" y="1041242"/>
            <a:ext cx="2229474" cy="464358"/>
          </a:xfrm>
          <a:custGeom>
            <a:avLst/>
            <a:gdLst>
              <a:gd name="connsiteX0" fmla="*/ 0 w 3948049"/>
              <a:gd name="connsiteY0" fmla="*/ 46841 h 468406"/>
              <a:gd name="connsiteX1" fmla="*/ 46841 w 3948049"/>
              <a:gd name="connsiteY1" fmla="*/ 0 h 468406"/>
              <a:gd name="connsiteX2" fmla="*/ 3901208 w 3948049"/>
              <a:gd name="connsiteY2" fmla="*/ 0 h 468406"/>
              <a:gd name="connsiteX3" fmla="*/ 3948049 w 3948049"/>
              <a:gd name="connsiteY3" fmla="*/ 46841 h 468406"/>
              <a:gd name="connsiteX4" fmla="*/ 3948049 w 3948049"/>
              <a:gd name="connsiteY4" fmla="*/ 421565 h 468406"/>
              <a:gd name="connsiteX5" fmla="*/ 3901208 w 3948049"/>
              <a:gd name="connsiteY5" fmla="*/ 468406 h 468406"/>
              <a:gd name="connsiteX6" fmla="*/ 46841 w 3948049"/>
              <a:gd name="connsiteY6" fmla="*/ 468406 h 468406"/>
              <a:gd name="connsiteX7" fmla="*/ 0 w 3948049"/>
              <a:gd name="connsiteY7" fmla="*/ 421565 h 468406"/>
              <a:gd name="connsiteX8" fmla="*/ 0 w 3948049"/>
              <a:gd name="connsiteY8" fmla="*/ 46841 h 4684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48049" h="468406">
                <a:moveTo>
                  <a:pt x="0" y="46841"/>
                </a:moveTo>
                <a:cubicBezTo>
                  <a:pt x="0" y="20971"/>
                  <a:pt x="20971" y="0"/>
                  <a:pt x="46841" y="0"/>
                </a:cubicBezTo>
                <a:lnTo>
                  <a:pt x="3901208" y="0"/>
                </a:lnTo>
                <a:cubicBezTo>
                  <a:pt x="3927078" y="0"/>
                  <a:pt x="3948049" y="20971"/>
                  <a:pt x="3948049" y="46841"/>
                </a:cubicBezTo>
                <a:lnTo>
                  <a:pt x="3948049" y="421565"/>
                </a:lnTo>
                <a:cubicBezTo>
                  <a:pt x="3948049" y="447435"/>
                  <a:pt x="3927078" y="468406"/>
                  <a:pt x="3901208" y="468406"/>
                </a:cubicBezTo>
                <a:lnTo>
                  <a:pt x="46841" y="468406"/>
                </a:lnTo>
                <a:cubicBezTo>
                  <a:pt x="20971" y="468406"/>
                  <a:pt x="0" y="447435"/>
                  <a:pt x="0" y="421565"/>
                </a:cubicBezTo>
                <a:lnTo>
                  <a:pt x="0" y="46841"/>
                </a:lnTo>
                <a:close/>
              </a:path>
            </a:pathLst>
          </a:custGeom>
          <a:noFill/>
          <a:ln>
            <a:solidFill>
              <a:schemeClr val="tx1">
                <a:lumMod val="50000"/>
                <a:lumOff val="50000"/>
              </a:schemeClr>
            </a:solidFill>
          </a:ln>
          <a:scene3d>
            <a:camera prst="orthographicFront"/>
            <a:lightRig rig="flat" dir="t"/>
          </a:scene3d>
          <a:sp3d prstMaterial="dkEdge">
            <a:bevelT w="8200" h="38100"/>
          </a:sp3d>
        </p:spPr>
        <p:style>
          <a:lnRef idx="1">
            <a:schemeClr val="accent5"/>
          </a:lnRef>
          <a:fillRef idx="2">
            <a:schemeClr val="accent5"/>
          </a:fillRef>
          <a:effectRef idx="1">
            <a:schemeClr val="accent5"/>
          </a:effectRef>
          <a:fontRef idx="minor">
            <a:schemeClr val="dk1"/>
          </a:fontRef>
        </p:style>
        <p:txBody>
          <a:bodyPr spcFirstLastPara="0" vert="horz" wrap="square" lIns="36579" tIns="36579" rIns="36579" bIns="36579" numCol="1" spcCol="1270" anchor="ctr" anchorCtr="0">
            <a:noAutofit/>
          </a:bodyPr>
          <a:lstStyle/>
          <a:p>
            <a:pPr lvl="0" algn="ctr" defTabSz="800100">
              <a:spcBef>
                <a:spcPct val="0"/>
              </a:spcBef>
              <a:spcAft>
                <a:spcPts val="0"/>
              </a:spcAft>
            </a:pPr>
            <a:r>
              <a:rPr lang="zh-CN" altLang="en-US" sz="1200" dirty="0"/>
              <a:t>互联网草案</a:t>
            </a:r>
            <a:endParaRPr lang="en-US" altLang="zh-CN" sz="1200" dirty="0"/>
          </a:p>
          <a:p>
            <a:pPr lvl="0" algn="ctr" defTabSz="800100">
              <a:spcBef>
                <a:spcPct val="0"/>
              </a:spcBef>
              <a:spcAft>
                <a:spcPts val="0"/>
              </a:spcAft>
            </a:pPr>
            <a:r>
              <a:rPr lang="zh-CN" altLang="en-US" sz="1200" dirty="0"/>
              <a:t> </a:t>
            </a:r>
            <a:r>
              <a:rPr lang="en-US" altLang="en-US" sz="1200" dirty="0"/>
              <a:t>Internet Draft</a:t>
            </a:r>
            <a:endParaRPr lang="zh-CN" altLang="en-US" sz="1200" dirty="0"/>
          </a:p>
        </p:txBody>
      </p:sp>
      <p:sp>
        <p:nvSpPr>
          <p:cNvPr id="7" name="圆角矩形 6"/>
          <p:cNvSpPr/>
          <p:nvPr/>
        </p:nvSpPr>
        <p:spPr>
          <a:xfrm>
            <a:off x="1454345" y="1965618"/>
            <a:ext cx="2520000" cy="2412274"/>
          </a:xfrm>
          <a:prstGeom prst="roundRect">
            <a:avLst>
              <a:gd name="adj" fmla="val 2949"/>
            </a:avLst>
          </a:prstGeom>
          <a:solidFill>
            <a:schemeClr val="accent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p>
        </p:txBody>
      </p:sp>
      <p:sp>
        <p:nvSpPr>
          <p:cNvPr id="33" name="任意多边形 32"/>
          <p:cNvSpPr/>
          <p:nvPr/>
        </p:nvSpPr>
        <p:spPr>
          <a:xfrm>
            <a:off x="1755952" y="2349009"/>
            <a:ext cx="1937432" cy="436333"/>
          </a:xfrm>
          <a:custGeom>
            <a:avLst/>
            <a:gdLst>
              <a:gd name="connsiteX0" fmla="*/ 0 w 3948049"/>
              <a:gd name="connsiteY0" fmla="*/ 46841 h 468406"/>
              <a:gd name="connsiteX1" fmla="*/ 46841 w 3948049"/>
              <a:gd name="connsiteY1" fmla="*/ 0 h 468406"/>
              <a:gd name="connsiteX2" fmla="*/ 3901208 w 3948049"/>
              <a:gd name="connsiteY2" fmla="*/ 0 h 468406"/>
              <a:gd name="connsiteX3" fmla="*/ 3948049 w 3948049"/>
              <a:gd name="connsiteY3" fmla="*/ 46841 h 468406"/>
              <a:gd name="connsiteX4" fmla="*/ 3948049 w 3948049"/>
              <a:gd name="connsiteY4" fmla="*/ 421565 h 468406"/>
              <a:gd name="connsiteX5" fmla="*/ 3901208 w 3948049"/>
              <a:gd name="connsiteY5" fmla="*/ 468406 h 468406"/>
              <a:gd name="connsiteX6" fmla="*/ 46841 w 3948049"/>
              <a:gd name="connsiteY6" fmla="*/ 468406 h 468406"/>
              <a:gd name="connsiteX7" fmla="*/ 0 w 3948049"/>
              <a:gd name="connsiteY7" fmla="*/ 421565 h 468406"/>
              <a:gd name="connsiteX8" fmla="*/ 0 w 3948049"/>
              <a:gd name="connsiteY8" fmla="*/ 46841 h 4684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48049" h="468406">
                <a:moveTo>
                  <a:pt x="0" y="46841"/>
                </a:moveTo>
                <a:cubicBezTo>
                  <a:pt x="0" y="20971"/>
                  <a:pt x="20971" y="0"/>
                  <a:pt x="46841" y="0"/>
                </a:cubicBezTo>
                <a:lnTo>
                  <a:pt x="3901208" y="0"/>
                </a:lnTo>
                <a:cubicBezTo>
                  <a:pt x="3927078" y="0"/>
                  <a:pt x="3948049" y="20971"/>
                  <a:pt x="3948049" y="46841"/>
                </a:cubicBezTo>
                <a:lnTo>
                  <a:pt x="3948049" y="421565"/>
                </a:lnTo>
                <a:cubicBezTo>
                  <a:pt x="3948049" y="447435"/>
                  <a:pt x="3927078" y="468406"/>
                  <a:pt x="3901208" y="468406"/>
                </a:cubicBezTo>
                <a:lnTo>
                  <a:pt x="46841" y="468406"/>
                </a:lnTo>
                <a:cubicBezTo>
                  <a:pt x="20971" y="468406"/>
                  <a:pt x="0" y="447435"/>
                  <a:pt x="0" y="421565"/>
                </a:cubicBezTo>
                <a:lnTo>
                  <a:pt x="0" y="46841"/>
                </a:lnTo>
                <a:close/>
              </a:path>
            </a:pathLst>
          </a:custGeom>
          <a:solidFill>
            <a:schemeClr val="bg1"/>
          </a:solidFill>
          <a:ln>
            <a:noFill/>
          </a:ln>
        </p:spPr>
        <p:style>
          <a:lnRef idx="1">
            <a:schemeClr val="accent3"/>
          </a:lnRef>
          <a:fillRef idx="2">
            <a:schemeClr val="accent3"/>
          </a:fillRef>
          <a:effectRef idx="1">
            <a:schemeClr val="accent3"/>
          </a:effectRef>
          <a:fontRef idx="minor">
            <a:schemeClr val="dk1">
              <a:hueOff val="0"/>
              <a:satOff val="0"/>
              <a:lumOff val="0"/>
              <a:alphaOff val="0"/>
            </a:schemeClr>
          </a:fontRef>
        </p:style>
        <p:txBody>
          <a:bodyPr spcFirstLastPara="0" vert="horz" wrap="square" lIns="36579" tIns="36579" rIns="36579" bIns="36579" numCol="1" spcCol="1270" anchor="ctr" anchorCtr="0">
            <a:noAutofit/>
          </a:bodyPr>
          <a:lstStyle/>
          <a:p>
            <a:pPr lvl="0" algn="ctr" defTabSz="800100">
              <a:spcBef>
                <a:spcPct val="0"/>
              </a:spcBef>
              <a:spcAft>
                <a:spcPts val="0"/>
              </a:spcAft>
            </a:pPr>
            <a:r>
              <a:rPr lang="zh-CN" altLang="en-US" sz="1200" dirty="0"/>
              <a:t>建议标准 </a:t>
            </a:r>
            <a:endParaRPr lang="en-US" altLang="zh-CN" sz="1200" dirty="0"/>
          </a:p>
          <a:p>
            <a:pPr lvl="0" algn="ctr" defTabSz="800100">
              <a:spcBef>
                <a:spcPct val="0"/>
              </a:spcBef>
              <a:spcAft>
                <a:spcPts val="0"/>
              </a:spcAft>
            </a:pPr>
            <a:r>
              <a:rPr lang="en-US" altLang="en-US" sz="1200" dirty="0"/>
              <a:t>Proposed Standard</a:t>
            </a:r>
            <a:endParaRPr lang="zh-CN" altLang="en-US" sz="1200" dirty="0"/>
          </a:p>
        </p:txBody>
      </p:sp>
      <p:sp>
        <p:nvSpPr>
          <p:cNvPr id="34" name="任意多边形 33"/>
          <p:cNvSpPr/>
          <p:nvPr/>
        </p:nvSpPr>
        <p:spPr>
          <a:xfrm>
            <a:off x="1755952" y="3653023"/>
            <a:ext cx="1937432" cy="617856"/>
          </a:xfrm>
          <a:custGeom>
            <a:avLst/>
            <a:gdLst>
              <a:gd name="connsiteX0" fmla="*/ 0 w 3948049"/>
              <a:gd name="connsiteY0" fmla="*/ 46841 h 468406"/>
              <a:gd name="connsiteX1" fmla="*/ 46841 w 3948049"/>
              <a:gd name="connsiteY1" fmla="*/ 0 h 468406"/>
              <a:gd name="connsiteX2" fmla="*/ 3901208 w 3948049"/>
              <a:gd name="connsiteY2" fmla="*/ 0 h 468406"/>
              <a:gd name="connsiteX3" fmla="*/ 3948049 w 3948049"/>
              <a:gd name="connsiteY3" fmla="*/ 46841 h 468406"/>
              <a:gd name="connsiteX4" fmla="*/ 3948049 w 3948049"/>
              <a:gd name="connsiteY4" fmla="*/ 421565 h 468406"/>
              <a:gd name="connsiteX5" fmla="*/ 3901208 w 3948049"/>
              <a:gd name="connsiteY5" fmla="*/ 468406 h 468406"/>
              <a:gd name="connsiteX6" fmla="*/ 46841 w 3948049"/>
              <a:gd name="connsiteY6" fmla="*/ 468406 h 468406"/>
              <a:gd name="connsiteX7" fmla="*/ 0 w 3948049"/>
              <a:gd name="connsiteY7" fmla="*/ 421565 h 468406"/>
              <a:gd name="connsiteX8" fmla="*/ 0 w 3948049"/>
              <a:gd name="connsiteY8" fmla="*/ 46841 h 4684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48049" h="468406">
                <a:moveTo>
                  <a:pt x="0" y="46841"/>
                </a:moveTo>
                <a:cubicBezTo>
                  <a:pt x="0" y="20971"/>
                  <a:pt x="20971" y="0"/>
                  <a:pt x="46841" y="0"/>
                </a:cubicBezTo>
                <a:lnTo>
                  <a:pt x="3901208" y="0"/>
                </a:lnTo>
                <a:cubicBezTo>
                  <a:pt x="3927078" y="0"/>
                  <a:pt x="3948049" y="20971"/>
                  <a:pt x="3948049" y="46841"/>
                </a:cubicBezTo>
                <a:lnTo>
                  <a:pt x="3948049" y="421565"/>
                </a:lnTo>
                <a:cubicBezTo>
                  <a:pt x="3948049" y="447435"/>
                  <a:pt x="3927078" y="468406"/>
                  <a:pt x="3901208" y="468406"/>
                </a:cubicBezTo>
                <a:lnTo>
                  <a:pt x="46841" y="468406"/>
                </a:lnTo>
                <a:cubicBezTo>
                  <a:pt x="20971" y="468406"/>
                  <a:pt x="0" y="447435"/>
                  <a:pt x="0" y="421565"/>
                </a:cubicBezTo>
                <a:lnTo>
                  <a:pt x="0" y="46841"/>
                </a:lnTo>
                <a:close/>
              </a:path>
            </a:pathLst>
          </a:custGeom>
          <a:solidFill>
            <a:schemeClr val="bg1"/>
          </a:solidFill>
          <a:ln>
            <a:noFill/>
          </a:ln>
        </p:spPr>
        <p:style>
          <a:lnRef idx="1">
            <a:schemeClr val="accent6"/>
          </a:lnRef>
          <a:fillRef idx="2">
            <a:schemeClr val="accent6"/>
          </a:fillRef>
          <a:effectRef idx="1">
            <a:schemeClr val="accent6"/>
          </a:effectRef>
          <a:fontRef idx="minor">
            <a:schemeClr val="dk1">
              <a:hueOff val="0"/>
              <a:satOff val="0"/>
              <a:lumOff val="0"/>
              <a:alphaOff val="0"/>
            </a:schemeClr>
          </a:fontRef>
        </p:style>
        <p:txBody>
          <a:bodyPr spcFirstLastPara="0" vert="horz" wrap="square" lIns="36579" tIns="36579" rIns="36579" bIns="36579" numCol="1" spcCol="1270" anchor="ctr" anchorCtr="0">
            <a:noAutofit/>
          </a:bodyPr>
          <a:lstStyle/>
          <a:p>
            <a:pPr lvl="0" algn="ctr" defTabSz="800100">
              <a:spcBef>
                <a:spcPct val="0"/>
              </a:spcBef>
              <a:spcAft>
                <a:spcPts val="0"/>
              </a:spcAft>
            </a:pPr>
            <a:r>
              <a:rPr lang="zh-CN" altLang="en-US" sz="1200" dirty="0"/>
              <a:t>互联网标准</a:t>
            </a:r>
            <a:endParaRPr lang="en-US" altLang="zh-CN" sz="1200" dirty="0"/>
          </a:p>
          <a:p>
            <a:pPr lvl="0" algn="ctr" defTabSz="800100">
              <a:spcBef>
                <a:spcPct val="0"/>
              </a:spcBef>
              <a:spcAft>
                <a:spcPts val="0"/>
              </a:spcAft>
            </a:pPr>
            <a:r>
              <a:rPr lang="zh-CN" altLang="en-US" sz="1200" dirty="0"/>
              <a:t> </a:t>
            </a:r>
            <a:r>
              <a:rPr lang="en-US" altLang="en-US" sz="1200" dirty="0"/>
              <a:t>Internet Standard</a:t>
            </a:r>
          </a:p>
          <a:p>
            <a:pPr lvl="0" algn="ctr" defTabSz="800100">
              <a:spcAft>
                <a:spcPts val="0"/>
              </a:spcAft>
            </a:pPr>
            <a:r>
              <a:rPr lang="en-US" altLang="zh-CN" sz="1200" dirty="0"/>
              <a:t>(</a:t>
            </a:r>
            <a:r>
              <a:rPr lang="en-US" altLang="zh-CN" sz="1200" dirty="0" err="1"/>
              <a:t>STDxx</a:t>
            </a:r>
            <a:r>
              <a:rPr lang="en-US" altLang="zh-CN" sz="1200" dirty="0"/>
              <a:t>)</a:t>
            </a:r>
            <a:endParaRPr lang="zh-CN" altLang="en-US" sz="1200" dirty="0"/>
          </a:p>
        </p:txBody>
      </p:sp>
      <p:sp>
        <p:nvSpPr>
          <p:cNvPr id="35" name="任意多边形 34"/>
          <p:cNvSpPr/>
          <p:nvPr/>
        </p:nvSpPr>
        <p:spPr>
          <a:xfrm>
            <a:off x="2194579" y="3021561"/>
            <a:ext cx="1498805" cy="412661"/>
          </a:xfrm>
          <a:custGeom>
            <a:avLst/>
            <a:gdLst>
              <a:gd name="connsiteX0" fmla="*/ 0 w 3948049"/>
              <a:gd name="connsiteY0" fmla="*/ 46841 h 468406"/>
              <a:gd name="connsiteX1" fmla="*/ 46841 w 3948049"/>
              <a:gd name="connsiteY1" fmla="*/ 0 h 468406"/>
              <a:gd name="connsiteX2" fmla="*/ 3901208 w 3948049"/>
              <a:gd name="connsiteY2" fmla="*/ 0 h 468406"/>
              <a:gd name="connsiteX3" fmla="*/ 3948049 w 3948049"/>
              <a:gd name="connsiteY3" fmla="*/ 46841 h 468406"/>
              <a:gd name="connsiteX4" fmla="*/ 3948049 w 3948049"/>
              <a:gd name="connsiteY4" fmla="*/ 421565 h 468406"/>
              <a:gd name="connsiteX5" fmla="*/ 3901208 w 3948049"/>
              <a:gd name="connsiteY5" fmla="*/ 468406 h 468406"/>
              <a:gd name="connsiteX6" fmla="*/ 46841 w 3948049"/>
              <a:gd name="connsiteY6" fmla="*/ 468406 h 468406"/>
              <a:gd name="connsiteX7" fmla="*/ 0 w 3948049"/>
              <a:gd name="connsiteY7" fmla="*/ 421565 h 468406"/>
              <a:gd name="connsiteX8" fmla="*/ 0 w 3948049"/>
              <a:gd name="connsiteY8" fmla="*/ 46841 h 4684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48049" h="468406">
                <a:moveTo>
                  <a:pt x="0" y="46841"/>
                </a:moveTo>
                <a:cubicBezTo>
                  <a:pt x="0" y="20971"/>
                  <a:pt x="20971" y="0"/>
                  <a:pt x="46841" y="0"/>
                </a:cubicBezTo>
                <a:lnTo>
                  <a:pt x="3901208" y="0"/>
                </a:lnTo>
                <a:cubicBezTo>
                  <a:pt x="3927078" y="0"/>
                  <a:pt x="3948049" y="20971"/>
                  <a:pt x="3948049" y="46841"/>
                </a:cubicBezTo>
                <a:lnTo>
                  <a:pt x="3948049" y="421565"/>
                </a:lnTo>
                <a:cubicBezTo>
                  <a:pt x="3948049" y="447435"/>
                  <a:pt x="3927078" y="468406"/>
                  <a:pt x="3901208" y="468406"/>
                </a:cubicBezTo>
                <a:lnTo>
                  <a:pt x="46841" y="468406"/>
                </a:lnTo>
                <a:cubicBezTo>
                  <a:pt x="20971" y="468406"/>
                  <a:pt x="0" y="447435"/>
                  <a:pt x="0" y="421565"/>
                </a:cubicBezTo>
                <a:lnTo>
                  <a:pt x="0" y="46841"/>
                </a:lnTo>
                <a:close/>
              </a:path>
            </a:pathLst>
          </a:custGeom>
          <a:solidFill>
            <a:schemeClr val="bg1"/>
          </a:solidFill>
          <a:ln>
            <a:noFill/>
          </a:ln>
        </p:spPr>
        <p:style>
          <a:lnRef idx="1">
            <a:schemeClr val="accent1"/>
          </a:lnRef>
          <a:fillRef idx="2">
            <a:schemeClr val="accent1"/>
          </a:fillRef>
          <a:effectRef idx="1">
            <a:schemeClr val="accent1"/>
          </a:effectRef>
          <a:fontRef idx="minor">
            <a:schemeClr val="dk1"/>
          </a:fontRef>
        </p:style>
        <p:txBody>
          <a:bodyPr spcFirstLastPara="0" vert="horz" wrap="square" lIns="36579" tIns="36579" rIns="36579" bIns="36579" numCol="1" spcCol="1270" anchor="ctr" anchorCtr="0">
            <a:noAutofit/>
          </a:bodyPr>
          <a:lstStyle/>
          <a:p>
            <a:pPr lvl="0" algn="ctr" defTabSz="800100">
              <a:spcBef>
                <a:spcPct val="0"/>
              </a:spcBef>
              <a:spcAft>
                <a:spcPts val="0"/>
              </a:spcAft>
            </a:pPr>
            <a:r>
              <a:rPr lang="zh-CN" altLang="en-US" sz="1200" dirty="0"/>
              <a:t>草案标准</a:t>
            </a:r>
            <a:endParaRPr lang="en-US" altLang="zh-CN" sz="1200" dirty="0"/>
          </a:p>
          <a:p>
            <a:pPr lvl="0" algn="ctr" defTabSz="800100">
              <a:spcAft>
                <a:spcPts val="0"/>
              </a:spcAft>
            </a:pPr>
            <a:r>
              <a:rPr lang="zh-CN" altLang="en-US" sz="1200" dirty="0"/>
              <a:t> </a:t>
            </a:r>
            <a:r>
              <a:rPr lang="en-US" altLang="en-US" sz="1200" dirty="0"/>
              <a:t>Draft Standard</a:t>
            </a:r>
            <a:endParaRPr lang="zh-CN" altLang="en-US" sz="1200" dirty="0"/>
          </a:p>
        </p:txBody>
      </p:sp>
      <p:cxnSp>
        <p:nvCxnSpPr>
          <p:cNvPr id="133" name="直接箭头连接符 132"/>
          <p:cNvCxnSpPr/>
          <p:nvPr/>
        </p:nvCxnSpPr>
        <p:spPr>
          <a:xfrm>
            <a:off x="2717890" y="2799335"/>
            <a:ext cx="0" cy="209903"/>
          </a:xfrm>
          <a:prstGeom prst="straightConnector1">
            <a:avLst/>
          </a:prstGeom>
          <a:ln w="12700">
            <a:tailEnd type="triangle"/>
          </a:ln>
        </p:spPr>
        <p:style>
          <a:lnRef idx="1">
            <a:schemeClr val="dk1"/>
          </a:lnRef>
          <a:fillRef idx="0">
            <a:schemeClr val="dk1"/>
          </a:fillRef>
          <a:effectRef idx="0">
            <a:schemeClr val="dk1"/>
          </a:effectRef>
          <a:fontRef idx="minor">
            <a:schemeClr val="tx1"/>
          </a:fontRef>
        </p:style>
      </p:cxnSp>
      <p:cxnSp>
        <p:nvCxnSpPr>
          <p:cNvPr id="134" name="直接箭头连接符 133"/>
          <p:cNvCxnSpPr/>
          <p:nvPr/>
        </p:nvCxnSpPr>
        <p:spPr>
          <a:xfrm>
            <a:off x="2717890" y="3441899"/>
            <a:ext cx="0" cy="209903"/>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156" name="直接箭头连接符 155"/>
          <p:cNvCxnSpPr/>
          <p:nvPr/>
        </p:nvCxnSpPr>
        <p:spPr>
          <a:xfrm>
            <a:off x="2029912" y="2799335"/>
            <a:ext cx="0" cy="852467"/>
          </a:xfrm>
          <a:prstGeom prst="straightConnector1">
            <a:avLst/>
          </a:prstGeom>
          <a:ln w="12700">
            <a:prstDash val="sysDash"/>
            <a:tailEnd type="triangle"/>
          </a:ln>
        </p:spPr>
        <p:style>
          <a:lnRef idx="1">
            <a:schemeClr val="dk1"/>
          </a:lnRef>
          <a:fillRef idx="0">
            <a:schemeClr val="dk1"/>
          </a:fillRef>
          <a:effectRef idx="0">
            <a:schemeClr val="dk1"/>
          </a:effectRef>
          <a:fontRef idx="minor">
            <a:schemeClr val="tx1"/>
          </a:fontRef>
        </p:style>
      </p:cxnSp>
      <p:cxnSp>
        <p:nvCxnSpPr>
          <p:cNvPr id="55" name="直接箭头连接符 54"/>
          <p:cNvCxnSpPr/>
          <p:nvPr/>
        </p:nvCxnSpPr>
        <p:spPr>
          <a:xfrm>
            <a:off x="2717890" y="1853640"/>
            <a:ext cx="0" cy="495369"/>
          </a:xfrm>
          <a:prstGeom prst="straightConnector1">
            <a:avLst/>
          </a:prstGeom>
          <a:ln w="12700">
            <a:tailEnd type="triangle"/>
          </a:ln>
        </p:spPr>
        <p:style>
          <a:lnRef idx="1">
            <a:schemeClr val="dk1"/>
          </a:lnRef>
          <a:fillRef idx="0">
            <a:schemeClr val="dk1"/>
          </a:fillRef>
          <a:effectRef idx="0">
            <a:schemeClr val="dk1"/>
          </a:effectRef>
          <a:fontRef idx="minor">
            <a:schemeClr val="tx1"/>
          </a:fontRef>
        </p:style>
      </p:cxnSp>
      <p:sp>
        <p:nvSpPr>
          <p:cNvPr id="9" name="矩形 8"/>
          <p:cNvSpPr/>
          <p:nvPr/>
        </p:nvSpPr>
        <p:spPr>
          <a:xfrm>
            <a:off x="1463726" y="1974393"/>
            <a:ext cx="902811" cy="276999"/>
          </a:xfrm>
          <a:prstGeom prst="rect">
            <a:avLst/>
          </a:prstGeom>
          <a:noFill/>
        </p:spPr>
        <p:txBody>
          <a:bodyPr wrap="square" rtlCol="0">
            <a:spAutoFit/>
          </a:bodyPr>
          <a:lstStyle/>
          <a:p>
            <a:r>
              <a:rPr lang="zh-CN" altLang="en-US" sz="1200" dirty="0"/>
              <a:t>标准轨道</a:t>
            </a:r>
          </a:p>
        </p:txBody>
      </p:sp>
      <p:cxnSp>
        <p:nvCxnSpPr>
          <p:cNvPr id="40" name="直接箭头连接符 39"/>
          <p:cNvCxnSpPr/>
          <p:nvPr/>
        </p:nvCxnSpPr>
        <p:spPr>
          <a:xfrm>
            <a:off x="3693384" y="2575490"/>
            <a:ext cx="480196" cy="0"/>
          </a:xfrm>
          <a:prstGeom prst="straightConnector1">
            <a:avLst/>
          </a:prstGeom>
          <a:ln w="12700">
            <a:prstDash val="sysDash"/>
            <a:tailEnd type="triangle"/>
          </a:ln>
        </p:spPr>
        <p:style>
          <a:lnRef idx="1">
            <a:schemeClr val="dk1"/>
          </a:lnRef>
          <a:fillRef idx="0">
            <a:schemeClr val="dk1"/>
          </a:fillRef>
          <a:effectRef idx="0">
            <a:schemeClr val="dk1"/>
          </a:effectRef>
          <a:fontRef idx="minor">
            <a:schemeClr val="tx1"/>
          </a:fontRef>
        </p:style>
      </p:cxnSp>
      <p:cxnSp>
        <p:nvCxnSpPr>
          <p:cNvPr id="41" name="直接箭头连接符 40"/>
          <p:cNvCxnSpPr/>
          <p:nvPr/>
        </p:nvCxnSpPr>
        <p:spPr>
          <a:xfrm>
            <a:off x="3693384" y="3237346"/>
            <a:ext cx="480196" cy="0"/>
          </a:xfrm>
          <a:prstGeom prst="straightConnector1">
            <a:avLst/>
          </a:prstGeom>
          <a:ln w="12700">
            <a:prstDash val="sysDash"/>
            <a:tailEnd type="triangle"/>
          </a:ln>
        </p:spPr>
        <p:style>
          <a:lnRef idx="1">
            <a:schemeClr val="dk1"/>
          </a:lnRef>
          <a:fillRef idx="0">
            <a:schemeClr val="dk1"/>
          </a:fillRef>
          <a:effectRef idx="0">
            <a:schemeClr val="dk1"/>
          </a:effectRef>
          <a:fontRef idx="minor">
            <a:schemeClr val="tx1"/>
          </a:fontRef>
        </p:style>
      </p:cxnSp>
      <p:cxnSp>
        <p:nvCxnSpPr>
          <p:cNvPr id="46" name="直接箭头连接符 45"/>
          <p:cNvCxnSpPr/>
          <p:nvPr/>
        </p:nvCxnSpPr>
        <p:spPr>
          <a:xfrm>
            <a:off x="3693384" y="3986293"/>
            <a:ext cx="480196" cy="0"/>
          </a:xfrm>
          <a:prstGeom prst="straightConnector1">
            <a:avLst/>
          </a:prstGeom>
          <a:ln w="12700">
            <a:prstDash val="sysDash"/>
            <a:tailEnd type="triangle"/>
          </a:ln>
        </p:spPr>
        <p:style>
          <a:lnRef idx="1">
            <a:schemeClr val="dk1"/>
          </a:lnRef>
          <a:fillRef idx="0">
            <a:schemeClr val="dk1"/>
          </a:fillRef>
          <a:effectRef idx="0">
            <a:schemeClr val="dk1"/>
          </a:effectRef>
          <a:fontRef idx="minor">
            <a:schemeClr val="tx1"/>
          </a:fontRef>
        </p:style>
      </p:cxnSp>
      <p:cxnSp>
        <p:nvCxnSpPr>
          <p:cNvPr id="47" name="直接箭头连接符 46"/>
          <p:cNvCxnSpPr/>
          <p:nvPr/>
        </p:nvCxnSpPr>
        <p:spPr>
          <a:xfrm>
            <a:off x="4173580" y="2581755"/>
            <a:ext cx="0" cy="1404261"/>
          </a:xfrm>
          <a:prstGeom prst="straightConnector1">
            <a:avLst/>
          </a:prstGeom>
          <a:ln w="12700">
            <a:prstDash val="sysDash"/>
            <a:headEnd type="none" w="med" len="med"/>
            <a:tailEnd type="none" w="med" len="med"/>
          </a:ln>
        </p:spPr>
        <p:style>
          <a:lnRef idx="1">
            <a:schemeClr val="dk1"/>
          </a:lnRef>
          <a:fillRef idx="0">
            <a:schemeClr val="dk1"/>
          </a:fillRef>
          <a:effectRef idx="0">
            <a:schemeClr val="dk1"/>
          </a:effectRef>
          <a:fontRef idx="minor">
            <a:schemeClr val="tx1"/>
          </a:fontRef>
        </p:style>
      </p:cxnSp>
      <p:sp>
        <p:nvSpPr>
          <p:cNvPr id="48" name="圆角矩形 47"/>
          <p:cNvSpPr/>
          <p:nvPr/>
        </p:nvSpPr>
        <p:spPr>
          <a:xfrm>
            <a:off x="5076712" y="1965618"/>
            <a:ext cx="2520000" cy="2412274"/>
          </a:xfrm>
          <a:prstGeom prst="roundRect">
            <a:avLst>
              <a:gd name="adj" fmla="val 2949"/>
            </a:avLst>
          </a:prstGeom>
          <a:solidFill>
            <a:schemeClr val="accent4">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p>
        </p:txBody>
      </p:sp>
      <p:sp>
        <p:nvSpPr>
          <p:cNvPr id="49" name="矩形 48"/>
          <p:cNvSpPr/>
          <p:nvPr/>
        </p:nvSpPr>
        <p:spPr>
          <a:xfrm>
            <a:off x="6505318" y="1974393"/>
            <a:ext cx="1083909" cy="276999"/>
          </a:xfrm>
          <a:prstGeom prst="rect">
            <a:avLst/>
          </a:prstGeom>
          <a:noFill/>
        </p:spPr>
        <p:txBody>
          <a:bodyPr wrap="square" rtlCol="0">
            <a:spAutoFit/>
          </a:bodyPr>
          <a:lstStyle/>
          <a:p>
            <a:pPr algn="r"/>
            <a:r>
              <a:rPr lang="zh-CN" altLang="en-US" sz="1200" dirty="0"/>
              <a:t>非标准轨道</a:t>
            </a:r>
          </a:p>
        </p:txBody>
      </p:sp>
      <p:sp>
        <p:nvSpPr>
          <p:cNvPr id="36" name="任意多边形 35"/>
          <p:cNvSpPr/>
          <p:nvPr/>
        </p:nvSpPr>
        <p:spPr>
          <a:xfrm>
            <a:off x="5354664" y="3758641"/>
            <a:ext cx="1942670" cy="406619"/>
          </a:xfrm>
          <a:custGeom>
            <a:avLst/>
            <a:gdLst>
              <a:gd name="connsiteX0" fmla="*/ 0 w 3948049"/>
              <a:gd name="connsiteY0" fmla="*/ 46841 h 468406"/>
              <a:gd name="connsiteX1" fmla="*/ 46841 w 3948049"/>
              <a:gd name="connsiteY1" fmla="*/ 0 h 468406"/>
              <a:gd name="connsiteX2" fmla="*/ 3901208 w 3948049"/>
              <a:gd name="connsiteY2" fmla="*/ 0 h 468406"/>
              <a:gd name="connsiteX3" fmla="*/ 3948049 w 3948049"/>
              <a:gd name="connsiteY3" fmla="*/ 46841 h 468406"/>
              <a:gd name="connsiteX4" fmla="*/ 3948049 w 3948049"/>
              <a:gd name="connsiteY4" fmla="*/ 421565 h 468406"/>
              <a:gd name="connsiteX5" fmla="*/ 3901208 w 3948049"/>
              <a:gd name="connsiteY5" fmla="*/ 468406 h 468406"/>
              <a:gd name="connsiteX6" fmla="*/ 46841 w 3948049"/>
              <a:gd name="connsiteY6" fmla="*/ 468406 h 468406"/>
              <a:gd name="connsiteX7" fmla="*/ 0 w 3948049"/>
              <a:gd name="connsiteY7" fmla="*/ 421565 h 468406"/>
              <a:gd name="connsiteX8" fmla="*/ 0 w 3948049"/>
              <a:gd name="connsiteY8" fmla="*/ 46841 h 4684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48049" h="468406">
                <a:moveTo>
                  <a:pt x="0" y="46841"/>
                </a:moveTo>
                <a:cubicBezTo>
                  <a:pt x="0" y="20971"/>
                  <a:pt x="20971" y="0"/>
                  <a:pt x="46841" y="0"/>
                </a:cubicBezTo>
                <a:lnTo>
                  <a:pt x="3901208" y="0"/>
                </a:lnTo>
                <a:cubicBezTo>
                  <a:pt x="3927078" y="0"/>
                  <a:pt x="3948049" y="20971"/>
                  <a:pt x="3948049" y="46841"/>
                </a:cubicBezTo>
                <a:lnTo>
                  <a:pt x="3948049" y="421565"/>
                </a:lnTo>
                <a:cubicBezTo>
                  <a:pt x="3948049" y="447435"/>
                  <a:pt x="3927078" y="468406"/>
                  <a:pt x="3901208" y="468406"/>
                </a:cubicBezTo>
                <a:lnTo>
                  <a:pt x="46841" y="468406"/>
                </a:lnTo>
                <a:cubicBezTo>
                  <a:pt x="20971" y="468406"/>
                  <a:pt x="0" y="447435"/>
                  <a:pt x="0" y="421565"/>
                </a:cubicBezTo>
                <a:lnTo>
                  <a:pt x="0" y="46841"/>
                </a:lnTo>
                <a:close/>
              </a:path>
            </a:pathLst>
          </a:custGeom>
          <a:solidFill>
            <a:schemeClr val="bg1"/>
          </a:solidFill>
          <a:ln>
            <a:noFill/>
          </a:ln>
        </p:spPr>
        <p:style>
          <a:lnRef idx="1">
            <a:schemeClr val="accent3"/>
          </a:lnRef>
          <a:fillRef idx="2">
            <a:schemeClr val="accent3"/>
          </a:fillRef>
          <a:effectRef idx="1">
            <a:schemeClr val="accent3"/>
          </a:effectRef>
          <a:fontRef idx="minor">
            <a:schemeClr val="dk1">
              <a:hueOff val="0"/>
              <a:satOff val="0"/>
              <a:lumOff val="0"/>
              <a:alphaOff val="0"/>
            </a:schemeClr>
          </a:fontRef>
        </p:style>
        <p:txBody>
          <a:bodyPr spcFirstLastPara="0" vert="horz" wrap="square" lIns="36579" tIns="36579" rIns="36579" bIns="36579" numCol="1" spcCol="1270" anchor="ctr" anchorCtr="0">
            <a:noAutofit/>
          </a:bodyPr>
          <a:lstStyle/>
          <a:p>
            <a:pPr lvl="0" algn="ctr" defTabSz="800100">
              <a:spcAft>
                <a:spcPts val="0"/>
              </a:spcAft>
            </a:pPr>
            <a:r>
              <a:rPr lang="zh-CN" altLang="en-US" sz="1200" dirty="0"/>
              <a:t>历史</a:t>
            </a:r>
            <a:endParaRPr lang="en-US" altLang="zh-CN" sz="1200" dirty="0"/>
          </a:p>
          <a:p>
            <a:pPr lvl="0" algn="ctr" defTabSz="800100">
              <a:spcAft>
                <a:spcPts val="0"/>
              </a:spcAft>
            </a:pPr>
            <a:r>
              <a:rPr lang="en-US" altLang="zh-CN" sz="1200" dirty="0"/>
              <a:t>Historic</a:t>
            </a:r>
            <a:endParaRPr lang="zh-CN" altLang="en-US" sz="1200" dirty="0"/>
          </a:p>
        </p:txBody>
      </p:sp>
      <p:sp>
        <p:nvSpPr>
          <p:cNvPr id="37" name="任意多边形 36"/>
          <p:cNvSpPr/>
          <p:nvPr/>
        </p:nvSpPr>
        <p:spPr>
          <a:xfrm>
            <a:off x="5354664" y="3063166"/>
            <a:ext cx="1942670" cy="412661"/>
          </a:xfrm>
          <a:custGeom>
            <a:avLst/>
            <a:gdLst>
              <a:gd name="connsiteX0" fmla="*/ 0 w 3948049"/>
              <a:gd name="connsiteY0" fmla="*/ 46841 h 468406"/>
              <a:gd name="connsiteX1" fmla="*/ 46841 w 3948049"/>
              <a:gd name="connsiteY1" fmla="*/ 0 h 468406"/>
              <a:gd name="connsiteX2" fmla="*/ 3901208 w 3948049"/>
              <a:gd name="connsiteY2" fmla="*/ 0 h 468406"/>
              <a:gd name="connsiteX3" fmla="*/ 3948049 w 3948049"/>
              <a:gd name="connsiteY3" fmla="*/ 46841 h 468406"/>
              <a:gd name="connsiteX4" fmla="*/ 3948049 w 3948049"/>
              <a:gd name="connsiteY4" fmla="*/ 421565 h 468406"/>
              <a:gd name="connsiteX5" fmla="*/ 3901208 w 3948049"/>
              <a:gd name="connsiteY5" fmla="*/ 468406 h 468406"/>
              <a:gd name="connsiteX6" fmla="*/ 46841 w 3948049"/>
              <a:gd name="connsiteY6" fmla="*/ 468406 h 468406"/>
              <a:gd name="connsiteX7" fmla="*/ 0 w 3948049"/>
              <a:gd name="connsiteY7" fmla="*/ 421565 h 468406"/>
              <a:gd name="connsiteX8" fmla="*/ 0 w 3948049"/>
              <a:gd name="connsiteY8" fmla="*/ 46841 h 4684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48049" h="468406">
                <a:moveTo>
                  <a:pt x="0" y="46841"/>
                </a:moveTo>
                <a:cubicBezTo>
                  <a:pt x="0" y="20971"/>
                  <a:pt x="20971" y="0"/>
                  <a:pt x="46841" y="0"/>
                </a:cubicBezTo>
                <a:lnTo>
                  <a:pt x="3901208" y="0"/>
                </a:lnTo>
                <a:cubicBezTo>
                  <a:pt x="3927078" y="0"/>
                  <a:pt x="3948049" y="20971"/>
                  <a:pt x="3948049" y="46841"/>
                </a:cubicBezTo>
                <a:lnTo>
                  <a:pt x="3948049" y="421565"/>
                </a:lnTo>
                <a:cubicBezTo>
                  <a:pt x="3948049" y="447435"/>
                  <a:pt x="3927078" y="468406"/>
                  <a:pt x="3901208" y="468406"/>
                </a:cubicBezTo>
                <a:lnTo>
                  <a:pt x="46841" y="468406"/>
                </a:lnTo>
                <a:cubicBezTo>
                  <a:pt x="20971" y="468406"/>
                  <a:pt x="0" y="447435"/>
                  <a:pt x="0" y="421565"/>
                </a:cubicBezTo>
                <a:lnTo>
                  <a:pt x="0" y="46841"/>
                </a:lnTo>
                <a:close/>
              </a:path>
            </a:pathLst>
          </a:custGeom>
          <a:solidFill>
            <a:schemeClr val="bg1"/>
          </a:solidFill>
          <a:ln>
            <a:noFill/>
          </a:ln>
        </p:spPr>
        <p:style>
          <a:lnRef idx="1">
            <a:schemeClr val="accent6"/>
          </a:lnRef>
          <a:fillRef idx="2">
            <a:schemeClr val="accent6"/>
          </a:fillRef>
          <a:effectRef idx="1">
            <a:schemeClr val="accent6"/>
          </a:effectRef>
          <a:fontRef idx="minor">
            <a:schemeClr val="dk1">
              <a:hueOff val="0"/>
              <a:satOff val="0"/>
              <a:lumOff val="0"/>
              <a:alphaOff val="0"/>
            </a:schemeClr>
          </a:fontRef>
        </p:style>
        <p:txBody>
          <a:bodyPr spcFirstLastPara="0" vert="horz" wrap="square" lIns="36579" tIns="36579" rIns="36579" bIns="36579" numCol="1" spcCol="1270" anchor="ctr" anchorCtr="0">
            <a:noAutofit/>
          </a:bodyPr>
          <a:lstStyle/>
          <a:p>
            <a:pPr lvl="0" algn="ctr" defTabSz="800100">
              <a:spcAft>
                <a:spcPts val="0"/>
              </a:spcAft>
            </a:pPr>
            <a:r>
              <a:rPr lang="zh-CN" altLang="en-US" sz="1200" dirty="0"/>
              <a:t>信息</a:t>
            </a:r>
            <a:endParaRPr lang="en-US" altLang="zh-CN" sz="1200" dirty="0"/>
          </a:p>
          <a:p>
            <a:pPr lvl="0" algn="ctr" defTabSz="800100">
              <a:spcAft>
                <a:spcPts val="0"/>
              </a:spcAft>
            </a:pPr>
            <a:r>
              <a:rPr lang="en-US" altLang="en-US" sz="1200" dirty="0"/>
              <a:t>Informational</a:t>
            </a:r>
            <a:endParaRPr lang="zh-CN" altLang="en-US" sz="1200" dirty="0"/>
          </a:p>
        </p:txBody>
      </p:sp>
      <p:sp>
        <p:nvSpPr>
          <p:cNvPr id="38" name="任意多边形 37"/>
          <p:cNvSpPr/>
          <p:nvPr/>
        </p:nvSpPr>
        <p:spPr>
          <a:xfrm>
            <a:off x="5359902" y="2349009"/>
            <a:ext cx="1937432" cy="412661"/>
          </a:xfrm>
          <a:custGeom>
            <a:avLst/>
            <a:gdLst>
              <a:gd name="connsiteX0" fmla="*/ 0 w 3948049"/>
              <a:gd name="connsiteY0" fmla="*/ 46841 h 468406"/>
              <a:gd name="connsiteX1" fmla="*/ 46841 w 3948049"/>
              <a:gd name="connsiteY1" fmla="*/ 0 h 468406"/>
              <a:gd name="connsiteX2" fmla="*/ 3901208 w 3948049"/>
              <a:gd name="connsiteY2" fmla="*/ 0 h 468406"/>
              <a:gd name="connsiteX3" fmla="*/ 3948049 w 3948049"/>
              <a:gd name="connsiteY3" fmla="*/ 46841 h 468406"/>
              <a:gd name="connsiteX4" fmla="*/ 3948049 w 3948049"/>
              <a:gd name="connsiteY4" fmla="*/ 421565 h 468406"/>
              <a:gd name="connsiteX5" fmla="*/ 3901208 w 3948049"/>
              <a:gd name="connsiteY5" fmla="*/ 468406 h 468406"/>
              <a:gd name="connsiteX6" fmla="*/ 46841 w 3948049"/>
              <a:gd name="connsiteY6" fmla="*/ 468406 h 468406"/>
              <a:gd name="connsiteX7" fmla="*/ 0 w 3948049"/>
              <a:gd name="connsiteY7" fmla="*/ 421565 h 468406"/>
              <a:gd name="connsiteX8" fmla="*/ 0 w 3948049"/>
              <a:gd name="connsiteY8" fmla="*/ 46841 h 4684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48049" h="468406">
                <a:moveTo>
                  <a:pt x="0" y="46841"/>
                </a:moveTo>
                <a:cubicBezTo>
                  <a:pt x="0" y="20971"/>
                  <a:pt x="20971" y="0"/>
                  <a:pt x="46841" y="0"/>
                </a:cubicBezTo>
                <a:lnTo>
                  <a:pt x="3901208" y="0"/>
                </a:lnTo>
                <a:cubicBezTo>
                  <a:pt x="3927078" y="0"/>
                  <a:pt x="3948049" y="20971"/>
                  <a:pt x="3948049" y="46841"/>
                </a:cubicBezTo>
                <a:lnTo>
                  <a:pt x="3948049" y="421565"/>
                </a:lnTo>
                <a:cubicBezTo>
                  <a:pt x="3948049" y="447435"/>
                  <a:pt x="3927078" y="468406"/>
                  <a:pt x="3901208" y="468406"/>
                </a:cubicBezTo>
                <a:lnTo>
                  <a:pt x="46841" y="468406"/>
                </a:lnTo>
                <a:cubicBezTo>
                  <a:pt x="20971" y="468406"/>
                  <a:pt x="0" y="447435"/>
                  <a:pt x="0" y="421565"/>
                </a:cubicBezTo>
                <a:lnTo>
                  <a:pt x="0" y="46841"/>
                </a:lnTo>
                <a:close/>
              </a:path>
            </a:pathLst>
          </a:custGeom>
          <a:solidFill>
            <a:schemeClr val="bg1"/>
          </a:solidFill>
          <a:ln>
            <a:noFill/>
          </a:ln>
        </p:spPr>
        <p:style>
          <a:lnRef idx="1">
            <a:schemeClr val="accent1"/>
          </a:lnRef>
          <a:fillRef idx="2">
            <a:schemeClr val="accent1"/>
          </a:fillRef>
          <a:effectRef idx="1">
            <a:schemeClr val="accent1"/>
          </a:effectRef>
          <a:fontRef idx="minor">
            <a:schemeClr val="dk1"/>
          </a:fontRef>
        </p:style>
        <p:txBody>
          <a:bodyPr spcFirstLastPara="0" vert="horz" wrap="square" lIns="36579" tIns="36579" rIns="36579" bIns="36579" numCol="1" spcCol="1270" anchor="ctr" anchorCtr="0">
            <a:noAutofit/>
          </a:bodyPr>
          <a:lstStyle/>
          <a:p>
            <a:pPr lvl="0" algn="ctr" defTabSz="800100">
              <a:spcBef>
                <a:spcPct val="0"/>
              </a:spcBef>
              <a:spcAft>
                <a:spcPts val="0"/>
              </a:spcAft>
            </a:pPr>
            <a:r>
              <a:rPr lang="zh-CN" altLang="en-US" sz="1200" dirty="0"/>
              <a:t>实验</a:t>
            </a:r>
            <a:endParaRPr lang="en-US" altLang="zh-CN" sz="1200" dirty="0"/>
          </a:p>
          <a:p>
            <a:pPr lvl="0" algn="ctr" defTabSz="800100">
              <a:spcAft>
                <a:spcPts val="0"/>
              </a:spcAft>
            </a:pPr>
            <a:r>
              <a:rPr lang="zh-CN" altLang="en-US" sz="1200" dirty="0"/>
              <a:t> </a:t>
            </a:r>
            <a:r>
              <a:rPr lang="en-US" altLang="zh-CN" sz="1200" dirty="0"/>
              <a:t>Experimental</a:t>
            </a:r>
            <a:endParaRPr lang="zh-CN" altLang="en-US" sz="1200" dirty="0"/>
          </a:p>
        </p:txBody>
      </p:sp>
      <p:cxnSp>
        <p:nvCxnSpPr>
          <p:cNvPr id="135" name="直接箭头连接符 134"/>
          <p:cNvCxnSpPr/>
          <p:nvPr/>
        </p:nvCxnSpPr>
        <p:spPr>
          <a:xfrm>
            <a:off x="6313710" y="1853640"/>
            <a:ext cx="0" cy="495369"/>
          </a:xfrm>
          <a:prstGeom prst="straightConnector1">
            <a:avLst/>
          </a:prstGeom>
          <a:ln w="12700">
            <a:tailEnd type="triangle"/>
          </a:ln>
        </p:spPr>
        <p:style>
          <a:lnRef idx="1">
            <a:schemeClr val="dk1"/>
          </a:lnRef>
          <a:fillRef idx="0">
            <a:schemeClr val="dk1"/>
          </a:fillRef>
          <a:effectRef idx="0">
            <a:schemeClr val="dk1"/>
          </a:effectRef>
          <a:fontRef idx="minor">
            <a:schemeClr val="tx1"/>
          </a:fontRef>
        </p:style>
      </p:cxnSp>
      <p:cxnSp>
        <p:nvCxnSpPr>
          <p:cNvPr id="60" name="直接箭头连接符 59"/>
          <p:cNvCxnSpPr/>
          <p:nvPr/>
        </p:nvCxnSpPr>
        <p:spPr>
          <a:xfrm>
            <a:off x="4173580" y="3986016"/>
            <a:ext cx="1181084" cy="0"/>
          </a:xfrm>
          <a:prstGeom prst="straightConnector1">
            <a:avLst/>
          </a:prstGeom>
          <a:ln w="12700">
            <a:prstDash val="sysDash"/>
            <a:tailEnd type="triangle"/>
          </a:ln>
        </p:spPr>
        <p:style>
          <a:lnRef idx="1">
            <a:schemeClr val="dk1"/>
          </a:lnRef>
          <a:fillRef idx="0">
            <a:schemeClr val="dk1"/>
          </a:fillRef>
          <a:effectRef idx="0">
            <a:schemeClr val="dk1"/>
          </a:effectRef>
          <a:fontRef idx="minor">
            <a:schemeClr val="tx1"/>
          </a:fontRef>
        </p:style>
      </p:cxnSp>
      <p:sp>
        <p:nvSpPr>
          <p:cNvPr id="3" name="标题 2">
            <a:extLst>
              <a:ext uri="{FF2B5EF4-FFF2-40B4-BE49-F238E27FC236}">
                <a16:creationId xmlns:a16="http://schemas.microsoft.com/office/drawing/2014/main" id="{1E92A9FF-3C78-8261-4648-96C88A3374CF}"/>
              </a:ext>
            </a:extLst>
          </p:cNvPr>
          <p:cNvSpPr>
            <a:spLocks noGrp="1"/>
          </p:cNvSpPr>
          <p:nvPr>
            <p:ph type="title"/>
          </p:nvPr>
        </p:nvSpPr>
        <p:spPr>
          <a:xfrm>
            <a:off x="612000" y="144000"/>
            <a:ext cx="7920000" cy="341632"/>
          </a:xfrm>
        </p:spPr>
        <p:txBody>
          <a:bodyPr/>
          <a:lstStyle/>
          <a:p>
            <a:r>
              <a:rPr lang="zh-CN" altLang="en-US" dirty="0"/>
              <a:t>标准化过程</a:t>
            </a:r>
          </a:p>
        </p:txBody>
      </p:sp>
    </p:spTree>
    <p:extLst>
      <p:ext uri="{BB962C8B-B14F-4D97-AF65-F5344CB8AC3E}">
        <p14:creationId xmlns:p14="http://schemas.microsoft.com/office/powerpoint/2010/main" val="1028758347"/>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B86903D-199D-34E6-9C2A-F7F38BD5D0CA}"/>
              </a:ext>
            </a:extLst>
          </p:cNvPr>
          <p:cNvSpPr>
            <a:spLocks noGrp="1"/>
          </p:cNvSpPr>
          <p:nvPr>
            <p:ph type="title"/>
          </p:nvPr>
        </p:nvSpPr>
        <p:spPr>
          <a:xfrm>
            <a:off x="2228850" y="403553"/>
            <a:ext cx="6562725" cy="523220"/>
          </a:xfrm>
        </p:spPr>
        <p:txBody>
          <a:bodyPr/>
          <a:lstStyle/>
          <a:p>
            <a:r>
              <a:rPr lang="fr-FR" altLang="zh-CN" dirty="0"/>
              <a:t>1.3 </a:t>
            </a:r>
            <a:r>
              <a:rPr lang="zh-CN" altLang="fr-FR" dirty="0"/>
              <a:t>互联网的组成</a:t>
            </a:r>
            <a:endParaRPr lang="zh-CN" altLang="en-US" dirty="0"/>
          </a:p>
        </p:txBody>
      </p:sp>
      <p:sp>
        <p:nvSpPr>
          <p:cNvPr id="6" name="文本框 5">
            <a:extLst>
              <a:ext uri="{FF2B5EF4-FFF2-40B4-BE49-F238E27FC236}">
                <a16:creationId xmlns:a16="http://schemas.microsoft.com/office/drawing/2014/main" id="{260B68CF-8DCB-D7AF-0550-20A7EA7370D9}"/>
              </a:ext>
            </a:extLst>
          </p:cNvPr>
          <p:cNvSpPr txBox="1"/>
          <p:nvPr/>
        </p:nvSpPr>
        <p:spPr>
          <a:xfrm>
            <a:off x="2962275" y="1293396"/>
            <a:ext cx="3562350" cy="646331"/>
          </a:xfrm>
          <a:prstGeom prst="rect">
            <a:avLst/>
          </a:prstGeom>
          <a:noFill/>
        </p:spPr>
        <p:txBody>
          <a:bodyPr wrap="square">
            <a:spAutoFit/>
          </a:bodyPr>
          <a:lstStyle/>
          <a:p>
            <a:r>
              <a:rPr lang="en-US" altLang="zh-CN" dirty="0"/>
              <a:t>1.3.1 </a:t>
            </a:r>
          </a:p>
          <a:p>
            <a:r>
              <a:rPr lang="zh-CN" altLang="zh-CN" dirty="0"/>
              <a:t>互联网的边缘部分</a:t>
            </a:r>
            <a:endParaRPr lang="en-US" altLang="zh-CN" dirty="0"/>
          </a:p>
        </p:txBody>
      </p:sp>
      <p:sp>
        <p:nvSpPr>
          <p:cNvPr id="7" name="文本框 6">
            <a:extLst>
              <a:ext uri="{FF2B5EF4-FFF2-40B4-BE49-F238E27FC236}">
                <a16:creationId xmlns:a16="http://schemas.microsoft.com/office/drawing/2014/main" id="{CB4463B8-1820-36F0-F496-3903F2149036}"/>
              </a:ext>
            </a:extLst>
          </p:cNvPr>
          <p:cNvSpPr txBox="1"/>
          <p:nvPr/>
        </p:nvSpPr>
        <p:spPr>
          <a:xfrm>
            <a:off x="3886200" y="2216725"/>
            <a:ext cx="3648075" cy="646331"/>
          </a:xfrm>
          <a:prstGeom prst="rect">
            <a:avLst/>
          </a:prstGeom>
          <a:noFill/>
        </p:spPr>
        <p:txBody>
          <a:bodyPr wrap="square">
            <a:spAutoFit/>
          </a:bodyPr>
          <a:lstStyle/>
          <a:p>
            <a:r>
              <a:rPr lang="en-US" altLang="zh-CN" dirty="0"/>
              <a:t>1.3.2 </a:t>
            </a:r>
          </a:p>
          <a:p>
            <a:r>
              <a:rPr lang="zh-CN" altLang="zh-CN" dirty="0"/>
              <a:t>互联网的核心部分</a:t>
            </a:r>
            <a:endParaRPr lang="fr-FR" altLang="zh-CN"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标题 6">
            <a:extLst>
              <a:ext uri="{FF2B5EF4-FFF2-40B4-BE49-F238E27FC236}">
                <a16:creationId xmlns:a16="http://schemas.microsoft.com/office/drawing/2014/main" id="{F197BBDB-7D6B-49DD-5863-D9CD21E82D5C}"/>
              </a:ext>
            </a:extLst>
          </p:cNvPr>
          <p:cNvSpPr>
            <a:spLocks noGrp="1"/>
          </p:cNvSpPr>
          <p:nvPr>
            <p:ph type="title"/>
          </p:nvPr>
        </p:nvSpPr>
        <p:spPr>
          <a:xfrm>
            <a:off x="612000" y="144000"/>
            <a:ext cx="7920000" cy="341632"/>
          </a:xfrm>
        </p:spPr>
        <p:txBody>
          <a:bodyPr/>
          <a:lstStyle/>
          <a:p>
            <a:r>
              <a:rPr lang="fr-FR" altLang="zh-CN" dirty="0"/>
              <a:t>1.3  </a:t>
            </a:r>
            <a:r>
              <a:rPr lang="zh-CN" altLang="en-US" dirty="0"/>
              <a:t>互联网的组成</a:t>
            </a:r>
          </a:p>
        </p:txBody>
      </p:sp>
      <p:sp>
        <p:nvSpPr>
          <p:cNvPr id="3" name="内容占位符 2"/>
          <p:cNvSpPr>
            <a:spLocks noGrp="1"/>
          </p:cNvSpPr>
          <p:nvPr>
            <p:ph sz="quarter" idx="10"/>
          </p:nvPr>
        </p:nvSpPr>
        <p:spPr>
          <a:xfrm>
            <a:off x="612000" y="899999"/>
            <a:ext cx="7920000" cy="3780000"/>
          </a:xfrm>
        </p:spPr>
        <p:txBody>
          <a:bodyPr/>
          <a:lstStyle/>
          <a:p>
            <a:r>
              <a:rPr lang="zh-CN" altLang="en-US" dirty="0"/>
              <a:t>从互联网的工作方式上看，可以划分为两大块：</a:t>
            </a:r>
            <a:endParaRPr lang="en-US" altLang="zh-CN" dirty="0"/>
          </a:p>
          <a:p>
            <a:r>
              <a:rPr lang="zh-CN" altLang="en-US" dirty="0"/>
              <a:t>边缘部分 </a:t>
            </a:r>
            <a:r>
              <a:rPr lang="en-US" altLang="zh-CN" dirty="0"/>
              <a:t>Edge</a:t>
            </a:r>
            <a:r>
              <a:rPr lang="zh-CN" altLang="en-US" dirty="0"/>
              <a:t>： </a:t>
            </a:r>
            <a:endParaRPr lang="en-US" altLang="zh-CN" dirty="0"/>
          </a:p>
          <a:p>
            <a:pPr lvl="1"/>
            <a:r>
              <a:rPr lang="zh-CN" altLang="en-US" dirty="0"/>
              <a:t>由所有连接在互联网上的主机组成</a:t>
            </a:r>
            <a:endParaRPr lang="en-US" altLang="zh-CN" dirty="0"/>
          </a:p>
          <a:p>
            <a:pPr lvl="1"/>
            <a:r>
              <a:rPr lang="zh-CN" altLang="en-US" dirty="0"/>
              <a:t>由用户直接使用</a:t>
            </a:r>
            <a:endParaRPr lang="en-US" altLang="zh-CN" dirty="0"/>
          </a:p>
          <a:p>
            <a:pPr lvl="1"/>
            <a:r>
              <a:rPr lang="zh-CN" altLang="en-US" dirty="0"/>
              <a:t>用来进行通信和资源共享</a:t>
            </a:r>
          </a:p>
          <a:p>
            <a:r>
              <a:rPr lang="zh-CN" altLang="en-US" dirty="0"/>
              <a:t>核心部分 </a:t>
            </a:r>
            <a:r>
              <a:rPr lang="en-US" altLang="zh-CN" dirty="0"/>
              <a:t>Core</a:t>
            </a:r>
            <a:r>
              <a:rPr lang="zh-CN" altLang="en-US" dirty="0"/>
              <a:t>：</a:t>
            </a:r>
            <a:endParaRPr lang="en-US" altLang="zh-CN" dirty="0"/>
          </a:p>
          <a:p>
            <a:pPr lvl="1"/>
            <a:r>
              <a:rPr lang="zh-CN" altLang="en-US" dirty="0"/>
              <a:t>由大量网络和连接这些网络的路由器组成</a:t>
            </a:r>
            <a:endParaRPr lang="en-US" altLang="zh-CN" dirty="0"/>
          </a:p>
          <a:p>
            <a:pPr lvl="1"/>
            <a:r>
              <a:rPr lang="zh-CN" altLang="en-US" dirty="0"/>
              <a:t>为边缘部分提供连通性和交换</a:t>
            </a:r>
            <a:endParaRPr lang="en-US" altLang="zh-CN" dirty="0"/>
          </a:p>
          <a:p>
            <a:endParaRPr lang="zh-CN" altLang="en-US" dirty="0"/>
          </a:p>
        </p:txBody>
      </p:sp>
      <p:grpSp>
        <p:nvGrpSpPr>
          <p:cNvPr id="10" name="Group 174"/>
          <p:cNvGrpSpPr/>
          <p:nvPr/>
        </p:nvGrpSpPr>
        <p:grpSpPr bwMode="auto">
          <a:xfrm>
            <a:off x="4390465" y="1363387"/>
            <a:ext cx="4643571" cy="2880000"/>
            <a:chOff x="411" y="1240"/>
            <a:chExt cx="4856" cy="2466"/>
          </a:xfrm>
        </p:grpSpPr>
        <p:sp>
          <p:nvSpPr>
            <p:cNvPr id="11" name="Oval 4"/>
            <p:cNvSpPr>
              <a:spLocks noChangeArrowheads="1"/>
            </p:cNvSpPr>
            <p:nvPr/>
          </p:nvSpPr>
          <p:spPr bwMode="auto">
            <a:xfrm>
              <a:off x="411" y="1240"/>
              <a:ext cx="4856" cy="2466"/>
            </a:xfrm>
            <a:prstGeom prst="ellipse">
              <a:avLst/>
            </a:prstGeom>
            <a:solidFill>
              <a:srgbClr val="C5E5FB"/>
            </a:solidFill>
            <a:ln>
              <a:noFill/>
            </a:ln>
            <a:effectLst/>
            <a:scene3d>
              <a:camera prst="orthographicFront">
                <a:rot lat="0" lon="0" rev="0"/>
              </a:camera>
              <a:lightRig rig="contrasting" dir="t">
                <a:rot lat="0" lon="0" rev="7800000"/>
              </a:lightRig>
            </a:scene3d>
            <a:sp3d/>
            <a:extLst>
              <a:ext uri="{91240B29-F687-4F45-9708-019B960494DF}">
                <a14:hiddenLine xmlns:a14="http://schemas.microsoft.com/office/drawing/2010/main" w="9525">
                  <a:solidFill>
                    <a:schemeClr val="tx1"/>
                  </a:solidFill>
                  <a:prstDash val="dash"/>
                  <a:round/>
                </a14:hiddenLine>
              </a:ext>
            </a:extLst>
          </p:spPr>
          <p:txBody>
            <a:bodyPr wrap="none" anchor="ctr"/>
            <a:lstStyle/>
            <a:p>
              <a:pPr algn="ctr" eaLnBrk="0" fontAlgn="auto" hangingPunct="0">
                <a:spcBef>
                  <a:spcPts val="0"/>
                </a:spcBef>
                <a:spcAft>
                  <a:spcPts val="0"/>
                </a:spcAft>
                <a:defRPr/>
              </a:pPr>
              <a:endParaRPr lang="zh-CN" altLang="en-US" sz="1400">
                <a:solidFill>
                  <a:srgbClr val="368AD6"/>
                </a:solidFill>
              </a:endParaRPr>
            </a:p>
          </p:txBody>
        </p:sp>
        <p:sp>
          <p:nvSpPr>
            <p:cNvPr id="12" name="Oval 5"/>
            <p:cNvSpPr>
              <a:spLocks noChangeArrowheads="1"/>
            </p:cNvSpPr>
            <p:nvPr/>
          </p:nvSpPr>
          <p:spPr bwMode="auto">
            <a:xfrm>
              <a:off x="1194" y="1830"/>
              <a:ext cx="3407" cy="1313"/>
            </a:xfrm>
            <a:prstGeom prst="ellipse">
              <a:avLst/>
            </a:prstGeom>
            <a:solidFill>
              <a:schemeClr val="bg1"/>
            </a:solidFill>
            <a:ln>
              <a:noFill/>
            </a:ln>
            <a:extLst>
              <a:ext uri="{91240B29-F687-4F45-9708-019B960494DF}">
                <a14:hiddenLine xmlns:a14="http://schemas.microsoft.com/office/drawing/2010/main" w="9525">
                  <a:solidFill>
                    <a:schemeClr val="tx1"/>
                  </a:solidFill>
                  <a:prstDash val="dash"/>
                  <a:round/>
                </a14:hiddenLine>
              </a:ext>
            </a:extLst>
          </p:spPr>
          <p:txBody>
            <a:bodyPr wrap="none" anchor="ctr"/>
            <a:lstStyle/>
            <a:p>
              <a:pPr algn="ctr" eaLnBrk="0" hangingPunct="0"/>
              <a:endParaRPr lang="zh-CN" altLang="en-US" sz="1400" dirty="0">
                <a:solidFill>
                  <a:srgbClr val="368AD6"/>
                </a:solidFill>
              </a:endParaRPr>
            </a:p>
          </p:txBody>
        </p:sp>
        <p:pic>
          <p:nvPicPr>
            <p:cNvPr id="13" name="Picture 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141" y="2083"/>
              <a:ext cx="291" cy="1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14" name="Group 124"/>
            <p:cNvGrpSpPr/>
            <p:nvPr/>
          </p:nvGrpSpPr>
          <p:grpSpPr bwMode="auto">
            <a:xfrm>
              <a:off x="1385" y="2250"/>
              <a:ext cx="568" cy="309"/>
              <a:chOff x="130" y="1123"/>
              <a:chExt cx="568" cy="309"/>
            </a:xfrm>
          </p:grpSpPr>
          <p:sp>
            <p:nvSpPr>
              <p:cNvPr id="79" name="Oval 9"/>
              <p:cNvSpPr>
                <a:spLocks noChangeArrowheads="1"/>
              </p:cNvSpPr>
              <p:nvPr/>
            </p:nvSpPr>
            <p:spPr bwMode="auto">
              <a:xfrm rot="-448665">
                <a:off x="247" y="1123"/>
                <a:ext cx="249" cy="86"/>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endParaRPr>
              </a:p>
            </p:txBody>
          </p:sp>
          <p:sp>
            <p:nvSpPr>
              <p:cNvPr id="80" name="Oval 10"/>
              <p:cNvSpPr>
                <a:spLocks noChangeArrowheads="1"/>
              </p:cNvSpPr>
              <p:nvPr/>
            </p:nvSpPr>
            <p:spPr bwMode="auto">
              <a:xfrm rot="451335">
                <a:off x="458" y="1131"/>
                <a:ext cx="168" cy="69"/>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endParaRPr>
              </a:p>
            </p:txBody>
          </p:sp>
          <p:sp>
            <p:nvSpPr>
              <p:cNvPr id="81" name="Oval 11"/>
              <p:cNvSpPr>
                <a:spLocks noChangeArrowheads="1"/>
              </p:cNvSpPr>
              <p:nvPr/>
            </p:nvSpPr>
            <p:spPr bwMode="auto">
              <a:xfrm rot="1051335">
                <a:off x="551" y="1191"/>
                <a:ext cx="147" cy="81"/>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endParaRPr>
              </a:p>
            </p:txBody>
          </p:sp>
          <p:sp>
            <p:nvSpPr>
              <p:cNvPr id="82" name="Oval 12"/>
              <p:cNvSpPr>
                <a:spLocks noChangeArrowheads="1"/>
              </p:cNvSpPr>
              <p:nvPr/>
            </p:nvSpPr>
            <p:spPr bwMode="auto">
              <a:xfrm rot="-2008665">
                <a:off x="516" y="1275"/>
                <a:ext cx="178" cy="100"/>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endParaRPr>
              </a:p>
            </p:txBody>
          </p:sp>
          <p:sp>
            <p:nvSpPr>
              <p:cNvPr id="83" name="Oval 13"/>
              <p:cNvSpPr>
                <a:spLocks noChangeArrowheads="1"/>
              </p:cNvSpPr>
              <p:nvPr/>
            </p:nvSpPr>
            <p:spPr bwMode="auto">
              <a:xfrm rot="-448665">
                <a:off x="303" y="1305"/>
                <a:ext cx="288" cy="127"/>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endParaRPr>
              </a:p>
            </p:txBody>
          </p:sp>
          <p:sp>
            <p:nvSpPr>
              <p:cNvPr id="84" name="Oval 14"/>
              <p:cNvSpPr>
                <a:spLocks noChangeArrowheads="1"/>
              </p:cNvSpPr>
              <p:nvPr/>
            </p:nvSpPr>
            <p:spPr bwMode="auto">
              <a:xfrm rot="631335">
                <a:off x="183" y="1329"/>
                <a:ext cx="162"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endParaRPr>
              </a:p>
            </p:txBody>
          </p:sp>
          <p:sp>
            <p:nvSpPr>
              <p:cNvPr id="85" name="Oval 15"/>
              <p:cNvSpPr>
                <a:spLocks noChangeArrowheads="1"/>
              </p:cNvSpPr>
              <p:nvPr/>
            </p:nvSpPr>
            <p:spPr bwMode="auto">
              <a:xfrm rot="-448665">
                <a:off x="130" y="1272"/>
                <a:ext cx="133"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endParaRPr>
              </a:p>
            </p:txBody>
          </p:sp>
          <p:sp>
            <p:nvSpPr>
              <p:cNvPr id="86" name="Oval 16"/>
              <p:cNvSpPr>
                <a:spLocks noChangeArrowheads="1"/>
              </p:cNvSpPr>
              <p:nvPr/>
            </p:nvSpPr>
            <p:spPr bwMode="auto">
              <a:xfrm rot="-2308665">
                <a:off x="143" y="1202"/>
                <a:ext cx="181"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endParaRPr>
              </a:p>
            </p:txBody>
          </p:sp>
          <p:sp>
            <p:nvSpPr>
              <p:cNvPr id="87" name="Freeform 17"/>
              <p:cNvSpPr/>
              <p:nvPr/>
            </p:nvSpPr>
            <p:spPr bwMode="auto">
              <a:xfrm rot="-448665">
                <a:off x="190" y="1173"/>
                <a:ext cx="451" cy="216"/>
              </a:xfrm>
              <a:custGeom>
                <a:avLst/>
                <a:gdLst>
                  <a:gd name="T0" fmla="*/ 66 w 738"/>
                  <a:gd name="T1" fmla="*/ 44 h 407"/>
                  <a:gd name="T2" fmla="*/ 89 w 738"/>
                  <a:gd name="T3" fmla="*/ 41 h 407"/>
                  <a:gd name="T4" fmla="*/ 112 w 738"/>
                  <a:gd name="T5" fmla="*/ 38 h 407"/>
                  <a:gd name="T6" fmla="*/ 131 w 738"/>
                  <a:gd name="T7" fmla="*/ 36 h 407"/>
                  <a:gd name="T8" fmla="*/ 145 w 738"/>
                  <a:gd name="T9" fmla="*/ 24 h 407"/>
                  <a:gd name="T10" fmla="*/ 125 w 738"/>
                  <a:gd name="T11" fmla="*/ 22 h 407"/>
                  <a:gd name="T12" fmla="*/ 105 w 738"/>
                  <a:gd name="T13" fmla="*/ 24 h 407"/>
                  <a:gd name="T14" fmla="*/ 95 w 738"/>
                  <a:gd name="T15" fmla="*/ 24 h 407"/>
                  <a:gd name="T16" fmla="*/ 115 w 738"/>
                  <a:gd name="T17" fmla="*/ 14 h 407"/>
                  <a:gd name="T18" fmla="*/ 138 w 738"/>
                  <a:gd name="T19" fmla="*/ 8 h 407"/>
                  <a:gd name="T20" fmla="*/ 158 w 738"/>
                  <a:gd name="T21" fmla="*/ 5 h 407"/>
                  <a:gd name="T22" fmla="*/ 177 w 738"/>
                  <a:gd name="T23" fmla="*/ 3 h 407"/>
                  <a:gd name="T24" fmla="*/ 197 w 738"/>
                  <a:gd name="T25" fmla="*/ 0 h 407"/>
                  <a:gd name="T26" fmla="*/ 217 w 738"/>
                  <a:gd name="T27" fmla="*/ 0 h 407"/>
                  <a:gd name="T28" fmla="*/ 237 w 738"/>
                  <a:gd name="T29" fmla="*/ 0 h 407"/>
                  <a:gd name="T30" fmla="*/ 283 w 738"/>
                  <a:gd name="T31" fmla="*/ 0 h 407"/>
                  <a:gd name="T32" fmla="*/ 309 w 738"/>
                  <a:gd name="T33" fmla="*/ 0 h 407"/>
                  <a:gd name="T34" fmla="*/ 332 w 738"/>
                  <a:gd name="T35" fmla="*/ 8 h 407"/>
                  <a:gd name="T36" fmla="*/ 348 w 738"/>
                  <a:gd name="T37" fmla="*/ 19 h 407"/>
                  <a:gd name="T38" fmla="*/ 369 w 738"/>
                  <a:gd name="T39" fmla="*/ 27 h 407"/>
                  <a:gd name="T40" fmla="*/ 388 w 738"/>
                  <a:gd name="T41" fmla="*/ 30 h 407"/>
                  <a:gd name="T42" fmla="*/ 408 w 738"/>
                  <a:gd name="T43" fmla="*/ 41 h 407"/>
                  <a:gd name="T44" fmla="*/ 424 w 738"/>
                  <a:gd name="T45" fmla="*/ 52 h 407"/>
                  <a:gd name="T46" fmla="*/ 437 w 738"/>
                  <a:gd name="T47" fmla="*/ 68 h 407"/>
                  <a:gd name="T48" fmla="*/ 441 w 738"/>
                  <a:gd name="T49" fmla="*/ 87 h 407"/>
                  <a:gd name="T50" fmla="*/ 444 w 738"/>
                  <a:gd name="T51" fmla="*/ 103 h 407"/>
                  <a:gd name="T52" fmla="*/ 444 w 738"/>
                  <a:gd name="T53" fmla="*/ 120 h 407"/>
                  <a:gd name="T54" fmla="*/ 444 w 738"/>
                  <a:gd name="T55" fmla="*/ 136 h 407"/>
                  <a:gd name="T56" fmla="*/ 450 w 738"/>
                  <a:gd name="T57" fmla="*/ 153 h 407"/>
                  <a:gd name="T58" fmla="*/ 450 w 738"/>
                  <a:gd name="T59" fmla="*/ 169 h 407"/>
                  <a:gd name="T60" fmla="*/ 437 w 738"/>
                  <a:gd name="T61" fmla="*/ 185 h 407"/>
                  <a:gd name="T62" fmla="*/ 414 w 738"/>
                  <a:gd name="T63" fmla="*/ 194 h 407"/>
                  <a:gd name="T64" fmla="*/ 395 w 738"/>
                  <a:gd name="T65" fmla="*/ 202 h 407"/>
                  <a:gd name="T66" fmla="*/ 375 w 738"/>
                  <a:gd name="T67" fmla="*/ 210 h 407"/>
                  <a:gd name="T68" fmla="*/ 355 w 738"/>
                  <a:gd name="T69" fmla="*/ 213 h 407"/>
                  <a:gd name="T70" fmla="*/ 329 w 738"/>
                  <a:gd name="T71" fmla="*/ 215 h 407"/>
                  <a:gd name="T72" fmla="*/ 306 w 738"/>
                  <a:gd name="T73" fmla="*/ 215 h 407"/>
                  <a:gd name="T74" fmla="*/ 286 w 738"/>
                  <a:gd name="T75" fmla="*/ 215 h 407"/>
                  <a:gd name="T76" fmla="*/ 266 w 738"/>
                  <a:gd name="T77" fmla="*/ 215 h 407"/>
                  <a:gd name="T78" fmla="*/ 246 w 738"/>
                  <a:gd name="T79" fmla="*/ 215 h 407"/>
                  <a:gd name="T80" fmla="*/ 227 w 738"/>
                  <a:gd name="T81" fmla="*/ 215 h 407"/>
                  <a:gd name="T82" fmla="*/ 207 w 738"/>
                  <a:gd name="T83" fmla="*/ 215 h 407"/>
                  <a:gd name="T84" fmla="*/ 188 w 738"/>
                  <a:gd name="T85" fmla="*/ 215 h 407"/>
                  <a:gd name="T86" fmla="*/ 164 w 738"/>
                  <a:gd name="T87" fmla="*/ 215 h 407"/>
                  <a:gd name="T88" fmla="*/ 145 w 738"/>
                  <a:gd name="T89" fmla="*/ 215 h 407"/>
                  <a:gd name="T90" fmla="*/ 125 w 738"/>
                  <a:gd name="T91" fmla="*/ 215 h 407"/>
                  <a:gd name="T92" fmla="*/ 105 w 738"/>
                  <a:gd name="T93" fmla="*/ 208 h 407"/>
                  <a:gd name="T94" fmla="*/ 86 w 738"/>
                  <a:gd name="T95" fmla="*/ 202 h 407"/>
                  <a:gd name="T96" fmla="*/ 66 w 738"/>
                  <a:gd name="T97" fmla="*/ 194 h 407"/>
                  <a:gd name="T98" fmla="*/ 50 w 738"/>
                  <a:gd name="T99" fmla="*/ 180 h 407"/>
                  <a:gd name="T100" fmla="*/ 36 w 738"/>
                  <a:gd name="T101" fmla="*/ 169 h 407"/>
                  <a:gd name="T102" fmla="*/ 23 w 738"/>
                  <a:gd name="T103" fmla="*/ 153 h 407"/>
                  <a:gd name="T104" fmla="*/ 10 w 738"/>
                  <a:gd name="T105" fmla="*/ 134 h 407"/>
                  <a:gd name="T106" fmla="*/ 0 w 738"/>
                  <a:gd name="T107" fmla="*/ 115 h 407"/>
                  <a:gd name="T108" fmla="*/ 0 w 738"/>
                  <a:gd name="T109" fmla="*/ 98 h 407"/>
                  <a:gd name="T110" fmla="*/ 3 w 738"/>
                  <a:gd name="T111" fmla="*/ 79 h 407"/>
                  <a:gd name="T112" fmla="*/ 17 w 738"/>
                  <a:gd name="T113" fmla="*/ 65 h 407"/>
                  <a:gd name="T114" fmla="*/ 33 w 738"/>
                  <a:gd name="T115" fmla="*/ 57 h 407"/>
                  <a:gd name="T116" fmla="*/ 53 w 738"/>
                  <a:gd name="T117" fmla="*/ 52 h 407"/>
                  <a:gd name="T118" fmla="*/ 69 w 738"/>
                  <a:gd name="T119" fmla="*/ 44 h 407"/>
                  <a:gd name="T120" fmla="*/ 79 w 738"/>
                  <a:gd name="T121" fmla="*/ 52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dirty="0"/>
              </a:p>
            </p:txBody>
          </p:sp>
          <p:sp>
            <p:nvSpPr>
              <p:cNvPr id="88" name="Freeform 18"/>
              <p:cNvSpPr/>
              <p:nvPr/>
            </p:nvSpPr>
            <p:spPr bwMode="auto">
              <a:xfrm rot="-448665">
                <a:off x="266" y="1172"/>
                <a:ext cx="72" cy="63"/>
              </a:xfrm>
              <a:custGeom>
                <a:avLst/>
                <a:gdLst>
                  <a:gd name="T0" fmla="*/ 3 w 117"/>
                  <a:gd name="T1" fmla="*/ 35 h 118"/>
                  <a:gd name="T2" fmla="*/ 0 w 117"/>
                  <a:gd name="T3" fmla="*/ 27 h 118"/>
                  <a:gd name="T4" fmla="*/ 0 w 117"/>
                  <a:gd name="T5" fmla="*/ 19 h 118"/>
                  <a:gd name="T6" fmla="*/ 10 w 117"/>
                  <a:gd name="T7" fmla="*/ 13 h 118"/>
                  <a:gd name="T8" fmla="*/ 20 w 117"/>
                  <a:gd name="T9" fmla="*/ 8 h 118"/>
                  <a:gd name="T10" fmla="*/ 29 w 117"/>
                  <a:gd name="T11" fmla="*/ 0 h 118"/>
                  <a:gd name="T12" fmla="*/ 39 w 117"/>
                  <a:gd name="T13" fmla="*/ 0 h 118"/>
                  <a:gd name="T14" fmla="*/ 49 w 117"/>
                  <a:gd name="T15" fmla="*/ 0 h 118"/>
                  <a:gd name="T16" fmla="*/ 52 w 117"/>
                  <a:gd name="T17" fmla="*/ 8 h 118"/>
                  <a:gd name="T18" fmla="*/ 58 w 117"/>
                  <a:gd name="T19" fmla="*/ 17 h 118"/>
                  <a:gd name="T20" fmla="*/ 65 w 117"/>
                  <a:gd name="T21" fmla="*/ 25 h 118"/>
                  <a:gd name="T22" fmla="*/ 68 w 117"/>
                  <a:gd name="T23" fmla="*/ 33 h 118"/>
                  <a:gd name="T24" fmla="*/ 71 w 117"/>
                  <a:gd name="T25" fmla="*/ 41 h 118"/>
                  <a:gd name="T26" fmla="*/ 71 w 117"/>
                  <a:gd name="T27" fmla="*/ 49 h 118"/>
                  <a:gd name="T28" fmla="*/ 71 w 117"/>
                  <a:gd name="T29" fmla="*/ 57 h 118"/>
                  <a:gd name="T30" fmla="*/ 62 w 117"/>
                  <a:gd name="T31" fmla="*/ 62 h 118"/>
                  <a:gd name="T32" fmla="*/ 52 w 117"/>
                  <a:gd name="T33" fmla="*/ 62 h 118"/>
                  <a:gd name="T34" fmla="*/ 42 w 117"/>
                  <a:gd name="T35" fmla="*/ 62 h 118"/>
                  <a:gd name="T36" fmla="*/ 33 w 117"/>
                  <a:gd name="T37" fmla="*/ 62 h 118"/>
                  <a:gd name="T38" fmla="*/ 23 w 117"/>
                  <a:gd name="T39" fmla="*/ 60 h 118"/>
                  <a:gd name="T40" fmla="*/ 13 w 117"/>
                  <a:gd name="T41" fmla="*/ 54 h 118"/>
                  <a:gd name="T42" fmla="*/ 7 w 117"/>
                  <a:gd name="T43" fmla="*/ 46 h 118"/>
                  <a:gd name="T44" fmla="*/ 3 w 117"/>
                  <a:gd name="T45" fmla="*/ 38 h 118"/>
                  <a:gd name="T46" fmla="*/ 3 w 117"/>
                  <a:gd name="T47" fmla="*/ 35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dirty="0"/>
              </a:p>
            </p:txBody>
          </p:sp>
          <p:sp>
            <p:nvSpPr>
              <p:cNvPr id="89" name="Freeform 19"/>
              <p:cNvSpPr/>
              <p:nvPr/>
            </p:nvSpPr>
            <p:spPr bwMode="auto">
              <a:xfrm rot="-448665">
                <a:off x="430" y="1135"/>
                <a:ext cx="50" cy="46"/>
              </a:xfrm>
              <a:custGeom>
                <a:avLst/>
                <a:gdLst>
                  <a:gd name="T0" fmla="*/ 0 w 82"/>
                  <a:gd name="T1" fmla="*/ 0 h 87"/>
                  <a:gd name="T2" fmla="*/ 10 w 82"/>
                  <a:gd name="T3" fmla="*/ 5 h 87"/>
                  <a:gd name="T4" fmla="*/ 20 w 82"/>
                  <a:gd name="T5" fmla="*/ 11 h 87"/>
                  <a:gd name="T6" fmla="*/ 30 w 82"/>
                  <a:gd name="T7" fmla="*/ 11 h 87"/>
                  <a:gd name="T8" fmla="*/ 40 w 82"/>
                  <a:gd name="T9" fmla="*/ 16 h 87"/>
                  <a:gd name="T10" fmla="*/ 46 w 82"/>
                  <a:gd name="T11" fmla="*/ 24 h 87"/>
                  <a:gd name="T12" fmla="*/ 49 w 82"/>
                  <a:gd name="T13" fmla="*/ 32 h 87"/>
                  <a:gd name="T14" fmla="*/ 49 w 82"/>
                  <a:gd name="T15" fmla="*/ 40 h 87"/>
                  <a:gd name="T16" fmla="*/ 40 w 82"/>
                  <a:gd name="T17" fmla="*/ 45 h 87"/>
                  <a:gd name="T18" fmla="*/ 30 w 82"/>
                  <a:gd name="T19" fmla="*/ 45 h 87"/>
                  <a:gd name="T20" fmla="*/ 16 w 82"/>
                  <a:gd name="T21" fmla="*/ 43 h 87"/>
                  <a:gd name="T22" fmla="*/ 7 w 82"/>
                  <a:gd name="T23" fmla="*/ 38 h 87"/>
                  <a:gd name="T24" fmla="*/ 3 w 82"/>
                  <a:gd name="T25" fmla="*/ 30 h 87"/>
                  <a:gd name="T26" fmla="*/ 0 w 82"/>
                  <a:gd name="T27" fmla="*/ 21 h 87"/>
                  <a:gd name="T28" fmla="*/ 0 w 82"/>
                  <a:gd name="T29" fmla="*/ 13 h 87"/>
                  <a:gd name="T30" fmla="*/ 7 w 82"/>
                  <a:gd name="T31" fmla="*/ 5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dirty="0"/>
              </a:p>
            </p:txBody>
          </p:sp>
        </p:grpSp>
        <p:pic>
          <p:nvPicPr>
            <p:cNvPr id="15" name="Picture 6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770" y="2662"/>
              <a:ext cx="291" cy="1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6" name="Picture 69"/>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853" y="2802"/>
              <a:ext cx="291" cy="1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7" name="Picture 7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896" y="2613"/>
              <a:ext cx="291" cy="1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8" name="Picture 7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430" y="2085"/>
              <a:ext cx="291" cy="1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9" name="Text Box 78"/>
            <p:cNvSpPr txBox="1">
              <a:spLocks noChangeArrowheads="1"/>
            </p:cNvSpPr>
            <p:nvPr/>
          </p:nvSpPr>
          <p:spPr bwMode="auto">
            <a:xfrm>
              <a:off x="1953" y="2345"/>
              <a:ext cx="1910" cy="290"/>
            </a:xfrm>
            <a:prstGeom prst="rect">
              <a:avLst/>
            </a:prstGeom>
            <a:noFill/>
            <a:ln>
              <a:noFill/>
            </a:ln>
            <a:extLst>
              <a:ext uri="{909E8E84-426E-40DD-AFC4-6F175D3DCCD1}">
                <a14:hiddenFill xmlns:a14="http://schemas.microsoft.com/office/drawing/2010/main">
                  <a:solidFill>
                    <a:srgbClr val="FFFF00"/>
                  </a:solidFill>
                </a14:hiddenFill>
              </a:ext>
              <a:ext uri="{91240B29-F687-4F45-9708-019B960494DF}">
                <a14:hiddenLine xmlns:a14="http://schemas.microsoft.com/office/drawing/2010/main" w="9525">
                  <a:solidFill>
                    <a:schemeClr val="tx1"/>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zh-CN" altLang="en-US" sz="1600">
                  <a:solidFill>
                    <a:srgbClr val="CC00CC"/>
                  </a:solidFill>
                  <a:latin typeface="+mn-lt"/>
                  <a:ea typeface="+mn-ea"/>
                </a:rPr>
                <a:t>互联网的核心部分</a:t>
              </a:r>
            </a:p>
          </p:txBody>
        </p:sp>
        <p:sp>
          <p:nvSpPr>
            <p:cNvPr id="20" name="Text Box 79"/>
            <p:cNvSpPr txBox="1">
              <a:spLocks noChangeArrowheads="1"/>
            </p:cNvSpPr>
            <p:nvPr/>
          </p:nvSpPr>
          <p:spPr bwMode="auto">
            <a:xfrm>
              <a:off x="1939" y="1436"/>
              <a:ext cx="1910" cy="290"/>
            </a:xfrm>
            <a:prstGeom prst="rect">
              <a:avLst/>
            </a:prstGeom>
            <a:noFill/>
            <a:ln>
              <a:noFill/>
            </a:ln>
            <a:extLst>
              <a:ext uri="{909E8E84-426E-40DD-AFC4-6F175D3DCCD1}">
                <a14:hiddenFill xmlns:a14="http://schemas.microsoft.com/office/drawing/2010/main">
                  <a:solidFill>
                    <a:srgbClr val="FFFF00"/>
                  </a:solidFill>
                </a14:hiddenFill>
              </a:ext>
              <a:ext uri="{91240B29-F687-4F45-9708-019B960494DF}">
                <a14:hiddenLine xmlns:a14="http://schemas.microsoft.com/office/drawing/2010/main" w="9525">
                  <a:solidFill>
                    <a:schemeClr val="tx1"/>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zh-CN" altLang="en-US" sz="1600" dirty="0">
                  <a:solidFill>
                    <a:srgbClr val="0000FF"/>
                  </a:solidFill>
                  <a:latin typeface="+mn-lt"/>
                  <a:ea typeface="+mn-ea"/>
                </a:rPr>
                <a:t>互联网的边缘部分</a:t>
              </a:r>
            </a:p>
          </p:txBody>
        </p:sp>
        <p:sp>
          <p:nvSpPr>
            <p:cNvPr id="21" name="Text Box 1523"/>
            <p:cNvSpPr txBox="1">
              <a:spLocks noChangeArrowheads="1"/>
            </p:cNvSpPr>
            <p:nvPr/>
          </p:nvSpPr>
          <p:spPr bwMode="auto">
            <a:xfrm>
              <a:off x="603" y="2074"/>
              <a:ext cx="515" cy="2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zh-CN" altLang="en-US" sz="1200">
                  <a:solidFill>
                    <a:srgbClr val="0000FF"/>
                  </a:solidFill>
                  <a:latin typeface="+mn-lt"/>
                  <a:ea typeface="+mn-ea"/>
                </a:rPr>
                <a:t>主机</a:t>
              </a:r>
            </a:p>
          </p:txBody>
        </p:sp>
        <p:pic>
          <p:nvPicPr>
            <p:cNvPr id="22" name="Picture 115"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245" y="1663"/>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3" name="Picture 11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03" y="2300"/>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4" name="Picture 117"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29" y="3022"/>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5" name="Picture 118"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562" y="324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6" name="Picture 11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961" y="3082"/>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7" name="Picture 12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40" y="2335"/>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8" name="Picture 121"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951" y="1598"/>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9" name="Text Box 1523"/>
            <p:cNvSpPr txBox="1">
              <a:spLocks noChangeArrowheads="1"/>
            </p:cNvSpPr>
            <p:nvPr/>
          </p:nvSpPr>
          <p:spPr bwMode="auto">
            <a:xfrm>
              <a:off x="1935" y="1873"/>
              <a:ext cx="676" cy="2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zh-CN" altLang="en-US" sz="1200">
                  <a:solidFill>
                    <a:srgbClr val="0000FF"/>
                  </a:solidFill>
                  <a:latin typeface="+mn-lt"/>
                  <a:ea typeface="+mn-ea"/>
                </a:rPr>
                <a:t>路由器</a:t>
              </a:r>
            </a:p>
          </p:txBody>
        </p:sp>
        <p:sp>
          <p:nvSpPr>
            <p:cNvPr id="30" name="Text Box 1523"/>
            <p:cNvSpPr txBox="1">
              <a:spLocks noChangeArrowheads="1"/>
            </p:cNvSpPr>
            <p:nvPr/>
          </p:nvSpPr>
          <p:spPr bwMode="auto">
            <a:xfrm>
              <a:off x="1415" y="2312"/>
              <a:ext cx="515" cy="2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zh-CN" altLang="en-US" sz="1200">
                  <a:solidFill>
                    <a:srgbClr val="0000FF"/>
                  </a:solidFill>
                  <a:latin typeface="+mn-lt"/>
                  <a:ea typeface="+mn-ea"/>
                </a:rPr>
                <a:t>网络</a:t>
              </a:r>
            </a:p>
          </p:txBody>
        </p:sp>
        <p:grpSp>
          <p:nvGrpSpPr>
            <p:cNvPr id="31" name="Group 126"/>
            <p:cNvGrpSpPr/>
            <p:nvPr/>
          </p:nvGrpSpPr>
          <p:grpSpPr bwMode="auto">
            <a:xfrm>
              <a:off x="2182" y="2681"/>
              <a:ext cx="568" cy="309"/>
              <a:chOff x="130" y="1123"/>
              <a:chExt cx="568" cy="309"/>
            </a:xfrm>
          </p:grpSpPr>
          <p:sp>
            <p:nvSpPr>
              <p:cNvPr id="68" name="Oval 9"/>
              <p:cNvSpPr>
                <a:spLocks noChangeArrowheads="1"/>
              </p:cNvSpPr>
              <p:nvPr/>
            </p:nvSpPr>
            <p:spPr bwMode="auto">
              <a:xfrm rot="-448665">
                <a:off x="247" y="1123"/>
                <a:ext cx="249" cy="86"/>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endParaRPr>
              </a:p>
            </p:txBody>
          </p:sp>
          <p:sp>
            <p:nvSpPr>
              <p:cNvPr id="69" name="Oval 10"/>
              <p:cNvSpPr>
                <a:spLocks noChangeArrowheads="1"/>
              </p:cNvSpPr>
              <p:nvPr/>
            </p:nvSpPr>
            <p:spPr bwMode="auto">
              <a:xfrm rot="451335">
                <a:off x="458" y="1131"/>
                <a:ext cx="168" cy="69"/>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endParaRPr>
              </a:p>
            </p:txBody>
          </p:sp>
          <p:sp>
            <p:nvSpPr>
              <p:cNvPr id="70" name="Oval 11"/>
              <p:cNvSpPr>
                <a:spLocks noChangeArrowheads="1"/>
              </p:cNvSpPr>
              <p:nvPr/>
            </p:nvSpPr>
            <p:spPr bwMode="auto">
              <a:xfrm rot="1051335">
                <a:off x="551" y="1191"/>
                <a:ext cx="147" cy="81"/>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endParaRPr>
              </a:p>
            </p:txBody>
          </p:sp>
          <p:sp>
            <p:nvSpPr>
              <p:cNvPr id="71" name="Oval 12"/>
              <p:cNvSpPr>
                <a:spLocks noChangeArrowheads="1"/>
              </p:cNvSpPr>
              <p:nvPr/>
            </p:nvSpPr>
            <p:spPr bwMode="auto">
              <a:xfrm rot="-2008665">
                <a:off x="516" y="1275"/>
                <a:ext cx="178" cy="100"/>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endParaRPr>
              </a:p>
            </p:txBody>
          </p:sp>
          <p:sp>
            <p:nvSpPr>
              <p:cNvPr id="72" name="Oval 13"/>
              <p:cNvSpPr>
                <a:spLocks noChangeArrowheads="1"/>
              </p:cNvSpPr>
              <p:nvPr/>
            </p:nvSpPr>
            <p:spPr bwMode="auto">
              <a:xfrm rot="-448665">
                <a:off x="303" y="1305"/>
                <a:ext cx="288" cy="127"/>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endParaRPr>
              </a:p>
            </p:txBody>
          </p:sp>
          <p:sp>
            <p:nvSpPr>
              <p:cNvPr id="73" name="Oval 14"/>
              <p:cNvSpPr>
                <a:spLocks noChangeArrowheads="1"/>
              </p:cNvSpPr>
              <p:nvPr/>
            </p:nvSpPr>
            <p:spPr bwMode="auto">
              <a:xfrm rot="631335">
                <a:off x="183" y="1329"/>
                <a:ext cx="162"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endParaRPr>
              </a:p>
            </p:txBody>
          </p:sp>
          <p:sp>
            <p:nvSpPr>
              <p:cNvPr id="74" name="Oval 15"/>
              <p:cNvSpPr>
                <a:spLocks noChangeArrowheads="1"/>
              </p:cNvSpPr>
              <p:nvPr/>
            </p:nvSpPr>
            <p:spPr bwMode="auto">
              <a:xfrm rot="-448665">
                <a:off x="130" y="1272"/>
                <a:ext cx="133"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endParaRPr>
              </a:p>
            </p:txBody>
          </p:sp>
          <p:sp>
            <p:nvSpPr>
              <p:cNvPr id="75" name="Oval 16"/>
              <p:cNvSpPr>
                <a:spLocks noChangeArrowheads="1"/>
              </p:cNvSpPr>
              <p:nvPr/>
            </p:nvSpPr>
            <p:spPr bwMode="auto">
              <a:xfrm rot="-2308665">
                <a:off x="143" y="1202"/>
                <a:ext cx="181"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endParaRPr>
              </a:p>
            </p:txBody>
          </p:sp>
          <p:sp>
            <p:nvSpPr>
              <p:cNvPr id="76" name="Freeform 17"/>
              <p:cNvSpPr/>
              <p:nvPr/>
            </p:nvSpPr>
            <p:spPr bwMode="auto">
              <a:xfrm rot="-448665">
                <a:off x="190" y="1173"/>
                <a:ext cx="451" cy="216"/>
              </a:xfrm>
              <a:custGeom>
                <a:avLst/>
                <a:gdLst>
                  <a:gd name="T0" fmla="*/ 66 w 738"/>
                  <a:gd name="T1" fmla="*/ 44 h 407"/>
                  <a:gd name="T2" fmla="*/ 89 w 738"/>
                  <a:gd name="T3" fmla="*/ 41 h 407"/>
                  <a:gd name="T4" fmla="*/ 112 w 738"/>
                  <a:gd name="T5" fmla="*/ 38 h 407"/>
                  <a:gd name="T6" fmla="*/ 131 w 738"/>
                  <a:gd name="T7" fmla="*/ 36 h 407"/>
                  <a:gd name="T8" fmla="*/ 145 w 738"/>
                  <a:gd name="T9" fmla="*/ 24 h 407"/>
                  <a:gd name="T10" fmla="*/ 125 w 738"/>
                  <a:gd name="T11" fmla="*/ 22 h 407"/>
                  <a:gd name="T12" fmla="*/ 105 w 738"/>
                  <a:gd name="T13" fmla="*/ 24 h 407"/>
                  <a:gd name="T14" fmla="*/ 95 w 738"/>
                  <a:gd name="T15" fmla="*/ 24 h 407"/>
                  <a:gd name="T16" fmla="*/ 115 w 738"/>
                  <a:gd name="T17" fmla="*/ 14 h 407"/>
                  <a:gd name="T18" fmla="*/ 138 w 738"/>
                  <a:gd name="T19" fmla="*/ 8 h 407"/>
                  <a:gd name="T20" fmla="*/ 158 w 738"/>
                  <a:gd name="T21" fmla="*/ 5 h 407"/>
                  <a:gd name="T22" fmla="*/ 177 w 738"/>
                  <a:gd name="T23" fmla="*/ 3 h 407"/>
                  <a:gd name="T24" fmla="*/ 197 w 738"/>
                  <a:gd name="T25" fmla="*/ 0 h 407"/>
                  <a:gd name="T26" fmla="*/ 217 w 738"/>
                  <a:gd name="T27" fmla="*/ 0 h 407"/>
                  <a:gd name="T28" fmla="*/ 237 w 738"/>
                  <a:gd name="T29" fmla="*/ 0 h 407"/>
                  <a:gd name="T30" fmla="*/ 283 w 738"/>
                  <a:gd name="T31" fmla="*/ 0 h 407"/>
                  <a:gd name="T32" fmla="*/ 309 w 738"/>
                  <a:gd name="T33" fmla="*/ 0 h 407"/>
                  <a:gd name="T34" fmla="*/ 332 w 738"/>
                  <a:gd name="T35" fmla="*/ 8 h 407"/>
                  <a:gd name="T36" fmla="*/ 348 w 738"/>
                  <a:gd name="T37" fmla="*/ 19 h 407"/>
                  <a:gd name="T38" fmla="*/ 369 w 738"/>
                  <a:gd name="T39" fmla="*/ 27 h 407"/>
                  <a:gd name="T40" fmla="*/ 388 w 738"/>
                  <a:gd name="T41" fmla="*/ 30 h 407"/>
                  <a:gd name="T42" fmla="*/ 408 w 738"/>
                  <a:gd name="T43" fmla="*/ 41 h 407"/>
                  <a:gd name="T44" fmla="*/ 424 w 738"/>
                  <a:gd name="T45" fmla="*/ 52 h 407"/>
                  <a:gd name="T46" fmla="*/ 437 w 738"/>
                  <a:gd name="T47" fmla="*/ 68 h 407"/>
                  <a:gd name="T48" fmla="*/ 441 w 738"/>
                  <a:gd name="T49" fmla="*/ 87 h 407"/>
                  <a:gd name="T50" fmla="*/ 444 w 738"/>
                  <a:gd name="T51" fmla="*/ 103 h 407"/>
                  <a:gd name="T52" fmla="*/ 444 w 738"/>
                  <a:gd name="T53" fmla="*/ 120 h 407"/>
                  <a:gd name="T54" fmla="*/ 444 w 738"/>
                  <a:gd name="T55" fmla="*/ 136 h 407"/>
                  <a:gd name="T56" fmla="*/ 450 w 738"/>
                  <a:gd name="T57" fmla="*/ 153 h 407"/>
                  <a:gd name="T58" fmla="*/ 450 w 738"/>
                  <a:gd name="T59" fmla="*/ 169 h 407"/>
                  <a:gd name="T60" fmla="*/ 437 w 738"/>
                  <a:gd name="T61" fmla="*/ 185 h 407"/>
                  <a:gd name="T62" fmla="*/ 414 w 738"/>
                  <a:gd name="T63" fmla="*/ 194 h 407"/>
                  <a:gd name="T64" fmla="*/ 395 w 738"/>
                  <a:gd name="T65" fmla="*/ 202 h 407"/>
                  <a:gd name="T66" fmla="*/ 375 w 738"/>
                  <a:gd name="T67" fmla="*/ 210 h 407"/>
                  <a:gd name="T68" fmla="*/ 355 w 738"/>
                  <a:gd name="T69" fmla="*/ 213 h 407"/>
                  <a:gd name="T70" fmla="*/ 329 w 738"/>
                  <a:gd name="T71" fmla="*/ 215 h 407"/>
                  <a:gd name="T72" fmla="*/ 306 w 738"/>
                  <a:gd name="T73" fmla="*/ 215 h 407"/>
                  <a:gd name="T74" fmla="*/ 286 w 738"/>
                  <a:gd name="T75" fmla="*/ 215 h 407"/>
                  <a:gd name="T76" fmla="*/ 266 w 738"/>
                  <a:gd name="T77" fmla="*/ 215 h 407"/>
                  <a:gd name="T78" fmla="*/ 246 w 738"/>
                  <a:gd name="T79" fmla="*/ 215 h 407"/>
                  <a:gd name="T80" fmla="*/ 227 w 738"/>
                  <a:gd name="T81" fmla="*/ 215 h 407"/>
                  <a:gd name="T82" fmla="*/ 207 w 738"/>
                  <a:gd name="T83" fmla="*/ 215 h 407"/>
                  <a:gd name="T84" fmla="*/ 188 w 738"/>
                  <a:gd name="T85" fmla="*/ 215 h 407"/>
                  <a:gd name="T86" fmla="*/ 164 w 738"/>
                  <a:gd name="T87" fmla="*/ 215 h 407"/>
                  <a:gd name="T88" fmla="*/ 145 w 738"/>
                  <a:gd name="T89" fmla="*/ 215 h 407"/>
                  <a:gd name="T90" fmla="*/ 125 w 738"/>
                  <a:gd name="T91" fmla="*/ 215 h 407"/>
                  <a:gd name="T92" fmla="*/ 105 w 738"/>
                  <a:gd name="T93" fmla="*/ 208 h 407"/>
                  <a:gd name="T94" fmla="*/ 86 w 738"/>
                  <a:gd name="T95" fmla="*/ 202 h 407"/>
                  <a:gd name="T96" fmla="*/ 66 w 738"/>
                  <a:gd name="T97" fmla="*/ 194 h 407"/>
                  <a:gd name="T98" fmla="*/ 50 w 738"/>
                  <a:gd name="T99" fmla="*/ 180 h 407"/>
                  <a:gd name="T100" fmla="*/ 36 w 738"/>
                  <a:gd name="T101" fmla="*/ 169 h 407"/>
                  <a:gd name="T102" fmla="*/ 23 w 738"/>
                  <a:gd name="T103" fmla="*/ 153 h 407"/>
                  <a:gd name="T104" fmla="*/ 10 w 738"/>
                  <a:gd name="T105" fmla="*/ 134 h 407"/>
                  <a:gd name="T106" fmla="*/ 0 w 738"/>
                  <a:gd name="T107" fmla="*/ 115 h 407"/>
                  <a:gd name="T108" fmla="*/ 0 w 738"/>
                  <a:gd name="T109" fmla="*/ 98 h 407"/>
                  <a:gd name="T110" fmla="*/ 3 w 738"/>
                  <a:gd name="T111" fmla="*/ 79 h 407"/>
                  <a:gd name="T112" fmla="*/ 17 w 738"/>
                  <a:gd name="T113" fmla="*/ 65 h 407"/>
                  <a:gd name="T114" fmla="*/ 33 w 738"/>
                  <a:gd name="T115" fmla="*/ 57 h 407"/>
                  <a:gd name="T116" fmla="*/ 53 w 738"/>
                  <a:gd name="T117" fmla="*/ 52 h 407"/>
                  <a:gd name="T118" fmla="*/ 69 w 738"/>
                  <a:gd name="T119" fmla="*/ 44 h 407"/>
                  <a:gd name="T120" fmla="*/ 79 w 738"/>
                  <a:gd name="T121" fmla="*/ 52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dirty="0"/>
              </a:p>
            </p:txBody>
          </p:sp>
          <p:sp>
            <p:nvSpPr>
              <p:cNvPr id="77" name="Freeform 18"/>
              <p:cNvSpPr/>
              <p:nvPr/>
            </p:nvSpPr>
            <p:spPr bwMode="auto">
              <a:xfrm rot="-448665">
                <a:off x="266" y="1172"/>
                <a:ext cx="72" cy="63"/>
              </a:xfrm>
              <a:custGeom>
                <a:avLst/>
                <a:gdLst>
                  <a:gd name="T0" fmla="*/ 3 w 117"/>
                  <a:gd name="T1" fmla="*/ 35 h 118"/>
                  <a:gd name="T2" fmla="*/ 0 w 117"/>
                  <a:gd name="T3" fmla="*/ 27 h 118"/>
                  <a:gd name="T4" fmla="*/ 0 w 117"/>
                  <a:gd name="T5" fmla="*/ 19 h 118"/>
                  <a:gd name="T6" fmla="*/ 10 w 117"/>
                  <a:gd name="T7" fmla="*/ 13 h 118"/>
                  <a:gd name="T8" fmla="*/ 20 w 117"/>
                  <a:gd name="T9" fmla="*/ 8 h 118"/>
                  <a:gd name="T10" fmla="*/ 29 w 117"/>
                  <a:gd name="T11" fmla="*/ 0 h 118"/>
                  <a:gd name="T12" fmla="*/ 39 w 117"/>
                  <a:gd name="T13" fmla="*/ 0 h 118"/>
                  <a:gd name="T14" fmla="*/ 49 w 117"/>
                  <a:gd name="T15" fmla="*/ 0 h 118"/>
                  <a:gd name="T16" fmla="*/ 52 w 117"/>
                  <a:gd name="T17" fmla="*/ 8 h 118"/>
                  <a:gd name="T18" fmla="*/ 58 w 117"/>
                  <a:gd name="T19" fmla="*/ 17 h 118"/>
                  <a:gd name="T20" fmla="*/ 65 w 117"/>
                  <a:gd name="T21" fmla="*/ 25 h 118"/>
                  <a:gd name="T22" fmla="*/ 68 w 117"/>
                  <a:gd name="T23" fmla="*/ 33 h 118"/>
                  <a:gd name="T24" fmla="*/ 71 w 117"/>
                  <a:gd name="T25" fmla="*/ 41 h 118"/>
                  <a:gd name="T26" fmla="*/ 71 w 117"/>
                  <a:gd name="T27" fmla="*/ 49 h 118"/>
                  <a:gd name="T28" fmla="*/ 71 w 117"/>
                  <a:gd name="T29" fmla="*/ 57 h 118"/>
                  <a:gd name="T30" fmla="*/ 62 w 117"/>
                  <a:gd name="T31" fmla="*/ 62 h 118"/>
                  <a:gd name="T32" fmla="*/ 52 w 117"/>
                  <a:gd name="T33" fmla="*/ 62 h 118"/>
                  <a:gd name="T34" fmla="*/ 42 w 117"/>
                  <a:gd name="T35" fmla="*/ 62 h 118"/>
                  <a:gd name="T36" fmla="*/ 33 w 117"/>
                  <a:gd name="T37" fmla="*/ 62 h 118"/>
                  <a:gd name="T38" fmla="*/ 23 w 117"/>
                  <a:gd name="T39" fmla="*/ 60 h 118"/>
                  <a:gd name="T40" fmla="*/ 13 w 117"/>
                  <a:gd name="T41" fmla="*/ 54 h 118"/>
                  <a:gd name="T42" fmla="*/ 7 w 117"/>
                  <a:gd name="T43" fmla="*/ 46 h 118"/>
                  <a:gd name="T44" fmla="*/ 3 w 117"/>
                  <a:gd name="T45" fmla="*/ 38 h 118"/>
                  <a:gd name="T46" fmla="*/ 3 w 117"/>
                  <a:gd name="T47" fmla="*/ 35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dirty="0"/>
              </a:p>
            </p:txBody>
          </p:sp>
          <p:sp>
            <p:nvSpPr>
              <p:cNvPr id="78" name="Freeform 19"/>
              <p:cNvSpPr/>
              <p:nvPr/>
            </p:nvSpPr>
            <p:spPr bwMode="auto">
              <a:xfrm rot="-448665">
                <a:off x="430" y="1135"/>
                <a:ext cx="50" cy="46"/>
              </a:xfrm>
              <a:custGeom>
                <a:avLst/>
                <a:gdLst>
                  <a:gd name="T0" fmla="*/ 0 w 82"/>
                  <a:gd name="T1" fmla="*/ 0 h 87"/>
                  <a:gd name="T2" fmla="*/ 10 w 82"/>
                  <a:gd name="T3" fmla="*/ 5 h 87"/>
                  <a:gd name="T4" fmla="*/ 20 w 82"/>
                  <a:gd name="T5" fmla="*/ 11 h 87"/>
                  <a:gd name="T6" fmla="*/ 30 w 82"/>
                  <a:gd name="T7" fmla="*/ 11 h 87"/>
                  <a:gd name="T8" fmla="*/ 40 w 82"/>
                  <a:gd name="T9" fmla="*/ 16 h 87"/>
                  <a:gd name="T10" fmla="*/ 46 w 82"/>
                  <a:gd name="T11" fmla="*/ 24 h 87"/>
                  <a:gd name="T12" fmla="*/ 49 w 82"/>
                  <a:gd name="T13" fmla="*/ 32 h 87"/>
                  <a:gd name="T14" fmla="*/ 49 w 82"/>
                  <a:gd name="T15" fmla="*/ 40 h 87"/>
                  <a:gd name="T16" fmla="*/ 40 w 82"/>
                  <a:gd name="T17" fmla="*/ 45 h 87"/>
                  <a:gd name="T18" fmla="*/ 30 w 82"/>
                  <a:gd name="T19" fmla="*/ 45 h 87"/>
                  <a:gd name="T20" fmla="*/ 16 w 82"/>
                  <a:gd name="T21" fmla="*/ 43 h 87"/>
                  <a:gd name="T22" fmla="*/ 7 w 82"/>
                  <a:gd name="T23" fmla="*/ 38 h 87"/>
                  <a:gd name="T24" fmla="*/ 3 w 82"/>
                  <a:gd name="T25" fmla="*/ 30 h 87"/>
                  <a:gd name="T26" fmla="*/ 0 w 82"/>
                  <a:gd name="T27" fmla="*/ 21 h 87"/>
                  <a:gd name="T28" fmla="*/ 0 w 82"/>
                  <a:gd name="T29" fmla="*/ 13 h 87"/>
                  <a:gd name="T30" fmla="*/ 7 w 82"/>
                  <a:gd name="T31" fmla="*/ 5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dirty="0"/>
              </a:p>
            </p:txBody>
          </p:sp>
        </p:grpSp>
        <p:grpSp>
          <p:nvGrpSpPr>
            <p:cNvPr id="32" name="Group 138"/>
            <p:cNvGrpSpPr/>
            <p:nvPr/>
          </p:nvGrpSpPr>
          <p:grpSpPr bwMode="auto">
            <a:xfrm>
              <a:off x="3243" y="2659"/>
              <a:ext cx="568" cy="309"/>
              <a:chOff x="130" y="1123"/>
              <a:chExt cx="568" cy="309"/>
            </a:xfrm>
          </p:grpSpPr>
          <p:sp>
            <p:nvSpPr>
              <p:cNvPr id="57" name="Oval 9"/>
              <p:cNvSpPr>
                <a:spLocks noChangeArrowheads="1"/>
              </p:cNvSpPr>
              <p:nvPr/>
            </p:nvSpPr>
            <p:spPr bwMode="auto">
              <a:xfrm rot="-448665">
                <a:off x="247" y="1123"/>
                <a:ext cx="249" cy="86"/>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endParaRPr>
              </a:p>
            </p:txBody>
          </p:sp>
          <p:sp>
            <p:nvSpPr>
              <p:cNvPr id="58" name="Oval 10"/>
              <p:cNvSpPr>
                <a:spLocks noChangeArrowheads="1"/>
              </p:cNvSpPr>
              <p:nvPr/>
            </p:nvSpPr>
            <p:spPr bwMode="auto">
              <a:xfrm rot="451335">
                <a:off x="458" y="1131"/>
                <a:ext cx="168" cy="69"/>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endParaRPr>
              </a:p>
            </p:txBody>
          </p:sp>
          <p:sp>
            <p:nvSpPr>
              <p:cNvPr id="59" name="Oval 11"/>
              <p:cNvSpPr>
                <a:spLocks noChangeArrowheads="1"/>
              </p:cNvSpPr>
              <p:nvPr/>
            </p:nvSpPr>
            <p:spPr bwMode="auto">
              <a:xfrm rot="1051335">
                <a:off x="551" y="1191"/>
                <a:ext cx="147" cy="81"/>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endParaRPr>
              </a:p>
            </p:txBody>
          </p:sp>
          <p:sp>
            <p:nvSpPr>
              <p:cNvPr id="60" name="Oval 12"/>
              <p:cNvSpPr>
                <a:spLocks noChangeArrowheads="1"/>
              </p:cNvSpPr>
              <p:nvPr/>
            </p:nvSpPr>
            <p:spPr bwMode="auto">
              <a:xfrm rot="-2008665">
                <a:off x="516" y="1275"/>
                <a:ext cx="178" cy="100"/>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endParaRPr>
              </a:p>
            </p:txBody>
          </p:sp>
          <p:sp>
            <p:nvSpPr>
              <p:cNvPr id="61" name="Oval 13"/>
              <p:cNvSpPr>
                <a:spLocks noChangeArrowheads="1"/>
              </p:cNvSpPr>
              <p:nvPr/>
            </p:nvSpPr>
            <p:spPr bwMode="auto">
              <a:xfrm rot="-448665">
                <a:off x="303" y="1305"/>
                <a:ext cx="288" cy="127"/>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endParaRPr>
              </a:p>
            </p:txBody>
          </p:sp>
          <p:sp>
            <p:nvSpPr>
              <p:cNvPr id="62" name="Oval 14"/>
              <p:cNvSpPr>
                <a:spLocks noChangeArrowheads="1"/>
              </p:cNvSpPr>
              <p:nvPr/>
            </p:nvSpPr>
            <p:spPr bwMode="auto">
              <a:xfrm rot="631335">
                <a:off x="183" y="1329"/>
                <a:ext cx="162"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endParaRPr>
              </a:p>
            </p:txBody>
          </p:sp>
          <p:sp>
            <p:nvSpPr>
              <p:cNvPr id="63" name="Oval 15"/>
              <p:cNvSpPr>
                <a:spLocks noChangeArrowheads="1"/>
              </p:cNvSpPr>
              <p:nvPr/>
            </p:nvSpPr>
            <p:spPr bwMode="auto">
              <a:xfrm rot="-448665">
                <a:off x="130" y="1272"/>
                <a:ext cx="133"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endParaRPr>
              </a:p>
            </p:txBody>
          </p:sp>
          <p:sp>
            <p:nvSpPr>
              <p:cNvPr id="64" name="Oval 16"/>
              <p:cNvSpPr>
                <a:spLocks noChangeArrowheads="1"/>
              </p:cNvSpPr>
              <p:nvPr/>
            </p:nvSpPr>
            <p:spPr bwMode="auto">
              <a:xfrm rot="-2308665">
                <a:off x="143" y="1202"/>
                <a:ext cx="181"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endParaRPr>
              </a:p>
            </p:txBody>
          </p:sp>
          <p:sp>
            <p:nvSpPr>
              <p:cNvPr id="65" name="Freeform 17"/>
              <p:cNvSpPr/>
              <p:nvPr/>
            </p:nvSpPr>
            <p:spPr bwMode="auto">
              <a:xfrm rot="-448665">
                <a:off x="190" y="1173"/>
                <a:ext cx="451" cy="216"/>
              </a:xfrm>
              <a:custGeom>
                <a:avLst/>
                <a:gdLst>
                  <a:gd name="T0" fmla="*/ 66 w 738"/>
                  <a:gd name="T1" fmla="*/ 44 h 407"/>
                  <a:gd name="T2" fmla="*/ 89 w 738"/>
                  <a:gd name="T3" fmla="*/ 41 h 407"/>
                  <a:gd name="T4" fmla="*/ 112 w 738"/>
                  <a:gd name="T5" fmla="*/ 38 h 407"/>
                  <a:gd name="T6" fmla="*/ 131 w 738"/>
                  <a:gd name="T7" fmla="*/ 36 h 407"/>
                  <a:gd name="T8" fmla="*/ 145 w 738"/>
                  <a:gd name="T9" fmla="*/ 24 h 407"/>
                  <a:gd name="T10" fmla="*/ 125 w 738"/>
                  <a:gd name="T11" fmla="*/ 22 h 407"/>
                  <a:gd name="T12" fmla="*/ 105 w 738"/>
                  <a:gd name="T13" fmla="*/ 24 h 407"/>
                  <a:gd name="T14" fmla="*/ 95 w 738"/>
                  <a:gd name="T15" fmla="*/ 24 h 407"/>
                  <a:gd name="T16" fmla="*/ 115 w 738"/>
                  <a:gd name="T17" fmla="*/ 14 h 407"/>
                  <a:gd name="T18" fmla="*/ 138 w 738"/>
                  <a:gd name="T19" fmla="*/ 8 h 407"/>
                  <a:gd name="T20" fmla="*/ 158 w 738"/>
                  <a:gd name="T21" fmla="*/ 5 h 407"/>
                  <a:gd name="T22" fmla="*/ 177 w 738"/>
                  <a:gd name="T23" fmla="*/ 3 h 407"/>
                  <a:gd name="T24" fmla="*/ 197 w 738"/>
                  <a:gd name="T25" fmla="*/ 0 h 407"/>
                  <a:gd name="T26" fmla="*/ 217 w 738"/>
                  <a:gd name="T27" fmla="*/ 0 h 407"/>
                  <a:gd name="T28" fmla="*/ 237 w 738"/>
                  <a:gd name="T29" fmla="*/ 0 h 407"/>
                  <a:gd name="T30" fmla="*/ 283 w 738"/>
                  <a:gd name="T31" fmla="*/ 0 h 407"/>
                  <a:gd name="T32" fmla="*/ 309 w 738"/>
                  <a:gd name="T33" fmla="*/ 0 h 407"/>
                  <a:gd name="T34" fmla="*/ 332 w 738"/>
                  <a:gd name="T35" fmla="*/ 8 h 407"/>
                  <a:gd name="T36" fmla="*/ 348 w 738"/>
                  <a:gd name="T37" fmla="*/ 19 h 407"/>
                  <a:gd name="T38" fmla="*/ 369 w 738"/>
                  <a:gd name="T39" fmla="*/ 27 h 407"/>
                  <a:gd name="T40" fmla="*/ 388 w 738"/>
                  <a:gd name="T41" fmla="*/ 30 h 407"/>
                  <a:gd name="T42" fmla="*/ 408 w 738"/>
                  <a:gd name="T43" fmla="*/ 41 h 407"/>
                  <a:gd name="T44" fmla="*/ 424 w 738"/>
                  <a:gd name="T45" fmla="*/ 52 h 407"/>
                  <a:gd name="T46" fmla="*/ 437 w 738"/>
                  <a:gd name="T47" fmla="*/ 68 h 407"/>
                  <a:gd name="T48" fmla="*/ 441 w 738"/>
                  <a:gd name="T49" fmla="*/ 87 h 407"/>
                  <a:gd name="T50" fmla="*/ 444 w 738"/>
                  <a:gd name="T51" fmla="*/ 103 h 407"/>
                  <a:gd name="T52" fmla="*/ 444 w 738"/>
                  <a:gd name="T53" fmla="*/ 120 h 407"/>
                  <a:gd name="T54" fmla="*/ 444 w 738"/>
                  <a:gd name="T55" fmla="*/ 136 h 407"/>
                  <a:gd name="T56" fmla="*/ 450 w 738"/>
                  <a:gd name="T57" fmla="*/ 153 h 407"/>
                  <a:gd name="T58" fmla="*/ 450 w 738"/>
                  <a:gd name="T59" fmla="*/ 169 h 407"/>
                  <a:gd name="T60" fmla="*/ 437 w 738"/>
                  <a:gd name="T61" fmla="*/ 185 h 407"/>
                  <a:gd name="T62" fmla="*/ 414 w 738"/>
                  <a:gd name="T63" fmla="*/ 194 h 407"/>
                  <a:gd name="T64" fmla="*/ 395 w 738"/>
                  <a:gd name="T65" fmla="*/ 202 h 407"/>
                  <a:gd name="T66" fmla="*/ 375 w 738"/>
                  <a:gd name="T67" fmla="*/ 210 h 407"/>
                  <a:gd name="T68" fmla="*/ 355 w 738"/>
                  <a:gd name="T69" fmla="*/ 213 h 407"/>
                  <a:gd name="T70" fmla="*/ 329 w 738"/>
                  <a:gd name="T71" fmla="*/ 215 h 407"/>
                  <a:gd name="T72" fmla="*/ 306 w 738"/>
                  <a:gd name="T73" fmla="*/ 215 h 407"/>
                  <a:gd name="T74" fmla="*/ 286 w 738"/>
                  <a:gd name="T75" fmla="*/ 215 h 407"/>
                  <a:gd name="T76" fmla="*/ 266 w 738"/>
                  <a:gd name="T77" fmla="*/ 215 h 407"/>
                  <a:gd name="T78" fmla="*/ 246 w 738"/>
                  <a:gd name="T79" fmla="*/ 215 h 407"/>
                  <a:gd name="T80" fmla="*/ 227 w 738"/>
                  <a:gd name="T81" fmla="*/ 215 h 407"/>
                  <a:gd name="T82" fmla="*/ 207 w 738"/>
                  <a:gd name="T83" fmla="*/ 215 h 407"/>
                  <a:gd name="T84" fmla="*/ 188 w 738"/>
                  <a:gd name="T85" fmla="*/ 215 h 407"/>
                  <a:gd name="T86" fmla="*/ 164 w 738"/>
                  <a:gd name="T87" fmla="*/ 215 h 407"/>
                  <a:gd name="T88" fmla="*/ 145 w 738"/>
                  <a:gd name="T89" fmla="*/ 215 h 407"/>
                  <a:gd name="T90" fmla="*/ 125 w 738"/>
                  <a:gd name="T91" fmla="*/ 215 h 407"/>
                  <a:gd name="T92" fmla="*/ 105 w 738"/>
                  <a:gd name="T93" fmla="*/ 208 h 407"/>
                  <a:gd name="T94" fmla="*/ 86 w 738"/>
                  <a:gd name="T95" fmla="*/ 202 h 407"/>
                  <a:gd name="T96" fmla="*/ 66 w 738"/>
                  <a:gd name="T97" fmla="*/ 194 h 407"/>
                  <a:gd name="T98" fmla="*/ 50 w 738"/>
                  <a:gd name="T99" fmla="*/ 180 h 407"/>
                  <a:gd name="T100" fmla="*/ 36 w 738"/>
                  <a:gd name="T101" fmla="*/ 169 h 407"/>
                  <a:gd name="T102" fmla="*/ 23 w 738"/>
                  <a:gd name="T103" fmla="*/ 153 h 407"/>
                  <a:gd name="T104" fmla="*/ 10 w 738"/>
                  <a:gd name="T105" fmla="*/ 134 h 407"/>
                  <a:gd name="T106" fmla="*/ 0 w 738"/>
                  <a:gd name="T107" fmla="*/ 115 h 407"/>
                  <a:gd name="T108" fmla="*/ 0 w 738"/>
                  <a:gd name="T109" fmla="*/ 98 h 407"/>
                  <a:gd name="T110" fmla="*/ 3 w 738"/>
                  <a:gd name="T111" fmla="*/ 79 h 407"/>
                  <a:gd name="T112" fmla="*/ 17 w 738"/>
                  <a:gd name="T113" fmla="*/ 65 h 407"/>
                  <a:gd name="T114" fmla="*/ 33 w 738"/>
                  <a:gd name="T115" fmla="*/ 57 h 407"/>
                  <a:gd name="T116" fmla="*/ 53 w 738"/>
                  <a:gd name="T117" fmla="*/ 52 h 407"/>
                  <a:gd name="T118" fmla="*/ 69 w 738"/>
                  <a:gd name="T119" fmla="*/ 44 h 407"/>
                  <a:gd name="T120" fmla="*/ 79 w 738"/>
                  <a:gd name="T121" fmla="*/ 52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dirty="0"/>
              </a:p>
            </p:txBody>
          </p:sp>
          <p:sp>
            <p:nvSpPr>
              <p:cNvPr id="66" name="Freeform 18"/>
              <p:cNvSpPr/>
              <p:nvPr/>
            </p:nvSpPr>
            <p:spPr bwMode="auto">
              <a:xfrm rot="-448665">
                <a:off x="266" y="1172"/>
                <a:ext cx="72" cy="63"/>
              </a:xfrm>
              <a:custGeom>
                <a:avLst/>
                <a:gdLst>
                  <a:gd name="T0" fmla="*/ 3 w 117"/>
                  <a:gd name="T1" fmla="*/ 35 h 118"/>
                  <a:gd name="T2" fmla="*/ 0 w 117"/>
                  <a:gd name="T3" fmla="*/ 27 h 118"/>
                  <a:gd name="T4" fmla="*/ 0 w 117"/>
                  <a:gd name="T5" fmla="*/ 19 h 118"/>
                  <a:gd name="T6" fmla="*/ 10 w 117"/>
                  <a:gd name="T7" fmla="*/ 13 h 118"/>
                  <a:gd name="T8" fmla="*/ 20 w 117"/>
                  <a:gd name="T9" fmla="*/ 8 h 118"/>
                  <a:gd name="T10" fmla="*/ 29 w 117"/>
                  <a:gd name="T11" fmla="*/ 0 h 118"/>
                  <a:gd name="T12" fmla="*/ 39 w 117"/>
                  <a:gd name="T13" fmla="*/ 0 h 118"/>
                  <a:gd name="T14" fmla="*/ 49 w 117"/>
                  <a:gd name="T15" fmla="*/ 0 h 118"/>
                  <a:gd name="T16" fmla="*/ 52 w 117"/>
                  <a:gd name="T17" fmla="*/ 8 h 118"/>
                  <a:gd name="T18" fmla="*/ 58 w 117"/>
                  <a:gd name="T19" fmla="*/ 17 h 118"/>
                  <a:gd name="T20" fmla="*/ 65 w 117"/>
                  <a:gd name="T21" fmla="*/ 25 h 118"/>
                  <a:gd name="T22" fmla="*/ 68 w 117"/>
                  <a:gd name="T23" fmla="*/ 33 h 118"/>
                  <a:gd name="T24" fmla="*/ 71 w 117"/>
                  <a:gd name="T25" fmla="*/ 41 h 118"/>
                  <a:gd name="T26" fmla="*/ 71 w 117"/>
                  <a:gd name="T27" fmla="*/ 49 h 118"/>
                  <a:gd name="T28" fmla="*/ 71 w 117"/>
                  <a:gd name="T29" fmla="*/ 57 h 118"/>
                  <a:gd name="T30" fmla="*/ 62 w 117"/>
                  <a:gd name="T31" fmla="*/ 62 h 118"/>
                  <a:gd name="T32" fmla="*/ 52 w 117"/>
                  <a:gd name="T33" fmla="*/ 62 h 118"/>
                  <a:gd name="T34" fmla="*/ 42 w 117"/>
                  <a:gd name="T35" fmla="*/ 62 h 118"/>
                  <a:gd name="T36" fmla="*/ 33 w 117"/>
                  <a:gd name="T37" fmla="*/ 62 h 118"/>
                  <a:gd name="T38" fmla="*/ 23 w 117"/>
                  <a:gd name="T39" fmla="*/ 60 h 118"/>
                  <a:gd name="T40" fmla="*/ 13 w 117"/>
                  <a:gd name="T41" fmla="*/ 54 h 118"/>
                  <a:gd name="T42" fmla="*/ 7 w 117"/>
                  <a:gd name="T43" fmla="*/ 46 h 118"/>
                  <a:gd name="T44" fmla="*/ 3 w 117"/>
                  <a:gd name="T45" fmla="*/ 38 h 118"/>
                  <a:gd name="T46" fmla="*/ 3 w 117"/>
                  <a:gd name="T47" fmla="*/ 35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dirty="0"/>
              </a:p>
            </p:txBody>
          </p:sp>
          <p:sp>
            <p:nvSpPr>
              <p:cNvPr id="67" name="Freeform 19"/>
              <p:cNvSpPr/>
              <p:nvPr/>
            </p:nvSpPr>
            <p:spPr bwMode="auto">
              <a:xfrm rot="-448665">
                <a:off x="430" y="1135"/>
                <a:ext cx="50" cy="46"/>
              </a:xfrm>
              <a:custGeom>
                <a:avLst/>
                <a:gdLst>
                  <a:gd name="T0" fmla="*/ 0 w 82"/>
                  <a:gd name="T1" fmla="*/ 0 h 87"/>
                  <a:gd name="T2" fmla="*/ 10 w 82"/>
                  <a:gd name="T3" fmla="*/ 5 h 87"/>
                  <a:gd name="T4" fmla="*/ 20 w 82"/>
                  <a:gd name="T5" fmla="*/ 11 h 87"/>
                  <a:gd name="T6" fmla="*/ 30 w 82"/>
                  <a:gd name="T7" fmla="*/ 11 h 87"/>
                  <a:gd name="T8" fmla="*/ 40 w 82"/>
                  <a:gd name="T9" fmla="*/ 16 h 87"/>
                  <a:gd name="T10" fmla="*/ 46 w 82"/>
                  <a:gd name="T11" fmla="*/ 24 h 87"/>
                  <a:gd name="T12" fmla="*/ 49 w 82"/>
                  <a:gd name="T13" fmla="*/ 32 h 87"/>
                  <a:gd name="T14" fmla="*/ 49 w 82"/>
                  <a:gd name="T15" fmla="*/ 40 h 87"/>
                  <a:gd name="T16" fmla="*/ 40 w 82"/>
                  <a:gd name="T17" fmla="*/ 45 h 87"/>
                  <a:gd name="T18" fmla="*/ 30 w 82"/>
                  <a:gd name="T19" fmla="*/ 45 h 87"/>
                  <a:gd name="T20" fmla="*/ 16 w 82"/>
                  <a:gd name="T21" fmla="*/ 43 h 87"/>
                  <a:gd name="T22" fmla="*/ 7 w 82"/>
                  <a:gd name="T23" fmla="*/ 38 h 87"/>
                  <a:gd name="T24" fmla="*/ 3 w 82"/>
                  <a:gd name="T25" fmla="*/ 30 h 87"/>
                  <a:gd name="T26" fmla="*/ 0 w 82"/>
                  <a:gd name="T27" fmla="*/ 21 h 87"/>
                  <a:gd name="T28" fmla="*/ 0 w 82"/>
                  <a:gd name="T29" fmla="*/ 13 h 87"/>
                  <a:gd name="T30" fmla="*/ 7 w 82"/>
                  <a:gd name="T31" fmla="*/ 5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dirty="0"/>
              </a:p>
            </p:txBody>
          </p:sp>
        </p:grpSp>
        <p:grpSp>
          <p:nvGrpSpPr>
            <p:cNvPr id="33" name="Group 150"/>
            <p:cNvGrpSpPr/>
            <p:nvPr/>
          </p:nvGrpSpPr>
          <p:grpSpPr bwMode="auto">
            <a:xfrm>
              <a:off x="3706" y="2216"/>
              <a:ext cx="568" cy="309"/>
              <a:chOff x="130" y="1123"/>
              <a:chExt cx="568" cy="309"/>
            </a:xfrm>
          </p:grpSpPr>
          <p:sp>
            <p:nvSpPr>
              <p:cNvPr id="46" name="Oval 9"/>
              <p:cNvSpPr>
                <a:spLocks noChangeArrowheads="1"/>
              </p:cNvSpPr>
              <p:nvPr/>
            </p:nvSpPr>
            <p:spPr bwMode="auto">
              <a:xfrm rot="-448665">
                <a:off x="247" y="1123"/>
                <a:ext cx="249" cy="86"/>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endParaRPr>
              </a:p>
            </p:txBody>
          </p:sp>
          <p:sp>
            <p:nvSpPr>
              <p:cNvPr id="47" name="Oval 10"/>
              <p:cNvSpPr>
                <a:spLocks noChangeArrowheads="1"/>
              </p:cNvSpPr>
              <p:nvPr/>
            </p:nvSpPr>
            <p:spPr bwMode="auto">
              <a:xfrm rot="451335">
                <a:off x="458" y="1131"/>
                <a:ext cx="168" cy="69"/>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endParaRPr>
              </a:p>
            </p:txBody>
          </p:sp>
          <p:sp>
            <p:nvSpPr>
              <p:cNvPr id="48" name="Oval 11"/>
              <p:cNvSpPr>
                <a:spLocks noChangeArrowheads="1"/>
              </p:cNvSpPr>
              <p:nvPr/>
            </p:nvSpPr>
            <p:spPr bwMode="auto">
              <a:xfrm rot="1051335">
                <a:off x="551" y="1191"/>
                <a:ext cx="147" cy="81"/>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endParaRPr>
              </a:p>
            </p:txBody>
          </p:sp>
          <p:sp>
            <p:nvSpPr>
              <p:cNvPr id="49" name="Oval 12"/>
              <p:cNvSpPr>
                <a:spLocks noChangeArrowheads="1"/>
              </p:cNvSpPr>
              <p:nvPr/>
            </p:nvSpPr>
            <p:spPr bwMode="auto">
              <a:xfrm rot="-2008665">
                <a:off x="516" y="1275"/>
                <a:ext cx="178" cy="100"/>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endParaRPr>
              </a:p>
            </p:txBody>
          </p:sp>
          <p:sp>
            <p:nvSpPr>
              <p:cNvPr id="50" name="Oval 13"/>
              <p:cNvSpPr>
                <a:spLocks noChangeArrowheads="1"/>
              </p:cNvSpPr>
              <p:nvPr/>
            </p:nvSpPr>
            <p:spPr bwMode="auto">
              <a:xfrm rot="-448665">
                <a:off x="303" y="1305"/>
                <a:ext cx="288" cy="127"/>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endParaRPr>
              </a:p>
            </p:txBody>
          </p:sp>
          <p:sp>
            <p:nvSpPr>
              <p:cNvPr id="51" name="Oval 14"/>
              <p:cNvSpPr>
                <a:spLocks noChangeArrowheads="1"/>
              </p:cNvSpPr>
              <p:nvPr/>
            </p:nvSpPr>
            <p:spPr bwMode="auto">
              <a:xfrm rot="631335">
                <a:off x="183" y="1329"/>
                <a:ext cx="162"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endParaRPr>
              </a:p>
            </p:txBody>
          </p:sp>
          <p:sp>
            <p:nvSpPr>
              <p:cNvPr id="52" name="Oval 15"/>
              <p:cNvSpPr>
                <a:spLocks noChangeArrowheads="1"/>
              </p:cNvSpPr>
              <p:nvPr/>
            </p:nvSpPr>
            <p:spPr bwMode="auto">
              <a:xfrm rot="-448665">
                <a:off x="130" y="1272"/>
                <a:ext cx="133"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endParaRPr>
              </a:p>
            </p:txBody>
          </p:sp>
          <p:sp>
            <p:nvSpPr>
              <p:cNvPr id="53" name="Oval 16"/>
              <p:cNvSpPr>
                <a:spLocks noChangeArrowheads="1"/>
              </p:cNvSpPr>
              <p:nvPr/>
            </p:nvSpPr>
            <p:spPr bwMode="auto">
              <a:xfrm rot="-2308665">
                <a:off x="143" y="1202"/>
                <a:ext cx="181"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endParaRPr>
              </a:p>
            </p:txBody>
          </p:sp>
          <p:sp>
            <p:nvSpPr>
              <p:cNvPr id="54" name="Freeform 17"/>
              <p:cNvSpPr/>
              <p:nvPr/>
            </p:nvSpPr>
            <p:spPr bwMode="auto">
              <a:xfrm rot="-448665">
                <a:off x="190" y="1173"/>
                <a:ext cx="451" cy="216"/>
              </a:xfrm>
              <a:custGeom>
                <a:avLst/>
                <a:gdLst>
                  <a:gd name="T0" fmla="*/ 66 w 738"/>
                  <a:gd name="T1" fmla="*/ 44 h 407"/>
                  <a:gd name="T2" fmla="*/ 89 w 738"/>
                  <a:gd name="T3" fmla="*/ 41 h 407"/>
                  <a:gd name="T4" fmla="*/ 112 w 738"/>
                  <a:gd name="T5" fmla="*/ 38 h 407"/>
                  <a:gd name="T6" fmla="*/ 131 w 738"/>
                  <a:gd name="T7" fmla="*/ 36 h 407"/>
                  <a:gd name="T8" fmla="*/ 145 w 738"/>
                  <a:gd name="T9" fmla="*/ 24 h 407"/>
                  <a:gd name="T10" fmla="*/ 125 w 738"/>
                  <a:gd name="T11" fmla="*/ 22 h 407"/>
                  <a:gd name="T12" fmla="*/ 105 w 738"/>
                  <a:gd name="T13" fmla="*/ 24 h 407"/>
                  <a:gd name="T14" fmla="*/ 95 w 738"/>
                  <a:gd name="T15" fmla="*/ 24 h 407"/>
                  <a:gd name="T16" fmla="*/ 115 w 738"/>
                  <a:gd name="T17" fmla="*/ 14 h 407"/>
                  <a:gd name="T18" fmla="*/ 138 w 738"/>
                  <a:gd name="T19" fmla="*/ 8 h 407"/>
                  <a:gd name="T20" fmla="*/ 158 w 738"/>
                  <a:gd name="T21" fmla="*/ 5 h 407"/>
                  <a:gd name="T22" fmla="*/ 177 w 738"/>
                  <a:gd name="T23" fmla="*/ 3 h 407"/>
                  <a:gd name="T24" fmla="*/ 197 w 738"/>
                  <a:gd name="T25" fmla="*/ 0 h 407"/>
                  <a:gd name="T26" fmla="*/ 217 w 738"/>
                  <a:gd name="T27" fmla="*/ 0 h 407"/>
                  <a:gd name="T28" fmla="*/ 237 w 738"/>
                  <a:gd name="T29" fmla="*/ 0 h 407"/>
                  <a:gd name="T30" fmla="*/ 283 w 738"/>
                  <a:gd name="T31" fmla="*/ 0 h 407"/>
                  <a:gd name="T32" fmla="*/ 309 w 738"/>
                  <a:gd name="T33" fmla="*/ 0 h 407"/>
                  <a:gd name="T34" fmla="*/ 332 w 738"/>
                  <a:gd name="T35" fmla="*/ 8 h 407"/>
                  <a:gd name="T36" fmla="*/ 348 w 738"/>
                  <a:gd name="T37" fmla="*/ 19 h 407"/>
                  <a:gd name="T38" fmla="*/ 369 w 738"/>
                  <a:gd name="T39" fmla="*/ 27 h 407"/>
                  <a:gd name="T40" fmla="*/ 388 w 738"/>
                  <a:gd name="T41" fmla="*/ 30 h 407"/>
                  <a:gd name="T42" fmla="*/ 408 w 738"/>
                  <a:gd name="T43" fmla="*/ 41 h 407"/>
                  <a:gd name="T44" fmla="*/ 424 w 738"/>
                  <a:gd name="T45" fmla="*/ 52 h 407"/>
                  <a:gd name="T46" fmla="*/ 437 w 738"/>
                  <a:gd name="T47" fmla="*/ 68 h 407"/>
                  <a:gd name="T48" fmla="*/ 441 w 738"/>
                  <a:gd name="T49" fmla="*/ 87 h 407"/>
                  <a:gd name="T50" fmla="*/ 444 w 738"/>
                  <a:gd name="T51" fmla="*/ 103 h 407"/>
                  <a:gd name="T52" fmla="*/ 444 w 738"/>
                  <a:gd name="T53" fmla="*/ 120 h 407"/>
                  <a:gd name="T54" fmla="*/ 444 w 738"/>
                  <a:gd name="T55" fmla="*/ 136 h 407"/>
                  <a:gd name="T56" fmla="*/ 450 w 738"/>
                  <a:gd name="T57" fmla="*/ 153 h 407"/>
                  <a:gd name="T58" fmla="*/ 450 w 738"/>
                  <a:gd name="T59" fmla="*/ 169 h 407"/>
                  <a:gd name="T60" fmla="*/ 437 w 738"/>
                  <a:gd name="T61" fmla="*/ 185 h 407"/>
                  <a:gd name="T62" fmla="*/ 414 w 738"/>
                  <a:gd name="T63" fmla="*/ 194 h 407"/>
                  <a:gd name="T64" fmla="*/ 395 w 738"/>
                  <a:gd name="T65" fmla="*/ 202 h 407"/>
                  <a:gd name="T66" fmla="*/ 375 w 738"/>
                  <a:gd name="T67" fmla="*/ 210 h 407"/>
                  <a:gd name="T68" fmla="*/ 355 w 738"/>
                  <a:gd name="T69" fmla="*/ 213 h 407"/>
                  <a:gd name="T70" fmla="*/ 329 w 738"/>
                  <a:gd name="T71" fmla="*/ 215 h 407"/>
                  <a:gd name="T72" fmla="*/ 306 w 738"/>
                  <a:gd name="T73" fmla="*/ 215 h 407"/>
                  <a:gd name="T74" fmla="*/ 286 w 738"/>
                  <a:gd name="T75" fmla="*/ 215 h 407"/>
                  <a:gd name="T76" fmla="*/ 266 w 738"/>
                  <a:gd name="T77" fmla="*/ 215 h 407"/>
                  <a:gd name="T78" fmla="*/ 246 w 738"/>
                  <a:gd name="T79" fmla="*/ 215 h 407"/>
                  <a:gd name="T80" fmla="*/ 227 w 738"/>
                  <a:gd name="T81" fmla="*/ 215 h 407"/>
                  <a:gd name="T82" fmla="*/ 207 w 738"/>
                  <a:gd name="T83" fmla="*/ 215 h 407"/>
                  <a:gd name="T84" fmla="*/ 188 w 738"/>
                  <a:gd name="T85" fmla="*/ 215 h 407"/>
                  <a:gd name="T86" fmla="*/ 164 w 738"/>
                  <a:gd name="T87" fmla="*/ 215 h 407"/>
                  <a:gd name="T88" fmla="*/ 145 w 738"/>
                  <a:gd name="T89" fmla="*/ 215 h 407"/>
                  <a:gd name="T90" fmla="*/ 125 w 738"/>
                  <a:gd name="T91" fmla="*/ 215 h 407"/>
                  <a:gd name="T92" fmla="*/ 105 w 738"/>
                  <a:gd name="T93" fmla="*/ 208 h 407"/>
                  <a:gd name="T94" fmla="*/ 86 w 738"/>
                  <a:gd name="T95" fmla="*/ 202 h 407"/>
                  <a:gd name="T96" fmla="*/ 66 w 738"/>
                  <a:gd name="T97" fmla="*/ 194 h 407"/>
                  <a:gd name="T98" fmla="*/ 50 w 738"/>
                  <a:gd name="T99" fmla="*/ 180 h 407"/>
                  <a:gd name="T100" fmla="*/ 36 w 738"/>
                  <a:gd name="T101" fmla="*/ 169 h 407"/>
                  <a:gd name="T102" fmla="*/ 23 w 738"/>
                  <a:gd name="T103" fmla="*/ 153 h 407"/>
                  <a:gd name="T104" fmla="*/ 10 w 738"/>
                  <a:gd name="T105" fmla="*/ 134 h 407"/>
                  <a:gd name="T106" fmla="*/ 0 w 738"/>
                  <a:gd name="T107" fmla="*/ 115 h 407"/>
                  <a:gd name="T108" fmla="*/ 0 w 738"/>
                  <a:gd name="T109" fmla="*/ 98 h 407"/>
                  <a:gd name="T110" fmla="*/ 3 w 738"/>
                  <a:gd name="T111" fmla="*/ 79 h 407"/>
                  <a:gd name="T112" fmla="*/ 17 w 738"/>
                  <a:gd name="T113" fmla="*/ 65 h 407"/>
                  <a:gd name="T114" fmla="*/ 33 w 738"/>
                  <a:gd name="T115" fmla="*/ 57 h 407"/>
                  <a:gd name="T116" fmla="*/ 53 w 738"/>
                  <a:gd name="T117" fmla="*/ 52 h 407"/>
                  <a:gd name="T118" fmla="*/ 69 w 738"/>
                  <a:gd name="T119" fmla="*/ 44 h 407"/>
                  <a:gd name="T120" fmla="*/ 79 w 738"/>
                  <a:gd name="T121" fmla="*/ 52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dirty="0"/>
              </a:p>
            </p:txBody>
          </p:sp>
          <p:sp>
            <p:nvSpPr>
              <p:cNvPr id="55" name="Freeform 18"/>
              <p:cNvSpPr/>
              <p:nvPr/>
            </p:nvSpPr>
            <p:spPr bwMode="auto">
              <a:xfrm rot="-448665">
                <a:off x="266" y="1172"/>
                <a:ext cx="72" cy="63"/>
              </a:xfrm>
              <a:custGeom>
                <a:avLst/>
                <a:gdLst>
                  <a:gd name="T0" fmla="*/ 3 w 117"/>
                  <a:gd name="T1" fmla="*/ 35 h 118"/>
                  <a:gd name="T2" fmla="*/ 0 w 117"/>
                  <a:gd name="T3" fmla="*/ 27 h 118"/>
                  <a:gd name="T4" fmla="*/ 0 w 117"/>
                  <a:gd name="T5" fmla="*/ 19 h 118"/>
                  <a:gd name="T6" fmla="*/ 10 w 117"/>
                  <a:gd name="T7" fmla="*/ 13 h 118"/>
                  <a:gd name="T8" fmla="*/ 20 w 117"/>
                  <a:gd name="T9" fmla="*/ 8 h 118"/>
                  <a:gd name="T10" fmla="*/ 29 w 117"/>
                  <a:gd name="T11" fmla="*/ 0 h 118"/>
                  <a:gd name="T12" fmla="*/ 39 w 117"/>
                  <a:gd name="T13" fmla="*/ 0 h 118"/>
                  <a:gd name="T14" fmla="*/ 49 w 117"/>
                  <a:gd name="T15" fmla="*/ 0 h 118"/>
                  <a:gd name="T16" fmla="*/ 52 w 117"/>
                  <a:gd name="T17" fmla="*/ 8 h 118"/>
                  <a:gd name="T18" fmla="*/ 58 w 117"/>
                  <a:gd name="T19" fmla="*/ 17 h 118"/>
                  <a:gd name="T20" fmla="*/ 65 w 117"/>
                  <a:gd name="T21" fmla="*/ 25 h 118"/>
                  <a:gd name="T22" fmla="*/ 68 w 117"/>
                  <a:gd name="T23" fmla="*/ 33 h 118"/>
                  <a:gd name="T24" fmla="*/ 71 w 117"/>
                  <a:gd name="T25" fmla="*/ 41 h 118"/>
                  <a:gd name="T26" fmla="*/ 71 w 117"/>
                  <a:gd name="T27" fmla="*/ 49 h 118"/>
                  <a:gd name="T28" fmla="*/ 71 w 117"/>
                  <a:gd name="T29" fmla="*/ 57 h 118"/>
                  <a:gd name="T30" fmla="*/ 62 w 117"/>
                  <a:gd name="T31" fmla="*/ 62 h 118"/>
                  <a:gd name="T32" fmla="*/ 52 w 117"/>
                  <a:gd name="T33" fmla="*/ 62 h 118"/>
                  <a:gd name="T34" fmla="*/ 42 w 117"/>
                  <a:gd name="T35" fmla="*/ 62 h 118"/>
                  <a:gd name="T36" fmla="*/ 33 w 117"/>
                  <a:gd name="T37" fmla="*/ 62 h 118"/>
                  <a:gd name="T38" fmla="*/ 23 w 117"/>
                  <a:gd name="T39" fmla="*/ 60 h 118"/>
                  <a:gd name="T40" fmla="*/ 13 w 117"/>
                  <a:gd name="T41" fmla="*/ 54 h 118"/>
                  <a:gd name="T42" fmla="*/ 7 w 117"/>
                  <a:gd name="T43" fmla="*/ 46 h 118"/>
                  <a:gd name="T44" fmla="*/ 3 w 117"/>
                  <a:gd name="T45" fmla="*/ 38 h 118"/>
                  <a:gd name="T46" fmla="*/ 3 w 117"/>
                  <a:gd name="T47" fmla="*/ 35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dirty="0"/>
              </a:p>
            </p:txBody>
          </p:sp>
          <p:sp>
            <p:nvSpPr>
              <p:cNvPr id="56" name="Freeform 19"/>
              <p:cNvSpPr/>
              <p:nvPr/>
            </p:nvSpPr>
            <p:spPr bwMode="auto">
              <a:xfrm rot="-448665">
                <a:off x="430" y="1135"/>
                <a:ext cx="50" cy="46"/>
              </a:xfrm>
              <a:custGeom>
                <a:avLst/>
                <a:gdLst>
                  <a:gd name="T0" fmla="*/ 0 w 82"/>
                  <a:gd name="T1" fmla="*/ 0 h 87"/>
                  <a:gd name="T2" fmla="*/ 10 w 82"/>
                  <a:gd name="T3" fmla="*/ 5 h 87"/>
                  <a:gd name="T4" fmla="*/ 20 w 82"/>
                  <a:gd name="T5" fmla="*/ 11 h 87"/>
                  <a:gd name="T6" fmla="*/ 30 w 82"/>
                  <a:gd name="T7" fmla="*/ 11 h 87"/>
                  <a:gd name="T8" fmla="*/ 40 w 82"/>
                  <a:gd name="T9" fmla="*/ 16 h 87"/>
                  <a:gd name="T10" fmla="*/ 46 w 82"/>
                  <a:gd name="T11" fmla="*/ 24 h 87"/>
                  <a:gd name="T12" fmla="*/ 49 w 82"/>
                  <a:gd name="T13" fmla="*/ 32 h 87"/>
                  <a:gd name="T14" fmla="*/ 49 w 82"/>
                  <a:gd name="T15" fmla="*/ 40 h 87"/>
                  <a:gd name="T16" fmla="*/ 40 w 82"/>
                  <a:gd name="T17" fmla="*/ 45 h 87"/>
                  <a:gd name="T18" fmla="*/ 30 w 82"/>
                  <a:gd name="T19" fmla="*/ 45 h 87"/>
                  <a:gd name="T20" fmla="*/ 16 w 82"/>
                  <a:gd name="T21" fmla="*/ 43 h 87"/>
                  <a:gd name="T22" fmla="*/ 7 w 82"/>
                  <a:gd name="T23" fmla="*/ 38 h 87"/>
                  <a:gd name="T24" fmla="*/ 3 w 82"/>
                  <a:gd name="T25" fmla="*/ 30 h 87"/>
                  <a:gd name="T26" fmla="*/ 0 w 82"/>
                  <a:gd name="T27" fmla="*/ 21 h 87"/>
                  <a:gd name="T28" fmla="*/ 0 w 82"/>
                  <a:gd name="T29" fmla="*/ 13 h 87"/>
                  <a:gd name="T30" fmla="*/ 7 w 82"/>
                  <a:gd name="T31" fmla="*/ 5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dirty="0"/>
              </a:p>
            </p:txBody>
          </p:sp>
        </p:grpSp>
        <p:grpSp>
          <p:nvGrpSpPr>
            <p:cNvPr id="34" name="Group 162"/>
            <p:cNvGrpSpPr/>
            <p:nvPr/>
          </p:nvGrpSpPr>
          <p:grpSpPr bwMode="auto">
            <a:xfrm>
              <a:off x="2643" y="1933"/>
              <a:ext cx="568" cy="309"/>
              <a:chOff x="130" y="1123"/>
              <a:chExt cx="568" cy="309"/>
            </a:xfrm>
          </p:grpSpPr>
          <p:sp>
            <p:nvSpPr>
              <p:cNvPr id="35" name="Oval 9"/>
              <p:cNvSpPr>
                <a:spLocks noChangeArrowheads="1"/>
              </p:cNvSpPr>
              <p:nvPr/>
            </p:nvSpPr>
            <p:spPr bwMode="auto">
              <a:xfrm rot="-448665">
                <a:off x="247" y="1123"/>
                <a:ext cx="249" cy="86"/>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endParaRPr>
              </a:p>
            </p:txBody>
          </p:sp>
          <p:sp>
            <p:nvSpPr>
              <p:cNvPr id="36" name="Oval 10"/>
              <p:cNvSpPr>
                <a:spLocks noChangeArrowheads="1"/>
              </p:cNvSpPr>
              <p:nvPr/>
            </p:nvSpPr>
            <p:spPr bwMode="auto">
              <a:xfrm rot="451335">
                <a:off x="458" y="1131"/>
                <a:ext cx="168" cy="69"/>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endParaRPr>
              </a:p>
            </p:txBody>
          </p:sp>
          <p:sp>
            <p:nvSpPr>
              <p:cNvPr id="37" name="Oval 11"/>
              <p:cNvSpPr>
                <a:spLocks noChangeArrowheads="1"/>
              </p:cNvSpPr>
              <p:nvPr/>
            </p:nvSpPr>
            <p:spPr bwMode="auto">
              <a:xfrm rot="1051335">
                <a:off x="551" y="1191"/>
                <a:ext cx="147" cy="81"/>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endParaRPr>
              </a:p>
            </p:txBody>
          </p:sp>
          <p:sp>
            <p:nvSpPr>
              <p:cNvPr id="38" name="Oval 12"/>
              <p:cNvSpPr>
                <a:spLocks noChangeArrowheads="1"/>
              </p:cNvSpPr>
              <p:nvPr/>
            </p:nvSpPr>
            <p:spPr bwMode="auto">
              <a:xfrm rot="-2008665">
                <a:off x="516" y="1275"/>
                <a:ext cx="178" cy="100"/>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endParaRPr>
              </a:p>
            </p:txBody>
          </p:sp>
          <p:sp>
            <p:nvSpPr>
              <p:cNvPr id="39" name="Oval 13"/>
              <p:cNvSpPr>
                <a:spLocks noChangeArrowheads="1"/>
              </p:cNvSpPr>
              <p:nvPr/>
            </p:nvSpPr>
            <p:spPr bwMode="auto">
              <a:xfrm rot="-448665">
                <a:off x="303" y="1305"/>
                <a:ext cx="288" cy="127"/>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endParaRPr>
              </a:p>
            </p:txBody>
          </p:sp>
          <p:sp>
            <p:nvSpPr>
              <p:cNvPr id="40" name="Oval 14"/>
              <p:cNvSpPr>
                <a:spLocks noChangeArrowheads="1"/>
              </p:cNvSpPr>
              <p:nvPr/>
            </p:nvSpPr>
            <p:spPr bwMode="auto">
              <a:xfrm rot="631335">
                <a:off x="183" y="1329"/>
                <a:ext cx="162"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endParaRPr>
              </a:p>
            </p:txBody>
          </p:sp>
          <p:sp>
            <p:nvSpPr>
              <p:cNvPr id="41" name="Oval 15"/>
              <p:cNvSpPr>
                <a:spLocks noChangeArrowheads="1"/>
              </p:cNvSpPr>
              <p:nvPr/>
            </p:nvSpPr>
            <p:spPr bwMode="auto">
              <a:xfrm rot="-448665">
                <a:off x="130" y="1272"/>
                <a:ext cx="133"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endParaRPr>
              </a:p>
            </p:txBody>
          </p:sp>
          <p:sp>
            <p:nvSpPr>
              <p:cNvPr id="42" name="Oval 16"/>
              <p:cNvSpPr>
                <a:spLocks noChangeArrowheads="1"/>
              </p:cNvSpPr>
              <p:nvPr/>
            </p:nvSpPr>
            <p:spPr bwMode="auto">
              <a:xfrm rot="-2308665">
                <a:off x="143" y="1202"/>
                <a:ext cx="181"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endParaRPr>
              </a:p>
            </p:txBody>
          </p:sp>
          <p:sp>
            <p:nvSpPr>
              <p:cNvPr id="43" name="Freeform 17"/>
              <p:cNvSpPr/>
              <p:nvPr/>
            </p:nvSpPr>
            <p:spPr bwMode="auto">
              <a:xfrm rot="-448665">
                <a:off x="190" y="1173"/>
                <a:ext cx="451" cy="216"/>
              </a:xfrm>
              <a:custGeom>
                <a:avLst/>
                <a:gdLst>
                  <a:gd name="T0" fmla="*/ 66 w 738"/>
                  <a:gd name="T1" fmla="*/ 44 h 407"/>
                  <a:gd name="T2" fmla="*/ 89 w 738"/>
                  <a:gd name="T3" fmla="*/ 41 h 407"/>
                  <a:gd name="T4" fmla="*/ 112 w 738"/>
                  <a:gd name="T5" fmla="*/ 38 h 407"/>
                  <a:gd name="T6" fmla="*/ 131 w 738"/>
                  <a:gd name="T7" fmla="*/ 36 h 407"/>
                  <a:gd name="T8" fmla="*/ 145 w 738"/>
                  <a:gd name="T9" fmla="*/ 24 h 407"/>
                  <a:gd name="T10" fmla="*/ 125 w 738"/>
                  <a:gd name="T11" fmla="*/ 22 h 407"/>
                  <a:gd name="T12" fmla="*/ 105 w 738"/>
                  <a:gd name="T13" fmla="*/ 24 h 407"/>
                  <a:gd name="T14" fmla="*/ 95 w 738"/>
                  <a:gd name="T15" fmla="*/ 24 h 407"/>
                  <a:gd name="T16" fmla="*/ 115 w 738"/>
                  <a:gd name="T17" fmla="*/ 14 h 407"/>
                  <a:gd name="T18" fmla="*/ 138 w 738"/>
                  <a:gd name="T19" fmla="*/ 8 h 407"/>
                  <a:gd name="T20" fmla="*/ 158 w 738"/>
                  <a:gd name="T21" fmla="*/ 5 h 407"/>
                  <a:gd name="T22" fmla="*/ 177 w 738"/>
                  <a:gd name="T23" fmla="*/ 3 h 407"/>
                  <a:gd name="T24" fmla="*/ 197 w 738"/>
                  <a:gd name="T25" fmla="*/ 0 h 407"/>
                  <a:gd name="T26" fmla="*/ 217 w 738"/>
                  <a:gd name="T27" fmla="*/ 0 h 407"/>
                  <a:gd name="T28" fmla="*/ 237 w 738"/>
                  <a:gd name="T29" fmla="*/ 0 h 407"/>
                  <a:gd name="T30" fmla="*/ 283 w 738"/>
                  <a:gd name="T31" fmla="*/ 0 h 407"/>
                  <a:gd name="T32" fmla="*/ 309 w 738"/>
                  <a:gd name="T33" fmla="*/ 0 h 407"/>
                  <a:gd name="T34" fmla="*/ 332 w 738"/>
                  <a:gd name="T35" fmla="*/ 8 h 407"/>
                  <a:gd name="T36" fmla="*/ 348 w 738"/>
                  <a:gd name="T37" fmla="*/ 19 h 407"/>
                  <a:gd name="T38" fmla="*/ 369 w 738"/>
                  <a:gd name="T39" fmla="*/ 27 h 407"/>
                  <a:gd name="T40" fmla="*/ 388 w 738"/>
                  <a:gd name="T41" fmla="*/ 30 h 407"/>
                  <a:gd name="T42" fmla="*/ 408 w 738"/>
                  <a:gd name="T43" fmla="*/ 41 h 407"/>
                  <a:gd name="T44" fmla="*/ 424 w 738"/>
                  <a:gd name="T45" fmla="*/ 52 h 407"/>
                  <a:gd name="T46" fmla="*/ 437 w 738"/>
                  <a:gd name="T47" fmla="*/ 68 h 407"/>
                  <a:gd name="T48" fmla="*/ 441 w 738"/>
                  <a:gd name="T49" fmla="*/ 87 h 407"/>
                  <a:gd name="T50" fmla="*/ 444 w 738"/>
                  <a:gd name="T51" fmla="*/ 103 h 407"/>
                  <a:gd name="T52" fmla="*/ 444 w 738"/>
                  <a:gd name="T53" fmla="*/ 120 h 407"/>
                  <a:gd name="T54" fmla="*/ 444 w 738"/>
                  <a:gd name="T55" fmla="*/ 136 h 407"/>
                  <a:gd name="T56" fmla="*/ 450 w 738"/>
                  <a:gd name="T57" fmla="*/ 153 h 407"/>
                  <a:gd name="T58" fmla="*/ 450 w 738"/>
                  <a:gd name="T59" fmla="*/ 169 h 407"/>
                  <a:gd name="T60" fmla="*/ 437 w 738"/>
                  <a:gd name="T61" fmla="*/ 185 h 407"/>
                  <a:gd name="T62" fmla="*/ 414 w 738"/>
                  <a:gd name="T63" fmla="*/ 194 h 407"/>
                  <a:gd name="T64" fmla="*/ 395 w 738"/>
                  <a:gd name="T65" fmla="*/ 202 h 407"/>
                  <a:gd name="T66" fmla="*/ 375 w 738"/>
                  <a:gd name="T67" fmla="*/ 210 h 407"/>
                  <a:gd name="T68" fmla="*/ 355 w 738"/>
                  <a:gd name="T69" fmla="*/ 213 h 407"/>
                  <a:gd name="T70" fmla="*/ 329 w 738"/>
                  <a:gd name="T71" fmla="*/ 215 h 407"/>
                  <a:gd name="T72" fmla="*/ 306 w 738"/>
                  <a:gd name="T73" fmla="*/ 215 h 407"/>
                  <a:gd name="T74" fmla="*/ 286 w 738"/>
                  <a:gd name="T75" fmla="*/ 215 h 407"/>
                  <a:gd name="T76" fmla="*/ 266 w 738"/>
                  <a:gd name="T77" fmla="*/ 215 h 407"/>
                  <a:gd name="T78" fmla="*/ 246 w 738"/>
                  <a:gd name="T79" fmla="*/ 215 h 407"/>
                  <a:gd name="T80" fmla="*/ 227 w 738"/>
                  <a:gd name="T81" fmla="*/ 215 h 407"/>
                  <a:gd name="T82" fmla="*/ 207 w 738"/>
                  <a:gd name="T83" fmla="*/ 215 h 407"/>
                  <a:gd name="T84" fmla="*/ 188 w 738"/>
                  <a:gd name="T85" fmla="*/ 215 h 407"/>
                  <a:gd name="T86" fmla="*/ 164 w 738"/>
                  <a:gd name="T87" fmla="*/ 215 h 407"/>
                  <a:gd name="T88" fmla="*/ 145 w 738"/>
                  <a:gd name="T89" fmla="*/ 215 h 407"/>
                  <a:gd name="T90" fmla="*/ 125 w 738"/>
                  <a:gd name="T91" fmla="*/ 215 h 407"/>
                  <a:gd name="T92" fmla="*/ 105 w 738"/>
                  <a:gd name="T93" fmla="*/ 208 h 407"/>
                  <a:gd name="T94" fmla="*/ 86 w 738"/>
                  <a:gd name="T95" fmla="*/ 202 h 407"/>
                  <a:gd name="T96" fmla="*/ 66 w 738"/>
                  <a:gd name="T97" fmla="*/ 194 h 407"/>
                  <a:gd name="T98" fmla="*/ 50 w 738"/>
                  <a:gd name="T99" fmla="*/ 180 h 407"/>
                  <a:gd name="T100" fmla="*/ 36 w 738"/>
                  <a:gd name="T101" fmla="*/ 169 h 407"/>
                  <a:gd name="T102" fmla="*/ 23 w 738"/>
                  <a:gd name="T103" fmla="*/ 153 h 407"/>
                  <a:gd name="T104" fmla="*/ 10 w 738"/>
                  <a:gd name="T105" fmla="*/ 134 h 407"/>
                  <a:gd name="T106" fmla="*/ 0 w 738"/>
                  <a:gd name="T107" fmla="*/ 115 h 407"/>
                  <a:gd name="T108" fmla="*/ 0 w 738"/>
                  <a:gd name="T109" fmla="*/ 98 h 407"/>
                  <a:gd name="T110" fmla="*/ 3 w 738"/>
                  <a:gd name="T111" fmla="*/ 79 h 407"/>
                  <a:gd name="T112" fmla="*/ 17 w 738"/>
                  <a:gd name="T113" fmla="*/ 65 h 407"/>
                  <a:gd name="T114" fmla="*/ 33 w 738"/>
                  <a:gd name="T115" fmla="*/ 57 h 407"/>
                  <a:gd name="T116" fmla="*/ 53 w 738"/>
                  <a:gd name="T117" fmla="*/ 52 h 407"/>
                  <a:gd name="T118" fmla="*/ 69 w 738"/>
                  <a:gd name="T119" fmla="*/ 44 h 407"/>
                  <a:gd name="T120" fmla="*/ 79 w 738"/>
                  <a:gd name="T121" fmla="*/ 52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dirty="0"/>
              </a:p>
            </p:txBody>
          </p:sp>
          <p:sp>
            <p:nvSpPr>
              <p:cNvPr id="44" name="Freeform 18"/>
              <p:cNvSpPr/>
              <p:nvPr/>
            </p:nvSpPr>
            <p:spPr bwMode="auto">
              <a:xfrm rot="-448665">
                <a:off x="266" y="1172"/>
                <a:ext cx="72" cy="63"/>
              </a:xfrm>
              <a:custGeom>
                <a:avLst/>
                <a:gdLst>
                  <a:gd name="T0" fmla="*/ 3 w 117"/>
                  <a:gd name="T1" fmla="*/ 35 h 118"/>
                  <a:gd name="T2" fmla="*/ 0 w 117"/>
                  <a:gd name="T3" fmla="*/ 27 h 118"/>
                  <a:gd name="T4" fmla="*/ 0 w 117"/>
                  <a:gd name="T5" fmla="*/ 19 h 118"/>
                  <a:gd name="T6" fmla="*/ 10 w 117"/>
                  <a:gd name="T7" fmla="*/ 13 h 118"/>
                  <a:gd name="T8" fmla="*/ 20 w 117"/>
                  <a:gd name="T9" fmla="*/ 8 h 118"/>
                  <a:gd name="T10" fmla="*/ 29 w 117"/>
                  <a:gd name="T11" fmla="*/ 0 h 118"/>
                  <a:gd name="T12" fmla="*/ 39 w 117"/>
                  <a:gd name="T13" fmla="*/ 0 h 118"/>
                  <a:gd name="T14" fmla="*/ 49 w 117"/>
                  <a:gd name="T15" fmla="*/ 0 h 118"/>
                  <a:gd name="T16" fmla="*/ 52 w 117"/>
                  <a:gd name="T17" fmla="*/ 8 h 118"/>
                  <a:gd name="T18" fmla="*/ 58 w 117"/>
                  <a:gd name="T19" fmla="*/ 17 h 118"/>
                  <a:gd name="T20" fmla="*/ 65 w 117"/>
                  <a:gd name="T21" fmla="*/ 25 h 118"/>
                  <a:gd name="T22" fmla="*/ 68 w 117"/>
                  <a:gd name="T23" fmla="*/ 33 h 118"/>
                  <a:gd name="T24" fmla="*/ 71 w 117"/>
                  <a:gd name="T25" fmla="*/ 41 h 118"/>
                  <a:gd name="T26" fmla="*/ 71 w 117"/>
                  <a:gd name="T27" fmla="*/ 49 h 118"/>
                  <a:gd name="T28" fmla="*/ 71 w 117"/>
                  <a:gd name="T29" fmla="*/ 57 h 118"/>
                  <a:gd name="T30" fmla="*/ 62 w 117"/>
                  <a:gd name="T31" fmla="*/ 62 h 118"/>
                  <a:gd name="T32" fmla="*/ 52 w 117"/>
                  <a:gd name="T33" fmla="*/ 62 h 118"/>
                  <a:gd name="T34" fmla="*/ 42 w 117"/>
                  <a:gd name="T35" fmla="*/ 62 h 118"/>
                  <a:gd name="T36" fmla="*/ 33 w 117"/>
                  <a:gd name="T37" fmla="*/ 62 h 118"/>
                  <a:gd name="T38" fmla="*/ 23 w 117"/>
                  <a:gd name="T39" fmla="*/ 60 h 118"/>
                  <a:gd name="T40" fmla="*/ 13 w 117"/>
                  <a:gd name="T41" fmla="*/ 54 h 118"/>
                  <a:gd name="T42" fmla="*/ 7 w 117"/>
                  <a:gd name="T43" fmla="*/ 46 h 118"/>
                  <a:gd name="T44" fmla="*/ 3 w 117"/>
                  <a:gd name="T45" fmla="*/ 38 h 118"/>
                  <a:gd name="T46" fmla="*/ 3 w 117"/>
                  <a:gd name="T47" fmla="*/ 35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dirty="0"/>
              </a:p>
            </p:txBody>
          </p:sp>
          <p:sp>
            <p:nvSpPr>
              <p:cNvPr id="45" name="Freeform 19"/>
              <p:cNvSpPr/>
              <p:nvPr/>
            </p:nvSpPr>
            <p:spPr bwMode="auto">
              <a:xfrm rot="-448665">
                <a:off x="430" y="1135"/>
                <a:ext cx="50" cy="46"/>
              </a:xfrm>
              <a:custGeom>
                <a:avLst/>
                <a:gdLst>
                  <a:gd name="T0" fmla="*/ 0 w 82"/>
                  <a:gd name="T1" fmla="*/ 0 h 87"/>
                  <a:gd name="T2" fmla="*/ 10 w 82"/>
                  <a:gd name="T3" fmla="*/ 5 h 87"/>
                  <a:gd name="T4" fmla="*/ 20 w 82"/>
                  <a:gd name="T5" fmla="*/ 11 h 87"/>
                  <a:gd name="T6" fmla="*/ 30 w 82"/>
                  <a:gd name="T7" fmla="*/ 11 h 87"/>
                  <a:gd name="T8" fmla="*/ 40 w 82"/>
                  <a:gd name="T9" fmla="*/ 16 h 87"/>
                  <a:gd name="T10" fmla="*/ 46 w 82"/>
                  <a:gd name="T11" fmla="*/ 24 h 87"/>
                  <a:gd name="T12" fmla="*/ 49 w 82"/>
                  <a:gd name="T13" fmla="*/ 32 h 87"/>
                  <a:gd name="T14" fmla="*/ 49 w 82"/>
                  <a:gd name="T15" fmla="*/ 40 h 87"/>
                  <a:gd name="T16" fmla="*/ 40 w 82"/>
                  <a:gd name="T17" fmla="*/ 45 h 87"/>
                  <a:gd name="T18" fmla="*/ 30 w 82"/>
                  <a:gd name="T19" fmla="*/ 45 h 87"/>
                  <a:gd name="T20" fmla="*/ 16 w 82"/>
                  <a:gd name="T21" fmla="*/ 43 h 87"/>
                  <a:gd name="T22" fmla="*/ 7 w 82"/>
                  <a:gd name="T23" fmla="*/ 38 h 87"/>
                  <a:gd name="T24" fmla="*/ 3 w 82"/>
                  <a:gd name="T25" fmla="*/ 30 h 87"/>
                  <a:gd name="T26" fmla="*/ 0 w 82"/>
                  <a:gd name="T27" fmla="*/ 21 h 87"/>
                  <a:gd name="T28" fmla="*/ 0 w 82"/>
                  <a:gd name="T29" fmla="*/ 13 h 87"/>
                  <a:gd name="T30" fmla="*/ 7 w 82"/>
                  <a:gd name="T31" fmla="*/ 5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dirty="0"/>
              </a:p>
            </p:txBody>
          </p:sp>
        </p:grpSp>
      </p:grpSp>
    </p:spTree>
    <p:extLst>
      <p:ext uri="{BB962C8B-B14F-4D97-AF65-F5344CB8AC3E}">
        <p14:creationId xmlns:p14="http://schemas.microsoft.com/office/powerpoint/2010/main" val="1801386876"/>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标题 6">
            <a:extLst>
              <a:ext uri="{FF2B5EF4-FFF2-40B4-BE49-F238E27FC236}">
                <a16:creationId xmlns:a16="http://schemas.microsoft.com/office/drawing/2014/main" id="{44DCAF4E-87CC-409F-1F3F-A4568A7F5BF1}"/>
              </a:ext>
            </a:extLst>
          </p:cNvPr>
          <p:cNvSpPr>
            <a:spLocks noGrp="1"/>
          </p:cNvSpPr>
          <p:nvPr>
            <p:ph type="title"/>
          </p:nvPr>
        </p:nvSpPr>
        <p:spPr>
          <a:xfrm>
            <a:off x="612000" y="144000"/>
            <a:ext cx="7920000" cy="341632"/>
          </a:xfrm>
        </p:spPr>
        <p:txBody>
          <a:bodyPr/>
          <a:lstStyle/>
          <a:p>
            <a:r>
              <a:rPr lang="en-US" altLang="zh-CN" dirty="0"/>
              <a:t>1.3.1  </a:t>
            </a:r>
            <a:r>
              <a:rPr lang="zh-CN" altLang="en-US" dirty="0"/>
              <a:t>互联网的边缘部分</a:t>
            </a:r>
          </a:p>
        </p:txBody>
      </p:sp>
      <p:sp>
        <p:nvSpPr>
          <p:cNvPr id="5" name="内容占位符 4"/>
          <p:cNvSpPr>
            <a:spLocks noGrp="1"/>
          </p:cNvSpPr>
          <p:nvPr>
            <p:ph sz="quarter" idx="10"/>
          </p:nvPr>
        </p:nvSpPr>
        <p:spPr>
          <a:xfrm>
            <a:off x="612000" y="899999"/>
            <a:ext cx="7920000" cy="3780000"/>
          </a:xfrm>
        </p:spPr>
        <p:txBody>
          <a:bodyPr/>
          <a:lstStyle/>
          <a:p>
            <a:r>
              <a:rPr lang="zh-CN" altLang="en-US" dirty="0"/>
              <a:t>处在互联网边缘部分的就是连接在互联网上的所有的主机</a:t>
            </a:r>
            <a:endParaRPr lang="en-US" altLang="zh-CN" dirty="0"/>
          </a:p>
          <a:p>
            <a:r>
              <a:rPr lang="zh-CN" altLang="en-US" dirty="0"/>
              <a:t>这些主机又称为端系统 </a:t>
            </a:r>
            <a:r>
              <a:rPr lang="en-US" altLang="zh-CN" dirty="0"/>
              <a:t>(End system)</a:t>
            </a:r>
          </a:p>
          <a:p>
            <a:r>
              <a:rPr lang="zh-CN" altLang="zh-CN" dirty="0"/>
              <a:t>端系统在功能上可能有很大差别</a:t>
            </a:r>
            <a:r>
              <a:rPr lang="zh-CN" altLang="en-US" dirty="0"/>
              <a:t>：</a:t>
            </a:r>
            <a:endParaRPr lang="en-US" altLang="zh-CN" dirty="0"/>
          </a:p>
          <a:p>
            <a:pPr lvl="1"/>
            <a:r>
              <a:rPr lang="zh-CN" altLang="zh-CN" dirty="0"/>
              <a:t>小的端系统</a:t>
            </a:r>
            <a:r>
              <a:rPr lang="zh-CN" altLang="en-US" dirty="0"/>
              <a:t>：</a:t>
            </a:r>
            <a:r>
              <a:rPr lang="zh-CN" altLang="zh-CN" dirty="0"/>
              <a:t>普通个人电脑</a:t>
            </a:r>
            <a:r>
              <a:rPr lang="zh-CN" altLang="en-US" dirty="0"/>
              <a:t>、</a:t>
            </a:r>
            <a:r>
              <a:rPr lang="zh-CN" altLang="zh-CN" dirty="0"/>
              <a:t>智能手机</a:t>
            </a:r>
            <a:r>
              <a:rPr lang="zh-CN" altLang="en-US" dirty="0"/>
              <a:t>、</a:t>
            </a:r>
            <a:r>
              <a:rPr lang="zh-CN" altLang="zh-CN" dirty="0"/>
              <a:t>网络摄像头</a:t>
            </a:r>
            <a:r>
              <a:rPr lang="zh-CN" altLang="en-US" dirty="0"/>
              <a:t>等</a:t>
            </a:r>
            <a:endParaRPr lang="en-US" altLang="zh-CN" dirty="0"/>
          </a:p>
          <a:p>
            <a:pPr lvl="1"/>
            <a:r>
              <a:rPr lang="zh-CN" altLang="zh-CN" dirty="0"/>
              <a:t>大的端系统</a:t>
            </a:r>
            <a:r>
              <a:rPr lang="zh-CN" altLang="en-US" dirty="0"/>
              <a:t>：</a:t>
            </a:r>
            <a:r>
              <a:rPr lang="zh-CN" altLang="zh-CN" dirty="0"/>
              <a:t>非常昂贵的大型计算机</a:t>
            </a:r>
            <a:r>
              <a:rPr lang="zh-CN" altLang="en-US" dirty="0"/>
              <a:t>或</a:t>
            </a:r>
            <a:r>
              <a:rPr lang="zh-CN" altLang="en-US" dirty="0">
                <a:solidFill>
                  <a:srgbClr val="C00000"/>
                </a:solidFill>
              </a:rPr>
              <a:t>服务器</a:t>
            </a:r>
            <a:r>
              <a:rPr lang="zh-CN" altLang="zh-CN" dirty="0"/>
              <a:t>。</a:t>
            </a:r>
            <a:endParaRPr lang="en-US" altLang="zh-CN" dirty="0"/>
          </a:p>
          <a:p>
            <a:r>
              <a:rPr lang="zh-CN" altLang="zh-CN" dirty="0"/>
              <a:t>端系统的拥有者</a:t>
            </a:r>
            <a:r>
              <a:rPr lang="zh-CN" altLang="en-US" dirty="0"/>
              <a:t>：</a:t>
            </a:r>
            <a:r>
              <a:rPr lang="zh-CN" altLang="zh-CN" dirty="0"/>
              <a:t>可以是个人</a:t>
            </a:r>
            <a:r>
              <a:rPr lang="zh-CN" altLang="en-US" dirty="0"/>
              <a:t>、</a:t>
            </a:r>
            <a:r>
              <a:rPr lang="zh-CN" altLang="zh-CN" dirty="0"/>
              <a:t>单位</a:t>
            </a:r>
            <a:r>
              <a:rPr lang="zh-CN" altLang="en-US" dirty="0"/>
              <a:t>、或</a:t>
            </a:r>
            <a:r>
              <a:rPr lang="zh-CN" altLang="zh-CN" dirty="0"/>
              <a:t>某个</a:t>
            </a:r>
            <a:r>
              <a:rPr lang="en-US" altLang="zh-CN" dirty="0"/>
              <a:t> ISP</a:t>
            </a:r>
            <a:endParaRPr lang="zh-CN" altLang="en-US" dirty="0"/>
          </a:p>
        </p:txBody>
      </p:sp>
    </p:spTree>
    <p:extLst>
      <p:ext uri="{BB962C8B-B14F-4D97-AF65-F5344CB8AC3E}">
        <p14:creationId xmlns:p14="http://schemas.microsoft.com/office/powerpoint/2010/main" val="1054781153"/>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AC01A88-0BF5-8DFD-BDDB-6E9BEA6E7C7B}"/>
              </a:ext>
            </a:extLst>
          </p:cNvPr>
          <p:cNvSpPr>
            <a:spLocks noGrp="1"/>
          </p:cNvSpPr>
          <p:nvPr>
            <p:ph type="title"/>
          </p:nvPr>
        </p:nvSpPr>
        <p:spPr>
          <a:xfrm>
            <a:off x="612000" y="144000"/>
            <a:ext cx="7920000" cy="341632"/>
          </a:xfrm>
        </p:spPr>
        <p:txBody>
          <a:bodyPr/>
          <a:lstStyle/>
          <a:p>
            <a:r>
              <a:rPr lang="en-US" altLang="zh-CN"/>
              <a:t>1.3.1  </a:t>
            </a:r>
            <a:r>
              <a:rPr lang="zh-CN" altLang="en-US"/>
              <a:t>互联网的边缘部分</a:t>
            </a:r>
            <a:endParaRPr lang="zh-CN" altLang="en-US" dirty="0"/>
          </a:p>
        </p:txBody>
      </p:sp>
      <p:sp>
        <p:nvSpPr>
          <p:cNvPr id="6" name="Oval 4"/>
          <p:cNvSpPr>
            <a:spLocks noChangeArrowheads="1"/>
          </p:cNvSpPr>
          <p:nvPr/>
        </p:nvSpPr>
        <p:spPr bwMode="auto">
          <a:xfrm>
            <a:off x="1816197" y="1231262"/>
            <a:ext cx="6299200" cy="3198812"/>
          </a:xfrm>
          <a:prstGeom prst="ellipse">
            <a:avLst/>
          </a:prstGeom>
          <a:solidFill>
            <a:srgbClr val="C5E5FB"/>
          </a:solidFill>
          <a:ln>
            <a:noFill/>
          </a:ln>
          <a:effectLst/>
          <a:scene3d>
            <a:camera prst="orthographicFront">
              <a:rot lat="0" lon="0" rev="0"/>
            </a:camera>
            <a:lightRig rig="contrasting" dir="t">
              <a:rot lat="0" lon="0" rev="7800000"/>
            </a:lightRig>
          </a:scene3d>
          <a:sp3d/>
          <a:extLst>
            <a:ext uri="{91240B29-F687-4F45-9708-019B960494DF}">
              <a14:hiddenLine xmlns:a14="http://schemas.microsoft.com/office/drawing/2010/main" w="9525">
                <a:solidFill>
                  <a:schemeClr val="tx1"/>
                </a:solidFill>
                <a:prstDash val="dash"/>
                <a:round/>
                <a:headEnd/>
                <a:tailEnd/>
              </a14:hiddenLine>
            </a:ext>
          </a:extLst>
        </p:spPr>
        <p:txBody>
          <a:bodyPr wrap="none" anchor="ctr"/>
          <a:lstStyle/>
          <a:p>
            <a:pPr algn="ctr" eaLnBrk="0" fontAlgn="auto" hangingPunct="0">
              <a:spcBef>
                <a:spcPts val="0"/>
              </a:spcBef>
              <a:spcAft>
                <a:spcPts val="0"/>
              </a:spcAft>
              <a:defRPr/>
            </a:pPr>
            <a:endParaRPr lang="zh-CN" altLang="en-US" sz="1400">
              <a:solidFill>
                <a:srgbClr val="368AD6"/>
              </a:solidFill>
              <a:latin typeface="+mn-lt"/>
              <a:ea typeface="+mn-ea"/>
            </a:endParaRPr>
          </a:p>
        </p:txBody>
      </p:sp>
      <p:sp>
        <p:nvSpPr>
          <p:cNvPr id="7" name="Oval 5"/>
          <p:cNvSpPr>
            <a:spLocks noChangeArrowheads="1"/>
          </p:cNvSpPr>
          <p:nvPr/>
        </p:nvSpPr>
        <p:spPr bwMode="auto">
          <a:xfrm>
            <a:off x="2831904" y="1996590"/>
            <a:ext cx="4419558" cy="1703179"/>
          </a:xfrm>
          <a:prstGeom prst="ellipse">
            <a:avLst/>
          </a:prstGeom>
          <a:solidFill>
            <a:schemeClr val="bg1"/>
          </a:solidFill>
          <a:ln>
            <a:noFill/>
          </a:ln>
          <a:extLst>
            <a:ext uri="{91240B29-F687-4F45-9708-019B960494DF}">
              <a14:hiddenLine xmlns:a14="http://schemas.microsoft.com/office/drawing/2010/main" w="9525">
                <a:solidFill>
                  <a:schemeClr val="tx1"/>
                </a:solidFill>
                <a:prstDash val="dash"/>
                <a:round/>
                <a:headEnd/>
                <a:tailEnd/>
              </a14:hiddenLine>
            </a:ext>
          </a:extLst>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8" name="Text Box 78"/>
          <p:cNvSpPr txBox="1">
            <a:spLocks noChangeArrowheads="1"/>
          </p:cNvSpPr>
          <p:nvPr/>
        </p:nvSpPr>
        <p:spPr bwMode="auto">
          <a:xfrm>
            <a:off x="4142075" y="2664631"/>
            <a:ext cx="1826457" cy="338560"/>
          </a:xfrm>
          <a:prstGeom prst="rect">
            <a:avLst/>
          </a:prstGeom>
          <a:noFill/>
        </p:spPr>
        <p:txBody>
          <a:bodyPr wrap="none" rtlCol="0">
            <a:spAutoFit/>
          </a:bodyPr>
          <a:lstStyle>
            <a:defPPr>
              <a:defRPr lang="zh-CN"/>
            </a:defPPr>
            <a:lvl1pPr>
              <a:defRPr sz="1600"/>
            </a:lvl1pPr>
          </a:lstStyle>
          <a:p>
            <a:r>
              <a:rPr lang="zh-CN" altLang="en-US" dirty="0">
                <a:solidFill>
                  <a:srgbClr val="D4237A"/>
                </a:solidFill>
              </a:rPr>
              <a:t>互联网的核心部分</a:t>
            </a:r>
          </a:p>
        </p:txBody>
      </p:sp>
      <p:sp>
        <p:nvSpPr>
          <p:cNvPr id="12" name="Text Box 1523"/>
          <p:cNvSpPr txBox="1">
            <a:spLocks noChangeArrowheads="1"/>
          </p:cNvSpPr>
          <p:nvPr/>
        </p:nvSpPr>
        <p:spPr bwMode="auto">
          <a:xfrm>
            <a:off x="2831904" y="2222335"/>
            <a:ext cx="543739" cy="276999"/>
          </a:xfrm>
          <a:prstGeom prst="rect">
            <a:avLst/>
          </a:prstGeom>
          <a:noFill/>
        </p:spPr>
        <p:txBody>
          <a:bodyPr wrap="none" rtlCol="0">
            <a:spAutoFit/>
          </a:bodyPr>
          <a:lstStyle>
            <a:defPPr>
              <a:defRPr lang="zh-CN"/>
            </a:defPPr>
            <a:lvl1pPr>
              <a:defRPr sz="1600"/>
            </a:lvl1pPr>
          </a:lstStyle>
          <a:p>
            <a:r>
              <a:rPr lang="en-US" altLang="zh-CN" sz="1200" dirty="0"/>
              <a:t>Host</a:t>
            </a:r>
            <a:endParaRPr lang="zh-CN" altLang="en-US" sz="1200" dirty="0"/>
          </a:p>
        </p:txBody>
      </p:sp>
      <p:pic>
        <p:nvPicPr>
          <p:cNvPr id="14" name="Picture 118" descr="jisuanj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762926" y="3790869"/>
            <a:ext cx="411212" cy="41120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5" name="Picture 120" descr="jisuanj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251462" y="2240457"/>
            <a:ext cx="411212" cy="41120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6" name="Picture 121" descr="jisuanj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148879" y="1585388"/>
            <a:ext cx="411212" cy="41120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7" name="Text Box 79"/>
          <p:cNvSpPr txBox="1">
            <a:spLocks noChangeArrowheads="1"/>
          </p:cNvSpPr>
          <p:nvPr/>
        </p:nvSpPr>
        <p:spPr bwMode="auto">
          <a:xfrm>
            <a:off x="765160" y="3126229"/>
            <a:ext cx="800220" cy="338554"/>
          </a:xfrm>
          <a:prstGeom prst="rect">
            <a:avLst/>
          </a:prstGeom>
          <a:noFill/>
        </p:spPr>
        <p:txBody>
          <a:bodyPr wrap="none" rtlCol="0">
            <a:spAutoFit/>
          </a:bodyPr>
          <a:lstStyle>
            <a:defPPr>
              <a:defRPr lang="zh-CN"/>
            </a:defPPr>
            <a:lvl1pPr>
              <a:defRPr sz="1600"/>
            </a:lvl1pPr>
          </a:lstStyle>
          <a:p>
            <a:r>
              <a:rPr lang="zh-CN" altLang="en-US" dirty="0"/>
              <a:t>端系统</a:t>
            </a:r>
          </a:p>
        </p:txBody>
      </p:sp>
      <p:pic>
        <p:nvPicPr>
          <p:cNvPr id="18" name="图片 17"/>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596230" y="3779710"/>
            <a:ext cx="1427543" cy="545087"/>
          </a:xfrm>
          <a:prstGeom prst="rect">
            <a:avLst/>
          </a:prstGeom>
        </p:spPr>
      </p:pic>
      <p:pic>
        <p:nvPicPr>
          <p:cNvPr id="20" name="图片 19"/>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2383457" y="2617899"/>
            <a:ext cx="254205" cy="401323"/>
          </a:xfrm>
          <a:prstGeom prst="rect">
            <a:avLst/>
          </a:prstGeom>
        </p:spPr>
      </p:pic>
      <p:sp>
        <p:nvSpPr>
          <p:cNvPr id="21" name="Text Box 1523"/>
          <p:cNvSpPr txBox="1">
            <a:spLocks noChangeArrowheads="1"/>
          </p:cNvSpPr>
          <p:nvPr/>
        </p:nvSpPr>
        <p:spPr bwMode="auto">
          <a:xfrm>
            <a:off x="2267139" y="2987729"/>
            <a:ext cx="1199367" cy="276999"/>
          </a:xfrm>
          <a:prstGeom prst="rect">
            <a:avLst/>
          </a:prstGeom>
          <a:noFill/>
        </p:spPr>
        <p:txBody>
          <a:bodyPr wrap="none" rtlCol="0">
            <a:spAutoFit/>
          </a:bodyPr>
          <a:lstStyle>
            <a:defPPr>
              <a:defRPr lang="zh-CN"/>
            </a:defPPr>
            <a:lvl1pPr>
              <a:defRPr sz="1600"/>
            </a:lvl1pPr>
          </a:lstStyle>
          <a:p>
            <a:r>
              <a:rPr lang="en-US" altLang="zh-CN" sz="1200" dirty="0"/>
              <a:t>Smart phone</a:t>
            </a:r>
            <a:endParaRPr lang="zh-CN" altLang="en-US" sz="1200" dirty="0"/>
          </a:p>
        </p:txBody>
      </p:sp>
      <p:pic>
        <p:nvPicPr>
          <p:cNvPr id="23" name="图片 22"/>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2524999" y="3249528"/>
            <a:ext cx="350861" cy="467814"/>
          </a:xfrm>
          <a:prstGeom prst="rect">
            <a:avLst/>
          </a:prstGeom>
        </p:spPr>
      </p:pic>
      <p:sp>
        <p:nvSpPr>
          <p:cNvPr id="24" name="Text Box 1523"/>
          <p:cNvSpPr txBox="1">
            <a:spLocks noChangeArrowheads="1"/>
          </p:cNvSpPr>
          <p:nvPr/>
        </p:nvSpPr>
        <p:spPr bwMode="auto">
          <a:xfrm>
            <a:off x="2866823" y="3335509"/>
            <a:ext cx="795411" cy="276999"/>
          </a:xfrm>
          <a:prstGeom prst="rect">
            <a:avLst/>
          </a:prstGeom>
          <a:noFill/>
        </p:spPr>
        <p:txBody>
          <a:bodyPr wrap="none" rtlCol="0">
            <a:spAutoFit/>
          </a:bodyPr>
          <a:lstStyle>
            <a:defPPr>
              <a:defRPr lang="zh-CN"/>
            </a:defPPr>
            <a:lvl1pPr>
              <a:defRPr sz="1600"/>
            </a:lvl1pPr>
          </a:lstStyle>
          <a:p>
            <a:r>
              <a:rPr lang="en-US" altLang="zh-CN" sz="1200" dirty="0"/>
              <a:t>Camera</a:t>
            </a:r>
            <a:endParaRPr lang="zh-CN" altLang="en-US" sz="1200" dirty="0"/>
          </a:p>
        </p:txBody>
      </p:sp>
      <p:sp>
        <p:nvSpPr>
          <p:cNvPr id="25" name="Text Box 1523"/>
          <p:cNvSpPr txBox="1">
            <a:spLocks noChangeArrowheads="1"/>
          </p:cNvSpPr>
          <p:nvPr/>
        </p:nvSpPr>
        <p:spPr bwMode="auto">
          <a:xfrm>
            <a:off x="3680179" y="3570056"/>
            <a:ext cx="1544012" cy="276999"/>
          </a:xfrm>
          <a:prstGeom prst="rect">
            <a:avLst/>
          </a:prstGeom>
          <a:noFill/>
        </p:spPr>
        <p:txBody>
          <a:bodyPr wrap="none" rtlCol="0">
            <a:spAutoFit/>
          </a:bodyPr>
          <a:lstStyle>
            <a:defPPr>
              <a:defRPr lang="zh-CN"/>
            </a:defPPr>
            <a:lvl1pPr>
              <a:defRPr sz="1600"/>
            </a:lvl1pPr>
          </a:lstStyle>
          <a:p>
            <a:r>
              <a:rPr lang="en-US" altLang="zh-CN" sz="1200" dirty="0"/>
              <a:t>Cluster computer</a:t>
            </a:r>
            <a:endParaRPr lang="zh-CN" altLang="en-US" sz="1200" dirty="0"/>
          </a:p>
        </p:txBody>
      </p:sp>
      <p:cxnSp>
        <p:nvCxnSpPr>
          <p:cNvPr id="26" name="直接箭头连接符 25"/>
          <p:cNvCxnSpPr>
            <a:cxnSpLocks/>
            <a:stCxn id="17" idx="3"/>
          </p:cNvCxnSpPr>
          <p:nvPr/>
        </p:nvCxnSpPr>
        <p:spPr>
          <a:xfrm flipV="1">
            <a:off x="1565380" y="2159392"/>
            <a:ext cx="906517" cy="1136114"/>
          </a:xfrm>
          <a:prstGeom prst="straightConnector1">
            <a:avLst/>
          </a:prstGeom>
          <a:ln w="19050">
            <a:solidFill>
              <a:srgbClr val="0070C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7" name="直接箭头连接符 26"/>
          <p:cNvCxnSpPr>
            <a:cxnSpLocks/>
            <a:stCxn id="17" idx="3"/>
          </p:cNvCxnSpPr>
          <p:nvPr/>
        </p:nvCxnSpPr>
        <p:spPr>
          <a:xfrm flipV="1">
            <a:off x="1565380" y="2921268"/>
            <a:ext cx="714186" cy="374238"/>
          </a:xfrm>
          <a:prstGeom prst="straightConnector1">
            <a:avLst/>
          </a:prstGeom>
          <a:ln w="19050">
            <a:solidFill>
              <a:srgbClr val="0070C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8" name="直接箭头连接符 27"/>
          <p:cNvCxnSpPr>
            <a:cxnSpLocks/>
            <a:stCxn id="17" idx="3"/>
          </p:cNvCxnSpPr>
          <p:nvPr/>
        </p:nvCxnSpPr>
        <p:spPr>
          <a:xfrm>
            <a:off x="1565380" y="3295506"/>
            <a:ext cx="750808" cy="84161"/>
          </a:xfrm>
          <a:prstGeom prst="straightConnector1">
            <a:avLst/>
          </a:prstGeom>
          <a:ln w="19050">
            <a:solidFill>
              <a:srgbClr val="0070C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9" name="直接箭头连接符 28"/>
          <p:cNvCxnSpPr>
            <a:cxnSpLocks/>
            <a:stCxn id="17" idx="3"/>
          </p:cNvCxnSpPr>
          <p:nvPr/>
        </p:nvCxnSpPr>
        <p:spPr>
          <a:xfrm>
            <a:off x="1565380" y="3295506"/>
            <a:ext cx="1998959" cy="820137"/>
          </a:xfrm>
          <a:prstGeom prst="straightConnector1">
            <a:avLst/>
          </a:prstGeom>
          <a:ln w="19050">
            <a:solidFill>
              <a:srgbClr val="0070C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pic>
        <p:nvPicPr>
          <p:cNvPr id="30" name="图片 39"/>
          <p:cNvPicPr>
            <a:picLocks noChangeAspect="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7061984" y="3356572"/>
            <a:ext cx="368623" cy="5170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1" name="Text Box 1523"/>
          <p:cNvSpPr txBox="1">
            <a:spLocks noChangeArrowheads="1"/>
          </p:cNvSpPr>
          <p:nvPr/>
        </p:nvSpPr>
        <p:spPr bwMode="auto">
          <a:xfrm>
            <a:off x="6964089" y="3088127"/>
            <a:ext cx="651140" cy="276999"/>
          </a:xfrm>
          <a:prstGeom prst="rect">
            <a:avLst/>
          </a:prstGeom>
          <a:noFill/>
        </p:spPr>
        <p:txBody>
          <a:bodyPr wrap="none" rtlCol="0">
            <a:spAutoFit/>
          </a:bodyPr>
          <a:lstStyle>
            <a:defPPr>
              <a:defRPr lang="zh-CN"/>
            </a:defPPr>
            <a:lvl1pPr>
              <a:defRPr sz="1200"/>
            </a:lvl1pPr>
          </a:lstStyle>
          <a:p>
            <a:r>
              <a:rPr lang="en-US" altLang="zh-CN" dirty="0"/>
              <a:t>server</a:t>
            </a:r>
            <a:endParaRPr lang="zh-CN" altLang="en-US" dirty="0"/>
          </a:p>
        </p:txBody>
      </p:sp>
      <p:sp>
        <p:nvSpPr>
          <p:cNvPr id="4" name="文本框 3">
            <a:extLst>
              <a:ext uri="{FF2B5EF4-FFF2-40B4-BE49-F238E27FC236}">
                <a16:creationId xmlns:a16="http://schemas.microsoft.com/office/drawing/2014/main" id="{99DCC474-7C6F-5D7F-0DA9-A5A8C59754DE}"/>
              </a:ext>
            </a:extLst>
          </p:cNvPr>
          <p:cNvSpPr txBox="1"/>
          <p:nvPr/>
        </p:nvSpPr>
        <p:spPr>
          <a:xfrm>
            <a:off x="4110702" y="1531841"/>
            <a:ext cx="1826141" cy="338554"/>
          </a:xfrm>
          <a:prstGeom prst="rect">
            <a:avLst/>
          </a:prstGeom>
          <a:noFill/>
        </p:spPr>
        <p:txBody>
          <a:bodyPr wrap="none" rtlCol="0">
            <a:spAutoFit/>
          </a:bodyPr>
          <a:lstStyle/>
          <a:p>
            <a:pPr algn="l"/>
            <a:r>
              <a:rPr lang="zh-CN" altLang="en-US" sz="1600" dirty="0"/>
              <a:t>互联网的边缘部分</a:t>
            </a:r>
          </a:p>
        </p:txBody>
      </p:sp>
      <p:pic>
        <p:nvPicPr>
          <p:cNvPr id="52" name="Picture 121" descr="jisuanji">
            <a:extLst>
              <a:ext uri="{FF2B5EF4-FFF2-40B4-BE49-F238E27FC236}">
                <a16:creationId xmlns:a16="http://schemas.microsoft.com/office/drawing/2014/main" id="{BED9DCCD-71E4-BE6B-2DB6-57522FA1026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548823" y="1966197"/>
            <a:ext cx="411212" cy="41120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2706189894"/>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826EC129-A34E-1605-4612-C7EBE5017EBF}"/>
              </a:ext>
            </a:extLst>
          </p:cNvPr>
          <p:cNvSpPr>
            <a:spLocks noGrp="1"/>
          </p:cNvSpPr>
          <p:nvPr>
            <p:ph type="title"/>
          </p:nvPr>
        </p:nvSpPr>
        <p:spPr>
          <a:xfrm>
            <a:off x="612000" y="144000"/>
            <a:ext cx="7920000" cy="341632"/>
          </a:xfrm>
        </p:spPr>
        <p:txBody>
          <a:bodyPr/>
          <a:lstStyle/>
          <a:p>
            <a:r>
              <a:rPr lang="zh-CN" altLang="en-US" dirty="0"/>
              <a:t>计算机之间的通信</a:t>
            </a:r>
          </a:p>
        </p:txBody>
      </p:sp>
      <p:sp>
        <p:nvSpPr>
          <p:cNvPr id="9" name="内容占位符 8">
            <a:extLst>
              <a:ext uri="{FF2B5EF4-FFF2-40B4-BE49-F238E27FC236}">
                <a16:creationId xmlns:a16="http://schemas.microsoft.com/office/drawing/2014/main" id="{79AD1C3D-5EA6-BBCA-A89B-C7B7D9AAAACC}"/>
              </a:ext>
            </a:extLst>
          </p:cNvPr>
          <p:cNvSpPr>
            <a:spLocks noGrp="1"/>
          </p:cNvSpPr>
          <p:nvPr>
            <p:ph sz="quarter" idx="10"/>
          </p:nvPr>
        </p:nvSpPr>
        <p:spPr>
          <a:xfrm>
            <a:off x="612000" y="899999"/>
            <a:ext cx="7920000" cy="3780000"/>
          </a:xfrm>
        </p:spPr>
        <p:txBody>
          <a:bodyPr/>
          <a:lstStyle/>
          <a:p>
            <a:r>
              <a:rPr lang="zh-CN" altLang="en-US" dirty="0"/>
              <a:t>主机 </a:t>
            </a:r>
            <a:r>
              <a:rPr lang="en-US" altLang="zh-CN" dirty="0"/>
              <a:t>A </a:t>
            </a:r>
            <a:r>
              <a:rPr lang="zh-CN" altLang="en-US" dirty="0"/>
              <a:t>的某个进程和主机 </a:t>
            </a:r>
            <a:r>
              <a:rPr lang="en-US" altLang="zh-CN" dirty="0"/>
              <a:t>B </a:t>
            </a:r>
            <a:r>
              <a:rPr lang="zh-CN" altLang="en-US" dirty="0"/>
              <a:t>上的另一个进程进行通信</a:t>
            </a:r>
            <a:endParaRPr lang="en-US" altLang="zh-CN" dirty="0"/>
          </a:p>
          <a:p>
            <a:r>
              <a:rPr lang="zh-CN" altLang="en-US" dirty="0"/>
              <a:t>客户</a:t>
            </a:r>
            <a:r>
              <a:rPr lang="en-US" altLang="zh-CN" dirty="0"/>
              <a:t>/</a:t>
            </a:r>
            <a:r>
              <a:rPr lang="zh-CN" altLang="en-US" dirty="0"/>
              <a:t>服务器方式</a:t>
            </a:r>
            <a:endParaRPr lang="en-US" altLang="zh-CN" dirty="0"/>
          </a:p>
          <a:p>
            <a:pPr lvl="1"/>
            <a:r>
              <a:rPr lang="en-US" altLang="en-US" dirty="0"/>
              <a:t>Client / Server </a:t>
            </a:r>
            <a:r>
              <a:rPr lang="zh-CN" altLang="en-US" dirty="0"/>
              <a:t>方式</a:t>
            </a:r>
          </a:p>
          <a:p>
            <a:pPr lvl="1"/>
            <a:r>
              <a:rPr lang="zh-CN" altLang="en-US" dirty="0"/>
              <a:t>简称为 </a:t>
            </a:r>
            <a:r>
              <a:rPr lang="en-US" altLang="en-US" dirty="0"/>
              <a:t>C/S </a:t>
            </a:r>
            <a:r>
              <a:rPr lang="zh-CN" altLang="en-US" dirty="0"/>
              <a:t>方式</a:t>
            </a:r>
            <a:endParaRPr lang="en-US" altLang="zh-CN" dirty="0"/>
          </a:p>
          <a:p>
            <a:r>
              <a:rPr lang="zh-CN" altLang="en-US" dirty="0"/>
              <a:t>对等方式</a:t>
            </a:r>
            <a:endParaRPr lang="en-US" altLang="zh-CN" dirty="0"/>
          </a:p>
          <a:p>
            <a:pPr lvl="1"/>
            <a:r>
              <a:rPr lang="en-US" altLang="en-US" dirty="0"/>
              <a:t>Peer to Peer </a:t>
            </a:r>
            <a:r>
              <a:rPr lang="zh-CN" altLang="en-US" dirty="0"/>
              <a:t>方式</a:t>
            </a:r>
          </a:p>
          <a:p>
            <a:pPr lvl="1"/>
            <a:r>
              <a:rPr lang="zh-CN" altLang="en-US" dirty="0"/>
              <a:t>简称为 </a:t>
            </a:r>
            <a:r>
              <a:rPr lang="en-US" altLang="en-US" dirty="0"/>
              <a:t>P2P </a:t>
            </a:r>
            <a:r>
              <a:rPr lang="zh-CN" altLang="en-US" dirty="0"/>
              <a:t>方式</a:t>
            </a:r>
          </a:p>
          <a:p>
            <a:endParaRPr lang="zh-CN" altLang="en-US" dirty="0"/>
          </a:p>
        </p:txBody>
      </p:sp>
    </p:spTree>
    <p:extLst>
      <p:ext uri="{BB962C8B-B14F-4D97-AF65-F5344CB8AC3E}">
        <p14:creationId xmlns:p14="http://schemas.microsoft.com/office/powerpoint/2010/main" val="903927305"/>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 name="标题 48">
            <a:extLst>
              <a:ext uri="{FF2B5EF4-FFF2-40B4-BE49-F238E27FC236}">
                <a16:creationId xmlns:a16="http://schemas.microsoft.com/office/drawing/2014/main" id="{7473853B-CCA5-A640-1482-936A2880FD96}"/>
              </a:ext>
            </a:extLst>
          </p:cNvPr>
          <p:cNvSpPr>
            <a:spLocks noGrp="1"/>
          </p:cNvSpPr>
          <p:nvPr>
            <p:ph type="title"/>
          </p:nvPr>
        </p:nvSpPr>
        <p:spPr>
          <a:xfrm>
            <a:off x="612000" y="144000"/>
            <a:ext cx="7920000" cy="341632"/>
          </a:xfrm>
        </p:spPr>
        <p:txBody>
          <a:bodyPr/>
          <a:lstStyle/>
          <a:p>
            <a:r>
              <a:rPr lang="en-US" altLang="zh-CN" dirty="0"/>
              <a:t>1.  </a:t>
            </a:r>
            <a:r>
              <a:rPr lang="zh-CN" altLang="en-US" dirty="0"/>
              <a:t>客户</a:t>
            </a:r>
            <a:r>
              <a:rPr lang="en-US" altLang="zh-CN" dirty="0"/>
              <a:t>-</a:t>
            </a:r>
            <a:r>
              <a:rPr lang="zh-CN" altLang="en-US" dirty="0"/>
              <a:t>服务器方式（</a:t>
            </a:r>
            <a:r>
              <a:rPr lang="en-US" altLang="zh-CN" dirty="0"/>
              <a:t>C/S </a:t>
            </a:r>
            <a:r>
              <a:rPr lang="zh-CN" altLang="en-US" dirty="0"/>
              <a:t>方式）</a:t>
            </a:r>
          </a:p>
        </p:txBody>
      </p:sp>
      <p:sp>
        <p:nvSpPr>
          <p:cNvPr id="3" name="内容占位符 2"/>
          <p:cNvSpPr>
            <a:spLocks noGrp="1"/>
          </p:cNvSpPr>
          <p:nvPr>
            <p:ph sz="quarter" idx="10"/>
          </p:nvPr>
        </p:nvSpPr>
        <p:spPr>
          <a:xfrm>
            <a:off x="612000" y="899999"/>
            <a:ext cx="7920000" cy="3780000"/>
          </a:xfrm>
        </p:spPr>
        <p:txBody>
          <a:bodyPr/>
          <a:lstStyle/>
          <a:p>
            <a:r>
              <a:rPr lang="zh-CN" altLang="en-US" dirty="0"/>
              <a:t>客户</a:t>
            </a:r>
            <a:r>
              <a:rPr lang="en-US" altLang="zh-CN" dirty="0"/>
              <a:t>/</a:t>
            </a:r>
            <a:r>
              <a:rPr lang="zh-CN" altLang="en-US" dirty="0"/>
              <a:t>服务器方式所描述的是进程之间服务和被服务的关系</a:t>
            </a:r>
          </a:p>
          <a:p>
            <a:r>
              <a:rPr lang="zh-CN" altLang="en-US" dirty="0"/>
              <a:t>客户是服务的请求方，服务器是服务的提供方</a:t>
            </a:r>
            <a:endParaRPr lang="en-US" altLang="zh-CN" dirty="0"/>
          </a:p>
          <a:p>
            <a:r>
              <a:rPr lang="zh-CN" altLang="zh-CN" dirty="0"/>
              <a:t>通信可以是双向的，客户和服务器都可发送和接收数据</a:t>
            </a:r>
            <a:endParaRPr lang="zh-CN" altLang="en-US" dirty="0"/>
          </a:p>
          <a:p>
            <a:endParaRPr lang="zh-CN" altLang="en-US" dirty="0"/>
          </a:p>
        </p:txBody>
      </p:sp>
      <p:sp>
        <p:nvSpPr>
          <p:cNvPr id="5" name="Oval 4"/>
          <p:cNvSpPr>
            <a:spLocks noChangeArrowheads="1"/>
          </p:cNvSpPr>
          <p:nvPr/>
        </p:nvSpPr>
        <p:spPr bwMode="auto">
          <a:xfrm>
            <a:off x="2451917" y="2067071"/>
            <a:ext cx="4240165" cy="2730500"/>
          </a:xfrm>
          <a:prstGeom prst="ellipse">
            <a:avLst/>
          </a:prstGeom>
          <a:solidFill>
            <a:srgbClr val="F2F2F2"/>
          </a:solidFill>
          <a:ln>
            <a:noFill/>
          </a:ln>
          <a:effectLst/>
          <a:scene3d>
            <a:camera prst="orthographicFront">
              <a:rot lat="0" lon="0" rev="0"/>
            </a:camera>
            <a:lightRig rig="contrasting" dir="t">
              <a:rot lat="0" lon="0" rev="7800000"/>
            </a:lightRig>
          </a:scene3d>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sz="1050"/>
          </a:p>
        </p:txBody>
      </p:sp>
      <p:sp>
        <p:nvSpPr>
          <p:cNvPr id="7" name="Line 6"/>
          <p:cNvSpPr>
            <a:spLocks noChangeShapeType="1"/>
          </p:cNvSpPr>
          <p:nvPr/>
        </p:nvSpPr>
        <p:spPr bwMode="auto">
          <a:xfrm flipH="1" flipV="1">
            <a:off x="2947331" y="3328926"/>
            <a:ext cx="599424" cy="66880"/>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50" dirty="0">
              <a:latin typeface="Times New Roman" panose="02020603050405020304" pitchFamily="18" charset="0"/>
              <a:ea typeface="微软雅黑 Light" panose="020B0502040204020203" pitchFamily="34" charset="-122"/>
            </a:endParaRPr>
          </a:p>
        </p:txBody>
      </p:sp>
      <p:sp>
        <p:nvSpPr>
          <p:cNvPr id="8" name="Line 7"/>
          <p:cNvSpPr>
            <a:spLocks noChangeShapeType="1"/>
          </p:cNvSpPr>
          <p:nvPr/>
        </p:nvSpPr>
        <p:spPr bwMode="auto">
          <a:xfrm flipH="1">
            <a:off x="5350693" y="3522809"/>
            <a:ext cx="576263" cy="0"/>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50" dirty="0">
              <a:latin typeface="Times New Roman" panose="02020603050405020304" pitchFamily="18" charset="0"/>
              <a:ea typeface="微软雅黑 Light" panose="020B0502040204020203" pitchFamily="34" charset="-122"/>
            </a:endParaRPr>
          </a:p>
        </p:txBody>
      </p:sp>
      <p:sp>
        <p:nvSpPr>
          <p:cNvPr id="9" name="Line 8"/>
          <p:cNvSpPr>
            <a:spLocks noChangeShapeType="1"/>
          </p:cNvSpPr>
          <p:nvPr/>
        </p:nvSpPr>
        <p:spPr bwMode="auto">
          <a:xfrm flipH="1">
            <a:off x="4926831" y="2317896"/>
            <a:ext cx="503237" cy="722313"/>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50" dirty="0">
              <a:latin typeface="Times New Roman" panose="02020603050405020304" pitchFamily="18" charset="0"/>
              <a:ea typeface="微软雅黑 Light" panose="020B0502040204020203" pitchFamily="34" charset="-122"/>
            </a:endParaRPr>
          </a:p>
        </p:txBody>
      </p:sp>
      <p:sp>
        <p:nvSpPr>
          <p:cNvPr id="10" name="Line 9"/>
          <p:cNvSpPr>
            <a:spLocks noChangeShapeType="1"/>
          </p:cNvSpPr>
          <p:nvPr/>
        </p:nvSpPr>
        <p:spPr bwMode="auto">
          <a:xfrm flipH="1" flipV="1">
            <a:off x="4866506" y="3795859"/>
            <a:ext cx="320675" cy="368300"/>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50" dirty="0">
              <a:latin typeface="Times New Roman" panose="02020603050405020304" pitchFamily="18" charset="0"/>
              <a:ea typeface="微软雅黑 Light" panose="020B0502040204020203" pitchFamily="34" charset="-122"/>
            </a:endParaRPr>
          </a:p>
        </p:txBody>
      </p:sp>
      <p:sp>
        <p:nvSpPr>
          <p:cNvPr id="11" name="Line 10"/>
          <p:cNvSpPr>
            <a:spLocks noChangeShapeType="1"/>
          </p:cNvSpPr>
          <p:nvPr/>
        </p:nvSpPr>
        <p:spPr bwMode="auto">
          <a:xfrm>
            <a:off x="3725093" y="2411559"/>
            <a:ext cx="320675" cy="530225"/>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50" dirty="0">
              <a:latin typeface="Times New Roman" panose="02020603050405020304" pitchFamily="18" charset="0"/>
              <a:ea typeface="微软雅黑 Light" panose="020B0502040204020203" pitchFamily="34" charset="-122"/>
            </a:endParaRPr>
          </a:p>
        </p:txBody>
      </p:sp>
      <p:sp>
        <p:nvSpPr>
          <p:cNvPr id="12" name="Line 11"/>
          <p:cNvSpPr>
            <a:spLocks noChangeShapeType="1"/>
          </p:cNvSpPr>
          <p:nvPr/>
        </p:nvSpPr>
        <p:spPr bwMode="auto">
          <a:xfrm flipV="1">
            <a:off x="3910831" y="3737121"/>
            <a:ext cx="166687" cy="460375"/>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50" dirty="0">
              <a:latin typeface="Times New Roman" panose="02020603050405020304" pitchFamily="18" charset="0"/>
              <a:ea typeface="微软雅黑 Light" panose="020B0502040204020203" pitchFamily="34" charset="-122"/>
            </a:endParaRPr>
          </a:p>
        </p:txBody>
      </p:sp>
      <p:sp>
        <p:nvSpPr>
          <p:cNvPr id="13" name="Text Box 16"/>
          <p:cNvSpPr txBox="1">
            <a:spLocks noChangeArrowheads="1"/>
          </p:cNvSpPr>
          <p:nvPr/>
        </p:nvSpPr>
        <p:spPr bwMode="auto">
          <a:xfrm>
            <a:off x="2379863" y="2478397"/>
            <a:ext cx="1194951"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defPPr>
              <a:defRPr lang="zh-CN"/>
            </a:defPPr>
            <a:lvl1pPr>
              <a:defRPr sz="1400"/>
            </a:lvl1pPr>
          </a:lstStyle>
          <a:p>
            <a:r>
              <a:rPr lang="en-US" altLang="zh-CN" sz="800" dirty="0"/>
              <a:t>Client</a:t>
            </a:r>
            <a:endParaRPr lang="zh-CN" altLang="en-US" sz="800" dirty="0"/>
          </a:p>
          <a:p>
            <a:r>
              <a:rPr lang="zh-CN" altLang="en-US" sz="800" dirty="0"/>
              <a:t>运行客户程序</a:t>
            </a:r>
          </a:p>
        </p:txBody>
      </p:sp>
      <p:grpSp>
        <p:nvGrpSpPr>
          <p:cNvPr id="14" name="Group 18"/>
          <p:cNvGrpSpPr/>
          <p:nvPr/>
        </p:nvGrpSpPr>
        <p:grpSpPr bwMode="auto">
          <a:xfrm>
            <a:off x="3350900" y="2518162"/>
            <a:ext cx="2307127" cy="1602670"/>
            <a:chOff x="1680" y="240"/>
            <a:chExt cx="2529" cy="1270"/>
          </a:xfrm>
          <a:solidFill>
            <a:schemeClr val="bg1"/>
          </a:solidFill>
        </p:grpSpPr>
        <p:sp>
          <p:nvSpPr>
            <p:cNvPr id="15" name="Oval 19"/>
            <p:cNvSpPr>
              <a:spLocks noChangeArrowheads="1"/>
            </p:cNvSpPr>
            <p:nvPr/>
          </p:nvSpPr>
          <p:spPr bwMode="auto">
            <a:xfrm>
              <a:off x="2554" y="240"/>
              <a:ext cx="1088" cy="513"/>
            </a:xfrm>
            <a:prstGeom prst="ellipse">
              <a:avLst/>
            </a:prstGeom>
            <a:grp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000" b="1" dirty="0">
                <a:solidFill>
                  <a:srgbClr val="368AD6"/>
                </a:solidFill>
                <a:latin typeface="+mn-lt"/>
                <a:ea typeface="微软雅黑 Light" panose="020B0502040204020203" pitchFamily="34" charset="-122"/>
              </a:endParaRPr>
            </a:p>
          </p:txBody>
        </p:sp>
        <p:sp>
          <p:nvSpPr>
            <p:cNvPr id="16" name="Oval 20"/>
            <p:cNvSpPr>
              <a:spLocks noChangeArrowheads="1"/>
            </p:cNvSpPr>
            <p:nvPr/>
          </p:nvSpPr>
          <p:spPr bwMode="auto">
            <a:xfrm>
              <a:off x="1941" y="381"/>
              <a:ext cx="827" cy="513"/>
            </a:xfrm>
            <a:prstGeom prst="ellipse">
              <a:avLst/>
            </a:prstGeom>
            <a:grp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000" b="1" dirty="0">
                <a:solidFill>
                  <a:srgbClr val="368AD6"/>
                </a:solidFill>
                <a:latin typeface="+mn-lt"/>
                <a:ea typeface="微软雅黑 Light" panose="020B0502040204020203" pitchFamily="34" charset="-122"/>
              </a:endParaRPr>
            </a:p>
          </p:txBody>
        </p:sp>
        <p:sp>
          <p:nvSpPr>
            <p:cNvPr id="17" name="Oval 21"/>
            <p:cNvSpPr>
              <a:spLocks noChangeArrowheads="1"/>
            </p:cNvSpPr>
            <p:nvPr/>
          </p:nvSpPr>
          <p:spPr bwMode="auto">
            <a:xfrm>
              <a:off x="1680" y="702"/>
              <a:ext cx="552" cy="411"/>
            </a:xfrm>
            <a:prstGeom prst="ellipse">
              <a:avLst/>
            </a:prstGeom>
            <a:grp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000" b="1" dirty="0">
                <a:solidFill>
                  <a:srgbClr val="368AD6"/>
                </a:solidFill>
                <a:latin typeface="+mn-lt"/>
                <a:ea typeface="微软雅黑 Light" panose="020B0502040204020203" pitchFamily="34" charset="-122"/>
              </a:endParaRPr>
            </a:p>
          </p:txBody>
        </p:sp>
        <p:sp>
          <p:nvSpPr>
            <p:cNvPr id="18" name="Oval 22"/>
            <p:cNvSpPr>
              <a:spLocks noChangeArrowheads="1"/>
            </p:cNvSpPr>
            <p:nvPr/>
          </p:nvSpPr>
          <p:spPr bwMode="auto">
            <a:xfrm>
              <a:off x="1849" y="894"/>
              <a:ext cx="842" cy="450"/>
            </a:xfrm>
            <a:prstGeom prst="ellipse">
              <a:avLst/>
            </a:prstGeom>
            <a:grp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000" b="1" dirty="0">
                <a:solidFill>
                  <a:srgbClr val="368AD6"/>
                </a:solidFill>
                <a:latin typeface="+mn-lt"/>
                <a:ea typeface="微软雅黑 Light" panose="020B0502040204020203" pitchFamily="34" charset="-122"/>
              </a:endParaRPr>
            </a:p>
          </p:txBody>
        </p:sp>
        <p:sp>
          <p:nvSpPr>
            <p:cNvPr id="19" name="Oval 23"/>
            <p:cNvSpPr>
              <a:spLocks noChangeArrowheads="1"/>
            </p:cNvSpPr>
            <p:nvPr/>
          </p:nvSpPr>
          <p:spPr bwMode="auto">
            <a:xfrm>
              <a:off x="2462" y="971"/>
              <a:ext cx="1272" cy="539"/>
            </a:xfrm>
            <a:prstGeom prst="ellipse">
              <a:avLst/>
            </a:prstGeom>
            <a:grp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000" b="1" dirty="0">
                <a:solidFill>
                  <a:srgbClr val="368AD6"/>
                </a:solidFill>
                <a:latin typeface="+mn-lt"/>
                <a:ea typeface="微软雅黑 Light" panose="020B0502040204020203" pitchFamily="34" charset="-122"/>
              </a:endParaRPr>
            </a:p>
          </p:txBody>
        </p:sp>
        <p:sp>
          <p:nvSpPr>
            <p:cNvPr id="20" name="Oval 24"/>
            <p:cNvSpPr>
              <a:spLocks noChangeArrowheads="1"/>
            </p:cNvSpPr>
            <p:nvPr/>
          </p:nvSpPr>
          <p:spPr bwMode="auto">
            <a:xfrm>
              <a:off x="3289" y="394"/>
              <a:ext cx="797" cy="398"/>
            </a:xfrm>
            <a:prstGeom prst="ellipse">
              <a:avLst/>
            </a:prstGeom>
            <a:grp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000" b="1" dirty="0">
                <a:solidFill>
                  <a:srgbClr val="368AD6"/>
                </a:solidFill>
                <a:latin typeface="+mn-lt"/>
                <a:ea typeface="微软雅黑 Light" panose="020B0502040204020203" pitchFamily="34" charset="-122"/>
              </a:endParaRPr>
            </a:p>
          </p:txBody>
        </p:sp>
        <p:sp>
          <p:nvSpPr>
            <p:cNvPr id="21" name="Oval 25"/>
            <p:cNvSpPr>
              <a:spLocks noChangeArrowheads="1"/>
            </p:cNvSpPr>
            <p:nvPr/>
          </p:nvSpPr>
          <p:spPr bwMode="auto">
            <a:xfrm>
              <a:off x="3412" y="663"/>
              <a:ext cx="797" cy="398"/>
            </a:xfrm>
            <a:prstGeom prst="ellipse">
              <a:avLst/>
            </a:prstGeom>
            <a:grp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000" b="1" dirty="0">
                <a:solidFill>
                  <a:srgbClr val="368AD6"/>
                </a:solidFill>
                <a:latin typeface="+mn-lt"/>
                <a:ea typeface="微软雅黑 Light" panose="020B0502040204020203" pitchFamily="34" charset="-122"/>
              </a:endParaRPr>
            </a:p>
          </p:txBody>
        </p:sp>
        <p:sp>
          <p:nvSpPr>
            <p:cNvPr id="22" name="Oval 26"/>
            <p:cNvSpPr>
              <a:spLocks noChangeArrowheads="1"/>
            </p:cNvSpPr>
            <p:nvPr/>
          </p:nvSpPr>
          <p:spPr bwMode="auto">
            <a:xfrm>
              <a:off x="3335" y="753"/>
              <a:ext cx="797" cy="668"/>
            </a:xfrm>
            <a:prstGeom prst="ellipse">
              <a:avLst/>
            </a:prstGeom>
            <a:grp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000" b="1" dirty="0">
                <a:solidFill>
                  <a:srgbClr val="368AD6"/>
                </a:solidFill>
                <a:latin typeface="+mn-lt"/>
                <a:ea typeface="微软雅黑 Light" panose="020B0502040204020203" pitchFamily="34" charset="-122"/>
              </a:endParaRPr>
            </a:p>
          </p:txBody>
        </p:sp>
        <p:sp>
          <p:nvSpPr>
            <p:cNvPr id="23" name="Oval 27"/>
            <p:cNvSpPr>
              <a:spLocks noChangeArrowheads="1"/>
            </p:cNvSpPr>
            <p:nvPr/>
          </p:nvSpPr>
          <p:spPr bwMode="auto">
            <a:xfrm>
              <a:off x="2140" y="548"/>
              <a:ext cx="1640" cy="667"/>
            </a:xfrm>
            <a:prstGeom prst="ellipse">
              <a:avLst/>
            </a:prstGeom>
            <a:grp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000" b="1" dirty="0">
                <a:solidFill>
                  <a:srgbClr val="368AD6"/>
                </a:solidFill>
                <a:latin typeface="+mn-lt"/>
                <a:ea typeface="微软雅黑 Light" panose="020B0502040204020203" pitchFamily="34" charset="-122"/>
              </a:endParaRPr>
            </a:p>
          </p:txBody>
        </p:sp>
      </p:grpSp>
      <p:sp>
        <p:nvSpPr>
          <p:cNvPr id="24" name="Text Box 28"/>
          <p:cNvSpPr txBox="1">
            <a:spLocks noChangeArrowheads="1"/>
          </p:cNvSpPr>
          <p:nvPr/>
        </p:nvSpPr>
        <p:spPr bwMode="auto">
          <a:xfrm>
            <a:off x="4104506" y="2235164"/>
            <a:ext cx="800219"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defPPr>
              <a:defRPr lang="zh-CN"/>
            </a:defPPr>
            <a:lvl1pPr>
              <a:defRPr sz="1200"/>
            </a:lvl1pPr>
          </a:lstStyle>
          <a:p>
            <a:pPr algn="ctr"/>
            <a:r>
              <a:rPr lang="zh-CN" altLang="en-US" sz="800" dirty="0">
                <a:latin typeface="+mj-ea"/>
                <a:ea typeface="+mj-ea"/>
              </a:rPr>
              <a:t>网络边缘</a:t>
            </a:r>
          </a:p>
        </p:txBody>
      </p:sp>
      <p:sp>
        <p:nvSpPr>
          <p:cNvPr id="25" name="Text Box 29"/>
          <p:cNvSpPr txBox="1">
            <a:spLocks noChangeArrowheads="1"/>
          </p:cNvSpPr>
          <p:nvPr/>
        </p:nvSpPr>
        <p:spPr bwMode="auto">
          <a:xfrm>
            <a:off x="4159022" y="3662490"/>
            <a:ext cx="800219"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defPPr>
              <a:defRPr lang="zh-CN"/>
            </a:defPPr>
            <a:lvl1pPr>
              <a:defRPr sz="1200"/>
            </a:lvl1pPr>
          </a:lstStyle>
          <a:p>
            <a:pPr algn="ctr"/>
            <a:r>
              <a:rPr lang="zh-CN" altLang="en-US" sz="800" dirty="0">
                <a:latin typeface="+mj-ea"/>
                <a:ea typeface="+mj-ea"/>
              </a:rPr>
              <a:t>网络核心</a:t>
            </a:r>
          </a:p>
        </p:txBody>
      </p:sp>
      <p:sp>
        <p:nvSpPr>
          <p:cNvPr id="26" name="Text Box 31"/>
          <p:cNvSpPr txBox="1">
            <a:spLocks noChangeArrowheads="1"/>
          </p:cNvSpPr>
          <p:nvPr/>
        </p:nvSpPr>
        <p:spPr bwMode="auto">
          <a:xfrm>
            <a:off x="5914259" y="2384587"/>
            <a:ext cx="90000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defPPr>
              <a:defRPr lang="zh-CN"/>
            </a:defPPr>
            <a:lvl1pPr>
              <a:defRPr sz="1200"/>
            </a:lvl1pPr>
          </a:lstStyle>
          <a:p>
            <a:r>
              <a:rPr lang="en-US" altLang="zh-CN" sz="800" dirty="0"/>
              <a:t>Server</a:t>
            </a:r>
            <a:endParaRPr lang="zh-CN" altLang="en-US" sz="800" dirty="0"/>
          </a:p>
          <a:p>
            <a:r>
              <a:rPr lang="zh-CN" altLang="en-US" sz="800" dirty="0"/>
              <a:t>运行服务器程序</a:t>
            </a:r>
          </a:p>
        </p:txBody>
      </p:sp>
      <p:sp>
        <p:nvSpPr>
          <p:cNvPr id="27" name="Line 33"/>
          <p:cNvSpPr>
            <a:spLocks noChangeShapeType="1"/>
          </p:cNvSpPr>
          <p:nvPr/>
        </p:nvSpPr>
        <p:spPr bwMode="auto">
          <a:xfrm>
            <a:off x="2745490" y="2801934"/>
            <a:ext cx="45854" cy="298962"/>
          </a:xfrm>
          <a:prstGeom prst="line">
            <a:avLst/>
          </a:prstGeom>
          <a:noFill/>
          <a:ln w="19050">
            <a:solidFill>
              <a:srgbClr val="000066"/>
            </a:solidFill>
            <a:prstDash val="sysDash"/>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50" dirty="0">
              <a:latin typeface="Times New Roman" panose="02020603050405020304" pitchFamily="18" charset="0"/>
              <a:ea typeface="微软雅黑 Light" panose="020B0502040204020203" pitchFamily="34" charset="-122"/>
            </a:endParaRPr>
          </a:p>
        </p:txBody>
      </p:sp>
      <p:sp>
        <p:nvSpPr>
          <p:cNvPr id="28" name="Line 34"/>
          <p:cNvSpPr>
            <a:spLocks noChangeShapeType="1"/>
          </p:cNvSpPr>
          <p:nvPr/>
        </p:nvSpPr>
        <p:spPr bwMode="auto">
          <a:xfrm flipH="1">
            <a:off x="6244088" y="2696096"/>
            <a:ext cx="175417" cy="172166"/>
          </a:xfrm>
          <a:prstGeom prst="line">
            <a:avLst/>
          </a:prstGeom>
          <a:noFill/>
          <a:ln w="19050">
            <a:solidFill>
              <a:srgbClr val="000066"/>
            </a:solidFill>
            <a:prstDash val="sysDash"/>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50" dirty="0">
              <a:latin typeface="Times New Roman" panose="02020603050405020304" pitchFamily="18" charset="0"/>
              <a:ea typeface="微软雅黑 Light" panose="020B0502040204020203" pitchFamily="34" charset="-122"/>
            </a:endParaRPr>
          </a:p>
        </p:txBody>
      </p:sp>
      <p:sp>
        <p:nvSpPr>
          <p:cNvPr id="29" name="Text Box 35"/>
          <p:cNvSpPr txBox="1">
            <a:spLocks noChangeArrowheads="1"/>
          </p:cNvSpPr>
          <p:nvPr/>
        </p:nvSpPr>
        <p:spPr bwMode="auto">
          <a:xfrm>
            <a:off x="2722769" y="2801934"/>
            <a:ext cx="277640"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000" b="1" dirty="0">
                <a:solidFill>
                  <a:srgbClr val="0000FF"/>
                </a:solidFill>
                <a:latin typeface="Times New Roman" panose="02020603050405020304" pitchFamily="18" charset="0"/>
                <a:ea typeface="微软雅黑 Light" panose="020B0502040204020203" pitchFamily="34" charset="-122"/>
              </a:rPr>
              <a:t>A</a:t>
            </a:r>
          </a:p>
        </p:txBody>
      </p:sp>
      <p:sp>
        <p:nvSpPr>
          <p:cNvPr id="30" name="Text Box 36"/>
          <p:cNvSpPr txBox="1">
            <a:spLocks noChangeArrowheads="1"/>
          </p:cNvSpPr>
          <p:nvPr/>
        </p:nvSpPr>
        <p:spPr bwMode="auto">
          <a:xfrm>
            <a:off x="6050279" y="2641756"/>
            <a:ext cx="269626"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000" b="1" dirty="0">
                <a:solidFill>
                  <a:srgbClr val="0000FF"/>
                </a:solidFill>
                <a:latin typeface="Times New Roman" panose="02020603050405020304" pitchFamily="18" charset="0"/>
                <a:ea typeface="微软雅黑 Light" panose="020B0502040204020203" pitchFamily="34" charset="-122"/>
              </a:rPr>
              <a:t>B</a:t>
            </a:r>
          </a:p>
        </p:txBody>
      </p:sp>
      <p:sp>
        <p:nvSpPr>
          <p:cNvPr id="32" name="Freeform 32"/>
          <p:cNvSpPr/>
          <p:nvPr/>
        </p:nvSpPr>
        <p:spPr bwMode="auto">
          <a:xfrm rot="60000">
            <a:off x="3167881" y="3087402"/>
            <a:ext cx="2667000" cy="165523"/>
          </a:xfrm>
          <a:custGeom>
            <a:avLst/>
            <a:gdLst>
              <a:gd name="T0" fmla="*/ 0 w 2112"/>
              <a:gd name="T1" fmla="*/ 0 h 192"/>
              <a:gd name="T2" fmla="*/ 3658879 w 2112"/>
              <a:gd name="T3" fmla="*/ 476759 h 192"/>
              <a:gd name="T4" fmla="*/ 0 60000 65536"/>
              <a:gd name="T5" fmla="*/ 0 60000 65536"/>
            </a:gdLst>
            <a:ahLst/>
            <a:cxnLst>
              <a:cxn ang="T4">
                <a:pos x="T0" y="T1"/>
              </a:cxn>
              <a:cxn ang="T5">
                <a:pos x="T2" y="T3"/>
              </a:cxn>
            </a:cxnLst>
            <a:rect l="0" t="0" r="r" b="b"/>
            <a:pathLst>
              <a:path w="2112" h="192">
                <a:moveTo>
                  <a:pt x="0" y="0"/>
                </a:moveTo>
                <a:lnTo>
                  <a:pt x="2112" y="192"/>
                </a:lnTo>
              </a:path>
            </a:pathLst>
          </a:custGeom>
          <a:noFill/>
          <a:ln w="38100" cap="flat" cmpd="sng">
            <a:solidFill>
              <a:srgbClr val="CC00CC">
                <a:alpha val="79999"/>
              </a:srgbClr>
            </a:solidFill>
            <a:prstDash val="sysDot"/>
            <a:round/>
            <a:headEnd type="none" w="med" len="lg"/>
            <a:tailEnd type="triangle" w="med"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dirty="0">
              <a:latin typeface="Times New Roman" panose="02020603050405020304" pitchFamily="18" charset="0"/>
              <a:ea typeface="微软雅黑 Light" panose="020B0502040204020203" pitchFamily="34" charset="-122"/>
            </a:endParaRPr>
          </a:p>
        </p:txBody>
      </p:sp>
      <p:sp>
        <p:nvSpPr>
          <p:cNvPr id="33" name="Text Box 39"/>
          <p:cNvSpPr txBox="1">
            <a:spLocks noChangeArrowheads="1"/>
          </p:cNvSpPr>
          <p:nvPr/>
        </p:nvSpPr>
        <p:spPr bwMode="auto">
          <a:xfrm rot="240000">
            <a:off x="4202089" y="2893394"/>
            <a:ext cx="728083" cy="215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en-US" altLang="zh-CN" sz="800" b="1" dirty="0">
                <a:solidFill>
                  <a:srgbClr val="CC00CC"/>
                </a:solidFill>
                <a:latin typeface="微软雅黑" panose="020B0503020204020204" pitchFamily="34" charset="-122"/>
                <a:ea typeface="微软雅黑" panose="020B0503020204020204" pitchFamily="34" charset="-122"/>
              </a:rPr>
              <a:t>① </a:t>
            </a:r>
            <a:r>
              <a:rPr kumimoji="1" lang="zh-CN" altLang="en-US" sz="800" b="1" dirty="0">
                <a:solidFill>
                  <a:srgbClr val="CC00CC"/>
                </a:solidFill>
                <a:latin typeface="微软雅黑" panose="020B0503020204020204" pitchFamily="34" charset="-122"/>
                <a:ea typeface="微软雅黑" panose="020B0503020204020204" pitchFamily="34" charset="-122"/>
              </a:rPr>
              <a:t>请求服务</a:t>
            </a:r>
          </a:p>
        </p:txBody>
      </p:sp>
      <p:pic>
        <p:nvPicPr>
          <p:cNvPr id="42" name="图片 39"/>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5849168" y="2827484"/>
            <a:ext cx="619125" cy="8683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3" name="矩形 40"/>
          <p:cNvSpPr>
            <a:spLocks noChangeArrowheads="1"/>
          </p:cNvSpPr>
          <p:nvPr/>
        </p:nvSpPr>
        <p:spPr bwMode="auto">
          <a:xfrm>
            <a:off x="6431752" y="3840181"/>
            <a:ext cx="2087032" cy="95410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sz="1400" dirty="0"/>
              <a:t>客户 </a:t>
            </a:r>
            <a:r>
              <a:rPr lang="en-US" altLang="zh-CN" sz="1400" dirty="0"/>
              <a:t>A </a:t>
            </a:r>
            <a:r>
              <a:rPr lang="zh-CN" altLang="en-US" sz="1400" dirty="0"/>
              <a:t>向服务器 </a:t>
            </a:r>
            <a:r>
              <a:rPr lang="en-US" altLang="zh-CN" sz="1400" dirty="0"/>
              <a:t>B </a:t>
            </a:r>
            <a:r>
              <a:rPr lang="zh-CN" altLang="en-US" sz="1400" dirty="0"/>
              <a:t>发出请求服务，</a:t>
            </a:r>
            <a:endParaRPr lang="en-US" altLang="zh-CN" sz="1400" dirty="0"/>
          </a:p>
          <a:p>
            <a:r>
              <a:rPr lang="zh-CN" altLang="en-US" sz="1400" dirty="0"/>
              <a:t>服务器 </a:t>
            </a:r>
            <a:r>
              <a:rPr lang="en-US" altLang="zh-CN" sz="1400" dirty="0"/>
              <a:t>B </a:t>
            </a:r>
            <a:r>
              <a:rPr lang="zh-CN" altLang="en-US" sz="1400" dirty="0"/>
              <a:t>向客户 </a:t>
            </a:r>
            <a:r>
              <a:rPr lang="en-US" altLang="zh-CN" sz="1400" dirty="0"/>
              <a:t>A </a:t>
            </a:r>
            <a:r>
              <a:rPr lang="zh-CN" altLang="en-US" sz="1400" dirty="0"/>
              <a:t>提供服务。</a:t>
            </a:r>
          </a:p>
        </p:txBody>
      </p:sp>
      <p:sp>
        <p:nvSpPr>
          <p:cNvPr id="45" name="Text Box 40"/>
          <p:cNvSpPr txBox="1">
            <a:spLocks noChangeArrowheads="1"/>
          </p:cNvSpPr>
          <p:nvPr/>
        </p:nvSpPr>
        <p:spPr bwMode="auto">
          <a:xfrm rot="240000">
            <a:off x="4165917" y="3403873"/>
            <a:ext cx="728083" cy="215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en-US" altLang="zh-CN" sz="800" b="1" dirty="0">
                <a:solidFill>
                  <a:srgbClr val="CC00CC"/>
                </a:solidFill>
                <a:latin typeface="微软雅黑" panose="020B0503020204020204" pitchFamily="34" charset="-122"/>
                <a:ea typeface="微软雅黑" panose="020B0503020204020204" pitchFamily="34" charset="-122"/>
              </a:rPr>
              <a:t>② </a:t>
            </a:r>
            <a:r>
              <a:rPr kumimoji="1" lang="zh-CN" altLang="en-US" sz="800" b="1" dirty="0">
                <a:solidFill>
                  <a:srgbClr val="CC00CC"/>
                </a:solidFill>
                <a:latin typeface="微软雅黑" panose="020B0503020204020204" pitchFamily="34" charset="-122"/>
                <a:ea typeface="微软雅黑" panose="020B0503020204020204" pitchFamily="34" charset="-122"/>
              </a:rPr>
              <a:t>得到服务</a:t>
            </a:r>
          </a:p>
        </p:txBody>
      </p:sp>
      <p:sp>
        <p:nvSpPr>
          <p:cNvPr id="46" name="Freeform 38"/>
          <p:cNvSpPr/>
          <p:nvPr/>
        </p:nvSpPr>
        <p:spPr bwMode="auto">
          <a:xfrm rot="10740000">
            <a:off x="3119095" y="3259563"/>
            <a:ext cx="2665413" cy="226219"/>
          </a:xfrm>
          <a:custGeom>
            <a:avLst/>
            <a:gdLst>
              <a:gd name="T0" fmla="*/ 0 w 2112"/>
              <a:gd name="T1" fmla="*/ 0 h 192"/>
              <a:gd name="T2" fmla="*/ 3658879 w 2112"/>
              <a:gd name="T3" fmla="*/ 476759 h 192"/>
              <a:gd name="T4" fmla="*/ 0 60000 65536"/>
              <a:gd name="T5" fmla="*/ 0 60000 65536"/>
            </a:gdLst>
            <a:ahLst/>
            <a:cxnLst>
              <a:cxn ang="T4">
                <a:pos x="T0" y="T1"/>
              </a:cxn>
              <a:cxn ang="T5">
                <a:pos x="T2" y="T3"/>
              </a:cxn>
            </a:cxnLst>
            <a:rect l="0" t="0" r="r" b="b"/>
            <a:pathLst>
              <a:path w="2112" h="192">
                <a:moveTo>
                  <a:pt x="0" y="0"/>
                </a:moveTo>
                <a:lnTo>
                  <a:pt x="2112" y="192"/>
                </a:lnTo>
              </a:path>
            </a:pathLst>
          </a:custGeom>
          <a:noFill/>
          <a:ln w="38100" cap="flat" cmpd="sng">
            <a:solidFill>
              <a:srgbClr val="CC00CC">
                <a:alpha val="79999"/>
              </a:srgbClr>
            </a:solidFill>
            <a:prstDash val="sysDot"/>
            <a:round/>
            <a:headEnd type="none" w="med" len="lg"/>
            <a:tailEnd type="triangle" w="med"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dirty="0">
              <a:latin typeface="Times New Roman" panose="02020603050405020304" pitchFamily="18" charset="0"/>
              <a:ea typeface="微软雅黑 Light" panose="020B0502040204020203" pitchFamily="34" charset="-122"/>
            </a:endParaRPr>
          </a:p>
        </p:txBody>
      </p:sp>
      <p:pic>
        <p:nvPicPr>
          <p:cNvPr id="4" name="图片 3">
            <a:extLst>
              <a:ext uri="{FF2B5EF4-FFF2-40B4-BE49-F238E27FC236}">
                <a16:creationId xmlns:a16="http://schemas.microsoft.com/office/drawing/2014/main" id="{D51DA845-4B9A-1C16-02CB-CA95AB4395B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591908" y="2220827"/>
            <a:ext cx="323850" cy="304800"/>
          </a:xfrm>
          <a:prstGeom prst="rect">
            <a:avLst/>
          </a:prstGeom>
        </p:spPr>
      </p:pic>
      <p:pic>
        <p:nvPicPr>
          <p:cNvPr id="31" name="图片 30">
            <a:extLst>
              <a:ext uri="{FF2B5EF4-FFF2-40B4-BE49-F238E27FC236}">
                <a16:creationId xmlns:a16="http://schemas.microsoft.com/office/drawing/2014/main" id="{3FC7CC7C-4AF9-3414-B916-F34AECB0258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263932" y="2149220"/>
            <a:ext cx="323850" cy="304800"/>
          </a:xfrm>
          <a:prstGeom prst="rect">
            <a:avLst/>
          </a:prstGeom>
        </p:spPr>
      </p:pic>
      <p:pic>
        <p:nvPicPr>
          <p:cNvPr id="35" name="图片 34">
            <a:extLst>
              <a:ext uri="{FF2B5EF4-FFF2-40B4-BE49-F238E27FC236}">
                <a16:creationId xmlns:a16="http://schemas.microsoft.com/office/drawing/2014/main" id="{FC32718D-4D7A-F280-171B-B3C7EC7248F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744685" y="3016700"/>
            <a:ext cx="323850" cy="304800"/>
          </a:xfrm>
          <a:prstGeom prst="rect">
            <a:avLst/>
          </a:prstGeom>
        </p:spPr>
      </p:pic>
      <p:pic>
        <p:nvPicPr>
          <p:cNvPr id="44" name="图片 43">
            <a:extLst>
              <a:ext uri="{FF2B5EF4-FFF2-40B4-BE49-F238E27FC236}">
                <a16:creationId xmlns:a16="http://schemas.microsoft.com/office/drawing/2014/main" id="{758A5F0B-E9C5-8387-1A47-6D66B06A6B7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692547" y="4139446"/>
            <a:ext cx="323850" cy="304800"/>
          </a:xfrm>
          <a:prstGeom prst="rect">
            <a:avLst/>
          </a:prstGeom>
        </p:spPr>
      </p:pic>
      <p:pic>
        <p:nvPicPr>
          <p:cNvPr id="48" name="图片 47">
            <a:extLst>
              <a:ext uri="{FF2B5EF4-FFF2-40B4-BE49-F238E27FC236}">
                <a16:creationId xmlns:a16="http://schemas.microsoft.com/office/drawing/2014/main" id="{DF6F2373-E79E-C42B-698E-0ECBC804426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122067" y="4075791"/>
            <a:ext cx="323850" cy="304800"/>
          </a:xfrm>
          <a:prstGeom prst="rect">
            <a:avLst/>
          </a:prstGeom>
        </p:spPr>
      </p:pic>
    </p:spTree>
    <p:extLst>
      <p:ext uri="{BB962C8B-B14F-4D97-AF65-F5344CB8AC3E}">
        <p14:creationId xmlns:p14="http://schemas.microsoft.com/office/powerpoint/2010/main" val="2812919197"/>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7D92D599-A52F-05D9-73BE-66E327A5ED3D}"/>
              </a:ext>
            </a:extLst>
          </p:cNvPr>
          <p:cNvSpPr>
            <a:spLocks noGrp="1"/>
          </p:cNvSpPr>
          <p:nvPr>
            <p:ph type="title"/>
          </p:nvPr>
        </p:nvSpPr>
        <p:spPr>
          <a:xfrm>
            <a:off x="612000" y="144000"/>
            <a:ext cx="7920000" cy="341632"/>
          </a:xfrm>
        </p:spPr>
        <p:txBody>
          <a:bodyPr/>
          <a:lstStyle/>
          <a:p>
            <a:r>
              <a:rPr lang="zh-CN" altLang="en-US" dirty="0"/>
              <a:t>客户程序和服务器程序主要特点</a:t>
            </a:r>
          </a:p>
        </p:txBody>
      </p:sp>
      <p:sp>
        <p:nvSpPr>
          <p:cNvPr id="8" name="内容占位符 7">
            <a:extLst>
              <a:ext uri="{FF2B5EF4-FFF2-40B4-BE49-F238E27FC236}">
                <a16:creationId xmlns:a16="http://schemas.microsoft.com/office/drawing/2014/main" id="{67CADB3E-8668-CA2B-3274-417283C54E48}"/>
              </a:ext>
            </a:extLst>
          </p:cNvPr>
          <p:cNvSpPr>
            <a:spLocks noGrp="1"/>
          </p:cNvSpPr>
          <p:nvPr>
            <p:ph sz="quarter" idx="10"/>
          </p:nvPr>
        </p:nvSpPr>
        <p:spPr>
          <a:xfrm>
            <a:off x="612000" y="899999"/>
            <a:ext cx="7920000" cy="3780000"/>
          </a:xfrm>
        </p:spPr>
        <p:txBody>
          <a:bodyPr>
            <a:normAutofit/>
          </a:bodyPr>
          <a:lstStyle/>
          <a:p>
            <a:r>
              <a:rPr lang="zh-CN" altLang="en-US" dirty="0"/>
              <a:t>客户程序</a:t>
            </a:r>
            <a:endParaRPr lang="en-US" altLang="zh-CN" dirty="0"/>
          </a:p>
          <a:p>
            <a:pPr lvl="1"/>
            <a:r>
              <a:rPr lang="zh-CN" altLang="en-US" dirty="0"/>
              <a:t>被用户调用后运行，需主动向远地服务器发起通信（请求服务 </a:t>
            </a:r>
            <a:r>
              <a:rPr lang="en-US" altLang="zh-CN" dirty="0"/>
              <a:t>- Request</a:t>
            </a:r>
            <a:r>
              <a:rPr lang="zh-CN" altLang="en-US" dirty="0"/>
              <a:t>）</a:t>
            </a:r>
            <a:endParaRPr lang="en-US" altLang="zh-CN" dirty="0"/>
          </a:p>
          <a:p>
            <a:pPr lvl="1"/>
            <a:r>
              <a:rPr lang="zh-CN" altLang="en-US" dirty="0"/>
              <a:t>必须知道服务器程序的地址</a:t>
            </a:r>
            <a:endParaRPr lang="en-US" altLang="zh-CN" dirty="0"/>
          </a:p>
          <a:p>
            <a:pPr lvl="1"/>
            <a:r>
              <a:rPr lang="zh-CN" altLang="en-US" dirty="0"/>
              <a:t>不需要特殊的硬件和很复杂的操作系统</a:t>
            </a:r>
            <a:endParaRPr lang="en-US" altLang="zh-CN" dirty="0"/>
          </a:p>
          <a:p>
            <a:r>
              <a:rPr lang="zh-CN" altLang="en-US" dirty="0"/>
              <a:t>服务器程序</a:t>
            </a:r>
            <a:endParaRPr lang="en-US" altLang="zh-CN" dirty="0"/>
          </a:p>
          <a:p>
            <a:pPr lvl="1"/>
            <a:r>
              <a:rPr lang="zh-CN" altLang="en-US" dirty="0"/>
              <a:t>专门用来提供某种服务的程序，可同时处理多个客户请求（响应服务 </a:t>
            </a:r>
            <a:r>
              <a:rPr lang="en-US" altLang="zh-CN" dirty="0"/>
              <a:t>- Response</a:t>
            </a:r>
            <a:r>
              <a:rPr lang="zh-CN" altLang="en-US" dirty="0"/>
              <a:t>）</a:t>
            </a:r>
          </a:p>
          <a:p>
            <a:pPr lvl="1"/>
            <a:r>
              <a:rPr lang="zh-CN" altLang="en-US" dirty="0"/>
              <a:t>一直不断地运行着，被动地等待并接受来自各地的客户的通信请求</a:t>
            </a:r>
            <a:endParaRPr lang="en-US" altLang="zh-CN" dirty="0"/>
          </a:p>
          <a:p>
            <a:pPr lvl="1"/>
            <a:r>
              <a:rPr lang="zh-CN" altLang="en-US" dirty="0"/>
              <a:t>不需要知道客户程序的地址</a:t>
            </a:r>
          </a:p>
          <a:p>
            <a:pPr lvl="1"/>
            <a:r>
              <a:rPr lang="zh-CN" altLang="en-US" dirty="0"/>
              <a:t>一般需要强大的硬件和高级的操作系统支持</a:t>
            </a:r>
          </a:p>
          <a:p>
            <a:endParaRPr lang="zh-CN" altLang="en-US" dirty="0"/>
          </a:p>
        </p:txBody>
      </p:sp>
    </p:spTree>
    <p:extLst>
      <p:ext uri="{BB962C8B-B14F-4D97-AF65-F5344CB8AC3E}">
        <p14:creationId xmlns:p14="http://schemas.microsoft.com/office/powerpoint/2010/main" val="2442010098"/>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7DB27532-2D9B-76A7-7192-C773EC70233C}"/>
              </a:ext>
            </a:extLst>
          </p:cNvPr>
          <p:cNvSpPr>
            <a:spLocks noGrp="1"/>
          </p:cNvSpPr>
          <p:nvPr>
            <p:ph type="title"/>
          </p:nvPr>
        </p:nvSpPr>
        <p:spPr>
          <a:xfrm>
            <a:off x="612000" y="144000"/>
            <a:ext cx="7920000" cy="341632"/>
          </a:xfrm>
        </p:spPr>
        <p:txBody>
          <a:bodyPr/>
          <a:lstStyle/>
          <a:p>
            <a:r>
              <a:rPr lang="en-US" altLang="zh-CN" dirty="0"/>
              <a:t>2. </a:t>
            </a:r>
            <a:r>
              <a:rPr lang="zh-CN" altLang="en-US" dirty="0"/>
              <a:t>对等连接方式（</a:t>
            </a:r>
            <a:r>
              <a:rPr lang="en-US" altLang="zh-CN" dirty="0"/>
              <a:t>P2P </a:t>
            </a:r>
            <a:r>
              <a:rPr lang="zh-CN" altLang="en-US" dirty="0"/>
              <a:t>方式）</a:t>
            </a:r>
          </a:p>
        </p:txBody>
      </p:sp>
      <p:sp>
        <p:nvSpPr>
          <p:cNvPr id="3" name="内容占位符 2"/>
          <p:cNvSpPr>
            <a:spLocks noGrp="1"/>
          </p:cNvSpPr>
          <p:nvPr>
            <p:ph sz="quarter" idx="10"/>
          </p:nvPr>
        </p:nvSpPr>
        <p:spPr>
          <a:xfrm>
            <a:off x="612000" y="899999"/>
            <a:ext cx="7920000" cy="3780000"/>
          </a:xfrm>
        </p:spPr>
        <p:txBody>
          <a:bodyPr/>
          <a:lstStyle/>
          <a:p>
            <a:r>
              <a:rPr lang="zh-CN" altLang="en-US" dirty="0"/>
              <a:t>两台主机在通信时不区分服务请求方和服务提供方</a:t>
            </a:r>
          </a:p>
          <a:p>
            <a:r>
              <a:rPr lang="zh-CN" altLang="en-US" dirty="0"/>
              <a:t>只要都运行了 </a:t>
            </a:r>
            <a:r>
              <a:rPr lang="en-US" altLang="zh-CN" dirty="0"/>
              <a:t>P2P </a:t>
            </a:r>
            <a:r>
              <a:rPr lang="zh-CN" altLang="en-US" dirty="0"/>
              <a:t>软件，就可以进行平等的、对等连接通信</a:t>
            </a:r>
            <a:endParaRPr lang="en-US" altLang="zh-CN" dirty="0"/>
          </a:p>
          <a:p>
            <a:r>
              <a:rPr lang="zh-CN" altLang="en-US" dirty="0"/>
              <a:t>对等连接方式从本质上看仍然是使用客户服务器方式，只是对等连接中的每一个主机既是客户又是服务器</a:t>
            </a:r>
          </a:p>
        </p:txBody>
      </p:sp>
      <p:sp>
        <p:nvSpPr>
          <p:cNvPr id="49" name="Oval 4"/>
          <p:cNvSpPr>
            <a:spLocks noChangeArrowheads="1"/>
          </p:cNvSpPr>
          <p:nvPr/>
        </p:nvSpPr>
        <p:spPr bwMode="auto">
          <a:xfrm>
            <a:off x="3568592" y="1884574"/>
            <a:ext cx="4441371" cy="2858197"/>
          </a:xfrm>
          <a:prstGeom prst="ellipse">
            <a:avLst/>
          </a:prstGeom>
          <a:solidFill>
            <a:srgbClr val="F2F2F2"/>
          </a:solidFill>
          <a:ln>
            <a:noFill/>
          </a:ln>
          <a:effectLst/>
          <a:scene3d>
            <a:camera prst="orthographicFront">
              <a:rot lat="0" lon="0" rev="0"/>
            </a:camera>
            <a:lightRig rig="contrasting" dir="t">
              <a:rot lat="0" lon="0" rev="7800000"/>
            </a:lightRig>
          </a:scene3d>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sz="1050"/>
          </a:p>
        </p:txBody>
      </p:sp>
      <p:sp>
        <p:nvSpPr>
          <p:cNvPr id="50" name="Line 5"/>
          <p:cNvSpPr>
            <a:spLocks noChangeShapeType="1"/>
          </p:cNvSpPr>
          <p:nvPr/>
        </p:nvSpPr>
        <p:spPr bwMode="auto">
          <a:xfrm flipV="1">
            <a:off x="4452660" y="3609650"/>
            <a:ext cx="512618" cy="338537"/>
          </a:xfrm>
          <a:prstGeom prst="line">
            <a:avLst/>
          </a:prstGeom>
          <a:noFill/>
          <a:ln w="28575">
            <a:solidFill>
              <a:srgbClr val="00800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50" dirty="0">
              <a:latin typeface="Times New Roman" panose="02020603050405020304" pitchFamily="18" charset="0"/>
              <a:ea typeface="微软雅黑 Light" panose="020B0502040204020203" pitchFamily="34" charset="-122"/>
            </a:endParaRPr>
          </a:p>
        </p:txBody>
      </p:sp>
      <p:sp>
        <p:nvSpPr>
          <p:cNvPr id="51" name="Line 6"/>
          <p:cNvSpPr>
            <a:spLocks noChangeShapeType="1"/>
          </p:cNvSpPr>
          <p:nvPr/>
        </p:nvSpPr>
        <p:spPr bwMode="auto">
          <a:xfrm flipH="1" flipV="1">
            <a:off x="4202778" y="3053644"/>
            <a:ext cx="772509" cy="269821"/>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50" dirty="0">
              <a:latin typeface="Times New Roman" panose="02020603050405020304" pitchFamily="18" charset="0"/>
              <a:ea typeface="微软雅黑 Light" panose="020B0502040204020203" pitchFamily="34" charset="-122"/>
            </a:endParaRPr>
          </a:p>
        </p:txBody>
      </p:sp>
      <p:sp>
        <p:nvSpPr>
          <p:cNvPr id="52" name="Line 7"/>
          <p:cNvSpPr>
            <a:spLocks noChangeShapeType="1"/>
          </p:cNvSpPr>
          <p:nvPr/>
        </p:nvSpPr>
        <p:spPr bwMode="auto">
          <a:xfrm flipH="1">
            <a:off x="6631299" y="3332238"/>
            <a:ext cx="783490" cy="0"/>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50" dirty="0">
              <a:latin typeface="Times New Roman" panose="02020603050405020304" pitchFamily="18" charset="0"/>
              <a:ea typeface="微软雅黑 Light" panose="020B0502040204020203" pitchFamily="34" charset="-122"/>
            </a:endParaRPr>
          </a:p>
        </p:txBody>
      </p:sp>
      <p:sp>
        <p:nvSpPr>
          <p:cNvPr id="53" name="Line 8"/>
          <p:cNvSpPr>
            <a:spLocks noChangeShapeType="1"/>
          </p:cNvSpPr>
          <p:nvPr/>
        </p:nvSpPr>
        <p:spPr bwMode="auto">
          <a:xfrm flipH="1">
            <a:off x="6110717" y="2386330"/>
            <a:ext cx="449997" cy="669683"/>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50" dirty="0">
              <a:latin typeface="Times New Roman" panose="02020603050405020304" pitchFamily="18" charset="0"/>
              <a:ea typeface="微软雅黑 Light" panose="020B0502040204020203" pitchFamily="34" charset="-122"/>
            </a:endParaRPr>
          </a:p>
        </p:txBody>
      </p:sp>
      <p:sp>
        <p:nvSpPr>
          <p:cNvPr id="54" name="Line 9"/>
          <p:cNvSpPr>
            <a:spLocks noChangeShapeType="1"/>
          </p:cNvSpPr>
          <p:nvPr/>
        </p:nvSpPr>
        <p:spPr bwMode="auto">
          <a:xfrm flipH="1" flipV="1">
            <a:off x="6105994" y="3802711"/>
            <a:ext cx="397570" cy="394714"/>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50" dirty="0">
              <a:latin typeface="Times New Roman" panose="02020603050405020304" pitchFamily="18" charset="0"/>
              <a:ea typeface="微软雅黑 Light" panose="020B0502040204020203" pitchFamily="34" charset="-122"/>
            </a:endParaRPr>
          </a:p>
        </p:txBody>
      </p:sp>
      <p:sp>
        <p:nvSpPr>
          <p:cNvPr id="55" name="Line 10"/>
          <p:cNvSpPr>
            <a:spLocks noChangeShapeType="1"/>
          </p:cNvSpPr>
          <p:nvPr/>
        </p:nvSpPr>
        <p:spPr bwMode="auto">
          <a:xfrm>
            <a:off x="4791637" y="2480524"/>
            <a:ext cx="451453" cy="483413"/>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50" dirty="0">
              <a:latin typeface="Times New Roman" panose="02020603050405020304" pitchFamily="18" charset="0"/>
              <a:ea typeface="微软雅黑 Light" panose="020B0502040204020203" pitchFamily="34" charset="-122"/>
            </a:endParaRPr>
          </a:p>
        </p:txBody>
      </p:sp>
      <p:sp>
        <p:nvSpPr>
          <p:cNvPr id="56" name="Line 11"/>
          <p:cNvSpPr>
            <a:spLocks noChangeShapeType="1"/>
          </p:cNvSpPr>
          <p:nvPr/>
        </p:nvSpPr>
        <p:spPr bwMode="auto">
          <a:xfrm flipV="1">
            <a:off x="5183092" y="3758503"/>
            <a:ext cx="91747" cy="548460"/>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50" dirty="0">
              <a:latin typeface="Times New Roman" panose="02020603050405020304" pitchFamily="18" charset="0"/>
              <a:ea typeface="微软雅黑 Light" panose="020B0502040204020203" pitchFamily="34" charset="-122"/>
            </a:endParaRPr>
          </a:p>
        </p:txBody>
      </p:sp>
      <p:grpSp>
        <p:nvGrpSpPr>
          <p:cNvPr id="57" name="Group 17"/>
          <p:cNvGrpSpPr/>
          <p:nvPr/>
        </p:nvGrpSpPr>
        <p:grpSpPr bwMode="auto">
          <a:xfrm>
            <a:off x="4733605" y="2666920"/>
            <a:ext cx="2136571" cy="1415756"/>
            <a:chOff x="1680" y="240"/>
            <a:chExt cx="2529" cy="1270"/>
          </a:xfrm>
          <a:solidFill>
            <a:schemeClr val="bg1"/>
          </a:solidFill>
        </p:grpSpPr>
        <p:sp>
          <p:nvSpPr>
            <p:cNvPr id="58" name="Oval 18"/>
            <p:cNvSpPr>
              <a:spLocks noChangeArrowheads="1"/>
            </p:cNvSpPr>
            <p:nvPr/>
          </p:nvSpPr>
          <p:spPr bwMode="auto">
            <a:xfrm>
              <a:off x="2554" y="240"/>
              <a:ext cx="1088" cy="513"/>
            </a:xfrm>
            <a:prstGeom prst="ellipse">
              <a:avLst/>
            </a:prstGeom>
            <a:grp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900" b="1" dirty="0">
                <a:solidFill>
                  <a:srgbClr val="368AD6"/>
                </a:solidFill>
                <a:latin typeface="+mn-lt"/>
                <a:ea typeface="微软雅黑 Light" panose="020B0502040204020203" pitchFamily="34" charset="-122"/>
              </a:endParaRPr>
            </a:p>
          </p:txBody>
        </p:sp>
        <p:sp>
          <p:nvSpPr>
            <p:cNvPr id="59" name="Oval 19"/>
            <p:cNvSpPr>
              <a:spLocks noChangeArrowheads="1"/>
            </p:cNvSpPr>
            <p:nvPr/>
          </p:nvSpPr>
          <p:spPr bwMode="auto">
            <a:xfrm>
              <a:off x="1941" y="381"/>
              <a:ext cx="827" cy="513"/>
            </a:xfrm>
            <a:prstGeom prst="ellipse">
              <a:avLst/>
            </a:prstGeom>
            <a:grp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900" b="1" dirty="0">
                <a:solidFill>
                  <a:srgbClr val="368AD6"/>
                </a:solidFill>
                <a:latin typeface="+mn-lt"/>
                <a:ea typeface="微软雅黑 Light" panose="020B0502040204020203" pitchFamily="34" charset="-122"/>
              </a:endParaRPr>
            </a:p>
          </p:txBody>
        </p:sp>
        <p:sp>
          <p:nvSpPr>
            <p:cNvPr id="60" name="Oval 20"/>
            <p:cNvSpPr>
              <a:spLocks noChangeArrowheads="1"/>
            </p:cNvSpPr>
            <p:nvPr/>
          </p:nvSpPr>
          <p:spPr bwMode="auto">
            <a:xfrm>
              <a:off x="1680" y="702"/>
              <a:ext cx="552" cy="411"/>
            </a:xfrm>
            <a:prstGeom prst="ellipse">
              <a:avLst/>
            </a:prstGeom>
            <a:grp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900" b="1" dirty="0">
                <a:solidFill>
                  <a:srgbClr val="368AD6"/>
                </a:solidFill>
                <a:latin typeface="+mn-lt"/>
                <a:ea typeface="微软雅黑 Light" panose="020B0502040204020203" pitchFamily="34" charset="-122"/>
              </a:endParaRPr>
            </a:p>
          </p:txBody>
        </p:sp>
        <p:sp>
          <p:nvSpPr>
            <p:cNvPr id="61" name="Oval 21"/>
            <p:cNvSpPr>
              <a:spLocks noChangeArrowheads="1"/>
            </p:cNvSpPr>
            <p:nvPr/>
          </p:nvSpPr>
          <p:spPr bwMode="auto">
            <a:xfrm>
              <a:off x="1849" y="894"/>
              <a:ext cx="842" cy="450"/>
            </a:xfrm>
            <a:prstGeom prst="ellipse">
              <a:avLst/>
            </a:prstGeom>
            <a:grp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900" b="1" dirty="0">
                <a:solidFill>
                  <a:srgbClr val="368AD6"/>
                </a:solidFill>
                <a:latin typeface="+mn-lt"/>
                <a:ea typeface="微软雅黑 Light" panose="020B0502040204020203" pitchFamily="34" charset="-122"/>
              </a:endParaRPr>
            </a:p>
          </p:txBody>
        </p:sp>
        <p:sp>
          <p:nvSpPr>
            <p:cNvPr id="62" name="Oval 22"/>
            <p:cNvSpPr>
              <a:spLocks noChangeArrowheads="1"/>
            </p:cNvSpPr>
            <p:nvPr/>
          </p:nvSpPr>
          <p:spPr bwMode="auto">
            <a:xfrm>
              <a:off x="2462" y="971"/>
              <a:ext cx="1272" cy="539"/>
            </a:xfrm>
            <a:prstGeom prst="ellipse">
              <a:avLst/>
            </a:prstGeom>
            <a:grp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900" b="1" dirty="0">
                <a:solidFill>
                  <a:srgbClr val="368AD6"/>
                </a:solidFill>
                <a:latin typeface="+mn-lt"/>
                <a:ea typeface="微软雅黑 Light" panose="020B0502040204020203" pitchFamily="34" charset="-122"/>
              </a:endParaRPr>
            </a:p>
          </p:txBody>
        </p:sp>
        <p:sp>
          <p:nvSpPr>
            <p:cNvPr id="63" name="Oval 23"/>
            <p:cNvSpPr>
              <a:spLocks noChangeArrowheads="1"/>
            </p:cNvSpPr>
            <p:nvPr/>
          </p:nvSpPr>
          <p:spPr bwMode="auto">
            <a:xfrm>
              <a:off x="3289" y="394"/>
              <a:ext cx="797" cy="398"/>
            </a:xfrm>
            <a:prstGeom prst="ellipse">
              <a:avLst/>
            </a:prstGeom>
            <a:grp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900" b="1" dirty="0">
                <a:solidFill>
                  <a:srgbClr val="368AD6"/>
                </a:solidFill>
                <a:latin typeface="+mn-lt"/>
                <a:ea typeface="微软雅黑 Light" panose="020B0502040204020203" pitchFamily="34" charset="-122"/>
              </a:endParaRPr>
            </a:p>
          </p:txBody>
        </p:sp>
        <p:sp>
          <p:nvSpPr>
            <p:cNvPr id="64" name="Oval 24"/>
            <p:cNvSpPr>
              <a:spLocks noChangeArrowheads="1"/>
            </p:cNvSpPr>
            <p:nvPr/>
          </p:nvSpPr>
          <p:spPr bwMode="auto">
            <a:xfrm>
              <a:off x="3412" y="663"/>
              <a:ext cx="797" cy="398"/>
            </a:xfrm>
            <a:prstGeom prst="ellipse">
              <a:avLst/>
            </a:prstGeom>
            <a:grp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900" b="1" dirty="0">
                <a:solidFill>
                  <a:srgbClr val="368AD6"/>
                </a:solidFill>
                <a:latin typeface="+mn-lt"/>
                <a:ea typeface="微软雅黑 Light" panose="020B0502040204020203" pitchFamily="34" charset="-122"/>
              </a:endParaRPr>
            </a:p>
          </p:txBody>
        </p:sp>
        <p:sp>
          <p:nvSpPr>
            <p:cNvPr id="65" name="Oval 25"/>
            <p:cNvSpPr>
              <a:spLocks noChangeArrowheads="1"/>
            </p:cNvSpPr>
            <p:nvPr/>
          </p:nvSpPr>
          <p:spPr bwMode="auto">
            <a:xfrm>
              <a:off x="3335" y="753"/>
              <a:ext cx="797" cy="668"/>
            </a:xfrm>
            <a:prstGeom prst="ellipse">
              <a:avLst/>
            </a:prstGeom>
            <a:grp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900" b="1" dirty="0">
                <a:solidFill>
                  <a:srgbClr val="368AD6"/>
                </a:solidFill>
                <a:latin typeface="+mn-lt"/>
                <a:ea typeface="微软雅黑 Light" panose="020B0502040204020203" pitchFamily="34" charset="-122"/>
              </a:endParaRPr>
            </a:p>
          </p:txBody>
        </p:sp>
        <p:sp>
          <p:nvSpPr>
            <p:cNvPr id="66" name="Oval 26"/>
            <p:cNvSpPr>
              <a:spLocks noChangeArrowheads="1"/>
            </p:cNvSpPr>
            <p:nvPr/>
          </p:nvSpPr>
          <p:spPr bwMode="auto">
            <a:xfrm>
              <a:off x="2140" y="548"/>
              <a:ext cx="1640" cy="667"/>
            </a:xfrm>
            <a:prstGeom prst="ellipse">
              <a:avLst/>
            </a:prstGeom>
            <a:grp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900" b="1" dirty="0">
                <a:solidFill>
                  <a:srgbClr val="368AD6"/>
                </a:solidFill>
                <a:latin typeface="+mn-lt"/>
                <a:ea typeface="微软雅黑 Light" panose="020B0502040204020203" pitchFamily="34" charset="-122"/>
              </a:endParaRPr>
            </a:p>
          </p:txBody>
        </p:sp>
      </p:grpSp>
      <p:sp>
        <p:nvSpPr>
          <p:cNvPr id="67" name="Text Box 27"/>
          <p:cNvSpPr txBox="1">
            <a:spLocks noChangeArrowheads="1"/>
          </p:cNvSpPr>
          <p:nvPr/>
        </p:nvSpPr>
        <p:spPr bwMode="auto">
          <a:xfrm>
            <a:off x="5115817" y="2101365"/>
            <a:ext cx="864000"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defPPr>
              <a:defRPr lang="zh-CN"/>
            </a:defPPr>
            <a:lvl1pPr>
              <a:defRPr sz="1200"/>
            </a:lvl1pPr>
          </a:lstStyle>
          <a:p>
            <a:pPr algn="ctr"/>
            <a:r>
              <a:rPr lang="zh-CN" altLang="en-US" sz="800" dirty="0">
                <a:latin typeface="+mj-ea"/>
                <a:ea typeface="+mj-ea"/>
              </a:rPr>
              <a:t>网络边缘</a:t>
            </a:r>
          </a:p>
        </p:txBody>
      </p:sp>
      <p:sp>
        <p:nvSpPr>
          <p:cNvPr id="68" name="Text Box 28"/>
          <p:cNvSpPr txBox="1">
            <a:spLocks noChangeArrowheads="1"/>
          </p:cNvSpPr>
          <p:nvPr/>
        </p:nvSpPr>
        <p:spPr bwMode="auto">
          <a:xfrm>
            <a:off x="5359609" y="3297384"/>
            <a:ext cx="900000"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defPPr>
              <a:defRPr lang="zh-CN"/>
            </a:defPPr>
            <a:lvl1pPr>
              <a:defRPr sz="1200"/>
            </a:lvl1pPr>
          </a:lstStyle>
          <a:p>
            <a:pPr algn="ctr"/>
            <a:r>
              <a:rPr lang="zh-CN" altLang="en-US" sz="800" dirty="0">
                <a:latin typeface="+mj-ea"/>
                <a:ea typeface="+mj-ea"/>
              </a:rPr>
              <a:t>网络核心</a:t>
            </a:r>
          </a:p>
        </p:txBody>
      </p:sp>
      <p:sp>
        <p:nvSpPr>
          <p:cNvPr id="69" name="Text Box 30"/>
          <p:cNvSpPr txBox="1">
            <a:spLocks noChangeArrowheads="1"/>
          </p:cNvSpPr>
          <p:nvPr/>
        </p:nvSpPr>
        <p:spPr bwMode="auto">
          <a:xfrm>
            <a:off x="6799784" y="2517434"/>
            <a:ext cx="900000"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defPPr>
              <a:defRPr lang="zh-CN"/>
            </a:defPPr>
            <a:lvl1pPr>
              <a:defRPr sz="1200"/>
            </a:lvl1pPr>
          </a:lstStyle>
          <a:p>
            <a:r>
              <a:rPr lang="zh-CN" altLang="en-US" sz="800" dirty="0"/>
              <a:t>运行 </a:t>
            </a:r>
            <a:r>
              <a:rPr lang="en-US" altLang="zh-CN" sz="800" dirty="0"/>
              <a:t>P2P </a:t>
            </a:r>
            <a:r>
              <a:rPr lang="zh-CN" altLang="en-US" sz="800" dirty="0"/>
              <a:t>程序</a:t>
            </a:r>
          </a:p>
        </p:txBody>
      </p:sp>
      <p:sp>
        <p:nvSpPr>
          <p:cNvPr id="70" name="Text Box 31"/>
          <p:cNvSpPr txBox="1">
            <a:spLocks noChangeArrowheads="1"/>
          </p:cNvSpPr>
          <p:nvPr/>
        </p:nvSpPr>
        <p:spPr bwMode="auto">
          <a:xfrm>
            <a:off x="6750232" y="3929267"/>
            <a:ext cx="936000"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defPPr>
              <a:defRPr lang="zh-CN"/>
            </a:defPPr>
            <a:lvl1pPr>
              <a:defRPr sz="1200"/>
            </a:lvl1pPr>
          </a:lstStyle>
          <a:p>
            <a:r>
              <a:rPr lang="zh-CN" altLang="en-US" sz="800" dirty="0"/>
              <a:t>运行 </a:t>
            </a:r>
            <a:r>
              <a:rPr lang="en-US" altLang="zh-CN" sz="800" dirty="0"/>
              <a:t>P2P </a:t>
            </a:r>
            <a:r>
              <a:rPr lang="zh-CN" altLang="en-US" sz="800" dirty="0"/>
              <a:t>程序</a:t>
            </a:r>
          </a:p>
        </p:txBody>
      </p:sp>
      <p:sp>
        <p:nvSpPr>
          <p:cNvPr id="71" name="Line 32"/>
          <p:cNvSpPr>
            <a:spLocks noChangeShapeType="1"/>
          </p:cNvSpPr>
          <p:nvPr/>
        </p:nvSpPr>
        <p:spPr bwMode="auto">
          <a:xfrm flipH="1">
            <a:off x="6580626" y="2574648"/>
            <a:ext cx="0" cy="1577377"/>
          </a:xfrm>
          <a:prstGeom prst="line">
            <a:avLst/>
          </a:prstGeom>
          <a:noFill/>
          <a:ln w="28575">
            <a:solidFill>
              <a:srgbClr val="CC00CC">
                <a:alpha val="79999"/>
              </a:srgbClr>
            </a:solidFill>
            <a:prstDash val="sysDot"/>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dirty="0">
              <a:latin typeface="Times New Roman" panose="02020603050405020304" pitchFamily="18" charset="0"/>
              <a:ea typeface="微软雅黑 Light" panose="020B0502040204020203" pitchFamily="34" charset="-122"/>
            </a:endParaRPr>
          </a:p>
        </p:txBody>
      </p:sp>
      <p:sp>
        <p:nvSpPr>
          <p:cNvPr id="72" name="Line 33"/>
          <p:cNvSpPr>
            <a:spLocks noChangeShapeType="1"/>
          </p:cNvSpPr>
          <p:nvPr/>
        </p:nvSpPr>
        <p:spPr bwMode="auto">
          <a:xfrm flipH="1" flipV="1">
            <a:off x="6700072" y="2392168"/>
            <a:ext cx="231860" cy="132613"/>
          </a:xfrm>
          <a:prstGeom prst="line">
            <a:avLst/>
          </a:prstGeom>
          <a:noFill/>
          <a:ln w="19050">
            <a:solidFill>
              <a:srgbClr val="000066"/>
            </a:solidFill>
            <a:prstDash val="sysDash"/>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dirty="0">
              <a:latin typeface="Times New Roman" panose="02020603050405020304" pitchFamily="18" charset="0"/>
              <a:ea typeface="微软雅黑 Light" panose="020B0502040204020203" pitchFamily="34" charset="-122"/>
            </a:endParaRPr>
          </a:p>
        </p:txBody>
      </p:sp>
      <p:sp>
        <p:nvSpPr>
          <p:cNvPr id="73" name="Line 34"/>
          <p:cNvSpPr>
            <a:spLocks noChangeShapeType="1"/>
          </p:cNvSpPr>
          <p:nvPr/>
        </p:nvSpPr>
        <p:spPr bwMode="auto">
          <a:xfrm flipH="1">
            <a:off x="6675267" y="4168524"/>
            <a:ext cx="232938" cy="129730"/>
          </a:xfrm>
          <a:prstGeom prst="line">
            <a:avLst/>
          </a:prstGeom>
          <a:noFill/>
          <a:ln w="19050">
            <a:solidFill>
              <a:srgbClr val="000066"/>
            </a:solidFill>
            <a:prstDash val="sysDash"/>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dirty="0">
              <a:latin typeface="Times New Roman" panose="02020603050405020304" pitchFamily="18" charset="0"/>
              <a:ea typeface="微软雅黑 Light" panose="020B0502040204020203" pitchFamily="34" charset="-122"/>
            </a:endParaRPr>
          </a:p>
        </p:txBody>
      </p:sp>
      <p:sp>
        <p:nvSpPr>
          <p:cNvPr id="74" name="Text Box 35"/>
          <p:cNvSpPr txBox="1">
            <a:spLocks noChangeArrowheads="1"/>
          </p:cNvSpPr>
          <p:nvPr/>
        </p:nvSpPr>
        <p:spPr bwMode="auto">
          <a:xfrm>
            <a:off x="6124077" y="4179341"/>
            <a:ext cx="288517" cy="246221"/>
          </a:xfrm>
          <a:prstGeom prst="rect">
            <a:avLst/>
          </a:prstGeom>
          <a:noFill/>
          <a:ln>
            <a:noFill/>
          </a:ln>
          <a:effec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000" b="1" dirty="0">
                <a:solidFill>
                  <a:srgbClr val="0000FF"/>
                </a:solidFill>
                <a:latin typeface="Times New Roman" panose="02020603050405020304" pitchFamily="18" charset="0"/>
                <a:ea typeface="微软雅黑 Light" panose="020B0502040204020203" pitchFamily="34" charset="-122"/>
              </a:rPr>
              <a:t>D</a:t>
            </a:r>
          </a:p>
        </p:txBody>
      </p:sp>
      <p:sp>
        <p:nvSpPr>
          <p:cNvPr id="75" name="Text Box 36"/>
          <p:cNvSpPr txBox="1">
            <a:spLocks noChangeArrowheads="1"/>
          </p:cNvSpPr>
          <p:nvPr/>
        </p:nvSpPr>
        <p:spPr bwMode="auto">
          <a:xfrm>
            <a:off x="6682993" y="2104198"/>
            <a:ext cx="269400" cy="246221"/>
          </a:xfrm>
          <a:prstGeom prst="rect">
            <a:avLst/>
          </a:prstGeom>
          <a:noFill/>
          <a:ln>
            <a:noFill/>
          </a:ln>
          <a:effec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000" b="1" dirty="0">
                <a:solidFill>
                  <a:srgbClr val="0000FF"/>
                </a:solidFill>
                <a:latin typeface="Times New Roman" panose="02020603050405020304" pitchFamily="18" charset="0"/>
                <a:ea typeface="微软雅黑 Light" panose="020B0502040204020203" pitchFamily="34" charset="-122"/>
              </a:rPr>
              <a:t>C</a:t>
            </a:r>
          </a:p>
        </p:txBody>
      </p:sp>
      <p:sp>
        <p:nvSpPr>
          <p:cNvPr id="76" name="Line 38"/>
          <p:cNvSpPr>
            <a:spLocks noChangeShapeType="1"/>
          </p:cNvSpPr>
          <p:nvPr/>
        </p:nvSpPr>
        <p:spPr bwMode="auto">
          <a:xfrm flipH="1">
            <a:off x="4546683" y="2644792"/>
            <a:ext cx="263066" cy="1113712"/>
          </a:xfrm>
          <a:prstGeom prst="line">
            <a:avLst/>
          </a:prstGeom>
          <a:noFill/>
          <a:ln w="28575">
            <a:solidFill>
              <a:srgbClr val="CC00CC">
                <a:alpha val="79999"/>
              </a:srgbClr>
            </a:solidFill>
            <a:prstDash val="sysDot"/>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dirty="0">
              <a:latin typeface="Times New Roman" panose="02020603050405020304" pitchFamily="18" charset="0"/>
              <a:ea typeface="微软雅黑 Light" panose="020B0502040204020203" pitchFamily="34" charset="-122"/>
            </a:endParaRPr>
          </a:p>
        </p:txBody>
      </p:sp>
      <p:sp>
        <p:nvSpPr>
          <p:cNvPr id="77" name="Text Box 39"/>
          <p:cNvSpPr txBox="1">
            <a:spLocks noChangeArrowheads="1"/>
          </p:cNvSpPr>
          <p:nvPr/>
        </p:nvSpPr>
        <p:spPr bwMode="auto">
          <a:xfrm>
            <a:off x="4464641" y="2109508"/>
            <a:ext cx="260577" cy="246221"/>
          </a:xfrm>
          <a:prstGeom prst="rect">
            <a:avLst/>
          </a:prstGeom>
          <a:noFill/>
          <a:ln>
            <a:noFill/>
          </a:ln>
          <a:effec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000" b="1" dirty="0">
                <a:solidFill>
                  <a:srgbClr val="0000FF"/>
                </a:solidFill>
                <a:latin typeface="Times New Roman" panose="02020603050405020304" pitchFamily="18" charset="0"/>
                <a:ea typeface="微软雅黑 Light" panose="020B0502040204020203" pitchFamily="34" charset="-122"/>
              </a:rPr>
              <a:t>E</a:t>
            </a:r>
          </a:p>
        </p:txBody>
      </p:sp>
      <p:sp>
        <p:nvSpPr>
          <p:cNvPr id="78" name="Text Box 40"/>
          <p:cNvSpPr txBox="1">
            <a:spLocks noChangeArrowheads="1"/>
          </p:cNvSpPr>
          <p:nvPr/>
        </p:nvSpPr>
        <p:spPr bwMode="auto">
          <a:xfrm>
            <a:off x="4145514" y="3889206"/>
            <a:ext cx="256166" cy="246221"/>
          </a:xfrm>
          <a:prstGeom prst="rect">
            <a:avLst/>
          </a:prstGeom>
          <a:noFill/>
          <a:ln>
            <a:noFill/>
          </a:ln>
          <a:effec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000" b="1" dirty="0">
                <a:solidFill>
                  <a:srgbClr val="0000FF"/>
                </a:solidFill>
                <a:latin typeface="Times New Roman" panose="02020603050405020304" pitchFamily="18" charset="0"/>
                <a:ea typeface="微软雅黑 Light" panose="020B0502040204020203" pitchFamily="34" charset="-122"/>
              </a:rPr>
              <a:t>F</a:t>
            </a:r>
          </a:p>
        </p:txBody>
      </p:sp>
      <p:sp>
        <p:nvSpPr>
          <p:cNvPr id="79" name="Text Box 41"/>
          <p:cNvSpPr txBox="1">
            <a:spLocks noChangeArrowheads="1"/>
          </p:cNvSpPr>
          <p:nvPr/>
        </p:nvSpPr>
        <p:spPr bwMode="auto">
          <a:xfrm>
            <a:off x="3675389" y="2406574"/>
            <a:ext cx="1181012"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defPPr>
              <a:defRPr lang="zh-CN"/>
            </a:defPPr>
            <a:lvl1pPr>
              <a:defRPr sz="1200"/>
            </a:lvl1pPr>
          </a:lstStyle>
          <a:p>
            <a:r>
              <a:rPr lang="zh-CN" altLang="en-US" sz="800" dirty="0"/>
              <a:t>运行 </a:t>
            </a:r>
            <a:r>
              <a:rPr lang="en-US" altLang="zh-CN" sz="800" dirty="0"/>
              <a:t>P2P </a:t>
            </a:r>
            <a:r>
              <a:rPr lang="zh-CN" altLang="en-US" sz="800" dirty="0"/>
              <a:t>程序</a:t>
            </a:r>
          </a:p>
        </p:txBody>
      </p:sp>
      <p:sp>
        <p:nvSpPr>
          <p:cNvPr id="80" name="Text Box 42"/>
          <p:cNvSpPr txBox="1">
            <a:spLocks noChangeArrowheads="1"/>
          </p:cNvSpPr>
          <p:nvPr/>
        </p:nvSpPr>
        <p:spPr bwMode="auto">
          <a:xfrm>
            <a:off x="3519198" y="3508302"/>
            <a:ext cx="1181011"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defPPr>
              <a:defRPr lang="zh-CN"/>
            </a:defPPr>
            <a:lvl1pPr>
              <a:defRPr sz="1200"/>
            </a:lvl1pPr>
          </a:lstStyle>
          <a:p>
            <a:r>
              <a:rPr lang="zh-CN" altLang="en-US" sz="800" dirty="0"/>
              <a:t>运行 </a:t>
            </a:r>
            <a:r>
              <a:rPr lang="en-US" altLang="zh-CN" sz="800" dirty="0"/>
              <a:t>P2P </a:t>
            </a:r>
            <a:r>
              <a:rPr lang="zh-CN" altLang="en-US" sz="800" dirty="0"/>
              <a:t>程序</a:t>
            </a:r>
          </a:p>
        </p:txBody>
      </p:sp>
      <p:sp>
        <p:nvSpPr>
          <p:cNvPr id="81" name="Line 43"/>
          <p:cNvSpPr>
            <a:spLocks noChangeShapeType="1"/>
          </p:cNvSpPr>
          <p:nvPr/>
        </p:nvSpPr>
        <p:spPr bwMode="auto">
          <a:xfrm flipV="1">
            <a:off x="4451174" y="2400653"/>
            <a:ext cx="401939" cy="159660"/>
          </a:xfrm>
          <a:prstGeom prst="line">
            <a:avLst/>
          </a:prstGeom>
          <a:noFill/>
          <a:ln w="19050">
            <a:solidFill>
              <a:srgbClr val="000066"/>
            </a:solidFill>
            <a:prstDash val="sysDash"/>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dirty="0">
              <a:latin typeface="Times New Roman" panose="02020603050405020304" pitchFamily="18" charset="0"/>
              <a:ea typeface="微软雅黑 Light" panose="020B0502040204020203" pitchFamily="34" charset="-122"/>
            </a:endParaRPr>
          </a:p>
        </p:txBody>
      </p:sp>
      <p:sp>
        <p:nvSpPr>
          <p:cNvPr id="82" name="Line 44"/>
          <p:cNvSpPr>
            <a:spLocks noChangeShapeType="1"/>
          </p:cNvSpPr>
          <p:nvPr/>
        </p:nvSpPr>
        <p:spPr bwMode="auto">
          <a:xfrm>
            <a:off x="4202779" y="3693536"/>
            <a:ext cx="240625" cy="189198"/>
          </a:xfrm>
          <a:prstGeom prst="line">
            <a:avLst/>
          </a:prstGeom>
          <a:noFill/>
          <a:ln w="19050">
            <a:solidFill>
              <a:srgbClr val="000066"/>
            </a:solidFill>
            <a:prstDash val="sysDash"/>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dirty="0">
              <a:latin typeface="Times New Roman" panose="02020603050405020304" pitchFamily="18" charset="0"/>
              <a:ea typeface="微软雅黑 Light" panose="020B0502040204020203" pitchFamily="34" charset="-122"/>
            </a:endParaRPr>
          </a:p>
        </p:txBody>
      </p:sp>
      <p:sp>
        <p:nvSpPr>
          <p:cNvPr id="83" name="Line 45"/>
          <p:cNvSpPr>
            <a:spLocks noChangeShapeType="1"/>
          </p:cNvSpPr>
          <p:nvPr/>
        </p:nvSpPr>
        <p:spPr bwMode="auto">
          <a:xfrm flipH="1">
            <a:off x="4657244" y="2476970"/>
            <a:ext cx="1753518" cy="1275179"/>
          </a:xfrm>
          <a:prstGeom prst="line">
            <a:avLst/>
          </a:prstGeom>
          <a:noFill/>
          <a:ln w="28575">
            <a:solidFill>
              <a:srgbClr val="CC00CC">
                <a:alpha val="79999"/>
              </a:srgbClr>
            </a:solidFill>
            <a:prstDash val="sysDot"/>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dirty="0">
              <a:latin typeface="Times New Roman" panose="02020603050405020304" pitchFamily="18" charset="0"/>
              <a:ea typeface="微软雅黑 Light" panose="020B0502040204020203" pitchFamily="34" charset="-122"/>
            </a:endParaRPr>
          </a:p>
        </p:txBody>
      </p:sp>
      <p:pic>
        <p:nvPicPr>
          <p:cNvPr id="85" name="图片 38"/>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291613" y="3010269"/>
            <a:ext cx="484846" cy="67832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6"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129650" y="2925367"/>
            <a:ext cx="372539" cy="37253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 name="图片 3">
            <a:extLst>
              <a:ext uri="{FF2B5EF4-FFF2-40B4-BE49-F238E27FC236}">
                <a16:creationId xmlns:a16="http://schemas.microsoft.com/office/drawing/2014/main" id="{350AF0F5-C727-3177-D2ED-9AD6C9E0BD0D}"/>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4742792" y="2255243"/>
            <a:ext cx="323850" cy="304800"/>
          </a:xfrm>
          <a:prstGeom prst="rect">
            <a:avLst/>
          </a:prstGeom>
        </p:spPr>
      </p:pic>
      <p:pic>
        <p:nvPicPr>
          <p:cNvPr id="7" name="图片 6">
            <a:extLst>
              <a:ext uri="{FF2B5EF4-FFF2-40B4-BE49-F238E27FC236}">
                <a16:creationId xmlns:a16="http://schemas.microsoft.com/office/drawing/2014/main" id="{DEC07F29-A9A9-4EFA-25BD-0702F4EF4F63}"/>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384335" y="2199170"/>
            <a:ext cx="323850" cy="304800"/>
          </a:xfrm>
          <a:prstGeom prst="rect">
            <a:avLst/>
          </a:prstGeom>
        </p:spPr>
      </p:pic>
      <p:pic>
        <p:nvPicPr>
          <p:cNvPr id="9" name="图片 8">
            <a:extLst>
              <a:ext uri="{FF2B5EF4-FFF2-40B4-BE49-F238E27FC236}">
                <a16:creationId xmlns:a16="http://schemas.microsoft.com/office/drawing/2014/main" id="{05E88008-E35E-1EE3-B90F-E074345F4863}"/>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4317920" y="3683567"/>
            <a:ext cx="323850" cy="304800"/>
          </a:xfrm>
          <a:prstGeom prst="rect">
            <a:avLst/>
          </a:prstGeom>
        </p:spPr>
      </p:pic>
      <p:pic>
        <p:nvPicPr>
          <p:cNvPr id="11" name="图片 10">
            <a:extLst>
              <a:ext uri="{FF2B5EF4-FFF2-40B4-BE49-F238E27FC236}">
                <a16:creationId xmlns:a16="http://schemas.microsoft.com/office/drawing/2014/main" id="{C9E657EE-63AD-F6E2-A6B4-7A59B37113DF}"/>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4965278" y="4138789"/>
            <a:ext cx="323850" cy="304800"/>
          </a:xfrm>
          <a:prstGeom prst="rect">
            <a:avLst/>
          </a:prstGeom>
        </p:spPr>
      </p:pic>
      <p:pic>
        <p:nvPicPr>
          <p:cNvPr id="13" name="图片 12">
            <a:extLst>
              <a:ext uri="{FF2B5EF4-FFF2-40B4-BE49-F238E27FC236}">
                <a16:creationId xmlns:a16="http://schemas.microsoft.com/office/drawing/2014/main" id="{158D904D-57FA-BEF6-D1EA-287C55186983}"/>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410762" y="4117191"/>
            <a:ext cx="323850" cy="304800"/>
          </a:xfrm>
          <a:prstGeom prst="rect">
            <a:avLst/>
          </a:prstGeom>
        </p:spPr>
      </p:pic>
    </p:spTree>
    <p:extLst>
      <p:ext uri="{BB962C8B-B14F-4D97-AF65-F5344CB8AC3E}">
        <p14:creationId xmlns:p14="http://schemas.microsoft.com/office/powerpoint/2010/main" val="4252903005"/>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6" presetClass="entr" presetSubtype="42" fill="hold" grpId="0" nodeType="afterEffect">
                                  <p:stCondLst>
                                    <p:cond delay="0"/>
                                  </p:stCondLst>
                                  <p:childTnLst>
                                    <p:set>
                                      <p:cBhvr>
                                        <p:cTn id="6" dur="1" fill="hold">
                                          <p:stCondLst>
                                            <p:cond delay="0"/>
                                          </p:stCondLst>
                                        </p:cTn>
                                        <p:tgtEl>
                                          <p:spTgt spid="71"/>
                                        </p:tgtEl>
                                        <p:attrNameLst>
                                          <p:attrName>style.visibility</p:attrName>
                                        </p:attrNameLst>
                                      </p:cBhvr>
                                      <p:to>
                                        <p:strVal val="visible"/>
                                      </p:to>
                                    </p:set>
                                    <p:animEffect transition="in" filter="barn(outHorizontal)">
                                      <p:cBhvr>
                                        <p:cTn id="7" dur="2000"/>
                                        <p:tgtEl>
                                          <p:spTgt spid="71"/>
                                        </p:tgtEl>
                                      </p:cBhvr>
                                    </p:animEffect>
                                  </p:childTnLst>
                                </p:cTn>
                              </p:par>
                            </p:childTnLst>
                          </p:cTn>
                        </p:par>
                        <p:par>
                          <p:cTn id="8" fill="hold">
                            <p:stCondLst>
                              <p:cond delay="2000"/>
                            </p:stCondLst>
                            <p:childTnLst>
                              <p:par>
                                <p:cTn id="9" presetID="16" presetClass="entr" presetSubtype="42" fill="hold" grpId="0" nodeType="afterEffect">
                                  <p:stCondLst>
                                    <p:cond delay="500"/>
                                  </p:stCondLst>
                                  <p:childTnLst>
                                    <p:set>
                                      <p:cBhvr>
                                        <p:cTn id="10" dur="1" fill="hold">
                                          <p:stCondLst>
                                            <p:cond delay="0"/>
                                          </p:stCondLst>
                                        </p:cTn>
                                        <p:tgtEl>
                                          <p:spTgt spid="83"/>
                                        </p:tgtEl>
                                        <p:attrNameLst>
                                          <p:attrName>style.visibility</p:attrName>
                                        </p:attrNameLst>
                                      </p:cBhvr>
                                      <p:to>
                                        <p:strVal val="visible"/>
                                      </p:to>
                                    </p:set>
                                    <p:animEffect transition="in" filter="barn(outHorizontal)">
                                      <p:cBhvr>
                                        <p:cTn id="11" dur="2000"/>
                                        <p:tgtEl>
                                          <p:spTgt spid="83"/>
                                        </p:tgtEl>
                                      </p:cBhvr>
                                    </p:animEffect>
                                  </p:childTnLst>
                                </p:cTn>
                              </p:par>
                            </p:childTnLst>
                          </p:cTn>
                        </p:par>
                        <p:par>
                          <p:cTn id="12" fill="hold">
                            <p:stCondLst>
                              <p:cond delay="4500"/>
                            </p:stCondLst>
                            <p:childTnLst>
                              <p:par>
                                <p:cTn id="13" presetID="16" presetClass="entr" presetSubtype="42" fill="hold" grpId="0" nodeType="afterEffect">
                                  <p:stCondLst>
                                    <p:cond delay="500"/>
                                  </p:stCondLst>
                                  <p:childTnLst>
                                    <p:set>
                                      <p:cBhvr>
                                        <p:cTn id="14" dur="1" fill="hold">
                                          <p:stCondLst>
                                            <p:cond delay="0"/>
                                          </p:stCondLst>
                                        </p:cTn>
                                        <p:tgtEl>
                                          <p:spTgt spid="76"/>
                                        </p:tgtEl>
                                        <p:attrNameLst>
                                          <p:attrName>style.visibility</p:attrName>
                                        </p:attrNameLst>
                                      </p:cBhvr>
                                      <p:to>
                                        <p:strVal val="visible"/>
                                      </p:to>
                                    </p:set>
                                    <p:animEffect transition="in" filter="barn(outHorizontal)">
                                      <p:cBhvr>
                                        <p:cTn id="15" dur="2000"/>
                                        <p:tgtEl>
                                          <p:spTgt spid="7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1" grpId="0" animBg="1"/>
      <p:bldP spid="76" grpId="0" animBg="1"/>
      <p:bldP spid="83" grpId="0" animBg="1"/>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27C8CF9C-7AFE-CD2B-B13B-941961133E62}"/>
              </a:ext>
            </a:extLst>
          </p:cNvPr>
          <p:cNvSpPr>
            <a:spLocks noGrp="1"/>
          </p:cNvSpPr>
          <p:nvPr>
            <p:ph type="title"/>
          </p:nvPr>
        </p:nvSpPr>
        <p:spPr>
          <a:xfrm>
            <a:off x="612000" y="144000"/>
            <a:ext cx="7920000" cy="341632"/>
          </a:xfrm>
        </p:spPr>
        <p:txBody>
          <a:bodyPr/>
          <a:lstStyle/>
          <a:p>
            <a:r>
              <a:rPr lang="en-US" altLang="zh-CN" dirty="0"/>
              <a:t>1.3.2  </a:t>
            </a:r>
            <a:r>
              <a:rPr lang="zh-CN" altLang="en-US" dirty="0"/>
              <a:t>互联网的核心部分</a:t>
            </a:r>
          </a:p>
        </p:txBody>
      </p:sp>
      <p:sp>
        <p:nvSpPr>
          <p:cNvPr id="5" name="内容占位符 4"/>
          <p:cNvSpPr>
            <a:spLocks noGrp="1"/>
          </p:cNvSpPr>
          <p:nvPr>
            <p:ph sz="quarter" idx="10"/>
          </p:nvPr>
        </p:nvSpPr>
        <p:spPr>
          <a:xfrm>
            <a:off x="612000" y="899999"/>
            <a:ext cx="7920000" cy="3780000"/>
          </a:xfrm>
        </p:spPr>
        <p:txBody>
          <a:bodyPr/>
          <a:lstStyle/>
          <a:p>
            <a:r>
              <a:rPr lang="zh-CN" altLang="en-US" dirty="0"/>
              <a:t>是互联网中最复杂的部分</a:t>
            </a:r>
          </a:p>
          <a:p>
            <a:r>
              <a:rPr lang="zh-CN" altLang="en-US" dirty="0"/>
              <a:t>向网络边缘中的主机提供连通性，使任何一台主机都能够向其他主机通信</a:t>
            </a:r>
            <a:endParaRPr lang="en-US" altLang="zh-CN" dirty="0"/>
          </a:p>
          <a:p>
            <a:r>
              <a:rPr lang="zh-CN" altLang="en-US" dirty="0"/>
              <a:t>在网络核心部分起特殊作用的是路由器 </a:t>
            </a:r>
            <a:r>
              <a:rPr lang="en-US" altLang="zh-CN" dirty="0"/>
              <a:t> Router</a:t>
            </a:r>
            <a:endParaRPr lang="zh-CN" altLang="en-US" dirty="0"/>
          </a:p>
          <a:p>
            <a:pPr lvl="1"/>
            <a:r>
              <a:rPr lang="zh-CN" altLang="en-US" dirty="0"/>
              <a:t>路由器是实现分组交换 </a:t>
            </a:r>
            <a:r>
              <a:rPr lang="en-US" altLang="zh-CN" dirty="0"/>
              <a:t>(Packet Switching) </a:t>
            </a:r>
            <a:r>
              <a:rPr lang="zh-CN" altLang="en-US" dirty="0"/>
              <a:t>的关键构件</a:t>
            </a:r>
            <a:endParaRPr lang="en-US" altLang="zh-CN" dirty="0"/>
          </a:p>
          <a:p>
            <a:pPr lvl="1"/>
            <a:r>
              <a:rPr lang="zh-CN" altLang="en-US" dirty="0"/>
              <a:t>其任务是转发收到的分组</a:t>
            </a:r>
            <a:endParaRPr lang="en-US" altLang="zh-CN" dirty="0"/>
          </a:p>
          <a:p>
            <a:pPr lvl="1"/>
            <a:r>
              <a:rPr lang="zh-CN" altLang="en-US" dirty="0"/>
              <a:t>分组转发是网络核心部分最重要的功能</a:t>
            </a:r>
          </a:p>
        </p:txBody>
      </p:sp>
      <p:grpSp>
        <p:nvGrpSpPr>
          <p:cNvPr id="6" name="组合 5"/>
          <p:cNvGrpSpPr/>
          <p:nvPr/>
        </p:nvGrpSpPr>
        <p:grpSpPr>
          <a:xfrm>
            <a:off x="4173398" y="2363470"/>
            <a:ext cx="4702629" cy="2316480"/>
            <a:chOff x="1385888" y="1118045"/>
            <a:chExt cx="6299200" cy="3198812"/>
          </a:xfrm>
        </p:grpSpPr>
        <p:sp>
          <p:nvSpPr>
            <p:cNvPr id="7" name="Oval 4"/>
            <p:cNvSpPr>
              <a:spLocks noChangeArrowheads="1"/>
            </p:cNvSpPr>
            <p:nvPr/>
          </p:nvSpPr>
          <p:spPr bwMode="auto">
            <a:xfrm>
              <a:off x="1385888" y="1118045"/>
              <a:ext cx="6299200" cy="3198812"/>
            </a:xfrm>
            <a:prstGeom prst="ellipse">
              <a:avLst/>
            </a:prstGeom>
            <a:solidFill>
              <a:srgbClr val="C5E5FB"/>
            </a:solidFill>
            <a:ln>
              <a:noFill/>
            </a:ln>
            <a:effectLst/>
            <a:scene3d>
              <a:camera prst="orthographicFront">
                <a:rot lat="0" lon="0" rev="0"/>
              </a:camera>
              <a:lightRig rig="contrasting" dir="t">
                <a:rot lat="0" lon="0" rev="7800000"/>
              </a:lightRig>
            </a:scene3d>
            <a:sp3d/>
            <a:extLst>
              <a:ext uri="{91240B29-F687-4F45-9708-019B960494DF}">
                <a14:hiddenLine xmlns:a14="http://schemas.microsoft.com/office/drawing/2010/main" w="9525">
                  <a:solidFill>
                    <a:schemeClr val="tx1"/>
                  </a:solidFill>
                  <a:prstDash val="dash"/>
                  <a:round/>
                </a14:hiddenLine>
              </a:ext>
            </a:extLst>
          </p:spPr>
          <p:txBody>
            <a:bodyPr wrap="none" anchor="ctr"/>
            <a:lstStyle/>
            <a:p>
              <a:pPr algn="ctr" eaLnBrk="0" fontAlgn="auto" hangingPunct="0">
                <a:spcBef>
                  <a:spcPts val="0"/>
                </a:spcBef>
                <a:spcAft>
                  <a:spcPts val="0"/>
                </a:spcAft>
                <a:defRPr/>
              </a:pPr>
              <a:endParaRPr lang="zh-CN" altLang="en-US" sz="1400">
                <a:solidFill>
                  <a:srgbClr val="368AD6"/>
                </a:solidFill>
                <a:latin typeface="+mn-lt"/>
                <a:ea typeface="+mn-ea"/>
              </a:endParaRPr>
            </a:p>
          </p:txBody>
        </p:sp>
        <p:sp>
          <p:nvSpPr>
            <p:cNvPr id="8" name="Oval 5"/>
            <p:cNvSpPr>
              <a:spLocks noChangeArrowheads="1"/>
            </p:cNvSpPr>
            <p:nvPr/>
          </p:nvSpPr>
          <p:spPr bwMode="auto">
            <a:xfrm>
              <a:off x="2236764" y="1742101"/>
              <a:ext cx="4684539" cy="1901320"/>
            </a:xfrm>
            <a:prstGeom prst="ellipse">
              <a:avLst/>
            </a:prstGeom>
            <a:solidFill>
              <a:schemeClr val="bg1"/>
            </a:solidFill>
            <a:ln>
              <a:noFill/>
            </a:ln>
            <a:extLst>
              <a:ext uri="{91240B29-F687-4F45-9708-019B960494DF}">
                <a14:hiddenLine xmlns:a14="http://schemas.microsoft.com/office/drawing/2010/main" w="9525">
                  <a:solidFill>
                    <a:schemeClr val="tx1"/>
                  </a:solidFill>
                  <a:prstDash val="dash"/>
                  <a:round/>
                </a14:hiddenLine>
              </a:ext>
            </a:extLst>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9" name="Text Box 79"/>
            <p:cNvSpPr txBox="1">
              <a:spLocks noChangeArrowheads="1"/>
            </p:cNvSpPr>
            <p:nvPr/>
          </p:nvSpPr>
          <p:spPr bwMode="auto">
            <a:xfrm>
              <a:off x="3300774" y="1240001"/>
              <a:ext cx="2505488" cy="3825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defPPr>
                <a:defRPr lang="zh-CN"/>
              </a:defPPr>
              <a:lvl1pPr>
                <a:defRPr sz="1200">
                  <a:latin typeface="+mj-ea"/>
                  <a:ea typeface="+mj-ea"/>
                </a:defRPr>
              </a:lvl1pPr>
            </a:lstStyle>
            <a:p>
              <a:r>
                <a:rPr lang="zh-CN" altLang="en-US" dirty="0"/>
                <a:t>互联网的边缘部分</a:t>
              </a:r>
            </a:p>
          </p:txBody>
        </p:sp>
        <p:sp>
          <p:nvSpPr>
            <p:cNvPr id="10" name="Text Box 1523"/>
            <p:cNvSpPr txBox="1">
              <a:spLocks noChangeArrowheads="1"/>
            </p:cNvSpPr>
            <p:nvPr/>
          </p:nvSpPr>
          <p:spPr bwMode="auto">
            <a:xfrm>
              <a:off x="3319922" y="1842941"/>
              <a:ext cx="877080" cy="3825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defPPr>
                <a:defRPr lang="zh-CN"/>
              </a:defPPr>
              <a:lvl1pPr>
                <a:defRPr sz="1200">
                  <a:latin typeface="+mj-ea"/>
                  <a:ea typeface="+mj-ea"/>
                </a:defRPr>
              </a:lvl1pPr>
            </a:lstStyle>
            <a:p>
              <a:r>
                <a:rPr lang="zh-CN" altLang="en-US" dirty="0">
                  <a:solidFill>
                    <a:srgbClr val="D4237A"/>
                  </a:solidFill>
                </a:rPr>
                <a:t>路由器</a:t>
              </a:r>
            </a:p>
          </p:txBody>
        </p:sp>
        <p:sp>
          <p:nvSpPr>
            <p:cNvPr id="11" name="Text Box 1523"/>
            <p:cNvSpPr txBox="1">
              <a:spLocks noChangeArrowheads="1"/>
            </p:cNvSpPr>
            <p:nvPr/>
          </p:nvSpPr>
          <p:spPr bwMode="auto">
            <a:xfrm>
              <a:off x="2775188" y="2508607"/>
              <a:ext cx="492936" cy="27759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zh-CN" altLang="en-US" sz="1200" b="1">
                  <a:solidFill>
                    <a:srgbClr val="0000FF"/>
                  </a:solidFill>
                  <a:latin typeface="Times New Roman" panose="02020603050405020304" pitchFamily="18" charset="0"/>
                  <a:ea typeface="微软雅黑" panose="020B0503020204020204" pitchFamily="34" charset="-122"/>
                </a:rPr>
                <a:t>网络</a:t>
              </a:r>
            </a:p>
          </p:txBody>
        </p:sp>
        <p:cxnSp>
          <p:nvCxnSpPr>
            <p:cNvPr id="12" name="直接连接符 11"/>
            <p:cNvCxnSpPr/>
            <p:nvPr/>
          </p:nvCxnSpPr>
          <p:spPr>
            <a:xfrm flipV="1">
              <a:off x="3829114" y="2242472"/>
              <a:ext cx="726827" cy="78897"/>
            </a:xfrm>
            <a:prstGeom prst="line">
              <a:avLst/>
            </a:prstGeom>
            <a:ln w="19050">
              <a:solidFill>
                <a:srgbClr val="0000FF"/>
              </a:solidFill>
            </a:ln>
          </p:spPr>
          <p:style>
            <a:lnRef idx="1">
              <a:schemeClr val="accent1"/>
            </a:lnRef>
            <a:fillRef idx="0">
              <a:schemeClr val="accent1"/>
            </a:fillRef>
            <a:effectRef idx="0">
              <a:schemeClr val="accent1"/>
            </a:effectRef>
            <a:fontRef idx="minor">
              <a:schemeClr val="tx1"/>
            </a:fontRef>
          </p:style>
        </p:cxnSp>
        <p:cxnSp>
          <p:nvCxnSpPr>
            <p:cNvPr id="13" name="直接连接符 12"/>
            <p:cNvCxnSpPr/>
            <p:nvPr/>
          </p:nvCxnSpPr>
          <p:spPr>
            <a:xfrm flipV="1">
              <a:off x="4167323" y="3210766"/>
              <a:ext cx="1071833" cy="10960"/>
            </a:xfrm>
            <a:prstGeom prst="line">
              <a:avLst/>
            </a:prstGeom>
            <a:ln w="19050">
              <a:solidFill>
                <a:srgbClr val="0000FF"/>
              </a:solidFill>
            </a:ln>
          </p:spPr>
          <p:style>
            <a:lnRef idx="1">
              <a:schemeClr val="accent1"/>
            </a:lnRef>
            <a:fillRef idx="0">
              <a:schemeClr val="accent1"/>
            </a:fillRef>
            <a:effectRef idx="0">
              <a:schemeClr val="accent1"/>
            </a:effectRef>
            <a:fontRef idx="minor">
              <a:schemeClr val="tx1"/>
            </a:fontRef>
          </p:style>
        </p:cxnSp>
        <p:cxnSp>
          <p:nvCxnSpPr>
            <p:cNvPr id="14" name="直接连接符 13"/>
            <p:cNvCxnSpPr/>
            <p:nvPr/>
          </p:nvCxnSpPr>
          <p:spPr>
            <a:xfrm>
              <a:off x="4815964" y="2173289"/>
              <a:ext cx="1118900" cy="323737"/>
            </a:xfrm>
            <a:prstGeom prst="line">
              <a:avLst/>
            </a:prstGeom>
            <a:ln w="19050">
              <a:solidFill>
                <a:srgbClr val="0000FF"/>
              </a:solidFill>
            </a:ln>
          </p:spPr>
          <p:style>
            <a:lnRef idx="1">
              <a:schemeClr val="accent1"/>
            </a:lnRef>
            <a:fillRef idx="0">
              <a:schemeClr val="accent1"/>
            </a:fillRef>
            <a:effectRef idx="0">
              <a:schemeClr val="accent1"/>
            </a:effectRef>
            <a:fontRef idx="minor">
              <a:schemeClr val="tx1"/>
            </a:fontRef>
          </p:style>
        </p:cxnSp>
        <p:cxnSp>
          <p:nvCxnSpPr>
            <p:cNvPr id="15" name="直接连接符 14"/>
            <p:cNvCxnSpPr/>
            <p:nvPr/>
          </p:nvCxnSpPr>
          <p:spPr>
            <a:xfrm>
              <a:off x="3327609" y="3081385"/>
              <a:ext cx="517467" cy="139001"/>
            </a:xfrm>
            <a:prstGeom prst="line">
              <a:avLst/>
            </a:prstGeom>
            <a:ln w="19050">
              <a:solidFill>
                <a:srgbClr val="0000FF"/>
              </a:solidFill>
            </a:ln>
          </p:spPr>
          <p:style>
            <a:lnRef idx="1">
              <a:schemeClr val="accent1"/>
            </a:lnRef>
            <a:fillRef idx="0">
              <a:schemeClr val="accent1"/>
            </a:fillRef>
            <a:effectRef idx="0">
              <a:schemeClr val="accent1"/>
            </a:effectRef>
            <a:fontRef idx="minor">
              <a:schemeClr val="tx1"/>
            </a:fontRef>
          </p:style>
        </p:cxnSp>
        <p:cxnSp>
          <p:nvCxnSpPr>
            <p:cNvPr id="16" name="直接连接符 15"/>
            <p:cNvCxnSpPr/>
            <p:nvPr/>
          </p:nvCxnSpPr>
          <p:spPr>
            <a:xfrm flipV="1">
              <a:off x="3198733" y="2335157"/>
              <a:ext cx="570758" cy="225522"/>
            </a:xfrm>
            <a:prstGeom prst="line">
              <a:avLst/>
            </a:prstGeom>
            <a:ln w="19050">
              <a:solidFill>
                <a:srgbClr val="0000FF"/>
              </a:solidFill>
            </a:ln>
          </p:spPr>
          <p:style>
            <a:lnRef idx="1">
              <a:schemeClr val="accent1"/>
            </a:lnRef>
            <a:fillRef idx="0">
              <a:schemeClr val="accent1"/>
            </a:fillRef>
            <a:effectRef idx="0">
              <a:schemeClr val="accent1"/>
            </a:effectRef>
            <a:fontRef idx="minor">
              <a:schemeClr val="tx1"/>
            </a:fontRef>
          </p:style>
        </p:cxnSp>
        <p:cxnSp>
          <p:nvCxnSpPr>
            <p:cNvPr id="17" name="直接连接符 16"/>
            <p:cNvCxnSpPr/>
            <p:nvPr/>
          </p:nvCxnSpPr>
          <p:spPr>
            <a:xfrm flipV="1">
              <a:off x="5509041" y="3010286"/>
              <a:ext cx="570758" cy="225522"/>
            </a:xfrm>
            <a:prstGeom prst="line">
              <a:avLst/>
            </a:prstGeom>
            <a:ln w="19050">
              <a:solidFill>
                <a:srgbClr val="0000FF"/>
              </a:solidFill>
            </a:ln>
          </p:spPr>
          <p:style>
            <a:lnRef idx="1">
              <a:schemeClr val="accent1"/>
            </a:lnRef>
            <a:fillRef idx="0">
              <a:schemeClr val="accent1"/>
            </a:fillRef>
            <a:effectRef idx="0">
              <a:schemeClr val="accent1"/>
            </a:effectRef>
            <a:fontRef idx="minor">
              <a:schemeClr val="tx1"/>
            </a:fontRef>
          </p:style>
        </p:cxnSp>
        <p:cxnSp>
          <p:nvCxnSpPr>
            <p:cNvPr id="18" name="直接连接符 17"/>
            <p:cNvCxnSpPr/>
            <p:nvPr/>
          </p:nvCxnSpPr>
          <p:spPr>
            <a:xfrm flipH="1" flipV="1">
              <a:off x="5996091" y="2603380"/>
              <a:ext cx="113348" cy="337878"/>
            </a:xfrm>
            <a:prstGeom prst="line">
              <a:avLst/>
            </a:prstGeom>
            <a:ln w="19050">
              <a:solidFill>
                <a:srgbClr val="0000FF"/>
              </a:solidFill>
            </a:ln>
          </p:spPr>
          <p:style>
            <a:lnRef idx="1">
              <a:schemeClr val="accent1"/>
            </a:lnRef>
            <a:fillRef idx="0">
              <a:schemeClr val="accent1"/>
            </a:fillRef>
            <a:effectRef idx="0">
              <a:schemeClr val="accent1"/>
            </a:effectRef>
            <a:fontRef idx="minor">
              <a:schemeClr val="tx1"/>
            </a:fontRef>
          </p:style>
        </p:cxnSp>
        <p:cxnSp>
          <p:nvCxnSpPr>
            <p:cNvPr id="19" name="直接连接符 18"/>
            <p:cNvCxnSpPr/>
            <p:nvPr/>
          </p:nvCxnSpPr>
          <p:spPr>
            <a:xfrm flipH="1" flipV="1">
              <a:off x="3126458" y="2702276"/>
              <a:ext cx="113348" cy="337878"/>
            </a:xfrm>
            <a:prstGeom prst="line">
              <a:avLst/>
            </a:prstGeom>
            <a:ln w="19050">
              <a:solidFill>
                <a:srgbClr val="0000FF"/>
              </a:solidFill>
            </a:ln>
          </p:spPr>
          <p:style>
            <a:lnRef idx="1">
              <a:schemeClr val="accent1"/>
            </a:lnRef>
            <a:fillRef idx="0">
              <a:schemeClr val="accent1"/>
            </a:fillRef>
            <a:effectRef idx="0">
              <a:schemeClr val="accent1"/>
            </a:effectRef>
            <a:fontRef idx="minor">
              <a:schemeClr val="tx1"/>
            </a:fontRef>
          </p:style>
        </p:cxnSp>
        <p:pic>
          <p:nvPicPr>
            <p:cNvPr id="20" name="Picture 70"/>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906628" y="2899054"/>
              <a:ext cx="377485" cy="2451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1" name="Picture 6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553649" y="3144219"/>
              <a:ext cx="377485" cy="2451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22" name="直接连接符 21"/>
            <p:cNvCxnSpPr/>
            <p:nvPr/>
          </p:nvCxnSpPr>
          <p:spPr>
            <a:xfrm flipH="1" flipV="1">
              <a:off x="3734378" y="2295964"/>
              <a:ext cx="112810" cy="855373"/>
            </a:xfrm>
            <a:prstGeom prst="line">
              <a:avLst/>
            </a:prstGeom>
            <a:ln w="19050">
              <a:solidFill>
                <a:srgbClr val="0000FF"/>
              </a:solidFill>
            </a:ln>
          </p:spPr>
          <p:style>
            <a:lnRef idx="1">
              <a:schemeClr val="accent1"/>
            </a:lnRef>
            <a:fillRef idx="0">
              <a:schemeClr val="accent1"/>
            </a:fillRef>
            <a:effectRef idx="0">
              <a:schemeClr val="accent1"/>
            </a:effectRef>
            <a:fontRef idx="minor">
              <a:schemeClr val="tx1"/>
            </a:fontRef>
          </p:style>
        </p:cxnSp>
        <p:sp>
          <p:nvSpPr>
            <p:cNvPr id="23" name="Text Box 78"/>
            <p:cNvSpPr txBox="1">
              <a:spLocks noChangeArrowheads="1"/>
            </p:cNvSpPr>
            <p:nvPr/>
          </p:nvSpPr>
          <p:spPr bwMode="auto">
            <a:xfrm>
              <a:off x="3711766" y="2551414"/>
              <a:ext cx="1896435" cy="3825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defPPr>
                <a:defRPr lang="zh-CN"/>
              </a:defPPr>
              <a:lvl1pPr>
                <a:defRPr sz="1200">
                  <a:latin typeface="+mj-ea"/>
                  <a:ea typeface="+mj-ea"/>
                </a:defRPr>
              </a:lvl1pPr>
            </a:lstStyle>
            <a:p>
              <a:r>
                <a:rPr lang="zh-CN" altLang="en-US" dirty="0"/>
                <a:t>互联网的核心部分</a:t>
              </a:r>
            </a:p>
          </p:txBody>
        </p:sp>
        <p:cxnSp>
          <p:nvCxnSpPr>
            <p:cNvPr id="24" name="直接连接符 23"/>
            <p:cNvCxnSpPr/>
            <p:nvPr/>
          </p:nvCxnSpPr>
          <p:spPr>
            <a:xfrm flipV="1">
              <a:off x="5435194" y="2256354"/>
              <a:ext cx="55682" cy="881990"/>
            </a:xfrm>
            <a:prstGeom prst="line">
              <a:avLst/>
            </a:prstGeom>
            <a:ln w="19050">
              <a:solidFill>
                <a:srgbClr val="0000FF"/>
              </a:solidFill>
            </a:ln>
          </p:spPr>
          <p:style>
            <a:lnRef idx="1">
              <a:schemeClr val="accent1"/>
            </a:lnRef>
            <a:fillRef idx="0">
              <a:schemeClr val="accent1"/>
            </a:fillRef>
            <a:effectRef idx="0">
              <a:schemeClr val="accent1"/>
            </a:effectRef>
            <a:fontRef idx="minor">
              <a:schemeClr val="tx1"/>
            </a:fontRef>
          </p:style>
        </p:cxnSp>
        <p:grpSp>
          <p:nvGrpSpPr>
            <p:cNvPr id="25" name="Group 162"/>
            <p:cNvGrpSpPr/>
            <p:nvPr/>
          </p:nvGrpSpPr>
          <p:grpSpPr bwMode="auto">
            <a:xfrm>
              <a:off x="4281237" y="2016981"/>
              <a:ext cx="736809" cy="400824"/>
              <a:chOff x="130" y="1123"/>
              <a:chExt cx="568" cy="309"/>
            </a:xfrm>
          </p:grpSpPr>
          <p:sp>
            <p:nvSpPr>
              <p:cNvPr id="82" name="Oval 9"/>
              <p:cNvSpPr>
                <a:spLocks noChangeArrowheads="1"/>
              </p:cNvSpPr>
              <p:nvPr/>
            </p:nvSpPr>
            <p:spPr bwMode="auto">
              <a:xfrm rot="-448665">
                <a:off x="247" y="1123"/>
                <a:ext cx="249" cy="86"/>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83" name="Oval 10"/>
              <p:cNvSpPr>
                <a:spLocks noChangeArrowheads="1"/>
              </p:cNvSpPr>
              <p:nvPr/>
            </p:nvSpPr>
            <p:spPr bwMode="auto">
              <a:xfrm rot="451335">
                <a:off x="458" y="1131"/>
                <a:ext cx="168" cy="69"/>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84" name="Oval 11"/>
              <p:cNvSpPr>
                <a:spLocks noChangeArrowheads="1"/>
              </p:cNvSpPr>
              <p:nvPr/>
            </p:nvSpPr>
            <p:spPr bwMode="auto">
              <a:xfrm rot="1051335">
                <a:off x="551" y="1191"/>
                <a:ext cx="147" cy="81"/>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85" name="Oval 12"/>
              <p:cNvSpPr>
                <a:spLocks noChangeArrowheads="1"/>
              </p:cNvSpPr>
              <p:nvPr/>
            </p:nvSpPr>
            <p:spPr bwMode="auto">
              <a:xfrm rot="-2008665">
                <a:off x="516" y="1275"/>
                <a:ext cx="178" cy="100"/>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86" name="Oval 13"/>
              <p:cNvSpPr>
                <a:spLocks noChangeArrowheads="1"/>
              </p:cNvSpPr>
              <p:nvPr/>
            </p:nvSpPr>
            <p:spPr bwMode="auto">
              <a:xfrm rot="-448665">
                <a:off x="303" y="1305"/>
                <a:ext cx="288" cy="127"/>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87" name="Oval 14"/>
              <p:cNvSpPr>
                <a:spLocks noChangeArrowheads="1"/>
              </p:cNvSpPr>
              <p:nvPr/>
            </p:nvSpPr>
            <p:spPr bwMode="auto">
              <a:xfrm rot="631335">
                <a:off x="183" y="1329"/>
                <a:ext cx="162"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88" name="Oval 15"/>
              <p:cNvSpPr>
                <a:spLocks noChangeArrowheads="1"/>
              </p:cNvSpPr>
              <p:nvPr/>
            </p:nvSpPr>
            <p:spPr bwMode="auto">
              <a:xfrm rot="-448665">
                <a:off x="130" y="1272"/>
                <a:ext cx="133"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89" name="Oval 16"/>
              <p:cNvSpPr>
                <a:spLocks noChangeArrowheads="1"/>
              </p:cNvSpPr>
              <p:nvPr/>
            </p:nvSpPr>
            <p:spPr bwMode="auto">
              <a:xfrm rot="-2308665">
                <a:off x="143" y="1202"/>
                <a:ext cx="181"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90" name="Freeform 17"/>
              <p:cNvSpPr/>
              <p:nvPr/>
            </p:nvSpPr>
            <p:spPr bwMode="auto">
              <a:xfrm rot="-448665">
                <a:off x="190" y="1173"/>
                <a:ext cx="451" cy="216"/>
              </a:xfrm>
              <a:custGeom>
                <a:avLst/>
                <a:gdLst>
                  <a:gd name="T0" fmla="*/ 66 w 738"/>
                  <a:gd name="T1" fmla="*/ 44 h 407"/>
                  <a:gd name="T2" fmla="*/ 89 w 738"/>
                  <a:gd name="T3" fmla="*/ 41 h 407"/>
                  <a:gd name="T4" fmla="*/ 112 w 738"/>
                  <a:gd name="T5" fmla="*/ 38 h 407"/>
                  <a:gd name="T6" fmla="*/ 131 w 738"/>
                  <a:gd name="T7" fmla="*/ 36 h 407"/>
                  <a:gd name="T8" fmla="*/ 145 w 738"/>
                  <a:gd name="T9" fmla="*/ 24 h 407"/>
                  <a:gd name="T10" fmla="*/ 125 w 738"/>
                  <a:gd name="T11" fmla="*/ 22 h 407"/>
                  <a:gd name="T12" fmla="*/ 105 w 738"/>
                  <a:gd name="T13" fmla="*/ 24 h 407"/>
                  <a:gd name="T14" fmla="*/ 95 w 738"/>
                  <a:gd name="T15" fmla="*/ 24 h 407"/>
                  <a:gd name="T16" fmla="*/ 115 w 738"/>
                  <a:gd name="T17" fmla="*/ 14 h 407"/>
                  <a:gd name="T18" fmla="*/ 138 w 738"/>
                  <a:gd name="T19" fmla="*/ 8 h 407"/>
                  <a:gd name="T20" fmla="*/ 158 w 738"/>
                  <a:gd name="T21" fmla="*/ 5 h 407"/>
                  <a:gd name="T22" fmla="*/ 177 w 738"/>
                  <a:gd name="T23" fmla="*/ 3 h 407"/>
                  <a:gd name="T24" fmla="*/ 197 w 738"/>
                  <a:gd name="T25" fmla="*/ 0 h 407"/>
                  <a:gd name="T26" fmla="*/ 217 w 738"/>
                  <a:gd name="T27" fmla="*/ 0 h 407"/>
                  <a:gd name="T28" fmla="*/ 237 w 738"/>
                  <a:gd name="T29" fmla="*/ 0 h 407"/>
                  <a:gd name="T30" fmla="*/ 283 w 738"/>
                  <a:gd name="T31" fmla="*/ 0 h 407"/>
                  <a:gd name="T32" fmla="*/ 309 w 738"/>
                  <a:gd name="T33" fmla="*/ 0 h 407"/>
                  <a:gd name="T34" fmla="*/ 332 w 738"/>
                  <a:gd name="T35" fmla="*/ 8 h 407"/>
                  <a:gd name="T36" fmla="*/ 348 w 738"/>
                  <a:gd name="T37" fmla="*/ 19 h 407"/>
                  <a:gd name="T38" fmla="*/ 369 w 738"/>
                  <a:gd name="T39" fmla="*/ 27 h 407"/>
                  <a:gd name="T40" fmla="*/ 388 w 738"/>
                  <a:gd name="T41" fmla="*/ 30 h 407"/>
                  <a:gd name="T42" fmla="*/ 408 w 738"/>
                  <a:gd name="T43" fmla="*/ 41 h 407"/>
                  <a:gd name="T44" fmla="*/ 424 w 738"/>
                  <a:gd name="T45" fmla="*/ 52 h 407"/>
                  <a:gd name="T46" fmla="*/ 437 w 738"/>
                  <a:gd name="T47" fmla="*/ 68 h 407"/>
                  <a:gd name="T48" fmla="*/ 441 w 738"/>
                  <a:gd name="T49" fmla="*/ 87 h 407"/>
                  <a:gd name="T50" fmla="*/ 444 w 738"/>
                  <a:gd name="T51" fmla="*/ 103 h 407"/>
                  <a:gd name="T52" fmla="*/ 444 w 738"/>
                  <a:gd name="T53" fmla="*/ 120 h 407"/>
                  <a:gd name="T54" fmla="*/ 444 w 738"/>
                  <a:gd name="T55" fmla="*/ 136 h 407"/>
                  <a:gd name="T56" fmla="*/ 450 w 738"/>
                  <a:gd name="T57" fmla="*/ 153 h 407"/>
                  <a:gd name="T58" fmla="*/ 450 w 738"/>
                  <a:gd name="T59" fmla="*/ 169 h 407"/>
                  <a:gd name="T60" fmla="*/ 437 w 738"/>
                  <a:gd name="T61" fmla="*/ 185 h 407"/>
                  <a:gd name="T62" fmla="*/ 414 w 738"/>
                  <a:gd name="T63" fmla="*/ 194 h 407"/>
                  <a:gd name="T64" fmla="*/ 395 w 738"/>
                  <a:gd name="T65" fmla="*/ 202 h 407"/>
                  <a:gd name="T66" fmla="*/ 375 w 738"/>
                  <a:gd name="T67" fmla="*/ 210 h 407"/>
                  <a:gd name="T68" fmla="*/ 355 w 738"/>
                  <a:gd name="T69" fmla="*/ 213 h 407"/>
                  <a:gd name="T70" fmla="*/ 329 w 738"/>
                  <a:gd name="T71" fmla="*/ 215 h 407"/>
                  <a:gd name="T72" fmla="*/ 306 w 738"/>
                  <a:gd name="T73" fmla="*/ 215 h 407"/>
                  <a:gd name="T74" fmla="*/ 286 w 738"/>
                  <a:gd name="T75" fmla="*/ 215 h 407"/>
                  <a:gd name="T76" fmla="*/ 266 w 738"/>
                  <a:gd name="T77" fmla="*/ 215 h 407"/>
                  <a:gd name="T78" fmla="*/ 246 w 738"/>
                  <a:gd name="T79" fmla="*/ 215 h 407"/>
                  <a:gd name="T80" fmla="*/ 227 w 738"/>
                  <a:gd name="T81" fmla="*/ 215 h 407"/>
                  <a:gd name="T82" fmla="*/ 207 w 738"/>
                  <a:gd name="T83" fmla="*/ 215 h 407"/>
                  <a:gd name="T84" fmla="*/ 188 w 738"/>
                  <a:gd name="T85" fmla="*/ 215 h 407"/>
                  <a:gd name="T86" fmla="*/ 164 w 738"/>
                  <a:gd name="T87" fmla="*/ 215 h 407"/>
                  <a:gd name="T88" fmla="*/ 145 w 738"/>
                  <a:gd name="T89" fmla="*/ 215 h 407"/>
                  <a:gd name="T90" fmla="*/ 125 w 738"/>
                  <a:gd name="T91" fmla="*/ 215 h 407"/>
                  <a:gd name="T92" fmla="*/ 105 w 738"/>
                  <a:gd name="T93" fmla="*/ 208 h 407"/>
                  <a:gd name="T94" fmla="*/ 86 w 738"/>
                  <a:gd name="T95" fmla="*/ 202 h 407"/>
                  <a:gd name="T96" fmla="*/ 66 w 738"/>
                  <a:gd name="T97" fmla="*/ 194 h 407"/>
                  <a:gd name="T98" fmla="*/ 50 w 738"/>
                  <a:gd name="T99" fmla="*/ 180 h 407"/>
                  <a:gd name="T100" fmla="*/ 36 w 738"/>
                  <a:gd name="T101" fmla="*/ 169 h 407"/>
                  <a:gd name="T102" fmla="*/ 23 w 738"/>
                  <a:gd name="T103" fmla="*/ 153 h 407"/>
                  <a:gd name="T104" fmla="*/ 10 w 738"/>
                  <a:gd name="T105" fmla="*/ 134 h 407"/>
                  <a:gd name="T106" fmla="*/ 0 w 738"/>
                  <a:gd name="T107" fmla="*/ 115 h 407"/>
                  <a:gd name="T108" fmla="*/ 0 w 738"/>
                  <a:gd name="T109" fmla="*/ 98 h 407"/>
                  <a:gd name="T110" fmla="*/ 3 w 738"/>
                  <a:gd name="T111" fmla="*/ 79 h 407"/>
                  <a:gd name="T112" fmla="*/ 17 w 738"/>
                  <a:gd name="T113" fmla="*/ 65 h 407"/>
                  <a:gd name="T114" fmla="*/ 33 w 738"/>
                  <a:gd name="T115" fmla="*/ 57 h 407"/>
                  <a:gd name="T116" fmla="*/ 53 w 738"/>
                  <a:gd name="T117" fmla="*/ 52 h 407"/>
                  <a:gd name="T118" fmla="*/ 69 w 738"/>
                  <a:gd name="T119" fmla="*/ 44 h 407"/>
                  <a:gd name="T120" fmla="*/ 79 w 738"/>
                  <a:gd name="T121" fmla="*/ 52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91" name="Freeform 18"/>
              <p:cNvSpPr/>
              <p:nvPr/>
            </p:nvSpPr>
            <p:spPr bwMode="auto">
              <a:xfrm rot="-448665">
                <a:off x="266" y="1172"/>
                <a:ext cx="72" cy="63"/>
              </a:xfrm>
              <a:custGeom>
                <a:avLst/>
                <a:gdLst>
                  <a:gd name="T0" fmla="*/ 3 w 117"/>
                  <a:gd name="T1" fmla="*/ 35 h 118"/>
                  <a:gd name="T2" fmla="*/ 0 w 117"/>
                  <a:gd name="T3" fmla="*/ 27 h 118"/>
                  <a:gd name="T4" fmla="*/ 0 w 117"/>
                  <a:gd name="T5" fmla="*/ 19 h 118"/>
                  <a:gd name="T6" fmla="*/ 10 w 117"/>
                  <a:gd name="T7" fmla="*/ 13 h 118"/>
                  <a:gd name="T8" fmla="*/ 20 w 117"/>
                  <a:gd name="T9" fmla="*/ 8 h 118"/>
                  <a:gd name="T10" fmla="*/ 29 w 117"/>
                  <a:gd name="T11" fmla="*/ 0 h 118"/>
                  <a:gd name="T12" fmla="*/ 39 w 117"/>
                  <a:gd name="T13" fmla="*/ 0 h 118"/>
                  <a:gd name="T14" fmla="*/ 49 w 117"/>
                  <a:gd name="T15" fmla="*/ 0 h 118"/>
                  <a:gd name="T16" fmla="*/ 52 w 117"/>
                  <a:gd name="T17" fmla="*/ 8 h 118"/>
                  <a:gd name="T18" fmla="*/ 58 w 117"/>
                  <a:gd name="T19" fmla="*/ 17 h 118"/>
                  <a:gd name="T20" fmla="*/ 65 w 117"/>
                  <a:gd name="T21" fmla="*/ 25 h 118"/>
                  <a:gd name="T22" fmla="*/ 68 w 117"/>
                  <a:gd name="T23" fmla="*/ 33 h 118"/>
                  <a:gd name="T24" fmla="*/ 71 w 117"/>
                  <a:gd name="T25" fmla="*/ 41 h 118"/>
                  <a:gd name="T26" fmla="*/ 71 w 117"/>
                  <a:gd name="T27" fmla="*/ 49 h 118"/>
                  <a:gd name="T28" fmla="*/ 71 w 117"/>
                  <a:gd name="T29" fmla="*/ 57 h 118"/>
                  <a:gd name="T30" fmla="*/ 62 w 117"/>
                  <a:gd name="T31" fmla="*/ 62 h 118"/>
                  <a:gd name="T32" fmla="*/ 52 w 117"/>
                  <a:gd name="T33" fmla="*/ 62 h 118"/>
                  <a:gd name="T34" fmla="*/ 42 w 117"/>
                  <a:gd name="T35" fmla="*/ 62 h 118"/>
                  <a:gd name="T36" fmla="*/ 33 w 117"/>
                  <a:gd name="T37" fmla="*/ 62 h 118"/>
                  <a:gd name="T38" fmla="*/ 23 w 117"/>
                  <a:gd name="T39" fmla="*/ 60 h 118"/>
                  <a:gd name="T40" fmla="*/ 13 w 117"/>
                  <a:gd name="T41" fmla="*/ 54 h 118"/>
                  <a:gd name="T42" fmla="*/ 7 w 117"/>
                  <a:gd name="T43" fmla="*/ 46 h 118"/>
                  <a:gd name="T44" fmla="*/ 3 w 117"/>
                  <a:gd name="T45" fmla="*/ 38 h 118"/>
                  <a:gd name="T46" fmla="*/ 3 w 117"/>
                  <a:gd name="T47" fmla="*/ 35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92" name="Freeform 19"/>
              <p:cNvSpPr/>
              <p:nvPr/>
            </p:nvSpPr>
            <p:spPr bwMode="auto">
              <a:xfrm rot="-448665">
                <a:off x="430" y="1135"/>
                <a:ext cx="50" cy="46"/>
              </a:xfrm>
              <a:custGeom>
                <a:avLst/>
                <a:gdLst>
                  <a:gd name="T0" fmla="*/ 0 w 82"/>
                  <a:gd name="T1" fmla="*/ 0 h 87"/>
                  <a:gd name="T2" fmla="*/ 10 w 82"/>
                  <a:gd name="T3" fmla="*/ 5 h 87"/>
                  <a:gd name="T4" fmla="*/ 20 w 82"/>
                  <a:gd name="T5" fmla="*/ 11 h 87"/>
                  <a:gd name="T6" fmla="*/ 30 w 82"/>
                  <a:gd name="T7" fmla="*/ 11 h 87"/>
                  <a:gd name="T8" fmla="*/ 40 w 82"/>
                  <a:gd name="T9" fmla="*/ 16 h 87"/>
                  <a:gd name="T10" fmla="*/ 46 w 82"/>
                  <a:gd name="T11" fmla="*/ 24 h 87"/>
                  <a:gd name="T12" fmla="*/ 49 w 82"/>
                  <a:gd name="T13" fmla="*/ 32 h 87"/>
                  <a:gd name="T14" fmla="*/ 49 w 82"/>
                  <a:gd name="T15" fmla="*/ 40 h 87"/>
                  <a:gd name="T16" fmla="*/ 40 w 82"/>
                  <a:gd name="T17" fmla="*/ 45 h 87"/>
                  <a:gd name="T18" fmla="*/ 30 w 82"/>
                  <a:gd name="T19" fmla="*/ 45 h 87"/>
                  <a:gd name="T20" fmla="*/ 16 w 82"/>
                  <a:gd name="T21" fmla="*/ 43 h 87"/>
                  <a:gd name="T22" fmla="*/ 7 w 82"/>
                  <a:gd name="T23" fmla="*/ 38 h 87"/>
                  <a:gd name="T24" fmla="*/ 3 w 82"/>
                  <a:gd name="T25" fmla="*/ 30 h 87"/>
                  <a:gd name="T26" fmla="*/ 0 w 82"/>
                  <a:gd name="T27" fmla="*/ 21 h 87"/>
                  <a:gd name="T28" fmla="*/ 0 w 82"/>
                  <a:gd name="T29" fmla="*/ 13 h 87"/>
                  <a:gd name="T30" fmla="*/ 7 w 82"/>
                  <a:gd name="T31" fmla="*/ 5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grpSp>
        <p:pic>
          <p:nvPicPr>
            <p:cNvPr id="26" name="Picture 6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148782" y="2962615"/>
              <a:ext cx="377485" cy="2451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7" name="Picture 7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302133" y="2214150"/>
              <a:ext cx="377485" cy="2451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28" name="Group 138"/>
            <p:cNvGrpSpPr/>
            <p:nvPr/>
          </p:nvGrpSpPr>
          <p:grpSpPr bwMode="auto">
            <a:xfrm>
              <a:off x="5059557" y="2958724"/>
              <a:ext cx="736809" cy="400824"/>
              <a:chOff x="130" y="1123"/>
              <a:chExt cx="568" cy="309"/>
            </a:xfrm>
          </p:grpSpPr>
          <p:sp>
            <p:nvSpPr>
              <p:cNvPr id="71" name="Oval 9"/>
              <p:cNvSpPr>
                <a:spLocks noChangeArrowheads="1"/>
              </p:cNvSpPr>
              <p:nvPr/>
            </p:nvSpPr>
            <p:spPr bwMode="auto">
              <a:xfrm rot="-448665">
                <a:off x="247" y="1123"/>
                <a:ext cx="249" cy="86"/>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72" name="Oval 10"/>
              <p:cNvSpPr>
                <a:spLocks noChangeArrowheads="1"/>
              </p:cNvSpPr>
              <p:nvPr/>
            </p:nvSpPr>
            <p:spPr bwMode="auto">
              <a:xfrm rot="451335">
                <a:off x="458" y="1131"/>
                <a:ext cx="168" cy="69"/>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73" name="Oval 11"/>
              <p:cNvSpPr>
                <a:spLocks noChangeArrowheads="1"/>
              </p:cNvSpPr>
              <p:nvPr/>
            </p:nvSpPr>
            <p:spPr bwMode="auto">
              <a:xfrm rot="1051335">
                <a:off x="551" y="1191"/>
                <a:ext cx="147" cy="81"/>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74" name="Oval 12"/>
              <p:cNvSpPr>
                <a:spLocks noChangeArrowheads="1"/>
              </p:cNvSpPr>
              <p:nvPr/>
            </p:nvSpPr>
            <p:spPr bwMode="auto">
              <a:xfrm rot="-2008665">
                <a:off x="516" y="1275"/>
                <a:ext cx="178" cy="100"/>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75" name="Oval 13"/>
              <p:cNvSpPr>
                <a:spLocks noChangeArrowheads="1"/>
              </p:cNvSpPr>
              <p:nvPr/>
            </p:nvSpPr>
            <p:spPr bwMode="auto">
              <a:xfrm rot="-448665">
                <a:off x="303" y="1305"/>
                <a:ext cx="288" cy="127"/>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76" name="Oval 14"/>
              <p:cNvSpPr>
                <a:spLocks noChangeArrowheads="1"/>
              </p:cNvSpPr>
              <p:nvPr/>
            </p:nvSpPr>
            <p:spPr bwMode="auto">
              <a:xfrm rot="631335">
                <a:off x="183" y="1329"/>
                <a:ext cx="162"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77" name="Oval 15"/>
              <p:cNvSpPr>
                <a:spLocks noChangeArrowheads="1"/>
              </p:cNvSpPr>
              <p:nvPr/>
            </p:nvSpPr>
            <p:spPr bwMode="auto">
              <a:xfrm rot="-448665">
                <a:off x="130" y="1272"/>
                <a:ext cx="133"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78" name="Oval 16"/>
              <p:cNvSpPr>
                <a:spLocks noChangeArrowheads="1"/>
              </p:cNvSpPr>
              <p:nvPr/>
            </p:nvSpPr>
            <p:spPr bwMode="auto">
              <a:xfrm rot="-2308665">
                <a:off x="143" y="1202"/>
                <a:ext cx="181"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79" name="Freeform 17"/>
              <p:cNvSpPr/>
              <p:nvPr/>
            </p:nvSpPr>
            <p:spPr bwMode="auto">
              <a:xfrm rot="-448665">
                <a:off x="190" y="1173"/>
                <a:ext cx="451" cy="216"/>
              </a:xfrm>
              <a:custGeom>
                <a:avLst/>
                <a:gdLst>
                  <a:gd name="T0" fmla="*/ 66 w 738"/>
                  <a:gd name="T1" fmla="*/ 44 h 407"/>
                  <a:gd name="T2" fmla="*/ 89 w 738"/>
                  <a:gd name="T3" fmla="*/ 41 h 407"/>
                  <a:gd name="T4" fmla="*/ 112 w 738"/>
                  <a:gd name="T5" fmla="*/ 38 h 407"/>
                  <a:gd name="T6" fmla="*/ 131 w 738"/>
                  <a:gd name="T7" fmla="*/ 36 h 407"/>
                  <a:gd name="T8" fmla="*/ 145 w 738"/>
                  <a:gd name="T9" fmla="*/ 24 h 407"/>
                  <a:gd name="T10" fmla="*/ 125 w 738"/>
                  <a:gd name="T11" fmla="*/ 22 h 407"/>
                  <a:gd name="T12" fmla="*/ 105 w 738"/>
                  <a:gd name="T13" fmla="*/ 24 h 407"/>
                  <a:gd name="T14" fmla="*/ 95 w 738"/>
                  <a:gd name="T15" fmla="*/ 24 h 407"/>
                  <a:gd name="T16" fmla="*/ 115 w 738"/>
                  <a:gd name="T17" fmla="*/ 14 h 407"/>
                  <a:gd name="T18" fmla="*/ 138 w 738"/>
                  <a:gd name="T19" fmla="*/ 8 h 407"/>
                  <a:gd name="T20" fmla="*/ 158 w 738"/>
                  <a:gd name="T21" fmla="*/ 5 h 407"/>
                  <a:gd name="T22" fmla="*/ 177 w 738"/>
                  <a:gd name="T23" fmla="*/ 3 h 407"/>
                  <a:gd name="T24" fmla="*/ 197 w 738"/>
                  <a:gd name="T25" fmla="*/ 0 h 407"/>
                  <a:gd name="T26" fmla="*/ 217 w 738"/>
                  <a:gd name="T27" fmla="*/ 0 h 407"/>
                  <a:gd name="T28" fmla="*/ 237 w 738"/>
                  <a:gd name="T29" fmla="*/ 0 h 407"/>
                  <a:gd name="T30" fmla="*/ 283 w 738"/>
                  <a:gd name="T31" fmla="*/ 0 h 407"/>
                  <a:gd name="T32" fmla="*/ 309 w 738"/>
                  <a:gd name="T33" fmla="*/ 0 h 407"/>
                  <a:gd name="T34" fmla="*/ 332 w 738"/>
                  <a:gd name="T35" fmla="*/ 8 h 407"/>
                  <a:gd name="T36" fmla="*/ 348 w 738"/>
                  <a:gd name="T37" fmla="*/ 19 h 407"/>
                  <a:gd name="T38" fmla="*/ 369 w 738"/>
                  <a:gd name="T39" fmla="*/ 27 h 407"/>
                  <a:gd name="T40" fmla="*/ 388 w 738"/>
                  <a:gd name="T41" fmla="*/ 30 h 407"/>
                  <a:gd name="T42" fmla="*/ 408 w 738"/>
                  <a:gd name="T43" fmla="*/ 41 h 407"/>
                  <a:gd name="T44" fmla="*/ 424 w 738"/>
                  <a:gd name="T45" fmla="*/ 52 h 407"/>
                  <a:gd name="T46" fmla="*/ 437 w 738"/>
                  <a:gd name="T47" fmla="*/ 68 h 407"/>
                  <a:gd name="T48" fmla="*/ 441 w 738"/>
                  <a:gd name="T49" fmla="*/ 87 h 407"/>
                  <a:gd name="T50" fmla="*/ 444 w 738"/>
                  <a:gd name="T51" fmla="*/ 103 h 407"/>
                  <a:gd name="T52" fmla="*/ 444 w 738"/>
                  <a:gd name="T53" fmla="*/ 120 h 407"/>
                  <a:gd name="T54" fmla="*/ 444 w 738"/>
                  <a:gd name="T55" fmla="*/ 136 h 407"/>
                  <a:gd name="T56" fmla="*/ 450 w 738"/>
                  <a:gd name="T57" fmla="*/ 153 h 407"/>
                  <a:gd name="T58" fmla="*/ 450 w 738"/>
                  <a:gd name="T59" fmla="*/ 169 h 407"/>
                  <a:gd name="T60" fmla="*/ 437 w 738"/>
                  <a:gd name="T61" fmla="*/ 185 h 407"/>
                  <a:gd name="T62" fmla="*/ 414 w 738"/>
                  <a:gd name="T63" fmla="*/ 194 h 407"/>
                  <a:gd name="T64" fmla="*/ 395 w 738"/>
                  <a:gd name="T65" fmla="*/ 202 h 407"/>
                  <a:gd name="T66" fmla="*/ 375 w 738"/>
                  <a:gd name="T67" fmla="*/ 210 h 407"/>
                  <a:gd name="T68" fmla="*/ 355 w 738"/>
                  <a:gd name="T69" fmla="*/ 213 h 407"/>
                  <a:gd name="T70" fmla="*/ 329 w 738"/>
                  <a:gd name="T71" fmla="*/ 215 h 407"/>
                  <a:gd name="T72" fmla="*/ 306 w 738"/>
                  <a:gd name="T73" fmla="*/ 215 h 407"/>
                  <a:gd name="T74" fmla="*/ 286 w 738"/>
                  <a:gd name="T75" fmla="*/ 215 h 407"/>
                  <a:gd name="T76" fmla="*/ 266 w 738"/>
                  <a:gd name="T77" fmla="*/ 215 h 407"/>
                  <a:gd name="T78" fmla="*/ 246 w 738"/>
                  <a:gd name="T79" fmla="*/ 215 h 407"/>
                  <a:gd name="T80" fmla="*/ 227 w 738"/>
                  <a:gd name="T81" fmla="*/ 215 h 407"/>
                  <a:gd name="T82" fmla="*/ 207 w 738"/>
                  <a:gd name="T83" fmla="*/ 215 h 407"/>
                  <a:gd name="T84" fmla="*/ 188 w 738"/>
                  <a:gd name="T85" fmla="*/ 215 h 407"/>
                  <a:gd name="T86" fmla="*/ 164 w 738"/>
                  <a:gd name="T87" fmla="*/ 215 h 407"/>
                  <a:gd name="T88" fmla="*/ 145 w 738"/>
                  <a:gd name="T89" fmla="*/ 215 h 407"/>
                  <a:gd name="T90" fmla="*/ 125 w 738"/>
                  <a:gd name="T91" fmla="*/ 215 h 407"/>
                  <a:gd name="T92" fmla="*/ 105 w 738"/>
                  <a:gd name="T93" fmla="*/ 208 h 407"/>
                  <a:gd name="T94" fmla="*/ 86 w 738"/>
                  <a:gd name="T95" fmla="*/ 202 h 407"/>
                  <a:gd name="T96" fmla="*/ 66 w 738"/>
                  <a:gd name="T97" fmla="*/ 194 h 407"/>
                  <a:gd name="T98" fmla="*/ 50 w 738"/>
                  <a:gd name="T99" fmla="*/ 180 h 407"/>
                  <a:gd name="T100" fmla="*/ 36 w 738"/>
                  <a:gd name="T101" fmla="*/ 169 h 407"/>
                  <a:gd name="T102" fmla="*/ 23 w 738"/>
                  <a:gd name="T103" fmla="*/ 153 h 407"/>
                  <a:gd name="T104" fmla="*/ 10 w 738"/>
                  <a:gd name="T105" fmla="*/ 134 h 407"/>
                  <a:gd name="T106" fmla="*/ 0 w 738"/>
                  <a:gd name="T107" fmla="*/ 115 h 407"/>
                  <a:gd name="T108" fmla="*/ 0 w 738"/>
                  <a:gd name="T109" fmla="*/ 98 h 407"/>
                  <a:gd name="T110" fmla="*/ 3 w 738"/>
                  <a:gd name="T111" fmla="*/ 79 h 407"/>
                  <a:gd name="T112" fmla="*/ 17 w 738"/>
                  <a:gd name="T113" fmla="*/ 65 h 407"/>
                  <a:gd name="T114" fmla="*/ 33 w 738"/>
                  <a:gd name="T115" fmla="*/ 57 h 407"/>
                  <a:gd name="T116" fmla="*/ 53 w 738"/>
                  <a:gd name="T117" fmla="*/ 52 h 407"/>
                  <a:gd name="T118" fmla="*/ 69 w 738"/>
                  <a:gd name="T119" fmla="*/ 44 h 407"/>
                  <a:gd name="T120" fmla="*/ 79 w 738"/>
                  <a:gd name="T121" fmla="*/ 52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80" name="Freeform 18"/>
              <p:cNvSpPr/>
              <p:nvPr/>
            </p:nvSpPr>
            <p:spPr bwMode="auto">
              <a:xfrm rot="-448665">
                <a:off x="266" y="1172"/>
                <a:ext cx="72" cy="63"/>
              </a:xfrm>
              <a:custGeom>
                <a:avLst/>
                <a:gdLst>
                  <a:gd name="T0" fmla="*/ 3 w 117"/>
                  <a:gd name="T1" fmla="*/ 35 h 118"/>
                  <a:gd name="T2" fmla="*/ 0 w 117"/>
                  <a:gd name="T3" fmla="*/ 27 h 118"/>
                  <a:gd name="T4" fmla="*/ 0 w 117"/>
                  <a:gd name="T5" fmla="*/ 19 h 118"/>
                  <a:gd name="T6" fmla="*/ 10 w 117"/>
                  <a:gd name="T7" fmla="*/ 13 h 118"/>
                  <a:gd name="T8" fmla="*/ 20 w 117"/>
                  <a:gd name="T9" fmla="*/ 8 h 118"/>
                  <a:gd name="T10" fmla="*/ 29 w 117"/>
                  <a:gd name="T11" fmla="*/ 0 h 118"/>
                  <a:gd name="T12" fmla="*/ 39 w 117"/>
                  <a:gd name="T13" fmla="*/ 0 h 118"/>
                  <a:gd name="T14" fmla="*/ 49 w 117"/>
                  <a:gd name="T15" fmla="*/ 0 h 118"/>
                  <a:gd name="T16" fmla="*/ 52 w 117"/>
                  <a:gd name="T17" fmla="*/ 8 h 118"/>
                  <a:gd name="T18" fmla="*/ 58 w 117"/>
                  <a:gd name="T19" fmla="*/ 17 h 118"/>
                  <a:gd name="T20" fmla="*/ 65 w 117"/>
                  <a:gd name="T21" fmla="*/ 25 h 118"/>
                  <a:gd name="T22" fmla="*/ 68 w 117"/>
                  <a:gd name="T23" fmla="*/ 33 h 118"/>
                  <a:gd name="T24" fmla="*/ 71 w 117"/>
                  <a:gd name="T25" fmla="*/ 41 h 118"/>
                  <a:gd name="T26" fmla="*/ 71 w 117"/>
                  <a:gd name="T27" fmla="*/ 49 h 118"/>
                  <a:gd name="T28" fmla="*/ 71 w 117"/>
                  <a:gd name="T29" fmla="*/ 57 h 118"/>
                  <a:gd name="T30" fmla="*/ 62 w 117"/>
                  <a:gd name="T31" fmla="*/ 62 h 118"/>
                  <a:gd name="T32" fmla="*/ 52 w 117"/>
                  <a:gd name="T33" fmla="*/ 62 h 118"/>
                  <a:gd name="T34" fmla="*/ 42 w 117"/>
                  <a:gd name="T35" fmla="*/ 62 h 118"/>
                  <a:gd name="T36" fmla="*/ 33 w 117"/>
                  <a:gd name="T37" fmla="*/ 62 h 118"/>
                  <a:gd name="T38" fmla="*/ 23 w 117"/>
                  <a:gd name="T39" fmla="*/ 60 h 118"/>
                  <a:gd name="T40" fmla="*/ 13 w 117"/>
                  <a:gd name="T41" fmla="*/ 54 h 118"/>
                  <a:gd name="T42" fmla="*/ 7 w 117"/>
                  <a:gd name="T43" fmla="*/ 46 h 118"/>
                  <a:gd name="T44" fmla="*/ 3 w 117"/>
                  <a:gd name="T45" fmla="*/ 38 h 118"/>
                  <a:gd name="T46" fmla="*/ 3 w 117"/>
                  <a:gd name="T47" fmla="*/ 35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81" name="Freeform 19"/>
              <p:cNvSpPr/>
              <p:nvPr/>
            </p:nvSpPr>
            <p:spPr bwMode="auto">
              <a:xfrm rot="-448665">
                <a:off x="430" y="1135"/>
                <a:ext cx="50" cy="46"/>
              </a:xfrm>
              <a:custGeom>
                <a:avLst/>
                <a:gdLst>
                  <a:gd name="T0" fmla="*/ 0 w 82"/>
                  <a:gd name="T1" fmla="*/ 0 h 87"/>
                  <a:gd name="T2" fmla="*/ 10 w 82"/>
                  <a:gd name="T3" fmla="*/ 5 h 87"/>
                  <a:gd name="T4" fmla="*/ 20 w 82"/>
                  <a:gd name="T5" fmla="*/ 11 h 87"/>
                  <a:gd name="T6" fmla="*/ 30 w 82"/>
                  <a:gd name="T7" fmla="*/ 11 h 87"/>
                  <a:gd name="T8" fmla="*/ 40 w 82"/>
                  <a:gd name="T9" fmla="*/ 16 h 87"/>
                  <a:gd name="T10" fmla="*/ 46 w 82"/>
                  <a:gd name="T11" fmla="*/ 24 h 87"/>
                  <a:gd name="T12" fmla="*/ 49 w 82"/>
                  <a:gd name="T13" fmla="*/ 32 h 87"/>
                  <a:gd name="T14" fmla="*/ 49 w 82"/>
                  <a:gd name="T15" fmla="*/ 40 h 87"/>
                  <a:gd name="T16" fmla="*/ 40 w 82"/>
                  <a:gd name="T17" fmla="*/ 45 h 87"/>
                  <a:gd name="T18" fmla="*/ 30 w 82"/>
                  <a:gd name="T19" fmla="*/ 45 h 87"/>
                  <a:gd name="T20" fmla="*/ 16 w 82"/>
                  <a:gd name="T21" fmla="*/ 43 h 87"/>
                  <a:gd name="T22" fmla="*/ 7 w 82"/>
                  <a:gd name="T23" fmla="*/ 38 h 87"/>
                  <a:gd name="T24" fmla="*/ 3 w 82"/>
                  <a:gd name="T25" fmla="*/ 30 h 87"/>
                  <a:gd name="T26" fmla="*/ 0 w 82"/>
                  <a:gd name="T27" fmla="*/ 21 h 87"/>
                  <a:gd name="T28" fmla="*/ 0 w 82"/>
                  <a:gd name="T29" fmla="*/ 13 h 87"/>
                  <a:gd name="T30" fmla="*/ 7 w 82"/>
                  <a:gd name="T31" fmla="*/ 5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grpSp>
        <p:grpSp>
          <p:nvGrpSpPr>
            <p:cNvPr id="29" name="Group 126"/>
            <p:cNvGrpSpPr/>
            <p:nvPr/>
          </p:nvGrpSpPr>
          <p:grpSpPr bwMode="auto">
            <a:xfrm>
              <a:off x="3683228" y="2987262"/>
              <a:ext cx="736809" cy="400824"/>
              <a:chOff x="130" y="1123"/>
              <a:chExt cx="568" cy="309"/>
            </a:xfrm>
          </p:grpSpPr>
          <p:sp>
            <p:nvSpPr>
              <p:cNvPr id="60" name="Oval 9"/>
              <p:cNvSpPr>
                <a:spLocks noChangeArrowheads="1"/>
              </p:cNvSpPr>
              <p:nvPr/>
            </p:nvSpPr>
            <p:spPr bwMode="auto">
              <a:xfrm rot="-448665">
                <a:off x="247" y="1123"/>
                <a:ext cx="249" cy="86"/>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61" name="Oval 10"/>
              <p:cNvSpPr>
                <a:spLocks noChangeArrowheads="1"/>
              </p:cNvSpPr>
              <p:nvPr/>
            </p:nvSpPr>
            <p:spPr bwMode="auto">
              <a:xfrm rot="451335">
                <a:off x="458" y="1131"/>
                <a:ext cx="168" cy="69"/>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62" name="Oval 11"/>
              <p:cNvSpPr>
                <a:spLocks noChangeArrowheads="1"/>
              </p:cNvSpPr>
              <p:nvPr/>
            </p:nvSpPr>
            <p:spPr bwMode="auto">
              <a:xfrm rot="1051335">
                <a:off x="551" y="1191"/>
                <a:ext cx="147" cy="81"/>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63" name="Oval 12"/>
              <p:cNvSpPr>
                <a:spLocks noChangeArrowheads="1"/>
              </p:cNvSpPr>
              <p:nvPr/>
            </p:nvSpPr>
            <p:spPr bwMode="auto">
              <a:xfrm rot="-2008665">
                <a:off x="516" y="1275"/>
                <a:ext cx="178" cy="100"/>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64" name="Oval 13"/>
              <p:cNvSpPr>
                <a:spLocks noChangeArrowheads="1"/>
              </p:cNvSpPr>
              <p:nvPr/>
            </p:nvSpPr>
            <p:spPr bwMode="auto">
              <a:xfrm rot="-448665">
                <a:off x="303" y="1305"/>
                <a:ext cx="288" cy="127"/>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65" name="Oval 14"/>
              <p:cNvSpPr>
                <a:spLocks noChangeArrowheads="1"/>
              </p:cNvSpPr>
              <p:nvPr/>
            </p:nvSpPr>
            <p:spPr bwMode="auto">
              <a:xfrm rot="631335">
                <a:off x="183" y="1329"/>
                <a:ext cx="162"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66" name="Oval 15"/>
              <p:cNvSpPr>
                <a:spLocks noChangeArrowheads="1"/>
              </p:cNvSpPr>
              <p:nvPr/>
            </p:nvSpPr>
            <p:spPr bwMode="auto">
              <a:xfrm rot="-448665">
                <a:off x="130" y="1272"/>
                <a:ext cx="133"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67" name="Oval 16"/>
              <p:cNvSpPr>
                <a:spLocks noChangeArrowheads="1"/>
              </p:cNvSpPr>
              <p:nvPr/>
            </p:nvSpPr>
            <p:spPr bwMode="auto">
              <a:xfrm rot="-2308665">
                <a:off x="143" y="1202"/>
                <a:ext cx="181"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68" name="Freeform 17"/>
              <p:cNvSpPr/>
              <p:nvPr/>
            </p:nvSpPr>
            <p:spPr bwMode="auto">
              <a:xfrm rot="-448665">
                <a:off x="190" y="1173"/>
                <a:ext cx="451" cy="216"/>
              </a:xfrm>
              <a:custGeom>
                <a:avLst/>
                <a:gdLst>
                  <a:gd name="T0" fmla="*/ 66 w 738"/>
                  <a:gd name="T1" fmla="*/ 44 h 407"/>
                  <a:gd name="T2" fmla="*/ 89 w 738"/>
                  <a:gd name="T3" fmla="*/ 41 h 407"/>
                  <a:gd name="T4" fmla="*/ 112 w 738"/>
                  <a:gd name="T5" fmla="*/ 38 h 407"/>
                  <a:gd name="T6" fmla="*/ 131 w 738"/>
                  <a:gd name="T7" fmla="*/ 36 h 407"/>
                  <a:gd name="T8" fmla="*/ 145 w 738"/>
                  <a:gd name="T9" fmla="*/ 24 h 407"/>
                  <a:gd name="T10" fmla="*/ 125 w 738"/>
                  <a:gd name="T11" fmla="*/ 22 h 407"/>
                  <a:gd name="T12" fmla="*/ 105 w 738"/>
                  <a:gd name="T13" fmla="*/ 24 h 407"/>
                  <a:gd name="T14" fmla="*/ 95 w 738"/>
                  <a:gd name="T15" fmla="*/ 24 h 407"/>
                  <a:gd name="T16" fmla="*/ 115 w 738"/>
                  <a:gd name="T17" fmla="*/ 14 h 407"/>
                  <a:gd name="T18" fmla="*/ 138 w 738"/>
                  <a:gd name="T19" fmla="*/ 8 h 407"/>
                  <a:gd name="T20" fmla="*/ 158 w 738"/>
                  <a:gd name="T21" fmla="*/ 5 h 407"/>
                  <a:gd name="T22" fmla="*/ 177 w 738"/>
                  <a:gd name="T23" fmla="*/ 3 h 407"/>
                  <a:gd name="T24" fmla="*/ 197 w 738"/>
                  <a:gd name="T25" fmla="*/ 0 h 407"/>
                  <a:gd name="T26" fmla="*/ 217 w 738"/>
                  <a:gd name="T27" fmla="*/ 0 h 407"/>
                  <a:gd name="T28" fmla="*/ 237 w 738"/>
                  <a:gd name="T29" fmla="*/ 0 h 407"/>
                  <a:gd name="T30" fmla="*/ 283 w 738"/>
                  <a:gd name="T31" fmla="*/ 0 h 407"/>
                  <a:gd name="T32" fmla="*/ 309 w 738"/>
                  <a:gd name="T33" fmla="*/ 0 h 407"/>
                  <a:gd name="T34" fmla="*/ 332 w 738"/>
                  <a:gd name="T35" fmla="*/ 8 h 407"/>
                  <a:gd name="T36" fmla="*/ 348 w 738"/>
                  <a:gd name="T37" fmla="*/ 19 h 407"/>
                  <a:gd name="T38" fmla="*/ 369 w 738"/>
                  <a:gd name="T39" fmla="*/ 27 h 407"/>
                  <a:gd name="T40" fmla="*/ 388 w 738"/>
                  <a:gd name="T41" fmla="*/ 30 h 407"/>
                  <a:gd name="T42" fmla="*/ 408 w 738"/>
                  <a:gd name="T43" fmla="*/ 41 h 407"/>
                  <a:gd name="T44" fmla="*/ 424 w 738"/>
                  <a:gd name="T45" fmla="*/ 52 h 407"/>
                  <a:gd name="T46" fmla="*/ 437 w 738"/>
                  <a:gd name="T47" fmla="*/ 68 h 407"/>
                  <a:gd name="T48" fmla="*/ 441 w 738"/>
                  <a:gd name="T49" fmla="*/ 87 h 407"/>
                  <a:gd name="T50" fmla="*/ 444 w 738"/>
                  <a:gd name="T51" fmla="*/ 103 h 407"/>
                  <a:gd name="T52" fmla="*/ 444 w 738"/>
                  <a:gd name="T53" fmla="*/ 120 h 407"/>
                  <a:gd name="T54" fmla="*/ 444 w 738"/>
                  <a:gd name="T55" fmla="*/ 136 h 407"/>
                  <a:gd name="T56" fmla="*/ 450 w 738"/>
                  <a:gd name="T57" fmla="*/ 153 h 407"/>
                  <a:gd name="T58" fmla="*/ 450 w 738"/>
                  <a:gd name="T59" fmla="*/ 169 h 407"/>
                  <a:gd name="T60" fmla="*/ 437 w 738"/>
                  <a:gd name="T61" fmla="*/ 185 h 407"/>
                  <a:gd name="T62" fmla="*/ 414 w 738"/>
                  <a:gd name="T63" fmla="*/ 194 h 407"/>
                  <a:gd name="T64" fmla="*/ 395 w 738"/>
                  <a:gd name="T65" fmla="*/ 202 h 407"/>
                  <a:gd name="T66" fmla="*/ 375 w 738"/>
                  <a:gd name="T67" fmla="*/ 210 h 407"/>
                  <a:gd name="T68" fmla="*/ 355 w 738"/>
                  <a:gd name="T69" fmla="*/ 213 h 407"/>
                  <a:gd name="T70" fmla="*/ 329 w 738"/>
                  <a:gd name="T71" fmla="*/ 215 h 407"/>
                  <a:gd name="T72" fmla="*/ 306 w 738"/>
                  <a:gd name="T73" fmla="*/ 215 h 407"/>
                  <a:gd name="T74" fmla="*/ 286 w 738"/>
                  <a:gd name="T75" fmla="*/ 215 h 407"/>
                  <a:gd name="T76" fmla="*/ 266 w 738"/>
                  <a:gd name="T77" fmla="*/ 215 h 407"/>
                  <a:gd name="T78" fmla="*/ 246 w 738"/>
                  <a:gd name="T79" fmla="*/ 215 h 407"/>
                  <a:gd name="T80" fmla="*/ 227 w 738"/>
                  <a:gd name="T81" fmla="*/ 215 h 407"/>
                  <a:gd name="T82" fmla="*/ 207 w 738"/>
                  <a:gd name="T83" fmla="*/ 215 h 407"/>
                  <a:gd name="T84" fmla="*/ 188 w 738"/>
                  <a:gd name="T85" fmla="*/ 215 h 407"/>
                  <a:gd name="T86" fmla="*/ 164 w 738"/>
                  <a:gd name="T87" fmla="*/ 215 h 407"/>
                  <a:gd name="T88" fmla="*/ 145 w 738"/>
                  <a:gd name="T89" fmla="*/ 215 h 407"/>
                  <a:gd name="T90" fmla="*/ 125 w 738"/>
                  <a:gd name="T91" fmla="*/ 215 h 407"/>
                  <a:gd name="T92" fmla="*/ 105 w 738"/>
                  <a:gd name="T93" fmla="*/ 208 h 407"/>
                  <a:gd name="T94" fmla="*/ 86 w 738"/>
                  <a:gd name="T95" fmla="*/ 202 h 407"/>
                  <a:gd name="T96" fmla="*/ 66 w 738"/>
                  <a:gd name="T97" fmla="*/ 194 h 407"/>
                  <a:gd name="T98" fmla="*/ 50 w 738"/>
                  <a:gd name="T99" fmla="*/ 180 h 407"/>
                  <a:gd name="T100" fmla="*/ 36 w 738"/>
                  <a:gd name="T101" fmla="*/ 169 h 407"/>
                  <a:gd name="T102" fmla="*/ 23 w 738"/>
                  <a:gd name="T103" fmla="*/ 153 h 407"/>
                  <a:gd name="T104" fmla="*/ 10 w 738"/>
                  <a:gd name="T105" fmla="*/ 134 h 407"/>
                  <a:gd name="T106" fmla="*/ 0 w 738"/>
                  <a:gd name="T107" fmla="*/ 115 h 407"/>
                  <a:gd name="T108" fmla="*/ 0 w 738"/>
                  <a:gd name="T109" fmla="*/ 98 h 407"/>
                  <a:gd name="T110" fmla="*/ 3 w 738"/>
                  <a:gd name="T111" fmla="*/ 79 h 407"/>
                  <a:gd name="T112" fmla="*/ 17 w 738"/>
                  <a:gd name="T113" fmla="*/ 65 h 407"/>
                  <a:gd name="T114" fmla="*/ 33 w 738"/>
                  <a:gd name="T115" fmla="*/ 57 h 407"/>
                  <a:gd name="T116" fmla="*/ 53 w 738"/>
                  <a:gd name="T117" fmla="*/ 52 h 407"/>
                  <a:gd name="T118" fmla="*/ 69 w 738"/>
                  <a:gd name="T119" fmla="*/ 44 h 407"/>
                  <a:gd name="T120" fmla="*/ 79 w 738"/>
                  <a:gd name="T121" fmla="*/ 52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69" name="Freeform 18"/>
              <p:cNvSpPr/>
              <p:nvPr/>
            </p:nvSpPr>
            <p:spPr bwMode="auto">
              <a:xfrm rot="-448665">
                <a:off x="266" y="1172"/>
                <a:ext cx="72" cy="63"/>
              </a:xfrm>
              <a:custGeom>
                <a:avLst/>
                <a:gdLst>
                  <a:gd name="T0" fmla="*/ 3 w 117"/>
                  <a:gd name="T1" fmla="*/ 35 h 118"/>
                  <a:gd name="T2" fmla="*/ 0 w 117"/>
                  <a:gd name="T3" fmla="*/ 27 h 118"/>
                  <a:gd name="T4" fmla="*/ 0 w 117"/>
                  <a:gd name="T5" fmla="*/ 19 h 118"/>
                  <a:gd name="T6" fmla="*/ 10 w 117"/>
                  <a:gd name="T7" fmla="*/ 13 h 118"/>
                  <a:gd name="T8" fmla="*/ 20 w 117"/>
                  <a:gd name="T9" fmla="*/ 8 h 118"/>
                  <a:gd name="T10" fmla="*/ 29 w 117"/>
                  <a:gd name="T11" fmla="*/ 0 h 118"/>
                  <a:gd name="T12" fmla="*/ 39 w 117"/>
                  <a:gd name="T13" fmla="*/ 0 h 118"/>
                  <a:gd name="T14" fmla="*/ 49 w 117"/>
                  <a:gd name="T15" fmla="*/ 0 h 118"/>
                  <a:gd name="T16" fmla="*/ 52 w 117"/>
                  <a:gd name="T17" fmla="*/ 8 h 118"/>
                  <a:gd name="T18" fmla="*/ 58 w 117"/>
                  <a:gd name="T19" fmla="*/ 17 h 118"/>
                  <a:gd name="T20" fmla="*/ 65 w 117"/>
                  <a:gd name="T21" fmla="*/ 25 h 118"/>
                  <a:gd name="T22" fmla="*/ 68 w 117"/>
                  <a:gd name="T23" fmla="*/ 33 h 118"/>
                  <a:gd name="T24" fmla="*/ 71 w 117"/>
                  <a:gd name="T25" fmla="*/ 41 h 118"/>
                  <a:gd name="T26" fmla="*/ 71 w 117"/>
                  <a:gd name="T27" fmla="*/ 49 h 118"/>
                  <a:gd name="T28" fmla="*/ 71 w 117"/>
                  <a:gd name="T29" fmla="*/ 57 h 118"/>
                  <a:gd name="T30" fmla="*/ 62 w 117"/>
                  <a:gd name="T31" fmla="*/ 62 h 118"/>
                  <a:gd name="T32" fmla="*/ 52 w 117"/>
                  <a:gd name="T33" fmla="*/ 62 h 118"/>
                  <a:gd name="T34" fmla="*/ 42 w 117"/>
                  <a:gd name="T35" fmla="*/ 62 h 118"/>
                  <a:gd name="T36" fmla="*/ 33 w 117"/>
                  <a:gd name="T37" fmla="*/ 62 h 118"/>
                  <a:gd name="T38" fmla="*/ 23 w 117"/>
                  <a:gd name="T39" fmla="*/ 60 h 118"/>
                  <a:gd name="T40" fmla="*/ 13 w 117"/>
                  <a:gd name="T41" fmla="*/ 54 h 118"/>
                  <a:gd name="T42" fmla="*/ 7 w 117"/>
                  <a:gd name="T43" fmla="*/ 46 h 118"/>
                  <a:gd name="T44" fmla="*/ 3 w 117"/>
                  <a:gd name="T45" fmla="*/ 38 h 118"/>
                  <a:gd name="T46" fmla="*/ 3 w 117"/>
                  <a:gd name="T47" fmla="*/ 35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70" name="Freeform 19"/>
              <p:cNvSpPr/>
              <p:nvPr/>
            </p:nvSpPr>
            <p:spPr bwMode="auto">
              <a:xfrm rot="-448665">
                <a:off x="430" y="1135"/>
                <a:ext cx="50" cy="46"/>
              </a:xfrm>
              <a:custGeom>
                <a:avLst/>
                <a:gdLst>
                  <a:gd name="T0" fmla="*/ 0 w 82"/>
                  <a:gd name="T1" fmla="*/ 0 h 87"/>
                  <a:gd name="T2" fmla="*/ 10 w 82"/>
                  <a:gd name="T3" fmla="*/ 5 h 87"/>
                  <a:gd name="T4" fmla="*/ 20 w 82"/>
                  <a:gd name="T5" fmla="*/ 11 h 87"/>
                  <a:gd name="T6" fmla="*/ 30 w 82"/>
                  <a:gd name="T7" fmla="*/ 11 h 87"/>
                  <a:gd name="T8" fmla="*/ 40 w 82"/>
                  <a:gd name="T9" fmla="*/ 16 h 87"/>
                  <a:gd name="T10" fmla="*/ 46 w 82"/>
                  <a:gd name="T11" fmla="*/ 24 h 87"/>
                  <a:gd name="T12" fmla="*/ 49 w 82"/>
                  <a:gd name="T13" fmla="*/ 32 h 87"/>
                  <a:gd name="T14" fmla="*/ 49 w 82"/>
                  <a:gd name="T15" fmla="*/ 40 h 87"/>
                  <a:gd name="T16" fmla="*/ 40 w 82"/>
                  <a:gd name="T17" fmla="*/ 45 h 87"/>
                  <a:gd name="T18" fmla="*/ 30 w 82"/>
                  <a:gd name="T19" fmla="*/ 45 h 87"/>
                  <a:gd name="T20" fmla="*/ 16 w 82"/>
                  <a:gd name="T21" fmla="*/ 43 h 87"/>
                  <a:gd name="T22" fmla="*/ 7 w 82"/>
                  <a:gd name="T23" fmla="*/ 38 h 87"/>
                  <a:gd name="T24" fmla="*/ 3 w 82"/>
                  <a:gd name="T25" fmla="*/ 30 h 87"/>
                  <a:gd name="T26" fmla="*/ 0 w 82"/>
                  <a:gd name="T27" fmla="*/ 21 h 87"/>
                  <a:gd name="T28" fmla="*/ 0 w 82"/>
                  <a:gd name="T29" fmla="*/ 13 h 87"/>
                  <a:gd name="T30" fmla="*/ 7 w 82"/>
                  <a:gd name="T31" fmla="*/ 5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grpSp>
        <p:pic>
          <p:nvPicPr>
            <p:cNvPr id="30" name="Picture 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630043" y="2211556"/>
              <a:ext cx="377485" cy="2451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31" name="直接连接符 30"/>
            <p:cNvCxnSpPr/>
            <p:nvPr/>
          </p:nvCxnSpPr>
          <p:spPr>
            <a:xfrm>
              <a:off x="2236764" y="2363535"/>
              <a:ext cx="670083" cy="266248"/>
            </a:xfrm>
            <a:prstGeom prst="line">
              <a:avLst/>
            </a:prstGeom>
            <a:ln w="19050">
              <a:solidFill>
                <a:srgbClr val="008000"/>
              </a:solidFill>
            </a:ln>
          </p:spPr>
          <p:style>
            <a:lnRef idx="1">
              <a:schemeClr val="accent1"/>
            </a:lnRef>
            <a:fillRef idx="0">
              <a:schemeClr val="accent1"/>
            </a:fillRef>
            <a:effectRef idx="0">
              <a:schemeClr val="accent1"/>
            </a:effectRef>
            <a:fontRef idx="minor">
              <a:schemeClr val="tx1"/>
            </a:fontRef>
          </p:style>
        </p:cxnSp>
        <p:cxnSp>
          <p:nvCxnSpPr>
            <p:cNvPr id="32" name="直接连接符 31"/>
            <p:cNvCxnSpPr/>
            <p:nvPr/>
          </p:nvCxnSpPr>
          <p:spPr>
            <a:xfrm flipV="1">
              <a:off x="2236764" y="2649548"/>
              <a:ext cx="704672" cy="390188"/>
            </a:xfrm>
            <a:prstGeom prst="line">
              <a:avLst/>
            </a:prstGeom>
            <a:ln w="19050">
              <a:solidFill>
                <a:srgbClr val="008000"/>
              </a:solidFill>
            </a:ln>
          </p:spPr>
          <p:style>
            <a:lnRef idx="1">
              <a:schemeClr val="accent1"/>
            </a:lnRef>
            <a:fillRef idx="0">
              <a:schemeClr val="accent1"/>
            </a:fillRef>
            <a:effectRef idx="0">
              <a:schemeClr val="accent1"/>
            </a:effectRef>
            <a:fontRef idx="minor">
              <a:schemeClr val="tx1"/>
            </a:fontRef>
          </p:style>
        </p:cxnSp>
        <p:grpSp>
          <p:nvGrpSpPr>
            <p:cNvPr id="33" name="Group 124"/>
            <p:cNvGrpSpPr/>
            <p:nvPr/>
          </p:nvGrpSpPr>
          <p:grpSpPr bwMode="auto">
            <a:xfrm>
              <a:off x="2649360" y="2428183"/>
              <a:ext cx="736809" cy="400824"/>
              <a:chOff x="130" y="1123"/>
              <a:chExt cx="568" cy="309"/>
            </a:xfrm>
          </p:grpSpPr>
          <p:sp>
            <p:nvSpPr>
              <p:cNvPr id="49" name="Oval 9"/>
              <p:cNvSpPr>
                <a:spLocks noChangeArrowheads="1"/>
              </p:cNvSpPr>
              <p:nvPr/>
            </p:nvSpPr>
            <p:spPr bwMode="auto">
              <a:xfrm rot="-448665">
                <a:off x="247" y="1123"/>
                <a:ext cx="249" cy="86"/>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50" name="Oval 10"/>
              <p:cNvSpPr>
                <a:spLocks noChangeArrowheads="1"/>
              </p:cNvSpPr>
              <p:nvPr/>
            </p:nvSpPr>
            <p:spPr bwMode="auto">
              <a:xfrm rot="451335">
                <a:off x="458" y="1131"/>
                <a:ext cx="168" cy="69"/>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51" name="Oval 11"/>
              <p:cNvSpPr>
                <a:spLocks noChangeArrowheads="1"/>
              </p:cNvSpPr>
              <p:nvPr/>
            </p:nvSpPr>
            <p:spPr bwMode="auto">
              <a:xfrm rot="1051335">
                <a:off x="551" y="1191"/>
                <a:ext cx="147" cy="81"/>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52" name="Oval 12"/>
              <p:cNvSpPr>
                <a:spLocks noChangeArrowheads="1"/>
              </p:cNvSpPr>
              <p:nvPr/>
            </p:nvSpPr>
            <p:spPr bwMode="auto">
              <a:xfrm rot="-2008665">
                <a:off x="516" y="1275"/>
                <a:ext cx="178" cy="100"/>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53" name="Oval 13"/>
              <p:cNvSpPr>
                <a:spLocks noChangeArrowheads="1"/>
              </p:cNvSpPr>
              <p:nvPr/>
            </p:nvSpPr>
            <p:spPr bwMode="auto">
              <a:xfrm rot="-448665">
                <a:off x="303" y="1305"/>
                <a:ext cx="288" cy="127"/>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54" name="Oval 14"/>
              <p:cNvSpPr>
                <a:spLocks noChangeArrowheads="1"/>
              </p:cNvSpPr>
              <p:nvPr/>
            </p:nvSpPr>
            <p:spPr bwMode="auto">
              <a:xfrm rot="631335">
                <a:off x="183" y="1329"/>
                <a:ext cx="162"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55" name="Oval 15"/>
              <p:cNvSpPr>
                <a:spLocks noChangeArrowheads="1"/>
              </p:cNvSpPr>
              <p:nvPr/>
            </p:nvSpPr>
            <p:spPr bwMode="auto">
              <a:xfrm rot="-448665">
                <a:off x="130" y="1272"/>
                <a:ext cx="133"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56" name="Oval 16"/>
              <p:cNvSpPr>
                <a:spLocks noChangeArrowheads="1"/>
              </p:cNvSpPr>
              <p:nvPr/>
            </p:nvSpPr>
            <p:spPr bwMode="auto">
              <a:xfrm rot="-2308665">
                <a:off x="143" y="1202"/>
                <a:ext cx="181"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57" name="Freeform 17"/>
              <p:cNvSpPr/>
              <p:nvPr/>
            </p:nvSpPr>
            <p:spPr bwMode="auto">
              <a:xfrm rot="-448665">
                <a:off x="190" y="1173"/>
                <a:ext cx="451" cy="216"/>
              </a:xfrm>
              <a:custGeom>
                <a:avLst/>
                <a:gdLst>
                  <a:gd name="T0" fmla="*/ 66 w 738"/>
                  <a:gd name="T1" fmla="*/ 44 h 407"/>
                  <a:gd name="T2" fmla="*/ 89 w 738"/>
                  <a:gd name="T3" fmla="*/ 41 h 407"/>
                  <a:gd name="T4" fmla="*/ 112 w 738"/>
                  <a:gd name="T5" fmla="*/ 38 h 407"/>
                  <a:gd name="T6" fmla="*/ 131 w 738"/>
                  <a:gd name="T7" fmla="*/ 36 h 407"/>
                  <a:gd name="T8" fmla="*/ 145 w 738"/>
                  <a:gd name="T9" fmla="*/ 24 h 407"/>
                  <a:gd name="T10" fmla="*/ 125 w 738"/>
                  <a:gd name="T11" fmla="*/ 22 h 407"/>
                  <a:gd name="T12" fmla="*/ 105 w 738"/>
                  <a:gd name="T13" fmla="*/ 24 h 407"/>
                  <a:gd name="T14" fmla="*/ 95 w 738"/>
                  <a:gd name="T15" fmla="*/ 24 h 407"/>
                  <a:gd name="T16" fmla="*/ 115 w 738"/>
                  <a:gd name="T17" fmla="*/ 14 h 407"/>
                  <a:gd name="T18" fmla="*/ 138 w 738"/>
                  <a:gd name="T19" fmla="*/ 8 h 407"/>
                  <a:gd name="T20" fmla="*/ 158 w 738"/>
                  <a:gd name="T21" fmla="*/ 5 h 407"/>
                  <a:gd name="T22" fmla="*/ 177 w 738"/>
                  <a:gd name="T23" fmla="*/ 3 h 407"/>
                  <a:gd name="T24" fmla="*/ 197 w 738"/>
                  <a:gd name="T25" fmla="*/ 0 h 407"/>
                  <a:gd name="T26" fmla="*/ 217 w 738"/>
                  <a:gd name="T27" fmla="*/ 0 h 407"/>
                  <a:gd name="T28" fmla="*/ 237 w 738"/>
                  <a:gd name="T29" fmla="*/ 0 h 407"/>
                  <a:gd name="T30" fmla="*/ 283 w 738"/>
                  <a:gd name="T31" fmla="*/ 0 h 407"/>
                  <a:gd name="T32" fmla="*/ 309 w 738"/>
                  <a:gd name="T33" fmla="*/ 0 h 407"/>
                  <a:gd name="T34" fmla="*/ 332 w 738"/>
                  <a:gd name="T35" fmla="*/ 8 h 407"/>
                  <a:gd name="T36" fmla="*/ 348 w 738"/>
                  <a:gd name="T37" fmla="*/ 19 h 407"/>
                  <a:gd name="T38" fmla="*/ 369 w 738"/>
                  <a:gd name="T39" fmla="*/ 27 h 407"/>
                  <a:gd name="T40" fmla="*/ 388 w 738"/>
                  <a:gd name="T41" fmla="*/ 30 h 407"/>
                  <a:gd name="T42" fmla="*/ 408 w 738"/>
                  <a:gd name="T43" fmla="*/ 41 h 407"/>
                  <a:gd name="T44" fmla="*/ 424 w 738"/>
                  <a:gd name="T45" fmla="*/ 52 h 407"/>
                  <a:gd name="T46" fmla="*/ 437 w 738"/>
                  <a:gd name="T47" fmla="*/ 68 h 407"/>
                  <a:gd name="T48" fmla="*/ 441 w 738"/>
                  <a:gd name="T49" fmla="*/ 87 h 407"/>
                  <a:gd name="T50" fmla="*/ 444 w 738"/>
                  <a:gd name="T51" fmla="*/ 103 h 407"/>
                  <a:gd name="T52" fmla="*/ 444 w 738"/>
                  <a:gd name="T53" fmla="*/ 120 h 407"/>
                  <a:gd name="T54" fmla="*/ 444 w 738"/>
                  <a:gd name="T55" fmla="*/ 136 h 407"/>
                  <a:gd name="T56" fmla="*/ 450 w 738"/>
                  <a:gd name="T57" fmla="*/ 153 h 407"/>
                  <a:gd name="T58" fmla="*/ 450 w 738"/>
                  <a:gd name="T59" fmla="*/ 169 h 407"/>
                  <a:gd name="T60" fmla="*/ 437 w 738"/>
                  <a:gd name="T61" fmla="*/ 185 h 407"/>
                  <a:gd name="T62" fmla="*/ 414 w 738"/>
                  <a:gd name="T63" fmla="*/ 194 h 407"/>
                  <a:gd name="T64" fmla="*/ 395 w 738"/>
                  <a:gd name="T65" fmla="*/ 202 h 407"/>
                  <a:gd name="T66" fmla="*/ 375 w 738"/>
                  <a:gd name="T67" fmla="*/ 210 h 407"/>
                  <a:gd name="T68" fmla="*/ 355 w 738"/>
                  <a:gd name="T69" fmla="*/ 213 h 407"/>
                  <a:gd name="T70" fmla="*/ 329 w 738"/>
                  <a:gd name="T71" fmla="*/ 215 h 407"/>
                  <a:gd name="T72" fmla="*/ 306 w 738"/>
                  <a:gd name="T73" fmla="*/ 215 h 407"/>
                  <a:gd name="T74" fmla="*/ 286 w 738"/>
                  <a:gd name="T75" fmla="*/ 215 h 407"/>
                  <a:gd name="T76" fmla="*/ 266 w 738"/>
                  <a:gd name="T77" fmla="*/ 215 h 407"/>
                  <a:gd name="T78" fmla="*/ 246 w 738"/>
                  <a:gd name="T79" fmla="*/ 215 h 407"/>
                  <a:gd name="T80" fmla="*/ 227 w 738"/>
                  <a:gd name="T81" fmla="*/ 215 h 407"/>
                  <a:gd name="T82" fmla="*/ 207 w 738"/>
                  <a:gd name="T83" fmla="*/ 215 h 407"/>
                  <a:gd name="T84" fmla="*/ 188 w 738"/>
                  <a:gd name="T85" fmla="*/ 215 h 407"/>
                  <a:gd name="T86" fmla="*/ 164 w 738"/>
                  <a:gd name="T87" fmla="*/ 215 h 407"/>
                  <a:gd name="T88" fmla="*/ 145 w 738"/>
                  <a:gd name="T89" fmla="*/ 215 h 407"/>
                  <a:gd name="T90" fmla="*/ 125 w 738"/>
                  <a:gd name="T91" fmla="*/ 215 h 407"/>
                  <a:gd name="T92" fmla="*/ 105 w 738"/>
                  <a:gd name="T93" fmla="*/ 208 h 407"/>
                  <a:gd name="T94" fmla="*/ 86 w 738"/>
                  <a:gd name="T95" fmla="*/ 202 h 407"/>
                  <a:gd name="T96" fmla="*/ 66 w 738"/>
                  <a:gd name="T97" fmla="*/ 194 h 407"/>
                  <a:gd name="T98" fmla="*/ 50 w 738"/>
                  <a:gd name="T99" fmla="*/ 180 h 407"/>
                  <a:gd name="T100" fmla="*/ 36 w 738"/>
                  <a:gd name="T101" fmla="*/ 169 h 407"/>
                  <a:gd name="T102" fmla="*/ 23 w 738"/>
                  <a:gd name="T103" fmla="*/ 153 h 407"/>
                  <a:gd name="T104" fmla="*/ 10 w 738"/>
                  <a:gd name="T105" fmla="*/ 134 h 407"/>
                  <a:gd name="T106" fmla="*/ 0 w 738"/>
                  <a:gd name="T107" fmla="*/ 115 h 407"/>
                  <a:gd name="T108" fmla="*/ 0 w 738"/>
                  <a:gd name="T109" fmla="*/ 98 h 407"/>
                  <a:gd name="T110" fmla="*/ 3 w 738"/>
                  <a:gd name="T111" fmla="*/ 79 h 407"/>
                  <a:gd name="T112" fmla="*/ 17 w 738"/>
                  <a:gd name="T113" fmla="*/ 65 h 407"/>
                  <a:gd name="T114" fmla="*/ 33 w 738"/>
                  <a:gd name="T115" fmla="*/ 57 h 407"/>
                  <a:gd name="T116" fmla="*/ 53 w 738"/>
                  <a:gd name="T117" fmla="*/ 52 h 407"/>
                  <a:gd name="T118" fmla="*/ 69 w 738"/>
                  <a:gd name="T119" fmla="*/ 44 h 407"/>
                  <a:gd name="T120" fmla="*/ 79 w 738"/>
                  <a:gd name="T121" fmla="*/ 52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58" name="Freeform 18"/>
              <p:cNvSpPr/>
              <p:nvPr/>
            </p:nvSpPr>
            <p:spPr bwMode="auto">
              <a:xfrm rot="-448665">
                <a:off x="266" y="1172"/>
                <a:ext cx="72" cy="63"/>
              </a:xfrm>
              <a:custGeom>
                <a:avLst/>
                <a:gdLst>
                  <a:gd name="T0" fmla="*/ 3 w 117"/>
                  <a:gd name="T1" fmla="*/ 35 h 118"/>
                  <a:gd name="T2" fmla="*/ 0 w 117"/>
                  <a:gd name="T3" fmla="*/ 27 h 118"/>
                  <a:gd name="T4" fmla="*/ 0 w 117"/>
                  <a:gd name="T5" fmla="*/ 19 h 118"/>
                  <a:gd name="T6" fmla="*/ 10 w 117"/>
                  <a:gd name="T7" fmla="*/ 13 h 118"/>
                  <a:gd name="T8" fmla="*/ 20 w 117"/>
                  <a:gd name="T9" fmla="*/ 8 h 118"/>
                  <a:gd name="T10" fmla="*/ 29 w 117"/>
                  <a:gd name="T11" fmla="*/ 0 h 118"/>
                  <a:gd name="T12" fmla="*/ 39 w 117"/>
                  <a:gd name="T13" fmla="*/ 0 h 118"/>
                  <a:gd name="T14" fmla="*/ 49 w 117"/>
                  <a:gd name="T15" fmla="*/ 0 h 118"/>
                  <a:gd name="T16" fmla="*/ 52 w 117"/>
                  <a:gd name="T17" fmla="*/ 8 h 118"/>
                  <a:gd name="T18" fmla="*/ 58 w 117"/>
                  <a:gd name="T19" fmla="*/ 17 h 118"/>
                  <a:gd name="T20" fmla="*/ 65 w 117"/>
                  <a:gd name="T21" fmla="*/ 25 h 118"/>
                  <a:gd name="T22" fmla="*/ 68 w 117"/>
                  <a:gd name="T23" fmla="*/ 33 h 118"/>
                  <a:gd name="T24" fmla="*/ 71 w 117"/>
                  <a:gd name="T25" fmla="*/ 41 h 118"/>
                  <a:gd name="T26" fmla="*/ 71 w 117"/>
                  <a:gd name="T27" fmla="*/ 49 h 118"/>
                  <a:gd name="T28" fmla="*/ 71 w 117"/>
                  <a:gd name="T29" fmla="*/ 57 h 118"/>
                  <a:gd name="T30" fmla="*/ 62 w 117"/>
                  <a:gd name="T31" fmla="*/ 62 h 118"/>
                  <a:gd name="T32" fmla="*/ 52 w 117"/>
                  <a:gd name="T33" fmla="*/ 62 h 118"/>
                  <a:gd name="T34" fmla="*/ 42 w 117"/>
                  <a:gd name="T35" fmla="*/ 62 h 118"/>
                  <a:gd name="T36" fmla="*/ 33 w 117"/>
                  <a:gd name="T37" fmla="*/ 62 h 118"/>
                  <a:gd name="T38" fmla="*/ 23 w 117"/>
                  <a:gd name="T39" fmla="*/ 60 h 118"/>
                  <a:gd name="T40" fmla="*/ 13 w 117"/>
                  <a:gd name="T41" fmla="*/ 54 h 118"/>
                  <a:gd name="T42" fmla="*/ 7 w 117"/>
                  <a:gd name="T43" fmla="*/ 46 h 118"/>
                  <a:gd name="T44" fmla="*/ 3 w 117"/>
                  <a:gd name="T45" fmla="*/ 38 h 118"/>
                  <a:gd name="T46" fmla="*/ 3 w 117"/>
                  <a:gd name="T47" fmla="*/ 35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59" name="Freeform 19"/>
              <p:cNvSpPr/>
              <p:nvPr/>
            </p:nvSpPr>
            <p:spPr bwMode="auto">
              <a:xfrm rot="-448665">
                <a:off x="430" y="1135"/>
                <a:ext cx="50" cy="46"/>
              </a:xfrm>
              <a:custGeom>
                <a:avLst/>
                <a:gdLst>
                  <a:gd name="T0" fmla="*/ 0 w 82"/>
                  <a:gd name="T1" fmla="*/ 0 h 87"/>
                  <a:gd name="T2" fmla="*/ 10 w 82"/>
                  <a:gd name="T3" fmla="*/ 5 h 87"/>
                  <a:gd name="T4" fmla="*/ 20 w 82"/>
                  <a:gd name="T5" fmla="*/ 11 h 87"/>
                  <a:gd name="T6" fmla="*/ 30 w 82"/>
                  <a:gd name="T7" fmla="*/ 11 h 87"/>
                  <a:gd name="T8" fmla="*/ 40 w 82"/>
                  <a:gd name="T9" fmla="*/ 16 h 87"/>
                  <a:gd name="T10" fmla="*/ 46 w 82"/>
                  <a:gd name="T11" fmla="*/ 24 h 87"/>
                  <a:gd name="T12" fmla="*/ 49 w 82"/>
                  <a:gd name="T13" fmla="*/ 32 h 87"/>
                  <a:gd name="T14" fmla="*/ 49 w 82"/>
                  <a:gd name="T15" fmla="*/ 40 h 87"/>
                  <a:gd name="T16" fmla="*/ 40 w 82"/>
                  <a:gd name="T17" fmla="*/ 45 h 87"/>
                  <a:gd name="T18" fmla="*/ 30 w 82"/>
                  <a:gd name="T19" fmla="*/ 45 h 87"/>
                  <a:gd name="T20" fmla="*/ 16 w 82"/>
                  <a:gd name="T21" fmla="*/ 43 h 87"/>
                  <a:gd name="T22" fmla="*/ 7 w 82"/>
                  <a:gd name="T23" fmla="*/ 38 h 87"/>
                  <a:gd name="T24" fmla="*/ 3 w 82"/>
                  <a:gd name="T25" fmla="*/ 30 h 87"/>
                  <a:gd name="T26" fmla="*/ 0 w 82"/>
                  <a:gd name="T27" fmla="*/ 21 h 87"/>
                  <a:gd name="T28" fmla="*/ 0 w 82"/>
                  <a:gd name="T29" fmla="*/ 13 h 87"/>
                  <a:gd name="T30" fmla="*/ 7 w 82"/>
                  <a:gd name="T31" fmla="*/ 5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grpSp>
        <p:sp>
          <p:nvSpPr>
            <p:cNvPr id="34" name="Text Box 1523"/>
            <p:cNvSpPr txBox="1">
              <a:spLocks noChangeArrowheads="1"/>
            </p:cNvSpPr>
            <p:nvPr/>
          </p:nvSpPr>
          <p:spPr bwMode="auto">
            <a:xfrm>
              <a:off x="2686895" y="2434101"/>
              <a:ext cx="780544" cy="3825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defPPr>
                <a:defRPr lang="zh-CN"/>
              </a:defPPr>
              <a:lvl1pPr>
                <a:defRPr sz="1200">
                  <a:latin typeface="+mj-ea"/>
                  <a:ea typeface="+mj-ea"/>
                </a:defRPr>
              </a:lvl1pPr>
            </a:lstStyle>
            <a:p>
              <a:r>
                <a:rPr lang="zh-CN" altLang="en-US" dirty="0">
                  <a:latin typeface="+mn-ea"/>
                  <a:ea typeface="+mn-ea"/>
                </a:rPr>
                <a:t>网络</a:t>
              </a:r>
            </a:p>
          </p:txBody>
        </p:sp>
        <p:cxnSp>
          <p:nvCxnSpPr>
            <p:cNvPr id="35" name="直接连接符 34"/>
            <p:cNvCxnSpPr/>
            <p:nvPr/>
          </p:nvCxnSpPr>
          <p:spPr>
            <a:xfrm flipH="1">
              <a:off x="6094889" y="2196129"/>
              <a:ext cx="826414" cy="419902"/>
            </a:xfrm>
            <a:prstGeom prst="line">
              <a:avLst/>
            </a:prstGeom>
            <a:ln w="19050">
              <a:solidFill>
                <a:srgbClr val="008000"/>
              </a:solidFill>
            </a:ln>
          </p:spPr>
          <p:style>
            <a:lnRef idx="1">
              <a:schemeClr val="accent1"/>
            </a:lnRef>
            <a:fillRef idx="0">
              <a:schemeClr val="accent1"/>
            </a:fillRef>
            <a:effectRef idx="0">
              <a:schemeClr val="accent1"/>
            </a:effectRef>
            <a:fontRef idx="minor">
              <a:schemeClr val="tx1"/>
            </a:fontRef>
          </p:style>
        </p:cxnSp>
        <p:cxnSp>
          <p:nvCxnSpPr>
            <p:cNvPr id="36" name="直接连接符 35"/>
            <p:cNvCxnSpPr/>
            <p:nvPr/>
          </p:nvCxnSpPr>
          <p:spPr>
            <a:xfrm flipH="1" flipV="1">
              <a:off x="6137091" y="2579524"/>
              <a:ext cx="826416" cy="458805"/>
            </a:xfrm>
            <a:prstGeom prst="line">
              <a:avLst/>
            </a:prstGeom>
            <a:ln w="19050">
              <a:solidFill>
                <a:srgbClr val="008000"/>
              </a:solidFill>
            </a:ln>
          </p:spPr>
          <p:style>
            <a:lnRef idx="1">
              <a:schemeClr val="accent1"/>
            </a:lnRef>
            <a:fillRef idx="0">
              <a:schemeClr val="accent1"/>
            </a:fillRef>
            <a:effectRef idx="0">
              <a:schemeClr val="accent1"/>
            </a:effectRef>
            <a:fontRef idx="minor">
              <a:schemeClr val="tx1"/>
            </a:fontRef>
          </p:style>
        </p:cxnSp>
        <p:grpSp>
          <p:nvGrpSpPr>
            <p:cNvPr id="37" name="Group 150"/>
            <p:cNvGrpSpPr/>
            <p:nvPr/>
          </p:nvGrpSpPr>
          <p:grpSpPr bwMode="auto">
            <a:xfrm>
              <a:off x="5660160" y="2384079"/>
              <a:ext cx="736809" cy="400824"/>
              <a:chOff x="130" y="1123"/>
              <a:chExt cx="568" cy="309"/>
            </a:xfrm>
          </p:grpSpPr>
          <p:sp>
            <p:nvSpPr>
              <p:cNvPr id="38" name="Oval 9"/>
              <p:cNvSpPr>
                <a:spLocks noChangeArrowheads="1"/>
              </p:cNvSpPr>
              <p:nvPr/>
            </p:nvSpPr>
            <p:spPr bwMode="auto">
              <a:xfrm rot="-448665">
                <a:off x="247" y="1123"/>
                <a:ext cx="249" cy="86"/>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39" name="Oval 10"/>
              <p:cNvSpPr>
                <a:spLocks noChangeArrowheads="1"/>
              </p:cNvSpPr>
              <p:nvPr/>
            </p:nvSpPr>
            <p:spPr bwMode="auto">
              <a:xfrm rot="451335">
                <a:off x="458" y="1131"/>
                <a:ext cx="168" cy="69"/>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40" name="Oval 11"/>
              <p:cNvSpPr>
                <a:spLocks noChangeArrowheads="1"/>
              </p:cNvSpPr>
              <p:nvPr/>
            </p:nvSpPr>
            <p:spPr bwMode="auto">
              <a:xfrm rot="1051335">
                <a:off x="551" y="1191"/>
                <a:ext cx="147" cy="81"/>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41" name="Oval 12"/>
              <p:cNvSpPr>
                <a:spLocks noChangeArrowheads="1"/>
              </p:cNvSpPr>
              <p:nvPr/>
            </p:nvSpPr>
            <p:spPr bwMode="auto">
              <a:xfrm rot="-2008665">
                <a:off x="516" y="1275"/>
                <a:ext cx="178" cy="100"/>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42" name="Oval 13"/>
              <p:cNvSpPr>
                <a:spLocks noChangeArrowheads="1"/>
              </p:cNvSpPr>
              <p:nvPr/>
            </p:nvSpPr>
            <p:spPr bwMode="auto">
              <a:xfrm rot="-448665">
                <a:off x="303" y="1305"/>
                <a:ext cx="288" cy="127"/>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43" name="Oval 14"/>
              <p:cNvSpPr>
                <a:spLocks noChangeArrowheads="1"/>
              </p:cNvSpPr>
              <p:nvPr/>
            </p:nvSpPr>
            <p:spPr bwMode="auto">
              <a:xfrm rot="631335">
                <a:off x="183" y="1329"/>
                <a:ext cx="162"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44" name="Oval 15"/>
              <p:cNvSpPr>
                <a:spLocks noChangeArrowheads="1"/>
              </p:cNvSpPr>
              <p:nvPr/>
            </p:nvSpPr>
            <p:spPr bwMode="auto">
              <a:xfrm rot="-448665">
                <a:off x="130" y="1272"/>
                <a:ext cx="133"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45" name="Oval 16"/>
              <p:cNvSpPr>
                <a:spLocks noChangeArrowheads="1"/>
              </p:cNvSpPr>
              <p:nvPr/>
            </p:nvSpPr>
            <p:spPr bwMode="auto">
              <a:xfrm rot="-2308665">
                <a:off x="143" y="1202"/>
                <a:ext cx="181" cy="83"/>
              </a:xfrm>
              <a:prstGeom prst="ellipse">
                <a:avLst/>
              </a:prstGeom>
              <a:solidFill>
                <a:srgbClr val="CDF3CD"/>
              </a:solidFill>
              <a:ln w="12700">
                <a:solidFill>
                  <a:srgbClr val="368AD6"/>
                </a:solidFill>
                <a:round/>
              </a:ln>
            </p:spPr>
            <p:txBody>
              <a:bodyPr wrap="none" anchor="ctr"/>
              <a:lstStyle/>
              <a:p>
                <a:pPr algn="ctr" eaLnBrk="0" hangingPunct="0"/>
                <a:endParaRPr lang="zh-CN" altLang="en-US" sz="1400" dirty="0">
                  <a:solidFill>
                    <a:srgbClr val="368AD6"/>
                  </a:solidFill>
                  <a:latin typeface="Times New Roman" panose="02020603050405020304" pitchFamily="18" charset="0"/>
                  <a:ea typeface="微软雅黑 Light" panose="020B0502040204020203" pitchFamily="34" charset="-122"/>
                </a:endParaRPr>
              </a:p>
            </p:txBody>
          </p:sp>
          <p:sp>
            <p:nvSpPr>
              <p:cNvPr id="46" name="Freeform 17"/>
              <p:cNvSpPr/>
              <p:nvPr/>
            </p:nvSpPr>
            <p:spPr bwMode="auto">
              <a:xfrm rot="-448665">
                <a:off x="190" y="1173"/>
                <a:ext cx="451" cy="216"/>
              </a:xfrm>
              <a:custGeom>
                <a:avLst/>
                <a:gdLst>
                  <a:gd name="T0" fmla="*/ 66 w 738"/>
                  <a:gd name="T1" fmla="*/ 44 h 407"/>
                  <a:gd name="T2" fmla="*/ 89 w 738"/>
                  <a:gd name="T3" fmla="*/ 41 h 407"/>
                  <a:gd name="T4" fmla="*/ 112 w 738"/>
                  <a:gd name="T5" fmla="*/ 38 h 407"/>
                  <a:gd name="T6" fmla="*/ 131 w 738"/>
                  <a:gd name="T7" fmla="*/ 36 h 407"/>
                  <a:gd name="T8" fmla="*/ 145 w 738"/>
                  <a:gd name="T9" fmla="*/ 24 h 407"/>
                  <a:gd name="T10" fmla="*/ 125 w 738"/>
                  <a:gd name="T11" fmla="*/ 22 h 407"/>
                  <a:gd name="T12" fmla="*/ 105 w 738"/>
                  <a:gd name="T13" fmla="*/ 24 h 407"/>
                  <a:gd name="T14" fmla="*/ 95 w 738"/>
                  <a:gd name="T15" fmla="*/ 24 h 407"/>
                  <a:gd name="T16" fmla="*/ 115 w 738"/>
                  <a:gd name="T17" fmla="*/ 14 h 407"/>
                  <a:gd name="T18" fmla="*/ 138 w 738"/>
                  <a:gd name="T19" fmla="*/ 8 h 407"/>
                  <a:gd name="T20" fmla="*/ 158 w 738"/>
                  <a:gd name="T21" fmla="*/ 5 h 407"/>
                  <a:gd name="T22" fmla="*/ 177 w 738"/>
                  <a:gd name="T23" fmla="*/ 3 h 407"/>
                  <a:gd name="T24" fmla="*/ 197 w 738"/>
                  <a:gd name="T25" fmla="*/ 0 h 407"/>
                  <a:gd name="T26" fmla="*/ 217 w 738"/>
                  <a:gd name="T27" fmla="*/ 0 h 407"/>
                  <a:gd name="T28" fmla="*/ 237 w 738"/>
                  <a:gd name="T29" fmla="*/ 0 h 407"/>
                  <a:gd name="T30" fmla="*/ 283 w 738"/>
                  <a:gd name="T31" fmla="*/ 0 h 407"/>
                  <a:gd name="T32" fmla="*/ 309 w 738"/>
                  <a:gd name="T33" fmla="*/ 0 h 407"/>
                  <a:gd name="T34" fmla="*/ 332 w 738"/>
                  <a:gd name="T35" fmla="*/ 8 h 407"/>
                  <a:gd name="T36" fmla="*/ 348 w 738"/>
                  <a:gd name="T37" fmla="*/ 19 h 407"/>
                  <a:gd name="T38" fmla="*/ 369 w 738"/>
                  <a:gd name="T39" fmla="*/ 27 h 407"/>
                  <a:gd name="T40" fmla="*/ 388 w 738"/>
                  <a:gd name="T41" fmla="*/ 30 h 407"/>
                  <a:gd name="T42" fmla="*/ 408 w 738"/>
                  <a:gd name="T43" fmla="*/ 41 h 407"/>
                  <a:gd name="T44" fmla="*/ 424 w 738"/>
                  <a:gd name="T45" fmla="*/ 52 h 407"/>
                  <a:gd name="T46" fmla="*/ 437 w 738"/>
                  <a:gd name="T47" fmla="*/ 68 h 407"/>
                  <a:gd name="T48" fmla="*/ 441 w 738"/>
                  <a:gd name="T49" fmla="*/ 87 h 407"/>
                  <a:gd name="T50" fmla="*/ 444 w 738"/>
                  <a:gd name="T51" fmla="*/ 103 h 407"/>
                  <a:gd name="T52" fmla="*/ 444 w 738"/>
                  <a:gd name="T53" fmla="*/ 120 h 407"/>
                  <a:gd name="T54" fmla="*/ 444 w 738"/>
                  <a:gd name="T55" fmla="*/ 136 h 407"/>
                  <a:gd name="T56" fmla="*/ 450 w 738"/>
                  <a:gd name="T57" fmla="*/ 153 h 407"/>
                  <a:gd name="T58" fmla="*/ 450 w 738"/>
                  <a:gd name="T59" fmla="*/ 169 h 407"/>
                  <a:gd name="T60" fmla="*/ 437 w 738"/>
                  <a:gd name="T61" fmla="*/ 185 h 407"/>
                  <a:gd name="T62" fmla="*/ 414 w 738"/>
                  <a:gd name="T63" fmla="*/ 194 h 407"/>
                  <a:gd name="T64" fmla="*/ 395 w 738"/>
                  <a:gd name="T65" fmla="*/ 202 h 407"/>
                  <a:gd name="T66" fmla="*/ 375 w 738"/>
                  <a:gd name="T67" fmla="*/ 210 h 407"/>
                  <a:gd name="T68" fmla="*/ 355 w 738"/>
                  <a:gd name="T69" fmla="*/ 213 h 407"/>
                  <a:gd name="T70" fmla="*/ 329 w 738"/>
                  <a:gd name="T71" fmla="*/ 215 h 407"/>
                  <a:gd name="T72" fmla="*/ 306 w 738"/>
                  <a:gd name="T73" fmla="*/ 215 h 407"/>
                  <a:gd name="T74" fmla="*/ 286 w 738"/>
                  <a:gd name="T75" fmla="*/ 215 h 407"/>
                  <a:gd name="T76" fmla="*/ 266 w 738"/>
                  <a:gd name="T77" fmla="*/ 215 h 407"/>
                  <a:gd name="T78" fmla="*/ 246 w 738"/>
                  <a:gd name="T79" fmla="*/ 215 h 407"/>
                  <a:gd name="T80" fmla="*/ 227 w 738"/>
                  <a:gd name="T81" fmla="*/ 215 h 407"/>
                  <a:gd name="T82" fmla="*/ 207 w 738"/>
                  <a:gd name="T83" fmla="*/ 215 h 407"/>
                  <a:gd name="T84" fmla="*/ 188 w 738"/>
                  <a:gd name="T85" fmla="*/ 215 h 407"/>
                  <a:gd name="T86" fmla="*/ 164 w 738"/>
                  <a:gd name="T87" fmla="*/ 215 h 407"/>
                  <a:gd name="T88" fmla="*/ 145 w 738"/>
                  <a:gd name="T89" fmla="*/ 215 h 407"/>
                  <a:gd name="T90" fmla="*/ 125 w 738"/>
                  <a:gd name="T91" fmla="*/ 215 h 407"/>
                  <a:gd name="T92" fmla="*/ 105 w 738"/>
                  <a:gd name="T93" fmla="*/ 208 h 407"/>
                  <a:gd name="T94" fmla="*/ 86 w 738"/>
                  <a:gd name="T95" fmla="*/ 202 h 407"/>
                  <a:gd name="T96" fmla="*/ 66 w 738"/>
                  <a:gd name="T97" fmla="*/ 194 h 407"/>
                  <a:gd name="T98" fmla="*/ 50 w 738"/>
                  <a:gd name="T99" fmla="*/ 180 h 407"/>
                  <a:gd name="T100" fmla="*/ 36 w 738"/>
                  <a:gd name="T101" fmla="*/ 169 h 407"/>
                  <a:gd name="T102" fmla="*/ 23 w 738"/>
                  <a:gd name="T103" fmla="*/ 153 h 407"/>
                  <a:gd name="T104" fmla="*/ 10 w 738"/>
                  <a:gd name="T105" fmla="*/ 134 h 407"/>
                  <a:gd name="T106" fmla="*/ 0 w 738"/>
                  <a:gd name="T107" fmla="*/ 115 h 407"/>
                  <a:gd name="T108" fmla="*/ 0 w 738"/>
                  <a:gd name="T109" fmla="*/ 98 h 407"/>
                  <a:gd name="T110" fmla="*/ 3 w 738"/>
                  <a:gd name="T111" fmla="*/ 79 h 407"/>
                  <a:gd name="T112" fmla="*/ 17 w 738"/>
                  <a:gd name="T113" fmla="*/ 65 h 407"/>
                  <a:gd name="T114" fmla="*/ 33 w 738"/>
                  <a:gd name="T115" fmla="*/ 57 h 407"/>
                  <a:gd name="T116" fmla="*/ 53 w 738"/>
                  <a:gd name="T117" fmla="*/ 52 h 407"/>
                  <a:gd name="T118" fmla="*/ 69 w 738"/>
                  <a:gd name="T119" fmla="*/ 44 h 407"/>
                  <a:gd name="T120" fmla="*/ 79 w 738"/>
                  <a:gd name="T121" fmla="*/ 52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47" name="Freeform 18"/>
              <p:cNvSpPr/>
              <p:nvPr/>
            </p:nvSpPr>
            <p:spPr bwMode="auto">
              <a:xfrm rot="-448665">
                <a:off x="266" y="1172"/>
                <a:ext cx="72" cy="63"/>
              </a:xfrm>
              <a:custGeom>
                <a:avLst/>
                <a:gdLst>
                  <a:gd name="T0" fmla="*/ 3 w 117"/>
                  <a:gd name="T1" fmla="*/ 35 h 118"/>
                  <a:gd name="T2" fmla="*/ 0 w 117"/>
                  <a:gd name="T3" fmla="*/ 27 h 118"/>
                  <a:gd name="T4" fmla="*/ 0 w 117"/>
                  <a:gd name="T5" fmla="*/ 19 h 118"/>
                  <a:gd name="T6" fmla="*/ 10 w 117"/>
                  <a:gd name="T7" fmla="*/ 13 h 118"/>
                  <a:gd name="T8" fmla="*/ 20 w 117"/>
                  <a:gd name="T9" fmla="*/ 8 h 118"/>
                  <a:gd name="T10" fmla="*/ 29 w 117"/>
                  <a:gd name="T11" fmla="*/ 0 h 118"/>
                  <a:gd name="T12" fmla="*/ 39 w 117"/>
                  <a:gd name="T13" fmla="*/ 0 h 118"/>
                  <a:gd name="T14" fmla="*/ 49 w 117"/>
                  <a:gd name="T15" fmla="*/ 0 h 118"/>
                  <a:gd name="T16" fmla="*/ 52 w 117"/>
                  <a:gd name="T17" fmla="*/ 8 h 118"/>
                  <a:gd name="T18" fmla="*/ 58 w 117"/>
                  <a:gd name="T19" fmla="*/ 17 h 118"/>
                  <a:gd name="T20" fmla="*/ 65 w 117"/>
                  <a:gd name="T21" fmla="*/ 25 h 118"/>
                  <a:gd name="T22" fmla="*/ 68 w 117"/>
                  <a:gd name="T23" fmla="*/ 33 h 118"/>
                  <a:gd name="T24" fmla="*/ 71 w 117"/>
                  <a:gd name="T25" fmla="*/ 41 h 118"/>
                  <a:gd name="T26" fmla="*/ 71 w 117"/>
                  <a:gd name="T27" fmla="*/ 49 h 118"/>
                  <a:gd name="T28" fmla="*/ 71 w 117"/>
                  <a:gd name="T29" fmla="*/ 57 h 118"/>
                  <a:gd name="T30" fmla="*/ 62 w 117"/>
                  <a:gd name="T31" fmla="*/ 62 h 118"/>
                  <a:gd name="T32" fmla="*/ 52 w 117"/>
                  <a:gd name="T33" fmla="*/ 62 h 118"/>
                  <a:gd name="T34" fmla="*/ 42 w 117"/>
                  <a:gd name="T35" fmla="*/ 62 h 118"/>
                  <a:gd name="T36" fmla="*/ 33 w 117"/>
                  <a:gd name="T37" fmla="*/ 62 h 118"/>
                  <a:gd name="T38" fmla="*/ 23 w 117"/>
                  <a:gd name="T39" fmla="*/ 60 h 118"/>
                  <a:gd name="T40" fmla="*/ 13 w 117"/>
                  <a:gd name="T41" fmla="*/ 54 h 118"/>
                  <a:gd name="T42" fmla="*/ 7 w 117"/>
                  <a:gd name="T43" fmla="*/ 46 h 118"/>
                  <a:gd name="T44" fmla="*/ 3 w 117"/>
                  <a:gd name="T45" fmla="*/ 38 h 118"/>
                  <a:gd name="T46" fmla="*/ 3 w 117"/>
                  <a:gd name="T47" fmla="*/ 35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48" name="Freeform 19"/>
              <p:cNvSpPr/>
              <p:nvPr/>
            </p:nvSpPr>
            <p:spPr bwMode="auto">
              <a:xfrm rot="-448665">
                <a:off x="430" y="1135"/>
                <a:ext cx="50" cy="46"/>
              </a:xfrm>
              <a:custGeom>
                <a:avLst/>
                <a:gdLst>
                  <a:gd name="T0" fmla="*/ 0 w 82"/>
                  <a:gd name="T1" fmla="*/ 0 h 87"/>
                  <a:gd name="T2" fmla="*/ 10 w 82"/>
                  <a:gd name="T3" fmla="*/ 5 h 87"/>
                  <a:gd name="T4" fmla="*/ 20 w 82"/>
                  <a:gd name="T5" fmla="*/ 11 h 87"/>
                  <a:gd name="T6" fmla="*/ 30 w 82"/>
                  <a:gd name="T7" fmla="*/ 11 h 87"/>
                  <a:gd name="T8" fmla="*/ 40 w 82"/>
                  <a:gd name="T9" fmla="*/ 16 h 87"/>
                  <a:gd name="T10" fmla="*/ 46 w 82"/>
                  <a:gd name="T11" fmla="*/ 24 h 87"/>
                  <a:gd name="T12" fmla="*/ 49 w 82"/>
                  <a:gd name="T13" fmla="*/ 32 h 87"/>
                  <a:gd name="T14" fmla="*/ 49 w 82"/>
                  <a:gd name="T15" fmla="*/ 40 h 87"/>
                  <a:gd name="T16" fmla="*/ 40 w 82"/>
                  <a:gd name="T17" fmla="*/ 45 h 87"/>
                  <a:gd name="T18" fmla="*/ 30 w 82"/>
                  <a:gd name="T19" fmla="*/ 45 h 87"/>
                  <a:gd name="T20" fmla="*/ 16 w 82"/>
                  <a:gd name="T21" fmla="*/ 43 h 87"/>
                  <a:gd name="T22" fmla="*/ 7 w 82"/>
                  <a:gd name="T23" fmla="*/ 38 h 87"/>
                  <a:gd name="T24" fmla="*/ 3 w 82"/>
                  <a:gd name="T25" fmla="*/ 30 h 87"/>
                  <a:gd name="T26" fmla="*/ 0 w 82"/>
                  <a:gd name="T27" fmla="*/ 21 h 87"/>
                  <a:gd name="T28" fmla="*/ 0 w 82"/>
                  <a:gd name="T29" fmla="*/ 13 h 87"/>
                  <a:gd name="T30" fmla="*/ 7 w 82"/>
                  <a:gd name="T31" fmla="*/ 5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DF3CD"/>
              </a:solidFill>
              <a:ln>
                <a:noFill/>
              </a:ln>
              <a:extLst>
                <a:ext uri="{91240B29-F687-4F45-9708-019B960494DF}">
                  <a14:hiddenLine xmlns:a14="http://schemas.microsoft.com/office/drawing/2010/main" w="9525">
                    <a:solidFill>
                      <a:srgbClr val="368AD6"/>
                    </a:solidFill>
                    <a:round/>
                  </a14:hiddenLine>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grpSp>
      </p:grpSp>
      <p:sp>
        <p:nvSpPr>
          <p:cNvPr id="93" name="矩形 92"/>
          <p:cNvSpPr/>
          <p:nvPr/>
        </p:nvSpPr>
        <p:spPr>
          <a:xfrm>
            <a:off x="454496" y="2156796"/>
            <a:ext cx="3649807" cy="2785378"/>
          </a:xfrm>
          <a:prstGeom prst="rect">
            <a:avLst/>
          </a:prstGeom>
        </p:spPr>
        <p:txBody>
          <a:bodyPr/>
          <a:lstStyle/>
          <a:p>
            <a:pPr marL="342900" indent="-342900">
              <a:lnSpc>
                <a:spcPts val="3000"/>
              </a:lnSpc>
              <a:spcBef>
                <a:spcPts val="0"/>
              </a:spcBef>
              <a:spcAft>
                <a:spcPts val="0"/>
              </a:spcAft>
              <a:buClr>
                <a:srgbClr val="0066CC"/>
              </a:buClr>
              <a:buFont typeface="Wingdings" panose="05000000000000000000" pitchFamily="2" charset="2"/>
              <a:buChar char="l"/>
            </a:pPr>
            <a:endParaRPr lang="zh-CN" altLang="en-US" sz="2000" b="1" dirty="0">
              <a:latin typeface="微软雅黑" pitchFamily="34" charset="-122"/>
              <a:ea typeface="微软雅黑" pitchFamily="34" charset="-122"/>
            </a:endParaRPr>
          </a:p>
        </p:txBody>
      </p:sp>
    </p:spTree>
    <p:extLst>
      <p:ext uri="{BB962C8B-B14F-4D97-AF65-F5344CB8AC3E}">
        <p14:creationId xmlns:p14="http://schemas.microsoft.com/office/powerpoint/2010/main" val="4075993922"/>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0D7FB836-F1E3-12BC-7C01-467BBD4E165C}"/>
              </a:ext>
            </a:extLst>
          </p:cNvPr>
          <p:cNvSpPr>
            <a:spLocks noGrp="1"/>
          </p:cNvSpPr>
          <p:nvPr>
            <p:ph type="title"/>
          </p:nvPr>
        </p:nvSpPr>
        <p:spPr>
          <a:xfrm>
            <a:off x="612000" y="144000"/>
            <a:ext cx="7920000" cy="341632"/>
          </a:xfrm>
        </p:spPr>
        <p:txBody>
          <a:bodyPr/>
          <a:lstStyle/>
          <a:p>
            <a:r>
              <a:rPr lang="en-US" altLang="zh-CN" dirty="0"/>
              <a:t>1.3.2  </a:t>
            </a:r>
            <a:r>
              <a:rPr lang="zh-CN" altLang="en-US" dirty="0"/>
              <a:t>互联网的核心部分</a:t>
            </a:r>
          </a:p>
        </p:txBody>
      </p:sp>
      <p:sp>
        <p:nvSpPr>
          <p:cNvPr id="3" name="内容占位符 2"/>
          <p:cNvSpPr>
            <a:spLocks noGrp="1"/>
          </p:cNvSpPr>
          <p:nvPr>
            <p:ph sz="quarter" idx="10"/>
          </p:nvPr>
        </p:nvSpPr>
        <p:spPr>
          <a:xfrm>
            <a:off x="612000" y="899999"/>
            <a:ext cx="7920000" cy="3780000"/>
          </a:xfrm>
        </p:spPr>
        <p:txBody>
          <a:bodyPr/>
          <a:lstStyle/>
          <a:p>
            <a:r>
              <a:rPr lang="zh-CN" altLang="en-US" dirty="0"/>
              <a:t>典型交换技术包括：</a:t>
            </a:r>
          </a:p>
          <a:p>
            <a:pPr lvl="1"/>
            <a:r>
              <a:rPr lang="zh-CN" altLang="en-US" dirty="0"/>
              <a:t>电路交换：电话网络</a:t>
            </a:r>
          </a:p>
          <a:p>
            <a:pPr lvl="1"/>
            <a:r>
              <a:rPr lang="zh-CN" altLang="en-US" dirty="0"/>
              <a:t>分组交换：电报网络</a:t>
            </a:r>
          </a:p>
          <a:p>
            <a:pPr lvl="1"/>
            <a:r>
              <a:rPr lang="zh-CN" altLang="en-US" dirty="0"/>
              <a:t>报文交换：计算机网络</a:t>
            </a:r>
          </a:p>
        </p:txBody>
      </p:sp>
    </p:spTree>
    <p:extLst>
      <p:ext uri="{BB962C8B-B14F-4D97-AF65-F5344CB8AC3E}">
        <p14:creationId xmlns:p14="http://schemas.microsoft.com/office/powerpoint/2010/main" val="2801481074"/>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C36AA71B-3ECE-12B1-B7EE-1E486C669D4B}"/>
              </a:ext>
            </a:extLst>
          </p:cNvPr>
          <p:cNvSpPr>
            <a:spLocks noGrp="1"/>
          </p:cNvSpPr>
          <p:nvPr>
            <p:ph type="title"/>
          </p:nvPr>
        </p:nvSpPr>
        <p:spPr>
          <a:xfrm>
            <a:off x="612000" y="144000"/>
            <a:ext cx="7920000" cy="341632"/>
          </a:xfrm>
        </p:spPr>
        <p:txBody>
          <a:bodyPr/>
          <a:lstStyle/>
          <a:p>
            <a:r>
              <a:rPr lang="en-US" altLang="zh-CN" dirty="0"/>
              <a:t>1. </a:t>
            </a:r>
            <a:r>
              <a:rPr lang="zh-CN" altLang="en-US" dirty="0"/>
              <a:t>电路交换 </a:t>
            </a:r>
            <a:r>
              <a:rPr lang="en-US" altLang="zh-CN" dirty="0"/>
              <a:t>Circuit Switching</a:t>
            </a:r>
            <a:endParaRPr lang="zh-CN" altLang="en-US" dirty="0"/>
          </a:p>
        </p:txBody>
      </p:sp>
      <p:sp>
        <p:nvSpPr>
          <p:cNvPr id="103" name="内容占位符 102"/>
          <p:cNvSpPr>
            <a:spLocks noGrp="1"/>
          </p:cNvSpPr>
          <p:nvPr>
            <p:ph sz="quarter" idx="10"/>
          </p:nvPr>
        </p:nvSpPr>
        <p:spPr>
          <a:xfrm>
            <a:off x="612000" y="899999"/>
            <a:ext cx="7920000" cy="3780000"/>
          </a:xfrm>
        </p:spPr>
        <p:txBody>
          <a:bodyPr/>
          <a:lstStyle/>
          <a:p>
            <a:r>
              <a:rPr lang="zh-CN" altLang="en-US" dirty="0"/>
              <a:t>通信链路</a:t>
            </a:r>
            <a:endParaRPr lang="en-US" altLang="zh-CN" dirty="0"/>
          </a:p>
          <a:p>
            <a:pPr lvl="1"/>
            <a:r>
              <a:rPr lang="zh-CN" altLang="en-US" dirty="0"/>
              <a:t>电线对的数量与电话机数量的平方（</a:t>
            </a:r>
            <a:r>
              <a:rPr lang="en-US" altLang="zh-CN" dirty="0"/>
              <a:t>N2</a:t>
            </a:r>
            <a:r>
              <a:rPr lang="zh-CN" altLang="en-US" dirty="0"/>
              <a:t>）成正比</a:t>
            </a:r>
            <a:endParaRPr lang="en-US" altLang="zh-CN" dirty="0"/>
          </a:p>
          <a:p>
            <a:pPr lvl="1"/>
            <a:r>
              <a:rPr lang="en-US" altLang="zh-CN" dirty="0"/>
              <a:t>N(N –1)/2</a:t>
            </a:r>
            <a:endParaRPr lang="zh-CN" altLang="en-US" dirty="0"/>
          </a:p>
        </p:txBody>
      </p:sp>
    </p:spTree>
    <p:extLst>
      <p:ext uri="{BB962C8B-B14F-4D97-AF65-F5344CB8AC3E}">
        <p14:creationId xmlns:p14="http://schemas.microsoft.com/office/powerpoint/2010/main" val="243486638"/>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3C09F8-2826-7631-B298-DF68846DF2C8}"/>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C64E9463-390E-FC38-7026-B7D8D5D77E1D}"/>
              </a:ext>
            </a:extLst>
          </p:cNvPr>
          <p:cNvSpPr>
            <a:spLocks noGrp="1"/>
          </p:cNvSpPr>
          <p:nvPr>
            <p:ph type="title"/>
          </p:nvPr>
        </p:nvSpPr>
        <p:spPr>
          <a:xfrm>
            <a:off x="612000" y="144000"/>
            <a:ext cx="7920000" cy="341632"/>
          </a:xfrm>
        </p:spPr>
        <p:txBody>
          <a:bodyPr/>
          <a:lstStyle/>
          <a:p>
            <a:r>
              <a:rPr lang="en-US" altLang="zh-CN" dirty="0"/>
              <a:t>1. </a:t>
            </a:r>
            <a:r>
              <a:rPr lang="zh-CN" altLang="en-US" dirty="0"/>
              <a:t>电路交换 </a:t>
            </a:r>
            <a:r>
              <a:rPr lang="en-US" altLang="zh-CN" dirty="0"/>
              <a:t>Circuit Switching</a:t>
            </a:r>
            <a:endParaRPr lang="zh-CN" altLang="en-US" dirty="0"/>
          </a:p>
        </p:txBody>
      </p:sp>
      <p:sp>
        <p:nvSpPr>
          <p:cNvPr id="103" name="内容占位符 102">
            <a:extLst>
              <a:ext uri="{FF2B5EF4-FFF2-40B4-BE49-F238E27FC236}">
                <a16:creationId xmlns:a16="http://schemas.microsoft.com/office/drawing/2014/main" id="{63F3628E-B3FB-B0C3-E773-644A8757FECC}"/>
              </a:ext>
            </a:extLst>
          </p:cNvPr>
          <p:cNvSpPr>
            <a:spLocks noGrp="1"/>
          </p:cNvSpPr>
          <p:nvPr>
            <p:ph sz="quarter" idx="10"/>
          </p:nvPr>
        </p:nvSpPr>
        <p:spPr>
          <a:xfrm>
            <a:off x="612000" y="899999"/>
            <a:ext cx="7920000" cy="3780000"/>
          </a:xfrm>
        </p:spPr>
        <p:txBody>
          <a:bodyPr/>
          <a:lstStyle/>
          <a:p>
            <a:r>
              <a:rPr lang="zh-CN" altLang="en-US" dirty="0">
                <a:hlinkClick r:id="rId3"/>
              </a:rPr>
              <a:t>绳路</a:t>
            </a:r>
            <a:endParaRPr lang="en-US" altLang="zh-CN" dirty="0"/>
          </a:p>
          <a:p>
            <a:pPr lvl="1"/>
            <a:r>
              <a:rPr lang="zh-CN" altLang="en-US" dirty="0"/>
              <a:t>早期方式</a:t>
            </a:r>
          </a:p>
          <a:p>
            <a:pPr lvl="1"/>
            <a:endParaRPr lang="zh-CN" altLang="en-US" dirty="0"/>
          </a:p>
        </p:txBody>
      </p:sp>
      <p:cxnSp>
        <p:nvCxnSpPr>
          <p:cNvPr id="7" name="直接连接符 6">
            <a:extLst>
              <a:ext uri="{FF2B5EF4-FFF2-40B4-BE49-F238E27FC236}">
                <a16:creationId xmlns:a16="http://schemas.microsoft.com/office/drawing/2014/main" id="{7B14580A-43F0-1955-2640-F54771942636}"/>
              </a:ext>
            </a:extLst>
          </p:cNvPr>
          <p:cNvCxnSpPr>
            <a:cxnSpLocks/>
            <a:stCxn id="4" idx="3"/>
            <a:endCxn id="11" idx="1"/>
          </p:cNvCxnSpPr>
          <p:nvPr/>
        </p:nvCxnSpPr>
        <p:spPr>
          <a:xfrm>
            <a:off x="950120" y="2847326"/>
            <a:ext cx="1112941" cy="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9" name="直接连接符 18">
            <a:extLst>
              <a:ext uri="{FF2B5EF4-FFF2-40B4-BE49-F238E27FC236}">
                <a16:creationId xmlns:a16="http://schemas.microsoft.com/office/drawing/2014/main" id="{1808218C-8692-DC4E-CDE4-CD7949B419ED}"/>
              </a:ext>
            </a:extLst>
          </p:cNvPr>
          <p:cNvCxnSpPr/>
          <p:nvPr/>
        </p:nvCxnSpPr>
        <p:spPr bwMode="auto">
          <a:xfrm>
            <a:off x="6313553" y="3512726"/>
            <a:ext cx="1262063" cy="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0" name="直接连接符 19">
            <a:extLst>
              <a:ext uri="{FF2B5EF4-FFF2-40B4-BE49-F238E27FC236}">
                <a16:creationId xmlns:a16="http://schemas.microsoft.com/office/drawing/2014/main" id="{E58F0269-D5DF-F235-AC00-8BDF1648EBF7}"/>
              </a:ext>
            </a:extLst>
          </p:cNvPr>
          <p:cNvCxnSpPr/>
          <p:nvPr/>
        </p:nvCxnSpPr>
        <p:spPr bwMode="auto">
          <a:xfrm>
            <a:off x="5849938" y="2980207"/>
            <a:ext cx="2161391" cy="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 name="直接连接符 20">
            <a:extLst>
              <a:ext uri="{FF2B5EF4-FFF2-40B4-BE49-F238E27FC236}">
                <a16:creationId xmlns:a16="http://schemas.microsoft.com/office/drawing/2014/main" id="{CE650857-0E74-F434-3A2E-D84C91B84AAD}"/>
              </a:ext>
            </a:extLst>
          </p:cNvPr>
          <p:cNvCxnSpPr/>
          <p:nvPr/>
        </p:nvCxnSpPr>
        <p:spPr bwMode="auto">
          <a:xfrm>
            <a:off x="6313553" y="2429726"/>
            <a:ext cx="1262063" cy="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2" name="直接连接符 21">
            <a:extLst>
              <a:ext uri="{FF2B5EF4-FFF2-40B4-BE49-F238E27FC236}">
                <a16:creationId xmlns:a16="http://schemas.microsoft.com/office/drawing/2014/main" id="{D0598A5A-38B5-068A-7D9A-A6656F0E16EE}"/>
              </a:ext>
            </a:extLst>
          </p:cNvPr>
          <p:cNvCxnSpPr/>
          <p:nvPr/>
        </p:nvCxnSpPr>
        <p:spPr bwMode="auto">
          <a:xfrm>
            <a:off x="6327504" y="2449802"/>
            <a:ext cx="0" cy="1062925"/>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3" name="直接连接符 22">
            <a:extLst>
              <a:ext uri="{FF2B5EF4-FFF2-40B4-BE49-F238E27FC236}">
                <a16:creationId xmlns:a16="http://schemas.microsoft.com/office/drawing/2014/main" id="{F614CA6D-DCBC-EB33-F9D2-5A512019D63E}"/>
              </a:ext>
            </a:extLst>
          </p:cNvPr>
          <p:cNvCxnSpPr/>
          <p:nvPr/>
        </p:nvCxnSpPr>
        <p:spPr bwMode="auto">
          <a:xfrm>
            <a:off x="7585275" y="2449802"/>
            <a:ext cx="0" cy="1062925"/>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4" name="直接连接符 23">
            <a:extLst>
              <a:ext uri="{FF2B5EF4-FFF2-40B4-BE49-F238E27FC236}">
                <a16:creationId xmlns:a16="http://schemas.microsoft.com/office/drawing/2014/main" id="{3853679B-BF46-92DC-29B3-DD81A841D8D6}"/>
              </a:ext>
            </a:extLst>
          </p:cNvPr>
          <p:cNvCxnSpPr/>
          <p:nvPr/>
        </p:nvCxnSpPr>
        <p:spPr bwMode="auto">
          <a:xfrm>
            <a:off x="6946731" y="2093732"/>
            <a:ext cx="0" cy="1731744"/>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5" name="直接连接符 24">
            <a:extLst>
              <a:ext uri="{FF2B5EF4-FFF2-40B4-BE49-F238E27FC236}">
                <a16:creationId xmlns:a16="http://schemas.microsoft.com/office/drawing/2014/main" id="{444AEEC4-DA79-3598-8AFB-09D0A1219EAB}"/>
              </a:ext>
            </a:extLst>
          </p:cNvPr>
          <p:cNvCxnSpPr/>
          <p:nvPr/>
        </p:nvCxnSpPr>
        <p:spPr bwMode="auto">
          <a:xfrm flipH="1">
            <a:off x="6375798" y="2093732"/>
            <a:ext cx="438933" cy="284222"/>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直接连接符 25">
            <a:extLst>
              <a:ext uri="{FF2B5EF4-FFF2-40B4-BE49-F238E27FC236}">
                <a16:creationId xmlns:a16="http://schemas.microsoft.com/office/drawing/2014/main" id="{4098720B-40F6-6E58-A888-717D9F9B82D8}"/>
              </a:ext>
            </a:extLst>
          </p:cNvPr>
          <p:cNvCxnSpPr/>
          <p:nvPr/>
        </p:nvCxnSpPr>
        <p:spPr bwMode="auto">
          <a:xfrm flipH="1">
            <a:off x="7008976" y="3565556"/>
            <a:ext cx="501177" cy="281052"/>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直接连接符 26">
            <a:extLst>
              <a:ext uri="{FF2B5EF4-FFF2-40B4-BE49-F238E27FC236}">
                <a16:creationId xmlns:a16="http://schemas.microsoft.com/office/drawing/2014/main" id="{E6DADFBE-897B-1C13-CA10-576AF847C3AC}"/>
              </a:ext>
            </a:extLst>
          </p:cNvPr>
          <p:cNvCxnSpPr/>
          <p:nvPr/>
        </p:nvCxnSpPr>
        <p:spPr bwMode="auto">
          <a:xfrm>
            <a:off x="7008976" y="2084223"/>
            <a:ext cx="576300" cy="293731"/>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直接连接符 27">
            <a:extLst>
              <a:ext uri="{FF2B5EF4-FFF2-40B4-BE49-F238E27FC236}">
                <a16:creationId xmlns:a16="http://schemas.microsoft.com/office/drawing/2014/main" id="{CBD32546-3C70-1C0C-3408-0A7B19DDD860}"/>
              </a:ext>
            </a:extLst>
          </p:cNvPr>
          <p:cNvCxnSpPr/>
          <p:nvPr/>
        </p:nvCxnSpPr>
        <p:spPr bwMode="auto">
          <a:xfrm flipV="1">
            <a:off x="5849938" y="2429726"/>
            <a:ext cx="389566" cy="52935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 name="直接连接符 28">
            <a:extLst>
              <a:ext uri="{FF2B5EF4-FFF2-40B4-BE49-F238E27FC236}">
                <a16:creationId xmlns:a16="http://schemas.microsoft.com/office/drawing/2014/main" id="{870BDDCE-F66C-D294-3EDF-5C7E210158AB}"/>
              </a:ext>
            </a:extLst>
          </p:cNvPr>
          <p:cNvCxnSpPr/>
          <p:nvPr/>
        </p:nvCxnSpPr>
        <p:spPr bwMode="auto">
          <a:xfrm flipH="1" flipV="1">
            <a:off x="5840280" y="3004508"/>
            <a:ext cx="349858" cy="47969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0" name="直接连接符 29">
            <a:extLst>
              <a:ext uri="{FF2B5EF4-FFF2-40B4-BE49-F238E27FC236}">
                <a16:creationId xmlns:a16="http://schemas.microsoft.com/office/drawing/2014/main" id="{3C376667-183D-C9E4-34E5-F786562201CB}"/>
              </a:ext>
            </a:extLst>
          </p:cNvPr>
          <p:cNvCxnSpPr/>
          <p:nvPr/>
        </p:nvCxnSpPr>
        <p:spPr bwMode="auto">
          <a:xfrm flipH="1" flipV="1">
            <a:off x="6266333" y="3565556"/>
            <a:ext cx="597763" cy="309579"/>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1" name="直接连接符 30">
            <a:extLst>
              <a:ext uri="{FF2B5EF4-FFF2-40B4-BE49-F238E27FC236}">
                <a16:creationId xmlns:a16="http://schemas.microsoft.com/office/drawing/2014/main" id="{4FCD4ED3-99E4-F27A-EAA1-685B91CC0D61}"/>
              </a:ext>
            </a:extLst>
          </p:cNvPr>
          <p:cNvCxnSpPr/>
          <p:nvPr/>
        </p:nvCxnSpPr>
        <p:spPr bwMode="auto">
          <a:xfrm flipH="1" flipV="1">
            <a:off x="7642154" y="2477273"/>
            <a:ext cx="424981" cy="509274"/>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2" name="直接连接符 31">
            <a:extLst>
              <a:ext uri="{FF2B5EF4-FFF2-40B4-BE49-F238E27FC236}">
                <a16:creationId xmlns:a16="http://schemas.microsoft.com/office/drawing/2014/main" id="{81493704-9A58-441E-17B6-895E6C76DC75}"/>
              </a:ext>
            </a:extLst>
          </p:cNvPr>
          <p:cNvCxnSpPr/>
          <p:nvPr/>
        </p:nvCxnSpPr>
        <p:spPr bwMode="auto">
          <a:xfrm flipH="1">
            <a:off x="7642154" y="3004508"/>
            <a:ext cx="369175" cy="481803"/>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3" name="直接连接符 32">
            <a:extLst>
              <a:ext uri="{FF2B5EF4-FFF2-40B4-BE49-F238E27FC236}">
                <a16:creationId xmlns:a16="http://schemas.microsoft.com/office/drawing/2014/main" id="{D996A58C-F84A-D80E-C80F-AA88F316BE89}"/>
              </a:ext>
            </a:extLst>
          </p:cNvPr>
          <p:cNvCxnSpPr/>
          <p:nvPr/>
        </p:nvCxnSpPr>
        <p:spPr bwMode="auto">
          <a:xfrm flipH="1" flipV="1">
            <a:off x="6327504" y="2429726"/>
            <a:ext cx="1248111" cy="1080887"/>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4" name="直接连接符 33">
            <a:extLst>
              <a:ext uri="{FF2B5EF4-FFF2-40B4-BE49-F238E27FC236}">
                <a16:creationId xmlns:a16="http://schemas.microsoft.com/office/drawing/2014/main" id="{B8FFA0FE-F076-7DA0-3A18-AEE5056834A0}"/>
              </a:ext>
            </a:extLst>
          </p:cNvPr>
          <p:cNvCxnSpPr/>
          <p:nvPr/>
        </p:nvCxnSpPr>
        <p:spPr bwMode="auto">
          <a:xfrm flipV="1">
            <a:off x="6327504" y="2477273"/>
            <a:ext cx="1189087" cy="1009039"/>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5" name="直接连接符 34">
            <a:extLst>
              <a:ext uri="{FF2B5EF4-FFF2-40B4-BE49-F238E27FC236}">
                <a16:creationId xmlns:a16="http://schemas.microsoft.com/office/drawing/2014/main" id="{9913A427-C10D-6A67-2CFB-EAA932BACBA2}"/>
              </a:ext>
            </a:extLst>
          </p:cNvPr>
          <p:cNvCxnSpPr/>
          <p:nvPr/>
        </p:nvCxnSpPr>
        <p:spPr bwMode="auto">
          <a:xfrm flipH="1" flipV="1">
            <a:off x="5840280" y="2956963"/>
            <a:ext cx="1676312" cy="529349"/>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6" name="直接连接符 35">
            <a:extLst>
              <a:ext uri="{FF2B5EF4-FFF2-40B4-BE49-F238E27FC236}">
                <a16:creationId xmlns:a16="http://schemas.microsoft.com/office/drawing/2014/main" id="{65AA750A-3C1C-4943-CC13-707CD85BCA01}"/>
              </a:ext>
            </a:extLst>
          </p:cNvPr>
          <p:cNvCxnSpPr/>
          <p:nvPr/>
        </p:nvCxnSpPr>
        <p:spPr bwMode="auto">
          <a:xfrm flipH="1" flipV="1">
            <a:off x="6375798" y="2429726"/>
            <a:ext cx="1546457" cy="577953"/>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7" name="直接连接符 36">
            <a:extLst>
              <a:ext uri="{FF2B5EF4-FFF2-40B4-BE49-F238E27FC236}">
                <a16:creationId xmlns:a16="http://schemas.microsoft.com/office/drawing/2014/main" id="{2D43D9EF-C7D7-F251-009E-756DDB639817}"/>
              </a:ext>
            </a:extLst>
          </p:cNvPr>
          <p:cNvCxnSpPr/>
          <p:nvPr/>
        </p:nvCxnSpPr>
        <p:spPr bwMode="auto">
          <a:xfrm flipV="1">
            <a:off x="6327504" y="2142335"/>
            <a:ext cx="535518" cy="1341863"/>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8" name="直接连接符 37">
            <a:extLst>
              <a:ext uri="{FF2B5EF4-FFF2-40B4-BE49-F238E27FC236}">
                <a16:creationId xmlns:a16="http://schemas.microsoft.com/office/drawing/2014/main" id="{42744297-0014-BC85-12F8-2F5956FF2AC1}"/>
              </a:ext>
            </a:extLst>
          </p:cNvPr>
          <p:cNvCxnSpPr/>
          <p:nvPr/>
        </p:nvCxnSpPr>
        <p:spPr bwMode="auto">
          <a:xfrm flipH="1" flipV="1">
            <a:off x="6959609" y="2093732"/>
            <a:ext cx="616007" cy="1416881"/>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9" name="直接连接符 38">
            <a:extLst>
              <a:ext uri="{FF2B5EF4-FFF2-40B4-BE49-F238E27FC236}">
                <a16:creationId xmlns:a16="http://schemas.microsoft.com/office/drawing/2014/main" id="{639BA5DD-AACB-5973-F206-06699A40A00E}"/>
              </a:ext>
            </a:extLst>
          </p:cNvPr>
          <p:cNvCxnSpPr/>
          <p:nvPr/>
        </p:nvCxnSpPr>
        <p:spPr bwMode="auto">
          <a:xfrm flipV="1">
            <a:off x="6327504" y="2999226"/>
            <a:ext cx="1683824" cy="484973"/>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0" name="直接连接符 39">
            <a:extLst>
              <a:ext uri="{FF2B5EF4-FFF2-40B4-BE49-F238E27FC236}">
                <a16:creationId xmlns:a16="http://schemas.microsoft.com/office/drawing/2014/main" id="{B84B5E3C-A6F7-3A16-1875-4C6587B1B979}"/>
              </a:ext>
            </a:extLst>
          </p:cNvPr>
          <p:cNvCxnSpPr/>
          <p:nvPr/>
        </p:nvCxnSpPr>
        <p:spPr bwMode="auto">
          <a:xfrm flipV="1">
            <a:off x="5902524" y="2429726"/>
            <a:ext cx="1690263" cy="556821"/>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1" name="直接连接符 40">
            <a:extLst>
              <a:ext uri="{FF2B5EF4-FFF2-40B4-BE49-F238E27FC236}">
                <a16:creationId xmlns:a16="http://schemas.microsoft.com/office/drawing/2014/main" id="{F94DC747-4121-6CEA-18BE-E6BE752791C6}"/>
              </a:ext>
            </a:extLst>
          </p:cNvPr>
          <p:cNvCxnSpPr/>
          <p:nvPr/>
        </p:nvCxnSpPr>
        <p:spPr bwMode="auto">
          <a:xfrm flipV="1">
            <a:off x="6960683" y="2449802"/>
            <a:ext cx="614934" cy="1369335"/>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2" name="直接连接符 41">
            <a:extLst>
              <a:ext uri="{FF2B5EF4-FFF2-40B4-BE49-F238E27FC236}">
                <a16:creationId xmlns:a16="http://schemas.microsoft.com/office/drawing/2014/main" id="{B6D5DF49-ACE0-E25D-DA61-C8D1DEC4D9EF}"/>
              </a:ext>
            </a:extLst>
          </p:cNvPr>
          <p:cNvCxnSpPr/>
          <p:nvPr/>
        </p:nvCxnSpPr>
        <p:spPr bwMode="auto">
          <a:xfrm flipH="1" flipV="1">
            <a:off x="6327504" y="2429726"/>
            <a:ext cx="589177" cy="1368279"/>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3" name="直接连接符 42">
            <a:extLst>
              <a:ext uri="{FF2B5EF4-FFF2-40B4-BE49-F238E27FC236}">
                <a16:creationId xmlns:a16="http://schemas.microsoft.com/office/drawing/2014/main" id="{382924A6-A784-9395-DD64-188580B9989E}"/>
              </a:ext>
            </a:extLst>
          </p:cNvPr>
          <p:cNvCxnSpPr/>
          <p:nvPr/>
        </p:nvCxnSpPr>
        <p:spPr bwMode="auto">
          <a:xfrm flipV="1">
            <a:off x="7008976" y="2956963"/>
            <a:ext cx="1002353" cy="841042"/>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4" name="直接连接符 43">
            <a:extLst>
              <a:ext uri="{FF2B5EF4-FFF2-40B4-BE49-F238E27FC236}">
                <a16:creationId xmlns:a16="http://schemas.microsoft.com/office/drawing/2014/main" id="{3DCFEB13-E49C-EA5E-6957-7B53602D227E}"/>
              </a:ext>
            </a:extLst>
          </p:cNvPr>
          <p:cNvCxnSpPr/>
          <p:nvPr/>
        </p:nvCxnSpPr>
        <p:spPr bwMode="auto">
          <a:xfrm flipH="1" flipV="1">
            <a:off x="5902524" y="2969642"/>
            <a:ext cx="1058159" cy="855834"/>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5" name="直接连接符 44">
            <a:extLst>
              <a:ext uri="{FF2B5EF4-FFF2-40B4-BE49-F238E27FC236}">
                <a16:creationId xmlns:a16="http://schemas.microsoft.com/office/drawing/2014/main" id="{B1902503-1ECE-2DBA-D2F5-ABB1D2E7807E}"/>
              </a:ext>
            </a:extLst>
          </p:cNvPr>
          <p:cNvCxnSpPr/>
          <p:nvPr/>
        </p:nvCxnSpPr>
        <p:spPr bwMode="auto">
          <a:xfrm flipV="1">
            <a:off x="5889646" y="2142335"/>
            <a:ext cx="925084" cy="865344"/>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6" name="直接连接符 45">
            <a:extLst>
              <a:ext uri="{FF2B5EF4-FFF2-40B4-BE49-F238E27FC236}">
                <a16:creationId xmlns:a16="http://schemas.microsoft.com/office/drawing/2014/main" id="{C24D8C44-D62F-BD45-978E-AC3C4BCB85C1}"/>
              </a:ext>
            </a:extLst>
          </p:cNvPr>
          <p:cNvCxnSpPr/>
          <p:nvPr/>
        </p:nvCxnSpPr>
        <p:spPr bwMode="auto">
          <a:xfrm flipH="1" flipV="1">
            <a:off x="6960683" y="2093732"/>
            <a:ext cx="961572" cy="905494"/>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pic>
        <p:nvPicPr>
          <p:cNvPr id="47" name="图片 52">
            <a:extLst>
              <a:ext uri="{FF2B5EF4-FFF2-40B4-BE49-F238E27FC236}">
                <a16:creationId xmlns:a16="http://schemas.microsoft.com/office/drawing/2014/main" id="{D26AB841-E9EE-774D-6D90-BADD000C9316}"/>
              </a:ext>
            </a:extLst>
          </p:cNvPr>
          <p:cNvPicPr>
            <a:picLocks noChangeAspect="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131020" y="2298533"/>
            <a:ext cx="349679" cy="302939"/>
          </a:xfrm>
          <a:prstGeom prst="rect">
            <a:avLst/>
          </a:prstGeom>
          <a:noFill/>
          <a:ln w="6350">
            <a:noFill/>
            <a:miter lim="800000"/>
            <a:headEnd/>
            <a:tailEnd/>
          </a:ln>
          <a:extLst>
            <a:ext uri="{909E8E84-426E-40DD-AFC4-6F175D3DCCD1}">
              <a14:hiddenFill xmlns:a14="http://schemas.microsoft.com/office/drawing/2010/main">
                <a:solidFill>
                  <a:srgbClr val="FFFFFF"/>
                </a:solidFill>
              </a14:hiddenFill>
            </a:ext>
          </a:extLst>
        </p:spPr>
      </p:pic>
      <p:pic>
        <p:nvPicPr>
          <p:cNvPr id="48" name="图片 53">
            <a:extLst>
              <a:ext uri="{FF2B5EF4-FFF2-40B4-BE49-F238E27FC236}">
                <a16:creationId xmlns:a16="http://schemas.microsoft.com/office/drawing/2014/main" id="{3AA42B08-D149-9CE5-00D3-D6425DDF4F4F}"/>
              </a:ext>
            </a:extLst>
          </p:cNvPr>
          <p:cNvPicPr>
            <a:picLocks noChangeAspect="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7400271" y="2298533"/>
            <a:ext cx="349679" cy="302939"/>
          </a:xfrm>
          <a:prstGeom prst="rect">
            <a:avLst/>
          </a:prstGeom>
          <a:noFill/>
          <a:ln w="6350">
            <a:noFill/>
            <a:miter lim="800000"/>
            <a:headEnd/>
            <a:tailEnd/>
          </a:ln>
          <a:extLst>
            <a:ext uri="{909E8E84-426E-40DD-AFC4-6F175D3DCCD1}">
              <a14:hiddenFill xmlns:a14="http://schemas.microsoft.com/office/drawing/2010/main">
                <a:solidFill>
                  <a:srgbClr val="FFFFFF"/>
                </a:solidFill>
              </a14:hiddenFill>
            </a:ext>
          </a:extLst>
        </p:spPr>
      </p:pic>
      <p:pic>
        <p:nvPicPr>
          <p:cNvPr id="55" name="图片 60">
            <a:extLst>
              <a:ext uri="{FF2B5EF4-FFF2-40B4-BE49-F238E27FC236}">
                <a16:creationId xmlns:a16="http://schemas.microsoft.com/office/drawing/2014/main" id="{66458D7E-DFD2-21B9-8ECB-D1FE9CBDE36F}"/>
              </a:ext>
            </a:extLst>
          </p:cNvPr>
          <p:cNvPicPr>
            <a:picLocks noChangeAspect="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7836579" y="2828210"/>
            <a:ext cx="349679" cy="302939"/>
          </a:xfrm>
          <a:prstGeom prst="rect">
            <a:avLst/>
          </a:prstGeom>
          <a:noFill/>
          <a:ln w="6350">
            <a:noFill/>
            <a:miter lim="800000"/>
            <a:headEnd/>
            <a:tailEnd/>
          </a:ln>
          <a:extLst>
            <a:ext uri="{909E8E84-426E-40DD-AFC4-6F175D3DCCD1}">
              <a14:hiddenFill xmlns:a14="http://schemas.microsoft.com/office/drawing/2010/main">
                <a:solidFill>
                  <a:srgbClr val="FFFFFF"/>
                </a:solidFill>
              </a14:hiddenFill>
            </a:ext>
          </a:extLst>
        </p:spPr>
      </p:pic>
      <p:pic>
        <p:nvPicPr>
          <p:cNvPr id="56" name="图片 61">
            <a:extLst>
              <a:ext uri="{FF2B5EF4-FFF2-40B4-BE49-F238E27FC236}">
                <a16:creationId xmlns:a16="http://schemas.microsoft.com/office/drawing/2014/main" id="{9BCB36C9-5291-CFF1-4A7D-5CE25FD71F4E}"/>
              </a:ext>
            </a:extLst>
          </p:cNvPr>
          <p:cNvPicPr>
            <a:picLocks noChangeAspect="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5646033" y="2828210"/>
            <a:ext cx="349679" cy="302939"/>
          </a:xfrm>
          <a:prstGeom prst="rect">
            <a:avLst/>
          </a:prstGeom>
          <a:noFill/>
          <a:ln w="6350">
            <a:noFill/>
            <a:miter lim="800000"/>
            <a:headEnd/>
            <a:tailEnd/>
          </a:ln>
          <a:extLst>
            <a:ext uri="{909E8E84-426E-40DD-AFC4-6F175D3DCCD1}">
              <a14:hiddenFill xmlns:a14="http://schemas.microsoft.com/office/drawing/2010/main">
                <a:solidFill>
                  <a:srgbClr val="FFFFFF"/>
                </a:solidFill>
              </a14:hiddenFill>
            </a:ext>
          </a:extLst>
        </p:spPr>
      </p:pic>
      <p:pic>
        <p:nvPicPr>
          <p:cNvPr id="50" name="图片 55">
            <a:extLst>
              <a:ext uri="{FF2B5EF4-FFF2-40B4-BE49-F238E27FC236}">
                <a16:creationId xmlns:a16="http://schemas.microsoft.com/office/drawing/2014/main" id="{54DF5354-8BEB-29A3-D77F-DC81812B08E6}"/>
              </a:ext>
            </a:extLst>
          </p:cNvPr>
          <p:cNvPicPr>
            <a:picLocks noChangeAspect="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131020" y="3360781"/>
            <a:ext cx="349679" cy="302939"/>
          </a:xfrm>
          <a:prstGeom prst="rect">
            <a:avLst/>
          </a:prstGeom>
          <a:noFill/>
          <a:ln w="6350">
            <a:noFill/>
            <a:miter lim="800000"/>
            <a:headEnd/>
            <a:tailEnd/>
          </a:ln>
          <a:extLst>
            <a:ext uri="{909E8E84-426E-40DD-AFC4-6F175D3DCCD1}">
              <a14:hiddenFill xmlns:a14="http://schemas.microsoft.com/office/drawing/2010/main">
                <a:solidFill>
                  <a:srgbClr val="FFFFFF"/>
                </a:solidFill>
              </a14:hiddenFill>
            </a:ext>
          </a:extLst>
        </p:spPr>
      </p:pic>
      <p:pic>
        <p:nvPicPr>
          <p:cNvPr id="51" name="图片 56">
            <a:extLst>
              <a:ext uri="{FF2B5EF4-FFF2-40B4-BE49-F238E27FC236}">
                <a16:creationId xmlns:a16="http://schemas.microsoft.com/office/drawing/2014/main" id="{D34DD6DC-C478-7610-9DAD-6CB8377EE59C}"/>
              </a:ext>
            </a:extLst>
          </p:cNvPr>
          <p:cNvPicPr>
            <a:picLocks noChangeAspect="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7400271" y="3360781"/>
            <a:ext cx="349679" cy="302939"/>
          </a:xfrm>
          <a:prstGeom prst="rect">
            <a:avLst/>
          </a:prstGeom>
          <a:noFill/>
          <a:ln w="6350">
            <a:noFill/>
            <a:miter lim="800000"/>
            <a:headEnd/>
            <a:tailEnd/>
          </a:ln>
          <a:extLst>
            <a:ext uri="{909E8E84-426E-40DD-AFC4-6F175D3DCCD1}">
              <a14:hiddenFill xmlns:a14="http://schemas.microsoft.com/office/drawing/2010/main">
                <a:solidFill>
                  <a:srgbClr val="FFFFFF"/>
                </a:solidFill>
              </a14:hiddenFill>
            </a:ext>
          </a:extLst>
        </p:spPr>
      </p:pic>
      <p:pic>
        <p:nvPicPr>
          <p:cNvPr id="53" name="图片 58">
            <a:extLst>
              <a:ext uri="{FF2B5EF4-FFF2-40B4-BE49-F238E27FC236}">
                <a16:creationId xmlns:a16="http://schemas.microsoft.com/office/drawing/2014/main" id="{0A2E5B1F-4442-452A-577E-48A535ED7808}"/>
              </a:ext>
            </a:extLst>
          </p:cNvPr>
          <p:cNvPicPr>
            <a:picLocks noChangeAspect="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741306" y="1933131"/>
            <a:ext cx="349679" cy="302939"/>
          </a:xfrm>
          <a:prstGeom prst="rect">
            <a:avLst/>
          </a:prstGeom>
          <a:noFill/>
          <a:ln w="6350">
            <a:noFill/>
            <a:miter lim="800000"/>
            <a:headEnd/>
            <a:tailEnd/>
          </a:ln>
          <a:extLst>
            <a:ext uri="{909E8E84-426E-40DD-AFC4-6F175D3DCCD1}">
              <a14:hiddenFill xmlns:a14="http://schemas.microsoft.com/office/drawing/2010/main">
                <a:solidFill>
                  <a:srgbClr val="FFFFFF"/>
                </a:solidFill>
              </a14:hiddenFill>
            </a:ext>
          </a:extLst>
        </p:spPr>
      </p:pic>
      <p:pic>
        <p:nvPicPr>
          <p:cNvPr id="54" name="图片 59">
            <a:extLst>
              <a:ext uri="{FF2B5EF4-FFF2-40B4-BE49-F238E27FC236}">
                <a16:creationId xmlns:a16="http://schemas.microsoft.com/office/drawing/2014/main" id="{1424F28C-B338-81C7-80C2-431658F8B749}"/>
              </a:ext>
            </a:extLst>
          </p:cNvPr>
          <p:cNvPicPr>
            <a:picLocks noChangeAspect="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741306" y="3723288"/>
            <a:ext cx="349679" cy="302939"/>
          </a:xfrm>
          <a:prstGeom prst="rect">
            <a:avLst/>
          </a:prstGeom>
          <a:noFill/>
          <a:ln w="6350">
            <a:noFill/>
            <a:miter lim="800000"/>
            <a:headEnd/>
            <a:tailEnd/>
          </a:ln>
          <a:extLst>
            <a:ext uri="{909E8E84-426E-40DD-AFC4-6F175D3DCCD1}">
              <a14:hiddenFill xmlns:a14="http://schemas.microsoft.com/office/drawing/2010/main">
                <a:solidFill>
                  <a:srgbClr val="FFFFFF"/>
                </a:solidFill>
              </a14:hiddenFill>
            </a:ext>
          </a:extLst>
        </p:spPr>
      </p:pic>
      <p:cxnSp>
        <p:nvCxnSpPr>
          <p:cNvPr id="57" name="直接连接符 56">
            <a:extLst>
              <a:ext uri="{FF2B5EF4-FFF2-40B4-BE49-F238E27FC236}">
                <a16:creationId xmlns:a16="http://schemas.microsoft.com/office/drawing/2014/main" id="{83F17D88-02CF-C251-1728-F4AFA1A5B76D}"/>
              </a:ext>
            </a:extLst>
          </p:cNvPr>
          <p:cNvCxnSpPr>
            <a:cxnSpLocks/>
            <a:stCxn id="15" idx="3"/>
            <a:endCxn id="67" idx="1"/>
          </p:cNvCxnSpPr>
          <p:nvPr/>
        </p:nvCxnSpPr>
        <p:spPr>
          <a:xfrm>
            <a:off x="3395380" y="2666424"/>
            <a:ext cx="1422005" cy="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8" name="直接连接符 57">
            <a:extLst>
              <a:ext uri="{FF2B5EF4-FFF2-40B4-BE49-F238E27FC236}">
                <a16:creationId xmlns:a16="http://schemas.microsoft.com/office/drawing/2014/main" id="{C5B9ECA5-8AFB-4708-585E-0270E0158D26}"/>
              </a:ext>
            </a:extLst>
          </p:cNvPr>
          <p:cNvCxnSpPr>
            <a:cxnSpLocks/>
            <a:stCxn id="15" idx="0"/>
            <a:endCxn id="74" idx="1"/>
          </p:cNvCxnSpPr>
          <p:nvPr/>
        </p:nvCxnSpPr>
        <p:spPr>
          <a:xfrm flipV="1">
            <a:off x="3242980" y="2091450"/>
            <a:ext cx="711002" cy="422574"/>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9" name="直接连接符 58">
            <a:extLst>
              <a:ext uri="{FF2B5EF4-FFF2-40B4-BE49-F238E27FC236}">
                <a16:creationId xmlns:a16="http://schemas.microsoft.com/office/drawing/2014/main" id="{0E8F197E-2731-3FA3-1DC1-44740897585A}"/>
              </a:ext>
            </a:extLst>
          </p:cNvPr>
          <p:cNvCxnSpPr>
            <a:cxnSpLocks/>
            <a:stCxn id="67" idx="0"/>
            <a:endCxn id="74" idx="3"/>
          </p:cNvCxnSpPr>
          <p:nvPr/>
        </p:nvCxnSpPr>
        <p:spPr>
          <a:xfrm flipH="1" flipV="1">
            <a:off x="4258782" y="2091450"/>
            <a:ext cx="711003" cy="422574"/>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0" name="直接连接符 59">
            <a:extLst>
              <a:ext uri="{FF2B5EF4-FFF2-40B4-BE49-F238E27FC236}">
                <a16:creationId xmlns:a16="http://schemas.microsoft.com/office/drawing/2014/main" id="{E5B802F8-CB26-F836-9E45-E383AEE28413}"/>
              </a:ext>
            </a:extLst>
          </p:cNvPr>
          <p:cNvCxnSpPr>
            <a:cxnSpLocks/>
            <a:stCxn id="49" idx="0"/>
            <a:endCxn id="67" idx="2"/>
          </p:cNvCxnSpPr>
          <p:nvPr/>
        </p:nvCxnSpPr>
        <p:spPr>
          <a:xfrm flipV="1">
            <a:off x="4571703" y="2818824"/>
            <a:ext cx="398082" cy="589384"/>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1" name="直接连接符 60">
            <a:extLst>
              <a:ext uri="{FF2B5EF4-FFF2-40B4-BE49-F238E27FC236}">
                <a16:creationId xmlns:a16="http://schemas.microsoft.com/office/drawing/2014/main" id="{477731E7-790F-D1B3-E43B-3B64F94E0586}"/>
              </a:ext>
            </a:extLst>
          </p:cNvPr>
          <p:cNvCxnSpPr>
            <a:cxnSpLocks/>
            <a:stCxn id="17" idx="0"/>
            <a:endCxn id="15" idx="2"/>
          </p:cNvCxnSpPr>
          <p:nvPr/>
        </p:nvCxnSpPr>
        <p:spPr>
          <a:xfrm flipH="1" flipV="1">
            <a:off x="3242980" y="2818824"/>
            <a:ext cx="398081" cy="589384"/>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2" name="直接连接符 61">
            <a:extLst>
              <a:ext uri="{FF2B5EF4-FFF2-40B4-BE49-F238E27FC236}">
                <a16:creationId xmlns:a16="http://schemas.microsoft.com/office/drawing/2014/main" id="{C9B31FC9-D688-9FA3-39C0-8A1C495943F0}"/>
              </a:ext>
            </a:extLst>
          </p:cNvPr>
          <p:cNvCxnSpPr>
            <a:cxnSpLocks/>
            <a:stCxn id="17" idx="3"/>
            <a:endCxn id="49" idx="1"/>
          </p:cNvCxnSpPr>
          <p:nvPr/>
        </p:nvCxnSpPr>
        <p:spPr>
          <a:xfrm>
            <a:off x="3793461" y="3560608"/>
            <a:ext cx="625842" cy="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3" name="直接连接符 62">
            <a:extLst>
              <a:ext uri="{FF2B5EF4-FFF2-40B4-BE49-F238E27FC236}">
                <a16:creationId xmlns:a16="http://schemas.microsoft.com/office/drawing/2014/main" id="{0E7C318D-723C-F224-0274-811EBB3FCEED}"/>
              </a:ext>
            </a:extLst>
          </p:cNvPr>
          <p:cNvCxnSpPr>
            <a:cxnSpLocks/>
            <a:stCxn id="17" idx="0"/>
            <a:endCxn id="74" idx="2"/>
          </p:cNvCxnSpPr>
          <p:nvPr/>
        </p:nvCxnSpPr>
        <p:spPr>
          <a:xfrm flipV="1">
            <a:off x="3641061" y="2243850"/>
            <a:ext cx="465321" cy="1164358"/>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4" name="直接连接符 63">
            <a:extLst>
              <a:ext uri="{FF2B5EF4-FFF2-40B4-BE49-F238E27FC236}">
                <a16:creationId xmlns:a16="http://schemas.microsoft.com/office/drawing/2014/main" id="{EA0749A9-DBB3-D4E1-C1BA-1281DC088411}"/>
              </a:ext>
            </a:extLst>
          </p:cNvPr>
          <p:cNvCxnSpPr>
            <a:cxnSpLocks/>
            <a:stCxn id="49" idx="0"/>
            <a:endCxn id="74" idx="2"/>
          </p:cNvCxnSpPr>
          <p:nvPr/>
        </p:nvCxnSpPr>
        <p:spPr>
          <a:xfrm flipH="1" flipV="1">
            <a:off x="4106382" y="2243850"/>
            <a:ext cx="465321" cy="1164358"/>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5" name="直接连接符 64">
            <a:extLst>
              <a:ext uri="{FF2B5EF4-FFF2-40B4-BE49-F238E27FC236}">
                <a16:creationId xmlns:a16="http://schemas.microsoft.com/office/drawing/2014/main" id="{6907319B-0913-40D8-BE18-428D03A63FC4}"/>
              </a:ext>
            </a:extLst>
          </p:cNvPr>
          <p:cNvCxnSpPr>
            <a:cxnSpLocks/>
            <a:stCxn id="49" idx="0"/>
            <a:endCxn id="15" idx="3"/>
          </p:cNvCxnSpPr>
          <p:nvPr/>
        </p:nvCxnSpPr>
        <p:spPr>
          <a:xfrm flipH="1" flipV="1">
            <a:off x="3395380" y="2666424"/>
            <a:ext cx="1176323" cy="741784"/>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6" name="直接连接符 65">
            <a:extLst>
              <a:ext uri="{FF2B5EF4-FFF2-40B4-BE49-F238E27FC236}">
                <a16:creationId xmlns:a16="http://schemas.microsoft.com/office/drawing/2014/main" id="{E2E9C9DE-2F91-DDBE-3C65-4F49D502C99D}"/>
              </a:ext>
            </a:extLst>
          </p:cNvPr>
          <p:cNvCxnSpPr>
            <a:cxnSpLocks/>
            <a:stCxn id="67" idx="1"/>
            <a:endCxn id="17" idx="0"/>
          </p:cNvCxnSpPr>
          <p:nvPr/>
        </p:nvCxnSpPr>
        <p:spPr>
          <a:xfrm flipH="1">
            <a:off x="3641061" y="2666424"/>
            <a:ext cx="1176324" cy="741784"/>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
        <p:nvSpPr>
          <p:cNvPr id="104" name="矩形 103">
            <a:extLst>
              <a:ext uri="{FF2B5EF4-FFF2-40B4-BE49-F238E27FC236}">
                <a16:creationId xmlns:a16="http://schemas.microsoft.com/office/drawing/2014/main" id="{43C2EEA6-BB26-B997-5E68-2EA0D50363F4}"/>
              </a:ext>
            </a:extLst>
          </p:cNvPr>
          <p:cNvSpPr/>
          <p:nvPr/>
        </p:nvSpPr>
        <p:spPr>
          <a:xfrm>
            <a:off x="2969621" y="4096015"/>
            <a:ext cx="2177143" cy="523220"/>
          </a:xfrm>
          <a:prstGeom prst="rect">
            <a:avLst/>
          </a:prstGeom>
        </p:spPr>
        <p:txBody>
          <a:bodyPr wrap="square">
            <a:spAutoFit/>
          </a:bodyPr>
          <a:lstStyle/>
          <a:p>
            <a:r>
              <a:rPr lang="en-US" altLang="zh-CN" sz="1400" dirty="0"/>
              <a:t>5 </a:t>
            </a:r>
            <a:r>
              <a:rPr lang="zh-CN" altLang="en-US" sz="1400" dirty="0"/>
              <a:t>部电话机两两直接相连，需 </a:t>
            </a:r>
            <a:r>
              <a:rPr lang="en-US" altLang="zh-CN" sz="1400" dirty="0"/>
              <a:t>10 </a:t>
            </a:r>
            <a:r>
              <a:rPr lang="zh-CN" altLang="en-US" sz="1400" dirty="0"/>
              <a:t>对电线。</a:t>
            </a:r>
          </a:p>
        </p:txBody>
      </p:sp>
      <p:sp>
        <p:nvSpPr>
          <p:cNvPr id="105" name="矩形 104">
            <a:extLst>
              <a:ext uri="{FF2B5EF4-FFF2-40B4-BE49-F238E27FC236}">
                <a16:creationId xmlns:a16="http://schemas.microsoft.com/office/drawing/2014/main" id="{A5E5D312-6782-2105-37A0-1AD4EF8AC49B}"/>
              </a:ext>
            </a:extLst>
          </p:cNvPr>
          <p:cNvSpPr/>
          <p:nvPr/>
        </p:nvSpPr>
        <p:spPr>
          <a:xfrm>
            <a:off x="5724414" y="4096015"/>
            <a:ext cx="2524139" cy="523220"/>
          </a:xfrm>
          <a:prstGeom prst="rect">
            <a:avLst/>
          </a:prstGeom>
        </p:spPr>
        <p:txBody>
          <a:bodyPr wrap="square">
            <a:spAutoFit/>
          </a:bodyPr>
          <a:lstStyle/>
          <a:p>
            <a:r>
              <a:rPr lang="en-US" altLang="zh-CN" sz="1400" dirty="0"/>
              <a:t>N </a:t>
            </a:r>
            <a:r>
              <a:rPr lang="zh-CN" altLang="en-US" sz="1400" dirty="0"/>
              <a:t>部电话机两两直接相连，需 </a:t>
            </a:r>
            <a:r>
              <a:rPr lang="en-US" altLang="zh-CN" sz="1400" dirty="0"/>
              <a:t>N(N –1)/2  </a:t>
            </a:r>
            <a:r>
              <a:rPr lang="zh-CN" altLang="en-US" sz="1400" dirty="0"/>
              <a:t>对电线。</a:t>
            </a:r>
          </a:p>
        </p:txBody>
      </p:sp>
      <p:pic>
        <p:nvPicPr>
          <p:cNvPr id="4" name="图片 3">
            <a:extLst>
              <a:ext uri="{FF2B5EF4-FFF2-40B4-BE49-F238E27FC236}">
                <a16:creationId xmlns:a16="http://schemas.microsoft.com/office/drawing/2014/main" id="{4CAEEC63-B3CE-A04E-A1E7-FF04314D9D59}"/>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45320" y="2694926"/>
            <a:ext cx="304800" cy="304800"/>
          </a:xfrm>
          <a:prstGeom prst="rect">
            <a:avLst/>
          </a:prstGeom>
        </p:spPr>
      </p:pic>
      <p:pic>
        <p:nvPicPr>
          <p:cNvPr id="11" name="图片 10">
            <a:extLst>
              <a:ext uri="{FF2B5EF4-FFF2-40B4-BE49-F238E27FC236}">
                <a16:creationId xmlns:a16="http://schemas.microsoft.com/office/drawing/2014/main" id="{8AD3ADC7-0F0E-093F-39BE-CA6A9C99A5D0}"/>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2063061" y="2694926"/>
            <a:ext cx="304800" cy="304800"/>
          </a:xfrm>
          <a:prstGeom prst="rect">
            <a:avLst/>
          </a:prstGeom>
        </p:spPr>
      </p:pic>
      <p:pic>
        <p:nvPicPr>
          <p:cNvPr id="15" name="图片 14">
            <a:extLst>
              <a:ext uri="{FF2B5EF4-FFF2-40B4-BE49-F238E27FC236}">
                <a16:creationId xmlns:a16="http://schemas.microsoft.com/office/drawing/2014/main" id="{8C23D29E-593A-1A8B-4F0A-18CE11F2874F}"/>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3090580" y="2514024"/>
            <a:ext cx="304800" cy="304800"/>
          </a:xfrm>
          <a:prstGeom prst="rect">
            <a:avLst/>
          </a:prstGeom>
        </p:spPr>
      </p:pic>
      <p:pic>
        <p:nvPicPr>
          <p:cNvPr id="17" name="图片 16">
            <a:extLst>
              <a:ext uri="{FF2B5EF4-FFF2-40B4-BE49-F238E27FC236}">
                <a16:creationId xmlns:a16="http://schemas.microsoft.com/office/drawing/2014/main" id="{744F505E-2841-3747-A73B-95B408D8BF95}"/>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3488661" y="3408208"/>
            <a:ext cx="304800" cy="304800"/>
          </a:xfrm>
          <a:prstGeom prst="rect">
            <a:avLst/>
          </a:prstGeom>
        </p:spPr>
      </p:pic>
      <p:pic>
        <p:nvPicPr>
          <p:cNvPr id="49" name="图片 48">
            <a:extLst>
              <a:ext uri="{FF2B5EF4-FFF2-40B4-BE49-F238E27FC236}">
                <a16:creationId xmlns:a16="http://schemas.microsoft.com/office/drawing/2014/main" id="{95A16CF9-1849-40BA-99E3-8C7D814893B7}"/>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4419303" y="3408208"/>
            <a:ext cx="304800" cy="304800"/>
          </a:xfrm>
          <a:prstGeom prst="rect">
            <a:avLst/>
          </a:prstGeom>
        </p:spPr>
      </p:pic>
      <p:pic>
        <p:nvPicPr>
          <p:cNvPr id="67" name="图片 66">
            <a:extLst>
              <a:ext uri="{FF2B5EF4-FFF2-40B4-BE49-F238E27FC236}">
                <a16:creationId xmlns:a16="http://schemas.microsoft.com/office/drawing/2014/main" id="{7B5072CE-D95A-95AF-2282-739C1E99712B}"/>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4817385" y="2514024"/>
            <a:ext cx="304800" cy="304800"/>
          </a:xfrm>
          <a:prstGeom prst="rect">
            <a:avLst/>
          </a:prstGeom>
        </p:spPr>
      </p:pic>
      <p:pic>
        <p:nvPicPr>
          <p:cNvPr id="74" name="图片 73">
            <a:extLst>
              <a:ext uri="{FF2B5EF4-FFF2-40B4-BE49-F238E27FC236}">
                <a16:creationId xmlns:a16="http://schemas.microsoft.com/office/drawing/2014/main" id="{3F6E2FBC-D0F1-A7DC-82D9-BFFE4DFD671B}"/>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3953982" y="1939050"/>
            <a:ext cx="304800" cy="304800"/>
          </a:xfrm>
          <a:prstGeom prst="rect">
            <a:avLst/>
          </a:prstGeom>
        </p:spPr>
      </p:pic>
      <p:sp>
        <p:nvSpPr>
          <p:cNvPr id="100" name="文本框 99">
            <a:extLst>
              <a:ext uri="{FF2B5EF4-FFF2-40B4-BE49-F238E27FC236}">
                <a16:creationId xmlns:a16="http://schemas.microsoft.com/office/drawing/2014/main" id="{CED59CF7-4130-3F35-8A57-C68925551CB5}"/>
              </a:ext>
            </a:extLst>
          </p:cNvPr>
          <p:cNvSpPr txBox="1"/>
          <p:nvPr/>
        </p:nvSpPr>
        <p:spPr>
          <a:xfrm>
            <a:off x="1395822" y="2608799"/>
            <a:ext cx="221536" cy="215444"/>
          </a:xfrm>
          <a:prstGeom prst="rect">
            <a:avLst/>
          </a:prstGeom>
          <a:noFill/>
        </p:spPr>
        <p:txBody>
          <a:bodyPr wrap="none" rtlCol="0">
            <a:spAutoFit/>
          </a:bodyPr>
          <a:lstStyle/>
          <a:p>
            <a:pPr algn="ctr"/>
            <a:r>
              <a:rPr lang="en-US" altLang="zh-CN" sz="800" dirty="0"/>
              <a:t>1</a:t>
            </a:r>
            <a:endParaRPr lang="zh-CN" altLang="en-US" sz="800" dirty="0"/>
          </a:p>
        </p:txBody>
      </p:sp>
      <p:sp>
        <p:nvSpPr>
          <p:cNvPr id="102" name="文本框 101">
            <a:extLst>
              <a:ext uri="{FF2B5EF4-FFF2-40B4-BE49-F238E27FC236}">
                <a16:creationId xmlns:a16="http://schemas.microsoft.com/office/drawing/2014/main" id="{982E1909-A527-FED6-1BCD-494B2A043778}"/>
              </a:ext>
            </a:extLst>
          </p:cNvPr>
          <p:cNvSpPr txBox="1"/>
          <p:nvPr/>
        </p:nvSpPr>
        <p:spPr>
          <a:xfrm>
            <a:off x="3947819" y="2745001"/>
            <a:ext cx="288861" cy="215444"/>
          </a:xfrm>
          <a:prstGeom prst="rect">
            <a:avLst/>
          </a:prstGeom>
          <a:noFill/>
        </p:spPr>
        <p:txBody>
          <a:bodyPr wrap="none" rtlCol="0">
            <a:spAutoFit/>
          </a:bodyPr>
          <a:lstStyle/>
          <a:p>
            <a:pPr algn="ctr"/>
            <a:r>
              <a:rPr lang="en-US" altLang="zh-CN" sz="800" dirty="0"/>
              <a:t>10</a:t>
            </a:r>
            <a:endParaRPr lang="zh-CN" altLang="en-US" sz="800" dirty="0"/>
          </a:p>
        </p:txBody>
      </p:sp>
    </p:spTree>
    <p:extLst>
      <p:ext uri="{BB962C8B-B14F-4D97-AF65-F5344CB8AC3E}">
        <p14:creationId xmlns:p14="http://schemas.microsoft.com/office/powerpoint/2010/main" val="2832108677"/>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58"/>
                                        </p:tgtEl>
                                        <p:attrNameLst>
                                          <p:attrName>style.visibility</p:attrName>
                                        </p:attrNameLst>
                                      </p:cBhvr>
                                      <p:to>
                                        <p:strVal val="visible"/>
                                      </p:to>
                                    </p:set>
                                    <p:animEffect transition="in" filter="wipe(left)">
                                      <p:cBhvr>
                                        <p:cTn id="7" dur="250"/>
                                        <p:tgtEl>
                                          <p:spTgt spid="58"/>
                                        </p:tgtEl>
                                      </p:cBhvr>
                                    </p:animEffect>
                                  </p:childTnLst>
                                </p:cTn>
                              </p:par>
                            </p:childTnLst>
                          </p:cTn>
                        </p:par>
                        <p:par>
                          <p:cTn id="8" fill="hold">
                            <p:stCondLst>
                              <p:cond delay="250"/>
                            </p:stCondLst>
                            <p:childTnLst>
                              <p:par>
                                <p:cTn id="9" presetID="22" presetClass="entr" presetSubtype="8" fill="hold" nodeType="afterEffect">
                                  <p:stCondLst>
                                    <p:cond delay="0"/>
                                  </p:stCondLst>
                                  <p:childTnLst>
                                    <p:set>
                                      <p:cBhvr>
                                        <p:cTn id="10" dur="1" fill="hold">
                                          <p:stCondLst>
                                            <p:cond delay="0"/>
                                          </p:stCondLst>
                                        </p:cTn>
                                        <p:tgtEl>
                                          <p:spTgt spid="57"/>
                                        </p:tgtEl>
                                        <p:attrNameLst>
                                          <p:attrName>style.visibility</p:attrName>
                                        </p:attrNameLst>
                                      </p:cBhvr>
                                      <p:to>
                                        <p:strVal val="visible"/>
                                      </p:to>
                                    </p:set>
                                    <p:animEffect transition="in" filter="wipe(left)">
                                      <p:cBhvr>
                                        <p:cTn id="11" dur="250"/>
                                        <p:tgtEl>
                                          <p:spTgt spid="57"/>
                                        </p:tgtEl>
                                      </p:cBhvr>
                                    </p:animEffect>
                                  </p:childTnLst>
                                </p:cTn>
                              </p:par>
                            </p:childTnLst>
                          </p:cTn>
                        </p:par>
                        <p:par>
                          <p:cTn id="12" fill="hold">
                            <p:stCondLst>
                              <p:cond delay="500"/>
                            </p:stCondLst>
                            <p:childTnLst>
                              <p:par>
                                <p:cTn id="13" presetID="22" presetClass="entr" presetSubtype="8" fill="hold" nodeType="afterEffect">
                                  <p:stCondLst>
                                    <p:cond delay="0"/>
                                  </p:stCondLst>
                                  <p:childTnLst>
                                    <p:set>
                                      <p:cBhvr>
                                        <p:cTn id="14" dur="1" fill="hold">
                                          <p:stCondLst>
                                            <p:cond delay="0"/>
                                          </p:stCondLst>
                                        </p:cTn>
                                        <p:tgtEl>
                                          <p:spTgt spid="65"/>
                                        </p:tgtEl>
                                        <p:attrNameLst>
                                          <p:attrName>style.visibility</p:attrName>
                                        </p:attrNameLst>
                                      </p:cBhvr>
                                      <p:to>
                                        <p:strVal val="visible"/>
                                      </p:to>
                                    </p:set>
                                    <p:animEffect transition="in" filter="wipe(left)">
                                      <p:cBhvr>
                                        <p:cTn id="15" dur="250"/>
                                        <p:tgtEl>
                                          <p:spTgt spid="65"/>
                                        </p:tgtEl>
                                      </p:cBhvr>
                                    </p:animEffect>
                                  </p:childTnLst>
                                </p:cTn>
                              </p:par>
                            </p:childTnLst>
                          </p:cTn>
                        </p:par>
                        <p:par>
                          <p:cTn id="16" fill="hold">
                            <p:stCondLst>
                              <p:cond delay="750"/>
                            </p:stCondLst>
                            <p:childTnLst>
                              <p:par>
                                <p:cTn id="17" presetID="22" presetClass="entr" presetSubtype="1" fill="hold" nodeType="afterEffect">
                                  <p:stCondLst>
                                    <p:cond delay="0"/>
                                  </p:stCondLst>
                                  <p:childTnLst>
                                    <p:set>
                                      <p:cBhvr>
                                        <p:cTn id="18" dur="1" fill="hold">
                                          <p:stCondLst>
                                            <p:cond delay="0"/>
                                          </p:stCondLst>
                                        </p:cTn>
                                        <p:tgtEl>
                                          <p:spTgt spid="61"/>
                                        </p:tgtEl>
                                        <p:attrNameLst>
                                          <p:attrName>style.visibility</p:attrName>
                                        </p:attrNameLst>
                                      </p:cBhvr>
                                      <p:to>
                                        <p:strVal val="visible"/>
                                      </p:to>
                                    </p:set>
                                    <p:animEffect transition="in" filter="wipe(up)">
                                      <p:cBhvr>
                                        <p:cTn id="19" dur="250"/>
                                        <p:tgtEl>
                                          <p:spTgt spid="61"/>
                                        </p:tgtEl>
                                      </p:cBhvr>
                                    </p:animEffect>
                                  </p:childTnLst>
                                </p:cTn>
                              </p:par>
                            </p:childTnLst>
                          </p:cTn>
                        </p:par>
                        <p:par>
                          <p:cTn id="20" fill="hold">
                            <p:stCondLst>
                              <p:cond delay="1000"/>
                            </p:stCondLst>
                            <p:childTnLst>
                              <p:par>
                                <p:cTn id="21" presetID="22" presetClass="entr" presetSubtype="1" fill="hold" nodeType="afterEffect">
                                  <p:stCondLst>
                                    <p:cond delay="0"/>
                                  </p:stCondLst>
                                  <p:childTnLst>
                                    <p:set>
                                      <p:cBhvr>
                                        <p:cTn id="22" dur="1" fill="hold">
                                          <p:stCondLst>
                                            <p:cond delay="0"/>
                                          </p:stCondLst>
                                        </p:cTn>
                                        <p:tgtEl>
                                          <p:spTgt spid="63"/>
                                        </p:tgtEl>
                                        <p:attrNameLst>
                                          <p:attrName>style.visibility</p:attrName>
                                        </p:attrNameLst>
                                      </p:cBhvr>
                                      <p:to>
                                        <p:strVal val="visible"/>
                                      </p:to>
                                    </p:set>
                                    <p:animEffect transition="in" filter="wipe(up)">
                                      <p:cBhvr>
                                        <p:cTn id="23" dur="250"/>
                                        <p:tgtEl>
                                          <p:spTgt spid="63"/>
                                        </p:tgtEl>
                                      </p:cBhvr>
                                    </p:animEffect>
                                  </p:childTnLst>
                                </p:cTn>
                              </p:par>
                            </p:childTnLst>
                          </p:cTn>
                        </p:par>
                        <p:par>
                          <p:cTn id="24" fill="hold">
                            <p:stCondLst>
                              <p:cond delay="1250"/>
                            </p:stCondLst>
                            <p:childTnLst>
                              <p:par>
                                <p:cTn id="25" presetID="22" presetClass="entr" presetSubtype="1" fill="hold" nodeType="afterEffect">
                                  <p:stCondLst>
                                    <p:cond delay="0"/>
                                  </p:stCondLst>
                                  <p:childTnLst>
                                    <p:set>
                                      <p:cBhvr>
                                        <p:cTn id="26" dur="1" fill="hold">
                                          <p:stCondLst>
                                            <p:cond delay="0"/>
                                          </p:stCondLst>
                                        </p:cTn>
                                        <p:tgtEl>
                                          <p:spTgt spid="64"/>
                                        </p:tgtEl>
                                        <p:attrNameLst>
                                          <p:attrName>style.visibility</p:attrName>
                                        </p:attrNameLst>
                                      </p:cBhvr>
                                      <p:to>
                                        <p:strVal val="visible"/>
                                      </p:to>
                                    </p:set>
                                    <p:animEffect transition="in" filter="wipe(up)">
                                      <p:cBhvr>
                                        <p:cTn id="27" dur="250"/>
                                        <p:tgtEl>
                                          <p:spTgt spid="64"/>
                                        </p:tgtEl>
                                      </p:cBhvr>
                                    </p:animEffect>
                                  </p:childTnLst>
                                </p:cTn>
                              </p:par>
                            </p:childTnLst>
                          </p:cTn>
                        </p:par>
                        <p:par>
                          <p:cTn id="28" fill="hold">
                            <p:stCondLst>
                              <p:cond delay="1500"/>
                            </p:stCondLst>
                            <p:childTnLst>
                              <p:par>
                                <p:cTn id="29" presetID="22" presetClass="entr" presetSubtype="1" fill="hold" nodeType="afterEffect">
                                  <p:stCondLst>
                                    <p:cond delay="0"/>
                                  </p:stCondLst>
                                  <p:childTnLst>
                                    <p:set>
                                      <p:cBhvr>
                                        <p:cTn id="30" dur="1" fill="hold">
                                          <p:stCondLst>
                                            <p:cond delay="0"/>
                                          </p:stCondLst>
                                        </p:cTn>
                                        <p:tgtEl>
                                          <p:spTgt spid="59"/>
                                        </p:tgtEl>
                                        <p:attrNameLst>
                                          <p:attrName>style.visibility</p:attrName>
                                        </p:attrNameLst>
                                      </p:cBhvr>
                                      <p:to>
                                        <p:strVal val="visible"/>
                                      </p:to>
                                    </p:set>
                                    <p:animEffect transition="in" filter="wipe(up)">
                                      <p:cBhvr>
                                        <p:cTn id="31" dur="250"/>
                                        <p:tgtEl>
                                          <p:spTgt spid="59"/>
                                        </p:tgtEl>
                                      </p:cBhvr>
                                    </p:animEffect>
                                  </p:childTnLst>
                                </p:cTn>
                              </p:par>
                            </p:childTnLst>
                          </p:cTn>
                        </p:par>
                        <p:par>
                          <p:cTn id="32" fill="hold">
                            <p:stCondLst>
                              <p:cond delay="1750"/>
                            </p:stCondLst>
                            <p:childTnLst>
                              <p:par>
                                <p:cTn id="33" presetID="22" presetClass="entr" presetSubtype="8" fill="hold" nodeType="afterEffect">
                                  <p:stCondLst>
                                    <p:cond delay="0"/>
                                  </p:stCondLst>
                                  <p:childTnLst>
                                    <p:set>
                                      <p:cBhvr>
                                        <p:cTn id="34" dur="1" fill="hold">
                                          <p:stCondLst>
                                            <p:cond delay="0"/>
                                          </p:stCondLst>
                                        </p:cTn>
                                        <p:tgtEl>
                                          <p:spTgt spid="66"/>
                                        </p:tgtEl>
                                        <p:attrNameLst>
                                          <p:attrName>style.visibility</p:attrName>
                                        </p:attrNameLst>
                                      </p:cBhvr>
                                      <p:to>
                                        <p:strVal val="visible"/>
                                      </p:to>
                                    </p:set>
                                    <p:animEffect transition="in" filter="wipe(left)">
                                      <p:cBhvr>
                                        <p:cTn id="35" dur="250"/>
                                        <p:tgtEl>
                                          <p:spTgt spid="66"/>
                                        </p:tgtEl>
                                      </p:cBhvr>
                                    </p:animEffect>
                                  </p:childTnLst>
                                </p:cTn>
                              </p:par>
                            </p:childTnLst>
                          </p:cTn>
                        </p:par>
                        <p:par>
                          <p:cTn id="36" fill="hold">
                            <p:stCondLst>
                              <p:cond delay="2000"/>
                            </p:stCondLst>
                            <p:childTnLst>
                              <p:par>
                                <p:cTn id="37" presetID="22" presetClass="entr" presetSubtype="4" fill="hold" nodeType="afterEffect">
                                  <p:stCondLst>
                                    <p:cond delay="0"/>
                                  </p:stCondLst>
                                  <p:childTnLst>
                                    <p:set>
                                      <p:cBhvr>
                                        <p:cTn id="38" dur="1" fill="hold">
                                          <p:stCondLst>
                                            <p:cond delay="0"/>
                                          </p:stCondLst>
                                        </p:cTn>
                                        <p:tgtEl>
                                          <p:spTgt spid="62"/>
                                        </p:tgtEl>
                                        <p:attrNameLst>
                                          <p:attrName>style.visibility</p:attrName>
                                        </p:attrNameLst>
                                      </p:cBhvr>
                                      <p:to>
                                        <p:strVal val="visible"/>
                                      </p:to>
                                    </p:set>
                                    <p:animEffect transition="in" filter="wipe(down)">
                                      <p:cBhvr>
                                        <p:cTn id="39" dur="250"/>
                                        <p:tgtEl>
                                          <p:spTgt spid="62"/>
                                        </p:tgtEl>
                                      </p:cBhvr>
                                    </p:animEffect>
                                  </p:childTnLst>
                                </p:cTn>
                              </p:par>
                            </p:childTnLst>
                          </p:cTn>
                        </p:par>
                        <p:par>
                          <p:cTn id="40" fill="hold">
                            <p:stCondLst>
                              <p:cond delay="2250"/>
                            </p:stCondLst>
                            <p:childTnLst>
                              <p:par>
                                <p:cTn id="41" presetID="22" presetClass="entr" presetSubtype="4" fill="hold" nodeType="afterEffect">
                                  <p:stCondLst>
                                    <p:cond delay="0"/>
                                  </p:stCondLst>
                                  <p:childTnLst>
                                    <p:set>
                                      <p:cBhvr>
                                        <p:cTn id="42" dur="1" fill="hold">
                                          <p:stCondLst>
                                            <p:cond delay="0"/>
                                          </p:stCondLst>
                                        </p:cTn>
                                        <p:tgtEl>
                                          <p:spTgt spid="60"/>
                                        </p:tgtEl>
                                        <p:attrNameLst>
                                          <p:attrName>style.visibility</p:attrName>
                                        </p:attrNameLst>
                                      </p:cBhvr>
                                      <p:to>
                                        <p:strVal val="visible"/>
                                      </p:to>
                                    </p:set>
                                    <p:animEffect transition="in" filter="wipe(down)">
                                      <p:cBhvr>
                                        <p:cTn id="43" dur="250"/>
                                        <p:tgtEl>
                                          <p:spTgt spid="6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7F627542-E7EE-6D2A-4069-CB8470A925F1}"/>
              </a:ext>
            </a:extLst>
          </p:cNvPr>
          <p:cNvSpPr>
            <a:spLocks noGrp="1"/>
          </p:cNvSpPr>
          <p:nvPr>
            <p:ph type="title"/>
          </p:nvPr>
        </p:nvSpPr>
        <p:spPr>
          <a:xfrm>
            <a:off x="612000" y="144000"/>
            <a:ext cx="7920000" cy="341632"/>
          </a:xfrm>
        </p:spPr>
        <p:txBody>
          <a:bodyPr/>
          <a:lstStyle/>
          <a:p>
            <a:r>
              <a:rPr lang="en-US" altLang="zh-CN" dirty="0"/>
              <a:t>1. </a:t>
            </a:r>
            <a:r>
              <a:rPr lang="zh-CN" altLang="en-US" dirty="0"/>
              <a:t>电路交换 </a:t>
            </a:r>
            <a:r>
              <a:rPr lang="en-US" altLang="zh-CN" dirty="0"/>
              <a:t>Circuit Switching</a:t>
            </a:r>
            <a:endParaRPr lang="zh-CN" altLang="en-US" dirty="0"/>
          </a:p>
        </p:txBody>
      </p:sp>
      <p:sp>
        <p:nvSpPr>
          <p:cNvPr id="103" name="内容占位符 102"/>
          <p:cNvSpPr>
            <a:spLocks noGrp="1"/>
          </p:cNvSpPr>
          <p:nvPr>
            <p:ph sz="quarter" idx="10"/>
          </p:nvPr>
        </p:nvSpPr>
        <p:spPr>
          <a:xfrm>
            <a:off x="612000" y="899999"/>
            <a:ext cx="7920000" cy="3780000"/>
          </a:xfrm>
        </p:spPr>
        <p:txBody>
          <a:bodyPr/>
          <a:lstStyle/>
          <a:p>
            <a:r>
              <a:rPr lang="zh-CN" altLang="en-US" dirty="0"/>
              <a:t>使用交换机</a:t>
            </a:r>
            <a:endParaRPr lang="en-US" altLang="zh-CN" dirty="0"/>
          </a:p>
          <a:p>
            <a:pPr lvl="1"/>
            <a:r>
              <a:rPr lang="zh-CN" altLang="en-US" dirty="0"/>
              <a:t>当电话机的数量增多时，借助电话交换机</a:t>
            </a:r>
            <a:r>
              <a:rPr lang="en-US" altLang="zh-CN" dirty="0"/>
              <a:t>/</a:t>
            </a:r>
            <a:r>
              <a:rPr lang="zh-CN" altLang="en-US" dirty="0"/>
              <a:t>程控交换机动态地分配传输线路的资源</a:t>
            </a:r>
            <a:endParaRPr lang="en-US" altLang="zh-CN" dirty="0"/>
          </a:p>
          <a:p>
            <a:pPr lvl="1"/>
            <a:r>
              <a:rPr lang="zh-CN" altLang="en-US" dirty="0"/>
              <a:t>交换俗称转接：把一条电话线转接到另一条电话线，使它们连通起来</a:t>
            </a:r>
          </a:p>
        </p:txBody>
      </p:sp>
      <p:cxnSp>
        <p:nvCxnSpPr>
          <p:cNvPr id="74" name="直接连接符 73"/>
          <p:cNvCxnSpPr>
            <a:cxnSpLocks/>
            <a:stCxn id="4" idx="2"/>
          </p:cNvCxnSpPr>
          <p:nvPr/>
        </p:nvCxnSpPr>
        <p:spPr>
          <a:xfrm>
            <a:off x="3512980" y="2514592"/>
            <a:ext cx="610689" cy="558006"/>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5" name="直接连接符 74"/>
          <p:cNvCxnSpPr>
            <a:cxnSpLocks/>
            <a:stCxn id="14" idx="3"/>
            <a:endCxn id="93" idx="2"/>
          </p:cNvCxnSpPr>
          <p:nvPr/>
        </p:nvCxnSpPr>
        <p:spPr>
          <a:xfrm flipV="1">
            <a:off x="3421995" y="3175907"/>
            <a:ext cx="470852" cy="5093"/>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6" name="直接连接符 75"/>
          <p:cNvCxnSpPr>
            <a:cxnSpLocks/>
            <a:stCxn id="18" idx="0"/>
          </p:cNvCxnSpPr>
          <p:nvPr/>
        </p:nvCxnSpPr>
        <p:spPr>
          <a:xfrm flipV="1">
            <a:off x="3512980" y="3315829"/>
            <a:ext cx="547826" cy="378275"/>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7" name="直接连接符 76"/>
          <p:cNvCxnSpPr>
            <a:cxnSpLocks/>
            <a:stCxn id="12" idx="0"/>
            <a:endCxn id="93" idx="3"/>
          </p:cNvCxnSpPr>
          <p:nvPr/>
        </p:nvCxnSpPr>
        <p:spPr>
          <a:xfrm flipV="1">
            <a:off x="4217061" y="3283264"/>
            <a:ext cx="0" cy="564933"/>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8" name="直接连接符 77"/>
          <p:cNvCxnSpPr>
            <a:cxnSpLocks/>
            <a:stCxn id="10" idx="0"/>
          </p:cNvCxnSpPr>
          <p:nvPr/>
        </p:nvCxnSpPr>
        <p:spPr>
          <a:xfrm flipH="1" flipV="1">
            <a:off x="4457700" y="3292521"/>
            <a:ext cx="535014" cy="401583"/>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9" name="直接连接符 78"/>
          <p:cNvCxnSpPr>
            <a:cxnSpLocks/>
            <a:stCxn id="93" idx="0"/>
            <a:endCxn id="16" idx="2"/>
          </p:cNvCxnSpPr>
          <p:nvPr/>
        </p:nvCxnSpPr>
        <p:spPr>
          <a:xfrm flipV="1">
            <a:off x="4288633" y="2382438"/>
            <a:ext cx="0" cy="61454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0" name="直接连接符 79"/>
          <p:cNvCxnSpPr>
            <a:cxnSpLocks/>
            <a:endCxn id="6" idx="2"/>
          </p:cNvCxnSpPr>
          <p:nvPr/>
        </p:nvCxnSpPr>
        <p:spPr>
          <a:xfrm flipV="1">
            <a:off x="4441033" y="2514592"/>
            <a:ext cx="551681" cy="473129"/>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1" name="直接连接符 80"/>
          <p:cNvCxnSpPr>
            <a:cxnSpLocks/>
            <a:stCxn id="93" idx="4"/>
            <a:endCxn id="8" idx="1"/>
          </p:cNvCxnSpPr>
          <p:nvPr/>
        </p:nvCxnSpPr>
        <p:spPr>
          <a:xfrm>
            <a:off x="4541276" y="3175907"/>
            <a:ext cx="539676" cy="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
        <p:nvSpPr>
          <p:cNvPr id="93" name="立方体 92"/>
          <p:cNvSpPr/>
          <p:nvPr/>
        </p:nvSpPr>
        <p:spPr>
          <a:xfrm>
            <a:off x="3892847" y="2996978"/>
            <a:ext cx="720000" cy="286286"/>
          </a:xfrm>
          <a:prstGeom prst="cube">
            <a:avLst/>
          </a:prstGeom>
          <a:ln/>
        </p:spPr>
        <p:style>
          <a:lnRef idx="0">
            <a:schemeClr val="accent5"/>
          </a:lnRef>
          <a:fillRef idx="3">
            <a:schemeClr val="accent5"/>
          </a:fillRef>
          <a:effectRef idx="3">
            <a:schemeClr val="accent5"/>
          </a:effectRef>
          <a:fontRef idx="minor">
            <a:schemeClr val="lt1"/>
          </a:fontRef>
        </p:style>
        <p:txBody>
          <a:bodyPr wrap="none">
            <a:spAutoFit/>
          </a:bodyPr>
          <a:lstStyle/>
          <a:p>
            <a:pPr algn="ctr" fontAlgn="auto">
              <a:spcBef>
                <a:spcPts val="0"/>
              </a:spcBef>
              <a:spcAft>
                <a:spcPts val="0"/>
              </a:spcAft>
              <a:defRPr/>
            </a:pPr>
            <a:r>
              <a:rPr lang="zh-CN" altLang="en-US" sz="800" dirty="0"/>
              <a:t>交换机</a:t>
            </a:r>
          </a:p>
        </p:txBody>
      </p:sp>
      <p:pic>
        <p:nvPicPr>
          <p:cNvPr id="4" name="图片 3">
            <a:extLst>
              <a:ext uri="{FF2B5EF4-FFF2-40B4-BE49-F238E27FC236}">
                <a16:creationId xmlns:a16="http://schemas.microsoft.com/office/drawing/2014/main" id="{D0B1EF59-3770-9FF2-6E46-47F36C25D2A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360580" y="2209792"/>
            <a:ext cx="304800" cy="304800"/>
          </a:xfrm>
          <a:prstGeom prst="rect">
            <a:avLst/>
          </a:prstGeom>
        </p:spPr>
      </p:pic>
      <p:pic>
        <p:nvPicPr>
          <p:cNvPr id="6" name="图片 5">
            <a:extLst>
              <a:ext uri="{FF2B5EF4-FFF2-40B4-BE49-F238E27FC236}">
                <a16:creationId xmlns:a16="http://schemas.microsoft.com/office/drawing/2014/main" id="{179DEF55-37B4-B41D-B63E-80EEFB9BE8D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840314" y="2209792"/>
            <a:ext cx="304800" cy="304800"/>
          </a:xfrm>
          <a:prstGeom prst="rect">
            <a:avLst/>
          </a:prstGeom>
        </p:spPr>
      </p:pic>
      <p:pic>
        <p:nvPicPr>
          <p:cNvPr id="8" name="图片 7">
            <a:extLst>
              <a:ext uri="{FF2B5EF4-FFF2-40B4-BE49-F238E27FC236}">
                <a16:creationId xmlns:a16="http://schemas.microsoft.com/office/drawing/2014/main" id="{33B335B4-7FE0-2F30-083C-FAD2006F42E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080952" y="3023507"/>
            <a:ext cx="304800" cy="304800"/>
          </a:xfrm>
          <a:prstGeom prst="rect">
            <a:avLst/>
          </a:prstGeom>
        </p:spPr>
      </p:pic>
      <p:pic>
        <p:nvPicPr>
          <p:cNvPr id="10" name="图片 9">
            <a:extLst>
              <a:ext uri="{FF2B5EF4-FFF2-40B4-BE49-F238E27FC236}">
                <a16:creationId xmlns:a16="http://schemas.microsoft.com/office/drawing/2014/main" id="{866D726E-4BB1-45EB-3CC3-DD6F4192BCB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840314" y="3694104"/>
            <a:ext cx="304800" cy="304800"/>
          </a:xfrm>
          <a:prstGeom prst="rect">
            <a:avLst/>
          </a:prstGeom>
        </p:spPr>
      </p:pic>
      <p:pic>
        <p:nvPicPr>
          <p:cNvPr id="12" name="图片 11">
            <a:extLst>
              <a:ext uri="{FF2B5EF4-FFF2-40B4-BE49-F238E27FC236}">
                <a16:creationId xmlns:a16="http://schemas.microsoft.com/office/drawing/2014/main" id="{AA2969E4-205C-375D-63DE-C9B312405FA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064661" y="3848197"/>
            <a:ext cx="304800" cy="304800"/>
          </a:xfrm>
          <a:prstGeom prst="rect">
            <a:avLst/>
          </a:prstGeom>
        </p:spPr>
      </p:pic>
      <p:pic>
        <p:nvPicPr>
          <p:cNvPr id="14" name="图片 13">
            <a:extLst>
              <a:ext uri="{FF2B5EF4-FFF2-40B4-BE49-F238E27FC236}">
                <a16:creationId xmlns:a16="http://schemas.microsoft.com/office/drawing/2014/main" id="{BA25451F-F6C5-588B-7A5B-CFA87B49087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117195" y="3028600"/>
            <a:ext cx="304800" cy="304800"/>
          </a:xfrm>
          <a:prstGeom prst="rect">
            <a:avLst/>
          </a:prstGeom>
        </p:spPr>
      </p:pic>
      <p:pic>
        <p:nvPicPr>
          <p:cNvPr id="16" name="图片 15">
            <a:extLst>
              <a:ext uri="{FF2B5EF4-FFF2-40B4-BE49-F238E27FC236}">
                <a16:creationId xmlns:a16="http://schemas.microsoft.com/office/drawing/2014/main" id="{4EE87E3D-F51D-D9EB-CDC1-F1A1F656D8D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136233" y="2077638"/>
            <a:ext cx="304800" cy="304800"/>
          </a:xfrm>
          <a:prstGeom prst="rect">
            <a:avLst/>
          </a:prstGeom>
        </p:spPr>
      </p:pic>
      <p:pic>
        <p:nvPicPr>
          <p:cNvPr id="18" name="图片 17">
            <a:extLst>
              <a:ext uri="{FF2B5EF4-FFF2-40B4-BE49-F238E27FC236}">
                <a16:creationId xmlns:a16="http://schemas.microsoft.com/office/drawing/2014/main" id="{F9C99FB5-A1F3-C238-8C91-81A5A3A13C9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360580" y="3694104"/>
            <a:ext cx="304800" cy="304800"/>
          </a:xfrm>
          <a:prstGeom prst="rect">
            <a:avLst/>
          </a:prstGeom>
        </p:spPr>
      </p:pic>
      <p:sp>
        <p:nvSpPr>
          <p:cNvPr id="44" name="文本框 43">
            <a:extLst>
              <a:ext uri="{FF2B5EF4-FFF2-40B4-BE49-F238E27FC236}">
                <a16:creationId xmlns:a16="http://schemas.microsoft.com/office/drawing/2014/main" id="{35545525-D442-C722-FFC8-C4DAB6AE11CB}"/>
              </a:ext>
            </a:extLst>
          </p:cNvPr>
          <p:cNvSpPr txBox="1"/>
          <p:nvPr/>
        </p:nvSpPr>
        <p:spPr>
          <a:xfrm>
            <a:off x="3580022" y="2458002"/>
            <a:ext cx="258404" cy="215444"/>
          </a:xfrm>
          <a:prstGeom prst="rect">
            <a:avLst/>
          </a:prstGeom>
          <a:noFill/>
        </p:spPr>
        <p:txBody>
          <a:bodyPr wrap="none" rtlCol="0">
            <a:spAutoFit/>
          </a:bodyPr>
          <a:lstStyle/>
          <a:p>
            <a:pPr algn="ctr"/>
            <a:r>
              <a:rPr lang="en-US" altLang="zh-CN" sz="800" dirty="0"/>
              <a:t>A</a:t>
            </a:r>
            <a:endParaRPr lang="zh-CN" altLang="en-US" sz="800" dirty="0"/>
          </a:p>
        </p:txBody>
      </p:sp>
      <p:sp>
        <p:nvSpPr>
          <p:cNvPr id="46" name="文本框 45">
            <a:extLst>
              <a:ext uri="{FF2B5EF4-FFF2-40B4-BE49-F238E27FC236}">
                <a16:creationId xmlns:a16="http://schemas.microsoft.com/office/drawing/2014/main" id="{EBC27931-0146-119E-3815-20C4B8B85FC8}"/>
              </a:ext>
            </a:extLst>
          </p:cNvPr>
          <p:cNvSpPr txBox="1"/>
          <p:nvPr/>
        </p:nvSpPr>
        <p:spPr>
          <a:xfrm>
            <a:off x="5125745" y="2831024"/>
            <a:ext cx="261610" cy="215444"/>
          </a:xfrm>
          <a:prstGeom prst="rect">
            <a:avLst/>
          </a:prstGeom>
          <a:noFill/>
        </p:spPr>
        <p:txBody>
          <a:bodyPr wrap="none" rtlCol="0">
            <a:spAutoFit/>
          </a:bodyPr>
          <a:lstStyle/>
          <a:p>
            <a:pPr algn="ctr"/>
            <a:r>
              <a:rPr lang="en-US" altLang="zh-CN" sz="800" dirty="0"/>
              <a:t>C</a:t>
            </a:r>
            <a:endParaRPr lang="zh-CN" altLang="en-US" sz="800" dirty="0"/>
          </a:p>
        </p:txBody>
      </p:sp>
      <p:sp>
        <p:nvSpPr>
          <p:cNvPr id="48" name="文本框 47">
            <a:extLst>
              <a:ext uri="{FF2B5EF4-FFF2-40B4-BE49-F238E27FC236}">
                <a16:creationId xmlns:a16="http://schemas.microsoft.com/office/drawing/2014/main" id="{295FADF6-D518-AB7C-D32B-6D92C95ADE0E}"/>
              </a:ext>
            </a:extLst>
          </p:cNvPr>
          <p:cNvSpPr txBox="1"/>
          <p:nvPr/>
        </p:nvSpPr>
        <p:spPr>
          <a:xfrm>
            <a:off x="3597325" y="3740975"/>
            <a:ext cx="261610" cy="215444"/>
          </a:xfrm>
          <a:prstGeom prst="rect">
            <a:avLst/>
          </a:prstGeom>
          <a:noFill/>
        </p:spPr>
        <p:txBody>
          <a:bodyPr wrap="none" rtlCol="0">
            <a:spAutoFit/>
          </a:bodyPr>
          <a:lstStyle/>
          <a:p>
            <a:pPr algn="ctr"/>
            <a:r>
              <a:rPr lang="en-US" altLang="zh-CN" sz="800" dirty="0"/>
              <a:t>B</a:t>
            </a:r>
            <a:endParaRPr lang="zh-CN" altLang="en-US" sz="800" dirty="0"/>
          </a:p>
        </p:txBody>
      </p:sp>
      <p:sp>
        <p:nvSpPr>
          <p:cNvPr id="50" name="文本框 49">
            <a:extLst>
              <a:ext uri="{FF2B5EF4-FFF2-40B4-BE49-F238E27FC236}">
                <a16:creationId xmlns:a16="http://schemas.microsoft.com/office/drawing/2014/main" id="{C2194285-B4DA-325F-68E7-D0AE03B10CCD}"/>
              </a:ext>
            </a:extLst>
          </p:cNvPr>
          <p:cNvSpPr txBox="1"/>
          <p:nvPr/>
        </p:nvSpPr>
        <p:spPr>
          <a:xfrm>
            <a:off x="4906276" y="2522511"/>
            <a:ext cx="269626" cy="215444"/>
          </a:xfrm>
          <a:prstGeom prst="rect">
            <a:avLst/>
          </a:prstGeom>
          <a:noFill/>
        </p:spPr>
        <p:txBody>
          <a:bodyPr wrap="none" rtlCol="0">
            <a:spAutoFit/>
          </a:bodyPr>
          <a:lstStyle/>
          <a:p>
            <a:pPr algn="ctr"/>
            <a:r>
              <a:rPr lang="en-US" altLang="zh-CN" sz="800" dirty="0"/>
              <a:t>D</a:t>
            </a:r>
            <a:endParaRPr lang="zh-CN" altLang="en-US" sz="800" dirty="0"/>
          </a:p>
        </p:txBody>
      </p:sp>
    </p:spTree>
    <p:extLst>
      <p:ext uri="{BB962C8B-B14F-4D97-AF65-F5344CB8AC3E}">
        <p14:creationId xmlns:p14="http://schemas.microsoft.com/office/powerpoint/2010/main" val="2063535494"/>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250"/>
                                  </p:stCondLst>
                                  <p:childTnLst>
                                    <p:set>
                                      <p:cBhvr>
                                        <p:cTn id="6" dur="1" fill="hold">
                                          <p:stCondLst>
                                            <p:cond delay="0"/>
                                          </p:stCondLst>
                                        </p:cTn>
                                        <p:tgtEl>
                                          <p:spTgt spid="81"/>
                                        </p:tgtEl>
                                        <p:attrNameLst>
                                          <p:attrName>style.visibility</p:attrName>
                                        </p:attrNameLst>
                                      </p:cBhvr>
                                      <p:to>
                                        <p:strVal val="visible"/>
                                      </p:to>
                                    </p:set>
                                    <p:animEffect transition="in" filter="wipe(left)">
                                      <p:cBhvr>
                                        <p:cTn id="7" dur="250"/>
                                        <p:tgtEl>
                                          <p:spTgt spid="81"/>
                                        </p:tgtEl>
                                      </p:cBhvr>
                                    </p:animEffect>
                                  </p:childTnLst>
                                </p:cTn>
                              </p:par>
                            </p:childTnLst>
                          </p:cTn>
                        </p:par>
                        <p:par>
                          <p:cTn id="8" fill="hold">
                            <p:stCondLst>
                              <p:cond delay="500"/>
                            </p:stCondLst>
                            <p:childTnLst>
                              <p:par>
                                <p:cTn id="9" presetID="22" presetClass="entr" presetSubtype="4" fill="hold" nodeType="afterEffect">
                                  <p:stCondLst>
                                    <p:cond delay="250"/>
                                  </p:stCondLst>
                                  <p:childTnLst>
                                    <p:set>
                                      <p:cBhvr>
                                        <p:cTn id="10" dur="1" fill="hold">
                                          <p:stCondLst>
                                            <p:cond delay="0"/>
                                          </p:stCondLst>
                                        </p:cTn>
                                        <p:tgtEl>
                                          <p:spTgt spid="80"/>
                                        </p:tgtEl>
                                        <p:attrNameLst>
                                          <p:attrName>style.visibility</p:attrName>
                                        </p:attrNameLst>
                                      </p:cBhvr>
                                      <p:to>
                                        <p:strVal val="visible"/>
                                      </p:to>
                                    </p:set>
                                    <p:animEffect transition="in" filter="wipe(down)">
                                      <p:cBhvr>
                                        <p:cTn id="11" dur="250"/>
                                        <p:tgtEl>
                                          <p:spTgt spid="80"/>
                                        </p:tgtEl>
                                      </p:cBhvr>
                                    </p:animEffect>
                                  </p:childTnLst>
                                </p:cTn>
                              </p:par>
                            </p:childTnLst>
                          </p:cTn>
                        </p:par>
                        <p:par>
                          <p:cTn id="12" fill="hold">
                            <p:stCondLst>
                              <p:cond delay="1000"/>
                            </p:stCondLst>
                            <p:childTnLst>
                              <p:par>
                                <p:cTn id="13" presetID="22" presetClass="entr" presetSubtype="4" fill="hold" nodeType="afterEffect">
                                  <p:stCondLst>
                                    <p:cond delay="250"/>
                                  </p:stCondLst>
                                  <p:childTnLst>
                                    <p:set>
                                      <p:cBhvr>
                                        <p:cTn id="14" dur="1" fill="hold">
                                          <p:stCondLst>
                                            <p:cond delay="0"/>
                                          </p:stCondLst>
                                        </p:cTn>
                                        <p:tgtEl>
                                          <p:spTgt spid="79"/>
                                        </p:tgtEl>
                                        <p:attrNameLst>
                                          <p:attrName>style.visibility</p:attrName>
                                        </p:attrNameLst>
                                      </p:cBhvr>
                                      <p:to>
                                        <p:strVal val="visible"/>
                                      </p:to>
                                    </p:set>
                                    <p:animEffect transition="in" filter="wipe(down)">
                                      <p:cBhvr>
                                        <p:cTn id="15" dur="250"/>
                                        <p:tgtEl>
                                          <p:spTgt spid="79"/>
                                        </p:tgtEl>
                                      </p:cBhvr>
                                    </p:animEffect>
                                  </p:childTnLst>
                                </p:cTn>
                              </p:par>
                            </p:childTnLst>
                          </p:cTn>
                        </p:par>
                        <p:par>
                          <p:cTn id="16" fill="hold">
                            <p:stCondLst>
                              <p:cond delay="1500"/>
                            </p:stCondLst>
                            <p:childTnLst>
                              <p:par>
                                <p:cTn id="17" presetID="22" presetClass="entr" presetSubtype="2" fill="hold" nodeType="afterEffect">
                                  <p:stCondLst>
                                    <p:cond delay="250"/>
                                  </p:stCondLst>
                                  <p:childTnLst>
                                    <p:set>
                                      <p:cBhvr>
                                        <p:cTn id="18" dur="1" fill="hold">
                                          <p:stCondLst>
                                            <p:cond delay="0"/>
                                          </p:stCondLst>
                                        </p:cTn>
                                        <p:tgtEl>
                                          <p:spTgt spid="74"/>
                                        </p:tgtEl>
                                        <p:attrNameLst>
                                          <p:attrName>style.visibility</p:attrName>
                                        </p:attrNameLst>
                                      </p:cBhvr>
                                      <p:to>
                                        <p:strVal val="visible"/>
                                      </p:to>
                                    </p:set>
                                    <p:animEffect transition="in" filter="wipe(right)">
                                      <p:cBhvr>
                                        <p:cTn id="19" dur="250"/>
                                        <p:tgtEl>
                                          <p:spTgt spid="74"/>
                                        </p:tgtEl>
                                      </p:cBhvr>
                                    </p:animEffect>
                                  </p:childTnLst>
                                </p:cTn>
                              </p:par>
                            </p:childTnLst>
                          </p:cTn>
                        </p:par>
                        <p:par>
                          <p:cTn id="20" fill="hold">
                            <p:stCondLst>
                              <p:cond delay="2000"/>
                            </p:stCondLst>
                            <p:childTnLst>
                              <p:par>
                                <p:cTn id="21" presetID="22" presetClass="entr" presetSubtype="2" fill="hold" nodeType="afterEffect">
                                  <p:stCondLst>
                                    <p:cond delay="250"/>
                                  </p:stCondLst>
                                  <p:childTnLst>
                                    <p:set>
                                      <p:cBhvr>
                                        <p:cTn id="22" dur="1" fill="hold">
                                          <p:stCondLst>
                                            <p:cond delay="0"/>
                                          </p:stCondLst>
                                        </p:cTn>
                                        <p:tgtEl>
                                          <p:spTgt spid="75"/>
                                        </p:tgtEl>
                                        <p:attrNameLst>
                                          <p:attrName>style.visibility</p:attrName>
                                        </p:attrNameLst>
                                      </p:cBhvr>
                                      <p:to>
                                        <p:strVal val="visible"/>
                                      </p:to>
                                    </p:set>
                                    <p:animEffect transition="in" filter="wipe(right)">
                                      <p:cBhvr>
                                        <p:cTn id="23" dur="250"/>
                                        <p:tgtEl>
                                          <p:spTgt spid="75"/>
                                        </p:tgtEl>
                                      </p:cBhvr>
                                    </p:animEffect>
                                  </p:childTnLst>
                                </p:cTn>
                              </p:par>
                            </p:childTnLst>
                          </p:cTn>
                        </p:par>
                        <p:par>
                          <p:cTn id="24" fill="hold">
                            <p:stCondLst>
                              <p:cond delay="2500"/>
                            </p:stCondLst>
                            <p:childTnLst>
                              <p:par>
                                <p:cTn id="25" presetID="22" presetClass="entr" presetSubtype="2" fill="hold" nodeType="afterEffect">
                                  <p:stCondLst>
                                    <p:cond delay="250"/>
                                  </p:stCondLst>
                                  <p:childTnLst>
                                    <p:set>
                                      <p:cBhvr>
                                        <p:cTn id="26" dur="1" fill="hold">
                                          <p:stCondLst>
                                            <p:cond delay="0"/>
                                          </p:stCondLst>
                                        </p:cTn>
                                        <p:tgtEl>
                                          <p:spTgt spid="76"/>
                                        </p:tgtEl>
                                        <p:attrNameLst>
                                          <p:attrName>style.visibility</p:attrName>
                                        </p:attrNameLst>
                                      </p:cBhvr>
                                      <p:to>
                                        <p:strVal val="visible"/>
                                      </p:to>
                                    </p:set>
                                    <p:animEffect transition="in" filter="wipe(right)">
                                      <p:cBhvr>
                                        <p:cTn id="27" dur="250"/>
                                        <p:tgtEl>
                                          <p:spTgt spid="76"/>
                                        </p:tgtEl>
                                      </p:cBhvr>
                                    </p:animEffect>
                                  </p:childTnLst>
                                </p:cTn>
                              </p:par>
                            </p:childTnLst>
                          </p:cTn>
                        </p:par>
                        <p:par>
                          <p:cTn id="28" fill="hold">
                            <p:stCondLst>
                              <p:cond delay="3000"/>
                            </p:stCondLst>
                            <p:childTnLst>
                              <p:par>
                                <p:cTn id="29" presetID="22" presetClass="entr" presetSubtype="1" fill="hold" nodeType="afterEffect">
                                  <p:stCondLst>
                                    <p:cond delay="250"/>
                                  </p:stCondLst>
                                  <p:childTnLst>
                                    <p:set>
                                      <p:cBhvr>
                                        <p:cTn id="30" dur="1" fill="hold">
                                          <p:stCondLst>
                                            <p:cond delay="0"/>
                                          </p:stCondLst>
                                        </p:cTn>
                                        <p:tgtEl>
                                          <p:spTgt spid="77"/>
                                        </p:tgtEl>
                                        <p:attrNameLst>
                                          <p:attrName>style.visibility</p:attrName>
                                        </p:attrNameLst>
                                      </p:cBhvr>
                                      <p:to>
                                        <p:strVal val="visible"/>
                                      </p:to>
                                    </p:set>
                                    <p:animEffect transition="in" filter="wipe(up)">
                                      <p:cBhvr>
                                        <p:cTn id="31" dur="250"/>
                                        <p:tgtEl>
                                          <p:spTgt spid="77"/>
                                        </p:tgtEl>
                                      </p:cBhvr>
                                    </p:animEffect>
                                  </p:childTnLst>
                                </p:cTn>
                              </p:par>
                            </p:childTnLst>
                          </p:cTn>
                        </p:par>
                        <p:par>
                          <p:cTn id="32" fill="hold">
                            <p:stCondLst>
                              <p:cond delay="3500"/>
                            </p:stCondLst>
                            <p:childTnLst>
                              <p:par>
                                <p:cTn id="33" presetID="22" presetClass="entr" presetSubtype="1" fill="hold" nodeType="afterEffect">
                                  <p:stCondLst>
                                    <p:cond delay="250"/>
                                  </p:stCondLst>
                                  <p:childTnLst>
                                    <p:set>
                                      <p:cBhvr>
                                        <p:cTn id="34" dur="1" fill="hold">
                                          <p:stCondLst>
                                            <p:cond delay="0"/>
                                          </p:stCondLst>
                                        </p:cTn>
                                        <p:tgtEl>
                                          <p:spTgt spid="78"/>
                                        </p:tgtEl>
                                        <p:attrNameLst>
                                          <p:attrName>style.visibility</p:attrName>
                                        </p:attrNameLst>
                                      </p:cBhvr>
                                      <p:to>
                                        <p:strVal val="visible"/>
                                      </p:to>
                                    </p:set>
                                    <p:animEffect transition="in" filter="wipe(up)">
                                      <p:cBhvr>
                                        <p:cTn id="35" dur="250"/>
                                        <p:tgtEl>
                                          <p:spTgt spid="7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标题 6">
            <a:extLst>
              <a:ext uri="{FF2B5EF4-FFF2-40B4-BE49-F238E27FC236}">
                <a16:creationId xmlns:a16="http://schemas.microsoft.com/office/drawing/2014/main" id="{48E9AF79-EB99-796A-3BD9-B2CA7AE89CEF}"/>
              </a:ext>
            </a:extLst>
          </p:cNvPr>
          <p:cNvSpPr>
            <a:spLocks noGrp="1"/>
          </p:cNvSpPr>
          <p:nvPr>
            <p:ph type="title"/>
          </p:nvPr>
        </p:nvSpPr>
        <p:spPr>
          <a:xfrm>
            <a:off x="612000" y="144000"/>
            <a:ext cx="7920000" cy="341632"/>
          </a:xfrm>
        </p:spPr>
        <p:txBody>
          <a:bodyPr/>
          <a:lstStyle/>
          <a:p>
            <a:r>
              <a:rPr lang="en-US" altLang="zh-CN" dirty="0"/>
              <a:t>1. </a:t>
            </a:r>
            <a:r>
              <a:rPr lang="zh-CN" altLang="en-US" dirty="0"/>
              <a:t>电路交换 </a:t>
            </a:r>
            <a:r>
              <a:rPr lang="en-US" altLang="zh-CN" dirty="0"/>
              <a:t>Circuit Switching</a:t>
            </a:r>
            <a:endParaRPr lang="zh-CN" altLang="en-US" dirty="0"/>
          </a:p>
        </p:txBody>
      </p:sp>
      <p:sp>
        <p:nvSpPr>
          <p:cNvPr id="2" name="内容占位符 1"/>
          <p:cNvSpPr>
            <a:spLocks noGrp="1"/>
          </p:cNvSpPr>
          <p:nvPr>
            <p:ph sz="quarter" idx="10"/>
          </p:nvPr>
        </p:nvSpPr>
        <p:spPr>
          <a:xfrm>
            <a:off x="612000" y="899999"/>
            <a:ext cx="7920000" cy="3780000"/>
          </a:xfrm>
        </p:spPr>
        <p:txBody>
          <a:bodyPr/>
          <a:lstStyle/>
          <a:p>
            <a:r>
              <a:rPr lang="zh-CN" altLang="en-US" dirty="0"/>
              <a:t>三个阶段：</a:t>
            </a:r>
          </a:p>
          <a:p>
            <a:pPr lvl="1"/>
            <a:r>
              <a:rPr lang="zh-CN" altLang="en-US" dirty="0"/>
              <a:t>建立连接：建立一条专用的物理通路（占用通信资源）</a:t>
            </a:r>
            <a:endParaRPr lang="en-US" altLang="zh-CN" dirty="0"/>
          </a:p>
          <a:p>
            <a:pPr lvl="1"/>
            <a:r>
              <a:rPr lang="zh-CN" altLang="en-US" dirty="0"/>
              <a:t>通话：主叫和被叫双方互相通电话（一直占用通信资源）</a:t>
            </a:r>
          </a:p>
          <a:p>
            <a:pPr lvl="1"/>
            <a:r>
              <a:rPr lang="zh-CN" altLang="en-US" dirty="0"/>
              <a:t>释放连接：释放刚才使用的专用的物理通路（归还通信资源）</a:t>
            </a:r>
          </a:p>
          <a:p>
            <a:endParaRPr lang="zh-CN" altLang="en-US" dirty="0"/>
          </a:p>
        </p:txBody>
      </p:sp>
      <p:grpSp>
        <p:nvGrpSpPr>
          <p:cNvPr id="16" name="Group 6"/>
          <p:cNvGrpSpPr/>
          <p:nvPr/>
        </p:nvGrpSpPr>
        <p:grpSpPr bwMode="auto">
          <a:xfrm>
            <a:off x="2400040" y="2265684"/>
            <a:ext cx="4343919" cy="2238103"/>
            <a:chOff x="1680" y="240"/>
            <a:chExt cx="2529" cy="1270"/>
          </a:xfrm>
          <a:solidFill>
            <a:srgbClr val="F2F2F2"/>
          </a:solidFill>
        </p:grpSpPr>
        <p:sp>
          <p:nvSpPr>
            <p:cNvPr id="17" name="Oval 7"/>
            <p:cNvSpPr>
              <a:spLocks noChangeArrowheads="1"/>
            </p:cNvSpPr>
            <p:nvPr/>
          </p:nvSpPr>
          <p:spPr bwMode="auto">
            <a:xfrm>
              <a:off x="2554" y="240"/>
              <a:ext cx="1088" cy="513"/>
            </a:xfrm>
            <a:prstGeom prst="ellipse">
              <a:avLst/>
            </a:prstGeom>
            <a:grpFill/>
            <a:ln>
              <a:noFill/>
            </a:ln>
            <a:effectLst/>
            <a:extLst>
              <a:ext uri="{91240B29-F687-4F45-9708-019B960494DF}">
                <a14:hiddenLine xmlns:a14="http://schemas.microsoft.com/office/drawing/2010/main" w="9525">
                  <a:solidFill>
                    <a:srgbClr val="000000"/>
                  </a:solidFill>
                  <a:round/>
                </a14:hiddenLine>
              </a:ext>
            </a:ex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sp>
          <p:nvSpPr>
            <p:cNvPr id="18" name="Oval 8"/>
            <p:cNvSpPr>
              <a:spLocks noChangeArrowheads="1"/>
            </p:cNvSpPr>
            <p:nvPr/>
          </p:nvSpPr>
          <p:spPr bwMode="auto">
            <a:xfrm>
              <a:off x="1941" y="381"/>
              <a:ext cx="827" cy="513"/>
            </a:xfrm>
            <a:prstGeom prst="ellipse">
              <a:avLst/>
            </a:prstGeom>
            <a:grpFill/>
            <a:ln>
              <a:noFill/>
            </a:ln>
            <a:effectLst/>
            <a:extLst>
              <a:ext uri="{91240B29-F687-4F45-9708-019B960494DF}">
                <a14:hiddenLine xmlns:a14="http://schemas.microsoft.com/office/drawing/2010/main" w="9525">
                  <a:solidFill>
                    <a:srgbClr val="000000"/>
                  </a:solidFill>
                  <a:round/>
                </a14:hiddenLine>
              </a:ext>
            </a:ex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sp>
          <p:nvSpPr>
            <p:cNvPr id="19" name="Oval 9"/>
            <p:cNvSpPr>
              <a:spLocks noChangeArrowheads="1"/>
            </p:cNvSpPr>
            <p:nvPr/>
          </p:nvSpPr>
          <p:spPr bwMode="auto">
            <a:xfrm>
              <a:off x="1680" y="702"/>
              <a:ext cx="552" cy="411"/>
            </a:xfrm>
            <a:prstGeom prst="ellipse">
              <a:avLst/>
            </a:prstGeom>
            <a:grpFill/>
            <a:ln>
              <a:noFill/>
            </a:ln>
            <a:effectLst/>
            <a:extLst>
              <a:ext uri="{91240B29-F687-4F45-9708-019B960494DF}">
                <a14:hiddenLine xmlns:a14="http://schemas.microsoft.com/office/drawing/2010/main" w="9525">
                  <a:solidFill>
                    <a:srgbClr val="000000"/>
                  </a:solidFill>
                  <a:round/>
                </a14:hiddenLine>
              </a:ext>
            </a:ex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sp>
          <p:nvSpPr>
            <p:cNvPr id="20" name="Oval 10"/>
            <p:cNvSpPr>
              <a:spLocks noChangeArrowheads="1"/>
            </p:cNvSpPr>
            <p:nvPr/>
          </p:nvSpPr>
          <p:spPr bwMode="auto">
            <a:xfrm>
              <a:off x="1849" y="894"/>
              <a:ext cx="842" cy="450"/>
            </a:xfrm>
            <a:prstGeom prst="ellipse">
              <a:avLst/>
            </a:prstGeom>
            <a:grpFill/>
            <a:ln>
              <a:noFill/>
            </a:ln>
            <a:effectLst/>
            <a:extLst>
              <a:ext uri="{91240B29-F687-4F45-9708-019B960494DF}">
                <a14:hiddenLine xmlns:a14="http://schemas.microsoft.com/office/drawing/2010/main" w="9525">
                  <a:solidFill>
                    <a:srgbClr val="000000"/>
                  </a:solidFill>
                  <a:round/>
                </a14:hiddenLine>
              </a:ext>
            </a:ex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sp>
          <p:nvSpPr>
            <p:cNvPr id="21" name="Oval 11"/>
            <p:cNvSpPr>
              <a:spLocks noChangeArrowheads="1"/>
            </p:cNvSpPr>
            <p:nvPr/>
          </p:nvSpPr>
          <p:spPr bwMode="auto">
            <a:xfrm>
              <a:off x="2462" y="971"/>
              <a:ext cx="1272" cy="539"/>
            </a:xfrm>
            <a:prstGeom prst="ellipse">
              <a:avLst/>
            </a:prstGeom>
            <a:grpFill/>
            <a:ln>
              <a:noFill/>
            </a:ln>
            <a:effectLst/>
            <a:extLst>
              <a:ext uri="{91240B29-F687-4F45-9708-019B960494DF}">
                <a14:hiddenLine xmlns:a14="http://schemas.microsoft.com/office/drawing/2010/main" w="9525">
                  <a:solidFill>
                    <a:srgbClr val="000000"/>
                  </a:solidFill>
                  <a:round/>
                </a14:hiddenLine>
              </a:ext>
            </a:ex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sp>
          <p:nvSpPr>
            <p:cNvPr id="22" name="Oval 12"/>
            <p:cNvSpPr>
              <a:spLocks noChangeArrowheads="1"/>
            </p:cNvSpPr>
            <p:nvPr/>
          </p:nvSpPr>
          <p:spPr bwMode="auto">
            <a:xfrm>
              <a:off x="3289" y="394"/>
              <a:ext cx="797" cy="398"/>
            </a:xfrm>
            <a:prstGeom prst="ellipse">
              <a:avLst/>
            </a:prstGeom>
            <a:grpFill/>
            <a:ln>
              <a:noFill/>
            </a:ln>
            <a:effectLst/>
            <a:extLst>
              <a:ext uri="{91240B29-F687-4F45-9708-019B960494DF}">
                <a14:hiddenLine xmlns:a14="http://schemas.microsoft.com/office/drawing/2010/main" w="9525">
                  <a:solidFill>
                    <a:srgbClr val="000000"/>
                  </a:solidFill>
                  <a:round/>
                </a14:hiddenLine>
              </a:ext>
            </a:ex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sp>
          <p:nvSpPr>
            <p:cNvPr id="23" name="Oval 13"/>
            <p:cNvSpPr>
              <a:spLocks noChangeArrowheads="1"/>
            </p:cNvSpPr>
            <p:nvPr/>
          </p:nvSpPr>
          <p:spPr bwMode="auto">
            <a:xfrm>
              <a:off x="3412" y="663"/>
              <a:ext cx="797" cy="398"/>
            </a:xfrm>
            <a:prstGeom prst="ellipse">
              <a:avLst/>
            </a:prstGeom>
            <a:grpFill/>
            <a:ln>
              <a:noFill/>
            </a:ln>
            <a:effectLst/>
            <a:extLst>
              <a:ext uri="{91240B29-F687-4F45-9708-019B960494DF}">
                <a14:hiddenLine xmlns:a14="http://schemas.microsoft.com/office/drawing/2010/main" w="9525">
                  <a:solidFill>
                    <a:srgbClr val="000000"/>
                  </a:solidFill>
                  <a:round/>
                </a14:hiddenLine>
              </a:ext>
            </a:ex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sp>
          <p:nvSpPr>
            <p:cNvPr id="24" name="Oval 14"/>
            <p:cNvSpPr>
              <a:spLocks noChangeArrowheads="1"/>
            </p:cNvSpPr>
            <p:nvPr/>
          </p:nvSpPr>
          <p:spPr bwMode="auto">
            <a:xfrm>
              <a:off x="3335" y="753"/>
              <a:ext cx="797" cy="668"/>
            </a:xfrm>
            <a:prstGeom prst="ellipse">
              <a:avLst/>
            </a:prstGeom>
            <a:grpFill/>
            <a:ln>
              <a:noFill/>
            </a:ln>
            <a:effectLst/>
            <a:extLst>
              <a:ext uri="{91240B29-F687-4F45-9708-019B960494DF}">
                <a14:hiddenLine xmlns:a14="http://schemas.microsoft.com/office/drawing/2010/main" w="9525">
                  <a:solidFill>
                    <a:srgbClr val="000000"/>
                  </a:solidFill>
                  <a:round/>
                </a14:hiddenLine>
              </a:ext>
            </a:ex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sp>
          <p:nvSpPr>
            <p:cNvPr id="25" name="Oval 15"/>
            <p:cNvSpPr>
              <a:spLocks noChangeArrowheads="1"/>
            </p:cNvSpPr>
            <p:nvPr/>
          </p:nvSpPr>
          <p:spPr bwMode="auto">
            <a:xfrm>
              <a:off x="2140" y="548"/>
              <a:ext cx="1640" cy="667"/>
            </a:xfrm>
            <a:prstGeom prst="ellipse">
              <a:avLst/>
            </a:prstGeom>
            <a:grpFill/>
            <a:ln>
              <a:noFill/>
            </a:ln>
            <a:effectLst/>
            <a:extLst>
              <a:ext uri="{91240B29-F687-4F45-9708-019B960494DF}">
                <a14:hiddenLine xmlns:a14="http://schemas.microsoft.com/office/drawing/2010/main" w="9525">
                  <a:solidFill>
                    <a:srgbClr val="000000"/>
                  </a:solidFill>
                  <a:round/>
                </a14:hiddenLine>
              </a:ext>
            </a:ex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grpSp>
      <p:sp>
        <p:nvSpPr>
          <p:cNvPr id="26" name="Line 23"/>
          <p:cNvSpPr>
            <a:spLocks noChangeShapeType="1"/>
          </p:cNvSpPr>
          <p:nvPr/>
        </p:nvSpPr>
        <p:spPr bwMode="auto">
          <a:xfrm>
            <a:off x="2979687" y="3456481"/>
            <a:ext cx="3021012" cy="0"/>
          </a:xfrm>
          <a:prstGeom prst="line">
            <a:avLst/>
          </a:prstGeom>
          <a:noFill/>
          <a:ln w="38100" cmpd="dbl">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n>
                <a:solidFill>
                  <a:srgbClr val="0070C0"/>
                </a:solidFill>
              </a:ln>
              <a:latin typeface="+mn-lt"/>
              <a:ea typeface="+mn-ea"/>
            </a:endParaRPr>
          </a:p>
        </p:txBody>
      </p:sp>
      <p:sp>
        <p:nvSpPr>
          <p:cNvPr id="27" name="Text Box 24"/>
          <p:cNvSpPr txBox="1">
            <a:spLocks noChangeArrowheads="1"/>
          </p:cNvSpPr>
          <p:nvPr/>
        </p:nvSpPr>
        <p:spPr bwMode="auto">
          <a:xfrm>
            <a:off x="1529182" y="3119600"/>
            <a:ext cx="268022" cy="230832"/>
          </a:xfrm>
          <a:prstGeom prst="rect">
            <a:avLst/>
          </a:prstGeom>
          <a:noFill/>
        </p:spPr>
        <p:txBody>
          <a:bodyPr wrap="none" rtlCol="0">
            <a:spAutoFit/>
          </a:bodyPr>
          <a:lstStyle>
            <a:defPPr>
              <a:defRPr lang="zh-CN"/>
            </a:defPPr>
            <a:lvl1pPr>
              <a:defRPr sz="900">
                <a:latin typeface="+mj-ea"/>
                <a:ea typeface="+mj-ea"/>
              </a:defRPr>
            </a:lvl1pPr>
          </a:lstStyle>
          <a:p>
            <a:r>
              <a:rPr lang="en-US" altLang="zh-CN" dirty="0"/>
              <a:t>A</a:t>
            </a:r>
          </a:p>
        </p:txBody>
      </p:sp>
      <p:sp>
        <p:nvSpPr>
          <p:cNvPr id="28" name="Text Box 25"/>
          <p:cNvSpPr txBox="1">
            <a:spLocks noChangeArrowheads="1"/>
          </p:cNvSpPr>
          <p:nvPr/>
        </p:nvSpPr>
        <p:spPr bwMode="auto">
          <a:xfrm>
            <a:off x="7124919" y="3119600"/>
            <a:ext cx="256802" cy="230832"/>
          </a:xfrm>
          <a:prstGeom prst="rect">
            <a:avLst/>
          </a:prstGeom>
          <a:noFill/>
        </p:spPr>
        <p:txBody>
          <a:bodyPr wrap="none" rtlCol="0">
            <a:spAutoFit/>
          </a:bodyPr>
          <a:lstStyle>
            <a:defPPr>
              <a:defRPr lang="zh-CN"/>
            </a:defPPr>
            <a:lvl1pPr>
              <a:defRPr sz="900">
                <a:latin typeface="+mj-ea"/>
                <a:ea typeface="+mj-ea"/>
              </a:defRPr>
            </a:lvl1pPr>
          </a:lstStyle>
          <a:p>
            <a:r>
              <a:rPr lang="en-US" altLang="zh-CN" dirty="0"/>
              <a:t>B</a:t>
            </a:r>
          </a:p>
        </p:txBody>
      </p:sp>
      <p:sp>
        <p:nvSpPr>
          <p:cNvPr id="31" name="Text Box 28"/>
          <p:cNvSpPr txBox="1">
            <a:spLocks noChangeArrowheads="1"/>
          </p:cNvSpPr>
          <p:nvPr/>
        </p:nvSpPr>
        <p:spPr bwMode="auto">
          <a:xfrm>
            <a:off x="4427487" y="2420344"/>
            <a:ext cx="530915" cy="230832"/>
          </a:xfrm>
          <a:prstGeom prst="rect">
            <a:avLst/>
          </a:prstGeom>
          <a:noFill/>
        </p:spPr>
        <p:txBody>
          <a:bodyPr wrap="none" rtlCol="0">
            <a:spAutoFit/>
          </a:bodyPr>
          <a:lstStyle>
            <a:defPPr>
              <a:defRPr lang="zh-CN"/>
            </a:defPPr>
            <a:lvl1pPr>
              <a:defRPr sz="1400"/>
            </a:lvl1pPr>
          </a:lstStyle>
          <a:p>
            <a:r>
              <a:rPr lang="zh-CN" altLang="en-US" sz="900" dirty="0">
                <a:latin typeface="+mj-ea"/>
                <a:ea typeface="+mj-ea"/>
              </a:rPr>
              <a:t>电信网</a:t>
            </a:r>
          </a:p>
        </p:txBody>
      </p:sp>
      <p:sp>
        <p:nvSpPr>
          <p:cNvPr id="36" name="Text Box 34"/>
          <p:cNvSpPr txBox="1">
            <a:spLocks noChangeArrowheads="1"/>
          </p:cNvSpPr>
          <p:nvPr/>
        </p:nvSpPr>
        <p:spPr bwMode="auto">
          <a:xfrm>
            <a:off x="4214951" y="4059820"/>
            <a:ext cx="530915" cy="230832"/>
          </a:xfrm>
          <a:prstGeom prst="rect">
            <a:avLst/>
          </a:prstGeom>
          <a:noFill/>
        </p:spPr>
        <p:txBody>
          <a:bodyPr wrap="none" rtlCol="0">
            <a:spAutoFit/>
          </a:bodyPr>
          <a:lstStyle>
            <a:defPPr>
              <a:defRPr lang="zh-CN"/>
            </a:defPPr>
            <a:lvl1pPr>
              <a:defRPr sz="1400"/>
            </a:lvl1pPr>
          </a:lstStyle>
          <a:p>
            <a:pPr algn="ctr"/>
            <a:r>
              <a:rPr lang="zh-CN" altLang="en-US" sz="900" dirty="0">
                <a:latin typeface="+mj-ea"/>
                <a:ea typeface="+mj-ea"/>
              </a:rPr>
              <a:t>中继线</a:t>
            </a:r>
          </a:p>
        </p:txBody>
      </p:sp>
      <p:sp>
        <p:nvSpPr>
          <p:cNvPr id="42" name="Text Box 40"/>
          <p:cNvSpPr txBox="1">
            <a:spLocks noChangeArrowheads="1"/>
          </p:cNvSpPr>
          <p:nvPr/>
        </p:nvSpPr>
        <p:spPr bwMode="auto">
          <a:xfrm>
            <a:off x="1781124" y="3877169"/>
            <a:ext cx="530915" cy="230832"/>
          </a:xfrm>
          <a:prstGeom prst="rect">
            <a:avLst/>
          </a:prstGeom>
          <a:noFill/>
        </p:spPr>
        <p:txBody>
          <a:bodyPr wrap="none" rtlCol="0">
            <a:spAutoFit/>
          </a:bodyPr>
          <a:lstStyle>
            <a:defPPr>
              <a:defRPr lang="zh-CN"/>
            </a:defPPr>
            <a:lvl1pPr>
              <a:defRPr sz="1400"/>
            </a:lvl1pPr>
          </a:lstStyle>
          <a:p>
            <a:r>
              <a:rPr lang="zh-CN" altLang="en-US" sz="900" dirty="0">
                <a:latin typeface="+mj-ea"/>
                <a:ea typeface="+mj-ea"/>
              </a:rPr>
              <a:t>用户线</a:t>
            </a:r>
          </a:p>
        </p:txBody>
      </p:sp>
      <p:sp>
        <p:nvSpPr>
          <p:cNvPr id="43" name="Text Box 41"/>
          <p:cNvSpPr txBox="1">
            <a:spLocks noChangeArrowheads="1"/>
          </p:cNvSpPr>
          <p:nvPr/>
        </p:nvSpPr>
        <p:spPr bwMode="auto">
          <a:xfrm>
            <a:off x="6640462" y="3869231"/>
            <a:ext cx="530915" cy="230832"/>
          </a:xfrm>
          <a:prstGeom prst="rect">
            <a:avLst/>
          </a:prstGeom>
          <a:noFill/>
        </p:spPr>
        <p:txBody>
          <a:bodyPr wrap="none" rtlCol="0">
            <a:spAutoFit/>
          </a:bodyPr>
          <a:lstStyle>
            <a:defPPr>
              <a:defRPr lang="zh-CN"/>
            </a:defPPr>
            <a:lvl1pPr>
              <a:defRPr sz="1400"/>
            </a:lvl1pPr>
          </a:lstStyle>
          <a:p>
            <a:r>
              <a:rPr lang="zh-CN" altLang="en-US" sz="900" dirty="0">
                <a:latin typeface="+mj-ea"/>
                <a:ea typeface="+mj-ea"/>
              </a:rPr>
              <a:t>用户线</a:t>
            </a:r>
          </a:p>
        </p:txBody>
      </p:sp>
      <p:grpSp>
        <p:nvGrpSpPr>
          <p:cNvPr id="44" name="Group 56"/>
          <p:cNvGrpSpPr/>
          <p:nvPr/>
        </p:nvGrpSpPr>
        <p:grpSpPr bwMode="auto">
          <a:xfrm flipH="1">
            <a:off x="6241899" y="2970494"/>
            <a:ext cx="720000" cy="131762"/>
            <a:chOff x="1519" y="2160"/>
            <a:chExt cx="953" cy="227"/>
          </a:xfrm>
        </p:grpSpPr>
        <p:sp>
          <p:nvSpPr>
            <p:cNvPr id="45" name="Freeform 57"/>
            <p:cNvSpPr/>
            <p:nvPr/>
          </p:nvSpPr>
          <p:spPr bwMode="auto">
            <a:xfrm>
              <a:off x="1519" y="2237"/>
              <a:ext cx="103" cy="79"/>
            </a:xfrm>
            <a:custGeom>
              <a:avLst/>
              <a:gdLst>
                <a:gd name="T0" fmla="*/ 0 w 552"/>
                <a:gd name="T1" fmla="*/ 255 h 535"/>
                <a:gd name="T2" fmla="*/ 7 w 552"/>
                <a:gd name="T3" fmla="*/ 209 h 535"/>
                <a:gd name="T4" fmla="*/ 18 w 552"/>
                <a:gd name="T5" fmla="*/ 164 h 535"/>
                <a:gd name="T6" fmla="*/ 26 w 552"/>
                <a:gd name="T7" fmla="*/ 131 h 535"/>
                <a:gd name="T8" fmla="*/ 39 w 552"/>
                <a:gd name="T9" fmla="*/ 115 h 535"/>
                <a:gd name="T10" fmla="*/ 52 w 552"/>
                <a:gd name="T11" fmla="*/ 104 h 535"/>
                <a:gd name="T12" fmla="*/ 67 w 552"/>
                <a:gd name="T13" fmla="*/ 103 h 535"/>
                <a:gd name="T14" fmla="*/ 83 w 552"/>
                <a:gd name="T15" fmla="*/ 107 h 535"/>
                <a:gd name="T16" fmla="*/ 98 w 552"/>
                <a:gd name="T17" fmla="*/ 121 h 535"/>
                <a:gd name="T18" fmla="*/ 106 w 552"/>
                <a:gd name="T19" fmla="*/ 140 h 535"/>
                <a:gd name="T20" fmla="*/ 112 w 552"/>
                <a:gd name="T21" fmla="*/ 165 h 535"/>
                <a:gd name="T22" fmla="*/ 141 w 552"/>
                <a:gd name="T23" fmla="*/ 331 h 535"/>
                <a:gd name="T24" fmla="*/ 148 w 552"/>
                <a:gd name="T25" fmla="*/ 356 h 535"/>
                <a:gd name="T26" fmla="*/ 154 w 552"/>
                <a:gd name="T27" fmla="*/ 373 h 535"/>
                <a:gd name="T28" fmla="*/ 172 w 552"/>
                <a:gd name="T29" fmla="*/ 385 h 535"/>
                <a:gd name="T30" fmla="*/ 188 w 552"/>
                <a:gd name="T31" fmla="*/ 386 h 535"/>
                <a:gd name="T32" fmla="*/ 203 w 552"/>
                <a:gd name="T33" fmla="*/ 378 h 535"/>
                <a:gd name="T34" fmla="*/ 212 w 552"/>
                <a:gd name="T35" fmla="*/ 359 h 535"/>
                <a:gd name="T36" fmla="*/ 219 w 552"/>
                <a:gd name="T37" fmla="*/ 331 h 535"/>
                <a:gd name="T38" fmla="*/ 258 w 552"/>
                <a:gd name="T39" fmla="*/ 88 h 535"/>
                <a:gd name="T40" fmla="*/ 264 w 552"/>
                <a:gd name="T41" fmla="*/ 52 h 535"/>
                <a:gd name="T42" fmla="*/ 271 w 552"/>
                <a:gd name="T43" fmla="*/ 29 h 535"/>
                <a:gd name="T44" fmla="*/ 280 w 552"/>
                <a:gd name="T45" fmla="*/ 12 h 535"/>
                <a:gd name="T46" fmla="*/ 291 w 552"/>
                <a:gd name="T47" fmla="*/ 4 h 535"/>
                <a:gd name="T48" fmla="*/ 308 w 552"/>
                <a:gd name="T49" fmla="*/ 0 h 535"/>
                <a:gd name="T50" fmla="*/ 327 w 552"/>
                <a:gd name="T51" fmla="*/ 5 h 535"/>
                <a:gd name="T52" fmla="*/ 340 w 552"/>
                <a:gd name="T53" fmla="*/ 26 h 535"/>
                <a:gd name="T54" fmla="*/ 347 w 552"/>
                <a:gd name="T55" fmla="*/ 43 h 535"/>
                <a:gd name="T56" fmla="*/ 353 w 552"/>
                <a:gd name="T57" fmla="*/ 68 h 535"/>
                <a:gd name="T58" fmla="*/ 412 w 552"/>
                <a:gd name="T59" fmla="*/ 460 h 535"/>
                <a:gd name="T60" fmla="*/ 419 w 552"/>
                <a:gd name="T61" fmla="*/ 492 h 535"/>
                <a:gd name="T62" fmla="*/ 429 w 552"/>
                <a:gd name="T63" fmla="*/ 520 h 535"/>
                <a:gd name="T64" fmla="*/ 441 w 552"/>
                <a:gd name="T65" fmla="*/ 530 h 535"/>
                <a:gd name="T66" fmla="*/ 462 w 552"/>
                <a:gd name="T67" fmla="*/ 535 h 535"/>
                <a:gd name="T68" fmla="*/ 478 w 552"/>
                <a:gd name="T69" fmla="*/ 518 h 535"/>
                <a:gd name="T70" fmla="*/ 488 w 552"/>
                <a:gd name="T71" fmla="*/ 495 h 535"/>
                <a:gd name="T72" fmla="*/ 496 w 552"/>
                <a:gd name="T73" fmla="*/ 461 h 535"/>
                <a:gd name="T74" fmla="*/ 552 w 552"/>
                <a:gd name="T75" fmla="*/ 107 h 5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552" h="535">
                  <a:moveTo>
                    <a:pt x="0" y="255"/>
                  </a:moveTo>
                  <a:lnTo>
                    <a:pt x="7" y="209"/>
                  </a:lnTo>
                  <a:lnTo>
                    <a:pt x="18" y="164"/>
                  </a:lnTo>
                  <a:lnTo>
                    <a:pt x="26" y="131"/>
                  </a:lnTo>
                  <a:lnTo>
                    <a:pt x="39" y="115"/>
                  </a:lnTo>
                  <a:lnTo>
                    <a:pt x="52" y="104"/>
                  </a:lnTo>
                  <a:lnTo>
                    <a:pt x="67" y="103"/>
                  </a:lnTo>
                  <a:lnTo>
                    <a:pt x="83" y="107"/>
                  </a:lnTo>
                  <a:lnTo>
                    <a:pt x="98" y="121"/>
                  </a:lnTo>
                  <a:lnTo>
                    <a:pt x="106" y="140"/>
                  </a:lnTo>
                  <a:lnTo>
                    <a:pt x="112" y="165"/>
                  </a:lnTo>
                  <a:lnTo>
                    <a:pt x="141" y="331"/>
                  </a:lnTo>
                  <a:lnTo>
                    <a:pt x="148" y="356"/>
                  </a:lnTo>
                  <a:lnTo>
                    <a:pt x="154" y="373"/>
                  </a:lnTo>
                  <a:lnTo>
                    <a:pt x="172" y="385"/>
                  </a:lnTo>
                  <a:lnTo>
                    <a:pt x="188" y="386"/>
                  </a:lnTo>
                  <a:lnTo>
                    <a:pt x="203" y="378"/>
                  </a:lnTo>
                  <a:lnTo>
                    <a:pt x="212" y="359"/>
                  </a:lnTo>
                  <a:lnTo>
                    <a:pt x="219" y="331"/>
                  </a:lnTo>
                  <a:lnTo>
                    <a:pt x="258" y="88"/>
                  </a:lnTo>
                  <a:lnTo>
                    <a:pt x="264" y="52"/>
                  </a:lnTo>
                  <a:lnTo>
                    <a:pt x="271" y="29"/>
                  </a:lnTo>
                  <a:lnTo>
                    <a:pt x="280" y="12"/>
                  </a:lnTo>
                  <a:lnTo>
                    <a:pt x="291" y="4"/>
                  </a:lnTo>
                  <a:lnTo>
                    <a:pt x="308" y="0"/>
                  </a:lnTo>
                  <a:lnTo>
                    <a:pt x="327" y="5"/>
                  </a:lnTo>
                  <a:lnTo>
                    <a:pt x="340" y="26"/>
                  </a:lnTo>
                  <a:lnTo>
                    <a:pt x="347" y="43"/>
                  </a:lnTo>
                  <a:lnTo>
                    <a:pt x="353" y="68"/>
                  </a:lnTo>
                  <a:lnTo>
                    <a:pt x="412" y="460"/>
                  </a:lnTo>
                  <a:lnTo>
                    <a:pt x="419" y="492"/>
                  </a:lnTo>
                  <a:lnTo>
                    <a:pt x="429" y="520"/>
                  </a:lnTo>
                  <a:lnTo>
                    <a:pt x="441" y="530"/>
                  </a:lnTo>
                  <a:lnTo>
                    <a:pt x="462" y="535"/>
                  </a:lnTo>
                  <a:lnTo>
                    <a:pt x="478" y="518"/>
                  </a:lnTo>
                  <a:lnTo>
                    <a:pt x="488" y="495"/>
                  </a:lnTo>
                  <a:lnTo>
                    <a:pt x="496" y="461"/>
                  </a:lnTo>
                  <a:lnTo>
                    <a:pt x="552" y="107"/>
                  </a:lnTo>
                </a:path>
              </a:pathLst>
            </a:custGeom>
            <a:noFill/>
            <a:ln w="9525">
              <a:solidFill>
                <a:srgbClr val="D4237A"/>
              </a:solidFill>
              <a:prstDash val="solid"/>
              <a:round/>
            </a:ln>
            <a:extLst>
              <a:ext uri="{909E8E84-426E-40DD-AFC4-6F175D3DCCD1}">
                <a14:hiddenFill xmlns:a14="http://schemas.microsoft.com/office/drawing/2010/main">
                  <a:solidFill>
                    <a:srgbClr val="FFFFFF"/>
                  </a:solidFill>
                </a14:hiddenFill>
              </a:ext>
            </a:extLst>
          </p:spPr>
          <p:txBody>
            <a:bodyPr/>
            <a:lstStyle/>
            <a:p>
              <a:pPr fontAlgn="auto">
                <a:spcBef>
                  <a:spcPts val="0"/>
                </a:spcBef>
                <a:spcAft>
                  <a:spcPts val="0"/>
                </a:spcAft>
                <a:defRPr/>
              </a:pPr>
              <a:endParaRPr lang="zh-CN" altLang="en-US" b="1">
                <a:ln>
                  <a:solidFill>
                    <a:srgbClr val="0070C0"/>
                  </a:solidFill>
                </a:ln>
                <a:latin typeface="+mn-lt"/>
                <a:ea typeface="+mn-ea"/>
              </a:endParaRPr>
            </a:p>
          </p:txBody>
        </p:sp>
        <p:sp>
          <p:nvSpPr>
            <p:cNvPr id="46" name="Freeform 58"/>
            <p:cNvSpPr/>
            <p:nvPr/>
          </p:nvSpPr>
          <p:spPr bwMode="auto">
            <a:xfrm>
              <a:off x="1622" y="2160"/>
              <a:ext cx="180" cy="227"/>
            </a:xfrm>
            <a:custGeom>
              <a:avLst/>
              <a:gdLst>
                <a:gd name="T0" fmla="*/ 0 w 943"/>
                <a:gd name="T1" fmla="*/ 622 h 1524"/>
                <a:gd name="T2" fmla="*/ 49 w 943"/>
                <a:gd name="T3" fmla="*/ 336 h 1524"/>
                <a:gd name="T4" fmla="*/ 55 w 943"/>
                <a:gd name="T5" fmla="*/ 313 h 1524"/>
                <a:gd name="T6" fmla="*/ 71 w 943"/>
                <a:gd name="T7" fmla="*/ 301 h 1524"/>
                <a:gd name="T8" fmla="*/ 84 w 943"/>
                <a:gd name="T9" fmla="*/ 297 h 1524"/>
                <a:gd name="T10" fmla="*/ 105 w 943"/>
                <a:gd name="T11" fmla="*/ 301 h 1524"/>
                <a:gd name="T12" fmla="*/ 116 w 943"/>
                <a:gd name="T13" fmla="*/ 314 h 1524"/>
                <a:gd name="T14" fmla="*/ 122 w 943"/>
                <a:gd name="T15" fmla="*/ 336 h 1524"/>
                <a:gd name="T16" fmla="*/ 236 w 943"/>
                <a:gd name="T17" fmla="*/ 1164 h 1524"/>
                <a:gd name="T18" fmla="*/ 247 w 943"/>
                <a:gd name="T19" fmla="*/ 1207 h 1524"/>
                <a:gd name="T20" fmla="*/ 258 w 943"/>
                <a:gd name="T21" fmla="*/ 1222 h 1524"/>
                <a:gd name="T22" fmla="*/ 276 w 943"/>
                <a:gd name="T23" fmla="*/ 1230 h 1524"/>
                <a:gd name="T24" fmla="*/ 290 w 943"/>
                <a:gd name="T25" fmla="*/ 1234 h 1524"/>
                <a:gd name="T26" fmla="*/ 309 w 943"/>
                <a:gd name="T27" fmla="*/ 1227 h 1524"/>
                <a:gd name="T28" fmla="*/ 324 w 943"/>
                <a:gd name="T29" fmla="*/ 1209 h 1524"/>
                <a:gd name="T30" fmla="*/ 335 w 943"/>
                <a:gd name="T31" fmla="*/ 1164 h 1524"/>
                <a:gd name="T32" fmla="*/ 448 w 943"/>
                <a:gd name="T33" fmla="*/ 204 h 1524"/>
                <a:gd name="T34" fmla="*/ 455 w 943"/>
                <a:gd name="T35" fmla="*/ 158 h 1524"/>
                <a:gd name="T36" fmla="*/ 462 w 943"/>
                <a:gd name="T37" fmla="*/ 143 h 1524"/>
                <a:gd name="T38" fmla="*/ 470 w 943"/>
                <a:gd name="T39" fmla="*/ 129 h 1524"/>
                <a:gd name="T40" fmla="*/ 483 w 943"/>
                <a:gd name="T41" fmla="*/ 118 h 1524"/>
                <a:gd name="T42" fmla="*/ 499 w 943"/>
                <a:gd name="T43" fmla="*/ 116 h 1524"/>
                <a:gd name="T44" fmla="*/ 517 w 943"/>
                <a:gd name="T45" fmla="*/ 122 h 1524"/>
                <a:gd name="T46" fmla="*/ 531 w 943"/>
                <a:gd name="T47" fmla="*/ 132 h 1524"/>
                <a:gd name="T48" fmla="*/ 539 w 943"/>
                <a:gd name="T49" fmla="*/ 143 h 1524"/>
                <a:gd name="T50" fmla="*/ 548 w 943"/>
                <a:gd name="T51" fmla="*/ 158 h 1524"/>
                <a:gd name="T52" fmla="*/ 555 w 943"/>
                <a:gd name="T53" fmla="*/ 197 h 1524"/>
                <a:gd name="T54" fmla="*/ 658 w 943"/>
                <a:gd name="T55" fmla="*/ 1428 h 1524"/>
                <a:gd name="T56" fmla="*/ 665 w 943"/>
                <a:gd name="T57" fmla="*/ 1480 h 1524"/>
                <a:gd name="T58" fmla="*/ 674 w 943"/>
                <a:gd name="T59" fmla="*/ 1505 h 1524"/>
                <a:gd name="T60" fmla="*/ 692 w 943"/>
                <a:gd name="T61" fmla="*/ 1517 h 1524"/>
                <a:gd name="T62" fmla="*/ 710 w 943"/>
                <a:gd name="T63" fmla="*/ 1524 h 1524"/>
                <a:gd name="T64" fmla="*/ 727 w 943"/>
                <a:gd name="T65" fmla="*/ 1517 h 1524"/>
                <a:gd name="T66" fmla="*/ 736 w 943"/>
                <a:gd name="T67" fmla="*/ 1505 h 1524"/>
                <a:gd name="T68" fmla="*/ 742 w 943"/>
                <a:gd name="T69" fmla="*/ 1484 h 1524"/>
                <a:gd name="T70" fmla="*/ 748 w 943"/>
                <a:gd name="T71" fmla="*/ 1432 h 1524"/>
                <a:gd name="T72" fmla="*/ 882 w 943"/>
                <a:gd name="T73" fmla="*/ 87 h 1524"/>
                <a:gd name="T74" fmla="*/ 888 w 943"/>
                <a:gd name="T75" fmla="*/ 59 h 1524"/>
                <a:gd name="T76" fmla="*/ 897 w 943"/>
                <a:gd name="T77" fmla="*/ 34 h 1524"/>
                <a:gd name="T78" fmla="*/ 908 w 943"/>
                <a:gd name="T79" fmla="*/ 17 h 1524"/>
                <a:gd name="T80" fmla="*/ 919 w 943"/>
                <a:gd name="T81" fmla="*/ 5 h 1524"/>
                <a:gd name="T82" fmla="*/ 931 w 943"/>
                <a:gd name="T83" fmla="*/ 0 h 1524"/>
                <a:gd name="T84" fmla="*/ 943 w 943"/>
                <a:gd name="T85" fmla="*/ 0 h 15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943" h="1524">
                  <a:moveTo>
                    <a:pt x="0" y="622"/>
                  </a:moveTo>
                  <a:lnTo>
                    <a:pt x="49" y="336"/>
                  </a:lnTo>
                  <a:lnTo>
                    <a:pt x="55" y="313"/>
                  </a:lnTo>
                  <a:lnTo>
                    <a:pt x="71" y="301"/>
                  </a:lnTo>
                  <a:lnTo>
                    <a:pt x="84" y="297"/>
                  </a:lnTo>
                  <a:lnTo>
                    <a:pt x="105" y="301"/>
                  </a:lnTo>
                  <a:lnTo>
                    <a:pt x="116" y="314"/>
                  </a:lnTo>
                  <a:lnTo>
                    <a:pt x="122" y="336"/>
                  </a:lnTo>
                  <a:lnTo>
                    <a:pt x="236" y="1164"/>
                  </a:lnTo>
                  <a:lnTo>
                    <a:pt x="247" y="1207"/>
                  </a:lnTo>
                  <a:lnTo>
                    <a:pt x="258" y="1222"/>
                  </a:lnTo>
                  <a:lnTo>
                    <a:pt x="276" y="1230"/>
                  </a:lnTo>
                  <a:lnTo>
                    <a:pt x="290" y="1234"/>
                  </a:lnTo>
                  <a:lnTo>
                    <a:pt x="309" y="1227"/>
                  </a:lnTo>
                  <a:lnTo>
                    <a:pt x="324" y="1209"/>
                  </a:lnTo>
                  <a:lnTo>
                    <a:pt x="335" y="1164"/>
                  </a:lnTo>
                  <a:lnTo>
                    <a:pt x="448" y="204"/>
                  </a:lnTo>
                  <a:lnTo>
                    <a:pt x="455" y="158"/>
                  </a:lnTo>
                  <a:lnTo>
                    <a:pt x="462" y="143"/>
                  </a:lnTo>
                  <a:lnTo>
                    <a:pt x="470" y="129"/>
                  </a:lnTo>
                  <a:lnTo>
                    <a:pt x="483" y="118"/>
                  </a:lnTo>
                  <a:lnTo>
                    <a:pt x="499" y="116"/>
                  </a:lnTo>
                  <a:lnTo>
                    <a:pt x="517" y="122"/>
                  </a:lnTo>
                  <a:lnTo>
                    <a:pt x="531" y="132"/>
                  </a:lnTo>
                  <a:lnTo>
                    <a:pt x="539" y="143"/>
                  </a:lnTo>
                  <a:lnTo>
                    <a:pt x="548" y="158"/>
                  </a:lnTo>
                  <a:lnTo>
                    <a:pt x="555" y="197"/>
                  </a:lnTo>
                  <a:lnTo>
                    <a:pt x="658" y="1428"/>
                  </a:lnTo>
                  <a:lnTo>
                    <a:pt x="665" y="1480"/>
                  </a:lnTo>
                  <a:lnTo>
                    <a:pt x="674" y="1505"/>
                  </a:lnTo>
                  <a:lnTo>
                    <a:pt x="692" y="1517"/>
                  </a:lnTo>
                  <a:lnTo>
                    <a:pt x="710" y="1524"/>
                  </a:lnTo>
                  <a:lnTo>
                    <a:pt x="727" y="1517"/>
                  </a:lnTo>
                  <a:lnTo>
                    <a:pt x="736" y="1505"/>
                  </a:lnTo>
                  <a:lnTo>
                    <a:pt x="742" y="1484"/>
                  </a:lnTo>
                  <a:lnTo>
                    <a:pt x="748" y="1432"/>
                  </a:lnTo>
                  <a:lnTo>
                    <a:pt x="882" y="87"/>
                  </a:lnTo>
                  <a:lnTo>
                    <a:pt x="888" y="59"/>
                  </a:lnTo>
                  <a:lnTo>
                    <a:pt x="897" y="34"/>
                  </a:lnTo>
                  <a:lnTo>
                    <a:pt x="908" y="17"/>
                  </a:lnTo>
                  <a:lnTo>
                    <a:pt x="919" y="5"/>
                  </a:lnTo>
                  <a:lnTo>
                    <a:pt x="931" y="0"/>
                  </a:lnTo>
                  <a:lnTo>
                    <a:pt x="943" y="0"/>
                  </a:lnTo>
                </a:path>
              </a:pathLst>
            </a:custGeom>
            <a:noFill/>
            <a:ln w="9525">
              <a:solidFill>
                <a:srgbClr val="D4237A"/>
              </a:solidFill>
              <a:prstDash val="solid"/>
              <a:round/>
            </a:ln>
            <a:extLst>
              <a:ext uri="{909E8E84-426E-40DD-AFC4-6F175D3DCCD1}">
                <a14:hiddenFill xmlns:a14="http://schemas.microsoft.com/office/drawing/2010/main">
                  <a:solidFill>
                    <a:srgbClr val="FFFFFF"/>
                  </a:solidFill>
                </a14:hiddenFill>
              </a:ext>
            </a:extLst>
          </p:spPr>
          <p:txBody>
            <a:bodyPr/>
            <a:lstStyle/>
            <a:p>
              <a:pPr fontAlgn="auto">
                <a:spcBef>
                  <a:spcPts val="0"/>
                </a:spcBef>
                <a:spcAft>
                  <a:spcPts val="0"/>
                </a:spcAft>
                <a:defRPr/>
              </a:pPr>
              <a:endParaRPr lang="zh-CN" altLang="en-US" b="1">
                <a:ln>
                  <a:solidFill>
                    <a:srgbClr val="0070C0"/>
                  </a:solidFill>
                </a:ln>
                <a:latin typeface="+mn-lt"/>
                <a:ea typeface="+mn-ea"/>
              </a:endParaRPr>
            </a:p>
          </p:txBody>
        </p:sp>
        <p:sp>
          <p:nvSpPr>
            <p:cNvPr id="47" name="Freeform 59"/>
            <p:cNvSpPr/>
            <p:nvPr/>
          </p:nvSpPr>
          <p:spPr bwMode="auto">
            <a:xfrm>
              <a:off x="1978" y="2237"/>
              <a:ext cx="103" cy="79"/>
            </a:xfrm>
            <a:custGeom>
              <a:avLst/>
              <a:gdLst>
                <a:gd name="T0" fmla="*/ 551 w 551"/>
                <a:gd name="T1" fmla="*/ 255 h 535"/>
                <a:gd name="T2" fmla="*/ 544 w 551"/>
                <a:gd name="T3" fmla="*/ 209 h 535"/>
                <a:gd name="T4" fmla="*/ 534 w 551"/>
                <a:gd name="T5" fmla="*/ 164 h 535"/>
                <a:gd name="T6" fmla="*/ 525 w 551"/>
                <a:gd name="T7" fmla="*/ 131 h 535"/>
                <a:gd name="T8" fmla="*/ 514 w 551"/>
                <a:gd name="T9" fmla="*/ 115 h 535"/>
                <a:gd name="T10" fmla="*/ 499 w 551"/>
                <a:gd name="T11" fmla="*/ 104 h 535"/>
                <a:gd name="T12" fmla="*/ 486 w 551"/>
                <a:gd name="T13" fmla="*/ 103 h 535"/>
                <a:gd name="T14" fmla="*/ 468 w 551"/>
                <a:gd name="T15" fmla="*/ 107 h 535"/>
                <a:gd name="T16" fmla="*/ 455 w 551"/>
                <a:gd name="T17" fmla="*/ 121 h 535"/>
                <a:gd name="T18" fmla="*/ 446 w 551"/>
                <a:gd name="T19" fmla="*/ 140 h 535"/>
                <a:gd name="T20" fmla="*/ 439 w 551"/>
                <a:gd name="T21" fmla="*/ 165 h 535"/>
                <a:gd name="T22" fmla="*/ 411 w 551"/>
                <a:gd name="T23" fmla="*/ 331 h 535"/>
                <a:gd name="T24" fmla="*/ 404 w 551"/>
                <a:gd name="T25" fmla="*/ 356 h 535"/>
                <a:gd name="T26" fmla="*/ 398 w 551"/>
                <a:gd name="T27" fmla="*/ 373 h 535"/>
                <a:gd name="T28" fmla="*/ 381 w 551"/>
                <a:gd name="T29" fmla="*/ 385 h 535"/>
                <a:gd name="T30" fmla="*/ 364 w 551"/>
                <a:gd name="T31" fmla="*/ 386 h 535"/>
                <a:gd name="T32" fmla="*/ 349 w 551"/>
                <a:gd name="T33" fmla="*/ 378 h 535"/>
                <a:gd name="T34" fmla="*/ 341 w 551"/>
                <a:gd name="T35" fmla="*/ 359 h 535"/>
                <a:gd name="T36" fmla="*/ 333 w 551"/>
                <a:gd name="T37" fmla="*/ 331 h 535"/>
                <a:gd name="T38" fmla="*/ 295 w 551"/>
                <a:gd name="T39" fmla="*/ 88 h 535"/>
                <a:gd name="T40" fmla="*/ 288 w 551"/>
                <a:gd name="T41" fmla="*/ 52 h 535"/>
                <a:gd name="T42" fmla="*/ 281 w 551"/>
                <a:gd name="T43" fmla="*/ 29 h 535"/>
                <a:gd name="T44" fmla="*/ 271 w 551"/>
                <a:gd name="T45" fmla="*/ 12 h 535"/>
                <a:gd name="T46" fmla="*/ 260 w 551"/>
                <a:gd name="T47" fmla="*/ 4 h 535"/>
                <a:gd name="T48" fmla="*/ 242 w 551"/>
                <a:gd name="T49" fmla="*/ 0 h 535"/>
                <a:gd name="T50" fmla="*/ 225 w 551"/>
                <a:gd name="T51" fmla="*/ 5 h 535"/>
                <a:gd name="T52" fmla="*/ 210 w 551"/>
                <a:gd name="T53" fmla="*/ 26 h 535"/>
                <a:gd name="T54" fmla="*/ 204 w 551"/>
                <a:gd name="T55" fmla="*/ 43 h 535"/>
                <a:gd name="T56" fmla="*/ 199 w 551"/>
                <a:gd name="T57" fmla="*/ 68 h 535"/>
                <a:gd name="T58" fmla="*/ 141 w 551"/>
                <a:gd name="T59" fmla="*/ 460 h 535"/>
                <a:gd name="T60" fmla="*/ 134 w 551"/>
                <a:gd name="T61" fmla="*/ 492 h 535"/>
                <a:gd name="T62" fmla="*/ 123 w 551"/>
                <a:gd name="T63" fmla="*/ 520 h 535"/>
                <a:gd name="T64" fmla="*/ 111 w 551"/>
                <a:gd name="T65" fmla="*/ 530 h 535"/>
                <a:gd name="T66" fmla="*/ 90 w 551"/>
                <a:gd name="T67" fmla="*/ 535 h 535"/>
                <a:gd name="T68" fmla="*/ 73 w 551"/>
                <a:gd name="T69" fmla="*/ 518 h 535"/>
                <a:gd name="T70" fmla="*/ 63 w 551"/>
                <a:gd name="T71" fmla="*/ 495 h 535"/>
                <a:gd name="T72" fmla="*/ 56 w 551"/>
                <a:gd name="T73" fmla="*/ 461 h 535"/>
                <a:gd name="T74" fmla="*/ 0 w 551"/>
                <a:gd name="T75" fmla="*/ 107 h 5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551" h="535">
                  <a:moveTo>
                    <a:pt x="551" y="255"/>
                  </a:moveTo>
                  <a:lnTo>
                    <a:pt x="544" y="209"/>
                  </a:lnTo>
                  <a:lnTo>
                    <a:pt x="534" y="164"/>
                  </a:lnTo>
                  <a:lnTo>
                    <a:pt x="525" y="131"/>
                  </a:lnTo>
                  <a:lnTo>
                    <a:pt x="514" y="115"/>
                  </a:lnTo>
                  <a:lnTo>
                    <a:pt x="499" y="104"/>
                  </a:lnTo>
                  <a:lnTo>
                    <a:pt x="486" y="103"/>
                  </a:lnTo>
                  <a:lnTo>
                    <a:pt x="468" y="107"/>
                  </a:lnTo>
                  <a:lnTo>
                    <a:pt x="455" y="121"/>
                  </a:lnTo>
                  <a:lnTo>
                    <a:pt x="446" y="140"/>
                  </a:lnTo>
                  <a:lnTo>
                    <a:pt x="439" y="165"/>
                  </a:lnTo>
                  <a:lnTo>
                    <a:pt x="411" y="331"/>
                  </a:lnTo>
                  <a:lnTo>
                    <a:pt x="404" y="356"/>
                  </a:lnTo>
                  <a:lnTo>
                    <a:pt x="398" y="373"/>
                  </a:lnTo>
                  <a:lnTo>
                    <a:pt x="381" y="385"/>
                  </a:lnTo>
                  <a:lnTo>
                    <a:pt x="364" y="386"/>
                  </a:lnTo>
                  <a:lnTo>
                    <a:pt x="349" y="378"/>
                  </a:lnTo>
                  <a:lnTo>
                    <a:pt x="341" y="359"/>
                  </a:lnTo>
                  <a:lnTo>
                    <a:pt x="333" y="331"/>
                  </a:lnTo>
                  <a:lnTo>
                    <a:pt x="295" y="88"/>
                  </a:lnTo>
                  <a:lnTo>
                    <a:pt x="288" y="52"/>
                  </a:lnTo>
                  <a:lnTo>
                    <a:pt x="281" y="29"/>
                  </a:lnTo>
                  <a:lnTo>
                    <a:pt x="271" y="12"/>
                  </a:lnTo>
                  <a:lnTo>
                    <a:pt x="260" y="4"/>
                  </a:lnTo>
                  <a:lnTo>
                    <a:pt x="242" y="0"/>
                  </a:lnTo>
                  <a:lnTo>
                    <a:pt x="225" y="5"/>
                  </a:lnTo>
                  <a:lnTo>
                    <a:pt x="210" y="26"/>
                  </a:lnTo>
                  <a:lnTo>
                    <a:pt x="204" y="43"/>
                  </a:lnTo>
                  <a:lnTo>
                    <a:pt x="199" y="68"/>
                  </a:lnTo>
                  <a:lnTo>
                    <a:pt x="141" y="460"/>
                  </a:lnTo>
                  <a:lnTo>
                    <a:pt x="134" y="492"/>
                  </a:lnTo>
                  <a:lnTo>
                    <a:pt x="123" y="520"/>
                  </a:lnTo>
                  <a:lnTo>
                    <a:pt x="111" y="530"/>
                  </a:lnTo>
                  <a:lnTo>
                    <a:pt x="90" y="535"/>
                  </a:lnTo>
                  <a:lnTo>
                    <a:pt x="73" y="518"/>
                  </a:lnTo>
                  <a:lnTo>
                    <a:pt x="63" y="495"/>
                  </a:lnTo>
                  <a:lnTo>
                    <a:pt x="56" y="461"/>
                  </a:lnTo>
                  <a:lnTo>
                    <a:pt x="0" y="107"/>
                  </a:lnTo>
                </a:path>
              </a:pathLst>
            </a:custGeom>
            <a:noFill/>
            <a:ln w="9525">
              <a:solidFill>
                <a:srgbClr val="D4237A"/>
              </a:solidFill>
              <a:prstDash val="solid"/>
              <a:round/>
            </a:ln>
            <a:extLst>
              <a:ext uri="{909E8E84-426E-40DD-AFC4-6F175D3DCCD1}">
                <a14:hiddenFill xmlns:a14="http://schemas.microsoft.com/office/drawing/2010/main">
                  <a:solidFill>
                    <a:srgbClr val="FFFFFF"/>
                  </a:solidFill>
                </a14:hiddenFill>
              </a:ext>
            </a:extLst>
          </p:spPr>
          <p:txBody>
            <a:bodyPr/>
            <a:lstStyle/>
            <a:p>
              <a:pPr fontAlgn="auto">
                <a:spcBef>
                  <a:spcPts val="0"/>
                </a:spcBef>
                <a:spcAft>
                  <a:spcPts val="0"/>
                </a:spcAft>
                <a:defRPr/>
              </a:pPr>
              <a:endParaRPr lang="zh-CN" altLang="en-US" b="1">
                <a:ln>
                  <a:solidFill>
                    <a:srgbClr val="0070C0"/>
                  </a:solidFill>
                </a:ln>
                <a:latin typeface="+mn-lt"/>
                <a:ea typeface="+mn-ea"/>
              </a:endParaRPr>
            </a:p>
          </p:txBody>
        </p:sp>
        <p:sp>
          <p:nvSpPr>
            <p:cNvPr id="48" name="Freeform 60"/>
            <p:cNvSpPr/>
            <p:nvPr/>
          </p:nvSpPr>
          <p:spPr bwMode="auto">
            <a:xfrm>
              <a:off x="1799" y="2160"/>
              <a:ext cx="179" cy="227"/>
            </a:xfrm>
            <a:custGeom>
              <a:avLst/>
              <a:gdLst>
                <a:gd name="T0" fmla="*/ 943 w 943"/>
                <a:gd name="T1" fmla="*/ 626 h 1524"/>
                <a:gd name="T2" fmla="*/ 895 w 943"/>
                <a:gd name="T3" fmla="*/ 336 h 1524"/>
                <a:gd name="T4" fmla="*/ 887 w 943"/>
                <a:gd name="T5" fmla="*/ 313 h 1524"/>
                <a:gd name="T6" fmla="*/ 873 w 943"/>
                <a:gd name="T7" fmla="*/ 301 h 1524"/>
                <a:gd name="T8" fmla="*/ 859 w 943"/>
                <a:gd name="T9" fmla="*/ 297 h 1524"/>
                <a:gd name="T10" fmla="*/ 837 w 943"/>
                <a:gd name="T11" fmla="*/ 301 h 1524"/>
                <a:gd name="T12" fmla="*/ 828 w 943"/>
                <a:gd name="T13" fmla="*/ 314 h 1524"/>
                <a:gd name="T14" fmla="*/ 819 w 943"/>
                <a:gd name="T15" fmla="*/ 336 h 1524"/>
                <a:gd name="T16" fmla="*/ 706 w 943"/>
                <a:gd name="T17" fmla="*/ 1164 h 1524"/>
                <a:gd name="T18" fmla="*/ 695 w 943"/>
                <a:gd name="T19" fmla="*/ 1207 h 1524"/>
                <a:gd name="T20" fmla="*/ 686 w 943"/>
                <a:gd name="T21" fmla="*/ 1222 h 1524"/>
                <a:gd name="T22" fmla="*/ 667 w 943"/>
                <a:gd name="T23" fmla="*/ 1230 h 1524"/>
                <a:gd name="T24" fmla="*/ 652 w 943"/>
                <a:gd name="T25" fmla="*/ 1234 h 1524"/>
                <a:gd name="T26" fmla="*/ 633 w 943"/>
                <a:gd name="T27" fmla="*/ 1227 h 1524"/>
                <a:gd name="T28" fmla="*/ 619 w 943"/>
                <a:gd name="T29" fmla="*/ 1209 h 1524"/>
                <a:gd name="T30" fmla="*/ 608 w 943"/>
                <a:gd name="T31" fmla="*/ 1164 h 1524"/>
                <a:gd name="T32" fmla="*/ 495 w 943"/>
                <a:gd name="T33" fmla="*/ 204 h 1524"/>
                <a:gd name="T34" fmla="*/ 486 w 943"/>
                <a:gd name="T35" fmla="*/ 158 h 1524"/>
                <a:gd name="T36" fmla="*/ 482 w 943"/>
                <a:gd name="T37" fmla="*/ 143 h 1524"/>
                <a:gd name="T38" fmla="*/ 473 w 943"/>
                <a:gd name="T39" fmla="*/ 129 h 1524"/>
                <a:gd name="T40" fmla="*/ 459 w 943"/>
                <a:gd name="T41" fmla="*/ 118 h 1524"/>
                <a:gd name="T42" fmla="*/ 446 w 943"/>
                <a:gd name="T43" fmla="*/ 116 h 1524"/>
                <a:gd name="T44" fmla="*/ 427 w 943"/>
                <a:gd name="T45" fmla="*/ 122 h 1524"/>
                <a:gd name="T46" fmla="*/ 411 w 943"/>
                <a:gd name="T47" fmla="*/ 132 h 1524"/>
                <a:gd name="T48" fmla="*/ 403 w 943"/>
                <a:gd name="T49" fmla="*/ 143 h 1524"/>
                <a:gd name="T50" fmla="*/ 396 w 943"/>
                <a:gd name="T51" fmla="*/ 158 h 1524"/>
                <a:gd name="T52" fmla="*/ 389 w 943"/>
                <a:gd name="T53" fmla="*/ 197 h 1524"/>
                <a:gd name="T54" fmla="*/ 285 w 943"/>
                <a:gd name="T55" fmla="*/ 1428 h 1524"/>
                <a:gd name="T56" fmla="*/ 278 w 943"/>
                <a:gd name="T57" fmla="*/ 1480 h 1524"/>
                <a:gd name="T58" fmla="*/ 268 w 943"/>
                <a:gd name="T59" fmla="*/ 1505 h 1524"/>
                <a:gd name="T60" fmla="*/ 250 w 943"/>
                <a:gd name="T61" fmla="*/ 1517 h 1524"/>
                <a:gd name="T62" fmla="*/ 233 w 943"/>
                <a:gd name="T63" fmla="*/ 1524 h 1524"/>
                <a:gd name="T64" fmla="*/ 217 w 943"/>
                <a:gd name="T65" fmla="*/ 1517 h 1524"/>
                <a:gd name="T66" fmla="*/ 207 w 943"/>
                <a:gd name="T67" fmla="*/ 1505 h 1524"/>
                <a:gd name="T68" fmla="*/ 200 w 943"/>
                <a:gd name="T69" fmla="*/ 1484 h 1524"/>
                <a:gd name="T70" fmla="*/ 194 w 943"/>
                <a:gd name="T71" fmla="*/ 1432 h 1524"/>
                <a:gd name="T72" fmla="*/ 60 w 943"/>
                <a:gd name="T73" fmla="*/ 87 h 1524"/>
                <a:gd name="T74" fmla="*/ 56 w 943"/>
                <a:gd name="T75" fmla="*/ 59 h 1524"/>
                <a:gd name="T76" fmla="*/ 46 w 943"/>
                <a:gd name="T77" fmla="*/ 34 h 1524"/>
                <a:gd name="T78" fmla="*/ 35 w 943"/>
                <a:gd name="T79" fmla="*/ 17 h 1524"/>
                <a:gd name="T80" fmla="*/ 25 w 943"/>
                <a:gd name="T81" fmla="*/ 5 h 1524"/>
                <a:gd name="T82" fmla="*/ 12 w 943"/>
                <a:gd name="T83" fmla="*/ 0 h 1524"/>
                <a:gd name="T84" fmla="*/ 0 w 943"/>
                <a:gd name="T85" fmla="*/ 0 h 15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943" h="1524">
                  <a:moveTo>
                    <a:pt x="943" y="626"/>
                  </a:moveTo>
                  <a:lnTo>
                    <a:pt x="895" y="336"/>
                  </a:lnTo>
                  <a:lnTo>
                    <a:pt x="887" y="313"/>
                  </a:lnTo>
                  <a:lnTo>
                    <a:pt x="873" y="301"/>
                  </a:lnTo>
                  <a:lnTo>
                    <a:pt x="859" y="297"/>
                  </a:lnTo>
                  <a:lnTo>
                    <a:pt x="837" y="301"/>
                  </a:lnTo>
                  <a:lnTo>
                    <a:pt x="828" y="314"/>
                  </a:lnTo>
                  <a:lnTo>
                    <a:pt x="819" y="336"/>
                  </a:lnTo>
                  <a:lnTo>
                    <a:pt x="706" y="1164"/>
                  </a:lnTo>
                  <a:lnTo>
                    <a:pt x="695" y="1207"/>
                  </a:lnTo>
                  <a:lnTo>
                    <a:pt x="686" y="1222"/>
                  </a:lnTo>
                  <a:lnTo>
                    <a:pt x="667" y="1230"/>
                  </a:lnTo>
                  <a:lnTo>
                    <a:pt x="652" y="1234"/>
                  </a:lnTo>
                  <a:lnTo>
                    <a:pt x="633" y="1227"/>
                  </a:lnTo>
                  <a:lnTo>
                    <a:pt x="619" y="1209"/>
                  </a:lnTo>
                  <a:lnTo>
                    <a:pt x="608" y="1164"/>
                  </a:lnTo>
                  <a:lnTo>
                    <a:pt x="495" y="204"/>
                  </a:lnTo>
                  <a:lnTo>
                    <a:pt x="486" y="158"/>
                  </a:lnTo>
                  <a:lnTo>
                    <a:pt x="482" y="143"/>
                  </a:lnTo>
                  <a:lnTo>
                    <a:pt x="473" y="129"/>
                  </a:lnTo>
                  <a:lnTo>
                    <a:pt x="459" y="118"/>
                  </a:lnTo>
                  <a:lnTo>
                    <a:pt x="446" y="116"/>
                  </a:lnTo>
                  <a:lnTo>
                    <a:pt x="427" y="122"/>
                  </a:lnTo>
                  <a:lnTo>
                    <a:pt x="411" y="132"/>
                  </a:lnTo>
                  <a:lnTo>
                    <a:pt x="403" y="143"/>
                  </a:lnTo>
                  <a:lnTo>
                    <a:pt x="396" y="158"/>
                  </a:lnTo>
                  <a:lnTo>
                    <a:pt x="389" y="197"/>
                  </a:lnTo>
                  <a:lnTo>
                    <a:pt x="285" y="1428"/>
                  </a:lnTo>
                  <a:lnTo>
                    <a:pt x="278" y="1480"/>
                  </a:lnTo>
                  <a:lnTo>
                    <a:pt x="268" y="1505"/>
                  </a:lnTo>
                  <a:lnTo>
                    <a:pt x="250" y="1517"/>
                  </a:lnTo>
                  <a:lnTo>
                    <a:pt x="233" y="1524"/>
                  </a:lnTo>
                  <a:lnTo>
                    <a:pt x="217" y="1517"/>
                  </a:lnTo>
                  <a:lnTo>
                    <a:pt x="207" y="1505"/>
                  </a:lnTo>
                  <a:lnTo>
                    <a:pt x="200" y="1484"/>
                  </a:lnTo>
                  <a:lnTo>
                    <a:pt x="194" y="1432"/>
                  </a:lnTo>
                  <a:lnTo>
                    <a:pt x="60" y="87"/>
                  </a:lnTo>
                  <a:lnTo>
                    <a:pt x="56" y="59"/>
                  </a:lnTo>
                  <a:lnTo>
                    <a:pt x="46" y="34"/>
                  </a:lnTo>
                  <a:lnTo>
                    <a:pt x="35" y="17"/>
                  </a:lnTo>
                  <a:lnTo>
                    <a:pt x="25" y="5"/>
                  </a:lnTo>
                  <a:lnTo>
                    <a:pt x="12" y="0"/>
                  </a:lnTo>
                  <a:lnTo>
                    <a:pt x="0" y="0"/>
                  </a:lnTo>
                </a:path>
              </a:pathLst>
            </a:custGeom>
            <a:noFill/>
            <a:ln w="9525">
              <a:solidFill>
                <a:srgbClr val="D4237A"/>
              </a:solidFill>
              <a:prstDash val="solid"/>
              <a:round/>
            </a:ln>
            <a:extLst>
              <a:ext uri="{909E8E84-426E-40DD-AFC4-6F175D3DCCD1}">
                <a14:hiddenFill xmlns:a14="http://schemas.microsoft.com/office/drawing/2010/main">
                  <a:solidFill>
                    <a:srgbClr val="FFFFFF"/>
                  </a:solidFill>
                </a14:hiddenFill>
              </a:ext>
            </a:extLst>
          </p:spPr>
          <p:txBody>
            <a:bodyPr/>
            <a:lstStyle/>
            <a:p>
              <a:pPr fontAlgn="auto">
                <a:spcBef>
                  <a:spcPts val="0"/>
                </a:spcBef>
                <a:spcAft>
                  <a:spcPts val="0"/>
                </a:spcAft>
                <a:defRPr/>
              </a:pPr>
              <a:endParaRPr lang="zh-CN" altLang="en-US" b="1">
                <a:ln>
                  <a:solidFill>
                    <a:srgbClr val="0070C0"/>
                  </a:solidFill>
                </a:ln>
                <a:latin typeface="+mn-lt"/>
                <a:ea typeface="+mn-ea"/>
              </a:endParaRPr>
            </a:p>
          </p:txBody>
        </p:sp>
        <p:sp>
          <p:nvSpPr>
            <p:cNvPr id="49" name="Line 61"/>
            <p:cNvSpPr>
              <a:spLocks noChangeShapeType="1"/>
            </p:cNvSpPr>
            <p:nvPr/>
          </p:nvSpPr>
          <p:spPr bwMode="auto">
            <a:xfrm>
              <a:off x="2109" y="2258"/>
              <a:ext cx="363" cy="0"/>
            </a:xfrm>
            <a:prstGeom prst="line">
              <a:avLst/>
            </a:prstGeom>
            <a:noFill/>
            <a:ln w="9525">
              <a:solidFill>
                <a:srgbClr val="D4237A"/>
              </a:solidFill>
              <a:rou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n>
                  <a:solidFill>
                    <a:srgbClr val="0070C0"/>
                  </a:solidFill>
                </a:ln>
                <a:latin typeface="+mn-lt"/>
                <a:ea typeface="+mn-ea"/>
              </a:endParaRPr>
            </a:p>
          </p:txBody>
        </p:sp>
      </p:grpSp>
      <p:grpSp>
        <p:nvGrpSpPr>
          <p:cNvPr id="50" name="Group 64"/>
          <p:cNvGrpSpPr/>
          <p:nvPr/>
        </p:nvGrpSpPr>
        <p:grpSpPr bwMode="auto">
          <a:xfrm>
            <a:off x="1881793" y="2970494"/>
            <a:ext cx="720000" cy="131762"/>
            <a:chOff x="1519" y="2160"/>
            <a:chExt cx="953" cy="227"/>
          </a:xfrm>
        </p:grpSpPr>
        <p:sp>
          <p:nvSpPr>
            <p:cNvPr id="51" name="Freeform 65"/>
            <p:cNvSpPr/>
            <p:nvPr/>
          </p:nvSpPr>
          <p:spPr bwMode="auto">
            <a:xfrm>
              <a:off x="1519" y="2237"/>
              <a:ext cx="103" cy="79"/>
            </a:xfrm>
            <a:custGeom>
              <a:avLst/>
              <a:gdLst>
                <a:gd name="T0" fmla="*/ 0 w 552"/>
                <a:gd name="T1" fmla="*/ 255 h 535"/>
                <a:gd name="T2" fmla="*/ 7 w 552"/>
                <a:gd name="T3" fmla="*/ 209 h 535"/>
                <a:gd name="T4" fmla="*/ 18 w 552"/>
                <a:gd name="T5" fmla="*/ 164 h 535"/>
                <a:gd name="T6" fmla="*/ 26 w 552"/>
                <a:gd name="T7" fmla="*/ 131 h 535"/>
                <a:gd name="T8" fmla="*/ 39 w 552"/>
                <a:gd name="T9" fmla="*/ 115 h 535"/>
                <a:gd name="T10" fmla="*/ 52 w 552"/>
                <a:gd name="T11" fmla="*/ 104 h 535"/>
                <a:gd name="T12" fmla="*/ 67 w 552"/>
                <a:gd name="T13" fmla="*/ 103 h 535"/>
                <a:gd name="T14" fmla="*/ 83 w 552"/>
                <a:gd name="T15" fmla="*/ 107 h 535"/>
                <a:gd name="T16" fmla="*/ 98 w 552"/>
                <a:gd name="T17" fmla="*/ 121 h 535"/>
                <a:gd name="T18" fmla="*/ 106 w 552"/>
                <a:gd name="T19" fmla="*/ 140 h 535"/>
                <a:gd name="T20" fmla="*/ 112 w 552"/>
                <a:gd name="T21" fmla="*/ 165 h 535"/>
                <a:gd name="T22" fmla="*/ 141 w 552"/>
                <a:gd name="T23" fmla="*/ 331 h 535"/>
                <a:gd name="T24" fmla="*/ 148 w 552"/>
                <a:gd name="T25" fmla="*/ 356 h 535"/>
                <a:gd name="T26" fmla="*/ 154 w 552"/>
                <a:gd name="T27" fmla="*/ 373 h 535"/>
                <a:gd name="T28" fmla="*/ 172 w 552"/>
                <a:gd name="T29" fmla="*/ 385 h 535"/>
                <a:gd name="T30" fmla="*/ 188 w 552"/>
                <a:gd name="T31" fmla="*/ 386 h 535"/>
                <a:gd name="T32" fmla="*/ 203 w 552"/>
                <a:gd name="T33" fmla="*/ 378 h 535"/>
                <a:gd name="T34" fmla="*/ 212 w 552"/>
                <a:gd name="T35" fmla="*/ 359 h 535"/>
                <a:gd name="T36" fmla="*/ 219 w 552"/>
                <a:gd name="T37" fmla="*/ 331 h 535"/>
                <a:gd name="T38" fmla="*/ 258 w 552"/>
                <a:gd name="T39" fmla="*/ 88 h 535"/>
                <a:gd name="T40" fmla="*/ 264 w 552"/>
                <a:gd name="T41" fmla="*/ 52 h 535"/>
                <a:gd name="T42" fmla="*/ 271 w 552"/>
                <a:gd name="T43" fmla="*/ 29 h 535"/>
                <a:gd name="T44" fmla="*/ 280 w 552"/>
                <a:gd name="T45" fmla="*/ 12 h 535"/>
                <a:gd name="T46" fmla="*/ 291 w 552"/>
                <a:gd name="T47" fmla="*/ 4 h 535"/>
                <a:gd name="T48" fmla="*/ 308 w 552"/>
                <a:gd name="T49" fmla="*/ 0 h 535"/>
                <a:gd name="T50" fmla="*/ 327 w 552"/>
                <a:gd name="T51" fmla="*/ 5 h 535"/>
                <a:gd name="T52" fmla="*/ 340 w 552"/>
                <a:gd name="T53" fmla="*/ 26 h 535"/>
                <a:gd name="T54" fmla="*/ 347 w 552"/>
                <a:gd name="T55" fmla="*/ 43 h 535"/>
                <a:gd name="T56" fmla="*/ 353 w 552"/>
                <a:gd name="T57" fmla="*/ 68 h 535"/>
                <a:gd name="T58" fmla="*/ 412 w 552"/>
                <a:gd name="T59" fmla="*/ 460 h 535"/>
                <a:gd name="T60" fmla="*/ 419 w 552"/>
                <a:gd name="T61" fmla="*/ 492 h 535"/>
                <a:gd name="T62" fmla="*/ 429 w 552"/>
                <a:gd name="T63" fmla="*/ 520 h 535"/>
                <a:gd name="T64" fmla="*/ 441 w 552"/>
                <a:gd name="T65" fmla="*/ 530 h 535"/>
                <a:gd name="T66" fmla="*/ 462 w 552"/>
                <a:gd name="T67" fmla="*/ 535 h 535"/>
                <a:gd name="T68" fmla="*/ 478 w 552"/>
                <a:gd name="T69" fmla="*/ 518 h 535"/>
                <a:gd name="T70" fmla="*/ 488 w 552"/>
                <a:gd name="T71" fmla="*/ 495 h 535"/>
                <a:gd name="T72" fmla="*/ 496 w 552"/>
                <a:gd name="T73" fmla="*/ 461 h 535"/>
                <a:gd name="T74" fmla="*/ 552 w 552"/>
                <a:gd name="T75" fmla="*/ 107 h 5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552" h="535">
                  <a:moveTo>
                    <a:pt x="0" y="255"/>
                  </a:moveTo>
                  <a:lnTo>
                    <a:pt x="7" y="209"/>
                  </a:lnTo>
                  <a:lnTo>
                    <a:pt x="18" y="164"/>
                  </a:lnTo>
                  <a:lnTo>
                    <a:pt x="26" y="131"/>
                  </a:lnTo>
                  <a:lnTo>
                    <a:pt x="39" y="115"/>
                  </a:lnTo>
                  <a:lnTo>
                    <a:pt x="52" y="104"/>
                  </a:lnTo>
                  <a:lnTo>
                    <a:pt x="67" y="103"/>
                  </a:lnTo>
                  <a:lnTo>
                    <a:pt x="83" y="107"/>
                  </a:lnTo>
                  <a:lnTo>
                    <a:pt x="98" y="121"/>
                  </a:lnTo>
                  <a:lnTo>
                    <a:pt x="106" y="140"/>
                  </a:lnTo>
                  <a:lnTo>
                    <a:pt x="112" y="165"/>
                  </a:lnTo>
                  <a:lnTo>
                    <a:pt x="141" y="331"/>
                  </a:lnTo>
                  <a:lnTo>
                    <a:pt x="148" y="356"/>
                  </a:lnTo>
                  <a:lnTo>
                    <a:pt x="154" y="373"/>
                  </a:lnTo>
                  <a:lnTo>
                    <a:pt x="172" y="385"/>
                  </a:lnTo>
                  <a:lnTo>
                    <a:pt x="188" y="386"/>
                  </a:lnTo>
                  <a:lnTo>
                    <a:pt x="203" y="378"/>
                  </a:lnTo>
                  <a:lnTo>
                    <a:pt x="212" y="359"/>
                  </a:lnTo>
                  <a:lnTo>
                    <a:pt x="219" y="331"/>
                  </a:lnTo>
                  <a:lnTo>
                    <a:pt x="258" y="88"/>
                  </a:lnTo>
                  <a:lnTo>
                    <a:pt x="264" y="52"/>
                  </a:lnTo>
                  <a:lnTo>
                    <a:pt x="271" y="29"/>
                  </a:lnTo>
                  <a:lnTo>
                    <a:pt x="280" y="12"/>
                  </a:lnTo>
                  <a:lnTo>
                    <a:pt x="291" y="4"/>
                  </a:lnTo>
                  <a:lnTo>
                    <a:pt x="308" y="0"/>
                  </a:lnTo>
                  <a:lnTo>
                    <a:pt x="327" y="5"/>
                  </a:lnTo>
                  <a:lnTo>
                    <a:pt x="340" y="26"/>
                  </a:lnTo>
                  <a:lnTo>
                    <a:pt x="347" y="43"/>
                  </a:lnTo>
                  <a:lnTo>
                    <a:pt x="353" y="68"/>
                  </a:lnTo>
                  <a:lnTo>
                    <a:pt x="412" y="460"/>
                  </a:lnTo>
                  <a:lnTo>
                    <a:pt x="419" y="492"/>
                  </a:lnTo>
                  <a:lnTo>
                    <a:pt x="429" y="520"/>
                  </a:lnTo>
                  <a:lnTo>
                    <a:pt x="441" y="530"/>
                  </a:lnTo>
                  <a:lnTo>
                    <a:pt x="462" y="535"/>
                  </a:lnTo>
                  <a:lnTo>
                    <a:pt x="478" y="518"/>
                  </a:lnTo>
                  <a:lnTo>
                    <a:pt x="488" y="495"/>
                  </a:lnTo>
                  <a:lnTo>
                    <a:pt x="496" y="461"/>
                  </a:lnTo>
                  <a:lnTo>
                    <a:pt x="552" y="107"/>
                  </a:lnTo>
                </a:path>
              </a:pathLst>
            </a:custGeom>
            <a:noFill/>
            <a:ln w="9525">
              <a:solidFill>
                <a:srgbClr val="D4237A"/>
              </a:solidFill>
              <a:prstDash val="solid"/>
              <a:round/>
            </a:ln>
            <a:extLst>
              <a:ext uri="{909E8E84-426E-40DD-AFC4-6F175D3DCCD1}">
                <a14:hiddenFill xmlns:a14="http://schemas.microsoft.com/office/drawing/2010/main">
                  <a:solidFill>
                    <a:srgbClr val="FFFFFF"/>
                  </a:solidFill>
                </a14:hiddenFill>
              </a:ext>
            </a:extLst>
          </p:spPr>
          <p:txBody>
            <a:bodyPr/>
            <a:lstStyle/>
            <a:p>
              <a:pPr fontAlgn="auto">
                <a:spcBef>
                  <a:spcPts val="0"/>
                </a:spcBef>
                <a:spcAft>
                  <a:spcPts val="0"/>
                </a:spcAft>
                <a:defRPr/>
              </a:pPr>
              <a:endParaRPr lang="zh-CN" altLang="en-US" b="1">
                <a:ln>
                  <a:solidFill>
                    <a:srgbClr val="0070C0"/>
                  </a:solidFill>
                </a:ln>
                <a:latin typeface="+mn-lt"/>
                <a:ea typeface="+mn-ea"/>
              </a:endParaRPr>
            </a:p>
          </p:txBody>
        </p:sp>
        <p:sp>
          <p:nvSpPr>
            <p:cNvPr id="52" name="Freeform 66"/>
            <p:cNvSpPr/>
            <p:nvPr/>
          </p:nvSpPr>
          <p:spPr bwMode="auto">
            <a:xfrm>
              <a:off x="1622" y="2160"/>
              <a:ext cx="180" cy="227"/>
            </a:xfrm>
            <a:custGeom>
              <a:avLst/>
              <a:gdLst>
                <a:gd name="T0" fmla="*/ 0 w 943"/>
                <a:gd name="T1" fmla="*/ 622 h 1524"/>
                <a:gd name="T2" fmla="*/ 49 w 943"/>
                <a:gd name="T3" fmla="*/ 336 h 1524"/>
                <a:gd name="T4" fmla="*/ 55 w 943"/>
                <a:gd name="T5" fmla="*/ 313 h 1524"/>
                <a:gd name="T6" fmla="*/ 71 w 943"/>
                <a:gd name="T7" fmla="*/ 301 h 1524"/>
                <a:gd name="T8" fmla="*/ 84 w 943"/>
                <a:gd name="T9" fmla="*/ 297 h 1524"/>
                <a:gd name="T10" fmla="*/ 105 w 943"/>
                <a:gd name="T11" fmla="*/ 301 h 1524"/>
                <a:gd name="T12" fmla="*/ 116 w 943"/>
                <a:gd name="T13" fmla="*/ 314 h 1524"/>
                <a:gd name="T14" fmla="*/ 122 w 943"/>
                <a:gd name="T15" fmla="*/ 336 h 1524"/>
                <a:gd name="T16" fmla="*/ 236 w 943"/>
                <a:gd name="T17" fmla="*/ 1164 h 1524"/>
                <a:gd name="T18" fmla="*/ 247 w 943"/>
                <a:gd name="T19" fmla="*/ 1207 h 1524"/>
                <a:gd name="T20" fmla="*/ 258 w 943"/>
                <a:gd name="T21" fmla="*/ 1222 h 1524"/>
                <a:gd name="T22" fmla="*/ 276 w 943"/>
                <a:gd name="T23" fmla="*/ 1230 h 1524"/>
                <a:gd name="T24" fmla="*/ 290 w 943"/>
                <a:gd name="T25" fmla="*/ 1234 h 1524"/>
                <a:gd name="T26" fmla="*/ 309 w 943"/>
                <a:gd name="T27" fmla="*/ 1227 h 1524"/>
                <a:gd name="T28" fmla="*/ 324 w 943"/>
                <a:gd name="T29" fmla="*/ 1209 h 1524"/>
                <a:gd name="T30" fmla="*/ 335 w 943"/>
                <a:gd name="T31" fmla="*/ 1164 h 1524"/>
                <a:gd name="T32" fmla="*/ 448 w 943"/>
                <a:gd name="T33" fmla="*/ 204 h 1524"/>
                <a:gd name="T34" fmla="*/ 455 w 943"/>
                <a:gd name="T35" fmla="*/ 158 h 1524"/>
                <a:gd name="T36" fmla="*/ 462 w 943"/>
                <a:gd name="T37" fmla="*/ 143 h 1524"/>
                <a:gd name="T38" fmla="*/ 470 w 943"/>
                <a:gd name="T39" fmla="*/ 129 h 1524"/>
                <a:gd name="T40" fmla="*/ 483 w 943"/>
                <a:gd name="T41" fmla="*/ 118 h 1524"/>
                <a:gd name="T42" fmla="*/ 499 w 943"/>
                <a:gd name="T43" fmla="*/ 116 h 1524"/>
                <a:gd name="T44" fmla="*/ 517 w 943"/>
                <a:gd name="T45" fmla="*/ 122 h 1524"/>
                <a:gd name="T46" fmla="*/ 531 w 943"/>
                <a:gd name="T47" fmla="*/ 132 h 1524"/>
                <a:gd name="T48" fmla="*/ 539 w 943"/>
                <a:gd name="T49" fmla="*/ 143 h 1524"/>
                <a:gd name="T50" fmla="*/ 548 w 943"/>
                <a:gd name="T51" fmla="*/ 158 h 1524"/>
                <a:gd name="T52" fmla="*/ 555 w 943"/>
                <a:gd name="T53" fmla="*/ 197 h 1524"/>
                <a:gd name="T54" fmla="*/ 658 w 943"/>
                <a:gd name="T55" fmla="*/ 1428 h 1524"/>
                <a:gd name="T56" fmla="*/ 665 w 943"/>
                <a:gd name="T57" fmla="*/ 1480 h 1524"/>
                <a:gd name="T58" fmla="*/ 674 w 943"/>
                <a:gd name="T59" fmla="*/ 1505 h 1524"/>
                <a:gd name="T60" fmla="*/ 692 w 943"/>
                <a:gd name="T61" fmla="*/ 1517 h 1524"/>
                <a:gd name="T62" fmla="*/ 710 w 943"/>
                <a:gd name="T63" fmla="*/ 1524 h 1524"/>
                <a:gd name="T64" fmla="*/ 727 w 943"/>
                <a:gd name="T65" fmla="*/ 1517 h 1524"/>
                <a:gd name="T66" fmla="*/ 736 w 943"/>
                <a:gd name="T67" fmla="*/ 1505 h 1524"/>
                <a:gd name="T68" fmla="*/ 742 w 943"/>
                <a:gd name="T69" fmla="*/ 1484 h 1524"/>
                <a:gd name="T70" fmla="*/ 748 w 943"/>
                <a:gd name="T71" fmla="*/ 1432 h 1524"/>
                <a:gd name="T72" fmla="*/ 882 w 943"/>
                <a:gd name="T73" fmla="*/ 87 h 1524"/>
                <a:gd name="T74" fmla="*/ 888 w 943"/>
                <a:gd name="T75" fmla="*/ 59 h 1524"/>
                <a:gd name="T76" fmla="*/ 897 w 943"/>
                <a:gd name="T77" fmla="*/ 34 h 1524"/>
                <a:gd name="T78" fmla="*/ 908 w 943"/>
                <a:gd name="T79" fmla="*/ 17 h 1524"/>
                <a:gd name="T80" fmla="*/ 919 w 943"/>
                <a:gd name="T81" fmla="*/ 5 h 1524"/>
                <a:gd name="T82" fmla="*/ 931 w 943"/>
                <a:gd name="T83" fmla="*/ 0 h 1524"/>
                <a:gd name="T84" fmla="*/ 943 w 943"/>
                <a:gd name="T85" fmla="*/ 0 h 15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943" h="1524">
                  <a:moveTo>
                    <a:pt x="0" y="622"/>
                  </a:moveTo>
                  <a:lnTo>
                    <a:pt x="49" y="336"/>
                  </a:lnTo>
                  <a:lnTo>
                    <a:pt x="55" y="313"/>
                  </a:lnTo>
                  <a:lnTo>
                    <a:pt x="71" y="301"/>
                  </a:lnTo>
                  <a:lnTo>
                    <a:pt x="84" y="297"/>
                  </a:lnTo>
                  <a:lnTo>
                    <a:pt x="105" y="301"/>
                  </a:lnTo>
                  <a:lnTo>
                    <a:pt x="116" y="314"/>
                  </a:lnTo>
                  <a:lnTo>
                    <a:pt x="122" y="336"/>
                  </a:lnTo>
                  <a:lnTo>
                    <a:pt x="236" y="1164"/>
                  </a:lnTo>
                  <a:lnTo>
                    <a:pt x="247" y="1207"/>
                  </a:lnTo>
                  <a:lnTo>
                    <a:pt x="258" y="1222"/>
                  </a:lnTo>
                  <a:lnTo>
                    <a:pt x="276" y="1230"/>
                  </a:lnTo>
                  <a:lnTo>
                    <a:pt x="290" y="1234"/>
                  </a:lnTo>
                  <a:lnTo>
                    <a:pt x="309" y="1227"/>
                  </a:lnTo>
                  <a:lnTo>
                    <a:pt x="324" y="1209"/>
                  </a:lnTo>
                  <a:lnTo>
                    <a:pt x="335" y="1164"/>
                  </a:lnTo>
                  <a:lnTo>
                    <a:pt x="448" y="204"/>
                  </a:lnTo>
                  <a:lnTo>
                    <a:pt x="455" y="158"/>
                  </a:lnTo>
                  <a:lnTo>
                    <a:pt x="462" y="143"/>
                  </a:lnTo>
                  <a:lnTo>
                    <a:pt x="470" y="129"/>
                  </a:lnTo>
                  <a:lnTo>
                    <a:pt x="483" y="118"/>
                  </a:lnTo>
                  <a:lnTo>
                    <a:pt x="499" y="116"/>
                  </a:lnTo>
                  <a:lnTo>
                    <a:pt x="517" y="122"/>
                  </a:lnTo>
                  <a:lnTo>
                    <a:pt x="531" y="132"/>
                  </a:lnTo>
                  <a:lnTo>
                    <a:pt x="539" y="143"/>
                  </a:lnTo>
                  <a:lnTo>
                    <a:pt x="548" y="158"/>
                  </a:lnTo>
                  <a:lnTo>
                    <a:pt x="555" y="197"/>
                  </a:lnTo>
                  <a:lnTo>
                    <a:pt x="658" y="1428"/>
                  </a:lnTo>
                  <a:lnTo>
                    <a:pt x="665" y="1480"/>
                  </a:lnTo>
                  <a:lnTo>
                    <a:pt x="674" y="1505"/>
                  </a:lnTo>
                  <a:lnTo>
                    <a:pt x="692" y="1517"/>
                  </a:lnTo>
                  <a:lnTo>
                    <a:pt x="710" y="1524"/>
                  </a:lnTo>
                  <a:lnTo>
                    <a:pt x="727" y="1517"/>
                  </a:lnTo>
                  <a:lnTo>
                    <a:pt x="736" y="1505"/>
                  </a:lnTo>
                  <a:lnTo>
                    <a:pt x="742" y="1484"/>
                  </a:lnTo>
                  <a:lnTo>
                    <a:pt x="748" y="1432"/>
                  </a:lnTo>
                  <a:lnTo>
                    <a:pt x="882" y="87"/>
                  </a:lnTo>
                  <a:lnTo>
                    <a:pt x="888" y="59"/>
                  </a:lnTo>
                  <a:lnTo>
                    <a:pt x="897" y="34"/>
                  </a:lnTo>
                  <a:lnTo>
                    <a:pt x="908" y="17"/>
                  </a:lnTo>
                  <a:lnTo>
                    <a:pt x="919" y="5"/>
                  </a:lnTo>
                  <a:lnTo>
                    <a:pt x="931" y="0"/>
                  </a:lnTo>
                  <a:lnTo>
                    <a:pt x="943" y="0"/>
                  </a:lnTo>
                </a:path>
              </a:pathLst>
            </a:custGeom>
            <a:noFill/>
            <a:ln w="9525">
              <a:solidFill>
                <a:srgbClr val="D4237A"/>
              </a:solidFill>
              <a:prstDash val="solid"/>
              <a:round/>
            </a:ln>
            <a:extLst>
              <a:ext uri="{909E8E84-426E-40DD-AFC4-6F175D3DCCD1}">
                <a14:hiddenFill xmlns:a14="http://schemas.microsoft.com/office/drawing/2010/main">
                  <a:solidFill>
                    <a:srgbClr val="FFFFFF"/>
                  </a:solidFill>
                </a14:hiddenFill>
              </a:ext>
            </a:extLst>
          </p:spPr>
          <p:txBody>
            <a:bodyPr/>
            <a:lstStyle/>
            <a:p>
              <a:pPr fontAlgn="auto">
                <a:spcBef>
                  <a:spcPts val="0"/>
                </a:spcBef>
                <a:spcAft>
                  <a:spcPts val="0"/>
                </a:spcAft>
                <a:defRPr/>
              </a:pPr>
              <a:endParaRPr lang="zh-CN" altLang="en-US" b="1">
                <a:ln>
                  <a:solidFill>
                    <a:srgbClr val="0070C0"/>
                  </a:solidFill>
                </a:ln>
                <a:latin typeface="+mn-lt"/>
                <a:ea typeface="+mn-ea"/>
              </a:endParaRPr>
            </a:p>
          </p:txBody>
        </p:sp>
        <p:sp>
          <p:nvSpPr>
            <p:cNvPr id="53" name="Freeform 67"/>
            <p:cNvSpPr/>
            <p:nvPr/>
          </p:nvSpPr>
          <p:spPr bwMode="auto">
            <a:xfrm>
              <a:off x="1978" y="2237"/>
              <a:ext cx="103" cy="79"/>
            </a:xfrm>
            <a:custGeom>
              <a:avLst/>
              <a:gdLst>
                <a:gd name="T0" fmla="*/ 551 w 551"/>
                <a:gd name="T1" fmla="*/ 255 h 535"/>
                <a:gd name="T2" fmla="*/ 544 w 551"/>
                <a:gd name="T3" fmla="*/ 209 h 535"/>
                <a:gd name="T4" fmla="*/ 534 w 551"/>
                <a:gd name="T5" fmla="*/ 164 h 535"/>
                <a:gd name="T6" fmla="*/ 525 w 551"/>
                <a:gd name="T7" fmla="*/ 131 h 535"/>
                <a:gd name="T8" fmla="*/ 514 w 551"/>
                <a:gd name="T9" fmla="*/ 115 h 535"/>
                <a:gd name="T10" fmla="*/ 499 w 551"/>
                <a:gd name="T11" fmla="*/ 104 h 535"/>
                <a:gd name="T12" fmla="*/ 486 w 551"/>
                <a:gd name="T13" fmla="*/ 103 h 535"/>
                <a:gd name="T14" fmla="*/ 468 w 551"/>
                <a:gd name="T15" fmla="*/ 107 h 535"/>
                <a:gd name="T16" fmla="*/ 455 w 551"/>
                <a:gd name="T17" fmla="*/ 121 h 535"/>
                <a:gd name="T18" fmla="*/ 446 w 551"/>
                <a:gd name="T19" fmla="*/ 140 h 535"/>
                <a:gd name="T20" fmla="*/ 439 w 551"/>
                <a:gd name="T21" fmla="*/ 165 h 535"/>
                <a:gd name="T22" fmla="*/ 411 w 551"/>
                <a:gd name="T23" fmla="*/ 331 h 535"/>
                <a:gd name="T24" fmla="*/ 404 w 551"/>
                <a:gd name="T25" fmla="*/ 356 h 535"/>
                <a:gd name="T26" fmla="*/ 398 w 551"/>
                <a:gd name="T27" fmla="*/ 373 h 535"/>
                <a:gd name="T28" fmla="*/ 381 w 551"/>
                <a:gd name="T29" fmla="*/ 385 h 535"/>
                <a:gd name="T30" fmla="*/ 364 w 551"/>
                <a:gd name="T31" fmla="*/ 386 h 535"/>
                <a:gd name="T32" fmla="*/ 349 w 551"/>
                <a:gd name="T33" fmla="*/ 378 h 535"/>
                <a:gd name="T34" fmla="*/ 341 w 551"/>
                <a:gd name="T35" fmla="*/ 359 h 535"/>
                <a:gd name="T36" fmla="*/ 333 w 551"/>
                <a:gd name="T37" fmla="*/ 331 h 535"/>
                <a:gd name="T38" fmla="*/ 295 w 551"/>
                <a:gd name="T39" fmla="*/ 88 h 535"/>
                <a:gd name="T40" fmla="*/ 288 w 551"/>
                <a:gd name="T41" fmla="*/ 52 h 535"/>
                <a:gd name="T42" fmla="*/ 281 w 551"/>
                <a:gd name="T43" fmla="*/ 29 h 535"/>
                <a:gd name="T44" fmla="*/ 271 w 551"/>
                <a:gd name="T45" fmla="*/ 12 h 535"/>
                <a:gd name="T46" fmla="*/ 260 w 551"/>
                <a:gd name="T47" fmla="*/ 4 h 535"/>
                <a:gd name="T48" fmla="*/ 242 w 551"/>
                <a:gd name="T49" fmla="*/ 0 h 535"/>
                <a:gd name="T50" fmla="*/ 225 w 551"/>
                <a:gd name="T51" fmla="*/ 5 h 535"/>
                <a:gd name="T52" fmla="*/ 210 w 551"/>
                <a:gd name="T53" fmla="*/ 26 h 535"/>
                <a:gd name="T54" fmla="*/ 204 w 551"/>
                <a:gd name="T55" fmla="*/ 43 h 535"/>
                <a:gd name="T56" fmla="*/ 199 w 551"/>
                <a:gd name="T57" fmla="*/ 68 h 535"/>
                <a:gd name="T58" fmla="*/ 141 w 551"/>
                <a:gd name="T59" fmla="*/ 460 h 535"/>
                <a:gd name="T60" fmla="*/ 134 w 551"/>
                <a:gd name="T61" fmla="*/ 492 h 535"/>
                <a:gd name="T62" fmla="*/ 123 w 551"/>
                <a:gd name="T63" fmla="*/ 520 h 535"/>
                <a:gd name="T64" fmla="*/ 111 w 551"/>
                <a:gd name="T65" fmla="*/ 530 h 535"/>
                <a:gd name="T66" fmla="*/ 90 w 551"/>
                <a:gd name="T67" fmla="*/ 535 h 535"/>
                <a:gd name="T68" fmla="*/ 73 w 551"/>
                <a:gd name="T69" fmla="*/ 518 h 535"/>
                <a:gd name="T70" fmla="*/ 63 w 551"/>
                <a:gd name="T71" fmla="*/ 495 h 535"/>
                <a:gd name="T72" fmla="*/ 56 w 551"/>
                <a:gd name="T73" fmla="*/ 461 h 535"/>
                <a:gd name="T74" fmla="*/ 0 w 551"/>
                <a:gd name="T75" fmla="*/ 107 h 5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551" h="535">
                  <a:moveTo>
                    <a:pt x="551" y="255"/>
                  </a:moveTo>
                  <a:lnTo>
                    <a:pt x="544" y="209"/>
                  </a:lnTo>
                  <a:lnTo>
                    <a:pt x="534" y="164"/>
                  </a:lnTo>
                  <a:lnTo>
                    <a:pt x="525" y="131"/>
                  </a:lnTo>
                  <a:lnTo>
                    <a:pt x="514" y="115"/>
                  </a:lnTo>
                  <a:lnTo>
                    <a:pt x="499" y="104"/>
                  </a:lnTo>
                  <a:lnTo>
                    <a:pt x="486" y="103"/>
                  </a:lnTo>
                  <a:lnTo>
                    <a:pt x="468" y="107"/>
                  </a:lnTo>
                  <a:lnTo>
                    <a:pt x="455" y="121"/>
                  </a:lnTo>
                  <a:lnTo>
                    <a:pt x="446" y="140"/>
                  </a:lnTo>
                  <a:lnTo>
                    <a:pt x="439" y="165"/>
                  </a:lnTo>
                  <a:lnTo>
                    <a:pt x="411" y="331"/>
                  </a:lnTo>
                  <a:lnTo>
                    <a:pt x="404" y="356"/>
                  </a:lnTo>
                  <a:lnTo>
                    <a:pt x="398" y="373"/>
                  </a:lnTo>
                  <a:lnTo>
                    <a:pt x="381" y="385"/>
                  </a:lnTo>
                  <a:lnTo>
                    <a:pt x="364" y="386"/>
                  </a:lnTo>
                  <a:lnTo>
                    <a:pt x="349" y="378"/>
                  </a:lnTo>
                  <a:lnTo>
                    <a:pt x="341" y="359"/>
                  </a:lnTo>
                  <a:lnTo>
                    <a:pt x="333" y="331"/>
                  </a:lnTo>
                  <a:lnTo>
                    <a:pt x="295" y="88"/>
                  </a:lnTo>
                  <a:lnTo>
                    <a:pt x="288" y="52"/>
                  </a:lnTo>
                  <a:lnTo>
                    <a:pt x="281" y="29"/>
                  </a:lnTo>
                  <a:lnTo>
                    <a:pt x="271" y="12"/>
                  </a:lnTo>
                  <a:lnTo>
                    <a:pt x="260" y="4"/>
                  </a:lnTo>
                  <a:lnTo>
                    <a:pt x="242" y="0"/>
                  </a:lnTo>
                  <a:lnTo>
                    <a:pt x="225" y="5"/>
                  </a:lnTo>
                  <a:lnTo>
                    <a:pt x="210" y="26"/>
                  </a:lnTo>
                  <a:lnTo>
                    <a:pt x="204" y="43"/>
                  </a:lnTo>
                  <a:lnTo>
                    <a:pt x="199" y="68"/>
                  </a:lnTo>
                  <a:lnTo>
                    <a:pt x="141" y="460"/>
                  </a:lnTo>
                  <a:lnTo>
                    <a:pt x="134" y="492"/>
                  </a:lnTo>
                  <a:lnTo>
                    <a:pt x="123" y="520"/>
                  </a:lnTo>
                  <a:lnTo>
                    <a:pt x="111" y="530"/>
                  </a:lnTo>
                  <a:lnTo>
                    <a:pt x="90" y="535"/>
                  </a:lnTo>
                  <a:lnTo>
                    <a:pt x="73" y="518"/>
                  </a:lnTo>
                  <a:lnTo>
                    <a:pt x="63" y="495"/>
                  </a:lnTo>
                  <a:lnTo>
                    <a:pt x="56" y="461"/>
                  </a:lnTo>
                  <a:lnTo>
                    <a:pt x="0" y="107"/>
                  </a:lnTo>
                </a:path>
              </a:pathLst>
            </a:custGeom>
            <a:noFill/>
            <a:ln w="9525">
              <a:solidFill>
                <a:srgbClr val="D4237A"/>
              </a:solidFill>
              <a:prstDash val="solid"/>
              <a:round/>
            </a:ln>
            <a:extLst>
              <a:ext uri="{909E8E84-426E-40DD-AFC4-6F175D3DCCD1}">
                <a14:hiddenFill xmlns:a14="http://schemas.microsoft.com/office/drawing/2010/main">
                  <a:solidFill>
                    <a:srgbClr val="FFFFFF"/>
                  </a:solidFill>
                </a14:hiddenFill>
              </a:ext>
            </a:extLst>
          </p:spPr>
          <p:txBody>
            <a:bodyPr/>
            <a:lstStyle/>
            <a:p>
              <a:pPr fontAlgn="auto">
                <a:spcBef>
                  <a:spcPts val="0"/>
                </a:spcBef>
                <a:spcAft>
                  <a:spcPts val="0"/>
                </a:spcAft>
                <a:defRPr/>
              </a:pPr>
              <a:endParaRPr lang="zh-CN" altLang="en-US" b="1">
                <a:ln>
                  <a:solidFill>
                    <a:srgbClr val="0070C0"/>
                  </a:solidFill>
                </a:ln>
                <a:latin typeface="+mn-lt"/>
                <a:ea typeface="+mn-ea"/>
              </a:endParaRPr>
            </a:p>
          </p:txBody>
        </p:sp>
        <p:sp>
          <p:nvSpPr>
            <p:cNvPr id="54" name="Freeform 68"/>
            <p:cNvSpPr/>
            <p:nvPr/>
          </p:nvSpPr>
          <p:spPr bwMode="auto">
            <a:xfrm>
              <a:off x="1799" y="2160"/>
              <a:ext cx="179" cy="227"/>
            </a:xfrm>
            <a:custGeom>
              <a:avLst/>
              <a:gdLst>
                <a:gd name="T0" fmla="*/ 943 w 943"/>
                <a:gd name="T1" fmla="*/ 626 h 1524"/>
                <a:gd name="T2" fmla="*/ 895 w 943"/>
                <a:gd name="T3" fmla="*/ 336 h 1524"/>
                <a:gd name="T4" fmla="*/ 887 w 943"/>
                <a:gd name="T5" fmla="*/ 313 h 1524"/>
                <a:gd name="T6" fmla="*/ 873 w 943"/>
                <a:gd name="T7" fmla="*/ 301 h 1524"/>
                <a:gd name="T8" fmla="*/ 859 w 943"/>
                <a:gd name="T9" fmla="*/ 297 h 1524"/>
                <a:gd name="T10" fmla="*/ 837 w 943"/>
                <a:gd name="T11" fmla="*/ 301 h 1524"/>
                <a:gd name="T12" fmla="*/ 828 w 943"/>
                <a:gd name="T13" fmla="*/ 314 h 1524"/>
                <a:gd name="T14" fmla="*/ 819 w 943"/>
                <a:gd name="T15" fmla="*/ 336 h 1524"/>
                <a:gd name="T16" fmla="*/ 706 w 943"/>
                <a:gd name="T17" fmla="*/ 1164 h 1524"/>
                <a:gd name="T18" fmla="*/ 695 w 943"/>
                <a:gd name="T19" fmla="*/ 1207 h 1524"/>
                <a:gd name="T20" fmla="*/ 686 w 943"/>
                <a:gd name="T21" fmla="*/ 1222 h 1524"/>
                <a:gd name="T22" fmla="*/ 667 w 943"/>
                <a:gd name="T23" fmla="*/ 1230 h 1524"/>
                <a:gd name="T24" fmla="*/ 652 w 943"/>
                <a:gd name="T25" fmla="*/ 1234 h 1524"/>
                <a:gd name="T26" fmla="*/ 633 w 943"/>
                <a:gd name="T27" fmla="*/ 1227 h 1524"/>
                <a:gd name="T28" fmla="*/ 619 w 943"/>
                <a:gd name="T29" fmla="*/ 1209 h 1524"/>
                <a:gd name="T30" fmla="*/ 608 w 943"/>
                <a:gd name="T31" fmla="*/ 1164 h 1524"/>
                <a:gd name="T32" fmla="*/ 495 w 943"/>
                <a:gd name="T33" fmla="*/ 204 h 1524"/>
                <a:gd name="T34" fmla="*/ 486 w 943"/>
                <a:gd name="T35" fmla="*/ 158 h 1524"/>
                <a:gd name="T36" fmla="*/ 482 w 943"/>
                <a:gd name="T37" fmla="*/ 143 h 1524"/>
                <a:gd name="T38" fmla="*/ 473 w 943"/>
                <a:gd name="T39" fmla="*/ 129 h 1524"/>
                <a:gd name="T40" fmla="*/ 459 w 943"/>
                <a:gd name="T41" fmla="*/ 118 h 1524"/>
                <a:gd name="T42" fmla="*/ 446 w 943"/>
                <a:gd name="T43" fmla="*/ 116 h 1524"/>
                <a:gd name="T44" fmla="*/ 427 w 943"/>
                <a:gd name="T45" fmla="*/ 122 h 1524"/>
                <a:gd name="T46" fmla="*/ 411 w 943"/>
                <a:gd name="T47" fmla="*/ 132 h 1524"/>
                <a:gd name="T48" fmla="*/ 403 w 943"/>
                <a:gd name="T49" fmla="*/ 143 h 1524"/>
                <a:gd name="T50" fmla="*/ 396 w 943"/>
                <a:gd name="T51" fmla="*/ 158 h 1524"/>
                <a:gd name="T52" fmla="*/ 389 w 943"/>
                <a:gd name="T53" fmla="*/ 197 h 1524"/>
                <a:gd name="T54" fmla="*/ 285 w 943"/>
                <a:gd name="T55" fmla="*/ 1428 h 1524"/>
                <a:gd name="T56" fmla="*/ 278 w 943"/>
                <a:gd name="T57" fmla="*/ 1480 h 1524"/>
                <a:gd name="T58" fmla="*/ 268 w 943"/>
                <a:gd name="T59" fmla="*/ 1505 h 1524"/>
                <a:gd name="T60" fmla="*/ 250 w 943"/>
                <a:gd name="T61" fmla="*/ 1517 h 1524"/>
                <a:gd name="T62" fmla="*/ 233 w 943"/>
                <a:gd name="T63" fmla="*/ 1524 h 1524"/>
                <a:gd name="T64" fmla="*/ 217 w 943"/>
                <a:gd name="T65" fmla="*/ 1517 h 1524"/>
                <a:gd name="T66" fmla="*/ 207 w 943"/>
                <a:gd name="T67" fmla="*/ 1505 h 1524"/>
                <a:gd name="T68" fmla="*/ 200 w 943"/>
                <a:gd name="T69" fmla="*/ 1484 h 1524"/>
                <a:gd name="T70" fmla="*/ 194 w 943"/>
                <a:gd name="T71" fmla="*/ 1432 h 1524"/>
                <a:gd name="T72" fmla="*/ 60 w 943"/>
                <a:gd name="T73" fmla="*/ 87 h 1524"/>
                <a:gd name="T74" fmla="*/ 56 w 943"/>
                <a:gd name="T75" fmla="*/ 59 h 1524"/>
                <a:gd name="T76" fmla="*/ 46 w 943"/>
                <a:gd name="T77" fmla="*/ 34 h 1524"/>
                <a:gd name="T78" fmla="*/ 35 w 943"/>
                <a:gd name="T79" fmla="*/ 17 h 1524"/>
                <a:gd name="T80" fmla="*/ 25 w 943"/>
                <a:gd name="T81" fmla="*/ 5 h 1524"/>
                <a:gd name="T82" fmla="*/ 12 w 943"/>
                <a:gd name="T83" fmla="*/ 0 h 1524"/>
                <a:gd name="T84" fmla="*/ 0 w 943"/>
                <a:gd name="T85" fmla="*/ 0 h 15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943" h="1524">
                  <a:moveTo>
                    <a:pt x="943" y="626"/>
                  </a:moveTo>
                  <a:lnTo>
                    <a:pt x="895" y="336"/>
                  </a:lnTo>
                  <a:lnTo>
                    <a:pt x="887" y="313"/>
                  </a:lnTo>
                  <a:lnTo>
                    <a:pt x="873" y="301"/>
                  </a:lnTo>
                  <a:lnTo>
                    <a:pt x="859" y="297"/>
                  </a:lnTo>
                  <a:lnTo>
                    <a:pt x="837" y="301"/>
                  </a:lnTo>
                  <a:lnTo>
                    <a:pt x="828" y="314"/>
                  </a:lnTo>
                  <a:lnTo>
                    <a:pt x="819" y="336"/>
                  </a:lnTo>
                  <a:lnTo>
                    <a:pt x="706" y="1164"/>
                  </a:lnTo>
                  <a:lnTo>
                    <a:pt x="695" y="1207"/>
                  </a:lnTo>
                  <a:lnTo>
                    <a:pt x="686" y="1222"/>
                  </a:lnTo>
                  <a:lnTo>
                    <a:pt x="667" y="1230"/>
                  </a:lnTo>
                  <a:lnTo>
                    <a:pt x="652" y="1234"/>
                  </a:lnTo>
                  <a:lnTo>
                    <a:pt x="633" y="1227"/>
                  </a:lnTo>
                  <a:lnTo>
                    <a:pt x="619" y="1209"/>
                  </a:lnTo>
                  <a:lnTo>
                    <a:pt x="608" y="1164"/>
                  </a:lnTo>
                  <a:lnTo>
                    <a:pt x="495" y="204"/>
                  </a:lnTo>
                  <a:lnTo>
                    <a:pt x="486" y="158"/>
                  </a:lnTo>
                  <a:lnTo>
                    <a:pt x="482" y="143"/>
                  </a:lnTo>
                  <a:lnTo>
                    <a:pt x="473" y="129"/>
                  </a:lnTo>
                  <a:lnTo>
                    <a:pt x="459" y="118"/>
                  </a:lnTo>
                  <a:lnTo>
                    <a:pt x="446" y="116"/>
                  </a:lnTo>
                  <a:lnTo>
                    <a:pt x="427" y="122"/>
                  </a:lnTo>
                  <a:lnTo>
                    <a:pt x="411" y="132"/>
                  </a:lnTo>
                  <a:lnTo>
                    <a:pt x="403" y="143"/>
                  </a:lnTo>
                  <a:lnTo>
                    <a:pt x="396" y="158"/>
                  </a:lnTo>
                  <a:lnTo>
                    <a:pt x="389" y="197"/>
                  </a:lnTo>
                  <a:lnTo>
                    <a:pt x="285" y="1428"/>
                  </a:lnTo>
                  <a:lnTo>
                    <a:pt x="278" y="1480"/>
                  </a:lnTo>
                  <a:lnTo>
                    <a:pt x="268" y="1505"/>
                  </a:lnTo>
                  <a:lnTo>
                    <a:pt x="250" y="1517"/>
                  </a:lnTo>
                  <a:lnTo>
                    <a:pt x="233" y="1524"/>
                  </a:lnTo>
                  <a:lnTo>
                    <a:pt x="217" y="1517"/>
                  </a:lnTo>
                  <a:lnTo>
                    <a:pt x="207" y="1505"/>
                  </a:lnTo>
                  <a:lnTo>
                    <a:pt x="200" y="1484"/>
                  </a:lnTo>
                  <a:lnTo>
                    <a:pt x="194" y="1432"/>
                  </a:lnTo>
                  <a:lnTo>
                    <a:pt x="60" y="87"/>
                  </a:lnTo>
                  <a:lnTo>
                    <a:pt x="56" y="59"/>
                  </a:lnTo>
                  <a:lnTo>
                    <a:pt x="46" y="34"/>
                  </a:lnTo>
                  <a:lnTo>
                    <a:pt x="35" y="17"/>
                  </a:lnTo>
                  <a:lnTo>
                    <a:pt x="25" y="5"/>
                  </a:lnTo>
                  <a:lnTo>
                    <a:pt x="12" y="0"/>
                  </a:lnTo>
                  <a:lnTo>
                    <a:pt x="0" y="0"/>
                  </a:lnTo>
                </a:path>
              </a:pathLst>
            </a:custGeom>
            <a:noFill/>
            <a:ln w="9525">
              <a:solidFill>
                <a:srgbClr val="D4237A"/>
              </a:solidFill>
              <a:prstDash val="solid"/>
              <a:round/>
            </a:ln>
            <a:extLst>
              <a:ext uri="{909E8E84-426E-40DD-AFC4-6F175D3DCCD1}">
                <a14:hiddenFill xmlns:a14="http://schemas.microsoft.com/office/drawing/2010/main">
                  <a:solidFill>
                    <a:srgbClr val="FFFFFF"/>
                  </a:solidFill>
                </a14:hiddenFill>
              </a:ext>
            </a:extLst>
          </p:spPr>
          <p:txBody>
            <a:bodyPr/>
            <a:lstStyle/>
            <a:p>
              <a:pPr fontAlgn="auto">
                <a:spcBef>
                  <a:spcPts val="0"/>
                </a:spcBef>
                <a:spcAft>
                  <a:spcPts val="0"/>
                </a:spcAft>
                <a:defRPr/>
              </a:pPr>
              <a:endParaRPr lang="zh-CN" altLang="en-US" b="1">
                <a:ln>
                  <a:solidFill>
                    <a:srgbClr val="0070C0"/>
                  </a:solidFill>
                </a:ln>
                <a:latin typeface="+mn-lt"/>
                <a:ea typeface="+mn-ea"/>
              </a:endParaRPr>
            </a:p>
          </p:txBody>
        </p:sp>
        <p:sp>
          <p:nvSpPr>
            <p:cNvPr id="55" name="Line 69"/>
            <p:cNvSpPr>
              <a:spLocks noChangeShapeType="1"/>
            </p:cNvSpPr>
            <p:nvPr/>
          </p:nvSpPr>
          <p:spPr bwMode="auto">
            <a:xfrm>
              <a:off x="2109" y="2258"/>
              <a:ext cx="363" cy="0"/>
            </a:xfrm>
            <a:prstGeom prst="line">
              <a:avLst/>
            </a:prstGeom>
            <a:noFill/>
            <a:ln w="9525">
              <a:solidFill>
                <a:srgbClr val="D4237A"/>
              </a:solidFill>
              <a:rou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n>
                  <a:solidFill>
                    <a:srgbClr val="0070C0"/>
                  </a:solidFill>
                </a:ln>
                <a:latin typeface="+mn-lt"/>
                <a:ea typeface="+mn-ea"/>
              </a:endParaRPr>
            </a:p>
          </p:txBody>
        </p:sp>
      </p:grpSp>
      <p:sp>
        <p:nvSpPr>
          <p:cNvPr id="56" name="Freeform 71"/>
          <p:cNvSpPr/>
          <p:nvPr/>
        </p:nvSpPr>
        <p:spPr bwMode="auto">
          <a:xfrm>
            <a:off x="3099414" y="3003831"/>
            <a:ext cx="540000" cy="65088"/>
          </a:xfrm>
          <a:custGeom>
            <a:avLst/>
            <a:gdLst>
              <a:gd name="T0" fmla="*/ 0 w 680"/>
              <a:gd name="T1" fmla="*/ 90 h 90"/>
              <a:gd name="T2" fmla="*/ 45 w 680"/>
              <a:gd name="T3" fmla="*/ 90 h 90"/>
              <a:gd name="T4" fmla="*/ 45 w 680"/>
              <a:gd name="T5" fmla="*/ 0 h 90"/>
              <a:gd name="T6" fmla="*/ 91 w 680"/>
              <a:gd name="T7" fmla="*/ 0 h 90"/>
              <a:gd name="T8" fmla="*/ 91 w 680"/>
              <a:gd name="T9" fmla="*/ 90 h 90"/>
              <a:gd name="T10" fmla="*/ 136 w 680"/>
              <a:gd name="T11" fmla="*/ 90 h 90"/>
              <a:gd name="T12" fmla="*/ 136 w 680"/>
              <a:gd name="T13" fmla="*/ 0 h 90"/>
              <a:gd name="T14" fmla="*/ 181 w 680"/>
              <a:gd name="T15" fmla="*/ 0 h 90"/>
              <a:gd name="T16" fmla="*/ 181 w 680"/>
              <a:gd name="T17" fmla="*/ 90 h 90"/>
              <a:gd name="T18" fmla="*/ 227 w 680"/>
              <a:gd name="T19" fmla="*/ 90 h 90"/>
              <a:gd name="T20" fmla="*/ 227 w 680"/>
              <a:gd name="T21" fmla="*/ 0 h 90"/>
              <a:gd name="T22" fmla="*/ 317 w 680"/>
              <a:gd name="T23" fmla="*/ 0 h 90"/>
              <a:gd name="T24" fmla="*/ 317 w 680"/>
              <a:gd name="T25" fmla="*/ 90 h 90"/>
              <a:gd name="T26" fmla="*/ 363 w 680"/>
              <a:gd name="T27" fmla="*/ 90 h 90"/>
              <a:gd name="T28" fmla="*/ 363 w 680"/>
              <a:gd name="T29" fmla="*/ 0 h 90"/>
              <a:gd name="T30" fmla="*/ 408 w 680"/>
              <a:gd name="T31" fmla="*/ 0 h 90"/>
              <a:gd name="T32" fmla="*/ 408 w 680"/>
              <a:gd name="T33" fmla="*/ 90 h 90"/>
              <a:gd name="T34" fmla="*/ 499 w 680"/>
              <a:gd name="T35" fmla="*/ 90 h 90"/>
              <a:gd name="T36" fmla="*/ 499 w 680"/>
              <a:gd name="T37" fmla="*/ 0 h 90"/>
              <a:gd name="T38" fmla="*/ 544 w 680"/>
              <a:gd name="T39" fmla="*/ 0 h 90"/>
              <a:gd name="T40" fmla="*/ 544 w 680"/>
              <a:gd name="T41" fmla="*/ 90 h 90"/>
              <a:gd name="T42" fmla="*/ 589 w 680"/>
              <a:gd name="T43" fmla="*/ 90 h 90"/>
              <a:gd name="T44" fmla="*/ 589 w 680"/>
              <a:gd name="T45" fmla="*/ 0 h 90"/>
              <a:gd name="T46" fmla="*/ 635 w 680"/>
              <a:gd name="T47" fmla="*/ 0 h 90"/>
              <a:gd name="T48" fmla="*/ 635 w 680"/>
              <a:gd name="T49" fmla="*/ 90 h 90"/>
              <a:gd name="T50" fmla="*/ 680 w 680"/>
              <a:gd name="T51" fmla="*/ 90 h 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680" h="90">
                <a:moveTo>
                  <a:pt x="0" y="90"/>
                </a:moveTo>
                <a:lnTo>
                  <a:pt x="45" y="90"/>
                </a:lnTo>
                <a:lnTo>
                  <a:pt x="45" y="0"/>
                </a:lnTo>
                <a:lnTo>
                  <a:pt x="91" y="0"/>
                </a:lnTo>
                <a:lnTo>
                  <a:pt x="91" y="90"/>
                </a:lnTo>
                <a:lnTo>
                  <a:pt x="136" y="90"/>
                </a:lnTo>
                <a:lnTo>
                  <a:pt x="136" y="0"/>
                </a:lnTo>
                <a:lnTo>
                  <a:pt x="181" y="0"/>
                </a:lnTo>
                <a:lnTo>
                  <a:pt x="181" y="90"/>
                </a:lnTo>
                <a:lnTo>
                  <a:pt x="227" y="90"/>
                </a:lnTo>
                <a:lnTo>
                  <a:pt x="227" y="0"/>
                </a:lnTo>
                <a:lnTo>
                  <a:pt x="317" y="0"/>
                </a:lnTo>
                <a:lnTo>
                  <a:pt x="317" y="90"/>
                </a:lnTo>
                <a:lnTo>
                  <a:pt x="363" y="90"/>
                </a:lnTo>
                <a:lnTo>
                  <a:pt x="363" y="0"/>
                </a:lnTo>
                <a:lnTo>
                  <a:pt x="408" y="0"/>
                </a:lnTo>
                <a:lnTo>
                  <a:pt x="408" y="90"/>
                </a:lnTo>
                <a:lnTo>
                  <a:pt x="499" y="90"/>
                </a:lnTo>
                <a:lnTo>
                  <a:pt x="499" y="0"/>
                </a:lnTo>
                <a:lnTo>
                  <a:pt x="544" y="0"/>
                </a:lnTo>
                <a:lnTo>
                  <a:pt x="544" y="90"/>
                </a:lnTo>
                <a:lnTo>
                  <a:pt x="589" y="90"/>
                </a:lnTo>
                <a:lnTo>
                  <a:pt x="589" y="0"/>
                </a:lnTo>
                <a:lnTo>
                  <a:pt x="635" y="0"/>
                </a:lnTo>
                <a:lnTo>
                  <a:pt x="635" y="90"/>
                </a:lnTo>
                <a:lnTo>
                  <a:pt x="680" y="90"/>
                </a:lnTo>
              </a:path>
            </a:pathLst>
          </a:custGeom>
          <a:noFill/>
          <a:ln w="9525" cmpd="sng">
            <a:solidFill>
              <a:srgbClr val="D4237A"/>
            </a:solidFill>
            <a:rou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n>
                <a:solidFill>
                  <a:srgbClr val="0070C0"/>
                </a:solidFill>
              </a:ln>
              <a:latin typeface="+mn-lt"/>
              <a:ea typeface="+mn-ea"/>
            </a:endParaRPr>
          </a:p>
        </p:txBody>
      </p:sp>
      <p:sp>
        <p:nvSpPr>
          <p:cNvPr id="57" name="Freeform 72"/>
          <p:cNvSpPr/>
          <p:nvPr/>
        </p:nvSpPr>
        <p:spPr bwMode="auto">
          <a:xfrm>
            <a:off x="4181808" y="3003831"/>
            <a:ext cx="540000" cy="65088"/>
          </a:xfrm>
          <a:custGeom>
            <a:avLst/>
            <a:gdLst>
              <a:gd name="T0" fmla="*/ 0 w 680"/>
              <a:gd name="T1" fmla="*/ 90 h 90"/>
              <a:gd name="T2" fmla="*/ 45 w 680"/>
              <a:gd name="T3" fmla="*/ 90 h 90"/>
              <a:gd name="T4" fmla="*/ 45 w 680"/>
              <a:gd name="T5" fmla="*/ 0 h 90"/>
              <a:gd name="T6" fmla="*/ 91 w 680"/>
              <a:gd name="T7" fmla="*/ 0 h 90"/>
              <a:gd name="T8" fmla="*/ 91 w 680"/>
              <a:gd name="T9" fmla="*/ 90 h 90"/>
              <a:gd name="T10" fmla="*/ 136 w 680"/>
              <a:gd name="T11" fmla="*/ 90 h 90"/>
              <a:gd name="T12" fmla="*/ 136 w 680"/>
              <a:gd name="T13" fmla="*/ 0 h 90"/>
              <a:gd name="T14" fmla="*/ 181 w 680"/>
              <a:gd name="T15" fmla="*/ 0 h 90"/>
              <a:gd name="T16" fmla="*/ 181 w 680"/>
              <a:gd name="T17" fmla="*/ 90 h 90"/>
              <a:gd name="T18" fmla="*/ 227 w 680"/>
              <a:gd name="T19" fmla="*/ 90 h 90"/>
              <a:gd name="T20" fmla="*/ 227 w 680"/>
              <a:gd name="T21" fmla="*/ 0 h 90"/>
              <a:gd name="T22" fmla="*/ 317 w 680"/>
              <a:gd name="T23" fmla="*/ 0 h 90"/>
              <a:gd name="T24" fmla="*/ 317 w 680"/>
              <a:gd name="T25" fmla="*/ 90 h 90"/>
              <a:gd name="T26" fmla="*/ 363 w 680"/>
              <a:gd name="T27" fmla="*/ 90 h 90"/>
              <a:gd name="T28" fmla="*/ 363 w 680"/>
              <a:gd name="T29" fmla="*/ 0 h 90"/>
              <a:gd name="T30" fmla="*/ 408 w 680"/>
              <a:gd name="T31" fmla="*/ 0 h 90"/>
              <a:gd name="T32" fmla="*/ 408 w 680"/>
              <a:gd name="T33" fmla="*/ 90 h 90"/>
              <a:gd name="T34" fmla="*/ 499 w 680"/>
              <a:gd name="T35" fmla="*/ 90 h 90"/>
              <a:gd name="T36" fmla="*/ 499 w 680"/>
              <a:gd name="T37" fmla="*/ 0 h 90"/>
              <a:gd name="T38" fmla="*/ 544 w 680"/>
              <a:gd name="T39" fmla="*/ 0 h 90"/>
              <a:gd name="T40" fmla="*/ 544 w 680"/>
              <a:gd name="T41" fmla="*/ 90 h 90"/>
              <a:gd name="T42" fmla="*/ 589 w 680"/>
              <a:gd name="T43" fmla="*/ 90 h 90"/>
              <a:gd name="T44" fmla="*/ 589 w 680"/>
              <a:gd name="T45" fmla="*/ 0 h 90"/>
              <a:gd name="T46" fmla="*/ 635 w 680"/>
              <a:gd name="T47" fmla="*/ 0 h 90"/>
              <a:gd name="T48" fmla="*/ 635 w 680"/>
              <a:gd name="T49" fmla="*/ 90 h 90"/>
              <a:gd name="T50" fmla="*/ 680 w 680"/>
              <a:gd name="T51" fmla="*/ 90 h 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680" h="90">
                <a:moveTo>
                  <a:pt x="0" y="90"/>
                </a:moveTo>
                <a:lnTo>
                  <a:pt x="45" y="90"/>
                </a:lnTo>
                <a:lnTo>
                  <a:pt x="45" y="0"/>
                </a:lnTo>
                <a:lnTo>
                  <a:pt x="91" y="0"/>
                </a:lnTo>
                <a:lnTo>
                  <a:pt x="91" y="90"/>
                </a:lnTo>
                <a:lnTo>
                  <a:pt x="136" y="90"/>
                </a:lnTo>
                <a:lnTo>
                  <a:pt x="136" y="0"/>
                </a:lnTo>
                <a:lnTo>
                  <a:pt x="181" y="0"/>
                </a:lnTo>
                <a:lnTo>
                  <a:pt x="181" y="90"/>
                </a:lnTo>
                <a:lnTo>
                  <a:pt x="227" y="90"/>
                </a:lnTo>
                <a:lnTo>
                  <a:pt x="227" y="0"/>
                </a:lnTo>
                <a:lnTo>
                  <a:pt x="317" y="0"/>
                </a:lnTo>
                <a:lnTo>
                  <a:pt x="317" y="90"/>
                </a:lnTo>
                <a:lnTo>
                  <a:pt x="363" y="90"/>
                </a:lnTo>
                <a:lnTo>
                  <a:pt x="363" y="0"/>
                </a:lnTo>
                <a:lnTo>
                  <a:pt x="408" y="0"/>
                </a:lnTo>
                <a:lnTo>
                  <a:pt x="408" y="90"/>
                </a:lnTo>
                <a:lnTo>
                  <a:pt x="499" y="90"/>
                </a:lnTo>
                <a:lnTo>
                  <a:pt x="499" y="0"/>
                </a:lnTo>
                <a:lnTo>
                  <a:pt x="544" y="0"/>
                </a:lnTo>
                <a:lnTo>
                  <a:pt x="544" y="90"/>
                </a:lnTo>
                <a:lnTo>
                  <a:pt x="589" y="90"/>
                </a:lnTo>
                <a:lnTo>
                  <a:pt x="589" y="0"/>
                </a:lnTo>
                <a:lnTo>
                  <a:pt x="635" y="0"/>
                </a:lnTo>
                <a:lnTo>
                  <a:pt x="635" y="90"/>
                </a:lnTo>
                <a:lnTo>
                  <a:pt x="680" y="90"/>
                </a:lnTo>
              </a:path>
            </a:pathLst>
          </a:custGeom>
          <a:noFill/>
          <a:ln w="9525" cmpd="sng">
            <a:solidFill>
              <a:srgbClr val="D4237A"/>
            </a:solidFill>
            <a:rou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n>
                <a:solidFill>
                  <a:srgbClr val="0070C0"/>
                </a:solidFill>
              </a:ln>
              <a:latin typeface="+mn-lt"/>
              <a:ea typeface="+mn-ea"/>
            </a:endParaRPr>
          </a:p>
        </p:txBody>
      </p:sp>
      <p:sp>
        <p:nvSpPr>
          <p:cNvPr id="58" name="Freeform 73"/>
          <p:cNvSpPr/>
          <p:nvPr/>
        </p:nvSpPr>
        <p:spPr bwMode="auto">
          <a:xfrm>
            <a:off x="5264202" y="3003831"/>
            <a:ext cx="540000" cy="65088"/>
          </a:xfrm>
          <a:custGeom>
            <a:avLst/>
            <a:gdLst>
              <a:gd name="T0" fmla="*/ 0 w 680"/>
              <a:gd name="T1" fmla="*/ 90 h 90"/>
              <a:gd name="T2" fmla="*/ 45 w 680"/>
              <a:gd name="T3" fmla="*/ 90 h 90"/>
              <a:gd name="T4" fmla="*/ 45 w 680"/>
              <a:gd name="T5" fmla="*/ 0 h 90"/>
              <a:gd name="T6" fmla="*/ 91 w 680"/>
              <a:gd name="T7" fmla="*/ 0 h 90"/>
              <a:gd name="T8" fmla="*/ 91 w 680"/>
              <a:gd name="T9" fmla="*/ 90 h 90"/>
              <a:gd name="T10" fmla="*/ 136 w 680"/>
              <a:gd name="T11" fmla="*/ 90 h 90"/>
              <a:gd name="T12" fmla="*/ 136 w 680"/>
              <a:gd name="T13" fmla="*/ 0 h 90"/>
              <a:gd name="T14" fmla="*/ 181 w 680"/>
              <a:gd name="T15" fmla="*/ 0 h 90"/>
              <a:gd name="T16" fmla="*/ 181 w 680"/>
              <a:gd name="T17" fmla="*/ 90 h 90"/>
              <a:gd name="T18" fmla="*/ 227 w 680"/>
              <a:gd name="T19" fmla="*/ 90 h 90"/>
              <a:gd name="T20" fmla="*/ 227 w 680"/>
              <a:gd name="T21" fmla="*/ 0 h 90"/>
              <a:gd name="T22" fmla="*/ 317 w 680"/>
              <a:gd name="T23" fmla="*/ 0 h 90"/>
              <a:gd name="T24" fmla="*/ 317 w 680"/>
              <a:gd name="T25" fmla="*/ 90 h 90"/>
              <a:gd name="T26" fmla="*/ 363 w 680"/>
              <a:gd name="T27" fmla="*/ 90 h 90"/>
              <a:gd name="T28" fmla="*/ 363 w 680"/>
              <a:gd name="T29" fmla="*/ 0 h 90"/>
              <a:gd name="T30" fmla="*/ 408 w 680"/>
              <a:gd name="T31" fmla="*/ 0 h 90"/>
              <a:gd name="T32" fmla="*/ 408 w 680"/>
              <a:gd name="T33" fmla="*/ 90 h 90"/>
              <a:gd name="T34" fmla="*/ 499 w 680"/>
              <a:gd name="T35" fmla="*/ 90 h 90"/>
              <a:gd name="T36" fmla="*/ 499 w 680"/>
              <a:gd name="T37" fmla="*/ 0 h 90"/>
              <a:gd name="T38" fmla="*/ 544 w 680"/>
              <a:gd name="T39" fmla="*/ 0 h 90"/>
              <a:gd name="T40" fmla="*/ 544 w 680"/>
              <a:gd name="T41" fmla="*/ 90 h 90"/>
              <a:gd name="T42" fmla="*/ 589 w 680"/>
              <a:gd name="T43" fmla="*/ 90 h 90"/>
              <a:gd name="T44" fmla="*/ 589 w 680"/>
              <a:gd name="T45" fmla="*/ 0 h 90"/>
              <a:gd name="T46" fmla="*/ 635 w 680"/>
              <a:gd name="T47" fmla="*/ 0 h 90"/>
              <a:gd name="T48" fmla="*/ 635 w 680"/>
              <a:gd name="T49" fmla="*/ 90 h 90"/>
              <a:gd name="T50" fmla="*/ 680 w 680"/>
              <a:gd name="T51" fmla="*/ 90 h 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680" h="90">
                <a:moveTo>
                  <a:pt x="0" y="90"/>
                </a:moveTo>
                <a:lnTo>
                  <a:pt x="45" y="90"/>
                </a:lnTo>
                <a:lnTo>
                  <a:pt x="45" y="0"/>
                </a:lnTo>
                <a:lnTo>
                  <a:pt x="91" y="0"/>
                </a:lnTo>
                <a:lnTo>
                  <a:pt x="91" y="90"/>
                </a:lnTo>
                <a:lnTo>
                  <a:pt x="136" y="90"/>
                </a:lnTo>
                <a:lnTo>
                  <a:pt x="136" y="0"/>
                </a:lnTo>
                <a:lnTo>
                  <a:pt x="181" y="0"/>
                </a:lnTo>
                <a:lnTo>
                  <a:pt x="181" y="90"/>
                </a:lnTo>
                <a:lnTo>
                  <a:pt x="227" y="90"/>
                </a:lnTo>
                <a:lnTo>
                  <a:pt x="227" y="0"/>
                </a:lnTo>
                <a:lnTo>
                  <a:pt x="317" y="0"/>
                </a:lnTo>
                <a:lnTo>
                  <a:pt x="317" y="90"/>
                </a:lnTo>
                <a:lnTo>
                  <a:pt x="363" y="90"/>
                </a:lnTo>
                <a:lnTo>
                  <a:pt x="363" y="0"/>
                </a:lnTo>
                <a:lnTo>
                  <a:pt x="408" y="0"/>
                </a:lnTo>
                <a:lnTo>
                  <a:pt x="408" y="90"/>
                </a:lnTo>
                <a:lnTo>
                  <a:pt x="499" y="90"/>
                </a:lnTo>
                <a:lnTo>
                  <a:pt x="499" y="0"/>
                </a:lnTo>
                <a:lnTo>
                  <a:pt x="544" y="0"/>
                </a:lnTo>
                <a:lnTo>
                  <a:pt x="544" y="90"/>
                </a:lnTo>
                <a:lnTo>
                  <a:pt x="589" y="90"/>
                </a:lnTo>
                <a:lnTo>
                  <a:pt x="589" y="0"/>
                </a:lnTo>
                <a:lnTo>
                  <a:pt x="635" y="0"/>
                </a:lnTo>
                <a:lnTo>
                  <a:pt x="635" y="90"/>
                </a:lnTo>
                <a:lnTo>
                  <a:pt x="680" y="90"/>
                </a:lnTo>
              </a:path>
            </a:pathLst>
          </a:custGeom>
          <a:noFill/>
          <a:ln w="9525" cmpd="sng">
            <a:solidFill>
              <a:srgbClr val="D4237A"/>
            </a:solidFill>
            <a:rou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n>
                <a:solidFill>
                  <a:srgbClr val="0070C0"/>
                </a:solidFill>
              </a:ln>
              <a:latin typeface="+mn-lt"/>
              <a:ea typeface="+mn-ea"/>
            </a:endParaRPr>
          </a:p>
        </p:txBody>
      </p:sp>
      <p:sp>
        <p:nvSpPr>
          <p:cNvPr id="63" name="Text Box 24"/>
          <p:cNvSpPr txBox="1">
            <a:spLocks noChangeArrowheads="1"/>
          </p:cNvSpPr>
          <p:nvPr/>
        </p:nvSpPr>
        <p:spPr bwMode="auto">
          <a:xfrm>
            <a:off x="2701139" y="2917892"/>
            <a:ext cx="268022" cy="230832"/>
          </a:xfrm>
          <a:prstGeom prst="rect">
            <a:avLst/>
          </a:prstGeom>
          <a:noFill/>
        </p:spPr>
        <p:txBody>
          <a:bodyPr wrap="none" rtlCol="0">
            <a:spAutoFit/>
          </a:bodyPr>
          <a:lstStyle>
            <a:defPPr>
              <a:defRPr lang="zh-CN"/>
            </a:defPPr>
            <a:lvl1pPr>
              <a:defRPr sz="900">
                <a:latin typeface="+mj-ea"/>
                <a:ea typeface="+mj-ea"/>
              </a:defRPr>
            </a:lvl1pPr>
          </a:lstStyle>
          <a:p>
            <a:r>
              <a:rPr lang="en-US" altLang="zh-CN" dirty="0"/>
              <a:t>C</a:t>
            </a:r>
          </a:p>
        </p:txBody>
      </p:sp>
      <p:sp>
        <p:nvSpPr>
          <p:cNvPr id="64" name="Text Box 24"/>
          <p:cNvSpPr txBox="1">
            <a:spLocks noChangeArrowheads="1"/>
          </p:cNvSpPr>
          <p:nvPr/>
        </p:nvSpPr>
        <p:spPr bwMode="auto">
          <a:xfrm>
            <a:off x="3767147" y="2917892"/>
            <a:ext cx="279244" cy="230832"/>
          </a:xfrm>
          <a:prstGeom prst="rect">
            <a:avLst/>
          </a:prstGeom>
          <a:noFill/>
        </p:spPr>
        <p:txBody>
          <a:bodyPr wrap="none" rtlCol="0">
            <a:spAutoFit/>
          </a:bodyPr>
          <a:lstStyle>
            <a:defPPr>
              <a:defRPr lang="zh-CN"/>
            </a:defPPr>
            <a:lvl1pPr>
              <a:defRPr sz="900">
                <a:latin typeface="+mj-ea"/>
                <a:ea typeface="+mj-ea"/>
              </a:defRPr>
            </a:lvl1pPr>
          </a:lstStyle>
          <a:p>
            <a:r>
              <a:rPr lang="en-US" altLang="zh-CN" dirty="0"/>
              <a:t>D</a:t>
            </a:r>
          </a:p>
        </p:txBody>
      </p:sp>
      <p:sp>
        <p:nvSpPr>
          <p:cNvPr id="65" name="Text Box 24"/>
          <p:cNvSpPr txBox="1">
            <a:spLocks noChangeArrowheads="1"/>
          </p:cNvSpPr>
          <p:nvPr/>
        </p:nvSpPr>
        <p:spPr bwMode="auto">
          <a:xfrm>
            <a:off x="4853995" y="2917892"/>
            <a:ext cx="248786" cy="230832"/>
          </a:xfrm>
          <a:prstGeom prst="rect">
            <a:avLst/>
          </a:prstGeom>
          <a:noFill/>
        </p:spPr>
        <p:txBody>
          <a:bodyPr wrap="none" rtlCol="0">
            <a:spAutoFit/>
          </a:bodyPr>
          <a:lstStyle>
            <a:defPPr>
              <a:defRPr lang="zh-CN"/>
            </a:defPPr>
            <a:lvl1pPr>
              <a:defRPr sz="900">
                <a:latin typeface="+mj-ea"/>
                <a:ea typeface="+mj-ea"/>
              </a:defRPr>
            </a:lvl1pPr>
          </a:lstStyle>
          <a:p>
            <a:r>
              <a:rPr lang="en-US" altLang="zh-CN" dirty="0"/>
              <a:t>E</a:t>
            </a:r>
          </a:p>
        </p:txBody>
      </p:sp>
      <p:sp>
        <p:nvSpPr>
          <p:cNvPr id="66" name="Text Box 24"/>
          <p:cNvSpPr txBox="1">
            <a:spLocks noChangeArrowheads="1"/>
          </p:cNvSpPr>
          <p:nvPr/>
        </p:nvSpPr>
        <p:spPr bwMode="auto">
          <a:xfrm>
            <a:off x="5927217" y="2917892"/>
            <a:ext cx="245580" cy="230832"/>
          </a:xfrm>
          <a:prstGeom prst="rect">
            <a:avLst/>
          </a:prstGeom>
          <a:noFill/>
        </p:spPr>
        <p:txBody>
          <a:bodyPr wrap="none" rtlCol="0">
            <a:spAutoFit/>
          </a:bodyPr>
          <a:lstStyle>
            <a:defPPr>
              <a:defRPr lang="zh-CN"/>
            </a:defPPr>
            <a:lvl1pPr>
              <a:defRPr sz="900">
                <a:latin typeface="+mj-ea"/>
                <a:ea typeface="+mj-ea"/>
              </a:defRPr>
            </a:lvl1pPr>
          </a:lstStyle>
          <a:p>
            <a:r>
              <a:rPr lang="en-US" altLang="zh-CN" dirty="0"/>
              <a:t>F</a:t>
            </a:r>
          </a:p>
        </p:txBody>
      </p:sp>
      <p:sp>
        <p:nvSpPr>
          <p:cNvPr id="67" name="Line 26"/>
          <p:cNvSpPr>
            <a:spLocks noChangeShapeType="1"/>
          </p:cNvSpPr>
          <p:nvPr/>
        </p:nvSpPr>
        <p:spPr bwMode="auto">
          <a:xfrm>
            <a:off x="1749796" y="3174934"/>
            <a:ext cx="5400000" cy="0"/>
          </a:xfrm>
          <a:prstGeom prst="line">
            <a:avLst/>
          </a:prstGeom>
          <a:noFill/>
          <a:ln w="12700">
            <a:solidFill>
              <a:schemeClr val="tx1"/>
            </a:solidFill>
            <a:prstDash val="dash"/>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n>
                <a:solidFill>
                  <a:srgbClr val="0070C0"/>
                </a:solidFill>
              </a:ln>
              <a:latin typeface="+mn-lt"/>
              <a:ea typeface="+mn-ea"/>
            </a:endParaRPr>
          </a:p>
        </p:txBody>
      </p:sp>
      <p:sp>
        <p:nvSpPr>
          <p:cNvPr id="4" name="立方体 3">
            <a:extLst>
              <a:ext uri="{FF2B5EF4-FFF2-40B4-BE49-F238E27FC236}">
                <a16:creationId xmlns:a16="http://schemas.microsoft.com/office/drawing/2014/main" id="{8A94D63A-C685-C789-0320-4AD3D88CE446}"/>
              </a:ext>
            </a:extLst>
          </p:cNvPr>
          <p:cNvSpPr/>
          <p:nvPr/>
        </p:nvSpPr>
        <p:spPr>
          <a:xfrm>
            <a:off x="2475150" y="3322141"/>
            <a:ext cx="720000" cy="286286"/>
          </a:xfrm>
          <a:prstGeom prst="cube">
            <a:avLst/>
          </a:prstGeom>
          <a:ln/>
        </p:spPr>
        <p:style>
          <a:lnRef idx="0">
            <a:schemeClr val="accent5"/>
          </a:lnRef>
          <a:fillRef idx="3">
            <a:schemeClr val="accent5"/>
          </a:fillRef>
          <a:effectRef idx="3">
            <a:schemeClr val="accent5"/>
          </a:effectRef>
          <a:fontRef idx="minor">
            <a:schemeClr val="lt1"/>
          </a:fontRef>
        </p:style>
        <p:txBody>
          <a:bodyPr wrap="none">
            <a:spAutoFit/>
          </a:bodyPr>
          <a:lstStyle/>
          <a:p>
            <a:pPr algn="ctr" fontAlgn="auto">
              <a:spcBef>
                <a:spcPts val="0"/>
              </a:spcBef>
              <a:spcAft>
                <a:spcPts val="0"/>
              </a:spcAft>
              <a:defRPr/>
            </a:pPr>
            <a:r>
              <a:rPr lang="zh-CN" altLang="en-US" sz="800" dirty="0"/>
              <a:t>交换机</a:t>
            </a:r>
          </a:p>
        </p:txBody>
      </p:sp>
      <p:pic>
        <p:nvPicPr>
          <p:cNvPr id="6" name="图片 5">
            <a:extLst>
              <a:ext uri="{FF2B5EF4-FFF2-40B4-BE49-F238E27FC236}">
                <a16:creationId xmlns:a16="http://schemas.microsoft.com/office/drawing/2014/main" id="{00D40AE6-44A4-C7DC-5415-D71D3BDBAF0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100920" y="3344909"/>
            <a:ext cx="304800" cy="304800"/>
          </a:xfrm>
          <a:prstGeom prst="rect">
            <a:avLst/>
          </a:prstGeom>
        </p:spPr>
      </p:pic>
      <p:pic>
        <p:nvPicPr>
          <p:cNvPr id="9" name="图片 8">
            <a:extLst>
              <a:ext uri="{FF2B5EF4-FFF2-40B4-BE49-F238E27FC236}">
                <a16:creationId xmlns:a16="http://schemas.microsoft.com/office/drawing/2014/main" id="{F029053B-E175-63F0-E32E-FD3B1762558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510793" y="3353098"/>
            <a:ext cx="304800" cy="304800"/>
          </a:xfrm>
          <a:prstGeom prst="rect">
            <a:avLst/>
          </a:prstGeom>
        </p:spPr>
      </p:pic>
      <p:sp>
        <p:nvSpPr>
          <p:cNvPr id="11" name="立方体 10">
            <a:extLst>
              <a:ext uri="{FF2B5EF4-FFF2-40B4-BE49-F238E27FC236}">
                <a16:creationId xmlns:a16="http://schemas.microsoft.com/office/drawing/2014/main" id="{E021EA46-CDB8-7714-2AB8-0C8395159DD5}"/>
              </a:ext>
            </a:extLst>
          </p:cNvPr>
          <p:cNvSpPr/>
          <p:nvPr/>
        </p:nvSpPr>
        <p:spPr>
          <a:xfrm>
            <a:off x="3546769" y="3322141"/>
            <a:ext cx="720000" cy="286286"/>
          </a:xfrm>
          <a:prstGeom prst="cube">
            <a:avLst/>
          </a:prstGeom>
          <a:ln/>
        </p:spPr>
        <p:style>
          <a:lnRef idx="0">
            <a:schemeClr val="accent5"/>
          </a:lnRef>
          <a:fillRef idx="3">
            <a:schemeClr val="accent5"/>
          </a:fillRef>
          <a:effectRef idx="3">
            <a:schemeClr val="accent5"/>
          </a:effectRef>
          <a:fontRef idx="minor">
            <a:schemeClr val="lt1"/>
          </a:fontRef>
        </p:style>
        <p:txBody>
          <a:bodyPr wrap="none">
            <a:spAutoFit/>
          </a:bodyPr>
          <a:lstStyle/>
          <a:p>
            <a:pPr algn="ctr" fontAlgn="auto">
              <a:spcBef>
                <a:spcPts val="0"/>
              </a:spcBef>
              <a:spcAft>
                <a:spcPts val="0"/>
              </a:spcAft>
              <a:defRPr/>
            </a:pPr>
            <a:r>
              <a:rPr lang="zh-CN" altLang="en-US" sz="800" dirty="0"/>
              <a:t>交换机</a:t>
            </a:r>
          </a:p>
        </p:txBody>
      </p:sp>
      <p:sp>
        <p:nvSpPr>
          <p:cNvPr id="13" name="立方体 12">
            <a:extLst>
              <a:ext uri="{FF2B5EF4-FFF2-40B4-BE49-F238E27FC236}">
                <a16:creationId xmlns:a16="http://schemas.microsoft.com/office/drawing/2014/main" id="{1D54A589-97D1-3A3E-D5BA-581A4A290573}"/>
              </a:ext>
            </a:extLst>
          </p:cNvPr>
          <p:cNvSpPr/>
          <p:nvPr/>
        </p:nvSpPr>
        <p:spPr>
          <a:xfrm>
            <a:off x="4618388" y="3322141"/>
            <a:ext cx="720000" cy="286286"/>
          </a:xfrm>
          <a:prstGeom prst="cube">
            <a:avLst/>
          </a:prstGeom>
          <a:ln/>
        </p:spPr>
        <p:style>
          <a:lnRef idx="0">
            <a:schemeClr val="accent5"/>
          </a:lnRef>
          <a:fillRef idx="3">
            <a:schemeClr val="accent5"/>
          </a:fillRef>
          <a:effectRef idx="3">
            <a:schemeClr val="accent5"/>
          </a:effectRef>
          <a:fontRef idx="minor">
            <a:schemeClr val="lt1"/>
          </a:fontRef>
        </p:style>
        <p:txBody>
          <a:bodyPr wrap="none">
            <a:spAutoFit/>
          </a:bodyPr>
          <a:lstStyle/>
          <a:p>
            <a:pPr algn="ctr" fontAlgn="auto">
              <a:spcBef>
                <a:spcPts val="0"/>
              </a:spcBef>
              <a:spcAft>
                <a:spcPts val="0"/>
              </a:spcAft>
              <a:defRPr/>
            </a:pPr>
            <a:r>
              <a:rPr lang="zh-CN" altLang="en-US" sz="800" dirty="0"/>
              <a:t>交换机</a:t>
            </a:r>
          </a:p>
        </p:txBody>
      </p:sp>
      <p:sp>
        <p:nvSpPr>
          <p:cNvPr id="15" name="立方体 14">
            <a:extLst>
              <a:ext uri="{FF2B5EF4-FFF2-40B4-BE49-F238E27FC236}">
                <a16:creationId xmlns:a16="http://schemas.microsoft.com/office/drawing/2014/main" id="{40B3E368-584F-A6E5-CF14-6E97150F39A1}"/>
              </a:ext>
            </a:extLst>
          </p:cNvPr>
          <p:cNvSpPr/>
          <p:nvPr/>
        </p:nvSpPr>
        <p:spPr>
          <a:xfrm>
            <a:off x="5690007" y="3322141"/>
            <a:ext cx="720000" cy="286286"/>
          </a:xfrm>
          <a:prstGeom prst="cube">
            <a:avLst/>
          </a:prstGeom>
          <a:ln/>
        </p:spPr>
        <p:style>
          <a:lnRef idx="0">
            <a:schemeClr val="accent5"/>
          </a:lnRef>
          <a:fillRef idx="3">
            <a:schemeClr val="accent5"/>
          </a:fillRef>
          <a:effectRef idx="3">
            <a:schemeClr val="accent5"/>
          </a:effectRef>
          <a:fontRef idx="minor">
            <a:schemeClr val="lt1"/>
          </a:fontRef>
        </p:style>
        <p:txBody>
          <a:bodyPr wrap="none">
            <a:spAutoFit/>
          </a:bodyPr>
          <a:lstStyle/>
          <a:p>
            <a:pPr algn="ctr" fontAlgn="auto">
              <a:spcBef>
                <a:spcPts val="0"/>
              </a:spcBef>
              <a:spcAft>
                <a:spcPts val="0"/>
              </a:spcAft>
              <a:defRPr/>
            </a:pPr>
            <a:r>
              <a:rPr lang="zh-CN" altLang="en-US" sz="800" dirty="0"/>
              <a:t>交换机</a:t>
            </a:r>
          </a:p>
        </p:txBody>
      </p:sp>
      <p:cxnSp>
        <p:nvCxnSpPr>
          <p:cNvPr id="33" name="直接连接符 32">
            <a:extLst>
              <a:ext uri="{FF2B5EF4-FFF2-40B4-BE49-F238E27FC236}">
                <a16:creationId xmlns:a16="http://schemas.microsoft.com/office/drawing/2014/main" id="{710C0520-B0EA-E95E-2970-BDC359889024}"/>
              </a:ext>
            </a:extLst>
          </p:cNvPr>
          <p:cNvCxnSpPr>
            <a:cxnSpLocks/>
            <a:stCxn id="36" idx="3"/>
          </p:cNvCxnSpPr>
          <p:nvPr/>
        </p:nvCxnSpPr>
        <p:spPr>
          <a:xfrm flipV="1">
            <a:off x="4745866" y="3489819"/>
            <a:ext cx="708447" cy="685417"/>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4" name="直接连接符 33">
            <a:extLst>
              <a:ext uri="{FF2B5EF4-FFF2-40B4-BE49-F238E27FC236}">
                <a16:creationId xmlns:a16="http://schemas.microsoft.com/office/drawing/2014/main" id="{EA48245E-5D63-496A-5B06-E523D1F85A03}"/>
              </a:ext>
            </a:extLst>
          </p:cNvPr>
          <p:cNvCxnSpPr>
            <a:cxnSpLocks/>
            <a:stCxn id="36" idx="0"/>
          </p:cNvCxnSpPr>
          <p:nvPr/>
        </p:nvCxnSpPr>
        <p:spPr>
          <a:xfrm flipV="1">
            <a:off x="4480409" y="3531006"/>
            <a:ext cx="0" cy="528814"/>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60" name="直接连接符 59">
            <a:extLst>
              <a:ext uri="{FF2B5EF4-FFF2-40B4-BE49-F238E27FC236}">
                <a16:creationId xmlns:a16="http://schemas.microsoft.com/office/drawing/2014/main" id="{D2B061CB-3FE9-FC4A-E9F8-AC2E1B85D8F1}"/>
              </a:ext>
            </a:extLst>
          </p:cNvPr>
          <p:cNvCxnSpPr>
            <a:cxnSpLocks/>
            <a:stCxn id="36" idx="1"/>
          </p:cNvCxnSpPr>
          <p:nvPr/>
        </p:nvCxnSpPr>
        <p:spPr>
          <a:xfrm flipH="1" flipV="1">
            <a:off x="3317549" y="3489819"/>
            <a:ext cx="897402" cy="685417"/>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71" name="直接连接符 70">
            <a:extLst>
              <a:ext uri="{FF2B5EF4-FFF2-40B4-BE49-F238E27FC236}">
                <a16:creationId xmlns:a16="http://schemas.microsoft.com/office/drawing/2014/main" id="{036B83B8-49C6-9834-4F9F-0ED9237F49F9}"/>
              </a:ext>
            </a:extLst>
          </p:cNvPr>
          <p:cNvCxnSpPr>
            <a:cxnSpLocks/>
          </p:cNvCxnSpPr>
          <p:nvPr/>
        </p:nvCxnSpPr>
        <p:spPr>
          <a:xfrm flipH="1" flipV="1">
            <a:off x="6901982" y="3497428"/>
            <a:ext cx="3938" cy="360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82" name="直接连接符 81">
            <a:extLst>
              <a:ext uri="{FF2B5EF4-FFF2-40B4-BE49-F238E27FC236}">
                <a16:creationId xmlns:a16="http://schemas.microsoft.com/office/drawing/2014/main" id="{A7E0B941-6F21-E03B-99F4-5F47808D2890}"/>
              </a:ext>
            </a:extLst>
          </p:cNvPr>
          <p:cNvCxnSpPr>
            <a:cxnSpLocks/>
          </p:cNvCxnSpPr>
          <p:nvPr/>
        </p:nvCxnSpPr>
        <p:spPr>
          <a:xfrm flipH="1" flipV="1">
            <a:off x="2044612" y="3497428"/>
            <a:ext cx="1970" cy="360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84" name="直接连接符 83">
            <a:extLst>
              <a:ext uri="{FF2B5EF4-FFF2-40B4-BE49-F238E27FC236}">
                <a16:creationId xmlns:a16="http://schemas.microsoft.com/office/drawing/2014/main" id="{75F71ECA-351F-0A1E-23C7-60F0208BEDA6}"/>
              </a:ext>
            </a:extLst>
          </p:cNvPr>
          <p:cNvCxnSpPr>
            <a:cxnSpLocks/>
            <a:stCxn id="4" idx="2"/>
            <a:endCxn id="9" idx="3"/>
          </p:cNvCxnSpPr>
          <p:nvPr/>
        </p:nvCxnSpPr>
        <p:spPr>
          <a:xfrm flipH="1">
            <a:off x="1815593" y="3501070"/>
            <a:ext cx="659557" cy="4428"/>
          </a:xfrm>
          <a:prstGeom prst="line">
            <a:avLst/>
          </a:prstGeom>
          <a:ln>
            <a:solidFill>
              <a:schemeClr val="tx1"/>
            </a:solidFill>
            <a:prstDash val="solid"/>
          </a:ln>
        </p:spPr>
        <p:style>
          <a:lnRef idx="1">
            <a:schemeClr val="accent1"/>
          </a:lnRef>
          <a:fillRef idx="0">
            <a:schemeClr val="accent1"/>
          </a:fillRef>
          <a:effectRef idx="0">
            <a:schemeClr val="accent1"/>
          </a:effectRef>
          <a:fontRef idx="minor">
            <a:schemeClr val="tx1"/>
          </a:fontRef>
        </p:style>
      </p:cxnSp>
      <p:cxnSp>
        <p:nvCxnSpPr>
          <p:cNvPr id="89" name="直接连接符 88">
            <a:extLst>
              <a:ext uri="{FF2B5EF4-FFF2-40B4-BE49-F238E27FC236}">
                <a16:creationId xmlns:a16="http://schemas.microsoft.com/office/drawing/2014/main" id="{DD559E8A-1BA8-AD24-8CE4-2B5462E9DBC6}"/>
              </a:ext>
            </a:extLst>
          </p:cNvPr>
          <p:cNvCxnSpPr>
            <a:cxnSpLocks/>
            <a:stCxn id="6" idx="1"/>
            <a:endCxn id="15" idx="4"/>
          </p:cNvCxnSpPr>
          <p:nvPr/>
        </p:nvCxnSpPr>
        <p:spPr>
          <a:xfrm flipH="1">
            <a:off x="6338436" y="3497309"/>
            <a:ext cx="762484" cy="3761"/>
          </a:xfrm>
          <a:prstGeom prst="line">
            <a:avLst/>
          </a:prstGeom>
          <a:ln>
            <a:solidFill>
              <a:schemeClr val="tx1"/>
            </a:solidFill>
            <a:prstDash val="soli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20085089"/>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1000"/>
                                  </p:stCondLst>
                                  <p:childTnLst>
                                    <p:set>
                                      <p:cBhvr>
                                        <p:cTn id="6" dur="1" fill="hold">
                                          <p:stCondLst>
                                            <p:cond delay="0"/>
                                          </p:stCondLst>
                                        </p:cTn>
                                        <p:tgtEl>
                                          <p:spTgt spid="67"/>
                                        </p:tgtEl>
                                        <p:attrNameLst>
                                          <p:attrName>style.visibility</p:attrName>
                                        </p:attrNameLst>
                                      </p:cBhvr>
                                      <p:to>
                                        <p:strVal val="visible"/>
                                      </p:to>
                                    </p:set>
                                    <p:animEffect transition="in" filter="wipe(left)">
                                      <p:cBhvr>
                                        <p:cTn id="7" dur="4000"/>
                                        <p:tgtEl>
                                          <p:spTgt spid="67"/>
                                        </p:tgtEl>
                                      </p:cBhvr>
                                    </p:animEffect>
                                  </p:childTnLst>
                                </p:cTn>
                              </p:par>
                            </p:childTnLst>
                          </p:cTn>
                        </p:par>
                        <p:par>
                          <p:cTn id="8" fill="hold">
                            <p:stCondLst>
                              <p:cond delay="5000"/>
                            </p:stCondLst>
                            <p:childTnLst>
                              <p:par>
                                <p:cTn id="9" presetID="35" presetClass="emph" presetSubtype="0" repeatCount="5000" fill="hold" grpId="1" nodeType="afterEffect">
                                  <p:stCondLst>
                                    <p:cond delay="0"/>
                                  </p:stCondLst>
                                  <p:childTnLst>
                                    <p:anim calcmode="discrete" valueType="str">
                                      <p:cBhvr>
                                        <p:cTn id="10" dur="1000" fill="hold"/>
                                        <p:tgtEl>
                                          <p:spTgt spid="67"/>
                                        </p:tgtEl>
                                        <p:attrNameLst>
                                          <p:attrName>style.visibility</p:attrName>
                                        </p:attrNameLst>
                                      </p:cBhvr>
                                      <p:tavLst>
                                        <p:tav tm="0">
                                          <p:val>
                                            <p:strVal val="hidden"/>
                                          </p:val>
                                        </p:tav>
                                        <p:tav tm="50000">
                                          <p:val>
                                            <p:strVal val="visible"/>
                                          </p:val>
                                        </p:tav>
                                      </p:tavLst>
                                    </p:anim>
                                  </p:childTnLst>
                                </p:cTn>
                              </p:par>
                            </p:childTnLst>
                          </p:cTn>
                        </p:par>
                        <p:par>
                          <p:cTn id="11" fill="hold">
                            <p:stCondLst>
                              <p:cond delay="10000"/>
                            </p:stCondLst>
                            <p:childTnLst>
                              <p:par>
                                <p:cTn id="12" presetID="22" presetClass="exit" presetSubtype="2" fill="hold" grpId="2" nodeType="afterEffect">
                                  <p:stCondLst>
                                    <p:cond delay="0"/>
                                  </p:stCondLst>
                                  <p:childTnLst>
                                    <p:animEffect transition="out" filter="wipe(right)">
                                      <p:cBhvr>
                                        <p:cTn id="13" dur="3000"/>
                                        <p:tgtEl>
                                          <p:spTgt spid="67"/>
                                        </p:tgtEl>
                                      </p:cBhvr>
                                    </p:animEffect>
                                    <p:set>
                                      <p:cBhvr>
                                        <p:cTn id="14" dur="1" fill="hold">
                                          <p:stCondLst>
                                            <p:cond delay="2999"/>
                                          </p:stCondLst>
                                        </p:cTn>
                                        <p:tgtEl>
                                          <p:spTgt spid="67"/>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7" grpId="0" animBg="1"/>
      <p:bldP spid="67" grpId="1" animBg="1"/>
      <p:bldP spid="67" grpId="2" animBg="1"/>
    </p:bld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 name="标题 64">
            <a:extLst>
              <a:ext uri="{FF2B5EF4-FFF2-40B4-BE49-F238E27FC236}">
                <a16:creationId xmlns:a16="http://schemas.microsoft.com/office/drawing/2014/main" id="{AA520517-F777-D96E-F9D4-693032BF504E}"/>
              </a:ext>
            </a:extLst>
          </p:cNvPr>
          <p:cNvSpPr>
            <a:spLocks noGrp="1"/>
          </p:cNvSpPr>
          <p:nvPr>
            <p:ph type="title"/>
          </p:nvPr>
        </p:nvSpPr>
        <p:spPr>
          <a:xfrm>
            <a:off x="612000" y="144000"/>
            <a:ext cx="7920000" cy="341632"/>
          </a:xfrm>
        </p:spPr>
        <p:txBody>
          <a:bodyPr/>
          <a:lstStyle/>
          <a:p>
            <a:r>
              <a:rPr lang="en-US" altLang="zh-CN" dirty="0"/>
              <a:t>1. </a:t>
            </a:r>
            <a:r>
              <a:rPr lang="zh-CN" altLang="en-US" dirty="0"/>
              <a:t>电路交换 </a:t>
            </a:r>
            <a:r>
              <a:rPr lang="en-US" altLang="zh-CN" dirty="0"/>
              <a:t>Circuit Switching</a:t>
            </a:r>
            <a:endParaRPr lang="zh-CN" altLang="en-US" dirty="0"/>
          </a:p>
        </p:txBody>
      </p:sp>
      <p:sp>
        <p:nvSpPr>
          <p:cNvPr id="4" name="内容占位符 3">
            <a:extLst>
              <a:ext uri="{FF2B5EF4-FFF2-40B4-BE49-F238E27FC236}">
                <a16:creationId xmlns:a16="http://schemas.microsoft.com/office/drawing/2014/main" id="{969A3BA3-5EE1-75F8-EF61-427F81F18F85}"/>
              </a:ext>
            </a:extLst>
          </p:cNvPr>
          <p:cNvSpPr>
            <a:spLocks noGrp="1"/>
          </p:cNvSpPr>
          <p:nvPr>
            <p:ph sz="quarter" idx="10"/>
          </p:nvPr>
        </p:nvSpPr>
        <p:spPr>
          <a:xfrm>
            <a:off x="612000" y="899999"/>
            <a:ext cx="7920000" cy="3780000"/>
          </a:xfrm>
        </p:spPr>
        <p:txBody>
          <a:bodyPr/>
          <a:lstStyle/>
          <a:p>
            <a:r>
              <a:rPr lang="zh-CN" altLang="en-US" dirty="0"/>
              <a:t>特点</a:t>
            </a:r>
            <a:endParaRPr lang="en-US" altLang="zh-CN" dirty="0"/>
          </a:p>
          <a:p>
            <a:pPr lvl="1"/>
            <a:r>
              <a:rPr lang="zh-CN" altLang="en-US" dirty="0"/>
              <a:t>资源独占：通话的两个用户始终占用端到端的通信资源</a:t>
            </a:r>
            <a:endParaRPr lang="en-US" altLang="zh-CN" dirty="0"/>
          </a:p>
          <a:p>
            <a:pPr lvl="1"/>
            <a:r>
              <a:rPr lang="zh-CN" altLang="en-US" dirty="0"/>
              <a:t>资源利用率很低：计算机数据具有突发性，这导致在传送数据时，真正用来传送数据的时间往往不到 </a:t>
            </a:r>
            <a:r>
              <a:rPr lang="en-US" altLang="zh-CN" dirty="0"/>
              <a:t>10%</a:t>
            </a:r>
            <a:r>
              <a:rPr lang="zh-CN" altLang="en-US" dirty="0"/>
              <a:t>，甚至不到 </a:t>
            </a:r>
            <a:r>
              <a:rPr lang="en-US" altLang="zh-CN" dirty="0"/>
              <a:t>1%</a:t>
            </a:r>
            <a:r>
              <a:rPr lang="zh-CN" altLang="en-US" dirty="0"/>
              <a:t>；通信线路资源在绝大部分时间里都是空闲的</a:t>
            </a:r>
          </a:p>
        </p:txBody>
      </p:sp>
    </p:spTree>
    <p:extLst>
      <p:ext uri="{BB962C8B-B14F-4D97-AF65-F5344CB8AC3E}">
        <p14:creationId xmlns:p14="http://schemas.microsoft.com/office/powerpoint/2010/main" val="694535709"/>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0E277E-F134-93C7-C88C-6004C53305A3}"/>
            </a:ext>
          </a:extLst>
        </p:cNvPr>
        <p:cNvGrpSpPr/>
        <p:nvPr/>
      </p:nvGrpSpPr>
      <p:grpSpPr>
        <a:xfrm>
          <a:off x="0" y="0"/>
          <a:ext cx="0" cy="0"/>
          <a:chOff x="0" y="0"/>
          <a:chExt cx="0" cy="0"/>
        </a:xfrm>
      </p:grpSpPr>
      <p:sp>
        <p:nvSpPr>
          <p:cNvPr id="8" name="标题 7">
            <a:extLst>
              <a:ext uri="{FF2B5EF4-FFF2-40B4-BE49-F238E27FC236}">
                <a16:creationId xmlns:a16="http://schemas.microsoft.com/office/drawing/2014/main" id="{2F4D2300-AAED-55BD-6AB9-0D190A714D94}"/>
              </a:ext>
            </a:extLst>
          </p:cNvPr>
          <p:cNvSpPr>
            <a:spLocks noGrp="1"/>
          </p:cNvSpPr>
          <p:nvPr>
            <p:ph type="title"/>
          </p:nvPr>
        </p:nvSpPr>
        <p:spPr>
          <a:xfrm>
            <a:off x="612000" y="144000"/>
            <a:ext cx="7920000" cy="341632"/>
          </a:xfrm>
        </p:spPr>
        <p:txBody>
          <a:bodyPr/>
          <a:lstStyle/>
          <a:p>
            <a:r>
              <a:rPr lang="en-US" altLang="zh-CN" dirty="0"/>
              <a:t>2. </a:t>
            </a:r>
            <a:r>
              <a:rPr lang="zh-CN" altLang="en-US" dirty="0"/>
              <a:t>分组交换 </a:t>
            </a:r>
            <a:r>
              <a:rPr lang="en-US" altLang="zh-CN" dirty="0"/>
              <a:t>Packet</a:t>
            </a:r>
            <a:r>
              <a:rPr lang="zh-CN" altLang="en-US" dirty="0"/>
              <a:t> </a:t>
            </a:r>
            <a:r>
              <a:rPr lang="en-US" altLang="zh-CN" dirty="0"/>
              <a:t>Switching</a:t>
            </a:r>
            <a:endParaRPr lang="zh-CN" altLang="en-US" dirty="0"/>
          </a:p>
        </p:txBody>
      </p:sp>
      <p:sp>
        <p:nvSpPr>
          <p:cNvPr id="2" name="内容占位符 1">
            <a:extLst>
              <a:ext uri="{FF2B5EF4-FFF2-40B4-BE49-F238E27FC236}">
                <a16:creationId xmlns:a16="http://schemas.microsoft.com/office/drawing/2014/main" id="{417D5A59-B111-D8F9-B9D4-78882EDC3AB8}"/>
              </a:ext>
            </a:extLst>
          </p:cNvPr>
          <p:cNvSpPr>
            <a:spLocks noGrp="1"/>
          </p:cNvSpPr>
          <p:nvPr>
            <p:ph sz="quarter" idx="10"/>
          </p:nvPr>
        </p:nvSpPr>
        <p:spPr>
          <a:xfrm>
            <a:off x="612000" y="899999"/>
            <a:ext cx="7920000" cy="3780000"/>
          </a:xfrm>
        </p:spPr>
        <p:txBody>
          <a:bodyPr/>
          <a:lstStyle/>
          <a:p>
            <a:r>
              <a:rPr lang="zh-CN" altLang="en-US" dirty="0"/>
              <a:t>分组交换以分组作为数据传输单元</a:t>
            </a:r>
            <a:endParaRPr lang="en-US" altLang="zh-CN" dirty="0"/>
          </a:p>
          <a:p>
            <a:r>
              <a:rPr lang="zh-CN" altLang="en-US" dirty="0"/>
              <a:t>发送前，先把较长的报文划分成更小的等长数据段</a:t>
            </a:r>
            <a:endParaRPr lang="en-US" altLang="zh-CN" dirty="0"/>
          </a:p>
          <a:p>
            <a:pPr lvl="1"/>
            <a:endParaRPr lang="zh-CN" altLang="en-US" dirty="0"/>
          </a:p>
          <a:p>
            <a:endParaRPr lang="zh-CN" altLang="en-US" dirty="0"/>
          </a:p>
        </p:txBody>
      </p:sp>
      <p:sp>
        <p:nvSpPr>
          <p:cNvPr id="3" name="Line 8">
            <a:extLst>
              <a:ext uri="{FF2B5EF4-FFF2-40B4-BE49-F238E27FC236}">
                <a16:creationId xmlns:a16="http://schemas.microsoft.com/office/drawing/2014/main" id="{9B98B9C8-897B-1735-CC7C-7FC3B1670C34}"/>
              </a:ext>
            </a:extLst>
          </p:cNvPr>
          <p:cNvSpPr>
            <a:spLocks noChangeShapeType="1"/>
          </p:cNvSpPr>
          <p:nvPr/>
        </p:nvSpPr>
        <p:spPr bwMode="auto">
          <a:xfrm>
            <a:off x="1872000" y="2208938"/>
            <a:ext cx="5400000" cy="0"/>
          </a:xfrm>
          <a:prstGeom prst="line">
            <a:avLst/>
          </a:prstGeom>
          <a:noFill/>
          <a:ln w="28575">
            <a:solidFill>
              <a:srgbClr val="00CC00"/>
            </a:solidFill>
            <a:round/>
            <a:headEnd type="triangle" w="sm" len="lg"/>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useBgFill="1">
        <p:nvSpPr>
          <p:cNvPr id="7" name="Text Box 9">
            <a:extLst>
              <a:ext uri="{FF2B5EF4-FFF2-40B4-BE49-F238E27FC236}">
                <a16:creationId xmlns:a16="http://schemas.microsoft.com/office/drawing/2014/main" id="{A79AEF01-784D-BB35-D3DA-E519F6DFEF4B}"/>
              </a:ext>
            </a:extLst>
          </p:cNvPr>
          <p:cNvSpPr txBox="1">
            <a:spLocks noChangeArrowheads="1"/>
          </p:cNvSpPr>
          <p:nvPr/>
        </p:nvSpPr>
        <p:spPr bwMode="auto">
          <a:xfrm>
            <a:off x="3900569" y="2070439"/>
            <a:ext cx="1342863" cy="276999"/>
          </a:xfrm>
          <a:prstGeom prst="rect">
            <a:avLst/>
          </a:prstGeom>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zh-CN"/>
            </a:defPPr>
            <a:lvl1pPr algn="ctr"/>
          </a:lstStyle>
          <a:p>
            <a:r>
              <a:rPr lang="zh-CN" altLang="en-US" sz="1200" dirty="0"/>
              <a:t>报文 </a:t>
            </a:r>
            <a:r>
              <a:rPr lang="en-US" altLang="zh-CN" sz="1200" dirty="0"/>
              <a:t>Packet</a:t>
            </a:r>
            <a:endParaRPr lang="zh-CN" altLang="en-US" sz="1200" dirty="0"/>
          </a:p>
        </p:txBody>
      </p:sp>
      <p:cxnSp>
        <p:nvCxnSpPr>
          <p:cNvPr id="9" name="直接连接符 10">
            <a:extLst>
              <a:ext uri="{FF2B5EF4-FFF2-40B4-BE49-F238E27FC236}">
                <a16:creationId xmlns:a16="http://schemas.microsoft.com/office/drawing/2014/main" id="{5D9A3E82-7F85-28AC-E346-0107F50FE51E}"/>
              </a:ext>
            </a:extLst>
          </p:cNvPr>
          <p:cNvCxnSpPr>
            <a:cxnSpLocks noChangeShapeType="1"/>
          </p:cNvCxnSpPr>
          <p:nvPr/>
        </p:nvCxnSpPr>
        <p:spPr bwMode="auto">
          <a:xfrm>
            <a:off x="7272000" y="2028938"/>
            <a:ext cx="0" cy="360000"/>
          </a:xfrm>
          <a:prstGeom prst="line">
            <a:avLst/>
          </a:prstGeom>
          <a:solidFill>
            <a:srgbClr val="CDF3CD"/>
          </a:solidFill>
          <a:ln w="19050">
            <a:solidFill>
              <a:srgbClr val="00CC00"/>
            </a:solidFill>
            <a:miter lim="800000"/>
          </a:ln>
        </p:spPr>
      </p:cxnSp>
      <p:cxnSp>
        <p:nvCxnSpPr>
          <p:cNvPr id="12" name="直接连接符 11">
            <a:extLst>
              <a:ext uri="{FF2B5EF4-FFF2-40B4-BE49-F238E27FC236}">
                <a16:creationId xmlns:a16="http://schemas.microsoft.com/office/drawing/2014/main" id="{035D4F5B-7C06-E6F6-2821-98F38A917B67}"/>
              </a:ext>
            </a:extLst>
          </p:cNvPr>
          <p:cNvCxnSpPr>
            <a:cxnSpLocks noChangeShapeType="1"/>
          </p:cNvCxnSpPr>
          <p:nvPr/>
        </p:nvCxnSpPr>
        <p:spPr bwMode="auto">
          <a:xfrm>
            <a:off x="1872000" y="2028938"/>
            <a:ext cx="0" cy="360000"/>
          </a:xfrm>
          <a:prstGeom prst="line">
            <a:avLst/>
          </a:prstGeom>
          <a:solidFill>
            <a:srgbClr val="CDF3CD"/>
          </a:solidFill>
          <a:ln w="19050">
            <a:solidFill>
              <a:srgbClr val="00CC00"/>
            </a:solidFill>
            <a:miter lim="800000"/>
          </a:ln>
        </p:spPr>
      </p:cxnSp>
      <p:sp>
        <p:nvSpPr>
          <p:cNvPr id="13" name="Rectangle 74">
            <a:extLst>
              <a:ext uri="{FF2B5EF4-FFF2-40B4-BE49-F238E27FC236}">
                <a16:creationId xmlns:a16="http://schemas.microsoft.com/office/drawing/2014/main" id="{45F1AAEB-BB43-44D8-D79D-BADE56BB4DE7}"/>
              </a:ext>
            </a:extLst>
          </p:cNvPr>
          <p:cNvSpPr>
            <a:spLocks noChangeArrowheads="1"/>
          </p:cNvSpPr>
          <p:nvPr/>
        </p:nvSpPr>
        <p:spPr bwMode="auto">
          <a:xfrm>
            <a:off x="1872000" y="2464464"/>
            <a:ext cx="5400000" cy="360000"/>
          </a:xfrm>
          <a:prstGeom prst="rect">
            <a:avLst/>
          </a:prstGeom>
          <a:solidFill>
            <a:srgbClr val="CDF3CD"/>
          </a:solidFill>
          <a:ln w="19050">
            <a:solidFill>
              <a:srgbClr val="00CC00"/>
            </a:solidFill>
            <a:miter lim="800000"/>
          </a:ln>
        </p:spPr>
        <p:txBody>
          <a:bodyPr wrap="none" anchor="ctr"/>
          <a:lstStyle/>
          <a:p>
            <a:pPr algn="ctr"/>
            <a:r>
              <a:rPr lang="zh-CN" altLang="en-US" sz="1200" dirty="0"/>
              <a:t>数据 </a:t>
            </a:r>
            <a:r>
              <a:rPr lang="en-US" altLang="zh-CN" sz="1200" dirty="0"/>
              <a:t>Data                        </a:t>
            </a:r>
            <a:r>
              <a:rPr lang="zh-CN" altLang="en-US" sz="1200" dirty="0"/>
              <a:t>数据 </a:t>
            </a:r>
            <a:r>
              <a:rPr lang="en-US" altLang="zh-CN" sz="1200" dirty="0"/>
              <a:t>Data                           </a:t>
            </a:r>
            <a:r>
              <a:rPr lang="zh-CN" altLang="en-US" sz="1200" dirty="0"/>
              <a:t>数据 </a:t>
            </a:r>
            <a:r>
              <a:rPr lang="en-US" altLang="zh-CN" sz="1200" dirty="0"/>
              <a:t>Data</a:t>
            </a:r>
          </a:p>
        </p:txBody>
      </p:sp>
      <p:cxnSp>
        <p:nvCxnSpPr>
          <p:cNvPr id="14" name="直接连接符 10">
            <a:extLst>
              <a:ext uri="{FF2B5EF4-FFF2-40B4-BE49-F238E27FC236}">
                <a16:creationId xmlns:a16="http://schemas.microsoft.com/office/drawing/2014/main" id="{6ED978D8-704E-80D5-4F68-359C4C2C60FA}"/>
              </a:ext>
            </a:extLst>
          </p:cNvPr>
          <p:cNvCxnSpPr>
            <a:cxnSpLocks noChangeShapeType="1"/>
          </p:cNvCxnSpPr>
          <p:nvPr/>
        </p:nvCxnSpPr>
        <p:spPr bwMode="auto">
          <a:xfrm>
            <a:off x="3672000" y="2464464"/>
            <a:ext cx="0" cy="360000"/>
          </a:xfrm>
          <a:prstGeom prst="line">
            <a:avLst/>
          </a:prstGeom>
          <a:solidFill>
            <a:srgbClr val="CDF3CD"/>
          </a:solidFill>
          <a:ln w="19050">
            <a:solidFill>
              <a:srgbClr val="00CC00"/>
            </a:solidFill>
            <a:miter lim="800000"/>
          </a:ln>
        </p:spPr>
      </p:cxnSp>
      <p:cxnSp>
        <p:nvCxnSpPr>
          <p:cNvPr id="15" name="直接连接符 10">
            <a:extLst>
              <a:ext uri="{FF2B5EF4-FFF2-40B4-BE49-F238E27FC236}">
                <a16:creationId xmlns:a16="http://schemas.microsoft.com/office/drawing/2014/main" id="{0D11EFF8-24CF-7164-FDA2-7CB93646B926}"/>
              </a:ext>
            </a:extLst>
          </p:cNvPr>
          <p:cNvCxnSpPr>
            <a:cxnSpLocks noChangeShapeType="1"/>
          </p:cNvCxnSpPr>
          <p:nvPr/>
        </p:nvCxnSpPr>
        <p:spPr bwMode="auto">
          <a:xfrm>
            <a:off x="5472000" y="2464464"/>
            <a:ext cx="0" cy="360000"/>
          </a:xfrm>
          <a:prstGeom prst="line">
            <a:avLst/>
          </a:prstGeom>
          <a:solidFill>
            <a:srgbClr val="CDF3CD"/>
          </a:solidFill>
          <a:ln w="19050">
            <a:solidFill>
              <a:srgbClr val="00CC00"/>
            </a:solidFill>
            <a:miter lim="800000"/>
          </a:ln>
        </p:spPr>
      </p:cxnSp>
    </p:spTree>
    <p:extLst>
      <p:ext uri="{BB962C8B-B14F-4D97-AF65-F5344CB8AC3E}">
        <p14:creationId xmlns:p14="http://schemas.microsoft.com/office/powerpoint/2010/main" val="3795240532"/>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标题 7">
            <a:extLst>
              <a:ext uri="{FF2B5EF4-FFF2-40B4-BE49-F238E27FC236}">
                <a16:creationId xmlns:a16="http://schemas.microsoft.com/office/drawing/2014/main" id="{51911A7D-B252-8039-8DB8-B2F80C9D36CD}"/>
              </a:ext>
            </a:extLst>
          </p:cNvPr>
          <p:cNvSpPr>
            <a:spLocks noGrp="1"/>
          </p:cNvSpPr>
          <p:nvPr>
            <p:ph type="title"/>
          </p:nvPr>
        </p:nvSpPr>
        <p:spPr>
          <a:xfrm>
            <a:off x="612000" y="144000"/>
            <a:ext cx="7920000" cy="341632"/>
          </a:xfrm>
        </p:spPr>
        <p:txBody>
          <a:bodyPr/>
          <a:lstStyle/>
          <a:p>
            <a:r>
              <a:rPr lang="en-US" altLang="zh-CN" dirty="0"/>
              <a:t>2. </a:t>
            </a:r>
            <a:r>
              <a:rPr lang="zh-CN" altLang="en-US" dirty="0"/>
              <a:t>分组交换 </a:t>
            </a:r>
            <a:r>
              <a:rPr lang="en-US" altLang="zh-CN" dirty="0"/>
              <a:t>Packet</a:t>
            </a:r>
            <a:r>
              <a:rPr lang="zh-CN" altLang="en-US" dirty="0"/>
              <a:t> </a:t>
            </a:r>
            <a:r>
              <a:rPr lang="en-US" altLang="zh-CN" dirty="0"/>
              <a:t>Switching</a:t>
            </a:r>
            <a:endParaRPr lang="zh-CN" altLang="en-US" dirty="0"/>
          </a:p>
        </p:txBody>
      </p:sp>
      <p:sp>
        <p:nvSpPr>
          <p:cNvPr id="2" name="内容占位符 1"/>
          <p:cNvSpPr>
            <a:spLocks noGrp="1"/>
          </p:cNvSpPr>
          <p:nvPr>
            <p:ph sz="quarter" idx="10"/>
          </p:nvPr>
        </p:nvSpPr>
        <p:spPr>
          <a:xfrm>
            <a:off x="612000" y="899999"/>
            <a:ext cx="7920000" cy="3780000"/>
          </a:xfrm>
        </p:spPr>
        <p:txBody>
          <a:bodyPr/>
          <a:lstStyle/>
          <a:p>
            <a:r>
              <a:rPr lang="zh-CN" altLang="en-US" dirty="0"/>
              <a:t>数据段前面添加首部就构成了分组 </a:t>
            </a:r>
            <a:r>
              <a:rPr lang="en-US" altLang="zh-CN" dirty="0"/>
              <a:t>Packet</a:t>
            </a:r>
          </a:p>
          <a:p>
            <a:r>
              <a:rPr lang="zh-CN" altLang="en-US" dirty="0"/>
              <a:t>分组又称为包，而分组的首部也可称为包头</a:t>
            </a:r>
            <a:endParaRPr lang="en-US" altLang="zh-CN" dirty="0"/>
          </a:p>
          <a:p>
            <a:r>
              <a:rPr lang="zh-CN" altLang="en-US" dirty="0"/>
              <a:t>发送端依次把各分组发送到接收端</a:t>
            </a:r>
          </a:p>
          <a:p>
            <a:pPr lvl="1"/>
            <a:endParaRPr lang="zh-CN" altLang="en-US" dirty="0"/>
          </a:p>
          <a:p>
            <a:endParaRPr lang="zh-CN" altLang="en-US" dirty="0"/>
          </a:p>
        </p:txBody>
      </p:sp>
      <p:grpSp>
        <p:nvGrpSpPr>
          <p:cNvPr id="71" name="组合 70">
            <a:extLst>
              <a:ext uri="{FF2B5EF4-FFF2-40B4-BE49-F238E27FC236}">
                <a16:creationId xmlns:a16="http://schemas.microsoft.com/office/drawing/2014/main" id="{0B9510A0-F4F3-B16A-05D3-4BADBAB0B419}"/>
              </a:ext>
            </a:extLst>
          </p:cNvPr>
          <p:cNvGrpSpPr/>
          <p:nvPr/>
        </p:nvGrpSpPr>
        <p:grpSpPr>
          <a:xfrm>
            <a:off x="1512000" y="2901344"/>
            <a:ext cx="2160744" cy="806127"/>
            <a:chOff x="1512000" y="3405608"/>
            <a:chExt cx="2160744" cy="806127"/>
          </a:xfrm>
        </p:grpSpPr>
        <p:sp>
          <p:nvSpPr>
            <p:cNvPr id="54" name="Rectangle 2"/>
            <p:cNvSpPr>
              <a:spLocks noChangeArrowheads="1"/>
            </p:cNvSpPr>
            <p:nvPr/>
          </p:nvSpPr>
          <p:spPr bwMode="auto">
            <a:xfrm>
              <a:off x="1872000" y="3851735"/>
              <a:ext cx="1800000" cy="360000"/>
            </a:xfrm>
            <a:prstGeom prst="rect">
              <a:avLst/>
            </a:prstGeom>
            <a:noFill/>
            <a:ln w="19050">
              <a:solidFill>
                <a:schemeClr val="tx1"/>
              </a:solidFill>
              <a:miter lim="800000"/>
            </a:ln>
          </p:spPr>
          <p:txBody>
            <a:bodyPr wrap="none" anchor="ctr"/>
            <a:lstStyle/>
            <a:p>
              <a:pPr algn="ctr"/>
              <a:r>
                <a:rPr lang="zh-CN" altLang="en-US" sz="1200" dirty="0"/>
                <a:t>数据 </a:t>
              </a:r>
              <a:r>
                <a:rPr lang="en-US" altLang="zh-CN" sz="1200" dirty="0"/>
                <a:t>Data</a:t>
              </a:r>
              <a:endParaRPr lang="zh-CN" altLang="en-US" sz="1200" dirty="0"/>
            </a:p>
          </p:txBody>
        </p:sp>
        <p:sp>
          <p:nvSpPr>
            <p:cNvPr id="55" name="Rectangle 10"/>
            <p:cNvSpPr>
              <a:spLocks noChangeArrowheads="1"/>
            </p:cNvSpPr>
            <p:nvPr/>
          </p:nvSpPr>
          <p:spPr bwMode="auto">
            <a:xfrm>
              <a:off x="1512000" y="3851735"/>
              <a:ext cx="360000" cy="360000"/>
            </a:xfrm>
            <a:prstGeom prst="rect">
              <a:avLst/>
            </a:prstGeom>
            <a:solidFill>
              <a:schemeClr val="bg1"/>
            </a:solidFill>
            <a:ln w="19050">
              <a:solidFill>
                <a:schemeClr val="tx1"/>
              </a:solidFill>
              <a:miter lim="800000"/>
            </a:ln>
          </p:spPr>
          <p:txBody>
            <a:bodyPr wrap="none" anchor="ctr"/>
            <a:lstStyle/>
            <a:p>
              <a:pPr algn="ctr"/>
              <a:r>
                <a:rPr lang="zh-CN" altLang="en-US" sz="1200" dirty="0"/>
                <a:t>首部</a:t>
              </a:r>
            </a:p>
          </p:txBody>
        </p:sp>
        <p:sp>
          <p:nvSpPr>
            <p:cNvPr id="57" name="AutoShape 14"/>
            <p:cNvSpPr/>
            <p:nvPr/>
          </p:nvSpPr>
          <p:spPr bwMode="auto">
            <a:xfrm rot="5400000">
              <a:off x="2531577" y="2674260"/>
              <a:ext cx="122334" cy="2160000"/>
            </a:xfrm>
            <a:prstGeom prst="leftBrace">
              <a:avLst>
                <a:gd name="adj1" fmla="val 134352"/>
                <a:gd name="adj2" fmla="val 50000"/>
              </a:avLst>
            </a:prstGeom>
            <a:noFill/>
            <a:ln w="12700">
              <a:solidFill>
                <a:schemeClr val="tx1"/>
              </a:solidFill>
              <a:rou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p>
          </p:txBody>
        </p:sp>
        <p:sp>
          <p:nvSpPr>
            <p:cNvPr id="58" name="Text Box 15"/>
            <p:cNvSpPr txBox="1">
              <a:spLocks noChangeArrowheads="1"/>
            </p:cNvSpPr>
            <p:nvPr/>
          </p:nvSpPr>
          <p:spPr bwMode="auto">
            <a:xfrm>
              <a:off x="2233240" y="3405608"/>
              <a:ext cx="719008" cy="276999"/>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zh-CN"/>
              </a:defPPr>
              <a:lvl1pPr algn="ctr">
                <a:defRPr sz="1400"/>
              </a:lvl1pPr>
            </a:lstStyle>
            <a:p>
              <a:r>
                <a:rPr lang="zh-CN" altLang="en-US" sz="1200" dirty="0"/>
                <a:t>分组 </a:t>
              </a:r>
              <a:r>
                <a:rPr lang="en-US" altLang="zh-CN" sz="1200" dirty="0"/>
                <a:t>1</a:t>
              </a:r>
            </a:p>
          </p:txBody>
        </p:sp>
      </p:grpSp>
      <p:grpSp>
        <p:nvGrpSpPr>
          <p:cNvPr id="72" name="组合 71">
            <a:extLst>
              <a:ext uri="{FF2B5EF4-FFF2-40B4-BE49-F238E27FC236}">
                <a16:creationId xmlns:a16="http://schemas.microsoft.com/office/drawing/2014/main" id="{1C9BBE23-5AB5-3CC3-08B2-19D9F37F9748}"/>
              </a:ext>
            </a:extLst>
          </p:cNvPr>
          <p:cNvGrpSpPr/>
          <p:nvPr/>
        </p:nvGrpSpPr>
        <p:grpSpPr>
          <a:xfrm>
            <a:off x="3311256" y="3461641"/>
            <a:ext cx="2160744" cy="806127"/>
            <a:chOff x="1512000" y="3405608"/>
            <a:chExt cx="2160744" cy="806127"/>
          </a:xfrm>
        </p:grpSpPr>
        <p:sp>
          <p:nvSpPr>
            <p:cNvPr id="73" name="Rectangle 2">
              <a:extLst>
                <a:ext uri="{FF2B5EF4-FFF2-40B4-BE49-F238E27FC236}">
                  <a16:creationId xmlns:a16="http://schemas.microsoft.com/office/drawing/2014/main" id="{C9797E4B-C693-0743-4CB8-DF537F617A2E}"/>
                </a:ext>
              </a:extLst>
            </p:cNvPr>
            <p:cNvSpPr>
              <a:spLocks noChangeArrowheads="1"/>
            </p:cNvSpPr>
            <p:nvPr/>
          </p:nvSpPr>
          <p:spPr bwMode="auto">
            <a:xfrm>
              <a:off x="1872000" y="3851735"/>
              <a:ext cx="1800000" cy="360000"/>
            </a:xfrm>
            <a:prstGeom prst="rect">
              <a:avLst/>
            </a:prstGeom>
            <a:noFill/>
            <a:ln w="19050">
              <a:solidFill>
                <a:schemeClr val="tx1"/>
              </a:solidFill>
              <a:miter lim="800000"/>
            </a:ln>
          </p:spPr>
          <p:txBody>
            <a:bodyPr wrap="none" anchor="ctr"/>
            <a:lstStyle/>
            <a:p>
              <a:pPr algn="ctr"/>
              <a:r>
                <a:rPr lang="zh-CN" altLang="en-US" sz="1200" dirty="0"/>
                <a:t>数据 </a:t>
              </a:r>
              <a:r>
                <a:rPr lang="en-US" altLang="zh-CN" sz="1200" dirty="0"/>
                <a:t>Data</a:t>
              </a:r>
              <a:endParaRPr lang="zh-CN" altLang="en-US" sz="1200" dirty="0"/>
            </a:p>
          </p:txBody>
        </p:sp>
        <p:sp>
          <p:nvSpPr>
            <p:cNvPr id="74" name="Rectangle 10">
              <a:extLst>
                <a:ext uri="{FF2B5EF4-FFF2-40B4-BE49-F238E27FC236}">
                  <a16:creationId xmlns:a16="http://schemas.microsoft.com/office/drawing/2014/main" id="{F40915F1-CDB2-D702-03AD-4A62784D62E2}"/>
                </a:ext>
              </a:extLst>
            </p:cNvPr>
            <p:cNvSpPr>
              <a:spLocks noChangeArrowheads="1"/>
            </p:cNvSpPr>
            <p:nvPr/>
          </p:nvSpPr>
          <p:spPr bwMode="auto">
            <a:xfrm>
              <a:off x="1512000" y="3851735"/>
              <a:ext cx="360000" cy="360000"/>
            </a:xfrm>
            <a:prstGeom prst="rect">
              <a:avLst/>
            </a:prstGeom>
            <a:solidFill>
              <a:schemeClr val="bg1"/>
            </a:solidFill>
            <a:ln w="19050">
              <a:solidFill>
                <a:schemeClr val="tx1"/>
              </a:solidFill>
              <a:miter lim="800000"/>
            </a:ln>
          </p:spPr>
          <p:txBody>
            <a:bodyPr wrap="none" anchor="ctr"/>
            <a:lstStyle/>
            <a:p>
              <a:pPr algn="ctr"/>
              <a:r>
                <a:rPr lang="zh-CN" altLang="en-US" sz="1200" dirty="0"/>
                <a:t>首部</a:t>
              </a:r>
            </a:p>
          </p:txBody>
        </p:sp>
        <p:sp>
          <p:nvSpPr>
            <p:cNvPr id="75" name="AutoShape 14">
              <a:extLst>
                <a:ext uri="{FF2B5EF4-FFF2-40B4-BE49-F238E27FC236}">
                  <a16:creationId xmlns:a16="http://schemas.microsoft.com/office/drawing/2014/main" id="{7F5D718D-C55B-EABD-9B8C-449314235239}"/>
                </a:ext>
              </a:extLst>
            </p:cNvPr>
            <p:cNvSpPr/>
            <p:nvPr/>
          </p:nvSpPr>
          <p:spPr bwMode="auto">
            <a:xfrm rot="5400000">
              <a:off x="2531577" y="2674260"/>
              <a:ext cx="122334" cy="2160000"/>
            </a:xfrm>
            <a:prstGeom prst="leftBrace">
              <a:avLst>
                <a:gd name="adj1" fmla="val 134352"/>
                <a:gd name="adj2" fmla="val 50000"/>
              </a:avLst>
            </a:prstGeom>
            <a:noFill/>
            <a:ln w="12700">
              <a:solidFill>
                <a:schemeClr val="tx1"/>
              </a:solidFill>
              <a:rou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p>
          </p:txBody>
        </p:sp>
        <p:sp>
          <p:nvSpPr>
            <p:cNvPr id="76" name="Text Box 15">
              <a:extLst>
                <a:ext uri="{FF2B5EF4-FFF2-40B4-BE49-F238E27FC236}">
                  <a16:creationId xmlns:a16="http://schemas.microsoft.com/office/drawing/2014/main" id="{F4D3F212-3509-E686-32AA-B552DB3CDB7E}"/>
                </a:ext>
              </a:extLst>
            </p:cNvPr>
            <p:cNvSpPr txBox="1">
              <a:spLocks noChangeArrowheads="1"/>
            </p:cNvSpPr>
            <p:nvPr/>
          </p:nvSpPr>
          <p:spPr bwMode="auto">
            <a:xfrm>
              <a:off x="2233240" y="3405608"/>
              <a:ext cx="719008" cy="276999"/>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zh-CN"/>
              </a:defPPr>
              <a:lvl1pPr algn="ctr">
                <a:defRPr sz="1400"/>
              </a:lvl1pPr>
            </a:lstStyle>
            <a:p>
              <a:r>
                <a:rPr lang="zh-CN" altLang="en-US" sz="1200" dirty="0"/>
                <a:t>分组 </a:t>
              </a:r>
              <a:r>
                <a:rPr lang="en-US" altLang="zh-CN" sz="1200" dirty="0"/>
                <a:t>1</a:t>
              </a:r>
            </a:p>
          </p:txBody>
        </p:sp>
      </p:grpSp>
      <p:grpSp>
        <p:nvGrpSpPr>
          <p:cNvPr id="77" name="组合 76">
            <a:extLst>
              <a:ext uri="{FF2B5EF4-FFF2-40B4-BE49-F238E27FC236}">
                <a16:creationId xmlns:a16="http://schemas.microsoft.com/office/drawing/2014/main" id="{FC7F351B-279F-0766-D324-10AE6DDA3AEE}"/>
              </a:ext>
            </a:extLst>
          </p:cNvPr>
          <p:cNvGrpSpPr/>
          <p:nvPr/>
        </p:nvGrpSpPr>
        <p:grpSpPr>
          <a:xfrm>
            <a:off x="5111256" y="4021938"/>
            <a:ext cx="2160744" cy="806127"/>
            <a:chOff x="1512000" y="3405608"/>
            <a:chExt cx="2160744" cy="806127"/>
          </a:xfrm>
        </p:grpSpPr>
        <p:sp>
          <p:nvSpPr>
            <p:cNvPr id="78" name="Rectangle 2">
              <a:extLst>
                <a:ext uri="{FF2B5EF4-FFF2-40B4-BE49-F238E27FC236}">
                  <a16:creationId xmlns:a16="http://schemas.microsoft.com/office/drawing/2014/main" id="{0254D680-EA03-1639-8929-A8B97B1BD582}"/>
                </a:ext>
              </a:extLst>
            </p:cNvPr>
            <p:cNvSpPr>
              <a:spLocks noChangeArrowheads="1"/>
            </p:cNvSpPr>
            <p:nvPr/>
          </p:nvSpPr>
          <p:spPr bwMode="auto">
            <a:xfrm>
              <a:off x="1872000" y="3851735"/>
              <a:ext cx="1800000" cy="360000"/>
            </a:xfrm>
            <a:prstGeom prst="rect">
              <a:avLst/>
            </a:prstGeom>
            <a:noFill/>
            <a:ln w="19050">
              <a:solidFill>
                <a:schemeClr val="tx1"/>
              </a:solidFill>
              <a:miter lim="800000"/>
            </a:ln>
          </p:spPr>
          <p:txBody>
            <a:bodyPr wrap="none" anchor="ctr"/>
            <a:lstStyle/>
            <a:p>
              <a:pPr algn="ctr"/>
              <a:r>
                <a:rPr lang="zh-CN" altLang="en-US" sz="1200" dirty="0"/>
                <a:t>数据 </a:t>
              </a:r>
              <a:r>
                <a:rPr lang="en-US" altLang="zh-CN" sz="1200" dirty="0"/>
                <a:t>Data</a:t>
              </a:r>
              <a:endParaRPr lang="zh-CN" altLang="en-US" sz="1200" dirty="0"/>
            </a:p>
          </p:txBody>
        </p:sp>
        <p:sp>
          <p:nvSpPr>
            <p:cNvPr id="79" name="Rectangle 10">
              <a:extLst>
                <a:ext uri="{FF2B5EF4-FFF2-40B4-BE49-F238E27FC236}">
                  <a16:creationId xmlns:a16="http://schemas.microsoft.com/office/drawing/2014/main" id="{10D153B5-5356-E863-F104-6CC1494FB127}"/>
                </a:ext>
              </a:extLst>
            </p:cNvPr>
            <p:cNvSpPr>
              <a:spLocks noChangeArrowheads="1"/>
            </p:cNvSpPr>
            <p:nvPr/>
          </p:nvSpPr>
          <p:spPr bwMode="auto">
            <a:xfrm>
              <a:off x="1512000" y="3851735"/>
              <a:ext cx="360000" cy="360000"/>
            </a:xfrm>
            <a:prstGeom prst="rect">
              <a:avLst/>
            </a:prstGeom>
            <a:solidFill>
              <a:schemeClr val="bg1"/>
            </a:solidFill>
            <a:ln w="19050">
              <a:solidFill>
                <a:schemeClr val="tx1"/>
              </a:solidFill>
              <a:miter lim="800000"/>
            </a:ln>
          </p:spPr>
          <p:txBody>
            <a:bodyPr wrap="none" anchor="ctr"/>
            <a:lstStyle/>
            <a:p>
              <a:pPr algn="ctr"/>
              <a:r>
                <a:rPr lang="zh-CN" altLang="en-US" sz="1200" dirty="0"/>
                <a:t>首部</a:t>
              </a:r>
            </a:p>
          </p:txBody>
        </p:sp>
        <p:sp>
          <p:nvSpPr>
            <p:cNvPr id="80" name="AutoShape 14">
              <a:extLst>
                <a:ext uri="{FF2B5EF4-FFF2-40B4-BE49-F238E27FC236}">
                  <a16:creationId xmlns:a16="http://schemas.microsoft.com/office/drawing/2014/main" id="{AE4E15C6-13B7-3221-6325-03E8D4C52F11}"/>
                </a:ext>
              </a:extLst>
            </p:cNvPr>
            <p:cNvSpPr/>
            <p:nvPr/>
          </p:nvSpPr>
          <p:spPr bwMode="auto">
            <a:xfrm rot="5400000">
              <a:off x="2531577" y="2674260"/>
              <a:ext cx="122334" cy="2160000"/>
            </a:xfrm>
            <a:prstGeom prst="leftBrace">
              <a:avLst>
                <a:gd name="adj1" fmla="val 134352"/>
                <a:gd name="adj2" fmla="val 50000"/>
              </a:avLst>
            </a:prstGeom>
            <a:noFill/>
            <a:ln w="12700">
              <a:solidFill>
                <a:schemeClr val="tx1"/>
              </a:solidFill>
              <a:rou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p>
          </p:txBody>
        </p:sp>
        <p:sp>
          <p:nvSpPr>
            <p:cNvPr id="81" name="Text Box 15">
              <a:extLst>
                <a:ext uri="{FF2B5EF4-FFF2-40B4-BE49-F238E27FC236}">
                  <a16:creationId xmlns:a16="http://schemas.microsoft.com/office/drawing/2014/main" id="{A6996A48-A08F-0B85-D8AC-1587F6FDA38C}"/>
                </a:ext>
              </a:extLst>
            </p:cNvPr>
            <p:cNvSpPr txBox="1">
              <a:spLocks noChangeArrowheads="1"/>
            </p:cNvSpPr>
            <p:nvPr/>
          </p:nvSpPr>
          <p:spPr bwMode="auto">
            <a:xfrm>
              <a:off x="2233240" y="3405608"/>
              <a:ext cx="719008" cy="276999"/>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zh-CN"/>
              </a:defPPr>
              <a:lvl1pPr algn="ctr">
                <a:defRPr sz="1400"/>
              </a:lvl1pPr>
            </a:lstStyle>
            <a:p>
              <a:r>
                <a:rPr lang="zh-CN" altLang="en-US" sz="1200" dirty="0"/>
                <a:t>分组 </a:t>
              </a:r>
              <a:r>
                <a:rPr lang="en-US" altLang="zh-CN" sz="1200" dirty="0"/>
                <a:t>1</a:t>
              </a:r>
            </a:p>
          </p:txBody>
        </p:sp>
      </p:grpSp>
      <p:sp>
        <p:nvSpPr>
          <p:cNvPr id="82" name="Line 8">
            <a:extLst>
              <a:ext uri="{FF2B5EF4-FFF2-40B4-BE49-F238E27FC236}">
                <a16:creationId xmlns:a16="http://schemas.microsoft.com/office/drawing/2014/main" id="{0DCE8FCB-F9D4-506B-650B-F0CE8334E602}"/>
              </a:ext>
            </a:extLst>
          </p:cNvPr>
          <p:cNvSpPr>
            <a:spLocks noChangeShapeType="1"/>
          </p:cNvSpPr>
          <p:nvPr/>
        </p:nvSpPr>
        <p:spPr bwMode="auto">
          <a:xfrm>
            <a:off x="1872000" y="2208938"/>
            <a:ext cx="5400000" cy="0"/>
          </a:xfrm>
          <a:prstGeom prst="line">
            <a:avLst/>
          </a:prstGeom>
          <a:noFill/>
          <a:ln w="12700">
            <a:solidFill>
              <a:schemeClr val="tx1"/>
            </a:solidFill>
            <a:round/>
            <a:headEnd type="triangle" w="sm" len="lg"/>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useBgFill="1">
        <p:nvSpPr>
          <p:cNvPr id="83" name="Text Box 9">
            <a:extLst>
              <a:ext uri="{FF2B5EF4-FFF2-40B4-BE49-F238E27FC236}">
                <a16:creationId xmlns:a16="http://schemas.microsoft.com/office/drawing/2014/main" id="{9D55B05C-2F5A-3387-71C4-A06AEA2B3FDE}"/>
              </a:ext>
            </a:extLst>
          </p:cNvPr>
          <p:cNvSpPr txBox="1">
            <a:spLocks noChangeArrowheads="1"/>
          </p:cNvSpPr>
          <p:nvPr/>
        </p:nvSpPr>
        <p:spPr bwMode="auto">
          <a:xfrm>
            <a:off x="3900569" y="2070439"/>
            <a:ext cx="1342863" cy="276999"/>
          </a:xfrm>
          <a:prstGeom prst="rect">
            <a:avLst/>
          </a:prstGeom>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zh-CN"/>
            </a:defPPr>
            <a:lvl1pPr algn="ctr"/>
          </a:lstStyle>
          <a:p>
            <a:r>
              <a:rPr lang="zh-CN" altLang="en-US" sz="1200" dirty="0"/>
              <a:t>报文 </a:t>
            </a:r>
            <a:r>
              <a:rPr lang="en-US" altLang="zh-CN" sz="1200" dirty="0"/>
              <a:t>Packet</a:t>
            </a:r>
            <a:endParaRPr lang="zh-CN" altLang="en-US" sz="1200" dirty="0"/>
          </a:p>
        </p:txBody>
      </p:sp>
      <p:cxnSp>
        <p:nvCxnSpPr>
          <p:cNvPr id="84" name="直接连接符 10">
            <a:extLst>
              <a:ext uri="{FF2B5EF4-FFF2-40B4-BE49-F238E27FC236}">
                <a16:creationId xmlns:a16="http://schemas.microsoft.com/office/drawing/2014/main" id="{F04DB95F-BCC1-8CA4-FA88-C3A3E5D89E75}"/>
              </a:ext>
            </a:extLst>
          </p:cNvPr>
          <p:cNvCxnSpPr>
            <a:cxnSpLocks noChangeShapeType="1"/>
          </p:cNvCxnSpPr>
          <p:nvPr/>
        </p:nvCxnSpPr>
        <p:spPr bwMode="auto">
          <a:xfrm>
            <a:off x="7272000" y="2028938"/>
            <a:ext cx="0" cy="360000"/>
          </a:xfrm>
          <a:prstGeom prst="line">
            <a:avLst/>
          </a:prstGeom>
          <a:solidFill>
            <a:srgbClr val="CDF3CD"/>
          </a:solidFill>
          <a:ln w="12700">
            <a:solidFill>
              <a:schemeClr val="tx1"/>
            </a:solidFill>
            <a:miter lim="800000"/>
          </a:ln>
        </p:spPr>
      </p:cxnSp>
      <p:cxnSp>
        <p:nvCxnSpPr>
          <p:cNvPr id="85" name="直接连接符 11">
            <a:extLst>
              <a:ext uri="{FF2B5EF4-FFF2-40B4-BE49-F238E27FC236}">
                <a16:creationId xmlns:a16="http://schemas.microsoft.com/office/drawing/2014/main" id="{41B5D424-232F-CE07-2B82-C7C73DFE10B0}"/>
              </a:ext>
            </a:extLst>
          </p:cNvPr>
          <p:cNvCxnSpPr>
            <a:cxnSpLocks noChangeShapeType="1"/>
          </p:cNvCxnSpPr>
          <p:nvPr/>
        </p:nvCxnSpPr>
        <p:spPr bwMode="auto">
          <a:xfrm>
            <a:off x="1872000" y="2028938"/>
            <a:ext cx="0" cy="360000"/>
          </a:xfrm>
          <a:prstGeom prst="line">
            <a:avLst/>
          </a:prstGeom>
          <a:solidFill>
            <a:srgbClr val="CDF3CD"/>
          </a:solidFill>
          <a:ln w="12700">
            <a:solidFill>
              <a:schemeClr val="tx1"/>
            </a:solidFill>
            <a:miter lim="800000"/>
          </a:ln>
        </p:spPr>
      </p:cxnSp>
      <p:sp>
        <p:nvSpPr>
          <p:cNvPr id="86" name="Rectangle 74">
            <a:extLst>
              <a:ext uri="{FF2B5EF4-FFF2-40B4-BE49-F238E27FC236}">
                <a16:creationId xmlns:a16="http://schemas.microsoft.com/office/drawing/2014/main" id="{B7DE82B3-3C43-5E36-FAD8-889BF6BC1F95}"/>
              </a:ext>
            </a:extLst>
          </p:cNvPr>
          <p:cNvSpPr>
            <a:spLocks noChangeArrowheads="1"/>
          </p:cNvSpPr>
          <p:nvPr/>
        </p:nvSpPr>
        <p:spPr bwMode="auto">
          <a:xfrm>
            <a:off x="1872000" y="2464464"/>
            <a:ext cx="5400000" cy="360000"/>
          </a:xfrm>
          <a:prstGeom prst="rect">
            <a:avLst/>
          </a:prstGeom>
          <a:noFill/>
          <a:ln w="19050">
            <a:solidFill>
              <a:schemeClr val="tx1"/>
            </a:solidFill>
            <a:miter lim="800000"/>
          </a:ln>
        </p:spPr>
        <p:txBody>
          <a:bodyPr wrap="none" anchor="ctr"/>
          <a:lstStyle/>
          <a:p>
            <a:pPr algn="ctr"/>
            <a:r>
              <a:rPr lang="zh-CN" altLang="en-US" sz="1200" dirty="0"/>
              <a:t>数据 </a:t>
            </a:r>
            <a:r>
              <a:rPr lang="en-US" altLang="zh-CN" sz="1200" dirty="0"/>
              <a:t>Data                        </a:t>
            </a:r>
            <a:r>
              <a:rPr lang="zh-CN" altLang="en-US" sz="1200" dirty="0"/>
              <a:t>数据 </a:t>
            </a:r>
            <a:r>
              <a:rPr lang="en-US" altLang="zh-CN" sz="1200" dirty="0"/>
              <a:t>Data                           </a:t>
            </a:r>
            <a:r>
              <a:rPr lang="zh-CN" altLang="en-US" sz="1200" dirty="0"/>
              <a:t>数据 </a:t>
            </a:r>
            <a:r>
              <a:rPr lang="en-US" altLang="zh-CN" sz="1200" dirty="0"/>
              <a:t>Data</a:t>
            </a:r>
          </a:p>
        </p:txBody>
      </p:sp>
      <p:cxnSp>
        <p:nvCxnSpPr>
          <p:cNvPr id="87" name="直接连接符 10">
            <a:extLst>
              <a:ext uri="{FF2B5EF4-FFF2-40B4-BE49-F238E27FC236}">
                <a16:creationId xmlns:a16="http://schemas.microsoft.com/office/drawing/2014/main" id="{9F63F13E-5DB2-C2D9-79EB-34B7B2CADE93}"/>
              </a:ext>
            </a:extLst>
          </p:cNvPr>
          <p:cNvCxnSpPr>
            <a:cxnSpLocks noChangeShapeType="1"/>
          </p:cNvCxnSpPr>
          <p:nvPr/>
        </p:nvCxnSpPr>
        <p:spPr bwMode="auto">
          <a:xfrm>
            <a:off x="3672000" y="2464464"/>
            <a:ext cx="0" cy="360000"/>
          </a:xfrm>
          <a:prstGeom prst="line">
            <a:avLst/>
          </a:prstGeom>
          <a:solidFill>
            <a:srgbClr val="CDF3CD"/>
          </a:solidFill>
          <a:ln w="19050">
            <a:solidFill>
              <a:schemeClr val="tx1"/>
            </a:solidFill>
            <a:miter lim="800000"/>
          </a:ln>
        </p:spPr>
      </p:cxnSp>
      <p:cxnSp>
        <p:nvCxnSpPr>
          <p:cNvPr id="88" name="直接连接符 10">
            <a:extLst>
              <a:ext uri="{FF2B5EF4-FFF2-40B4-BE49-F238E27FC236}">
                <a16:creationId xmlns:a16="http://schemas.microsoft.com/office/drawing/2014/main" id="{C70AC922-E016-D375-5119-219E3CB78B46}"/>
              </a:ext>
            </a:extLst>
          </p:cNvPr>
          <p:cNvCxnSpPr>
            <a:cxnSpLocks noChangeShapeType="1"/>
          </p:cNvCxnSpPr>
          <p:nvPr/>
        </p:nvCxnSpPr>
        <p:spPr bwMode="auto">
          <a:xfrm>
            <a:off x="5472000" y="2464464"/>
            <a:ext cx="0" cy="360000"/>
          </a:xfrm>
          <a:prstGeom prst="line">
            <a:avLst/>
          </a:prstGeom>
          <a:solidFill>
            <a:srgbClr val="CDF3CD"/>
          </a:solidFill>
          <a:ln w="19050">
            <a:solidFill>
              <a:schemeClr val="tx1"/>
            </a:solidFill>
            <a:miter lim="800000"/>
          </a:ln>
        </p:spPr>
      </p:cxnSp>
      <p:sp>
        <p:nvSpPr>
          <p:cNvPr id="90" name="箭头: 下 89">
            <a:extLst>
              <a:ext uri="{FF2B5EF4-FFF2-40B4-BE49-F238E27FC236}">
                <a16:creationId xmlns:a16="http://schemas.microsoft.com/office/drawing/2014/main" id="{7D2C3A6C-D4AF-17AA-7863-836E3EF471D1}"/>
              </a:ext>
            </a:extLst>
          </p:cNvPr>
          <p:cNvSpPr/>
          <p:nvPr/>
        </p:nvSpPr>
        <p:spPr>
          <a:xfrm>
            <a:off x="4484594" y="2891109"/>
            <a:ext cx="181535" cy="175812"/>
          </a:xfrm>
          <a:prstGeom prst="downArrow">
            <a:avLst/>
          </a:prstGeom>
          <a:solidFill>
            <a:srgbClr val="D4237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3128117419"/>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77DD34F-F6F5-AB2C-B763-BB054A3C8A3D}"/>
              </a:ext>
            </a:extLst>
          </p:cNvPr>
          <p:cNvSpPr>
            <a:spLocks noGrp="1"/>
          </p:cNvSpPr>
          <p:nvPr>
            <p:ph type="title"/>
          </p:nvPr>
        </p:nvSpPr>
        <p:spPr>
          <a:xfrm>
            <a:off x="612000" y="144000"/>
            <a:ext cx="7920000" cy="341632"/>
          </a:xfrm>
        </p:spPr>
        <p:txBody>
          <a:bodyPr/>
          <a:lstStyle/>
          <a:p>
            <a:r>
              <a:rPr lang="en-US" altLang="zh-CN" dirty="0"/>
              <a:t>2. </a:t>
            </a:r>
            <a:r>
              <a:rPr lang="zh-CN" altLang="en-US" dirty="0"/>
              <a:t>分组交换 </a:t>
            </a:r>
            <a:r>
              <a:rPr lang="en-US" altLang="zh-CN" dirty="0"/>
              <a:t>Packet</a:t>
            </a:r>
            <a:r>
              <a:rPr lang="zh-CN" altLang="en-US" dirty="0"/>
              <a:t> </a:t>
            </a:r>
            <a:r>
              <a:rPr lang="en-US" altLang="zh-CN" dirty="0"/>
              <a:t>Switching</a:t>
            </a:r>
            <a:endParaRPr lang="zh-CN" altLang="en-US" dirty="0"/>
          </a:p>
        </p:txBody>
      </p:sp>
      <p:sp>
        <p:nvSpPr>
          <p:cNvPr id="19" name="内容占位符 18">
            <a:extLst>
              <a:ext uri="{FF2B5EF4-FFF2-40B4-BE49-F238E27FC236}">
                <a16:creationId xmlns:a16="http://schemas.microsoft.com/office/drawing/2014/main" id="{47225FEC-C541-50F2-934A-31874E36828A}"/>
              </a:ext>
            </a:extLst>
          </p:cNvPr>
          <p:cNvSpPr>
            <a:spLocks noGrp="1"/>
          </p:cNvSpPr>
          <p:nvPr>
            <p:ph sz="quarter" idx="10"/>
          </p:nvPr>
        </p:nvSpPr>
        <p:spPr>
          <a:xfrm>
            <a:off x="612000" y="899999"/>
            <a:ext cx="7920000" cy="3780000"/>
          </a:xfrm>
        </p:spPr>
        <p:txBody>
          <a:bodyPr/>
          <a:lstStyle/>
          <a:p>
            <a:r>
              <a:rPr lang="zh-CN" altLang="en-US" dirty="0"/>
              <a:t>接收端收到分组后剥去首部，还原成原来的报文</a:t>
            </a:r>
            <a:endParaRPr lang="en-US" altLang="zh-CN" dirty="0"/>
          </a:p>
          <a:p>
            <a:r>
              <a:rPr lang="zh-CN" altLang="en-US" dirty="0"/>
              <a:t>假定分组在传输过程中没有出现差错，在转发时也没有被丢弃</a:t>
            </a:r>
          </a:p>
        </p:txBody>
      </p:sp>
      <p:sp>
        <p:nvSpPr>
          <p:cNvPr id="37" name="Line 8">
            <a:extLst>
              <a:ext uri="{FF2B5EF4-FFF2-40B4-BE49-F238E27FC236}">
                <a16:creationId xmlns:a16="http://schemas.microsoft.com/office/drawing/2014/main" id="{DCCB1C98-87C8-EB10-7587-4DC9CE9B69C0}"/>
              </a:ext>
            </a:extLst>
          </p:cNvPr>
          <p:cNvSpPr>
            <a:spLocks noChangeShapeType="1"/>
          </p:cNvSpPr>
          <p:nvPr/>
        </p:nvSpPr>
        <p:spPr bwMode="auto">
          <a:xfrm>
            <a:off x="1872000" y="3990677"/>
            <a:ext cx="5400000" cy="0"/>
          </a:xfrm>
          <a:prstGeom prst="line">
            <a:avLst/>
          </a:prstGeom>
          <a:noFill/>
          <a:ln w="28575">
            <a:solidFill>
              <a:srgbClr val="00CC00"/>
            </a:solidFill>
            <a:round/>
            <a:headEnd type="triangle" w="sm" len="lg"/>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useBgFill="1">
        <p:nvSpPr>
          <p:cNvPr id="38" name="Text Box 9">
            <a:extLst>
              <a:ext uri="{FF2B5EF4-FFF2-40B4-BE49-F238E27FC236}">
                <a16:creationId xmlns:a16="http://schemas.microsoft.com/office/drawing/2014/main" id="{1CBFC1D4-73F7-6714-BF98-1EBBFE2FF25D}"/>
              </a:ext>
            </a:extLst>
          </p:cNvPr>
          <p:cNvSpPr txBox="1">
            <a:spLocks noChangeArrowheads="1"/>
          </p:cNvSpPr>
          <p:nvPr/>
        </p:nvSpPr>
        <p:spPr bwMode="auto">
          <a:xfrm>
            <a:off x="3900569" y="3852178"/>
            <a:ext cx="1342863" cy="276999"/>
          </a:xfrm>
          <a:prstGeom prst="rect">
            <a:avLst/>
          </a:prstGeom>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zh-CN"/>
            </a:defPPr>
            <a:lvl1pPr algn="ctr"/>
          </a:lstStyle>
          <a:p>
            <a:r>
              <a:rPr lang="zh-CN" altLang="en-US" sz="1200" dirty="0"/>
              <a:t>报文 </a:t>
            </a:r>
            <a:r>
              <a:rPr lang="en-US" altLang="zh-CN" sz="1200" dirty="0"/>
              <a:t>Packet</a:t>
            </a:r>
            <a:endParaRPr lang="zh-CN" altLang="en-US" sz="1200" dirty="0"/>
          </a:p>
        </p:txBody>
      </p:sp>
      <p:cxnSp>
        <p:nvCxnSpPr>
          <p:cNvPr id="39" name="直接连接符 10">
            <a:extLst>
              <a:ext uri="{FF2B5EF4-FFF2-40B4-BE49-F238E27FC236}">
                <a16:creationId xmlns:a16="http://schemas.microsoft.com/office/drawing/2014/main" id="{94BC5D34-26E0-AB4C-B70D-5ACA0653AB33}"/>
              </a:ext>
            </a:extLst>
          </p:cNvPr>
          <p:cNvCxnSpPr>
            <a:cxnSpLocks noChangeShapeType="1"/>
          </p:cNvCxnSpPr>
          <p:nvPr/>
        </p:nvCxnSpPr>
        <p:spPr bwMode="auto">
          <a:xfrm>
            <a:off x="7272000" y="3810677"/>
            <a:ext cx="0" cy="360000"/>
          </a:xfrm>
          <a:prstGeom prst="line">
            <a:avLst/>
          </a:prstGeom>
          <a:solidFill>
            <a:srgbClr val="CDF3CD"/>
          </a:solidFill>
          <a:ln w="19050">
            <a:solidFill>
              <a:srgbClr val="00CC00"/>
            </a:solidFill>
            <a:miter lim="800000"/>
          </a:ln>
        </p:spPr>
      </p:cxnSp>
      <p:cxnSp>
        <p:nvCxnSpPr>
          <p:cNvPr id="40" name="直接连接符 11">
            <a:extLst>
              <a:ext uri="{FF2B5EF4-FFF2-40B4-BE49-F238E27FC236}">
                <a16:creationId xmlns:a16="http://schemas.microsoft.com/office/drawing/2014/main" id="{D4585718-A961-74C3-E983-666866D7780B}"/>
              </a:ext>
            </a:extLst>
          </p:cNvPr>
          <p:cNvCxnSpPr>
            <a:cxnSpLocks noChangeShapeType="1"/>
          </p:cNvCxnSpPr>
          <p:nvPr/>
        </p:nvCxnSpPr>
        <p:spPr bwMode="auto">
          <a:xfrm>
            <a:off x="1872000" y="3810677"/>
            <a:ext cx="0" cy="360000"/>
          </a:xfrm>
          <a:prstGeom prst="line">
            <a:avLst/>
          </a:prstGeom>
          <a:solidFill>
            <a:srgbClr val="CDF3CD"/>
          </a:solidFill>
          <a:ln w="19050">
            <a:solidFill>
              <a:srgbClr val="00CC00"/>
            </a:solidFill>
            <a:miter lim="800000"/>
          </a:ln>
        </p:spPr>
      </p:cxnSp>
      <p:sp>
        <p:nvSpPr>
          <p:cNvPr id="43" name="Rectangle 74">
            <a:extLst>
              <a:ext uri="{FF2B5EF4-FFF2-40B4-BE49-F238E27FC236}">
                <a16:creationId xmlns:a16="http://schemas.microsoft.com/office/drawing/2014/main" id="{BCB36521-EFE3-DF89-56B4-43FB322D740D}"/>
              </a:ext>
            </a:extLst>
          </p:cNvPr>
          <p:cNvSpPr>
            <a:spLocks noChangeArrowheads="1"/>
          </p:cNvSpPr>
          <p:nvPr/>
        </p:nvSpPr>
        <p:spPr bwMode="auto">
          <a:xfrm>
            <a:off x="1872000" y="4246203"/>
            <a:ext cx="5400000" cy="360000"/>
          </a:xfrm>
          <a:prstGeom prst="rect">
            <a:avLst/>
          </a:prstGeom>
          <a:solidFill>
            <a:srgbClr val="CDF3CD"/>
          </a:solidFill>
          <a:ln w="19050">
            <a:solidFill>
              <a:srgbClr val="00CC00"/>
            </a:solidFill>
            <a:miter lim="800000"/>
          </a:ln>
        </p:spPr>
        <p:txBody>
          <a:bodyPr wrap="none" anchor="ctr"/>
          <a:lstStyle/>
          <a:p>
            <a:pPr algn="ctr"/>
            <a:r>
              <a:rPr lang="zh-CN" altLang="en-US" sz="1200" dirty="0"/>
              <a:t>数据 </a:t>
            </a:r>
            <a:r>
              <a:rPr lang="en-US" altLang="zh-CN" sz="1200" dirty="0"/>
              <a:t>Data                        </a:t>
            </a:r>
            <a:r>
              <a:rPr lang="zh-CN" altLang="en-US" sz="1200" dirty="0"/>
              <a:t>数据 </a:t>
            </a:r>
            <a:r>
              <a:rPr lang="en-US" altLang="zh-CN" sz="1200" dirty="0"/>
              <a:t>Data                           </a:t>
            </a:r>
            <a:r>
              <a:rPr lang="zh-CN" altLang="en-US" sz="1200" dirty="0"/>
              <a:t>数据 </a:t>
            </a:r>
            <a:r>
              <a:rPr lang="en-US" altLang="zh-CN" sz="1200" dirty="0"/>
              <a:t>Data</a:t>
            </a:r>
          </a:p>
        </p:txBody>
      </p:sp>
      <p:cxnSp>
        <p:nvCxnSpPr>
          <p:cNvPr id="44" name="直接连接符 10">
            <a:extLst>
              <a:ext uri="{FF2B5EF4-FFF2-40B4-BE49-F238E27FC236}">
                <a16:creationId xmlns:a16="http://schemas.microsoft.com/office/drawing/2014/main" id="{25A1064C-3C9C-6CFB-5BB1-B27ADB694C2C}"/>
              </a:ext>
            </a:extLst>
          </p:cNvPr>
          <p:cNvCxnSpPr>
            <a:cxnSpLocks noChangeShapeType="1"/>
          </p:cNvCxnSpPr>
          <p:nvPr/>
        </p:nvCxnSpPr>
        <p:spPr bwMode="auto">
          <a:xfrm>
            <a:off x="3672000" y="4246203"/>
            <a:ext cx="0" cy="360000"/>
          </a:xfrm>
          <a:prstGeom prst="line">
            <a:avLst/>
          </a:prstGeom>
          <a:solidFill>
            <a:srgbClr val="CDF3CD"/>
          </a:solidFill>
          <a:ln w="19050">
            <a:solidFill>
              <a:srgbClr val="00CC00"/>
            </a:solidFill>
            <a:miter lim="800000"/>
          </a:ln>
        </p:spPr>
      </p:cxnSp>
      <p:cxnSp>
        <p:nvCxnSpPr>
          <p:cNvPr id="45" name="直接连接符 10">
            <a:extLst>
              <a:ext uri="{FF2B5EF4-FFF2-40B4-BE49-F238E27FC236}">
                <a16:creationId xmlns:a16="http://schemas.microsoft.com/office/drawing/2014/main" id="{DC3AD763-F6DF-EF1A-A996-1B97FEE9B5CE}"/>
              </a:ext>
            </a:extLst>
          </p:cNvPr>
          <p:cNvCxnSpPr>
            <a:cxnSpLocks noChangeShapeType="1"/>
          </p:cNvCxnSpPr>
          <p:nvPr/>
        </p:nvCxnSpPr>
        <p:spPr bwMode="auto">
          <a:xfrm>
            <a:off x="5472000" y="4246203"/>
            <a:ext cx="0" cy="360000"/>
          </a:xfrm>
          <a:prstGeom prst="line">
            <a:avLst/>
          </a:prstGeom>
          <a:solidFill>
            <a:srgbClr val="CDF3CD"/>
          </a:solidFill>
          <a:ln w="19050">
            <a:solidFill>
              <a:srgbClr val="00CC00"/>
            </a:solidFill>
            <a:miter lim="800000"/>
          </a:ln>
        </p:spPr>
      </p:cxnSp>
      <p:grpSp>
        <p:nvGrpSpPr>
          <p:cNvPr id="46" name="组合 45">
            <a:extLst>
              <a:ext uri="{FF2B5EF4-FFF2-40B4-BE49-F238E27FC236}">
                <a16:creationId xmlns:a16="http://schemas.microsoft.com/office/drawing/2014/main" id="{256940A1-986A-E665-6A4A-18390C2FAF36}"/>
              </a:ext>
            </a:extLst>
          </p:cNvPr>
          <p:cNvGrpSpPr/>
          <p:nvPr/>
        </p:nvGrpSpPr>
        <p:grpSpPr>
          <a:xfrm>
            <a:off x="1512000" y="1576802"/>
            <a:ext cx="2160744" cy="806127"/>
            <a:chOff x="1512000" y="3405608"/>
            <a:chExt cx="2160744" cy="806127"/>
          </a:xfrm>
        </p:grpSpPr>
        <p:sp>
          <p:nvSpPr>
            <p:cNvPr id="47" name="Rectangle 2">
              <a:extLst>
                <a:ext uri="{FF2B5EF4-FFF2-40B4-BE49-F238E27FC236}">
                  <a16:creationId xmlns:a16="http://schemas.microsoft.com/office/drawing/2014/main" id="{394765F2-1338-2905-74E9-4019C2DF15D1}"/>
                </a:ext>
              </a:extLst>
            </p:cNvPr>
            <p:cNvSpPr>
              <a:spLocks noChangeArrowheads="1"/>
            </p:cNvSpPr>
            <p:nvPr/>
          </p:nvSpPr>
          <p:spPr bwMode="auto">
            <a:xfrm>
              <a:off x="1872000" y="3851735"/>
              <a:ext cx="1800000" cy="360000"/>
            </a:xfrm>
            <a:prstGeom prst="rect">
              <a:avLst/>
            </a:prstGeom>
            <a:noFill/>
            <a:ln w="19050">
              <a:solidFill>
                <a:schemeClr val="tx1"/>
              </a:solidFill>
              <a:miter lim="800000"/>
            </a:ln>
          </p:spPr>
          <p:txBody>
            <a:bodyPr wrap="none" anchor="ctr"/>
            <a:lstStyle/>
            <a:p>
              <a:pPr algn="ctr"/>
              <a:r>
                <a:rPr lang="zh-CN" altLang="en-US" sz="1200" dirty="0"/>
                <a:t>数据 </a:t>
              </a:r>
              <a:r>
                <a:rPr lang="en-US" altLang="zh-CN" sz="1200" dirty="0"/>
                <a:t>Data</a:t>
              </a:r>
              <a:endParaRPr lang="zh-CN" altLang="en-US" sz="1200" dirty="0"/>
            </a:p>
          </p:txBody>
        </p:sp>
        <p:sp>
          <p:nvSpPr>
            <p:cNvPr id="48" name="Rectangle 10">
              <a:extLst>
                <a:ext uri="{FF2B5EF4-FFF2-40B4-BE49-F238E27FC236}">
                  <a16:creationId xmlns:a16="http://schemas.microsoft.com/office/drawing/2014/main" id="{A4AED4FD-1C14-1711-9B3E-616C51B22414}"/>
                </a:ext>
              </a:extLst>
            </p:cNvPr>
            <p:cNvSpPr>
              <a:spLocks noChangeArrowheads="1"/>
            </p:cNvSpPr>
            <p:nvPr/>
          </p:nvSpPr>
          <p:spPr bwMode="auto">
            <a:xfrm>
              <a:off x="1512000" y="3851735"/>
              <a:ext cx="360000" cy="360000"/>
            </a:xfrm>
            <a:prstGeom prst="rect">
              <a:avLst/>
            </a:prstGeom>
            <a:pattFill prst="wdUpDiag">
              <a:fgClr>
                <a:schemeClr val="tx1">
                  <a:lumMod val="50000"/>
                  <a:lumOff val="50000"/>
                </a:schemeClr>
              </a:fgClr>
              <a:bgClr>
                <a:schemeClr val="bg1"/>
              </a:bgClr>
            </a:pattFill>
            <a:ln w="19050">
              <a:solidFill>
                <a:schemeClr val="tx1"/>
              </a:solidFill>
              <a:miter lim="800000"/>
            </a:ln>
          </p:spPr>
          <p:txBody>
            <a:bodyPr wrap="none" anchor="ctr"/>
            <a:lstStyle/>
            <a:p>
              <a:pPr algn="ctr"/>
              <a:r>
                <a:rPr lang="zh-CN" altLang="en-US" sz="1200" dirty="0"/>
                <a:t>首部</a:t>
              </a:r>
            </a:p>
          </p:txBody>
        </p:sp>
        <p:sp>
          <p:nvSpPr>
            <p:cNvPr id="49" name="AutoShape 14">
              <a:extLst>
                <a:ext uri="{FF2B5EF4-FFF2-40B4-BE49-F238E27FC236}">
                  <a16:creationId xmlns:a16="http://schemas.microsoft.com/office/drawing/2014/main" id="{CA3DF672-D0F4-5212-B0CC-AF8DF4915A0B}"/>
                </a:ext>
              </a:extLst>
            </p:cNvPr>
            <p:cNvSpPr/>
            <p:nvPr/>
          </p:nvSpPr>
          <p:spPr bwMode="auto">
            <a:xfrm rot="5400000">
              <a:off x="2531577" y="2674260"/>
              <a:ext cx="122334" cy="2160000"/>
            </a:xfrm>
            <a:prstGeom prst="leftBrace">
              <a:avLst>
                <a:gd name="adj1" fmla="val 134352"/>
                <a:gd name="adj2" fmla="val 50000"/>
              </a:avLst>
            </a:prstGeom>
            <a:noFill/>
            <a:ln w="12700">
              <a:solidFill>
                <a:schemeClr val="tx1"/>
              </a:solidFill>
              <a:rou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p>
          </p:txBody>
        </p:sp>
        <p:sp>
          <p:nvSpPr>
            <p:cNvPr id="50" name="Text Box 15">
              <a:extLst>
                <a:ext uri="{FF2B5EF4-FFF2-40B4-BE49-F238E27FC236}">
                  <a16:creationId xmlns:a16="http://schemas.microsoft.com/office/drawing/2014/main" id="{86DA33AB-0CDA-AF94-2D6A-714F2A45A1C3}"/>
                </a:ext>
              </a:extLst>
            </p:cNvPr>
            <p:cNvSpPr txBox="1">
              <a:spLocks noChangeArrowheads="1"/>
            </p:cNvSpPr>
            <p:nvPr/>
          </p:nvSpPr>
          <p:spPr bwMode="auto">
            <a:xfrm>
              <a:off x="2233240" y="3405608"/>
              <a:ext cx="719008" cy="276999"/>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zh-CN"/>
              </a:defPPr>
              <a:lvl1pPr algn="ctr">
                <a:defRPr sz="1400"/>
              </a:lvl1pPr>
            </a:lstStyle>
            <a:p>
              <a:r>
                <a:rPr lang="zh-CN" altLang="en-US" sz="1200" dirty="0"/>
                <a:t>分组 </a:t>
              </a:r>
              <a:r>
                <a:rPr lang="en-US" altLang="zh-CN" sz="1200" dirty="0"/>
                <a:t>1</a:t>
              </a:r>
            </a:p>
          </p:txBody>
        </p:sp>
      </p:grpSp>
      <p:grpSp>
        <p:nvGrpSpPr>
          <p:cNvPr id="51" name="组合 50">
            <a:extLst>
              <a:ext uri="{FF2B5EF4-FFF2-40B4-BE49-F238E27FC236}">
                <a16:creationId xmlns:a16="http://schemas.microsoft.com/office/drawing/2014/main" id="{F7570D07-B826-8234-9413-0C9E0BAA8350}"/>
              </a:ext>
            </a:extLst>
          </p:cNvPr>
          <p:cNvGrpSpPr/>
          <p:nvPr/>
        </p:nvGrpSpPr>
        <p:grpSpPr>
          <a:xfrm>
            <a:off x="3311256" y="2137099"/>
            <a:ext cx="2160744" cy="806127"/>
            <a:chOff x="1512000" y="3405608"/>
            <a:chExt cx="2160744" cy="806127"/>
          </a:xfrm>
        </p:grpSpPr>
        <p:sp>
          <p:nvSpPr>
            <p:cNvPr id="52" name="Rectangle 2">
              <a:extLst>
                <a:ext uri="{FF2B5EF4-FFF2-40B4-BE49-F238E27FC236}">
                  <a16:creationId xmlns:a16="http://schemas.microsoft.com/office/drawing/2014/main" id="{E7C1B19F-2E09-9517-F28F-04B150519112}"/>
                </a:ext>
              </a:extLst>
            </p:cNvPr>
            <p:cNvSpPr>
              <a:spLocks noChangeArrowheads="1"/>
            </p:cNvSpPr>
            <p:nvPr/>
          </p:nvSpPr>
          <p:spPr bwMode="auto">
            <a:xfrm>
              <a:off x="1872000" y="3851735"/>
              <a:ext cx="1800000" cy="360000"/>
            </a:xfrm>
            <a:prstGeom prst="rect">
              <a:avLst/>
            </a:prstGeom>
            <a:noFill/>
            <a:ln w="19050">
              <a:solidFill>
                <a:schemeClr val="tx1"/>
              </a:solidFill>
              <a:miter lim="800000"/>
            </a:ln>
          </p:spPr>
          <p:txBody>
            <a:bodyPr wrap="none" anchor="ctr"/>
            <a:lstStyle/>
            <a:p>
              <a:pPr algn="ctr"/>
              <a:r>
                <a:rPr lang="zh-CN" altLang="en-US" sz="1200" dirty="0"/>
                <a:t>数据 </a:t>
              </a:r>
              <a:r>
                <a:rPr lang="en-US" altLang="zh-CN" sz="1200" dirty="0"/>
                <a:t>Data</a:t>
              </a:r>
              <a:endParaRPr lang="zh-CN" altLang="en-US" sz="1200" dirty="0"/>
            </a:p>
          </p:txBody>
        </p:sp>
        <p:sp>
          <p:nvSpPr>
            <p:cNvPr id="53" name="Rectangle 10">
              <a:extLst>
                <a:ext uri="{FF2B5EF4-FFF2-40B4-BE49-F238E27FC236}">
                  <a16:creationId xmlns:a16="http://schemas.microsoft.com/office/drawing/2014/main" id="{D573B469-833B-0546-33BD-E35AF3368A54}"/>
                </a:ext>
              </a:extLst>
            </p:cNvPr>
            <p:cNvSpPr>
              <a:spLocks noChangeArrowheads="1"/>
            </p:cNvSpPr>
            <p:nvPr/>
          </p:nvSpPr>
          <p:spPr bwMode="auto">
            <a:xfrm>
              <a:off x="1512000" y="3851735"/>
              <a:ext cx="360000" cy="360000"/>
            </a:xfrm>
            <a:prstGeom prst="rect">
              <a:avLst/>
            </a:prstGeom>
            <a:pattFill prst="wdUpDiag">
              <a:fgClr>
                <a:schemeClr val="tx1">
                  <a:lumMod val="50000"/>
                  <a:lumOff val="50000"/>
                </a:schemeClr>
              </a:fgClr>
              <a:bgClr>
                <a:schemeClr val="bg1"/>
              </a:bgClr>
            </a:pattFill>
            <a:ln w="19050">
              <a:solidFill>
                <a:schemeClr val="tx1"/>
              </a:solidFill>
              <a:miter lim="800000"/>
            </a:ln>
          </p:spPr>
          <p:txBody>
            <a:bodyPr wrap="none" anchor="ctr"/>
            <a:lstStyle/>
            <a:p>
              <a:pPr algn="ctr"/>
              <a:r>
                <a:rPr lang="zh-CN" altLang="en-US" sz="1200" dirty="0"/>
                <a:t>首部</a:t>
              </a:r>
            </a:p>
          </p:txBody>
        </p:sp>
        <p:sp>
          <p:nvSpPr>
            <p:cNvPr id="54" name="AutoShape 14">
              <a:extLst>
                <a:ext uri="{FF2B5EF4-FFF2-40B4-BE49-F238E27FC236}">
                  <a16:creationId xmlns:a16="http://schemas.microsoft.com/office/drawing/2014/main" id="{7EBA5BF9-355A-B17C-1540-7FE7A8325C8A}"/>
                </a:ext>
              </a:extLst>
            </p:cNvPr>
            <p:cNvSpPr/>
            <p:nvPr/>
          </p:nvSpPr>
          <p:spPr bwMode="auto">
            <a:xfrm rot="5400000">
              <a:off x="2531577" y="2674260"/>
              <a:ext cx="122334" cy="2160000"/>
            </a:xfrm>
            <a:prstGeom prst="leftBrace">
              <a:avLst>
                <a:gd name="adj1" fmla="val 134352"/>
                <a:gd name="adj2" fmla="val 50000"/>
              </a:avLst>
            </a:prstGeom>
            <a:noFill/>
            <a:ln w="12700">
              <a:solidFill>
                <a:schemeClr val="tx1"/>
              </a:solidFill>
              <a:rou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p>
          </p:txBody>
        </p:sp>
        <p:sp>
          <p:nvSpPr>
            <p:cNvPr id="55" name="Text Box 15">
              <a:extLst>
                <a:ext uri="{FF2B5EF4-FFF2-40B4-BE49-F238E27FC236}">
                  <a16:creationId xmlns:a16="http://schemas.microsoft.com/office/drawing/2014/main" id="{08D98252-42D2-DD60-7F73-D30D57C98602}"/>
                </a:ext>
              </a:extLst>
            </p:cNvPr>
            <p:cNvSpPr txBox="1">
              <a:spLocks noChangeArrowheads="1"/>
            </p:cNvSpPr>
            <p:nvPr/>
          </p:nvSpPr>
          <p:spPr bwMode="auto">
            <a:xfrm>
              <a:off x="2233240" y="3405608"/>
              <a:ext cx="719008" cy="276999"/>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zh-CN"/>
              </a:defPPr>
              <a:lvl1pPr algn="ctr">
                <a:defRPr sz="1400"/>
              </a:lvl1pPr>
            </a:lstStyle>
            <a:p>
              <a:r>
                <a:rPr lang="zh-CN" altLang="en-US" sz="1200" dirty="0"/>
                <a:t>分组 </a:t>
              </a:r>
              <a:r>
                <a:rPr lang="en-US" altLang="zh-CN" sz="1200" dirty="0"/>
                <a:t>1</a:t>
              </a:r>
            </a:p>
          </p:txBody>
        </p:sp>
      </p:grpSp>
      <p:grpSp>
        <p:nvGrpSpPr>
          <p:cNvPr id="56" name="组合 55">
            <a:extLst>
              <a:ext uri="{FF2B5EF4-FFF2-40B4-BE49-F238E27FC236}">
                <a16:creationId xmlns:a16="http://schemas.microsoft.com/office/drawing/2014/main" id="{96CDE868-4185-125A-93A4-5573375D8419}"/>
              </a:ext>
            </a:extLst>
          </p:cNvPr>
          <p:cNvGrpSpPr/>
          <p:nvPr/>
        </p:nvGrpSpPr>
        <p:grpSpPr>
          <a:xfrm>
            <a:off x="5111256" y="2697396"/>
            <a:ext cx="2160744" cy="806127"/>
            <a:chOff x="1512000" y="3405608"/>
            <a:chExt cx="2160744" cy="806127"/>
          </a:xfrm>
        </p:grpSpPr>
        <p:sp>
          <p:nvSpPr>
            <p:cNvPr id="57" name="Rectangle 2">
              <a:extLst>
                <a:ext uri="{FF2B5EF4-FFF2-40B4-BE49-F238E27FC236}">
                  <a16:creationId xmlns:a16="http://schemas.microsoft.com/office/drawing/2014/main" id="{76A5D0D6-FD02-12BF-4374-01BF146465F6}"/>
                </a:ext>
              </a:extLst>
            </p:cNvPr>
            <p:cNvSpPr>
              <a:spLocks noChangeArrowheads="1"/>
            </p:cNvSpPr>
            <p:nvPr/>
          </p:nvSpPr>
          <p:spPr bwMode="auto">
            <a:xfrm>
              <a:off x="1872000" y="3851735"/>
              <a:ext cx="1800000" cy="360000"/>
            </a:xfrm>
            <a:prstGeom prst="rect">
              <a:avLst/>
            </a:prstGeom>
            <a:noFill/>
            <a:ln w="19050">
              <a:solidFill>
                <a:schemeClr val="tx1"/>
              </a:solidFill>
              <a:miter lim="800000"/>
            </a:ln>
          </p:spPr>
          <p:txBody>
            <a:bodyPr wrap="none" anchor="ctr"/>
            <a:lstStyle/>
            <a:p>
              <a:pPr algn="ctr"/>
              <a:r>
                <a:rPr lang="zh-CN" altLang="en-US" sz="1200" dirty="0"/>
                <a:t>数据 </a:t>
              </a:r>
              <a:r>
                <a:rPr lang="en-US" altLang="zh-CN" sz="1200" dirty="0"/>
                <a:t>Data</a:t>
              </a:r>
              <a:endParaRPr lang="zh-CN" altLang="en-US" sz="1200" dirty="0"/>
            </a:p>
          </p:txBody>
        </p:sp>
        <p:sp>
          <p:nvSpPr>
            <p:cNvPr id="58" name="Rectangle 10">
              <a:extLst>
                <a:ext uri="{FF2B5EF4-FFF2-40B4-BE49-F238E27FC236}">
                  <a16:creationId xmlns:a16="http://schemas.microsoft.com/office/drawing/2014/main" id="{CFBECEDD-18B1-481E-D9DC-D200A2F49FD7}"/>
                </a:ext>
              </a:extLst>
            </p:cNvPr>
            <p:cNvSpPr>
              <a:spLocks noChangeArrowheads="1"/>
            </p:cNvSpPr>
            <p:nvPr/>
          </p:nvSpPr>
          <p:spPr bwMode="auto">
            <a:xfrm>
              <a:off x="1512000" y="3851735"/>
              <a:ext cx="360000" cy="360000"/>
            </a:xfrm>
            <a:prstGeom prst="rect">
              <a:avLst/>
            </a:prstGeom>
            <a:pattFill prst="wdUpDiag">
              <a:fgClr>
                <a:schemeClr val="tx1">
                  <a:lumMod val="50000"/>
                  <a:lumOff val="50000"/>
                </a:schemeClr>
              </a:fgClr>
              <a:bgClr>
                <a:schemeClr val="bg1"/>
              </a:bgClr>
            </a:pattFill>
            <a:ln w="19050">
              <a:solidFill>
                <a:schemeClr val="tx1"/>
              </a:solidFill>
              <a:miter lim="800000"/>
            </a:ln>
          </p:spPr>
          <p:txBody>
            <a:bodyPr wrap="none" anchor="ctr"/>
            <a:lstStyle/>
            <a:p>
              <a:pPr algn="ctr"/>
              <a:r>
                <a:rPr lang="zh-CN" altLang="en-US" sz="1200" dirty="0"/>
                <a:t>首部</a:t>
              </a:r>
            </a:p>
          </p:txBody>
        </p:sp>
        <p:sp>
          <p:nvSpPr>
            <p:cNvPr id="59" name="AutoShape 14">
              <a:extLst>
                <a:ext uri="{FF2B5EF4-FFF2-40B4-BE49-F238E27FC236}">
                  <a16:creationId xmlns:a16="http://schemas.microsoft.com/office/drawing/2014/main" id="{78C3F735-F8AC-80C4-0029-400ECB71EE37}"/>
                </a:ext>
              </a:extLst>
            </p:cNvPr>
            <p:cNvSpPr/>
            <p:nvPr/>
          </p:nvSpPr>
          <p:spPr bwMode="auto">
            <a:xfrm rot="5400000">
              <a:off x="2531577" y="2674260"/>
              <a:ext cx="122334" cy="2160000"/>
            </a:xfrm>
            <a:prstGeom prst="leftBrace">
              <a:avLst>
                <a:gd name="adj1" fmla="val 134352"/>
                <a:gd name="adj2" fmla="val 50000"/>
              </a:avLst>
            </a:prstGeom>
            <a:noFill/>
            <a:ln w="12700">
              <a:solidFill>
                <a:schemeClr val="tx1"/>
              </a:solidFill>
              <a:rou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p>
          </p:txBody>
        </p:sp>
        <p:sp>
          <p:nvSpPr>
            <p:cNvPr id="60" name="Text Box 15">
              <a:extLst>
                <a:ext uri="{FF2B5EF4-FFF2-40B4-BE49-F238E27FC236}">
                  <a16:creationId xmlns:a16="http://schemas.microsoft.com/office/drawing/2014/main" id="{5B8E921E-7E05-FAB5-F4DD-B933725FBABE}"/>
                </a:ext>
              </a:extLst>
            </p:cNvPr>
            <p:cNvSpPr txBox="1">
              <a:spLocks noChangeArrowheads="1"/>
            </p:cNvSpPr>
            <p:nvPr/>
          </p:nvSpPr>
          <p:spPr bwMode="auto">
            <a:xfrm>
              <a:off x="2233240" y="3405608"/>
              <a:ext cx="719008" cy="276999"/>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zh-CN"/>
              </a:defPPr>
              <a:lvl1pPr algn="ctr">
                <a:defRPr sz="1400"/>
              </a:lvl1pPr>
            </a:lstStyle>
            <a:p>
              <a:r>
                <a:rPr lang="zh-CN" altLang="en-US" sz="1200" dirty="0"/>
                <a:t>分组 </a:t>
              </a:r>
              <a:r>
                <a:rPr lang="en-US" altLang="zh-CN" sz="1200" dirty="0"/>
                <a:t>1</a:t>
              </a:r>
            </a:p>
          </p:txBody>
        </p:sp>
      </p:grpSp>
      <p:sp>
        <p:nvSpPr>
          <p:cNvPr id="61" name="箭头: 下 60">
            <a:extLst>
              <a:ext uri="{FF2B5EF4-FFF2-40B4-BE49-F238E27FC236}">
                <a16:creationId xmlns:a16="http://schemas.microsoft.com/office/drawing/2014/main" id="{C3612CFA-5B65-8683-4682-D19054679422}"/>
              </a:ext>
            </a:extLst>
          </p:cNvPr>
          <p:cNvSpPr/>
          <p:nvPr/>
        </p:nvSpPr>
        <p:spPr>
          <a:xfrm>
            <a:off x="4484594" y="3650876"/>
            <a:ext cx="181535" cy="175812"/>
          </a:xfrm>
          <a:prstGeom prst="downArrow">
            <a:avLst/>
          </a:prstGeom>
          <a:solidFill>
            <a:srgbClr val="D4237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4156555406"/>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标题 11">
            <a:extLst>
              <a:ext uri="{FF2B5EF4-FFF2-40B4-BE49-F238E27FC236}">
                <a16:creationId xmlns:a16="http://schemas.microsoft.com/office/drawing/2014/main" id="{46F6232D-30A9-6E90-5463-09FCFA6AA518}"/>
              </a:ext>
            </a:extLst>
          </p:cNvPr>
          <p:cNvSpPr>
            <a:spLocks noGrp="1"/>
          </p:cNvSpPr>
          <p:nvPr>
            <p:ph type="title"/>
          </p:nvPr>
        </p:nvSpPr>
        <p:spPr>
          <a:xfrm>
            <a:off x="612000" y="144000"/>
            <a:ext cx="7920000" cy="341632"/>
          </a:xfrm>
        </p:spPr>
        <p:txBody>
          <a:bodyPr/>
          <a:lstStyle/>
          <a:p>
            <a:r>
              <a:rPr lang="en-US" altLang="zh-CN" dirty="0"/>
              <a:t>2. </a:t>
            </a:r>
            <a:r>
              <a:rPr lang="zh-CN" altLang="en-US" dirty="0"/>
              <a:t>分组交换 </a:t>
            </a:r>
            <a:r>
              <a:rPr lang="en-US" altLang="zh-CN" dirty="0"/>
              <a:t>Packet</a:t>
            </a:r>
            <a:r>
              <a:rPr lang="zh-CN" altLang="en-US" dirty="0"/>
              <a:t> </a:t>
            </a:r>
            <a:r>
              <a:rPr lang="en-US" altLang="zh-CN" dirty="0"/>
              <a:t>Switching</a:t>
            </a:r>
            <a:endParaRPr lang="zh-CN" altLang="en-US" dirty="0"/>
          </a:p>
        </p:txBody>
      </p:sp>
      <p:sp>
        <p:nvSpPr>
          <p:cNvPr id="3" name="内容占位符 2"/>
          <p:cNvSpPr>
            <a:spLocks noGrp="1"/>
          </p:cNvSpPr>
          <p:nvPr>
            <p:ph sz="quarter" idx="10"/>
          </p:nvPr>
        </p:nvSpPr>
        <p:spPr>
          <a:xfrm>
            <a:off x="612000" y="899999"/>
            <a:ext cx="7920000" cy="3780000"/>
          </a:xfrm>
        </p:spPr>
        <p:txBody>
          <a:bodyPr/>
          <a:lstStyle/>
          <a:p>
            <a:r>
              <a:rPr lang="zh-CN" altLang="en-US" dirty="0"/>
              <a:t>分组在互联网中的转发过程</a:t>
            </a:r>
            <a:endParaRPr lang="en-US" altLang="zh-CN" dirty="0"/>
          </a:p>
          <a:p>
            <a:pPr lvl="1"/>
            <a:r>
              <a:rPr lang="zh-CN" altLang="en-US" dirty="0"/>
              <a:t>根据首部中包含的目的地址、源地址等重要控制信息进行转发</a:t>
            </a:r>
            <a:endParaRPr lang="en-US" altLang="zh-CN" dirty="0"/>
          </a:p>
          <a:p>
            <a:pPr lvl="1"/>
            <a:r>
              <a:rPr lang="zh-CN" altLang="en-US" dirty="0"/>
              <a:t>每一个分组在互联网中独立选择传输路径</a:t>
            </a:r>
            <a:endParaRPr lang="en-US" altLang="zh-CN" dirty="0"/>
          </a:p>
          <a:p>
            <a:pPr lvl="1"/>
            <a:r>
              <a:rPr lang="zh-CN" altLang="en-US" dirty="0"/>
              <a:t>位于网络核心部分的路由器负责转发分组，即进行分组交换</a:t>
            </a:r>
            <a:endParaRPr lang="en-US" altLang="zh-CN" dirty="0"/>
          </a:p>
          <a:p>
            <a:pPr lvl="1"/>
            <a:r>
              <a:rPr lang="zh-CN" altLang="en-US" dirty="0"/>
              <a:t>路由器要创建和动态维护转发表</a:t>
            </a:r>
            <a:endParaRPr lang="en-US" altLang="zh-CN" dirty="0"/>
          </a:p>
          <a:p>
            <a:endParaRPr lang="en-US" altLang="zh-CN" dirty="0"/>
          </a:p>
        </p:txBody>
      </p:sp>
      <p:grpSp>
        <p:nvGrpSpPr>
          <p:cNvPr id="4" name="组合 3"/>
          <p:cNvGrpSpPr/>
          <p:nvPr/>
        </p:nvGrpSpPr>
        <p:grpSpPr>
          <a:xfrm>
            <a:off x="5951729" y="1621750"/>
            <a:ext cx="2682240" cy="3027422"/>
            <a:chOff x="5286100" y="1209505"/>
            <a:chExt cx="2682240" cy="3027422"/>
          </a:xfrm>
        </p:grpSpPr>
        <p:sp>
          <p:nvSpPr>
            <p:cNvPr id="5" name="圆角矩形 4"/>
            <p:cNvSpPr/>
            <p:nvPr/>
          </p:nvSpPr>
          <p:spPr>
            <a:xfrm>
              <a:off x="5286100" y="1209505"/>
              <a:ext cx="2682240" cy="307777"/>
            </a:xfrm>
            <a:prstGeom prst="rect">
              <a:avLst/>
            </a:prstGeom>
            <a:solidFill>
              <a:srgbClr val="F2F2F2"/>
            </a:solidFill>
            <a:ln>
              <a:noFill/>
            </a:ln>
          </p:spPr>
          <p:style>
            <a:lnRef idx="1">
              <a:schemeClr val="accent1"/>
            </a:lnRef>
            <a:fillRef idx="2">
              <a:schemeClr val="accent1"/>
            </a:fillRef>
            <a:effectRef idx="1">
              <a:schemeClr val="accent1"/>
            </a:effectRef>
            <a:fontRef idx="minor">
              <a:schemeClr val="dk1"/>
            </a:fontRef>
          </p:style>
          <p:txBody>
            <a:bodyPr rtlCol="0" anchor="ctr">
              <a:spAutoFit/>
            </a:bodyPr>
            <a:lstStyle/>
            <a:p>
              <a:pPr algn="ctr"/>
              <a:r>
                <a:rPr lang="zh-CN" altLang="en-US" sz="1400" dirty="0"/>
                <a:t>暂存收到的分组</a:t>
              </a:r>
            </a:p>
          </p:txBody>
        </p:sp>
        <p:sp>
          <p:nvSpPr>
            <p:cNvPr id="6" name="圆角矩形 5"/>
            <p:cNvSpPr/>
            <p:nvPr/>
          </p:nvSpPr>
          <p:spPr>
            <a:xfrm>
              <a:off x="5286100" y="1860312"/>
              <a:ext cx="2682240" cy="307777"/>
            </a:xfrm>
            <a:prstGeom prst="rect">
              <a:avLst/>
            </a:prstGeom>
            <a:solidFill>
              <a:srgbClr val="F2F2F2"/>
            </a:solidFill>
            <a:ln>
              <a:noFill/>
            </a:ln>
          </p:spPr>
          <p:style>
            <a:lnRef idx="1">
              <a:schemeClr val="accent1"/>
            </a:lnRef>
            <a:fillRef idx="2">
              <a:schemeClr val="accent1"/>
            </a:fillRef>
            <a:effectRef idx="1">
              <a:schemeClr val="accent1"/>
            </a:effectRef>
            <a:fontRef idx="minor">
              <a:schemeClr val="dk1"/>
            </a:fontRef>
          </p:style>
          <p:txBody>
            <a:bodyPr rtlCol="0" anchor="ctr">
              <a:spAutoFit/>
            </a:bodyPr>
            <a:lstStyle/>
            <a:p>
              <a:pPr algn="ctr"/>
              <a:r>
                <a:rPr lang="zh-CN" altLang="en-US" sz="1400" dirty="0"/>
                <a:t>检查分组首部</a:t>
              </a:r>
            </a:p>
          </p:txBody>
        </p:sp>
        <p:sp>
          <p:nvSpPr>
            <p:cNvPr id="7" name="圆角矩形 6"/>
            <p:cNvSpPr/>
            <p:nvPr/>
          </p:nvSpPr>
          <p:spPr>
            <a:xfrm>
              <a:off x="5286100" y="2526204"/>
              <a:ext cx="2682240" cy="307777"/>
            </a:xfrm>
            <a:prstGeom prst="rect">
              <a:avLst/>
            </a:prstGeom>
            <a:solidFill>
              <a:srgbClr val="F2F2F2"/>
            </a:solidFill>
            <a:ln>
              <a:noFill/>
            </a:ln>
          </p:spPr>
          <p:style>
            <a:lnRef idx="1">
              <a:schemeClr val="accent1"/>
            </a:lnRef>
            <a:fillRef idx="2">
              <a:schemeClr val="accent1"/>
            </a:fillRef>
            <a:effectRef idx="1">
              <a:schemeClr val="accent1"/>
            </a:effectRef>
            <a:fontRef idx="minor">
              <a:schemeClr val="dk1"/>
            </a:fontRef>
          </p:style>
          <p:txBody>
            <a:bodyPr rtlCol="0" anchor="ctr">
              <a:spAutoFit/>
            </a:bodyPr>
            <a:lstStyle/>
            <a:p>
              <a:pPr algn="ctr"/>
              <a:r>
                <a:rPr lang="zh-CN" altLang="en-US" sz="1400" dirty="0"/>
                <a:t>查找转发表</a:t>
              </a:r>
            </a:p>
          </p:txBody>
        </p:sp>
        <p:sp>
          <p:nvSpPr>
            <p:cNvPr id="8" name="圆角矩形 7"/>
            <p:cNvSpPr/>
            <p:nvPr/>
          </p:nvSpPr>
          <p:spPr>
            <a:xfrm>
              <a:off x="5286100" y="3225194"/>
              <a:ext cx="2682240" cy="523220"/>
            </a:xfrm>
            <a:prstGeom prst="rect">
              <a:avLst/>
            </a:prstGeom>
            <a:solidFill>
              <a:srgbClr val="F2F2F2"/>
            </a:solidFill>
            <a:ln>
              <a:noFill/>
            </a:ln>
          </p:spPr>
          <p:style>
            <a:lnRef idx="1">
              <a:schemeClr val="accent1"/>
            </a:lnRef>
            <a:fillRef idx="2">
              <a:schemeClr val="accent1"/>
            </a:fillRef>
            <a:effectRef idx="1">
              <a:schemeClr val="accent1"/>
            </a:effectRef>
            <a:fontRef idx="minor">
              <a:schemeClr val="dk1"/>
            </a:fontRef>
          </p:style>
          <p:txBody>
            <a:bodyPr rtlCol="0" anchor="ctr">
              <a:spAutoFit/>
            </a:bodyPr>
            <a:lstStyle/>
            <a:p>
              <a:r>
                <a:rPr lang="zh-CN" altLang="en-US" sz="1400" dirty="0"/>
                <a:t>按照首部中的目的地址，找到合适的接口转发出去</a:t>
              </a:r>
            </a:p>
          </p:txBody>
        </p:sp>
        <p:cxnSp>
          <p:nvCxnSpPr>
            <p:cNvPr id="10" name="直接箭头连接符 9"/>
            <p:cNvCxnSpPr/>
            <p:nvPr/>
          </p:nvCxnSpPr>
          <p:spPr>
            <a:xfrm>
              <a:off x="6627220" y="1554982"/>
              <a:ext cx="0" cy="267630"/>
            </a:xfrm>
            <a:prstGeom prst="straightConnector1">
              <a:avLst/>
            </a:prstGeom>
            <a:ln w="38100">
              <a:solidFill>
                <a:schemeClr val="tx1">
                  <a:lumMod val="50000"/>
                  <a:lumOff val="50000"/>
                </a:schemeClr>
              </a:solidFill>
              <a:tailEnd type="triangle"/>
            </a:ln>
          </p:spPr>
          <p:style>
            <a:lnRef idx="1">
              <a:schemeClr val="dk1"/>
            </a:lnRef>
            <a:fillRef idx="0">
              <a:schemeClr val="dk1"/>
            </a:fillRef>
            <a:effectRef idx="0">
              <a:schemeClr val="dk1"/>
            </a:effectRef>
            <a:fontRef idx="minor">
              <a:schemeClr val="tx1"/>
            </a:fontRef>
          </p:style>
        </p:cxnSp>
        <p:cxnSp>
          <p:nvCxnSpPr>
            <p:cNvPr id="11" name="直接箭头连接符 10"/>
            <p:cNvCxnSpPr/>
            <p:nvPr/>
          </p:nvCxnSpPr>
          <p:spPr>
            <a:xfrm>
              <a:off x="6627220" y="2205789"/>
              <a:ext cx="0" cy="282715"/>
            </a:xfrm>
            <a:prstGeom prst="straightConnector1">
              <a:avLst/>
            </a:prstGeom>
            <a:ln w="38100">
              <a:solidFill>
                <a:schemeClr val="tx1">
                  <a:lumMod val="50000"/>
                  <a:lumOff val="50000"/>
                </a:schemeClr>
              </a:solidFill>
              <a:tailEnd type="triangle"/>
            </a:ln>
          </p:spPr>
          <p:style>
            <a:lnRef idx="1">
              <a:schemeClr val="dk1"/>
            </a:lnRef>
            <a:fillRef idx="0">
              <a:schemeClr val="dk1"/>
            </a:fillRef>
            <a:effectRef idx="0">
              <a:schemeClr val="dk1"/>
            </a:effectRef>
            <a:fontRef idx="minor">
              <a:schemeClr val="tx1"/>
            </a:fontRef>
          </p:style>
        </p:cxnSp>
        <p:cxnSp>
          <p:nvCxnSpPr>
            <p:cNvPr id="14" name="直接箭头连接符 13"/>
            <p:cNvCxnSpPr/>
            <p:nvPr/>
          </p:nvCxnSpPr>
          <p:spPr>
            <a:xfrm>
              <a:off x="6627220" y="2871681"/>
              <a:ext cx="0" cy="282716"/>
            </a:xfrm>
            <a:prstGeom prst="straightConnector1">
              <a:avLst/>
            </a:prstGeom>
            <a:ln w="38100">
              <a:solidFill>
                <a:schemeClr val="tx1">
                  <a:lumMod val="50000"/>
                  <a:lumOff val="50000"/>
                </a:schemeClr>
              </a:solidFill>
              <a:tailEnd type="triangle"/>
            </a:ln>
          </p:spPr>
          <p:style>
            <a:lnRef idx="1">
              <a:schemeClr val="dk1"/>
            </a:lnRef>
            <a:fillRef idx="0">
              <a:schemeClr val="dk1"/>
            </a:fillRef>
            <a:effectRef idx="0">
              <a:schemeClr val="dk1"/>
            </a:effectRef>
            <a:fontRef idx="minor">
              <a:schemeClr val="tx1"/>
            </a:fontRef>
          </p:style>
        </p:cxnSp>
        <p:sp>
          <p:nvSpPr>
            <p:cNvPr id="24" name="矩形 23"/>
            <p:cNvSpPr/>
            <p:nvPr/>
          </p:nvSpPr>
          <p:spPr>
            <a:xfrm>
              <a:off x="5603590" y="3959928"/>
              <a:ext cx="223651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gn="ctr" eaLnBrk="0" hangingPunct="0"/>
              <a:r>
                <a:rPr lang="zh-CN" altLang="en-US" sz="1200" dirty="0"/>
                <a:t>路由器处理分组的过程</a:t>
              </a:r>
            </a:p>
          </p:txBody>
        </p:sp>
      </p:grpSp>
    </p:spTree>
    <p:extLst>
      <p:ext uri="{BB962C8B-B14F-4D97-AF65-F5344CB8AC3E}">
        <p14:creationId xmlns:p14="http://schemas.microsoft.com/office/powerpoint/2010/main" val="2493034234"/>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4758" name="矩形 3"/>
          <p:cNvSpPr>
            <a:spLocks noChangeArrowheads="1"/>
          </p:cNvSpPr>
          <p:nvPr/>
        </p:nvSpPr>
        <p:spPr bwMode="auto">
          <a:xfrm>
            <a:off x="2773349" y="4276262"/>
            <a:ext cx="4063201"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gn="ctr" eaLnBrk="0" hangingPunct="0"/>
            <a:r>
              <a:rPr lang="en-US" altLang="zh-CN" sz="1400" dirty="0"/>
              <a:t>(a) </a:t>
            </a:r>
            <a:r>
              <a:rPr lang="zh-CN" altLang="zh-CN" sz="1400" dirty="0"/>
              <a:t>核心部分的路由器把网络互连起来</a:t>
            </a:r>
            <a:endParaRPr lang="zh-CN" altLang="en-US" sz="1400" dirty="0"/>
          </a:p>
        </p:txBody>
      </p:sp>
      <p:grpSp>
        <p:nvGrpSpPr>
          <p:cNvPr id="5" name="组合 4"/>
          <p:cNvGrpSpPr/>
          <p:nvPr/>
        </p:nvGrpSpPr>
        <p:grpSpPr>
          <a:xfrm>
            <a:off x="1836055" y="838602"/>
            <a:ext cx="5713413" cy="3270250"/>
            <a:chOff x="1836055" y="838602"/>
            <a:chExt cx="5713413" cy="3270250"/>
          </a:xfrm>
        </p:grpSpPr>
        <p:sp>
          <p:nvSpPr>
            <p:cNvPr id="74766" name="Text Box 204"/>
            <p:cNvSpPr txBox="1">
              <a:spLocks noChangeArrowheads="1"/>
            </p:cNvSpPr>
            <p:nvPr/>
          </p:nvSpPr>
          <p:spPr bwMode="auto">
            <a:xfrm>
              <a:off x="4010293" y="838602"/>
              <a:ext cx="1415466" cy="33867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zh-CN" altLang="en-US" sz="1600" b="1" dirty="0">
                  <a:solidFill>
                    <a:srgbClr val="0000FF"/>
                  </a:solidFill>
                  <a:latin typeface="微软雅黑" panose="020B0503020204020204" pitchFamily="34" charset="-122"/>
                  <a:ea typeface="微软雅黑" panose="020B0503020204020204" pitchFamily="34" charset="-122"/>
                </a:rPr>
                <a:t>网络核心部分</a:t>
              </a:r>
            </a:p>
          </p:txBody>
        </p:sp>
        <p:sp>
          <p:nvSpPr>
            <p:cNvPr id="74768" name="Oval 4"/>
            <p:cNvSpPr>
              <a:spLocks noChangeArrowheads="1"/>
            </p:cNvSpPr>
            <p:nvPr/>
          </p:nvSpPr>
          <p:spPr bwMode="auto">
            <a:xfrm rot="19925028">
              <a:off x="3261024" y="1483825"/>
              <a:ext cx="1436906" cy="830588"/>
            </a:xfrm>
            <a:prstGeom prst="ellipse">
              <a:avLst/>
            </a:prstGeom>
            <a:solidFill>
              <a:schemeClr val="bg1"/>
            </a:solidFill>
            <a:ln w="19050">
              <a:solidFill>
                <a:srgbClr val="00B05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769" name="Oval 5"/>
            <p:cNvSpPr>
              <a:spLocks noChangeArrowheads="1"/>
            </p:cNvSpPr>
            <p:nvPr/>
          </p:nvSpPr>
          <p:spPr bwMode="auto">
            <a:xfrm rot="20825028">
              <a:off x="4223452" y="1315710"/>
              <a:ext cx="1255006" cy="771498"/>
            </a:xfrm>
            <a:prstGeom prst="ellipse">
              <a:avLst/>
            </a:prstGeom>
            <a:solidFill>
              <a:schemeClr val="bg1"/>
            </a:solidFill>
            <a:ln w="19050">
              <a:solidFill>
                <a:srgbClr val="00B05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770" name="Oval 6"/>
            <p:cNvSpPr>
              <a:spLocks noChangeArrowheads="1"/>
            </p:cNvSpPr>
            <p:nvPr/>
          </p:nvSpPr>
          <p:spPr bwMode="auto">
            <a:xfrm rot="21425028">
              <a:off x="5140647" y="1597012"/>
              <a:ext cx="926818" cy="997871"/>
            </a:xfrm>
            <a:prstGeom prst="ellipse">
              <a:avLst/>
            </a:prstGeom>
            <a:solidFill>
              <a:schemeClr val="bg1"/>
            </a:solidFill>
            <a:ln w="19050">
              <a:solidFill>
                <a:srgbClr val="00B05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771" name="Oval 7"/>
            <p:cNvSpPr>
              <a:spLocks noChangeArrowheads="1"/>
            </p:cNvSpPr>
            <p:nvPr/>
          </p:nvSpPr>
          <p:spPr bwMode="auto">
            <a:xfrm rot="18365028">
              <a:off x="5329718" y="2115794"/>
              <a:ext cx="823930" cy="863298"/>
            </a:xfrm>
            <a:prstGeom prst="ellipse">
              <a:avLst/>
            </a:prstGeom>
            <a:solidFill>
              <a:schemeClr val="bg1"/>
            </a:solidFill>
            <a:ln w="19050">
              <a:solidFill>
                <a:srgbClr val="00B05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772" name="Oval 8"/>
            <p:cNvSpPr>
              <a:spLocks noChangeArrowheads="1"/>
            </p:cNvSpPr>
            <p:nvPr/>
          </p:nvSpPr>
          <p:spPr bwMode="auto">
            <a:xfrm rot="19925028">
              <a:off x="4260987" y="2586559"/>
              <a:ext cx="1571645" cy="926298"/>
            </a:xfrm>
            <a:prstGeom prst="ellipse">
              <a:avLst/>
            </a:prstGeom>
            <a:solidFill>
              <a:schemeClr val="bg1"/>
            </a:solidFill>
            <a:ln w="19050">
              <a:solidFill>
                <a:srgbClr val="00B05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773" name="Oval 9"/>
            <p:cNvSpPr>
              <a:spLocks noChangeArrowheads="1"/>
            </p:cNvSpPr>
            <p:nvPr/>
          </p:nvSpPr>
          <p:spPr bwMode="auto">
            <a:xfrm rot="21005028">
              <a:off x="3644070" y="2977718"/>
              <a:ext cx="1123153" cy="640835"/>
            </a:xfrm>
            <a:prstGeom prst="ellipse">
              <a:avLst/>
            </a:prstGeom>
            <a:solidFill>
              <a:schemeClr val="bg1"/>
            </a:solidFill>
            <a:ln w="19050">
              <a:solidFill>
                <a:srgbClr val="00B05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774" name="Oval 10"/>
            <p:cNvSpPr>
              <a:spLocks noChangeArrowheads="1"/>
            </p:cNvSpPr>
            <p:nvPr/>
          </p:nvSpPr>
          <p:spPr bwMode="auto">
            <a:xfrm rot="19925028">
              <a:off x="3212903" y="2698914"/>
              <a:ext cx="711235" cy="757350"/>
            </a:xfrm>
            <a:prstGeom prst="ellipse">
              <a:avLst/>
            </a:prstGeom>
            <a:solidFill>
              <a:schemeClr val="bg1"/>
            </a:solidFill>
            <a:ln w="19050">
              <a:solidFill>
                <a:srgbClr val="00B05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775" name="Oval 11"/>
            <p:cNvSpPr>
              <a:spLocks noChangeArrowheads="1"/>
            </p:cNvSpPr>
            <p:nvPr/>
          </p:nvSpPr>
          <p:spPr bwMode="auto">
            <a:xfrm rot="18065028">
              <a:off x="2929036" y="2082904"/>
              <a:ext cx="950437" cy="846724"/>
            </a:xfrm>
            <a:prstGeom prst="ellipse">
              <a:avLst/>
            </a:prstGeom>
            <a:solidFill>
              <a:schemeClr val="bg1"/>
            </a:solidFill>
            <a:ln w="19050">
              <a:solidFill>
                <a:srgbClr val="00B05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776" name="Freeform 12"/>
            <p:cNvSpPr/>
            <p:nvPr/>
          </p:nvSpPr>
          <p:spPr bwMode="auto">
            <a:xfrm>
              <a:off x="3279311" y="1460523"/>
              <a:ext cx="2733295" cy="2019876"/>
            </a:xfrm>
            <a:custGeom>
              <a:avLst/>
              <a:gdLst>
                <a:gd name="T0" fmla="*/ 1464503 w 1931"/>
                <a:gd name="T1" fmla="*/ 601724 h 1684"/>
                <a:gd name="T2" fmla="*/ 1598559 w 1931"/>
                <a:gd name="T3" fmla="*/ 384371 h 1684"/>
                <a:gd name="T4" fmla="*/ 1757909 w 1931"/>
                <a:gd name="T5" fmla="*/ 288278 h 1684"/>
                <a:gd name="T6" fmla="*/ 2316899 w 1931"/>
                <a:gd name="T7" fmla="*/ 263111 h 1684"/>
                <a:gd name="T8" fmla="*/ 2769655 w 1931"/>
                <a:gd name="T9" fmla="*/ 118972 h 1684"/>
                <a:gd name="T10" fmla="*/ 2929005 w 1931"/>
                <a:gd name="T11" fmla="*/ 48046 h 1684"/>
                <a:gd name="T12" fmla="*/ 3088355 w 1931"/>
                <a:gd name="T13" fmla="*/ 0 h 1684"/>
                <a:gd name="T14" fmla="*/ 3381762 w 1931"/>
                <a:gd name="T15" fmla="*/ 96093 h 1684"/>
                <a:gd name="T16" fmla="*/ 3541112 w 1931"/>
                <a:gd name="T17" fmla="*/ 192186 h 1684"/>
                <a:gd name="T18" fmla="*/ 3622052 w 1931"/>
                <a:gd name="T19" fmla="*/ 240232 h 1684"/>
                <a:gd name="T20" fmla="*/ 3806695 w 1931"/>
                <a:gd name="T21" fmla="*/ 361492 h 1684"/>
                <a:gd name="T22" fmla="*/ 3859812 w 1931"/>
                <a:gd name="T23" fmla="*/ 432418 h 1684"/>
                <a:gd name="T24" fmla="*/ 3940752 w 1931"/>
                <a:gd name="T25" fmla="*/ 480464 h 1684"/>
                <a:gd name="T26" fmla="*/ 4181041 w 1931"/>
                <a:gd name="T27" fmla="*/ 672650 h 1684"/>
                <a:gd name="T28" fmla="*/ 4393508 w 1931"/>
                <a:gd name="T29" fmla="*/ 841956 h 1684"/>
                <a:gd name="T30" fmla="*/ 4552858 w 1931"/>
                <a:gd name="T31" fmla="*/ 890003 h 1684"/>
                <a:gd name="T32" fmla="*/ 4633798 w 1931"/>
                <a:gd name="T33" fmla="*/ 938049 h 1684"/>
                <a:gd name="T34" fmla="*/ 4846265 w 1931"/>
                <a:gd name="T35" fmla="*/ 1347588 h 1684"/>
                <a:gd name="T36" fmla="*/ 4659091 w 1931"/>
                <a:gd name="T37" fmla="*/ 2480110 h 1684"/>
                <a:gd name="T38" fmla="*/ 4474448 w 1931"/>
                <a:gd name="T39" fmla="*/ 2672296 h 1684"/>
                <a:gd name="T40" fmla="*/ 4181041 w 1931"/>
                <a:gd name="T41" fmla="*/ 2937695 h 1684"/>
                <a:gd name="T42" fmla="*/ 4021691 w 1931"/>
                <a:gd name="T43" fmla="*/ 3081834 h 1684"/>
                <a:gd name="T44" fmla="*/ 3940752 w 1931"/>
                <a:gd name="T45" fmla="*/ 3129881 h 1684"/>
                <a:gd name="T46" fmla="*/ 3728285 w 1931"/>
                <a:gd name="T47" fmla="*/ 3274020 h 1684"/>
                <a:gd name="T48" fmla="*/ 3568935 w 1931"/>
                <a:gd name="T49" fmla="*/ 3324354 h 1684"/>
                <a:gd name="T50" fmla="*/ 3169295 w 1931"/>
                <a:gd name="T51" fmla="*/ 3612633 h 1684"/>
                <a:gd name="T52" fmla="*/ 3009945 w 1931"/>
                <a:gd name="T53" fmla="*/ 3708726 h 1684"/>
                <a:gd name="T54" fmla="*/ 2529366 w 1931"/>
                <a:gd name="T55" fmla="*/ 3852865 h 1684"/>
                <a:gd name="T56" fmla="*/ 1092686 w 1931"/>
                <a:gd name="T57" fmla="*/ 3781939 h 1684"/>
                <a:gd name="T58" fmla="*/ 852396 w 1931"/>
                <a:gd name="T59" fmla="*/ 3708726 h 1684"/>
                <a:gd name="T60" fmla="*/ 612106 w 1931"/>
                <a:gd name="T61" fmla="*/ 3564587 h 1684"/>
                <a:gd name="T62" fmla="*/ 424933 w 1931"/>
                <a:gd name="T63" fmla="*/ 3347234 h 1684"/>
                <a:gd name="T64" fmla="*/ 318700 w 1931"/>
                <a:gd name="T65" fmla="*/ 3203094 h 1684"/>
                <a:gd name="T66" fmla="*/ 265583 w 1931"/>
                <a:gd name="T67" fmla="*/ 3129881 h 1684"/>
                <a:gd name="T68" fmla="*/ 53117 w 1931"/>
                <a:gd name="T69" fmla="*/ 2841602 h 1684"/>
                <a:gd name="T70" fmla="*/ 80940 w 1931"/>
                <a:gd name="T71" fmla="*/ 2358850 h 1684"/>
                <a:gd name="T72" fmla="*/ 106233 w 1931"/>
                <a:gd name="T73" fmla="*/ 1878386 h 1684"/>
                <a:gd name="T74" fmla="*/ 212467 w 1931"/>
                <a:gd name="T75" fmla="*/ 1443680 h 1684"/>
                <a:gd name="T76" fmla="*/ 505873 w 1931"/>
                <a:gd name="T77" fmla="*/ 771031 h 1684"/>
                <a:gd name="T78" fmla="*/ 612106 w 1931"/>
                <a:gd name="T79" fmla="*/ 601724 h 1684"/>
                <a:gd name="T80" fmla="*/ 771457 w 1931"/>
                <a:gd name="T81" fmla="*/ 576557 h 1684"/>
                <a:gd name="T82" fmla="*/ 824573 w 1931"/>
                <a:gd name="T83" fmla="*/ 432418 h 1684"/>
                <a:gd name="T84" fmla="*/ 1011746 w 1931"/>
                <a:gd name="T85" fmla="*/ 336325 h 1684"/>
                <a:gd name="T86" fmla="*/ 1092686 w 1931"/>
                <a:gd name="T87" fmla="*/ 384371 h 1684"/>
                <a:gd name="T88" fmla="*/ 1145803 w 1931"/>
                <a:gd name="T89" fmla="*/ 457585 h 1684"/>
                <a:gd name="T90" fmla="*/ 1358269 w 1931"/>
                <a:gd name="T91" fmla="*/ 480464 h 1684"/>
                <a:gd name="T92" fmla="*/ 1411386 w 1931"/>
                <a:gd name="T93" fmla="*/ 553678 h 1684"/>
                <a:gd name="T94" fmla="*/ 1464503 w 1931"/>
                <a:gd name="T95" fmla="*/ 601724 h 1684"/>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0" t="0" r="r" b="b"/>
              <a:pathLst>
                <a:path w="1931" h="1684">
                  <a:moveTo>
                    <a:pt x="579" y="263"/>
                  </a:moveTo>
                  <a:cubicBezTo>
                    <a:pt x="590" y="230"/>
                    <a:pt x="602" y="188"/>
                    <a:pt x="632" y="168"/>
                  </a:cubicBezTo>
                  <a:cubicBezTo>
                    <a:pt x="653" y="154"/>
                    <a:pt x="695" y="126"/>
                    <a:pt x="695" y="126"/>
                  </a:cubicBezTo>
                  <a:cubicBezTo>
                    <a:pt x="755" y="218"/>
                    <a:pt x="842" y="134"/>
                    <a:pt x="916" y="115"/>
                  </a:cubicBezTo>
                  <a:cubicBezTo>
                    <a:pt x="974" y="76"/>
                    <a:pt x="1024" y="61"/>
                    <a:pt x="1095" y="52"/>
                  </a:cubicBezTo>
                  <a:cubicBezTo>
                    <a:pt x="1201" y="18"/>
                    <a:pt x="1043" y="72"/>
                    <a:pt x="1158" y="21"/>
                  </a:cubicBezTo>
                  <a:cubicBezTo>
                    <a:pt x="1178" y="12"/>
                    <a:pt x="1221" y="0"/>
                    <a:pt x="1221" y="0"/>
                  </a:cubicBezTo>
                  <a:cubicBezTo>
                    <a:pt x="1260" y="14"/>
                    <a:pt x="1298" y="28"/>
                    <a:pt x="1337" y="42"/>
                  </a:cubicBezTo>
                  <a:cubicBezTo>
                    <a:pt x="1361" y="51"/>
                    <a:pt x="1379" y="70"/>
                    <a:pt x="1400" y="84"/>
                  </a:cubicBezTo>
                  <a:cubicBezTo>
                    <a:pt x="1411" y="91"/>
                    <a:pt x="1432" y="105"/>
                    <a:pt x="1432" y="105"/>
                  </a:cubicBezTo>
                  <a:cubicBezTo>
                    <a:pt x="1513" y="215"/>
                    <a:pt x="1412" y="96"/>
                    <a:pt x="1505" y="158"/>
                  </a:cubicBezTo>
                  <a:cubicBezTo>
                    <a:pt x="1515" y="165"/>
                    <a:pt x="1517" y="180"/>
                    <a:pt x="1526" y="189"/>
                  </a:cubicBezTo>
                  <a:cubicBezTo>
                    <a:pt x="1535" y="198"/>
                    <a:pt x="1547" y="203"/>
                    <a:pt x="1558" y="210"/>
                  </a:cubicBezTo>
                  <a:cubicBezTo>
                    <a:pt x="1591" y="261"/>
                    <a:pt x="1608" y="260"/>
                    <a:pt x="1653" y="294"/>
                  </a:cubicBezTo>
                  <a:cubicBezTo>
                    <a:pt x="1683" y="316"/>
                    <a:pt x="1706" y="348"/>
                    <a:pt x="1737" y="368"/>
                  </a:cubicBezTo>
                  <a:cubicBezTo>
                    <a:pt x="1756" y="380"/>
                    <a:pt x="1780" y="380"/>
                    <a:pt x="1800" y="389"/>
                  </a:cubicBezTo>
                  <a:cubicBezTo>
                    <a:pt x="1812" y="394"/>
                    <a:pt x="1821" y="403"/>
                    <a:pt x="1832" y="410"/>
                  </a:cubicBezTo>
                  <a:cubicBezTo>
                    <a:pt x="1848" y="477"/>
                    <a:pt x="1878" y="532"/>
                    <a:pt x="1916" y="589"/>
                  </a:cubicBezTo>
                  <a:cubicBezTo>
                    <a:pt x="1930" y="740"/>
                    <a:pt x="1931" y="949"/>
                    <a:pt x="1842" y="1084"/>
                  </a:cubicBezTo>
                  <a:cubicBezTo>
                    <a:pt x="1828" y="1130"/>
                    <a:pt x="1803" y="1134"/>
                    <a:pt x="1769" y="1168"/>
                  </a:cubicBezTo>
                  <a:cubicBezTo>
                    <a:pt x="1742" y="1246"/>
                    <a:pt x="1702" y="1245"/>
                    <a:pt x="1653" y="1284"/>
                  </a:cubicBezTo>
                  <a:cubicBezTo>
                    <a:pt x="1630" y="1303"/>
                    <a:pt x="1615" y="1331"/>
                    <a:pt x="1590" y="1347"/>
                  </a:cubicBezTo>
                  <a:cubicBezTo>
                    <a:pt x="1579" y="1354"/>
                    <a:pt x="1568" y="1361"/>
                    <a:pt x="1558" y="1368"/>
                  </a:cubicBezTo>
                  <a:cubicBezTo>
                    <a:pt x="1530" y="1389"/>
                    <a:pt x="1502" y="1410"/>
                    <a:pt x="1474" y="1431"/>
                  </a:cubicBezTo>
                  <a:cubicBezTo>
                    <a:pt x="1456" y="1444"/>
                    <a:pt x="1411" y="1453"/>
                    <a:pt x="1411" y="1453"/>
                  </a:cubicBezTo>
                  <a:cubicBezTo>
                    <a:pt x="1358" y="1505"/>
                    <a:pt x="1314" y="1538"/>
                    <a:pt x="1253" y="1579"/>
                  </a:cubicBezTo>
                  <a:cubicBezTo>
                    <a:pt x="1232" y="1593"/>
                    <a:pt x="1214" y="1613"/>
                    <a:pt x="1190" y="1621"/>
                  </a:cubicBezTo>
                  <a:cubicBezTo>
                    <a:pt x="1127" y="1642"/>
                    <a:pt x="1064" y="1664"/>
                    <a:pt x="1000" y="1684"/>
                  </a:cubicBezTo>
                  <a:cubicBezTo>
                    <a:pt x="808" y="1622"/>
                    <a:pt x="697" y="1658"/>
                    <a:pt x="432" y="1653"/>
                  </a:cubicBezTo>
                  <a:cubicBezTo>
                    <a:pt x="358" y="1629"/>
                    <a:pt x="389" y="1640"/>
                    <a:pt x="337" y="1621"/>
                  </a:cubicBezTo>
                  <a:cubicBezTo>
                    <a:pt x="296" y="1580"/>
                    <a:pt x="282" y="1591"/>
                    <a:pt x="242" y="1558"/>
                  </a:cubicBezTo>
                  <a:cubicBezTo>
                    <a:pt x="209" y="1530"/>
                    <a:pt x="193" y="1500"/>
                    <a:pt x="168" y="1463"/>
                  </a:cubicBezTo>
                  <a:cubicBezTo>
                    <a:pt x="154" y="1442"/>
                    <a:pt x="140" y="1421"/>
                    <a:pt x="126" y="1400"/>
                  </a:cubicBezTo>
                  <a:cubicBezTo>
                    <a:pt x="119" y="1389"/>
                    <a:pt x="105" y="1368"/>
                    <a:pt x="105" y="1368"/>
                  </a:cubicBezTo>
                  <a:cubicBezTo>
                    <a:pt x="88" y="1315"/>
                    <a:pt x="51" y="1287"/>
                    <a:pt x="21" y="1242"/>
                  </a:cubicBezTo>
                  <a:cubicBezTo>
                    <a:pt x="0" y="1175"/>
                    <a:pt x="23" y="1099"/>
                    <a:pt x="32" y="1031"/>
                  </a:cubicBezTo>
                  <a:cubicBezTo>
                    <a:pt x="35" y="961"/>
                    <a:pt x="36" y="891"/>
                    <a:pt x="42" y="821"/>
                  </a:cubicBezTo>
                  <a:cubicBezTo>
                    <a:pt x="47" y="760"/>
                    <a:pt x="75" y="693"/>
                    <a:pt x="84" y="631"/>
                  </a:cubicBezTo>
                  <a:cubicBezTo>
                    <a:pt x="99" y="528"/>
                    <a:pt x="112" y="402"/>
                    <a:pt x="200" y="337"/>
                  </a:cubicBezTo>
                  <a:cubicBezTo>
                    <a:pt x="214" y="312"/>
                    <a:pt x="220" y="281"/>
                    <a:pt x="242" y="263"/>
                  </a:cubicBezTo>
                  <a:cubicBezTo>
                    <a:pt x="259" y="250"/>
                    <a:pt x="289" y="266"/>
                    <a:pt x="305" y="252"/>
                  </a:cubicBezTo>
                  <a:cubicBezTo>
                    <a:pt x="322" y="237"/>
                    <a:pt x="313" y="207"/>
                    <a:pt x="326" y="189"/>
                  </a:cubicBezTo>
                  <a:cubicBezTo>
                    <a:pt x="343" y="166"/>
                    <a:pt x="376" y="163"/>
                    <a:pt x="400" y="147"/>
                  </a:cubicBezTo>
                  <a:cubicBezTo>
                    <a:pt x="411" y="154"/>
                    <a:pt x="423" y="159"/>
                    <a:pt x="432" y="168"/>
                  </a:cubicBezTo>
                  <a:cubicBezTo>
                    <a:pt x="441" y="177"/>
                    <a:pt x="441" y="195"/>
                    <a:pt x="453" y="200"/>
                  </a:cubicBezTo>
                  <a:cubicBezTo>
                    <a:pt x="479" y="210"/>
                    <a:pt x="509" y="207"/>
                    <a:pt x="537" y="210"/>
                  </a:cubicBezTo>
                  <a:cubicBezTo>
                    <a:pt x="544" y="221"/>
                    <a:pt x="550" y="232"/>
                    <a:pt x="558" y="242"/>
                  </a:cubicBezTo>
                  <a:cubicBezTo>
                    <a:pt x="566" y="251"/>
                    <a:pt x="610" y="291"/>
                    <a:pt x="579" y="263"/>
                  </a:cubicBezTo>
                  <a:close/>
                </a:path>
              </a:pathLst>
            </a:custGeom>
            <a:solidFill>
              <a:schemeClr val="bg1"/>
            </a:solidFill>
            <a:ln>
              <a:noFill/>
            </a:ln>
            <a:effectLst/>
            <a:extLst>
              <a:ext uri="{91240B29-F687-4F45-9708-019B960494DF}">
                <a14:hiddenLine xmlns:a14="http://schemas.microsoft.com/office/drawing/2010/main" w="9525">
                  <a:solidFill>
                    <a:schemeClr val="tx1"/>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777" name="Line 13"/>
            <p:cNvSpPr>
              <a:spLocks noChangeShapeType="1"/>
            </p:cNvSpPr>
            <p:nvPr/>
          </p:nvSpPr>
          <p:spPr bwMode="auto">
            <a:xfrm flipV="1">
              <a:off x="3975146" y="1450283"/>
              <a:ext cx="950879" cy="348713"/>
            </a:xfrm>
            <a:prstGeom prst="line">
              <a:avLst/>
            </a:prstGeom>
            <a:noFill/>
            <a:ln w="25400">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778" name="Line 14"/>
            <p:cNvSpPr>
              <a:spLocks noChangeShapeType="1"/>
            </p:cNvSpPr>
            <p:nvPr/>
          </p:nvSpPr>
          <p:spPr bwMode="auto">
            <a:xfrm>
              <a:off x="5043441" y="1496889"/>
              <a:ext cx="562057" cy="876361"/>
            </a:xfrm>
            <a:prstGeom prst="line">
              <a:avLst/>
            </a:prstGeom>
            <a:noFill/>
            <a:ln w="25400">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779" name="Line 15"/>
            <p:cNvSpPr>
              <a:spLocks noChangeShapeType="1"/>
            </p:cNvSpPr>
            <p:nvPr/>
          </p:nvSpPr>
          <p:spPr bwMode="auto">
            <a:xfrm flipH="1">
              <a:off x="3415013" y="1855590"/>
              <a:ext cx="493726" cy="789808"/>
            </a:xfrm>
            <a:prstGeom prst="line">
              <a:avLst/>
            </a:prstGeom>
            <a:noFill/>
            <a:ln w="25400">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780" name="Line 16"/>
            <p:cNvSpPr>
              <a:spLocks noChangeShapeType="1"/>
            </p:cNvSpPr>
            <p:nvPr/>
          </p:nvSpPr>
          <p:spPr bwMode="auto">
            <a:xfrm>
              <a:off x="3444848" y="2755255"/>
              <a:ext cx="1158164" cy="528772"/>
            </a:xfrm>
            <a:prstGeom prst="line">
              <a:avLst/>
            </a:prstGeom>
            <a:noFill/>
            <a:ln w="25400">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781" name="Line 17"/>
            <p:cNvSpPr>
              <a:spLocks noChangeShapeType="1"/>
            </p:cNvSpPr>
            <p:nvPr/>
          </p:nvSpPr>
          <p:spPr bwMode="auto">
            <a:xfrm flipV="1">
              <a:off x="4619973" y="2547192"/>
              <a:ext cx="985526" cy="819768"/>
            </a:xfrm>
            <a:prstGeom prst="line">
              <a:avLst/>
            </a:prstGeom>
            <a:noFill/>
            <a:ln w="25400">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782" name="Line 18"/>
            <p:cNvSpPr>
              <a:spLocks noChangeShapeType="1"/>
            </p:cNvSpPr>
            <p:nvPr/>
          </p:nvSpPr>
          <p:spPr bwMode="auto">
            <a:xfrm>
              <a:off x="4013643" y="1859751"/>
              <a:ext cx="1580306" cy="595060"/>
            </a:xfrm>
            <a:prstGeom prst="line">
              <a:avLst/>
            </a:prstGeom>
            <a:noFill/>
            <a:ln w="25400">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783" name="Line 19"/>
            <p:cNvSpPr>
              <a:spLocks noChangeShapeType="1"/>
            </p:cNvSpPr>
            <p:nvPr/>
          </p:nvSpPr>
          <p:spPr bwMode="auto">
            <a:xfrm>
              <a:off x="3938573" y="1759049"/>
              <a:ext cx="742995" cy="1551318"/>
            </a:xfrm>
            <a:prstGeom prst="line">
              <a:avLst/>
            </a:prstGeom>
            <a:noFill/>
            <a:ln w="25400">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784" name="Line 20"/>
            <p:cNvSpPr>
              <a:spLocks noChangeShapeType="1"/>
            </p:cNvSpPr>
            <p:nvPr/>
          </p:nvSpPr>
          <p:spPr bwMode="auto">
            <a:xfrm flipV="1">
              <a:off x="3943560" y="3368046"/>
              <a:ext cx="710097" cy="480843"/>
            </a:xfrm>
            <a:prstGeom prst="line">
              <a:avLst/>
            </a:prstGeom>
            <a:noFill/>
            <a:ln w="28575">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785" name="Line 21"/>
            <p:cNvSpPr>
              <a:spLocks noChangeShapeType="1"/>
            </p:cNvSpPr>
            <p:nvPr/>
          </p:nvSpPr>
          <p:spPr bwMode="auto">
            <a:xfrm rot="16200000">
              <a:off x="5274732" y="791473"/>
              <a:ext cx="441496" cy="996470"/>
            </a:xfrm>
            <a:prstGeom prst="line">
              <a:avLst/>
            </a:prstGeom>
            <a:noFill/>
            <a:ln w="28575">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786" name="Line 22"/>
            <p:cNvSpPr>
              <a:spLocks noChangeShapeType="1"/>
            </p:cNvSpPr>
            <p:nvPr/>
          </p:nvSpPr>
          <p:spPr bwMode="auto">
            <a:xfrm>
              <a:off x="5674794" y="2560760"/>
              <a:ext cx="475439" cy="633344"/>
            </a:xfrm>
            <a:prstGeom prst="line">
              <a:avLst/>
            </a:prstGeom>
            <a:noFill/>
            <a:ln w="25400">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787" name="Line 23"/>
            <p:cNvSpPr>
              <a:spLocks noChangeShapeType="1"/>
            </p:cNvSpPr>
            <p:nvPr/>
          </p:nvSpPr>
          <p:spPr bwMode="auto">
            <a:xfrm>
              <a:off x="2409672" y="2737197"/>
              <a:ext cx="1011115" cy="0"/>
            </a:xfrm>
            <a:prstGeom prst="line">
              <a:avLst/>
            </a:prstGeom>
            <a:noFill/>
            <a:ln w="28575">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788" name="Line 24"/>
            <p:cNvSpPr>
              <a:spLocks noChangeShapeType="1"/>
            </p:cNvSpPr>
            <p:nvPr/>
          </p:nvSpPr>
          <p:spPr bwMode="auto">
            <a:xfrm rot="5400000" flipH="1">
              <a:off x="3538107" y="1405885"/>
              <a:ext cx="512122" cy="232993"/>
            </a:xfrm>
            <a:prstGeom prst="line">
              <a:avLst/>
            </a:prstGeom>
            <a:noFill/>
            <a:ln w="25400">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789" name="Text Box 25"/>
            <p:cNvSpPr txBox="1">
              <a:spLocks noChangeArrowheads="1"/>
            </p:cNvSpPr>
            <p:nvPr/>
          </p:nvSpPr>
          <p:spPr bwMode="auto">
            <a:xfrm>
              <a:off x="1836055" y="2557062"/>
              <a:ext cx="405792" cy="3078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400" b="1">
                  <a:solidFill>
                    <a:prstClr val="black"/>
                  </a:solidFill>
                  <a:latin typeface="微软雅黑" panose="020B0503020204020204" pitchFamily="34" charset="-122"/>
                  <a:ea typeface="微软雅黑" panose="020B0503020204020204" pitchFamily="34" charset="-122"/>
                </a:rPr>
                <a:t>H</a:t>
              </a:r>
              <a:r>
                <a:rPr kumimoji="1" lang="en-US" altLang="zh-CN" sz="1400" b="1" baseline="-25000">
                  <a:solidFill>
                    <a:prstClr val="black"/>
                  </a:solidFill>
                  <a:latin typeface="微软雅黑" panose="020B0503020204020204" pitchFamily="34" charset="-122"/>
                  <a:ea typeface="微软雅黑" panose="020B0503020204020204" pitchFamily="34" charset="-122"/>
                </a:rPr>
                <a:t>1</a:t>
              </a:r>
            </a:p>
          </p:txBody>
        </p:sp>
        <p:sp>
          <p:nvSpPr>
            <p:cNvPr id="74790" name="Text Box 26"/>
            <p:cNvSpPr txBox="1">
              <a:spLocks noChangeArrowheads="1"/>
            </p:cNvSpPr>
            <p:nvPr/>
          </p:nvSpPr>
          <p:spPr bwMode="auto">
            <a:xfrm>
              <a:off x="6453740" y="3093303"/>
              <a:ext cx="405792" cy="3078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400" b="1">
                  <a:solidFill>
                    <a:prstClr val="black"/>
                  </a:solidFill>
                  <a:latin typeface="微软雅黑" panose="020B0503020204020204" pitchFamily="34" charset="-122"/>
                  <a:ea typeface="微软雅黑" panose="020B0503020204020204" pitchFamily="34" charset="-122"/>
                </a:rPr>
                <a:t>H</a:t>
              </a:r>
              <a:r>
                <a:rPr kumimoji="1" lang="en-US" altLang="zh-CN" sz="1400" b="1" baseline="-25000">
                  <a:solidFill>
                    <a:prstClr val="black"/>
                  </a:solidFill>
                  <a:latin typeface="微软雅黑" panose="020B0503020204020204" pitchFamily="34" charset="-122"/>
                  <a:ea typeface="微软雅黑" panose="020B0503020204020204" pitchFamily="34" charset="-122"/>
                </a:rPr>
                <a:t>5</a:t>
              </a:r>
            </a:p>
          </p:txBody>
        </p:sp>
        <p:sp>
          <p:nvSpPr>
            <p:cNvPr id="74791" name="Text Box 27"/>
            <p:cNvSpPr txBox="1">
              <a:spLocks noChangeArrowheads="1"/>
            </p:cNvSpPr>
            <p:nvPr/>
          </p:nvSpPr>
          <p:spPr bwMode="auto">
            <a:xfrm>
              <a:off x="3096610" y="877814"/>
              <a:ext cx="405792" cy="3078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400" b="1">
                  <a:solidFill>
                    <a:prstClr val="black"/>
                  </a:solidFill>
                  <a:latin typeface="微软雅黑" panose="020B0503020204020204" pitchFamily="34" charset="-122"/>
                  <a:ea typeface="微软雅黑" panose="020B0503020204020204" pitchFamily="34" charset="-122"/>
                </a:rPr>
                <a:t>H</a:t>
              </a:r>
              <a:r>
                <a:rPr kumimoji="1" lang="en-US" altLang="zh-CN" sz="1400" b="1" baseline="-25000">
                  <a:solidFill>
                    <a:prstClr val="black"/>
                  </a:solidFill>
                  <a:latin typeface="微软雅黑" panose="020B0503020204020204" pitchFamily="34" charset="-122"/>
                  <a:ea typeface="微软雅黑" panose="020B0503020204020204" pitchFamily="34" charset="-122"/>
                </a:rPr>
                <a:t>2</a:t>
              </a:r>
            </a:p>
          </p:txBody>
        </p:sp>
        <p:sp>
          <p:nvSpPr>
            <p:cNvPr id="74792" name="Text Box 28"/>
            <p:cNvSpPr txBox="1">
              <a:spLocks noChangeArrowheads="1"/>
            </p:cNvSpPr>
            <p:nvPr/>
          </p:nvSpPr>
          <p:spPr bwMode="auto">
            <a:xfrm>
              <a:off x="6177056" y="915018"/>
              <a:ext cx="405792" cy="3078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400" b="1">
                  <a:solidFill>
                    <a:prstClr val="black"/>
                  </a:solidFill>
                  <a:latin typeface="微软雅黑" panose="020B0503020204020204" pitchFamily="34" charset="-122"/>
                  <a:ea typeface="微软雅黑" panose="020B0503020204020204" pitchFamily="34" charset="-122"/>
                </a:rPr>
                <a:t>H</a:t>
              </a:r>
              <a:r>
                <a:rPr kumimoji="1" lang="en-US" altLang="zh-CN" sz="1400" b="1" baseline="-25000">
                  <a:solidFill>
                    <a:prstClr val="black"/>
                  </a:solidFill>
                  <a:latin typeface="微软雅黑" panose="020B0503020204020204" pitchFamily="34" charset="-122"/>
                  <a:ea typeface="微软雅黑" panose="020B0503020204020204" pitchFamily="34" charset="-122"/>
                </a:rPr>
                <a:t>4</a:t>
              </a:r>
            </a:p>
          </p:txBody>
        </p:sp>
        <p:sp>
          <p:nvSpPr>
            <p:cNvPr id="74793" name="Text Box 29"/>
            <p:cNvSpPr txBox="1">
              <a:spLocks noChangeArrowheads="1"/>
            </p:cNvSpPr>
            <p:nvPr/>
          </p:nvSpPr>
          <p:spPr bwMode="auto">
            <a:xfrm>
              <a:off x="3282259" y="3691429"/>
              <a:ext cx="405792" cy="3078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400" b="1">
                  <a:solidFill>
                    <a:prstClr val="black"/>
                  </a:solidFill>
                  <a:latin typeface="微软雅黑" panose="020B0503020204020204" pitchFamily="34" charset="-122"/>
                  <a:ea typeface="微软雅黑" panose="020B0503020204020204" pitchFamily="34" charset="-122"/>
                </a:rPr>
                <a:t>H</a:t>
              </a:r>
              <a:r>
                <a:rPr kumimoji="1" lang="en-US" altLang="zh-CN" sz="1400" b="1" baseline="-25000">
                  <a:solidFill>
                    <a:prstClr val="black"/>
                  </a:solidFill>
                  <a:latin typeface="微软雅黑" panose="020B0503020204020204" pitchFamily="34" charset="-122"/>
                  <a:ea typeface="微软雅黑" panose="020B0503020204020204" pitchFamily="34" charset="-122"/>
                </a:rPr>
                <a:t>3</a:t>
              </a:r>
            </a:p>
          </p:txBody>
        </p:sp>
        <p:sp>
          <p:nvSpPr>
            <p:cNvPr id="74794" name="Line 30"/>
            <p:cNvSpPr>
              <a:spLocks noChangeShapeType="1"/>
            </p:cNvSpPr>
            <p:nvPr/>
          </p:nvSpPr>
          <p:spPr bwMode="auto">
            <a:xfrm flipV="1">
              <a:off x="5674794" y="1834875"/>
              <a:ext cx="1132565" cy="610202"/>
            </a:xfrm>
            <a:prstGeom prst="line">
              <a:avLst/>
            </a:prstGeom>
            <a:noFill/>
            <a:ln w="28575">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795" name="Text Box 31"/>
            <p:cNvSpPr txBox="1">
              <a:spLocks noChangeArrowheads="1"/>
            </p:cNvSpPr>
            <p:nvPr/>
          </p:nvSpPr>
          <p:spPr bwMode="auto">
            <a:xfrm>
              <a:off x="7143676" y="1684096"/>
              <a:ext cx="405792" cy="3078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400" b="1">
                  <a:solidFill>
                    <a:prstClr val="black"/>
                  </a:solidFill>
                  <a:latin typeface="微软雅黑" panose="020B0503020204020204" pitchFamily="34" charset="-122"/>
                  <a:ea typeface="微软雅黑" panose="020B0503020204020204" pitchFamily="34" charset="-122"/>
                </a:rPr>
                <a:t>H</a:t>
              </a:r>
              <a:r>
                <a:rPr kumimoji="1" lang="en-US" altLang="zh-CN" sz="1400" b="1" baseline="-25000">
                  <a:solidFill>
                    <a:prstClr val="black"/>
                  </a:solidFill>
                  <a:latin typeface="微软雅黑" panose="020B0503020204020204" pitchFamily="34" charset="-122"/>
                  <a:ea typeface="微软雅黑" panose="020B0503020204020204" pitchFamily="34" charset="-122"/>
                </a:rPr>
                <a:t>6</a:t>
              </a:r>
            </a:p>
          </p:txBody>
        </p:sp>
        <p:grpSp>
          <p:nvGrpSpPr>
            <p:cNvPr id="74801" name="Group 43"/>
            <p:cNvGrpSpPr/>
            <p:nvPr/>
          </p:nvGrpSpPr>
          <p:grpSpPr bwMode="auto">
            <a:xfrm>
              <a:off x="4246550" y="1444709"/>
              <a:ext cx="449454" cy="323747"/>
              <a:chOff x="2949" y="196"/>
              <a:chExt cx="941" cy="598"/>
            </a:xfrm>
          </p:grpSpPr>
          <p:sp>
            <p:nvSpPr>
              <p:cNvPr id="74951" name="Oval 44"/>
              <p:cNvSpPr>
                <a:spLocks noChangeArrowheads="1"/>
              </p:cNvSpPr>
              <p:nvPr/>
            </p:nvSpPr>
            <p:spPr bwMode="auto">
              <a:xfrm>
                <a:off x="3168" y="196"/>
                <a:ext cx="407" cy="162"/>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52" name="Oval 45"/>
              <p:cNvSpPr>
                <a:spLocks noChangeArrowheads="1"/>
              </p:cNvSpPr>
              <p:nvPr/>
            </p:nvSpPr>
            <p:spPr bwMode="auto">
              <a:xfrm rot="900000">
                <a:off x="3512" y="252"/>
                <a:ext cx="275" cy="131"/>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53" name="Oval 46"/>
              <p:cNvSpPr>
                <a:spLocks noChangeArrowheads="1"/>
              </p:cNvSpPr>
              <p:nvPr/>
            </p:nvSpPr>
            <p:spPr bwMode="auto">
              <a:xfrm rot="1500000">
                <a:off x="3650" y="385"/>
                <a:ext cx="240" cy="153"/>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54" name="Oval 47"/>
              <p:cNvSpPr>
                <a:spLocks noChangeArrowheads="1"/>
              </p:cNvSpPr>
              <p:nvPr/>
            </p:nvSpPr>
            <p:spPr bwMode="auto">
              <a:xfrm rot="-1560000">
                <a:off x="3573" y="537"/>
                <a:ext cx="291" cy="18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55" name="Oval 48"/>
              <p:cNvSpPr>
                <a:spLocks noChangeArrowheads="1"/>
              </p:cNvSpPr>
              <p:nvPr/>
            </p:nvSpPr>
            <p:spPr bwMode="auto">
              <a:xfrm>
                <a:off x="3216" y="555"/>
                <a:ext cx="471" cy="23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56" name="Oval 49"/>
              <p:cNvSpPr>
                <a:spLocks noChangeArrowheads="1"/>
              </p:cNvSpPr>
              <p:nvPr/>
            </p:nvSpPr>
            <p:spPr bwMode="auto">
              <a:xfrm rot="1080000">
                <a:off x="3023" y="555"/>
                <a:ext cx="26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57" name="Oval 50"/>
              <p:cNvSpPr>
                <a:spLocks noChangeArrowheads="1"/>
              </p:cNvSpPr>
              <p:nvPr/>
            </p:nvSpPr>
            <p:spPr bwMode="auto">
              <a:xfrm>
                <a:off x="2949" y="432"/>
                <a:ext cx="217"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58" name="Oval 51"/>
              <p:cNvSpPr>
                <a:spLocks noChangeArrowheads="1"/>
              </p:cNvSpPr>
              <p:nvPr/>
            </p:nvSpPr>
            <p:spPr bwMode="auto">
              <a:xfrm rot="-1860000">
                <a:off x="2984" y="310"/>
                <a:ext cx="29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59" name="Freeform 52"/>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960" name="Freeform 53"/>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961" name="Freeform 54"/>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grpSp>
        <p:grpSp>
          <p:nvGrpSpPr>
            <p:cNvPr id="74802" name="Group 55"/>
            <p:cNvGrpSpPr/>
            <p:nvPr/>
          </p:nvGrpSpPr>
          <p:grpSpPr bwMode="auto">
            <a:xfrm rot="867730">
              <a:off x="4396690" y="1961537"/>
              <a:ext cx="674663" cy="388661"/>
              <a:chOff x="2949" y="196"/>
              <a:chExt cx="941" cy="598"/>
            </a:xfrm>
          </p:grpSpPr>
          <p:sp>
            <p:nvSpPr>
              <p:cNvPr id="74940" name="Oval 56"/>
              <p:cNvSpPr>
                <a:spLocks noChangeArrowheads="1"/>
              </p:cNvSpPr>
              <p:nvPr/>
            </p:nvSpPr>
            <p:spPr bwMode="auto">
              <a:xfrm>
                <a:off x="3168" y="196"/>
                <a:ext cx="407" cy="162"/>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41" name="Oval 57"/>
              <p:cNvSpPr>
                <a:spLocks noChangeArrowheads="1"/>
              </p:cNvSpPr>
              <p:nvPr/>
            </p:nvSpPr>
            <p:spPr bwMode="auto">
              <a:xfrm rot="900000">
                <a:off x="3512" y="252"/>
                <a:ext cx="275" cy="131"/>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42" name="Oval 58"/>
              <p:cNvSpPr>
                <a:spLocks noChangeArrowheads="1"/>
              </p:cNvSpPr>
              <p:nvPr/>
            </p:nvSpPr>
            <p:spPr bwMode="auto">
              <a:xfrm rot="1500000">
                <a:off x="3650" y="385"/>
                <a:ext cx="240" cy="153"/>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43" name="Oval 59"/>
              <p:cNvSpPr>
                <a:spLocks noChangeArrowheads="1"/>
              </p:cNvSpPr>
              <p:nvPr/>
            </p:nvSpPr>
            <p:spPr bwMode="auto">
              <a:xfrm rot="-1560000">
                <a:off x="3573" y="537"/>
                <a:ext cx="291" cy="18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44" name="Oval 60"/>
              <p:cNvSpPr>
                <a:spLocks noChangeArrowheads="1"/>
              </p:cNvSpPr>
              <p:nvPr/>
            </p:nvSpPr>
            <p:spPr bwMode="auto">
              <a:xfrm>
                <a:off x="3216" y="555"/>
                <a:ext cx="471" cy="23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45" name="Oval 61"/>
              <p:cNvSpPr>
                <a:spLocks noChangeArrowheads="1"/>
              </p:cNvSpPr>
              <p:nvPr/>
            </p:nvSpPr>
            <p:spPr bwMode="auto">
              <a:xfrm rot="1080000">
                <a:off x="3023" y="555"/>
                <a:ext cx="26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46" name="Oval 62"/>
              <p:cNvSpPr>
                <a:spLocks noChangeArrowheads="1"/>
              </p:cNvSpPr>
              <p:nvPr/>
            </p:nvSpPr>
            <p:spPr bwMode="auto">
              <a:xfrm>
                <a:off x="2949" y="432"/>
                <a:ext cx="217"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47" name="Oval 63"/>
              <p:cNvSpPr>
                <a:spLocks noChangeArrowheads="1"/>
              </p:cNvSpPr>
              <p:nvPr/>
            </p:nvSpPr>
            <p:spPr bwMode="auto">
              <a:xfrm rot="-1860000">
                <a:off x="2984" y="310"/>
                <a:ext cx="29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48" name="Freeform 64"/>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949" name="Freeform 65"/>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950" name="Freeform 66"/>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grpSp>
        <p:grpSp>
          <p:nvGrpSpPr>
            <p:cNvPr id="74803" name="Group 67"/>
            <p:cNvGrpSpPr/>
            <p:nvPr/>
          </p:nvGrpSpPr>
          <p:grpSpPr bwMode="auto">
            <a:xfrm>
              <a:off x="5746012" y="2091370"/>
              <a:ext cx="450416" cy="322913"/>
              <a:chOff x="2949" y="196"/>
              <a:chExt cx="941" cy="598"/>
            </a:xfrm>
          </p:grpSpPr>
          <p:sp>
            <p:nvSpPr>
              <p:cNvPr id="74929" name="Oval 68"/>
              <p:cNvSpPr>
                <a:spLocks noChangeArrowheads="1"/>
              </p:cNvSpPr>
              <p:nvPr/>
            </p:nvSpPr>
            <p:spPr bwMode="auto">
              <a:xfrm>
                <a:off x="3168" y="196"/>
                <a:ext cx="407" cy="162"/>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30" name="Oval 69"/>
              <p:cNvSpPr>
                <a:spLocks noChangeArrowheads="1"/>
              </p:cNvSpPr>
              <p:nvPr/>
            </p:nvSpPr>
            <p:spPr bwMode="auto">
              <a:xfrm rot="900000">
                <a:off x="3512" y="252"/>
                <a:ext cx="275" cy="131"/>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31" name="Oval 70"/>
              <p:cNvSpPr>
                <a:spLocks noChangeArrowheads="1"/>
              </p:cNvSpPr>
              <p:nvPr/>
            </p:nvSpPr>
            <p:spPr bwMode="auto">
              <a:xfrm rot="1500000">
                <a:off x="3650" y="385"/>
                <a:ext cx="240" cy="153"/>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32" name="Oval 71"/>
              <p:cNvSpPr>
                <a:spLocks noChangeArrowheads="1"/>
              </p:cNvSpPr>
              <p:nvPr/>
            </p:nvSpPr>
            <p:spPr bwMode="auto">
              <a:xfrm rot="-1560000">
                <a:off x="3573" y="537"/>
                <a:ext cx="291" cy="18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33" name="Oval 72"/>
              <p:cNvSpPr>
                <a:spLocks noChangeArrowheads="1"/>
              </p:cNvSpPr>
              <p:nvPr/>
            </p:nvSpPr>
            <p:spPr bwMode="auto">
              <a:xfrm>
                <a:off x="3216" y="555"/>
                <a:ext cx="471" cy="23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34" name="Oval 73"/>
              <p:cNvSpPr>
                <a:spLocks noChangeArrowheads="1"/>
              </p:cNvSpPr>
              <p:nvPr/>
            </p:nvSpPr>
            <p:spPr bwMode="auto">
              <a:xfrm rot="1080000">
                <a:off x="3023" y="555"/>
                <a:ext cx="26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35" name="Oval 74"/>
              <p:cNvSpPr>
                <a:spLocks noChangeArrowheads="1"/>
              </p:cNvSpPr>
              <p:nvPr/>
            </p:nvSpPr>
            <p:spPr bwMode="auto">
              <a:xfrm>
                <a:off x="2949" y="432"/>
                <a:ext cx="217"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36" name="Oval 75"/>
              <p:cNvSpPr>
                <a:spLocks noChangeArrowheads="1"/>
              </p:cNvSpPr>
              <p:nvPr/>
            </p:nvSpPr>
            <p:spPr bwMode="auto">
              <a:xfrm rot="-1860000">
                <a:off x="2984" y="310"/>
                <a:ext cx="29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37" name="Freeform 76"/>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938" name="Freeform 77"/>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939" name="Freeform 78"/>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grpSp>
        <p:grpSp>
          <p:nvGrpSpPr>
            <p:cNvPr id="74804" name="Group 79"/>
            <p:cNvGrpSpPr/>
            <p:nvPr/>
          </p:nvGrpSpPr>
          <p:grpSpPr bwMode="auto">
            <a:xfrm rot="21151335">
              <a:off x="5071352" y="1768455"/>
              <a:ext cx="674662" cy="387829"/>
              <a:chOff x="2949" y="196"/>
              <a:chExt cx="941" cy="598"/>
            </a:xfrm>
          </p:grpSpPr>
          <p:sp>
            <p:nvSpPr>
              <p:cNvPr id="74918" name="Oval 80"/>
              <p:cNvSpPr>
                <a:spLocks noChangeArrowheads="1"/>
              </p:cNvSpPr>
              <p:nvPr/>
            </p:nvSpPr>
            <p:spPr bwMode="auto">
              <a:xfrm>
                <a:off x="3168" y="196"/>
                <a:ext cx="407" cy="162"/>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19" name="Oval 81"/>
              <p:cNvSpPr>
                <a:spLocks noChangeArrowheads="1"/>
              </p:cNvSpPr>
              <p:nvPr/>
            </p:nvSpPr>
            <p:spPr bwMode="auto">
              <a:xfrm rot="900000">
                <a:off x="3512" y="252"/>
                <a:ext cx="275" cy="131"/>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20" name="Oval 82"/>
              <p:cNvSpPr>
                <a:spLocks noChangeArrowheads="1"/>
              </p:cNvSpPr>
              <p:nvPr/>
            </p:nvSpPr>
            <p:spPr bwMode="auto">
              <a:xfrm rot="1500000">
                <a:off x="3650" y="385"/>
                <a:ext cx="240" cy="153"/>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21" name="Oval 83"/>
              <p:cNvSpPr>
                <a:spLocks noChangeArrowheads="1"/>
              </p:cNvSpPr>
              <p:nvPr/>
            </p:nvSpPr>
            <p:spPr bwMode="auto">
              <a:xfrm rot="-1560000">
                <a:off x="3573" y="537"/>
                <a:ext cx="291" cy="18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22" name="Oval 84"/>
              <p:cNvSpPr>
                <a:spLocks noChangeArrowheads="1"/>
              </p:cNvSpPr>
              <p:nvPr/>
            </p:nvSpPr>
            <p:spPr bwMode="auto">
              <a:xfrm>
                <a:off x="3216" y="555"/>
                <a:ext cx="471" cy="23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23" name="Oval 85"/>
              <p:cNvSpPr>
                <a:spLocks noChangeArrowheads="1"/>
              </p:cNvSpPr>
              <p:nvPr/>
            </p:nvSpPr>
            <p:spPr bwMode="auto">
              <a:xfrm rot="1080000">
                <a:off x="3023" y="555"/>
                <a:ext cx="26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24" name="Oval 86"/>
              <p:cNvSpPr>
                <a:spLocks noChangeArrowheads="1"/>
              </p:cNvSpPr>
              <p:nvPr/>
            </p:nvSpPr>
            <p:spPr bwMode="auto">
              <a:xfrm>
                <a:off x="2949" y="432"/>
                <a:ext cx="217"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25" name="Oval 87"/>
              <p:cNvSpPr>
                <a:spLocks noChangeArrowheads="1"/>
              </p:cNvSpPr>
              <p:nvPr/>
            </p:nvSpPr>
            <p:spPr bwMode="auto">
              <a:xfrm rot="-1860000">
                <a:off x="2984" y="310"/>
                <a:ext cx="29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26" name="Freeform 88"/>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927" name="Freeform 89"/>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928" name="Freeform 90"/>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grpSp>
        <p:grpSp>
          <p:nvGrpSpPr>
            <p:cNvPr id="74805" name="Group 91"/>
            <p:cNvGrpSpPr/>
            <p:nvPr/>
          </p:nvGrpSpPr>
          <p:grpSpPr bwMode="auto">
            <a:xfrm>
              <a:off x="3947237" y="2348536"/>
              <a:ext cx="748770" cy="452746"/>
              <a:chOff x="2949" y="196"/>
              <a:chExt cx="941" cy="598"/>
            </a:xfrm>
          </p:grpSpPr>
          <p:sp>
            <p:nvSpPr>
              <p:cNvPr id="74907" name="Oval 92"/>
              <p:cNvSpPr>
                <a:spLocks noChangeArrowheads="1"/>
              </p:cNvSpPr>
              <p:nvPr/>
            </p:nvSpPr>
            <p:spPr bwMode="auto">
              <a:xfrm>
                <a:off x="3168" y="196"/>
                <a:ext cx="407" cy="162"/>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08" name="Oval 93"/>
              <p:cNvSpPr>
                <a:spLocks noChangeArrowheads="1"/>
              </p:cNvSpPr>
              <p:nvPr/>
            </p:nvSpPr>
            <p:spPr bwMode="auto">
              <a:xfrm rot="900000">
                <a:off x="3512" y="252"/>
                <a:ext cx="275" cy="131"/>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09" name="Oval 94"/>
              <p:cNvSpPr>
                <a:spLocks noChangeArrowheads="1"/>
              </p:cNvSpPr>
              <p:nvPr/>
            </p:nvSpPr>
            <p:spPr bwMode="auto">
              <a:xfrm rot="1500000">
                <a:off x="3650" y="385"/>
                <a:ext cx="240" cy="153"/>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10" name="Oval 95"/>
              <p:cNvSpPr>
                <a:spLocks noChangeArrowheads="1"/>
              </p:cNvSpPr>
              <p:nvPr/>
            </p:nvSpPr>
            <p:spPr bwMode="auto">
              <a:xfrm rot="-1560000">
                <a:off x="3573" y="537"/>
                <a:ext cx="291" cy="18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11" name="Oval 96"/>
              <p:cNvSpPr>
                <a:spLocks noChangeArrowheads="1"/>
              </p:cNvSpPr>
              <p:nvPr/>
            </p:nvSpPr>
            <p:spPr bwMode="auto">
              <a:xfrm>
                <a:off x="3216" y="555"/>
                <a:ext cx="471" cy="23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12" name="Oval 97"/>
              <p:cNvSpPr>
                <a:spLocks noChangeArrowheads="1"/>
              </p:cNvSpPr>
              <p:nvPr/>
            </p:nvSpPr>
            <p:spPr bwMode="auto">
              <a:xfrm rot="1080000">
                <a:off x="3023" y="555"/>
                <a:ext cx="26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13" name="Oval 98"/>
              <p:cNvSpPr>
                <a:spLocks noChangeArrowheads="1"/>
              </p:cNvSpPr>
              <p:nvPr/>
            </p:nvSpPr>
            <p:spPr bwMode="auto">
              <a:xfrm>
                <a:off x="2949" y="432"/>
                <a:ext cx="217"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14" name="Oval 99"/>
              <p:cNvSpPr>
                <a:spLocks noChangeArrowheads="1"/>
              </p:cNvSpPr>
              <p:nvPr/>
            </p:nvSpPr>
            <p:spPr bwMode="auto">
              <a:xfrm rot="-1860000">
                <a:off x="2984" y="310"/>
                <a:ext cx="29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15" name="Freeform 100"/>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916" name="Freeform 101"/>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917" name="Freeform 102"/>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grpSp>
        <p:grpSp>
          <p:nvGrpSpPr>
            <p:cNvPr id="74806" name="Group 103"/>
            <p:cNvGrpSpPr/>
            <p:nvPr/>
          </p:nvGrpSpPr>
          <p:grpSpPr bwMode="auto">
            <a:xfrm rot="21114427">
              <a:off x="4847107" y="2671449"/>
              <a:ext cx="674663" cy="388661"/>
              <a:chOff x="2949" y="196"/>
              <a:chExt cx="941" cy="598"/>
            </a:xfrm>
          </p:grpSpPr>
          <p:sp>
            <p:nvSpPr>
              <p:cNvPr id="74896" name="Oval 104"/>
              <p:cNvSpPr>
                <a:spLocks noChangeArrowheads="1"/>
              </p:cNvSpPr>
              <p:nvPr/>
            </p:nvSpPr>
            <p:spPr bwMode="auto">
              <a:xfrm>
                <a:off x="3168" y="196"/>
                <a:ext cx="407" cy="162"/>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97" name="Oval 105"/>
              <p:cNvSpPr>
                <a:spLocks noChangeArrowheads="1"/>
              </p:cNvSpPr>
              <p:nvPr/>
            </p:nvSpPr>
            <p:spPr bwMode="auto">
              <a:xfrm rot="900000">
                <a:off x="3512" y="252"/>
                <a:ext cx="275" cy="131"/>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98" name="Oval 106"/>
              <p:cNvSpPr>
                <a:spLocks noChangeArrowheads="1"/>
              </p:cNvSpPr>
              <p:nvPr/>
            </p:nvSpPr>
            <p:spPr bwMode="auto">
              <a:xfrm rot="1500000">
                <a:off x="3650" y="385"/>
                <a:ext cx="240" cy="153"/>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99" name="Oval 107"/>
              <p:cNvSpPr>
                <a:spLocks noChangeArrowheads="1"/>
              </p:cNvSpPr>
              <p:nvPr/>
            </p:nvSpPr>
            <p:spPr bwMode="auto">
              <a:xfrm rot="-1560000">
                <a:off x="3573" y="537"/>
                <a:ext cx="291" cy="18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00" name="Oval 108"/>
              <p:cNvSpPr>
                <a:spLocks noChangeArrowheads="1"/>
              </p:cNvSpPr>
              <p:nvPr/>
            </p:nvSpPr>
            <p:spPr bwMode="auto">
              <a:xfrm>
                <a:off x="3216" y="555"/>
                <a:ext cx="471" cy="23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01" name="Oval 109"/>
              <p:cNvSpPr>
                <a:spLocks noChangeArrowheads="1"/>
              </p:cNvSpPr>
              <p:nvPr/>
            </p:nvSpPr>
            <p:spPr bwMode="auto">
              <a:xfrm rot="1080000">
                <a:off x="3023" y="555"/>
                <a:ext cx="26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02" name="Oval 110"/>
              <p:cNvSpPr>
                <a:spLocks noChangeArrowheads="1"/>
              </p:cNvSpPr>
              <p:nvPr/>
            </p:nvSpPr>
            <p:spPr bwMode="auto">
              <a:xfrm>
                <a:off x="2949" y="432"/>
                <a:ext cx="217"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03" name="Oval 111"/>
              <p:cNvSpPr>
                <a:spLocks noChangeArrowheads="1"/>
              </p:cNvSpPr>
              <p:nvPr/>
            </p:nvSpPr>
            <p:spPr bwMode="auto">
              <a:xfrm rot="-1860000">
                <a:off x="2984" y="310"/>
                <a:ext cx="29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904" name="Freeform 112"/>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5E5FB"/>
              </a:solidFill>
              <a:ln>
                <a:noFill/>
              </a:ln>
              <a:effectLst/>
              <a:extLst>
                <a:ext uri="{91240B29-F687-4F45-9708-019B960494DF}">
                  <a14:hiddenLine xmlns:a14="http://schemas.microsoft.com/office/drawing/2010/main" w="12700">
                    <a:solidFill>
                      <a:srgbClr val="000000"/>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905" name="Freeform 113"/>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906" name="Freeform 114"/>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grpSp>
        <p:grpSp>
          <p:nvGrpSpPr>
            <p:cNvPr id="74807" name="Group 115"/>
            <p:cNvGrpSpPr/>
            <p:nvPr/>
          </p:nvGrpSpPr>
          <p:grpSpPr bwMode="auto">
            <a:xfrm rot="19200976">
              <a:off x="5671908" y="2737198"/>
              <a:ext cx="449454" cy="322913"/>
              <a:chOff x="2949" y="196"/>
              <a:chExt cx="941" cy="598"/>
            </a:xfrm>
          </p:grpSpPr>
          <p:sp>
            <p:nvSpPr>
              <p:cNvPr id="74885" name="Oval 116"/>
              <p:cNvSpPr>
                <a:spLocks noChangeArrowheads="1"/>
              </p:cNvSpPr>
              <p:nvPr/>
            </p:nvSpPr>
            <p:spPr bwMode="auto">
              <a:xfrm>
                <a:off x="3168" y="196"/>
                <a:ext cx="407" cy="162"/>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86" name="Oval 117"/>
              <p:cNvSpPr>
                <a:spLocks noChangeArrowheads="1"/>
              </p:cNvSpPr>
              <p:nvPr/>
            </p:nvSpPr>
            <p:spPr bwMode="auto">
              <a:xfrm rot="900000">
                <a:off x="3512" y="252"/>
                <a:ext cx="275" cy="131"/>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87" name="Oval 118"/>
              <p:cNvSpPr>
                <a:spLocks noChangeArrowheads="1"/>
              </p:cNvSpPr>
              <p:nvPr/>
            </p:nvSpPr>
            <p:spPr bwMode="auto">
              <a:xfrm rot="1500000">
                <a:off x="3650" y="385"/>
                <a:ext cx="240" cy="153"/>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88" name="Oval 119"/>
              <p:cNvSpPr>
                <a:spLocks noChangeArrowheads="1"/>
              </p:cNvSpPr>
              <p:nvPr/>
            </p:nvSpPr>
            <p:spPr bwMode="auto">
              <a:xfrm rot="-1560000">
                <a:off x="3573" y="537"/>
                <a:ext cx="291" cy="18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89" name="Oval 120"/>
              <p:cNvSpPr>
                <a:spLocks noChangeArrowheads="1"/>
              </p:cNvSpPr>
              <p:nvPr/>
            </p:nvSpPr>
            <p:spPr bwMode="auto">
              <a:xfrm>
                <a:off x="3216" y="555"/>
                <a:ext cx="471" cy="23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90" name="Oval 121"/>
              <p:cNvSpPr>
                <a:spLocks noChangeArrowheads="1"/>
              </p:cNvSpPr>
              <p:nvPr/>
            </p:nvSpPr>
            <p:spPr bwMode="auto">
              <a:xfrm rot="1080000">
                <a:off x="3023" y="555"/>
                <a:ext cx="26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91" name="Oval 122"/>
              <p:cNvSpPr>
                <a:spLocks noChangeArrowheads="1"/>
              </p:cNvSpPr>
              <p:nvPr/>
            </p:nvSpPr>
            <p:spPr bwMode="auto">
              <a:xfrm>
                <a:off x="2949" y="432"/>
                <a:ext cx="217"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92" name="Oval 123"/>
              <p:cNvSpPr>
                <a:spLocks noChangeArrowheads="1"/>
              </p:cNvSpPr>
              <p:nvPr/>
            </p:nvSpPr>
            <p:spPr bwMode="auto">
              <a:xfrm rot="-1860000">
                <a:off x="2984" y="310"/>
                <a:ext cx="29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93" name="Freeform 124"/>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894" name="Freeform 125"/>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895" name="Freeform 126"/>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grpSp>
        <p:grpSp>
          <p:nvGrpSpPr>
            <p:cNvPr id="74808" name="Group 127"/>
            <p:cNvGrpSpPr/>
            <p:nvPr/>
          </p:nvGrpSpPr>
          <p:grpSpPr bwMode="auto">
            <a:xfrm rot="651098">
              <a:off x="4169346" y="3426342"/>
              <a:ext cx="449454" cy="259662"/>
              <a:chOff x="2949" y="196"/>
              <a:chExt cx="941" cy="598"/>
            </a:xfrm>
          </p:grpSpPr>
          <p:sp>
            <p:nvSpPr>
              <p:cNvPr id="74874" name="Oval 128"/>
              <p:cNvSpPr>
                <a:spLocks noChangeArrowheads="1"/>
              </p:cNvSpPr>
              <p:nvPr/>
            </p:nvSpPr>
            <p:spPr bwMode="auto">
              <a:xfrm>
                <a:off x="3168" y="196"/>
                <a:ext cx="407" cy="162"/>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75" name="Oval 129"/>
              <p:cNvSpPr>
                <a:spLocks noChangeArrowheads="1"/>
              </p:cNvSpPr>
              <p:nvPr/>
            </p:nvSpPr>
            <p:spPr bwMode="auto">
              <a:xfrm rot="900000">
                <a:off x="3512" y="252"/>
                <a:ext cx="275" cy="131"/>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76" name="Oval 130"/>
              <p:cNvSpPr>
                <a:spLocks noChangeArrowheads="1"/>
              </p:cNvSpPr>
              <p:nvPr/>
            </p:nvSpPr>
            <p:spPr bwMode="auto">
              <a:xfrm rot="1500000">
                <a:off x="3650" y="385"/>
                <a:ext cx="240" cy="153"/>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77" name="Oval 131"/>
              <p:cNvSpPr>
                <a:spLocks noChangeArrowheads="1"/>
              </p:cNvSpPr>
              <p:nvPr/>
            </p:nvSpPr>
            <p:spPr bwMode="auto">
              <a:xfrm rot="-1560000">
                <a:off x="3573" y="537"/>
                <a:ext cx="291" cy="18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78" name="Oval 132"/>
              <p:cNvSpPr>
                <a:spLocks noChangeArrowheads="1"/>
              </p:cNvSpPr>
              <p:nvPr/>
            </p:nvSpPr>
            <p:spPr bwMode="auto">
              <a:xfrm>
                <a:off x="3216" y="555"/>
                <a:ext cx="471" cy="23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79" name="Oval 133"/>
              <p:cNvSpPr>
                <a:spLocks noChangeArrowheads="1"/>
              </p:cNvSpPr>
              <p:nvPr/>
            </p:nvSpPr>
            <p:spPr bwMode="auto">
              <a:xfrm rot="1080000">
                <a:off x="3023" y="555"/>
                <a:ext cx="26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80" name="Oval 134"/>
              <p:cNvSpPr>
                <a:spLocks noChangeArrowheads="1"/>
              </p:cNvSpPr>
              <p:nvPr/>
            </p:nvSpPr>
            <p:spPr bwMode="auto">
              <a:xfrm>
                <a:off x="2949" y="432"/>
                <a:ext cx="217"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81" name="Oval 135"/>
              <p:cNvSpPr>
                <a:spLocks noChangeArrowheads="1"/>
              </p:cNvSpPr>
              <p:nvPr/>
            </p:nvSpPr>
            <p:spPr bwMode="auto">
              <a:xfrm rot="-1860000">
                <a:off x="2984" y="310"/>
                <a:ext cx="29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82" name="Freeform 136"/>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883" name="Freeform 137"/>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884" name="Freeform 138"/>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grpSp>
        <p:grpSp>
          <p:nvGrpSpPr>
            <p:cNvPr id="74809" name="Group 139"/>
            <p:cNvGrpSpPr/>
            <p:nvPr/>
          </p:nvGrpSpPr>
          <p:grpSpPr bwMode="auto">
            <a:xfrm rot="21035385">
              <a:off x="3731176" y="2848695"/>
              <a:ext cx="450416" cy="322913"/>
              <a:chOff x="2949" y="196"/>
              <a:chExt cx="941" cy="598"/>
            </a:xfrm>
          </p:grpSpPr>
          <p:sp>
            <p:nvSpPr>
              <p:cNvPr id="74863" name="Oval 140"/>
              <p:cNvSpPr>
                <a:spLocks noChangeArrowheads="1"/>
              </p:cNvSpPr>
              <p:nvPr/>
            </p:nvSpPr>
            <p:spPr bwMode="auto">
              <a:xfrm>
                <a:off x="3168" y="196"/>
                <a:ext cx="407" cy="162"/>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64" name="Oval 141"/>
              <p:cNvSpPr>
                <a:spLocks noChangeArrowheads="1"/>
              </p:cNvSpPr>
              <p:nvPr/>
            </p:nvSpPr>
            <p:spPr bwMode="auto">
              <a:xfrm rot="900000">
                <a:off x="3512" y="252"/>
                <a:ext cx="275" cy="131"/>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65" name="Oval 142"/>
              <p:cNvSpPr>
                <a:spLocks noChangeArrowheads="1"/>
              </p:cNvSpPr>
              <p:nvPr/>
            </p:nvSpPr>
            <p:spPr bwMode="auto">
              <a:xfrm rot="1500000">
                <a:off x="3650" y="385"/>
                <a:ext cx="240" cy="153"/>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66" name="Oval 143"/>
              <p:cNvSpPr>
                <a:spLocks noChangeArrowheads="1"/>
              </p:cNvSpPr>
              <p:nvPr/>
            </p:nvSpPr>
            <p:spPr bwMode="auto">
              <a:xfrm rot="-1560000">
                <a:off x="3573" y="537"/>
                <a:ext cx="291" cy="18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67" name="Oval 144"/>
              <p:cNvSpPr>
                <a:spLocks noChangeArrowheads="1"/>
              </p:cNvSpPr>
              <p:nvPr/>
            </p:nvSpPr>
            <p:spPr bwMode="auto">
              <a:xfrm>
                <a:off x="3216" y="555"/>
                <a:ext cx="471" cy="23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68" name="Oval 145"/>
              <p:cNvSpPr>
                <a:spLocks noChangeArrowheads="1"/>
              </p:cNvSpPr>
              <p:nvPr/>
            </p:nvSpPr>
            <p:spPr bwMode="auto">
              <a:xfrm rot="1080000">
                <a:off x="3023" y="555"/>
                <a:ext cx="26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69" name="Oval 146"/>
              <p:cNvSpPr>
                <a:spLocks noChangeArrowheads="1"/>
              </p:cNvSpPr>
              <p:nvPr/>
            </p:nvSpPr>
            <p:spPr bwMode="auto">
              <a:xfrm>
                <a:off x="2949" y="432"/>
                <a:ext cx="217"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70" name="Oval 147"/>
              <p:cNvSpPr>
                <a:spLocks noChangeArrowheads="1"/>
              </p:cNvSpPr>
              <p:nvPr/>
            </p:nvSpPr>
            <p:spPr bwMode="auto">
              <a:xfrm rot="-1860000">
                <a:off x="2984" y="310"/>
                <a:ext cx="29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71" name="Freeform 148"/>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872" name="Freeform 149"/>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873" name="Freeform 150"/>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grpSp>
        <p:grpSp>
          <p:nvGrpSpPr>
            <p:cNvPr id="74810" name="Group 151"/>
            <p:cNvGrpSpPr/>
            <p:nvPr/>
          </p:nvGrpSpPr>
          <p:grpSpPr bwMode="auto">
            <a:xfrm rot="1237793">
              <a:off x="5195508" y="1272435"/>
              <a:ext cx="332038" cy="203901"/>
              <a:chOff x="2949" y="196"/>
              <a:chExt cx="941" cy="598"/>
            </a:xfrm>
          </p:grpSpPr>
          <p:sp>
            <p:nvSpPr>
              <p:cNvPr id="74852" name="Oval 152"/>
              <p:cNvSpPr>
                <a:spLocks noChangeArrowheads="1"/>
              </p:cNvSpPr>
              <p:nvPr/>
            </p:nvSpPr>
            <p:spPr bwMode="auto">
              <a:xfrm>
                <a:off x="3168" y="196"/>
                <a:ext cx="407" cy="162"/>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53" name="Oval 153"/>
              <p:cNvSpPr>
                <a:spLocks noChangeArrowheads="1"/>
              </p:cNvSpPr>
              <p:nvPr/>
            </p:nvSpPr>
            <p:spPr bwMode="auto">
              <a:xfrm rot="900000">
                <a:off x="3512" y="252"/>
                <a:ext cx="275" cy="131"/>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54" name="Oval 154"/>
              <p:cNvSpPr>
                <a:spLocks noChangeArrowheads="1"/>
              </p:cNvSpPr>
              <p:nvPr/>
            </p:nvSpPr>
            <p:spPr bwMode="auto">
              <a:xfrm rot="1500000">
                <a:off x="3650" y="385"/>
                <a:ext cx="240" cy="153"/>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55" name="Oval 155"/>
              <p:cNvSpPr>
                <a:spLocks noChangeArrowheads="1"/>
              </p:cNvSpPr>
              <p:nvPr/>
            </p:nvSpPr>
            <p:spPr bwMode="auto">
              <a:xfrm rot="-1560000">
                <a:off x="3573" y="537"/>
                <a:ext cx="291" cy="18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56" name="Oval 156"/>
              <p:cNvSpPr>
                <a:spLocks noChangeArrowheads="1"/>
              </p:cNvSpPr>
              <p:nvPr/>
            </p:nvSpPr>
            <p:spPr bwMode="auto">
              <a:xfrm>
                <a:off x="3216" y="555"/>
                <a:ext cx="471" cy="23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57" name="Oval 157"/>
              <p:cNvSpPr>
                <a:spLocks noChangeArrowheads="1"/>
              </p:cNvSpPr>
              <p:nvPr/>
            </p:nvSpPr>
            <p:spPr bwMode="auto">
              <a:xfrm rot="1080000">
                <a:off x="3023" y="555"/>
                <a:ext cx="26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58" name="Oval 158"/>
              <p:cNvSpPr>
                <a:spLocks noChangeArrowheads="1"/>
              </p:cNvSpPr>
              <p:nvPr/>
            </p:nvSpPr>
            <p:spPr bwMode="auto">
              <a:xfrm>
                <a:off x="2949" y="432"/>
                <a:ext cx="217"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59" name="Oval 159"/>
              <p:cNvSpPr>
                <a:spLocks noChangeArrowheads="1"/>
              </p:cNvSpPr>
              <p:nvPr/>
            </p:nvSpPr>
            <p:spPr bwMode="auto">
              <a:xfrm rot="-1860000">
                <a:off x="2984" y="310"/>
                <a:ext cx="29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60" name="Freeform 160"/>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861" name="Freeform 161"/>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862" name="Freeform 162"/>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grpSp>
        <p:grpSp>
          <p:nvGrpSpPr>
            <p:cNvPr id="74811" name="Group 163"/>
            <p:cNvGrpSpPr/>
            <p:nvPr/>
          </p:nvGrpSpPr>
          <p:grpSpPr bwMode="auto">
            <a:xfrm rot="1582351">
              <a:off x="3420786" y="2091369"/>
              <a:ext cx="450416" cy="322913"/>
              <a:chOff x="2949" y="196"/>
              <a:chExt cx="941" cy="598"/>
            </a:xfrm>
          </p:grpSpPr>
          <p:sp>
            <p:nvSpPr>
              <p:cNvPr id="74841" name="Oval 164"/>
              <p:cNvSpPr>
                <a:spLocks noChangeArrowheads="1"/>
              </p:cNvSpPr>
              <p:nvPr/>
            </p:nvSpPr>
            <p:spPr bwMode="auto">
              <a:xfrm>
                <a:off x="3168" y="196"/>
                <a:ext cx="407" cy="162"/>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42" name="Oval 165"/>
              <p:cNvSpPr>
                <a:spLocks noChangeArrowheads="1"/>
              </p:cNvSpPr>
              <p:nvPr/>
            </p:nvSpPr>
            <p:spPr bwMode="auto">
              <a:xfrm rot="900000">
                <a:off x="3512" y="252"/>
                <a:ext cx="275" cy="131"/>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43" name="Oval 166"/>
              <p:cNvSpPr>
                <a:spLocks noChangeArrowheads="1"/>
              </p:cNvSpPr>
              <p:nvPr/>
            </p:nvSpPr>
            <p:spPr bwMode="auto">
              <a:xfrm rot="1500000">
                <a:off x="3650" y="385"/>
                <a:ext cx="240" cy="153"/>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44" name="Oval 167"/>
              <p:cNvSpPr>
                <a:spLocks noChangeArrowheads="1"/>
              </p:cNvSpPr>
              <p:nvPr/>
            </p:nvSpPr>
            <p:spPr bwMode="auto">
              <a:xfrm rot="-1560000">
                <a:off x="3573" y="537"/>
                <a:ext cx="291" cy="18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45" name="Oval 168"/>
              <p:cNvSpPr>
                <a:spLocks noChangeArrowheads="1"/>
              </p:cNvSpPr>
              <p:nvPr/>
            </p:nvSpPr>
            <p:spPr bwMode="auto">
              <a:xfrm>
                <a:off x="3216" y="555"/>
                <a:ext cx="471" cy="23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46" name="Oval 169"/>
              <p:cNvSpPr>
                <a:spLocks noChangeArrowheads="1"/>
              </p:cNvSpPr>
              <p:nvPr/>
            </p:nvSpPr>
            <p:spPr bwMode="auto">
              <a:xfrm rot="1080000">
                <a:off x="3023" y="555"/>
                <a:ext cx="26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47" name="Oval 170"/>
              <p:cNvSpPr>
                <a:spLocks noChangeArrowheads="1"/>
              </p:cNvSpPr>
              <p:nvPr/>
            </p:nvSpPr>
            <p:spPr bwMode="auto">
              <a:xfrm>
                <a:off x="2949" y="432"/>
                <a:ext cx="217"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48" name="Oval 171"/>
              <p:cNvSpPr>
                <a:spLocks noChangeArrowheads="1"/>
              </p:cNvSpPr>
              <p:nvPr/>
            </p:nvSpPr>
            <p:spPr bwMode="auto">
              <a:xfrm rot="-1860000">
                <a:off x="2984" y="310"/>
                <a:ext cx="29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49" name="Freeform 172"/>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850" name="Freeform 173"/>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851" name="Freeform 174"/>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grpSp>
        <p:grpSp>
          <p:nvGrpSpPr>
            <p:cNvPr id="74813" name="Group 187"/>
            <p:cNvGrpSpPr/>
            <p:nvPr/>
          </p:nvGrpSpPr>
          <p:grpSpPr bwMode="auto">
            <a:xfrm rot="5241567">
              <a:off x="2853540" y="2586969"/>
              <a:ext cx="382837" cy="295468"/>
              <a:chOff x="2949" y="196"/>
              <a:chExt cx="941" cy="598"/>
            </a:xfrm>
          </p:grpSpPr>
          <p:sp>
            <p:nvSpPr>
              <p:cNvPr id="74819" name="Oval 188"/>
              <p:cNvSpPr>
                <a:spLocks noChangeArrowheads="1"/>
              </p:cNvSpPr>
              <p:nvPr/>
            </p:nvSpPr>
            <p:spPr bwMode="auto">
              <a:xfrm>
                <a:off x="3168" y="196"/>
                <a:ext cx="407" cy="162"/>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20" name="Oval 189"/>
              <p:cNvSpPr>
                <a:spLocks noChangeArrowheads="1"/>
              </p:cNvSpPr>
              <p:nvPr/>
            </p:nvSpPr>
            <p:spPr bwMode="auto">
              <a:xfrm rot="900000">
                <a:off x="3512" y="252"/>
                <a:ext cx="275" cy="131"/>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21" name="Oval 190"/>
              <p:cNvSpPr>
                <a:spLocks noChangeArrowheads="1"/>
              </p:cNvSpPr>
              <p:nvPr/>
            </p:nvSpPr>
            <p:spPr bwMode="auto">
              <a:xfrm rot="1500000">
                <a:off x="3650" y="385"/>
                <a:ext cx="240" cy="153"/>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22" name="Oval 191"/>
              <p:cNvSpPr>
                <a:spLocks noChangeArrowheads="1"/>
              </p:cNvSpPr>
              <p:nvPr/>
            </p:nvSpPr>
            <p:spPr bwMode="auto">
              <a:xfrm rot="-1560000">
                <a:off x="3573" y="537"/>
                <a:ext cx="291" cy="18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23" name="Oval 192"/>
              <p:cNvSpPr>
                <a:spLocks noChangeArrowheads="1"/>
              </p:cNvSpPr>
              <p:nvPr/>
            </p:nvSpPr>
            <p:spPr bwMode="auto">
              <a:xfrm>
                <a:off x="3216" y="555"/>
                <a:ext cx="471" cy="23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24" name="Oval 193"/>
              <p:cNvSpPr>
                <a:spLocks noChangeArrowheads="1"/>
              </p:cNvSpPr>
              <p:nvPr/>
            </p:nvSpPr>
            <p:spPr bwMode="auto">
              <a:xfrm rot="1080000">
                <a:off x="3023" y="555"/>
                <a:ext cx="26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25" name="Oval 194"/>
              <p:cNvSpPr>
                <a:spLocks noChangeArrowheads="1"/>
              </p:cNvSpPr>
              <p:nvPr/>
            </p:nvSpPr>
            <p:spPr bwMode="auto">
              <a:xfrm>
                <a:off x="2949" y="432"/>
                <a:ext cx="217"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26" name="Oval 195"/>
              <p:cNvSpPr>
                <a:spLocks noChangeArrowheads="1"/>
              </p:cNvSpPr>
              <p:nvPr/>
            </p:nvSpPr>
            <p:spPr bwMode="auto">
              <a:xfrm rot="-1860000">
                <a:off x="2984" y="310"/>
                <a:ext cx="29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4827" name="Freeform 196"/>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828" name="Freeform 197"/>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829" name="Freeform 198"/>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grpSp>
        <p:sp>
          <p:nvSpPr>
            <p:cNvPr id="74814" name="Text Box 200"/>
            <p:cNvSpPr txBox="1">
              <a:spLocks noChangeArrowheads="1"/>
            </p:cNvSpPr>
            <p:nvPr/>
          </p:nvSpPr>
          <p:spPr bwMode="auto">
            <a:xfrm>
              <a:off x="2504755" y="1419476"/>
              <a:ext cx="800046" cy="33867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zh-CN" altLang="en-US" sz="1600" b="1" dirty="0">
                  <a:solidFill>
                    <a:srgbClr val="0000FF"/>
                  </a:solidFill>
                  <a:latin typeface="微软雅黑" panose="020B0503020204020204" pitchFamily="34" charset="-122"/>
                  <a:ea typeface="微软雅黑" panose="020B0503020204020204" pitchFamily="34" charset="-122"/>
                </a:rPr>
                <a:t>路由器</a:t>
              </a:r>
            </a:p>
          </p:txBody>
        </p:sp>
        <p:sp>
          <p:nvSpPr>
            <p:cNvPr id="61" name="Line 201"/>
            <p:cNvSpPr>
              <a:spLocks noChangeShapeType="1"/>
            </p:cNvSpPr>
            <p:nvPr/>
          </p:nvSpPr>
          <p:spPr bwMode="auto">
            <a:xfrm>
              <a:off x="3246265" y="1617924"/>
              <a:ext cx="502727" cy="214453"/>
            </a:xfrm>
            <a:prstGeom prst="line">
              <a:avLst/>
            </a:prstGeom>
            <a:noFill/>
            <a:ln w="19050">
              <a:solidFill>
                <a:schemeClr val="tx1"/>
              </a:solidFill>
              <a:prstDash val="sysDash"/>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defPPr>
                <a:defRPr lang="en-US"/>
              </a:defPPr>
              <a:lvl1pPr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pPr>
                <a:defRPr/>
              </a:pPr>
              <a:endParaRPr lang="zh-CN" altLang="en-US" b="1" dirty="0">
                <a:ln w="12700">
                  <a:solidFill>
                    <a:prstClr val="black"/>
                  </a:solidFill>
                </a:ln>
                <a:solidFill>
                  <a:srgbClr val="000099"/>
                </a:solidFill>
                <a:latin typeface="Times New Roman" panose="02020603050405020304" pitchFamily="18" charset="0"/>
              </a:endParaRPr>
            </a:p>
          </p:txBody>
        </p:sp>
        <p:sp>
          <p:nvSpPr>
            <p:cNvPr id="74816" name="Text Box 202"/>
            <p:cNvSpPr txBox="1">
              <a:spLocks noChangeArrowheads="1"/>
            </p:cNvSpPr>
            <p:nvPr/>
          </p:nvSpPr>
          <p:spPr bwMode="auto">
            <a:xfrm>
              <a:off x="4059391" y="2410411"/>
              <a:ext cx="543621" cy="3078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zh-CN" altLang="en-US" sz="1400" b="1">
                  <a:solidFill>
                    <a:srgbClr val="0000FF"/>
                  </a:solidFill>
                  <a:latin typeface="微软雅黑" panose="020B0503020204020204" pitchFamily="34" charset="-122"/>
                  <a:ea typeface="微软雅黑" panose="020B0503020204020204" pitchFamily="34" charset="-122"/>
                </a:rPr>
                <a:t>网络</a:t>
              </a:r>
            </a:p>
          </p:txBody>
        </p:sp>
        <p:sp>
          <p:nvSpPr>
            <p:cNvPr id="74817" name="Line 205"/>
            <p:cNvSpPr>
              <a:spLocks noChangeShapeType="1"/>
            </p:cNvSpPr>
            <p:nvPr/>
          </p:nvSpPr>
          <p:spPr bwMode="auto">
            <a:xfrm>
              <a:off x="4569249" y="1131688"/>
              <a:ext cx="84494" cy="236529"/>
            </a:xfrm>
            <a:prstGeom prst="line">
              <a:avLst/>
            </a:prstGeom>
            <a:noFill/>
            <a:ln w="1905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4818" name="Text Box 206"/>
            <p:cNvSpPr txBox="1">
              <a:spLocks noChangeArrowheads="1"/>
            </p:cNvSpPr>
            <p:nvPr/>
          </p:nvSpPr>
          <p:spPr bwMode="auto">
            <a:xfrm>
              <a:off x="2098038" y="3005368"/>
              <a:ext cx="594907" cy="33867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zh-CN" altLang="en-US" sz="1600" b="1">
                  <a:solidFill>
                    <a:srgbClr val="0000FF"/>
                  </a:solidFill>
                  <a:latin typeface="微软雅黑" panose="020B0503020204020204" pitchFamily="34" charset="-122"/>
                  <a:ea typeface="微软雅黑" panose="020B0503020204020204" pitchFamily="34" charset="-122"/>
                </a:rPr>
                <a:t>主机</a:t>
              </a:r>
            </a:p>
          </p:txBody>
        </p:sp>
        <p:pic>
          <p:nvPicPr>
            <p:cNvPr id="74760" name="Picture 246" descr="jisuanj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779530" y="1675214"/>
              <a:ext cx="401638" cy="400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74761" name="Picture 246" descr="jisuanj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49255" y="914802"/>
              <a:ext cx="401638" cy="400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74762" name="Picture 246" descr="jisuanj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447368" y="868764"/>
              <a:ext cx="400050" cy="400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74763" name="Picture 246" descr="jisuanj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209118" y="2580089"/>
              <a:ext cx="400050" cy="400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74764" name="Picture 246" descr="jisuanj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658505" y="3708802"/>
              <a:ext cx="400050" cy="400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74765" name="Picture 246" descr="jisuanj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114368" y="3100789"/>
              <a:ext cx="401637" cy="400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08" name="Picture 36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281372" y="2526325"/>
              <a:ext cx="442912" cy="3095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09" name="Picture 36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682042" y="1707760"/>
              <a:ext cx="442912" cy="3095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10" name="Picture 36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354741" y="2351520"/>
              <a:ext cx="442912" cy="3095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11" name="Picture 36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53268" y="1385653"/>
              <a:ext cx="442912" cy="3095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207" name="Group 151"/>
            <p:cNvGrpSpPr/>
            <p:nvPr/>
          </p:nvGrpSpPr>
          <p:grpSpPr bwMode="auto">
            <a:xfrm rot="20376906">
              <a:off x="3627744" y="1439535"/>
              <a:ext cx="332038" cy="203901"/>
              <a:chOff x="2949" y="196"/>
              <a:chExt cx="941" cy="598"/>
            </a:xfrm>
          </p:grpSpPr>
          <p:sp>
            <p:nvSpPr>
              <p:cNvPr id="212" name="Oval 152"/>
              <p:cNvSpPr>
                <a:spLocks noChangeArrowheads="1"/>
              </p:cNvSpPr>
              <p:nvPr/>
            </p:nvSpPr>
            <p:spPr bwMode="auto">
              <a:xfrm>
                <a:off x="3168" y="196"/>
                <a:ext cx="407" cy="162"/>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213" name="Oval 153"/>
              <p:cNvSpPr>
                <a:spLocks noChangeArrowheads="1"/>
              </p:cNvSpPr>
              <p:nvPr/>
            </p:nvSpPr>
            <p:spPr bwMode="auto">
              <a:xfrm rot="900000">
                <a:off x="3512" y="252"/>
                <a:ext cx="275" cy="131"/>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214" name="Oval 154"/>
              <p:cNvSpPr>
                <a:spLocks noChangeArrowheads="1"/>
              </p:cNvSpPr>
              <p:nvPr/>
            </p:nvSpPr>
            <p:spPr bwMode="auto">
              <a:xfrm rot="1500000">
                <a:off x="3650" y="385"/>
                <a:ext cx="240" cy="153"/>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215" name="Oval 155"/>
              <p:cNvSpPr>
                <a:spLocks noChangeArrowheads="1"/>
              </p:cNvSpPr>
              <p:nvPr/>
            </p:nvSpPr>
            <p:spPr bwMode="auto">
              <a:xfrm rot="-1560000">
                <a:off x="3573" y="537"/>
                <a:ext cx="291" cy="18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216" name="Oval 156"/>
              <p:cNvSpPr>
                <a:spLocks noChangeArrowheads="1"/>
              </p:cNvSpPr>
              <p:nvPr/>
            </p:nvSpPr>
            <p:spPr bwMode="auto">
              <a:xfrm>
                <a:off x="3216" y="555"/>
                <a:ext cx="471" cy="23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217" name="Oval 157"/>
              <p:cNvSpPr>
                <a:spLocks noChangeArrowheads="1"/>
              </p:cNvSpPr>
              <p:nvPr/>
            </p:nvSpPr>
            <p:spPr bwMode="auto">
              <a:xfrm rot="1080000">
                <a:off x="3023" y="555"/>
                <a:ext cx="26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218" name="Oval 158"/>
              <p:cNvSpPr>
                <a:spLocks noChangeArrowheads="1"/>
              </p:cNvSpPr>
              <p:nvPr/>
            </p:nvSpPr>
            <p:spPr bwMode="auto">
              <a:xfrm>
                <a:off x="2949" y="432"/>
                <a:ext cx="217"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219" name="Oval 159"/>
              <p:cNvSpPr>
                <a:spLocks noChangeArrowheads="1"/>
              </p:cNvSpPr>
              <p:nvPr/>
            </p:nvSpPr>
            <p:spPr bwMode="auto">
              <a:xfrm rot="-1860000">
                <a:off x="2984" y="310"/>
                <a:ext cx="29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220" name="Freeform 160"/>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221" name="Freeform 161"/>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222" name="Freeform 162"/>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grpSp>
        <p:pic>
          <p:nvPicPr>
            <p:cNvPr id="223" name="Picture 36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476535" y="3118409"/>
              <a:ext cx="442912" cy="3095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5782" name="矩形 3"/>
          <p:cNvSpPr>
            <a:spLocks noChangeArrowheads="1"/>
          </p:cNvSpPr>
          <p:nvPr/>
        </p:nvSpPr>
        <p:spPr bwMode="auto">
          <a:xfrm>
            <a:off x="2806002" y="4265099"/>
            <a:ext cx="382508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gn="ctr" eaLnBrk="0" hangingPunct="0"/>
            <a:r>
              <a:rPr lang="en-US" altLang="zh-CN" sz="1400" dirty="0"/>
              <a:t>(b) </a:t>
            </a:r>
            <a:r>
              <a:rPr lang="zh-CN" altLang="zh-CN" sz="1400" dirty="0"/>
              <a:t>核心部分</a:t>
            </a:r>
            <a:r>
              <a:rPr lang="zh-CN" altLang="en-US" sz="1400" dirty="0"/>
              <a:t>中</a:t>
            </a:r>
            <a:r>
              <a:rPr lang="zh-CN" altLang="zh-CN" sz="1400" dirty="0"/>
              <a:t>的</a:t>
            </a:r>
            <a:r>
              <a:rPr lang="zh-CN" altLang="en-US" sz="1400" dirty="0"/>
              <a:t>网络</a:t>
            </a:r>
            <a:r>
              <a:rPr lang="zh-CN" altLang="zh-CN" sz="1400" dirty="0"/>
              <a:t>可用一条链路表示</a:t>
            </a:r>
            <a:endParaRPr lang="zh-CN" altLang="en-US" sz="1400" dirty="0"/>
          </a:p>
        </p:txBody>
      </p:sp>
      <p:grpSp>
        <p:nvGrpSpPr>
          <p:cNvPr id="75783" name="组合 62"/>
          <p:cNvGrpSpPr/>
          <p:nvPr/>
        </p:nvGrpSpPr>
        <p:grpSpPr bwMode="auto">
          <a:xfrm>
            <a:off x="1702572" y="814614"/>
            <a:ext cx="5672137" cy="3197225"/>
            <a:chOff x="1077101" y="828844"/>
            <a:chExt cx="6958259" cy="3921427"/>
          </a:xfrm>
        </p:grpSpPr>
        <p:grpSp>
          <p:nvGrpSpPr>
            <p:cNvPr id="75784" name="组合 4"/>
            <p:cNvGrpSpPr/>
            <p:nvPr/>
          </p:nvGrpSpPr>
          <p:grpSpPr bwMode="auto">
            <a:xfrm>
              <a:off x="1077101" y="960352"/>
              <a:ext cx="6958259" cy="3561265"/>
              <a:chOff x="-754503" y="424192"/>
              <a:chExt cx="10689977" cy="5580717"/>
            </a:xfrm>
          </p:grpSpPr>
          <p:sp>
            <p:nvSpPr>
              <p:cNvPr id="75798" name="Oval 4"/>
              <p:cNvSpPr>
                <a:spLocks noChangeArrowheads="1"/>
              </p:cNvSpPr>
              <p:nvPr/>
            </p:nvSpPr>
            <p:spPr bwMode="auto">
              <a:xfrm rot="-1674972">
                <a:off x="2477133" y="1514475"/>
                <a:ext cx="2665677" cy="1519238"/>
              </a:xfrm>
              <a:prstGeom prst="ellipse">
                <a:avLst/>
              </a:prstGeom>
              <a:solidFill>
                <a:schemeClr val="bg1"/>
              </a:solidFill>
              <a:ln w="12700">
                <a:solidFill>
                  <a:srgbClr val="339933"/>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5799" name="Oval 5"/>
              <p:cNvSpPr>
                <a:spLocks noChangeArrowheads="1"/>
              </p:cNvSpPr>
              <p:nvPr/>
            </p:nvSpPr>
            <p:spPr bwMode="auto">
              <a:xfrm rot="-774972">
                <a:off x="4262276" y="1208088"/>
                <a:ext cx="2328598" cy="1409700"/>
              </a:xfrm>
              <a:prstGeom prst="ellipse">
                <a:avLst/>
              </a:prstGeom>
              <a:solidFill>
                <a:schemeClr val="bg1"/>
              </a:solidFill>
              <a:ln w="12700">
                <a:solidFill>
                  <a:srgbClr val="339933"/>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5800" name="Oval 6"/>
              <p:cNvSpPr>
                <a:spLocks noChangeArrowheads="1"/>
              </p:cNvSpPr>
              <p:nvPr/>
            </p:nvSpPr>
            <p:spPr bwMode="auto">
              <a:xfrm rot="-174972">
                <a:off x="5964870" y="1722439"/>
                <a:ext cx="1718071" cy="1824037"/>
              </a:xfrm>
              <a:prstGeom prst="ellipse">
                <a:avLst/>
              </a:prstGeom>
              <a:solidFill>
                <a:schemeClr val="bg1"/>
              </a:solidFill>
              <a:ln w="12700">
                <a:solidFill>
                  <a:srgbClr val="339933"/>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5801" name="Oval 7"/>
              <p:cNvSpPr>
                <a:spLocks noChangeArrowheads="1"/>
              </p:cNvSpPr>
              <p:nvPr/>
            </p:nvSpPr>
            <p:spPr bwMode="auto">
              <a:xfrm rot="-3234972">
                <a:off x="6326026" y="2658534"/>
                <a:ext cx="1506537" cy="1602846"/>
              </a:xfrm>
              <a:prstGeom prst="ellipse">
                <a:avLst/>
              </a:prstGeom>
              <a:solidFill>
                <a:schemeClr val="bg1"/>
              </a:solidFill>
              <a:ln w="12700">
                <a:solidFill>
                  <a:srgbClr val="339933"/>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5802" name="Oval 8"/>
              <p:cNvSpPr>
                <a:spLocks noChangeArrowheads="1"/>
              </p:cNvSpPr>
              <p:nvPr/>
            </p:nvSpPr>
            <p:spPr bwMode="auto">
              <a:xfrm rot="-1674972">
                <a:off x="4332788" y="3530601"/>
                <a:ext cx="2915047" cy="1693863"/>
              </a:xfrm>
              <a:prstGeom prst="ellipse">
                <a:avLst/>
              </a:prstGeom>
              <a:solidFill>
                <a:schemeClr val="bg1"/>
              </a:solidFill>
              <a:ln w="12700">
                <a:solidFill>
                  <a:srgbClr val="339933"/>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5803" name="Oval 9"/>
              <p:cNvSpPr>
                <a:spLocks noChangeArrowheads="1"/>
              </p:cNvSpPr>
              <p:nvPr/>
            </p:nvSpPr>
            <p:spPr bwMode="auto">
              <a:xfrm rot="-594972">
                <a:off x="3187405" y="4246564"/>
                <a:ext cx="2084388" cy="1169987"/>
              </a:xfrm>
              <a:prstGeom prst="ellipse">
                <a:avLst/>
              </a:prstGeom>
              <a:solidFill>
                <a:schemeClr val="bg1"/>
              </a:solidFill>
              <a:ln w="12700">
                <a:solidFill>
                  <a:srgbClr val="339933"/>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5804" name="Oval 10"/>
              <p:cNvSpPr>
                <a:spLocks noChangeArrowheads="1"/>
              </p:cNvSpPr>
              <p:nvPr/>
            </p:nvSpPr>
            <p:spPr bwMode="auto">
              <a:xfrm rot="-1674972">
                <a:off x="2387703" y="3736975"/>
                <a:ext cx="1319080" cy="1384300"/>
              </a:xfrm>
              <a:prstGeom prst="ellipse">
                <a:avLst/>
              </a:prstGeom>
              <a:solidFill>
                <a:schemeClr val="bg1"/>
              </a:solidFill>
              <a:ln w="12700">
                <a:solidFill>
                  <a:srgbClr val="339933"/>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5805" name="Oval 11"/>
              <p:cNvSpPr>
                <a:spLocks noChangeArrowheads="1"/>
              </p:cNvSpPr>
              <p:nvPr/>
            </p:nvSpPr>
            <p:spPr bwMode="auto">
              <a:xfrm rot="-3534972">
                <a:off x="2141707" y="2695510"/>
                <a:ext cx="1525588" cy="1322519"/>
              </a:xfrm>
              <a:prstGeom prst="ellipse">
                <a:avLst/>
              </a:prstGeom>
              <a:solidFill>
                <a:schemeClr val="bg1"/>
              </a:solidFill>
              <a:ln w="12700">
                <a:solidFill>
                  <a:srgbClr val="339933"/>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75806" name="Freeform 12"/>
              <p:cNvSpPr/>
              <p:nvPr/>
            </p:nvSpPr>
            <p:spPr bwMode="auto">
              <a:xfrm>
                <a:off x="2509808" y="1473200"/>
                <a:ext cx="5071666" cy="3690938"/>
              </a:xfrm>
              <a:custGeom>
                <a:avLst/>
                <a:gdLst>
                  <a:gd name="T0" fmla="*/ 1520712 w 1931"/>
                  <a:gd name="T1" fmla="*/ 576435 h 1684"/>
                  <a:gd name="T2" fmla="*/ 1659913 w 1931"/>
                  <a:gd name="T3" fmla="*/ 368217 h 1684"/>
                  <a:gd name="T4" fmla="*/ 1825380 w 1931"/>
                  <a:gd name="T5" fmla="*/ 276163 h 1684"/>
                  <a:gd name="T6" fmla="*/ 2405824 w 1931"/>
                  <a:gd name="T7" fmla="*/ 252053 h 1684"/>
                  <a:gd name="T8" fmla="*/ 2875958 w 1931"/>
                  <a:gd name="T9" fmla="*/ 113972 h 1684"/>
                  <a:gd name="T10" fmla="*/ 3041424 w 1931"/>
                  <a:gd name="T11" fmla="*/ 46027 h 1684"/>
                  <a:gd name="T12" fmla="*/ 3206890 w 1931"/>
                  <a:gd name="T13" fmla="*/ 0 h 1684"/>
                  <a:gd name="T14" fmla="*/ 3511557 w 1931"/>
                  <a:gd name="T15" fmla="*/ 92054 h 1684"/>
                  <a:gd name="T16" fmla="*/ 3677024 w 1931"/>
                  <a:gd name="T17" fmla="*/ 184109 h 1684"/>
                  <a:gd name="T18" fmla="*/ 3761070 w 1931"/>
                  <a:gd name="T19" fmla="*/ 230136 h 1684"/>
                  <a:gd name="T20" fmla="*/ 3952800 w 1931"/>
                  <a:gd name="T21" fmla="*/ 346299 h 1684"/>
                  <a:gd name="T22" fmla="*/ 4007956 w 1931"/>
                  <a:gd name="T23" fmla="*/ 414244 h 1684"/>
                  <a:gd name="T24" fmla="*/ 4092002 w 1931"/>
                  <a:gd name="T25" fmla="*/ 460271 h 1684"/>
                  <a:gd name="T26" fmla="*/ 4341514 w 1931"/>
                  <a:gd name="T27" fmla="*/ 644380 h 1684"/>
                  <a:gd name="T28" fmla="*/ 4562136 w 1931"/>
                  <a:gd name="T29" fmla="*/ 806571 h 1684"/>
                  <a:gd name="T30" fmla="*/ 4727602 w 1931"/>
                  <a:gd name="T31" fmla="*/ 852598 h 1684"/>
                  <a:gd name="T32" fmla="*/ 4811648 w 1931"/>
                  <a:gd name="T33" fmla="*/ 898625 h 1684"/>
                  <a:gd name="T34" fmla="*/ 5032269 w 1931"/>
                  <a:gd name="T35" fmla="*/ 1290952 h 1684"/>
                  <a:gd name="T36" fmla="*/ 4837912 w 1931"/>
                  <a:gd name="T37" fmla="*/ 2375877 h 1684"/>
                  <a:gd name="T38" fmla="*/ 4646182 w 1931"/>
                  <a:gd name="T39" fmla="*/ 2559986 h 1684"/>
                  <a:gd name="T40" fmla="*/ 4341514 w 1931"/>
                  <a:gd name="T41" fmla="*/ 2814231 h 1684"/>
                  <a:gd name="T42" fmla="*/ 4176048 w 1931"/>
                  <a:gd name="T43" fmla="*/ 2952312 h 1684"/>
                  <a:gd name="T44" fmla="*/ 4092002 w 1931"/>
                  <a:gd name="T45" fmla="*/ 2998339 h 1684"/>
                  <a:gd name="T46" fmla="*/ 3871380 w 1931"/>
                  <a:gd name="T47" fmla="*/ 3136421 h 1684"/>
                  <a:gd name="T48" fmla="*/ 3705914 w 1931"/>
                  <a:gd name="T49" fmla="*/ 3184639 h 1684"/>
                  <a:gd name="T50" fmla="*/ 3290936 w 1931"/>
                  <a:gd name="T51" fmla="*/ 3460802 h 1684"/>
                  <a:gd name="T52" fmla="*/ 3125470 w 1931"/>
                  <a:gd name="T53" fmla="*/ 3552857 h 1684"/>
                  <a:gd name="T54" fmla="*/ 2626445 w 1931"/>
                  <a:gd name="T55" fmla="*/ 3690938 h 1684"/>
                  <a:gd name="T56" fmla="*/ 1134624 w 1931"/>
                  <a:gd name="T57" fmla="*/ 3622993 h 1684"/>
                  <a:gd name="T58" fmla="*/ 885112 w 1931"/>
                  <a:gd name="T59" fmla="*/ 3552857 h 1684"/>
                  <a:gd name="T60" fmla="*/ 635600 w 1931"/>
                  <a:gd name="T61" fmla="*/ 3414775 h 1684"/>
                  <a:gd name="T62" fmla="*/ 441243 w 1931"/>
                  <a:gd name="T63" fmla="*/ 3206557 h 1684"/>
                  <a:gd name="T64" fmla="*/ 330932 w 1931"/>
                  <a:gd name="T65" fmla="*/ 3068476 h 1684"/>
                  <a:gd name="T66" fmla="*/ 275777 w 1931"/>
                  <a:gd name="T67" fmla="*/ 2998339 h 1684"/>
                  <a:gd name="T68" fmla="*/ 55155 w 1931"/>
                  <a:gd name="T69" fmla="*/ 2722176 h 1684"/>
                  <a:gd name="T70" fmla="*/ 84046 w 1931"/>
                  <a:gd name="T71" fmla="*/ 2259713 h 1684"/>
                  <a:gd name="T72" fmla="*/ 110311 w 1931"/>
                  <a:gd name="T73" fmla="*/ 1799442 h 1684"/>
                  <a:gd name="T74" fmla="*/ 220621 w 1931"/>
                  <a:gd name="T75" fmla="*/ 1383006 h 1684"/>
                  <a:gd name="T76" fmla="*/ 525289 w 1931"/>
                  <a:gd name="T77" fmla="*/ 738626 h 1684"/>
                  <a:gd name="T78" fmla="*/ 635600 w 1931"/>
                  <a:gd name="T79" fmla="*/ 576435 h 1684"/>
                  <a:gd name="T80" fmla="*/ 801066 w 1931"/>
                  <a:gd name="T81" fmla="*/ 552326 h 1684"/>
                  <a:gd name="T82" fmla="*/ 856221 w 1931"/>
                  <a:gd name="T83" fmla="*/ 414244 h 1684"/>
                  <a:gd name="T84" fmla="*/ 1050578 w 1931"/>
                  <a:gd name="T85" fmla="*/ 322190 h 1684"/>
                  <a:gd name="T86" fmla="*/ 1134624 w 1931"/>
                  <a:gd name="T87" fmla="*/ 368217 h 1684"/>
                  <a:gd name="T88" fmla="*/ 1189780 w 1931"/>
                  <a:gd name="T89" fmla="*/ 438354 h 1684"/>
                  <a:gd name="T90" fmla="*/ 1410401 w 1931"/>
                  <a:gd name="T91" fmla="*/ 460271 h 1684"/>
                  <a:gd name="T92" fmla="*/ 1465557 w 1931"/>
                  <a:gd name="T93" fmla="*/ 530408 h 1684"/>
                  <a:gd name="T94" fmla="*/ 1520712 w 1931"/>
                  <a:gd name="T95" fmla="*/ 576435 h 1684"/>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0" t="0" r="r" b="b"/>
                <a:pathLst>
                  <a:path w="1931" h="1684">
                    <a:moveTo>
                      <a:pt x="579" y="263"/>
                    </a:moveTo>
                    <a:cubicBezTo>
                      <a:pt x="590" y="230"/>
                      <a:pt x="602" y="188"/>
                      <a:pt x="632" y="168"/>
                    </a:cubicBezTo>
                    <a:cubicBezTo>
                      <a:pt x="653" y="154"/>
                      <a:pt x="695" y="126"/>
                      <a:pt x="695" y="126"/>
                    </a:cubicBezTo>
                    <a:cubicBezTo>
                      <a:pt x="755" y="218"/>
                      <a:pt x="842" y="134"/>
                      <a:pt x="916" y="115"/>
                    </a:cubicBezTo>
                    <a:cubicBezTo>
                      <a:pt x="974" y="76"/>
                      <a:pt x="1024" y="61"/>
                      <a:pt x="1095" y="52"/>
                    </a:cubicBezTo>
                    <a:cubicBezTo>
                      <a:pt x="1201" y="18"/>
                      <a:pt x="1043" y="72"/>
                      <a:pt x="1158" y="21"/>
                    </a:cubicBezTo>
                    <a:cubicBezTo>
                      <a:pt x="1178" y="12"/>
                      <a:pt x="1221" y="0"/>
                      <a:pt x="1221" y="0"/>
                    </a:cubicBezTo>
                    <a:cubicBezTo>
                      <a:pt x="1260" y="14"/>
                      <a:pt x="1298" y="28"/>
                      <a:pt x="1337" y="42"/>
                    </a:cubicBezTo>
                    <a:cubicBezTo>
                      <a:pt x="1361" y="51"/>
                      <a:pt x="1379" y="70"/>
                      <a:pt x="1400" y="84"/>
                    </a:cubicBezTo>
                    <a:cubicBezTo>
                      <a:pt x="1411" y="91"/>
                      <a:pt x="1432" y="105"/>
                      <a:pt x="1432" y="105"/>
                    </a:cubicBezTo>
                    <a:cubicBezTo>
                      <a:pt x="1513" y="215"/>
                      <a:pt x="1412" y="96"/>
                      <a:pt x="1505" y="158"/>
                    </a:cubicBezTo>
                    <a:cubicBezTo>
                      <a:pt x="1515" y="165"/>
                      <a:pt x="1517" y="180"/>
                      <a:pt x="1526" y="189"/>
                    </a:cubicBezTo>
                    <a:cubicBezTo>
                      <a:pt x="1535" y="198"/>
                      <a:pt x="1547" y="203"/>
                      <a:pt x="1558" y="210"/>
                    </a:cubicBezTo>
                    <a:cubicBezTo>
                      <a:pt x="1591" y="261"/>
                      <a:pt x="1608" y="260"/>
                      <a:pt x="1653" y="294"/>
                    </a:cubicBezTo>
                    <a:cubicBezTo>
                      <a:pt x="1683" y="316"/>
                      <a:pt x="1706" y="348"/>
                      <a:pt x="1737" y="368"/>
                    </a:cubicBezTo>
                    <a:cubicBezTo>
                      <a:pt x="1756" y="380"/>
                      <a:pt x="1780" y="380"/>
                      <a:pt x="1800" y="389"/>
                    </a:cubicBezTo>
                    <a:cubicBezTo>
                      <a:pt x="1812" y="394"/>
                      <a:pt x="1821" y="403"/>
                      <a:pt x="1832" y="410"/>
                    </a:cubicBezTo>
                    <a:cubicBezTo>
                      <a:pt x="1848" y="477"/>
                      <a:pt x="1878" y="532"/>
                      <a:pt x="1916" y="589"/>
                    </a:cubicBezTo>
                    <a:cubicBezTo>
                      <a:pt x="1930" y="740"/>
                      <a:pt x="1931" y="949"/>
                      <a:pt x="1842" y="1084"/>
                    </a:cubicBezTo>
                    <a:cubicBezTo>
                      <a:pt x="1828" y="1130"/>
                      <a:pt x="1803" y="1134"/>
                      <a:pt x="1769" y="1168"/>
                    </a:cubicBezTo>
                    <a:cubicBezTo>
                      <a:pt x="1742" y="1246"/>
                      <a:pt x="1702" y="1245"/>
                      <a:pt x="1653" y="1284"/>
                    </a:cubicBezTo>
                    <a:cubicBezTo>
                      <a:pt x="1630" y="1303"/>
                      <a:pt x="1615" y="1331"/>
                      <a:pt x="1590" y="1347"/>
                    </a:cubicBezTo>
                    <a:cubicBezTo>
                      <a:pt x="1579" y="1354"/>
                      <a:pt x="1568" y="1361"/>
                      <a:pt x="1558" y="1368"/>
                    </a:cubicBezTo>
                    <a:cubicBezTo>
                      <a:pt x="1530" y="1389"/>
                      <a:pt x="1502" y="1410"/>
                      <a:pt x="1474" y="1431"/>
                    </a:cubicBezTo>
                    <a:cubicBezTo>
                      <a:pt x="1456" y="1444"/>
                      <a:pt x="1411" y="1453"/>
                      <a:pt x="1411" y="1453"/>
                    </a:cubicBezTo>
                    <a:cubicBezTo>
                      <a:pt x="1358" y="1505"/>
                      <a:pt x="1314" y="1538"/>
                      <a:pt x="1253" y="1579"/>
                    </a:cubicBezTo>
                    <a:cubicBezTo>
                      <a:pt x="1232" y="1593"/>
                      <a:pt x="1214" y="1613"/>
                      <a:pt x="1190" y="1621"/>
                    </a:cubicBezTo>
                    <a:cubicBezTo>
                      <a:pt x="1127" y="1642"/>
                      <a:pt x="1064" y="1664"/>
                      <a:pt x="1000" y="1684"/>
                    </a:cubicBezTo>
                    <a:cubicBezTo>
                      <a:pt x="808" y="1622"/>
                      <a:pt x="697" y="1658"/>
                      <a:pt x="432" y="1653"/>
                    </a:cubicBezTo>
                    <a:cubicBezTo>
                      <a:pt x="358" y="1629"/>
                      <a:pt x="389" y="1640"/>
                      <a:pt x="337" y="1621"/>
                    </a:cubicBezTo>
                    <a:cubicBezTo>
                      <a:pt x="296" y="1580"/>
                      <a:pt x="282" y="1591"/>
                      <a:pt x="242" y="1558"/>
                    </a:cubicBezTo>
                    <a:cubicBezTo>
                      <a:pt x="209" y="1530"/>
                      <a:pt x="193" y="1500"/>
                      <a:pt x="168" y="1463"/>
                    </a:cubicBezTo>
                    <a:cubicBezTo>
                      <a:pt x="154" y="1442"/>
                      <a:pt x="140" y="1421"/>
                      <a:pt x="126" y="1400"/>
                    </a:cubicBezTo>
                    <a:cubicBezTo>
                      <a:pt x="119" y="1389"/>
                      <a:pt x="105" y="1368"/>
                      <a:pt x="105" y="1368"/>
                    </a:cubicBezTo>
                    <a:cubicBezTo>
                      <a:pt x="88" y="1315"/>
                      <a:pt x="51" y="1287"/>
                      <a:pt x="21" y="1242"/>
                    </a:cubicBezTo>
                    <a:cubicBezTo>
                      <a:pt x="0" y="1175"/>
                      <a:pt x="23" y="1099"/>
                      <a:pt x="32" y="1031"/>
                    </a:cubicBezTo>
                    <a:cubicBezTo>
                      <a:pt x="35" y="961"/>
                      <a:pt x="36" y="891"/>
                      <a:pt x="42" y="821"/>
                    </a:cubicBezTo>
                    <a:cubicBezTo>
                      <a:pt x="47" y="760"/>
                      <a:pt x="75" y="693"/>
                      <a:pt x="84" y="631"/>
                    </a:cubicBezTo>
                    <a:cubicBezTo>
                      <a:pt x="99" y="528"/>
                      <a:pt x="112" y="402"/>
                      <a:pt x="200" y="337"/>
                    </a:cubicBezTo>
                    <a:cubicBezTo>
                      <a:pt x="214" y="312"/>
                      <a:pt x="220" y="281"/>
                      <a:pt x="242" y="263"/>
                    </a:cubicBezTo>
                    <a:cubicBezTo>
                      <a:pt x="259" y="250"/>
                      <a:pt x="289" y="266"/>
                      <a:pt x="305" y="252"/>
                    </a:cubicBezTo>
                    <a:cubicBezTo>
                      <a:pt x="322" y="237"/>
                      <a:pt x="313" y="207"/>
                      <a:pt x="326" y="189"/>
                    </a:cubicBezTo>
                    <a:cubicBezTo>
                      <a:pt x="343" y="166"/>
                      <a:pt x="376" y="163"/>
                      <a:pt x="400" y="147"/>
                    </a:cubicBezTo>
                    <a:cubicBezTo>
                      <a:pt x="411" y="154"/>
                      <a:pt x="423" y="159"/>
                      <a:pt x="432" y="168"/>
                    </a:cubicBezTo>
                    <a:cubicBezTo>
                      <a:pt x="441" y="177"/>
                      <a:pt x="441" y="195"/>
                      <a:pt x="453" y="200"/>
                    </a:cubicBezTo>
                    <a:cubicBezTo>
                      <a:pt x="479" y="210"/>
                      <a:pt x="509" y="207"/>
                      <a:pt x="537" y="210"/>
                    </a:cubicBezTo>
                    <a:cubicBezTo>
                      <a:pt x="544" y="221"/>
                      <a:pt x="550" y="232"/>
                      <a:pt x="558" y="242"/>
                    </a:cubicBezTo>
                    <a:cubicBezTo>
                      <a:pt x="566" y="251"/>
                      <a:pt x="610" y="291"/>
                      <a:pt x="579" y="263"/>
                    </a:cubicBezTo>
                    <a:close/>
                  </a:path>
                </a:pathLst>
              </a:custGeom>
              <a:solidFill>
                <a:schemeClr val="bg1"/>
              </a:solidFill>
              <a:ln>
                <a:noFill/>
              </a:ln>
              <a:effectLst/>
              <a:extLst>
                <a:ext uri="{91240B29-F687-4F45-9708-019B960494DF}">
                  <a14:hiddenLine xmlns:a14="http://schemas.microsoft.com/office/drawing/2010/main" w="9525">
                    <a:solidFill>
                      <a:schemeClr val="tx1"/>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5807" name="Line 13"/>
              <p:cNvSpPr>
                <a:spLocks noChangeShapeType="1"/>
              </p:cNvSpPr>
              <p:nvPr/>
            </p:nvSpPr>
            <p:spPr bwMode="auto">
              <a:xfrm flipV="1">
                <a:off x="3801372" y="1477964"/>
                <a:ext cx="1764506" cy="638175"/>
              </a:xfrm>
              <a:prstGeom prst="line">
                <a:avLst/>
              </a:prstGeom>
              <a:noFill/>
              <a:ln w="28575">
                <a:solidFill>
                  <a:srgbClr val="339933"/>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5808" name="Line 14"/>
              <p:cNvSpPr>
                <a:spLocks noChangeShapeType="1"/>
              </p:cNvSpPr>
              <p:nvPr/>
            </p:nvSpPr>
            <p:spPr bwMode="auto">
              <a:xfrm>
                <a:off x="5784291" y="1563689"/>
                <a:ext cx="1042194" cy="1603375"/>
              </a:xfrm>
              <a:prstGeom prst="line">
                <a:avLst/>
              </a:prstGeom>
              <a:noFill/>
              <a:ln w="28575">
                <a:solidFill>
                  <a:srgbClr val="339933"/>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5809" name="Line 15"/>
              <p:cNvSpPr>
                <a:spLocks noChangeShapeType="1"/>
              </p:cNvSpPr>
              <p:nvPr/>
            </p:nvSpPr>
            <p:spPr bwMode="auto">
              <a:xfrm flipH="1">
                <a:off x="2760898" y="2219326"/>
                <a:ext cx="918369" cy="1444625"/>
              </a:xfrm>
              <a:prstGeom prst="line">
                <a:avLst/>
              </a:prstGeom>
              <a:noFill/>
              <a:ln w="28575">
                <a:solidFill>
                  <a:srgbClr val="339933"/>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5810" name="Line 16"/>
              <p:cNvSpPr>
                <a:spLocks noChangeShapeType="1"/>
              </p:cNvSpPr>
              <p:nvPr/>
            </p:nvSpPr>
            <p:spPr bwMode="auto">
              <a:xfrm>
                <a:off x="2817651" y="3863976"/>
                <a:ext cx="2091267" cy="1014413"/>
              </a:xfrm>
              <a:prstGeom prst="line">
                <a:avLst/>
              </a:prstGeom>
              <a:noFill/>
              <a:ln w="28575">
                <a:solidFill>
                  <a:srgbClr val="339933"/>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5811" name="Line 17"/>
              <p:cNvSpPr>
                <a:spLocks noChangeShapeType="1"/>
              </p:cNvSpPr>
              <p:nvPr/>
            </p:nvSpPr>
            <p:spPr bwMode="auto">
              <a:xfrm flipV="1">
                <a:off x="4998347" y="3484563"/>
                <a:ext cx="1828138" cy="1498600"/>
              </a:xfrm>
              <a:prstGeom prst="line">
                <a:avLst/>
              </a:prstGeom>
              <a:noFill/>
              <a:ln w="28575">
                <a:solidFill>
                  <a:srgbClr val="339933"/>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5812" name="Line 18"/>
              <p:cNvSpPr>
                <a:spLocks noChangeShapeType="1"/>
              </p:cNvSpPr>
              <p:nvPr/>
            </p:nvSpPr>
            <p:spPr bwMode="auto">
              <a:xfrm>
                <a:off x="3871883" y="2227264"/>
                <a:ext cx="2933965" cy="1087437"/>
              </a:xfrm>
              <a:prstGeom prst="line">
                <a:avLst/>
              </a:prstGeom>
              <a:noFill/>
              <a:ln w="28575">
                <a:solidFill>
                  <a:srgbClr val="339933"/>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5813" name="Line 19"/>
              <p:cNvSpPr>
                <a:spLocks noChangeShapeType="1"/>
              </p:cNvSpPr>
              <p:nvPr/>
            </p:nvSpPr>
            <p:spPr bwMode="auto">
              <a:xfrm>
                <a:off x="3734299" y="2043114"/>
                <a:ext cx="1377554" cy="2835275"/>
              </a:xfrm>
              <a:prstGeom prst="line">
                <a:avLst/>
              </a:prstGeom>
              <a:noFill/>
              <a:ln w="28575">
                <a:solidFill>
                  <a:srgbClr val="339933"/>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5814" name="Line 20"/>
              <p:cNvSpPr>
                <a:spLocks noChangeShapeType="1"/>
              </p:cNvSpPr>
              <p:nvPr/>
            </p:nvSpPr>
            <p:spPr bwMode="auto">
              <a:xfrm flipV="1">
                <a:off x="4229599" y="4959349"/>
                <a:ext cx="830661" cy="779323"/>
              </a:xfrm>
              <a:prstGeom prst="line">
                <a:avLst/>
              </a:prstGeom>
              <a:noFill/>
              <a:ln w="28575">
                <a:solidFill>
                  <a:srgbClr val="339933"/>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5815" name="Line 21"/>
              <p:cNvSpPr>
                <a:spLocks noChangeShapeType="1"/>
              </p:cNvSpPr>
              <p:nvPr/>
            </p:nvSpPr>
            <p:spPr bwMode="auto">
              <a:xfrm rot="-5400000">
                <a:off x="6288672" y="401763"/>
                <a:ext cx="571552" cy="1752298"/>
              </a:xfrm>
              <a:prstGeom prst="line">
                <a:avLst/>
              </a:prstGeom>
              <a:noFill/>
              <a:ln w="28575">
                <a:solidFill>
                  <a:srgbClr val="339933"/>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5816" name="Line 22"/>
              <p:cNvSpPr>
                <a:spLocks noChangeShapeType="1"/>
              </p:cNvSpPr>
              <p:nvPr/>
            </p:nvSpPr>
            <p:spPr bwMode="auto">
              <a:xfrm>
                <a:off x="6955471" y="3484563"/>
                <a:ext cx="1490108" cy="1157288"/>
              </a:xfrm>
              <a:prstGeom prst="line">
                <a:avLst/>
              </a:prstGeom>
              <a:noFill/>
              <a:ln w="28575">
                <a:solidFill>
                  <a:srgbClr val="339933"/>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5817" name="Line 23"/>
              <p:cNvSpPr>
                <a:spLocks noChangeShapeType="1"/>
              </p:cNvSpPr>
              <p:nvPr/>
            </p:nvSpPr>
            <p:spPr bwMode="auto">
              <a:xfrm>
                <a:off x="397036" y="3769938"/>
                <a:ext cx="2377620" cy="36887"/>
              </a:xfrm>
              <a:prstGeom prst="line">
                <a:avLst/>
              </a:prstGeom>
              <a:noFill/>
              <a:ln w="28575">
                <a:solidFill>
                  <a:srgbClr val="339933"/>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5818" name="Line 24"/>
              <p:cNvSpPr>
                <a:spLocks noChangeShapeType="1"/>
              </p:cNvSpPr>
              <p:nvPr/>
            </p:nvSpPr>
            <p:spPr bwMode="auto">
              <a:xfrm rot="5400000" flipH="1">
                <a:off x="2734695" y="1104624"/>
                <a:ext cx="1107863" cy="788161"/>
              </a:xfrm>
              <a:prstGeom prst="line">
                <a:avLst/>
              </a:prstGeom>
              <a:noFill/>
              <a:ln w="28575">
                <a:solidFill>
                  <a:srgbClr val="339933"/>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5819" name="Text Box 25"/>
              <p:cNvSpPr txBox="1">
                <a:spLocks noChangeArrowheads="1"/>
              </p:cNvSpPr>
              <p:nvPr/>
            </p:nvSpPr>
            <p:spPr bwMode="auto">
              <a:xfrm>
                <a:off x="-754503" y="3523622"/>
                <a:ext cx="764899" cy="5916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400" b="1">
                    <a:solidFill>
                      <a:prstClr val="black"/>
                    </a:solidFill>
                    <a:latin typeface="微软雅黑" panose="020B0503020204020204" pitchFamily="34" charset="-122"/>
                    <a:ea typeface="微软雅黑" panose="020B0503020204020204" pitchFamily="34" charset="-122"/>
                  </a:rPr>
                  <a:t>H</a:t>
                </a:r>
                <a:r>
                  <a:rPr kumimoji="1" lang="en-US" altLang="zh-CN" sz="1400" b="1" baseline="-25000">
                    <a:solidFill>
                      <a:prstClr val="black"/>
                    </a:solidFill>
                    <a:latin typeface="微软雅黑" panose="020B0503020204020204" pitchFamily="34" charset="-122"/>
                    <a:ea typeface="微软雅黑" panose="020B0503020204020204" pitchFamily="34" charset="-122"/>
                  </a:rPr>
                  <a:t>1</a:t>
                </a:r>
              </a:p>
            </p:txBody>
          </p:sp>
          <p:sp>
            <p:nvSpPr>
              <p:cNvPr id="75820" name="Text Box 26"/>
              <p:cNvSpPr txBox="1">
                <a:spLocks noChangeArrowheads="1"/>
              </p:cNvSpPr>
              <p:nvPr/>
            </p:nvSpPr>
            <p:spPr bwMode="auto">
              <a:xfrm>
                <a:off x="8716388" y="4300540"/>
                <a:ext cx="764899" cy="5916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400" b="1">
                    <a:solidFill>
                      <a:prstClr val="black"/>
                    </a:solidFill>
                    <a:latin typeface="微软雅黑" panose="020B0503020204020204" pitchFamily="34" charset="-122"/>
                    <a:ea typeface="微软雅黑" panose="020B0503020204020204" pitchFamily="34" charset="-122"/>
                  </a:rPr>
                  <a:t>H</a:t>
                </a:r>
                <a:r>
                  <a:rPr kumimoji="1" lang="en-US" altLang="zh-CN" sz="1400" b="1" baseline="-25000">
                    <a:solidFill>
                      <a:prstClr val="black"/>
                    </a:solidFill>
                    <a:latin typeface="微软雅黑" panose="020B0503020204020204" pitchFamily="34" charset="-122"/>
                    <a:ea typeface="微软雅黑" panose="020B0503020204020204" pitchFamily="34" charset="-122"/>
                  </a:rPr>
                  <a:t>5</a:t>
                </a:r>
              </a:p>
            </p:txBody>
          </p:sp>
          <p:sp>
            <p:nvSpPr>
              <p:cNvPr id="75821" name="Text Box 27"/>
              <p:cNvSpPr txBox="1">
                <a:spLocks noChangeArrowheads="1"/>
              </p:cNvSpPr>
              <p:nvPr/>
            </p:nvSpPr>
            <p:spPr bwMode="auto">
              <a:xfrm>
                <a:off x="1875510" y="424192"/>
                <a:ext cx="764899" cy="5916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400" b="1">
                    <a:solidFill>
                      <a:prstClr val="black"/>
                    </a:solidFill>
                    <a:latin typeface="微软雅黑" panose="020B0503020204020204" pitchFamily="34" charset="-122"/>
                    <a:ea typeface="微软雅黑" panose="020B0503020204020204" pitchFamily="34" charset="-122"/>
                  </a:rPr>
                  <a:t>H</a:t>
                </a:r>
                <a:r>
                  <a:rPr kumimoji="1" lang="en-US" altLang="zh-CN" sz="1400" b="1" baseline="-25000">
                    <a:solidFill>
                      <a:prstClr val="black"/>
                    </a:solidFill>
                    <a:latin typeface="微软雅黑" panose="020B0503020204020204" pitchFamily="34" charset="-122"/>
                    <a:ea typeface="微软雅黑" panose="020B0503020204020204" pitchFamily="34" charset="-122"/>
                  </a:rPr>
                  <a:t>2</a:t>
                </a:r>
              </a:p>
            </p:txBody>
          </p:sp>
          <p:sp>
            <p:nvSpPr>
              <p:cNvPr id="75822" name="Text Box 28"/>
              <p:cNvSpPr txBox="1">
                <a:spLocks noChangeArrowheads="1"/>
              </p:cNvSpPr>
              <p:nvPr/>
            </p:nvSpPr>
            <p:spPr bwMode="auto">
              <a:xfrm>
                <a:off x="7704732" y="618741"/>
                <a:ext cx="764899" cy="5916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400" b="1">
                    <a:solidFill>
                      <a:prstClr val="black"/>
                    </a:solidFill>
                    <a:latin typeface="微软雅黑" panose="020B0503020204020204" pitchFamily="34" charset="-122"/>
                    <a:ea typeface="微软雅黑" panose="020B0503020204020204" pitchFamily="34" charset="-122"/>
                  </a:rPr>
                  <a:t>H</a:t>
                </a:r>
                <a:r>
                  <a:rPr kumimoji="1" lang="en-US" altLang="zh-CN" sz="1400" b="1" baseline="-25000">
                    <a:solidFill>
                      <a:prstClr val="black"/>
                    </a:solidFill>
                    <a:latin typeface="微软雅黑" panose="020B0503020204020204" pitchFamily="34" charset="-122"/>
                    <a:ea typeface="微软雅黑" panose="020B0503020204020204" pitchFamily="34" charset="-122"/>
                  </a:rPr>
                  <a:t>4</a:t>
                </a:r>
              </a:p>
            </p:txBody>
          </p:sp>
          <p:sp>
            <p:nvSpPr>
              <p:cNvPr id="75823" name="Text Box 29"/>
              <p:cNvSpPr txBox="1">
                <a:spLocks noChangeArrowheads="1"/>
              </p:cNvSpPr>
              <p:nvPr/>
            </p:nvSpPr>
            <p:spPr bwMode="auto">
              <a:xfrm>
                <a:off x="3136656" y="5413277"/>
                <a:ext cx="764899" cy="5916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400" b="1">
                    <a:solidFill>
                      <a:prstClr val="black"/>
                    </a:solidFill>
                    <a:latin typeface="微软雅黑" panose="020B0503020204020204" pitchFamily="34" charset="-122"/>
                    <a:ea typeface="微软雅黑" panose="020B0503020204020204" pitchFamily="34" charset="-122"/>
                  </a:rPr>
                  <a:t>H</a:t>
                </a:r>
                <a:r>
                  <a:rPr kumimoji="1" lang="en-US" altLang="zh-CN" sz="1400" b="1" baseline="-25000">
                    <a:solidFill>
                      <a:prstClr val="black"/>
                    </a:solidFill>
                    <a:latin typeface="微软雅黑" panose="020B0503020204020204" pitchFamily="34" charset="-122"/>
                    <a:ea typeface="微软雅黑" panose="020B0503020204020204" pitchFamily="34" charset="-122"/>
                  </a:rPr>
                  <a:t>3</a:t>
                </a:r>
              </a:p>
            </p:txBody>
          </p:sp>
          <p:sp>
            <p:nvSpPr>
              <p:cNvPr id="75824" name="Line 30"/>
              <p:cNvSpPr>
                <a:spLocks noChangeShapeType="1"/>
              </p:cNvSpPr>
              <p:nvPr/>
            </p:nvSpPr>
            <p:spPr bwMode="auto">
              <a:xfrm flipV="1">
                <a:off x="6955471" y="2562221"/>
                <a:ext cx="1781989" cy="711203"/>
              </a:xfrm>
              <a:prstGeom prst="line">
                <a:avLst/>
              </a:prstGeom>
              <a:noFill/>
              <a:ln w="28575">
                <a:solidFill>
                  <a:srgbClr val="339933"/>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5825" name="Text Box 31"/>
              <p:cNvSpPr txBox="1">
                <a:spLocks noChangeArrowheads="1"/>
              </p:cNvSpPr>
              <p:nvPr/>
            </p:nvSpPr>
            <p:spPr bwMode="auto">
              <a:xfrm>
                <a:off x="9170575" y="2215125"/>
                <a:ext cx="764899" cy="5916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400" b="1">
                    <a:solidFill>
                      <a:prstClr val="black"/>
                    </a:solidFill>
                    <a:latin typeface="微软雅黑" panose="020B0503020204020204" pitchFamily="34" charset="-122"/>
                    <a:ea typeface="微软雅黑" panose="020B0503020204020204" pitchFamily="34" charset="-122"/>
                  </a:rPr>
                  <a:t>H</a:t>
                </a:r>
                <a:r>
                  <a:rPr kumimoji="1" lang="en-US" altLang="zh-CN" sz="1400" b="1" baseline="-25000">
                    <a:solidFill>
                      <a:prstClr val="black"/>
                    </a:solidFill>
                    <a:latin typeface="微软雅黑" panose="020B0503020204020204" pitchFamily="34" charset="-122"/>
                    <a:ea typeface="微软雅黑" panose="020B0503020204020204" pitchFamily="34" charset="-122"/>
                  </a:rPr>
                  <a:t>6</a:t>
                </a:r>
              </a:p>
            </p:txBody>
          </p:sp>
          <p:sp>
            <p:nvSpPr>
              <p:cNvPr id="75826" name="Text Box 38"/>
              <p:cNvSpPr txBox="1">
                <a:spLocks noChangeArrowheads="1"/>
              </p:cNvSpPr>
              <p:nvPr/>
            </p:nvSpPr>
            <p:spPr bwMode="auto">
              <a:xfrm>
                <a:off x="299942" y="4923211"/>
                <a:ext cx="2412411" cy="6507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zh-CN" altLang="en-US" sz="1600" b="1" dirty="0">
                    <a:solidFill>
                      <a:srgbClr val="0000FF"/>
                    </a:solidFill>
                    <a:latin typeface="微软雅黑" panose="020B0503020204020204" pitchFamily="34" charset="-122"/>
                    <a:ea typeface="微软雅黑" panose="020B0503020204020204" pitchFamily="34" charset="-122"/>
                  </a:rPr>
                  <a:t>发送的分组</a:t>
                </a:r>
              </a:p>
            </p:txBody>
          </p:sp>
          <p:pic>
            <p:nvPicPr>
              <p:cNvPr id="75827" name="Picture 39"/>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333589" y="1917700"/>
                <a:ext cx="854736" cy="508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75828" name="Picture 4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80393" y="1327150"/>
                <a:ext cx="856456" cy="508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75829" name="Picture 4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391379" y="3097213"/>
                <a:ext cx="856456" cy="5064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75830" name="Picture 4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583877" y="4514851"/>
                <a:ext cx="856456" cy="5064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75831" name="Picture 4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494331" y="3449638"/>
                <a:ext cx="856456" cy="508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75832" name="Text Box 45"/>
              <p:cNvSpPr txBox="1">
                <a:spLocks noChangeArrowheads="1"/>
              </p:cNvSpPr>
              <p:nvPr/>
            </p:nvSpPr>
            <p:spPr bwMode="auto">
              <a:xfrm>
                <a:off x="917418" y="1459489"/>
                <a:ext cx="1508049" cy="65079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zh-CN" altLang="en-US" sz="1600" b="1" dirty="0">
                    <a:solidFill>
                      <a:srgbClr val="0000FF"/>
                    </a:solidFill>
                    <a:latin typeface="微软雅黑" panose="020B0503020204020204" pitchFamily="34" charset="-122"/>
                    <a:ea typeface="微软雅黑" panose="020B0503020204020204" pitchFamily="34" charset="-122"/>
                  </a:rPr>
                  <a:t>路由器</a:t>
                </a:r>
              </a:p>
            </p:txBody>
          </p:sp>
          <p:sp>
            <p:nvSpPr>
              <p:cNvPr id="75833" name="Line 46"/>
              <p:cNvSpPr>
                <a:spLocks noChangeShapeType="1"/>
              </p:cNvSpPr>
              <p:nvPr/>
            </p:nvSpPr>
            <p:spPr bwMode="auto">
              <a:xfrm>
                <a:off x="2301320" y="1860060"/>
                <a:ext cx="1151910" cy="327959"/>
              </a:xfrm>
              <a:prstGeom prst="line">
                <a:avLst/>
              </a:prstGeom>
              <a:noFill/>
              <a:ln w="19050">
                <a:solidFill>
                  <a:schemeClr val="tx1"/>
                </a:solidFill>
                <a:prstDash val="sysDash"/>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5834" name="Text Box 47"/>
              <p:cNvSpPr txBox="1">
                <a:spLocks noChangeArrowheads="1"/>
              </p:cNvSpPr>
              <p:nvPr/>
            </p:nvSpPr>
            <p:spPr bwMode="auto">
              <a:xfrm>
                <a:off x="3177049" y="3398623"/>
                <a:ext cx="638021" cy="65079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rgbClr val="0000FF"/>
                    </a:solidFill>
                    <a:latin typeface="微软雅黑" panose="020B0503020204020204" pitchFamily="34" charset="-122"/>
                    <a:ea typeface="微软雅黑" panose="020B0503020204020204" pitchFamily="34" charset="-122"/>
                  </a:rPr>
                  <a:t>A</a:t>
                </a:r>
              </a:p>
            </p:txBody>
          </p:sp>
          <p:sp>
            <p:nvSpPr>
              <p:cNvPr id="75835" name="Text Box 48"/>
              <p:cNvSpPr txBox="1">
                <a:spLocks noChangeArrowheads="1"/>
              </p:cNvSpPr>
              <p:nvPr/>
            </p:nvSpPr>
            <p:spPr bwMode="auto">
              <a:xfrm>
                <a:off x="6650786" y="2562223"/>
                <a:ext cx="568540" cy="65079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rgbClr val="0000FF"/>
                    </a:solidFill>
                    <a:latin typeface="微软雅黑" panose="020B0503020204020204" pitchFamily="34" charset="-122"/>
                    <a:ea typeface="微软雅黑" panose="020B0503020204020204" pitchFamily="34" charset="-122"/>
                  </a:rPr>
                  <a:t>E</a:t>
                </a:r>
              </a:p>
            </p:txBody>
          </p:sp>
          <p:sp>
            <p:nvSpPr>
              <p:cNvPr id="75836" name="Text Box 49"/>
              <p:cNvSpPr txBox="1">
                <a:spLocks noChangeArrowheads="1"/>
              </p:cNvSpPr>
              <p:nvPr/>
            </p:nvSpPr>
            <p:spPr bwMode="auto">
              <a:xfrm>
                <a:off x="5272315" y="1754932"/>
                <a:ext cx="653126" cy="65079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rgbClr val="0000FF"/>
                    </a:solidFill>
                    <a:latin typeface="微软雅黑" panose="020B0503020204020204" pitchFamily="34" charset="-122"/>
                    <a:ea typeface="微软雅黑" panose="020B0503020204020204" pitchFamily="34" charset="-122"/>
                  </a:rPr>
                  <a:t>D</a:t>
                </a:r>
              </a:p>
            </p:txBody>
          </p:sp>
          <p:sp>
            <p:nvSpPr>
              <p:cNvPr id="75837" name="Text Box 50"/>
              <p:cNvSpPr txBox="1">
                <a:spLocks noChangeArrowheads="1"/>
              </p:cNvSpPr>
              <p:nvPr/>
            </p:nvSpPr>
            <p:spPr bwMode="auto">
              <a:xfrm>
                <a:off x="3587959" y="1406667"/>
                <a:ext cx="613854" cy="65079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rgbClr val="0000FF"/>
                    </a:solidFill>
                    <a:latin typeface="微软雅黑" panose="020B0503020204020204" pitchFamily="34" charset="-122"/>
                    <a:ea typeface="微软雅黑" panose="020B0503020204020204" pitchFamily="34" charset="-122"/>
                  </a:rPr>
                  <a:t>B</a:t>
                </a:r>
              </a:p>
            </p:txBody>
          </p:sp>
          <p:sp>
            <p:nvSpPr>
              <p:cNvPr id="75838" name="Text Box 51"/>
              <p:cNvSpPr txBox="1">
                <a:spLocks noChangeArrowheads="1"/>
              </p:cNvSpPr>
              <p:nvPr/>
            </p:nvSpPr>
            <p:spPr bwMode="auto">
              <a:xfrm>
                <a:off x="5324208" y="4578350"/>
                <a:ext cx="607812" cy="65079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600" b="1">
                    <a:solidFill>
                      <a:srgbClr val="0000FF"/>
                    </a:solidFill>
                    <a:latin typeface="微软雅黑" panose="020B0503020204020204" pitchFamily="34" charset="-122"/>
                    <a:ea typeface="微软雅黑" panose="020B0503020204020204" pitchFamily="34" charset="-122"/>
                  </a:rPr>
                  <a:t>C</a:t>
                </a:r>
              </a:p>
            </p:txBody>
          </p:sp>
          <p:sp>
            <p:nvSpPr>
              <p:cNvPr id="75839" name="Line 52"/>
              <p:cNvSpPr>
                <a:spLocks noChangeShapeType="1"/>
              </p:cNvSpPr>
              <p:nvPr/>
            </p:nvSpPr>
            <p:spPr bwMode="auto">
              <a:xfrm flipV="1">
                <a:off x="1768579" y="4121150"/>
                <a:ext cx="278606" cy="825500"/>
              </a:xfrm>
              <a:prstGeom prst="line">
                <a:avLst/>
              </a:prstGeom>
              <a:noFill/>
              <a:ln w="19050">
                <a:solidFill>
                  <a:schemeClr val="tx1"/>
                </a:solidFill>
                <a:prstDash val="sysDash"/>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5840" name="Line 73"/>
              <p:cNvSpPr>
                <a:spLocks noChangeShapeType="1"/>
              </p:cNvSpPr>
              <p:nvPr/>
            </p:nvSpPr>
            <p:spPr bwMode="auto">
              <a:xfrm>
                <a:off x="5108414" y="754806"/>
                <a:ext cx="137582" cy="474663"/>
              </a:xfrm>
              <a:prstGeom prst="line">
                <a:avLst/>
              </a:prstGeom>
              <a:noFill/>
              <a:ln w="1905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75841" name="Text Box 74"/>
              <p:cNvSpPr txBox="1">
                <a:spLocks noChangeArrowheads="1"/>
              </p:cNvSpPr>
              <p:nvPr/>
            </p:nvSpPr>
            <p:spPr bwMode="auto">
              <a:xfrm>
                <a:off x="-289156" y="2916788"/>
                <a:ext cx="1121371" cy="65079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zh-CN" altLang="en-US" sz="1600" b="1">
                    <a:solidFill>
                      <a:srgbClr val="0000FF"/>
                    </a:solidFill>
                    <a:latin typeface="微软雅黑" panose="020B0503020204020204" pitchFamily="34" charset="-122"/>
                    <a:ea typeface="微软雅黑" panose="020B0503020204020204" pitchFamily="34" charset="-122"/>
                  </a:rPr>
                  <a:t>主机</a:t>
                </a:r>
              </a:p>
            </p:txBody>
          </p:sp>
        </p:grpSp>
        <p:sp>
          <p:nvSpPr>
            <p:cNvPr id="75785" name="Text Box 204"/>
            <p:cNvSpPr txBox="1">
              <a:spLocks noChangeArrowheads="1"/>
            </p:cNvSpPr>
            <p:nvPr/>
          </p:nvSpPr>
          <p:spPr bwMode="auto">
            <a:xfrm>
              <a:off x="4155246" y="828844"/>
              <a:ext cx="1736690" cy="41529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zh-CN" altLang="en-US" sz="1600" b="1" dirty="0">
                  <a:solidFill>
                    <a:srgbClr val="0000FF"/>
                  </a:solidFill>
                  <a:latin typeface="微软雅黑" panose="020B0503020204020204" pitchFamily="34" charset="-122"/>
                  <a:ea typeface="微软雅黑" panose="020B0503020204020204" pitchFamily="34" charset="-122"/>
                </a:rPr>
                <a:t>网络核心部分</a:t>
              </a:r>
            </a:p>
          </p:txBody>
        </p:sp>
        <p:pic>
          <p:nvPicPr>
            <p:cNvPr id="75787"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166305" y="1111810"/>
              <a:ext cx="503237" cy="5032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75788"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063903" y="4247033"/>
              <a:ext cx="503238" cy="5032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75789"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813951" y="3514533"/>
              <a:ext cx="503237" cy="5032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75790"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147932" y="2119188"/>
              <a:ext cx="503239" cy="5032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75791"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93343" y="2937872"/>
              <a:ext cx="503238" cy="5032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57" name="直接连接符 56"/>
            <p:cNvCxnSpPr/>
            <p:nvPr/>
          </p:nvCxnSpPr>
          <p:spPr>
            <a:xfrm flipH="1" flipV="1">
              <a:off x="4321562" y="2074978"/>
              <a:ext cx="1462539" cy="547131"/>
            </a:xfrm>
            <a:prstGeom prst="line">
              <a:avLst/>
            </a:prstGeom>
            <a:ln w="57150">
              <a:solidFill>
                <a:srgbClr val="CC00CC"/>
              </a:solidFill>
              <a:prstDash val="sysDot"/>
            </a:ln>
          </p:spPr>
          <p:style>
            <a:lnRef idx="1">
              <a:schemeClr val="accent1"/>
            </a:lnRef>
            <a:fillRef idx="0">
              <a:schemeClr val="accent1"/>
            </a:fillRef>
            <a:effectRef idx="0">
              <a:schemeClr val="accent1"/>
            </a:effectRef>
            <a:fontRef idx="minor">
              <a:schemeClr val="tx1"/>
            </a:fontRef>
          </p:style>
        </p:cxnSp>
        <p:cxnSp>
          <p:nvCxnSpPr>
            <p:cNvPr id="58" name="直接连接符 57"/>
            <p:cNvCxnSpPr/>
            <p:nvPr/>
          </p:nvCxnSpPr>
          <p:spPr>
            <a:xfrm flipH="1">
              <a:off x="3316675" y="2199591"/>
              <a:ext cx="432335" cy="630855"/>
            </a:xfrm>
            <a:prstGeom prst="line">
              <a:avLst/>
            </a:prstGeom>
            <a:ln w="57150">
              <a:solidFill>
                <a:srgbClr val="CC00CC"/>
              </a:solidFill>
              <a:prstDash val="sysDot"/>
            </a:ln>
          </p:spPr>
          <p:style>
            <a:lnRef idx="1">
              <a:schemeClr val="accent1"/>
            </a:lnRef>
            <a:fillRef idx="0">
              <a:schemeClr val="accent1"/>
            </a:fillRef>
            <a:effectRef idx="0">
              <a:schemeClr val="accent1"/>
            </a:effectRef>
            <a:fontRef idx="minor">
              <a:schemeClr val="tx1"/>
            </a:fontRef>
          </p:style>
        </p:cxnSp>
        <p:cxnSp>
          <p:nvCxnSpPr>
            <p:cNvPr id="59" name="直接连接符 58"/>
            <p:cNvCxnSpPr/>
            <p:nvPr/>
          </p:nvCxnSpPr>
          <p:spPr>
            <a:xfrm>
              <a:off x="1996300" y="2982319"/>
              <a:ext cx="1119786" cy="0"/>
            </a:xfrm>
            <a:prstGeom prst="line">
              <a:avLst/>
            </a:prstGeom>
            <a:ln w="57150">
              <a:solidFill>
                <a:srgbClr val="CC00CC"/>
              </a:solidFill>
              <a:prstDash val="sysDot"/>
            </a:ln>
          </p:spPr>
          <p:style>
            <a:lnRef idx="1">
              <a:schemeClr val="accent1"/>
            </a:lnRef>
            <a:fillRef idx="0">
              <a:schemeClr val="accent1"/>
            </a:fillRef>
            <a:effectRef idx="0">
              <a:schemeClr val="accent1"/>
            </a:effectRef>
            <a:fontRef idx="minor">
              <a:schemeClr val="tx1"/>
            </a:fontRef>
          </p:style>
        </p:cxnSp>
        <p:cxnSp>
          <p:nvCxnSpPr>
            <p:cNvPr id="60" name="直接连接符 59"/>
            <p:cNvCxnSpPr/>
            <p:nvPr/>
          </p:nvCxnSpPr>
          <p:spPr>
            <a:xfrm>
              <a:off x="1994352" y="3225705"/>
              <a:ext cx="1156789" cy="0"/>
            </a:xfrm>
            <a:prstGeom prst="line">
              <a:avLst/>
            </a:prstGeom>
            <a:ln w="57150">
              <a:solidFill>
                <a:schemeClr val="accent2">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61" name="直接连接符 60"/>
            <p:cNvCxnSpPr/>
            <p:nvPr/>
          </p:nvCxnSpPr>
          <p:spPr>
            <a:xfrm flipV="1">
              <a:off x="5112229" y="2974530"/>
              <a:ext cx="615396" cy="517924"/>
            </a:xfrm>
            <a:prstGeom prst="line">
              <a:avLst/>
            </a:prstGeom>
            <a:ln w="57150">
              <a:solidFill>
                <a:schemeClr val="accent2">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62" name="直接连接符 61"/>
            <p:cNvCxnSpPr/>
            <p:nvPr/>
          </p:nvCxnSpPr>
          <p:spPr>
            <a:xfrm flipH="1" flipV="1">
              <a:off x="3351729" y="3272435"/>
              <a:ext cx="1104207" cy="554918"/>
            </a:xfrm>
            <a:prstGeom prst="line">
              <a:avLst/>
            </a:prstGeom>
            <a:ln w="57150">
              <a:solidFill>
                <a:schemeClr val="accent2">
                  <a:lumMod val="75000"/>
                </a:schemeClr>
              </a:solidFill>
              <a:prstDash val="sysDot"/>
            </a:ln>
          </p:spPr>
          <p:style>
            <a:lnRef idx="1">
              <a:schemeClr val="accent1"/>
            </a:lnRef>
            <a:fillRef idx="0">
              <a:schemeClr val="accent1"/>
            </a:fillRef>
            <a:effectRef idx="0">
              <a:schemeClr val="accent1"/>
            </a:effectRef>
            <a:fontRef idx="minor">
              <a:schemeClr val="tx1"/>
            </a:fontRef>
          </p:style>
        </p:cxnSp>
        <p:pic>
          <p:nvPicPr>
            <p:cNvPr id="75786"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213930" y="942280"/>
              <a:ext cx="503238" cy="5032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矩形 7"/>
          <p:cNvSpPr>
            <a:spLocks noChangeArrowheads="1"/>
          </p:cNvSpPr>
          <p:nvPr/>
        </p:nvSpPr>
        <p:spPr bwMode="auto">
          <a:xfrm>
            <a:off x="6106973" y="1734313"/>
            <a:ext cx="2492990"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p>
            <a:r>
              <a:rPr kumimoji="1" lang="zh-CN" altLang="en-US" b="1" dirty="0">
                <a:solidFill>
                  <a:srgbClr val="C00000"/>
                </a:solidFill>
                <a:latin typeface="微软雅黑" panose="020B0503020204020204" pitchFamily="34" charset="-122"/>
                <a:ea typeface="微软雅黑" panose="020B0503020204020204" pitchFamily="34" charset="-122"/>
              </a:rPr>
              <a:t>注意分组路径的变化！</a:t>
            </a:r>
          </a:p>
        </p:txBody>
      </p:sp>
      <p:sp>
        <p:nvSpPr>
          <p:cNvPr id="6" name="Text Box 98"/>
          <p:cNvSpPr txBox="1">
            <a:spLocks noChangeArrowheads="1"/>
          </p:cNvSpPr>
          <p:nvPr/>
        </p:nvSpPr>
        <p:spPr bwMode="auto">
          <a:xfrm>
            <a:off x="1000364" y="3293701"/>
            <a:ext cx="160973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defPPr>
              <a:defRPr lang="zh-CN"/>
            </a:defPPr>
            <a:lvl1pPr algn="ctr" eaLnBrk="0" hangingPunct="0">
              <a:defRPr sz="1400"/>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lang="en-US" altLang="zh-CN" dirty="0"/>
              <a:t>H1 </a:t>
            </a:r>
            <a:r>
              <a:rPr lang="zh-CN" altLang="en-US"/>
              <a:t>向 </a:t>
            </a:r>
            <a:r>
              <a:rPr lang="en-US" altLang="zh-CN" dirty="0"/>
              <a:t>H5 </a:t>
            </a:r>
            <a:r>
              <a:rPr lang="zh-CN" altLang="en-US" dirty="0"/>
              <a:t>发送分组</a:t>
            </a:r>
          </a:p>
        </p:txBody>
      </p:sp>
      <p:sp>
        <p:nvSpPr>
          <p:cNvPr id="7" name="Text Box 99"/>
          <p:cNvSpPr txBox="1">
            <a:spLocks noChangeArrowheads="1"/>
          </p:cNvSpPr>
          <p:nvPr/>
        </p:nvSpPr>
        <p:spPr bwMode="auto">
          <a:xfrm>
            <a:off x="1000125" y="3690871"/>
            <a:ext cx="160973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defPPr>
              <a:defRPr lang="zh-CN"/>
            </a:defPPr>
            <a:lvl1pPr algn="ctr" eaLnBrk="0" hangingPunct="0">
              <a:defRPr sz="1400"/>
            </a:lvl1pPr>
            <a:lvl2pPr marL="742950" indent="-285750">
              <a:defRPr>
                <a:latin typeface="Calibri" panose="020F0502020204030204" pitchFamily="34" charset="0"/>
                <a:ea typeface="宋体" panose="02010600030101010101" pitchFamily="2" charset="-122"/>
              </a:defRPr>
            </a:lvl2pPr>
            <a:lvl3pPr marL="1143000" indent="-228600">
              <a:defRPr>
                <a:latin typeface="Calibri" panose="020F0502020204030204" pitchFamily="34" charset="0"/>
                <a:ea typeface="宋体" panose="02010600030101010101" pitchFamily="2" charset="-122"/>
              </a:defRPr>
            </a:lvl3pPr>
            <a:lvl4pPr marL="1600200" indent="-228600">
              <a:defRPr>
                <a:latin typeface="Calibri" panose="020F0502020204030204" pitchFamily="34" charset="0"/>
                <a:ea typeface="宋体" panose="02010600030101010101" pitchFamily="2" charset="-122"/>
              </a:defRPr>
            </a:lvl4pPr>
            <a:lvl5pPr marL="2057400" indent="-228600">
              <a:defRPr>
                <a:latin typeface="Calibri" panose="020F0502020204030204" pitchFamily="34" charset="0"/>
                <a:ea typeface="宋体" panose="02010600030101010101" pitchFamily="2" charset="-122"/>
              </a:defRPr>
            </a:lvl5pPr>
            <a:lvl6pPr marL="2514600" indent="-228600" fontAlgn="base">
              <a:spcBef>
                <a:spcPct val="0"/>
              </a:spcBef>
              <a:spcAft>
                <a:spcPct val="0"/>
              </a:spcAft>
              <a:defRPr>
                <a:latin typeface="Calibri" panose="020F0502020204030204" pitchFamily="34" charset="0"/>
                <a:ea typeface="宋体" panose="02010600030101010101" pitchFamily="2" charset="-122"/>
              </a:defRPr>
            </a:lvl6pPr>
            <a:lvl7pPr marL="2971800" indent="-228600" fontAlgn="base">
              <a:spcBef>
                <a:spcPct val="0"/>
              </a:spcBef>
              <a:spcAft>
                <a:spcPct val="0"/>
              </a:spcAft>
              <a:defRPr>
                <a:latin typeface="Calibri" panose="020F0502020204030204" pitchFamily="34" charset="0"/>
                <a:ea typeface="宋体" panose="02010600030101010101" pitchFamily="2" charset="-122"/>
              </a:defRPr>
            </a:lvl7pPr>
            <a:lvl8pPr marL="3429000" indent="-228600" fontAlgn="base">
              <a:spcBef>
                <a:spcPct val="0"/>
              </a:spcBef>
              <a:spcAft>
                <a:spcPct val="0"/>
              </a:spcAft>
              <a:defRPr>
                <a:latin typeface="Calibri" panose="020F0502020204030204" pitchFamily="34" charset="0"/>
                <a:ea typeface="宋体" panose="02010600030101010101" pitchFamily="2" charset="-122"/>
              </a:defRPr>
            </a:lvl8pPr>
            <a:lvl9pPr marL="3886200" indent="-228600" fontAlgn="base">
              <a:spcBef>
                <a:spcPct val="0"/>
              </a:spcBef>
              <a:spcAft>
                <a:spcPct val="0"/>
              </a:spcAft>
              <a:defRPr>
                <a:latin typeface="Calibri" panose="020F0502020204030204" pitchFamily="34" charset="0"/>
                <a:ea typeface="宋体" panose="02010600030101010101" pitchFamily="2" charset="-122"/>
              </a:defRPr>
            </a:lvl9pPr>
          </a:lstStyle>
          <a:p>
            <a:r>
              <a:rPr lang="en-US" altLang="zh-CN" dirty="0"/>
              <a:t>H2 </a:t>
            </a:r>
            <a:r>
              <a:rPr lang="zh-CN" altLang="en-US" dirty="0"/>
              <a:t>向 </a:t>
            </a:r>
            <a:r>
              <a:rPr lang="en-US" altLang="zh-CN" dirty="0"/>
              <a:t>H6 </a:t>
            </a:r>
            <a:r>
              <a:rPr lang="zh-CN" altLang="en-US" dirty="0"/>
              <a:t>发送分组</a:t>
            </a:r>
          </a:p>
        </p:txBody>
      </p:sp>
      <p:pic>
        <p:nvPicPr>
          <p:cNvPr id="76810" name="Picture 246" descr="jisuanj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938463" y="1360488"/>
            <a:ext cx="403225" cy="403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10" name="Group 4"/>
          <p:cNvGrpSpPr/>
          <p:nvPr/>
        </p:nvGrpSpPr>
        <p:grpSpPr bwMode="auto">
          <a:xfrm>
            <a:off x="3061993" y="1629841"/>
            <a:ext cx="2650085" cy="2192781"/>
            <a:chOff x="2256" y="2386"/>
            <a:chExt cx="2147" cy="1919"/>
          </a:xfrm>
          <a:solidFill>
            <a:schemeClr val="bg1"/>
          </a:solidFill>
        </p:grpSpPr>
        <p:sp>
          <p:nvSpPr>
            <p:cNvPr id="11" name="Oval 5"/>
            <p:cNvSpPr>
              <a:spLocks noChangeArrowheads="1"/>
            </p:cNvSpPr>
            <p:nvPr/>
          </p:nvSpPr>
          <p:spPr bwMode="auto">
            <a:xfrm rot="-1674972">
              <a:off x="2346" y="2526"/>
              <a:ext cx="1015" cy="692"/>
            </a:xfrm>
            <a:prstGeom prst="ellipse">
              <a:avLst/>
            </a:prstGeom>
            <a:grpFill/>
            <a:ln w="12700">
              <a:solidFill>
                <a:srgbClr val="00B05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defPPr>
                <a:defRPr lang="en-US"/>
              </a:defPPr>
              <a:lvl1pPr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pPr>
                <a:defRPr/>
              </a:pPr>
              <a:endParaRPr lang="zh-CN" altLang="en-US" b="1" dirty="0">
                <a:solidFill>
                  <a:srgbClr val="000099"/>
                </a:solidFill>
                <a:latin typeface="Times New Roman" panose="02020603050405020304" pitchFamily="18" charset="0"/>
              </a:endParaRPr>
            </a:p>
          </p:txBody>
        </p:sp>
        <p:sp>
          <p:nvSpPr>
            <p:cNvPr id="12" name="Oval 6"/>
            <p:cNvSpPr>
              <a:spLocks noChangeArrowheads="1"/>
            </p:cNvSpPr>
            <p:nvPr/>
          </p:nvSpPr>
          <p:spPr bwMode="auto">
            <a:xfrm rot="-774972">
              <a:off x="3025" y="2386"/>
              <a:ext cx="887" cy="642"/>
            </a:xfrm>
            <a:prstGeom prst="ellipse">
              <a:avLst/>
            </a:prstGeom>
            <a:grpFill/>
            <a:ln w="12700">
              <a:solidFill>
                <a:srgbClr val="00B05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defPPr>
                <a:defRPr lang="en-US"/>
              </a:defPPr>
              <a:lvl1pPr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pPr>
                <a:defRPr/>
              </a:pPr>
              <a:endParaRPr lang="zh-CN" altLang="en-US" b="1" dirty="0">
                <a:solidFill>
                  <a:srgbClr val="000099"/>
                </a:solidFill>
                <a:latin typeface="Times New Roman" panose="02020603050405020304" pitchFamily="18" charset="0"/>
              </a:endParaRPr>
            </a:p>
          </p:txBody>
        </p:sp>
        <p:sp>
          <p:nvSpPr>
            <p:cNvPr id="13" name="Oval 7"/>
            <p:cNvSpPr>
              <a:spLocks noChangeArrowheads="1"/>
            </p:cNvSpPr>
            <p:nvPr/>
          </p:nvSpPr>
          <p:spPr bwMode="auto">
            <a:xfrm rot="-174972">
              <a:off x="3673" y="2621"/>
              <a:ext cx="655" cy="832"/>
            </a:xfrm>
            <a:prstGeom prst="ellipse">
              <a:avLst/>
            </a:prstGeom>
            <a:grpFill/>
            <a:ln w="12700">
              <a:solidFill>
                <a:srgbClr val="00B05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defPPr>
                <a:defRPr lang="en-US"/>
              </a:defPPr>
              <a:lvl1pPr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pPr>
                <a:defRPr/>
              </a:pPr>
              <a:endParaRPr lang="zh-CN" altLang="en-US" b="1" dirty="0">
                <a:solidFill>
                  <a:srgbClr val="000099"/>
                </a:solidFill>
                <a:latin typeface="Times New Roman" panose="02020603050405020304" pitchFamily="18" charset="0"/>
              </a:endParaRPr>
            </a:p>
          </p:txBody>
        </p:sp>
        <p:sp>
          <p:nvSpPr>
            <p:cNvPr id="14" name="Oval 8"/>
            <p:cNvSpPr>
              <a:spLocks noChangeArrowheads="1"/>
            </p:cNvSpPr>
            <p:nvPr/>
          </p:nvSpPr>
          <p:spPr bwMode="auto">
            <a:xfrm rot="18365028">
              <a:off x="3754" y="3108"/>
              <a:ext cx="687" cy="610"/>
            </a:xfrm>
            <a:prstGeom prst="ellipse">
              <a:avLst/>
            </a:prstGeom>
            <a:grpFill/>
            <a:ln w="12700">
              <a:solidFill>
                <a:srgbClr val="00B05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defPPr>
                <a:defRPr lang="en-US"/>
              </a:defPPr>
              <a:lvl1pPr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pPr>
                <a:defRPr/>
              </a:pPr>
              <a:endParaRPr lang="zh-CN" altLang="en-US" b="1" dirty="0">
                <a:solidFill>
                  <a:srgbClr val="000099"/>
                </a:solidFill>
                <a:latin typeface="Times New Roman" panose="02020603050405020304" pitchFamily="18" charset="0"/>
              </a:endParaRPr>
            </a:p>
          </p:txBody>
        </p:sp>
        <p:sp>
          <p:nvSpPr>
            <p:cNvPr id="15" name="Oval 9"/>
            <p:cNvSpPr>
              <a:spLocks noChangeArrowheads="1"/>
            </p:cNvSpPr>
            <p:nvPr/>
          </p:nvSpPr>
          <p:spPr bwMode="auto">
            <a:xfrm rot="-1674972">
              <a:off x="3052" y="3445"/>
              <a:ext cx="1110" cy="772"/>
            </a:xfrm>
            <a:prstGeom prst="ellipse">
              <a:avLst/>
            </a:prstGeom>
            <a:grpFill/>
            <a:ln w="12700">
              <a:solidFill>
                <a:srgbClr val="00B05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defPPr>
                <a:defRPr lang="en-US"/>
              </a:defPPr>
              <a:lvl1pPr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pPr>
                <a:defRPr/>
              </a:pPr>
              <a:endParaRPr lang="zh-CN" altLang="en-US" b="1" dirty="0">
                <a:solidFill>
                  <a:srgbClr val="000099"/>
                </a:solidFill>
                <a:latin typeface="Times New Roman" panose="02020603050405020304" pitchFamily="18" charset="0"/>
              </a:endParaRPr>
            </a:p>
          </p:txBody>
        </p:sp>
        <p:sp>
          <p:nvSpPr>
            <p:cNvPr id="16" name="Oval 10"/>
            <p:cNvSpPr>
              <a:spLocks noChangeArrowheads="1"/>
            </p:cNvSpPr>
            <p:nvPr/>
          </p:nvSpPr>
          <p:spPr bwMode="auto">
            <a:xfrm rot="-594972">
              <a:off x="2616" y="3772"/>
              <a:ext cx="793" cy="533"/>
            </a:xfrm>
            <a:prstGeom prst="ellipse">
              <a:avLst/>
            </a:prstGeom>
            <a:grpFill/>
            <a:ln w="12700">
              <a:solidFill>
                <a:srgbClr val="00B05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defPPr>
                <a:defRPr lang="en-US"/>
              </a:defPPr>
              <a:lvl1pPr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pPr>
                <a:defRPr/>
              </a:pPr>
              <a:endParaRPr lang="zh-CN" altLang="en-US" b="1" dirty="0">
                <a:solidFill>
                  <a:srgbClr val="000099"/>
                </a:solidFill>
                <a:latin typeface="Times New Roman" panose="02020603050405020304" pitchFamily="18" charset="0"/>
              </a:endParaRPr>
            </a:p>
          </p:txBody>
        </p:sp>
        <p:sp>
          <p:nvSpPr>
            <p:cNvPr id="17" name="Oval 11"/>
            <p:cNvSpPr>
              <a:spLocks noChangeArrowheads="1"/>
            </p:cNvSpPr>
            <p:nvPr/>
          </p:nvSpPr>
          <p:spPr bwMode="auto">
            <a:xfrm rot="-1674972">
              <a:off x="2311" y="3539"/>
              <a:ext cx="503" cy="631"/>
            </a:xfrm>
            <a:prstGeom prst="ellipse">
              <a:avLst/>
            </a:prstGeom>
            <a:grpFill/>
            <a:ln w="12700">
              <a:solidFill>
                <a:srgbClr val="00B05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defPPr>
                <a:defRPr lang="en-US"/>
              </a:defPPr>
              <a:lvl1pPr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pPr>
                <a:defRPr/>
              </a:pPr>
              <a:endParaRPr lang="zh-CN" altLang="en-US" b="1" dirty="0">
                <a:solidFill>
                  <a:srgbClr val="000099"/>
                </a:solidFill>
                <a:latin typeface="Times New Roman" panose="02020603050405020304" pitchFamily="18" charset="0"/>
              </a:endParaRPr>
            </a:p>
          </p:txBody>
        </p:sp>
        <p:sp>
          <p:nvSpPr>
            <p:cNvPr id="18" name="Oval 12"/>
            <p:cNvSpPr>
              <a:spLocks noChangeArrowheads="1"/>
            </p:cNvSpPr>
            <p:nvPr/>
          </p:nvSpPr>
          <p:spPr bwMode="auto">
            <a:xfrm rot="18065028">
              <a:off x="2160" y="3115"/>
              <a:ext cx="695" cy="504"/>
            </a:xfrm>
            <a:prstGeom prst="ellipse">
              <a:avLst/>
            </a:prstGeom>
            <a:grpFill/>
            <a:ln w="12700">
              <a:solidFill>
                <a:srgbClr val="00B05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defPPr>
                <a:defRPr lang="en-US"/>
              </a:defPPr>
              <a:lvl1pPr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pPr>
                <a:defRPr/>
              </a:pPr>
              <a:endParaRPr lang="zh-CN" altLang="en-US" b="1" dirty="0">
                <a:solidFill>
                  <a:srgbClr val="000099"/>
                </a:solidFill>
                <a:latin typeface="Times New Roman" panose="02020603050405020304" pitchFamily="18" charset="0"/>
              </a:endParaRPr>
            </a:p>
          </p:txBody>
        </p:sp>
        <p:sp>
          <p:nvSpPr>
            <p:cNvPr id="19" name="Freeform 13"/>
            <p:cNvSpPr/>
            <p:nvPr/>
          </p:nvSpPr>
          <p:spPr bwMode="auto">
            <a:xfrm>
              <a:off x="2358" y="2506"/>
              <a:ext cx="1931" cy="1684"/>
            </a:xfrm>
            <a:custGeom>
              <a:avLst/>
              <a:gdLst>
                <a:gd name="T0" fmla="*/ 579 w 1931"/>
                <a:gd name="T1" fmla="*/ 263 h 1684"/>
                <a:gd name="T2" fmla="*/ 632 w 1931"/>
                <a:gd name="T3" fmla="*/ 168 h 1684"/>
                <a:gd name="T4" fmla="*/ 695 w 1931"/>
                <a:gd name="T5" fmla="*/ 126 h 1684"/>
                <a:gd name="T6" fmla="*/ 916 w 1931"/>
                <a:gd name="T7" fmla="*/ 115 h 1684"/>
                <a:gd name="T8" fmla="*/ 1095 w 1931"/>
                <a:gd name="T9" fmla="*/ 52 h 1684"/>
                <a:gd name="T10" fmla="*/ 1158 w 1931"/>
                <a:gd name="T11" fmla="*/ 21 h 1684"/>
                <a:gd name="T12" fmla="*/ 1221 w 1931"/>
                <a:gd name="T13" fmla="*/ 0 h 1684"/>
                <a:gd name="T14" fmla="*/ 1337 w 1931"/>
                <a:gd name="T15" fmla="*/ 42 h 1684"/>
                <a:gd name="T16" fmla="*/ 1400 w 1931"/>
                <a:gd name="T17" fmla="*/ 84 h 1684"/>
                <a:gd name="T18" fmla="*/ 1432 w 1931"/>
                <a:gd name="T19" fmla="*/ 105 h 1684"/>
                <a:gd name="T20" fmla="*/ 1505 w 1931"/>
                <a:gd name="T21" fmla="*/ 158 h 1684"/>
                <a:gd name="T22" fmla="*/ 1526 w 1931"/>
                <a:gd name="T23" fmla="*/ 189 h 1684"/>
                <a:gd name="T24" fmla="*/ 1558 w 1931"/>
                <a:gd name="T25" fmla="*/ 210 h 1684"/>
                <a:gd name="T26" fmla="*/ 1653 w 1931"/>
                <a:gd name="T27" fmla="*/ 294 h 1684"/>
                <a:gd name="T28" fmla="*/ 1737 w 1931"/>
                <a:gd name="T29" fmla="*/ 368 h 1684"/>
                <a:gd name="T30" fmla="*/ 1800 w 1931"/>
                <a:gd name="T31" fmla="*/ 389 h 1684"/>
                <a:gd name="T32" fmla="*/ 1832 w 1931"/>
                <a:gd name="T33" fmla="*/ 410 h 1684"/>
                <a:gd name="T34" fmla="*/ 1916 w 1931"/>
                <a:gd name="T35" fmla="*/ 589 h 1684"/>
                <a:gd name="T36" fmla="*/ 1842 w 1931"/>
                <a:gd name="T37" fmla="*/ 1084 h 1684"/>
                <a:gd name="T38" fmla="*/ 1769 w 1931"/>
                <a:gd name="T39" fmla="*/ 1168 h 1684"/>
                <a:gd name="T40" fmla="*/ 1653 w 1931"/>
                <a:gd name="T41" fmla="*/ 1284 h 1684"/>
                <a:gd name="T42" fmla="*/ 1590 w 1931"/>
                <a:gd name="T43" fmla="*/ 1347 h 1684"/>
                <a:gd name="T44" fmla="*/ 1558 w 1931"/>
                <a:gd name="T45" fmla="*/ 1368 h 1684"/>
                <a:gd name="T46" fmla="*/ 1474 w 1931"/>
                <a:gd name="T47" fmla="*/ 1431 h 1684"/>
                <a:gd name="T48" fmla="*/ 1411 w 1931"/>
                <a:gd name="T49" fmla="*/ 1453 h 1684"/>
                <a:gd name="T50" fmla="*/ 1253 w 1931"/>
                <a:gd name="T51" fmla="*/ 1579 h 1684"/>
                <a:gd name="T52" fmla="*/ 1190 w 1931"/>
                <a:gd name="T53" fmla="*/ 1621 h 1684"/>
                <a:gd name="T54" fmla="*/ 1000 w 1931"/>
                <a:gd name="T55" fmla="*/ 1684 h 1684"/>
                <a:gd name="T56" fmla="*/ 432 w 1931"/>
                <a:gd name="T57" fmla="*/ 1653 h 1684"/>
                <a:gd name="T58" fmla="*/ 337 w 1931"/>
                <a:gd name="T59" fmla="*/ 1621 h 1684"/>
                <a:gd name="T60" fmla="*/ 242 w 1931"/>
                <a:gd name="T61" fmla="*/ 1558 h 1684"/>
                <a:gd name="T62" fmla="*/ 168 w 1931"/>
                <a:gd name="T63" fmla="*/ 1463 h 1684"/>
                <a:gd name="T64" fmla="*/ 126 w 1931"/>
                <a:gd name="T65" fmla="*/ 1400 h 1684"/>
                <a:gd name="T66" fmla="*/ 105 w 1931"/>
                <a:gd name="T67" fmla="*/ 1368 h 1684"/>
                <a:gd name="T68" fmla="*/ 21 w 1931"/>
                <a:gd name="T69" fmla="*/ 1242 h 1684"/>
                <a:gd name="T70" fmla="*/ 32 w 1931"/>
                <a:gd name="T71" fmla="*/ 1031 h 1684"/>
                <a:gd name="T72" fmla="*/ 42 w 1931"/>
                <a:gd name="T73" fmla="*/ 821 h 1684"/>
                <a:gd name="T74" fmla="*/ 84 w 1931"/>
                <a:gd name="T75" fmla="*/ 631 h 1684"/>
                <a:gd name="T76" fmla="*/ 200 w 1931"/>
                <a:gd name="T77" fmla="*/ 337 h 1684"/>
                <a:gd name="T78" fmla="*/ 242 w 1931"/>
                <a:gd name="T79" fmla="*/ 263 h 1684"/>
                <a:gd name="T80" fmla="*/ 305 w 1931"/>
                <a:gd name="T81" fmla="*/ 252 h 1684"/>
                <a:gd name="T82" fmla="*/ 326 w 1931"/>
                <a:gd name="T83" fmla="*/ 189 h 1684"/>
                <a:gd name="T84" fmla="*/ 400 w 1931"/>
                <a:gd name="T85" fmla="*/ 147 h 1684"/>
                <a:gd name="T86" fmla="*/ 432 w 1931"/>
                <a:gd name="T87" fmla="*/ 168 h 1684"/>
                <a:gd name="T88" fmla="*/ 453 w 1931"/>
                <a:gd name="T89" fmla="*/ 200 h 1684"/>
                <a:gd name="T90" fmla="*/ 537 w 1931"/>
                <a:gd name="T91" fmla="*/ 210 h 1684"/>
                <a:gd name="T92" fmla="*/ 558 w 1931"/>
                <a:gd name="T93" fmla="*/ 242 h 1684"/>
                <a:gd name="T94" fmla="*/ 579 w 1931"/>
                <a:gd name="T95" fmla="*/ 263 h 16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1931" h="1684">
                  <a:moveTo>
                    <a:pt x="579" y="263"/>
                  </a:moveTo>
                  <a:cubicBezTo>
                    <a:pt x="590" y="230"/>
                    <a:pt x="602" y="188"/>
                    <a:pt x="632" y="168"/>
                  </a:cubicBezTo>
                  <a:cubicBezTo>
                    <a:pt x="653" y="154"/>
                    <a:pt x="695" y="126"/>
                    <a:pt x="695" y="126"/>
                  </a:cubicBezTo>
                  <a:cubicBezTo>
                    <a:pt x="755" y="218"/>
                    <a:pt x="842" y="134"/>
                    <a:pt x="916" y="115"/>
                  </a:cubicBezTo>
                  <a:cubicBezTo>
                    <a:pt x="974" y="76"/>
                    <a:pt x="1024" y="61"/>
                    <a:pt x="1095" y="52"/>
                  </a:cubicBezTo>
                  <a:cubicBezTo>
                    <a:pt x="1201" y="18"/>
                    <a:pt x="1043" y="72"/>
                    <a:pt x="1158" y="21"/>
                  </a:cubicBezTo>
                  <a:cubicBezTo>
                    <a:pt x="1178" y="12"/>
                    <a:pt x="1221" y="0"/>
                    <a:pt x="1221" y="0"/>
                  </a:cubicBezTo>
                  <a:cubicBezTo>
                    <a:pt x="1260" y="14"/>
                    <a:pt x="1298" y="28"/>
                    <a:pt x="1337" y="42"/>
                  </a:cubicBezTo>
                  <a:cubicBezTo>
                    <a:pt x="1361" y="51"/>
                    <a:pt x="1379" y="70"/>
                    <a:pt x="1400" y="84"/>
                  </a:cubicBezTo>
                  <a:cubicBezTo>
                    <a:pt x="1411" y="91"/>
                    <a:pt x="1432" y="105"/>
                    <a:pt x="1432" y="105"/>
                  </a:cubicBezTo>
                  <a:cubicBezTo>
                    <a:pt x="1513" y="215"/>
                    <a:pt x="1412" y="96"/>
                    <a:pt x="1505" y="158"/>
                  </a:cubicBezTo>
                  <a:cubicBezTo>
                    <a:pt x="1515" y="165"/>
                    <a:pt x="1517" y="180"/>
                    <a:pt x="1526" y="189"/>
                  </a:cubicBezTo>
                  <a:cubicBezTo>
                    <a:pt x="1535" y="198"/>
                    <a:pt x="1547" y="203"/>
                    <a:pt x="1558" y="210"/>
                  </a:cubicBezTo>
                  <a:cubicBezTo>
                    <a:pt x="1591" y="261"/>
                    <a:pt x="1608" y="260"/>
                    <a:pt x="1653" y="294"/>
                  </a:cubicBezTo>
                  <a:cubicBezTo>
                    <a:pt x="1683" y="316"/>
                    <a:pt x="1706" y="348"/>
                    <a:pt x="1737" y="368"/>
                  </a:cubicBezTo>
                  <a:cubicBezTo>
                    <a:pt x="1756" y="380"/>
                    <a:pt x="1780" y="380"/>
                    <a:pt x="1800" y="389"/>
                  </a:cubicBezTo>
                  <a:cubicBezTo>
                    <a:pt x="1812" y="394"/>
                    <a:pt x="1821" y="403"/>
                    <a:pt x="1832" y="410"/>
                  </a:cubicBezTo>
                  <a:cubicBezTo>
                    <a:pt x="1848" y="477"/>
                    <a:pt x="1878" y="532"/>
                    <a:pt x="1916" y="589"/>
                  </a:cubicBezTo>
                  <a:cubicBezTo>
                    <a:pt x="1930" y="740"/>
                    <a:pt x="1931" y="949"/>
                    <a:pt x="1842" y="1084"/>
                  </a:cubicBezTo>
                  <a:cubicBezTo>
                    <a:pt x="1828" y="1130"/>
                    <a:pt x="1803" y="1134"/>
                    <a:pt x="1769" y="1168"/>
                  </a:cubicBezTo>
                  <a:cubicBezTo>
                    <a:pt x="1742" y="1246"/>
                    <a:pt x="1702" y="1245"/>
                    <a:pt x="1653" y="1284"/>
                  </a:cubicBezTo>
                  <a:cubicBezTo>
                    <a:pt x="1630" y="1303"/>
                    <a:pt x="1615" y="1331"/>
                    <a:pt x="1590" y="1347"/>
                  </a:cubicBezTo>
                  <a:cubicBezTo>
                    <a:pt x="1579" y="1354"/>
                    <a:pt x="1568" y="1361"/>
                    <a:pt x="1558" y="1368"/>
                  </a:cubicBezTo>
                  <a:cubicBezTo>
                    <a:pt x="1530" y="1389"/>
                    <a:pt x="1502" y="1410"/>
                    <a:pt x="1474" y="1431"/>
                  </a:cubicBezTo>
                  <a:cubicBezTo>
                    <a:pt x="1456" y="1444"/>
                    <a:pt x="1411" y="1453"/>
                    <a:pt x="1411" y="1453"/>
                  </a:cubicBezTo>
                  <a:cubicBezTo>
                    <a:pt x="1358" y="1505"/>
                    <a:pt x="1314" y="1538"/>
                    <a:pt x="1253" y="1579"/>
                  </a:cubicBezTo>
                  <a:cubicBezTo>
                    <a:pt x="1232" y="1593"/>
                    <a:pt x="1214" y="1613"/>
                    <a:pt x="1190" y="1621"/>
                  </a:cubicBezTo>
                  <a:cubicBezTo>
                    <a:pt x="1127" y="1642"/>
                    <a:pt x="1064" y="1664"/>
                    <a:pt x="1000" y="1684"/>
                  </a:cubicBezTo>
                  <a:cubicBezTo>
                    <a:pt x="808" y="1622"/>
                    <a:pt x="697" y="1658"/>
                    <a:pt x="432" y="1653"/>
                  </a:cubicBezTo>
                  <a:cubicBezTo>
                    <a:pt x="358" y="1629"/>
                    <a:pt x="389" y="1640"/>
                    <a:pt x="337" y="1621"/>
                  </a:cubicBezTo>
                  <a:cubicBezTo>
                    <a:pt x="296" y="1580"/>
                    <a:pt x="282" y="1591"/>
                    <a:pt x="242" y="1558"/>
                  </a:cubicBezTo>
                  <a:cubicBezTo>
                    <a:pt x="209" y="1530"/>
                    <a:pt x="193" y="1500"/>
                    <a:pt x="168" y="1463"/>
                  </a:cubicBezTo>
                  <a:cubicBezTo>
                    <a:pt x="154" y="1442"/>
                    <a:pt x="140" y="1421"/>
                    <a:pt x="126" y="1400"/>
                  </a:cubicBezTo>
                  <a:cubicBezTo>
                    <a:pt x="119" y="1389"/>
                    <a:pt x="105" y="1368"/>
                    <a:pt x="105" y="1368"/>
                  </a:cubicBezTo>
                  <a:cubicBezTo>
                    <a:pt x="88" y="1315"/>
                    <a:pt x="51" y="1287"/>
                    <a:pt x="21" y="1242"/>
                  </a:cubicBezTo>
                  <a:cubicBezTo>
                    <a:pt x="0" y="1175"/>
                    <a:pt x="23" y="1099"/>
                    <a:pt x="32" y="1031"/>
                  </a:cubicBezTo>
                  <a:cubicBezTo>
                    <a:pt x="35" y="961"/>
                    <a:pt x="36" y="891"/>
                    <a:pt x="42" y="821"/>
                  </a:cubicBezTo>
                  <a:cubicBezTo>
                    <a:pt x="47" y="760"/>
                    <a:pt x="75" y="693"/>
                    <a:pt x="84" y="631"/>
                  </a:cubicBezTo>
                  <a:cubicBezTo>
                    <a:pt x="99" y="528"/>
                    <a:pt x="112" y="402"/>
                    <a:pt x="200" y="337"/>
                  </a:cubicBezTo>
                  <a:cubicBezTo>
                    <a:pt x="214" y="312"/>
                    <a:pt x="220" y="281"/>
                    <a:pt x="242" y="263"/>
                  </a:cubicBezTo>
                  <a:cubicBezTo>
                    <a:pt x="259" y="250"/>
                    <a:pt x="289" y="266"/>
                    <a:pt x="305" y="252"/>
                  </a:cubicBezTo>
                  <a:cubicBezTo>
                    <a:pt x="322" y="237"/>
                    <a:pt x="313" y="207"/>
                    <a:pt x="326" y="189"/>
                  </a:cubicBezTo>
                  <a:cubicBezTo>
                    <a:pt x="343" y="166"/>
                    <a:pt x="376" y="163"/>
                    <a:pt x="400" y="147"/>
                  </a:cubicBezTo>
                  <a:cubicBezTo>
                    <a:pt x="411" y="154"/>
                    <a:pt x="423" y="159"/>
                    <a:pt x="432" y="168"/>
                  </a:cubicBezTo>
                  <a:cubicBezTo>
                    <a:pt x="441" y="177"/>
                    <a:pt x="441" y="195"/>
                    <a:pt x="453" y="200"/>
                  </a:cubicBezTo>
                  <a:cubicBezTo>
                    <a:pt x="479" y="210"/>
                    <a:pt x="509" y="207"/>
                    <a:pt x="537" y="210"/>
                  </a:cubicBezTo>
                  <a:cubicBezTo>
                    <a:pt x="544" y="221"/>
                    <a:pt x="550" y="232"/>
                    <a:pt x="558" y="242"/>
                  </a:cubicBezTo>
                  <a:cubicBezTo>
                    <a:pt x="566" y="251"/>
                    <a:pt x="610" y="291"/>
                    <a:pt x="579" y="263"/>
                  </a:cubicBezTo>
                  <a:close/>
                </a:path>
              </a:pathLst>
            </a:custGeom>
            <a:grpFill/>
            <a:ln>
              <a:noFill/>
            </a:ln>
            <a:effectLst/>
            <a:extLst>
              <a:ext uri="{91240B29-F687-4F45-9708-019B960494DF}">
                <a14:hiddenLine xmlns:a14="http://schemas.microsoft.com/office/drawing/2010/main" w="9525">
                  <a:solidFill>
                    <a:schemeClr val="tx1"/>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defPPr>
                <a:defRPr lang="en-US"/>
              </a:defPPr>
              <a:lvl1pPr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a:lstStyle>
            <a:p>
              <a:pPr>
                <a:defRPr/>
              </a:pPr>
              <a:endParaRPr lang="zh-CN" altLang="en-US" b="1" dirty="0">
                <a:solidFill>
                  <a:srgbClr val="000099"/>
                </a:solidFill>
                <a:latin typeface="Times New Roman" panose="02020603050405020304" pitchFamily="18" charset="0"/>
              </a:endParaRPr>
            </a:p>
          </p:txBody>
        </p:sp>
      </p:grpSp>
      <p:sp>
        <p:nvSpPr>
          <p:cNvPr id="76812" name="Line 14"/>
          <p:cNvSpPr>
            <a:spLocks noChangeShapeType="1"/>
          </p:cNvSpPr>
          <p:nvPr/>
        </p:nvSpPr>
        <p:spPr bwMode="auto">
          <a:xfrm flipV="1">
            <a:off x="3795713" y="1770063"/>
            <a:ext cx="828675" cy="331787"/>
          </a:xfrm>
          <a:prstGeom prst="line">
            <a:avLst/>
          </a:prstGeom>
          <a:noFill/>
          <a:ln w="28575">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76813" name="Line 15"/>
          <p:cNvSpPr>
            <a:spLocks noChangeShapeType="1"/>
          </p:cNvSpPr>
          <p:nvPr/>
        </p:nvSpPr>
        <p:spPr bwMode="auto">
          <a:xfrm>
            <a:off x="4727575" y="1814513"/>
            <a:ext cx="490538" cy="836612"/>
          </a:xfrm>
          <a:prstGeom prst="line">
            <a:avLst/>
          </a:prstGeom>
          <a:noFill/>
          <a:ln w="28575">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76814" name="Line 16"/>
          <p:cNvSpPr>
            <a:spLocks noChangeShapeType="1"/>
          </p:cNvSpPr>
          <p:nvPr/>
        </p:nvSpPr>
        <p:spPr bwMode="auto">
          <a:xfrm flipH="1">
            <a:off x="3305175" y="2157413"/>
            <a:ext cx="431800" cy="750887"/>
          </a:xfrm>
          <a:prstGeom prst="line">
            <a:avLst/>
          </a:prstGeom>
          <a:noFill/>
          <a:ln w="28575">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76815" name="Line 17"/>
          <p:cNvSpPr>
            <a:spLocks noChangeShapeType="1"/>
          </p:cNvSpPr>
          <p:nvPr/>
        </p:nvSpPr>
        <p:spPr bwMode="auto">
          <a:xfrm>
            <a:off x="3332163" y="3014663"/>
            <a:ext cx="985837" cy="528637"/>
          </a:xfrm>
          <a:prstGeom prst="line">
            <a:avLst/>
          </a:prstGeom>
          <a:noFill/>
          <a:ln w="28575">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76816" name="Line 18"/>
          <p:cNvSpPr>
            <a:spLocks noChangeShapeType="1"/>
          </p:cNvSpPr>
          <p:nvPr/>
        </p:nvSpPr>
        <p:spPr bwMode="auto">
          <a:xfrm flipV="1">
            <a:off x="4359275" y="2816225"/>
            <a:ext cx="858838" cy="781050"/>
          </a:xfrm>
          <a:prstGeom prst="line">
            <a:avLst/>
          </a:prstGeom>
          <a:noFill/>
          <a:ln w="28575">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76817" name="Line 19"/>
          <p:cNvSpPr>
            <a:spLocks noChangeShapeType="1"/>
          </p:cNvSpPr>
          <p:nvPr/>
        </p:nvSpPr>
        <p:spPr bwMode="auto">
          <a:xfrm>
            <a:off x="3829050" y="2162175"/>
            <a:ext cx="1376363" cy="565150"/>
          </a:xfrm>
          <a:prstGeom prst="line">
            <a:avLst/>
          </a:prstGeom>
          <a:noFill/>
          <a:ln w="28575">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76818" name="Line 20"/>
          <p:cNvSpPr>
            <a:spLocks noChangeShapeType="1"/>
          </p:cNvSpPr>
          <p:nvPr/>
        </p:nvSpPr>
        <p:spPr bwMode="auto">
          <a:xfrm>
            <a:off x="3763963" y="2063750"/>
            <a:ext cx="647700" cy="1477963"/>
          </a:xfrm>
          <a:prstGeom prst="line">
            <a:avLst/>
          </a:prstGeom>
          <a:noFill/>
          <a:ln w="28575">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76819" name="Line 21"/>
          <p:cNvSpPr>
            <a:spLocks noChangeShapeType="1"/>
          </p:cNvSpPr>
          <p:nvPr/>
        </p:nvSpPr>
        <p:spPr bwMode="auto">
          <a:xfrm flipH="1" flipV="1">
            <a:off x="4387850" y="3584575"/>
            <a:ext cx="441325" cy="406400"/>
          </a:xfrm>
          <a:prstGeom prst="line">
            <a:avLst/>
          </a:prstGeom>
          <a:noFill/>
          <a:ln w="19050">
            <a:solidFill>
              <a:srgbClr val="368AD6"/>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76820" name="Line 22"/>
          <p:cNvSpPr>
            <a:spLocks noChangeShapeType="1"/>
          </p:cNvSpPr>
          <p:nvPr/>
        </p:nvSpPr>
        <p:spPr bwMode="auto">
          <a:xfrm rot="-5400000">
            <a:off x="4903788" y="1228725"/>
            <a:ext cx="349250" cy="698500"/>
          </a:xfrm>
          <a:prstGeom prst="line">
            <a:avLst/>
          </a:prstGeom>
          <a:noFill/>
          <a:ln w="19050">
            <a:solidFill>
              <a:srgbClr val="368AD6"/>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76821" name="Line 23"/>
          <p:cNvSpPr>
            <a:spLocks noChangeShapeType="1"/>
          </p:cNvSpPr>
          <p:nvPr/>
        </p:nvSpPr>
        <p:spPr bwMode="auto">
          <a:xfrm>
            <a:off x="5276850" y="2816225"/>
            <a:ext cx="730250" cy="755650"/>
          </a:xfrm>
          <a:prstGeom prst="line">
            <a:avLst/>
          </a:prstGeom>
          <a:noFill/>
          <a:ln w="19050">
            <a:solidFill>
              <a:srgbClr val="368AD6"/>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76822" name="Line 24"/>
          <p:cNvSpPr>
            <a:spLocks noChangeShapeType="1"/>
          </p:cNvSpPr>
          <p:nvPr/>
        </p:nvSpPr>
        <p:spPr bwMode="auto">
          <a:xfrm>
            <a:off x="2571750" y="2476500"/>
            <a:ext cx="652463" cy="449263"/>
          </a:xfrm>
          <a:prstGeom prst="line">
            <a:avLst/>
          </a:prstGeom>
          <a:noFill/>
          <a:ln w="19050">
            <a:solidFill>
              <a:srgbClr val="368AD6"/>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76823" name="Line 25"/>
          <p:cNvSpPr>
            <a:spLocks noChangeShapeType="1"/>
          </p:cNvSpPr>
          <p:nvPr/>
        </p:nvSpPr>
        <p:spPr bwMode="auto">
          <a:xfrm rot="5400000" flipH="1">
            <a:off x="3247231" y="1581944"/>
            <a:ext cx="528638" cy="450850"/>
          </a:xfrm>
          <a:prstGeom prst="line">
            <a:avLst/>
          </a:prstGeom>
          <a:noFill/>
          <a:ln w="19050">
            <a:solidFill>
              <a:srgbClr val="368AD6"/>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76824" name="Oval 31"/>
          <p:cNvSpPr>
            <a:spLocks noChangeArrowheads="1"/>
          </p:cNvSpPr>
          <p:nvPr/>
        </p:nvSpPr>
        <p:spPr bwMode="auto">
          <a:xfrm>
            <a:off x="3144838" y="2816225"/>
            <a:ext cx="295275" cy="274638"/>
          </a:xfrm>
          <a:prstGeom prst="ellipse">
            <a:avLst/>
          </a:prstGeom>
          <a:solidFill>
            <a:srgbClr val="339933"/>
          </a:solidFill>
          <a:ln>
            <a:noFill/>
          </a:ln>
          <a:effectLst/>
          <a:extLst>
            <a:ext uri="{91240B29-F687-4F45-9708-019B960494DF}">
              <a14:hiddenLine xmlns:a14="http://schemas.microsoft.com/office/drawing/2010/main" w="19050">
                <a:solidFill>
                  <a:srgbClr val="000000"/>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0" hangingPunct="0"/>
            <a:r>
              <a:rPr lang="en-US" altLang="zh-CN" b="1" dirty="0">
                <a:solidFill>
                  <a:schemeClr val="bg1"/>
                </a:solidFill>
                <a:latin typeface="Times New Roman" panose="02020603050405020304" pitchFamily="18" charset="0"/>
                <a:ea typeface="微软雅黑 Light" panose="020B0502040204020203" pitchFamily="34" charset="-122"/>
              </a:rPr>
              <a:t>A</a:t>
            </a:r>
          </a:p>
        </p:txBody>
      </p:sp>
      <p:sp>
        <p:nvSpPr>
          <p:cNvPr id="76825" name="Line 39"/>
          <p:cNvSpPr>
            <a:spLocks noChangeShapeType="1"/>
          </p:cNvSpPr>
          <p:nvPr/>
        </p:nvSpPr>
        <p:spPr bwMode="auto">
          <a:xfrm flipV="1">
            <a:off x="5276850" y="2422525"/>
            <a:ext cx="1141413" cy="284163"/>
          </a:xfrm>
          <a:prstGeom prst="line">
            <a:avLst/>
          </a:prstGeom>
          <a:noFill/>
          <a:ln w="19050">
            <a:solidFill>
              <a:srgbClr val="368AD6"/>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76826" name="Oval 80"/>
          <p:cNvSpPr>
            <a:spLocks noChangeArrowheads="1"/>
          </p:cNvSpPr>
          <p:nvPr/>
        </p:nvSpPr>
        <p:spPr bwMode="auto">
          <a:xfrm>
            <a:off x="3613150" y="1998663"/>
            <a:ext cx="296863" cy="274637"/>
          </a:xfrm>
          <a:prstGeom prst="ellipse">
            <a:avLst/>
          </a:prstGeom>
          <a:solidFill>
            <a:srgbClr val="339933"/>
          </a:solidFill>
          <a:ln>
            <a:noFill/>
          </a:ln>
          <a:effectLst/>
          <a:extLst>
            <a:ext uri="{91240B29-F687-4F45-9708-019B960494DF}">
              <a14:hiddenLine xmlns:a14="http://schemas.microsoft.com/office/drawing/2010/main" w="19050">
                <a:solidFill>
                  <a:srgbClr val="000000"/>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0" hangingPunct="0"/>
            <a:r>
              <a:rPr lang="en-US" altLang="zh-CN" b="1" dirty="0">
                <a:solidFill>
                  <a:schemeClr val="bg1"/>
                </a:solidFill>
                <a:latin typeface="Times New Roman" panose="02020603050405020304" pitchFamily="18" charset="0"/>
                <a:ea typeface="微软雅黑 Light" panose="020B0502040204020203" pitchFamily="34" charset="-122"/>
              </a:rPr>
              <a:t>B</a:t>
            </a:r>
          </a:p>
        </p:txBody>
      </p:sp>
      <p:sp>
        <p:nvSpPr>
          <p:cNvPr id="76827" name="Oval 81"/>
          <p:cNvSpPr>
            <a:spLocks noChangeArrowheads="1"/>
          </p:cNvSpPr>
          <p:nvPr/>
        </p:nvSpPr>
        <p:spPr bwMode="auto">
          <a:xfrm>
            <a:off x="4533900" y="1633538"/>
            <a:ext cx="295275" cy="274637"/>
          </a:xfrm>
          <a:prstGeom prst="ellipse">
            <a:avLst/>
          </a:prstGeom>
          <a:solidFill>
            <a:srgbClr val="339933"/>
          </a:solidFill>
          <a:ln>
            <a:noFill/>
          </a:ln>
          <a:effectLst/>
          <a:extLst>
            <a:ext uri="{91240B29-F687-4F45-9708-019B960494DF}">
              <a14:hiddenLine xmlns:a14="http://schemas.microsoft.com/office/drawing/2010/main" w="19050">
                <a:solidFill>
                  <a:srgbClr val="000000"/>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0" hangingPunct="0"/>
            <a:r>
              <a:rPr lang="en-US" altLang="zh-CN" b="1" dirty="0">
                <a:solidFill>
                  <a:schemeClr val="bg1"/>
                </a:solidFill>
                <a:latin typeface="Times New Roman" panose="02020603050405020304" pitchFamily="18" charset="0"/>
                <a:ea typeface="微软雅黑 Light" panose="020B0502040204020203" pitchFamily="34" charset="-122"/>
              </a:rPr>
              <a:t>D</a:t>
            </a:r>
          </a:p>
        </p:txBody>
      </p:sp>
      <p:sp>
        <p:nvSpPr>
          <p:cNvPr id="76828" name="Oval 82"/>
          <p:cNvSpPr>
            <a:spLocks noChangeArrowheads="1"/>
          </p:cNvSpPr>
          <p:nvPr/>
        </p:nvSpPr>
        <p:spPr bwMode="auto">
          <a:xfrm>
            <a:off x="5086350" y="2608263"/>
            <a:ext cx="296863" cy="273050"/>
          </a:xfrm>
          <a:prstGeom prst="ellipse">
            <a:avLst/>
          </a:prstGeom>
          <a:solidFill>
            <a:srgbClr val="339933"/>
          </a:solidFill>
          <a:ln>
            <a:noFill/>
          </a:ln>
          <a:effectLst/>
          <a:extLst>
            <a:ext uri="{91240B29-F687-4F45-9708-019B960494DF}">
              <a14:hiddenLine xmlns:a14="http://schemas.microsoft.com/office/drawing/2010/main" w="19050">
                <a:solidFill>
                  <a:srgbClr val="000000"/>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0" hangingPunct="0"/>
            <a:r>
              <a:rPr lang="en-US" altLang="zh-CN" b="1" dirty="0">
                <a:solidFill>
                  <a:schemeClr val="bg1"/>
                </a:solidFill>
                <a:latin typeface="Times New Roman" panose="02020603050405020304" pitchFamily="18" charset="0"/>
                <a:ea typeface="微软雅黑 Light" panose="020B0502040204020203" pitchFamily="34" charset="-122"/>
              </a:rPr>
              <a:t>E</a:t>
            </a:r>
          </a:p>
        </p:txBody>
      </p:sp>
      <p:sp>
        <p:nvSpPr>
          <p:cNvPr id="76829" name="Oval 83"/>
          <p:cNvSpPr>
            <a:spLocks noChangeArrowheads="1"/>
          </p:cNvSpPr>
          <p:nvPr/>
        </p:nvSpPr>
        <p:spPr bwMode="auto">
          <a:xfrm>
            <a:off x="4240213" y="3395663"/>
            <a:ext cx="295275" cy="274637"/>
          </a:xfrm>
          <a:prstGeom prst="ellipse">
            <a:avLst/>
          </a:prstGeom>
          <a:solidFill>
            <a:srgbClr val="339933"/>
          </a:solidFill>
          <a:ln>
            <a:noFill/>
          </a:ln>
          <a:effectLst/>
          <a:extLst>
            <a:ext uri="{91240B29-F687-4F45-9708-019B960494DF}">
              <a14:hiddenLine xmlns:a14="http://schemas.microsoft.com/office/drawing/2010/main" w="19050">
                <a:solidFill>
                  <a:srgbClr val="000000"/>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0" hangingPunct="0"/>
            <a:r>
              <a:rPr lang="en-US" altLang="zh-CN" b="1" dirty="0">
                <a:solidFill>
                  <a:schemeClr val="bg1"/>
                </a:solidFill>
                <a:latin typeface="Times New Roman" panose="02020603050405020304" pitchFamily="18" charset="0"/>
                <a:ea typeface="微软雅黑 Light" panose="020B0502040204020203" pitchFamily="34" charset="-122"/>
              </a:rPr>
              <a:t>C</a:t>
            </a:r>
          </a:p>
        </p:txBody>
      </p:sp>
      <p:sp>
        <p:nvSpPr>
          <p:cNvPr id="76830" name="Line 106"/>
          <p:cNvSpPr>
            <a:spLocks noChangeShapeType="1"/>
          </p:cNvSpPr>
          <p:nvPr/>
        </p:nvSpPr>
        <p:spPr bwMode="auto">
          <a:xfrm flipH="1">
            <a:off x="3798888" y="1597025"/>
            <a:ext cx="133350" cy="382588"/>
          </a:xfrm>
          <a:prstGeom prst="line">
            <a:avLst/>
          </a:prstGeom>
          <a:noFill/>
          <a:ln w="28575">
            <a:solidFill>
              <a:srgbClr val="368AD6"/>
            </a:solidFill>
            <a:rou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76831" name="Line 107"/>
          <p:cNvSpPr>
            <a:spLocks noChangeShapeType="1"/>
          </p:cNvSpPr>
          <p:nvPr/>
        </p:nvSpPr>
        <p:spPr bwMode="auto">
          <a:xfrm>
            <a:off x="1765300" y="2476500"/>
            <a:ext cx="452438" cy="14288"/>
          </a:xfrm>
          <a:prstGeom prst="line">
            <a:avLst/>
          </a:prstGeom>
          <a:noFill/>
          <a:ln w="28575">
            <a:solidFill>
              <a:srgbClr val="368AD6"/>
            </a:solidFill>
            <a:rou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76832" name="Text Box 45"/>
          <p:cNvSpPr txBox="1">
            <a:spLocks noChangeArrowheads="1"/>
          </p:cNvSpPr>
          <p:nvPr/>
        </p:nvSpPr>
        <p:spPr bwMode="auto">
          <a:xfrm>
            <a:off x="3570288" y="1298575"/>
            <a:ext cx="723900"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zh-CN" altLang="en-US" sz="1400" b="1">
                <a:solidFill>
                  <a:srgbClr val="0000FF"/>
                </a:solidFill>
                <a:latin typeface="微软雅黑" panose="020B0503020204020204" pitchFamily="34" charset="-122"/>
                <a:ea typeface="微软雅黑" panose="020B0503020204020204" pitchFamily="34" charset="-122"/>
              </a:rPr>
              <a:t>路由器</a:t>
            </a:r>
          </a:p>
        </p:txBody>
      </p:sp>
      <p:pic>
        <p:nvPicPr>
          <p:cNvPr id="76833" name="Picture 246" descr="jisuanj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18125" y="1298575"/>
            <a:ext cx="403225" cy="403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76834"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262188" y="2303463"/>
            <a:ext cx="401637" cy="403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76835" name="Picture 246" descr="jisuanj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95975" y="3444875"/>
            <a:ext cx="403225" cy="403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76836" name="Picture 246" descr="jisuanj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679950" y="3857625"/>
            <a:ext cx="403225" cy="403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6837" name="Text Box 27"/>
          <p:cNvSpPr txBox="1">
            <a:spLocks noChangeArrowheads="1"/>
          </p:cNvSpPr>
          <p:nvPr/>
        </p:nvSpPr>
        <p:spPr bwMode="auto">
          <a:xfrm>
            <a:off x="2611438" y="1398588"/>
            <a:ext cx="406400"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400" b="1">
                <a:latin typeface="微软雅黑" panose="020B0503020204020204" pitchFamily="34" charset="-122"/>
                <a:ea typeface="微软雅黑" panose="020B0503020204020204" pitchFamily="34" charset="-122"/>
              </a:rPr>
              <a:t>H</a:t>
            </a:r>
            <a:r>
              <a:rPr kumimoji="1" lang="en-US" altLang="zh-CN" sz="1400" b="1" baseline="-25000">
                <a:latin typeface="微软雅黑" panose="020B0503020204020204" pitchFamily="34" charset="-122"/>
                <a:ea typeface="微软雅黑" panose="020B0503020204020204" pitchFamily="34" charset="-122"/>
              </a:rPr>
              <a:t>2</a:t>
            </a:r>
          </a:p>
        </p:txBody>
      </p:sp>
      <p:sp>
        <p:nvSpPr>
          <p:cNvPr id="76838" name="Text Box 27"/>
          <p:cNvSpPr txBox="1">
            <a:spLocks noChangeArrowheads="1"/>
          </p:cNvSpPr>
          <p:nvPr/>
        </p:nvSpPr>
        <p:spPr bwMode="auto">
          <a:xfrm>
            <a:off x="5630863" y="1292225"/>
            <a:ext cx="406400" cy="306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400" b="1">
                <a:latin typeface="微软雅黑" panose="020B0503020204020204" pitchFamily="34" charset="-122"/>
                <a:ea typeface="微软雅黑" panose="020B0503020204020204" pitchFamily="34" charset="-122"/>
              </a:rPr>
              <a:t>H</a:t>
            </a:r>
            <a:r>
              <a:rPr kumimoji="1" lang="en-US" altLang="zh-CN" sz="1400" b="1" baseline="-25000">
                <a:latin typeface="微软雅黑" panose="020B0503020204020204" pitchFamily="34" charset="-122"/>
                <a:ea typeface="微软雅黑" panose="020B0503020204020204" pitchFamily="34" charset="-122"/>
              </a:rPr>
              <a:t>4</a:t>
            </a:r>
          </a:p>
        </p:txBody>
      </p:sp>
      <p:sp>
        <p:nvSpPr>
          <p:cNvPr id="76839" name="Text Box 27"/>
          <p:cNvSpPr txBox="1">
            <a:spLocks noChangeArrowheads="1"/>
          </p:cNvSpPr>
          <p:nvPr/>
        </p:nvSpPr>
        <p:spPr bwMode="auto">
          <a:xfrm>
            <a:off x="6546850" y="2333625"/>
            <a:ext cx="406400"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400" b="1">
                <a:latin typeface="微软雅黑" panose="020B0503020204020204" pitchFamily="34" charset="-122"/>
                <a:ea typeface="微软雅黑" panose="020B0503020204020204" pitchFamily="34" charset="-122"/>
              </a:rPr>
              <a:t>H</a:t>
            </a:r>
            <a:r>
              <a:rPr kumimoji="1" lang="en-US" altLang="zh-CN" sz="1400" b="1" baseline="-25000">
                <a:latin typeface="微软雅黑" panose="020B0503020204020204" pitchFamily="34" charset="-122"/>
                <a:ea typeface="微软雅黑" panose="020B0503020204020204" pitchFamily="34" charset="-122"/>
              </a:rPr>
              <a:t>6</a:t>
            </a:r>
          </a:p>
        </p:txBody>
      </p:sp>
      <p:sp>
        <p:nvSpPr>
          <p:cNvPr id="76840" name="Text Box 27"/>
          <p:cNvSpPr txBox="1">
            <a:spLocks noChangeArrowheads="1"/>
          </p:cNvSpPr>
          <p:nvPr/>
        </p:nvSpPr>
        <p:spPr bwMode="auto">
          <a:xfrm>
            <a:off x="6237288" y="3502025"/>
            <a:ext cx="406400"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400" b="1">
                <a:latin typeface="微软雅黑" panose="020B0503020204020204" pitchFamily="34" charset="-122"/>
                <a:ea typeface="微软雅黑" panose="020B0503020204020204" pitchFamily="34" charset="-122"/>
              </a:rPr>
              <a:t>H</a:t>
            </a:r>
            <a:r>
              <a:rPr kumimoji="1" lang="en-US" altLang="zh-CN" sz="1400" b="1" baseline="-25000">
                <a:latin typeface="微软雅黑" panose="020B0503020204020204" pitchFamily="34" charset="-122"/>
                <a:ea typeface="微软雅黑" panose="020B0503020204020204" pitchFamily="34" charset="-122"/>
              </a:rPr>
              <a:t>5</a:t>
            </a:r>
          </a:p>
        </p:txBody>
      </p:sp>
      <p:sp>
        <p:nvSpPr>
          <p:cNvPr id="76841" name="Text Box 27"/>
          <p:cNvSpPr txBox="1">
            <a:spLocks noChangeArrowheads="1"/>
          </p:cNvSpPr>
          <p:nvPr/>
        </p:nvSpPr>
        <p:spPr bwMode="auto">
          <a:xfrm>
            <a:off x="5021263" y="3879850"/>
            <a:ext cx="406400"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400" b="1">
                <a:latin typeface="微软雅黑" panose="020B0503020204020204" pitchFamily="34" charset="-122"/>
                <a:ea typeface="微软雅黑" panose="020B0503020204020204" pitchFamily="34" charset="-122"/>
              </a:rPr>
              <a:t>H</a:t>
            </a:r>
            <a:r>
              <a:rPr kumimoji="1" lang="en-US" altLang="zh-CN" sz="1400" b="1" baseline="-25000">
                <a:latin typeface="微软雅黑" panose="020B0503020204020204" pitchFamily="34" charset="-122"/>
                <a:ea typeface="微软雅黑" panose="020B0503020204020204" pitchFamily="34" charset="-122"/>
              </a:rPr>
              <a:t>3</a:t>
            </a:r>
          </a:p>
        </p:txBody>
      </p:sp>
      <p:sp>
        <p:nvSpPr>
          <p:cNvPr id="76842" name="Text Box 27"/>
          <p:cNvSpPr txBox="1">
            <a:spLocks noChangeArrowheads="1"/>
          </p:cNvSpPr>
          <p:nvPr/>
        </p:nvSpPr>
        <p:spPr bwMode="auto">
          <a:xfrm>
            <a:off x="2259013" y="2049463"/>
            <a:ext cx="404812"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en-US" altLang="zh-CN" sz="1400" b="1">
                <a:latin typeface="微软雅黑" panose="020B0503020204020204" pitchFamily="34" charset="-122"/>
                <a:ea typeface="微软雅黑" panose="020B0503020204020204" pitchFamily="34" charset="-122"/>
              </a:rPr>
              <a:t>H</a:t>
            </a:r>
            <a:r>
              <a:rPr kumimoji="1" lang="en-US" altLang="zh-CN" sz="1400" b="1" baseline="-25000">
                <a:latin typeface="微软雅黑" panose="020B0503020204020204" pitchFamily="34" charset="-122"/>
                <a:ea typeface="微软雅黑" panose="020B0503020204020204" pitchFamily="34" charset="-122"/>
              </a:rPr>
              <a:t>1</a:t>
            </a:r>
          </a:p>
        </p:txBody>
      </p:sp>
      <p:sp>
        <p:nvSpPr>
          <p:cNvPr id="76843" name="Text Box 204"/>
          <p:cNvSpPr txBox="1">
            <a:spLocks noChangeArrowheads="1"/>
          </p:cNvSpPr>
          <p:nvPr/>
        </p:nvSpPr>
        <p:spPr bwMode="auto">
          <a:xfrm>
            <a:off x="4130675" y="2644775"/>
            <a:ext cx="723900"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zh-CN" altLang="en-US" sz="1400" b="1">
                <a:solidFill>
                  <a:srgbClr val="0000FF"/>
                </a:solidFill>
                <a:latin typeface="微软雅黑" panose="020B0503020204020204" pitchFamily="34" charset="-122"/>
                <a:ea typeface="微软雅黑" panose="020B0503020204020204" pitchFamily="34" charset="-122"/>
              </a:rPr>
              <a:t>互联网</a:t>
            </a:r>
          </a:p>
        </p:txBody>
      </p:sp>
      <p:sp>
        <p:nvSpPr>
          <p:cNvPr id="76844" name="Text Box 45"/>
          <p:cNvSpPr txBox="1">
            <a:spLocks noChangeArrowheads="1"/>
          </p:cNvSpPr>
          <p:nvPr/>
        </p:nvSpPr>
        <p:spPr bwMode="auto">
          <a:xfrm>
            <a:off x="1257300" y="2314575"/>
            <a:ext cx="544513"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zh-CN" altLang="en-US" sz="1400" b="1" dirty="0">
                <a:solidFill>
                  <a:srgbClr val="0000FF"/>
                </a:solidFill>
                <a:latin typeface="微软雅黑" panose="020B0503020204020204" pitchFamily="34" charset="-122"/>
                <a:ea typeface="微软雅黑" panose="020B0503020204020204" pitchFamily="34" charset="-122"/>
              </a:rPr>
              <a:t>主机</a:t>
            </a:r>
          </a:p>
        </p:txBody>
      </p:sp>
      <p:pic>
        <p:nvPicPr>
          <p:cNvPr id="76845"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216650" y="2286000"/>
            <a:ext cx="403225" cy="401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0" name="Rectangle 96"/>
          <p:cNvSpPr>
            <a:spLocks noChangeArrowheads="1"/>
          </p:cNvSpPr>
          <p:nvPr/>
        </p:nvSpPr>
        <p:spPr bwMode="auto">
          <a:xfrm>
            <a:off x="3046413" y="1431925"/>
            <a:ext cx="184150" cy="169863"/>
          </a:xfrm>
          <a:prstGeom prst="rect">
            <a:avLst/>
          </a:prstGeom>
          <a:solidFill>
            <a:srgbClr val="00FF00"/>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eaLnBrk="0" hangingPunct="0"/>
            <a:endParaRPr lang="zh-CN" altLang="en-US" b="1" dirty="0">
              <a:solidFill>
                <a:srgbClr val="00CC00"/>
              </a:solidFill>
              <a:latin typeface="Times New Roman" panose="02020603050405020304" pitchFamily="18" charset="0"/>
              <a:ea typeface="微软雅黑 Light" panose="020B0502040204020203" pitchFamily="34" charset="-122"/>
            </a:endParaRPr>
          </a:p>
        </p:txBody>
      </p:sp>
      <p:sp>
        <p:nvSpPr>
          <p:cNvPr id="54" name="Rectangle 96"/>
          <p:cNvSpPr>
            <a:spLocks noChangeArrowheads="1"/>
          </p:cNvSpPr>
          <p:nvPr/>
        </p:nvSpPr>
        <p:spPr bwMode="auto">
          <a:xfrm>
            <a:off x="2368550" y="2373313"/>
            <a:ext cx="184150" cy="171450"/>
          </a:xfrm>
          <a:prstGeom prst="rect">
            <a:avLst/>
          </a:prstGeom>
          <a:solidFill>
            <a:srgbClr val="FF0000"/>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eaLnBrk="0" hangingPunct="0"/>
            <a:endParaRPr lang="zh-CN" altLang="en-US" b="1" dirty="0">
              <a:solidFill>
                <a:srgbClr val="00CC00"/>
              </a:solidFill>
              <a:latin typeface="Times New Roman" panose="02020603050405020304" pitchFamily="18" charset="0"/>
              <a:ea typeface="微软雅黑 Light" panose="020B0502040204020203" pitchFamily="34" charset="-122"/>
            </a:endParaRPr>
          </a:p>
        </p:txBody>
      </p:sp>
      <p:sp>
        <p:nvSpPr>
          <p:cNvPr id="2" name="标题 1">
            <a:extLst>
              <a:ext uri="{FF2B5EF4-FFF2-40B4-BE49-F238E27FC236}">
                <a16:creationId xmlns:a16="http://schemas.microsoft.com/office/drawing/2014/main" id="{C92BF83E-9F0A-8490-3CB5-1B08AEBE2268}"/>
              </a:ext>
            </a:extLst>
          </p:cNvPr>
          <p:cNvSpPr>
            <a:spLocks noGrp="1"/>
          </p:cNvSpPr>
          <p:nvPr>
            <p:ph type="title"/>
          </p:nvPr>
        </p:nvSpPr>
        <p:spPr>
          <a:xfrm>
            <a:off x="612000" y="144000"/>
            <a:ext cx="7920000" cy="341632"/>
          </a:xfrm>
        </p:spPr>
        <p:txBody>
          <a:bodyPr/>
          <a:lstStyle/>
          <a:p>
            <a:r>
              <a:rPr lang="zh-CN" altLang="en-US" dirty="0"/>
              <a:t>每个分组独立选择传输路径</a:t>
            </a:r>
          </a:p>
        </p:txBody>
      </p:sp>
    </p:spTree>
    <p:extLst>
      <p:ext uri="{BB962C8B-B14F-4D97-AF65-F5344CB8AC3E}">
        <p14:creationId xmlns:p14="http://schemas.microsoft.com/office/powerpoint/2010/main" val="2518242315"/>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7" presetClass="emph" presetSubtype="0" repeatCount="5000" fill="remove" grpId="0" nodeType="afterEffect">
                                  <p:stCondLst>
                                    <p:cond delay="0"/>
                                  </p:stCondLst>
                                  <p:childTnLst>
                                    <p:animClr clrSpc="rgb" dir="cw">
                                      <p:cBhvr override="childStyle">
                                        <p:cTn id="6" dur="500" autoRev="1" fill="remove"/>
                                        <p:tgtEl>
                                          <p:spTgt spid="6"/>
                                        </p:tgtEl>
                                        <p:attrNameLst>
                                          <p:attrName>style.color</p:attrName>
                                        </p:attrNameLst>
                                      </p:cBhvr>
                                      <p:to>
                                        <a:schemeClr val="bg1"/>
                                      </p:to>
                                    </p:animClr>
                                    <p:animClr clrSpc="rgb" dir="cw">
                                      <p:cBhvr>
                                        <p:cTn id="7" dur="500" autoRev="1" fill="remove"/>
                                        <p:tgtEl>
                                          <p:spTgt spid="6"/>
                                        </p:tgtEl>
                                        <p:attrNameLst>
                                          <p:attrName>fillcolor</p:attrName>
                                        </p:attrNameLst>
                                      </p:cBhvr>
                                      <p:to>
                                        <a:schemeClr val="bg1"/>
                                      </p:to>
                                    </p:animClr>
                                    <p:set>
                                      <p:cBhvr>
                                        <p:cTn id="8" dur="500" autoRev="1" fill="remove"/>
                                        <p:tgtEl>
                                          <p:spTgt spid="6"/>
                                        </p:tgtEl>
                                        <p:attrNameLst>
                                          <p:attrName>fill.type</p:attrName>
                                        </p:attrNameLst>
                                      </p:cBhvr>
                                      <p:to>
                                        <p:strVal val="solid"/>
                                      </p:to>
                                    </p:set>
                                    <p:set>
                                      <p:cBhvr>
                                        <p:cTn id="9" dur="500" autoRev="1" fill="remove"/>
                                        <p:tgtEl>
                                          <p:spTgt spid="6"/>
                                        </p:tgtEl>
                                        <p:attrNameLst>
                                          <p:attrName>fill.on</p:attrName>
                                        </p:attrNameLst>
                                      </p:cBhvr>
                                      <p:to>
                                        <p:strVal val="true"/>
                                      </p:to>
                                    </p:set>
                                  </p:childTnLst>
                                </p:cTn>
                              </p:par>
                              <p:par>
                                <p:cTn id="10" presetID="0" presetClass="path" presetSubtype="0" accel="50000" decel="50000" fill="hold" grpId="0" nodeType="withEffect">
                                  <p:stCondLst>
                                    <p:cond delay="3000"/>
                                  </p:stCondLst>
                                  <p:childTnLst>
                                    <p:animMotion origin="layout" path="M 2.77778E-6 -4.02285E-6 L 0.09114 0.09571 L 0.21007 0.20655 L 0.30208 0.05465 L 0.3967 0.21921 " pathEditMode="relative" rAng="0" ptsTypes="AAAAA">
                                      <p:cBhvr>
                                        <p:cTn id="11" dur="3000" fill="hold"/>
                                        <p:tgtEl>
                                          <p:spTgt spid="54"/>
                                        </p:tgtEl>
                                        <p:attrNameLst>
                                          <p:attrName>ppt_x</p:attrName>
                                          <p:attrName>ppt_y</p:attrName>
                                        </p:attrNameLst>
                                      </p:cBhvr>
                                      <p:rCtr x="19826" y="10960"/>
                                    </p:animMotion>
                                  </p:childTnLst>
                                </p:cTn>
                              </p:par>
                            </p:childTnLst>
                          </p:cTn>
                        </p:par>
                      </p:childTnLst>
                    </p:cTn>
                  </p:par>
                  <p:par>
                    <p:cTn id="12" fill="hold">
                      <p:stCondLst>
                        <p:cond delay="indefinite"/>
                      </p:stCondLst>
                      <p:childTnLst>
                        <p:par>
                          <p:cTn id="13" fill="hold">
                            <p:stCondLst>
                              <p:cond delay="0"/>
                            </p:stCondLst>
                            <p:childTnLst>
                              <p:par>
                                <p:cTn id="14" presetID="27" presetClass="emph" presetSubtype="0" repeatCount="5000" fill="remove" grpId="1" nodeType="clickEffect">
                                  <p:stCondLst>
                                    <p:cond delay="0"/>
                                  </p:stCondLst>
                                  <p:childTnLst>
                                    <p:animClr clrSpc="rgb" dir="cw">
                                      <p:cBhvr override="childStyle">
                                        <p:cTn id="15" dur="500" autoRev="1" fill="remove"/>
                                        <p:tgtEl>
                                          <p:spTgt spid="6"/>
                                        </p:tgtEl>
                                        <p:attrNameLst>
                                          <p:attrName>style.color</p:attrName>
                                        </p:attrNameLst>
                                      </p:cBhvr>
                                      <p:to>
                                        <a:schemeClr val="bg1"/>
                                      </p:to>
                                    </p:animClr>
                                    <p:animClr clrSpc="rgb" dir="cw">
                                      <p:cBhvr>
                                        <p:cTn id="16" dur="500" autoRev="1" fill="remove"/>
                                        <p:tgtEl>
                                          <p:spTgt spid="6"/>
                                        </p:tgtEl>
                                        <p:attrNameLst>
                                          <p:attrName>fillcolor</p:attrName>
                                        </p:attrNameLst>
                                      </p:cBhvr>
                                      <p:to>
                                        <a:schemeClr val="bg1"/>
                                      </p:to>
                                    </p:animClr>
                                    <p:set>
                                      <p:cBhvr>
                                        <p:cTn id="17" dur="500" autoRev="1" fill="remove"/>
                                        <p:tgtEl>
                                          <p:spTgt spid="6"/>
                                        </p:tgtEl>
                                        <p:attrNameLst>
                                          <p:attrName>fill.type</p:attrName>
                                        </p:attrNameLst>
                                      </p:cBhvr>
                                      <p:to>
                                        <p:strVal val="solid"/>
                                      </p:to>
                                    </p:set>
                                    <p:set>
                                      <p:cBhvr>
                                        <p:cTn id="18" dur="500" autoRev="1" fill="remove"/>
                                        <p:tgtEl>
                                          <p:spTgt spid="6"/>
                                        </p:tgtEl>
                                        <p:attrNameLst>
                                          <p:attrName>fill.on</p:attrName>
                                        </p:attrNameLst>
                                      </p:cBhvr>
                                      <p:to>
                                        <p:strVal val="true"/>
                                      </p:to>
                                    </p:set>
                                  </p:childTnLst>
                                </p:cTn>
                              </p:par>
                              <p:par>
                                <p:cTn id="19" presetID="0" presetClass="path" presetSubtype="0" accel="50000" decel="50000" fill="hold" grpId="1" nodeType="withEffect">
                                  <p:stCondLst>
                                    <p:cond delay="1000"/>
                                  </p:stCondLst>
                                  <p:childTnLst>
                                    <p:animMotion origin="layout" path="M 0 0 L 0.09514 0.09386 L 0.14323 -0.06699 L 0.30555 0.05403 L 0.40087 0.21766 " pathEditMode="relative" ptsTypes="AAAAA">
                                      <p:cBhvr>
                                        <p:cTn id="20" dur="3000" fill="hold"/>
                                        <p:tgtEl>
                                          <p:spTgt spid="54"/>
                                        </p:tgtEl>
                                        <p:attrNameLst>
                                          <p:attrName>ppt_x</p:attrName>
                                          <p:attrName>ppt_y</p:attrName>
                                        </p:attrNameLst>
                                      </p:cBhvr>
                                    </p:animMotion>
                                  </p:childTnLst>
                                </p:cTn>
                              </p:par>
                            </p:childTnLst>
                          </p:cTn>
                        </p:par>
                      </p:childTnLst>
                    </p:cTn>
                  </p:par>
                  <p:par>
                    <p:cTn id="21" fill="hold">
                      <p:stCondLst>
                        <p:cond delay="indefinite"/>
                      </p:stCondLst>
                      <p:childTnLst>
                        <p:par>
                          <p:cTn id="22" fill="hold">
                            <p:stCondLst>
                              <p:cond delay="0"/>
                            </p:stCondLst>
                            <p:childTnLst>
                              <p:par>
                                <p:cTn id="23" presetID="27" presetClass="emph" presetSubtype="0" repeatCount="5000" fill="remove" grpId="0" nodeType="clickEffect">
                                  <p:stCondLst>
                                    <p:cond delay="0"/>
                                  </p:stCondLst>
                                  <p:childTnLst>
                                    <p:animClr clrSpc="rgb" dir="cw">
                                      <p:cBhvr override="childStyle">
                                        <p:cTn id="24" dur="500" autoRev="1" fill="remove"/>
                                        <p:tgtEl>
                                          <p:spTgt spid="7"/>
                                        </p:tgtEl>
                                        <p:attrNameLst>
                                          <p:attrName>style.color</p:attrName>
                                        </p:attrNameLst>
                                      </p:cBhvr>
                                      <p:to>
                                        <a:schemeClr val="bg1"/>
                                      </p:to>
                                    </p:animClr>
                                    <p:animClr clrSpc="rgb" dir="cw">
                                      <p:cBhvr>
                                        <p:cTn id="25" dur="500" autoRev="1" fill="remove"/>
                                        <p:tgtEl>
                                          <p:spTgt spid="7"/>
                                        </p:tgtEl>
                                        <p:attrNameLst>
                                          <p:attrName>fillcolor</p:attrName>
                                        </p:attrNameLst>
                                      </p:cBhvr>
                                      <p:to>
                                        <a:schemeClr val="bg1"/>
                                      </p:to>
                                    </p:animClr>
                                    <p:set>
                                      <p:cBhvr>
                                        <p:cTn id="26" dur="500" autoRev="1" fill="remove"/>
                                        <p:tgtEl>
                                          <p:spTgt spid="7"/>
                                        </p:tgtEl>
                                        <p:attrNameLst>
                                          <p:attrName>fill.type</p:attrName>
                                        </p:attrNameLst>
                                      </p:cBhvr>
                                      <p:to>
                                        <p:strVal val="solid"/>
                                      </p:to>
                                    </p:set>
                                    <p:set>
                                      <p:cBhvr>
                                        <p:cTn id="27" dur="500" autoRev="1" fill="remove"/>
                                        <p:tgtEl>
                                          <p:spTgt spid="7"/>
                                        </p:tgtEl>
                                        <p:attrNameLst>
                                          <p:attrName>fill.on</p:attrName>
                                        </p:attrNameLst>
                                      </p:cBhvr>
                                      <p:to>
                                        <p:strVal val="true"/>
                                      </p:to>
                                    </p:set>
                                  </p:childTnLst>
                                </p:cTn>
                              </p:par>
                              <p:par>
                                <p:cTn id="28" presetID="1" presetClass="entr" presetSubtype="0" fill="hold" grpId="1" nodeType="withEffect">
                                  <p:stCondLst>
                                    <p:cond delay="500"/>
                                  </p:stCondLst>
                                  <p:childTnLst>
                                    <p:set>
                                      <p:cBhvr>
                                        <p:cTn id="29" dur="1" fill="hold">
                                          <p:stCondLst>
                                            <p:cond delay="0"/>
                                          </p:stCondLst>
                                        </p:cTn>
                                        <p:tgtEl>
                                          <p:spTgt spid="7"/>
                                        </p:tgtEl>
                                        <p:attrNameLst>
                                          <p:attrName>style.visibility</p:attrName>
                                        </p:attrNameLst>
                                      </p:cBhvr>
                                      <p:to>
                                        <p:strVal val="visible"/>
                                      </p:to>
                                    </p:set>
                                  </p:childTnLst>
                                </p:cTn>
                              </p:par>
                              <p:par>
                                <p:cTn id="30" presetID="0" presetClass="path" presetSubtype="0" accel="50000" decel="50000" fill="hold" grpId="0" nodeType="withEffect">
                                  <p:stCondLst>
                                    <p:cond delay="1000"/>
                                  </p:stCondLst>
                                  <p:childTnLst>
                                    <p:animMotion origin="layout" path="M -2.5E-6 7.37265E-6 L 0.06649 0.12227 L 0.23125 0.24175 L 0.35677 0.18062 " pathEditMode="relative" ptsTypes="AAAA">
                                      <p:cBhvr>
                                        <p:cTn id="31" dur="3000" fill="hold"/>
                                        <p:tgtEl>
                                          <p:spTgt spid="40"/>
                                        </p:tgtEl>
                                        <p:attrNameLst>
                                          <p:attrName>ppt_x</p:attrName>
                                          <p:attrName>ppt_y</p:attrName>
                                        </p:attrNameLst>
                                      </p:cBhvr>
                                    </p:animMotion>
                                  </p:childTnLst>
                                </p:cTn>
                              </p:par>
                            </p:childTnLst>
                          </p:cTn>
                        </p:par>
                      </p:childTnLst>
                    </p:cTn>
                  </p:par>
                  <p:par>
                    <p:cTn id="32" fill="hold">
                      <p:stCondLst>
                        <p:cond delay="indefinite"/>
                      </p:stCondLst>
                      <p:childTnLst>
                        <p:par>
                          <p:cTn id="33" fill="hold">
                            <p:stCondLst>
                              <p:cond delay="0"/>
                            </p:stCondLst>
                            <p:childTnLst>
                              <p:par>
                                <p:cTn id="34" presetID="27" presetClass="emph" presetSubtype="0" repeatCount="5000" fill="remove" grpId="0" nodeType="clickEffect">
                                  <p:stCondLst>
                                    <p:cond delay="0"/>
                                  </p:stCondLst>
                                  <p:childTnLst>
                                    <p:animClr clrSpc="rgb" dir="cw">
                                      <p:cBhvr override="childStyle">
                                        <p:cTn id="35" dur="500" autoRev="1" fill="remove"/>
                                        <p:tgtEl>
                                          <p:spTgt spid="8"/>
                                        </p:tgtEl>
                                        <p:attrNameLst>
                                          <p:attrName>style.color</p:attrName>
                                        </p:attrNameLst>
                                      </p:cBhvr>
                                      <p:to>
                                        <a:schemeClr val="bg1"/>
                                      </p:to>
                                    </p:animClr>
                                    <p:animClr clrSpc="rgb" dir="cw">
                                      <p:cBhvr>
                                        <p:cTn id="36" dur="500" autoRev="1" fill="remove"/>
                                        <p:tgtEl>
                                          <p:spTgt spid="8"/>
                                        </p:tgtEl>
                                        <p:attrNameLst>
                                          <p:attrName>fillcolor</p:attrName>
                                        </p:attrNameLst>
                                      </p:cBhvr>
                                      <p:to>
                                        <a:schemeClr val="bg1"/>
                                      </p:to>
                                    </p:animClr>
                                    <p:set>
                                      <p:cBhvr>
                                        <p:cTn id="37" dur="500" autoRev="1" fill="remove"/>
                                        <p:tgtEl>
                                          <p:spTgt spid="8"/>
                                        </p:tgtEl>
                                        <p:attrNameLst>
                                          <p:attrName>fill.type</p:attrName>
                                        </p:attrNameLst>
                                      </p:cBhvr>
                                      <p:to>
                                        <p:strVal val="solid"/>
                                      </p:to>
                                    </p:set>
                                    <p:set>
                                      <p:cBhvr>
                                        <p:cTn id="38" dur="500" autoRev="1" fill="remove"/>
                                        <p:tgtEl>
                                          <p:spTgt spid="8"/>
                                        </p:tgtEl>
                                        <p:attrNameLst>
                                          <p:attrName>fill.on</p:attrName>
                                        </p:attrNameLst>
                                      </p:cBhvr>
                                      <p:to>
                                        <p:strVal val="true"/>
                                      </p:to>
                                    </p:set>
                                  </p:childTnLst>
                                </p:cTn>
                              </p:par>
                              <p:par>
                                <p:cTn id="39" presetID="0" presetClass="path" presetSubtype="0" accel="50000" decel="50000" fill="hold" grpId="2" nodeType="withEffect">
                                  <p:stCondLst>
                                    <p:cond delay="1000"/>
                                  </p:stCondLst>
                                  <p:childTnLst>
                                    <p:animMotion origin="layout" path="M 0 0 L 0.09045 0.09107 L 0.1408 -0.06824 L 0.30087 0.05402 L 0.39844 0.22074 " pathEditMode="relative" ptsTypes="AAAAA">
                                      <p:cBhvr>
                                        <p:cTn id="40" dur="3000" fill="hold"/>
                                        <p:tgtEl>
                                          <p:spTgt spid="54"/>
                                        </p:tgtEl>
                                        <p:attrNameLst>
                                          <p:attrName>ppt_x</p:attrName>
                                          <p:attrName>ppt_y</p:attrName>
                                        </p:attrNameLst>
                                      </p:cBhvr>
                                    </p:animMotion>
                                  </p:childTnLst>
                                </p:cTn>
                              </p:par>
                              <p:par>
                                <p:cTn id="41" presetID="0" presetClass="path" presetSubtype="0" accel="50000" decel="50000" fill="hold" grpId="1" nodeType="withEffect">
                                  <p:stCondLst>
                                    <p:cond delay="2000"/>
                                  </p:stCondLst>
                                  <p:childTnLst>
                                    <p:animMotion origin="layout" path="M 0 0 L 0.07049 0.1238 L 0.22969 0.23618 L 0.35764 0.17783 " pathEditMode="relative" ptsTypes="AAAA">
                                      <p:cBhvr>
                                        <p:cTn id="42" dur="3000" fill="hold"/>
                                        <p:tgtEl>
                                          <p:spTgt spid="40"/>
                                        </p:tgtEl>
                                        <p:attrNameLst>
                                          <p:attrName>ppt_x</p:attrName>
                                          <p:attrName>ppt_y</p:attrName>
                                        </p:attrNameLst>
                                      </p:cBhvr>
                                    </p:animMotion>
                                  </p:childTnLst>
                                </p:cTn>
                              </p:par>
                              <p:par>
                                <p:cTn id="43" presetID="0" presetClass="path" presetSubtype="0" accel="50000" decel="50000" fill="hold" grpId="3" nodeType="withEffect">
                                  <p:stCondLst>
                                    <p:cond delay="3000"/>
                                  </p:stCondLst>
                                  <p:childTnLst>
                                    <p:animMotion origin="layout" path="M 0 0 L 0.0927 0.09386 L 0.14479 -0.067 L 0.21111 0.20901 L 0.30156 0.06113 L 0.39913 0.22198 " pathEditMode="relative" ptsTypes="AAAAAA">
                                      <p:cBhvr>
                                        <p:cTn id="44" dur="3000" fill="hold"/>
                                        <p:tgtEl>
                                          <p:spTgt spid="54"/>
                                        </p:tgtEl>
                                        <p:attrNameLst>
                                          <p:attrName>ppt_x</p:attrName>
                                          <p:attrName>ppt_y</p:attrName>
                                        </p:attrNameLst>
                                      </p:cBhvr>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6" grpId="0" animBg="1"/>
      <p:bldP spid="6" grpId="1" animBg="1"/>
      <p:bldP spid="7" grpId="0" animBg="1"/>
      <p:bldP spid="7" grpId="1" animBg="1"/>
      <p:bldP spid="40" grpId="0" animBg="1"/>
      <p:bldP spid="40" grpId="1" animBg="1"/>
      <p:bldP spid="54" grpId="0" animBg="1"/>
      <p:bldP spid="54" grpId="1" animBg="1"/>
      <p:bldP spid="54" grpId="2" animBg="1"/>
      <p:bldP spid="54" grpId="3" animBg="1"/>
    </p:bld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5" name="Group 3"/>
          <p:cNvGrpSpPr/>
          <p:nvPr/>
        </p:nvGrpSpPr>
        <p:grpSpPr bwMode="auto">
          <a:xfrm>
            <a:off x="3072041" y="1560753"/>
            <a:ext cx="2956714" cy="2446498"/>
            <a:chOff x="2256" y="2386"/>
            <a:chExt cx="2147" cy="1919"/>
          </a:xfrm>
          <a:solidFill>
            <a:schemeClr val="bg1"/>
          </a:solidFill>
        </p:grpSpPr>
        <p:sp>
          <p:nvSpPr>
            <p:cNvPr id="56" name="Oval 4"/>
            <p:cNvSpPr>
              <a:spLocks noChangeArrowheads="1"/>
            </p:cNvSpPr>
            <p:nvPr/>
          </p:nvSpPr>
          <p:spPr bwMode="auto">
            <a:xfrm rot="-1674972">
              <a:off x="2346" y="2526"/>
              <a:ext cx="1015" cy="692"/>
            </a:xfrm>
            <a:prstGeom prst="ellipse">
              <a:avLst/>
            </a:prstGeom>
            <a:grpFill/>
            <a:ln w="12700">
              <a:solidFill>
                <a:srgbClr val="00B0F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b="1">
                <a:solidFill>
                  <a:srgbClr val="000099"/>
                </a:solidFill>
                <a:latin typeface="+mn-lt"/>
                <a:ea typeface="+mn-ea"/>
              </a:endParaRPr>
            </a:p>
          </p:txBody>
        </p:sp>
        <p:sp>
          <p:nvSpPr>
            <p:cNvPr id="57" name="Oval 5"/>
            <p:cNvSpPr>
              <a:spLocks noChangeArrowheads="1"/>
            </p:cNvSpPr>
            <p:nvPr/>
          </p:nvSpPr>
          <p:spPr bwMode="auto">
            <a:xfrm rot="-774972">
              <a:off x="3025" y="2386"/>
              <a:ext cx="887" cy="642"/>
            </a:xfrm>
            <a:prstGeom prst="ellipse">
              <a:avLst/>
            </a:prstGeom>
            <a:grpFill/>
            <a:ln w="12700">
              <a:solidFill>
                <a:srgbClr val="00B0F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b="1">
                <a:solidFill>
                  <a:srgbClr val="000099"/>
                </a:solidFill>
                <a:latin typeface="+mn-lt"/>
                <a:ea typeface="+mn-ea"/>
              </a:endParaRPr>
            </a:p>
          </p:txBody>
        </p:sp>
        <p:sp>
          <p:nvSpPr>
            <p:cNvPr id="58" name="Oval 6"/>
            <p:cNvSpPr>
              <a:spLocks noChangeArrowheads="1"/>
            </p:cNvSpPr>
            <p:nvPr/>
          </p:nvSpPr>
          <p:spPr bwMode="auto">
            <a:xfrm rot="-174972">
              <a:off x="3673" y="2621"/>
              <a:ext cx="655" cy="832"/>
            </a:xfrm>
            <a:prstGeom prst="ellipse">
              <a:avLst/>
            </a:prstGeom>
            <a:grpFill/>
            <a:ln w="12700">
              <a:solidFill>
                <a:srgbClr val="00B0F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b="1">
                <a:solidFill>
                  <a:srgbClr val="000099"/>
                </a:solidFill>
                <a:latin typeface="+mn-lt"/>
                <a:ea typeface="+mn-ea"/>
              </a:endParaRPr>
            </a:p>
          </p:txBody>
        </p:sp>
        <p:sp>
          <p:nvSpPr>
            <p:cNvPr id="59" name="Oval 7"/>
            <p:cNvSpPr>
              <a:spLocks noChangeArrowheads="1"/>
            </p:cNvSpPr>
            <p:nvPr/>
          </p:nvSpPr>
          <p:spPr bwMode="auto">
            <a:xfrm rot="18365028">
              <a:off x="3754" y="3108"/>
              <a:ext cx="687" cy="610"/>
            </a:xfrm>
            <a:prstGeom prst="ellipse">
              <a:avLst/>
            </a:prstGeom>
            <a:grpFill/>
            <a:ln w="12700">
              <a:solidFill>
                <a:srgbClr val="00B0F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b="1">
                <a:solidFill>
                  <a:srgbClr val="000099"/>
                </a:solidFill>
                <a:latin typeface="+mn-lt"/>
                <a:ea typeface="+mn-ea"/>
              </a:endParaRPr>
            </a:p>
          </p:txBody>
        </p:sp>
        <p:sp>
          <p:nvSpPr>
            <p:cNvPr id="60" name="Oval 8"/>
            <p:cNvSpPr>
              <a:spLocks noChangeArrowheads="1"/>
            </p:cNvSpPr>
            <p:nvPr/>
          </p:nvSpPr>
          <p:spPr bwMode="auto">
            <a:xfrm rot="-1674972">
              <a:off x="3052" y="3445"/>
              <a:ext cx="1110" cy="772"/>
            </a:xfrm>
            <a:prstGeom prst="ellipse">
              <a:avLst/>
            </a:prstGeom>
            <a:grpFill/>
            <a:ln w="12700">
              <a:solidFill>
                <a:srgbClr val="00B0F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b="1">
                <a:solidFill>
                  <a:srgbClr val="000099"/>
                </a:solidFill>
                <a:latin typeface="+mn-lt"/>
                <a:ea typeface="+mn-ea"/>
              </a:endParaRPr>
            </a:p>
          </p:txBody>
        </p:sp>
        <p:sp>
          <p:nvSpPr>
            <p:cNvPr id="61" name="Oval 9"/>
            <p:cNvSpPr>
              <a:spLocks noChangeArrowheads="1"/>
            </p:cNvSpPr>
            <p:nvPr/>
          </p:nvSpPr>
          <p:spPr bwMode="auto">
            <a:xfrm rot="-594972">
              <a:off x="2616" y="3772"/>
              <a:ext cx="793" cy="533"/>
            </a:xfrm>
            <a:prstGeom prst="ellipse">
              <a:avLst/>
            </a:prstGeom>
            <a:grpFill/>
            <a:ln w="12700">
              <a:solidFill>
                <a:srgbClr val="00B0F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b="1">
                <a:solidFill>
                  <a:srgbClr val="000099"/>
                </a:solidFill>
                <a:latin typeface="+mn-lt"/>
                <a:ea typeface="+mn-ea"/>
              </a:endParaRPr>
            </a:p>
          </p:txBody>
        </p:sp>
        <p:sp>
          <p:nvSpPr>
            <p:cNvPr id="62" name="Oval 10"/>
            <p:cNvSpPr>
              <a:spLocks noChangeArrowheads="1"/>
            </p:cNvSpPr>
            <p:nvPr/>
          </p:nvSpPr>
          <p:spPr bwMode="auto">
            <a:xfrm rot="-1674972">
              <a:off x="2311" y="3539"/>
              <a:ext cx="503" cy="631"/>
            </a:xfrm>
            <a:prstGeom prst="ellipse">
              <a:avLst/>
            </a:prstGeom>
            <a:grpFill/>
            <a:ln w="12700">
              <a:solidFill>
                <a:srgbClr val="00B0F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b="1">
                <a:solidFill>
                  <a:srgbClr val="000099"/>
                </a:solidFill>
                <a:latin typeface="+mn-lt"/>
                <a:ea typeface="+mn-ea"/>
              </a:endParaRPr>
            </a:p>
          </p:txBody>
        </p:sp>
        <p:sp>
          <p:nvSpPr>
            <p:cNvPr id="63" name="Oval 11"/>
            <p:cNvSpPr>
              <a:spLocks noChangeArrowheads="1"/>
            </p:cNvSpPr>
            <p:nvPr/>
          </p:nvSpPr>
          <p:spPr bwMode="auto">
            <a:xfrm rot="18065028">
              <a:off x="2160" y="3115"/>
              <a:ext cx="695" cy="504"/>
            </a:xfrm>
            <a:prstGeom prst="ellipse">
              <a:avLst/>
            </a:prstGeom>
            <a:grpFill/>
            <a:ln w="12700">
              <a:solidFill>
                <a:srgbClr val="00B0F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b="1">
                <a:solidFill>
                  <a:srgbClr val="000099"/>
                </a:solidFill>
                <a:latin typeface="+mn-lt"/>
                <a:ea typeface="+mn-ea"/>
              </a:endParaRPr>
            </a:p>
          </p:txBody>
        </p:sp>
        <p:sp>
          <p:nvSpPr>
            <p:cNvPr id="64" name="Freeform 12"/>
            <p:cNvSpPr/>
            <p:nvPr/>
          </p:nvSpPr>
          <p:spPr bwMode="auto">
            <a:xfrm>
              <a:off x="2358" y="2506"/>
              <a:ext cx="1931" cy="1684"/>
            </a:xfrm>
            <a:custGeom>
              <a:avLst/>
              <a:gdLst>
                <a:gd name="T0" fmla="*/ 579 w 1931"/>
                <a:gd name="T1" fmla="*/ 263 h 1684"/>
                <a:gd name="T2" fmla="*/ 632 w 1931"/>
                <a:gd name="T3" fmla="*/ 168 h 1684"/>
                <a:gd name="T4" fmla="*/ 695 w 1931"/>
                <a:gd name="T5" fmla="*/ 126 h 1684"/>
                <a:gd name="T6" fmla="*/ 916 w 1931"/>
                <a:gd name="T7" fmla="*/ 115 h 1684"/>
                <a:gd name="T8" fmla="*/ 1095 w 1931"/>
                <a:gd name="T9" fmla="*/ 52 h 1684"/>
                <a:gd name="T10" fmla="*/ 1158 w 1931"/>
                <a:gd name="T11" fmla="*/ 21 h 1684"/>
                <a:gd name="T12" fmla="*/ 1221 w 1931"/>
                <a:gd name="T13" fmla="*/ 0 h 1684"/>
                <a:gd name="T14" fmla="*/ 1337 w 1931"/>
                <a:gd name="T15" fmla="*/ 42 h 1684"/>
                <a:gd name="T16" fmla="*/ 1400 w 1931"/>
                <a:gd name="T17" fmla="*/ 84 h 1684"/>
                <a:gd name="T18" fmla="*/ 1432 w 1931"/>
                <a:gd name="T19" fmla="*/ 105 h 1684"/>
                <a:gd name="T20" fmla="*/ 1505 w 1931"/>
                <a:gd name="T21" fmla="*/ 158 h 1684"/>
                <a:gd name="T22" fmla="*/ 1526 w 1931"/>
                <a:gd name="T23" fmla="*/ 189 h 1684"/>
                <a:gd name="T24" fmla="*/ 1558 w 1931"/>
                <a:gd name="T25" fmla="*/ 210 h 1684"/>
                <a:gd name="T26" fmla="*/ 1653 w 1931"/>
                <a:gd name="T27" fmla="*/ 294 h 1684"/>
                <a:gd name="T28" fmla="*/ 1737 w 1931"/>
                <a:gd name="T29" fmla="*/ 368 h 1684"/>
                <a:gd name="T30" fmla="*/ 1800 w 1931"/>
                <a:gd name="T31" fmla="*/ 389 h 1684"/>
                <a:gd name="T32" fmla="*/ 1832 w 1931"/>
                <a:gd name="T33" fmla="*/ 410 h 1684"/>
                <a:gd name="T34" fmla="*/ 1916 w 1931"/>
                <a:gd name="T35" fmla="*/ 589 h 1684"/>
                <a:gd name="T36" fmla="*/ 1842 w 1931"/>
                <a:gd name="T37" fmla="*/ 1084 h 1684"/>
                <a:gd name="T38" fmla="*/ 1769 w 1931"/>
                <a:gd name="T39" fmla="*/ 1168 h 1684"/>
                <a:gd name="T40" fmla="*/ 1653 w 1931"/>
                <a:gd name="T41" fmla="*/ 1284 h 1684"/>
                <a:gd name="T42" fmla="*/ 1590 w 1931"/>
                <a:gd name="T43" fmla="*/ 1347 h 1684"/>
                <a:gd name="T44" fmla="*/ 1558 w 1931"/>
                <a:gd name="T45" fmla="*/ 1368 h 1684"/>
                <a:gd name="T46" fmla="*/ 1474 w 1931"/>
                <a:gd name="T47" fmla="*/ 1431 h 1684"/>
                <a:gd name="T48" fmla="*/ 1411 w 1931"/>
                <a:gd name="T49" fmla="*/ 1453 h 1684"/>
                <a:gd name="T50" fmla="*/ 1253 w 1931"/>
                <a:gd name="T51" fmla="*/ 1579 h 1684"/>
                <a:gd name="T52" fmla="*/ 1190 w 1931"/>
                <a:gd name="T53" fmla="*/ 1621 h 1684"/>
                <a:gd name="T54" fmla="*/ 1000 w 1931"/>
                <a:gd name="T55" fmla="*/ 1684 h 1684"/>
                <a:gd name="T56" fmla="*/ 432 w 1931"/>
                <a:gd name="T57" fmla="*/ 1653 h 1684"/>
                <a:gd name="T58" fmla="*/ 337 w 1931"/>
                <a:gd name="T59" fmla="*/ 1621 h 1684"/>
                <a:gd name="T60" fmla="*/ 242 w 1931"/>
                <a:gd name="T61" fmla="*/ 1558 h 1684"/>
                <a:gd name="T62" fmla="*/ 168 w 1931"/>
                <a:gd name="T63" fmla="*/ 1463 h 1684"/>
                <a:gd name="T64" fmla="*/ 126 w 1931"/>
                <a:gd name="T65" fmla="*/ 1400 h 1684"/>
                <a:gd name="T66" fmla="*/ 105 w 1931"/>
                <a:gd name="T67" fmla="*/ 1368 h 1684"/>
                <a:gd name="T68" fmla="*/ 21 w 1931"/>
                <a:gd name="T69" fmla="*/ 1242 h 1684"/>
                <a:gd name="T70" fmla="*/ 32 w 1931"/>
                <a:gd name="T71" fmla="*/ 1031 h 1684"/>
                <a:gd name="T72" fmla="*/ 42 w 1931"/>
                <a:gd name="T73" fmla="*/ 821 h 1684"/>
                <a:gd name="T74" fmla="*/ 84 w 1931"/>
                <a:gd name="T75" fmla="*/ 631 h 1684"/>
                <a:gd name="T76" fmla="*/ 200 w 1931"/>
                <a:gd name="T77" fmla="*/ 337 h 1684"/>
                <a:gd name="T78" fmla="*/ 242 w 1931"/>
                <a:gd name="T79" fmla="*/ 263 h 1684"/>
                <a:gd name="T80" fmla="*/ 305 w 1931"/>
                <a:gd name="T81" fmla="*/ 252 h 1684"/>
                <a:gd name="T82" fmla="*/ 326 w 1931"/>
                <a:gd name="T83" fmla="*/ 189 h 1684"/>
                <a:gd name="T84" fmla="*/ 400 w 1931"/>
                <a:gd name="T85" fmla="*/ 147 h 1684"/>
                <a:gd name="T86" fmla="*/ 432 w 1931"/>
                <a:gd name="T87" fmla="*/ 168 h 1684"/>
                <a:gd name="T88" fmla="*/ 453 w 1931"/>
                <a:gd name="T89" fmla="*/ 200 h 1684"/>
                <a:gd name="T90" fmla="*/ 537 w 1931"/>
                <a:gd name="T91" fmla="*/ 210 h 1684"/>
                <a:gd name="T92" fmla="*/ 558 w 1931"/>
                <a:gd name="T93" fmla="*/ 242 h 1684"/>
                <a:gd name="T94" fmla="*/ 579 w 1931"/>
                <a:gd name="T95" fmla="*/ 263 h 16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1931" h="1684">
                  <a:moveTo>
                    <a:pt x="579" y="263"/>
                  </a:moveTo>
                  <a:cubicBezTo>
                    <a:pt x="590" y="230"/>
                    <a:pt x="602" y="188"/>
                    <a:pt x="632" y="168"/>
                  </a:cubicBezTo>
                  <a:cubicBezTo>
                    <a:pt x="653" y="154"/>
                    <a:pt x="695" y="126"/>
                    <a:pt x="695" y="126"/>
                  </a:cubicBezTo>
                  <a:cubicBezTo>
                    <a:pt x="755" y="218"/>
                    <a:pt x="842" y="134"/>
                    <a:pt x="916" y="115"/>
                  </a:cubicBezTo>
                  <a:cubicBezTo>
                    <a:pt x="974" y="76"/>
                    <a:pt x="1024" y="61"/>
                    <a:pt x="1095" y="52"/>
                  </a:cubicBezTo>
                  <a:cubicBezTo>
                    <a:pt x="1201" y="18"/>
                    <a:pt x="1043" y="72"/>
                    <a:pt x="1158" y="21"/>
                  </a:cubicBezTo>
                  <a:cubicBezTo>
                    <a:pt x="1178" y="12"/>
                    <a:pt x="1221" y="0"/>
                    <a:pt x="1221" y="0"/>
                  </a:cubicBezTo>
                  <a:cubicBezTo>
                    <a:pt x="1260" y="14"/>
                    <a:pt x="1298" y="28"/>
                    <a:pt x="1337" y="42"/>
                  </a:cubicBezTo>
                  <a:cubicBezTo>
                    <a:pt x="1361" y="51"/>
                    <a:pt x="1379" y="70"/>
                    <a:pt x="1400" y="84"/>
                  </a:cubicBezTo>
                  <a:cubicBezTo>
                    <a:pt x="1411" y="91"/>
                    <a:pt x="1432" y="105"/>
                    <a:pt x="1432" y="105"/>
                  </a:cubicBezTo>
                  <a:cubicBezTo>
                    <a:pt x="1513" y="215"/>
                    <a:pt x="1412" y="96"/>
                    <a:pt x="1505" y="158"/>
                  </a:cubicBezTo>
                  <a:cubicBezTo>
                    <a:pt x="1515" y="165"/>
                    <a:pt x="1517" y="180"/>
                    <a:pt x="1526" y="189"/>
                  </a:cubicBezTo>
                  <a:cubicBezTo>
                    <a:pt x="1535" y="198"/>
                    <a:pt x="1547" y="203"/>
                    <a:pt x="1558" y="210"/>
                  </a:cubicBezTo>
                  <a:cubicBezTo>
                    <a:pt x="1591" y="261"/>
                    <a:pt x="1608" y="260"/>
                    <a:pt x="1653" y="294"/>
                  </a:cubicBezTo>
                  <a:cubicBezTo>
                    <a:pt x="1683" y="316"/>
                    <a:pt x="1706" y="348"/>
                    <a:pt x="1737" y="368"/>
                  </a:cubicBezTo>
                  <a:cubicBezTo>
                    <a:pt x="1756" y="380"/>
                    <a:pt x="1780" y="380"/>
                    <a:pt x="1800" y="389"/>
                  </a:cubicBezTo>
                  <a:cubicBezTo>
                    <a:pt x="1812" y="394"/>
                    <a:pt x="1821" y="403"/>
                    <a:pt x="1832" y="410"/>
                  </a:cubicBezTo>
                  <a:cubicBezTo>
                    <a:pt x="1848" y="477"/>
                    <a:pt x="1878" y="532"/>
                    <a:pt x="1916" y="589"/>
                  </a:cubicBezTo>
                  <a:cubicBezTo>
                    <a:pt x="1930" y="740"/>
                    <a:pt x="1931" y="949"/>
                    <a:pt x="1842" y="1084"/>
                  </a:cubicBezTo>
                  <a:cubicBezTo>
                    <a:pt x="1828" y="1130"/>
                    <a:pt x="1803" y="1134"/>
                    <a:pt x="1769" y="1168"/>
                  </a:cubicBezTo>
                  <a:cubicBezTo>
                    <a:pt x="1742" y="1246"/>
                    <a:pt x="1702" y="1245"/>
                    <a:pt x="1653" y="1284"/>
                  </a:cubicBezTo>
                  <a:cubicBezTo>
                    <a:pt x="1630" y="1303"/>
                    <a:pt x="1615" y="1331"/>
                    <a:pt x="1590" y="1347"/>
                  </a:cubicBezTo>
                  <a:cubicBezTo>
                    <a:pt x="1579" y="1354"/>
                    <a:pt x="1568" y="1361"/>
                    <a:pt x="1558" y="1368"/>
                  </a:cubicBezTo>
                  <a:cubicBezTo>
                    <a:pt x="1530" y="1389"/>
                    <a:pt x="1502" y="1410"/>
                    <a:pt x="1474" y="1431"/>
                  </a:cubicBezTo>
                  <a:cubicBezTo>
                    <a:pt x="1456" y="1444"/>
                    <a:pt x="1411" y="1453"/>
                    <a:pt x="1411" y="1453"/>
                  </a:cubicBezTo>
                  <a:cubicBezTo>
                    <a:pt x="1358" y="1505"/>
                    <a:pt x="1314" y="1538"/>
                    <a:pt x="1253" y="1579"/>
                  </a:cubicBezTo>
                  <a:cubicBezTo>
                    <a:pt x="1232" y="1593"/>
                    <a:pt x="1214" y="1613"/>
                    <a:pt x="1190" y="1621"/>
                  </a:cubicBezTo>
                  <a:cubicBezTo>
                    <a:pt x="1127" y="1642"/>
                    <a:pt x="1064" y="1664"/>
                    <a:pt x="1000" y="1684"/>
                  </a:cubicBezTo>
                  <a:cubicBezTo>
                    <a:pt x="808" y="1622"/>
                    <a:pt x="697" y="1658"/>
                    <a:pt x="432" y="1653"/>
                  </a:cubicBezTo>
                  <a:cubicBezTo>
                    <a:pt x="358" y="1629"/>
                    <a:pt x="389" y="1640"/>
                    <a:pt x="337" y="1621"/>
                  </a:cubicBezTo>
                  <a:cubicBezTo>
                    <a:pt x="296" y="1580"/>
                    <a:pt x="282" y="1591"/>
                    <a:pt x="242" y="1558"/>
                  </a:cubicBezTo>
                  <a:cubicBezTo>
                    <a:pt x="209" y="1530"/>
                    <a:pt x="193" y="1500"/>
                    <a:pt x="168" y="1463"/>
                  </a:cubicBezTo>
                  <a:cubicBezTo>
                    <a:pt x="154" y="1442"/>
                    <a:pt x="140" y="1421"/>
                    <a:pt x="126" y="1400"/>
                  </a:cubicBezTo>
                  <a:cubicBezTo>
                    <a:pt x="119" y="1389"/>
                    <a:pt x="105" y="1368"/>
                    <a:pt x="105" y="1368"/>
                  </a:cubicBezTo>
                  <a:cubicBezTo>
                    <a:pt x="88" y="1315"/>
                    <a:pt x="51" y="1287"/>
                    <a:pt x="21" y="1242"/>
                  </a:cubicBezTo>
                  <a:cubicBezTo>
                    <a:pt x="0" y="1175"/>
                    <a:pt x="23" y="1099"/>
                    <a:pt x="32" y="1031"/>
                  </a:cubicBezTo>
                  <a:cubicBezTo>
                    <a:pt x="35" y="961"/>
                    <a:pt x="36" y="891"/>
                    <a:pt x="42" y="821"/>
                  </a:cubicBezTo>
                  <a:cubicBezTo>
                    <a:pt x="47" y="760"/>
                    <a:pt x="75" y="693"/>
                    <a:pt x="84" y="631"/>
                  </a:cubicBezTo>
                  <a:cubicBezTo>
                    <a:pt x="99" y="528"/>
                    <a:pt x="112" y="402"/>
                    <a:pt x="200" y="337"/>
                  </a:cubicBezTo>
                  <a:cubicBezTo>
                    <a:pt x="214" y="312"/>
                    <a:pt x="220" y="281"/>
                    <a:pt x="242" y="263"/>
                  </a:cubicBezTo>
                  <a:cubicBezTo>
                    <a:pt x="259" y="250"/>
                    <a:pt x="289" y="266"/>
                    <a:pt x="305" y="252"/>
                  </a:cubicBezTo>
                  <a:cubicBezTo>
                    <a:pt x="322" y="237"/>
                    <a:pt x="313" y="207"/>
                    <a:pt x="326" y="189"/>
                  </a:cubicBezTo>
                  <a:cubicBezTo>
                    <a:pt x="343" y="166"/>
                    <a:pt x="376" y="163"/>
                    <a:pt x="400" y="147"/>
                  </a:cubicBezTo>
                  <a:cubicBezTo>
                    <a:pt x="411" y="154"/>
                    <a:pt x="423" y="159"/>
                    <a:pt x="432" y="168"/>
                  </a:cubicBezTo>
                  <a:cubicBezTo>
                    <a:pt x="441" y="177"/>
                    <a:pt x="441" y="195"/>
                    <a:pt x="453" y="200"/>
                  </a:cubicBezTo>
                  <a:cubicBezTo>
                    <a:pt x="479" y="210"/>
                    <a:pt x="509" y="207"/>
                    <a:pt x="537" y="210"/>
                  </a:cubicBezTo>
                  <a:cubicBezTo>
                    <a:pt x="544" y="221"/>
                    <a:pt x="550" y="232"/>
                    <a:pt x="558" y="242"/>
                  </a:cubicBezTo>
                  <a:cubicBezTo>
                    <a:pt x="566" y="251"/>
                    <a:pt x="610" y="291"/>
                    <a:pt x="579" y="263"/>
                  </a:cubicBezTo>
                  <a:close/>
                </a:path>
              </a:pathLst>
            </a:custGeom>
            <a:grpFill/>
            <a:ln>
              <a:noFill/>
            </a:ln>
            <a:effectLst/>
            <a:extLst>
              <a:ext uri="{91240B29-F687-4F45-9708-019B960494DF}">
                <a14:hiddenLine xmlns:a14="http://schemas.microsoft.com/office/drawing/2010/main" w="9525">
                  <a:solidFill>
                    <a:schemeClr val="tx1"/>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b="1">
                <a:solidFill>
                  <a:srgbClr val="000099"/>
                </a:solidFill>
                <a:latin typeface="+mn-lt"/>
                <a:ea typeface="+mn-ea"/>
              </a:endParaRPr>
            </a:p>
          </p:txBody>
        </p:sp>
      </p:grpSp>
      <p:sp>
        <p:nvSpPr>
          <p:cNvPr id="77832" name="Line 13"/>
          <p:cNvSpPr>
            <a:spLocks noChangeShapeType="1"/>
          </p:cNvSpPr>
          <p:nvPr/>
        </p:nvSpPr>
        <p:spPr bwMode="auto">
          <a:xfrm flipV="1">
            <a:off x="3889375" y="1717675"/>
            <a:ext cx="927100" cy="369888"/>
          </a:xfrm>
          <a:prstGeom prst="line">
            <a:avLst/>
          </a:prstGeom>
          <a:noFill/>
          <a:ln w="38100">
            <a:solidFill>
              <a:srgbClr val="00990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77833" name="Line 14"/>
          <p:cNvSpPr>
            <a:spLocks noChangeShapeType="1"/>
          </p:cNvSpPr>
          <p:nvPr/>
        </p:nvSpPr>
        <p:spPr bwMode="auto">
          <a:xfrm>
            <a:off x="4929188" y="1766888"/>
            <a:ext cx="547687" cy="933450"/>
          </a:xfrm>
          <a:prstGeom prst="line">
            <a:avLst/>
          </a:prstGeom>
          <a:noFill/>
          <a:ln w="38100">
            <a:solidFill>
              <a:srgbClr val="00990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77834" name="Line 15"/>
          <p:cNvSpPr>
            <a:spLocks noChangeShapeType="1"/>
          </p:cNvSpPr>
          <p:nvPr/>
        </p:nvSpPr>
        <p:spPr bwMode="auto">
          <a:xfrm flipH="1">
            <a:off x="3343275" y="2149475"/>
            <a:ext cx="481013" cy="838200"/>
          </a:xfrm>
          <a:prstGeom prst="line">
            <a:avLst/>
          </a:prstGeom>
          <a:noFill/>
          <a:ln w="38100">
            <a:solidFill>
              <a:srgbClr val="00990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77835" name="Line 16"/>
          <p:cNvSpPr>
            <a:spLocks noChangeShapeType="1"/>
          </p:cNvSpPr>
          <p:nvPr/>
        </p:nvSpPr>
        <p:spPr bwMode="auto">
          <a:xfrm>
            <a:off x="3373438" y="3106738"/>
            <a:ext cx="1100137" cy="587375"/>
          </a:xfrm>
          <a:prstGeom prst="line">
            <a:avLst/>
          </a:prstGeom>
          <a:noFill/>
          <a:ln w="38100">
            <a:solidFill>
              <a:srgbClr val="00990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77836" name="Line 17"/>
          <p:cNvSpPr>
            <a:spLocks noChangeShapeType="1"/>
          </p:cNvSpPr>
          <p:nvPr/>
        </p:nvSpPr>
        <p:spPr bwMode="auto">
          <a:xfrm flipV="1">
            <a:off x="4519613" y="2884488"/>
            <a:ext cx="957262" cy="871537"/>
          </a:xfrm>
          <a:prstGeom prst="line">
            <a:avLst/>
          </a:prstGeom>
          <a:noFill/>
          <a:ln w="38100">
            <a:solidFill>
              <a:srgbClr val="00990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77837" name="Line 18"/>
          <p:cNvSpPr>
            <a:spLocks noChangeShapeType="1"/>
          </p:cNvSpPr>
          <p:nvPr/>
        </p:nvSpPr>
        <p:spPr bwMode="auto">
          <a:xfrm>
            <a:off x="3927475" y="2154238"/>
            <a:ext cx="1536700" cy="630237"/>
          </a:xfrm>
          <a:prstGeom prst="line">
            <a:avLst/>
          </a:prstGeom>
          <a:noFill/>
          <a:ln w="38100">
            <a:solidFill>
              <a:srgbClr val="00990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77838" name="Line 19"/>
          <p:cNvSpPr>
            <a:spLocks noChangeShapeType="1"/>
          </p:cNvSpPr>
          <p:nvPr/>
        </p:nvSpPr>
        <p:spPr bwMode="auto">
          <a:xfrm>
            <a:off x="3854450" y="2044700"/>
            <a:ext cx="722313" cy="1649413"/>
          </a:xfrm>
          <a:prstGeom prst="line">
            <a:avLst/>
          </a:prstGeom>
          <a:noFill/>
          <a:ln w="38100">
            <a:solidFill>
              <a:srgbClr val="00990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77839" name="Line 20"/>
          <p:cNvSpPr>
            <a:spLocks noChangeShapeType="1"/>
          </p:cNvSpPr>
          <p:nvPr/>
        </p:nvSpPr>
        <p:spPr bwMode="auto">
          <a:xfrm flipH="1" flipV="1">
            <a:off x="4551363" y="3741738"/>
            <a:ext cx="652462" cy="454025"/>
          </a:xfrm>
          <a:prstGeom prst="line">
            <a:avLst/>
          </a:prstGeom>
          <a:noFill/>
          <a:ln w="28575">
            <a:solidFill>
              <a:srgbClr val="368AD6"/>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77840" name="Line 21"/>
          <p:cNvSpPr>
            <a:spLocks noChangeShapeType="1"/>
          </p:cNvSpPr>
          <p:nvPr/>
        </p:nvSpPr>
        <p:spPr bwMode="auto">
          <a:xfrm rot="-5400000">
            <a:off x="5165725" y="1176338"/>
            <a:ext cx="155575" cy="730250"/>
          </a:xfrm>
          <a:prstGeom prst="line">
            <a:avLst/>
          </a:prstGeom>
          <a:noFill/>
          <a:ln w="28575">
            <a:solidFill>
              <a:srgbClr val="368AD6"/>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77841" name="Line 22"/>
          <p:cNvSpPr>
            <a:spLocks noChangeShapeType="1"/>
          </p:cNvSpPr>
          <p:nvPr/>
        </p:nvSpPr>
        <p:spPr bwMode="auto">
          <a:xfrm>
            <a:off x="5543550" y="2884488"/>
            <a:ext cx="461963" cy="673100"/>
          </a:xfrm>
          <a:prstGeom prst="line">
            <a:avLst/>
          </a:prstGeom>
          <a:noFill/>
          <a:ln w="28575">
            <a:solidFill>
              <a:schemeClr val="tx2">
                <a:lumMod val="60000"/>
                <a:lumOff val="40000"/>
              </a:schemeClr>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77842" name="Line 23"/>
          <p:cNvSpPr>
            <a:spLocks noChangeShapeType="1"/>
          </p:cNvSpPr>
          <p:nvPr/>
        </p:nvSpPr>
        <p:spPr bwMode="auto">
          <a:xfrm flipV="1">
            <a:off x="2382838" y="3055938"/>
            <a:ext cx="792162" cy="0"/>
          </a:xfrm>
          <a:prstGeom prst="line">
            <a:avLst/>
          </a:prstGeom>
          <a:noFill/>
          <a:ln w="28575">
            <a:solidFill>
              <a:srgbClr val="368AD6"/>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77843" name="Line 24"/>
          <p:cNvSpPr>
            <a:spLocks noChangeShapeType="1"/>
          </p:cNvSpPr>
          <p:nvPr/>
        </p:nvSpPr>
        <p:spPr bwMode="auto">
          <a:xfrm rot="5400000" flipH="1">
            <a:off x="3313113" y="1539875"/>
            <a:ext cx="515938" cy="509587"/>
          </a:xfrm>
          <a:prstGeom prst="line">
            <a:avLst/>
          </a:prstGeom>
          <a:noFill/>
          <a:ln w="28575">
            <a:solidFill>
              <a:srgbClr val="368AD6"/>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77844" name="Text Box 25"/>
          <p:cNvSpPr txBox="1">
            <a:spLocks noChangeArrowheads="1"/>
          </p:cNvSpPr>
          <p:nvPr/>
        </p:nvSpPr>
        <p:spPr bwMode="auto">
          <a:xfrm>
            <a:off x="1714500" y="2860675"/>
            <a:ext cx="442750"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b="1" dirty="0">
                <a:latin typeface="Times New Roman" panose="02020603050405020304" pitchFamily="18" charset="0"/>
                <a:ea typeface="微软雅黑 Light" panose="020B0502040204020203" pitchFamily="34" charset="-122"/>
              </a:rPr>
              <a:t>H</a:t>
            </a:r>
            <a:r>
              <a:rPr kumimoji="1" lang="en-US" altLang="zh-CN" b="1" baseline="-25000" dirty="0">
                <a:latin typeface="Times New Roman" panose="02020603050405020304" pitchFamily="18" charset="0"/>
                <a:ea typeface="微软雅黑 Light" panose="020B0502040204020203" pitchFamily="34" charset="-122"/>
              </a:rPr>
              <a:t>1</a:t>
            </a:r>
            <a:endParaRPr kumimoji="1" lang="en-US" altLang="zh-CN" b="1" dirty="0">
              <a:latin typeface="Times New Roman" panose="02020603050405020304" pitchFamily="18" charset="0"/>
              <a:ea typeface="微软雅黑 Light" panose="020B0502040204020203" pitchFamily="34" charset="-122"/>
            </a:endParaRPr>
          </a:p>
        </p:txBody>
      </p:sp>
      <p:sp>
        <p:nvSpPr>
          <p:cNvPr id="77845" name="Oval 26"/>
          <p:cNvSpPr>
            <a:spLocks noChangeArrowheads="1"/>
          </p:cNvSpPr>
          <p:nvPr/>
        </p:nvSpPr>
        <p:spPr bwMode="auto">
          <a:xfrm>
            <a:off x="3114675" y="2878138"/>
            <a:ext cx="404813" cy="374650"/>
          </a:xfrm>
          <a:prstGeom prst="ellipse">
            <a:avLst/>
          </a:prstGeom>
          <a:solidFill>
            <a:srgbClr val="66FF33"/>
          </a:solidFill>
          <a:ln w="28575">
            <a:solidFill>
              <a:srgbClr val="339933"/>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2000" b="1" dirty="0">
                <a:solidFill>
                  <a:srgbClr val="000099"/>
                </a:solidFill>
                <a:latin typeface="Times New Roman" panose="02020603050405020304" pitchFamily="18" charset="0"/>
                <a:ea typeface="微软雅黑 Light" panose="020B0502040204020203" pitchFamily="34" charset="-122"/>
              </a:rPr>
              <a:t>A</a:t>
            </a:r>
          </a:p>
        </p:txBody>
      </p:sp>
      <p:sp>
        <p:nvSpPr>
          <p:cNvPr id="77846" name="Line 27"/>
          <p:cNvSpPr>
            <a:spLocks noChangeShapeType="1"/>
          </p:cNvSpPr>
          <p:nvPr/>
        </p:nvSpPr>
        <p:spPr bwMode="auto">
          <a:xfrm flipV="1">
            <a:off x="5543550" y="2233613"/>
            <a:ext cx="993775" cy="528637"/>
          </a:xfrm>
          <a:prstGeom prst="line">
            <a:avLst/>
          </a:prstGeom>
          <a:noFill/>
          <a:ln w="28575">
            <a:solidFill>
              <a:srgbClr val="368AD6"/>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77847" name="Oval 35"/>
          <p:cNvSpPr>
            <a:spLocks noChangeArrowheads="1"/>
          </p:cNvSpPr>
          <p:nvPr/>
        </p:nvSpPr>
        <p:spPr bwMode="auto">
          <a:xfrm>
            <a:off x="3687763" y="1973263"/>
            <a:ext cx="381000" cy="352425"/>
          </a:xfrm>
          <a:prstGeom prst="ellipse">
            <a:avLst/>
          </a:prstGeom>
          <a:solidFill>
            <a:srgbClr val="66FF33"/>
          </a:solidFill>
          <a:ln w="28575">
            <a:solidFill>
              <a:srgbClr val="339933"/>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2000" b="1" dirty="0">
                <a:solidFill>
                  <a:srgbClr val="000099"/>
                </a:solidFill>
                <a:latin typeface="Times New Roman" panose="02020603050405020304" pitchFamily="18" charset="0"/>
                <a:ea typeface="微软雅黑 Light" panose="020B0502040204020203" pitchFamily="34" charset="-122"/>
              </a:rPr>
              <a:t>B</a:t>
            </a:r>
          </a:p>
        </p:txBody>
      </p:sp>
      <p:sp>
        <p:nvSpPr>
          <p:cNvPr id="77848" name="Oval 36"/>
          <p:cNvSpPr>
            <a:spLocks noChangeArrowheads="1"/>
          </p:cNvSpPr>
          <p:nvPr/>
        </p:nvSpPr>
        <p:spPr bwMode="auto">
          <a:xfrm>
            <a:off x="4713288" y="1565275"/>
            <a:ext cx="373062" cy="344488"/>
          </a:xfrm>
          <a:prstGeom prst="ellipse">
            <a:avLst/>
          </a:prstGeom>
          <a:solidFill>
            <a:srgbClr val="66FF33"/>
          </a:solidFill>
          <a:ln w="28575">
            <a:solidFill>
              <a:srgbClr val="339933"/>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2000" b="1" dirty="0">
                <a:solidFill>
                  <a:srgbClr val="000099"/>
                </a:solidFill>
                <a:latin typeface="Times New Roman" panose="02020603050405020304" pitchFamily="18" charset="0"/>
                <a:ea typeface="微软雅黑 Light" panose="020B0502040204020203" pitchFamily="34" charset="-122"/>
              </a:rPr>
              <a:t>D</a:t>
            </a:r>
          </a:p>
        </p:txBody>
      </p:sp>
      <p:sp>
        <p:nvSpPr>
          <p:cNvPr id="77849" name="Oval 37"/>
          <p:cNvSpPr>
            <a:spLocks noChangeArrowheads="1"/>
          </p:cNvSpPr>
          <p:nvPr/>
        </p:nvSpPr>
        <p:spPr bwMode="auto">
          <a:xfrm>
            <a:off x="5292725" y="2657475"/>
            <a:ext cx="414338" cy="384175"/>
          </a:xfrm>
          <a:prstGeom prst="ellipse">
            <a:avLst/>
          </a:prstGeom>
          <a:solidFill>
            <a:srgbClr val="66FF33"/>
          </a:solidFill>
          <a:ln w="28575">
            <a:solidFill>
              <a:srgbClr val="339933"/>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2000" b="1" dirty="0">
                <a:solidFill>
                  <a:srgbClr val="000099"/>
                </a:solidFill>
                <a:latin typeface="Times New Roman" panose="02020603050405020304" pitchFamily="18" charset="0"/>
                <a:ea typeface="微软雅黑 Light" panose="020B0502040204020203" pitchFamily="34" charset="-122"/>
              </a:rPr>
              <a:t>E</a:t>
            </a:r>
          </a:p>
        </p:txBody>
      </p:sp>
      <p:sp>
        <p:nvSpPr>
          <p:cNvPr id="77850" name="Oval 38"/>
          <p:cNvSpPr>
            <a:spLocks noChangeArrowheads="1"/>
          </p:cNvSpPr>
          <p:nvPr/>
        </p:nvSpPr>
        <p:spPr bwMode="auto">
          <a:xfrm>
            <a:off x="4386263" y="3532188"/>
            <a:ext cx="393700" cy="365125"/>
          </a:xfrm>
          <a:prstGeom prst="ellipse">
            <a:avLst/>
          </a:prstGeom>
          <a:solidFill>
            <a:srgbClr val="66FF33"/>
          </a:solidFill>
          <a:ln w="28575">
            <a:solidFill>
              <a:srgbClr val="339933"/>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2000" b="1" dirty="0">
                <a:solidFill>
                  <a:srgbClr val="000099"/>
                </a:solidFill>
                <a:latin typeface="Times New Roman" panose="02020603050405020304" pitchFamily="18" charset="0"/>
                <a:ea typeface="微软雅黑 Light" panose="020B0502040204020203" pitchFamily="34" charset="-122"/>
              </a:rPr>
              <a:t>C</a:t>
            </a:r>
          </a:p>
        </p:txBody>
      </p:sp>
      <p:sp>
        <p:nvSpPr>
          <p:cNvPr id="77851" name="Text Box 39"/>
          <p:cNvSpPr txBox="1">
            <a:spLocks noChangeArrowheads="1"/>
          </p:cNvSpPr>
          <p:nvPr/>
        </p:nvSpPr>
        <p:spPr bwMode="auto">
          <a:xfrm>
            <a:off x="6267450" y="3432175"/>
            <a:ext cx="442750"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b="1" dirty="0">
                <a:latin typeface="Times New Roman" panose="02020603050405020304" pitchFamily="18" charset="0"/>
                <a:ea typeface="微软雅黑 Light" panose="020B0502040204020203" pitchFamily="34" charset="-122"/>
              </a:rPr>
              <a:t>H</a:t>
            </a:r>
            <a:r>
              <a:rPr kumimoji="1" lang="en-US" altLang="zh-CN" b="1" baseline="-25000" dirty="0">
                <a:latin typeface="Times New Roman" panose="02020603050405020304" pitchFamily="18" charset="0"/>
                <a:ea typeface="微软雅黑 Light" panose="020B0502040204020203" pitchFamily="34" charset="-122"/>
              </a:rPr>
              <a:t>5</a:t>
            </a:r>
            <a:endParaRPr kumimoji="1" lang="en-US" altLang="zh-CN" b="1" dirty="0">
              <a:latin typeface="Times New Roman" panose="02020603050405020304" pitchFamily="18" charset="0"/>
              <a:ea typeface="微软雅黑 Light" panose="020B0502040204020203" pitchFamily="34" charset="-122"/>
            </a:endParaRPr>
          </a:p>
        </p:txBody>
      </p:sp>
      <p:sp>
        <p:nvSpPr>
          <p:cNvPr id="77852" name="Text Box 40"/>
          <p:cNvSpPr txBox="1">
            <a:spLocks noChangeArrowheads="1"/>
          </p:cNvSpPr>
          <p:nvPr/>
        </p:nvSpPr>
        <p:spPr bwMode="auto">
          <a:xfrm>
            <a:off x="6788150" y="2039938"/>
            <a:ext cx="442750"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b="1" dirty="0">
                <a:latin typeface="Times New Roman" panose="02020603050405020304" pitchFamily="18" charset="0"/>
                <a:ea typeface="微软雅黑 Light" panose="020B0502040204020203" pitchFamily="34" charset="-122"/>
              </a:rPr>
              <a:t>H</a:t>
            </a:r>
            <a:r>
              <a:rPr kumimoji="1" lang="en-US" altLang="zh-CN" b="1" baseline="-25000" dirty="0">
                <a:latin typeface="Times New Roman" panose="02020603050405020304" pitchFamily="18" charset="0"/>
                <a:ea typeface="微软雅黑 Light" panose="020B0502040204020203" pitchFamily="34" charset="-122"/>
              </a:rPr>
              <a:t>6</a:t>
            </a:r>
            <a:endParaRPr kumimoji="1" lang="en-US" altLang="zh-CN" b="1" dirty="0">
              <a:latin typeface="Times New Roman" panose="02020603050405020304" pitchFamily="18" charset="0"/>
              <a:ea typeface="微软雅黑 Light" panose="020B0502040204020203" pitchFamily="34" charset="-122"/>
            </a:endParaRPr>
          </a:p>
        </p:txBody>
      </p:sp>
      <p:sp>
        <p:nvSpPr>
          <p:cNvPr id="77853" name="Text Box 42"/>
          <p:cNvSpPr txBox="1">
            <a:spLocks noChangeArrowheads="1"/>
          </p:cNvSpPr>
          <p:nvPr/>
        </p:nvSpPr>
        <p:spPr bwMode="auto">
          <a:xfrm>
            <a:off x="3360738" y="1277938"/>
            <a:ext cx="442750"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b="1" dirty="0">
                <a:latin typeface="Times New Roman" panose="02020603050405020304" pitchFamily="18" charset="0"/>
                <a:ea typeface="微软雅黑 Light" panose="020B0502040204020203" pitchFamily="34" charset="-122"/>
              </a:rPr>
              <a:t>H</a:t>
            </a:r>
            <a:r>
              <a:rPr kumimoji="1" lang="en-US" altLang="zh-CN" b="1" baseline="-25000" dirty="0">
                <a:latin typeface="Times New Roman" panose="02020603050405020304" pitchFamily="18" charset="0"/>
                <a:ea typeface="微软雅黑 Light" panose="020B0502040204020203" pitchFamily="34" charset="-122"/>
              </a:rPr>
              <a:t>2</a:t>
            </a:r>
            <a:endParaRPr kumimoji="1" lang="en-US" altLang="zh-CN" b="1" dirty="0">
              <a:latin typeface="Times New Roman" panose="02020603050405020304" pitchFamily="18" charset="0"/>
              <a:ea typeface="微软雅黑 Light" panose="020B0502040204020203" pitchFamily="34" charset="-122"/>
            </a:endParaRPr>
          </a:p>
        </p:txBody>
      </p:sp>
      <p:sp>
        <p:nvSpPr>
          <p:cNvPr id="77854" name="Text Box 43"/>
          <p:cNvSpPr txBox="1">
            <a:spLocks noChangeArrowheads="1"/>
          </p:cNvSpPr>
          <p:nvPr/>
        </p:nvSpPr>
        <p:spPr bwMode="auto">
          <a:xfrm>
            <a:off x="5367338" y="3902075"/>
            <a:ext cx="442750"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b="1" dirty="0">
                <a:latin typeface="Times New Roman" panose="02020603050405020304" pitchFamily="18" charset="0"/>
                <a:ea typeface="微软雅黑 Light" panose="020B0502040204020203" pitchFamily="34" charset="-122"/>
              </a:rPr>
              <a:t>H</a:t>
            </a:r>
            <a:r>
              <a:rPr kumimoji="1" lang="en-US" altLang="zh-CN" b="1" baseline="-25000" dirty="0">
                <a:latin typeface="Times New Roman" panose="02020603050405020304" pitchFamily="18" charset="0"/>
                <a:ea typeface="微软雅黑 Light" panose="020B0502040204020203" pitchFamily="34" charset="-122"/>
              </a:rPr>
              <a:t>3</a:t>
            </a:r>
            <a:endParaRPr kumimoji="1" lang="en-US" altLang="zh-CN" b="1" dirty="0">
              <a:latin typeface="Times New Roman" panose="02020603050405020304" pitchFamily="18" charset="0"/>
              <a:ea typeface="微软雅黑 Light" panose="020B0502040204020203" pitchFamily="34" charset="-122"/>
            </a:endParaRPr>
          </a:p>
        </p:txBody>
      </p:sp>
      <p:sp>
        <p:nvSpPr>
          <p:cNvPr id="77855" name="Text Box 55"/>
          <p:cNvSpPr txBox="1">
            <a:spLocks noChangeArrowheads="1"/>
          </p:cNvSpPr>
          <p:nvPr/>
        </p:nvSpPr>
        <p:spPr bwMode="auto">
          <a:xfrm>
            <a:off x="2247900" y="2038350"/>
            <a:ext cx="723900"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400" b="1">
                <a:solidFill>
                  <a:srgbClr val="0000FF"/>
                </a:solidFill>
                <a:latin typeface="微软雅黑" panose="020B0503020204020204" pitchFamily="34" charset="-122"/>
                <a:ea typeface="微软雅黑" panose="020B0503020204020204" pitchFamily="34" charset="-122"/>
              </a:rPr>
              <a:t>路由器</a:t>
            </a:r>
          </a:p>
        </p:txBody>
      </p:sp>
      <p:sp>
        <p:nvSpPr>
          <p:cNvPr id="77856" name="Line 57"/>
          <p:cNvSpPr>
            <a:spLocks noChangeShapeType="1"/>
          </p:cNvSpPr>
          <p:nvPr/>
        </p:nvSpPr>
        <p:spPr bwMode="auto">
          <a:xfrm flipV="1">
            <a:off x="2971800" y="2058988"/>
            <a:ext cx="738188" cy="120650"/>
          </a:xfrm>
          <a:prstGeom prst="line">
            <a:avLst/>
          </a:prstGeom>
          <a:noFill/>
          <a:ln w="28575">
            <a:solidFill>
              <a:srgbClr val="333399"/>
            </a:solidFill>
            <a:rou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pic>
        <p:nvPicPr>
          <p:cNvPr id="77857" name="Picture 246" descr="jisuanj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003800" y="3905250"/>
            <a:ext cx="433388" cy="431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7858" name="Line 58"/>
          <p:cNvSpPr>
            <a:spLocks noChangeShapeType="1"/>
          </p:cNvSpPr>
          <p:nvPr/>
        </p:nvSpPr>
        <p:spPr bwMode="auto">
          <a:xfrm>
            <a:off x="1979613" y="2513013"/>
            <a:ext cx="260350" cy="384175"/>
          </a:xfrm>
          <a:prstGeom prst="line">
            <a:avLst/>
          </a:prstGeom>
          <a:noFill/>
          <a:ln w="28575">
            <a:solidFill>
              <a:srgbClr val="333399"/>
            </a:solidFill>
            <a:rou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103" name="Text Box 64"/>
          <p:cNvSpPr txBox="1">
            <a:spLocks noChangeArrowheads="1"/>
          </p:cNvSpPr>
          <p:nvPr/>
        </p:nvSpPr>
        <p:spPr bwMode="auto">
          <a:xfrm>
            <a:off x="6121949" y="3077893"/>
            <a:ext cx="2262188" cy="338137"/>
          </a:xfrm>
          <a:prstGeom prst="rect">
            <a:avLst/>
          </a:prstGeom>
          <a:solidFill>
            <a:srgbClr val="CC00CC"/>
          </a:solidFill>
          <a:ln>
            <a:noFill/>
          </a:ln>
          <a:extLst>
            <a:ext uri="{91240B29-F687-4F45-9708-019B960494DF}">
              <a14:hiddenLine xmlns:a14="http://schemas.microsoft.com/office/drawing/2010/main" w="76200">
                <a:solidFill>
                  <a:srgbClr val="000000"/>
                </a:solidFill>
                <a:miter lim="800000"/>
                <a:headEnd/>
                <a:tailEnd/>
              </a14:hiddenLine>
            </a:ext>
          </a:extLst>
        </p:spPr>
        <p:txBody>
          <a:bodyPr>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zh-CN" altLang="en-US" sz="1600" b="1" dirty="0">
                <a:solidFill>
                  <a:schemeClr val="bg1"/>
                </a:solidFill>
                <a:latin typeface="微软雅黑" panose="020B0503020204020204" pitchFamily="34" charset="-122"/>
                <a:ea typeface="微软雅黑" panose="020B0503020204020204" pitchFamily="34" charset="-122"/>
              </a:rPr>
              <a:t>最后到达目的主机 </a:t>
            </a:r>
            <a:r>
              <a:rPr kumimoji="1" lang="en-US" altLang="zh-CN" sz="1600" b="1" dirty="0">
                <a:solidFill>
                  <a:schemeClr val="bg1"/>
                </a:solidFill>
                <a:latin typeface="微软雅黑" panose="020B0503020204020204" pitchFamily="34" charset="-122"/>
                <a:ea typeface="微软雅黑" panose="020B0503020204020204" pitchFamily="34" charset="-122"/>
              </a:rPr>
              <a:t>H</a:t>
            </a:r>
            <a:r>
              <a:rPr kumimoji="1" lang="en-US" altLang="zh-CN" sz="1600" b="1" baseline="-25000" dirty="0">
                <a:solidFill>
                  <a:schemeClr val="bg1"/>
                </a:solidFill>
                <a:latin typeface="微软雅黑" panose="020B0503020204020204" pitchFamily="34" charset="-122"/>
                <a:ea typeface="微软雅黑" panose="020B0503020204020204" pitchFamily="34" charset="-122"/>
              </a:rPr>
              <a:t>5</a:t>
            </a:r>
          </a:p>
        </p:txBody>
      </p:sp>
      <p:sp>
        <p:nvSpPr>
          <p:cNvPr id="77860" name="Text Box 204"/>
          <p:cNvSpPr txBox="1">
            <a:spLocks noChangeArrowheads="1"/>
          </p:cNvSpPr>
          <p:nvPr/>
        </p:nvSpPr>
        <p:spPr bwMode="auto">
          <a:xfrm>
            <a:off x="4316413" y="2741613"/>
            <a:ext cx="723900"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400" b="1">
                <a:solidFill>
                  <a:srgbClr val="0000FF"/>
                </a:solidFill>
                <a:latin typeface="微软雅黑" panose="020B0503020204020204" pitchFamily="34" charset="-122"/>
                <a:ea typeface="微软雅黑" panose="020B0503020204020204" pitchFamily="34" charset="-122"/>
              </a:rPr>
              <a:t>互联网</a:t>
            </a:r>
          </a:p>
        </p:txBody>
      </p:sp>
      <p:sp>
        <p:nvSpPr>
          <p:cNvPr id="77861" name="Text Box 98"/>
          <p:cNvSpPr txBox="1">
            <a:spLocks noChangeArrowheads="1"/>
          </p:cNvSpPr>
          <p:nvPr/>
        </p:nvSpPr>
        <p:spPr bwMode="auto">
          <a:xfrm>
            <a:off x="705610" y="1494832"/>
            <a:ext cx="1899879" cy="338554"/>
          </a:xfrm>
          <a:prstGeom prst="rect">
            <a:avLst/>
          </a:prstGeom>
          <a:solidFill>
            <a:schemeClr val="bg1"/>
          </a:solidFill>
          <a:ln w="19050">
            <a:solidFill>
              <a:srgbClr val="368AD6"/>
            </a:solidFill>
            <a:miter lim="800000"/>
          </a:ln>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en-US" altLang="zh-CN" sz="1600" b="1" dirty="0">
                <a:solidFill>
                  <a:srgbClr val="C00000"/>
                </a:solidFill>
                <a:latin typeface="微软雅黑" panose="020B0503020204020204" pitchFamily="34" charset="-122"/>
                <a:ea typeface="微软雅黑" panose="020B0503020204020204" pitchFamily="34" charset="-122"/>
              </a:rPr>
              <a:t>H</a:t>
            </a:r>
            <a:r>
              <a:rPr kumimoji="1" lang="en-US" altLang="zh-CN" sz="1600" b="1" baseline="-25000" dirty="0">
                <a:solidFill>
                  <a:srgbClr val="C00000"/>
                </a:solidFill>
                <a:latin typeface="微软雅黑" panose="020B0503020204020204" pitchFamily="34" charset="-122"/>
                <a:ea typeface="微软雅黑" panose="020B0503020204020204" pitchFamily="34" charset="-122"/>
              </a:rPr>
              <a:t>1</a:t>
            </a:r>
            <a:r>
              <a:rPr kumimoji="1" lang="en-US" altLang="zh-CN" sz="1600" b="1" dirty="0">
                <a:solidFill>
                  <a:srgbClr val="C00000"/>
                </a:solidFill>
                <a:latin typeface="微软雅黑" panose="020B0503020204020204" pitchFamily="34" charset="-122"/>
                <a:ea typeface="微软雅黑" panose="020B0503020204020204" pitchFamily="34" charset="-122"/>
              </a:rPr>
              <a:t> </a:t>
            </a:r>
            <a:r>
              <a:rPr kumimoji="1" lang="zh-CN" altLang="en-US" sz="1600" b="1" dirty="0">
                <a:solidFill>
                  <a:srgbClr val="C00000"/>
                </a:solidFill>
                <a:latin typeface="微软雅黑" panose="020B0503020204020204" pitchFamily="34" charset="-122"/>
                <a:ea typeface="微软雅黑" panose="020B0503020204020204" pitchFamily="34" charset="-122"/>
              </a:rPr>
              <a:t>向 </a:t>
            </a:r>
            <a:r>
              <a:rPr kumimoji="1" lang="en-US" altLang="zh-CN" sz="1600" b="1" dirty="0">
                <a:solidFill>
                  <a:srgbClr val="C00000"/>
                </a:solidFill>
                <a:latin typeface="微软雅黑" panose="020B0503020204020204" pitchFamily="34" charset="-122"/>
                <a:ea typeface="微软雅黑" panose="020B0503020204020204" pitchFamily="34" charset="-122"/>
              </a:rPr>
              <a:t>H</a:t>
            </a:r>
            <a:r>
              <a:rPr kumimoji="1" lang="en-US" altLang="zh-CN" sz="1600" b="1" baseline="-25000" dirty="0">
                <a:solidFill>
                  <a:srgbClr val="C00000"/>
                </a:solidFill>
                <a:latin typeface="微软雅黑" panose="020B0503020204020204" pitchFamily="34" charset="-122"/>
                <a:ea typeface="微软雅黑" panose="020B0503020204020204" pitchFamily="34" charset="-122"/>
              </a:rPr>
              <a:t>5</a:t>
            </a:r>
            <a:r>
              <a:rPr kumimoji="1" lang="en-US" altLang="zh-CN" sz="1600" b="1" dirty="0">
                <a:solidFill>
                  <a:srgbClr val="C00000"/>
                </a:solidFill>
                <a:latin typeface="微软雅黑" panose="020B0503020204020204" pitchFamily="34" charset="-122"/>
                <a:ea typeface="微软雅黑" panose="020B0503020204020204" pitchFamily="34" charset="-122"/>
              </a:rPr>
              <a:t> </a:t>
            </a:r>
            <a:r>
              <a:rPr kumimoji="1" lang="zh-CN" altLang="en-US" sz="1600" b="1" dirty="0">
                <a:solidFill>
                  <a:srgbClr val="C00000"/>
                </a:solidFill>
                <a:latin typeface="微软雅黑" panose="020B0503020204020204" pitchFamily="34" charset="-122"/>
                <a:ea typeface="微软雅黑" panose="020B0503020204020204" pitchFamily="34" charset="-122"/>
              </a:rPr>
              <a:t>发送分组</a:t>
            </a:r>
          </a:p>
        </p:txBody>
      </p:sp>
      <p:sp>
        <p:nvSpPr>
          <p:cNvPr id="77862" name="Text Box 42"/>
          <p:cNvSpPr txBox="1">
            <a:spLocks noChangeArrowheads="1"/>
          </p:cNvSpPr>
          <p:nvPr/>
        </p:nvSpPr>
        <p:spPr bwMode="auto">
          <a:xfrm>
            <a:off x="5810250" y="1252538"/>
            <a:ext cx="442750"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b="1" dirty="0">
                <a:latin typeface="Times New Roman" panose="02020603050405020304" pitchFamily="18" charset="0"/>
                <a:ea typeface="微软雅黑 Light" panose="020B0502040204020203" pitchFamily="34" charset="-122"/>
              </a:rPr>
              <a:t>H</a:t>
            </a:r>
            <a:r>
              <a:rPr kumimoji="1" lang="en-US" altLang="zh-CN" b="1" baseline="-25000" dirty="0">
                <a:latin typeface="Times New Roman" panose="02020603050405020304" pitchFamily="18" charset="0"/>
                <a:ea typeface="微软雅黑 Light" panose="020B0502040204020203" pitchFamily="34" charset="-122"/>
              </a:rPr>
              <a:t>4</a:t>
            </a:r>
            <a:endParaRPr kumimoji="1" lang="en-US" altLang="zh-CN" b="1" dirty="0">
              <a:latin typeface="Times New Roman" panose="02020603050405020304" pitchFamily="18" charset="0"/>
              <a:ea typeface="微软雅黑 Light" panose="020B0502040204020203" pitchFamily="34" charset="-122"/>
            </a:endParaRPr>
          </a:p>
        </p:txBody>
      </p:sp>
      <p:pic>
        <p:nvPicPr>
          <p:cNvPr id="77863" name="Picture 246" descr="jisuanj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443663" y="2032000"/>
            <a:ext cx="433387" cy="433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77864" name="Picture 246" descr="jisuanj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95975" y="3454400"/>
            <a:ext cx="431800" cy="433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77865" name="Picture 246" descr="jisuanj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028825" y="2895600"/>
            <a:ext cx="433388" cy="433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7" name="Rectangle 46"/>
          <p:cNvSpPr>
            <a:spLocks noChangeArrowheads="1"/>
          </p:cNvSpPr>
          <p:nvPr/>
        </p:nvSpPr>
        <p:spPr bwMode="auto">
          <a:xfrm>
            <a:off x="2122488" y="2957513"/>
            <a:ext cx="233362" cy="214312"/>
          </a:xfrm>
          <a:prstGeom prst="rect">
            <a:avLst/>
          </a:prstGeom>
          <a:solidFill>
            <a:srgbClr val="FF0000"/>
          </a:solidFill>
          <a:ln w="9525">
            <a:solidFill>
              <a:srgbClr val="FF0000"/>
            </a:solidFill>
            <a:miter lim="800000"/>
          </a:ln>
        </p:spPr>
        <p:txBody>
          <a:bodyPr wrap="none" anchor="ctr"/>
          <a:lstStyle/>
          <a:p>
            <a:endParaRPr lang="zh-CN" altLang="en-US" b="1" dirty="0">
              <a:solidFill>
                <a:srgbClr val="000099"/>
              </a:solidFill>
              <a:latin typeface="Times New Roman" panose="02020603050405020304" pitchFamily="18" charset="0"/>
              <a:ea typeface="微软雅黑 Light" panose="020B0502040204020203" pitchFamily="34" charset="-122"/>
            </a:endParaRPr>
          </a:p>
        </p:txBody>
      </p:sp>
      <p:pic>
        <p:nvPicPr>
          <p:cNvPr id="77867" name="Picture 246" descr="jisuanj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000375" y="1284288"/>
            <a:ext cx="431800" cy="4333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77868" name="Picture 246" descr="jisuanj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435600" y="1266825"/>
            <a:ext cx="433388" cy="431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5" name="Text Box 54"/>
          <p:cNvSpPr txBox="1">
            <a:spLocks noChangeArrowheads="1"/>
          </p:cNvSpPr>
          <p:nvPr/>
        </p:nvSpPr>
        <p:spPr bwMode="auto">
          <a:xfrm>
            <a:off x="3504033" y="1957476"/>
            <a:ext cx="2124075" cy="1077218"/>
          </a:xfrm>
          <a:prstGeom prst="rect">
            <a:avLst/>
          </a:prstGeom>
          <a:solidFill>
            <a:srgbClr val="CC00CC"/>
          </a:solidFill>
          <a:ln>
            <a:noFill/>
          </a:ln>
          <a:extLst>
            <a:ext uri="{91240B29-F687-4F45-9708-019B960494DF}">
              <a14:hiddenLine xmlns:a14="http://schemas.microsoft.com/office/drawing/2010/main" w="76200">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zh-CN" altLang="en-US" sz="1600" b="1" dirty="0">
                <a:solidFill>
                  <a:schemeClr val="bg1"/>
                </a:solidFill>
                <a:latin typeface="微软雅黑" panose="020B0503020204020204" pitchFamily="34" charset="-122"/>
                <a:ea typeface="微软雅黑" panose="020B0503020204020204" pitchFamily="34" charset="-122"/>
              </a:rPr>
              <a:t>在路由器 </a:t>
            </a:r>
            <a:r>
              <a:rPr kumimoji="1" lang="en-US" altLang="zh-CN" sz="1600" b="1" dirty="0">
                <a:solidFill>
                  <a:schemeClr val="bg1"/>
                </a:solidFill>
                <a:latin typeface="微软雅黑" panose="020B0503020204020204" pitchFamily="34" charset="-122"/>
                <a:ea typeface="微软雅黑" panose="020B0503020204020204" pitchFamily="34" charset="-122"/>
              </a:rPr>
              <a:t>A </a:t>
            </a:r>
            <a:r>
              <a:rPr kumimoji="1" lang="zh-CN" altLang="en-US" sz="1600" b="1" dirty="0">
                <a:solidFill>
                  <a:schemeClr val="bg1"/>
                </a:solidFill>
                <a:latin typeface="微软雅黑" panose="020B0503020204020204" pitchFamily="34" charset="-122"/>
                <a:ea typeface="微软雅黑" panose="020B0503020204020204" pitchFamily="34" charset="-122"/>
              </a:rPr>
              <a:t>暂存</a:t>
            </a:r>
          </a:p>
          <a:p>
            <a:pPr algn="ctr"/>
            <a:r>
              <a:rPr kumimoji="1" lang="zh-CN" altLang="en-US" sz="1600" b="1" dirty="0">
                <a:solidFill>
                  <a:schemeClr val="bg1"/>
                </a:solidFill>
                <a:latin typeface="微软雅黑" panose="020B0503020204020204" pitchFamily="34" charset="-122"/>
                <a:ea typeface="微软雅黑" panose="020B0503020204020204" pitchFamily="34" charset="-122"/>
              </a:rPr>
              <a:t>查找转发表</a:t>
            </a:r>
          </a:p>
          <a:p>
            <a:pPr algn="ctr"/>
            <a:r>
              <a:rPr kumimoji="1" lang="zh-CN" altLang="en-US" sz="1600" b="1" dirty="0">
                <a:solidFill>
                  <a:schemeClr val="bg1"/>
                </a:solidFill>
                <a:latin typeface="微软雅黑" panose="020B0503020204020204" pitchFamily="34" charset="-122"/>
                <a:ea typeface="微软雅黑" panose="020B0503020204020204" pitchFamily="34" charset="-122"/>
              </a:rPr>
              <a:t>找到转发的端口</a:t>
            </a:r>
            <a:endParaRPr kumimoji="1" lang="en-US" altLang="zh-CN" sz="1600" b="1" dirty="0">
              <a:solidFill>
                <a:schemeClr val="bg1"/>
              </a:solidFill>
              <a:latin typeface="微软雅黑" panose="020B0503020204020204" pitchFamily="34" charset="-122"/>
              <a:ea typeface="微软雅黑" panose="020B0503020204020204" pitchFamily="34" charset="-122"/>
            </a:endParaRPr>
          </a:p>
          <a:p>
            <a:pPr algn="ctr"/>
            <a:r>
              <a:rPr kumimoji="1" lang="zh-CN" altLang="en-US" sz="1600" b="1" dirty="0">
                <a:solidFill>
                  <a:schemeClr val="bg1"/>
                </a:solidFill>
                <a:latin typeface="微软雅黑" panose="020B0503020204020204" pitchFamily="34" charset="-122"/>
                <a:ea typeface="微软雅黑" panose="020B0503020204020204" pitchFamily="34" charset="-122"/>
              </a:rPr>
              <a:t>转发</a:t>
            </a:r>
            <a:endParaRPr kumimoji="1" lang="en-US" altLang="zh-CN" sz="1600" b="1" dirty="0">
              <a:solidFill>
                <a:schemeClr val="bg1"/>
              </a:solidFill>
              <a:latin typeface="微软雅黑" panose="020B0503020204020204" pitchFamily="34" charset="-122"/>
              <a:ea typeface="微软雅黑" panose="020B0503020204020204" pitchFamily="34" charset="-122"/>
            </a:endParaRPr>
          </a:p>
        </p:txBody>
      </p:sp>
      <p:sp>
        <p:nvSpPr>
          <p:cNvPr id="117" name="Rectangle 46"/>
          <p:cNvSpPr>
            <a:spLocks noChangeArrowheads="1"/>
          </p:cNvSpPr>
          <p:nvPr/>
        </p:nvSpPr>
        <p:spPr bwMode="auto">
          <a:xfrm>
            <a:off x="3216275" y="2962275"/>
            <a:ext cx="233363" cy="214313"/>
          </a:xfrm>
          <a:prstGeom prst="rect">
            <a:avLst/>
          </a:prstGeom>
          <a:solidFill>
            <a:srgbClr val="FF0000"/>
          </a:solidFill>
          <a:ln w="9525">
            <a:solidFill>
              <a:srgbClr val="FF0000"/>
            </a:solidFill>
            <a:miter lim="800000"/>
          </a:ln>
        </p:spPr>
        <p:txBody>
          <a:bodyPr wrap="none" anchor="ctr"/>
          <a:lstStyle/>
          <a:p>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104" name="Text Box 60"/>
          <p:cNvSpPr txBox="1">
            <a:spLocks noChangeArrowheads="1"/>
          </p:cNvSpPr>
          <p:nvPr/>
        </p:nvSpPr>
        <p:spPr bwMode="auto">
          <a:xfrm flipH="1">
            <a:off x="3849004" y="2380172"/>
            <a:ext cx="1776413" cy="1077218"/>
          </a:xfrm>
          <a:prstGeom prst="rect">
            <a:avLst/>
          </a:prstGeom>
          <a:solidFill>
            <a:srgbClr val="CC00CC"/>
          </a:solidFill>
          <a:ln>
            <a:noFill/>
          </a:ln>
          <a:extLst>
            <a:ext uri="{91240B29-F687-4F45-9708-019B960494DF}">
              <a14:hiddenLine xmlns:a14="http://schemas.microsoft.com/office/drawing/2010/main" w="76200">
                <a:solidFill>
                  <a:srgbClr val="000000"/>
                </a:solidFill>
                <a:miter lim="800000"/>
                <a:headEnd/>
                <a:tailEnd/>
              </a14:hiddenLine>
            </a:ext>
          </a:extLst>
        </p:spPr>
        <p:txBody>
          <a:bodyPr>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zh-CN" altLang="en-US" sz="1600" b="1" dirty="0">
                <a:solidFill>
                  <a:schemeClr val="bg1"/>
                </a:solidFill>
                <a:latin typeface="微软雅黑" panose="020B0503020204020204" pitchFamily="34" charset="-122"/>
                <a:ea typeface="微软雅黑" panose="020B0503020204020204" pitchFamily="34" charset="-122"/>
              </a:rPr>
              <a:t>在路由器 </a:t>
            </a:r>
            <a:r>
              <a:rPr kumimoji="1" lang="en-US" altLang="zh-CN" sz="1600" b="1" dirty="0">
                <a:solidFill>
                  <a:schemeClr val="bg1"/>
                </a:solidFill>
                <a:latin typeface="微软雅黑" panose="020B0503020204020204" pitchFamily="34" charset="-122"/>
                <a:ea typeface="微软雅黑" panose="020B0503020204020204" pitchFamily="34" charset="-122"/>
              </a:rPr>
              <a:t>C </a:t>
            </a:r>
            <a:r>
              <a:rPr kumimoji="1" lang="zh-CN" altLang="en-US" sz="1600" b="1" dirty="0">
                <a:solidFill>
                  <a:schemeClr val="bg1"/>
                </a:solidFill>
                <a:latin typeface="微软雅黑" panose="020B0503020204020204" pitchFamily="34" charset="-122"/>
                <a:ea typeface="微软雅黑" panose="020B0503020204020204" pitchFamily="34" charset="-122"/>
              </a:rPr>
              <a:t>暂存</a:t>
            </a:r>
          </a:p>
          <a:p>
            <a:pPr algn="ctr"/>
            <a:r>
              <a:rPr kumimoji="1" lang="zh-CN" altLang="en-US" sz="1600" b="1" dirty="0">
                <a:solidFill>
                  <a:schemeClr val="bg1"/>
                </a:solidFill>
                <a:latin typeface="微软雅黑" panose="020B0503020204020204" pitchFamily="34" charset="-122"/>
                <a:ea typeface="微软雅黑" panose="020B0503020204020204" pitchFamily="34" charset="-122"/>
              </a:rPr>
              <a:t>查找转发表</a:t>
            </a:r>
          </a:p>
          <a:p>
            <a:pPr algn="ctr"/>
            <a:r>
              <a:rPr kumimoji="1" lang="zh-CN" altLang="en-US" sz="1600" b="1" dirty="0">
                <a:solidFill>
                  <a:schemeClr val="bg1"/>
                </a:solidFill>
                <a:latin typeface="微软雅黑" panose="020B0503020204020204" pitchFamily="34" charset="-122"/>
                <a:ea typeface="微软雅黑" panose="020B0503020204020204" pitchFamily="34" charset="-122"/>
              </a:rPr>
              <a:t>找到转发的端口</a:t>
            </a:r>
            <a:endParaRPr kumimoji="1" lang="en-US" altLang="zh-CN" sz="1600" b="1" dirty="0">
              <a:solidFill>
                <a:schemeClr val="bg1"/>
              </a:solidFill>
              <a:latin typeface="微软雅黑" panose="020B0503020204020204" pitchFamily="34" charset="-122"/>
              <a:ea typeface="微软雅黑" panose="020B0503020204020204" pitchFamily="34" charset="-122"/>
            </a:endParaRPr>
          </a:p>
          <a:p>
            <a:pPr algn="ctr"/>
            <a:r>
              <a:rPr kumimoji="1" lang="zh-CN" altLang="en-US" sz="1600" b="1" dirty="0">
                <a:solidFill>
                  <a:schemeClr val="bg1"/>
                </a:solidFill>
                <a:latin typeface="微软雅黑" panose="020B0503020204020204" pitchFamily="34" charset="-122"/>
                <a:ea typeface="微软雅黑" panose="020B0503020204020204" pitchFamily="34" charset="-122"/>
              </a:rPr>
              <a:t>转发</a:t>
            </a:r>
          </a:p>
        </p:txBody>
      </p:sp>
      <p:sp>
        <p:nvSpPr>
          <p:cNvPr id="118" name="Rectangle 46"/>
          <p:cNvSpPr>
            <a:spLocks noChangeArrowheads="1"/>
          </p:cNvSpPr>
          <p:nvPr/>
        </p:nvSpPr>
        <p:spPr bwMode="auto">
          <a:xfrm>
            <a:off x="4478338" y="3608388"/>
            <a:ext cx="233362" cy="215900"/>
          </a:xfrm>
          <a:prstGeom prst="rect">
            <a:avLst/>
          </a:prstGeom>
          <a:solidFill>
            <a:srgbClr val="FF0000"/>
          </a:solidFill>
          <a:ln w="9525">
            <a:solidFill>
              <a:srgbClr val="FF0000"/>
            </a:solidFill>
            <a:miter lim="800000"/>
          </a:ln>
        </p:spPr>
        <p:txBody>
          <a:bodyPr wrap="none" anchor="ctr"/>
          <a:lstStyle/>
          <a:p>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102" name="Text Box 62"/>
          <p:cNvSpPr txBox="1">
            <a:spLocks noChangeArrowheads="1"/>
          </p:cNvSpPr>
          <p:nvPr/>
        </p:nvSpPr>
        <p:spPr bwMode="auto">
          <a:xfrm>
            <a:off x="3378200" y="2331380"/>
            <a:ext cx="1797050" cy="1077218"/>
          </a:xfrm>
          <a:prstGeom prst="rect">
            <a:avLst/>
          </a:prstGeom>
          <a:solidFill>
            <a:srgbClr val="CC00CC"/>
          </a:solidFill>
          <a:ln>
            <a:noFill/>
          </a:ln>
          <a:extLst>
            <a:ext uri="{91240B29-F687-4F45-9708-019B960494DF}">
              <a14:hiddenLine xmlns:a14="http://schemas.microsoft.com/office/drawing/2010/main" w="76200">
                <a:solidFill>
                  <a:srgbClr val="000000"/>
                </a:solidFill>
                <a:miter lim="800000"/>
                <a:headEnd/>
                <a:tailEnd/>
              </a14:hiddenLine>
            </a:ext>
          </a:extLst>
        </p:spPr>
        <p:txBody>
          <a:bodyPr>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zh-CN" altLang="en-US" sz="1600" b="1" dirty="0">
                <a:solidFill>
                  <a:schemeClr val="bg1"/>
                </a:solidFill>
                <a:latin typeface="微软雅黑" panose="020B0503020204020204" pitchFamily="34" charset="-122"/>
                <a:ea typeface="微软雅黑" panose="020B0503020204020204" pitchFamily="34" charset="-122"/>
              </a:rPr>
              <a:t>在路由器 </a:t>
            </a:r>
            <a:r>
              <a:rPr kumimoji="1" lang="en-US" altLang="zh-CN" sz="1600" b="1" dirty="0">
                <a:solidFill>
                  <a:schemeClr val="bg1"/>
                </a:solidFill>
                <a:latin typeface="微软雅黑" panose="020B0503020204020204" pitchFamily="34" charset="-122"/>
                <a:ea typeface="微软雅黑" panose="020B0503020204020204" pitchFamily="34" charset="-122"/>
              </a:rPr>
              <a:t>E </a:t>
            </a:r>
            <a:r>
              <a:rPr kumimoji="1" lang="zh-CN" altLang="en-US" sz="1600" b="1" dirty="0">
                <a:solidFill>
                  <a:schemeClr val="bg1"/>
                </a:solidFill>
                <a:latin typeface="微软雅黑" panose="020B0503020204020204" pitchFamily="34" charset="-122"/>
                <a:ea typeface="微软雅黑" panose="020B0503020204020204" pitchFamily="34" charset="-122"/>
              </a:rPr>
              <a:t>暂存</a:t>
            </a:r>
          </a:p>
          <a:p>
            <a:pPr algn="ctr"/>
            <a:r>
              <a:rPr kumimoji="1" lang="zh-CN" altLang="en-US" sz="1600" b="1" dirty="0">
                <a:solidFill>
                  <a:schemeClr val="bg1"/>
                </a:solidFill>
                <a:latin typeface="微软雅黑" panose="020B0503020204020204" pitchFamily="34" charset="-122"/>
                <a:ea typeface="微软雅黑" panose="020B0503020204020204" pitchFamily="34" charset="-122"/>
              </a:rPr>
              <a:t>查找转发表</a:t>
            </a:r>
          </a:p>
          <a:p>
            <a:pPr algn="ctr"/>
            <a:r>
              <a:rPr kumimoji="1" lang="zh-CN" altLang="en-US" sz="1600" b="1" dirty="0">
                <a:solidFill>
                  <a:schemeClr val="bg1"/>
                </a:solidFill>
                <a:latin typeface="微软雅黑" panose="020B0503020204020204" pitchFamily="34" charset="-122"/>
                <a:ea typeface="微软雅黑" panose="020B0503020204020204" pitchFamily="34" charset="-122"/>
              </a:rPr>
              <a:t>找到转发的端口</a:t>
            </a:r>
            <a:endParaRPr kumimoji="1" lang="en-US" altLang="zh-CN" sz="1600" b="1" dirty="0">
              <a:solidFill>
                <a:schemeClr val="bg1"/>
              </a:solidFill>
              <a:latin typeface="微软雅黑" panose="020B0503020204020204" pitchFamily="34" charset="-122"/>
              <a:ea typeface="微软雅黑" panose="020B0503020204020204" pitchFamily="34" charset="-122"/>
            </a:endParaRPr>
          </a:p>
          <a:p>
            <a:pPr algn="ctr"/>
            <a:r>
              <a:rPr kumimoji="1" lang="zh-CN" altLang="en-US" sz="1600" b="1" dirty="0">
                <a:solidFill>
                  <a:schemeClr val="bg1"/>
                </a:solidFill>
                <a:latin typeface="微软雅黑" panose="020B0503020204020204" pitchFamily="34" charset="-122"/>
                <a:ea typeface="微软雅黑" panose="020B0503020204020204" pitchFamily="34" charset="-122"/>
              </a:rPr>
              <a:t>转发</a:t>
            </a:r>
          </a:p>
        </p:txBody>
      </p:sp>
      <p:sp>
        <p:nvSpPr>
          <p:cNvPr id="119" name="Rectangle 46"/>
          <p:cNvSpPr>
            <a:spLocks noChangeArrowheads="1"/>
          </p:cNvSpPr>
          <p:nvPr/>
        </p:nvSpPr>
        <p:spPr bwMode="auto">
          <a:xfrm>
            <a:off x="5399088" y="2746375"/>
            <a:ext cx="234950" cy="215900"/>
          </a:xfrm>
          <a:prstGeom prst="rect">
            <a:avLst/>
          </a:prstGeom>
          <a:solidFill>
            <a:srgbClr val="FF0000"/>
          </a:solidFill>
          <a:ln w="9525">
            <a:solidFill>
              <a:srgbClr val="FF0000"/>
            </a:solidFill>
            <a:miter lim="800000"/>
          </a:ln>
        </p:spPr>
        <p:txBody>
          <a:bodyPr wrap="none" anchor="ctr"/>
          <a:lstStyle/>
          <a:p>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65" name="Text Box 45"/>
          <p:cNvSpPr txBox="1">
            <a:spLocks noChangeArrowheads="1"/>
          </p:cNvSpPr>
          <p:nvPr/>
        </p:nvSpPr>
        <p:spPr bwMode="auto">
          <a:xfrm>
            <a:off x="1501793" y="2279856"/>
            <a:ext cx="544513"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zh-CN" altLang="en-US" sz="1400" b="1" dirty="0">
                <a:solidFill>
                  <a:srgbClr val="0000FF"/>
                </a:solidFill>
                <a:latin typeface="微软雅黑" panose="020B0503020204020204" pitchFamily="34" charset="-122"/>
                <a:ea typeface="微软雅黑" panose="020B0503020204020204" pitchFamily="34" charset="-122"/>
              </a:rPr>
              <a:t>主机</a:t>
            </a:r>
          </a:p>
        </p:txBody>
      </p:sp>
      <p:sp>
        <p:nvSpPr>
          <p:cNvPr id="2" name="标题 1">
            <a:extLst>
              <a:ext uri="{FF2B5EF4-FFF2-40B4-BE49-F238E27FC236}">
                <a16:creationId xmlns:a16="http://schemas.microsoft.com/office/drawing/2014/main" id="{A5E1C669-C123-E270-EF43-1D6F74D63444}"/>
              </a:ext>
            </a:extLst>
          </p:cNvPr>
          <p:cNvSpPr>
            <a:spLocks noGrp="1"/>
          </p:cNvSpPr>
          <p:nvPr>
            <p:ph type="title"/>
          </p:nvPr>
        </p:nvSpPr>
        <p:spPr>
          <a:xfrm>
            <a:off x="612000" y="144000"/>
            <a:ext cx="7920000" cy="341632"/>
          </a:xfrm>
        </p:spPr>
        <p:txBody>
          <a:bodyPr/>
          <a:lstStyle/>
          <a:p>
            <a:r>
              <a:rPr lang="zh-CN" altLang="en-US" dirty="0"/>
              <a:t>分组的存储转发过程</a:t>
            </a:r>
          </a:p>
        </p:txBody>
      </p:sp>
    </p:spTree>
    <p:extLst>
      <p:ext uri="{BB962C8B-B14F-4D97-AF65-F5344CB8AC3E}">
        <p14:creationId xmlns:p14="http://schemas.microsoft.com/office/powerpoint/2010/main" val="3757513149"/>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0" presetClass="path" presetSubtype="0" accel="50000" decel="50000" fill="hold" grpId="0" nodeType="afterEffect">
                                  <p:stCondLst>
                                    <p:cond delay="2000"/>
                                  </p:stCondLst>
                                  <p:childTnLst>
                                    <p:animMotion origin="layout" path="M 0.00052 -0.00093 L 0.11962 0.00093 " pathEditMode="relative" rAng="0" ptsTypes="AA">
                                      <p:cBhvr>
                                        <p:cTn id="6" dur="2000" fill="hold"/>
                                        <p:tgtEl>
                                          <p:spTgt spid="97"/>
                                        </p:tgtEl>
                                        <p:attrNameLst>
                                          <p:attrName>ppt_x</p:attrName>
                                          <p:attrName>ppt_y</p:attrName>
                                        </p:attrNameLst>
                                      </p:cBhvr>
                                      <p:rCtr x="5955" y="93"/>
                                    </p:animMotion>
                                  </p:childTnLst>
                                </p:cTn>
                              </p:par>
                            </p:childTnLst>
                          </p:cTn>
                        </p:par>
                        <p:par>
                          <p:cTn id="7" fill="hold">
                            <p:stCondLst>
                              <p:cond delay="4000"/>
                            </p:stCondLst>
                            <p:childTnLst>
                              <p:par>
                                <p:cTn id="8" presetID="53" presetClass="entr" presetSubtype="16" fill="hold" grpId="0" nodeType="afterEffect">
                                  <p:stCondLst>
                                    <p:cond delay="500"/>
                                  </p:stCondLst>
                                  <p:childTnLst>
                                    <p:set>
                                      <p:cBhvr>
                                        <p:cTn id="9" dur="1" fill="hold">
                                          <p:stCondLst>
                                            <p:cond delay="0"/>
                                          </p:stCondLst>
                                        </p:cTn>
                                        <p:tgtEl>
                                          <p:spTgt spid="105"/>
                                        </p:tgtEl>
                                        <p:attrNameLst>
                                          <p:attrName>style.visibility</p:attrName>
                                        </p:attrNameLst>
                                      </p:cBhvr>
                                      <p:to>
                                        <p:strVal val="visible"/>
                                      </p:to>
                                    </p:set>
                                    <p:anim calcmode="lin" valueType="num">
                                      <p:cBhvr>
                                        <p:cTn id="10" dur="500" fill="hold"/>
                                        <p:tgtEl>
                                          <p:spTgt spid="105"/>
                                        </p:tgtEl>
                                        <p:attrNameLst>
                                          <p:attrName>ppt_w</p:attrName>
                                        </p:attrNameLst>
                                      </p:cBhvr>
                                      <p:tavLst>
                                        <p:tav tm="0">
                                          <p:val>
                                            <p:fltVal val="0"/>
                                          </p:val>
                                        </p:tav>
                                        <p:tav tm="100000">
                                          <p:val>
                                            <p:strVal val="#ppt_w"/>
                                          </p:val>
                                        </p:tav>
                                      </p:tavLst>
                                    </p:anim>
                                    <p:anim calcmode="lin" valueType="num">
                                      <p:cBhvr>
                                        <p:cTn id="11" dur="500" fill="hold"/>
                                        <p:tgtEl>
                                          <p:spTgt spid="105"/>
                                        </p:tgtEl>
                                        <p:attrNameLst>
                                          <p:attrName>ppt_h</p:attrName>
                                        </p:attrNameLst>
                                      </p:cBhvr>
                                      <p:tavLst>
                                        <p:tav tm="0">
                                          <p:val>
                                            <p:fltVal val="0"/>
                                          </p:val>
                                        </p:tav>
                                        <p:tav tm="100000">
                                          <p:val>
                                            <p:strVal val="#ppt_h"/>
                                          </p:val>
                                        </p:tav>
                                      </p:tavLst>
                                    </p:anim>
                                    <p:animEffect transition="in" filter="fade">
                                      <p:cBhvr>
                                        <p:cTn id="12" dur="500"/>
                                        <p:tgtEl>
                                          <p:spTgt spid="105"/>
                                        </p:tgtEl>
                                      </p:cBhvr>
                                    </p:animEffect>
                                  </p:childTnLst>
                                </p:cTn>
                              </p:par>
                            </p:childTnLst>
                          </p:cTn>
                        </p:par>
                        <p:par>
                          <p:cTn id="13" fill="hold">
                            <p:stCondLst>
                              <p:cond delay="5000"/>
                            </p:stCondLst>
                            <p:childTnLst>
                              <p:par>
                                <p:cTn id="14" presetID="1" presetClass="exit" presetSubtype="0" fill="hold" grpId="1" nodeType="afterEffect">
                                  <p:stCondLst>
                                    <p:cond delay="0"/>
                                  </p:stCondLst>
                                  <p:childTnLst>
                                    <p:set>
                                      <p:cBhvr>
                                        <p:cTn id="15" dur="1" fill="hold">
                                          <p:stCondLst>
                                            <p:cond delay="0"/>
                                          </p:stCondLst>
                                        </p:cTn>
                                        <p:tgtEl>
                                          <p:spTgt spid="97"/>
                                        </p:tgtEl>
                                        <p:attrNameLst>
                                          <p:attrName>style.visibility</p:attrName>
                                        </p:attrNameLst>
                                      </p:cBhvr>
                                      <p:to>
                                        <p:strVal val="hidden"/>
                                      </p:to>
                                    </p:set>
                                  </p:childTnLst>
                                </p:cTn>
                              </p:par>
                            </p:childTnLst>
                          </p:cTn>
                        </p:par>
                        <p:par>
                          <p:cTn id="16" fill="hold">
                            <p:stCondLst>
                              <p:cond delay="5000"/>
                            </p:stCondLst>
                            <p:childTnLst>
                              <p:par>
                                <p:cTn id="17" presetID="1" presetClass="entr" presetSubtype="0" fill="hold" grpId="1" nodeType="afterEffect">
                                  <p:stCondLst>
                                    <p:cond delay="400"/>
                                  </p:stCondLst>
                                  <p:childTnLst>
                                    <p:set>
                                      <p:cBhvr>
                                        <p:cTn id="18" dur="1" fill="hold">
                                          <p:stCondLst>
                                            <p:cond delay="0"/>
                                          </p:stCondLst>
                                        </p:cTn>
                                        <p:tgtEl>
                                          <p:spTgt spid="117"/>
                                        </p:tgtEl>
                                        <p:attrNameLst>
                                          <p:attrName>style.visibility</p:attrName>
                                        </p:attrNameLst>
                                      </p:cBhvr>
                                      <p:to>
                                        <p:strVal val="visible"/>
                                      </p:to>
                                    </p:set>
                                  </p:childTnLst>
                                </p:cTn>
                              </p:par>
                            </p:childTnLst>
                          </p:cTn>
                        </p:par>
                        <p:par>
                          <p:cTn id="19" fill="hold">
                            <p:stCondLst>
                              <p:cond delay="5400"/>
                            </p:stCondLst>
                            <p:childTnLst>
                              <p:par>
                                <p:cTn id="20" presetID="1" presetClass="exit" presetSubtype="0" fill="hold" grpId="1" nodeType="afterEffect">
                                  <p:stCondLst>
                                    <p:cond delay="3000"/>
                                  </p:stCondLst>
                                  <p:childTnLst>
                                    <p:set>
                                      <p:cBhvr>
                                        <p:cTn id="21" dur="1" fill="hold">
                                          <p:stCondLst>
                                            <p:cond delay="0"/>
                                          </p:stCondLst>
                                        </p:cTn>
                                        <p:tgtEl>
                                          <p:spTgt spid="105"/>
                                        </p:tgtEl>
                                        <p:attrNameLst>
                                          <p:attrName>style.visibility</p:attrName>
                                        </p:attrNameLst>
                                      </p:cBhvr>
                                      <p:to>
                                        <p:strVal val="hidden"/>
                                      </p:to>
                                    </p:set>
                                  </p:childTnLst>
                                </p:cTn>
                              </p:par>
                            </p:childTnLst>
                          </p:cTn>
                        </p:par>
                        <p:par>
                          <p:cTn id="22" fill="hold">
                            <p:stCondLst>
                              <p:cond delay="8400"/>
                            </p:stCondLst>
                            <p:childTnLst>
                              <p:par>
                                <p:cTn id="23" presetID="0" presetClass="path" presetSubtype="0" accel="50000" decel="50000" fill="hold" grpId="0" nodeType="afterEffect">
                                  <p:stCondLst>
                                    <p:cond delay="0"/>
                                  </p:stCondLst>
                                  <p:childTnLst>
                                    <p:animMotion origin="layout" path="M 0 0 L 0.13403 0.13136 " pathEditMode="relative" ptsTypes="AA">
                                      <p:cBhvr>
                                        <p:cTn id="24" dur="2000" fill="hold"/>
                                        <p:tgtEl>
                                          <p:spTgt spid="117"/>
                                        </p:tgtEl>
                                        <p:attrNameLst>
                                          <p:attrName>ppt_x</p:attrName>
                                          <p:attrName>ppt_y</p:attrName>
                                        </p:attrNameLst>
                                      </p:cBhvr>
                                    </p:animMotion>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104"/>
                                        </p:tgtEl>
                                        <p:attrNameLst>
                                          <p:attrName>style.visibility</p:attrName>
                                        </p:attrNameLst>
                                      </p:cBhvr>
                                      <p:to>
                                        <p:strVal val="visible"/>
                                      </p:to>
                                    </p:set>
                                  </p:childTnLst>
                                </p:cTn>
                              </p:par>
                            </p:childTnLst>
                          </p:cTn>
                        </p:par>
                        <p:par>
                          <p:cTn id="29" fill="hold">
                            <p:stCondLst>
                              <p:cond delay="0"/>
                            </p:stCondLst>
                            <p:childTnLst>
                              <p:par>
                                <p:cTn id="30" presetID="1" presetClass="exit" presetSubtype="0" fill="hold" grpId="2" nodeType="afterEffect">
                                  <p:stCondLst>
                                    <p:cond delay="3000"/>
                                  </p:stCondLst>
                                  <p:childTnLst>
                                    <p:set>
                                      <p:cBhvr>
                                        <p:cTn id="31" dur="1" fill="hold">
                                          <p:stCondLst>
                                            <p:cond delay="0"/>
                                          </p:stCondLst>
                                        </p:cTn>
                                        <p:tgtEl>
                                          <p:spTgt spid="104"/>
                                        </p:tgtEl>
                                        <p:attrNameLst>
                                          <p:attrName>style.visibility</p:attrName>
                                        </p:attrNameLst>
                                      </p:cBhvr>
                                      <p:to>
                                        <p:strVal val="hidden"/>
                                      </p:to>
                                    </p:set>
                                  </p:childTnLst>
                                </p:cTn>
                              </p:par>
                            </p:childTnLst>
                          </p:cTn>
                        </p:par>
                        <p:par>
                          <p:cTn id="32" fill="hold">
                            <p:stCondLst>
                              <p:cond delay="3000"/>
                            </p:stCondLst>
                            <p:childTnLst>
                              <p:par>
                                <p:cTn id="33" presetID="1" presetClass="exit" presetSubtype="0" fill="hold" grpId="2" nodeType="afterEffect">
                                  <p:stCondLst>
                                    <p:cond delay="0"/>
                                  </p:stCondLst>
                                  <p:childTnLst>
                                    <p:set>
                                      <p:cBhvr>
                                        <p:cTn id="34" dur="1" fill="hold">
                                          <p:stCondLst>
                                            <p:cond delay="0"/>
                                          </p:stCondLst>
                                        </p:cTn>
                                        <p:tgtEl>
                                          <p:spTgt spid="117"/>
                                        </p:tgtEl>
                                        <p:attrNameLst>
                                          <p:attrName>style.visibility</p:attrName>
                                        </p:attrNameLst>
                                      </p:cBhvr>
                                      <p:to>
                                        <p:strVal val="hidden"/>
                                      </p:to>
                                    </p:set>
                                  </p:childTnLst>
                                </p:cTn>
                              </p:par>
                            </p:childTnLst>
                          </p:cTn>
                        </p:par>
                        <p:par>
                          <p:cTn id="35" fill="hold">
                            <p:stCondLst>
                              <p:cond delay="3000"/>
                            </p:stCondLst>
                            <p:childTnLst>
                              <p:par>
                                <p:cTn id="36" presetID="1" presetClass="entr" presetSubtype="0" fill="hold" grpId="0" nodeType="afterEffect">
                                  <p:stCondLst>
                                    <p:cond delay="0"/>
                                  </p:stCondLst>
                                  <p:childTnLst>
                                    <p:set>
                                      <p:cBhvr>
                                        <p:cTn id="37" dur="1" fill="hold">
                                          <p:stCondLst>
                                            <p:cond delay="0"/>
                                          </p:stCondLst>
                                        </p:cTn>
                                        <p:tgtEl>
                                          <p:spTgt spid="118"/>
                                        </p:tgtEl>
                                        <p:attrNameLst>
                                          <p:attrName>style.visibility</p:attrName>
                                        </p:attrNameLst>
                                      </p:cBhvr>
                                      <p:to>
                                        <p:strVal val="visible"/>
                                      </p:to>
                                    </p:set>
                                  </p:childTnLst>
                                </p:cTn>
                              </p:par>
                            </p:childTnLst>
                          </p:cTn>
                        </p:par>
                        <p:par>
                          <p:cTn id="38" fill="hold">
                            <p:stCondLst>
                              <p:cond delay="3000"/>
                            </p:stCondLst>
                            <p:childTnLst>
                              <p:par>
                                <p:cTn id="39" presetID="0" presetClass="path" presetSubtype="0" accel="50000" decel="50000" fill="hold" grpId="1" nodeType="afterEffect">
                                  <p:stCondLst>
                                    <p:cond delay="0"/>
                                  </p:stCondLst>
                                  <p:childTnLst>
                                    <p:animMotion origin="layout" path="M -0.00399 0.00555 L 0.1 -0.17145 " pathEditMode="relative" rAng="0" ptsTypes="AA">
                                      <p:cBhvr>
                                        <p:cTn id="40" dur="2000" fill="hold"/>
                                        <p:tgtEl>
                                          <p:spTgt spid="118"/>
                                        </p:tgtEl>
                                        <p:attrNameLst>
                                          <p:attrName>ppt_x</p:attrName>
                                          <p:attrName>ppt_y</p:attrName>
                                        </p:attrNameLst>
                                      </p:cBhvr>
                                      <p:rCtr x="5191" y="-8850"/>
                                    </p:animMotion>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grpId="0" nodeType="clickEffect">
                                  <p:stCondLst>
                                    <p:cond delay="0"/>
                                  </p:stCondLst>
                                  <p:childTnLst>
                                    <p:set>
                                      <p:cBhvr>
                                        <p:cTn id="44" dur="1" fill="hold">
                                          <p:stCondLst>
                                            <p:cond delay="0"/>
                                          </p:stCondLst>
                                        </p:cTn>
                                        <p:tgtEl>
                                          <p:spTgt spid="102"/>
                                        </p:tgtEl>
                                        <p:attrNameLst>
                                          <p:attrName>style.visibility</p:attrName>
                                        </p:attrNameLst>
                                      </p:cBhvr>
                                      <p:to>
                                        <p:strVal val="visible"/>
                                      </p:to>
                                    </p:set>
                                  </p:childTnLst>
                                </p:cTn>
                              </p:par>
                            </p:childTnLst>
                          </p:cTn>
                        </p:par>
                        <p:par>
                          <p:cTn id="45" fill="hold">
                            <p:stCondLst>
                              <p:cond delay="0"/>
                            </p:stCondLst>
                            <p:childTnLst>
                              <p:par>
                                <p:cTn id="46" presetID="53" presetClass="entr" presetSubtype="16" fill="hold" grpId="1" nodeType="afterEffect">
                                  <p:stCondLst>
                                    <p:cond delay="0"/>
                                  </p:stCondLst>
                                  <p:childTnLst>
                                    <p:set>
                                      <p:cBhvr>
                                        <p:cTn id="47" dur="1" fill="hold">
                                          <p:stCondLst>
                                            <p:cond delay="0"/>
                                          </p:stCondLst>
                                        </p:cTn>
                                        <p:tgtEl>
                                          <p:spTgt spid="102"/>
                                        </p:tgtEl>
                                        <p:attrNameLst>
                                          <p:attrName>style.visibility</p:attrName>
                                        </p:attrNameLst>
                                      </p:cBhvr>
                                      <p:to>
                                        <p:strVal val="visible"/>
                                      </p:to>
                                    </p:set>
                                    <p:anim calcmode="lin" valueType="num">
                                      <p:cBhvr>
                                        <p:cTn id="48" dur="500" fill="hold"/>
                                        <p:tgtEl>
                                          <p:spTgt spid="102"/>
                                        </p:tgtEl>
                                        <p:attrNameLst>
                                          <p:attrName>ppt_w</p:attrName>
                                        </p:attrNameLst>
                                      </p:cBhvr>
                                      <p:tavLst>
                                        <p:tav tm="0">
                                          <p:val>
                                            <p:fltVal val="0"/>
                                          </p:val>
                                        </p:tav>
                                        <p:tav tm="100000">
                                          <p:val>
                                            <p:strVal val="#ppt_w"/>
                                          </p:val>
                                        </p:tav>
                                      </p:tavLst>
                                    </p:anim>
                                    <p:anim calcmode="lin" valueType="num">
                                      <p:cBhvr>
                                        <p:cTn id="49" dur="500" fill="hold"/>
                                        <p:tgtEl>
                                          <p:spTgt spid="102"/>
                                        </p:tgtEl>
                                        <p:attrNameLst>
                                          <p:attrName>ppt_h</p:attrName>
                                        </p:attrNameLst>
                                      </p:cBhvr>
                                      <p:tavLst>
                                        <p:tav tm="0">
                                          <p:val>
                                            <p:fltVal val="0"/>
                                          </p:val>
                                        </p:tav>
                                        <p:tav tm="100000">
                                          <p:val>
                                            <p:strVal val="#ppt_h"/>
                                          </p:val>
                                        </p:tav>
                                      </p:tavLst>
                                    </p:anim>
                                    <p:animEffect transition="in" filter="fade">
                                      <p:cBhvr>
                                        <p:cTn id="50" dur="500"/>
                                        <p:tgtEl>
                                          <p:spTgt spid="102"/>
                                        </p:tgtEl>
                                      </p:cBhvr>
                                    </p:animEffect>
                                  </p:childTnLst>
                                </p:cTn>
                              </p:par>
                            </p:childTnLst>
                          </p:cTn>
                        </p:par>
                        <p:par>
                          <p:cTn id="51" fill="hold">
                            <p:stCondLst>
                              <p:cond delay="500"/>
                            </p:stCondLst>
                            <p:childTnLst>
                              <p:par>
                                <p:cTn id="52" presetID="1" presetClass="exit" presetSubtype="0" fill="hold" grpId="2" nodeType="afterEffect">
                                  <p:stCondLst>
                                    <p:cond delay="3000"/>
                                  </p:stCondLst>
                                  <p:childTnLst>
                                    <p:set>
                                      <p:cBhvr>
                                        <p:cTn id="53" dur="1" fill="hold">
                                          <p:stCondLst>
                                            <p:cond delay="0"/>
                                          </p:stCondLst>
                                        </p:cTn>
                                        <p:tgtEl>
                                          <p:spTgt spid="118"/>
                                        </p:tgtEl>
                                        <p:attrNameLst>
                                          <p:attrName>style.visibility</p:attrName>
                                        </p:attrNameLst>
                                      </p:cBhvr>
                                      <p:to>
                                        <p:strVal val="hidden"/>
                                      </p:to>
                                    </p:set>
                                  </p:childTnLst>
                                </p:cTn>
                              </p:par>
                            </p:childTnLst>
                          </p:cTn>
                        </p:par>
                        <p:par>
                          <p:cTn id="54" fill="hold">
                            <p:stCondLst>
                              <p:cond delay="3500"/>
                            </p:stCondLst>
                            <p:childTnLst>
                              <p:par>
                                <p:cTn id="55" presetID="1" presetClass="exit" presetSubtype="0" fill="hold" grpId="2" nodeType="afterEffect">
                                  <p:stCondLst>
                                    <p:cond delay="0"/>
                                  </p:stCondLst>
                                  <p:childTnLst>
                                    <p:set>
                                      <p:cBhvr>
                                        <p:cTn id="56" dur="1" fill="hold">
                                          <p:stCondLst>
                                            <p:cond delay="0"/>
                                          </p:stCondLst>
                                        </p:cTn>
                                        <p:tgtEl>
                                          <p:spTgt spid="102"/>
                                        </p:tgtEl>
                                        <p:attrNameLst>
                                          <p:attrName>style.visibility</p:attrName>
                                        </p:attrNameLst>
                                      </p:cBhvr>
                                      <p:to>
                                        <p:strVal val="hidden"/>
                                      </p:to>
                                    </p:set>
                                  </p:childTnLst>
                                </p:cTn>
                              </p:par>
                            </p:childTnLst>
                          </p:cTn>
                        </p:par>
                        <p:par>
                          <p:cTn id="57" fill="hold">
                            <p:stCondLst>
                              <p:cond delay="3500"/>
                            </p:stCondLst>
                            <p:childTnLst>
                              <p:par>
                                <p:cTn id="58" presetID="1" presetClass="entr" presetSubtype="0" fill="hold" grpId="0" nodeType="afterEffect">
                                  <p:stCondLst>
                                    <p:cond delay="0"/>
                                  </p:stCondLst>
                                  <p:childTnLst>
                                    <p:set>
                                      <p:cBhvr>
                                        <p:cTn id="59" dur="1" fill="hold">
                                          <p:stCondLst>
                                            <p:cond delay="0"/>
                                          </p:stCondLst>
                                        </p:cTn>
                                        <p:tgtEl>
                                          <p:spTgt spid="119"/>
                                        </p:tgtEl>
                                        <p:attrNameLst>
                                          <p:attrName>style.visibility</p:attrName>
                                        </p:attrNameLst>
                                      </p:cBhvr>
                                      <p:to>
                                        <p:strVal val="visible"/>
                                      </p:to>
                                    </p:set>
                                  </p:childTnLst>
                                </p:cTn>
                              </p:par>
                            </p:childTnLst>
                          </p:cTn>
                        </p:par>
                        <p:par>
                          <p:cTn id="60" fill="hold">
                            <p:stCondLst>
                              <p:cond delay="3500"/>
                            </p:stCondLst>
                            <p:childTnLst>
                              <p:par>
                                <p:cTn id="61" presetID="0" presetClass="path" presetSubtype="0" accel="50000" decel="50000" fill="hold" grpId="1" nodeType="afterEffect">
                                  <p:stCondLst>
                                    <p:cond delay="0"/>
                                  </p:stCondLst>
                                  <p:childTnLst>
                                    <p:animMotion origin="layout" path="M -0.00087 -0.00402 L 0.0651 0.14907 " pathEditMode="relative" ptsTypes="AA">
                                      <p:cBhvr>
                                        <p:cTn id="62" dur="2000" fill="hold"/>
                                        <p:tgtEl>
                                          <p:spTgt spid="119"/>
                                        </p:tgtEl>
                                        <p:attrNameLst>
                                          <p:attrName>ppt_x</p:attrName>
                                          <p:attrName>ppt_y</p:attrName>
                                        </p:attrNameLst>
                                      </p:cBhvr>
                                    </p:animMotion>
                                  </p:childTnLst>
                                </p:cTn>
                              </p:par>
                            </p:childTnLst>
                          </p:cTn>
                        </p:par>
                        <p:par>
                          <p:cTn id="63" fill="hold">
                            <p:stCondLst>
                              <p:cond delay="5500"/>
                            </p:stCondLst>
                            <p:childTnLst>
                              <p:par>
                                <p:cTn id="64" presetID="1" presetClass="entr" presetSubtype="0" fill="hold" grpId="0" nodeType="afterEffect">
                                  <p:stCondLst>
                                    <p:cond delay="0"/>
                                  </p:stCondLst>
                                  <p:childTnLst>
                                    <p:set>
                                      <p:cBhvr>
                                        <p:cTn id="65" dur="1" fill="hold">
                                          <p:stCondLst>
                                            <p:cond delay="0"/>
                                          </p:stCondLst>
                                        </p:cTn>
                                        <p:tgtEl>
                                          <p:spTgt spid="103"/>
                                        </p:tgtEl>
                                        <p:attrNameLst>
                                          <p:attrName>style.visibility</p:attrName>
                                        </p:attrNameLst>
                                      </p:cBhvr>
                                      <p:to>
                                        <p:strVal val="visible"/>
                                      </p:to>
                                    </p:set>
                                  </p:childTnLst>
                                </p:cTn>
                              </p:par>
                            </p:childTnLst>
                          </p:cTn>
                        </p:par>
                        <p:par>
                          <p:cTn id="66" fill="hold">
                            <p:stCondLst>
                              <p:cond delay="5500"/>
                            </p:stCondLst>
                            <p:childTnLst>
                              <p:par>
                                <p:cTn id="67" presetID="53" presetClass="entr" presetSubtype="16" fill="hold" grpId="1" nodeType="afterEffect">
                                  <p:stCondLst>
                                    <p:cond delay="0"/>
                                  </p:stCondLst>
                                  <p:childTnLst>
                                    <p:set>
                                      <p:cBhvr>
                                        <p:cTn id="68" dur="1" fill="hold">
                                          <p:stCondLst>
                                            <p:cond delay="0"/>
                                          </p:stCondLst>
                                        </p:cTn>
                                        <p:tgtEl>
                                          <p:spTgt spid="103"/>
                                        </p:tgtEl>
                                        <p:attrNameLst>
                                          <p:attrName>style.visibility</p:attrName>
                                        </p:attrNameLst>
                                      </p:cBhvr>
                                      <p:to>
                                        <p:strVal val="visible"/>
                                      </p:to>
                                    </p:set>
                                    <p:anim calcmode="lin" valueType="num">
                                      <p:cBhvr>
                                        <p:cTn id="69" dur="500" fill="hold"/>
                                        <p:tgtEl>
                                          <p:spTgt spid="103"/>
                                        </p:tgtEl>
                                        <p:attrNameLst>
                                          <p:attrName>ppt_w</p:attrName>
                                        </p:attrNameLst>
                                      </p:cBhvr>
                                      <p:tavLst>
                                        <p:tav tm="0">
                                          <p:val>
                                            <p:fltVal val="0"/>
                                          </p:val>
                                        </p:tav>
                                        <p:tav tm="100000">
                                          <p:val>
                                            <p:strVal val="#ppt_w"/>
                                          </p:val>
                                        </p:tav>
                                      </p:tavLst>
                                    </p:anim>
                                    <p:anim calcmode="lin" valueType="num">
                                      <p:cBhvr>
                                        <p:cTn id="70" dur="500" fill="hold"/>
                                        <p:tgtEl>
                                          <p:spTgt spid="103"/>
                                        </p:tgtEl>
                                        <p:attrNameLst>
                                          <p:attrName>ppt_h</p:attrName>
                                        </p:attrNameLst>
                                      </p:cBhvr>
                                      <p:tavLst>
                                        <p:tav tm="0">
                                          <p:val>
                                            <p:fltVal val="0"/>
                                          </p:val>
                                        </p:tav>
                                        <p:tav tm="100000">
                                          <p:val>
                                            <p:strVal val="#ppt_h"/>
                                          </p:val>
                                        </p:tav>
                                      </p:tavLst>
                                    </p:anim>
                                    <p:animEffect transition="in" filter="fade">
                                      <p:cBhvr>
                                        <p:cTn id="71" dur="500"/>
                                        <p:tgtEl>
                                          <p:spTgt spid="10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3" grpId="0" animBg="1"/>
      <p:bldP spid="103" grpId="1" animBg="1"/>
      <p:bldP spid="97" grpId="0" animBg="1"/>
      <p:bldP spid="97" grpId="1" animBg="1"/>
      <p:bldP spid="105" grpId="0" animBg="1"/>
      <p:bldP spid="105" grpId="1" animBg="1"/>
      <p:bldP spid="117" grpId="0" animBg="1"/>
      <p:bldP spid="117" grpId="1" animBg="1"/>
      <p:bldP spid="117" grpId="2" animBg="1"/>
      <p:bldP spid="104" grpId="0" animBg="1"/>
      <p:bldP spid="104" grpId="2" animBg="1"/>
      <p:bldP spid="118" grpId="0" animBg="1"/>
      <p:bldP spid="118" grpId="1" animBg="1"/>
      <p:bldP spid="118" grpId="2" animBg="1"/>
      <p:bldP spid="102" grpId="0" animBg="1"/>
      <p:bldP spid="102" grpId="1" animBg="1"/>
      <p:bldP spid="102" grpId="2" animBg="1"/>
      <p:bldP spid="119" grpId="0" animBg="1"/>
      <p:bldP spid="119" grpId="1" animBg="1"/>
    </p:bld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内容占位符 2"/>
          <p:cNvGraphicFramePr/>
          <p:nvPr>
            <p:extLst>
              <p:ext uri="{D42A27DB-BD31-4B8C-83A1-F6EECF244321}">
                <p14:modId xmlns:p14="http://schemas.microsoft.com/office/powerpoint/2010/main" val="1326947020"/>
              </p:ext>
            </p:extLst>
          </p:nvPr>
        </p:nvGraphicFramePr>
        <p:xfrm>
          <a:off x="612000" y="1133228"/>
          <a:ext cx="7920000" cy="1585378"/>
        </p:xfrm>
        <a:graphic>
          <a:graphicData uri="http://schemas.openxmlformats.org/drawingml/2006/table">
            <a:tbl>
              <a:tblPr firstRow="1" firstCol="1" bandRow="1" bandCol="1">
                <a:tableStyleId>{2D5ABB26-0587-4C30-8999-92F81FD0307C}</a:tableStyleId>
              </a:tblPr>
              <a:tblGrid>
                <a:gridCol w="1440000">
                  <a:extLst>
                    <a:ext uri="{9D8B030D-6E8A-4147-A177-3AD203B41FA5}">
                      <a16:colId xmlns:a16="http://schemas.microsoft.com/office/drawing/2014/main" val="20000"/>
                    </a:ext>
                  </a:extLst>
                </a:gridCol>
                <a:gridCol w="6480000">
                  <a:extLst>
                    <a:ext uri="{9D8B030D-6E8A-4147-A177-3AD203B41FA5}">
                      <a16:colId xmlns:a16="http://schemas.microsoft.com/office/drawing/2014/main" val="20001"/>
                    </a:ext>
                  </a:extLst>
                </a:gridCol>
              </a:tblGrid>
              <a:tr h="0">
                <a:tc>
                  <a:txBody>
                    <a:bodyPr/>
                    <a:lstStyle/>
                    <a:p>
                      <a:pPr marL="0" marR="0" lvl="0" indent="0" algn="ctr" defTabSz="914400" rtl="0" eaLnBrk="0" fontAlgn="base" latinLnBrk="0" hangingPunct="0">
                        <a:lnSpc>
                          <a:spcPct val="100000"/>
                        </a:lnSpc>
                        <a:spcBef>
                          <a:spcPct val="0"/>
                        </a:spcBef>
                        <a:spcAft>
                          <a:spcPct val="0"/>
                        </a:spcAft>
                        <a:buClrTx/>
                        <a:buSzTx/>
                        <a:buFontTx/>
                        <a:buNone/>
                      </a:pPr>
                      <a:r>
                        <a:rPr lang="zh-CN" altLang="en-US" sz="1400" dirty="0">
                          <a:solidFill>
                            <a:srgbClr val="FF0000"/>
                          </a:solidFill>
                          <a:latin typeface="+mj-ea"/>
                          <a:ea typeface="+mj-ea"/>
                        </a:rPr>
                        <a:t>优点</a:t>
                      </a:r>
                    </a:p>
                  </a:txBody>
                  <a:tcPr marL="107997" marR="107997" marT="72025" marB="72025" anchor="ctr">
                    <a:lnB w="6350" cap="flat" cmpd="sng" algn="ctr">
                      <a:solidFill>
                        <a:schemeClr val="tx1"/>
                      </a:solidFill>
                      <a:prstDash val="solid"/>
                      <a:round/>
                      <a:headEnd type="none" w="med" len="med"/>
                      <a:tailEnd type="none" w="med" len="med"/>
                    </a:lnB>
                  </a:tcPr>
                </a:tc>
                <a:tc>
                  <a:txBody>
                    <a:bodyPr/>
                    <a:lstStyle/>
                    <a:p>
                      <a:pPr marL="0" marR="0" lvl="0" indent="0" algn="l" defTabSz="914400" rtl="0" eaLnBrk="0" fontAlgn="base" latinLnBrk="0" hangingPunct="0">
                        <a:lnSpc>
                          <a:spcPct val="100000"/>
                        </a:lnSpc>
                        <a:spcBef>
                          <a:spcPct val="0"/>
                        </a:spcBef>
                        <a:spcAft>
                          <a:spcPct val="0"/>
                        </a:spcAft>
                        <a:buClrTx/>
                        <a:buSzTx/>
                        <a:buFontTx/>
                        <a:buNone/>
                      </a:pPr>
                      <a:r>
                        <a:rPr lang="zh-CN" altLang="en-US" sz="1400" dirty="0">
                          <a:latin typeface="+mj-ea"/>
                          <a:ea typeface="+mj-ea"/>
                        </a:rPr>
                        <a:t>说明</a:t>
                      </a:r>
                    </a:p>
                  </a:txBody>
                  <a:tcPr marL="89998" marR="89998" marT="46816" marB="46816" anchor="ctr">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137436">
                <a:tc>
                  <a:txBody>
                    <a:bodyPr/>
                    <a:lstStyle/>
                    <a:p>
                      <a:pPr marL="0" marR="0" lvl="0" indent="0" algn="ctr" defTabSz="914400" rtl="0" eaLnBrk="0" fontAlgn="base" latinLnBrk="0" hangingPunct="0">
                        <a:lnSpc>
                          <a:spcPct val="100000"/>
                        </a:lnSpc>
                        <a:spcBef>
                          <a:spcPct val="0"/>
                        </a:spcBef>
                        <a:spcAft>
                          <a:spcPct val="0"/>
                        </a:spcAft>
                        <a:buClrTx/>
                        <a:buSzTx/>
                        <a:buFontTx/>
                        <a:buNone/>
                      </a:pPr>
                      <a:r>
                        <a:rPr lang="zh-CN" altLang="en-US" sz="1400" dirty="0">
                          <a:latin typeface="+mj-ea"/>
                          <a:ea typeface="+mj-ea"/>
                        </a:rPr>
                        <a:t>高效</a:t>
                      </a:r>
                    </a:p>
                  </a:txBody>
                  <a:tcPr marL="89998" marR="89998" marT="46816" marB="46816" anchor="ctr">
                    <a:lnT w="6350" cap="flat" cmpd="sng" algn="ctr">
                      <a:solidFill>
                        <a:schemeClr val="tx1"/>
                      </a:solidFill>
                      <a:prstDash val="solid"/>
                      <a:round/>
                      <a:headEnd type="none" w="med" len="med"/>
                      <a:tailEnd type="none" w="med" len="med"/>
                    </a:lnT>
                  </a:tcPr>
                </a:tc>
                <a:tc>
                  <a:txBody>
                    <a:bodyPr/>
                    <a:lstStyle/>
                    <a:p>
                      <a:pPr marL="0" marR="0" lvl="0" indent="0" algn="l" defTabSz="914400" rtl="0" eaLnBrk="0" fontAlgn="base" latinLnBrk="0" hangingPunct="0">
                        <a:lnSpc>
                          <a:spcPct val="100000"/>
                        </a:lnSpc>
                        <a:spcBef>
                          <a:spcPct val="0"/>
                        </a:spcBef>
                        <a:spcAft>
                          <a:spcPct val="0"/>
                        </a:spcAft>
                        <a:buClrTx/>
                        <a:buSzTx/>
                        <a:buFontTx/>
                        <a:buNone/>
                      </a:pPr>
                      <a:r>
                        <a:rPr lang="zh-CN" altLang="en-US" sz="1400" dirty="0"/>
                        <a:t>在分组传输的过程中动态分配传输带宽，对通信链路是逐段占用</a:t>
                      </a:r>
                    </a:p>
                  </a:txBody>
                  <a:tcPr marL="89998" marR="89998" marT="46816" marB="46816" anchor="ctr">
                    <a:lnT w="6350" cap="flat" cmpd="sng" algn="ctr">
                      <a:solidFill>
                        <a:schemeClr val="tx1"/>
                      </a:solidFill>
                      <a:prstDash val="solid"/>
                      <a:round/>
                      <a:headEnd type="none" w="med" len="med"/>
                      <a:tailEnd type="none" w="med" len="med"/>
                    </a:lnT>
                  </a:tcPr>
                </a:tc>
                <a:extLst>
                  <a:ext uri="{0D108BD9-81ED-4DB2-BD59-A6C34878D82A}">
                    <a16:rowId xmlns:a16="http://schemas.microsoft.com/office/drawing/2014/main" val="10001"/>
                  </a:ext>
                </a:extLst>
              </a:tr>
              <a:tr h="137436">
                <a:tc>
                  <a:txBody>
                    <a:bodyPr/>
                    <a:lstStyle/>
                    <a:p>
                      <a:pPr marL="0" marR="0" lvl="0" indent="0" algn="ctr" defTabSz="914400" rtl="0" eaLnBrk="0" fontAlgn="base" latinLnBrk="0" hangingPunct="0">
                        <a:lnSpc>
                          <a:spcPct val="100000"/>
                        </a:lnSpc>
                        <a:spcBef>
                          <a:spcPct val="0"/>
                        </a:spcBef>
                        <a:spcAft>
                          <a:spcPct val="0"/>
                        </a:spcAft>
                        <a:buClrTx/>
                        <a:buSzTx/>
                        <a:buFontTx/>
                        <a:buNone/>
                      </a:pPr>
                      <a:r>
                        <a:rPr lang="zh-CN" altLang="en-US" sz="1400" dirty="0">
                          <a:latin typeface="+mj-ea"/>
                          <a:ea typeface="+mj-ea"/>
                        </a:rPr>
                        <a:t>灵活</a:t>
                      </a:r>
                    </a:p>
                  </a:txBody>
                  <a:tcPr marL="89998" marR="89998" marT="46816" marB="46816" anchor="ctr"/>
                </a:tc>
                <a:tc>
                  <a:txBody>
                    <a:bodyPr/>
                    <a:lstStyle/>
                    <a:p>
                      <a:pPr marL="0" marR="0" lvl="0" indent="0" algn="l" defTabSz="914400" rtl="0" eaLnBrk="0" fontAlgn="base" latinLnBrk="0" hangingPunct="0">
                        <a:lnSpc>
                          <a:spcPct val="100000"/>
                        </a:lnSpc>
                        <a:spcBef>
                          <a:spcPct val="0"/>
                        </a:spcBef>
                        <a:spcAft>
                          <a:spcPct val="0"/>
                        </a:spcAft>
                        <a:buClrTx/>
                        <a:buSzTx/>
                        <a:buFontTx/>
                        <a:buNone/>
                      </a:pPr>
                      <a:r>
                        <a:rPr lang="zh-CN" altLang="en-US" sz="1400" dirty="0"/>
                        <a:t>为每一个分组独立地选择最合适的转发路由</a:t>
                      </a:r>
                    </a:p>
                  </a:txBody>
                  <a:tcPr marL="89998" marR="89998" marT="46816" marB="46816" anchor="ctr"/>
                </a:tc>
                <a:extLst>
                  <a:ext uri="{0D108BD9-81ED-4DB2-BD59-A6C34878D82A}">
                    <a16:rowId xmlns:a16="http://schemas.microsoft.com/office/drawing/2014/main" val="10002"/>
                  </a:ext>
                </a:extLst>
              </a:tr>
              <a:tr h="137436">
                <a:tc>
                  <a:txBody>
                    <a:bodyPr/>
                    <a:lstStyle/>
                    <a:p>
                      <a:pPr marL="0" marR="0" lvl="0" indent="0" algn="ctr" defTabSz="914400" rtl="0" eaLnBrk="0" fontAlgn="base" latinLnBrk="0" hangingPunct="0">
                        <a:lnSpc>
                          <a:spcPct val="100000"/>
                        </a:lnSpc>
                        <a:spcBef>
                          <a:spcPct val="0"/>
                        </a:spcBef>
                        <a:spcAft>
                          <a:spcPct val="0"/>
                        </a:spcAft>
                        <a:buClrTx/>
                        <a:buSzTx/>
                        <a:buFontTx/>
                        <a:buNone/>
                      </a:pPr>
                      <a:r>
                        <a:rPr lang="zh-CN" altLang="en-US" sz="1400" dirty="0">
                          <a:latin typeface="+mj-ea"/>
                          <a:ea typeface="+mj-ea"/>
                        </a:rPr>
                        <a:t>迅速</a:t>
                      </a:r>
                    </a:p>
                  </a:txBody>
                  <a:tcPr marL="89998" marR="89998" marT="46816" marB="46816" anchor="ctr"/>
                </a:tc>
                <a:tc>
                  <a:txBody>
                    <a:bodyPr/>
                    <a:lstStyle/>
                    <a:p>
                      <a:pPr marL="0" marR="0" lvl="0" indent="0" algn="l" defTabSz="914400" rtl="0" eaLnBrk="0" fontAlgn="base" latinLnBrk="0" hangingPunct="0">
                        <a:lnSpc>
                          <a:spcPct val="100000"/>
                        </a:lnSpc>
                        <a:spcBef>
                          <a:spcPct val="0"/>
                        </a:spcBef>
                        <a:spcAft>
                          <a:spcPct val="0"/>
                        </a:spcAft>
                        <a:buClrTx/>
                        <a:buSzTx/>
                        <a:buFontTx/>
                        <a:buNone/>
                      </a:pPr>
                      <a:r>
                        <a:rPr lang="zh-CN" altLang="en-US" sz="1400" dirty="0"/>
                        <a:t>以分组作为传送单位，可以不事先建立连接就能向其他主机发送分组</a:t>
                      </a:r>
                    </a:p>
                  </a:txBody>
                  <a:tcPr marL="89998" marR="89998" marT="46816" marB="46816" anchor="ctr"/>
                </a:tc>
                <a:extLst>
                  <a:ext uri="{0D108BD9-81ED-4DB2-BD59-A6C34878D82A}">
                    <a16:rowId xmlns:a16="http://schemas.microsoft.com/office/drawing/2014/main" val="10003"/>
                  </a:ext>
                </a:extLst>
              </a:tr>
              <a:tr h="137436">
                <a:tc>
                  <a:txBody>
                    <a:bodyPr/>
                    <a:lstStyle/>
                    <a:p>
                      <a:pPr marL="0" marR="0" lvl="0" indent="0" algn="ctr" defTabSz="914400" rtl="0" eaLnBrk="0" fontAlgn="base" latinLnBrk="0" hangingPunct="0">
                        <a:lnSpc>
                          <a:spcPct val="100000"/>
                        </a:lnSpc>
                        <a:spcBef>
                          <a:spcPct val="0"/>
                        </a:spcBef>
                        <a:spcAft>
                          <a:spcPct val="0"/>
                        </a:spcAft>
                        <a:buClrTx/>
                        <a:buSzTx/>
                        <a:buFontTx/>
                        <a:buNone/>
                      </a:pPr>
                      <a:r>
                        <a:rPr lang="zh-CN" altLang="en-US" sz="1400" dirty="0">
                          <a:latin typeface="+mj-ea"/>
                          <a:ea typeface="+mj-ea"/>
                        </a:rPr>
                        <a:t>可靠</a:t>
                      </a:r>
                    </a:p>
                  </a:txBody>
                  <a:tcPr marL="89998" marR="89998" marT="46816" marB="46816" anchor="ctr"/>
                </a:tc>
                <a:tc>
                  <a:txBody>
                    <a:bodyPr/>
                    <a:lstStyle/>
                    <a:p>
                      <a:pPr marL="0" marR="0" lvl="0" indent="0" algn="l" defTabSz="914400" rtl="0" eaLnBrk="0" fontAlgn="base" latinLnBrk="0" hangingPunct="0">
                        <a:lnSpc>
                          <a:spcPct val="100000"/>
                        </a:lnSpc>
                        <a:spcBef>
                          <a:spcPct val="0"/>
                        </a:spcBef>
                        <a:spcAft>
                          <a:spcPct val="0"/>
                        </a:spcAft>
                        <a:buClrTx/>
                        <a:buSzTx/>
                        <a:buFontTx/>
                        <a:buNone/>
                      </a:pPr>
                      <a:r>
                        <a:rPr lang="zh-CN" altLang="en-US" sz="1400" dirty="0"/>
                        <a:t>保证可靠性的网络协议；分布式多路由的分组交换网，使网络有很好的生存性</a:t>
                      </a:r>
                    </a:p>
                  </a:txBody>
                  <a:tcPr marL="89998" marR="89998" marT="46816" marB="46816" anchor="ctr"/>
                </a:tc>
                <a:extLst>
                  <a:ext uri="{0D108BD9-81ED-4DB2-BD59-A6C34878D82A}">
                    <a16:rowId xmlns:a16="http://schemas.microsoft.com/office/drawing/2014/main" val="10004"/>
                  </a:ext>
                </a:extLst>
              </a:tr>
            </a:tbl>
          </a:graphicData>
        </a:graphic>
      </p:graphicFrame>
      <p:sp>
        <p:nvSpPr>
          <p:cNvPr id="2" name="标题 1">
            <a:extLst>
              <a:ext uri="{FF2B5EF4-FFF2-40B4-BE49-F238E27FC236}">
                <a16:creationId xmlns:a16="http://schemas.microsoft.com/office/drawing/2014/main" id="{D0A57D7A-64FD-F2A5-913B-54C2FDD00724}"/>
              </a:ext>
            </a:extLst>
          </p:cNvPr>
          <p:cNvSpPr>
            <a:spLocks noGrp="1"/>
          </p:cNvSpPr>
          <p:nvPr>
            <p:ph type="title"/>
          </p:nvPr>
        </p:nvSpPr>
        <p:spPr>
          <a:xfrm>
            <a:off x="612000" y="144000"/>
            <a:ext cx="7920000" cy="341632"/>
          </a:xfrm>
        </p:spPr>
        <p:txBody>
          <a:bodyPr/>
          <a:lstStyle/>
          <a:p>
            <a:r>
              <a:rPr lang="en-US" altLang="zh-CN" dirty="0"/>
              <a:t>2. </a:t>
            </a:r>
            <a:r>
              <a:rPr lang="zh-CN" altLang="en-US" dirty="0"/>
              <a:t>分组交换 </a:t>
            </a:r>
            <a:r>
              <a:rPr lang="en-US" altLang="zh-CN" dirty="0"/>
              <a:t>Packet</a:t>
            </a:r>
            <a:r>
              <a:rPr lang="zh-CN" altLang="en-US" dirty="0"/>
              <a:t> </a:t>
            </a:r>
            <a:r>
              <a:rPr lang="en-US" altLang="zh-CN" dirty="0"/>
              <a:t>Switching</a:t>
            </a:r>
            <a:endParaRPr lang="zh-CN" altLang="en-US" dirty="0"/>
          </a:p>
        </p:txBody>
      </p:sp>
      <p:graphicFrame>
        <p:nvGraphicFramePr>
          <p:cNvPr id="7" name="内容占位符 2">
            <a:extLst>
              <a:ext uri="{FF2B5EF4-FFF2-40B4-BE49-F238E27FC236}">
                <a16:creationId xmlns:a16="http://schemas.microsoft.com/office/drawing/2014/main" id="{39BB5C77-91BE-6ECC-4DB7-6C26D45DF905}"/>
              </a:ext>
            </a:extLst>
          </p:cNvPr>
          <p:cNvGraphicFramePr/>
          <p:nvPr>
            <p:extLst>
              <p:ext uri="{D42A27DB-BD31-4B8C-83A1-F6EECF244321}">
                <p14:modId xmlns:p14="http://schemas.microsoft.com/office/powerpoint/2010/main" val="2112179615"/>
              </p:ext>
            </p:extLst>
          </p:nvPr>
        </p:nvGraphicFramePr>
        <p:xfrm>
          <a:off x="612000" y="2968419"/>
          <a:ext cx="7920000" cy="1278386"/>
        </p:xfrm>
        <a:graphic>
          <a:graphicData uri="http://schemas.openxmlformats.org/drawingml/2006/table">
            <a:tbl>
              <a:tblPr firstRow="1" firstCol="1" bandRow="1" bandCol="1">
                <a:tableStyleId>{2D5ABB26-0587-4C30-8999-92F81FD0307C}</a:tableStyleId>
              </a:tblPr>
              <a:tblGrid>
                <a:gridCol w="1440000">
                  <a:extLst>
                    <a:ext uri="{9D8B030D-6E8A-4147-A177-3AD203B41FA5}">
                      <a16:colId xmlns:a16="http://schemas.microsoft.com/office/drawing/2014/main" val="20000"/>
                    </a:ext>
                  </a:extLst>
                </a:gridCol>
                <a:gridCol w="6480000">
                  <a:extLst>
                    <a:ext uri="{9D8B030D-6E8A-4147-A177-3AD203B41FA5}">
                      <a16:colId xmlns:a16="http://schemas.microsoft.com/office/drawing/2014/main" val="20001"/>
                    </a:ext>
                  </a:extLst>
                </a:gridCol>
              </a:tblGrid>
              <a:tr h="0">
                <a:tc>
                  <a:txBody>
                    <a:bodyPr/>
                    <a:lstStyle/>
                    <a:p>
                      <a:pPr marL="0" marR="0" lvl="0" indent="0" algn="ctr" defTabSz="914400" rtl="0" eaLnBrk="0" fontAlgn="base" latinLnBrk="0" hangingPunct="0">
                        <a:lnSpc>
                          <a:spcPct val="100000"/>
                        </a:lnSpc>
                        <a:spcBef>
                          <a:spcPct val="0"/>
                        </a:spcBef>
                        <a:spcAft>
                          <a:spcPct val="0"/>
                        </a:spcAft>
                        <a:buClrTx/>
                        <a:buSzTx/>
                        <a:buFontTx/>
                        <a:buNone/>
                      </a:pPr>
                      <a:r>
                        <a:rPr lang="zh-CN" altLang="en-US" sz="1400" dirty="0">
                          <a:solidFill>
                            <a:srgbClr val="FF0000"/>
                          </a:solidFill>
                          <a:latin typeface="+mj-ea"/>
                          <a:ea typeface="+mj-ea"/>
                        </a:rPr>
                        <a:t>缺点</a:t>
                      </a:r>
                    </a:p>
                  </a:txBody>
                  <a:tcPr marL="107997" marR="107997" marT="72025" marB="72025" anchor="ctr">
                    <a:lnB w="6350" cap="flat" cmpd="sng" algn="ctr">
                      <a:solidFill>
                        <a:schemeClr val="tx1"/>
                      </a:solidFill>
                      <a:prstDash val="solid"/>
                      <a:round/>
                      <a:headEnd type="none" w="med" len="med"/>
                      <a:tailEnd type="none" w="med" len="med"/>
                    </a:lnB>
                  </a:tcPr>
                </a:tc>
                <a:tc>
                  <a:txBody>
                    <a:bodyPr/>
                    <a:lstStyle/>
                    <a:p>
                      <a:pPr marL="0" marR="0" lvl="0" indent="0" algn="l" defTabSz="914400" rtl="0" eaLnBrk="0" fontAlgn="base" latinLnBrk="0" hangingPunct="0">
                        <a:lnSpc>
                          <a:spcPct val="100000"/>
                        </a:lnSpc>
                        <a:spcBef>
                          <a:spcPct val="0"/>
                        </a:spcBef>
                        <a:spcAft>
                          <a:spcPct val="0"/>
                        </a:spcAft>
                        <a:buClrTx/>
                        <a:buSzTx/>
                        <a:buFontTx/>
                        <a:buNone/>
                      </a:pPr>
                      <a:r>
                        <a:rPr lang="zh-CN" altLang="en-US" sz="1400" dirty="0">
                          <a:latin typeface="+mj-ea"/>
                          <a:ea typeface="+mj-ea"/>
                        </a:rPr>
                        <a:t>说明</a:t>
                      </a:r>
                    </a:p>
                  </a:txBody>
                  <a:tcPr marL="89998" marR="89998" marT="46816" marB="46816" anchor="ctr">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137436">
                <a:tc>
                  <a:txBody>
                    <a:bodyPr/>
                    <a:lstStyle/>
                    <a:p>
                      <a:pPr marL="0" marR="0" lvl="0" indent="0" algn="ctr" defTabSz="914400" rtl="0" eaLnBrk="0" fontAlgn="base" latinLnBrk="0" hangingPunct="0">
                        <a:lnSpc>
                          <a:spcPct val="100000"/>
                        </a:lnSpc>
                        <a:spcBef>
                          <a:spcPct val="0"/>
                        </a:spcBef>
                        <a:spcAft>
                          <a:spcPct val="0"/>
                        </a:spcAft>
                        <a:buClrTx/>
                        <a:buSzTx/>
                        <a:buFontTx/>
                        <a:buNone/>
                      </a:pPr>
                      <a:r>
                        <a:rPr lang="zh-CN" altLang="en-US" sz="1400" dirty="0">
                          <a:latin typeface="+mj-ea"/>
                          <a:ea typeface="+mj-ea"/>
                        </a:rPr>
                        <a:t>排队延迟</a:t>
                      </a:r>
                    </a:p>
                  </a:txBody>
                  <a:tcPr marL="89998" marR="89998" marT="46816" marB="46816" anchor="ctr">
                    <a:lnT w="6350" cap="flat" cmpd="sng" algn="ctr">
                      <a:solidFill>
                        <a:schemeClr val="tx1"/>
                      </a:solidFill>
                      <a:prstDash val="solid"/>
                      <a:round/>
                      <a:headEnd type="none" w="med" len="med"/>
                      <a:tailEnd type="none" w="med" len="med"/>
                    </a:lnT>
                  </a:tcPr>
                </a:tc>
                <a:tc>
                  <a:txBody>
                    <a:bodyPr/>
                    <a:lstStyle/>
                    <a:p>
                      <a:pPr marL="0" marR="0" lvl="0" indent="0" algn="l" defTabSz="914400" rtl="0" eaLnBrk="0" fontAlgn="base" latinLnBrk="0" hangingPunct="0">
                        <a:lnSpc>
                          <a:spcPct val="100000"/>
                        </a:lnSpc>
                        <a:spcBef>
                          <a:spcPct val="0"/>
                        </a:spcBef>
                        <a:spcAft>
                          <a:spcPct val="0"/>
                        </a:spcAft>
                        <a:buClrTx/>
                        <a:buSzTx/>
                        <a:buFontTx/>
                        <a:buNone/>
                      </a:pPr>
                      <a:r>
                        <a:rPr lang="zh-CN" altLang="en-US" sz="1400" dirty="0"/>
                        <a:t>分组在各路由器存储转发时需要排队</a:t>
                      </a:r>
                    </a:p>
                  </a:txBody>
                  <a:tcPr marL="89998" marR="89998" marT="46816" marB="46816" anchor="ctr">
                    <a:lnT w="6350" cap="flat" cmpd="sng" algn="ctr">
                      <a:solidFill>
                        <a:schemeClr val="tx1"/>
                      </a:solidFill>
                      <a:prstDash val="solid"/>
                      <a:round/>
                      <a:headEnd type="none" w="med" len="med"/>
                      <a:tailEnd type="none" w="med" len="med"/>
                    </a:lnT>
                  </a:tcPr>
                </a:tc>
                <a:extLst>
                  <a:ext uri="{0D108BD9-81ED-4DB2-BD59-A6C34878D82A}">
                    <a16:rowId xmlns:a16="http://schemas.microsoft.com/office/drawing/2014/main" val="10001"/>
                  </a:ext>
                </a:extLst>
              </a:tr>
              <a:tr h="137436">
                <a:tc>
                  <a:txBody>
                    <a:bodyPr/>
                    <a:lstStyle/>
                    <a:p>
                      <a:pPr marL="0" marR="0" lvl="0" indent="0" algn="ctr" defTabSz="914400" rtl="0" eaLnBrk="0" fontAlgn="base" latinLnBrk="0" hangingPunct="0">
                        <a:lnSpc>
                          <a:spcPct val="100000"/>
                        </a:lnSpc>
                        <a:spcBef>
                          <a:spcPct val="0"/>
                        </a:spcBef>
                        <a:spcAft>
                          <a:spcPct val="0"/>
                        </a:spcAft>
                        <a:buClrTx/>
                        <a:buSzTx/>
                        <a:buFontTx/>
                        <a:buNone/>
                      </a:pPr>
                      <a:r>
                        <a:rPr lang="zh-CN" altLang="en-US" sz="1400" dirty="0">
                          <a:latin typeface="+mj-ea"/>
                          <a:ea typeface="+mj-ea"/>
                        </a:rPr>
                        <a:t>不保证带宽</a:t>
                      </a:r>
                    </a:p>
                  </a:txBody>
                  <a:tcPr marL="89998" marR="89998" marT="46816" marB="46816" anchor="ctr"/>
                </a:tc>
                <a:tc>
                  <a:txBody>
                    <a:bodyPr/>
                    <a:lstStyle/>
                    <a:p>
                      <a:pPr marL="0" marR="0" lvl="0" indent="0" algn="l" defTabSz="914400" rtl="0" eaLnBrk="0" fontAlgn="base" latinLnBrk="0" hangingPunct="0">
                        <a:lnSpc>
                          <a:spcPct val="100000"/>
                        </a:lnSpc>
                        <a:spcBef>
                          <a:spcPct val="0"/>
                        </a:spcBef>
                        <a:spcAft>
                          <a:spcPct val="0"/>
                        </a:spcAft>
                        <a:buClrTx/>
                        <a:buSzTx/>
                        <a:buFontTx/>
                        <a:buNone/>
                      </a:pPr>
                      <a:r>
                        <a:rPr lang="zh-CN" altLang="en-US" sz="1400" dirty="0"/>
                        <a:t>动态分配，无法保证</a:t>
                      </a:r>
                    </a:p>
                  </a:txBody>
                  <a:tcPr marL="89998" marR="89998" marT="46816" marB="46816" anchor="ctr"/>
                </a:tc>
                <a:extLst>
                  <a:ext uri="{0D108BD9-81ED-4DB2-BD59-A6C34878D82A}">
                    <a16:rowId xmlns:a16="http://schemas.microsoft.com/office/drawing/2014/main" val="10002"/>
                  </a:ext>
                </a:extLst>
              </a:tr>
              <a:tr h="137436">
                <a:tc>
                  <a:txBody>
                    <a:bodyPr/>
                    <a:lstStyle/>
                    <a:p>
                      <a:pPr marL="0" marR="0" lvl="0" indent="0" algn="ctr" defTabSz="914400" rtl="0" eaLnBrk="0" fontAlgn="base" latinLnBrk="0" hangingPunct="0">
                        <a:lnSpc>
                          <a:spcPct val="100000"/>
                        </a:lnSpc>
                        <a:spcBef>
                          <a:spcPct val="0"/>
                        </a:spcBef>
                        <a:spcAft>
                          <a:spcPct val="0"/>
                        </a:spcAft>
                        <a:buClrTx/>
                        <a:buSzTx/>
                        <a:buFontTx/>
                        <a:buNone/>
                      </a:pPr>
                      <a:r>
                        <a:rPr lang="zh-CN" altLang="en-US" sz="1400" dirty="0">
                          <a:latin typeface="+mj-ea"/>
                          <a:ea typeface="+mj-ea"/>
                        </a:rPr>
                        <a:t>增加开销</a:t>
                      </a:r>
                    </a:p>
                  </a:txBody>
                  <a:tcPr marL="89998" marR="89998" marT="46816" marB="46816" anchor="ctr"/>
                </a:tc>
                <a:tc>
                  <a:txBody>
                    <a:bodyPr/>
                    <a:lstStyle/>
                    <a:p>
                      <a:pPr marL="0" marR="0" lvl="0" indent="0" algn="l" defTabSz="914400" rtl="0" eaLnBrk="0" fontAlgn="base" latinLnBrk="0" hangingPunct="0">
                        <a:lnSpc>
                          <a:spcPct val="100000"/>
                        </a:lnSpc>
                        <a:spcBef>
                          <a:spcPct val="0"/>
                        </a:spcBef>
                        <a:spcAft>
                          <a:spcPct val="0"/>
                        </a:spcAft>
                        <a:buClrTx/>
                        <a:buSzTx/>
                        <a:buFontTx/>
                        <a:buNone/>
                      </a:pPr>
                      <a:r>
                        <a:rPr lang="zh-CN" altLang="en-US" sz="1400" dirty="0"/>
                        <a:t>各分组必须携带控制信息；路由器要暂存分组，维护转发表等</a:t>
                      </a:r>
                    </a:p>
                  </a:txBody>
                  <a:tcPr marL="89998" marR="89998" marT="46816" marB="46816" anchor="ctr"/>
                </a:tc>
                <a:extLst>
                  <a:ext uri="{0D108BD9-81ED-4DB2-BD59-A6C34878D82A}">
                    <a16:rowId xmlns:a16="http://schemas.microsoft.com/office/drawing/2014/main" val="10003"/>
                  </a:ext>
                </a:extLst>
              </a:tr>
            </a:tbl>
          </a:graphicData>
        </a:graphic>
      </p:graphicFrame>
    </p:spTree>
    <p:extLst>
      <p:ext uri="{BB962C8B-B14F-4D97-AF65-F5344CB8AC3E}">
        <p14:creationId xmlns:p14="http://schemas.microsoft.com/office/powerpoint/2010/main" val="111611267"/>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5EBBBDF0-E80F-CE51-CD4D-DB8F95055F22}"/>
              </a:ext>
            </a:extLst>
          </p:cNvPr>
          <p:cNvSpPr>
            <a:spLocks noGrp="1"/>
          </p:cNvSpPr>
          <p:nvPr>
            <p:ph type="title"/>
          </p:nvPr>
        </p:nvSpPr>
        <p:spPr>
          <a:xfrm>
            <a:off x="612000" y="144000"/>
            <a:ext cx="7920000" cy="341632"/>
          </a:xfrm>
        </p:spPr>
        <p:txBody>
          <a:bodyPr/>
          <a:lstStyle/>
          <a:p>
            <a:r>
              <a:rPr lang="en-US" altLang="zh-CN" dirty="0"/>
              <a:t>3. </a:t>
            </a:r>
            <a:r>
              <a:rPr lang="zh-CN" altLang="en-US" dirty="0"/>
              <a:t>报文交换 </a:t>
            </a:r>
            <a:r>
              <a:rPr lang="en-US" altLang="zh-CN" dirty="0"/>
              <a:t>Message</a:t>
            </a:r>
            <a:r>
              <a:rPr lang="zh-CN" altLang="en-US" dirty="0"/>
              <a:t> </a:t>
            </a:r>
            <a:r>
              <a:rPr lang="en-US" altLang="zh-CN" dirty="0"/>
              <a:t>Switching</a:t>
            </a:r>
            <a:endParaRPr lang="zh-CN" altLang="en-US" dirty="0"/>
          </a:p>
        </p:txBody>
      </p:sp>
      <p:sp>
        <p:nvSpPr>
          <p:cNvPr id="2" name="内容占位符 1"/>
          <p:cNvSpPr>
            <a:spLocks noGrp="1"/>
          </p:cNvSpPr>
          <p:nvPr>
            <p:ph sz="quarter" idx="10"/>
          </p:nvPr>
        </p:nvSpPr>
        <p:spPr>
          <a:xfrm>
            <a:off x="612000" y="899999"/>
            <a:ext cx="7920000" cy="3780000"/>
          </a:xfrm>
        </p:spPr>
        <p:txBody>
          <a:bodyPr>
            <a:normAutofit/>
          </a:bodyPr>
          <a:lstStyle/>
          <a:p>
            <a:r>
              <a:rPr lang="zh-CN" altLang="en-US" dirty="0"/>
              <a:t>在 </a:t>
            </a:r>
            <a:r>
              <a:rPr lang="en-US" altLang="zh-CN" dirty="0"/>
              <a:t>20 </a:t>
            </a:r>
            <a:r>
              <a:rPr lang="zh-CN" altLang="en-US" dirty="0"/>
              <a:t>世纪 </a:t>
            </a:r>
            <a:r>
              <a:rPr lang="en-US" altLang="zh-CN" dirty="0"/>
              <a:t>40 </a:t>
            </a:r>
            <a:r>
              <a:rPr lang="zh-CN" altLang="en-US" dirty="0"/>
              <a:t>年代，电报通信就采用了基于存储转发原理的报文交换 </a:t>
            </a:r>
          </a:p>
          <a:p>
            <a:r>
              <a:rPr lang="zh-CN" altLang="en-US" dirty="0"/>
              <a:t>全报文 </a:t>
            </a:r>
            <a:r>
              <a:rPr lang="en-US" altLang="zh-CN" dirty="0"/>
              <a:t>Message </a:t>
            </a:r>
            <a:r>
              <a:rPr lang="zh-CN" altLang="en-US" dirty="0"/>
              <a:t>存储转发</a:t>
            </a:r>
            <a:endParaRPr lang="en-US" altLang="zh-CN" dirty="0"/>
          </a:p>
          <a:p>
            <a:r>
              <a:rPr lang="zh-CN" altLang="en-US" dirty="0"/>
              <a:t>现在报文交换已经很少使用</a:t>
            </a:r>
            <a:endParaRPr lang="en-US" altLang="zh-CN" dirty="0"/>
          </a:p>
          <a:p>
            <a:pPr lvl="0"/>
            <a:r>
              <a:rPr lang="zh-CN" altLang="en-US" dirty="0"/>
              <a:t>优点</a:t>
            </a:r>
            <a:endParaRPr lang="en-US" altLang="zh-CN" dirty="0"/>
          </a:p>
          <a:p>
            <a:pPr lvl="1"/>
            <a:r>
              <a:rPr lang="zh-CN" altLang="zh-CN" dirty="0"/>
              <a:t>通信前无需建立连接</a:t>
            </a:r>
          </a:p>
          <a:p>
            <a:pPr lvl="1"/>
            <a:r>
              <a:rPr lang="zh-CN" altLang="zh-CN" dirty="0"/>
              <a:t>数据以报文为单位被交换节点间存储转发，通信线路可以灵活分配</a:t>
            </a:r>
          </a:p>
          <a:p>
            <a:pPr lvl="1"/>
            <a:r>
              <a:rPr lang="zh-CN" altLang="zh-CN" dirty="0"/>
              <a:t>在通信时间内，两个用户无需独占一整条物理线路。相比于电路交换，线路利用率高</a:t>
            </a:r>
          </a:p>
          <a:p>
            <a:pPr lvl="1"/>
            <a:r>
              <a:rPr lang="zh-CN" altLang="zh-CN" dirty="0"/>
              <a:t>交换节点支持差错控制（通过校验技术）</a:t>
            </a:r>
          </a:p>
          <a:p>
            <a:r>
              <a:rPr lang="zh-CN" altLang="zh-CN" dirty="0"/>
              <a:t>缺点：</a:t>
            </a:r>
          </a:p>
          <a:p>
            <a:pPr lvl="1"/>
            <a:r>
              <a:rPr lang="zh-CN" altLang="zh-CN" dirty="0"/>
              <a:t>报文不定长，不方便存储转发管理</a:t>
            </a:r>
          </a:p>
          <a:p>
            <a:pPr lvl="1"/>
            <a:r>
              <a:rPr lang="zh-CN" altLang="zh-CN" dirty="0"/>
              <a:t>长报文的存储转发时间开销大、缓存开销大</a:t>
            </a:r>
          </a:p>
          <a:p>
            <a:pPr lvl="1"/>
            <a:r>
              <a:rPr lang="zh-CN" altLang="zh-CN" dirty="0"/>
              <a:t>长报文容易出错，重传代价高</a:t>
            </a:r>
          </a:p>
          <a:p>
            <a:endParaRPr lang="zh-CN" altLang="en-US" dirty="0"/>
          </a:p>
          <a:p>
            <a:endParaRPr lang="zh-CN" altLang="en-US" dirty="0"/>
          </a:p>
        </p:txBody>
      </p:sp>
    </p:spTree>
    <p:extLst>
      <p:ext uri="{BB962C8B-B14F-4D97-AF65-F5344CB8AC3E}">
        <p14:creationId xmlns:p14="http://schemas.microsoft.com/office/powerpoint/2010/main" val="201766949"/>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14" name="组合 213"/>
          <p:cNvGrpSpPr/>
          <p:nvPr/>
        </p:nvGrpSpPr>
        <p:grpSpPr bwMode="auto">
          <a:xfrm>
            <a:off x="6087561" y="1690421"/>
            <a:ext cx="960437" cy="327025"/>
            <a:chOff x="5671771" y="1787171"/>
            <a:chExt cx="960767" cy="327823"/>
          </a:xfrm>
        </p:grpSpPr>
        <p:grpSp>
          <p:nvGrpSpPr>
            <p:cNvPr id="84112" name="组合 145"/>
            <p:cNvGrpSpPr/>
            <p:nvPr/>
          </p:nvGrpSpPr>
          <p:grpSpPr bwMode="auto">
            <a:xfrm>
              <a:off x="5671771" y="1787171"/>
              <a:ext cx="960767" cy="327823"/>
              <a:chOff x="6127637" y="2338510"/>
              <a:chExt cx="1464113" cy="499569"/>
            </a:xfrm>
          </p:grpSpPr>
          <p:sp>
            <p:nvSpPr>
              <p:cNvPr id="84114" name="AutoShape 54"/>
              <p:cNvSpPr>
                <a:spLocks noChangeArrowheads="1"/>
              </p:cNvSpPr>
              <p:nvPr/>
            </p:nvSpPr>
            <p:spPr bwMode="auto">
              <a:xfrm rot="5400000">
                <a:off x="6347066" y="2302899"/>
                <a:ext cx="243919" cy="449589"/>
              </a:xfrm>
              <a:prstGeom prst="parallelogram">
                <a:avLst>
                  <a:gd name="adj" fmla="val 29162"/>
                </a:avLst>
              </a:prstGeom>
              <a:solidFill>
                <a:srgbClr val="C0000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chemeClr val="bg1"/>
                  </a:solidFill>
                  <a:latin typeface="微软雅黑" panose="020B0503020204020204" pitchFamily="34" charset="-122"/>
                  <a:ea typeface="微软雅黑" panose="020B0503020204020204" pitchFamily="34" charset="-122"/>
                </a:endParaRPr>
              </a:p>
            </p:txBody>
          </p:sp>
          <p:sp>
            <p:nvSpPr>
              <p:cNvPr id="84115" name="Line 56"/>
              <p:cNvSpPr>
                <a:spLocks noChangeShapeType="1"/>
              </p:cNvSpPr>
              <p:nvPr/>
            </p:nvSpPr>
            <p:spPr bwMode="auto">
              <a:xfrm>
                <a:off x="6240474" y="2402266"/>
                <a:ext cx="454598" cy="72829"/>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116" name="Line 57"/>
              <p:cNvSpPr>
                <a:spLocks noChangeShapeType="1"/>
              </p:cNvSpPr>
              <p:nvPr/>
            </p:nvSpPr>
            <p:spPr bwMode="auto">
              <a:xfrm>
                <a:off x="6236717" y="2576824"/>
                <a:ext cx="453346" cy="72829"/>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nvGrpSpPr>
              <p:cNvPr id="84117" name="Group 136"/>
              <p:cNvGrpSpPr/>
              <p:nvPr/>
            </p:nvGrpSpPr>
            <p:grpSpPr bwMode="auto">
              <a:xfrm>
                <a:off x="6685061" y="2478552"/>
                <a:ext cx="458356" cy="248542"/>
                <a:chOff x="4652" y="2004"/>
                <a:chExt cx="366" cy="215"/>
              </a:xfrm>
            </p:grpSpPr>
            <p:sp>
              <p:nvSpPr>
                <p:cNvPr id="84126" name="AutoShape 14"/>
                <p:cNvSpPr>
                  <a:spLocks noChangeArrowheads="1"/>
                </p:cNvSpPr>
                <p:nvPr/>
              </p:nvSpPr>
              <p:spPr bwMode="auto">
                <a:xfrm rot="5400000">
                  <a:off x="4732" y="1934"/>
                  <a:ext cx="211" cy="359"/>
                </a:xfrm>
                <a:prstGeom prst="parallelogram">
                  <a:avLst>
                    <a:gd name="adj" fmla="val 29162"/>
                  </a:avLst>
                </a:prstGeom>
                <a:solidFill>
                  <a:srgbClr val="C0000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chemeClr val="bg1"/>
                    </a:solidFill>
                    <a:latin typeface="微软雅黑" panose="020B0503020204020204" pitchFamily="34" charset="-122"/>
                    <a:ea typeface="微软雅黑" panose="020B0503020204020204" pitchFamily="34" charset="-122"/>
                  </a:endParaRPr>
                </a:p>
              </p:txBody>
            </p:sp>
            <p:sp>
              <p:nvSpPr>
                <p:cNvPr id="84127" name="Line 16"/>
                <p:cNvSpPr>
                  <a:spLocks noChangeShapeType="1"/>
                </p:cNvSpPr>
                <p:nvPr/>
              </p:nvSpPr>
              <p:spPr bwMode="auto">
                <a:xfrm>
                  <a:off x="4656" y="2004"/>
                  <a:ext cx="362" cy="64"/>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128" name="Line 17"/>
                <p:cNvSpPr>
                  <a:spLocks noChangeShapeType="1"/>
                </p:cNvSpPr>
                <p:nvPr/>
              </p:nvSpPr>
              <p:spPr bwMode="auto">
                <a:xfrm>
                  <a:off x="4652" y="2155"/>
                  <a:ext cx="363" cy="64"/>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129" name="AutoShape 18"/>
                <p:cNvSpPr>
                  <a:spLocks noChangeArrowheads="1"/>
                </p:cNvSpPr>
                <p:nvPr/>
              </p:nvSpPr>
              <p:spPr bwMode="auto">
                <a:xfrm rot="746037">
                  <a:off x="4846" y="2069"/>
                  <a:ext cx="133" cy="127"/>
                </a:xfrm>
                <a:prstGeom prst="rightArrow">
                  <a:avLst>
                    <a:gd name="adj1" fmla="val 50000"/>
                    <a:gd name="adj2" fmla="val 26181"/>
                  </a:avLst>
                </a:prstGeom>
                <a:solidFill>
                  <a:schemeClr val="bg1"/>
                </a:solidFill>
                <a:ln>
                  <a:noFill/>
                </a:ln>
                <a:effectLst/>
                <a:extLs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chemeClr val="bg1"/>
                    </a:solidFill>
                    <a:latin typeface="微软雅黑" panose="020B0503020204020204" pitchFamily="34" charset="-122"/>
                    <a:ea typeface="微软雅黑" panose="020B0503020204020204" pitchFamily="34" charset="-122"/>
                  </a:endParaRPr>
                </a:p>
              </p:txBody>
            </p:sp>
          </p:grpSp>
          <p:grpSp>
            <p:nvGrpSpPr>
              <p:cNvPr id="84118" name="Group 140"/>
              <p:cNvGrpSpPr/>
              <p:nvPr/>
            </p:nvGrpSpPr>
            <p:grpSpPr bwMode="auto">
              <a:xfrm>
                <a:off x="7008161" y="2486651"/>
                <a:ext cx="583589" cy="351428"/>
                <a:chOff x="4910" y="2011"/>
                <a:chExt cx="466" cy="304"/>
              </a:xfrm>
            </p:grpSpPr>
            <p:sp>
              <p:nvSpPr>
                <p:cNvPr id="84121" name="AutoShape 29"/>
                <p:cNvSpPr>
                  <a:spLocks noChangeArrowheads="1"/>
                </p:cNvSpPr>
                <p:nvPr/>
              </p:nvSpPr>
              <p:spPr bwMode="auto">
                <a:xfrm rot="5400000">
                  <a:off x="5091" y="2000"/>
                  <a:ext cx="210" cy="359"/>
                </a:xfrm>
                <a:prstGeom prst="parallelogram">
                  <a:avLst>
                    <a:gd name="adj" fmla="val 29162"/>
                  </a:avLst>
                </a:prstGeom>
                <a:solidFill>
                  <a:srgbClr val="C0000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chemeClr val="bg1"/>
                    </a:solidFill>
                    <a:latin typeface="微软雅黑" panose="020B0503020204020204" pitchFamily="34" charset="-122"/>
                    <a:ea typeface="微软雅黑" panose="020B0503020204020204" pitchFamily="34" charset="-122"/>
                  </a:endParaRPr>
                </a:p>
              </p:txBody>
            </p:sp>
            <p:sp>
              <p:nvSpPr>
                <p:cNvPr id="84122" name="Text Box 30"/>
                <p:cNvSpPr txBox="1">
                  <a:spLocks noChangeArrowheads="1"/>
                </p:cNvSpPr>
                <p:nvPr/>
              </p:nvSpPr>
              <p:spPr bwMode="auto">
                <a:xfrm rot="626605">
                  <a:off x="4910" y="2011"/>
                  <a:ext cx="402" cy="304"/>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en-US" altLang="zh-CN" sz="900" b="1">
                      <a:solidFill>
                        <a:schemeClr val="bg1"/>
                      </a:solidFill>
                      <a:latin typeface="微软雅黑" panose="020B0503020204020204" pitchFamily="34" charset="-122"/>
                      <a:ea typeface="微软雅黑" panose="020B0503020204020204" pitchFamily="34" charset="-122"/>
                    </a:rPr>
                    <a:t>P2</a:t>
                  </a:r>
                </a:p>
              </p:txBody>
            </p:sp>
            <p:sp>
              <p:nvSpPr>
                <p:cNvPr id="84123" name="Line 31"/>
                <p:cNvSpPr>
                  <a:spLocks noChangeShapeType="1"/>
                </p:cNvSpPr>
                <p:nvPr/>
              </p:nvSpPr>
              <p:spPr bwMode="auto">
                <a:xfrm>
                  <a:off x="5014" y="2071"/>
                  <a:ext cx="362" cy="63"/>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124" name="Line 32"/>
                <p:cNvSpPr>
                  <a:spLocks noChangeShapeType="1"/>
                </p:cNvSpPr>
                <p:nvPr/>
              </p:nvSpPr>
              <p:spPr bwMode="auto">
                <a:xfrm>
                  <a:off x="5010" y="2222"/>
                  <a:ext cx="363" cy="63"/>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125" name="AutoShape 33"/>
                <p:cNvSpPr>
                  <a:spLocks noChangeArrowheads="1"/>
                </p:cNvSpPr>
                <p:nvPr/>
              </p:nvSpPr>
              <p:spPr bwMode="auto">
                <a:xfrm rot="746037">
                  <a:off x="5204" y="2136"/>
                  <a:ext cx="133" cy="127"/>
                </a:xfrm>
                <a:prstGeom prst="rightArrow">
                  <a:avLst>
                    <a:gd name="adj1" fmla="val 50000"/>
                    <a:gd name="adj2" fmla="val 26181"/>
                  </a:avLst>
                </a:prstGeom>
                <a:solidFill>
                  <a:schemeClr val="bg1"/>
                </a:solidFill>
                <a:ln>
                  <a:noFill/>
                </a:ln>
                <a:effectLst/>
                <a:extLs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chemeClr val="bg1"/>
                    </a:solidFill>
                    <a:latin typeface="微软雅黑" panose="020B0503020204020204" pitchFamily="34" charset="-122"/>
                    <a:ea typeface="微软雅黑" panose="020B0503020204020204" pitchFamily="34" charset="-122"/>
                  </a:endParaRPr>
                </a:p>
              </p:txBody>
            </p:sp>
          </p:grpSp>
          <p:sp>
            <p:nvSpPr>
              <p:cNvPr id="84119" name="Text Box 55"/>
              <p:cNvSpPr txBox="1">
                <a:spLocks noChangeArrowheads="1"/>
              </p:cNvSpPr>
              <p:nvPr/>
            </p:nvSpPr>
            <p:spPr bwMode="auto">
              <a:xfrm rot="626605">
                <a:off x="6127637" y="2338510"/>
                <a:ext cx="503710" cy="351765"/>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en-US" altLang="zh-CN" sz="900" b="1">
                    <a:solidFill>
                      <a:schemeClr val="bg1"/>
                    </a:solidFill>
                    <a:latin typeface="微软雅黑" panose="020B0503020204020204" pitchFamily="34" charset="-122"/>
                    <a:ea typeface="微软雅黑" panose="020B0503020204020204" pitchFamily="34" charset="-122"/>
                  </a:rPr>
                  <a:t>P4</a:t>
                </a:r>
              </a:p>
            </p:txBody>
          </p:sp>
          <p:sp>
            <p:nvSpPr>
              <p:cNvPr id="84120" name="AutoShape 58"/>
              <p:cNvSpPr>
                <a:spLocks noChangeArrowheads="1"/>
              </p:cNvSpPr>
              <p:nvPr/>
            </p:nvSpPr>
            <p:spPr bwMode="auto">
              <a:xfrm rot="746037">
                <a:off x="6493475" y="2477401"/>
                <a:ext cx="166561" cy="145657"/>
              </a:xfrm>
              <a:prstGeom prst="rightArrow">
                <a:avLst>
                  <a:gd name="adj1" fmla="val 50000"/>
                  <a:gd name="adj2" fmla="val 26391"/>
                </a:avLst>
              </a:prstGeom>
              <a:solidFill>
                <a:schemeClr val="bg1"/>
              </a:solidFill>
              <a:ln>
                <a:noFill/>
              </a:ln>
              <a:effectLst/>
              <a:extLs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chemeClr val="bg1"/>
                  </a:solidFill>
                  <a:latin typeface="微软雅黑" panose="020B0503020204020204" pitchFamily="34" charset="-122"/>
                  <a:ea typeface="微软雅黑" panose="020B0503020204020204" pitchFamily="34" charset="-122"/>
                </a:endParaRPr>
              </a:p>
            </p:txBody>
          </p:sp>
        </p:grpSp>
        <p:sp>
          <p:nvSpPr>
            <p:cNvPr id="84113" name="Text Box 15"/>
            <p:cNvSpPr txBox="1">
              <a:spLocks noChangeArrowheads="1"/>
            </p:cNvSpPr>
            <p:nvPr/>
          </p:nvSpPr>
          <p:spPr bwMode="auto">
            <a:xfrm rot="626605">
              <a:off x="5968441" y="1836475"/>
              <a:ext cx="330540" cy="230832"/>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en-US" altLang="zh-CN" sz="900" b="1">
                  <a:solidFill>
                    <a:schemeClr val="bg1"/>
                  </a:solidFill>
                  <a:latin typeface="微软雅黑" panose="020B0503020204020204" pitchFamily="34" charset="-122"/>
                  <a:ea typeface="微软雅黑" panose="020B0503020204020204" pitchFamily="34" charset="-122"/>
                </a:rPr>
                <a:t>P3</a:t>
              </a:r>
            </a:p>
          </p:txBody>
        </p:sp>
      </p:grpSp>
      <p:grpSp>
        <p:nvGrpSpPr>
          <p:cNvPr id="164" name="组合 163"/>
          <p:cNvGrpSpPr/>
          <p:nvPr/>
        </p:nvGrpSpPr>
        <p:grpSpPr bwMode="auto">
          <a:xfrm>
            <a:off x="6395536" y="1784084"/>
            <a:ext cx="660400" cy="458787"/>
            <a:chOff x="6589886" y="2482016"/>
            <a:chExt cx="1006880" cy="698229"/>
          </a:xfrm>
        </p:grpSpPr>
        <p:sp>
          <p:nvSpPr>
            <p:cNvPr id="84097" name="AutoShape 54"/>
            <p:cNvSpPr>
              <a:spLocks noChangeArrowheads="1"/>
            </p:cNvSpPr>
            <p:nvPr/>
          </p:nvSpPr>
          <p:spPr bwMode="auto">
            <a:xfrm rot="5400000">
              <a:off x="6779122" y="2560691"/>
              <a:ext cx="243919" cy="449589"/>
            </a:xfrm>
            <a:prstGeom prst="parallelogram">
              <a:avLst>
                <a:gd name="adj" fmla="val 29162"/>
              </a:avLst>
            </a:prstGeom>
            <a:solidFill>
              <a:srgbClr val="C0000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chemeClr val="bg1"/>
                </a:solidFill>
                <a:latin typeface="微软雅黑" panose="020B0503020204020204" pitchFamily="34" charset="-122"/>
                <a:ea typeface="微软雅黑" panose="020B0503020204020204" pitchFamily="34" charset="-122"/>
              </a:endParaRPr>
            </a:p>
          </p:txBody>
        </p:sp>
        <p:grpSp>
          <p:nvGrpSpPr>
            <p:cNvPr id="84098" name="Group 141"/>
            <p:cNvGrpSpPr/>
            <p:nvPr/>
          </p:nvGrpSpPr>
          <p:grpSpPr bwMode="auto">
            <a:xfrm>
              <a:off x="7138410" y="2759463"/>
              <a:ext cx="458356" cy="247386"/>
              <a:chOff x="5014" y="2247"/>
              <a:chExt cx="366" cy="214"/>
            </a:xfrm>
          </p:grpSpPr>
          <p:sp>
            <p:nvSpPr>
              <p:cNvPr id="84108" name="AutoShape 34"/>
              <p:cNvSpPr>
                <a:spLocks noChangeArrowheads="1"/>
              </p:cNvSpPr>
              <p:nvPr/>
            </p:nvSpPr>
            <p:spPr bwMode="auto">
              <a:xfrm rot="5400000">
                <a:off x="5094" y="2176"/>
                <a:ext cx="211" cy="359"/>
              </a:xfrm>
              <a:prstGeom prst="parallelogram">
                <a:avLst>
                  <a:gd name="adj" fmla="val 29162"/>
                </a:avLst>
              </a:prstGeom>
              <a:solidFill>
                <a:srgbClr val="C0000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chemeClr val="bg1"/>
                  </a:solidFill>
                  <a:latin typeface="微软雅黑" panose="020B0503020204020204" pitchFamily="34" charset="-122"/>
                  <a:ea typeface="微软雅黑" panose="020B0503020204020204" pitchFamily="34" charset="-122"/>
                </a:endParaRPr>
              </a:p>
            </p:txBody>
          </p:sp>
          <p:sp>
            <p:nvSpPr>
              <p:cNvPr id="84109" name="Line 36"/>
              <p:cNvSpPr>
                <a:spLocks noChangeShapeType="1"/>
              </p:cNvSpPr>
              <p:nvPr/>
            </p:nvSpPr>
            <p:spPr bwMode="auto">
              <a:xfrm>
                <a:off x="5017" y="2247"/>
                <a:ext cx="363" cy="63"/>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110" name="Line 37"/>
              <p:cNvSpPr>
                <a:spLocks noChangeShapeType="1"/>
              </p:cNvSpPr>
              <p:nvPr/>
            </p:nvSpPr>
            <p:spPr bwMode="auto">
              <a:xfrm>
                <a:off x="5014" y="2398"/>
                <a:ext cx="362" cy="63"/>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111" name="AutoShape 38"/>
              <p:cNvSpPr>
                <a:spLocks noChangeArrowheads="1"/>
              </p:cNvSpPr>
              <p:nvPr/>
            </p:nvSpPr>
            <p:spPr bwMode="auto">
              <a:xfrm rot="746037">
                <a:off x="5208" y="2312"/>
                <a:ext cx="133" cy="126"/>
              </a:xfrm>
              <a:prstGeom prst="rightArrow">
                <a:avLst>
                  <a:gd name="adj1" fmla="val 50000"/>
                  <a:gd name="adj2" fmla="val 26389"/>
                </a:avLst>
              </a:prstGeom>
              <a:solidFill>
                <a:schemeClr val="bg1"/>
              </a:solidFill>
              <a:ln>
                <a:noFill/>
              </a:ln>
              <a:effectLst/>
              <a:extLs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chemeClr val="bg1"/>
                  </a:solidFill>
                  <a:latin typeface="微软雅黑" panose="020B0503020204020204" pitchFamily="34" charset="-122"/>
                  <a:ea typeface="微软雅黑" panose="020B0503020204020204" pitchFamily="34" charset="-122"/>
                </a:endParaRPr>
              </a:p>
            </p:txBody>
          </p:sp>
        </p:grpSp>
        <p:sp>
          <p:nvSpPr>
            <p:cNvPr id="84099" name="Line 112"/>
            <p:cNvSpPr>
              <a:spLocks noChangeShapeType="1"/>
            </p:cNvSpPr>
            <p:nvPr/>
          </p:nvSpPr>
          <p:spPr bwMode="auto">
            <a:xfrm>
              <a:off x="6696956" y="2835856"/>
              <a:ext cx="453346" cy="73985"/>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nvGrpSpPr>
            <p:cNvPr id="84100" name="Group 137"/>
            <p:cNvGrpSpPr/>
            <p:nvPr/>
          </p:nvGrpSpPr>
          <p:grpSpPr bwMode="auto">
            <a:xfrm>
              <a:off x="6589886" y="2482016"/>
              <a:ext cx="631179" cy="698229"/>
              <a:chOff x="4576" y="2007"/>
              <a:chExt cx="504" cy="604"/>
            </a:xfrm>
          </p:grpSpPr>
          <p:sp>
            <p:nvSpPr>
              <p:cNvPr id="84103" name="AutoShape 19"/>
              <p:cNvSpPr>
                <a:spLocks noChangeArrowheads="1"/>
              </p:cNvSpPr>
              <p:nvPr/>
            </p:nvSpPr>
            <p:spPr bwMode="auto">
              <a:xfrm rot="5400000">
                <a:off x="4637" y="2052"/>
                <a:ext cx="411" cy="474"/>
              </a:xfrm>
              <a:prstGeom prst="parallelogram">
                <a:avLst>
                  <a:gd name="adj" fmla="val 29162"/>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endParaRPr lang="zh-CN" altLang="en-US" sz="900" b="1">
                  <a:solidFill>
                    <a:schemeClr val="bg1"/>
                  </a:solidFill>
                  <a:latin typeface="微软雅黑" panose="020B0503020204020204" pitchFamily="34" charset="-122"/>
                  <a:ea typeface="微软雅黑" panose="020B0503020204020204" pitchFamily="34" charset="-122"/>
                </a:endParaRPr>
              </a:p>
            </p:txBody>
          </p:sp>
          <p:sp>
            <p:nvSpPr>
              <p:cNvPr id="84104" name="Text Box 20"/>
              <p:cNvSpPr txBox="1">
                <a:spLocks noChangeArrowheads="1"/>
              </p:cNvSpPr>
              <p:nvPr/>
            </p:nvSpPr>
            <p:spPr bwMode="auto">
              <a:xfrm rot="626605">
                <a:off x="4576" y="2110"/>
                <a:ext cx="402" cy="304"/>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en-US" altLang="zh-CN" sz="900" b="1">
                    <a:solidFill>
                      <a:schemeClr val="bg1"/>
                    </a:solidFill>
                    <a:latin typeface="微软雅黑" panose="020B0503020204020204" pitchFamily="34" charset="-122"/>
                    <a:ea typeface="微软雅黑" panose="020B0503020204020204" pitchFamily="34" charset="-122"/>
                  </a:rPr>
                  <a:t>P4</a:t>
                </a:r>
              </a:p>
            </p:txBody>
          </p:sp>
          <p:sp>
            <p:nvSpPr>
              <p:cNvPr id="84105" name="Line 21"/>
              <p:cNvSpPr>
                <a:spLocks noChangeShapeType="1"/>
              </p:cNvSpPr>
              <p:nvPr/>
            </p:nvSpPr>
            <p:spPr bwMode="auto">
              <a:xfrm>
                <a:off x="4659" y="2180"/>
                <a:ext cx="363" cy="63"/>
              </a:xfrm>
              <a:prstGeom prst="line">
                <a:avLst/>
              </a:prstGeom>
              <a:noFill/>
              <a:ln>
                <a:noFill/>
              </a:ln>
              <a:effectLst/>
              <a:extLst>
                <a:ext uri="{909E8E84-426E-40DD-AFC4-6F175D3DCCD1}">
                  <a14:hiddenFill xmlns:a14="http://schemas.microsoft.com/office/drawing/2010/main">
                    <a:noFill/>
                  </a14:hiddenFill>
                </a:ex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endParaRPr lang="zh-CN" altLang="en-US" dirty="0">
                  <a:latin typeface="Times New Roman" panose="02020603050405020304" pitchFamily="18" charset="0"/>
                  <a:ea typeface="微软雅黑 Light" panose="020B0502040204020203" pitchFamily="34" charset="-122"/>
                </a:endParaRPr>
              </a:p>
            </p:txBody>
          </p:sp>
          <p:sp>
            <p:nvSpPr>
              <p:cNvPr id="84106" name="Line 22"/>
              <p:cNvSpPr>
                <a:spLocks noChangeShapeType="1"/>
              </p:cNvSpPr>
              <p:nvPr/>
            </p:nvSpPr>
            <p:spPr bwMode="auto">
              <a:xfrm>
                <a:off x="4656" y="2331"/>
                <a:ext cx="362" cy="63"/>
              </a:xfrm>
              <a:prstGeom prst="line">
                <a:avLst/>
              </a:prstGeom>
              <a:noFill/>
              <a:ln>
                <a:noFill/>
              </a:ln>
              <a:effectLst/>
              <a:extLst>
                <a:ext uri="{909E8E84-426E-40DD-AFC4-6F175D3DCCD1}">
                  <a14:hiddenFill xmlns:a14="http://schemas.microsoft.com/office/drawing/2010/main">
                    <a:noFill/>
                  </a14:hiddenFill>
                </a:ex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endParaRPr lang="zh-CN" altLang="en-US" dirty="0">
                  <a:latin typeface="Times New Roman" panose="02020603050405020304" pitchFamily="18" charset="0"/>
                  <a:ea typeface="微软雅黑 Light" panose="020B0502040204020203" pitchFamily="34" charset="-122"/>
                </a:endParaRPr>
              </a:p>
            </p:txBody>
          </p:sp>
          <p:sp>
            <p:nvSpPr>
              <p:cNvPr id="84107" name="AutoShape 23"/>
              <p:cNvSpPr>
                <a:spLocks noChangeArrowheads="1"/>
              </p:cNvSpPr>
              <p:nvPr/>
            </p:nvSpPr>
            <p:spPr bwMode="auto">
              <a:xfrm rot="746037">
                <a:off x="4788" y="2007"/>
                <a:ext cx="257" cy="604"/>
              </a:xfrm>
              <a:prstGeom prst="rightArrow">
                <a:avLst>
                  <a:gd name="adj1" fmla="val 50000"/>
                  <a:gd name="adj2" fmla="val 26190"/>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endParaRPr lang="zh-CN" altLang="en-US" sz="900" b="1">
                  <a:solidFill>
                    <a:schemeClr val="bg1"/>
                  </a:solidFill>
                  <a:latin typeface="微软雅黑" panose="020B0503020204020204" pitchFamily="34" charset="-122"/>
                  <a:ea typeface="微软雅黑" panose="020B0503020204020204" pitchFamily="34" charset="-122"/>
                </a:endParaRPr>
              </a:p>
            </p:txBody>
          </p:sp>
        </p:grpSp>
        <p:sp>
          <p:nvSpPr>
            <p:cNvPr id="84101" name="AutoShape 38"/>
            <p:cNvSpPr>
              <a:spLocks noChangeArrowheads="1"/>
            </p:cNvSpPr>
            <p:nvPr/>
          </p:nvSpPr>
          <p:spPr bwMode="auto">
            <a:xfrm rot="746037">
              <a:off x="6956606" y="2737924"/>
              <a:ext cx="166561" cy="145657"/>
            </a:xfrm>
            <a:prstGeom prst="rightArrow">
              <a:avLst>
                <a:gd name="adj1" fmla="val 50000"/>
                <a:gd name="adj2" fmla="val 26391"/>
              </a:avLst>
            </a:prstGeom>
            <a:solidFill>
              <a:schemeClr val="bg1"/>
            </a:solidFill>
            <a:ln>
              <a:noFill/>
            </a:ln>
            <a:effectLst/>
            <a:extLs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chemeClr val="bg1"/>
                </a:solidFill>
                <a:latin typeface="微软雅黑" panose="020B0503020204020204" pitchFamily="34" charset="-122"/>
                <a:ea typeface="微软雅黑" panose="020B0503020204020204" pitchFamily="34" charset="-122"/>
              </a:endParaRPr>
            </a:p>
          </p:txBody>
        </p:sp>
        <p:sp>
          <p:nvSpPr>
            <p:cNvPr id="84102" name="Text Box 35"/>
            <p:cNvSpPr txBox="1">
              <a:spLocks noChangeArrowheads="1"/>
            </p:cNvSpPr>
            <p:nvPr/>
          </p:nvSpPr>
          <p:spPr bwMode="auto">
            <a:xfrm rot="626605">
              <a:off x="7020553" y="2695710"/>
              <a:ext cx="503710" cy="351766"/>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en-US" altLang="zh-CN" sz="900" b="1">
                  <a:solidFill>
                    <a:schemeClr val="bg1"/>
                  </a:solidFill>
                  <a:latin typeface="微软雅黑" panose="020B0503020204020204" pitchFamily="34" charset="-122"/>
                  <a:ea typeface="微软雅黑" panose="020B0503020204020204" pitchFamily="34" charset="-122"/>
                </a:rPr>
                <a:t>P3</a:t>
              </a:r>
            </a:p>
          </p:txBody>
        </p:sp>
      </p:grpSp>
      <p:grpSp>
        <p:nvGrpSpPr>
          <p:cNvPr id="5" name="Group 127"/>
          <p:cNvGrpSpPr/>
          <p:nvPr/>
        </p:nvGrpSpPr>
        <p:grpSpPr bwMode="auto">
          <a:xfrm>
            <a:off x="4676579" y="1916993"/>
            <a:ext cx="325435" cy="518114"/>
            <a:chOff x="2869" y="2182"/>
            <a:chExt cx="396" cy="683"/>
          </a:xfrm>
          <a:solidFill>
            <a:srgbClr val="368AD6"/>
          </a:solidFill>
        </p:grpSpPr>
        <p:sp>
          <p:nvSpPr>
            <p:cNvPr id="6" name="AutoShape 59"/>
            <p:cNvSpPr>
              <a:spLocks noChangeArrowheads="1"/>
            </p:cNvSpPr>
            <p:nvPr/>
          </p:nvSpPr>
          <p:spPr bwMode="auto">
            <a:xfrm rot="5400000">
              <a:off x="2729" y="2350"/>
              <a:ext cx="674" cy="355"/>
            </a:xfrm>
            <a:prstGeom prst="parallelogram">
              <a:avLst>
                <a:gd name="adj" fmla="val 18265"/>
              </a:avLst>
            </a:prstGeom>
            <a:solidFill>
              <a:srgbClr val="99009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1200">
                <a:solidFill>
                  <a:schemeClr val="bg1"/>
                </a:solidFill>
                <a:latin typeface="+mn-lt"/>
                <a:ea typeface="+mn-ea"/>
              </a:endParaRPr>
            </a:p>
          </p:txBody>
        </p:sp>
        <p:sp>
          <p:nvSpPr>
            <p:cNvPr id="7" name="Text Box 61"/>
            <p:cNvSpPr txBox="1">
              <a:spLocks noChangeArrowheads="1"/>
            </p:cNvSpPr>
            <p:nvPr/>
          </p:nvSpPr>
          <p:spPr bwMode="auto">
            <a:xfrm>
              <a:off x="2869" y="2182"/>
              <a:ext cx="396" cy="568"/>
            </a:xfrm>
            <a:prstGeom prst="rect">
              <a:avLst/>
            </a:prstGeom>
            <a:noFill/>
            <a:ln>
              <a:noFill/>
            </a:ln>
            <a:effectLst/>
            <a:extLst>
              <a:ext uri="{91240B29-F687-4F45-9708-019B960494DF}">
                <a14:hiddenLine xmlns:a14="http://schemas.microsoft.com/office/drawing/2010/main" w="9525">
                  <a:solidFill>
                    <a:schemeClr val="bg2"/>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ru-RU"/>
              </a:defPPr>
              <a:lvl1pPr eaLnBrk="0" hangingPunct="0">
                <a:defRPr sz="1200" b="1">
                  <a:solidFill>
                    <a:schemeClr val="accent3"/>
                  </a:solidFill>
                  <a:latin typeface="微软雅黑" panose="020B0503020204020204" pitchFamily="34" charset="-122"/>
                  <a:ea typeface="微软雅黑" panose="020B0503020204020204" pitchFamily="34" charset="-122"/>
                </a:defRPr>
              </a:lvl1pPr>
              <a:lvl2pPr eaLnBrk="0" hangingPunct="0">
                <a:defRPr>
                  <a:ea typeface="+mn-ea"/>
                </a:defRPr>
              </a:lvl2pPr>
              <a:lvl3pPr eaLnBrk="0" hangingPunct="0">
                <a:defRPr>
                  <a:ea typeface="+mn-ea"/>
                </a:defRPr>
              </a:lvl3pPr>
              <a:lvl4pPr eaLnBrk="0" hangingPunct="0">
                <a:defRPr>
                  <a:ea typeface="+mn-ea"/>
                </a:defRPr>
              </a:lvl4pPr>
              <a:lvl5pPr eaLnBrk="0" hangingPunct="0">
                <a:defRPr>
                  <a:ea typeface="+mn-ea"/>
                </a:defRPr>
              </a:lvl5pPr>
              <a:lvl6pPr>
                <a:defRPr>
                  <a:ea typeface="+mn-ea"/>
                </a:defRPr>
              </a:lvl6pPr>
              <a:lvl7pPr>
                <a:defRPr>
                  <a:ea typeface="+mn-ea"/>
                </a:defRPr>
              </a:lvl7pPr>
              <a:lvl8pPr>
                <a:defRPr>
                  <a:ea typeface="+mn-ea"/>
                </a:defRPr>
              </a:lvl8pPr>
              <a:lvl9pPr>
                <a:defRPr>
                  <a:ea typeface="+mn-ea"/>
                </a:defRPr>
              </a:lvl9pPr>
            </a:lstStyle>
            <a:p>
              <a:pPr fontAlgn="auto">
                <a:spcBef>
                  <a:spcPts val="0"/>
                </a:spcBef>
                <a:spcAft>
                  <a:spcPts val="0"/>
                </a:spcAft>
                <a:defRPr/>
              </a:pPr>
              <a:r>
                <a:rPr lang="zh-CN" altLang="en-US" sz="1100" dirty="0">
                  <a:solidFill>
                    <a:schemeClr val="bg1"/>
                  </a:solidFill>
                </a:rPr>
                <a:t>报</a:t>
              </a:r>
            </a:p>
            <a:p>
              <a:pPr fontAlgn="auto">
                <a:spcBef>
                  <a:spcPts val="0"/>
                </a:spcBef>
                <a:spcAft>
                  <a:spcPts val="0"/>
                </a:spcAft>
                <a:defRPr/>
              </a:pPr>
              <a:r>
                <a:rPr lang="zh-CN" altLang="en-US" sz="1100" dirty="0">
                  <a:solidFill>
                    <a:schemeClr val="bg1"/>
                  </a:solidFill>
                </a:rPr>
                <a:t>文</a:t>
              </a:r>
            </a:p>
          </p:txBody>
        </p:sp>
        <p:sp>
          <p:nvSpPr>
            <p:cNvPr id="8" name="Line 62"/>
            <p:cNvSpPr>
              <a:spLocks noChangeShapeType="1"/>
            </p:cNvSpPr>
            <p:nvPr/>
          </p:nvSpPr>
          <p:spPr bwMode="auto">
            <a:xfrm>
              <a:off x="2876" y="2191"/>
              <a:ext cx="363" cy="57"/>
            </a:xfrm>
            <a:prstGeom prst="line">
              <a:avLst/>
            </a:prstGeom>
            <a:grpFill/>
            <a:ln w="9525">
              <a:solidFill>
                <a:schemeClr val="tx1"/>
              </a:solid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1200">
                <a:solidFill>
                  <a:schemeClr val="bg1"/>
                </a:solidFill>
                <a:latin typeface="+mn-lt"/>
                <a:ea typeface="+mn-ea"/>
              </a:endParaRPr>
            </a:p>
          </p:txBody>
        </p:sp>
        <p:sp>
          <p:nvSpPr>
            <p:cNvPr id="9" name="Line 63"/>
            <p:cNvSpPr>
              <a:spLocks noChangeShapeType="1"/>
            </p:cNvSpPr>
            <p:nvPr/>
          </p:nvSpPr>
          <p:spPr bwMode="auto">
            <a:xfrm>
              <a:off x="2876" y="2807"/>
              <a:ext cx="363" cy="58"/>
            </a:xfrm>
            <a:prstGeom prst="line">
              <a:avLst/>
            </a:prstGeom>
            <a:grpFill/>
            <a:ln w="9525">
              <a:solidFill>
                <a:schemeClr val="tx1"/>
              </a:solid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1200">
                <a:solidFill>
                  <a:schemeClr val="bg1"/>
                </a:solidFill>
                <a:latin typeface="+mn-lt"/>
                <a:ea typeface="+mn-ea"/>
              </a:endParaRPr>
            </a:p>
          </p:txBody>
        </p:sp>
        <p:sp>
          <p:nvSpPr>
            <p:cNvPr id="10" name="AutoShape 60"/>
            <p:cNvSpPr>
              <a:spLocks noChangeArrowheads="1"/>
            </p:cNvSpPr>
            <p:nvPr/>
          </p:nvSpPr>
          <p:spPr bwMode="auto">
            <a:xfrm rot="746037">
              <a:off x="2960" y="2674"/>
              <a:ext cx="227" cy="127"/>
            </a:xfrm>
            <a:prstGeom prst="rightArrow">
              <a:avLst>
                <a:gd name="adj1" fmla="val 50000"/>
                <a:gd name="adj2" fmla="val 44685"/>
              </a:avLst>
            </a:prstGeom>
            <a:solidFill>
              <a:schemeClr val="bg1"/>
            </a:solidFill>
            <a:ln w="9525">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1200">
                <a:solidFill>
                  <a:schemeClr val="bg1"/>
                </a:solidFill>
                <a:latin typeface="+mn-lt"/>
                <a:ea typeface="+mn-ea"/>
              </a:endParaRPr>
            </a:p>
          </p:txBody>
        </p:sp>
      </p:grpSp>
      <p:grpSp>
        <p:nvGrpSpPr>
          <p:cNvPr id="11" name="Group 128"/>
          <p:cNvGrpSpPr/>
          <p:nvPr/>
        </p:nvGrpSpPr>
        <p:grpSpPr bwMode="auto">
          <a:xfrm>
            <a:off x="4990499" y="2550416"/>
            <a:ext cx="327076" cy="524184"/>
            <a:chOff x="3251" y="3017"/>
            <a:chExt cx="398" cy="691"/>
          </a:xfrm>
          <a:solidFill>
            <a:srgbClr val="368AD6"/>
          </a:solidFill>
        </p:grpSpPr>
        <p:sp>
          <p:nvSpPr>
            <p:cNvPr id="12" name="AutoShape 64"/>
            <p:cNvSpPr>
              <a:spLocks noChangeArrowheads="1"/>
            </p:cNvSpPr>
            <p:nvPr/>
          </p:nvSpPr>
          <p:spPr bwMode="auto">
            <a:xfrm rot="5400000">
              <a:off x="3102" y="3193"/>
              <a:ext cx="675" cy="355"/>
            </a:xfrm>
            <a:prstGeom prst="parallelogram">
              <a:avLst>
                <a:gd name="adj" fmla="val 18292"/>
              </a:avLst>
            </a:prstGeom>
            <a:solidFill>
              <a:srgbClr val="99009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1200">
                <a:solidFill>
                  <a:schemeClr val="bg1"/>
                </a:solidFill>
                <a:latin typeface="+mn-lt"/>
                <a:ea typeface="+mn-ea"/>
              </a:endParaRPr>
            </a:p>
          </p:txBody>
        </p:sp>
        <p:sp>
          <p:nvSpPr>
            <p:cNvPr id="13" name="Text Box 66"/>
            <p:cNvSpPr txBox="1">
              <a:spLocks noChangeArrowheads="1"/>
            </p:cNvSpPr>
            <p:nvPr/>
          </p:nvSpPr>
          <p:spPr bwMode="auto">
            <a:xfrm>
              <a:off x="3253" y="3017"/>
              <a:ext cx="396" cy="568"/>
            </a:xfrm>
            <a:prstGeom prst="rect">
              <a:avLst/>
            </a:prstGeom>
            <a:noFill/>
            <a:ln>
              <a:noFill/>
            </a:ln>
            <a:effectLst/>
            <a:extLst>
              <a:ext uri="{91240B29-F687-4F45-9708-019B960494DF}">
                <a14:hiddenLine xmlns:a14="http://schemas.microsoft.com/office/drawing/2010/main" w="9525">
                  <a:solidFill>
                    <a:schemeClr val="bg2"/>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ru-RU"/>
              </a:defPPr>
              <a:lvl1pPr eaLnBrk="0" hangingPunct="0">
                <a:defRPr sz="1200" b="1">
                  <a:solidFill>
                    <a:schemeClr val="accent3"/>
                  </a:solidFill>
                  <a:latin typeface="微软雅黑" panose="020B0503020204020204" pitchFamily="34" charset="-122"/>
                  <a:ea typeface="微软雅黑" panose="020B0503020204020204" pitchFamily="34" charset="-122"/>
                </a:defRPr>
              </a:lvl1pPr>
              <a:lvl2pPr eaLnBrk="0" hangingPunct="0">
                <a:defRPr>
                  <a:ea typeface="+mn-ea"/>
                </a:defRPr>
              </a:lvl2pPr>
              <a:lvl3pPr eaLnBrk="0" hangingPunct="0">
                <a:defRPr>
                  <a:ea typeface="+mn-ea"/>
                </a:defRPr>
              </a:lvl3pPr>
              <a:lvl4pPr eaLnBrk="0" hangingPunct="0">
                <a:defRPr>
                  <a:ea typeface="+mn-ea"/>
                </a:defRPr>
              </a:lvl4pPr>
              <a:lvl5pPr eaLnBrk="0" hangingPunct="0">
                <a:defRPr>
                  <a:ea typeface="+mn-ea"/>
                </a:defRPr>
              </a:lvl5pPr>
              <a:lvl6pPr>
                <a:defRPr>
                  <a:ea typeface="+mn-ea"/>
                </a:defRPr>
              </a:lvl6pPr>
              <a:lvl7pPr>
                <a:defRPr>
                  <a:ea typeface="+mn-ea"/>
                </a:defRPr>
              </a:lvl7pPr>
              <a:lvl8pPr>
                <a:defRPr>
                  <a:ea typeface="+mn-ea"/>
                </a:defRPr>
              </a:lvl8pPr>
              <a:lvl9pPr>
                <a:defRPr>
                  <a:ea typeface="+mn-ea"/>
                </a:defRPr>
              </a:lvl9pPr>
            </a:lstStyle>
            <a:p>
              <a:pPr fontAlgn="auto">
                <a:spcBef>
                  <a:spcPts val="0"/>
                </a:spcBef>
                <a:spcAft>
                  <a:spcPts val="0"/>
                </a:spcAft>
                <a:defRPr/>
              </a:pPr>
              <a:r>
                <a:rPr lang="zh-CN" altLang="en-US" sz="1100" dirty="0">
                  <a:solidFill>
                    <a:schemeClr val="bg1"/>
                  </a:solidFill>
                </a:rPr>
                <a:t>报</a:t>
              </a:r>
            </a:p>
            <a:p>
              <a:pPr fontAlgn="auto">
                <a:spcBef>
                  <a:spcPts val="0"/>
                </a:spcBef>
                <a:spcAft>
                  <a:spcPts val="0"/>
                </a:spcAft>
                <a:defRPr/>
              </a:pPr>
              <a:r>
                <a:rPr lang="zh-CN" altLang="en-US" sz="1100" dirty="0">
                  <a:solidFill>
                    <a:schemeClr val="bg1"/>
                  </a:solidFill>
                </a:rPr>
                <a:t>文</a:t>
              </a:r>
            </a:p>
          </p:txBody>
        </p:sp>
        <p:sp>
          <p:nvSpPr>
            <p:cNvPr id="14" name="Line 67"/>
            <p:cNvSpPr>
              <a:spLocks noChangeShapeType="1"/>
            </p:cNvSpPr>
            <p:nvPr/>
          </p:nvSpPr>
          <p:spPr bwMode="auto">
            <a:xfrm>
              <a:off x="3251" y="3033"/>
              <a:ext cx="362" cy="58"/>
            </a:xfrm>
            <a:prstGeom prst="line">
              <a:avLst/>
            </a:prstGeom>
            <a:grpFill/>
            <a:ln w="9525">
              <a:solidFill>
                <a:schemeClr val="tx1"/>
              </a:solid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1200">
                <a:solidFill>
                  <a:schemeClr val="bg1"/>
                </a:solidFill>
                <a:latin typeface="+mn-lt"/>
                <a:ea typeface="+mn-ea"/>
              </a:endParaRPr>
            </a:p>
          </p:txBody>
        </p:sp>
        <p:sp>
          <p:nvSpPr>
            <p:cNvPr id="15" name="Line 68"/>
            <p:cNvSpPr>
              <a:spLocks noChangeShapeType="1"/>
            </p:cNvSpPr>
            <p:nvPr/>
          </p:nvSpPr>
          <p:spPr bwMode="auto">
            <a:xfrm>
              <a:off x="3251" y="3650"/>
              <a:ext cx="362" cy="58"/>
            </a:xfrm>
            <a:prstGeom prst="line">
              <a:avLst/>
            </a:prstGeom>
            <a:grpFill/>
            <a:ln w="9525">
              <a:solidFill>
                <a:schemeClr val="tx1"/>
              </a:solid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1200">
                <a:solidFill>
                  <a:schemeClr val="bg1"/>
                </a:solidFill>
                <a:latin typeface="+mn-lt"/>
                <a:ea typeface="+mn-ea"/>
              </a:endParaRPr>
            </a:p>
          </p:txBody>
        </p:sp>
        <p:sp>
          <p:nvSpPr>
            <p:cNvPr id="16" name="AutoShape 65"/>
            <p:cNvSpPr>
              <a:spLocks noChangeArrowheads="1"/>
            </p:cNvSpPr>
            <p:nvPr/>
          </p:nvSpPr>
          <p:spPr bwMode="auto">
            <a:xfrm rot="746037">
              <a:off x="3331" y="3527"/>
              <a:ext cx="226" cy="126"/>
            </a:xfrm>
            <a:prstGeom prst="rightArrow">
              <a:avLst>
                <a:gd name="adj1" fmla="val 50000"/>
                <a:gd name="adj2" fmla="val 44841"/>
              </a:avLst>
            </a:prstGeom>
            <a:solidFill>
              <a:schemeClr val="bg1"/>
            </a:solidFill>
            <a:ln w="9525">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1200">
                <a:solidFill>
                  <a:schemeClr val="bg1"/>
                </a:solidFill>
                <a:latin typeface="+mn-lt"/>
                <a:ea typeface="+mn-ea"/>
              </a:endParaRPr>
            </a:p>
          </p:txBody>
        </p:sp>
      </p:grpSp>
      <p:grpSp>
        <p:nvGrpSpPr>
          <p:cNvPr id="17" name="Group 126"/>
          <p:cNvGrpSpPr/>
          <p:nvPr/>
        </p:nvGrpSpPr>
        <p:grpSpPr bwMode="auto">
          <a:xfrm>
            <a:off x="4387305" y="1302539"/>
            <a:ext cx="325434" cy="524942"/>
            <a:chOff x="2517" y="1372"/>
            <a:chExt cx="396" cy="692"/>
          </a:xfrm>
          <a:solidFill>
            <a:srgbClr val="368AD6"/>
          </a:solidFill>
        </p:grpSpPr>
        <p:sp>
          <p:nvSpPr>
            <p:cNvPr id="18" name="AutoShape 69"/>
            <p:cNvSpPr>
              <a:spLocks noChangeArrowheads="1"/>
            </p:cNvSpPr>
            <p:nvPr/>
          </p:nvSpPr>
          <p:spPr bwMode="auto">
            <a:xfrm rot="5400000">
              <a:off x="2363" y="1546"/>
              <a:ext cx="674" cy="362"/>
            </a:xfrm>
            <a:prstGeom prst="parallelogram">
              <a:avLst>
                <a:gd name="adj" fmla="val 18265"/>
              </a:avLst>
            </a:prstGeom>
            <a:solidFill>
              <a:srgbClr val="99009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1200">
                <a:solidFill>
                  <a:schemeClr val="bg1"/>
                </a:solidFill>
                <a:latin typeface="+mn-lt"/>
                <a:ea typeface="+mn-ea"/>
              </a:endParaRPr>
            </a:p>
          </p:txBody>
        </p:sp>
        <p:sp>
          <p:nvSpPr>
            <p:cNvPr id="19" name="Text Box 71"/>
            <p:cNvSpPr txBox="1">
              <a:spLocks noChangeArrowheads="1"/>
            </p:cNvSpPr>
            <p:nvPr/>
          </p:nvSpPr>
          <p:spPr bwMode="auto">
            <a:xfrm>
              <a:off x="2517" y="1372"/>
              <a:ext cx="396" cy="568"/>
            </a:xfrm>
            <a:prstGeom prst="rect">
              <a:avLst/>
            </a:prstGeom>
            <a:noFill/>
            <a:ln>
              <a:noFill/>
            </a:ln>
            <a:effectLst/>
            <a:extLst>
              <a:ext uri="{91240B29-F687-4F45-9708-019B960494DF}">
                <a14:hiddenLine xmlns:a14="http://schemas.microsoft.com/office/drawing/2010/main" w="9525">
                  <a:solidFill>
                    <a:schemeClr val="bg2"/>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ru-RU"/>
              </a:defPPr>
              <a:lvl1pPr eaLnBrk="0" hangingPunct="0">
                <a:defRPr sz="1200" b="1">
                  <a:solidFill>
                    <a:srgbClr val="339933"/>
                  </a:solidFill>
                  <a:latin typeface="微软雅黑" panose="020B0503020204020204" pitchFamily="34" charset="-122"/>
                  <a:ea typeface="微软雅黑" panose="020B0503020204020204" pitchFamily="34" charset="-122"/>
                </a:defRPr>
              </a:lvl1pPr>
              <a:lvl2pPr eaLnBrk="0" hangingPunct="0">
                <a:defRPr>
                  <a:ea typeface="+mn-ea"/>
                </a:defRPr>
              </a:lvl2pPr>
              <a:lvl3pPr eaLnBrk="0" hangingPunct="0">
                <a:defRPr>
                  <a:ea typeface="+mn-ea"/>
                </a:defRPr>
              </a:lvl3pPr>
              <a:lvl4pPr eaLnBrk="0" hangingPunct="0">
                <a:defRPr>
                  <a:ea typeface="+mn-ea"/>
                </a:defRPr>
              </a:lvl4pPr>
              <a:lvl5pPr eaLnBrk="0" hangingPunct="0">
                <a:defRPr>
                  <a:ea typeface="+mn-ea"/>
                </a:defRPr>
              </a:lvl5pPr>
              <a:lvl6pPr>
                <a:defRPr>
                  <a:ea typeface="+mn-ea"/>
                </a:defRPr>
              </a:lvl6pPr>
              <a:lvl7pPr>
                <a:defRPr>
                  <a:ea typeface="+mn-ea"/>
                </a:defRPr>
              </a:lvl7pPr>
              <a:lvl8pPr>
                <a:defRPr>
                  <a:ea typeface="+mn-ea"/>
                </a:defRPr>
              </a:lvl8pPr>
              <a:lvl9pPr>
                <a:defRPr>
                  <a:ea typeface="+mn-ea"/>
                </a:defRPr>
              </a:lvl9pPr>
            </a:lstStyle>
            <a:p>
              <a:pPr fontAlgn="auto">
                <a:spcBef>
                  <a:spcPts val="0"/>
                </a:spcBef>
                <a:spcAft>
                  <a:spcPts val="0"/>
                </a:spcAft>
                <a:defRPr/>
              </a:pPr>
              <a:r>
                <a:rPr lang="zh-CN" altLang="en-US" sz="1100" dirty="0">
                  <a:solidFill>
                    <a:schemeClr val="bg1"/>
                  </a:solidFill>
                </a:rPr>
                <a:t>报</a:t>
              </a:r>
            </a:p>
            <a:p>
              <a:pPr fontAlgn="auto">
                <a:spcBef>
                  <a:spcPts val="0"/>
                </a:spcBef>
                <a:spcAft>
                  <a:spcPts val="0"/>
                </a:spcAft>
                <a:defRPr/>
              </a:pPr>
              <a:r>
                <a:rPr lang="zh-CN" altLang="en-US" sz="1100" dirty="0">
                  <a:solidFill>
                    <a:schemeClr val="bg1"/>
                  </a:solidFill>
                </a:rPr>
                <a:t>文</a:t>
              </a:r>
            </a:p>
          </p:txBody>
        </p:sp>
        <p:sp>
          <p:nvSpPr>
            <p:cNvPr id="20" name="Line 72"/>
            <p:cNvSpPr>
              <a:spLocks noChangeShapeType="1"/>
            </p:cNvSpPr>
            <p:nvPr/>
          </p:nvSpPr>
          <p:spPr bwMode="auto">
            <a:xfrm>
              <a:off x="2519" y="1395"/>
              <a:ext cx="357" cy="53"/>
            </a:xfrm>
            <a:prstGeom prst="line">
              <a:avLst/>
            </a:prstGeom>
            <a:grpFill/>
            <a:ln w="9525">
              <a:solidFill>
                <a:schemeClr val="tx1"/>
              </a:solid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1200">
                <a:solidFill>
                  <a:schemeClr val="bg1"/>
                </a:solidFill>
                <a:latin typeface="+mn-lt"/>
                <a:ea typeface="+mn-ea"/>
              </a:endParaRPr>
            </a:p>
          </p:txBody>
        </p:sp>
        <p:sp>
          <p:nvSpPr>
            <p:cNvPr id="21" name="Line 73"/>
            <p:cNvSpPr>
              <a:spLocks noChangeShapeType="1"/>
            </p:cNvSpPr>
            <p:nvPr/>
          </p:nvSpPr>
          <p:spPr bwMode="auto">
            <a:xfrm>
              <a:off x="2519" y="2001"/>
              <a:ext cx="357" cy="63"/>
            </a:xfrm>
            <a:prstGeom prst="line">
              <a:avLst/>
            </a:prstGeom>
            <a:grpFill/>
            <a:ln w="9525">
              <a:solidFill>
                <a:schemeClr val="tx1"/>
              </a:solid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1200">
                <a:solidFill>
                  <a:schemeClr val="bg1"/>
                </a:solidFill>
                <a:latin typeface="+mn-lt"/>
                <a:ea typeface="+mn-ea"/>
              </a:endParaRPr>
            </a:p>
          </p:txBody>
        </p:sp>
        <p:sp>
          <p:nvSpPr>
            <p:cNvPr id="22" name="AutoShape 70"/>
            <p:cNvSpPr>
              <a:spLocks noChangeArrowheads="1"/>
            </p:cNvSpPr>
            <p:nvPr/>
          </p:nvSpPr>
          <p:spPr bwMode="auto">
            <a:xfrm rot="746037">
              <a:off x="2591" y="1861"/>
              <a:ext cx="226" cy="127"/>
            </a:xfrm>
            <a:prstGeom prst="rightArrow">
              <a:avLst>
                <a:gd name="adj1" fmla="val 50000"/>
                <a:gd name="adj2" fmla="val 44488"/>
              </a:avLst>
            </a:prstGeom>
            <a:solidFill>
              <a:schemeClr val="bg1"/>
            </a:solidFill>
            <a:ln w="9525">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1200">
                <a:solidFill>
                  <a:schemeClr val="bg1"/>
                </a:solidFill>
                <a:latin typeface="+mn-lt"/>
                <a:ea typeface="+mn-ea"/>
              </a:endParaRPr>
            </a:p>
          </p:txBody>
        </p:sp>
      </p:grpSp>
      <p:sp>
        <p:nvSpPr>
          <p:cNvPr id="83980" name="Line 74"/>
          <p:cNvSpPr>
            <a:spLocks noChangeShapeType="1"/>
          </p:cNvSpPr>
          <p:nvPr/>
        </p:nvSpPr>
        <p:spPr bwMode="auto">
          <a:xfrm>
            <a:off x="2920498" y="1315771"/>
            <a:ext cx="0" cy="1822450"/>
          </a:xfrm>
          <a:prstGeom prst="line">
            <a:avLst/>
          </a:prstGeom>
          <a:noFill/>
          <a:ln w="1905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3981" name="Line 75"/>
          <p:cNvSpPr>
            <a:spLocks noChangeShapeType="1"/>
          </p:cNvSpPr>
          <p:nvPr/>
        </p:nvSpPr>
        <p:spPr bwMode="auto">
          <a:xfrm>
            <a:off x="3218948" y="1315771"/>
            <a:ext cx="0" cy="1822450"/>
          </a:xfrm>
          <a:prstGeom prst="line">
            <a:avLst/>
          </a:prstGeom>
          <a:noFill/>
          <a:ln w="1905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3982" name="Text Box 76"/>
          <p:cNvSpPr txBox="1">
            <a:spLocks noChangeArrowheads="1"/>
          </p:cNvSpPr>
          <p:nvPr/>
        </p:nvSpPr>
        <p:spPr bwMode="auto">
          <a:xfrm>
            <a:off x="2471236" y="3125521"/>
            <a:ext cx="1330325" cy="2778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en-US" altLang="zh-CN" sz="1200" b="1" dirty="0">
                <a:solidFill>
                  <a:srgbClr val="0000FF"/>
                </a:solidFill>
                <a:latin typeface="微软雅黑" panose="020B0503020204020204" pitchFamily="34" charset="-122"/>
                <a:ea typeface="微软雅黑" panose="020B0503020204020204" pitchFamily="34" charset="-122"/>
              </a:rPr>
              <a:t>A    B    C     D </a:t>
            </a:r>
          </a:p>
        </p:txBody>
      </p:sp>
      <p:sp>
        <p:nvSpPr>
          <p:cNvPr id="83983" name="Text Box 77"/>
          <p:cNvSpPr txBox="1">
            <a:spLocks noChangeArrowheads="1"/>
          </p:cNvSpPr>
          <p:nvPr/>
        </p:nvSpPr>
        <p:spPr bwMode="auto">
          <a:xfrm>
            <a:off x="4265111" y="3125521"/>
            <a:ext cx="1189037" cy="2778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en-US" altLang="zh-CN" sz="1200" b="1" dirty="0">
                <a:solidFill>
                  <a:srgbClr val="990099"/>
                </a:solidFill>
                <a:latin typeface="微软雅黑" panose="020B0503020204020204" pitchFamily="34" charset="-122"/>
                <a:ea typeface="微软雅黑" panose="020B0503020204020204" pitchFamily="34" charset="-122"/>
              </a:rPr>
              <a:t>A    B    C    D</a:t>
            </a:r>
          </a:p>
        </p:txBody>
      </p:sp>
      <p:sp>
        <p:nvSpPr>
          <p:cNvPr id="83984" name="Text Box 78"/>
          <p:cNvSpPr txBox="1">
            <a:spLocks noChangeArrowheads="1"/>
          </p:cNvSpPr>
          <p:nvPr/>
        </p:nvSpPr>
        <p:spPr bwMode="auto">
          <a:xfrm>
            <a:off x="6028823" y="3125521"/>
            <a:ext cx="1236663" cy="2778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en-US" altLang="zh-CN" sz="1200" b="1">
                <a:solidFill>
                  <a:srgbClr val="C00000"/>
                </a:solidFill>
                <a:latin typeface="微软雅黑" panose="020B0503020204020204" pitchFamily="34" charset="-122"/>
                <a:ea typeface="微软雅黑" panose="020B0503020204020204" pitchFamily="34" charset="-122"/>
              </a:rPr>
              <a:t>A    B    C    D</a:t>
            </a:r>
          </a:p>
        </p:txBody>
      </p:sp>
      <p:sp>
        <p:nvSpPr>
          <p:cNvPr id="28" name="Line 79"/>
          <p:cNvSpPr>
            <a:spLocks noChangeShapeType="1"/>
          </p:cNvSpPr>
          <p:nvPr/>
        </p:nvSpPr>
        <p:spPr bwMode="auto">
          <a:xfrm>
            <a:off x="2622048" y="1379271"/>
            <a:ext cx="298450" cy="31750"/>
          </a:xfrm>
          <a:prstGeom prst="line">
            <a:avLst/>
          </a:prstGeom>
          <a:noFill/>
          <a:ln w="38100">
            <a:solidFill>
              <a:srgbClr val="0000FF"/>
            </a:solidFill>
            <a:rou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29" name="Line 80"/>
          <p:cNvSpPr>
            <a:spLocks noChangeShapeType="1"/>
          </p:cNvSpPr>
          <p:nvPr/>
        </p:nvSpPr>
        <p:spPr bwMode="auto">
          <a:xfrm>
            <a:off x="2920498" y="1507859"/>
            <a:ext cx="298450" cy="31750"/>
          </a:xfrm>
          <a:prstGeom prst="line">
            <a:avLst/>
          </a:prstGeom>
          <a:noFill/>
          <a:ln w="38100">
            <a:solidFill>
              <a:srgbClr val="0000FF"/>
            </a:solidFill>
            <a:rou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30" name="Line 81"/>
          <p:cNvSpPr>
            <a:spLocks noChangeShapeType="1"/>
          </p:cNvSpPr>
          <p:nvPr/>
        </p:nvSpPr>
        <p:spPr bwMode="auto">
          <a:xfrm>
            <a:off x="3218948" y="1634859"/>
            <a:ext cx="298450" cy="33337"/>
          </a:xfrm>
          <a:prstGeom prst="line">
            <a:avLst/>
          </a:prstGeom>
          <a:noFill/>
          <a:ln w="38100">
            <a:solidFill>
              <a:srgbClr val="0000FF"/>
            </a:solidFill>
            <a:rou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31" name="Line 82"/>
          <p:cNvSpPr>
            <a:spLocks noChangeShapeType="1"/>
          </p:cNvSpPr>
          <p:nvPr/>
        </p:nvSpPr>
        <p:spPr bwMode="auto">
          <a:xfrm flipH="1">
            <a:off x="2622048" y="1826946"/>
            <a:ext cx="895350" cy="128588"/>
          </a:xfrm>
          <a:prstGeom prst="line">
            <a:avLst/>
          </a:prstGeom>
          <a:noFill/>
          <a:ln w="38100">
            <a:solidFill>
              <a:srgbClr val="0000FF"/>
            </a:solidFill>
            <a:rou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32" name="Text Box 87"/>
          <p:cNvSpPr txBox="1">
            <a:spLocks noChangeArrowheads="1"/>
          </p:cNvSpPr>
          <p:nvPr/>
        </p:nvSpPr>
        <p:spPr bwMode="auto">
          <a:xfrm>
            <a:off x="4473073" y="1031609"/>
            <a:ext cx="901700"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zh-CN" altLang="en-US" sz="1400" b="1" dirty="0">
                <a:solidFill>
                  <a:srgbClr val="990099"/>
                </a:solidFill>
                <a:latin typeface="微软雅黑" panose="020B0503020204020204" pitchFamily="34" charset="-122"/>
                <a:ea typeface="微软雅黑" panose="020B0503020204020204" pitchFamily="34" charset="-122"/>
              </a:rPr>
              <a:t>报文交换</a:t>
            </a:r>
          </a:p>
        </p:txBody>
      </p:sp>
      <p:sp>
        <p:nvSpPr>
          <p:cNvPr id="83990" name="Text Box 88"/>
          <p:cNvSpPr txBox="1">
            <a:spLocks noChangeArrowheads="1"/>
          </p:cNvSpPr>
          <p:nvPr/>
        </p:nvSpPr>
        <p:spPr bwMode="auto">
          <a:xfrm>
            <a:off x="2669673" y="1031609"/>
            <a:ext cx="901700"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zh-CN" altLang="en-US" sz="1400" b="1" dirty="0">
                <a:solidFill>
                  <a:srgbClr val="0000FF"/>
                </a:solidFill>
                <a:latin typeface="微软雅黑" panose="020B0503020204020204" pitchFamily="34" charset="-122"/>
                <a:ea typeface="微软雅黑" panose="020B0503020204020204" pitchFamily="34" charset="-122"/>
              </a:rPr>
              <a:t>电路交换</a:t>
            </a:r>
          </a:p>
        </p:txBody>
      </p:sp>
      <p:sp>
        <p:nvSpPr>
          <p:cNvPr id="34" name="Text Box 89"/>
          <p:cNvSpPr txBox="1">
            <a:spLocks noChangeArrowheads="1"/>
          </p:cNvSpPr>
          <p:nvPr/>
        </p:nvSpPr>
        <p:spPr bwMode="auto">
          <a:xfrm>
            <a:off x="6206623" y="1025259"/>
            <a:ext cx="903288"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zh-CN" altLang="en-US" sz="1400" b="1">
                <a:solidFill>
                  <a:srgbClr val="C00000"/>
                </a:solidFill>
                <a:latin typeface="微软雅黑" panose="020B0503020204020204" pitchFamily="34" charset="-122"/>
                <a:ea typeface="微软雅黑" panose="020B0503020204020204" pitchFamily="34" charset="-122"/>
              </a:rPr>
              <a:t>分组交换</a:t>
            </a:r>
          </a:p>
        </p:txBody>
      </p:sp>
      <p:sp>
        <p:nvSpPr>
          <p:cNvPr id="83992" name="Line 90"/>
          <p:cNvSpPr>
            <a:spLocks noChangeShapeType="1"/>
          </p:cNvSpPr>
          <p:nvPr/>
        </p:nvSpPr>
        <p:spPr bwMode="auto">
          <a:xfrm>
            <a:off x="3953961" y="1539609"/>
            <a:ext cx="0" cy="1311275"/>
          </a:xfrm>
          <a:prstGeom prst="line">
            <a:avLst/>
          </a:prstGeom>
          <a:noFill/>
          <a:ln w="28575">
            <a:solidFill>
              <a:srgbClr val="000099"/>
            </a:solidFill>
            <a:rou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3993" name="Text Box 91"/>
          <p:cNvSpPr txBox="1">
            <a:spLocks noChangeArrowheads="1"/>
          </p:cNvSpPr>
          <p:nvPr/>
        </p:nvSpPr>
        <p:spPr bwMode="auto">
          <a:xfrm>
            <a:off x="3821824" y="2780441"/>
            <a:ext cx="287429"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b="1" dirty="0">
                <a:solidFill>
                  <a:srgbClr val="000099"/>
                </a:solidFill>
                <a:latin typeface="Times New Roman" panose="02020603050405020304" pitchFamily="18" charset="0"/>
                <a:ea typeface="微软雅黑 Light" panose="020B0502040204020203" pitchFamily="34" charset="-122"/>
              </a:rPr>
              <a:t>t</a:t>
            </a:r>
          </a:p>
        </p:txBody>
      </p:sp>
      <p:grpSp>
        <p:nvGrpSpPr>
          <p:cNvPr id="42" name="Group 123"/>
          <p:cNvGrpSpPr/>
          <p:nvPr/>
        </p:nvGrpSpPr>
        <p:grpSpPr bwMode="auto">
          <a:xfrm>
            <a:off x="1694948" y="1965059"/>
            <a:ext cx="895350" cy="484187"/>
            <a:chOff x="-277" y="2246"/>
            <a:chExt cx="1089" cy="637"/>
          </a:xfrm>
        </p:grpSpPr>
        <p:sp>
          <p:nvSpPr>
            <p:cNvPr id="84094" name="Line 93"/>
            <p:cNvSpPr>
              <a:spLocks noChangeShapeType="1"/>
            </p:cNvSpPr>
            <p:nvPr/>
          </p:nvSpPr>
          <p:spPr bwMode="auto">
            <a:xfrm>
              <a:off x="630" y="2881"/>
              <a:ext cx="182" cy="0"/>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095" name="Text Box 96"/>
            <p:cNvSpPr txBox="1">
              <a:spLocks noChangeArrowheads="1"/>
            </p:cNvSpPr>
            <p:nvPr/>
          </p:nvSpPr>
          <p:spPr bwMode="auto">
            <a:xfrm>
              <a:off x="-277" y="2405"/>
              <a:ext cx="974" cy="3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zh-CN" altLang="en-US" sz="1200" b="1">
                  <a:latin typeface="微软雅黑" panose="020B0503020204020204" pitchFamily="34" charset="-122"/>
                  <a:ea typeface="微软雅黑" panose="020B0503020204020204" pitchFamily="34" charset="-122"/>
                </a:rPr>
                <a:t>数据传送</a:t>
              </a:r>
            </a:p>
          </p:txBody>
        </p:sp>
        <p:sp>
          <p:nvSpPr>
            <p:cNvPr id="84096" name="Line 98"/>
            <p:cNvSpPr>
              <a:spLocks noChangeShapeType="1"/>
            </p:cNvSpPr>
            <p:nvPr/>
          </p:nvSpPr>
          <p:spPr bwMode="auto">
            <a:xfrm>
              <a:off x="721" y="2246"/>
              <a:ext cx="0" cy="637"/>
            </a:xfrm>
            <a:prstGeom prst="line">
              <a:avLst/>
            </a:prstGeom>
            <a:noFill/>
            <a:ln w="9525">
              <a:solidFill>
                <a:schemeClr val="tx1"/>
              </a:solidFill>
              <a:round/>
              <a:headEnd type="triangle" w="sm" len="lg"/>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sp>
        <p:nvSpPr>
          <p:cNvPr id="83995" name="Freeform 99"/>
          <p:cNvSpPr/>
          <p:nvPr/>
        </p:nvSpPr>
        <p:spPr bwMode="auto">
          <a:xfrm>
            <a:off x="2620461" y="1315771"/>
            <a:ext cx="1587" cy="1825625"/>
          </a:xfrm>
          <a:custGeom>
            <a:avLst/>
            <a:gdLst>
              <a:gd name="T0" fmla="*/ 2465 w 3"/>
              <a:gd name="T1" fmla="*/ 0 h 2742"/>
              <a:gd name="T2" fmla="*/ 0 w 3"/>
              <a:gd name="T3" fmla="*/ 1825917 h 2742"/>
              <a:gd name="T4" fmla="*/ 0 60000 65536"/>
              <a:gd name="T5" fmla="*/ 0 60000 65536"/>
            </a:gdLst>
            <a:ahLst/>
            <a:cxnLst>
              <a:cxn ang="T4">
                <a:pos x="T0" y="T1"/>
              </a:cxn>
              <a:cxn ang="T5">
                <a:pos x="T2" y="T3"/>
              </a:cxn>
            </a:cxnLst>
            <a:rect l="0" t="0" r="r" b="b"/>
            <a:pathLst>
              <a:path w="3" h="2742">
                <a:moveTo>
                  <a:pt x="3" y="0"/>
                </a:moveTo>
                <a:lnTo>
                  <a:pt x="0" y="2742"/>
                </a:lnTo>
              </a:path>
            </a:pathLst>
          </a:custGeom>
          <a:noFill/>
          <a:ln w="19050">
            <a:solidFill>
              <a:schemeClr val="tx1"/>
            </a:solidFill>
            <a:rou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3996" name="Freeform 100"/>
          <p:cNvSpPr/>
          <p:nvPr/>
        </p:nvSpPr>
        <p:spPr bwMode="auto">
          <a:xfrm>
            <a:off x="5289048" y="1306246"/>
            <a:ext cx="1588" cy="1820863"/>
          </a:xfrm>
          <a:custGeom>
            <a:avLst/>
            <a:gdLst>
              <a:gd name="T0" fmla="*/ 2465 w 3"/>
              <a:gd name="T1" fmla="*/ 0 h 2736"/>
              <a:gd name="T2" fmla="*/ 0 w 3"/>
              <a:gd name="T3" fmla="*/ 1822124 h 2736"/>
              <a:gd name="T4" fmla="*/ 0 60000 65536"/>
              <a:gd name="T5" fmla="*/ 0 60000 65536"/>
            </a:gdLst>
            <a:ahLst/>
            <a:cxnLst>
              <a:cxn ang="T4">
                <a:pos x="T0" y="T1"/>
              </a:cxn>
              <a:cxn ang="T5">
                <a:pos x="T2" y="T3"/>
              </a:cxn>
            </a:cxnLst>
            <a:rect l="0" t="0" r="r" b="b"/>
            <a:pathLst>
              <a:path w="3" h="2736">
                <a:moveTo>
                  <a:pt x="3" y="0"/>
                </a:moveTo>
                <a:lnTo>
                  <a:pt x="0" y="2736"/>
                </a:ln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3997" name="Line 104"/>
          <p:cNvSpPr>
            <a:spLocks noChangeShapeType="1"/>
          </p:cNvSpPr>
          <p:nvPr/>
        </p:nvSpPr>
        <p:spPr bwMode="auto">
          <a:xfrm>
            <a:off x="4387348" y="1306246"/>
            <a:ext cx="0" cy="1820863"/>
          </a:xfrm>
          <a:prstGeom prst="line">
            <a:avLst/>
          </a:prstGeom>
          <a:noFill/>
          <a:ln w="19050">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3998" name="Line 105"/>
          <p:cNvSpPr>
            <a:spLocks noChangeShapeType="1"/>
          </p:cNvSpPr>
          <p:nvPr/>
        </p:nvSpPr>
        <p:spPr bwMode="auto">
          <a:xfrm>
            <a:off x="4682623" y="1306246"/>
            <a:ext cx="0" cy="1820863"/>
          </a:xfrm>
          <a:prstGeom prst="line">
            <a:avLst/>
          </a:prstGeom>
          <a:noFill/>
          <a:ln w="19050">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3999" name="Line 106"/>
          <p:cNvSpPr>
            <a:spLocks noChangeShapeType="1"/>
          </p:cNvSpPr>
          <p:nvPr/>
        </p:nvSpPr>
        <p:spPr bwMode="auto">
          <a:xfrm>
            <a:off x="4989011" y="1306246"/>
            <a:ext cx="0" cy="1820863"/>
          </a:xfrm>
          <a:prstGeom prst="line">
            <a:avLst/>
          </a:prstGeom>
          <a:noFill/>
          <a:ln w="19050">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nvGrpSpPr>
          <p:cNvPr id="54" name="Group 125"/>
          <p:cNvGrpSpPr/>
          <p:nvPr/>
        </p:nvGrpSpPr>
        <p:grpSpPr bwMode="auto">
          <a:xfrm>
            <a:off x="2615335" y="1959475"/>
            <a:ext cx="914666" cy="611420"/>
            <a:chOff x="817" y="2238"/>
            <a:chExt cx="1113" cy="806"/>
          </a:xfrm>
          <a:solidFill>
            <a:srgbClr val="92D050"/>
          </a:solidFill>
        </p:grpSpPr>
        <p:sp>
          <p:nvSpPr>
            <p:cNvPr id="55" name="Line 83"/>
            <p:cNvSpPr>
              <a:spLocks noChangeShapeType="1"/>
            </p:cNvSpPr>
            <p:nvPr/>
          </p:nvSpPr>
          <p:spPr bwMode="auto">
            <a:xfrm>
              <a:off x="841" y="2268"/>
              <a:ext cx="1089" cy="168"/>
            </a:xfrm>
            <a:prstGeom prst="line">
              <a:avLst/>
            </a:prstGeom>
            <a:grpFill/>
            <a:ln>
              <a:noFill/>
            </a:ln>
            <a:effectLst/>
            <a:extLst>
              <a:ext uri="{91240B29-F687-4F45-9708-019B960494DF}">
                <a14:hiddenLine xmlns:a14="http://schemas.microsoft.com/office/drawing/2010/main" w="19050">
                  <a:solidFill>
                    <a:schemeClr val="bg2"/>
                  </a:solidFill>
                  <a:round/>
                  <a:tailEnd type="none" w="sm"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1200">
                <a:solidFill>
                  <a:schemeClr val="bg1"/>
                </a:solidFill>
                <a:latin typeface="+mn-lt"/>
                <a:ea typeface="+mn-ea"/>
              </a:endParaRPr>
            </a:p>
          </p:txBody>
        </p:sp>
        <p:sp>
          <p:nvSpPr>
            <p:cNvPr id="56" name="AutoShape 84"/>
            <p:cNvSpPr>
              <a:spLocks noChangeArrowheads="1"/>
            </p:cNvSpPr>
            <p:nvPr/>
          </p:nvSpPr>
          <p:spPr bwMode="auto">
            <a:xfrm rot="5400000">
              <a:off x="976" y="2091"/>
              <a:ext cx="793" cy="1092"/>
            </a:xfrm>
            <a:prstGeom prst="parallelogram">
              <a:avLst>
                <a:gd name="adj" fmla="val 21176"/>
              </a:avLst>
            </a:prstGeom>
            <a:solidFill>
              <a:srgbClr val="00B05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1200">
                <a:solidFill>
                  <a:schemeClr val="bg1"/>
                </a:solidFill>
                <a:latin typeface="+mn-lt"/>
                <a:ea typeface="+mn-ea"/>
              </a:endParaRPr>
            </a:p>
          </p:txBody>
        </p:sp>
        <p:sp>
          <p:nvSpPr>
            <p:cNvPr id="57" name="Text Box 85"/>
            <p:cNvSpPr txBox="1">
              <a:spLocks noChangeArrowheads="1"/>
            </p:cNvSpPr>
            <p:nvPr/>
          </p:nvSpPr>
          <p:spPr bwMode="auto">
            <a:xfrm>
              <a:off x="1086" y="2373"/>
              <a:ext cx="599" cy="365"/>
            </a:xfrm>
            <a:prstGeom prst="rect">
              <a:avLst/>
            </a:prstGeom>
            <a:noFill/>
            <a:ln>
              <a:noFill/>
            </a:ln>
            <a:effectLst/>
            <a:extLst>
              <a:ext uri="{91240B29-F687-4F45-9708-019B960494DF}">
                <a14:hiddenLine xmlns:a14="http://schemas.microsoft.com/office/drawing/2010/main" w="9525">
                  <a:solidFill>
                    <a:schemeClr val="bg2"/>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ru-RU"/>
              </a:defPPr>
              <a:lvl1pPr eaLnBrk="0" hangingPunct="0">
                <a:defRPr sz="1200" b="1">
                  <a:solidFill>
                    <a:srgbClr val="339933"/>
                  </a:solidFill>
                  <a:latin typeface="微软雅黑" panose="020B0503020204020204" pitchFamily="34" charset="-122"/>
                  <a:ea typeface="微软雅黑" panose="020B0503020204020204" pitchFamily="34" charset="-122"/>
                </a:defRPr>
              </a:lvl1pPr>
              <a:lvl2pPr eaLnBrk="0" hangingPunct="0">
                <a:defRPr>
                  <a:ea typeface="+mn-ea"/>
                </a:defRPr>
              </a:lvl2pPr>
              <a:lvl3pPr eaLnBrk="0" hangingPunct="0">
                <a:defRPr>
                  <a:ea typeface="+mn-ea"/>
                </a:defRPr>
              </a:lvl3pPr>
              <a:lvl4pPr eaLnBrk="0" hangingPunct="0">
                <a:defRPr>
                  <a:ea typeface="+mn-ea"/>
                </a:defRPr>
              </a:lvl4pPr>
              <a:lvl5pPr eaLnBrk="0" hangingPunct="0">
                <a:defRPr>
                  <a:ea typeface="+mn-ea"/>
                </a:defRPr>
              </a:lvl5pPr>
              <a:lvl6pPr>
                <a:defRPr>
                  <a:ea typeface="+mn-ea"/>
                </a:defRPr>
              </a:lvl6pPr>
              <a:lvl7pPr>
                <a:defRPr>
                  <a:ea typeface="+mn-ea"/>
                </a:defRPr>
              </a:lvl7pPr>
              <a:lvl8pPr>
                <a:defRPr>
                  <a:ea typeface="+mn-ea"/>
                </a:defRPr>
              </a:lvl8pPr>
              <a:lvl9pPr>
                <a:defRPr>
                  <a:ea typeface="+mn-ea"/>
                </a:defRPr>
              </a:lvl9pPr>
            </a:lstStyle>
            <a:p>
              <a:pPr fontAlgn="auto">
                <a:spcBef>
                  <a:spcPts val="0"/>
                </a:spcBef>
                <a:spcAft>
                  <a:spcPts val="0"/>
                </a:spcAft>
                <a:defRPr/>
              </a:pPr>
              <a:r>
                <a:rPr lang="zh-CN" altLang="en-US" dirty="0">
                  <a:solidFill>
                    <a:schemeClr val="bg1"/>
                  </a:solidFill>
                </a:rPr>
                <a:t>报文</a:t>
              </a:r>
            </a:p>
          </p:txBody>
        </p:sp>
        <p:sp>
          <p:nvSpPr>
            <p:cNvPr id="58" name="AutoShape 86"/>
            <p:cNvSpPr>
              <a:spLocks noChangeArrowheads="1"/>
            </p:cNvSpPr>
            <p:nvPr/>
          </p:nvSpPr>
          <p:spPr bwMode="auto">
            <a:xfrm rot="746037">
              <a:off x="1174" y="2713"/>
              <a:ext cx="408" cy="127"/>
            </a:xfrm>
            <a:prstGeom prst="rightArrow">
              <a:avLst>
                <a:gd name="adj1" fmla="val 50000"/>
                <a:gd name="adj2" fmla="val 80315"/>
              </a:avLst>
            </a:prstGeom>
            <a:solidFill>
              <a:schemeClr val="bg1"/>
            </a:solidFill>
            <a:ln w="9525">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1200">
                <a:solidFill>
                  <a:schemeClr val="bg1"/>
                </a:solidFill>
                <a:latin typeface="+mn-lt"/>
                <a:ea typeface="+mn-ea"/>
              </a:endParaRPr>
            </a:p>
          </p:txBody>
        </p:sp>
        <p:sp>
          <p:nvSpPr>
            <p:cNvPr id="59" name="Line 108"/>
            <p:cNvSpPr>
              <a:spLocks noChangeShapeType="1"/>
            </p:cNvSpPr>
            <p:nvPr/>
          </p:nvSpPr>
          <p:spPr bwMode="auto">
            <a:xfrm>
              <a:off x="823" y="2238"/>
              <a:ext cx="1094" cy="174"/>
            </a:xfrm>
            <a:prstGeom prst="line">
              <a:avLst/>
            </a:prstGeom>
            <a:grpFill/>
            <a:ln w="9525">
              <a:solidFill>
                <a:schemeClr val="tx1"/>
              </a:solid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1200">
                <a:solidFill>
                  <a:schemeClr val="bg1"/>
                </a:solidFill>
                <a:latin typeface="+mn-lt"/>
                <a:ea typeface="+mn-ea"/>
              </a:endParaRPr>
            </a:p>
          </p:txBody>
        </p:sp>
        <p:sp>
          <p:nvSpPr>
            <p:cNvPr id="60" name="Line 109"/>
            <p:cNvSpPr>
              <a:spLocks noChangeShapeType="1"/>
            </p:cNvSpPr>
            <p:nvPr/>
          </p:nvSpPr>
          <p:spPr bwMode="auto">
            <a:xfrm>
              <a:off x="817" y="2865"/>
              <a:ext cx="1100" cy="179"/>
            </a:xfrm>
            <a:prstGeom prst="line">
              <a:avLst/>
            </a:prstGeom>
            <a:grpFill/>
            <a:ln w="9525">
              <a:solidFill>
                <a:schemeClr val="tx1"/>
              </a:solid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1200">
                <a:solidFill>
                  <a:schemeClr val="bg1"/>
                </a:solidFill>
                <a:latin typeface="+mn-lt"/>
                <a:ea typeface="+mn-ea"/>
              </a:endParaRPr>
            </a:p>
          </p:txBody>
        </p:sp>
      </p:grpSp>
      <p:grpSp>
        <p:nvGrpSpPr>
          <p:cNvPr id="61" name="Group 130"/>
          <p:cNvGrpSpPr/>
          <p:nvPr/>
        </p:nvGrpSpPr>
        <p:grpSpPr bwMode="auto">
          <a:xfrm>
            <a:off x="6078036" y="1287196"/>
            <a:ext cx="379412" cy="230188"/>
            <a:chOff x="4196" y="1352"/>
            <a:chExt cx="461" cy="304"/>
          </a:xfrm>
        </p:grpSpPr>
        <p:sp>
          <p:nvSpPr>
            <p:cNvPr id="84089" name="AutoShape 110"/>
            <p:cNvSpPr>
              <a:spLocks noChangeArrowheads="1"/>
            </p:cNvSpPr>
            <p:nvPr/>
          </p:nvSpPr>
          <p:spPr bwMode="auto">
            <a:xfrm rot="5400000">
              <a:off x="4371" y="1337"/>
              <a:ext cx="211" cy="359"/>
            </a:xfrm>
            <a:prstGeom prst="parallelogram">
              <a:avLst>
                <a:gd name="adj" fmla="val 29162"/>
              </a:avLst>
            </a:prstGeom>
            <a:solidFill>
              <a:srgbClr val="C0000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chemeClr val="bg1"/>
                </a:solidFill>
                <a:latin typeface="微软雅黑" panose="020B0503020204020204" pitchFamily="34" charset="-122"/>
                <a:ea typeface="微软雅黑" panose="020B0503020204020204" pitchFamily="34" charset="-122"/>
              </a:endParaRPr>
            </a:p>
          </p:txBody>
        </p:sp>
        <p:sp>
          <p:nvSpPr>
            <p:cNvPr id="84090" name="Text Box 111"/>
            <p:cNvSpPr txBox="1">
              <a:spLocks noChangeArrowheads="1"/>
            </p:cNvSpPr>
            <p:nvPr/>
          </p:nvSpPr>
          <p:spPr bwMode="auto">
            <a:xfrm rot="626605">
              <a:off x="4196" y="1352"/>
              <a:ext cx="402" cy="304"/>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en-US" altLang="zh-CN" sz="900" b="1">
                  <a:solidFill>
                    <a:schemeClr val="bg1"/>
                  </a:solidFill>
                  <a:latin typeface="微软雅黑" panose="020B0503020204020204" pitchFamily="34" charset="-122"/>
                  <a:ea typeface="微软雅黑" panose="020B0503020204020204" pitchFamily="34" charset="-122"/>
                </a:rPr>
                <a:t>P1</a:t>
              </a:r>
            </a:p>
          </p:txBody>
        </p:sp>
        <p:sp>
          <p:nvSpPr>
            <p:cNvPr id="84091" name="Line 112"/>
            <p:cNvSpPr>
              <a:spLocks noChangeShapeType="1"/>
            </p:cNvSpPr>
            <p:nvPr/>
          </p:nvSpPr>
          <p:spPr bwMode="auto">
            <a:xfrm>
              <a:off x="4295" y="1407"/>
              <a:ext cx="362" cy="64"/>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092" name="Line 113"/>
            <p:cNvSpPr>
              <a:spLocks noChangeShapeType="1"/>
            </p:cNvSpPr>
            <p:nvPr/>
          </p:nvSpPr>
          <p:spPr bwMode="auto">
            <a:xfrm>
              <a:off x="4291" y="1558"/>
              <a:ext cx="363" cy="64"/>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093" name="AutoShape 114"/>
            <p:cNvSpPr>
              <a:spLocks noChangeArrowheads="1"/>
            </p:cNvSpPr>
            <p:nvPr/>
          </p:nvSpPr>
          <p:spPr bwMode="auto">
            <a:xfrm rot="746037">
              <a:off x="4485" y="1472"/>
              <a:ext cx="133" cy="127"/>
            </a:xfrm>
            <a:prstGeom prst="rightArrow">
              <a:avLst>
                <a:gd name="adj1" fmla="val 50000"/>
                <a:gd name="adj2" fmla="val 26181"/>
              </a:avLst>
            </a:prstGeom>
            <a:solidFill>
              <a:schemeClr val="bg1"/>
            </a:solidFill>
            <a:ln>
              <a:noFill/>
            </a:ln>
            <a:effectLst/>
            <a:extLs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chemeClr val="bg1"/>
                </a:solidFill>
                <a:latin typeface="微软雅黑" panose="020B0503020204020204" pitchFamily="34" charset="-122"/>
                <a:ea typeface="微软雅黑" panose="020B0503020204020204" pitchFamily="34" charset="-122"/>
              </a:endParaRPr>
            </a:p>
          </p:txBody>
        </p:sp>
      </p:grpSp>
      <p:sp>
        <p:nvSpPr>
          <p:cNvPr id="68" name="Line 116"/>
          <p:cNvSpPr>
            <a:spLocks noChangeShapeType="1"/>
          </p:cNvSpPr>
          <p:nvPr/>
        </p:nvSpPr>
        <p:spPr bwMode="auto">
          <a:xfrm>
            <a:off x="2620461" y="2488934"/>
            <a:ext cx="298450" cy="44450"/>
          </a:xfrm>
          <a:prstGeom prst="line">
            <a:avLst/>
          </a:prstGeom>
          <a:noFill/>
          <a:ln w="38100">
            <a:solidFill>
              <a:srgbClr val="0000FF"/>
            </a:solidFill>
            <a:rou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69" name="Line 117"/>
          <p:cNvSpPr>
            <a:spLocks noChangeShapeType="1"/>
          </p:cNvSpPr>
          <p:nvPr/>
        </p:nvSpPr>
        <p:spPr bwMode="auto">
          <a:xfrm>
            <a:off x="2923673" y="2574659"/>
            <a:ext cx="293688" cy="46037"/>
          </a:xfrm>
          <a:prstGeom prst="line">
            <a:avLst/>
          </a:prstGeom>
          <a:noFill/>
          <a:ln w="38100">
            <a:solidFill>
              <a:srgbClr val="0000FF"/>
            </a:solidFill>
            <a:rou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70" name="Line 118"/>
          <p:cNvSpPr>
            <a:spLocks noChangeShapeType="1"/>
          </p:cNvSpPr>
          <p:nvPr/>
        </p:nvSpPr>
        <p:spPr bwMode="auto">
          <a:xfrm>
            <a:off x="3217361" y="2665146"/>
            <a:ext cx="296862" cy="41275"/>
          </a:xfrm>
          <a:prstGeom prst="line">
            <a:avLst/>
          </a:prstGeom>
          <a:noFill/>
          <a:ln w="38100">
            <a:solidFill>
              <a:srgbClr val="0000FF"/>
            </a:solidFill>
            <a:rou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nvGrpSpPr>
          <p:cNvPr id="71" name="Group 124"/>
          <p:cNvGrpSpPr/>
          <p:nvPr/>
        </p:nvGrpSpPr>
        <p:grpSpPr bwMode="auto">
          <a:xfrm>
            <a:off x="1691773" y="2438134"/>
            <a:ext cx="885825" cy="325437"/>
            <a:chOff x="-281" y="2869"/>
            <a:chExt cx="1078" cy="429"/>
          </a:xfrm>
        </p:grpSpPr>
        <p:sp>
          <p:nvSpPr>
            <p:cNvPr id="84086" name="Line 119"/>
            <p:cNvSpPr>
              <a:spLocks noChangeShapeType="1"/>
            </p:cNvSpPr>
            <p:nvPr/>
          </p:nvSpPr>
          <p:spPr bwMode="auto">
            <a:xfrm>
              <a:off x="615" y="3241"/>
              <a:ext cx="182" cy="0"/>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087" name="Line 120"/>
            <p:cNvSpPr>
              <a:spLocks noChangeShapeType="1"/>
            </p:cNvSpPr>
            <p:nvPr/>
          </p:nvSpPr>
          <p:spPr bwMode="auto">
            <a:xfrm>
              <a:off x="721" y="2869"/>
              <a:ext cx="0" cy="373"/>
            </a:xfrm>
            <a:prstGeom prst="line">
              <a:avLst/>
            </a:prstGeom>
            <a:noFill/>
            <a:ln w="9525">
              <a:solidFill>
                <a:schemeClr val="tx1"/>
              </a:solidFill>
              <a:round/>
              <a:headEnd type="triangle" w="sm" len="lg"/>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088" name="Text Box 121"/>
            <p:cNvSpPr txBox="1">
              <a:spLocks noChangeArrowheads="1"/>
            </p:cNvSpPr>
            <p:nvPr/>
          </p:nvSpPr>
          <p:spPr bwMode="auto">
            <a:xfrm>
              <a:off x="-281" y="2933"/>
              <a:ext cx="974" cy="3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zh-CN" altLang="en-US" sz="1200" b="1">
                  <a:latin typeface="微软雅黑" panose="020B0503020204020204" pitchFamily="34" charset="-122"/>
                  <a:ea typeface="微软雅黑" panose="020B0503020204020204" pitchFamily="34" charset="-122"/>
                </a:rPr>
                <a:t>连接释放</a:t>
              </a:r>
            </a:p>
          </p:txBody>
        </p:sp>
      </p:grpSp>
      <p:sp>
        <p:nvSpPr>
          <p:cNvPr id="84006" name="Freeform 107"/>
          <p:cNvSpPr/>
          <p:nvPr/>
        </p:nvSpPr>
        <p:spPr bwMode="auto">
          <a:xfrm>
            <a:off x="3517398" y="1326884"/>
            <a:ext cx="3175" cy="1822450"/>
          </a:xfrm>
          <a:custGeom>
            <a:avLst/>
            <a:gdLst>
              <a:gd name="T0" fmla="*/ 2465 w 3"/>
              <a:gd name="T1" fmla="*/ 0 h 2736"/>
              <a:gd name="T2" fmla="*/ 0 w 3"/>
              <a:gd name="T3" fmla="*/ 1822124 h 2736"/>
              <a:gd name="T4" fmla="*/ 0 60000 65536"/>
              <a:gd name="T5" fmla="*/ 0 60000 65536"/>
            </a:gdLst>
            <a:ahLst/>
            <a:cxnLst>
              <a:cxn ang="T4">
                <a:pos x="T0" y="T1"/>
              </a:cxn>
              <a:cxn ang="T5">
                <a:pos x="T2" y="T3"/>
              </a:cxn>
            </a:cxnLst>
            <a:rect l="0" t="0" r="r" b="b"/>
            <a:pathLst>
              <a:path w="3" h="2736">
                <a:moveTo>
                  <a:pt x="3" y="0"/>
                </a:moveTo>
                <a:lnTo>
                  <a:pt x="0" y="2736"/>
                </a:lnTo>
              </a:path>
            </a:pathLst>
          </a:custGeom>
          <a:noFill/>
          <a:ln w="19050" cap="flat" cmpd="sng">
            <a:solidFill>
              <a:schemeClr val="tx1"/>
            </a:solidFill>
            <a:prstDash val="solid"/>
            <a:round/>
            <a:headEnd type="none" w="sm" len="lg"/>
            <a:tailEnd type="none" w="sm" len="lg"/>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007" name="AutoShape 143"/>
          <p:cNvSpPr>
            <a:spLocks noChangeArrowheads="1"/>
          </p:cNvSpPr>
          <p:nvPr/>
        </p:nvSpPr>
        <p:spPr bwMode="auto">
          <a:xfrm>
            <a:off x="1833061" y="3438259"/>
            <a:ext cx="5542869" cy="800100"/>
          </a:xfrm>
          <a:prstGeom prst="roundRect">
            <a:avLst>
              <a:gd name="adj" fmla="val 16667"/>
            </a:avLst>
          </a:prstGeom>
          <a:solidFill>
            <a:schemeClr val="bg1"/>
          </a:solidFill>
          <a:ln w="19050">
            <a:solidFill>
              <a:srgbClr val="339933"/>
            </a:solidFill>
            <a:round/>
            <a:headEnd type="none" w="sm" len="lg"/>
            <a:tailEnd type="none" w="sm" len="lg"/>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008" name="Line 144"/>
          <p:cNvSpPr>
            <a:spLocks noChangeShapeType="1"/>
          </p:cNvSpPr>
          <p:nvPr/>
        </p:nvSpPr>
        <p:spPr bwMode="auto">
          <a:xfrm>
            <a:off x="6188345" y="3927209"/>
            <a:ext cx="868362" cy="0"/>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84009" name="Line 145"/>
          <p:cNvSpPr>
            <a:spLocks noChangeShapeType="1"/>
          </p:cNvSpPr>
          <p:nvPr/>
        </p:nvSpPr>
        <p:spPr bwMode="auto">
          <a:xfrm>
            <a:off x="4380138" y="3927209"/>
            <a:ext cx="868362" cy="0"/>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84010" name="Line 146"/>
          <p:cNvSpPr>
            <a:spLocks noChangeShapeType="1"/>
          </p:cNvSpPr>
          <p:nvPr/>
        </p:nvSpPr>
        <p:spPr bwMode="auto">
          <a:xfrm>
            <a:off x="2636336" y="3927209"/>
            <a:ext cx="866775" cy="0"/>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grpSp>
        <p:nvGrpSpPr>
          <p:cNvPr id="80" name="Group 147"/>
          <p:cNvGrpSpPr/>
          <p:nvPr/>
        </p:nvGrpSpPr>
        <p:grpSpPr bwMode="auto">
          <a:xfrm>
            <a:off x="2596226" y="3854693"/>
            <a:ext cx="986162" cy="109236"/>
            <a:chOff x="768" y="2544"/>
            <a:chExt cx="1200" cy="144"/>
          </a:xfrm>
          <a:solidFill>
            <a:srgbClr val="339933"/>
          </a:solidFill>
        </p:grpSpPr>
        <p:sp>
          <p:nvSpPr>
            <p:cNvPr id="81" name="AutoShape 148"/>
            <p:cNvSpPr>
              <a:spLocks noChangeArrowheads="1"/>
            </p:cNvSpPr>
            <p:nvPr/>
          </p:nvSpPr>
          <p:spPr bwMode="auto">
            <a:xfrm>
              <a:off x="768" y="2544"/>
              <a:ext cx="144" cy="144"/>
            </a:xfrm>
            <a:prstGeom prst="cube">
              <a:avLst>
                <a:gd name="adj" fmla="val 25000"/>
              </a:avLst>
            </a:prstGeom>
            <a:grpFill/>
            <a:ln w="9525">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a:latin typeface="+mn-lt"/>
                <a:ea typeface="+mn-ea"/>
              </a:endParaRPr>
            </a:p>
          </p:txBody>
        </p:sp>
        <p:sp>
          <p:nvSpPr>
            <p:cNvPr id="82" name="AutoShape 149"/>
            <p:cNvSpPr>
              <a:spLocks noChangeArrowheads="1"/>
            </p:cNvSpPr>
            <p:nvPr/>
          </p:nvSpPr>
          <p:spPr bwMode="auto">
            <a:xfrm>
              <a:off x="1120" y="2544"/>
              <a:ext cx="144" cy="144"/>
            </a:xfrm>
            <a:prstGeom prst="cube">
              <a:avLst>
                <a:gd name="adj" fmla="val 25000"/>
              </a:avLst>
            </a:prstGeom>
            <a:grpFill/>
            <a:ln w="9525">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a:latin typeface="+mn-lt"/>
                <a:ea typeface="+mn-ea"/>
              </a:endParaRPr>
            </a:p>
          </p:txBody>
        </p:sp>
        <p:sp>
          <p:nvSpPr>
            <p:cNvPr id="83" name="AutoShape 150"/>
            <p:cNvSpPr>
              <a:spLocks noChangeArrowheads="1"/>
            </p:cNvSpPr>
            <p:nvPr/>
          </p:nvSpPr>
          <p:spPr bwMode="auto">
            <a:xfrm>
              <a:off x="1472" y="2544"/>
              <a:ext cx="144" cy="144"/>
            </a:xfrm>
            <a:prstGeom prst="cube">
              <a:avLst>
                <a:gd name="adj" fmla="val 25000"/>
              </a:avLst>
            </a:prstGeom>
            <a:grpFill/>
            <a:ln w="9525">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a:latin typeface="+mn-lt"/>
                <a:ea typeface="+mn-ea"/>
              </a:endParaRPr>
            </a:p>
          </p:txBody>
        </p:sp>
        <p:sp>
          <p:nvSpPr>
            <p:cNvPr id="84" name="AutoShape 151"/>
            <p:cNvSpPr>
              <a:spLocks noChangeArrowheads="1"/>
            </p:cNvSpPr>
            <p:nvPr/>
          </p:nvSpPr>
          <p:spPr bwMode="auto">
            <a:xfrm>
              <a:off x="1824" y="2544"/>
              <a:ext cx="144" cy="144"/>
            </a:xfrm>
            <a:prstGeom prst="cube">
              <a:avLst>
                <a:gd name="adj" fmla="val 25000"/>
              </a:avLst>
            </a:prstGeom>
            <a:grpFill/>
            <a:ln w="9525">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a:latin typeface="+mn-lt"/>
                <a:ea typeface="+mn-ea"/>
              </a:endParaRPr>
            </a:p>
          </p:txBody>
        </p:sp>
      </p:grpSp>
      <p:grpSp>
        <p:nvGrpSpPr>
          <p:cNvPr id="85" name="Group 152"/>
          <p:cNvGrpSpPr/>
          <p:nvPr/>
        </p:nvGrpSpPr>
        <p:grpSpPr bwMode="auto">
          <a:xfrm>
            <a:off x="4341308" y="3854693"/>
            <a:ext cx="986162" cy="109236"/>
            <a:chOff x="768" y="2544"/>
            <a:chExt cx="1200" cy="144"/>
          </a:xfrm>
          <a:solidFill>
            <a:srgbClr val="368AD6"/>
          </a:solidFill>
        </p:grpSpPr>
        <p:sp>
          <p:nvSpPr>
            <p:cNvPr id="86" name="AutoShape 153"/>
            <p:cNvSpPr>
              <a:spLocks noChangeArrowheads="1"/>
            </p:cNvSpPr>
            <p:nvPr/>
          </p:nvSpPr>
          <p:spPr bwMode="auto">
            <a:xfrm>
              <a:off x="768" y="2544"/>
              <a:ext cx="144" cy="144"/>
            </a:xfrm>
            <a:prstGeom prst="cube">
              <a:avLst>
                <a:gd name="adj" fmla="val 25000"/>
              </a:avLst>
            </a:prstGeom>
            <a:grpFill/>
            <a:ln w="9525">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a:latin typeface="+mn-lt"/>
                <a:ea typeface="+mn-ea"/>
              </a:endParaRPr>
            </a:p>
          </p:txBody>
        </p:sp>
        <p:sp>
          <p:nvSpPr>
            <p:cNvPr id="87" name="AutoShape 154"/>
            <p:cNvSpPr>
              <a:spLocks noChangeArrowheads="1"/>
            </p:cNvSpPr>
            <p:nvPr/>
          </p:nvSpPr>
          <p:spPr bwMode="auto">
            <a:xfrm>
              <a:off x="1120" y="2544"/>
              <a:ext cx="144" cy="144"/>
            </a:xfrm>
            <a:prstGeom prst="cube">
              <a:avLst>
                <a:gd name="adj" fmla="val 25000"/>
              </a:avLst>
            </a:prstGeom>
            <a:grpFill/>
            <a:ln w="9525">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a:latin typeface="+mn-lt"/>
                <a:ea typeface="+mn-ea"/>
              </a:endParaRPr>
            </a:p>
          </p:txBody>
        </p:sp>
        <p:sp>
          <p:nvSpPr>
            <p:cNvPr id="88" name="AutoShape 155"/>
            <p:cNvSpPr>
              <a:spLocks noChangeArrowheads="1"/>
            </p:cNvSpPr>
            <p:nvPr/>
          </p:nvSpPr>
          <p:spPr bwMode="auto">
            <a:xfrm>
              <a:off x="1472" y="2544"/>
              <a:ext cx="144" cy="144"/>
            </a:xfrm>
            <a:prstGeom prst="cube">
              <a:avLst>
                <a:gd name="adj" fmla="val 25000"/>
              </a:avLst>
            </a:prstGeom>
            <a:grpFill/>
            <a:ln w="9525">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a:latin typeface="+mn-lt"/>
                <a:ea typeface="+mn-ea"/>
              </a:endParaRPr>
            </a:p>
          </p:txBody>
        </p:sp>
        <p:sp>
          <p:nvSpPr>
            <p:cNvPr id="89" name="AutoShape 156"/>
            <p:cNvSpPr>
              <a:spLocks noChangeArrowheads="1"/>
            </p:cNvSpPr>
            <p:nvPr/>
          </p:nvSpPr>
          <p:spPr bwMode="auto">
            <a:xfrm>
              <a:off x="1824" y="2544"/>
              <a:ext cx="144" cy="144"/>
            </a:xfrm>
            <a:prstGeom prst="cube">
              <a:avLst>
                <a:gd name="adj" fmla="val 25000"/>
              </a:avLst>
            </a:prstGeom>
            <a:grpFill/>
            <a:ln w="9525">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a:latin typeface="+mn-lt"/>
                <a:ea typeface="+mn-ea"/>
              </a:endParaRPr>
            </a:p>
          </p:txBody>
        </p:sp>
      </p:grpSp>
      <p:grpSp>
        <p:nvGrpSpPr>
          <p:cNvPr id="90" name="Group 157"/>
          <p:cNvGrpSpPr/>
          <p:nvPr/>
        </p:nvGrpSpPr>
        <p:grpSpPr bwMode="auto">
          <a:xfrm>
            <a:off x="6149170" y="3854693"/>
            <a:ext cx="986162" cy="109236"/>
            <a:chOff x="768" y="2544"/>
            <a:chExt cx="1200" cy="144"/>
          </a:xfrm>
          <a:solidFill>
            <a:srgbClr val="C00000"/>
          </a:solidFill>
        </p:grpSpPr>
        <p:sp>
          <p:nvSpPr>
            <p:cNvPr id="91" name="AutoShape 158"/>
            <p:cNvSpPr>
              <a:spLocks noChangeArrowheads="1"/>
            </p:cNvSpPr>
            <p:nvPr/>
          </p:nvSpPr>
          <p:spPr bwMode="auto">
            <a:xfrm>
              <a:off x="768" y="2544"/>
              <a:ext cx="144" cy="144"/>
            </a:xfrm>
            <a:prstGeom prst="cube">
              <a:avLst>
                <a:gd name="adj" fmla="val 25000"/>
              </a:avLst>
            </a:prstGeom>
            <a:grpFill/>
            <a:ln w="9525">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a:latin typeface="+mn-lt"/>
                <a:ea typeface="+mn-ea"/>
              </a:endParaRPr>
            </a:p>
          </p:txBody>
        </p:sp>
        <p:sp>
          <p:nvSpPr>
            <p:cNvPr id="92" name="AutoShape 159"/>
            <p:cNvSpPr>
              <a:spLocks noChangeArrowheads="1"/>
            </p:cNvSpPr>
            <p:nvPr/>
          </p:nvSpPr>
          <p:spPr bwMode="auto">
            <a:xfrm>
              <a:off x="1120" y="2544"/>
              <a:ext cx="144" cy="144"/>
            </a:xfrm>
            <a:prstGeom prst="cube">
              <a:avLst>
                <a:gd name="adj" fmla="val 25000"/>
              </a:avLst>
            </a:prstGeom>
            <a:grpFill/>
            <a:ln w="9525">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a:latin typeface="+mn-lt"/>
                <a:ea typeface="+mn-ea"/>
              </a:endParaRPr>
            </a:p>
          </p:txBody>
        </p:sp>
        <p:sp>
          <p:nvSpPr>
            <p:cNvPr id="93" name="AutoShape 160"/>
            <p:cNvSpPr>
              <a:spLocks noChangeArrowheads="1"/>
            </p:cNvSpPr>
            <p:nvPr/>
          </p:nvSpPr>
          <p:spPr bwMode="auto">
            <a:xfrm>
              <a:off x="1472" y="2544"/>
              <a:ext cx="144" cy="144"/>
            </a:xfrm>
            <a:prstGeom prst="cube">
              <a:avLst>
                <a:gd name="adj" fmla="val 25000"/>
              </a:avLst>
            </a:prstGeom>
            <a:grpFill/>
            <a:ln w="9525">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a:latin typeface="+mn-lt"/>
                <a:ea typeface="+mn-ea"/>
              </a:endParaRPr>
            </a:p>
          </p:txBody>
        </p:sp>
        <p:sp>
          <p:nvSpPr>
            <p:cNvPr id="94" name="AutoShape 161"/>
            <p:cNvSpPr>
              <a:spLocks noChangeArrowheads="1"/>
            </p:cNvSpPr>
            <p:nvPr/>
          </p:nvSpPr>
          <p:spPr bwMode="auto">
            <a:xfrm>
              <a:off x="1824" y="2544"/>
              <a:ext cx="144" cy="144"/>
            </a:xfrm>
            <a:prstGeom prst="cube">
              <a:avLst>
                <a:gd name="adj" fmla="val 25000"/>
              </a:avLst>
            </a:prstGeom>
            <a:grpFill/>
            <a:ln w="9525">
              <a:solidFill>
                <a:schemeClr val="tx1"/>
              </a:solidFill>
              <a:miter lim="800000"/>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a:latin typeface="+mn-lt"/>
                <a:ea typeface="+mn-ea"/>
              </a:endParaRPr>
            </a:p>
          </p:txBody>
        </p:sp>
      </p:grpSp>
      <p:sp>
        <p:nvSpPr>
          <p:cNvPr id="84014" name="AutoShape 162"/>
          <p:cNvSpPr>
            <a:spLocks noChangeArrowheads="1"/>
          </p:cNvSpPr>
          <p:nvPr/>
        </p:nvSpPr>
        <p:spPr bwMode="auto">
          <a:xfrm>
            <a:off x="4342038" y="3673209"/>
            <a:ext cx="354012" cy="144462"/>
          </a:xfrm>
          <a:prstGeom prst="curvedDownArrow">
            <a:avLst>
              <a:gd name="adj1" fmla="val 49533"/>
              <a:gd name="adj2" fmla="val 94777"/>
              <a:gd name="adj3" fmla="val 52602"/>
            </a:avLst>
          </a:prstGeom>
          <a:solidFill>
            <a:srgbClr val="85D1F7"/>
          </a:solidFill>
          <a:ln w="9525">
            <a:solidFill>
              <a:schemeClr val="tx1"/>
            </a:solidFill>
            <a:miter lim="800000"/>
            <a:headEnd type="none" w="sm" len="lg"/>
            <a:tailEnd type="none" w="sm" len="lg"/>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015" name="AutoShape 163"/>
          <p:cNvSpPr>
            <a:spLocks noChangeArrowheads="1"/>
          </p:cNvSpPr>
          <p:nvPr/>
        </p:nvSpPr>
        <p:spPr bwMode="auto">
          <a:xfrm>
            <a:off x="4677000" y="3673209"/>
            <a:ext cx="354013" cy="144462"/>
          </a:xfrm>
          <a:prstGeom prst="curvedDownArrow">
            <a:avLst>
              <a:gd name="adj1" fmla="val 49533"/>
              <a:gd name="adj2" fmla="val 94778"/>
              <a:gd name="adj3" fmla="val 52602"/>
            </a:avLst>
          </a:prstGeom>
          <a:solidFill>
            <a:srgbClr val="85D1F7"/>
          </a:solidFill>
          <a:ln w="9525">
            <a:solidFill>
              <a:schemeClr val="tx1"/>
            </a:solidFill>
            <a:miter lim="800000"/>
            <a:headEnd type="none" w="sm" len="lg"/>
            <a:tailEnd type="none" w="sm" len="lg"/>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016" name="AutoShape 164"/>
          <p:cNvSpPr>
            <a:spLocks noChangeArrowheads="1"/>
          </p:cNvSpPr>
          <p:nvPr/>
        </p:nvSpPr>
        <p:spPr bwMode="auto">
          <a:xfrm>
            <a:off x="5011963" y="3673209"/>
            <a:ext cx="355600" cy="144462"/>
          </a:xfrm>
          <a:prstGeom prst="curvedDownArrow">
            <a:avLst>
              <a:gd name="adj1" fmla="val 49755"/>
              <a:gd name="adj2" fmla="val 95203"/>
              <a:gd name="adj3" fmla="val 52602"/>
            </a:avLst>
          </a:prstGeom>
          <a:solidFill>
            <a:srgbClr val="85D1F7"/>
          </a:solidFill>
          <a:ln w="9525">
            <a:solidFill>
              <a:schemeClr val="tx1"/>
            </a:solidFill>
            <a:miter lim="800000"/>
            <a:headEnd type="none" w="sm" len="lg"/>
            <a:tailEnd type="none" w="sm" len="lg"/>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017" name="AutoShape 165"/>
          <p:cNvSpPr>
            <a:spLocks noChangeArrowheads="1"/>
          </p:cNvSpPr>
          <p:nvPr/>
        </p:nvSpPr>
        <p:spPr bwMode="auto">
          <a:xfrm>
            <a:off x="2636336" y="3673209"/>
            <a:ext cx="985837" cy="144462"/>
          </a:xfrm>
          <a:prstGeom prst="rightArrow">
            <a:avLst>
              <a:gd name="adj1" fmla="val 58333"/>
              <a:gd name="adj2" fmla="val 110230"/>
            </a:avLst>
          </a:prstGeom>
          <a:solidFill>
            <a:srgbClr val="00B050"/>
          </a:solidFill>
          <a:ln w="9525">
            <a:solidFill>
              <a:schemeClr val="tx1"/>
            </a:solidFill>
            <a:miter lim="800000"/>
            <a:headEnd type="none" w="sm" len="lg"/>
            <a:tailEnd type="none" w="sm" len="lg"/>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018" name="AutoShape 166"/>
          <p:cNvSpPr>
            <a:spLocks noChangeArrowheads="1"/>
          </p:cNvSpPr>
          <p:nvPr/>
        </p:nvSpPr>
        <p:spPr bwMode="auto">
          <a:xfrm>
            <a:off x="6148657" y="3673209"/>
            <a:ext cx="355600" cy="144462"/>
          </a:xfrm>
          <a:prstGeom prst="curvedDownArrow">
            <a:avLst>
              <a:gd name="adj1" fmla="val 13675"/>
              <a:gd name="adj2" fmla="val 67328"/>
              <a:gd name="adj3" fmla="val 36977"/>
            </a:avLst>
          </a:prstGeom>
          <a:solidFill>
            <a:srgbClr val="C00000"/>
          </a:solidFill>
          <a:ln w="9525">
            <a:solidFill>
              <a:schemeClr val="tx1"/>
            </a:solidFill>
            <a:miter lim="800000"/>
            <a:headEnd type="none" w="sm" len="lg"/>
            <a:tailEnd type="none" w="sm" len="lg"/>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019" name="AutoShape 167"/>
          <p:cNvSpPr>
            <a:spLocks noChangeArrowheads="1"/>
          </p:cNvSpPr>
          <p:nvPr/>
        </p:nvSpPr>
        <p:spPr bwMode="auto">
          <a:xfrm>
            <a:off x="6464570" y="3673209"/>
            <a:ext cx="355600" cy="144462"/>
          </a:xfrm>
          <a:prstGeom prst="curvedDownArrow">
            <a:avLst>
              <a:gd name="adj1" fmla="val 13675"/>
              <a:gd name="adj2" fmla="val 67328"/>
              <a:gd name="adj3" fmla="val 36977"/>
            </a:avLst>
          </a:prstGeom>
          <a:solidFill>
            <a:srgbClr val="C00000"/>
          </a:solidFill>
          <a:ln w="9525">
            <a:solidFill>
              <a:schemeClr val="tx1"/>
            </a:solidFill>
            <a:miter lim="800000"/>
            <a:headEnd type="none" w="sm" len="lg"/>
            <a:tailEnd type="none" w="sm" len="lg"/>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020" name="AutoShape 168"/>
          <p:cNvSpPr>
            <a:spLocks noChangeArrowheads="1"/>
          </p:cNvSpPr>
          <p:nvPr/>
        </p:nvSpPr>
        <p:spPr bwMode="auto">
          <a:xfrm>
            <a:off x="6780482" y="3673209"/>
            <a:ext cx="355600" cy="144462"/>
          </a:xfrm>
          <a:prstGeom prst="curvedDownArrow">
            <a:avLst>
              <a:gd name="adj1" fmla="val 13675"/>
              <a:gd name="adj2" fmla="val 67328"/>
              <a:gd name="adj3" fmla="val 36977"/>
            </a:avLst>
          </a:prstGeom>
          <a:solidFill>
            <a:srgbClr val="C00000"/>
          </a:solidFill>
          <a:ln w="9525">
            <a:solidFill>
              <a:schemeClr val="tx1"/>
            </a:solidFill>
            <a:miter lim="800000"/>
            <a:headEnd type="none" w="sm" len="lg"/>
            <a:tailEnd type="none" w="sm" len="lg"/>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021" name="Text Box 169"/>
          <p:cNvSpPr txBox="1">
            <a:spLocks noChangeArrowheads="1"/>
          </p:cNvSpPr>
          <p:nvPr/>
        </p:nvSpPr>
        <p:spPr bwMode="auto">
          <a:xfrm>
            <a:off x="1941129" y="3502089"/>
            <a:ext cx="492125" cy="6461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zh-CN" altLang="en-US" sz="1200" b="1" dirty="0">
                <a:solidFill>
                  <a:srgbClr val="0000FF"/>
                </a:solidFill>
                <a:latin typeface="微软雅黑" panose="020B0503020204020204" pitchFamily="34" charset="-122"/>
                <a:ea typeface="微软雅黑" panose="020B0503020204020204" pitchFamily="34" charset="-122"/>
              </a:rPr>
              <a:t>数据</a:t>
            </a:r>
            <a:endParaRPr lang="en-US" altLang="zh-CN" sz="1200" b="1" dirty="0">
              <a:solidFill>
                <a:srgbClr val="0000FF"/>
              </a:solidFill>
              <a:latin typeface="微软雅黑" panose="020B0503020204020204" pitchFamily="34" charset="-122"/>
              <a:ea typeface="微软雅黑" panose="020B0503020204020204" pitchFamily="34" charset="-122"/>
            </a:endParaRPr>
          </a:p>
          <a:p>
            <a:pPr eaLnBrk="0" hangingPunct="0"/>
            <a:r>
              <a:rPr lang="zh-CN" altLang="en-US" sz="1200" b="1" dirty="0">
                <a:solidFill>
                  <a:srgbClr val="0000FF"/>
                </a:solidFill>
                <a:latin typeface="微软雅黑" panose="020B0503020204020204" pitchFamily="34" charset="-122"/>
                <a:ea typeface="微软雅黑" panose="020B0503020204020204" pitchFamily="34" charset="-122"/>
              </a:rPr>
              <a:t>传送</a:t>
            </a:r>
          </a:p>
          <a:p>
            <a:pPr eaLnBrk="0" hangingPunct="0"/>
            <a:r>
              <a:rPr lang="zh-CN" altLang="en-US" sz="1200" b="1" dirty="0">
                <a:solidFill>
                  <a:srgbClr val="0000FF"/>
                </a:solidFill>
                <a:latin typeface="微软雅黑" panose="020B0503020204020204" pitchFamily="34" charset="-122"/>
                <a:ea typeface="微软雅黑" panose="020B0503020204020204" pitchFamily="34" charset="-122"/>
              </a:rPr>
              <a:t>特点</a:t>
            </a:r>
          </a:p>
        </p:txBody>
      </p:sp>
      <p:sp>
        <p:nvSpPr>
          <p:cNvPr id="103" name="Text Box 170"/>
          <p:cNvSpPr txBox="1">
            <a:spLocks noChangeArrowheads="1"/>
          </p:cNvSpPr>
          <p:nvPr/>
        </p:nvSpPr>
        <p:spPr bwMode="auto">
          <a:xfrm>
            <a:off x="2525211" y="3471596"/>
            <a:ext cx="1171575" cy="2619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ru-RU"/>
            </a:defPPr>
            <a:lvl1pPr eaLnBrk="0" hangingPunct="0">
              <a:defRPr sz="1200" b="1">
                <a:solidFill>
                  <a:srgbClr val="339933"/>
                </a:solidFill>
                <a:latin typeface="微软雅黑" panose="020B0503020204020204" pitchFamily="34" charset="-122"/>
                <a:ea typeface="微软雅黑" panose="020B0503020204020204" pitchFamily="34" charset="-122"/>
              </a:defRPr>
            </a:lvl1pPr>
            <a:lvl2pPr eaLnBrk="0" hangingPunct="0">
              <a:defRPr>
                <a:ea typeface="+mn-ea"/>
              </a:defRPr>
            </a:lvl2pPr>
            <a:lvl3pPr eaLnBrk="0" hangingPunct="0">
              <a:defRPr>
                <a:ea typeface="+mn-ea"/>
              </a:defRPr>
            </a:lvl3pPr>
            <a:lvl4pPr eaLnBrk="0" hangingPunct="0">
              <a:defRPr>
                <a:ea typeface="+mn-ea"/>
              </a:defRPr>
            </a:lvl4pPr>
            <a:lvl5pPr eaLnBrk="0" hangingPunct="0">
              <a:defRPr>
                <a:ea typeface="+mn-ea"/>
              </a:defRPr>
            </a:lvl5pPr>
            <a:lvl6pPr>
              <a:defRPr>
                <a:ea typeface="+mn-ea"/>
              </a:defRPr>
            </a:lvl6pPr>
            <a:lvl7pPr>
              <a:defRPr>
                <a:ea typeface="+mn-ea"/>
              </a:defRPr>
            </a:lvl7pPr>
            <a:lvl8pPr>
              <a:defRPr>
                <a:ea typeface="+mn-ea"/>
              </a:defRPr>
            </a:lvl8pPr>
            <a:lvl9pPr>
              <a:defRPr>
                <a:ea typeface="+mn-ea"/>
              </a:defRPr>
            </a:lvl9pPr>
          </a:lstStyle>
          <a:p>
            <a:pPr fontAlgn="auto">
              <a:spcBef>
                <a:spcPts val="0"/>
              </a:spcBef>
              <a:spcAft>
                <a:spcPts val="0"/>
              </a:spcAft>
              <a:defRPr/>
            </a:pPr>
            <a:r>
              <a:rPr lang="zh-CN" altLang="en-US" sz="1050" dirty="0">
                <a:solidFill>
                  <a:schemeClr val="tx1"/>
                </a:solidFill>
              </a:rPr>
              <a:t>比特流直达终点</a:t>
            </a:r>
          </a:p>
        </p:txBody>
      </p:sp>
      <p:sp>
        <p:nvSpPr>
          <p:cNvPr id="104" name="Text Box 171"/>
          <p:cNvSpPr txBox="1">
            <a:spLocks noChangeArrowheads="1"/>
          </p:cNvSpPr>
          <p:nvPr/>
        </p:nvSpPr>
        <p:spPr bwMode="auto">
          <a:xfrm>
            <a:off x="4300763" y="3441434"/>
            <a:ext cx="466725" cy="260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ru-RU"/>
            </a:defPPr>
            <a:lvl1pPr eaLnBrk="0" hangingPunct="0">
              <a:defRPr sz="1200" b="1">
                <a:solidFill>
                  <a:srgbClr val="339933"/>
                </a:solidFill>
                <a:latin typeface="微软雅黑" panose="020B0503020204020204" pitchFamily="34" charset="-122"/>
                <a:ea typeface="微软雅黑" panose="020B0503020204020204" pitchFamily="34" charset="-122"/>
              </a:defRPr>
            </a:lvl1pPr>
            <a:lvl2pPr eaLnBrk="0" hangingPunct="0">
              <a:defRPr>
                <a:ea typeface="+mn-ea"/>
              </a:defRPr>
            </a:lvl2pPr>
            <a:lvl3pPr eaLnBrk="0" hangingPunct="0">
              <a:defRPr>
                <a:ea typeface="+mn-ea"/>
              </a:defRPr>
            </a:lvl3pPr>
            <a:lvl4pPr eaLnBrk="0" hangingPunct="0">
              <a:defRPr>
                <a:ea typeface="+mn-ea"/>
              </a:defRPr>
            </a:lvl4pPr>
            <a:lvl5pPr eaLnBrk="0" hangingPunct="0">
              <a:defRPr>
                <a:ea typeface="+mn-ea"/>
              </a:defRPr>
            </a:lvl5pPr>
            <a:lvl6pPr>
              <a:defRPr>
                <a:ea typeface="+mn-ea"/>
              </a:defRPr>
            </a:lvl6pPr>
            <a:lvl7pPr>
              <a:defRPr>
                <a:ea typeface="+mn-ea"/>
              </a:defRPr>
            </a:lvl7pPr>
            <a:lvl8pPr>
              <a:defRPr>
                <a:ea typeface="+mn-ea"/>
              </a:defRPr>
            </a:lvl8pPr>
            <a:lvl9pPr>
              <a:defRPr>
                <a:ea typeface="+mn-ea"/>
              </a:defRPr>
            </a:lvl9pPr>
          </a:lstStyle>
          <a:p>
            <a:pPr fontAlgn="auto">
              <a:spcBef>
                <a:spcPts val="0"/>
              </a:spcBef>
              <a:spcAft>
                <a:spcPts val="0"/>
              </a:spcAft>
              <a:defRPr/>
            </a:pPr>
            <a:r>
              <a:rPr lang="zh-CN" altLang="en-US" sz="1050" dirty="0">
                <a:solidFill>
                  <a:schemeClr val="tx1"/>
                </a:solidFill>
              </a:rPr>
              <a:t>报文</a:t>
            </a:r>
          </a:p>
        </p:txBody>
      </p:sp>
      <p:sp>
        <p:nvSpPr>
          <p:cNvPr id="105" name="Text Box 172"/>
          <p:cNvSpPr txBox="1">
            <a:spLocks noChangeArrowheads="1"/>
          </p:cNvSpPr>
          <p:nvPr/>
        </p:nvSpPr>
        <p:spPr bwMode="auto">
          <a:xfrm>
            <a:off x="4640488" y="3441434"/>
            <a:ext cx="466725" cy="260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ru-RU"/>
            </a:defPPr>
            <a:lvl1pPr eaLnBrk="0" hangingPunct="0">
              <a:defRPr sz="1200" b="1">
                <a:solidFill>
                  <a:srgbClr val="339933"/>
                </a:solidFill>
                <a:latin typeface="微软雅黑" panose="020B0503020204020204" pitchFamily="34" charset="-122"/>
                <a:ea typeface="微软雅黑" panose="020B0503020204020204" pitchFamily="34" charset="-122"/>
              </a:defRPr>
            </a:lvl1pPr>
            <a:lvl2pPr eaLnBrk="0" hangingPunct="0">
              <a:defRPr>
                <a:ea typeface="+mn-ea"/>
              </a:defRPr>
            </a:lvl2pPr>
            <a:lvl3pPr eaLnBrk="0" hangingPunct="0">
              <a:defRPr>
                <a:ea typeface="+mn-ea"/>
              </a:defRPr>
            </a:lvl3pPr>
            <a:lvl4pPr eaLnBrk="0" hangingPunct="0">
              <a:defRPr>
                <a:ea typeface="+mn-ea"/>
              </a:defRPr>
            </a:lvl4pPr>
            <a:lvl5pPr eaLnBrk="0" hangingPunct="0">
              <a:defRPr>
                <a:ea typeface="+mn-ea"/>
              </a:defRPr>
            </a:lvl5pPr>
            <a:lvl6pPr>
              <a:defRPr>
                <a:ea typeface="+mn-ea"/>
              </a:defRPr>
            </a:lvl6pPr>
            <a:lvl7pPr>
              <a:defRPr>
                <a:ea typeface="+mn-ea"/>
              </a:defRPr>
            </a:lvl7pPr>
            <a:lvl8pPr>
              <a:defRPr>
                <a:ea typeface="+mn-ea"/>
              </a:defRPr>
            </a:lvl8pPr>
            <a:lvl9pPr>
              <a:defRPr>
                <a:ea typeface="+mn-ea"/>
              </a:defRPr>
            </a:lvl9pPr>
          </a:lstStyle>
          <a:p>
            <a:pPr fontAlgn="auto">
              <a:spcBef>
                <a:spcPts val="0"/>
              </a:spcBef>
              <a:spcAft>
                <a:spcPts val="0"/>
              </a:spcAft>
              <a:defRPr/>
            </a:pPr>
            <a:r>
              <a:rPr lang="zh-CN" altLang="en-US" sz="1050" dirty="0">
                <a:solidFill>
                  <a:schemeClr val="tx1"/>
                </a:solidFill>
              </a:rPr>
              <a:t>报文</a:t>
            </a:r>
          </a:p>
        </p:txBody>
      </p:sp>
      <p:sp>
        <p:nvSpPr>
          <p:cNvPr id="106" name="Text Box 173"/>
          <p:cNvSpPr txBox="1">
            <a:spLocks noChangeArrowheads="1"/>
          </p:cNvSpPr>
          <p:nvPr/>
        </p:nvSpPr>
        <p:spPr bwMode="auto">
          <a:xfrm>
            <a:off x="4975450" y="3441434"/>
            <a:ext cx="466725" cy="260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ru-RU"/>
            </a:defPPr>
            <a:lvl1pPr eaLnBrk="0" hangingPunct="0">
              <a:defRPr sz="1200" b="1">
                <a:solidFill>
                  <a:srgbClr val="339933"/>
                </a:solidFill>
                <a:latin typeface="微软雅黑" panose="020B0503020204020204" pitchFamily="34" charset="-122"/>
                <a:ea typeface="微软雅黑" panose="020B0503020204020204" pitchFamily="34" charset="-122"/>
              </a:defRPr>
            </a:lvl1pPr>
            <a:lvl2pPr eaLnBrk="0" hangingPunct="0">
              <a:defRPr>
                <a:ea typeface="+mn-ea"/>
              </a:defRPr>
            </a:lvl2pPr>
            <a:lvl3pPr eaLnBrk="0" hangingPunct="0">
              <a:defRPr>
                <a:ea typeface="+mn-ea"/>
              </a:defRPr>
            </a:lvl3pPr>
            <a:lvl4pPr eaLnBrk="0" hangingPunct="0">
              <a:defRPr>
                <a:ea typeface="+mn-ea"/>
              </a:defRPr>
            </a:lvl4pPr>
            <a:lvl5pPr eaLnBrk="0" hangingPunct="0">
              <a:defRPr>
                <a:ea typeface="+mn-ea"/>
              </a:defRPr>
            </a:lvl5pPr>
            <a:lvl6pPr>
              <a:defRPr>
                <a:ea typeface="+mn-ea"/>
              </a:defRPr>
            </a:lvl6pPr>
            <a:lvl7pPr>
              <a:defRPr>
                <a:ea typeface="+mn-ea"/>
              </a:defRPr>
            </a:lvl7pPr>
            <a:lvl8pPr>
              <a:defRPr>
                <a:ea typeface="+mn-ea"/>
              </a:defRPr>
            </a:lvl8pPr>
            <a:lvl9pPr>
              <a:defRPr>
                <a:ea typeface="+mn-ea"/>
              </a:defRPr>
            </a:lvl9pPr>
          </a:lstStyle>
          <a:p>
            <a:pPr fontAlgn="auto">
              <a:spcBef>
                <a:spcPts val="0"/>
              </a:spcBef>
              <a:spcAft>
                <a:spcPts val="0"/>
              </a:spcAft>
              <a:defRPr/>
            </a:pPr>
            <a:r>
              <a:rPr lang="zh-CN" altLang="en-US" sz="1050" dirty="0">
                <a:solidFill>
                  <a:schemeClr val="tx1"/>
                </a:solidFill>
              </a:rPr>
              <a:t>报文</a:t>
            </a:r>
          </a:p>
        </p:txBody>
      </p:sp>
      <p:sp>
        <p:nvSpPr>
          <p:cNvPr id="107" name="Text Box 174"/>
          <p:cNvSpPr txBox="1">
            <a:spLocks noChangeArrowheads="1"/>
          </p:cNvSpPr>
          <p:nvPr/>
        </p:nvSpPr>
        <p:spPr bwMode="auto">
          <a:xfrm>
            <a:off x="6028007" y="3441434"/>
            <a:ext cx="466725" cy="260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ru-RU"/>
            </a:defPPr>
            <a:lvl1pPr eaLnBrk="0" hangingPunct="0">
              <a:defRPr sz="1200" b="1">
                <a:solidFill>
                  <a:srgbClr val="339933"/>
                </a:solidFill>
                <a:latin typeface="微软雅黑" panose="020B0503020204020204" pitchFamily="34" charset="-122"/>
                <a:ea typeface="微软雅黑" panose="020B0503020204020204" pitchFamily="34" charset="-122"/>
              </a:defRPr>
            </a:lvl1pPr>
            <a:lvl2pPr eaLnBrk="0" hangingPunct="0">
              <a:defRPr>
                <a:ea typeface="+mn-ea"/>
              </a:defRPr>
            </a:lvl2pPr>
            <a:lvl3pPr eaLnBrk="0" hangingPunct="0">
              <a:defRPr>
                <a:ea typeface="+mn-ea"/>
              </a:defRPr>
            </a:lvl3pPr>
            <a:lvl4pPr eaLnBrk="0" hangingPunct="0">
              <a:defRPr>
                <a:ea typeface="+mn-ea"/>
              </a:defRPr>
            </a:lvl4pPr>
            <a:lvl5pPr eaLnBrk="0" hangingPunct="0">
              <a:defRPr>
                <a:ea typeface="+mn-ea"/>
              </a:defRPr>
            </a:lvl5pPr>
            <a:lvl6pPr>
              <a:defRPr>
                <a:ea typeface="+mn-ea"/>
              </a:defRPr>
            </a:lvl6pPr>
            <a:lvl7pPr>
              <a:defRPr>
                <a:ea typeface="+mn-ea"/>
              </a:defRPr>
            </a:lvl7pPr>
            <a:lvl8pPr>
              <a:defRPr>
                <a:ea typeface="+mn-ea"/>
              </a:defRPr>
            </a:lvl8pPr>
            <a:lvl9pPr>
              <a:defRPr>
                <a:ea typeface="+mn-ea"/>
              </a:defRPr>
            </a:lvl9pPr>
          </a:lstStyle>
          <a:p>
            <a:pPr fontAlgn="auto">
              <a:spcBef>
                <a:spcPts val="0"/>
              </a:spcBef>
              <a:spcAft>
                <a:spcPts val="0"/>
              </a:spcAft>
              <a:defRPr/>
            </a:pPr>
            <a:r>
              <a:rPr lang="zh-CN" altLang="en-US" sz="1050" dirty="0">
                <a:solidFill>
                  <a:schemeClr val="tx1"/>
                </a:solidFill>
              </a:rPr>
              <a:t>分组</a:t>
            </a:r>
          </a:p>
        </p:txBody>
      </p:sp>
      <p:sp>
        <p:nvSpPr>
          <p:cNvPr id="108" name="Text Box 175"/>
          <p:cNvSpPr txBox="1">
            <a:spLocks noChangeArrowheads="1"/>
          </p:cNvSpPr>
          <p:nvPr/>
        </p:nvSpPr>
        <p:spPr bwMode="auto">
          <a:xfrm>
            <a:off x="6353445" y="3441434"/>
            <a:ext cx="466725" cy="260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ru-RU"/>
            </a:defPPr>
            <a:lvl1pPr eaLnBrk="0" hangingPunct="0">
              <a:defRPr sz="1200" b="1">
                <a:solidFill>
                  <a:srgbClr val="339933"/>
                </a:solidFill>
                <a:latin typeface="微软雅黑" panose="020B0503020204020204" pitchFamily="34" charset="-122"/>
                <a:ea typeface="微软雅黑" panose="020B0503020204020204" pitchFamily="34" charset="-122"/>
              </a:defRPr>
            </a:lvl1pPr>
            <a:lvl2pPr eaLnBrk="0" hangingPunct="0">
              <a:defRPr>
                <a:ea typeface="+mn-ea"/>
              </a:defRPr>
            </a:lvl2pPr>
            <a:lvl3pPr eaLnBrk="0" hangingPunct="0">
              <a:defRPr>
                <a:ea typeface="+mn-ea"/>
              </a:defRPr>
            </a:lvl3pPr>
            <a:lvl4pPr eaLnBrk="0" hangingPunct="0">
              <a:defRPr>
                <a:ea typeface="+mn-ea"/>
              </a:defRPr>
            </a:lvl4pPr>
            <a:lvl5pPr eaLnBrk="0" hangingPunct="0">
              <a:defRPr>
                <a:ea typeface="+mn-ea"/>
              </a:defRPr>
            </a:lvl5pPr>
            <a:lvl6pPr>
              <a:defRPr>
                <a:ea typeface="+mn-ea"/>
              </a:defRPr>
            </a:lvl6pPr>
            <a:lvl7pPr>
              <a:defRPr>
                <a:ea typeface="+mn-ea"/>
              </a:defRPr>
            </a:lvl7pPr>
            <a:lvl8pPr>
              <a:defRPr>
                <a:ea typeface="+mn-ea"/>
              </a:defRPr>
            </a:lvl8pPr>
            <a:lvl9pPr>
              <a:defRPr>
                <a:ea typeface="+mn-ea"/>
              </a:defRPr>
            </a:lvl9pPr>
          </a:lstStyle>
          <a:p>
            <a:pPr fontAlgn="auto">
              <a:spcBef>
                <a:spcPts val="0"/>
              </a:spcBef>
              <a:spcAft>
                <a:spcPts val="0"/>
              </a:spcAft>
              <a:defRPr/>
            </a:pPr>
            <a:r>
              <a:rPr lang="zh-CN" altLang="en-US" sz="1050" dirty="0">
                <a:solidFill>
                  <a:schemeClr val="tx1"/>
                </a:solidFill>
              </a:rPr>
              <a:t>分组</a:t>
            </a:r>
          </a:p>
        </p:txBody>
      </p:sp>
      <p:sp>
        <p:nvSpPr>
          <p:cNvPr id="109" name="Text Box 176"/>
          <p:cNvSpPr txBox="1">
            <a:spLocks noChangeArrowheads="1"/>
          </p:cNvSpPr>
          <p:nvPr/>
        </p:nvSpPr>
        <p:spPr bwMode="auto">
          <a:xfrm>
            <a:off x="6680470" y="3441434"/>
            <a:ext cx="466725" cy="260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ru-RU"/>
            </a:defPPr>
            <a:lvl1pPr eaLnBrk="0" hangingPunct="0">
              <a:defRPr sz="1200" b="1">
                <a:solidFill>
                  <a:srgbClr val="339933"/>
                </a:solidFill>
                <a:latin typeface="微软雅黑" panose="020B0503020204020204" pitchFamily="34" charset="-122"/>
                <a:ea typeface="微软雅黑" panose="020B0503020204020204" pitchFamily="34" charset="-122"/>
              </a:defRPr>
            </a:lvl1pPr>
            <a:lvl2pPr eaLnBrk="0" hangingPunct="0">
              <a:defRPr>
                <a:ea typeface="+mn-ea"/>
              </a:defRPr>
            </a:lvl2pPr>
            <a:lvl3pPr eaLnBrk="0" hangingPunct="0">
              <a:defRPr>
                <a:ea typeface="+mn-ea"/>
              </a:defRPr>
            </a:lvl3pPr>
            <a:lvl4pPr eaLnBrk="0" hangingPunct="0">
              <a:defRPr>
                <a:ea typeface="+mn-ea"/>
              </a:defRPr>
            </a:lvl4pPr>
            <a:lvl5pPr eaLnBrk="0" hangingPunct="0">
              <a:defRPr>
                <a:ea typeface="+mn-ea"/>
              </a:defRPr>
            </a:lvl5pPr>
            <a:lvl6pPr>
              <a:defRPr>
                <a:ea typeface="+mn-ea"/>
              </a:defRPr>
            </a:lvl6pPr>
            <a:lvl7pPr>
              <a:defRPr>
                <a:ea typeface="+mn-ea"/>
              </a:defRPr>
            </a:lvl7pPr>
            <a:lvl8pPr>
              <a:defRPr>
                <a:ea typeface="+mn-ea"/>
              </a:defRPr>
            </a:lvl8pPr>
            <a:lvl9pPr>
              <a:defRPr>
                <a:ea typeface="+mn-ea"/>
              </a:defRPr>
            </a:lvl9pPr>
          </a:lstStyle>
          <a:p>
            <a:pPr fontAlgn="auto">
              <a:spcBef>
                <a:spcPts val="0"/>
              </a:spcBef>
              <a:spcAft>
                <a:spcPts val="0"/>
              </a:spcAft>
              <a:defRPr/>
            </a:pPr>
            <a:r>
              <a:rPr lang="zh-CN" altLang="en-US" sz="1050" dirty="0">
                <a:solidFill>
                  <a:schemeClr val="tx1"/>
                </a:solidFill>
              </a:rPr>
              <a:t>分组</a:t>
            </a:r>
          </a:p>
        </p:txBody>
      </p:sp>
      <p:sp>
        <p:nvSpPr>
          <p:cNvPr id="110" name="Text Box 177"/>
          <p:cNvSpPr txBox="1">
            <a:spLocks noChangeArrowheads="1"/>
          </p:cNvSpPr>
          <p:nvPr/>
        </p:nvSpPr>
        <p:spPr bwMode="auto">
          <a:xfrm>
            <a:off x="4202338" y="4000234"/>
            <a:ext cx="723900" cy="254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ru-RU"/>
            </a:defPPr>
            <a:lvl1pPr eaLnBrk="0" hangingPunct="0">
              <a:defRPr sz="1200" b="1">
                <a:solidFill>
                  <a:srgbClr val="339933"/>
                </a:solidFill>
                <a:latin typeface="微软雅黑" panose="020B0503020204020204" pitchFamily="34" charset="-122"/>
                <a:ea typeface="微软雅黑" panose="020B0503020204020204" pitchFamily="34" charset="-122"/>
              </a:defRPr>
            </a:lvl1pPr>
            <a:lvl2pPr eaLnBrk="0" hangingPunct="0">
              <a:defRPr>
                <a:ea typeface="+mn-ea"/>
              </a:defRPr>
            </a:lvl2pPr>
            <a:lvl3pPr eaLnBrk="0" hangingPunct="0">
              <a:defRPr>
                <a:ea typeface="+mn-ea"/>
              </a:defRPr>
            </a:lvl3pPr>
            <a:lvl4pPr eaLnBrk="0" hangingPunct="0">
              <a:defRPr>
                <a:ea typeface="+mn-ea"/>
              </a:defRPr>
            </a:lvl4pPr>
            <a:lvl5pPr eaLnBrk="0" hangingPunct="0">
              <a:defRPr>
                <a:ea typeface="+mn-ea"/>
              </a:defRPr>
            </a:lvl5pPr>
            <a:lvl6pPr>
              <a:defRPr>
                <a:ea typeface="+mn-ea"/>
              </a:defRPr>
            </a:lvl6pPr>
            <a:lvl7pPr>
              <a:defRPr>
                <a:ea typeface="+mn-ea"/>
              </a:defRPr>
            </a:lvl7pPr>
            <a:lvl8pPr>
              <a:defRPr>
                <a:ea typeface="+mn-ea"/>
              </a:defRPr>
            </a:lvl8pPr>
            <a:lvl9pPr>
              <a:defRPr>
                <a:ea typeface="+mn-ea"/>
              </a:defRPr>
            </a:lvl9pPr>
          </a:lstStyle>
          <a:p>
            <a:pPr fontAlgn="auto">
              <a:spcBef>
                <a:spcPts val="0"/>
              </a:spcBef>
              <a:spcAft>
                <a:spcPts val="0"/>
              </a:spcAft>
              <a:defRPr/>
            </a:pPr>
            <a:r>
              <a:rPr lang="zh-CN" altLang="en-US" sz="1050" dirty="0">
                <a:solidFill>
                  <a:schemeClr val="tx1"/>
                </a:solidFill>
              </a:rPr>
              <a:t>存储转发</a:t>
            </a:r>
          </a:p>
        </p:txBody>
      </p:sp>
      <p:grpSp>
        <p:nvGrpSpPr>
          <p:cNvPr id="114" name="组合 113"/>
          <p:cNvGrpSpPr/>
          <p:nvPr/>
        </p:nvGrpSpPr>
        <p:grpSpPr bwMode="auto">
          <a:xfrm>
            <a:off x="6085973" y="1422134"/>
            <a:ext cx="668338" cy="280987"/>
            <a:chOff x="6125279" y="1930603"/>
            <a:chExt cx="1019406" cy="426741"/>
          </a:xfrm>
        </p:grpSpPr>
        <p:grpSp>
          <p:nvGrpSpPr>
            <p:cNvPr id="84074" name="Group 134"/>
            <p:cNvGrpSpPr/>
            <p:nvPr/>
          </p:nvGrpSpPr>
          <p:grpSpPr bwMode="auto">
            <a:xfrm>
              <a:off x="6686328" y="2069332"/>
              <a:ext cx="458357" cy="247387"/>
              <a:chOff x="4653" y="1650"/>
              <a:chExt cx="366" cy="214"/>
            </a:xfrm>
          </p:grpSpPr>
          <p:sp>
            <p:nvSpPr>
              <p:cNvPr id="84083" name="AutoShape 4"/>
              <p:cNvSpPr>
                <a:spLocks noChangeArrowheads="1"/>
              </p:cNvSpPr>
              <p:nvPr/>
            </p:nvSpPr>
            <p:spPr bwMode="auto">
              <a:xfrm rot="5400000">
                <a:off x="4733" y="1579"/>
                <a:ext cx="211" cy="359"/>
              </a:xfrm>
              <a:prstGeom prst="parallelogram">
                <a:avLst>
                  <a:gd name="adj" fmla="val 29162"/>
                </a:avLst>
              </a:prstGeom>
              <a:solidFill>
                <a:srgbClr val="C0000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chemeClr val="bg1"/>
                  </a:solidFill>
                  <a:latin typeface="微软雅黑" panose="020B0503020204020204" pitchFamily="34" charset="-122"/>
                  <a:ea typeface="微软雅黑" panose="020B0503020204020204" pitchFamily="34" charset="-122"/>
                </a:endParaRPr>
              </a:p>
            </p:txBody>
          </p:sp>
          <p:sp>
            <p:nvSpPr>
              <p:cNvPr id="84084" name="Line 6"/>
              <p:cNvSpPr>
                <a:spLocks noChangeShapeType="1"/>
              </p:cNvSpPr>
              <p:nvPr/>
            </p:nvSpPr>
            <p:spPr bwMode="auto">
              <a:xfrm>
                <a:off x="4656" y="1650"/>
                <a:ext cx="363" cy="63"/>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085" name="Line 7"/>
              <p:cNvSpPr>
                <a:spLocks noChangeShapeType="1"/>
              </p:cNvSpPr>
              <p:nvPr/>
            </p:nvSpPr>
            <p:spPr bwMode="auto">
              <a:xfrm>
                <a:off x="4653" y="1801"/>
                <a:ext cx="363" cy="63"/>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grpSp>
          <p:nvGrpSpPr>
            <p:cNvPr id="84075" name="Group 131"/>
            <p:cNvGrpSpPr/>
            <p:nvPr/>
          </p:nvGrpSpPr>
          <p:grpSpPr bwMode="auto">
            <a:xfrm>
              <a:off x="6125279" y="1930603"/>
              <a:ext cx="561050" cy="351427"/>
              <a:chOff x="4205" y="1530"/>
              <a:chExt cx="448" cy="304"/>
            </a:xfrm>
          </p:grpSpPr>
          <p:sp>
            <p:nvSpPr>
              <p:cNvPr id="84078" name="AutoShape 44"/>
              <p:cNvSpPr>
                <a:spLocks noChangeArrowheads="1"/>
              </p:cNvSpPr>
              <p:nvPr/>
            </p:nvSpPr>
            <p:spPr bwMode="auto">
              <a:xfrm rot="5400000">
                <a:off x="4367" y="1516"/>
                <a:ext cx="211" cy="359"/>
              </a:xfrm>
              <a:prstGeom prst="parallelogram">
                <a:avLst>
                  <a:gd name="adj" fmla="val 29162"/>
                </a:avLst>
              </a:prstGeom>
              <a:solidFill>
                <a:srgbClr val="C0000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chemeClr val="bg1"/>
                  </a:solidFill>
                  <a:latin typeface="微软雅黑" panose="020B0503020204020204" pitchFamily="34" charset="-122"/>
                  <a:ea typeface="微软雅黑" panose="020B0503020204020204" pitchFamily="34" charset="-122"/>
                </a:endParaRPr>
              </a:p>
            </p:txBody>
          </p:sp>
          <p:sp>
            <p:nvSpPr>
              <p:cNvPr id="84079" name="Text Box 45"/>
              <p:cNvSpPr txBox="1">
                <a:spLocks noChangeArrowheads="1"/>
              </p:cNvSpPr>
              <p:nvPr/>
            </p:nvSpPr>
            <p:spPr bwMode="auto">
              <a:xfrm rot="626605">
                <a:off x="4205" y="1530"/>
                <a:ext cx="402" cy="304"/>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en-US" altLang="zh-CN" sz="900" b="1">
                    <a:solidFill>
                      <a:schemeClr val="bg1"/>
                    </a:solidFill>
                    <a:latin typeface="微软雅黑" panose="020B0503020204020204" pitchFamily="34" charset="-122"/>
                    <a:ea typeface="微软雅黑" panose="020B0503020204020204" pitchFamily="34" charset="-122"/>
                  </a:rPr>
                  <a:t>P2</a:t>
                </a:r>
              </a:p>
            </p:txBody>
          </p:sp>
          <p:sp>
            <p:nvSpPr>
              <p:cNvPr id="84080" name="Line 47"/>
              <p:cNvSpPr>
                <a:spLocks noChangeShapeType="1"/>
              </p:cNvSpPr>
              <p:nvPr/>
            </p:nvSpPr>
            <p:spPr bwMode="auto">
              <a:xfrm>
                <a:off x="4286" y="1738"/>
                <a:ext cx="363" cy="63"/>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081" name="AutoShape 48"/>
              <p:cNvSpPr>
                <a:spLocks noChangeArrowheads="1"/>
              </p:cNvSpPr>
              <p:nvPr/>
            </p:nvSpPr>
            <p:spPr bwMode="auto">
              <a:xfrm rot="746037">
                <a:off x="4493" y="1652"/>
                <a:ext cx="132" cy="126"/>
              </a:xfrm>
              <a:prstGeom prst="rightArrow">
                <a:avLst>
                  <a:gd name="adj1" fmla="val 50000"/>
                  <a:gd name="adj2" fmla="val 26190"/>
                </a:avLst>
              </a:prstGeom>
              <a:solidFill>
                <a:schemeClr val="bg1"/>
              </a:solidFill>
              <a:ln>
                <a:noFill/>
              </a:ln>
              <a:effectLst/>
              <a:extLs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chemeClr val="bg1"/>
                  </a:solidFill>
                  <a:latin typeface="微软雅黑" panose="020B0503020204020204" pitchFamily="34" charset="-122"/>
                  <a:ea typeface="微软雅黑" panose="020B0503020204020204" pitchFamily="34" charset="-122"/>
                </a:endParaRPr>
              </a:p>
            </p:txBody>
          </p:sp>
          <p:sp>
            <p:nvSpPr>
              <p:cNvPr id="84082" name="Line 46"/>
              <p:cNvSpPr>
                <a:spLocks noChangeShapeType="1"/>
              </p:cNvSpPr>
              <p:nvPr/>
            </p:nvSpPr>
            <p:spPr bwMode="auto">
              <a:xfrm>
                <a:off x="4290" y="1587"/>
                <a:ext cx="363" cy="63"/>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sp>
          <p:nvSpPr>
            <p:cNvPr id="84076" name="Text Box 5"/>
            <p:cNvSpPr txBox="1">
              <a:spLocks noChangeArrowheads="1"/>
            </p:cNvSpPr>
            <p:nvPr/>
          </p:nvSpPr>
          <p:spPr bwMode="auto">
            <a:xfrm rot="626605">
              <a:off x="6584756" y="2005580"/>
              <a:ext cx="503711" cy="351764"/>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en-US" altLang="zh-CN" sz="900" b="1">
                  <a:solidFill>
                    <a:schemeClr val="bg1"/>
                  </a:solidFill>
                  <a:latin typeface="微软雅黑" panose="020B0503020204020204" pitchFamily="34" charset="-122"/>
                  <a:ea typeface="微软雅黑" panose="020B0503020204020204" pitchFamily="34" charset="-122"/>
                </a:rPr>
                <a:t>P1</a:t>
              </a:r>
            </a:p>
          </p:txBody>
        </p:sp>
        <p:sp>
          <p:nvSpPr>
            <p:cNvPr id="84077" name="AutoShape 8"/>
            <p:cNvSpPr>
              <a:spLocks noChangeArrowheads="1"/>
            </p:cNvSpPr>
            <p:nvPr/>
          </p:nvSpPr>
          <p:spPr bwMode="auto">
            <a:xfrm rot="746037">
              <a:off x="6929283" y="2144470"/>
              <a:ext cx="166561" cy="145658"/>
            </a:xfrm>
            <a:prstGeom prst="rightArrow">
              <a:avLst>
                <a:gd name="adj1" fmla="val 50000"/>
                <a:gd name="adj2" fmla="val 26391"/>
              </a:avLst>
            </a:prstGeom>
            <a:solidFill>
              <a:schemeClr val="bg1"/>
            </a:solidFill>
            <a:ln>
              <a:noFill/>
            </a:ln>
            <a:effectLst/>
            <a:extLs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chemeClr val="bg1"/>
                </a:solidFill>
                <a:latin typeface="微软雅黑" panose="020B0503020204020204" pitchFamily="34" charset="-122"/>
                <a:ea typeface="微软雅黑" panose="020B0503020204020204" pitchFamily="34" charset="-122"/>
              </a:endParaRPr>
            </a:p>
          </p:txBody>
        </p:sp>
      </p:grpSp>
      <p:grpSp>
        <p:nvGrpSpPr>
          <p:cNvPr id="127" name="组合 126"/>
          <p:cNvGrpSpPr/>
          <p:nvPr/>
        </p:nvGrpSpPr>
        <p:grpSpPr bwMode="auto">
          <a:xfrm>
            <a:off x="6084386" y="1557071"/>
            <a:ext cx="966787" cy="333375"/>
            <a:chOff x="6124016" y="2136378"/>
            <a:chExt cx="1473997" cy="508646"/>
          </a:xfrm>
        </p:grpSpPr>
        <p:grpSp>
          <p:nvGrpSpPr>
            <p:cNvPr id="84056" name="Group 135"/>
            <p:cNvGrpSpPr/>
            <p:nvPr/>
          </p:nvGrpSpPr>
          <p:grpSpPr bwMode="auto">
            <a:xfrm>
              <a:off x="6680052" y="2276252"/>
              <a:ext cx="459609" cy="247386"/>
              <a:chOff x="4648" y="1829"/>
              <a:chExt cx="367" cy="214"/>
            </a:xfrm>
          </p:grpSpPr>
          <p:sp>
            <p:nvSpPr>
              <p:cNvPr id="84071" name="AutoShape 9"/>
              <p:cNvSpPr>
                <a:spLocks noChangeArrowheads="1"/>
              </p:cNvSpPr>
              <p:nvPr/>
            </p:nvSpPr>
            <p:spPr bwMode="auto">
              <a:xfrm rot="5400000">
                <a:off x="4729" y="1758"/>
                <a:ext cx="211" cy="359"/>
              </a:xfrm>
              <a:prstGeom prst="parallelogram">
                <a:avLst>
                  <a:gd name="adj" fmla="val 29162"/>
                </a:avLst>
              </a:prstGeom>
              <a:solidFill>
                <a:srgbClr val="C0000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chemeClr val="bg1"/>
                  </a:solidFill>
                  <a:latin typeface="微软雅黑" panose="020B0503020204020204" pitchFamily="34" charset="-122"/>
                  <a:ea typeface="微软雅黑" panose="020B0503020204020204" pitchFamily="34" charset="-122"/>
                </a:endParaRPr>
              </a:p>
            </p:txBody>
          </p:sp>
          <p:sp>
            <p:nvSpPr>
              <p:cNvPr id="84072" name="Line 11"/>
              <p:cNvSpPr>
                <a:spLocks noChangeShapeType="1"/>
              </p:cNvSpPr>
              <p:nvPr/>
            </p:nvSpPr>
            <p:spPr bwMode="auto">
              <a:xfrm>
                <a:off x="4652" y="1829"/>
                <a:ext cx="363" cy="63"/>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073" name="Line 12"/>
              <p:cNvSpPr>
                <a:spLocks noChangeShapeType="1"/>
              </p:cNvSpPr>
              <p:nvPr/>
            </p:nvSpPr>
            <p:spPr bwMode="auto">
              <a:xfrm>
                <a:off x="4648" y="1980"/>
                <a:ext cx="363" cy="63"/>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grpSp>
          <p:nvGrpSpPr>
            <p:cNvPr id="84057" name="Group 139"/>
            <p:cNvGrpSpPr/>
            <p:nvPr/>
          </p:nvGrpSpPr>
          <p:grpSpPr bwMode="auto">
            <a:xfrm>
              <a:off x="7023189" y="2293596"/>
              <a:ext cx="574824" cy="351428"/>
              <a:chOff x="4922" y="1844"/>
              <a:chExt cx="459" cy="304"/>
            </a:xfrm>
          </p:grpSpPr>
          <p:sp>
            <p:nvSpPr>
              <p:cNvPr id="84066" name="AutoShape 24"/>
              <p:cNvSpPr>
                <a:spLocks noChangeArrowheads="1"/>
              </p:cNvSpPr>
              <p:nvPr/>
            </p:nvSpPr>
            <p:spPr bwMode="auto">
              <a:xfrm rot="5400000">
                <a:off x="5096" y="1821"/>
                <a:ext cx="210" cy="359"/>
              </a:xfrm>
              <a:prstGeom prst="parallelogram">
                <a:avLst>
                  <a:gd name="adj" fmla="val 29162"/>
                </a:avLst>
              </a:prstGeom>
              <a:solidFill>
                <a:srgbClr val="C0000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chemeClr val="bg1"/>
                  </a:solidFill>
                  <a:latin typeface="微软雅黑" panose="020B0503020204020204" pitchFamily="34" charset="-122"/>
                  <a:ea typeface="微软雅黑" panose="020B0503020204020204" pitchFamily="34" charset="-122"/>
                </a:endParaRPr>
              </a:p>
            </p:txBody>
          </p:sp>
          <p:sp>
            <p:nvSpPr>
              <p:cNvPr id="84067" name="Text Box 25"/>
              <p:cNvSpPr txBox="1">
                <a:spLocks noChangeArrowheads="1"/>
              </p:cNvSpPr>
              <p:nvPr/>
            </p:nvSpPr>
            <p:spPr bwMode="auto">
              <a:xfrm rot="626605">
                <a:off x="4922" y="1844"/>
                <a:ext cx="402" cy="304"/>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en-US" altLang="zh-CN" sz="900" b="1">
                    <a:solidFill>
                      <a:schemeClr val="bg1"/>
                    </a:solidFill>
                    <a:latin typeface="微软雅黑" panose="020B0503020204020204" pitchFamily="34" charset="-122"/>
                    <a:ea typeface="微软雅黑" panose="020B0503020204020204" pitchFamily="34" charset="-122"/>
                  </a:rPr>
                  <a:t>P1</a:t>
                </a:r>
              </a:p>
            </p:txBody>
          </p:sp>
          <p:sp>
            <p:nvSpPr>
              <p:cNvPr id="84068" name="Line 26"/>
              <p:cNvSpPr>
                <a:spLocks noChangeShapeType="1"/>
              </p:cNvSpPr>
              <p:nvPr/>
            </p:nvSpPr>
            <p:spPr bwMode="auto">
              <a:xfrm>
                <a:off x="5018" y="1892"/>
                <a:ext cx="363" cy="63"/>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069" name="Line 27"/>
              <p:cNvSpPr>
                <a:spLocks noChangeShapeType="1"/>
              </p:cNvSpPr>
              <p:nvPr/>
            </p:nvSpPr>
            <p:spPr bwMode="auto">
              <a:xfrm>
                <a:off x="5015" y="2043"/>
                <a:ext cx="362" cy="63"/>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070" name="AutoShape 28"/>
              <p:cNvSpPr>
                <a:spLocks noChangeArrowheads="1"/>
              </p:cNvSpPr>
              <p:nvPr/>
            </p:nvSpPr>
            <p:spPr bwMode="auto">
              <a:xfrm rot="746037">
                <a:off x="5209" y="1957"/>
                <a:ext cx="132" cy="126"/>
              </a:xfrm>
              <a:prstGeom prst="rightArrow">
                <a:avLst>
                  <a:gd name="adj1" fmla="val 50000"/>
                  <a:gd name="adj2" fmla="val 26190"/>
                </a:avLst>
              </a:prstGeom>
              <a:solidFill>
                <a:schemeClr val="bg1"/>
              </a:solidFill>
              <a:ln>
                <a:noFill/>
              </a:ln>
              <a:effectLst/>
              <a:extLs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chemeClr val="bg1"/>
                  </a:solidFill>
                  <a:latin typeface="微软雅黑" panose="020B0503020204020204" pitchFamily="34" charset="-122"/>
                  <a:ea typeface="微软雅黑" panose="020B0503020204020204" pitchFamily="34" charset="-122"/>
                </a:endParaRPr>
              </a:p>
            </p:txBody>
          </p:sp>
        </p:grpSp>
        <p:grpSp>
          <p:nvGrpSpPr>
            <p:cNvPr id="84058" name="Group 132"/>
            <p:cNvGrpSpPr/>
            <p:nvPr/>
          </p:nvGrpSpPr>
          <p:grpSpPr bwMode="auto">
            <a:xfrm>
              <a:off x="6124016" y="2136378"/>
              <a:ext cx="566057" cy="351428"/>
              <a:chOff x="4204" y="1708"/>
              <a:chExt cx="452" cy="304"/>
            </a:xfrm>
          </p:grpSpPr>
          <p:sp>
            <p:nvSpPr>
              <p:cNvPr id="84061" name="AutoShape 49"/>
              <p:cNvSpPr>
                <a:spLocks noChangeArrowheads="1"/>
              </p:cNvSpPr>
              <p:nvPr/>
            </p:nvSpPr>
            <p:spPr bwMode="auto">
              <a:xfrm rot="5400000">
                <a:off x="4371" y="1691"/>
                <a:ext cx="210" cy="360"/>
              </a:xfrm>
              <a:prstGeom prst="parallelogram">
                <a:avLst>
                  <a:gd name="adj" fmla="val 29162"/>
                </a:avLst>
              </a:prstGeom>
              <a:solidFill>
                <a:srgbClr val="C0000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chemeClr val="bg1"/>
                  </a:solidFill>
                  <a:latin typeface="微软雅黑" panose="020B0503020204020204" pitchFamily="34" charset="-122"/>
                  <a:ea typeface="微软雅黑" panose="020B0503020204020204" pitchFamily="34" charset="-122"/>
                </a:endParaRPr>
              </a:p>
            </p:txBody>
          </p:sp>
          <p:sp>
            <p:nvSpPr>
              <p:cNvPr id="84062" name="Text Box 50"/>
              <p:cNvSpPr txBox="1">
                <a:spLocks noChangeArrowheads="1"/>
              </p:cNvSpPr>
              <p:nvPr/>
            </p:nvSpPr>
            <p:spPr bwMode="auto">
              <a:xfrm rot="626605">
                <a:off x="4204" y="1708"/>
                <a:ext cx="402" cy="304"/>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en-US" altLang="zh-CN" sz="900" b="1">
                    <a:solidFill>
                      <a:schemeClr val="bg1"/>
                    </a:solidFill>
                    <a:latin typeface="微软雅黑" panose="020B0503020204020204" pitchFamily="34" charset="-122"/>
                    <a:ea typeface="微软雅黑" panose="020B0503020204020204" pitchFamily="34" charset="-122"/>
                  </a:rPr>
                  <a:t>P3</a:t>
                </a:r>
              </a:p>
            </p:txBody>
          </p:sp>
          <p:sp>
            <p:nvSpPr>
              <p:cNvPr id="84063" name="Line 51"/>
              <p:cNvSpPr>
                <a:spLocks noChangeShapeType="1"/>
              </p:cNvSpPr>
              <p:nvPr/>
            </p:nvSpPr>
            <p:spPr bwMode="auto">
              <a:xfrm>
                <a:off x="4294" y="1762"/>
                <a:ext cx="362" cy="63"/>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064" name="Line 52"/>
              <p:cNvSpPr>
                <a:spLocks noChangeShapeType="1"/>
              </p:cNvSpPr>
              <p:nvPr/>
            </p:nvSpPr>
            <p:spPr bwMode="auto">
              <a:xfrm>
                <a:off x="4290" y="1913"/>
                <a:ext cx="363" cy="63"/>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065" name="AutoShape 53"/>
              <p:cNvSpPr>
                <a:spLocks noChangeArrowheads="1"/>
              </p:cNvSpPr>
              <p:nvPr/>
            </p:nvSpPr>
            <p:spPr bwMode="auto">
              <a:xfrm rot="746037">
                <a:off x="4496" y="1827"/>
                <a:ext cx="133" cy="127"/>
              </a:xfrm>
              <a:prstGeom prst="rightArrow">
                <a:avLst>
                  <a:gd name="adj1" fmla="val 50000"/>
                  <a:gd name="adj2" fmla="val 26181"/>
                </a:avLst>
              </a:prstGeom>
              <a:solidFill>
                <a:schemeClr val="bg1"/>
              </a:solidFill>
              <a:ln>
                <a:noFill/>
              </a:ln>
              <a:effectLst/>
              <a:extLs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chemeClr val="bg1"/>
                  </a:solidFill>
                  <a:latin typeface="微软雅黑" panose="020B0503020204020204" pitchFamily="34" charset="-122"/>
                  <a:ea typeface="微软雅黑" panose="020B0503020204020204" pitchFamily="34" charset="-122"/>
                </a:endParaRPr>
              </a:p>
            </p:txBody>
          </p:sp>
        </p:grpSp>
        <p:sp>
          <p:nvSpPr>
            <p:cNvPr id="84059" name="Text Box 10"/>
            <p:cNvSpPr txBox="1">
              <a:spLocks noChangeArrowheads="1"/>
            </p:cNvSpPr>
            <p:nvPr/>
          </p:nvSpPr>
          <p:spPr bwMode="auto">
            <a:xfrm rot="626605">
              <a:off x="6570965" y="2212500"/>
              <a:ext cx="503710" cy="351765"/>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en-US" altLang="zh-CN" sz="900" b="1">
                  <a:solidFill>
                    <a:schemeClr val="bg1"/>
                  </a:solidFill>
                  <a:latin typeface="微软雅黑" panose="020B0503020204020204" pitchFamily="34" charset="-122"/>
                  <a:ea typeface="微软雅黑" panose="020B0503020204020204" pitchFamily="34" charset="-122"/>
                </a:rPr>
                <a:t>P2</a:t>
              </a:r>
            </a:p>
          </p:txBody>
        </p:sp>
        <p:sp>
          <p:nvSpPr>
            <p:cNvPr id="84060" name="AutoShape 13"/>
            <p:cNvSpPr>
              <a:spLocks noChangeArrowheads="1"/>
            </p:cNvSpPr>
            <p:nvPr/>
          </p:nvSpPr>
          <p:spPr bwMode="auto">
            <a:xfrm rot="746037">
              <a:off x="6924259" y="2351391"/>
              <a:ext cx="165309" cy="145657"/>
            </a:xfrm>
            <a:prstGeom prst="rightArrow">
              <a:avLst>
                <a:gd name="adj1" fmla="val 50000"/>
                <a:gd name="adj2" fmla="val 26192"/>
              </a:avLst>
            </a:prstGeom>
            <a:solidFill>
              <a:schemeClr val="bg1"/>
            </a:solidFill>
            <a:ln>
              <a:noFill/>
            </a:ln>
            <a:effectLst/>
            <a:extLs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chemeClr val="bg1"/>
                </a:solidFill>
                <a:latin typeface="微软雅黑" panose="020B0503020204020204" pitchFamily="34" charset="-122"/>
                <a:ea typeface="微软雅黑" panose="020B0503020204020204" pitchFamily="34" charset="-122"/>
              </a:endParaRPr>
            </a:p>
          </p:txBody>
        </p:sp>
      </p:grpSp>
      <p:grpSp>
        <p:nvGrpSpPr>
          <p:cNvPr id="180" name="组合 179"/>
          <p:cNvGrpSpPr/>
          <p:nvPr/>
        </p:nvGrpSpPr>
        <p:grpSpPr bwMode="auto">
          <a:xfrm>
            <a:off x="6673348" y="2039671"/>
            <a:ext cx="431800" cy="312738"/>
            <a:chOff x="7021271" y="2851447"/>
            <a:chExt cx="657481" cy="475119"/>
          </a:xfrm>
        </p:grpSpPr>
        <p:sp>
          <p:nvSpPr>
            <p:cNvPr id="84049" name="AutoShape 54"/>
            <p:cNvSpPr>
              <a:spLocks noChangeArrowheads="1"/>
            </p:cNvSpPr>
            <p:nvPr/>
          </p:nvSpPr>
          <p:spPr bwMode="auto">
            <a:xfrm rot="5400000">
              <a:off x="7244991" y="2836979"/>
              <a:ext cx="243919" cy="449589"/>
            </a:xfrm>
            <a:prstGeom prst="parallelogram">
              <a:avLst>
                <a:gd name="adj" fmla="val 29162"/>
              </a:avLst>
            </a:prstGeom>
            <a:solidFill>
              <a:srgbClr val="C00000"/>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chemeClr val="bg1"/>
                </a:solidFill>
                <a:latin typeface="微软雅黑" panose="020B0503020204020204" pitchFamily="34" charset="-122"/>
                <a:ea typeface="微软雅黑" panose="020B0503020204020204" pitchFamily="34" charset="-122"/>
              </a:endParaRPr>
            </a:p>
          </p:txBody>
        </p:sp>
        <p:grpSp>
          <p:nvGrpSpPr>
            <p:cNvPr id="84050" name="组合 181"/>
            <p:cNvGrpSpPr/>
            <p:nvPr/>
          </p:nvGrpSpPr>
          <p:grpSpPr bwMode="auto">
            <a:xfrm>
              <a:off x="7021271" y="2851447"/>
              <a:ext cx="657481" cy="475119"/>
              <a:chOff x="7021271" y="2851447"/>
              <a:chExt cx="657481" cy="475119"/>
            </a:xfrm>
          </p:grpSpPr>
          <p:grpSp>
            <p:nvGrpSpPr>
              <p:cNvPr id="84051" name="Group 142"/>
              <p:cNvGrpSpPr/>
              <p:nvPr/>
            </p:nvGrpSpPr>
            <p:grpSpPr bwMode="auto">
              <a:xfrm>
                <a:off x="7021271" y="2851447"/>
                <a:ext cx="657481" cy="475119"/>
                <a:chOff x="4917" y="2326"/>
                <a:chExt cx="525" cy="411"/>
              </a:xfrm>
            </p:grpSpPr>
            <p:sp>
              <p:nvSpPr>
                <p:cNvPr id="84054" name="AutoShape 39"/>
                <p:cNvSpPr>
                  <a:spLocks noChangeArrowheads="1"/>
                </p:cNvSpPr>
                <p:nvPr/>
              </p:nvSpPr>
              <p:spPr bwMode="auto">
                <a:xfrm rot="5400000">
                  <a:off x="4999" y="2295"/>
                  <a:ext cx="411" cy="474"/>
                </a:xfrm>
                <a:prstGeom prst="parallelogram">
                  <a:avLst>
                    <a:gd name="adj" fmla="val 29162"/>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endParaRPr lang="zh-CN" altLang="en-US" sz="900" b="1">
                    <a:solidFill>
                      <a:schemeClr val="bg1"/>
                    </a:solidFill>
                    <a:latin typeface="微软雅黑" panose="020B0503020204020204" pitchFamily="34" charset="-122"/>
                    <a:ea typeface="微软雅黑" panose="020B0503020204020204" pitchFamily="34" charset="-122"/>
                  </a:endParaRPr>
                </a:p>
              </p:txBody>
            </p:sp>
            <p:sp>
              <p:nvSpPr>
                <p:cNvPr id="84055" name="Text Box 40"/>
                <p:cNvSpPr txBox="1">
                  <a:spLocks noChangeArrowheads="1"/>
                </p:cNvSpPr>
                <p:nvPr/>
              </p:nvSpPr>
              <p:spPr bwMode="auto">
                <a:xfrm rot="626605">
                  <a:off x="4917" y="2354"/>
                  <a:ext cx="402" cy="304"/>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en-US" altLang="zh-CN" sz="900" b="1">
                      <a:solidFill>
                        <a:schemeClr val="bg1"/>
                      </a:solidFill>
                      <a:latin typeface="微软雅黑" panose="020B0503020204020204" pitchFamily="34" charset="-122"/>
                      <a:ea typeface="微软雅黑" panose="020B0503020204020204" pitchFamily="34" charset="-122"/>
                    </a:rPr>
                    <a:t>P4</a:t>
                  </a:r>
                </a:p>
              </p:txBody>
            </p:sp>
          </p:grpSp>
          <p:sp>
            <p:nvSpPr>
              <p:cNvPr id="84052" name="Line 112"/>
              <p:cNvSpPr>
                <a:spLocks noChangeShapeType="1"/>
              </p:cNvSpPr>
              <p:nvPr/>
            </p:nvSpPr>
            <p:spPr bwMode="auto">
              <a:xfrm>
                <a:off x="7129282" y="3113994"/>
                <a:ext cx="453346" cy="73985"/>
              </a:xfrm>
              <a:prstGeom prst="line">
                <a:avLst/>
              </a:prstGeom>
              <a:noFill/>
              <a:ln w="9525">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053" name="AutoShape 38"/>
              <p:cNvSpPr>
                <a:spLocks noChangeArrowheads="1"/>
              </p:cNvSpPr>
              <p:nvPr/>
            </p:nvSpPr>
            <p:spPr bwMode="auto">
              <a:xfrm rot="746037">
                <a:off x="7396188" y="3007881"/>
                <a:ext cx="166561" cy="145657"/>
              </a:xfrm>
              <a:prstGeom prst="rightArrow">
                <a:avLst>
                  <a:gd name="adj1" fmla="val 50000"/>
                  <a:gd name="adj2" fmla="val 26391"/>
                </a:avLst>
              </a:prstGeom>
              <a:solidFill>
                <a:schemeClr val="bg1"/>
              </a:solidFill>
              <a:ln>
                <a:noFill/>
              </a:ln>
              <a:effectLst/>
              <a:extLs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chemeClr val="bg1"/>
                  </a:solidFill>
                  <a:latin typeface="微软雅黑" panose="020B0503020204020204" pitchFamily="34" charset="-122"/>
                  <a:ea typeface="微软雅黑" panose="020B0503020204020204" pitchFamily="34" charset="-122"/>
                </a:endParaRPr>
              </a:p>
            </p:txBody>
          </p:sp>
        </p:grpSp>
      </p:grpSp>
      <p:sp>
        <p:nvSpPr>
          <p:cNvPr id="190" name="Text Box 177"/>
          <p:cNvSpPr txBox="1">
            <a:spLocks noChangeArrowheads="1"/>
          </p:cNvSpPr>
          <p:nvPr/>
        </p:nvSpPr>
        <p:spPr bwMode="auto">
          <a:xfrm>
            <a:off x="4819875" y="4000234"/>
            <a:ext cx="723900" cy="254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ru-RU"/>
            </a:defPPr>
            <a:lvl1pPr eaLnBrk="0" hangingPunct="0">
              <a:defRPr sz="1200" b="1">
                <a:solidFill>
                  <a:srgbClr val="339933"/>
                </a:solidFill>
                <a:latin typeface="微软雅黑" panose="020B0503020204020204" pitchFamily="34" charset="-122"/>
                <a:ea typeface="微软雅黑" panose="020B0503020204020204" pitchFamily="34" charset="-122"/>
              </a:defRPr>
            </a:lvl1pPr>
            <a:lvl2pPr eaLnBrk="0" hangingPunct="0">
              <a:defRPr>
                <a:ea typeface="+mn-ea"/>
              </a:defRPr>
            </a:lvl2pPr>
            <a:lvl3pPr eaLnBrk="0" hangingPunct="0">
              <a:defRPr>
                <a:ea typeface="+mn-ea"/>
              </a:defRPr>
            </a:lvl3pPr>
            <a:lvl4pPr eaLnBrk="0" hangingPunct="0">
              <a:defRPr>
                <a:ea typeface="+mn-ea"/>
              </a:defRPr>
            </a:lvl4pPr>
            <a:lvl5pPr eaLnBrk="0" hangingPunct="0">
              <a:defRPr>
                <a:ea typeface="+mn-ea"/>
              </a:defRPr>
            </a:lvl5pPr>
            <a:lvl6pPr>
              <a:defRPr>
                <a:ea typeface="+mn-ea"/>
              </a:defRPr>
            </a:lvl6pPr>
            <a:lvl7pPr>
              <a:defRPr>
                <a:ea typeface="+mn-ea"/>
              </a:defRPr>
            </a:lvl7pPr>
            <a:lvl8pPr>
              <a:defRPr>
                <a:ea typeface="+mn-ea"/>
              </a:defRPr>
            </a:lvl8pPr>
            <a:lvl9pPr>
              <a:defRPr>
                <a:ea typeface="+mn-ea"/>
              </a:defRPr>
            </a:lvl9pPr>
          </a:lstStyle>
          <a:p>
            <a:pPr fontAlgn="auto">
              <a:spcBef>
                <a:spcPts val="0"/>
              </a:spcBef>
              <a:spcAft>
                <a:spcPts val="0"/>
              </a:spcAft>
              <a:defRPr/>
            </a:pPr>
            <a:r>
              <a:rPr lang="zh-CN" altLang="en-US" sz="1050" dirty="0">
                <a:solidFill>
                  <a:schemeClr val="tx1"/>
                </a:solidFill>
              </a:rPr>
              <a:t>存储转发</a:t>
            </a:r>
          </a:p>
        </p:txBody>
      </p:sp>
      <p:sp>
        <p:nvSpPr>
          <p:cNvPr id="191" name="Text Box 177"/>
          <p:cNvSpPr txBox="1">
            <a:spLocks noChangeArrowheads="1"/>
          </p:cNvSpPr>
          <p:nvPr/>
        </p:nvSpPr>
        <p:spPr bwMode="auto">
          <a:xfrm>
            <a:off x="5919286" y="4000234"/>
            <a:ext cx="722312" cy="254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ru-RU"/>
            </a:defPPr>
            <a:lvl1pPr eaLnBrk="0" hangingPunct="0">
              <a:defRPr sz="1200" b="1">
                <a:solidFill>
                  <a:srgbClr val="339933"/>
                </a:solidFill>
                <a:latin typeface="微软雅黑" panose="020B0503020204020204" pitchFamily="34" charset="-122"/>
                <a:ea typeface="微软雅黑" panose="020B0503020204020204" pitchFamily="34" charset="-122"/>
              </a:defRPr>
            </a:lvl1pPr>
            <a:lvl2pPr eaLnBrk="0" hangingPunct="0">
              <a:defRPr>
                <a:ea typeface="+mn-ea"/>
              </a:defRPr>
            </a:lvl2pPr>
            <a:lvl3pPr eaLnBrk="0" hangingPunct="0">
              <a:defRPr>
                <a:ea typeface="+mn-ea"/>
              </a:defRPr>
            </a:lvl3pPr>
            <a:lvl4pPr eaLnBrk="0" hangingPunct="0">
              <a:defRPr>
                <a:ea typeface="+mn-ea"/>
              </a:defRPr>
            </a:lvl4pPr>
            <a:lvl5pPr eaLnBrk="0" hangingPunct="0">
              <a:defRPr>
                <a:ea typeface="+mn-ea"/>
              </a:defRPr>
            </a:lvl5pPr>
            <a:lvl6pPr>
              <a:defRPr>
                <a:ea typeface="+mn-ea"/>
              </a:defRPr>
            </a:lvl6pPr>
            <a:lvl7pPr>
              <a:defRPr>
                <a:ea typeface="+mn-ea"/>
              </a:defRPr>
            </a:lvl7pPr>
            <a:lvl8pPr>
              <a:defRPr>
                <a:ea typeface="+mn-ea"/>
              </a:defRPr>
            </a:lvl8pPr>
            <a:lvl9pPr>
              <a:defRPr>
                <a:ea typeface="+mn-ea"/>
              </a:defRPr>
            </a:lvl9pPr>
          </a:lstStyle>
          <a:p>
            <a:pPr fontAlgn="auto">
              <a:spcBef>
                <a:spcPts val="0"/>
              </a:spcBef>
              <a:spcAft>
                <a:spcPts val="0"/>
              </a:spcAft>
              <a:defRPr/>
            </a:pPr>
            <a:r>
              <a:rPr lang="zh-CN" altLang="en-US" sz="1050" dirty="0">
                <a:solidFill>
                  <a:schemeClr val="tx1"/>
                </a:solidFill>
              </a:rPr>
              <a:t>存储转发</a:t>
            </a:r>
          </a:p>
        </p:txBody>
      </p:sp>
      <p:sp>
        <p:nvSpPr>
          <p:cNvPr id="192" name="Text Box 177"/>
          <p:cNvSpPr txBox="1">
            <a:spLocks noChangeArrowheads="1"/>
          </p:cNvSpPr>
          <p:nvPr/>
        </p:nvSpPr>
        <p:spPr bwMode="auto">
          <a:xfrm>
            <a:off x="6543945" y="4000234"/>
            <a:ext cx="723900" cy="254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ru-RU"/>
            </a:defPPr>
            <a:lvl1pPr eaLnBrk="0" hangingPunct="0">
              <a:defRPr sz="1200" b="1">
                <a:solidFill>
                  <a:srgbClr val="339933"/>
                </a:solidFill>
                <a:latin typeface="微软雅黑" panose="020B0503020204020204" pitchFamily="34" charset="-122"/>
                <a:ea typeface="微软雅黑" panose="020B0503020204020204" pitchFamily="34" charset="-122"/>
              </a:defRPr>
            </a:lvl1pPr>
            <a:lvl2pPr eaLnBrk="0" hangingPunct="0">
              <a:defRPr>
                <a:ea typeface="+mn-ea"/>
              </a:defRPr>
            </a:lvl2pPr>
            <a:lvl3pPr eaLnBrk="0" hangingPunct="0">
              <a:defRPr>
                <a:ea typeface="+mn-ea"/>
              </a:defRPr>
            </a:lvl3pPr>
            <a:lvl4pPr eaLnBrk="0" hangingPunct="0">
              <a:defRPr>
                <a:ea typeface="+mn-ea"/>
              </a:defRPr>
            </a:lvl4pPr>
            <a:lvl5pPr eaLnBrk="0" hangingPunct="0">
              <a:defRPr>
                <a:ea typeface="+mn-ea"/>
              </a:defRPr>
            </a:lvl5pPr>
            <a:lvl6pPr>
              <a:defRPr>
                <a:ea typeface="+mn-ea"/>
              </a:defRPr>
            </a:lvl6pPr>
            <a:lvl7pPr>
              <a:defRPr>
                <a:ea typeface="+mn-ea"/>
              </a:defRPr>
            </a:lvl7pPr>
            <a:lvl8pPr>
              <a:defRPr>
                <a:ea typeface="+mn-ea"/>
              </a:defRPr>
            </a:lvl8pPr>
            <a:lvl9pPr>
              <a:defRPr>
                <a:ea typeface="+mn-ea"/>
              </a:defRPr>
            </a:lvl9pPr>
          </a:lstStyle>
          <a:p>
            <a:pPr fontAlgn="auto">
              <a:spcBef>
                <a:spcPts val="0"/>
              </a:spcBef>
              <a:spcAft>
                <a:spcPts val="0"/>
              </a:spcAft>
              <a:defRPr/>
            </a:pPr>
            <a:r>
              <a:rPr lang="zh-CN" altLang="en-US" sz="1050" dirty="0">
                <a:solidFill>
                  <a:schemeClr val="tx1"/>
                </a:solidFill>
              </a:rPr>
              <a:t>存储转发</a:t>
            </a:r>
          </a:p>
        </p:txBody>
      </p:sp>
      <p:grpSp>
        <p:nvGrpSpPr>
          <p:cNvPr id="196" name="组合 195"/>
          <p:cNvGrpSpPr/>
          <p:nvPr/>
        </p:nvGrpSpPr>
        <p:grpSpPr bwMode="auto">
          <a:xfrm>
            <a:off x="1715586" y="1339584"/>
            <a:ext cx="884237" cy="611187"/>
            <a:chOff x="1986461" y="1436989"/>
            <a:chExt cx="883227" cy="610785"/>
          </a:xfrm>
        </p:grpSpPr>
        <p:grpSp>
          <p:nvGrpSpPr>
            <p:cNvPr id="84041" name="Group 122"/>
            <p:cNvGrpSpPr/>
            <p:nvPr/>
          </p:nvGrpSpPr>
          <p:grpSpPr bwMode="auto">
            <a:xfrm>
              <a:off x="1986461" y="1436989"/>
              <a:ext cx="800435" cy="587904"/>
              <a:chOff x="71" y="1473"/>
              <a:chExt cx="974" cy="775"/>
            </a:xfrm>
          </p:grpSpPr>
          <p:sp>
            <p:nvSpPr>
              <p:cNvPr id="84045" name="Line 92"/>
              <p:cNvSpPr>
                <a:spLocks noChangeShapeType="1"/>
              </p:cNvSpPr>
              <p:nvPr/>
            </p:nvSpPr>
            <p:spPr bwMode="auto">
              <a:xfrm>
                <a:off x="630" y="1474"/>
                <a:ext cx="182" cy="0"/>
              </a:xfrm>
              <a:prstGeom prst="line">
                <a:avLst/>
              </a:prstGeom>
              <a:noFill/>
              <a:ln>
                <a:noFill/>
              </a:ln>
              <a:effectLst/>
              <a:extLst>
                <a:ext uri="{909E8E84-426E-40DD-AFC4-6F175D3DCCD1}">
                  <a14:hiddenFill xmlns:a14="http://schemas.microsoft.com/office/drawing/2010/main">
                    <a:noFill/>
                  </a14:hiddenFill>
                </a:ex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endParaRPr lang="zh-CN" altLang="en-US" dirty="0">
                  <a:latin typeface="Times New Roman" panose="02020603050405020304" pitchFamily="18" charset="0"/>
                  <a:ea typeface="微软雅黑 Light" panose="020B0502040204020203" pitchFamily="34" charset="-122"/>
                </a:endParaRPr>
              </a:p>
            </p:txBody>
          </p:sp>
          <p:sp>
            <p:nvSpPr>
              <p:cNvPr id="84046" name="Line 94"/>
              <p:cNvSpPr>
                <a:spLocks noChangeShapeType="1"/>
              </p:cNvSpPr>
              <p:nvPr/>
            </p:nvSpPr>
            <p:spPr bwMode="auto">
              <a:xfrm>
                <a:off x="622" y="2248"/>
                <a:ext cx="181" cy="0"/>
              </a:xfrm>
              <a:prstGeom prst="line">
                <a:avLst/>
              </a:prstGeom>
              <a:noFill/>
              <a:ln>
                <a:noFill/>
              </a:ln>
              <a:effectLst/>
              <a:extLst>
                <a:ext uri="{909E8E84-426E-40DD-AFC4-6F175D3DCCD1}">
                  <a14:hiddenFill xmlns:a14="http://schemas.microsoft.com/office/drawing/2010/main">
                    <a:noFill/>
                  </a14:hiddenFill>
                </a:ex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endParaRPr lang="zh-CN" altLang="en-US" dirty="0">
                  <a:latin typeface="Times New Roman" panose="02020603050405020304" pitchFamily="18" charset="0"/>
                  <a:ea typeface="微软雅黑 Light" panose="020B0502040204020203" pitchFamily="34" charset="-122"/>
                </a:endParaRPr>
              </a:p>
            </p:txBody>
          </p:sp>
          <p:sp>
            <p:nvSpPr>
              <p:cNvPr id="84047" name="Text Box 95"/>
              <p:cNvSpPr txBox="1">
                <a:spLocks noChangeArrowheads="1"/>
              </p:cNvSpPr>
              <p:nvPr/>
            </p:nvSpPr>
            <p:spPr bwMode="auto">
              <a:xfrm>
                <a:off x="71" y="1733"/>
                <a:ext cx="974" cy="3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lang="zh-CN" altLang="en-US" sz="1200" b="1" dirty="0">
                    <a:latin typeface="微软雅黑" panose="020B0503020204020204" pitchFamily="34" charset="-122"/>
                    <a:ea typeface="微软雅黑" panose="020B0503020204020204" pitchFamily="34" charset="-122"/>
                  </a:rPr>
                  <a:t>连接建立</a:t>
                </a:r>
              </a:p>
            </p:txBody>
          </p:sp>
          <p:sp>
            <p:nvSpPr>
              <p:cNvPr id="84048" name="Line 97"/>
              <p:cNvSpPr>
                <a:spLocks noChangeShapeType="1"/>
              </p:cNvSpPr>
              <p:nvPr/>
            </p:nvSpPr>
            <p:spPr bwMode="auto">
              <a:xfrm>
                <a:off x="720" y="1473"/>
                <a:ext cx="0" cy="759"/>
              </a:xfrm>
              <a:prstGeom prst="line">
                <a:avLst/>
              </a:prstGeom>
              <a:noFill/>
              <a:ln>
                <a:noFill/>
              </a:ln>
              <a:effectLst/>
              <a:extLst>
                <a:ext uri="{909E8E84-426E-40DD-AFC4-6F175D3DCCD1}">
                  <a14:hiddenFill xmlns:a14="http://schemas.microsoft.com/office/drawing/2010/main">
                    <a:noFill/>
                  </a14:hiddenFill>
                </a:ex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endParaRPr lang="zh-CN" altLang="en-US" dirty="0">
                  <a:latin typeface="Times New Roman" panose="02020603050405020304" pitchFamily="18" charset="0"/>
                  <a:ea typeface="微软雅黑 Light" panose="020B0502040204020203" pitchFamily="34" charset="-122"/>
                </a:endParaRPr>
              </a:p>
            </p:txBody>
          </p:sp>
        </p:grpSp>
        <p:sp>
          <p:nvSpPr>
            <p:cNvPr id="84042" name="Line 98"/>
            <p:cNvSpPr>
              <a:spLocks noChangeShapeType="1"/>
            </p:cNvSpPr>
            <p:nvPr/>
          </p:nvSpPr>
          <p:spPr bwMode="auto">
            <a:xfrm>
              <a:off x="2785557" y="1492950"/>
              <a:ext cx="0" cy="504318"/>
            </a:xfrm>
            <a:prstGeom prst="line">
              <a:avLst/>
            </a:prstGeom>
            <a:noFill/>
            <a:ln w="9525">
              <a:solidFill>
                <a:schemeClr val="tx1"/>
              </a:solidFill>
              <a:round/>
              <a:headEnd type="triangle" w="sm" len="lg"/>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043" name="Line 93"/>
            <p:cNvSpPr>
              <a:spLocks noChangeShapeType="1"/>
            </p:cNvSpPr>
            <p:nvPr/>
          </p:nvSpPr>
          <p:spPr bwMode="auto">
            <a:xfrm>
              <a:off x="2708145" y="2047774"/>
              <a:ext cx="149568" cy="0"/>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044" name="Line 93"/>
            <p:cNvSpPr>
              <a:spLocks noChangeShapeType="1"/>
            </p:cNvSpPr>
            <p:nvPr/>
          </p:nvSpPr>
          <p:spPr bwMode="auto">
            <a:xfrm>
              <a:off x="2720120" y="1448209"/>
              <a:ext cx="149568" cy="0"/>
            </a:xfrm>
            <a:prstGeom prst="line">
              <a:avLst/>
            </a:prstGeom>
            <a:noFill/>
            <a:ln w="952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sp>
        <p:nvSpPr>
          <p:cNvPr id="84037" name="Line 102"/>
          <p:cNvSpPr>
            <a:spLocks noChangeShapeType="1"/>
          </p:cNvSpPr>
          <p:nvPr/>
        </p:nvSpPr>
        <p:spPr bwMode="auto">
          <a:xfrm>
            <a:off x="6751136" y="1322121"/>
            <a:ext cx="0" cy="1822450"/>
          </a:xfrm>
          <a:prstGeom prst="line">
            <a:avLst/>
          </a:prstGeom>
          <a:noFill/>
          <a:ln w="19050">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038" name="Line 103"/>
          <p:cNvSpPr>
            <a:spLocks noChangeShapeType="1"/>
          </p:cNvSpPr>
          <p:nvPr/>
        </p:nvSpPr>
        <p:spPr bwMode="auto">
          <a:xfrm>
            <a:off x="6457448" y="1306246"/>
            <a:ext cx="0" cy="1820863"/>
          </a:xfrm>
          <a:prstGeom prst="line">
            <a:avLst/>
          </a:prstGeom>
          <a:noFill/>
          <a:ln w="19050">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039" name="Line 101"/>
          <p:cNvSpPr>
            <a:spLocks noChangeShapeType="1"/>
          </p:cNvSpPr>
          <p:nvPr/>
        </p:nvSpPr>
        <p:spPr bwMode="auto">
          <a:xfrm>
            <a:off x="7049586" y="1328471"/>
            <a:ext cx="0" cy="1822450"/>
          </a:xfrm>
          <a:prstGeom prst="line">
            <a:avLst/>
          </a:prstGeom>
          <a:noFill/>
          <a:ln w="19050">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040" name="Line 115"/>
          <p:cNvSpPr>
            <a:spLocks noChangeShapeType="1"/>
          </p:cNvSpPr>
          <p:nvPr/>
        </p:nvSpPr>
        <p:spPr bwMode="auto">
          <a:xfrm>
            <a:off x="6154236" y="1309421"/>
            <a:ext cx="0" cy="1822450"/>
          </a:xfrm>
          <a:prstGeom prst="line">
            <a:avLst/>
          </a:prstGeom>
          <a:noFill/>
          <a:ln w="19050">
            <a:solidFill>
              <a:schemeClr val="tx1"/>
            </a:solidFill>
            <a:round/>
            <a:headEnd type="none" w="sm" len="lg"/>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2" name="标题 1">
            <a:extLst>
              <a:ext uri="{FF2B5EF4-FFF2-40B4-BE49-F238E27FC236}">
                <a16:creationId xmlns:a16="http://schemas.microsoft.com/office/drawing/2014/main" id="{EDF5B06D-66DF-180C-6761-349EA479449A}"/>
              </a:ext>
            </a:extLst>
          </p:cNvPr>
          <p:cNvSpPr>
            <a:spLocks noGrp="1"/>
          </p:cNvSpPr>
          <p:nvPr>
            <p:ph type="title"/>
          </p:nvPr>
        </p:nvSpPr>
        <p:spPr>
          <a:xfrm>
            <a:off x="612000" y="144000"/>
            <a:ext cx="7920000" cy="341632"/>
          </a:xfrm>
        </p:spPr>
        <p:txBody>
          <a:bodyPr/>
          <a:lstStyle/>
          <a:p>
            <a:r>
              <a:rPr lang="zh-CN" altLang="en-US" dirty="0"/>
              <a:t>电路交换、报文交换和分组交换的主要区别</a:t>
            </a:r>
          </a:p>
        </p:txBody>
      </p:sp>
    </p:spTree>
    <p:extLst>
      <p:ext uri="{BB962C8B-B14F-4D97-AF65-F5344CB8AC3E}">
        <p14:creationId xmlns:p14="http://schemas.microsoft.com/office/powerpoint/2010/main" val="3604274187"/>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1000"/>
                                  </p:stCondLst>
                                  <p:childTnLst>
                                    <p:set>
                                      <p:cBhvr>
                                        <p:cTn id="6" dur="1" fill="hold">
                                          <p:stCondLst>
                                            <p:cond delay="0"/>
                                          </p:stCondLst>
                                        </p:cTn>
                                        <p:tgtEl>
                                          <p:spTgt spid="196"/>
                                        </p:tgtEl>
                                        <p:attrNameLst>
                                          <p:attrName>style.visibility</p:attrName>
                                        </p:attrNameLst>
                                      </p:cBhvr>
                                      <p:to>
                                        <p:strVal val="visible"/>
                                      </p:to>
                                    </p:set>
                                    <p:animEffect transition="in" filter="wipe(left)">
                                      <p:cBhvr>
                                        <p:cTn id="7" dur="1000"/>
                                        <p:tgtEl>
                                          <p:spTgt spid="196"/>
                                        </p:tgtEl>
                                      </p:cBhvr>
                                    </p:animEffect>
                                  </p:childTnLst>
                                </p:cTn>
                              </p:par>
                            </p:childTnLst>
                          </p:cTn>
                        </p:par>
                        <p:par>
                          <p:cTn id="8" fill="hold">
                            <p:stCondLst>
                              <p:cond delay="2000"/>
                            </p:stCondLst>
                            <p:childTnLst>
                              <p:par>
                                <p:cTn id="9" presetID="22" presetClass="entr" presetSubtype="8" fill="hold" grpId="0" nodeType="afterEffect">
                                  <p:stCondLst>
                                    <p:cond delay="0"/>
                                  </p:stCondLst>
                                  <p:childTnLst>
                                    <p:set>
                                      <p:cBhvr>
                                        <p:cTn id="10" dur="1" fill="hold">
                                          <p:stCondLst>
                                            <p:cond delay="0"/>
                                          </p:stCondLst>
                                        </p:cTn>
                                        <p:tgtEl>
                                          <p:spTgt spid="28"/>
                                        </p:tgtEl>
                                        <p:attrNameLst>
                                          <p:attrName>style.visibility</p:attrName>
                                        </p:attrNameLst>
                                      </p:cBhvr>
                                      <p:to>
                                        <p:strVal val="visible"/>
                                      </p:to>
                                    </p:set>
                                    <p:animEffect transition="in" filter="wipe(left)">
                                      <p:cBhvr>
                                        <p:cTn id="11" dur="1000"/>
                                        <p:tgtEl>
                                          <p:spTgt spid="28"/>
                                        </p:tgtEl>
                                      </p:cBhvr>
                                    </p:animEffect>
                                  </p:childTnLst>
                                </p:cTn>
                              </p:par>
                            </p:childTnLst>
                          </p:cTn>
                        </p:par>
                        <p:par>
                          <p:cTn id="12" fill="hold">
                            <p:stCondLst>
                              <p:cond delay="3000"/>
                            </p:stCondLst>
                            <p:childTnLst>
                              <p:par>
                                <p:cTn id="13" presetID="22" presetClass="entr" presetSubtype="8" fill="hold" grpId="0" nodeType="afterEffect">
                                  <p:stCondLst>
                                    <p:cond delay="0"/>
                                  </p:stCondLst>
                                  <p:childTnLst>
                                    <p:set>
                                      <p:cBhvr>
                                        <p:cTn id="14" dur="1" fill="hold">
                                          <p:stCondLst>
                                            <p:cond delay="0"/>
                                          </p:stCondLst>
                                        </p:cTn>
                                        <p:tgtEl>
                                          <p:spTgt spid="29"/>
                                        </p:tgtEl>
                                        <p:attrNameLst>
                                          <p:attrName>style.visibility</p:attrName>
                                        </p:attrNameLst>
                                      </p:cBhvr>
                                      <p:to>
                                        <p:strVal val="visible"/>
                                      </p:to>
                                    </p:set>
                                    <p:animEffect transition="in" filter="wipe(left)">
                                      <p:cBhvr>
                                        <p:cTn id="15" dur="1000"/>
                                        <p:tgtEl>
                                          <p:spTgt spid="29"/>
                                        </p:tgtEl>
                                      </p:cBhvr>
                                    </p:animEffect>
                                  </p:childTnLst>
                                </p:cTn>
                              </p:par>
                            </p:childTnLst>
                          </p:cTn>
                        </p:par>
                        <p:par>
                          <p:cTn id="16" fill="hold">
                            <p:stCondLst>
                              <p:cond delay="4000"/>
                            </p:stCondLst>
                            <p:childTnLst>
                              <p:par>
                                <p:cTn id="17" presetID="22" presetClass="entr" presetSubtype="8" fill="hold" grpId="0" nodeType="afterEffect">
                                  <p:stCondLst>
                                    <p:cond delay="0"/>
                                  </p:stCondLst>
                                  <p:childTnLst>
                                    <p:set>
                                      <p:cBhvr>
                                        <p:cTn id="18" dur="1" fill="hold">
                                          <p:stCondLst>
                                            <p:cond delay="0"/>
                                          </p:stCondLst>
                                        </p:cTn>
                                        <p:tgtEl>
                                          <p:spTgt spid="30"/>
                                        </p:tgtEl>
                                        <p:attrNameLst>
                                          <p:attrName>style.visibility</p:attrName>
                                        </p:attrNameLst>
                                      </p:cBhvr>
                                      <p:to>
                                        <p:strVal val="visible"/>
                                      </p:to>
                                    </p:set>
                                    <p:animEffect transition="in" filter="wipe(left)">
                                      <p:cBhvr>
                                        <p:cTn id="19" dur="1000"/>
                                        <p:tgtEl>
                                          <p:spTgt spid="30"/>
                                        </p:tgtEl>
                                      </p:cBhvr>
                                    </p:animEffect>
                                  </p:childTnLst>
                                </p:cTn>
                              </p:par>
                            </p:childTnLst>
                          </p:cTn>
                        </p:par>
                        <p:par>
                          <p:cTn id="20" fill="hold">
                            <p:stCondLst>
                              <p:cond delay="5000"/>
                            </p:stCondLst>
                            <p:childTnLst>
                              <p:par>
                                <p:cTn id="21" presetID="22" presetClass="entr" presetSubtype="2" fill="hold" grpId="0" nodeType="afterEffect">
                                  <p:stCondLst>
                                    <p:cond delay="0"/>
                                  </p:stCondLst>
                                  <p:childTnLst>
                                    <p:set>
                                      <p:cBhvr>
                                        <p:cTn id="22" dur="1" fill="hold">
                                          <p:stCondLst>
                                            <p:cond delay="0"/>
                                          </p:stCondLst>
                                        </p:cTn>
                                        <p:tgtEl>
                                          <p:spTgt spid="31"/>
                                        </p:tgtEl>
                                        <p:attrNameLst>
                                          <p:attrName>style.visibility</p:attrName>
                                        </p:attrNameLst>
                                      </p:cBhvr>
                                      <p:to>
                                        <p:strVal val="visible"/>
                                      </p:to>
                                    </p:set>
                                    <p:animEffect transition="in" filter="wipe(right)">
                                      <p:cBhvr>
                                        <p:cTn id="23" dur="1000"/>
                                        <p:tgtEl>
                                          <p:spTgt spid="31"/>
                                        </p:tgtEl>
                                      </p:cBhvr>
                                    </p:animEffect>
                                  </p:childTnLst>
                                </p:cTn>
                              </p:par>
                            </p:childTnLst>
                          </p:cTn>
                        </p:par>
                        <p:par>
                          <p:cTn id="24" fill="hold">
                            <p:stCondLst>
                              <p:cond delay="6000"/>
                            </p:stCondLst>
                            <p:childTnLst>
                              <p:par>
                                <p:cTn id="25" presetID="22" presetClass="entr" presetSubtype="8" fill="hold" nodeType="afterEffect">
                                  <p:stCondLst>
                                    <p:cond delay="0"/>
                                  </p:stCondLst>
                                  <p:childTnLst>
                                    <p:set>
                                      <p:cBhvr>
                                        <p:cTn id="26" dur="1" fill="hold">
                                          <p:stCondLst>
                                            <p:cond delay="0"/>
                                          </p:stCondLst>
                                        </p:cTn>
                                        <p:tgtEl>
                                          <p:spTgt spid="42"/>
                                        </p:tgtEl>
                                        <p:attrNameLst>
                                          <p:attrName>style.visibility</p:attrName>
                                        </p:attrNameLst>
                                      </p:cBhvr>
                                      <p:to>
                                        <p:strVal val="visible"/>
                                      </p:to>
                                    </p:set>
                                    <p:animEffect transition="in" filter="wipe(left)">
                                      <p:cBhvr>
                                        <p:cTn id="27" dur="1000"/>
                                        <p:tgtEl>
                                          <p:spTgt spid="42"/>
                                        </p:tgtEl>
                                      </p:cBhvr>
                                    </p:animEffect>
                                  </p:childTnLst>
                                </p:cTn>
                              </p:par>
                            </p:childTnLst>
                          </p:cTn>
                        </p:par>
                        <p:par>
                          <p:cTn id="28" fill="hold">
                            <p:stCondLst>
                              <p:cond delay="7000"/>
                            </p:stCondLst>
                            <p:childTnLst>
                              <p:par>
                                <p:cTn id="29" presetID="22" presetClass="entr" presetSubtype="8" fill="hold" nodeType="afterEffect">
                                  <p:stCondLst>
                                    <p:cond delay="0"/>
                                  </p:stCondLst>
                                  <p:childTnLst>
                                    <p:set>
                                      <p:cBhvr>
                                        <p:cTn id="30" dur="1" fill="hold">
                                          <p:stCondLst>
                                            <p:cond delay="0"/>
                                          </p:stCondLst>
                                        </p:cTn>
                                        <p:tgtEl>
                                          <p:spTgt spid="54"/>
                                        </p:tgtEl>
                                        <p:attrNameLst>
                                          <p:attrName>style.visibility</p:attrName>
                                        </p:attrNameLst>
                                      </p:cBhvr>
                                      <p:to>
                                        <p:strVal val="visible"/>
                                      </p:to>
                                    </p:set>
                                    <p:animEffect transition="in" filter="wipe(left)">
                                      <p:cBhvr>
                                        <p:cTn id="31" dur="1000"/>
                                        <p:tgtEl>
                                          <p:spTgt spid="54"/>
                                        </p:tgtEl>
                                      </p:cBhvr>
                                    </p:animEffect>
                                  </p:childTnLst>
                                </p:cTn>
                              </p:par>
                            </p:childTnLst>
                          </p:cTn>
                        </p:par>
                        <p:par>
                          <p:cTn id="32" fill="hold">
                            <p:stCondLst>
                              <p:cond delay="8000"/>
                            </p:stCondLst>
                            <p:childTnLst>
                              <p:par>
                                <p:cTn id="33" presetID="22" presetClass="entr" presetSubtype="8" fill="hold" nodeType="afterEffect">
                                  <p:stCondLst>
                                    <p:cond delay="0"/>
                                  </p:stCondLst>
                                  <p:childTnLst>
                                    <p:set>
                                      <p:cBhvr>
                                        <p:cTn id="34" dur="1" fill="hold">
                                          <p:stCondLst>
                                            <p:cond delay="0"/>
                                          </p:stCondLst>
                                        </p:cTn>
                                        <p:tgtEl>
                                          <p:spTgt spid="71"/>
                                        </p:tgtEl>
                                        <p:attrNameLst>
                                          <p:attrName>style.visibility</p:attrName>
                                        </p:attrNameLst>
                                      </p:cBhvr>
                                      <p:to>
                                        <p:strVal val="visible"/>
                                      </p:to>
                                    </p:set>
                                    <p:animEffect transition="in" filter="wipe(left)">
                                      <p:cBhvr>
                                        <p:cTn id="35" dur="1000"/>
                                        <p:tgtEl>
                                          <p:spTgt spid="71"/>
                                        </p:tgtEl>
                                      </p:cBhvr>
                                    </p:animEffect>
                                  </p:childTnLst>
                                </p:cTn>
                              </p:par>
                            </p:childTnLst>
                          </p:cTn>
                        </p:par>
                        <p:par>
                          <p:cTn id="36" fill="hold">
                            <p:stCondLst>
                              <p:cond delay="9000"/>
                            </p:stCondLst>
                            <p:childTnLst>
                              <p:par>
                                <p:cTn id="37" presetID="22" presetClass="entr" presetSubtype="8" fill="hold" grpId="0" nodeType="afterEffect">
                                  <p:stCondLst>
                                    <p:cond delay="0"/>
                                  </p:stCondLst>
                                  <p:childTnLst>
                                    <p:set>
                                      <p:cBhvr>
                                        <p:cTn id="38" dur="1" fill="hold">
                                          <p:stCondLst>
                                            <p:cond delay="0"/>
                                          </p:stCondLst>
                                        </p:cTn>
                                        <p:tgtEl>
                                          <p:spTgt spid="68"/>
                                        </p:tgtEl>
                                        <p:attrNameLst>
                                          <p:attrName>style.visibility</p:attrName>
                                        </p:attrNameLst>
                                      </p:cBhvr>
                                      <p:to>
                                        <p:strVal val="visible"/>
                                      </p:to>
                                    </p:set>
                                    <p:animEffect transition="in" filter="wipe(left)">
                                      <p:cBhvr>
                                        <p:cTn id="39" dur="1000"/>
                                        <p:tgtEl>
                                          <p:spTgt spid="68"/>
                                        </p:tgtEl>
                                      </p:cBhvr>
                                    </p:animEffect>
                                  </p:childTnLst>
                                </p:cTn>
                              </p:par>
                            </p:childTnLst>
                          </p:cTn>
                        </p:par>
                        <p:par>
                          <p:cTn id="40" fill="hold">
                            <p:stCondLst>
                              <p:cond delay="10000"/>
                            </p:stCondLst>
                            <p:childTnLst>
                              <p:par>
                                <p:cTn id="41" presetID="22" presetClass="entr" presetSubtype="8" fill="hold" grpId="0" nodeType="afterEffect">
                                  <p:stCondLst>
                                    <p:cond delay="0"/>
                                  </p:stCondLst>
                                  <p:childTnLst>
                                    <p:set>
                                      <p:cBhvr>
                                        <p:cTn id="42" dur="1" fill="hold">
                                          <p:stCondLst>
                                            <p:cond delay="0"/>
                                          </p:stCondLst>
                                        </p:cTn>
                                        <p:tgtEl>
                                          <p:spTgt spid="69"/>
                                        </p:tgtEl>
                                        <p:attrNameLst>
                                          <p:attrName>style.visibility</p:attrName>
                                        </p:attrNameLst>
                                      </p:cBhvr>
                                      <p:to>
                                        <p:strVal val="visible"/>
                                      </p:to>
                                    </p:set>
                                    <p:animEffect transition="in" filter="wipe(left)">
                                      <p:cBhvr>
                                        <p:cTn id="43" dur="1000"/>
                                        <p:tgtEl>
                                          <p:spTgt spid="69"/>
                                        </p:tgtEl>
                                      </p:cBhvr>
                                    </p:animEffect>
                                  </p:childTnLst>
                                </p:cTn>
                              </p:par>
                            </p:childTnLst>
                          </p:cTn>
                        </p:par>
                        <p:par>
                          <p:cTn id="44" fill="hold">
                            <p:stCondLst>
                              <p:cond delay="11000"/>
                            </p:stCondLst>
                            <p:childTnLst>
                              <p:par>
                                <p:cTn id="45" presetID="22" presetClass="entr" presetSubtype="8" fill="hold" grpId="0" nodeType="afterEffect">
                                  <p:stCondLst>
                                    <p:cond delay="0"/>
                                  </p:stCondLst>
                                  <p:childTnLst>
                                    <p:set>
                                      <p:cBhvr>
                                        <p:cTn id="46" dur="1" fill="hold">
                                          <p:stCondLst>
                                            <p:cond delay="0"/>
                                          </p:stCondLst>
                                        </p:cTn>
                                        <p:tgtEl>
                                          <p:spTgt spid="70"/>
                                        </p:tgtEl>
                                        <p:attrNameLst>
                                          <p:attrName>style.visibility</p:attrName>
                                        </p:attrNameLst>
                                      </p:cBhvr>
                                      <p:to>
                                        <p:strVal val="visible"/>
                                      </p:to>
                                    </p:set>
                                    <p:animEffect transition="in" filter="wipe(left)">
                                      <p:cBhvr>
                                        <p:cTn id="47" dur="1000"/>
                                        <p:tgtEl>
                                          <p:spTgt spid="70"/>
                                        </p:tgtEl>
                                      </p:cBhvr>
                                    </p:animEffect>
                                  </p:childTnLst>
                                </p:cTn>
                              </p:par>
                            </p:childTnLst>
                          </p:cTn>
                        </p:par>
                      </p:childTnLst>
                    </p:cTn>
                  </p:par>
                  <p:par>
                    <p:cTn id="48" fill="hold">
                      <p:stCondLst>
                        <p:cond delay="indefinite"/>
                      </p:stCondLst>
                      <p:childTnLst>
                        <p:par>
                          <p:cTn id="49" fill="hold">
                            <p:stCondLst>
                              <p:cond delay="0"/>
                            </p:stCondLst>
                            <p:childTnLst>
                              <p:par>
                                <p:cTn id="50" presetID="1" presetClass="entr" presetSubtype="0" fill="hold" grpId="0" nodeType="clickEffect">
                                  <p:stCondLst>
                                    <p:cond delay="0"/>
                                  </p:stCondLst>
                                  <p:childTnLst>
                                    <p:set>
                                      <p:cBhvr>
                                        <p:cTn id="51" dur="1" fill="hold">
                                          <p:stCondLst>
                                            <p:cond delay="0"/>
                                          </p:stCondLst>
                                        </p:cTn>
                                        <p:tgtEl>
                                          <p:spTgt spid="32"/>
                                        </p:tgtEl>
                                        <p:attrNameLst>
                                          <p:attrName>style.visibility</p:attrName>
                                        </p:attrNameLst>
                                      </p:cBhvr>
                                      <p:to>
                                        <p:strVal val="visible"/>
                                      </p:to>
                                    </p:set>
                                  </p:childTnLst>
                                </p:cTn>
                              </p:par>
                            </p:childTnLst>
                          </p:cTn>
                        </p:par>
                        <p:par>
                          <p:cTn id="52" fill="hold">
                            <p:stCondLst>
                              <p:cond delay="0"/>
                            </p:stCondLst>
                            <p:childTnLst>
                              <p:par>
                                <p:cTn id="53" presetID="22" presetClass="entr" presetSubtype="8" fill="hold" nodeType="afterEffect">
                                  <p:stCondLst>
                                    <p:cond delay="0"/>
                                  </p:stCondLst>
                                  <p:childTnLst>
                                    <p:set>
                                      <p:cBhvr>
                                        <p:cTn id="54" dur="1" fill="hold">
                                          <p:stCondLst>
                                            <p:cond delay="0"/>
                                          </p:stCondLst>
                                        </p:cTn>
                                        <p:tgtEl>
                                          <p:spTgt spid="17"/>
                                        </p:tgtEl>
                                        <p:attrNameLst>
                                          <p:attrName>style.visibility</p:attrName>
                                        </p:attrNameLst>
                                      </p:cBhvr>
                                      <p:to>
                                        <p:strVal val="visible"/>
                                      </p:to>
                                    </p:set>
                                    <p:animEffect transition="in" filter="wipe(left)">
                                      <p:cBhvr>
                                        <p:cTn id="55" dur="2000"/>
                                        <p:tgtEl>
                                          <p:spTgt spid="17"/>
                                        </p:tgtEl>
                                      </p:cBhvr>
                                    </p:animEffect>
                                  </p:childTnLst>
                                </p:cTn>
                              </p:par>
                            </p:childTnLst>
                          </p:cTn>
                        </p:par>
                        <p:par>
                          <p:cTn id="56" fill="hold">
                            <p:stCondLst>
                              <p:cond delay="2000"/>
                            </p:stCondLst>
                            <p:childTnLst>
                              <p:par>
                                <p:cTn id="57" presetID="22" presetClass="entr" presetSubtype="8" fill="hold" nodeType="afterEffect">
                                  <p:stCondLst>
                                    <p:cond delay="0"/>
                                  </p:stCondLst>
                                  <p:childTnLst>
                                    <p:set>
                                      <p:cBhvr>
                                        <p:cTn id="58" dur="1" fill="hold">
                                          <p:stCondLst>
                                            <p:cond delay="0"/>
                                          </p:stCondLst>
                                        </p:cTn>
                                        <p:tgtEl>
                                          <p:spTgt spid="5"/>
                                        </p:tgtEl>
                                        <p:attrNameLst>
                                          <p:attrName>style.visibility</p:attrName>
                                        </p:attrNameLst>
                                      </p:cBhvr>
                                      <p:to>
                                        <p:strVal val="visible"/>
                                      </p:to>
                                    </p:set>
                                    <p:animEffect transition="in" filter="wipe(left)">
                                      <p:cBhvr>
                                        <p:cTn id="59" dur="2000"/>
                                        <p:tgtEl>
                                          <p:spTgt spid="5"/>
                                        </p:tgtEl>
                                      </p:cBhvr>
                                    </p:animEffect>
                                  </p:childTnLst>
                                </p:cTn>
                              </p:par>
                            </p:childTnLst>
                          </p:cTn>
                        </p:par>
                        <p:par>
                          <p:cTn id="60" fill="hold">
                            <p:stCondLst>
                              <p:cond delay="4000"/>
                            </p:stCondLst>
                            <p:childTnLst>
                              <p:par>
                                <p:cTn id="61" presetID="22" presetClass="entr" presetSubtype="8" fill="hold" nodeType="afterEffect">
                                  <p:stCondLst>
                                    <p:cond delay="0"/>
                                  </p:stCondLst>
                                  <p:childTnLst>
                                    <p:set>
                                      <p:cBhvr>
                                        <p:cTn id="62" dur="1" fill="hold">
                                          <p:stCondLst>
                                            <p:cond delay="0"/>
                                          </p:stCondLst>
                                        </p:cTn>
                                        <p:tgtEl>
                                          <p:spTgt spid="11"/>
                                        </p:tgtEl>
                                        <p:attrNameLst>
                                          <p:attrName>style.visibility</p:attrName>
                                        </p:attrNameLst>
                                      </p:cBhvr>
                                      <p:to>
                                        <p:strVal val="visible"/>
                                      </p:to>
                                    </p:set>
                                    <p:animEffect transition="in" filter="wipe(left)">
                                      <p:cBhvr>
                                        <p:cTn id="63" dur="2000"/>
                                        <p:tgtEl>
                                          <p:spTgt spid="11"/>
                                        </p:tgtEl>
                                      </p:cBhvr>
                                    </p:animEffect>
                                  </p:childTnLst>
                                </p:cTn>
                              </p:par>
                            </p:childTnLst>
                          </p:cTn>
                        </p:par>
                      </p:childTnLst>
                    </p:cTn>
                  </p:par>
                  <p:par>
                    <p:cTn id="64" fill="hold">
                      <p:stCondLst>
                        <p:cond delay="indefinite"/>
                      </p:stCondLst>
                      <p:childTnLst>
                        <p:par>
                          <p:cTn id="65" fill="hold">
                            <p:stCondLst>
                              <p:cond delay="0"/>
                            </p:stCondLst>
                            <p:childTnLst>
                              <p:par>
                                <p:cTn id="66" presetID="1" presetClass="entr" presetSubtype="0" fill="hold" grpId="0" nodeType="clickEffect">
                                  <p:stCondLst>
                                    <p:cond delay="0"/>
                                  </p:stCondLst>
                                  <p:childTnLst>
                                    <p:set>
                                      <p:cBhvr>
                                        <p:cTn id="67" dur="1" fill="hold">
                                          <p:stCondLst>
                                            <p:cond delay="0"/>
                                          </p:stCondLst>
                                        </p:cTn>
                                        <p:tgtEl>
                                          <p:spTgt spid="34"/>
                                        </p:tgtEl>
                                        <p:attrNameLst>
                                          <p:attrName>style.visibility</p:attrName>
                                        </p:attrNameLst>
                                      </p:cBhvr>
                                      <p:to>
                                        <p:strVal val="visible"/>
                                      </p:to>
                                    </p:set>
                                  </p:childTnLst>
                                </p:cTn>
                              </p:par>
                            </p:childTnLst>
                          </p:cTn>
                        </p:par>
                        <p:par>
                          <p:cTn id="68" fill="hold">
                            <p:stCondLst>
                              <p:cond delay="0"/>
                            </p:stCondLst>
                            <p:childTnLst>
                              <p:par>
                                <p:cTn id="69" presetID="22" presetClass="entr" presetSubtype="8" fill="hold" nodeType="afterEffect">
                                  <p:stCondLst>
                                    <p:cond delay="0"/>
                                  </p:stCondLst>
                                  <p:childTnLst>
                                    <p:set>
                                      <p:cBhvr>
                                        <p:cTn id="70" dur="1" fill="hold">
                                          <p:stCondLst>
                                            <p:cond delay="0"/>
                                          </p:stCondLst>
                                        </p:cTn>
                                        <p:tgtEl>
                                          <p:spTgt spid="61"/>
                                        </p:tgtEl>
                                        <p:attrNameLst>
                                          <p:attrName>style.visibility</p:attrName>
                                        </p:attrNameLst>
                                      </p:cBhvr>
                                      <p:to>
                                        <p:strVal val="visible"/>
                                      </p:to>
                                    </p:set>
                                    <p:animEffect transition="in" filter="wipe(left)">
                                      <p:cBhvr>
                                        <p:cTn id="71" dur="2000"/>
                                        <p:tgtEl>
                                          <p:spTgt spid="61"/>
                                        </p:tgtEl>
                                      </p:cBhvr>
                                    </p:animEffect>
                                  </p:childTnLst>
                                </p:cTn>
                              </p:par>
                            </p:childTnLst>
                          </p:cTn>
                        </p:par>
                        <p:par>
                          <p:cTn id="72" fill="hold">
                            <p:stCondLst>
                              <p:cond delay="2000"/>
                            </p:stCondLst>
                            <p:childTnLst>
                              <p:par>
                                <p:cTn id="73" presetID="22" presetClass="entr" presetSubtype="8" fill="hold" nodeType="afterEffect">
                                  <p:stCondLst>
                                    <p:cond delay="0"/>
                                  </p:stCondLst>
                                  <p:childTnLst>
                                    <p:set>
                                      <p:cBhvr>
                                        <p:cTn id="74" dur="1" fill="hold">
                                          <p:stCondLst>
                                            <p:cond delay="0"/>
                                          </p:stCondLst>
                                        </p:cTn>
                                        <p:tgtEl>
                                          <p:spTgt spid="114"/>
                                        </p:tgtEl>
                                        <p:attrNameLst>
                                          <p:attrName>style.visibility</p:attrName>
                                        </p:attrNameLst>
                                      </p:cBhvr>
                                      <p:to>
                                        <p:strVal val="visible"/>
                                      </p:to>
                                    </p:set>
                                    <p:animEffect transition="in" filter="wipe(left)">
                                      <p:cBhvr>
                                        <p:cTn id="75" dur="2000"/>
                                        <p:tgtEl>
                                          <p:spTgt spid="114"/>
                                        </p:tgtEl>
                                      </p:cBhvr>
                                    </p:animEffect>
                                  </p:childTnLst>
                                </p:cTn>
                              </p:par>
                            </p:childTnLst>
                          </p:cTn>
                        </p:par>
                        <p:par>
                          <p:cTn id="76" fill="hold">
                            <p:stCondLst>
                              <p:cond delay="4000"/>
                            </p:stCondLst>
                            <p:childTnLst>
                              <p:par>
                                <p:cTn id="77" presetID="22" presetClass="entr" presetSubtype="8" fill="hold" nodeType="afterEffect">
                                  <p:stCondLst>
                                    <p:cond delay="0"/>
                                  </p:stCondLst>
                                  <p:childTnLst>
                                    <p:set>
                                      <p:cBhvr>
                                        <p:cTn id="78" dur="1" fill="hold">
                                          <p:stCondLst>
                                            <p:cond delay="0"/>
                                          </p:stCondLst>
                                        </p:cTn>
                                        <p:tgtEl>
                                          <p:spTgt spid="127"/>
                                        </p:tgtEl>
                                        <p:attrNameLst>
                                          <p:attrName>style.visibility</p:attrName>
                                        </p:attrNameLst>
                                      </p:cBhvr>
                                      <p:to>
                                        <p:strVal val="visible"/>
                                      </p:to>
                                    </p:set>
                                    <p:animEffect transition="in" filter="wipe(left)">
                                      <p:cBhvr>
                                        <p:cTn id="79" dur="2000"/>
                                        <p:tgtEl>
                                          <p:spTgt spid="127"/>
                                        </p:tgtEl>
                                      </p:cBhvr>
                                    </p:animEffect>
                                  </p:childTnLst>
                                </p:cTn>
                              </p:par>
                            </p:childTnLst>
                          </p:cTn>
                        </p:par>
                        <p:par>
                          <p:cTn id="80" fill="hold">
                            <p:stCondLst>
                              <p:cond delay="6000"/>
                            </p:stCondLst>
                            <p:childTnLst>
                              <p:par>
                                <p:cTn id="81" presetID="22" presetClass="entr" presetSubtype="8" fill="hold" nodeType="afterEffect">
                                  <p:stCondLst>
                                    <p:cond delay="0"/>
                                  </p:stCondLst>
                                  <p:childTnLst>
                                    <p:set>
                                      <p:cBhvr>
                                        <p:cTn id="82" dur="1" fill="hold">
                                          <p:stCondLst>
                                            <p:cond delay="0"/>
                                          </p:stCondLst>
                                        </p:cTn>
                                        <p:tgtEl>
                                          <p:spTgt spid="214"/>
                                        </p:tgtEl>
                                        <p:attrNameLst>
                                          <p:attrName>style.visibility</p:attrName>
                                        </p:attrNameLst>
                                      </p:cBhvr>
                                      <p:to>
                                        <p:strVal val="visible"/>
                                      </p:to>
                                    </p:set>
                                    <p:animEffect transition="in" filter="wipe(left)">
                                      <p:cBhvr>
                                        <p:cTn id="83" dur="2000"/>
                                        <p:tgtEl>
                                          <p:spTgt spid="214"/>
                                        </p:tgtEl>
                                      </p:cBhvr>
                                    </p:animEffect>
                                  </p:childTnLst>
                                </p:cTn>
                              </p:par>
                            </p:childTnLst>
                          </p:cTn>
                        </p:par>
                        <p:par>
                          <p:cTn id="84" fill="hold">
                            <p:stCondLst>
                              <p:cond delay="8000"/>
                            </p:stCondLst>
                            <p:childTnLst>
                              <p:par>
                                <p:cTn id="85" presetID="22" presetClass="entr" presetSubtype="8" fill="hold" nodeType="afterEffect">
                                  <p:stCondLst>
                                    <p:cond delay="0"/>
                                  </p:stCondLst>
                                  <p:childTnLst>
                                    <p:set>
                                      <p:cBhvr>
                                        <p:cTn id="86" dur="1" fill="hold">
                                          <p:stCondLst>
                                            <p:cond delay="0"/>
                                          </p:stCondLst>
                                        </p:cTn>
                                        <p:tgtEl>
                                          <p:spTgt spid="164"/>
                                        </p:tgtEl>
                                        <p:attrNameLst>
                                          <p:attrName>style.visibility</p:attrName>
                                        </p:attrNameLst>
                                      </p:cBhvr>
                                      <p:to>
                                        <p:strVal val="visible"/>
                                      </p:to>
                                    </p:set>
                                    <p:animEffect transition="in" filter="wipe(left)">
                                      <p:cBhvr>
                                        <p:cTn id="87" dur="2000"/>
                                        <p:tgtEl>
                                          <p:spTgt spid="164"/>
                                        </p:tgtEl>
                                      </p:cBhvr>
                                    </p:animEffect>
                                  </p:childTnLst>
                                </p:cTn>
                              </p:par>
                            </p:childTnLst>
                          </p:cTn>
                        </p:par>
                        <p:par>
                          <p:cTn id="88" fill="hold">
                            <p:stCondLst>
                              <p:cond delay="10000"/>
                            </p:stCondLst>
                            <p:childTnLst>
                              <p:par>
                                <p:cTn id="89" presetID="22" presetClass="entr" presetSubtype="8" fill="hold" nodeType="afterEffect">
                                  <p:stCondLst>
                                    <p:cond delay="0"/>
                                  </p:stCondLst>
                                  <p:childTnLst>
                                    <p:set>
                                      <p:cBhvr>
                                        <p:cTn id="90" dur="1" fill="hold">
                                          <p:stCondLst>
                                            <p:cond delay="0"/>
                                          </p:stCondLst>
                                        </p:cTn>
                                        <p:tgtEl>
                                          <p:spTgt spid="180"/>
                                        </p:tgtEl>
                                        <p:attrNameLst>
                                          <p:attrName>style.visibility</p:attrName>
                                        </p:attrNameLst>
                                      </p:cBhvr>
                                      <p:to>
                                        <p:strVal val="visible"/>
                                      </p:to>
                                    </p:set>
                                    <p:animEffect transition="in" filter="wipe(left)">
                                      <p:cBhvr>
                                        <p:cTn id="91" dur="2000"/>
                                        <p:tgtEl>
                                          <p:spTgt spid="18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8" grpId="0" animBg="1"/>
      <p:bldP spid="29" grpId="0" animBg="1"/>
      <p:bldP spid="30" grpId="0" animBg="1"/>
      <p:bldP spid="31" grpId="0" animBg="1"/>
      <p:bldP spid="32" grpId="0"/>
      <p:bldP spid="34" grpId="0"/>
      <p:bldP spid="68" grpId="0" animBg="1"/>
      <p:bldP spid="69" grpId="0" animBg="1"/>
      <p:bldP spid="70" grpId="0" animBg="1"/>
    </p:bld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05FC216F-C5E3-2765-D2D6-24AD568BDD44}"/>
              </a:ext>
            </a:extLst>
          </p:cNvPr>
          <p:cNvSpPr>
            <a:spLocks noGrp="1"/>
          </p:cNvSpPr>
          <p:nvPr>
            <p:ph type="title"/>
          </p:nvPr>
        </p:nvSpPr>
        <p:spPr>
          <a:xfrm>
            <a:off x="612000" y="144000"/>
            <a:ext cx="7920000" cy="341632"/>
          </a:xfrm>
        </p:spPr>
        <p:txBody>
          <a:bodyPr/>
          <a:lstStyle/>
          <a:p>
            <a:r>
              <a:rPr lang="zh-CN" altLang="en-US" dirty="0"/>
              <a:t>三种交换方式的比较</a:t>
            </a:r>
          </a:p>
        </p:txBody>
      </p:sp>
      <p:sp>
        <p:nvSpPr>
          <p:cNvPr id="3" name="内容占位符 2"/>
          <p:cNvSpPr>
            <a:spLocks noGrp="1"/>
          </p:cNvSpPr>
          <p:nvPr>
            <p:ph sz="quarter" idx="10"/>
          </p:nvPr>
        </p:nvSpPr>
        <p:spPr>
          <a:xfrm>
            <a:off x="612000" y="899999"/>
            <a:ext cx="7920000" cy="3780000"/>
          </a:xfrm>
        </p:spPr>
        <p:txBody>
          <a:bodyPr/>
          <a:lstStyle/>
          <a:p>
            <a:r>
              <a:rPr lang="zh-CN" altLang="en-US" dirty="0"/>
              <a:t>若要连续传送大量的数据，且其传送时间远大于连接建立时间，则电路交换的传输速率较快</a:t>
            </a:r>
          </a:p>
          <a:p>
            <a:r>
              <a:rPr lang="zh-CN" altLang="en-US" dirty="0"/>
              <a:t>报文交换和分组交换不需要预先分配传输带宽，在传送突发数据时可提高整个网络的信道利用率</a:t>
            </a:r>
          </a:p>
          <a:p>
            <a:r>
              <a:rPr lang="zh-CN" altLang="en-US" dirty="0"/>
              <a:t>由于一个分组的长度往往远小于整个报文的长度，因此分组交换比报文交换的时延小，同时也具有更好的灵活性</a:t>
            </a:r>
          </a:p>
          <a:p>
            <a:endParaRPr lang="zh-CN" altLang="en-US" dirty="0"/>
          </a:p>
        </p:txBody>
      </p:sp>
    </p:spTree>
    <p:extLst>
      <p:ext uri="{BB962C8B-B14F-4D97-AF65-F5344CB8AC3E}">
        <p14:creationId xmlns:p14="http://schemas.microsoft.com/office/powerpoint/2010/main" val="594786743"/>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D7069A33-7D77-9702-D96F-CD43153EB8F9}"/>
              </a:ext>
            </a:extLst>
          </p:cNvPr>
          <p:cNvSpPr>
            <a:spLocks noGrp="1"/>
          </p:cNvSpPr>
          <p:nvPr>
            <p:ph type="title"/>
          </p:nvPr>
        </p:nvSpPr>
        <p:spPr>
          <a:xfrm>
            <a:off x="612000" y="144000"/>
            <a:ext cx="7920000" cy="341632"/>
          </a:xfrm>
        </p:spPr>
        <p:txBody>
          <a:bodyPr/>
          <a:lstStyle/>
          <a:p>
            <a:r>
              <a:rPr lang="en-US" altLang="zh-CN" dirty="0"/>
              <a:t>1.4  </a:t>
            </a:r>
            <a:r>
              <a:rPr lang="zh-CN" altLang="en-US" dirty="0"/>
              <a:t>计算机网络在我国的发展</a:t>
            </a:r>
          </a:p>
        </p:txBody>
      </p:sp>
      <p:sp>
        <p:nvSpPr>
          <p:cNvPr id="5" name="内容占位符 4"/>
          <p:cNvSpPr>
            <a:spLocks noGrp="1"/>
          </p:cNvSpPr>
          <p:nvPr>
            <p:ph sz="quarter" idx="10"/>
          </p:nvPr>
        </p:nvSpPr>
        <p:spPr>
          <a:xfrm>
            <a:off x="612000" y="899999"/>
            <a:ext cx="7920000" cy="3780000"/>
          </a:xfrm>
        </p:spPr>
        <p:txBody>
          <a:bodyPr/>
          <a:lstStyle/>
          <a:p>
            <a:r>
              <a:rPr lang="en-US" altLang="zh-CN" dirty="0"/>
              <a:t>1980 </a:t>
            </a:r>
            <a:r>
              <a:rPr lang="zh-CN" altLang="en-US" dirty="0"/>
              <a:t>年，铁道部开始进行计算机联网实验</a:t>
            </a:r>
          </a:p>
          <a:p>
            <a:r>
              <a:rPr lang="en-US" altLang="zh-CN" dirty="0"/>
              <a:t>1989 </a:t>
            </a:r>
            <a:r>
              <a:rPr lang="zh-CN" altLang="en-US" dirty="0"/>
              <a:t>年 </a:t>
            </a:r>
            <a:r>
              <a:rPr lang="en-US" altLang="zh-CN" dirty="0"/>
              <a:t>11 </a:t>
            </a:r>
            <a:r>
              <a:rPr lang="zh-CN" altLang="en-US" dirty="0"/>
              <a:t>月，我国第一个公用分组交换网 </a:t>
            </a:r>
            <a:r>
              <a:rPr lang="en-US" altLang="zh-CN" dirty="0"/>
              <a:t>CNPAC </a:t>
            </a:r>
            <a:r>
              <a:rPr lang="zh-CN" altLang="en-US" dirty="0"/>
              <a:t>建成运行 </a:t>
            </a:r>
          </a:p>
          <a:p>
            <a:r>
              <a:rPr lang="en-US" altLang="zh-CN" dirty="0"/>
              <a:t>1994 </a:t>
            </a:r>
            <a:r>
              <a:rPr lang="zh-CN" altLang="en-US" dirty="0"/>
              <a:t>年 </a:t>
            </a:r>
            <a:r>
              <a:rPr lang="en-US" altLang="zh-CN" dirty="0"/>
              <a:t>4 </a:t>
            </a:r>
            <a:r>
              <a:rPr lang="zh-CN" altLang="en-US" dirty="0"/>
              <a:t>月 </a:t>
            </a:r>
            <a:r>
              <a:rPr lang="en-US" altLang="zh-CN" dirty="0"/>
              <a:t>20 </a:t>
            </a:r>
            <a:r>
              <a:rPr lang="zh-CN" altLang="en-US" dirty="0"/>
              <a:t>日，我国用 </a:t>
            </a:r>
            <a:r>
              <a:rPr lang="en-US" altLang="zh-CN" dirty="0"/>
              <a:t>64 Kbit/s </a:t>
            </a:r>
            <a:r>
              <a:rPr lang="zh-CN" altLang="en-US" dirty="0"/>
              <a:t>专线正式连入互联网，我国被国际上正式承认为接入互联网的国家</a:t>
            </a:r>
          </a:p>
          <a:p>
            <a:r>
              <a:rPr lang="en-US" altLang="zh-CN" dirty="0"/>
              <a:t>1994 </a:t>
            </a:r>
            <a:r>
              <a:rPr lang="zh-CN" altLang="en-US" dirty="0"/>
              <a:t>年 </a:t>
            </a:r>
            <a:r>
              <a:rPr lang="en-US" altLang="zh-CN" dirty="0"/>
              <a:t>5 </a:t>
            </a:r>
            <a:r>
              <a:rPr lang="zh-CN" altLang="en-US" dirty="0"/>
              <a:t>月，中国科学院高能物理研究所设立了我国第一个万维网服务器</a:t>
            </a:r>
          </a:p>
          <a:p>
            <a:r>
              <a:rPr lang="en-US" altLang="zh-CN" dirty="0"/>
              <a:t>1994 </a:t>
            </a:r>
            <a:r>
              <a:rPr lang="zh-CN" altLang="en-US" dirty="0"/>
              <a:t>年 </a:t>
            </a:r>
            <a:r>
              <a:rPr lang="en-US" altLang="zh-CN" dirty="0"/>
              <a:t>9 </a:t>
            </a:r>
            <a:r>
              <a:rPr lang="zh-CN" altLang="en-US" dirty="0"/>
              <a:t>月，中国公用计算机互联网 </a:t>
            </a:r>
            <a:r>
              <a:rPr lang="en-US" altLang="zh-CN" dirty="0"/>
              <a:t>CHINANET </a:t>
            </a:r>
            <a:r>
              <a:rPr lang="zh-CN" altLang="en-US" dirty="0"/>
              <a:t>正式启动</a:t>
            </a:r>
          </a:p>
          <a:p>
            <a:endParaRPr lang="zh-CN" altLang="en-US" dirty="0"/>
          </a:p>
        </p:txBody>
      </p:sp>
    </p:spTree>
    <p:extLst>
      <p:ext uri="{BB962C8B-B14F-4D97-AF65-F5344CB8AC3E}">
        <p14:creationId xmlns:p14="http://schemas.microsoft.com/office/powerpoint/2010/main" val="3173172891"/>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35AFD804-D290-9A84-1817-299FC9763276}"/>
              </a:ext>
            </a:extLst>
          </p:cNvPr>
          <p:cNvSpPr>
            <a:spLocks noGrp="1"/>
          </p:cNvSpPr>
          <p:nvPr>
            <p:ph type="title"/>
          </p:nvPr>
        </p:nvSpPr>
        <p:spPr>
          <a:xfrm>
            <a:off x="612000" y="144000"/>
            <a:ext cx="7920000" cy="341632"/>
          </a:xfrm>
        </p:spPr>
        <p:txBody>
          <a:bodyPr/>
          <a:lstStyle/>
          <a:p>
            <a:r>
              <a:rPr lang="en-US" altLang="zh-CN" dirty="0"/>
              <a:t>1.4  </a:t>
            </a:r>
            <a:r>
              <a:rPr lang="zh-CN" altLang="en-US" dirty="0"/>
              <a:t>计算机网络在我国的发展</a:t>
            </a:r>
          </a:p>
        </p:txBody>
      </p:sp>
      <p:sp>
        <p:nvSpPr>
          <p:cNvPr id="5" name="内容占位符 4"/>
          <p:cNvSpPr>
            <a:spLocks noGrp="1"/>
          </p:cNvSpPr>
          <p:nvPr>
            <p:ph sz="quarter" idx="10"/>
          </p:nvPr>
        </p:nvSpPr>
        <p:spPr>
          <a:xfrm>
            <a:off x="612000" y="899999"/>
            <a:ext cx="7920000" cy="3780000"/>
          </a:xfrm>
        </p:spPr>
        <p:txBody>
          <a:bodyPr/>
          <a:lstStyle/>
          <a:p>
            <a:r>
              <a:rPr lang="zh-CN" altLang="en-US" dirty="0"/>
              <a:t>到目前为止，我国陆续建造了基于互联网技术的并能够和互联网互连的多个全国范围的公用计算机网络</a:t>
            </a:r>
            <a:endParaRPr lang="en-US" altLang="zh-CN" dirty="0"/>
          </a:p>
          <a:p>
            <a:r>
              <a:rPr lang="zh-CN" altLang="en-US" dirty="0"/>
              <a:t>其中规模最大的五个：</a:t>
            </a:r>
          </a:p>
          <a:p>
            <a:pPr lvl="1"/>
            <a:r>
              <a:rPr lang="zh-CN" altLang="en-US" dirty="0"/>
              <a:t>中国电信互联网 </a:t>
            </a:r>
            <a:r>
              <a:rPr lang="en-US" altLang="zh-CN" dirty="0"/>
              <a:t>CHINANET</a:t>
            </a:r>
            <a:r>
              <a:rPr lang="zh-CN" altLang="en-US" dirty="0"/>
              <a:t>（也就是原来的中国公用计算机互联网）</a:t>
            </a:r>
          </a:p>
          <a:p>
            <a:pPr lvl="1"/>
            <a:r>
              <a:rPr lang="zh-CN" altLang="en-US" dirty="0"/>
              <a:t>中国联通互联网 </a:t>
            </a:r>
            <a:r>
              <a:rPr lang="en-US" altLang="zh-CN" dirty="0"/>
              <a:t>UNINET</a:t>
            </a:r>
          </a:p>
          <a:p>
            <a:pPr lvl="1"/>
            <a:r>
              <a:rPr lang="zh-CN" altLang="en-US" dirty="0"/>
              <a:t>中国移动互联网 </a:t>
            </a:r>
            <a:r>
              <a:rPr lang="en-US" altLang="zh-CN" dirty="0"/>
              <a:t>CMNET</a:t>
            </a:r>
          </a:p>
          <a:p>
            <a:pPr lvl="1"/>
            <a:r>
              <a:rPr lang="zh-CN" altLang="en-US" dirty="0"/>
              <a:t>中国教育和科研计算机网 </a:t>
            </a:r>
            <a:r>
              <a:rPr lang="en-US" altLang="zh-CN" dirty="0"/>
              <a:t>CERNET</a:t>
            </a:r>
          </a:p>
          <a:p>
            <a:pPr lvl="1"/>
            <a:r>
              <a:rPr lang="zh-CN" altLang="en-US" dirty="0"/>
              <a:t>中国科学技术网 </a:t>
            </a:r>
            <a:r>
              <a:rPr lang="en-US" altLang="zh-CN" dirty="0"/>
              <a:t>CSTNET</a:t>
            </a:r>
          </a:p>
          <a:p>
            <a:endParaRPr lang="zh-CN" altLang="en-US" dirty="0"/>
          </a:p>
        </p:txBody>
      </p:sp>
    </p:spTree>
    <p:extLst>
      <p:ext uri="{BB962C8B-B14F-4D97-AF65-F5344CB8AC3E}">
        <p14:creationId xmlns:p14="http://schemas.microsoft.com/office/powerpoint/2010/main" val="3340293658"/>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标题 6">
            <a:extLst>
              <a:ext uri="{FF2B5EF4-FFF2-40B4-BE49-F238E27FC236}">
                <a16:creationId xmlns:a16="http://schemas.microsoft.com/office/drawing/2014/main" id="{D28F71F2-4374-224D-007B-D6D90CF48B35}"/>
              </a:ext>
            </a:extLst>
          </p:cNvPr>
          <p:cNvSpPr>
            <a:spLocks noGrp="1"/>
          </p:cNvSpPr>
          <p:nvPr>
            <p:ph type="title"/>
          </p:nvPr>
        </p:nvSpPr>
        <p:spPr>
          <a:xfrm>
            <a:off x="612000" y="144000"/>
            <a:ext cx="7920000" cy="341632"/>
          </a:xfrm>
        </p:spPr>
        <p:txBody>
          <a:bodyPr/>
          <a:lstStyle/>
          <a:p>
            <a:r>
              <a:rPr lang="en-US" altLang="zh-CN" dirty="0"/>
              <a:t>1.4  </a:t>
            </a:r>
            <a:r>
              <a:rPr lang="zh-CN" altLang="en-US" dirty="0"/>
              <a:t>计算机网络在我国的发展</a:t>
            </a:r>
          </a:p>
        </p:txBody>
      </p:sp>
      <p:sp>
        <p:nvSpPr>
          <p:cNvPr id="5" name="内容占位符 4"/>
          <p:cNvSpPr>
            <a:spLocks noGrp="1"/>
          </p:cNvSpPr>
          <p:nvPr>
            <p:ph sz="quarter" idx="10"/>
          </p:nvPr>
        </p:nvSpPr>
        <p:spPr>
          <a:xfrm>
            <a:off x="612000" y="899999"/>
            <a:ext cx="7920000" cy="3780000"/>
          </a:xfrm>
        </p:spPr>
        <p:txBody>
          <a:bodyPr>
            <a:normAutofit/>
          </a:bodyPr>
          <a:lstStyle/>
          <a:p>
            <a:r>
              <a:rPr lang="en-US" altLang="zh-CN" dirty="0"/>
              <a:t>1994 </a:t>
            </a:r>
            <a:r>
              <a:rPr lang="zh-CN" altLang="en-US" dirty="0"/>
              <a:t>年，中国教育和科研计算机网 </a:t>
            </a:r>
            <a:r>
              <a:rPr lang="en-US" altLang="zh-CN" dirty="0"/>
              <a:t>CERNET (China Education and Research Network) </a:t>
            </a:r>
            <a:r>
              <a:rPr lang="zh-CN" altLang="en-US" dirty="0"/>
              <a:t>是我国第一个 </a:t>
            </a:r>
            <a:r>
              <a:rPr lang="en-US" altLang="zh-CN" dirty="0"/>
              <a:t>IPv4 </a:t>
            </a:r>
            <a:r>
              <a:rPr lang="zh-CN" altLang="en-US" dirty="0"/>
              <a:t>互联网主干网</a:t>
            </a:r>
          </a:p>
          <a:p>
            <a:r>
              <a:rPr lang="en-US" altLang="zh-CN" dirty="0"/>
              <a:t>2004 </a:t>
            </a:r>
            <a:r>
              <a:rPr lang="zh-CN" altLang="en-US" dirty="0"/>
              <a:t>年 </a:t>
            </a:r>
            <a:r>
              <a:rPr lang="en-US" altLang="zh-CN" dirty="0"/>
              <a:t>2 </a:t>
            </a:r>
            <a:r>
              <a:rPr lang="zh-CN" altLang="en-US" dirty="0"/>
              <a:t>月，我国的第一个下一代互联网 </a:t>
            </a:r>
            <a:r>
              <a:rPr lang="en-US" altLang="zh-CN" dirty="0"/>
              <a:t>CNGI </a:t>
            </a:r>
            <a:r>
              <a:rPr lang="zh-CN" altLang="en-US" dirty="0"/>
              <a:t>的主干网 </a:t>
            </a:r>
            <a:r>
              <a:rPr lang="en-US" altLang="zh-CN" dirty="0"/>
              <a:t>CERNET2 </a:t>
            </a:r>
            <a:r>
              <a:rPr lang="zh-CN" altLang="en-US" dirty="0"/>
              <a:t>试验网正式开通，并提供服务</a:t>
            </a:r>
            <a:endParaRPr lang="en-US" altLang="zh-CN" dirty="0"/>
          </a:p>
          <a:p>
            <a:pPr lvl="1"/>
            <a:r>
              <a:rPr lang="zh-CN" altLang="en-US" dirty="0"/>
              <a:t>试验网以 </a:t>
            </a:r>
            <a:r>
              <a:rPr lang="en-US" altLang="zh-CN" dirty="0"/>
              <a:t>2.5~10 </a:t>
            </a:r>
            <a:r>
              <a:rPr lang="en-US" altLang="zh-CN" dirty="0" err="1"/>
              <a:t>Gbit</a:t>
            </a:r>
            <a:r>
              <a:rPr lang="en-US" altLang="zh-CN" dirty="0"/>
              <a:t>/s </a:t>
            </a:r>
            <a:r>
              <a:rPr lang="zh-CN" altLang="en-US" dirty="0"/>
              <a:t>的速率连接北京、上海和广州三个 </a:t>
            </a:r>
            <a:r>
              <a:rPr lang="en-US" altLang="zh-CN" dirty="0"/>
              <a:t>CERNET </a:t>
            </a:r>
            <a:r>
              <a:rPr lang="zh-CN" altLang="en-US" dirty="0"/>
              <a:t>核心节点，并与国际下一代互联网相连接</a:t>
            </a:r>
          </a:p>
          <a:p>
            <a:r>
              <a:rPr lang="zh-CN" altLang="en-US" dirty="0"/>
              <a:t>中国互联网络信息中心 </a:t>
            </a:r>
            <a:r>
              <a:rPr lang="en-US" altLang="zh-CN" dirty="0">
                <a:hlinkClick r:id="rId2"/>
              </a:rPr>
              <a:t>CNNIC</a:t>
            </a:r>
            <a:r>
              <a:rPr lang="en-US" altLang="zh-CN" dirty="0"/>
              <a:t> (China Network Information Center)  </a:t>
            </a:r>
            <a:r>
              <a:rPr lang="zh-CN" altLang="en-US" dirty="0"/>
              <a:t>每年两次公布我国互联网的发展情况</a:t>
            </a:r>
            <a:endParaRPr lang="en-US" altLang="zh-CN" dirty="0"/>
          </a:p>
          <a:p>
            <a:r>
              <a:rPr lang="zh-CN" altLang="en-US" dirty="0"/>
              <a:t>到 </a:t>
            </a:r>
            <a:r>
              <a:rPr lang="en-US" altLang="zh-CN" dirty="0"/>
              <a:t>2019 </a:t>
            </a:r>
            <a:r>
              <a:rPr lang="zh-CN" altLang="en-US" dirty="0"/>
              <a:t>年底，我国国际出口带宽已超过 </a:t>
            </a:r>
            <a:r>
              <a:rPr lang="en-US" altLang="zh-CN" dirty="0"/>
              <a:t>8.8 </a:t>
            </a:r>
            <a:r>
              <a:rPr lang="en-US" altLang="zh-CN" dirty="0" err="1"/>
              <a:t>Tbit</a:t>
            </a:r>
            <a:r>
              <a:rPr lang="en-US" altLang="zh-CN" dirty="0"/>
              <a:t>/s </a:t>
            </a:r>
            <a:r>
              <a:rPr lang="zh-CN" altLang="en-US" dirty="0"/>
              <a:t>（</a:t>
            </a:r>
            <a:r>
              <a:rPr lang="en-US" altLang="zh-CN" dirty="0"/>
              <a:t>1 Tbit/s = 103 Gbit/s</a:t>
            </a:r>
            <a:r>
              <a:rPr lang="zh-CN" altLang="en-US" dirty="0"/>
              <a:t>）</a:t>
            </a:r>
          </a:p>
          <a:p>
            <a:endParaRPr lang="zh-CN" altLang="en-US" dirty="0"/>
          </a:p>
        </p:txBody>
      </p:sp>
    </p:spTree>
    <p:extLst>
      <p:ext uri="{BB962C8B-B14F-4D97-AF65-F5344CB8AC3E}">
        <p14:creationId xmlns:p14="http://schemas.microsoft.com/office/powerpoint/2010/main" val="136805373"/>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标题 8">
            <a:extLst>
              <a:ext uri="{FF2B5EF4-FFF2-40B4-BE49-F238E27FC236}">
                <a16:creationId xmlns:a16="http://schemas.microsoft.com/office/drawing/2014/main" id="{2F84FF96-A0FB-6A87-89D4-A85D4E83F191}"/>
              </a:ext>
            </a:extLst>
          </p:cNvPr>
          <p:cNvSpPr>
            <a:spLocks noGrp="1"/>
          </p:cNvSpPr>
          <p:nvPr>
            <p:ph type="title"/>
          </p:nvPr>
        </p:nvSpPr>
        <p:spPr>
          <a:xfrm>
            <a:off x="612000" y="144000"/>
            <a:ext cx="7920000" cy="341632"/>
          </a:xfrm>
        </p:spPr>
        <p:txBody>
          <a:bodyPr/>
          <a:lstStyle/>
          <a:p>
            <a:r>
              <a:rPr lang="zh-CN" altLang="en-US" dirty="0"/>
              <a:t>对我国互联网事业发展影响较大的人物和事件</a:t>
            </a:r>
          </a:p>
        </p:txBody>
      </p:sp>
      <p:sp>
        <p:nvSpPr>
          <p:cNvPr id="5" name="内容占位符 4"/>
          <p:cNvSpPr>
            <a:spLocks noGrp="1"/>
          </p:cNvSpPr>
          <p:nvPr>
            <p:ph sz="quarter" idx="10"/>
          </p:nvPr>
        </p:nvSpPr>
        <p:spPr>
          <a:xfrm>
            <a:off x="612000" y="899999"/>
            <a:ext cx="7920000" cy="3780000"/>
          </a:xfrm>
        </p:spPr>
        <p:txBody>
          <a:bodyPr/>
          <a:lstStyle/>
          <a:p>
            <a:r>
              <a:rPr lang="en-US" altLang="zh-CN" dirty="0"/>
              <a:t>1996 </a:t>
            </a:r>
            <a:r>
              <a:rPr lang="zh-CN" altLang="en-US" dirty="0"/>
              <a:t>年，张朝阳创立了爱特信公司</a:t>
            </a:r>
            <a:endParaRPr lang="en-US" altLang="zh-CN" dirty="0"/>
          </a:p>
          <a:p>
            <a:pPr lvl="1"/>
            <a:r>
              <a:rPr lang="zh-CN" altLang="en-US" dirty="0"/>
              <a:t>中国第一家以风险投资资金建立的互联网公司</a:t>
            </a:r>
            <a:endParaRPr lang="en-US" altLang="zh-CN" dirty="0"/>
          </a:p>
          <a:p>
            <a:pPr lvl="1"/>
            <a:r>
              <a:rPr lang="zh-CN" altLang="en-US" dirty="0"/>
              <a:t>两年后，更名为搜狐公司</a:t>
            </a:r>
            <a:r>
              <a:rPr lang="en-US" altLang="zh-CN" dirty="0"/>
              <a:t>(Sohu)</a:t>
            </a:r>
          </a:p>
          <a:p>
            <a:pPr lvl="1"/>
            <a:r>
              <a:rPr lang="zh-CN" altLang="en-US" dirty="0"/>
              <a:t>搜狐网站</a:t>
            </a:r>
            <a:r>
              <a:rPr lang="en-US" altLang="zh-CN" dirty="0"/>
              <a:t>(Sohu.com)</a:t>
            </a:r>
            <a:r>
              <a:rPr lang="zh-CN" altLang="en-US" dirty="0"/>
              <a:t>是中国首家大型分类查询搜索引擎</a:t>
            </a:r>
            <a:endParaRPr lang="en-US" altLang="zh-CN" dirty="0"/>
          </a:p>
          <a:p>
            <a:r>
              <a:rPr lang="en-US" altLang="zh-CN" dirty="0"/>
              <a:t>1997 </a:t>
            </a:r>
            <a:r>
              <a:rPr lang="zh-CN" altLang="en-US" dirty="0"/>
              <a:t>年，丁磊创立了网易公司</a:t>
            </a:r>
            <a:r>
              <a:rPr lang="en-US" altLang="zh-CN" dirty="0"/>
              <a:t>(NetEase)</a:t>
            </a:r>
          </a:p>
          <a:p>
            <a:pPr lvl="1"/>
            <a:r>
              <a:rPr lang="zh-CN" altLang="en-US" dirty="0"/>
              <a:t>中国第一家中文全文搜索引擎</a:t>
            </a:r>
            <a:endParaRPr lang="en-US" altLang="zh-CN" dirty="0"/>
          </a:p>
          <a:p>
            <a:pPr lvl="1"/>
            <a:r>
              <a:rPr lang="zh-CN" altLang="en-US" dirty="0"/>
              <a:t>超大容量免费邮箱（如</a:t>
            </a:r>
            <a:r>
              <a:rPr lang="en-US" altLang="zh-CN" dirty="0"/>
              <a:t>163</a:t>
            </a:r>
            <a:r>
              <a:rPr lang="zh-CN" altLang="en-US" dirty="0"/>
              <a:t>和</a:t>
            </a:r>
            <a:r>
              <a:rPr lang="en-US" altLang="zh-CN" dirty="0"/>
              <a:t>126</a:t>
            </a:r>
            <a:r>
              <a:rPr lang="zh-CN" altLang="en-US" dirty="0"/>
              <a:t>等）</a:t>
            </a:r>
            <a:endParaRPr lang="en-US" altLang="zh-CN" dirty="0"/>
          </a:p>
          <a:p>
            <a:r>
              <a:rPr lang="en-US" altLang="zh-CN" dirty="0"/>
              <a:t>1998 </a:t>
            </a:r>
            <a:r>
              <a:rPr lang="zh-CN" altLang="en-US" dirty="0"/>
              <a:t>年，王志东创立新浪网站</a:t>
            </a:r>
            <a:r>
              <a:rPr lang="en-US" altLang="zh-CN" dirty="0"/>
              <a:t>(Sina.com )</a:t>
            </a:r>
            <a:r>
              <a:rPr lang="zh-CN" altLang="en-US" dirty="0"/>
              <a:t> </a:t>
            </a:r>
            <a:endParaRPr lang="en-US" altLang="zh-CN" dirty="0"/>
          </a:p>
          <a:p>
            <a:pPr lvl="1"/>
            <a:r>
              <a:rPr lang="zh-CN" altLang="en-US" dirty="0"/>
              <a:t>新浪的微博是全球使用最多的微博之一</a:t>
            </a:r>
          </a:p>
        </p:txBody>
      </p:sp>
    </p:spTree>
    <p:extLst>
      <p:ext uri="{BB962C8B-B14F-4D97-AF65-F5344CB8AC3E}">
        <p14:creationId xmlns:p14="http://schemas.microsoft.com/office/powerpoint/2010/main" val="996058223"/>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8EDA4951-2092-FDF3-50A1-AAAA59E5DEAD}"/>
              </a:ext>
            </a:extLst>
          </p:cNvPr>
          <p:cNvSpPr>
            <a:spLocks noGrp="1"/>
          </p:cNvSpPr>
          <p:nvPr>
            <p:ph type="title"/>
          </p:nvPr>
        </p:nvSpPr>
        <p:spPr>
          <a:xfrm>
            <a:off x="612000" y="144000"/>
            <a:ext cx="7920000" cy="341632"/>
          </a:xfrm>
        </p:spPr>
        <p:txBody>
          <a:bodyPr/>
          <a:lstStyle/>
          <a:p>
            <a:r>
              <a:rPr lang="zh-CN" altLang="en-US" dirty="0"/>
              <a:t>对我国互联网事业发展影响较大的人物和事件</a:t>
            </a:r>
          </a:p>
        </p:txBody>
      </p:sp>
      <p:sp>
        <p:nvSpPr>
          <p:cNvPr id="5" name="内容占位符 4"/>
          <p:cNvSpPr>
            <a:spLocks noGrp="1"/>
          </p:cNvSpPr>
          <p:nvPr>
            <p:ph sz="quarter" idx="10"/>
          </p:nvPr>
        </p:nvSpPr>
        <p:spPr>
          <a:xfrm>
            <a:off x="612000" y="899999"/>
            <a:ext cx="7920000" cy="3780000"/>
          </a:xfrm>
        </p:spPr>
        <p:txBody>
          <a:bodyPr>
            <a:normAutofit/>
          </a:bodyPr>
          <a:lstStyle/>
          <a:p>
            <a:r>
              <a:rPr lang="en-US" altLang="zh-CN" dirty="0"/>
              <a:t>1998 </a:t>
            </a:r>
            <a:r>
              <a:rPr lang="zh-CN" altLang="en-US" dirty="0"/>
              <a:t>年，马化腾、张志东创立腾讯公司 </a:t>
            </a:r>
            <a:r>
              <a:rPr lang="en-US" altLang="zh-CN" dirty="0"/>
              <a:t>Tencent</a:t>
            </a:r>
          </a:p>
          <a:p>
            <a:r>
              <a:rPr lang="en-US" altLang="zh-CN" dirty="0"/>
              <a:t>1999 </a:t>
            </a:r>
            <a:r>
              <a:rPr lang="zh-CN" altLang="en-US" dirty="0"/>
              <a:t>年，腾讯就推出用在 </a:t>
            </a:r>
            <a:r>
              <a:rPr lang="en-US" altLang="zh-CN" dirty="0"/>
              <a:t>PC </a:t>
            </a:r>
            <a:r>
              <a:rPr lang="zh-CN" altLang="en-US" dirty="0"/>
              <a:t>上的即时通信软件 </a:t>
            </a:r>
            <a:r>
              <a:rPr lang="en-US" altLang="zh-CN" dirty="0"/>
              <a:t>OICQ</a:t>
            </a:r>
            <a:r>
              <a:rPr lang="zh-CN" altLang="en-US" dirty="0"/>
              <a:t>，后改名 </a:t>
            </a:r>
            <a:r>
              <a:rPr lang="en-US" altLang="zh-CN" dirty="0"/>
              <a:t>QQ</a:t>
            </a:r>
          </a:p>
          <a:p>
            <a:r>
              <a:rPr lang="en-US" altLang="zh-CN" dirty="0"/>
              <a:t>1999 </a:t>
            </a:r>
            <a:r>
              <a:rPr lang="zh-CN" altLang="en-US" dirty="0"/>
              <a:t>年，马云创建阿里巴巴网站 </a:t>
            </a:r>
            <a:r>
              <a:rPr lang="en-US" altLang="zh-CN" dirty="0"/>
              <a:t>Alibaba.com</a:t>
            </a:r>
          </a:p>
          <a:p>
            <a:r>
              <a:rPr lang="en-US" altLang="zh-CN" dirty="0"/>
              <a:t>2000 </a:t>
            </a:r>
            <a:r>
              <a:rPr lang="zh-CN" altLang="en-US" dirty="0"/>
              <a:t>年，李彦宏和徐勇创建百度网站 </a:t>
            </a:r>
            <a:r>
              <a:rPr lang="en-US" altLang="zh-CN" dirty="0"/>
              <a:t>Baidu.com</a:t>
            </a:r>
            <a:r>
              <a:rPr lang="zh-CN" altLang="en-US" dirty="0"/>
              <a:t>，现在已成为全球最大的中文搜索引擎</a:t>
            </a:r>
            <a:endParaRPr lang="en-US" altLang="zh-CN" dirty="0"/>
          </a:p>
          <a:p>
            <a:r>
              <a:rPr lang="en-US" altLang="zh-CN" dirty="0"/>
              <a:t>2003 </a:t>
            </a:r>
            <a:r>
              <a:rPr lang="zh-CN" altLang="en-US" dirty="0"/>
              <a:t>年，马云创立个人网上贸易市场平台</a:t>
            </a:r>
            <a:r>
              <a:rPr lang="en-US" altLang="zh-CN" dirty="0"/>
              <a:t>-</a:t>
            </a:r>
            <a:r>
              <a:rPr lang="zh-CN" altLang="en-US" dirty="0"/>
              <a:t>淘宝网 </a:t>
            </a:r>
            <a:r>
              <a:rPr lang="en-US" altLang="zh-CN" dirty="0"/>
              <a:t>Taobao.com</a:t>
            </a:r>
          </a:p>
          <a:p>
            <a:r>
              <a:rPr lang="en-US" altLang="zh-CN" dirty="0"/>
              <a:t>2004 </a:t>
            </a:r>
            <a:r>
              <a:rPr lang="zh-CN" altLang="en-US" dirty="0"/>
              <a:t>年，阿里巴巴集团创立了第三方支付平台</a:t>
            </a:r>
            <a:r>
              <a:rPr lang="en-US" altLang="zh-CN" dirty="0"/>
              <a:t>-</a:t>
            </a:r>
            <a:r>
              <a:rPr lang="zh-CN" altLang="en-US" dirty="0"/>
              <a:t>支付宝 </a:t>
            </a:r>
            <a:r>
              <a:rPr lang="en-US" altLang="zh-CN" dirty="0"/>
              <a:t>Alipay.com</a:t>
            </a:r>
          </a:p>
          <a:p>
            <a:r>
              <a:rPr lang="en-US" altLang="zh-CN" dirty="0"/>
              <a:t>2011 </a:t>
            </a:r>
            <a:r>
              <a:rPr lang="zh-CN" altLang="en-US" dirty="0"/>
              <a:t>年，腾讯推出了专门供智能手机使用的即时通信软件</a:t>
            </a:r>
            <a:r>
              <a:rPr lang="en-US" altLang="zh-CN" dirty="0"/>
              <a:t>-</a:t>
            </a:r>
            <a:r>
              <a:rPr lang="zh-CN" altLang="en-US" dirty="0"/>
              <a:t>微信 </a:t>
            </a:r>
            <a:r>
              <a:rPr lang="en-US" altLang="zh-CN" dirty="0"/>
              <a:t>WeChat</a:t>
            </a:r>
          </a:p>
          <a:p>
            <a:endParaRPr lang="zh-CN" altLang="en-US" dirty="0"/>
          </a:p>
        </p:txBody>
      </p:sp>
    </p:spTree>
    <p:extLst>
      <p:ext uri="{BB962C8B-B14F-4D97-AF65-F5344CB8AC3E}">
        <p14:creationId xmlns:p14="http://schemas.microsoft.com/office/powerpoint/2010/main" val="2578489000"/>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F6E2F4A7-86B5-3A67-53AF-8F21A5B9FDC2}"/>
              </a:ext>
            </a:extLst>
          </p:cNvPr>
          <p:cNvSpPr>
            <a:spLocks noGrp="1"/>
          </p:cNvSpPr>
          <p:nvPr>
            <p:ph type="title"/>
          </p:nvPr>
        </p:nvSpPr>
        <p:spPr>
          <a:xfrm>
            <a:off x="2228850" y="403553"/>
            <a:ext cx="6562725" cy="523220"/>
          </a:xfrm>
        </p:spPr>
        <p:txBody>
          <a:bodyPr/>
          <a:lstStyle/>
          <a:p>
            <a:r>
              <a:rPr lang="fr-FR" altLang="zh-CN" dirty="0"/>
              <a:t>1.5 </a:t>
            </a:r>
            <a:r>
              <a:rPr lang="zh-CN" altLang="zh-CN" dirty="0"/>
              <a:t>计算机网络的类别</a:t>
            </a:r>
            <a:endParaRPr lang="zh-CN" altLang="en-US" dirty="0"/>
          </a:p>
        </p:txBody>
      </p:sp>
      <p:sp>
        <p:nvSpPr>
          <p:cNvPr id="5" name="文本框 4">
            <a:extLst>
              <a:ext uri="{FF2B5EF4-FFF2-40B4-BE49-F238E27FC236}">
                <a16:creationId xmlns:a16="http://schemas.microsoft.com/office/drawing/2014/main" id="{2595A11E-7AE5-57C9-9788-9A15C1BDC052}"/>
              </a:ext>
            </a:extLst>
          </p:cNvPr>
          <p:cNvSpPr txBox="1"/>
          <p:nvPr/>
        </p:nvSpPr>
        <p:spPr>
          <a:xfrm>
            <a:off x="2990850" y="1462301"/>
            <a:ext cx="3390900" cy="646331"/>
          </a:xfrm>
          <a:prstGeom prst="rect">
            <a:avLst/>
          </a:prstGeom>
          <a:noFill/>
        </p:spPr>
        <p:txBody>
          <a:bodyPr wrap="square">
            <a:spAutoFit/>
          </a:bodyPr>
          <a:lstStyle/>
          <a:p>
            <a:r>
              <a:rPr lang="en-US" altLang="zh-CN" dirty="0"/>
              <a:t>1.5.1 </a:t>
            </a:r>
          </a:p>
          <a:p>
            <a:r>
              <a:rPr lang="zh-CN" altLang="zh-CN" dirty="0"/>
              <a:t>计算机网络的定义</a:t>
            </a:r>
            <a:endParaRPr lang="en-US" altLang="zh-CN" dirty="0"/>
          </a:p>
        </p:txBody>
      </p:sp>
      <p:sp>
        <p:nvSpPr>
          <p:cNvPr id="7" name="文本框 6">
            <a:extLst>
              <a:ext uri="{FF2B5EF4-FFF2-40B4-BE49-F238E27FC236}">
                <a16:creationId xmlns:a16="http://schemas.microsoft.com/office/drawing/2014/main" id="{A7658569-E310-447D-455A-5C54A23A386C}"/>
              </a:ext>
            </a:extLst>
          </p:cNvPr>
          <p:cNvSpPr txBox="1"/>
          <p:nvPr/>
        </p:nvSpPr>
        <p:spPr>
          <a:xfrm>
            <a:off x="4291013" y="2571750"/>
            <a:ext cx="3390900" cy="646331"/>
          </a:xfrm>
          <a:prstGeom prst="rect">
            <a:avLst/>
          </a:prstGeom>
          <a:noFill/>
        </p:spPr>
        <p:txBody>
          <a:bodyPr wrap="square">
            <a:spAutoFit/>
          </a:bodyPr>
          <a:lstStyle/>
          <a:p>
            <a:r>
              <a:rPr lang="en-US" altLang="zh-CN" dirty="0"/>
              <a:t>1.5.2 </a:t>
            </a:r>
          </a:p>
          <a:p>
            <a:r>
              <a:rPr lang="zh-CN" altLang="zh-CN" dirty="0"/>
              <a:t>几种不同类别的</a:t>
            </a:r>
            <a:r>
              <a:rPr lang="zh-CN" altLang="en-US" dirty="0"/>
              <a:t>计算机</a:t>
            </a:r>
            <a:r>
              <a:rPr lang="zh-CN" altLang="zh-CN" dirty="0"/>
              <a:t>网络</a:t>
            </a: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DAACFB25-23F2-2FE4-29FE-4CEFB0DF35A4}"/>
              </a:ext>
            </a:extLst>
          </p:cNvPr>
          <p:cNvSpPr>
            <a:spLocks noGrp="1"/>
          </p:cNvSpPr>
          <p:nvPr>
            <p:ph type="title"/>
          </p:nvPr>
        </p:nvSpPr>
        <p:spPr>
          <a:xfrm>
            <a:off x="612000" y="144000"/>
            <a:ext cx="7920000" cy="341632"/>
          </a:xfrm>
        </p:spPr>
        <p:txBody>
          <a:bodyPr/>
          <a:lstStyle/>
          <a:p>
            <a:r>
              <a:rPr lang="en-US" altLang="zh-CN" dirty="0"/>
              <a:t>1.5.1  </a:t>
            </a:r>
            <a:r>
              <a:rPr lang="zh-CN" altLang="en-US" dirty="0"/>
              <a:t>计算机网络的定义</a:t>
            </a:r>
          </a:p>
        </p:txBody>
      </p:sp>
      <p:sp>
        <p:nvSpPr>
          <p:cNvPr id="3" name="内容占位符 2"/>
          <p:cNvSpPr>
            <a:spLocks noGrp="1"/>
          </p:cNvSpPr>
          <p:nvPr>
            <p:ph sz="quarter" idx="10"/>
          </p:nvPr>
        </p:nvSpPr>
        <p:spPr>
          <a:xfrm>
            <a:off x="612000" y="899999"/>
            <a:ext cx="7920000" cy="3780000"/>
          </a:xfrm>
        </p:spPr>
        <p:txBody>
          <a:bodyPr/>
          <a:lstStyle/>
          <a:p>
            <a:r>
              <a:rPr lang="zh-CN" altLang="en-US" dirty="0"/>
              <a:t>计算机网络的精确定义并未统一</a:t>
            </a:r>
            <a:endParaRPr lang="en-US" altLang="zh-CN" dirty="0"/>
          </a:p>
          <a:p>
            <a:r>
              <a:rPr lang="zh-CN" altLang="en-US" dirty="0"/>
              <a:t>较好的定义</a:t>
            </a:r>
          </a:p>
        </p:txBody>
      </p:sp>
      <p:sp>
        <p:nvSpPr>
          <p:cNvPr id="4" name="矩形 3"/>
          <p:cNvSpPr/>
          <p:nvPr/>
        </p:nvSpPr>
        <p:spPr>
          <a:xfrm>
            <a:off x="2232000" y="1926007"/>
            <a:ext cx="4680000" cy="1400383"/>
          </a:xfrm>
          <a:prstGeom prst="rect">
            <a:avLst/>
          </a:prstGeom>
          <a:solidFill>
            <a:srgbClr val="F2F2F2"/>
          </a:solidFill>
          <a:ln>
            <a:noFill/>
          </a:ln>
        </p:spPr>
        <p:style>
          <a:lnRef idx="1">
            <a:schemeClr val="accent6"/>
          </a:lnRef>
          <a:fillRef idx="2">
            <a:schemeClr val="accent6"/>
          </a:fillRef>
          <a:effectRef idx="1">
            <a:schemeClr val="accent6"/>
          </a:effectRef>
          <a:fontRef idx="minor">
            <a:schemeClr val="dk1"/>
          </a:fontRef>
        </p:style>
        <p:txBody>
          <a:bodyPr wrap="square">
            <a:spAutoFit/>
          </a:bodyPr>
          <a:lstStyle/>
          <a:p>
            <a:pPr>
              <a:spcAft>
                <a:spcPts val="600"/>
              </a:spcAft>
            </a:pPr>
            <a:r>
              <a:rPr lang="zh-CN" altLang="en-US" sz="1600" dirty="0">
                <a:solidFill>
                  <a:schemeClr val="tx1"/>
                </a:solidFill>
              </a:rPr>
              <a:t>计算机网络主要是由一些通用的、可编程的硬件互连而成的，而这些硬件并非专门用来实现某一特定目的（例如，传送数据或视频信号）。</a:t>
            </a:r>
            <a:endParaRPr lang="en-US" altLang="zh-CN" sz="1600" dirty="0">
              <a:solidFill>
                <a:schemeClr val="tx1"/>
              </a:solidFill>
            </a:endParaRPr>
          </a:p>
          <a:p>
            <a:pPr>
              <a:spcAft>
                <a:spcPts val="600"/>
              </a:spcAft>
            </a:pPr>
            <a:r>
              <a:rPr lang="zh-CN" altLang="en-US" sz="1600" dirty="0">
                <a:solidFill>
                  <a:schemeClr val="tx1"/>
                </a:solidFill>
              </a:rPr>
              <a:t>这些可编程的硬件能够用来传送多种不同类型的数据，并能支持广泛的和日益增长的应用。</a:t>
            </a:r>
          </a:p>
        </p:txBody>
      </p:sp>
    </p:spTree>
    <p:extLst>
      <p:ext uri="{BB962C8B-B14F-4D97-AF65-F5344CB8AC3E}">
        <p14:creationId xmlns:p14="http://schemas.microsoft.com/office/powerpoint/2010/main" val="3466747092"/>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A68FA28B-5035-EEDC-FFF1-9B1ED5D61886}"/>
              </a:ext>
            </a:extLst>
          </p:cNvPr>
          <p:cNvSpPr>
            <a:spLocks noGrp="1"/>
          </p:cNvSpPr>
          <p:nvPr>
            <p:ph type="title"/>
          </p:nvPr>
        </p:nvSpPr>
        <p:spPr>
          <a:xfrm>
            <a:off x="612000" y="144000"/>
            <a:ext cx="7920000" cy="341632"/>
          </a:xfrm>
        </p:spPr>
        <p:txBody>
          <a:bodyPr/>
          <a:lstStyle/>
          <a:p>
            <a:r>
              <a:rPr lang="en-US" altLang="zh-CN" dirty="0"/>
              <a:t>1.5.1  </a:t>
            </a:r>
            <a:r>
              <a:rPr lang="zh-CN" altLang="en-US" dirty="0"/>
              <a:t>计算机网络的定义</a:t>
            </a:r>
          </a:p>
        </p:txBody>
      </p:sp>
      <p:sp>
        <p:nvSpPr>
          <p:cNvPr id="4" name="内容占位符 3"/>
          <p:cNvSpPr>
            <a:spLocks noGrp="1"/>
          </p:cNvSpPr>
          <p:nvPr>
            <p:ph sz="quarter" idx="10"/>
          </p:nvPr>
        </p:nvSpPr>
        <p:spPr>
          <a:xfrm>
            <a:off x="612000" y="899999"/>
            <a:ext cx="7920000" cy="3780000"/>
          </a:xfrm>
        </p:spPr>
        <p:txBody>
          <a:bodyPr/>
          <a:lstStyle/>
          <a:p>
            <a:r>
              <a:rPr lang="zh-CN" altLang="en-US" dirty="0"/>
              <a:t>“可编程的硬件”表明：这种硬件一定包含有中央处理器 </a:t>
            </a:r>
            <a:r>
              <a:rPr lang="en-US" altLang="zh-CN" dirty="0"/>
              <a:t>CPU</a:t>
            </a:r>
          </a:p>
          <a:p>
            <a:r>
              <a:rPr lang="zh-CN" altLang="en-US" dirty="0"/>
              <a:t>计算机网络所连接的硬件包括：</a:t>
            </a:r>
            <a:endParaRPr lang="en-US" altLang="zh-CN" dirty="0"/>
          </a:p>
          <a:p>
            <a:pPr lvl="1"/>
            <a:r>
              <a:rPr lang="zh-CN" altLang="en-US" dirty="0"/>
              <a:t>一般的计算机</a:t>
            </a:r>
            <a:endParaRPr lang="en-US" altLang="zh-CN" dirty="0"/>
          </a:p>
          <a:p>
            <a:pPr lvl="1"/>
            <a:r>
              <a:rPr lang="zh-CN" altLang="en-US" dirty="0"/>
              <a:t>智能手机、电视等</a:t>
            </a:r>
          </a:p>
          <a:p>
            <a:r>
              <a:rPr lang="zh-CN" altLang="en-US" dirty="0"/>
              <a:t>计算机网络可以</a:t>
            </a:r>
            <a:endParaRPr lang="en-US" altLang="zh-CN" dirty="0"/>
          </a:p>
          <a:p>
            <a:pPr lvl="1"/>
            <a:r>
              <a:rPr lang="zh-CN" altLang="en-US" dirty="0"/>
              <a:t>传送数据</a:t>
            </a:r>
            <a:endParaRPr lang="en-US" altLang="zh-CN" dirty="0"/>
          </a:p>
          <a:p>
            <a:pPr lvl="1"/>
            <a:r>
              <a:rPr lang="zh-CN" altLang="en-US" dirty="0"/>
              <a:t>支持多种应用（包括今后可能出现的各种应用）</a:t>
            </a:r>
          </a:p>
          <a:p>
            <a:endParaRPr lang="zh-CN" altLang="en-US" dirty="0"/>
          </a:p>
        </p:txBody>
      </p:sp>
    </p:spTree>
    <p:extLst>
      <p:ext uri="{BB962C8B-B14F-4D97-AF65-F5344CB8AC3E}">
        <p14:creationId xmlns:p14="http://schemas.microsoft.com/office/powerpoint/2010/main" val="1018350881"/>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09BD6E07-C9CC-4FF6-1B94-0D6EFAEC54F9}"/>
              </a:ext>
            </a:extLst>
          </p:cNvPr>
          <p:cNvSpPr>
            <a:spLocks noGrp="1"/>
          </p:cNvSpPr>
          <p:nvPr>
            <p:ph type="title"/>
          </p:nvPr>
        </p:nvSpPr>
        <p:spPr>
          <a:xfrm>
            <a:off x="612000" y="144000"/>
            <a:ext cx="7920000" cy="341632"/>
          </a:xfrm>
        </p:spPr>
        <p:txBody>
          <a:bodyPr/>
          <a:lstStyle/>
          <a:p>
            <a:r>
              <a:rPr lang="en-US" altLang="zh-CN" dirty="0"/>
              <a:t>1.5.2  </a:t>
            </a:r>
            <a:r>
              <a:rPr lang="zh-CN" altLang="en-US" dirty="0"/>
              <a:t>几种不同类别的计算机网络</a:t>
            </a:r>
          </a:p>
        </p:txBody>
      </p:sp>
      <p:sp>
        <p:nvSpPr>
          <p:cNvPr id="5" name="内容占位符 4"/>
          <p:cNvSpPr>
            <a:spLocks noGrp="1"/>
          </p:cNvSpPr>
          <p:nvPr>
            <p:ph sz="quarter" idx="10"/>
          </p:nvPr>
        </p:nvSpPr>
        <p:spPr>
          <a:xfrm>
            <a:off x="612000" y="899999"/>
            <a:ext cx="7920000" cy="3780000"/>
          </a:xfrm>
        </p:spPr>
        <p:txBody>
          <a:bodyPr/>
          <a:lstStyle/>
          <a:p>
            <a:r>
              <a:rPr lang="zh-CN" altLang="en-US" dirty="0"/>
              <a:t>计算机网络有多种类别</a:t>
            </a:r>
            <a:endParaRPr lang="en-US" altLang="zh-CN" dirty="0"/>
          </a:p>
          <a:p>
            <a:r>
              <a:rPr lang="zh-CN" altLang="en-US" dirty="0"/>
              <a:t>可以按以下方法分类：</a:t>
            </a:r>
          </a:p>
          <a:p>
            <a:pPr lvl="1"/>
            <a:r>
              <a:rPr lang="zh-CN" altLang="en-US" dirty="0"/>
              <a:t>按照网络的作用范围进行分类</a:t>
            </a:r>
          </a:p>
          <a:p>
            <a:pPr lvl="1"/>
            <a:r>
              <a:rPr lang="zh-CN" altLang="en-US" dirty="0"/>
              <a:t>按照网络的使用者进行分类</a:t>
            </a:r>
          </a:p>
          <a:p>
            <a:pPr lvl="1"/>
            <a:r>
              <a:rPr lang="zh-CN" altLang="en-US" dirty="0"/>
              <a:t>用来把用户接入到互联网的网络</a:t>
            </a:r>
          </a:p>
          <a:p>
            <a:endParaRPr lang="zh-CN" altLang="en-US" dirty="0"/>
          </a:p>
        </p:txBody>
      </p:sp>
    </p:spTree>
    <p:extLst>
      <p:ext uri="{BB962C8B-B14F-4D97-AF65-F5344CB8AC3E}">
        <p14:creationId xmlns:p14="http://schemas.microsoft.com/office/powerpoint/2010/main" val="4056208484"/>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C90BD393-156A-4E74-9ACB-B3F23EF62207}"/>
              </a:ext>
            </a:extLst>
          </p:cNvPr>
          <p:cNvSpPr>
            <a:spLocks noGrp="1"/>
          </p:cNvSpPr>
          <p:nvPr>
            <p:ph type="title"/>
          </p:nvPr>
        </p:nvSpPr>
        <p:spPr>
          <a:xfrm>
            <a:off x="612000" y="144000"/>
            <a:ext cx="7920000" cy="341632"/>
          </a:xfrm>
        </p:spPr>
        <p:txBody>
          <a:bodyPr/>
          <a:lstStyle/>
          <a:p>
            <a:r>
              <a:rPr lang="en-US" altLang="zh-CN" dirty="0"/>
              <a:t>1. </a:t>
            </a:r>
            <a:r>
              <a:rPr lang="zh-CN" altLang="en-US" dirty="0"/>
              <a:t>按照网络的作用范围进行分类</a:t>
            </a:r>
          </a:p>
        </p:txBody>
      </p:sp>
      <p:graphicFrame>
        <p:nvGraphicFramePr>
          <p:cNvPr id="13" name="内容占位符 5"/>
          <p:cNvGraphicFramePr>
            <a:graphicFrameLocks/>
          </p:cNvGraphicFramePr>
          <p:nvPr>
            <p:extLst>
              <p:ext uri="{D42A27DB-BD31-4B8C-83A1-F6EECF244321}">
                <p14:modId xmlns:p14="http://schemas.microsoft.com/office/powerpoint/2010/main" val="188418921"/>
              </p:ext>
            </p:extLst>
          </p:nvPr>
        </p:nvGraphicFramePr>
        <p:xfrm>
          <a:off x="612775" y="1467044"/>
          <a:ext cx="7918450" cy="2834640"/>
        </p:xfrm>
        <a:graphic>
          <a:graphicData uri="http://schemas.openxmlformats.org/drawingml/2006/table">
            <a:tbl>
              <a:tblPr firstRow="1" bandRow="1" bandCol="1">
                <a:tableStyleId>{5940675A-B579-460E-94D1-54222C63F5DA}</a:tableStyleId>
              </a:tblPr>
              <a:tblGrid>
                <a:gridCol w="2842401">
                  <a:extLst>
                    <a:ext uri="{9D8B030D-6E8A-4147-A177-3AD203B41FA5}">
                      <a16:colId xmlns:a16="http://schemas.microsoft.com/office/drawing/2014/main" val="2752561288"/>
                    </a:ext>
                  </a:extLst>
                </a:gridCol>
                <a:gridCol w="5076049">
                  <a:extLst>
                    <a:ext uri="{9D8B030D-6E8A-4147-A177-3AD203B41FA5}">
                      <a16:colId xmlns:a16="http://schemas.microsoft.com/office/drawing/2014/main" val="1271823278"/>
                    </a:ext>
                  </a:extLst>
                </a:gridCol>
              </a:tblGrid>
              <a:tr h="0">
                <a:tc>
                  <a:txBody>
                    <a:bodyPr/>
                    <a:lstStyle/>
                    <a:p>
                      <a:pPr algn="l"/>
                      <a:r>
                        <a:rPr lang="zh-CN" altLang="en-US" sz="1200" dirty="0"/>
                        <a:t>类别</a:t>
                      </a:r>
                    </a:p>
                  </a:txBody>
                  <a:tcPr anchor="ctr">
                    <a:lnL w="12700" cmpd="sng">
                      <a:noFill/>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r>
                        <a:rPr lang="zh-CN" altLang="en-US" sz="1200" dirty="0"/>
                        <a:t>作用范围或距离</a:t>
                      </a:r>
                    </a:p>
                  </a:txBody>
                  <a:tcPr anchor="ctr">
                    <a:lnL w="12700" cmpd="sng">
                      <a:noFill/>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833287312"/>
                  </a:ext>
                </a:extLst>
              </a:tr>
              <a:tr h="249450">
                <a:tc>
                  <a:txBody>
                    <a:bodyPr/>
                    <a:lstStyle/>
                    <a:p>
                      <a:pPr algn="l"/>
                      <a:r>
                        <a:rPr lang="zh-CN" altLang="en-US" sz="1200" dirty="0"/>
                        <a:t>广域网</a:t>
                      </a:r>
                      <a:endParaRPr lang="en-US" altLang="zh-CN" sz="1200" dirty="0"/>
                    </a:p>
                    <a:p>
                      <a:pPr algn="l"/>
                      <a:r>
                        <a:rPr lang="en-US" altLang="zh-CN" sz="1200" dirty="0"/>
                        <a:t>WAN </a:t>
                      </a:r>
                    </a:p>
                    <a:p>
                      <a:pPr algn="l"/>
                      <a:r>
                        <a:rPr lang="en-US" altLang="zh-CN" sz="1200" dirty="0"/>
                        <a:t>Wide Area Network</a:t>
                      </a:r>
                      <a:endParaRPr lang="zh-CN" altLang="en-US" sz="1200" dirty="0"/>
                    </a:p>
                  </a:txBody>
                  <a:tcPr anchor="ctr">
                    <a:lnL w="12700" cmpd="sng">
                      <a:noFill/>
                    </a:lnL>
                    <a:lnR w="12700" cmpd="sng">
                      <a:noFill/>
                    </a:lnR>
                    <a:lnT w="1270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r>
                        <a:rPr lang="zh-CN" altLang="en-US" sz="1200" dirty="0"/>
                        <a:t>通常为几十到几千公里；有时也称为远程网</a:t>
                      </a:r>
                      <a:r>
                        <a:rPr lang="en-US" altLang="zh-CN" sz="1200" dirty="0"/>
                        <a:t>(long haul network)</a:t>
                      </a:r>
                    </a:p>
                    <a:p>
                      <a:pPr algn="l"/>
                      <a:r>
                        <a:rPr lang="zh-CN" altLang="en-US" sz="1200" dirty="0"/>
                        <a:t>是互联网的核心部分</a:t>
                      </a:r>
                    </a:p>
                  </a:txBody>
                  <a:tcPr anchor="ctr">
                    <a:lnL w="12700" cmpd="sng">
                      <a:noFill/>
                    </a:lnL>
                    <a:lnR w="12700" cmpd="sng">
                      <a:noFill/>
                    </a:lnR>
                    <a:lnT w="1270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601952148"/>
                  </a:ext>
                </a:extLst>
              </a:tr>
              <a:tr h="249450">
                <a:tc>
                  <a:txBody>
                    <a:bodyPr/>
                    <a:lstStyle/>
                    <a:p>
                      <a:pPr algn="l"/>
                      <a:r>
                        <a:rPr lang="zh-CN" altLang="en-US" sz="1200" dirty="0"/>
                        <a:t>城域网</a:t>
                      </a:r>
                      <a:endParaRPr lang="en-US" altLang="zh-CN" sz="1200" dirty="0"/>
                    </a:p>
                    <a:p>
                      <a:pPr algn="l"/>
                      <a:r>
                        <a:rPr lang="en-US" altLang="zh-CN" sz="1200" dirty="0"/>
                        <a:t>MAN </a:t>
                      </a:r>
                    </a:p>
                    <a:p>
                      <a:pPr algn="l"/>
                      <a:r>
                        <a:rPr lang="en-US" altLang="zh-CN" sz="1200" dirty="0"/>
                        <a:t>Metropolitan Area Network</a:t>
                      </a:r>
                      <a:endParaRPr lang="zh-CN" altLang="en-US" sz="1200" dirty="0"/>
                    </a:p>
                  </a:txBody>
                  <a:tcPr anchor="ctr">
                    <a:lnL w="12700" cmpd="sng">
                      <a:noFill/>
                    </a:lnL>
                    <a:lnR w="12700" cmpd="sng">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r>
                        <a:rPr lang="zh-CN" altLang="en-US" sz="1200" dirty="0"/>
                        <a:t>作用范围一般是一个城市，作用距离约为 </a:t>
                      </a:r>
                      <a:r>
                        <a:rPr lang="en-US" altLang="zh-CN" sz="1200" dirty="0"/>
                        <a:t>5~50 Km</a:t>
                      </a:r>
                      <a:endParaRPr lang="zh-CN" altLang="en-US" sz="1200" dirty="0"/>
                    </a:p>
                  </a:txBody>
                  <a:tcPr anchor="ctr">
                    <a:lnL w="12700" cmpd="sng">
                      <a:noFill/>
                    </a:lnL>
                    <a:lnR w="12700" cmpd="sng">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30436720"/>
                  </a:ext>
                </a:extLst>
              </a:tr>
              <a:tr h="249450">
                <a:tc>
                  <a:txBody>
                    <a:bodyPr/>
                    <a:lstStyle/>
                    <a:p>
                      <a:pPr marL="0" algn="l" defTabSz="914400" rtl="0" eaLnBrk="1" latinLnBrk="0" hangingPunct="1"/>
                      <a:r>
                        <a:rPr lang="zh-CN" altLang="en-US" sz="1200" dirty="0"/>
                        <a:t>局域网</a:t>
                      </a:r>
                      <a:endParaRPr lang="en-US" altLang="zh-CN" sz="1200" dirty="0"/>
                    </a:p>
                    <a:p>
                      <a:pPr marL="0" algn="l" defTabSz="914400" rtl="0" eaLnBrk="1" latinLnBrk="0" hangingPunct="1"/>
                      <a:r>
                        <a:rPr lang="en-US" altLang="zh-CN" sz="1200" dirty="0"/>
                        <a:t>LAN </a:t>
                      </a:r>
                    </a:p>
                    <a:p>
                      <a:pPr algn="l"/>
                      <a:r>
                        <a:rPr lang="en-US" altLang="zh-CN" sz="1200" dirty="0"/>
                        <a:t>Local Area Network</a:t>
                      </a:r>
                      <a:endParaRPr lang="zh-CN" altLang="en-US" sz="1200" dirty="0"/>
                    </a:p>
                  </a:txBody>
                  <a:tcPr anchor="ctr">
                    <a:lnL w="12700" cmpd="sng">
                      <a:noFill/>
                    </a:lnL>
                    <a:lnR w="12700" cmpd="sng">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r>
                        <a:rPr lang="zh-CN" altLang="en-US" sz="1200" dirty="0"/>
                        <a:t>局限在较小的范围（如 </a:t>
                      </a:r>
                      <a:r>
                        <a:rPr lang="en-US" altLang="zh-CN" sz="1200" dirty="0"/>
                        <a:t>1 Km</a:t>
                      </a:r>
                      <a:r>
                        <a:rPr lang="zh-CN" altLang="en-US" sz="1200" dirty="0"/>
                        <a:t>左右）</a:t>
                      </a:r>
                      <a:endParaRPr lang="en-US" altLang="zh-CN" sz="1200" dirty="0"/>
                    </a:p>
                    <a:p>
                      <a:pPr algn="l"/>
                      <a:r>
                        <a:rPr lang="zh-CN" altLang="en-US" sz="1200" dirty="0"/>
                        <a:t>通常采用高速通信线路</a:t>
                      </a:r>
                    </a:p>
                  </a:txBody>
                  <a:tcPr anchor="ctr">
                    <a:lnL w="12700" cmpd="sng">
                      <a:noFill/>
                    </a:lnL>
                    <a:lnR w="12700" cmpd="sng">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412654821"/>
                  </a:ext>
                </a:extLst>
              </a:tr>
              <a:tr h="249450">
                <a:tc>
                  <a:txBody>
                    <a:bodyPr/>
                    <a:lstStyle/>
                    <a:p>
                      <a:pPr algn="l"/>
                      <a:r>
                        <a:rPr lang="zh-CN" altLang="en-US" sz="1200" dirty="0"/>
                        <a:t>个域网</a:t>
                      </a:r>
                      <a:endParaRPr lang="en-US" altLang="zh-CN" sz="1200" dirty="0"/>
                    </a:p>
                    <a:p>
                      <a:pPr algn="l"/>
                      <a:r>
                        <a:rPr lang="en-US" altLang="zh-CN" sz="1200" dirty="0"/>
                        <a:t>PAN </a:t>
                      </a:r>
                    </a:p>
                    <a:p>
                      <a:pPr algn="l"/>
                      <a:r>
                        <a:rPr lang="en-US" altLang="zh-CN" sz="1200" dirty="0"/>
                        <a:t>Personal Area Network</a:t>
                      </a:r>
                      <a:endParaRPr lang="zh-CN" altLang="en-US" sz="1200" dirty="0"/>
                    </a:p>
                  </a:txBody>
                  <a:tcPr anchor="ctr">
                    <a:lnL w="12700" cmpd="sng">
                      <a:noFill/>
                    </a:lnL>
                    <a:lnR w="12700" cmpd="sng">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r>
                        <a:rPr lang="zh-CN" altLang="en-US" sz="1200" dirty="0"/>
                        <a:t>范围很小，大约在 </a:t>
                      </a:r>
                      <a:r>
                        <a:rPr lang="en-US" altLang="zh-CN" sz="1200" dirty="0"/>
                        <a:t>10 m</a:t>
                      </a:r>
                      <a:r>
                        <a:rPr lang="zh-CN" altLang="en-US" sz="1200" dirty="0"/>
                        <a:t>左右</a:t>
                      </a:r>
                      <a:endParaRPr lang="en-US" altLang="zh-CN" sz="1200" dirty="0"/>
                    </a:p>
                    <a:p>
                      <a:pPr algn="l"/>
                      <a:r>
                        <a:rPr lang="zh-CN" altLang="en-US" sz="1200" dirty="0"/>
                        <a:t>有时也称为无线个人区域网 </a:t>
                      </a:r>
                      <a:r>
                        <a:rPr lang="en-US" altLang="zh-CN" sz="1200" dirty="0"/>
                        <a:t>WPAN (Wireless PAN)</a:t>
                      </a:r>
                      <a:endParaRPr lang="zh-CN" altLang="en-US" sz="1200" dirty="0"/>
                    </a:p>
                  </a:txBody>
                  <a:tcPr anchor="ctr">
                    <a:lnL w="12700" cmpd="sng">
                      <a:noFill/>
                    </a:lnL>
                    <a:lnR w="12700" cmpd="sng">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39985109"/>
                  </a:ext>
                </a:extLst>
              </a:tr>
            </a:tbl>
          </a:graphicData>
        </a:graphic>
      </p:graphicFrame>
    </p:spTree>
    <p:extLst>
      <p:ext uri="{BB962C8B-B14F-4D97-AF65-F5344CB8AC3E}">
        <p14:creationId xmlns:p14="http://schemas.microsoft.com/office/powerpoint/2010/main" val="958527162"/>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标题 6">
            <a:extLst>
              <a:ext uri="{FF2B5EF4-FFF2-40B4-BE49-F238E27FC236}">
                <a16:creationId xmlns:a16="http://schemas.microsoft.com/office/drawing/2014/main" id="{6D3589B3-FFD5-D2DC-9108-AC83900D9C1E}"/>
              </a:ext>
            </a:extLst>
          </p:cNvPr>
          <p:cNvSpPr>
            <a:spLocks noGrp="1"/>
          </p:cNvSpPr>
          <p:nvPr>
            <p:ph type="title"/>
          </p:nvPr>
        </p:nvSpPr>
        <p:spPr>
          <a:xfrm>
            <a:off x="612000" y="144000"/>
            <a:ext cx="7920000" cy="341632"/>
          </a:xfrm>
        </p:spPr>
        <p:txBody>
          <a:bodyPr/>
          <a:lstStyle/>
          <a:p>
            <a:r>
              <a:rPr lang="en-US" altLang="zh-CN" dirty="0"/>
              <a:t>2. </a:t>
            </a:r>
            <a:r>
              <a:rPr lang="zh-CN" altLang="en-US" dirty="0"/>
              <a:t>按照网络的使用者进行分类</a:t>
            </a:r>
          </a:p>
        </p:txBody>
      </p:sp>
      <p:graphicFrame>
        <p:nvGraphicFramePr>
          <p:cNvPr id="11" name="内容占位符 5">
            <a:extLst>
              <a:ext uri="{FF2B5EF4-FFF2-40B4-BE49-F238E27FC236}">
                <a16:creationId xmlns:a16="http://schemas.microsoft.com/office/drawing/2014/main" id="{EF760E7E-0621-D44E-BC5F-08ABC3F98135}"/>
              </a:ext>
            </a:extLst>
          </p:cNvPr>
          <p:cNvGraphicFramePr>
            <a:graphicFrameLocks/>
          </p:cNvGraphicFramePr>
          <p:nvPr>
            <p:extLst>
              <p:ext uri="{D42A27DB-BD31-4B8C-83A1-F6EECF244321}">
                <p14:modId xmlns:p14="http://schemas.microsoft.com/office/powerpoint/2010/main" val="3142837621"/>
              </p:ext>
            </p:extLst>
          </p:nvPr>
        </p:nvGraphicFramePr>
        <p:xfrm>
          <a:off x="612775" y="1467044"/>
          <a:ext cx="7918450" cy="1188720"/>
        </p:xfrm>
        <a:graphic>
          <a:graphicData uri="http://schemas.openxmlformats.org/drawingml/2006/table">
            <a:tbl>
              <a:tblPr firstRow="1" bandRow="1" bandCol="1">
                <a:tableStyleId>{5940675A-B579-460E-94D1-54222C63F5DA}</a:tableStyleId>
              </a:tblPr>
              <a:tblGrid>
                <a:gridCol w="2842401">
                  <a:extLst>
                    <a:ext uri="{9D8B030D-6E8A-4147-A177-3AD203B41FA5}">
                      <a16:colId xmlns:a16="http://schemas.microsoft.com/office/drawing/2014/main" val="2752561288"/>
                    </a:ext>
                  </a:extLst>
                </a:gridCol>
                <a:gridCol w="5076049">
                  <a:extLst>
                    <a:ext uri="{9D8B030D-6E8A-4147-A177-3AD203B41FA5}">
                      <a16:colId xmlns:a16="http://schemas.microsoft.com/office/drawing/2014/main" val="1271823278"/>
                    </a:ext>
                  </a:extLst>
                </a:gridCol>
              </a:tblGrid>
              <a:tr h="0">
                <a:tc>
                  <a:txBody>
                    <a:bodyPr/>
                    <a:lstStyle/>
                    <a:p>
                      <a:pPr algn="l"/>
                      <a:r>
                        <a:rPr lang="zh-CN" altLang="en-US" sz="1200" dirty="0"/>
                        <a:t>类别</a:t>
                      </a:r>
                    </a:p>
                  </a:txBody>
                  <a:tcPr anchor="ctr">
                    <a:lnL w="12700" cmpd="sng">
                      <a:noFill/>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r>
                        <a:rPr lang="zh-CN" altLang="en-US" sz="1200" dirty="0"/>
                        <a:t>作用范围或距离</a:t>
                      </a:r>
                    </a:p>
                  </a:txBody>
                  <a:tcPr anchor="ctr">
                    <a:lnL w="12700" cmpd="sng">
                      <a:noFill/>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833287312"/>
                  </a:ext>
                </a:extLst>
              </a:tr>
              <a:tr h="164997">
                <a:tc>
                  <a:txBody>
                    <a:bodyPr/>
                    <a:lstStyle/>
                    <a:p>
                      <a:pPr algn="l"/>
                      <a:r>
                        <a:rPr lang="zh-CN" altLang="en-US" sz="1200" dirty="0"/>
                        <a:t>公用网 </a:t>
                      </a:r>
                      <a:endParaRPr lang="en-US" altLang="zh-CN" sz="1200" dirty="0"/>
                    </a:p>
                    <a:p>
                      <a:pPr algn="l"/>
                      <a:r>
                        <a:rPr lang="en-US" altLang="zh-CN" sz="1200" dirty="0"/>
                        <a:t>Public Network</a:t>
                      </a:r>
                    </a:p>
                  </a:txBody>
                  <a:tcPr anchor="ctr">
                    <a:lnL w="12700" cmpd="sng">
                      <a:noFill/>
                    </a:lnL>
                    <a:lnR w="12700" cmpd="sng">
                      <a:noFill/>
                    </a:lnR>
                    <a:lnT w="1270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r>
                        <a:rPr lang="zh-CN" altLang="en-US" sz="1200" dirty="0"/>
                        <a:t>按规定交纳费用的人都可以使用的网络</a:t>
                      </a:r>
                      <a:endParaRPr lang="en-US" altLang="zh-CN" sz="1200" dirty="0"/>
                    </a:p>
                    <a:p>
                      <a:pPr algn="l"/>
                      <a:r>
                        <a:rPr lang="zh-CN" altLang="en-US" sz="1200" dirty="0"/>
                        <a:t>也可称为公众网</a:t>
                      </a:r>
                    </a:p>
                  </a:txBody>
                  <a:tcPr anchor="ctr">
                    <a:lnL w="12700" cmpd="sng">
                      <a:noFill/>
                    </a:lnL>
                    <a:lnR w="12700" cmpd="sng">
                      <a:noFill/>
                    </a:lnR>
                    <a:lnT w="1270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601952148"/>
                  </a:ext>
                </a:extLst>
              </a:tr>
              <a:tr h="164997">
                <a:tc>
                  <a:txBody>
                    <a:bodyPr/>
                    <a:lstStyle/>
                    <a:p>
                      <a:pPr algn="l"/>
                      <a:r>
                        <a:rPr lang="zh-CN" altLang="en-US" sz="1200" dirty="0"/>
                        <a:t>专用网 </a:t>
                      </a:r>
                      <a:endParaRPr lang="en-US" altLang="zh-CN" sz="1200" dirty="0"/>
                    </a:p>
                    <a:p>
                      <a:pPr algn="l"/>
                      <a:r>
                        <a:rPr lang="en-US" altLang="zh-CN" sz="1200" dirty="0"/>
                        <a:t>Private Network</a:t>
                      </a:r>
                      <a:endParaRPr lang="zh-CN" altLang="en-US" sz="1200" dirty="0"/>
                    </a:p>
                  </a:txBody>
                  <a:tcPr anchor="ctr">
                    <a:lnL w="12700" cmpd="sng">
                      <a:noFill/>
                    </a:lnL>
                    <a:lnR w="12700" cmpd="sng">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r>
                        <a:rPr lang="zh-CN" altLang="en-US" sz="1200" dirty="0"/>
                        <a:t>为特殊业务工作的需要而建造的网络</a:t>
                      </a:r>
                      <a:endParaRPr lang="en-US" altLang="zh-CN" sz="1200" dirty="0"/>
                    </a:p>
                    <a:p>
                      <a:pPr algn="l"/>
                      <a:r>
                        <a:rPr lang="zh-CN" altLang="en-US" sz="1200" dirty="0"/>
                        <a:t>银行、军队等特殊职能部门</a:t>
                      </a:r>
                    </a:p>
                  </a:txBody>
                  <a:tcPr anchor="ctr">
                    <a:lnL w="12700" cmpd="sng">
                      <a:noFill/>
                    </a:lnL>
                    <a:lnR w="12700" cmpd="sng">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30436720"/>
                  </a:ext>
                </a:extLst>
              </a:tr>
            </a:tbl>
          </a:graphicData>
        </a:graphic>
      </p:graphicFrame>
    </p:spTree>
    <p:extLst>
      <p:ext uri="{BB962C8B-B14F-4D97-AF65-F5344CB8AC3E}">
        <p14:creationId xmlns:p14="http://schemas.microsoft.com/office/powerpoint/2010/main" val="978382761"/>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74" name="组合 73"/>
          <p:cNvGrpSpPr/>
          <p:nvPr/>
        </p:nvGrpSpPr>
        <p:grpSpPr>
          <a:xfrm>
            <a:off x="5984006" y="1684603"/>
            <a:ext cx="2610599" cy="2905642"/>
            <a:chOff x="6144716" y="1121534"/>
            <a:chExt cx="2610599" cy="2905642"/>
          </a:xfrm>
        </p:grpSpPr>
        <p:grpSp>
          <p:nvGrpSpPr>
            <p:cNvPr id="73" name="组合 72"/>
            <p:cNvGrpSpPr/>
            <p:nvPr/>
          </p:nvGrpSpPr>
          <p:grpSpPr>
            <a:xfrm>
              <a:off x="6144716" y="1121534"/>
              <a:ext cx="2610599" cy="1222104"/>
              <a:chOff x="6144716" y="1121534"/>
              <a:chExt cx="2610599" cy="1222104"/>
            </a:xfrm>
          </p:grpSpPr>
          <p:grpSp>
            <p:nvGrpSpPr>
              <p:cNvPr id="23" name="组合 22"/>
              <p:cNvGrpSpPr/>
              <p:nvPr/>
            </p:nvGrpSpPr>
            <p:grpSpPr>
              <a:xfrm rot="542862">
                <a:off x="6144716" y="1121534"/>
                <a:ext cx="2610599" cy="1222104"/>
                <a:chOff x="3291761" y="1881768"/>
                <a:chExt cx="2359495" cy="1384214"/>
              </a:xfrm>
            </p:grpSpPr>
            <p:sp>
              <p:nvSpPr>
                <p:cNvPr id="56" name="Oval 8"/>
                <p:cNvSpPr>
                  <a:spLocks noChangeArrowheads="1"/>
                </p:cNvSpPr>
                <p:nvPr/>
              </p:nvSpPr>
              <p:spPr bwMode="auto">
                <a:xfrm rot="19925028">
                  <a:off x="4232468" y="2618460"/>
                  <a:ext cx="1254312" cy="556788"/>
                </a:xfrm>
                <a:prstGeom prst="ellipse">
                  <a:avLst/>
                </a:prstGeom>
                <a:solidFill>
                  <a:schemeClr val="bg1"/>
                </a:solidFill>
                <a:ln w="19050">
                  <a:solidFill>
                    <a:srgbClr val="0070C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57" name="Oval 4"/>
                <p:cNvSpPr>
                  <a:spLocks noChangeArrowheads="1"/>
                </p:cNvSpPr>
                <p:nvPr/>
              </p:nvSpPr>
              <p:spPr bwMode="auto">
                <a:xfrm rot="19925028">
                  <a:off x="3498803" y="1982820"/>
                  <a:ext cx="1062001" cy="499257"/>
                </a:xfrm>
                <a:prstGeom prst="ellipse">
                  <a:avLst/>
                </a:prstGeom>
                <a:solidFill>
                  <a:schemeClr val="bg1"/>
                </a:solidFill>
                <a:ln w="19050">
                  <a:solidFill>
                    <a:srgbClr val="0070C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58" name="Oval 5"/>
                <p:cNvSpPr>
                  <a:spLocks noChangeArrowheads="1"/>
                </p:cNvSpPr>
                <p:nvPr/>
              </p:nvSpPr>
              <p:spPr bwMode="auto">
                <a:xfrm rot="20825028">
                  <a:off x="4210122" y="1881768"/>
                  <a:ext cx="927560" cy="463739"/>
                </a:xfrm>
                <a:prstGeom prst="ellipse">
                  <a:avLst/>
                </a:prstGeom>
                <a:solidFill>
                  <a:schemeClr val="bg1"/>
                </a:solidFill>
                <a:ln w="19050">
                  <a:solidFill>
                    <a:srgbClr val="0070C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59" name="Oval 6"/>
                <p:cNvSpPr>
                  <a:spLocks noChangeArrowheads="1"/>
                </p:cNvSpPr>
                <p:nvPr/>
              </p:nvSpPr>
              <p:spPr bwMode="auto">
                <a:xfrm rot="21425028">
                  <a:off x="4888010" y="2050856"/>
                  <a:ext cx="685001" cy="599809"/>
                </a:xfrm>
                <a:prstGeom prst="ellipse">
                  <a:avLst/>
                </a:prstGeom>
                <a:solidFill>
                  <a:schemeClr val="bg1"/>
                </a:solidFill>
                <a:ln w="19050">
                  <a:solidFill>
                    <a:srgbClr val="0070C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60" name="Oval 7"/>
                <p:cNvSpPr>
                  <a:spLocks noChangeArrowheads="1"/>
                </p:cNvSpPr>
                <p:nvPr/>
              </p:nvSpPr>
              <p:spPr bwMode="auto">
                <a:xfrm rot="18365028">
                  <a:off x="5084601" y="2303123"/>
                  <a:ext cx="495255" cy="638054"/>
                </a:xfrm>
                <a:prstGeom prst="ellipse">
                  <a:avLst/>
                </a:prstGeom>
                <a:solidFill>
                  <a:schemeClr val="bg1"/>
                </a:solidFill>
                <a:ln w="19050">
                  <a:solidFill>
                    <a:srgbClr val="0070C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61" name="Oval 9"/>
                <p:cNvSpPr>
                  <a:spLocks noChangeArrowheads="1"/>
                </p:cNvSpPr>
                <p:nvPr/>
              </p:nvSpPr>
              <p:spPr bwMode="auto">
                <a:xfrm rot="21005028">
                  <a:off x="3781908" y="2880783"/>
                  <a:ext cx="830109" cy="385199"/>
                </a:xfrm>
                <a:prstGeom prst="ellipse">
                  <a:avLst/>
                </a:prstGeom>
                <a:solidFill>
                  <a:schemeClr val="bg1"/>
                </a:solidFill>
                <a:ln w="19050">
                  <a:solidFill>
                    <a:srgbClr val="0070C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62" name="Oval 10"/>
                <p:cNvSpPr>
                  <a:spLocks noChangeArrowheads="1"/>
                </p:cNvSpPr>
                <p:nvPr/>
              </p:nvSpPr>
              <p:spPr bwMode="auto">
                <a:xfrm rot="19925028">
                  <a:off x="3463237" y="2713197"/>
                  <a:ext cx="525666" cy="455235"/>
                </a:xfrm>
                <a:prstGeom prst="ellipse">
                  <a:avLst/>
                </a:prstGeom>
                <a:solidFill>
                  <a:schemeClr val="bg1"/>
                </a:solidFill>
                <a:ln w="19050">
                  <a:solidFill>
                    <a:srgbClr val="0070C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63" name="Oval 11"/>
                <p:cNvSpPr>
                  <a:spLocks noChangeArrowheads="1"/>
                </p:cNvSpPr>
                <p:nvPr/>
              </p:nvSpPr>
              <p:spPr bwMode="auto">
                <a:xfrm rot="18065028">
                  <a:off x="3319014" y="2284496"/>
                  <a:ext cx="571297" cy="625804"/>
                </a:xfrm>
                <a:prstGeom prst="ellipse">
                  <a:avLst/>
                </a:prstGeom>
                <a:solidFill>
                  <a:schemeClr val="bg1"/>
                </a:solidFill>
                <a:ln w="19050">
                  <a:solidFill>
                    <a:srgbClr val="0070C0"/>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64" name="Freeform 12"/>
                <p:cNvSpPr/>
                <p:nvPr/>
              </p:nvSpPr>
              <p:spPr bwMode="auto">
                <a:xfrm>
                  <a:off x="3512318" y="1968814"/>
                  <a:ext cx="2020147" cy="1214126"/>
                </a:xfrm>
                <a:custGeom>
                  <a:avLst/>
                  <a:gdLst>
                    <a:gd name="T0" fmla="*/ 1464503 w 1931"/>
                    <a:gd name="T1" fmla="*/ 601724 h 1684"/>
                    <a:gd name="T2" fmla="*/ 1598559 w 1931"/>
                    <a:gd name="T3" fmla="*/ 384371 h 1684"/>
                    <a:gd name="T4" fmla="*/ 1757909 w 1931"/>
                    <a:gd name="T5" fmla="*/ 288278 h 1684"/>
                    <a:gd name="T6" fmla="*/ 2316899 w 1931"/>
                    <a:gd name="T7" fmla="*/ 263111 h 1684"/>
                    <a:gd name="T8" fmla="*/ 2769655 w 1931"/>
                    <a:gd name="T9" fmla="*/ 118972 h 1684"/>
                    <a:gd name="T10" fmla="*/ 2929005 w 1931"/>
                    <a:gd name="T11" fmla="*/ 48046 h 1684"/>
                    <a:gd name="T12" fmla="*/ 3088355 w 1931"/>
                    <a:gd name="T13" fmla="*/ 0 h 1684"/>
                    <a:gd name="T14" fmla="*/ 3381762 w 1931"/>
                    <a:gd name="T15" fmla="*/ 96093 h 1684"/>
                    <a:gd name="T16" fmla="*/ 3541112 w 1931"/>
                    <a:gd name="T17" fmla="*/ 192186 h 1684"/>
                    <a:gd name="T18" fmla="*/ 3622052 w 1931"/>
                    <a:gd name="T19" fmla="*/ 240232 h 1684"/>
                    <a:gd name="T20" fmla="*/ 3806695 w 1931"/>
                    <a:gd name="T21" fmla="*/ 361492 h 1684"/>
                    <a:gd name="T22" fmla="*/ 3859812 w 1931"/>
                    <a:gd name="T23" fmla="*/ 432418 h 1684"/>
                    <a:gd name="T24" fmla="*/ 3940752 w 1931"/>
                    <a:gd name="T25" fmla="*/ 480464 h 1684"/>
                    <a:gd name="T26" fmla="*/ 4181041 w 1931"/>
                    <a:gd name="T27" fmla="*/ 672650 h 1684"/>
                    <a:gd name="T28" fmla="*/ 4393508 w 1931"/>
                    <a:gd name="T29" fmla="*/ 841956 h 1684"/>
                    <a:gd name="T30" fmla="*/ 4552858 w 1931"/>
                    <a:gd name="T31" fmla="*/ 890003 h 1684"/>
                    <a:gd name="T32" fmla="*/ 4633798 w 1931"/>
                    <a:gd name="T33" fmla="*/ 938049 h 1684"/>
                    <a:gd name="T34" fmla="*/ 4846265 w 1931"/>
                    <a:gd name="T35" fmla="*/ 1347588 h 1684"/>
                    <a:gd name="T36" fmla="*/ 4659091 w 1931"/>
                    <a:gd name="T37" fmla="*/ 2480110 h 1684"/>
                    <a:gd name="T38" fmla="*/ 4474448 w 1931"/>
                    <a:gd name="T39" fmla="*/ 2672296 h 1684"/>
                    <a:gd name="T40" fmla="*/ 4181041 w 1931"/>
                    <a:gd name="T41" fmla="*/ 2937695 h 1684"/>
                    <a:gd name="T42" fmla="*/ 4021691 w 1931"/>
                    <a:gd name="T43" fmla="*/ 3081834 h 1684"/>
                    <a:gd name="T44" fmla="*/ 3940752 w 1931"/>
                    <a:gd name="T45" fmla="*/ 3129881 h 1684"/>
                    <a:gd name="T46" fmla="*/ 3728285 w 1931"/>
                    <a:gd name="T47" fmla="*/ 3274020 h 1684"/>
                    <a:gd name="T48" fmla="*/ 3568935 w 1931"/>
                    <a:gd name="T49" fmla="*/ 3324354 h 1684"/>
                    <a:gd name="T50" fmla="*/ 3169295 w 1931"/>
                    <a:gd name="T51" fmla="*/ 3612633 h 1684"/>
                    <a:gd name="T52" fmla="*/ 3009945 w 1931"/>
                    <a:gd name="T53" fmla="*/ 3708726 h 1684"/>
                    <a:gd name="T54" fmla="*/ 2529366 w 1931"/>
                    <a:gd name="T55" fmla="*/ 3852865 h 1684"/>
                    <a:gd name="T56" fmla="*/ 1092686 w 1931"/>
                    <a:gd name="T57" fmla="*/ 3781939 h 1684"/>
                    <a:gd name="T58" fmla="*/ 852396 w 1931"/>
                    <a:gd name="T59" fmla="*/ 3708726 h 1684"/>
                    <a:gd name="T60" fmla="*/ 612106 w 1931"/>
                    <a:gd name="T61" fmla="*/ 3564587 h 1684"/>
                    <a:gd name="T62" fmla="*/ 424933 w 1931"/>
                    <a:gd name="T63" fmla="*/ 3347234 h 1684"/>
                    <a:gd name="T64" fmla="*/ 318700 w 1931"/>
                    <a:gd name="T65" fmla="*/ 3203094 h 1684"/>
                    <a:gd name="T66" fmla="*/ 265583 w 1931"/>
                    <a:gd name="T67" fmla="*/ 3129881 h 1684"/>
                    <a:gd name="T68" fmla="*/ 53117 w 1931"/>
                    <a:gd name="T69" fmla="*/ 2841602 h 1684"/>
                    <a:gd name="T70" fmla="*/ 80940 w 1931"/>
                    <a:gd name="T71" fmla="*/ 2358850 h 1684"/>
                    <a:gd name="T72" fmla="*/ 106233 w 1931"/>
                    <a:gd name="T73" fmla="*/ 1878386 h 1684"/>
                    <a:gd name="T74" fmla="*/ 212467 w 1931"/>
                    <a:gd name="T75" fmla="*/ 1443680 h 1684"/>
                    <a:gd name="T76" fmla="*/ 505873 w 1931"/>
                    <a:gd name="T77" fmla="*/ 771031 h 1684"/>
                    <a:gd name="T78" fmla="*/ 612106 w 1931"/>
                    <a:gd name="T79" fmla="*/ 601724 h 1684"/>
                    <a:gd name="T80" fmla="*/ 771457 w 1931"/>
                    <a:gd name="T81" fmla="*/ 576557 h 1684"/>
                    <a:gd name="T82" fmla="*/ 824573 w 1931"/>
                    <a:gd name="T83" fmla="*/ 432418 h 1684"/>
                    <a:gd name="T84" fmla="*/ 1011746 w 1931"/>
                    <a:gd name="T85" fmla="*/ 336325 h 1684"/>
                    <a:gd name="T86" fmla="*/ 1092686 w 1931"/>
                    <a:gd name="T87" fmla="*/ 384371 h 1684"/>
                    <a:gd name="T88" fmla="*/ 1145803 w 1931"/>
                    <a:gd name="T89" fmla="*/ 457585 h 1684"/>
                    <a:gd name="T90" fmla="*/ 1358269 w 1931"/>
                    <a:gd name="T91" fmla="*/ 480464 h 1684"/>
                    <a:gd name="T92" fmla="*/ 1411386 w 1931"/>
                    <a:gd name="T93" fmla="*/ 553678 h 1684"/>
                    <a:gd name="T94" fmla="*/ 1464503 w 1931"/>
                    <a:gd name="T95" fmla="*/ 601724 h 1684"/>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0" t="0" r="r" b="b"/>
                  <a:pathLst>
                    <a:path w="1931" h="1684">
                      <a:moveTo>
                        <a:pt x="579" y="263"/>
                      </a:moveTo>
                      <a:cubicBezTo>
                        <a:pt x="590" y="230"/>
                        <a:pt x="602" y="188"/>
                        <a:pt x="632" y="168"/>
                      </a:cubicBezTo>
                      <a:cubicBezTo>
                        <a:pt x="653" y="154"/>
                        <a:pt x="695" y="126"/>
                        <a:pt x="695" y="126"/>
                      </a:cubicBezTo>
                      <a:cubicBezTo>
                        <a:pt x="755" y="218"/>
                        <a:pt x="842" y="134"/>
                        <a:pt x="916" y="115"/>
                      </a:cubicBezTo>
                      <a:cubicBezTo>
                        <a:pt x="974" y="76"/>
                        <a:pt x="1024" y="61"/>
                        <a:pt x="1095" y="52"/>
                      </a:cubicBezTo>
                      <a:cubicBezTo>
                        <a:pt x="1201" y="18"/>
                        <a:pt x="1043" y="72"/>
                        <a:pt x="1158" y="21"/>
                      </a:cubicBezTo>
                      <a:cubicBezTo>
                        <a:pt x="1178" y="12"/>
                        <a:pt x="1221" y="0"/>
                        <a:pt x="1221" y="0"/>
                      </a:cubicBezTo>
                      <a:cubicBezTo>
                        <a:pt x="1260" y="14"/>
                        <a:pt x="1298" y="28"/>
                        <a:pt x="1337" y="42"/>
                      </a:cubicBezTo>
                      <a:cubicBezTo>
                        <a:pt x="1361" y="51"/>
                        <a:pt x="1379" y="70"/>
                        <a:pt x="1400" y="84"/>
                      </a:cubicBezTo>
                      <a:cubicBezTo>
                        <a:pt x="1411" y="91"/>
                        <a:pt x="1432" y="105"/>
                        <a:pt x="1432" y="105"/>
                      </a:cubicBezTo>
                      <a:cubicBezTo>
                        <a:pt x="1513" y="215"/>
                        <a:pt x="1412" y="96"/>
                        <a:pt x="1505" y="158"/>
                      </a:cubicBezTo>
                      <a:cubicBezTo>
                        <a:pt x="1515" y="165"/>
                        <a:pt x="1517" y="180"/>
                        <a:pt x="1526" y="189"/>
                      </a:cubicBezTo>
                      <a:cubicBezTo>
                        <a:pt x="1535" y="198"/>
                        <a:pt x="1547" y="203"/>
                        <a:pt x="1558" y="210"/>
                      </a:cubicBezTo>
                      <a:cubicBezTo>
                        <a:pt x="1591" y="261"/>
                        <a:pt x="1608" y="260"/>
                        <a:pt x="1653" y="294"/>
                      </a:cubicBezTo>
                      <a:cubicBezTo>
                        <a:pt x="1683" y="316"/>
                        <a:pt x="1706" y="348"/>
                        <a:pt x="1737" y="368"/>
                      </a:cubicBezTo>
                      <a:cubicBezTo>
                        <a:pt x="1756" y="380"/>
                        <a:pt x="1780" y="380"/>
                        <a:pt x="1800" y="389"/>
                      </a:cubicBezTo>
                      <a:cubicBezTo>
                        <a:pt x="1812" y="394"/>
                        <a:pt x="1821" y="403"/>
                        <a:pt x="1832" y="410"/>
                      </a:cubicBezTo>
                      <a:cubicBezTo>
                        <a:pt x="1848" y="477"/>
                        <a:pt x="1878" y="532"/>
                        <a:pt x="1916" y="589"/>
                      </a:cubicBezTo>
                      <a:cubicBezTo>
                        <a:pt x="1930" y="740"/>
                        <a:pt x="1931" y="949"/>
                        <a:pt x="1842" y="1084"/>
                      </a:cubicBezTo>
                      <a:cubicBezTo>
                        <a:pt x="1828" y="1130"/>
                        <a:pt x="1803" y="1134"/>
                        <a:pt x="1769" y="1168"/>
                      </a:cubicBezTo>
                      <a:cubicBezTo>
                        <a:pt x="1742" y="1246"/>
                        <a:pt x="1702" y="1245"/>
                        <a:pt x="1653" y="1284"/>
                      </a:cubicBezTo>
                      <a:cubicBezTo>
                        <a:pt x="1630" y="1303"/>
                        <a:pt x="1615" y="1331"/>
                        <a:pt x="1590" y="1347"/>
                      </a:cubicBezTo>
                      <a:cubicBezTo>
                        <a:pt x="1579" y="1354"/>
                        <a:pt x="1568" y="1361"/>
                        <a:pt x="1558" y="1368"/>
                      </a:cubicBezTo>
                      <a:cubicBezTo>
                        <a:pt x="1530" y="1389"/>
                        <a:pt x="1502" y="1410"/>
                        <a:pt x="1474" y="1431"/>
                      </a:cubicBezTo>
                      <a:cubicBezTo>
                        <a:pt x="1456" y="1444"/>
                        <a:pt x="1411" y="1453"/>
                        <a:pt x="1411" y="1453"/>
                      </a:cubicBezTo>
                      <a:cubicBezTo>
                        <a:pt x="1358" y="1505"/>
                        <a:pt x="1314" y="1538"/>
                        <a:pt x="1253" y="1579"/>
                      </a:cubicBezTo>
                      <a:cubicBezTo>
                        <a:pt x="1232" y="1593"/>
                        <a:pt x="1214" y="1613"/>
                        <a:pt x="1190" y="1621"/>
                      </a:cubicBezTo>
                      <a:cubicBezTo>
                        <a:pt x="1127" y="1642"/>
                        <a:pt x="1064" y="1664"/>
                        <a:pt x="1000" y="1684"/>
                      </a:cubicBezTo>
                      <a:cubicBezTo>
                        <a:pt x="808" y="1622"/>
                        <a:pt x="697" y="1658"/>
                        <a:pt x="432" y="1653"/>
                      </a:cubicBezTo>
                      <a:cubicBezTo>
                        <a:pt x="358" y="1629"/>
                        <a:pt x="389" y="1640"/>
                        <a:pt x="337" y="1621"/>
                      </a:cubicBezTo>
                      <a:cubicBezTo>
                        <a:pt x="296" y="1580"/>
                        <a:pt x="282" y="1591"/>
                        <a:pt x="242" y="1558"/>
                      </a:cubicBezTo>
                      <a:cubicBezTo>
                        <a:pt x="209" y="1530"/>
                        <a:pt x="193" y="1500"/>
                        <a:pt x="168" y="1463"/>
                      </a:cubicBezTo>
                      <a:cubicBezTo>
                        <a:pt x="154" y="1442"/>
                        <a:pt x="140" y="1421"/>
                        <a:pt x="126" y="1400"/>
                      </a:cubicBezTo>
                      <a:cubicBezTo>
                        <a:pt x="119" y="1389"/>
                        <a:pt x="105" y="1368"/>
                        <a:pt x="105" y="1368"/>
                      </a:cubicBezTo>
                      <a:cubicBezTo>
                        <a:pt x="88" y="1315"/>
                        <a:pt x="51" y="1287"/>
                        <a:pt x="21" y="1242"/>
                      </a:cubicBezTo>
                      <a:cubicBezTo>
                        <a:pt x="0" y="1175"/>
                        <a:pt x="23" y="1099"/>
                        <a:pt x="32" y="1031"/>
                      </a:cubicBezTo>
                      <a:cubicBezTo>
                        <a:pt x="35" y="961"/>
                        <a:pt x="36" y="891"/>
                        <a:pt x="42" y="821"/>
                      </a:cubicBezTo>
                      <a:cubicBezTo>
                        <a:pt x="47" y="760"/>
                        <a:pt x="75" y="693"/>
                        <a:pt x="84" y="631"/>
                      </a:cubicBezTo>
                      <a:cubicBezTo>
                        <a:pt x="99" y="528"/>
                        <a:pt x="112" y="402"/>
                        <a:pt x="200" y="337"/>
                      </a:cubicBezTo>
                      <a:cubicBezTo>
                        <a:pt x="214" y="312"/>
                        <a:pt x="220" y="281"/>
                        <a:pt x="242" y="263"/>
                      </a:cubicBezTo>
                      <a:cubicBezTo>
                        <a:pt x="259" y="250"/>
                        <a:pt x="289" y="266"/>
                        <a:pt x="305" y="252"/>
                      </a:cubicBezTo>
                      <a:cubicBezTo>
                        <a:pt x="322" y="237"/>
                        <a:pt x="313" y="207"/>
                        <a:pt x="326" y="189"/>
                      </a:cubicBezTo>
                      <a:cubicBezTo>
                        <a:pt x="343" y="166"/>
                        <a:pt x="376" y="163"/>
                        <a:pt x="400" y="147"/>
                      </a:cubicBezTo>
                      <a:cubicBezTo>
                        <a:pt x="411" y="154"/>
                        <a:pt x="423" y="159"/>
                        <a:pt x="432" y="168"/>
                      </a:cubicBezTo>
                      <a:cubicBezTo>
                        <a:pt x="441" y="177"/>
                        <a:pt x="441" y="195"/>
                        <a:pt x="453" y="200"/>
                      </a:cubicBezTo>
                      <a:cubicBezTo>
                        <a:pt x="479" y="210"/>
                        <a:pt x="509" y="207"/>
                        <a:pt x="537" y="210"/>
                      </a:cubicBezTo>
                      <a:cubicBezTo>
                        <a:pt x="544" y="221"/>
                        <a:pt x="550" y="232"/>
                        <a:pt x="558" y="242"/>
                      </a:cubicBezTo>
                      <a:cubicBezTo>
                        <a:pt x="566" y="251"/>
                        <a:pt x="610" y="291"/>
                        <a:pt x="579" y="263"/>
                      </a:cubicBezTo>
                      <a:close/>
                    </a:path>
                  </a:pathLst>
                </a:custGeom>
                <a:solidFill>
                  <a:schemeClr val="bg1"/>
                </a:solidFill>
                <a:ln>
                  <a:noFill/>
                </a:ln>
                <a:effectLst/>
                <a:extLst>
                  <a:ext uri="{91240B29-F687-4F45-9708-019B960494DF}">
                    <a14:hiddenLine xmlns:a14="http://schemas.microsoft.com/office/drawing/2010/main" w="9525">
                      <a:solidFill>
                        <a:schemeClr val="tx1"/>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grpSp>
          <p:sp>
            <p:nvSpPr>
              <p:cNvPr id="24" name="Line 14"/>
              <p:cNvSpPr>
                <a:spLocks noChangeShapeType="1"/>
              </p:cNvSpPr>
              <p:nvPr/>
            </p:nvSpPr>
            <p:spPr bwMode="auto">
              <a:xfrm>
                <a:off x="6614431" y="1661676"/>
                <a:ext cx="807064" cy="149331"/>
              </a:xfrm>
              <a:prstGeom prst="line">
                <a:avLst/>
              </a:prstGeom>
              <a:noFill/>
              <a:ln w="25400">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25" name="Line 19"/>
              <p:cNvSpPr>
                <a:spLocks noChangeShapeType="1"/>
              </p:cNvSpPr>
              <p:nvPr/>
            </p:nvSpPr>
            <p:spPr bwMode="auto">
              <a:xfrm>
                <a:off x="7461156" y="1762360"/>
                <a:ext cx="4421" cy="352133"/>
              </a:xfrm>
              <a:prstGeom prst="line">
                <a:avLst/>
              </a:prstGeom>
              <a:noFill/>
              <a:ln w="25400">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26" name="Line 15"/>
              <p:cNvSpPr>
                <a:spLocks noChangeShapeType="1"/>
              </p:cNvSpPr>
              <p:nvPr/>
            </p:nvSpPr>
            <p:spPr bwMode="auto">
              <a:xfrm flipH="1">
                <a:off x="7610781" y="1526097"/>
                <a:ext cx="587219" cy="284910"/>
              </a:xfrm>
              <a:prstGeom prst="line">
                <a:avLst/>
              </a:prstGeom>
              <a:noFill/>
              <a:ln w="25400">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27" name="Line 16"/>
              <p:cNvSpPr>
                <a:spLocks noChangeShapeType="1"/>
              </p:cNvSpPr>
              <p:nvPr/>
            </p:nvSpPr>
            <p:spPr bwMode="auto">
              <a:xfrm flipV="1">
                <a:off x="6568928" y="1401359"/>
                <a:ext cx="818737" cy="227404"/>
              </a:xfrm>
              <a:prstGeom prst="line">
                <a:avLst/>
              </a:prstGeom>
              <a:noFill/>
              <a:ln w="25400">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28" name="Line 18"/>
              <p:cNvSpPr>
                <a:spLocks noChangeShapeType="1"/>
              </p:cNvSpPr>
              <p:nvPr/>
            </p:nvSpPr>
            <p:spPr bwMode="auto">
              <a:xfrm>
                <a:off x="7340210" y="1382431"/>
                <a:ext cx="849590" cy="149310"/>
              </a:xfrm>
              <a:prstGeom prst="line">
                <a:avLst/>
              </a:prstGeom>
              <a:noFill/>
              <a:ln w="25400">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grpSp>
            <p:nvGrpSpPr>
              <p:cNvPr id="29" name="Group 91"/>
              <p:cNvGrpSpPr/>
              <p:nvPr/>
            </p:nvGrpSpPr>
            <p:grpSpPr bwMode="auto">
              <a:xfrm>
                <a:off x="7076296" y="1583569"/>
                <a:ext cx="723152" cy="332967"/>
                <a:chOff x="2949" y="196"/>
                <a:chExt cx="941" cy="598"/>
              </a:xfrm>
            </p:grpSpPr>
            <p:sp>
              <p:nvSpPr>
                <p:cNvPr id="45" name="Oval 92"/>
                <p:cNvSpPr>
                  <a:spLocks noChangeArrowheads="1"/>
                </p:cNvSpPr>
                <p:nvPr/>
              </p:nvSpPr>
              <p:spPr bwMode="auto">
                <a:xfrm>
                  <a:off x="3168" y="196"/>
                  <a:ext cx="407" cy="162"/>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46" name="Oval 93"/>
                <p:cNvSpPr>
                  <a:spLocks noChangeArrowheads="1"/>
                </p:cNvSpPr>
                <p:nvPr/>
              </p:nvSpPr>
              <p:spPr bwMode="auto">
                <a:xfrm rot="900000">
                  <a:off x="3512" y="252"/>
                  <a:ext cx="275" cy="131"/>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47" name="Oval 94"/>
                <p:cNvSpPr>
                  <a:spLocks noChangeArrowheads="1"/>
                </p:cNvSpPr>
                <p:nvPr/>
              </p:nvSpPr>
              <p:spPr bwMode="auto">
                <a:xfrm rot="1500000">
                  <a:off x="3650" y="385"/>
                  <a:ext cx="240" cy="153"/>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48" name="Oval 95"/>
                <p:cNvSpPr>
                  <a:spLocks noChangeArrowheads="1"/>
                </p:cNvSpPr>
                <p:nvPr/>
              </p:nvSpPr>
              <p:spPr bwMode="auto">
                <a:xfrm rot="-1560000">
                  <a:off x="3573" y="537"/>
                  <a:ext cx="291" cy="18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49" name="Oval 96"/>
                <p:cNvSpPr>
                  <a:spLocks noChangeArrowheads="1"/>
                </p:cNvSpPr>
                <p:nvPr/>
              </p:nvSpPr>
              <p:spPr bwMode="auto">
                <a:xfrm>
                  <a:off x="3216" y="555"/>
                  <a:ext cx="471" cy="23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50" name="Oval 97"/>
                <p:cNvSpPr>
                  <a:spLocks noChangeArrowheads="1"/>
                </p:cNvSpPr>
                <p:nvPr/>
              </p:nvSpPr>
              <p:spPr bwMode="auto">
                <a:xfrm rot="1080000">
                  <a:off x="3023" y="555"/>
                  <a:ext cx="26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51" name="Oval 98"/>
                <p:cNvSpPr>
                  <a:spLocks noChangeArrowheads="1"/>
                </p:cNvSpPr>
                <p:nvPr/>
              </p:nvSpPr>
              <p:spPr bwMode="auto">
                <a:xfrm>
                  <a:off x="2949" y="432"/>
                  <a:ext cx="217"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52" name="Oval 99"/>
                <p:cNvSpPr>
                  <a:spLocks noChangeArrowheads="1"/>
                </p:cNvSpPr>
                <p:nvPr/>
              </p:nvSpPr>
              <p:spPr bwMode="auto">
                <a:xfrm rot="-1860000">
                  <a:off x="2984" y="310"/>
                  <a:ext cx="29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53" name="Freeform 100"/>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54" name="Freeform 101"/>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55" name="Freeform 102"/>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grpSp>
          <p:pic>
            <p:nvPicPr>
              <p:cNvPr id="30" name="Picture 36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240375" y="2022144"/>
                <a:ext cx="495054" cy="2503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33" name="Group 151"/>
              <p:cNvGrpSpPr/>
              <p:nvPr/>
            </p:nvGrpSpPr>
            <p:grpSpPr bwMode="auto">
              <a:xfrm rot="20600977">
                <a:off x="7153351" y="1292473"/>
                <a:ext cx="433883" cy="192432"/>
                <a:chOff x="2949" y="196"/>
                <a:chExt cx="941" cy="598"/>
              </a:xfrm>
            </p:grpSpPr>
            <p:sp>
              <p:nvSpPr>
                <p:cNvPr id="34" name="Oval 152"/>
                <p:cNvSpPr>
                  <a:spLocks noChangeArrowheads="1"/>
                </p:cNvSpPr>
                <p:nvPr/>
              </p:nvSpPr>
              <p:spPr bwMode="auto">
                <a:xfrm>
                  <a:off x="3168" y="196"/>
                  <a:ext cx="407" cy="162"/>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35" name="Oval 153"/>
                <p:cNvSpPr>
                  <a:spLocks noChangeArrowheads="1"/>
                </p:cNvSpPr>
                <p:nvPr/>
              </p:nvSpPr>
              <p:spPr bwMode="auto">
                <a:xfrm rot="900000">
                  <a:off x="3512" y="252"/>
                  <a:ext cx="275" cy="131"/>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36" name="Oval 154"/>
                <p:cNvSpPr>
                  <a:spLocks noChangeArrowheads="1"/>
                </p:cNvSpPr>
                <p:nvPr/>
              </p:nvSpPr>
              <p:spPr bwMode="auto">
                <a:xfrm rot="1500000">
                  <a:off x="3650" y="385"/>
                  <a:ext cx="240" cy="153"/>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37" name="Oval 155"/>
                <p:cNvSpPr>
                  <a:spLocks noChangeArrowheads="1"/>
                </p:cNvSpPr>
                <p:nvPr/>
              </p:nvSpPr>
              <p:spPr bwMode="auto">
                <a:xfrm rot="-1560000">
                  <a:off x="3573" y="537"/>
                  <a:ext cx="291" cy="18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38" name="Oval 156"/>
                <p:cNvSpPr>
                  <a:spLocks noChangeArrowheads="1"/>
                </p:cNvSpPr>
                <p:nvPr/>
              </p:nvSpPr>
              <p:spPr bwMode="auto">
                <a:xfrm>
                  <a:off x="3216" y="555"/>
                  <a:ext cx="471" cy="239"/>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39" name="Oval 157"/>
                <p:cNvSpPr>
                  <a:spLocks noChangeArrowheads="1"/>
                </p:cNvSpPr>
                <p:nvPr/>
              </p:nvSpPr>
              <p:spPr bwMode="auto">
                <a:xfrm rot="1080000">
                  <a:off x="3023" y="555"/>
                  <a:ext cx="26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40" name="Oval 158"/>
                <p:cNvSpPr>
                  <a:spLocks noChangeArrowheads="1"/>
                </p:cNvSpPr>
                <p:nvPr/>
              </p:nvSpPr>
              <p:spPr bwMode="auto">
                <a:xfrm>
                  <a:off x="2949" y="432"/>
                  <a:ext cx="217"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41" name="Oval 159"/>
                <p:cNvSpPr>
                  <a:spLocks noChangeArrowheads="1"/>
                </p:cNvSpPr>
                <p:nvPr/>
              </p:nvSpPr>
              <p:spPr bwMode="auto">
                <a:xfrm rot="-1860000">
                  <a:off x="2984" y="310"/>
                  <a:ext cx="295" cy="156"/>
                </a:xfrm>
                <a:prstGeom prst="ellipse">
                  <a:avLst/>
                </a:prstGeom>
                <a:solidFill>
                  <a:srgbClr val="C5E5FB"/>
                </a:solidFill>
                <a:ln w="12700">
                  <a:solidFill>
                    <a:srgbClr val="368AD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42" name="Freeform 160"/>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43" name="Freeform 161"/>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44" name="Freeform 162"/>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rgbClr val="C5E5FB"/>
                </a:solidFill>
                <a:ln>
                  <a:noFill/>
                </a:ln>
                <a:effectLst/>
                <a:extLst>
                  <a:ext uri="{91240B29-F687-4F45-9708-019B960494DF}">
                    <a14:hiddenLine xmlns:a14="http://schemas.microsoft.com/office/drawing/2010/main" w="12700">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grpSp>
          <p:sp>
            <p:nvSpPr>
              <p:cNvPr id="65" name="矩形 64"/>
              <p:cNvSpPr/>
              <p:nvPr/>
            </p:nvSpPr>
            <p:spPr>
              <a:xfrm>
                <a:off x="7804514" y="1881867"/>
                <a:ext cx="692818" cy="261610"/>
              </a:xfrm>
              <a:prstGeom prst="rect">
                <a:avLst/>
              </a:prstGeom>
            </p:spPr>
            <p:txBody>
              <a:bodyPr wrap="none">
                <a:spAutoFit/>
              </a:bodyPr>
              <a:lstStyle/>
              <a:p>
                <a:pPr eaLnBrk="0" hangingPunct="0"/>
                <a:r>
                  <a:rPr lang="zh-CN" altLang="en-US" sz="1100" dirty="0">
                    <a:latin typeface="+mj-lt"/>
                    <a:ea typeface="+mj-ea"/>
                  </a:rPr>
                  <a:t>本地</a:t>
                </a:r>
                <a:r>
                  <a:rPr lang="en-US" altLang="zh-CN" sz="1100" dirty="0">
                    <a:latin typeface="+mj-lt"/>
                    <a:ea typeface="+mj-ea"/>
                  </a:rPr>
                  <a:t>ISP</a:t>
                </a:r>
                <a:endParaRPr lang="zh-CN" altLang="en-US" sz="1100" dirty="0">
                  <a:latin typeface="+mj-lt"/>
                  <a:ea typeface="+mj-ea"/>
                </a:endParaRPr>
              </a:p>
            </p:txBody>
          </p:sp>
          <p:sp>
            <p:nvSpPr>
              <p:cNvPr id="71" name="Line 18"/>
              <p:cNvSpPr>
                <a:spLocks noChangeShapeType="1"/>
              </p:cNvSpPr>
              <p:nvPr/>
            </p:nvSpPr>
            <p:spPr bwMode="auto">
              <a:xfrm flipV="1">
                <a:off x="8186006" y="1269750"/>
                <a:ext cx="247507" cy="268653"/>
              </a:xfrm>
              <a:prstGeom prst="line">
                <a:avLst/>
              </a:prstGeom>
              <a:noFill/>
              <a:ln w="25400">
                <a:solidFill>
                  <a:srgbClr val="000099"/>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pic>
            <p:nvPicPr>
              <p:cNvPr id="32" name="Picture 36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956896" y="1478046"/>
                <a:ext cx="427758" cy="1604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72" name="Line 18"/>
              <p:cNvSpPr>
                <a:spLocks noChangeShapeType="1"/>
              </p:cNvSpPr>
              <p:nvPr/>
            </p:nvSpPr>
            <p:spPr bwMode="auto">
              <a:xfrm flipH="1" flipV="1">
                <a:off x="6275644" y="1149926"/>
                <a:ext cx="264521" cy="493601"/>
              </a:xfrm>
              <a:prstGeom prst="line">
                <a:avLst/>
              </a:prstGeom>
              <a:noFill/>
              <a:ln w="25400">
                <a:solidFill>
                  <a:srgbClr val="000099"/>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pic>
            <p:nvPicPr>
              <p:cNvPr id="31" name="Picture 36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405503" y="1585553"/>
                <a:ext cx="427758" cy="1756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grpSp>
          <p:nvGrpSpPr>
            <p:cNvPr id="69" name="组合 68"/>
            <p:cNvGrpSpPr/>
            <p:nvPr/>
          </p:nvGrpSpPr>
          <p:grpSpPr>
            <a:xfrm>
              <a:off x="6357254" y="2272472"/>
              <a:ext cx="2239962" cy="1754704"/>
              <a:chOff x="6357254" y="2272472"/>
              <a:chExt cx="2239962" cy="1754704"/>
            </a:xfrm>
          </p:grpSpPr>
          <p:grpSp>
            <p:nvGrpSpPr>
              <p:cNvPr id="68" name="组合 67"/>
              <p:cNvGrpSpPr/>
              <p:nvPr/>
            </p:nvGrpSpPr>
            <p:grpSpPr>
              <a:xfrm>
                <a:off x="6357254" y="2605585"/>
                <a:ext cx="2239962" cy="1421591"/>
                <a:chOff x="6357254" y="2605585"/>
                <a:chExt cx="2239962" cy="1421591"/>
              </a:xfrm>
            </p:grpSpPr>
            <p:sp>
              <p:nvSpPr>
                <p:cNvPr id="9" name="Line 17"/>
                <p:cNvSpPr>
                  <a:spLocks noChangeShapeType="1"/>
                </p:cNvSpPr>
                <p:nvPr/>
              </p:nvSpPr>
              <p:spPr bwMode="auto">
                <a:xfrm flipV="1">
                  <a:off x="6526065" y="3256686"/>
                  <a:ext cx="261782" cy="371998"/>
                </a:xfrm>
                <a:prstGeom prst="line">
                  <a:avLst/>
                </a:prstGeom>
                <a:noFill/>
                <a:ln w="25400">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pic>
              <p:nvPicPr>
                <p:cNvPr id="11" name="图片 10"/>
                <p:cNvPicPr>
                  <a:picLocks noChangeAspect="1"/>
                </p:cNvPicPr>
                <p:nvPr/>
              </p:nvPicPr>
              <p:blipFill rotWithShape="1">
                <a:blip r:embed="rId4" cstate="print">
                  <a:extLst>
                    <a:ext uri="{28A0092B-C50C-407E-A947-70E740481C1C}">
                      <a14:useLocalDpi xmlns:a14="http://schemas.microsoft.com/office/drawing/2010/main" val="0"/>
                    </a:ext>
                  </a:extLst>
                </a:blip>
                <a:srcRect l="12119" r="11766"/>
                <a:stretch/>
              </p:blipFill>
              <p:spPr>
                <a:xfrm flipH="1">
                  <a:off x="7703263" y="3595416"/>
                  <a:ext cx="267428" cy="431760"/>
                </a:xfrm>
                <a:prstGeom prst="rect">
                  <a:avLst/>
                </a:prstGeom>
              </p:spPr>
            </p:pic>
            <p:sp>
              <p:nvSpPr>
                <p:cNvPr id="12" name="椭圆 11"/>
                <p:cNvSpPr/>
                <p:nvPr/>
              </p:nvSpPr>
              <p:spPr>
                <a:xfrm>
                  <a:off x="6388256" y="2605585"/>
                  <a:ext cx="2208960" cy="741579"/>
                </a:xfrm>
                <a:prstGeom prst="ellipse">
                  <a:avLst/>
                </a:prstGeom>
                <a:solidFill>
                  <a:srgbClr val="33CCFF"/>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14" name="图片 13"/>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379090" y="2929431"/>
                  <a:ext cx="234039" cy="326725"/>
                </a:xfrm>
                <a:prstGeom prst="rect">
                  <a:avLst/>
                </a:prstGeom>
              </p:spPr>
            </p:pic>
            <p:pic>
              <p:nvPicPr>
                <p:cNvPr id="15" name="图片 14" descr="LAN-蓝.png"/>
                <p:cNvPicPr>
                  <a:picLocks noChangeAspect="1"/>
                </p:cNvPicPr>
                <p:nvPr/>
              </p:nvPicPr>
              <p:blipFill>
                <a:blip r:embed="rId6" cstate="print"/>
                <a:stretch>
                  <a:fillRect/>
                </a:stretch>
              </p:blipFill>
              <p:spPr>
                <a:xfrm>
                  <a:off x="6669206" y="2910534"/>
                  <a:ext cx="488612" cy="263499"/>
                </a:xfrm>
                <a:prstGeom prst="rect">
                  <a:avLst/>
                </a:prstGeom>
              </p:spPr>
            </p:pic>
            <p:pic>
              <p:nvPicPr>
                <p:cNvPr id="16" name="图片 15" descr="PSTN-蓝.png"/>
                <p:cNvPicPr>
                  <a:picLocks noChangeAspect="1"/>
                </p:cNvPicPr>
                <p:nvPr/>
              </p:nvPicPr>
              <p:blipFill>
                <a:blip r:embed="rId7" cstate="print"/>
                <a:stretch>
                  <a:fillRect/>
                </a:stretch>
              </p:blipFill>
              <p:spPr>
                <a:xfrm>
                  <a:off x="7803913" y="2895430"/>
                  <a:ext cx="532346" cy="287084"/>
                </a:xfrm>
                <a:prstGeom prst="rect">
                  <a:avLst/>
                </a:prstGeom>
              </p:spPr>
            </p:pic>
            <p:sp>
              <p:nvSpPr>
                <p:cNvPr id="17" name="Line 17"/>
                <p:cNvSpPr>
                  <a:spLocks noChangeShapeType="1"/>
                </p:cNvSpPr>
                <p:nvPr/>
              </p:nvSpPr>
              <p:spPr bwMode="auto">
                <a:xfrm flipV="1">
                  <a:off x="7133258" y="3315598"/>
                  <a:ext cx="68263" cy="322542"/>
                </a:xfrm>
                <a:prstGeom prst="line">
                  <a:avLst/>
                </a:prstGeom>
                <a:noFill/>
                <a:ln w="25400">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sp>
              <p:nvSpPr>
                <p:cNvPr id="18" name="Line 17"/>
                <p:cNvSpPr>
                  <a:spLocks noChangeShapeType="1"/>
                </p:cNvSpPr>
                <p:nvPr/>
              </p:nvSpPr>
              <p:spPr bwMode="auto">
                <a:xfrm flipH="1" flipV="1">
                  <a:off x="8163665" y="3256686"/>
                  <a:ext cx="246450" cy="390163"/>
                </a:xfrm>
                <a:prstGeom prst="line">
                  <a:avLst/>
                </a:prstGeom>
                <a:noFill/>
                <a:ln w="25400">
                  <a:solidFill>
                    <a:srgbClr val="00B05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solidFill>
                      <a:prstClr val="black"/>
                    </a:solidFill>
                    <a:latin typeface="Times New Roman" panose="02020603050405020304" pitchFamily="18" charset="0"/>
                    <a:ea typeface="微软雅黑 Light" panose="020B0502040204020203" pitchFamily="34" charset="-122"/>
                  </a:endParaRPr>
                </a:p>
              </p:txBody>
            </p:sp>
            <p:pic>
              <p:nvPicPr>
                <p:cNvPr id="19" name="图片 18" descr="wifi信号蓝.png"/>
                <p:cNvPicPr>
                  <a:picLocks noChangeAspect="1"/>
                </p:cNvPicPr>
                <p:nvPr/>
              </p:nvPicPr>
              <p:blipFill>
                <a:blip r:embed="rId8" cstate="print"/>
                <a:stretch>
                  <a:fillRect/>
                </a:stretch>
              </p:blipFill>
              <p:spPr>
                <a:xfrm>
                  <a:off x="7725041" y="3360335"/>
                  <a:ext cx="218732" cy="194596"/>
                </a:xfrm>
                <a:prstGeom prst="rect">
                  <a:avLst/>
                </a:prstGeom>
              </p:spPr>
            </p:pic>
            <p:pic>
              <p:nvPicPr>
                <p:cNvPr id="20" name="Picture 246" descr="jisuanji"/>
                <p:cNvPicPr>
                  <a:picLocks noChangeAspect="1" noChangeArrowheads="1"/>
                </p:cNvPicPr>
                <p:nvPr/>
              </p:nvPicPr>
              <p:blipFill>
                <a:blip r:embed="rId9" cstate="print">
                  <a:extLst>
                    <a:ext uri="{28A0092B-C50C-407E-A947-70E740481C1C}">
                      <a14:useLocalDpi xmlns:a14="http://schemas.microsoft.com/office/drawing/2010/main" val="0"/>
                    </a:ext>
                  </a:extLst>
                </a:blip>
                <a:srcRect/>
                <a:stretch>
                  <a:fillRect/>
                </a:stretch>
              </p:blipFill>
              <p:spPr bwMode="auto">
                <a:xfrm>
                  <a:off x="6357254" y="3542758"/>
                  <a:ext cx="378025" cy="3656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1" name="图片 20" descr="SAN网络-蓝.png"/>
                <p:cNvPicPr>
                  <a:picLocks noChangeAspect="1"/>
                </p:cNvPicPr>
                <p:nvPr/>
              </p:nvPicPr>
              <p:blipFill>
                <a:blip r:embed="rId10" cstate="print"/>
                <a:stretch>
                  <a:fillRect/>
                </a:stretch>
              </p:blipFill>
              <p:spPr>
                <a:xfrm>
                  <a:off x="8273037" y="3527191"/>
                  <a:ext cx="324178" cy="280782"/>
                </a:xfrm>
                <a:prstGeom prst="rect">
                  <a:avLst/>
                </a:prstGeom>
              </p:spPr>
            </p:pic>
            <p:pic>
              <p:nvPicPr>
                <p:cNvPr id="22" name="图片 38"/>
                <p:cNvPicPr>
                  <a:picLocks noChangeAspect="1"/>
                </p:cNvPicPr>
                <p:nvPr/>
              </p:nvPicPr>
              <p:blipFill>
                <a:blip r:embed="rId11" cstate="print">
                  <a:extLst>
                    <a:ext uri="{28A0092B-C50C-407E-A947-70E740481C1C}">
                      <a14:useLocalDpi xmlns:a14="http://schemas.microsoft.com/office/drawing/2010/main" val="0"/>
                    </a:ext>
                  </a:extLst>
                </a:blip>
                <a:srcRect/>
                <a:stretch>
                  <a:fillRect/>
                </a:stretch>
              </p:blipFill>
              <p:spPr bwMode="auto">
                <a:xfrm>
                  <a:off x="7019451" y="3512809"/>
                  <a:ext cx="263394" cy="39152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8" name="矩形 7"/>
                <p:cNvSpPr/>
                <p:nvPr/>
              </p:nvSpPr>
              <p:spPr>
                <a:xfrm>
                  <a:off x="7196830" y="2608936"/>
                  <a:ext cx="692818" cy="276999"/>
                </a:xfrm>
                <a:prstGeom prst="rect">
                  <a:avLst/>
                </a:prstGeom>
              </p:spPr>
              <p:txBody>
                <a:bodyPr wrap="none">
                  <a:spAutoFit/>
                </a:bodyPr>
                <a:lstStyle/>
                <a:p>
                  <a:r>
                    <a:rPr lang="zh-CN" altLang="en-US" sz="1200" dirty="0">
                      <a:solidFill>
                        <a:schemeClr val="bg1"/>
                      </a:solidFill>
                      <a:latin typeface="+mj-lt"/>
                      <a:ea typeface="+mj-ea"/>
                    </a:rPr>
                    <a:t>接入网 </a:t>
                  </a:r>
                </a:p>
              </p:txBody>
            </p:sp>
          </p:grpSp>
          <p:cxnSp>
            <p:nvCxnSpPr>
              <p:cNvPr id="13" name="直接连接符 12"/>
              <p:cNvCxnSpPr>
                <a:stCxn id="30" idx="2"/>
                <a:endCxn id="12" idx="0"/>
              </p:cNvCxnSpPr>
              <p:nvPr/>
            </p:nvCxnSpPr>
            <p:spPr>
              <a:xfrm>
                <a:off x="7487902" y="2272472"/>
                <a:ext cx="4834" cy="333113"/>
              </a:xfrm>
              <a:prstGeom prst="line">
                <a:avLst/>
              </a:prstGeom>
              <a:ln w="28575">
                <a:solidFill>
                  <a:srgbClr val="000099"/>
                </a:solidFill>
              </a:ln>
            </p:spPr>
            <p:style>
              <a:lnRef idx="1">
                <a:schemeClr val="accent1"/>
              </a:lnRef>
              <a:fillRef idx="0">
                <a:schemeClr val="accent1"/>
              </a:fillRef>
              <a:effectRef idx="0">
                <a:schemeClr val="accent1"/>
              </a:effectRef>
              <a:fontRef idx="minor">
                <a:schemeClr val="tx1"/>
              </a:fontRef>
            </p:style>
          </p:cxnSp>
        </p:grpSp>
      </p:grpSp>
      <p:sp>
        <p:nvSpPr>
          <p:cNvPr id="3" name="标题 2">
            <a:extLst>
              <a:ext uri="{FF2B5EF4-FFF2-40B4-BE49-F238E27FC236}">
                <a16:creationId xmlns:a16="http://schemas.microsoft.com/office/drawing/2014/main" id="{B1332590-3D41-E3BC-9BAD-0592E80DC862}"/>
              </a:ext>
            </a:extLst>
          </p:cNvPr>
          <p:cNvSpPr>
            <a:spLocks noGrp="1"/>
          </p:cNvSpPr>
          <p:nvPr>
            <p:ph type="title"/>
          </p:nvPr>
        </p:nvSpPr>
        <p:spPr>
          <a:xfrm>
            <a:off x="612000" y="144000"/>
            <a:ext cx="7920000" cy="341632"/>
          </a:xfrm>
        </p:spPr>
        <p:txBody>
          <a:bodyPr/>
          <a:lstStyle/>
          <a:p>
            <a:r>
              <a:rPr lang="en-US" altLang="zh-CN" dirty="0"/>
              <a:t>3. </a:t>
            </a:r>
            <a:r>
              <a:rPr lang="zh-CN" altLang="en-US" dirty="0"/>
              <a:t>用来把用户接入到互联网的网络</a:t>
            </a:r>
          </a:p>
        </p:txBody>
      </p:sp>
      <p:sp>
        <p:nvSpPr>
          <p:cNvPr id="4" name="内容占位符 3"/>
          <p:cNvSpPr>
            <a:spLocks noGrp="1"/>
          </p:cNvSpPr>
          <p:nvPr>
            <p:ph sz="quarter" idx="10"/>
          </p:nvPr>
        </p:nvSpPr>
        <p:spPr>
          <a:xfrm>
            <a:off x="612000" y="899999"/>
            <a:ext cx="5318781" cy="3780000"/>
          </a:xfrm>
        </p:spPr>
        <p:txBody>
          <a:bodyPr/>
          <a:lstStyle/>
          <a:p>
            <a:r>
              <a:rPr lang="zh-CN" altLang="en-US" dirty="0"/>
              <a:t>接入网 </a:t>
            </a:r>
            <a:r>
              <a:rPr lang="en-US" altLang="zh-CN" dirty="0"/>
              <a:t>AN (Access Network)</a:t>
            </a:r>
          </a:p>
          <a:p>
            <a:pPr lvl="1"/>
            <a:r>
              <a:rPr lang="zh-CN" altLang="en-US" dirty="0"/>
              <a:t>又称为本地接入网或居民接入网</a:t>
            </a:r>
            <a:endParaRPr lang="en-US" altLang="zh-CN" dirty="0"/>
          </a:p>
          <a:p>
            <a:pPr lvl="1"/>
            <a:r>
              <a:rPr lang="zh-CN" altLang="en-US" dirty="0"/>
              <a:t>用于将用户接入互联网</a:t>
            </a:r>
          </a:p>
          <a:p>
            <a:pPr lvl="1"/>
            <a:r>
              <a:rPr lang="zh-CN" altLang="en-US" dirty="0"/>
              <a:t>实际上就是本地 </a:t>
            </a:r>
            <a:r>
              <a:rPr lang="en-US" altLang="zh-CN" dirty="0"/>
              <a:t>ISP </a:t>
            </a:r>
            <a:r>
              <a:rPr lang="zh-CN" altLang="en-US" dirty="0"/>
              <a:t>所拥有的网络，它既不是互联网的核心部分，也不是互联网的边缘部分</a:t>
            </a:r>
          </a:p>
          <a:p>
            <a:pPr lvl="1"/>
            <a:r>
              <a:rPr lang="zh-CN" altLang="en-US" dirty="0"/>
              <a:t>是从某个用户端系统到本地 </a:t>
            </a:r>
            <a:r>
              <a:rPr lang="en-US" altLang="zh-CN" dirty="0"/>
              <a:t>ISP </a:t>
            </a:r>
            <a:r>
              <a:rPr lang="zh-CN" altLang="en-US" dirty="0"/>
              <a:t>的第一个路由器（也称为边缘路由器）之间的一种网络</a:t>
            </a:r>
            <a:endParaRPr lang="en-US" altLang="zh-CN" dirty="0"/>
          </a:p>
          <a:p>
            <a:pPr lvl="1"/>
            <a:r>
              <a:rPr lang="zh-CN" altLang="en-US" dirty="0"/>
              <a:t>从覆盖的范围看，很多接入网还是属于局域网</a:t>
            </a:r>
          </a:p>
        </p:txBody>
      </p:sp>
    </p:spTree>
    <p:extLst>
      <p:ext uri="{BB962C8B-B14F-4D97-AF65-F5344CB8AC3E}">
        <p14:creationId xmlns:p14="http://schemas.microsoft.com/office/powerpoint/2010/main" val="3904208575"/>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A2368DD-C335-F1FC-30E2-D7B1D4199E92}"/>
              </a:ext>
            </a:extLst>
          </p:cNvPr>
          <p:cNvSpPr>
            <a:spLocks noGrp="1"/>
          </p:cNvSpPr>
          <p:nvPr>
            <p:ph type="title"/>
          </p:nvPr>
        </p:nvSpPr>
        <p:spPr>
          <a:xfrm>
            <a:off x="2228850" y="403553"/>
            <a:ext cx="6562725" cy="523220"/>
          </a:xfrm>
        </p:spPr>
        <p:txBody>
          <a:bodyPr/>
          <a:lstStyle/>
          <a:p>
            <a:r>
              <a:rPr lang="fr-FR" altLang="zh-CN" dirty="0"/>
              <a:t>1.6 </a:t>
            </a:r>
            <a:r>
              <a:rPr lang="zh-CN" altLang="zh-CN" dirty="0"/>
              <a:t>计算机网络的性能</a:t>
            </a:r>
            <a:endParaRPr lang="zh-CN" altLang="en-US" dirty="0"/>
          </a:p>
        </p:txBody>
      </p:sp>
      <p:sp>
        <p:nvSpPr>
          <p:cNvPr id="6" name="文本框 5">
            <a:extLst>
              <a:ext uri="{FF2B5EF4-FFF2-40B4-BE49-F238E27FC236}">
                <a16:creationId xmlns:a16="http://schemas.microsoft.com/office/drawing/2014/main" id="{9D6F82DE-9EC0-700B-D20A-E6A1187DBAA6}"/>
              </a:ext>
            </a:extLst>
          </p:cNvPr>
          <p:cNvSpPr txBox="1"/>
          <p:nvPr/>
        </p:nvSpPr>
        <p:spPr>
          <a:xfrm>
            <a:off x="3133725" y="1339562"/>
            <a:ext cx="4572000" cy="646331"/>
          </a:xfrm>
          <a:prstGeom prst="rect">
            <a:avLst/>
          </a:prstGeom>
          <a:noFill/>
        </p:spPr>
        <p:txBody>
          <a:bodyPr wrap="square">
            <a:spAutoFit/>
          </a:bodyPr>
          <a:lstStyle/>
          <a:p>
            <a:r>
              <a:rPr lang="en-US" altLang="zh-CN" dirty="0"/>
              <a:t>1.6.1 </a:t>
            </a:r>
          </a:p>
          <a:p>
            <a:r>
              <a:rPr lang="zh-CN" altLang="zh-CN" dirty="0"/>
              <a:t>计算机网络的性能指标</a:t>
            </a:r>
            <a:endParaRPr lang="en-US" altLang="zh-CN" dirty="0"/>
          </a:p>
        </p:txBody>
      </p:sp>
      <p:sp>
        <p:nvSpPr>
          <p:cNvPr id="7" name="文本框 6">
            <a:extLst>
              <a:ext uri="{FF2B5EF4-FFF2-40B4-BE49-F238E27FC236}">
                <a16:creationId xmlns:a16="http://schemas.microsoft.com/office/drawing/2014/main" id="{F192A474-BE79-4A73-F38E-F8620E9C359E}"/>
              </a:ext>
            </a:extLst>
          </p:cNvPr>
          <p:cNvSpPr txBox="1"/>
          <p:nvPr/>
        </p:nvSpPr>
        <p:spPr>
          <a:xfrm>
            <a:off x="3971925" y="2457450"/>
            <a:ext cx="4572000" cy="646331"/>
          </a:xfrm>
          <a:prstGeom prst="rect">
            <a:avLst/>
          </a:prstGeom>
          <a:noFill/>
        </p:spPr>
        <p:txBody>
          <a:bodyPr wrap="square">
            <a:spAutoFit/>
          </a:bodyPr>
          <a:lstStyle/>
          <a:p>
            <a:r>
              <a:rPr lang="en-US" altLang="zh-CN" dirty="0"/>
              <a:t>1.6.2 </a:t>
            </a:r>
          </a:p>
          <a:p>
            <a:r>
              <a:rPr lang="zh-CN" altLang="zh-CN" dirty="0"/>
              <a:t>计算机网络的非性能特征</a:t>
            </a:r>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3DFA647E-B13A-F98E-5E90-C8854E593CB1}"/>
              </a:ext>
            </a:extLst>
          </p:cNvPr>
          <p:cNvSpPr>
            <a:spLocks noGrp="1"/>
          </p:cNvSpPr>
          <p:nvPr>
            <p:ph type="title"/>
          </p:nvPr>
        </p:nvSpPr>
        <p:spPr>
          <a:xfrm>
            <a:off x="612000" y="144000"/>
            <a:ext cx="7920000" cy="341632"/>
          </a:xfrm>
        </p:spPr>
        <p:txBody>
          <a:bodyPr/>
          <a:lstStyle/>
          <a:p>
            <a:r>
              <a:rPr lang="en-US" altLang="zh-CN" dirty="0"/>
              <a:t>1.6.1  </a:t>
            </a:r>
            <a:r>
              <a:rPr lang="zh-CN" altLang="en-US" dirty="0"/>
              <a:t>性能指标 </a:t>
            </a:r>
            <a:r>
              <a:rPr lang="en-US" altLang="zh-CN" dirty="0"/>
              <a:t>Specification</a:t>
            </a:r>
            <a:endParaRPr lang="zh-CN" altLang="en-US" dirty="0"/>
          </a:p>
        </p:txBody>
      </p:sp>
      <p:sp>
        <p:nvSpPr>
          <p:cNvPr id="3" name="内容占位符 2">
            <a:extLst>
              <a:ext uri="{FF2B5EF4-FFF2-40B4-BE49-F238E27FC236}">
                <a16:creationId xmlns:a16="http://schemas.microsoft.com/office/drawing/2014/main" id="{D31F4F29-D8B7-C279-6E15-4E7EC0A4D8E5}"/>
              </a:ext>
            </a:extLst>
          </p:cNvPr>
          <p:cNvSpPr>
            <a:spLocks noGrp="1"/>
          </p:cNvSpPr>
          <p:nvPr>
            <p:ph sz="quarter" idx="10"/>
          </p:nvPr>
        </p:nvSpPr>
        <p:spPr>
          <a:xfrm>
            <a:off x="612000" y="899999"/>
            <a:ext cx="7920000" cy="3780000"/>
          </a:xfrm>
        </p:spPr>
        <p:txBody>
          <a:bodyPr/>
          <a:lstStyle/>
          <a:p>
            <a:r>
              <a:rPr lang="zh-CN" altLang="en-US" dirty="0"/>
              <a:t>从不同的方面来度量计算机网络的性能</a:t>
            </a:r>
          </a:p>
        </p:txBody>
      </p:sp>
      <p:sp>
        <p:nvSpPr>
          <p:cNvPr id="2" name="矩形: 圆角 1">
            <a:hlinkClick r:id="rId2" action="ppaction://hlinkfile"/>
            <a:extLst>
              <a:ext uri="{FF2B5EF4-FFF2-40B4-BE49-F238E27FC236}">
                <a16:creationId xmlns:a16="http://schemas.microsoft.com/office/drawing/2014/main" id="{DE6D6FEF-5244-D208-1A45-BCACA8603ACE}"/>
              </a:ext>
            </a:extLst>
          </p:cNvPr>
          <p:cNvSpPr/>
          <p:nvPr/>
        </p:nvSpPr>
        <p:spPr>
          <a:xfrm>
            <a:off x="2990881" y="1785243"/>
            <a:ext cx="1440000" cy="324000"/>
          </a:xfrm>
          <a:prstGeom prst="roundRect">
            <a:avLst/>
          </a:prstGeom>
          <a:solidFill>
            <a:srgbClr val="D4237A"/>
          </a:solidFill>
          <a:ln>
            <a:solidFill>
              <a:srgbClr val="D4237A"/>
            </a:solidFill>
          </a:ln>
        </p:spPr>
        <p:style>
          <a:lnRef idx="0">
            <a:schemeClr val="accent2"/>
          </a:lnRef>
          <a:fillRef idx="3">
            <a:schemeClr val="accent2"/>
          </a:fillRef>
          <a:effectRef idx="3">
            <a:schemeClr val="accent2"/>
          </a:effectRef>
          <a:fontRef idx="minor">
            <a:schemeClr val="lt1"/>
          </a:fontRef>
        </p:style>
        <p:txBody>
          <a:bodyPr rtlCol="0" anchor="ctr"/>
          <a:lstStyle/>
          <a:p>
            <a:pPr algn="ctr"/>
            <a:r>
              <a:rPr lang="zh-CN" altLang="en-US" sz="1200" dirty="0"/>
              <a:t>速率</a:t>
            </a:r>
          </a:p>
        </p:txBody>
      </p:sp>
      <p:sp>
        <p:nvSpPr>
          <p:cNvPr id="6" name="矩形: 圆角 5">
            <a:hlinkClick r:id="rId2" action="ppaction://hlinkfile"/>
            <a:extLst>
              <a:ext uri="{FF2B5EF4-FFF2-40B4-BE49-F238E27FC236}">
                <a16:creationId xmlns:a16="http://schemas.microsoft.com/office/drawing/2014/main" id="{1B14ADDE-DA0A-02A6-7E30-0459F4278617}"/>
              </a:ext>
            </a:extLst>
          </p:cNvPr>
          <p:cNvSpPr/>
          <p:nvPr/>
        </p:nvSpPr>
        <p:spPr>
          <a:xfrm>
            <a:off x="2990881" y="2469243"/>
            <a:ext cx="1440000" cy="324000"/>
          </a:xfrm>
          <a:prstGeom prst="roundRect">
            <a:avLst/>
          </a:prstGeom>
          <a:solidFill>
            <a:srgbClr val="D4237A"/>
          </a:solidFill>
        </p:spPr>
        <p:style>
          <a:lnRef idx="0">
            <a:schemeClr val="accent2"/>
          </a:lnRef>
          <a:fillRef idx="3">
            <a:schemeClr val="accent2"/>
          </a:fillRef>
          <a:effectRef idx="3">
            <a:schemeClr val="accent2"/>
          </a:effectRef>
          <a:fontRef idx="minor">
            <a:schemeClr val="lt1"/>
          </a:fontRef>
        </p:style>
        <p:txBody>
          <a:bodyPr rtlCol="0" anchor="ctr"/>
          <a:lstStyle/>
          <a:p>
            <a:pPr algn="ctr"/>
            <a:r>
              <a:rPr lang="zh-CN" altLang="en-US" sz="1200" dirty="0"/>
              <a:t>带宽</a:t>
            </a:r>
          </a:p>
        </p:txBody>
      </p:sp>
      <p:sp>
        <p:nvSpPr>
          <p:cNvPr id="7" name="矩形: 圆角 6">
            <a:hlinkClick r:id="rId2" action="ppaction://hlinkfile"/>
            <a:extLst>
              <a:ext uri="{FF2B5EF4-FFF2-40B4-BE49-F238E27FC236}">
                <a16:creationId xmlns:a16="http://schemas.microsoft.com/office/drawing/2014/main" id="{7500D1B8-0408-177A-A122-E8E31E7BE6A5}"/>
              </a:ext>
            </a:extLst>
          </p:cNvPr>
          <p:cNvSpPr/>
          <p:nvPr/>
        </p:nvSpPr>
        <p:spPr>
          <a:xfrm>
            <a:off x="2990881" y="3153243"/>
            <a:ext cx="1440000" cy="324000"/>
          </a:xfrm>
          <a:prstGeom prst="roundRect">
            <a:avLst/>
          </a:prstGeom>
          <a:solidFill>
            <a:srgbClr val="D4237A"/>
          </a:solidFill>
        </p:spPr>
        <p:style>
          <a:lnRef idx="0">
            <a:schemeClr val="accent2"/>
          </a:lnRef>
          <a:fillRef idx="3">
            <a:schemeClr val="accent2"/>
          </a:fillRef>
          <a:effectRef idx="3">
            <a:schemeClr val="accent2"/>
          </a:effectRef>
          <a:fontRef idx="minor">
            <a:schemeClr val="lt1"/>
          </a:fontRef>
        </p:style>
        <p:txBody>
          <a:bodyPr rtlCol="0" anchor="ctr"/>
          <a:lstStyle/>
          <a:p>
            <a:pPr algn="ctr"/>
            <a:r>
              <a:rPr lang="zh-CN" altLang="en-US" sz="1200" dirty="0"/>
              <a:t>吞吐量</a:t>
            </a:r>
          </a:p>
        </p:txBody>
      </p:sp>
      <p:sp>
        <p:nvSpPr>
          <p:cNvPr id="8" name="矩形: 圆角 7">
            <a:hlinkClick r:id="rId2" action="ppaction://hlinkfile"/>
            <a:extLst>
              <a:ext uri="{FF2B5EF4-FFF2-40B4-BE49-F238E27FC236}">
                <a16:creationId xmlns:a16="http://schemas.microsoft.com/office/drawing/2014/main" id="{1C407E0F-9FD9-0DD4-8488-D8EADEC4B211}"/>
              </a:ext>
            </a:extLst>
          </p:cNvPr>
          <p:cNvSpPr/>
          <p:nvPr/>
        </p:nvSpPr>
        <p:spPr>
          <a:xfrm>
            <a:off x="2990881" y="3837243"/>
            <a:ext cx="1440000" cy="324000"/>
          </a:xfrm>
          <a:prstGeom prst="roundRect">
            <a:avLst/>
          </a:prstGeom>
          <a:solidFill>
            <a:srgbClr val="D4237A"/>
          </a:solidFill>
        </p:spPr>
        <p:style>
          <a:lnRef idx="0">
            <a:schemeClr val="accent2"/>
          </a:lnRef>
          <a:fillRef idx="3">
            <a:schemeClr val="accent2"/>
          </a:fillRef>
          <a:effectRef idx="3">
            <a:schemeClr val="accent2"/>
          </a:effectRef>
          <a:fontRef idx="minor">
            <a:schemeClr val="lt1"/>
          </a:fontRef>
        </p:style>
        <p:txBody>
          <a:bodyPr rtlCol="0" anchor="ctr"/>
          <a:lstStyle/>
          <a:p>
            <a:pPr algn="ctr"/>
            <a:r>
              <a:rPr lang="zh-CN" altLang="en-US" sz="1200" dirty="0"/>
              <a:t>时延</a:t>
            </a:r>
          </a:p>
        </p:txBody>
      </p:sp>
      <p:sp>
        <p:nvSpPr>
          <p:cNvPr id="9" name="矩形: 圆角 8">
            <a:hlinkClick r:id="rId2" action="ppaction://hlinkfile"/>
            <a:extLst>
              <a:ext uri="{FF2B5EF4-FFF2-40B4-BE49-F238E27FC236}">
                <a16:creationId xmlns:a16="http://schemas.microsoft.com/office/drawing/2014/main" id="{7F489549-E4E4-BBD4-3EB8-B08538B181AE}"/>
              </a:ext>
            </a:extLst>
          </p:cNvPr>
          <p:cNvSpPr/>
          <p:nvPr/>
        </p:nvSpPr>
        <p:spPr>
          <a:xfrm>
            <a:off x="4468909" y="2127243"/>
            <a:ext cx="1440000" cy="324000"/>
          </a:xfrm>
          <a:prstGeom prst="roundRect">
            <a:avLst/>
          </a:prstGeom>
          <a:solidFill>
            <a:srgbClr val="D4237A"/>
          </a:solidFill>
        </p:spPr>
        <p:style>
          <a:lnRef idx="0">
            <a:schemeClr val="accent2"/>
          </a:lnRef>
          <a:fillRef idx="3">
            <a:schemeClr val="accent2"/>
          </a:fillRef>
          <a:effectRef idx="3">
            <a:schemeClr val="accent2"/>
          </a:effectRef>
          <a:fontRef idx="minor">
            <a:schemeClr val="lt1"/>
          </a:fontRef>
        </p:style>
        <p:txBody>
          <a:bodyPr rtlCol="0" anchor="ctr"/>
          <a:lstStyle/>
          <a:p>
            <a:pPr algn="ctr"/>
            <a:r>
              <a:rPr lang="zh-CN" altLang="en-US" sz="1200" dirty="0"/>
              <a:t>时延带宽积</a:t>
            </a:r>
          </a:p>
        </p:txBody>
      </p:sp>
      <p:sp>
        <p:nvSpPr>
          <p:cNvPr id="10" name="矩形: 圆角 9">
            <a:hlinkClick r:id="rId2" action="ppaction://hlinkfile"/>
            <a:extLst>
              <a:ext uri="{FF2B5EF4-FFF2-40B4-BE49-F238E27FC236}">
                <a16:creationId xmlns:a16="http://schemas.microsoft.com/office/drawing/2014/main" id="{0C45A14C-1042-AEA3-28B2-6772A27B8C79}"/>
              </a:ext>
            </a:extLst>
          </p:cNvPr>
          <p:cNvSpPr/>
          <p:nvPr/>
        </p:nvSpPr>
        <p:spPr>
          <a:xfrm>
            <a:off x="4468909" y="2811243"/>
            <a:ext cx="1440000" cy="324000"/>
          </a:xfrm>
          <a:prstGeom prst="roundRect">
            <a:avLst/>
          </a:prstGeom>
          <a:solidFill>
            <a:srgbClr val="D4237A"/>
          </a:solidFill>
        </p:spPr>
        <p:style>
          <a:lnRef idx="0">
            <a:schemeClr val="accent2"/>
          </a:lnRef>
          <a:fillRef idx="3">
            <a:schemeClr val="accent2"/>
          </a:fillRef>
          <a:effectRef idx="3">
            <a:schemeClr val="accent2"/>
          </a:effectRef>
          <a:fontRef idx="minor">
            <a:schemeClr val="lt1"/>
          </a:fontRef>
        </p:style>
        <p:txBody>
          <a:bodyPr rtlCol="0" anchor="ctr"/>
          <a:lstStyle/>
          <a:p>
            <a:pPr algn="ctr"/>
            <a:r>
              <a:rPr lang="zh-CN" altLang="en-US" sz="1200" dirty="0"/>
              <a:t>往返时间</a:t>
            </a:r>
          </a:p>
        </p:txBody>
      </p:sp>
      <p:sp>
        <p:nvSpPr>
          <p:cNvPr id="11" name="矩形: 圆角 10">
            <a:hlinkClick r:id="rId2" action="ppaction://hlinkfile"/>
            <a:extLst>
              <a:ext uri="{FF2B5EF4-FFF2-40B4-BE49-F238E27FC236}">
                <a16:creationId xmlns:a16="http://schemas.microsoft.com/office/drawing/2014/main" id="{7A6E7424-8DD9-84AE-39F9-8D09108E04D7}"/>
              </a:ext>
            </a:extLst>
          </p:cNvPr>
          <p:cNvSpPr/>
          <p:nvPr/>
        </p:nvSpPr>
        <p:spPr>
          <a:xfrm>
            <a:off x="4468909" y="3495243"/>
            <a:ext cx="1440000" cy="324000"/>
          </a:xfrm>
          <a:prstGeom prst="roundRect">
            <a:avLst/>
          </a:prstGeom>
          <a:solidFill>
            <a:srgbClr val="D4237A"/>
          </a:solidFill>
        </p:spPr>
        <p:style>
          <a:lnRef idx="0">
            <a:schemeClr val="accent2"/>
          </a:lnRef>
          <a:fillRef idx="3">
            <a:schemeClr val="accent2"/>
          </a:fillRef>
          <a:effectRef idx="3">
            <a:schemeClr val="accent2"/>
          </a:effectRef>
          <a:fontRef idx="minor">
            <a:schemeClr val="lt1"/>
          </a:fontRef>
        </p:style>
        <p:txBody>
          <a:bodyPr rtlCol="0" anchor="ctr"/>
          <a:lstStyle/>
          <a:p>
            <a:pPr algn="ctr"/>
            <a:r>
              <a:rPr lang="zh-CN" altLang="en-US" sz="1200" dirty="0"/>
              <a:t>利用率</a:t>
            </a:r>
          </a:p>
        </p:txBody>
      </p:sp>
      <p:sp>
        <p:nvSpPr>
          <p:cNvPr id="12" name="文本框 11">
            <a:extLst>
              <a:ext uri="{FF2B5EF4-FFF2-40B4-BE49-F238E27FC236}">
                <a16:creationId xmlns:a16="http://schemas.microsoft.com/office/drawing/2014/main" id="{50B7F34D-6C17-6F67-D650-1E4DFB50E8A2}"/>
              </a:ext>
            </a:extLst>
          </p:cNvPr>
          <p:cNvSpPr txBox="1"/>
          <p:nvPr/>
        </p:nvSpPr>
        <p:spPr>
          <a:xfrm>
            <a:off x="2208804" y="1887001"/>
            <a:ext cx="543740" cy="307777"/>
          </a:xfrm>
          <a:prstGeom prst="rect">
            <a:avLst/>
          </a:prstGeom>
          <a:noFill/>
        </p:spPr>
        <p:txBody>
          <a:bodyPr wrap="none" rtlCol="0">
            <a:spAutoFit/>
          </a:bodyPr>
          <a:lstStyle/>
          <a:p>
            <a:pPr algn="r">
              <a:spcBef>
                <a:spcPts val="600"/>
              </a:spcBef>
              <a:spcAft>
                <a:spcPts val="600"/>
              </a:spcAft>
            </a:pPr>
            <a:r>
              <a:rPr lang="en-US" altLang="zh-CN" sz="1400" kern="100" dirty="0">
                <a:latin typeface="微软雅黑 Light" panose="020B0502040204020203" pitchFamily="34" charset="-122"/>
                <a:ea typeface="微软雅黑 Light" panose="020B0502040204020203" pitchFamily="34" charset="-122"/>
                <a:cs typeface="Times New Roman" panose="02020603050405020304" pitchFamily="18" charset="0"/>
              </a:rPr>
              <a:t>Rate</a:t>
            </a:r>
            <a:endParaRPr lang="zh-CN" altLang="en-US" sz="1400" kern="100" dirty="0">
              <a:latin typeface="微软雅黑 Light" panose="020B0502040204020203" pitchFamily="34" charset="-122"/>
              <a:ea typeface="微软雅黑 Light" panose="020B0502040204020203" pitchFamily="34" charset="-122"/>
              <a:cs typeface="Times New Roman" panose="02020603050405020304" pitchFamily="18" charset="0"/>
            </a:endParaRPr>
          </a:p>
        </p:txBody>
      </p:sp>
      <p:sp>
        <p:nvSpPr>
          <p:cNvPr id="13" name="文本框 12">
            <a:extLst>
              <a:ext uri="{FF2B5EF4-FFF2-40B4-BE49-F238E27FC236}">
                <a16:creationId xmlns:a16="http://schemas.microsoft.com/office/drawing/2014/main" id="{48940754-EAF4-0272-CD9B-C023FFB1B9C0}"/>
              </a:ext>
            </a:extLst>
          </p:cNvPr>
          <p:cNvSpPr txBox="1"/>
          <p:nvPr/>
        </p:nvSpPr>
        <p:spPr>
          <a:xfrm>
            <a:off x="1710271" y="2571001"/>
            <a:ext cx="1042273" cy="307777"/>
          </a:xfrm>
          <a:prstGeom prst="rect">
            <a:avLst/>
          </a:prstGeom>
          <a:noFill/>
        </p:spPr>
        <p:txBody>
          <a:bodyPr wrap="none" rtlCol="0">
            <a:spAutoFit/>
          </a:bodyPr>
          <a:lstStyle/>
          <a:p>
            <a:pPr algn="r">
              <a:spcBef>
                <a:spcPts val="600"/>
              </a:spcBef>
              <a:spcAft>
                <a:spcPts val="600"/>
              </a:spcAft>
            </a:pPr>
            <a:r>
              <a:rPr lang="en-US" altLang="zh-CN" sz="1400" kern="100" dirty="0">
                <a:latin typeface="微软雅黑 Light" panose="020B0502040204020203" pitchFamily="34" charset="-122"/>
                <a:ea typeface="微软雅黑 Light" panose="020B0502040204020203" pitchFamily="34" charset="-122"/>
                <a:cs typeface="Times New Roman" panose="02020603050405020304" pitchFamily="18" charset="0"/>
              </a:rPr>
              <a:t>Bandwidth</a:t>
            </a:r>
            <a:endParaRPr lang="zh-CN" altLang="en-US" sz="1400" kern="100" dirty="0">
              <a:latin typeface="微软雅黑 Light" panose="020B0502040204020203" pitchFamily="34" charset="-122"/>
              <a:ea typeface="微软雅黑 Light" panose="020B0502040204020203" pitchFamily="34" charset="-122"/>
              <a:cs typeface="Times New Roman" panose="02020603050405020304" pitchFamily="18" charset="0"/>
            </a:endParaRPr>
          </a:p>
        </p:txBody>
      </p:sp>
      <p:sp>
        <p:nvSpPr>
          <p:cNvPr id="14" name="文本框 13">
            <a:extLst>
              <a:ext uri="{FF2B5EF4-FFF2-40B4-BE49-F238E27FC236}">
                <a16:creationId xmlns:a16="http://schemas.microsoft.com/office/drawing/2014/main" id="{88A8F0AE-AD66-9DAD-4924-0B62349BED07}"/>
              </a:ext>
            </a:extLst>
          </p:cNvPr>
          <p:cNvSpPr txBox="1"/>
          <p:nvPr/>
        </p:nvSpPr>
        <p:spPr>
          <a:xfrm>
            <a:off x="1606716" y="3255001"/>
            <a:ext cx="1145828" cy="307777"/>
          </a:xfrm>
          <a:prstGeom prst="rect">
            <a:avLst/>
          </a:prstGeom>
          <a:noFill/>
        </p:spPr>
        <p:txBody>
          <a:bodyPr wrap="none" rtlCol="0">
            <a:spAutoFit/>
          </a:bodyPr>
          <a:lstStyle/>
          <a:p>
            <a:pPr algn="r">
              <a:spcBef>
                <a:spcPts val="600"/>
              </a:spcBef>
              <a:spcAft>
                <a:spcPts val="600"/>
              </a:spcAft>
            </a:pPr>
            <a:r>
              <a:rPr lang="en-US" altLang="zh-CN" sz="1400" kern="100" dirty="0">
                <a:latin typeface="微软雅黑 Light" panose="020B0502040204020203" pitchFamily="34" charset="-122"/>
                <a:ea typeface="微软雅黑 Light" panose="020B0502040204020203" pitchFamily="34" charset="-122"/>
                <a:cs typeface="Times New Roman" panose="02020603050405020304" pitchFamily="18" charset="0"/>
              </a:rPr>
              <a:t>Throughput</a:t>
            </a:r>
          </a:p>
        </p:txBody>
      </p:sp>
      <p:sp>
        <p:nvSpPr>
          <p:cNvPr id="15" name="文本框 14">
            <a:extLst>
              <a:ext uri="{FF2B5EF4-FFF2-40B4-BE49-F238E27FC236}">
                <a16:creationId xmlns:a16="http://schemas.microsoft.com/office/drawing/2014/main" id="{18691E97-8D0B-635C-259E-2BA876C22219}"/>
              </a:ext>
            </a:extLst>
          </p:cNvPr>
          <p:cNvSpPr txBox="1"/>
          <p:nvPr/>
        </p:nvSpPr>
        <p:spPr>
          <a:xfrm>
            <a:off x="2115830" y="3939001"/>
            <a:ext cx="636714" cy="307777"/>
          </a:xfrm>
          <a:prstGeom prst="rect">
            <a:avLst/>
          </a:prstGeom>
          <a:noFill/>
        </p:spPr>
        <p:txBody>
          <a:bodyPr wrap="none" rtlCol="0">
            <a:spAutoFit/>
          </a:bodyPr>
          <a:lstStyle/>
          <a:p>
            <a:pPr algn="r">
              <a:spcBef>
                <a:spcPts val="600"/>
              </a:spcBef>
              <a:spcAft>
                <a:spcPts val="600"/>
              </a:spcAft>
            </a:pPr>
            <a:r>
              <a:rPr lang="en-US" altLang="zh-CN" sz="1400" kern="100" dirty="0">
                <a:latin typeface="微软雅黑 Light" panose="020B0502040204020203" pitchFamily="34" charset="-122"/>
                <a:ea typeface="微软雅黑 Light" panose="020B0502040204020203" pitchFamily="34" charset="-122"/>
                <a:cs typeface="Times New Roman" panose="02020603050405020304" pitchFamily="18" charset="0"/>
              </a:rPr>
              <a:t>Delay</a:t>
            </a:r>
          </a:p>
        </p:txBody>
      </p:sp>
      <p:sp>
        <p:nvSpPr>
          <p:cNvPr id="16" name="文本框 15">
            <a:extLst>
              <a:ext uri="{FF2B5EF4-FFF2-40B4-BE49-F238E27FC236}">
                <a16:creationId xmlns:a16="http://schemas.microsoft.com/office/drawing/2014/main" id="{6B951AA4-73AC-4E51-2CE4-5469112DFE86}"/>
              </a:ext>
            </a:extLst>
          </p:cNvPr>
          <p:cNvSpPr txBox="1"/>
          <p:nvPr/>
        </p:nvSpPr>
        <p:spPr>
          <a:xfrm>
            <a:off x="6148890" y="2229001"/>
            <a:ext cx="2043508" cy="307777"/>
          </a:xfrm>
          <a:prstGeom prst="rect">
            <a:avLst/>
          </a:prstGeom>
          <a:noFill/>
        </p:spPr>
        <p:txBody>
          <a:bodyPr wrap="none" rtlCol="0">
            <a:spAutoFit/>
          </a:bodyPr>
          <a:lstStyle/>
          <a:p>
            <a:pPr>
              <a:spcBef>
                <a:spcPts val="600"/>
              </a:spcBef>
              <a:spcAft>
                <a:spcPts val="600"/>
              </a:spcAft>
            </a:pPr>
            <a:r>
              <a:rPr lang="en-US" altLang="zh-CN" sz="1400" kern="100" dirty="0">
                <a:latin typeface="微软雅黑 Light" panose="020B0502040204020203" pitchFamily="34" charset="-122"/>
                <a:ea typeface="微软雅黑 Light" panose="020B0502040204020203" pitchFamily="34" charset="-122"/>
                <a:cs typeface="Times New Roman" panose="02020603050405020304" pitchFamily="18" charset="0"/>
              </a:rPr>
              <a:t>Band Delay Production</a:t>
            </a:r>
          </a:p>
        </p:txBody>
      </p:sp>
      <p:sp>
        <p:nvSpPr>
          <p:cNvPr id="17" name="文本框 16">
            <a:extLst>
              <a:ext uri="{FF2B5EF4-FFF2-40B4-BE49-F238E27FC236}">
                <a16:creationId xmlns:a16="http://schemas.microsoft.com/office/drawing/2014/main" id="{F79AB145-C61D-DB2A-0564-01B877EA644F}"/>
              </a:ext>
            </a:extLst>
          </p:cNvPr>
          <p:cNvSpPr txBox="1"/>
          <p:nvPr/>
        </p:nvSpPr>
        <p:spPr>
          <a:xfrm>
            <a:off x="6148890" y="2913001"/>
            <a:ext cx="1531253" cy="307777"/>
          </a:xfrm>
          <a:prstGeom prst="rect">
            <a:avLst/>
          </a:prstGeom>
          <a:noFill/>
        </p:spPr>
        <p:txBody>
          <a:bodyPr wrap="none" rtlCol="0">
            <a:spAutoFit/>
          </a:bodyPr>
          <a:lstStyle/>
          <a:p>
            <a:pPr>
              <a:spcBef>
                <a:spcPts val="600"/>
              </a:spcBef>
              <a:spcAft>
                <a:spcPts val="600"/>
              </a:spcAft>
            </a:pPr>
            <a:r>
              <a:rPr lang="en-US" altLang="zh-CN" sz="1400" kern="100" dirty="0">
                <a:latin typeface="微软雅黑 Light" panose="020B0502040204020203" pitchFamily="34" charset="-122"/>
                <a:ea typeface="微软雅黑 Light" panose="020B0502040204020203" pitchFamily="34" charset="-122"/>
                <a:cs typeface="Times New Roman" panose="02020603050405020304" pitchFamily="18" charset="0"/>
              </a:rPr>
              <a:t>Round-Trip Time</a:t>
            </a:r>
            <a:endParaRPr lang="zh-CN" altLang="en-US" sz="1400" kern="100" dirty="0">
              <a:latin typeface="微软雅黑 Light" panose="020B0502040204020203" pitchFamily="34" charset="-122"/>
              <a:ea typeface="微软雅黑 Light" panose="020B0502040204020203" pitchFamily="34" charset="-122"/>
              <a:cs typeface="Times New Roman" panose="02020603050405020304" pitchFamily="18" charset="0"/>
            </a:endParaRPr>
          </a:p>
        </p:txBody>
      </p:sp>
      <p:sp>
        <p:nvSpPr>
          <p:cNvPr id="18" name="文本框 17">
            <a:extLst>
              <a:ext uri="{FF2B5EF4-FFF2-40B4-BE49-F238E27FC236}">
                <a16:creationId xmlns:a16="http://schemas.microsoft.com/office/drawing/2014/main" id="{B0965D35-DA65-BC97-777B-17F5A3CC33CB}"/>
              </a:ext>
            </a:extLst>
          </p:cNvPr>
          <p:cNvSpPr txBox="1"/>
          <p:nvPr/>
        </p:nvSpPr>
        <p:spPr>
          <a:xfrm>
            <a:off x="6148890" y="3597001"/>
            <a:ext cx="984565" cy="307777"/>
          </a:xfrm>
          <a:prstGeom prst="rect">
            <a:avLst/>
          </a:prstGeom>
          <a:noFill/>
        </p:spPr>
        <p:txBody>
          <a:bodyPr wrap="none" rtlCol="0">
            <a:spAutoFit/>
          </a:bodyPr>
          <a:lstStyle/>
          <a:p>
            <a:pPr>
              <a:spcBef>
                <a:spcPts val="600"/>
              </a:spcBef>
              <a:spcAft>
                <a:spcPts val="600"/>
              </a:spcAft>
            </a:pPr>
            <a:r>
              <a:rPr lang="en-US" altLang="zh-CN" sz="1400" kern="100" dirty="0">
                <a:latin typeface="微软雅黑 Light" panose="020B0502040204020203" pitchFamily="34" charset="-122"/>
                <a:ea typeface="微软雅黑 Light" panose="020B0502040204020203" pitchFamily="34" charset="-122"/>
                <a:cs typeface="Times New Roman" panose="02020603050405020304" pitchFamily="18" charset="0"/>
              </a:rPr>
              <a:t>Utilization</a:t>
            </a:r>
            <a:endParaRPr lang="zh-CN" altLang="en-US" sz="1400" kern="100" dirty="0">
              <a:latin typeface="微软雅黑 Light" panose="020B0502040204020203" pitchFamily="34" charset="-122"/>
              <a:ea typeface="微软雅黑 Light" panose="020B0502040204020203" pitchFamily="34" charset="-122"/>
              <a:cs typeface="Times New Roman" panose="02020603050405020304" pitchFamily="18" charset="0"/>
            </a:endParaRPr>
          </a:p>
        </p:txBody>
      </p:sp>
      <p:cxnSp>
        <p:nvCxnSpPr>
          <p:cNvPr id="19" name="直接箭头连接符 18">
            <a:extLst>
              <a:ext uri="{FF2B5EF4-FFF2-40B4-BE49-F238E27FC236}">
                <a16:creationId xmlns:a16="http://schemas.microsoft.com/office/drawing/2014/main" id="{150984FC-B15D-F39A-1470-7C46EC5A4132}"/>
              </a:ext>
            </a:extLst>
          </p:cNvPr>
          <p:cNvCxnSpPr>
            <a:stCxn id="12" idx="3"/>
            <a:endCxn id="2" idx="1"/>
          </p:cNvCxnSpPr>
          <p:nvPr/>
        </p:nvCxnSpPr>
        <p:spPr>
          <a:xfrm flipV="1">
            <a:off x="2752544" y="1947243"/>
            <a:ext cx="238337" cy="93647"/>
          </a:xfrm>
          <a:prstGeom prst="straightConnector1">
            <a:avLst/>
          </a:prstGeom>
          <a:ln w="12700">
            <a:solidFill>
              <a:schemeClr val="bg1">
                <a:lumMod val="50000"/>
              </a:schemeClr>
            </a:solidFill>
            <a:tailEnd type="triangle"/>
          </a:ln>
        </p:spPr>
        <p:style>
          <a:lnRef idx="1">
            <a:schemeClr val="dk1"/>
          </a:lnRef>
          <a:fillRef idx="0">
            <a:schemeClr val="dk1"/>
          </a:fillRef>
          <a:effectRef idx="0">
            <a:schemeClr val="dk1"/>
          </a:effectRef>
          <a:fontRef idx="minor">
            <a:schemeClr val="tx1"/>
          </a:fontRef>
        </p:style>
      </p:cxnSp>
      <p:cxnSp>
        <p:nvCxnSpPr>
          <p:cNvPr id="20" name="直接箭头连接符 19">
            <a:extLst>
              <a:ext uri="{FF2B5EF4-FFF2-40B4-BE49-F238E27FC236}">
                <a16:creationId xmlns:a16="http://schemas.microsoft.com/office/drawing/2014/main" id="{EBBAB79F-63DC-1A1C-F7AE-39FCB5007D71}"/>
              </a:ext>
            </a:extLst>
          </p:cNvPr>
          <p:cNvCxnSpPr>
            <a:stCxn id="13" idx="3"/>
            <a:endCxn id="6" idx="1"/>
          </p:cNvCxnSpPr>
          <p:nvPr/>
        </p:nvCxnSpPr>
        <p:spPr>
          <a:xfrm flipV="1">
            <a:off x="2752544" y="2631243"/>
            <a:ext cx="238337" cy="93647"/>
          </a:xfrm>
          <a:prstGeom prst="straightConnector1">
            <a:avLst/>
          </a:prstGeom>
          <a:ln w="12700">
            <a:solidFill>
              <a:schemeClr val="bg1">
                <a:lumMod val="50000"/>
              </a:schemeClr>
            </a:solidFill>
            <a:tailEnd type="triangle"/>
          </a:ln>
        </p:spPr>
        <p:style>
          <a:lnRef idx="1">
            <a:schemeClr val="dk1"/>
          </a:lnRef>
          <a:fillRef idx="0">
            <a:schemeClr val="dk1"/>
          </a:fillRef>
          <a:effectRef idx="0">
            <a:schemeClr val="dk1"/>
          </a:effectRef>
          <a:fontRef idx="minor">
            <a:schemeClr val="tx1"/>
          </a:fontRef>
        </p:style>
      </p:cxnSp>
      <p:cxnSp>
        <p:nvCxnSpPr>
          <p:cNvPr id="21" name="直接箭头连接符 20">
            <a:extLst>
              <a:ext uri="{FF2B5EF4-FFF2-40B4-BE49-F238E27FC236}">
                <a16:creationId xmlns:a16="http://schemas.microsoft.com/office/drawing/2014/main" id="{74536850-2E39-6F97-9EEB-0A89E13B61A9}"/>
              </a:ext>
            </a:extLst>
          </p:cNvPr>
          <p:cNvCxnSpPr>
            <a:stCxn id="14" idx="3"/>
            <a:endCxn id="7" idx="1"/>
          </p:cNvCxnSpPr>
          <p:nvPr/>
        </p:nvCxnSpPr>
        <p:spPr>
          <a:xfrm flipV="1">
            <a:off x="2752544" y="3315243"/>
            <a:ext cx="238337" cy="93647"/>
          </a:xfrm>
          <a:prstGeom prst="straightConnector1">
            <a:avLst/>
          </a:prstGeom>
          <a:ln w="12700">
            <a:solidFill>
              <a:schemeClr val="bg1">
                <a:lumMod val="50000"/>
              </a:schemeClr>
            </a:solidFill>
            <a:tailEnd type="triangle"/>
          </a:ln>
        </p:spPr>
        <p:style>
          <a:lnRef idx="1">
            <a:schemeClr val="dk1"/>
          </a:lnRef>
          <a:fillRef idx="0">
            <a:schemeClr val="dk1"/>
          </a:fillRef>
          <a:effectRef idx="0">
            <a:schemeClr val="dk1"/>
          </a:effectRef>
          <a:fontRef idx="minor">
            <a:schemeClr val="tx1"/>
          </a:fontRef>
        </p:style>
      </p:cxnSp>
      <p:cxnSp>
        <p:nvCxnSpPr>
          <p:cNvPr id="22" name="直接箭头连接符 21">
            <a:extLst>
              <a:ext uri="{FF2B5EF4-FFF2-40B4-BE49-F238E27FC236}">
                <a16:creationId xmlns:a16="http://schemas.microsoft.com/office/drawing/2014/main" id="{EEF44FCD-0E93-FC46-93D9-6A8D5A15E12D}"/>
              </a:ext>
            </a:extLst>
          </p:cNvPr>
          <p:cNvCxnSpPr>
            <a:stCxn id="15" idx="3"/>
            <a:endCxn id="8" idx="1"/>
          </p:cNvCxnSpPr>
          <p:nvPr/>
        </p:nvCxnSpPr>
        <p:spPr>
          <a:xfrm flipV="1">
            <a:off x="2752544" y="3999243"/>
            <a:ext cx="238337" cy="93647"/>
          </a:xfrm>
          <a:prstGeom prst="straightConnector1">
            <a:avLst/>
          </a:prstGeom>
          <a:ln w="12700">
            <a:solidFill>
              <a:schemeClr val="bg1">
                <a:lumMod val="50000"/>
              </a:schemeClr>
            </a:solidFill>
            <a:tailEnd type="triangle"/>
          </a:ln>
        </p:spPr>
        <p:style>
          <a:lnRef idx="1">
            <a:schemeClr val="dk1"/>
          </a:lnRef>
          <a:fillRef idx="0">
            <a:schemeClr val="dk1"/>
          </a:fillRef>
          <a:effectRef idx="0">
            <a:schemeClr val="dk1"/>
          </a:effectRef>
          <a:fontRef idx="minor">
            <a:schemeClr val="tx1"/>
          </a:fontRef>
        </p:style>
      </p:cxnSp>
      <p:cxnSp>
        <p:nvCxnSpPr>
          <p:cNvPr id="23" name="直接箭头连接符 22">
            <a:extLst>
              <a:ext uri="{FF2B5EF4-FFF2-40B4-BE49-F238E27FC236}">
                <a16:creationId xmlns:a16="http://schemas.microsoft.com/office/drawing/2014/main" id="{25DF2FA5-2D56-E952-9DC3-6AF02B7E4BCD}"/>
              </a:ext>
            </a:extLst>
          </p:cNvPr>
          <p:cNvCxnSpPr>
            <a:stCxn id="16" idx="1"/>
            <a:endCxn id="9" idx="3"/>
          </p:cNvCxnSpPr>
          <p:nvPr/>
        </p:nvCxnSpPr>
        <p:spPr>
          <a:xfrm flipH="1" flipV="1">
            <a:off x="5908909" y="2289243"/>
            <a:ext cx="239981" cy="93647"/>
          </a:xfrm>
          <a:prstGeom prst="straightConnector1">
            <a:avLst/>
          </a:prstGeom>
          <a:ln w="12700">
            <a:solidFill>
              <a:schemeClr val="bg1">
                <a:lumMod val="50000"/>
              </a:schemeClr>
            </a:solidFill>
            <a:tailEnd type="triangle"/>
          </a:ln>
        </p:spPr>
        <p:style>
          <a:lnRef idx="1">
            <a:schemeClr val="dk1"/>
          </a:lnRef>
          <a:fillRef idx="0">
            <a:schemeClr val="dk1"/>
          </a:fillRef>
          <a:effectRef idx="0">
            <a:schemeClr val="dk1"/>
          </a:effectRef>
          <a:fontRef idx="minor">
            <a:schemeClr val="tx1"/>
          </a:fontRef>
        </p:style>
      </p:cxnSp>
      <p:cxnSp>
        <p:nvCxnSpPr>
          <p:cNvPr id="24" name="直接箭头连接符 23">
            <a:extLst>
              <a:ext uri="{FF2B5EF4-FFF2-40B4-BE49-F238E27FC236}">
                <a16:creationId xmlns:a16="http://schemas.microsoft.com/office/drawing/2014/main" id="{CCCEB7ED-7D00-5AE1-96E8-5AACA8D42241}"/>
              </a:ext>
            </a:extLst>
          </p:cNvPr>
          <p:cNvCxnSpPr>
            <a:stCxn id="17" idx="1"/>
            <a:endCxn id="10" idx="3"/>
          </p:cNvCxnSpPr>
          <p:nvPr/>
        </p:nvCxnSpPr>
        <p:spPr>
          <a:xfrm flipH="1" flipV="1">
            <a:off x="5908909" y="2973243"/>
            <a:ext cx="239981" cy="93647"/>
          </a:xfrm>
          <a:prstGeom prst="straightConnector1">
            <a:avLst/>
          </a:prstGeom>
          <a:ln w="12700">
            <a:solidFill>
              <a:schemeClr val="bg1">
                <a:lumMod val="50000"/>
              </a:schemeClr>
            </a:solidFill>
            <a:tailEnd type="triangle"/>
          </a:ln>
        </p:spPr>
        <p:style>
          <a:lnRef idx="1">
            <a:schemeClr val="dk1"/>
          </a:lnRef>
          <a:fillRef idx="0">
            <a:schemeClr val="dk1"/>
          </a:fillRef>
          <a:effectRef idx="0">
            <a:schemeClr val="dk1"/>
          </a:effectRef>
          <a:fontRef idx="minor">
            <a:schemeClr val="tx1"/>
          </a:fontRef>
        </p:style>
      </p:cxnSp>
      <p:cxnSp>
        <p:nvCxnSpPr>
          <p:cNvPr id="25" name="直接箭头连接符 24">
            <a:extLst>
              <a:ext uri="{FF2B5EF4-FFF2-40B4-BE49-F238E27FC236}">
                <a16:creationId xmlns:a16="http://schemas.microsoft.com/office/drawing/2014/main" id="{361B4CE9-7835-55D9-2B27-A53F9363287F}"/>
              </a:ext>
            </a:extLst>
          </p:cNvPr>
          <p:cNvCxnSpPr>
            <a:stCxn id="18" idx="1"/>
            <a:endCxn id="11" idx="3"/>
          </p:cNvCxnSpPr>
          <p:nvPr/>
        </p:nvCxnSpPr>
        <p:spPr>
          <a:xfrm flipH="1" flipV="1">
            <a:off x="5908909" y="3657243"/>
            <a:ext cx="239981" cy="93647"/>
          </a:xfrm>
          <a:prstGeom prst="straightConnector1">
            <a:avLst/>
          </a:prstGeom>
          <a:ln w="12700">
            <a:solidFill>
              <a:schemeClr val="bg1">
                <a:lumMod val="50000"/>
              </a:schemeClr>
            </a:solidFill>
            <a:tailEnd type="triangle"/>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92843288"/>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DA810738-F540-8D57-7883-3FD9EE570ADB}"/>
              </a:ext>
            </a:extLst>
          </p:cNvPr>
          <p:cNvSpPr>
            <a:spLocks noGrp="1"/>
          </p:cNvSpPr>
          <p:nvPr>
            <p:ph type="title"/>
          </p:nvPr>
        </p:nvSpPr>
        <p:spPr>
          <a:xfrm>
            <a:off x="612000" y="144000"/>
            <a:ext cx="7920000" cy="341632"/>
          </a:xfrm>
        </p:spPr>
        <p:txBody>
          <a:bodyPr/>
          <a:lstStyle/>
          <a:p>
            <a:r>
              <a:rPr lang="en-US" altLang="zh-CN" dirty="0"/>
              <a:t>1. </a:t>
            </a:r>
            <a:r>
              <a:rPr lang="zh-CN" altLang="en-US" dirty="0"/>
              <a:t>速率 </a:t>
            </a:r>
            <a:r>
              <a:rPr lang="en-US" altLang="zh-CN" dirty="0"/>
              <a:t>bit rate</a:t>
            </a:r>
            <a:endParaRPr lang="zh-CN" altLang="en-US" dirty="0"/>
          </a:p>
        </p:txBody>
      </p:sp>
      <p:sp>
        <p:nvSpPr>
          <p:cNvPr id="4" name="内容占位符 3"/>
          <p:cNvSpPr>
            <a:spLocks noGrp="1"/>
          </p:cNvSpPr>
          <p:nvPr>
            <p:ph sz="quarter" idx="10"/>
          </p:nvPr>
        </p:nvSpPr>
        <p:spPr>
          <a:xfrm>
            <a:off x="612000" y="899999"/>
            <a:ext cx="7920000" cy="3780000"/>
          </a:xfrm>
        </p:spPr>
        <p:txBody>
          <a:bodyPr/>
          <a:lstStyle/>
          <a:p>
            <a:r>
              <a:rPr lang="zh-CN" altLang="en-US" dirty="0"/>
              <a:t>最重要的一个性能指标</a:t>
            </a:r>
            <a:endParaRPr lang="en-US" altLang="zh-CN" dirty="0"/>
          </a:p>
          <a:p>
            <a:r>
              <a:rPr lang="zh-CN" altLang="en-US" dirty="0"/>
              <a:t>指的是数据的传：送速率每秒 </a:t>
            </a:r>
            <a:r>
              <a:rPr lang="en-US" altLang="zh-CN" dirty="0"/>
              <a:t>second </a:t>
            </a:r>
            <a:r>
              <a:rPr lang="zh-CN" altLang="en-US" dirty="0"/>
              <a:t>传送多少个比特 </a:t>
            </a:r>
            <a:r>
              <a:rPr lang="en-US" altLang="zh-CN" dirty="0"/>
              <a:t>bit</a:t>
            </a:r>
          </a:p>
          <a:p>
            <a:r>
              <a:rPr lang="zh-CN" altLang="en-US" dirty="0"/>
              <a:t>也称为数据率 </a:t>
            </a:r>
            <a:r>
              <a:rPr lang="en-US" altLang="zh-CN" dirty="0"/>
              <a:t>data rate</a:t>
            </a:r>
          </a:p>
          <a:p>
            <a:r>
              <a:rPr lang="zh-CN" altLang="en-US" dirty="0"/>
              <a:t>常见单位：</a:t>
            </a:r>
            <a:r>
              <a:rPr lang="en-US" altLang="zh-CN" dirty="0"/>
              <a:t>bit/s</a:t>
            </a:r>
            <a:r>
              <a:rPr lang="zh-CN" altLang="en-US" dirty="0"/>
              <a:t>，或 </a:t>
            </a:r>
            <a:r>
              <a:rPr lang="en-US" altLang="zh-CN" dirty="0"/>
              <a:t>Kbit/s</a:t>
            </a:r>
            <a:r>
              <a:rPr lang="zh-CN" altLang="en-US" dirty="0"/>
              <a:t>、</a:t>
            </a:r>
            <a:r>
              <a:rPr lang="en-US" altLang="zh-CN" dirty="0"/>
              <a:t>Mbit/s</a:t>
            </a:r>
            <a:r>
              <a:rPr lang="zh-CN" altLang="en-US" dirty="0"/>
              <a:t>、 </a:t>
            </a:r>
            <a:r>
              <a:rPr lang="en-US" altLang="zh-CN" dirty="0"/>
              <a:t>Gbit/s </a:t>
            </a:r>
          </a:p>
          <a:p>
            <a:r>
              <a:rPr lang="zh-CN" altLang="en-US" dirty="0"/>
              <a:t>通常简写为 </a:t>
            </a:r>
            <a:r>
              <a:rPr lang="en-US" altLang="zh-CN" dirty="0"/>
              <a:t>bps</a:t>
            </a:r>
            <a:r>
              <a:rPr lang="zh-CN" altLang="en-US" dirty="0"/>
              <a:t>（</a:t>
            </a:r>
            <a:r>
              <a:rPr lang="en-US" altLang="zh-CN" dirty="0"/>
              <a:t>bit per second</a:t>
            </a:r>
            <a:r>
              <a:rPr lang="zh-CN" altLang="en-US" dirty="0"/>
              <a:t>）</a:t>
            </a:r>
            <a:endParaRPr lang="en-US" altLang="zh-CN" dirty="0"/>
          </a:p>
          <a:p>
            <a:r>
              <a:rPr lang="zh-CN" altLang="en-US" dirty="0"/>
              <a:t>速率往往是指</a:t>
            </a:r>
            <a:r>
              <a:rPr lang="zh-CN" altLang="en-US" dirty="0">
                <a:solidFill>
                  <a:srgbClr val="D4237A"/>
                </a:solidFill>
              </a:rPr>
              <a:t>额定速率</a:t>
            </a:r>
            <a:r>
              <a:rPr lang="zh-CN" altLang="en-US" dirty="0"/>
              <a:t>或</a:t>
            </a:r>
            <a:r>
              <a:rPr lang="zh-CN" altLang="en-US" dirty="0">
                <a:solidFill>
                  <a:srgbClr val="D4237A"/>
                </a:solidFill>
              </a:rPr>
              <a:t>标称速率</a:t>
            </a:r>
            <a:r>
              <a:rPr lang="zh-CN" altLang="en-US" dirty="0"/>
              <a:t>，非实际运行速率</a:t>
            </a:r>
          </a:p>
        </p:txBody>
      </p:sp>
      <p:graphicFrame>
        <p:nvGraphicFramePr>
          <p:cNvPr id="6" name="表格 5">
            <a:extLst>
              <a:ext uri="{FF2B5EF4-FFF2-40B4-BE49-F238E27FC236}">
                <a16:creationId xmlns:a16="http://schemas.microsoft.com/office/drawing/2014/main" id="{EE5AB4CF-F209-B06D-13DE-9506C0EAE7D8}"/>
              </a:ext>
            </a:extLst>
          </p:cNvPr>
          <p:cNvGraphicFramePr>
            <a:graphicFrameLocks noGrp="1"/>
          </p:cNvGraphicFramePr>
          <p:nvPr>
            <p:extLst>
              <p:ext uri="{D42A27DB-BD31-4B8C-83A1-F6EECF244321}">
                <p14:modId xmlns:p14="http://schemas.microsoft.com/office/powerpoint/2010/main" val="2926149004"/>
              </p:ext>
            </p:extLst>
          </p:nvPr>
        </p:nvGraphicFramePr>
        <p:xfrm>
          <a:off x="1512000" y="3187029"/>
          <a:ext cx="6120000" cy="1112520"/>
        </p:xfrm>
        <a:graphic>
          <a:graphicData uri="http://schemas.openxmlformats.org/drawingml/2006/table">
            <a:tbl>
              <a:tblPr firstRow="1" bandRow="1">
                <a:tableStyleId>{2D5ABB26-0587-4C30-8999-92F81FD0307C}</a:tableStyleId>
              </a:tblPr>
              <a:tblGrid>
                <a:gridCol w="1440000">
                  <a:extLst>
                    <a:ext uri="{9D8B030D-6E8A-4147-A177-3AD203B41FA5}">
                      <a16:colId xmlns:a16="http://schemas.microsoft.com/office/drawing/2014/main" val="3651162237"/>
                    </a:ext>
                  </a:extLst>
                </a:gridCol>
                <a:gridCol w="2520000">
                  <a:extLst>
                    <a:ext uri="{9D8B030D-6E8A-4147-A177-3AD203B41FA5}">
                      <a16:colId xmlns:a16="http://schemas.microsoft.com/office/drawing/2014/main" val="507947089"/>
                    </a:ext>
                  </a:extLst>
                </a:gridCol>
                <a:gridCol w="2160000">
                  <a:extLst>
                    <a:ext uri="{9D8B030D-6E8A-4147-A177-3AD203B41FA5}">
                      <a16:colId xmlns:a16="http://schemas.microsoft.com/office/drawing/2014/main" val="1124127991"/>
                    </a:ext>
                  </a:extLst>
                </a:gridCol>
              </a:tblGrid>
              <a:tr h="370840">
                <a:tc>
                  <a:txBody>
                    <a:bodyPr/>
                    <a:lstStyle/>
                    <a:p>
                      <a:pPr algn="r"/>
                      <a:r>
                        <a:rPr lang="en-US" altLang="zh-CN" sz="1400" dirty="0"/>
                        <a:t>4 </a:t>
                      </a:r>
                      <a:r>
                        <a:rPr lang="en-US" altLang="zh-CN" sz="1400" dirty="0">
                          <a:sym typeface="Symbol" pitchFamily="18" charset="2"/>
                        </a:rPr>
                        <a:t></a:t>
                      </a:r>
                      <a:r>
                        <a:rPr lang="en-US" altLang="zh-CN" sz="1400" dirty="0"/>
                        <a:t> 10</a:t>
                      </a:r>
                      <a:r>
                        <a:rPr lang="en-US" altLang="zh-CN" sz="1400" baseline="30000" dirty="0"/>
                        <a:t>10</a:t>
                      </a:r>
                      <a:r>
                        <a:rPr lang="en-US" altLang="zh-CN" sz="1400" dirty="0"/>
                        <a:t>  bit/s </a:t>
                      </a:r>
                      <a:endParaRPr lang="zh-CN" altLang="en-US" sz="1400" dirty="0"/>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altLang="zh-CN" sz="1400" dirty="0"/>
                        <a:t>= 40 </a:t>
                      </a:r>
                      <a:r>
                        <a:rPr lang="en-US" altLang="zh-CN" sz="1400" dirty="0">
                          <a:sym typeface="Symbol" pitchFamily="18" charset="2"/>
                        </a:rPr>
                        <a:t></a:t>
                      </a:r>
                      <a:r>
                        <a:rPr lang="en-US" altLang="zh-CN" sz="1400" dirty="0"/>
                        <a:t> 10</a:t>
                      </a:r>
                      <a:r>
                        <a:rPr lang="en-US" altLang="zh-CN" sz="1400" baseline="30000" dirty="0"/>
                        <a:t>9</a:t>
                      </a:r>
                      <a:r>
                        <a:rPr lang="en-US" altLang="zh-CN" sz="1400" dirty="0"/>
                        <a:t> bit/s </a:t>
                      </a:r>
                      <a:endParaRPr lang="zh-CN" altLang="en-US" sz="1400" dirty="0"/>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zh-CN" altLang="en-US" sz="1400" dirty="0"/>
                        <a:t>→</a:t>
                      </a:r>
                      <a:r>
                        <a:rPr lang="en-US" altLang="zh-CN" sz="1400" dirty="0"/>
                        <a:t> 40 Gbps</a:t>
                      </a:r>
                      <a:endParaRPr lang="zh-CN" altLang="en-US" sz="1400" dirty="0"/>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451723995"/>
                  </a:ext>
                </a:extLst>
              </a:tr>
              <a:tr h="370840">
                <a:tc>
                  <a:txBody>
                    <a:bodyPr/>
                    <a:lstStyle/>
                    <a:p>
                      <a:pPr algn="r"/>
                      <a:endParaRPr lang="zh-CN" altLang="en-US" sz="1400" dirty="0"/>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altLang="zh-CN" sz="1400" dirty="0"/>
                        <a:t>= 40 </a:t>
                      </a:r>
                      <a:r>
                        <a:rPr lang="en-US" altLang="zh-CN" sz="1400" dirty="0">
                          <a:sym typeface="Symbol" pitchFamily="18" charset="2"/>
                        </a:rPr>
                        <a:t></a:t>
                      </a:r>
                      <a:r>
                        <a:rPr lang="en-US" altLang="zh-CN" sz="1400" dirty="0"/>
                        <a:t> 10</a:t>
                      </a:r>
                      <a:r>
                        <a:rPr lang="en-US" altLang="zh-CN" sz="1400" baseline="30000" dirty="0"/>
                        <a:t>3 </a:t>
                      </a:r>
                      <a:r>
                        <a:rPr lang="en-US" altLang="zh-CN" sz="1400" dirty="0">
                          <a:sym typeface="Symbol" pitchFamily="18" charset="2"/>
                        </a:rPr>
                        <a:t></a:t>
                      </a:r>
                      <a:r>
                        <a:rPr lang="en-US" altLang="zh-CN" sz="1400" dirty="0"/>
                        <a:t> 10</a:t>
                      </a:r>
                      <a:r>
                        <a:rPr lang="en-US" altLang="zh-CN" sz="1400" baseline="30000" dirty="0"/>
                        <a:t>6</a:t>
                      </a:r>
                      <a:r>
                        <a:rPr lang="en-US" altLang="zh-CN" sz="1400" dirty="0"/>
                        <a:t> bit/s </a:t>
                      </a:r>
                      <a:endParaRPr lang="zh-CN" altLang="en-US" sz="1400" dirty="0"/>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zh-CN" altLang="en-US" sz="1400" dirty="0"/>
                        <a:t>→</a:t>
                      </a:r>
                      <a:r>
                        <a:rPr lang="en-US" altLang="zh-CN" sz="1400" dirty="0"/>
                        <a:t> 40 </a:t>
                      </a:r>
                      <a:r>
                        <a:rPr lang="en-US" altLang="zh-CN" sz="1400" dirty="0">
                          <a:sym typeface="Symbol" pitchFamily="18" charset="2"/>
                        </a:rPr>
                        <a:t></a:t>
                      </a:r>
                      <a:r>
                        <a:rPr lang="en-US" altLang="zh-CN" sz="1400" dirty="0"/>
                        <a:t> 10</a:t>
                      </a:r>
                      <a:r>
                        <a:rPr lang="en-US" altLang="zh-CN" sz="1400" baseline="30000" dirty="0"/>
                        <a:t>3  </a:t>
                      </a:r>
                      <a:r>
                        <a:rPr lang="en-US" altLang="zh-CN" sz="1400" dirty="0"/>
                        <a:t>Mbps</a:t>
                      </a:r>
                      <a:endParaRPr lang="zh-CN" altLang="en-US" sz="1400" dirty="0"/>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247322207"/>
                  </a:ext>
                </a:extLst>
              </a:tr>
              <a:tr h="370840">
                <a:tc>
                  <a:txBody>
                    <a:bodyPr/>
                    <a:lstStyle/>
                    <a:p>
                      <a:pPr algn="r"/>
                      <a:endParaRPr lang="zh-CN" altLang="en-US" sz="1400" dirty="0"/>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altLang="zh-CN" sz="1400" dirty="0"/>
                        <a:t>= 40 </a:t>
                      </a:r>
                      <a:r>
                        <a:rPr lang="en-US" altLang="zh-CN" sz="1400" dirty="0">
                          <a:sym typeface="Symbol" pitchFamily="18" charset="2"/>
                        </a:rPr>
                        <a:t></a:t>
                      </a:r>
                      <a:r>
                        <a:rPr lang="en-US" altLang="zh-CN" sz="1400" dirty="0"/>
                        <a:t> 10</a:t>
                      </a:r>
                      <a:r>
                        <a:rPr lang="en-US" altLang="zh-CN" sz="1400" baseline="30000" dirty="0"/>
                        <a:t>3 </a:t>
                      </a:r>
                      <a:r>
                        <a:rPr lang="en-US" altLang="zh-CN" sz="1400" dirty="0">
                          <a:sym typeface="Symbol" pitchFamily="18" charset="2"/>
                        </a:rPr>
                        <a:t></a:t>
                      </a:r>
                      <a:r>
                        <a:rPr lang="en-US" altLang="zh-CN" sz="1400" dirty="0"/>
                        <a:t> 10</a:t>
                      </a:r>
                      <a:r>
                        <a:rPr lang="en-US" altLang="zh-CN" sz="1400" baseline="30000" dirty="0"/>
                        <a:t>3</a:t>
                      </a:r>
                      <a:r>
                        <a:rPr lang="en-US" altLang="zh-CN" sz="1400" dirty="0"/>
                        <a:t> </a:t>
                      </a:r>
                      <a:r>
                        <a:rPr lang="en-US" altLang="zh-CN" sz="1400" dirty="0">
                          <a:sym typeface="Symbol" pitchFamily="18" charset="2"/>
                        </a:rPr>
                        <a:t></a:t>
                      </a:r>
                      <a:r>
                        <a:rPr lang="en-US" altLang="zh-CN" sz="1400" dirty="0"/>
                        <a:t> 10</a:t>
                      </a:r>
                      <a:r>
                        <a:rPr lang="en-US" altLang="zh-CN" sz="1400" baseline="30000" dirty="0"/>
                        <a:t>3 </a:t>
                      </a:r>
                      <a:r>
                        <a:rPr lang="en-US" altLang="zh-CN" sz="1400" dirty="0"/>
                        <a:t>bit/s </a:t>
                      </a:r>
                      <a:endParaRPr lang="zh-CN" altLang="en-US" sz="1400" dirty="0"/>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zh-CN" altLang="en-US" sz="1400" dirty="0"/>
                        <a:t>→</a:t>
                      </a:r>
                      <a:r>
                        <a:rPr lang="en-US" altLang="zh-CN" sz="1400" dirty="0"/>
                        <a:t> 40 </a:t>
                      </a:r>
                      <a:r>
                        <a:rPr lang="en-US" altLang="zh-CN" sz="1400" dirty="0">
                          <a:sym typeface="Symbol" pitchFamily="18" charset="2"/>
                        </a:rPr>
                        <a:t></a:t>
                      </a:r>
                      <a:r>
                        <a:rPr lang="en-US" altLang="zh-CN" sz="1400" dirty="0"/>
                        <a:t> 10</a:t>
                      </a:r>
                      <a:r>
                        <a:rPr lang="en-US" altLang="zh-CN" sz="1400" baseline="30000" dirty="0"/>
                        <a:t>3  </a:t>
                      </a:r>
                      <a:r>
                        <a:rPr lang="en-US" altLang="zh-CN" sz="1400" dirty="0">
                          <a:sym typeface="Symbol" pitchFamily="18" charset="2"/>
                        </a:rPr>
                        <a:t></a:t>
                      </a:r>
                      <a:r>
                        <a:rPr lang="en-US" altLang="zh-CN" sz="1400" dirty="0"/>
                        <a:t> 10</a:t>
                      </a:r>
                      <a:r>
                        <a:rPr lang="en-US" altLang="zh-CN" sz="1400" baseline="30000" dirty="0"/>
                        <a:t>3  </a:t>
                      </a:r>
                      <a:r>
                        <a:rPr lang="en-US" altLang="zh-CN" sz="1400" dirty="0"/>
                        <a:t>Kbps</a:t>
                      </a:r>
                      <a:endParaRPr lang="zh-CN" altLang="en-US" sz="1400" dirty="0"/>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920185868"/>
                  </a:ext>
                </a:extLst>
              </a:tr>
            </a:tbl>
          </a:graphicData>
        </a:graphic>
      </p:graphicFrame>
      <p:pic>
        <p:nvPicPr>
          <p:cNvPr id="5" name="Picture 2">
            <a:extLst>
              <a:ext uri="{FF2B5EF4-FFF2-40B4-BE49-F238E27FC236}">
                <a16:creationId xmlns:a16="http://schemas.microsoft.com/office/drawing/2014/main" id="{7B9FD912-946F-15F7-3E38-EC5395D0DBDA}"/>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092000" y="463501"/>
            <a:ext cx="1440000" cy="1440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57753794"/>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385E49DF-B476-99B9-EF51-9C0FCA9BFA1C}"/>
              </a:ext>
            </a:extLst>
          </p:cNvPr>
          <p:cNvSpPr>
            <a:spLocks noGrp="1"/>
          </p:cNvSpPr>
          <p:nvPr>
            <p:ph type="title"/>
          </p:nvPr>
        </p:nvSpPr>
        <p:spPr>
          <a:xfrm>
            <a:off x="612000" y="144000"/>
            <a:ext cx="7920000" cy="341632"/>
          </a:xfrm>
        </p:spPr>
        <p:txBody>
          <a:bodyPr/>
          <a:lstStyle/>
          <a:p>
            <a:r>
              <a:rPr lang="en-US" altLang="zh-CN" dirty="0"/>
              <a:t>2. </a:t>
            </a:r>
            <a:r>
              <a:rPr lang="zh-CN" altLang="en-US" dirty="0"/>
              <a:t>带宽 </a:t>
            </a:r>
            <a:r>
              <a:rPr lang="en-US" altLang="zh-CN" dirty="0"/>
              <a:t>bandwidth</a:t>
            </a:r>
            <a:endParaRPr lang="zh-CN" altLang="en-US" dirty="0"/>
          </a:p>
        </p:txBody>
      </p:sp>
      <p:sp>
        <p:nvSpPr>
          <p:cNvPr id="7" name="内容占位符 6">
            <a:extLst>
              <a:ext uri="{FF2B5EF4-FFF2-40B4-BE49-F238E27FC236}">
                <a16:creationId xmlns:a16="http://schemas.microsoft.com/office/drawing/2014/main" id="{7510743D-BF72-2C51-F35F-42438CB51979}"/>
              </a:ext>
            </a:extLst>
          </p:cNvPr>
          <p:cNvSpPr>
            <a:spLocks noGrp="1"/>
          </p:cNvSpPr>
          <p:nvPr>
            <p:ph sz="quarter" idx="10"/>
          </p:nvPr>
        </p:nvSpPr>
        <p:spPr>
          <a:xfrm>
            <a:off x="612000" y="899999"/>
            <a:ext cx="7920000" cy="3780000"/>
          </a:xfrm>
        </p:spPr>
        <p:txBody>
          <a:bodyPr>
            <a:normAutofit/>
          </a:bodyPr>
          <a:lstStyle/>
          <a:p>
            <a:r>
              <a:rPr lang="zh-CN" altLang="en-US" dirty="0"/>
              <a:t>频域</a:t>
            </a:r>
            <a:endParaRPr lang="en-US" altLang="zh-CN" dirty="0"/>
          </a:p>
          <a:p>
            <a:pPr lvl="1"/>
            <a:r>
              <a:rPr lang="zh-CN" altLang="en-US" dirty="0"/>
              <a:t>某个信号具有的频带宽度</a:t>
            </a:r>
          </a:p>
          <a:p>
            <a:pPr lvl="1"/>
            <a:r>
              <a:rPr lang="zh-CN" altLang="en-US" dirty="0"/>
              <a:t>单位：赫兹 </a:t>
            </a:r>
            <a:r>
              <a:rPr lang="en-US" altLang="zh-CN" dirty="0" err="1"/>
              <a:t>hz</a:t>
            </a:r>
            <a:r>
              <a:rPr lang="zh-CN" altLang="en-US" dirty="0"/>
              <a:t>、千赫 </a:t>
            </a:r>
            <a:r>
              <a:rPr lang="en-US" altLang="zh-CN" dirty="0" err="1"/>
              <a:t>Khz</a:t>
            </a:r>
            <a:r>
              <a:rPr lang="zh-CN" altLang="en-US" dirty="0"/>
              <a:t>、兆赫 </a:t>
            </a:r>
            <a:r>
              <a:rPr lang="en-US" altLang="zh-CN" dirty="0" err="1"/>
              <a:t>Mhz</a:t>
            </a:r>
            <a:r>
              <a:rPr lang="zh-CN" altLang="en-US" dirty="0"/>
              <a:t>、吉赫 </a:t>
            </a:r>
            <a:r>
              <a:rPr lang="en-US" altLang="zh-CN" dirty="0" err="1"/>
              <a:t>Ghz</a:t>
            </a:r>
            <a:endParaRPr lang="zh-CN" altLang="en-US" dirty="0"/>
          </a:p>
          <a:p>
            <a:pPr lvl="1"/>
            <a:r>
              <a:rPr lang="zh-CN" altLang="en-US" dirty="0"/>
              <a:t>某信道允许通过的信号频带范围称为该信道的带宽</a:t>
            </a:r>
            <a:r>
              <a:rPr lang="en-US" altLang="zh-CN" dirty="0"/>
              <a:t>/</a:t>
            </a:r>
            <a:r>
              <a:rPr lang="zh-CN" altLang="en-US" dirty="0"/>
              <a:t>通频带</a:t>
            </a:r>
          </a:p>
          <a:p>
            <a:r>
              <a:rPr lang="zh-CN" altLang="en-US" dirty="0"/>
              <a:t>时域</a:t>
            </a:r>
            <a:endParaRPr lang="en-US" altLang="zh-CN" dirty="0"/>
          </a:p>
          <a:p>
            <a:pPr lvl="1"/>
            <a:r>
              <a:rPr lang="zh-CN" altLang="en-US" dirty="0"/>
              <a:t>表示在单位时间内网络中的某信道所能通过的</a:t>
            </a:r>
            <a:r>
              <a:rPr lang="zh-CN" altLang="en-US" dirty="0">
                <a:solidFill>
                  <a:srgbClr val="D4237A"/>
                </a:solidFill>
              </a:rPr>
              <a:t>最高数据率</a:t>
            </a:r>
          </a:p>
          <a:p>
            <a:pPr lvl="1"/>
            <a:r>
              <a:rPr lang="zh-CN" altLang="en-US" dirty="0"/>
              <a:t>网络中某通道传送数据的能力</a:t>
            </a:r>
            <a:endParaRPr lang="en-US" altLang="zh-CN" dirty="0"/>
          </a:p>
          <a:p>
            <a:pPr lvl="1"/>
            <a:r>
              <a:rPr lang="zh-CN" altLang="en-US" dirty="0"/>
              <a:t>单位就是数据率的单位 </a:t>
            </a:r>
            <a:r>
              <a:rPr lang="en-US" altLang="en-US" dirty="0"/>
              <a:t>bit/s</a:t>
            </a:r>
            <a:endParaRPr lang="en-US" altLang="zh-CN" dirty="0"/>
          </a:p>
          <a:p>
            <a:r>
              <a:rPr lang="zh-CN" altLang="en-US" dirty="0"/>
              <a:t>两者</a:t>
            </a:r>
            <a:r>
              <a:rPr lang="zh-CN" altLang="zh-CN" dirty="0"/>
              <a:t>本质相同</a:t>
            </a:r>
            <a:r>
              <a:rPr lang="zh-CN" altLang="en-US" dirty="0"/>
              <a:t>：</a:t>
            </a:r>
            <a:r>
              <a:rPr lang="zh-CN" altLang="zh-CN" dirty="0"/>
              <a:t>一条通信链路的带宽越宽，其所能传输的最高数据率也越高</a:t>
            </a:r>
            <a:endParaRPr lang="zh-CN" altLang="en-US" dirty="0"/>
          </a:p>
        </p:txBody>
      </p:sp>
      <p:pic>
        <p:nvPicPr>
          <p:cNvPr id="3" name="Picture 2">
            <a:extLst>
              <a:ext uri="{FF2B5EF4-FFF2-40B4-BE49-F238E27FC236}">
                <a16:creationId xmlns:a16="http://schemas.microsoft.com/office/drawing/2014/main" id="{B45BD449-292A-A0E9-223B-9576202CBCCC}"/>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092000" y="463501"/>
            <a:ext cx="1440000" cy="1440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29095979"/>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0B6D2ABB-F15C-5C22-55AD-23B8A06951D9}"/>
              </a:ext>
            </a:extLst>
          </p:cNvPr>
          <p:cNvSpPr>
            <a:spLocks noGrp="1"/>
          </p:cNvSpPr>
          <p:nvPr>
            <p:ph type="title"/>
          </p:nvPr>
        </p:nvSpPr>
        <p:spPr>
          <a:xfrm>
            <a:off x="612000" y="144000"/>
            <a:ext cx="7920000" cy="341632"/>
          </a:xfrm>
        </p:spPr>
        <p:txBody>
          <a:bodyPr/>
          <a:lstStyle/>
          <a:p>
            <a:r>
              <a:rPr lang="en-US" altLang="zh-CN" dirty="0"/>
              <a:t>3. </a:t>
            </a:r>
            <a:r>
              <a:rPr lang="zh-CN" altLang="en-US" dirty="0"/>
              <a:t>吞吐量 </a:t>
            </a:r>
            <a:r>
              <a:rPr lang="en-US" altLang="zh-CN" dirty="0"/>
              <a:t>(throughput)</a:t>
            </a:r>
            <a:endParaRPr lang="zh-CN" altLang="en-US" dirty="0"/>
          </a:p>
        </p:txBody>
      </p:sp>
      <p:sp>
        <p:nvSpPr>
          <p:cNvPr id="2" name="内容占位符 1"/>
          <p:cNvSpPr>
            <a:spLocks noGrp="1"/>
          </p:cNvSpPr>
          <p:nvPr>
            <p:ph sz="quarter" idx="10"/>
          </p:nvPr>
        </p:nvSpPr>
        <p:spPr>
          <a:xfrm>
            <a:off x="612000" y="899999"/>
            <a:ext cx="7920000" cy="3780000"/>
          </a:xfrm>
        </p:spPr>
        <p:txBody>
          <a:bodyPr/>
          <a:lstStyle/>
          <a:p>
            <a:r>
              <a:rPr lang="zh-CN" altLang="en-US" dirty="0"/>
              <a:t>单位时间内通过某个网络（或信道、接口）的</a:t>
            </a:r>
            <a:r>
              <a:rPr lang="zh-CN" altLang="en-US" dirty="0">
                <a:solidFill>
                  <a:srgbClr val="D4237A"/>
                </a:solidFill>
              </a:rPr>
              <a:t>实际数据量</a:t>
            </a:r>
            <a:endParaRPr lang="en-US" altLang="zh-CN" dirty="0">
              <a:solidFill>
                <a:srgbClr val="D4237A"/>
              </a:solidFill>
            </a:endParaRPr>
          </a:p>
          <a:p>
            <a:r>
              <a:rPr lang="zh-CN" altLang="en-US" dirty="0"/>
              <a:t>受网络的带宽或网络的额定速率的限制</a:t>
            </a:r>
            <a:endParaRPr lang="en-US" altLang="zh-CN" dirty="0"/>
          </a:p>
          <a:p>
            <a:pPr lvl="1"/>
            <a:r>
              <a:rPr lang="zh-CN" altLang="en-US" dirty="0"/>
              <a:t>额定速率是绝对上限值</a:t>
            </a:r>
            <a:endParaRPr lang="en-US" altLang="zh-CN" dirty="0"/>
          </a:p>
          <a:p>
            <a:pPr lvl="1"/>
            <a:r>
              <a:rPr lang="zh-CN" altLang="en-US" dirty="0"/>
              <a:t>可能会远小于额定速率，甚至下降到零</a:t>
            </a:r>
            <a:endParaRPr lang="en-US" altLang="zh-CN" dirty="0"/>
          </a:p>
          <a:p>
            <a:r>
              <a:rPr lang="zh-CN" altLang="en-US" dirty="0"/>
              <a:t>有时可用每秒传送的字节数或帧数来表示</a:t>
            </a:r>
          </a:p>
        </p:txBody>
      </p:sp>
    </p:spTree>
    <p:extLst>
      <p:ext uri="{BB962C8B-B14F-4D97-AF65-F5344CB8AC3E}">
        <p14:creationId xmlns:p14="http://schemas.microsoft.com/office/powerpoint/2010/main" val="4131284150"/>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13180868-9227-821F-CB6B-7010FE22187C}"/>
              </a:ext>
            </a:extLst>
          </p:cNvPr>
          <p:cNvSpPr>
            <a:spLocks noGrp="1"/>
          </p:cNvSpPr>
          <p:nvPr>
            <p:ph type="title"/>
          </p:nvPr>
        </p:nvSpPr>
        <p:spPr>
          <a:xfrm>
            <a:off x="612000" y="144000"/>
            <a:ext cx="7920000" cy="341632"/>
          </a:xfrm>
        </p:spPr>
        <p:txBody>
          <a:bodyPr/>
          <a:lstStyle/>
          <a:p>
            <a:r>
              <a:rPr lang="en-US" altLang="zh-CN" dirty="0"/>
              <a:t>4. </a:t>
            </a:r>
            <a:r>
              <a:rPr lang="zh-CN" altLang="en-US" dirty="0"/>
              <a:t>时延 </a:t>
            </a:r>
            <a:r>
              <a:rPr lang="en-US" altLang="zh-CN" dirty="0"/>
              <a:t>delay</a:t>
            </a:r>
            <a:endParaRPr lang="zh-CN" altLang="en-US" dirty="0"/>
          </a:p>
        </p:txBody>
      </p:sp>
      <p:sp>
        <p:nvSpPr>
          <p:cNvPr id="2" name="内容占位符 1"/>
          <p:cNvSpPr>
            <a:spLocks noGrp="1"/>
          </p:cNvSpPr>
          <p:nvPr>
            <p:ph sz="quarter" idx="10"/>
          </p:nvPr>
        </p:nvSpPr>
        <p:spPr>
          <a:xfrm>
            <a:off x="612000" y="899999"/>
            <a:ext cx="7920000" cy="3780000"/>
          </a:xfrm>
        </p:spPr>
        <p:txBody>
          <a:bodyPr/>
          <a:lstStyle/>
          <a:p>
            <a:r>
              <a:rPr lang="zh-CN" altLang="en-US" dirty="0"/>
              <a:t>指数据（一个报文或分组，甚至比特）从网络（或链路）的一端传送到另一端所需的时间</a:t>
            </a:r>
          </a:p>
          <a:p>
            <a:r>
              <a:rPr lang="zh-CN" altLang="en-US" dirty="0"/>
              <a:t>也称为延迟或迟延 </a:t>
            </a:r>
            <a:r>
              <a:rPr lang="en-US" altLang="zh-CN" dirty="0"/>
              <a:t>latency</a:t>
            </a:r>
          </a:p>
          <a:p>
            <a:r>
              <a:rPr lang="zh-CN" altLang="en-US" dirty="0"/>
              <a:t>组成：</a:t>
            </a:r>
          </a:p>
          <a:p>
            <a:pPr lvl="1"/>
            <a:r>
              <a:rPr lang="zh-CN" altLang="en-US" dirty="0"/>
              <a:t>发送时延</a:t>
            </a:r>
            <a:endParaRPr lang="en-US" altLang="zh-CN" dirty="0"/>
          </a:p>
          <a:p>
            <a:pPr lvl="1"/>
            <a:r>
              <a:rPr lang="zh-CN" altLang="en-US" dirty="0"/>
              <a:t>传播时延</a:t>
            </a:r>
          </a:p>
          <a:p>
            <a:pPr lvl="1"/>
            <a:r>
              <a:rPr lang="zh-CN" altLang="en-US" dirty="0"/>
              <a:t>处理时延</a:t>
            </a:r>
          </a:p>
          <a:p>
            <a:pPr lvl="1"/>
            <a:r>
              <a:rPr lang="zh-CN" altLang="en-US" dirty="0"/>
              <a:t>排队时延</a:t>
            </a:r>
            <a:endParaRPr lang="en-US" altLang="zh-CN" dirty="0"/>
          </a:p>
          <a:p>
            <a:endParaRPr lang="zh-CN" altLang="en-US" dirty="0"/>
          </a:p>
        </p:txBody>
      </p:sp>
    </p:spTree>
    <p:extLst>
      <p:ext uri="{BB962C8B-B14F-4D97-AF65-F5344CB8AC3E}">
        <p14:creationId xmlns:p14="http://schemas.microsoft.com/office/powerpoint/2010/main" val="3229318243"/>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标题 10">
            <a:extLst>
              <a:ext uri="{FF2B5EF4-FFF2-40B4-BE49-F238E27FC236}">
                <a16:creationId xmlns:a16="http://schemas.microsoft.com/office/drawing/2014/main" id="{EB513F33-92BE-8BFF-1FAA-72CFD3C81D3D}"/>
              </a:ext>
            </a:extLst>
          </p:cNvPr>
          <p:cNvSpPr>
            <a:spLocks noGrp="1"/>
          </p:cNvSpPr>
          <p:nvPr>
            <p:ph type="title"/>
          </p:nvPr>
        </p:nvSpPr>
        <p:spPr>
          <a:xfrm>
            <a:off x="612000" y="144000"/>
            <a:ext cx="7920000" cy="341632"/>
          </a:xfrm>
        </p:spPr>
        <p:txBody>
          <a:bodyPr/>
          <a:lstStyle/>
          <a:p>
            <a:r>
              <a:rPr lang="en-US" altLang="zh-CN" dirty="0"/>
              <a:t>4.1 </a:t>
            </a:r>
            <a:r>
              <a:rPr lang="zh-CN" altLang="en-US" dirty="0"/>
              <a:t>发送时延</a:t>
            </a:r>
          </a:p>
        </p:txBody>
      </p:sp>
      <p:sp>
        <p:nvSpPr>
          <p:cNvPr id="2" name="内容占位符 1"/>
          <p:cNvSpPr>
            <a:spLocks noGrp="1"/>
          </p:cNvSpPr>
          <p:nvPr>
            <p:ph sz="quarter" idx="10"/>
          </p:nvPr>
        </p:nvSpPr>
        <p:spPr>
          <a:xfrm>
            <a:off x="612000" y="899999"/>
            <a:ext cx="7920000" cy="3780000"/>
          </a:xfrm>
        </p:spPr>
        <p:txBody>
          <a:bodyPr/>
          <a:lstStyle/>
          <a:p>
            <a:r>
              <a:rPr lang="zh-CN" altLang="en-US" dirty="0"/>
              <a:t>也称为传输时延</a:t>
            </a:r>
          </a:p>
          <a:p>
            <a:r>
              <a:rPr lang="zh-CN" altLang="en-US" dirty="0"/>
              <a:t>是主机或路由器发送数据帧所需要的时间：从发送数据帧的第一个比特算起，到该帧的最后一个比特发送完毕所需的时间</a:t>
            </a:r>
            <a:endParaRPr lang="en-US" altLang="zh-CN" dirty="0"/>
          </a:p>
          <a:p>
            <a:r>
              <a:rPr lang="zh-CN" altLang="en-US" dirty="0"/>
              <a:t>发送时延发生在机器内部的发送器中，与传输信道的长度（或信号传送的距离）没有任何关系</a:t>
            </a:r>
            <a:endParaRPr lang="en-US" altLang="zh-CN" dirty="0"/>
          </a:p>
          <a:p>
            <a:endParaRPr lang="zh-CN" altLang="en-US" dirty="0"/>
          </a:p>
          <a:p>
            <a:endParaRPr lang="zh-CN" altLang="en-US" dirty="0"/>
          </a:p>
        </p:txBody>
      </p:sp>
      <p:grpSp>
        <p:nvGrpSpPr>
          <p:cNvPr id="6" name="组合 6"/>
          <p:cNvGrpSpPr>
            <a:grpSpLocks/>
          </p:cNvGrpSpPr>
          <p:nvPr/>
        </p:nvGrpSpPr>
        <p:grpSpPr bwMode="auto">
          <a:xfrm>
            <a:off x="2628548" y="2932588"/>
            <a:ext cx="2921095" cy="507832"/>
            <a:chOff x="3141225" y="4479364"/>
            <a:chExt cx="2453278" cy="507832"/>
          </a:xfrm>
        </p:grpSpPr>
        <p:sp>
          <p:nvSpPr>
            <p:cNvPr id="7" name="Text Box 9"/>
            <p:cNvSpPr txBox="1">
              <a:spLocks noChangeArrowheads="1"/>
            </p:cNvSpPr>
            <p:nvPr/>
          </p:nvSpPr>
          <p:spPr bwMode="auto">
            <a:xfrm>
              <a:off x="3141225" y="4602475"/>
              <a:ext cx="758225" cy="2616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lang="zh-CN" altLang="en-US" sz="1050" b="1" dirty="0">
                  <a:solidFill>
                    <a:sysClr val="windowText" lastClr="000000"/>
                  </a:solidFill>
                  <a:latin typeface="+mj-lt"/>
                  <a:ea typeface="+mj-ea"/>
                </a:rPr>
                <a:t>发送时延 </a:t>
              </a:r>
              <a:r>
                <a:rPr lang="en-US" altLang="zh-CN" sz="1050" b="1" dirty="0">
                  <a:solidFill>
                    <a:sysClr val="windowText" lastClr="000000"/>
                  </a:solidFill>
                  <a:latin typeface="+mj-lt"/>
                  <a:ea typeface="+mj-ea"/>
                </a:rPr>
                <a:t>= </a:t>
              </a:r>
            </a:p>
          </p:txBody>
        </p:sp>
        <p:sp>
          <p:nvSpPr>
            <p:cNvPr id="8" name="Text Box 10"/>
            <p:cNvSpPr txBox="1">
              <a:spLocks noChangeArrowheads="1"/>
            </p:cNvSpPr>
            <p:nvPr/>
          </p:nvSpPr>
          <p:spPr bwMode="auto">
            <a:xfrm>
              <a:off x="4138722" y="4479364"/>
              <a:ext cx="1097488" cy="25391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lang="zh-CN" altLang="en-US" sz="1050" b="1" dirty="0">
                  <a:solidFill>
                    <a:sysClr val="windowText" lastClr="000000"/>
                  </a:solidFill>
                  <a:latin typeface="+mj-lt"/>
                  <a:ea typeface="+mj-ea"/>
                </a:rPr>
                <a:t>数据帧长度（</a:t>
              </a:r>
              <a:r>
                <a:rPr lang="en-US" altLang="zh-CN" sz="1050" b="1" dirty="0">
                  <a:solidFill>
                    <a:sysClr val="windowText" lastClr="000000"/>
                  </a:solidFill>
                  <a:latin typeface="+mj-lt"/>
                  <a:ea typeface="+mj-ea"/>
                </a:rPr>
                <a:t>bit</a:t>
              </a:r>
              <a:r>
                <a:rPr lang="zh-CN" altLang="en-US" sz="1050" b="1" dirty="0">
                  <a:solidFill>
                    <a:sysClr val="windowText" lastClr="000000"/>
                  </a:solidFill>
                  <a:latin typeface="+mj-lt"/>
                  <a:ea typeface="+mj-ea"/>
                </a:rPr>
                <a:t>）</a:t>
              </a:r>
            </a:p>
          </p:txBody>
        </p:sp>
        <p:sp>
          <p:nvSpPr>
            <p:cNvPr id="9" name="Text Box 11"/>
            <p:cNvSpPr txBox="1">
              <a:spLocks noChangeArrowheads="1"/>
            </p:cNvSpPr>
            <p:nvPr/>
          </p:nvSpPr>
          <p:spPr bwMode="auto">
            <a:xfrm>
              <a:off x="4149492" y="4733280"/>
              <a:ext cx="1075948" cy="25391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lang="zh-CN" altLang="en-US" sz="1050" b="1" dirty="0">
                  <a:solidFill>
                    <a:sysClr val="windowText" lastClr="000000"/>
                  </a:solidFill>
                  <a:latin typeface="+mj-lt"/>
                  <a:ea typeface="+mj-ea"/>
                </a:rPr>
                <a:t>发送速率（</a:t>
              </a:r>
              <a:r>
                <a:rPr lang="en-US" altLang="zh-CN" sz="1050" b="1" dirty="0">
                  <a:solidFill>
                    <a:sysClr val="windowText" lastClr="000000"/>
                  </a:solidFill>
                  <a:latin typeface="+mj-lt"/>
                  <a:ea typeface="+mj-ea"/>
                </a:rPr>
                <a:t>bit/s</a:t>
              </a:r>
              <a:r>
                <a:rPr lang="zh-CN" altLang="en-US" sz="1050" b="1" dirty="0">
                  <a:solidFill>
                    <a:sysClr val="windowText" lastClr="000000"/>
                  </a:solidFill>
                  <a:latin typeface="+mj-lt"/>
                  <a:ea typeface="+mj-ea"/>
                </a:rPr>
                <a:t>）</a:t>
              </a:r>
            </a:p>
          </p:txBody>
        </p:sp>
        <p:sp>
          <p:nvSpPr>
            <p:cNvPr id="10" name="Line 12"/>
            <p:cNvSpPr>
              <a:spLocks noChangeShapeType="1"/>
            </p:cNvSpPr>
            <p:nvPr/>
          </p:nvSpPr>
          <p:spPr bwMode="auto">
            <a:xfrm>
              <a:off x="3780428" y="4733280"/>
              <a:ext cx="1814075"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000" dirty="0">
                <a:solidFill>
                  <a:sysClr val="windowText" lastClr="000000"/>
                </a:solidFill>
                <a:latin typeface="+mj-lt"/>
                <a:ea typeface="+mj-ea"/>
              </a:endParaRPr>
            </a:p>
          </p:txBody>
        </p:sp>
      </p:grpSp>
    </p:spTree>
    <p:extLst>
      <p:ext uri="{BB962C8B-B14F-4D97-AF65-F5344CB8AC3E}">
        <p14:creationId xmlns:p14="http://schemas.microsoft.com/office/powerpoint/2010/main" val="3519782027"/>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4D60AEE4-E10B-8BE7-E891-E7775BDCFCD3}"/>
              </a:ext>
            </a:extLst>
          </p:cNvPr>
          <p:cNvSpPr>
            <a:spLocks noGrp="1"/>
          </p:cNvSpPr>
          <p:nvPr>
            <p:ph type="title"/>
          </p:nvPr>
        </p:nvSpPr>
        <p:spPr>
          <a:xfrm>
            <a:off x="612000" y="144000"/>
            <a:ext cx="7920000" cy="341632"/>
          </a:xfrm>
        </p:spPr>
        <p:txBody>
          <a:bodyPr/>
          <a:lstStyle/>
          <a:p>
            <a:r>
              <a:rPr lang="en-US" altLang="zh-CN" dirty="0"/>
              <a:t>4.2 </a:t>
            </a:r>
            <a:r>
              <a:rPr lang="zh-CN" altLang="en-US" dirty="0"/>
              <a:t>传播时延</a:t>
            </a:r>
          </a:p>
        </p:txBody>
      </p:sp>
      <p:sp>
        <p:nvSpPr>
          <p:cNvPr id="2" name="内容占位符 1"/>
          <p:cNvSpPr>
            <a:spLocks noGrp="1"/>
          </p:cNvSpPr>
          <p:nvPr>
            <p:ph sz="quarter" idx="10"/>
          </p:nvPr>
        </p:nvSpPr>
        <p:spPr>
          <a:xfrm>
            <a:off x="612000" y="899999"/>
            <a:ext cx="7920000" cy="3780000"/>
          </a:xfrm>
        </p:spPr>
        <p:txBody>
          <a:bodyPr>
            <a:normAutofit/>
          </a:bodyPr>
          <a:lstStyle/>
          <a:p>
            <a:r>
              <a:rPr lang="zh-CN" altLang="en-US" dirty="0"/>
              <a:t>是电磁波在信道中传播一定的距离需要花费的时间</a:t>
            </a:r>
            <a:endParaRPr lang="en-US" altLang="zh-CN" dirty="0"/>
          </a:p>
          <a:p>
            <a:r>
              <a:rPr lang="zh-CN" altLang="en-US" dirty="0"/>
              <a:t>传播时延则发生在机器外部的传输信道媒体上，而与信号的发送速率无关。信号传送的距离越远，传播时延就越大</a:t>
            </a:r>
            <a:endParaRPr lang="en-US" altLang="zh-CN" dirty="0"/>
          </a:p>
          <a:p>
            <a:endParaRPr lang="en-US" altLang="zh-CN" dirty="0"/>
          </a:p>
          <a:p>
            <a:endParaRPr lang="en-US" altLang="zh-CN" dirty="0"/>
          </a:p>
          <a:p>
            <a:endParaRPr lang="en-US" altLang="zh-CN" dirty="0"/>
          </a:p>
          <a:p>
            <a:endParaRPr lang="en-US" altLang="zh-CN" dirty="0"/>
          </a:p>
          <a:p>
            <a:endParaRPr lang="en-US" altLang="zh-CN" dirty="0"/>
          </a:p>
          <a:p>
            <a:r>
              <a:rPr lang="zh-CN" altLang="en-US" dirty="0"/>
              <a:t>电磁波传播速率：</a:t>
            </a:r>
            <a:endParaRPr lang="en-US" altLang="zh-CN" dirty="0"/>
          </a:p>
          <a:p>
            <a:pPr lvl="1"/>
            <a:r>
              <a:rPr lang="zh-CN" altLang="en-US" dirty="0"/>
              <a:t>自由空间的传播速率是光速 </a:t>
            </a:r>
            <a:r>
              <a:rPr lang="en-US" altLang="zh-CN" dirty="0"/>
              <a:t>= 3.0 </a:t>
            </a:r>
            <a:r>
              <a:rPr lang="en-US" altLang="zh-CN" dirty="0">
                <a:sym typeface="Symbol" pitchFamily="18" charset="2"/>
              </a:rPr>
              <a:t></a:t>
            </a:r>
            <a:r>
              <a:rPr lang="en-US" altLang="zh-CN" dirty="0"/>
              <a:t> 10</a:t>
            </a:r>
            <a:r>
              <a:rPr lang="en-US" altLang="zh-CN" baseline="30000" dirty="0"/>
              <a:t>5</a:t>
            </a:r>
            <a:r>
              <a:rPr lang="en-US" altLang="zh-CN" dirty="0"/>
              <a:t> Km/s</a:t>
            </a:r>
          </a:p>
          <a:p>
            <a:pPr lvl="1"/>
            <a:r>
              <a:rPr lang="zh-CN" altLang="en-US" dirty="0"/>
              <a:t>在铜线电缆中的传播速率约 </a:t>
            </a:r>
            <a:r>
              <a:rPr lang="en-US" altLang="zh-CN" dirty="0"/>
              <a:t>= 2.3 </a:t>
            </a:r>
            <a:r>
              <a:rPr lang="en-US" altLang="zh-CN" dirty="0">
                <a:sym typeface="Symbol" pitchFamily="18" charset="2"/>
              </a:rPr>
              <a:t></a:t>
            </a:r>
            <a:r>
              <a:rPr lang="en-US" altLang="zh-CN" dirty="0"/>
              <a:t> 10</a:t>
            </a:r>
            <a:r>
              <a:rPr lang="en-US" altLang="zh-CN" baseline="30000" dirty="0"/>
              <a:t>5</a:t>
            </a:r>
            <a:r>
              <a:rPr lang="en-US" altLang="zh-CN" dirty="0"/>
              <a:t> Km/s</a:t>
            </a:r>
          </a:p>
          <a:p>
            <a:pPr lvl="1"/>
            <a:r>
              <a:rPr lang="zh-CN" altLang="en-US" dirty="0"/>
              <a:t>在光纤中的传播速率约 </a:t>
            </a:r>
            <a:r>
              <a:rPr lang="en-US" altLang="zh-CN" dirty="0"/>
              <a:t>=</a:t>
            </a:r>
            <a:r>
              <a:rPr lang="zh-CN" altLang="en-US" dirty="0"/>
              <a:t> </a:t>
            </a:r>
            <a:r>
              <a:rPr lang="en-US" altLang="zh-CN" dirty="0"/>
              <a:t>2.0 </a:t>
            </a:r>
            <a:r>
              <a:rPr lang="en-US" altLang="zh-CN" dirty="0">
                <a:sym typeface="Symbol" pitchFamily="18" charset="2"/>
              </a:rPr>
              <a:t></a:t>
            </a:r>
            <a:r>
              <a:rPr lang="zh-CN" altLang="en-US" dirty="0"/>
              <a:t> </a:t>
            </a:r>
            <a:r>
              <a:rPr lang="en-US" altLang="zh-CN" dirty="0"/>
              <a:t>10</a:t>
            </a:r>
            <a:r>
              <a:rPr lang="en-US" altLang="zh-CN" baseline="30000" dirty="0"/>
              <a:t>5</a:t>
            </a:r>
            <a:r>
              <a:rPr lang="en-US" altLang="zh-CN" dirty="0"/>
              <a:t> Km/s</a:t>
            </a:r>
          </a:p>
        </p:txBody>
      </p:sp>
      <p:grpSp>
        <p:nvGrpSpPr>
          <p:cNvPr id="13" name="组合 13"/>
          <p:cNvGrpSpPr>
            <a:grpSpLocks/>
          </p:cNvGrpSpPr>
          <p:nvPr/>
        </p:nvGrpSpPr>
        <p:grpSpPr bwMode="auto">
          <a:xfrm>
            <a:off x="2062899" y="2199048"/>
            <a:ext cx="3297962" cy="523220"/>
            <a:chOff x="2776090" y="4423880"/>
            <a:chExt cx="2769789" cy="523220"/>
          </a:xfrm>
        </p:grpSpPr>
        <p:sp>
          <p:nvSpPr>
            <p:cNvPr id="14" name="Text Box 9"/>
            <p:cNvSpPr txBox="1">
              <a:spLocks noChangeArrowheads="1"/>
            </p:cNvSpPr>
            <p:nvPr/>
          </p:nvSpPr>
          <p:spPr bwMode="auto">
            <a:xfrm>
              <a:off x="2776090" y="4554685"/>
              <a:ext cx="758225" cy="2616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lang="zh-CN" altLang="en-US" sz="1050" b="1" dirty="0">
                  <a:solidFill>
                    <a:sysClr val="windowText" lastClr="000000"/>
                  </a:solidFill>
                  <a:latin typeface="+mj-lt"/>
                  <a:ea typeface="+mj-ea"/>
                </a:rPr>
                <a:t>传播时延 </a:t>
              </a:r>
              <a:r>
                <a:rPr lang="en-US" altLang="zh-CN" sz="1050" b="1" dirty="0">
                  <a:solidFill>
                    <a:sysClr val="windowText" lastClr="000000"/>
                  </a:solidFill>
                  <a:latin typeface="+mj-lt"/>
                  <a:ea typeface="+mj-ea"/>
                </a:rPr>
                <a:t>= </a:t>
              </a:r>
            </a:p>
          </p:txBody>
        </p:sp>
        <p:sp>
          <p:nvSpPr>
            <p:cNvPr id="15" name="Text Box 10"/>
            <p:cNvSpPr txBox="1">
              <a:spLocks noChangeArrowheads="1"/>
            </p:cNvSpPr>
            <p:nvPr/>
          </p:nvSpPr>
          <p:spPr bwMode="auto">
            <a:xfrm>
              <a:off x="3992776" y="4423880"/>
              <a:ext cx="989786" cy="2616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lang="zh-CN" altLang="en-US" sz="1050" b="1" dirty="0">
                  <a:solidFill>
                    <a:sysClr val="windowText" lastClr="000000"/>
                  </a:solidFill>
                  <a:latin typeface="+mj-lt"/>
                  <a:ea typeface="+mj-ea"/>
                </a:rPr>
                <a:t>信道长度（</a:t>
              </a:r>
              <a:r>
                <a:rPr lang="en-US" altLang="zh-CN" sz="1050" b="1" dirty="0">
                  <a:solidFill>
                    <a:sysClr val="windowText" lastClr="000000"/>
                  </a:solidFill>
                  <a:latin typeface="+mj-lt"/>
                  <a:ea typeface="+mj-ea"/>
                </a:rPr>
                <a:t>m</a:t>
              </a:r>
              <a:r>
                <a:rPr lang="zh-CN" altLang="en-US" sz="1050" b="1" dirty="0">
                  <a:solidFill>
                    <a:sysClr val="windowText" lastClr="000000"/>
                  </a:solidFill>
                  <a:latin typeface="+mj-lt"/>
                  <a:ea typeface="+mj-ea"/>
                </a:rPr>
                <a:t>）</a:t>
              </a:r>
            </a:p>
          </p:txBody>
        </p:sp>
        <p:sp>
          <p:nvSpPr>
            <p:cNvPr id="16" name="Text Box 11"/>
            <p:cNvSpPr txBox="1">
              <a:spLocks noChangeArrowheads="1"/>
            </p:cNvSpPr>
            <p:nvPr/>
          </p:nvSpPr>
          <p:spPr bwMode="auto">
            <a:xfrm>
              <a:off x="3429459" y="4685490"/>
              <a:ext cx="2116420" cy="2616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lang="zh-CN" altLang="en-US" sz="1050" b="1" dirty="0">
                  <a:solidFill>
                    <a:sysClr val="windowText" lastClr="000000"/>
                  </a:solidFill>
                  <a:latin typeface="+mj-lt"/>
                  <a:ea typeface="+mj-ea"/>
                </a:rPr>
                <a:t>信号在信道上的传播速率（</a:t>
              </a:r>
              <a:r>
                <a:rPr lang="en-US" altLang="zh-CN" sz="1050" b="1" dirty="0">
                  <a:solidFill>
                    <a:sysClr val="windowText" lastClr="000000"/>
                  </a:solidFill>
                  <a:latin typeface="+mj-lt"/>
                  <a:ea typeface="+mj-ea"/>
                </a:rPr>
                <a:t>m/s</a:t>
              </a:r>
              <a:r>
                <a:rPr lang="zh-CN" altLang="en-US" sz="1050" b="1" dirty="0">
                  <a:solidFill>
                    <a:sysClr val="windowText" lastClr="000000"/>
                  </a:solidFill>
                  <a:latin typeface="+mj-lt"/>
                  <a:ea typeface="+mj-ea"/>
                </a:rPr>
                <a:t>）</a:t>
              </a:r>
            </a:p>
          </p:txBody>
        </p:sp>
        <p:sp>
          <p:nvSpPr>
            <p:cNvPr id="17" name="Line 12"/>
            <p:cNvSpPr>
              <a:spLocks noChangeShapeType="1"/>
            </p:cNvSpPr>
            <p:nvPr/>
          </p:nvSpPr>
          <p:spPr bwMode="auto">
            <a:xfrm>
              <a:off x="3429460" y="4685490"/>
              <a:ext cx="2116418"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000" dirty="0">
                <a:solidFill>
                  <a:sysClr val="windowText" lastClr="000000"/>
                </a:solidFill>
                <a:latin typeface="+mj-lt"/>
                <a:ea typeface="+mj-ea"/>
              </a:endParaRPr>
            </a:p>
          </p:txBody>
        </p:sp>
      </p:grpSp>
    </p:spTree>
    <p:extLst>
      <p:ext uri="{BB962C8B-B14F-4D97-AF65-F5344CB8AC3E}">
        <p14:creationId xmlns:p14="http://schemas.microsoft.com/office/powerpoint/2010/main" val="597518343"/>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3359650C-0371-8480-50FB-BAC617F778BD}"/>
              </a:ext>
            </a:extLst>
          </p:cNvPr>
          <p:cNvSpPr>
            <a:spLocks noGrp="1"/>
          </p:cNvSpPr>
          <p:nvPr>
            <p:ph type="title"/>
          </p:nvPr>
        </p:nvSpPr>
        <p:spPr>
          <a:xfrm>
            <a:off x="612000" y="144000"/>
            <a:ext cx="7920000" cy="341632"/>
          </a:xfrm>
        </p:spPr>
        <p:txBody>
          <a:bodyPr/>
          <a:lstStyle/>
          <a:p>
            <a:r>
              <a:rPr lang="en-US" altLang="zh-CN" dirty="0"/>
              <a:t>4.3 </a:t>
            </a:r>
            <a:r>
              <a:rPr lang="zh-CN" altLang="en-US" dirty="0"/>
              <a:t>处理时延</a:t>
            </a:r>
          </a:p>
        </p:txBody>
      </p:sp>
      <p:sp>
        <p:nvSpPr>
          <p:cNvPr id="5" name="内容占位符 4"/>
          <p:cNvSpPr>
            <a:spLocks noGrp="1"/>
          </p:cNvSpPr>
          <p:nvPr>
            <p:ph sz="quarter" idx="10"/>
          </p:nvPr>
        </p:nvSpPr>
        <p:spPr>
          <a:xfrm>
            <a:off x="612000" y="899999"/>
            <a:ext cx="7920000" cy="3780000"/>
          </a:xfrm>
        </p:spPr>
        <p:txBody>
          <a:bodyPr/>
          <a:lstStyle/>
          <a:p>
            <a:r>
              <a:rPr lang="zh-CN" altLang="en-US" dirty="0"/>
              <a:t>主机或路由器在收到分组时，为处理分组（例如分析首部、提取数据、差错检验或查找路由）所花费的时间</a:t>
            </a:r>
          </a:p>
        </p:txBody>
      </p:sp>
    </p:spTree>
    <p:extLst>
      <p:ext uri="{BB962C8B-B14F-4D97-AF65-F5344CB8AC3E}">
        <p14:creationId xmlns:p14="http://schemas.microsoft.com/office/powerpoint/2010/main" val="1041602227"/>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96B772-8F63-5B56-B354-23710E020ABD}"/>
            </a:ext>
          </a:extLst>
        </p:cNvPr>
        <p:cNvGrpSpPr/>
        <p:nvPr/>
      </p:nvGrpSpPr>
      <p:grpSpPr>
        <a:xfrm>
          <a:off x="0" y="0"/>
          <a:ext cx="0" cy="0"/>
          <a:chOff x="0" y="0"/>
          <a:chExt cx="0" cy="0"/>
        </a:xfrm>
      </p:grpSpPr>
      <p:sp>
        <p:nvSpPr>
          <p:cNvPr id="4" name="标题 3">
            <a:extLst>
              <a:ext uri="{FF2B5EF4-FFF2-40B4-BE49-F238E27FC236}">
                <a16:creationId xmlns:a16="http://schemas.microsoft.com/office/drawing/2014/main" id="{D57121A9-E71E-064A-2691-AAAAA7CAE4F2}"/>
              </a:ext>
            </a:extLst>
          </p:cNvPr>
          <p:cNvSpPr>
            <a:spLocks noGrp="1"/>
          </p:cNvSpPr>
          <p:nvPr>
            <p:ph type="title"/>
          </p:nvPr>
        </p:nvSpPr>
        <p:spPr>
          <a:xfrm>
            <a:off x="612000" y="144000"/>
            <a:ext cx="7920000" cy="341632"/>
          </a:xfrm>
        </p:spPr>
        <p:txBody>
          <a:bodyPr/>
          <a:lstStyle/>
          <a:p>
            <a:r>
              <a:rPr lang="en-US" altLang="zh-CN" dirty="0"/>
              <a:t>4.4 </a:t>
            </a:r>
            <a:r>
              <a:rPr lang="zh-CN" altLang="en-US" dirty="0"/>
              <a:t>排队时延</a:t>
            </a:r>
          </a:p>
        </p:txBody>
      </p:sp>
      <p:sp>
        <p:nvSpPr>
          <p:cNvPr id="5" name="内容占位符 4">
            <a:extLst>
              <a:ext uri="{FF2B5EF4-FFF2-40B4-BE49-F238E27FC236}">
                <a16:creationId xmlns:a16="http://schemas.microsoft.com/office/drawing/2014/main" id="{4B75B7D0-3809-D25B-8748-7140ED55638E}"/>
              </a:ext>
            </a:extLst>
          </p:cNvPr>
          <p:cNvSpPr>
            <a:spLocks noGrp="1"/>
          </p:cNvSpPr>
          <p:nvPr>
            <p:ph sz="quarter" idx="10"/>
          </p:nvPr>
        </p:nvSpPr>
        <p:spPr>
          <a:xfrm>
            <a:off x="612000" y="899999"/>
            <a:ext cx="7920000" cy="3780000"/>
          </a:xfrm>
        </p:spPr>
        <p:txBody>
          <a:bodyPr/>
          <a:lstStyle/>
          <a:p>
            <a:r>
              <a:rPr lang="zh-CN" altLang="en-US" dirty="0"/>
              <a:t>分组在路由器输入输出队列中排队等待处理和转发所经历的时延</a:t>
            </a:r>
          </a:p>
          <a:p>
            <a:r>
              <a:rPr lang="zh-CN" altLang="en-US" dirty="0"/>
              <a:t>排队时延的长短往往取决于网络中当时的通信量</a:t>
            </a:r>
            <a:endParaRPr lang="en-US" altLang="zh-CN" dirty="0"/>
          </a:p>
          <a:p>
            <a:r>
              <a:rPr lang="zh-CN" altLang="en-US" dirty="0"/>
              <a:t>当网络的通信量很大时会发生队列溢出，使分组丢失，这相当于排队时延为无穷大</a:t>
            </a:r>
          </a:p>
        </p:txBody>
      </p:sp>
    </p:spTree>
    <p:extLst>
      <p:ext uri="{BB962C8B-B14F-4D97-AF65-F5344CB8AC3E}">
        <p14:creationId xmlns:p14="http://schemas.microsoft.com/office/powerpoint/2010/main" val="1258584492"/>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标题 7">
            <a:extLst>
              <a:ext uri="{FF2B5EF4-FFF2-40B4-BE49-F238E27FC236}">
                <a16:creationId xmlns:a16="http://schemas.microsoft.com/office/drawing/2014/main" id="{46D5B31C-0D64-7C19-DFD5-839A99479227}"/>
              </a:ext>
            </a:extLst>
          </p:cNvPr>
          <p:cNvSpPr>
            <a:spLocks noGrp="1"/>
          </p:cNvSpPr>
          <p:nvPr>
            <p:ph type="title"/>
          </p:nvPr>
        </p:nvSpPr>
        <p:spPr>
          <a:xfrm>
            <a:off x="612000" y="144000"/>
            <a:ext cx="7920000" cy="341632"/>
          </a:xfrm>
        </p:spPr>
        <p:txBody>
          <a:bodyPr/>
          <a:lstStyle/>
          <a:p>
            <a:r>
              <a:rPr lang="en-US" altLang="zh-CN" dirty="0"/>
              <a:t>4. </a:t>
            </a:r>
            <a:r>
              <a:rPr lang="zh-CN" altLang="en-US" dirty="0"/>
              <a:t>时延 </a:t>
            </a:r>
            <a:r>
              <a:rPr lang="en-US" altLang="zh-CN" dirty="0"/>
              <a:t>delay</a:t>
            </a:r>
            <a:endParaRPr lang="zh-CN" altLang="en-US" dirty="0"/>
          </a:p>
        </p:txBody>
      </p:sp>
      <p:sp>
        <p:nvSpPr>
          <p:cNvPr id="2" name="内容占位符 1"/>
          <p:cNvSpPr>
            <a:spLocks noGrp="1"/>
          </p:cNvSpPr>
          <p:nvPr>
            <p:ph sz="quarter" idx="10"/>
          </p:nvPr>
        </p:nvSpPr>
        <p:spPr>
          <a:xfrm>
            <a:off x="612000" y="899999"/>
            <a:ext cx="7920000" cy="3780000"/>
          </a:xfrm>
        </p:spPr>
        <p:txBody>
          <a:bodyPr/>
          <a:lstStyle/>
          <a:p>
            <a:endParaRPr lang="en-US" altLang="zh-CN" dirty="0"/>
          </a:p>
          <a:p>
            <a:endParaRPr lang="en-US" altLang="zh-CN" dirty="0"/>
          </a:p>
          <a:p>
            <a:endParaRPr lang="en-US" altLang="zh-CN" dirty="0"/>
          </a:p>
          <a:p>
            <a:r>
              <a:rPr lang="zh-CN" altLang="en-US" dirty="0"/>
              <a:t>一般说来，小时延的网络要优于大时延的网络</a:t>
            </a:r>
            <a:endParaRPr lang="en-US" altLang="zh-CN" dirty="0"/>
          </a:p>
          <a:p>
            <a:r>
              <a:rPr lang="zh-CN" altLang="en-US" dirty="0"/>
              <a:t>在某些情况下，一个低速率、小时延的网络很可能要优于一个高速率但大时延的网络</a:t>
            </a:r>
            <a:endParaRPr lang="en-US" altLang="zh-CN" dirty="0"/>
          </a:p>
          <a:p>
            <a:r>
              <a:rPr lang="zh-CN" altLang="zh-CN" dirty="0"/>
              <a:t>总时延中，哪一种时延占主导地位，必须具体</a:t>
            </a:r>
            <a:r>
              <a:rPr lang="zh-CN" altLang="en-US" dirty="0"/>
              <a:t>情况具体</a:t>
            </a:r>
            <a:r>
              <a:rPr lang="zh-CN" altLang="zh-CN" dirty="0"/>
              <a:t>分析</a:t>
            </a:r>
            <a:endParaRPr lang="zh-CN" altLang="en-US" dirty="0"/>
          </a:p>
        </p:txBody>
      </p:sp>
      <p:sp>
        <p:nvSpPr>
          <p:cNvPr id="6" name="矩形 13"/>
          <p:cNvSpPr>
            <a:spLocks noChangeArrowheads="1"/>
          </p:cNvSpPr>
          <p:nvPr/>
        </p:nvSpPr>
        <p:spPr bwMode="auto">
          <a:xfrm>
            <a:off x="1285583" y="1064701"/>
            <a:ext cx="6572834"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gn="ctr">
              <a:spcBef>
                <a:spcPts val="600"/>
              </a:spcBef>
            </a:pPr>
            <a:r>
              <a:rPr lang="zh-CN" altLang="en-US" sz="2000" b="1" dirty="0">
                <a:latin typeface="微软雅黑" pitchFamily="34" charset="-122"/>
                <a:ea typeface="微软雅黑" pitchFamily="34" charset="-122"/>
              </a:rPr>
              <a:t>总时延  </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发送时延 </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传播时延 </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处理时延 </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排队时延</a:t>
            </a:r>
          </a:p>
        </p:txBody>
      </p:sp>
    </p:spTree>
    <p:extLst>
      <p:ext uri="{BB962C8B-B14F-4D97-AF65-F5344CB8AC3E}">
        <p14:creationId xmlns:p14="http://schemas.microsoft.com/office/powerpoint/2010/main" val="3950931317"/>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8551" name="Rectangle 7"/>
          <p:cNvSpPr>
            <a:spLocks noChangeArrowheads="1"/>
          </p:cNvSpPr>
          <p:nvPr/>
        </p:nvSpPr>
        <p:spPr bwMode="auto">
          <a:xfrm>
            <a:off x="3006696" y="3030623"/>
            <a:ext cx="2988000" cy="169862"/>
          </a:xfrm>
          <a:prstGeom prst="rect">
            <a:avLst/>
          </a:prstGeom>
          <a:gradFill rotWithShape="1">
            <a:gsLst>
              <a:gs pos="0">
                <a:srgbClr val="339933"/>
              </a:gs>
              <a:gs pos="50000">
                <a:srgbClr val="CDF3CD"/>
              </a:gs>
              <a:gs pos="100000">
                <a:srgbClr val="339933"/>
              </a:gs>
            </a:gsLst>
            <a:lin ang="5400000" scaled="1"/>
          </a:gradFill>
          <a:ln w="9525">
            <a:solidFill>
              <a:schemeClr val="folHlink"/>
            </a:solidFill>
            <a:miter lim="800000"/>
            <a:headEnd/>
            <a:tailEnd/>
          </a:ln>
        </p:spPr>
        <p:txBody>
          <a:bodyPr wrap="none" anchor="ctr"/>
          <a:lstStyle/>
          <a:p>
            <a:endParaRPr lang="zh-CN" altLang="en-US" sz="800" b="1" dirty="0">
              <a:latin typeface="Times New Roman" panose="02020603050405020304" pitchFamily="18" charset="0"/>
              <a:ea typeface="微软雅黑 Light" panose="020B0502040204020203" pitchFamily="34" charset="-122"/>
            </a:endParaRPr>
          </a:p>
        </p:txBody>
      </p:sp>
      <p:sp>
        <p:nvSpPr>
          <p:cNvPr id="8" name="Oval 9"/>
          <p:cNvSpPr>
            <a:spLocks noChangeArrowheads="1"/>
          </p:cNvSpPr>
          <p:nvPr/>
        </p:nvSpPr>
        <p:spPr bwMode="auto">
          <a:xfrm>
            <a:off x="2122882" y="2686973"/>
            <a:ext cx="947043" cy="856832"/>
          </a:xfrm>
          <a:prstGeom prst="ellipse">
            <a:avLst/>
          </a:prstGeom>
          <a:gradFill flip="none" rotWithShape="1">
            <a:gsLst>
              <a:gs pos="2000">
                <a:srgbClr val="CDF3CD"/>
              </a:gs>
              <a:gs pos="100000">
                <a:srgbClr val="339933"/>
              </a:gs>
            </a:gsLst>
            <a:path path="circle">
              <a:fillToRect l="50000" t="50000" r="50000" b="50000"/>
            </a:path>
            <a:tileRect/>
          </a:gradFill>
          <a:ln w="9525">
            <a:noFill/>
            <a:round/>
            <a:headEnd/>
            <a:tailEnd/>
          </a:ln>
          <a:effectLst/>
        </p:spPr>
        <p:txBody>
          <a:bodyPr wrap="none" anchor="ctr"/>
          <a:lstStyle/>
          <a:p>
            <a:pPr fontAlgn="auto">
              <a:spcBef>
                <a:spcPts val="0"/>
              </a:spcBef>
              <a:spcAft>
                <a:spcPts val="0"/>
              </a:spcAft>
              <a:defRPr/>
            </a:pPr>
            <a:endParaRPr lang="zh-CN" altLang="en-US" sz="800" b="1" dirty="0">
              <a:latin typeface="+mn-lt"/>
              <a:ea typeface="微软雅黑 Light" panose="020B0502040204020203" pitchFamily="34" charset="-122"/>
            </a:endParaRPr>
          </a:p>
        </p:txBody>
      </p:sp>
      <p:sp>
        <p:nvSpPr>
          <p:cNvPr id="108555" name="Oval 10"/>
          <p:cNvSpPr>
            <a:spLocks noChangeArrowheads="1"/>
          </p:cNvSpPr>
          <p:nvPr/>
        </p:nvSpPr>
        <p:spPr bwMode="auto">
          <a:xfrm>
            <a:off x="5945709" y="2687723"/>
            <a:ext cx="947738" cy="855662"/>
          </a:xfrm>
          <a:prstGeom prst="ellipse">
            <a:avLst/>
          </a:prstGeom>
          <a:gradFill rotWithShape="1">
            <a:gsLst>
              <a:gs pos="0">
                <a:srgbClr val="85D1F7"/>
              </a:gs>
              <a:gs pos="100000">
                <a:srgbClr val="0070C0"/>
              </a:gs>
            </a:gsLst>
            <a:path path="shape">
              <a:fillToRect l="50000" t="50000" r="50000" b="50000"/>
            </a:path>
          </a:gradFill>
          <a:ln w="9525">
            <a:noFill/>
            <a:round/>
            <a:headEnd/>
            <a:tailEnd/>
          </a:ln>
        </p:spPr>
        <p:txBody>
          <a:bodyPr wrap="none" anchor="ctr"/>
          <a:lstStyle/>
          <a:p>
            <a:endParaRPr lang="zh-CN" altLang="en-US" sz="800" b="1" dirty="0">
              <a:latin typeface="Times New Roman" panose="02020603050405020304" pitchFamily="18" charset="0"/>
              <a:ea typeface="微软雅黑 Light" panose="020B0502040204020203" pitchFamily="34" charset="-122"/>
            </a:endParaRPr>
          </a:p>
        </p:txBody>
      </p:sp>
      <p:sp>
        <p:nvSpPr>
          <p:cNvPr id="11" name="Rectangle 12"/>
          <p:cNvSpPr>
            <a:spLocks noChangeArrowheads="1"/>
          </p:cNvSpPr>
          <p:nvPr/>
        </p:nvSpPr>
        <p:spPr bwMode="auto">
          <a:xfrm>
            <a:off x="2502392" y="2949660"/>
            <a:ext cx="377304" cy="295275"/>
          </a:xfrm>
          <a:prstGeom prst="rect">
            <a:avLst/>
          </a:prstGeom>
          <a:solidFill>
            <a:srgbClr val="85D1F7"/>
          </a:solidFill>
          <a:ln w="9525">
            <a:solidFill>
              <a:srgbClr val="0000FF"/>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800" b="1" dirty="0">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mn-lt"/>
              <a:ea typeface="微软雅黑 Light" panose="020B0502040204020203" pitchFamily="34" charset="-122"/>
            </a:endParaRPr>
          </a:p>
        </p:txBody>
      </p:sp>
      <p:sp>
        <p:nvSpPr>
          <p:cNvPr id="108579" name="Freeform 13"/>
          <p:cNvSpPr>
            <a:spLocks/>
          </p:cNvSpPr>
          <p:nvPr/>
        </p:nvSpPr>
        <p:spPr bwMode="auto">
          <a:xfrm>
            <a:off x="2374871" y="2949660"/>
            <a:ext cx="504825" cy="295275"/>
          </a:xfrm>
          <a:custGeom>
            <a:avLst/>
            <a:gdLst>
              <a:gd name="T0" fmla="*/ 0 w 384"/>
              <a:gd name="T1" fmla="*/ 0 h 336"/>
              <a:gd name="T2" fmla="*/ 384 w 384"/>
              <a:gd name="T3" fmla="*/ 0 h 336"/>
              <a:gd name="T4" fmla="*/ 384 w 384"/>
              <a:gd name="T5" fmla="*/ 336 h 336"/>
              <a:gd name="T6" fmla="*/ 0 w 384"/>
              <a:gd name="T7" fmla="*/ 336 h 336"/>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384" h="336">
                <a:moveTo>
                  <a:pt x="0" y="0"/>
                </a:moveTo>
                <a:lnTo>
                  <a:pt x="384" y="0"/>
                </a:lnTo>
                <a:lnTo>
                  <a:pt x="384" y="336"/>
                </a:lnTo>
                <a:lnTo>
                  <a:pt x="0" y="336"/>
                </a:lnTo>
              </a:path>
            </a:pathLst>
          </a:custGeom>
          <a:noFill/>
          <a:ln w="28575" cmpd="sng">
            <a:solidFill>
              <a:srgbClr val="0000FF"/>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800" dirty="0">
              <a:latin typeface="Times New Roman" panose="02020603050405020304" pitchFamily="18" charset="0"/>
              <a:ea typeface="微软雅黑 Light" panose="020B0502040204020203" pitchFamily="34" charset="-122"/>
            </a:endParaRPr>
          </a:p>
        </p:txBody>
      </p:sp>
      <p:sp>
        <p:nvSpPr>
          <p:cNvPr id="108580" name="Line 14"/>
          <p:cNvSpPr>
            <a:spLocks noChangeShapeType="1"/>
          </p:cNvSpPr>
          <p:nvPr/>
        </p:nvSpPr>
        <p:spPr bwMode="auto">
          <a:xfrm>
            <a:off x="2753490" y="2949660"/>
            <a:ext cx="0" cy="295275"/>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800" dirty="0">
              <a:latin typeface="Times New Roman" panose="02020603050405020304" pitchFamily="18" charset="0"/>
              <a:ea typeface="微软雅黑 Light" panose="020B0502040204020203" pitchFamily="34" charset="-122"/>
            </a:endParaRPr>
          </a:p>
        </p:txBody>
      </p:sp>
      <p:sp>
        <p:nvSpPr>
          <p:cNvPr id="108581" name="Line 15"/>
          <p:cNvSpPr>
            <a:spLocks noChangeShapeType="1"/>
          </p:cNvSpPr>
          <p:nvPr/>
        </p:nvSpPr>
        <p:spPr bwMode="auto">
          <a:xfrm>
            <a:off x="2627284" y="2949660"/>
            <a:ext cx="0" cy="295275"/>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800" dirty="0">
              <a:latin typeface="Times New Roman" panose="02020603050405020304" pitchFamily="18" charset="0"/>
              <a:ea typeface="微软雅黑 Light" panose="020B0502040204020203" pitchFamily="34" charset="-122"/>
            </a:endParaRPr>
          </a:p>
        </p:txBody>
      </p:sp>
      <p:sp>
        <p:nvSpPr>
          <p:cNvPr id="108582" name="Line 16"/>
          <p:cNvSpPr>
            <a:spLocks noChangeShapeType="1"/>
          </p:cNvSpPr>
          <p:nvPr/>
        </p:nvSpPr>
        <p:spPr bwMode="auto">
          <a:xfrm>
            <a:off x="2501077" y="2949660"/>
            <a:ext cx="0" cy="295275"/>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800" dirty="0">
              <a:latin typeface="Times New Roman" panose="02020603050405020304" pitchFamily="18" charset="0"/>
              <a:ea typeface="微软雅黑 Light" panose="020B0502040204020203" pitchFamily="34" charset="-122"/>
            </a:endParaRPr>
          </a:p>
        </p:txBody>
      </p:sp>
      <p:sp>
        <p:nvSpPr>
          <p:cNvPr id="108557" name="Line 17"/>
          <p:cNvSpPr>
            <a:spLocks noChangeShapeType="1"/>
          </p:cNvSpPr>
          <p:nvPr/>
        </p:nvSpPr>
        <p:spPr bwMode="auto">
          <a:xfrm>
            <a:off x="2876521" y="3108410"/>
            <a:ext cx="188912" cy="3175"/>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800" dirty="0">
              <a:latin typeface="Times New Roman" panose="02020603050405020304" pitchFamily="18" charset="0"/>
              <a:ea typeface="微软雅黑 Light" panose="020B0502040204020203" pitchFamily="34" charset="-122"/>
            </a:endParaRPr>
          </a:p>
        </p:txBody>
      </p:sp>
      <p:sp>
        <p:nvSpPr>
          <p:cNvPr id="108558" name="Rectangle 18"/>
          <p:cNvSpPr>
            <a:spLocks noChangeArrowheads="1"/>
          </p:cNvSpPr>
          <p:nvPr/>
        </p:nvSpPr>
        <p:spPr bwMode="auto">
          <a:xfrm>
            <a:off x="2927321" y="3048085"/>
            <a:ext cx="119062" cy="123825"/>
          </a:xfrm>
          <a:prstGeom prst="rect">
            <a:avLst/>
          </a:prstGeom>
          <a:solidFill>
            <a:srgbClr val="9AFEA6"/>
          </a:solidFill>
          <a:ln w="19050">
            <a:solidFill>
              <a:srgbClr val="0000FF"/>
            </a:solidFill>
            <a:miter lim="800000"/>
            <a:headEnd/>
            <a:tailEnd/>
          </a:ln>
        </p:spPr>
        <p:txBody>
          <a:bodyPr wrap="none" anchor="ctr"/>
          <a:lstStyle/>
          <a:p>
            <a:endParaRPr lang="zh-CN" altLang="en-US" sz="800" b="1" dirty="0">
              <a:latin typeface="Times New Roman" panose="02020603050405020304" pitchFamily="18" charset="0"/>
              <a:ea typeface="微软雅黑 Light" panose="020B0502040204020203" pitchFamily="34" charset="-122"/>
            </a:endParaRPr>
          </a:p>
        </p:txBody>
      </p:sp>
      <p:sp>
        <p:nvSpPr>
          <p:cNvPr id="108559" name="AutoShape 21"/>
          <p:cNvSpPr>
            <a:spLocks noChangeArrowheads="1"/>
          </p:cNvSpPr>
          <p:nvPr/>
        </p:nvSpPr>
        <p:spPr bwMode="auto">
          <a:xfrm>
            <a:off x="3239586" y="3063960"/>
            <a:ext cx="720000" cy="108000"/>
          </a:xfrm>
          <a:prstGeom prst="rightArrow">
            <a:avLst>
              <a:gd name="adj1" fmla="val 50000"/>
              <a:gd name="adj2" fmla="val 178219"/>
            </a:avLst>
          </a:prstGeom>
          <a:solidFill>
            <a:srgbClr val="FFCC00"/>
          </a:solidFill>
          <a:ln>
            <a:noFill/>
          </a:ln>
        </p:spPr>
        <p:txBody>
          <a:bodyPr wrap="none" anchor="ctr"/>
          <a:lstStyle/>
          <a:p>
            <a:endParaRPr lang="zh-CN" altLang="en-US" sz="800" b="1" dirty="0">
              <a:latin typeface="Times New Roman" panose="02020603050405020304" pitchFamily="18" charset="0"/>
              <a:ea typeface="微软雅黑 Light" panose="020B0502040204020203" pitchFamily="34" charset="-122"/>
            </a:endParaRPr>
          </a:p>
        </p:txBody>
      </p:sp>
      <p:sp>
        <p:nvSpPr>
          <p:cNvPr id="108560" name="AutoShape 26"/>
          <p:cNvSpPr>
            <a:spLocks noChangeArrowheads="1"/>
          </p:cNvSpPr>
          <p:nvPr/>
        </p:nvSpPr>
        <p:spPr bwMode="auto">
          <a:xfrm>
            <a:off x="1726240" y="3063960"/>
            <a:ext cx="720000" cy="108000"/>
          </a:xfrm>
          <a:prstGeom prst="rightArrow">
            <a:avLst>
              <a:gd name="adj1" fmla="val 50000"/>
              <a:gd name="adj2" fmla="val 178436"/>
            </a:avLst>
          </a:prstGeom>
          <a:solidFill>
            <a:srgbClr val="FFCC00"/>
          </a:solidFill>
          <a:ln>
            <a:noFill/>
          </a:ln>
        </p:spPr>
        <p:txBody>
          <a:bodyPr wrap="none" anchor="ctr"/>
          <a:lstStyle/>
          <a:p>
            <a:endParaRPr lang="zh-CN" altLang="en-US" sz="800" b="1" dirty="0">
              <a:latin typeface="Times New Roman" panose="02020603050405020304" pitchFamily="18" charset="0"/>
              <a:ea typeface="微软雅黑 Light" panose="020B0502040204020203" pitchFamily="34" charset="-122"/>
            </a:endParaRPr>
          </a:p>
        </p:txBody>
      </p:sp>
      <p:sp>
        <p:nvSpPr>
          <p:cNvPr id="108561" name="AutoShape 27"/>
          <p:cNvSpPr>
            <a:spLocks noChangeArrowheads="1"/>
          </p:cNvSpPr>
          <p:nvPr/>
        </p:nvSpPr>
        <p:spPr bwMode="auto">
          <a:xfrm>
            <a:off x="5459566" y="3059198"/>
            <a:ext cx="720000" cy="108000"/>
          </a:xfrm>
          <a:prstGeom prst="rightArrow">
            <a:avLst>
              <a:gd name="adj1" fmla="val 50000"/>
              <a:gd name="adj2" fmla="val 180730"/>
            </a:avLst>
          </a:prstGeom>
          <a:solidFill>
            <a:srgbClr val="FFCC00"/>
          </a:solidFill>
          <a:ln>
            <a:noFill/>
          </a:ln>
        </p:spPr>
        <p:txBody>
          <a:bodyPr wrap="none" anchor="ctr"/>
          <a:lstStyle/>
          <a:p>
            <a:endParaRPr lang="zh-CN" altLang="en-US" sz="800" b="1" dirty="0">
              <a:latin typeface="Times New Roman" panose="02020603050405020304" pitchFamily="18" charset="0"/>
              <a:ea typeface="微软雅黑 Light" panose="020B0502040204020203" pitchFamily="34" charset="-122"/>
            </a:endParaRPr>
          </a:p>
        </p:txBody>
      </p:sp>
      <p:sp>
        <p:nvSpPr>
          <p:cNvPr id="108564" name="Text Box 32"/>
          <p:cNvSpPr txBox="1">
            <a:spLocks noChangeArrowheads="1"/>
          </p:cNvSpPr>
          <p:nvPr/>
        </p:nvSpPr>
        <p:spPr bwMode="auto">
          <a:xfrm>
            <a:off x="3135738" y="3452601"/>
            <a:ext cx="78299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defPPr>
              <a:defRPr lang="zh-CN"/>
            </a:defPPr>
            <a:lvl1pPr algn="ctr">
              <a:defRPr sz="1200">
                <a:solidFill>
                  <a:sysClr val="windowText" lastClr="000000"/>
                </a:solidFill>
                <a:latin typeface="+mj-lt"/>
                <a:ea typeface="+mj-ea"/>
              </a:defRPr>
            </a:lvl1pPr>
          </a:lstStyle>
          <a:p>
            <a:r>
              <a:rPr lang="en-US" altLang="zh-CN" sz="800" dirty="0"/>
              <a:t>Emitter</a:t>
            </a:r>
            <a:endParaRPr lang="zh-CN" altLang="en-US" sz="800" dirty="0"/>
          </a:p>
        </p:txBody>
      </p:sp>
      <p:sp>
        <p:nvSpPr>
          <p:cNvPr id="108565" name="Text Box 34"/>
          <p:cNvSpPr txBox="1">
            <a:spLocks noChangeArrowheads="1"/>
          </p:cNvSpPr>
          <p:nvPr/>
        </p:nvSpPr>
        <p:spPr bwMode="auto">
          <a:xfrm>
            <a:off x="2269689" y="3230780"/>
            <a:ext cx="784878"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defPPr>
              <a:defRPr lang="zh-CN"/>
            </a:defPPr>
            <a:lvl1pPr algn="ctr">
              <a:defRPr sz="1200">
                <a:latin typeface="+mj-ea"/>
                <a:ea typeface="+mj-ea"/>
              </a:defRPr>
            </a:lvl1pPr>
          </a:lstStyle>
          <a:p>
            <a:r>
              <a:rPr lang="en-US" altLang="zh-CN" sz="800" dirty="0">
                <a:solidFill>
                  <a:sysClr val="windowText" lastClr="000000"/>
                </a:solidFill>
                <a:latin typeface="+mj-lt"/>
              </a:rPr>
              <a:t>Queue</a:t>
            </a:r>
            <a:endParaRPr lang="zh-CN" altLang="en-US" sz="800" dirty="0">
              <a:solidFill>
                <a:sysClr val="windowText" lastClr="000000"/>
              </a:solidFill>
              <a:latin typeface="+mj-lt"/>
            </a:endParaRPr>
          </a:p>
        </p:txBody>
      </p:sp>
      <p:sp>
        <p:nvSpPr>
          <p:cNvPr id="27" name="Text Box 36"/>
          <p:cNvSpPr txBox="1">
            <a:spLocks noChangeArrowheads="1"/>
          </p:cNvSpPr>
          <p:nvPr/>
        </p:nvSpPr>
        <p:spPr bwMode="auto">
          <a:xfrm>
            <a:off x="4400121" y="2031384"/>
            <a:ext cx="1080000" cy="203133"/>
          </a:xfrm>
          <a:prstGeom prst="rect">
            <a:avLst/>
          </a:prstGeom>
        </p:spPr>
        <p:txBody>
          <a:bodyPr vert="horz" wrap="square" lIns="91440" tIns="45720" rIns="91440" bIns="45720" rtlCol="0" anchor="ctr">
            <a:spAutoFit/>
          </a:bodyPr>
          <a:lstStyle>
            <a:defPPr>
              <a:defRPr lang="zh-CN"/>
            </a:defPPr>
            <a:lvl1pPr algn="ctr" defTabSz="685800">
              <a:lnSpc>
                <a:spcPct val="90000"/>
              </a:lnSpc>
              <a:spcBef>
                <a:spcPct val="0"/>
              </a:spcBef>
              <a:buNone/>
              <a:defRPr sz="1400">
                <a:latin typeface="+mj-lt"/>
                <a:ea typeface="+mj-ea"/>
                <a:cs typeface="+mj-cs"/>
              </a:defRPr>
            </a:lvl1pPr>
          </a:lstStyle>
          <a:p>
            <a:r>
              <a:rPr lang="zh-CN" altLang="en-US" sz="800" dirty="0"/>
              <a:t>传播时延</a:t>
            </a:r>
          </a:p>
        </p:txBody>
      </p:sp>
      <p:sp>
        <p:nvSpPr>
          <p:cNvPr id="108567" name="Text Box 37"/>
          <p:cNvSpPr txBox="1">
            <a:spLocks noChangeArrowheads="1"/>
          </p:cNvSpPr>
          <p:nvPr/>
        </p:nvSpPr>
        <p:spPr bwMode="auto">
          <a:xfrm>
            <a:off x="6023578" y="3557702"/>
            <a:ext cx="792000"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defPPr>
              <a:defRPr lang="zh-CN"/>
            </a:defPPr>
            <a:lvl1pPr algn="ctr">
              <a:defRPr sz="1200">
                <a:solidFill>
                  <a:sysClr val="windowText" lastClr="000000"/>
                </a:solidFill>
                <a:latin typeface="+mj-lt"/>
                <a:ea typeface="+mj-ea"/>
              </a:defRPr>
            </a:lvl1pPr>
          </a:lstStyle>
          <a:p>
            <a:r>
              <a:rPr lang="en-US" altLang="zh-CN" sz="800" dirty="0"/>
              <a:t>Node B</a:t>
            </a:r>
          </a:p>
        </p:txBody>
      </p:sp>
      <p:sp>
        <p:nvSpPr>
          <p:cNvPr id="108568" name="Text Box 38"/>
          <p:cNvSpPr txBox="1">
            <a:spLocks noChangeArrowheads="1"/>
          </p:cNvSpPr>
          <p:nvPr/>
        </p:nvSpPr>
        <p:spPr bwMode="auto">
          <a:xfrm>
            <a:off x="2200403" y="3557702"/>
            <a:ext cx="792000"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defPPr>
              <a:defRPr lang="zh-CN"/>
            </a:defPPr>
            <a:lvl1pPr algn="ctr">
              <a:defRPr sz="1200">
                <a:solidFill>
                  <a:sysClr val="windowText" lastClr="000000"/>
                </a:solidFill>
                <a:latin typeface="+mj-lt"/>
                <a:ea typeface="+mj-ea"/>
              </a:defRPr>
            </a:lvl1pPr>
          </a:lstStyle>
          <a:p>
            <a:r>
              <a:rPr lang="en-US" altLang="zh-CN" sz="800" dirty="0"/>
              <a:t>Node</a:t>
            </a:r>
            <a:r>
              <a:rPr lang="zh-CN" altLang="en-US" sz="800" dirty="0"/>
              <a:t> </a:t>
            </a:r>
            <a:r>
              <a:rPr lang="en-US" altLang="zh-CN" sz="800" dirty="0"/>
              <a:t>A</a:t>
            </a:r>
          </a:p>
        </p:txBody>
      </p:sp>
      <p:sp>
        <p:nvSpPr>
          <p:cNvPr id="31" name="Text Box 24"/>
          <p:cNvSpPr txBox="1">
            <a:spLocks noChangeArrowheads="1"/>
          </p:cNvSpPr>
          <p:nvPr/>
        </p:nvSpPr>
        <p:spPr bwMode="auto">
          <a:xfrm>
            <a:off x="2685040" y="2282223"/>
            <a:ext cx="936000" cy="203133"/>
          </a:xfrm>
          <a:prstGeom prst="rect">
            <a:avLst/>
          </a:prstGeom>
        </p:spPr>
        <p:txBody>
          <a:bodyPr vert="horz" lIns="91440" tIns="45720" rIns="91440" bIns="45720" rtlCol="0" anchor="ctr">
            <a:spAutoFit/>
          </a:bodyPr>
          <a:lstStyle>
            <a:defPPr>
              <a:defRPr lang="zh-CN"/>
            </a:defPPr>
            <a:lvl1pPr algn="ctr" defTabSz="685800">
              <a:lnSpc>
                <a:spcPct val="90000"/>
              </a:lnSpc>
              <a:spcBef>
                <a:spcPct val="0"/>
              </a:spcBef>
              <a:buNone/>
              <a:defRPr sz="1400">
                <a:latin typeface="+mj-lt"/>
                <a:ea typeface="+mj-ea"/>
                <a:cs typeface="+mj-cs"/>
              </a:defRPr>
            </a:lvl1pPr>
          </a:lstStyle>
          <a:p>
            <a:r>
              <a:rPr lang="zh-CN" altLang="en-US" sz="800" dirty="0"/>
              <a:t>发送时延</a:t>
            </a:r>
          </a:p>
        </p:txBody>
      </p:sp>
      <p:sp>
        <p:nvSpPr>
          <p:cNvPr id="108570" name="Line 41"/>
          <p:cNvSpPr>
            <a:spLocks noChangeShapeType="1"/>
          </p:cNvSpPr>
          <p:nvPr/>
        </p:nvSpPr>
        <p:spPr bwMode="auto">
          <a:xfrm flipH="1" flipV="1">
            <a:off x="3027332" y="3178260"/>
            <a:ext cx="280986" cy="365123"/>
          </a:xfrm>
          <a:prstGeom prst="line">
            <a:avLst/>
          </a:prstGeom>
          <a:noFill/>
          <a:ln w="12700">
            <a:solidFill>
              <a:schemeClr val="tx1"/>
            </a:solidFill>
            <a:prstDash val="dash"/>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800" dirty="0">
              <a:latin typeface="Times New Roman" panose="02020603050405020304" pitchFamily="18" charset="0"/>
              <a:ea typeface="微软雅黑 Light" panose="020B0502040204020203" pitchFamily="34" charset="-122"/>
            </a:endParaRPr>
          </a:p>
        </p:txBody>
      </p:sp>
      <p:sp>
        <p:nvSpPr>
          <p:cNvPr id="108577" name="Text Box 42"/>
          <p:cNvSpPr txBox="1">
            <a:spLocks noChangeArrowheads="1"/>
          </p:cNvSpPr>
          <p:nvPr/>
        </p:nvSpPr>
        <p:spPr bwMode="auto">
          <a:xfrm>
            <a:off x="2148425" y="1964846"/>
            <a:ext cx="1800493" cy="203133"/>
          </a:xfrm>
          <a:prstGeom prst="rect">
            <a:avLst/>
          </a:prstGeom>
        </p:spPr>
        <p:txBody>
          <a:bodyPr vert="horz" lIns="91440" tIns="45720" rIns="91440" bIns="45720" rtlCol="0" anchor="ctr">
            <a:spAutoFit/>
          </a:bodyPr>
          <a:lstStyle>
            <a:defPPr>
              <a:defRPr lang="zh-CN"/>
            </a:defPPr>
            <a:lvl1pPr algn="ctr" defTabSz="685800">
              <a:lnSpc>
                <a:spcPct val="90000"/>
              </a:lnSpc>
              <a:spcBef>
                <a:spcPct val="0"/>
              </a:spcBef>
              <a:buNone/>
              <a:defRPr sz="1400">
                <a:latin typeface="+mj-lt"/>
                <a:ea typeface="+mj-ea"/>
                <a:cs typeface="+mj-cs"/>
              </a:defRPr>
            </a:lvl1pPr>
          </a:lstStyle>
          <a:p>
            <a:r>
              <a:rPr lang="zh-CN" altLang="en-US" sz="800" dirty="0"/>
              <a:t>处理时延和排队时延</a:t>
            </a:r>
          </a:p>
        </p:txBody>
      </p:sp>
      <p:sp>
        <p:nvSpPr>
          <p:cNvPr id="108572" name="Text Box 46"/>
          <p:cNvSpPr txBox="1">
            <a:spLocks noChangeArrowheads="1"/>
          </p:cNvSpPr>
          <p:nvPr/>
        </p:nvSpPr>
        <p:spPr bwMode="auto">
          <a:xfrm>
            <a:off x="1792192" y="3156714"/>
            <a:ext cx="432000"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defPPr>
              <a:defRPr lang="zh-CN"/>
            </a:defPPr>
            <a:lvl1pPr algn="ctr">
              <a:defRPr sz="1200">
                <a:solidFill>
                  <a:sysClr val="windowText" lastClr="000000"/>
                </a:solidFill>
                <a:latin typeface="+mj-lt"/>
                <a:ea typeface="+mj-ea"/>
              </a:defRPr>
            </a:lvl1pPr>
          </a:lstStyle>
          <a:p>
            <a:r>
              <a:rPr lang="en-US" altLang="zh-CN" sz="800" dirty="0"/>
              <a:t>Data</a:t>
            </a:r>
            <a:endParaRPr lang="zh-CN" altLang="en-US" sz="800" dirty="0"/>
          </a:p>
        </p:txBody>
      </p:sp>
      <p:sp>
        <p:nvSpPr>
          <p:cNvPr id="108573" name="Text Box 47"/>
          <p:cNvSpPr txBox="1">
            <a:spLocks noChangeArrowheads="1"/>
          </p:cNvSpPr>
          <p:nvPr/>
        </p:nvSpPr>
        <p:spPr bwMode="auto">
          <a:xfrm>
            <a:off x="2266589" y="1030136"/>
            <a:ext cx="4343217" cy="286232"/>
          </a:xfrm>
          <a:prstGeom prst="rect">
            <a:avLst/>
          </a:prstGeom>
        </p:spPr>
        <p:txBody>
          <a:bodyPr vert="horz" lIns="91440" tIns="45720" rIns="91440" bIns="45720" rtlCol="0" anchor="ctr">
            <a:spAutoFit/>
          </a:bodyPr>
          <a:lstStyle>
            <a:lvl1pPr defTabSz="685800">
              <a:lnSpc>
                <a:spcPct val="90000"/>
              </a:lnSpc>
              <a:spcBef>
                <a:spcPct val="0"/>
              </a:spcBef>
              <a:buNone/>
              <a:defRPr lang="zh-CN" altLang="en-US" dirty="0">
                <a:solidFill>
                  <a:schemeClr val="bg1"/>
                </a:solidFill>
                <a:latin typeface="+mj-lt"/>
                <a:ea typeface="+mj-ea"/>
                <a:cs typeface="+mj-cs"/>
              </a:defRPr>
            </a:lvl1pPr>
          </a:lstStyle>
          <a:p>
            <a:pPr algn="ctr"/>
            <a:r>
              <a:rPr lang="zh-CN" altLang="en-US" sz="1400" dirty="0">
                <a:solidFill>
                  <a:schemeClr val="tx1"/>
                </a:solidFill>
              </a:rPr>
              <a:t>假设从结点 </a:t>
            </a:r>
            <a:r>
              <a:rPr lang="en-US" altLang="zh-CN" sz="1400" dirty="0">
                <a:solidFill>
                  <a:schemeClr val="tx1"/>
                </a:solidFill>
              </a:rPr>
              <a:t>A </a:t>
            </a:r>
            <a:r>
              <a:rPr lang="zh-CN" altLang="en-US" sz="1400" dirty="0">
                <a:solidFill>
                  <a:schemeClr val="tx1"/>
                </a:solidFill>
              </a:rPr>
              <a:t>向结点 </a:t>
            </a:r>
            <a:r>
              <a:rPr lang="en-US" altLang="zh-CN" sz="1400" dirty="0">
                <a:solidFill>
                  <a:schemeClr val="tx1"/>
                </a:solidFill>
              </a:rPr>
              <a:t>B </a:t>
            </a:r>
            <a:r>
              <a:rPr lang="zh-CN" altLang="en-US" sz="1400" dirty="0">
                <a:solidFill>
                  <a:schemeClr val="tx1"/>
                </a:solidFill>
              </a:rPr>
              <a:t>发送数据</a:t>
            </a:r>
          </a:p>
        </p:txBody>
      </p:sp>
      <p:sp>
        <p:nvSpPr>
          <p:cNvPr id="108574" name="Text Box 48"/>
          <p:cNvSpPr txBox="1">
            <a:spLocks noChangeArrowheads="1"/>
          </p:cNvSpPr>
          <p:nvPr/>
        </p:nvSpPr>
        <p:spPr bwMode="auto">
          <a:xfrm>
            <a:off x="4241495" y="3237157"/>
            <a:ext cx="1268278"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defPPr>
              <a:defRPr lang="zh-CN"/>
            </a:defPPr>
            <a:lvl1pPr algn="ctr">
              <a:defRPr sz="1200">
                <a:solidFill>
                  <a:sysClr val="windowText" lastClr="000000"/>
                </a:solidFill>
                <a:latin typeface="+mj-lt"/>
                <a:ea typeface="+mj-ea"/>
              </a:defRPr>
            </a:lvl1pPr>
          </a:lstStyle>
          <a:p>
            <a:r>
              <a:rPr lang="en-US" altLang="zh-CN" sz="800" dirty="0"/>
              <a:t>Link/Channel</a:t>
            </a:r>
            <a:endParaRPr lang="zh-CN" altLang="en-US" sz="800" dirty="0"/>
          </a:p>
        </p:txBody>
      </p:sp>
      <p:sp>
        <p:nvSpPr>
          <p:cNvPr id="108575" name="矩形 38"/>
          <p:cNvSpPr>
            <a:spLocks noChangeArrowheads="1"/>
          </p:cNvSpPr>
          <p:nvPr/>
        </p:nvSpPr>
        <p:spPr bwMode="auto">
          <a:xfrm>
            <a:off x="2285668" y="4227111"/>
            <a:ext cx="457266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gn="ctr"/>
            <a:r>
              <a:rPr lang="zh-CN" altLang="en-US" sz="1200" dirty="0"/>
              <a:t>四</a:t>
            </a:r>
            <a:r>
              <a:rPr lang="zh-CN" altLang="zh-CN" sz="1200" dirty="0"/>
              <a:t>种时延产生的地方</a:t>
            </a:r>
            <a:endParaRPr lang="zh-CN" altLang="en-US" sz="1200" dirty="0"/>
          </a:p>
        </p:txBody>
      </p:sp>
      <p:cxnSp>
        <p:nvCxnSpPr>
          <p:cNvPr id="5" name="直接连接符 4"/>
          <p:cNvCxnSpPr>
            <a:cxnSpLocks/>
          </p:cNvCxnSpPr>
          <p:nvPr/>
        </p:nvCxnSpPr>
        <p:spPr>
          <a:xfrm>
            <a:off x="3069925" y="2781657"/>
            <a:ext cx="0" cy="216000"/>
          </a:xfrm>
          <a:prstGeom prst="line">
            <a:avLst/>
          </a:prstGeom>
          <a:ln w="12700">
            <a:solidFill>
              <a:schemeClr val="tx1"/>
            </a:solidFill>
          </a:ln>
        </p:spPr>
        <p:style>
          <a:lnRef idx="1">
            <a:schemeClr val="dk1"/>
          </a:lnRef>
          <a:fillRef idx="0">
            <a:schemeClr val="dk1"/>
          </a:fillRef>
          <a:effectRef idx="0">
            <a:schemeClr val="dk1"/>
          </a:effectRef>
          <a:fontRef idx="minor">
            <a:schemeClr val="tx1"/>
          </a:fontRef>
        </p:style>
      </p:cxnSp>
      <p:cxnSp>
        <p:nvCxnSpPr>
          <p:cNvPr id="44" name="直接连接符 43"/>
          <p:cNvCxnSpPr>
            <a:cxnSpLocks/>
          </p:cNvCxnSpPr>
          <p:nvPr/>
        </p:nvCxnSpPr>
        <p:spPr>
          <a:xfrm>
            <a:off x="5952429" y="2781657"/>
            <a:ext cx="0" cy="216000"/>
          </a:xfrm>
          <a:prstGeom prst="line">
            <a:avLst/>
          </a:prstGeom>
          <a:ln w="12700">
            <a:solidFill>
              <a:schemeClr val="tx1"/>
            </a:solidFill>
          </a:ln>
        </p:spPr>
        <p:style>
          <a:lnRef idx="1">
            <a:schemeClr val="dk1"/>
          </a:lnRef>
          <a:fillRef idx="0">
            <a:schemeClr val="dk1"/>
          </a:fillRef>
          <a:effectRef idx="0">
            <a:schemeClr val="dk1"/>
          </a:effectRef>
          <a:fontRef idx="minor">
            <a:schemeClr val="tx1"/>
          </a:fontRef>
        </p:style>
      </p:cxnSp>
      <p:cxnSp>
        <p:nvCxnSpPr>
          <p:cNvPr id="10" name="直接箭头连接符 9"/>
          <p:cNvCxnSpPr>
            <a:cxnSpLocks/>
          </p:cNvCxnSpPr>
          <p:nvPr/>
        </p:nvCxnSpPr>
        <p:spPr>
          <a:xfrm>
            <a:off x="3069925" y="2889657"/>
            <a:ext cx="2880000" cy="0"/>
          </a:xfrm>
          <a:prstGeom prst="straightConnector1">
            <a:avLst/>
          </a:prstGeom>
          <a:ln w="12700">
            <a:solidFill>
              <a:schemeClr val="tx1"/>
            </a:solidFill>
            <a:headEnd type="triangle" w="sm" len="med"/>
            <a:tailEnd type="triangle" w="sm" len="med"/>
          </a:ln>
        </p:spPr>
        <p:style>
          <a:lnRef idx="1">
            <a:schemeClr val="accent1"/>
          </a:lnRef>
          <a:fillRef idx="0">
            <a:schemeClr val="accent1"/>
          </a:fillRef>
          <a:effectRef idx="0">
            <a:schemeClr val="accent1"/>
          </a:effectRef>
          <a:fontRef idx="minor">
            <a:schemeClr val="tx1"/>
          </a:fontRef>
        </p:style>
      </p:cxnSp>
      <p:sp>
        <p:nvSpPr>
          <p:cNvPr id="50" name="Freeform 119"/>
          <p:cNvSpPr>
            <a:spLocks/>
          </p:cNvSpPr>
          <p:nvPr/>
        </p:nvSpPr>
        <p:spPr bwMode="auto">
          <a:xfrm>
            <a:off x="4163910" y="3067362"/>
            <a:ext cx="1006222" cy="96385"/>
          </a:xfrm>
          <a:custGeom>
            <a:avLst/>
            <a:gdLst>
              <a:gd name="T0" fmla="*/ 0 w 680"/>
              <a:gd name="T1" fmla="*/ 90 h 90"/>
              <a:gd name="T2" fmla="*/ 45 w 680"/>
              <a:gd name="T3" fmla="*/ 90 h 90"/>
              <a:gd name="T4" fmla="*/ 45 w 680"/>
              <a:gd name="T5" fmla="*/ 0 h 90"/>
              <a:gd name="T6" fmla="*/ 91 w 680"/>
              <a:gd name="T7" fmla="*/ 0 h 90"/>
              <a:gd name="T8" fmla="*/ 91 w 680"/>
              <a:gd name="T9" fmla="*/ 90 h 90"/>
              <a:gd name="T10" fmla="*/ 136 w 680"/>
              <a:gd name="T11" fmla="*/ 90 h 90"/>
              <a:gd name="T12" fmla="*/ 136 w 680"/>
              <a:gd name="T13" fmla="*/ 0 h 90"/>
              <a:gd name="T14" fmla="*/ 181 w 680"/>
              <a:gd name="T15" fmla="*/ 0 h 90"/>
              <a:gd name="T16" fmla="*/ 181 w 680"/>
              <a:gd name="T17" fmla="*/ 90 h 90"/>
              <a:gd name="T18" fmla="*/ 227 w 680"/>
              <a:gd name="T19" fmla="*/ 90 h 90"/>
              <a:gd name="T20" fmla="*/ 227 w 680"/>
              <a:gd name="T21" fmla="*/ 0 h 90"/>
              <a:gd name="T22" fmla="*/ 317 w 680"/>
              <a:gd name="T23" fmla="*/ 0 h 90"/>
              <a:gd name="T24" fmla="*/ 317 w 680"/>
              <a:gd name="T25" fmla="*/ 90 h 90"/>
              <a:gd name="T26" fmla="*/ 363 w 680"/>
              <a:gd name="T27" fmla="*/ 90 h 90"/>
              <a:gd name="T28" fmla="*/ 363 w 680"/>
              <a:gd name="T29" fmla="*/ 0 h 90"/>
              <a:gd name="T30" fmla="*/ 408 w 680"/>
              <a:gd name="T31" fmla="*/ 0 h 90"/>
              <a:gd name="T32" fmla="*/ 408 w 680"/>
              <a:gd name="T33" fmla="*/ 90 h 90"/>
              <a:gd name="T34" fmla="*/ 499 w 680"/>
              <a:gd name="T35" fmla="*/ 90 h 90"/>
              <a:gd name="T36" fmla="*/ 499 w 680"/>
              <a:gd name="T37" fmla="*/ 0 h 90"/>
              <a:gd name="T38" fmla="*/ 544 w 680"/>
              <a:gd name="T39" fmla="*/ 0 h 90"/>
              <a:gd name="T40" fmla="*/ 544 w 680"/>
              <a:gd name="T41" fmla="*/ 90 h 90"/>
              <a:gd name="T42" fmla="*/ 589 w 680"/>
              <a:gd name="T43" fmla="*/ 90 h 90"/>
              <a:gd name="T44" fmla="*/ 589 w 680"/>
              <a:gd name="T45" fmla="*/ 0 h 90"/>
              <a:gd name="T46" fmla="*/ 635 w 680"/>
              <a:gd name="T47" fmla="*/ 0 h 90"/>
              <a:gd name="T48" fmla="*/ 635 w 680"/>
              <a:gd name="T49" fmla="*/ 90 h 90"/>
              <a:gd name="T50" fmla="*/ 680 w 680"/>
              <a:gd name="T51" fmla="*/ 90 h 90"/>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w 680"/>
              <a:gd name="T79" fmla="*/ 0 h 90"/>
              <a:gd name="T80" fmla="*/ 680 w 680"/>
              <a:gd name="T81" fmla="*/ 90 h 90"/>
            </a:gdLst>
            <a:ahLst/>
            <a:cxnLst>
              <a:cxn ang="T52">
                <a:pos x="T0" y="T1"/>
              </a:cxn>
              <a:cxn ang="T53">
                <a:pos x="T2" y="T3"/>
              </a:cxn>
              <a:cxn ang="T54">
                <a:pos x="T4" y="T5"/>
              </a:cxn>
              <a:cxn ang="T55">
                <a:pos x="T6" y="T7"/>
              </a:cxn>
              <a:cxn ang="T56">
                <a:pos x="T8" y="T9"/>
              </a:cxn>
              <a:cxn ang="T57">
                <a:pos x="T10" y="T11"/>
              </a:cxn>
              <a:cxn ang="T58">
                <a:pos x="T12" y="T13"/>
              </a:cxn>
              <a:cxn ang="T59">
                <a:pos x="T14" y="T15"/>
              </a:cxn>
              <a:cxn ang="T60">
                <a:pos x="T16" y="T17"/>
              </a:cxn>
              <a:cxn ang="T61">
                <a:pos x="T18" y="T19"/>
              </a:cxn>
              <a:cxn ang="T62">
                <a:pos x="T20" y="T21"/>
              </a:cxn>
              <a:cxn ang="T63">
                <a:pos x="T22" y="T23"/>
              </a:cxn>
              <a:cxn ang="T64">
                <a:pos x="T24" y="T25"/>
              </a:cxn>
              <a:cxn ang="T65">
                <a:pos x="T26" y="T27"/>
              </a:cxn>
              <a:cxn ang="T66">
                <a:pos x="T28" y="T29"/>
              </a:cxn>
              <a:cxn ang="T67">
                <a:pos x="T30" y="T31"/>
              </a:cxn>
              <a:cxn ang="T68">
                <a:pos x="T32" y="T33"/>
              </a:cxn>
              <a:cxn ang="T69">
                <a:pos x="T34" y="T35"/>
              </a:cxn>
              <a:cxn ang="T70">
                <a:pos x="T36" y="T37"/>
              </a:cxn>
              <a:cxn ang="T71">
                <a:pos x="T38" y="T39"/>
              </a:cxn>
              <a:cxn ang="T72">
                <a:pos x="T40" y="T41"/>
              </a:cxn>
              <a:cxn ang="T73">
                <a:pos x="T42" y="T43"/>
              </a:cxn>
              <a:cxn ang="T74">
                <a:pos x="T44" y="T45"/>
              </a:cxn>
              <a:cxn ang="T75">
                <a:pos x="T46" y="T47"/>
              </a:cxn>
              <a:cxn ang="T76">
                <a:pos x="T48" y="T49"/>
              </a:cxn>
              <a:cxn ang="T77">
                <a:pos x="T50" y="T51"/>
              </a:cxn>
            </a:cxnLst>
            <a:rect l="T78" t="T79" r="T80" b="T81"/>
            <a:pathLst>
              <a:path w="680" h="90">
                <a:moveTo>
                  <a:pt x="0" y="90"/>
                </a:moveTo>
                <a:lnTo>
                  <a:pt x="45" y="90"/>
                </a:lnTo>
                <a:lnTo>
                  <a:pt x="45" y="0"/>
                </a:lnTo>
                <a:lnTo>
                  <a:pt x="91" y="0"/>
                </a:lnTo>
                <a:lnTo>
                  <a:pt x="91" y="90"/>
                </a:lnTo>
                <a:lnTo>
                  <a:pt x="136" y="90"/>
                </a:lnTo>
                <a:lnTo>
                  <a:pt x="136" y="0"/>
                </a:lnTo>
                <a:lnTo>
                  <a:pt x="181" y="0"/>
                </a:lnTo>
                <a:lnTo>
                  <a:pt x="181" y="90"/>
                </a:lnTo>
                <a:lnTo>
                  <a:pt x="227" y="90"/>
                </a:lnTo>
                <a:lnTo>
                  <a:pt x="227" y="0"/>
                </a:lnTo>
                <a:lnTo>
                  <a:pt x="317" y="0"/>
                </a:lnTo>
                <a:lnTo>
                  <a:pt x="317" y="90"/>
                </a:lnTo>
                <a:lnTo>
                  <a:pt x="363" y="90"/>
                </a:lnTo>
                <a:lnTo>
                  <a:pt x="363" y="0"/>
                </a:lnTo>
                <a:lnTo>
                  <a:pt x="408" y="0"/>
                </a:lnTo>
                <a:lnTo>
                  <a:pt x="408" y="90"/>
                </a:lnTo>
                <a:lnTo>
                  <a:pt x="499" y="90"/>
                </a:lnTo>
                <a:lnTo>
                  <a:pt x="499" y="0"/>
                </a:lnTo>
                <a:lnTo>
                  <a:pt x="544" y="0"/>
                </a:lnTo>
                <a:lnTo>
                  <a:pt x="544" y="90"/>
                </a:lnTo>
                <a:lnTo>
                  <a:pt x="589" y="90"/>
                </a:lnTo>
                <a:lnTo>
                  <a:pt x="589" y="0"/>
                </a:lnTo>
                <a:lnTo>
                  <a:pt x="635" y="0"/>
                </a:lnTo>
                <a:lnTo>
                  <a:pt x="635" y="90"/>
                </a:lnTo>
                <a:lnTo>
                  <a:pt x="680" y="90"/>
                </a:lnTo>
              </a:path>
            </a:pathLst>
          </a:custGeom>
          <a:noFill/>
          <a:ln w="6350" cmpd="sng">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zh-CN" altLang="en-US" sz="800" dirty="0">
              <a:latin typeface="Times New Roman" panose="02020603050405020304" pitchFamily="18" charset="0"/>
              <a:ea typeface="微软雅黑 Light" panose="020B0502040204020203" pitchFamily="34" charset="-122"/>
            </a:endParaRPr>
          </a:p>
        </p:txBody>
      </p:sp>
      <p:sp>
        <p:nvSpPr>
          <p:cNvPr id="9" name="标题 8">
            <a:extLst>
              <a:ext uri="{FF2B5EF4-FFF2-40B4-BE49-F238E27FC236}">
                <a16:creationId xmlns:a16="http://schemas.microsoft.com/office/drawing/2014/main" id="{AB889599-2EF2-AECF-A8A7-1FDEDCC5F522}"/>
              </a:ext>
            </a:extLst>
          </p:cNvPr>
          <p:cNvSpPr>
            <a:spLocks noGrp="1"/>
          </p:cNvSpPr>
          <p:nvPr>
            <p:ph type="title"/>
          </p:nvPr>
        </p:nvSpPr>
        <p:spPr>
          <a:xfrm>
            <a:off x="612000" y="144000"/>
            <a:ext cx="7920000" cy="341632"/>
          </a:xfrm>
        </p:spPr>
        <p:txBody>
          <a:bodyPr/>
          <a:lstStyle/>
          <a:p>
            <a:r>
              <a:rPr lang="en-US" altLang="zh-CN" dirty="0"/>
              <a:t>4. </a:t>
            </a:r>
            <a:r>
              <a:rPr lang="zh-CN" altLang="en-US" dirty="0"/>
              <a:t>时延 </a:t>
            </a:r>
            <a:r>
              <a:rPr lang="en-US" altLang="zh-CN" dirty="0"/>
              <a:t>delay</a:t>
            </a:r>
            <a:endParaRPr lang="zh-CN" altLang="en-US" dirty="0"/>
          </a:p>
        </p:txBody>
      </p:sp>
      <p:cxnSp>
        <p:nvCxnSpPr>
          <p:cNvPr id="3" name="直接箭头连接符 2">
            <a:extLst>
              <a:ext uri="{FF2B5EF4-FFF2-40B4-BE49-F238E27FC236}">
                <a16:creationId xmlns:a16="http://schemas.microsoft.com/office/drawing/2014/main" id="{56777DE4-B648-4990-D43F-FED63808A266}"/>
              </a:ext>
            </a:extLst>
          </p:cNvPr>
          <p:cNvCxnSpPr/>
          <p:nvPr/>
        </p:nvCxnSpPr>
        <p:spPr>
          <a:xfrm>
            <a:off x="4740085" y="2247893"/>
            <a:ext cx="0" cy="648000"/>
          </a:xfrm>
          <a:prstGeom prst="straightConnector1">
            <a:avLst/>
          </a:prstGeom>
          <a:solidFill>
            <a:srgbClr val="0070C0"/>
          </a:solidFill>
          <a:ln w="12700">
            <a:solidFill>
              <a:schemeClr val="tx1"/>
            </a:solidFill>
            <a:prstDash val="dash"/>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4" name="直接箭头连接符 3">
            <a:extLst>
              <a:ext uri="{FF2B5EF4-FFF2-40B4-BE49-F238E27FC236}">
                <a16:creationId xmlns:a16="http://schemas.microsoft.com/office/drawing/2014/main" id="{05BC9BCB-4F50-BFF4-F230-1B34A6EC2950}"/>
              </a:ext>
            </a:extLst>
          </p:cNvPr>
          <p:cNvCxnSpPr/>
          <p:nvPr/>
        </p:nvCxnSpPr>
        <p:spPr>
          <a:xfrm>
            <a:off x="2629237" y="2182258"/>
            <a:ext cx="0" cy="720000"/>
          </a:xfrm>
          <a:prstGeom prst="straightConnector1">
            <a:avLst/>
          </a:prstGeom>
          <a:solidFill>
            <a:srgbClr val="0070C0"/>
          </a:solidFill>
          <a:ln w="12700">
            <a:solidFill>
              <a:schemeClr val="tx1"/>
            </a:solidFill>
            <a:prstDash val="dash"/>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6" name="直接箭头连接符 5">
            <a:extLst>
              <a:ext uri="{FF2B5EF4-FFF2-40B4-BE49-F238E27FC236}">
                <a16:creationId xmlns:a16="http://schemas.microsoft.com/office/drawing/2014/main" id="{7F12540B-3B83-94EA-6840-5D096FE5E7A3}"/>
              </a:ext>
            </a:extLst>
          </p:cNvPr>
          <p:cNvCxnSpPr/>
          <p:nvPr/>
        </p:nvCxnSpPr>
        <p:spPr>
          <a:xfrm>
            <a:off x="2982520" y="2485443"/>
            <a:ext cx="0" cy="540000"/>
          </a:xfrm>
          <a:prstGeom prst="straightConnector1">
            <a:avLst/>
          </a:prstGeom>
          <a:solidFill>
            <a:srgbClr val="0070C0"/>
          </a:solidFill>
          <a:ln w="12700">
            <a:solidFill>
              <a:schemeClr val="tx1"/>
            </a:solidFill>
            <a:prstDash val="dash"/>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12" name="Text Box 46">
            <a:extLst>
              <a:ext uri="{FF2B5EF4-FFF2-40B4-BE49-F238E27FC236}">
                <a16:creationId xmlns:a16="http://schemas.microsoft.com/office/drawing/2014/main" id="{68786650-EA90-AEF0-816F-F82D7C97B1C6}"/>
              </a:ext>
            </a:extLst>
          </p:cNvPr>
          <p:cNvSpPr txBox="1">
            <a:spLocks noChangeArrowheads="1"/>
          </p:cNvSpPr>
          <p:nvPr/>
        </p:nvSpPr>
        <p:spPr bwMode="auto">
          <a:xfrm>
            <a:off x="3239586" y="3156714"/>
            <a:ext cx="432000"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defPPr>
              <a:defRPr lang="zh-CN"/>
            </a:defPPr>
            <a:lvl1pPr algn="ctr">
              <a:defRPr sz="1200">
                <a:solidFill>
                  <a:sysClr val="windowText" lastClr="000000"/>
                </a:solidFill>
                <a:latin typeface="+mj-lt"/>
                <a:ea typeface="+mj-ea"/>
              </a:defRPr>
            </a:lvl1pPr>
          </a:lstStyle>
          <a:p>
            <a:r>
              <a:rPr lang="en-US" altLang="zh-CN" sz="800" dirty="0"/>
              <a:t>Data</a:t>
            </a:r>
            <a:endParaRPr lang="zh-CN" altLang="en-US" sz="800" dirty="0"/>
          </a:p>
        </p:txBody>
      </p:sp>
      <p:sp>
        <p:nvSpPr>
          <p:cNvPr id="14" name="Text Box 46">
            <a:extLst>
              <a:ext uri="{FF2B5EF4-FFF2-40B4-BE49-F238E27FC236}">
                <a16:creationId xmlns:a16="http://schemas.microsoft.com/office/drawing/2014/main" id="{8EABA450-7E50-47DF-678E-776920D141DA}"/>
              </a:ext>
            </a:extLst>
          </p:cNvPr>
          <p:cNvSpPr txBox="1">
            <a:spLocks noChangeArrowheads="1"/>
          </p:cNvSpPr>
          <p:nvPr/>
        </p:nvSpPr>
        <p:spPr bwMode="auto">
          <a:xfrm>
            <a:off x="5525518" y="3156714"/>
            <a:ext cx="432000"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defPPr>
              <a:defRPr lang="zh-CN"/>
            </a:defPPr>
            <a:lvl1pPr algn="ctr">
              <a:defRPr sz="1200">
                <a:solidFill>
                  <a:sysClr val="windowText" lastClr="000000"/>
                </a:solidFill>
                <a:latin typeface="+mj-lt"/>
                <a:ea typeface="+mj-ea"/>
              </a:defRPr>
            </a:lvl1pPr>
          </a:lstStyle>
          <a:p>
            <a:r>
              <a:rPr lang="en-US" altLang="zh-CN" sz="800" dirty="0"/>
              <a:t>Data</a:t>
            </a:r>
            <a:endParaRPr lang="zh-CN" altLang="en-US" sz="800" dirty="0"/>
          </a:p>
        </p:txBody>
      </p:sp>
    </p:spTree>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CFEFB68C-FECB-2051-1A96-9282D0F84733}"/>
              </a:ext>
            </a:extLst>
          </p:cNvPr>
          <p:cNvSpPr>
            <a:spLocks noGrp="1"/>
          </p:cNvSpPr>
          <p:nvPr>
            <p:ph type="title"/>
          </p:nvPr>
        </p:nvSpPr>
        <p:spPr>
          <a:xfrm>
            <a:off x="612000" y="144000"/>
            <a:ext cx="7920000" cy="341632"/>
          </a:xfrm>
        </p:spPr>
        <p:txBody>
          <a:bodyPr/>
          <a:lstStyle/>
          <a:p>
            <a:r>
              <a:rPr lang="en-US" altLang="zh-CN"/>
              <a:t>[</a:t>
            </a:r>
            <a:r>
              <a:rPr lang="zh-CN" altLang="en-US"/>
              <a:t>练习</a:t>
            </a:r>
            <a:r>
              <a:rPr lang="en-US" altLang="zh-CN"/>
              <a:t>]</a:t>
            </a:r>
            <a:endParaRPr lang="zh-CN" altLang="en-US" dirty="0"/>
          </a:p>
        </p:txBody>
      </p:sp>
      <p:sp>
        <p:nvSpPr>
          <p:cNvPr id="3" name="内容占位符 2"/>
          <p:cNvSpPr>
            <a:spLocks noGrp="1"/>
          </p:cNvSpPr>
          <p:nvPr>
            <p:ph sz="quarter" idx="10"/>
          </p:nvPr>
        </p:nvSpPr>
        <p:spPr>
          <a:xfrm>
            <a:off x="612000" y="899999"/>
            <a:ext cx="7920000" cy="3780000"/>
          </a:xfrm>
        </p:spPr>
        <p:txBody>
          <a:bodyPr/>
          <a:lstStyle/>
          <a:p>
            <a:endParaRPr lang="en-US" altLang="zh-CN" dirty="0"/>
          </a:p>
          <a:p>
            <a:endParaRPr lang="en-US" altLang="zh-CN" dirty="0"/>
          </a:p>
          <a:p>
            <a:endParaRPr lang="en-US" altLang="zh-CN" dirty="0"/>
          </a:p>
          <a:p>
            <a:r>
              <a:rPr lang="zh-CN" altLang="en-US" dirty="0"/>
              <a:t>对于高速网络链路，我们提高的仅仅是数据的发送速率，而不是比特在链路上的传播速率</a:t>
            </a:r>
            <a:endParaRPr lang="en-US" altLang="zh-CN" dirty="0"/>
          </a:p>
          <a:p>
            <a:r>
              <a:rPr lang="zh-CN" altLang="en-US" dirty="0"/>
              <a:t>提高数据的发送速率只是减小了数据的发送时延</a:t>
            </a:r>
          </a:p>
        </p:txBody>
      </p:sp>
      <p:sp>
        <p:nvSpPr>
          <p:cNvPr id="2" name="矩形 1"/>
          <p:cNvSpPr/>
          <p:nvPr/>
        </p:nvSpPr>
        <p:spPr>
          <a:xfrm>
            <a:off x="612775" y="867392"/>
            <a:ext cx="7918450" cy="406971"/>
          </a:xfrm>
          <a:prstGeom prst="rect">
            <a:avLst/>
          </a:prstGeom>
          <a:noFill/>
          <a:ln>
            <a:noFill/>
          </a:ln>
        </p:spPr>
        <p:style>
          <a:lnRef idx="1">
            <a:schemeClr val="accent3"/>
          </a:lnRef>
          <a:fillRef idx="2">
            <a:schemeClr val="accent3"/>
          </a:fillRef>
          <a:effectRef idx="1">
            <a:schemeClr val="accent3"/>
          </a:effectRef>
          <a:fontRef idx="minor">
            <a:schemeClr val="dk1"/>
          </a:fontRef>
        </p:style>
        <p:txBody>
          <a:bodyPr wrap="square">
            <a:spAutoFit/>
          </a:bodyPr>
          <a:lstStyle/>
          <a:p>
            <a:pPr>
              <a:lnSpc>
                <a:spcPts val="2700"/>
              </a:lnSpc>
              <a:spcBef>
                <a:spcPts val="600"/>
              </a:spcBef>
            </a:pPr>
            <a:r>
              <a:rPr lang="zh-CN" altLang="en-US" b="1" dirty="0">
                <a:latin typeface="微软雅黑" pitchFamily="34" charset="-122"/>
                <a:ea typeface="微软雅黑" pitchFamily="34" charset="-122"/>
              </a:rPr>
              <a:t>判断题：</a:t>
            </a:r>
            <a:r>
              <a:rPr lang="zh-CN" altLang="zh-CN" b="1" dirty="0">
                <a:latin typeface="微软雅黑" pitchFamily="34" charset="-122"/>
                <a:ea typeface="微软雅黑" pitchFamily="34" charset="-122"/>
              </a:rPr>
              <a:t>在高速链路（或高带宽链路）上，比特会传送得更快些。</a:t>
            </a:r>
            <a:endParaRPr lang="zh-CN" altLang="en-US" b="1" dirty="0">
              <a:latin typeface="微软雅黑" pitchFamily="34" charset="-122"/>
              <a:ea typeface="微软雅黑" pitchFamily="34" charset="-122"/>
            </a:endParaRPr>
          </a:p>
        </p:txBody>
      </p:sp>
    </p:spTree>
    <p:extLst>
      <p:ext uri="{BB962C8B-B14F-4D97-AF65-F5344CB8AC3E}">
        <p14:creationId xmlns:p14="http://schemas.microsoft.com/office/powerpoint/2010/main" val="1086588343"/>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标题 7">
            <a:extLst>
              <a:ext uri="{FF2B5EF4-FFF2-40B4-BE49-F238E27FC236}">
                <a16:creationId xmlns:a16="http://schemas.microsoft.com/office/drawing/2014/main" id="{B83942AA-77AD-66EB-6B80-381C197BEA0E}"/>
              </a:ext>
            </a:extLst>
          </p:cNvPr>
          <p:cNvSpPr>
            <a:spLocks noGrp="1"/>
          </p:cNvSpPr>
          <p:nvPr>
            <p:ph type="title"/>
          </p:nvPr>
        </p:nvSpPr>
        <p:spPr>
          <a:xfrm>
            <a:off x="612000" y="144000"/>
            <a:ext cx="7920000" cy="341632"/>
          </a:xfrm>
        </p:spPr>
        <p:txBody>
          <a:bodyPr/>
          <a:lstStyle/>
          <a:p>
            <a:r>
              <a:rPr lang="en-US" altLang="zh-CN"/>
              <a:t>[</a:t>
            </a:r>
            <a:r>
              <a:rPr lang="zh-CN" altLang="en-US"/>
              <a:t>练习</a:t>
            </a:r>
            <a:r>
              <a:rPr lang="en-US" altLang="zh-CN"/>
              <a:t>]</a:t>
            </a:r>
            <a:endParaRPr lang="zh-CN" altLang="en-US" dirty="0"/>
          </a:p>
        </p:txBody>
      </p:sp>
      <p:sp>
        <p:nvSpPr>
          <p:cNvPr id="4" name="椭圆 3"/>
          <p:cNvSpPr/>
          <p:nvPr/>
        </p:nvSpPr>
        <p:spPr>
          <a:xfrm>
            <a:off x="2394997" y="1216646"/>
            <a:ext cx="418008" cy="418009"/>
          </a:xfrm>
          <a:prstGeom prst="ellipse">
            <a:avLst/>
          </a:prstGeom>
          <a:gradFill flip="none" rotWithShape="1">
            <a:gsLst>
              <a:gs pos="2000">
                <a:srgbClr val="CDF3CD"/>
              </a:gs>
              <a:gs pos="100000">
                <a:srgbClr val="339933"/>
              </a:gs>
            </a:gsLst>
            <a:path path="circle">
              <a:fillToRect l="50000" t="50000" r="50000" b="50000"/>
            </a:path>
            <a:tileRect/>
          </a:gradFill>
          <a:ln w="9525">
            <a:noFill/>
            <a:round/>
            <a:headEnd/>
            <a:tailEnd/>
          </a:ln>
          <a:effectLst/>
        </p:spPr>
        <p:txBody>
          <a:bodyPr wrap="none" anchor="ctr"/>
          <a:lstStyle/>
          <a:p>
            <a:endParaRPr lang="zh-CN" altLang="en-US" sz="1200" b="1">
              <a:solidFill>
                <a:schemeClr val="tx1"/>
              </a:solidFill>
              <a:ea typeface="微软雅黑 Light" panose="020B0502040204020203" pitchFamily="34" charset="-122"/>
            </a:endParaRPr>
          </a:p>
        </p:txBody>
      </p:sp>
      <p:sp>
        <p:nvSpPr>
          <p:cNvPr id="5" name="椭圆 4"/>
          <p:cNvSpPr/>
          <p:nvPr/>
        </p:nvSpPr>
        <p:spPr>
          <a:xfrm>
            <a:off x="6322563" y="1216646"/>
            <a:ext cx="418008" cy="418009"/>
          </a:xfrm>
          <a:prstGeom prst="ellipse">
            <a:avLst/>
          </a:prstGeom>
          <a:gradFill rotWithShape="1">
            <a:gsLst>
              <a:gs pos="0">
                <a:srgbClr val="85D1F7"/>
              </a:gs>
              <a:gs pos="100000">
                <a:srgbClr val="0070C0"/>
              </a:gs>
            </a:gsLst>
            <a:path path="shape">
              <a:fillToRect l="50000" t="50000" r="50000" b="50000"/>
            </a:path>
          </a:gradFill>
          <a:ln w="9525">
            <a:noFill/>
            <a:round/>
            <a:headEnd/>
            <a:tailEnd/>
          </a:ln>
        </p:spPr>
        <p:txBody>
          <a:bodyPr wrap="none" anchor="ctr"/>
          <a:lstStyle/>
          <a:p>
            <a:endParaRPr lang="zh-CN" altLang="en-US" sz="1200" b="1">
              <a:solidFill>
                <a:schemeClr val="tx1"/>
              </a:solidFill>
              <a:latin typeface="Times New Roman" panose="02020603050405020304" pitchFamily="18" charset="0"/>
              <a:ea typeface="微软雅黑 Light" panose="020B0502040204020203" pitchFamily="34" charset="-122"/>
            </a:endParaRPr>
          </a:p>
        </p:txBody>
      </p:sp>
      <p:cxnSp>
        <p:nvCxnSpPr>
          <p:cNvPr id="7" name="直接连接符 6"/>
          <p:cNvCxnSpPr>
            <a:stCxn id="4" idx="6"/>
            <a:endCxn id="5" idx="2"/>
          </p:cNvCxnSpPr>
          <p:nvPr/>
        </p:nvCxnSpPr>
        <p:spPr>
          <a:xfrm>
            <a:off x="2813005" y="1425651"/>
            <a:ext cx="3509558"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9" name="文本框 8"/>
          <p:cNvSpPr txBox="1"/>
          <p:nvPr/>
        </p:nvSpPr>
        <p:spPr>
          <a:xfrm>
            <a:off x="3700399" y="1115449"/>
            <a:ext cx="1734770" cy="307777"/>
          </a:xfrm>
          <a:prstGeom prst="rect">
            <a:avLst/>
          </a:prstGeom>
          <a:noFill/>
        </p:spPr>
        <p:txBody>
          <a:bodyPr wrap="none" rtlCol="0">
            <a:spAutoFit/>
          </a:bodyPr>
          <a:lstStyle/>
          <a:p>
            <a:pPr algn="ctr"/>
            <a:r>
              <a:rPr lang="zh-CN" altLang="en-US" sz="1400" dirty="0"/>
              <a:t>光纤链路 </a:t>
            </a:r>
            <a:r>
              <a:rPr lang="en-US" altLang="zh-CN" sz="1400" dirty="0"/>
              <a:t>1000 Km</a:t>
            </a:r>
            <a:endParaRPr lang="zh-CN" altLang="en-US" sz="1400" dirty="0"/>
          </a:p>
        </p:txBody>
      </p:sp>
      <p:sp>
        <p:nvSpPr>
          <p:cNvPr id="11" name="Text Box 37"/>
          <p:cNvSpPr txBox="1">
            <a:spLocks noChangeArrowheads="1"/>
          </p:cNvSpPr>
          <p:nvPr/>
        </p:nvSpPr>
        <p:spPr bwMode="auto">
          <a:xfrm>
            <a:off x="6184699" y="1644425"/>
            <a:ext cx="724878" cy="307777"/>
          </a:xfrm>
          <a:prstGeom prst="rect">
            <a:avLst/>
          </a:prstGeom>
          <a:noFill/>
        </p:spPr>
        <p:txBody>
          <a:bodyPr wrap="none" rtlCol="0">
            <a:spAutoFit/>
          </a:bodyPr>
          <a:lstStyle>
            <a:defPPr>
              <a:defRPr lang="zh-CN"/>
            </a:defPPr>
            <a:lvl1pPr algn="ctr">
              <a:defRPr sz="1400"/>
            </a:lvl1pPr>
          </a:lstStyle>
          <a:p>
            <a:r>
              <a:rPr lang="zh-CN" altLang="en-US" dirty="0"/>
              <a:t>结点 </a:t>
            </a:r>
            <a:r>
              <a:rPr lang="en-US" altLang="zh-CN" dirty="0"/>
              <a:t>B</a:t>
            </a:r>
          </a:p>
        </p:txBody>
      </p:sp>
      <p:sp>
        <p:nvSpPr>
          <p:cNvPr id="12" name="Text Box 38"/>
          <p:cNvSpPr txBox="1">
            <a:spLocks noChangeArrowheads="1"/>
          </p:cNvSpPr>
          <p:nvPr/>
        </p:nvSpPr>
        <p:spPr bwMode="auto">
          <a:xfrm>
            <a:off x="2244771" y="1644425"/>
            <a:ext cx="718466" cy="307777"/>
          </a:xfrm>
          <a:prstGeom prst="rect">
            <a:avLst/>
          </a:prstGeom>
          <a:noFill/>
        </p:spPr>
        <p:txBody>
          <a:bodyPr wrap="none" rtlCol="0">
            <a:spAutoFit/>
          </a:bodyPr>
          <a:lstStyle>
            <a:defPPr>
              <a:defRPr lang="zh-CN"/>
            </a:defPPr>
            <a:lvl1pPr algn="ctr">
              <a:defRPr sz="1400"/>
            </a:lvl1pPr>
          </a:lstStyle>
          <a:p>
            <a:r>
              <a:rPr lang="zh-CN" altLang="en-US" dirty="0"/>
              <a:t>结点 </a:t>
            </a:r>
            <a:r>
              <a:rPr lang="en-US" altLang="zh-CN" dirty="0"/>
              <a:t>A</a:t>
            </a:r>
          </a:p>
        </p:txBody>
      </p:sp>
      <p:sp>
        <p:nvSpPr>
          <p:cNvPr id="18" name="文本框 17">
            <a:extLst>
              <a:ext uri="{FF2B5EF4-FFF2-40B4-BE49-F238E27FC236}">
                <a16:creationId xmlns:a16="http://schemas.microsoft.com/office/drawing/2014/main" id="{F7F89758-B5F8-E3C8-4B30-8A79F664664E}"/>
              </a:ext>
            </a:extLst>
          </p:cNvPr>
          <p:cNvSpPr txBox="1"/>
          <p:nvPr/>
        </p:nvSpPr>
        <p:spPr>
          <a:xfrm>
            <a:off x="612776" y="2283359"/>
            <a:ext cx="7918449" cy="2123658"/>
          </a:xfrm>
          <a:prstGeom prst="rect">
            <a:avLst/>
          </a:prstGeom>
          <a:noFill/>
        </p:spPr>
        <p:txBody>
          <a:bodyPr wrap="square" rtlCol="0">
            <a:spAutoFit/>
          </a:bodyPr>
          <a:lstStyle/>
          <a:p>
            <a:pPr>
              <a:spcAft>
                <a:spcPts val="600"/>
              </a:spcAft>
            </a:pPr>
            <a:r>
              <a:rPr lang="zh-CN" altLang="en-US" sz="1600" dirty="0"/>
              <a:t>结点 </a:t>
            </a:r>
            <a:r>
              <a:rPr lang="en-US" altLang="zh-CN" sz="1600" dirty="0"/>
              <a:t>A </a:t>
            </a:r>
            <a:r>
              <a:rPr lang="zh-CN" altLang="en-US" sz="1600" dirty="0"/>
              <a:t>要将一个数据块通过 </a:t>
            </a:r>
            <a:r>
              <a:rPr lang="en-US" altLang="zh-CN" sz="1600" dirty="0"/>
              <a:t>1000 Km </a:t>
            </a:r>
            <a:r>
              <a:rPr lang="zh-CN" altLang="en-US" sz="1600" dirty="0"/>
              <a:t>的光纤链路发送给结点 </a:t>
            </a:r>
            <a:r>
              <a:rPr lang="en-US" altLang="zh-CN" sz="1600" dirty="0"/>
              <a:t>B</a:t>
            </a:r>
            <a:r>
              <a:rPr lang="zh-CN" altLang="en-US" sz="1600" dirty="0"/>
              <a:t>。假设忽略处理时延和排队时延。请分别计算下列情况时的总时延，并验证“数据的发送速率越高，其传送的总时延就越小”的说法是否正确。</a:t>
            </a:r>
            <a:endParaRPr lang="en-US" altLang="zh-CN" sz="1600" dirty="0"/>
          </a:p>
          <a:p>
            <a:pPr marL="180000" lvl="1">
              <a:spcAft>
                <a:spcPts val="600"/>
              </a:spcAft>
            </a:pPr>
            <a:r>
              <a:rPr lang="zh-CN" altLang="en-US" sz="1600" dirty="0"/>
              <a:t>（</a:t>
            </a:r>
            <a:r>
              <a:rPr lang="en-US" altLang="zh-CN" sz="1600" dirty="0"/>
              <a:t>1</a:t>
            </a:r>
            <a:r>
              <a:rPr lang="zh-CN" altLang="en-US" sz="1600" dirty="0"/>
              <a:t>）数据块大小为 </a:t>
            </a:r>
            <a:r>
              <a:rPr lang="en-US" altLang="zh-CN" sz="1600" dirty="0"/>
              <a:t>100 MB</a:t>
            </a:r>
            <a:r>
              <a:rPr lang="zh-CN" altLang="en-US" sz="1600" dirty="0"/>
              <a:t>，信道带宽为 </a:t>
            </a:r>
            <a:r>
              <a:rPr lang="en-US" altLang="zh-CN" sz="1600" dirty="0"/>
              <a:t>1 Mbit/s </a:t>
            </a:r>
          </a:p>
          <a:p>
            <a:pPr marL="180000" lvl="1">
              <a:spcAft>
                <a:spcPts val="600"/>
              </a:spcAft>
            </a:pPr>
            <a:r>
              <a:rPr lang="zh-CN" altLang="en-US" sz="1600" dirty="0"/>
              <a:t>（</a:t>
            </a:r>
            <a:r>
              <a:rPr lang="en-US" altLang="zh-CN" sz="1600" dirty="0"/>
              <a:t>2</a:t>
            </a:r>
            <a:r>
              <a:rPr lang="zh-CN" altLang="en-US" sz="1600" dirty="0"/>
              <a:t>）数据块大小为 </a:t>
            </a:r>
            <a:r>
              <a:rPr lang="en-US" altLang="zh-CN" sz="1600" dirty="0"/>
              <a:t>100 MB</a:t>
            </a:r>
            <a:r>
              <a:rPr lang="zh-CN" altLang="en-US" sz="1600" dirty="0"/>
              <a:t>，信道带宽为 </a:t>
            </a:r>
            <a:r>
              <a:rPr lang="en-US" altLang="zh-CN" sz="1600" dirty="0"/>
              <a:t>100 Mbit/s</a:t>
            </a:r>
          </a:p>
          <a:p>
            <a:pPr marL="180000" lvl="1">
              <a:spcAft>
                <a:spcPts val="600"/>
              </a:spcAft>
            </a:pPr>
            <a:r>
              <a:rPr lang="zh-CN" altLang="en-US" sz="1600" dirty="0"/>
              <a:t>（</a:t>
            </a:r>
            <a:r>
              <a:rPr lang="en-US" altLang="zh-CN" sz="1600" dirty="0"/>
              <a:t>3</a:t>
            </a:r>
            <a:r>
              <a:rPr lang="zh-CN" altLang="en-US" sz="1600" dirty="0"/>
              <a:t>）数据块大小为 </a:t>
            </a:r>
            <a:r>
              <a:rPr lang="en-US" altLang="zh-CN" sz="1600" dirty="0"/>
              <a:t>1 B</a:t>
            </a:r>
            <a:r>
              <a:rPr lang="zh-CN" altLang="en-US" sz="1600" dirty="0"/>
              <a:t>，信道带宽为 </a:t>
            </a:r>
            <a:r>
              <a:rPr lang="en-US" altLang="zh-CN" sz="1600" dirty="0"/>
              <a:t>1 Mbit/s </a:t>
            </a:r>
          </a:p>
          <a:p>
            <a:pPr marL="180000" lvl="1">
              <a:spcAft>
                <a:spcPts val="600"/>
              </a:spcAft>
            </a:pPr>
            <a:r>
              <a:rPr lang="zh-CN" altLang="en-US" sz="1600" dirty="0"/>
              <a:t>（</a:t>
            </a:r>
            <a:r>
              <a:rPr lang="en-US" altLang="zh-CN" sz="1600" dirty="0"/>
              <a:t>4</a:t>
            </a:r>
            <a:r>
              <a:rPr lang="zh-CN" altLang="en-US" sz="1600" dirty="0"/>
              <a:t>）数据块大小为 </a:t>
            </a:r>
            <a:r>
              <a:rPr lang="en-US" altLang="zh-CN" sz="1600" dirty="0"/>
              <a:t>1 B</a:t>
            </a:r>
            <a:r>
              <a:rPr lang="zh-CN" altLang="en-US" sz="1600" dirty="0"/>
              <a:t>，信道带宽为 </a:t>
            </a:r>
            <a:r>
              <a:rPr lang="en-US" altLang="zh-CN" sz="1600" dirty="0"/>
              <a:t>1 Gbit/s</a:t>
            </a:r>
          </a:p>
        </p:txBody>
      </p:sp>
    </p:spTree>
    <p:extLst>
      <p:ext uri="{BB962C8B-B14F-4D97-AF65-F5344CB8AC3E}">
        <p14:creationId xmlns:p14="http://schemas.microsoft.com/office/powerpoint/2010/main" val="47927554"/>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32085FCD-423F-F17E-E82D-5226FD96FEB4}"/>
              </a:ext>
            </a:extLst>
          </p:cNvPr>
          <p:cNvSpPr>
            <a:spLocks noGrp="1"/>
          </p:cNvSpPr>
          <p:nvPr>
            <p:ph type="title"/>
          </p:nvPr>
        </p:nvSpPr>
        <p:spPr>
          <a:xfrm>
            <a:off x="612000" y="144000"/>
            <a:ext cx="7920000" cy="341632"/>
          </a:xfrm>
        </p:spPr>
        <p:txBody>
          <a:bodyPr/>
          <a:lstStyle/>
          <a:p>
            <a:r>
              <a:rPr lang="en-US" altLang="zh-CN"/>
              <a:t>[</a:t>
            </a:r>
            <a:r>
              <a:rPr lang="zh-CN" altLang="en-US"/>
              <a:t>练习</a:t>
            </a:r>
            <a:r>
              <a:rPr lang="en-US" altLang="zh-CN"/>
              <a:t>]</a:t>
            </a:r>
            <a:endParaRPr lang="zh-CN" altLang="en-US" dirty="0"/>
          </a:p>
        </p:txBody>
      </p:sp>
      <p:sp>
        <p:nvSpPr>
          <p:cNvPr id="8" name="文本框 7">
            <a:extLst>
              <a:ext uri="{FF2B5EF4-FFF2-40B4-BE49-F238E27FC236}">
                <a16:creationId xmlns:a16="http://schemas.microsoft.com/office/drawing/2014/main" id="{B530D1CF-8F9E-74C5-554B-3449FE52AB42}"/>
              </a:ext>
            </a:extLst>
          </p:cNvPr>
          <p:cNvSpPr txBox="1"/>
          <p:nvPr/>
        </p:nvSpPr>
        <p:spPr>
          <a:xfrm>
            <a:off x="611999" y="1156444"/>
            <a:ext cx="7919999" cy="3247043"/>
          </a:xfrm>
          <a:prstGeom prst="rect">
            <a:avLst/>
          </a:prstGeom>
          <a:noFill/>
        </p:spPr>
        <p:txBody>
          <a:bodyPr wrap="square" rtlCol="0">
            <a:spAutoFit/>
          </a:bodyPr>
          <a:lstStyle/>
          <a:p>
            <a:pPr>
              <a:spcAft>
                <a:spcPts val="600"/>
              </a:spcAft>
            </a:pPr>
            <a:r>
              <a:rPr lang="zh-CN" altLang="en-US" sz="1600" dirty="0"/>
              <a:t>解：</a:t>
            </a:r>
            <a:endParaRPr lang="en-US" altLang="zh-CN" sz="1600" dirty="0"/>
          </a:p>
          <a:p>
            <a:pPr>
              <a:spcAft>
                <a:spcPts val="600"/>
              </a:spcAft>
            </a:pPr>
            <a:r>
              <a:rPr lang="zh-CN" altLang="en-US" sz="1600" dirty="0"/>
              <a:t>传播时延 </a:t>
            </a:r>
            <a:r>
              <a:rPr lang="en-US" altLang="zh-CN" sz="1600" dirty="0"/>
              <a:t>= 1000 Km / 2.0 </a:t>
            </a:r>
            <a:r>
              <a:rPr lang="en-US" altLang="zh-CN" sz="1600" dirty="0">
                <a:sym typeface="Symbol" pitchFamily="18" charset="2"/>
              </a:rPr>
              <a:t></a:t>
            </a:r>
            <a:r>
              <a:rPr lang="zh-CN" altLang="en-US" sz="1600" dirty="0"/>
              <a:t> </a:t>
            </a:r>
            <a:r>
              <a:rPr lang="en-US" altLang="zh-CN" sz="1600" dirty="0"/>
              <a:t>10</a:t>
            </a:r>
            <a:r>
              <a:rPr lang="en-US" altLang="zh-CN" sz="1600" baseline="30000" dirty="0"/>
              <a:t>5</a:t>
            </a:r>
            <a:r>
              <a:rPr lang="en-US" altLang="zh-CN" sz="1600" dirty="0"/>
              <a:t> Km/s =</a:t>
            </a:r>
            <a:r>
              <a:rPr lang="zh-CN" altLang="en-US" sz="1600" dirty="0"/>
              <a:t> </a:t>
            </a:r>
            <a:r>
              <a:rPr lang="en-US" altLang="zh-CN" sz="1600" dirty="0"/>
              <a:t>5 </a:t>
            </a:r>
            <a:r>
              <a:rPr lang="en-US" altLang="zh-CN" sz="1600" dirty="0" err="1"/>
              <a:t>ms</a:t>
            </a:r>
            <a:endParaRPr lang="en-US" altLang="zh-CN" sz="1600" dirty="0"/>
          </a:p>
          <a:p>
            <a:pPr>
              <a:spcAft>
                <a:spcPts val="600"/>
              </a:spcAft>
            </a:pPr>
            <a:r>
              <a:rPr lang="zh-CN" altLang="en-US" sz="1600" dirty="0"/>
              <a:t>（</a:t>
            </a:r>
            <a:r>
              <a:rPr lang="en-US" altLang="zh-CN" sz="1600" dirty="0"/>
              <a:t>1</a:t>
            </a:r>
            <a:r>
              <a:rPr lang="zh-CN" altLang="en-US" sz="1600" dirty="0"/>
              <a:t>）</a:t>
            </a:r>
            <a:r>
              <a:rPr lang="zh-CN" altLang="zh-CN" sz="1600" dirty="0"/>
              <a:t>发送时延</a:t>
            </a:r>
            <a:r>
              <a:rPr lang="en-US" altLang="zh-CN" sz="1600" dirty="0"/>
              <a:t> = 100 </a:t>
            </a:r>
            <a:r>
              <a:rPr lang="en-US" altLang="zh-CN" sz="1600" dirty="0">
                <a:sym typeface="Symbol" pitchFamily="18" charset="2"/>
              </a:rPr>
              <a:t></a:t>
            </a:r>
            <a:r>
              <a:rPr lang="en-US" altLang="zh-CN" sz="1600" dirty="0"/>
              <a:t> 2</a:t>
            </a:r>
            <a:r>
              <a:rPr lang="en-US" altLang="zh-CN" sz="1600" baseline="30000" dirty="0"/>
              <a:t>20</a:t>
            </a:r>
            <a:r>
              <a:rPr lang="en-US" altLang="zh-CN" sz="1600" dirty="0"/>
              <a:t> </a:t>
            </a:r>
            <a:r>
              <a:rPr lang="en-US" altLang="zh-CN" sz="1600" dirty="0">
                <a:sym typeface="Symbol" panose="05050102010706020507" pitchFamily="18" charset="2"/>
              </a:rPr>
              <a:t></a:t>
            </a:r>
            <a:r>
              <a:rPr lang="en-US" altLang="zh-CN" sz="1600" dirty="0"/>
              <a:t> 8 bit </a:t>
            </a:r>
            <a:r>
              <a:rPr lang="en-US" altLang="zh-CN" sz="1600" dirty="0">
                <a:sym typeface="Symbol" panose="05050102010706020507" pitchFamily="18" charset="2"/>
              </a:rPr>
              <a:t></a:t>
            </a:r>
            <a:r>
              <a:rPr lang="en-US" altLang="zh-CN" sz="1600" dirty="0"/>
              <a:t> 10</a:t>
            </a:r>
            <a:r>
              <a:rPr lang="en-US" altLang="zh-CN" sz="1600" baseline="30000" dirty="0"/>
              <a:t>6</a:t>
            </a:r>
            <a:r>
              <a:rPr lang="en-US" altLang="zh-CN" sz="1600" dirty="0"/>
              <a:t> bit/s= 838.9 s</a:t>
            </a:r>
          </a:p>
          <a:p>
            <a:pPr>
              <a:spcAft>
                <a:spcPts val="600"/>
              </a:spcAft>
            </a:pPr>
            <a:r>
              <a:rPr lang="en-US" altLang="zh-CN" sz="1600" dirty="0"/>
              <a:t>        </a:t>
            </a:r>
            <a:r>
              <a:rPr lang="zh-CN" altLang="en-US" sz="1600" dirty="0"/>
              <a:t>总时延 </a:t>
            </a:r>
            <a:r>
              <a:rPr lang="en-US" altLang="zh-CN" sz="1600" dirty="0"/>
              <a:t>= 838.9 s+ 0.005 s≈ 838.9 s</a:t>
            </a:r>
            <a:endParaRPr lang="zh-CN" altLang="zh-CN" sz="1600" dirty="0"/>
          </a:p>
          <a:p>
            <a:pPr>
              <a:spcAft>
                <a:spcPts val="600"/>
              </a:spcAft>
            </a:pPr>
            <a:r>
              <a:rPr lang="zh-CN" altLang="en-US" sz="1600" dirty="0"/>
              <a:t>（</a:t>
            </a:r>
            <a:r>
              <a:rPr lang="en-US" altLang="zh-CN" sz="1600" dirty="0"/>
              <a:t>2</a:t>
            </a:r>
            <a:r>
              <a:rPr lang="zh-CN" altLang="en-US" sz="1600" dirty="0"/>
              <a:t>）</a:t>
            </a:r>
            <a:r>
              <a:rPr lang="zh-CN" altLang="zh-CN" sz="1600" dirty="0"/>
              <a:t>发送时延</a:t>
            </a:r>
            <a:r>
              <a:rPr lang="en-US" altLang="zh-CN" sz="1600" dirty="0"/>
              <a:t> = 100 </a:t>
            </a:r>
            <a:r>
              <a:rPr lang="en-US" altLang="zh-CN" sz="1600" dirty="0">
                <a:sym typeface="Symbol" panose="05050102010706020507" pitchFamily="18" charset="2"/>
              </a:rPr>
              <a:t></a:t>
            </a:r>
            <a:r>
              <a:rPr lang="en-US" altLang="zh-CN" sz="1600" dirty="0"/>
              <a:t> 2</a:t>
            </a:r>
            <a:r>
              <a:rPr lang="en-US" altLang="zh-CN" sz="1600" baseline="30000" dirty="0"/>
              <a:t>20</a:t>
            </a:r>
            <a:r>
              <a:rPr lang="en-US" altLang="zh-CN" sz="1600" dirty="0"/>
              <a:t> </a:t>
            </a:r>
            <a:r>
              <a:rPr lang="en-US" altLang="zh-CN" sz="1600" dirty="0">
                <a:sym typeface="Symbol" panose="05050102010706020507" pitchFamily="18" charset="2"/>
              </a:rPr>
              <a:t></a:t>
            </a:r>
            <a:r>
              <a:rPr lang="en-US" altLang="zh-CN" sz="1600" dirty="0"/>
              <a:t> 8 bit</a:t>
            </a:r>
            <a:r>
              <a:rPr lang="en-US" altLang="zh-CN" sz="1600" dirty="0">
                <a:sym typeface="Symbol" panose="05050102010706020507" pitchFamily="18" charset="2"/>
              </a:rPr>
              <a:t></a:t>
            </a:r>
            <a:r>
              <a:rPr lang="en-US" altLang="zh-CN" sz="1600" dirty="0"/>
              <a:t> 10</a:t>
            </a:r>
            <a:r>
              <a:rPr lang="en-US" altLang="zh-CN" sz="1600" baseline="30000" dirty="0"/>
              <a:t>8</a:t>
            </a:r>
            <a:r>
              <a:rPr lang="en-US" altLang="zh-CN" sz="1600" dirty="0"/>
              <a:t> bit/s= 8.389 s</a:t>
            </a:r>
          </a:p>
          <a:p>
            <a:pPr>
              <a:spcAft>
                <a:spcPts val="600"/>
              </a:spcAft>
            </a:pPr>
            <a:r>
              <a:rPr lang="en-US" altLang="zh-CN" sz="1600" dirty="0"/>
              <a:t>        </a:t>
            </a:r>
            <a:r>
              <a:rPr lang="zh-CN" altLang="en-US" sz="1600" dirty="0"/>
              <a:t>总时延 </a:t>
            </a:r>
            <a:r>
              <a:rPr lang="en-US" altLang="zh-CN" sz="1600" dirty="0"/>
              <a:t>= 8.389 s+ 0.005</a:t>
            </a:r>
            <a:r>
              <a:rPr lang="zh-CN" altLang="en-US" sz="1600" dirty="0"/>
              <a:t> </a:t>
            </a:r>
            <a:r>
              <a:rPr lang="en-US" altLang="zh-CN" sz="1600" dirty="0"/>
              <a:t>s= 8.394 s</a:t>
            </a:r>
            <a:r>
              <a:rPr lang="zh-CN" altLang="en-US" sz="1600" dirty="0"/>
              <a:t>。缩小到（</a:t>
            </a:r>
            <a:r>
              <a:rPr lang="en-US" altLang="zh-CN" sz="1600" dirty="0"/>
              <a:t>1</a:t>
            </a:r>
            <a:r>
              <a:rPr lang="zh-CN" altLang="en-US" sz="1600" dirty="0"/>
              <a:t>）的近 </a:t>
            </a:r>
            <a:r>
              <a:rPr lang="en-US" altLang="zh-CN" sz="1600" dirty="0"/>
              <a:t>1/100</a:t>
            </a:r>
          </a:p>
          <a:p>
            <a:pPr>
              <a:spcAft>
                <a:spcPts val="600"/>
              </a:spcAft>
            </a:pPr>
            <a:r>
              <a:rPr lang="zh-CN" altLang="en-US" sz="1600" dirty="0"/>
              <a:t>（</a:t>
            </a:r>
            <a:r>
              <a:rPr lang="en-US" altLang="zh-CN" sz="1600" dirty="0"/>
              <a:t>3</a:t>
            </a:r>
            <a:r>
              <a:rPr lang="zh-CN" altLang="en-US" sz="1600" dirty="0"/>
              <a:t>）</a:t>
            </a:r>
            <a:r>
              <a:rPr lang="zh-CN" altLang="zh-CN" sz="1600" dirty="0"/>
              <a:t>发送时延</a:t>
            </a:r>
            <a:r>
              <a:rPr lang="en-US" altLang="zh-CN" sz="1600" dirty="0"/>
              <a:t> = 1 </a:t>
            </a:r>
            <a:r>
              <a:rPr lang="en-US" altLang="zh-CN" sz="1600" dirty="0">
                <a:sym typeface="Symbol" panose="05050102010706020507" pitchFamily="18" charset="2"/>
              </a:rPr>
              <a:t></a:t>
            </a:r>
            <a:r>
              <a:rPr lang="en-US" altLang="zh-CN" sz="1600" dirty="0"/>
              <a:t> 8 bit</a:t>
            </a:r>
            <a:r>
              <a:rPr lang="en-US" altLang="zh-CN" sz="1600" dirty="0">
                <a:sym typeface="Symbol" panose="05050102010706020507" pitchFamily="18" charset="2"/>
              </a:rPr>
              <a:t></a:t>
            </a:r>
            <a:r>
              <a:rPr lang="en-US" altLang="zh-CN" sz="1600" dirty="0"/>
              <a:t> 10</a:t>
            </a:r>
            <a:r>
              <a:rPr lang="en-US" altLang="zh-CN" sz="1600" baseline="30000" dirty="0"/>
              <a:t>6</a:t>
            </a:r>
            <a:r>
              <a:rPr lang="en-US" altLang="zh-CN" sz="1600" dirty="0"/>
              <a:t> bit/s= 8 </a:t>
            </a:r>
            <a:r>
              <a:rPr lang="en-US" altLang="zh-CN" sz="1600" dirty="0">
                <a:sym typeface="Symbol" panose="05050102010706020507" pitchFamily="18" charset="2"/>
              </a:rPr>
              <a:t></a:t>
            </a:r>
            <a:r>
              <a:rPr lang="en-US" altLang="zh-CN" sz="1600" dirty="0"/>
              <a:t> 10</a:t>
            </a:r>
            <a:r>
              <a:rPr lang="en-US" altLang="zh-CN" sz="1600" baseline="30000" dirty="0"/>
              <a:t>–6</a:t>
            </a:r>
            <a:r>
              <a:rPr lang="en-US" altLang="zh-CN" sz="1600" dirty="0"/>
              <a:t> s = 8 </a:t>
            </a:r>
            <a:r>
              <a:rPr lang="en-US" altLang="zh-CN" sz="1600" dirty="0">
                <a:sym typeface="Symbol" panose="05050102010706020507" pitchFamily="18" charset="2"/>
              </a:rPr>
              <a:t></a:t>
            </a:r>
            <a:r>
              <a:rPr lang="en-US" altLang="zh-CN" sz="1600" dirty="0"/>
              <a:t>s</a:t>
            </a:r>
          </a:p>
          <a:p>
            <a:pPr>
              <a:spcAft>
                <a:spcPts val="600"/>
              </a:spcAft>
            </a:pPr>
            <a:r>
              <a:rPr lang="en-US" altLang="zh-CN" sz="1600" dirty="0"/>
              <a:t>        </a:t>
            </a:r>
            <a:r>
              <a:rPr lang="zh-CN" altLang="en-US" sz="1600" dirty="0"/>
              <a:t>总时延 </a:t>
            </a:r>
            <a:r>
              <a:rPr lang="en-US" altLang="zh-CN" sz="1600" dirty="0"/>
              <a:t>= 0.008 </a:t>
            </a:r>
            <a:r>
              <a:rPr lang="en-US" altLang="zh-CN" sz="1600" dirty="0" err="1"/>
              <a:t>ms</a:t>
            </a:r>
            <a:r>
              <a:rPr lang="en-US" altLang="zh-CN" sz="1600" dirty="0"/>
              <a:t>+ 5 </a:t>
            </a:r>
            <a:r>
              <a:rPr lang="en-US" altLang="zh-CN" sz="1600" dirty="0" err="1"/>
              <a:t>ms</a:t>
            </a:r>
            <a:r>
              <a:rPr lang="en-US" altLang="zh-CN" sz="1600" dirty="0"/>
              <a:t>= 5.008 </a:t>
            </a:r>
            <a:r>
              <a:rPr lang="en-US" altLang="zh-CN" sz="1600" dirty="0" err="1"/>
              <a:t>ms</a:t>
            </a:r>
            <a:endParaRPr lang="en-US" altLang="zh-CN" sz="1600" dirty="0"/>
          </a:p>
          <a:p>
            <a:pPr>
              <a:spcAft>
                <a:spcPts val="600"/>
              </a:spcAft>
            </a:pPr>
            <a:r>
              <a:rPr lang="zh-CN" altLang="en-US" sz="1600" dirty="0"/>
              <a:t>（</a:t>
            </a:r>
            <a:r>
              <a:rPr lang="en-US" altLang="zh-CN" sz="1600" dirty="0"/>
              <a:t>4</a:t>
            </a:r>
            <a:r>
              <a:rPr lang="zh-CN" altLang="en-US" sz="1600" dirty="0"/>
              <a:t>）</a:t>
            </a:r>
            <a:r>
              <a:rPr lang="zh-CN" altLang="zh-CN" sz="1600" dirty="0"/>
              <a:t>发送时延</a:t>
            </a:r>
            <a:r>
              <a:rPr lang="en-US" altLang="zh-CN" sz="1600" dirty="0"/>
              <a:t> = 1 </a:t>
            </a:r>
            <a:r>
              <a:rPr lang="en-US" altLang="zh-CN" sz="1600" dirty="0">
                <a:sym typeface="Symbol" panose="05050102010706020507" pitchFamily="18" charset="2"/>
              </a:rPr>
              <a:t></a:t>
            </a:r>
            <a:r>
              <a:rPr lang="en-US" altLang="zh-CN" sz="1600" dirty="0"/>
              <a:t> 8 bit</a:t>
            </a:r>
            <a:r>
              <a:rPr lang="en-US" altLang="zh-CN" sz="1600" dirty="0">
                <a:sym typeface="Symbol" panose="05050102010706020507" pitchFamily="18" charset="2"/>
              </a:rPr>
              <a:t></a:t>
            </a:r>
            <a:r>
              <a:rPr lang="en-US" altLang="zh-CN" sz="1600" dirty="0"/>
              <a:t> 10</a:t>
            </a:r>
            <a:r>
              <a:rPr lang="en-US" altLang="zh-CN" sz="1600" baseline="30000" dirty="0"/>
              <a:t>9</a:t>
            </a:r>
            <a:r>
              <a:rPr lang="en-US" altLang="zh-CN" sz="1600" dirty="0"/>
              <a:t> bit/s= 8 </a:t>
            </a:r>
            <a:r>
              <a:rPr lang="en-US" altLang="zh-CN" sz="1600" dirty="0">
                <a:sym typeface="Symbol" panose="05050102010706020507" pitchFamily="18" charset="2"/>
              </a:rPr>
              <a:t></a:t>
            </a:r>
            <a:r>
              <a:rPr lang="en-US" altLang="zh-CN" sz="1600" dirty="0"/>
              <a:t> 10</a:t>
            </a:r>
            <a:r>
              <a:rPr lang="en-US" altLang="zh-CN" sz="1600" baseline="30000" dirty="0"/>
              <a:t>–9</a:t>
            </a:r>
            <a:r>
              <a:rPr lang="en-US" altLang="zh-CN" sz="1600" dirty="0"/>
              <a:t> s = 0.008 </a:t>
            </a:r>
            <a:r>
              <a:rPr lang="en-US" altLang="zh-CN" sz="1600" dirty="0">
                <a:sym typeface="Symbol" panose="05050102010706020507" pitchFamily="18" charset="2"/>
              </a:rPr>
              <a:t></a:t>
            </a:r>
            <a:r>
              <a:rPr lang="en-US" altLang="zh-CN" sz="1600" dirty="0"/>
              <a:t>s</a:t>
            </a:r>
            <a:endParaRPr lang="zh-CN" altLang="zh-CN" sz="1600" dirty="0"/>
          </a:p>
          <a:p>
            <a:pPr>
              <a:spcAft>
                <a:spcPts val="600"/>
              </a:spcAft>
            </a:pPr>
            <a:r>
              <a:rPr lang="en-US" altLang="zh-CN" sz="1600" dirty="0"/>
              <a:t>        </a:t>
            </a:r>
            <a:r>
              <a:rPr lang="zh-CN" altLang="en-US" sz="1600" dirty="0"/>
              <a:t>总时延 </a:t>
            </a:r>
            <a:r>
              <a:rPr lang="en-US" altLang="zh-CN" sz="1600" dirty="0"/>
              <a:t>= 0.000008 </a:t>
            </a:r>
            <a:r>
              <a:rPr lang="en-US" altLang="zh-CN" sz="1600" dirty="0" err="1"/>
              <a:t>ms</a:t>
            </a:r>
            <a:r>
              <a:rPr lang="en-US" altLang="zh-CN" sz="1600" dirty="0"/>
              <a:t>+ 5 </a:t>
            </a:r>
            <a:r>
              <a:rPr lang="en-US" altLang="zh-CN" sz="1600" dirty="0" err="1"/>
              <a:t>ms</a:t>
            </a:r>
            <a:r>
              <a:rPr lang="en-US" altLang="zh-CN" sz="1600" dirty="0"/>
              <a:t>= 5.000008 </a:t>
            </a:r>
            <a:r>
              <a:rPr lang="en-US" altLang="zh-CN" sz="1600" dirty="0" err="1"/>
              <a:t>ms</a:t>
            </a:r>
            <a:r>
              <a:rPr lang="zh-CN" altLang="en-US" sz="1600" dirty="0"/>
              <a:t>。与（</a:t>
            </a:r>
            <a:r>
              <a:rPr lang="en-US" altLang="zh-CN" sz="1600" dirty="0"/>
              <a:t>3</a:t>
            </a:r>
            <a:r>
              <a:rPr lang="zh-CN" altLang="en-US" sz="1600" dirty="0"/>
              <a:t>）相比没有明显减小</a:t>
            </a:r>
          </a:p>
        </p:txBody>
      </p:sp>
    </p:spTree>
    <p:extLst>
      <p:ext uri="{BB962C8B-B14F-4D97-AF65-F5344CB8AC3E}">
        <p14:creationId xmlns:p14="http://schemas.microsoft.com/office/powerpoint/2010/main" val="1464542606"/>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标题 15">
            <a:extLst>
              <a:ext uri="{FF2B5EF4-FFF2-40B4-BE49-F238E27FC236}">
                <a16:creationId xmlns:a16="http://schemas.microsoft.com/office/drawing/2014/main" id="{93B4FD1F-52B4-4419-7666-28934CDFD8E0}"/>
              </a:ext>
            </a:extLst>
          </p:cNvPr>
          <p:cNvSpPr>
            <a:spLocks noGrp="1"/>
          </p:cNvSpPr>
          <p:nvPr>
            <p:ph type="title"/>
          </p:nvPr>
        </p:nvSpPr>
        <p:spPr>
          <a:xfrm>
            <a:off x="612000" y="144000"/>
            <a:ext cx="7920000" cy="341632"/>
          </a:xfrm>
        </p:spPr>
        <p:txBody>
          <a:bodyPr/>
          <a:lstStyle/>
          <a:p>
            <a:r>
              <a:rPr lang="en-US" altLang="zh-CN"/>
              <a:t>5. </a:t>
            </a:r>
            <a:r>
              <a:rPr lang="zh-CN" altLang="en-US"/>
              <a:t>时延带宽积</a:t>
            </a:r>
            <a:endParaRPr lang="zh-CN" altLang="en-US" dirty="0"/>
          </a:p>
        </p:txBody>
      </p:sp>
      <p:sp>
        <p:nvSpPr>
          <p:cNvPr id="3" name="内容占位符 2">
            <a:extLst>
              <a:ext uri="{FF2B5EF4-FFF2-40B4-BE49-F238E27FC236}">
                <a16:creationId xmlns:a16="http://schemas.microsoft.com/office/drawing/2014/main" id="{FB2836D1-6DBE-910D-2CF9-780CBCCC5377}"/>
              </a:ext>
            </a:extLst>
          </p:cNvPr>
          <p:cNvSpPr>
            <a:spLocks noGrp="1"/>
          </p:cNvSpPr>
          <p:nvPr>
            <p:ph sz="quarter" idx="10"/>
          </p:nvPr>
        </p:nvSpPr>
        <p:spPr>
          <a:xfrm>
            <a:off x="612000" y="899999"/>
            <a:ext cx="7920000" cy="3780000"/>
          </a:xfrm>
        </p:spPr>
        <p:txBody>
          <a:bodyPr/>
          <a:lstStyle/>
          <a:p>
            <a:r>
              <a:rPr lang="zh-CN" altLang="en-US" dirty="0"/>
              <a:t>又称以比特为单位的链路长度</a:t>
            </a:r>
            <a:endParaRPr lang="en-US" altLang="zh-CN" dirty="0"/>
          </a:p>
          <a:p>
            <a:r>
              <a:rPr lang="zh-CN" altLang="en-US" dirty="0"/>
              <a:t>管道中的比特数表示：从发送端发出但尚未到达接收端的比特数</a:t>
            </a:r>
            <a:endParaRPr lang="en-US" altLang="zh-CN" dirty="0"/>
          </a:p>
          <a:p>
            <a:r>
              <a:rPr lang="zh-CN" altLang="zh-CN" dirty="0"/>
              <a:t>只有管道都充满比特时，链路才得到</a:t>
            </a:r>
            <a:r>
              <a:rPr lang="zh-CN" altLang="en-US" dirty="0"/>
              <a:t>了</a:t>
            </a:r>
            <a:r>
              <a:rPr lang="zh-CN" altLang="zh-CN" dirty="0"/>
              <a:t>充分利用</a:t>
            </a:r>
            <a:endParaRPr lang="en-US" altLang="zh-CN" dirty="0"/>
          </a:p>
          <a:p>
            <a:endParaRPr lang="zh-CN" altLang="en-US" dirty="0"/>
          </a:p>
        </p:txBody>
      </p:sp>
      <p:sp>
        <p:nvSpPr>
          <p:cNvPr id="5" name="AutoShape 37"/>
          <p:cNvSpPr>
            <a:spLocks noChangeArrowheads="1"/>
          </p:cNvSpPr>
          <p:nvPr/>
        </p:nvSpPr>
        <p:spPr bwMode="auto">
          <a:xfrm rot="-5400000">
            <a:off x="3546000" y="2057933"/>
            <a:ext cx="360000" cy="2880000"/>
          </a:xfrm>
          <a:prstGeom prst="can">
            <a:avLst>
              <a:gd name="adj" fmla="val 49784"/>
            </a:avLst>
          </a:prstGeom>
          <a:gradFill rotWithShape="1">
            <a:gsLst>
              <a:gs pos="0">
                <a:srgbClr val="004776"/>
              </a:gs>
              <a:gs pos="50000">
                <a:srgbClr val="0099FF"/>
              </a:gs>
              <a:gs pos="100000">
                <a:srgbClr val="004776"/>
              </a:gs>
            </a:gsLst>
            <a:lin ang="0" scaled="1"/>
          </a:gradFill>
          <a:ln w="635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dirty="0">
              <a:solidFill>
                <a:srgbClr val="1956B9"/>
              </a:solidFill>
              <a:latin typeface="微软雅黑" pitchFamily="34" charset="-122"/>
              <a:ea typeface="微软雅黑" pitchFamily="34" charset="-122"/>
            </a:endParaRPr>
          </a:p>
        </p:txBody>
      </p:sp>
      <p:sp>
        <p:nvSpPr>
          <p:cNvPr id="6" name="Line 38"/>
          <p:cNvSpPr>
            <a:spLocks noChangeShapeType="1"/>
          </p:cNvSpPr>
          <p:nvPr/>
        </p:nvSpPr>
        <p:spPr bwMode="auto">
          <a:xfrm>
            <a:off x="2401322" y="3189880"/>
            <a:ext cx="2664000" cy="0"/>
          </a:xfrm>
          <a:prstGeom prst="line">
            <a:avLst/>
          </a:prstGeom>
          <a:ln w="12700">
            <a:solidFill>
              <a:schemeClr val="tx1"/>
            </a:solidFill>
            <a:headEnd type="triangle" w="sm" len="med"/>
            <a:tailEnd type="triangle" w="sm" len="med"/>
          </a:ln>
        </p:spPr>
        <p:style>
          <a:lnRef idx="1">
            <a:schemeClr val="accent1"/>
          </a:lnRef>
          <a:fillRef idx="0">
            <a:schemeClr val="accent1"/>
          </a:fillRef>
          <a:effectRef idx="0">
            <a:schemeClr val="accent1"/>
          </a:effectRef>
          <a:fontRef idx="minor">
            <a:schemeClr val="tx1"/>
          </a:fontRef>
        </p:style>
        <p:txBody>
          <a:bodyPr/>
          <a:lstStyle/>
          <a:p>
            <a:pPr fontAlgn="auto">
              <a:spcBef>
                <a:spcPts val="0"/>
              </a:spcBef>
              <a:spcAft>
                <a:spcPts val="0"/>
              </a:spcAft>
              <a:defRPr/>
            </a:pPr>
            <a:endParaRPr lang="zh-CN" altLang="en-US" sz="800" b="1">
              <a:ln>
                <a:solidFill>
                  <a:schemeClr val="accent3"/>
                </a:solidFill>
              </a:ln>
              <a:solidFill>
                <a:srgbClr val="1956B9"/>
              </a:solidFill>
              <a:latin typeface="微软雅黑" pitchFamily="34" charset="-122"/>
              <a:ea typeface="微软雅黑" pitchFamily="34" charset="-122"/>
            </a:endParaRPr>
          </a:p>
        </p:txBody>
      </p:sp>
      <p:sp>
        <p:nvSpPr>
          <p:cNvPr id="7" name="Text Box 39"/>
          <p:cNvSpPr txBox="1">
            <a:spLocks noChangeArrowheads="1"/>
          </p:cNvSpPr>
          <p:nvPr/>
        </p:nvSpPr>
        <p:spPr bwMode="auto">
          <a:xfrm>
            <a:off x="3138283" y="2984154"/>
            <a:ext cx="1210588" cy="215444"/>
          </a:xfrm>
          <a:prstGeom prst="rect">
            <a:avLst/>
          </a:prstGeom>
          <a:noFill/>
        </p:spPr>
        <p:txBody>
          <a:bodyPr wrap="none" rtlCol="0">
            <a:spAutoFit/>
          </a:bodyPr>
          <a:lstStyle>
            <a:defPPr>
              <a:defRPr lang="zh-CN"/>
            </a:defPPr>
            <a:lvl1pPr algn="ctr">
              <a:defRPr sz="1400">
                <a:latin typeface="+mj-ea"/>
                <a:ea typeface="+mj-ea"/>
              </a:defRPr>
            </a:lvl1pPr>
          </a:lstStyle>
          <a:p>
            <a:r>
              <a:rPr lang="zh-CN" altLang="en-US" sz="800" dirty="0">
                <a:latin typeface="+mn-ea"/>
                <a:ea typeface="+mn-ea"/>
              </a:rPr>
              <a:t>传播时延（管道长度）</a:t>
            </a:r>
          </a:p>
        </p:txBody>
      </p:sp>
      <p:sp>
        <p:nvSpPr>
          <p:cNvPr id="8" name="Text Box 40"/>
          <p:cNvSpPr txBox="1">
            <a:spLocks noChangeArrowheads="1"/>
          </p:cNvSpPr>
          <p:nvPr/>
        </p:nvSpPr>
        <p:spPr bwMode="auto">
          <a:xfrm>
            <a:off x="3232917" y="3390211"/>
            <a:ext cx="824265"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lang="en-US" altLang="zh-CN" sz="800" dirty="0">
                <a:solidFill>
                  <a:schemeClr val="bg1"/>
                </a:solidFill>
                <a:latin typeface="微软雅黑" pitchFamily="34" charset="-122"/>
                <a:ea typeface="微软雅黑" pitchFamily="34" charset="-122"/>
              </a:rPr>
              <a:t>Link/Channel</a:t>
            </a:r>
            <a:endParaRPr lang="zh-CN" altLang="en-US" sz="800" dirty="0">
              <a:solidFill>
                <a:schemeClr val="bg1"/>
              </a:solidFill>
              <a:latin typeface="微软雅黑" pitchFamily="34" charset="-122"/>
              <a:ea typeface="微软雅黑" pitchFamily="34" charset="-122"/>
            </a:endParaRPr>
          </a:p>
        </p:txBody>
      </p:sp>
      <p:sp>
        <p:nvSpPr>
          <p:cNvPr id="10" name="Line 42"/>
          <p:cNvSpPr>
            <a:spLocks noChangeShapeType="1"/>
          </p:cNvSpPr>
          <p:nvPr/>
        </p:nvSpPr>
        <p:spPr bwMode="auto">
          <a:xfrm>
            <a:off x="2011116" y="3293713"/>
            <a:ext cx="365307" cy="213052"/>
          </a:xfrm>
          <a:prstGeom prst="line">
            <a:avLst/>
          </a:prstGeom>
          <a:ln w="12700">
            <a:solidFill>
              <a:schemeClr val="tx1"/>
            </a:solidFill>
            <a:headEnd type="triangle" w="sm" len="med"/>
            <a:tailEnd type="triangle" w="sm" len="med"/>
          </a:ln>
        </p:spPr>
        <p:style>
          <a:lnRef idx="1">
            <a:schemeClr val="accent1"/>
          </a:lnRef>
          <a:fillRef idx="0">
            <a:schemeClr val="accent1"/>
          </a:fillRef>
          <a:effectRef idx="0">
            <a:schemeClr val="accent1"/>
          </a:effectRef>
          <a:fontRef idx="minor">
            <a:schemeClr val="tx1"/>
          </a:fontRef>
        </p:style>
        <p:txBody>
          <a:bodyPr/>
          <a:lstStyle/>
          <a:p>
            <a:endParaRPr lang="zh-CN" altLang="en-US" sz="800" b="1">
              <a:ln>
                <a:solidFill>
                  <a:schemeClr val="accent3"/>
                </a:solidFill>
              </a:ln>
              <a:solidFill>
                <a:srgbClr val="1956B9"/>
              </a:solidFill>
              <a:latin typeface="微软雅黑" pitchFamily="34" charset="-122"/>
              <a:ea typeface="微软雅黑" pitchFamily="34" charset="-122"/>
            </a:endParaRPr>
          </a:p>
        </p:txBody>
      </p:sp>
      <p:sp>
        <p:nvSpPr>
          <p:cNvPr id="13" name="矩形 13"/>
          <p:cNvSpPr>
            <a:spLocks noChangeArrowheads="1"/>
          </p:cNvSpPr>
          <p:nvPr/>
        </p:nvSpPr>
        <p:spPr bwMode="auto">
          <a:xfrm>
            <a:off x="3027732" y="3990662"/>
            <a:ext cx="1396536" cy="253916"/>
          </a:xfrm>
          <a:prstGeom prst="rect">
            <a:avLst/>
          </a:prstGeom>
          <a:noFill/>
        </p:spPr>
        <p:txBody>
          <a:bodyPr wrap="none" rtlCol="0">
            <a:spAutoFit/>
          </a:bodyPr>
          <a:lstStyle/>
          <a:p>
            <a:pPr algn="ctr"/>
            <a:r>
              <a:rPr lang="zh-CN" altLang="zh-CN" sz="1050" dirty="0">
                <a:latin typeface="+mj-ea"/>
                <a:ea typeface="+mj-ea"/>
              </a:rPr>
              <a:t>链路像一条空心管道</a:t>
            </a:r>
            <a:endParaRPr lang="zh-CN" altLang="en-US" sz="1050" dirty="0">
              <a:latin typeface="+mj-ea"/>
              <a:ea typeface="+mj-ea"/>
            </a:endParaRPr>
          </a:p>
        </p:txBody>
      </p:sp>
      <p:sp>
        <p:nvSpPr>
          <p:cNvPr id="18" name="文本框 17">
            <a:extLst>
              <a:ext uri="{FF2B5EF4-FFF2-40B4-BE49-F238E27FC236}">
                <a16:creationId xmlns:a16="http://schemas.microsoft.com/office/drawing/2014/main" id="{1103AA70-B3E9-CF01-23AA-0A29568D269C}"/>
              </a:ext>
            </a:extLst>
          </p:cNvPr>
          <p:cNvSpPr txBox="1"/>
          <p:nvPr/>
        </p:nvSpPr>
        <p:spPr>
          <a:xfrm>
            <a:off x="1408822" y="2955159"/>
            <a:ext cx="902811" cy="338554"/>
          </a:xfrm>
          <a:prstGeom prst="rect">
            <a:avLst/>
          </a:prstGeom>
          <a:noFill/>
        </p:spPr>
        <p:txBody>
          <a:bodyPr wrap="none" rtlCol="0">
            <a:spAutoFit/>
          </a:bodyPr>
          <a:lstStyle/>
          <a:p>
            <a:pPr algn="ctr"/>
            <a:r>
              <a:rPr lang="zh-CN" altLang="en-US" sz="800" dirty="0">
                <a:latin typeface="+mn-ea"/>
              </a:rPr>
              <a:t>带宽</a:t>
            </a:r>
          </a:p>
          <a:p>
            <a:pPr algn="ctr"/>
            <a:r>
              <a:rPr lang="zh-CN" altLang="en-US" sz="800" dirty="0">
                <a:latin typeface="+mn-ea"/>
              </a:rPr>
              <a:t>（管道截面积）</a:t>
            </a:r>
          </a:p>
        </p:txBody>
      </p:sp>
      <p:sp>
        <p:nvSpPr>
          <p:cNvPr id="4" name="Text Box 9">
            <a:extLst>
              <a:ext uri="{FF2B5EF4-FFF2-40B4-BE49-F238E27FC236}">
                <a16:creationId xmlns:a16="http://schemas.microsoft.com/office/drawing/2014/main" id="{33EE823A-384C-3000-2B30-3418EDB4CC59}"/>
              </a:ext>
            </a:extLst>
          </p:cNvPr>
          <p:cNvSpPr txBox="1">
            <a:spLocks noChangeArrowheads="1"/>
          </p:cNvSpPr>
          <p:nvPr/>
        </p:nvSpPr>
        <p:spPr bwMode="auto">
          <a:xfrm>
            <a:off x="1551546" y="2329853"/>
            <a:ext cx="2026517" cy="25391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lang="zh-CN" altLang="en-US" sz="1050" b="1" dirty="0">
                <a:solidFill>
                  <a:sysClr val="windowText" lastClr="000000"/>
                </a:solidFill>
                <a:latin typeface="+mj-lt"/>
                <a:ea typeface="+mj-ea"/>
              </a:rPr>
              <a:t>时延带宽积 </a:t>
            </a:r>
            <a:r>
              <a:rPr lang="en-US" altLang="zh-CN" sz="1050" b="1" dirty="0">
                <a:solidFill>
                  <a:sysClr val="windowText" lastClr="000000"/>
                </a:solidFill>
                <a:latin typeface="+mj-lt"/>
                <a:ea typeface="+mj-ea"/>
              </a:rPr>
              <a:t>= </a:t>
            </a:r>
            <a:r>
              <a:rPr lang="zh-CN" altLang="en-US" sz="1050" b="1" dirty="0">
                <a:solidFill>
                  <a:sysClr val="windowText" lastClr="000000"/>
                </a:solidFill>
                <a:latin typeface="+mj-lt"/>
                <a:ea typeface="+mj-ea"/>
              </a:rPr>
              <a:t>传播时延 </a:t>
            </a:r>
            <a:r>
              <a:rPr lang="en-US" altLang="zh-CN" sz="1050" b="1" dirty="0">
                <a:solidFill>
                  <a:sysClr val="windowText" lastClr="000000"/>
                </a:solidFill>
                <a:latin typeface="+mj-lt"/>
                <a:ea typeface="+mj-ea"/>
              </a:rPr>
              <a:t>× </a:t>
            </a:r>
            <a:r>
              <a:rPr lang="zh-CN" altLang="en-US" sz="1050" b="1" dirty="0">
                <a:solidFill>
                  <a:sysClr val="windowText" lastClr="000000"/>
                </a:solidFill>
                <a:latin typeface="+mj-lt"/>
                <a:ea typeface="+mj-ea"/>
              </a:rPr>
              <a:t>带宽</a:t>
            </a:r>
            <a:endParaRPr lang="en-US" altLang="zh-CN" sz="1050" b="1" dirty="0">
              <a:solidFill>
                <a:sysClr val="windowText" lastClr="000000"/>
              </a:solidFill>
              <a:latin typeface="+mj-lt"/>
              <a:ea typeface="+mj-ea"/>
            </a:endParaRPr>
          </a:p>
        </p:txBody>
      </p:sp>
      <p:cxnSp>
        <p:nvCxnSpPr>
          <p:cNvPr id="9" name="直接连接符 8">
            <a:extLst>
              <a:ext uri="{FF2B5EF4-FFF2-40B4-BE49-F238E27FC236}">
                <a16:creationId xmlns:a16="http://schemas.microsoft.com/office/drawing/2014/main" id="{949F98CF-03CC-A778-40FF-16598B3365A1}"/>
              </a:ext>
            </a:extLst>
          </p:cNvPr>
          <p:cNvCxnSpPr>
            <a:cxnSpLocks/>
          </p:cNvCxnSpPr>
          <p:nvPr/>
        </p:nvCxnSpPr>
        <p:spPr>
          <a:xfrm>
            <a:off x="5059961" y="3081880"/>
            <a:ext cx="0" cy="216000"/>
          </a:xfrm>
          <a:prstGeom prst="line">
            <a:avLst/>
          </a:prstGeom>
          <a:ln w="12700">
            <a:solidFill>
              <a:schemeClr val="tx1"/>
            </a:solidFill>
          </a:ln>
        </p:spPr>
        <p:style>
          <a:lnRef idx="1">
            <a:schemeClr val="dk1"/>
          </a:lnRef>
          <a:fillRef idx="0">
            <a:schemeClr val="dk1"/>
          </a:fillRef>
          <a:effectRef idx="0">
            <a:schemeClr val="dk1"/>
          </a:effectRef>
          <a:fontRef idx="minor">
            <a:schemeClr val="tx1"/>
          </a:fontRef>
        </p:style>
      </p:cxnSp>
      <p:cxnSp>
        <p:nvCxnSpPr>
          <p:cNvPr id="11" name="直接连接符 10">
            <a:extLst>
              <a:ext uri="{FF2B5EF4-FFF2-40B4-BE49-F238E27FC236}">
                <a16:creationId xmlns:a16="http://schemas.microsoft.com/office/drawing/2014/main" id="{D61C9DFE-A20A-046F-6A14-1EE598ADFD84}"/>
              </a:ext>
            </a:extLst>
          </p:cNvPr>
          <p:cNvCxnSpPr>
            <a:cxnSpLocks/>
          </p:cNvCxnSpPr>
          <p:nvPr/>
        </p:nvCxnSpPr>
        <p:spPr>
          <a:xfrm>
            <a:off x="2388475" y="3081880"/>
            <a:ext cx="0" cy="216000"/>
          </a:xfrm>
          <a:prstGeom prst="line">
            <a:avLst/>
          </a:prstGeom>
          <a:ln w="12700">
            <a:solidFill>
              <a:schemeClr val="tx1"/>
            </a:solidFill>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1716871191"/>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标题 8">
            <a:extLst>
              <a:ext uri="{FF2B5EF4-FFF2-40B4-BE49-F238E27FC236}">
                <a16:creationId xmlns:a16="http://schemas.microsoft.com/office/drawing/2014/main" id="{1829EBCF-626A-ACC7-ECFA-9A051E2EDC22}"/>
              </a:ext>
            </a:extLst>
          </p:cNvPr>
          <p:cNvSpPr>
            <a:spLocks noGrp="1"/>
          </p:cNvSpPr>
          <p:nvPr>
            <p:ph type="title"/>
          </p:nvPr>
        </p:nvSpPr>
        <p:spPr>
          <a:xfrm>
            <a:off x="612000" y="144000"/>
            <a:ext cx="7920000" cy="341632"/>
          </a:xfrm>
        </p:spPr>
        <p:txBody>
          <a:bodyPr/>
          <a:lstStyle/>
          <a:p>
            <a:r>
              <a:rPr lang="en-US" altLang="zh-CN" dirty="0"/>
              <a:t>6. </a:t>
            </a:r>
            <a:r>
              <a:rPr lang="zh-CN" altLang="en-US" dirty="0"/>
              <a:t>往返时间 </a:t>
            </a:r>
            <a:r>
              <a:rPr lang="en-US" altLang="zh-CN" dirty="0"/>
              <a:t>RTT</a:t>
            </a:r>
            <a:endParaRPr lang="zh-CN" altLang="en-US" dirty="0"/>
          </a:p>
        </p:txBody>
      </p:sp>
      <p:sp>
        <p:nvSpPr>
          <p:cNvPr id="3" name="内容占位符 2"/>
          <p:cNvSpPr>
            <a:spLocks noGrp="1"/>
          </p:cNvSpPr>
          <p:nvPr>
            <p:ph sz="quarter" idx="10"/>
          </p:nvPr>
        </p:nvSpPr>
        <p:spPr>
          <a:xfrm>
            <a:off x="612775" y="900113"/>
            <a:ext cx="7918450" cy="3779837"/>
          </a:xfrm>
        </p:spPr>
        <p:txBody>
          <a:bodyPr/>
          <a:lstStyle/>
          <a:p>
            <a:r>
              <a:rPr lang="en-US" altLang="zh-CN" dirty="0"/>
              <a:t>Round-Trip Time</a:t>
            </a:r>
          </a:p>
          <a:p>
            <a:r>
              <a:rPr lang="zh-CN" altLang="en-US" dirty="0"/>
              <a:t>表示从发送方</a:t>
            </a:r>
            <a:r>
              <a:rPr lang="en-US" altLang="zh-CN" dirty="0"/>
              <a:t>A</a:t>
            </a:r>
            <a:r>
              <a:rPr lang="zh-CN" altLang="en-US" dirty="0"/>
              <a:t>发送</a:t>
            </a:r>
            <a:r>
              <a:rPr lang="zh-CN" altLang="en-US" dirty="0">
                <a:solidFill>
                  <a:srgbClr val="D4237A"/>
                </a:solidFill>
              </a:rPr>
              <a:t>完</a:t>
            </a:r>
            <a:r>
              <a:rPr lang="zh-CN" altLang="en-US" dirty="0"/>
              <a:t>数据，到发送方</a:t>
            </a:r>
            <a:r>
              <a:rPr lang="en-US" altLang="zh-CN" dirty="0"/>
              <a:t>A</a:t>
            </a:r>
            <a:r>
              <a:rPr lang="zh-CN" altLang="en-US" dirty="0"/>
              <a:t>收到来自接收方</a:t>
            </a:r>
            <a:r>
              <a:rPr lang="en-US" altLang="zh-CN" dirty="0"/>
              <a:t>B</a:t>
            </a:r>
            <a:r>
              <a:rPr lang="zh-CN" altLang="en-US" dirty="0"/>
              <a:t>的确认总共经历的时间</a:t>
            </a:r>
            <a:endParaRPr lang="en-US" altLang="zh-CN" dirty="0"/>
          </a:p>
          <a:p>
            <a:r>
              <a:rPr lang="zh-CN" altLang="en-US" dirty="0"/>
              <a:t>不包括发送方节点</a:t>
            </a:r>
            <a:r>
              <a:rPr lang="en-US" altLang="zh-CN" dirty="0"/>
              <a:t>A</a:t>
            </a:r>
            <a:r>
              <a:rPr lang="zh-CN" altLang="en-US" dirty="0"/>
              <a:t>的发送时延</a:t>
            </a:r>
            <a:endParaRPr lang="en-US" altLang="zh-CN" dirty="0"/>
          </a:p>
          <a:p>
            <a:endParaRPr lang="zh-CN" altLang="en-US" dirty="0"/>
          </a:p>
        </p:txBody>
      </p:sp>
      <p:sp>
        <p:nvSpPr>
          <p:cNvPr id="50" name="矩形 49"/>
          <p:cNvSpPr/>
          <p:nvPr/>
        </p:nvSpPr>
        <p:spPr>
          <a:xfrm>
            <a:off x="612775" y="2466074"/>
            <a:ext cx="3031599" cy="2213876"/>
          </a:xfrm>
          <a:prstGeom prst="rect">
            <a:avLst/>
          </a:prstGeom>
          <a:ln>
            <a:solidFill>
              <a:srgbClr val="C00000"/>
            </a:solidFill>
          </a:ln>
        </p:spPr>
        <p:style>
          <a:lnRef idx="2">
            <a:schemeClr val="accent2"/>
          </a:lnRef>
          <a:fillRef idx="1">
            <a:schemeClr val="lt1"/>
          </a:fillRef>
          <a:effectRef idx="0">
            <a:schemeClr val="accent2"/>
          </a:effectRef>
          <a:fontRef idx="minor">
            <a:schemeClr val="dk1"/>
          </a:fontRef>
        </p:style>
        <p:txBody>
          <a:bodyPr wrap="none">
            <a:spAutoFit/>
          </a:bodyPr>
          <a:lstStyle/>
          <a:p>
            <a:pPr>
              <a:lnSpc>
                <a:spcPts val="2400"/>
              </a:lnSpc>
            </a:pPr>
            <a:r>
              <a:rPr lang="en-US" altLang="zh-CN" sz="1400" dirty="0">
                <a:latin typeface="+mj-lt"/>
                <a:ea typeface="+mj-ea"/>
              </a:rPr>
              <a:t>RTT = </a:t>
            </a:r>
            <a:r>
              <a:rPr lang="zh-CN" altLang="en-US" sz="1400" dirty="0">
                <a:latin typeface="+mj-lt"/>
                <a:ea typeface="+mj-ea"/>
              </a:rPr>
              <a:t>结点 </a:t>
            </a:r>
            <a:r>
              <a:rPr lang="en-US" altLang="zh-CN" sz="1400" dirty="0">
                <a:latin typeface="+mj-lt"/>
                <a:ea typeface="+mj-ea"/>
              </a:rPr>
              <a:t>A </a:t>
            </a:r>
            <a:r>
              <a:rPr lang="zh-CN" altLang="en-US" sz="1400" dirty="0">
                <a:latin typeface="+mj-lt"/>
                <a:ea typeface="+mj-ea"/>
              </a:rPr>
              <a:t>到 </a:t>
            </a:r>
            <a:r>
              <a:rPr lang="en-US" altLang="zh-CN" sz="1400" dirty="0">
                <a:latin typeface="+mj-lt"/>
                <a:ea typeface="+mj-ea"/>
              </a:rPr>
              <a:t>B </a:t>
            </a:r>
            <a:r>
              <a:rPr lang="zh-CN" altLang="en-US" sz="1400" dirty="0">
                <a:latin typeface="+mj-lt"/>
                <a:ea typeface="+mj-ea"/>
              </a:rPr>
              <a:t>的传播时延 </a:t>
            </a:r>
            <a:r>
              <a:rPr lang="en-US" altLang="zh-CN" sz="1400" dirty="0" err="1">
                <a:latin typeface="+mj-lt"/>
                <a:ea typeface="+mj-ea"/>
              </a:rPr>
              <a:t>t</a:t>
            </a:r>
            <a:r>
              <a:rPr lang="en-US" altLang="zh-CN" sz="1400" baseline="-25000" dirty="0" err="1">
                <a:latin typeface="+mj-lt"/>
                <a:ea typeface="+mj-ea"/>
              </a:rPr>
              <a:t>P</a:t>
            </a:r>
            <a:r>
              <a:rPr lang="en-US" altLang="zh-CN" sz="1400" dirty="0">
                <a:latin typeface="+mj-lt"/>
                <a:ea typeface="+mj-ea"/>
              </a:rPr>
              <a:t> </a:t>
            </a:r>
          </a:p>
          <a:p>
            <a:pPr>
              <a:lnSpc>
                <a:spcPts val="2400"/>
              </a:lnSpc>
            </a:pPr>
            <a:r>
              <a:rPr lang="en-US" altLang="zh-CN" sz="1400" dirty="0">
                <a:latin typeface="+mj-lt"/>
                <a:ea typeface="+mj-ea"/>
              </a:rPr>
              <a:t>        + </a:t>
            </a:r>
            <a:r>
              <a:rPr lang="zh-CN" altLang="en-US" sz="1400" dirty="0">
                <a:latin typeface="+mj-lt"/>
                <a:ea typeface="+mj-ea"/>
              </a:rPr>
              <a:t>结点 </a:t>
            </a:r>
            <a:r>
              <a:rPr lang="en-US" altLang="zh-CN" sz="1400" dirty="0">
                <a:latin typeface="+mj-lt"/>
                <a:ea typeface="+mj-ea"/>
              </a:rPr>
              <a:t>B </a:t>
            </a:r>
            <a:r>
              <a:rPr lang="zh-CN" altLang="en-US" sz="1400" dirty="0">
                <a:latin typeface="+mj-lt"/>
                <a:ea typeface="+mj-ea"/>
              </a:rPr>
              <a:t>处理和排队时延 </a:t>
            </a:r>
            <a:r>
              <a:rPr lang="en-US" altLang="zh-CN" sz="1400" dirty="0" err="1">
                <a:latin typeface="+mj-lt"/>
                <a:ea typeface="+mj-ea"/>
              </a:rPr>
              <a:t>t</a:t>
            </a:r>
            <a:r>
              <a:rPr lang="en-US" altLang="zh-CN" sz="1400" baseline="-25000" dirty="0" err="1">
                <a:latin typeface="+mj-lt"/>
                <a:ea typeface="+mj-ea"/>
              </a:rPr>
              <a:t>PQB</a:t>
            </a:r>
            <a:r>
              <a:rPr lang="en-US" altLang="zh-CN" sz="1400" dirty="0">
                <a:latin typeface="+mj-lt"/>
                <a:ea typeface="+mj-ea"/>
              </a:rPr>
              <a:t> </a:t>
            </a:r>
          </a:p>
          <a:p>
            <a:pPr>
              <a:lnSpc>
                <a:spcPts val="2400"/>
              </a:lnSpc>
            </a:pPr>
            <a:r>
              <a:rPr lang="en-US" altLang="zh-CN" sz="1400" dirty="0">
                <a:latin typeface="+mj-lt"/>
                <a:ea typeface="+mj-ea"/>
              </a:rPr>
              <a:t>        + </a:t>
            </a:r>
            <a:r>
              <a:rPr lang="zh-CN" altLang="en-US" sz="1400" dirty="0">
                <a:latin typeface="+mj-lt"/>
                <a:ea typeface="+mj-ea"/>
              </a:rPr>
              <a:t>结点 </a:t>
            </a:r>
            <a:r>
              <a:rPr lang="en-US" altLang="zh-CN" sz="1400" dirty="0">
                <a:latin typeface="+mj-lt"/>
                <a:ea typeface="+mj-ea"/>
              </a:rPr>
              <a:t>B </a:t>
            </a:r>
            <a:r>
              <a:rPr lang="zh-CN" altLang="en-US" sz="1400" dirty="0">
                <a:latin typeface="+mj-lt"/>
                <a:ea typeface="+mj-ea"/>
              </a:rPr>
              <a:t>发送时延 </a:t>
            </a:r>
            <a:r>
              <a:rPr lang="en-US" altLang="zh-CN" sz="1400" dirty="0" err="1">
                <a:latin typeface="+mj-lt"/>
                <a:ea typeface="+mj-ea"/>
              </a:rPr>
              <a:t>t</a:t>
            </a:r>
            <a:r>
              <a:rPr lang="en-US" altLang="zh-CN" sz="1400" baseline="-25000" dirty="0" err="1">
                <a:latin typeface="+mj-lt"/>
                <a:ea typeface="+mj-ea"/>
              </a:rPr>
              <a:t>TB</a:t>
            </a:r>
            <a:r>
              <a:rPr lang="en-US" altLang="zh-CN" sz="1400" dirty="0">
                <a:latin typeface="+mj-lt"/>
                <a:ea typeface="+mj-ea"/>
              </a:rPr>
              <a:t> </a:t>
            </a:r>
          </a:p>
          <a:p>
            <a:pPr>
              <a:lnSpc>
                <a:spcPts val="2400"/>
              </a:lnSpc>
            </a:pPr>
            <a:r>
              <a:rPr lang="en-US" altLang="zh-CN" sz="1400" dirty="0">
                <a:latin typeface="+mj-lt"/>
                <a:ea typeface="+mj-ea"/>
              </a:rPr>
              <a:t>        + </a:t>
            </a:r>
            <a:r>
              <a:rPr lang="zh-CN" altLang="en-US" sz="1400" dirty="0">
                <a:latin typeface="+mj-lt"/>
                <a:ea typeface="+mj-ea"/>
              </a:rPr>
              <a:t>结点 </a:t>
            </a:r>
            <a:r>
              <a:rPr lang="en-US" altLang="zh-CN" sz="1400" dirty="0">
                <a:latin typeface="+mj-lt"/>
                <a:ea typeface="+mj-ea"/>
              </a:rPr>
              <a:t>B </a:t>
            </a:r>
            <a:r>
              <a:rPr lang="zh-CN" altLang="en-US" sz="1400" dirty="0">
                <a:latin typeface="+mj-lt"/>
                <a:ea typeface="+mj-ea"/>
              </a:rPr>
              <a:t>到 </a:t>
            </a:r>
            <a:r>
              <a:rPr lang="en-US" altLang="zh-CN" sz="1400" dirty="0">
                <a:latin typeface="+mj-lt"/>
                <a:ea typeface="+mj-ea"/>
              </a:rPr>
              <a:t>A </a:t>
            </a:r>
            <a:r>
              <a:rPr lang="zh-CN" altLang="en-US" sz="1400" dirty="0">
                <a:latin typeface="+mj-lt"/>
                <a:ea typeface="+mj-ea"/>
              </a:rPr>
              <a:t>的传播时延 </a:t>
            </a:r>
            <a:r>
              <a:rPr lang="en-US" altLang="zh-CN" sz="1400" dirty="0" err="1">
                <a:latin typeface="+mj-lt"/>
                <a:ea typeface="+mj-ea"/>
              </a:rPr>
              <a:t>t</a:t>
            </a:r>
            <a:r>
              <a:rPr lang="en-US" altLang="zh-CN" sz="1400" baseline="-25000" dirty="0" err="1">
                <a:latin typeface="+mj-lt"/>
                <a:ea typeface="+mj-ea"/>
              </a:rPr>
              <a:t>P</a:t>
            </a:r>
            <a:r>
              <a:rPr lang="en-US" altLang="zh-CN" sz="1400" dirty="0">
                <a:latin typeface="+mj-lt"/>
                <a:ea typeface="+mj-ea"/>
              </a:rPr>
              <a:t> </a:t>
            </a:r>
          </a:p>
          <a:p>
            <a:pPr>
              <a:lnSpc>
                <a:spcPts val="2400"/>
              </a:lnSpc>
            </a:pPr>
            <a:r>
              <a:rPr lang="en-US" altLang="zh-CN" sz="1400" dirty="0">
                <a:latin typeface="+mj-lt"/>
                <a:ea typeface="+mj-ea"/>
              </a:rPr>
              <a:t>        = 2 x </a:t>
            </a:r>
            <a:r>
              <a:rPr lang="zh-CN" altLang="en-US" sz="1400" dirty="0">
                <a:latin typeface="+mj-lt"/>
                <a:ea typeface="+mj-ea"/>
              </a:rPr>
              <a:t>传播时延 </a:t>
            </a:r>
            <a:r>
              <a:rPr lang="en-US" altLang="zh-CN" sz="1400" dirty="0" err="1">
                <a:latin typeface="+mj-lt"/>
                <a:ea typeface="+mj-ea"/>
              </a:rPr>
              <a:t>t</a:t>
            </a:r>
            <a:r>
              <a:rPr lang="en-US" altLang="zh-CN" sz="1400" baseline="-25000" dirty="0" err="1">
                <a:latin typeface="+mj-lt"/>
                <a:ea typeface="+mj-ea"/>
              </a:rPr>
              <a:t>P</a:t>
            </a:r>
            <a:r>
              <a:rPr lang="en-US" altLang="zh-CN" sz="1400" dirty="0">
                <a:latin typeface="+mj-lt"/>
                <a:ea typeface="+mj-ea"/>
              </a:rPr>
              <a:t> </a:t>
            </a:r>
          </a:p>
          <a:p>
            <a:pPr>
              <a:lnSpc>
                <a:spcPts val="2400"/>
              </a:lnSpc>
            </a:pPr>
            <a:r>
              <a:rPr lang="en-US" altLang="zh-CN" sz="1400" dirty="0">
                <a:latin typeface="+mj-lt"/>
                <a:ea typeface="+mj-ea"/>
              </a:rPr>
              <a:t>        + </a:t>
            </a:r>
            <a:r>
              <a:rPr lang="zh-CN" altLang="en-US" sz="1400" dirty="0">
                <a:latin typeface="+mj-lt"/>
                <a:ea typeface="+mj-ea"/>
              </a:rPr>
              <a:t>结点 </a:t>
            </a:r>
            <a:r>
              <a:rPr lang="en-US" altLang="zh-CN" sz="1400" dirty="0">
                <a:latin typeface="+mj-lt"/>
                <a:ea typeface="+mj-ea"/>
              </a:rPr>
              <a:t>B </a:t>
            </a:r>
            <a:r>
              <a:rPr lang="zh-CN" altLang="en-US" sz="1400" dirty="0">
                <a:latin typeface="+mj-lt"/>
                <a:ea typeface="+mj-ea"/>
              </a:rPr>
              <a:t>处理和排队时延 </a:t>
            </a:r>
            <a:r>
              <a:rPr lang="en-US" altLang="zh-CN" sz="1400" dirty="0" err="1">
                <a:latin typeface="+mj-lt"/>
                <a:ea typeface="+mj-ea"/>
              </a:rPr>
              <a:t>t</a:t>
            </a:r>
            <a:r>
              <a:rPr lang="en-US" altLang="zh-CN" sz="1400" baseline="-25000" dirty="0" err="1">
                <a:latin typeface="+mj-lt"/>
                <a:ea typeface="+mj-ea"/>
              </a:rPr>
              <a:t>PQB</a:t>
            </a:r>
            <a:r>
              <a:rPr lang="en-US" altLang="zh-CN" sz="1400" dirty="0">
                <a:latin typeface="+mj-lt"/>
                <a:ea typeface="+mj-ea"/>
              </a:rPr>
              <a:t> </a:t>
            </a:r>
          </a:p>
          <a:p>
            <a:pPr>
              <a:lnSpc>
                <a:spcPts val="2400"/>
              </a:lnSpc>
            </a:pPr>
            <a:r>
              <a:rPr lang="en-US" altLang="zh-CN" sz="1400" dirty="0">
                <a:latin typeface="+mj-lt"/>
                <a:ea typeface="+mj-ea"/>
              </a:rPr>
              <a:t>        + </a:t>
            </a:r>
            <a:r>
              <a:rPr lang="zh-CN" altLang="en-US" sz="1400" dirty="0">
                <a:latin typeface="+mj-lt"/>
                <a:ea typeface="+mj-ea"/>
              </a:rPr>
              <a:t>结点 </a:t>
            </a:r>
            <a:r>
              <a:rPr lang="en-US" altLang="zh-CN" sz="1400" dirty="0">
                <a:latin typeface="+mj-lt"/>
                <a:ea typeface="+mj-ea"/>
              </a:rPr>
              <a:t>B </a:t>
            </a:r>
            <a:r>
              <a:rPr lang="zh-CN" altLang="en-US" sz="1400" dirty="0">
                <a:latin typeface="+mj-lt"/>
                <a:ea typeface="+mj-ea"/>
              </a:rPr>
              <a:t>发送时延 </a:t>
            </a:r>
            <a:r>
              <a:rPr lang="en-US" altLang="zh-CN" sz="1400" dirty="0" err="1">
                <a:latin typeface="+mj-lt"/>
                <a:ea typeface="+mj-ea"/>
              </a:rPr>
              <a:t>t</a:t>
            </a:r>
            <a:r>
              <a:rPr lang="en-US" altLang="zh-CN" sz="1400" baseline="-25000" dirty="0" err="1">
                <a:latin typeface="+mj-lt"/>
                <a:ea typeface="+mj-ea"/>
              </a:rPr>
              <a:t>TB</a:t>
            </a:r>
            <a:r>
              <a:rPr lang="en-US" altLang="zh-CN" sz="1400" dirty="0">
                <a:latin typeface="+mj-lt"/>
                <a:ea typeface="+mj-ea"/>
              </a:rPr>
              <a:t> </a:t>
            </a:r>
          </a:p>
        </p:txBody>
      </p:sp>
      <p:cxnSp>
        <p:nvCxnSpPr>
          <p:cNvPr id="13" name="直接连接符 12"/>
          <p:cNvCxnSpPr/>
          <p:nvPr/>
        </p:nvCxnSpPr>
        <p:spPr>
          <a:xfrm flipH="1">
            <a:off x="6063401" y="3416734"/>
            <a:ext cx="2490652" cy="0"/>
          </a:xfrm>
          <a:prstGeom prst="line">
            <a:avLst/>
          </a:prstGeom>
          <a:ln w="6350">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5" name="直接连接符 14"/>
          <p:cNvCxnSpPr/>
          <p:nvPr/>
        </p:nvCxnSpPr>
        <p:spPr>
          <a:xfrm flipH="1">
            <a:off x="6507537" y="3636933"/>
            <a:ext cx="2046517" cy="0"/>
          </a:xfrm>
          <a:prstGeom prst="line">
            <a:avLst/>
          </a:prstGeom>
          <a:ln w="6350">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直接连接符 16"/>
          <p:cNvCxnSpPr/>
          <p:nvPr/>
        </p:nvCxnSpPr>
        <p:spPr>
          <a:xfrm flipH="1">
            <a:off x="5151178" y="4252437"/>
            <a:ext cx="3402878" cy="0"/>
          </a:xfrm>
          <a:prstGeom prst="line">
            <a:avLst/>
          </a:prstGeom>
          <a:ln w="6350">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8" name="直接连接符 17"/>
          <p:cNvCxnSpPr/>
          <p:nvPr/>
        </p:nvCxnSpPr>
        <p:spPr>
          <a:xfrm flipH="1">
            <a:off x="8109916" y="3826299"/>
            <a:ext cx="444137" cy="0"/>
          </a:xfrm>
          <a:prstGeom prst="line">
            <a:avLst/>
          </a:prstGeom>
          <a:ln w="6350">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21" name="直接连接符 20"/>
          <p:cNvCxnSpPr/>
          <p:nvPr/>
        </p:nvCxnSpPr>
        <p:spPr>
          <a:xfrm flipH="1">
            <a:off x="5151178" y="2520013"/>
            <a:ext cx="2958742" cy="0"/>
          </a:xfrm>
          <a:prstGeom prst="line">
            <a:avLst/>
          </a:prstGeom>
          <a:ln w="6350">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22" name="直接连接符 21"/>
          <p:cNvCxnSpPr/>
          <p:nvPr/>
        </p:nvCxnSpPr>
        <p:spPr>
          <a:xfrm flipH="1">
            <a:off x="5749897" y="2981567"/>
            <a:ext cx="757636" cy="0"/>
          </a:xfrm>
          <a:prstGeom prst="line">
            <a:avLst/>
          </a:prstGeom>
          <a:ln w="6350">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3" name="矩形 22"/>
          <p:cNvSpPr/>
          <p:nvPr/>
        </p:nvSpPr>
        <p:spPr>
          <a:xfrm>
            <a:off x="6233048" y="2052667"/>
            <a:ext cx="559769" cy="215444"/>
          </a:xfrm>
          <a:prstGeom prst="rect">
            <a:avLst/>
          </a:prstGeom>
          <a:noFill/>
        </p:spPr>
        <p:txBody>
          <a:bodyPr wrap="square" rtlCol="0">
            <a:spAutoFit/>
          </a:bodyPr>
          <a:lstStyle/>
          <a:p>
            <a:pPr algn="ctr"/>
            <a:r>
              <a:rPr lang="en-US" altLang="zh-CN" sz="800" dirty="0">
                <a:latin typeface="+mn-ea"/>
              </a:rPr>
              <a:t>Node</a:t>
            </a:r>
            <a:r>
              <a:rPr lang="zh-CN" altLang="en-US" sz="800" dirty="0">
                <a:latin typeface="+mn-ea"/>
              </a:rPr>
              <a:t> </a:t>
            </a:r>
            <a:r>
              <a:rPr lang="en-US" altLang="zh-CN" sz="800" dirty="0">
                <a:latin typeface="+mn-ea"/>
              </a:rPr>
              <a:t>A</a:t>
            </a:r>
          </a:p>
        </p:txBody>
      </p:sp>
      <p:sp>
        <p:nvSpPr>
          <p:cNvPr id="24" name="矩形 23"/>
          <p:cNvSpPr/>
          <p:nvPr/>
        </p:nvSpPr>
        <p:spPr>
          <a:xfrm>
            <a:off x="7828430" y="2052667"/>
            <a:ext cx="551753" cy="215444"/>
          </a:xfrm>
          <a:prstGeom prst="rect">
            <a:avLst/>
          </a:prstGeom>
          <a:noFill/>
        </p:spPr>
        <p:txBody>
          <a:bodyPr wrap="square" rtlCol="0">
            <a:spAutoFit/>
          </a:bodyPr>
          <a:lstStyle/>
          <a:p>
            <a:pPr algn="ctr"/>
            <a:r>
              <a:rPr lang="en-US" altLang="zh-CN" sz="800" dirty="0">
                <a:latin typeface="+mn-ea"/>
              </a:rPr>
              <a:t>Node</a:t>
            </a:r>
            <a:r>
              <a:rPr lang="zh-CN" altLang="en-US" sz="800" dirty="0">
                <a:latin typeface="+mn-ea"/>
              </a:rPr>
              <a:t> </a:t>
            </a:r>
            <a:r>
              <a:rPr lang="en-US" altLang="zh-CN" sz="800" dirty="0">
                <a:latin typeface="+mn-ea"/>
              </a:rPr>
              <a:t>B</a:t>
            </a:r>
          </a:p>
        </p:txBody>
      </p:sp>
      <p:sp>
        <p:nvSpPr>
          <p:cNvPr id="7" name="平行四边形 6"/>
          <p:cNvSpPr/>
          <p:nvPr/>
        </p:nvSpPr>
        <p:spPr>
          <a:xfrm rot="900000" flipV="1">
            <a:off x="6421983" y="2742056"/>
            <a:ext cx="1774282" cy="444137"/>
          </a:xfrm>
          <a:prstGeom prst="parallelogram">
            <a:avLst>
              <a:gd name="adj" fmla="val 26894"/>
            </a:avLst>
          </a:prstGeom>
          <a:solidFill>
            <a:srgbClr val="FFC000"/>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p>
        </p:txBody>
      </p:sp>
      <p:cxnSp>
        <p:nvCxnSpPr>
          <p:cNvPr id="5" name="直接连接符 4"/>
          <p:cNvCxnSpPr/>
          <p:nvPr/>
        </p:nvCxnSpPr>
        <p:spPr>
          <a:xfrm>
            <a:off x="6507533" y="2285093"/>
            <a:ext cx="0" cy="216000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 name="直接连接符 5"/>
          <p:cNvCxnSpPr/>
          <p:nvPr/>
        </p:nvCxnSpPr>
        <p:spPr>
          <a:xfrm>
            <a:off x="8109912" y="2285093"/>
            <a:ext cx="0" cy="216000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8" name="平行四边形 7"/>
          <p:cNvSpPr/>
          <p:nvPr/>
        </p:nvSpPr>
        <p:spPr>
          <a:xfrm rot="20700000" flipH="1" flipV="1">
            <a:off x="6455407" y="3854495"/>
            <a:ext cx="1704669" cy="178367"/>
          </a:xfrm>
          <a:prstGeom prst="parallelogram">
            <a:avLst>
              <a:gd name="adj" fmla="val 26894"/>
            </a:avLst>
          </a:prstGeom>
          <a:solidFill>
            <a:srgbClr val="00B050"/>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050"/>
          </a:p>
        </p:txBody>
      </p:sp>
      <p:sp>
        <p:nvSpPr>
          <p:cNvPr id="26" name="矩形 25"/>
          <p:cNvSpPr/>
          <p:nvPr/>
        </p:nvSpPr>
        <p:spPr>
          <a:xfrm rot="911734">
            <a:off x="7050750" y="2855844"/>
            <a:ext cx="433132" cy="215444"/>
          </a:xfrm>
          <a:prstGeom prst="rect">
            <a:avLst/>
          </a:prstGeom>
        </p:spPr>
        <p:txBody>
          <a:bodyPr wrap="none">
            <a:spAutoFit/>
          </a:bodyPr>
          <a:lstStyle/>
          <a:p>
            <a:r>
              <a:rPr lang="en-US" altLang="zh-CN" sz="800" dirty="0"/>
              <a:t>Data</a:t>
            </a:r>
          </a:p>
        </p:txBody>
      </p:sp>
      <p:sp>
        <p:nvSpPr>
          <p:cNvPr id="27" name="矩形 26"/>
          <p:cNvSpPr/>
          <p:nvPr/>
        </p:nvSpPr>
        <p:spPr>
          <a:xfrm rot="20641677">
            <a:off x="7082272" y="3843557"/>
            <a:ext cx="405880" cy="215444"/>
          </a:xfrm>
          <a:prstGeom prst="rect">
            <a:avLst/>
          </a:prstGeom>
        </p:spPr>
        <p:txBody>
          <a:bodyPr wrap="none">
            <a:spAutoFit/>
          </a:bodyPr>
          <a:lstStyle/>
          <a:p>
            <a:r>
              <a:rPr lang="en-US" altLang="zh-CN" sz="800" dirty="0"/>
              <a:t>ACK</a:t>
            </a:r>
          </a:p>
        </p:txBody>
      </p:sp>
      <p:cxnSp>
        <p:nvCxnSpPr>
          <p:cNvPr id="29" name="直接箭头连接符 28"/>
          <p:cNvCxnSpPr/>
          <p:nvPr/>
        </p:nvCxnSpPr>
        <p:spPr>
          <a:xfrm>
            <a:off x="6285468" y="2520013"/>
            <a:ext cx="0" cy="443555"/>
          </a:xfrm>
          <a:prstGeom prst="straightConnector1">
            <a:avLst/>
          </a:prstGeom>
          <a:ln w="12700">
            <a:solidFill>
              <a:schemeClr val="tx1"/>
            </a:solidFill>
            <a:headEnd type="triangle" w="sm" len="med"/>
            <a:tailEnd type="triangle" w="sm" len="med"/>
          </a:ln>
        </p:spPr>
        <p:style>
          <a:lnRef idx="1">
            <a:schemeClr val="accent1"/>
          </a:lnRef>
          <a:fillRef idx="0">
            <a:schemeClr val="accent1"/>
          </a:fillRef>
          <a:effectRef idx="0">
            <a:schemeClr val="accent1"/>
          </a:effectRef>
          <a:fontRef idx="minor">
            <a:schemeClr val="tx1"/>
          </a:fontRef>
        </p:style>
      </p:cxnSp>
      <p:cxnSp>
        <p:nvCxnSpPr>
          <p:cNvPr id="30" name="直接箭头连接符 29"/>
          <p:cNvCxnSpPr/>
          <p:nvPr/>
        </p:nvCxnSpPr>
        <p:spPr>
          <a:xfrm>
            <a:off x="6285468" y="2964681"/>
            <a:ext cx="0" cy="443555"/>
          </a:xfrm>
          <a:prstGeom prst="straightConnector1">
            <a:avLst/>
          </a:prstGeom>
          <a:ln w="12700">
            <a:solidFill>
              <a:schemeClr val="tx1"/>
            </a:solidFill>
            <a:headEnd type="triangle" w="sm" len="med"/>
            <a:tailEnd type="triangle" w="sm" len="med"/>
          </a:ln>
        </p:spPr>
        <p:style>
          <a:lnRef idx="1">
            <a:schemeClr val="accent1"/>
          </a:lnRef>
          <a:fillRef idx="0">
            <a:schemeClr val="accent1"/>
          </a:fillRef>
          <a:effectRef idx="0">
            <a:schemeClr val="accent1"/>
          </a:effectRef>
          <a:fontRef idx="minor">
            <a:schemeClr val="tx1"/>
          </a:fontRef>
        </p:style>
      </p:cxnSp>
      <p:cxnSp>
        <p:nvCxnSpPr>
          <p:cNvPr id="31" name="直接箭头连接符 30"/>
          <p:cNvCxnSpPr/>
          <p:nvPr/>
        </p:nvCxnSpPr>
        <p:spPr>
          <a:xfrm>
            <a:off x="6285468" y="3428248"/>
            <a:ext cx="0" cy="822176"/>
          </a:xfrm>
          <a:prstGeom prst="straightConnector1">
            <a:avLst/>
          </a:prstGeom>
          <a:ln w="12700">
            <a:solidFill>
              <a:schemeClr val="tx1"/>
            </a:solidFill>
            <a:headEnd type="triangle" w="sm" len="med"/>
            <a:tailEnd type="triangle" w="sm" len="med"/>
          </a:ln>
        </p:spPr>
        <p:style>
          <a:lnRef idx="1">
            <a:schemeClr val="accent1"/>
          </a:lnRef>
          <a:fillRef idx="0">
            <a:schemeClr val="accent1"/>
          </a:fillRef>
          <a:effectRef idx="0">
            <a:schemeClr val="accent1"/>
          </a:effectRef>
          <a:fontRef idx="minor">
            <a:schemeClr val="tx1"/>
          </a:fontRef>
        </p:style>
      </p:cxnSp>
      <p:cxnSp>
        <p:nvCxnSpPr>
          <p:cNvPr id="36" name="直接箭头连接符 35"/>
          <p:cNvCxnSpPr/>
          <p:nvPr/>
        </p:nvCxnSpPr>
        <p:spPr>
          <a:xfrm>
            <a:off x="5937128" y="2981567"/>
            <a:ext cx="0" cy="1268857"/>
          </a:xfrm>
          <a:prstGeom prst="straightConnector1">
            <a:avLst/>
          </a:prstGeom>
          <a:ln w="12700">
            <a:solidFill>
              <a:srgbClr val="C00000"/>
            </a:solidFill>
            <a:headEnd type="triangle"/>
            <a:tailEnd type="triangle"/>
          </a:ln>
        </p:spPr>
        <p:style>
          <a:lnRef idx="1">
            <a:schemeClr val="dk1"/>
          </a:lnRef>
          <a:fillRef idx="0">
            <a:schemeClr val="dk1"/>
          </a:fillRef>
          <a:effectRef idx="0">
            <a:schemeClr val="dk1"/>
          </a:effectRef>
          <a:fontRef idx="minor">
            <a:schemeClr val="tx1"/>
          </a:fontRef>
        </p:style>
      </p:cxnSp>
      <p:cxnSp>
        <p:nvCxnSpPr>
          <p:cNvPr id="38" name="直接箭头连接符 37"/>
          <p:cNvCxnSpPr/>
          <p:nvPr/>
        </p:nvCxnSpPr>
        <p:spPr>
          <a:xfrm>
            <a:off x="8345047" y="3826299"/>
            <a:ext cx="0" cy="424125"/>
          </a:xfrm>
          <a:prstGeom prst="straightConnector1">
            <a:avLst/>
          </a:prstGeom>
          <a:ln w="12700">
            <a:solidFill>
              <a:schemeClr val="tx1"/>
            </a:solidFill>
            <a:headEnd type="triangle" w="sm" len="med"/>
            <a:tailEnd type="triangle" w="sm" len="med"/>
          </a:ln>
        </p:spPr>
        <p:style>
          <a:lnRef idx="1">
            <a:schemeClr val="accent1"/>
          </a:lnRef>
          <a:fillRef idx="0">
            <a:schemeClr val="accent1"/>
          </a:fillRef>
          <a:effectRef idx="0">
            <a:schemeClr val="accent1"/>
          </a:effectRef>
          <a:fontRef idx="minor">
            <a:schemeClr val="tx1"/>
          </a:fontRef>
        </p:style>
      </p:cxnSp>
      <p:cxnSp>
        <p:nvCxnSpPr>
          <p:cNvPr id="40" name="直接箭头连接符 39"/>
          <p:cNvCxnSpPr/>
          <p:nvPr/>
        </p:nvCxnSpPr>
        <p:spPr>
          <a:xfrm>
            <a:off x="8345047" y="3416734"/>
            <a:ext cx="0" cy="220199"/>
          </a:xfrm>
          <a:prstGeom prst="straightConnector1">
            <a:avLst/>
          </a:prstGeom>
          <a:ln w="12700">
            <a:solidFill>
              <a:schemeClr val="tx1"/>
            </a:solidFill>
            <a:headEnd type="triangle" w="sm" len="med"/>
            <a:tailEnd type="triangle" w="sm" len="med"/>
          </a:ln>
        </p:spPr>
        <p:style>
          <a:lnRef idx="1">
            <a:schemeClr val="accent1"/>
          </a:lnRef>
          <a:fillRef idx="0">
            <a:schemeClr val="accent1"/>
          </a:fillRef>
          <a:effectRef idx="0">
            <a:schemeClr val="accent1"/>
          </a:effectRef>
          <a:fontRef idx="minor">
            <a:schemeClr val="tx1"/>
          </a:fontRef>
        </p:style>
      </p:cxnSp>
      <p:cxnSp>
        <p:nvCxnSpPr>
          <p:cNvPr id="42" name="直接箭头连接符 41"/>
          <p:cNvCxnSpPr/>
          <p:nvPr/>
        </p:nvCxnSpPr>
        <p:spPr>
          <a:xfrm>
            <a:off x="8345047" y="3636933"/>
            <a:ext cx="0" cy="189366"/>
          </a:xfrm>
          <a:prstGeom prst="straightConnector1">
            <a:avLst/>
          </a:prstGeom>
          <a:ln w="12700">
            <a:solidFill>
              <a:schemeClr val="tx1"/>
            </a:solidFill>
            <a:headEnd type="triangle" w="sm" len="med"/>
            <a:tailEnd type="triangle" w="sm" len="med"/>
          </a:ln>
        </p:spPr>
        <p:style>
          <a:lnRef idx="1">
            <a:schemeClr val="accent1"/>
          </a:lnRef>
          <a:fillRef idx="0">
            <a:schemeClr val="accent1"/>
          </a:fillRef>
          <a:effectRef idx="0">
            <a:schemeClr val="accent1"/>
          </a:effectRef>
          <a:fontRef idx="minor">
            <a:schemeClr val="tx1"/>
          </a:fontRef>
        </p:style>
      </p:cxnSp>
      <p:sp>
        <p:nvSpPr>
          <p:cNvPr id="43" name="文本框 42"/>
          <p:cNvSpPr txBox="1"/>
          <p:nvPr/>
        </p:nvSpPr>
        <p:spPr>
          <a:xfrm>
            <a:off x="5823828" y="2555079"/>
            <a:ext cx="461554" cy="276999"/>
          </a:xfrm>
          <a:prstGeom prst="rect">
            <a:avLst/>
          </a:prstGeom>
          <a:noFill/>
        </p:spPr>
        <p:txBody>
          <a:bodyPr wrap="square" rtlCol="0">
            <a:spAutoFit/>
          </a:bodyPr>
          <a:lstStyle/>
          <a:p>
            <a:pPr algn="r"/>
            <a:r>
              <a:rPr lang="en-US" altLang="zh-CN" sz="1200" dirty="0" err="1">
                <a:latin typeface="Times New Roman" panose="02020603050405020304" pitchFamily="18" charset="0"/>
                <a:ea typeface="微软雅黑 Light" panose="020B0502040204020203" pitchFamily="34" charset="-122"/>
              </a:rPr>
              <a:t>t</a:t>
            </a:r>
            <a:r>
              <a:rPr lang="en-US" altLang="zh-CN" sz="1100" b="1" baseline="-25000" dirty="0" err="1">
                <a:latin typeface="Times New Roman" panose="02020603050405020304" pitchFamily="18" charset="0"/>
                <a:ea typeface="微软雅黑 Light" panose="020B0502040204020203" pitchFamily="34" charset="-122"/>
              </a:rPr>
              <a:t>TA</a:t>
            </a:r>
            <a:endParaRPr lang="zh-CN" altLang="en-US" sz="1100" b="1" baseline="-25000" dirty="0">
              <a:latin typeface="Times New Roman" panose="02020603050405020304" pitchFamily="18" charset="0"/>
              <a:ea typeface="微软雅黑 Light" panose="020B0502040204020203" pitchFamily="34" charset="-122"/>
            </a:endParaRPr>
          </a:p>
        </p:txBody>
      </p:sp>
      <p:sp>
        <p:nvSpPr>
          <p:cNvPr id="44" name="文本框 43"/>
          <p:cNvSpPr txBox="1"/>
          <p:nvPr/>
        </p:nvSpPr>
        <p:spPr>
          <a:xfrm>
            <a:off x="5823828" y="3017162"/>
            <a:ext cx="461554" cy="276999"/>
          </a:xfrm>
          <a:prstGeom prst="rect">
            <a:avLst/>
          </a:prstGeom>
          <a:noFill/>
        </p:spPr>
        <p:txBody>
          <a:bodyPr wrap="square" rtlCol="0">
            <a:spAutoFit/>
          </a:bodyPr>
          <a:lstStyle/>
          <a:p>
            <a:pPr algn="r"/>
            <a:r>
              <a:rPr lang="en-US" altLang="zh-CN" sz="1200" dirty="0" err="1">
                <a:latin typeface="Times New Roman" panose="02020603050405020304" pitchFamily="18" charset="0"/>
                <a:ea typeface="微软雅黑 Light" panose="020B0502040204020203" pitchFamily="34" charset="-122"/>
              </a:rPr>
              <a:t>t</a:t>
            </a:r>
            <a:r>
              <a:rPr lang="en-US" altLang="zh-CN" sz="1100" b="1" baseline="-25000" dirty="0" err="1">
                <a:latin typeface="Times New Roman" panose="02020603050405020304" pitchFamily="18" charset="0"/>
                <a:ea typeface="微软雅黑 Light" panose="020B0502040204020203" pitchFamily="34" charset="-122"/>
              </a:rPr>
              <a:t>P</a:t>
            </a:r>
            <a:endParaRPr lang="zh-CN" altLang="en-US" sz="1100" b="1" baseline="-25000" dirty="0">
              <a:latin typeface="Times New Roman" panose="02020603050405020304" pitchFamily="18" charset="0"/>
              <a:ea typeface="微软雅黑 Light" panose="020B0502040204020203" pitchFamily="34" charset="-122"/>
            </a:endParaRPr>
          </a:p>
        </p:txBody>
      </p:sp>
      <p:sp>
        <p:nvSpPr>
          <p:cNvPr id="45" name="文本框 44"/>
          <p:cNvSpPr txBox="1"/>
          <p:nvPr/>
        </p:nvSpPr>
        <p:spPr>
          <a:xfrm>
            <a:off x="8350061" y="3860375"/>
            <a:ext cx="461554" cy="276999"/>
          </a:xfrm>
          <a:prstGeom prst="rect">
            <a:avLst/>
          </a:prstGeom>
          <a:noFill/>
        </p:spPr>
        <p:txBody>
          <a:bodyPr wrap="square" rtlCol="0">
            <a:spAutoFit/>
          </a:bodyPr>
          <a:lstStyle/>
          <a:p>
            <a:r>
              <a:rPr lang="en-US" altLang="zh-CN" sz="1200" dirty="0" err="1">
                <a:latin typeface="Times New Roman" panose="02020603050405020304" pitchFamily="18" charset="0"/>
                <a:ea typeface="微软雅黑 Light" panose="020B0502040204020203" pitchFamily="34" charset="-122"/>
              </a:rPr>
              <a:t>t</a:t>
            </a:r>
            <a:r>
              <a:rPr lang="en-US" altLang="zh-CN" sz="1100" b="1" baseline="-25000" dirty="0" err="1">
                <a:latin typeface="Times New Roman" panose="02020603050405020304" pitchFamily="18" charset="0"/>
                <a:ea typeface="微软雅黑 Light" panose="020B0502040204020203" pitchFamily="34" charset="-122"/>
              </a:rPr>
              <a:t>P</a:t>
            </a:r>
            <a:endParaRPr lang="zh-CN" altLang="en-US" sz="1100" b="1" baseline="-25000" dirty="0">
              <a:latin typeface="Times New Roman" panose="02020603050405020304" pitchFamily="18" charset="0"/>
              <a:ea typeface="微软雅黑 Light" panose="020B0502040204020203" pitchFamily="34" charset="-122"/>
            </a:endParaRPr>
          </a:p>
        </p:txBody>
      </p:sp>
      <p:sp>
        <p:nvSpPr>
          <p:cNvPr id="46" name="文本框 45"/>
          <p:cNvSpPr txBox="1"/>
          <p:nvPr/>
        </p:nvSpPr>
        <p:spPr>
          <a:xfrm>
            <a:off x="8350061" y="3344216"/>
            <a:ext cx="540000" cy="276999"/>
          </a:xfrm>
          <a:prstGeom prst="rect">
            <a:avLst/>
          </a:prstGeom>
          <a:noFill/>
        </p:spPr>
        <p:txBody>
          <a:bodyPr wrap="square" rtlCol="0">
            <a:spAutoFit/>
          </a:bodyPr>
          <a:lstStyle/>
          <a:p>
            <a:r>
              <a:rPr lang="en-US" altLang="zh-CN" sz="1200" dirty="0" err="1">
                <a:latin typeface="Times New Roman" panose="02020603050405020304" pitchFamily="18" charset="0"/>
                <a:ea typeface="微软雅黑 Light" panose="020B0502040204020203" pitchFamily="34" charset="-122"/>
              </a:rPr>
              <a:t>t</a:t>
            </a:r>
            <a:r>
              <a:rPr lang="en-US" altLang="zh-CN" sz="1200" baseline="-25000" dirty="0" err="1">
                <a:latin typeface="Times New Roman" panose="02020603050405020304" pitchFamily="18" charset="0"/>
                <a:ea typeface="微软雅黑 Light" panose="020B0502040204020203" pitchFamily="34" charset="-122"/>
              </a:rPr>
              <a:t>P</a:t>
            </a:r>
            <a:r>
              <a:rPr lang="en-US" altLang="zh-CN" sz="1100" b="1" baseline="-25000" dirty="0" err="1">
                <a:latin typeface="Times New Roman" panose="02020603050405020304" pitchFamily="18" charset="0"/>
                <a:ea typeface="微软雅黑 Light" panose="020B0502040204020203" pitchFamily="34" charset="-122"/>
              </a:rPr>
              <a:t>QB</a:t>
            </a:r>
            <a:endParaRPr lang="zh-CN" altLang="en-US" sz="1100" b="1" baseline="-25000" dirty="0">
              <a:latin typeface="Times New Roman" panose="02020603050405020304" pitchFamily="18" charset="0"/>
              <a:ea typeface="微软雅黑 Light" panose="020B0502040204020203" pitchFamily="34" charset="-122"/>
            </a:endParaRPr>
          </a:p>
        </p:txBody>
      </p:sp>
      <p:sp>
        <p:nvSpPr>
          <p:cNvPr id="47" name="矩形 46"/>
          <p:cNvSpPr/>
          <p:nvPr/>
        </p:nvSpPr>
        <p:spPr>
          <a:xfrm>
            <a:off x="5470893" y="3248841"/>
            <a:ext cx="450764" cy="261610"/>
          </a:xfrm>
          <a:prstGeom prst="rect">
            <a:avLst/>
          </a:prstGeom>
        </p:spPr>
        <p:txBody>
          <a:bodyPr wrap="none">
            <a:spAutoFit/>
          </a:bodyPr>
          <a:lstStyle/>
          <a:p>
            <a:r>
              <a:rPr lang="en-US" altLang="zh-CN" sz="1100" dirty="0"/>
              <a:t>RTT</a:t>
            </a:r>
          </a:p>
        </p:txBody>
      </p:sp>
      <p:sp>
        <p:nvSpPr>
          <p:cNvPr id="49" name="文本框 48"/>
          <p:cNvSpPr txBox="1"/>
          <p:nvPr/>
        </p:nvSpPr>
        <p:spPr>
          <a:xfrm>
            <a:off x="8350059" y="3538213"/>
            <a:ext cx="461554" cy="276999"/>
          </a:xfrm>
          <a:prstGeom prst="rect">
            <a:avLst/>
          </a:prstGeom>
          <a:ln w="12700">
            <a:noFill/>
            <a:headEnd type="triangle" w="sm" len="med"/>
            <a:tailEnd type="triangle" w="sm" len="med"/>
          </a:ln>
        </p:spPr>
        <p:style>
          <a:lnRef idx="1">
            <a:schemeClr val="accent1"/>
          </a:lnRef>
          <a:fillRef idx="0">
            <a:schemeClr val="accent1"/>
          </a:fillRef>
          <a:effectRef idx="0">
            <a:schemeClr val="accent1"/>
          </a:effectRef>
          <a:fontRef idx="minor">
            <a:schemeClr val="tx1"/>
          </a:fontRef>
        </p:style>
        <p:txBody>
          <a:bodyPr wrap="square" rtlCol="0">
            <a:spAutoFit/>
          </a:bodyPr>
          <a:lstStyle/>
          <a:p>
            <a:r>
              <a:rPr lang="en-US" altLang="zh-CN" sz="1200" dirty="0" err="1">
                <a:latin typeface="Times New Roman" panose="02020603050405020304" pitchFamily="18" charset="0"/>
                <a:ea typeface="微软雅黑 Light" panose="020B0502040204020203" pitchFamily="34" charset="-122"/>
              </a:rPr>
              <a:t>t</a:t>
            </a:r>
            <a:r>
              <a:rPr lang="en-US" altLang="zh-CN" sz="1100" b="1" baseline="-25000" dirty="0" err="1">
                <a:latin typeface="Times New Roman" panose="02020603050405020304" pitchFamily="18" charset="0"/>
                <a:ea typeface="微软雅黑 Light" panose="020B0502040204020203" pitchFamily="34" charset="-122"/>
              </a:rPr>
              <a:t>TB</a:t>
            </a:r>
            <a:endParaRPr lang="zh-CN" altLang="en-US" sz="1100" b="1" baseline="-25000" dirty="0">
              <a:latin typeface="Times New Roman" panose="02020603050405020304" pitchFamily="18" charset="0"/>
              <a:ea typeface="微软雅黑 Light" panose="020B0502040204020203" pitchFamily="34" charset="-122"/>
            </a:endParaRPr>
          </a:p>
        </p:txBody>
      </p:sp>
      <p:cxnSp>
        <p:nvCxnSpPr>
          <p:cNvPr id="59" name="直接箭头连接符 58"/>
          <p:cNvCxnSpPr/>
          <p:nvPr/>
        </p:nvCxnSpPr>
        <p:spPr>
          <a:xfrm>
            <a:off x="5411183" y="2520013"/>
            <a:ext cx="0" cy="1730411"/>
          </a:xfrm>
          <a:prstGeom prst="straightConnector1">
            <a:avLst/>
          </a:prstGeom>
          <a:ln w="12700">
            <a:solidFill>
              <a:srgbClr val="0000CC"/>
            </a:solidFill>
            <a:headEnd type="triangle"/>
            <a:tailEnd type="triangle"/>
          </a:ln>
        </p:spPr>
        <p:style>
          <a:lnRef idx="1">
            <a:schemeClr val="dk1"/>
          </a:lnRef>
          <a:fillRef idx="0">
            <a:schemeClr val="dk1"/>
          </a:fillRef>
          <a:effectRef idx="0">
            <a:schemeClr val="dk1"/>
          </a:effectRef>
          <a:fontRef idx="minor">
            <a:schemeClr val="tx1"/>
          </a:fontRef>
        </p:style>
      </p:cxnSp>
      <p:sp>
        <p:nvSpPr>
          <p:cNvPr id="60" name="矩形 59"/>
          <p:cNvSpPr/>
          <p:nvPr/>
        </p:nvSpPr>
        <p:spPr>
          <a:xfrm>
            <a:off x="5108488" y="2847986"/>
            <a:ext cx="290058" cy="1077218"/>
          </a:xfrm>
          <a:prstGeom prst="rect">
            <a:avLst/>
          </a:prstGeom>
        </p:spPr>
        <p:txBody>
          <a:bodyPr wrap="square">
            <a:spAutoFit/>
          </a:bodyPr>
          <a:lstStyle/>
          <a:p>
            <a:r>
              <a:rPr kumimoji="1" lang="zh-CN" altLang="en-US" sz="800" dirty="0">
                <a:latin typeface="+mn-ea"/>
              </a:rPr>
              <a:t>成功发送的总时延</a:t>
            </a:r>
            <a:endParaRPr kumimoji="1" lang="en-US" altLang="zh-CN" sz="800" dirty="0">
              <a:latin typeface="+mn-ea"/>
            </a:endParaRPr>
          </a:p>
        </p:txBody>
      </p:sp>
      <p:sp>
        <p:nvSpPr>
          <p:cNvPr id="4" name="Text Box 9">
            <a:extLst>
              <a:ext uri="{FF2B5EF4-FFF2-40B4-BE49-F238E27FC236}">
                <a16:creationId xmlns:a16="http://schemas.microsoft.com/office/drawing/2014/main" id="{B7FE10F5-847A-091F-8EBF-4FACF1537C53}"/>
              </a:ext>
            </a:extLst>
          </p:cNvPr>
          <p:cNvSpPr txBox="1">
            <a:spLocks noChangeArrowheads="1"/>
          </p:cNvSpPr>
          <p:nvPr/>
        </p:nvSpPr>
        <p:spPr bwMode="auto">
          <a:xfrm>
            <a:off x="222393" y="2026082"/>
            <a:ext cx="4649030" cy="25391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lang="en-US" altLang="zh-CN" sz="1050" b="1" dirty="0">
                <a:solidFill>
                  <a:sysClr val="windowText" lastClr="000000"/>
                </a:solidFill>
                <a:latin typeface="+mj-lt"/>
                <a:ea typeface="+mj-ea"/>
              </a:rPr>
              <a:t>RTT = 2 × </a:t>
            </a:r>
            <a:r>
              <a:rPr lang="zh-CN" altLang="en-US" sz="1050" b="1" dirty="0">
                <a:solidFill>
                  <a:sysClr val="windowText" lastClr="000000"/>
                </a:solidFill>
                <a:latin typeface="+mj-lt"/>
                <a:ea typeface="+mj-ea"/>
              </a:rPr>
              <a:t>传播时延 </a:t>
            </a:r>
            <a:r>
              <a:rPr lang="en-US" altLang="zh-CN" sz="1050" b="1" dirty="0">
                <a:solidFill>
                  <a:sysClr val="windowText" lastClr="000000"/>
                </a:solidFill>
                <a:latin typeface="+mj-lt"/>
                <a:ea typeface="+mj-ea"/>
              </a:rPr>
              <a:t>+ </a:t>
            </a:r>
            <a:r>
              <a:rPr lang="zh-CN" altLang="en-US" sz="1050" b="1" dirty="0">
                <a:solidFill>
                  <a:sysClr val="windowText" lastClr="000000"/>
                </a:solidFill>
                <a:latin typeface="+mj-lt"/>
                <a:ea typeface="+mj-ea"/>
              </a:rPr>
              <a:t>对端的排队时延 </a:t>
            </a:r>
            <a:r>
              <a:rPr lang="en-US" altLang="zh-CN" sz="1050" b="1" dirty="0">
                <a:solidFill>
                  <a:sysClr val="windowText" lastClr="000000"/>
                </a:solidFill>
                <a:latin typeface="+mj-lt"/>
                <a:ea typeface="+mj-ea"/>
              </a:rPr>
              <a:t>+ </a:t>
            </a:r>
            <a:r>
              <a:rPr lang="zh-CN" altLang="en-US" sz="1050" b="1" dirty="0">
                <a:solidFill>
                  <a:sysClr val="windowText" lastClr="000000"/>
                </a:solidFill>
                <a:latin typeface="+mj-lt"/>
                <a:ea typeface="+mj-ea"/>
              </a:rPr>
              <a:t>对端的处理时延 </a:t>
            </a:r>
            <a:r>
              <a:rPr lang="en-US" altLang="zh-CN" sz="1050" b="1" dirty="0">
                <a:solidFill>
                  <a:sysClr val="windowText" lastClr="000000"/>
                </a:solidFill>
                <a:latin typeface="+mj-lt"/>
                <a:ea typeface="+mj-ea"/>
              </a:rPr>
              <a:t>+ </a:t>
            </a:r>
            <a:r>
              <a:rPr lang="zh-CN" altLang="en-US" sz="1050" b="1" dirty="0">
                <a:solidFill>
                  <a:sysClr val="windowText" lastClr="000000"/>
                </a:solidFill>
                <a:latin typeface="+mj-lt"/>
                <a:ea typeface="+mj-ea"/>
              </a:rPr>
              <a:t>对端的发送时延</a:t>
            </a:r>
            <a:endParaRPr lang="en-US" altLang="zh-CN" sz="1050" b="1" dirty="0">
              <a:solidFill>
                <a:sysClr val="windowText" lastClr="000000"/>
              </a:solidFill>
              <a:latin typeface="+mj-lt"/>
              <a:ea typeface="+mj-ea"/>
            </a:endParaRPr>
          </a:p>
        </p:txBody>
      </p:sp>
    </p:spTree>
    <p:extLst>
      <p:ext uri="{BB962C8B-B14F-4D97-AF65-F5344CB8AC3E}">
        <p14:creationId xmlns:p14="http://schemas.microsoft.com/office/powerpoint/2010/main" val="858018975"/>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C41F5F5F-5439-1D72-EA57-753FDB4840DB}"/>
              </a:ext>
            </a:extLst>
          </p:cNvPr>
          <p:cNvSpPr>
            <a:spLocks noGrp="1"/>
          </p:cNvSpPr>
          <p:nvPr>
            <p:ph type="title"/>
          </p:nvPr>
        </p:nvSpPr>
        <p:spPr>
          <a:xfrm>
            <a:off x="612000" y="144000"/>
            <a:ext cx="7920000" cy="341632"/>
          </a:xfrm>
        </p:spPr>
        <p:txBody>
          <a:bodyPr/>
          <a:lstStyle/>
          <a:p>
            <a:r>
              <a:rPr lang="en-US" altLang="zh-CN" dirty="0"/>
              <a:t>[</a:t>
            </a:r>
            <a:r>
              <a:rPr lang="zh-CN" altLang="en-US" dirty="0"/>
              <a:t>练习</a:t>
            </a:r>
            <a:r>
              <a:rPr lang="en-US" altLang="zh-CN" dirty="0"/>
              <a:t>]</a:t>
            </a:r>
            <a:endParaRPr lang="zh-CN" altLang="en-US" dirty="0"/>
          </a:p>
        </p:txBody>
      </p:sp>
      <p:sp>
        <p:nvSpPr>
          <p:cNvPr id="16" name="文本框 15">
            <a:extLst>
              <a:ext uri="{FF2B5EF4-FFF2-40B4-BE49-F238E27FC236}">
                <a16:creationId xmlns:a16="http://schemas.microsoft.com/office/drawing/2014/main" id="{1AD0EC37-2F5A-12AA-EDCB-088D66E9D7B5}"/>
              </a:ext>
            </a:extLst>
          </p:cNvPr>
          <p:cNvSpPr txBox="1"/>
          <p:nvPr/>
        </p:nvSpPr>
        <p:spPr>
          <a:xfrm>
            <a:off x="612776" y="2283359"/>
            <a:ext cx="7918449" cy="830997"/>
          </a:xfrm>
          <a:prstGeom prst="rect">
            <a:avLst/>
          </a:prstGeom>
          <a:noFill/>
        </p:spPr>
        <p:txBody>
          <a:bodyPr wrap="square" rtlCol="0">
            <a:spAutoFit/>
          </a:bodyPr>
          <a:lstStyle/>
          <a:p>
            <a:pPr>
              <a:spcAft>
                <a:spcPts val="600"/>
              </a:spcAft>
            </a:pPr>
            <a:r>
              <a:rPr lang="zh-CN" altLang="en-US" sz="1600" dirty="0"/>
              <a:t>结点 </a:t>
            </a:r>
            <a:r>
              <a:rPr lang="en-US" altLang="zh-CN" sz="1600" dirty="0"/>
              <a:t>A </a:t>
            </a:r>
            <a:r>
              <a:rPr lang="zh-CN" altLang="en-US" sz="1600" dirty="0"/>
              <a:t>要将一个 </a:t>
            </a:r>
            <a:r>
              <a:rPr lang="en-US" altLang="zh-CN" sz="1600" dirty="0"/>
              <a:t>100 MB </a:t>
            </a:r>
            <a:r>
              <a:rPr lang="zh-CN" altLang="en-US" sz="1600" dirty="0"/>
              <a:t>数据以 </a:t>
            </a:r>
            <a:r>
              <a:rPr lang="en-US" altLang="zh-CN" sz="1600" dirty="0"/>
              <a:t>100 Mbit/s </a:t>
            </a:r>
            <a:r>
              <a:rPr lang="zh-CN" altLang="en-US" sz="1600" dirty="0"/>
              <a:t>的速率发送给结点 </a:t>
            </a:r>
            <a:r>
              <a:rPr lang="en-US" altLang="zh-CN" sz="1600" dirty="0"/>
              <a:t>B</a:t>
            </a:r>
            <a:r>
              <a:rPr lang="zh-CN" altLang="en-US" sz="1600" dirty="0"/>
              <a:t>。</a:t>
            </a:r>
            <a:r>
              <a:rPr lang="en-US" altLang="zh-CN" sz="1600" dirty="0"/>
              <a:t>B </a:t>
            </a:r>
            <a:r>
              <a:rPr lang="zh-CN" altLang="en-US" sz="1600" dirty="0"/>
              <a:t>正确收完该数据后，就立即向 </a:t>
            </a:r>
            <a:r>
              <a:rPr lang="en-US" altLang="zh-CN" sz="1600" dirty="0"/>
              <a:t>A </a:t>
            </a:r>
            <a:r>
              <a:rPr lang="zh-CN" altLang="en-US" sz="1600" dirty="0"/>
              <a:t>发送确认。假定 </a:t>
            </a:r>
            <a:r>
              <a:rPr lang="en-US" altLang="zh-CN" sz="1600" dirty="0"/>
              <a:t>A </a:t>
            </a:r>
            <a:r>
              <a:rPr lang="zh-CN" altLang="en-US" sz="1600" dirty="0"/>
              <a:t>只有在收到 </a:t>
            </a:r>
            <a:r>
              <a:rPr lang="en-US" altLang="zh-CN" sz="1600" dirty="0"/>
              <a:t>B </a:t>
            </a:r>
            <a:r>
              <a:rPr lang="zh-CN" altLang="en-US" sz="1600" dirty="0"/>
              <a:t>的确认信息后，才能继续向 </a:t>
            </a:r>
            <a:r>
              <a:rPr lang="en-US" altLang="zh-CN" sz="1600" dirty="0"/>
              <a:t>B </a:t>
            </a:r>
            <a:r>
              <a:rPr lang="zh-CN" altLang="en-US" sz="1600" dirty="0"/>
              <a:t>发送数据，且确认信息很短。计算 </a:t>
            </a:r>
            <a:r>
              <a:rPr lang="en-US" altLang="zh-CN" sz="1600" dirty="0"/>
              <a:t>A </a:t>
            </a:r>
            <a:r>
              <a:rPr lang="zh-CN" altLang="en-US" sz="1600" dirty="0"/>
              <a:t>向 </a:t>
            </a:r>
            <a:r>
              <a:rPr lang="en-US" altLang="zh-CN" sz="1600" dirty="0"/>
              <a:t>B </a:t>
            </a:r>
            <a:r>
              <a:rPr lang="zh-CN" altLang="en-US" sz="1600" dirty="0"/>
              <a:t>发送数据的有效数据率。</a:t>
            </a:r>
            <a:endParaRPr lang="en-US" altLang="zh-CN" sz="1600" dirty="0"/>
          </a:p>
        </p:txBody>
      </p:sp>
      <p:grpSp>
        <p:nvGrpSpPr>
          <p:cNvPr id="2" name="组合 1">
            <a:extLst>
              <a:ext uri="{FF2B5EF4-FFF2-40B4-BE49-F238E27FC236}">
                <a16:creationId xmlns:a16="http://schemas.microsoft.com/office/drawing/2014/main" id="{01DE9C49-5C13-8278-286E-F9C92701E8FA}"/>
              </a:ext>
            </a:extLst>
          </p:cNvPr>
          <p:cNvGrpSpPr/>
          <p:nvPr/>
        </p:nvGrpSpPr>
        <p:grpSpPr>
          <a:xfrm>
            <a:off x="2875397" y="1063181"/>
            <a:ext cx="3393207" cy="554633"/>
            <a:chOff x="3363862" y="1063181"/>
            <a:chExt cx="3393207" cy="554633"/>
          </a:xfrm>
        </p:grpSpPr>
        <p:sp>
          <p:nvSpPr>
            <p:cNvPr id="3" name="椭圆 2">
              <a:extLst>
                <a:ext uri="{FF2B5EF4-FFF2-40B4-BE49-F238E27FC236}">
                  <a16:creationId xmlns:a16="http://schemas.microsoft.com/office/drawing/2014/main" id="{83A1DB83-9EA6-D64B-DA62-9725C385BA65}"/>
                </a:ext>
              </a:extLst>
            </p:cNvPr>
            <p:cNvSpPr/>
            <p:nvPr/>
          </p:nvSpPr>
          <p:spPr>
            <a:xfrm>
              <a:off x="3511106" y="1216646"/>
              <a:ext cx="216000" cy="216000"/>
            </a:xfrm>
            <a:prstGeom prst="ellipse">
              <a:avLst/>
            </a:prstGeom>
            <a:gradFill flip="none" rotWithShape="1">
              <a:gsLst>
                <a:gs pos="2000">
                  <a:srgbClr val="CDF3CD"/>
                </a:gs>
                <a:gs pos="100000">
                  <a:srgbClr val="339933"/>
                </a:gs>
              </a:gsLst>
              <a:path path="circle">
                <a:fillToRect l="50000" t="50000" r="50000" b="50000"/>
              </a:path>
              <a:tileRect/>
            </a:gradFill>
            <a:ln w="9525">
              <a:noFill/>
              <a:round/>
              <a:headEnd/>
              <a:tailEnd/>
            </a:ln>
            <a:effectLst/>
          </p:spPr>
          <p:txBody>
            <a:bodyPr wrap="none" anchor="ctr"/>
            <a:lstStyle/>
            <a:p>
              <a:endParaRPr lang="zh-CN" altLang="en-US" sz="1200" b="1">
                <a:solidFill>
                  <a:schemeClr val="tx1"/>
                </a:solidFill>
                <a:ea typeface="微软雅黑 Light" panose="020B0502040204020203" pitchFamily="34" charset="-122"/>
              </a:endParaRPr>
            </a:p>
          </p:txBody>
        </p:sp>
        <p:sp>
          <p:nvSpPr>
            <p:cNvPr id="4" name="椭圆 3">
              <a:extLst>
                <a:ext uri="{FF2B5EF4-FFF2-40B4-BE49-F238E27FC236}">
                  <a16:creationId xmlns:a16="http://schemas.microsoft.com/office/drawing/2014/main" id="{61E1C2A0-E98C-47B1-232D-6A589B853A22}"/>
                </a:ext>
              </a:extLst>
            </p:cNvPr>
            <p:cNvSpPr/>
            <p:nvPr/>
          </p:nvSpPr>
          <p:spPr>
            <a:xfrm>
              <a:off x="6322563" y="1216646"/>
              <a:ext cx="216000" cy="216000"/>
            </a:xfrm>
            <a:prstGeom prst="ellipse">
              <a:avLst/>
            </a:prstGeom>
            <a:gradFill rotWithShape="1">
              <a:gsLst>
                <a:gs pos="0">
                  <a:srgbClr val="85D1F7"/>
                </a:gs>
                <a:gs pos="100000">
                  <a:srgbClr val="0070C0"/>
                </a:gs>
              </a:gsLst>
              <a:path path="shape">
                <a:fillToRect l="50000" t="50000" r="50000" b="50000"/>
              </a:path>
            </a:gradFill>
            <a:ln w="9525">
              <a:noFill/>
              <a:round/>
              <a:headEnd/>
              <a:tailEnd/>
            </a:ln>
          </p:spPr>
          <p:txBody>
            <a:bodyPr wrap="none" anchor="ctr"/>
            <a:lstStyle/>
            <a:p>
              <a:endParaRPr lang="zh-CN" altLang="en-US" sz="1200" b="1">
                <a:solidFill>
                  <a:schemeClr val="tx1"/>
                </a:solidFill>
                <a:latin typeface="Times New Roman" panose="02020603050405020304" pitchFamily="18" charset="0"/>
                <a:ea typeface="微软雅黑 Light" panose="020B0502040204020203" pitchFamily="34" charset="-122"/>
              </a:endParaRPr>
            </a:p>
          </p:txBody>
        </p:sp>
        <p:cxnSp>
          <p:nvCxnSpPr>
            <p:cNvPr id="5" name="直接连接符 4">
              <a:extLst>
                <a:ext uri="{FF2B5EF4-FFF2-40B4-BE49-F238E27FC236}">
                  <a16:creationId xmlns:a16="http://schemas.microsoft.com/office/drawing/2014/main" id="{3A3D3487-89EC-203F-8526-17E2155F477A}"/>
                </a:ext>
              </a:extLst>
            </p:cNvPr>
            <p:cNvCxnSpPr>
              <a:cxnSpLocks/>
            </p:cNvCxnSpPr>
            <p:nvPr/>
          </p:nvCxnSpPr>
          <p:spPr>
            <a:xfrm>
              <a:off x="3727106" y="1324646"/>
              <a:ext cx="2595457"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13" name="文本框 12">
              <a:extLst>
                <a:ext uri="{FF2B5EF4-FFF2-40B4-BE49-F238E27FC236}">
                  <a16:creationId xmlns:a16="http://schemas.microsoft.com/office/drawing/2014/main" id="{4582E8F8-EDE9-2389-5965-3D8BBDCD6553}"/>
                </a:ext>
              </a:extLst>
            </p:cNvPr>
            <p:cNvSpPr txBox="1"/>
            <p:nvPr/>
          </p:nvSpPr>
          <p:spPr>
            <a:xfrm>
              <a:off x="4673616" y="1063181"/>
              <a:ext cx="702436" cy="215444"/>
            </a:xfrm>
            <a:prstGeom prst="rect">
              <a:avLst/>
            </a:prstGeom>
            <a:noFill/>
          </p:spPr>
          <p:txBody>
            <a:bodyPr wrap="none" rtlCol="0">
              <a:spAutoFit/>
            </a:bodyPr>
            <a:lstStyle/>
            <a:p>
              <a:pPr algn="ctr"/>
              <a:r>
                <a:rPr lang="en-US" altLang="zh-CN" sz="800" dirty="0"/>
                <a:t>100 Mbit/s</a:t>
              </a:r>
              <a:endParaRPr lang="zh-CN" altLang="en-US" sz="800" dirty="0"/>
            </a:p>
          </p:txBody>
        </p:sp>
        <p:sp>
          <p:nvSpPr>
            <p:cNvPr id="15" name="Text Box 37">
              <a:extLst>
                <a:ext uri="{FF2B5EF4-FFF2-40B4-BE49-F238E27FC236}">
                  <a16:creationId xmlns:a16="http://schemas.microsoft.com/office/drawing/2014/main" id="{C7680AB4-E636-339B-3192-48DA89DB8145}"/>
                </a:ext>
              </a:extLst>
            </p:cNvPr>
            <p:cNvSpPr txBox="1">
              <a:spLocks noChangeArrowheads="1"/>
            </p:cNvSpPr>
            <p:nvPr/>
          </p:nvSpPr>
          <p:spPr bwMode="auto">
            <a:xfrm>
              <a:off x="6189286" y="1402370"/>
              <a:ext cx="567783" cy="215444"/>
            </a:xfrm>
            <a:prstGeom prst="rect">
              <a:avLst/>
            </a:prstGeom>
            <a:noFill/>
          </p:spPr>
          <p:txBody>
            <a:bodyPr wrap="none" rtlCol="0">
              <a:spAutoFit/>
            </a:bodyPr>
            <a:lstStyle>
              <a:defPPr>
                <a:defRPr lang="zh-CN"/>
              </a:defPPr>
              <a:lvl1pPr algn="ctr">
                <a:defRPr sz="1400"/>
              </a:lvl1pPr>
            </a:lstStyle>
            <a:p>
              <a:r>
                <a:rPr lang="en-US" altLang="zh-CN" sz="800" dirty="0"/>
                <a:t>Node</a:t>
              </a:r>
              <a:r>
                <a:rPr lang="zh-CN" altLang="en-US" sz="800" dirty="0"/>
                <a:t> </a:t>
              </a:r>
              <a:r>
                <a:rPr lang="en-US" altLang="zh-CN" sz="800" dirty="0"/>
                <a:t>B</a:t>
              </a:r>
            </a:p>
          </p:txBody>
        </p:sp>
        <p:sp>
          <p:nvSpPr>
            <p:cNvPr id="17" name="Text Box 38">
              <a:extLst>
                <a:ext uri="{FF2B5EF4-FFF2-40B4-BE49-F238E27FC236}">
                  <a16:creationId xmlns:a16="http://schemas.microsoft.com/office/drawing/2014/main" id="{421A0ED8-4627-8FDA-89D5-9494FCE5C308}"/>
                </a:ext>
              </a:extLst>
            </p:cNvPr>
            <p:cNvSpPr txBox="1">
              <a:spLocks noChangeArrowheads="1"/>
            </p:cNvSpPr>
            <p:nvPr/>
          </p:nvSpPr>
          <p:spPr bwMode="auto">
            <a:xfrm>
              <a:off x="3363862" y="1402370"/>
              <a:ext cx="564578" cy="215444"/>
            </a:xfrm>
            <a:prstGeom prst="rect">
              <a:avLst/>
            </a:prstGeom>
            <a:noFill/>
          </p:spPr>
          <p:txBody>
            <a:bodyPr wrap="none" rtlCol="0">
              <a:spAutoFit/>
            </a:bodyPr>
            <a:lstStyle>
              <a:defPPr>
                <a:defRPr lang="zh-CN"/>
              </a:defPPr>
              <a:lvl1pPr algn="ctr">
                <a:defRPr sz="1400"/>
              </a:lvl1pPr>
            </a:lstStyle>
            <a:p>
              <a:r>
                <a:rPr lang="en-US" altLang="zh-CN" sz="800" dirty="0"/>
                <a:t>Node</a:t>
              </a:r>
              <a:r>
                <a:rPr lang="zh-CN" altLang="en-US" sz="800" dirty="0"/>
                <a:t> </a:t>
              </a:r>
              <a:r>
                <a:rPr lang="en-US" altLang="zh-CN" sz="800" dirty="0"/>
                <a:t>A</a:t>
              </a:r>
            </a:p>
          </p:txBody>
        </p:sp>
        <p:sp>
          <p:nvSpPr>
            <p:cNvPr id="18" name="文本框 17">
              <a:extLst>
                <a:ext uri="{FF2B5EF4-FFF2-40B4-BE49-F238E27FC236}">
                  <a16:creationId xmlns:a16="http://schemas.microsoft.com/office/drawing/2014/main" id="{A0DC19FD-29FD-565F-CDE7-D26CD347657D}"/>
                </a:ext>
              </a:extLst>
            </p:cNvPr>
            <p:cNvSpPr txBox="1"/>
            <p:nvPr/>
          </p:nvSpPr>
          <p:spPr>
            <a:xfrm>
              <a:off x="4725714" y="1330024"/>
              <a:ext cx="598241" cy="215444"/>
            </a:xfrm>
            <a:prstGeom prst="rect">
              <a:avLst/>
            </a:prstGeom>
            <a:noFill/>
          </p:spPr>
          <p:txBody>
            <a:bodyPr wrap="none" rtlCol="0">
              <a:spAutoFit/>
            </a:bodyPr>
            <a:lstStyle/>
            <a:p>
              <a:pPr algn="ctr"/>
              <a:r>
                <a:rPr lang="en-US" altLang="zh-CN" sz="800" dirty="0"/>
                <a:t>RTT = 2s</a:t>
              </a:r>
              <a:endParaRPr lang="zh-CN" altLang="en-US" sz="800" dirty="0"/>
            </a:p>
          </p:txBody>
        </p:sp>
      </p:grpSp>
    </p:spTree>
    <p:extLst>
      <p:ext uri="{BB962C8B-B14F-4D97-AF65-F5344CB8AC3E}">
        <p14:creationId xmlns:p14="http://schemas.microsoft.com/office/powerpoint/2010/main" val="1554158169"/>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标题 6">
            <a:extLst>
              <a:ext uri="{FF2B5EF4-FFF2-40B4-BE49-F238E27FC236}">
                <a16:creationId xmlns:a16="http://schemas.microsoft.com/office/drawing/2014/main" id="{49F32125-16EA-0607-A0F3-5C61CF57BD8C}"/>
              </a:ext>
            </a:extLst>
          </p:cNvPr>
          <p:cNvSpPr>
            <a:spLocks noGrp="1"/>
          </p:cNvSpPr>
          <p:nvPr>
            <p:ph type="title"/>
          </p:nvPr>
        </p:nvSpPr>
        <p:spPr>
          <a:xfrm>
            <a:off x="612000" y="144000"/>
            <a:ext cx="7920000" cy="341632"/>
          </a:xfrm>
        </p:spPr>
        <p:txBody>
          <a:bodyPr/>
          <a:lstStyle/>
          <a:p>
            <a:r>
              <a:rPr lang="en-US" altLang="zh-CN" dirty="0"/>
              <a:t>[</a:t>
            </a:r>
            <a:r>
              <a:rPr lang="zh-CN" altLang="en-US" dirty="0"/>
              <a:t>练习</a:t>
            </a:r>
            <a:r>
              <a:rPr lang="en-US" altLang="zh-CN" dirty="0"/>
              <a:t>]</a:t>
            </a:r>
            <a:endParaRPr lang="zh-CN" altLang="en-US" dirty="0"/>
          </a:p>
        </p:txBody>
      </p:sp>
      <p:grpSp>
        <p:nvGrpSpPr>
          <p:cNvPr id="9" name="组合 8"/>
          <p:cNvGrpSpPr/>
          <p:nvPr/>
        </p:nvGrpSpPr>
        <p:grpSpPr>
          <a:xfrm>
            <a:off x="809892" y="2773121"/>
            <a:ext cx="5359807" cy="707886"/>
            <a:chOff x="940526" y="2682598"/>
            <a:chExt cx="5359807" cy="707886"/>
          </a:xfrm>
        </p:grpSpPr>
        <p:sp>
          <p:nvSpPr>
            <p:cNvPr id="4" name="文本框 3"/>
            <p:cNvSpPr txBox="1"/>
            <p:nvPr/>
          </p:nvSpPr>
          <p:spPr>
            <a:xfrm>
              <a:off x="940526" y="2867264"/>
              <a:ext cx="1233030" cy="338554"/>
            </a:xfrm>
            <a:prstGeom prst="rect">
              <a:avLst/>
            </a:prstGeom>
            <a:noFill/>
          </p:spPr>
          <p:txBody>
            <a:bodyPr wrap="none" rtlCol="0">
              <a:spAutoFit/>
            </a:bodyPr>
            <a:lstStyle/>
            <a:p>
              <a:r>
                <a:rPr lang="zh-CN" altLang="en-US" sz="1600" dirty="0">
                  <a:latin typeface="+mj-lt"/>
                  <a:ea typeface="+mj-ea"/>
                </a:rPr>
                <a:t>发送时延 </a:t>
              </a:r>
              <a:r>
                <a:rPr lang="en-US" altLang="zh-CN" sz="1600" dirty="0">
                  <a:latin typeface="+mj-lt"/>
                  <a:ea typeface="+mj-ea"/>
                </a:rPr>
                <a:t>= </a:t>
              </a:r>
              <a:endParaRPr lang="zh-CN" altLang="en-US" sz="1600" dirty="0">
                <a:latin typeface="+mj-lt"/>
                <a:ea typeface="+mj-ea"/>
              </a:endParaRPr>
            </a:p>
          </p:txBody>
        </p:sp>
        <p:sp>
          <p:nvSpPr>
            <p:cNvPr id="13" name="文本框 12"/>
            <p:cNvSpPr txBox="1"/>
            <p:nvPr/>
          </p:nvSpPr>
          <p:spPr>
            <a:xfrm>
              <a:off x="2360014" y="2682598"/>
              <a:ext cx="1005403" cy="338554"/>
            </a:xfrm>
            <a:prstGeom prst="rect">
              <a:avLst/>
            </a:prstGeom>
            <a:noFill/>
          </p:spPr>
          <p:txBody>
            <a:bodyPr wrap="none" rtlCol="0">
              <a:spAutoFit/>
            </a:bodyPr>
            <a:lstStyle/>
            <a:p>
              <a:r>
                <a:rPr lang="zh-CN" altLang="en-US" sz="1600" dirty="0">
                  <a:latin typeface="+mj-lt"/>
                  <a:ea typeface="+mj-ea"/>
                </a:rPr>
                <a:t>数据长度</a:t>
              </a:r>
            </a:p>
          </p:txBody>
        </p:sp>
        <p:sp>
          <p:nvSpPr>
            <p:cNvPr id="14" name="文本框 13"/>
            <p:cNvSpPr txBox="1"/>
            <p:nvPr/>
          </p:nvSpPr>
          <p:spPr>
            <a:xfrm>
              <a:off x="2360014" y="3051930"/>
              <a:ext cx="1005403" cy="338554"/>
            </a:xfrm>
            <a:prstGeom prst="rect">
              <a:avLst/>
            </a:prstGeom>
            <a:noFill/>
          </p:spPr>
          <p:txBody>
            <a:bodyPr wrap="none" rtlCol="0">
              <a:spAutoFit/>
            </a:bodyPr>
            <a:lstStyle/>
            <a:p>
              <a:r>
                <a:rPr lang="zh-CN" altLang="en-US" sz="1600" dirty="0">
                  <a:latin typeface="+mj-lt"/>
                  <a:ea typeface="+mj-ea"/>
                </a:rPr>
                <a:t>发送速率</a:t>
              </a:r>
            </a:p>
          </p:txBody>
        </p:sp>
        <p:cxnSp>
          <p:nvCxnSpPr>
            <p:cNvPr id="6" name="直接连接符 5"/>
            <p:cNvCxnSpPr/>
            <p:nvPr/>
          </p:nvCxnSpPr>
          <p:spPr>
            <a:xfrm>
              <a:off x="2266911" y="3051930"/>
              <a:ext cx="1233930" cy="0"/>
            </a:xfrm>
            <a:prstGeom prst="line">
              <a:avLst/>
            </a:prstGeom>
            <a:ln w="19050"/>
          </p:spPr>
          <p:style>
            <a:lnRef idx="1">
              <a:schemeClr val="dk1"/>
            </a:lnRef>
            <a:fillRef idx="0">
              <a:schemeClr val="dk1"/>
            </a:fillRef>
            <a:effectRef idx="0">
              <a:schemeClr val="dk1"/>
            </a:effectRef>
            <a:fontRef idx="minor">
              <a:schemeClr val="tx1"/>
            </a:fontRef>
          </p:style>
        </p:cxnSp>
        <p:sp>
          <p:nvSpPr>
            <p:cNvPr id="23" name="文本框 22"/>
            <p:cNvSpPr txBox="1"/>
            <p:nvPr/>
          </p:nvSpPr>
          <p:spPr>
            <a:xfrm>
              <a:off x="3468010" y="2867264"/>
              <a:ext cx="303288" cy="338554"/>
            </a:xfrm>
            <a:prstGeom prst="rect">
              <a:avLst/>
            </a:prstGeom>
            <a:noFill/>
          </p:spPr>
          <p:txBody>
            <a:bodyPr wrap="none" rtlCol="0">
              <a:spAutoFit/>
            </a:bodyPr>
            <a:lstStyle/>
            <a:p>
              <a:r>
                <a:rPr lang="en-US" altLang="zh-CN" sz="1600" dirty="0">
                  <a:latin typeface="+mj-lt"/>
                  <a:ea typeface="+mj-ea"/>
                </a:rPr>
                <a:t>=</a:t>
              </a:r>
              <a:endParaRPr lang="zh-CN" altLang="en-US" sz="1600" dirty="0">
                <a:latin typeface="+mj-lt"/>
                <a:ea typeface="+mj-ea"/>
              </a:endParaRPr>
            </a:p>
          </p:txBody>
        </p:sp>
        <p:sp>
          <p:nvSpPr>
            <p:cNvPr id="24" name="文本框 23"/>
            <p:cNvSpPr txBox="1"/>
            <p:nvPr/>
          </p:nvSpPr>
          <p:spPr>
            <a:xfrm>
              <a:off x="3838954" y="2682598"/>
              <a:ext cx="1522726" cy="338554"/>
            </a:xfrm>
            <a:prstGeom prst="rect">
              <a:avLst/>
            </a:prstGeom>
            <a:noFill/>
          </p:spPr>
          <p:txBody>
            <a:bodyPr wrap="square" rtlCol="0">
              <a:spAutoFit/>
            </a:bodyPr>
            <a:lstStyle/>
            <a:p>
              <a:pPr algn="ctr"/>
              <a:r>
                <a:rPr lang="en-US" altLang="zh-CN" sz="1600" dirty="0">
                  <a:latin typeface="+mj-lt"/>
                  <a:ea typeface="+mj-ea"/>
                </a:rPr>
                <a:t>100×2</a:t>
              </a:r>
              <a:r>
                <a:rPr lang="en-US" altLang="zh-CN" sz="1600" baseline="30000" dirty="0">
                  <a:latin typeface="+mj-lt"/>
                  <a:ea typeface="+mj-ea"/>
                </a:rPr>
                <a:t>20</a:t>
              </a:r>
              <a:r>
                <a:rPr lang="en-US" altLang="zh-CN" sz="1600" dirty="0">
                  <a:latin typeface="+mj-lt"/>
                  <a:ea typeface="+mj-ea"/>
                </a:rPr>
                <a:t>×8</a:t>
              </a:r>
              <a:endParaRPr lang="zh-CN" altLang="en-US" sz="1600" dirty="0">
                <a:latin typeface="+mj-lt"/>
                <a:ea typeface="+mj-ea"/>
              </a:endParaRPr>
            </a:p>
          </p:txBody>
        </p:sp>
        <p:sp>
          <p:nvSpPr>
            <p:cNvPr id="25" name="文本框 24"/>
            <p:cNvSpPr txBox="1"/>
            <p:nvPr/>
          </p:nvSpPr>
          <p:spPr>
            <a:xfrm>
              <a:off x="3871785" y="3051930"/>
              <a:ext cx="1489895" cy="338554"/>
            </a:xfrm>
            <a:prstGeom prst="rect">
              <a:avLst/>
            </a:prstGeom>
            <a:noFill/>
          </p:spPr>
          <p:txBody>
            <a:bodyPr wrap="square" rtlCol="0">
              <a:spAutoFit/>
            </a:bodyPr>
            <a:lstStyle/>
            <a:p>
              <a:pPr algn="ctr"/>
              <a:r>
                <a:rPr lang="en-US" altLang="zh-CN" sz="1600" dirty="0">
                  <a:latin typeface="+mj-lt"/>
                  <a:ea typeface="+mj-ea"/>
                </a:rPr>
                <a:t>100×10</a:t>
              </a:r>
              <a:r>
                <a:rPr lang="en-US" altLang="zh-CN" sz="1600" baseline="30000" dirty="0">
                  <a:latin typeface="+mj-lt"/>
                  <a:ea typeface="+mj-ea"/>
                </a:rPr>
                <a:t>6</a:t>
              </a:r>
              <a:endParaRPr lang="zh-CN" altLang="en-US" sz="1600" baseline="30000" dirty="0">
                <a:latin typeface="+mj-lt"/>
                <a:ea typeface="+mj-ea"/>
              </a:endParaRPr>
            </a:p>
          </p:txBody>
        </p:sp>
        <p:cxnSp>
          <p:nvCxnSpPr>
            <p:cNvPr id="26" name="直接连接符 25"/>
            <p:cNvCxnSpPr/>
            <p:nvPr/>
          </p:nvCxnSpPr>
          <p:spPr>
            <a:xfrm>
              <a:off x="3838953" y="3051930"/>
              <a:ext cx="1532921" cy="0"/>
            </a:xfrm>
            <a:prstGeom prst="line">
              <a:avLst/>
            </a:prstGeom>
            <a:ln w="19050"/>
          </p:spPr>
          <p:style>
            <a:lnRef idx="1">
              <a:schemeClr val="dk1"/>
            </a:lnRef>
            <a:fillRef idx="0">
              <a:schemeClr val="dk1"/>
            </a:fillRef>
            <a:effectRef idx="0">
              <a:schemeClr val="dk1"/>
            </a:effectRef>
            <a:fontRef idx="minor">
              <a:schemeClr val="tx1"/>
            </a:fontRef>
          </p:style>
        </p:cxnSp>
        <p:sp>
          <p:nvSpPr>
            <p:cNvPr id="27" name="文本框 26"/>
            <p:cNvSpPr txBox="1"/>
            <p:nvPr/>
          </p:nvSpPr>
          <p:spPr>
            <a:xfrm>
              <a:off x="5371874" y="2867264"/>
              <a:ext cx="928459" cy="338554"/>
            </a:xfrm>
            <a:prstGeom prst="rect">
              <a:avLst/>
            </a:prstGeom>
            <a:noFill/>
          </p:spPr>
          <p:txBody>
            <a:bodyPr wrap="none" rtlCol="0">
              <a:spAutoFit/>
            </a:bodyPr>
            <a:lstStyle/>
            <a:p>
              <a:r>
                <a:rPr lang="en-US" altLang="zh-CN" sz="1600" dirty="0">
                  <a:latin typeface="+mj-lt"/>
                  <a:ea typeface="+mj-ea"/>
                </a:rPr>
                <a:t>≈ 8.39 s</a:t>
              </a:r>
              <a:endParaRPr lang="zh-CN" altLang="en-US" sz="1600" dirty="0">
                <a:latin typeface="+mj-lt"/>
                <a:ea typeface="+mj-ea"/>
              </a:endParaRPr>
            </a:p>
          </p:txBody>
        </p:sp>
      </p:grpSp>
      <p:grpSp>
        <p:nvGrpSpPr>
          <p:cNvPr id="11" name="组合 10"/>
          <p:cNvGrpSpPr/>
          <p:nvPr/>
        </p:nvGrpSpPr>
        <p:grpSpPr>
          <a:xfrm>
            <a:off x="809892" y="3532535"/>
            <a:ext cx="6997524" cy="707886"/>
            <a:chOff x="940526" y="3549953"/>
            <a:chExt cx="6997524" cy="707886"/>
          </a:xfrm>
        </p:grpSpPr>
        <p:sp>
          <p:nvSpPr>
            <p:cNvPr id="31" name="文本框 30"/>
            <p:cNvSpPr txBox="1"/>
            <p:nvPr/>
          </p:nvSpPr>
          <p:spPr>
            <a:xfrm>
              <a:off x="940526" y="3734619"/>
              <a:ext cx="1438214" cy="338554"/>
            </a:xfrm>
            <a:prstGeom prst="rect">
              <a:avLst/>
            </a:prstGeom>
            <a:noFill/>
          </p:spPr>
          <p:txBody>
            <a:bodyPr wrap="none" rtlCol="0">
              <a:spAutoFit/>
            </a:bodyPr>
            <a:lstStyle/>
            <a:p>
              <a:r>
                <a:rPr lang="zh-CN" altLang="en-US" sz="1600" dirty="0">
                  <a:latin typeface="+mj-lt"/>
                  <a:ea typeface="+mj-ea"/>
                </a:rPr>
                <a:t>有效数据率 </a:t>
              </a:r>
              <a:r>
                <a:rPr lang="en-US" altLang="zh-CN" sz="1600" dirty="0">
                  <a:latin typeface="+mj-lt"/>
                  <a:ea typeface="+mj-ea"/>
                </a:rPr>
                <a:t>= </a:t>
              </a:r>
              <a:endParaRPr lang="zh-CN" altLang="en-US" sz="1600" dirty="0">
                <a:latin typeface="+mj-lt"/>
                <a:ea typeface="+mj-ea"/>
              </a:endParaRPr>
            </a:p>
          </p:txBody>
        </p:sp>
        <p:sp>
          <p:nvSpPr>
            <p:cNvPr id="32" name="文本框 31"/>
            <p:cNvSpPr txBox="1"/>
            <p:nvPr/>
          </p:nvSpPr>
          <p:spPr>
            <a:xfrm>
              <a:off x="2560318" y="3549953"/>
              <a:ext cx="1811385" cy="338554"/>
            </a:xfrm>
            <a:prstGeom prst="rect">
              <a:avLst/>
            </a:prstGeom>
            <a:noFill/>
          </p:spPr>
          <p:txBody>
            <a:bodyPr wrap="square" rtlCol="0">
              <a:spAutoFit/>
            </a:bodyPr>
            <a:lstStyle/>
            <a:p>
              <a:pPr algn="ctr"/>
              <a:r>
                <a:rPr lang="zh-CN" altLang="en-US" sz="1600" dirty="0">
                  <a:latin typeface="+mj-lt"/>
                  <a:ea typeface="+mj-ea"/>
                </a:rPr>
                <a:t>数据长度</a:t>
              </a:r>
            </a:p>
          </p:txBody>
        </p:sp>
        <p:sp>
          <p:nvSpPr>
            <p:cNvPr id="33" name="文本框 32"/>
            <p:cNvSpPr txBox="1"/>
            <p:nvPr/>
          </p:nvSpPr>
          <p:spPr>
            <a:xfrm>
              <a:off x="2560319" y="3919285"/>
              <a:ext cx="1616148" cy="338554"/>
            </a:xfrm>
            <a:prstGeom prst="rect">
              <a:avLst/>
            </a:prstGeom>
            <a:noFill/>
          </p:spPr>
          <p:txBody>
            <a:bodyPr wrap="none" rtlCol="0">
              <a:spAutoFit/>
            </a:bodyPr>
            <a:lstStyle/>
            <a:p>
              <a:r>
                <a:rPr lang="zh-CN" altLang="en-US" sz="1600" dirty="0">
                  <a:latin typeface="+mj-lt"/>
                  <a:ea typeface="+mj-ea"/>
                </a:rPr>
                <a:t>发送时间 </a:t>
              </a:r>
              <a:r>
                <a:rPr lang="en-US" altLang="zh-CN" sz="1600" dirty="0">
                  <a:latin typeface="+mj-lt"/>
                  <a:ea typeface="+mj-ea"/>
                </a:rPr>
                <a:t>+ RTT</a:t>
              </a:r>
              <a:endParaRPr lang="zh-CN" altLang="en-US" sz="1600" dirty="0">
                <a:latin typeface="+mj-lt"/>
                <a:ea typeface="+mj-ea"/>
              </a:endParaRPr>
            </a:p>
          </p:txBody>
        </p:sp>
        <p:cxnSp>
          <p:nvCxnSpPr>
            <p:cNvPr id="34" name="直接连接符 33"/>
            <p:cNvCxnSpPr/>
            <p:nvPr/>
          </p:nvCxnSpPr>
          <p:spPr>
            <a:xfrm>
              <a:off x="2467216" y="3919285"/>
              <a:ext cx="1965539" cy="0"/>
            </a:xfrm>
            <a:prstGeom prst="line">
              <a:avLst/>
            </a:prstGeom>
            <a:ln w="19050"/>
          </p:spPr>
          <p:style>
            <a:lnRef idx="1">
              <a:schemeClr val="dk1"/>
            </a:lnRef>
            <a:fillRef idx="0">
              <a:schemeClr val="dk1"/>
            </a:fillRef>
            <a:effectRef idx="0">
              <a:schemeClr val="dk1"/>
            </a:effectRef>
            <a:fontRef idx="minor">
              <a:schemeClr val="tx1"/>
            </a:fontRef>
          </p:style>
        </p:cxnSp>
        <p:sp>
          <p:nvSpPr>
            <p:cNvPr id="35" name="文本框 34"/>
            <p:cNvSpPr txBox="1"/>
            <p:nvPr/>
          </p:nvSpPr>
          <p:spPr>
            <a:xfrm>
              <a:off x="4547882" y="3734619"/>
              <a:ext cx="303288" cy="338554"/>
            </a:xfrm>
            <a:prstGeom prst="rect">
              <a:avLst/>
            </a:prstGeom>
            <a:noFill/>
          </p:spPr>
          <p:txBody>
            <a:bodyPr wrap="none" rtlCol="0">
              <a:spAutoFit/>
            </a:bodyPr>
            <a:lstStyle/>
            <a:p>
              <a:r>
                <a:rPr lang="en-US" altLang="zh-CN" sz="1600" dirty="0">
                  <a:latin typeface="+mj-lt"/>
                  <a:ea typeface="+mj-ea"/>
                </a:rPr>
                <a:t>=</a:t>
              </a:r>
              <a:endParaRPr lang="zh-CN" altLang="en-US" sz="1600" dirty="0">
                <a:latin typeface="+mj-lt"/>
                <a:ea typeface="+mj-ea"/>
              </a:endParaRPr>
            </a:p>
          </p:txBody>
        </p:sp>
        <p:sp>
          <p:nvSpPr>
            <p:cNvPr id="36" name="文本框 35"/>
            <p:cNvSpPr txBox="1"/>
            <p:nvPr/>
          </p:nvSpPr>
          <p:spPr>
            <a:xfrm>
              <a:off x="4918826" y="3549953"/>
              <a:ext cx="1522726" cy="338554"/>
            </a:xfrm>
            <a:prstGeom prst="rect">
              <a:avLst/>
            </a:prstGeom>
            <a:noFill/>
          </p:spPr>
          <p:txBody>
            <a:bodyPr wrap="square" rtlCol="0">
              <a:spAutoFit/>
            </a:bodyPr>
            <a:lstStyle/>
            <a:p>
              <a:pPr algn="ctr"/>
              <a:r>
                <a:rPr lang="en-US" altLang="zh-CN" sz="1600" dirty="0">
                  <a:latin typeface="+mj-lt"/>
                  <a:ea typeface="+mj-ea"/>
                </a:rPr>
                <a:t>100×2</a:t>
              </a:r>
              <a:r>
                <a:rPr lang="en-US" altLang="zh-CN" sz="1600" baseline="30000" dirty="0">
                  <a:latin typeface="+mj-lt"/>
                  <a:ea typeface="+mj-ea"/>
                </a:rPr>
                <a:t>20</a:t>
              </a:r>
              <a:r>
                <a:rPr lang="en-US" altLang="zh-CN" sz="1600" dirty="0">
                  <a:latin typeface="+mj-lt"/>
                  <a:ea typeface="+mj-ea"/>
                </a:rPr>
                <a:t>×8</a:t>
              </a:r>
              <a:endParaRPr lang="zh-CN" altLang="en-US" sz="1600" dirty="0">
                <a:latin typeface="+mj-lt"/>
                <a:ea typeface="+mj-ea"/>
              </a:endParaRPr>
            </a:p>
          </p:txBody>
        </p:sp>
        <p:sp>
          <p:nvSpPr>
            <p:cNvPr id="37" name="文本框 36"/>
            <p:cNvSpPr txBox="1"/>
            <p:nvPr/>
          </p:nvSpPr>
          <p:spPr>
            <a:xfrm>
              <a:off x="4951657" y="3919285"/>
              <a:ext cx="1489895" cy="338554"/>
            </a:xfrm>
            <a:prstGeom prst="rect">
              <a:avLst/>
            </a:prstGeom>
            <a:noFill/>
          </p:spPr>
          <p:txBody>
            <a:bodyPr wrap="square" rtlCol="0">
              <a:spAutoFit/>
            </a:bodyPr>
            <a:lstStyle/>
            <a:p>
              <a:pPr algn="ctr"/>
              <a:r>
                <a:rPr lang="en-US" altLang="zh-CN" sz="1600" dirty="0">
                  <a:latin typeface="+mj-lt"/>
                  <a:ea typeface="+mj-ea"/>
                </a:rPr>
                <a:t>8.39 + 2</a:t>
              </a:r>
              <a:endParaRPr lang="zh-CN" altLang="en-US" sz="1600" baseline="30000" dirty="0">
                <a:latin typeface="+mj-lt"/>
                <a:ea typeface="+mj-ea"/>
              </a:endParaRPr>
            </a:p>
          </p:txBody>
        </p:sp>
        <p:cxnSp>
          <p:nvCxnSpPr>
            <p:cNvPr id="38" name="直接连接符 37"/>
            <p:cNvCxnSpPr/>
            <p:nvPr/>
          </p:nvCxnSpPr>
          <p:spPr>
            <a:xfrm>
              <a:off x="4918825" y="3919285"/>
              <a:ext cx="1532921" cy="0"/>
            </a:xfrm>
            <a:prstGeom prst="line">
              <a:avLst/>
            </a:prstGeom>
            <a:ln w="19050"/>
          </p:spPr>
          <p:style>
            <a:lnRef idx="1">
              <a:schemeClr val="dk1"/>
            </a:lnRef>
            <a:fillRef idx="0">
              <a:schemeClr val="dk1"/>
            </a:fillRef>
            <a:effectRef idx="0">
              <a:schemeClr val="dk1"/>
            </a:effectRef>
            <a:fontRef idx="minor">
              <a:schemeClr val="tx1"/>
            </a:fontRef>
          </p:style>
        </p:cxnSp>
        <p:sp>
          <p:nvSpPr>
            <p:cNvPr id="39" name="文本框 38"/>
            <p:cNvSpPr txBox="1"/>
            <p:nvPr/>
          </p:nvSpPr>
          <p:spPr>
            <a:xfrm>
              <a:off x="6451746" y="3734619"/>
              <a:ext cx="1486304" cy="338554"/>
            </a:xfrm>
            <a:prstGeom prst="rect">
              <a:avLst/>
            </a:prstGeom>
            <a:noFill/>
          </p:spPr>
          <p:txBody>
            <a:bodyPr wrap="none" rtlCol="0">
              <a:spAutoFit/>
            </a:bodyPr>
            <a:lstStyle/>
            <a:p>
              <a:r>
                <a:rPr lang="en-US" altLang="zh-CN" sz="1600" dirty="0">
                  <a:latin typeface="+mj-lt"/>
                  <a:ea typeface="+mj-ea"/>
                </a:rPr>
                <a:t>≈ 80.7 Mbit/s</a:t>
              </a:r>
              <a:endParaRPr lang="zh-CN" altLang="en-US" sz="1600" dirty="0">
                <a:latin typeface="+mj-lt"/>
                <a:ea typeface="+mj-ea"/>
              </a:endParaRPr>
            </a:p>
          </p:txBody>
        </p:sp>
      </p:grpSp>
      <p:grpSp>
        <p:nvGrpSpPr>
          <p:cNvPr id="2" name="组合 1">
            <a:extLst>
              <a:ext uri="{FF2B5EF4-FFF2-40B4-BE49-F238E27FC236}">
                <a16:creationId xmlns:a16="http://schemas.microsoft.com/office/drawing/2014/main" id="{73299EB7-584D-D30F-729F-D956CE137120}"/>
              </a:ext>
            </a:extLst>
          </p:cNvPr>
          <p:cNvGrpSpPr/>
          <p:nvPr/>
        </p:nvGrpSpPr>
        <p:grpSpPr>
          <a:xfrm>
            <a:off x="2875397" y="1063181"/>
            <a:ext cx="3393207" cy="554633"/>
            <a:chOff x="3363862" y="1063181"/>
            <a:chExt cx="3393207" cy="554633"/>
          </a:xfrm>
        </p:grpSpPr>
        <p:sp>
          <p:nvSpPr>
            <p:cNvPr id="5" name="椭圆 4">
              <a:extLst>
                <a:ext uri="{FF2B5EF4-FFF2-40B4-BE49-F238E27FC236}">
                  <a16:creationId xmlns:a16="http://schemas.microsoft.com/office/drawing/2014/main" id="{FDA9386C-1AAA-9EF9-DC6C-3CE11E754275}"/>
                </a:ext>
              </a:extLst>
            </p:cNvPr>
            <p:cNvSpPr/>
            <p:nvPr/>
          </p:nvSpPr>
          <p:spPr>
            <a:xfrm>
              <a:off x="3511106" y="1216646"/>
              <a:ext cx="216000" cy="216000"/>
            </a:xfrm>
            <a:prstGeom prst="ellipse">
              <a:avLst/>
            </a:prstGeom>
            <a:gradFill flip="none" rotWithShape="1">
              <a:gsLst>
                <a:gs pos="2000">
                  <a:srgbClr val="CDF3CD"/>
                </a:gs>
                <a:gs pos="100000">
                  <a:srgbClr val="339933"/>
                </a:gs>
              </a:gsLst>
              <a:path path="circle">
                <a:fillToRect l="50000" t="50000" r="50000" b="50000"/>
              </a:path>
              <a:tileRect/>
            </a:gradFill>
            <a:ln w="9525">
              <a:noFill/>
              <a:round/>
              <a:headEnd/>
              <a:tailEnd/>
            </a:ln>
            <a:effectLst/>
          </p:spPr>
          <p:txBody>
            <a:bodyPr wrap="none" anchor="ctr"/>
            <a:lstStyle/>
            <a:p>
              <a:endParaRPr lang="zh-CN" altLang="en-US" sz="1200" b="1">
                <a:solidFill>
                  <a:schemeClr val="tx1"/>
                </a:solidFill>
                <a:ea typeface="微软雅黑 Light" panose="020B0502040204020203" pitchFamily="34" charset="-122"/>
              </a:endParaRPr>
            </a:p>
          </p:txBody>
        </p:sp>
        <p:sp>
          <p:nvSpPr>
            <p:cNvPr id="8" name="椭圆 7">
              <a:extLst>
                <a:ext uri="{FF2B5EF4-FFF2-40B4-BE49-F238E27FC236}">
                  <a16:creationId xmlns:a16="http://schemas.microsoft.com/office/drawing/2014/main" id="{C54C1B5F-319D-5210-6212-2DF5BE74CBFB}"/>
                </a:ext>
              </a:extLst>
            </p:cNvPr>
            <p:cNvSpPr/>
            <p:nvPr/>
          </p:nvSpPr>
          <p:spPr>
            <a:xfrm>
              <a:off x="6322563" y="1216646"/>
              <a:ext cx="216000" cy="216000"/>
            </a:xfrm>
            <a:prstGeom prst="ellipse">
              <a:avLst/>
            </a:prstGeom>
            <a:gradFill rotWithShape="1">
              <a:gsLst>
                <a:gs pos="0">
                  <a:srgbClr val="85D1F7"/>
                </a:gs>
                <a:gs pos="100000">
                  <a:srgbClr val="0070C0"/>
                </a:gs>
              </a:gsLst>
              <a:path path="shape">
                <a:fillToRect l="50000" t="50000" r="50000" b="50000"/>
              </a:path>
            </a:gradFill>
            <a:ln w="9525">
              <a:noFill/>
              <a:round/>
              <a:headEnd/>
              <a:tailEnd/>
            </a:ln>
          </p:spPr>
          <p:txBody>
            <a:bodyPr wrap="none" anchor="ctr"/>
            <a:lstStyle/>
            <a:p>
              <a:endParaRPr lang="zh-CN" altLang="en-US" sz="1200" b="1">
                <a:solidFill>
                  <a:schemeClr val="tx1"/>
                </a:solidFill>
                <a:latin typeface="Times New Roman" panose="02020603050405020304" pitchFamily="18" charset="0"/>
                <a:ea typeface="微软雅黑 Light" panose="020B0502040204020203" pitchFamily="34" charset="-122"/>
              </a:endParaRPr>
            </a:p>
          </p:txBody>
        </p:sp>
        <p:cxnSp>
          <p:nvCxnSpPr>
            <p:cNvPr id="10" name="直接连接符 9">
              <a:extLst>
                <a:ext uri="{FF2B5EF4-FFF2-40B4-BE49-F238E27FC236}">
                  <a16:creationId xmlns:a16="http://schemas.microsoft.com/office/drawing/2014/main" id="{939E7D49-D810-C96E-0CD8-63B1C50563D9}"/>
                </a:ext>
              </a:extLst>
            </p:cNvPr>
            <p:cNvCxnSpPr>
              <a:cxnSpLocks/>
            </p:cNvCxnSpPr>
            <p:nvPr/>
          </p:nvCxnSpPr>
          <p:spPr>
            <a:xfrm>
              <a:off x="3727106" y="1324646"/>
              <a:ext cx="2595457"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12" name="文本框 11">
              <a:extLst>
                <a:ext uri="{FF2B5EF4-FFF2-40B4-BE49-F238E27FC236}">
                  <a16:creationId xmlns:a16="http://schemas.microsoft.com/office/drawing/2014/main" id="{5D0B97A0-A899-1D58-5373-7C7CA4629152}"/>
                </a:ext>
              </a:extLst>
            </p:cNvPr>
            <p:cNvSpPr txBox="1"/>
            <p:nvPr/>
          </p:nvSpPr>
          <p:spPr>
            <a:xfrm>
              <a:off x="4673616" y="1063181"/>
              <a:ext cx="702436" cy="215444"/>
            </a:xfrm>
            <a:prstGeom prst="rect">
              <a:avLst/>
            </a:prstGeom>
            <a:noFill/>
          </p:spPr>
          <p:txBody>
            <a:bodyPr wrap="none" rtlCol="0">
              <a:spAutoFit/>
            </a:bodyPr>
            <a:lstStyle/>
            <a:p>
              <a:pPr algn="ctr"/>
              <a:r>
                <a:rPr lang="en-US" altLang="zh-CN" sz="800" dirty="0"/>
                <a:t>100 Mbit/s</a:t>
              </a:r>
              <a:endParaRPr lang="zh-CN" altLang="en-US" sz="800" dirty="0"/>
            </a:p>
          </p:txBody>
        </p:sp>
        <p:sp>
          <p:nvSpPr>
            <p:cNvPr id="15" name="Text Box 37">
              <a:extLst>
                <a:ext uri="{FF2B5EF4-FFF2-40B4-BE49-F238E27FC236}">
                  <a16:creationId xmlns:a16="http://schemas.microsoft.com/office/drawing/2014/main" id="{BE01632F-2722-AFAD-1FD4-A2493CEBBB94}"/>
                </a:ext>
              </a:extLst>
            </p:cNvPr>
            <p:cNvSpPr txBox="1">
              <a:spLocks noChangeArrowheads="1"/>
            </p:cNvSpPr>
            <p:nvPr/>
          </p:nvSpPr>
          <p:spPr bwMode="auto">
            <a:xfrm>
              <a:off x="6189286" y="1402370"/>
              <a:ext cx="567783" cy="215444"/>
            </a:xfrm>
            <a:prstGeom prst="rect">
              <a:avLst/>
            </a:prstGeom>
            <a:noFill/>
          </p:spPr>
          <p:txBody>
            <a:bodyPr wrap="none" rtlCol="0">
              <a:spAutoFit/>
            </a:bodyPr>
            <a:lstStyle>
              <a:defPPr>
                <a:defRPr lang="zh-CN"/>
              </a:defPPr>
              <a:lvl1pPr algn="ctr">
                <a:defRPr sz="1400"/>
              </a:lvl1pPr>
            </a:lstStyle>
            <a:p>
              <a:r>
                <a:rPr lang="en-US" altLang="zh-CN" sz="800" dirty="0"/>
                <a:t>Node</a:t>
              </a:r>
              <a:r>
                <a:rPr lang="zh-CN" altLang="en-US" sz="800" dirty="0"/>
                <a:t> </a:t>
              </a:r>
              <a:r>
                <a:rPr lang="en-US" altLang="zh-CN" sz="800" dirty="0"/>
                <a:t>B</a:t>
              </a:r>
            </a:p>
          </p:txBody>
        </p:sp>
        <p:sp>
          <p:nvSpPr>
            <p:cNvPr id="16" name="Text Box 38">
              <a:extLst>
                <a:ext uri="{FF2B5EF4-FFF2-40B4-BE49-F238E27FC236}">
                  <a16:creationId xmlns:a16="http://schemas.microsoft.com/office/drawing/2014/main" id="{C4AB53D7-50A7-2321-178D-8842B173A857}"/>
                </a:ext>
              </a:extLst>
            </p:cNvPr>
            <p:cNvSpPr txBox="1">
              <a:spLocks noChangeArrowheads="1"/>
            </p:cNvSpPr>
            <p:nvPr/>
          </p:nvSpPr>
          <p:spPr bwMode="auto">
            <a:xfrm>
              <a:off x="3363862" y="1402370"/>
              <a:ext cx="564578" cy="215444"/>
            </a:xfrm>
            <a:prstGeom prst="rect">
              <a:avLst/>
            </a:prstGeom>
            <a:noFill/>
          </p:spPr>
          <p:txBody>
            <a:bodyPr wrap="none" rtlCol="0">
              <a:spAutoFit/>
            </a:bodyPr>
            <a:lstStyle>
              <a:defPPr>
                <a:defRPr lang="zh-CN"/>
              </a:defPPr>
              <a:lvl1pPr algn="ctr">
                <a:defRPr sz="1400"/>
              </a:lvl1pPr>
            </a:lstStyle>
            <a:p>
              <a:r>
                <a:rPr lang="en-US" altLang="zh-CN" sz="800" dirty="0"/>
                <a:t>Node</a:t>
              </a:r>
              <a:r>
                <a:rPr lang="zh-CN" altLang="en-US" sz="800" dirty="0"/>
                <a:t> </a:t>
              </a:r>
              <a:r>
                <a:rPr lang="en-US" altLang="zh-CN" sz="800" dirty="0"/>
                <a:t>A</a:t>
              </a:r>
            </a:p>
          </p:txBody>
        </p:sp>
        <p:sp>
          <p:nvSpPr>
            <p:cNvPr id="17" name="文本框 16">
              <a:extLst>
                <a:ext uri="{FF2B5EF4-FFF2-40B4-BE49-F238E27FC236}">
                  <a16:creationId xmlns:a16="http://schemas.microsoft.com/office/drawing/2014/main" id="{AE56C7F7-4624-00E2-54EA-14A2037A792D}"/>
                </a:ext>
              </a:extLst>
            </p:cNvPr>
            <p:cNvSpPr txBox="1"/>
            <p:nvPr/>
          </p:nvSpPr>
          <p:spPr>
            <a:xfrm>
              <a:off x="4725714" y="1330024"/>
              <a:ext cx="598241" cy="215444"/>
            </a:xfrm>
            <a:prstGeom prst="rect">
              <a:avLst/>
            </a:prstGeom>
            <a:noFill/>
          </p:spPr>
          <p:txBody>
            <a:bodyPr wrap="none" rtlCol="0">
              <a:spAutoFit/>
            </a:bodyPr>
            <a:lstStyle/>
            <a:p>
              <a:pPr algn="ctr"/>
              <a:r>
                <a:rPr lang="en-US" altLang="zh-CN" sz="800" dirty="0"/>
                <a:t>RTT = 2s</a:t>
              </a:r>
              <a:endParaRPr lang="zh-CN" altLang="en-US" sz="800" dirty="0"/>
            </a:p>
          </p:txBody>
        </p:sp>
      </p:grpSp>
      <p:sp>
        <p:nvSpPr>
          <p:cNvPr id="19" name="文本框 18">
            <a:extLst>
              <a:ext uri="{FF2B5EF4-FFF2-40B4-BE49-F238E27FC236}">
                <a16:creationId xmlns:a16="http://schemas.microsoft.com/office/drawing/2014/main" id="{47B275F2-E2D4-4840-639F-6A662CB85F89}"/>
              </a:ext>
            </a:extLst>
          </p:cNvPr>
          <p:cNvSpPr txBox="1"/>
          <p:nvPr/>
        </p:nvSpPr>
        <p:spPr>
          <a:xfrm>
            <a:off x="809892" y="2436801"/>
            <a:ext cx="5929828" cy="338554"/>
          </a:xfrm>
          <a:prstGeom prst="rect">
            <a:avLst/>
          </a:prstGeom>
          <a:noFill/>
        </p:spPr>
        <p:txBody>
          <a:bodyPr wrap="none" rtlCol="0">
            <a:spAutoFit/>
          </a:bodyPr>
          <a:lstStyle/>
          <a:p>
            <a:r>
              <a:rPr lang="zh-CN" altLang="en-US" sz="1600" dirty="0">
                <a:latin typeface="+mj-lt"/>
                <a:ea typeface="+mj-ea"/>
              </a:rPr>
              <a:t>答：有效速率消耗的时间包括实际的发送时间和等待发送的时间</a:t>
            </a:r>
          </a:p>
        </p:txBody>
      </p:sp>
    </p:spTree>
    <p:extLst>
      <p:ext uri="{BB962C8B-B14F-4D97-AF65-F5344CB8AC3E}">
        <p14:creationId xmlns:p14="http://schemas.microsoft.com/office/powerpoint/2010/main" val="1699032360"/>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标题 7">
            <a:extLst>
              <a:ext uri="{FF2B5EF4-FFF2-40B4-BE49-F238E27FC236}">
                <a16:creationId xmlns:a16="http://schemas.microsoft.com/office/drawing/2014/main" id="{4D3D6FCA-E0CD-CE4D-2993-B6B1DD38772F}"/>
              </a:ext>
            </a:extLst>
          </p:cNvPr>
          <p:cNvSpPr>
            <a:spLocks noGrp="1"/>
          </p:cNvSpPr>
          <p:nvPr>
            <p:ph type="title"/>
          </p:nvPr>
        </p:nvSpPr>
        <p:spPr>
          <a:xfrm>
            <a:off x="612000" y="144000"/>
            <a:ext cx="7920000" cy="341632"/>
          </a:xfrm>
        </p:spPr>
        <p:txBody>
          <a:bodyPr/>
          <a:lstStyle/>
          <a:p>
            <a:r>
              <a:rPr lang="en-US" altLang="zh-CN" dirty="0"/>
              <a:t>6. </a:t>
            </a:r>
            <a:r>
              <a:rPr lang="zh-CN" altLang="en-US" dirty="0"/>
              <a:t>往返时间 </a:t>
            </a:r>
            <a:r>
              <a:rPr lang="en-US" altLang="zh-CN" dirty="0"/>
              <a:t>RTT</a:t>
            </a:r>
            <a:endParaRPr lang="zh-CN" altLang="en-US" dirty="0"/>
          </a:p>
        </p:txBody>
      </p:sp>
      <p:sp>
        <p:nvSpPr>
          <p:cNvPr id="3" name="内容占位符 2"/>
          <p:cNvSpPr>
            <a:spLocks noGrp="1"/>
          </p:cNvSpPr>
          <p:nvPr>
            <p:ph sz="quarter" idx="10"/>
          </p:nvPr>
        </p:nvSpPr>
        <p:spPr>
          <a:xfrm>
            <a:off x="612000" y="899999"/>
            <a:ext cx="7920000" cy="3780000"/>
          </a:xfrm>
        </p:spPr>
        <p:txBody>
          <a:bodyPr/>
          <a:lstStyle/>
          <a:p>
            <a:r>
              <a:rPr lang="zh-CN" altLang="en-US" dirty="0"/>
              <a:t>补充说明</a:t>
            </a:r>
            <a:endParaRPr lang="en-US" altLang="zh-CN" dirty="0"/>
          </a:p>
          <a:p>
            <a:pPr lvl="1"/>
            <a:r>
              <a:rPr lang="zh-CN" altLang="en-US" dirty="0"/>
              <a:t>在互联网中，往返时间还包括</a:t>
            </a:r>
            <a:r>
              <a:rPr lang="zh-CN" altLang="en-US" dirty="0">
                <a:solidFill>
                  <a:srgbClr val="D4237A"/>
                </a:solidFill>
              </a:rPr>
              <a:t>各中间结点</a:t>
            </a:r>
            <a:r>
              <a:rPr lang="zh-CN" altLang="en-US" dirty="0"/>
              <a:t>的处理时延、排队时延以及转发数据时的发送时延</a:t>
            </a:r>
          </a:p>
          <a:p>
            <a:pPr lvl="1"/>
            <a:r>
              <a:rPr lang="zh-CN" altLang="en-US" dirty="0"/>
              <a:t>当使用卫星通信时，往返时间 </a:t>
            </a:r>
            <a:r>
              <a:rPr lang="en-US" altLang="zh-CN" dirty="0"/>
              <a:t>RTT </a:t>
            </a:r>
            <a:r>
              <a:rPr lang="zh-CN" altLang="en-US" dirty="0"/>
              <a:t>相对较长，此时，</a:t>
            </a:r>
            <a:r>
              <a:rPr lang="en-US" altLang="zh-CN" dirty="0"/>
              <a:t>RTT </a:t>
            </a:r>
            <a:r>
              <a:rPr lang="zh-CN" altLang="en-US" dirty="0"/>
              <a:t>是很重要的一个性能指标</a:t>
            </a:r>
          </a:p>
        </p:txBody>
      </p:sp>
      <p:sp>
        <p:nvSpPr>
          <p:cNvPr id="21" name="椭圆 20">
            <a:extLst>
              <a:ext uri="{FF2B5EF4-FFF2-40B4-BE49-F238E27FC236}">
                <a16:creationId xmlns:a16="http://schemas.microsoft.com/office/drawing/2014/main" id="{477EC9DD-B095-0D76-5E3C-8EAE4904546C}"/>
              </a:ext>
            </a:extLst>
          </p:cNvPr>
          <p:cNvSpPr/>
          <p:nvPr/>
        </p:nvSpPr>
        <p:spPr>
          <a:xfrm>
            <a:off x="2394997" y="2357870"/>
            <a:ext cx="418008" cy="418009"/>
          </a:xfrm>
          <a:prstGeom prst="ellipse">
            <a:avLst/>
          </a:prstGeom>
          <a:gradFill flip="none" rotWithShape="1">
            <a:gsLst>
              <a:gs pos="2000">
                <a:srgbClr val="CDF3CD"/>
              </a:gs>
              <a:gs pos="100000">
                <a:srgbClr val="339933"/>
              </a:gs>
            </a:gsLst>
            <a:path path="circle">
              <a:fillToRect l="50000" t="50000" r="50000" b="50000"/>
            </a:path>
            <a:tileRect/>
          </a:gradFill>
          <a:ln w="9525">
            <a:noFill/>
            <a:round/>
            <a:headEnd/>
            <a:tailEnd/>
          </a:ln>
          <a:effectLst/>
        </p:spPr>
        <p:txBody>
          <a:bodyPr wrap="none" anchor="ctr"/>
          <a:lstStyle/>
          <a:p>
            <a:endParaRPr lang="zh-CN" altLang="en-US" sz="1200" b="1">
              <a:solidFill>
                <a:schemeClr val="tx1"/>
              </a:solidFill>
              <a:ea typeface="微软雅黑 Light" panose="020B0502040204020203" pitchFamily="34" charset="-122"/>
            </a:endParaRPr>
          </a:p>
        </p:txBody>
      </p:sp>
      <p:sp>
        <p:nvSpPr>
          <p:cNvPr id="22" name="椭圆 21">
            <a:extLst>
              <a:ext uri="{FF2B5EF4-FFF2-40B4-BE49-F238E27FC236}">
                <a16:creationId xmlns:a16="http://schemas.microsoft.com/office/drawing/2014/main" id="{81C1583F-7671-79A3-046F-486DD0DBC7A3}"/>
              </a:ext>
            </a:extLst>
          </p:cNvPr>
          <p:cNvSpPr/>
          <p:nvPr/>
        </p:nvSpPr>
        <p:spPr>
          <a:xfrm>
            <a:off x="6322563" y="2357870"/>
            <a:ext cx="418008" cy="418009"/>
          </a:xfrm>
          <a:prstGeom prst="ellipse">
            <a:avLst/>
          </a:prstGeom>
          <a:gradFill rotWithShape="1">
            <a:gsLst>
              <a:gs pos="0">
                <a:srgbClr val="85D1F7"/>
              </a:gs>
              <a:gs pos="100000">
                <a:srgbClr val="0070C0"/>
              </a:gs>
            </a:gsLst>
            <a:path path="shape">
              <a:fillToRect l="50000" t="50000" r="50000" b="50000"/>
            </a:path>
          </a:gradFill>
          <a:ln w="9525">
            <a:noFill/>
            <a:round/>
            <a:headEnd/>
            <a:tailEnd/>
          </a:ln>
        </p:spPr>
        <p:txBody>
          <a:bodyPr wrap="none" anchor="ctr"/>
          <a:lstStyle/>
          <a:p>
            <a:endParaRPr lang="zh-CN" altLang="en-US" sz="1200" b="1">
              <a:solidFill>
                <a:schemeClr val="tx1"/>
              </a:solidFill>
              <a:latin typeface="Times New Roman" panose="02020603050405020304" pitchFamily="18" charset="0"/>
              <a:ea typeface="微软雅黑 Light" panose="020B0502040204020203" pitchFamily="34" charset="-122"/>
            </a:endParaRPr>
          </a:p>
        </p:txBody>
      </p:sp>
      <p:cxnSp>
        <p:nvCxnSpPr>
          <p:cNvPr id="23" name="直接连接符 22">
            <a:extLst>
              <a:ext uri="{FF2B5EF4-FFF2-40B4-BE49-F238E27FC236}">
                <a16:creationId xmlns:a16="http://schemas.microsoft.com/office/drawing/2014/main" id="{DB0BF581-A9E2-9A4B-FC85-9E7105B5B5BF}"/>
              </a:ext>
            </a:extLst>
          </p:cNvPr>
          <p:cNvCxnSpPr>
            <a:stCxn id="21" idx="6"/>
            <a:endCxn id="22" idx="2"/>
          </p:cNvCxnSpPr>
          <p:nvPr/>
        </p:nvCxnSpPr>
        <p:spPr>
          <a:xfrm>
            <a:off x="2813005" y="2566875"/>
            <a:ext cx="3509558"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25" name="Text Box 37">
            <a:extLst>
              <a:ext uri="{FF2B5EF4-FFF2-40B4-BE49-F238E27FC236}">
                <a16:creationId xmlns:a16="http://schemas.microsoft.com/office/drawing/2014/main" id="{0AC53718-E5F1-1D07-1A4C-A858E76D5747}"/>
              </a:ext>
            </a:extLst>
          </p:cNvPr>
          <p:cNvSpPr txBox="1">
            <a:spLocks noChangeArrowheads="1"/>
          </p:cNvSpPr>
          <p:nvPr/>
        </p:nvSpPr>
        <p:spPr bwMode="auto">
          <a:xfrm>
            <a:off x="6184699" y="2785649"/>
            <a:ext cx="724878" cy="307777"/>
          </a:xfrm>
          <a:prstGeom prst="rect">
            <a:avLst/>
          </a:prstGeom>
          <a:noFill/>
        </p:spPr>
        <p:txBody>
          <a:bodyPr wrap="none" rtlCol="0">
            <a:spAutoFit/>
          </a:bodyPr>
          <a:lstStyle>
            <a:defPPr>
              <a:defRPr lang="zh-CN"/>
            </a:defPPr>
            <a:lvl1pPr algn="ctr">
              <a:defRPr sz="1400"/>
            </a:lvl1pPr>
          </a:lstStyle>
          <a:p>
            <a:r>
              <a:rPr lang="zh-CN" altLang="en-US" dirty="0"/>
              <a:t>结点 </a:t>
            </a:r>
            <a:r>
              <a:rPr lang="en-US" altLang="zh-CN" dirty="0"/>
              <a:t>B</a:t>
            </a:r>
          </a:p>
        </p:txBody>
      </p:sp>
      <p:sp>
        <p:nvSpPr>
          <p:cNvPr id="26" name="Text Box 38">
            <a:extLst>
              <a:ext uri="{FF2B5EF4-FFF2-40B4-BE49-F238E27FC236}">
                <a16:creationId xmlns:a16="http://schemas.microsoft.com/office/drawing/2014/main" id="{E0C9FD90-54CD-880C-4FE2-2112BB585A4A}"/>
              </a:ext>
            </a:extLst>
          </p:cNvPr>
          <p:cNvSpPr txBox="1">
            <a:spLocks noChangeArrowheads="1"/>
          </p:cNvSpPr>
          <p:nvPr/>
        </p:nvSpPr>
        <p:spPr bwMode="auto">
          <a:xfrm>
            <a:off x="2244771" y="2785649"/>
            <a:ext cx="718466" cy="307777"/>
          </a:xfrm>
          <a:prstGeom prst="rect">
            <a:avLst/>
          </a:prstGeom>
          <a:noFill/>
        </p:spPr>
        <p:txBody>
          <a:bodyPr wrap="none" rtlCol="0">
            <a:spAutoFit/>
          </a:bodyPr>
          <a:lstStyle>
            <a:defPPr>
              <a:defRPr lang="zh-CN"/>
            </a:defPPr>
            <a:lvl1pPr algn="ctr">
              <a:defRPr sz="1400"/>
            </a:lvl1pPr>
          </a:lstStyle>
          <a:p>
            <a:r>
              <a:rPr lang="zh-CN" altLang="en-US" dirty="0"/>
              <a:t>结点 </a:t>
            </a:r>
            <a:r>
              <a:rPr lang="en-US" altLang="zh-CN" dirty="0"/>
              <a:t>A</a:t>
            </a:r>
          </a:p>
        </p:txBody>
      </p:sp>
      <p:sp>
        <p:nvSpPr>
          <p:cNvPr id="4" name="椭圆 3">
            <a:extLst>
              <a:ext uri="{FF2B5EF4-FFF2-40B4-BE49-F238E27FC236}">
                <a16:creationId xmlns:a16="http://schemas.microsoft.com/office/drawing/2014/main" id="{3E5514DB-87D8-5410-1755-5B70AC388225}"/>
              </a:ext>
            </a:extLst>
          </p:cNvPr>
          <p:cNvSpPr/>
          <p:nvPr/>
        </p:nvSpPr>
        <p:spPr>
          <a:xfrm>
            <a:off x="3022641" y="3253878"/>
            <a:ext cx="216000" cy="216000"/>
          </a:xfrm>
          <a:prstGeom prst="ellipse">
            <a:avLst/>
          </a:prstGeom>
          <a:gradFill flip="none" rotWithShape="1">
            <a:gsLst>
              <a:gs pos="2000">
                <a:srgbClr val="CDF3CD"/>
              </a:gs>
              <a:gs pos="100000">
                <a:srgbClr val="339933"/>
              </a:gs>
            </a:gsLst>
            <a:path path="circle">
              <a:fillToRect l="50000" t="50000" r="50000" b="50000"/>
            </a:path>
            <a:tileRect/>
          </a:gradFill>
          <a:ln w="9525">
            <a:noFill/>
            <a:round/>
            <a:headEnd/>
            <a:tailEnd/>
          </a:ln>
          <a:effectLst/>
        </p:spPr>
        <p:txBody>
          <a:bodyPr wrap="none" anchor="ctr"/>
          <a:lstStyle/>
          <a:p>
            <a:endParaRPr lang="zh-CN" altLang="en-US" sz="1200" b="1">
              <a:solidFill>
                <a:schemeClr val="tx1"/>
              </a:solidFill>
              <a:ea typeface="微软雅黑 Light" panose="020B0502040204020203" pitchFamily="34" charset="-122"/>
            </a:endParaRPr>
          </a:p>
        </p:txBody>
      </p:sp>
      <p:sp>
        <p:nvSpPr>
          <p:cNvPr id="5" name="椭圆 4">
            <a:extLst>
              <a:ext uri="{FF2B5EF4-FFF2-40B4-BE49-F238E27FC236}">
                <a16:creationId xmlns:a16="http://schemas.microsoft.com/office/drawing/2014/main" id="{34D3F40E-915E-65AA-C1BA-344341739984}"/>
              </a:ext>
            </a:extLst>
          </p:cNvPr>
          <p:cNvSpPr/>
          <p:nvPr/>
        </p:nvSpPr>
        <p:spPr>
          <a:xfrm>
            <a:off x="5834098" y="3253878"/>
            <a:ext cx="216000" cy="216000"/>
          </a:xfrm>
          <a:prstGeom prst="ellipse">
            <a:avLst/>
          </a:prstGeom>
          <a:gradFill rotWithShape="1">
            <a:gsLst>
              <a:gs pos="0">
                <a:srgbClr val="85D1F7"/>
              </a:gs>
              <a:gs pos="100000">
                <a:srgbClr val="0070C0"/>
              </a:gs>
            </a:gsLst>
            <a:path path="shape">
              <a:fillToRect l="50000" t="50000" r="50000" b="50000"/>
            </a:path>
          </a:gradFill>
          <a:ln w="9525">
            <a:noFill/>
            <a:round/>
            <a:headEnd/>
            <a:tailEnd/>
          </a:ln>
        </p:spPr>
        <p:txBody>
          <a:bodyPr wrap="none" anchor="ctr"/>
          <a:lstStyle/>
          <a:p>
            <a:endParaRPr lang="zh-CN" altLang="en-US" sz="1200" b="1">
              <a:solidFill>
                <a:schemeClr val="tx1"/>
              </a:solidFill>
              <a:latin typeface="Times New Roman" panose="02020603050405020304" pitchFamily="18" charset="0"/>
              <a:ea typeface="微软雅黑 Light" panose="020B0502040204020203" pitchFamily="34" charset="-122"/>
            </a:endParaRPr>
          </a:p>
        </p:txBody>
      </p:sp>
      <p:cxnSp>
        <p:nvCxnSpPr>
          <p:cNvPr id="6" name="直接连接符 5">
            <a:extLst>
              <a:ext uri="{FF2B5EF4-FFF2-40B4-BE49-F238E27FC236}">
                <a16:creationId xmlns:a16="http://schemas.microsoft.com/office/drawing/2014/main" id="{AD745AD2-B704-D849-BF74-7649E1D6A586}"/>
              </a:ext>
            </a:extLst>
          </p:cNvPr>
          <p:cNvCxnSpPr>
            <a:cxnSpLocks/>
          </p:cNvCxnSpPr>
          <p:nvPr/>
        </p:nvCxnSpPr>
        <p:spPr>
          <a:xfrm>
            <a:off x="3238641" y="3361878"/>
            <a:ext cx="2595457"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9" name="Text Box 37">
            <a:extLst>
              <a:ext uri="{FF2B5EF4-FFF2-40B4-BE49-F238E27FC236}">
                <a16:creationId xmlns:a16="http://schemas.microsoft.com/office/drawing/2014/main" id="{DB11F54C-F6B7-F5BD-1C3A-DBBA5D1807F8}"/>
              </a:ext>
            </a:extLst>
          </p:cNvPr>
          <p:cNvSpPr txBox="1">
            <a:spLocks noChangeArrowheads="1"/>
          </p:cNvSpPr>
          <p:nvPr/>
        </p:nvSpPr>
        <p:spPr bwMode="auto">
          <a:xfrm>
            <a:off x="5700821" y="3439602"/>
            <a:ext cx="567783" cy="215444"/>
          </a:xfrm>
          <a:prstGeom prst="rect">
            <a:avLst/>
          </a:prstGeom>
          <a:noFill/>
        </p:spPr>
        <p:txBody>
          <a:bodyPr wrap="none" rtlCol="0">
            <a:spAutoFit/>
          </a:bodyPr>
          <a:lstStyle>
            <a:defPPr>
              <a:defRPr lang="zh-CN"/>
            </a:defPPr>
            <a:lvl1pPr algn="ctr">
              <a:defRPr sz="1400"/>
            </a:lvl1pPr>
          </a:lstStyle>
          <a:p>
            <a:r>
              <a:rPr lang="en-US" altLang="zh-CN" sz="800" dirty="0"/>
              <a:t>Node</a:t>
            </a:r>
            <a:r>
              <a:rPr lang="zh-CN" altLang="en-US" sz="800" dirty="0"/>
              <a:t> </a:t>
            </a:r>
            <a:r>
              <a:rPr lang="en-US" altLang="zh-CN" sz="800" dirty="0"/>
              <a:t>B</a:t>
            </a:r>
          </a:p>
        </p:txBody>
      </p:sp>
      <p:sp>
        <p:nvSpPr>
          <p:cNvPr id="10" name="Text Box 38">
            <a:extLst>
              <a:ext uri="{FF2B5EF4-FFF2-40B4-BE49-F238E27FC236}">
                <a16:creationId xmlns:a16="http://schemas.microsoft.com/office/drawing/2014/main" id="{A3A15DE1-C5B8-8E27-AD3F-A060B1509BA8}"/>
              </a:ext>
            </a:extLst>
          </p:cNvPr>
          <p:cNvSpPr txBox="1">
            <a:spLocks noChangeArrowheads="1"/>
          </p:cNvSpPr>
          <p:nvPr/>
        </p:nvSpPr>
        <p:spPr bwMode="auto">
          <a:xfrm>
            <a:off x="2875397" y="3439602"/>
            <a:ext cx="564578" cy="215444"/>
          </a:xfrm>
          <a:prstGeom prst="rect">
            <a:avLst/>
          </a:prstGeom>
          <a:noFill/>
        </p:spPr>
        <p:txBody>
          <a:bodyPr wrap="none" rtlCol="0">
            <a:spAutoFit/>
          </a:bodyPr>
          <a:lstStyle>
            <a:defPPr>
              <a:defRPr lang="zh-CN"/>
            </a:defPPr>
            <a:lvl1pPr algn="ctr">
              <a:defRPr sz="1400"/>
            </a:lvl1pPr>
          </a:lstStyle>
          <a:p>
            <a:r>
              <a:rPr lang="en-US" altLang="zh-CN" sz="800" dirty="0"/>
              <a:t>Node</a:t>
            </a:r>
            <a:r>
              <a:rPr lang="zh-CN" altLang="en-US" sz="800" dirty="0"/>
              <a:t> </a:t>
            </a:r>
            <a:r>
              <a:rPr lang="en-US" altLang="zh-CN" sz="800" dirty="0"/>
              <a:t>A</a:t>
            </a:r>
          </a:p>
        </p:txBody>
      </p:sp>
      <p:sp>
        <p:nvSpPr>
          <p:cNvPr id="29" name="椭圆 28">
            <a:extLst>
              <a:ext uri="{FF2B5EF4-FFF2-40B4-BE49-F238E27FC236}">
                <a16:creationId xmlns:a16="http://schemas.microsoft.com/office/drawing/2014/main" id="{047C6B55-9AFE-F471-8CE5-D5815DA3161E}"/>
              </a:ext>
            </a:extLst>
          </p:cNvPr>
          <p:cNvSpPr/>
          <p:nvPr/>
        </p:nvSpPr>
        <p:spPr>
          <a:xfrm>
            <a:off x="3752505" y="3289878"/>
            <a:ext cx="144000" cy="144000"/>
          </a:xfrm>
          <a:prstGeom prst="ellipse">
            <a:avLst/>
          </a:prstGeom>
          <a:solidFill>
            <a:srgbClr val="F2F2F2"/>
          </a:solidFill>
          <a:ln>
            <a:solidFill>
              <a:schemeClr val="tx1">
                <a:lumMod val="50000"/>
                <a:lumOff val="50000"/>
              </a:schemeClr>
            </a:solid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1" name="椭圆 30">
            <a:extLst>
              <a:ext uri="{FF2B5EF4-FFF2-40B4-BE49-F238E27FC236}">
                <a16:creationId xmlns:a16="http://schemas.microsoft.com/office/drawing/2014/main" id="{153A662E-8A3C-6D0C-227E-2D6F09545692}"/>
              </a:ext>
            </a:extLst>
          </p:cNvPr>
          <p:cNvSpPr/>
          <p:nvPr/>
        </p:nvSpPr>
        <p:spPr>
          <a:xfrm>
            <a:off x="4446369" y="3289878"/>
            <a:ext cx="144000" cy="144000"/>
          </a:xfrm>
          <a:prstGeom prst="ellipse">
            <a:avLst/>
          </a:prstGeom>
          <a:solidFill>
            <a:srgbClr val="F2F2F2"/>
          </a:solidFill>
          <a:ln>
            <a:solidFill>
              <a:schemeClr val="tx1">
                <a:lumMod val="50000"/>
                <a:lumOff val="50000"/>
              </a:schemeClr>
            </a:solid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3" name="椭圆 32">
            <a:extLst>
              <a:ext uri="{FF2B5EF4-FFF2-40B4-BE49-F238E27FC236}">
                <a16:creationId xmlns:a16="http://schemas.microsoft.com/office/drawing/2014/main" id="{872C7122-EBB1-7843-ECCB-0098CCBCFBF4}"/>
              </a:ext>
            </a:extLst>
          </p:cNvPr>
          <p:cNvSpPr/>
          <p:nvPr/>
        </p:nvSpPr>
        <p:spPr>
          <a:xfrm>
            <a:off x="5140233" y="3289878"/>
            <a:ext cx="144000" cy="144000"/>
          </a:xfrm>
          <a:prstGeom prst="ellipse">
            <a:avLst/>
          </a:prstGeom>
          <a:solidFill>
            <a:srgbClr val="F2F2F2"/>
          </a:solidFill>
          <a:ln>
            <a:solidFill>
              <a:schemeClr val="tx1">
                <a:lumMod val="50000"/>
                <a:lumOff val="50000"/>
              </a:schemeClr>
            </a:solid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3507406590"/>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矩形 6"/>
          <p:cNvSpPr/>
          <p:nvPr/>
        </p:nvSpPr>
        <p:spPr>
          <a:xfrm>
            <a:off x="2403566" y="4359001"/>
            <a:ext cx="4336869" cy="338554"/>
          </a:xfrm>
          <a:prstGeom prst="rect">
            <a:avLst/>
          </a:prstGeom>
          <a:noFill/>
          <a:ln>
            <a:noFill/>
          </a:ln>
        </p:spPr>
        <p:style>
          <a:lnRef idx="1">
            <a:schemeClr val="accent5"/>
          </a:lnRef>
          <a:fillRef idx="3">
            <a:schemeClr val="accent5"/>
          </a:fillRef>
          <a:effectRef idx="2">
            <a:schemeClr val="accent5"/>
          </a:effectRef>
          <a:fontRef idx="minor">
            <a:schemeClr val="lt1"/>
          </a:fontRef>
        </p:style>
        <p:txBody>
          <a:bodyPr wrap="square">
            <a:spAutoFit/>
          </a:bodyPr>
          <a:lstStyle/>
          <a:p>
            <a:pPr algn="ctr"/>
            <a:r>
              <a:rPr lang="zh-CN" altLang="en-US" sz="1600" dirty="0">
                <a:solidFill>
                  <a:sysClr val="windowText" lastClr="000000"/>
                </a:solidFill>
              </a:rPr>
              <a:t>思考：信道利用率越高越好吗？</a:t>
            </a:r>
          </a:p>
        </p:txBody>
      </p:sp>
      <p:sp>
        <p:nvSpPr>
          <p:cNvPr id="3" name="标题 2">
            <a:extLst>
              <a:ext uri="{FF2B5EF4-FFF2-40B4-BE49-F238E27FC236}">
                <a16:creationId xmlns:a16="http://schemas.microsoft.com/office/drawing/2014/main" id="{21A2084D-5A2A-D00D-C3A5-69C1CAC7E984}"/>
              </a:ext>
            </a:extLst>
          </p:cNvPr>
          <p:cNvSpPr>
            <a:spLocks noGrp="1"/>
          </p:cNvSpPr>
          <p:nvPr>
            <p:ph type="title"/>
          </p:nvPr>
        </p:nvSpPr>
        <p:spPr>
          <a:xfrm>
            <a:off x="612000" y="144000"/>
            <a:ext cx="7920000" cy="341632"/>
          </a:xfrm>
        </p:spPr>
        <p:txBody>
          <a:bodyPr/>
          <a:lstStyle/>
          <a:p>
            <a:r>
              <a:rPr lang="en-US" altLang="zh-CN" dirty="0"/>
              <a:t>7. </a:t>
            </a:r>
            <a:r>
              <a:rPr lang="zh-CN" altLang="en-US" dirty="0"/>
              <a:t>利用率 </a:t>
            </a:r>
            <a:r>
              <a:rPr lang="en-US" altLang="zh-CN" dirty="0"/>
              <a:t>Utilization</a:t>
            </a:r>
            <a:endParaRPr lang="zh-CN" altLang="en-US" dirty="0"/>
          </a:p>
        </p:txBody>
      </p:sp>
      <p:cxnSp>
        <p:nvCxnSpPr>
          <p:cNvPr id="8" name="直接连接符 7">
            <a:extLst>
              <a:ext uri="{FF2B5EF4-FFF2-40B4-BE49-F238E27FC236}">
                <a16:creationId xmlns:a16="http://schemas.microsoft.com/office/drawing/2014/main" id="{81003230-3E3D-21B9-8516-6E66D26F0112}"/>
              </a:ext>
            </a:extLst>
          </p:cNvPr>
          <p:cNvCxnSpPr>
            <a:cxnSpLocks/>
          </p:cNvCxnSpPr>
          <p:nvPr/>
        </p:nvCxnSpPr>
        <p:spPr>
          <a:xfrm>
            <a:off x="612775" y="1131750"/>
            <a:ext cx="0" cy="2880000"/>
          </a:xfrm>
          <a:prstGeom prst="line">
            <a:avLst/>
          </a:prstGeom>
          <a:ln w="12700">
            <a:gradFill>
              <a:gsLst>
                <a:gs pos="0">
                  <a:schemeClr val="bg1"/>
                </a:gs>
                <a:gs pos="50000">
                  <a:schemeClr val="tx1"/>
                </a:gs>
                <a:gs pos="100000">
                  <a:schemeClr val="bg1"/>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9" name="直接连接符 8">
            <a:extLst>
              <a:ext uri="{FF2B5EF4-FFF2-40B4-BE49-F238E27FC236}">
                <a16:creationId xmlns:a16="http://schemas.microsoft.com/office/drawing/2014/main" id="{C5CF152B-F0B2-E433-E7DA-981EA22E2DB7}"/>
              </a:ext>
            </a:extLst>
          </p:cNvPr>
          <p:cNvCxnSpPr>
            <a:cxnSpLocks/>
          </p:cNvCxnSpPr>
          <p:nvPr/>
        </p:nvCxnSpPr>
        <p:spPr>
          <a:xfrm>
            <a:off x="4571999" y="1131750"/>
            <a:ext cx="0" cy="2880000"/>
          </a:xfrm>
          <a:prstGeom prst="line">
            <a:avLst/>
          </a:prstGeom>
          <a:ln w="12700">
            <a:gradFill>
              <a:gsLst>
                <a:gs pos="0">
                  <a:schemeClr val="bg1"/>
                </a:gs>
                <a:gs pos="50000">
                  <a:schemeClr val="tx1"/>
                </a:gs>
                <a:gs pos="100000">
                  <a:schemeClr val="bg1"/>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10" name="直接连接符 9">
            <a:extLst>
              <a:ext uri="{FF2B5EF4-FFF2-40B4-BE49-F238E27FC236}">
                <a16:creationId xmlns:a16="http://schemas.microsoft.com/office/drawing/2014/main" id="{C8E20F60-0526-D198-2CB8-D9B00B8563BF}"/>
              </a:ext>
            </a:extLst>
          </p:cNvPr>
          <p:cNvCxnSpPr>
            <a:cxnSpLocks/>
          </p:cNvCxnSpPr>
          <p:nvPr/>
        </p:nvCxnSpPr>
        <p:spPr>
          <a:xfrm>
            <a:off x="8531225" y="1131750"/>
            <a:ext cx="0" cy="2880000"/>
          </a:xfrm>
          <a:prstGeom prst="line">
            <a:avLst/>
          </a:prstGeom>
          <a:ln w="12700">
            <a:gradFill>
              <a:gsLst>
                <a:gs pos="0">
                  <a:schemeClr val="bg1"/>
                </a:gs>
                <a:gs pos="50000">
                  <a:schemeClr val="tx1"/>
                </a:gs>
                <a:gs pos="100000">
                  <a:schemeClr val="bg1"/>
                </a:gs>
              </a:gsLst>
              <a:lin ang="5400000" scaled="1"/>
            </a:gradFill>
          </a:ln>
        </p:spPr>
        <p:style>
          <a:lnRef idx="1">
            <a:schemeClr val="accent1"/>
          </a:lnRef>
          <a:fillRef idx="0">
            <a:schemeClr val="accent1"/>
          </a:fillRef>
          <a:effectRef idx="0">
            <a:schemeClr val="accent1"/>
          </a:effectRef>
          <a:fontRef idx="minor">
            <a:schemeClr val="tx1"/>
          </a:fontRef>
        </p:style>
      </p:cxnSp>
      <p:sp>
        <p:nvSpPr>
          <p:cNvPr id="12" name="文本框 11">
            <a:extLst>
              <a:ext uri="{FF2B5EF4-FFF2-40B4-BE49-F238E27FC236}">
                <a16:creationId xmlns:a16="http://schemas.microsoft.com/office/drawing/2014/main" id="{AE33D8CA-7BE2-F894-8516-2332C898FADC}"/>
              </a:ext>
            </a:extLst>
          </p:cNvPr>
          <p:cNvSpPr txBox="1"/>
          <p:nvPr/>
        </p:nvSpPr>
        <p:spPr>
          <a:xfrm>
            <a:off x="1167625" y="2523460"/>
            <a:ext cx="2849524" cy="830997"/>
          </a:xfrm>
          <a:prstGeom prst="rect">
            <a:avLst/>
          </a:prstGeom>
          <a:noFill/>
        </p:spPr>
        <p:txBody>
          <a:bodyPr wrap="square" rtlCol="0">
            <a:spAutoFit/>
          </a:bodyPr>
          <a:lstStyle/>
          <a:p>
            <a:pPr algn="l"/>
            <a:r>
              <a:rPr lang="zh-CN" altLang="en-US" sz="1600" dirty="0"/>
              <a:t>某信道有百分之几的时间是被利用的（即有数据通过）</a:t>
            </a:r>
          </a:p>
          <a:p>
            <a:pPr algn="l"/>
            <a:r>
              <a:rPr lang="zh-CN" altLang="en-US" sz="1600" dirty="0"/>
              <a:t>完全空闲的信道的利用率是零</a:t>
            </a:r>
          </a:p>
        </p:txBody>
      </p:sp>
      <p:sp>
        <p:nvSpPr>
          <p:cNvPr id="13" name="文本框 12">
            <a:extLst>
              <a:ext uri="{FF2B5EF4-FFF2-40B4-BE49-F238E27FC236}">
                <a16:creationId xmlns:a16="http://schemas.microsoft.com/office/drawing/2014/main" id="{8516C016-6F79-BA08-F29C-463553A9B1D5}"/>
              </a:ext>
            </a:extLst>
          </p:cNvPr>
          <p:cNvSpPr txBox="1"/>
          <p:nvPr/>
        </p:nvSpPr>
        <p:spPr>
          <a:xfrm>
            <a:off x="1167625" y="1788923"/>
            <a:ext cx="2106667" cy="584775"/>
          </a:xfrm>
          <a:prstGeom prst="rect">
            <a:avLst/>
          </a:prstGeom>
          <a:noFill/>
        </p:spPr>
        <p:txBody>
          <a:bodyPr wrap="none" rtlCol="0">
            <a:spAutoFit/>
          </a:bodyPr>
          <a:lstStyle/>
          <a:p>
            <a:pPr algn="l"/>
            <a:r>
              <a:rPr lang="zh-CN" altLang="en-US" sz="1600" dirty="0">
                <a:solidFill>
                  <a:srgbClr val="D4237A"/>
                </a:solidFill>
                <a:latin typeface="+mj-ea"/>
                <a:ea typeface="+mj-ea"/>
              </a:rPr>
              <a:t>信道利用率</a:t>
            </a:r>
            <a:endParaRPr lang="en-US" altLang="zh-CN" sz="1600" dirty="0">
              <a:solidFill>
                <a:srgbClr val="D4237A"/>
              </a:solidFill>
              <a:latin typeface="+mj-ea"/>
              <a:ea typeface="+mj-ea"/>
            </a:endParaRPr>
          </a:p>
          <a:p>
            <a:pPr algn="l"/>
            <a:r>
              <a:rPr lang="en-US" altLang="zh-CN" sz="1600" dirty="0">
                <a:solidFill>
                  <a:srgbClr val="D4237A"/>
                </a:solidFill>
                <a:latin typeface="+mj-ea"/>
                <a:ea typeface="+mj-ea"/>
              </a:rPr>
              <a:t>Channel Utilization</a:t>
            </a:r>
            <a:endParaRPr lang="zh-CN" altLang="en-US" sz="1600" dirty="0">
              <a:solidFill>
                <a:srgbClr val="D4237A"/>
              </a:solidFill>
              <a:latin typeface="+mj-ea"/>
              <a:ea typeface="+mj-ea"/>
            </a:endParaRPr>
          </a:p>
        </p:txBody>
      </p:sp>
      <p:sp>
        <p:nvSpPr>
          <p:cNvPr id="15" name="文本框 14">
            <a:extLst>
              <a:ext uri="{FF2B5EF4-FFF2-40B4-BE49-F238E27FC236}">
                <a16:creationId xmlns:a16="http://schemas.microsoft.com/office/drawing/2014/main" id="{AF3CE396-8694-AA11-870B-D9E7F82E7032}"/>
              </a:ext>
            </a:extLst>
          </p:cNvPr>
          <p:cNvSpPr txBox="1"/>
          <p:nvPr/>
        </p:nvSpPr>
        <p:spPr>
          <a:xfrm>
            <a:off x="5126850" y="2523460"/>
            <a:ext cx="2849524" cy="584775"/>
          </a:xfrm>
          <a:prstGeom prst="rect">
            <a:avLst/>
          </a:prstGeom>
          <a:noFill/>
        </p:spPr>
        <p:txBody>
          <a:bodyPr wrap="square" rtlCol="0">
            <a:spAutoFit/>
          </a:bodyPr>
          <a:lstStyle/>
          <a:p>
            <a:pPr algn="l"/>
            <a:r>
              <a:rPr lang="zh-CN" altLang="en-US" sz="1600" dirty="0"/>
              <a:t>全网络的信道利用率的加权平均值</a:t>
            </a:r>
          </a:p>
        </p:txBody>
      </p:sp>
      <p:sp>
        <p:nvSpPr>
          <p:cNvPr id="17" name="文本框 16">
            <a:extLst>
              <a:ext uri="{FF2B5EF4-FFF2-40B4-BE49-F238E27FC236}">
                <a16:creationId xmlns:a16="http://schemas.microsoft.com/office/drawing/2014/main" id="{6C6D6A22-6504-805B-71C2-B410509E72FE}"/>
              </a:ext>
            </a:extLst>
          </p:cNvPr>
          <p:cNvSpPr txBox="1"/>
          <p:nvPr/>
        </p:nvSpPr>
        <p:spPr>
          <a:xfrm>
            <a:off x="5126850" y="1788923"/>
            <a:ext cx="2085251" cy="584775"/>
          </a:xfrm>
          <a:prstGeom prst="rect">
            <a:avLst/>
          </a:prstGeom>
          <a:noFill/>
        </p:spPr>
        <p:txBody>
          <a:bodyPr wrap="none" rtlCol="0">
            <a:spAutoFit/>
          </a:bodyPr>
          <a:lstStyle/>
          <a:p>
            <a:pPr algn="l"/>
            <a:r>
              <a:rPr lang="zh-CN" altLang="en-US" sz="1600" dirty="0">
                <a:solidFill>
                  <a:srgbClr val="D4237A"/>
                </a:solidFill>
                <a:latin typeface="+mj-ea"/>
                <a:ea typeface="+mj-ea"/>
              </a:rPr>
              <a:t>网络利用率</a:t>
            </a:r>
            <a:endParaRPr lang="en-US" altLang="zh-CN" sz="1600" dirty="0">
              <a:solidFill>
                <a:srgbClr val="D4237A"/>
              </a:solidFill>
              <a:latin typeface="+mj-ea"/>
              <a:ea typeface="+mj-ea"/>
            </a:endParaRPr>
          </a:p>
          <a:p>
            <a:pPr algn="l"/>
            <a:r>
              <a:rPr lang="en-US" altLang="zh-CN" sz="1600" dirty="0">
                <a:solidFill>
                  <a:srgbClr val="D4237A"/>
                </a:solidFill>
                <a:latin typeface="+mj-ea"/>
                <a:ea typeface="+mj-ea"/>
              </a:rPr>
              <a:t>Network Utilization</a:t>
            </a:r>
            <a:endParaRPr lang="zh-CN" altLang="en-US" sz="1600" dirty="0">
              <a:solidFill>
                <a:srgbClr val="D4237A"/>
              </a:solidFill>
              <a:latin typeface="+mj-ea"/>
              <a:ea typeface="+mj-ea"/>
            </a:endParaRPr>
          </a:p>
        </p:txBody>
      </p:sp>
    </p:spTree>
    <p:extLst>
      <p:ext uri="{BB962C8B-B14F-4D97-AF65-F5344CB8AC3E}">
        <p14:creationId xmlns:p14="http://schemas.microsoft.com/office/powerpoint/2010/main" val="2531217215"/>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标题 13">
            <a:extLst>
              <a:ext uri="{FF2B5EF4-FFF2-40B4-BE49-F238E27FC236}">
                <a16:creationId xmlns:a16="http://schemas.microsoft.com/office/drawing/2014/main" id="{615B62A7-0543-4330-1197-B4B7BF9846D9}"/>
              </a:ext>
            </a:extLst>
          </p:cNvPr>
          <p:cNvSpPr>
            <a:spLocks noGrp="1"/>
          </p:cNvSpPr>
          <p:nvPr>
            <p:ph type="title"/>
          </p:nvPr>
        </p:nvSpPr>
        <p:spPr>
          <a:xfrm>
            <a:off x="612000" y="144000"/>
            <a:ext cx="7920000" cy="341632"/>
          </a:xfrm>
        </p:spPr>
        <p:txBody>
          <a:bodyPr/>
          <a:lstStyle/>
          <a:p>
            <a:r>
              <a:rPr lang="en-US" altLang="zh-CN" dirty="0"/>
              <a:t>7. </a:t>
            </a:r>
            <a:r>
              <a:rPr lang="zh-CN" altLang="en-US" dirty="0"/>
              <a:t>利用率 </a:t>
            </a:r>
            <a:r>
              <a:rPr lang="en-US" altLang="zh-CN" dirty="0"/>
              <a:t>Utilization</a:t>
            </a:r>
            <a:endParaRPr lang="zh-CN" altLang="en-US" dirty="0"/>
          </a:p>
        </p:txBody>
      </p:sp>
      <p:sp>
        <p:nvSpPr>
          <p:cNvPr id="3" name="内容占位符 2"/>
          <p:cNvSpPr>
            <a:spLocks noGrp="1"/>
          </p:cNvSpPr>
          <p:nvPr>
            <p:ph sz="quarter" idx="10"/>
          </p:nvPr>
        </p:nvSpPr>
        <p:spPr>
          <a:xfrm>
            <a:off x="612000" y="899999"/>
            <a:ext cx="7920000" cy="3780000"/>
          </a:xfrm>
        </p:spPr>
        <p:txBody>
          <a:bodyPr/>
          <a:lstStyle/>
          <a:p>
            <a:r>
              <a:rPr lang="zh-CN" altLang="en-US" dirty="0"/>
              <a:t>时延与网络利用率的关系</a:t>
            </a:r>
            <a:endParaRPr lang="en-US" altLang="zh-CN" dirty="0"/>
          </a:p>
          <a:p>
            <a:pPr lvl="1"/>
            <a:r>
              <a:rPr lang="zh-CN" altLang="en-US" dirty="0"/>
              <a:t>根据排队论，当某信道的利用率增大时，引起的时延会迅速增加</a:t>
            </a:r>
          </a:p>
        </p:txBody>
      </p:sp>
      <p:sp>
        <p:nvSpPr>
          <p:cNvPr id="5" name="矩形 5"/>
          <p:cNvSpPr>
            <a:spLocks noChangeArrowheads="1"/>
          </p:cNvSpPr>
          <p:nvPr/>
        </p:nvSpPr>
        <p:spPr bwMode="auto">
          <a:xfrm>
            <a:off x="612775" y="3133489"/>
            <a:ext cx="3556860" cy="738664"/>
          </a:xfrm>
          <a:prstGeom prst="rect">
            <a:avLst/>
          </a:prstGeom>
          <a:noFill/>
        </p:spPr>
        <p:txBody>
          <a:bodyPr wrap="square" rtlCol="0">
            <a:spAutoFit/>
          </a:bodyPr>
          <a:lstStyle/>
          <a:p>
            <a:r>
              <a:rPr lang="en-US" altLang="zh-CN" sz="1400" dirty="0"/>
              <a:t>D</a:t>
            </a:r>
            <a:r>
              <a:rPr lang="en-US" altLang="zh-CN" sz="1400" baseline="-25000" dirty="0"/>
              <a:t>0</a:t>
            </a:r>
            <a:r>
              <a:rPr lang="zh-CN" altLang="en-US" sz="1400" dirty="0"/>
              <a:t>：网络空闲时的时延</a:t>
            </a:r>
            <a:endParaRPr lang="en-US" altLang="zh-CN" sz="1400" dirty="0"/>
          </a:p>
          <a:p>
            <a:r>
              <a:rPr lang="en-US" altLang="zh-CN" sz="1400" dirty="0"/>
              <a:t>D</a:t>
            </a:r>
            <a:r>
              <a:rPr lang="zh-CN" altLang="en-US" sz="1400" dirty="0"/>
              <a:t>：网络在当前的时延</a:t>
            </a:r>
            <a:endParaRPr lang="en-US" altLang="zh-CN" sz="1400" dirty="0"/>
          </a:p>
          <a:p>
            <a:r>
              <a:rPr lang="en-US" altLang="zh-CN" sz="1400" dirty="0"/>
              <a:t>U</a:t>
            </a:r>
            <a:r>
              <a:rPr lang="zh-CN" altLang="en-US" sz="1400" dirty="0"/>
              <a:t>：网络当前的利用率，数值在 </a:t>
            </a:r>
            <a:r>
              <a:rPr lang="en-US" altLang="zh-CN" sz="1400" dirty="0"/>
              <a:t>0 </a:t>
            </a:r>
            <a:r>
              <a:rPr lang="zh-CN" altLang="en-US" sz="1400" dirty="0"/>
              <a:t>到 </a:t>
            </a:r>
            <a:r>
              <a:rPr lang="en-US" altLang="zh-CN" sz="1400" dirty="0"/>
              <a:t>1 </a:t>
            </a:r>
            <a:r>
              <a:rPr lang="zh-CN" altLang="en-US" sz="1400" dirty="0"/>
              <a:t>之间</a:t>
            </a:r>
            <a:endParaRPr lang="en-US" altLang="zh-CN" sz="1400" dirty="0"/>
          </a:p>
        </p:txBody>
      </p:sp>
      <p:grpSp>
        <p:nvGrpSpPr>
          <p:cNvPr id="20" name="组合 19"/>
          <p:cNvGrpSpPr/>
          <p:nvPr/>
        </p:nvGrpSpPr>
        <p:grpSpPr>
          <a:xfrm>
            <a:off x="612775" y="2046158"/>
            <a:ext cx="1611086" cy="894481"/>
            <a:chOff x="2760617" y="1739421"/>
            <a:chExt cx="1611086" cy="894481"/>
          </a:xfrm>
          <a:noFill/>
        </p:grpSpPr>
        <p:sp>
          <p:nvSpPr>
            <p:cNvPr id="19" name="圆角矩形 18"/>
            <p:cNvSpPr/>
            <p:nvPr/>
          </p:nvSpPr>
          <p:spPr>
            <a:xfrm>
              <a:off x="2760617" y="1739421"/>
              <a:ext cx="1611086" cy="894481"/>
            </a:xfrm>
            <a:prstGeom prst="roundRect">
              <a:avLst/>
            </a:prstGeom>
            <a:grpFill/>
            <a:ln>
              <a:noFill/>
            </a:ln>
          </p:spPr>
          <p:style>
            <a:lnRef idx="1">
              <a:schemeClr val="accent5"/>
            </a:lnRef>
            <a:fillRef idx="2">
              <a:schemeClr val="accent5"/>
            </a:fillRef>
            <a:effectRef idx="1">
              <a:schemeClr val="accent5"/>
            </a:effectRef>
            <a:fontRef idx="minor">
              <a:schemeClr val="dk1"/>
            </a:fontRef>
          </p:style>
          <p:txBody>
            <a:bodyPr rtlCol="0" anchor="ctr"/>
            <a:lstStyle/>
            <a:p>
              <a:pPr algn="ctr"/>
              <a:endParaRPr lang="zh-CN" altLang="en-US">
                <a:latin typeface="+mj-lt"/>
                <a:ea typeface="+mj-ea"/>
              </a:endParaRPr>
            </a:p>
          </p:txBody>
        </p:sp>
        <p:grpSp>
          <p:nvGrpSpPr>
            <p:cNvPr id="18" name="组合 17"/>
            <p:cNvGrpSpPr/>
            <p:nvPr/>
          </p:nvGrpSpPr>
          <p:grpSpPr>
            <a:xfrm>
              <a:off x="2787752" y="1827192"/>
              <a:ext cx="1462033" cy="738664"/>
              <a:chOff x="758653" y="1895238"/>
              <a:chExt cx="1462033" cy="738664"/>
            </a:xfrm>
            <a:grpFill/>
          </p:grpSpPr>
          <p:sp>
            <p:nvSpPr>
              <p:cNvPr id="8" name="文本框 7"/>
              <p:cNvSpPr txBox="1"/>
              <p:nvPr/>
            </p:nvSpPr>
            <p:spPr>
              <a:xfrm>
                <a:off x="758653" y="2051552"/>
                <a:ext cx="630301" cy="369332"/>
              </a:xfrm>
              <a:prstGeom prst="rect">
                <a:avLst/>
              </a:prstGeom>
              <a:grpFill/>
              <a:ln>
                <a:noFill/>
              </a:ln>
            </p:spPr>
            <p:txBody>
              <a:bodyPr wrap="none" rtlCol="0">
                <a:spAutoFit/>
              </a:bodyPr>
              <a:lstStyle/>
              <a:p>
                <a:r>
                  <a:rPr lang="en-US" altLang="zh-CN" dirty="0">
                    <a:latin typeface="+mj-lt"/>
                    <a:ea typeface="+mj-ea"/>
                  </a:rPr>
                  <a:t>D = </a:t>
                </a:r>
                <a:endParaRPr lang="zh-CN" altLang="en-US" dirty="0">
                  <a:latin typeface="+mj-lt"/>
                  <a:ea typeface="+mj-ea"/>
                </a:endParaRPr>
              </a:p>
            </p:txBody>
          </p:sp>
          <p:sp>
            <p:nvSpPr>
              <p:cNvPr id="9" name="文本框 8"/>
              <p:cNvSpPr txBox="1"/>
              <p:nvPr/>
            </p:nvSpPr>
            <p:spPr>
              <a:xfrm>
                <a:off x="1489152" y="1895238"/>
                <a:ext cx="618323" cy="369332"/>
              </a:xfrm>
              <a:prstGeom prst="rect">
                <a:avLst/>
              </a:prstGeom>
              <a:grpFill/>
              <a:ln>
                <a:noFill/>
              </a:ln>
            </p:spPr>
            <p:txBody>
              <a:bodyPr wrap="square" rtlCol="0">
                <a:spAutoFit/>
              </a:bodyPr>
              <a:lstStyle/>
              <a:p>
                <a:r>
                  <a:rPr lang="en-US" altLang="zh-CN" dirty="0">
                    <a:latin typeface="+mj-lt"/>
                    <a:ea typeface="+mj-ea"/>
                  </a:rPr>
                  <a:t>D</a:t>
                </a:r>
                <a:r>
                  <a:rPr lang="en-US" altLang="zh-CN" baseline="-25000" dirty="0">
                    <a:latin typeface="+mj-lt"/>
                    <a:ea typeface="+mj-ea"/>
                  </a:rPr>
                  <a:t>0</a:t>
                </a:r>
                <a:r>
                  <a:rPr lang="en-US" altLang="zh-CN" dirty="0">
                    <a:latin typeface="+mj-lt"/>
                    <a:ea typeface="+mj-ea"/>
                  </a:rPr>
                  <a:t> </a:t>
                </a:r>
                <a:endParaRPr lang="zh-CN" altLang="en-US" dirty="0">
                  <a:latin typeface="+mj-lt"/>
                  <a:ea typeface="+mj-ea"/>
                </a:endParaRPr>
              </a:p>
            </p:txBody>
          </p:sp>
          <p:sp>
            <p:nvSpPr>
              <p:cNvPr id="10" name="文本框 9"/>
              <p:cNvSpPr txBox="1"/>
              <p:nvPr/>
            </p:nvSpPr>
            <p:spPr>
              <a:xfrm>
                <a:off x="1361216" y="2264570"/>
                <a:ext cx="859470" cy="369332"/>
              </a:xfrm>
              <a:prstGeom prst="rect">
                <a:avLst/>
              </a:prstGeom>
              <a:grpFill/>
              <a:ln>
                <a:noFill/>
              </a:ln>
            </p:spPr>
            <p:txBody>
              <a:bodyPr wrap="square" rtlCol="0">
                <a:spAutoFit/>
              </a:bodyPr>
              <a:lstStyle/>
              <a:p>
                <a:r>
                  <a:rPr lang="en-US" altLang="zh-CN" dirty="0">
                    <a:latin typeface="+mj-lt"/>
                    <a:ea typeface="+mj-ea"/>
                  </a:rPr>
                  <a:t>1 - U</a:t>
                </a:r>
                <a:endParaRPr lang="zh-CN" altLang="en-US" dirty="0">
                  <a:latin typeface="+mj-lt"/>
                  <a:ea typeface="+mj-ea"/>
                </a:endParaRPr>
              </a:p>
            </p:txBody>
          </p:sp>
          <p:cxnSp>
            <p:nvCxnSpPr>
              <p:cNvPr id="11" name="直接连接符 10"/>
              <p:cNvCxnSpPr/>
              <p:nvPr/>
            </p:nvCxnSpPr>
            <p:spPr>
              <a:xfrm>
                <a:off x="1361215" y="2264570"/>
                <a:ext cx="859471" cy="0"/>
              </a:xfrm>
              <a:prstGeom prst="line">
                <a:avLst/>
              </a:prstGeom>
              <a:grpFill/>
              <a:ln w="19050">
                <a:solidFill>
                  <a:schemeClr val="tx1"/>
                </a:solidFill>
              </a:ln>
            </p:spPr>
            <p:style>
              <a:lnRef idx="1">
                <a:schemeClr val="dk1"/>
              </a:lnRef>
              <a:fillRef idx="0">
                <a:schemeClr val="dk1"/>
              </a:fillRef>
              <a:effectRef idx="0">
                <a:schemeClr val="dk1"/>
              </a:effectRef>
              <a:fontRef idx="minor">
                <a:schemeClr val="tx1"/>
              </a:fontRef>
            </p:style>
          </p:cxnSp>
        </p:grpSp>
      </p:grpSp>
      <p:sp>
        <p:nvSpPr>
          <p:cNvPr id="21" name="圆角矩形 20"/>
          <p:cNvSpPr/>
          <p:nvPr/>
        </p:nvSpPr>
        <p:spPr>
          <a:xfrm>
            <a:off x="4342338" y="1984944"/>
            <a:ext cx="3986073" cy="2297090"/>
          </a:xfrm>
          <a:prstGeom prst="rect">
            <a:avLst/>
          </a:prstGeom>
          <a:solidFill>
            <a:srgbClr val="F2F2F2"/>
          </a:solidFill>
          <a:ln>
            <a:noFill/>
          </a:ln>
          <a:effectLst/>
          <a:scene3d>
            <a:camera prst="orthographicFront">
              <a:rot lat="0" lon="0" rev="0"/>
            </a:camera>
            <a:lightRig rig="contrasting" dir="t">
              <a:rot lat="0" lon="0" rev="7800000"/>
            </a:lightRig>
          </a:scene3d>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dirty="0"/>
          </a:p>
        </p:txBody>
      </p:sp>
      <p:sp>
        <p:nvSpPr>
          <p:cNvPr id="23" name="Rectangle 4"/>
          <p:cNvSpPr>
            <a:spLocks noChangeArrowheads="1"/>
          </p:cNvSpPr>
          <p:nvPr/>
        </p:nvSpPr>
        <p:spPr bwMode="auto">
          <a:xfrm>
            <a:off x="6322444" y="2261588"/>
            <a:ext cx="685530" cy="1629151"/>
          </a:xfrm>
          <a:prstGeom prst="rect">
            <a:avLst/>
          </a:prstGeom>
          <a:solidFill>
            <a:srgbClr val="0000FF"/>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endParaRPr lang="zh-CN" altLang="en-US" sz="1050" b="1">
              <a:solidFill>
                <a:srgbClr val="1956B9"/>
              </a:solidFill>
              <a:latin typeface="微软雅黑" pitchFamily="34" charset="-122"/>
              <a:ea typeface="微软雅黑" pitchFamily="34" charset="-122"/>
            </a:endParaRPr>
          </a:p>
        </p:txBody>
      </p:sp>
      <p:sp>
        <p:nvSpPr>
          <p:cNvPr id="24" name="Text Box 5"/>
          <p:cNvSpPr txBox="1">
            <a:spLocks noChangeArrowheads="1"/>
          </p:cNvSpPr>
          <p:nvPr/>
        </p:nvSpPr>
        <p:spPr bwMode="auto">
          <a:xfrm>
            <a:off x="4465709" y="2109608"/>
            <a:ext cx="66075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lang="zh-CN" altLang="en-US" sz="1200" b="1" dirty="0">
                <a:solidFill>
                  <a:srgbClr val="000066"/>
                </a:solidFill>
                <a:latin typeface="+mj-lt"/>
                <a:ea typeface="+mj-ea"/>
              </a:rPr>
              <a:t>时延 </a:t>
            </a:r>
            <a:r>
              <a:rPr lang="en-US" altLang="zh-CN" sz="1200" b="1" dirty="0">
                <a:solidFill>
                  <a:srgbClr val="000066"/>
                </a:solidFill>
                <a:latin typeface="+mj-lt"/>
                <a:ea typeface="+mj-ea"/>
              </a:rPr>
              <a:t>D</a:t>
            </a:r>
          </a:p>
        </p:txBody>
      </p:sp>
      <p:sp>
        <p:nvSpPr>
          <p:cNvPr id="25" name="Line 6"/>
          <p:cNvSpPr>
            <a:spLocks noChangeShapeType="1"/>
          </p:cNvSpPr>
          <p:nvPr/>
        </p:nvSpPr>
        <p:spPr bwMode="auto">
          <a:xfrm flipV="1">
            <a:off x="5130858" y="2185518"/>
            <a:ext cx="0" cy="1705221"/>
          </a:xfrm>
          <a:prstGeom prst="line">
            <a:avLst/>
          </a:prstGeom>
          <a:noFill/>
          <a:ln w="254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Times New Roman" panose="02020603050405020304" pitchFamily="18" charset="0"/>
              <a:ea typeface="微软雅黑 Light" panose="020B0502040204020203" pitchFamily="34" charset="-122"/>
            </a:endParaRPr>
          </a:p>
        </p:txBody>
      </p:sp>
      <p:sp>
        <p:nvSpPr>
          <p:cNvPr id="26" name="Line 7"/>
          <p:cNvSpPr>
            <a:spLocks noChangeShapeType="1"/>
          </p:cNvSpPr>
          <p:nvPr/>
        </p:nvSpPr>
        <p:spPr bwMode="auto">
          <a:xfrm rot="5400000" flipV="1">
            <a:off x="6474957" y="2546641"/>
            <a:ext cx="0" cy="2688197"/>
          </a:xfrm>
          <a:prstGeom prst="line">
            <a:avLst/>
          </a:prstGeom>
          <a:noFill/>
          <a:ln w="254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Times New Roman" panose="02020603050405020304" pitchFamily="18" charset="0"/>
              <a:ea typeface="微软雅黑 Light" panose="020B0502040204020203" pitchFamily="34" charset="-122"/>
            </a:endParaRPr>
          </a:p>
        </p:txBody>
      </p:sp>
      <p:sp>
        <p:nvSpPr>
          <p:cNvPr id="27" name="Line 8"/>
          <p:cNvSpPr>
            <a:spLocks noChangeShapeType="1"/>
          </p:cNvSpPr>
          <p:nvPr/>
        </p:nvSpPr>
        <p:spPr bwMode="auto">
          <a:xfrm>
            <a:off x="7007973" y="2204751"/>
            <a:ext cx="0" cy="1685989"/>
          </a:xfrm>
          <a:prstGeom prst="line">
            <a:avLst/>
          </a:prstGeom>
          <a:noFill/>
          <a:ln w="9525">
            <a:solidFill>
              <a:srgbClr val="CC0000"/>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Times New Roman" panose="02020603050405020304" pitchFamily="18" charset="0"/>
              <a:ea typeface="微软雅黑 Light" panose="020B0502040204020203" pitchFamily="34" charset="-122"/>
            </a:endParaRPr>
          </a:p>
        </p:txBody>
      </p:sp>
      <p:sp>
        <p:nvSpPr>
          <p:cNvPr id="28" name="Arc 9"/>
          <p:cNvSpPr>
            <a:spLocks/>
          </p:cNvSpPr>
          <p:nvPr/>
        </p:nvSpPr>
        <p:spPr bwMode="auto">
          <a:xfrm flipV="1">
            <a:off x="5130857" y="2261588"/>
            <a:ext cx="1868229" cy="1517328"/>
          </a:xfrm>
          <a:custGeom>
            <a:avLst/>
            <a:gdLst>
              <a:gd name="T0" fmla="*/ 0 w 21600"/>
              <a:gd name="T1" fmla="*/ 0 h 21612"/>
              <a:gd name="T2" fmla="*/ 2510540 w 21600"/>
              <a:gd name="T3" fmla="*/ 1942842 h 21612"/>
              <a:gd name="T4" fmla="*/ 0 w 21600"/>
              <a:gd name="T5" fmla="*/ 1941763 h 21612"/>
              <a:gd name="T6" fmla="*/ 0 60000 65536"/>
              <a:gd name="T7" fmla="*/ 0 60000 65536"/>
              <a:gd name="T8" fmla="*/ 0 60000 65536"/>
            </a:gdLst>
            <a:ahLst/>
            <a:cxnLst>
              <a:cxn ang="T6">
                <a:pos x="T0" y="T1"/>
              </a:cxn>
              <a:cxn ang="T7">
                <a:pos x="T2" y="T3"/>
              </a:cxn>
              <a:cxn ang="T8">
                <a:pos x="T4" y="T5"/>
              </a:cxn>
            </a:cxnLst>
            <a:rect l="0" t="0" r="r" b="b"/>
            <a:pathLst>
              <a:path w="21600" h="21612" fill="none" extrusionOk="0">
                <a:moveTo>
                  <a:pt x="-1" y="0"/>
                </a:moveTo>
                <a:cubicBezTo>
                  <a:pt x="11929" y="0"/>
                  <a:pt x="21600" y="9670"/>
                  <a:pt x="21600" y="21600"/>
                </a:cubicBezTo>
                <a:cubicBezTo>
                  <a:pt x="21600" y="21603"/>
                  <a:pt x="21599" y="21607"/>
                  <a:pt x="21599" y="21611"/>
                </a:cubicBezTo>
              </a:path>
              <a:path w="21600" h="21612" stroke="0" extrusionOk="0">
                <a:moveTo>
                  <a:pt x="-1" y="0"/>
                </a:moveTo>
                <a:cubicBezTo>
                  <a:pt x="11929" y="0"/>
                  <a:pt x="21600" y="9670"/>
                  <a:pt x="21600" y="21600"/>
                </a:cubicBezTo>
                <a:cubicBezTo>
                  <a:pt x="21600" y="21603"/>
                  <a:pt x="21599" y="21607"/>
                  <a:pt x="21599" y="21611"/>
                </a:cubicBezTo>
                <a:lnTo>
                  <a:pt x="0" y="21600"/>
                </a:lnTo>
                <a:lnTo>
                  <a:pt x="-1" y="0"/>
                </a:lnTo>
                <a:close/>
              </a:path>
            </a:pathLst>
          </a:custGeom>
          <a:noFill/>
          <a:ln w="38100">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dirty="0">
              <a:latin typeface="Times New Roman" panose="02020603050405020304" pitchFamily="18" charset="0"/>
              <a:ea typeface="微软雅黑 Light" panose="020B0502040204020203" pitchFamily="34" charset="-122"/>
            </a:endParaRPr>
          </a:p>
        </p:txBody>
      </p:sp>
      <p:sp>
        <p:nvSpPr>
          <p:cNvPr id="29" name="Text Box 10"/>
          <p:cNvSpPr txBox="1">
            <a:spLocks noChangeArrowheads="1"/>
          </p:cNvSpPr>
          <p:nvPr/>
        </p:nvSpPr>
        <p:spPr bwMode="auto">
          <a:xfrm>
            <a:off x="7292142" y="3918978"/>
            <a:ext cx="8130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lang="zh-CN" altLang="en-US" sz="1200" b="1">
                <a:solidFill>
                  <a:srgbClr val="000066"/>
                </a:solidFill>
                <a:latin typeface="+mj-lt"/>
                <a:ea typeface="+mj-ea"/>
              </a:rPr>
              <a:t>利用率 </a:t>
            </a:r>
            <a:r>
              <a:rPr lang="en-US" altLang="zh-CN" sz="1200" b="1">
                <a:solidFill>
                  <a:srgbClr val="000066"/>
                </a:solidFill>
                <a:latin typeface="+mj-lt"/>
                <a:ea typeface="+mj-ea"/>
              </a:rPr>
              <a:t>U</a:t>
            </a:r>
          </a:p>
        </p:txBody>
      </p:sp>
      <p:sp>
        <p:nvSpPr>
          <p:cNvPr id="30" name="Text Box 11"/>
          <p:cNvSpPr txBox="1">
            <a:spLocks noChangeArrowheads="1"/>
          </p:cNvSpPr>
          <p:nvPr/>
        </p:nvSpPr>
        <p:spPr bwMode="auto">
          <a:xfrm>
            <a:off x="6895185" y="3885179"/>
            <a:ext cx="24077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lang="en-US" altLang="zh-CN" sz="1200" b="1">
                <a:solidFill>
                  <a:srgbClr val="000066"/>
                </a:solidFill>
                <a:latin typeface="+mj-lt"/>
                <a:ea typeface="+mj-ea"/>
              </a:rPr>
              <a:t>1</a:t>
            </a:r>
          </a:p>
        </p:txBody>
      </p:sp>
      <p:sp>
        <p:nvSpPr>
          <p:cNvPr id="31" name="Text Box 12"/>
          <p:cNvSpPr txBox="1">
            <a:spLocks noChangeArrowheads="1"/>
          </p:cNvSpPr>
          <p:nvPr/>
        </p:nvSpPr>
        <p:spPr bwMode="auto">
          <a:xfrm>
            <a:off x="4980717" y="3857996"/>
            <a:ext cx="28725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lang="en-US" altLang="zh-CN" sz="1200" b="1">
                <a:solidFill>
                  <a:srgbClr val="000066"/>
                </a:solidFill>
                <a:latin typeface="+mj-lt"/>
                <a:ea typeface="+mj-ea"/>
              </a:rPr>
              <a:t>0</a:t>
            </a:r>
          </a:p>
        </p:txBody>
      </p:sp>
      <p:sp>
        <p:nvSpPr>
          <p:cNvPr id="32" name="Text Box 13"/>
          <p:cNvSpPr txBox="1">
            <a:spLocks noChangeArrowheads="1"/>
          </p:cNvSpPr>
          <p:nvPr/>
        </p:nvSpPr>
        <p:spPr bwMode="auto">
          <a:xfrm>
            <a:off x="4800043" y="3623847"/>
            <a:ext cx="3786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lang="en-US" altLang="zh-CN" sz="1200" b="1">
                <a:solidFill>
                  <a:srgbClr val="000066"/>
                </a:solidFill>
                <a:latin typeface="+mj-lt"/>
                <a:ea typeface="+mj-ea"/>
              </a:rPr>
              <a:t>D</a:t>
            </a:r>
            <a:r>
              <a:rPr lang="en-US" altLang="zh-CN" sz="1200" b="1" baseline="-25000">
                <a:solidFill>
                  <a:srgbClr val="000066"/>
                </a:solidFill>
                <a:latin typeface="+mj-lt"/>
                <a:ea typeface="+mj-ea"/>
              </a:rPr>
              <a:t>0</a:t>
            </a:r>
          </a:p>
        </p:txBody>
      </p:sp>
      <p:sp>
        <p:nvSpPr>
          <p:cNvPr id="33" name="Text Box 14"/>
          <p:cNvSpPr txBox="1">
            <a:spLocks noChangeArrowheads="1"/>
          </p:cNvSpPr>
          <p:nvPr/>
        </p:nvSpPr>
        <p:spPr bwMode="auto">
          <a:xfrm>
            <a:off x="6341086" y="2266232"/>
            <a:ext cx="524392"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lang="zh-CN" altLang="en-US" sz="1200" b="1" dirty="0">
                <a:solidFill>
                  <a:schemeClr val="bg1"/>
                </a:solidFill>
                <a:latin typeface="+mj-lt"/>
                <a:ea typeface="+mj-ea"/>
              </a:rPr>
              <a:t>时延急剧增大</a:t>
            </a:r>
          </a:p>
        </p:txBody>
      </p:sp>
    </p:spTree>
    <p:extLst>
      <p:ext uri="{BB962C8B-B14F-4D97-AF65-F5344CB8AC3E}">
        <p14:creationId xmlns:p14="http://schemas.microsoft.com/office/powerpoint/2010/main" val="1595097452"/>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B4E1DBC-1123-76D8-032B-9DCF46DB1D78}"/>
              </a:ext>
            </a:extLst>
          </p:cNvPr>
          <p:cNvSpPr>
            <a:spLocks noGrp="1"/>
          </p:cNvSpPr>
          <p:nvPr>
            <p:ph type="title"/>
          </p:nvPr>
        </p:nvSpPr>
        <p:spPr>
          <a:xfrm>
            <a:off x="612000" y="144000"/>
            <a:ext cx="7920000" cy="341632"/>
          </a:xfrm>
        </p:spPr>
        <p:txBody>
          <a:bodyPr/>
          <a:lstStyle/>
          <a:p>
            <a:r>
              <a:rPr lang="en-US" altLang="zh-CN" dirty="0"/>
              <a:t>1.6.2  </a:t>
            </a:r>
            <a:r>
              <a:rPr lang="zh-CN" altLang="en-US" dirty="0"/>
              <a:t>非性能特征</a:t>
            </a:r>
          </a:p>
        </p:txBody>
      </p:sp>
      <p:graphicFrame>
        <p:nvGraphicFramePr>
          <p:cNvPr id="5" name="图示 4"/>
          <p:cNvGraphicFramePr/>
          <p:nvPr>
            <p:extLst>
              <p:ext uri="{D42A27DB-BD31-4B8C-83A1-F6EECF244321}">
                <p14:modId xmlns:p14="http://schemas.microsoft.com/office/powerpoint/2010/main" val="1511222142"/>
              </p:ext>
            </p:extLst>
          </p:nvPr>
        </p:nvGraphicFramePr>
        <p:xfrm>
          <a:off x="141512" y="1184365"/>
          <a:ext cx="6792688" cy="3117669"/>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6" name="矩形 5"/>
          <p:cNvSpPr/>
          <p:nvPr/>
        </p:nvSpPr>
        <p:spPr>
          <a:xfrm>
            <a:off x="2626242" y="4302475"/>
            <a:ext cx="3891516" cy="373436"/>
          </a:xfrm>
          <a:prstGeom prst="rect">
            <a:avLst/>
          </a:prstGeom>
          <a:noFill/>
          <a:ln>
            <a:noFill/>
          </a:ln>
        </p:spPr>
        <p:style>
          <a:lnRef idx="1">
            <a:schemeClr val="accent5"/>
          </a:lnRef>
          <a:fillRef idx="2">
            <a:schemeClr val="accent5"/>
          </a:fillRef>
          <a:effectRef idx="1">
            <a:schemeClr val="accent5"/>
          </a:effectRef>
          <a:fontRef idx="minor">
            <a:schemeClr val="dk1"/>
          </a:fontRef>
        </p:style>
        <p:txBody>
          <a:bodyPr vert="horz" wrap="square" anchor="ctr" anchorCtr="0">
            <a:spAutoFit/>
          </a:bodyPr>
          <a:lstStyle/>
          <a:p>
            <a:pPr algn="ctr">
              <a:lnSpc>
                <a:spcPts val="2400"/>
              </a:lnSpc>
            </a:pPr>
            <a:r>
              <a:rPr lang="zh-CN" altLang="en-US" sz="1600" dirty="0">
                <a:solidFill>
                  <a:schemeClr val="tx1"/>
                </a:solidFill>
                <a:latin typeface="+mn-ea"/>
              </a:rPr>
              <a:t>这些非性能特征与性能指标有很大的关系</a:t>
            </a:r>
          </a:p>
        </p:txBody>
      </p:sp>
    </p:spTree>
    <p:extLst>
      <p:ext uri="{BB962C8B-B14F-4D97-AF65-F5344CB8AC3E}">
        <p14:creationId xmlns:p14="http://schemas.microsoft.com/office/powerpoint/2010/main" val="2518407552"/>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8257146E-4A73-AA27-DA9C-17A846496B8A}"/>
              </a:ext>
            </a:extLst>
          </p:cNvPr>
          <p:cNvSpPr>
            <a:spLocks noGrp="1"/>
          </p:cNvSpPr>
          <p:nvPr>
            <p:ph type="title"/>
          </p:nvPr>
        </p:nvSpPr>
        <p:spPr>
          <a:xfrm>
            <a:off x="2228850" y="403553"/>
            <a:ext cx="6562725" cy="523220"/>
          </a:xfrm>
        </p:spPr>
        <p:txBody>
          <a:bodyPr/>
          <a:lstStyle/>
          <a:p>
            <a:r>
              <a:rPr lang="fr-FR" altLang="zh-CN" dirty="0"/>
              <a:t>1.7 </a:t>
            </a:r>
            <a:r>
              <a:rPr lang="zh-CN" altLang="zh-CN" dirty="0"/>
              <a:t>计算机网络体系结构</a:t>
            </a:r>
            <a:endParaRPr lang="zh-CN" altLang="en-US" dirty="0"/>
          </a:p>
        </p:txBody>
      </p:sp>
      <p:sp>
        <p:nvSpPr>
          <p:cNvPr id="4" name="文本框 3">
            <a:extLst>
              <a:ext uri="{FF2B5EF4-FFF2-40B4-BE49-F238E27FC236}">
                <a16:creationId xmlns:a16="http://schemas.microsoft.com/office/drawing/2014/main" id="{C02EFC87-65AE-290F-4B8C-2E9FA9F9FD36}"/>
              </a:ext>
            </a:extLst>
          </p:cNvPr>
          <p:cNvSpPr txBox="1"/>
          <p:nvPr/>
        </p:nvSpPr>
        <p:spPr>
          <a:xfrm>
            <a:off x="2900362" y="1483896"/>
            <a:ext cx="4057650" cy="369332"/>
          </a:xfrm>
          <a:prstGeom prst="rect">
            <a:avLst/>
          </a:prstGeom>
          <a:noFill/>
        </p:spPr>
        <p:txBody>
          <a:bodyPr wrap="square">
            <a:spAutoFit/>
          </a:bodyPr>
          <a:lstStyle/>
          <a:p>
            <a:r>
              <a:rPr lang="en-US" altLang="zh-CN" dirty="0"/>
              <a:t>1.7.1 </a:t>
            </a:r>
            <a:r>
              <a:rPr lang="zh-CN" altLang="zh-CN" dirty="0"/>
              <a:t>计算机网络体系结构的形成</a:t>
            </a:r>
          </a:p>
        </p:txBody>
      </p:sp>
      <p:sp>
        <p:nvSpPr>
          <p:cNvPr id="7" name="文本框 6">
            <a:extLst>
              <a:ext uri="{FF2B5EF4-FFF2-40B4-BE49-F238E27FC236}">
                <a16:creationId xmlns:a16="http://schemas.microsoft.com/office/drawing/2014/main" id="{B3855622-5AEC-E882-79C3-0159551B738A}"/>
              </a:ext>
            </a:extLst>
          </p:cNvPr>
          <p:cNvSpPr txBox="1"/>
          <p:nvPr/>
        </p:nvSpPr>
        <p:spPr>
          <a:xfrm>
            <a:off x="3745706" y="2666082"/>
            <a:ext cx="4057650" cy="369332"/>
          </a:xfrm>
          <a:prstGeom prst="rect">
            <a:avLst/>
          </a:prstGeom>
          <a:noFill/>
        </p:spPr>
        <p:txBody>
          <a:bodyPr wrap="square">
            <a:spAutoFit/>
          </a:bodyPr>
          <a:lstStyle/>
          <a:p>
            <a:r>
              <a:rPr lang="en-US" altLang="zh-CN" dirty="0"/>
              <a:t>1.7.3 </a:t>
            </a:r>
            <a:r>
              <a:rPr lang="zh-CN" altLang="zh-CN" dirty="0"/>
              <a:t>具有五层协议的体系结构</a:t>
            </a:r>
            <a:endParaRPr lang="en-US" altLang="zh-CN" dirty="0"/>
          </a:p>
        </p:txBody>
      </p:sp>
      <p:sp>
        <p:nvSpPr>
          <p:cNvPr id="8" name="文本框 7">
            <a:extLst>
              <a:ext uri="{FF2B5EF4-FFF2-40B4-BE49-F238E27FC236}">
                <a16:creationId xmlns:a16="http://schemas.microsoft.com/office/drawing/2014/main" id="{C36211C7-4897-5305-95AA-FAE594D6EC97}"/>
              </a:ext>
            </a:extLst>
          </p:cNvPr>
          <p:cNvSpPr txBox="1"/>
          <p:nvPr/>
        </p:nvSpPr>
        <p:spPr>
          <a:xfrm>
            <a:off x="3323034" y="2074989"/>
            <a:ext cx="4057650" cy="369332"/>
          </a:xfrm>
          <a:prstGeom prst="rect">
            <a:avLst/>
          </a:prstGeom>
          <a:noFill/>
        </p:spPr>
        <p:txBody>
          <a:bodyPr wrap="square">
            <a:spAutoFit/>
          </a:bodyPr>
          <a:lstStyle/>
          <a:p>
            <a:r>
              <a:rPr lang="en-US" altLang="zh-CN" dirty="0"/>
              <a:t>1.7.2 </a:t>
            </a:r>
            <a:r>
              <a:rPr lang="zh-CN" altLang="zh-CN" dirty="0"/>
              <a:t>协议与划分层次</a:t>
            </a:r>
            <a:endParaRPr lang="en-US" altLang="zh-CN" dirty="0"/>
          </a:p>
        </p:txBody>
      </p:sp>
      <p:sp>
        <p:nvSpPr>
          <p:cNvPr id="9" name="文本框 8">
            <a:extLst>
              <a:ext uri="{FF2B5EF4-FFF2-40B4-BE49-F238E27FC236}">
                <a16:creationId xmlns:a16="http://schemas.microsoft.com/office/drawing/2014/main" id="{8D931469-CC63-0977-DCB8-5B6A150432D1}"/>
              </a:ext>
            </a:extLst>
          </p:cNvPr>
          <p:cNvSpPr txBox="1"/>
          <p:nvPr/>
        </p:nvSpPr>
        <p:spPr>
          <a:xfrm>
            <a:off x="4168378" y="3257175"/>
            <a:ext cx="4057650" cy="369332"/>
          </a:xfrm>
          <a:prstGeom prst="rect">
            <a:avLst/>
          </a:prstGeom>
          <a:noFill/>
        </p:spPr>
        <p:txBody>
          <a:bodyPr wrap="square">
            <a:spAutoFit/>
          </a:bodyPr>
          <a:lstStyle/>
          <a:p>
            <a:r>
              <a:rPr lang="en-US" altLang="zh-CN" dirty="0"/>
              <a:t>1.7.4 </a:t>
            </a:r>
            <a:r>
              <a:rPr lang="zh-CN" altLang="zh-CN" dirty="0"/>
              <a:t>实体、协议、服务和服务访问点</a:t>
            </a:r>
            <a:endParaRPr lang="en-US" altLang="zh-CN" dirty="0"/>
          </a:p>
        </p:txBody>
      </p:sp>
      <p:sp>
        <p:nvSpPr>
          <p:cNvPr id="10" name="文本框 9">
            <a:extLst>
              <a:ext uri="{FF2B5EF4-FFF2-40B4-BE49-F238E27FC236}">
                <a16:creationId xmlns:a16="http://schemas.microsoft.com/office/drawing/2014/main" id="{6F194142-D565-49EF-03C2-F79074090EA7}"/>
              </a:ext>
            </a:extLst>
          </p:cNvPr>
          <p:cNvSpPr txBox="1"/>
          <p:nvPr/>
        </p:nvSpPr>
        <p:spPr>
          <a:xfrm>
            <a:off x="4591050" y="3848269"/>
            <a:ext cx="4057650" cy="369332"/>
          </a:xfrm>
          <a:prstGeom prst="rect">
            <a:avLst/>
          </a:prstGeom>
          <a:noFill/>
        </p:spPr>
        <p:txBody>
          <a:bodyPr wrap="square">
            <a:spAutoFit/>
          </a:bodyPr>
          <a:lstStyle/>
          <a:p>
            <a:r>
              <a:rPr lang="en-US" altLang="zh-CN" dirty="0"/>
              <a:t>1.7.5 TCP/IP </a:t>
            </a:r>
            <a:r>
              <a:rPr lang="zh-CN" altLang="zh-CN" dirty="0"/>
              <a:t>的体系结构</a:t>
            </a:r>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标题 7">
            <a:extLst>
              <a:ext uri="{FF2B5EF4-FFF2-40B4-BE49-F238E27FC236}">
                <a16:creationId xmlns:a16="http://schemas.microsoft.com/office/drawing/2014/main" id="{6807835A-3920-F754-75CA-C60EC0C06716}"/>
              </a:ext>
            </a:extLst>
          </p:cNvPr>
          <p:cNvSpPr>
            <a:spLocks noGrp="1"/>
          </p:cNvSpPr>
          <p:nvPr>
            <p:ph type="title"/>
          </p:nvPr>
        </p:nvSpPr>
        <p:spPr>
          <a:xfrm>
            <a:off x="612000" y="144000"/>
            <a:ext cx="7920000" cy="341632"/>
          </a:xfrm>
        </p:spPr>
        <p:txBody>
          <a:bodyPr/>
          <a:lstStyle/>
          <a:p>
            <a:r>
              <a:rPr lang="en-US" altLang="zh-CN" dirty="0"/>
              <a:t>1.7.1  </a:t>
            </a:r>
            <a:r>
              <a:rPr lang="zh-CN" altLang="zh-CN" dirty="0"/>
              <a:t>计算机网络体系结构的形成</a:t>
            </a:r>
            <a:endParaRPr lang="zh-CN" altLang="en-US" dirty="0"/>
          </a:p>
        </p:txBody>
      </p:sp>
      <p:sp>
        <p:nvSpPr>
          <p:cNvPr id="6" name="Line 1453"/>
          <p:cNvSpPr>
            <a:spLocks noChangeShapeType="1"/>
          </p:cNvSpPr>
          <p:nvPr/>
        </p:nvSpPr>
        <p:spPr bwMode="auto">
          <a:xfrm flipH="1">
            <a:off x="1069517" y="2980716"/>
            <a:ext cx="1381272" cy="0"/>
          </a:xfrm>
          <a:prstGeom prst="line">
            <a:avLst/>
          </a:prstGeom>
          <a:noFill/>
          <a:ln w="3810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pic>
        <p:nvPicPr>
          <p:cNvPr id="159" name="Picture 246" descr="jisuanj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32658" y="2684537"/>
            <a:ext cx="661039" cy="66103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62" name="Line 1453"/>
          <p:cNvSpPr>
            <a:spLocks noChangeShapeType="1"/>
          </p:cNvSpPr>
          <p:nvPr/>
        </p:nvSpPr>
        <p:spPr bwMode="auto">
          <a:xfrm flipH="1">
            <a:off x="7257944" y="2980716"/>
            <a:ext cx="907434" cy="0"/>
          </a:xfrm>
          <a:prstGeom prst="line">
            <a:avLst/>
          </a:prstGeom>
          <a:noFill/>
          <a:ln w="3810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pic>
        <p:nvPicPr>
          <p:cNvPr id="161" name="Picture 246" descr="jisuanji"/>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957394" y="2684537"/>
            <a:ext cx="661039" cy="66103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3" name="任意多边形: 形状 12">
            <a:extLst>
              <a:ext uri="{FF2B5EF4-FFF2-40B4-BE49-F238E27FC236}">
                <a16:creationId xmlns:a16="http://schemas.microsoft.com/office/drawing/2014/main" id="{99BB141A-F229-30C1-E219-2893A7079C09}"/>
              </a:ext>
            </a:extLst>
          </p:cNvPr>
          <p:cNvSpPr>
            <a:spLocks noChangeArrowheads="1"/>
          </p:cNvSpPr>
          <p:nvPr/>
        </p:nvSpPr>
        <p:spPr bwMode="auto">
          <a:xfrm>
            <a:off x="1860814" y="1533803"/>
            <a:ext cx="5919624" cy="3189266"/>
          </a:xfrm>
          <a:custGeom>
            <a:avLst/>
            <a:gdLst>
              <a:gd name="csX0" fmla="*/ 3338766 w 5919624"/>
              <a:gd name="csY0" fmla="*/ 43428 h 3189266"/>
              <a:gd name="csX1" fmla="*/ 4158807 w 5919624"/>
              <a:gd name="csY1" fmla="*/ 382445 h 3189266"/>
              <a:gd name="csX2" fmla="*/ 4160864 w 5919624"/>
              <a:gd name="csY2" fmla="*/ 385062 h 3189266"/>
              <a:gd name="csX3" fmla="*/ 4181026 w 5919624"/>
              <a:gd name="csY3" fmla="*/ 376717 h 3189266"/>
              <a:gd name="csX4" fmla="*/ 4627770 w 5919624"/>
              <a:gd name="csY4" fmla="*/ 307942 h 3189266"/>
              <a:gd name="csX5" fmla="*/ 4745117 w 5919624"/>
              <a:gd name="csY5" fmla="*/ 312461 h 3189266"/>
              <a:gd name="csX6" fmla="*/ 5775489 w 5919624"/>
              <a:gd name="csY6" fmla="*/ 1183107 h 3189266"/>
              <a:gd name="csX7" fmla="*/ 5685295 w 5919624"/>
              <a:gd name="csY7" fmla="*/ 1523763 h 3189266"/>
              <a:gd name="csX8" fmla="*/ 5614097 w 5919624"/>
              <a:gd name="csY8" fmla="*/ 1623783 h 3189266"/>
              <a:gd name="csX9" fmla="*/ 5643268 w 5919624"/>
              <a:gd name="csY9" fmla="*/ 1645627 h 3189266"/>
              <a:gd name="csX10" fmla="*/ 5919624 w 5919624"/>
              <a:gd name="csY10" fmla="*/ 2227946 h 3189266"/>
              <a:gd name="csX11" fmla="*/ 4855826 w 5919624"/>
              <a:gd name="csY11" fmla="*/ 3094008 h 3189266"/>
              <a:gd name="csX12" fmla="*/ 4348757 w 5919624"/>
              <a:gd name="csY12" fmla="*/ 2989477 h 3189266"/>
              <a:gd name="csX13" fmla="*/ 4286232 w 5919624"/>
              <a:gd name="csY13" fmla="*/ 2958555 h 3189266"/>
              <a:gd name="csX14" fmla="*/ 4119420 w 5919624"/>
              <a:gd name="csY14" fmla="*/ 3053660 h 3189266"/>
              <a:gd name="csX15" fmla="*/ 3476986 w 5919624"/>
              <a:gd name="csY15" fmla="*/ 3189266 h 3189266"/>
              <a:gd name="csX16" fmla="*/ 2418249 w 5919624"/>
              <a:gd name="csY16" fmla="*/ 2704324 h 3189266"/>
              <a:gd name="csX17" fmla="*/ 2394707 w 5919624"/>
              <a:gd name="csY17" fmla="*/ 2651909 h 3189266"/>
              <a:gd name="csX18" fmla="*/ 2311037 w 5919624"/>
              <a:gd name="csY18" fmla="*/ 2718415 h 3189266"/>
              <a:gd name="csX19" fmla="*/ 1499477 w 5919624"/>
              <a:gd name="csY19" fmla="*/ 2938878 h 3189266"/>
              <a:gd name="csX20" fmla="*/ 351758 w 5919624"/>
              <a:gd name="csY20" fmla="*/ 2186170 h 3189266"/>
              <a:gd name="csX21" fmla="*/ 366010 w 5919624"/>
              <a:gd name="csY21" fmla="*/ 2093450 h 3189266"/>
              <a:gd name="csX22" fmla="*/ 288082 w 5919624"/>
              <a:gd name="csY22" fmla="*/ 2042465 h 3189266"/>
              <a:gd name="csX23" fmla="*/ 0 w 5919624"/>
              <a:gd name="csY23" fmla="*/ 1490973 h 3189266"/>
              <a:gd name="csX24" fmla="*/ 433650 w 5919624"/>
              <a:gd name="csY24" fmla="*/ 844246 h 3189266"/>
              <a:gd name="csX25" fmla="*/ 435208 w 5919624"/>
              <a:gd name="csY25" fmla="*/ 843574 h 3189266"/>
              <a:gd name="csX26" fmla="*/ 421002 w 5919624"/>
              <a:gd name="csY26" fmla="*/ 749893 h 3189266"/>
              <a:gd name="csX27" fmla="*/ 1549024 w 5919624"/>
              <a:gd name="csY27" fmla="*/ 0 h 3189266"/>
              <a:gd name="csX28" fmla="*/ 2346655 w 5919624"/>
              <a:gd name="csY28" fmla="*/ 219639 h 3189266"/>
              <a:gd name="csX29" fmla="*/ 2415986 w 5919624"/>
              <a:gd name="csY29" fmla="*/ 275501 h 3189266"/>
              <a:gd name="csX30" fmla="*/ 2425801 w 5919624"/>
              <a:gd name="csY30" fmla="*/ 267296 h 3189266"/>
              <a:gd name="csX31" fmla="*/ 3223432 w 5919624"/>
              <a:gd name="csY31" fmla="*/ 39411 h 3189266"/>
              <a:gd name="csX32" fmla="*/ 3338766 w 5919624"/>
              <a:gd name="csY32" fmla="*/ 43428 h 318926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Lst>
            <a:rect l="l" t="t" r="r" b="b"/>
            <a:pathLst>
              <a:path w="5919624" h="3189266">
                <a:moveTo>
                  <a:pt x="3338766" y="43428"/>
                </a:moveTo>
                <a:cubicBezTo>
                  <a:pt x="3680053" y="67334"/>
                  <a:pt x="3976363" y="196179"/>
                  <a:pt x="4158807" y="382445"/>
                </a:cubicBezTo>
                <a:lnTo>
                  <a:pt x="4160864" y="385062"/>
                </a:lnTo>
                <a:lnTo>
                  <a:pt x="4181026" y="376717"/>
                </a:lnTo>
                <a:cubicBezTo>
                  <a:pt x="4318337" y="332431"/>
                  <a:pt x="4469305" y="307942"/>
                  <a:pt x="4627770" y="307942"/>
                </a:cubicBezTo>
                <a:cubicBezTo>
                  <a:pt x="4667386" y="307942"/>
                  <a:pt x="4706536" y="309474"/>
                  <a:pt x="4745117" y="312461"/>
                </a:cubicBezTo>
                <a:cubicBezTo>
                  <a:pt x="5323862" y="357280"/>
                  <a:pt x="5775491" y="729977"/>
                  <a:pt x="5775489" y="1183107"/>
                </a:cubicBezTo>
                <a:cubicBezTo>
                  <a:pt x="5775488" y="1303942"/>
                  <a:pt x="5743375" y="1419058"/>
                  <a:pt x="5685295" y="1523763"/>
                </a:cubicBezTo>
                <a:lnTo>
                  <a:pt x="5614097" y="1623783"/>
                </a:lnTo>
                <a:lnTo>
                  <a:pt x="5643268" y="1645627"/>
                </a:lnTo>
                <a:cubicBezTo>
                  <a:pt x="5814973" y="1799430"/>
                  <a:pt x="5919624" y="2003737"/>
                  <a:pt x="5919624" y="2227946"/>
                </a:cubicBezTo>
                <a:cubicBezTo>
                  <a:pt x="5919624" y="2706258"/>
                  <a:pt x="5443347" y="3094006"/>
                  <a:pt x="4855826" y="3094008"/>
                </a:cubicBezTo>
                <a:cubicBezTo>
                  <a:pt x="4672228" y="3094007"/>
                  <a:pt x="4499490" y="3056140"/>
                  <a:pt x="4348757" y="2989477"/>
                </a:cubicBezTo>
                <a:lnTo>
                  <a:pt x="4286232" y="2958555"/>
                </a:lnTo>
                <a:lnTo>
                  <a:pt x="4119420" y="3053660"/>
                </a:lnTo>
                <a:cubicBezTo>
                  <a:pt x="3936033" y="3139275"/>
                  <a:pt x="3714959" y="3189266"/>
                  <a:pt x="3476986" y="3189266"/>
                </a:cubicBezTo>
                <a:cubicBezTo>
                  <a:pt x="3001040" y="3189264"/>
                  <a:pt x="2592682" y="2989302"/>
                  <a:pt x="2418249" y="2704324"/>
                </a:cubicBezTo>
                <a:lnTo>
                  <a:pt x="2394707" y="2651909"/>
                </a:lnTo>
                <a:lnTo>
                  <a:pt x="2311037" y="2718415"/>
                </a:lnTo>
                <a:cubicBezTo>
                  <a:pt x="2103342" y="2854628"/>
                  <a:pt x="1816413" y="2938878"/>
                  <a:pt x="1499477" y="2938878"/>
                </a:cubicBezTo>
                <a:cubicBezTo>
                  <a:pt x="865609" y="2938880"/>
                  <a:pt x="351758" y="2601879"/>
                  <a:pt x="351758" y="2186170"/>
                </a:cubicBezTo>
                <a:lnTo>
                  <a:pt x="366010" y="2093450"/>
                </a:lnTo>
                <a:lnTo>
                  <a:pt x="288082" y="2042465"/>
                </a:lnTo>
                <a:cubicBezTo>
                  <a:pt x="110091" y="1901326"/>
                  <a:pt x="0" y="1706344"/>
                  <a:pt x="0" y="1490973"/>
                </a:cubicBezTo>
                <a:cubicBezTo>
                  <a:pt x="0" y="1221760"/>
                  <a:pt x="172016" y="984404"/>
                  <a:pt x="433650" y="844246"/>
                </a:cubicBezTo>
                <a:lnTo>
                  <a:pt x="435208" y="843574"/>
                </a:lnTo>
                <a:lnTo>
                  <a:pt x="421002" y="749893"/>
                </a:lnTo>
                <a:cubicBezTo>
                  <a:pt x="421002" y="335739"/>
                  <a:pt x="926034" y="0"/>
                  <a:pt x="1549024" y="0"/>
                </a:cubicBezTo>
                <a:cubicBezTo>
                  <a:pt x="1860518" y="1"/>
                  <a:pt x="2142523" y="83935"/>
                  <a:pt x="2346655" y="219639"/>
                </a:cubicBezTo>
                <a:lnTo>
                  <a:pt x="2415986" y="275501"/>
                </a:lnTo>
                <a:lnTo>
                  <a:pt x="2425801" y="267296"/>
                </a:lnTo>
                <a:cubicBezTo>
                  <a:pt x="2629932" y="126497"/>
                  <a:pt x="2911938" y="39411"/>
                  <a:pt x="3223432" y="39411"/>
                </a:cubicBezTo>
                <a:cubicBezTo>
                  <a:pt x="3262369" y="39411"/>
                  <a:pt x="3300845" y="40771"/>
                  <a:pt x="3338766" y="43428"/>
                </a:cubicBezTo>
                <a:close/>
              </a:path>
            </a:pathLst>
          </a:custGeom>
          <a:solidFill>
            <a:srgbClr val="F2F2F2"/>
          </a:solidFill>
          <a:ln w="19050">
            <a:noFill/>
            <a:prstDash val="solid"/>
            <a:round/>
            <a:headEnd/>
            <a:tailEnd/>
          </a:ln>
          <a:effectLst/>
        </p:spPr>
        <p:txBody>
          <a:bodyPr wrap="square">
            <a:noAutofit/>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63" name="文本框 162"/>
          <p:cNvSpPr txBox="1"/>
          <p:nvPr/>
        </p:nvSpPr>
        <p:spPr>
          <a:xfrm>
            <a:off x="2421801" y="1956472"/>
            <a:ext cx="5035719" cy="2062103"/>
          </a:xfrm>
          <a:prstGeom prst="rect">
            <a:avLst/>
          </a:prstGeom>
          <a:noFill/>
        </p:spPr>
        <p:txBody>
          <a:bodyPr wrap="square" rtlCol="0">
            <a:spAutoFit/>
          </a:bodyPr>
          <a:lstStyle>
            <a:defPPr>
              <a:defRPr lang="zh-CN"/>
            </a:defPPr>
            <a:lvl1pPr algn="ctr">
              <a:defRPr sz="1400"/>
            </a:lvl1pPr>
          </a:lstStyle>
          <a:p>
            <a:pPr marL="180000" indent="-180000" algn="l">
              <a:spcAft>
                <a:spcPts val="600"/>
              </a:spcAft>
              <a:buFont typeface="+mj-lt"/>
              <a:buAutoNum type="arabicPeriod"/>
            </a:pPr>
            <a:r>
              <a:rPr lang="zh-CN" altLang="en-US" dirty="0"/>
              <a:t>必须有一条传送数据的链路</a:t>
            </a:r>
            <a:endParaRPr lang="en-US" altLang="zh-CN" dirty="0"/>
          </a:p>
          <a:p>
            <a:pPr marL="180000" indent="-180000" algn="l">
              <a:spcAft>
                <a:spcPts val="600"/>
              </a:spcAft>
              <a:buFont typeface="+mj-lt"/>
              <a:buAutoNum type="arabicPeriod"/>
            </a:pPr>
            <a:r>
              <a:rPr lang="zh-CN" altLang="en-US" dirty="0"/>
              <a:t>发起方必须激活链路</a:t>
            </a:r>
          </a:p>
          <a:p>
            <a:pPr marL="180000" indent="-180000" algn="l">
              <a:spcAft>
                <a:spcPts val="600"/>
              </a:spcAft>
              <a:buFont typeface="+mj-lt"/>
              <a:buAutoNum type="arabicPeriod"/>
            </a:pPr>
            <a:r>
              <a:rPr lang="zh-CN" altLang="en-US" dirty="0"/>
              <a:t>要告诉网络如何识别接收方</a:t>
            </a:r>
          </a:p>
          <a:p>
            <a:pPr marL="180000" indent="-180000" algn="l">
              <a:spcAft>
                <a:spcPts val="600"/>
              </a:spcAft>
              <a:buFont typeface="+mj-lt"/>
              <a:buAutoNum type="arabicPeriod"/>
            </a:pPr>
            <a:r>
              <a:rPr lang="zh-CN" altLang="en-US" dirty="0"/>
              <a:t>发起方要清楚对方是否已开机，且与网络连接正常</a:t>
            </a:r>
          </a:p>
          <a:p>
            <a:pPr marL="180000" indent="-180000" algn="l">
              <a:spcAft>
                <a:spcPts val="600"/>
              </a:spcAft>
              <a:buFont typeface="+mj-lt"/>
              <a:buAutoNum type="arabicPeriod"/>
            </a:pPr>
            <a:r>
              <a:rPr lang="zh-CN" altLang="en-US" dirty="0"/>
              <a:t>发起方要清楚对方是否准备好接收和存储文件</a:t>
            </a:r>
          </a:p>
          <a:p>
            <a:pPr marL="180000" indent="-180000" algn="l">
              <a:spcAft>
                <a:spcPts val="600"/>
              </a:spcAft>
              <a:buFont typeface="+mj-lt"/>
              <a:buAutoNum type="arabicPeriod"/>
            </a:pPr>
            <a:r>
              <a:rPr lang="zh-CN" altLang="en-US" dirty="0"/>
              <a:t>若文件格式不兼容，要完成格式的转换</a:t>
            </a:r>
          </a:p>
          <a:p>
            <a:pPr marL="180000" indent="-180000" algn="l">
              <a:spcAft>
                <a:spcPts val="600"/>
              </a:spcAft>
              <a:buFont typeface="+mj-lt"/>
              <a:buAutoNum type="arabicPeriod"/>
            </a:pPr>
            <a:r>
              <a:rPr lang="zh-CN" altLang="en-US" dirty="0"/>
              <a:t>要处理各种差错和意外事故，保证收到正确的文件</a:t>
            </a:r>
          </a:p>
        </p:txBody>
      </p:sp>
      <p:sp>
        <p:nvSpPr>
          <p:cNvPr id="3" name="矩形 2"/>
          <p:cNvSpPr/>
          <p:nvPr/>
        </p:nvSpPr>
        <p:spPr>
          <a:xfrm>
            <a:off x="2774072" y="1200719"/>
            <a:ext cx="3595856" cy="307777"/>
          </a:xfrm>
          <a:prstGeom prst="rect">
            <a:avLst/>
          </a:prstGeom>
          <a:noFill/>
        </p:spPr>
        <p:txBody>
          <a:bodyPr wrap="square" rtlCol="0">
            <a:spAutoFit/>
          </a:bodyPr>
          <a:lstStyle/>
          <a:p>
            <a:pPr algn="ctr"/>
            <a:r>
              <a:rPr lang="zh-CN" altLang="en-US" sz="1400" dirty="0">
                <a:solidFill>
                  <a:srgbClr val="D4237A"/>
                </a:solidFill>
                <a:ea typeface="+mj-ea"/>
              </a:rPr>
              <a:t>两台计算机要互相传送文件需解决很多问题</a:t>
            </a:r>
          </a:p>
        </p:txBody>
      </p:sp>
      <p:sp>
        <p:nvSpPr>
          <p:cNvPr id="19" name="Text Box 38"/>
          <p:cNvSpPr txBox="1">
            <a:spLocks noChangeArrowheads="1"/>
          </p:cNvSpPr>
          <p:nvPr/>
        </p:nvSpPr>
        <p:spPr bwMode="auto">
          <a:xfrm>
            <a:off x="714176" y="3341650"/>
            <a:ext cx="898003" cy="307777"/>
          </a:xfrm>
          <a:prstGeom prst="rect">
            <a:avLst/>
          </a:prstGeom>
          <a:noFill/>
        </p:spPr>
        <p:txBody>
          <a:bodyPr wrap="square" rtlCol="0">
            <a:spAutoFit/>
          </a:bodyPr>
          <a:lstStyle>
            <a:defPPr>
              <a:defRPr lang="zh-CN"/>
            </a:defPPr>
            <a:lvl1pPr>
              <a:defRPr sz="1400"/>
            </a:lvl1pPr>
          </a:lstStyle>
          <a:p>
            <a:pPr algn="ctr"/>
            <a:r>
              <a:rPr lang="zh-CN" altLang="en-US" dirty="0"/>
              <a:t>计算机 </a:t>
            </a:r>
            <a:r>
              <a:rPr lang="en-US" altLang="zh-CN" dirty="0"/>
              <a:t>A</a:t>
            </a:r>
          </a:p>
        </p:txBody>
      </p:sp>
      <p:sp>
        <p:nvSpPr>
          <p:cNvPr id="20" name="Text Box 38"/>
          <p:cNvSpPr txBox="1">
            <a:spLocks noChangeArrowheads="1"/>
          </p:cNvSpPr>
          <p:nvPr/>
        </p:nvSpPr>
        <p:spPr bwMode="auto">
          <a:xfrm>
            <a:off x="7835706" y="3341650"/>
            <a:ext cx="904415" cy="307777"/>
          </a:xfrm>
          <a:prstGeom prst="rect">
            <a:avLst/>
          </a:prstGeom>
          <a:noFill/>
        </p:spPr>
        <p:txBody>
          <a:bodyPr wrap="square" rtlCol="0">
            <a:spAutoFit/>
          </a:bodyPr>
          <a:lstStyle>
            <a:defPPr>
              <a:defRPr lang="zh-CN"/>
            </a:defPPr>
            <a:lvl1pPr algn="ctr">
              <a:defRPr sz="1400"/>
            </a:lvl1pPr>
          </a:lstStyle>
          <a:p>
            <a:r>
              <a:rPr lang="zh-CN" altLang="en-US" dirty="0"/>
              <a:t>计算机 </a:t>
            </a:r>
            <a:r>
              <a:rPr lang="en-US" altLang="zh-CN" dirty="0"/>
              <a:t>B</a:t>
            </a:r>
          </a:p>
        </p:txBody>
      </p:sp>
    </p:spTree>
    <p:extLst>
      <p:ext uri="{BB962C8B-B14F-4D97-AF65-F5344CB8AC3E}">
        <p14:creationId xmlns:p14="http://schemas.microsoft.com/office/powerpoint/2010/main" val="1705118121"/>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D2F22A0E-22B0-DC74-74DE-589257AB9106}"/>
              </a:ext>
            </a:extLst>
          </p:cNvPr>
          <p:cNvSpPr>
            <a:spLocks noGrp="1"/>
          </p:cNvSpPr>
          <p:nvPr>
            <p:ph type="title"/>
          </p:nvPr>
        </p:nvSpPr>
        <p:spPr>
          <a:xfrm>
            <a:off x="612000" y="144000"/>
            <a:ext cx="7920000" cy="341632"/>
          </a:xfrm>
        </p:spPr>
        <p:txBody>
          <a:bodyPr/>
          <a:lstStyle/>
          <a:p>
            <a:r>
              <a:rPr lang="en-US" altLang="zh-CN" dirty="0"/>
              <a:t>1.7.1  </a:t>
            </a:r>
            <a:r>
              <a:rPr lang="zh-CN" altLang="zh-CN" dirty="0"/>
              <a:t>计算机网络体系结构的形成</a:t>
            </a:r>
            <a:endParaRPr lang="zh-CN" altLang="en-US" dirty="0"/>
          </a:p>
        </p:txBody>
      </p:sp>
      <p:sp>
        <p:nvSpPr>
          <p:cNvPr id="3" name="内容占位符 2"/>
          <p:cNvSpPr>
            <a:spLocks noGrp="1"/>
          </p:cNvSpPr>
          <p:nvPr>
            <p:ph sz="quarter" idx="10"/>
          </p:nvPr>
        </p:nvSpPr>
        <p:spPr>
          <a:xfrm>
            <a:off x="612000" y="899999"/>
            <a:ext cx="7920000" cy="3780000"/>
          </a:xfrm>
        </p:spPr>
        <p:txBody>
          <a:bodyPr/>
          <a:lstStyle/>
          <a:p>
            <a:r>
              <a:rPr lang="zh-CN" altLang="en-US" dirty="0"/>
              <a:t>最初的 </a:t>
            </a:r>
            <a:r>
              <a:rPr lang="en-US" altLang="zh-CN" dirty="0"/>
              <a:t>ARPANET </a:t>
            </a:r>
            <a:r>
              <a:rPr lang="zh-CN" altLang="en-US" dirty="0"/>
              <a:t>设计时提出了分层的设计方法</a:t>
            </a:r>
          </a:p>
          <a:p>
            <a:r>
              <a:rPr lang="zh-CN" altLang="en-US" dirty="0"/>
              <a:t>分层：将庞大而复杂的问题，转化为若干较小的局部问题</a:t>
            </a:r>
            <a:endParaRPr lang="en-US" altLang="zh-CN" dirty="0"/>
          </a:p>
          <a:p>
            <a:r>
              <a:rPr lang="en-US" altLang="zh-CN" dirty="0"/>
              <a:t>1974 </a:t>
            </a:r>
            <a:r>
              <a:rPr lang="zh-CN" altLang="en-US" dirty="0"/>
              <a:t>年，</a:t>
            </a:r>
            <a:r>
              <a:rPr lang="en-US" altLang="zh-CN" dirty="0"/>
              <a:t>IBM </a:t>
            </a:r>
            <a:r>
              <a:rPr lang="zh-CN" altLang="en-US" dirty="0"/>
              <a:t>按照分层的方法制定并提出了系统网络体系结构 </a:t>
            </a:r>
            <a:r>
              <a:rPr lang="en-US" altLang="zh-CN" dirty="0"/>
              <a:t>SNA (System Network Architecture)</a:t>
            </a:r>
            <a:r>
              <a:rPr lang="zh-CN" altLang="en-US" dirty="0"/>
              <a:t> </a:t>
            </a:r>
          </a:p>
          <a:p>
            <a:r>
              <a:rPr lang="zh-CN" altLang="en-US" dirty="0"/>
              <a:t>此后，其他一些公司也相继推出了具有不同名称的体系结构</a:t>
            </a:r>
          </a:p>
          <a:p>
            <a:endParaRPr lang="en-US" altLang="zh-CN" dirty="0"/>
          </a:p>
        </p:txBody>
      </p:sp>
      <p:sp>
        <p:nvSpPr>
          <p:cNvPr id="4" name="矩形 3"/>
          <p:cNvSpPr/>
          <p:nvPr/>
        </p:nvSpPr>
        <p:spPr>
          <a:xfrm>
            <a:off x="773103" y="3240000"/>
            <a:ext cx="7515497" cy="307777"/>
          </a:xfrm>
          <a:prstGeom prst="rect">
            <a:avLst/>
          </a:prstGeom>
          <a:noFill/>
        </p:spPr>
        <p:txBody>
          <a:bodyPr wrap="square" rtlCol="0">
            <a:spAutoFit/>
          </a:bodyPr>
          <a:lstStyle/>
          <a:p>
            <a:pPr algn="ctr"/>
            <a:r>
              <a:rPr lang="zh-CN" altLang="en-US" sz="1400" dirty="0">
                <a:solidFill>
                  <a:srgbClr val="D4237A"/>
                </a:solidFill>
                <a:ea typeface="+mj-ea"/>
              </a:rPr>
              <a:t>但由于网络体系结构的不同，不同公司的设备很难互相连通</a:t>
            </a:r>
          </a:p>
        </p:txBody>
      </p:sp>
    </p:spTree>
    <p:extLst>
      <p:ext uri="{BB962C8B-B14F-4D97-AF65-F5344CB8AC3E}">
        <p14:creationId xmlns:p14="http://schemas.microsoft.com/office/powerpoint/2010/main" val="1266067259"/>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标题 7">
            <a:extLst>
              <a:ext uri="{FF2B5EF4-FFF2-40B4-BE49-F238E27FC236}">
                <a16:creationId xmlns:a16="http://schemas.microsoft.com/office/drawing/2014/main" id="{B03EA107-D69E-352B-3382-105E67550304}"/>
              </a:ext>
            </a:extLst>
          </p:cNvPr>
          <p:cNvSpPr>
            <a:spLocks noGrp="1"/>
          </p:cNvSpPr>
          <p:nvPr>
            <p:ph type="title"/>
          </p:nvPr>
        </p:nvSpPr>
        <p:spPr>
          <a:xfrm>
            <a:off x="612000" y="144000"/>
            <a:ext cx="7920000" cy="341632"/>
          </a:xfrm>
        </p:spPr>
        <p:txBody>
          <a:bodyPr/>
          <a:lstStyle/>
          <a:p>
            <a:r>
              <a:rPr lang="zh-CN" altLang="en-US" dirty="0"/>
              <a:t>开放系统互连参考模型 </a:t>
            </a:r>
            <a:r>
              <a:rPr lang="en-US" altLang="zh-CN" dirty="0"/>
              <a:t>OSI/RM</a:t>
            </a:r>
          </a:p>
        </p:txBody>
      </p:sp>
      <p:sp>
        <p:nvSpPr>
          <p:cNvPr id="2" name="内容占位符 1"/>
          <p:cNvSpPr>
            <a:spLocks noGrp="1"/>
          </p:cNvSpPr>
          <p:nvPr>
            <p:ph sz="quarter" idx="10"/>
          </p:nvPr>
        </p:nvSpPr>
        <p:spPr>
          <a:xfrm>
            <a:off x="612000" y="899999"/>
            <a:ext cx="7920000" cy="3780000"/>
          </a:xfrm>
        </p:spPr>
        <p:txBody>
          <a:bodyPr/>
          <a:lstStyle/>
          <a:p>
            <a:r>
              <a:rPr lang="zh-CN" altLang="en-US" dirty="0"/>
              <a:t>国际标准化组织 </a:t>
            </a:r>
            <a:r>
              <a:rPr lang="en-US" altLang="zh-CN" dirty="0"/>
              <a:t>ISO </a:t>
            </a:r>
            <a:r>
              <a:rPr lang="zh-CN" altLang="en-US" dirty="0"/>
              <a:t>提出 </a:t>
            </a:r>
            <a:r>
              <a:rPr lang="en-US" altLang="zh-CN" dirty="0"/>
              <a:t>OSI/RM</a:t>
            </a:r>
          </a:p>
          <a:p>
            <a:r>
              <a:rPr lang="en-US" altLang="zh-CN" dirty="0"/>
              <a:t>Open Systems Interconnection Reference Model</a:t>
            </a:r>
          </a:p>
          <a:p>
            <a:r>
              <a:rPr lang="zh-CN" altLang="en-US" dirty="0"/>
              <a:t>使各种计算机在世界范围内互连成网的标准框架</a:t>
            </a:r>
            <a:endParaRPr lang="en-US" altLang="zh-CN" dirty="0"/>
          </a:p>
          <a:p>
            <a:r>
              <a:rPr lang="en-US" altLang="zh-CN" dirty="0"/>
              <a:t>OSI/RM </a:t>
            </a:r>
            <a:r>
              <a:rPr lang="zh-CN" altLang="en-US" dirty="0"/>
              <a:t>是个</a:t>
            </a:r>
            <a:r>
              <a:rPr lang="zh-CN" altLang="en-US" dirty="0">
                <a:solidFill>
                  <a:srgbClr val="D4237A"/>
                </a:solidFill>
              </a:rPr>
              <a:t>抽象</a:t>
            </a:r>
            <a:r>
              <a:rPr lang="zh-CN" altLang="en-US" dirty="0"/>
              <a:t>概念</a:t>
            </a:r>
            <a:endParaRPr lang="en-US" altLang="zh-CN" dirty="0"/>
          </a:p>
          <a:p>
            <a:r>
              <a:rPr lang="en-US" altLang="zh-CN" dirty="0"/>
              <a:t>OSI /RM </a:t>
            </a:r>
            <a:r>
              <a:rPr lang="zh-CN" altLang="en-US" dirty="0"/>
              <a:t>试图达到一种</a:t>
            </a:r>
            <a:r>
              <a:rPr lang="zh-CN" altLang="en-US" dirty="0">
                <a:solidFill>
                  <a:srgbClr val="D4237A"/>
                </a:solidFill>
              </a:rPr>
              <a:t>理想</a:t>
            </a:r>
            <a:r>
              <a:rPr lang="zh-CN" altLang="en-US" dirty="0"/>
              <a:t>境界：全球计算机网络</a:t>
            </a:r>
            <a:r>
              <a:rPr lang="zh-CN" altLang="en-US" dirty="0">
                <a:solidFill>
                  <a:srgbClr val="D4237A"/>
                </a:solidFill>
              </a:rPr>
              <a:t>都</a:t>
            </a:r>
            <a:r>
              <a:rPr lang="zh-CN" altLang="en-US" dirty="0"/>
              <a:t>遵循这个统一标准，因而全球的计算机将能够很方便地进行互连和交换数据</a:t>
            </a:r>
            <a:endParaRPr lang="en-US" altLang="zh-CN" dirty="0"/>
          </a:p>
          <a:p>
            <a:r>
              <a:rPr lang="en-US" altLang="zh-CN" dirty="0"/>
              <a:t>1983</a:t>
            </a:r>
            <a:r>
              <a:rPr lang="zh-CN" altLang="en-US" dirty="0"/>
              <a:t>年，形成了著名的 </a:t>
            </a:r>
            <a:r>
              <a:rPr lang="en-US" altLang="zh-CN" dirty="0"/>
              <a:t>ISO 7498 </a:t>
            </a:r>
            <a:r>
              <a:rPr lang="zh-CN" altLang="en-US" dirty="0"/>
              <a:t>国际标准，即七层协议的体系结构</a:t>
            </a:r>
          </a:p>
        </p:txBody>
      </p:sp>
    </p:spTree>
    <p:extLst>
      <p:ext uri="{BB962C8B-B14F-4D97-AF65-F5344CB8AC3E}">
        <p14:creationId xmlns:p14="http://schemas.microsoft.com/office/powerpoint/2010/main" val="2711583422"/>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ABA4FCAC-DEE0-26E5-4C93-CB5A0CA931D6}"/>
              </a:ext>
            </a:extLst>
          </p:cNvPr>
          <p:cNvSpPr>
            <a:spLocks noGrp="1"/>
          </p:cNvSpPr>
          <p:nvPr>
            <p:ph type="title"/>
          </p:nvPr>
        </p:nvSpPr>
        <p:spPr>
          <a:xfrm>
            <a:off x="612000" y="144000"/>
            <a:ext cx="7920000" cy="341632"/>
          </a:xfrm>
        </p:spPr>
        <p:txBody>
          <a:bodyPr/>
          <a:lstStyle/>
          <a:p>
            <a:r>
              <a:rPr lang="zh-CN" altLang="en-US" dirty="0"/>
              <a:t>开放系统互连参考模型 </a:t>
            </a:r>
            <a:r>
              <a:rPr lang="en-US" altLang="zh-CN" dirty="0"/>
              <a:t>OSI/RM</a:t>
            </a:r>
          </a:p>
        </p:txBody>
      </p:sp>
      <p:sp>
        <p:nvSpPr>
          <p:cNvPr id="2" name="内容占位符 1"/>
          <p:cNvSpPr>
            <a:spLocks noGrp="1"/>
          </p:cNvSpPr>
          <p:nvPr>
            <p:ph sz="quarter" idx="10"/>
          </p:nvPr>
        </p:nvSpPr>
        <p:spPr>
          <a:xfrm>
            <a:off x="612000" y="899999"/>
            <a:ext cx="7920000" cy="3780000"/>
          </a:xfrm>
        </p:spPr>
        <p:txBody>
          <a:bodyPr/>
          <a:lstStyle/>
          <a:p>
            <a:r>
              <a:rPr lang="en-US" altLang="zh-CN" dirty="0"/>
              <a:t>OSI </a:t>
            </a:r>
            <a:r>
              <a:rPr lang="zh-CN" altLang="en-US" dirty="0"/>
              <a:t>的专家们在完成 </a:t>
            </a:r>
            <a:r>
              <a:rPr lang="en-US" altLang="zh-CN" dirty="0"/>
              <a:t>OSI </a:t>
            </a:r>
            <a:r>
              <a:rPr lang="zh-CN" altLang="en-US" dirty="0"/>
              <a:t>标准时没有商业驱动力</a:t>
            </a:r>
          </a:p>
          <a:p>
            <a:r>
              <a:rPr lang="en-US" altLang="zh-CN" dirty="0"/>
              <a:t>OSI </a:t>
            </a:r>
            <a:r>
              <a:rPr lang="zh-CN" altLang="en-US" dirty="0"/>
              <a:t>的协议实现起来过分复杂，且运行效率很低</a:t>
            </a:r>
          </a:p>
          <a:p>
            <a:r>
              <a:rPr lang="en-US" altLang="zh-CN" dirty="0"/>
              <a:t>OSI </a:t>
            </a:r>
            <a:r>
              <a:rPr lang="zh-CN" altLang="en-US" dirty="0"/>
              <a:t>标准的制定周期太长，使得按 </a:t>
            </a:r>
            <a:r>
              <a:rPr lang="en-US" altLang="zh-CN" dirty="0"/>
              <a:t>OSI </a:t>
            </a:r>
            <a:r>
              <a:rPr lang="zh-CN" altLang="en-US" dirty="0"/>
              <a:t>标准生产的设备无法及时进入市场</a:t>
            </a:r>
          </a:p>
          <a:p>
            <a:r>
              <a:rPr lang="en-US" altLang="zh-CN" dirty="0"/>
              <a:t>OSI </a:t>
            </a:r>
            <a:r>
              <a:rPr lang="zh-CN" altLang="en-US" dirty="0"/>
              <a:t>的层次划分也不太合理，有些功能在多个层次中重复出现</a:t>
            </a:r>
            <a:endParaRPr lang="en-US" altLang="zh-CN" dirty="0"/>
          </a:p>
          <a:p>
            <a:r>
              <a:rPr lang="zh-CN" altLang="en-US" dirty="0"/>
              <a:t>基于 </a:t>
            </a:r>
            <a:r>
              <a:rPr lang="en-US" altLang="zh-CN" dirty="0"/>
              <a:t>TCP/IP </a:t>
            </a:r>
            <a:r>
              <a:rPr lang="zh-CN" altLang="en-US" dirty="0"/>
              <a:t>的互联网已抢先在全球相当大的范围成功地运行了</a:t>
            </a:r>
          </a:p>
        </p:txBody>
      </p:sp>
      <p:sp>
        <p:nvSpPr>
          <p:cNvPr id="8" name="文本框 7">
            <a:extLst>
              <a:ext uri="{FF2B5EF4-FFF2-40B4-BE49-F238E27FC236}">
                <a16:creationId xmlns:a16="http://schemas.microsoft.com/office/drawing/2014/main" id="{FE3B9A1F-4DA0-B41B-FDB3-1A8BD16B7AF5}"/>
              </a:ext>
            </a:extLst>
          </p:cNvPr>
          <p:cNvSpPr txBox="1"/>
          <p:nvPr/>
        </p:nvSpPr>
        <p:spPr>
          <a:xfrm>
            <a:off x="3727859" y="3240000"/>
            <a:ext cx="1688283" cy="307777"/>
          </a:xfrm>
          <a:prstGeom prst="rect">
            <a:avLst/>
          </a:prstGeom>
          <a:noFill/>
        </p:spPr>
        <p:txBody>
          <a:bodyPr wrap="square" rtlCol="0">
            <a:spAutoFit/>
          </a:bodyPr>
          <a:lstStyle>
            <a:defPPr>
              <a:defRPr lang="zh-CN"/>
            </a:defPPr>
            <a:lvl1pPr algn="ctr">
              <a:defRPr sz="1400">
                <a:solidFill>
                  <a:srgbClr val="D4237A"/>
                </a:solidFill>
                <a:ea typeface="+mj-ea"/>
              </a:defRPr>
            </a:lvl1pPr>
          </a:lstStyle>
          <a:p>
            <a:r>
              <a:rPr lang="zh-CN" altLang="en-US" dirty="0"/>
              <a:t>但 </a:t>
            </a:r>
            <a:r>
              <a:rPr lang="en-US" altLang="zh-CN" dirty="0"/>
              <a:t>ISO/OSI </a:t>
            </a:r>
            <a:r>
              <a:rPr lang="zh-CN" altLang="en-US" dirty="0"/>
              <a:t>失败了</a:t>
            </a:r>
          </a:p>
        </p:txBody>
      </p:sp>
    </p:spTree>
    <p:extLst>
      <p:ext uri="{BB962C8B-B14F-4D97-AF65-F5344CB8AC3E}">
        <p14:creationId xmlns:p14="http://schemas.microsoft.com/office/powerpoint/2010/main" val="3623257220"/>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图示 3"/>
          <p:cNvGraphicFramePr/>
          <p:nvPr>
            <p:extLst>
              <p:ext uri="{D42A27DB-BD31-4B8C-83A1-F6EECF244321}">
                <p14:modId xmlns:p14="http://schemas.microsoft.com/office/powerpoint/2010/main" val="3299922951"/>
              </p:ext>
            </p:extLst>
          </p:nvPr>
        </p:nvGraphicFramePr>
        <p:xfrm>
          <a:off x="2090058" y="1229690"/>
          <a:ext cx="4963885" cy="269965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标题 2">
            <a:extLst>
              <a:ext uri="{FF2B5EF4-FFF2-40B4-BE49-F238E27FC236}">
                <a16:creationId xmlns:a16="http://schemas.microsoft.com/office/drawing/2014/main" id="{990D91D5-DC9B-944A-3E94-38CEEFCBFB74}"/>
              </a:ext>
            </a:extLst>
          </p:cNvPr>
          <p:cNvSpPr>
            <a:spLocks noGrp="1"/>
          </p:cNvSpPr>
          <p:nvPr>
            <p:ph type="title"/>
          </p:nvPr>
        </p:nvSpPr>
        <p:spPr>
          <a:xfrm>
            <a:off x="612000" y="144000"/>
            <a:ext cx="7920000" cy="341632"/>
          </a:xfrm>
        </p:spPr>
        <p:txBody>
          <a:bodyPr/>
          <a:lstStyle/>
          <a:p>
            <a:r>
              <a:rPr lang="zh-CN" altLang="en-US" dirty="0"/>
              <a:t>两种国际标准 </a:t>
            </a:r>
            <a:r>
              <a:rPr lang="en-US" altLang="zh-CN" dirty="0"/>
              <a:t>Standards</a:t>
            </a:r>
            <a:endParaRPr lang="zh-CN" altLang="en-US" dirty="0"/>
          </a:p>
        </p:txBody>
      </p:sp>
    </p:spTree>
    <p:extLst>
      <p:ext uri="{BB962C8B-B14F-4D97-AF65-F5344CB8AC3E}">
        <p14:creationId xmlns:p14="http://schemas.microsoft.com/office/powerpoint/2010/main" val="3021606293"/>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057EFB65-D368-4EC2-CA0C-95F53810E811}"/>
              </a:ext>
            </a:extLst>
          </p:cNvPr>
          <p:cNvSpPr>
            <a:spLocks noGrp="1"/>
          </p:cNvSpPr>
          <p:nvPr>
            <p:ph type="title"/>
          </p:nvPr>
        </p:nvSpPr>
        <p:spPr>
          <a:xfrm>
            <a:off x="612000" y="144000"/>
            <a:ext cx="7920000" cy="341632"/>
          </a:xfrm>
        </p:spPr>
        <p:txBody>
          <a:bodyPr/>
          <a:lstStyle/>
          <a:p>
            <a:r>
              <a:rPr lang="en-US" altLang="zh-CN" dirty="0"/>
              <a:t>1.7.2  </a:t>
            </a:r>
            <a:r>
              <a:rPr lang="zh-CN" altLang="zh-CN" dirty="0"/>
              <a:t>协议与划分层次</a:t>
            </a:r>
            <a:endParaRPr lang="zh-CN" altLang="en-US" dirty="0"/>
          </a:p>
        </p:txBody>
      </p:sp>
      <p:sp>
        <p:nvSpPr>
          <p:cNvPr id="4" name="内容占位符 3"/>
          <p:cNvSpPr>
            <a:spLocks noGrp="1"/>
          </p:cNvSpPr>
          <p:nvPr>
            <p:ph sz="quarter" idx="10"/>
          </p:nvPr>
        </p:nvSpPr>
        <p:spPr>
          <a:xfrm>
            <a:off x="612000" y="899999"/>
            <a:ext cx="7920000" cy="3780000"/>
          </a:xfrm>
        </p:spPr>
        <p:txBody>
          <a:bodyPr/>
          <a:lstStyle/>
          <a:p>
            <a:r>
              <a:rPr lang="zh-CN" altLang="en-US" dirty="0"/>
              <a:t>网络协议 </a:t>
            </a:r>
            <a:r>
              <a:rPr lang="en-US" altLang="zh-CN" dirty="0"/>
              <a:t>(network protocol)</a:t>
            </a:r>
            <a:r>
              <a:rPr lang="zh-CN" altLang="en-US" dirty="0"/>
              <a:t>，简称为协议，是为进行网络中的数据交换而建立的规则、标准或约定</a:t>
            </a:r>
            <a:endParaRPr lang="en-US" altLang="zh-CN" dirty="0"/>
          </a:p>
          <a:p>
            <a:r>
              <a:rPr lang="zh-CN" altLang="zh-CN" dirty="0"/>
              <a:t>网络协议是计算机网络的不可缺少的组成部分</a:t>
            </a:r>
            <a:endParaRPr lang="zh-CN" altLang="en-US" dirty="0"/>
          </a:p>
          <a:p>
            <a:r>
              <a:rPr lang="zh-CN" altLang="en-US" dirty="0"/>
              <a:t>三个组成要素：</a:t>
            </a:r>
            <a:endParaRPr lang="en-US" altLang="zh-CN" dirty="0"/>
          </a:p>
          <a:p>
            <a:pPr lvl="1"/>
            <a:r>
              <a:rPr lang="zh-CN" altLang="en-US" dirty="0"/>
              <a:t>语法：数据与控制信息的结构或格式</a:t>
            </a:r>
          </a:p>
          <a:p>
            <a:pPr lvl="1"/>
            <a:r>
              <a:rPr lang="zh-CN" altLang="en-US" dirty="0"/>
              <a:t>语义：需要发出何种控制信息，完成何种动作以及做出何种响应</a:t>
            </a:r>
          </a:p>
          <a:p>
            <a:pPr lvl="1"/>
            <a:r>
              <a:rPr lang="zh-CN" altLang="en-US" dirty="0"/>
              <a:t>同步：事件实现顺序的详细说明</a:t>
            </a:r>
          </a:p>
          <a:p>
            <a:endParaRPr lang="zh-CN" altLang="en-US" dirty="0"/>
          </a:p>
        </p:txBody>
      </p:sp>
      <p:grpSp>
        <p:nvGrpSpPr>
          <p:cNvPr id="55" name="组合 54"/>
          <p:cNvGrpSpPr/>
          <p:nvPr/>
        </p:nvGrpSpPr>
        <p:grpSpPr>
          <a:xfrm>
            <a:off x="6599456" y="1667602"/>
            <a:ext cx="2073387" cy="2870623"/>
            <a:chOff x="6246699" y="1147924"/>
            <a:chExt cx="2195405" cy="2870623"/>
          </a:xfrm>
        </p:grpSpPr>
        <p:sp>
          <p:nvSpPr>
            <p:cNvPr id="32" name="Text Box 29"/>
            <p:cNvSpPr txBox="1">
              <a:spLocks noChangeArrowheads="1"/>
            </p:cNvSpPr>
            <p:nvPr/>
          </p:nvSpPr>
          <p:spPr bwMode="auto">
            <a:xfrm rot="540000">
              <a:off x="6540332" y="1717379"/>
              <a:ext cx="1780221"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lgn="ctr" eaLnBrk="0" hangingPunct="0"/>
              <a:r>
                <a:rPr lang="en-US" altLang="zh-CN" sz="1000" dirty="0">
                  <a:latin typeface="+mn-lt"/>
                </a:rPr>
                <a:t>TCP connection req</a:t>
              </a:r>
            </a:p>
          </p:txBody>
        </p:sp>
        <p:sp>
          <p:nvSpPr>
            <p:cNvPr id="33" name="Line 30"/>
            <p:cNvSpPr>
              <a:spLocks noChangeShapeType="1"/>
            </p:cNvSpPr>
            <p:nvPr/>
          </p:nvSpPr>
          <p:spPr bwMode="auto">
            <a:xfrm flipV="1">
              <a:off x="6460287" y="3327225"/>
              <a:ext cx="1773324" cy="574742"/>
            </a:xfrm>
            <a:prstGeom prst="line">
              <a:avLst/>
            </a:prstGeom>
            <a:noFill/>
            <a:ln w="28575">
              <a:solidFill>
                <a:srgbClr val="D4237A"/>
              </a:solidFill>
              <a:round/>
              <a:headEnd type="triangle" w="med"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sz="1100" b="1">
                <a:solidFill>
                  <a:srgbClr val="000000"/>
                </a:solidFill>
                <a:latin typeface="微软雅黑" panose="020B0503020204020204" pitchFamily="34" charset="-122"/>
                <a:ea typeface="微软雅黑" panose="020B0503020204020204" pitchFamily="34" charset="-122"/>
              </a:endParaRPr>
            </a:p>
          </p:txBody>
        </p:sp>
        <p:sp>
          <p:nvSpPr>
            <p:cNvPr id="34" name="Line 31"/>
            <p:cNvSpPr>
              <a:spLocks noChangeShapeType="1"/>
            </p:cNvSpPr>
            <p:nvPr/>
          </p:nvSpPr>
          <p:spPr bwMode="auto">
            <a:xfrm>
              <a:off x="6460287" y="1807064"/>
              <a:ext cx="1773324" cy="281951"/>
            </a:xfrm>
            <a:prstGeom prst="line">
              <a:avLst/>
            </a:prstGeom>
            <a:noFill/>
            <a:ln w="28575">
              <a:solidFill>
                <a:srgbClr val="000099"/>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sz="1100" b="1">
                <a:solidFill>
                  <a:srgbClr val="000000"/>
                </a:solidFill>
                <a:latin typeface="微软雅黑" panose="020B0503020204020204" pitchFamily="34" charset="-122"/>
                <a:ea typeface="微软雅黑" panose="020B0503020204020204" pitchFamily="34" charset="-122"/>
              </a:endParaRPr>
            </a:p>
          </p:txBody>
        </p:sp>
        <p:sp>
          <p:nvSpPr>
            <p:cNvPr id="35" name="Line 32"/>
            <p:cNvSpPr>
              <a:spLocks noChangeShapeType="1"/>
            </p:cNvSpPr>
            <p:nvPr/>
          </p:nvSpPr>
          <p:spPr bwMode="auto">
            <a:xfrm flipV="1">
              <a:off x="6460287" y="2283803"/>
              <a:ext cx="1773324" cy="428980"/>
            </a:xfrm>
            <a:prstGeom prst="line">
              <a:avLst/>
            </a:prstGeom>
            <a:noFill/>
            <a:ln w="28575">
              <a:solidFill>
                <a:srgbClr val="D4237A"/>
              </a:solidFill>
              <a:round/>
              <a:headEnd type="triangle" w="med"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sz="1100" b="1">
                <a:solidFill>
                  <a:srgbClr val="000000"/>
                </a:solidFill>
                <a:latin typeface="微软雅黑" panose="020B0503020204020204" pitchFamily="34" charset="-122"/>
                <a:ea typeface="微软雅黑" panose="020B0503020204020204" pitchFamily="34" charset="-122"/>
              </a:endParaRPr>
            </a:p>
          </p:txBody>
        </p:sp>
        <p:sp>
          <p:nvSpPr>
            <p:cNvPr id="38" name="Text Box 35"/>
            <p:cNvSpPr txBox="1">
              <a:spLocks noChangeArrowheads="1"/>
            </p:cNvSpPr>
            <p:nvPr/>
          </p:nvSpPr>
          <p:spPr bwMode="auto">
            <a:xfrm rot="20700000">
              <a:off x="6421820" y="2242925"/>
              <a:ext cx="1867209"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zh-CN"/>
              </a:defPPr>
              <a:lvl1pPr eaLnBrk="0" hangingPunct="0">
                <a:defRPr sz="1200" b="1">
                  <a:latin typeface="微软雅黑" panose="020B0503020204020204" pitchFamily="34" charset="-122"/>
                  <a:ea typeface="微软雅黑" panose="020B0503020204020204" pitchFamily="34" charset="-122"/>
                </a:defRPr>
              </a:lvl1pPr>
              <a:lvl2pPr marL="742950" indent="-285750">
                <a:defRPr>
                  <a:latin typeface="Arial" charset="0"/>
                </a:defRPr>
              </a:lvl2pPr>
              <a:lvl3pPr marL="1143000" indent="-228600">
                <a:defRPr>
                  <a:latin typeface="Arial" charset="0"/>
                </a:defRPr>
              </a:lvl3pPr>
              <a:lvl4pPr marL="1600200" indent="-228600">
                <a:defRPr>
                  <a:latin typeface="Arial" charset="0"/>
                </a:defRPr>
              </a:lvl4pPr>
              <a:lvl5pPr marL="2057400" indent="-228600">
                <a:defRPr>
                  <a:latin typeface="Arial" charset="0"/>
                </a:defRPr>
              </a:lvl5pPr>
              <a:lvl6pPr marL="2514600" indent="-228600" eaLnBrk="0" fontAlgn="base" hangingPunct="0">
                <a:spcBef>
                  <a:spcPct val="0"/>
                </a:spcBef>
                <a:spcAft>
                  <a:spcPct val="0"/>
                </a:spcAft>
                <a:defRPr>
                  <a:latin typeface="Arial" charset="0"/>
                </a:defRPr>
              </a:lvl6pPr>
              <a:lvl7pPr marL="2971800" indent="-228600" eaLnBrk="0" fontAlgn="base" hangingPunct="0">
                <a:spcBef>
                  <a:spcPct val="0"/>
                </a:spcBef>
                <a:spcAft>
                  <a:spcPct val="0"/>
                </a:spcAft>
                <a:defRPr>
                  <a:latin typeface="Arial" charset="0"/>
                </a:defRPr>
              </a:lvl7pPr>
              <a:lvl8pPr marL="3429000" indent="-228600" eaLnBrk="0" fontAlgn="base" hangingPunct="0">
                <a:spcBef>
                  <a:spcPct val="0"/>
                </a:spcBef>
                <a:spcAft>
                  <a:spcPct val="0"/>
                </a:spcAft>
                <a:defRPr>
                  <a:latin typeface="Arial" charset="0"/>
                </a:defRPr>
              </a:lvl8pPr>
              <a:lvl9pPr marL="3886200" indent="-228600" eaLnBrk="0" fontAlgn="base" hangingPunct="0">
                <a:spcBef>
                  <a:spcPct val="0"/>
                </a:spcBef>
                <a:spcAft>
                  <a:spcPct val="0"/>
                </a:spcAft>
                <a:defRPr>
                  <a:latin typeface="Arial" charset="0"/>
                </a:defRPr>
              </a:lvl9pPr>
            </a:lstStyle>
            <a:p>
              <a:pPr algn="ctr"/>
              <a:r>
                <a:rPr lang="en-US" altLang="zh-CN" sz="1000" b="0" dirty="0">
                  <a:latin typeface="+mn-lt"/>
                  <a:ea typeface="+mn-ea"/>
                </a:rPr>
                <a:t>TCP connection reply</a:t>
              </a:r>
            </a:p>
          </p:txBody>
        </p:sp>
        <p:sp>
          <p:nvSpPr>
            <p:cNvPr id="39" name="Line 36"/>
            <p:cNvSpPr>
              <a:spLocks noChangeShapeType="1"/>
            </p:cNvSpPr>
            <p:nvPr/>
          </p:nvSpPr>
          <p:spPr bwMode="auto">
            <a:xfrm>
              <a:off x="6460288" y="2859821"/>
              <a:ext cx="1773324" cy="393127"/>
            </a:xfrm>
            <a:prstGeom prst="line">
              <a:avLst/>
            </a:prstGeom>
            <a:noFill/>
            <a:ln w="28575">
              <a:solidFill>
                <a:srgbClr val="000099"/>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zh-CN" altLang="en-US" sz="1100" b="1">
                <a:solidFill>
                  <a:srgbClr val="000000"/>
                </a:solidFill>
                <a:latin typeface="微软雅黑" panose="020B0503020204020204" pitchFamily="34" charset="-122"/>
                <a:ea typeface="微软雅黑" panose="020B0503020204020204" pitchFamily="34" charset="-122"/>
              </a:endParaRPr>
            </a:p>
          </p:txBody>
        </p:sp>
        <p:sp>
          <p:nvSpPr>
            <p:cNvPr id="42" name="Text Box 39"/>
            <p:cNvSpPr txBox="1">
              <a:spLocks noChangeArrowheads="1"/>
            </p:cNvSpPr>
            <p:nvPr/>
          </p:nvSpPr>
          <p:spPr bwMode="auto">
            <a:xfrm rot="720000">
              <a:off x="6714568" y="2811044"/>
              <a:ext cx="1398636"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zh-CN"/>
              </a:defPPr>
              <a:lvl1pPr eaLnBrk="0" hangingPunct="0">
                <a:defRPr sz="1200" b="1">
                  <a:latin typeface="微软雅黑" panose="020B0503020204020204" pitchFamily="34" charset="-122"/>
                  <a:ea typeface="微软雅黑" panose="020B0503020204020204" pitchFamily="34" charset="-122"/>
                </a:defRPr>
              </a:lvl1pPr>
              <a:lvl2pPr marL="742950" indent="-285750">
                <a:defRPr>
                  <a:latin typeface="Arial" charset="0"/>
                </a:defRPr>
              </a:lvl2pPr>
              <a:lvl3pPr marL="1143000" indent="-228600">
                <a:defRPr>
                  <a:latin typeface="Arial" charset="0"/>
                </a:defRPr>
              </a:lvl3pPr>
              <a:lvl4pPr marL="1600200" indent="-228600">
                <a:defRPr>
                  <a:latin typeface="Arial" charset="0"/>
                </a:defRPr>
              </a:lvl4pPr>
              <a:lvl5pPr marL="2057400" indent="-228600">
                <a:defRPr>
                  <a:latin typeface="Arial" charset="0"/>
                </a:defRPr>
              </a:lvl5pPr>
              <a:lvl6pPr marL="2514600" indent="-228600" eaLnBrk="0" fontAlgn="base" hangingPunct="0">
                <a:spcBef>
                  <a:spcPct val="0"/>
                </a:spcBef>
                <a:spcAft>
                  <a:spcPct val="0"/>
                </a:spcAft>
                <a:defRPr>
                  <a:latin typeface="Arial" charset="0"/>
                </a:defRPr>
              </a:lvl6pPr>
              <a:lvl7pPr marL="2971800" indent="-228600" eaLnBrk="0" fontAlgn="base" hangingPunct="0">
                <a:spcBef>
                  <a:spcPct val="0"/>
                </a:spcBef>
                <a:spcAft>
                  <a:spcPct val="0"/>
                </a:spcAft>
                <a:defRPr>
                  <a:latin typeface="Arial" charset="0"/>
                </a:defRPr>
              </a:lvl7pPr>
              <a:lvl8pPr marL="3429000" indent="-228600" eaLnBrk="0" fontAlgn="base" hangingPunct="0">
                <a:spcBef>
                  <a:spcPct val="0"/>
                </a:spcBef>
                <a:spcAft>
                  <a:spcPct val="0"/>
                </a:spcAft>
                <a:defRPr>
                  <a:latin typeface="Arial" charset="0"/>
                </a:defRPr>
              </a:lvl8pPr>
              <a:lvl9pPr marL="3886200" indent="-228600" eaLnBrk="0" fontAlgn="base" hangingPunct="0">
                <a:spcBef>
                  <a:spcPct val="0"/>
                </a:spcBef>
                <a:spcAft>
                  <a:spcPct val="0"/>
                </a:spcAft>
                <a:defRPr>
                  <a:latin typeface="Arial" charset="0"/>
                </a:defRPr>
              </a:lvl9pPr>
            </a:lstStyle>
            <a:p>
              <a:pPr algn="ctr"/>
              <a:r>
                <a:rPr lang="en-US" altLang="zh-CN" sz="1000" b="0" dirty="0">
                  <a:latin typeface="+mn-lt"/>
                  <a:ea typeface="+mn-ea"/>
                </a:rPr>
                <a:t>get plan.pdf</a:t>
              </a:r>
            </a:p>
          </p:txBody>
        </p:sp>
        <p:pic>
          <p:nvPicPr>
            <p:cNvPr id="46"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46699" y="1203201"/>
              <a:ext cx="435820" cy="41508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7" name="图片 38"/>
            <p:cNvPicPr>
              <a:picLocks noChangeAspect="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098885" y="1147924"/>
              <a:ext cx="343219" cy="5023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48" name="直接连接符 47"/>
            <p:cNvCxnSpPr>
              <a:stCxn id="46" idx="2"/>
            </p:cNvCxnSpPr>
            <p:nvPr/>
          </p:nvCxnSpPr>
          <p:spPr>
            <a:xfrm flipH="1">
              <a:off x="6430765" y="1618286"/>
              <a:ext cx="33844" cy="2400261"/>
            </a:xfrm>
            <a:prstGeom prst="line">
              <a:avLst/>
            </a:prstGeom>
            <a:ln w="6350">
              <a:solidFill>
                <a:schemeClr val="tx1"/>
              </a:solidFill>
            </a:ln>
          </p:spPr>
          <p:style>
            <a:lnRef idx="1">
              <a:schemeClr val="dk1"/>
            </a:lnRef>
            <a:fillRef idx="0">
              <a:schemeClr val="dk1"/>
            </a:fillRef>
            <a:effectRef idx="0">
              <a:schemeClr val="dk1"/>
            </a:effectRef>
            <a:fontRef idx="minor">
              <a:schemeClr val="tx1"/>
            </a:fontRef>
          </p:style>
        </p:cxnSp>
        <p:cxnSp>
          <p:nvCxnSpPr>
            <p:cNvPr id="49" name="直接连接符 48"/>
            <p:cNvCxnSpPr>
              <a:stCxn id="47" idx="2"/>
            </p:cNvCxnSpPr>
            <p:nvPr/>
          </p:nvCxnSpPr>
          <p:spPr>
            <a:xfrm flipH="1">
              <a:off x="8262001" y="1650319"/>
              <a:ext cx="8494" cy="2368228"/>
            </a:xfrm>
            <a:prstGeom prst="line">
              <a:avLst/>
            </a:prstGeom>
            <a:ln w="6350">
              <a:solidFill>
                <a:schemeClr val="tx1"/>
              </a:solidFill>
            </a:ln>
          </p:spPr>
          <p:style>
            <a:lnRef idx="1">
              <a:schemeClr val="dk1"/>
            </a:lnRef>
            <a:fillRef idx="0">
              <a:schemeClr val="dk1"/>
            </a:fillRef>
            <a:effectRef idx="0">
              <a:schemeClr val="dk1"/>
            </a:effectRef>
            <a:fontRef idx="minor">
              <a:schemeClr val="tx1"/>
            </a:fontRef>
          </p:style>
        </p:cxnSp>
        <p:sp>
          <p:nvSpPr>
            <p:cNvPr id="52" name="Text Box 39"/>
            <p:cNvSpPr txBox="1">
              <a:spLocks noChangeArrowheads="1"/>
            </p:cNvSpPr>
            <p:nvPr/>
          </p:nvSpPr>
          <p:spPr bwMode="auto">
            <a:xfrm rot="20501025">
              <a:off x="6706154" y="3339318"/>
              <a:ext cx="1398636"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zh-CN"/>
              </a:defPPr>
              <a:lvl1pPr eaLnBrk="0" hangingPunct="0">
                <a:defRPr sz="1200" b="1">
                  <a:latin typeface="微软雅黑" panose="020B0503020204020204" pitchFamily="34" charset="-122"/>
                  <a:ea typeface="微软雅黑" panose="020B0503020204020204" pitchFamily="34" charset="-122"/>
                </a:defRPr>
              </a:lvl1pPr>
              <a:lvl2pPr marL="742950" indent="-285750">
                <a:defRPr>
                  <a:latin typeface="Arial" charset="0"/>
                </a:defRPr>
              </a:lvl2pPr>
              <a:lvl3pPr marL="1143000" indent="-228600">
                <a:defRPr>
                  <a:latin typeface="Arial" charset="0"/>
                </a:defRPr>
              </a:lvl3pPr>
              <a:lvl4pPr marL="1600200" indent="-228600">
                <a:defRPr>
                  <a:latin typeface="Arial" charset="0"/>
                </a:defRPr>
              </a:lvl4pPr>
              <a:lvl5pPr marL="2057400" indent="-228600">
                <a:defRPr>
                  <a:latin typeface="Arial" charset="0"/>
                </a:defRPr>
              </a:lvl5pPr>
              <a:lvl6pPr marL="2514600" indent="-228600" eaLnBrk="0" fontAlgn="base" hangingPunct="0">
                <a:spcBef>
                  <a:spcPct val="0"/>
                </a:spcBef>
                <a:spcAft>
                  <a:spcPct val="0"/>
                </a:spcAft>
                <a:defRPr>
                  <a:latin typeface="Arial" charset="0"/>
                </a:defRPr>
              </a:lvl6pPr>
              <a:lvl7pPr marL="2971800" indent="-228600" eaLnBrk="0" fontAlgn="base" hangingPunct="0">
                <a:spcBef>
                  <a:spcPct val="0"/>
                </a:spcBef>
                <a:spcAft>
                  <a:spcPct val="0"/>
                </a:spcAft>
                <a:defRPr>
                  <a:latin typeface="Arial" charset="0"/>
                </a:defRPr>
              </a:lvl7pPr>
              <a:lvl8pPr marL="3429000" indent="-228600" eaLnBrk="0" fontAlgn="base" hangingPunct="0">
                <a:spcBef>
                  <a:spcPct val="0"/>
                </a:spcBef>
                <a:spcAft>
                  <a:spcPct val="0"/>
                </a:spcAft>
                <a:defRPr>
                  <a:latin typeface="Arial" charset="0"/>
                </a:defRPr>
              </a:lvl8pPr>
              <a:lvl9pPr marL="3886200" indent="-228600" eaLnBrk="0" fontAlgn="base" hangingPunct="0">
                <a:spcBef>
                  <a:spcPct val="0"/>
                </a:spcBef>
                <a:spcAft>
                  <a:spcPct val="0"/>
                </a:spcAft>
                <a:defRPr>
                  <a:latin typeface="Arial" charset="0"/>
                </a:defRPr>
              </a:lvl9pPr>
            </a:lstStyle>
            <a:p>
              <a:pPr algn="ctr"/>
              <a:r>
                <a:rPr lang="en-US" altLang="zh-CN" sz="1000" b="0" dirty="0">
                  <a:latin typeface="+mn-lt"/>
                  <a:ea typeface="+mn-ea"/>
                </a:rPr>
                <a:t>&lt; plan.pdf &gt;</a:t>
              </a:r>
            </a:p>
          </p:txBody>
        </p:sp>
      </p:grpSp>
      <p:sp>
        <p:nvSpPr>
          <p:cNvPr id="57" name="矩形 5"/>
          <p:cNvSpPr>
            <a:spLocks noChangeArrowheads="1"/>
          </p:cNvSpPr>
          <p:nvPr/>
        </p:nvSpPr>
        <p:spPr bwMode="auto">
          <a:xfrm>
            <a:off x="813763" y="4061631"/>
            <a:ext cx="5309938" cy="40697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gn="ctr">
              <a:lnSpc>
                <a:spcPts val="2700"/>
              </a:lnSpc>
            </a:pPr>
            <a:endParaRPr lang="zh-CN" altLang="en-US" b="1" dirty="0">
              <a:solidFill>
                <a:schemeClr val="bg1"/>
              </a:solidFill>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2825060235"/>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标题 18">
            <a:extLst>
              <a:ext uri="{FF2B5EF4-FFF2-40B4-BE49-F238E27FC236}">
                <a16:creationId xmlns:a16="http://schemas.microsoft.com/office/drawing/2014/main" id="{8B7DAAEA-C5FD-E215-4309-1D4E6F7C090D}"/>
              </a:ext>
            </a:extLst>
          </p:cNvPr>
          <p:cNvSpPr>
            <a:spLocks noGrp="1"/>
          </p:cNvSpPr>
          <p:nvPr>
            <p:ph type="title"/>
          </p:nvPr>
        </p:nvSpPr>
        <p:spPr>
          <a:xfrm>
            <a:off x="612000" y="144000"/>
            <a:ext cx="7920000" cy="341632"/>
          </a:xfrm>
        </p:spPr>
        <p:txBody>
          <a:bodyPr/>
          <a:lstStyle/>
          <a:p>
            <a:r>
              <a:rPr lang="en-US" altLang="zh-CN"/>
              <a:t>1.7.2  </a:t>
            </a:r>
            <a:r>
              <a:rPr lang="zh-CN" altLang="zh-CN"/>
              <a:t>协议与划分层次</a:t>
            </a:r>
            <a:endParaRPr lang="zh-CN" altLang="en-US" dirty="0"/>
          </a:p>
        </p:txBody>
      </p:sp>
      <p:sp>
        <p:nvSpPr>
          <p:cNvPr id="14" name="内容占位符 13">
            <a:extLst>
              <a:ext uri="{FF2B5EF4-FFF2-40B4-BE49-F238E27FC236}">
                <a16:creationId xmlns:a16="http://schemas.microsoft.com/office/drawing/2014/main" id="{F2EE8733-4D19-FCC5-B3DA-53289BDDE473}"/>
              </a:ext>
            </a:extLst>
          </p:cNvPr>
          <p:cNvSpPr>
            <a:spLocks noGrp="1"/>
          </p:cNvSpPr>
          <p:nvPr>
            <p:ph sz="quarter" idx="10"/>
          </p:nvPr>
        </p:nvSpPr>
        <p:spPr>
          <a:xfrm>
            <a:off x="612000" y="899999"/>
            <a:ext cx="7920000" cy="3780000"/>
          </a:xfrm>
        </p:spPr>
        <p:txBody>
          <a:bodyPr/>
          <a:lstStyle/>
          <a:p>
            <a:r>
              <a:rPr lang="zh-CN" altLang="zh-CN" dirty="0"/>
              <a:t>协议</a:t>
            </a:r>
            <a:r>
              <a:rPr lang="zh-CN" altLang="en-US" dirty="0"/>
              <a:t>的两种形式 </a:t>
            </a:r>
            <a:r>
              <a:rPr lang="en-US" altLang="zh-CN" dirty="0"/>
              <a:t>Format</a:t>
            </a:r>
          </a:p>
          <a:p>
            <a:pPr lvl="1"/>
            <a:r>
              <a:rPr lang="zh-CN" altLang="en-US" dirty="0"/>
              <a:t>文字描述：便于人来阅读和理解</a:t>
            </a:r>
          </a:p>
          <a:p>
            <a:pPr lvl="1"/>
            <a:r>
              <a:rPr lang="zh-CN" altLang="en-US" dirty="0"/>
              <a:t>程序代码：让计算机能够理解</a:t>
            </a:r>
          </a:p>
          <a:p>
            <a:pPr lvl="1"/>
            <a:r>
              <a:rPr lang="zh-CN" altLang="en-US" dirty="0"/>
              <a:t>不论什么形式，都必须能够对网络上信息交换过程做出精确的解释</a:t>
            </a:r>
          </a:p>
          <a:p>
            <a:r>
              <a:rPr lang="zh-CN" altLang="en-US" dirty="0"/>
              <a:t>协议的层次式结构 </a:t>
            </a:r>
            <a:r>
              <a:rPr lang="en-US" altLang="zh-CN" dirty="0"/>
              <a:t>Hierarchy</a:t>
            </a:r>
          </a:p>
          <a:p>
            <a:pPr lvl="1"/>
            <a:r>
              <a:rPr lang="en-US" altLang="zh-CN" dirty="0"/>
              <a:t>ARPANET </a:t>
            </a:r>
            <a:r>
              <a:rPr lang="zh-CN" altLang="en-US" dirty="0"/>
              <a:t>的研制经验表明：对于非常复杂的计算机网络协议，其结构应该是层次式的</a:t>
            </a:r>
          </a:p>
        </p:txBody>
      </p:sp>
    </p:spTree>
    <p:extLst>
      <p:ext uri="{BB962C8B-B14F-4D97-AF65-F5344CB8AC3E}">
        <p14:creationId xmlns:p14="http://schemas.microsoft.com/office/powerpoint/2010/main" val="2484794726"/>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 name="Rectangle 15"/>
          <p:cNvSpPr>
            <a:spLocks noChangeArrowheads="1"/>
          </p:cNvSpPr>
          <p:nvPr/>
        </p:nvSpPr>
        <p:spPr bwMode="auto">
          <a:xfrm>
            <a:off x="1743860" y="2159569"/>
            <a:ext cx="1382203" cy="441525"/>
          </a:xfrm>
          <a:prstGeom prst="rect">
            <a:avLst/>
          </a:prstGeom>
          <a:solidFill>
            <a:srgbClr val="1956B9"/>
          </a:solidFill>
          <a:ln w="28575">
            <a:noFill/>
            <a:miter lim="800000"/>
          </a:ln>
          <a:effectLst/>
          <a:scene3d>
            <a:camera prst="orthographicFront">
              <a:rot lat="0" lon="0" rev="0"/>
            </a:camera>
            <a:lightRig rig="glow" dir="t">
              <a:rot lat="0" lon="0" rev="14100000"/>
            </a:lightRig>
          </a:scene3d>
          <a:sp3d prstMaterial="softEdge">
            <a:bevelT w="127000" prst="artDeco"/>
          </a:sp3d>
        </p:spPr>
        <p:txBody>
          <a:bodyPr wrap="none" anchor="ctr"/>
          <a:lstStyle/>
          <a:p>
            <a:pPr fontAlgn="auto">
              <a:spcBef>
                <a:spcPts val="0"/>
              </a:spcBef>
              <a:spcAft>
                <a:spcPts val="0"/>
              </a:spcAft>
              <a:defRPr/>
            </a:pPr>
            <a:endParaRPr lang="zh-CN" altLang="en-US" sz="1200" b="1">
              <a:solidFill>
                <a:srgbClr val="1956B9"/>
              </a:solidFill>
              <a:latin typeface="微软雅黑" panose="020B0503020204020204" pitchFamily="34" charset="-122"/>
              <a:ea typeface="微软雅黑" panose="020B0503020204020204" pitchFamily="34" charset="-122"/>
            </a:endParaRPr>
          </a:p>
        </p:txBody>
      </p:sp>
      <p:sp>
        <p:nvSpPr>
          <p:cNvPr id="128013" name="Text Box 5"/>
          <p:cNvSpPr txBox="1">
            <a:spLocks noChangeArrowheads="1"/>
          </p:cNvSpPr>
          <p:nvPr/>
        </p:nvSpPr>
        <p:spPr bwMode="auto">
          <a:xfrm>
            <a:off x="1803489" y="2208217"/>
            <a:ext cx="126188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lang="zh-CN" altLang="en-US" sz="1400" dirty="0">
                <a:solidFill>
                  <a:schemeClr val="bg1"/>
                </a:solidFill>
                <a:latin typeface="+mj-lt"/>
                <a:ea typeface="+mj-ea"/>
              </a:rPr>
              <a:t>文件传送模块</a:t>
            </a:r>
          </a:p>
        </p:txBody>
      </p:sp>
      <p:sp>
        <p:nvSpPr>
          <p:cNvPr id="128014" name="Text Box 6"/>
          <p:cNvSpPr txBox="1">
            <a:spLocks noChangeArrowheads="1"/>
          </p:cNvSpPr>
          <p:nvPr/>
        </p:nvSpPr>
        <p:spPr bwMode="auto">
          <a:xfrm>
            <a:off x="2062163" y="1773242"/>
            <a:ext cx="65434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defRPr sz="1400">
                <a:latin typeface="+mj-lt"/>
                <a:ea typeface="+mj-ea"/>
              </a:defRPr>
            </a:lvl1pPr>
            <a:lvl2pPr marL="742950" indent="-285750">
              <a:defRPr>
                <a:latin typeface="Calibri" panose="020F0502020204030204" pitchFamily="34" charset="0"/>
                <a:ea typeface="宋体" panose="02010600030101010101" pitchFamily="2" charset="-122"/>
              </a:defRPr>
            </a:lvl2pPr>
            <a:lvl3pPr marL="1143000" indent="-228600">
              <a:defRPr>
                <a:latin typeface="Calibri" panose="020F0502020204030204" pitchFamily="34" charset="0"/>
                <a:ea typeface="宋体" panose="02010600030101010101" pitchFamily="2" charset="-122"/>
              </a:defRPr>
            </a:lvl3pPr>
            <a:lvl4pPr marL="1600200" indent="-228600">
              <a:defRPr>
                <a:latin typeface="Calibri" panose="020F0502020204030204" pitchFamily="34" charset="0"/>
                <a:ea typeface="宋体" panose="02010600030101010101" pitchFamily="2" charset="-122"/>
              </a:defRPr>
            </a:lvl4pPr>
            <a:lvl5pPr marL="2057400" indent="-228600">
              <a:defRPr>
                <a:latin typeface="Calibri" panose="020F0502020204030204" pitchFamily="34" charset="0"/>
                <a:ea typeface="宋体" panose="02010600030101010101" pitchFamily="2" charset="-122"/>
              </a:defRPr>
            </a:lvl5pPr>
            <a:lvl6pPr marL="2514600" indent="-228600" fontAlgn="base">
              <a:spcBef>
                <a:spcPct val="0"/>
              </a:spcBef>
              <a:spcAft>
                <a:spcPct val="0"/>
              </a:spcAft>
              <a:defRPr>
                <a:latin typeface="Calibri" panose="020F0502020204030204" pitchFamily="34" charset="0"/>
                <a:ea typeface="宋体" panose="02010600030101010101" pitchFamily="2" charset="-122"/>
              </a:defRPr>
            </a:lvl6pPr>
            <a:lvl7pPr marL="2971800" indent="-228600" fontAlgn="base">
              <a:spcBef>
                <a:spcPct val="0"/>
              </a:spcBef>
              <a:spcAft>
                <a:spcPct val="0"/>
              </a:spcAft>
              <a:defRPr>
                <a:latin typeface="Calibri" panose="020F0502020204030204" pitchFamily="34" charset="0"/>
                <a:ea typeface="宋体" panose="02010600030101010101" pitchFamily="2" charset="-122"/>
              </a:defRPr>
            </a:lvl7pPr>
            <a:lvl8pPr marL="3429000" indent="-228600" fontAlgn="base">
              <a:spcBef>
                <a:spcPct val="0"/>
              </a:spcBef>
              <a:spcAft>
                <a:spcPct val="0"/>
              </a:spcAft>
              <a:defRPr>
                <a:latin typeface="Calibri" panose="020F0502020204030204" pitchFamily="34" charset="0"/>
                <a:ea typeface="宋体" panose="02010600030101010101" pitchFamily="2" charset="-122"/>
              </a:defRPr>
            </a:lvl8pPr>
            <a:lvl9pPr marL="3886200" indent="-228600" fontAlgn="base">
              <a:spcBef>
                <a:spcPct val="0"/>
              </a:spcBef>
              <a:spcAft>
                <a:spcPct val="0"/>
              </a:spcAft>
              <a:defRPr>
                <a:latin typeface="Calibri" panose="020F0502020204030204" pitchFamily="34" charset="0"/>
                <a:ea typeface="宋体" panose="02010600030101010101" pitchFamily="2" charset="-122"/>
              </a:defRPr>
            </a:lvl9pPr>
          </a:lstStyle>
          <a:p>
            <a:r>
              <a:rPr lang="zh-CN" altLang="en-US" dirty="0"/>
              <a:t>主机 </a:t>
            </a:r>
            <a:r>
              <a:rPr lang="en-US" altLang="zh-CN" dirty="0"/>
              <a:t>1</a:t>
            </a:r>
          </a:p>
        </p:txBody>
      </p:sp>
      <p:sp>
        <p:nvSpPr>
          <p:cNvPr id="45" name="Line 11"/>
          <p:cNvSpPr>
            <a:spLocks noChangeShapeType="1"/>
          </p:cNvSpPr>
          <p:nvPr/>
        </p:nvSpPr>
        <p:spPr bwMode="auto">
          <a:xfrm>
            <a:off x="3125788" y="2408242"/>
            <a:ext cx="2883814" cy="0"/>
          </a:xfrm>
          <a:prstGeom prst="line">
            <a:avLst/>
          </a:prstGeom>
          <a:noFill/>
          <a:ln w="57150">
            <a:solidFill>
              <a:srgbClr val="FF00FF"/>
            </a:solidFill>
            <a:prstDash val="sysDot"/>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46" name="Text Box 12"/>
          <p:cNvSpPr txBox="1">
            <a:spLocks noChangeArrowheads="1"/>
          </p:cNvSpPr>
          <p:nvPr/>
        </p:nvSpPr>
        <p:spPr bwMode="auto">
          <a:xfrm>
            <a:off x="3133147" y="1859991"/>
            <a:ext cx="2877711" cy="52322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lang="zh-CN" altLang="en-US" sz="1400" b="1" dirty="0">
                <a:latin typeface="微软雅黑" panose="020B0503020204020204" pitchFamily="34" charset="-122"/>
                <a:ea typeface="微软雅黑" panose="020B0503020204020204" pitchFamily="34" charset="-122"/>
              </a:rPr>
              <a:t>文件及传送命令好像</a:t>
            </a:r>
          </a:p>
          <a:p>
            <a:pPr algn="ctr"/>
            <a:r>
              <a:rPr lang="zh-CN" altLang="en-US" sz="1400" b="1" dirty="0">
                <a:latin typeface="微软雅黑" panose="020B0503020204020204" pitchFamily="34" charset="-122"/>
                <a:ea typeface="微软雅黑" panose="020B0503020204020204" pitchFamily="34" charset="-122"/>
              </a:rPr>
              <a:t>是按照水平方向的虚线直接传送的</a:t>
            </a:r>
          </a:p>
        </p:txBody>
      </p:sp>
      <p:sp>
        <p:nvSpPr>
          <p:cNvPr id="128019" name="Line 17"/>
          <p:cNvSpPr>
            <a:spLocks noChangeShapeType="1"/>
          </p:cNvSpPr>
          <p:nvPr/>
        </p:nvSpPr>
        <p:spPr bwMode="auto">
          <a:xfrm>
            <a:off x="1371600" y="2701929"/>
            <a:ext cx="6381750" cy="0"/>
          </a:xfrm>
          <a:prstGeom prst="line">
            <a:avLst/>
          </a:prstGeom>
          <a:noFill/>
          <a:ln w="38100">
            <a:solidFill>
              <a:srgbClr val="7A9AE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50" name="Text Box 20"/>
          <p:cNvSpPr txBox="1">
            <a:spLocks noChangeArrowheads="1"/>
          </p:cNvSpPr>
          <p:nvPr/>
        </p:nvSpPr>
        <p:spPr bwMode="auto">
          <a:xfrm>
            <a:off x="1551238" y="2888336"/>
            <a:ext cx="1800225" cy="523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lang="zh-CN" altLang="en-US" sz="1400" b="1" dirty="0">
                <a:solidFill>
                  <a:srgbClr val="0000FF"/>
                </a:solidFill>
                <a:latin typeface="微软雅黑" panose="020B0503020204020204" pitchFamily="34" charset="-122"/>
                <a:ea typeface="微软雅黑" panose="020B0503020204020204" pitchFamily="34" charset="-122"/>
              </a:rPr>
              <a:t>把文件交给下层模块</a:t>
            </a:r>
          </a:p>
          <a:p>
            <a:pPr algn="ctr"/>
            <a:r>
              <a:rPr lang="zh-CN" altLang="en-US" sz="1400" b="1" dirty="0">
                <a:solidFill>
                  <a:srgbClr val="0000FF"/>
                </a:solidFill>
                <a:latin typeface="微软雅黑" panose="020B0503020204020204" pitchFamily="34" charset="-122"/>
                <a:ea typeface="微软雅黑" panose="020B0503020204020204" pitchFamily="34" charset="-122"/>
              </a:rPr>
              <a:t>进行发送</a:t>
            </a:r>
          </a:p>
        </p:txBody>
      </p:sp>
      <p:sp>
        <p:nvSpPr>
          <p:cNvPr id="51" name="Text Box 21"/>
          <p:cNvSpPr txBox="1">
            <a:spLocks noChangeArrowheads="1"/>
          </p:cNvSpPr>
          <p:nvPr/>
        </p:nvSpPr>
        <p:spPr bwMode="auto">
          <a:xfrm>
            <a:off x="5924681" y="2888336"/>
            <a:ext cx="1620837" cy="523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lang="zh-CN" altLang="en-US" sz="1400" b="1" dirty="0">
                <a:solidFill>
                  <a:srgbClr val="0000FF"/>
                </a:solidFill>
                <a:latin typeface="微软雅黑" panose="020B0503020204020204" pitchFamily="34" charset="-122"/>
                <a:ea typeface="微软雅黑" panose="020B0503020204020204" pitchFamily="34" charset="-122"/>
              </a:rPr>
              <a:t>把收到的文件交给</a:t>
            </a:r>
          </a:p>
          <a:p>
            <a:pPr algn="ctr"/>
            <a:r>
              <a:rPr lang="zh-CN" altLang="en-US" sz="1400" b="1" dirty="0">
                <a:solidFill>
                  <a:srgbClr val="0000FF"/>
                </a:solidFill>
                <a:latin typeface="微软雅黑" panose="020B0503020204020204" pitchFamily="34" charset="-122"/>
                <a:ea typeface="微软雅黑" panose="020B0503020204020204" pitchFamily="34" charset="-122"/>
              </a:rPr>
              <a:t>上层模块</a:t>
            </a:r>
          </a:p>
        </p:txBody>
      </p:sp>
      <p:sp>
        <p:nvSpPr>
          <p:cNvPr id="4" name="矩形 3"/>
          <p:cNvSpPr/>
          <p:nvPr/>
        </p:nvSpPr>
        <p:spPr>
          <a:xfrm>
            <a:off x="2410327" y="1253372"/>
            <a:ext cx="4323347" cy="33855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en-US" altLang="zh-CN" sz="1600" dirty="0"/>
              <a:t>1. </a:t>
            </a:r>
            <a:r>
              <a:rPr lang="zh-CN" altLang="en-US" sz="1600" dirty="0"/>
              <a:t>将文件传送模块作为最高的一层</a:t>
            </a:r>
          </a:p>
        </p:txBody>
      </p:sp>
      <p:sp>
        <p:nvSpPr>
          <p:cNvPr id="5" name="上下箭头 4"/>
          <p:cNvSpPr/>
          <p:nvPr/>
        </p:nvSpPr>
        <p:spPr>
          <a:xfrm>
            <a:off x="2354551" y="2531139"/>
            <a:ext cx="186617" cy="345680"/>
          </a:xfrm>
          <a:prstGeom prst="upDownArrow">
            <a:avLst/>
          </a:prstGeom>
          <a:solidFill>
            <a:srgbClr val="00FFFF"/>
          </a:solidFill>
          <a:ln w="19050">
            <a:solidFill>
              <a:srgbClr val="0000FF"/>
            </a:solidFill>
            <a:miter lim="800000"/>
          </a:ln>
        </p:spPr>
        <p:txBody>
          <a:bodyPr vert="eaVert" wrap="none" anchor="ctr"/>
          <a:lstStyle/>
          <a:p>
            <a:endParaRPr lang="zh-CN" altLang="en-US" sz="1200" b="1">
              <a:solidFill>
                <a:srgbClr val="1956B9"/>
              </a:solidFill>
              <a:latin typeface="微软雅黑" panose="020B0503020204020204" pitchFamily="34" charset="-122"/>
              <a:ea typeface="微软雅黑" panose="020B0503020204020204" pitchFamily="34" charset="-122"/>
            </a:endParaRPr>
          </a:p>
        </p:txBody>
      </p:sp>
      <p:sp>
        <p:nvSpPr>
          <p:cNvPr id="10" name="标题 9">
            <a:extLst>
              <a:ext uri="{FF2B5EF4-FFF2-40B4-BE49-F238E27FC236}">
                <a16:creationId xmlns:a16="http://schemas.microsoft.com/office/drawing/2014/main" id="{C2A158FB-579E-155C-5D45-86FDD2BE5C81}"/>
              </a:ext>
            </a:extLst>
          </p:cNvPr>
          <p:cNvSpPr>
            <a:spLocks noGrp="1"/>
          </p:cNvSpPr>
          <p:nvPr>
            <p:ph type="title"/>
          </p:nvPr>
        </p:nvSpPr>
        <p:spPr>
          <a:xfrm>
            <a:off x="612000" y="144000"/>
            <a:ext cx="7920000" cy="341632"/>
          </a:xfrm>
        </p:spPr>
        <p:txBody>
          <a:bodyPr/>
          <a:lstStyle/>
          <a:p>
            <a:r>
              <a:rPr lang="en-US" altLang="zh-CN"/>
              <a:t>[</a:t>
            </a:r>
            <a:r>
              <a:rPr lang="zh-CN" altLang="en-US"/>
              <a:t>例</a:t>
            </a:r>
            <a:r>
              <a:rPr lang="en-US" altLang="zh-CN"/>
              <a:t>] </a:t>
            </a:r>
            <a:r>
              <a:rPr lang="zh-CN" altLang="en-US"/>
              <a:t>两台主机通过网络传送文件</a:t>
            </a:r>
            <a:endParaRPr lang="zh-CN" altLang="en-US" dirty="0"/>
          </a:p>
        </p:txBody>
      </p:sp>
      <p:sp>
        <p:nvSpPr>
          <p:cNvPr id="3" name="Rectangle 16">
            <a:extLst>
              <a:ext uri="{FF2B5EF4-FFF2-40B4-BE49-F238E27FC236}">
                <a16:creationId xmlns:a16="http://schemas.microsoft.com/office/drawing/2014/main" id="{40DE9653-EBE7-3AA7-31F1-E9AB7EC419F2}"/>
              </a:ext>
            </a:extLst>
          </p:cNvPr>
          <p:cNvSpPr>
            <a:spLocks noChangeArrowheads="1"/>
          </p:cNvSpPr>
          <p:nvPr/>
        </p:nvSpPr>
        <p:spPr bwMode="auto">
          <a:xfrm>
            <a:off x="6026777" y="2159569"/>
            <a:ext cx="1382203" cy="441525"/>
          </a:xfrm>
          <a:prstGeom prst="rect">
            <a:avLst/>
          </a:prstGeom>
          <a:solidFill>
            <a:srgbClr val="1956B9"/>
          </a:solidFill>
          <a:ln w="28575">
            <a:noFill/>
            <a:miter lim="800000"/>
          </a:ln>
          <a:effectLst/>
          <a:scene3d>
            <a:camera prst="orthographicFront">
              <a:rot lat="0" lon="0" rev="0"/>
            </a:camera>
            <a:lightRig rig="glow" dir="t">
              <a:rot lat="0" lon="0" rev="14100000"/>
            </a:lightRig>
          </a:scene3d>
          <a:sp3d prstMaterial="softEdge">
            <a:bevelT w="127000" prst="artDeco"/>
          </a:sp3d>
        </p:spPr>
        <p:txBody>
          <a:bodyPr wrap="none" anchor="ctr"/>
          <a:lstStyle/>
          <a:p>
            <a:pPr fontAlgn="auto">
              <a:spcBef>
                <a:spcPts val="0"/>
              </a:spcBef>
              <a:spcAft>
                <a:spcPts val="0"/>
              </a:spcAft>
              <a:defRPr/>
            </a:pPr>
            <a:endParaRPr lang="zh-CN" altLang="en-US" sz="1200" b="1">
              <a:solidFill>
                <a:srgbClr val="1956B9"/>
              </a:solidFill>
              <a:latin typeface="微软雅黑" panose="020B0503020204020204" pitchFamily="34" charset="-122"/>
              <a:ea typeface="微软雅黑" panose="020B0503020204020204" pitchFamily="34" charset="-122"/>
            </a:endParaRPr>
          </a:p>
        </p:txBody>
      </p:sp>
      <p:sp>
        <p:nvSpPr>
          <p:cNvPr id="7" name="Text Box 10">
            <a:extLst>
              <a:ext uri="{FF2B5EF4-FFF2-40B4-BE49-F238E27FC236}">
                <a16:creationId xmlns:a16="http://schemas.microsoft.com/office/drawing/2014/main" id="{60F4FA1E-0991-14E1-1239-3C979FDD50D1}"/>
              </a:ext>
            </a:extLst>
          </p:cNvPr>
          <p:cNvSpPr txBox="1">
            <a:spLocks noChangeArrowheads="1"/>
          </p:cNvSpPr>
          <p:nvPr/>
        </p:nvSpPr>
        <p:spPr bwMode="auto">
          <a:xfrm>
            <a:off x="6087188" y="2208217"/>
            <a:ext cx="126188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lang="zh-CN" altLang="en-US" sz="1400">
                <a:solidFill>
                  <a:schemeClr val="bg1"/>
                </a:solidFill>
                <a:latin typeface="+mj-lt"/>
                <a:ea typeface="+mj-ea"/>
              </a:rPr>
              <a:t>文件传送模块</a:t>
            </a:r>
          </a:p>
        </p:txBody>
      </p:sp>
      <p:sp>
        <p:nvSpPr>
          <p:cNvPr id="9" name="Text Box 9">
            <a:extLst>
              <a:ext uri="{FF2B5EF4-FFF2-40B4-BE49-F238E27FC236}">
                <a16:creationId xmlns:a16="http://schemas.microsoft.com/office/drawing/2014/main" id="{6B71ED3B-1117-434B-D863-B771A51956AD}"/>
              </a:ext>
            </a:extLst>
          </p:cNvPr>
          <p:cNvSpPr txBox="1">
            <a:spLocks noChangeArrowheads="1"/>
          </p:cNvSpPr>
          <p:nvPr/>
        </p:nvSpPr>
        <p:spPr bwMode="auto">
          <a:xfrm>
            <a:off x="6346655" y="1773242"/>
            <a:ext cx="708025"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defRPr sz="1400">
                <a:latin typeface="+mj-lt"/>
                <a:ea typeface="+mj-ea"/>
              </a:defRPr>
            </a:lvl1pPr>
            <a:lvl2pPr marL="742950" indent="-285750">
              <a:defRPr>
                <a:latin typeface="Calibri" panose="020F0502020204030204" pitchFamily="34" charset="0"/>
                <a:ea typeface="宋体" panose="02010600030101010101" pitchFamily="2" charset="-122"/>
              </a:defRPr>
            </a:lvl2pPr>
            <a:lvl3pPr marL="1143000" indent="-228600">
              <a:defRPr>
                <a:latin typeface="Calibri" panose="020F0502020204030204" pitchFamily="34" charset="0"/>
                <a:ea typeface="宋体" panose="02010600030101010101" pitchFamily="2" charset="-122"/>
              </a:defRPr>
            </a:lvl3pPr>
            <a:lvl4pPr marL="1600200" indent="-228600">
              <a:defRPr>
                <a:latin typeface="Calibri" panose="020F0502020204030204" pitchFamily="34" charset="0"/>
                <a:ea typeface="宋体" panose="02010600030101010101" pitchFamily="2" charset="-122"/>
              </a:defRPr>
            </a:lvl4pPr>
            <a:lvl5pPr marL="2057400" indent="-228600">
              <a:defRPr>
                <a:latin typeface="Calibri" panose="020F0502020204030204" pitchFamily="34" charset="0"/>
                <a:ea typeface="宋体" panose="02010600030101010101" pitchFamily="2" charset="-122"/>
              </a:defRPr>
            </a:lvl5pPr>
            <a:lvl6pPr marL="2514600" indent="-228600" fontAlgn="base">
              <a:spcBef>
                <a:spcPct val="0"/>
              </a:spcBef>
              <a:spcAft>
                <a:spcPct val="0"/>
              </a:spcAft>
              <a:defRPr>
                <a:latin typeface="Calibri" panose="020F0502020204030204" pitchFamily="34" charset="0"/>
                <a:ea typeface="宋体" panose="02010600030101010101" pitchFamily="2" charset="-122"/>
              </a:defRPr>
            </a:lvl6pPr>
            <a:lvl7pPr marL="2971800" indent="-228600" fontAlgn="base">
              <a:spcBef>
                <a:spcPct val="0"/>
              </a:spcBef>
              <a:spcAft>
                <a:spcPct val="0"/>
              </a:spcAft>
              <a:defRPr>
                <a:latin typeface="Calibri" panose="020F0502020204030204" pitchFamily="34" charset="0"/>
                <a:ea typeface="宋体" panose="02010600030101010101" pitchFamily="2" charset="-122"/>
              </a:defRPr>
            </a:lvl7pPr>
            <a:lvl8pPr marL="3429000" indent="-228600" fontAlgn="base">
              <a:spcBef>
                <a:spcPct val="0"/>
              </a:spcBef>
              <a:spcAft>
                <a:spcPct val="0"/>
              </a:spcAft>
              <a:defRPr>
                <a:latin typeface="Calibri" panose="020F0502020204030204" pitchFamily="34" charset="0"/>
                <a:ea typeface="宋体" panose="02010600030101010101" pitchFamily="2" charset="-122"/>
              </a:defRPr>
            </a:lvl8pPr>
            <a:lvl9pPr marL="3886200" indent="-228600" fontAlgn="base">
              <a:spcBef>
                <a:spcPct val="0"/>
              </a:spcBef>
              <a:spcAft>
                <a:spcPct val="0"/>
              </a:spcAft>
              <a:defRPr>
                <a:latin typeface="Calibri" panose="020F0502020204030204" pitchFamily="34" charset="0"/>
                <a:ea typeface="宋体" panose="02010600030101010101" pitchFamily="2" charset="-122"/>
              </a:defRPr>
            </a:lvl9pPr>
          </a:lstStyle>
          <a:p>
            <a:r>
              <a:rPr lang="zh-CN" altLang="en-US" dirty="0"/>
              <a:t>主机 </a:t>
            </a:r>
            <a:r>
              <a:rPr lang="en-US" altLang="zh-CN" dirty="0"/>
              <a:t>2</a:t>
            </a:r>
          </a:p>
        </p:txBody>
      </p:sp>
      <p:sp>
        <p:nvSpPr>
          <p:cNvPr id="22" name="上下箭头 21"/>
          <p:cNvSpPr/>
          <p:nvPr/>
        </p:nvSpPr>
        <p:spPr>
          <a:xfrm>
            <a:off x="6641685" y="2531139"/>
            <a:ext cx="186617" cy="345680"/>
          </a:xfrm>
          <a:prstGeom prst="upDownArrow">
            <a:avLst/>
          </a:prstGeom>
          <a:solidFill>
            <a:srgbClr val="00FFFF"/>
          </a:solidFill>
          <a:ln w="19050">
            <a:solidFill>
              <a:srgbClr val="0000FF"/>
            </a:solidFill>
            <a:miter lim="800000"/>
          </a:ln>
        </p:spPr>
        <p:txBody>
          <a:bodyPr vert="eaVert" wrap="none" anchor="ctr"/>
          <a:lstStyle/>
          <a:p>
            <a:endParaRPr lang="zh-CN" altLang="en-US" sz="1200" b="1">
              <a:solidFill>
                <a:srgbClr val="1956B9"/>
              </a:solidFill>
              <a:latin typeface="微软雅黑" panose="020B0503020204020204" pitchFamily="34" charset="-122"/>
              <a:ea typeface="微软雅黑" panose="020B0503020204020204" pitchFamily="34" charset="-122"/>
            </a:endParaRPr>
          </a:p>
        </p:txBody>
      </p:sp>
    </p:spTree>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grpId="0" nodeType="clickEffect">
                                  <p:stCondLst>
                                    <p:cond delay="0"/>
                                  </p:stCondLst>
                                  <p:childTnLst>
                                    <p:set>
                                      <p:cBhvr>
                                        <p:cTn id="6" dur="1" fill="hold">
                                          <p:stCondLst>
                                            <p:cond delay="0"/>
                                          </p:stCondLst>
                                        </p:cTn>
                                        <p:tgtEl>
                                          <p:spTgt spid="50"/>
                                        </p:tgtEl>
                                        <p:attrNameLst>
                                          <p:attrName>style.visibility</p:attrName>
                                        </p:attrNameLst>
                                      </p:cBhvr>
                                      <p:to>
                                        <p:strVal val="visible"/>
                                      </p:to>
                                    </p:set>
                                    <p:animEffect transition="in" filter="wipe(up)">
                                      <p:cBhvr>
                                        <p:cTn id="7" dur="500"/>
                                        <p:tgtEl>
                                          <p:spTgt spid="50"/>
                                        </p:tgtEl>
                                      </p:cBhvr>
                                    </p:animEffect>
                                  </p:childTnLst>
                                </p:cTn>
                              </p:par>
                            </p:childTnLst>
                          </p:cTn>
                        </p:par>
                        <p:par>
                          <p:cTn id="8" fill="hold">
                            <p:stCondLst>
                              <p:cond delay="500"/>
                            </p:stCondLst>
                            <p:childTnLst>
                              <p:par>
                                <p:cTn id="9" presetID="22" presetClass="entr" presetSubtype="8" fill="hold" grpId="0" nodeType="afterEffect">
                                  <p:stCondLst>
                                    <p:cond delay="500"/>
                                  </p:stCondLst>
                                  <p:childTnLst>
                                    <p:set>
                                      <p:cBhvr>
                                        <p:cTn id="10" dur="1" fill="hold">
                                          <p:stCondLst>
                                            <p:cond delay="0"/>
                                          </p:stCondLst>
                                        </p:cTn>
                                        <p:tgtEl>
                                          <p:spTgt spid="51"/>
                                        </p:tgtEl>
                                        <p:attrNameLst>
                                          <p:attrName>style.visibility</p:attrName>
                                        </p:attrNameLst>
                                      </p:cBhvr>
                                      <p:to>
                                        <p:strVal val="visible"/>
                                      </p:to>
                                    </p:set>
                                    <p:animEffect transition="in" filter="wipe(left)">
                                      <p:cBhvr>
                                        <p:cTn id="11" dur="500"/>
                                        <p:tgtEl>
                                          <p:spTgt spid="51"/>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1" fill="hold" grpId="0" nodeType="clickEffect">
                                  <p:stCondLst>
                                    <p:cond delay="0"/>
                                  </p:stCondLst>
                                  <p:childTnLst>
                                    <p:set>
                                      <p:cBhvr>
                                        <p:cTn id="15" dur="1" fill="hold">
                                          <p:stCondLst>
                                            <p:cond delay="0"/>
                                          </p:stCondLst>
                                        </p:cTn>
                                        <p:tgtEl>
                                          <p:spTgt spid="46"/>
                                        </p:tgtEl>
                                        <p:attrNameLst>
                                          <p:attrName>style.visibility</p:attrName>
                                        </p:attrNameLst>
                                      </p:cBhvr>
                                      <p:to>
                                        <p:strVal val="visible"/>
                                      </p:to>
                                    </p:set>
                                    <p:animEffect transition="in" filter="wipe(up)">
                                      <p:cBhvr>
                                        <p:cTn id="16" dur="500"/>
                                        <p:tgtEl>
                                          <p:spTgt spid="46"/>
                                        </p:tgtEl>
                                      </p:cBhvr>
                                    </p:animEffect>
                                  </p:childTnLst>
                                </p:cTn>
                              </p:par>
                            </p:childTnLst>
                          </p:cTn>
                        </p:par>
                        <p:par>
                          <p:cTn id="17" fill="hold">
                            <p:stCondLst>
                              <p:cond delay="500"/>
                            </p:stCondLst>
                            <p:childTnLst>
                              <p:par>
                                <p:cTn id="18" presetID="22" presetClass="entr" presetSubtype="8" fill="hold" grpId="0" nodeType="afterEffect">
                                  <p:stCondLst>
                                    <p:cond delay="500"/>
                                  </p:stCondLst>
                                  <p:childTnLst>
                                    <p:set>
                                      <p:cBhvr>
                                        <p:cTn id="19" dur="1" fill="hold">
                                          <p:stCondLst>
                                            <p:cond delay="0"/>
                                          </p:stCondLst>
                                        </p:cTn>
                                        <p:tgtEl>
                                          <p:spTgt spid="45"/>
                                        </p:tgtEl>
                                        <p:attrNameLst>
                                          <p:attrName>style.visibility</p:attrName>
                                        </p:attrNameLst>
                                      </p:cBhvr>
                                      <p:to>
                                        <p:strVal val="visible"/>
                                      </p:to>
                                    </p:set>
                                    <p:animEffect transition="in" filter="wipe(left)">
                                      <p:cBhvr>
                                        <p:cTn id="20" dur="500"/>
                                        <p:tgtEl>
                                          <p:spTgt spid="4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5" grpId="0" animBg="1"/>
      <p:bldP spid="46" grpId="0"/>
      <p:bldP spid="50" grpId="0"/>
      <p:bldP spid="51" grpId="0"/>
    </p:bldLst>
  </p:timing>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 name="Rectangle 16"/>
          <p:cNvSpPr>
            <a:spLocks noChangeArrowheads="1"/>
          </p:cNvSpPr>
          <p:nvPr/>
        </p:nvSpPr>
        <p:spPr bwMode="auto">
          <a:xfrm>
            <a:off x="6026777" y="2159569"/>
            <a:ext cx="1382203" cy="441525"/>
          </a:xfrm>
          <a:prstGeom prst="rect">
            <a:avLst/>
          </a:prstGeom>
          <a:solidFill>
            <a:srgbClr val="1956B9"/>
          </a:solidFill>
          <a:ln w="28575">
            <a:noFill/>
            <a:miter lim="800000"/>
          </a:ln>
          <a:effectLst/>
          <a:scene3d>
            <a:camera prst="orthographicFront">
              <a:rot lat="0" lon="0" rev="0"/>
            </a:camera>
            <a:lightRig rig="glow" dir="t">
              <a:rot lat="0" lon="0" rev="14100000"/>
            </a:lightRig>
          </a:scene3d>
          <a:sp3d prstMaterial="softEdge">
            <a:bevelT w="127000" prst="artDeco"/>
          </a:sp3d>
        </p:spPr>
        <p:txBody>
          <a:bodyPr wrap="none" anchor="ctr"/>
          <a:lstStyle/>
          <a:p>
            <a:pPr fontAlgn="auto">
              <a:spcBef>
                <a:spcPts val="0"/>
              </a:spcBef>
              <a:spcAft>
                <a:spcPts val="0"/>
              </a:spcAft>
              <a:defRPr/>
            </a:pPr>
            <a:endParaRPr lang="zh-CN" altLang="en-US" sz="1200" b="1">
              <a:solidFill>
                <a:srgbClr val="1956B9"/>
              </a:solidFill>
              <a:latin typeface="微软雅黑" panose="020B0503020204020204" pitchFamily="34" charset="-122"/>
              <a:ea typeface="微软雅黑" panose="020B0503020204020204" pitchFamily="34" charset="-122"/>
            </a:endParaRPr>
          </a:p>
        </p:txBody>
      </p:sp>
      <p:sp>
        <p:nvSpPr>
          <p:cNvPr id="40" name="Rectangle 15"/>
          <p:cNvSpPr>
            <a:spLocks noChangeArrowheads="1"/>
          </p:cNvSpPr>
          <p:nvPr/>
        </p:nvSpPr>
        <p:spPr bwMode="auto">
          <a:xfrm>
            <a:off x="1743860" y="2159569"/>
            <a:ext cx="1382203" cy="441525"/>
          </a:xfrm>
          <a:prstGeom prst="rect">
            <a:avLst/>
          </a:prstGeom>
          <a:solidFill>
            <a:srgbClr val="1956B9"/>
          </a:solidFill>
          <a:ln w="28575">
            <a:noFill/>
            <a:miter lim="800000"/>
          </a:ln>
          <a:effectLst/>
          <a:scene3d>
            <a:camera prst="orthographicFront">
              <a:rot lat="0" lon="0" rev="0"/>
            </a:camera>
            <a:lightRig rig="glow" dir="t">
              <a:rot lat="0" lon="0" rev="14100000"/>
            </a:lightRig>
          </a:scene3d>
          <a:sp3d prstMaterial="softEdge">
            <a:bevelT w="127000" prst="artDeco"/>
          </a:sp3d>
        </p:spPr>
        <p:txBody>
          <a:bodyPr wrap="none" anchor="ctr"/>
          <a:lstStyle/>
          <a:p>
            <a:pPr fontAlgn="auto">
              <a:spcBef>
                <a:spcPts val="0"/>
              </a:spcBef>
              <a:spcAft>
                <a:spcPts val="0"/>
              </a:spcAft>
              <a:defRPr/>
            </a:pPr>
            <a:endParaRPr lang="zh-CN" altLang="en-US" sz="1200" b="1">
              <a:solidFill>
                <a:srgbClr val="1956B9"/>
              </a:solidFill>
              <a:latin typeface="微软雅黑" panose="020B0503020204020204" pitchFamily="34" charset="-122"/>
              <a:ea typeface="微软雅黑" panose="020B0503020204020204" pitchFamily="34" charset="-122"/>
            </a:endParaRPr>
          </a:p>
        </p:txBody>
      </p:sp>
      <p:sp>
        <p:nvSpPr>
          <p:cNvPr id="128013" name="Text Box 5"/>
          <p:cNvSpPr txBox="1">
            <a:spLocks noChangeArrowheads="1"/>
          </p:cNvSpPr>
          <p:nvPr/>
        </p:nvSpPr>
        <p:spPr bwMode="auto">
          <a:xfrm>
            <a:off x="1803489" y="2208217"/>
            <a:ext cx="126188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lang="zh-CN" altLang="en-US" sz="1400" dirty="0">
                <a:solidFill>
                  <a:schemeClr val="bg1"/>
                </a:solidFill>
                <a:latin typeface="+mj-lt"/>
                <a:ea typeface="+mj-ea"/>
              </a:rPr>
              <a:t>文件传送模块</a:t>
            </a:r>
          </a:p>
        </p:txBody>
      </p:sp>
      <p:sp>
        <p:nvSpPr>
          <p:cNvPr id="128014" name="Text Box 6"/>
          <p:cNvSpPr txBox="1">
            <a:spLocks noChangeArrowheads="1"/>
          </p:cNvSpPr>
          <p:nvPr/>
        </p:nvSpPr>
        <p:spPr bwMode="auto">
          <a:xfrm>
            <a:off x="2062163" y="1773242"/>
            <a:ext cx="65434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defRPr sz="1400">
                <a:latin typeface="+mj-lt"/>
                <a:ea typeface="+mj-ea"/>
              </a:defRPr>
            </a:lvl1pPr>
            <a:lvl2pPr marL="742950" indent="-285750">
              <a:defRPr>
                <a:latin typeface="Calibri" panose="020F0502020204030204" pitchFamily="34" charset="0"/>
                <a:ea typeface="宋体" panose="02010600030101010101" pitchFamily="2" charset="-122"/>
              </a:defRPr>
            </a:lvl2pPr>
            <a:lvl3pPr marL="1143000" indent="-228600">
              <a:defRPr>
                <a:latin typeface="Calibri" panose="020F0502020204030204" pitchFamily="34" charset="0"/>
                <a:ea typeface="宋体" panose="02010600030101010101" pitchFamily="2" charset="-122"/>
              </a:defRPr>
            </a:lvl3pPr>
            <a:lvl4pPr marL="1600200" indent="-228600">
              <a:defRPr>
                <a:latin typeface="Calibri" panose="020F0502020204030204" pitchFamily="34" charset="0"/>
                <a:ea typeface="宋体" panose="02010600030101010101" pitchFamily="2" charset="-122"/>
              </a:defRPr>
            </a:lvl4pPr>
            <a:lvl5pPr marL="2057400" indent="-228600">
              <a:defRPr>
                <a:latin typeface="Calibri" panose="020F0502020204030204" pitchFamily="34" charset="0"/>
                <a:ea typeface="宋体" panose="02010600030101010101" pitchFamily="2" charset="-122"/>
              </a:defRPr>
            </a:lvl5pPr>
            <a:lvl6pPr marL="2514600" indent="-228600" fontAlgn="base">
              <a:spcBef>
                <a:spcPct val="0"/>
              </a:spcBef>
              <a:spcAft>
                <a:spcPct val="0"/>
              </a:spcAft>
              <a:defRPr>
                <a:latin typeface="Calibri" panose="020F0502020204030204" pitchFamily="34" charset="0"/>
                <a:ea typeface="宋体" panose="02010600030101010101" pitchFamily="2" charset="-122"/>
              </a:defRPr>
            </a:lvl6pPr>
            <a:lvl7pPr marL="2971800" indent="-228600" fontAlgn="base">
              <a:spcBef>
                <a:spcPct val="0"/>
              </a:spcBef>
              <a:spcAft>
                <a:spcPct val="0"/>
              </a:spcAft>
              <a:defRPr>
                <a:latin typeface="Calibri" panose="020F0502020204030204" pitchFamily="34" charset="0"/>
                <a:ea typeface="宋体" panose="02010600030101010101" pitchFamily="2" charset="-122"/>
              </a:defRPr>
            </a:lvl7pPr>
            <a:lvl8pPr marL="3429000" indent="-228600" fontAlgn="base">
              <a:spcBef>
                <a:spcPct val="0"/>
              </a:spcBef>
              <a:spcAft>
                <a:spcPct val="0"/>
              </a:spcAft>
              <a:defRPr>
                <a:latin typeface="Calibri" panose="020F0502020204030204" pitchFamily="34" charset="0"/>
                <a:ea typeface="宋体" panose="02010600030101010101" pitchFamily="2" charset="-122"/>
              </a:defRPr>
            </a:lvl8pPr>
            <a:lvl9pPr marL="3886200" indent="-228600" fontAlgn="base">
              <a:spcBef>
                <a:spcPct val="0"/>
              </a:spcBef>
              <a:spcAft>
                <a:spcPct val="0"/>
              </a:spcAft>
              <a:defRPr>
                <a:latin typeface="Calibri" panose="020F0502020204030204" pitchFamily="34" charset="0"/>
                <a:ea typeface="宋体" panose="02010600030101010101" pitchFamily="2" charset="-122"/>
              </a:defRPr>
            </a:lvl9pPr>
          </a:lstStyle>
          <a:p>
            <a:r>
              <a:rPr lang="zh-CN" altLang="en-US" dirty="0"/>
              <a:t>主机 </a:t>
            </a:r>
            <a:r>
              <a:rPr lang="en-US" altLang="zh-CN" dirty="0"/>
              <a:t>1</a:t>
            </a:r>
          </a:p>
        </p:txBody>
      </p:sp>
      <p:sp>
        <p:nvSpPr>
          <p:cNvPr id="128015" name="Text Box 9"/>
          <p:cNvSpPr txBox="1">
            <a:spLocks noChangeArrowheads="1"/>
          </p:cNvSpPr>
          <p:nvPr/>
        </p:nvSpPr>
        <p:spPr bwMode="auto">
          <a:xfrm>
            <a:off x="6346655" y="1773242"/>
            <a:ext cx="708025"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defRPr sz="1400">
                <a:latin typeface="+mj-lt"/>
                <a:ea typeface="+mj-ea"/>
              </a:defRPr>
            </a:lvl1pPr>
            <a:lvl2pPr marL="742950" indent="-285750">
              <a:defRPr>
                <a:latin typeface="Calibri" panose="020F0502020204030204" pitchFamily="34" charset="0"/>
                <a:ea typeface="宋体" panose="02010600030101010101" pitchFamily="2" charset="-122"/>
              </a:defRPr>
            </a:lvl2pPr>
            <a:lvl3pPr marL="1143000" indent="-228600">
              <a:defRPr>
                <a:latin typeface="Calibri" panose="020F0502020204030204" pitchFamily="34" charset="0"/>
                <a:ea typeface="宋体" panose="02010600030101010101" pitchFamily="2" charset="-122"/>
              </a:defRPr>
            </a:lvl3pPr>
            <a:lvl4pPr marL="1600200" indent="-228600">
              <a:defRPr>
                <a:latin typeface="Calibri" panose="020F0502020204030204" pitchFamily="34" charset="0"/>
                <a:ea typeface="宋体" panose="02010600030101010101" pitchFamily="2" charset="-122"/>
              </a:defRPr>
            </a:lvl4pPr>
            <a:lvl5pPr marL="2057400" indent="-228600">
              <a:defRPr>
                <a:latin typeface="Calibri" panose="020F0502020204030204" pitchFamily="34" charset="0"/>
                <a:ea typeface="宋体" panose="02010600030101010101" pitchFamily="2" charset="-122"/>
              </a:defRPr>
            </a:lvl5pPr>
            <a:lvl6pPr marL="2514600" indent="-228600" fontAlgn="base">
              <a:spcBef>
                <a:spcPct val="0"/>
              </a:spcBef>
              <a:spcAft>
                <a:spcPct val="0"/>
              </a:spcAft>
              <a:defRPr>
                <a:latin typeface="Calibri" panose="020F0502020204030204" pitchFamily="34" charset="0"/>
                <a:ea typeface="宋体" panose="02010600030101010101" pitchFamily="2" charset="-122"/>
              </a:defRPr>
            </a:lvl6pPr>
            <a:lvl7pPr marL="2971800" indent="-228600" fontAlgn="base">
              <a:spcBef>
                <a:spcPct val="0"/>
              </a:spcBef>
              <a:spcAft>
                <a:spcPct val="0"/>
              </a:spcAft>
              <a:defRPr>
                <a:latin typeface="Calibri" panose="020F0502020204030204" pitchFamily="34" charset="0"/>
                <a:ea typeface="宋体" panose="02010600030101010101" pitchFamily="2" charset="-122"/>
              </a:defRPr>
            </a:lvl7pPr>
            <a:lvl8pPr marL="3429000" indent="-228600" fontAlgn="base">
              <a:spcBef>
                <a:spcPct val="0"/>
              </a:spcBef>
              <a:spcAft>
                <a:spcPct val="0"/>
              </a:spcAft>
              <a:defRPr>
                <a:latin typeface="Calibri" panose="020F0502020204030204" pitchFamily="34" charset="0"/>
                <a:ea typeface="宋体" panose="02010600030101010101" pitchFamily="2" charset="-122"/>
              </a:defRPr>
            </a:lvl8pPr>
            <a:lvl9pPr marL="3886200" indent="-228600" fontAlgn="base">
              <a:spcBef>
                <a:spcPct val="0"/>
              </a:spcBef>
              <a:spcAft>
                <a:spcPct val="0"/>
              </a:spcAft>
              <a:defRPr>
                <a:latin typeface="Calibri" panose="020F0502020204030204" pitchFamily="34" charset="0"/>
                <a:ea typeface="宋体" panose="02010600030101010101" pitchFamily="2" charset="-122"/>
              </a:defRPr>
            </a:lvl9pPr>
          </a:lstStyle>
          <a:p>
            <a:r>
              <a:rPr lang="zh-CN" altLang="en-US" dirty="0"/>
              <a:t>主机 </a:t>
            </a:r>
            <a:r>
              <a:rPr lang="en-US" altLang="zh-CN" dirty="0"/>
              <a:t>2</a:t>
            </a:r>
          </a:p>
        </p:txBody>
      </p:sp>
      <p:sp>
        <p:nvSpPr>
          <p:cNvPr id="128016" name="Text Box 10"/>
          <p:cNvSpPr txBox="1">
            <a:spLocks noChangeArrowheads="1"/>
          </p:cNvSpPr>
          <p:nvPr/>
        </p:nvSpPr>
        <p:spPr bwMode="auto">
          <a:xfrm>
            <a:off x="6087188" y="2208217"/>
            <a:ext cx="126188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lang="zh-CN" altLang="en-US" sz="1400">
                <a:solidFill>
                  <a:schemeClr val="bg1"/>
                </a:solidFill>
                <a:latin typeface="+mj-lt"/>
                <a:ea typeface="+mj-ea"/>
              </a:rPr>
              <a:t>文件传送模块</a:t>
            </a:r>
          </a:p>
        </p:txBody>
      </p:sp>
      <p:sp>
        <p:nvSpPr>
          <p:cNvPr id="4" name="矩形 3"/>
          <p:cNvSpPr/>
          <p:nvPr/>
        </p:nvSpPr>
        <p:spPr>
          <a:xfrm>
            <a:off x="2410327" y="1253372"/>
            <a:ext cx="4323347" cy="33855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en-US" altLang="zh-CN" sz="1600" dirty="0"/>
              <a:t>2. </a:t>
            </a:r>
            <a:r>
              <a:rPr lang="zh-CN" altLang="en-US" sz="1600" dirty="0"/>
              <a:t>再设计一个通信服务模块层</a:t>
            </a:r>
          </a:p>
        </p:txBody>
      </p:sp>
      <p:sp>
        <p:nvSpPr>
          <p:cNvPr id="19" name="Text Box 12"/>
          <p:cNvSpPr txBox="1">
            <a:spLocks noChangeArrowheads="1"/>
          </p:cNvSpPr>
          <p:nvPr/>
        </p:nvSpPr>
        <p:spPr bwMode="auto">
          <a:xfrm>
            <a:off x="3707546" y="2470983"/>
            <a:ext cx="1620957" cy="52322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lang="zh-CN" altLang="en-US" sz="1400" b="1" dirty="0">
                <a:latin typeface="微软雅黑" panose="020B0503020204020204" pitchFamily="34" charset="-122"/>
                <a:ea typeface="微软雅黑" panose="020B0503020204020204" pitchFamily="34" charset="-122"/>
              </a:rPr>
              <a:t>好像可直接把文件</a:t>
            </a:r>
          </a:p>
          <a:p>
            <a:pPr algn="ctr"/>
            <a:r>
              <a:rPr lang="zh-CN" altLang="en-US" sz="1400" b="1" dirty="0">
                <a:latin typeface="微软雅黑" panose="020B0503020204020204" pitchFamily="34" charset="-122"/>
                <a:ea typeface="微软雅黑" panose="020B0503020204020204" pitchFamily="34" charset="-122"/>
              </a:rPr>
              <a:t>可靠地传送到对方</a:t>
            </a:r>
          </a:p>
        </p:txBody>
      </p:sp>
      <p:sp>
        <p:nvSpPr>
          <p:cNvPr id="20" name="Line 17"/>
          <p:cNvSpPr>
            <a:spLocks noChangeShapeType="1"/>
          </p:cNvSpPr>
          <p:nvPr/>
        </p:nvSpPr>
        <p:spPr bwMode="auto">
          <a:xfrm>
            <a:off x="1384885" y="3367004"/>
            <a:ext cx="6381750" cy="0"/>
          </a:xfrm>
          <a:prstGeom prst="line">
            <a:avLst/>
          </a:prstGeom>
          <a:noFill/>
          <a:ln w="38100">
            <a:solidFill>
              <a:srgbClr val="7A9AE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24" name="Text Box 20"/>
          <p:cNvSpPr txBox="1">
            <a:spLocks noChangeArrowheads="1"/>
          </p:cNvSpPr>
          <p:nvPr/>
        </p:nvSpPr>
        <p:spPr bwMode="auto">
          <a:xfrm>
            <a:off x="1548481" y="3564941"/>
            <a:ext cx="1800225" cy="523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lang="zh-CN" altLang="en-US" sz="1400" b="1" dirty="0">
                <a:solidFill>
                  <a:srgbClr val="0000FF"/>
                </a:solidFill>
                <a:latin typeface="微软雅黑" panose="020B0503020204020204" pitchFamily="34" charset="-122"/>
                <a:ea typeface="微软雅黑" panose="020B0503020204020204" pitchFamily="34" charset="-122"/>
              </a:rPr>
              <a:t>把文件交给下层模块</a:t>
            </a:r>
          </a:p>
          <a:p>
            <a:pPr algn="ctr"/>
            <a:r>
              <a:rPr lang="zh-CN" altLang="en-US" sz="1400" b="1" dirty="0">
                <a:solidFill>
                  <a:srgbClr val="0000FF"/>
                </a:solidFill>
                <a:latin typeface="微软雅黑" panose="020B0503020204020204" pitchFamily="34" charset="-122"/>
                <a:ea typeface="微软雅黑" panose="020B0503020204020204" pitchFamily="34" charset="-122"/>
              </a:rPr>
              <a:t>进行发送</a:t>
            </a:r>
          </a:p>
        </p:txBody>
      </p:sp>
      <p:sp>
        <p:nvSpPr>
          <p:cNvPr id="25" name="Text Box 21"/>
          <p:cNvSpPr txBox="1">
            <a:spLocks noChangeArrowheads="1"/>
          </p:cNvSpPr>
          <p:nvPr/>
        </p:nvSpPr>
        <p:spPr bwMode="auto">
          <a:xfrm>
            <a:off x="5921706" y="3564941"/>
            <a:ext cx="1620838" cy="523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lang="zh-CN" altLang="en-US" sz="1400" b="1">
                <a:solidFill>
                  <a:srgbClr val="0000FF"/>
                </a:solidFill>
                <a:latin typeface="微软雅黑" panose="020B0503020204020204" pitchFamily="34" charset="-122"/>
                <a:ea typeface="微软雅黑" panose="020B0503020204020204" pitchFamily="34" charset="-122"/>
              </a:rPr>
              <a:t>把收到的文件交给</a:t>
            </a:r>
          </a:p>
          <a:p>
            <a:pPr algn="ctr"/>
            <a:r>
              <a:rPr lang="zh-CN" altLang="en-US" sz="1400" b="1">
                <a:solidFill>
                  <a:srgbClr val="0000FF"/>
                </a:solidFill>
                <a:latin typeface="微软雅黑" panose="020B0503020204020204" pitchFamily="34" charset="-122"/>
                <a:ea typeface="微软雅黑" panose="020B0503020204020204" pitchFamily="34" charset="-122"/>
              </a:rPr>
              <a:t>上层模块</a:t>
            </a:r>
          </a:p>
        </p:txBody>
      </p:sp>
      <p:sp>
        <p:nvSpPr>
          <p:cNvPr id="27" name="Rectangle 16"/>
          <p:cNvSpPr>
            <a:spLocks noChangeArrowheads="1"/>
          </p:cNvSpPr>
          <p:nvPr/>
        </p:nvSpPr>
        <p:spPr bwMode="auto">
          <a:xfrm>
            <a:off x="6040194" y="2809497"/>
            <a:ext cx="1382203" cy="441525"/>
          </a:xfrm>
          <a:prstGeom prst="rect">
            <a:avLst/>
          </a:prstGeom>
          <a:solidFill>
            <a:srgbClr val="339933"/>
          </a:solidFill>
          <a:ln w="28575">
            <a:solidFill>
              <a:srgbClr val="339933"/>
            </a:solidFill>
            <a:miter lim="800000"/>
          </a:ln>
          <a:effectLst/>
          <a:scene3d>
            <a:camera prst="orthographicFront">
              <a:rot lat="0" lon="0" rev="0"/>
            </a:camera>
            <a:lightRig rig="glow" dir="t">
              <a:rot lat="0" lon="0" rev="14100000"/>
            </a:lightRig>
          </a:scene3d>
          <a:sp3d prstMaterial="softEdge">
            <a:bevelT w="127000" prst="artDeco"/>
          </a:sp3d>
        </p:spPr>
        <p:txBody>
          <a:bodyPr wrap="none" anchor="ctr"/>
          <a:lstStyle/>
          <a:p>
            <a:pPr fontAlgn="auto">
              <a:spcBef>
                <a:spcPts val="0"/>
              </a:spcBef>
              <a:spcAft>
                <a:spcPts val="0"/>
              </a:spcAft>
              <a:defRPr/>
            </a:pPr>
            <a:endParaRPr lang="zh-CN" altLang="en-US" sz="1200" b="1">
              <a:solidFill>
                <a:srgbClr val="1956B9"/>
              </a:solidFill>
              <a:latin typeface="微软雅黑" panose="020B0503020204020204" pitchFamily="34" charset="-122"/>
              <a:ea typeface="微软雅黑" panose="020B0503020204020204" pitchFamily="34" charset="-122"/>
            </a:endParaRPr>
          </a:p>
        </p:txBody>
      </p:sp>
      <p:sp>
        <p:nvSpPr>
          <p:cNvPr id="28" name="Rectangle 15"/>
          <p:cNvSpPr>
            <a:spLocks noChangeArrowheads="1"/>
          </p:cNvSpPr>
          <p:nvPr/>
        </p:nvSpPr>
        <p:spPr bwMode="auto">
          <a:xfrm>
            <a:off x="1757277" y="2809497"/>
            <a:ext cx="1382203" cy="441525"/>
          </a:xfrm>
          <a:prstGeom prst="rect">
            <a:avLst/>
          </a:prstGeom>
          <a:solidFill>
            <a:srgbClr val="339933"/>
          </a:solidFill>
          <a:ln w="28575">
            <a:solidFill>
              <a:srgbClr val="339933"/>
            </a:solidFill>
            <a:miter lim="800000"/>
          </a:ln>
          <a:effectLst/>
          <a:scene3d>
            <a:camera prst="orthographicFront">
              <a:rot lat="0" lon="0" rev="0"/>
            </a:camera>
            <a:lightRig rig="glow" dir="t">
              <a:rot lat="0" lon="0" rev="14100000"/>
            </a:lightRig>
          </a:scene3d>
          <a:sp3d prstMaterial="softEdge">
            <a:bevelT w="127000" prst="artDeco"/>
          </a:sp3d>
        </p:spPr>
        <p:txBody>
          <a:bodyPr wrap="none" anchor="ctr"/>
          <a:lstStyle/>
          <a:p>
            <a:pPr fontAlgn="auto">
              <a:spcBef>
                <a:spcPts val="0"/>
              </a:spcBef>
              <a:spcAft>
                <a:spcPts val="0"/>
              </a:spcAft>
              <a:defRPr/>
            </a:pPr>
            <a:endParaRPr lang="zh-CN" altLang="en-US" sz="1200" b="1">
              <a:solidFill>
                <a:srgbClr val="1956B9"/>
              </a:solidFill>
              <a:latin typeface="微软雅黑" panose="020B0503020204020204" pitchFamily="34" charset="-122"/>
              <a:ea typeface="微软雅黑" panose="020B0503020204020204" pitchFamily="34" charset="-122"/>
            </a:endParaRPr>
          </a:p>
        </p:txBody>
      </p:sp>
      <p:sp>
        <p:nvSpPr>
          <p:cNvPr id="29" name="Text Box 5"/>
          <p:cNvSpPr txBox="1">
            <a:spLocks noChangeArrowheads="1"/>
          </p:cNvSpPr>
          <p:nvPr/>
        </p:nvSpPr>
        <p:spPr bwMode="auto">
          <a:xfrm>
            <a:off x="1817568" y="2863014"/>
            <a:ext cx="126188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lang="zh-CN" altLang="en-US" sz="1400">
                <a:solidFill>
                  <a:schemeClr val="bg1"/>
                </a:solidFill>
                <a:latin typeface="+mj-lt"/>
                <a:ea typeface="+mj-ea"/>
              </a:rPr>
              <a:t>通信服务模块</a:t>
            </a:r>
          </a:p>
        </p:txBody>
      </p:sp>
      <p:sp>
        <p:nvSpPr>
          <p:cNvPr id="30" name="Text Box 10"/>
          <p:cNvSpPr txBox="1">
            <a:spLocks noChangeArrowheads="1"/>
          </p:cNvSpPr>
          <p:nvPr/>
        </p:nvSpPr>
        <p:spPr bwMode="auto">
          <a:xfrm>
            <a:off x="6100473" y="2863014"/>
            <a:ext cx="126188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lang="zh-CN" altLang="en-US" sz="1400">
                <a:solidFill>
                  <a:schemeClr val="bg1"/>
                </a:solidFill>
                <a:latin typeface="+mj-lt"/>
                <a:ea typeface="+mj-ea"/>
              </a:rPr>
              <a:t>通信服务模块</a:t>
            </a:r>
          </a:p>
        </p:txBody>
      </p:sp>
      <p:sp>
        <p:nvSpPr>
          <p:cNvPr id="5" name="上下箭头 4"/>
          <p:cNvSpPr/>
          <p:nvPr/>
        </p:nvSpPr>
        <p:spPr>
          <a:xfrm>
            <a:off x="2354551" y="2531139"/>
            <a:ext cx="186617" cy="345680"/>
          </a:xfrm>
          <a:prstGeom prst="upDownArrow">
            <a:avLst/>
          </a:prstGeom>
          <a:solidFill>
            <a:srgbClr val="00FFFF"/>
          </a:solidFill>
          <a:ln w="19050">
            <a:solidFill>
              <a:srgbClr val="0000FF"/>
            </a:solidFill>
            <a:miter lim="800000"/>
          </a:ln>
        </p:spPr>
        <p:txBody>
          <a:bodyPr vert="eaVert" wrap="none" anchor="ctr"/>
          <a:lstStyle/>
          <a:p>
            <a:endParaRPr lang="zh-CN" altLang="en-US" sz="1200" b="1">
              <a:solidFill>
                <a:srgbClr val="1956B9"/>
              </a:solidFill>
              <a:latin typeface="微软雅黑" panose="020B0503020204020204" pitchFamily="34" charset="-122"/>
              <a:ea typeface="微软雅黑" panose="020B0503020204020204" pitchFamily="34" charset="-122"/>
            </a:endParaRPr>
          </a:p>
        </p:txBody>
      </p:sp>
      <p:sp>
        <p:nvSpPr>
          <p:cNvPr id="22" name="上下箭头 21"/>
          <p:cNvSpPr/>
          <p:nvPr/>
        </p:nvSpPr>
        <p:spPr>
          <a:xfrm>
            <a:off x="6633447" y="2531139"/>
            <a:ext cx="186617" cy="345680"/>
          </a:xfrm>
          <a:prstGeom prst="upDownArrow">
            <a:avLst/>
          </a:prstGeom>
          <a:solidFill>
            <a:srgbClr val="00FFFF"/>
          </a:solidFill>
          <a:ln w="19050">
            <a:solidFill>
              <a:srgbClr val="0000FF"/>
            </a:solidFill>
            <a:miter lim="800000"/>
          </a:ln>
        </p:spPr>
        <p:txBody>
          <a:bodyPr vert="eaVert" wrap="none" anchor="ctr"/>
          <a:lstStyle/>
          <a:p>
            <a:endParaRPr lang="zh-CN" altLang="en-US" sz="1200" b="1">
              <a:solidFill>
                <a:srgbClr val="1956B9"/>
              </a:solidFill>
              <a:latin typeface="微软雅黑" panose="020B0503020204020204" pitchFamily="34" charset="-122"/>
              <a:ea typeface="微软雅黑" panose="020B0503020204020204" pitchFamily="34" charset="-122"/>
            </a:endParaRPr>
          </a:p>
        </p:txBody>
      </p:sp>
      <p:sp>
        <p:nvSpPr>
          <p:cNvPr id="31" name="上下箭头 30"/>
          <p:cNvSpPr/>
          <p:nvPr/>
        </p:nvSpPr>
        <p:spPr>
          <a:xfrm>
            <a:off x="2354551" y="3200503"/>
            <a:ext cx="186617" cy="345680"/>
          </a:xfrm>
          <a:prstGeom prst="upDownArrow">
            <a:avLst/>
          </a:prstGeom>
          <a:solidFill>
            <a:srgbClr val="00FFFF"/>
          </a:solidFill>
          <a:ln w="19050">
            <a:solidFill>
              <a:srgbClr val="0000FF"/>
            </a:solidFill>
            <a:miter lim="800000"/>
          </a:ln>
        </p:spPr>
        <p:txBody>
          <a:bodyPr vert="eaVert" wrap="none" anchor="ctr"/>
          <a:lstStyle/>
          <a:p>
            <a:endParaRPr lang="zh-CN" altLang="en-US" sz="1200" b="1">
              <a:solidFill>
                <a:srgbClr val="1956B9"/>
              </a:solidFill>
              <a:latin typeface="微软雅黑" panose="020B0503020204020204" pitchFamily="34" charset="-122"/>
              <a:ea typeface="微软雅黑" panose="020B0503020204020204" pitchFamily="34" charset="-122"/>
            </a:endParaRPr>
          </a:p>
        </p:txBody>
      </p:sp>
      <p:sp>
        <p:nvSpPr>
          <p:cNvPr id="32" name="上下箭头 31"/>
          <p:cNvSpPr/>
          <p:nvPr/>
        </p:nvSpPr>
        <p:spPr>
          <a:xfrm>
            <a:off x="6633447" y="3200503"/>
            <a:ext cx="186617" cy="345680"/>
          </a:xfrm>
          <a:prstGeom prst="upDownArrow">
            <a:avLst/>
          </a:prstGeom>
          <a:solidFill>
            <a:srgbClr val="00FFFF"/>
          </a:solidFill>
          <a:ln w="19050">
            <a:solidFill>
              <a:srgbClr val="0000FF"/>
            </a:solidFill>
            <a:miter lim="800000"/>
          </a:ln>
        </p:spPr>
        <p:txBody>
          <a:bodyPr vert="eaVert" wrap="none" anchor="ctr"/>
          <a:lstStyle/>
          <a:p>
            <a:endParaRPr lang="zh-CN" altLang="en-US" sz="1200" b="1">
              <a:solidFill>
                <a:srgbClr val="1956B9"/>
              </a:solidFill>
              <a:latin typeface="微软雅黑" panose="020B0503020204020204" pitchFamily="34" charset="-122"/>
              <a:ea typeface="微软雅黑" panose="020B0503020204020204" pitchFamily="34" charset="-122"/>
            </a:endParaRPr>
          </a:p>
        </p:txBody>
      </p:sp>
      <p:sp>
        <p:nvSpPr>
          <p:cNvPr id="33" name="Line 11"/>
          <p:cNvSpPr>
            <a:spLocks noChangeShapeType="1"/>
          </p:cNvSpPr>
          <p:nvPr/>
        </p:nvSpPr>
        <p:spPr bwMode="auto">
          <a:xfrm>
            <a:off x="3125787" y="2408242"/>
            <a:ext cx="2884317" cy="0"/>
          </a:xfrm>
          <a:prstGeom prst="line">
            <a:avLst/>
          </a:prstGeom>
          <a:noFill/>
          <a:ln w="57150">
            <a:solidFill>
              <a:srgbClr val="FF00FF"/>
            </a:solidFill>
            <a:prstDash val="sysDot"/>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34" name="Text Box 12"/>
          <p:cNvSpPr txBox="1">
            <a:spLocks noChangeArrowheads="1"/>
          </p:cNvSpPr>
          <p:nvPr/>
        </p:nvSpPr>
        <p:spPr bwMode="auto">
          <a:xfrm>
            <a:off x="3133144" y="1859991"/>
            <a:ext cx="2877711" cy="52322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lang="zh-CN" altLang="en-US" sz="1400" b="1" dirty="0">
                <a:latin typeface="微软雅黑" panose="020B0503020204020204" pitchFamily="34" charset="-122"/>
                <a:ea typeface="微软雅黑" panose="020B0503020204020204" pitchFamily="34" charset="-122"/>
              </a:rPr>
              <a:t>文件及传送命令好像</a:t>
            </a:r>
          </a:p>
          <a:p>
            <a:pPr algn="ctr"/>
            <a:r>
              <a:rPr lang="zh-CN" altLang="en-US" sz="1400" b="1" dirty="0">
                <a:latin typeface="微软雅黑" panose="020B0503020204020204" pitchFamily="34" charset="-122"/>
                <a:ea typeface="微软雅黑" panose="020B0503020204020204" pitchFamily="34" charset="-122"/>
              </a:rPr>
              <a:t>是按照水平方向的虚线直接传送的</a:t>
            </a:r>
          </a:p>
        </p:txBody>
      </p:sp>
      <p:sp>
        <p:nvSpPr>
          <p:cNvPr id="9" name="标题 8">
            <a:extLst>
              <a:ext uri="{FF2B5EF4-FFF2-40B4-BE49-F238E27FC236}">
                <a16:creationId xmlns:a16="http://schemas.microsoft.com/office/drawing/2014/main" id="{A6035D62-4F74-36E0-CD09-C4B14A894A3A}"/>
              </a:ext>
            </a:extLst>
          </p:cNvPr>
          <p:cNvSpPr>
            <a:spLocks noGrp="1"/>
          </p:cNvSpPr>
          <p:nvPr>
            <p:ph type="title"/>
          </p:nvPr>
        </p:nvSpPr>
        <p:spPr>
          <a:xfrm>
            <a:off x="612000" y="144000"/>
            <a:ext cx="7920000" cy="341632"/>
          </a:xfrm>
        </p:spPr>
        <p:txBody>
          <a:bodyPr/>
          <a:lstStyle/>
          <a:p>
            <a:r>
              <a:rPr lang="en-US" altLang="zh-CN"/>
              <a:t>[</a:t>
            </a:r>
            <a:r>
              <a:rPr lang="zh-CN" altLang="en-US"/>
              <a:t>例</a:t>
            </a:r>
            <a:r>
              <a:rPr lang="en-US" altLang="zh-CN"/>
              <a:t>] </a:t>
            </a:r>
            <a:r>
              <a:rPr lang="zh-CN" altLang="en-US"/>
              <a:t>两台主机通过网络传送文件</a:t>
            </a:r>
            <a:endParaRPr lang="zh-CN" altLang="en-US" dirty="0"/>
          </a:p>
        </p:txBody>
      </p:sp>
      <p:sp>
        <p:nvSpPr>
          <p:cNvPr id="3" name="Line 11">
            <a:extLst>
              <a:ext uri="{FF2B5EF4-FFF2-40B4-BE49-F238E27FC236}">
                <a16:creationId xmlns:a16="http://schemas.microsoft.com/office/drawing/2014/main" id="{22392352-0076-B3E6-E53F-9ABE08D2C8A6}"/>
              </a:ext>
            </a:extLst>
          </p:cNvPr>
          <p:cNvSpPr>
            <a:spLocks noChangeShapeType="1"/>
          </p:cNvSpPr>
          <p:nvPr/>
        </p:nvSpPr>
        <p:spPr bwMode="auto">
          <a:xfrm>
            <a:off x="3139072" y="3023352"/>
            <a:ext cx="2884318" cy="0"/>
          </a:xfrm>
          <a:prstGeom prst="line">
            <a:avLst/>
          </a:prstGeom>
          <a:noFill/>
          <a:ln w="57150">
            <a:solidFill>
              <a:srgbClr val="FF00FF"/>
            </a:solidFill>
            <a:prstDash val="sysDot"/>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Tree>
    <p:extLst>
      <p:ext uri="{BB962C8B-B14F-4D97-AF65-F5344CB8AC3E}">
        <p14:creationId xmlns:p14="http://schemas.microsoft.com/office/powerpoint/2010/main" val="3921405449"/>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grpId="0" nodeType="click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wipe(up)">
                                      <p:cBhvr>
                                        <p:cTn id="7" dur="250"/>
                                        <p:tgtEl>
                                          <p:spTgt spid="24"/>
                                        </p:tgtEl>
                                      </p:cBhvr>
                                    </p:animEffect>
                                  </p:childTnLst>
                                </p:cTn>
                              </p:par>
                            </p:childTnLst>
                          </p:cTn>
                        </p:par>
                        <p:par>
                          <p:cTn id="8" fill="hold">
                            <p:stCondLst>
                              <p:cond delay="250"/>
                            </p:stCondLst>
                            <p:childTnLst>
                              <p:par>
                                <p:cTn id="9" presetID="22" presetClass="entr" presetSubtype="8" fill="hold" grpId="0" nodeType="afterEffect">
                                  <p:stCondLst>
                                    <p:cond delay="250"/>
                                  </p:stCondLst>
                                  <p:childTnLst>
                                    <p:set>
                                      <p:cBhvr>
                                        <p:cTn id="10" dur="1" fill="hold">
                                          <p:stCondLst>
                                            <p:cond delay="0"/>
                                          </p:stCondLst>
                                        </p:cTn>
                                        <p:tgtEl>
                                          <p:spTgt spid="25"/>
                                        </p:tgtEl>
                                        <p:attrNameLst>
                                          <p:attrName>style.visibility</p:attrName>
                                        </p:attrNameLst>
                                      </p:cBhvr>
                                      <p:to>
                                        <p:strVal val="visible"/>
                                      </p:to>
                                    </p:set>
                                    <p:animEffect transition="in" filter="wipe(left)">
                                      <p:cBhvr>
                                        <p:cTn id="11" dur="500"/>
                                        <p:tgtEl>
                                          <p:spTgt spid="25"/>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1" fill="hold" grpId="0" nodeType="clickEffect">
                                  <p:stCondLst>
                                    <p:cond delay="0"/>
                                  </p:stCondLst>
                                  <p:childTnLst>
                                    <p:set>
                                      <p:cBhvr>
                                        <p:cTn id="15" dur="1" fill="hold">
                                          <p:stCondLst>
                                            <p:cond delay="0"/>
                                          </p:stCondLst>
                                        </p:cTn>
                                        <p:tgtEl>
                                          <p:spTgt spid="19"/>
                                        </p:tgtEl>
                                        <p:attrNameLst>
                                          <p:attrName>style.visibility</p:attrName>
                                        </p:attrNameLst>
                                      </p:cBhvr>
                                      <p:to>
                                        <p:strVal val="visible"/>
                                      </p:to>
                                    </p:set>
                                    <p:animEffect transition="in" filter="wipe(up)">
                                      <p:cBhvr>
                                        <p:cTn id="16" dur="25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p:bldP spid="24" grpId="0"/>
      <p:bldP spid="25" grpId="0"/>
    </p:bldLst>
  </p:timing>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 name="Rectangle 16"/>
          <p:cNvSpPr>
            <a:spLocks noChangeArrowheads="1"/>
          </p:cNvSpPr>
          <p:nvPr/>
        </p:nvSpPr>
        <p:spPr bwMode="auto">
          <a:xfrm>
            <a:off x="6026777" y="2159569"/>
            <a:ext cx="1382203" cy="441525"/>
          </a:xfrm>
          <a:prstGeom prst="rect">
            <a:avLst/>
          </a:prstGeom>
          <a:solidFill>
            <a:srgbClr val="1956B9"/>
          </a:solidFill>
          <a:ln w="28575">
            <a:noFill/>
            <a:miter lim="800000"/>
          </a:ln>
          <a:effectLst/>
          <a:scene3d>
            <a:camera prst="orthographicFront">
              <a:rot lat="0" lon="0" rev="0"/>
            </a:camera>
            <a:lightRig rig="glow" dir="t">
              <a:rot lat="0" lon="0" rev="14100000"/>
            </a:lightRig>
          </a:scene3d>
          <a:sp3d prstMaterial="softEdge">
            <a:bevelT w="127000" prst="artDeco"/>
          </a:sp3d>
        </p:spPr>
        <p:txBody>
          <a:bodyPr wrap="none" anchor="ctr"/>
          <a:lstStyle/>
          <a:p>
            <a:pPr fontAlgn="auto">
              <a:spcBef>
                <a:spcPts val="0"/>
              </a:spcBef>
              <a:spcAft>
                <a:spcPts val="0"/>
              </a:spcAft>
              <a:defRPr/>
            </a:pPr>
            <a:endParaRPr lang="zh-CN" altLang="en-US" sz="1200">
              <a:solidFill>
                <a:srgbClr val="1956B9"/>
              </a:solidFill>
              <a:latin typeface="+mj-lt"/>
              <a:ea typeface="+mj-ea"/>
            </a:endParaRPr>
          </a:p>
        </p:txBody>
      </p:sp>
      <p:sp>
        <p:nvSpPr>
          <p:cNvPr id="40" name="Rectangle 15"/>
          <p:cNvSpPr>
            <a:spLocks noChangeArrowheads="1"/>
          </p:cNvSpPr>
          <p:nvPr/>
        </p:nvSpPr>
        <p:spPr bwMode="auto">
          <a:xfrm>
            <a:off x="1743860" y="2159569"/>
            <a:ext cx="1382203" cy="441525"/>
          </a:xfrm>
          <a:prstGeom prst="rect">
            <a:avLst/>
          </a:prstGeom>
          <a:solidFill>
            <a:srgbClr val="1956B9"/>
          </a:solidFill>
          <a:ln w="28575">
            <a:noFill/>
            <a:miter lim="800000"/>
          </a:ln>
          <a:effectLst/>
          <a:scene3d>
            <a:camera prst="orthographicFront">
              <a:rot lat="0" lon="0" rev="0"/>
            </a:camera>
            <a:lightRig rig="glow" dir="t">
              <a:rot lat="0" lon="0" rev="14100000"/>
            </a:lightRig>
          </a:scene3d>
          <a:sp3d prstMaterial="softEdge">
            <a:bevelT w="127000" prst="artDeco"/>
          </a:sp3d>
        </p:spPr>
        <p:txBody>
          <a:bodyPr wrap="none" anchor="ctr"/>
          <a:lstStyle/>
          <a:p>
            <a:pPr fontAlgn="auto">
              <a:spcBef>
                <a:spcPts val="0"/>
              </a:spcBef>
              <a:spcAft>
                <a:spcPts val="0"/>
              </a:spcAft>
              <a:defRPr/>
            </a:pPr>
            <a:endParaRPr lang="zh-CN" altLang="en-US" sz="1200">
              <a:solidFill>
                <a:srgbClr val="1956B9"/>
              </a:solidFill>
              <a:latin typeface="+mj-lt"/>
              <a:ea typeface="+mj-ea"/>
            </a:endParaRPr>
          </a:p>
        </p:txBody>
      </p:sp>
      <p:sp>
        <p:nvSpPr>
          <p:cNvPr id="128013" name="Text Box 5"/>
          <p:cNvSpPr txBox="1">
            <a:spLocks noChangeArrowheads="1"/>
          </p:cNvSpPr>
          <p:nvPr/>
        </p:nvSpPr>
        <p:spPr bwMode="auto">
          <a:xfrm>
            <a:off x="1803489" y="2208217"/>
            <a:ext cx="126188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lang="zh-CN" altLang="en-US" sz="1400">
                <a:solidFill>
                  <a:schemeClr val="bg1"/>
                </a:solidFill>
                <a:latin typeface="+mj-lt"/>
                <a:ea typeface="+mj-ea"/>
              </a:rPr>
              <a:t>文件传送模块</a:t>
            </a:r>
          </a:p>
        </p:txBody>
      </p:sp>
      <p:sp>
        <p:nvSpPr>
          <p:cNvPr id="128014" name="Text Box 6"/>
          <p:cNvSpPr txBox="1">
            <a:spLocks noChangeArrowheads="1"/>
          </p:cNvSpPr>
          <p:nvPr/>
        </p:nvSpPr>
        <p:spPr bwMode="auto">
          <a:xfrm>
            <a:off x="2062163" y="1773242"/>
            <a:ext cx="65434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lang="zh-CN" altLang="en-US" sz="1400" dirty="0">
                <a:latin typeface="+mj-lt"/>
                <a:ea typeface="+mj-ea"/>
              </a:rPr>
              <a:t>主机 </a:t>
            </a:r>
            <a:r>
              <a:rPr lang="en-US" altLang="zh-CN" sz="1400" dirty="0">
                <a:latin typeface="+mj-lt"/>
                <a:ea typeface="+mj-ea"/>
              </a:rPr>
              <a:t>1</a:t>
            </a:r>
          </a:p>
        </p:txBody>
      </p:sp>
      <p:sp>
        <p:nvSpPr>
          <p:cNvPr id="128015" name="Text Box 9"/>
          <p:cNvSpPr txBox="1">
            <a:spLocks noChangeArrowheads="1"/>
          </p:cNvSpPr>
          <p:nvPr/>
        </p:nvSpPr>
        <p:spPr bwMode="auto">
          <a:xfrm>
            <a:off x="6346655" y="1773242"/>
            <a:ext cx="708025"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lang="zh-CN" altLang="en-US" sz="1400">
                <a:latin typeface="+mj-lt"/>
                <a:ea typeface="+mj-ea"/>
              </a:rPr>
              <a:t>主机 </a:t>
            </a:r>
            <a:r>
              <a:rPr lang="en-US" altLang="zh-CN" sz="1400">
                <a:latin typeface="+mj-lt"/>
                <a:ea typeface="+mj-ea"/>
              </a:rPr>
              <a:t>2</a:t>
            </a:r>
          </a:p>
        </p:txBody>
      </p:sp>
      <p:sp>
        <p:nvSpPr>
          <p:cNvPr id="128016" name="Text Box 10"/>
          <p:cNvSpPr txBox="1">
            <a:spLocks noChangeArrowheads="1"/>
          </p:cNvSpPr>
          <p:nvPr/>
        </p:nvSpPr>
        <p:spPr bwMode="auto">
          <a:xfrm>
            <a:off x="6087188" y="2208217"/>
            <a:ext cx="126188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lang="zh-CN" altLang="en-US" sz="1400">
                <a:solidFill>
                  <a:schemeClr val="bg1"/>
                </a:solidFill>
                <a:latin typeface="+mj-lt"/>
                <a:ea typeface="+mj-ea"/>
              </a:rPr>
              <a:t>文件传送模块</a:t>
            </a:r>
          </a:p>
        </p:txBody>
      </p:sp>
      <p:sp>
        <p:nvSpPr>
          <p:cNvPr id="4" name="矩形 3"/>
          <p:cNvSpPr/>
          <p:nvPr/>
        </p:nvSpPr>
        <p:spPr>
          <a:xfrm>
            <a:off x="2410327" y="1253372"/>
            <a:ext cx="4323347" cy="33855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en-US" altLang="zh-CN" sz="1600" dirty="0"/>
              <a:t>3. </a:t>
            </a:r>
            <a:r>
              <a:rPr lang="zh-CN" altLang="en-US" sz="1600" dirty="0"/>
              <a:t>再设计一个网络接入模块层</a:t>
            </a:r>
          </a:p>
        </p:txBody>
      </p:sp>
      <p:sp>
        <p:nvSpPr>
          <p:cNvPr id="18" name="Line 11"/>
          <p:cNvSpPr>
            <a:spLocks noChangeShapeType="1"/>
          </p:cNvSpPr>
          <p:nvPr/>
        </p:nvSpPr>
        <p:spPr bwMode="auto">
          <a:xfrm>
            <a:off x="3139072" y="3023352"/>
            <a:ext cx="2884318" cy="0"/>
          </a:xfrm>
          <a:prstGeom prst="line">
            <a:avLst/>
          </a:prstGeom>
          <a:noFill/>
          <a:ln w="57150">
            <a:solidFill>
              <a:srgbClr val="FF00FF"/>
            </a:solidFill>
            <a:prstDash val="sysDot"/>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19" name="Text Box 12"/>
          <p:cNvSpPr txBox="1">
            <a:spLocks noChangeArrowheads="1"/>
          </p:cNvSpPr>
          <p:nvPr/>
        </p:nvSpPr>
        <p:spPr bwMode="auto">
          <a:xfrm>
            <a:off x="3707546" y="2470983"/>
            <a:ext cx="1620957" cy="52322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lang="zh-CN" altLang="en-US" sz="1400" b="1" dirty="0">
                <a:latin typeface="微软雅黑" panose="020B0503020204020204" pitchFamily="34" charset="-122"/>
                <a:ea typeface="微软雅黑" panose="020B0503020204020204" pitchFamily="34" charset="-122"/>
              </a:rPr>
              <a:t>好像可直接把文件</a:t>
            </a:r>
          </a:p>
          <a:p>
            <a:pPr algn="ctr"/>
            <a:r>
              <a:rPr lang="zh-CN" altLang="en-US" sz="1400" b="1" dirty="0">
                <a:latin typeface="微软雅黑" panose="020B0503020204020204" pitchFamily="34" charset="-122"/>
                <a:ea typeface="微软雅黑" panose="020B0503020204020204" pitchFamily="34" charset="-122"/>
              </a:rPr>
              <a:t>可靠地传送到对方</a:t>
            </a:r>
          </a:p>
        </p:txBody>
      </p:sp>
      <p:sp>
        <p:nvSpPr>
          <p:cNvPr id="20" name="Line 17"/>
          <p:cNvSpPr>
            <a:spLocks noChangeShapeType="1"/>
          </p:cNvSpPr>
          <p:nvPr/>
        </p:nvSpPr>
        <p:spPr bwMode="auto">
          <a:xfrm>
            <a:off x="2638926" y="3735970"/>
            <a:ext cx="4243138" cy="0"/>
          </a:xfrm>
          <a:prstGeom prst="line">
            <a:avLst/>
          </a:prstGeom>
          <a:noFill/>
          <a:ln w="38100">
            <a:solidFill>
              <a:srgbClr val="000066"/>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27" name="Rectangle 16"/>
          <p:cNvSpPr>
            <a:spLocks noChangeArrowheads="1"/>
          </p:cNvSpPr>
          <p:nvPr/>
        </p:nvSpPr>
        <p:spPr bwMode="auto">
          <a:xfrm>
            <a:off x="6040194" y="2809497"/>
            <a:ext cx="1382203" cy="441525"/>
          </a:xfrm>
          <a:prstGeom prst="rect">
            <a:avLst/>
          </a:prstGeom>
          <a:solidFill>
            <a:srgbClr val="339933"/>
          </a:solidFill>
          <a:ln w="28575">
            <a:solidFill>
              <a:srgbClr val="339933"/>
            </a:solidFill>
            <a:miter lim="800000"/>
          </a:ln>
          <a:effectLst/>
          <a:scene3d>
            <a:camera prst="orthographicFront">
              <a:rot lat="0" lon="0" rev="0"/>
            </a:camera>
            <a:lightRig rig="glow" dir="t">
              <a:rot lat="0" lon="0" rev="14100000"/>
            </a:lightRig>
          </a:scene3d>
          <a:sp3d prstMaterial="softEdge">
            <a:bevelT w="127000" prst="artDeco"/>
          </a:sp3d>
        </p:spPr>
        <p:txBody>
          <a:bodyPr wrap="none" anchor="ctr"/>
          <a:lstStyle/>
          <a:p>
            <a:pPr fontAlgn="auto">
              <a:spcBef>
                <a:spcPts val="0"/>
              </a:spcBef>
              <a:spcAft>
                <a:spcPts val="0"/>
              </a:spcAft>
              <a:defRPr/>
            </a:pPr>
            <a:endParaRPr lang="zh-CN" altLang="en-US" sz="1200">
              <a:solidFill>
                <a:srgbClr val="1956B9"/>
              </a:solidFill>
              <a:latin typeface="+mj-lt"/>
              <a:ea typeface="+mj-ea"/>
            </a:endParaRPr>
          </a:p>
        </p:txBody>
      </p:sp>
      <p:sp>
        <p:nvSpPr>
          <p:cNvPr id="28" name="Rectangle 15"/>
          <p:cNvSpPr>
            <a:spLocks noChangeArrowheads="1"/>
          </p:cNvSpPr>
          <p:nvPr/>
        </p:nvSpPr>
        <p:spPr bwMode="auto">
          <a:xfrm>
            <a:off x="1757277" y="2809497"/>
            <a:ext cx="1382203" cy="441525"/>
          </a:xfrm>
          <a:prstGeom prst="rect">
            <a:avLst/>
          </a:prstGeom>
          <a:solidFill>
            <a:srgbClr val="339933"/>
          </a:solidFill>
          <a:ln w="28575">
            <a:solidFill>
              <a:srgbClr val="339933"/>
            </a:solidFill>
            <a:miter lim="800000"/>
          </a:ln>
          <a:effectLst/>
          <a:scene3d>
            <a:camera prst="orthographicFront">
              <a:rot lat="0" lon="0" rev="0"/>
            </a:camera>
            <a:lightRig rig="glow" dir="t">
              <a:rot lat="0" lon="0" rev="14100000"/>
            </a:lightRig>
          </a:scene3d>
          <a:sp3d prstMaterial="softEdge">
            <a:bevelT w="127000" prst="artDeco"/>
          </a:sp3d>
        </p:spPr>
        <p:txBody>
          <a:bodyPr wrap="none" anchor="ctr"/>
          <a:lstStyle/>
          <a:p>
            <a:pPr fontAlgn="auto">
              <a:spcBef>
                <a:spcPts val="0"/>
              </a:spcBef>
              <a:spcAft>
                <a:spcPts val="0"/>
              </a:spcAft>
              <a:defRPr/>
            </a:pPr>
            <a:endParaRPr lang="zh-CN" altLang="en-US" sz="1200">
              <a:solidFill>
                <a:srgbClr val="1956B9"/>
              </a:solidFill>
              <a:latin typeface="+mj-lt"/>
              <a:ea typeface="+mj-ea"/>
            </a:endParaRPr>
          </a:p>
        </p:txBody>
      </p:sp>
      <p:sp>
        <p:nvSpPr>
          <p:cNvPr id="29" name="Text Box 5"/>
          <p:cNvSpPr txBox="1">
            <a:spLocks noChangeArrowheads="1"/>
          </p:cNvSpPr>
          <p:nvPr/>
        </p:nvSpPr>
        <p:spPr bwMode="auto">
          <a:xfrm>
            <a:off x="1817568" y="2863014"/>
            <a:ext cx="126188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lang="zh-CN" altLang="en-US" sz="1400">
                <a:solidFill>
                  <a:schemeClr val="bg1"/>
                </a:solidFill>
                <a:latin typeface="+mj-lt"/>
                <a:ea typeface="+mj-ea"/>
              </a:rPr>
              <a:t>通信服务模块</a:t>
            </a:r>
          </a:p>
        </p:txBody>
      </p:sp>
      <p:sp>
        <p:nvSpPr>
          <p:cNvPr id="30" name="Text Box 10"/>
          <p:cNvSpPr txBox="1">
            <a:spLocks noChangeArrowheads="1"/>
          </p:cNvSpPr>
          <p:nvPr/>
        </p:nvSpPr>
        <p:spPr bwMode="auto">
          <a:xfrm>
            <a:off x="6100473" y="2863014"/>
            <a:ext cx="126188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lang="zh-CN" altLang="en-US" sz="1400">
                <a:solidFill>
                  <a:schemeClr val="bg1"/>
                </a:solidFill>
                <a:latin typeface="+mj-lt"/>
                <a:ea typeface="+mj-ea"/>
              </a:rPr>
              <a:t>通信服务模块</a:t>
            </a:r>
          </a:p>
        </p:txBody>
      </p:sp>
      <p:sp>
        <p:nvSpPr>
          <p:cNvPr id="5" name="上下箭头 4"/>
          <p:cNvSpPr/>
          <p:nvPr/>
        </p:nvSpPr>
        <p:spPr>
          <a:xfrm>
            <a:off x="2354551" y="2531139"/>
            <a:ext cx="186617" cy="345680"/>
          </a:xfrm>
          <a:prstGeom prst="upDownArrow">
            <a:avLst/>
          </a:prstGeom>
          <a:solidFill>
            <a:srgbClr val="00FFFF"/>
          </a:solidFill>
          <a:ln w="19050">
            <a:solidFill>
              <a:srgbClr val="0000FF"/>
            </a:solidFill>
            <a:miter lim="800000"/>
          </a:ln>
        </p:spPr>
        <p:txBody>
          <a:bodyPr vert="eaVert" wrap="none" anchor="ctr"/>
          <a:lstStyle/>
          <a:p>
            <a:endParaRPr lang="zh-CN" altLang="en-US" sz="1200" b="1">
              <a:solidFill>
                <a:srgbClr val="1956B9"/>
              </a:solidFill>
              <a:latin typeface="微软雅黑" panose="020B0503020204020204" pitchFamily="34" charset="-122"/>
              <a:ea typeface="微软雅黑" panose="020B0503020204020204" pitchFamily="34" charset="-122"/>
            </a:endParaRPr>
          </a:p>
        </p:txBody>
      </p:sp>
      <p:sp>
        <p:nvSpPr>
          <p:cNvPr id="22" name="上下箭头 21"/>
          <p:cNvSpPr/>
          <p:nvPr/>
        </p:nvSpPr>
        <p:spPr>
          <a:xfrm>
            <a:off x="6633447" y="2531139"/>
            <a:ext cx="186617" cy="345680"/>
          </a:xfrm>
          <a:prstGeom prst="upDownArrow">
            <a:avLst/>
          </a:prstGeom>
          <a:solidFill>
            <a:srgbClr val="00FFFF"/>
          </a:solidFill>
          <a:ln w="19050">
            <a:solidFill>
              <a:srgbClr val="0000FF"/>
            </a:solidFill>
            <a:miter lim="800000"/>
          </a:ln>
        </p:spPr>
        <p:txBody>
          <a:bodyPr vert="eaVert" wrap="none" anchor="ctr"/>
          <a:lstStyle/>
          <a:p>
            <a:endParaRPr lang="zh-CN" altLang="en-US" sz="1200" b="1">
              <a:solidFill>
                <a:srgbClr val="1956B9"/>
              </a:solidFill>
              <a:latin typeface="微软雅黑" panose="020B0503020204020204" pitchFamily="34" charset="-122"/>
              <a:ea typeface="微软雅黑" panose="020B0503020204020204" pitchFamily="34" charset="-122"/>
            </a:endParaRPr>
          </a:p>
        </p:txBody>
      </p:sp>
      <p:sp>
        <p:nvSpPr>
          <p:cNvPr id="26" name="Rectangle 16"/>
          <p:cNvSpPr>
            <a:spLocks noChangeArrowheads="1"/>
          </p:cNvSpPr>
          <p:nvPr/>
        </p:nvSpPr>
        <p:spPr bwMode="auto">
          <a:xfrm>
            <a:off x="6048215" y="3506827"/>
            <a:ext cx="1382203" cy="441525"/>
          </a:xfrm>
          <a:prstGeom prst="rect">
            <a:avLst/>
          </a:prstGeom>
          <a:solidFill>
            <a:srgbClr val="7030A0"/>
          </a:solidFill>
          <a:ln w="28575">
            <a:noFill/>
            <a:miter lim="800000"/>
          </a:ln>
          <a:effectLst/>
          <a:scene3d>
            <a:camera prst="orthographicFront">
              <a:rot lat="0" lon="0" rev="0"/>
            </a:camera>
            <a:lightRig rig="glow" dir="t">
              <a:rot lat="0" lon="0" rev="14100000"/>
            </a:lightRig>
          </a:scene3d>
          <a:sp3d prstMaterial="softEdge">
            <a:bevelT w="127000" prst="artDeco"/>
          </a:sp3d>
        </p:spPr>
        <p:txBody>
          <a:bodyPr wrap="none" anchor="ctr"/>
          <a:lstStyle/>
          <a:p>
            <a:pPr fontAlgn="auto">
              <a:spcBef>
                <a:spcPts val="0"/>
              </a:spcBef>
              <a:spcAft>
                <a:spcPts val="0"/>
              </a:spcAft>
              <a:defRPr/>
            </a:pPr>
            <a:endParaRPr lang="zh-CN" altLang="en-US" sz="1200">
              <a:solidFill>
                <a:srgbClr val="1956B9"/>
              </a:solidFill>
              <a:latin typeface="+mj-lt"/>
              <a:ea typeface="+mj-ea"/>
            </a:endParaRPr>
          </a:p>
        </p:txBody>
      </p:sp>
      <p:sp>
        <p:nvSpPr>
          <p:cNvPr id="33" name="Rectangle 15"/>
          <p:cNvSpPr>
            <a:spLocks noChangeArrowheads="1"/>
          </p:cNvSpPr>
          <p:nvPr/>
        </p:nvSpPr>
        <p:spPr bwMode="auto">
          <a:xfrm>
            <a:off x="1765298" y="3506827"/>
            <a:ext cx="1382203" cy="441525"/>
          </a:xfrm>
          <a:prstGeom prst="rect">
            <a:avLst/>
          </a:prstGeom>
          <a:solidFill>
            <a:srgbClr val="7030A0"/>
          </a:solidFill>
          <a:ln w="28575">
            <a:noFill/>
            <a:miter lim="800000"/>
          </a:ln>
          <a:effectLst/>
          <a:scene3d>
            <a:camera prst="orthographicFront">
              <a:rot lat="0" lon="0" rev="0"/>
            </a:camera>
            <a:lightRig rig="glow" dir="t">
              <a:rot lat="0" lon="0" rev="14100000"/>
            </a:lightRig>
          </a:scene3d>
          <a:sp3d prstMaterial="softEdge">
            <a:bevelT w="127000" prst="artDeco"/>
          </a:sp3d>
        </p:spPr>
        <p:txBody>
          <a:bodyPr wrap="none" anchor="ctr"/>
          <a:lstStyle/>
          <a:p>
            <a:pPr fontAlgn="auto">
              <a:spcBef>
                <a:spcPts val="0"/>
              </a:spcBef>
              <a:spcAft>
                <a:spcPts val="0"/>
              </a:spcAft>
              <a:defRPr/>
            </a:pPr>
            <a:endParaRPr lang="zh-CN" altLang="en-US" sz="1200">
              <a:solidFill>
                <a:srgbClr val="1956B9"/>
              </a:solidFill>
              <a:latin typeface="+mj-lt"/>
              <a:ea typeface="+mj-ea"/>
            </a:endParaRPr>
          </a:p>
        </p:txBody>
      </p:sp>
      <p:sp>
        <p:nvSpPr>
          <p:cNvPr id="34" name="Text Box 5"/>
          <p:cNvSpPr txBox="1">
            <a:spLocks noChangeArrowheads="1"/>
          </p:cNvSpPr>
          <p:nvPr/>
        </p:nvSpPr>
        <p:spPr bwMode="auto">
          <a:xfrm>
            <a:off x="1825589" y="3568196"/>
            <a:ext cx="126188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lang="zh-CN" altLang="en-US" sz="1400" dirty="0">
                <a:solidFill>
                  <a:schemeClr val="bg1"/>
                </a:solidFill>
                <a:latin typeface="+mj-lt"/>
                <a:ea typeface="+mj-ea"/>
              </a:rPr>
              <a:t>网络接入模块</a:t>
            </a:r>
          </a:p>
        </p:txBody>
      </p:sp>
      <p:sp>
        <p:nvSpPr>
          <p:cNvPr id="35" name="Text Box 10"/>
          <p:cNvSpPr txBox="1">
            <a:spLocks noChangeArrowheads="1"/>
          </p:cNvSpPr>
          <p:nvPr/>
        </p:nvSpPr>
        <p:spPr bwMode="auto">
          <a:xfrm>
            <a:off x="6108494" y="3568196"/>
            <a:ext cx="126188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lang="zh-CN" altLang="en-US" sz="1400">
                <a:solidFill>
                  <a:schemeClr val="bg1"/>
                </a:solidFill>
                <a:latin typeface="+mj-lt"/>
                <a:ea typeface="+mj-ea"/>
              </a:rPr>
              <a:t>网络接入模块</a:t>
            </a:r>
          </a:p>
        </p:txBody>
      </p:sp>
      <p:sp>
        <p:nvSpPr>
          <p:cNvPr id="36" name="Text Box 6"/>
          <p:cNvSpPr txBox="1">
            <a:spLocks noChangeArrowheads="1"/>
          </p:cNvSpPr>
          <p:nvPr/>
        </p:nvSpPr>
        <p:spPr bwMode="auto">
          <a:xfrm>
            <a:off x="3129714" y="3237494"/>
            <a:ext cx="492443"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lang="zh-CN" altLang="en-US" sz="1200" b="1" dirty="0">
                <a:solidFill>
                  <a:srgbClr val="0000FF"/>
                </a:solidFill>
                <a:latin typeface="微软雅黑" panose="020B0503020204020204" pitchFamily="34" charset="-122"/>
                <a:ea typeface="微软雅黑" panose="020B0503020204020204" pitchFamily="34" charset="-122"/>
              </a:rPr>
              <a:t>网络</a:t>
            </a:r>
            <a:endParaRPr lang="en-US" altLang="zh-CN" sz="1200" b="1" dirty="0">
              <a:solidFill>
                <a:srgbClr val="0000FF"/>
              </a:solidFill>
              <a:latin typeface="微软雅黑" panose="020B0503020204020204" pitchFamily="34" charset="-122"/>
              <a:ea typeface="微软雅黑" panose="020B0503020204020204" pitchFamily="34" charset="-122"/>
            </a:endParaRPr>
          </a:p>
          <a:p>
            <a:r>
              <a:rPr lang="zh-CN" altLang="en-US" sz="1200" b="1" dirty="0">
                <a:solidFill>
                  <a:srgbClr val="0000FF"/>
                </a:solidFill>
                <a:latin typeface="微软雅黑" panose="020B0503020204020204" pitchFamily="34" charset="-122"/>
                <a:ea typeface="微软雅黑" panose="020B0503020204020204" pitchFamily="34" charset="-122"/>
              </a:rPr>
              <a:t>接口</a:t>
            </a:r>
            <a:endParaRPr lang="en-US" altLang="zh-CN" sz="1200" b="1" dirty="0">
              <a:solidFill>
                <a:srgbClr val="0000FF"/>
              </a:solidFill>
              <a:latin typeface="微软雅黑" panose="020B0503020204020204" pitchFamily="34" charset="-122"/>
              <a:ea typeface="微软雅黑" panose="020B0503020204020204" pitchFamily="34" charset="-122"/>
            </a:endParaRPr>
          </a:p>
        </p:txBody>
      </p:sp>
      <p:sp>
        <p:nvSpPr>
          <p:cNvPr id="41" name="Text Box 6"/>
          <p:cNvSpPr txBox="1">
            <a:spLocks noChangeArrowheads="1"/>
          </p:cNvSpPr>
          <p:nvPr/>
        </p:nvSpPr>
        <p:spPr bwMode="auto">
          <a:xfrm>
            <a:off x="5577469" y="3237494"/>
            <a:ext cx="492443"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lang="zh-CN" altLang="en-US" sz="1200" b="1">
                <a:solidFill>
                  <a:srgbClr val="0000FF"/>
                </a:solidFill>
                <a:latin typeface="微软雅黑" panose="020B0503020204020204" pitchFamily="34" charset="-122"/>
                <a:ea typeface="微软雅黑" panose="020B0503020204020204" pitchFamily="34" charset="-122"/>
              </a:rPr>
              <a:t>网络</a:t>
            </a:r>
            <a:endParaRPr lang="en-US" altLang="zh-CN" sz="1200" b="1">
              <a:solidFill>
                <a:srgbClr val="0000FF"/>
              </a:solidFill>
              <a:latin typeface="微软雅黑" panose="020B0503020204020204" pitchFamily="34" charset="-122"/>
              <a:ea typeface="微软雅黑" panose="020B0503020204020204" pitchFamily="34" charset="-122"/>
            </a:endParaRPr>
          </a:p>
          <a:p>
            <a:r>
              <a:rPr lang="zh-CN" altLang="en-US" sz="1200" b="1">
                <a:solidFill>
                  <a:srgbClr val="0000FF"/>
                </a:solidFill>
                <a:latin typeface="微软雅黑" panose="020B0503020204020204" pitchFamily="34" charset="-122"/>
                <a:ea typeface="微软雅黑" panose="020B0503020204020204" pitchFamily="34" charset="-122"/>
              </a:rPr>
              <a:t>接口</a:t>
            </a:r>
            <a:endParaRPr lang="en-US" altLang="zh-CN" sz="1200" b="1">
              <a:solidFill>
                <a:srgbClr val="0000FF"/>
              </a:solidFill>
              <a:latin typeface="微软雅黑" panose="020B0503020204020204" pitchFamily="34" charset="-122"/>
              <a:ea typeface="微软雅黑" panose="020B0503020204020204" pitchFamily="34" charset="-122"/>
            </a:endParaRPr>
          </a:p>
        </p:txBody>
      </p:sp>
      <p:sp>
        <p:nvSpPr>
          <p:cNvPr id="31" name="上下箭头 30"/>
          <p:cNvSpPr/>
          <p:nvPr/>
        </p:nvSpPr>
        <p:spPr>
          <a:xfrm>
            <a:off x="2354551" y="3200503"/>
            <a:ext cx="186617" cy="345680"/>
          </a:xfrm>
          <a:prstGeom prst="upDownArrow">
            <a:avLst/>
          </a:prstGeom>
          <a:solidFill>
            <a:srgbClr val="00FFFF"/>
          </a:solidFill>
          <a:ln w="19050">
            <a:solidFill>
              <a:srgbClr val="0000FF"/>
            </a:solidFill>
            <a:miter lim="800000"/>
          </a:ln>
        </p:spPr>
        <p:txBody>
          <a:bodyPr vert="eaVert" wrap="none" anchor="ctr"/>
          <a:lstStyle/>
          <a:p>
            <a:endParaRPr lang="zh-CN" altLang="en-US" sz="1200" b="1">
              <a:solidFill>
                <a:srgbClr val="1956B9"/>
              </a:solidFill>
              <a:latin typeface="微软雅黑" panose="020B0503020204020204" pitchFamily="34" charset="-122"/>
              <a:ea typeface="微软雅黑" panose="020B0503020204020204" pitchFamily="34" charset="-122"/>
            </a:endParaRPr>
          </a:p>
        </p:txBody>
      </p:sp>
      <p:sp>
        <p:nvSpPr>
          <p:cNvPr id="32" name="上下箭头 31"/>
          <p:cNvSpPr/>
          <p:nvPr/>
        </p:nvSpPr>
        <p:spPr>
          <a:xfrm>
            <a:off x="6633447" y="3200503"/>
            <a:ext cx="186617" cy="345680"/>
          </a:xfrm>
          <a:prstGeom prst="upDownArrow">
            <a:avLst/>
          </a:prstGeom>
          <a:solidFill>
            <a:srgbClr val="00FFFF"/>
          </a:solidFill>
          <a:ln w="19050">
            <a:solidFill>
              <a:srgbClr val="0000FF"/>
            </a:solidFill>
            <a:miter lim="800000"/>
          </a:ln>
        </p:spPr>
        <p:txBody>
          <a:bodyPr vert="eaVert" wrap="none" anchor="ctr"/>
          <a:lstStyle/>
          <a:p>
            <a:endParaRPr lang="zh-CN" altLang="en-US" sz="1200" b="1">
              <a:solidFill>
                <a:srgbClr val="1956B9"/>
              </a:solidFill>
              <a:latin typeface="微软雅黑" panose="020B0503020204020204" pitchFamily="34" charset="-122"/>
              <a:ea typeface="微软雅黑" panose="020B0503020204020204" pitchFamily="34" charset="-122"/>
            </a:endParaRPr>
          </a:p>
        </p:txBody>
      </p:sp>
      <p:sp>
        <p:nvSpPr>
          <p:cNvPr id="42" name="Line 11"/>
          <p:cNvSpPr>
            <a:spLocks noChangeShapeType="1"/>
          </p:cNvSpPr>
          <p:nvPr/>
        </p:nvSpPr>
        <p:spPr bwMode="auto">
          <a:xfrm>
            <a:off x="3125787" y="2408242"/>
            <a:ext cx="2884317" cy="0"/>
          </a:xfrm>
          <a:prstGeom prst="line">
            <a:avLst/>
          </a:prstGeom>
          <a:noFill/>
          <a:ln w="57150">
            <a:solidFill>
              <a:srgbClr val="FF00FF"/>
            </a:solidFill>
            <a:prstDash val="sysDot"/>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43" name="Text Box 12"/>
          <p:cNvSpPr txBox="1">
            <a:spLocks noChangeArrowheads="1"/>
          </p:cNvSpPr>
          <p:nvPr/>
        </p:nvSpPr>
        <p:spPr bwMode="auto">
          <a:xfrm>
            <a:off x="3133144" y="1859991"/>
            <a:ext cx="2877711" cy="52322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lang="zh-CN" altLang="en-US" sz="1400" b="1" dirty="0">
                <a:latin typeface="微软雅黑" panose="020B0503020204020204" pitchFamily="34" charset="-122"/>
                <a:ea typeface="微软雅黑" panose="020B0503020204020204" pitchFamily="34" charset="-122"/>
              </a:rPr>
              <a:t>文件及传送命令好像</a:t>
            </a:r>
          </a:p>
          <a:p>
            <a:pPr algn="ctr"/>
            <a:r>
              <a:rPr lang="zh-CN" altLang="en-US" sz="1400" b="1" dirty="0">
                <a:latin typeface="微软雅黑" panose="020B0503020204020204" pitchFamily="34" charset="-122"/>
                <a:ea typeface="微软雅黑" panose="020B0503020204020204" pitchFamily="34" charset="-122"/>
              </a:rPr>
              <a:t>是按照水平方向的虚线直接传送的</a:t>
            </a:r>
          </a:p>
        </p:txBody>
      </p:sp>
      <p:grpSp>
        <p:nvGrpSpPr>
          <p:cNvPr id="44" name="Group 6"/>
          <p:cNvGrpSpPr/>
          <p:nvPr/>
        </p:nvGrpSpPr>
        <p:grpSpPr bwMode="auto">
          <a:xfrm>
            <a:off x="3819512" y="3373343"/>
            <a:ext cx="1501300" cy="646662"/>
            <a:chOff x="1680" y="240"/>
            <a:chExt cx="2529" cy="1270"/>
          </a:xfrm>
          <a:solidFill>
            <a:srgbClr val="F2F2F2"/>
          </a:solidFill>
        </p:grpSpPr>
        <p:sp>
          <p:nvSpPr>
            <p:cNvPr id="45" name="Oval 7"/>
            <p:cNvSpPr>
              <a:spLocks noChangeArrowheads="1"/>
            </p:cNvSpPr>
            <p:nvPr/>
          </p:nvSpPr>
          <p:spPr bwMode="auto">
            <a:xfrm>
              <a:off x="2554" y="240"/>
              <a:ext cx="1088" cy="513"/>
            </a:xfrm>
            <a:prstGeom prst="ellipse">
              <a:avLst/>
            </a:prstGeom>
            <a:grpFill/>
            <a:ln w="9525">
              <a:noFill/>
              <a:round/>
            </a:ln>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sp>
          <p:nvSpPr>
            <p:cNvPr id="46" name="Oval 8"/>
            <p:cNvSpPr>
              <a:spLocks noChangeArrowheads="1"/>
            </p:cNvSpPr>
            <p:nvPr/>
          </p:nvSpPr>
          <p:spPr bwMode="auto">
            <a:xfrm>
              <a:off x="1941" y="381"/>
              <a:ext cx="827" cy="513"/>
            </a:xfrm>
            <a:prstGeom prst="ellipse">
              <a:avLst/>
            </a:prstGeom>
            <a:grpFill/>
            <a:ln w="9525">
              <a:noFill/>
              <a:round/>
            </a:ln>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sp>
          <p:nvSpPr>
            <p:cNvPr id="47" name="Oval 9"/>
            <p:cNvSpPr>
              <a:spLocks noChangeArrowheads="1"/>
            </p:cNvSpPr>
            <p:nvPr/>
          </p:nvSpPr>
          <p:spPr bwMode="auto">
            <a:xfrm>
              <a:off x="1680" y="702"/>
              <a:ext cx="552" cy="411"/>
            </a:xfrm>
            <a:prstGeom prst="ellipse">
              <a:avLst/>
            </a:prstGeom>
            <a:grpFill/>
            <a:ln w="9525">
              <a:noFill/>
              <a:round/>
            </a:ln>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sp>
          <p:nvSpPr>
            <p:cNvPr id="48" name="Oval 10"/>
            <p:cNvSpPr>
              <a:spLocks noChangeArrowheads="1"/>
            </p:cNvSpPr>
            <p:nvPr/>
          </p:nvSpPr>
          <p:spPr bwMode="auto">
            <a:xfrm>
              <a:off x="1849" y="894"/>
              <a:ext cx="842" cy="450"/>
            </a:xfrm>
            <a:prstGeom prst="ellipse">
              <a:avLst/>
            </a:prstGeom>
            <a:grpFill/>
            <a:ln w="9525">
              <a:noFill/>
              <a:round/>
            </a:ln>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sp>
          <p:nvSpPr>
            <p:cNvPr id="49" name="Oval 11"/>
            <p:cNvSpPr>
              <a:spLocks noChangeArrowheads="1"/>
            </p:cNvSpPr>
            <p:nvPr/>
          </p:nvSpPr>
          <p:spPr bwMode="auto">
            <a:xfrm>
              <a:off x="2462" y="971"/>
              <a:ext cx="1272" cy="539"/>
            </a:xfrm>
            <a:prstGeom prst="ellipse">
              <a:avLst/>
            </a:prstGeom>
            <a:grpFill/>
            <a:ln w="9525">
              <a:noFill/>
              <a:round/>
            </a:ln>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sp>
          <p:nvSpPr>
            <p:cNvPr id="50" name="Oval 12"/>
            <p:cNvSpPr>
              <a:spLocks noChangeArrowheads="1"/>
            </p:cNvSpPr>
            <p:nvPr/>
          </p:nvSpPr>
          <p:spPr bwMode="auto">
            <a:xfrm>
              <a:off x="3289" y="394"/>
              <a:ext cx="797" cy="398"/>
            </a:xfrm>
            <a:prstGeom prst="ellipse">
              <a:avLst/>
            </a:prstGeom>
            <a:grpFill/>
            <a:ln w="9525">
              <a:noFill/>
              <a:round/>
            </a:ln>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sp>
          <p:nvSpPr>
            <p:cNvPr id="51" name="Oval 13"/>
            <p:cNvSpPr>
              <a:spLocks noChangeArrowheads="1"/>
            </p:cNvSpPr>
            <p:nvPr/>
          </p:nvSpPr>
          <p:spPr bwMode="auto">
            <a:xfrm>
              <a:off x="3412" y="663"/>
              <a:ext cx="797" cy="398"/>
            </a:xfrm>
            <a:prstGeom prst="ellipse">
              <a:avLst/>
            </a:prstGeom>
            <a:grpFill/>
            <a:ln w="9525">
              <a:noFill/>
              <a:round/>
            </a:ln>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sp>
          <p:nvSpPr>
            <p:cNvPr id="52" name="Oval 14"/>
            <p:cNvSpPr>
              <a:spLocks noChangeArrowheads="1"/>
            </p:cNvSpPr>
            <p:nvPr/>
          </p:nvSpPr>
          <p:spPr bwMode="auto">
            <a:xfrm>
              <a:off x="3335" y="753"/>
              <a:ext cx="797" cy="668"/>
            </a:xfrm>
            <a:prstGeom prst="ellipse">
              <a:avLst/>
            </a:prstGeom>
            <a:grpFill/>
            <a:ln w="9525">
              <a:noFill/>
              <a:round/>
            </a:ln>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sp>
          <p:nvSpPr>
            <p:cNvPr id="53" name="Oval 15"/>
            <p:cNvSpPr>
              <a:spLocks noChangeArrowheads="1"/>
            </p:cNvSpPr>
            <p:nvPr/>
          </p:nvSpPr>
          <p:spPr bwMode="auto">
            <a:xfrm>
              <a:off x="2102" y="432"/>
              <a:ext cx="1821" cy="821"/>
            </a:xfrm>
            <a:prstGeom prst="ellipse">
              <a:avLst/>
            </a:prstGeom>
            <a:grpFill/>
            <a:ln w="9525">
              <a:noFill/>
              <a:round/>
            </a:ln>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grpSp>
      <p:sp>
        <p:nvSpPr>
          <p:cNvPr id="38" name="Text Box 31"/>
          <p:cNvSpPr txBox="1">
            <a:spLocks noChangeArrowheads="1"/>
          </p:cNvSpPr>
          <p:nvPr/>
        </p:nvSpPr>
        <p:spPr bwMode="auto">
          <a:xfrm>
            <a:off x="4166350" y="3547570"/>
            <a:ext cx="901700"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defRPr sz="1400">
                <a:latin typeface="+mj-lt"/>
                <a:ea typeface="+mj-ea"/>
              </a:defRPr>
            </a:lvl1pPr>
            <a:lvl2pPr marL="742950" indent="-285750">
              <a:defRPr>
                <a:latin typeface="Calibri" panose="020F0502020204030204" pitchFamily="34" charset="0"/>
                <a:ea typeface="宋体" panose="02010600030101010101" pitchFamily="2" charset="-122"/>
              </a:defRPr>
            </a:lvl2pPr>
            <a:lvl3pPr marL="1143000" indent="-228600">
              <a:defRPr>
                <a:latin typeface="Calibri" panose="020F0502020204030204" pitchFamily="34" charset="0"/>
                <a:ea typeface="宋体" panose="02010600030101010101" pitchFamily="2" charset="-122"/>
              </a:defRPr>
            </a:lvl3pPr>
            <a:lvl4pPr marL="1600200" indent="-228600">
              <a:defRPr>
                <a:latin typeface="Calibri" panose="020F0502020204030204" pitchFamily="34" charset="0"/>
                <a:ea typeface="宋体" panose="02010600030101010101" pitchFamily="2" charset="-122"/>
              </a:defRPr>
            </a:lvl4pPr>
            <a:lvl5pPr marL="2057400" indent="-228600">
              <a:defRPr>
                <a:latin typeface="Calibri" panose="020F0502020204030204" pitchFamily="34" charset="0"/>
                <a:ea typeface="宋体" panose="02010600030101010101" pitchFamily="2" charset="-122"/>
              </a:defRPr>
            </a:lvl5pPr>
            <a:lvl6pPr marL="2514600" indent="-228600" fontAlgn="base">
              <a:spcBef>
                <a:spcPct val="0"/>
              </a:spcBef>
              <a:spcAft>
                <a:spcPct val="0"/>
              </a:spcAft>
              <a:defRPr>
                <a:latin typeface="Calibri" panose="020F0502020204030204" pitchFamily="34" charset="0"/>
                <a:ea typeface="宋体" panose="02010600030101010101" pitchFamily="2" charset="-122"/>
              </a:defRPr>
            </a:lvl6pPr>
            <a:lvl7pPr marL="2971800" indent="-228600" fontAlgn="base">
              <a:spcBef>
                <a:spcPct val="0"/>
              </a:spcBef>
              <a:spcAft>
                <a:spcPct val="0"/>
              </a:spcAft>
              <a:defRPr>
                <a:latin typeface="Calibri" panose="020F0502020204030204" pitchFamily="34" charset="0"/>
                <a:ea typeface="宋体" panose="02010600030101010101" pitchFamily="2" charset="-122"/>
              </a:defRPr>
            </a:lvl7pPr>
            <a:lvl8pPr marL="3429000" indent="-228600" fontAlgn="base">
              <a:spcBef>
                <a:spcPct val="0"/>
              </a:spcBef>
              <a:spcAft>
                <a:spcPct val="0"/>
              </a:spcAft>
              <a:defRPr>
                <a:latin typeface="Calibri" panose="020F0502020204030204" pitchFamily="34" charset="0"/>
                <a:ea typeface="宋体" panose="02010600030101010101" pitchFamily="2" charset="-122"/>
              </a:defRPr>
            </a:lvl8pPr>
            <a:lvl9pPr marL="3886200" indent="-228600" fontAlgn="base">
              <a:spcBef>
                <a:spcPct val="0"/>
              </a:spcBef>
              <a:spcAft>
                <a:spcPct val="0"/>
              </a:spcAft>
              <a:defRPr>
                <a:latin typeface="Calibri" panose="020F0502020204030204" pitchFamily="34" charset="0"/>
                <a:ea typeface="宋体" panose="02010600030101010101" pitchFamily="2" charset="-122"/>
              </a:defRPr>
            </a:lvl9pPr>
          </a:lstStyle>
          <a:p>
            <a:r>
              <a:rPr lang="zh-CN" altLang="en-US" dirty="0"/>
              <a:t>通信网络</a:t>
            </a:r>
          </a:p>
        </p:txBody>
      </p:sp>
      <p:sp>
        <p:nvSpPr>
          <p:cNvPr id="54" name="矩形 53"/>
          <p:cNvSpPr/>
          <p:nvPr/>
        </p:nvSpPr>
        <p:spPr>
          <a:xfrm>
            <a:off x="1256271" y="4384118"/>
            <a:ext cx="6631459" cy="307777"/>
          </a:xfrm>
          <a:prstGeom prst="rect">
            <a:avLst/>
          </a:prstGeom>
        </p:spPr>
        <p:txBody>
          <a:bodyPr wrap="square">
            <a:spAutoFit/>
          </a:bodyPr>
          <a:lstStyle/>
          <a:p>
            <a:pPr lvl="0" algn="ctr"/>
            <a:r>
              <a:rPr lang="zh-CN" altLang="en-US" sz="1400" b="1" dirty="0">
                <a:solidFill>
                  <a:srgbClr val="0000FF"/>
                </a:solidFill>
                <a:latin typeface="微软雅黑" panose="020B0503020204020204" pitchFamily="34" charset="-122"/>
                <a:ea typeface="微软雅黑" panose="020B0503020204020204" pitchFamily="34" charset="-122"/>
              </a:rPr>
              <a:t>网络接入模块</a:t>
            </a:r>
            <a:r>
              <a:rPr lang="zh-CN" altLang="en-US" sz="1400" b="1" dirty="0">
                <a:solidFill>
                  <a:prstClr val="black"/>
                </a:solidFill>
                <a:latin typeface="微软雅黑" panose="020B0503020204020204" pitchFamily="34" charset="-122"/>
                <a:ea typeface="微软雅黑" panose="020B0503020204020204" pitchFamily="34" charset="-122"/>
              </a:rPr>
              <a:t>负责做与网络接口细节有关的工作，并向上层提供接入和通信服务</a:t>
            </a:r>
          </a:p>
        </p:txBody>
      </p:sp>
      <p:sp>
        <p:nvSpPr>
          <p:cNvPr id="3" name="标题 2">
            <a:extLst>
              <a:ext uri="{FF2B5EF4-FFF2-40B4-BE49-F238E27FC236}">
                <a16:creationId xmlns:a16="http://schemas.microsoft.com/office/drawing/2014/main" id="{251FED40-C153-6E5A-A079-3AB625542731}"/>
              </a:ext>
            </a:extLst>
          </p:cNvPr>
          <p:cNvSpPr>
            <a:spLocks noGrp="1"/>
          </p:cNvSpPr>
          <p:nvPr>
            <p:ph type="title"/>
          </p:nvPr>
        </p:nvSpPr>
        <p:spPr>
          <a:xfrm>
            <a:off x="612000" y="144000"/>
            <a:ext cx="7920000" cy="341632"/>
          </a:xfrm>
        </p:spPr>
        <p:txBody>
          <a:bodyPr/>
          <a:lstStyle/>
          <a:p>
            <a:r>
              <a:rPr lang="en-US" altLang="zh-CN"/>
              <a:t>[</a:t>
            </a:r>
            <a:r>
              <a:rPr lang="zh-CN" altLang="en-US"/>
              <a:t>例</a:t>
            </a:r>
            <a:r>
              <a:rPr lang="en-US" altLang="zh-CN"/>
              <a:t>] </a:t>
            </a:r>
            <a:r>
              <a:rPr lang="zh-CN" altLang="en-US"/>
              <a:t>两台主机通过网络传送文件</a:t>
            </a:r>
            <a:endParaRPr lang="zh-CN" altLang="en-US" dirty="0"/>
          </a:p>
        </p:txBody>
      </p:sp>
    </p:spTree>
    <p:extLst>
      <p:ext uri="{BB962C8B-B14F-4D97-AF65-F5344CB8AC3E}">
        <p14:creationId xmlns:p14="http://schemas.microsoft.com/office/powerpoint/2010/main" val="1025611405"/>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5FBEEE69-6994-202F-74BA-4A443F587CA6}"/>
              </a:ext>
            </a:extLst>
          </p:cNvPr>
          <p:cNvSpPr>
            <a:spLocks noGrp="1"/>
          </p:cNvSpPr>
          <p:nvPr>
            <p:ph type="title"/>
          </p:nvPr>
        </p:nvSpPr>
        <p:spPr>
          <a:xfrm>
            <a:off x="612000" y="144000"/>
            <a:ext cx="7920000" cy="341632"/>
          </a:xfrm>
        </p:spPr>
        <p:txBody>
          <a:bodyPr/>
          <a:lstStyle/>
          <a:p>
            <a:r>
              <a:rPr lang="zh-CN" altLang="en-US" dirty="0"/>
              <a:t>分层的优点与缺点 </a:t>
            </a:r>
            <a:r>
              <a:rPr lang="en-US" altLang="zh-CN" dirty="0"/>
              <a:t>Features</a:t>
            </a:r>
            <a:endParaRPr lang="zh-CN" altLang="en-US" dirty="0"/>
          </a:p>
        </p:txBody>
      </p:sp>
      <p:sp>
        <p:nvSpPr>
          <p:cNvPr id="2" name="内容占位符 1">
            <a:extLst>
              <a:ext uri="{FF2B5EF4-FFF2-40B4-BE49-F238E27FC236}">
                <a16:creationId xmlns:a16="http://schemas.microsoft.com/office/drawing/2014/main" id="{12CB8B0A-F536-8AFF-3051-2CB270A2D968}"/>
              </a:ext>
            </a:extLst>
          </p:cNvPr>
          <p:cNvSpPr>
            <a:spLocks noGrp="1"/>
          </p:cNvSpPr>
          <p:nvPr>
            <p:ph sz="quarter" idx="10"/>
          </p:nvPr>
        </p:nvSpPr>
        <p:spPr>
          <a:xfrm>
            <a:off x="612000" y="899999"/>
            <a:ext cx="7920000" cy="3780000"/>
          </a:xfrm>
        </p:spPr>
        <p:txBody>
          <a:bodyPr>
            <a:normAutofit/>
          </a:bodyPr>
          <a:lstStyle/>
          <a:p>
            <a:pPr lvl="0"/>
            <a:r>
              <a:rPr lang="zh-CN" altLang="en-US" dirty="0"/>
              <a:t>优点</a:t>
            </a:r>
            <a:endParaRPr lang="en-US" altLang="zh-CN" dirty="0"/>
          </a:p>
          <a:p>
            <a:pPr lvl="1"/>
            <a:r>
              <a:rPr lang="zh-CN" altLang="en-US" dirty="0"/>
              <a:t>各层之间是独立的</a:t>
            </a:r>
          </a:p>
          <a:p>
            <a:pPr lvl="1"/>
            <a:r>
              <a:rPr lang="zh-CN" altLang="en-US" dirty="0"/>
              <a:t>灵活性好</a:t>
            </a:r>
          </a:p>
          <a:p>
            <a:pPr lvl="1"/>
            <a:r>
              <a:rPr lang="zh-CN" altLang="en-US" dirty="0"/>
              <a:t>结构上可分割开</a:t>
            </a:r>
          </a:p>
          <a:p>
            <a:pPr lvl="1"/>
            <a:r>
              <a:rPr lang="zh-CN" altLang="en-US" dirty="0"/>
              <a:t>易于实现和维护</a:t>
            </a:r>
          </a:p>
          <a:p>
            <a:pPr lvl="1"/>
            <a:r>
              <a:rPr lang="zh-CN" altLang="en-US" dirty="0"/>
              <a:t>能促进标准化工作</a:t>
            </a:r>
            <a:endParaRPr lang="en-US" altLang="zh-CN" dirty="0"/>
          </a:p>
          <a:p>
            <a:pPr lvl="0"/>
            <a:r>
              <a:rPr lang="zh-CN" altLang="en-US" dirty="0"/>
              <a:t>缺点</a:t>
            </a:r>
            <a:endParaRPr lang="en-US" altLang="zh-CN" dirty="0"/>
          </a:p>
          <a:p>
            <a:pPr lvl="1"/>
            <a:r>
              <a:rPr lang="zh-CN" altLang="en-US" dirty="0"/>
              <a:t>有些功能会重复出现，因而产生了额外开销</a:t>
            </a:r>
          </a:p>
          <a:p>
            <a:r>
              <a:rPr lang="zh-CN" altLang="en-US" dirty="0"/>
              <a:t>注意</a:t>
            </a:r>
            <a:endParaRPr lang="en-US" altLang="zh-CN" dirty="0"/>
          </a:p>
          <a:p>
            <a:pPr lvl="1"/>
            <a:r>
              <a:rPr lang="zh-CN" altLang="en-US" dirty="0"/>
              <a:t>每一层的功能应非常明确</a:t>
            </a:r>
            <a:endParaRPr lang="en-US" altLang="zh-CN" dirty="0"/>
          </a:p>
          <a:p>
            <a:pPr lvl="1"/>
            <a:r>
              <a:rPr lang="zh-CN" altLang="en-US" dirty="0"/>
              <a:t>层数太少，就会使每一层的协议太复杂</a:t>
            </a:r>
            <a:endParaRPr lang="en-US" altLang="zh-CN" dirty="0"/>
          </a:p>
          <a:p>
            <a:pPr lvl="1"/>
            <a:r>
              <a:rPr lang="zh-CN" altLang="en-US" dirty="0"/>
              <a:t>层数太多，又会在描述和综合各层功能的系统工程任务时遇到较多的困难</a:t>
            </a:r>
          </a:p>
        </p:txBody>
      </p:sp>
    </p:spTree>
    <p:extLst>
      <p:ext uri="{BB962C8B-B14F-4D97-AF65-F5344CB8AC3E}">
        <p14:creationId xmlns:p14="http://schemas.microsoft.com/office/powerpoint/2010/main" val="1572290066"/>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DB3ED287-17CE-9780-672E-71B44F34158E}"/>
              </a:ext>
            </a:extLst>
          </p:cNvPr>
          <p:cNvSpPr>
            <a:spLocks noGrp="1"/>
          </p:cNvSpPr>
          <p:nvPr>
            <p:ph type="title"/>
          </p:nvPr>
        </p:nvSpPr>
        <p:spPr>
          <a:xfrm>
            <a:off x="612000" y="144000"/>
            <a:ext cx="7920000" cy="341632"/>
          </a:xfrm>
        </p:spPr>
        <p:txBody>
          <a:bodyPr/>
          <a:lstStyle/>
          <a:p>
            <a:r>
              <a:rPr lang="zh-CN" altLang="zh-CN" dirty="0"/>
              <a:t>各层主要功能</a:t>
            </a:r>
            <a:r>
              <a:rPr lang="en-US" altLang="zh-CN" dirty="0"/>
              <a:t> Functions</a:t>
            </a:r>
            <a:endParaRPr lang="zh-CN" altLang="en-US" dirty="0"/>
          </a:p>
        </p:txBody>
      </p:sp>
      <p:sp>
        <p:nvSpPr>
          <p:cNvPr id="3" name="内容占位符 2"/>
          <p:cNvSpPr>
            <a:spLocks noGrp="1"/>
          </p:cNvSpPr>
          <p:nvPr>
            <p:ph sz="quarter" idx="10"/>
          </p:nvPr>
        </p:nvSpPr>
        <p:spPr>
          <a:xfrm>
            <a:off x="612000" y="899999"/>
            <a:ext cx="7920000" cy="3780000"/>
          </a:xfrm>
        </p:spPr>
        <p:txBody>
          <a:bodyPr/>
          <a:lstStyle/>
          <a:p>
            <a:r>
              <a:rPr lang="zh-CN" altLang="en-US" dirty="0"/>
              <a:t>差错控制：使相应层次对等方的通信更加可靠</a:t>
            </a:r>
          </a:p>
          <a:p>
            <a:r>
              <a:rPr lang="zh-CN" altLang="en-US" dirty="0"/>
              <a:t>流量控制：发送端的发送速率必须使接收端来得及接收，不要太快</a:t>
            </a:r>
          </a:p>
          <a:p>
            <a:r>
              <a:rPr lang="zh-CN" altLang="en-US" dirty="0"/>
              <a:t>分段和重装：发送端将要发送的数据块划分为更小的单位，在接收端将其还原</a:t>
            </a:r>
          </a:p>
          <a:p>
            <a:r>
              <a:rPr lang="zh-CN" altLang="en-US" dirty="0"/>
              <a:t>复用和分用：发送端几个高层会话复用一条低层的连接，在接收端再进行分用</a:t>
            </a:r>
          </a:p>
          <a:p>
            <a:r>
              <a:rPr lang="zh-CN" altLang="en-US" dirty="0"/>
              <a:t>连接建立和释放：交换数据前先建立一条逻辑连接，数据传送结束后释放连接</a:t>
            </a:r>
          </a:p>
        </p:txBody>
      </p:sp>
    </p:spTree>
    <p:extLst>
      <p:ext uri="{BB962C8B-B14F-4D97-AF65-F5344CB8AC3E}">
        <p14:creationId xmlns:p14="http://schemas.microsoft.com/office/powerpoint/2010/main" val="83850356"/>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标题 7">
            <a:extLst>
              <a:ext uri="{FF2B5EF4-FFF2-40B4-BE49-F238E27FC236}">
                <a16:creationId xmlns:a16="http://schemas.microsoft.com/office/drawing/2014/main" id="{1CE1DC42-80E2-653B-6861-A5B5F859FB41}"/>
              </a:ext>
            </a:extLst>
          </p:cNvPr>
          <p:cNvSpPr>
            <a:spLocks noGrp="1"/>
          </p:cNvSpPr>
          <p:nvPr>
            <p:ph type="title"/>
          </p:nvPr>
        </p:nvSpPr>
        <p:spPr>
          <a:xfrm>
            <a:off x="612000" y="144000"/>
            <a:ext cx="7920000" cy="341632"/>
          </a:xfrm>
        </p:spPr>
        <p:txBody>
          <a:bodyPr/>
          <a:lstStyle/>
          <a:p>
            <a:r>
              <a:rPr lang="zh-CN" altLang="en-US" dirty="0"/>
              <a:t>体系结构 </a:t>
            </a:r>
            <a:r>
              <a:rPr lang="en-US" altLang="zh-CN" dirty="0"/>
              <a:t>Architecture</a:t>
            </a:r>
            <a:endParaRPr lang="zh-CN" altLang="en-US" dirty="0"/>
          </a:p>
        </p:txBody>
      </p:sp>
      <p:sp>
        <p:nvSpPr>
          <p:cNvPr id="2" name="内容占位符 1"/>
          <p:cNvSpPr>
            <a:spLocks noGrp="1"/>
          </p:cNvSpPr>
          <p:nvPr>
            <p:ph sz="quarter" idx="10"/>
          </p:nvPr>
        </p:nvSpPr>
        <p:spPr>
          <a:xfrm>
            <a:off x="612000" y="899999"/>
            <a:ext cx="7920000" cy="3780000"/>
          </a:xfrm>
        </p:spPr>
        <p:txBody>
          <a:bodyPr/>
          <a:lstStyle/>
          <a:p>
            <a:r>
              <a:rPr lang="zh-CN" altLang="en-US" dirty="0"/>
              <a:t>网络的体系结构 </a:t>
            </a:r>
            <a:r>
              <a:rPr lang="en-US" altLang="zh-CN" dirty="0"/>
              <a:t>(Network Architecture) </a:t>
            </a:r>
            <a:r>
              <a:rPr lang="zh-CN" altLang="en-US" dirty="0"/>
              <a:t>是计算机网络的各层及其协议的集合，就是这个计算机网络及其构件所应完成的功能的精确定义（不涉及实现）</a:t>
            </a:r>
          </a:p>
          <a:p>
            <a:r>
              <a:rPr lang="zh-CN" altLang="en-US" dirty="0"/>
              <a:t>实现 </a:t>
            </a:r>
            <a:r>
              <a:rPr lang="en-US" altLang="zh-CN" dirty="0"/>
              <a:t>(implementation) </a:t>
            </a:r>
            <a:r>
              <a:rPr lang="zh-CN" altLang="en-US" dirty="0"/>
              <a:t>是遵循这种体系结构的前提下，用何种硬件或软件完成这些功能的问题</a:t>
            </a:r>
          </a:p>
        </p:txBody>
      </p:sp>
      <p:sp>
        <p:nvSpPr>
          <p:cNvPr id="11" name="文本框 10">
            <a:extLst>
              <a:ext uri="{FF2B5EF4-FFF2-40B4-BE49-F238E27FC236}">
                <a16:creationId xmlns:a16="http://schemas.microsoft.com/office/drawing/2014/main" id="{9ADCFACD-4554-897C-BC80-D2A0B52D355B}"/>
              </a:ext>
            </a:extLst>
          </p:cNvPr>
          <p:cNvSpPr txBox="1"/>
          <p:nvPr/>
        </p:nvSpPr>
        <p:spPr>
          <a:xfrm>
            <a:off x="1427550" y="3240000"/>
            <a:ext cx="6288901" cy="307777"/>
          </a:xfrm>
          <a:prstGeom prst="rect">
            <a:avLst/>
          </a:prstGeom>
          <a:noFill/>
        </p:spPr>
        <p:txBody>
          <a:bodyPr wrap="square" rtlCol="0">
            <a:spAutoFit/>
          </a:bodyPr>
          <a:lstStyle>
            <a:defPPr>
              <a:defRPr lang="zh-CN"/>
            </a:defPPr>
            <a:lvl1pPr algn="ctr">
              <a:defRPr sz="1400">
                <a:solidFill>
                  <a:srgbClr val="D4237A"/>
                </a:solidFill>
                <a:ea typeface="+mj-ea"/>
              </a:defRPr>
            </a:lvl1pPr>
          </a:lstStyle>
          <a:p>
            <a:r>
              <a:rPr lang="zh-CN" altLang="en-US" dirty="0"/>
              <a:t>体系结构是抽象的，而实现则是具体的，是真正在运行的计算机硬件和软件</a:t>
            </a:r>
          </a:p>
        </p:txBody>
      </p:sp>
    </p:spTree>
    <p:extLst>
      <p:ext uri="{BB962C8B-B14F-4D97-AF65-F5344CB8AC3E}">
        <p14:creationId xmlns:p14="http://schemas.microsoft.com/office/powerpoint/2010/main" val="2980724976"/>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BF648EC-0B6C-0EF3-EF72-C08FEE313716}"/>
              </a:ext>
            </a:extLst>
          </p:cNvPr>
          <p:cNvSpPr>
            <a:spLocks noGrp="1"/>
          </p:cNvSpPr>
          <p:nvPr>
            <p:ph type="title"/>
          </p:nvPr>
        </p:nvSpPr>
        <p:spPr>
          <a:xfrm>
            <a:off x="612000" y="144000"/>
            <a:ext cx="7920000" cy="341632"/>
          </a:xfrm>
        </p:spPr>
        <p:txBody>
          <a:bodyPr/>
          <a:lstStyle/>
          <a:p>
            <a:r>
              <a:rPr lang="en-US" altLang="zh-CN" dirty="0"/>
              <a:t>1.7.3  </a:t>
            </a:r>
            <a:r>
              <a:rPr lang="zh-CN" altLang="en-US" dirty="0"/>
              <a:t>具有五层协议的体系结构</a:t>
            </a:r>
          </a:p>
        </p:txBody>
      </p:sp>
      <p:sp>
        <p:nvSpPr>
          <p:cNvPr id="22" name="Text Box 13"/>
          <p:cNvSpPr txBox="1">
            <a:spLocks noChangeArrowheads="1"/>
          </p:cNvSpPr>
          <p:nvPr/>
        </p:nvSpPr>
        <p:spPr bwMode="auto">
          <a:xfrm>
            <a:off x="1156623" y="1279024"/>
            <a:ext cx="2169184"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en-US" altLang="zh-CN" sz="1400" b="1" dirty="0">
                <a:solidFill>
                  <a:srgbClr val="85D1F7"/>
                </a:solidFill>
                <a:latin typeface="+mj-lt"/>
                <a:ea typeface="+mj-ea"/>
              </a:rPr>
              <a:t>OSI </a:t>
            </a:r>
            <a:r>
              <a:rPr kumimoji="1" lang="zh-CN" altLang="en-US" sz="1400" b="1" dirty="0">
                <a:solidFill>
                  <a:srgbClr val="85D1F7"/>
                </a:solidFill>
                <a:latin typeface="+mj-lt"/>
                <a:ea typeface="+mj-ea"/>
              </a:rPr>
              <a:t>的七层协议体系结构</a:t>
            </a:r>
          </a:p>
        </p:txBody>
      </p:sp>
      <p:sp>
        <p:nvSpPr>
          <p:cNvPr id="32" name="Text Box 12"/>
          <p:cNvSpPr txBox="1">
            <a:spLocks noChangeArrowheads="1"/>
          </p:cNvSpPr>
          <p:nvPr/>
        </p:nvSpPr>
        <p:spPr bwMode="auto">
          <a:xfrm>
            <a:off x="3405104" y="1279024"/>
            <a:ext cx="2461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en-US" altLang="zh-CN" sz="1400" b="1" dirty="0">
                <a:solidFill>
                  <a:srgbClr val="7CE07C"/>
                </a:solidFill>
                <a:latin typeface="+mj-lt"/>
                <a:ea typeface="+mj-ea"/>
              </a:rPr>
              <a:t>TCP/IP </a:t>
            </a:r>
            <a:r>
              <a:rPr kumimoji="1" lang="zh-CN" altLang="en-US" sz="1400" b="1" dirty="0">
                <a:solidFill>
                  <a:srgbClr val="7CE07C"/>
                </a:solidFill>
                <a:latin typeface="+mj-lt"/>
                <a:ea typeface="+mj-ea"/>
              </a:rPr>
              <a:t>的四层协议体系结构</a:t>
            </a:r>
          </a:p>
        </p:txBody>
      </p:sp>
      <p:sp>
        <p:nvSpPr>
          <p:cNvPr id="33" name="Text Box 95"/>
          <p:cNvSpPr txBox="1">
            <a:spLocks noChangeArrowheads="1"/>
          </p:cNvSpPr>
          <p:nvPr/>
        </p:nvSpPr>
        <p:spPr bwMode="auto">
          <a:xfrm>
            <a:off x="2054305" y="4382588"/>
            <a:ext cx="37382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200" b="1" dirty="0">
                <a:latin typeface="+mj-lt"/>
                <a:ea typeface="+mj-ea"/>
              </a:rPr>
              <a:t>(a)</a:t>
            </a:r>
          </a:p>
        </p:txBody>
      </p:sp>
      <p:sp>
        <p:nvSpPr>
          <p:cNvPr id="34" name="Text Box 96"/>
          <p:cNvSpPr txBox="1">
            <a:spLocks noChangeArrowheads="1"/>
          </p:cNvSpPr>
          <p:nvPr/>
        </p:nvSpPr>
        <p:spPr bwMode="auto">
          <a:xfrm>
            <a:off x="4442760" y="4382588"/>
            <a:ext cx="38664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200" b="1" dirty="0">
                <a:latin typeface="+mj-lt"/>
                <a:ea typeface="+mj-ea"/>
              </a:rPr>
              <a:t>(b)</a:t>
            </a:r>
          </a:p>
        </p:txBody>
      </p:sp>
      <p:sp>
        <p:nvSpPr>
          <p:cNvPr id="35" name="Text Box 97"/>
          <p:cNvSpPr txBox="1">
            <a:spLocks noChangeArrowheads="1"/>
          </p:cNvSpPr>
          <p:nvPr/>
        </p:nvSpPr>
        <p:spPr bwMode="auto">
          <a:xfrm>
            <a:off x="6661963" y="4390609"/>
            <a:ext cx="36901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200" b="1">
                <a:latin typeface="+mj-lt"/>
                <a:ea typeface="+mj-ea"/>
              </a:rPr>
              <a:t>(c)</a:t>
            </a:r>
          </a:p>
        </p:txBody>
      </p:sp>
      <p:sp>
        <p:nvSpPr>
          <p:cNvPr id="47" name="Text Box 113"/>
          <p:cNvSpPr txBox="1">
            <a:spLocks noChangeArrowheads="1"/>
          </p:cNvSpPr>
          <p:nvPr/>
        </p:nvSpPr>
        <p:spPr bwMode="auto">
          <a:xfrm>
            <a:off x="5946357" y="1278925"/>
            <a:ext cx="1800225"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fontAlgn="auto" hangingPunct="1">
              <a:spcBef>
                <a:spcPts val="0"/>
              </a:spcBef>
              <a:spcAft>
                <a:spcPts val="0"/>
              </a:spcAft>
              <a:defRPr/>
            </a:pPr>
            <a:r>
              <a:rPr lang="zh-CN" altLang="en-US" sz="1400" b="1" dirty="0">
                <a:solidFill>
                  <a:srgbClr val="C00000"/>
                </a:solidFill>
                <a:latin typeface="+mj-lt"/>
                <a:ea typeface="+mj-ea"/>
              </a:rPr>
              <a:t>五层协议的体系结构</a:t>
            </a:r>
          </a:p>
        </p:txBody>
      </p:sp>
      <p:grpSp>
        <p:nvGrpSpPr>
          <p:cNvPr id="58" name="组合 57">
            <a:extLst>
              <a:ext uri="{FF2B5EF4-FFF2-40B4-BE49-F238E27FC236}">
                <a16:creationId xmlns:a16="http://schemas.microsoft.com/office/drawing/2014/main" id="{BC86FE06-9646-EAF4-9B36-BA9B16F9073B}"/>
              </a:ext>
            </a:extLst>
          </p:cNvPr>
          <p:cNvGrpSpPr/>
          <p:nvPr/>
        </p:nvGrpSpPr>
        <p:grpSpPr>
          <a:xfrm>
            <a:off x="6126469" y="2581202"/>
            <a:ext cx="1440000" cy="1728000"/>
            <a:chOff x="6301911" y="2124000"/>
            <a:chExt cx="1440000" cy="1728000"/>
          </a:xfrm>
        </p:grpSpPr>
        <p:sp>
          <p:nvSpPr>
            <p:cNvPr id="49" name="立方体 48">
              <a:extLst>
                <a:ext uri="{FF2B5EF4-FFF2-40B4-BE49-F238E27FC236}">
                  <a16:creationId xmlns:a16="http://schemas.microsoft.com/office/drawing/2014/main" id="{59DC3CC2-62B6-5FAA-A431-4390F2D5881B}"/>
                </a:ext>
              </a:extLst>
            </p:cNvPr>
            <p:cNvSpPr/>
            <p:nvPr/>
          </p:nvSpPr>
          <p:spPr>
            <a:xfrm>
              <a:off x="6301911" y="3420000"/>
              <a:ext cx="144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800" dirty="0">
                  <a:solidFill>
                    <a:schemeClr val="bg1"/>
                  </a:solidFill>
                </a:rPr>
                <a:t>1 </a:t>
              </a:r>
              <a:r>
                <a:rPr lang="zh-CN" altLang="en-US" sz="800" dirty="0">
                  <a:solidFill>
                    <a:schemeClr val="bg1"/>
                  </a:solidFill>
                </a:rPr>
                <a:t>物理层</a:t>
              </a:r>
            </a:p>
          </p:txBody>
        </p:sp>
        <p:sp>
          <p:nvSpPr>
            <p:cNvPr id="50" name="立方体 49">
              <a:extLst>
                <a:ext uri="{FF2B5EF4-FFF2-40B4-BE49-F238E27FC236}">
                  <a16:creationId xmlns:a16="http://schemas.microsoft.com/office/drawing/2014/main" id="{87A99BB4-DE79-1BFE-58CF-994D9DE1B91A}"/>
                </a:ext>
              </a:extLst>
            </p:cNvPr>
            <p:cNvSpPr/>
            <p:nvPr/>
          </p:nvSpPr>
          <p:spPr>
            <a:xfrm>
              <a:off x="6301911" y="3096000"/>
              <a:ext cx="144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800" dirty="0">
                  <a:solidFill>
                    <a:schemeClr val="bg1"/>
                  </a:solidFill>
                </a:rPr>
                <a:t>2 </a:t>
              </a:r>
              <a:r>
                <a:rPr lang="zh-CN" altLang="en-US" sz="800" dirty="0">
                  <a:solidFill>
                    <a:schemeClr val="bg1"/>
                  </a:solidFill>
                </a:rPr>
                <a:t>数据链路层</a:t>
              </a:r>
            </a:p>
          </p:txBody>
        </p:sp>
        <p:sp>
          <p:nvSpPr>
            <p:cNvPr id="55" name="立方体 54">
              <a:extLst>
                <a:ext uri="{FF2B5EF4-FFF2-40B4-BE49-F238E27FC236}">
                  <a16:creationId xmlns:a16="http://schemas.microsoft.com/office/drawing/2014/main" id="{C92BBDDF-7C00-F7A7-0440-DCFDF1B6612B}"/>
                </a:ext>
              </a:extLst>
            </p:cNvPr>
            <p:cNvSpPr/>
            <p:nvPr/>
          </p:nvSpPr>
          <p:spPr>
            <a:xfrm>
              <a:off x="6301911" y="2772000"/>
              <a:ext cx="144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800" dirty="0">
                  <a:solidFill>
                    <a:schemeClr val="bg1"/>
                  </a:solidFill>
                </a:rPr>
                <a:t>3 </a:t>
              </a:r>
              <a:r>
                <a:rPr lang="zh-CN" altLang="en-US" sz="800" dirty="0">
                  <a:solidFill>
                    <a:schemeClr val="bg1"/>
                  </a:solidFill>
                </a:rPr>
                <a:t>网络层</a:t>
              </a:r>
            </a:p>
          </p:txBody>
        </p:sp>
        <p:sp>
          <p:nvSpPr>
            <p:cNvPr id="56" name="立方体 55">
              <a:extLst>
                <a:ext uri="{FF2B5EF4-FFF2-40B4-BE49-F238E27FC236}">
                  <a16:creationId xmlns:a16="http://schemas.microsoft.com/office/drawing/2014/main" id="{594DEA9F-0002-315B-CA79-A3C8B765228D}"/>
                </a:ext>
              </a:extLst>
            </p:cNvPr>
            <p:cNvSpPr/>
            <p:nvPr/>
          </p:nvSpPr>
          <p:spPr>
            <a:xfrm>
              <a:off x="6301911" y="2448000"/>
              <a:ext cx="144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800" dirty="0">
                  <a:solidFill>
                    <a:schemeClr val="bg1"/>
                  </a:solidFill>
                </a:rPr>
                <a:t>4 </a:t>
              </a:r>
              <a:r>
                <a:rPr lang="zh-CN" altLang="en-US" sz="800" dirty="0">
                  <a:solidFill>
                    <a:schemeClr val="bg1"/>
                  </a:solidFill>
                </a:rPr>
                <a:t>运输层</a:t>
              </a:r>
            </a:p>
          </p:txBody>
        </p:sp>
        <p:sp>
          <p:nvSpPr>
            <p:cNvPr id="57" name="立方体 56">
              <a:extLst>
                <a:ext uri="{FF2B5EF4-FFF2-40B4-BE49-F238E27FC236}">
                  <a16:creationId xmlns:a16="http://schemas.microsoft.com/office/drawing/2014/main" id="{BF6403B9-DA4D-104F-5F4E-BC410BF78047}"/>
                </a:ext>
              </a:extLst>
            </p:cNvPr>
            <p:cNvSpPr/>
            <p:nvPr/>
          </p:nvSpPr>
          <p:spPr>
            <a:xfrm>
              <a:off x="6301911" y="2124000"/>
              <a:ext cx="144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800" dirty="0">
                  <a:solidFill>
                    <a:schemeClr val="bg1"/>
                  </a:solidFill>
                </a:rPr>
                <a:t>5 </a:t>
              </a:r>
              <a:r>
                <a:rPr lang="zh-CN" altLang="en-US" sz="800" dirty="0">
                  <a:solidFill>
                    <a:schemeClr val="bg1"/>
                  </a:solidFill>
                </a:rPr>
                <a:t>应用层</a:t>
              </a:r>
            </a:p>
          </p:txBody>
        </p:sp>
      </p:grpSp>
      <p:grpSp>
        <p:nvGrpSpPr>
          <p:cNvPr id="4" name="组合 3">
            <a:extLst>
              <a:ext uri="{FF2B5EF4-FFF2-40B4-BE49-F238E27FC236}">
                <a16:creationId xmlns:a16="http://schemas.microsoft.com/office/drawing/2014/main" id="{4DC91E14-B205-FC23-6E2B-D7C175F0F769}"/>
              </a:ext>
            </a:extLst>
          </p:cNvPr>
          <p:cNvGrpSpPr/>
          <p:nvPr/>
        </p:nvGrpSpPr>
        <p:grpSpPr>
          <a:xfrm>
            <a:off x="1521215" y="1933202"/>
            <a:ext cx="1440000" cy="2376000"/>
            <a:chOff x="1521215" y="1933202"/>
            <a:chExt cx="1440000" cy="2376000"/>
          </a:xfrm>
        </p:grpSpPr>
        <p:sp>
          <p:nvSpPr>
            <p:cNvPr id="60" name="立方体 59">
              <a:extLst>
                <a:ext uri="{FF2B5EF4-FFF2-40B4-BE49-F238E27FC236}">
                  <a16:creationId xmlns:a16="http://schemas.microsoft.com/office/drawing/2014/main" id="{7D5805BB-488C-0A77-D090-083D16027013}"/>
                </a:ext>
              </a:extLst>
            </p:cNvPr>
            <p:cNvSpPr/>
            <p:nvPr/>
          </p:nvSpPr>
          <p:spPr>
            <a:xfrm>
              <a:off x="1521215" y="3877202"/>
              <a:ext cx="1440000" cy="432000"/>
            </a:xfrm>
            <a:prstGeom prst="cube">
              <a:avLst/>
            </a:prstGeom>
            <a:solidFill>
              <a:srgbClr val="85D1F7"/>
            </a:solidFill>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800" dirty="0">
                  <a:solidFill>
                    <a:schemeClr val="tx1"/>
                  </a:solidFill>
                </a:rPr>
                <a:t>1 </a:t>
              </a:r>
              <a:r>
                <a:rPr lang="zh-CN" altLang="en-US" sz="800" dirty="0">
                  <a:solidFill>
                    <a:schemeClr val="tx1"/>
                  </a:solidFill>
                </a:rPr>
                <a:t>物理层</a:t>
              </a:r>
            </a:p>
          </p:txBody>
        </p:sp>
        <p:sp>
          <p:nvSpPr>
            <p:cNvPr id="61" name="立方体 60">
              <a:extLst>
                <a:ext uri="{FF2B5EF4-FFF2-40B4-BE49-F238E27FC236}">
                  <a16:creationId xmlns:a16="http://schemas.microsoft.com/office/drawing/2014/main" id="{183DBE49-549A-503A-753D-A72CAF5AFC80}"/>
                </a:ext>
              </a:extLst>
            </p:cNvPr>
            <p:cNvSpPr/>
            <p:nvPr/>
          </p:nvSpPr>
          <p:spPr>
            <a:xfrm>
              <a:off x="1521215" y="3553202"/>
              <a:ext cx="1440000" cy="432000"/>
            </a:xfrm>
            <a:prstGeom prst="cube">
              <a:avLst/>
            </a:prstGeom>
            <a:solidFill>
              <a:srgbClr val="85D1F7"/>
            </a:solidFill>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800" dirty="0">
                  <a:solidFill>
                    <a:schemeClr val="tx1"/>
                  </a:solidFill>
                </a:rPr>
                <a:t>2 </a:t>
              </a:r>
              <a:r>
                <a:rPr lang="zh-CN" altLang="en-US" sz="800" dirty="0">
                  <a:solidFill>
                    <a:schemeClr val="tx1"/>
                  </a:solidFill>
                </a:rPr>
                <a:t>数据链路层</a:t>
              </a:r>
            </a:p>
          </p:txBody>
        </p:sp>
        <p:sp>
          <p:nvSpPr>
            <p:cNvPr id="62" name="立方体 61">
              <a:extLst>
                <a:ext uri="{FF2B5EF4-FFF2-40B4-BE49-F238E27FC236}">
                  <a16:creationId xmlns:a16="http://schemas.microsoft.com/office/drawing/2014/main" id="{C9ADC102-4717-13C6-2AE7-1D8FB1794EA8}"/>
                </a:ext>
              </a:extLst>
            </p:cNvPr>
            <p:cNvSpPr/>
            <p:nvPr/>
          </p:nvSpPr>
          <p:spPr>
            <a:xfrm>
              <a:off x="1521215" y="3229202"/>
              <a:ext cx="1440000" cy="432000"/>
            </a:xfrm>
            <a:prstGeom prst="cube">
              <a:avLst/>
            </a:prstGeom>
            <a:solidFill>
              <a:srgbClr val="85D1F7"/>
            </a:solidFill>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800" dirty="0">
                  <a:solidFill>
                    <a:schemeClr val="tx1"/>
                  </a:solidFill>
                </a:rPr>
                <a:t>3 </a:t>
              </a:r>
              <a:r>
                <a:rPr lang="zh-CN" altLang="en-US" sz="800" dirty="0">
                  <a:solidFill>
                    <a:schemeClr val="tx1"/>
                  </a:solidFill>
                </a:rPr>
                <a:t>网络层</a:t>
              </a:r>
            </a:p>
          </p:txBody>
        </p:sp>
        <p:sp>
          <p:nvSpPr>
            <p:cNvPr id="63" name="立方体 62">
              <a:extLst>
                <a:ext uri="{FF2B5EF4-FFF2-40B4-BE49-F238E27FC236}">
                  <a16:creationId xmlns:a16="http://schemas.microsoft.com/office/drawing/2014/main" id="{C2137125-7111-B58A-256C-ED4397BCAE4F}"/>
                </a:ext>
              </a:extLst>
            </p:cNvPr>
            <p:cNvSpPr/>
            <p:nvPr/>
          </p:nvSpPr>
          <p:spPr>
            <a:xfrm>
              <a:off x="1521215" y="2905202"/>
              <a:ext cx="1440000" cy="432000"/>
            </a:xfrm>
            <a:prstGeom prst="cube">
              <a:avLst/>
            </a:prstGeom>
            <a:solidFill>
              <a:srgbClr val="85D1F7"/>
            </a:solidFill>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800" dirty="0">
                  <a:solidFill>
                    <a:schemeClr val="tx1"/>
                  </a:solidFill>
                </a:rPr>
                <a:t>4 </a:t>
              </a:r>
              <a:r>
                <a:rPr lang="zh-CN" altLang="en-US" sz="800" dirty="0">
                  <a:solidFill>
                    <a:schemeClr val="tx1"/>
                  </a:solidFill>
                </a:rPr>
                <a:t>运输层</a:t>
              </a:r>
            </a:p>
          </p:txBody>
        </p:sp>
        <p:sp>
          <p:nvSpPr>
            <p:cNvPr id="64" name="立方体 63">
              <a:extLst>
                <a:ext uri="{FF2B5EF4-FFF2-40B4-BE49-F238E27FC236}">
                  <a16:creationId xmlns:a16="http://schemas.microsoft.com/office/drawing/2014/main" id="{FFCFD61A-8C10-498E-9068-AFAD5D1741FA}"/>
                </a:ext>
              </a:extLst>
            </p:cNvPr>
            <p:cNvSpPr/>
            <p:nvPr/>
          </p:nvSpPr>
          <p:spPr>
            <a:xfrm>
              <a:off x="1521215" y="2581202"/>
              <a:ext cx="1440000" cy="432000"/>
            </a:xfrm>
            <a:prstGeom prst="cube">
              <a:avLst/>
            </a:prstGeom>
            <a:solidFill>
              <a:srgbClr val="85D1F7"/>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800" dirty="0">
                  <a:solidFill>
                    <a:schemeClr val="tx1"/>
                  </a:solidFill>
                </a:rPr>
                <a:t>5 </a:t>
              </a:r>
              <a:r>
                <a:rPr lang="zh-CN" altLang="en-US" sz="800" dirty="0">
                  <a:solidFill>
                    <a:schemeClr val="tx1"/>
                  </a:solidFill>
                </a:rPr>
                <a:t>会话层</a:t>
              </a:r>
            </a:p>
          </p:txBody>
        </p:sp>
        <p:sp>
          <p:nvSpPr>
            <p:cNvPr id="66" name="立方体 65">
              <a:extLst>
                <a:ext uri="{FF2B5EF4-FFF2-40B4-BE49-F238E27FC236}">
                  <a16:creationId xmlns:a16="http://schemas.microsoft.com/office/drawing/2014/main" id="{CA9A1BEB-272F-8ECC-8517-8652A8666D86}"/>
                </a:ext>
              </a:extLst>
            </p:cNvPr>
            <p:cNvSpPr/>
            <p:nvPr/>
          </p:nvSpPr>
          <p:spPr>
            <a:xfrm>
              <a:off x="1521215" y="2257202"/>
              <a:ext cx="1440000" cy="432000"/>
            </a:xfrm>
            <a:prstGeom prst="cube">
              <a:avLst/>
            </a:prstGeom>
            <a:solidFill>
              <a:srgbClr val="85D1F7"/>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800" dirty="0">
                  <a:solidFill>
                    <a:schemeClr val="tx1"/>
                  </a:solidFill>
                </a:rPr>
                <a:t>6 </a:t>
              </a:r>
              <a:r>
                <a:rPr lang="zh-CN" altLang="en-US" sz="800" dirty="0">
                  <a:solidFill>
                    <a:schemeClr val="tx1"/>
                  </a:solidFill>
                </a:rPr>
                <a:t>表示层</a:t>
              </a:r>
            </a:p>
          </p:txBody>
        </p:sp>
        <p:sp>
          <p:nvSpPr>
            <p:cNvPr id="68" name="立方体 67">
              <a:extLst>
                <a:ext uri="{FF2B5EF4-FFF2-40B4-BE49-F238E27FC236}">
                  <a16:creationId xmlns:a16="http://schemas.microsoft.com/office/drawing/2014/main" id="{A1900D56-89DE-40CA-0853-84C80F665505}"/>
                </a:ext>
              </a:extLst>
            </p:cNvPr>
            <p:cNvSpPr/>
            <p:nvPr/>
          </p:nvSpPr>
          <p:spPr>
            <a:xfrm>
              <a:off x="1521215" y="1933202"/>
              <a:ext cx="1440000" cy="432000"/>
            </a:xfrm>
            <a:prstGeom prst="cube">
              <a:avLst/>
            </a:prstGeom>
            <a:solidFill>
              <a:srgbClr val="85D1F7"/>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800" dirty="0">
                  <a:solidFill>
                    <a:schemeClr val="tx1"/>
                  </a:solidFill>
                </a:rPr>
                <a:t>7 </a:t>
              </a:r>
              <a:r>
                <a:rPr lang="zh-CN" altLang="en-US" sz="800" dirty="0">
                  <a:solidFill>
                    <a:schemeClr val="tx1"/>
                  </a:solidFill>
                </a:rPr>
                <a:t>应用层</a:t>
              </a:r>
            </a:p>
          </p:txBody>
        </p:sp>
      </p:grpSp>
      <p:grpSp>
        <p:nvGrpSpPr>
          <p:cNvPr id="69" name="组合 68">
            <a:extLst>
              <a:ext uri="{FF2B5EF4-FFF2-40B4-BE49-F238E27FC236}">
                <a16:creationId xmlns:a16="http://schemas.microsoft.com/office/drawing/2014/main" id="{6198445F-6922-7845-2B01-F74D7EF6973D}"/>
              </a:ext>
            </a:extLst>
          </p:cNvPr>
          <p:cNvGrpSpPr/>
          <p:nvPr/>
        </p:nvGrpSpPr>
        <p:grpSpPr>
          <a:xfrm>
            <a:off x="3916082" y="2905202"/>
            <a:ext cx="1440000" cy="1404000"/>
            <a:chOff x="6301911" y="2448000"/>
            <a:chExt cx="1440000" cy="1404000"/>
          </a:xfrm>
          <a:solidFill>
            <a:srgbClr val="7CE07C"/>
          </a:solidFill>
        </p:grpSpPr>
        <p:sp>
          <p:nvSpPr>
            <p:cNvPr id="70" name="立方体 69">
              <a:extLst>
                <a:ext uri="{FF2B5EF4-FFF2-40B4-BE49-F238E27FC236}">
                  <a16:creationId xmlns:a16="http://schemas.microsoft.com/office/drawing/2014/main" id="{30ECAEA8-08AC-FCFB-B1DB-9BD34875C41A}"/>
                </a:ext>
              </a:extLst>
            </p:cNvPr>
            <p:cNvSpPr/>
            <p:nvPr/>
          </p:nvSpPr>
          <p:spPr>
            <a:xfrm>
              <a:off x="6301911" y="3420000"/>
              <a:ext cx="1440000" cy="432000"/>
            </a:xfrm>
            <a:prstGeom prst="cube">
              <a:avLst/>
            </a:prstGeom>
            <a:grpFill/>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800" dirty="0">
                  <a:solidFill>
                    <a:sysClr val="windowText" lastClr="000000"/>
                  </a:solidFill>
                </a:rPr>
                <a:t>1 </a:t>
              </a:r>
              <a:r>
                <a:rPr lang="zh-CN" altLang="en-US" sz="800" dirty="0">
                  <a:solidFill>
                    <a:sysClr val="windowText" lastClr="000000"/>
                  </a:solidFill>
                </a:rPr>
                <a:t>网络接口层</a:t>
              </a:r>
            </a:p>
          </p:txBody>
        </p:sp>
        <p:sp>
          <p:nvSpPr>
            <p:cNvPr id="71" name="立方体 70">
              <a:extLst>
                <a:ext uri="{FF2B5EF4-FFF2-40B4-BE49-F238E27FC236}">
                  <a16:creationId xmlns:a16="http://schemas.microsoft.com/office/drawing/2014/main" id="{A92A4C55-25F4-B332-CF0C-F146FF7F8109}"/>
                </a:ext>
              </a:extLst>
            </p:cNvPr>
            <p:cNvSpPr/>
            <p:nvPr/>
          </p:nvSpPr>
          <p:spPr>
            <a:xfrm>
              <a:off x="6301911" y="3096000"/>
              <a:ext cx="1440000" cy="432000"/>
            </a:xfrm>
            <a:prstGeom prst="cube">
              <a:avLst/>
            </a:prstGeom>
            <a:grpFill/>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800" dirty="0">
                  <a:solidFill>
                    <a:sysClr val="windowText" lastClr="000000"/>
                  </a:solidFill>
                </a:rPr>
                <a:t>2 </a:t>
              </a:r>
              <a:r>
                <a:rPr lang="zh-CN" altLang="en-US" sz="800" dirty="0">
                  <a:solidFill>
                    <a:sysClr val="windowText" lastClr="000000"/>
                  </a:solidFill>
                </a:rPr>
                <a:t>网际层</a:t>
              </a:r>
            </a:p>
          </p:txBody>
        </p:sp>
        <p:sp>
          <p:nvSpPr>
            <p:cNvPr id="72" name="立方体 71">
              <a:extLst>
                <a:ext uri="{FF2B5EF4-FFF2-40B4-BE49-F238E27FC236}">
                  <a16:creationId xmlns:a16="http://schemas.microsoft.com/office/drawing/2014/main" id="{2047D5C2-3AAD-52D4-5D71-391DE0D4F894}"/>
                </a:ext>
              </a:extLst>
            </p:cNvPr>
            <p:cNvSpPr/>
            <p:nvPr/>
          </p:nvSpPr>
          <p:spPr>
            <a:xfrm>
              <a:off x="6301911" y="2772000"/>
              <a:ext cx="1440000" cy="432000"/>
            </a:xfrm>
            <a:prstGeom prst="cube">
              <a:avLst/>
            </a:prstGeom>
            <a:grpFill/>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800" dirty="0">
                  <a:solidFill>
                    <a:sysClr val="windowText" lastClr="000000"/>
                  </a:solidFill>
                </a:rPr>
                <a:t>3 </a:t>
              </a:r>
              <a:r>
                <a:rPr lang="zh-CN" altLang="en-US" sz="800" dirty="0">
                  <a:solidFill>
                    <a:sysClr val="windowText" lastClr="000000"/>
                  </a:solidFill>
                </a:rPr>
                <a:t>运输层</a:t>
              </a:r>
            </a:p>
          </p:txBody>
        </p:sp>
        <p:sp>
          <p:nvSpPr>
            <p:cNvPr id="73" name="立方体 72">
              <a:extLst>
                <a:ext uri="{FF2B5EF4-FFF2-40B4-BE49-F238E27FC236}">
                  <a16:creationId xmlns:a16="http://schemas.microsoft.com/office/drawing/2014/main" id="{8515AD8E-23EA-A522-E6D2-E90E0C6AF123}"/>
                </a:ext>
              </a:extLst>
            </p:cNvPr>
            <p:cNvSpPr/>
            <p:nvPr/>
          </p:nvSpPr>
          <p:spPr>
            <a:xfrm>
              <a:off x="6301911" y="2448000"/>
              <a:ext cx="1440000" cy="432000"/>
            </a:xfrm>
            <a:prstGeom prst="cube">
              <a:avLst/>
            </a:prstGeom>
            <a:grpFill/>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800" dirty="0">
                  <a:solidFill>
                    <a:sysClr val="windowText" lastClr="000000"/>
                  </a:solidFill>
                </a:rPr>
                <a:t>4 </a:t>
              </a:r>
              <a:r>
                <a:rPr lang="zh-CN" altLang="en-US" sz="800" dirty="0">
                  <a:solidFill>
                    <a:sysClr val="windowText" lastClr="000000"/>
                  </a:solidFill>
                </a:rPr>
                <a:t>应用层</a:t>
              </a:r>
            </a:p>
          </p:txBody>
        </p:sp>
      </p:grpSp>
    </p:spTree>
    <p:extLst>
      <p:ext uri="{BB962C8B-B14F-4D97-AF65-F5344CB8AC3E}">
        <p14:creationId xmlns:p14="http://schemas.microsoft.com/office/powerpoint/2010/main" val="4190386355"/>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indefinite" fill="hold" grpId="0" nodeType="afterEffect">
                                  <p:stCondLst>
                                    <p:cond delay="0"/>
                                  </p:stCondLst>
                                  <p:endCondLst>
                                    <p:cond evt="onNext" delay="0">
                                      <p:tgtEl>
                                        <p:sldTgt/>
                                      </p:tgtEl>
                                    </p:cond>
                                  </p:endCondLst>
                                  <p:childTnLst>
                                    <p:anim calcmode="discrete" valueType="str">
                                      <p:cBhvr>
                                        <p:cTn id="6" dur="1000" fill="hold"/>
                                        <p:tgtEl>
                                          <p:spTgt spid="47"/>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7" grpId="0"/>
    </p:bldLst>
  </p:timing>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线形标注 1 9"/>
          <p:cNvSpPr/>
          <p:nvPr/>
        </p:nvSpPr>
        <p:spPr>
          <a:xfrm>
            <a:off x="3238418" y="1435161"/>
            <a:ext cx="5079413" cy="2677123"/>
          </a:xfrm>
          <a:prstGeom prst="borderCallout1">
            <a:avLst>
              <a:gd name="adj1" fmla="val 48825"/>
              <a:gd name="adj2" fmla="val -498"/>
              <a:gd name="adj3" fmla="val 33940"/>
              <a:gd name="adj4" fmla="val -21809"/>
            </a:avLst>
          </a:prstGeom>
          <a:ln>
            <a:solidFill>
              <a:schemeClr val="tx1">
                <a:lumMod val="50000"/>
                <a:lumOff val="50000"/>
              </a:schemeClr>
            </a:solidFill>
          </a:ln>
        </p:spPr>
        <p:style>
          <a:lnRef idx="2">
            <a:schemeClr val="accent6"/>
          </a:lnRef>
          <a:fillRef idx="1">
            <a:schemeClr val="lt1"/>
          </a:fillRef>
          <a:effectRef idx="0">
            <a:schemeClr val="accent6"/>
          </a:effectRef>
          <a:fontRef idx="minor">
            <a:schemeClr val="dk1"/>
          </a:fontRef>
        </p:style>
        <p:txBody>
          <a:bodyPr rtlCol="0" anchor="t" anchorCtr="0"/>
          <a:lstStyle/>
          <a:p>
            <a:pPr>
              <a:spcAft>
                <a:spcPts val="600"/>
              </a:spcAft>
            </a:pPr>
            <a:r>
              <a:rPr lang="en-US" altLang="zh-CN" sz="1600" dirty="0"/>
              <a:t>Application Layer</a:t>
            </a:r>
          </a:p>
          <a:p>
            <a:pPr>
              <a:spcAft>
                <a:spcPts val="600"/>
              </a:spcAft>
            </a:pPr>
            <a:r>
              <a:rPr lang="zh-CN" altLang="en-US" sz="1600" dirty="0"/>
              <a:t>任务：通过应用进程间的交互来完成特定网络应用</a:t>
            </a:r>
          </a:p>
          <a:p>
            <a:pPr>
              <a:spcAft>
                <a:spcPts val="600"/>
              </a:spcAft>
            </a:pPr>
            <a:r>
              <a:rPr lang="zh-CN" altLang="en-US" sz="1600" dirty="0"/>
              <a:t>协议：定义的是应用进程间通信和交互的规则</a:t>
            </a:r>
          </a:p>
          <a:p>
            <a:pPr>
              <a:spcAft>
                <a:spcPts val="600"/>
              </a:spcAft>
            </a:pPr>
            <a:r>
              <a:rPr lang="zh-CN" altLang="en-US" sz="1600" dirty="0"/>
              <a:t>数据：数据单元称为报文</a:t>
            </a:r>
            <a:r>
              <a:rPr lang="en-US" altLang="zh-CN" sz="1600" dirty="0"/>
              <a:t> message</a:t>
            </a:r>
          </a:p>
          <a:p>
            <a:pPr>
              <a:spcAft>
                <a:spcPts val="600"/>
              </a:spcAft>
            </a:pPr>
            <a:r>
              <a:rPr lang="zh-CN" altLang="en-US" sz="1600" dirty="0"/>
              <a:t>示例：</a:t>
            </a:r>
            <a:r>
              <a:rPr lang="en-US" altLang="zh-CN" sz="1600" dirty="0"/>
              <a:t>DNS</a:t>
            </a:r>
            <a:r>
              <a:rPr lang="zh-CN" altLang="en-US" sz="1600" dirty="0"/>
              <a:t>，</a:t>
            </a:r>
            <a:r>
              <a:rPr lang="en-US" altLang="zh-CN" sz="1600" dirty="0"/>
              <a:t>HTTP</a:t>
            </a:r>
            <a:r>
              <a:rPr lang="zh-CN" altLang="en-US" sz="1600" dirty="0"/>
              <a:t>，</a:t>
            </a:r>
            <a:r>
              <a:rPr lang="en-US" altLang="zh-CN" sz="1600" dirty="0"/>
              <a:t>SMTP</a:t>
            </a:r>
          </a:p>
          <a:p>
            <a:pPr>
              <a:spcAft>
                <a:spcPts val="600"/>
              </a:spcAft>
            </a:pPr>
            <a:endParaRPr lang="zh-CN" altLang="en-US" sz="1600" dirty="0"/>
          </a:p>
        </p:txBody>
      </p:sp>
      <p:sp>
        <p:nvSpPr>
          <p:cNvPr id="7" name="标题 6">
            <a:extLst>
              <a:ext uri="{FF2B5EF4-FFF2-40B4-BE49-F238E27FC236}">
                <a16:creationId xmlns:a16="http://schemas.microsoft.com/office/drawing/2014/main" id="{8D957980-DEB5-28BE-26AE-CE8344427D07}"/>
              </a:ext>
            </a:extLst>
          </p:cNvPr>
          <p:cNvSpPr>
            <a:spLocks noGrp="1"/>
          </p:cNvSpPr>
          <p:nvPr>
            <p:ph type="title"/>
          </p:nvPr>
        </p:nvSpPr>
        <p:spPr>
          <a:xfrm>
            <a:off x="612000" y="144000"/>
            <a:ext cx="7920000" cy="341632"/>
          </a:xfrm>
        </p:spPr>
        <p:txBody>
          <a:bodyPr/>
          <a:lstStyle/>
          <a:p>
            <a:r>
              <a:rPr lang="zh-CN" altLang="en-US" dirty="0"/>
              <a:t>各层的主要功能</a:t>
            </a:r>
          </a:p>
        </p:txBody>
      </p:sp>
      <p:grpSp>
        <p:nvGrpSpPr>
          <p:cNvPr id="16" name="组合 15">
            <a:extLst>
              <a:ext uri="{FF2B5EF4-FFF2-40B4-BE49-F238E27FC236}">
                <a16:creationId xmlns:a16="http://schemas.microsoft.com/office/drawing/2014/main" id="{AB489CEE-09FF-C6A0-E71E-E716C1264458}"/>
              </a:ext>
            </a:extLst>
          </p:cNvPr>
          <p:cNvGrpSpPr/>
          <p:nvPr/>
        </p:nvGrpSpPr>
        <p:grpSpPr>
          <a:xfrm>
            <a:off x="701211" y="2160000"/>
            <a:ext cx="1440000" cy="1728000"/>
            <a:chOff x="6301911" y="2124000"/>
            <a:chExt cx="1440000" cy="1728000"/>
          </a:xfrm>
        </p:grpSpPr>
        <p:sp>
          <p:nvSpPr>
            <p:cNvPr id="17" name="立方体 16">
              <a:extLst>
                <a:ext uri="{FF2B5EF4-FFF2-40B4-BE49-F238E27FC236}">
                  <a16:creationId xmlns:a16="http://schemas.microsoft.com/office/drawing/2014/main" id="{CB8D9093-84EF-09F5-37DB-C9AF6A9C85B3}"/>
                </a:ext>
              </a:extLst>
            </p:cNvPr>
            <p:cNvSpPr/>
            <p:nvPr/>
          </p:nvSpPr>
          <p:spPr>
            <a:xfrm>
              <a:off x="6301911" y="3420000"/>
              <a:ext cx="144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200" dirty="0">
                  <a:solidFill>
                    <a:schemeClr val="bg1"/>
                  </a:solidFill>
                </a:rPr>
                <a:t>1 </a:t>
              </a:r>
              <a:r>
                <a:rPr lang="zh-CN" altLang="en-US" sz="1200" dirty="0">
                  <a:solidFill>
                    <a:schemeClr val="bg1"/>
                  </a:solidFill>
                </a:rPr>
                <a:t>物理层</a:t>
              </a:r>
            </a:p>
          </p:txBody>
        </p:sp>
        <p:sp>
          <p:nvSpPr>
            <p:cNvPr id="18" name="立方体 17">
              <a:extLst>
                <a:ext uri="{FF2B5EF4-FFF2-40B4-BE49-F238E27FC236}">
                  <a16:creationId xmlns:a16="http://schemas.microsoft.com/office/drawing/2014/main" id="{9812778D-676B-0A4A-66B9-DA9FB0CAC940}"/>
                </a:ext>
              </a:extLst>
            </p:cNvPr>
            <p:cNvSpPr/>
            <p:nvPr/>
          </p:nvSpPr>
          <p:spPr>
            <a:xfrm>
              <a:off x="6301911" y="3096000"/>
              <a:ext cx="144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200" dirty="0">
                  <a:solidFill>
                    <a:schemeClr val="bg1"/>
                  </a:solidFill>
                </a:rPr>
                <a:t>2 </a:t>
              </a:r>
              <a:r>
                <a:rPr lang="zh-CN" altLang="en-US" sz="1200" dirty="0">
                  <a:solidFill>
                    <a:schemeClr val="bg1"/>
                  </a:solidFill>
                </a:rPr>
                <a:t>数据链路层</a:t>
              </a:r>
            </a:p>
          </p:txBody>
        </p:sp>
        <p:sp>
          <p:nvSpPr>
            <p:cNvPr id="19" name="立方体 18">
              <a:extLst>
                <a:ext uri="{FF2B5EF4-FFF2-40B4-BE49-F238E27FC236}">
                  <a16:creationId xmlns:a16="http://schemas.microsoft.com/office/drawing/2014/main" id="{9A3852AA-E7E2-5604-81E0-8850B62A4981}"/>
                </a:ext>
              </a:extLst>
            </p:cNvPr>
            <p:cNvSpPr/>
            <p:nvPr/>
          </p:nvSpPr>
          <p:spPr>
            <a:xfrm>
              <a:off x="6301911" y="2772000"/>
              <a:ext cx="144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200" dirty="0">
                  <a:solidFill>
                    <a:schemeClr val="bg1"/>
                  </a:solidFill>
                </a:rPr>
                <a:t>3 </a:t>
              </a:r>
              <a:r>
                <a:rPr lang="zh-CN" altLang="en-US" sz="1200" dirty="0">
                  <a:solidFill>
                    <a:schemeClr val="bg1"/>
                  </a:solidFill>
                </a:rPr>
                <a:t>网络层</a:t>
              </a:r>
            </a:p>
          </p:txBody>
        </p:sp>
        <p:sp>
          <p:nvSpPr>
            <p:cNvPr id="20" name="立方体 19">
              <a:extLst>
                <a:ext uri="{FF2B5EF4-FFF2-40B4-BE49-F238E27FC236}">
                  <a16:creationId xmlns:a16="http://schemas.microsoft.com/office/drawing/2014/main" id="{4D4BD085-008F-E37C-5AE2-01292206F2BE}"/>
                </a:ext>
              </a:extLst>
            </p:cNvPr>
            <p:cNvSpPr/>
            <p:nvPr/>
          </p:nvSpPr>
          <p:spPr>
            <a:xfrm>
              <a:off x="6301911" y="2448000"/>
              <a:ext cx="144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200" dirty="0">
                  <a:solidFill>
                    <a:schemeClr val="bg1"/>
                  </a:solidFill>
                </a:rPr>
                <a:t>4 </a:t>
              </a:r>
              <a:r>
                <a:rPr lang="zh-CN" altLang="en-US" sz="1200" dirty="0">
                  <a:solidFill>
                    <a:schemeClr val="bg1"/>
                  </a:solidFill>
                </a:rPr>
                <a:t>运输层</a:t>
              </a:r>
            </a:p>
          </p:txBody>
        </p:sp>
        <p:sp>
          <p:nvSpPr>
            <p:cNvPr id="21" name="立方体 20">
              <a:extLst>
                <a:ext uri="{FF2B5EF4-FFF2-40B4-BE49-F238E27FC236}">
                  <a16:creationId xmlns:a16="http://schemas.microsoft.com/office/drawing/2014/main" id="{E5F62502-CACB-A9E8-8176-AC5E75B63D9A}"/>
                </a:ext>
              </a:extLst>
            </p:cNvPr>
            <p:cNvSpPr/>
            <p:nvPr/>
          </p:nvSpPr>
          <p:spPr>
            <a:xfrm>
              <a:off x="6301911" y="2124000"/>
              <a:ext cx="144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200" dirty="0">
                  <a:solidFill>
                    <a:schemeClr val="bg1"/>
                  </a:solidFill>
                </a:rPr>
                <a:t>5 </a:t>
              </a:r>
              <a:r>
                <a:rPr lang="zh-CN" altLang="en-US" sz="1200" dirty="0">
                  <a:solidFill>
                    <a:schemeClr val="bg1"/>
                  </a:solidFill>
                </a:rPr>
                <a:t>应用层</a:t>
              </a:r>
            </a:p>
          </p:txBody>
        </p:sp>
      </p:grpSp>
    </p:spTree>
    <p:extLst>
      <p:ext uri="{BB962C8B-B14F-4D97-AF65-F5344CB8AC3E}">
        <p14:creationId xmlns:p14="http://schemas.microsoft.com/office/powerpoint/2010/main" val="1034406577"/>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线形标注 1 9"/>
          <p:cNvSpPr/>
          <p:nvPr/>
        </p:nvSpPr>
        <p:spPr>
          <a:xfrm>
            <a:off x="3238418" y="1435161"/>
            <a:ext cx="5079413" cy="2677123"/>
          </a:xfrm>
          <a:prstGeom prst="borderCallout1">
            <a:avLst>
              <a:gd name="adj1" fmla="val 47820"/>
              <a:gd name="adj2" fmla="val -498"/>
              <a:gd name="adj3" fmla="val 45616"/>
              <a:gd name="adj4" fmla="val -21677"/>
            </a:avLst>
          </a:prstGeom>
          <a:ln>
            <a:solidFill>
              <a:schemeClr val="tx1">
                <a:lumMod val="50000"/>
                <a:lumOff val="50000"/>
              </a:schemeClr>
            </a:solidFill>
          </a:ln>
        </p:spPr>
        <p:style>
          <a:lnRef idx="2">
            <a:schemeClr val="accent6"/>
          </a:lnRef>
          <a:fillRef idx="1">
            <a:schemeClr val="lt1"/>
          </a:fillRef>
          <a:effectRef idx="0">
            <a:schemeClr val="accent6"/>
          </a:effectRef>
          <a:fontRef idx="minor">
            <a:schemeClr val="dk1"/>
          </a:fontRef>
        </p:style>
        <p:txBody>
          <a:bodyPr rtlCol="0" anchor="t" anchorCtr="0"/>
          <a:lstStyle/>
          <a:p>
            <a:pPr>
              <a:spcAft>
                <a:spcPts val="600"/>
              </a:spcAft>
            </a:pPr>
            <a:r>
              <a:rPr lang="en-US" altLang="zh-CN" sz="1600" dirty="0"/>
              <a:t>Transportation Layer</a:t>
            </a:r>
          </a:p>
          <a:p>
            <a:pPr>
              <a:spcAft>
                <a:spcPts val="600"/>
              </a:spcAft>
            </a:pPr>
            <a:r>
              <a:rPr lang="zh-CN" altLang="en-US" sz="1600" dirty="0"/>
              <a:t>任务：负责向两台主机中进程之间的通信提供通用的数据传输服务；具有复用和分用的功能</a:t>
            </a:r>
          </a:p>
          <a:p>
            <a:pPr>
              <a:spcAft>
                <a:spcPts val="600"/>
              </a:spcAft>
            </a:pPr>
            <a:r>
              <a:rPr lang="zh-CN" altLang="en-US" sz="1600" dirty="0"/>
              <a:t>主要使用两种协议： </a:t>
            </a:r>
          </a:p>
          <a:p>
            <a:pPr marL="360000" lvl="1" indent="-180000">
              <a:spcAft>
                <a:spcPts val="600"/>
              </a:spcAft>
              <a:buFont typeface="Arial" panose="020B0604020202020204" pitchFamily="34" charset="0"/>
              <a:buChar char="•"/>
            </a:pPr>
            <a:r>
              <a:rPr lang="zh-CN" altLang="en-US" sz="1400" dirty="0"/>
              <a:t>传输控制协议 </a:t>
            </a:r>
            <a:r>
              <a:rPr lang="en-US" altLang="zh-CN" sz="1400" dirty="0"/>
              <a:t>TCP(Transmission Control Protocol</a:t>
            </a:r>
            <a:r>
              <a:rPr lang="zh-CN" altLang="en-US" sz="1400" dirty="0"/>
              <a:t>，提供面向连接的、可靠的数据传输服务；数据单元称为报文段  </a:t>
            </a:r>
            <a:r>
              <a:rPr lang="en-US" altLang="zh-CN" sz="1400" dirty="0"/>
              <a:t>segment</a:t>
            </a:r>
          </a:p>
          <a:p>
            <a:pPr marL="360000" lvl="1" indent="-180000">
              <a:spcAft>
                <a:spcPts val="600"/>
              </a:spcAft>
              <a:buFont typeface="Arial" panose="020B0604020202020204" pitchFamily="34" charset="0"/>
              <a:buChar char="•"/>
            </a:pPr>
            <a:r>
              <a:rPr lang="zh-CN" altLang="en-US" sz="1400" dirty="0"/>
              <a:t>用户数据报协议 </a:t>
            </a:r>
            <a:r>
              <a:rPr lang="en-US" altLang="zh-CN" sz="1400" dirty="0"/>
              <a:t>UDP (User Datagram Protocol)</a:t>
            </a:r>
            <a:r>
              <a:rPr lang="zh-CN" altLang="en-US" sz="1400" dirty="0"/>
              <a:t>：提供无连接的尽最大努力 </a:t>
            </a:r>
            <a:r>
              <a:rPr lang="en-US" altLang="zh-CN" sz="1400" dirty="0"/>
              <a:t>(best-effort) </a:t>
            </a:r>
            <a:r>
              <a:rPr lang="zh-CN" altLang="en-US" sz="1400" dirty="0"/>
              <a:t>的数据传输服务；不保证数据传输的可靠性；数据单元称为用户数据报</a:t>
            </a:r>
            <a:endParaRPr lang="zh-CN" altLang="en-US" sz="1600" dirty="0"/>
          </a:p>
        </p:txBody>
      </p:sp>
      <p:sp>
        <p:nvSpPr>
          <p:cNvPr id="3" name="标题 2">
            <a:extLst>
              <a:ext uri="{FF2B5EF4-FFF2-40B4-BE49-F238E27FC236}">
                <a16:creationId xmlns:a16="http://schemas.microsoft.com/office/drawing/2014/main" id="{BAA59E39-1737-70C6-9E06-D3CB97F457DD}"/>
              </a:ext>
            </a:extLst>
          </p:cNvPr>
          <p:cNvSpPr>
            <a:spLocks noGrp="1"/>
          </p:cNvSpPr>
          <p:nvPr>
            <p:ph type="title"/>
          </p:nvPr>
        </p:nvSpPr>
        <p:spPr>
          <a:xfrm>
            <a:off x="612000" y="144000"/>
            <a:ext cx="7920000" cy="341632"/>
          </a:xfrm>
        </p:spPr>
        <p:txBody>
          <a:bodyPr/>
          <a:lstStyle/>
          <a:p>
            <a:r>
              <a:rPr lang="zh-CN" altLang="en-US" dirty="0"/>
              <a:t>各层的主要功能</a:t>
            </a:r>
          </a:p>
        </p:txBody>
      </p:sp>
      <p:grpSp>
        <p:nvGrpSpPr>
          <p:cNvPr id="15" name="组合 14">
            <a:extLst>
              <a:ext uri="{FF2B5EF4-FFF2-40B4-BE49-F238E27FC236}">
                <a16:creationId xmlns:a16="http://schemas.microsoft.com/office/drawing/2014/main" id="{625F216E-B933-8BAD-C87F-F48A448C05F0}"/>
              </a:ext>
            </a:extLst>
          </p:cNvPr>
          <p:cNvGrpSpPr/>
          <p:nvPr/>
        </p:nvGrpSpPr>
        <p:grpSpPr>
          <a:xfrm>
            <a:off x="701211" y="2160000"/>
            <a:ext cx="1440000" cy="1728000"/>
            <a:chOff x="6301911" y="2124000"/>
            <a:chExt cx="1440000" cy="1728000"/>
          </a:xfrm>
        </p:grpSpPr>
        <p:sp>
          <p:nvSpPr>
            <p:cNvPr id="16" name="立方体 15">
              <a:extLst>
                <a:ext uri="{FF2B5EF4-FFF2-40B4-BE49-F238E27FC236}">
                  <a16:creationId xmlns:a16="http://schemas.microsoft.com/office/drawing/2014/main" id="{0C91B90A-B2D5-ED6A-DE72-F1B7005A3AD0}"/>
                </a:ext>
              </a:extLst>
            </p:cNvPr>
            <p:cNvSpPr/>
            <p:nvPr/>
          </p:nvSpPr>
          <p:spPr>
            <a:xfrm>
              <a:off x="6301911" y="3420000"/>
              <a:ext cx="144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200" dirty="0">
                  <a:solidFill>
                    <a:schemeClr val="bg1"/>
                  </a:solidFill>
                </a:rPr>
                <a:t>1 </a:t>
              </a:r>
              <a:r>
                <a:rPr lang="zh-CN" altLang="en-US" sz="1200" dirty="0">
                  <a:solidFill>
                    <a:schemeClr val="bg1"/>
                  </a:solidFill>
                </a:rPr>
                <a:t>物理层</a:t>
              </a:r>
            </a:p>
          </p:txBody>
        </p:sp>
        <p:sp>
          <p:nvSpPr>
            <p:cNvPr id="17" name="立方体 16">
              <a:extLst>
                <a:ext uri="{FF2B5EF4-FFF2-40B4-BE49-F238E27FC236}">
                  <a16:creationId xmlns:a16="http://schemas.microsoft.com/office/drawing/2014/main" id="{87D1E3EB-F680-5DEB-2F81-01BBCEDB061F}"/>
                </a:ext>
              </a:extLst>
            </p:cNvPr>
            <p:cNvSpPr/>
            <p:nvPr/>
          </p:nvSpPr>
          <p:spPr>
            <a:xfrm>
              <a:off x="6301911" y="3096000"/>
              <a:ext cx="144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200" dirty="0">
                  <a:solidFill>
                    <a:schemeClr val="bg1"/>
                  </a:solidFill>
                </a:rPr>
                <a:t>2 </a:t>
              </a:r>
              <a:r>
                <a:rPr lang="zh-CN" altLang="en-US" sz="1200" dirty="0">
                  <a:solidFill>
                    <a:schemeClr val="bg1"/>
                  </a:solidFill>
                </a:rPr>
                <a:t>数据链路层</a:t>
              </a:r>
            </a:p>
          </p:txBody>
        </p:sp>
        <p:sp>
          <p:nvSpPr>
            <p:cNvPr id="18" name="立方体 17">
              <a:extLst>
                <a:ext uri="{FF2B5EF4-FFF2-40B4-BE49-F238E27FC236}">
                  <a16:creationId xmlns:a16="http://schemas.microsoft.com/office/drawing/2014/main" id="{77C6C904-74B2-02BD-D3DD-ED3409B13D7C}"/>
                </a:ext>
              </a:extLst>
            </p:cNvPr>
            <p:cNvSpPr/>
            <p:nvPr/>
          </p:nvSpPr>
          <p:spPr>
            <a:xfrm>
              <a:off x="6301911" y="2772000"/>
              <a:ext cx="144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200" dirty="0">
                  <a:solidFill>
                    <a:schemeClr val="bg1"/>
                  </a:solidFill>
                </a:rPr>
                <a:t>3 </a:t>
              </a:r>
              <a:r>
                <a:rPr lang="zh-CN" altLang="en-US" sz="1200" dirty="0">
                  <a:solidFill>
                    <a:schemeClr val="bg1"/>
                  </a:solidFill>
                </a:rPr>
                <a:t>网络层</a:t>
              </a:r>
            </a:p>
          </p:txBody>
        </p:sp>
        <p:sp>
          <p:nvSpPr>
            <p:cNvPr id="19" name="立方体 18">
              <a:extLst>
                <a:ext uri="{FF2B5EF4-FFF2-40B4-BE49-F238E27FC236}">
                  <a16:creationId xmlns:a16="http://schemas.microsoft.com/office/drawing/2014/main" id="{1DA32AF8-8FEC-DC21-6A46-A09827DFB518}"/>
                </a:ext>
              </a:extLst>
            </p:cNvPr>
            <p:cNvSpPr/>
            <p:nvPr/>
          </p:nvSpPr>
          <p:spPr>
            <a:xfrm>
              <a:off x="6301911" y="2448000"/>
              <a:ext cx="144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200" dirty="0">
                  <a:solidFill>
                    <a:schemeClr val="bg1"/>
                  </a:solidFill>
                </a:rPr>
                <a:t>4 </a:t>
              </a:r>
              <a:r>
                <a:rPr lang="zh-CN" altLang="en-US" sz="1200" dirty="0">
                  <a:solidFill>
                    <a:schemeClr val="bg1"/>
                  </a:solidFill>
                </a:rPr>
                <a:t>运输层</a:t>
              </a:r>
            </a:p>
          </p:txBody>
        </p:sp>
        <p:sp>
          <p:nvSpPr>
            <p:cNvPr id="20" name="立方体 19">
              <a:extLst>
                <a:ext uri="{FF2B5EF4-FFF2-40B4-BE49-F238E27FC236}">
                  <a16:creationId xmlns:a16="http://schemas.microsoft.com/office/drawing/2014/main" id="{DE55B745-C2BA-FD91-1E2D-5BE67D300942}"/>
                </a:ext>
              </a:extLst>
            </p:cNvPr>
            <p:cNvSpPr/>
            <p:nvPr/>
          </p:nvSpPr>
          <p:spPr>
            <a:xfrm>
              <a:off x="6301911" y="2124000"/>
              <a:ext cx="144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200" dirty="0">
                  <a:solidFill>
                    <a:schemeClr val="bg1"/>
                  </a:solidFill>
                </a:rPr>
                <a:t>5 </a:t>
              </a:r>
              <a:r>
                <a:rPr lang="zh-CN" altLang="en-US" sz="1200" dirty="0">
                  <a:solidFill>
                    <a:schemeClr val="bg1"/>
                  </a:solidFill>
                </a:rPr>
                <a:t>应用层</a:t>
              </a:r>
            </a:p>
          </p:txBody>
        </p:sp>
      </p:grpSp>
    </p:spTree>
    <p:extLst>
      <p:ext uri="{BB962C8B-B14F-4D97-AF65-F5344CB8AC3E}">
        <p14:creationId xmlns:p14="http://schemas.microsoft.com/office/powerpoint/2010/main" val="2835976100"/>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线形标注 1 9"/>
          <p:cNvSpPr/>
          <p:nvPr/>
        </p:nvSpPr>
        <p:spPr>
          <a:xfrm>
            <a:off x="3238418" y="1435161"/>
            <a:ext cx="5079413" cy="2677123"/>
          </a:xfrm>
          <a:prstGeom prst="borderCallout1">
            <a:avLst>
              <a:gd name="adj1" fmla="val 48217"/>
              <a:gd name="adj2" fmla="val 189"/>
              <a:gd name="adj3" fmla="val 57438"/>
              <a:gd name="adj4" fmla="val -21279"/>
            </a:avLst>
          </a:prstGeom>
          <a:ln>
            <a:solidFill>
              <a:schemeClr val="tx1">
                <a:lumMod val="50000"/>
                <a:lumOff val="50000"/>
              </a:schemeClr>
            </a:solidFill>
          </a:ln>
        </p:spPr>
        <p:style>
          <a:lnRef idx="2">
            <a:schemeClr val="accent6"/>
          </a:lnRef>
          <a:fillRef idx="1">
            <a:schemeClr val="lt1"/>
          </a:fillRef>
          <a:effectRef idx="0">
            <a:schemeClr val="accent6"/>
          </a:effectRef>
          <a:fontRef idx="minor">
            <a:schemeClr val="dk1"/>
          </a:fontRef>
        </p:style>
        <p:txBody>
          <a:bodyPr rtlCol="0" anchor="t" anchorCtr="0"/>
          <a:lstStyle/>
          <a:p>
            <a:pPr>
              <a:spcAft>
                <a:spcPts val="600"/>
              </a:spcAft>
            </a:pPr>
            <a:r>
              <a:rPr lang="en-US" altLang="zh-CN" sz="1600" dirty="0"/>
              <a:t>Network Layer</a:t>
            </a:r>
            <a:r>
              <a:rPr lang="zh-CN" altLang="en-US" sz="1600" dirty="0"/>
              <a:t>；也叫网际层</a:t>
            </a:r>
            <a:endParaRPr lang="en-US" altLang="zh-CN" sz="1600" dirty="0"/>
          </a:p>
          <a:p>
            <a:pPr>
              <a:spcAft>
                <a:spcPts val="600"/>
              </a:spcAft>
            </a:pPr>
            <a:r>
              <a:rPr lang="zh-CN" altLang="en-US" sz="1600" dirty="0"/>
              <a:t>使用</a:t>
            </a:r>
            <a:r>
              <a:rPr lang="en-US" altLang="zh-CN" sz="1600" dirty="0"/>
              <a:t>IP </a:t>
            </a:r>
            <a:r>
              <a:rPr lang="zh-CN" altLang="en-US" sz="1600" dirty="0"/>
              <a:t>协议</a:t>
            </a:r>
            <a:r>
              <a:rPr lang="en-US" altLang="zh-CN" sz="1600" dirty="0"/>
              <a:t>(Internet Protocol)</a:t>
            </a:r>
            <a:r>
              <a:rPr lang="zh-CN" altLang="en-US" sz="1600" dirty="0"/>
              <a:t>和其它协议为分组交换网上的不同主机提供通信服务</a:t>
            </a:r>
            <a:endParaRPr lang="en-US" altLang="zh-CN" sz="1600" dirty="0"/>
          </a:p>
          <a:p>
            <a:pPr>
              <a:spcAft>
                <a:spcPts val="600"/>
              </a:spcAft>
            </a:pPr>
            <a:r>
              <a:rPr lang="en-US" altLang="zh-CN" sz="1600" dirty="0"/>
              <a:t>IP </a:t>
            </a:r>
            <a:r>
              <a:rPr lang="zh-CN" altLang="en-US" sz="1600" dirty="0"/>
              <a:t>协议分组也叫做 </a:t>
            </a:r>
            <a:r>
              <a:rPr lang="en-US" altLang="zh-CN" sz="1600" dirty="0"/>
              <a:t>IP </a:t>
            </a:r>
            <a:r>
              <a:rPr lang="zh-CN" altLang="en-US" sz="1600" dirty="0"/>
              <a:t>数据报，或简称为数据报</a:t>
            </a:r>
          </a:p>
          <a:p>
            <a:pPr>
              <a:spcAft>
                <a:spcPts val="600"/>
              </a:spcAft>
            </a:pPr>
            <a:r>
              <a:rPr lang="zh-CN" altLang="en-US" sz="1600" dirty="0"/>
              <a:t>两个具体任务：</a:t>
            </a:r>
            <a:endParaRPr lang="en-US" altLang="zh-CN" sz="1600" dirty="0"/>
          </a:p>
          <a:p>
            <a:pPr marL="360000" lvl="1" indent="-180000">
              <a:spcAft>
                <a:spcPts val="600"/>
              </a:spcAft>
              <a:buFont typeface="Arial" panose="020B0604020202020204" pitchFamily="34" charset="0"/>
              <a:buChar char="•"/>
            </a:pPr>
            <a:r>
              <a:rPr lang="zh-CN" altLang="en-US" sz="1400" dirty="0"/>
              <a:t>路由选择：通过一定的算法，在互联网中的每一个路由器上，生成一个用来转发分组的转发表</a:t>
            </a:r>
            <a:endParaRPr lang="en-US" altLang="zh-CN" sz="1400" dirty="0"/>
          </a:p>
          <a:p>
            <a:pPr marL="360000" lvl="1" indent="-180000">
              <a:spcAft>
                <a:spcPts val="600"/>
              </a:spcAft>
              <a:buFont typeface="Arial" panose="020B0604020202020204" pitchFamily="34" charset="0"/>
              <a:buChar char="•"/>
            </a:pPr>
            <a:r>
              <a:rPr lang="zh-CN" altLang="en-US" sz="1400" dirty="0"/>
              <a:t>转发：每一个路由器在接收到一个分组时，要依据转发表中指明的路径把分组转发到下一个路由器</a:t>
            </a:r>
            <a:endParaRPr lang="en-US" altLang="zh-CN" sz="1600" dirty="0"/>
          </a:p>
        </p:txBody>
      </p:sp>
      <p:sp>
        <p:nvSpPr>
          <p:cNvPr id="3" name="标题 2">
            <a:extLst>
              <a:ext uri="{FF2B5EF4-FFF2-40B4-BE49-F238E27FC236}">
                <a16:creationId xmlns:a16="http://schemas.microsoft.com/office/drawing/2014/main" id="{E6DF5E1C-6667-8EE7-0D57-488A13A37F3F}"/>
              </a:ext>
            </a:extLst>
          </p:cNvPr>
          <p:cNvSpPr>
            <a:spLocks noGrp="1"/>
          </p:cNvSpPr>
          <p:nvPr>
            <p:ph type="title"/>
          </p:nvPr>
        </p:nvSpPr>
        <p:spPr>
          <a:xfrm>
            <a:off x="612000" y="144000"/>
            <a:ext cx="7920000" cy="341632"/>
          </a:xfrm>
        </p:spPr>
        <p:txBody>
          <a:bodyPr/>
          <a:lstStyle/>
          <a:p>
            <a:r>
              <a:rPr lang="zh-CN" altLang="en-US" dirty="0"/>
              <a:t>各层的主要功能</a:t>
            </a:r>
          </a:p>
        </p:txBody>
      </p:sp>
      <p:grpSp>
        <p:nvGrpSpPr>
          <p:cNvPr id="27" name="组合 26">
            <a:extLst>
              <a:ext uri="{FF2B5EF4-FFF2-40B4-BE49-F238E27FC236}">
                <a16:creationId xmlns:a16="http://schemas.microsoft.com/office/drawing/2014/main" id="{5DAA2CCA-91A2-F988-A276-F3A9A75D3FD4}"/>
              </a:ext>
            </a:extLst>
          </p:cNvPr>
          <p:cNvGrpSpPr/>
          <p:nvPr/>
        </p:nvGrpSpPr>
        <p:grpSpPr>
          <a:xfrm>
            <a:off x="701211" y="2160000"/>
            <a:ext cx="1440000" cy="1728000"/>
            <a:chOff x="6301911" y="2124000"/>
            <a:chExt cx="1440000" cy="1728000"/>
          </a:xfrm>
        </p:grpSpPr>
        <p:sp>
          <p:nvSpPr>
            <p:cNvPr id="28" name="立方体 27">
              <a:extLst>
                <a:ext uri="{FF2B5EF4-FFF2-40B4-BE49-F238E27FC236}">
                  <a16:creationId xmlns:a16="http://schemas.microsoft.com/office/drawing/2014/main" id="{13301005-8F62-5268-BF49-50F831CEB19D}"/>
                </a:ext>
              </a:extLst>
            </p:cNvPr>
            <p:cNvSpPr/>
            <p:nvPr/>
          </p:nvSpPr>
          <p:spPr>
            <a:xfrm>
              <a:off x="6301911" y="3420000"/>
              <a:ext cx="144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200" dirty="0">
                  <a:solidFill>
                    <a:schemeClr val="bg1"/>
                  </a:solidFill>
                </a:rPr>
                <a:t>1 </a:t>
              </a:r>
              <a:r>
                <a:rPr lang="zh-CN" altLang="en-US" sz="1200" dirty="0">
                  <a:solidFill>
                    <a:schemeClr val="bg1"/>
                  </a:solidFill>
                </a:rPr>
                <a:t>物理层</a:t>
              </a:r>
            </a:p>
          </p:txBody>
        </p:sp>
        <p:sp>
          <p:nvSpPr>
            <p:cNvPr id="29" name="立方体 28">
              <a:extLst>
                <a:ext uri="{FF2B5EF4-FFF2-40B4-BE49-F238E27FC236}">
                  <a16:creationId xmlns:a16="http://schemas.microsoft.com/office/drawing/2014/main" id="{41DF93BC-8871-8228-E6B6-AF0CC89DE5AA}"/>
                </a:ext>
              </a:extLst>
            </p:cNvPr>
            <p:cNvSpPr/>
            <p:nvPr/>
          </p:nvSpPr>
          <p:spPr>
            <a:xfrm>
              <a:off x="6301911" y="3096000"/>
              <a:ext cx="144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200" dirty="0">
                  <a:solidFill>
                    <a:schemeClr val="bg1"/>
                  </a:solidFill>
                </a:rPr>
                <a:t>2 </a:t>
              </a:r>
              <a:r>
                <a:rPr lang="zh-CN" altLang="en-US" sz="1200" dirty="0">
                  <a:solidFill>
                    <a:schemeClr val="bg1"/>
                  </a:solidFill>
                </a:rPr>
                <a:t>数据链路层</a:t>
              </a:r>
            </a:p>
          </p:txBody>
        </p:sp>
        <p:sp>
          <p:nvSpPr>
            <p:cNvPr id="30" name="立方体 29">
              <a:extLst>
                <a:ext uri="{FF2B5EF4-FFF2-40B4-BE49-F238E27FC236}">
                  <a16:creationId xmlns:a16="http://schemas.microsoft.com/office/drawing/2014/main" id="{4EE84FC4-FCC4-47C9-E426-CF951F6F730B}"/>
                </a:ext>
              </a:extLst>
            </p:cNvPr>
            <p:cNvSpPr/>
            <p:nvPr/>
          </p:nvSpPr>
          <p:spPr>
            <a:xfrm>
              <a:off x="6301911" y="2772000"/>
              <a:ext cx="144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200" dirty="0">
                  <a:solidFill>
                    <a:schemeClr val="bg1"/>
                  </a:solidFill>
                </a:rPr>
                <a:t>3 </a:t>
              </a:r>
              <a:r>
                <a:rPr lang="zh-CN" altLang="en-US" sz="1200" dirty="0">
                  <a:solidFill>
                    <a:schemeClr val="bg1"/>
                  </a:solidFill>
                </a:rPr>
                <a:t>网络层</a:t>
              </a:r>
            </a:p>
          </p:txBody>
        </p:sp>
        <p:sp>
          <p:nvSpPr>
            <p:cNvPr id="31" name="立方体 30">
              <a:extLst>
                <a:ext uri="{FF2B5EF4-FFF2-40B4-BE49-F238E27FC236}">
                  <a16:creationId xmlns:a16="http://schemas.microsoft.com/office/drawing/2014/main" id="{824AC565-FF25-7EC6-5599-497A76203FF6}"/>
                </a:ext>
              </a:extLst>
            </p:cNvPr>
            <p:cNvSpPr/>
            <p:nvPr/>
          </p:nvSpPr>
          <p:spPr>
            <a:xfrm>
              <a:off x="6301911" y="2448000"/>
              <a:ext cx="144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200" dirty="0">
                  <a:solidFill>
                    <a:schemeClr val="bg1"/>
                  </a:solidFill>
                </a:rPr>
                <a:t>4 </a:t>
              </a:r>
              <a:r>
                <a:rPr lang="zh-CN" altLang="en-US" sz="1200" dirty="0">
                  <a:solidFill>
                    <a:schemeClr val="bg1"/>
                  </a:solidFill>
                </a:rPr>
                <a:t>运输层</a:t>
              </a:r>
            </a:p>
          </p:txBody>
        </p:sp>
        <p:sp>
          <p:nvSpPr>
            <p:cNvPr id="32" name="立方体 31">
              <a:extLst>
                <a:ext uri="{FF2B5EF4-FFF2-40B4-BE49-F238E27FC236}">
                  <a16:creationId xmlns:a16="http://schemas.microsoft.com/office/drawing/2014/main" id="{F64CDD28-3468-56AB-9C03-E8B8E0A7BF99}"/>
                </a:ext>
              </a:extLst>
            </p:cNvPr>
            <p:cNvSpPr/>
            <p:nvPr/>
          </p:nvSpPr>
          <p:spPr>
            <a:xfrm>
              <a:off x="6301911" y="2124000"/>
              <a:ext cx="144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200" dirty="0">
                  <a:solidFill>
                    <a:schemeClr val="bg1"/>
                  </a:solidFill>
                </a:rPr>
                <a:t>5 </a:t>
              </a:r>
              <a:r>
                <a:rPr lang="zh-CN" altLang="en-US" sz="1200" dirty="0">
                  <a:solidFill>
                    <a:schemeClr val="bg1"/>
                  </a:solidFill>
                </a:rPr>
                <a:t>应用层</a:t>
              </a:r>
            </a:p>
          </p:txBody>
        </p:sp>
      </p:grpSp>
    </p:spTree>
    <p:extLst>
      <p:ext uri="{BB962C8B-B14F-4D97-AF65-F5344CB8AC3E}">
        <p14:creationId xmlns:p14="http://schemas.microsoft.com/office/powerpoint/2010/main" val="1170071884"/>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线形标注 1 9"/>
          <p:cNvSpPr/>
          <p:nvPr/>
        </p:nvSpPr>
        <p:spPr>
          <a:xfrm>
            <a:off x="3238418" y="1435161"/>
            <a:ext cx="5079413" cy="2677123"/>
          </a:xfrm>
          <a:prstGeom prst="borderCallout1">
            <a:avLst>
              <a:gd name="adj1" fmla="val 48217"/>
              <a:gd name="adj2" fmla="val 189"/>
              <a:gd name="adj3" fmla="val 70572"/>
              <a:gd name="adj4" fmla="val -21567"/>
            </a:avLst>
          </a:prstGeom>
          <a:ln>
            <a:solidFill>
              <a:schemeClr val="tx1">
                <a:lumMod val="50000"/>
                <a:lumOff val="50000"/>
              </a:schemeClr>
            </a:solidFill>
          </a:ln>
        </p:spPr>
        <p:style>
          <a:lnRef idx="2">
            <a:schemeClr val="accent6"/>
          </a:lnRef>
          <a:fillRef idx="1">
            <a:schemeClr val="lt1"/>
          </a:fillRef>
          <a:effectRef idx="0">
            <a:schemeClr val="accent6"/>
          </a:effectRef>
          <a:fontRef idx="minor">
            <a:schemeClr val="dk1"/>
          </a:fontRef>
        </p:style>
        <p:txBody>
          <a:bodyPr rtlCol="0" anchor="t" anchorCtr="0"/>
          <a:lstStyle/>
          <a:p>
            <a:pPr>
              <a:spcAft>
                <a:spcPts val="600"/>
              </a:spcAft>
            </a:pPr>
            <a:r>
              <a:rPr lang="en-US" altLang="zh-CN" sz="1600" dirty="0"/>
              <a:t>Data Link Layer</a:t>
            </a:r>
            <a:r>
              <a:rPr lang="zh-CN" altLang="en-US" sz="1600" dirty="0"/>
              <a:t>；简称为链路层</a:t>
            </a:r>
            <a:endParaRPr lang="en-US" altLang="zh-CN" sz="1600" dirty="0"/>
          </a:p>
          <a:p>
            <a:pPr>
              <a:spcAft>
                <a:spcPts val="600"/>
              </a:spcAft>
            </a:pPr>
            <a:r>
              <a:rPr lang="zh-CN" altLang="en-US" sz="1600" dirty="0"/>
              <a:t>任务：实现两个相邻节点之间的可靠通信</a:t>
            </a:r>
            <a:endParaRPr lang="en-US" altLang="zh-CN" sz="1600" dirty="0"/>
          </a:p>
          <a:p>
            <a:pPr>
              <a:spcAft>
                <a:spcPts val="600"/>
              </a:spcAft>
            </a:pPr>
            <a:r>
              <a:rPr lang="zh-CN" altLang="en-US" sz="1600" dirty="0"/>
              <a:t>在两个相邻节点间的链路上传送帧 </a:t>
            </a:r>
            <a:r>
              <a:rPr lang="en-US" altLang="zh-CN" sz="1600" dirty="0"/>
              <a:t>frame</a:t>
            </a:r>
          </a:p>
          <a:p>
            <a:pPr>
              <a:spcAft>
                <a:spcPts val="600"/>
              </a:spcAft>
            </a:pPr>
            <a:r>
              <a:rPr lang="zh-CN" altLang="en-US" sz="1600" dirty="0"/>
              <a:t>如发现有差错，就简单地丢弃出错帧</a:t>
            </a:r>
            <a:endParaRPr lang="en-US" altLang="zh-CN" sz="1600" dirty="0"/>
          </a:p>
          <a:p>
            <a:pPr>
              <a:spcAft>
                <a:spcPts val="600"/>
              </a:spcAft>
            </a:pPr>
            <a:r>
              <a:rPr lang="zh-CN" altLang="en-US" sz="1600" dirty="0"/>
              <a:t>如果需要改正出现的差错，就要采用可靠传输协议来纠正出现的差错。这种方法会使数据链路层协议复杂</a:t>
            </a:r>
            <a:endParaRPr lang="en-US" altLang="zh-CN" sz="1600" dirty="0"/>
          </a:p>
          <a:p>
            <a:pPr>
              <a:spcAft>
                <a:spcPts val="600"/>
              </a:spcAft>
            </a:pPr>
            <a:endParaRPr lang="zh-CN" altLang="en-US" sz="1600" dirty="0"/>
          </a:p>
        </p:txBody>
      </p:sp>
      <p:sp>
        <p:nvSpPr>
          <p:cNvPr id="3" name="标题 2">
            <a:extLst>
              <a:ext uri="{FF2B5EF4-FFF2-40B4-BE49-F238E27FC236}">
                <a16:creationId xmlns:a16="http://schemas.microsoft.com/office/drawing/2014/main" id="{228325AE-42C8-89A8-2CF7-4104F6C526A9}"/>
              </a:ext>
            </a:extLst>
          </p:cNvPr>
          <p:cNvSpPr>
            <a:spLocks noGrp="1"/>
          </p:cNvSpPr>
          <p:nvPr>
            <p:ph type="title"/>
          </p:nvPr>
        </p:nvSpPr>
        <p:spPr>
          <a:xfrm>
            <a:off x="612000" y="144000"/>
            <a:ext cx="7920000" cy="341632"/>
          </a:xfrm>
        </p:spPr>
        <p:txBody>
          <a:bodyPr/>
          <a:lstStyle/>
          <a:p>
            <a:r>
              <a:rPr lang="zh-CN" altLang="en-US" dirty="0"/>
              <a:t>各层的主要功能</a:t>
            </a:r>
          </a:p>
        </p:txBody>
      </p:sp>
      <p:grpSp>
        <p:nvGrpSpPr>
          <p:cNvPr id="15" name="组合 14">
            <a:extLst>
              <a:ext uri="{FF2B5EF4-FFF2-40B4-BE49-F238E27FC236}">
                <a16:creationId xmlns:a16="http://schemas.microsoft.com/office/drawing/2014/main" id="{CDAE727E-77F8-23E3-A474-DF77871C1ADF}"/>
              </a:ext>
            </a:extLst>
          </p:cNvPr>
          <p:cNvGrpSpPr/>
          <p:nvPr/>
        </p:nvGrpSpPr>
        <p:grpSpPr>
          <a:xfrm>
            <a:off x="701211" y="2160000"/>
            <a:ext cx="1440000" cy="1728000"/>
            <a:chOff x="6301911" y="2124000"/>
            <a:chExt cx="1440000" cy="1728000"/>
          </a:xfrm>
        </p:grpSpPr>
        <p:sp>
          <p:nvSpPr>
            <p:cNvPr id="16" name="立方体 15">
              <a:extLst>
                <a:ext uri="{FF2B5EF4-FFF2-40B4-BE49-F238E27FC236}">
                  <a16:creationId xmlns:a16="http://schemas.microsoft.com/office/drawing/2014/main" id="{696BF9C3-F24B-C8B5-7528-D385E3E12E0F}"/>
                </a:ext>
              </a:extLst>
            </p:cNvPr>
            <p:cNvSpPr/>
            <p:nvPr/>
          </p:nvSpPr>
          <p:spPr>
            <a:xfrm>
              <a:off x="6301911" y="3420000"/>
              <a:ext cx="144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200" dirty="0">
                  <a:solidFill>
                    <a:schemeClr val="bg1"/>
                  </a:solidFill>
                </a:rPr>
                <a:t>1 </a:t>
              </a:r>
              <a:r>
                <a:rPr lang="zh-CN" altLang="en-US" sz="1200" dirty="0">
                  <a:solidFill>
                    <a:schemeClr val="bg1"/>
                  </a:solidFill>
                </a:rPr>
                <a:t>物理层</a:t>
              </a:r>
            </a:p>
          </p:txBody>
        </p:sp>
        <p:sp>
          <p:nvSpPr>
            <p:cNvPr id="17" name="立方体 16">
              <a:extLst>
                <a:ext uri="{FF2B5EF4-FFF2-40B4-BE49-F238E27FC236}">
                  <a16:creationId xmlns:a16="http://schemas.microsoft.com/office/drawing/2014/main" id="{9770E6B9-6275-AD58-9AFB-85C38296A392}"/>
                </a:ext>
              </a:extLst>
            </p:cNvPr>
            <p:cNvSpPr/>
            <p:nvPr/>
          </p:nvSpPr>
          <p:spPr>
            <a:xfrm>
              <a:off x="6301911" y="3096000"/>
              <a:ext cx="144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200" dirty="0">
                  <a:solidFill>
                    <a:schemeClr val="bg1"/>
                  </a:solidFill>
                </a:rPr>
                <a:t>2 </a:t>
              </a:r>
              <a:r>
                <a:rPr lang="zh-CN" altLang="en-US" sz="1200" dirty="0">
                  <a:solidFill>
                    <a:schemeClr val="bg1"/>
                  </a:solidFill>
                </a:rPr>
                <a:t>数据链路层</a:t>
              </a:r>
            </a:p>
          </p:txBody>
        </p:sp>
        <p:sp>
          <p:nvSpPr>
            <p:cNvPr id="18" name="立方体 17">
              <a:extLst>
                <a:ext uri="{FF2B5EF4-FFF2-40B4-BE49-F238E27FC236}">
                  <a16:creationId xmlns:a16="http://schemas.microsoft.com/office/drawing/2014/main" id="{709FC36E-27F5-BD5D-03D4-D5A43B8BE5CA}"/>
                </a:ext>
              </a:extLst>
            </p:cNvPr>
            <p:cNvSpPr/>
            <p:nvPr/>
          </p:nvSpPr>
          <p:spPr>
            <a:xfrm>
              <a:off x="6301911" y="2772000"/>
              <a:ext cx="144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200" dirty="0">
                  <a:solidFill>
                    <a:schemeClr val="bg1"/>
                  </a:solidFill>
                </a:rPr>
                <a:t>3 </a:t>
              </a:r>
              <a:r>
                <a:rPr lang="zh-CN" altLang="en-US" sz="1200" dirty="0">
                  <a:solidFill>
                    <a:schemeClr val="bg1"/>
                  </a:solidFill>
                </a:rPr>
                <a:t>网络层</a:t>
              </a:r>
            </a:p>
          </p:txBody>
        </p:sp>
        <p:sp>
          <p:nvSpPr>
            <p:cNvPr id="19" name="立方体 18">
              <a:extLst>
                <a:ext uri="{FF2B5EF4-FFF2-40B4-BE49-F238E27FC236}">
                  <a16:creationId xmlns:a16="http://schemas.microsoft.com/office/drawing/2014/main" id="{68780D69-A377-329D-D0BE-E55C9B9404DA}"/>
                </a:ext>
              </a:extLst>
            </p:cNvPr>
            <p:cNvSpPr/>
            <p:nvPr/>
          </p:nvSpPr>
          <p:spPr>
            <a:xfrm>
              <a:off x="6301911" y="2448000"/>
              <a:ext cx="144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200" dirty="0">
                  <a:solidFill>
                    <a:schemeClr val="bg1"/>
                  </a:solidFill>
                </a:rPr>
                <a:t>4 </a:t>
              </a:r>
              <a:r>
                <a:rPr lang="zh-CN" altLang="en-US" sz="1200" dirty="0">
                  <a:solidFill>
                    <a:schemeClr val="bg1"/>
                  </a:solidFill>
                </a:rPr>
                <a:t>运输层</a:t>
              </a:r>
            </a:p>
          </p:txBody>
        </p:sp>
        <p:sp>
          <p:nvSpPr>
            <p:cNvPr id="20" name="立方体 19">
              <a:extLst>
                <a:ext uri="{FF2B5EF4-FFF2-40B4-BE49-F238E27FC236}">
                  <a16:creationId xmlns:a16="http://schemas.microsoft.com/office/drawing/2014/main" id="{CA5FC4FC-8C09-FBD8-FED0-AC6447D2231D}"/>
                </a:ext>
              </a:extLst>
            </p:cNvPr>
            <p:cNvSpPr/>
            <p:nvPr/>
          </p:nvSpPr>
          <p:spPr>
            <a:xfrm>
              <a:off x="6301911" y="2124000"/>
              <a:ext cx="144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200" dirty="0">
                  <a:solidFill>
                    <a:schemeClr val="bg1"/>
                  </a:solidFill>
                </a:rPr>
                <a:t>5 </a:t>
              </a:r>
              <a:r>
                <a:rPr lang="zh-CN" altLang="en-US" sz="1200" dirty="0">
                  <a:solidFill>
                    <a:schemeClr val="bg1"/>
                  </a:solidFill>
                </a:rPr>
                <a:t>应用层</a:t>
              </a:r>
            </a:p>
          </p:txBody>
        </p:sp>
      </p:grpSp>
    </p:spTree>
    <p:extLst>
      <p:ext uri="{BB962C8B-B14F-4D97-AF65-F5344CB8AC3E}">
        <p14:creationId xmlns:p14="http://schemas.microsoft.com/office/powerpoint/2010/main" val="2826336392"/>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线形标注 1 9"/>
          <p:cNvSpPr/>
          <p:nvPr/>
        </p:nvSpPr>
        <p:spPr>
          <a:xfrm>
            <a:off x="3238418" y="1435161"/>
            <a:ext cx="5079413" cy="2677123"/>
          </a:xfrm>
          <a:prstGeom prst="borderCallout1">
            <a:avLst>
              <a:gd name="adj1" fmla="val 48217"/>
              <a:gd name="adj2" fmla="val 189"/>
              <a:gd name="adj3" fmla="val 83204"/>
              <a:gd name="adj4" fmla="val -21386"/>
            </a:avLst>
          </a:prstGeom>
          <a:ln>
            <a:solidFill>
              <a:schemeClr val="tx1">
                <a:lumMod val="50000"/>
                <a:lumOff val="50000"/>
              </a:schemeClr>
            </a:solidFill>
          </a:ln>
        </p:spPr>
        <p:style>
          <a:lnRef idx="2">
            <a:schemeClr val="accent6"/>
          </a:lnRef>
          <a:fillRef idx="1">
            <a:schemeClr val="lt1"/>
          </a:fillRef>
          <a:effectRef idx="0">
            <a:schemeClr val="accent6"/>
          </a:effectRef>
          <a:fontRef idx="minor">
            <a:schemeClr val="dk1"/>
          </a:fontRef>
        </p:style>
        <p:txBody>
          <a:bodyPr rtlCol="0" anchor="t" anchorCtr="0"/>
          <a:lstStyle/>
          <a:p>
            <a:pPr>
              <a:spcAft>
                <a:spcPts val="600"/>
              </a:spcAft>
            </a:pPr>
            <a:r>
              <a:rPr lang="en-US" altLang="zh-CN" sz="1600" dirty="0"/>
              <a:t>Physical Layer</a:t>
            </a:r>
          </a:p>
          <a:p>
            <a:pPr>
              <a:spcAft>
                <a:spcPts val="600"/>
              </a:spcAft>
            </a:pPr>
            <a:r>
              <a:rPr lang="zh-CN" altLang="en-US" sz="1600" dirty="0"/>
              <a:t>任务：实现比特 </a:t>
            </a:r>
            <a:r>
              <a:rPr lang="en-US" altLang="zh-CN" sz="1600" dirty="0"/>
              <a:t>0</a:t>
            </a:r>
            <a:r>
              <a:rPr lang="zh-CN" altLang="en-US" sz="1600" dirty="0"/>
              <a:t>、</a:t>
            </a:r>
            <a:r>
              <a:rPr lang="en-US" altLang="zh-CN" sz="1600" dirty="0"/>
              <a:t>1</a:t>
            </a:r>
            <a:r>
              <a:rPr lang="zh-CN" altLang="en-US" sz="1600" dirty="0"/>
              <a:t>的传输</a:t>
            </a:r>
            <a:endParaRPr lang="en-US" altLang="zh-CN" sz="1600" dirty="0"/>
          </a:p>
          <a:p>
            <a:pPr>
              <a:spcAft>
                <a:spcPts val="600"/>
              </a:spcAft>
            </a:pPr>
            <a:r>
              <a:rPr lang="zh-CN" altLang="en-US" sz="1600" dirty="0"/>
              <a:t>确定连接电缆的插头应当有多少根引脚，以及各引脚应如何连接</a:t>
            </a:r>
            <a:endParaRPr lang="en-US" altLang="zh-CN" sz="1600" dirty="0"/>
          </a:p>
          <a:p>
            <a:pPr>
              <a:spcAft>
                <a:spcPts val="600"/>
              </a:spcAft>
            </a:pPr>
            <a:r>
              <a:rPr lang="zh-CN" altLang="en-US" sz="1600" dirty="0"/>
              <a:t>注意：传递信息所利用的一些物理媒体，如双绞线、同轴电缆、光缆、无线信道等，并不在物理层协议之内，而是在物理层协议的下面</a:t>
            </a:r>
          </a:p>
        </p:txBody>
      </p:sp>
      <p:sp>
        <p:nvSpPr>
          <p:cNvPr id="3" name="标题 2">
            <a:extLst>
              <a:ext uri="{FF2B5EF4-FFF2-40B4-BE49-F238E27FC236}">
                <a16:creationId xmlns:a16="http://schemas.microsoft.com/office/drawing/2014/main" id="{4C8FA3DB-1839-F4BA-5B01-6A9D9E4D90AF}"/>
              </a:ext>
            </a:extLst>
          </p:cNvPr>
          <p:cNvSpPr>
            <a:spLocks noGrp="1"/>
          </p:cNvSpPr>
          <p:nvPr>
            <p:ph type="title"/>
          </p:nvPr>
        </p:nvSpPr>
        <p:spPr>
          <a:xfrm>
            <a:off x="612000" y="144000"/>
            <a:ext cx="7920000" cy="341632"/>
          </a:xfrm>
        </p:spPr>
        <p:txBody>
          <a:bodyPr/>
          <a:lstStyle/>
          <a:p>
            <a:r>
              <a:rPr lang="zh-CN" altLang="en-US" dirty="0"/>
              <a:t>各层的主要功能</a:t>
            </a:r>
          </a:p>
        </p:txBody>
      </p:sp>
      <p:grpSp>
        <p:nvGrpSpPr>
          <p:cNvPr id="16" name="组合 15">
            <a:extLst>
              <a:ext uri="{FF2B5EF4-FFF2-40B4-BE49-F238E27FC236}">
                <a16:creationId xmlns:a16="http://schemas.microsoft.com/office/drawing/2014/main" id="{B5513945-7FE5-8F98-CDF6-1F40290A9EE0}"/>
              </a:ext>
            </a:extLst>
          </p:cNvPr>
          <p:cNvGrpSpPr/>
          <p:nvPr/>
        </p:nvGrpSpPr>
        <p:grpSpPr>
          <a:xfrm>
            <a:off x="701211" y="2160000"/>
            <a:ext cx="1440000" cy="1728000"/>
            <a:chOff x="6301911" y="2124000"/>
            <a:chExt cx="1440000" cy="1728000"/>
          </a:xfrm>
        </p:grpSpPr>
        <p:sp>
          <p:nvSpPr>
            <p:cNvPr id="17" name="立方体 16">
              <a:extLst>
                <a:ext uri="{FF2B5EF4-FFF2-40B4-BE49-F238E27FC236}">
                  <a16:creationId xmlns:a16="http://schemas.microsoft.com/office/drawing/2014/main" id="{8CD29117-5E7C-4D5A-FF3A-6D8364BACEF9}"/>
                </a:ext>
              </a:extLst>
            </p:cNvPr>
            <p:cNvSpPr/>
            <p:nvPr/>
          </p:nvSpPr>
          <p:spPr>
            <a:xfrm>
              <a:off x="6301911" y="3420000"/>
              <a:ext cx="144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200" dirty="0">
                  <a:solidFill>
                    <a:schemeClr val="bg1"/>
                  </a:solidFill>
                </a:rPr>
                <a:t>1 </a:t>
              </a:r>
              <a:r>
                <a:rPr lang="zh-CN" altLang="en-US" sz="1200" dirty="0">
                  <a:solidFill>
                    <a:schemeClr val="bg1"/>
                  </a:solidFill>
                </a:rPr>
                <a:t>物理层</a:t>
              </a:r>
            </a:p>
          </p:txBody>
        </p:sp>
        <p:sp>
          <p:nvSpPr>
            <p:cNvPr id="18" name="立方体 17">
              <a:extLst>
                <a:ext uri="{FF2B5EF4-FFF2-40B4-BE49-F238E27FC236}">
                  <a16:creationId xmlns:a16="http://schemas.microsoft.com/office/drawing/2014/main" id="{6EB3D805-A946-CC54-4BF0-F31D04DFAB9D}"/>
                </a:ext>
              </a:extLst>
            </p:cNvPr>
            <p:cNvSpPr/>
            <p:nvPr/>
          </p:nvSpPr>
          <p:spPr>
            <a:xfrm>
              <a:off x="6301911" y="3096000"/>
              <a:ext cx="144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200" dirty="0">
                  <a:solidFill>
                    <a:schemeClr val="bg1"/>
                  </a:solidFill>
                </a:rPr>
                <a:t>2 </a:t>
              </a:r>
              <a:r>
                <a:rPr lang="zh-CN" altLang="en-US" sz="1200" dirty="0">
                  <a:solidFill>
                    <a:schemeClr val="bg1"/>
                  </a:solidFill>
                </a:rPr>
                <a:t>数据链路层</a:t>
              </a:r>
            </a:p>
          </p:txBody>
        </p:sp>
        <p:sp>
          <p:nvSpPr>
            <p:cNvPr id="19" name="立方体 18">
              <a:extLst>
                <a:ext uri="{FF2B5EF4-FFF2-40B4-BE49-F238E27FC236}">
                  <a16:creationId xmlns:a16="http://schemas.microsoft.com/office/drawing/2014/main" id="{AAF4DF67-CA03-9982-43B7-D90E6F65C61A}"/>
                </a:ext>
              </a:extLst>
            </p:cNvPr>
            <p:cNvSpPr/>
            <p:nvPr/>
          </p:nvSpPr>
          <p:spPr>
            <a:xfrm>
              <a:off x="6301911" y="2772000"/>
              <a:ext cx="144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200" dirty="0">
                  <a:solidFill>
                    <a:schemeClr val="bg1"/>
                  </a:solidFill>
                </a:rPr>
                <a:t>3 </a:t>
              </a:r>
              <a:r>
                <a:rPr lang="zh-CN" altLang="en-US" sz="1200" dirty="0">
                  <a:solidFill>
                    <a:schemeClr val="bg1"/>
                  </a:solidFill>
                </a:rPr>
                <a:t>网络层</a:t>
              </a:r>
            </a:p>
          </p:txBody>
        </p:sp>
        <p:sp>
          <p:nvSpPr>
            <p:cNvPr id="20" name="立方体 19">
              <a:extLst>
                <a:ext uri="{FF2B5EF4-FFF2-40B4-BE49-F238E27FC236}">
                  <a16:creationId xmlns:a16="http://schemas.microsoft.com/office/drawing/2014/main" id="{1CE3EEC3-FAC6-4225-CD84-05D27326A045}"/>
                </a:ext>
              </a:extLst>
            </p:cNvPr>
            <p:cNvSpPr/>
            <p:nvPr/>
          </p:nvSpPr>
          <p:spPr>
            <a:xfrm>
              <a:off x="6301911" y="2448000"/>
              <a:ext cx="144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200" dirty="0">
                  <a:solidFill>
                    <a:schemeClr val="bg1"/>
                  </a:solidFill>
                </a:rPr>
                <a:t>4 </a:t>
              </a:r>
              <a:r>
                <a:rPr lang="zh-CN" altLang="en-US" sz="1200" dirty="0">
                  <a:solidFill>
                    <a:schemeClr val="bg1"/>
                  </a:solidFill>
                </a:rPr>
                <a:t>运输层</a:t>
              </a:r>
            </a:p>
          </p:txBody>
        </p:sp>
        <p:sp>
          <p:nvSpPr>
            <p:cNvPr id="21" name="立方体 20">
              <a:extLst>
                <a:ext uri="{FF2B5EF4-FFF2-40B4-BE49-F238E27FC236}">
                  <a16:creationId xmlns:a16="http://schemas.microsoft.com/office/drawing/2014/main" id="{45370053-C1D7-65C0-130F-A8910FE76F7D}"/>
                </a:ext>
              </a:extLst>
            </p:cNvPr>
            <p:cNvSpPr/>
            <p:nvPr/>
          </p:nvSpPr>
          <p:spPr>
            <a:xfrm>
              <a:off x="6301911" y="2124000"/>
              <a:ext cx="144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200" dirty="0">
                  <a:solidFill>
                    <a:schemeClr val="bg1"/>
                  </a:solidFill>
                </a:rPr>
                <a:t>5 </a:t>
              </a:r>
              <a:r>
                <a:rPr lang="zh-CN" altLang="en-US" sz="1200" dirty="0">
                  <a:solidFill>
                    <a:schemeClr val="bg1"/>
                  </a:solidFill>
                </a:rPr>
                <a:t>应用层</a:t>
              </a:r>
            </a:p>
          </p:txBody>
        </p:sp>
      </p:grpSp>
    </p:spTree>
    <p:extLst>
      <p:ext uri="{BB962C8B-B14F-4D97-AF65-F5344CB8AC3E}">
        <p14:creationId xmlns:p14="http://schemas.microsoft.com/office/powerpoint/2010/main" val="3685378045"/>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2" name="组合 101">
            <a:extLst>
              <a:ext uri="{FF2B5EF4-FFF2-40B4-BE49-F238E27FC236}">
                <a16:creationId xmlns:a16="http://schemas.microsoft.com/office/drawing/2014/main" id="{42C8A6AD-BF46-EBBB-1281-327F4732AE9B}"/>
              </a:ext>
            </a:extLst>
          </p:cNvPr>
          <p:cNvGrpSpPr/>
          <p:nvPr/>
        </p:nvGrpSpPr>
        <p:grpSpPr>
          <a:xfrm>
            <a:off x="7395732" y="1800000"/>
            <a:ext cx="1080000" cy="2088000"/>
            <a:chOff x="701211" y="1800000"/>
            <a:chExt cx="1080000" cy="2088000"/>
          </a:xfrm>
        </p:grpSpPr>
        <p:sp>
          <p:nvSpPr>
            <p:cNvPr id="103" name="立方体 102">
              <a:extLst>
                <a:ext uri="{FF2B5EF4-FFF2-40B4-BE49-F238E27FC236}">
                  <a16:creationId xmlns:a16="http://schemas.microsoft.com/office/drawing/2014/main" id="{71BD3DE4-04C5-4059-07E2-DB80324CE5BC}"/>
                </a:ext>
              </a:extLst>
            </p:cNvPr>
            <p:cNvSpPr/>
            <p:nvPr/>
          </p:nvSpPr>
          <p:spPr>
            <a:xfrm>
              <a:off x="701211" y="3456000"/>
              <a:ext cx="108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050" dirty="0">
                  <a:solidFill>
                    <a:schemeClr val="bg1"/>
                  </a:solidFill>
                </a:rPr>
                <a:t>1 </a:t>
              </a:r>
              <a:r>
                <a:rPr lang="zh-CN" altLang="en-US" sz="1050" dirty="0">
                  <a:solidFill>
                    <a:schemeClr val="bg1"/>
                  </a:solidFill>
                </a:rPr>
                <a:t>物理层</a:t>
              </a:r>
            </a:p>
          </p:txBody>
        </p:sp>
        <p:sp>
          <p:nvSpPr>
            <p:cNvPr id="104" name="立方体 103">
              <a:extLst>
                <a:ext uri="{FF2B5EF4-FFF2-40B4-BE49-F238E27FC236}">
                  <a16:creationId xmlns:a16="http://schemas.microsoft.com/office/drawing/2014/main" id="{AAC77429-CE85-3439-A5C5-859AF26E6794}"/>
                </a:ext>
              </a:extLst>
            </p:cNvPr>
            <p:cNvSpPr/>
            <p:nvPr/>
          </p:nvSpPr>
          <p:spPr>
            <a:xfrm>
              <a:off x="701211" y="3132000"/>
              <a:ext cx="108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050" dirty="0">
                  <a:solidFill>
                    <a:schemeClr val="bg1"/>
                  </a:solidFill>
                </a:rPr>
                <a:t>2 </a:t>
              </a:r>
              <a:r>
                <a:rPr lang="zh-CN" altLang="en-US" sz="1050" dirty="0">
                  <a:solidFill>
                    <a:schemeClr val="bg1"/>
                  </a:solidFill>
                </a:rPr>
                <a:t>数据链路层</a:t>
              </a:r>
            </a:p>
          </p:txBody>
        </p:sp>
        <p:sp>
          <p:nvSpPr>
            <p:cNvPr id="105" name="立方体 104">
              <a:extLst>
                <a:ext uri="{FF2B5EF4-FFF2-40B4-BE49-F238E27FC236}">
                  <a16:creationId xmlns:a16="http://schemas.microsoft.com/office/drawing/2014/main" id="{7DCCFDC1-01EE-09BC-B3B9-50C63225605F}"/>
                </a:ext>
              </a:extLst>
            </p:cNvPr>
            <p:cNvSpPr/>
            <p:nvPr/>
          </p:nvSpPr>
          <p:spPr>
            <a:xfrm>
              <a:off x="701211" y="2808000"/>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050" dirty="0">
                  <a:solidFill>
                    <a:schemeClr val="bg1"/>
                  </a:solidFill>
                </a:rPr>
                <a:t>3 </a:t>
              </a:r>
              <a:r>
                <a:rPr lang="zh-CN" altLang="en-US" sz="1050" dirty="0">
                  <a:solidFill>
                    <a:schemeClr val="bg1"/>
                  </a:solidFill>
                </a:rPr>
                <a:t>网络层</a:t>
              </a:r>
            </a:p>
          </p:txBody>
        </p:sp>
        <p:sp>
          <p:nvSpPr>
            <p:cNvPr id="106" name="立方体 105">
              <a:extLst>
                <a:ext uri="{FF2B5EF4-FFF2-40B4-BE49-F238E27FC236}">
                  <a16:creationId xmlns:a16="http://schemas.microsoft.com/office/drawing/2014/main" id="{3CBC5995-CCD4-3A6E-6A68-CB836C4E7C5D}"/>
                </a:ext>
              </a:extLst>
            </p:cNvPr>
            <p:cNvSpPr/>
            <p:nvPr/>
          </p:nvSpPr>
          <p:spPr>
            <a:xfrm>
              <a:off x="701211" y="2484000"/>
              <a:ext cx="108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050" dirty="0">
                  <a:solidFill>
                    <a:schemeClr val="bg1"/>
                  </a:solidFill>
                </a:rPr>
                <a:t>4 </a:t>
              </a:r>
              <a:r>
                <a:rPr lang="zh-CN" altLang="en-US" sz="1050" dirty="0">
                  <a:solidFill>
                    <a:schemeClr val="bg1"/>
                  </a:solidFill>
                </a:rPr>
                <a:t>运输层</a:t>
              </a:r>
            </a:p>
          </p:txBody>
        </p:sp>
        <p:sp>
          <p:nvSpPr>
            <p:cNvPr id="107" name="立方体 106">
              <a:extLst>
                <a:ext uri="{FF2B5EF4-FFF2-40B4-BE49-F238E27FC236}">
                  <a16:creationId xmlns:a16="http://schemas.microsoft.com/office/drawing/2014/main" id="{7AE2C44A-2C6A-E8A1-E467-25D5E6E3AEE1}"/>
                </a:ext>
              </a:extLst>
            </p:cNvPr>
            <p:cNvSpPr/>
            <p:nvPr/>
          </p:nvSpPr>
          <p:spPr>
            <a:xfrm>
              <a:off x="701211" y="2160000"/>
              <a:ext cx="108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050" dirty="0">
                  <a:solidFill>
                    <a:schemeClr val="bg1"/>
                  </a:solidFill>
                </a:rPr>
                <a:t>5 </a:t>
              </a:r>
              <a:r>
                <a:rPr lang="zh-CN" altLang="en-US" sz="1050" dirty="0">
                  <a:solidFill>
                    <a:schemeClr val="bg1"/>
                  </a:solidFill>
                </a:rPr>
                <a:t>应用层</a:t>
              </a:r>
            </a:p>
          </p:txBody>
        </p:sp>
        <p:sp>
          <p:nvSpPr>
            <p:cNvPr id="108" name="圆柱体 107">
              <a:extLst>
                <a:ext uri="{FF2B5EF4-FFF2-40B4-BE49-F238E27FC236}">
                  <a16:creationId xmlns:a16="http://schemas.microsoft.com/office/drawing/2014/main" id="{FC6D6B26-CADF-CCF8-AE2E-BEC936379174}"/>
                </a:ext>
              </a:extLst>
            </p:cNvPr>
            <p:cNvSpPr/>
            <p:nvPr/>
          </p:nvSpPr>
          <p:spPr>
            <a:xfrm>
              <a:off x="953211" y="1800000"/>
              <a:ext cx="576000" cy="360000"/>
            </a:xfrm>
            <a:prstGeom prst="can">
              <a:avLst/>
            </a:prstGeom>
            <a:solidFill>
              <a:srgbClr val="FFFF00"/>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000" dirty="0">
                  <a:solidFill>
                    <a:sysClr val="windowText" lastClr="000000"/>
                  </a:solidFill>
                </a:rPr>
                <a:t>AP1</a:t>
              </a:r>
              <a:endParaRPr lang="zh-CN" altLang="en-US" sz="1000" dirty="0">
                <a:solidFill>
                  <a:sysClr val="windowText" lastClr="000000"/>
                </a:solidFill>
              </a:endParaRPr>
            </a:p>
          </p:txBody>
        </p:sp>
      </p:grpSp>
      <p:grpSp>
        <p:nvGrpSpPr>
          <p:cNvPr id="109" name="组合 108">
            <a:extLst>
              <a:ext uri="{FF2B5EF4-FFF2-40B4-BE49-F238E27FC236}">
                <a16:creationId xmlns:a16="http://schemas.microsoft.com/office/drawing/2014/main" id="{F961D078-677D-4DED-92E0-D5813E6AEA22}"/>
              </a:ext>
            </a:extLst>
          </p:cNvPr>
          <p:cNvGrpSpPr/>
          <p:nvPr/>
        </p:nvGrpSpPr>
        <p:grpSpPr>
          <a:xfrm>
            <a:off x="701211" y="1800000"/>
            <a:ext cx="1080000" cy="2088000"/>
            <a:chOff x="701211" y="1800000"/>
            <a:chExt cx="1080000" cy="2088000"/>
          </a:xfrm>
        </p:grpSpPr>
        <p:sp>
          <p:nvSpPr>
            <p:cNvPr id="110" name="立方体 109">
              <a:extLst>
                <a:ext uri="{FF2B5EF4-FFF2-40B4-BE49-F238E27FC236}">
                  <a16:creationId xmlns:a16="http://schemas.microsoft.com/office/drawing/2014/main" id="{20103CCA-13C2-98C0-822B-B759F4AA0FE4}"/>
                </a:ext>
              </a:extLst>
            </p:cNvPr>
            <p:cNvSpPr/>
            <p:nvPr/>
          </p:nvSpPr>
          <p:spPr>
            <a:xfrm>
              <a:off x="701211" y="3456000"/>
              <a:ext cx="108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050" dirty="0">
                  <a:solidFill>
                    <a:schemeClr val="bg1"/>
                  </a:solidFill>
                </a:rPr>
                <a:t>1 </a:t>
              </a:r>
              <a:r>
                <a:rPr lang="zh-CN" altLang="en-US" sz="1050" dirty="0">
                  <a:solidFill>
                    <a:schemeClr val="bg1"/>
                  </a:solidFill>
                </a:rPr>
                <a:t>物理层</a:t>
              </a:r>
            </a:p>
          </p:txBody>
        </p:sp>
        <p:sp>
          <p:nvSpPr>
            <p:cNvPr id="111" name="立方体 110">
              <a:extLst>
                <a:ext uri="{FF2B5EF4-FFF2-40B4-BE49-F238E27FC236}">
                  <a16:creationId xmlns:a16="http://schemas.microsoft.com/office/drawing/2014/main" id="{345C5F4F-F3A1-B0E6-5FF9-E5F98ECE6742}"/>
                </a:ext>
              </a:extLst>
            </p:cNvPr>
            <p:cNvSpPr/>
            <p:nvPr/>
          </p:nvSpPr>
          <p:spPr>
            <a:xfrm>
              <a:off x="701211" y="3132000"/>
              <a:ext cx="108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050" dirty="0">
                  <a:solidFill>
                    <a:schemeClr val="bg1"/>
                  </a:solidFill>
                </a:rPr>
                <a:t>2 </a:t>
              </a:r>
              <a:r>
                <a:rPr lang="zh-CN" altLang="en-US" sz="1050" dirty="0">
                  <a:solidFill>
                    <a:schemeClr val="bg1"/>
                  </a:solidFill>
                </a:rPr>
                <a:t>数据链路层</a:t>
              </a:r>
            </a:p>
          </p:txBody>
        </p:sp>
        <p:sp>
          <p:nvSpPr>
            <p:cNvPr id="112" name="立方体 111">
              <a:extLst>
                <a:ext uri="{FF2B5EF4-FFF2-40B4-BE49-F238E27FC236}">
                  <a16:creationId xmlns:a16="http://schemas.microsoft.com/office/drawing/2014/main" id="{31C3783C-7315-722B-43D9-CFC78B53DF51}"/>
                </a:ext>
              </a:extLst>
            </p:cNvPr>
            <p:cNvSpPr/>
            <p:nvPr/>
          </p:nvSpPr>
          <p:spPr>
            <a:xfrm>
              <a:off x="701211" y="2808000"/>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050" dirty="0">
                  <a:solidFill>
                    <a:schemeClr val="bg1"/>
                  </a:solidFill>
                </a:rPr>
                <a:t>3 </a:t>
              </a:r>
              <a:r>
                <a:rPr lang="zh-CN" altLang="en-US" sz="1050" dirty="0">
                  <a:solidFill>
                    <a:schemeClr val="bg1"/>
                  </a:solidFill>
                </a:rPr>
                <a:t>网络层</a:t>
              </a:r>
            </a:p>
          </p:txBody>
        </p:sp>
        <p:sp>
          <p:nvSpPr>
            <p:cNvPr id="113" name="立方体 112">
              <a:extLst>
                <a:ext uri="{FF2B5EF4-FFF2-40B4-BE49-F238E27FC236}">
                  <a16:creationId xmlns:a16="http://schemas.microsoft.com/office/drawing/2014/main" id="{57394058-6504-5460-39B2-3E41D6B97F79}"/>
                </a:ext>
              </a:extLst>
            </p:cNvPr>
            <p:cNvSpPr/>
            <p:nvPr/>
          </p:nvSpPr>
          <p:spPr>
            <a:xfrm>
              <a:off x="701211" y="2484000"/>
              <a:ext cx="108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050" dirty="0">
                  <a:solidFill>
                    <a:schemeClr val="bg1"/>
                  </a:solidFill>
                </a:rPr>
                <a:t>4 </a:t>
              </a:r>
              <a:r>
                <a:rPr lang="zh-CN" altLang="en-US" sz="1050" dirty="0">
                  <a:solidFill>
                    <a:schemeClr val="bg1"/>
                  </a:solidFill>
                </a:rPr>
                <a:t>运输层</a:t>
              </a:r>
            </a:p>
          </p:txBody>
        </p:sp>
        <p:sp>
          <p:nvSpPr>
            <p:cNvPr id="114" name="立方体 113">
              <a:extLst>
                <a:ext uri="{FF2B5EF4-FFF2-40B4-BE49-F238E27FC236}">
                  <a16:creationId xmlns:a16="http://schemas.microsoft.com/office/drawing/2014/main" id="{486F22B9-BD26-DCBE-5F86-C2C5A8576611}"/>
                </a:ext>
              </a:extLst>
            </p:cNvPr>
            <p:cNvSpPr/>
            <p:nvPr/>
          </p:nvSpPr>
          <p:spPr>
            <a:xfrm>
              <a:off x="701211" y="2160000"/>
              <a:ext cx="108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050" dirty="0">
                  <a:solidFill>
                    <a:schemeClr val="bg1"/>
                  </a:solidFill>
                </a:rPr>
                <a:t>5 </a:t>
              </a:r>
              <a:r>
                <a:rPr lang="zh-CN" altLang="en-US" sz="1050" dirty="0">
                  <a:solidFill>
                    <a:schemeClr val="bg1"/>
                  </a:solidFill>
                </a:rPr>
                <a:t>应用层</a:t>
              </a:r>
            </a:p>
          </p:txBody>
        </p:sp>
        <p:sp>
          <p:nvSpPr>
            <p:cNvPr id="115" name="圆柱体 114">
              <a:extLst>
                <a:ext uri="{FF2B5EF4-FFF2-40B4-BE49-F238E27FC236}">
                  <a16:creationId xmlns:a16="http://schemas.microsoft.com/office/drawing/2014/main" id="{7563E10F-CF6D-8C45-7314-AA290CDDF654}"/>
                </a:ext>
              </a:extLst>
            </p:cNvPr>
            <p:cNvSpPr/>
            <p:nvPr/>
          </p:nvSpPr>
          <p:spPr>
            <a:xfrm>
              <a:off x="953211" y="1800000"/>
              <a:ext cx="576000" cy="360000"/>
            </a:xfrm>
            <a:prstGeom prst="can">
              <a:avLst/>
            </a:prstGeom>
            <a:solidFill>
              <a:srgbClr val="FFFF00"/>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000" dirty="0">
                  <a:solidFill>
                    <a:sysClr val="windowText" lastClr="000000"/>
                  </a:solidFill>
                </a:rPr>
                <a:t>AP1</a:t>
              </a:r>
              <a:endParaRPr lang="zh-CN" altLang="en-US" sz="1000" dirty="0">
                <a:solidFill>
                  <a:sysClr val="windowText" lastClr="000000"/>
                </a:solidFill>
              </a:endParaRPr>
            </a:p>
          </p:txBody>
        </p:sp>
      </p:grpSp>
      <p:sp>
        <p:nvSpPr>
          <p:cNvPr id="25" name="Text Box 29"/>
          <p:cNvSpPr txBox="1">
            <a:spLocks noChangeArrowheads="1"/>
          </p:cNvSpPr>
          <p:nvPr/>
        </p:nvSpPr>
        <p:spPr bwMode="auto">
          <a:xfrm>
            <a:off x="110689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1</a:t>
            </a:r>
          </a:p>
        </p:txBody>
      </p:sp>
      <p:sp>
        <p:nvSpPr>
          <p:cNvPr id="38" name="Text Box 29"/>
          <p:cNvSpPr txBox="1">
            <a:spLocks noChangeArrowheads="1"/>
          </p:cNvSpPr>
          <p:nvPr/>
        </p:nvSpPr>
        <p:spPr bwMode="auto">
          <a:xfrm>
            <a:off x="736975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2</a:t>
            </a:r>
          </a:p>
        </p:txBody>
      </p:sp>
      <p:sp>
        <p:nvSpPr>
          <p:cNvPr id="39" name="Text Box 29"/>
          <p:cNvSpPr txBox="1">
            <a:spLocks noChangeArrowheads="1"/>
          </p:cNvSpPr>
          <p:nvPr/>
        </p:nvSpPr>
        <p:spPr bwMode="auto">
          <a:xfrm>
            <a:off x="4160212" y="107510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路由器</a:t>
            </a:r>
            <a:endParaRPr kumimoji="1" lang="en-US" altLang="zh-CN" sz="1200" b="1" dirty="0">
              <a:solidFill>
                <a:srgbClr val="0000FF"/>
              </a:solidFill>
              <a:latin typeface="微软雅黑" panose="020B0503020204020204" pitchFamily="34" charset="-122"/>
              <a:ea typeface="微软雅黑" panose="020B0503020204020204" pitchFamily="34" charset="-122"/>
            </a:endParaRPr>
          </a:p>
        </p:txBody>
      </p:sp>
      <p:cxnSp>
        <p:nvCxnSpPr>
          <p:cNvPr id="69" name="直接连接符 68"/>
          <p:cNvCxnSpPr/>
          <p:nvPr/>
        </p:nvCxnSpPr>
        <p:spPr>
          <a:xfrm>
            <a:off x="1418143" y="1507958"/>
            <a:ext cx="6306131" cy="0"/>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pic>
        <p:nvPicPr>
          <p:cNvPr id="36"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486661" y="1312469"/>
            <a:ext cx="410222"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7"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202308" y="1312469"/>
            <a:ext cx="410223"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248" name="直接箭头连接符 247"/>
          <p:cNvCxnSpPr/>
          <p:nvPr/>
        </p:nvCxnSpPr>
        <p:spPr>
          <a:xfrm>
            <a:off x="1561619" y="1428166"/>
            <a:ext cx="5941518" cy="0"/>
          </a:xfrm>
          <a:prstGeom prst="straightConnector1">
            <a:avLst/>
          </a:prstGeom>
          <a:ln w="28575">
            <a:solidFill>
              <a:srgbClr val="CC00CC"/>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35"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54124" y="1385466"/>
            <a:ext cx="454438" cy="2643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 name="标题 1">
            <a:extLst>
              <a:ext uri="{FF2B5EF4-FFF2-40B4-BE49-F238E27FC236}">
                <a16:creationId xmlns:a16="http://schemas.microsoft.com/office/drawing/2014/main" id="{3BA383E4-527F-96FB-D1CB-03AFAD3ED3AA}"/>
              </a:ext>
            </a:extLst>
          </p:cNvPr>
          <p:cNvSpPr>
            <a:spLocks noGrp="1"/>
          </p:cNvSpPr>
          <p:nvPr>
            <p:ph type="title"/>
          </p:nvPr>
        </p:nvSpPr>
        <p:spPr>
          <a:xfrm>
            <a:off x="612000" y="144000"/>
            <a:ext cx="7920000" cy="341632"/>
          </a:xfrm>
        </p:spPr>
        <p:txBody>
          <a:bodyPr/>
          <a:lstStyle/>
          <a:p>
            <a:r>
              <a:rPr lang="zh-CN" altLang="en-US" dirty="0"/>
              <a:t>数据在各层之间的传递过程</a:t>
            </a:r>
          </a:p>
        </p:txBody>
      </p:sp>
      <p:sp useBgFill="1">
        <p:nvSpPr>
          <p:cNvPr id="117" name="Rectangle 37">
            <a:extLst>
              <a:ext uri="{FF2B5EF4-FFF2-40B4-BE49-F238E27FC236}">
                <a16:creationId xmlns:a16="http://schemas.microsoft.com/office/drawing/2014/main" id="{456DBA23-A829-F305-A4B5-81A51A61D892}"/>
              </a:ext>
            </a:extLst>
          </p:cNvPr>
          <p:cNvSpPr>
            <a:spLocks noChangeArrowheads="1"/>
          </p:cNvSpPr>
          <p:nvPr/>
        </p:nvSpPr>
        <p:spPr bwMode="auto">
          <a:xfrm>
            <a:off x="2961614" y="1870804"/>
            <a:ext cx="482400" cy="244800"/>
          </a:xfrm>
          <a:prstGeom prst="rect">
            <a:avLst/>
          </a:prstGeom>
          <a:ln w="9525">
            <a:solidFill>
              <a:schemeClr val="tx1"/>
            </a:solidFill>
            <a:miter lim="800000"/>
          </a:ln>
        </p:spPr>
        <p:txBody>
          <a:bodyPr wrap="none" anchor="ctr"/>
          <a:lstStyle/>
          <a:p>
            <a:pPr algn="ctr"/>
            <a:r>
              <a:rPr lang="zh-CN" altLang="en-US" sz="1000" dirty="0"/>
              <a:t>数 据</a:t>
            </a:r>
          </a:p>
        </p:txBody>
      </p:sp>
      <p:grpSp>
        <p:nvGrpSpPr>
          <p:cNvPr id="72" name="Group 50"/>
          <p:cNvGrpSpPr/>
          <p:nvPr/>
        </p:nvGrpSpPr>
        <p:grpSpPr bwMode="auto">
          <a:xfrm>
            <a:off x="1237477" y="2076244"/>
            <a:ext cx="2052947" cy="205414"/>
            <a:chOff x="436" y="1815"/>
            <a:chExt cx="1744" cy="228"/>
          </a:xfrm>
          <a:solidFill>
            <a:srgbClr val="CC00CC"/>
          </a:solidFill>
        </p:grpSpPr>
        <p:sp>
          <p:nvSpPr>
            <p:cNvPr id="73" name="AutoShape 51"/>
            <p:cNvSpPr>
              <a:spLocks noChangeArrowheads="1"/>
            </p:cNvSpPr>
            <p:nvPr/>
          </p:nvSpPr>
          <p:spPr bwMode="auto">
            <a:xfrm flipV="1">
              <a:off x="436" y="1815"/>
              <a:ext cx="124" cy="228"/>
            </a:xfrm>
            <a:prstGeom prst="upArrow">
              <a:avLst>
                <a:gd name="adj1" fmla="val 50000"/>
                <a:gd name="adj2" fmla="val 45968"/>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74" name="AutoShape 52"/>
            <p:cNvSpPr>
              <a:spLocks noChangeArrowheads="1"/>
            </p:cNvSpPr>
            <p:nvPr/>
          </p:nvSpPr>
          <p:spPr bwMode="auto">
            <a:xfrm flipV="1">
              <a:off x="2056" y="1815"/>
              <a:ext cx="124" cy="228"/>
            </a:xfrm>
            <a:prstGeom prst="upArrow">
              <a:avLst>
                <a:gd name="adj1" fmla="val 50000"/>
                <a:gd name="adj2" fmla="val 45968"/>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grpSp>
      <p:grpSp>
        <p:nvGrpSpPr>
          <p:cNvPr id="228" name="组合 227">
            <a:extLst>
              <a:ext uri="{FF2B5EF4-FFF2-40B4-BE49-F238E27FC236}">
                <a16:creationId xmlns:a16="http://schemas.microsoft.com/office/drawing/2014/main" id="{57F0A498-E4FF-004A-098E-38C5E36FE17E}"/>
              </a:ext>
            </a:extLst>
          </p:cNvPr>
          <p:cNvGrpSpPr/>
          <p:nvPr/>
        </p:nvGrpSpPr>
        <p:grpSpPr>
          <a:xfrm>
            <a:off x="3960000" y="2808000"/>
            <a:ext cx="1080000" cy="1080000"/>
            <a:chOff x="2807995" y="2745746"/>
            <a:chExt cx="1080000" cy="1080000"/>
          </a:xfrm>
        </p:grpSpPr>
        <p:sp>
          <p:nvSpPr>
            <p:cNvPr id="229" name="立方体 228">
              <a:extLst>
                <a:ext uri="{FF2B5EF4-FFF2-40B4-BE49-F238E27FC236}">
                  <a16:creationId xmlns:a16="http://schemas.microsoft.com/office/drawing/2014/main" id="{FE4397DE-F197-8DB5-99FA-7A0826CAE97D}"/>
                </a:ext>
              </a:extLst>
            </p:cNvPr>
            <p:cNvSpPr/>
            <p:nvPr/>
          </p:nvSpPr>
          <p:spPr>
            <a:xfrm>
              <a:off x="2807995" y="3393746"/>
              <a:ext cx="594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sz="1050" dirty="0">
                  <a:solidFill>
                    <a:schemeClr val="bg1"/>
                  </a:solidFill>
                </a:rPr>
                <a:t>1</a:t>
              </a:r>
              <a:endParaRPr lang="zh-CN" altLang="en-US" sz="1050" dirty="0">
                <a:solidFill>
                  <a:schemeClr val="bg1"/>
                </a:solidFill>
              </a:endParaRPr>
            </a:p>
          </p:txBody>
        </p:sp>
        <p:sp>
          <p:nvSpPr>
            <p:cNvPr id="230" name="立方体 229">
              <a:extLst>
                <a:ext uri="{FF2B5EF4-FFF2-40B4-BE49-F238E27FC236}">
                  <a16:creationId xmlns:a16="http://schemas.microsoft.com/office/drawing/2014/main" id="{DABD5042-06B0-DE2E-8829-EEB27E2782E4}"/>
                </a:ext>
              </a:extLst>
            </p:cNvPr>
            <p:cNvSpPr/>
            <p:nvPr/>
          </p:nvSpPr>
          <p:spPr>
            <a:xfrm>
              <a:off x="2807995" y="3069746"/>
              <a:ext cx="594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sz="1050" dirty="0">
                  <a:solidFill>
                    <a:schemeClr val="bg1"/>
                  </a:solidFill>
                </a:rPr>
                <a:t>2</a:t>
              </a:r>
              <a:endParaRPr lang="zh-CN" altLang="en-US" sz="1050" dirty="0">
                <a:solidFill>
                  <a:schemeClr val="bg1"/>
                </a:solidFill>
              </a:endParaRPr>
            </a:p>
          </p:txBody>
        </p:sp>
        <p:sp>
          <p:nvSpPr>
            <p:cNvPr id="231" name="立方体 230">
              <a:extLst>
                <a:ext uri="{FF2B5EF4-FFF2-40B4-BE49-F238E27FC236}">
                  <a16:creationId xmlns:a16="http://schemas.microsoft.com/office/drawing/2014/main" id="{39026ADE-7611-3A2A-0F35-D849ACAE84D6}"/>
                </a:ext>
              </a:extLst>
            </p:cNvPr>
            <p:cNvSpPr/>
            <p:nvPr/>
          </p:nvSpPr>
          <p:spPr>
            <a:xfrm>
              <a:off x="3293995" y="3393746"/>
              <a:ext cx="594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sz="1050" dirty="0">
                  <a:solidFill>
                    <a:schemeClr val="bg1"/>
                  </a:solidFill>
                </a:rPr>
                <a:t>1</a:t>
              </a:r>
              <a:endParaRPr lang="zh-CN" altLang="en-US" sz="1050" dirty="0">
                <a:solidFill>
                  <a:schemeClr val="bg1"/>
                </a:solidFill>
              </a:endParaRPr>
            </a:p>
          </p:txBody>
        </p:sp>
        <p:sp>
          <p:nvSpPr>
            <p:cNvPr id="232" name="立方体 231">
              <a:extLst>
                <a:ext uri="{FF2B5EF4-FFF2-40B4-BE49-F238E27FC236}">
                  <a16:creationId xmlns:a16="http://schemas.microsoft.com/office/drawing/2014/main" id="{321E5E88-81DE-03AF-2E2C-A9C62881BB93}"/>
                </a:ext>
              </a:extLst>
            </p:cNvPr>
            <p:cNvSpPr/>
            <p:nvPr/>
          </p:nvSpPr>
          <p:spPr>
            <a:xfrm>
              <a:off x="3293995" y="3069746"/>
              <a:ext cx="594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sz="1050" dirty="0">
                  <a:solidFill>
                    <a:schemeClr val="bg1"/>
                  </a:solidFill>
                </a:rPr>
                <a:t>2</a:t>
              </a:r>
              <a:endParaRPr lang="zh-CN" altLang="en-US" sz="1050" dirty="0">
                <a:solidFill>
                  <a:schemeClr val="bg1"/>
                </a:solidFill>
              </a:endParaRPr>
            </a:p>
          </p:txBody>
        </p:sp>
        <p:sp>
          <p:nvSpPr>
            <p:cNvPr id="233" name="立方体 232">
              <a:extLst>
                <a:ext uri="{FF2B5EF4-FFF2-40B4-BE49-F238E27FC236}">
                  <a16:creationId xmlns:a16="http://schemas.microsoft.com/office/drawing/2014/main" id="{097C9991-19BB-757A-D848-B9097220B358}"/>
                </a:ext>
              </a:extLst>
            </p:cNvPr>
            <p:cNvSpPr/>
            <p:nvPr/>
          </p:nvSpPr>
          <p:spPr>
            <a:xfrm>
              <a:off x="2807995" y="2745746"/>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pPr algn="ctr"/>
              <a:r>
                <a:rPr lang="en-US" altLang="zh-CN" sz="1050" dirty="0">
                  <a:solidFill>
                    <a:schemeClr val="bg1"/>
                  </a:solidFill>
                </a:rPr>
                <a:t>3</a:t>
              </a:r>
              <a:endParaRPr lang="zh-CN" altLang="en-US" sz="1050" dirty="0">
                <a:solidFill>
                  <a:schemeClr val="bg1"/>
                </a:solidFill>
              </a:endParaRPr>
            </a:p>
          </p:txBody>
        </p:sp>
      </p:grpSp>
      <p:sp>
        <p:nvSpPr>
          <p:cNvPr id="235" name="AutoShape 4">
            <a:extLst>
              <a:ext uri="{FF2B5EF4-FFF2-40B4-BE49-F238E27FC236}">
                <a16:creationId xmlns:a16="http://schemas.microsoft.com/office/drawing/2014/main" id="{7D17B497-ED3E-95E6-9F6A-CE0B4CE5DFBE}"/>
              </a:ext>
            </a:extLst>
          </p:cNvPr>
          <p:cNvSpPr>
            <a:spLocks noChangeArrowheads="1"/>
          </p:cNvSpPr>
          <p:nvPr/>
        </p:nvSpPr>
        <p:spPr bwMode="auto">
          <a:xfrm rot="16200000">
            <a:off x="2567190" y="2361728"/>
            <a:ext cx="271463" cy="3600000"/>
          </a:xfrm>
          <a:prstGeom prst="can">
            <a:avLst>
              <a:gd name="adj" fmla="val 48656"/>
            </a:avLst>
          </a:prstGeom>
          <a:gradFill rotWithShape="0">
            <a:gsLst>
              <a:gs pos="0">
                <a:srgbClr val="00CC00"/>
              </a:gs>
              <a:gs pos="50000">
                <a:schemeClr val="bg1"/>
              </a:gs>
              <a:gs pos="100000">
                <a:srgbClr val="00CC00"/>
              </a:gs>
            </a:gsLst>
            <a:lin ang="5400000" scaled="1"/>
          </a:gradFill>
          <a:ln w="6350">
            <a:solidFill>
              <a:srgbClr val="7CE07C"/>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237" name="AutoShape 4">
            <a:extLst>
              <a:ext uri="{FF2B5EF4-FFF2-40B4-BE49-F238E27FC236}">
                <a16:creationId xmlns:a16="http://schemas.microsoft.com/office/drawing/2014/main" id="{18D53D47-BE27-00B0-B3F2-5280EB09F38E}"/>
              </a:ext>
            </a:extLst>
          </p:cNvPr>
          <p:cNvSpPr>
            <a:spLocks noChangeArrowheads="1"/>
          </p:cNvSpPr>
          <p:nvPr/>
        </p:nvSpPr>
        <p:spPr bwMode="auto">
          <a:xfrm rot="16200000">
            <a:off x="6253847" y="2361728"/>
            <a:ext cx="271463" cy="3600000"/>
          </a:xfrm>
          <a:prstGeom prst="can">
            <a:avLst>
              <a:gd name="adj" fmla="val 48656"/>
            </a:avLst>
          </a:prstGeom>
          <a:gradFill rotWithShape="0">
            <a:gsLst>
              <a:gs pos="0">
                <a:srgbClr val="00CC00"/>
              </a:gs>
              <a:gs pos="50000">
                <a:schemeClr val="bg1"/>
              </a:gs>
              <a:gs pos="100000">
                <a:srgbClr val="00CC00"/>
              </a:gs>
            </a:gsLst>
            <a:lin ang="5400000" scaled="1"/>
          </a:gradFill>
          <a:ln w="6350">
            <a:solidFill>
              <a:srgbClr val="7CE07C"/>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239" name="Text Box 26">
            <a:extLst>
              <a:ext uri="{FF2B5EF4-FFF2-40B4-BE49-F238E27FC236}">
                <a16:creationId xmlns:a16="http://schemas.microsoft.com/office/drawing/2014/main" id="{22484784-3297-C805-DEBF-C703E8D4D58D}"/>
              </a:ext>
            </a:extLst>
          </p:cNvPr>
          <p:cNvSpPr txBox="1">
            <a:spLocks noChangeArrowheads="1"/>
          </p:cNvSpPr>
          <p:nvPr/>
        </p:nvSpPr>
        <p:spPr bwMode="auto">
          <a:xfrm>
            <a:off x="2701348" y="4023229"/>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dirty="0">
                <a:latin typeface="+mj-lt"/>
                <a:ea typeface="+mj-ea"/>
              </a:rPr>
              <a:t>物理传输媒体</a:t>
            </a:r>
          </a:p>
        </p:txBody>
      </p:sp>
      <p:sp>
        <p:nvSpPr>
          <p:cNvPr id="241" name="Text Box 26">
            <a:extLst>
              <a:ext uri="{FF2B5EF4-FFF2-40B4-BE49-F238E27FC236}">
                <a16:creationId xmlns:a16="http://schemas.microsoft.com/office/drawing/2014/main" id="{F70B48B8-C789-A02A-D99F-C7420C52A153}"/>
              </a:ext>
            </a:extLst>
          </p:cNvPr>
          <p:cNvSpPr txBox="1">
            <a:spLocks noChangeArrowheads="1"/>
          </p:cNvSpPr>
          <p:nvPr/>
        </p:nvSpPr>
        <p:spPr bwMode="auto">
          <a:xfrm>
            <a:off x="6193730" y="4023229"/>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dirty="0">
                <a:latin typeface="+mj-lt"/>
                <a:ea typeface="+mj-ea"/>
              </a:rPr>
              <a:t>物理传输媒体</a:t>
            </a:r>
          </a:p>
        </p:txBody>
      </p:sp>
    </p:spTree>
    <p:extLst>
      <p:ext uri="{BB962C8B-B14F-4D97-AF65-F5344CB8AC3E}">
        <p14:creationId xmlns:p14="http://schemas.microsoft.com/office/powerpoint/2010/main" val="4089470725"/>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nodeType="afterEffect">
                                  <p:stCondLst>
                                    <p:cond delay="0"/>
                                  </p:stCondLst>
                                  <p:childTnLst>
                                    <p:set>
                                      <p:cBhvr>
                                        <p:cTn id="6" dur="1" fill="hold">
                                          <p:stCondLst>
                                            <p:cond delay="0"/>
                                          </p:stCondLst>
                                        </p:cTn>
                                        <p:tgtEl>
                                          <p:spTgt spid="72"/>
                                        </p:tgtEl>
                                        <p:attrNameLst>
                                          <p:attrName>style.visibility</p:attrName>
                                        </p:attrNameLst>
                                      </p:cBhvr>
                                      <p:to>
                                        <p:strVal val="visible"/>
                                      </p:to>
                                    </p:set>
                                    <p:animEffect transition="in" filter="wipe(up)">
                                      <p:cBhvr>
                                        <p:cTn id="7" dur="1000"/>
                                        <p:tgtEl>
                                          <p:spTgt spid="7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20" name="组合 119">
            <a:extLst>
              <a:ext uri="{FF2B5EF4-FFF2-40B4-BE49-F238E27FC236}">
                <a16:creationId xmlns:a16="http://schemas.microsoft.com/office/drawing/2014/main" id="{D57856EC-5E08-27E3-69CE-A343103A5996}"/>
              </a:ext>
            </a:extLst>
          </p:cNvPr>
          <p:cNvGrpSpPr/>
          <p:nvPr/>
        </p:nvGrpSpPr>
        <p:grpSpPr>
          <a:xfrm>
            <a:off x="7395732" y="1800000"/>
            <a:ext cx="1080000" cy="2088000"/>
            <a:chOff x="701211" y="1800000"/>
            <a:chExt cx="1080000" cy="2088000"/>
          </a:xfrm>
        </p:grpSpPr>
        <p:sp>
          <p:nvSpPr>
            <p:cNvPr id="121" name="立方体 120">
              <a:extLst>
                <a:ext uri="{FF2B5EF4-FFF2-40B4-BE49-F238E27FC236}">
                  <a16:creationId xmlns:a16="http://schemas.microsoft.com/office/drawing/2014/main" id="{954A093E-7176-2140-5108-5EADEE9BAE82}"/>
                </a:ext>
              </a:extLst>
            </p:cNvPr>
            <p:cNvSpPr/>
            <p:nvPr/>
          </p:nvSpPr>
          <p:spPr>
            <a:xfrm>
              <a:off x="701211" y="3456000"/>
              <a:ext cx="108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050" dirty="0">
                  <a:solidFill>
                    <a:schemeClr val="bg1"/>
                  </a:solidFill>
                </a:rPr>
                <a:t>1 </a:t>
              </a:r>
              <a:r>
                <a:rPr lang="zh-CN" altLang="en-US" sz="1050" dirty="0">
                  <a:solidFill>
                    <a:schemeClr val="bg1"/>
                  </a:solidFill>
                </a:rPr>
                <a:t>物理层</a:t>
              </a:r>
            </a:p>
          </p:txBody>
        </p:sp>
        <p:sp>
          <p:nvSpPr>
            <p:cNvPr id="122" name="立方体 121">
              <a:extLst>
                <a:ext uri="{FF2B5EF4-FFF2-40B4-BE49-F238E27FC236}">
                  <a16:creationId xmlns:a16="http://schemas.microsoft.com/office/drawing/2014/main" id="{06E64CF6-55BD-B33E-03A5-49642AC22C40}"/>
                </a:ext>
              </a:extLst>
            </p:cNvPr>
            <p:cNvSpPr/>
            <p:nvPr/>
          </p:nvSpPr>
          <p:spPr>
            <a:xfrm>
              <a:off x="701211" y="3132000"/>
              <a:ext cx="108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050" dirty="0">
                  <a:solidFill>
                    <a:schemeClr val="bg1"/>
                  </a:solidFill>
                </a:rPr>
                <a:t>2 </a:t>
              </a:r>
              <a:r>
                <a:rPr lang="zh-CN" altLang="en-US" sz="1050" dirty="0">
                  <a:solidFill>
                    <a:schemeClr val="bg1"/>
                  </a:solidFill>
                </a:rPr>
                <a:t>数据链路层</a:t>
              </a:r>
            </a:p>
          </p:txBody>
        </p:sp>
        <p:sp>
          <p:nvSpPr>
            <p:cNvPr id="123" name="立方体 122">
              <a:extLst>
                <a:ext uri="{FF2B5EF4-FFF2-40B4-BE49-F238E27FC236}">
                  <a16:creationId xmlns:a16="http://schemas.microsoft.com/office/drawing/2014/main" id="{9F0E2DB0-FF12-5A10-A163-5FA000F255E6}"/>
                </a:ext>
              </a:extLst>
            </p:cNvPr>
            <p:cNvSpPr/>
            <p:nvPr/>
          </p:nvSpPr>
          <p:spPr>
            <a:xfrm>
              <a:off x="701211" y="2808000"/>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050" dirty="0">
                  <a:solidFill>
                    <a:schemeClr val="bg1"/>
                  </a:solidFill>
                </a:rPr>
                <a:t>3 </a:t>
              </a:r>
              <a:r>
                <a:rPr lang="zh-CN" altLang="en-US" sz="1050" dirty="0">
                  <a:solidFill>
                    <a:schemeClr val="bg1"/>
                  </a:solidFill>
                </a:rPr>
                <a:t>网络层</a:t>
              </a:r>
            </a:p>
          </p:txBody>
        </p:sp>
        <p:sp>
          <p:nvSpPr>
            <p:cNvPr id="124" name="立方体 123">
              <a:extLst>
                <a:ext uri="{FF2B5EF4-FFF2-40B4-BE49-F238E27FC236}">
                  <a16:creationId xmlns:a16="http://schemas.microsoft.com/office/drawing/2014/main" id="{BD2BCAB3-AC3C-0105-19DE-D73172742265}"/>
                </a:ext>
              </a:extLst>
            </p:cNvPr>
            <p:cNvSpPr/>
            <p:nvPr/>
          </p:nvSpPr>
          <p:spPr>
            <a:xfrm>
              <a:off x="701211" y="2484000"/>
              <a:ext cx="108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050" dirty="0">
                  <a:solidFill>
                    <a:schemeClr val="bg1"/>
                  </a:solidFill>
                </a:rPr>
                <a:t>4 </a:t>
              </a:r>
              <a:r>
                <a:rPr lang="zh-CN" altLang="en-US" sz="1050" dirty="0">
                  <a:solidFill>
                    <a:schemeClr val="bg1"/>
                  </a:solidFill>
                </a:rPr>
                <a:t>运输层</a:t>
              </a:r>
            </a:p>
          </p:txBody>
        </p:sp>
        <p:sp>
          <p:nvSpPr>
            <p:cNvPr id="125" name="立方体 124">
              <a:extLst>
                <a:ext uri="{FF2B5EF4-FFF2-40B4-BE49-F238E27FC236}">
                  <a16:creationId xmlns:a16="http://schemas.microsoft.com/office/drawing/2014/main" id="{78958456-C97D-8156-D8D4-C41FC0B213CC}"/>
                </a:ext>
              </a:extLst>
            </p:cNvPr>
            <p:cNvSpPr/>
            <p:nvPr/>
          </p:nvSpPr>
          <p:spPr>
            <a:xfrm>
              <a:off x="701211" y="2160000"/>
              <a:ext cx="108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050" dirty="0">
                  <a:solidFill>
                    <a:schemeClr val="bg1"/>
                  </a:solidFill>
                </a:rPr>
                <a:t>5 </a:t>
              </a:r>
              <a:r>
                <a:rPr lang="zh-CN" altLang="en-US" sz="1050" dirty="0">
                  <a:solidFill>
                    <a:schemeClr val="bg1"/>
                  </a:solidFill>
                </a:rPr>
                <a:t>应用层</a:t>
              </a:r>
            </a:p>
          </p:txBody>
        </p:sp>
        <p:sp>
          <p:nvSpPr>
            <p:cNvPr id="126" name="圆柱体 125">
              <a:extLst>
                <a:ext uri="{FF2B5EF4-FFF2-40B4-BE49-F238E27FC236}">
                  <a16:creationId xmlns:a16="http://schemas.microsoft.com/office/drawing/2014/main" id="{F183EA7F-F91F-E260-FAB0-E39B8BE7476E}"/>
                </a:ext>
              </a:extLst>
            </p:cNvPr>
            <p:cNvSpPr/>
            <p:nvPr/>
          </p:nvSpPr>
          <p:spPr>
            <a:xfrm>
              <a:off x="953211" y="1800000"/>
              <a:ext cx="576000" cy="360000"/>
            </a:xfrm>
            <a:prstGeom prst="can">
              <a:avLst/>
            </a:prstGeom>
            <a:solidFill>
              <a:srgbClr val="FFFF00"/>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000" dirty="0">
                  <a:solidFill>
                    <a:sysClr val="windowText" lastClr="000000"/>
                  </a:solidFill>
                </a:rPr>
                <a:t>AP1</a:t>
              </a:r>
              <a:endParaRPr lang="zh-CN" altLang="en-US" sz="1000" dirty="0">
                <a:solidFill>
                  <a:sysClr val="windowText" lastClr="000000"/>
                </a:solidFill>
              </a:endParaRPr>
            </a:p>
          </p:txBody>
        </p:sp>
      </p:grpSp>
      <p:grpSp>
        <p:nvGrpSpPr>
          <p:cNvPr id="127" name="组合 126">
            <a:extLst>
              <a:ext uri="{FF2B5EF4-FFF2-40B4-BE49-F238E27FC236}">
                <a16:creationId xmlns:a16="http://schemas.microsoft.com/office/drawing/2014/main" id="{3B6D12B2-C16C-281C-4CBF-269FB82E5384}"/>
              </a:ext>
            </a:extLst>
          </p:cNvPr>
          <p:cNvGrpSpPr/>
          <p:nvPr/>
        </p:nvGrpSpPr>
        <p:grpSpPr>
          <a:xfrm>
            <a:off x="701211" y="1800000"/>
            <a:ext cx="1080000" cy="2088000"/>
            <a:chOff x="701211" y="1800000"/>
            <a:chExt cx="1080000" cy="2088000"/>
          </a:xfrm>
        </p:grpSpPr>
        <p:sp>
          <p:nvSpPr>
            <p:cNvPr id="128" name="立方体 127">
              <a:extLst>
                <a:ext uri="{FF2B5EF4-FFF2-40B4-BE49-F238E27FC236}">
                  <a16:creationId xmlns:a16="http://schemas.microsoft.com/office/drawing/2014/main" id="{63E5E867-8C88-F295-CCE4-1CC5EB005884}"/>
                </a:ext>
              </a:extLst>
            </p:cNvPr>
            <p:cNvSpPr/>
            <p:nvPr/>
          </p:nvSpPr>
          <p:spPr>
            <a:xfrm>
              <a:off x="701211" y="3456000"/>
              <a:ext cx="108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050" dirty="0">
                  <a:solidFill>
                    <a:schemeClr val="bg1"/>
                  </a:solidFill>
                </a:rPr>
                <a:t>1 </a:t>
              </a:r>
              <a:r>
                <a:rPr lang="zh-CN" altLang="en-US" sz="1050" dirty="0">
                  <a:solidFill>
                    <a:schemeClr val="bg1"/>
                  </a:solidFill>
                </a:rPr>
                <a:t>物理层</a:t>
              </a:r>
            </a:p>
          </p:txBody>
        </p:sp>
        <p:sp>
          <p:nvSpPr>
            <p:cNvPr id="129" name="立方体 128">
              <a:extLst>
                <a:ext uri="{FF2B5EF4-FFF2-40B4-BE49-F238E27FC236}">
                  <a16:creationId xmlns:a16="http://schemas.microsoft.com/office/drawing/2014/main" id="{3DAD75B1-C95E-E1B4-A47C-4AC4C81A76D0}"/>
                </a:ext>
              </a:extLst>
            </p:cNvPr>
            <p:cNvSpPr/>
            <p:nvPr/>
          </p:nvSpPr>
          <p:spPr>
            <a:xfrm>
              <a:off x="701211" y="3132000"/>
              <a:ext cx="108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050" dirty="0">
                  <a:solidFill>
                    <a:schemeClr val="bg1"/>
                  </a:solidFill>
                </a:rPr>
                <a:t>2 </a:t>
              </a:r>
              <a:r>
                <a:rPr lang="zh-CN" altLang="en-US" sz="1050" dirty="0">
                  <a:solidFill>
                    <a:schemeClr val="bg1"/>
                  </a:solidFill>
                </a:rPr>
                <a:t>数据链路层</a:t>
              </a:r>
            </a:p>
          </p:txBody>
        </p:sp>
        <p:sp>
          <p:nvSpPr>
            <p:cNvPr id="130" name="立方体 129">
              <a:extLst>
                <a:ext uri="{FF2B5EF4-FFF2-40B4-BE49-F238E27FC236}">
                  <a16:creationId xmlns:a16="http://schemas.microsoft.com/office/drawing/2014/main" id="{FBD986A3-E7E0-3483-690A-61CAED1527AA}"/>
                </a:ext>
              </a:extLst>
            </p:cNvPr>
            <p:cNvSpPr/>
            <p:nvPr/>
          </p:nvSpPr>
          <p:spPr>
            <a:xfrm>
              <a:off x="701211" y="2808000"/>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050" dirty="0">
                  <a:solidFill>
                    <a:schemeClr val="bg1"/>
                  </a:solidFill>
                </a:rPr>
                <a:t>3 </a:t>
              </a:r>
              <a:r>
                <a:rPr lang="zh-CN" altLang="en-US" sz="1050" dirty="0">
                  <a:solidFill>
                    <a:schemeClr val="bg1"/>
                  </a:solidFill>
                </a:rPr>
                <a:t>网络层</a:t>
              </a:r>
            </a:p>
          </p:txBody>
        </p:sp>
        <p:sp>
          <p:nvSpPr>
            <p:cNvPr id="131" name="立方体 130">
              <a:extLst>
                <a:ext uri="{FF2B5EF4-FFF2-40B4-BE49-F238E27FC236}">
                  <a16:creationId xmlns:a16="http://schemas.microsoft.com/office/drawing/2014/main" id="{4B760B6C-C538-0159-FC01-F03B0FCB3F26}"/>
                </a:ext>
              </a:extLst>
            </p:cNvPr>
            <p:cNvSpPr/>
            <p:nvPr/>
          </p:nvSpPr>
          <p:spPr>
            <a:xfrm>
              <a:off x="701211" y="2484000"/>
              <a:ext cx="108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050" dirty="0">
                  <a:solidFill>
                    <a:schemeClr val="bg1"/>
                  </a:solidFill>
                </a:rPr>
                <a:t>4 </a:t>
              </a:r>
              <a:r>
                <a:rPr lang="zh-CN" altLang="en-US" sz="1050" dirty="0">
                  <a:solidFill>
                    <a:schemeClr val="bg1"/>
                  </a:solidFill>
                </a:rPr>
                <a:t>运输层</a:t>
              </a:r>
            </a:p>
          </p:txBody>
        </p:sp>
        <p:sp>
          <p:nvSpPr>
            <p:cNvPr id="132" name="立方体 131">
              <a:extLst>
                <a:ext uri="{FF2B5EF4-FFF2-40B4-BE49-F238E27FC236}">
                  <a16:creationId xmlns:a16="http://schemas.microsoft.com/office/drawing/2014/main" id="{E8AFD42A-565F-FA07-CDB4-7C691DFBA74B}"/>
                </a:ext>
              </a:extLst>
            </p:cNvPr>
            <p:cNvSpPr/>
            <p:nvPr/>
          </p:nvSpPr>
          <p:spPr>
            <a:xfrm>
              <a:off x="701211" y="2160000"/>
              <a:ext cx="108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050" dirty="0">
                  <a:solidFill>
                    <a:schemeClr val="bg1"/>
                  </a:solidFill>
                </a:rPr>
                <a:t>5 </a:t>
              </a:r>
              <a:r>
                <a:rPr lang="zh-CN" altLang="en-US" sz="1050" dirty="0">
                  <a:solidFill>
                    <a:schemeClr val="bg1"/>
                  </a:solidFill>
                </a:rPr>
                <a:t>应用层</a:t>
              </a:r>
            </a:p>
          </p:txBody>
        </p:sp>
        <p:sp>
          <p:nvSpPr>
            <p:cNvPr id="133" name="圆柱体 132">
              <a:extLst>
                <a:ext uri="{FF2B5EF4-FFF2-40B4-BE49-F238E27FC236}">
                  <a16:creationId xmlns:a16="http://schemas.microsoft.com/office/drawing/2014/main" id="{BFB56638-6BBB-D70E-7D00-FAAEBB4FC931}"/>
                </a:ext>
              </a:extLst>
            </p:cNvPr>
            <p:cNvSpPr/>
            <p:nvPr/>
          </p:nvSpPr>
          <p:spPr>
            <a:xfrm>
              <a:off x="953211" y="1800000"/>
              <a:ext cx="576000" cy="360000"/>
            </a:xfrm>
            <a:prstGeom prst="can">
              <a:avLst/>
            </a:prstGeom>
            <a:solidFill>
              <a:srgbClr val="FFFF00"/>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000" dirty="0">
                  <a:solidFill>
                    <a:sysClr val="windowText" lastClr="000000"/>
                  </a:solidFill>
                </a:rPr>
                <a:t>AP1</a:t>
              </a:r>
              <a:endParaRPr lang="zh-CN" altLang="en-US" sz="1000" dirty="0">
                <a:solidFill>
                  <a:sysClr val="windowText" lastClr="000000"/>
                </a:solidFill>
              </a:endParaRPr>
            </a:p>
          </p:txBody>
        </p:sp>
      </p:grpSp>
      <p:sp>
        <p:nvSpPr>
          <p:cNvPr id="25" name="Text Box 29"/>
          <p:cNvSpPr txBox="1">
            <a:spLocks noChangeArrowheads="1"/>
          </p:cNvSpPr>
          <p:nvPr/>
        </p:nvSpPr>
        <p:spPr bwMode="auto">
          <a:xfrm>
            <a:off x="110689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1</a:t>
            </a:r>
          </a:p>
        </p:txBody>
      </p:sp>
      <p:sp>
        <p:nvSpPr>
          <p:cNvPr id="38" name="Text Box 29"/>
          <p:cNvSpPr txBox="1">
            <a:spLocks noChangeArrowheads="1"/>
          </p:cNvSpPr>
          <p:nvPr/>
        </p:nvSpPr>
        <p:spPr bwMode="auto">
          <a:xfrm>
            <a:off x="736975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2</a:t>
            </a:r>
          </a:p>
        </p:txBody>
      </p:sp>
      <p:sp>
        <p:nvSpPr>
          <p:cNvPr id="39" name="Text Box 29"/>
          <p:cNvSpPr txBox="1">
            <a:spLocks noChangeArrowheads="1"/>
          </p:cNvSpPr>
          <p:nvPr/>
        </p:nvSpPr>
        <p:spPr bwMode="auto">
          <a:xfrm>
            <a:off x="4160212" y="107510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路由器</a:t>
            </a:r>
            <a:endParaRPr kumimoji="1" lang="en-US" altLang="zh-CN" sz="1200" b="1" dirty="0">
              <a:solidFill>
                <a:srgbClr val="0000FF"/>
              </a:solidFill>
              <a:latin typeface="微软雅黑" panose="020B0503020204020204" pitchFamily="34" charset="-122"/>
              <a:ea typeface="微软雅黑" panose="020B0503020204020204" pitchFamily="34" charset="-122"/>
            </a:endParaRPr>
          </a:p>
        </p:txBody>
      </p:sp>
      <p:cxnSp>
        <p:nvCxnSpPr>
          <p:cNvPr id="69" name="直接连接符 68"/>
          <p:cNvCxnSpPr/>
          <p:nvPr/>
        </p:nvCxnSpPr>
        <p:spPr>
          <a:xfrm>
            <a:off x="1418143" y="1507958"/>
            <a:ext cx="6306131" cy="0"/>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pic>
        <p:nvPicPr>
          <p:cNvPr id="36"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486661" y="1312469"/>
            <a:ext cx="410222"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7"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202308" y="1312469"/>
            <a:ext cx="410223"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6" name="Text Box 32"/>
          <p:cNvSpPr txBox="1">
            <a:spLocks noChangeArrowheads="1"/>
          </p:cNvSpPr>
          <p:nvPr/>
        </p:nvSpPr>
        <p:spPr bwMode="auto">
          <a:xfrm>
            <a:off x="2434484" y="1539928"/>
            <a:ext cx="607859"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zh-CN" altLang="en-US" sz="1100" b="1" dirty="0">
                <a:latin typeface="微软雅黑" panose="020B0503020204020204" pitchFamily="34" charset="-122"/>
                <a:ea typeface="微软雅黑" panose="020B0503020204020204" pitchFamily="34" charset="-122"/>
              </a:rPr>
              <a:t>应用层</a:t>
            </a:r>
            <a:endParaRPr kumimoji="1" lang="en-US" altLang="zh-CN" sz="1100" b="1" dirty="0">
              <a:latin typeface="微软雅黑" panose="020B0503020204020204" pitchFamily="34" charset="-122"/>
              <a:ea typeface="微软雅黑" panose="020B0503020204020204" pitchFamily="34" charset="-122"/>
            </a:endParaRPr>
          </a:p>
          <a:p>
            <a:pPr algn="ctr" eaLnBrk="0" hangingPunct="0"/>
            <a:r>
              <a:rPr kumimoji="1" lang="zh-CN" altLang="en-US" sz="1100" b="1" dirty="0">
                <a:latin typeface="微软雅黑" panose="020B0503020204020204" pitchFamily="34" charset="-122"/>
                <a:ea typeface="微软雅黑" panose="020B0503020204020204" pitchFamily="34" charset="-122"/>
              </a:rPr>
              <a:t>首部</a:t>
            </a:r>
          </a:p>
        </p:txBody>
      </p:sp>
      <p:sp>
        <p:nvSpPr>
          <p:cNvPr id="77" name="Line 33"/>
          <p:cNvSpPr>
            <a:spLocks noChangeShapeType="1"/>
          </p:cNvSpPr>
          <p:nvPr/>
        </p:nvSpPr>
        <p:spPr bwMode="auto">
          <a:xfrm>
            <a:off x="2752925" y="1947477"/>
            <a:ext cx="116622" cy="260959"/>
          </a:xfrm>
          <a:prstGeom prst="line">
            <a:avLst/>
          </a:prstGeom>
          <a:noFill/>
          <a:ln w="12700">
            <a:solidFill>
              <a:srgbClr val="333399"/>
            </a:solidFill>
            <a:round/>
            <a:headEnd type="none" w="sm"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cxnSp>
        <p:nvCxnSpPr>
          <p:cNvPr id="61" name="直接箭头连接符 60"/>
          <p:cNvCxnSpPr/>
          <p:nvPr/>
        </p:nvCxnSpPr>
        <p:spPr>
          <a:xfrm>
            <a:off x="1561619" y="1428166"/>
            <a:ext cx="5941518" cy="0"/>
          </a:xfrm>
          <a:prstGeom prst="straightConnector1">
            <a:avLst/>
          </a:prstGeom>
          <a:ln w="28575">
            <a:solidFill>
              <a:srgbClr val="CC00CC"/>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35"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54124" y="1385466"/>
            <a:ext cx="454438" cy="2643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 name="标题 1">
            <a:extLst>
              <a:ext uri="{FF2B5EF4-FFF2-40B4-BE49-F238E27FC236}">
                <a16:creationId xmlns:a16="http://schemas.microsoft.com/office/drawing/2014/main" id="{1CF881F2-5629-D24E-6F97-0AB68692C84B}"/>
              </a:ext>
            </a:extLst>
          </p:cNvPr>
          <p:cNvSpPr>
            <a:spLocks noGrp="1"/>
          </p:cNvSpPr>
          <p:nvPr>
            <p:ph type="title"/>
          </p:nvPr>
        </p:nvSpPr>
        <p:spPr>
          <a:xfrm>
            <a:off x="612000" y="144000"/>
            <a:ext cx="7920000" cy="341632"/>
          </a:xfrm>
        </p:spPr>
        <p:txBody>
          <a:bodyPr/>
          <a:lstStyle/>
          <a:p>
            <a:r>
              <a:rPr lang="zh-CN" altLang="en-US" dirty="0"/>
              <a:t>数据在各层之间的传递过程</a:t>
            </a:r>
          </a:p>
        </p:txBody>
      </p:sp>
      <p:sp useBgFill="1">
        <p:nvSpPr>
          <p:cNvPr id="135" name="Rectangle 37">
            <a:extLst>
              <a:ext uri="{FF2B5EF4-FFF2-40B4-BE49-F238E27FC236}">
                <a16:creationId xmlns:a16="http://schemas.microsoft.com/office/drawing/2014/main" id="{6C45D2E6-CBBC-ACDF-8BC7-11AEF9233820}"/>
              </a:ext>
            </a:extLst>
          </p:cNvPr>
          <p:cNvSpPr>
            <a:spLocks noChangeArrowheads="1"/>
          </p:cNvSpPr>
          <p:nvPr/>
        </p:nvSpPr>
        <p:spPr bwMode="auto">
          <a:xfrm>
            <a:off x="2961614" y="1870804"/>
            <a:ext cx="482400" cy="244800"/>
          </a:xfrm>
          <a:prstGeom prst="rect">
            <a:avLst/>
          </a:prstGeom>
          <a:ln w="9525">
            <a:solidFill>
              <a:schemeClr val="tx1"/>
            </a:solidFill>
            <a:miter lim="800000"/>
          </a:ln>
        </p:spPr>
        <p:txBody>
          <a:bodyPr wrap="none" anchor="ctr"/>
          <a:lstStyle/>
          <a:p>
            <a:pPr algn="ctr"/>
            <a:r>
              <a:rPr lang="zh-CN" altLang="en-US" sz="1000" dirty="0"/>
              <a:t>数 据</a:t>
            </a:r>
          </a:p>
        </p:txBody>
      </p:sp>
      <p:sp>
        <p:nvSpPr>
          <p:cNvPr id="137" name="Rectangle 34">
            <a:extLst>
              <a:ext uri="{FF2B5EF4-FFF2-40B4-BE49-F238E27FC236}">
                <a16:creationId xmlns:a16="http://schemas.microsoft.com/office/drawing/2014/main" id="{B6AEC770-81B1-0C6C-F2C1-50FF7AA42EC1}"/>
              </a:ext>
            </a:extLst>
          </p:cNvPr>
          <p:cNvSpPr>
            <a:spLocks noChangeArrowheads="1"/>
          </p:cNvSpPr>
          <p:nvPr/>
        </p:nvSpPr>
        <p:spPr bwMode="auto">
          <a:xfrm>
            <a:off x="2738414" y="2209361"/>
            <a:ext cx="223200" cy="244800"/>
          </a:xfrm>
          <a:prstGeom prst="rect">
            <a:avLst/>
          </a:prstGeom>
          <a:solidFill>
            <a:schemeClr val="accent2"/>
          </a:solidFill>
          <a:ln w="9525">
            <a:solidFill>
              <a:schemeClr val="tx1"/>
            </a:solidFill>
            <a:miter lim="800000"/>
          </a:ln>
          <a:effectLst/>
        </p:spPr>
        <p:txBody>
          <a:bodyPr wrap="none" anchor="ctr"/>
          <a:lstStyle/>
          <a:p>
            <a:pPr algn="ctr"/>
            <a:r>
              <a:rPr lang="en-US" altLang="zh-CN" sz="1000" dirty="0"/>
              <a:t>H</a:t>
            </a:r>
            <a:r>
              <a:rPr lang="en-US" altLang="zh-CN" sz="1000" baseline="-25000" dirty="0"/>
              <a:t>5</a:t>
            </a:r>
          </a:p>
        </p:txBody>
      </p:sp>
      <p:sp useBgFill="1">
        <p:nvSpPr>
          <p:cNvPr id="139" name="Rectangle 37">
            <a:extLst>
              <a:ext uri="{FF2B5EF4-FFF2-40B4-BE49-F238E27FC236}">
                <a16:creationId xmlns:a16="http://schemas.microsoft.com/office/drawing/2014/main" id="{0801D0FF-879D-DFAD-909C-BA9DBDCF9995}"/>
              </a:ext>
            </a:extLst>
          </p:cNvPr>
          <p:cNvSpPr>
            <a:spLocks noChangeArrowheads="1"/>
          </p:cNvSpPr>
          <p:nvPr/>
        </p:nvSpPr>
        <p:spPr bwMode="auto">
          <a:xfrm>
            <a:off x="2961614" y="2209361"/>
            <a:ext cx="482400" cy="244800"/>
          </a:xfrm>
          <a:prstGeom prst="rect">
            <a:avLst/>
          </a:prstGeom>
          <a:ln w="9525">
            <a:solidFill>
              <a:schemeClr val="tx1"/>
            </a:solidFill>
            <a:miter lim="800000"/>
          </a:ln>
        </p:spPr>
        <p:txBody>
          <a:bodyPr wrap="none" anchor="ctr"/>
          <a:lstStyle/>
          <a:p>
            <a:pPr algn="ctr"/>
            <a:r>
              <a:rPr lang="zh-CN" altLang="en-US" sz="1000" dirty="0">
                <a:solidFill>
                  <a:sysClr val="windowText" lastClr="000000"/>
                </a:solidFill>
              </a:rPr>
              <a:t>数 据</a:t>
            </a:r>
          </a:p>
        </p:txBody>
      </p:sp>
      <p:sp>
        <p:nvSpPr>
          <p:cNvPr id="169" name="矩形 168">
            <a:extLst>
              <a:ext uri="{FF2B5EF4-FFF2-40B4-BE49-F238E27FC236}">
                <a16:creationId xmlns:a16="http://schemas.microsoft.com/office/drawing/2014/main" id="{DB413739-0503-2639-D79C-CBF6B7727BF2}"/>
              </a:ext>
            </a:extLst>
          </p:cNvPr>
          <p:cNvSpPr/>
          <p:nvPr/>
        </p:nvSpPr>
        <p:spPr>
          <a:xfrm>
            <a:off x="2979490" y="2219763"/>
            <a:ext cx="464524" cy="223997"/>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ysClr val="windowText" lastClr="000000"/>
              </a:solidFill>
            </a:endParaRPr>
          </a:p>
        </p:txBody>
      </p:sp>
      <p:grpSp>
        <p:nvGrpSpPr>
          <p:cNvPr id="72" name="Group 50"/>
          <p:cNvGrpSpPr/>
          <p:nvPr/>
        </p:nvGrpSpPr>
        <p:grpSpPr bwMode="auto">
          <a:xfrm>
            <a:off x="1237477" y="2076244"/>
            <a:ext cx="2052947" cy="205414"/>
            <a:chOff x="436" y="1815"/>
            <a:chExt cx="1744" cy="228"/>
          </a:xfrm>
          <a:solidFill>
            <a:srgbClr val="CC00CC">
              <a:alpha val="50000"/>
            </a:srgbClr>
          </a:solidFill>
        </p:grpSpPr>
        <p:sp>
          <p:nvSpPr>
            <p:cNvPr id="73" name="AutoShape 51"/>
            <p:cNvSpPr>
              <a:spLocks noChangeArrowheads="1"/>
            </p:cNvSpPr>
            <p:nvPr/>
          </p:nvSpPr>
          <p:spPr bwMode="auto">
            <a:xfrm flipV="1">
              <a:off x="436" y="1815"/>
              <a:ext cx="124" cy="228"/>
            </a:xfrm>
            <a:prstGeom prst="upArrow">
              <a:avLst>
                <a:gd name="adj1" fmla="val 50000"/>
                <a:gd name="adj2" fmla="val 45968"/>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a:endParaRPr lang="zh-CN" altLang="en-US" sz="1400" b="1">
                <a:latin typeface="微软雅黑" panose="020B0503020204020204" pitchFamily="34" charset="-122"/>
                <a:ea typeface="微软雅黑" panose="020B0503020204020204" pitchFamily="34" charset="-122"/>
              </a:endParaRPr>
            </a:p>
          </p:txBody>
        </p:sp>
        <p:sp>
          <p:nvSpPr>
            <p:cNvPr id="74" name="AutoShape 52"/>
            <p:cNvSpPr>
              <a:spLocks noChangeArrowheads="1"/>
            </p:cNvSpPr>
            <p:nvPr/>
          </p:nvSpPr>
          <p:spPr bwMode="auto">
            <a:xfrm flipV="1">
              <a:off x="2056" y="1815"/>
              <a:ext cx="124" cy="228"/>
            </a:xfrm>
            <a:prstGeom prst="upArrow">
              <a:avLst>
                <a:gd name="adj1" fmla="val 50000"/>
                <a:gd name="adj2" fmla="val 45968"/>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a:endParaRPr lang="zh-CN" altLang="en-US" sz="1400" b="1">
                <a:latin typeface="微软雅黑" panose="020B0503020204020204" pitchFamily="34" charset="-122"/>
                <a:ea typeface="微软雅黑" panose="020B0503020204020204" pitchFamily="34" charset="-122"/>
              </a:endParaRPr>
            </a:p>
          </p:txBody>
        </p:sp>
      </p:grpSp>
      <p:grpSp>
        <p:nvGrpSpPr>
          <p:cNvPr id="87" name="Group 53"/>
          <p:cNvGrpSpPr/>
          <p:nvPr/>
        </p:nvGrpSpPr>
        <p:grpSpPr bwMode="auto">
          <a:xfrm>
            <a:off x="1237477" y="2416934"/>
            <a:ext cx="2045886" cy="243496"/>
            <a:chOff x="434" y="2091"/>
            <a:chExt cx="1738" cy="274"/>
          </a:xfrm>
          <a:solidFill>
            <a:srgbClr val="CC00CC"/>
          </a:solidFill>
        </p:grpSpPr>
        <p:sp>
          <p:nvSpPr>
            <p:cNvPr id="88" name="AutoShape 54"/>
            <p:cNvSpPr>
              <a:spLocks noChangeArrowheads="1"/>
            </p:cNvSpPr>
            <p:nvPr/>
          </p:nvSpPr>
          <p:spPr bwMode="auto">
            <a:xfrm rot="10800000">
              <a:off x="434" y="2116"/>
              <a:ext cx="125" cy="249"/>
            </a:xfrm>
            <a:prstGeom prst="upArrow">
              <a:avLst>
                <a:gd name="adj1" fmla="val 50000"/>
                <a:gd name="adj2" fmla="val 49800"/>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89" name="AutoShape 55"/>
            <p:cNvSpPr>
              <a:spLocks noChangeArrowheads="1"/>
            </p:cNvSpPr>
            <p:nvPr/>
          </p:nvSpPr>
          <p:spPr bwMode="auto">
            <a:xfrm rot="10800000">
              <a:off x="2054" y="2091"/>
              <a:ext cx="118" cy="249"/>
            </a:xfrm>
            <a:prstGeom prst="upArrow">
              <a:avLst>
                <a:gd name="adj1" fmla="val 50000"/>
                <a:gd name="adj2" fmla="val 49800"/>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grpSp>
      <p:grpSp>
        <p:nvGrpSpPr>
          <p:cNvPr id="176" name="组合 175">
            <a:extLst>
              <a:ext uri="{FF2B5EF4-FFF2-40B4-BE49-F238E27FC236}">
                <a16:creationId xmlns:a16="http://schemas.microsoft.com/office/drawing/2014/main" id="{75E6494F-22CB-4F49-0676-5B2065920264}"/>
              </a:ext>
            </a:extLst>
          </p:cNvPr>
          <p:cNvGrpSpPr/>
          <p:nvPr/>
        </p:nvGrpSpPr>
        <p:grpSpPr>
          <a:xfrm>
            <a:off x="3960000" y="2808000"/>
            <a:ext cx="1080000" cy="1080000"/>
            <a:chOff x="2807995" y="2745746"/>
            <a:chExt cx="1080000" cy="1080000"/>
          </a:xfrm>
        </p:grpSpPr>
        <p:sp>
          <p:nvSpPr>
            <p:cNvPr id="177" name="立方体 176">
              <a:extLst>
                <a:ext uri="{FF2B5EF4-FFF2-40B4-BE49-F238E27FC236}">
                  <a16:creationId xmlns:a16="http://schemas.microsoft.com/office/drawing/2014/main" id="{6DED51BC-EA44-233F-CEEE-620ECD92A8AD}"/>
                </a:ext>
              </a:extLst>
            </p:cNvPr>
            <p:cNvSpPr/>
            <p:nvPr/>
          </p:nvSpPr>
          <p:spPr>
            <a:xfrm>
              <a:off x="2807995" y="3393746"/>
              <a:ext cx="594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sz="1050" dirty="0">
                  <a:solidFill>
                    <a:schemeClr val="bg1"/>
                  </a:solidFill>
                </a:rPr>
                <a:t>1</a:t>
              </a:r>
              <a:endParaRPr lang="zh-CN" altLang="en-US" sz="1050" dirty="0">
                <a:solidFill>
                  <a:schemeClr val="bg1"/>
                </a:solidFill>
              </a:endParaRPr>
            </a:p>
          </p:txBody>
        </p:sp>
        <p:sp>
          <p:nvSpPr>
            <p:cNvPr id="178" name="立方体 177">
              <a:extLst>
                <a:ext uri="{FF2B5EF4-FFF2-40B4-BE49-F238E27FC236}">
                  <a16:creationId xmlns:a16="http://schemas.microsoft.com/office/drawing/2014/main" id="{9E9ED076-633D-D473-6F1D-4046855B2504}"/>
                </a:ext>
              </a:extLst>
            </p:cNvPr>
            <p:cNvSpPr/>
            <p:nvPr/>
          </p:nvSpPr>
          <p:spPr>
            <a:xfrm>
              <a:off x="2807995" y="3069746"/>
              <a:ext cx="594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sz="1050" dirty="0">
                  <a:solidFill>
                    <a:schemeClr val="bg1"/>
                  </a:solidFill>
                </a:rPr>
                <a:t>2</a:t>
              </a:r>
              <a:endParaRPr lang="zh-CN" altLang="en-US" sz="1050" dirty="0">
                <a:solidFill>
                  <a:schemeClr val="bg1"/>
                </a:solidFill>
              </a:endParaRPr>
            </a:p>
          </p:txBody>
        </p:sp>
        <p:sp>
          <p:nvSpPr>
            <p:cNvPr id="179" name="立方体 178">
              <a:extLst>
                <a:ext uri="{FF2B5EF4-FFF2-40B4-BE49-F238E27FC236}">
                  <a16:creationId xmlns:a16="http://schemas.microsoft.com/office/drawing/2014/main" id="{D508D27C-3792-989F-9BCC-82F81D9D704B}"/>
                </a:ext>
              </a:extLst>
            </p:cNvPr>
            <p:cNvSpPr/>
            <p:nvPr/>
          </p:nvSpPr>
          <p:spPr>
            <a:xfrm>
              <a:off x="3293995" y="3393746"/>
              <a:ext cx="594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sz="1050" dirty="0">
                  <a:solidFill>
                    <a:schemeClr val="bg1"/>
                  </a:solidFill>
                </a:rPr>
                <a:t>1</a:t>
              </a:r>
              <a:endParaRPr lang="zh-CN" altLang="en-US" sz="1050" dirty="0">
                <a:solidFill>
                  <a:schemeClr val="bg1"/>
                </a:solidFill>
              </a:endParaRPr>
            </a:p>
          </p:txBody>
        </p:sp>
        <p:sp>
          <p:nvSpPr>
            <p:cNvPr id="180" name="立方体 179">
              <a:extLst>
                <a:ext uri="{FF2B5EF4-FFF2-40B4-BE49-F238E27FC236}">
                  <a16:creationId xmlns:a16="http://schemas.microsoft.com/office/drawing/2014/main" id="{E65329D8-862E-BAE4-A017-B618C4C8F8B8}"/>
                </a:ext>
              </a:extLst>
            </p:cNvPr>
            <p:cNvSpPr/>
            <p:nvPr/>
          </p:nvSpPr>
          <p:spPr>
            <a:xfrm>
              <a:off x="3293995" y="3069746"/>
              <a:ext cx="594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sz="1050" dirty="0">
                  <a:solidFill>
                    <a:schemeClr val="bg1"/>
                  </a:solidFill>
                </a:rPr>
                <a:t>2</a:t>
              </a:r>
              <a:endParaRPr lang="zh-CN" altLang="en-US" sz="1050" dirty="0">
                <a:solidFill>
                  <a:schemeClr val="bg1"/>
                </a:solidFill>
              </a:endParaRPr>
            </a:p>
          </p:txBody>
        </p:sp>
        <p:sp>
          <p:nvSpPr>
            <p:cNvPr id="181" name="立方体 180">
              <a:extLst>
                <a:ext uri="{FF2B5EF4-FFF2-40B4-BE49-F238E27FC236}">
                  <a16:creationId xmlns:a16="http://schemas.microsoft.com/office/drawing/2014/main" id="{948934CD-464C-B9C6-592F-9FFE6C493830}"/>
                </a:ext>
              </a:extLst>
            </p:cNvPr>
            <p:cNvSpPr/>
            <p:nvPr/>
          </p:nvSpPr>
          <p:spPr>
            <a:xfrm>
              <a:off x="2807995" y="2745746"/>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pPr algn="ctr"/>
              <a:r>
                <a:rPr lang="en-US" altLang="zh-CN" sz="1050" dirty="0">
                  <a:solidFill>
                    <a:schemeClr val="bg1"/>
                  </a:solidFill>
                </a:rPr>
                <a:t>3</a:t>
              </a:r>
              <a:endParaRPr lang="zh-CN" altLang="en-US" sz="1050" dirty="0">
                <a:solidFill>
                  <a:schemeClr val="bg1"/>
                </a:solidFill>
              </a:endParaRPr>
            </a:p>
          </p:txBody>
        </p:sp>
      </p:grpSp>
      <p:sp>
        <p:nvSpPr>
          <p:cNvPr id="183" name="AutoShape 4">
            <a:extLst>
              <a:ext uri="{FF2B5EF4-FFF2-40B4-BE49-F238E27FC236}">
                <a16:creationId xmlns:a16="http://schemas.microsoft.com/office/drawing/2014/main" id="{AF5DE1EF-B788-09FC-EF98-29283CF7B564}"/>
              </a:ext>
            </a:extLst>
          </p:cNvPr>
          <p:cNvSpPr>
            <a:spLocks noChangeArrowheads="1"/>
          </p:cNvSpPr>
          <p:nvPr/>
        </p:nvSpPr>
        <p:spPr bwMode="auto">
          <a:xfrm rot="16200000">
            <a:off x="2567190" y="2361728"/>
            <a:ext cx="271463" cy="3600000"/>
          </a:xfrm>
          <a:prstGeom prst="can">
            <a:avLst>
              <a:gd name="adj" fmla="val 48656"/>
            </a:avLst>
          </a:prstGeom>
          <a:gradFill rotWithShape="0">
            <a:gsLst>
              <a:gs pos="0">
                <a:srgbClr val="00CC00"/>
              </a:gs>
              <a:gs pos="50000">
                <a:schemeClr val="bg1"/>
              </a:gs>
              <a:gs pos="100000">
                <a:srgbClr val="00CC00"/>
              </a:gs>
            </a:gsLst>
            <a:lin ang="5400000" scaled="1"/>
          </a:gradFill>
          <a:ln w="6350">
            <a:solidFill>
              <a:srgbClr val="7CE07C"/>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185" name="AutoShape 4">
            <a:extLst>
              <a:ext uri="{FF2B5EF4-FFF2-40B4-BE49-F238E27FC236}">
                <a16:creationId xmlns:a16="http://schemas.microsoft.com/office/drawing/2014/main" id="{4CE73F7F-8BFA-B813-EA31-74F82EF14ACC}"/>
              </a:ext>
            </a:extLst>
          </p:cNvPr>
          <p:cNvSpPr>
            <a:spLocks noChangeArrowheads="1"/>
          </p:cNvSpPr>
          <p:nvPr/>
        </p:nvSpPr>
        <p:spPr bwMode="auto">
          <a:xfrm rot="16200000">
            <a:off x="6253847" y="2361728"/>
            <a:ext cx="271463" cy="3600000"/>
          </a:xfrm>
          <a:prstGeom prst="can">
            <a:avLst>
              <a:gd name="adj" fmla="val 48656"/>
            </a:avLst>
          </a:prstGeom>
          <a:gradFill rotWithShape="0">
            <a:gsLst>
              <a:gs pos="0">
                <a:srgbClr val="00CC00"/>
              </a:gs>
              <a:gs pos="50000">
                <a:schemeClr val="bg1"/>
              </a:gs>
              <a:gs pos="100000">
                <a:srgbClr val="00CC00"/>
              </a:gs>
            </a:gsLst>
            <a:lin ang="5400000" scaled="1"/>
          </a:gradFill>
          <a:ln w="6350">
            <a:solidFill>
              <a:srgbClr val="7CE07C"/>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187" name="Text Box 26">
            <a:extLst>
              <a:ext uri="{FF2B5EF4-FFF2-40B4-BE49-F238E27FC236}">
                <a16:creationId xmlns:a16="http://schemas.microsoft.com/office/drawing/2014/main" id="{98D20D2E-5D08-DF06-35FB-1171C92A57BF}"/>
              </a:ext>
            </a:extLst>
          </p:cNvPr>
          <p:cNvSpPr txBox="1">
            <a:spLocks noChangeArrowheads="1"/>
          </p:cNvSpPr>
          <p:nvPr/>
        </p:nvSpPr>
        <p:spPr bwMode="auto">
          <a:xfrm>
            <a:off x="2701348" y="4023229"/>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dirty="0">
                <a:latin typeface="+mj-lt"/>
                <a:ea typeface="+mj-ea"/>
              </a:rPr>
              <a:t>物理传输媒体</a:t>
            </a:r>
          </a:p>
        </p:txBody>
      </p:sp>
      <p:sp>
        <p:nvSpPr>
          <p:cNvPr id="189" name="Text Box 26">
            <a:extLst>
              <a:ext uri="{FF2B5EF4-FFF2-40B4-BE49-F238E27FC236}">
                <a16:creationId xmlns:a16="http://schemas.microsoft.com/office/drawing/2014/main" id="{92E80C1E-C671-7350-70B7-37A3EA32DF95}"/>
              </a:ext>
            </a:extLst>
          </p:cNvPr>
          <p:cNvSpPr txBox="1">
            <a:spLocks noChangeArrowheads="1"/>
          </p:cNvSpPr>
          <p:nvPr/>
        </p:nvSpPr>
        <p:spPr bwMode="auto">
          <a:xfrm>
            <a:off x="6193730" y="4023229"/>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dirty="0">
                <a:latin typeface="+mj-lt"/>
                <a:ea typeface="+mj-ea"/>
              </a:rPr>
              <a:t>物理传输媒体</a:t>
            </a:r>
          </a:p>
        </p:txBody>
      </p:sp>
    </p:spTree>
    <p:extLst>
      <p:ext uri="{BB962C8B-B14F-4D97-AF65-F5344CB8AC3E}">
        <p14:creationId xmlns:p14="http://schemas.microsoft.com/office/powerpoint/2010/main" val="2241984917"/>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nodeType="afterEffect">
                                  <p:stCondLst>
                                    <p:cond delay="0"/>
                                  </p:stCondLst>
                                  <p:childTnLst>
                                    <p:set>
                                      <p:cBhvr>
                                        <p:cTn id="6" dur="1" fill="hold">
                                          <p:stCondLst>
                                            <p:cond delay="0"/>
                                          </p:stCondLst>
                                        </p:cTn>
                                        <p:tgtEl>
                                          <p:spTgt spid="87"/>
                                        </p:tgtEl>
                                        <p:attrNameLst>
                                          <p:attrName>style.visibility</p:attrName>
                                        </p:attrNameLst>
                                      </p:cBhvr>
                                      <p:to>
                                        <p:strVal val="visible"/>
                                      </p:to>
                                    </p:set>
                                    <p:animEffect transition="in" filter="wipe(up)">
                                      <p:cBhvr>
                                        <p:cTn id="7" dur="1000"/>
                                        <p:tgtEl>
                                          <p:spTgt spid="8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25" name="组合 124">
            <a:extLst>
              <a:ext uri="{FF2B5EF4-FFF2-40B4-BE49-F238E27FC236}">
                <a16:creationId xmlns:a16="http://schemas.microsoft.com/office/drawing/2014/main" id="{96BFBE02-829B-B4E1-2DB5-29F85E73726A}"/>
              </a:ext>
            </a:extLst>
          </p:cNvPr>
          <p:cNvGrpSpPr/>
          <p:nvPr/>
        </p:nvGrpSpPr>
        <p:grpSpPr>
          <a:xfrm>
            <a:off x="7395732" y="1800000"/>
            <a:ext cx="1080000" cy="2088000"/>
            <a:chOff x="701211" y="1800000"/>
            <a:chExt cx="1080000" cy="2088000"/>
          </a:xfrm>
        </p:grpSpPr>
        <p:sp>
          <p:nvSpPr>
            <p:cNvPr id="126" name="立方体 125">
              <a:extLst>
                <a:ext uri="{FF2B5EF4-FFF2-40B4-BE49-F238E27FC236}">
                  <a16:creationId xmlns:a16="http://schemas.microsoft.com/office/drawing/2014/main" id="{1B45AAB1-2CFF-0F9A-E910-3F837FCAF4F6}"/>
                </a:ext>
              </a:extLst>
            </p:cNvPr>
            <p:cNvSpPr/>
            <p:nvPr/>
          </p:nvSpPr>
          <p:spPr>
            <a:xfrm>
              <a:off x="701211" y="3456000"/>
              <a:ext cx="108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050" dirty="0">
                  <a:solidFill>
                    <a:schemeClr val="bg1"/>
                  </a:solidFill>
                </a:rPr>
                <a:t>1 </a:t>
              </a:r>
              <a:r>
                <a:rPr lang="zh-CN" altLang="en-US" sz="1050" dirty="0">
                  <a:solidFill>
                    <a:schemeClr val="bg1"/>
                  </a:solidFill>
                </a:rPr>
                <a:t>物理层</a:t>
              </a:r>
            </a:p>
          </p:txBody>
        </p:sp>
        <p:sp>
          <p:nvSpPr>
            <p:cNvPr id="127" name="立方体 126">
              <a:extLst>
                <a:ext uri="{FF2B5EF4-FFF2-40B4-BE49-F238E27FC236}">
                  <a16:creationId xmlns:a16="http://schemas.microsoft.com/office/drawing/2014/main" id="{A99F9309-D7C4-FA9E-C64E-C5F19CCECF66}"/>
                </a:ext>
              </a:extLst>
            </p:cNvPr>
            <p:cNvSpPr/>
            <p:nvPr/>
          </p:nvSpPr>
          <p:spPr>
            <a:xfrm>
              <a:off x="701211" y="3132000"/>
              <a:ext cx="108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050" dirty="0">
                  <a:solidFill>
                    <a:schemeClr val="bg1"/>
                  </a:solidFill>
                </a:rPr>
                <a:t>2 </a:t>
              </a:r>
              <a:r>
                <a:rPr lang="zh-CN" altLang="en-US" sz="1050" dirty="0">
                  <a:solidFill>
                    <a:schemeClr val="bg1"/>
                  </a:solidFill>
                </a:rPr>
                <a:t>数据链路层</a:t>
              </a:r>
            </a:p>
          </p:txBody>
        </p:sp>
        <p:sp>
          <p:nvSpPr>
            <p:cNvPr id="128" name="立方体 127">
              <a:extLst>
                <a:ext uri="{FF2B5EF4-FFF2-40B4-BE49-F238E27FC236}">
                  <a16:creationId xmlns:a16="http://schemas.microsoft.com/office/drawing/2014/main" id="{259EACD4-0225-25C5-D809-1FDD087BD8CF}"/>
                </a:ext>
              </a:extLst>
            </p:cNvPr>
            <p:cNvSpPr/>
            <p:nvPr/>
          </p:nvSpPr>
          <p:spPr>
            <a:xfrm>
              <a:off x="701211" y="2808000"/>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050" dirty="0">
                  <a:solidFill>
                    <a:schemeClr val="bg1"/>
                  </a:solidFill>
                </a:rPr>
                <a:t>3 </a:t>
              </a:r>
              <a:r>
                <a:rPr lang="zh-CN" altLang="en-US" sz="1050" dirty="0">
                  <a:solidFill>
                    <a:schemeClr val="bg1"/>
                  </a:solidFill>
                </a:rPr>
                <a:t>网络层</a:t>
              </a:r>
            </a:p>
          </p:txBody>
        </p:sp>
        <p:sp>
          <p:nvSpPr>
            <p:cNvPr id="129" name="立方体 128">
              <a:extLst>
                <a:ext uri="{FF2B5EF4-FFF2-40B4-BE49-F238E27FC236}">
                  <a16:creationId xmlns:a16="http://schemas.microsoft.com/office/drawing/2014/main" id="{CDA8259C-F0F5-D21B-3535-EE912360D004}"/>
                </a:ext>
              </a:extLst>
            </p:cNvPr>
            <p:cNvSpPr/>
            <p:nvPr/>
          </p:nvSpPr>
          <p:spPr>
            <a:xfrm>
              <a:off x="701211" y="2484000"/>
              <a:ext cx="108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050" dirty="0">
                  <a:solidFill>
                    <a:schemeClr val="bg1"/>
                  </a:solidFill>
                </a:rPr>
                <a:t>4 </a:t>
              </a:r>
              <a:r>
                <a:rPr lang="zh-CN" altLang="en-US" sz="1050" dirty="0">
                  <a:solidFill>
                    <a:schemeClr val="bg1"/>
                  </a:solidFill>
                </a:rPr>
                <a:t>运输层</a:t>
              </a:r>
            </a:p>
          </p:txBody>
        </p:sp>
        <p:sp>
          <p:nvSpPr>
            <p:cNvPr id="130" name="立方体 129">
              <a:extLst>
                <a:ext uri="{FF2B5EF4-FFF2-40B4-BE49-F238E27FC236}">
                  <a16:creationId xmlns:a16="http://schemas.microsoft.com/office/drawing/2014/main" id="{4CC100BE-69A9-2EA9-8253-1CBB85643E96}"/>
                </a:ext>
              </a:extLst>
            </p:cNvPr>
            <p:cNvSpPr/>
            <p:nvPr/>
          </p:nvSpPr>
          <p:spPr>
            <a:xfrm>
              <a:off x="701211" y="2160000"/>
              <a:ext cx="108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050" dirty="0">
                  <a:solidFill>
                    <a:schemeClr val="bg1"/>
                  </a:solidFill>
                </a:rPr>
                <a:t>5 </a:t>
              </a:r>
              <a:r>
                <a:rPr lang="zh-CN" altLang="en-US" sz="1050" dirty="0">
                  <a:solidFill>
                    <a:schemeClr val="bg1"/>
                  </a:solidFill>
                </a:rPr>
                <a:t>应用层</a:t>
              </a:r>
            </a:p>
          </p:txBody>
        </p:sp>
        <p:sp>
          <p:nvSpPr>
            <p:cNvPr id="131" name="圆柱体 130">
              <a:extLst>
                <a:ext uri="{FF2B5EF4-FFF2-40B4-BE49-F238E27FC236}">
                  <a16:creationId xmlns:a16="http://schemas.microsoft.com/office/drawing/2014/main" id="{3630DC40-383C-F1E0-65A8-F6E6C27A9AAC}"/>
                </a:ext>
              </a:extLst>
            </p:cNvPr>
            <p:cNvSpPr/>
            <p:nvPr/>
          </p:nvSpPr>
          <p:spPr>
            <a:xfrm>
              <a:off x="953211" y="1800000"/>
              <a:ext cx="576000" cy="360000"/>
            </a:xfrm>
            <a:prstGeom prst="can">
              <a:avLst/>
            </a:prstGeom>
            <a:solidFill>
              <a:srgbClr val="FFFF00"/>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000" dirty="0">
                  <a:solidFill>
                    <a:sysClr val="windowText" lastClr="000000"/>
                  </a:solidFill>
                </a:rPr>
                <a:t>AP1</a:t>
              </a:r>
              <a:endParaRPr lang="zh-CN" altLang="en-US" sz="1000" dirty="0">
                <a:solidFill>
                  <a:sysClr val="windowText" lastClr="000000"/>
                </a:solidFill>
              </a:endParaRPr>
            </a:p>
          </p:txBody>
        </p:sp>
      </p:grpSp>
      <p:grpSp>
        <p:nvGrpSpPr>
          <p:cNvPr id="132" name="组合 131">
            <a:extLst>
              <a:ext uri="{FF2B5EF4-FFF2-40B4-BE49-F238E27FC236}">
                <a16:creationId xmlns:a16="http://schemas.microsoft.com/office/drawing/2014/main" id="{3B9D47B3-CC15-1B55-04CB-8111EC15EB77}"/>
              </a:ext>
            </a:extLst>
          </p:cNvPr>
          <p:cNvGrpSpPr/>
          <p:nvPr/>
        </p:nvGrpSpPr>
        <p:grpSpPr>
          <a:xfrm>
            <a:off x="701211" y="1800000"/>
            <a:ext cx="1080000" cy="2088000"/>
            <a:chOff x="701211" y="1800000"/>
            <a:chExt cx="1080000" cy="2088000"/>
          </a:xfrm>
        </p:grpSpPr>
        <p:sp>
          <p:nvSpPr>
            <p:cNvPr id="133" name="立方体 132">
              <a:extLst>
                <a:ext uri="{FF2B5EF4-FFF2-40B4-BE49-F238E27FC236}">
                  <a16:creationId xmlns:a16="http://schemas.microsoft.com/office/drawing/2014/main" id="{37E369C4-7D86-EF61-B0DC-2AAD3D3395C4}"/>
                </a:ext>
              </a:extLst>
            </p:cNvPr>
            <p:cNvSpPr/>
            <p:nvPr/>
          </p:nvSpPr>
          <p:spPr>
            <a:xfrm>
              <a:off x="701211" y="3456000"/>
              <a:ext cx="108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050" dirty="0">
                  <a:solidFill>
                    <a:schemeClr val="bg1"/>
                  </a:solidFill>
                </a:rPr>
                <a:t>1 </a:t>
              </a:r>
              <a:r>
                <a:rPr lang="zh-CN" altLang="en-US" sz="1050" dirty="0">
                  <a:solidFill>
                    <a:schemeClr val="bg1"/>
                  </a:solidFill>
                </a:rPr>
                <a:t>物理层</a:t>
              </a:r>
            </a:p>
          </p:txBody>
        </p:sp>
        <p:sp>
          <p:nvSpPr>
            <p:cNvPr id="134" name="立方体 133">
              <a:extLst>
                <a:ext uri="{FF2B5EF4-FFF2-40B4-BE49-F238E27FC236}">
                  <a16:creationId xmlns:a16="http://schemas.microsoft.com/office/drawing/2014/main" id="{7B123E5B-CE7B-99F7-55E4-69516727E8AE}"/>
                </a:ext>
              </a:extLst>
            </p:cNvPr>
            <p:cNvSpPr/>
            <p:nvPr/>
          </p:nvSpPr>
          <p:spPr>
            <a:xfrm>
              <a:off x="701211" y="3132000"/>
              <a:ext cx="108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050" dirty="0">
                  <a:solidFill>
                    <a:schemeClr val="bg1"/>
                  </a:solidFill>
                </a:rPr>
                <a:t>2 </a:t>
              </a:r>
              <a:r>
                <a:rPr lang="zh-CN" altLang="en-US" sz="1050" dirty="0">
                  <a:solidFill>
                    <a:schemeClr val="bg1"/>
                  </a:solidFill>
                </a:rPr>
                <a:t>数据链路层</a:t>
              </a:r>
            </a:p>
          </p:txBody>
        </p:sp>
        <p:sp>
          <p:nvSpPr>
            <p:cNvPr id="135" name="立方体 134">
              <a:extLst>
                <a:ext uri="{FF2B5EF4-FFF2-40B4-BE49-F238E27FC236}">
                  <a16:creationId xmlns:a16="http://schemas.microsoft.com/office/drawing/2014/main" id="{8194646C-2000-B3CD-3FBC-A67574C7D44C}"/>
                </a:ext>
              </a:extLst>
            </p:cNvPr>
            <p:cNvSpPr/>
            <p:nvPr/>
          </p:nvSpPr>
          <p:spPr>
            <a:xfrm>
              <a:off x="701211" y="2808000"/>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050" dirty="0">
                  <a:solidFill>
                    <a:schemeClr val="bg1"/>
                  </a:solidFill>
                </a:rPr>
                <a:t>3 </a:t>
              </a:r>
              <a:r>
                <a:rPr lang="zh-CN" altLang="en-US" sz="1050" dirty="0">
                  <a:solidFill>
                    <a:schemeClr val="bg1"/>
                  </a:solidFill>
                </a:rPr>
                <a:t>网络层</a:t>
              </a:r>
            </a:p>
          </p:txBody>
        </p:sp>
        <p:sp>
          <p:nvSpPr>
            <p:cNvPr id="136" name="立方体 135">
              <a:extLst>
                <a:ext uri="{FF2B5EF4-FFF2-40B4-BE49-F238E27FC236}">
                  <a16:creationId xmlns:a16="http://schemas.microsoft.com/office/drawing/2014/main" id="{8CE56FF4-748C-4AD2-EE15-EF46277D645D}"/>
                </a:ext>
              </a:extLst>
            </p:cNvPr>
            <p:cNvSpPr/>
            <p:nvPr/>
          </p:nvSpPr>
          <p:spPr>
            <a:xfrm>
              <a:off x="701211" y="2484000"/>
              <a:ext cx="108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050" dirty="0">
                  <a:solidFill>
                    <a:schemeClr val="bg1"/>
                  </a:solidFill>
                </a:rPr>
                <a:t>4 </a:t>
              </a:r>
              <a:r>
                <a:rPr lang="zh-CN" altLang="en-US" sz="1050" dirty="0">
                  <a:solidFill>
                    <a:schemeClr val="bg1"/>
                  </a:solidFill>
                </a:rPr>
                <a:t>运输层</a:t>
              </a:r>
            </a:p>
          </p:txBody>
        </p:sp>
        <p:sp>
          <p:nvSpPr>
            <p:cNvPr id="137" name="立方体 136">
              <a:extLst>
                <a:ext uri="{FF2B5EF4-FFF2-40B4-BE49-F238E27FC236}">
                  <a16:creationId xmlns:a16="http://schemas.microsoft.com/office/drawing/2014/main" id="{BD5F04E0-E727-51EE-6EC7-C98CCD2936A0}"/>
                </a:ext>
              </a:extLst>
            </p:cNvPr>
            <p:cNvSpPr/>
            <p:nvPr/>
          </p:nvSpPr>
          <p:spPr>
            <a:xfrm>
              <a:off x="701211" y="2160000"/>
              <a:ext cx="108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050" dirty="0">
                  <a:solidFill>
                    <a:schemeClr val="bg1"/>
                  </a:solidFill>
                </a:rPr>
                <a:t>5 </a:t>
              </a:r>
              <a:r>
                <a:rPr lang="zh-CN" altLang="en-US" sz="1050" dirty="0">
                  <a:solidFill>
                    <a:schemeClr val="bg1"/>
                  </a:solidFill>
                </a:rPr>
                <a:t>应用层</a:t>
              </a:r>
            </a:p>
          </p:txBody>
        </p:sp>
        <p:sp>
          <p:nvSpPr>
            <p:cNvPr id="138" name="圆柱体 137">
              <a:extLst>
                <a:ext uri="{FF2B5EF4-FFF2-40B4-BE49-F238E27FC236}">
                  <a16:creationId xmlns:a16="http://schemas.microsoft.com/office/drawing/2014/main" id="{FE23456E-0B26-B1E1-2EED-D465CA274825}"/>
                </a:ext>
              </a:extLst>
            </p:cNvPr>
            <p:cNvSpPr/>
            <p:nvPr/>
          </p:nvSpPr>
          <p:spPr>
            <a:xfrm>
              <a:off x="953211" y="1800000"/>
              <a:ext cx="576000" cy="360000"/>
            </a:xfrm>
            <a:prstGeom prst="can">
              <a:avLst/>
            </a:prstGeom>
            <a:solidFill>
              <a:srgbClr val="FFFF00"/>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000" dirty="0">
                  <a:solidFill>
                    <a:sysClr val="windowText" lastClr="000000"/>
                  </a:solidFill>
                </a:rPr>
                <a:t>AP1</a:t>
              </a:r>
              <a:endParaRPr lang="zh-CN" altLang="en-US" sz="1000" dirty="0">
                <a:solidFill>
                  <a:sysClr val="windowText" lastClr="000000"/>
                </a:solidFill>
              </a:endParaRPr>
            </a:p>
          </p:txBody>
        </p:sp>
      </p:grpSp>
      <p:sp>
        <p:nvSpPr>
          <p:cNvPr id="25" name="Text Box 29"/>
          <p:cNvSpPr txBox="1">
            <a:spLocks noChangeArrowheads="1"/>
          </p:cNvSpPr>
          <p:nvPr/>
        </p:nvSpPr>
        <p:spPr bwMode="auto">
          <a:xfrm>
            <a:off x="110689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1</a:t>
            </a:r>
          </a:p>
        </p:txBody>
      </p:sp>
      <p:sp>
        <p:nvSpPr>
          <p:cNvPr id="38" name="Text Box 29"/>
          <p:cNvSpPr txBox="1">
            <a:spLocks noChangeArrowheads="1"/>
          </p:cNvSpPr>
          <p:nvPr/>
        </p:nvSpPr>
        <p:spPr bwMode="auto">
          <a:xfrm>
            <a:off x="736975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2</a:t>
            </a:r>
          </a:p>
        </p:txBody>
      </p:sp>
      <p:sp>
        <p:nvSpPr>
          <p:cNvPr id="39" name="Text Box 29"/>
          <p:cNvSpPr txBox="1">
            <a:spLocks noChangeArrowheads="1"/>
          </p:cNvSpPr>
          <p:nvPr/>
        </p:nvSpPr>
        <p:spPr bwMode="auto">
          <a:xfrm>
            <a:off x="4160212" y="107510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路由器</a:t>
            </a:r>
            <a:endParaRPr kumimoji="1" lang="en-US" altLang="zh-CN" sz="1200" b="1" dirty="0">
              <a:solidFill>
                <a:srgbClr val="0000FF"/>
              </a:solidFill>
              <a:latin typeface="微软雅黑" panose="020B0503020204020204" pitchFamily="34" charset="-122"/>
              <a:ea typeface="微软雅黑" panose="020B0503020204020204" pitchFamily="34" charset="-122"/>
            </a:endParaRPr>
          </a:p>
        </p:txBody>
      </p:sp>
      <p:cxnSp>
        <p:nvCxnSpPr>
          <p:cNvPr id="69" name="直接连接符 68"/>
          <p:cNvCxnSpPr/>
          <p:nvPr/>
        </p:nvCxnSpPr>
        <p:spPr>
          <a:xfrm>
            <a:off x="1418143" y="1507958"/>
            <a:ext cx="6306131" cy="0"/>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pic>
        <p:nvPicPr>
          <p:cNvPr id="36"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486661" y="1312469"/>
            <a:ext cx="410222"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7"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202308" y="1312469"/>
            <a:ext cx="410223"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85" name="Text Box 67"/>
          <p:cNvSpPr txBox="1">
            <a:spLocks noChangeArrowheads="1"/>
          </p:cNvSpPr>
          <p:nvPr/>
        </p:nvSpPr>
        <p:spPr bwMode="auto">
          <a:xfrm>
            <a:off x="2201435" y="1848434"/>
            <a:ext cx="607859"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zh-CN" altLang="en-US" sz="1100" b="1" dirty="0">
                <a:latin typeface="微软雅黑" panose="020B0503020204020204" pitchFamily="34" charset="-122"/>
                <a:ea typeface="微软雅黑" panose="020B0503020204020204" pitchFamily="34" charset="-122"/>
              </a:rPr>
              <a:t>运输层</a:t>
            </a:r>
            <a:endParaRPr kumimoji="1" lang="en-US" altLang="zh-CN" sz="1100" b="1" dirty="0">
              <a:latin typeface="微软雅黑" panose="020B0503020204020204" pitchFamily="34" charset="-122"/>
              <a:ea typeface="微软雅黑" panose="020B0503020204020204" pitchFamily="34" charset="-122"/>
            </a:endParaRPr>
          </a:p>
          <a:p>
            <a:pPr algn="ctr" eaLnBrk="0" hangingPunct="0"/>
            <a:r>
              <a:rPr kumimoji="1" lang="zh-CN" altLang="en-US" sz="1100" b="1" dirty="0">
                <a:latin typeface="微软雅黑" panose="020B0503020204020204" pitchFamily="34" charset="-122"/>
                <a:ea typeface="微软雅黑" panose="020B0503020204020204" pitchFamily="34" charset="-122"/>
              </a:rPr>
              <a:t>首部</a:t>
            </a:r>
          </a:p>
        </p:txBody>
      </p:sp>
      <p:sp>
        <p:nvSpPr>
          <p:cNvPr id="86" name="Line 68"/>
          <p:cNvSpPr>
            <a:spLocks noChangeShapeType="1"/>
          </p:cNvSpPr>
          <p:nvPr/>
        </p:nvSpPr>
        <p:spPr bwMode="auto">
          <a:xfrm>
            <a:off x="2520440" y="2253691"/>
            <a:ext cx="110656" cy="271362"/>
          </a:xfrm>
          <a:prstGeom prst="line">
            <a:avLst/>
          </a:prstGeom>
          <a:noFill/>
          <a:ln w="12700">
            <a:solidFill>
              <a:srgbClr val="333399"/>
            </a:solidFill>
            <a:round/>
            <a:headEnd type="none" w="sm"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cxnSp>
        <p:nvCxnSpPr>
          <p:cNvPr id="140" name="直接箭头连接符 139"/>
          <p:cNvCxnSpPr/>
          <p:nvPr/>
        </p:nvCxnSpPr>
        <p:spPr>
          <a:xfrm>
            <a:off x="1561619" y="1428166"/>
            <a:ext cx="5941518" cy="0"/>
          </a:xfrm>
          <a:prstGeom prst="straightConnector1">
            <a:avLst/>
          </a:prstGeom>
          <a:ln w="28575">
            <a:solidFill>
              <a:srgbClr val="CC00CC"/>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35"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54124" y="1385466"/>
            <a:ext cx="454438" cy="2643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 name="标题 1">
            <a:extLst>
              <a:ext uri="{FF2B5EF4-FFF2-40B4-BE49-F238E27FC236}">
                <a16:creationId xmlns:a16="http://schemas.microsoft.com/office/drawing/2014/main" id="{A7A704F5-B8F4-13F9-172D-1B2E41CD0D77}"/>
              </a:ext>
            </a:extLst>
          </p:cNvPr>
          <p:cNvSpPr>
            <a:spLocks noGrp="1"/>
          </p:cNvSpPr>
          <p:nvPr>
            <p:ph type="title"/>
          </p:nvPr>
        </p:nvSpPr>
        <p:spPr>
          <a:xfrm>
            <a:off x="612000" y="144000"/>
            <a:ext cx="7920000" cy="341632"/>
          </a:xfrm>
        </p:spPr>
        <p:txBody>
          <a:bodyPr/>
          <a:lstStyle/>
          <a:p>
            <a:r>
              <a:rPr lang="zh-CN" altLang="en-US" dirty="0"/>
              <a:t>数据在各层之间的传递过程</a:t>
            </a:r>
          </a:p>
        </p:txBody>
      </p:sp>
      <p:sp useBgFill="1">
        <p:nvSpPr>
          <p:cNvPr id="141" name="Rectangle 37">
            <a:extLst>
              <a:ext uri="{FF2B5EF4-FFF2-40B4-BE49-F238E27FC236}">
                <a16:creationId xmlns:a16="http://schemas.microsoft.com/office/drawing/2014/main" id="{0E679D0C-C995-9EFE-6D99-B84F86C0AF13}"/>
              </a:ext>
            </a:extLst>
          </p:cNvPr>
          <p:cNvSpPr>
            <a:spLocks noChangeArrowheads="1"/>
          </p:cNvSpPr>
          <p:nvPr/>
        </p:nvSpPr>
        <p:spPr bwMode="auto">
          <a:xfrm>
            <a:off x="2961614" y="1870804"/>
            <a:ext cx="482400" cy="244800"/>
          </a:xfrm>
          <a:prstGeom prst="rect">
            <a:avLst/>
          </a:prstGeom>
          <a:ln w="9525">
            <a:solidFill>
              <a:schemeClr val="tx1"/>
            </a:solidFill>
            <a:miter lim="800000"/>
          </a:ln>
        </p:spPr>
        <p:txBody>
          <a:bodyPr wrap="none" anchor="ctr"/>
          <a:lstStyle/>
          <a:p>
            <a:pPr algn="ctr"/>
            <a:r>
              <a:rPr lang="zh-CN" altLang="en-US" sz="1000" dirty="0"/>
              <a:t>数 据</a:t>
            </a:r>
          </a:p>
        </p:txBody>
      </p:sp>
      <p:sp>
        <p:nvSpPr>
          <p:cNvPr id="145" name="Rectangle 34">
            <a:extLst>
              <a:ext uri="{FF2B5EF4-FFF2-40B4-BE49-F238E27FC236}">
                <a16:creationId xmlns:a16="http://schemas.microsoft.com/office/drawing/2014/main" id="{C5F2FF6D-7633-8E2A-C984-69EC0CD40AC1}"/>
              </a:ext>
            </a:extLst>
          </p:cNvPr>
          <p:cNvSpPr>
            <a:spLocks noChangeArrowheads="1"/>
          </p:cNvSpPr>
          <p:nvPr/>
        </p:nvSpPr>
        <p:spPr bwMode="auto">
          <a:xfrm>
            <a:off x="2738414" y="2209361"/>
            <a:ext cx="223200" cy="244800"/>
          </a:xfrm>
          <a:prstGeom prst="rect">
            <a:avLst/>
          </a:prstGeom>
          <a:solidFill>
            <a:schemeClr val="accent2"/>
          </a:solidFill>
          <a:ln w="9525">
            <a:solidFill>
              <a:schemeClr val="tx1"/>
            </a:solidFill>
            <a:miter lim="800000"/>
          </a:ln>
          <a:effectLst/>
        </p:spPr>
        <p:txBody>
          <a:bodyPr wrap="none" anchor="ctr"/>
          <a:lstStyle/>
          <a:p>
            <a:pPr algn="ctr"/>
            <a:r>
              <a:rPr lang="en-US" altLang="zh-CN" sz="1000" dirty="0"/>
              <a:t>H</a:t>
            </a:r>
            <a:r>
              <a:rPr lang="en-US" altLang="zh-CN" sz="1000" baseline="-25000" dirty="0"/>
              <a:t>5</a:t>
            </a:r>
          </a:p>
        </p:txBody>
      </p:sp>
      <p:sp useBgFill="1">
        <p:nvSpPr>
          <p:cNvPr id="147" name="Rectangle 37">
            <a:extLst>
              <a:ext uri="{FF2B5EF4-FFF2-40B4-BE49-F238E27FC236}">
                <a16:creationId xmlns:a16="http://schemas.microsoft.com/office/drawing/2014/main" id="{86EDDCFD-43FC-0A1A-0882-245A3ABAF395}"/>
              </a:ext>
            </a:extLst>
          </p:cNvPr>
          <p:cNvSpPr>
            <a:spLocks noChangeArrowheads="1"/>
          </p:cNvSpPr>
          <p:nvPr/>
        </p:nvSpPr>
        <p:spPr bwMode="auto">
          <a:xfrm>
            <a:off x="2961614" y="2209361"/>
            <a:ext cx="482400" cy="244800"/>
          </a:xfrm>
          <a:prstGeom prst="rect">
            <a:avLst/>
          </a:prstGeom>
          <a:ln w="9525">
            <a:solidFill>
              <a:schemeClr val="tx1"/>
            </a:solidFill>
            <a:miter lim="800000"/>
          </a:ln>
        </p:spPr>
        <p:txBody>
          <a:bodyPr wrap="none" anchor="ctr"/>
          <a:lstStyle/>
          <a:p>
            <a:pPr algn="ctr"/>
            <a:r>
              <a:rPr lang="zh-CN" altLang="en-US" sz="1000" dirty="0">
                <a:solidFill>
                  <a:sysClr val="windowText" lastClr="000000"/>
                </a:solidFill>
              </a:rPr>
              <a:t>数 据</a:t>
            </a:r>
          </a:p>
        </p:txBody>
      </p:sp>
      <p:sp>
        <p:nvSpPr>
          <p:cNvPr id="149" name="Rectangle 39">
            <a:extLst>
              <a:ext uri="{FF2B5EF4-FFF2-40B4-BE49-F238E27FC236}">
                <a16:creationId xmlns:a16="http://schemas.microsoft.com/office/drawing/2014/main" id="{BB84DC93-BA8D-2635-BE2E-03FBE269FC8B}"/>
              </a:ext>
            </a:extLst>
          </p:cNvPr>
          <p:cNvSpPr>
            <a:spLocks noChangeArrowheads="1"/>
          </p:cNvSpPr>
          <p:nvPr/>
        </p:nvSpPr>
        <p:spPr bwMode="auto">
          <a:xfrm>
            <a:off x="2738414" y="2554531"/>
            <a:ext cx="223200" cy="244800"/>
          </a:xfrm>
          <a:prstGeom prst="rect">
            <a:avLst/>
          </a:prstGeom>
          <a:solidFill>
            <a:schemeClr val="accent2"/>
          </a:solidFill>
          <a:ln w="9525">
            <a:solidFill>
              <a:schemeClr val="tx1"/>
            </a:solidFill>
            <a:miter lim="800000"/>
          </a:ln>
          <a:effectLst/>
        </p:spPr>
        <p:txBody>
          <a:bodyPr wrap="none" anchor="ctr"/>
          <a:lstStyle/>
          <a:p>
            <a:pPr algn="ctr" fontAlgn="auto">
              <a:spcBef>
                <a:spcPts val="0"/>
              </a:spcBef>
              <a:spcAft>
                <a:spcPts val="0"/>
              </a:spcAft>
              <a:defRPr/>
            </a:pPr>
            <a:r>
              <a:rPr lang="en-US" altLang="zh-CN" sz="1000" dirty="0"/>
              <a:t>H</a:t>
            </a:r>
            <a:r>
              <a:rPr lang="en-US" altLang="zh-CN" sz="1000" baseline="-25000" dirty="0"/>
              <a:t>5</a:t>
            </a:r>
          </a:p>
        </p:txBody>
      </p:sp>
      <p:sp>
        <p:nvSpPr>
          <p:cNvPr id="151" name="Rectangle 40">
            <a:extLst>
              <a:ext uri="{FF2B5EF4-FFF2-40B4-BE49-F238E27FC236}">
                <a16:creationId xmlns:a16="http://schemas.microsoft.com/office/drawing/2014/main" id="{9E35611B-6E10-9816-96A3-D1F3FD14D2CA}"/>
              </a:ext>
            </a:extLst>
          </p:cNvPr>
          <p:cNvSpPr>
            <a:spLocks noChangeArrowheads="1"/>
          </p:cNvSpPr>
          <p:nvPr/>
        </p:nvSpPr>
        <p:spPr bwMode="auto">
          <a:xfrm>
            <a:off x="2961614" y="2554531"/>
            <a:ext cx="482400" cy="244800"/>
          </a:xfrm>
          <a:prstGeom prst="rect">
            <a:avLst/>
          </a:prstGeom>
          <a:solidFill>
            <a:schemeClr val="bg1"/>
          </a:solidFill>
          <a:ln w="9525">
            <a:solidFill>
              <a:schemeClr val="tx1"/>
            </a:solidFill>
            <a:miter lim="800000"/>
          </a:ln>
        </p:spPr>
        <p:txBody>
          <a:bodyPr wrap="none" anchor="ctr"/>
          <a:lstStyle/>
          <a:p>
            <a:pPr algn="ctr"/>
            <a:r>
              <a:rPr lang="zh-CN" altLang="en-US" sz="1000" dirty="0"/>
              <a:t>数 据</a:t>
            </a:r>
          </a:p>
        </p:txBody>
      </p:sp>
      <p:sp>
        <p:nvSpPr>
          <p:cNvPr id="153" name="Rectangle 66">
            <a:extLst>
              <a:ext uri="{FF2B5EF4-FFF2-40B4-BE49-F238E27FC236}">
                <a16:creationId xmlns:a16="http://schemas.microsoft.com/office/drawing/2014/main" id="{6AE1DA30-8C06-2F53-431B-6C316251367A}"/>
              </a:ext>
            </a:extLst>
          </p:cNvPr>
          <p:cNvSpPr>
            <a:spLocks noChangeArrowheads="1"/>
          </p:cNvSpPr>
          <p:nvPr/>
        </p:nvSpPr>
        <p:spPr bwMode="auto">
          <a:xfrm>
            <a:off x="2515214" y="2554531"/>
            <a:ext cx="223200" cy="244800"/>
          </a:xfrm>
          <a:prstGeom prst="rect">
            <a:avLst/>
          </a:prstGeom>
          <a:solidFill>
            <a:srgbClr val="FFC000"/>
          </a:solidFill>
          <a:ln w="9525">
            <a:solidFill>
              <a:schemeClr val="tx1"/>
            </a:solidFill>
            <a:miter lim="800000"/>
          </a:ln>
          <a:effectLst/>
        </p:spPr>
        <p:txBody>
          <a:bodyPr wrap="none" anchor="ctr"/>
          <a:lstStyle/>
          <a:p>
            <a:pPr algn="ctr"/>
            <a:r>
              <a:rPr lang="en-US" altLang="zh-CN" sz="1000" dirty="0"/>
              <a:t>H</a:t>
            </a:r>
            <a:r>
              <a:rPr lang="en-US" altLang="zh-CN" sz="1000" baseline="-25000" dirty="0"/>
              <a:t>4</a:t>
            </a:r>
          </a:p>
        </p:txBody>
      </p:sp>
      <p:sp>
        <p:nvSpPr>
          <p:cNvPr id="177" name="矩形 176">
            <a:extLst>
              <a:ext uri="{FF2B5EF4-FFF2-40B4-BE49-F238E27FC236}">
                <a16:creationId xmlns:a16="http://schemas.microsoft.com/office/drawing/2014/main" id="{8AEAE7CD-54BC-5147-D2A1-3E4501647C9A}"/>
              </a:ext>
            </a:extLst>
          </p:cNvPr>
          <p:cNvSpPr/>
          <p:nvPr/>
        </p:nvSpPr>
        <p:spPr>
          <a:xfrm>
            <a:off x="2979490" y="2219763"/>
            <a:ext cx="464524" cy="223997"/>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ysClr val="windowText" lastClr="000000"/>
              </a:solidFill>
            </a:endParaRPr>
          </a:p>
        </p:txBody>
      </p:sp>
      <p:grpSp>
        <p:nvGrpSpPr>
          <p:cNvPr id="72" name="Group 50"/>
          <p:cNvGrpSpPr/>
          <p:nvPr/>
        </p:nvGrpSpPr>
        <p:grpSpPr bwMode="auto">
          <a:xfrm>
            <a:off x="1237477" y="2076244"/>
            <a:ext cx="2052947" cy="205414"/>
            <a:chOff x="436" y="1815"/>
            <a:chExt cx="1744" cy="228"/>
          </a:xfrm>
          <a:solidFill>
            <a:srgbClr val="CC00CC">
              <a:alpha val="50000"/>
            </a:srgbClr>
          </a:solidFill>
        </p:grpSpPr>
        <p:sp>
          <p:nvSpPr>
            <p:cNvPr id="73" name="AutoShape 51"/>
            <p:cNvSpPr>
              <a:spLocks noChangeArrowheads="1"/>
            </p:cNvSpPr>
            <p:nvPr/>
          </p:nvSpPr>
          <p:spPr bwMode="auto">
            <a:xfrm flipV="1">
              <a:off x="436" y="1815"/>
              <a:ext cx="124" cy="228"/>
            </a:xfrm>
            <a:prstGeom prst="upArrow">
              <a:avLst>
                <a:gd name="adj1" fmla="val 50000"/>
                <a:gd name="adj2" fmla="val 45968"/>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74" name="AutoShape 52"/>
            <p:cNvSpPr>
              <a:spLocks noChangeArrowheads="1"/>
            </p:cNvSpPr>
            <p:nvPr/>
          </p:nvSpPr>
          <p:spPr bwMode="auto">
            <a:xfrm flipV="1">
              <a:off x="2056" y="1815"/>
              <a:ext cx="124" cy="228"/>
            </a:xfrm>
            <a:prstGeom prst="upArrow">
              <a:avLst>
                <a:gd name="adj1" fmla="val 50000"/>
                <a:gd name="adj2" fmla="val 45968"/>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grpSp>
      <p:grpSp>
        <p:nvGrpSpPr>
          <p:cNvPr id="87" name="Group 53"/>
          <p:cNvGrpSpPr/>
          <p:nvPr/>
        </p:nvGrpSpPr>
        <p:grpSpPr bwMode="auto">
          <a:xfrm>
            <a:off x="1237477" y="2416934"/>
            <a:ext cx="2045886" cy="243496"/>
            <a:chOff x="434" y="2091"/>
            <a:chExt cx="1738" cy="274"/>
          </a:xfrm>
          <a:solidFill>
            <a:srgbClr val="CC00CC">
              <a:alpha val="50000"/>
            </a:srgbClr>
          </a:solidFill>
        </p:grpSpPr>
        <p:sp>
          <p:nvSpPr>
            <p:cNvPr id="88" name="AutoShape 54"/>
            <p:cNvSpPr>
              <a:spLocks noChangeArrowheads="1"/>
            </p:cNvSpPr>
            <p:nvPr/>
          </p:nvSpPr>
          <p:spPr bwMode="auto">
            <a:xfrm rot="10800000">
              <a:off x="434" y="2116"/>
              <a:ext cx="125" cy="249"/>
            </a:xfrm>
            <a:prstGeom prst="upArrow">
              <a:avLst>
                <a:gd name="adj1" fmla="val 50000"/>
                <a:gd name="adj2" fmla="val 49800"/>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89" name="AutoShape 55"/>
            <p:cNvSpPr>
              <a:spLocks noChangeArrowheads="1"/>
            </p:cNvSpPr>
            <p:nvPr/>
          </p:nvSpPr>
          <p:spPr bwMode="auto">
            <a:xfrm rot="10800000">
              <a:off x="2054" y="2091"/>
              <a:ext cx="118" cy="249"/>
            </a:xfrm>
            <a:prstGeom prst="upArrow">
              <a:avLst>
                <a:gd name="adj1" fmla="val 50000"/>
                <a:gd name="adj2" fmla="val 49800"/>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grpSp>
      <p:grpSp>
        <p:nvGrpSpPr>
          <p:cNvPr id="184" name="组合 183">
            <a:extLst>
              <a:ext uri="{FF2B5EF4-FFF2-40B4-BE49-F238E27FC236}">
                <a16:creationId xmlns:a16="http://schemas.microsoft.com/office/drawing/2014/main" id="{6A7AE7D0-FF21-5749-307E-3A9EC39E2B4A}"/>
              </a:ext>
            </a:extLst>
          </p:cNvPr>
          <p:cNvGrpSpPr/>
          <p:nvPr/>
        </p:nvGrpSpPr>
        <p:grpSpPr>
          <a:xfrm>
            <a:off x="3960000" y="2808000"/>
            <a:ext cx="1080000" cy="1080000"/>
            <a:chOff x="2807995" y="2745746"/>
            <a:chExt cx="1080000" cy="1080000"/>
          </a:xfrm>
        </p:grpSpPr>
        <p:sp>
          <p:nvSpPr>
            <p:cNvPr id="185" name="立方体 184">
              <a:extLst>
                <a:ext uri="{FF2B5EF4-FFF2-40B4-BE49-F238E27FC236}">
                  <a16:creationId xmlns:a16="http://schemas.microsoft.com/office/drawing/2014/main" id="{2A0BED06-DB3B-1D76-8FAA-9CF2F93E8DCB}"/>
                </a:ext>
              </a:extLst>
            </p:cNvPr>
            <p:cNvSpPr/>
            <p:nvPr/>
          </p:nvSpPr>
          <p:spPr>
            <a:xfrm>
              <a:off x="2807995" y="3393746"/>
              <a:ext cx="594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sz="1050" dirty="0">
                  <a:solidFill>
                    <a:schemeClr val="bg1"/>
                  </a:solidFill>
                </a:rPr>
                <a:t>1</a:t>
              </a:r>
              <a:endParaRPr lang="zh-CN" altLang="en-US" sz="1050" dirty="0">
                <a:solidFill>
                  <a:schemeClr val="bg1"/>
                </a:solidFill>
              </a:endParaRPr>
            </a:p>
          </p:txBody>
        </p:sp>
        <p:sp>
          <p:nvSpPr>
            <p:cNvPr id="186" name="立方体 185">
              <a:extLst>
                <a:ext uri="{FF2B5EF4-FFF2-40B4-BE49-F238E27FC236}">
                  <a16:creationId xmlns:a16="http://schemas.microsoft.com/office/drawing/2014/main" id="{C32B33A5-EA38-3F66-6882-86EE4FDDD656}"/>
                </a:ext>
              </a:extLst>
            </p:cNvPr>
            <p:cNvSpPr/>
            <p:nvPr/>
          </p:nvSpPr>
          <p:spPr>
            <a:xfrm>
              <a:off x="2807995" y="3069746"/>
              <a:ext cx="594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sz="1050" dirty="0">
                  <a:solidFill>
                    <a:schemeClr val="bg1"/>
                  </a:solidFill>
                </a:rPr>
                <a:t>2</a:t>
              </a:r>
              <a:endParaRPr lang="zh-CN" altLang="en-US" sz="1050" dirty="0">
                <a:solidFill>
                  <a:schemeClr val="bg1"/>
                </a:solidFill>
              </a:endParaRPr>
            </a:p>
          </p:txBody>
        </p:sp>
        <p:sp>
          <p:nvSpPr>
            <p:cNvPr id="187" name="立方体 186">
              <a:extLst>
                <a:ext uri="{FF2B5EF4-FFF2-40B4-BE49-F238E27FC236}">
                  <a16:creationId xmlns:a16="http://schemas.microsoft.com/office/drawing/2014/main" id="{722B551F-28DA-ED89-9AD9-A4E53DE03271}"/>
                </a:ext>
              </a:extLst>
            </p:cNvPr>
            <p:cNvSpPr/>
            <p:nvPr/>
          </p:nvSpPr>
          <p:spPr>
            <a:xfrm>
              <a:off x="3293995" y="3393746"/>
              <a:ext cx="594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sz="1050" dirty="0">
                  <a:solidFill>
                    <a:schemeClr val="bg1"/>
                  </a:solidFill>
                </a:rPr>
                <a:t>1</a:t>
              </a:r>
              <a:endParaRPr lang="zh-CN" altLang="en-US" sz="1050" dirty="0">
                <a:solidFill>
                  <a:schemeClr val="bg1"/>
                </a:solidFill>
              </a:endParaRPr>
            </a:p>
          </p:txBody>
        </p:sp>
        <p:sp>
          <p:nvSpPr>
            <p:cNvPr id="188" name="立方体 187">
              <a:extLst>
                <a:ext uri="{FF2B5EF4-FFF2-40B4-BE49-F238E27FC236}">
                  <a16:creationId xmlns:a16="http://schemas.microsoft.com/office/drawing/2014/main" id="{64311D4B-D1EF-DA1F-167A-B61EE57F49AC}"/>
                </a:ext>
              </a:extLst>
            </p:cNvPr>
            <p:cNvSpPr/>
            <p:nvPr/>
          </p:nvSpPr>
          <p:spPr>
            <a:xfrm>
              <a:off x="3293995" y="3069746"/>
              <a:ext cx="594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sz="1050" dirty="0">
                  <a:solidFill>
                    <a:schemeClr val="bg1"/>
                  </a:solidFill>
                </a:rPr>
                <a:t>2</a:t>
              </a:r>
              <a:endParaRPr lang="zh-CN" altLang="en-US" sz="1050" dirty="0">
                <a:solidFill>
                  <a:schemeClr val="bg1"/>
                </a:solidFill>
              </a:endParaRPr>
            </a:p>
          </p:txBody>
        </p:sp>
        <p:sp>
          <p:nvSpPr>
            <p:cNvPr id="189" name="立方体 188">
              <a:extLst>
                <a:ext uri="{FF2B5EF4-FFF2-40B4-BE49-F238E27FC236}">
                  <a16:creationId xmlns:a16="http://schemas.microsoft.com/office/drawing/2014/main" id="{8CDE4D70-0F95-C32F-B2E5-8E044B33E35F}"/>
                </a:ext>
              </a:extLst>
            </p:cNvPr>
            <p:cNvSpPr/>
            <p:nvPr/>
          </p:nvSpPr>
          <p:spPr>
            <a:xfrm>
              <a:off x="2807995" y="2745746"/>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pPr algn="ctr"/>
              <a:r>
                <a:rPr lang="en-US" altLang="zh-CN" sz="1050" dirty="0">
                  <a:solidFill>
                    <a:schemeClr val="bg1"/>
                  </a:solidFill>
                </a:rPr>
                <a:t>3</a:t>
              </a:r>
              <a:endParaRPr lang="zh-CN" altLang="en-US" sz="1050" dirty="0">
                <a:solidFill>
                  <a:schemeClr val="bg1"/>
                </a:solidFill>
              </a:endParaRPr>
            </a:p>
          </p:txBody>
        </p:sp>
      </p:grpSp>
      <p:sp>
        <p:nvSpPr>
          <p:cNvPr id="191" name="AutoShape 4">
            <a:extLst>
              <a:ext uri="{FF2B5EF4-FFF2-40B4-BE49-F238E27FC236}">
                <a16:creationId xmlns:a16="http://schemas.microsoft.com/office/drawing/2014/main" id="{25E43E7B-2277-154C-6BF1-AD431482F3AA}"/>
              </a:ext>
            </a:extLst>
          </p:cNvPr>
          <p:cNvSpPr>
            <a:spLocks noChangeArrowheads="1"/>
          </p:cNvSpPr>
          <p:nvPr/>
        </p:nvSpPr>
        <p:spPr bwMode="auto">
          <a:xfrm rot="16200000">
            <a:off x="2567190" y="2361728"/>
            <a:ext cx="271463" cy="3600000"/>
          </a:xfrm>
          <a:prstGeom prst="can">
            <a:avLst>
              <a:gd name="adj" fmla="val 48656"/>
            </a:avLst>
          </a:prstGeom>
          <a:gradFill rotWithShape="0">
            <a:gsLst>
              <a:gs pos="0">
                <a:srgbClr val="00CC00"/>
              </a:gs>
              <a:gs pos="50000">
                <a:schemeClr val="bg1"/>
              </a:gs>
              <a:gs pos="100000">
                <a:srgbClr val="00CC00"/>
              </a:gs>
            </a:gsLst>
            <a:lin ang="5400000" scaled="1"/>
          </a:gradFill>
          <a:ln w="6350">
            <a:solidFill>
              <a:srgbClr val="7CE07C"/>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193" name="AutoShape 4">
            <a:extLst>
              <a:ext uri="{FF2B5EF4-FFF2-40B4-BE49-F238E27FC236}">
                <a16:creationId xmlns:a16="http://schemas.microsoft.com/office/drawing/2014/main" id="{B47511FA-E088-1964-542F-1B16CAC17AB5}"/>
              </a:ext>
            </a:extLst>
          </p:cNvPr>
          <p:cNvSpPr>
            <a:spLocks noChangeArrowheads="1"/>
          </p:cNvSpPr>
          <p:nvPr/>
        </p:nvSpPr>
        <p:spPr bwMode="auto">
          <a:xfrm rot="16200000">
            <a:off x="6253847" y="2361728"/>
            <a:ext cx="271463" cy="3600000"/>
          </a:xfrm>
          <a:prstGeom prst="can">
            <a:avLst>
              <a:gd name="adj" fmla="val 48656"/>
            </a:avLst>
          </a:prstGeom>
          <a:gradFill rotWithShape="0">
            <a:gsLst>
              <a:gs pos="0">
                <a:srgbClr val="00CC00"/>
              </a:gs>
              <a:gs pos="50000">
                <a:schemeClr val="bg1"/>
              </a:gs>
              <a:gs pos="100000">
                <a:srgbClr val="00CC00"/>
              </a:gs>
            </a:gsLst>
            <a:lin ang="5400000" scaled="1"/>
          </a:gradFill>
          <a:ln w="6350">
            <a:solidFill>
              <a:srgbClr val="7CE07C"/>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195" name="Text Box 26">
            <a:extLst>
              <a:ext uri="{FF2B5EF4-FFF2-40B4-BE49-F238E27FC236}">
                <a16:creationId xmlns:a16="http://schemas.microsoft.com/office/drawing/2014/main" id="{D905AEC1-368E-B824-41DC-6314605F569B}"/>
              </a:ext>
            </a:extLst>
          </p:cNvPr>
          <p:cNvSpPr txBox="1">
            <a:spLocks noChangeArrowheads="1"/>
          </p:cNvSpPr>
          <p:nvPr/>
        </p:nvSpPr>
        <p:spPr bwMode="auto">
          <a:xfrm>
            <a:off x="2701348" y="4023229"/>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dirty="0">
                <a:latin typeface="+mj-lt"/>
                <a:ea typeface="+mj-ea"/>
              </a:rPr>
              <a:t>物理传输媒体</a:t>
            </a:r>
          </a:p>
        </p:txBody>
      </p:sp>
      <p:sp>
        <p:nvSpPr>
          <p:cNvPr id="197" name="Text Box 26">
            <a:extLst>
              <a:ext uri="{FF2B5EF4-FFF2-40B4-BE49-F238E27FC236}">
                <a16:creationId xmlns:a16="http://schemas.microsoft.com/office/drawing/2014/main" id="{947495E3-E4D4-EADB-6103-AF1736CBCA74}"/>
              </a:ext>
            </a:extLst>
          </p:cNvPr>
          <p:cNvSpPr txBox="1">
            <a:spLocks noChangeArrowheads="1"/>
          </p:cNvSpPr>
          <p:nvPr/>
        </p:nvSpPr>
        <p:spPr bwMode="auto">
          <a:xfrm>
            <a:off x="6193730" y="4023229"/>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dirty="0">
                <a:latin typeface="+mj-lt"/>
                <a:ea typeface="+mj-ea"/>
              </a:rPr>
              <a:t>物理传输媒体</a:t>
            </a:r>
          </a:p>
        </p:txBody>
      </p:sp>
    </p:spTree>
    <p:extLst>
      <p:ext uri="{BB962C8B-B14F-4D97-AF65-F5344CB8AC3E}">
        <p14:creationId xmlns:p14="http://schemas.microsoft.com/office/powerpoint/2010/main" val="2077886019"/>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32" name="组合 131">
            <a:extLst>
              <a:ext uri="{FF2B5EF4-FFF2-40B4-BE49-F238E27FC236}">
                <a16:creationId xmlns:a16="http://schemas.microsoft.com/office/drawing/2014/main" id="{983F071F-F518-50CE-795D-2EECABEC8D33}"/>
              </a:ext>
            </a:extLst>
          </p:cNvPr>
          <p:cNvGrpSpPr/>
          <p:nvPr/>
        </p:nvGrpSpPr>
        <p:grpSpPr>
          <a:xfrm>
            <a:off x="7395732" y="1800000"/>
            <a:ext cx="1080000" cy="2088000"/>
            <a:chOff x="701211" y="1800000"/>
            <a:chExt cx="1080000" cy="2088000"/>
          </a:xfrm>
        </p:grpSpPr>
        <p:sp>
          <p:nvSpPr>
            <p:cNvPr id="133" name="立方体 132">
              <a:extLst>
                <a:ext uri="{FF2B5EF4-FFF2-40B4-BE49-F238E27FC236}">
                  <a16:creationId xmlns:a16="http://schemas.microsoft.com/office/drawing/2014/main" id="{4E090801-1628-81FC-EDD3-0F63AC16C6C5}"/>
                </a:ext>
              </a:extLst>
            </p:cNvPr>
            <p:cNvSpPr/>
            <p:nvPr/>
          </p:nvSpPr>
          <p:spPr>
            <a:xfrm>
              <a:off x="701211" y="3456000"/>
              <a:ext cx="108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050" dirty="0">
                  <a:solidFill>
                    <a:schemeClr val="bg1"/>
                  </a:solidFill>
                </a:rPr>
                <a:t>1 </a:t>
              </a:r>
              <a:r>
                <a:rPr lang="zh-CN" altLang="en-US" sz="1050" dirty="0">
                  <a:solidFill>
                    <a:schemeClr val="bg1"/>
                  </a:solidFill>
                </a:rPr>
                <a:t>物理层</a:t>
              </a:r>
            </a:p>
          </p:txBody>
        </p:sp>
        <p:sp>
          <p:nvSpPr>
            <p:cNvPr id="134" name="立方体 133">
              <a:extLst>
                <a:ext uri="{FF2B5EF4-FFF2-40B4-BE49-F238E27FC236}">
                  <a16:creationId xmlns:a16="http://schemas.microsoft.com/office/drawing/2014/main" id="{D0BA5B9F-6698-24A6-FA39-73B61826E91B}"/>
                </a:ext>
              </a:extLst>
            </p:cNvPr>
            <p:cNvSpPr/>
            <p:nvPr/>
          </p:nvSpPr>
          <p:spPr>
            <a:xfrm>
              <a:off x="701211" y="3132000"/>
              <a:ext cx="108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050" dirty="0">
                  <a:solidFill>
                    <a:schemeClr val="bg1"/>
                  </a:solidFill>
                </a:rPr>
                <a:t>2 </a:t>
              </a:r>
              <a:r>
                <a:rPr lang="zh-CN" altLang="en-US" sz="1050" dirty="0">
                  <a:solidFill>
                    <a:schemeClr val="bg1"/>
                  </a:solidFill>
                </a:rPr>
                <a:t>数据链路层</a:t>
              </a:r>
            </a:p>
          </p:txBody>
        </p:sp>
        <p:sp>
          <p:nvSpPr>
            <p:cNvPr id="135" name="立方体 134">
              <a:extLst>
                <a:ext uri="{FF2B5EF4-FFF2-40B4-BE49-F238E27FC236}">
                  <a16:creationId xmlns:a16="http://schemas.microsoft.com/office/drawing/2014/main" id="{F3123DC2-8904-2B39-DE7B-E5CA288A18C7}"/>
                </a:ext>
              </a:extLst>
            </p:cNvPr>
            <p:cNvSpPr/>
            <p:nvPr/>
          </p:nvSpPr>
          <p:spPr>
            <a:xfrm>
              <a:off x="701211" y="2808000"/>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050" dirty="0">
                  <a:solidFill>
                    <a:schemeClr val="bg1"/>
                  </a:solidFill>
                </a:rPr>
                <a:t>3 </a:t>
              </a:r>
              <a:r>
                <a:rPr lang="zh-CN" altLang="en-US" sz="1050" dirty="0">
                  <a:solidFill>
                    <a:schemeClr val="bg1"/>
                  </a:solidFill>
                </a:rPr>
                <a:t>网络层</a:t>
              </a:r>
            </a:p>
          </p:txBody>
        </p:sp>
        <p:sp>
          <p:nvSpPr>
            <p:cNvPr id="136" name="立方体 135">
              <a:extLst>
                <a:ext uri="{FF2B5EF4-FFF2-40B4-BE49-F238E27FC236}">
                  <a16:creationId xmlns:a16="http://schemas.microsoft.com/office/drawing/2014/main" id="{93D1D686-D2D8-28F7-8B01-9501C3DE2378}"/>
                </a:ext>
              </a:extLst>
            </p:cNvPr>
            <p:cNvSpPr/>
            <p:nvPr/>
          </p:nvSpPr>
          <p:spPr>
            <a:xfrm>
              <a:off x="701211" y="2484000"/>
              <a:ext cx="108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050" dirty="0">
                  <a:solidFill>
                    <a:schemeClr val="bg1"/>
                  </a:solidFill>
                </a:rPr>
                <a:t>4 </a:t>
              </a:r>
              <a:r>
                <a:rPr lang="zh-CN" altLang="en-US" sz="1050" dirty="0">
                  <a:solidFill>
                    <a:schemeClr val="bg1"/>
                  </a:solidFill>
                </a:rPr>
                <a:t>运输层</a:t>
              </a:r>
            </a:p>
          </p:txBody>
        </p:sp>
        <p:sp>
          <p:nvSpPr>
            <p:cNvPr id="137" name="立方体 136">
              <a:extLst>
                <a:ext uri="{FF2B5EF4-FFF2-40B4-BE49-F238E27FC236}">
                  <a16:creationId xmlns:a16="http://schemas.microsoft.com/office/drawing/2014/main" id="{1F803720-1039-C851-149E-6717C675B685}"/>
                </a:ext>
              </a:extLst>
            </p:cNvPr>
            <p:cNvSpPr/>
            <p:nvPr/>
          </p:nvSpPr>
          <p:spPr>
            <a:xfrm>
              <a:off x="701211" y="2160000"/>
              <a:ext cx="108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050" dirty="0">
                  <a:solidFill>
                    <a:schemeClr val="bg1"/>
                  </a:solidFill>
                </a:rPr>
                <a:t>5 </a:t>
              </a:r>
              <a:r>
                <a:rPr lang="zh-CN" altLang="en-US" sz="1050" dirty="0">
                  <a:solidFill>
                    <a:schemeClr val="bg1"/>
                  </a:solidFill>
                </a:rPr>
                <a:t>应用层</a:t>
              </a:r>
            </a:p>
          </p:txBody>
        </p:sp>
        <p:sp>
          <p:nvSpPr>
            <p:cNvPr id="138" name="圆柱体 137">
              <a:extLst>
                <a:ext uri="{FF2B5EF4-FFF2-40B4-BE49-F238E27FC236}">
                  <a16:creationId xmlns:a16="http://schemas.microsoft.com/office/drawing/2014/main" id="{A5C444B9-5A93-455B-CDCE-288BD70E287C}"/>
                </a:ext>
              </a:extLst>
            </p:cNvPr>
            <p:cNvSpPr/>
            <p:nvPr/>
          </p:nvSpPr>
          <p:spPr>
            <a:xfrm>
              <a:off x="953211" y="1800000"/>
              <a:ext cx="576000" cy="360000"/>
            </a:xfrm>
            <a:prstGeom prst="can">
              <a:avLst/>
            </a:prstGeom>
            <a:solidFill>
              <a:srgbClr val="FFFF00"/>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000" dirty="0">
                  <a:solidFill>
                    <a:sysClr val="windowText" lastClr="000000"/>
                  </a:solidFill>
                </a:rPr>
                <a:t>AP1</a:t>
              </a:r>
              <a:endParaRPr lang="zh-CN" altLang="en-US" sz="1000" dirty="0">
                <a:solidFill>
                  <a:sysClr val="windowText" lastClr="000000"/>
                </a:solidFill>
              </a:endParaRPr>
            </a:p>
          </p:txBody>
        </p:sp>
      </p:grpSp>
      <p:grpSp>
        <p:nvGrpSpPr>
          <p:cNvPr id="139" name="组合 138">
            <a:extLst>
              <a:ext uri="{FF2B5EF4-FFF2-40B4-BE49-F238E27FC236}">
                <a16:creationId xmlns:a16="http://schemas.microsoft.com/office/drawing/2014/main" id="{362D7AE2-3C84-C70E-E776-4E78DA94535A}"/>
              </a:ext>
            </a:extLst>
          </p:cNvPr>
          <p:cNvGrpSpPr/>
          <p:nvPr/>
        </p:nvGrpSpPr>
        <p:grpSpPr>
          <a:xfrm>
            <a:off x="701211" y="1800000"/>
            <a:ext cx="1080000" cy="2088000"/>
            <a:chOff x="701211" y="1800000"/>
            <a:chExt cx="1080000" cy="2088000"/>
          </a:xfrm>
        </p:grpSpPr>
        <p:sp>
          <p:nvSpPr>
            <p:cNvPr id="145" name="立方体 144">
              <a:extLst>
                <a:ext uri="{FF2B5EF4-FFF2-40B4-BE49-F238E27FC236}">
                  <a16:creationId xmlns:a16="http://schemas.microsoft.com/office/drawing/2014/main" id="{4C23668F-DCBE-871D-986F-E22D880A6F88}"/>
                </a:ext>
              </a:extLst>
            </p:cNvPr>
            <p:cNvSpPr/>
            <p:nvPr/>
          </p:nvSpPr>
          <p:spPr>
            <a:xfrm>
              <a:off x="701211" y="3456000"/>
              <a:ext cx="108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050" dirty="0">
                  <a:solidFill>
                    <a:schemeClr val="bg1"/>
                  </a:solidFill>
                </a:rPr>
                <a:t>1 </a:t>
              </a:r>
              <a:r>
                <a:rPr lang="zh-CN" altLang="en-US" sz="1050" dirty="0">
                  <a:solidFill>
                    <a:schemeClr val="bg1"/>
                  </a:solidFill>
                </a:rPr>
                <a:t>物理层</a:t>
              </a:r>
            </a:p>
          </p:txBody>
        </p:sp>
        <p:sp>
          <p:nvSpPr>
            <p:cNvPr id="146" name="立方体 145">
              <a:extLst>
                <a:ext uri="{FF2B5EF4-FFF2-40B4-BE49-F238E27FC236}">
                  <a16:creationId xmlns:a16="http://schemas.microsoft.com/office/drawing/2014/main" id="{1AAA2AC2-93C7-0185-4850-89CF967B1B6E}"/>
                </a:ext>
              </a:extLst>
            </p:cNvPr>
            <p:cNvSpPr/>
            <p:nvPr/>
          </p:nvSpPr>
          <p:spPr>
            <a:xfrm>
              <a:off x="701211" y="3132000"/>
              <a:ext cx="108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050" dirty="0">
                  <a:solidFill>
                    <a:schemeClr val="bg1"/>
                  </a:solidFill>
                </a:rPr>
                <a:t>2 </a:t>
              </a:r>
              <a:r>
                <a:rPr lang="zh-CN" altLang="en-US" sz="1050" dirty="0">
                  <a:solidFill>
                    <a:schemeClr val="bg1"/>
                  </a:solidFill>
                </a:rPr>
                <a:t>数据链路层</a:t>
              </a:r>
            </a:p>
          </p:txBody>
        </p:sp>
        <p:sp>
          <p:nvSpPr>
            <p:cNvPr id="147" name="立方体 146">
              <a:extLst>
                <a:ext uri="{FF2B5EF4-FFF2-40B4-BE49-F238E27FC236}">
                  <a16:creationId xmlns:a16="http://schemas.microsoft.com/office/drawing/2014/main" id="{75E4401B-3CD5-C578-F272-9FF907A043BB}"/>
                </a:ext>
              </a:extLst>
            </p:cNvPr>
            <p:cNvSpPr/>
            <p:nvPr/>
          </p:nvSpPr>
          <p:spPr>
            <a:xfrm>
              <a:off x="701211" y="2808000"/>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050" dirty="0">
                  <a:solidFill>
                    <a:schemeClr val="bg1"/>
                  </a:solidFill>
                </a:rPr>
                <a:t>3 </a:t>
              </a:r>
              <a:r>
                <a:rPr lang="zh-CN" altLang="en-US" sz="1050" dirty="0">
                  <a:solidFill>
                    <a:schemeClr val="bg1"/>
                  </a:solidFill>
                </a:rPr>
                <a:t>网络层</a:t>
              </a:r>
            </a:p>
          </p:txBody>
        </p:sp>
        <p:sp>
          <p:nvSpPr>
            <p:cNvPr id="148" name="立方体 147">
              <a:extLst>
                <a:ext uri="{FF2B5EF4-FFF2-40B4-BE49-F238E27FC236}">
                  <a16:creationId xmlns:a16="http://schemas.microsoft.com/office/drawing/2014/main" id="{CAC95C01-E9AB-516D-2CB3-A67EB11B68AA}"/>
                </a:ext>
              </a:extLst>
            </p:cNvPr>
            <p:cNvSpPr/>
            <p:nvPr/>
          </p:nvSpPr>
          <p:spPr>
            <a:xfrm>
              <a:off x="701211" y="2484000"/>
              <a:ext cx="108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050" dirty="0">
                  <a:solidFill>
                    <a:schemeClr val="bg1"/>
                  </a:solidFill>
                </a:rPr>
                <a:t>4 </a:t>
              </a:r>
              <a:r>
                <a:rPr lang="zh-CN" altLang="en-US" sz="1050" dirty="0">
                  <a:solidFill>
                    <a:schemeClr val="bg1"/>
                  </a:solidFill>
                </a:rPr>
                <a:t>运输层</a:t>
              </a:r>
            </a:p>
          </p:txBody>
        </p:sp>
        <p:sp>
          <p:nvSpPr>
            <p:cNvPr id="149" name="立方体 148">
              <a:extLst>
                <a:ext uri="{FF2B5EF4-FFF2-40B4-BE49-F238E27FC236}">
                  <a16:creationId xmlns:a16="http://schemas.microsoft.com/office/drawing/2014/main" id="{6AF8B668-B796-8A07-A720-11B3FA3B611A}"/>
                </a:ext>
              </a:extLst>
            </p:cNvPr>
            <p:cNvSpPr/>
            <p:nvPr/>
          </p:nvSpPr>
          <p:spPr>
            <a:xfrm>
              <a:off x="701211" y="2160000"/>
              <a:ext cx="108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050" dirty="0">
                  <a:solidFill>
                    <a:schemeClr val="bg1"/>
                  </a:solidFill>
                </a:rPr>
                <a:t>5 </a:t>
              </a:r>
              <a:r>
                <a:rPr lang="zh-CN" altLang="en-US" sz="1050" dirty="0">
                  <a:solidFill>
                    <a:schemeClr val="bg1"/>
                  </a:solidFill>
                </a:rPr>
                <a:t>应用层</a:t>
              </a:r>
            </a:p>
          </p:txBody>
        </p:sp>
        <p:sp>
          <p:nvSpPr>
            <p:cNvPr id="150" name="圆柱体 149">
              <a:extLst>
                <a:ext uri="{FF2B5EF4-FFF2-40B4-BE49-F238E27FC236}">
                  <a16:creationId xmlns:a16="http://schemas.microsoft.com/office/drawing/2014/main" id="{EBF3115E-2B73-5353-A2CC-89DB640B0890}"/>
                </a:ext>
              </a:extLst>
            </p:cNvPr>
            <p:cNvSpPr/>
            <p:nvPr/>
          </p:nvSpPr>
          <p:spPr>
            <a:xfrm>
              <a:off x="953211" y="1800000"/>
              <a:ext cx="576000" cy="360000"/>
            </a:xfrm>
            <a:prstGeom prst="can">
              <a:avLst/>
            </a:prstGeom>
            <a:solidFill>
              <a:srgbClr val="FFFF00"/>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000" dirty="0">
                  <a:solidFill>
                    <a:sysClr val="windowText" lastClr="000000"/>
                  </a:solidFill>
                </a:rPr>
                <a:t>AP1</a:t>
              </a:r>
              <a:endParaRPr lang="zh-CN" altLang="en-US" sz="1000" dirty="0">
                <a:solidFill>
                  <a:sysClr val="windowText" lastClr="000000"/>
                </a:solidFill>
              </a:endParaRPr>
            </a:p>
          </p:txBody>
        </p:sp>
      </p:grpSp>
      <p:sp>
        <p:nvSpPr>
          <p:cNvPr id="25" name="Text Box 29"/>
          <p:cNvSpPr txBox="1">
            <a:spLocks noChangeArrowheads="1"/>
          </p:cNvSpPr>
          <p:nvPr/>
        </p:nvSpPr>
        <p:spPr bwMode="auto">
          <a:xfrm>
            <a:off x="110689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1</a:t>
            </a:r>
          </a:p>
        </p:txBody>
      </p:sp>
      <p:sp>
        <p:nvSpPr>
          <p:cNvPr id="38" name="Text Box 29"/>
          <p:cNvSpPr txBox="1">
            <a:spLocks noChangeArrowheads="1"/>
          </p:cNvSpPr>
          <p:nvPr/>
        </p:nvSpPr>
        <p:spPr bwMode="auto">
          <a:xfrm>
            <a:off x="736975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2</a:t>
            </a:r>
          </a:p>
        </p:txBody>
      </p:sp>
      <p:sp>
        <p:nvSpPr>
          <p:cNvPr id="39" name="Text Box 29"/>
          <p:cNvSpPr txBox="1">
            <a:spLocks noChangeArrowheads="1"/>
          </p:cNvSpPr>
          <p:nvPr/>
        </p:nvSpPr>
        <p:spPr bwMode="auto">
          <a:xfrm>
            <a:off x="4160212" y="107510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路由器</a:t>
            </a:r>
            <a:endParaRPr kumimoji="1" lang="en-US" altLang="zh-CN" sz="1200" b="1" dirty="0">
              <a:solidFill>
                <a:srgbClr val="0000FF"/>
              </a:solidFill>
              <a:latin typeface="微软雅黑" panose="020B0503020204020204" pitchFamily="34" charset="-122"/>
              <a:ea typeface="微软雅黑" panose="020B0503020204020204" pitchFamily="34" charset="-122"/>
            </a:endParaRPr>
          </a:p>
        </p:txBody>
      </p:sp>
      <p:cxnSp>
        <p:nvCxnSpPr>
          <p:cNvPr id="69" name="直接连接符 68"/>
          <p:cNvCxnSpPr/>
          <p:nvPr/>
        </p:nvCxnSpPr>
        <p:spPr>
          <a:xfrm>
            <a:off x="1418143" y="1507958"/>
            <a:ext cx="6306131" cy="0"/>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pic>
        <p:nvPicPr>
          <p:cNvPr id="36"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486661" y="1312469"/>
            <a:ext cx="410222"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7"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202308" y="1312469"/>
            <a:ext cx="410223"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140" name="直接箭头连接符 139"/>
          <p:cNvCxnSpPr/>
          <p:nvPr/>
        </p:nvCxnSpPr>
        <p:spPr>
          <a:xfrm>
            <a:off x="1561619" y="1428166"/>
            <a:ext cx="5941518" cy="0"/>
          </a:xfrm>
          <a:prstGeom prst="straightConnector1">
            <a:avLst/>
          </a:prstGeom>
          <a:ln w="28575">
            <a:solidFill>
              <a:srgbClr val="CC00CC"/>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35"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54124" y="1385466"/>
            <a:ext cx="454438" cy="2643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99" name="Text Box 71"/>
          <p:cNvSpPr txBox="1">
            <a:spLocks noChangeArrowheads="1"/>
          </p:cNvSpPr>
          <p:nvPr/>
        </p:nvSpPr>
        <p:spPr bwMode="auto">
          <a:xfrm>
            <a:off x="1962841" y="2160000"/>
            <a:ext cx="607859"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zh-CN" altLang="en-US" sz="1100" b="1" dirty="0">
                <a:latin typeface="微软雅黑" panose="020B0503020204020204" pitchFamily="34" charset="-122"/>
                <a:ea typeface="微软雅黑" panose="020B0503020204020204" pitchFamily="34" charset="-122"/>
              </a:rPr>
              <a:t>网络层</a:t>
            </a:r>
            <a:endParaRPr kumimoji="1" lang="en-US" altLang="zh-CN" sz="1100" b="1" dirty="0">
              <a:latin typeface="微软雅黑" panose="020B0503020204020204" pitchFamily="34" charset="-122"/>
              <a:ea typeface="微软雅黑" panose="020B0503020204020204" pitchFamily="34" charset="-122"/>
            </a:endParaRPr>
          </a:p>
          <a:p>
            <a:pPr algn="ctr" eaLnBrk="0" hangingPunct="0"/>
            <a:r>
              <a:rPr kumimoji="1" lang="zh-CN" altLang="en-US" sz="1100" b="1" dirty="0">
                <a:latin typeface="微软雅黑" panose="020B0503020204020204" pitchFamily="34" charset="-122"/>
                <a:ea typeface="微软雅黑" panose="020B0503020204020204" pitchFamily="34" charset="-122"/>
              </a:rPr>
              <a:t>首部</a:t>
            </a:r>
          </a:p>
        </p:txBody>
      </p:sp>
      <p:sp>
        <p:nvSpPr>
          <p:cNvPr id="100" name="Line 72"/>
          <p:cNvSpPr>
            <a:spLocks noChangeShapeType="1"/>
          </p:cNvSpPr>
          <p:nvPr/>
        </p:nvSpPr>
        <p:spPr bwMode="auto">
          <a:xfrm>
            <a:off x="2295725" y="2607973"/>
            <a:ext cx="143586" cy="304321"/>
          </a:xfrm>
          <a:prstGeom prst="line">
            <a:avLst/>
          </a:prstGeom>
          <a:noFill/>
          <a:ln w="12700">
            <a:solidFill>
              <a:srgbClr val="333399"/>
            </a:solidFill>
            <a:round/>
            <a:headEnd type="none" w="sm"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2" name="标题 1">
            <a:extLst>
              <a:ext uri="{FF2B5EF4-FFF2-40B4-BE49-F238E27FC236}">
                <a16:creationId xmlns:a16="http://schemas.microsoft.com/office/drawing/2014/main" id="{2395C742-F3C1-F433-17B3-C4320A8A97F1}"/>
              </a:ext>
            </a:extLst>
          </p:cNvPr>
          <p:cNvSpPr>
            <a:spLocks noGrp="1"/>
          </p:cNvSpPr>
          <p:nvPr>
            <p:ph type="title"/>
          </p:nvPr>
        </p:nvSpPr>
        <p:spPr>
          <a:xfrm>
            <a:off x="612000" y="144000"/>
            <a:ext cx="7920000" cy="341632"/>
          </a:xfrm>
        </p:spPr>
        <p:txBody>
          <a:bodyPr/>
          <a:lstStyle/>
          <a:p>
            <a:r>
              <a:rPr lang="zh-CN" altLang="en-US" dirty="0"/>
              <a:t>数据在各层之间的传递过程</a:t>
            </a:r>
          </a:p>
        </p:txBody>
      </p:sp>
      <p:sp useBgFill="1">
        <p:nvSpPr>
          <p:cNvPr id="153" name="Rectangle 37">
            <a:extLst>
              <a:ext uri="{FF2B5EF4-FFF2-40B4-BE49-F238E27FC236}">
                <a16:creationId xmlns:a16="http://schemas.microsoft.com/office/drawing/2014/main" id="{298E40CA-3FF8-0264-A2EF-8F19AC711E2D}"/>
              </a:ext>
            </a:extLst>
          </p:cNvPr>
          <p:cNvSpPr>
            <a:spLocks noChangeArrowheads="1"/>
          </p:cNvSpPr>
          <p:nvPr/>
        </p:nvSpPr>
        <p:spPr bwMode="auto">
          <a:xfrm>
            <a:off x="2961614" y="1870804"/>
            <a:ext cx="482400" cy="244800"/>
          </a:xfrm>
          <a:prstGeom prst="rect">
            <a:avLst/>
          </a:prstGeom>
          <a:ln w="9525">
            <a:solidFill>
              <a:schemeClr val="tx1"/>
            </a:solidFill>
            <a:miter lim="800000"/>
          </a:ln>
        </p:spPr>
        <p:txBody>
          <a:bodyPr wrap="none" anchor="ctr"/>
          <a:lstStyle/>
          <a:p>
            <a:pPr algn="ctr"/>
            <a:r>
              <a:rPr lang="zh-CN" altLang="en-US" sz="1000" dirty="0"/>
              <a:t>数 据</a:t>
            </a:r>
          </a:p>
        </p:txBody>
      </p:sp>
      <p:sp>
        <p:nvSpPr>
          <p:cNvPr id="155" name="Rectangle 34">
            <a:extLst>
              <a:ext uri="{FF2B5EF4-FFF2-40B4-BE49-F238E27FC236}">
                <a16:creationId xmlns:a16="http://schemas.microsoft.com/office/drawing/2014/main" id="{9D790903-498C-C174-8AF7-04CF3FB3D98B}"/>
              </a:ext>
            </a:extLst>
          </p:cNvPr>
          <p:cNvSpPr>
            <a:spLocks noChangeArrowheads="1"/>
          </p:cNvSpPr>
          <p:nvPr/>
        </p:nvSpPr>
        <p:spPr bwMode="auto">
          <a:xfrm>
            <a:off x="2738414" y="2209361"/>
            <a:ext cx="223200" cy="244800"/>
          </a:xfrm>
          <a:prstGeom prst="rect">
            <a:avLst/>
          </a:prstGeom>
          <a:solidFill>
            <a:schemeClr val="accent2"/>
          </a:solidFill>
          <a:ln w="9525">
            <a:solidFill>
              <a:schemeClr val="tx1"/>
            </a:solidFill>
            <a:miter lim="800000"/>
          </a:ln>
          <a:effectLst/>
        </p:spPr>
        <p:txBody>
          <a:bodyPr wrap="none" anchor="ctr"/>
          <a:lstStyle/>
          <a:p>
            <a:pPr algn="ctr"/>
            <a:r>
              <a:rPr lang="en-US" altLang="zh-CN" sz="1000" dirty="0"/>
              <a:t>H</a:t>
            </a:r>
            <a:r>
              <a:rPr lang="en-US" altLang="zh-CN" sz="1000" baseline="-25000" dirty="0"/>
              <a:t>5</a:t>
            </a:r>
          </a:p>
        </p:txBody>
      </p:sp>
      <p:sp useBgFill="1">
        <p:nvSpPr>
          <p:cNvPr id="157" name="Rectangle 37">
            <a:extLst>
              <a:ext uri="{FF2B5EF4-FFF2-40B4-BE49-F238E27FC236}">
                <a16:creationId xmlns:a16="http://schemas.microsoft.com/office/drawing/2014/main" id="{9C35D2B5-FA76-A9BA-9730-98A07D314503}"/>
              </a:ext>
            </a:extLst>
          </p:cNvPr>
          <p:cNvSpPr>
            <a:spLocks noChangeArrowheads="1"/>
          </p:cNvSpPr>
          <p:nvPr/>
        </p:nvSpPr>
        <p:spPr bwMode="auto">
          <a:xfrm>
            <a:off x="2961614" y="2209361"/>
            <a:ext cx="482400" cy="244800"/>
          </a:xfrm>
          <a:prstGeom prst="rect">
            <a:avLst/>
          </a:prstGeom>
          <a:ln w="9525">
            <a:solidFill>
              <a:schemeClr val="tx1"/>
            </a:solidFill>
            <a:miter lim="800000"/>
          </a:ln>
        </p:spPr>
        <p:txBody>
          <a:bodyPr wrap="none" anchor="ctr"/>
          <a:lstStyle/>
          <a:p>
            <a:pPr algn="ctr"/>
            <a:r>
              <a:rPr lang="zh-CN" altLang="en-US" sz="1000" dirty="0">
                <a:solidFill>
                  <a:sysClr val="windowText" lastClr="000000"/>
                </a:solidFill>
              </a:rPr>
              <a:t>数 据</a:t>
            </a:r>
          </a:p>
        </p:txBody>
      </p:sp>
      <p:sp>
        <p:nvSpPr>
          <p:cNvPr id="159" name="Rectangle 39">
            <a:extLst>
              <a:ext uri="{FF2B5EF4-FFF2-40B4-BE49-F238E27FC236}">
                <a16:creationId xmlns:a16="http://schemas.microsoft.com/office/drawing/2014/main" id="{A1436935-471B-1EEE-35F9-36C6E134A42E}"/>
              </a:ext>
            </a:extLst>
          </p:cNvPr>
          <p:cNvSpPr>
            <a:spLocks noChangeArrowheads="1"/>
          </p:cNvSpPr>
          <p:nvPr/>
        </p:nvSpPr>
        <p:spPr bwMode="auto">
          <a:xfrm>
            <a:off x="2738414" y="2554531"/>
            <a:ext cx="223200" cy="244800"/>
          </a:xfrm>
          <a:prstGeom prst="rect">
            <a:avLst/>
          </a:prstGeom>
          <a:solidFill>
            <a:schemeClr val="accent2"/>
          </a:solidFill>
          <a:ln w="9525">
            <a:solidFill>
              <a:schemeClr val="tx1"/>
            </a:solidFill>
            <a:miter lim="800000"/>
          </a:ln>
          <a:effectLst/>
        </p:spPr>
        <p:txBody>
          <a:bodyPr wrap="none" anchor="ctr"/>
          <a:lstStyle/>
          <a:p>
            <a:pPr algn="ctr" fontAlgn="auto">
              <a:spcBef>
                <a:spcPts val="0"/>
              </a:spcBef>
              <a:spcAft>
                <a:spcPts val="0"/>
              </a:spcAft>
              <a:defRPr/>
            </a:pPr>
            <a:r>
              <a:rPr lang="en-US" altLang="zh-CN" sz="1000" dirty="0"/>
              <a:t>H</a:t>
            </a:r>
            <a:r>
              <a:rPr lang="en-US" altLang="zh-CN" sz="1000" baseline="-25000" dirty="0"/>
              <a:t>5</a:t>
            </a:r>
          </a:p>
        </p:txBody>
      </p:sp>
      <p:sp>
        <p:nvSpPr>
          <p:cNvPr id="161" name="Rectangle 40">
            <a:extLst>
              <a:ext uri="{FF2B5EF4-FFF2-40B4-BE49-F238E27FC236}">
                <a16:creationId xmlns:a16="http://schemas.microsoft.com/office/drawing/2014/main" id="{39D9C27A-C358-7B43-0CC7-BEA227A32E32}"/>
              </a:ext>
            </a:extLst>
          </p:cNvPr>
          <p:cNvSpPr>
            <a:spLocks noChangeArrowheads="1"/>
          </p:cNvSpPr>
          <p:nvPr/>
        </p:nvSpPr>
        <p:spPr bwMode="auto">
          <a:xfrm>
            <a:off x="2961614" y="2554531"/>
            <a:ext cx="482400" cy="244800"/>
          </a:xfrm>
          <a:prstGeom prst="rect">
            <a:avLst/>
          </a:prstGeom>
          <a:solidFill>
            <a:schemeClr val="bg1"/>
          </a:solidFill>
          <a:ln w="9525">
            <a:solidFill>
              <a:schemeClr val="tx1"/>
            </a:solidFill>
            <a:miter lim="800000"/>
          </a:ln>
        </p:spPr>
        <p:txBody>
          <a:bodyPr wrap="none" anchor="ctr"/>
          <a:lstStyle/>
          <a:p>
            <a:pPr algn="ctr"/>
            <a:r>
              <a:rPr lang="zh-CN" altLang="en-US" sz="1000" dirty="0"/>
              <a:t>数 据</a:t>
            </a:r>
          </a:p>
        </p:txBody>
      </p:sp>
      <p:sp>
        <p:nvSpPr>
          <p:cNvPr id="163" name="Rectangle 66">
            <a:extLst>
              <a:ext uri="{FF2B5EF4-FFF2-40B4-BE49-F238E27FC236}">
                <a16:creationId xmlns:a16="http://schemas.microsoft.com/office/drawing/2014/main" id="{943C118B-09CE-08C2-FDAD-46F4D7DA5F24}"/>
              </a:ext>
            </a:extLst>
          </p:cNvPr>
          <p:cNvSpPr>
            <a:spLocks noChangeArrowheads="1"/>
          </p:cNvSpPr>
          <p:nvPr/>
        </p:nvSpPr>
        <p:spPr bwMode="auto">
          <a:xfrm>
            <a:off x="2515214" y="2554531"/>
            <a:ext cx="223200" cy="244800"/>
          </a:xfrm>
          <a:prstGeom prst="rect">
            <a:avLst/>
          </a:prstGeom>
          <a:solidFill>
            <a:srgbClr val="FFC000"/>
          </a:solidFill>
          <a:ln w="9525">
            <a:solidFill>
              <a:schemeClr val="tx1"/>
            </a:solidFill>
            <a:miter lim="800000"/>
          </a:ln>
          <a:effectLst/>
        </p:spPr>
        <p:txBody>
          <a:bodyPr wrap="none" anchor="ctr"/>
          <a:lstStyle/>
          <a:p>
            <a:pPr algn="ctr"/>
            <a:r>
              <a:rPr lang="en-US" altLang="zh-CN" sz="1000" dirty="0"/>
              <a:t>H</a:t>
            </a:r>
            <a:r>
              <a:rPr lang="en-US" altLang="zh-CN" sz="1000" baseline="-25000" dirty="0"/>
              <a:t>4</a:t>
            </a:r>
          </a:p>
        </p:txBody>
      </p:sp>
      <p:sp>
        <p:nvSpPr>
          <p:cNvPr id="165" name="Rectangle 42">
            <a:extLst>
              <a:ext uri="{FF2B5EF4-FFF2-40B4-BE49-F238E27FC236}">
                <a16:creationId xmlns:a16="http://schemas.microsoft.com/office/drawing/2014/main" id="{733D4A05-D2B7-9087-3CC4-CC77D439D3B5}"/>
              </a:ext>
            </a:extLst>
          </p:cNvPr>
          <p:cNvSpPr>
            <a:spLocks noChangeArrowheads="1"/>
          </p:cNvSpPr>
          <p:nvPr/>
        </p:nvSpPr>
        <p:spPr bwMode="auto">
          <a:xfrm>
            <a:off x="2515214" y="2932543"/>
            <a:ext cx="223200" cy="244800"/>
          </a:xfrm>
          <a:prstGeom prst="rect">
            <a:avLst/>
          </a:prstGeom>
          <a:solidFill>
            <a:srgbClr val="FFC000"/>
          </a:solidFill>
          <a:ln w="9525">
            <a:solidFill>
              <a:schemeClr val="tx1"/>
            </a:solidFill>
            <a:miter lim="800000"/>
          </a:ln>
          <a:effectLst/>
        </p:spPr>
        <p:txBody>
          <a:bodyPr wrap="none" anchor="ctr"/>
          <a:lstStyle/>
          <a:p>
            <a:pPr algn="ctr"/>
            <a:r>
              <a:rPr lang="en-US" altLang="zh-CN" sz="1000" dirty="0"/>
              <a:t>H</a:t>
            </a:r>
            <a:r>
              <a:rPr lang="en-US" altLang="zh-CN" sz="1000" baseline="-25000" dirty="0"/>
              <a:t>4</a:t>
            </a:r>
          </a:p>
        </p:txBody>
      </p:sp>
      <p:sp>
        <p:nvSpPr>
          <p:cNvPr id="167" name="Rectangle 43">
            <a:extLst>
              <a:ext uri="{FF2B5EF4-FFF2-40B4-BE49-F238E27FC236}">
                <a16:creationId xmlns:a16="http://schemas.microsoft.com/office/drawing/2014/main" id="{401432D3-F176-FFCE-52B6-F969F636303C}"/>
              </a:ext>
            </a:extLst>
          </p:cNvPr>
          <p:cNvSpPr>
            <a:spLocks noChangeArrowheads="1"/>
          </p:cNvSpPr>
          <p:nvPr/>
        </p:nvSpPr>
        <p:spPr bwMode="auto">
          <a:xfrm>
            <a:off x="2738414" y="2932543"/>
            <a:ext cx="223200" cy="244800"/>
          </a:xfrm>
          <a:prstGeom prst="rect">
            <a:avLst/>
          </a:prstGeom>
          <a:solidFill>
            <a:schemeClr val="accent2"/>
          </a:solidFill>
          <a:ln w="9525">
            <a:solidFill>
              <a:schemeClr val="tx1"/>
            </a:solidFill>
            <a:miter lim="800000"/>
          </a:ln>
          <a:effectLst/>
        </p:spPr>
        <p:txBody>
          <a:bodyPr wrap="none" anchor="ctr"/>
          <a:lstStyle/>
          <a:p>
            <a:pPr algn="ctr"/>
            <a:r>
              <a:rPr lang="en-US" altLang="zh-CN" sz="1000" dirty="0"/>
              <a:t>H</a:t>
            </a:r>
            <a:r>
              <a:rPr lang="en-US" altLang="zh-CN" sz="1000" baseline="-25000" dirty="0"/>
              <a:t>5</a:t>
            </a:r>
          </a:p>
        </p:txBody>
      </p:sp>
      <p:sp>
        <p:nvSpPr>
          <p:cNvPr id="169" name="Rectangle 44">
            <a:extLst>
              <a:ext uri="{FF2B5EF4-FFF2-40B4-BE49-F238E27FC236}">
                <a16:creationId xmlns:a16="http://schemas.microsoft.com/office/drawing/2014/main" id="{FC0A39EC-D088-A285-346C-2E84C5515DEE}"/>
              </a:ext>
            </a:extLst>
          </p:cNvPr>
          <p:cNvSpPr>
            <a:spLocks noChangeArrowheads="1"/>
          </p:cNvSpPr>
          <p:nvPr/>
        </p:nvSpPr>
        <p:spPr bwMode="auto">
          <a:xfrm>
            <a:off x="2961614" y="2932543"/>
            <a:ext cx="482400" cy="244800"/>
          </a:xfrm>
          <a:prstGeom prst="rect">
            <a:avLst/>
          </a:prstGeom>
          <a:solidFill>
            <a:schemeClr val="bg1"/>
          </a:solidFill>
          <a:ln w="9525">
            <a:solidFill>
              <a:schemeClr val="tx1"/>
            </a:solidFill>
            <a:miter lim="800000"/>
          </a:ln>
        </p:spPr>
        <p:txBody>
          <a:bodyPr wrap="none" anchor="ctr"/>
          <a:lstStyle/>
          <a:p>
            <a:pPr algn="ctr"/>
            <a:r>
              <a:rPr lang="zh-CN" altLang="en-US" sz="1000" dirty="0"/>
              <a:t>数 据</a:t>
            </a:r>
          </a:p>
        </p:txBody>
      </p:sp>
      <p:sp>
        <p:nvSpPr>
          <p:cNvPr id="171" name="Rectangle 70">
            <a:extLst>
              <a:ext uri="{FF2B5EF4-FFF2-40B4-BE49-F238E27FC236}">
                <a16:creationId xmlns:a16="http://schemas.microsoft.com/office/drawing/2014/main" id="{6AFCF469-529E-5F8D-33F1-4C5854703B7D}"/>
              </a:ext>
            </a:extLst>
          </p:cNvPr>
          <p:cNvSpPr>
            <a:spLocks noChangeArrowheads="1"/>
          </p:cNvSpPr>
          <p:nvPr/>
        </p:nvSpPr>
        <p:spPr bwMode="auto">
          <a:xfrm>
            <a:off x="2292014" y="2932543"/>
            <a:ext cx="223200" cy="244800"/>
          </a:xfrm>
          <a:prstGeom prst="rect">
            <a:avLst/>
          </a:prstGeom>
          <a:solidFill>
            <a:srgbClr val="00B0F0"/>
          </a:solidFill>
          <a:ln w="9525">
            <a:solidFill>
              <a:schemeClr val="tx1"/>
            </a:solidFill>
            <a:miter lim="800000"/>
          </a:ln>
          <a:effectLst/>
        </p:spPr>
        <p:txBody>
          <a:bodyPr wrap="none" anchor="ctr"/>
          <a:lstStyle/>
          <a:p>
            <a:pPr algn="ctr"/>
            <a:r>
              <a:rPr lang="en-US" altLang="zh-CN" sz="1000"/>
              <a:t>H</a:t>
            </a:r>
            <a:r>
              <a:rPr lang="en-US" altLang="zh-CN" sz="1000" baseline="-25000"/>
              <a:t>3</a:t>
            </a:r>
          </a:p>
        </p:txBody>
      </p:sp>
      <p:sp>
        <p:nvSpPr>
          <p:cNvPr id="187" name="矩形 186">
            <a:extLst>
              <a:ext uri="{FF2B5EF4-FFF2-40B4-BE49-F238E27FC236}">
                <a16:creationId xmlns:a16="http://schemas.microsoft.com/office/drawing/2014/main" id="{85FA2FCB-B2EA-B358-C412-0C7A48530D4C}"/>
              </a:ext>
            </a:extLst>
          </p:cNvPr>
          <p:cNvSpPr/>
          <p:nvPr/>
        </p:nvSpPr>
        <p:spPr>
          <a:xfrm>
            <a:off x="2979490" y="2219763"/>
            <a:ext cx="464524" cy="223997"/>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ysClr val="windowText" lastClr="000000"/>
              </a:solidFill>
            </a:endParaRPr>
          </a:p>
        </p:txBody>
      </p:sp>
      <p:grpSp>
        <p:nvGrpSpPr>
          <p:cNvPr id="94" name="Group 56"/>
          <p:cNvGrpSpPr/>
          <p:nvPr/>
        </p:nvGrpSpPr>
        <p:grpSpPr bwMode="auto">
          <a:xfrm>
            <a:off x="1235121" y="2777819"/>
            <a:ext cx="2054125" cy="271275"/>
            <a:chOff x="434" y="2411"/>
            <a:chExt cx="1745" cy="274"/>
          </a:xfrm>
          <a:solidFill>
            <a:srgbClr val="CC00CC"/>
          </a:solidFill>
        </p:grpSpPr>
        <p:sp>
          <p:nvSpPr>
            <p:cNvPr id="95" name="AutoShape 57"/>
            <p:cNvSpPr>
              <a:spLocks noChangeArrowheads="1"/>
            </p:cNvSpPr>
            <p:nvPr/>
          </p:nvSpPr>
          <p:spPr bwMode="auto">
            <a:xfrm rot="10800000">
              <a:off x="434" y="2460"/>
              <a:ext cx="126" cy="225"/>
            </a:xfrm>
            <a:prstGeom prst="upArrow">
              <a:avLst>
                <a:gd name="adj1" fmla="val 50000"/>
                <a:gd name="adj2" fmla="val 49600"/>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6" name="AutoShape 58"/>
            <p:cNvSpPr>
              <a:spLocks noChangeArrowheads="1"/>
            </p:cNvSpPr>
            <p:nvPr/>
          </p:nvSpPr>
          <p:spPr bwMode="auto">
            <a:xfrm rot="10800000">
              <a:off x="2054" y="2411"/>
              <a:ext cx="125" cy="248"/>
            </a:xfrm>
            <a:prstGeom prst="upArrow">
              <a:avLst>
                <a:gd name="adj1" fmla="val 50000"/>
                <a:gd name="adj2" fmla="val 49600"/>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grpSp>
      <p:grpSp>
        <p:nvGrpSpPr>
          <p:cNvPr id="87" name="Group 53"/>
          <p:cNvGrpSpPr/>
          <p:nvPr/>
        </p:nvGrpSpPr>
        <p:grpSpPr bwMode="auto">
          <a:xfrm>
            <a:off x="1237477" y="2416934"/>
            <a:ext cx="2045886" cy="243496"/>
            <a:chOff x="434" y="2091"/>
            <a:chExt cx="1738" cy="274"/>
          </a:xfrm>
          <a:solidFill>
            <a:srgbClr val="CC00CC">
              <a:alpha val="50000"/>
            </a:srgbClr>
          </a:solidFill>
        </p:grpSpPr>
        <p:sp>
          <p:nvSpPr>
            <p:cNvPr id="88" name="AutoShape 54"/>
            <p:cNvSpPr>
              <a:spLocks noChangeArrowheads="1"/>
            </p:cNvSpPr>
            <p:nvPr/>
          </p:nvSpPr>
          <p:spPr bwMode="auto">
            <a:xfrm rot="10800000">
              <a:off x="434" y="2116"/>
              <a:ext cx="125" cy="249"/>
            </a:xfrm>
            <a:prstGeom prst="upArrow">
              <a:avLst>
                <a:gd name="adj1" fmla="val 50000"/>
                <a:gd name="adj2" fmla="val 49800"/>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89" name="AutoShape 55"/>
            <p:cNvSpPr>
              <a:spLocks noChangeArrowheads="1"/>
            </p:cNvSpPr>
            <p:nvPr/>
          </p:nvSpPr>
          <p:spPr bwMode="auto">
            <a:xfrm rot="10800000">
              <a:off x="2054" y="2091"/>
              <a:ext cx="118" cy="249"/>
            </a:xfrm>
            <a:prstGeom prst="upArrow">
              <a:avLst>
                <a:gd name="adj1" fmla="val 50000"/>
                <a:gd name="adj2" fmla="val 49800"/>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grpSp>
      <p:grpSp>
        <p:nvGrpSpPr>
          <p:cNvPr id="72" name="Group 50"/>
          <p:cNvGrpSpPr/>
          <p:nvPr/>
        </p:nvGrpSpPr>
        <p:grpSpPr bwMode="auto">
          <a:xfrm>
            <a:off x="1237477" y="2076244"/>
            <a:ext cx="2052947" cy="205414"/>
            <a:chOff x="436" y="1815"/>
            <a:chExt cx="1744" cy="228"/>
          </a:xfrm>
          <a:solidFill>
            <a:srgbClr val="CC00CC">
              <a:alpha val="50000"/>
            </a:srgbClr>
          </a:solidFill>
        </p:grpSpPr>
        <p:sp>
          <p:nvSpPr>
            <p:cNvPr id="73" name="AutoShape 51"/>
            <p:cNvSpPr>
              <a:spLocks noChangeArrowheads="1"/>
            </p:cNvSpPr>
            <p:nvPr/>
          </p:nvSpPr>
          <p:spPr bwMode="auto">
            <a:xfrm flipV="1">
              <a:off x="436" y="1815"/>
              <a:ext cx="124" cy="228"/>
            </a:xfrm>
            <a:prstGeom prst="upArrow">
              <a:avLst>
                <a:gd name="adj1" fmla="val 50000"/>
                <a:gd name="adj2" fmla="val 45968"/>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74" name="AutoShape 52"/>
            <p:cNvSpPr>
              <a:spLocks noChangeArrowheads="1"/>
            </p:cNvSpPr>
            <p:nvPr/>
          </p:nvSpPr>
          <p:spPr bwMode="auto">
            <a:xfrm flipV="1">
              <a:off x="2056" y="1815"/>
              <a:ext cx="124" cy="228"/>
            </a:xfrm>
            <a:prstGeom prst="upArrow">
              <a:avLst>
                <a:gd name="adj1" fmla="val 50000"/>
                <a:gd name="adj2" fmla="val 45968"/>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grpSp>
      <p:grpSp>
        <p:nvGrpSpPr>
          <p:cNvPr id="194" name="组合 193">
            <a:extLst>
              <a:ext uri="{FF2B5EF4-FFF2-40B4-BE49-F238E27FC236}">
                <a16:creationId xmlns:a16="http://schemas.microsoft.com/office/drawing/2014/main" id="{5930F9C1-DB24-6A2B-864D-95C781CD02FE}"/>
              </a:ext>
            </a:extLst>
          </p:cNvPr>
          <p:cNvGrpSpPr/>
          <p:nvPr/>
        </p:nvGrpSpPr>
        <p:grpSpPr>
          <a:xfrm>
            <a:off x="3960000" y="2808000"/>
            <a:ext cx="1080000" cy="1080000"/>
            <a:chOff x="2807995" y="2745746"/>
            <a:chExt cx="1080000" cy="1080000"/>
          </a:xfrm>
        </p:grpSpPr>
        <p:sp>
          <p:nvSpPr>
            <p:cNvPr id="195" name="立方体 194">
              <a:extLst>
                <a:ext uri="{FF2B5EF4-FFF2-40B4-BE49-F238E27FC236}">
                  <a16:creationId xmlns:a16="http://schemas.microsoft.com/office/drawing/2014/main" id="{7E973236-B4DD-3EF4-3D67-99D6DD56B7BB}"/>
                </a:ext>
              </a:extLst>
            </p:cNvPr>
            <p:cNvSpPr/>
            <p:nvPr/>
          </p:nvSpPr>
          <p:spPr>
            <a:xfrm>
              <a:off x="2807995" y="3393746"/>
              <a:ext cx="594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sz="1050" dirty="0">
                  <a:solidFill>
                    <a:schemeClr val="bg1"/>
                  </a:solidFill>
                </a:rPr>
                <a:t>1</a:t>
              </a:r>
              <a:endParaRPr lang="zh-CN" altLang="en-US" sz="1050" dirty="0">
                <a:solidFill>
                  <a:schemeClr val="bg1"/>
                </a:solidFill>
              </a:endParaRPr>
            </a:p>
          </p:txBody>
        </p:sp>
        <p:sp>
          <p:nvSpPr>
            <p:cNvPr id="196" name="立方体 195">
              <a:extLst>
                <a:ext uri="{FF2B5EF4-FFF2-40B4-BE49-F238E27FC236}">
                  <a16:creationId xmlns:a16="http://schemas.microsoft.com/office/drawing/2014/main" id="{B5C94B27-CC96-CD3A-87C6-7DC5756CCD82}"/>
                </a:ext>
              </a:extLst>
            </p:cNvPr>
            <p:cNvSpPr/>
            <p:nvPr/>
          </p:nvSpPr>
          <p:spPr>
            <a:xfrm>
              <a:off x="2807995" y="3069746"/>
              <a:ext cx="594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sz="1050" dirty="0">
                  <a:solidFill>
                    <a:schemeClr val="bg1"/>
                  </a:solidFill>
                </a:rPr>
                <a:t>2</a:t>
              </a:r>
              <a:endParaRPr lang="zh-CN" altLang="en-US" sz="1050" dirty="0">
                <a:solidFill>
                  <a:schemeClr val="bg1"/>
                </a:solidFill>
              </a:endParaRPr>
            </a:p>
          </p:txBody>
        </p:sp>
        <p:sp>
          <p:nvSpPr>
            <p:cNvPr id="197" name="立方体 196">
              <a:extLst>
                <a:ext uri="{FF2B5EF4-FFF2-40B4-BE49-F238E27FC236}">
                  <a16:creationId xmlns:a16="http://schemas.microsoft.com/office/drawing/2014/main" id="{BF671E2C-5B1B-F411-FF23-AB765885841F}"/>
                </a:ext>
              </a:extLst>
            </p:cNvPr>
            <p:cNvSpPr/>
            <p:nvPr/>
          </p:nvSpPr>
          <p:spPr>
            <a:xfrm>
              <a:off x="3293995" y="3393746"/>
              <a:ext cx="594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sz="1050" dirty="0">
                  <a:solidFill>
                    <a:schemeClr val="bg1"/>
                  </a:solidFill>
                </a:rPr>
                <a:t>1</a:t>
              </a:r>
              <a:endParaRPr lang="zh-CN" altLang="en-US" sz="1050" dirty="0">
                <a:solidFill>
                  <a:schemeClr val="bg1"/>
                </a:solidFill>
              </a:endParaRPr>
            </a:p>
          </p:txBody>
        </p:sp>
        <p:sp>
          <p:nvSpPr>
            <p:cNvPr id="198" name="立方体 197">
              <a:extLst>
                <a:ext uri="{FF2B5EF4-FFF2-40B4-BE49-F238E27FC236}">
                  <a16:creationId xmlns:a16="http://schemas.microsoft.com/office/drawing/2014/main" id="{8395D172-1AF1-6AEB-CCF5-080ECCCD6462}"/>
                </a:ext>
              </a:extLst>
            </p:cNvPr>
            <p:cNvSpPr/>
            <p:nvPr/>
          </p:nvSpPr>
          <p:spPr>
            <a:xfrm>
              <a:off x="3293995" y="3069746"/>
              <a:ext cx="594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sz="1050" dirty="0">
                  <a:solidFill>
                    <a:schemeClr val="bg1"/>
                  </a:solidFill>
                </a:rPr>
                <a:t>2</a:t>
              </a:r>
              <a:endParaRPr lang="zh-CN" altLang="en-US" sz="1050" dirty="0">
                <a:solidFill>
                  <a:schemeClr val="bg1"/>
                </a:solidFill>
              </a:endParaRPr>
            </a:p>
          </p:txBody>
        </p:sp>
        <p:sp>
          <p:nvSpPr>
            <p:cNvPr id="199" name="立方体 198">
              <a:extLst>
                <a:ext uri="{FF2B5EF4-FFF2-40B4-BE49-F238E27FC236}">
                  <a16:creationId xmlns:a16="http://schemas.microsoft.com/office/drawing/2014/main" id="{92480EC7-EA26-7D61-015B-EF3A5FD365B8}"/>
                </a:ext>
              </a:extLst>
            </p:cNvPr>
            <p:cNvSpPr/>
            <p:nvPr/>
          </p:nvSpPr>
          <p:spPr>
            <a:xfrm>
              <a:off x="2807995" y="2745746"/>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pPr algn="ctr"/>
              <a:r>
                <a:rPr lang="en-US" altLang="zh-CN" sz="1050" dirty="0">
                  <a:solidFill>
                    <a:schemeClr val="bg1"/>
                  </a:solidFill>
                </a:rPr>
                <a:t>3</a:t>
              </a:r>
              <a:endParaRPr lang="zh-CN" altLang="en-US" sz="1050" dirty="0">
                <a:solidFill>
                  <a:schemeClr val="bg1"/>
                </a:solidFill>
              </a:endParaRPr>
            </a:p>
          </p:txBody>
        </p:sp>
      </p:grpSp>
      <p:sp>
        <p:nvSpPr>
          <p:cNvPr id="201" name="AutoShape 4">
            <a:extLst>
              <a:ext uri="{FF2B5EF4-FFF2-40B4-BE49-F238E27FC236}">
                <a16:creationId xmlns:a16="http://schemas.microsoft.com/office/drawing/2014/main" id="{92530A91-786C-EA27-F71A-0C247D604F1F}"/>
              </a:ext>
            </a:extLst>
          </p:cNvPr>
          <p:cNvSpPr>
            <a:spLocks noChangeArrowheads="1"/>
          </p:cNvSpPr>
          <p:nvPr/>
        </p:nvSpPr>
        <p:spPr bwMode="auto">
          <a:xfrm rot="16200000">
            <a:off x="2567190" y="2361728"/>
            <a:ext cx="271463" cy="3600000"/>
          </a:xfrm>
          <a:prstGeom prst="can">
            <a:avLst>
              <a:gd name="adj" fmla="val 48656"/>
            </a:avLst>
          </a:prstGeom>
          <a:gradFill rotWithShape="0">
            <a:gsLst>
              <a:gs pos="0">
                <a:srgbClr val="00CC00"/>
              </a:gs>
              <a:gs pos="50000">
                <a:schemeClr val="bg1"/>
              </a:gs>
              <a:gs pos="100000">
                <a:srgbClr val="00CC00"/>
              </a:gs>
            </a:gsLst>
            <a:lin ang="5400000" scaled="1"/>
          </a:gradFill>
          <a:ln w="6350">
            <a:solidFill>
              <a:srgbClr val="7CE07C"/>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203" name="AutoShape 4">
            <a:extLst>
              <a:ext uri="{FF2B5EF4-FFF2-40B4-BE49-F238E27FC236}">
                <a16:creationId xmlns:a16="http://schemas.microsoft.com/office/drawing/2014/main" id="{D5B7BC5D-B1AD-5964-B1B3-46256E134A77}"/>
              </a:ext>
            </a:extLst>
          </p:cNvPr>
          <p:cNvSpPr>
            <a:spLocks noChangeArrowheads="1"/>
          </p:cNvSpPr>
          <p:nvPr/>
        </p:nvSpPr>
        <p:spPr bwMode="auto">
          <a:xfrm rot="16200000">
            <a:off x="6253847" y="2361728"/>
            <a:ext cx="271463" cy="3600000"/>
          </a:xfrm>
          <a:prstGeom prst="can">
            <a:avLst>
              <a:gd name="adj" fmla="val 48656"/>
            </a:avLst>
          </a:prstGeom>
          <a:gradFill rotWithShape="0">
            <a:gsLst>
              <a:gs pos="0">
                <a:srgbClr val="00CC00"/>
              </a:gs>
              <a:gs pos="50000">
                <a:schemeClr val="bg1"/>
              </a:gs>
              <a:gs pos="100000">
                <a:srgbClr val="00CC00"/>
              </a:gs>
            </a:gsLst>
            <a:lin ang="5400000" scaled="1"/>
          </a:gradFill>
          <a:ln w="6350">
            <a:solidFill>
              <a:srgbClr val="7CE07C"/>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205" name="Text Box 26">
            <a:extLst>
              <a:ext uri="{FF2B5EF4-FFF2-40B4-BE49-F238E27FC236}">
                <a16:creationId xmlns:a16="http://schemas.microsoft.com/office/drawing/2014/main" id="{EBF2ADD7-309F-AA5F-5EA4-A7F562F0C039}"/>
              </a:ext>
            </a:extLst>
          </p:cNvPr>
          <p:cNvSpPr txBox="1">
            <a:spLocks noChangeArrowheads="1"/>
          </p:cNvSpPr>
          <p:nvPr/>
        </p:nvSpPr>
        <p:spPr bwMode="auto">
          <a:xfrm>
            <a:off x="2701348" y="4023229"/>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dirty="0">
                <a:latin typeface="+mj-lt"/>
                <a:ea typeface="+mj-ea"/>
              </a:rPr>
              <a:t>物理传输媒体</a:t>
            </a:r>
          </a:p>
        </p:txBody>
      </p:sp>
      <p:sp>
        <p:nvSpPr>
          <p:cNvPr id="207" name="Text Box 26">
            <a:extLst>
              <a:ext uri="{FF2B5EF4-FFF2-40B4-BE49-F238E27FC236}">
                <a16:creationId xmlns:a16="http://schemas.microsoft.com/office/drawing/2014/main" id="{7EAA14A6-B115-A129-E866-279A32A2B17C}"/>
              </a:ext>
            </a:extLst>
          </p:cNvPr>
          <p:cNvSpPr txBox="1">
            <a:spLocks noChangeArrowheads="1"/>
          </p:cNvSpPr>
          <p:nvPr/>
        </p:nvSpPr>
        <p:spPr bwMode="auto">
          <a:xfrm>
            <a:off x="6193730" y="4023229"/>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dirty="0">
                <a:latin typeface="+mj-lt"/>
                <a:ea typeface="+mj-ea"/>
              </a:rPr>
              <a:t>物理传输媒体</a:t>
            </a:r>
          </a:p>
        </p:txBody>
      </p:sp>
    </p:spTree>
    <p:extLst>
      <p:ext uri="{BB962C8B-B14F-4D97-AF65-F5344CB8AC3E}">
        <p14:creationId xmlns:p14="http://schemas.microsoft.com/office/powerpoint/2010/main" val="2326538713"/>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59" name="组合 158">
            <a:extLst>
              <a:ext uri="{FF2B5EF4-FFF2-40B4-BE49-F238E27FC236}">
                <a16:creationId xmlns:a16="http://schemas.microsoft.com/office/drawing/2014/main" id="{CAB97BF8-CB1A-7A4D-9280-9777811CB59C}"/>
              </a:ext>
            </a:extLst>
          </p:cNvPr>
          <p:cNvGrpSpPr/>
          <p:nvPr/>
        </p:nvGrpSpPr>
        <p:grpSpPr>
          <a:xfrm>
            <a:off x="7395732" y="1800000"/>
            <a:ext cx="1080000" cy="2088000"/>
            <a:chOff x="701211" y="1800000"/>
            <a:chExt cx="1080000" cy="2088000"/>
          </a:xfrm>
        </p:grpSpPr>
        <p:sp>
          <p:nvSpPr>
            <p:cNvPr id="160" name="立方体 159">
              <a:extLst>
                <a:ext uri="{FF2B5EF4-FFF2-40B4-BE49-F238E27FC236}">
                  <a16:creationId xmlns:a16="http://schemas.microsoft.com/office/drawing/2014/main" id="{D0745696-9F12-85EB-1E6D-0EFBB9224CDB}"/>
                </a:ext>
              </a:extLst>
            </p:cNvPr>
            <p:cNvSpPr/>
            <p:nvPr/>
          </p:nvSpPr>
          <p:spPr>
            <a:xfrm>
              <a:off x="701211" y="3456000"/>
              <a:ext cx="108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050" dirty="0">
                  <a:solidFill>
                    <a:schemeClr val="bg1"/>
                  </a:solidFill>
                </a:rPr>
                <a:t>1 </a:t>
              </a:r>
              <a:r>
                <a:rPr lang="zh-CN" altLang="en-US" sz="1050" dirty="0">
                  <a:solidFill>
                    <a:schemeClr val="bg1"/>
                  </a:solidFill>
                </a:rPr>
                <a:t>物理层</a:t>
              </a:r>
            </a:p>
          </p:txBody>
        </p:sp>
        <p:sp>
          <p:nvSpPr>
            <p:cNvPr id="161" name="立方体 160">
              <a:extLst>
                <a:ext uri="{FF2B5EF4-FFF2-40B4-BE49-F238E27FC236}">
                  <a16:creationId xmlns:a16="http://schemas.microsoft.com/office/drawing/2014/main" id="{65C1A767-738B-9523-FFCC-63AAAFBFEF52}"/>
                </a:ext>
              </a:extLst>
            </p:cNvPr>
            <p:cNvSpPr/>
            <p:nvPr/>
          </p:nvSpPr>
          <p:spPr>
            <a:xfrm>
              <a:off x="701211" y="3132000"/>
              <a:ext cx="108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050" dirty="0">
                  <a:solidFill>
                    <a:schemeClr val="bg1"/>
                  </a:solidFill>
                </a:rPr>
                <a:t>2 </a:t>
              </a:r>
              <a:r>
                <a:rPr lang="zh-CN" altLang="en-US" sz="1050" dirty="0">
                  <a:solidFill>
                    <a:schemeClr val="bg1"/>
                  </a:solidFill>
                </a:rPr>
                <a:t>数据链路层</a:t>
              </a:r>
            </a:p>
          </p:txBody>
        </p:sp>
        <p:sp>
          <p:nvSpPr>
            <p:cNvPr id="162" name="立方体 161">
              <a:extLst>
                <a:ext uri="{FF2B5EF4-FFF2-40B4-BE49-F238E27FC236}">
                  <a16:creationId xmlns:a16="http://schemas.microsoft.com/office/drawing/2014/main" id="{D9CFD0E0-C208-7574-CA87-9D6C22E07706}"/>
                </a:ext>
              </a:extLst>
            </p:cNvPr>
            <p:cNvSpPr/>
            <p:nvPr/>
          </p:nvSpPr>
          <p:spPr>
            <a:xfrm>
              <a:off x="701211" y="2808000"/>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050" dirty="0">
                  <a:solidFill>
                    <a:schemeClr val="bg1"/>
                  </a:solidFill>
                </a:rPr>
                <a:t>3 </a:t>
              </a:r>
              <a:r>
                <a:rPr lang="zh-CN" altLang="en-US" sz="1050" dirty="0">
                  <a:solidFill>
                    <a:schemeClr val="bg1"/>
                  </a:solidFill>
                </a:rPr>
                <a:t>网络层</a:t>
              </a:r>
            </a:p>
          </p:txBody>
        </p:sp>
        <p:sp>
          <p:nvSpPr>
            <p:cNvPr id="163" name="立方体 162">
              <a:extLst>
                <a:ext uri="{FF2B5EF4-FFF2-40B4-BE49-F238E27FC236}">
                  <a16:creationId xmlns:a16="http://schemas.microsoft.com/office/drawing/2014/main" id="{CE3644D1-4181-F2DA-1919-BBC93B29A670}"/>
                </a:ext>
              </a:extLst>
            </p:cNvPr>
            <p:cNvSpPr/>
            <p:nvPr/>
          </p:nvSpPr>
          <p:spPr>
            <a:xfrm>
              <a:off x="701211" y="2484000"/>
              <a:ext cx="108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050" dirty="0">
                  <a:solidFill>
                    <a:schemeClr val="bg1"/>
                  </a:solidFill>
                </a:rPr>
                <a:t>4 </a:t>
              </a:r>
              <a:r>
                <a:rPr lang="zh-CN" altLang="en-US" sz="1050" dirty="0">
                  <a:solidFill>
                    <a:schemeClr val="bg1"/>
                  </a:solidFill>
                </a:rPr>
                <a:t>运输层</a:t>
              </a:r>
            </a:p>
          </p:txBody>
        </p:sp>
        <p:sp>
          <p:nvSpPr>
            <p:cNvPr id="164" name="立方体 163">
              <a:extLst>
                <a:ext uri="{FF2B5EF4-FFF2-40B4-BE49-F238E27FC236}">
                  <a16:creationId xmlns:a16="http://schemas.microsoft.com/office/drawing/2014/main" id="{7C29078C-C72B-F275-B0B5-115DD08A76E3}"/>
                </a:ext>
              </a:extLst>
            </p:cNvPr>
            <p:cNvSpPr/>
            <p:nvPr/>
          </p:nvSpPr>
          <p:spPr>
            <a:xfrm>
              <a:off x="701211" y="2160000"/>
              <a:ext cx="108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050" dirty="0">
                  <a:solidFill>
                    <a:schemeClr val="bg1"/>
                  </a:solidFill>
                </a:rPr>
                <a:t>5 </a:t>
              </a:r>
              <a:r>
                <a:rPr lang="zh-CN" altLang="en-US" sz="1050" dirty="0">
                  <a:solidFill>
                    <a:schemeClr val="bg1"/>
                  </a:solidFill>
                </a:rPr>
                <a:t>应用层</a:t>
              </a:r>
            </a:p>
          </p:txBody>
        </p:sp>
        <p:sp>
          <p:nvSpPr>
            <p:cNvPr id="165" name="圆柱体 164">
              <a:extLst>
                <a:ext uri="{FF2B5EF4-FFF2-40B4-BE49-F238E27FC236}">
                  <a16:creationId xmlns:a16="http://schemas.microsoft.com/office/drawing/2014/main" id="{B1CBBC70-EA4C-BF21-68A8-33712257D49D}"/>
                </a:ext>
              </a:extLst>
            </p:cNvPr>
            <p:cNvSpPr/>
            <p:nvPr/>
          </p:nvSpPr>
          <p:spPr>
            <a:xfrm>
              <a:off x="953211" y="1800000"/>
              <a:ext cx="576000" cy="360000"/>
            </a:xfrm>
            <a:prstGeom prst="can">
              <a:avLst/>
            </a:prstGeom>
            <a:solidFill>
              <a:srgbClr val="FFFF00"/>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000" dirty="0">
                  <a:solidFill>
                    <a:sysClr val="windowText" lastClr="000000"/>
                  </a:solidFill>
                </a:rPr>
                <a:t>AP1</a:t>
              </a:r>
              <a:endParaRPr lang="zh-CN" altLang="en-US" sz="1000" dirty="0">
                <a:solidFill>
                  <a:sysClr val="windowText" lastClr="000000"/>
                </a:solidFill>
              </a:endParaRPr>
            </a:p>
          </p:txBody>
        </p:sp>
      </p:grpSp>
      <p:grpSp>
        <p:nvGrpSpPr>
          <p:cNvPr id="166" name="组合 165">
            <a:extLst>
              <a:ext uri="{FF2B5EF4-FFF2-40B4-BE49-F238E27FC236}">
                <a16:creationId xmlns:a16="http://schemas.microsoft.com/office/drawing/2014/main" id="{992480B1-FD01-C4B6-6B87-CB608E70F3F0}"/>
              </a:ext>
            </a:extLst>
          </p:cNvPr>
          <p:cNvGrpSpPr/>
          <p:nvPr/>
        </p:nvGrpSpPr>
        <p:grpSpPr>
          <a:xfrm>
            <a:off x="701211" y="1800000"/>
            <a:ext cx="1080000" cy="2088000"/>
            <a:chOff x="701211" y="1800000"/>
            <a:chExt cx="1080000" cy="2088000"/>
          </a:xfrm>
        </p:grpSpPr>
        <p:sp>
          <p:nvSpPr>
            <p:cNvPr id="167" name="立方体 166">
              <a:extLst>
                <a:ext uri="{FF2B5EF4-FFF2-40B4-BE49-F238E27FC236}">
                  <a16:creationId xmlns:a16="http://schemas.microsoft.com/office/drawing/2014/main" id="{CC668458-7336-407B-29F0-BE1EB5D2AB32}"/>
                </a:ext>
              </a:extLst>
            </p:cNvPr>
            <p:cNvSpPr/>
            <p:nvPr/>
          </p:nvSpPr>
          <p:spPr>
            <a:xfrm>
              <a:off x="701211" y="3456000"/>
              <a:ext cx="108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050" dirty="0">
                  <a:solidFill>
                    <a:schemeClr val="bg1"/>
                  </a:solidFill>
                </a:rPr>
                <a:t>1 </a:t>
              </a:r>
              <a:r>
                <a:rPr lang="zh-CN" altLang="en-US" sz="1050" dirty="0">
                  <a:solidFill>
                    <a:schemeClr val="bg1"/>
                  </a:solidFill>
                </a:rPr>
                <a:t>物理层</a:t>
              </a:r>
            </a:p>
          </p:txBody>
        </p:sp>
        <p:sp>
          <p:nvSpPr>
            <p:cNvPr id="168" name="立方体 167">
              <a:extLst>
                <a:ext uri="{FF2B5EF4-FFF2-40B4-BE49-F238E27FC236}">
                  <a16:creationId xmlns:a16="http://schemas.microsoft.com/office/drawing/2014/main" id="{4607A48D-C7EA-D088-B874-DA2A86AF0EDA}"/>
                </a:ext>
              </a:extLst>
            </p:cNvPr>
            <p:cNvSpPr/>
            <p:nvPr/>
          </p:nvSpPr>
          <p:spPr>
            <a:xfrm>
              <a:off x="701211" y="3132000"/>
              <a:ext cx="108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050" dirty="0">
                  <a:solidFill>
                    <a:schemeClr val="bg1"/>
                  </a:solidFill>
                </a:rPr>
                <a:t>2 </a:t>
              </a:r>
              <a:r>
                <a:rPr lang="zh-CN" altLang="en-US" sz="1050" dirty="0">
                  <a:solidFill>
                    <a:schemeClr val="bg1"/>
                  </a:solidFill>
                </a:rPr>
                <a:t>数据链路层</a:t>
              </a:r>
            </a:p>
          </p:txBody>
        </p:sp>
        <p:sp>
          <p:nvSpPr>
            <p:cNvPr id="169" name="立方体 168">
              <a:extLst>
                <a:ext uri="{FF2B5EF4-FFF2-40B4-BE49-F238E27FC236}">
                  <a16:creationId xmlns:a16="http://schemas.microsoft.com/office/drawing/2014/main" id="{0275791C-28F7-C432-290A-E2ABC35F6B90}"/>
                </a:ext>
              </a:extLst>
            </p:cNvPr>
            <p:cNvSpPr/>
            <p:nvPr/>
          </p:nvSpPr>
          <p:spPr>
            <a:xfrm>
              <a:off x="701211" y="2808000"/>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050" dirty="0">
                  <a:solidFill>
                    <a:schemeClr val="bg1"/>
                  </a:solidFill>
                </a:rPr>
                <a:t>3 </a:t>
              </a:r>
              <a:r>
                <a:rPr lang="zh-CN" altLang="en-US" sz="1050" dirty="0">
                  <a:solidFill>
                    <a:schemeClr val="bg1"/>
                  </a:solidFill>
                </a:rPr>
                <a:t>网络层</a:t>
              </a:r>
            </a:p>
          </p:txBody>
        </p:sp>
        <p:sp>
          <p:nvSpPr>
            <p:cNvPr id="170" name="立方体 169">
              <a:extLst>
                <a:ext uri="{FF2B5EF4-FFF2-40B4-BE49-F238E27FC236}">
                  <a16:creationId xmlns:a16="http://schemas.microsoft.com/office/drawing/2014/main" id="{DAD61620-9016-E764-4141-B6372753A379}"/>
                </a:ext>
              </a:extLst>
            </p:cNvPr>
            <p:cNvSpPr/>
            <p:nvPr/>
          </p:nvSpPr>
          <p:spPr>
            <a:xfrm>
              <a:off x="701211" y="2484000"/>
              <a:ext cx="108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050" dirty="0">
                  <a:solidFill>
                    <a:schemeClr val="bg1"/>
                  </a:solidFill>
                </a:rPr>
                <a:t>4 </a:t>
              </a:r>
              <a:r>
                <a:rPr lang="zh-CN" altLang="en-US" sz="1050" dirty="0">
                  <a:solidFill>
                    <a:schemeClr val="bg1"/>
                  </a:solidFill>
                </a:rPr>
                <a:t>运输层</a:t>
              </a:r>
            </a:p>
          </p:txBody>
        </p:sp>
        <p:sp>
          <p:nvSpPr>
            <p:cNvPr id="171" name="立方体 170">
              <a:extLst>
                <a:ext uri="{FF2B5EF4-FFF2-40B4-BE49-F238E27FC236}">
                  <a16:creationId xmlns:a16="http://schemas.microsoft.com/office/drawing/2014/main" id="{6356B059-4ADC-82E4-9683-84985B21E62D}"/>
                </a:ext>
              </a:extLst>
            </p:cNvPr>
            <p:cNvSpPr/>
            <p:nvPr/>
          </p:nvSpPr>
          <p:spPr>
            <a:xfrm>
              <a:off x="701211" y="2160000"/>
              <a:ext cx="108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050" dirty="0">
                  <a:solidFill>
                    <a:schemeClr val="bg1"/>
                  </a:solidFill>
                </a:rPr>
                <a:t>5 </a:t>
              </a:r>
              <a:r>
                <a:rPr lang="zh-CN" altLang="en-US" sz="1050" dirty="0">
                  <a:solidFill>
                    <a:schemeClr val="bg1"/>
                  </a:solidFill>
                </a:rPr>
                <a:t>应用层</a:t>
              </a:r>
            </a:p>
          </p:txBody>
        </p:sp>
        <p:sp>
          <p:nvSpPr>
            <p:cNvPr id="172" name="圆柱体 171">
              <a:extLst>
                <a:ext uri="{FF2B5EF4-FFF2-40B4-BE49-F238E27FC236}">
                  <a16:creationId xmlns:a16="http://schemas.microsoft.com/office/drawing/2014/main" id="{0A624DEC-50DB-87DE-A98B-A76B08583F49}"/>
                </a:ext>
              </a:extLst>
            </p:cNvPr>
            <p:cNvSpPr/>
            <p:nvPr/>
          </p:nvSpPr>
          <p:spPr>
            <a:xfrm>
              <a:off x="953211" y="1800000"/>
              <a:ext cx="576000" cy="360000"/>
            </a:xfrm>
            <a:prstGeom prst="can">
              <a:avLst/>
            </a:prstGeom>
            <a:solidFill>
              <a:srgbClr val="FFFF00"/>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000" dirty="0">
                  <a:solidFill>
                    <a:sysClr val="windowText" lastClr="000000"/>
                  </a:solidFill>
                </a:rPr>
                <a:t>AP1</a:t>
              </a:r>
              <a:endParaRPr lang="zh-CN" altLang="en-US" sz="1000" dirty="0">
                <a:solidFill>
                  <a:sysClr val="windowText" lastClr="000000"/>
                </a:solidFill>
              </a:endParaRPr>
            </a:p>
          </p:txBody>
        </p:sp>
      </p:grpSp>
      <p:sp>
        <p:nvSpPr>
          <p:cNvPr id="25" name="Text Box 29"/>
          <p:cNvSpPr txBox="1">
            <a:spLocks noChangeArrowheads="1"/>
          </p:cNvSpPr>
          <p:nvPr/>
        </p:nvSpPr>
        <p:spPr bwMode="auto">
          <a:xfrm>
            <a:off x="110689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1</a:t>
            </a:r>
          </a:p>
        </p:txBody>
      </p:sp>
      <p:sp>
        <p:nvSpPr>
          <p:cNvPr id="38" name="Text Box 29"/>
          <p:cNvSpPr txBox="1">
            <a:spLocks noChangeArrowheads="1"/>
          </p:cNvSpPr>
          <p:nvPr/>
        </p:nvSpPr>
        <p:spPr bwMode="auto">
          <a:xfrm>
            <a:off x="736975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2</a:t>
            </a:r>
          </a:p>
        </p:txBody>
      </p:sp>
      <p:sp>
        <p:nvSpPr>
          <p:cNvPr id="39" name="Text Box 29"/>
          <p:cNvSpPr txBox="1">
            <a:spLocks noChangeArrowheads="1"/>
          </p:cNvSpPr>
          <p:nvPr/>
        </p:nvSpPr>
        <p:spPr bwMode="auto">
          <a:xfrm>
            <a:off x="4160212" y="107510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路由器</a:t>
            </a:r>
            <a:endParaRPr kumimoji="1" lang="en-US" altLang="zh-CN" sz="1200" b="1" dirty="0">
              <a:solidFill>
                <a:srgbClr val="0000FF"/>
              </a:solidFill>
              <a:latin typeface="微软雅黑" panose="020B0503020204020204" pitchFamily="34" charset="-122"/>
              <a:ea typeface="微软雅黑" panose="020B0503020204020204" pitchFamily="34" charset="-122"/>
            </a:endParaRPr>
          </a:p>
        </p:txBody>
      </p:sp>
      <p:cxnSp>
        <p:nvCxnSpPr>
          <p:cNvPr id="69" name="直接连接符 68"/>
          <p:cNvCxnSpPr/>
          <p:nvPr/>
        </p:nvCxnSpPr>
        <p:spPr>
          <a:xfrm>
            <a:off x="1418143" y="1507958"/>
            <a:ext cx="6306131" cy="0"/>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pic>
        <p:nvPicPr>
          <p:cNvPr id="36"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486661" y="1312469"/>
            <a:ext cx="410222"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7"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202308" y="1312469"/>
            <a:ext cx="410223"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140" name="直接箭头连接符 139"/>
          <p:cNvCxnSpPr/>
          <p:nvPr/>
        </p:nvCxnSpPr>
        <p:spPr>
          <a:xfrm>
            <a:off x="1561619" y="1428166"/>
            <a:ext cx="5941518" cy="0"/>
          </a:xfrm>
          <a:prstGeom prst="straightConnector1">
            <a:avLst/>
          </a:prstGeom>
          <a:ln w="28575">
            <a:solidFill>
              <a:srgbClr val="CC00CC"/>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35"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54124" y="1385466"/>
            <a:ext cx="454438" cy="2643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11" name="Text Box 75"/>
          <p:cNvSpPr txBox="1">
            <a:spLocks noChangeArrowheads="1"/>
          </p:cNvSpPr>
          <p:nvPr/>
        </p:nvSpPr>
        <p:spPr bwMode="auto">
          <a:xfrm>
            <a:off x="1748924" y="2627675"/>
            <a:ext cx="607498" cy="39691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lnSpc>
                <a:spcPct val="90000"/>
              </a:lnSpc>
            </a:pPr>
            <a:r>
              <a:rPr kumimoji="1" lang="zh-CN" altLang="en-US" sz="1100" b="1" dirty="0">
                <a:latin typeface="微软雅黑" panose="020B0503020204020204" pitchFamily="34" charset="-122"/>
                <a:ea typeface="微软雅黑" panose="020B0503020204020204" pitchFamily="34" charset="-122"/>
              </a:rPr>
              <a:t>链路层</a:t>
            </a:r>
          </a:p>
          <a:p>
            <a:pPr algn="ctr" eaLnBrk="0" hangingPunct="0">
              <a:lnSpc>
                <a:spcPct val="90000"/>
              </a:lnSpc>
            </a:pPr>
            <a:r>
              <a:rPr kumimoji="1" lang="zh-CN" altLang="en-US" sz="1100" b="1" dirty="0">
                <a:latin typeface="微软雅黑" panose="020B0503020204020204" pitchFamily="34" charset="-122"/>
                <a:ea typeface="微软雅黑" panose="020B0503020204020204" pitchFamily="34" charset="-122"/>
              </a:rPr>
              <a:t>首部</a:t>
            </a:r>
          </a:p>
        </p:txBody>
      </p:sp>
      <p:sp>
        <p:nvSpPr>
          <p:cNvPr id="112" name="Line 76"/>
          <p:cNvSpPr>
            <a:spLocks noChangeShapeType="1"/>
          </p:cNvSpPr>
          <p:nvPr/>
        </p:nvSpPr>
        <p:spPr bwMode="auto">
          <a:xfrm>
            <a:off x="2120958" y="3015889"/>
            <a:ext cx="100072" cy="220749"/>
          </a:xfrm>
          <a:prstGeom prst="line">
            <a:avLst/>
          </a:prstGeom>
          <a:noFill/>
          <a:ln w="12700">
            <a:solidFill>
              <a:srgbClr val="333399"/>
            </a:solidFill>
            <a:round/>
            <a:headEnd type="none" w="sm"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15" name="Line 79"/>
          <p:cNvSpPr>
            <a:spLocks noChangeShapeType="1"/>
          </p:cNvSpPr>
          <p:nvPr/>
        </p:nvSpPr>
        <p:spPr bwMode="auto">
          <a:xfrm flipH="1">
            <a:off x="3596883" y="3015640"/>
            <a:ext cx="109361" cy="204062"/>
          </a:xfrm>
          <a:prstGeom prst="line">
            <a:avLst/>
          </a:prstGeom>
          <a:noFill/>
          <a:ln w="12700">
            <a:solidFill>
              <a:srgbClr val="333399"/>
            </a:solidFill>
            <a:round/>
            <a:headEnd type="none" w="sm"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16" name="Text Box 80"/>
          <p:cNvSpPr txBox="1">
            <a:spLocks noChangeArrowheads="1"/>
          </p:cNvSpPr>
          <p:nvPr/>
        </p:nvSpPr>
        <p:spPr bwMode="auto">
          <a:xfrm>
            <a:off x="3444013" y="2618371"/>
            <a:ext cx="607954" cy="39726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lnSpc>
                <a:spcPct val="90000"/>
              </a:lnSpc>
            </a:pPr>
            <a:r>
              <a:rPr kumimoji="1" lang="zh-CN" altLang="en-US" sz="1100" b="1" dirty="0">
                <a:latin typeface="微软雅黑" panose="020B0503020204020204" pitchFamily="34" charset="-122"/>
                <a:ea typeface="微软雅黑" panose="020B0503020204020204" pitchFamily="34" charset="-122"/>
              </a:rPr>
              <a:t>链路层</a:t>
            </a:r>
          </a:p>
          <a:p>
            <a:pPr algn="ctr" eaLnBrk="0" hangingPunct="0">
              <a:lnSpc>
                <a:spcPct val="90000"/>
              </a:lnSpc>
            </a:pPr>
            <a:r>
              <a:rPr kumimoji="1" lang="zh-CN" altLang="en-US" sz="1100" b="1" dirty="0">
                <a:latin typeface="微软雅黑" panose="020B0503020204020204" pitchFamily="34" charset="-122"/>
                <a:ea typeface="微软雅黑" panose="020B0503020204020204" pitchFamily="34" charset="-122"/>
              </a:rPr>
              <a:t>尾部</a:t>
            </a:r>
          </a:p>
        </p:txBody>
      </p:sp>
      <p:sp>
        <p:nvSpPr>
          <p:cNvPr id="2" name="标题 1">
            <a:extLst>
              <a:ext uri="{FF2B5EF4-FFF2-40B4-BE49-F238E27FC236}">
                <a16:creationId xmlns:a16="http://schemas.microsoft.com/office/drawing/2014/main" id="{BB3EDA3A-F5A2-DFC8-D8A3-BEE24CAE3CBB}"/>
              </a:ext>
            </a:extLst>
          </p:cNvPr>
          <p:cNvSpPr>
            <a:spLocks noGrp="1"/>
          </p:cNvSpPr>
          <p:nvPr>
            <p:ph type="title"/>
          </p:nvPr>
        </p:nvSpPr>
        <p:spPr>
          <a:xfrm>
            <a:off x="612000" y="144000"/>
            <a:ext cx="7920000" cy="341632"/>
          </a:xfrm>
        </p:spPr>
        <p:txBody>
          <a:bodyPr/>
          <a:lstStyle/>
          <a:p>
            <a:r>
              <a:rPr lang="zh-CN" altLang="en-US" dirty="0"/>
              <a:t>数据在各层之间的传递过程</a:t>
            </a:r>
          </a:p>
        </p:txBody>
      </p:sp>
      <p:sp useBgFill="1">
        <p:nvSpPr>
          <p:cNvPr id="175" name="Rectangle 37">
            <a:extLst>
              <a:ext uri="{FF2B5EF4-FFF2-40B4-BE49-F238E27FC236}">
                <a16:creationId xmlns:a16="http://schemas.microsoft.com/office/drawing/2014/main" id="{1C75A4D7-0E84-8C59-9CFD-EBF224C1CC68}"/>
              </a:ext>
            </a:extLst>
          </p:cNvPr>
          <p:cNvSpPr>
            <a:spLocks noChangeArrowheads="1"/>
          </p:cNvSpPr>
          <p:nvPr/>
        </p:nvSpPr>
        <p:spPr bwMode="auto">
          <a:xfrm>
            <a:off x="2961614" y="1870804"/>
            <a:ext cx="482400" cy="244800"/>
          </a:xfrm>
          <a:prstGeom prst="rect">
            <a:avLst/>
          </a:prstGeom>
          <a:ln w="9525">
            <a:solidFill>
              <a:schemeClr val="tx1"/>
            </a:solidFill>
            <a:miter lim="800000"/>
          </a:ln>
        </p:spPr>
        <p:txBody>
          <a:bodyPr wrap="none" anchor="ctr"/>
          <a:lstStyle/>
          <a:p>
            <a:pPr algn="ctr"/>
            <a:r>
              <a:rPr lang="zh-CN" altLang="en-US" sz="1000" dirty="0"/>
              <a:t>数 据</a:t>
            </a:r>
          </a:p>
        </p:txBody>
      </p:sp>
      <p:sp>
        <p:nvSpPr>
          <p:cNvPr id="177" name="Rectangle 34">
            <a:extLst>
              <a:ext uri="{FF2B5EF4-FFF2-40B4-BE49-F238E27FC236}">
                <a16:creationId xmlns:a16="http://schemas.microsoft.com/office/drawing/2014/main" id="{BF4B3F2E-C4BE-5BCA-926B-1B9A479401FE}"/>
              </a:ext>
            </a:extLst>
          </p:cNvPr>
          <p:cNvSpPr>
            <a:spLocks noChangeArrowheads="1"/>
          </p:cNvSpPr>
          <p:nvPr/>
        </p:nvSpPr>
        <p:spPr bwMode="auto">
          <a:xfrm>
            <a:off x="2738414" y="2209361"/>
            <a:ext cx="223200" cy="244800"/>
          </a:xfrm>
          <a:prstGeom prst="rect">
            <a:avLst/>
          </a:prstGeom>
          <a:solidFill>
            <a:schemeClr val="accent2"/>
          </a:solidFill>
          <a:ln w="9525">
            <a:solidFill>
              <a:schemeClr val="tx1"/>
            </a:solidFill>
            <a:miter lim="800000"/>
          </a:ln>
          <a:effectLst/>
        </p:spPr>
        <p:txBody>
          <a:bodyPr wrap="none" anchor="ctr"/>
          <a:lstStyle/>
          <a:p>
            <a:pPr algn="ctr"/>
            <a:r>
              <a:rPr lang="en-US" altLang="zh-CN" sz="1000" dirty="0"/>
              <a:t>H</a:t>
            </a:r>
            <a:r>
              <a:rPr lang="en-US" altLang="zh-CN" sz="1000" baseline="-25000" dirty="0"/>
              <a:t>5</a:t>
            </a:r>
          </a:p>
        </p:txBody>
      </p:sp>
      <p:sp useBgFill="1">
        <p:nvSpPr>
          <p:cNvPr id="179" name="Rectangle 37">
            <a:extLst>
              <a:ext uri="{FF2B5EF4-FFF2-40B4-BE49-F238E27FC236}">
                <a16:creationId xmlns:a16="http://schemas.microsoft.com/office/drawing/2014/main" id="{7CAB36AD-4D02-BA8D-EE81-E33A785D03C7}"/>
              </a:ext>
            </a:extLst>
          </p:cNvPr>
          <p:cNvSpPr>
            <a:spLocks noChangeArrowheads="1"/>
          </p:cNvSpPr>
          <p:nvPr/>
        </p:nvSpPr>
        <p:spPr bwMode="auto">
          <a:xfrm>
            <a:off x="2961614" y="2209361"/>
            <a:ext cx="482400" cy="244800"/>
          </a:xfrm>
          <a:prstGeom prst="rect">
            <a:avLst/>
          </a:prstGeom>
          <a:ln w="9525">
            <a:solidFill>
              <a:schemeClr val="tx1"/>
            </a:solidFill>
            <a:miter lim="800000"/>
          </a:ln>
        </p:spPr>
        <p:txBody>
          <a:bodyPr wrap="none" anchor="ctr"/>
          <a:lstStyle/>
          <a:p>
            <a:pPr algn="ctr"/>
            <a:r>
              <a:rPr lang="zh-CN" altLang="en-US" sz="1000" dirty="0">
                <a:solidFill>
                  <a:sysClr val="windowText" lastClr="000000"/>
                </a:solidFill>
              </a:rPr>
              <a:t>数 据</a:t>
            </a:r>
          </a:p>
        </p:txBody>
      </p:sp>
      <p:sp>
        <p:nvSpPr>
          <p:cNvPr id="181" name="Rectangle 39">
            <a:extLst>
              <a:ext uri="{FF2B5EF4-FFF2-40B4-BE49-F238E27FC236}">
                <a16:creationId xmlns:a16="http://schemas.microsoft.com/office/drawing/2014/main" id="{37F6C106-8FA6-E51D-A5D4-1766FCFB2A80}"/>
              </a:ext>
            </a:extLst>
          </p:cNvPr>
          <p:cNvSpPr>
            <a:spLocks noChangeArrowheads="1"/>
          </p:cNvSpPr>
          <p:nvPr/>
        </p:nvSpPr>
        <p:spPr bwMode="auto">
          <a:xfrm>
            <a:off x="2738414" y="2554531"/>
            <a:ext cx="223200" cy="244800"/>
          </a:xfrm>
          <a:prstGeom prst="rect">
            <a:avLst/>
          </a:prstGeom>
          <a:solidFill>
            <a:schemeClr val="accent2"/>
          </a:solidFill>
          <a:ln w="9525">
            <a:solidFill>
              <a:schemeClr val="tx1"/>
            </a:solidFill>
            <a:miter lim="800000"/>
          </a:ln>
          <a:effectLst/>
        </p:spPr>
        <p:txBody>
          <a:bodyPr wrap="none" anchor="ctr"/>
          <a:lstStyle/>
          <a:p>
            <a:pPr algn="ctr" fontAlgn="auto">
              <a:spcBef>
                <a:spcPts val="0"/>
              </a:spcBef>
              <a:spcAft>
                <a:spcPts val="0"/>
              </a:spcAft>
              <a:defRPr/>
            </a:pPr>
            <a:r>
              <a:rPr lang="en-US" altLang="zh-CN" sz="1000" dirty="0"/>
              <a:t>H</a:t>
            </a:r>
            <a:r>
              <a:rPr lang="en-US" altLang="zh-CN" sz="1000" baseline="-25000" dirty="0"/>
              <a:t>5</a:t>
            </a:r>
          </a:p>
        </p:txBody>
      </p:sp>
      <p:sp>
        <p:nvSpPr>
          <p:cNvPr id="183" name="Rectangle 40">
            <a:extLst>
              <a:ext uri="{FF2B5EF4-FFF2-40B4-BE49-F238E27FC236}">
                <a16:creationId xmlns:a16="http://schemas.microsoft.com/office/drawing/2014/main" id="{72BFD89A-DDD6-FDFA-B625-EEA57DDAAC58}"/>
              </a:ext>
            </a:extLst>
          </p:cNvPr>
          <p:cNvSpPr>
            <a:spLocks noChangeArrowheads="1"/>
          </p:cNvSpPr>
          <p:nvPr/>
        </p:nvSpPr>
        <p:spPr bwMode="auto">
          <a:xfrm>
            <a:off x="2961614" y="2554531"/>
            <a:ext cx="482400" cy="244800"/>
          </a:xfrm>
          <a:prstGeom prst="rect">
            <a:avLst/>
          </a:prstGeom>
          <a:solidFill>
            <a:schemeClr val="bg1"/>
          </a:solidFill>
          <a:ln w="9525">
            <a:solidFill>
              <a:schemeClr val="tx1"/>
            </a:solidFill>
            <a:miter lim="800000"/>
          </a:ln>
        </p:spPr>
        <p:txBody>
          <a:bodyPr wrap="none" anchor="ctr"/>
          <a:lstStyle/>
          <a:p>
            <a:pPr algn="ctr"/>
            <a:r>
              <a:rPr lang="zh-CN" altLang="en-US" sz="1000" dirty="0"/>
              <a:t>数 据</a:t>
            </a:r>
          </a:p>
        </p:txBody>
      </p:sp>
      <p:sp>
        <p:nvSpPr>
          <p:cNvPr id="185" name="Rectangle 66">
            <a:extLst>
              <a:ext uri="{FF2B5EF4-FFF2-40B4-BE49-F238E27FC236}">
                <a16:creationId xmlns:a16="http://schemas.microsoft.com/office/drawing/2014/main" id="{3E6091D7-0EF4-5B0F-E105-F00A8EE31F72}"/>
              </a:ext>
            </a:extLst>
          </p:cNvPr>
          <p:cNvSpPr>
            <a:spLocks noChangeArrowheads="1"/>
          </p:cNvSpPr>
          <p:nvPr/>
        </p:nvSpPr>
        <p:spPr bwMode="auto">
          <a:xfrm>
            <a:off x="2515214" y="2554531"/>
            <a:ext cx="223200" cy="244800"/>
          </a:xfrm>
          <a:prstGeom prst="rect">
            <a:avLst/>
          </a:prstGeom>
          <a:solidFill>
            <a:srgbClr val="FFC000"/>
          </a:solidFill>
          <a:ln w="9525">
            <a:solidFill>
              <a:schemeClr val="tx1"/>
            </a:solidFill>
            <a:miter lim="800000"/>
          </a:ln>
          <a:effectLst/>
        </p:spPr>
        <p:txBody>
          <a:bodyPr wrap="none" anchor="ctr"/>
          <a:lstStyle/>
          <a:p>
            <a:pPr algn="ctr"/>
            <a:r>
              <a:rPr lang="en-US" altLang="zh-CN" sz="1000" dirty="0"/>
              <a:t>H</a:t>
            </a:r>
            <a:r>
              <a:rPr lang="en-US" altLang="zh-CN" sz="1000" baseline="-25000" dirty="0"/>
              <a:t>4</a:t>
            </a:r>
          </a:p>
        </p:txBody>
      </p:sp>
      <p:sp>
        <p:nvSpPr>
          <p:cNvPr id="187" name="Rectangle 42">
            <a:extLst>
              <a:ext uri="{FF2B5EF4-FFF2-40B4-BE49-F238E27FC236}">
                <a16:creationId xmlns:a16="http://schemas.microsoft.com/office/drawing/2014/main" id="{F3D88BF5-A3C1-FBC0-26A5-FD18DC710C80}"/>
              </a:ext>
            </a:extLst>
          </p:cNvPr>
          <p:cNvSpPr>
            <a:spLocks noChangeArrowheads="1"/>
          </p:cNvSpPr>
          <p:nvPr/>
        </p:nvSpPr>
        <p:spPr bwMode="auto">
          <a:xfrm>
            <a:off x="2515214" y="2932543"/>
            <a:ext cx="223200" cy="244800"/>
          </a:xfrm>
          <a:prstGeom prst="rect">
            <a:avLst/>
          </a:prstGeom>
          <a:solidFill>
            <a:srgbClr val="FFC000"/>
          </a:solidFill>
          <a:ln w="9525">
            <a:solidFill>
              <a:schemeClr val="tx1"/>
            </a:solidFill>
            <a:miter lim="800000"/>
          </a:ln>
          <a:effectLst/>
        </p:spPr>
        <p:txBody>
          <a:bodyPr wrap="none" anchor="ctr"/>
          <a:lstStyle/>
          <a:p>
            <a:pPr algn="ctr"/>
            <a:r>
              <a:rPr lang="en-US" altLang="zh-CN" sz="1000" dirty="0"/>
              <a:t>H</a:t>
            </a:r>
            <a:r>
              <a:rPr lang="en-US" altLang="zh-CN" sz="1000" baseline="-25000" dirty="0"/>
              <a:t>4</a:t>
            </a:r>
          </a:p>
        </p:txBody>
      </p:sp>
      <p:sp>
        <p:nvSpPr>
          <p:cNvPr id="189" name="Rectangle 43">
            <a:extLst>
              <a:ext uri="{FF2B5EF4-FFF2-40B4-BE49-F238E27FC236}">
                <a16:creationId xmlns:a16="http://schemas.microsoft.com/office/drawing/2014/main" id="{5D50A6D8-0BA4-FC57-1982-DF1C5B150ED2}"/>
              </a:ext>
            </a:extLst>
          </p:cNvPr>
          <p:cNvSpPr>
            <a:spLocks noChangeArrowheads="1"/>
          </p:cNvSpPr>
          <p:nvPr/>
        </p:nvSpPr>
        <p:spPr bwMode="auto">
          <a:xfrm>
            <a:off x="2738414" y="2932543"/>
            <a:ext cx="223200" cy="244800"/>
          </a:xfrm>
          <a:prstGeom prst="rect">
            <a:avLst/>
          </a:prstGeom>
          <a:solidFill>
            <a:schemeClr val="accent2"/>
          </a:solidFill>
          <a:ln w="9525">
            <a:solidFill>
              <a:schemeClr val="tx1"/>
            </a:solidFill>
            <a:miter lim="800000"/>
          </a:ln>
          <a:effectLst/>
        </p:spPr>
        <p:txBody>
          <a:bodyPr wrap="none" anchor="ctr"/>
          <a:lstStyle/>
          <a:p>
            <a:pPr algn="ctr"/>
            <a:r>
              <a:rPr lang="en-US" altLang="zh-CN" sz="1000" dirty="0"/>
              <a:t>H</a:t>
            </a:r>
            <a:r>
              <a:rPr lang="en-US" altLang="zh-CN" sz="1000" baseline="-25000" dirty="0"/>
              <a:t>5</a:t>
            </a:r>
          </a:p>
        </p:txBody>
      </p:sp>
      <p:sp>
        <p:nvSpPr>
          <p:cNvPr id="191" name="Rectangle 44">
            <a:extLst>
              <a:ext uri="{FF2B5EF4-FFF2-40B4-BE49-F238E27FC236}">
                <a16:creationId xmlns:a16="http://schemas.microsoft.com/office/drawing/2014/main" id="{63BF1CBF-234E-1B58-27B0-5E598A521669}"/>
              </a:ext>
            </a:extLst>
          </p:cNvPr>
          <p:cNvSpPr>
            <a:spLocks noChangeArrowheads="1"/>
          </p:cNvSpPr>
          <p:nvPr/>
        </p:nvSpPr>
        <p:spPr bwMode="auto">
          <a:xfrm>
            <a:off x="2961614" y="2932543"/>
            <a:ext cx="482400" cy="244800"/>
          </a:xfrm>
          <a:prstGeom prst="rect">
            <a:avLst/>
          </a:prstGeom>
          <a:solidFill>
            <a:schemeClr val="bg1"/>
          </a:solidFill>
          <a:ln w="9525">
            <a:solidFill>
              <a:schemeClr val="tx1"/>
            </a:solidFill>
            <a:miter lim="800000"/>
          </a:ln>
        </p:spPr>
        <p:txBody>
          <a:bodyPr wrap="none" anchor="ctr"/>
          <a:lstStyle/>
          <a:p>
            <a:pPr algn="ctr"/>
            <a:r>
              <a:rPr lang="zh-CN" altLang="en-US" sz="1000" dirty="0"/>
              <a:t>数 据</a:t>
            </a:r>
          </a:p>
        </p:txBody>
      </p:sp>
      <p:sp>
        <p:nvSpPr>
          <p:cNvPr id="193" name="Rectangle 70">
            <a:extLst>
              <a:ext uri="{FF2B5EF4-FFF2-40B4-BE49-F238E27FC236}">
                <a16:creationId xmlns:a16="http://schemas.microsoft.com/office/drawing/2014/main" id="{FB3536E7-F823-290C-77D4-27EA7896DAFD}"/>
              </a:ext>
            </a:extLst>
          </p:cNvPr>
          <p:cNvSpPr>
            <a:spLocks noChangeArrowheads="1"/>
          </p:cNvSpPr>
          <p:nvPr/>
        </p:nvSpPr>
        <p:spPr bwMode="auto">
          <a:xfrm>
            <a:off x="2292014" y="2932543"/>
            <a:ext cx="223200" cy="244800"/>
          </a:xfrm>
          <a:prstGeom prst="rect">
            <a:avLst/>
          </a:prstGeom>
          <a:solidFill>
            <a:srgbClr val="00B0F0"/>
          </a:solidFill>
          <a:ln w="9525">
            <a:solidFill>
              <a:schemeClr val="tx1"/>
            </a:solidFill>
            <a:miter lim="800000"/>
          </a:ln>
          <a:effectLst/>
        </p:spPr>
        <p:txBody>
          <a:bodyPr wrap="none" anchor="ctr"/>
          <a:lstStyle/>
          <a:p>
            <a:pPr algn="ctr"/>
            <a:r>
              <a:rPr lang="en-US" altLang="zh-CN" sz="1000" dirty="0"/>
              <a:t>H</a:t>
            </a:r>
            <a:r>
              <a:rPr lang="en-US" altLang="zh-CN" sz="1000" baseline="-25000" dirty="0"/>
              <a:t>3</a:t>
            </a:r>
          </a:p>
        </p:txBody>
      </p:sp>
      <p:sp>
        <p:nvSpPr>
          <p:cNvPr id="195" name="Rectangle 46">
            <a:extLst>
              <a:ext uri="{FF2B5EF4-FFF2-40B4-BE49-F238E27FC236}">
                <a16:creationId xmlns:a16="http://schemas.microsoft.com/office/drawing/2014/main" id="{FE113834-392B-1F11-1F18-3CE14944220F}"/>
              </a:ext>
            </a:extLst>
          </p:cNvPr>
          <p:cNvSpPr>
            <a:spLocks noChangeArrowheads="1"/>
          </p:cNvSpPr>
          <p:nvPr/>
        </p:nvSpPr>
        <p:spPr bwMode="auto">
          <a:xfrm>
            <a:off x="2292014" y="3303460"/>
            <a:ext cx="223200" cy="244800"/>
          </a:xfrm>
          <a:prstGeom prst="rect">
            <a:avLst/>
          </a:prstGeom>
          <a:solidFill>
            <a:srgbClr val="00B0F0"/>
          </a:solidFill>
          <a:ln w="9525">
            <a:solidFill>
              <a:schemeClr val="tx1"/>
            </a:solidFill>
            <a:miter lim="800000"/>
          </a:ln>
          <a:effectLst/>
        </p:spPr>
        <p:txBody>
          <a:bodyPr wrap="none" anchor="ctr"/>
          <a:lstStyle/>
          <a:p>
            <a:pPr algn="ctr"/>
            <a:r>
              <a:rPr lang="en-US" altLang="zh-CN" sz="1000"/>
              <a:t>H</a:t>
            </a:r>
            <a:r>
              <a:rPr lang="en-US" altLang="zh-CN" sz="1000" baseline="-25000"/>
              <a:t>3</a:t>
            </a:r>
          </a:p>
        </p:txBody>
      </p:sp>
      <p:sp>
        <p:nvSpPr>
          <p:cNvPr id="197" name="Rectangle 47">
            <a:extLst>
              <a:ext uri="{FF2B5EF4-FFF2-40B4-BE49-F238E27FC236}">
                <a16:creationId xmlns:a16="http://schemas.microsoft.com/office/drawing/2014/main" id="{5DBA62B7-88B7-2815-8B8C-410C0D9021D8}"/>
              </a:ext>
            </a:extLst>
          </p:cNvPr>
          <p:cNvSpPr>
            <a:spLocks noChangeArrowheads="1"/>
          </p:cNvSpPr>
          <p:nvPr/>
        </p:nvSpPr>
        <p:spPr bwMode="auto">
          <a:xfrm>
            <a:off x="2515214" y="3303460"/>
            <a:ext cx="223200" cy="244800"/>
          </a:xfrm>
          <a:prstGeom prst="rect">
            <a:avLst/>
          </a:prstGeom>
          <a:solidFill>
            <a:srgbClr val="FFC000"/>
          </a:solidFill>
          <a:ln w="9525">
            <a:solidFill>
              <a:schemeClr val="tx1"/>
            </a:solidFill>
            <a:miter lim="800000"/>
          </a:ln>
          <a:effectLst/>
        </p:spPr>
        <p:txBody>
          <a:bodyPr wrap="none" anchor="ctr"/>
          <a:lstStyle/>
          <a:p>
            <a:pPr algn="ctr"/>
            <a:r>
              <a:rPr lang="en-US" altLang="zh-CN" sz="1000"/>
              <a:t>H</a:t>
            </a:r>
            <a:r>
              <a:rPr lang="en-US" altLang="zh-CN" sz="1000" baseline="-25000"/>
              <a:t>4</a:t>
            </a:r>
          </a:p>
        </p:txBody>
      </p:sp>
      <p:sp>
        <p:nvSpPr>
          <p:cNvPr id="199" name="Rectangle 48">
            <a:extLst>
              <a:ext uri="{FF2B5EF4-FFF2-40B4-BE49-F238E27FC236}">
                <a16:creationId xmlns:a16="http://schemas.microsoft.com/office/drawing/2014/main" id="{77996226-EF56-CB81-AE73-57B07A25CE10}"/>
              </a:ext>
            </a:extLst>
          </p:cNvPr>
          <p:cNvSpPr>
            <a:spLocks noChangeArrowheads="1"/>
          </p:cNvSpPr>
          <p:nvPr/>
        </p:nvSpPr>
        <p:spPr bwMode="auto">
          <a:xfrm>
            <a:off x="2738414" y="3303460"/>
            <a:ext cx="223200" cy="244800"/>
          </a:xfrm>
          <a:prstGeom prst="rect">
            <a:avLst/>
          </a:prstGeom>
          <a:solidFill>
            <a:schemeClr val="accent2"/>
          </a:solidFill>
          <a:ln w="9525">
            <a:solidFill>
              <a:schemeClr val="tx1"/>
            </a:solidFill>
            <a:miter lim="800000"/>
          </a:ln>
          <a:effectLst/>
        </p:spPr>
        <p:txBody>
          <a:bodyPr wrap="none" anchor="ctr"/>
          <a:lstStyle/>
          <a:p>
            <a:pPr algn="ctr"/>
            <a:r>
              <a:rPr lang="en-US" altLang="zh-CN" sz="1000" dirty="0"/>
              <a:t>H</a:t>
            </a:r>
            <a:r>
              <a:rPr lang="en-US" altLang="zh-CN" sz="1000" baseline="-25000" dirty="0"/>
              <a:t>5</a:t>
            </a:r>
          </a:p>
        </p:txBody>
      </p:sp>
      <p:sp>
        <p:nvSpPr>
          <p:cNvPr id="201" name="Rectangle 49">
            <a:extLst>
              <a:ext uri="{FF2B5EF4-FFF2-40B4-BE49-F238E27FC236}">
                <a16:creationId xmlns:a16="http://schemas.microsoft.com/office/drawing/2014/main" id="{42BBF0FE-C1BC-A64B-BB1F-00D6E587B4F2}"/>
              </a:ext>
            </a:extLst>
          </p:cNvPr>
          <p:cNvSpPr>
            <a:spLocks noChangeArrowheads="1"/>
          </p:cNvSpPr>
          <p:nvPr/>
        </p:nvSpPr>
        <p:spPr bwMode="auto">
          <a:xfrm>
            <a:off x="2961614" y="3303460"/>
            <a:ext cx="482400" cy="244800"/>
          </a:xfrm>
          <a:prstGeom prst="rect">
            <a:avLst/>
          </a:prstGeom>
          <a:solidFill>
            <a:schemeClr val="bg1"/>
          </a:solidFill>
          <a:ln w="9525">
            <a:solidFill>
              <a:schemeClr val="tx1"/>
            </a:solidFill>
            <a:miter lim="800000"/>
          </a:ln>
        </p:spPr>
        <p:txBody>
          <a:bodyPr wrap="none" anchor="ctr"/>
          <a:lstStyle/>
          <a:p>
            <a:pPr algn="ctr"/>
            <a:r>
              <a:rPr lang="zh-CN" altLang="en-US" sz="1000" dirty="0"/>
              <a:t>数 据</a:t>
            </a:r>
          </a:p>
        </p:txBody>
      </p:sp>
      <p:sp>
        <p:nvSpPr>
          <p:cNvPr id="203" name="Rectangle 74">
            <a:extLst>
              <a:ext uri="{FF2B5EF4-FFF2-40B4-BE49-F238E27FC236}">
                <a16:creationId xmlns:a16="http://schemas.microsoft.com/office/drawing/2014/main" id="{653ED3F7-EC0A-9FEC-CA74-DD0CED492BCA}"/>
              </a:ext>
            </a:extLst>
          </p:cNvPr>
          <p:cNvSpPr>
            <a:spLocks noChangeArrowheads="1"/>
          </p:cNvSpPr>
          <p:nvPr/>
        </p:nvSpPr>
        <p:spPr bwMode="auto">
          <a:xfrm>
            <a:off x="2068814" y="3303460"/>
            <a:ext cx="223200" cy="244800"/>
          </a:xfrm>
          <a:prstGeom prst="rect">
            <a:avLst/>
          </a:prstGeom>
          <a:solidFill>
            <a:srgbClr val="00B050"/>
          </a:solidFill>
          <a:ln w="9525">
            <a:solidFill>
              <a:schemeClr val="tx1"/>
            </a:solidFill>
            <a:miter lim="800000"/>
          </a:ln>
          <a:effectLst/>
        </p:spPr>
        <p:txBody>
          <a:bodyPr wrap="none" anchor="ctr"/>
          <a:lstStyle/>
          <a:p>
            <a:pPr algn="ctr"/>
            <a:r>
              <a:rPr lang="en-US" altLang="zh-CN" sz="1000" dirty="0"/>
              <a:t>H</a:t>
            </a:r>
            <a:r>
              <a:rPr lang="en-US" altLang="zh-CN" sz="1000" baseline="-25000" dirty="0"/>
              <a:t>2</a:t>
            </a:r>
          </a:p>
        </p:txBody>
      </p:sp>
      <p:sp>
        <p:nvSpPr>
          <p:cNvPr id="205" name="Rectangle 78">
            <a:extLst>
              <a:ext uri="{FF2B5EF4-FFF2-40B4-BE49-F238E27FC236}">
                <a16:creationId xmlns:a16="http://schemas.microsoft.com/office/drawing/2014/main" id="{416019A9-6A3E-A48C-BD65-DDD2D5E54E47}"/>
              </a:ext>
            </a:extLst>
          </p:cNvPr>
          <p:cNvSpPr>
            <a:spLocks noChangeArrowheads="1"/>
          </p:cNvSpPr>
          <p:nvPr/>
        </p:nvSpPr>
        <p:spPr bwMode="auto">
          <a:xfrm>
            <a:off x="3444013" y="3303206"/>
            <a:ext cx="223200" cy="245309"/>
          </a:xfrm>
          <a:prstGeom prst="rect">
            <a:avLst/>
          </a:prstGeom>
          <a:solidFill>
            <a:srgbClr val="00B050"/>
          </a:solidFill>
          <a:ln w="9525">
            <a:solidFill>
              <a:schemeClr val="tx1"/>
            </a:solidFill>
            <a:miter lim="800000"/>
          </a:ln>
          <a:effectLst/>
        </p:spPr>
        <p:txBody>
          <a:bodyPr wrap="none" anchor="ctr"/>
          <a:lstStyle/>
          <a:p>
            <a:pPr algn="ctr"/>
            <a:r>
              <a:rPr lang="en-US" altLang="zh-CN" sz="1000" dirty="0"/>
              <a:t>T</a:t>
            </a:r>
            <a:r>
              <a:rPr lang="en-US" altLang="zh-CN" sz="1000" baseline="-25000" dirty="0"/>
              <a:t>2</a:t>
            </a:r>
          </a:p>
        </p:txBody>
      </p:sp>
      <p:sp>
        <p:nvSpPr>
          <p:cNvPr id="209" name="矩形 208">
            <a:extLst>
              <a:ext uri="{FF2B5EF4-FFF2-40B4-BE49-F238E27FC236}">
                <a16:creationId xmlns:a16="http://schemas.microsoft.com/office/drawing/2014/main" id="{3E6D5A2D-205D-F56F-D50D-36CCBFE2CC00}"/>
              </a:ext>
            </a:extLst>
          </p:cNvPr>
          <p:cNvSpPr/>
          <p:nvPr/>
        </p:nvSpPr>
        <p:spPr>
          <a:xfrm>
            <a:off x="2979490" y="2219763"/>
            <a:ext cx="464524" cy="223997"/>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ysClr val="windowText" lastClr="000000"/>
              </a:solidFill>
            </a:endParaRPr>
          </a:p>
        </p:txBody>
      </p:sp>
      <p:grpSp>
        <p:nvGrpSpPr>
          <p:cNvPr id="72" name="Group 50"/>
          <p:cNvGrpSpPr/>
          <p:nvPr/>
        </p:nvGrpSpPr>
        <p:grpSpPr bwMode="auto">
          <a:xfrm>
            <a:off x="1237477" y="2076244"/>
            <a:ext cx="2052947" cy="205414"/>
            <a:chOff x="436" y="1815"/>
            <a:chExt cx="1744" cy="228"/>
          </a:xfrm>
          <a:solidFill>
            <a:srgbClr val="CC00CC">
              <a:alpha val="50000"/>
            </a:srgbClr>
          </a:solidFill>
        </p:grpSpPr>
        <p:sp>
          <p:nvSpPr>
            <p:cNvPr id="73" name="AutoShape 51"/>
            <p:cNvSpPr>
              <a:spLocks noChangeArrowheads="1"/>
            </p:cNvSpPr>
            <p:nvPr/>
          </p:nvSpPr>
          <p:spPr bwMode="auto">
            <a:xfrm flipV="1">
              <a:off x="436" y="1815"/>
              <a:ext cx="124" cy="228"/>
            </a:xfrm>
            <a:prstGeom prst="upArrow">
              <a:avLst>
                <a:gd name="adj1" fmla="val 50000"/>
                <a:gd name="adj2" fmla="val 45968"/>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74" name="AutoShape 52"/>
            <p:cNvSpPr>
              <a:spLocks noChangeArrowheads="1"/>
            </p:cNvSpPr>
            <p:nvPr/>
          </p:nvSpPr>
          <p:spPr bwMode="auto">
            <a:xfrm flipV="1">
              <a:off x="2056" y="1815"/>
              <a:ext cx="124" cy="228"/>
            </a:xfrm>
            <a:prstGeom prst="upArrow">
              <a:avLst>
                <a:gd name="adj1" fmla="val 50000"/>
                <a:gd name="adj2" fmla="val 45968"/>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grpSp>
      <p:grpSp>
        <p:nvGrpSpPr>
          <p:cNvPr id="87" name="Group 53"/>
          <p:cNvGrpSpPr/>
          <p:nvPr/>
        </p:nvGrpSpPr>
        <p:grpSpPr bwMode="auto">
          <a:xfrm>
            <a:off x="1237477" y="2416934"/>
            <a:ext cx="2045886" cy="243496"/>
            <a:chOff x="434" y="2091"/>
            <a:chExt cx="1738" cy="274"/>
          </a:xfrm>
          <a:solidFill>
            <a:srgbClr val="CC00CC">
              <a:alpha val="50000"/>
            </a:srgbClr>
          </a:solidFill>
        </p:grpSpPr>
        <p:sp>
          <p:nvSpPr>
            <p:cNvPr id="88" name="AutoShape 54"/>
            <p:cNvSpPr>
              <a:spLocks noChangeArrowheads="1"/>
            </p:cNvSpPr>
            <p:nvPr/>
          </p:nvSpPr>
          <p:spPr bwMode="auto">
            <a:xfrm rot="10800000">
              <a:off x="434" y="2116"/>
              <a:ext cx="125" cy="249"/>
            </a:xfrm>
            <a:prstGeom prst="upArrow">
              <a:avLst>
                <a:gd name="adj1" fmla="val 50000"/>
                <a:gd name="adj2" fmla="val 49800"/>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89" name="AutoShape 55"/>
            <p:cNvSpPr>
              <a:spLocks noChangeArrowheads="1"/>
            </p:cNvSpPr>
            <p:nvPr/>
          </p:nvSpPr>
          <p:spPr bwMode="auto">
            <a:xfrm rot="10800000">
              <a:off x="2054" y="2091"/>
              <a:ext cx="118" cy="249"/>
            </a:xfrm>
            <a:prstGeom prst="upArrow">
              <a:avLst>
                <a:gd name="adj1" fmla="val 50000"/>
                <a:gd name="adj2" fmla="val 49800"/>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grpSp>
      <p:grpSp>
        <p:nvGrpSpPr>
          <p:cNvPr id="94" name="Group 56"/>
          <p:cNvGrpSpPr/>
          <p:nvPr/>
        </p:nvGrpSpPr>
        <p:grpSpPr bwMode="auto">
          <a:xfrm>
            <a:off x="1235121" y="2777819"/>
            <a:ext cx="2054125" cy="271275"/>
            <a:chOff x="434" y="2411"/>
            <a:chExt cx="1745" cy="274"/>
          </a:xfrm>
          <a:solidFill>
            <a:srgbClr val="CC00CC">
              <a:alpha val="50000"/>
            </a:srgbClr>
          </a:solidFill>
        </p:grpSpPr>
        <p:sp>
          <p:nvSpPr>
            <p:cNvPr id="95" name="AutoShape 57"/>
            <p:cNvSpPr>
              <a:spLocks noChangeArrowheads="1"/>
            </p:cNvSpPr>
            <p:nvPr/>
          </p:nvSpPr>
          <p:spPr bwMode="auto">
            <a:xfrm rot="10800000">
              <a:off x="434" y="2460"/>
              <a:ext cx="126" cy="225"/>
            </a:xfrm>
            <a:prstGeom prst="upArrow">
              <a:avLst>
                <a:gd name="adj1" fmla="val 50000"/>
                <a:gd name="adj2" fmla="val 49600"/>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6" name="AutoShape 58"/>
            <p:cNvSpPr>
              <a:spLocks noChangeArrowheads="1"/>
            </p:cNvSpPr>
            <p:nvPr/>
          </p:nvSpPr>
          <p:spPr bwMode="auto">
            <a:xfrm rot="10800000">
              <a:off x="2054" y="2411"/>
              <a:ext cx="125" cy="248"/>
            </a:xfrm>
            <a:prstGeom prst="upArrow">
              <a:avLst>
                <a:gd name="adj1" fmla="val 50000"/>
                <a:gd name="adj2" fmla="val 49600"/>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grpSp>
      <p:grpSp>
        <p:nvGrpSpPr>
          <p:cNvPr id="106" name="Group 56"/>
          <p:cNvGrpSpPr/>
          <p:nvPr/>
        </p:nvGrpSpPr>
        <p:grpSpPr bwMode="auto">
          <a:xfrm>
            <a:off x="1226181" y="3158334"/>
            <a:ext cx="2062367" cy="253754"/>
            <a:chOff x="420" y="2461"/>
            <a:chExt cx="1752" cy="269"/>
          </a:xfrm>
          <a:solidFill>
            <a:srgbClr val="CC00CC"/>
          </a:solidFill>
        </p:grpSpPr>
        <p:sp>
          <p:nvSpPr>
            <p:cNvPr id="107" name="AutoShape 57"/>
            <p:cNvSpPr>
              <a:spLocks noChangeArrowheads="1"/>
            </p:cNvSpPr>
            <p:nvPr/>
          </p:nvSpPr>
          <p:spPr bwMode="auto">
            <a:xfrm rot="10800000">
              <a:off x="420" y="2504"/>
              <a:ext cx="133" cy="226"/>
            </a:xfrm>
            <a:prstGeom prst="upArrow">
              <a:avLst>
                <a:gd name="adj1" fmla="val 50000"/>
                <a:gd name="adj2" fmla="val 49600"/>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08" name="AutoShape 58"/>
            <p:cNvSpPr>
              <a:spLocks noChangeArrowheads="1"/>
            </p:cNvSpPr>
            <p:nvPr/>
          </p:nvSpPr>
          <p:spPr bwMode="auto">
            <a:xfrm rot="10800000">
              <a:off x="2047" y="2461"/>
              <a:ext cx="125" cy="248"/>
            </a:xfrm>
            <a:prstGeom prst="upArrow">
              <a:avLst>
                <a:gd name="adj1" fmla="val 50000"/>
                <a:gd name="adj2" fmla="val 49600"/>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grpSp>
      <p:grpSp>
        <p:nvGrpSpPr>
          <p:cNvPr id="216" name="组合 215">
            <a:extLst>
              <a:ext uri="{FF2B5EF4-FFF2-40B4-BE49-F238E27FC236}">
                <a16:creationId xmlns:a16="http://schemas.microsoft.com/office/drawing/2014/main" id="{3B6731B0-536E-37CD-4001-73A754D071AD}"/>
              </a:ext>
            </a:extLst>
          </p:cNvPr>
          <p:cNvGrpSpPr/>
          <p:nvPr/>
        </p:nvGrpSpPr>
        <p:grpSpPr>
          <a:xfrm>
            <a:off x="3960000" y="2808000"/>
            <a:ext cx="1080000" cy="1080000"/>
            <a:chOff x="2807995" y="2745746"/>
            <a:chExt cx="1080000" cy="1080000"/>
          </a:xfrm>
        </p:grpSpPr>
        <p:sp>
          <p:nvSpPr>
            <p:cNvPr id="217" name="立方体 216">
              <a:extLst>
                <a:ext uri="{FF2B5EF4-FFF2-40B4-BE49-F238E27FC236}">
                  <a16:creationId xmlns:a16="http://schemas.microsoft.com/office/drawing/2014/main" id="{D9916454-1C67-CC53-2B0A-C6565DC8159A}"/>
                </a:ext>
              </a:extLst>
            </p:cNvPr>
            <p:cNvSpPr/>
            <p:nvPr/>
          </p:nvSpPr>
          <p:spPr>
            <a:xfrm>
              <a:off x="2807995" y="3393746"/>
              <a:ext cx="594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sz="1050" dirty="0">
                  <a:solidFill>
                    <a:schemeClr val="bg1"/>
                  </a:solidFill>
                </a:rPr>
                <a:t>1</a:t>
              </a:r>
              <a:endParaRPr lang="zh-CN" altLang="en-US" sz="1050" dirty="0">
                <a:solidFill>
                  <a:schemeClr val="bg1"/>
                </a:solidFill>
              </a:endParaRPr>
            </a:p>
          </p:txBody>
        </p:sp>
        <p:sp>
          <p:nvSpPr>
            <p:cNvPr id="218" name="立方体 217">
              <a:extLst>
                <a:ext uri="{FF2B5EF4-FFF2-40B4-BE49-F238E27FC236}">
                  <a16:creationId xmlns:a16="http://schemas.microsoft.com/office/drawing/2014/main" id="{A85BDE88-C8D9-0DB9-25DE-D10EDAA80F0C}"/>
                </a:ext>
              </a:extLst>
            </p:cNvPr>
            <p:cNvSpPr/>
            <p:nvPr/>
          </p:nvSpPr>
          <p:spPr>
            <a:xfrm>
              <a:off x="2807995" y="3069746"/>
              <a:ext cx="594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sz="1050" dirty="0">
                  <a:solidFill>
                    <a:schemeClr val="bg1"/>
                  </a:solidFill>
                </a:rPr>
                <a:t>2</a:t>
              </a:r>
              <a:endParaRPr lang="zh-CN" altLang="en-US" sz="1050" dirty="0">
                <a:solidFill>
                  <a:schemeClr val="bg1"/>
                </a:solidFill>
              </a:endParaRPr>
            </a:p>
          </p:txBody>
        </p:sp>
        <p:sp>
          <p:nvSpPr>
            <p:cNvPr id="219" name="立方体 218">
              <a:extLst>
                <a:ext uri="{FF2B5EF4-FFF2-40B4-BE49-F238E27FC236}">
                  <a16:creationId xmlns:a16="http://schemas.microsoft.com/office/drawing/2014/main" id="{5EF46CFF-6CC1-145B-B162-256940E1A7B4}"/>
                </a:ext>
              </a:extLst>
            </p:cNvPr>
            <p:cNvSpPr/>
            <p:nvPr/>
          </p:nvSpPr>
          <p:spPr>
            <a:xfrm>
              <a:off x="3293995" y="3393746"/>
              <a:ext cx="594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sz="1050" dirty="0">
                  <a:solidFill>
                    <a:schemeClr val="bg1"/>
                  </a:solidFill>
                </a:rPr>
                <a:t>1</a:t>
              </a:r>
              <a:endParaRPr lang="zh-CN" altLang="en-US" sz="1050" dirty="0">
                <a:solidFill>
                  <a:schemeClr val="bg1"/>
                </a:solidFill>
              </a:endParaRPr>
            </a:p>
          </p:txBody>
        </p:sp>
        <p:sp>
          <p:nvSpPr>
            <p:cNvPr id="220" name="立方体 219">
              <a:extLst>
                <a:ext uri="{FF2B5EF4-FFF2-40B4-BE49-F238E27FC236}">
                  <a16:creationId xmlns:a16="http://schemas.microsoft.com/office/drawing/2014/main" id="{4C15BA5D-3D53-3FF5-7B04-304EDA7DB80A}"/>
                </a:ext>
              </a:extLst>
            </p:cNvPr>
            <p:cNvSpPr/>
            <p:nvPr/>
          </p:nvSpPr>
          <p:spPr>
            <a:xfrm>
              <a:off x="3293995" y="3069746"/>
              <a:ext cx="594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sz="1050" dirty="0">
                  <a:solidFill>
                    <a:schemeClr val="bg1"/>
                  </a:solidFill>
                </a:rPr>
                <a:t>2</a:t>
              </a:r>
              <a:endParaRPr lang="zh-CN" altLang="en-US" sz="1050" dirty="0">
                <a:solidFill>
                  <a:schemeClr val="bg1"/>
                </a:solidFill>
              </a:endParaRPr>
            </a:p>
          </p:txBody>
        </p:sp>
        <p:sp>
          <p:nvSpPr>
            <p:cNvPr id="221" name="立方体 220">
              <a:extLst>
                <a:ext uri="{FF2B5EF4-FFF2-40B4-BE49-F238E27FC236}">
                  <a16:creationId xmlns:a16="http://schemas.microsoft.com/office/drawing/2014/main" id="{91405F53-FB4D-9275-EA31-BD41B17CE38F}"/>
                </a:ext>
              </a:extLst>
            </p:cNvPr>
            <p:cNvSpPr/>
            <p:nvPr/>
          </p:nvSpPr>
          <p:spPr>
            <a:xfrm>
              <a:off x="2807995" y="2745746"/>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pPr algn="ctr"/>
              <a:r>
                <a:rPr lang="en-US" altLang="zh-CN" sz="1050" dirty="0">
                  <a:solidFill>
                    <a:schemeClr val="bg1"/>
                  </a:solidFill>
                </a:rPr>
                <a:t>3</a:t>
              </a:r>
              <a:endParaRPr lang="zh-CN" altLang="en-US" sz="1050" dirty="0">
                <a:solidFill>
                  <a:schemeClr val="bg1"/>
                </a:solidFill>
              </a:endParaRPr>
            </a:p>
          </p:txBody>
        </p:sp>
      </p:grpSp>
      <p:sp>
        <p:nvSpPr>
          <p:cNvPr id="223" name="AutoShape 4">
            <a:extLst>
              <a:ext uri="{FF2B5EF4-FFF2-40B4-BE49-F238E27FC236}">
                <a16:creationId xmlns:a16="http://schemas.microsoft.com/office/drawing/2014/main" id="{B56B2D6C-C063-B6BF-4F79-9104B4653518}"/>
              </a:ext>
            </a:extLst>
          </p:cNvPr>
          <p:cNvSpPr>
            <a:spLocks noChangeArrowheads="1"/>
          </p:cNvSpPr>
          <p:nvPr/>
        </p:nvSpPr>
        <p:spPr bwMode="auto">
          <a:xfrm rot="16200000">
            <a:off x="2567190" y="2361728"/>
            <a:ext cx="271463" cy="3600000"/>
          </a:xfrm>
          <a:prstGeom prst="can">
            <a:avLst>
              <a:gd name="adj" fmla="val 48656"/>
            </a:avLst>
          </a:prstGeom>
          <a:gradFill rotWithShape="0">
            <a:gsLst>
              <a:gs pos="0">
                <a:srgbClr val="00CC00"/>
              </a:gs>
              <a:gs pos="50000">
                <a:schemeClr val="bg1"/>
              </a:gs>
              <a:gs pos="100000">
                <a:srgbClr val="00CC00"/>
              </a:gs>
            </a:gsLst>
            <a:lin ang="5400000" scaled="1"/>
          </a:gradFill>
          <a:ln w="6350">
            <a:solidFill>
              <a:srgbClr val="7CE07C"/>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225" name="AutoShape 4">
            <a:extLst>
              <a:ext uri="{FF2B5EF4-FFF2-40B4-BE49-F238E27FC236}">
                <a16:creationId xmlns:a16="http://schemas.microsoft.com/office/drawing/2014/main" id="{3ECC1FAD-65C7-F35C-EC97-497FF033AAC5}"/>
              </a:ext>
            </a:extLst>
          </p:cNvPr>
          <p:cNvSpPr>
            <a:spLocks noChangeArrowheads="1"/>
          </p:cNvSpPr>
          <p:nvPr/>
        </p:nvSpPr>
        <p:spPr bwMode="auto">
          <a:xfrm rot="16200000">
            <a:off x="6253847" y="2361728"/>
            <a:ext cx="271463" cy="3600000"/>
          </a:xfrm>
          <a:prstGeom prst="can">
            <a:avLst>
              <a:gd name="adj" fmla="val 48656"/>
            </a:avLst>
          </a:prstGeom>
          <a:gradFill rotWithShape="0">
            <a:gsLst>
              <a:gs pos="0">
                <a:srgbClr val="00CC00"/>
              </a:gs>
              <a:gs pos="50000">
                <a:schemeClr val="bg1"/>
              </a:gs>
              <a:gs pos="100000">
                <a:srgbClr val="00CC00"/>
              </a:gs>
            </a:gsLst>
            <a:lin ang="5400000" scaled="1"/>
          </a:gradFill>
          <a:ln w="6350">
            <a:solidFill>
              <a:srgbClr val="7CE07C"/>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227" name="Text Box 26">
            <a:extLst>
              <a:ext uri="{FF2B5EF4-FFF2-40B4-BE49-F238E27FC236}">
                <a16:creationId xmlns:a16="http://schemas.microsoft.com/office/drawing/2014/main" id="{6115F459-B80D-07B8-AD08-7E4006B85BFC}"/>
              </a:ext>
            </a:extLst>
          </p:cNvPr>
          <p:cNvSpPr txBox="1">
            <a:spLocks noChangeArrowheads="1"/>
          </p:cNvSpPr>
          <p:nvPr/>
        </p:nvSpPr>
        <p:spPr bwMode="auto">
          <a:xfrm>
            <a:off x="2701348" y="4023229"/>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dirty="0">
                <a:latin typeface="+mj-lt"/>
                <a:ea typeface="+mj-ea"/>
              </a:rPr>
              <a:t>物理传输媒体</a:t>
            </a:r>
          </a:p>
        </p:txBody>
      </p:sp>
      <p:sp>
        <p:nvSpPr>
          <p:cNvPr id="229" name="Text Box 26">
            <a:extLst>
              <a:ext uri="{FF2B5EF4-FFF2-40B4-BE49-F238E27FC236}">
                <a16:creationId xmlns:a16="http://schemas.microsoft.com/office/drawing/2014/main" id="{7EA23287-9CEA-B558-E561-FA9CF62133EF}"/>
              </a:ext>
            </a:extLst>
          </p:cNvPr>
          <p:cNvSpPr txBox="1">
            <a:spLocks noChangeArrowheads="1"/>
          </p:cNvSpPr>
          <p:nvPr/>
        </p:nvSpPr>
        <p:spPr bwMode="auto">
          <a:xfrm>
            <a:off x="6193730" y="4023229"/>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dirty="0">
                <a:latin typeface="+mj-lt"/>
                <a:ea typeface="+mj-ea"/>
              </a:rPr>
              <a:t>物理传输媒体</a:t>
            </a:r>
          </a:p>
        </p:txBody>
      </p:sp>
    </p:spTree>
    <p:extLst>
      <p:ext uri="{BB962C8B-B14F-4D97-AF65-F5344CB8AC3E}">
        <p14:creationId xmlns:p14="http://schemas.microsoft.com/office/powerpoint/2010/main" val="1411653060"/>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48" name="组合 147">
            <a:extLst>
              <a:ext uri="{FF2B5EF4-FFF2-40B4-BE49-F238E27FC236}">
                <a16:creationId xmlns:a16="http://schemas.microsoft.com/office/drawing/2014/main" id="{12791F2E-B929-D82D-937E-CE6EB1EA2496}"/>
              </a:ext>
            </a:extLst>
          </p:cNvPr>
          <p:cNvGrpSpPr/>
          <p:nvPr/>
        </p:nvGrpSpPr>
        <p:grpSpPr>
          <a:xfrm>
            <a:off x="7395732" y="1800000"/>
            <a:ext cx="1080000" cy="2088000"/>
            <a:chOff x="701211" y="1800000"/>
            <a:chExt cx="1080000" cy="2088000"/>
          </a:xfrm>
        </p:grpSpPr>
        <p:sp>
          <p:nvSpPr>
            <p:cNvPr id="149" name="立方体 148">
              <a:extLst>
                <a:ext uri="{FF2B5EF4-FFF2-40B4-BE49-F238E27FC236}">
                  <a16:creationId xmlns:a16="http://schemas.microsoft.com/office/drawing/2014/main" id="{FF035564-2A4A-A4AD-11CE-305096A5298E}"/>
                </a:ext>
              </a:extLst>
            </p:cNvPr>
            <p:cNvSpPr/>
            <p:nvPr/>
          </p:nvSpPr>
          <p:spPr>
            <a:xfrm>
              <a:off x="701211" y="3456000"/>
              <a:ext cx="108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050" dirty="0">
                  <a:solidFill>
                    <a:schemeClr val="bg1"/>
                  </a:solidFill>
                </a:rPr>
                <a:t>1 </a:t>
              </a:r>
              <a:r>
                <a:rPr lang="zh-CN" altLang="en-US" sz="1050" dirty="0">
                  <a:solidFill>
                    <a:schemeClr val="bg1"/>
                  </a:solidFill>
                </a:rPr>
                <a:t>物理层</a:t>
              </a:r>
            </a:p>
          </p:txBody>
        </p:sp>
        <p:sp>
          <p:nvSpPr>
            <p:cNvPr id="150" name="立方体 149">
              <a:extLst>
                <a:ext uri="{FF2B5EF4-FFF2-40B4-BE49-F238E27FC236}">
                  <a16:creationId xmlns:a16="http://schemas.microsoft.com/office/drawing/2014/main" id="{3B934C37-CD2F-1A53-59B7-63E6BCF22ECB}"/>
                </a:ext>
              </a:extLst>
            </p:cNvPr>
            <p:cNvSpPr/>
            <p:nvPr/>
          </p:nvSpPr>
          <p:spPr>
            <a:xfrm>
              <a:off x="701211" y="3132000"/>
              <a:ext cx="108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050" dirty="0">
                  <a:solidFill>
                    <a:schemeClr val="bg1"/>
                  </a:solidFill>
                </a:rPr>
                <a:t>2 </a:t>
              </a:r>
              <a:r>
                <a:rPr lang="zh-CN" altLang="en-US" sz="1050" dirty="0">
                  <a:solidFill>
                    <a:schemeClr val="bg1"/>
                  </a:solidFill>
                </a:rPr>
                <a:t>数据链路层</a:t>
              </a:r>
            </a:p>
          </p:txBody>
        </p:sp>
        <p:sp>
          <p:nvSpPr>
            <p:cNvPr id="151" name="立方体 150">
              <a:extLst>
                <a:ext uri="{FF2B5EF4-FFF2-40B4-BE49-F238E27FC236}">
                  <a16:creationId xmlns:a16="http://schemas.microsoft.com/office/drawing/2014/main" id="{A28823B2-1E7A-4A56-6E9D-A1DF7D8A834B}"/>
                </a:ext>
              </a:extLst>
            </p:cNvPr>
            <p:cNvSpPr/>
            <p:nvPr/>
          </p:nvSpPr>
          <p:spPr>
            <a:xfrm>
              <a:off x="701211" y="2808000"/>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050" dirty="0">
                  <a:solidFill>
                    <a:schemeClr val="bg1"/>
                  </a:solidFill>
                </a:rPr>
                <a:t>3 </a:t>
              </a:r>
              <a:r>
                <a:rPr lang="zh-CN" altLang="en-US" sz="1050" dirty="0">
                  <a:solidFill>
                    <a:schemeClr val="bg1"/>
                  </a:solidFill>
                </a:rPr>
                <a:t>网络层</a:t>
              </a:r>
            </a:p>
          </p:txBody>
        </p:sp>
        <p:sp>
          <p:nvSpPr>
            <p:cNvPr id="152" name="立方体 151">
              <a:extLst>
                <a:ext uri="{FF2B5EF4-FFF2-40B4-BE49-F238E27FC236}">
                  <a16:creationId xmlns:a16="http://schemas.microsoft.com/office/drawing/2014/main" id="{4C2C9698-7E45-7EE1-4552-544AC5EBD46A}"/>
                </a:ext>
              </a:extLst>
            </p:cNvPr>
            <p:cNvSpPr/>
            <p:nvPr/>
          </p:nvSpPr>
          <p:spPr>
            <a:xfrm>
              <a:off x="701211" y="2484000"/>
              <a:ext cx="108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050" dirty="0">
                  <a:solidFill>
                    <a:schemeClr val="bg1"/>
                  </a:solidFill>
                </a:rPr>
                <a:t>4 </a:t>
              </a:r>
              <a:r>
                <a:rPr lang="zh-CN" altLang="en-US" sz="1050" dirty="0">
                  <a:solidFill>
                    <a:schemeClr val="bg1"/>
                  </a:solidFill>
                </a:rPr>
                <a:t>运输层</a:t>
              </a:r>
            </a:p>
          </p:txBody>
        </p:sp>
        <p:sp>
          <p:nvSpPr>
            <p:cNvPr id="153" name="立方体 152">
              <a:extLst>
                <a:ext uri="{FF2B5EF4-FFF2-40B4-BE49-F238E27FC236}">
                  <a16:creationId xmlns:a16="http://schemas.microsoft.com/office/drawing/2014/main" id="{C63E48FB-C178-9B4F-2605-DBFA25EAE05A}"/>
                </a:ext>
              </a:extLst>
            </p:cNvPr>
            <p:cNvSpPr/>
            <p:nvPr/>
          </p:nvSpPr>
          <p:spPr>
            <a:xfrm>
              <a:off x="701211" y="2160000"/>
              <a:ext cx="108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050" dirty="0">
                  <a:solidFill>
                    <a:schemeClr val="bg1"/>
                  </a:solidFill>
                </a:rPr>
                <a:t>5 </a:t>
              </a:r>
              <a:r>
                <a:rPr lang="zh-CN" altLang="en-US" sz="1050" dirty="0">
                  <a:solidFill>
                    <a:schemeClr val="bg1"/>
                  </a:solidFill>
                </a:rPr>
                <a:t>应用层</a:t>
              </a:r>
            </a:p>
          </p:txBody>
        </p:sp>
        <p:sp>
          <p:nvSpPr>
            <p:cNvPr id="154" name="圆柱体 153">
              <a:extLst>
                <a:ext uri="{FF2B5EF4-FFF2-40B4-BE49-F238E27FC236}">
                  <a16:creationId xmlns:a16="http://schemas.microsoft.com/office/drawing/2014/main" id="{BB4FEB71-0E40-CCAF-BBB8-C38EA40A70A0}"/>
                </a:ext>
              </a:extLst>
            </p:cNvPr>
            <p:cNvSpPr/>
            <p:nvPr/>
          </p:nvSpPr>
          <p:spPr>
            <a:xfrm>
              <a:off x="953211" y="1800000"/>
              <a:ext cx="576000" cy="360000"/>
            </a:xfrm>
            <a:prstGeom prst="can">
              <a:avLst/>
            </a:prstGeom>
            <a:solidFill>
              <a:srgbClr val="FFFF00"/>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000" dirty="0">
                  <a:solidFill>
                    <a:sysClr val="windowText" lastClr="000000"/>
                  </a:solidFill>
                </a:rPr>
                <a:t>AP1</a:t>
              </a:r>
              <a:endParaRPr lang="zh-CN" altLang="en-US" sz="1000" dirty="0">
                <a:solidFill>
                  <a:sysClr val="windowText" lastClr="000000"/>
                </a:solidFill>
              </a:endParaRPr>
            </a:p>
          </p:txBody>
        </p:sp>
      </p:grpSp>
      <p:grpSp>
        <p:nvGrpSpPr>
          <p:cNvPr id="155" name="组合 154">
            <a:extLst>
              <a:ext uri="{FF2B5EF4-FFF2-40B4-BE49-F238E27FC236}">
                <a16:creationId xmlns:a16="http://schemas.microsoft.com/office/drawing/2014/main" id="{201913DD-E7B9-2997-D324-5AFCFC3FC065}"/>
              </a:ext>
            </a:extLst>
          </p:cNvPr>
          <p:cNvGrpSpPr/>
          <p:nvPr/>
        </p:nvGrpSpPr>
        <p:grpSpPr>
          <a:xfrm>
            <a:off x="701211" y="1800000"/>
            <a:ext cx="1080000" cy="2088000"/>
            <a:chOff x="701211" y="1800000"/>
            <a:chExt cx="1080000" cy="2088000"/>
          </a:xfrm>
        </p:grpSpPr>
        <p:sp>
          <p:nvSpPr>
            <p:cNvPr id="156" name="立方体 155">
              <a:extLst>
                <a:ext uri="{FF2B5EF4-FFF2-40B4-BE49-F238E27FC236}">
                  <a16:creationId xmlns:a16="http://schemas.microsoft.com/office/drawing/2014/main" id="{D9781AAB-8C8C-0576-A030-A9ABF6A85D8F}"/>
                </a:ext>
              </a:extLst>
            </p:cNvPr>
            <p:cNvSpPr/>
            <p:nvPr/>
          </p:nvSpPr>
          <p:spPr>
            <a:xfrm>
              <a:off x="701211" y="3456000"/>
              <a:ext cx="108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050" dirty="0">
                  <a:solidFill>
                    <a:schemeClr val="bg1"/>
                  </a:solidFill>
                </a:rPr>
                <a:t>1 </a:t>
              </a:r>
              <a:r>
                <a:rPr lang="zh-CN" altLang="en-US" sz="1050" dirty="0">
                  <a:solidFill>
                    <a:schemeClr val="bg1"/>
                  </a:solidFill>
                </a:rPr>
                <a:t>物理层</a:t>
              </a:r>
            </a:p>
          </p:txBody>
        </p:sp>
        <p:sp>
          <p:nvSpPr>
            <p:cNvPr id="157" name="立方体 156">
              <a:extLst>
                <a:ext uri="{FF2B5EF4-FFF2-40B4-BE49-F238E27FC236}">
                  <a16:creationId xmlns:a16="http://schemas.microsoft.com/office/drawing/2014/main" id="{57F328AA-1A7F-DFA6-D708-C9BCB497571B}"/>
                </a:ext>
              </a:extLst>
            </p:cNvPr>
            <p:cNvSpPr/>
            <p:nvPr/>
          </p:nvSpPr>
          <p:spPr>
            <a:xfrm>
              <a:off x="701211" y="3132000"/>
              <a:ext cx="108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050" dirty="0">
                  <a:solidFill>
                    <a:schemeClr val="bg1"/>
                  </a:solidFill>
                </a:rPr>
                <a:t>2 </a:t>
              </a:r>
              <a:r>
                <a:rPr lang="zh-CN" altLang="en-US" sz="1050" dirty="0">
                  <a:solidFill>
                    <a:schemeClr val="bg1"/>
                  </a:solidFill>
                </a:rPr>
                <a:t>数据链路层</a:t>
              </a:r>
            </a:p>
          </p:txBody>
        </p:sp>
        <p:sp>
          <p:nvSpPr>
            <p:cNvPr id="158" name="立方体 157">
              <a:extLst>
                <a:ext uri="{FF2B5EF4-FFF2-40B4-BE49-F238E27FC236}">
                  <a16:creationId xmlns:a16="http://schemas.microsoft.com/office/drawing/2014/main" id="{4CC85244-297C-3CCE-B08C-5655DBA903F1}"/>
                </a:ext>
              </a:extLst>
            </p:cNvPr>
            <p:cNvSpPr/>
            <p:nvPr/>
          </p:nvSpPr>
          <p:spPr>
            <a:xfrm>
              <a:off x="701211" y="2808000"/>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050" dirty="0">
                  <a:solidFill>
                    <a:schemeClr val="bg1"/>
                  </a:solidFill>
                </a:rPr>
                <a:t>3 </a:t>
              </a:r>
              <a:r>
                <a:rPr lang="zh-CN" altLang="en-US" sz="1050" dirty="0">
                  <a:solidFill>
                    <a:schemeClr val="bg1"/>
                  </a:solidFill>
                </a:rPr>
                <a:t>网络层</a:t>
              </a:r>
            </a:p>
          </p:txBody>
        </p:sp>
        <p:sp>
          <p:nvSpPr>
            <p:cNvPr id="159" name="立方体 158">
              <a:extLst>
                <a:ext uri="{FF2B5EF4-FFF2-40B4-BE49-F238E27FC236}">
                  <a16:creationId xmlns:a16="http://schemas.microsoft.com/office/drawing/2014/main" id="{C4E7F66E-19BA-9D51-68C0-85F57226D16F}"/>
                </a:ext>
              </a:extLst>
            </p:cNvPr>
            <p:cNvSpPr/>
            <p:nvPr/>
          </p:nvSpPr>
          <p:spPr>
            <a:xfrm>
              <a:off x="701211" y="2484000"/>
              <a:ext cx="108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050" dirty="0">
                  <a:solidFill>
                    <a:schemeClr val="bg1"/>
                  </a:solidFill>
                </a:rPr>
                <a:t>4 </a:t>
              </a:r>
              <a:r>
                <a:rPr lang="zh-CN" altLang="en-US" sz="1050" dirty="0">
                  <a:solidFill>
                    <a:schemeClr val="bg1"/>
                  </a:solidFill>
                </a:rPr>
                <a:t>运输层</a:t>
              </a:r>
            </a:p>
          </p:txBody>
        </p:sp>
        <p:sp>
          <p:nvSpPr>
            <p:cNvPr id="160" name="立方体 159">
              <a:extLst>
                <a:ext uri="{FF2B5EF4-FFF2-40B4-BE49-F238E27FC236}">
                  <a16:creationId xmlns:a16="http://schemas.microsoft.com/office/drawing/2014/main" id="{8431B35C-71A7-0EA0-6E9C-0683CD2C6355}"/>
                </a:ext>
              </a:extLst>
            </p:cNvPr>
            <p:cNvSpPr/>
            <p:nvPr/>
          </p:nvSpPr>
          <p:spPr>
            <a:xfrm>
              <a:off x="701211" y="2160000"/>
              <a:ext cx="108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050" dirty="0">
                  <a:solidFill>
                    <a:schemeClr val="bg1"/>
                  </a:solidFill>
                </a:rPr>
                <a:t>5 </a:t>
              </a:r>
              <a:r>
                <a:rPr lang="zh-CN" altLang="en-US" sz="1050" dirty="0">
                  <a:solidFill>
                    <a:schemeClr val="bg1"/>
                  </a:solidFill>
                </a:rPr>
                <a:t>应用层</a:t>
              </a:r>
            </a:p>
          </p:txBody>
        </p:sp>
        <p:sp>
          <p:nvSpPr>
            <p:cNvPr id="161" name="圆柱体 160">
              <a:extLst>
                <a:ext uri="{FF2B5EF4-FFF2-40B4-BE49-F238E27FC236}">
                  <a16:creationId xmlns:a16="http://schemas.microsoft.com/office/drawing/2014/main" id="{7742C8A5-EA7A-0A5F-A5CF-59FFF0E45C96}"/>
                </a:ext>
              </a:extLst>
            </p:cNvPr>
            <p:cNvSpPr/>
            <p:nvPr/>
          </p:nvSpPr>
          <p:spPr>
            <a:xfrm>
              <a:off x="953211" y="1800000"/>
              <a:ext cx="576000" cy="360000"/>
            </a:xfrm>
            <a:prstGeom prst="can">
              <a:avLst/>
            </a:prstGeom>
            <a:solidFill>
              <a:srgbClr val="FFFF00"/>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000" dirty="0">
                  <a:solidFill>
                    <a:sysClr val="windowText" lastClr="000000"/>
                  </a:solidFill>
                </a:rPr>
                <a:t>AP1</a:t>
              </a:r>
              <a:endParaRPr lang="zh-CN" altLang="en-US" sz="1000" dirty="0">
                <a:solidFill>
                  <a:sysClr val="windowText" lastClr="000000"/>
                </a:solidFill>
              </a:endParaRPr>
            </a:p>
          </p:txBody>
        </p:sp>
      </p:grpSp>
      <p:sp>
        <p:nvSpPr>
          <p:cNvPr id="25" name="Text Box 29"/>
          <p:cNvSpPr txBox="1">
            <a:spLocks noChangeArrowheads="1"/>
          </p:cNvSpPr>
          <p:nvPr/>
        </p:nvSpPr>
        <p:spPr bwMode="auto">
          <a:xfrm>
            <a:off x="110689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1</a:t>
            </a:r>
          </a:p>
        </p:txBody>
      </p:sp>
      <p:sp>
        <p:nvSpPr>
          <p:cNvPr id="38" name="Text Box 29"/>
          <p:cNvSpPr txBox="1">
            <a:spLocks noChangeArrowheads="1"/>
          </p:cNvSpPr>
          <p:nvPr/>
        </p:nvSpPr>
        <p:spPr bwMode="auto">
          <a:xfrm>
            <a:off x="736975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2</a:t>
            </a:r>
          </a:p>
        </p:txBody>
      </p:sp>
      <p:sp>
        <p:nvSpPr>
          <p:cNvPr id="39" name="Text Box 29"/>
          <p:cNvSpPr txBox="1">
            <a:spLocks noChangeArrowheads="1"/>
          </p:cNvSpPr>
          <p:nvPr/>
        </p:nvSpPr>
        <p:spPr bwMode="auto">
          <a:xfrm>
            <a:off x="4160212" y="107510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路由器</a:t>
            </a:r>
            <a:endParaRPr kumimoji="1" lang="en-US" altLang="zh-CN" sz="1200" b="1" dirty="0">
              <a:solidFill>
                <a:srgbClr val="0000FF"/>
              </a:solidFill>
              <a:latin typeface="微软雅黑" panose="020B0503020204020204" pitchFamily="34" charset="-122"/>
              <a:ea typeface="微软雅黑" panose="020B0503020204020204" pitchFamily="34" charset="-122"/>
            </a:endParaRPr>
          </a:p>
        </p:txBody>
      </p:sp>
      <p:cxnSp>
        <p:nvCxnSpPr>
          <p:cNvPr id="69" name="直接连接符 68"/>
          <p:cNvCxnSpPr/>
          <p:nvPr/>
        </p:nvCxnSpPr>
        <p:spPr>
          <a:xfrm>
            <a:off x="1418143" y="1507958"/>
            <a:ext cx="6306131" cy="0"/>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pic>
        <p:nvPicPr>
          <p:cNvPr id="36"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486661" y="1312469"/>
            <a:ext cx="410222"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7"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202308" y="1312469"/>
            <a:ext cx="410223"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140" name="直接箭头连接符 139"/>
          <p:cNvCxnSpPr/>
          <p:nvPr/>
        </p:nvCxnSpPr>
        <p:spPr>
          <a:xfrm>
            <a:off x="1561619" y="1428166"/>
            <a:ext cx="5941518" cy="0"/>
          </a:xfrm>
          <a:prstGeom prst="straightConnector1">
            <a:avLst/>
          </a:prstGeom>
          <a:ln w="28575">
            <a:solidFill>
              <a:srgbClr val="CC00CC"/>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35"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54124" y="1385466"/>
            <a:ext cx="454438" cy="2643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 name="标题 1">
            <a:extLst>
              <a:ext uri="{FF2B5EF4-FFF2-40B4-BE49-F238E27FC236}">
                <a16:creationId xmlns:a16="http://schemas.microsoft.com/office/drawing/2014/main" id="{CB2CD250-FE46-AFE9-7169-A795B877A764}"/>
              </a:ext>
            </a:extLst>
          </p:cNvPr>
          <p:cNvSpPr>
            <a:spLocks noGrp="1"/>
          </p:cNvSpPr>
          <p:nvPr>
            <p:ph type="title"/>
          </p:nvPr>
        </p:nvSpPr>
        <p:spPr>
          <a:xfrm>
            <a:off x="612000" y="144000"/>
            <a:ext cx="7920000" cy="341632"/>
          </a:xfrm>
        </p:spPr>
        <p:txBody>
          <a:bodyPr/>
          <a:lstStyle/>
          <a:p>
            <a:r>
              <a:rPr lang="zh-CN" altLang="en-US" dirty="0"/>
              <a:t>数据在各层之间的传递过程</a:t>
            </a:r>
          </a:p>
        </p:txBody>
      </p:sp>
      <p:sp useBgFill="1">
        <p:nvSpPr>
          <p:cNvPr id="164" name="Rectangle 37">
            <a:extLst>
              <a:ext uri="{FF2B5EF4-FFF2-40B4-BE49-F238E27FC236}">
                <a16:creationId xmlns:a16="http://schemas.microsoft.com/office/drawing/2014/main" id="{7152AED5-02E8-63D9-6ACE-8173C2A37B79}"/>
              </a:ext>
            </a:extLst>
          </p:cNvPr>
          <p:cNvSpPr>
            <a:spLocks noChangeArrowheads="1"/>
          </p:cNvSpPr>
          <p:nvPr/>
        </p:nvSpPr>
        <p:spPr bwMode="auto">
          <a:xfrm>
            <a:off x="2961614" y="1870804"/>
            <a:ext cx="482400" cy="244800"/>
          </a:xfrm>
          <a:prstGeom prst="rect">
            <a:avLst/>
          </a:prstGeom>
          <a:ln w="9525">
            <a:solidFill>
              <a:schemeClr val="tx1"/>
            </a:solidFill>
            <a:miter lim="800000"/>
          </a:ln>
        </p:spPr>
        <p:txBody>
          <a:bodyPr wrap="none" anchor="ctr"/>
          <a:lstStyle/>
          <a:p>
            <a:pPr algn="ctr"/>
            <a:r>
              <a:rPr lang="zh-CN" altLang="en-US" sz="1000" dirty="0"/>
              <a:t>数 据</a:t>
            </a:r>
          </a:p>
        </p:txBody>
      </p:sp>
      <p:sp>
        <p:nvSpPr>
          <p:cNvPr id="166" name="Rectangle 34">
            <a:extLst>
              <a:ext uri="{FF2B5EF4-FFF2-40B4-BE49-F238E27FC236}">
                <a16:creationId xmlns:a16="http://schemas.microsoft.com/office/drawing/2014/main" id="{33C10B0B-03A2-E50E-96B8-204A3AD0BF65}"/>
              </a:ext>
            </a:extLst>
          </p:cNvPr>
          <p:cNvSpPr>
            <a:spLocks noChangeArrowheads="1"/>
          </p:cNvSpPr>
          <p:nvPr/>
        </p:nvSpPr>
        <p:spPr bwMode="auto">
          <a:xfrm>
            <a:off x="2738414" y="2209361"/>
            <a:ext cx="223200" cy="244800"/>
          </a:xfrm>
          <a:prstGeom prst="rect">
            <a:avLst/>
          </a:prstGeom>
          <a:solidFill>
            <a:schemeClr val="accent2"/>
          </a:solidFill>
          <a:ln w="9525">
            <a:solidFill>
              <a:schemeClr val="tx1"/>
            </a:solidFill>
            <a:miter lim="800000"/>
          </a:ln>
          <a:effectLst/>
        </p:spPr>
        <p:txBody>
          <a:bodyPr wrap="none" anchor="ctr"/>
          <a:lstStyle/>
          <a:p>
            <a:pPr algn="ctr"/>
            <a:r>
              <a:rPr lang="en-US" altLang="zh-CN" sz="1000" dirty="0"/>
              <a:t>H</a:t>
            </a:r>
            <a:r>
              <a:rPr lang="en-US" altLang="zh-CN" sz="1000" baseline="-25000" dirty="0"/>
              <a:t>5</a:t>
            </a:r>
          </a:p>
        </p:txBody>
      </p:sp>
      <p:sp useBgFill="1">
        <p:nvSpPr>
          <p:cNvPr id="168" name="Rectangle 37">
            <a:extLst>
              <a:ext uri="{FF2B5EF4-FFF2-40B4-BE49-F238E27FC236}">
                <a16:creationId xmlns:a16="http://schemas.microsoft.com/office/drawing/2014/main" id="{F3AB9C91-9B8D-6560-1279-5C29F011FFB7}"/>
              </a:ext>
            </a:extLst>
          </p:cNvPr>
          <p:cNvSpPr>
            <a:spLocks noChangeArrowheads="1"/>
          </p:cNvSpPr>
          <p:nvPr/>
        </p:nvSpPr>
        <p:spPr bwMode="auto">
          <a:xfrm>
            <a:off x="2961614" y="2209361"/>
            <a:ext cx="482400" cy="244800"/>
          </a:xfrm>
          <a:prstGeom prst="rect">
            <a:avLst/>
          </a:prstGeom>
          <a:ln w="9525">
            <a:solidFill>
              <a:schemeClr val="tx1"/>
            </a:solidFill>
            <a:miter lim="800000"/>
          </a:ln>
        </p:spPr>
        <p:txBody>
          <a:bodyPr wrap="none" anchor="ctr"/>
          <a:lstStyle/>
          <a:p>
            <a:pPr algn="ctr"/>
            <a:r>
              <a:rPr lang="zh-CN" altLang="en-US" sz="1000" dirty="0">
                <a:solidFill>
                  <a:sysClr val="windowText" lastClr="000000"/>
                </a:solidFill>
              </a:rPr>
              <a:t>数 据</a:t>
            </a:r>
          </a:p>
        </p:txBody>
      </p:sp>
      <p:sp>
        <p:nvSpPr>
          <p:cNvPr id="170" name="Rectangle 39">
            <a:extLst>
              <a:ext uri="{FF2B5EF4-FFF2-40B4-BE49-F238E27FC236}">
                <a16:creationId xmlns:a16="http://schemas.microsoft.com/office/drawing/2014/main" id="{DC1BF727-D6A2-5AD7-8B15-DE099FC56751}"/>
              </a:ext>
            </a:extLst>
          </p:cNvPr>
          <p:cNvSpPr>
            <a:spLocks noChangeArrowheads="1"/>
          </p:cNvSpPr>
          <p:nvPr/>
        </p:nvSpPr>
        <p:spPr bwMode="auto">
          <a:xfrm>
            <a:off x="2738414" y="2554531"/>
            <a:ext cx="223200" cy="244800"/>
          </a:xfrm>
          <a:prstGeom prst="rect">
            <a:avLst/>
          </a:prstGeom>
          <a:solidFill>
            <a:schemeClr val="accent2"/>
          </a:solidFill>
          <a:ln w="9525">
            <a:solidFill>
              <a:schemeClr val="tx1"/>
            </a:solidFill>
            <a:miter lim="800000"/>
          </a:ln>
          <a:effectLst/>
        </p:spPr>
        <p:txBody>
          <a:bodyPr wrap="none" anchor="ctr"/>
          <a:lstStyle/>
          <a:p>
            <a:pPr algn="ctr" fontAlgn="auto">
              <a:spcBef>
                <a:spcPts val="0"/>
              </a:spcBef>
              <a:spcAft>
                <a:spcPts val="0"/>
              </a:spcAft>
              <a:defRPr/>
            </a:pPr>
            <a:r>
              <a:rPr lang="en-US" altLang="zh-CN" sz="1000" dirty="0"/>
              <a:t>H</a:t>
            </a:r>
            <a:r>
              <a:rPr lang="en-US" altLang="zh-CN" sz="1000" baseline="-25000" dirty="0"/>
              <a:t>5</a:t>
            </a:r>
          </a:p>
        </p:txBody>
      </p:sp>
      <p:sp>
        <p:nvSpPr>
          <p:cNvPr id="172" name="Rectangle 40">
            <a:extLst>
              <a:ext uri="{FF2B5EF4-FFF2-40B4-BE49-F238E27FC236}">
                <a16:creationId xmlns:a16="http://schemas.microsoft.com/office/drawing/2014/main" id="{6E77507D-BBA7-37D0-6FAF-CA605C284304}"/>
              </a:ext>
            </a:extLst>
          </p:cNvPr>
          <p:cNvSpPr>
            <a:spLocks noChangeArrowheads="1"/>
          </p:cNvSpPr>
          <p:nvPr/>
        </p:nvSpPr>
        <p:spPr bwMode="auto">
          <a:xfrm>
            <a:off x="2961614" y="2554531"/>
            <a:ext cx="482400" cy="244800"/>
          </a:xfrm>
          <a:prstGeom prst="rect">
            <a:avLst/>
          </a:prstGeom>
          <a:solidFill>
            <a:schemeClr val="bg1"/>
          </a:solidFill>
          <a:ln w="9525">
            <a:solidFill>
              <a:schemeClr val="tx1"/>
            </a:solidFill>
            <a:miter lim="800000"/>
          </a:ln>
        </p:spPr>
        <p:txBody>
          <a:bodyPr wrap="none" anchor="ctr"/>
          <a:lstStyle/>
          <a:p>
            <a:pPr algn="ctr"/>
            <a:r>
              <a:rPr lang="zh-CN" altLang="en-US" sz="1000" dirty="0"/>
              <a:t>数 据</a:t>
            </a:r>
          </a:p>
        </p:txBody>
      </p:sp>
      <p:sp>
        <p:nvSpPr>
          <p:cNvPr id="174" name="Rectangle 66">
            <a:extLst>
              <a:ext uri="{FF2B5EF4-FFF2-40B4-BE49-F238E27FC236}">
                <a16:creationId xmlns:a16="http://schemas.microsoft.com/office/drawing/2014/main" id="{92B3E8AB-936F-F954-8672-71D0010A195F}"/>
              </a:ext>
            </a:extLst>
          </p:cNvPr>
          <p:cNvSpPr>
            <a:spLocks noChangeArrowheads="1"/>
          </p:cNvSpPr>
          <p:nvPr/>
        </p:nvSpPr>
        <p:spPr bwMode="auto">
          <a:xfrm>
            <a:off x="2515214" y="2554531"/>
            <a:ext cx="223200" cy="244800"/>
          </a:xfrm>
          <a:prstGeom prst="rect">
            <a:avLst/>
          </a:prstGeom>
          <a:solidFill>
            <a:srgbClr val="FFC000"/>
          </a:solidFill>
          <a:ln w="9525">
            <a:solidFill>
              <a:schemeClr val="tx1"/>
            </a:solidFill>
            <a:miter lim="800000"/>
          </a:ln>
          <a:effectLst/>
        </p:spPr>
        <p:txBody>
          <a:bodyPr wrap="none" anchor="ctr"/>
          <a:lstStyle/>
          <a:p>
            <a:pPr algn="ctr"/>
            <a:r>
              <a:rPr lang="en-US" altLang="zh-CN" sz="1000" dirty="0"/>
              <a:t>H</a:t>
            </a:r>
            <a:r>
              <a:rPr lang="en-US" altLang="zh-CN" sz="1000" baseline="-25000" dirty="0"/>
              <a:t>4</a:t>
            </a:r>
          </a:p>
        </p:txBody>
      </p:sp>
      <p:sp>
        <p:nvSpPr>
          <p:cNvPr id="176" name="Rectangle 42">
            <a:extLst>
              <a:ext uri="{FF2B5EF4-FFF2-40B4-BE49-F238E27FC236}">
                <a16:creationId xmlns:a16="http://schemas.microsoft.com/office/drawing/2014/main" id="{336A28EE-0DF3-B15F-E4C7-EF48DE20E228}"/>
              </a:ext>
            </a:extLst>
          </p:cNvPr>
          <p:cNvSpPr>
            <a:spLocks noChangeArrowheads="1"/>
          </p:cNvSpPr>
          <p:nvPr/>
        </p:nvSpPr>
        <p:spPr bwMode="auto">
          <a:xfrm>
            <a:off x="2515214" y="2932543"/>
            <a:ext cx="223200" cy="244800"/>
          </a:xfrm>
          <a:prstGeom prst="rect">
            <a:avLst/>
          </a:prstGeom>
          <a:solidFill>
            <a:srgbClr val="FFC000"/>
          </a:solidFill>
          <a:ln w="9525">
            <a:solidFill>
              <a:schemeClr val="tx1"/>
            </a:solidFill>
            <a:miter lim="800000"/>
          </a:ln>
          <a:effectLst/>
        </p:spPr>
        <p:txBody>
          <a:bodyPr wrap="none" anchor="ctr"/>
          <a:lstStyle/>
          <a:p>
            <a:pPr algn="ctr"/>
            <a:r>
              <a:rPr lang="en-US" altLang="zh-CN" sz="1000" dirty="0"/>
              <a:t>H</a:t>
            </a:r>
            <a:r>
              <a:rPr lang="en-US" altLang="zh-CN" sz="1000" baseline="-25000" dirty="0"/>
              <a:t>4</a:t>
            </a:r>
          </a:p>
        </p:txBody>
      </p:sp>
      <p:sp>
        <p:nvSpPr>
          <p:cNvPr id="178" name="Rectangle 43">
            <a:extLst>
              <a:ext uri="{FF2B5EF4-FFF2-40B4-BE49-F238E27FC236}">
                <a16:creationId xmlns:a16="http://schemas.microsoft.com/office/drawing/2014/main" id="{8C65986C-A70C-D841-58C3-95A89CFD1097}"/>
              </a:ext>
            </a:extLst>
          </p:cNvPr>
          <p:cNvSpPr>
            <a:spLocks noChangeArrowheads="1"/>
          </p:cNvSpPr>
          <p:nvPr/>
        </p:nvSpPr>
        <p:spPr bwMode="auto">
          <a:xfrm>
            <a:off x="2738414" y="2932543"/>
            <a:ext cx="223200" cy="244800"/>
          </a:xfrm>
          <a:prstGeom prst="rect">
            <a:avLst/>
          </a:prstGeom>
          <a:solidFill>
            <a:schemeClr val="accent2"/>
          </a:solidFill>
          <a:ln w="9525">
            <a:solidFill>
              <a:schemeClr val="tx1"/>
            </a:solidFill>
            <a:miter lim="800000"/>
          </a:ln>
          <a:effectLst/>
        </p:spPr>
        <p:txBody>
          <a:bodyPr wrap="none" anchor="ctr"/>
          <a:lstStyle/>
          <a:p>
            <a:pPr algn="ctr"/>
            <a:r>
              <a:rPr lang="en-US" altLang="zh-CN" sz="1000" dirty="0"/>
              <a:t>H</a:t>
            </a:r>
            <a:r>
              <a:rPr lang="en-US" altLang="zh-CN" sz="1000" baseline="-25000" dirty="0"/>
              <a:t>5</a:t>
            </a:r>
          </a:p>
        </p:txBody>
      </p:sp>
      <p:sp>
        <p:nvSpPr>
          <p:cNvPr id="180" name="Rectangle 44">
            <a:extLst>
              <a:ext uri="{FF2B5EF4-FFF2-40B4-BE49-F238E27FC236}">
                <a16:creationId xmlns:a16="http://schemas.microsoft.com/office/drawing/2014/main" id="{2613DB17-85B5-B39F-9E5E-AC3A834B4E0D}"/>
              </a:ext>
            </a:extLst>
          </p:cNvPr>
          <p:cNvSpPr>
            <a:spLocks noChangeArrowheads="1"/>
          </p:cNvSpPr>
          <p:nvPr/>
        </p:nvSpPr>
        <p:spPr bwMode="auto">
          <a:xfrm>
            <a:off x="2961614" y="2932543"/>
            <a:ext cx="482400" cy="244800"/>
          </a:xfrm>
          <a:prstGeom prst="rect">
            <a:avLst/>
          </a:prstGeom>
          <a:solidFill>
            <a:schemeClr val="bg1"/>
          </a:solidFill>
          <a:ln w="9525">
            <a:solidFill>
              <a:schemeClr val="tx1"/>
            </a:solidFill>
            <a:miter lim="800000"/>
          </a:ln>
        </p:spPr>
        <p:txBody>
          <a:bodyPr wrap="none" anchor="ctr"/>
          <a:lstStyle/>
          <a:p>
            <a:pPr algn="ctr"/>
            <a:r>
              <a:rPr lang="zh-CN" altLang="en-US" sz="1000" dirty="0"/>
              <a:t>数 据</a:t>
            </a:r>
          </a:p>
        </p:txBody>
      </p:sp>
      <p:sp>
        <p:nvSpPr>
          <p:cNvPr id="182" name="Rectangle 70">
            <a:extLst>
              <a:ext uri="{FF2B5EF4-FFF2-40B4-BE49-F238E27FC236}">
                <a16:creationId xmlns:a16="http://schemas.microsoft.com/office/drawing/2014/main" id="{CE0C6FC5-3D83-52F8-5620-9DFDE0F1AB12}"/>
              </a:ext>
            </a:extLst>
          </p:cNvPr>
          <p:cNvSpPr>
            <a:spLocks noChangeArrowheads="1"/>
          </p:cNvSpPr>
          <p:nvPr/>
        </p:nvSpPr>
        <p:spPr bwMode="auto">
          <a:xfrm>
            <a:off x="2292014" y="2932543"/>
            <a:ext cx="223200" cy="244800"/>
          </a:xfrm>
          <a:prstGeom prst="rect">
            <a:avLst/>
          </a:prstGeom>
          <a:solidFill>
            <a:srgbClr val="00B0F0"/>
          </a:solidFill>
          <a:ln w="9525">
            <a:solidFill>
              <a:schemeClr val="tx1"/>
            </a:solidFill>
            <a:miter lim="800000"/>
          </a:ln>
          <a:effectLst/>
        </p:spPr>
        <p:txBody>
          <a:bodyPr wrap="none" anchor="ctr"/>
          <a:lstStyle/>
          <a:p>
            <a:pPr algn="ctr"/>
            <a:r>
              <a:rPr lang="en-US" altLang="zh-CN" sz="1000"/>
              <a:t>H</a:t>
            </a:r>
            <a:r>
              <a:rPr lang="en-US" altLang="zh-CN" sz="1000" baseline="-25000"/>
              <a:t>3</a:t>
            </a:r>
          </a:p>
        </p:txBody>
      </p:sp>
      <p:sp>
        <p:nvSpPr>
          <p:cNvPr id="184" name="Rectangle 46">
            <a:extLst>
              <a:ext uri="{FF2B5EF4-FFF2-40B4-BE49-F238E27FC236}">
                <a16:creationId xmlns:a16="http://schemas.microsoft.com/office/drawing/2014/main" id="{004826AA-8BE2-1868-5DD3-8BC67859EB54}"/>
              </a:ext>
            </a:extLst>
          </p:cNvPr>
          <p:cNvSpPr>
            <a:spLocks noChangeArrowheads="1"/>
          </p:cNvSpPr>
          <p:nvPr/>
        </p:nvSpPr>
        <p:spPr bwMode="auto">
          <a:xfrm>
            <a:off x="2292014" y="3303460"/>
            <a:ext cx="223200" cy="244800"/>
          </a:xfrm>
          <a:prstGeom prst="rect">
            <a:avLst/>
          </a:prstGeom>
          <a:solidFill>
            <a:srgbClr val="00B0F0"/>
          </a:solidFill>
          <a:ln w="9525">
            <a:solidFill>
              <a:schemeClr val="tx1"/>
            </a:solidFill>
            <a:miter lim="800000"/>
          </a:ln>
          <a:effectLst/>
        </p:spPr>
        <p:txBody>
          <a:bodyPr wrap="none" anchor="ctr"/>
          <a:lstStyle/>
          <a:p>
            <a:pPr algn="ctr"/>
            <a:r>
              <a:rPr lang="en-US" altLang="zh-CN" sz="1000"/>
              <a:t>H</a:t>
            </a:r>
            <a:r>
              <a:rPr lang="en-US" altLang="zh-CN" sz="1000" baseline="-25000"/>
              <a:t>3</a:t>
            </a:r>
          </a:p>
        </p:txBody>
      </p:sp>
      <p:sp>
        <p:nvSpPr>
          <p:cNvPr id="186" name="Rectangle 47">
            <a:extLst>
              <a:ext uri="{FF2B5EF4-FFF2-40B4-BE49-F238E27FC236}">
                <a16:creationId xmlns:a16="http://schemas.microsoft.com/office/drawing/2014/main" id="{A1632A01-1343-C33C-E726-04866DDFB9CF}"/>
              </a:ext>
            </a:extLst>
          </p:cNvPr>
          <p:cNvSpPr>
            <a:spLocks noChangeArrowheads="1"/>
          </p:cNvSpPr>
          <p:nvPr/>
        </p:nvSpPr>
        <p:spPr bwMode="auto">
          <a:xfrm>
            <a:off x="2515214" y="3303460"/>
            <a:ext cx="223200" cy="244800"/>
          </a:xfrm>
          <a:prstGeom prst="rect">
            <a:avLst/>
          </a:prstGeom>
          <a:solidFill>
            <a:srgbClr val="FFC000"/>
          </a:solidFill>
          <a:ln w="9525">
            <a:solidFill>
              <a:schemeClr val="tx1"/>
            </a:solidFill>
            <a:miter lim="800000"/>
          </a:ln>
          <a:effectLst/>
        </p:spPr>
        <p:txBody>
          <a:bodyPr wrap="none" anchor="ctr"/>
          <a:lstStyle/>
          <a:p>
            <a:pPr algn="ctr"/>
            <a:r>
              <a:rPr lang="en-US" altLang="zh-CN" sz="1000"/>
              <a:t>H</a:t>
            </a:r>
            <a:r>
              <a:rPr lang="en-US" altLang="zh-CN" sz="1000" baseline="-25000"/>
              <a:t>4</a:t>
            </a:r>
          </a:p>
        </p:txBody>
      </p:sp>
      <p:sp>
        <p:nvSpPr>
          <p:cNvPr id="188" name="Rectangle 48">
            <a:extLst>
              <a:ext uri="{FF2B5EF4-FFF2-40B4-BE49-F238E27FC236}">
                <a16:creationId xmlns:a16="http://schemas.microsoft.com/office/drawing/2014/main" id="{86A67566-67C0-F1C0-3E64-482DCFDD1989}"/>
              </a:ext>
            </a:extLst>
          </p:cNvPr>
          <p:cNvSpPr>
            <a:spLocks noChangeArrowheads="1"/>
          </p:cNvSpPr>
          <p:nvPr/>
        </p:nvSpPr>
        <p:spPr bwMode="auto">
          <a:xfrm>
            <a:off x="2738414" y="3303460"/>
            <a:ext cx="223200" cy="244800"/>
          </a:xfrm>
          <a:prstGeom prst="rect">
            <a:avLst/>
          </a:prstGeom>
          <a:solidFill>
            <a:schemeClr val="accent2"/>
          </a:solidFill>
          <a:ln w="9525">
            <a:solidFill>
              <a:schemeClr val="tx1"/>
            </a:solidFill>
            <a:miter lim="800000"/>
          </a:ln>
          <a:effectLst/>
        </p:spPr>
        <p:txBody>
          <a:bodyPr wrap="none" anchor="ctr"/>
          <a:lstStyle/>
          <a:p>
            <a:pPr algn="ctr"/>
            <a:r>
              <a:rPr lang="en-US" altLang="zh-CN" sz="1000" dirty="0"/>
              <a:t>H</a:t>
            </a:r>
            <a:r>
              <a:rPr lang="en-US" altLang="zh-CN" sz="1000" baseline="-25000" dirty="0"/>
              <a:t>5</a:t>
            </a:r>
          </a:p>
        </p:txBody>
      </p:sp>
      <p:sp>
        <p:nvSpPr>
          <p:cNvPr id="190" name="Rectangle 49">
            <a:extLst>
              <a:ext uri="{FF2B5EF4-FFF2-40B4-BE49-F238E27FC236}">
                <a16:creationId xmlns:a16="http://schemas.microsoft.com/office/drawing/2014/main" id="{4BF53313-5495-9229-DCF1-88CE99E28E7A}"/>
              </a:ext>
            </a:extLst>
          </p:cNvPr>
          <p:cNvSpPr>
            <a:spLocks noChangeArrowheads="1"/>
          </p:cNvSpPr>
          <p:nvPr/>
        </p:nvSpPr>
        <p:spPr bwMode="auto">
          <a:xfrm>
            <a:off x="2961614" y="3303460"/>
            <a:ext cx="482400" cy="244800"/>
          </a:xfrm>
          <a:prstGeom prst="rect">
            <a:avLst/>
          </a:prstGeom>
          <a:solidFill>
            <a:schemeClr val="bg1"/>
          </a:solidFill>
          <a:ln w="9525">
            <a:solidFill>
              <a:schemeClr val="tx1"/>
            </a:solidFill>
            <a:miter lim="800000"/>
          </a:ln>
        </p:spPr>
        <p:txBody>
          <a:bodyPr wrap="none" anchor="ctr"/>
          <a:lstStyle/>
          <a:p>
            <a:pPr algn="ctr"/>
            <a:r>
              <a:rPr lang="zh-CN" altLang="en-US" sz="1000" dirty="0"/>
              <a:t>数 据</a:t>
            </a:r>
          </a:p>
        </p:txBody>
      </p:sp>
      <p:sp>
        <p:nvSpPr>
          <p:cNvPr id="192" name="Rectangle 74">
            <a:extLst>
              <a:ext uri="{FF2B5EF4-FFF2-40B4-BE49-F238E27FC236}">
                <a16:creationId xmlns:a16="http://schemas.microsoft.com/office/drawing/2014/main" id="{2551B574-1778-9ADD-3E14-FDBACC5C221B}"/>
              </a:ext>
            </a:extLst>
          </p:cNvPr>
          <p:cNvSpPr>
            <a:spLocks noChangeArrowheads="1"/>
          </p:cNvSpPr>
          <p:nvPr/>
        </p:nvSpPr>
        <p:spPr bwMode="auto">
          <a:xfrm>
            <a:off x="2068814" y="3303460"/>
            <a:ext cx="223200" cy="244800"/>
          </a:xfrm>
          <a:prstGeom prst="rect">
            <a:avLst/>
          </a:prstGeom>
          <a:solidFill>
            <a:srgbClr val="00B050"/>
          </a:solidFill>
          <a:ln w="9525">
            <a:solidFill>
              <a:schemeClr val="tx1"/>
            </a:solidFill>
            <a:miter lim="800000"/>
          </a:ln>
          <a:effectLst/>
        </p:spPr>
        <p:txBody>
          <a:bodyPr wrap="none" anchor="ctr"/>
          <a:lstStyle/>
          <a:p>
            <a:pPr algn="ctr"/>
            <a:r>
              <a:rPr lang="en-US" altLang="zh-CN" sz="1000" dirty="0"/>
              <a:t>H</a:t>
            </a:r>
            <a:r>
              <a:rPr lang="en-US" altLang="zh-CN" sz="1000" baseline="-25000" dirty="0"/>
              <a:t>2</a:t>
            </a:r>
          </a:p>
        </p:txBody>
      </p:sp>
      <p:sp>
        <p:nvSpPr>
          <p:cNvPr id="194" name="Rectangle 78">
            <a:extLst>
              <a:ext uri="{FF2B5EF4-FFF2-40B4-BE49-F238E27FC236}">
                <a16:creationId xmlns:a16="http://schemas.microsoft.com/office/drawing/2014/main" id="{2E4F6E04-C42F-22C0-CD7D-2F3150C69B12}"/>
              </a:ext>
            </a:extLst>
          </p:cNvPr>
          <p:cNvSpPr>
            <a:spLocks noChangeArrowheads="1"/>
          </p:cNvSpPr>
          <p:nvPr/>
        </p:nvSpPr>
        <p:spPr bwMode="auto">
          <a:xfrm>
            <a:off x="3444013" y="3303206"/>
            <a:ext cx="223200" cy="245309"/>
          </a:xfrm>
          <a:prstGeom prst="rect">
            <a:avLst/>
          </a:prstGeom>
          <a:solidFill>
            <a:srgbClr val="00B050"/>
          </a:solidFill>
          <a:ln w="9525">
            <a:solidFill>
              <a:schemeClr val="tx1"/>
            </a:solidFill>
            <a:miter lim="800000"/>
          </a:ln>
          <a:effectLst/>
        </p:spPr>
        <p:txBody>
          <a:bodyPr wrap="none" anchor="ctr"/>
          <a:lstStyle/>
          <a:p>
            <a:pPr algn="ctr"/>
            <a:r>
              <a:rPr lang="en-US" altLang="zh-CN" sz="1000" dirty="0"/>
              <a:t>T</a:t>
            </a:r>
            <a:r>
              <a:rPr lang="en-US" altLang="zh-CN" sz="1000" baseline="-25000" dirty="0"/>
              <a:t>2</a:t>
            </a:r>
          </a:p>
        </p:txBody>
      </p:sp>
      <p:sp>
        <p:nvSpPr>
          <p:cNvPr id="196" name="Rectangle 35">
            <a:extLst>
              <a:ext uri="{FF2B5EF4-FFF2-40B4-BE49-F238E27FC236}">
                <a16:creationId xmlns:a16="http://schemas.microsoft.com/office/drawing/2014/main" id="{08264DC0-5BB9-7F70-37F4-9352618478FE}"/>
              </a:ext>
            </a:extLst>
          </p:cNvPr>
          <p:cNvSpPr>
            <a:spLocks noChangeArrowheads="1"/>
          </p:cNvSpPr>
          <p:nvPr/>
        </p:nvSpPr>
        <p:spPr bwMode="auto">
          <a:xfrm>
            <a:off x="2068816" y="3671598"/>
            <a:ext cx="1598222" cy="244475"/>
          </a:xfrm>
          <a:prstGeom prst="rect">
            <a:avLst/>
          </a:prstGeom>
          <a:ln w="9525">
            <a:solidFill>
              <a:schemeClr val="tx1"/>
            </a:solidFill>
            <a:miter lim="800000"/>
          </a:ln>
        </p:spPr>
        <p:txBody>
          <a:bodyPr wrap="none" anchor="ctr"/>
          <a:lstStyle/>
          <a:p>
            <a:pPr algn="ctr"/>
            <a:r>
              <a:rPr lang="en-US" altLang="zh-CN" sz="1000" dirty="0">
                <a:solidFill>
                  <a:srgbClr val="FF0000"/>
                </a:solidFill>
                <a:latin typeface="+mj-lt"/>
                <a:ea typeface="+mj-ea"/>
              </a:rPr>
              <a:t>10100 </a:t>
            </a:r>
            <a:r>
              <a:rPr lang="zh-CN" altLang="en-US" sz="1000" dirty="0">
                <a:solidFill>
                  <a:srgbClr val="FF0000"/>
                </a:solidFill>
                <a:latin typeface="+mj-lt"/>
                <a:ea typeface="+mj-ea"/>
              </a:rPr>
              <a:t>比特流 </a:t>
            </a:r>
            <a:r>
              <a:rPr lang="en-US" altLang="zh-CN" sz="1000" dirty="0">
                <a:solidFill>
                  <a:srgbClr val="FF0000"/>
                </a:solidFill>
                <a:latin typeface="+mj-lt"/>
                <a:ea typeface="+mj-ea"/>
              </a:rPr>
              <a:t>110100</a:t>
            </a:r>
          </a:p>
        </p:txBody>
      </p:sp>
      <p:sp>
        <p:nvSpPr>
          <p:cNvPr id="198" name="矩形 197">
            <a:extLst>
              <a:ext uri="{FF2B5EF4-FFF2-40B4-BE49-F238E27FC236}">
                <a16:creationId xmlns:a16="http://schemas.microsoft.com/office/drawing/2014/main" id="{230AA5A2-72FF-170C-81A7-DA3517412153}"/>
              </a:ext>
            </a:extLst>
          </p:cNvPr>
          <p:cNvSpPr/>
          <p:nvPr/>
        </p:nvSpPr>
        <p:spPr>
          <a:xfrm>
            <a:off x="2979490" y="2219763"/>
            <a:ext cx="464524" cy="223997"/>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ysClr val="windowText" lastClr="000000"/>
              </a:solidFill>
            </a:endParaRPr>
          </a:p>
        </p:txBody>
      </p:sp>
      <p:grpSp>
        <p:nvGrpSpPr>
          <p:cNvPr id="72" name="Group 50"/>
          <p:cNvGrpSpPr/>
          <p:nvPr/>
        </p:nvGrpSpPr>
        <p:grpSpPr bwMode="auto">
          <a:xfrm>
            <a:off x="1237477" y="2076244"/>
            <a:ext cx="2052947" cy="205414"/>
            <a:chOff x="436" y="1815"/>
            <a:chExt cx="1744" cy="228"/>
          </a:xfrm>
          <a:solidFill>
            <a:srgbClr val="CC00CC"/>
          </a:solidFill>
        </p:grpSpPr>
        <p:sp>
          <p:nvSpPr>
            <p:cNvPr id="73" name="AutoShape 51"/>
            <p:cNvSpPr>
              <a:spLocks noChangeArrowheads="1"/>
            </p:cNvSpPr>
            <p:nvPr/>
          </p:nvSpPr>
          <p:spPr bwMode="auto">
            <a:xfrm flipV="1">
              <a:off x="436" y="1815"/>
              <a:ext cx="124" cy="228"/>
            </a:xfrm>
            <a:prstGeom prst="upArrow">
              <a:avLst>
                <a:gd name="adj1" fmla="val 50000"/>
                <a:gd name="adj2" fmla="val 45968"/>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74" name="AutoShape 52"/>
            <p:cNvSpPr>
              <a:spLocks noChangeArrowheads="1"/>
            </p:cNvSpPr>
            <p:nvPr/>
          </p:nvSpPr>
          <p:spPr bwMode="auto">
            <a:xfrm flipV="1">
              <a:off x="2056" y="1815"/>
              <a:ext cx="124" cy="228"/>
            </a:xfrm>
            <a:prstGeom prst="upArrow">
              <a:avLst>
                <a:gd name="adj1" fmla="val 50000"/>
                <a:gd name="adj2" fmla="val 45968"/>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grpSp>
      <p:grpSp>
        <p:nvGrpSpPr>
          <p:cNvPr id="87" name="Group 53"/>
          <p:cNvGrpSpPr/>
          <p:nvPr/>
        </p:nvGrpSpPr>
        <p:grpSpPr bwMode="auto">
          <a:xfrm>
            <a:off x="1237477" y="2416934"/>
            <a:ext cx="2045886" cy="243496"/>
            <a:chOff x="434" y="2091"/>
            <a:chExt cx="1738" cy="274"/>
          </a:xfrm>
          <a:solidFill>
            <a:srgbClr val="CC00CC">
              <a:alpha val="50000"/>
            </a:srgbClr>
          </a:solidFill>
        </p:grpSpPr>
        <p:sp>
          <p:nvSpPr>
            <p:cNvPr id="88" name="AutoShape 54"/>
            <p:cNvSpPr>
              <a:spLocks noChangeArrowheads="1"/>
            </p:cNvSpPr>
            <p:nvPr/>
          </p:nvSpPr>
          <p:spPr bwMode="auto">
            <a:xfrm rot="10800000">
              <a:off x="434" y="2116"/>
              <a:ext cx="125" cy="249"/>
            </a:xfrm>
            <a:prstGeom prst="upArrow">
              <a:avLst>
                <a:gd name="adj1" fmla="val 50000"/>
                <a:gd name="adj2" fmla="val 49800"/>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89" name="AutoShape 55"/>
            <p:cNvSpPr>
              <a:spLocks noChangeArrowheads="1"/>
            </p:cNvSpPr>
            <p:nvPr/>
          </p:nvSpPr>
          <p:spPr bwMode="auto">
            <a:xfrm rot="10800000">
              <a:off x="2054" y="2091"/>
              <a:ext cx="118" cy="249"/>
            </a:xfrm>
            <a:prstGeom prst="upArrow">
              <a:avLst>
                <a:gd name="adj1" fmla="val 50000"/>
                <a:gd name="adj2" fmla="val 49800"/>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grpSp>
      <p:grpSp>
        <p:nvGrpSpPr>
          <p:cNvPr id="94" name="Group 56"/>
          <p:cNvGrpSpPr/>
          <p:nvPr/>
        </p:nvGrpSpPr>
        <p:grpSpPr bwMode="auto">
          <a:xfrm>
            <a:off x="1235121" y="2777819"/>
            <a:ext cx="2054125" cy="271275"/>
            <a:chOff x="434" y="2411"/>
            <a:chExt cx="1745" cy="274"/>
          </a:xfrm>
          <a:solidFill>
            <a:srgbClr val="CC00CC">
              <a:alpha val="50000"/>
            </a:srgbClr>
          </a:solidFill>
        </p:grpSpPr>
        <p:sp>
          <p:nvSpPr>
            <p:cNvPr id="95" name="AutoShape 57"/>
            <p:cNvSpPr>
              <a:spLocks noChangeArrowheads="1"/>
            </p:cNvSpPr>
            <p:nvPr/>
          </p:nvSpPr>
          <p:spPr bwMode="auto">
            <a:xfrm rot="10800000">
              <a:off x="434" y="2460"/>
              <a:ext cx="126" cy="225"/>
            </a:xfrm>
            <a:prstGeom prst="upArrow">
              <a:avLst>
                <a:gd name="adj1" fmla="val 50000"/>
                <a:gd name="adj2" fmla="val 49600"/>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6" name="AutoShape 58"/>
            <p:cNvSpPr>
              <a:spLocks noChangeArrowheads="1"/>
            </p:cNvSpPr>
            <p:nvPr/>
          </p:nvSpPr>
          <p:spPr bwMode="auto">
            <a:xfrm rot="10800000">
              <a:off x="2054" y="2411"/>
              <a:ext cx="125" cy="248"/>
            </a:xfrm>
            <a:prstGeom prst="upArrow">
              <a:avLst>
                <a:gd name="adj1" fmla="val 50000"/>
                <a:gd name="adj2" fmla="val 49600"/>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grpSp>
      <p:grpSp>
        <p:nvGrpSpPr>
          <p:cNvPr id="106" name="Group 56"/>
          <p:cNvGrpSpPr/>
          <p:nvPr/>
        </p:nvGrpSpPr>
        <p:grpSpPr bwMode="auto">
          <a:xfrm>
            <a:off x="1226181" y="3158334"/>
            <a:ext cx="2062367" cy="253754"/>
            <a:chOff x="420" y="2461"/>
            <a:chExt cx="1752" cy="269"/>
          </a:xfrm>
          <a:solidFill>
            <a:srgbClr val="CC00CC">
              <a:alpha val="50000"/>
            </a:srgbClr>
          </a:solidFill>
        </p:grpSpPr>
        <p:sp>
          <p:nvSpPr>
            <p:cNvPr id="107" name="AutoShape 57"/>
            <p:cNvSpPr>
              <a:spLocks noChangeArrowheads="1"/>
            </p:cNvSpPr>
            <p:nvPr/>
          </p:nvSpPr>
          <p:spPr bwMode="auto">
            <a:xfrm rot="10800000">
              <a:off x="420" y="2504"/>
              <a:ext cx="133" cy="226"/>
            </a:xfrm>
            <a:prstGeom prst="upArrow">
              <a:avLst>
                <a:gd name="adj1" fmla="val 50000"/>
                <a:gd name="adj2" fmla="val 49600"/>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08" name="AutoShape 58"/>
            <p:cNvSpPr>
              <a:spLocks noChangeArrowheads="1"/>
            </p:cNvSpPr>
            <p:nvPr/>
          </p:nvSpPr>
          <p:spPr bwMode="auto">
            <a:xfrm rot="10800000">
              <a:off x="2047" y="2461"/>
              <a:ext cx="125" cy="248"/>
            </a:xfrm>
            <a:prstGeom prst="upArrow">
              <a:avLst>
                <a:gd name="adj1" fmla="val 50000"/>
                <a:gd name="adj2" fmla="val 49600"/>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grpSp>
      <p:grpSp>
        <p:nvGrpSpPr>
          <p:cNvPr id="118" name="Group 62"/>
          <p:cNvGrpSpPr/>
          <p:nvPr/>
        </p:nvGrpSpPr>
        <p:grpSpPr bwMode="auto">
          <a:xfrm>
            <a:off x="1226181" y="3527399"/>
            <a:ext cx="2064721" cy="278011"/>
            <a:chOff x="433" y="3219"/>
            <a:chExt cx="1754" cy="279"/>
          </a:xfrm>
          <a:solidFill>
            <a:srgbClr val="CC00CC"/>
          </a:solidFill>
        </p:grpSpPr>
        <p:sp>
          <p:nvSpPr>
            <p:cNvPr id="119" name="AutoShape 63"/>
            <p:cNvSpPr>
              <a:spLocks noChangeArrowheads="1"/>
            </p:cNvSpPr>
            <p:nvPr/>
          </p:nvSpPr>
          <p:spPr bwMode="auto">
            <a:xfrm rot="10800000">
              <a:off x="433" y="3259"/>
              <a:ext cx="141" cy="239"/>
            </a:xfrm>
            <a:prstGeom prst="upArrow">
              <a:avLst>
                <a:gd name="adj1" fmla="val 50000"/>
                <a:gd name="adj2" fmla="val 50403"/>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20" name="AutoShape 64"/>
            <p:cNvSpPr>
              <a:spLocks noChangeArrowheads="1"/>
            </p:cNvSpPr>
            <p:nvPr/>
          </p:nvSpPr>
          <p:spPr bwMode="auto">
            <a:xfrm rot="10800000">
              <a:off x="2052" y="3219"/>
              <a:ext cx="135" cy="246"/>
            </a:xfrm>
            <a:prstGeom prst="upArrow">
              <a:avLst>
                <a:gd name="adj1" fmla="val 50000"/>
                <a:gd name="adj2" fmla="val 50403"/>
              </a:avLst>
            </a:prstGeom>
            <a:grp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grpSp>
      <p:grpSp>
        <p:nvGrpSpPr>
          <p:cNvPr id="205" name="组合 204">
            <a:extLst>
              <a:ext uri="{FF2B5EF4-FFF2-40B4-BE49-F238E27FC236}">
                <a16:creationId xmlns:a16="http://schemas.microsoft.com/office/drawing/2014/main" id="{24D73C33-AA18-909D-28CD-CC87F4DF89EE}"/>
              </a:ext>
            </a:extLst>
          </p:cNvPr>
          <p:cNvGrpSpPr/>
          <p:nvPr/>
        </p:nvGrpSpPr>
        <p:grpSpPr>
          <a:xfrm>
            <a:off x="3960000" y="2808000"/>
            <a:ext cx="1080000" cy="1080000"/>
            <a:chOff x="2807995" y="2745746"/>
            <a:chExt cx="1080000" cy="1080000"/>
          </a:xfrm>
        </p:grpSpPr>
        <p:sp>
          <p:nvSpPr>
            <p:cNvPr id="206" name="立方体 205">
              <a:extLst>
                <a:ext uri="{FF2B5EF4-FFF2-40B4-BE49-F238E27FC236}">
                  <a16:creationId xmlns:a16="http://schemas.microsoft.com/office/drawing/2014/main" id="{3A0B48E3-2954-14DC-6F4F-A7B602A01FFB}"/>
                </a:ext>
              </a:extLst>
            </p:cNvPr>
            <p:cNvSpPr/>
            <p:nvPr/>
          </p:nvSpPr>
          <p:spPr>
            <a:xfrm>
              <a:off x="2807995" y="3393746"/>
              <a:ext cx="594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sz="1050" dirty="0">
                  <a:solidFill>
                    <a:schemeClr val="bg1"/>
                  </a:solidFill>
                </a:rPr>
                <a:t>1</a:t>
              </a:r>
              <a:endParaRPr lang="zh-CN" altLang="en-US" sz="1050" dirty="0">
                <a:solidFill>
                  <a:schemeClr val="bg1"/>
                </a:solidFill>
              </a:endParaRPr>
            </a:p>
          </p:txBody>
        </p:sp>
        <p:sp>
          <p:nvSpPr>
            <p:cNvPr id="207" name="立方体 206">
              <a:extLst>
                <a:ext uri="{FF2B5EF4-FFF2-40B4-BE49-F238E27FC236}">
                  <a16:creationId xmlns:a16="http://schemas.microsoft.com/office/drawing/2014/main" id="{B0AC3F5D-8B2C-75FA-ABD1-D1D803FC9D72}"/>
                </a:ext>
              </a:extLst>
            </p:cNvPr>
            <p:cNvSpPr/>
            <p:nvPr/>
          </p:nvSpPr>
          <p:spPr>
            <a:xfrm>
              <a:off x="2807995" y="3069746"/>
              <a:ext cx="594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sz="1050" dirty="0">
                  <a:solidFill>
                    <a:schemeClr val="bg1"/>
                  </a:solidFill>
                </a:rPr>
                <a:t>2</a:t>
              </a:r>
              <a:endParaRPr lang="zh-CN" altLang="en-US" sz="1050" dirty="0">
                <a:solidFill>
                  <a:schemeClr val="bg1"/>
                </a:solidFill>
              </a:endParaRPr>
            </a:p>
          </p:txBody>
        </p:sp>
        <p:sp>
          <p:nvSpPr>
            <p:cNvPr id="208" name="立方体 207">
              <a:extLst>
                <a:ext uri="{FF2B5EF4-FFF2-40B4-BE49-F238E27FC236}">
                  <a16:creationId xmlns:a16="http://schemas.microsoft.com/office/drawing/2014/main" id="{FFC23198-B17A-42B7-8FFE-3E84E2CFFA04}"/>
                </a:ext>
              </a:extLst>
            </p:cNvPr>
            <p:cNvSpPr/>
            <p:nvPr/>
          </p:nvSpPr>
          <p:spPr>
            <a:xfrm>
              <a:off x="3293995" y="3393746"/>
              <a:ext cx="594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sz="1050" dirty="0">
                  <a:solidFill>
                    <a:schemeClr val="bg1"/>
                  </a:solidFill>
                </a:rPr>
                <a:t>1</a:t>
              </a:r>
              <a:endParaRPr lang="zh-CN" altLang="en-US" sz="1050" dirty="0">
                <a:solidFill>
                  <a:schemeClr val="bg1"/>
                </a:solidFill>
              </a:endParaRPr>
            </a:p>
          </p:txBody>
        </p:sp>
        <p:sp>
          <p:nvSpPr>
            <p:cNvPr id="209" name="立方体 208">
              <a:extLst>
                <a:ext uri="{FF2B5EF4-FFF2-40B4-BE49-F238E27FC236}">
                  <a16:creationId xmlns:a16="http://schemas.microsoft.com/office/drawing/2014/main" id="{406A764E-A8D7-BB08-198C-20315BA9475D}"/>
                </a:ext>
              </a:extLst>
            </p:cNvPr>
            <p:cNvSpPr/>
            <p:nvPr/>
          </p:nvSpPr>
          <p:spPr>
            <a:xfrm>
              <a:off x="3293995" y="3069746"/>
              <a:ext cx="594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sz="1050" dirty="0">
                  <a:solidFill>
                    <a:schemeClr val="bg1"/>
                  </a:solidFill>
                </a:rPr>
                <a:t>2</a:t>
              </a:r>
              <a:endParaRPr lang="zh-CN" altLang="en-US" sz="1050" dirty="0">
                <a:solidFill>
                  <a:schemeClr val="bg1"/>
                </a:solidFill>
              </a:endParaRPr>
            </a:p>
          </p:txBody>
        </p:sp>
        <p:sp>
          <p:nvSpPr>
            <p:cNvPr id="210" name="立方体 209">
              <a:extLst>
                <a:ext uri="{FF2B5EF4-FFF2-40B4-BE49-F238E27FC236}">
                  <a16:creationId xmlns:a16="http://schemas.microsoft.com/office/drawing/2014/main" id="{4BDDF274-6A51-2D27-3FA8-CC009DC79A85}"/>
                </a:ext>
              </a:extLst>
            </p:cNvPr>
            <p:cNvSpPr/>
            <p:nvPr/>
          </p:nvSpPr>
          <p:spPr>
            <a:xfrm>
              <a:off x="2807995" y="2745746"/>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pPr algn="ctr"/>
              <a:r>
                <a:rPr lang="en-US" altLang="zh-CN" sz="1050" dirty="0">
                  <a:solidFill>
                    <a:schemeClr val="bg1"/>
                  </a:solidFill>
                </a:rPr>
                <a:t>3</a:t>
              </a:r>
              <a:endParaRPr lang="zh-CN" altLang="en-US" sz="1050" dirty="0">
                <a:solidFill>
                  <a:schemeClr val="bg1"/>
                </a:solidFill>
              </a:endParaRPr>
            </a:p>
          </p:txBody>
        </p:sp>
      </p:grpSp>
      <p:sp>
        <p:nvSpPr>
          <p:cNvPr id="212" name="AutoShape 4">
            <a:extLst>
              <a:ext uri="{FF2B5EF4-FFF2-40B4-BE49-F238E27FC236}">
                <a16:creationId xmlns:a16="http://schemas.microsoft.com/office/drawing/2014/main" id="{8158F994-3345-F7F9-FAF6-D00F0FEB9811}"/>
              </a:ext>
            </a:extLst>
          </p:cNvPr>
          <p:cNvSpPr>
            <a:spLocks noChangeArrowheads="1"/>
          </p:cNvSpPr>
          <p:nvPr/>
        </p:nvSpPr>
        <p:spPr bwMode="auto">
          <a:xfrm rot="16200000">
            <a:off x="2567190" y="2361728"/>
            <a:ext cx="271463" cy="3600000"/>
          </a:xfrm>
          <a:prstGeom prst="can">
            <a:avLst>
              <a:gd name="adj" fmla="val 48656"/>
            </a:avLst>
          </a:prstGeom>
          <a:gradFill rotWithShape="0">
            <a:gsLst>
              <a:gs pos="0">
                <a:srgbClr val="00CC00"/>
              </a:gs>
              <a:gs pos="50000">
                <a:schemeClr val="bg1"/>
              </a:gs>
              <a:gs pos="100000">
                <a:srgbClr val="00CC00"/>
              </a:gs>
            </a:gsLst>
            <a:lin ang="5400000" scaled="1"/>
          </a:gradFill>
          <a:ln w="6350">
            <a:solidFill>
              <a:srgbClr val="7CE07C"/>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214" name="AutoShape 4">
            <a:extLst>
              <a:ext uri="{FF2B5EF4-FFF2-40B4-BE49-F238E27FC236}">
                <a16:creationId xmlns:a16="http://schemas.microsoft.com/office/drawing/2014/main" id="{A58EAB20-10CA-EB7E-D2C5-D2542A74620F}"/>
              </a:ext>
            </a:extLst>
          </p:cNvPr>
          <p:cNvSpPr>
            <a:spLocks noChangeArrowheads="1"/>
          </p:cNvSpPr>
          <p:nvPr/>
        </p:nvSpPr>
        <p:spPr bwMode="auto">
          <a:xfrm rot="16200000">
            <a:off x="6253847" y="2361728"/>
            <a:ext cx="271463" cy="3600000"/>
          </a:xfrm>
          <a:prstGeom prst="can">
            <a:avLst>
              <a:gd name="adj" fmla="val 48656"/>
            </a:avLst>
          </a:prstGeom>
          <a:gradFill rotWithShape="0">
            <a:gsLst>
              <a:gs pos="0">
                <a:srgbClr val="00CC00"/>
              </a:gs>
              <a:gs pos="50000">
                <a:schemeClr val="bg1"/>
              </a:gs>
              <a:gs pos="100000">
                <a:srgbClr val="00CC00"/>
              </a:gs>
            </a:gsLst>
            <a:lin ang="5400000" scaled="1"/>
          </a:gradFill>
          <a:ln w="6350">
            <a:solidFill>
              <a:srgbClr val="7CE07C"/>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216" name="Text Box 26">
            <a:extLst>
              <a:ext uri="{FF2B5EF4-FFF2-40B4-BE49-F238E27FC236}">
                <a16:creationId xmlns:a16="http://schemas.microsoft.com/office/drawing/2014/main" id="{C47325AF-CF76-7FFE-E90C-24F9A2435394}"/>
              </a:ext>
            </a:extLst>
          </p:cNvPr>
          <p:cNvSpPr txBox="1">
            <a:spLocks noChangeArrowheads="1"/>
          </p:cNvSpPr>
          <p:nvPr/>
        </p:nvSpPr>
        <p:spPr bwMode="auto">
          <a:xfrm>
            <a:off x="2701348" y="4023229"/>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dirty="0">
                <a:latin typeface="+mj-lt"/>
                <a:ea typeface="+mj-ea"/>
              </a:rPr>
              <a:t>物理传输媒体</a:t>
            </a:r>
          </a:p>
        </p:txBody>
      </p:sp>
      <p:sp>
        <p:nvSpPr>
          <p:cNvPr id="218" name="Text Box 26">
            <a:extLst>
              <a:ext uri="{FF2B5EF4-FFF2-40B4-BE49-F238E27FC236}">
                <a16:creationId xmlns:a16="http://schemas.microsoft.com/office/drawing/2014/main" id="{9BCB0706-39A6-3685-F433-CA6F42379D32}"/>
              </a:ext>
            </a:extLst>
          </p:cNvPr>
          <p:cNvSpPr txBox="1">
            <a:spLocks noChangeArrowheads="1"/>
          </p:cNvSpPr>
          <p:nvPr/>
        </p:nvSpPr>
        <p:spPr bwMode="auto">
          <a:xfrm>
            <a:off x="6193730" y="4023229"/>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dirty="0">
                <a:latin typeface="+mj-lt"/>
                <a:ea typeface="+mj-ea"/>
              </a:rPr>
              <a:t>物理传输媒体</a:t>
            </a:r>
          </a:p>
        </p:txBody>
      </p:sp>
    </p:spTree>
    <p:extLst>
      <p:ext uri="{BB962C8B-B14F-4D97-AF65-F5344CB8AC3E}">
        <p14:creationId xmlns:p14="http://schemas.microsoft.com/office/powerpoint/2010/main" val="595645150"/>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1" name="AutoShape 4">
            <a:extLst>
              <a:ext uri="{FF2B5EF4-FFF2-40B4-BE49-F238E27FC236}">
                <a16:creationId xmlns:a16="http://schemas.microsoft.com/office/drawing/2014/main" id="{E18FA0CF-E4E1-CD72-4504-6A0154EC428C}"/>
              </a:ext>
            </a:extLst>
          </p:cNvPr>
          <p:cNvSpPr>
            <a:spLocks noChangeArrowheads="1"/>
          </p:cNvSpPr>
          <p:nvPr/>
        </p:nvSpPr>
        <p:spPr bwMode="auto">
          <a:xfrm rot="16200000">
            <a:off x="2567190" y="2361728"/>
            <a:ext cx="271463" cy="3600000"/>
          </a:xfrm>
          <a:prstGeom prst="can">
            <a:avLst>
              <a:gd name="adj" fmla="val 48656"/>
            </a:avLst>
          </a:prstGeom>
          <a:gradFill rotWithShape="0">
            <a:gsLst>
              <a:gs pos="0">
                <a:srgbClr val="00CC00"/>
              </a:gs>
              <a:gs pos="50000">
                <a:schemeClr val="bg1"/>
              </a:gs>
              <a:gs pos="100000">
                <a:srgbClr val="00CC00"/>
              </a:gs>
            </a:gsLst>
            <a:lin ang="5400000" scaled="1"/>
          </a:gradFill>
          <a:ln w="6350">
            <a:solidFill>
              <a:srgbClr val="7CE07C"/>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123" name="AutoShape 4">
            <a:extLst>
              <a:ext uri="{FF2B5EF4-FFF2-40B4-BE49-F238E27FC236}">
                <a16:creationId xmlns:a16="http://schemas.microsoft.com/office/drawing/2014/main" id="{AFEB8230-501A-63EC-A813-F209E6BA3541}"/>
              </a:ext>
            </a:extLst>
          </p:cNvPr>
          <p:cNvSpPr>
            <a:spLocks noChangeArrowheads="1"/>
          </p:cNvSpPr>
          <p:nvPr/>
        </p:nvSpPr>
        <p:spPr bwMode="auto">
          <a:xfrm rot="16200000">
            <a:off x="6253847" y="2361728"/>
            <a:ext cx="271463" cy="3600000"/>
          </a:xfrm>
          <a:prstGeom prst="can">
            <a:avLst>
              <a:gd name="adj" fmla="val 48656"/>
            </a:avLst>
          </a:prstGeom>
          <a:gradFill rotWithShape="0">
            <a:gsLst>
              <a:gs pos="0">
                <a:srgbClr val="00CC00"/>
              </a:gs>
              <a:gs pos="50000">
                <a:schemeClr val="bg1"/>
              </a:gs>
              <a:gs pos="100000">
                <a:srgbClr val="00CC00"/>
              </a:gs>
            </a:gsLst>
            <a:lin ang="5400000" scaled="1"/>
          </a:gradFill>
          <a:ln w="6350">
            <a:solidFill>
              <a:srgbClr val="7CE07C"/>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130" name="Text Box 26">
            <a:extLst>
              <a:ext uri="{FF2B5EF4-FFF2-40B4-BE49-F238E27FC236}">
                <a16:creationId xmlns:a16="http://schemas.microsoft.com/office/drawing/2014/main" id="{51BA213B-7EE0-1A8B-4DEB-4C989DD8C4ED}"/>
              </a:ext>
            </a:extLst>
          </p:cNvPr>
          <p:cNvSpPr txBox="1">
            <a:spLocks noChangeArrowheads="1"/>
          </p:cNvSpPr>
          <p:nvPr/>
        </p:nvSpPr>
        <p:spPr bwMode="auto">
          <a:xfrm>
            <a:off x="2701348" y="4023229"/>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dirty="0">
                <a:latin typeface="+mj-lt"/>
                <a:ea typeface="+mj-ea"/>
              </a:rPr>
              <a:t>物理传输媒体</a:t>
            </a:r>
          </a:p>
        </p:txBody>
      </p:sp>
      <p:sp>
        <p:nvSpPr>
          <p:cNvPr id="132" name="Text Box 26">
            <a:extLst>
              <a:ext uri="{FF2B5EF4-FFF2-40B4-BE49-F238E27FC236}">
                <a16:creationId xmlns:a16="http://schemas.microsoft.com/office/drawing/2014/main" id="{BC1BFF9A-D50A-8BD9-AC6C-B03AF258BF6F}"/>
              </a:ext>
            </a:extLst>
          </p:cNvPr>
          <p:cNvSpPr txBox="1">
            <a:spLocks noChangeArrowheads="1"/>
          </p:cNvSpPr>
          <p:nvPr/>
        </p:nvSpPr>
        <p:spPr bwMode="auto">
          <a:xfrm>
            <a:off x="6193730" y="4023229"/>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dirty="0">
                <a:latin typeface="+mj-lt"/>
                <a:ea typeface="+mj-ea"/>
              </a:rPr>
              <a:t>物理传输媒体</a:t>
            </a:r>
          </a:p>
        </p:txBody>
      </p:sp>
      <p:grpSp>
        <p:nvGrpSpPr>
          <p:cNvPr id="94" name="组合 93">
            <a:extLst>
              <a:ext uri="{FF2B5EF4-FFF2-40B4-BE49-F238E27FC236}">
                <a16:creationId xmlns:a16="http://schemas.microsoft.com/office/drawing/2014/main" id="{D59294A2-92CB-2679-87B6-F6F7D61799BC}"/>
              </a:ext>
            </a:extLst>
          </p:cNvPr>
          <p:cNvGrpSpPr/>
          <p:nvPr/>
        </p:nvGrpSpPr>
        <p:grpSpPr>
          <a:xfrm>
            <a:off x="7395732" y="1800000"/>
            <a:ext cx="1080000" cy="2088000"/>
            <a:chOff x="701211" y="1800000"/>
            <a:chExt cx="1080000" cy="2088000"/>
          </a:xfrm>
        </p:grpSpPr>
        <p:sp>
          <p:nvSpPr>
            <p:cNvPr id="96" name="立方体 95">
              <a:extLst>
                <a:ext uri="{FF2B5EF4-FFF2-40B4-BE49-F238E27FC236}">
                  <a16:creationId xmlns:a16="http://schemas.microsoft.com/office/drawing/2014/main" id="{8EE23840-E493-7CD0-4E69-02968BE7148A}"/>
                </a:ext>
              </a:extLst>
            </p:cNvPr>
            <p:cNvSpPr/>
            <p:nvPr/>
          </p:nvSpPr>
          <p:spPr>
            <a:xfrm>
              <a:off x="701211" y="3456000"/>
              <a:ext cx="108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050" dirty="0">
                  <a:solidFill>
                    <a:schemeClr val="bg1"/>
                  </a:solidFill>
                </a:rPr>
                <a:t>1 </a:t>
              </a:r>
              <a:r>
                <a:rPr lang="zh-CN" altLang="en-US" sz="1050" dirty="0">
                  <a:solidFill>
                    <a:schemeClr val="bg1"/>
                  </a:solidFill>
                </a:rPr>
                <a:t>物理层</a:t>
              </a:r>
            </a:p>
          </p:txBody>
        </p:sp>
        <p:sp>
          <p:nvSpPr>
            <p:cNvPr id="97" name="立方体 96">
              <a:extLst>
                <a:ext uri="{FF2B5EF4-FFF2-40B4-BE49-F238E27FC236}">
                  <a16:creationId xmlns:a16="http://schemas.microsoft.com/office/drawing/2014/main" id="{D781551C-2BE5-EA3D-1A59-BD5E4382C4CB}"/>
                </a:ext>
              </a:extLst>
            </p:cNvPr>
            <p:cNvSpPr/>
            <p:nvPr/>
          </p:nvSpPr>
          <p:spPr>
            <a:xfrm>
              <a:off x="701211" y="3132000"/>
              <a:ext cx="108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050" dirty="0">
                  <a:solidFill>
                    <a:schemeClr val="bg1"/>
                  </a:solidFill>
                </a:rPr>
                <a:t>2 </a:t>
              </a:r>
              <a:r>
                <a:rPr lang="zh-CN" altLang="en-US" sz="1050" dirty="0">
                  <a:solidFill>
                    <a:schemeClr val="bg1"/>
                  </a:solidFill>
                </a:rPr>
                <a:t>数据链路层</a:t>
              </a:r>
            </a:p>
          </p:txBody>
        </p:sp>
        <p:sp>
          <p:nvSpPr>
            <p:cNvPr id="98" name="立方体 97">
              <a:extLst>
                <a:ext uri="{FF2B5EF4-FFF2-40B4-BE49-F238E27FC236}">
                  <a16:creationId xmlns:a16="http://schemas.microsoft.com/office/drawing/2014/main" id="{8BCC5A60-675A-306B-DB40-81C339C41E9E}"/>
                </a:ext>
              </a:extLst>
            </p:cNvPr>
            <p:cNvSpPr/>
            <p:nvPr/>
          </p:nvSpPr>
          <p:spPr>
            <a:xfrm>
              <a:off x="701211" y="2808000"/>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050" dirty="0">
                  <a:solidFill>
                    <a:schemeClr val="bg1"/>
                  </a:solidFill>
                </a:rPr>
                <a:t>3 </a:t>
              </a:r>
              <a:r>
                <a:rPr lang="zh-CN" altLang="en-US" sz="1050" dirty="0">
                  <a:solidFill>
                    <a:schemeClr val="bg1"/>
                  </a:solidFill>
                </a:rPr>
                <a:t>网络层</a:t>
              </a:r>
            </a:p>
          </p:txBody>
        </p:sp>
        <p:sp>
          <p:nvSpPr>
            <p:cNvPr id="101" name="立方体 100">
              <a:extLst>
                <a:ext uri="{FF2B5EF4-FFF2-40B4-BE49-F238E27FC236}">
                  <a16:creationId xmlns:a16="http://schemas.microsoft.com/office/drawing/2014/main" id="{62F84A7E-9332-A112-1809-CC6956866F3C}"/>
                </a:ext>
              </a:extLst>
            </p:cNvPr>
            <p:cNvSpPr/>
            <p:nvPr/>
          </p:nvSpPr>
          <p:spPr>
            <a:xfrm>
              <a:off x="701211" y="2484000"/>
              <a:ext cx="108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050" dirty="0">
                  <a:solidFill>
                    <a:schemeClr val="bg1"/>
                  </a:solidFill>
                </a:rPr>
                <a:t>4 </a:t>
              </a:r>
              <a:r>
                <a:rPr lang="zh-CN" altLang="en-US" sz="1050" dirty="0">
                  <a:solidFill>
                    <a:schemeClr val="bg1"/>
                  </a:solidFill>
                </a:rPr>
                <a:t>运输层</a:t>
              </a:r>
            </a:p>
          </p:txBody>
        </p:sp>
        <p:sp>
          <p:nvSpPr>
            <p:cNvPr id="102" name="立方体 101">
              <a:extLst>
                <a:ext uri="{FF2B5EF4-FFF2-40B4-BE49-F238E27FC236}">
                  <a16:creationId xmlns:a16="http://schemas.microsoft.com/office/drawing/2014/main" id="{82857230-82E6-B50D-E86D-7645A10B8B51}"/>
                </a:ext>
              </a:extLst>
            </p:cNvPr>
            <p:cNvSpPr/>
            <p:nvPr/>
          </p:nvSpPr>
          <p:spPr>
            <a:xfrm>
              <a:off x="701211" y="2160000"/>
              <a:ext cx="108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050" dirty="0">
                  <a:solidFill>
                    <a:schemeClr val="bg1"/>
                  </a:solidFill>
                </a:rPr>
                <a:t>5 </a:t>
              </a:r>
              <a:r>
                <a:rPr lang="zh-CN" altLang="en-US" sz="1050" dirty="0">
                  <a:solidFill>
                    <a:schemeClr val="bg1"/>
                  </a:solidFill>
                </a:rPr>
                <a:t>应用层</a:t>
              </a:r>
            </a:p>
          </p:txBody>
        </p:sp>
        <p:sp>
          <p:nvSpPr>
            <p:cNvPr id="103" name="圆柱体 102">
              <a:extLst>
                <a:ext uri="{FF2B5EF4-FFF2-40B4-BE49-F238E27FC236}">
                  <a16:creationId xmlns:a16="http://schemas.microsoft.com/office/drawing/2014/main" id="{9260F218-7ED6-2E1C-802B-67E7B24526ED}"/>
                </a:ext>
              </a:extLst>
            </p:cNvPr>
            <p:cNvSpPr/>
            <p:nvPr/>
          </p:nvSpPr>
          <p:spPr>
            <a:xfrm>
              <a:off x="953211" y="1800000"/>
              <a:ext cx="576000" cy="360000"/>
            </a:xfrm>
            <a:prstGeom prst="can">
              <a:avLst/>
            </a:prstGeom>
            <a:solidFill>
              <a:srgbClr val="FFFF00"/>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000" dirty="0">
                  <a:solidFill>
                    <a:sysClr val="windowText" lastClr="000000"/>
                  </a:solidFill>
                </a:rPr>
                <a:t>AP1</a:t>
              </a:r>
              <a:endParaRPr lang="zh-CN" altLang="en-US" sz="1000" dirty="0">
                <a:solidFill>
                  <a:sysClr val="windowText" lastClr="000000"/>
                </a:solidFill>
              </a:endParaRPr>
            </a:p>
          </p:txBody>
        </p:sp>
      </p:grpSp>
      <p:grpSp>
        <p:nvGrpSpPr>
          <p:cNvPr id="104" name="组合 103">
            <a:extLst>
              <a:ext uri="{FF2B5EF4-FFF2-40B4-BE49-F238E27FC236}">
                <a16:creationId xmlns:a16="http://schemas.microsoft.com/office/drawing/2014/main" id="{353E13B6-9752-94E3-8EC9-2388841D4427}"/>
              </a:ext>
            </a:extLst>
          </p:cNvPr>
          <p:cNvGrpSpPr/>
          <p:nvPr/>
        </p:nvGrpSpPr>
        <p:grpSpPr>
          <a:xfrm>
            <a:off x="701211" y="1800000"/>
            <a:ext cx="1080000" cy="2088000"/>
            <a:chOff x="701211" y="1800000"/>
            <a:chExt cx="1080000" cy="2088000"/>
          </a:xfrm>
        </p:grpSpPr>
        <p:sp>
          <p:nvSpPr>
            <p:cNvPr id="105" name="立方体 104">
              <a:extLst>
                <a:ext uri="{FF2B5EF4-FFF2-40B4-BE49-F238E27FC236}">
                  <a16:creationId xmlns:a16="http://schemas.microsoft.com/office/drawing/2014/main" id="{2F632906-3653-F791-454D-77BB80A228B1}"/>
                </a:ext>
              </a:extLst>
            </p:cNvPr>
            <p:cNvSpPr/>
            <p:nvPr/>
          </p:nvSpPr>
          <p:spPr>
            <a:xfrm>
              <a:off x="701211" y="3456000"/>
              <a:ext cx="108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050" dirty="0">
                  <a:solidFill>
                    <a:schemeClr val="bg1"/>
                  </a:solidFill>
                </a:rPr>
                <a:t>1 </a:t>
              </a:r>
              <a:r>
                <a:rPr lang="zh-CN" altLang="en-US" sz="1050" dirty="0">
                  <a:solidFill>
                    <a:schemeClr val="bg1"/>
                  </a:solidFill>
                </a:rPr>
                <a:t>物理层</a:t>
              </a:r>
            </a:p>
          </p:txBody>
        </p:sp>
        <p:sp>
          <p:nvSpPr>
            <p:cNvPr id="106" name="立方体 105">
              <a:extLst>
                <a:ext uri="{FF2B5EF4-FFF2-40B4-BE49-F238E27FC236}">
                  <a16:creationId xmlns:a16="http://schemas.microsoft.com/office/drawing/2014/main" id="{959B1B51-B578-03E4-0ACD-E2EEB34AF0EA}"/>
                </a:ext>
              </a:extLst>
            </p:cNvPr>
            <p:cNvSpPr/>
            <p:nvPr/>
          </p:nvSpPr>
          <p:spPr>
            <a:xfrm>
              <a:off x="701211" y="3132000"/>
              <a:ext cx="108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050" dirty="0">
                  <a:solidFill>
                    <a:schemeClr val="bg1"/>
                  </a:solidFill>
                </a:rPr>
                <a:t>2 </a:t>
              </a:r>
              <a:r>
                <a:rPr lang="zh-CN" altLang="en-US" sz="1050" dirty="0">
                  <a:solidFill>
                    <a:schemeClr val="bg1"/>
                  </a:solidFill>
                </a:rPr>
                <a:t>数据链路层</a:t>
              </a:r>
            </a:p>
          </p:txBody>
        </p:sp>
        <p:sp>
          <p:nvSpPr>
            <p:cNvPr id="107" name="立方体 106">
              <a:extLst>
                <a:ext uri="{FF2B5EF4-FFF2-40B4-BE49-F238E27FC236}">
                  <a16:creationId xmlns:a16="http://schemas.microsoft.com/office/drawing/2014/main" id="{B543FBE8-D0FC-AE17-FCAD-5D99A68BAD03}"/>
                </a:ext>
              </a:extLst>
            </p:cNvPr>
            <p:cNvSpPr/>
            <p:nvPr/>
          </p:nvSpPr>
          <p:spPr>
            <a:xfrm>
              <a:off x="701211" y="2808000"/>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050" dirty="0">
                  <a:solidFill>
                    <a:schemeClr val="bg1"/>
                  </a:solidFill>
                </a:rPr>
                <a:t>3 </a:t>
              </a:r>
              <a:r>
                <a:rPr lang="zh-CN" altLang="en-US" sz="1050" dirty="0">
                  <a:solidFill>
                    <a:schemeClr val="bg1"/>
                  </a:solidFill>
                </a:rPr>
                <a:t>网络层</a:t>
              </a:r>
            </a:p>
          </p:txBody>
        </p:sp>
        <p:sp>
          <p:nvSpPr>
            <p:cNvPr id="108" name="立方体 107">
              <a:extLst>
                <a:ext uri="{FF2B5EF4-FFF2-40B4-BE49-F238E27FC236}">
                  <a16:creationId xmlns:a16="http://schemas.microsoft.com/office/drawing/2014/main" id="{D74927F5-4822-2DF5-8385-8DE0F311200E}"/>
                </a:ext>
              </a:extLst>
            </p:cNvPr>
            <p:cNvSpPr/>
            <p:nvPr/>
          </p:nvSpPr>
          <p:spPr>
            <a:xfrm>
              <a:off x="701211" y="2484000"/>
              <a:ext cx="108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050" dirty="0">
                  <a:solidFill>
                    <a:schemeClr val="bg1"/>
                  </a:solidFill>
                </a:rPr>
                <a:t>4 </a:t>
              </a:r>
              <a:r>
                <a:rPr lang="zh-CN" altLang="en-US" sz="1050" dirty="0">
                  <a:solidFill>
                    <a:schemeClr val="bg1"/>
                  </a:solidFill>
                </a:rPr>
                <a:t>运输层</a:t>
              </a:r>
            </a:p>
          </p:txBody>
        </p:sp>
        <p:sp>
          <p:nvSpPr>
            <p:cNvPr id="110" name="立方体 109">
              <a:extLst>
                <a:ext uri="{FF2B5EF4-FFF2-40B4-BE49-F238E27FC236}">
                  <a16:creationId xmlns:a16="http://schemas.microsoft.com/office/drawing/2014/main" id="{4AAB45A9-7B44-8868-D75A-EF26FF096A8E}"/>
                </a:ext>
              </a:extLst>
            </p:cNvPr>
            <p:cNvSpPr/>
            <p:nvPr/>
          </p:nvSpPr>
          <p:spPr>
            <a:xfrm>
              <a:off x="701211" y="2160000"/>
              <a:ext cx="108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050" dirty="0">
                  <a:solidFill>
                    <a:schemeClr val="bg1"/>
                  </a:solidFill>
                </a:rPr>
                <a:t>5 </a:t>
              </a:r>
              <a:r>
                <a:rPr lang="zh-CN" altLang="en-US" sz="1050" dirty="0">
                  <a:solidFill>
                    <a:schemeClr val="bg1"/>
                  </a:solidFill>
                </a:rPr>
                <a:t>应用层</a:t>
              </a:r>
            </a:p>
          </p:txBody>
        </p:sp>
        <p:sp>
          <p:nvSpPr>
            <p:cNvPr id="112" name="圆柱体 111">
              <a:extLst>
                <a:ext uri="{FF2B5EF4-FFF2-40B4-BE49-F238E27FC236}">
                  <a16:creationId xmlns:a16="http://schemas.microsoft.com/office/drawing/2014/main" id="{EA7AAF3C-D3AE-D6F3-8107-72183C415490}"/>
                </a:ext>
              </a:extLst>
            </p:cNvPr>
            <p:cNvSpPr/>
            <p:nvPr/>
          </p:nvSpPr>
          <p:spPr>
            <a:xfrm>
              <a:off x="953211" y="1800000"/>
              <a:ext cx="576000" cy="360000"/>
            </a:xfrm>
            <a:prstGeom prst="can">
              <a:avLst/>
            </a:prstGeom>
            <a:solidFill>
              <a:srgbClr val="FFFF00"/>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000" dirty="0">
                  <a:solidFill>
                    <a:sysClr val="windowText" lastClr="000000"/>
                  </a:solidFill>
                </a:rPr>
                <a:t>AP1</a:t>
              </a:r>
              <a:endParaRPr lang="zh-CN" altLang="en-US" sz="1000" dirty="0">
                <a:solidFill>
                  <a:sysClr val="windowText" lastClr="000000"/>
                </a:solidFill>
              </a:endParaRPr>
            </a:p>
          </p:txBody>
        </p:sp>
      </p:grpSp>
      <p:sp>
        <p:nvSpPr>
          <p:cNvPr id="25" name="Text Box 29"/>
          <p:cNvSpPr txBox="1">
            <a:spLocks noChangeArrowheads="1"/>
          </p:cNvSpPr>
          <p:nvPr/>
        </p:nvSpPr>
        <p:spPr bwMode="auto">
          <a:xfrm>
            <a:off x="110689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1</a:t>
            </a:r>
          </a:p>
        </p:txBody>
      </p:sp>
      <p:sp>
        <p:nvSpPr>
          <p:cNvPr id="38" name="Text Box 29"/>
          <p:cNvSpPr txBox="1">
            <a:spLocks noChangeArrowheads="1"/>
          </p:cNvSpPr>
          <p:nvPr/>
        </p:nvSpPr>
        <p:spPr bwMode="auto">
          <a:xfrm>
            <a:off x="736975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2</a:t>
            </a:r>
          </a:p>
        </p:txBody>
      </p:sp>
      <p:sp>
        <p:nvSpPr>
          <p:cNvPr id="39" name="Text Box 29"/>
          <p:cNvSpPr txBox="1">
            <a:spLocks noChangeArrowheads="1"/>
          </p:cNvSpPr>
          <p:nvPr/>
        </p:nvSpPr>
        <p:spPr bwMode="auto">
          <a:xfrm>
            <a:off x="4160212" y="107510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路由器</a:t>
            </a:r>
            <a:endParaRPr kumimoji="1" lang="en-US" altLang="zh-CN" sz="1200" b="1" dirty="0">
              <a:solidFill>
                <a:srgbClr val="0000FF"/>
              </a:solidFill>
              <a:latin typeface="微软雅黑" panose="020B0503020204020204" pitchFamily="34" charset="-122"/>
              <a:ea typeface="微软雅黑" panose="020B0503020204020204" pitchFamily="34" charset="-122"/>
            </a:endParaRPr>
          </a:p>
        </p:txBody>
      </p:sp>
      <p:cxnSp>
        <p:nvCxnSpPr>
          <p:cNvPr id="69" name="直接连接符 68"/>
          <p:cNvCxnSpPr/>
          <p:nvPr/>
        </p:nvCxnSpPr>
        <p:spPr>
          <a:xfrm>
            <a:off x="1418143" y="1507958"/>
            <a:ext cx="6306131" cy="0"/>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pic>
        <p:nvPicPr>
          <p:cNvPr id="36"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486661" y="1312469"/>
            <a:ext cx="410222"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7"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202308" y="1312469"/>
            <a:ext cx="410223"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140" name="直接箭头连接符 139"/>
          <p:cNvCxnSpPr/>
          <p:nvPr/>
        </p:nvCxnSpPr>
        <p:spPr>
          <a:xfrm>
            <a:off x="1561619" y="1428166"/>
            <a:ext cx="5941518" cy="0"/>
          </a:xfrm>
          <a:prstGeom prst="straightConnector1">
            <a:avLst/>
          </a:prstGeom>
          <a:ln w="28575">
            <a:solidFill>
              <a:srgbClr val="CC00CC"/>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35"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54124" y="1385466"/>
            <a:ext cx="454438" cy="2643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73" name="AutoShape 51"/>
          <p:cNvSpPr>
            <a:spLocks noChangeArrowheads="1"/>
          </p:cNvSpPr>
          <p:nvPr/>
        </p:nvSpPr>
        <p:spPr bwMode="auto">
          <a:xfrm flipV="1">
            <a:off x="1237476" y="2076244"/>
            <a:ext cx="145966" cy="205414"/>
          </a:xfrm>
          <a:prstGeom prst="upArrow">
            <a:avLst>
              <a:gd name="adj1" fmla="val 50000"/>
              <a:gd name="adj2" fmla="val 45968"/>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88" name="AutoShape 54"/>
          <p:cNvSpPr>
            <a:spLocks noChangeArrowheads="1"/>
          </p:cNvSpPr>
          <p:nvPr/>
        </p:nvSpPr>
        <p:spPr bwMode="auto">
          <a:xfrm rot="10800000">
            <a:off x="1237478" y="2439149"/>
            <a:ext cx="147144" cy="221279"/>
          </a:xfrm>
          <a:prstGeom prst="upArrow">
            <a:avLst>
              <a:gd name="adj1" fmla="val 50000"/>
              <a:gd name="adj2" fmla="val 498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5" name="AutoShape 57"/>
          <p:cNvSpPr>
            <a:spLocks noChangeArrowheads="1"/>
          </p:cNvSpPr>
          <p:nvPr/>
        </p:nvSpPr>
        <p:spPr bwMode="auto">
          <a:xfrm rot="10800000">
            <a:off x="1235122" y="2826328"/>
            <a:ext cx="148321" cy="222762"/>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19" name="AutoShape 63"/>
          <p:cNvSpPr>
            <a:spLocks noChangeArrowheads="1"/>
          </p:cNvSpPr>
          <p:nvPr/>
        </p:nvSpPr>
        <p:spPr bwMode="auto">
          <a:xfrm rot="10800000">
            <a:off x="1226181" y="3567260"/>
            <a:ext cx="165978" cy="238153"/>
          </a:xfrm>
          <a:prstGeom prst="upArrow">
            <a:avLst>
              <a:gd name="adj1" fmla="val 50000"/>
              <a:gd name="adj2" fmla="val 50403"/>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00" name="AutoShape 25"/>
          <p:cNvSpPr>
            <a:spLocks noChangeArrowheads="1"/>
          </p:cNvSpPr>
          <p:nvPr/>
        </p:nvSpPr>
        <p:spPr bwMode="auto">
          <a:xfrm flipV="1">
            <a:off x="1266066" y="3955320"/>
            <a:ext cx="263283" cy="281183"/>
          </a:xfrm>
          <a:custGeom>
            <a:avLst/>
            <a:gdLst>
              <a:gd name="T0" fmla="*/ 218339 w 21600"/>
              <a:gd name="T1" fmla="*/ 0 h 21600"/>
              <a:gd name="T2" fmla="*/ 218339 w 21600"/>
              <a:gd name="T3" fmla="*/ 171757 h 21600"/>
              <a:gd name="T4" fmla="*/ 46725 w 21600"/>
              <a:gd name="T5" fmla="*/ 305144 h 21600"/>
              <a:gd name="T6" fmla="*/ 311789 w 21600"/>
              <a:gd name="T7" fmla="*/ 85878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11" name="AutoShape 42"/>
          <p:cNvSpPr>
            <a:spLocks noChangeArrowheads="1"/>
          </p:cNvSpPr>
          <p:nvPr/>
        </p:nvSpPr>
        <p:spPr bwMode="auto">
          <a:xfrm rot="5400000" flipH="1">
            <a:off x="3905139" y="3932147"/>
            <a:ext cx="254669" cy="288428"/>
          </a:xfrm>
          <a:custGeom>
            <a:avLst/>
            <a:gdLst>
              <a:gd name="T0" fmla="*/ 220161 w 21600"/>
              <a:gd name="T1" fmla="*/ 0 h 21600"/>
              <a:gd name="T2" fmla="*/ 220161 w 21600"/>
              <a:gd name="T3" fmla="*/ 175497 h 21600"/>
              <a:gd name="T4" fmla="*/ 47115 w 21600"/>
              <a:gd name="T5" fmla="*/ 311790 h 21600"/>
              <a:gd name="T6" fmla="*/ 314391 w 21600"/>
              <a:gd name="T7" fmla="*/ 87749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nvGrpSpPr>
          <p:cNvPr id="125" name="Group 34"/>
          <p:cNvGrpSpPr/>
          <p:nvPr/>
        </p:nvGrpSpPr>
        <p:grpSpPr bwMode="auto">
          <a:xfrm>
            <a:off x="1792727" y="4119885"/>
            <a:ext cx="841456" cy="101715"/>
            <a:chOff x="1344" y="912"/>
            <a:chExt cx="672" cy="96"/>
          </a:xfrm>
          <a:solidFill>
            <a:srgbClr val="FF0000"/>
          </a:solidFill>
        </p:grpSpPr>
        <p:sp>
          <p:nvSpPr>
            <p:cNvPr id="126" name="Line 35"/>
            <p:cNvSpPr>
              <a:spLocks noChangeShapeType="1"/>
            </p:cNvSpPr>
            <p:nvPr/>
          </p:nvSpPr>
          <p:spPr bwMode="auto">
            <a:xfrm>
              <a:off x="1344" y="960"/>
              <a:ext cx="672" cy="0"/>
            </a:xfrm>
            <a:prstGeom prst="line">
              <a:avLst/>
            </a:prstGeom>
            <a:grpFill/>
            <a:ln w="12700">
              <a:no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sp>
          <p:nvSpPr>
            <p:cNvPr id="127" name="Freeform 36"/>
            <p:cNvSpPr/>
            <p:nvPr/>
          </p:nvSpPr>
          <p:spPr bwMode="auto">
            <a:xfrm>
              <a:off x="1392" y="912"/>
              <a:ext cx="576" cy="96"/>
            </a:xfrm>
            <a:custGeom>
              <a:avLst/>
              <a:gdLst>
                <a:gd name="T0" fmla="*/ 0 w 576"/>
                <a:gd name="T1" fmla="*/ 96 h 192"/>
                <a:gd name="T2" fmla="*/ 0 w 576"/>
                <a:gd name="T3" fmla="*/ 0 h 192"/>
                <a:gd name="T4" fmla="*/ 192 w 576"/>
                <a:gd name="T5" fmla="*/ 0 h 192"/>
                <a:gd name="T6" fmla="*/ 192 w 576"/>
                <a:gd name="T7" fmla="*/ 192 h 192"/>
                <a:gd name="T8" fmla="*/ 288 w 576"/>
                <a:gd name="T9" fmla="*/ 192 h 192"/>
                <a:gd name="T10" fmla="*/ 288 w 576"/>
                <a:gd name="T11" fmla="*/ 0 h 192"/>
                <a:gd name="T12" fmla="*/ 336 w 576"/>
                <a:gd name="T13" fmla="*/ 0 h 192"/>
                <a:gd name="T14" fmla="*/ 336 w 576"/>
                <a:gd name="T15" fmla="*/ 192 h 192"/>
                <a:gd name="T16" fmla="*/ 480 w 576"/>
                <a:gd name="T17" fmla="*/ 192 h 192"/>
                <a:gd name="T18" fmla="*/ 480 w 576"/>
                <a:gd name="T19" fmla="*/ 0 h 192"/>
                <a:gd name="T20" fmla="*/ 576 w 576"/>
                <a:gd name="T21" fmla="*/ 0 h 192"/>
                <a:gd name="T22" fmla="*/ 576 w 576"/>
                <a:gd name="T23" fmla="*/ 96 h 192"/>
                <a:gd name="T24" fmla="*/ 0 w 576"/>
                <a:gd name="T25" fmla="*/ 96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6" h="192">
                  <a:moveTo>
                    <a:pt x="0" y="96"/>
                  </a:moveTo>
                  <a:lnTo>
                    <a:pt x="0" y="0"/>
                  </a:lnTo>
                  <a:lnTo>
                    <a:pt x="192" y="0"/>
                  </a:lnTo>
                  <a:lnTo>
                    <a:pt x="192" y="192"/>
                  </a:lnTo>
                  <a:lnTo>
                    <a:pt x="288" y="192"/>
                  </a:lnTo>
                  <a:lnTo>
                    <a:pt x="288" y="0"/>
                  </a:lnTo>
                  <a:lnTo>
                    <a:pt x="336" y="0"/>
                  </a:lnTo>
                  <a:lnTo>
                    <a:pt x="336" y="192"/>
                  </a:lnTo>
                  <a:lnTo>
                    <a:pt x="480" y="192"/>
                  </a:lnTo>
                  <a:lnTo>
                    <a:pt x="480" y="0"/>
                  </a:lnTo>
                  <a:lnTo>
                    <a:pt x="576" y="0"/>
                  </a:lnTo>
                  <a:lnTo>
                    <a:pt x="576" y="96"/>
                  </a:lnTo>
                  <a:lnTo>
                    <a:pt x="0" y="96"/>
                  </a:lnTo>
                  <a:close/>
                </a:path>
              </a:pathLst>
            </a:custGeom>
            <a:grpFill/>
            <a:ln w="12700" cap="flat" cmpd="sng">
              <a:noFill/>
              <a:prstDash val="solid"/>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grpSp>
      <p:sp>
        <p:nvSpPr>
          <p:cNvPr id="2" name="标题 1">
            <a:extLst>
              <a:ext uri="{FF2B5EF4-FFF2-40B4-BE49-F238E27FC236}">
                <a16:creationId xmlns:a16="http://schemas.microsoft.com/office/drawing/2014/main" id="{744D87AC-D75B-20E7-1E3F-6982E36509AD}"/>
              </a:ext>
            </a:extLst>
          </p:cNvPr>
          <p:cNvSpPr>
            <a:spLocks noGrp="1"/>
          </p:cNvSpPr>
          <p:nvPr>
            <p:ph type="title"/>
          </p:nvPr>
        </p:nvSpPr>
        <p:spPr>
          <a:xfrm>
            <a:off x="612000" y="144000"/>
            <a:ext cx="7920000" cy="341632"/>
          </a:xfrm>
        </p:spPr>
        <p:txBody>
          <a:bodyPr/>
          <a:lstStyle/>
          <a:p>
            <a:r>
              <a:rPr lang="zh-CN" altLang="en-US" dirty="0"/>
              <a:t>数据在各层之间的传递过程</a:t>
            </a:r>
          </a:p>
        </p:txBody>
      </p:sp>
      <p:grpSp>
        <p:nvGrpSpPr>
          <p:cNvPr id="113" name="组合 112">
            <a:extLst>
              <a:ext uri="{FF2B5EF4-FFF2-40B4-BE49-F238E27FC236}">
                <a16:creationId xmlns:a16="http://schemas.microsoft.com/office/drawing/2014/main" id="{85439FD1-C978-B9A7-3A51-1EE1D05BF1BA}"/>
              </a:ext>
            </a:extLst>
          </p:cNvPr>
          <p:cNvGrpSpPr/>
          <p:nvPr/>
        </p:nvGrpSpPr>
        <p:grpSpPr>
          <a:xfrm>
            <a:off x="3960000" y="2808000"/>
            <a:ext cx="1080000" cy="1080000"/>
            <a:chOff x="2807995" y="2745746"/>
            <a:chExt cx="1080000" cy="1080000"/>
          </a:xfrm>
        </p:grpSpPr>
        <p:sp>
          <p:nvSpPr>
            <p:cNvPr id="114" name="立方体 113">
              <a:extLst>
                <a:ext uri="{FF2B5EF4-FFF2-40B4-BE49-F238E27FC236}">
                  <a16:creationId xmlns:a16="http://schemas.microsoft.com/office/drawing/2014/main" id="{6B88DE2D-D09F-275E-02B1-D3563CBDE4A7}"/>
                </a:ext>
              </a:extLst>
            </p:cNvPr>
            <p:cNvSpPr/>
            <p:nvPr/>
          </p:nvSpPr>
          <p:spPr>
            <a:xfrm>
              <a:off x="2807995" y="3393746"/>
              <a:ext cx="594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sz="1050" dirty="0">
                  <a:solidFill>
                    <a:schemeClr val="bg1"/>
                  </a:solidFill>
                </a:rPr>
                <a:t>1</a:t>
              </a:r>
              <a:endParaRPr lang="zh-CN" altLang="en-US" sz="1050" dirty="0">
                <a:solidFill>
                  <a:schemeClr val="bg1"/>
                </a:solidFill>
              </a:endParaRPr>
            </a:p>
          </p:txBody>
        </p:sp>
        <p:sp>
          <p:nvSpPr>
            <p:cNvPr id="115" name="立方体 114">
              <a:extLst>
                <a:ext uri="{FF2B5EF4-FFF2-40B4-BE49-F238E27FC236}">
                  <a16:creationId xmlns:a16="http://schemas.microsoft.com/office/drawing/2014/main" id="{8880A67F-299B-645C-7B38-D7E43C6C544E}"/>
                </a:ext>
              </a:extLst>
            </p:cNvPr>
            <p:cNvSpPr/>
            <p:nvPr/>
          </p:nvSpPr>
          <p:spPr>
            <a:xfrm>
              <a:off x="2807995" y="3069746"/>
              <a:ext cx="594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sz="1050" dirty="0">
                  <a:solidFill>
                    <a:schemeClr val="bg1"/>
                  </a:solidFill>
                </a:rPr>
                <a:t>2</a:t>
              </a:r>
              <a:endParaRPr lang="zh-CN" altLang="en-US" sz="1050" dirty="0">
                <a:solidFill>
                  <a:schemeClr val="bg1"/>
                </a:solidFill>
              </a:endParaRPr>
            </a:p>
          </p:txBody>
        </p:sp>
        <p:sp>
          <p:nvSpPr>
            <p:cNvPr id="116" name="立方体 115">
              <a:extLst>
                <a:ext uri="{FF2B5EF4-FFF2-40B4-BE49-F238E27FC236}">
                  <a16:creationId xmlns:a16="http://schemas.microsoft.com/office/drawing/2014/main" id="{BBBDEE8C-C4FF-CBAA-04D8-86EC8FCCBCEC}"/>
                </a:ext>
              </a:extLst>
            </p:cNvPr>
            <p:cNvSpPr/>
            <p:nvPr/>
          </p:nvSpPr>
          <p:spPr>
            <a:xfrm>
              <a:off x="3293995" y="3393746"/>
              <a:ext cx="594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sz="1050" dirty="0">
                  <a:solidFill>
                    <a:schemeClr val="bg1"/>
                  </a:solidFill>
                </a:rPr>
                <a:t>1</a:t>
              </a:r>
              <a:endParaRPr lang="zh-CN" altLang="en-US" sz="1050" dirty="0">
                <a:solidFill>
                  <a:schemeClr val="bg1"/>
                </a:solidFill>
              </a:endParaRPr>
            </a:p>
          </p:txBody>
        </p:sp>
        <p:sp>
          <p:nvSpPr>
            <p:cNvPr id="117" name="立方体 116">
              <a:extLst>
                <a:ext uri="{FF2B5EF4-FFF2-40B4-BE49-F238E27FC236}">
                  <a16:creationId xmlns:a16="http://schemas.microsoft.com/office/drawing/2014/main" id="{A8E41C9A-7DF7-639E-AAB2-5D487DC6D35D}"/>
                </a:ext>
              </a:extLst>
            </p:cNvPr>
            <p:cNvSpPr/>
            <p:nvPr/>
          </p:nvSpPr>
          <p:spPr>
            <a:xfrm>
              <a:off x="3293995" y="3069746"/>
              <a:ext cx="594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sz="1050" dirty="0">
                  <a:solidFill>
                    <a:schemeClr val="bg1"/>
                  </a:solidFill>
                </a:rPr>
                <a:t>2</a:t>
              </a:r>
              <a:endParaRPr lang="zh-CN" altLang="en-US" sz="1050" dirty="0">
                <a:solidFill>
                  <a:schemeClr val="bg1"/>
                </a:solidFill>
              </a:endParaRPr>
            </a:p>
          </p:txBody>
        </p:sp>
        <p:sp>
          <p:nvSpPr>
            <p:cNvPr id="118" name="立方体 117">
              <a:extLst>
                <a:ext uri="{FF2B5EF4-FFF2-40B4-BE49-F238E27FC236}">
                  <a16:creationId xmlns:a16="http://schemas.microsoft.com/office/drawing/2014/main" id="{6E377401-053C-6930-D588-FCF7A9EE5CC5}"/>
                </a:ext>
              </a:extLst>
            </p:cNvPr>
            <p:cNvSpPr/>
            <p:nvPr/>
          </p:nvSpPr>
          <p:spPr>
            <a:xfrm>
              <a:off x="2807995" y="2745746"/>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pPr algn="ctr"/>
              <a:r>
                <a:rPr lang="en-US" altLang="zh-CN" sz="1050" dirty="0">
                  <a:solidFill>
                    <a:schemeClr val="bg1"/>
                  </a:solidFill>
                </a:rPr>
                <a:t>3</a:t>
              </a:r>
              <a:endParaRPr lang="zh-CN" altLang="en-US" sz="1050" dirty="0">
                <a:solidFill>
                  <a:schemeClr val="bg1"/>
                </a:solidFill>
              </a:endParaRPr>
            </a:p>
          </p:txBody>
        </p:sp>
      </p:grpSp>
    </p:spTree>
    <p:extLst>
      <p:ext uri="{BB962C8B-B14F-4D97-AF65-F5344CB8AC3E}">
        <p14:creationId xmlns:p14="http://schemas.microsoft.com/office/powerpoint/2010/main" val="1488850963"/>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wipe(left)">
                                      <p:cBhvr>
                                        <p:cTn id="7" dur="750"/>
                                        <p:tgtEl>
                                          <p:spTgt spid="100"/>
                                        </p:tgtEl>
                                      </p:cBhvr>
                                    </p:animEffect>
                                  </p:childTnLst>
                                </p:cTn>
                              </p:par>
                            </p:childTnLst>
                          </p:cTn>
                        </p:par>
                        <p:par>
                          <p:cTn id="8" fill="hold">
                            <p:stCondLst>
                              <p:cond delay="750"/>
                            </p:stCondLst>
                            <p:childTnLst>
                              <p:par>
                                <p:cTn id="9" presetID="22" presetClass="entr" presetSubtype="8" fill="hold" nodeType="afterEffect">
                                  <p:stCondLst>
                                    <p:cond delay="0"/>
                                  </p:stCondLst>
                                  <p:childTnLst>
                                    <p:set>
                                      <p:cBhvr>
                                        <p:cTn id="10" dur="1" fill="hold">
                                          <p:stCondLst>
                                            <p:cond delay="0"/>
                                          </p:stCondLst>
                                        </p:cTn>
                                        <p:tgtEl>
                                          <p:spTgt spid="125"/>
                                        </p:tgtEl>
                                        <p:attrNameLst>
                                          <p:attrName>style.visibility</p:attrName>
                                        </p:attrNameLst>
                                      </p:cBhvr>
                                      <p:to>
                                        <p:strVal val="visible"/>
                                      </p:to>
                                    </p:set>
                                    <p:animEffect transition="in" filter="wipe(left)">
                                      <p:cBhvr>
                                        <p:cTn id="11" dur="750"/>
                                        <p:tgtEl>
                                          <p:spTgt spid="125"/>
                                        </p:tgtEl>
                                      </p:cBhvr>
                                    </p:animEffect>
                                  </p:childTnLst>
                                </p:cTn>
                              </p:par>
                            </p:childTnLst>
                          </p:cTn>
                        </p:par>
                        <p:par>
                          <p:cTn id="12" fill="hold">
                            <p:stCondLst>
                              <p:cond delay="1500"/>
                            </p:stCondLst>
                            <p:childTnLst>
                              <p:par>
                                <p:cTn id="13" presetID="22" presetClass="entr" presetSubtype="4" fill="hold" grpId="0" nodeType="afterEffect">
                                  <p:stCondLst>
                                    <p:cond delay="0"/>
                                  </p:stCondLst>
                                  <p:childTnLst>
                                    <p:set>
                                      <p:cBhvr>
                                        <p:cTn id="14" dur="1" fill="hold">
                                          <p:stCondLst>
                                            <p:cond delay="0"/>
                                          </p:stCondLst>
                                        </p:cTn>
                                        <p:tgtEl>
                                          <p:spTgt spid="111"/>
                                        </p:tgtEl>
                                        <p:attrNameLst>
                                          <p:attrName>style.visibility</p:attrName>
                                        </p:attrNameLst>
                                      </p:cBhvr>
                                      <p:to>
                                        <p:strVal val="visible"/>
                                      </p:to>
                                    </p:set>
                                    <p:animEffect transition="in" filter="wipe(down)">
                                      <p:cBhvr>
                                        <p:cTn id="15" dur="750"/>
                                        <p:tgtEl>
                                          <p:spTgt spid="1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0" grpId="0" animBg="1"/>
      <p:bldP spid="111" grpId="0" animBg="1"/>
    </p:bldLst>
  </p:timing>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7" name="AutoShape 4">
            <a:extLst>
              <a:ext uri="{FF2B5EF4-FFF2-40B4-BE49-F238E27FC236}">
                <a16:creationId xmlns:a16="http://schemas.microsoft.com/office/drawing/2014/main" id="{52B46D5E-131C-E439-7C22-F27CF6C65A19}"/>
              </a:ext>
            </a:extLst>
          </p:cNvPr>
          <p:cNvSpPr>
            <a:spLocks noChangeArrowheads="1"/>
          </p:cNvSpPr>
          <p:nvPr/>
        </p:nvSpPr>
        <p:spPr bwMode="auto">
          <a:xfrm rot="16200000">
            <a:off x="2567190" y="2361728"/>
            <a:ext cx="271463" cy="3600000"/>
          </a:xfrm>
          <a:prstGeom prst="can">
            <a:avLst>
              <a:gd name="adj" fmla="val 48656"/>
            </a:avLst>
          </a:prstGeom>
          <a:gradFill rotWithShape="0">
            <a:gsLst>
              <a:gs pos="0">
                <a:srgbClr val="00CC00"/>
              </a:gs>
              <a:gs pos="50000">
                <a:schemeClr val="bg1"/>
              </a:gs>
              <a:gs pos="100000">
                <a:srgbClr val="00CC00"/>
              </a:gs>
            </a:gsLst>
            <a:lin ang="5400000" scaled="1"/>
          </a:gradFill>
          <a:ln w="6350">
            <a:solidFill>
              <a:srgbClr val="7CE07C"/>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159" name="AutoShape 4">
            <a:extLst>
              <a:ext uri="{FF2B5EF4-FFF2-40B4-BE49-F238E27FC236}">
                <a16:creationId xmlns:a16="http://schemas.microsoft.com/office/drawing/2014/main" id="{563A62D4-B123-7582-3B93-E7B52EDB372A}"/>
              </a:ext>
            </a:extLst>
          </p:cNvPr>
          <p:cNvSpPr>
            <a:spLocks noChangeArrowheads="1"/>
          </p:cNvSpPr>
          <p:nvPr/>
        </p:nvSpPr>
        <p:spPr bwMode="auto">
          <a:xfrm rot="16200000">
            <a:off x="6253847" y="2361728"/>
            <a:ext cx="271463" cy="3600000"/>
          </a:xfrm>
          <a:prstGeom prst="can">
            <a:avLst>
              <a:gd name="adj" fmla="val 48656"/>
            </a:avLst>
          </a:prstGeom>
          <a:gradFill rotWithShape="0">
            <a:gsLst>
              <a:gs pos="0">
                <a:srgbClr val="00CC00"/>
              </a:gs>
              <a:gs pos="50000">
                <a:schemeClr val="bg1"/>
              </a:gs>
              <a:gs pos="100000">
                <a:srgbClr val="00CC00"/>
              </a:gs>
            </a:gsLst>
            <a:lin ang="5400000" scaled="1"/>
          </a:gradFill>
          <a:ln w="6350">
            <a:solidFill>
              <a:srgbClr val="7CE07C"/>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161" name="Text Box 26">
            <a:extLst>
              <a:ext uri="{FF2B5EF4-FFF2-40B4-BE49-F238E27FC236}">
                <a16:creationId xmlns:a16="http://schemas.microsoft.com/office/drawing/2014/main" id="{264D5338-BCA2-6B39-3D19-E65670A8B8BA}"/>
              </a:ext>
            </a:extLst>
          </p:cNvPr>
          <p:cNvSpPr txBox="1">
            <a:spLocks noChangeArrowheads="1"/>
          </p:cNvSpPr>
          <p:nvPr/>
        </p:nvSpPr>
        <p:spPr bwMode="auto">
          <a:xfrm>
            <a:off x="2701348" y="4023229"/>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dirty="0">
                <a:latin typeface="+mj-lt"/>
                <a:ea typeface="+mj-ea"/>
              </a:rPr>
              <a:t>物理传输媒体</a:t>
            </a:r>
          </a:p>
        </p:txBody>
      </p:sp>
      <p:sp>
        <p:nvSpPr>
          <p:cNvPr id="163" name="Text Box 26">
            <a:extLst>
              <a:ext uri="{FF2B5EF4-FFF2-40B4-BE49-F238E27FC236}">
                <a16:creationId xmlns:a16="http://schemas.microsoft.com/office/drawing/2014/main" id="{F7502E05-52E7-6E50-7BD3-C78FD2369C0E}"/>
              </a:ext>
            </a:extLst>
          </p:cNvPr>
          <p:cNvSpPr txBox="1">
            <a:spLocks noChangeArrowheads="1"/>
          </p:cNvSpPr>
          <p:nvPr/>
        </p:nvSpPr>
        <p:spPr bwMode="auto">
          <a:xfrm>
            <a:off x="6193730" y="4023229"/>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dirty="0">
                <a:latin typeface="+mj-lt"/>
                <a:ea typeface="+mj-ea"/>
              </a:rPr>
              <a:t>物理传输媒体</a:t>
            </a:r>
          </a:p>
        </p:txBody>
      </p:sp>
      <p:grpSp>
        <p:nvGrpSpPr>
          <p:cNvPr id="85" name="组合 84">
            <a:extLst>
              <a:ext uri="{FF2B5EF4-FFF2-40B4-BE49-F238E27FC236}">
                <a16:creationId xmlns:a16="http://schemas.microsoft.com/office/drawing/2014/main" id="{D8D4EECB-9124-6B88-1F6A-195A77D77256}"/>
              </a:ext>
            </a:extLst>
          </p:cNvPr>
          <p:cNvGrpSpPr/>
          <p:nvPr/>
        </p:nvGrpSpPr>
        <p:grpSpPr>
          <a:xfrm>
            <a:off x="7395732" y="1800000"/>
            <a:ext cx="1080000" cy="2088000"/>
            <a:chOff x="701211" y="1800000"/>
            <a:chExt cx="1080000" cy="2088000"/>
          </a:xfrm>
        </p:grpSpPr>
        <p:sp>
          <p:nvSpPr>
            <p:cNvPr id="86" name="立方体 85">
              <a:extLst>
                <a:ext uri="{FF2B5EF4-FFF2-40B4-BE49-F238E27FC236}">
                  <a16:creationId xmlns:a16="http://schemas.microsoft.com/office/drawing/2014/main" id="{458A2B0B-9506-82A6-0E1D-2DC410D9786D}"/>
                </a:ext>
              </a:extLst>
            </p:cNvPr>
            <p:cNvSpPr/>
            <p:nvPr/>
          </p:nvSpPr>
          <p:spPr>
            <a:xfrm>
              <a:off x="701211" y="3456000"/>
              <a:ext cx="108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050" dirty="0">
                  <a:solidFill>
                    <a:schemeClr val="bg1"/>
                  </a:solidFill>
                </a:rPr>
                <a:t>1 </a:t>
              </a:r>
              <a:r>
                <a:rPr lang="zh-CN" altLang="en-US" sz="1050" dirty="0">
                  <a:solidFill>
                    <a:schemeClr val="bg1"/>
                  </a:solidFill>
                </a:rPr>
                <a:t>物理层</a:t>
              </a:r>
            </a:p>
          </p:txBody>
        </p:sp>
        <p:sp>
          <p:nvSpPr>
            <p:cNvPr id="87" name="立方体 86">
              <a:extLst>
                <a:ext uri="{FF2B5EF4-FFF2-40B4-BE49-F238E27FC236}">
                  <a16:creationId xmlns:a16="http://schemas.microsoft.com/office/drawing/2014/main" id="{8F9626E8-9735-C0AF-D767-06BA50A44176}"/>
                </a:ext>
              </a:extLst>
            </p:cNvPr>
            <p:cNvSpPr/>
            <p:nvPr/>
          </p:nvSpPr>
          <p:spPr>
            <a:xfrm>
              <a:off x="701211" y="3132000"/>
              <a:ext cx="108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050" dirty="0">
                  <a:solidFill>
                    <a:schemeClr val="bg1"/>
                  </a:solidFill>
                </a:rPr>
                <a:t>2 </a:t>
              </a:r>
              <a:r>
                <a:rPr lang="zh-CN" altLang="en-US" sz="1050" dirty="0">
                  <a:solidFill>
                    <a:schemeClr val="bg1"/>
                  </a:solidFill>
                </a:rPr>
                <a:t>数据链路层</a:t>
              </a:r>
            </a:p>
          </p:txBody>
        </p:sp>
        <p:sp>
          <p:nvSpPr>
            <p:cNvPr id="89" name="立方体 88">
              <a:extLst>
                <a:ext uri="{FF2B5EF4-FFF2-40B4-BE49-F238E27FC236}">
                  <a16:creationId xmlns:a16="http://schemas.microsoft.com/office/drawing/2014/main" id="{C01AFE67-8318-5C38-75EB-E0827BB89BF7}"/>
                </a:ext>
              </a:extLst>
            </p:cNvPr>
            <p:cNvSpPr/>
            <p:nvPr/>
          </p:nvSpPr>
          <p:spPr>
            <a:xfrm>
              <a:off x="701211" y="2808000"/>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050" dirty="0">
                  <a:solidFill>
                    <a:schemeClr val="bg1"/>
                  </a:solidFill>
                </a:rPr>
                <a:t>3 </a:t>
              </a:r>
              <a:r>
                <a:rPr lang="zh-CN" altLang="en-US" sz="1050" dirty="0">
                  <a:solidFill>
                    <a:schemeClr val="bg1"/>
                  </a:solidFill>
                </a:rPr>
                <a:t>网络层</a:t>
              </a:r>
            </a:p>
          </p:txBody>
        </p:sp>
        <p:sp>
          <p:nvSpPr>
            <p:cNvPr id="90" name="立方体 89">
              <a:extLst>
                <a:ext uri="{FF2B5EF4-FFF2-40B4-BE49-F238E27FC236}">
                  <a16:creationId xmlns:a16="http://schemas.microsoft.com/office/drawing/2014/main" id="{1AC80D0A-3D36-DD77-B4DA-0ABF00A0407E}"/>
                </a:ext>
              </a:extLst>
            </p:cNvPr>
            <p:cNvSpPr/>
            <p:nvPr/>
          </p:nvSpPr>
          <p:spPr>
            <a:xfrm>
              <a:off x="701211" y="2484000"/>
              <a:ext cx="108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050" dirty="0">
                  <a:solidFill>
                    <a:schemeClr val="bg1"/>
                  </a:solidFill>
                </a:rPr>
                <a:t>4 </a:t>
              </a:r>
              <a:r>
                <a:rPr lang="zh-CN" altLang="en-US" sz="1050" dirty="0">
                  <a:solidFill>
                    <a:schemeClr val="bg1"/>
                  </a:solidFill>
                </a:rPr>
                <a:t>运输层</a:t>
              </a:r>
            </a:p>
          </p:txBody>
        </p:sp>
        <p:sp>
          <p:nvSpPr>
            <p:cNvPr id="91" name="立方体 90">
              <a:extLst>
                <a:ext uri="{FF2B5EF4-FFF2-40B4-BE49-F238E27FC236}">
                  <a16:creationId xmlns:a16="http://schemas.microsoft.com/office/drawing/2014/main" id="{79DBF8C0-DDE2-3210-C64E-386DDD03B1FA}"/>
                </a:ext>
              </a:extLst>
            </p:cNvPr>
            <p:cNvSpPr/>
            <p:nvPr/>
          </p:nvSpPr>
          <p:spPr>
            <a:xfrm>
              <a:off x="701211" y="2160000"/>
              <a:ext cx="108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050" dirty="0">
                  <a:solidFill>
                    <a:schemeClr val="bg1"/>
                  </a:solidFill>
                </a:rPr>
                <a:t>5 </a:t>
              </a:r>
              <a:r>
                <a:rPr lang="zh-CN" altLang="en-US" sz="1050" dirty="0">
                  <a:solidFill>
                    <a:schemeClr val="bg1"/>
                  </a:solidFill>
                </a:rPr>
                <a:t>应用层</a:t>
              </a:r>
            </a:p>
          </p:txBody>
        </p:sp>
        <p:sp>
          <p:nvSpPr>
            <p:cNvPr id="92" name="圆柱体 91">
              <a:extLst>
                <a:ext uri="{FF2B5EF4-FFF2-40B4-BE49-F238E27FC236}">
                  <a16:creationId xmlns:a16="http://schemas.microsoft.com/office/drawing/2014/main" id="{621798BD-D8CE-8ADA-405E-B1CDA0516ABB}"/>
                </a:ext>
              </a:extLst>
            </p:cNvPr>
            <p:cNvSpPr/>
            <p:nvPr/>
          </p:nvSpPr>
          <p:spPr>
            <a:xfrm>
              <a:off x="953211" y="1800000"/>
              <a:ext cx="576000" cy="360000"/>
            </a:xfrm>
            <a:prstGeom prst="can">
              <a:avLst/>
            </a:prstGeom>
            <a:solidFill>
              <a:srgbClr val="FFFF00"/>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000" dirty="0">
                  <a:solidFill>
                    <a:sysClr val="windowText" lastClr="000000"/>
                  </a:solidFill>
                </a:rPr>
                <a:t>AP1</a:t>
              </a:r>
              <a:endParaRPr lang="zh-CN" altLang="en-US" sz="1000" dirty="0">
                <a:solidFill>
                  <a:sysClr val="windowText" lastClr="000000"/>
                </a:solidFill>
              </a:endParaRPr>
            </a:p>
          </p:txBody>
        </p:sp>
      </p:grpSp>
      <p:grpSp>
        <p:nvGrpSpPr>
          <p:cNvPr id="93" name="组合 92">
            <a:extLst>
              <a:ext uri="{FF2B5EF4-FFF2-40B4-BE49-F238E27FC236}">
                <a16:creationId xmlns:a16="http://schemas.microsoft.com/office/drawing/2014/main" id="{86260840-4489-9650-E614-D0924E8E645F}"/>
              </a:ext>
            </a:extLst>
          </p:cNvPr>
          <p:cNvGrpSpPr/>
          <p:nvPr/>
        </p:nvGrpSpPr>
        <p:grpSpPr>
          <a:xfrm>
            <a:off x="701211" y="1800000"/>
            <a:ext cx="1080000" cy="2088000"/>
            <a:chOff x="701211" y="1800000"/>
            <a:chExt cx="1080000" cy="2088000"/>
          </a:xfrm>
        </p:grpSpPr>
        <p:sp>
          <p:nvSpPr>
            <p:cNvPr id="94" name="立方体 93">
              <a:extLst>
                <a:ext uri="{FF2B5EF4-FFF2-40B4-BE49-F238E27FC236}">
                  <a16:creationId xmlns:a16="http://schemas.microsoft.com/office/drawing/2014/main" id="{3B0C2350-F409-42F8-11B4-C84E443BDC6B}"/>
                </a:ext>
              </a:extLst>
            </p:cNvPr>
            <p:cNvSpPr/>
            <p:nvPr/>
          </p:nvSpPr>
          <p:spPr>
            <a:xfrm>
              <a:off x="701211" y="3456000"/>
              <a:ext cx="108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050" dirty="0">
                  <a:solidFill>
                    <a:schemeClr val="bg1"/>
                  </a:solidFill>
                </a:rPr>
                <a:t>1 </a:t>
              </a:r>
              <a:r>
                <a:rPr lang="zh-CN" altLang="en-US" sz="1050" dirty="0">
                  <a:solidFill>
                    <a:schemeClr val="bg1"/>
                  </a:solidFill>
                </a:rPr>
                <a:t>物理层</a:t>
              </a:r>
            </a:p>
          </p:txBody>
        </p:sp>
        <p:sp>
          <p:nvSpPr>
            <p:cNvPr id="96" name="立方体 95">
              <a:extLst>
                <a:ext uri="{FF2B5EF4-FFF2-40B4-BE49-F238E27FC236}">
                  <a16:creationId xmlns:a16="http://schemas.microsoft.com/office/drawing/2014/main" id="{78F49941-CE25-9706-2541-8920FB30A39D}"/>
                </a:ext>
              </a:extLst>
            </p:cNvPr>
            <p:cNvSpPr/>
            <p:nvPr/>
          </p:nvSpPr>
          <p:spPr>
            <a:xfrm>
              <a:off x="701211" y="3132000"/>
              <a:ext cx="108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050" dirty="0">
                  <a:solidFill>
                    <a:schemeClr val="bg1"/>
                  </a:solidFill>
                </a:rPr>
                <a:t>2 </a:t>
              </a:r>
              <a:r>
                <a:rPr lang="zh-CN" altLang="en-US" sz="1050" dirty="0">
                  <a:solidFill>
                    <a:schemeClr val="bg1"/>
                  </a:solidFill>
                </a:rPr>
                <a:t>数据链路层</a:t>
              </a:r>
            </a:p>
          </p:txBody>
        </p:sp>
        <p:sp>
          <p:nvSpPr>
            <p:cNvPr id="98" name="立方体 97">
              <a:extLst>
                <a:ext uri="{FF2B5EF4-FFF2-40B4-BE49-F238E27FC236}">
                  <a16:creationId xmlns:a16="http://schemas.microsoft.com/office/drawing/2014/main" id="{AC18455D-022C-B5BF-B185-87C0B4AFF50F}"/>
                </a:ext>
              </a:extLst>
            </p:cNvPr>
            <p:cNvSpPr/>
            <p:nvPr/>
          </p:nvSpPr>
          <p:spPr>
            <a:xfrm>
              <a:off x="701211" y="2808000"/>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050" dirty="0">
                  <a:solidFill>
                    <a:schemeClr val="bg1"/>
                  </a:solidFill>
                </a:rPr>
                <a:t>3 </a:t>
              </a:r>
              <a:r>
                <a:rPr lang="zh-CN" altLang="en-US" sz="1050" dirty="0">
                  <a:solidFill>
                    <a:schemeClr val="bg1"/>
                  </a:solidFill>
                </a:rPr>
                <a:t>网络层</a:t>
              </a:r>
            </a:p>
          </p:txBody>
        </p:sp>
        <p:sp>
          <p:nvSpPr>
            <p:cNvPr id="101" name="立方体 100">
              <a:extLst>
                <a:ext uri="{FF2B5EF4-FFF2-40B4-BE49-F238E27FC236}">
                  <a16:creationId xmlns:a16="http://schemas.microsoft.com/office/drawing/2014/main" id="{F7166259-E87F-91F9-2FCC-65B69D4CA7C3}"/>
                </a:ext>
              </a:extLst>
            </p:cNvPr>
            <p:cNvSpPr/>
            <p:nvPr/>
          </p:nvSpPr>
          <p:spPr>
            <a:xfrm>
              <a:off x="701211" y="2484000"/>
              <a:ext cx="108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050" dirty="0">
                  <a:solidFill>
                    <a:schemeClr val="bg1"/>
                  </a:solidFill>
                </a:rPr>
                <a:t>4 </a:t>
              </a:r>
              <a:r>
                <a:rPr lang="zh-CN" altLang="en-US" sz="1050" dirty="0">
                  <a:solidFill>
                    <a:schemeClr val="bg1"/>
                  </a:solidFill>
                </a:rPr>
                <a:t>运输层</a:t>
              </a:r>
            </a:p>
          </p:txBody>
        </p:sp>
        <p:sp>
          <p:nvSpPr>
            <p:cNvPr id="102" name="立方体 101">
              <a:extLst>
                <a:ext uri="{FF2B5EF4-FFF2-40B4-BE49-F238E27FC236}">
                  <a16:creationId xmlns:a16="http://schemas.microsoft.com/office/drawing/2014/main" id="{1C6A6C58-61C8-6D52-F003-F2D944187C49}"/>
                </a:ext>
              </a:extLst>
            </p:cNvPr>
            <p:cNvSpPr/>
            <p:nvPr/>
          </p:nvSpPr>
          <p:spPr>
            <a:xfrm>
              <a:off x="701211" y="2160000"/>
              <a:ext cx="108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050" dirty="0">
                  <a:solidFill>
                    <a:schemeClr val="bg1"/>
                  </a:solidFill>
                </a:rPr>
                <a:t>5 </a:t>
              </a:r>
              <a:r>
                <a:rPr lang="zh-CN" altLang="en-US" sz="1050" dirty="0">
                  <a:solidFill>
                    <a:schemeClr val="bg1"/>
                  </a:solidFill>
                </a:rPr>
                <a:t>应用层</a:t>
              </a:r>
            </a:p>
          </p:txBody>
        </p:sp>
        <p:sp>
          <p:nvSpPr>
            <p:cNvPr id="103" name="圆柱体 102">
              <a:extLst>
                <a:ext uri="{FF2B5EF4-FFF2-40B4-BE49-F238E27FC236}">
                  <a16:creationId xmlns:a16="http://schemas.microsoft.com/office/drawing/2014/main" id="{700A8558-B558-202C-552D-63E8ED4E9B1C}"/>
                </a:ext>
              </a:extLst>
            </p:cNvPr>
            <p:cNvSpPr/>
            <p:nvPr/>
          </p:nvSpPr>
          <p:spPr>
            <a:xfrm>
              <a:off x="953211" y="1800000"/>
              <a:ext cx="576000" cy="360000"/>
            </a:xfrm>
            <a:prstGeom prst="can">
              <a:avLst/>
            </a:prstGeom>
            <a:solidFill>
              <a:srgbClr val="FFFF00"/>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000" dirty="0">
                  <a:solidFill>
                    <a:sysClr val="windowText" lastClr="000000"/>
                  </a:solidFill>
                </a:rPr>
                <a:t>AP1</a:t>
              </a:r>
              <a:endParaRPr lang="zh-CN" altLang="en-US" sz="1000" dirty="0">
                <a:solidFill>
                  <a:sysClr val="windowText" lastClr="000000"/>
                </a:solidFill>
              </a:endParaRPr>
            </a:p>
          </p:txBody>
        </p:sp>
      </p:grpSp>
      <p:sp>
        <p:nvSpPr>
          <p:cNvPr id="25" name="Text Box 29"/>
          <p:cNvSpPr txBox="1">
            <a:spLocks noChangeArrowheads="1"/>
          </p:cNvSpPr>
          <p:nvPr/>
        </p:nvSpPr>
        <p:spPr bwMode="auto">
          <a:xfrm>
            <a:off x="110689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1</a:t>
            </a:r>
          </a:p>
        </p:txBody>
      </p:sp>
      <p:sp>
        <p:nvSpPr>
          <p:cNvPr id="38" name="Text Box 29"/>
          <p:cNvSpPr txBox="1">
            <a:spLocks noChangeArrowheads="1"/>
          </p:cNvSpPr>
          <p:nvPr/>
        </p:nvSpPr>
        <p:spPr bwMode="auto">
          <a:xfrm>
            <a:off x="736975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2</a:t>
            </a:r>
          </a:p>
        </p:txBody>
      </p:sp>
      <p:sp>
        <p:nvSpPr>
          <p:cNvPr id="39" name="Text Box 29"/>
          <p:cNvSpPr txBox="1">
            <a:spLocks noChangeArrowheads="1"/>
          </p:cNvSpPr>
          <p:nvPr/>
        </p:nvSpPr>
        <p:spPr bwMode="auto">
          <a:xfrm>
            <a:off x="4160212" y="107510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路由器</a:t>
            </a:r>
            <a:endParaRPr kumimoji="1" lang="en-US" altLang="zh-CN" sz="1200" b="1" dirty="0">
              <a:solidFill>
                <a:srgbClr val="0000FF"/>
              </a:solidFill>
              <a:latin typeface="微软雅黑" panose="020B0503020204020204" pitchFamily="34" charset="-122"/>
              <a:ea typeface="微软雅黑" panose="020B0503020204020204" pitchFamily="34" charset="-122"/>
            </a:endParaRPr>
          </a:p>
        </p:txBody>
      </p:sp>
      <p:cxnSp>
        <p:nvCxnSpPr>
          <p:cNvPr id="69" name="直接连接符 68"/>
          <p:cNvCxnSpPr/>
          <p:nvPr/>
        </p:nvCxnSpPr>
        <p:spPr>
          <a:xfrm>
            <a:off x="1418143" y="1507958"/>
            <a:ext cx="6306131" cy="0"/>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pic>
        <p:nvPicPr>
          <p:cNvPr id="36"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486661" y="1312469"/>
            <a:ext cx="410222"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7"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202308" y="1312469"/>
            <a:ext cx="410223"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140" name="直接箭头连接符 139"/>
          <p:cNvCxnSpPr/>
          <p:nvPr/>
        </p:nvCxnSpPr>
        <p:spPr>
          <a:xfrm>
            <a:off x="1561619" y="1428166"/>
            <a:ext cx="5941518" cy="0"/>
          </a:xfrm>
          <a:prstGeom prst="straightConnector1">
            <a:avLst/>
          </a:prstGeom>
          <a:ln w="28575">
            <a:solidFill>
              <a:srgbClr val="CC00CC"/>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35"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54124" y="1385466"/>
            <a:ext cx="454438" cy="2643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73" name="AutoShape 51"/>
          <p:cNvSpPr>
            <a:spLocks noChangeArrowheads="1"/>
          </p:cNvSpPr>
          <p:nvPr/>
        </p:nvSpPr>
        <p:spPr bwMode="auto">
          <a:xfrm flipV="1">
            <a:off x="1237476" y="2076244"/>
            <a:ext cx="145966" cy="205414"/>
          </a:xfrm>
          <a:prstGeom prst="upArrow">
            <a:avLst>
              <a:gd name="adj1" fmla="val 50000"/>
              <a:gd name="adj2" fmla="val 45968"/>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88" name="AutoShape 54"/>
          <p:cNvSpPr>
            <a:spLocks noChangeArrowheads="1"/>
          </p:cNvSpPr>
          <p:nvPr/>
        </p:nvSpPr>
        <p:spPr bwMode="auto">
          <a:xfrm rot="10800000">
            <a:off x="1237478" y="2439149"/>
            <a:ext cx="147144" cy="221279"/>
          </a:xfrm>
          <a:prstGeom prst="upArrow">
            <a:avLst>
              <a:gd name="adj1" fmla="val 50000"/>
              <a:gd name="adj2" fmla="val 498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5" name="AutoShape 57"/>
          <p:cNvSpPr>
            <a:spLocks noChangeArrowheads="1"/>
          </p:cNvSpPr>
          <p:nvPr/>
        </p:nvSpPr>
        <p:spPr bwMode="auto">
          <a:xfrm rot="10800000">
            <a:off x="1235122" y="2826328"/>
            <a:ext cx="148321" cy="222762"/>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07" name="AutoShape 57"/>
          <p:cNvSpPr>
            <a:spLocks noChangeArrowheads="1"/>
          </p:cNvSpPr>
          <p:nvPr/>
        </p:nvSpPr>
        <p:spPr bwMode="auto">
          <a:xfrm rot="10800000">
            <a:off x="1226181" y="3198896"/>
            <a:ext cx="156561" cy="213191"/>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19" name="AutoShape 63"/>
          <p:cNvSpPr>
            <a:spLocks noChangeArrowheads="1"/>
          </p:cNvSpPr>
          <p:nvPr/>
        </p:nvSpPr>
        <p:spPr bwMode="auto">
          <a:xfrm rot="10800000">
            <a:off x="1226181" y="3567260"/>
            <a:ext cx="165978" cy="238153"/>
          </a:xfrm>
          <a:prstGeom prst="upArrow">
            <a:avLst>
              <a:gd name="adj1" fmla="val 50000"/>
              <a:gd name="adj2" fmla="val 50403"/>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00" name="AutoShape 25"/>
          <p:cNvSpPr>
            <a:spLocks noChangeArrowheads="1"/>
          </p:cNvSpPr>
          <p:nvPr/>
        </p:nvSpPr>
        <p:spPr bwMode="auto">
          <a:xfrm flipV="1">
            <a:off x="1266066" y="3955320"/>
            <a:ext cx="263283" cy="281183"/>
          </a:xfrm>
          <a:custGeom>
            <a:avLst/>
            <a:gdLst>
              <a:gd name="T0" fmla="*/ 218339 w 21600"/>
              <a:gd name="T1" fmla="*/ 0 h 21600"/>
              <a:gd name="T2" fmla="*/ 218339 w 21600"/>
              <a:gd name="T3" fmla="*/ 171757 h 21600"/>
              <a:gd name="T4" fmla="*/ 46725 w 21600"/>
              <a:gd name="T5" fmla="*/ 305144 h 21600"/>
              <a:gd name="T6" fmla="*/ 311789 w 21600"/>
              <a:gd name="T7" fmla="*/ 85878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11" name="AutoShape 42"/>
          <p:cNvSpPr>
            <a:spLocks noChangeArrowheads="1"/>
          </p:cNvSpPr>
          <p:nvPr/>
        </p:nvSpPr>
        <p:spPr bwMode="auto">
          <a:xfrm rot="5400000" flipH="1">
            <a:off x="3905139" y="3932147"/>
            <a:ext cx="254669" cy="288428"/>
          </a:xfrm>
          <a:custGeom>
            <a:avLst/>
            <a:gdLst>
              <a:gd name="T0" fmla="*/ 220161 w 21600"/>
              <a:gd name="T1" fmla="*/ 0 h 21600"/>
              <a:gd name="T2" fmla="*/ 220161 w 21600"/>
              <a:gd name="T3" fmla="*/ 175497 h 21600"/>
              <a:gd name="T4" fmla="*/ 47115 w 21600"/>
              <a:gd name="T5" fmla="*/ 311790 h 21600"/>
              <a:gd name="T6" fmla="*/ 314391 w 21600"/>
              <a:gd name="T7" fmla="*/ 87749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nvGrpSpPr>
          <p:cNvPr id="125" name="Group 34"/>
          <p:cNvGrpSpPr/>
          <p:nvPr/>
        </p:nvGrpSpPr>
        <p:grpSpPr bwMode="auto">
          <a:xfrm>
            <a:off x="1792727" y="4119885"/>
            <a:ext cx="841456" cy="101715"/>
            <a:chOff x="1344" y="912"/>
            <a:chExt cx="672" cy="96"/>
          </a:xfrm>
          <a:solidFill>
            <a:srgbClr val="FF0000"/>
          </a:solidFill>
        </p:grpSpPr>
        <p:sp>
          <p:nvSpPr>
            <p:cNvPr id="126" name="Line 35"/>
            <p:cNvSpPr>
              <a:spLocks noChangeShapeType="1"/>
            </p:cNvSpPr>
            <p:nvPr/>
          </p:nvSpPr>
          <p:spPr bwMode="auto">
            <a:xfrm>
              <a:off x="1344" y="960"/>
              <a:ext cx="672" cy="0"/>
            </a:xfrm>
            <a:prstGeom prst="line">
              <a:avLst/>
            </a:prstGeom>
            <a:grpFill/>
            <a:ln w="12700">
              <a:no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sp>
          <p:nvSpPr>
            <p:cNvPr id="127" name="Freeform 36"/>
            <p:cNvSpPr/>
            <p:nvPr/>
          </p:nvSpPr>
          <p:spPr bwMode="auto">
            <a:xfrm>
              <a:off x="1392" y="912"/>
              <a:ext cx="576" cy="96"/>
            </a:xfrm>
            <a:custGeom>
              <a:avLst/>
              <a:gdLst>
                <a:gd name="T0" fmla="*/ 0 w 576"/>
                <a:gd name="T1" fmla="*/ 96 h 192"/>
                <a:gd name="T2" fmla="*/ 0 w 576"/>
                <a:gd name="T3" fmla="*/ 0 h 192"/>
                <a:gd name="T4" fmla="*/ 192 w 576"/>
                <a:gd name="T5" fmla="*/ 0 h 192"/>
                <a:gd name="T6" fmla="*/ 192 w 576"/>
                <a:gd name="T7" fmla="*/ 192 h 192"/>
                <a:gd name="T8" fmla="*/ 288 w 576"/>
                <a:gd name="T9" fmla="*/ 192 h 192"/>
                <a:gd name="T10" fmla="*/ 288 w 576"/>
                <a:gd name="T11" fmla="*/ 0 h 192"/>
                <a:gd name="T12" fmla="*/ 336 w 576"/>
                <a:gd name="T13" fmla="*/ 0 h 192"/>
                <a:gd name="T14" fmla="*/ 336 w 576"/>
                <a:gd name="T15" fmla="*/ 192 h 192"/>
                <a:gd name="T16" fmla="*/ 480 w 576"/>
                <a:gd name="T17" fmla="*/ 192 h 192"/>
                <a:gd name="T18" fmla="*/ 480 w 576"/>
                <a:gd name="T19" fmla="*/ 0 h 192"/>
                <a:gd name="T20" fmla="*/ 576 w 576"/>
                <a:gd name="T21" fmla="*/ 0 h 192"/>
                <a:gd name="T22" fmla="*/ 576 w 576"/>
                <a:gd name="T23" fmla="*/ 96 h 192"/>
                <a:gd name="T24" fmla="*/ 0 w 576"/>
                <a:gd name="T25" fmla="*/ 96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6" h="192">
                  <a:moveTo>
                    <a:pt x="0" y="96"/>
                  </a:moveTo>
                  <a:lnTo>
                    <a:pt x="0" y="0"/>
                  </a:lnTo>
                  <a:lnTo>
                    <a:pt x="192" y="0"/>
                  </a:lnTo>
                  <a:lnTo>
                    <a:pt x="192" y="192"/>
                  </a:lnTo>
                  <a:lnTo>
                    <a:pt x="288" y="192"/>
                  </a:lnTo>
                  <a:lnTo>
                    <a:pt x="288" y="0"/>
                  </a:lnTo>
                  <a:lnTo>
                    <a:pt x="336" y="0"/>
                  </a:lnTo>
                  <a:lnTo>
                    <a:pt x="336" y="192"/>
                  </a:lnTo>
                  <a:lnTo>
                    <a:pt x="480" y="192"/>
                  </a:lnTo>
                  <a:lnTo>
                    <a:pt x="480" y="0"/>
                  </a:lnTo>
                  <a:lnTo>
                    <a:pt x="576" y="0"/>
                  </a:lnTo>
                  <a:lnTo>
                    <a:pt x="576" y="96"/>
                  </a:lnTo>
                  <a:lnTo>
                    <a:pt x="0" y="96"/>
                  </a:lnTo>
                  <a:close/>
                </a:path>
              </a:pathLst>
            </a:custGeom>
            <a:grpFill/>
            <a:ln w="12700" cap="flat" cmpd="sng">
              <a:noFill/>
              <a:prstDash val="solid"/>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grpSp>
      <p:sp>
        <p:nvSpPr>
          <p:cNvPr id="2" name="标题 1">
            <a:extLst>
              <a:ext uri="{FF2B5EF4-FFF2-40B4-BE49-F238E27FC236}">
                <a16:creationId xmlns:a16="http://schemas.microsoft.com/office/drawing/2014/main" id="{F572C8F7-60CD-4A41-2F55-D73CCF10521B}"/>
              </a:ext>
            </a:extLst>
          </p:cNvPr>
          <p:cNvSpPr>
            <a:spLocks noGrp="1"/>
          </p:cNvSpPr>
          <p:nvPr>
            <p:ph type="title"/>
          </p:nvPr>
        </p:nvSpPr>
        <p:spPr>
          <a:xfrm>
            <a:off x="612000" y="144000"/>
            <a:ext cx="7920000" cy="341632"/>
          </a:xfrm>
        </p:spPr>
        <p:txBody>
          <a:bodyPr/>
          <a:lstStyle/>
          <a:p>
            <a:r>
              <a:rPr lang="zh-CN" altLang="en-US" dirty="0"/>
              <a:t>数据在各层之间的传递过程</a:t>
            </a:r>
          </a:p>
        </p:txBody>
      </p:sp>
      <p:sp>
        <p:nvSpPr>
          <p:cNvPr id="147" name="Rectangle 35">
            <a:extLst>
              <a:ext uri="{FF2B5EF4-FFF2-40B4-BE49-F238E27FC236}">
                <a16:creationId xmlns:a16="http://schemas.microsoft.com/office/drawing/2014/main" id="{3147EA92-4B15-2D52-795E-10B3DBB5C210}"/>
              </a:ext>
            </a:extLst>
          </p:cNvPr>
          <p:cNvSpPr>
            <a:spLocks noChangeArrowheads="1"/>
          </p:cNvSpPr>
          <p:nvPr/>
        </p:nvSpPr>
        <p:spPr bwMode="auto">
          <a:xfrm>
            <a:off x="2068816" y="3671598"/>
            <a:ext cx="1598222" cy="244475"/>
          </a:xfrm>
          <a:prstGeom prst="rect">
            <a:avLst/>
          </a:prstGeom>
          <a:ln w="9525">
            <a:solidFill>
              <a:schemeClr val="tx1"/>
            </a:solidFill>
            <a:miter lim="800000"/>
          </a:ln>
        </p:spPr>
        <p:txBody>
          <a:bodyPr wrap="none" anchor="ctr"/>
          <a:lstStyle/>
          <a:p>
            <a:pPr algn="ctr"/>
            <a:r>
              <a:rPr lang="en-US" altLang="zh-CN" sz="1000" dirty="0">
                <a:solidFill>
                  <a:srgbClr val="FF0000"/>
                </a:solidFill>
                <a:latin typeface="+mj-lt"/>
                <a:ea typeface="+mj-ea"/>
              </a:rPr>
              <a:t>10100 </a:t>
            </a:r>
            <a:r>
              <a:rPr lang="zh-CN" altLang="en-US" sz="1000" dirty="0">
                <a:solidFill>
                  <a:srgbClr val="FF0000"/>
                </a:solidFill>
                <a:latin typeface="+mj-lt"/>
                <a:ea typeface="+mj-ea"/>
              </a:rPr>
              <a:t>比特流 </a:t>
            </a:r>
            <a:r>
              <a:rPr lang="en-US" altLang="zh-CN" sz="1000" dirty="0">
                <a:solidFill>
                  <a:srgbClr val="FF0000"/>
                </a:solidFill>
                <a:latin typeface="+mj-lt"/>
                <a:ea typeface="+mj-ea"/>
              </a:rPr>
              <a:t>110100</a:t>
            </a:r>
          </a:p>
        </p:txBody>
      </p:sp>
      <p:grpSp>
        <p:nvGrpSpPr>
          <p:cNvPr id="150" name="组合 149">
            <a:extLst>
              <a:ext uri="{FF2B5EF4-FFF2-40B4-BE49-F238E27FC236}">
                <a16:creationId xmlns:a16="http://schemas.microsoft.com/office/drawing/2014/main" id="{CDAF3B00-D1E9-9D31-C939-F131EB497D51}"/>
              </a:ext>
            </a:extLst>
          </p:cNvPr>
          <p:cNvGrpSpPr/>
          <p:nvPr/>
        </p:nvGrpSpPr>
        <p:grpSpPr>
          <a:xfrm>
            <a:off x="3960000" y="2808000"/>
            <a:ext cx="1080000" cy="1080000"/>
            <a:chOff x="2807995" y="2745746"/>
            <a:chExt cx="1080000" cy="1080000"/>
          </a:xfrm>
        </p:grpSpPr>
        <p:sp>
          <p:nvSpPr>
            <p:cNvPr id="151" name="立方体 150">
              <a:extLst>
                <a:ext uri="{FF2B5EF4-FFF2-40B4-BE49-F238E27FC236}">
                  <a16:creationId xmlns:a16="http://schemas.microsoft.com/office/drawing/2014/main" id="{8493F15E-624E-BF9F-82AC-EC9302DD355A}"/>
                </a:ext>
              </a:extLst>
            </p:cNvPr>
            <p:cNvSpPr/>
            <p:nvPr/>
          </p:nvSpPr>
          <p:spPr>
            <a:xfrm>
              <a:off x="2807995" y="3393746"/>
              <a:ext cx="594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sz="1050" dirty="0">
                  <a:solidFill>
                    <a:schemeClr val="bg1"/>
                  </a:solidFill>
                </a:rPr>
                <a:t>1</a:t>
              </a:r>
              <a:endParaRPr lang="zh-CN" altLang="en-US" sz="1050" dirty="0">
                <a:solidFill>
                  <a:schemeClr val="bg1"/>
                </a:solidFill>
              </a:endParaRPr>
            </a:p>
          </p:txBody>
        </p:sp>
        <p:sp>
          <p:nvSpPr>
            <p:cNvPr id="152" name="立方体 151">
              <a:extLst>
                <a:ext uri="{FF2B5EF4-FFF2-40B4-BE49-F238E27FC236}">
                  <a16:creationId xmlns:a16="http://schemas.microsoft.com/office/drawing/2014/main" id="{D7EFA08A-A24B-B222-9D1C-DE3472740EFF}"/>
                </a:ext>
              </a:extLst>
            </p:cNvPr>
            <p:cNvSpPr/>
            <p:nvPr/>
          </p:nvSpPr>
          <p:spPr>
            <a:xfrm>
              <a:off x="2807995" y="3069746"/>
              <a:ext cx="594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sz="1050" dirty="0">
                  <a:solidFill>
                    <a:schemeClr val="bg1"/>
                  </a:solidFill>
                </a:rPr>
                <a:t>2</a:t>
              </a:r>
              <a:endParaRPr lang="zh-CN" altLang="en-US" sz="1050" dirty="0">
                <a:solidFill>
                  <a:schemeClr val="bg1"/>
                </a:solidFill>
              </a:endParaRPr>
            </a:p>
          </p:txBody>
        </p:sp>
        <p:sp>
          <p:nvSpPr>
            <p:cNvPr id="153" name="立方体 152">
              <a:extLst>
                <a:ext uri="{FF2B5EF4-FFF2-40B4-BE49-F238E27FC236}">
                  <a16:creationId xmlns:a16="http://schemas.microsoft.com/office/drawing/2014/main" id="{7A07D37F-6653-0D9E-2E23-95EA16FA648B}"/>
                </a:ext>
              </a:extLst>
            </p:cNvPr>
            <p:cNvSpPr/>
            <p:nvPr/>
          </p:nvSpPr>
          <p:spPr>
            <a:xfrm>
              <a:off x="3293995" y="3393746"/>
              <a:ext cx="594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sz="1050" dirty="0">
                  <a:solidFill>
                    <a:schemeClr val="bg1"/>
                  </a:solidFill>
                </a:rPr>
                <a:t>1</a:t>
              </a:r>
              <a:endParaRPr lang="zh-CN" altLang="en-US" sz="1050" dirty="0">
                <a:solidFill>
                  <a:schemeClr val="bg1"/>
                </a:solidFill>
              </a:endParaRPr>
            </a:p>
          </p:txBody>
        </p:sp>
        <p:sp>
          <p:nvSpPr>
            <p:cNvPr id="154" name="立方体 153">
              <a:extLst>
                <a:ext uri="{FF2B5EF4-FFF2-40B4-BE49-F238E27FC236}">
                  <a16:creationId xmlns:a16="http://schemas.microsoft.com/office/drawing/2014/main" id="{A55B1BD9-3DFC-2A4A-93C0-7F12EF7BD1D2}"/>
                </a:ext>
              </a:extLst>
            </p:cNvPr>
            <p:cNvSpPr/>
            <p:nvPr/>
          </p:nvSpPr>
          <p:spPr>
            <a:xfrm>
              <a:off x="3293995" y="3069746"/>
              <a:ext cx="594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sz="1050" dirty="0">
                  <a:solidFill>
                    <a:schemeClr val="bg1"/>
                  </a:solidFill>
                </a:rPr>
                <a:t>2</a:t>
              </a:r>
              <a:endParaRPr lang="zh-CN" altLang="en-US" sz="1050" dirty="0">
                <a:solidFill>
                  <a:schemeClr val="bg1"/>
                </a:solidFill>
              </a:endParaRPr>
            </a:p>
          </p:txBody>
        </p:sp>
        <p:sp>
          <p:nvSpPr>
            <p:cNvPr id="155" name="立方体 154">
              <a:extLst>
                <a:ext uri="{FF2B5EF4-FFF2-40B4-BE49-F238E27FC236}">
                  <a16:creationId xmlns:a16="http://schemas.microsoft.com/office/drawing/2014/main" id="{8020E199-FAA2-D739-8F9D-E7580C1071D6}"/>
                </a:ext>
              </a:extLst>
            </p:cNvPr>
            <p:cNvSpPr/>
            <p:nvPr/>
          </p:nvSpPr>
          <p:spPr>
            <a:xfrm>
              <a:off x="2807995" y="2745746"/>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pPr algn="ctr"/>
              <a:r>
                <a:rPr lang="en-US" altLang="zh-CN" sz="1050" dirty="0">
                  <a:solidFill>
                    <a:schemeClr val="bg1"/>
                  </a:solidFill>
                </a:rPr>
                <a:t>3</a:t>
              </a:r>
              <a:endParaRPr lang="zh-CN" altLang="en-US" sz="1050" dirty="0">
                <a:solidFill>
                  <a:schemeClr val="bg1"/>
                </a:solidFill>
              </a:endParaRPr>
            </a:p>
          </p:txBody>
        </p:sp>
      </p:grpSp>
    </p:spTree>
    <p:extLst>
      <p:ext uri="{BB962C8B-B14F-4D97-AF65-F5344CB8AC3E}">
        <p14:creationId xmlns:p14="http://schemas.microsoft.com/office/powerpoint/2010/main" val="470172773"/>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9" name="AutoShape 4">
            <a:extLst>
              <a:ext uri="{FF2B5EF4-FFF2-40B4-BE49-F238E27FC236}">
                <a16:creationId xmlns:a16="http://schemas.microsoft.com/office/drawing/2014/main" id="{741F9640-5B7B-8471-4AAF-D4BACB7C3323}"/>
              </a:ext>
            </a:extLst>
          </p:cNvPr>
          <p:cNvSpPr>
            <a:spLocks noChangeArrowheads="1"/>
          </p:cNvSpPr>
          <p:nvPr/>
        </p:nvSpPr>
        <p:spPr bwMode="auto">
          <a:xfrm rot="16200000">
            <a:off x="2567190" y="2361728"/>
            <a:ext cx="271463" cy="3600000"/>
          </a:xfrm>
          <a:prstGeom prst="can">
            <a:avLst>
              <a:gd name="adj" fmla="val 48656"/>
            </a:avLst>
          </a:prstGeom>
          <a:gradFill rotWithShape="0">
            <a:gsLst>
              <a:gs pos="0">
                <a:srgbClr val="00CC00"/>
              </a:gs>
              <a:gs pos="50000">
                <a:schemeClr val="bg1"/>
              </a:gs>
              <a:gs pos="100000">
                <a:srgbClr val="00CC00"/>
              </a:gs>
            </a:gsLst>
            <a:lin ang="5400000" scaled="1"/>
          </a:gradFill>
          <a:ln w="6350">
            <a:solidFill>
              <a:srgbClr val="7CE07C"/>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161" name="AutoShape 4">
            <a:extLst>
              <a:ext uri="{FF2B5EF4-FFF2-40B4-BE49-F238E27FC236}">
                <a16:creationId xmlns:a16="http://schemas.microsoft.com/office/drawing/2014/main" id="{242BDC35-9C3A-2172-6F61-CA87ACA744B3}"/>
              </a:ext>
            </a:extLst>
          </p:cNvPr>
          <p:cNvSpPr>
            <a:spLocks noChangeArrowheads="1"/>
          </p:cNvSpPr>
          <p:nvPr/>
        </p:nvSpPr>
        <p:spPr bwMode="auto">
          <a:xfrm rot="16200000">
            <a:off x="6253847" y="2361728"/>
            <a:ext cx="271463" cy="3600000"/>
          </a:xfrm>
          <a:prstGeom prst="can">
            <a:avLst>
              <a:gd name="adj" fmla="val 48656"/>
            </a:avLst>
          </a:prstGeom>
          <a:gradFill rotWithShape="0">
            <a:gsLst>
              <a:gs pos="0">
                <a:srgbClr val="00CC00"/>
              </a:gs>
              <a:gs pos="50000">
                <a:schemeClr val="bg1"/>
              </a:gs>
              <a:gs pos="100000">
                <a:srgbClr val="00CC00"/>
              </a:gs>
            </a:gsLst>
            <a:lin ang="5400000" scaled="1"/>
          </a:gradFill>
          <a:ln w="6350">
            <a:solidFill>
              <a:srgbClr val="7CE07C"/>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163" name="Text Box 26">
            <a:extLst>
              <a:ext uri="{FF2B5EF4-FFF2-40B4-BE49-F238E27FC236}">
                <a16:creationId xmlns:a16="http://schemas.microsoft.com/office/drawing/2014/main" id="{D7C01418-2DAB-28CA-3B07-DC0B86DD9BC0}"/>
              </a:ext>
            </a:extLst>
          </p:cNvPr>
          <p:cNvSpPr txBox="1">
            <a:spLocks noChangeArrowheads="1"/>
          </p:cNvSpPr>
          <p:nvPr/>
        </p:nvSpPr>
        <p:spPr bwMode="auto">
          <a:xfrm>
            <a:off x="2701348" y="4023229"/>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dirty="0">
                <a:latin typeface="+mj-lt"/>
                <a:ea typeface="+mj-ea"/>
              </a:rPr>
              <a:t>物理传输媒体</a:t>
            </a:r>
          </a:p>
        </p:txBody>
      </p:sp>
      <p:sp>
        <p:nvSpPr>
          <p:cNvPr id="165" name="Text Box 26">
            <a:extLst>
              <a:ext uri="{FF2B5EF4-FFF2-40B4-BE49-F238E27FC236}">
                <a16:creationId xmlns:a16="http://schemas.microsoft.com/office/drawing/2014/main" id="{BDED7DAE-2D5E-CA08-5CE0-4A71E3CA9FFF}"/>
              </a:ext>
            </a:extLst>
          </p:cNvPr>
          <p:cNvSpPr txBox="1">
            <a:spLocks noChangeArrowheads="1"/>
          </p:cNvSpPr>
          <p:nvPr/>
        </p:nvSpPr>
        <p:spPr bwMode="auto">
          <a:xfrm>
            <a:off x="6193730" y="4023229"/>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dirty="0">
                <a:latin typeface="+mj-lt"/>
                <a:ea typeface="+mj-ea"/>
              </a:rPr>
              <a:t>物理传输媒体</a:t>
            </a:r>
          </a:p>
        </p:txBody>
      </p:sp>
      <p:grpSp>
        <p:nvGrpSpPr>
          <p:cNvPr id="152" name="组合 151">
            <a:extLst>
              <a:ext uri="{FF2B5EF4-FFF2-40B4-BE49-F238E27FC236}">
                <a16:creationId xmlns:a16="http://schemas.microsoft.com/office/drawing/2014/main" id="{2B3CD523-93E9-DD27-1652-C2CC2B9DAF33}"/>
              </a:ext>
            </a:extLst>
          </p:cNvPr>
          <p:cNvGrpSpPr/>
          <p:nvPr/>
        </p:nvGrpSpPr>
        <p:grpSpPr>
          <a:xfrm>
            <a:off x="3960000" y="2808000"/>
            <a:ext cx="1080000" cy="1080000"/>
            <a:chOff x="2807995" y="2745746"/>
            <a:chExt cx="1080000" cy="1080000"/>
          </a:xfrm>
        </p:grpSpPr>
        <p:sp>
          <p:nvSpPr>
            <p:cNvPr id="153" name="立方体 152">
              <a:extLst>
                <a:ext uri="{FF2B5EF4-FFF2-40B4-BE49-F238E27FC236}">
                  <a16:creationId xmlns:a16="http://schemas.microsoft.com/office/drawing/2014/main" id="{14E3DF62-A3A1-87AE-194E-E105B065B763}"/>
                </a:ext>
              </a:extLst>
            </p:cNvPr>
            <p:cNvSpPr/>
            <p:nvPr/>
          </p:nvSpPr>
          <p:spPr>
            <a:xfrm>
              <a:off x="2807995" y="3393746"/>
              <a:ext cx="594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sz="1050" dirty="0">
                  <a:solidFill>
                    <a:schemeClr val="bg1"/>
                  </a:solidFill>
                </a:rPr>
                <a:t>1</a:t>
              </a:r>
              <a:endParaRPr lang="zh-CN" altLang="en-US" sz="1050" dirty="0">
                <a:solidFill>
                  <a:schemeClr val="bg1"/>
                </a:solidFill>
              </a:endParaRPr>
            </a:p>
          </p:txBody>
        </p:sp>
        <p:sp>
          <p:nvSpPr>
            <p:cNvPr id="154" name="立方体 153">
              <a:extLst>
                <a:ext uri="{FF2B5EF4-FFF2-40B4-BE49-F238E27FC236}">
                  <a16:creationId xmlns:a16="http://schemas.microsoft.com/office/drawing/2014/main" id="{E7AC19C8-3056-CEFE-714A-BF4AA1B6682E}"/>
                </a:ext>
              </a:extLst>
            </p:cNvPr>
            <p:cNvSpPr/>
            <p:nvPr/>
          </p:nvSpPr>
          <p:spPr>
            <a:xfrm>
              <a:off x="2807995" y="3069746"/>
              <a:ext cx="594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sz="1050" dirty="0">
                  <a:solidFill>
                    <a:schemeClr val="bg1"/>
                  </a:solidFill>
                </a:rPr>
                <a:t>2</a:t>
              </a:r>
              <a:endParaRPr lang="zh-CN" altLang="en-US" sz="1050" dirty="0">
                <a:solidFill>
                  <a:schemeClr val="bg1"/>
                </a:solidFill>
              </a:endParaRPr>
            </a:p>
          </p:txBody>
        </p:sp>
        <p:sp>
          <p:nvSpPr>
            <p:cNvPr id="155" name="立方体 154">
              <a:extLst>
                <a:ext uri="{FF2B5EF4-FFF2-40B4-BE49-F238E27FC236}">
                  <a16:creationId xmlns:a16="http://schemas.microsoft.com/office/drawing/2014/main" id="{C0D721D8-E508-5C4E-92F7-72577FE48745}"/>
                </a:ext>
              </a:extLst>
            </p:cNvPr>
            <p:cNvSpPr/>
            <p:nvPr/>
          </p:nvSpPr>
          <p:spPr>
            <a:xfrm>
              <a:off x="3293995" y="3393746"/>
              <a:ext cx="594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sz="1050" dirty="0">
                  <a:solidFill>
                    <a:schemeClr val="bg1"/>
                  </a:solidFill>
                </a:rPr>
                <a:t>1</a:t>
              </a:r>
              <a:endParaRPr lang="zh-CN" altLang="en-US" sz="1050" dirty="0">
                <a:solidFill>
                  <a:schemeClr val="bg1"/>
                </a:solidFill>
              </a:endParaRPr>
            </a:p>
          </p:txBody>
        </p:sp>
        <p:sp>
          <p:nvSpPr>
            <p:cNvPr id="156" name="立方体 155">
              <a:extLst>
                <a:ext uri="{FF2B5EF4-FFF2-40B4-BE49-F238E27FC236}">
                  <a16:creationId xmlns:a16="http://schemas.microsoft.com/office/drawing/2014/main" id="{EF282E04-6A31-E14A-2EE2-FA3D8364001A}"/>
                </a:ext>
              </a:extLst>
            </p:cNvPr>
            <p:cNvSpPr/>
            <p:nvPr/>
          </p:nvSpPr>
          <p:spPr>
            <a:xfrm>
              <a:off x="3293995" y="3069746"/>
              <a:ext cx="594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sz="1050" dirty="0">
                  <a:solidFill>
                    <a:schemeClr val="bg1"/>
                  </a:solidFill>
                </a:rPr>
                <a:t>2</a:t>
              </a:r>
              <a:endParaRPr lang="zh-CN" altLang="en-US" sz="1050" dirty="0">
                <a:solidFill>
                  <a:schemeClr val="bg1"/>
                </a:solidFill>
              </a:endParaRPr>
            </a:p>
          </p:txBody>
        </p:sp>
        <p:sp>
          <p:nvSpPr>
            <p:cNvPr id="157" name="立方体 156">
              <a:extLst>
                <a:ext uri="{FF2B5EF4-FFF2-40B4-BE49-F238E27FC236}">
                  <a16:creationId xmlns:a16="http://schemas.microsoft.com/office/drawing/2014/main" id="{5F33640D-B069-B772-42C1-E5EE6C818B07}"/>
                </a:ext>
              </a:extLst>
            </p:cNvPr>
            <p:cNvSpPr/>
            <p:nvPr/>
          </p:nvSpPr>
          <p:spPr>
            <a:xfrm>
              <a:off x="2807995" y="2745746"/>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pPr algn="ctr"/>
              <a:r>
                <a:rPr lang="en-US" altLang="zh-CN" sz="1050" dirty="0">
                  <a:solidFill>
                    <a:schemeClr val="bg1"/>
                  </a:solidFill>
                </a:rPr>
                <a:t>3</a:t>
              </a:r>
              <a:endParaRPr lang="zh-CN" altLang="en-US" sz="1050" dirty="0">
                <a:solidFill>
                  <a:schemeClr val="bg1"/>
                </a:solidFill>
              </a:endParaRPr>
            </a:p>
          </p:txBody>
        </p:sp>
      </p:grpSp>
      <p:grpSp>
        <p:nvGrpSpPr>
          <p:cNvPr id="78" name="组合 77">
            <a:extLst>
              <a:ext uri="{FF2B5EF4-FFF2-40B4-BE49-F238E27FC236}">
                <a16:creationId xmlns:a16="http://schemas.microsoft.com/office/drawing/2014/main" id="{A5F991CD-43D6-6512-EBD7-22EF7FF0673C}"/>
              </a:ext>
            </a:extLst>
          </p:cNvPr>
          <p:cNvGrpSpPr/>
          <p:nvPr/>
        </p:nvGrpSpPr>
        <p:grpSpPr>
          <a:xfrm>
            <a:off x="7395732" y="1800000"/>
            <a:ext cx="1080000" cy="2088000"/>
            <a:chOff x="701211" y="1800000"/>
            <a:chExt cx="1080000" cy="2088000"/>
          </a:xfrm>
        </p:grpSpPr>
        <p:sp>
          <p:nvSpPr>
            <p:cNvPr id="79" name="立方体 78">
              <a:extLst>
                <a:ext uri="{FF2B5EF4-FFF2-40B4-BE49-F238E27FC236}">
                  <a16:creationId xmlns:a16="http://schemas.microsoft.com/office/drawing/2014/main" id="{69148091-CD7F-EA71-C142-529036F2540E}"/>
                </a:ext>
              </a:extLst>
            </p:cNvPr>
            <p:cNvSpPr/>
            <p:nvPr/>
          </p:nvSpPr>
          <p:spPr>
            <a:xfrm>
              <a:off x="701211" y="3456000"/>
              <a:ext cx="108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050" dirty="0">
                  <a:solidFill>
                    <a:schemeClr val="bg1"/>
                  </a:solidFill>
                </a:rPr>
                <a:t>1 </a:t>
              </a:r>
              <a:r>
                <a:rPr lang="zh-CN" altLang="en-US" sz="1050" dirty="0">
                  <a:solidFill>
                    <a:schemeClr val="bg1"/>
                  </a:solidFill>
                </a:rPr>
                <a:t>物理层</a:t>
              </a:r>
            </a:p>
          </p:txBody>
        </p:sp>
        <p:sp>
          <p:nvSpPr>
            <p:cNvPr id="80" name="立方体 79">
              <a:extLst>
                <a:ext uri="{FF2B5EF4-FFF2-40B4-BE49-F238E27FC236}">
                  <a16:creationId xmlns:a16="http://schemas.microsoft.com/office/drawing/2014/main" id="{B9F4C9DD-A691-9B6E-C0A4-AF6E13D58F3D}"/>
                </a:ext>
              </a:extLst>
            </p:cNvPr>
            <p:cNvSpPr/>
            <p:nvPr/>
          </p:nvSpPr>
          <p:spPr>
            <a:xfrm>
              <a:off x="701211" y="3132000"/>
              <a:ext cx="108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050" dirty="0">
                  <a:solidFill>
                    <a:schemeClr val="bg1"/>
                  </a:solidFill>
                </a:rPr>
                <a:t>2 </a:t>
              </a:r>
              <a:r>
                <a:rPr lang="zh-CN" altLang="en-US" sz="1050" dirty="0">
                  <a:solidFill>
                    <a:schemeClr val="bg1"/>
                  </a:solidFill>
                </a:rPr>
                <a:t>数据链路层</a:t>
              </a:r>
            </a:p>
          </p:txBody>
        </p:sp>
        <p:sp>
          <p:nvSpPr>
            <p:cNvPr id="81" name="立方体 80">
              <a:extLst>
                <a:ext uri="{FF2B5EF4-FFF2-40B4-BE49-F238E27FC236}">
                  <a16:creationId xmlns:a16="http://schemas.microsoft.com/office/drawing/2014/main" id="{5FD7E300-D65A-5E82-3AFE-F8A0B3CF4790}"/>
                </a:ext>
              </a:extLst>
            </p:cNvPr>
            <p:cNvSpPr/>
            <p:nvPr/>
          </p:nvSpPr>
          <p:spPr>
            <a:xfrm>
              <a:off x="701211" y="2808000"/>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050" dirty="0">
                  <a:solidFill>
                    <a:schemeClr val="bg1"/>
                  </a:solidFill>
                </a:rPr>
                <a:t>3 </a:t>
              </a:r>
              <a:r>
                <a:rPr lang="zh-CN" altLang="en-US" sz="1050" dirty="0">
                  <a:solidFill>
                    <a:schemeClr val="bg1"/>
                  </a:solidFill>
                </a:rPr>
                <a:t>网络层</a:t>
              </a:r>
            </a:p>
          </p:txBody>
        </p:sp>
        <p:sp>
          <p:nvSpPr>
            <p:cNvPr id="82" name="立方体 81">
              <a:extLst>
                <a:ext uri="{FF2B5EF4-FFF2-40B4-BE49-F238E27FC236}">
                  <a16:creationId xmlns:a16="http://schemas.microsoft.com/office/drawing/2014/main" id="{0736C190-006A-D560-2A52-0FF62443E120}"/>
                </a:ext>
              </a:extLst>
            </p:cNvPr>
            <p:cNvSpPr/>
            <p:nvPr/>
          </p:nvSpPr>
          <p:spPr>
            <a:xfrm>
              <a:off x="701211" y="2484000"/>
              <a:ext cx="108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050" dirty="0">
                  <a:solidFill>
                    <a:schemeClr val="bg1"/>
                  </a:solidFill>
                </a:rPr>
                <a:t>4 </a:t>
              </a:r>
              <a:r>
                <a:rPr lang="zh-CN" altLang="en-US" sz="1050" dirty="0">
                  <a:solidFill>
                    <a:schemeClr val="bg1"/>
                  </a:solidFill>
                </a:rPr>
                <a:t>运输层</a:t>
              </a:r>
            </a:p>
          </p:txBody>
        </p:sp>
        <p:sp>
          <p:nvSpPr>
            <p:cNvPr id="83" name="立方体 82">
              <a:extLst>
                <a:ext uri="{FF2B5EF4-FFF2-40B4-BE49-F238E27FC236}">
                  <a16:creationId xmlns:a16="http://schemas.microsoft.com/office/drawing/2014/main" id="{C128B9B7-F82E-154E-CFE9-1B65A916B935}"/>
                </a:ext>
              </a:extLst>
            </p:cNvPr>
            <p:cNvSpPr/>
            <p:nvPr/>
          </p:nvSpPr>
          <p:spPr>
            <a:xfrm>
              <a:off x="701211" y="2160000"/>
              <a:ext cx="108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050" dirty="0">
                  <a:solidFill>
                    <a:schemeClr val="bg1"/>
                  </a:solidFill>
                </a:rPr>
                <a:t>5 </a:t>
              </a:r>
              <a:r>
                <a:rPr lang="zh-CN" altLang="en-US" sz="1050" dirty="0">
                  <a:solidFill>
                    <a:schemeClr val="bg1"/>
                  </a:solidFill>
                </a:rPr>
                <a:t>应用层</a:t>
              </a:r>
            </a:p>
          </p:txBody>
        </p:sp>
        <p:sp>
          <p:nvSpPr>
            <p:cNvPr id="84" name="圆柱体 83">
              <a:extLst>
                <a:ext uri="{FF2B5EF4-FFF2-40B4-BE49-F238E27FC236}">
                  <a16:creationId xmlns:a16="http://schemas.microsoft.com/office/drawing/2014/main" id="{F9D22141-94F6-87A8-7840-E2D78A9C1F5F}"/>
                </a:ext>
              </a:extLst>
            </p:cNvPr>
            <p:cNvSpPr/>
            <p:nvPr/>
          </p:nvSpPr>
          <p:spPr>
            <a:xfrm>
              <a:off x="953211" y="1800000"/>
              <a:ext cx="576000" cy="360000"/>
            </a:xfrm>
            <a:prstGeom prst="can">
              <a:avLst/>
            </a:prstGeom>
            <a:solidFill>
              <a:srgbClr val="FFFF00"/>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000" dirty="0">
                  <a:solidFill>
                    <a:sysClr val="windowText" lastClr="000000"/>
                  </a:solidFill>
                </a:rPr>
                <a:t>AP1</a:t>
              </a:r>
              <a:endParaRPr lang="zh-CN" altLang="en-US" sz="1000" dirty="0">
                <a:solidFill>
                  <a:sysClr val="windowText" lastClr="000000"/>
                </a:solidFill>
              </a:endParaRPr>
            </a:p>
          </p:txBody>
        </p:sp>
      </p:grpSp>
      <p:grpSp>
        <p:nvGrpSpPr>
          <p:cNvPr id="85" name="组合 84">
            <a:extLst>
              <a:ext uri="{FF2B5EF4-FFF2-40B4-BE49-F238E27FC236}">
                <a16:creationId xmlns:a16="http://schemas.microsoft.com/office/drawing/2014/main" id="{1918E0D6-5060-2D87-0BBD-E5A646896718}"/>
              </a:ext>
            </a:extLst>
          </p:cNvPr>
          <p:cNvGrpSpPr/>
          <p:nvPr/>
        </p:nvGrpSpPr>
        <p:grpSpPr>
          <a:xfrm>
            <a:off x="701211" y="1800000"/>
            <a:ext cx="1080000" cy="2088000"/>
            <a:chOff x="701211" y="1800000"/>
            <a:chExt cx="1080000" cy="2088000"/>
          </a:xfrm>
        </p:grpSpPr>
        <p:sp>
          <p:nvSpPr>
            <p:cNvPr id="86" name="立方体 85">
              <a:extLst>
                <a:ext uri="{FF2B5EF4-FFF2-40B4-BE49-F238E27FC236}">
                  <a16:creationId xmlns:a16="http://schemas.microsoft.com/office/drawing/2014/main" id="{BAC7C465-5D86-3C4F-04AF-9241A6BC8AA4}"/>
                </a:ext>
              </a:extLst>
            </p:cNvPr>
            <p:cNvSpPr/>
            <p:nvPr/>
          </p:nvSpPr>
          <p:spPr>
            <a:xfrm>
              <a:off x="701211" y="3456000"/>
              <a:ext cx="108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050" dirty="0">
                  <a:solidFill>
                    <a:schemeClr val="bg1"/>
                  </a:solidFill>
                </a:rPr>
                <a:t>1 </a:t>
              </a:r>
              <a:r>
                <a:rPr lang="zh-CN" altLang="en-US" sz="1050" dirty="0">
                  <a:solidFill>
                    <a:schemeClr val="bg1"/>
                  </a:solidFill>
                </a:rPr>
                <a:t>物理层</a:t>
              </a:r>
            </a:p>
          </p:txBody>
        </p:sp>
        <p:sp>
          <p:nvSpPr>
            <p:cNvPr id="89" name="立方体 88">
              <a:extLst>
                <a:ext uri="{FF2B5EF4-FFF2-40B4-BE49-F238E27FC236}">
                  <a16:creationId xmlns:a16="http://schemas.microsoft.com/office/drawing/2014/main" id="{D4047B67-B68C-176F-3635-33299AE925DF}"/>
                </a:ext>
              </a:extLst>
            </p:cNvPr>
            <p:cNvSpPr/>
            <p:nvPr/>
          </p:nvSpPr>
          <p:spPr>
            <a:xfrm>
              <a:off x="701211" y="3132000"/>
              <a:ext cx="108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050" dirty="0">
                  <a:solidFill>
                    <a:schemeClr val="bg1"/>
                  </a:solidFill>
                </a:rPr>
                <a:t>2 </a:t>
              </a:r>
              <a:r>
                <a:rPr lang="zh-CN" altLang="en-US" sz="1050" dirty="0">
                  <a:solidFill>
                    <a:schemeClr val="bg1"/>
                  </a:solidFill>
                </a:rPr>
                <a:t>数据链路层</a:t>
              </a:r>
            </a:p>
          </p:txBody>
        </p:sp>
        <p:sp>
          <p:nvSpPr>
            <p:cNvPr id="90" name="立方体 89">
              <a:extLst>
                <a:ext uri="{FF2B5EF4-FFF2-40B4-BE49-F238E27FC236}">
                  <a16:creationId xmlns:a16="http://schemas.microsoft.com/office/drawing/2014/main" id="{439B8FCD-5D9E-DFFE-883F-246B09A8BA1E}"/>
                </a:ext>
              </a:extLst>
            </p:cNvPr>
            <p:cNvSpPr/>
            <p:nvPr/>
          </p:nvSpPr>
          <p:spPr>
            <a:xfrm>
              <a:off x="701211" y="2808000"/>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050" dirty="0">
                  <a:solidFill>
                    <a:schemeClr val="bg1"/>
                  </a:solidFill>
                </a:rPr>
                <a:t>3 </a:t>
              </a:r>
              <a:r>
                <a:rPr lang="zh-CN" altLang="en-US" sz="1050" dirty="0">
                  <a:solidFill>
                    <a:schemeClr val="bg1"/>
                  </a:solidFill>
                </a:rPr>
                <a:t>网络层</a:t>
              </a:r>
            </a:p>
          </p:txBody>
        </p:sp>
        <p:sp>
          <p:nvSpPr>
            <p:cNvPr id="91" name="立方体 90">
              <a:extLst>
                <a:ext uri="{FF2B5EF4-FFF2-40B4-BE49-F238E27FC236}">
                  <a16:creationId xmlns:a16="http://schemas.microsoft.com/office/drawing/2014/main" id="{B77C45A4-A972-FD7A-916C-3A0A03683AC3}"/>
                </a:ext>
              </a:extLst>
            </p:cNvPr>
            <p:cNvSpPr/>
            <p:nvPr/>
          </p:nvSpPr>
          <p:spPr>
            <a:xfrm>
              <a:off x="701211" y="2484000"/>
              <a:ext cx="108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050" dirty="0">
                  <a:solidFill>
                    <a:schemeClr val="bg1"/>
                  </a:solidFill>
                </a:rPr>
                <a:t>4 </a:t>
              </a:r>
              <a:r>
                <a:rPr lang="zh-CN" altLang="en-US" sz="1050" dirty="0">
                  <a:solidFill>
                    <a:schemeClr val="bg1"/>
                  </a:solidFill>
                </a:rPr>
                <a:t>运输层</a:t>
              </a:r>
            </a:p>
          </p:txBody>
        </p:sp>
        <p:sp>
          <p:nvSpPr>
            <p:cNvPr id="92" name="立方体 91">
              <a:extLst>
                <a:ext uri="{FF2B5EF4-FFF2-40B4-BE49-F238E27FC236}">
                  <a16:creationId xmlns:a16="http://schemas.microsoft.com/office/drawing/2014/main" id="{BA9893EA-1B08-B2B2-6B21-D907A49C5915}"/>
                </a:ext>
              </a:extLst>
            </p:cNvPr>
            <p:cNvSpPr/>
            <p:nvPr/>
          </p:nvSpPr>
          <p:spPr>
            <a:xfrm>
              <a:off x="701211" y="2160000"/>
              <a:ext cx="108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050" dirty="0">
                  <a:solidFill>
                    <a:schemeClr val="bg1"/>
                  </a:solidFill>
                </a:rPr>
                <a:t>5 </a:t>
              </a:r>
              <a:r>
                <a:rPr lang="zh-CN" altLang="en-US" sz="1050" dirty="0">
                  <a:solidFill>
                    <a:schemeClr val="bg1"/>
                  </a:solidFill>
                </a:rPr>
                <a:t>应用层</a:t>
              </a:r>
            </a:p>
          </p:txBody>
        </p:sp>
        <p:sp>
          <p:nvSpPr>
            <p:cNvPr id="93" name="圆柱体 92">
              <a:extLst>
                <a:ext uri="{FF2B5EF4-FFF2-40B4-BE49-F238E27FC236}">
                  <a16:creationId xmlns:a16="http://schemas.microsoft.com/office/drawing/2014/main" id="{400A958F-7565-F19F-7576-6251BD9C043E}"/>
                </a:ext>
              </a:extLst>
            </p:cNvPr>
            <p:cNvSpPr/>
            <p:nvPr/>
          </p:nvSpPr>
          <p:spPr>
            <a:xfrm>
              <a:off x="953211" y="1800000"/>
              <a:ext cx="576000" cy="360000"/>
            </a:xfrm>
            <a:prstGeom prst="can">
              <a:avLst/>
            </a:prstGeom>
            <a:solidFill>
              <a:srgbClr val="FFFF00"/>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000" dirty="0">
                  <a:solidFill>
                    <a:sysClr val="windowText" lastClr="000000"/>
                  </a:solidFill>
                </a:rPr>
                <a:t>AP1</a:t>
              </a:r>
              <a:endParaRPr lang="zh-CN" altLang="en-US" sz="1000" dirty="0">
                <a:solidFill>
                  <a:sysClr val="windowText" lastClr="000000"/>
                </a:solidFill>
              </a:endParaRPr>
            </a:p>
          </p:txBody>
        </p:sp>
      </p:grpSp>
      <p:sp>
        <p:nvSpPr>
          <p:cNvPr id="25" name="Text Box 29"/>
          <p:cNvSpPr txBox="1">
            <a:spLocks noChangeArrowheads="1"/>
          </p:cNvSpPr>
          <p:nvPr/>
        </p:nvSpPr>
        <p:spPr bwMode="auto">
          <a:xfrm>
            <a:off x="110689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1</a:t>
            </a:r>
          </a:p>
        </p:txBody>
      </p:sp>
      <p:sp>
        <p:nvSpPr>
          <p:cNvPr id="38" name="Text Box 29"/>
          <p:cNvSpPr txBox="1">
            <a:spLocks noChangeArrowheads="1"/>
          </p:cNvSpPr>
          <p:nvPr/>
        </p:nvSpPr>
        <p:spPr bwMode="auto">
          <a:xfrm>
            <a:off x="736975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2</a:t>
            </a:r>
          </a:p>
        </p:txBody>
      </p:sp>
      <p:sp>
        <p:nvSpPr>
          <p:cNvPr id="39" name="Text Box 29"/>
          <p:cNvSpPr txBox="1">
            <a:spLocks noChangeArrowheads="1"/>
          </p:cNvSpPr>
          <p:nvPr/>
        </p:nvSpPr>
        <p:spPr bwMode="auto">
          <a:xfrm>
            <a:off x="4160212" y="107510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路由器</a:t>
            </a:r>
            <a:endParaRPr kumimoji="1" lang="en-US" altLang="zh-CN" sz="1200" b="1" dirty="0">
              <a:solidFill>
                <a:srgbClr val="0000FF"/>
              </a:solidFill>
              <a:latin typeface="微软雅黑" panose="020B0503020204020204" pitchFamily="34" charset="-122"/>
              <a:ea typeface="微软雅黑" panose="020B0503020204020204" pitchFamily="34" charset="-122"/>
            </a:endParaRPr>
          </a:p>
        </p:txBody>
      </p:sp>
      <p:cxnSp>
        <p:nvCxnSpPr>
          <p:cNvPr id="69" name="直接连接符 68"/>
          <p:cNvCxnSpPr/>
          <p:nvPr/>
        </p:nvCxnSpPr>
        <p:spPr>
          <a:xfrm>
            <a:off x="1418143" y="1507958"/>
            <a:ext cx="6306131" cy="0"/>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pic>
        <p:nvPicPr>
          <p:cNvPr id="36"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486661" y="1312469"/>
            <a:ext cx="410222"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7"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202308" y="1312469"/>
            <a:ext cx="410223"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140" name="直接箭头连接符 139"/>
          <p:cNvCxnSpPr/>
          <p:nvPr/>
        </p:nvCxnSpPr>
        <p:spPr>
          <a:xfrm>
            <a:off x="1561619" y="1428166"/>
            <a:ext cx="5941518" cy="0"/>
          </a:xfrm>
          <a:prstGeom prst="straightConnector1">
            <a:avLst/>
          </a:prstGeom>
          <a:ln w="28575">
            <a:solidFill>
              <a:srgbClr val="CC00CC"/>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35"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54124" y="1385466"/>
            <a:ext cx="454438" cy="2643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73" name="AutoShape 51"/>
          <p:cNvSpPr>
            <a:spLocks noChangeArrowheads="1"/>
          </p:cNvSpPr>
          <p:nvPr/>
        </p:nvSpPr>
        <p:spPr bwMode="auto">
          <a:xfrm flipV="1">
            <a:off x="1237476" y="2076244"/>
            <a:ext cx="145966" cy="205414"/>
          </a:xfrm>
          <a:prstGeom prst="upArrow">
            <a:avLst>
              <a:gd name="adj1" fmla="val 50000"/>
              <a:gd name="adj2" fmla="val 45968"/>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88" name="AutoShape 54"/>
          <p:cNvSpPr>
            <a:spLocks noChangeArrowheads="1"/>
          </p:cNvSpPr>
          <p:nvPr/>
        </p:nvSpPr>
        <p:spPr bwMode="auto">
          <a:xfrm rot="10800000">
            <a:off x="1237478" y="2439149"/>
            <a:ext cx="147144" cy="221279"/>
          </a:xfrm>
          <a:prstGeom prst="upArrow">
            <a:avLst>
              <a:gd name="adj1" fmla="val 50000"/>
              <a:gd name="adj2" fmla="val 498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5" name="AutoShape 57"/>
          <p:cNvSpPr>
            <a:spLocks noChangeArrowheads="1"/>
          </p:cNvSpPr>
          <p:nvPr/>
        </p:nvSpPr>
        <p:spPr bwMode="auto">
          <a:xfrm rot="10800000">
            <a:off x="1235122" y="2826328"/>
            <a:ext cx="148321" cy="222762"/>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07" name="AutoShape 57"/>
          <p:cNvSpPr>
            <a:spLocks noChangeArrowheads="1"/>
          </p:cNvSpPr>
          <p:nvPr/>
        </p:nvSpPr>
        <p:spPr bwMode="auto">
          <a:xfrm rot="10800000">
            <a:off x="1226181" y="3198896"/>
            <a:ext cx="156561" cy="213191"/>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19" name="AutoShape 63"/>
          <p:cNvSpPr>
            <a:spLocks noChangeArrowheads="1"/>
          </p:cNvSpPr>
          <p:nvPr/>
        </p:nvSpPr>
        <p:spPr bwMode="auto">
          <a:xfrm rot="10800000">
            <a:off x="1226181" y="3567260"/>
            <a:ext cx="165978" cy="238153"/>
          </a:xfrm>
          <a:prstGeom prst="upArrow">
            <a:avLst>
              <a:gd name="adj1" fmla="val 50000"/>
              <a:gd name="adj2" fmla="val 50403"/>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00" name="AutoShape 25"/>
          <p:cNvSpPr>
            <a:spLocks noChangeArrowheads="1"/>
          </p:cNvSpPr>
          <p:nvPr/>
        </p:nvSpPr>
        <p:spPr bwMode="auto">
          <a:xfrm flipV="1">
            <a:off x="1266066" y="3955320"/>
            <a:ext cx="263283" cy="281183"/>
          </a:xfrm>
          <a:custGeom>
            <a:avLst/>
            <a:gdLst>
              <a:gd name="T0" fmla="*/ 218339 w 21600"/>
              <a:gd name="T1" fmla="*/ 0 h 21600"/>
              <a:gd name="T2" fmla="*/ 218339 w 21600"/>
              <a:gd name="T3" fmla="*/ 171757 h 21600"/>
              <a:gd name="T4" fmla="*/ 46725 w 21600"/>
              <a:gd name="T5" fmla="*/ 305144 h 21600"/>
              <a:gd name="T6" fmla="*/ 311789 w 21600"/>
              <a:gd name="T7" fmla="*/ 85878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11" name="AutoShape 42"/>
          <p:cNvSpPr>
            <a:spLocks noChangeArrowheads="1"/>
          </p:cNvSpPr>
          <p:nvPr/>
        </p:nvSpPr>
        <p:spPr bwMode="auto">
          <a:xfrm rot="5400000" flipH="1">
            <a:off x="3905139" y="3932147"/>
            <a:ext cx="254669" cy="288428"/>
          </a:xfrm>
          <a:custGeom>
            <a:avLst/>
            <a:gdLst>
              <a:gd name="T0" fmla="*/ 220161 w 21600"/>
              <a:gd name="T1" fmla="*/ 0 h 21600"/>
              <a:gd name="T2" fmla="*/ 220161 w 21600"/>
              <a:gd name="T3" fmla="*/ 175497 h 21600"/>
              <a:gd name="T4" fmla="*/ 47115 w 21600"/>
              <a:gd name="T5" fmla="*/ 311790 h 21600"/>
              <a:gd name="T6" fmla="*/ 314391 w 21600"/>
              <a:gd name="T7" fmla="*/ 87749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nvGrpSpPr>
          <p:cNvPr id="125" name="Group 34"/>
          <p:cNvGrpSpPr/>
          <p:nvPr/>
        </p:nvGrpSpPr>
        <p:grpSpPr bwMode="auto">
          <a:xfrm>
            <a:off x="1792727" y="4119885"/>
            <a:ext cx="841456" cy="101715"/>
            <a:chOff x="1344" y="912"/>
            <a:chExt cx="672" cy="96"/>
          </a:xfrm>
          <a:solidFill>
            <a:srgbClr val="FF0000"/>
          </a:solidFill>
        </p:grpSpPr>
        <p:sp>
          <p:nvSpPr>
            <p:cNvPr id="126" name="Line 35"/>
            <p:cNvSpPr>
              <a:spLocks noChangeShapeType="1"/>
            </p:cNvSpPr>
            <p:nvPr/>
          </p:nvSpPr>
          <p:spPr bwMode="auto">
            <a:xfrm>
              <a:off x="1344" y="960"/>
              <a:ext cx="672" cy="0"/>
            </a:xfrm>
            <a:prstGeom prst="line">
              <a:avLst/>
            </a:prstGeom>
            <a:grpFill/>
            <a:ln w="12700">
              <a:no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sp>
          <p:nvSpPr>
            <p:cNvPr id="127" name="Freeform 36"/>
            <p:cNvSpPr/>
            <p:nvPr/>
          </p:nvSpPr>
          <p:spPr bwMode="auto">
            <a:xfrm>
              <a:off x="1392" y="912"/>
              <a:ext cx="576" cy="96"/>
            </a:xfrm>
            <a:custGeom>
              <a:avLst/>
              <a:gdLst>
                <a:gd name="T0" fmla="*/ 0 w 576"/>
                <a:gd name="T1" fmla="*/ 96 h 192"/>
                <a:gd name="T2" fmla="*/ 0 w 576"/>
                <a:gd name="T3" fmla="*/ 0 h 192"/>
                <a:gd name="T4" fmla="*/ 192 w 576"/>
                <a:gd name="T5" fmla="*/ 0 h 192"/>
                <a:gd name="T6" fmla="*/ 192 w 576"/>
                <a:gd name="T7" fmla="*/ 192 h 192"/>
                <a:gd name="T8" fmla="*/ 288 w 576"/>
                <a:gd name="T9" fmla="*/ 192 h 192"/>
                <a:gd name="T10" fmla="*/ 288 w 576"/>
                <a:gd name="T11" fmla="*/ 0 h 192"/>
                <a:gd name="T12" fmla="*/ 336 w 576"/>
                <a:gd name="T13" fmla="*/ 0 h 192"/>
                <a:gd name="T14" fmla="*/ 336 w 576"/>
                <a:gd name="T15" fmla="*/ 192 h 192"/>
                <a:gd name="T16" fmla="*/ 480 w 576"/>
                <a:gd name="T17" fmla="*/ 192 h 192"/>
                <a:gd name="T18" fmla="*/ 480 w 576"/>
                <a:gd name="T19" fmla="*/ 0 h 192"/>
                <a:gd name="T20" fmla="*/ 576 w 576"/>
                <a:gd name="T21" fmla="*/ 0 h 192"/>
                <a:gd name="T22" fmla="*/ 576 w 576"/>
                <a:gd name="T23" fmla="*/ 96 h 192"/>
                <a:gd name="T24" fmla="*/ 0 w 576"/>
                <a:gd name="T25" fmla="*/ 96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6" h="192">
                  <a:moveTo>
                    <a:pt x="0" y="96"/>
                  </a:moveTo>
                  <a:lnTo>
                    <a:pt x="0" y="0"/>
                  </a:lnTo>
                  <a:lnTo>
                    <a:pt x="192" y="0"/>
                  </a:lnTo>
                  <a:lnTo>
                    <a:pt x="192" y="192"/>
                  </a:lnTo>
                  <a:lnTo>
                    <a:pt x="288" y="192"/>
                  </a:lnTo>
                  <a:lnTo>
                    <a:pt x="288" y="0"/>
                  </a:lnTo>
                  <a:lnTo>
                    <a:pt x="336" y="0"/>
                  </a:lnTo>
                  <a:lnTo>
                    <a:pt x="336" y="192"/>
                  </a:lnTo>
                  <a:lnTo>
                    <a:pt x="480" y="192"/>
                  </a:lnTo>
                  <a:lnTo>
                    <a:pt x="480" y="0"/>
                  </a:lnTo>
                  <a:lnTo>
                    <a:pt x="576" y="0"/>
                  </a:lnTo>
                  <a:lnTo>
                    <a:pt x="576" y="96"/>
                  </a:lnTo>
                  <a:lnTo>
                    <a:pt x="0" y="96"/>
                  </a:lnTo>
                  <a:close/>
                </a:path>
              </a:pathLst>
            </a:custGeom>
            <a:grpFill/>
            <a:ln w="12700" cap="flat" cmpd="sng">
              <a:noFill/>
              <a:prstDash val="solid"/>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grpSp>
      <p:sp>
        <p:nvSpPr>
          <p:cNvPr id="87" name="上箭头 86"/>
          <p:cNvSpPr/>
          <p:nvPr/>
        </p:nvSpPr>
        <p:spPr>
          <a:xfrm>
            <a:off x="4028301" y="3527399"/>
            <a:ext cx="178622" cy="245129"/>
          </a:xfrm>
          <a:prstGeom prst="up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标题 1">
            <a:extLst>
              <a:ext uri="{FF2B5EF4-FFF2-40B4-BE49-F238E27FC236}">
                <a16:creationId xmlns:a16="http://schemas.microsoft.com/office/drawing/2014/main" id="{33A058CE-C321-0FFC-4BB0-424455316390}"/>
              </a:ext>
            </a:extLst>
          </p:cNvPr>
          <p:cNvSpPr>
            <a:spLocks noGrp="1"/>
          </p:cNvSpPr>
          <p:nvPr>
            <p:ph type="title"/>
          </p:nvPr>
        </p:nvSpPr>
        <p:spPr>
          <a:xfrm>
            <a:off x="612000" y="144000"/>
            <a:ext cx="7920000" cy="341632"/>
          </a:xfrm>
        </p:spPr>
        <p:txBody>
          <a:bodyPr/>
          <a:lstStyle/>
          <a:p>
            <a:r>
              <a:rPr lang="zh-CN" altLang="en-US" dirty="0"/>
              <a:t>数据在各层之间的传递过程</a:t>
            </a:r>
          </a:p>
        </p:txBody>
      </p:sp>
      <p:sp>
        <p:nvSpPr>
          <p:cNvPr id="135" name="Rectangle 46">
            <a:extLst>
              <a:ext uri="{FF2B5EF4-FFF2-40B4-BE49-F238E27FC236}">
                <a16:creationId xmlns:a16="http://schemas.microsoft.com/office/drawing/2014/main" id="{F4F26065-47B9-19CD-87EC-CC40E14C28B6}"/>
              </a:ext>
            </a:extLst>
          </p:cNvPr>
          <p:cNvSpPr>
            <a:spLocks noChangeArrowheads="1"/>
          </p:cNvSpPr>
          <p:nvPr/>
        </p:nvSpPr>
        <p:spPr bwMode="auto">
          <a:xfrm>
            <a:off x="2292014" y="3303460"/>
            <a:ext cx="223200" cy="244800"/>
          </a:xfrm>
          <a:prstGeom prst="rect">
            <a:avLst/>
          </a:prstGeom>
          <a:solidFill>
            <a:srgbClr val="00B0F0"/>
          </a:solidFill>
          <a:ln w="9525">
            <a:solidFill>
              <a:schemeClr val="tx1"/>
            </a:solidFill>
            <a:miter lim="800000"/>
          </a:ln>
          <a:effectLst/>
        </p:spPr>
        <p:txBody>
          <a:bodyPr wrap="none" anchor="ctr"/>
          <a:lstStyle/>
          <a:p>
            <a:pPr algn="ctr"/>
            <a:r>
              <a:rPr lang="en-US" altLang="zh-CN" sz="1000"/>
              <a:t>H</a:t>
            </a:r>
            <a:r>
              <a:rPr lang="en-US" altLang="zh-CN" sz="1000" baseline="-25000"/>
              <a:t>3</a:t>
            </a:r>
          </a:p>
        </p:txBody>
      </p:sp>
      <p:sp>
        <p:nvSpPr>
          <p:cNvPr id="137" name="Rectangle 47">
            <a:extLst>
              <a:ext uri="{FF2B5EF4-FFF2-40B4-BE49-F238E27FC236}">
                <a16:creationId xmlns:a16="http://schemas.microsoft.com/office/drawing/2014/main" id="{CA69CE12-7498-145E-A25B-3CECFD60A189}"/>
              </a:ext>
            </a:extLst>
          </p:cNvPr>
          <p:cNvSpPr>
            <a:spLocks noChangeArrowheads="1"/>
          </p:cNvSpPr>
          <p:nvPr/>
        </p:nvSpPr>
        <p:spPr bwMode="auto">
          <a:xfrm>
            <a:off x="2515214" y="3303460"/>
            <a:ext cx="223200" cy="244800"/>
          </a:xfrm>
          <a:prstGeom prst="rect">
            <a:avLst/>
          </a:prstGeom>
          <a:solidFill>
            <a:srgbClr val="FFC000"/>
          </a:solidFill>
          <a:ln w="9525">
            <a:solidFill>
              <a:schemeClr val="tx1"/>
            </a:solidFill>
            <a:miter lim="800000"/>
          </a:ln>
          <a:effectLst/>
        </p:spPr>
        <p:txBody>
          <a:bodyPr wrap="none" anchor="ctr"/>
          <a:lstStyle/>
          <a:p>
            <a:pPr algn="ctr"/>
            <a:r>
              <a:rPr lang="en-US" altLang="zh-CN" sz="1000"/>
              <a:t>H</a:t>
            </a:r>
            <a:r>
              <a:rPr lang="en-US" altLang="zh-CN" sz="1000" baseline="-25000"/>
              <a:t>4</a:t>
            </a:r>
          </a:p>
        </p:txBody>
      </p:sp>
      <p:sp>
        <p:nvSpPr>
          <p:cNvPr id="139" name="Rectangle 48">
            <a:extLst>
              <a:ext uri="{FF2B5EF4-FFF2-40B4-BE49-F238E27FC236}">
                <a16:creationId xmlns:a16="http://schemas.microsoft.com/office/drawing/2014/main" id="{2A40A79F-521A-7842-2ED8-5D9C0FD2D378}"/>
              </a:ext>
            </a:extLst>
          </p:cNvPr>
          <p:cNvSpPr>
            <a:spLocks noChangeArrowheads="1"/>
          </p:cNvSpPr>
          <p:nvPr/>
        </p:nvSpPr>
        <p:spPr bwMode="auto">
          <a:xfrm>
            <a:off x="2738414" y="3303460"/>
            <a:ext cx="223200" cy="244800"/>
          </a:xfrm>
          <a:prstGeom prst="rect">
            <a:avLst/>
          </a:prstGeom>
          <a:solidFill>
            <a:schemeClr val="accent2"/>
          </a:solidFill>
          <a:ln w="9525">
            <a:solidFill>
              <a:schemeClr val="tx1"/>
            </a:solidFill>
            <a:miter lim="800000"/>
          </a:ln>
          <a:effectLst/>
        </p:spPr>
        <p:txBody>
          <a:bodyPr wrap="none" anchor="ctr"/>
          <a:lstStyle/>
          <a:p>
            <a:pPr algn="ctr"/>
            <a:r>
              <a:rPr lang="en-US" altLang="zh-CN" sz="1000" dirty="0"/>
              <a:t>H</a:t>
            </a:r>
            <a:r>
              <a:rPr lang="en-US" altLang="zh-CN" sz="1000" baseline="-25000" dirty="0"/>
              <a:t>5</a:t>
            </a:r>
          </a:p>
        </p:txBody>
      </p:sp>
      <p:sp>
        <p:nvSpPr>
          <p:cNvPr id="143" name="Rectangle 49">
            <a:extLst>
              <a:ext uri="{FF2B5EF4-FFF2-40B4-BE49-F238E27FC236}">
                <a16:creationId xmlns:a16="http://schemas.microsoft.com/office/drawing/2014/main" id="{98FC8B22-819B-BB29-D490-F003F5FA454E}"/>
              </a:ext>
            </a:extLst>
          </p:cNvPr>
          <p:cNvSpPr>
            <a:spLocks noChangeArrowheads="1"/>
          </p:cNvSpPr>
          <p:nvPr/>
        </p:nvSpPr>
        <p:spPr bwMode="auto">
          <a:xfrm>
            <a:off x="2961614" y="3303460"/>
            <a:ext cx="482400" cy="244800"/>
          </a:xfrm>
          <a:prstGeom prst="rect">
            <a:avLst/>
          </a:prstGeom>
          <a:solidFill>
            <a:schemeClr val="bg1"/>
          </a:solidFill>
          <a:ln w="9525">
            <a:solidFill>
              <a:schemeClr val="tx1"/>
            </a:solidFill>
            <a:miter lim="800000"/>
          </a:ln>
        </p:spPr>
        <p:txBody>
          <a:bodyPr wrap="none" anchor="ctr"/>
          <a:lstStyle/>
          <a:p>
            <a:pPr algn="ctr"/>
            <a:r>
              <a:rPr lang="zh-CN" altLang="en-US" sz="1000" dirty="0"/>
              <a:t>数 据</a:t>
            </a:r>
          </a:p>
        </p:txBody>
      </p:sp>
      <p:sp>
        <p:nvSpPr>
          <p:cNvPr id="145" name="Rectangle 74">
            <a:extLst>
              <a:ext uri="{FF2B5EF4-FFF2-40B4-BE49-F238E27FC236}">
                <a16:creationId xmlns:a16="http://schemas.microsoft.com/office/drawing/2014/main" id="{61F14528-079E-FA38-14A1-ED6EC8C8ED47}"/>
              </a:ext>
            </a:extLst>
          </p:cNvPr>
          <p:cNvSpPr>
            <a:spLocks noChangeArrowheads="1"/>
          </p:cNvSpPr>
          <p:nvPr/>
        </p:nvSpPr>
        <p:spPr bwMode="auto">
          <a:xfrm>
            <a:off x="2068814" y="3303460"/>
            <a:ext cx="223200" cy="244800"/>
          </a:xfrm>
          <a:prstGeom prst="rect">
            <a:avLst/>
          </a:prstGeom>
          <a:solidFill>
            <a:srgbClr val="00B050"/>
          </a:solidFill>
          <a:ln w="9525">
            <a:solidFill>
              <a:schemeClr val="tx1"/>
            </a:solidFill>
            <a:miter lim="800000"/>
          </a:ln>
          <a:effectLst/>
        </p:spPr>
        <p:txBody>
          <a:bodyPr wrap="none" anchor="ctr"/>
          <a:lstStyle/>
          <a:p>
            <a:pPr algn="ctr"/>
            <a:r>
              <a:rPr lang="en-US" altLang="zh-CN" sz="1000" dirty="0"/>
              <a:t>H</a:t>
            </a:r>
            <a:r>
              <a:rPr lang="en-US" altLang="zh-CN" sz="1000" baseline="-25000" dirty="0"/>
              <a:t>2</a:t>
            </a:r>
          </a:p>
        </p:txBody>
      </p:sp>
      <p:sp>
        <p:nvSpPr>
          <p:cNvPr id="147" name="Rectangle 78">
            <a:extLst>
              <a:ext uri="{FF2B5EF4-FFF2-40B4-BE49-F238E27FC236}">
                <a16:creationId xmlns:a16="http://schemas.microsoft.com/office/drawing/2014/main" id="{CD49674C-3AE0-7DB7-52F9-8965B835E8B9}"/>
              </a:ext>
            </a:extLst>
          </p:cNvPr>
          <p:cNvSpPr>
            <a:spLocks noChangeArrowheads="1"/>
          </p:cNvSpPr>
          <p:nvPr/>
        </p:nvSpPr>
        <p:spPr bwMode="auto">
          <a:xfrm>
            <a:off x="3444013" y="3303206"/>
            <a:ext cx="223200" cy="245309"/>
          </a:xfrm>
          <a:prstGeom prst="rect">
            <a:avLst/>
          </a:prstGeom>
          <a:solidFill>
            <a:srgbClr val="00B050"/>
          </a:solidFill>
          <a:ln w="9525">
            <a:solidFill>
              <a:schemeClr val="tx1"/>
            </a:solidFill>
            <a:miter lim="800000"/>
          </a:ln>
          <a:effectLst/>
        </p:spPr>
        <p:txBody>
          <a:bodyPr wrap="none" anchor="ctr"/>
          <a:lstStyle/>
          <a:p>
            <a:pPr algn="ctr"/>
            <a:r>
              <a:rPr lang="en-US" altLang="zh-CN" sz="1000" dirty="0"/>
              <a:t>T</a:t>
            </a:r>
            <a:r>
              <a:rPr lang="en-US" altLang="zh-CN" sz="1000" baseline="-25000" dirty="0"/>
              <a:t>2</a:t>
            </a:r>
          </a:p>
        </p:txBody>
      </p:sp>
      <p:sp>
        <p:nvSpPr>
          <p:cNvPr id="149" name="Rectangle 35">
            <a:extLst>
              <a:ext uri="{FF2B5EF4-FFF2-40B4-BE49-F238E27FC236}">
                <a16:creationId xmlns:a16="http://schemas.microsoft.com/office/drawing/2014/main" id="{1A86C306-44BB-5D87-0DD7-FE0BF4FF1BF5}"/>
              </a:ext>
            </a:extLst>
          </p:cNvPr>
          <p:cNvSpPr>
            <a:spLocks noChangeArrowheads="1"/>
          </p:cNvSpPr>
          <p:nvPr/>
        </p:nvSpPr>
        <p:spPr bwMode="auto">
          <a:xfrm>
            <a:off x="2068816" y="3671598"/>
            <a:ext cx="1598222" cy="244475"/>
          </a:xfrm>
          <a:prstGeom prst="rect">
            <a:avLst/>
          </a:prstGeom>
          <a:ln w="9525">
            <a:solidFill>
              <a:schemeClr val="tx1"/>
            </a:solidFill>
            <a:miter lim="800000"/>
          </a:ln>
        </p:spPr>
        <p:txBody>
          <a:bodyPr wrap="none" anchor="ctr"/>
          <a:lstStyle/>
          <a:p>
            <a:pPr algn="ctr"/>
            <a:r>
              <a:rPr lang="en-US" altLang="zh-CN" sz="1000" dirty="0">
                <a:solidFill>
                  <a:srgbClr val="FF0000"/>
                </a:solidFill>
                <a:latin typeface="+mj-lt"/>
                <a:ea typeface="+mj-ea"/>
              </a:rPr>
              <a:t>10100 </a:t>
            </a:r>
            <a:r>
              <a:rPr lang="zh-CN" altLang="en-US" sz="1000" dirty="0">
                <a:solidFill>
                  <a:srgbClr val="FF0000"/>
                </a:solidFill>
                <a:latin typeface="+mj-lt"/>
                <a:ea typeface="+mj-ea"/>
              </a:rPr>
              <a:t>比特流 </a:t>
            </a:r>
            <a:r>
              <a:rPr lang="en-US" altLang="zh-CN" sz="1000" dirty="0">
                <a:solidFill>
                  <a:srgbClr val="FF0000"/>
                </a:solidFill>
                <a:latin typeface="+mj-lt"/>
                <a:ea typeface="+mj-ea"/>
              </a:rPr>
              <a:t>110100</a:t>
            </a:r>
          </a:p>
        </p:txBody>
      </p:sp>
    </p:spTree>
    <p:extLst>
      <p:ext uri="{BB962C8B-B14F-4D97-AF65-F5344CB8AC3E}">
        <p14:creationId xmlns:p14="http://schemas.microsoft.com/office/powerpoint/2010/main" val="1350159493"/>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4" fill="hold" grpId="0" nodeType="afterEffect">
                                  <p:stCondLst>
                                    <p:cond delay="0"/>
                                  </p:stCondLst>
                                  <p:childTnLst>
                                    <p:set>
                                      <p:cBhvr>
                                        <p:cTn id="6" dur="1" fill="hold">
                                          <p:stCondLst>
                                            <p:cond delay="0"/>
                                          </p:stCondLst>
                                        </p:cTn>
                                        <p:tgtEl>
                                          <p:spTgt spid="87"/>
                                        </p:tgtEl>
                                        <p:attrNameLst>
                                          <p:attrName>style.visibility</p:attrName>
                                        </p:attrNameLst>
                                      </p:cBhvr>
                                      <p:to>
                                        <p:strVal val="visible"/>
                                      </p:to>
                                    </p:set>
                                    <p:animEffect transition="in" filter="wipe(down)">
                                      <p:cBhvr>
                                        <p:cTn id="7" dur="1000"/>
                                        <p:tgtEl>
                                          <p:spTgt spid="8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7" grpId="0" animBg="1"/>
    </p:bldLst>
  </p:timing>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6" name="AutoShape 4">
            <a:extLst>
              <a:ext uri="{FF2B5EF4-FFF2-40B4-BE49-F238E27FC236}">
                <a16:creationId xmlns:a16="http://schemas.microsoft.com/office/drawing/2014/main" id="{272EB0BC-5C42-D4BF-774B-DB10B8865196}"/>
              </a:ext>
            </a:extLst>
          </p:cNvPr>
          <p:cNvSpPr>
            <a:spLocks noChangeArrowheads="1"/>
          </p:cNvSpPr>
          <p:nvPr/>
        </p:nvSpPr>
        <p:spPr bwMode="auto">
          <a:xfrm rot="16200000">
            <a:off x="2567190" y="2361728"/>
            <a:ext cx="271463" cy="3600000"/>
          </a:xfrm>
          <a:prstGeom prst="can">
            <a:avLst>
              <a:gd name="adj" fmla="val 48656"/>
            </a:avLst>
          </a:prstGeom>
          <a:gradFill rotWithShape="0">
            <a:gsLst>
              <a:gs pos="0">
                <a:srgbClr val="00CC00"/>
              </a:gs>
              <a:gs pos="50000">
                <a:schemeClr val="bg1"/>
              </a:gs>
              <a:gs pos="100000">
                <a:srgbClr val="00CC00"/>
              </a:gs>
            </a:gsLst>
            <a:lin ang="5400000" scaled="1"/>
          </a:gradFill>
          <a:ln w="6350">
            <a:solidFill>
              <a:srgbClr val="7CE07C"/>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168" name="AutoShape 4">
            <a:extLst>
              <a:ext uri="{FF2B5EF4-FFF2-40B4-BE49-F238E27FC236}">
                <a16:creationId xmlns:a16="http://schemas.microsoft.com/office/drawing/2014/main" id="{81FEFA27-C175-FC94-C79E-EA8E0B72CA0F}"/>
              </a:ext>
            </a:extLst>
          </p:cNvPr>
          <p:cNvSpPr>
            <a:spLocks noChangeArrowheads="1"/>
          </p:cNvSpPr>
          <p:nvPr/>
        </p:nvSpPr>
        <p:spPr bwMode="auto">
          <a:xfrm rot="16200000">
            <a:off x="6253847" y="2361728"/>
            <a:ext cx="271463" cy="3600000"/>
          </a:xfrm>
          <a:prstGeom prst="can">
            <a:avLst>
              <a:gd name="adj" fmla="val 48656"/>
            </a:avLst>
          </a:prstGeom>
          <a:gradFill rotWithShape="0">
            <a:gsLst>
              <a:gs pos="0">
                <a:srgbClr val="00CC00"/>
              </a:gs>
              <a:gs pos="50000">
                <a:schemeClr val="bg1"/>
              </a:gs>
              <a:gs pos="100000">
                <a:srgbClr val="00CC00"/>
              </a:gs>
            </a:gsLst>
            <a:lin ang="5400000" scaled="1"/>
          </a:gradFill>
          <a:ln w="6350">
            <a:solidFill>
              <a:srgbClr val="7CE07C"/>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170" name="Text Box 26">
            <a:extLst>
              <a:ext uri="{FF2B5EF4-FFF2-40B4-BE49-F238E27FC236}">
                <a16:creationId xmlns:a16="http://schemas.microsoft.com/office/drawing/2014/main" id="{74FF1AE3-2D50-E8F7-D476-A9814F68AE0B}"/>
              </a:ext>
            </a:extLst>
          </p:cNvPr>
          <p:cNvSpPr txBox="1">
            <a:spLocks noChangeArrowheads="1"/>
          </p:cNvSpPr>
          <p:nvPr/>
        </p:nvSpPr>
        <p:spPr bwMode="auto">
          <a:xfrm>
            <a:off x="2701348" y="4023229"/>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dirty="0">
                <a:latin typeface="+mj-lt"/>
                <a:ea typeface="+mj-ea"/>
              </a:rPr>
              <a:t>物理传输媒体</a:t>
            </a:r>
          </a:p>
        </p:txBody>
      </p:sp>
      <p:sp>
        <p:nvSpPr>
          <p:cNvPr id="172" name="Text Box 26">
            <a:extLst>
              <a:ext uri="{FF2B5EF4-FFF2-40B4-BE49-F238E27FC236}">
                <a16:creationId xmlns:a16="http://schemas.microsoft.com/office/drawing/2014/main" id="{4CA71CD9-702C-82B0-DB8C-192FCE07DAC6}"/>
              </a:ext>
            </a:extLst>
          </p:cNvPr>
          <p:cNvSpPr txBox="1">
            <a:spLocks noChangeArrowheads="1"/>
          </p:cNvSpPr>
          <p:nvPr/>
        </p:nvSpPr>
        <p:spPr bwMode="auto">
          <a:xfrm>
            <a:off x="6193730" y="4023229"/>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dirty="0">
                <a:latin typeface="+mj-lt"/>
                <a:ea typeface="+mj-ea"/>
              </a:rPr>
              <a:t>物理传输媒体</a:t>
            </a:r>
          </a:p>
        </p:txBody>
      </p:sp>
      <p:grpSp>
        <p:nvGrpSpPr>
          <p:cNvPr id="159" name="组合 158">
            <a:extLst>
              <a:ext uri="{FF2B5EF4-FFF2-40B4-BE49-F238E27FC236}">
                <a16:creationId xmlns:a16="http://schemas.microsoft.com/office/drawing/2014/main" id="{25CCFFBE-E40D-5AD5-491A-99FA799EBF4F}"/>
              </a:ext>
            </a:extLst>
          </p:cNvPr>
          <p:cNvGrpSpPr/>
          <p:nvPr/>
        </p:nvGrpSpPr>
        <p:grpSpPr>
          <a:xfrm>
            <a:off x="3960000" y="2808000"/>
            <a:ext cx="1080000" cy="1080000"/>
            <a:chOff x="2807995" y="2745746"/>
            <a:chExt cx="1080000" cy="1080000"/>
          </a:xfrm>
        </p:grpSpPr>
        <p:sp>
          <p:nvSpPr>
            <p:cNvPr id="160" name="立方体 159">
              <a:extLst>
                <a:ext uri="{FF2B5EF4-FFF2-40B4-BE49-F238E27FC236}">
                  <a16:creationId xmlns:a16="http://schemas.microsoft.com/office/drawing/2014/main" id="{452EC51E-9DA7-074E-EE72-664073841BF8}"/>
                </a:ext>
              </a:extLst>
            </p:cNvPr>
            <p:cNvSpPr/>
            <p:nvPr/>
          </p:nvSpPr>
          <p:spPr>
            <a:xfrm>
              <a:off x="2807995" y="3393746"/>
              <a:ext cx="594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sz="1050" dirty="0">
                  <a:solidFill>
                    <a:schemeClr val="bg1"/>
                  </a:solidFill>
                </a:rPr>
                <a:t>1</a:t>
              </a:r>
              <a:endParaRPr lang="zh-CN" altLang="en-US" sz="1050" dirty="0">
                <a:solidFill>
                  <a:schemeClr val="bg1"/>
                </a:solidFill>
              </a:endParaRPr>
            </a:p>
          </p:txBody>
        </p:sp>
        <p:sp>
          <p:nvSpPr>
            <p:cNvPr id="161" name="立方体 160">
              <a:extLst>
                <a:ext uri="{FF2B5EF4-FFF2-40B4-BE49-F238E27FC236}">
                  <a16:creationId xmlns:a16="http://schemas.microsoft.com/office/drawing/2014/main" id="{87BE2375-B63A-5074-9FDC-63329B2C75C9}"/>
                </a:ext>
              </a:extLst>
            </p:cNvPr>
            <p:cNvSpPr/>
            <p:nvPr/>
          </p:nvSpPr>
          <p:spPr>
            <a:xfrm>
              <a:off x="2807995" y="3069746"/>
              <a:ext cx="594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sz="1050" dirty="0">
                  <a:solidFill>
                    <a:schemeClr val="bg1"/>
                  </a:solidFill>
                </a:rPr>
                <a:t>2</a:t>
              </a:r>
              <a:endParaRPr lang="zh-CN" altLang="en-US" sz="1050" dirty="0">
                <a:solidFill>
                  <a:schemeClr val="bg1"/>
                </a:solidFill>
              </a:endParaRPr>
            </a:p>
          </p:txBody>
        </p:sp>
        <p:sp>
          <p:nvSpPr>
            <p:cNvPr id="162" name="立方体 161">
              <a:extLst>
                <a:ext uri="{FF2B5EF4-FFF2-40B4-BE49-F238E27FC236}">
                  <a16:creationId xmlns:a16="http://schemas.microsoft.com/office/drawing/2014/main" id="{BD231BF3-0A01-CD42-DA9F-C8147DC4CE7E}"/>
                </a:ext>
              </a:extLst>
            </p:cNvPr>
            <p:cNvSpPr/>
            <p:nvPr/>
          </p:nvSpPr>
          <p:spPr>
            <a:xfrm>
              <a:off x="3293995" y="3393746"/>
              <a:ext cx="594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sz="1050" dirty="0">
                  <a:solidFill>
                    <a:schemeClr val="bg1"/>
                  </a:solidFill>
                </a:rPr>
                <a:t>1</a:t>
              </a:r>
              <a:endParaRPr lang="zh-CN" altLang="en-US" sz="1050" dirty="0">
                <a:solidFill>
                  <a:schemeClr val="bg1"/>
                </a:solidFill>
              </a:endParaRPr>
            </a:p>
          </p:txBody>
        </p:sp>
        <p:sp>
          <p:nvSpPr>
            <p:cNvPr id="163" name="立方体 162">
              <a:extLst>
                <a:ext uri="{FF2B5EF4-FFF2-40B4-BE49-F238E27FC236}">
                  <a16:creationId xmlns:a16="http://schemas.microsoft.com/office/drawing/2014/main" id="{1854DAD1-CE4A-0FF4-DA0C-EEC94F4663DC}"/>
                </a:ext>
              </a:extLst>
            </p:cNvPr>
            <p:cNvSpPr/>
            <p:nvPr/>
          </p:nvSpPr>
          <p:spPr>
            <a:xfrm>
              <a:off x="3293995" y="3069746"/>
              <a:ext cx="594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sz="1050" dirty="0">
                  <a:solidFill>
                    <a:schemeClr val="bg1"/>
                  </a:solidFill>
                </a:rPr>
                <a:t>2</a:t>
              </a:r>
              <a:endParaRPr lang="zh-CN" altLang="en-US" sz="1050" dirty="0">
                <a:solidFill>
                  <a:schemeClr val="bg1"/>
                </a:solidFill>
              </a:endParaRPr>
            </a:p>
          </p:txBody>
        </p:sp>
        <p:sp>
          <p:nvSpPr>
            <p:cNvPr id="164" name="立方体 163">
              <a:extLst>
                <a:ext uri="{FF2B5EF4-FFF2-40B4-BE49-F238E27FC236}">
                  <a16:creationId xmlns:a16="http://schemas.microsoft.com/office/drawing/2014/main" id="{D4F90754-BE62-247F-C9BA-2B072B3CF684}"/>
                </a:ext>
              </a:extLst>
            </p:cNvPr>
            <p:cNvSpPr/>
            <p:nvPr/>
          </p:nvSpPr>
          <p:spPr>
            <a:xfrm>
              <a:off x="2807995" y="2745746"/>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pPr algn="ctr"/>
              <a:r>
                <a:rPr lang="en-US" altLang="zh-CN" sz="1050" dirty="0">
                  <a:solidFill>
                    <a:schemeClr val="bg1"/>
                  </a:solidFill>
                </a:rPr>
                <a:t>3</a:t>
              </a:r>
              <a:endParaRPr lang="zh-CN" altLang="en-US" sz="1050" dirty="0">
                <a:solidFill>
                  <a:schemeClr val="bg1"/>
                </a:solidFill>
              </a:endParaRPr>
            </a:p>
          </p:txBody>
        </p:sp>
      </p:grpSp>
      <p:grpSp>
        <p:nvGrpSpPr>
          <p:cNvPr id="85" name="组合 84">
            <a:extLst>
              <a:ext uri="{FF2B5EF4-FFF2-40B4-BE49-F238E27FC236}">
                <a16:creationId xmlns:a16="http://schemas.microsoft.com/office/drawing/2014/main" id="{D1416939-520C-98DC-B227-3BED275D68F5}"/>
              </a:ext>
            </a:extLst>
          </p:cNvPr>
          <p:cNvGrpSpPr/>
          <p:nvPr/>
        </p:nvGrpSpPr>
        <p:grpSpPr>
          <a:xfrm>
            <a:off x="7395732" y="1800000"/>
            <a:ext cx="1080000" cy="2088000"/>
            <a:chOff x="701211" y="1800000"/>
            <a:chExt cx="1080000" cy="2088000"/>
          </a:xfrm>
        </p:grpSpPr>
        <p:sp>
          <p:nvSpPr>
            <p:cNvPr id="86" name="立方体 85">
              <a:extLst>
                <a:ext uri="{FF2B5EF4-FFF2-40B4-BE49-F238E27FC236}">
                  <a16:creationId xmlns:a16="http://schemas.microsoft.com/office/drawing/2014/main" id="{B4C9387B-F4FB-CD95-4F87-473F74195D89}"/>
                </a:ext>
              </a:extLst>
            </p:cNvPr>
            <p:cNvSpPr/>
            <p:nvPr/>
          </p:nvSpPr>
          <p:spPr>
            <a:xfrm>
              <a:off x="701211" y="3456000"/>
              <a:ext cx="108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050" dirty="0">
                  <a:solidFill>
                    <a:schemeClr val="bg1"/>
                  </a:solidFill>
                </a:rPr>
                <a:t>1 </a:t>
              </a:r>
              <a:r>
                <a:rPr lang="zh-CN" altLang="en-US" sz="1050" dirty="0">
                  <a:solidFill>
                    <a:schemeClr val="bg1"/>
                  </a:solidFill>
                </a:rPr>
                <a:t>物理层</a:t>
              </a:r>
            </a:p>
          </p:txBody>
        </p:sp>
        <p:sp>
          <p:nvSpPr>
            <p:cNvPr id="89" name="立方体 88">
              <a:extLst>
                <a:ext uri="{FF2B5EF4-FFF2-40B4-BE49-F238E27FC236}">
                  <a16:creationId xmlns:a16="http://schemas.microsoft.com/office/drawing/2014/main" id="{3D58B4E3-61DC-2DB0-5C54-1E994FD2A46C}"/>
                </a:ext>
              </a:extLst>
            </p:cNvPr>
            <p:cNvSpPr/>
            <p:nvPr/>
          </p:nvSpPr>
          <p:spPr>
            <a:xfrm>
              <a:off x="701211" y="3132000"/>
              <a:ext cx="108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050" dirty="0">
                  <a:solidFill>
                    <a:schemeClr val="bg1"/>
                  </a:solidFill>
                </a:rPr>
                <a:t>2 </a:t>
              </a:r>
              <a:r>
                <a:rPr lang="zh-CN" altLang="en-US" sz="1050" dirty="0">
                  <a:solidFill>
                    <a:schemeClr val="bg1"/>
                  </a:solidFill>
                </a:rPr>
                <a:t>数据链路层</a:t>
              </a:r>
            </a:p>
          </p:txBody>
        </p:sp>
        <p:sp>
          <p:nvSpPr>
            <p:cNvPr id="90" name="立方体 89">
              <a:extLst>
                <a:ext uri="{FF2B5EF4-FFF2-40B4-BE49-F238E27FC236}">
                  <a16:creationId xmlns:a16="http://schemas.microsoft.com/office/drawing/2014/main" id="{BD153B01-9AAB-B15C-0CD4-17FD2B520347}"/>
                </a:ext>
              </a:extLst>
            </p:cNvPr>
            <p:cNvSpPr/>
            <p:nvPr/>
          </p:nvSpPr>
          <p:spPr>
            <a:xfrm>
              <a:off x="701211" y="2808000"/>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050" dirty="0">
                  <a:solidFill>
                    <a:schemeClr val="bg1"/>
                  </a:solidFill>
                </a:rPr>
                <a:t>3 </a:t>
              </a:r>
              <a:r>
                <a:rPr lang="zh-CN" altLang="en-US" sz="1050" dirty="0">
                  <a:solidFill>
                    <a:schemeClr val="bg1"/>
                  </a:solidFill>
                </a:rPr>
                <a:t>网络层</a:t>
              </a:r>
            </a:p>
          </p:txBody>
        </p:sp>
        <p:sp>
          <p:nvSpPr>
            <p:cNvPr id="91" name="立方体 90">
              <a:extLst>
                <a:ext uri="{FF2B5EF4-FFF2-40B4-BE49-F238E27FC236}">
                  <a16:creationId xmlns:a16="http://schemas.microsoft.com/office/drawing/2014/main" id="{A755436A-6174-8FEF-5D24-7D2927095CDA}"/>
                </a:ext>
              </a:extLst>
            </p:cNvPr>
            <p:cNvSpPr/>
            <p:nvPr/>
          </p:nvSpPr>
          <p:spPr>
            <a:xfrm>
              <a:off x="701211" y="2484000"/>
              <a:ext cx="108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050" dirty="0">
                  <a:solidFill>
                    <a:schemeClr val="bg1"/>
                  </a:solidFill>
                </a:rPr>
                <a:t>4 </a:t>
              </a:r>
              <a:r>
                <a:rPr lang="zh-CN" altLang="en-US" sz="1050" dirty="0">
                  <a:solidFill>
                    <a:schemeClr val="bg1"/>
                  </a:solidFill>
                </a:rPr>
                <a:t>运输层</a:t>
              </a:r>
            </a:p>
          </p:txBody>
        </p:sp>
        <p:sp>
          <p:nvSpPr>
            <p:cNvPr id="92" name="立方体 91">
              <a:extLst>
                <a:ext uri="{FF2B5EF4-FFF2-40B4-BE49-F238E27FC236}">
                  <a16:creationId xmlns:a16="http://schemas.microsoft.com/office/drawing/2014/main" id="{877E337B-AA1D-84FD-8B67-DE90661E6F7D}"/>
                </a:ext>
              </a:extLst>
            </p:cNvPr>
            <p:cNvSpPr/>
            <p:nvPr/>
          </p:nvSpPr>
          <p:spPr>
            <a:xfrm>
              <a:off x="701211" y="2160000"/>
              <a:ext cx="108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050" dirty="0">
                  <a:solidFill>
                    <a:schemeClr val="bg1"/>
                  </a:solidFill>
                </a:rPr>
                <a:t>5 </a:t>
              </a:r>
              <a:r>
                <a:rPr lang="zh-CN" altLang="en-US" sz="1050" dirty="0">
                  <a:solidFill>
                    <a:schemeClr val="bg1"/>
                  </a:solidFill>
                </a:rPr>
                <a:t>应用层</a:t>
              </a:r>
            </a:p>
          </p:txBody>
        </p:sp>
        <p:sp>
          <p:nvSpPr>
            <p:cNvPr id="93" name="圆柱体 92">
              <a:extLst>
                <a:ext uri="{FF2B5EF4-FFF2-40B4-BE49-F238E27FC236}">
                  <a16:creationId xmlns:a16="http://schemas.microsoft.com/office/drawing/2014/main" id="{66F93B29-1193-EB5B-5719-1AE42168A856}"/>
                </a:ext>
              </a:extLst>
            </p:cNvPr>
            <p:cNvSpPr/>
            <p:nvPr/>
          </p:nvSpPr>
          <p:spPr>
            <a:xfrm>
              <a:off x="953211" y="1800000"/>
              <a:ext cx="576000" cy="360000"/>
            </a:xfrm>
            <a:prstGeom prst="can">
              <a:avLst/>
            </a:prstGeom>
            <a:solidFill>
              <a:srgbClr val="FFFF00"/>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000" dirty="0">
                  <a:solidFill>
                    <a:sysClr val="windowText" lastClr="000000"/>
                  </a:solidFill>
                </a:rPr>
                <a:t>AP1</a:t>
              </a:r>
              <a:endParaRPr lang="zh-CN" altLang="en-US" sz="1000" dirty="0">
                <a:solidFill>
                  <a:sysClr val="windowText" lastClr="000000"/>
                </a:solidFill>
              </a:endParaRPr>
            </a:p>
          </p:txBody>
        </p:sp>
      </p:grpSp>
      <p:grpSp>
        <p:nvGrpSpPr>
          <p:cNvPr id="94" name="组合 93">
            <a:extLst>
              <a:ext uri="{FF2B5EF4-FFF2-40B4-BE49-F238E27FC236}">
                <a16:creationId xmlns:a16="http://schemas.microsoft.com/office/drawing/2014/main" id="{42965F2E-D95E-F039-E5B3-1A4B4293E147}"/>
              </a:ext>
            </a:extLst>
          </p:cNvPr>
          <p:cNvGrpSpPr/>
          <p:nvPr/>
        </p:nvGrpSpPr>
        <p:grpSpPr>
          <a:xfrm>
            <a:off x="701211" y="1800000"/>
            <a:ext cx="1080000" cy="2088000"/>
            <a:chOff x="701211" y="1800000"/>
            <a:chExt cx="1080000" cy="2088000"/>
          </a:xfrm>
        </p:grpSpPr>
        <p:sp>
          <p:nvSpPr>
            <p:cNvPr id="96" name="立方体 95">
              <a:extLst>
                <a:ext uri="{FF2B5EF4-FFF2-40B4-BE49-F238E27FC236}">
                  <a16:creationId xmlns:a16="http://schemas.microsoft.com/office/drawing/2014/main" id="{40EDC8F4-6B1A-CFE1-950B-29CB3FEBAA31}"/>
                </a:ext>
              </a:extLst>
            </p:cNvPr>
            <p:cNvSpPr/>
            <p:nvPr/>
          </p:nvSpPr>
          <p:spPr>
            <a:xfrm>
              <a:off x="701211" y="3456000"/>
              <a:ext cx="108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050" dirty="0">
                  <a:solidFill>
                    <a:schemeClr val="bg1"/>
                  </a:solidFill>
                </a:rPr>
                <a:t>1 </a:t>
              </a:r>
              <a:r>
                <a:rPr lang="zh-CN" altLang="en-US" sz="1050" dirty="0">
                  <a:solidFill>
                    <a:schemeClr val="bg1"/>
                  </a:solidFill>
                </a:rPr>
                <a:t>物理层</a:t>
              </a:r>
            </a:p>
          </p:txBody>
        </p:sp>
        <p:sp>
          <p:nvSpPr>
            <p:cNvPr id="98" name="立方体 97">
              <a:extLst>
                <a:ext uri="{FF2B5EF4-FFF2-40B4-BE49-F238E27FC236}">
                  <a16:creationId xmlns:a16="http://schemas.microsoft.com/office/drawing/2014/main" id="{8EDAEFAC-D399-7DD2-4224-A4A924FF8D3B}"/>
                </a:ext>
              </a:extLst>
            </p:cNvPr>
            <p:cNvSpPr/>
            <p:nvPr/>
          </p:nvSpPr>
          <p:spPr>
            <a:xfrm>
              <a:off x="701211" y="3132000"/>
              <a:ext cx="108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050" dirty="0">
                  <a:solidFill>
                    <a:schemeClr val="bg1"/>
                  </a:solidFill>
                </a:rPr>
                <a:t>2 </a:t>
              </a:r>
              <a:r>
                <a:rPr lang="zh-CN" altLang="en-US" sz="1050" dirty="0">
                  <a:solidFill>
                    <a:schemeClr val="bg1"/>
                  </a:solidFill>
                </a:rPr>
                <a:t>数据链路层</a:t>
              </a:r>
            </a:p>
          </p:txBody>
        </p:sp>
        <p:sp>
          <p:nvSpPr>
            <p:cNvPr id="106" name="立方体 105">
              <a:extLst>
                <a:ext uri="{FF2B5EF4-FFF2-40B4-BE49-F238E27FC236}">
                  <a16:creationId xmlns:a16="http://schemas.microsoft.com/office/drawing/2014/main" id="{A66C553F-A9AA-2B6E-EF39-1CE53071F4C7}"/>
                </a:ext>
              </a:extLst>
            </p:cNvPr>
            <p:cNvSpPr/>
            <p:nvPr/>
          </p:nvSpPr>
          <p:spPr>
            <a:xfrm>
              <a:off x="701211" y="2808000"/>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050" dirty="0">
                  <a:solidFill>
                    <a:schemeClr val="bg1"/>
                  </a:solidFill>
                </a:rPr>
                <a:t>3 </a:t>
              </a:r>
              <a:r>
                <a:rPr lang="zh-CN" altLang="en-US" sz="1050" dirty="0">
                  <a:solidFill>
                    <a:schemeClr val="bg1"/>
                  </a:solidFill>
                </a:rPr>
                <a:t>网络层</a:t>
              </a:r>
            </a:p>
          </p:txBody>
        </p:sp>
        <p:sp>
          <p:nvSpPr>
            <p:cNvPr id="108" name="立方体 107">
              <a:extLst>
                <a:ext uri="{FF2B5EF4-FFF2-40B4-BE49-F238E27FC236}">
                  <a16:creationId xmlns:a16="http://schemas.microsoft.com/office/drawing/2014/main" id="{17E85A2F-A5E6-99DD-4452-0C27B6A05613}"/>
                </a:ext>
              </a:extLst>
            </p:cNvPr>
            <p:cNvSpPr/>
            <p:nvPr/>
          </p:nvSpPr>
          <p:spPr>
            <a:xfrm>
              <a:off x="701211" y="2484000"/>
              <a:ext cx="108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050" dirty="0">
                  <a:solidFill>
                    <a:schemeClr val="bg1"/>
                  </a:solidFill>
                </a:rPr>
                <a:t>4 </a:t>
              </a:r>
              <a:r>
                <a:rPr lang="zh-CN" altLang="en-US" sz="1050" dirty="0">
                  <a:solidFill>
                    <a:schemeClr val="bg1"/>
                  </a:solidFill>
                </a:rPr>
                <a:t>运输层</a:t>
              </a:r>
            </a:p>
          </p:txBody>
        </p:sp>
        <p:sp>
          <p:nvSpPr>
            <p:cNvPr id="112" name="立方体 111">
              <a:extLst>
                <a:ext uri="{FF2B5EF4-FFF2-40B4-BE49-F238E27FC236}">
                  <a16:creationId xmlns:a16="http://schemas.microsoft.com/office/drawing/2014/main" id="{8F0A252A-9E37-CCD0-BD46-9379E2929767}"/>
                </a:ext>
              </a:extLst>
            </p:cNvPr>
            <p:cNvSpPr/>
            <p:nvPr/>
          </p:nvSpPr>
          <p:spPr>
            <a:xfrm>
              <a:off x="701211" y="2160000"/>
              <a:ext cx="108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050" dirty="0">
                  <a:solidFill>
                    <a:schemeClr val="bg1"/>
                  </a:solidFill>
                </a:rPr>
                <a:t>5 </a:t>
              </a:r>
              <a:r>
                <a:rPr lang="zh-CN" altLang="en-US" sz="1050" dirty="0">
                  <a:solidFill>
                    <a:schemeClr val="bg1"/>
                  </a:solidFill>
                </a:rPr>
                <a:t>应用层</a:t>
              </a:r>
            </a:p>
          </p:txBody>
        </p:sp>
        <p:sp>
          <p:nvSpPr>
            <p:cNvPr id="113" name="圆柱体 112">
              <a:extLst>
                <a:ext uri="{FF2B5EF4-FFF2-40B4-BE49-F238E27FC236}">
                  <a16:creationId xmlns:a16="http://schemas.microsoft.com/office/drawing/2014/main" id="{9A348302-DA4E-E4F2-BF01-CB0F14D83B63}"/>
                </a:ext>
              </a:extLst>
            </p:cNvPr>
            <p:cNvSpPr/>
            <p:nvPr/>
          </p:nvSpPr>
          <p:spPr>
            <a:xfrm>
              <a:off x="953211" y="1800000"/>
              <a:ext cx="576000" cy="360000"/>
            </a:xfrm>
            <a:prstGeom prst="can">
              <a:avLst/>
            </a:prstGeom>
            <a:solidFill>
              <a:srgbClr val="FFFF00"/>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000" dirty="0">
                  <a:solidFill>
                    <a:sysClr val="windowText" lastClr="000000"/>
                  </a:solidFill>
                </a:rPr>
                <a:t>AP1</a:t>
              </a:r>
              <a:endParaRPr lang="zh-CN" altLang="en-US" sz="1000" dirty="0">
                <a:solidFill>
                  <a:sysClr val="windowText" lastClr="000000"/>
                </a:solidFill>
              </a:endParaRPr>
            </a:p>
          </p:txBody>
        </p:sp>
      </p:grpSp>
      <p:sp>
        <p:nvSpPr>
          <p:cNvPr id="25" name="Text Box 29"/>
          <p:cNvSpPr txBox="1">
            <a:spLocks noChangeArrowheads="1"/>
          </p:cNvSpPr>
          <p:nvPr/>
        </p:nvSpPr>
        <p:spPr bwMode="auto">
          <a:xfrm>
            <a:off x="110689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1</a:t>
            </a:r>
          </a:p>
        </p:txBody>
      </p:sp>
      <p:sp>
        <p:nvSpPr>
          <p:cNvPr id="38" name="Text Box 29"/>
          <p:cNvSpPr txBox="1">
            <a:spLocks noChangeArrowheads="1"/>
          </p:cNvSpPr>
          <p:nvPr/>
        </p:nvSpPr>
        <p:spPr bwMode="auto">
          <a:xfrm>
            <a:off x="736975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2</a:t>
            </a:r>
          </a:p>
        </p:txBody>
      </p:sp>
      <p:sp>
        <p:nvSpPr>
          <p:cNvPr id="39" name="Text Box 29"/>
          <p:cNvSpPr txBox="1">
            <a:spLocks noChangeArrowheads="1"/>
          </p:cNvSpPr>
          <p:nvPr/>
        </p:nvSpPr>
        <p:spPr bwMode="auto">
          <a:xfrm>
            <a:off x="4160212" y="107510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路由器</a:t>
            </a:r>
            <a:endParaRPr kumimoji="1" lang="en-US" altLang="zh-CN" sz="1200" b="1" dirty="0">
              <a:solidFill>
                <a:srgbClr val="0000FF"/>
              </a:solidFill>
              <a:latin typeface="微软雅黑" panose="020B0503020204020204" pitchFamily="34" charset="-122"/>
              <a:ea typeface="微软雅黑" panose="020B0503020204020204" pitchFamily="34" charset="-122"/>
            </a:endParaRPr>
          </a:p>
        </p:txBody>
      </p:sp>
      <p:cxnSp>
        <p:nvCxnSpPr>
          <p:cNvPr id="69" name="直接连接符 68"/>
          <p:cNvCxnSpPr/>
          <p:nvPr/>
        </p:nvCxnSpPr>
        <p:spPr>
          <a:xfrm>
            <a:off x="1418143" y="1507958"/>
            <a:ext cx="6306131" cy="0"/>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pic>
        <p:nvPicPr>
          <p:cNvPr id="36"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486661" y="1312469"/>
            <a:ext cx="410222"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7"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202308" y="1312469"/>
            <a:ext cx="410223"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140" name="直接箭头连接符 139"/>
          <p:cNvCxnSpPr/>
          <p:nvPr/>
        </p:nvCxnSpPr>
        <p:spPr>
          <a:xfrm>
            <a:off x="1561619" y="1428166"/>
            <a:ext cx="5941518" cy="0"/>
          </a:xfrm>
          <a:prstGeom prst="straightConnector1">
            <a:avLst/>
          </a:prstGeom>
          <a:ln w="28575">
            <a:solidFill>
              <a:srgbClr val="CC00CC"/>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35"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54124" y="1385466"/>
            <a:ext cx="454438" cy="2643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73" name="AutoShape 51"/>
          <p:cNvSpPr>
            <a:spLocks noChangeArrowheads="1"/>
          </p:cNvSpPr>
          <p:nvPr/>
        </p:nvSpPr>
        <p:spPr bwMode="auto">
          <a:xfrm flipV="1">
            <a:off x="1237476" y="2076244"/>
            <a:ext cx="145966" cy="205414"/>
          </a:xfrm>
          <a:prstGeom prst="upArrow">
            <a:avLst>
              <a:gd name="adj1" fmla="val 50000"/>
              <a:gd name="adj2" fmla="val 45968"/>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88" name="AutoShape 54"/>
          <p:cNvSpPr>
            <a:spLocks noChangeArrowheads="1"/>
          </p:cNvSpPr>
          <p:nvPr/>
        </p:nvSpPr>
        <p:spPr bwMode="auto">
          <a:xfrm rot="10800000">
            <a:off x="1237478" y="2439149"/>
            <a:ext cx="147144" cy="221279"/>
          </a:xfrm>
          <a:prstGeom prst="upArrow">
            <a:avLst>
              <a:gd name="adj1" fmla="val 50000"/>
              <a:gd name="adj2" fmla="val 498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5" name="AutoShape 57"/>
          <p:cNvSpPr>
            <a:spLocks noChangeArrowheads="1"/>
          </p:cNvSpPr>
          <p:nvPr/>
        </p:nvSpPr>
        <p:spPr bwMode="auto">
          <a:xfrm rot="10800000">
            <a:off x="1235122" y="2826328"/>
            <a:ext cx="148321" cy="222762"/>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07" name="AutoShape 57"/>
          <p:cNvSpPr>
            <a:spLocks noChangeArrowheads="1"/>
          </p:cNvSpPr>
          <p:nvPr/>
        </p:nvSpPr>
        <p:spPr bwMode="auto">
          <a:xfrm rot="10800000">
            <a:off x="1226181" y="3198896"/>
            <a:ext cx="156561" cy="213191"/>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19" name="AutoShape 63"/>
          <p:cNvSpPr>
            <a:spLocks noChangeArrowheads="1"/>
          </p:cNvSpPr>
          <p:nvPr/>
        </p:nvSpPr>
        <p:spPr bwMode="auto">
          <a:xfrm rot="10800000">
            <a:off x="1226181" y="3567260"/>
            <a:ext cx="165978" cy="238153"/>
          </a:xfrm>
          <a:prstGeom prst="upArrow">
            <a:avLst>
              <a:gd name="adj1" fmla="val 50000"/>
              <a:gd name="adj2" fmla="val 50403"/>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00" name="AutoShape 25"/>
          <p:cNvSpPr>
            <a:spLocks noChangeArrowheads="1"/>
          </p:cNvSpPr>
          <p:nvPr/>
        </p:nvSpPr>
        <p:spPr bwMode="auto">
          <a:xfrm flipV="1">
            <a:off x="1266066" y="3955320"/>
            <a:ext cx="263283" cy="281183"/>
          </a:xfrm>
          <a:custGeom>
            <a:avLst/>
            <a:gdLst>
              <a:gd name="T0" fmla="*/ 218339 w 21600"/>
              <a:gd name="T1" fmla="*/ 0 h 21600"/>
              <a:gd name="T2" fmla="*/ 218339 w 21600"/>
              <a:gd name="T3" fmla="*/ 171757 h 21600"/>
              <a:gd name="T4" fmla="*/ 46725 w 21600"/>
              <a:gd name="T5" fmla="*/ 305144 h 21600"/>
              <a:gd name="T6" fmla="*/ 311789 w 21600"/>
              <a:gd name="T7" fmla="*/ 85878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11" name="AutoShape 42"/>
          <p:cNvSpPr>
            <a:spLocks noChangeArrowheads="1"/>
          </p:cNvSpPr>
          <p:nvPr/>
        </p:nvSpPr>
        <p:spPr bwMode="auto">
          <a:xfrm rot="5400000" flipH="1">
            <a:off x="3905139" y="3932147"/>
            <a:ext cx="254669" cy="288428"/>
          </a:xfrm>
          <a:custGeom>
            <a:avLst/>
            <a:gdLst>
              <a:gd name="T0" fmla="*/ 220161 w 21600"/>
              <a:gd name="T1" fmla="*/ 0 h 21600"/>
              <a:gd name="T2" fmla="*/ 220161 w 21600"/>
              <a:gd name="T3" fmla="*/ 175497 h 21600"/>
              <a:gd name="T4" fmla="*/ 47115 w 21600"/>
              <a:gd name="T5" fmla="*/ 311790 h 21600"/>
              <a:gd name="T6" fmla="*/ 314391 w 21600"/>
              <a:gd name="T7" fmla="*/ 87749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nvGrpSpPr>
          <p:cNvPr id="125" name="Group 34"/>
          <p:cNvGrpSpPr/>
          <p:nvPr/>
        </p:nvGrpSpPr>
        <p:grpSpPr bwMode="auto">
          <a:xfrm>
            <a:off x="1792727" y="4119885"/>
            <a:ext cx="841456" cy="101715"/>
            <a:chOff x="1344" y="912"/>
            <a:chExt cx="672" cy="96"/>
          </a:xfrm>
          <a:solidFill>
            <a:srgbClr val="FF0000"/>
          </a:solidFill>
        </p:grpSpPr>
        <p:sp>
          <p:nvSpPr>
            <p:cNvPr id="126" name="Line 35"/>
            <p:cNvSpPr>
              <a:spLocks noChangeShapeType="1"/>
            </p:cNvSpPr>
            <p:nvPr/>
          </p:nvSpPr>
          <p:spPr bwMode="auto">
            <a:xfrm>
              <a:off x="1344" y="960"/>
              <a:ext cx="672" cy="0"/>
            </a:xfrm>
            <a:prstGeom prst="line">
              <a:avLst/>
            </a:prstGeom>
            <a:grpFill/>
            <a:ln w="12700">
              <a:no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sp>
          <p:nvSpPr>
            <p:cNvPr id="127" name="Freeform 36"/>
            <p:cNvSpPr/>
            <p:nvPr/>
          </p:nvSpPr>
          <p:spPr bwMode="auto">
            <a:xfrm>
              <a:off x="1392" y="912"/>
              <a:ext cx="576" cy="96"/>
            </a:xfrm>
            <a:custGeom>
              <a:avLst/>
              <a:gdLst>
                <a:gd name="T0" fmla="*/ 0 w 576"/>
                <a:gd name="T1" fmla="*/ 96 h 192"/>
                <a:gd name="T2" fmla="*/ 0 w 576"/>
                <a:gd name="T3" fmla="*/ 0 h 192"/>
                <a:gd name="T4" fmla="*/ 192 w 576"/>
                <a:gd name="T5" fmla="*/ 0 h 192"/>
                <a:gd name="T6" fmla="*/ 192 w 576"/>
                <a:gd name="T7" fmla="*/ 192 h 192"/>
                <a:gd name="T8" fmla="*/ 288 w 576"/>
                <a:gd name="T9" fmla="*/ 192 h 192"/>
                <a:gd name="T10" fmla="*/ 288 w 576"/>
                <a:gd name="T11" fmla="*/ 0 h 192"/>
                <a:gd name="T12" fmla="*/ 336 w 576"/>
                <a:gd name="T13" fmla="*/ 0 h 192"/>
                <a:gd name="T14" fmla="*/ 336 w 576"/>
                <a:gd name="T15" fmla="*/ 192 h 192"/>
                <a:gd name="T16" fmla="*/ 480 w 576"/>
                <a:gd name="T17" fmla="*/ 192 h 192"/>
                <a:gd name="T18" fmla="*/ 480 w 576"/>
                <a:gd name="T19" fmla="*/ 0 h 192"/>
                <a:gd name="T20" fmla="*/ 576 w 576"/>
                <a:gd name="T21" fmla="*/ 0 h 192"/>
                <a:gd name="T22" fmla="*/ 576 w 576"/>
                <a:gd name="T23" fmla="*/ 96 h 192"/>
                <a:gd name="T24" fmla="*/ 0 w 576"/>
                <a:gd name="T25" fmla="*/ 96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6" h="192">
                  <a:moveTo>
                    <a:pt x="0" y="96"/>
                  </a:moveTo>
                  <a:lnTo>
                    <a:pt x="0" y="0"/>
                  </a:lnTo>
                  <a:lnTo>
                    <a:pt x="192" y="0"/>
                  </a:lnTo>
                  <a:lnTo>
                    <a:pt x="192" y="192"/>
                  </a:lnTo>
                  <a:lnTo>
                    <a:pt x="288" y="192"/>
                  </a:lnTo>
                  <a:lnTo>
                    <a:pt x="288" y="0"/>
                  </a:lnTo>
                  <a:lnTo>
                    <a:pt x="336" y="0"/>
                  </a:lnTo>
                  <a:lnTo>
                    <a:pt x="336" y="192"/>
                  </a:lnTo>
                  <a:lnTo>
                    <a:pt x="480" y="192"/>
                  </a:lnTo>
                  <a:lnTo>
                    <a:pt x="480" y="0"/>
                  </a:lnTo>
                  <a:lnTo>
                    <a:pt x="576" y="0"/>
                  </a:lnTo>
                  <a:lnTo>
                    <a:pt x="576" y="96"/>
                  </a:lnTo>
                  <a:lnTo>
                    <a:pt x="0" y="96"/>
                  </a:lnTo>
                  <a:close/>
                </a:path>
              </a:pathLst>
            </a:custGeom>
            <a:grpFill/>
            <a:ln w="12700" cap="flat" cmpd="sng">
              <a:noFill/>
              <a:prstDash val="solid"/>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grpSp>
      <p:sp>
        <p:nvSpPr>
          <p:cNvPr id="87" name="上箭头 86"/>
          <p:cNvSpPr/>
          <p:nvPr/>
        </p:nvSpPr>
        <p:spPr>
          <a:xfrm>
            <a:off x="4028301" y="3527399"/>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2" name="上箭头 81"/>
          <p:cNvSpPr/>
          <p:nvPr/>
        </p:nvSpPr>
        <p:spPr>
          <a:xfrm>
            <a:off x="4028301" y="3154024"/>
            <a:ext cx="178622" cy="245129"/>
          </a:xfrm>
          <a:prstGeom prst="up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标题 1">
            <a:extLst>
              <a:ext uri="{FF2B5EF4-FFF2-40B4-BE49-F238E27FC236}">
                <a16:creationId xmlns:a16="http://schemas.microsoft.com/office/drawing/2014/main" id="{A5F30907-012C-D6A3-19FF-9ECE1430E04E}"/>
              </a:ext>
            </a:extLst>
          </p:cNvPr>
          <p:cNvSpPr>
            <a:spLocks noGrp="1"/>
          </p:cNvSpPr>
          <p:nvPr>
            <p:ph type="title"/>
          </p:nvPr>
        </p:nvSpPr>
        <p:spPr>
          <a:xfrm>
            <a:off x="612000" y="144000"/>
            <a:ext cx="7920000" cy="341632"/>
          </a:xfrm>
        </p:spPr>
        <p:txBody>
          <a:bodyPr/>
          <a:lstStyle/>
          <a:p>
            <a:r>
              <a:rPr lang="zh-CN" altLang="en-US" dirty="0"/>
              <a:t>数据在各层之间的传递过程</a:t>
            </a:r>
          </a:p>
        </p:txBody>
      </p:sp>
      <p:sp>
        <p:nvSpPr>
          <p:cNvPr id="134" name="Rectangle 42">
            <a:extLst>
              <a:ext uri="{FF2B5EF4-FFF2-40B4-BE49-F238E27FC236}">
                <a16:creationId xmlns:a16="http://schemas.microsoft.com/office/drawing/2014/main" id="{2A291D52-452A-7C72-C7F8-AEEB3700B1A0}"/>
              </a:ext>
            </a:extLst>
          </p:cNvPr>
          <p:cNvSpPr>
            <a:spLocks noChangeArrowheads="1"/>
          </p:cNvSpPr>
          <p:nvPr/>
        </p:nvSpPr>
        <p:spPr bwMode="auto">
          <a:xfrm>
            <a:off x="2515214" y="2932543"/>
            <a:ext cx="223200" cy="244800"/>
          </a:xfrm>
          <a:prstGeom prst="rect">
            <a:avLst/>
          </a:prstGeom>
          <a:solidFill>
            <a:srgbClr val="FFC000"/>
          </a:solidFill>
          <a:ln w="9525">
            <a:solidFill>
              <a:schemeClr val="tx1"/>
            </a:solidFill>
            <a:miter lim="800000"/>
          </a:ln>
          <a:effectLst/>
        </p:spPr>
        <p:txBody>
          <a:bodyPr wrap="none" anchor="ctr"/>
          <a:lstStyle/>
          <a:p>
            <a:pPr algn="ctr"/>
            <a:r>
              <a:rPr lang="en-US" altLang="zh-CN" sz="1000" dirty="0"/>
              <a:t>H</a:t>
            </a:r>
            <a:r>
              <a:rPr lang="en-US" altLang="zh-CN" sz="1000" baseline="-25000" dirty="0"/>
              <a:t>4</a:t>
            </a:r>
          </a:p>
        </p:txBody>
      </p:sp>
      <p:sp>
        <p:nvSpPr>
          <p:cNvPr id="136" name="Rectangle 43">
            <a:extLst>
              <a:ext uri="{FF2B5EF4-FFF2-40B4-BE49-F238E27FC236}">
                <a16:creationId xmlns:a16="http://schemas.microsoft.com/office/drawing/2014/main" id="{56AE5671-3CE0-5AC4-0314-3810E730A892}"/>
              </a:ext>
            </a:extLst>
          </p:cNvPr>
          <p:cNvSpPr>
            <a:spLocks noChangeArrowheads="1"/>
          </p:cNvSpPr>
          <p:nvPr/>
        </p:nvSpPr>
        <p:spPr bwMode="auto">
          <a:xfrm>
            <a:off x="2738414" y="2932543"/>
            <a:ext cx="223200" cy="244800"/>
          </a:xfrm>
          <a:prstGeom prst="rect">
            <a:avLst/>
          </a:prstGeom>
          <a:solidFill>
            <a:schemeClr val="accent2"/>
          </a:solidFill>
          <a:ln w="9525">
            <a:solidFill>
              <a:schemeClr val="tx1"/>
            </a:solidFill>
            <a:miter lim="800000"/>
          </a:ln>
          <a:effectLst/>
        </p:spPr>
        <p:txBody>
          <a:bodyPr wrap="none" anchor="ctr"/>
          <a:lstStyle/>
          <a:p>
            <a:pPr algn="ctr"/>
            <a:r>
              <a:rPr lang="en-US" altLang="zh-CN" sz="1000" dirty="0"/>
              <a:t>H</a:t>
            </a:r>
            <a:r>
              <a:rPr lang="en-US" altLang="zh-CN" sz="1000" baseline="-25000" dirty="0"/>
              <a:t>5</a:t>
            </a:r>
          </a:p>
        </p:txBody>
      </p:sp>
      <p:sp>
        <p:nvSpPr>
          <p:cNvPr id="138" name="Rectangle 44">
            <a:extLst>
              <a:ext uri="{FF2B5EF4-FFF2-40B4-BE49-F238E27FC236}">
                <a16:creationId xmlns:a16="http://schemas.microsoft.com/office/drawing/2014/main" id="{1C70CC52-6CC5-DC9E-5EC4-FB63D1D34790}"/>
              </a:ext>
            </a:extLst>
          </p:cNvPr>
          <p:cNvSpPr>
            <a:spLocks noChangeArrowheads="1"/>
          </p:cNvSpPr>
          <p:nvPr/>
        </p:nvSpPr>
        <p:spPr bwMode="auto">
          <a:xfrm>
            <a:off x="2961614" y="2932543"/>
            <a:ext cx="482400" cy="244800"/>
          </a:xfrm>
          <a:prstGeom prst="rect">
            <a:avLst/>
          </a:prstGeom>
          <a:solidFill>
            <a:schemeClr val="bg1"/>
          </a:solidFill>
          <a:ln w="9525">
            <a:solidFill>
              <a:schemeClr val="tx1"/>
            </a:solidFill>
            <a:miter lim="800000"/>
          </a:ln>
        </p:spPr>
        <p:txBody>
          <a:bodyPr wrap="none" anchor="ctr"/>
          <a:lstStyle/>
          <a:p>
            <a:pPr algn="ctr"/>
            <a:r>
              <a:rPr lang="zh-CN" altLang="en-US" sz="1000" dirty="0"/>
              <a:t>数 据</a:t>
            </a:r>
          </a:p>
        </p:txBody>
      </p:sp>
      <p:sp>
        <p:nvSpPr>
          <p:cNvPr id="142" name="Rectangle 70">
            <a:extLst>
              <a:ext uri="{FF2B5EF4-FFF2-40B4-BE49-F238E27FC236}">
                <a16:creationId xmlns:a16="http://schemas.microsoft.com/office/drawing/2014/main" id="{76C4B809-7149-DE70-176F-94F4DA85BD48}"/>
              </a:ext>
            </a:extLst>
          </p:cNvPr>
          <p:cNvSpPr>
            <a:spLocks noChangeArrowheads="1"/>
          </p:cNvSpPr>
          <p:nvPr/>
        </p:nvSpPr>
        <p:spPr bwMode="auto">
          <a:xfrm>
            <a:off x="2292014" y="2932543"/>
            <a:ext cx="223200" cy="244800"/>
          </a:xfrm>
          <a:prstGeom prst="rect">
            <a:avLst/>
          </a:prstGeom>
          <a:solidFill>
            <a:srgbClr val="00B0F0"/>
          </a:solidFill>
          <a:ln w="9525">
            <a:solidFill>
              <a:schemeClr val="tx1"/>
            </a:solidFill>
            <a:miter lim="800000"/>
          </a:ln>
          <a:effectLst/>
        </p:spPr>
        <p:txBody>
          <a:bodyPr wrap="none" anchor="ctr"/>
          <a:lstStyle/>
          <a:p>
            <a:pPr algn="ctr"/>
            <a:r>
              <a:rPr lang="en-US" altLang="zh-CN" sz="1000"/>
              <a:t>H</a:t>
            </a:r>
            <a:r>
              <a:rPr lang="en-US" altLang="zh-CN" sz="1000" baseline="-25000"/>
              <a:t>3</a:t>
            </a:r>
          </a:p>
        </p:txBody>
      </p:sp>
      <p:sp>
        <p:nvSpPr>
          <p:cNvPr id="144" name="Rectangle 46">
            <a:extLst>
              <a:ext uri="{FF2B5EF4-FFF2-40B4-BE49-F238E27FC236}">
                <a16:creationId xmlns:a16="http://schemas.microsoft.com/office/drawing/2014/main" id="{DF20DBBA-DFD0-BE99-E892-B2B4EDF83691}"/>
              </a:ext>
            </a:extLst>
          </p:cNvPr>
          <p:cNvSpPr>
            <a:spLocks noChangeArrowheads="1"/>
          </p:cNvSpPr>
          <p:nvPr/>
        </p:nvSpPr>
        <p:spPr bwMode="auto">
          <a:xfrm>
            <a:off x="2292014" y="3303460"/>
            <a:ext cx="223200" cy="244800"/>
          </a:xfrm>
          <a:prstGeom prst="rect">
            <a:avLst/>
          </a:prstGeom>
          <a:solidFill>
            <a:srgbClr val="00B0F0"/>
          </a:solidFill>
          <a:ln w="9525">
            <a:solidFill>
              <a:schemeClr val="tx1"/>
            </a:solidFill>
            <a:miter lim="800000"/>
          </a:ln>
          <a:effectLst/>
        </p:spPr>
        <p:txBody>
          <a:bodyPr wrap="none" anchor="ctr"/>
          <a:lstStyle/>
          <a:p>
            <a:pPr algn="ctr"/>
            <a:r>
              <a:rPr lang="en-US" altLang="zh-CN" sz="1000"/>
              <a:t>H</a:t>
            </a:r>
            <a:r>
              <a:rPr lang="en-US" altLang="zh-CN" sz="1000" baseline="-25000"/>
              <a:t>3</a:t>
            </a:r>
          </a:p>
        </p:txBody>
      </p:sp>
      <p:sp>
        <p:nvSpPr>
          <p:cNvPr id="146" name="Rectangle 47">
            <a:extLst>
              <a:ext uri="{FF2B5EF4-FFF2-40B4-BE49-F238E27FC236}">
                <a16:creationId xmlns:a16="http://schemas.microsoft.com/office/drawing/2014/main" id="{CA5CC642-860C-DF6C-8AD0-87559005D291}"/>
              </a:ext>
            </a:extLst>
          </p:cNvPr>
          <p:cNvSpPr>
            <a:spLocks noChangeArrowheads="1"/>
          </p:cNvSpPr>
          <p:nvPr/>
        </p:nvSpPr>
        <p:spPr bwMode="auto">
          <a:xfrm>
            <a:off x="2515214" y="3303460"/>
            <a:ext cx="223200" cy="244800"/>
          </a:xfrm>
          <a:prstGeom prst="rect">
            <a:avLst/>
          </a:prstGeom>
          <a:solidFill>
            <a:srgbClr val="FFC000"/>
          </a:solidFill>
          <a:ln w="9525">
            <a:solidFill>
              <a:schemeClr val="tx1"/>
            </a:solidFill>
            <a:miter lim="800000"/>
          </a:ln>
          <a:effectLst/>
        </p:spPr>
        <p:txBody>
          <a:bodyPr wrap="none" anchor="ctr"/>
          <a:lstStyle/>
          <a:p>
            <a:pPr algn="ctr"/>
            <a:r>
              <a:rPr lang="en-US" altLang="zh-CN" sz="1000"/>
              <a:t>H</a:t>
            </a:r>
            <a:r>
              <a:rPr lang="en-US" altLang="zh-CN" sz="1000" baseline="-25000"/>
              <a:t>4</a:t>
            </a:r>
          </a:p>
        </p:txBody>
      </p:sp>
      <p:sp>
        <p:nvSpPr>
          <p:cNvPr id="148" name="Rectangle 48">
            <a:extLst>
              <a:ext uri="{FF2B5EF4-FFF2-40B4-BE49-F238E27FC236}">
                <a16:creationId xmlns:a16="http://schemas.microsoft.com/office/drawing/2014/main" id="{F5591D8F-0E49-D403-79C9-03BEB2CB85D8}"/>
              </a:ext>
            </a:extLst>
          </p:cNvPr>
          <p:cNvSpPr>
            <a:spLocks noChangeArrowheads="1"/>
          </p:cNvSpPr>
          <p:nvPr/>
        </p:nvSpPr>
        <p:spPr bwMode="auto">
          <a:xfrm>
            <a:off x="2738414" y="3303460"/>
            <a:ext cx="223200" cy="244800"/>
          </a:xfrm>
          <a:prstGeom prst="rect">
            <a:avLst/>
          </a:prstGeom>
          <a:solidFill>
            <a:schemeClr val="accent2"/>
          </a:solidFill>
          <a:ln w="9525">
            <a:solidFill>
              <a:schemeClr val="tx1"/>
            </a:solidFill>
            <a:miter lim="800000"/>
          </a:ln>
          <a:effectLst/>
        </p:spPr>
        <p:txBody>
          <a:bodyPr wrap="none" anchor="ctr"/>
          <a:lstStyle/>
          <a:p>
            <a:pPr algn="ctr"/>
            <a:r>
              <a:rPr lang="en-US" altLang="zh-CN" sz="1000" dirty="0"/>
              <a:t>H</a:t>
            </a:r>
            <a:r>
              <a:rPr lang="en-US" altLang="zh-CN" sz="1000" baseline="-25000" dirty="0"/>
              <a:t>5</a:t>
            </a:r>
          </a:p>
        </p:txBody>
      </p:sp>
      <p:sp>
        <p:nvSpPr>
          <p:cNvPr id="150" name="Rectangle 49">
            <a:extLst>
              <a:ext uri="{FF2B5EF4-FFF2-40B4-BE49-F238E27FC236}">
                <a16:creationId xmlns:a16="http://schemas.microsoft.com/office/drawing/2014/main" id="{F6366AB8-C3D0-0A9E-FBFA-C6EC0F1E66F6}"/>
              </a:ext>
            </a:extLst>
          </p:cNvPr>
          <p:cNvSpPr>
            <a:spLocks noChangeArrowheads="1"/>
          </p:cNvSpPr>
          <p:nvPr/>
        </p:nvSpPr>
        <p:spPr bwMode="auto">
          <a:xfrm>
            <a:off x="2961614" y="3303460"/>
            <a:ext cx="482400" cy="244800"/>
          </a:xfrm>
          <a:prstGeom prst="rect">
            <a:avLst/>
          </a:prstGeom>
          <a:solidFill>
            <a:schemeClr val="bg1"/>
          </a:solidFill>
          <a:ln w="9525">
            <a:solidFill>
              <a:schemeClr val="tx1"/>
            </a:solidFill>
            <a:miter lim="800000"/>
          </a:ln>
        </p:spPr>
        <p:txBody>
          <a:bodyPr wrap="none" anchor="ctr"/>
          <a:lstStyle/>
          <a:p>
            <a:pPr algn="ctr"/>
            <a:r>
              <a:rPr lang="zh-CN" altLang="en-US" sz="1000" dirty="0"/>
              <a:t>数 据</a:t>
            </a:r>
          </a:p>
        </p:txBody>
      </p:sp>
      <p:sp>
        <p:nvSpPr>
          <p:cNvPr id="152" name="Rectangle 74">
            <a:extLst>
              <a:ext uri="{FF2B5EF4-FFF2-40B4-BE49-F238E27FC236}">
                <a16:creationId xmlns:a16="http://schemas.microsoft.com/office/drawing/2014/main" id="{DC39A943-38A5-E16C-8064-FA07D08E1561}"/>
              </a:ext>
            </a:extLst>
          </p:cNvPr>
          <p:cNvSpPr>
            <a:spLocks noChangeArrowheads="1"/>
          </p:cNvSpPr>
          <p:nvPr/>
        </p:nvSpPr>
        <p:spPr bwMode="auto">
          <a:xfrm>
            <a:off x="2068814" y="3303460"/>
            <a:ext cx="223200" cy="244800"/>
          </a:xfrm>
          <a:prstGeom prst="rect">
            <a:avLst/>
          </a:prstGeom>
          <a:solidFill>
            <a:srgbClr val="00B050"/>
          </a:solidFill>
          <a:ln w="9525">
            <a:solidFill>
              <a:schemeClr val="tx1"/>
            </a:solidFill>
            <a:miter lim="800000"/>
          </a:ln>
          <a:effectLst/>
        </p:spPr>
        <p:txBody>
          <a:bodyPr wrap="none" anchor="ctr"/>
          <a:lstStyle/>
          <a:p>
            <a:pPr algn="ctr"/>
            <a:r>
              <a:rPr lang="en-US" altLang="zh-CN" sz="1000" dirty="0"/>
              <a:t>H</a:t>
            </a:r>
            <a:r>
              <a:rPr lang="en-US" altLang="zh-CN" sz="1000" baseline="-25000" dirty="0"/>
              <a:t>2</a:t>
            </a:r>
          </a:p>
        </p:txBody>
      </p:sp>
      <p:sp>
        <p:nvSpPr>
          <p:cNvPr id="154" name="Rectangle 78">
            <a:extLst>
              <a:ext uri="{FF2B5EF4-FFF2-40B4-BE49-F238E27FC236}">
                <a16:creationId xmlns:a16="http://schemas.microsoft.com/office/drawing/2014/main" id="{B9B8F57F-12C1-D2CF-4EC9-5004C298EE57}"/>
              </a:ext>
            </a:extLst>
          </p:cNvPr>
          <p:cNvSpPr>
            <a:spLocks noChangeArrowheads="1"/>
          </p:cNvSpPr>
          <p:nvPr/>
        </p:nvSpPr>
        <p:spPr bwMode="auto">
          <a:xfrm>
            <a:off x="3444013" y="3303206"/>
            <a:ext cx="223200" cy="245309"/>
          </a:xfrm>
          <a:prstGeom prst="rect">
            <a:avLst/>
          </a:prstGeom>
          <a:solidFill>
            <a:srgbClr val="00B050"/>
          </a:solidFill>
          <a:ln w="9525">
            <a:solidFill>
              <a:schemeClr val="tx1"/>
            </a:solidFill>
            <a:miter lim="800000"/>
          </a:ln>
          <a:effectLst/>
        </p:spPr>
        <p:txBody>
          <a:bodyPr wrap="none" anchor="ctr"/>
          <a:lstStyle/>
          <a:p>
            <a:pPr algn="ctr"/>
            <a:r>
              <a:rPr lang="en-US" altLang="zh-CN" sz="1000" dirty="0"/>
              <a:t>T</a:t>
            </a:r>
            <a:r>
              <a:rPr lang="en-US" altLang="zh-CN" sz="1000" baseline="-25000" dirty="0"/>
              <a:t>2</a:t>
            </a:r>
          </a:p>
        </p:txBody>
      </p:sp>
      <p:sp>
        <p:nvSpPr>
          <p:cNvPr id="156" name="Rectangle 35">
            <a:extLst>
              <a:ext uri="{FF2B5EF4-FFF2-40B4-BE49-F238E27FC236}">
                <a16:creationId xmlns:a16="http://schemas.microsoft.com/office/drawing/2014/main" id="{294AA80D-3AD7-809D-A5D2-2701D1618C1A}"/>
              </a:ext>
            </a:extLst>
          </p:cNvPr>
          <p:cNvSpPr>
            <a:spLocks noChangeArrowheads="1"/>
          </p:cNvSpPr>
          <p:nvPr/>
        </p:nvSpPr>
        <p:spPr bwMode="auto">
          <a:xfrm>
            <a:off x="2068816" y="3671598"/>
            <a:ext cx="1598222" cy="244475"/>
          </a:xfrm>
          <a:prstGeom prst="rect">
            <a:avLst/>
          </a:prstGeom>
          <a:ln w="9525">
            <a:solidFill>
              <a:schemeClr val="tx1"/>
            </a:solidFill>
            <a:miter lim="800000"/>
          </a:ln>
        </p:spPr>
        <p:txBody>
          <a:bodyPr wrap="none" anchor="ctr"/>
          <a:lstStyle/>
          <a:p>
            <a:pPr algn="ctr"/>
            <a:r>
              <a:rPr lang="en-US" altLang="zh-CN" sz="1000" dirty="0">
                <a:solidFill>
                  <a:srgbClr val="FF0000"/>
                </a:solidFill>
                <a:latin typeface="+mj-lt"/>
                <a:ea typeface="+mj-ea"/>
              </a:rPr>
              <a:t>10100 </a:t>
            </a:r>
            <a:r>
              <a:rPr lang="zh-CN" altLang="en-US" sz="1000" dirty="0">
                <a:solidFill>
                  <a:srgbClr val="FF0000"/>
                </a:solidFill>
                <a:latin typeface="+mj-lt"/>
                <a:ea typeface="+mj-ea"/>
              </a:rPr>
              <a:t>比特流 </a:t>
            </a:r>
            <a:r>
              <a:rPr lang="en-US" altLang="zh-CN" sz="1000" dirty="0">
                <a:solidFill>
                  <a:srgbClr val="FF0000"/>
                </a:solidFill>
                <a:latin typeface="+mj-lt"/>
                <a:ea typeface="+mj-ea"/>
              </a:rPr>
              <a:t>110100</a:t>
            </a:r>
          </a:p>
        </p:txBody>
      </p:sp>
    </p:spTree>
    <p:extLst>
      <p:ext uri="{BB962C8B-B14F-4D97-AF65-F5344CB8AC3E}">
        <p14:creationId xmlns:p14="http://schemas.microsoft.com/office/powerpoint/2010/main" val="106137587"/>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4" fill="hold" grpId="0" nodeType="afterEffect">
                                  <p:stCondLst>
                                    <p:cond delay="0"/>
                                  </p:stCondLst>
                                  <p:childTnLst>
                                    <p:set>
                                      <p:cBhvr>
                                        <p:cTn id="6" dur="1" fill="hold">
                                          <p:stCondLst>
                                            <p:cond delay="0"/>
                                          </p:stCondLst>
                                        </p:cTn>
                                        <p:tgtEl>
                                          <p:spTgt spid="82"/>
                                        </p:tgtEl>
                                        <p:attrNameLst>
                                          <p:attrName>style.visibility</p:attrName>
                                        </p:attrNameLst>
                                      </p:cBhvr>
                                      <p:to>
                                        <p:strVal val="visible"/>
                                      </p:to>
                                    </p:set>
                                    <p:animEffect transition="in" filter="wipe(down)">
                                      <p:cBhvr>
                                        <p:cTn id="7" dur="1000"/>
                                        <p:tgtEl>
                                          <p:spTgt spid="8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2" grpId="0" animBg="1"/>
    </p:bldLst>
  </p:timing>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3" name="AutoShape 4">
            <a:extLst>
              <a:ext uri="{FF2B5EF4-FFF2-40B4-BE49-F238E27FC236}">
                <a16:creationId xmlns:a16="http://schemas.microsoft.com/office/drawing/2014/main" id="{D77CA521-97B1-607D-2831-72D77A51FA0B}"/>
              </a:ext>
            </a:extLst>
          </p:cNvPr>
          <p:cNvSpPr>
            <a:spLocks noChangeArrowheads="1"/>
          </p:cNvSpPr>
          <p:nvPr/>
        </p:nvSpPr>
        <p:spPr bwMode="auto">
          <a:xfrm rot="16200000">
            <a:off x="2567190" y="2361728"/>
            <a:ext cx="271463" cy="3600000"/>
          </a:xfrm>
          <a:prstGeom prst="can">
            <a:avLst>
              <a:gd name="adj" fmla="val 48656"/>
            </a:avLst>
          </a:prstGeom>
          <a:gradFill rotWithShape="0">
            <a:gsLst>
              <a:gs pos="0">
                <a:srgbClr val="00CC00"/>
              </a:gs>
              <a:gs pos="50000">
                <a:schemeClr val="bg1"/>
              </a:gs>
              <a:gs pos="100000">
                <a:srgbClr val="00CC00"/>
              </a:gs>
            </a:gsLst>
            <a:lin ang="5400000" scaled="1"/>
          </a:gradFill>
          <a:ln w="6350">
            <a:solidFill>
              <a:srgbClr val="7CE07C"/>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205" name="AutoShape 4">
            <a:extLst>
              <a:ext uri="{FF2B5EF4-FFF2-40B4-BE49-F238E27FC236}">
                <a16:creationId xmlns:a16="http://schemas.microsoft.com/office/drawing/2014/main" id="{761957D7-D637-79FB-3DDD-A45D728D5B1E}"/>
              </a:ext>
            </a:extLst>
          </p:cNvPr>
          <p:cNvSpPr>
            <a:spLocks noChangeArrowheads="1"/>
          </p:cNvSpPr>
          <p:nvPr/>
        </p:nvSpPr>
        <p:spPr bwMode="auto">
          <a:xfrm rot="16200000">
            <a:off x="6253847" y="2361728"/>
            <a:ext cx="271463" cy="3600000"/>
          </a:xfrm>
          <a:prstGeom prst="can">
            <a:avLst>
              <a:gd name="adj" fmla="val 48656"/>
            </a:avLst>
          </a:prstGeom>
          <a:gradFill rotWithShape="0">
            <a:gsLst>
              <a:gs pos="0">
                <a:srgbClr val="00CC00"/>
              </a:gs>
              <a:gs pos="50000">
                <a:schemeClr val="bg1"/>
              </a:gs>
              <a:gs pos="100000">
                <a:srgbClr val="00CC00"/>
              </a:gs>
            </a:gsLst>
            <a:lin ang="5400000" scaled="1"/>
          </a:gradFill>
          <a:ln w="6350">
            <a:solidFill>
              <a:srgbClr val="7CE07C"/>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207" name="Text Box 26">
            <a:extLst>
              <a:ext uri="{FF2B5EF4-FFF2-40B4-BE49-F238E27FC236}">
                <a16:creationId xmlns:a16="http://schemas.microsoft.com/office/drawing/2014/main" id="{129EBD98-467A-E92C-3D0C-F98422109101}"/>
              </a:ext>
            </a:extLst>
          </p:cNvPr>
          <p:cNvSpPr txBox="1">
            <a:spLocks noChangeArrowheads="1"/>
          </p:cNvSpPr>
          <p:nvPr/>
        </p:nvSpPr>
        <p:spPr bwMode="auto">
          <a:xfrm>
            <a:off x="2701348" y="4023229"/>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dirty="0">
                <a:latin typeface="+mj-lt"/>
                <a:ea typeface="+mj-ea"/>
              </a:rPr>
              <a:t>物理传输媒体</a:t>
            </a:r>
          </a:p>
        </p:txBody>
      </p:sp>
      <p:sp>
        <p:nvSpPr>
          <p:cNvPr id="209" name="Text Box 26">
            <a:extLst>
              <a:ext uri="{FF2B5EF4-FFF2-40B4-BE49-F238E27FC236}">
                <a16:creationId xmlns:a16="http://schemas.microsoft.com/office/drawing/2014/main" id="{CD83C868-EABF-0548-8BA5-8C943F5EA151}"/>
              </a:ext>
            </a:extLst>
          </p:cNvPr>
          <p:cNvSpPr txBox="1">
            <a:spLocks noChangeArrowheads="1"/>
          </p:cNvSpPr>
          <p:nvPr/>
        </p:nvSpPr>
        <p:spPr bwMode="auto">
          <a:xfrm>
            <a:off x="6193730" y="4023229"/>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dirty="0">
                <a:latin typeface="+mj-lt"/>
                <a:ea typeface="+mj-ea"/>
              </a:rPr>
              <a:t>物理传输媒体</a:t>
            </a:r>
          </a:p>
        </p:txBody>
      </p:sp>
      <p:grpSp>
        <p:nvGrpSpPr>
          <p:cNvPr id="196" name="组合 195">
            <a:extLst>
              <a:ext uri="{FF2B5EF4-FFF2-40B4-BE49-F238E27FC236}">
                <a16:creationId xmlns:a16="http://schemas.microsoft.com/office/drawing/2014/main" id="{A7499C7A-13F1-9FAE-43A0-9398D41FB657}"/>
              </a:ext>
            </a:extLst>
          </p:cNvPr>
          <p:cNvGrpSpPr/>
          <p:nvPr/>
        </p:nvGrpSpPr>
        <p:grpSpPr>
          <a:xfrm>
            <a:off x="3960000" y="2808000"/>
            <a:ext cx="1080000" cy="1080000"/>
            <a:chOff x="2807995" y="2745746"/>
            <a:chExt cx="1080000" cy="1080000"/>
          </a:xfrm>
        </p:grpSpPr>
        <p:sp>
          <p:nvSpPr>
            <p:cNvPr id="197" name="立方体 196">
              <a:extLst>
                <a:ext uri="{FF2B5EF4-FFF2-40B4-BE49-F238E27FC236}">
                  <a16:creationId xmlns:a16="http://schemas.microsoft.com/office/drawing/2014/main" id="{44B59238-4DFB-44FF-C420-83AC52F734AF}"/>
                </a:ext>
              </a:extLst>
            </p:cNvPr>
            <p:cNvSpPr/>
            <p:nvPr/>
          </p:nvSpPr>
          <p:spPr>
            <a:xfrm>
              <a:off x="2807995" y="3393746"/>
              <a:ext cx="594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sz="1050" dirty="0">
                  <a:solidFill>
                    <a:schemeClr val="bg1"/>
                  </a:solidFill>
                </a:rPr>
                <a:t>1</a:t>
              </a:r>
              <a:endParaRPr lang="zh-CN" altLang="en-US" sz="1050" dirty="0">
                <a:solidFill>
                  <a:schemeClr val="bg1"/>
                </a:solidFill>
              </a:endParaRPr>
            </a:p>
          </p:txBody>
        </p:sp>
        <p:sp>
          <p:nvSpPr>
            <p:cNvPr id="198" name="立方体 197">
              <a:extLst>
                <a:ext uri="{FF2B5EF4-FFF2-40B4-BE49-F238E27FC236}">
                  <a16:creationId xmlns:a16="http://schemas.microsoft.com/office/drawing/2014/main" id="{40BE0910-9B30-18A8-3E29-2CF95BC7781E}"/>
                </a:ext>
              </a:extLst>
            </p:cNvPr>
            <p:cNvSpPr/>
            <p:nvPr/>
          </p:nvSpPr>
          <p:spPr>
            <a:xfrm>
              <a:off x="2807995" y="3069746"/>
              <a:ext cx="594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sz="1050" dirty="0">
                  <a:solidFill>
                    <a:schemeClr val="bg1"/>
                  </a:solidFill>
                </a:rPr>
                <a:t>2</a:t>
              </a:r>
              <a:endParaRPr lang="zh-CN" altLang="en-US" sz="1050" dirty="0">
                <a:solidFill>
                  <a:schemeClr val="bg1"/>
                </a:solidFill>
              </a:endParaRPr>
            </a:p>
          </p:txBody>
        </p:sp>
        <p:sp>
          <p:nvSpPr>
            <p:cNvPr id="199" name="立方体 198">
              <a:extLst>
                <a:ext uri="{FF2B5EF4-FFF2-40B4-BE49-F238E27FC236}">
                  <a16:creationId xmlns:a16="http://schemas.microsoft.com/office/drawing/2014/main" id="{3B8AD6D6-0F41-A23E-2325-1902C356EF37}"/>
                </a:ext>
              </a:extLst>
            </p:cNvPr>
            <p:cNvSpPr/>
            <p:nvPr/>
          </p:nvSpPr>
          <p:spPr>
            <a:xfrm>
              <a:off x="3293995" y="3393746"/>
              <a:ext cx="594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sz="1050" dirty="0">
                  <a:solidFill>
                    <a:schemeClr val="bg1"/>
                  </a:solidFill>
                </a:rPr>
                <a:t>1</a:t>
              </a:r>
              <a:endParaRPr lang="zh-CN" altLang="en-US" sz="1050" dirty="0">
                <a:solidFill>
                  <a:schemeClr val="bg1"/>
                </a:solidFill>
              </a:endParaRPr>
            </a:p>
          </p:txBody>
        </p:sp>
        <p:sp>
          <p:nvSpPr>
            <p:cNvPr id="200" name="立方体 199">
              <a:extLst>
                <a:ext uri="{FF2B5EF4-FFF2-40B4-BE49-F238E27FC236}">
                  <a16:creationId xmlns:a16="http://schemas.microsoft.com/office/drawing/2014/main" id="{46B008D1-7CEE-70FF-9F6A-7A480E7E5F06}"/>
                </a:ext>
              </a:extLst>
            </p:cNvPr>
            <p:cNvSpPr/>
            <p:nvPr/>
          </p:nvSpPr>
          <p:spPr>
            <a:xfrm>
              <a:off x="3293995" y="3069746"/>
              <a:ext cx="594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sz="1050" dirty="0">
                  <a:solidFill>
                    <a:schemeClr val="bg1"/>
                  </a:solidFill>
                </a:rPr>
                <a:t>2</a:t>
              </a:r>
              <a:endParaRPr lang="zh-CN" altLang="en-US" sz="1050" dirty="0">
                <a:solidFill>
                  <a:schemeClr val="bg1"/>
                </a:solidFill>
              </a:endParaRPr>
            </a:p>
          </p:txBody>
        </p:sp>
        <p:sp>
          <p:nvSpPr>
            <p:cNvPr id="201" name="立方体 200">
              <a:extLst>
                <a:ext uri="{FF2B5EF4-FFF2-40B4-BE49-F238E27FC236}">
                  <a16:creationId xmlns:a16="http://schemas.microsoft.com/office/drawing/2014/main" id="{39F50891-6C2D-053F-0F79-D7476D0D4D46}"/>
                </a:ext>
              </a:extLst>
            </p:cNvPr>
            <p:cNvSpPr/>
            <p:nvPr/>
          </p:nvSpPr>
          <p:spPr>
            <a:xfrm>
              <a:off x="2807995" y="2745746"/>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pPr algn="ctr"/>
              <a:r>
                <a:rPr lang="en-US" altLang="zh-CN" sz="1050" dirty="0">
                  <a:solidFill>
                    <a:schemeClr val="bg1"/>
                  </a:solidFill>
                </a:rPr>
                <a:t>3</a:t>
              </a:r>
              <a:endParaRPr lang="zh-CN" altLang="en-US" sz="1050" dirty="0">
                <a:solidFill>
                  <a:schemeClr val="bg1"/>
                </a:solidFill>
              </a:endParaRPr>
            </a:p>
          </p:txBody>
        </p:sp>
      </p:grpSp>
      <p:grpSp>
        <p:nvGrpSpPr>
          <p:cNvPr id="94" name="组合 93">
            <a:extLst>
              <a:ext uri="{FF2B5EF4-FFF2-40B4-BE49-F238E27FC236}">
                <a16:creationId xmlns:a16="http://schemas.microsoft.com/office/drawing/2014/main" id="{22B027A2-25CE-EC5A-7B58-8FD461875174}"/>
              </a:ext>
            </a:extLst>
          </p:cNvPr>
          <p:cNvGrpSpPr/>
          <p:nvPr/>
        </p:nvGrpSpPr>
        <p:grpSpPr>
          <a:xfrm>
            <a:off x="7395732" y="1800000"/>
            <a:ext cx="1080000" cy="2088000"/>
            <a:chOff x="701211" y="1800000"/>
            <a:chExt cx="1080000" cy="2088000"/>
          </a:xfrm>
        </p:grpSpPr>
        <p:sp>
          <p:nvSpPr>
            <p:cNvPr id="96" name="立方体 95">
              <a:extLst>
                <a:ext uri="{FF2B5EF4-FFF2-40B4-BE49-F238E27FC236}">
                  <a16:creationId xmlns:a16="http://schemas.microsoft.com/office/drawing/2014/main" id="{173038C5-2844-3E51-4A49-A77DE3C464D2}"/>
                </a:ext>
              </a:extLst>
            </p:cNvPr>
            <p:cNvSpPr/>
            <p:nvPr/>
          </p:nvSpPr>
          <p:spPr>
            <a:xfrm>
              <a:off x="701211" y="3456000"/>
              <a:ext cx="108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050" dirty="0">
                  <a:solidFill>
                    <a:schemeClr val="bg1"/>
                  </a:solidFill>
                </a:rPr>
                <a:t>1 </a:t>
              </a:r>
              <a:r>
                <a:rPr lang="zh-CN" altLang="en-US" sz="1050" dirty="0">
                  <a:solidFill>
                    <a:schemeClr val="bg1"/>
                  </a:solidFill>
                </a:rPr>
                <a:t>物理层</a:t>
              </a:r>
            </a:p>
          </p:txBody>
        </p:sp>
        <p:sp>
          <p:nvSpPr>
            <p:cNvPr id="98" name="立方体 97">
              <a:extLst>
                <a:ext uri="{FF2B5EF4-FFF2-40B4-BE49-F238E27FC236}">
                  <a16:creationId xmlns:a16="http://schemas.microsoft.com/office/drawing/2014/main" id="{9A5E65EB-C594-F9F2-6029-957A7F4882C5}"/>
                </a:ext>
              </a:extLst>
            </p:cNvPr>
            <p:cNvSpPr/>
            <p:nvPr/>
          </p:nvSpPr>
          <p:spPr>
            <a:xfrm>
              <a:off x="701211" y="3132000"/>
              <a:ext cx="108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050" dirty="0">
                  <a:solidFill>
                    <a:schemeClr val="bg1"/>
                  </a:solidFill>
                </a:rPr>
                <a:t>2 </a:t>
              </a:r>
              <a:r>
                <a:rPr lang="zh-CN" altLang="en-US" sz="1050" dirty="0">
                  <a:solidFill>
                    <a:schemeClr val="bg1"/>
                  </a:solidFill>
                </a:rPr>
                <a:t>数据链路层</a:t>
              </a:r>
            </a:p>
          </p:txBody>
        </p:sp>
        <p:sp>
          <p:nvSpPr>
            <p:cNvPr id="106" name="立方体 105">
              <a:extLst>
                <a:ext uri="{FF2B5EF4-FFF2-40B4-BE49-F238E27FC236}">
                  <a16:creationId xmlns:a16="http://schemas.microsoft.com/office/drawing/2014/main" id="{C22AD3A0-F47E-F7BD-0194-CE3820243330}"/>
                </a:ext>
              </a:extLst>
            </p:cNvPr>
            <p:cNvSpPr/>
            <p:nvPr/>
          </p:nvSpPr>
          <p:spPr>
            <a:xfrm>
              <a:off x="701211" y="2808000"/>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050" dirty="0">
                  <a:solidFill>
                    <a:schemeClr val="bg1"/>
                  </a:solidFill>
                </a:rPr>
                <a:t>3 </a:t>
              </a:r>
              <a:r>
                <a:rPr lang="zh-CN" altLang="en-US" sz="1050" dirty="0">
                  <a:solidFill>
                    <a:schemeClr val="bg1"/>
                  </a:solidFill>
                </a:rPr>
                <a:t>网络层</a:t>
              </a:r>
            </a:p>
          </p:txBody>
        </p:sp>
        <p:sp>
          <p:nvSpPr>
            <p:cNvPr id="108" name="立方体 107">
              <a:extLst>
                <a:ext uri="{FF2B5EF4-FFF2-40B4-BE49-F238E27FC236}">
                  <a16:creationId xmlns:a16="http://schemas.microsoft.com/office/drawing/2014/main" id="{A5F3D930-29E1-EACB-BDB3-3FA2719783E3}"/>
                </a:ext>
              </a:extLst>
            </p:cNvPr>
            <p:cNvSpPr/>
            <p:nvPr/>
          </p:nvSpPr>
          <p:spPr>
            <a:xfrm>
              <a:off x="701211" y="2484000"/>
              <a:ext cx="108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050" dirty="0">
                  <a:solidFill>
                    <a:schemeClr val="bg1"/>
                  </a:solidFill>
                </a:rPr>
                <a:t>4 </a:t>
              </a:r>
              <a:r>
                <a:rPr lang="zh-CN" altLang="en-US" sz="1050" dirty="0">
                  <a:solidFill>
                    <a:schemeClr val="bg1"/>
                  </a:solidFill>
                </a:rPr>
                <a:t>运输层</a:t>
              </a:r>
            </a:p>
          </p:txBody>
        </p:sp>
        <p:sp>
          <p:nvSpPr>
            <p:cNvPr id="112" name="立方体 111">
              <a:extLst>
                <a:ext uri="{FF2B5EF4-FFF2-40B4-BE49-F238E27FC236}">
                  <a16:creationId xmlns:a16="http://schemas.microsoft.com/office/drawing/2014/main" id="{944EC8F3-648E-85DF-DB0A-F15517D9E1A1}"/>
                </a:ext>
              </a:extLst>
            </p:cNvPr>
            <p:cNvSpPr/>
            <p:nvPr/>
          </p:nvSpPr>
          <p:spPr>
            <a:xfrm>
              <a:off x="701211" y="2160000"/>
              <a:ext cx="108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050" dirty="0">
                  <a:solidFill>
                    <a:schemeClr val="bg1"/>
                  </a:solidFill>
                </a:rPr>
                <a:t>5 </a:t>
              </a:r>
              <a:r>
                <a:rPr lang="zh-CN" altLang="en-US" sz="1050" dirty="0">
                  <a:solidFill>
                    <a:schemeClr val="bg1"/>
                  </a:solidFill>
                </a:rPr>
                <a:t>应用层</a:t>
              </a:r>
            </a:p>
          </p:txBody>
        </p:sp>
        <p:sp>
          <p:nvSpPr>
            <p:cNvPr id="113" name="圆柱体 112">
              <a:extLst>
                <a:ext uri="{FF2B5EF4-FFF2-40B4-BE49-F238E27FC236}">
                  <a16:creationId xmlns:a16="http://schemas.microsoft.com/office/drawing/2014/main" id="{41BC7199-D3F2-C062-5D8B-F3B46AB28E92}"/>
                </a:ext>
              </a:extLst>
            </p:cNvPr>
            <p:cNvSpPr/>
            <p:nvPr/>
          </p:nvSpPr>
          <p:spPr>
            <a:xfrm>
              <a:off x="953211" y="1800000"/>
              <a:ext cx="576000" cy="360000"/>
            </a:xfrm>
            <a:prstGeom prst="can">
              <a:avLst/>
            </a:prstGeom>
            <a:solidFill>
              <a:srgbClr val="FFFF00"/>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000" dirty="0">
                  <a:solidFill>
                    <a:sysClr val="windowText" lastClr="000000"/>
                  </a:solidFill>
                </a:rPr>
                <a:t>AP1</a:t>
              </a:r>
              <a:endParaRPr lang="zh-CN" altLang="en-US" sz="1000" dirty="0">
                <a:solidFill>
                  <a:sysClr val="windowText" lastClr="000000"/>
                </a:solidFill>
              </a:endParaRPr>
            </a:p>
          </p:txBody>
        </p:sp>
      </p:grpSp>
      <p:grpSp>
        <p:nvGrpSpPr>
          <p:cNvPr id="115" name="组合 114">
            <a:extLst>
              <a:ext uri="{FF2B5EF4-FFF2-40B4-BE49-F238E27FC236}">
                <a16:creationId xmlns:a16="http://schemas.microsoft.com/office/drawing/2014/main" id="{D1500DDC-2D5C-E77A-E4A7-7A94FE968472}"/>
              </a:ext>
            </a:extLst>
          </p:cNvPr>
          <p:cNvGrpSpPr/>
          <p:nvPr/>
        </p:nvGrpSpPr>
        <p:grpSpPr>
          <a:xfrm>
            <a:off x="701211" y="1800000"/>
            <a:ext cx="1080000" cy="2088000"/>
            <a:chOff x="701211" y="1800000"/>
            <a:chExt cx="1080000" cy="2088000"/>
          </a:xfrm>
        </p:grpSpPr>
        <p:sp>
          <p:nvSpPr>
            <p:cNvPr id="116" name="立方体 115">
              <a:extLst>
                <a:ext uri="{FF2B5EF4-FFF2-40B4-BE49-F238E27FC236}">
                  <a16:creationId xmlns:a16="http://schemas.microsoft.com/office/drawing/2014/main" id="{33886596-F80A-A47B-8D69-B0014D3668E1}"/>
                </a:ext>
              </a:extLst>
            </p:cNvPr>
            <p:cNvSpPr/>
            <p:nvPr/>
          </p:nvSpPr>
          <p:spPr>
            <a:xfrm>
              <a:off x="701211" y="3456000"/>
              <a:ext cx="108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050" dirty="0">
                  <a:solidFill>
                    <a:schemeClr val="bg1"/>
                  </a:solidFill>
                </a:rPr>
                <a:t>1 </a:t>
              </a:r>
              <a:r>
                <a:rPr lang="zh-CN" altLang="en-US" sz="1050" dirty="0">
                  <a:solidFill>
                    <a:schemeClr val="bg1"/>
                  </a:solidFill>
                </a:rPr>
                <a:t>物理层</a:t>
              </a:r>
            </a:p>
          </p:txBody>
        </p:sp>
        <p:sp>
          <p:nvSpPr>
            <p:cNvPr id="117" name="立方体 116">
              <a:extLst>
                <a:ext uri="{FF2B5EF4-FFF2-40B4-BE49-F238E27FC236}">
                  <a16:creationId xmlns:a16="http://schemas.microsoft.com/office/drawing/2014/main" id="{F0B97EF6-A6CC-58BF-7B40-49CCDA82B4A0}"/>
                </a:ext>
              </a:extLst>
            </p:cNvPr>
            <p:cNvSpPr/>
            <p:nvPr/>
          </p:nvSpPr>
          <p:spPr>
            <a:xfrm>
              <a:off x="701211" y="3132000"/>
              <a:ext cx="108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050" dirty="0">
                  <a:solidFill>
                    <a:schemeClr val="bg1"/>
                  </a:solidFill>
                </a:rPr>
                <a:t>2 </a:t>
              </a:r>
              <a:r>
                <a:rPr lang="zh-CN" altLang="en-US" sz="1050" dirty="0">
                  <a:solidFill>
                    <a:schemeClr val="bg1"/>
                  </a:solidFill>
                </a:rPr>
                <a:t>数据链路层</a:t>
              </a:r>
            </a:p>
          </p:txBody>
        </p:sp>
        <p:sp>
          <p:nvSpPr>
            <p:cNvPr id="118" name="立方体 117">
              <a:extLst>
                <a:ext uri="{FF2B5EF4-FFF2-40B4-BE49-F238E27FC236}">
                  <a16:creationId xmlns:a16="http://schemas.microsoft.com/office/drawing/2014/main" id="{CA3DD0FD-0789-D0D4-5C64-59F528FC7CEC}"/>
                </a:ext>
              </a:extLst>
            </p:cNvPr>
            <p:cNvSpPr/>
            <p:nvPr/>
          </p:nvSpPr>
          <p:spPr>
            <a:xfrm>
              <a:off x="701211" y="2808000"/>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050" dirty="0">
                  <a:solidFill>
                    <a:schemeClr val="bg1"/>
                  </a:solidFill>
                </a:rPr>
                <a:t>3 </a:t>
              </a:r>
              <a:r>
                <a:rPr lang="zh-CN" altLang="en-US" sz="1050" dirty="0">
                  <a:solidFill>
                    <a:schemeClr val="bg1"/>
                  </a:solidFill>
                </a:rPr>
                <a:t>网络层</a:t>
              </a:r>
            </a:p>
          </p:txBody>
        </p:sp>
        <p:sp>
          <p:nvSpPr>
            <p:cNvPr id="120" name="立方体 119">
              <a:extLst>
                <a:ext uri="{FF2B5EF4-FFF2-40B4-BE49-F238E27FC236}">
                  <a16:creationId xmlns:a16="http://schemas.microsoft.com/office/drawing/2014/main" id="{AB7B65DE-4A76-E3CF-D1B6-FCC020C591A3}"/>
                </a:ext>
              </a:extLst>
            </p:cNvPr>
            <p:cNvSpPr/>
            <p:nvPr/>
          </p:nvSpPr>
          <p:spPr>
            <a:xfrm>
              <a:off x="701211" y="2484000"/>
              <a:ext cx="108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050" dirty="0">
                  <a:solidFill>
                    <a:schemeClr val="bg1"/>
                  </a:solidFill>
                </a:rPr>
                <a:t>4 </a:t>
              </a:r>
              <a:r>
                <a:rPr lang="zh-CN" altLang="en-US" sz="1050" dirty="0">
                  <a:solidFill>
                    <a:schemeClr val="bg1"/>
                  </a:solidFill>
                </a:rPr>
                <a:t>运输层</a:t>
              </a:r>
            </a:p>
          </p:txBody>
        </p:sp>
        <p:sp>
          <p:nvSpPr>
            <p:cNvPr id="121" name="立方体 120">
              <a:extLst>
                <a:ext uri="{FF2B5EF4-FFF2-40B4-BE49-F238E27FC236}">
                  <a16:creationId xmlns:a16="http://schemas.microsoft.com/office/drawing/2014/main" id="{00C71CD8-6B94-22D2-EFAF-DC60B66E76C8}"/>
                </a:ext>
              </a:extLst>
            </p:cNvPr>
            <p:cNvSpPr/>
            <p:nvPr/>
          </p:nvSpPr>
          <p:spPr>
            <a:xfrm>
              <a:off x="701211" y="2160000"/>
              <a:ext cx="108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050" dirty="0">
                  <a:solidFill>
                    <a:schemeClr val="bg1"/>
                  </a:solidFill>
                </a:rPr>
                <a:t>5 </a:t>
              </a:r>
              <a:r>
                <a:rPr lang="zh-CN" altLang="en-US" sz="1050" dirty="0">
                  <a:solidFill>
                    <a:schemeClr val="bg1"/>
                  </a:solidFill>
                </a:rPr>
                <a:t>应用层</a:t>
              </a:r>
            </a:p>
          </p:txBody>
        </p:sp>
        <p:sp>
          <p:nvSpPr>
            <p:cNvPr id="122" name="圆柱体 121">
              <a:extLst>
                <a:ext uri="{FF2B5EF4-FFF2-40B4-BE49-F238E27FC236}">
                  <a16:creationId xmlns:a16="http://schemas.microsoft.com/office/drawing/2014/main" id="{9314BCF0-F434-660E-543E-7AF90F76F888}"/>
                </a:ext>
              </a:extLst>
            </p:cNvPr>
            <p:cNvSpPr/>
            <p:nvPr/>
          </p:nvSpPr>
          <p:spPr>
            <a:xfrm>
              <a:off x="953211" y="1800000"/>
              <a:ext cx="576000" cy="360000"/>
            </a:xfrm>
            <a:prstGeom prst="can">
              <a:avLst/>
            </a:prstGeom>
            <a:solidFill>
              <a:srgbClr val="FFFF00"/>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000" dirty="0">
                  <a:solidFill>
                    <a:sysClr val="windowText" lastClr="000000"/>
                  </a:solidFill>
                </a:rPr>
                <a:t>AP1</a:t>
              </a:r>
              <a:endParaRPr lang="zh-CN" altLang="en-US" sz="1000" dirty="0">
                <a:solidFill>
                  <a:sysClr val="windowText" lastClr="000000"/>
                </a:solidFill>
              </a:endParaRPr>
            </a:p>
          </p:txBody>
        </p:sp>
      </p:grpSp>
      <p:sp>
        <p:nvSpPr>
          <p:cNvPr id="25" name="Text Box 29"/>
          <p:cNvSpPr txBox="1">
            <a:spLocks noChangeArrowheads="1"/>
          </p:cNvSpPr>
          <p:nvPr/>
        </p:nvSpPr>
        <p:spPr bwMode="auto">
          <a:xfrm>
            <a:off x="110689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1</a:t>
            </a:r>
          </a:p>
        </p:txBody>
      </p:sp>
      <p:sp>
        <p:nvSpPr>
          <p:cNvPr id="38" name="Text Box 29"/>
          <p:cNvSpPr txBox="1">
            <a:spLocks noChangeArrowheads="1"/>
          </p:cNvSpPr>
          <p:nvPr/>
        </p:nvSpPr>
        <p:spPr bwMode="auto">
          <a:xfrm>
            <a:off x="736975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2</a:t>
            </a:r>
          </a:p>
        </p:txBody>
      </p:sp>
      <p:sp>
        <p:nvSpPr>
          <p:cNvPr id="39" name="Text Box 29"/>
          <p:cNvSpPr txBox="1">
            <a:spLocks noChangeArrowheads="1"/>
          </p:cNvSpPr>
          <p:nvPr/>
        </p:nvSpPr>
        <p:spPr bwMode="auto">
          <a:xfrm>
            <a:off x="4160212" y="107510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路由器</a:t>
            </a:r>
            <a:endParaRPr kumimoji="1" lang="en-US" altLang="zh-CN" sz="1200" b="1" dirty="0">
              <a:solidFill>
                <a:srgbClr val="0000FF"/>
              </a:solidFill>
              <a:latin typeface="微软雅黑" panose="020B0503020204020204" pitchFamily="34" charset="-122"/>
              <a:ea typeface="微软雅黑" panose="020B0503020204020204" pitchFamily="34" charset="-122"/>
            </a:endParaRPr>
          </a:p>
        </p:txBody>
      </p:sp>
      <p:cxnSp>
        <p:nvCxnSpPr>
          <p:cNvPr id="69" name="直接连接符 68"/>
          <p:cNvCxnSpPr/>
          <p:nvPr/>
        </p:nvCxnSpPr>
        <p:spPr>
          <a:xfrm>
            <a:off x="1418143" y="1507958"/>
            <a:ext cx="6306131" cy="0"/>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pic>
        <p:nvPicPr>
          <p:cNvPr id="36"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486661" y="1312469"/>
            <a:ext cx="410222"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7"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202308" y="1312469"/>
            <a:ext cx="410223"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140" name="直接箭头连接符 139"/>
          <p:cNvCxnSpPr/>
          <p:nvPr/>
        </p:nvCxnSpPr>
        <p:spPr>
          <a:xfrm>
            <a:off x="1561619" y="1428166"/>
            <a:ext cx="5941518" cy="0"/>
          </a:xfrm>
          <a:prstGeom prst="straightConnector1">
            <a:avLst/>
          </a:prstGeom>
          <a:ln w="28575">
            <a:solidFill>
              <a:srgbClr val="CC00CC"/>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35"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54124" y="1385466"/>
            <a:ext cx="454438" cy="2643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73" name="AutoShape 51"/>
          <p:cNvSpPr>
            <a:spLocks noChangeArrowheads="1"/>
          </p:cNvSpPr>
          <p:nvPr/>
        </p:nvSpPr>
        <p:spPr bwMode="auto">
          <a:xfrm flipV="1">
            <a:off x="1237476" y="2076244"/>
            <a:ext cx="145966" cy="205414"/>
          </a:xfrm>
          <a:prstGeom prst="upArrow">
            <a:avLst>
              <a:gd name="adj1" fmla="val 50000"/>
              <a:gd name="adj2" fmla="val 45968"/>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88" name="AutoShape 54"/>
          <p:cNvSpPr>
            <a:spLocks noChangeArrowheads="1"/>
          </p:cNvSpPr>
          <p:nvPr/>
        </p:nvSpPr>
        <p:spPr bwMode="auto">
          <a:xfrm rot="10800000">
            <a:off x="1237478" y="2439149"/>
            <a:ext cx="147144" cy="221279"/>
          </a:xfrm>
          <a:prstGeom prst="upArrow">
            <a:avLst>
              <a:gd name="adj1" fmla="val 50000"/>
              <a:gd name="adj2" fmla="val 498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5" name="AutoShape 57"/>
          <p:cNvSpPr>
            <a:spLocks noChangeArrowheads="1"/>
          </p:cNvSpPr>
          <p:nvPr/>
        </p:nvSpPr>
        <p:spPr bwMode="auto">
          <a:xfrm rot="10800000">
            <a:off x="1235122" y="2826328"/>
            <a:ext cx="148321" cy="222762"/>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07" name="AutoShape 57"/>
          <p:cNvSpPr>
            <a:spLocks noChangeArrowheads="1"/>
          </p:cNvSpPr>
          <p:nvPr/>
        </p:nvSpPr>
        <p:spPr bwMode="auto">
          <a:xfrm rot="10800000">
            <a:off x="1226181" y="3198896"/>
            <a:ext cx="156561" cy="213191"/>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19" name="AutoShape 63"/>
          <p:cNvSpPr>
            <a:spLocks noChangeArrowheads="1"/>
          </p:cNvSpPr>
          <p:nvPr/>
        </p:nvSpPr>
        <p:spPr bwMode="auto">
          <a:xfrm rot="10800000">
            <a:off x="1226181" y="3567260"/>
            <a:ext cx="165978" cy="238153"/>
          </a:xfrm>
          <a:prstGeom prst="upArrow">
            <a:avLst>
              <a:gd name="adj1" fmla="val 50000"/>
              <a:gd name="adj2" fmla="val 50403"/>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00" name="AutoShape 25"/>
          <p:cNvSpPr>
            <a:spLocks noChangeArrowheads="1"/>
          </p:cNvSpPr>
          <p:nvPr/>
        </p:nvSpPr>
        <p:spPr bwMode="auto">
          <a:xfrm flipV="1">
            <a:off x="1266066" y="3955320"/>
            <a:ext cx="263283" cy="281183"/>
          </a:xfrm>
          <a:custGeom>
            <a:avLst/>
            <a:gdLst>
              <a:gd name="T0" fmla="*/ 218339 w 21600"/>
              <a:gd name="T1" fmla="*/ 0 h 21600"/>
              <a:gd name="T2" fmla="*/ 218339 w 21600"/>
              <a:gd name="T3" fmla="*/ 171757 h 21600"/>
              <a:gd name="T4" fmla="*/ 46725 w 21600"/>
              <a:gd name="T5" fmla="*/ 305144 h 21600"/>
              <a:gd name="T6" fmla="*/ 311789 w 21600"/>
              <a:gd name="T7" fmla="*/ 85878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11" name="AutoShape 42"/>
          <p:cNvSpPr>
            <a:spLocks noChangeArrowheads="1"/>
          </p:cNvSpPr>
          <p:nvPr/>
        </p:nvSpPr>
        <p:spPr bwMode="auto">
          <a:xfrm rot="5400000" flipH="1">
            <a:off x="3905139" y="3932147"/>
            <a:ext cx="254669" cy="288428"/>
          </a:xfrm>
          <a:custGeom>
            <a:avLst/>
            <a:gdLst>
              <a:gd name="T0" fmla="*/ 220161 w 21600"/>
              <a:gd name="T1" fmla="*/ 0 h 21600"/>
              <a:gd name="T2" fmla="*/ 220161 w 21600"/>
              <a:gd name="T3" fmla="*/ 175497 h 21600"/>
              <a:gd name="T4" fmla="*/ 47115 w 21600"/>
              <a:gd name="T5" fmla="*/ 311790 h 21600"/>
              <a:gd name="T6" fmla="*/ 314391 w 21600"/>
              <a:gd name="T7" fmla="*/ 87749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nvGrpSpPr>
          <p:cNvPr id="125" name="Group 34"/>
          <p:cNvGrpSpPr/>
          <p:nvPr/>
        </p:nvGrpSpPr>
        <p:grpSpPr bwMode="auto">
          <a:xfrm>
            <a:off x="1792727" y="4119885"/>
            <a:ext cx="841456" cy="101715"/>
            <a:chOff x="1344" y="912"/>
            <a:chExt cx="672" cy="96"/>
          </a:xfrm>
          <a:solidFill>
            <a:srgbClr val="FF0000"/>
          </a:solidFill>
        </p:grpSpPr>
        <p:sp>
          <p:nvSpPr>
            <p:cNvPr id="126" name="Line 35"/>
            <p:cNvSpPr>
              <a:spLocks noChangeShapeType="1"/>
            </p:cNvSpPr>
            <p:nvPr/>
          </p:nvSpPr>
          <p:spPr bwMode="auto">
            <a:xfrm>
              <a:off x="1344" y="960"/>
              <a:ext cx="672" cy="0"/>
            </a:xfrm>
            <a:prstGeom prst="line">
              <a:avLst/>
            </a:prstGeom>
            <a:grpFill/>
            <a:ln w="12700">
              <a:no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sp>
          <p:nvSpPr>
            <p:cNvPr id="127" name="Freeform 36"/>
            <p:cNvSpPr/>
            <p:nvPr/>
          </p:nvSpPr>
          <p:spPr bwMode="auto">
            <a:xfrm>
              <a:off x="1392" y="912"/>
              <a:ext cx="576" cy="96"/>
            </a:xfrm>
            <a:custGeom>
              <a:avLst/>
              <a:gdLst>
                <a:gd name="T0" fmla="*/ 0 w 576"/>
                <a:gd name="T1" fmla="*/ 96 h 192"/>
                <a:gd name="T2" fmla="*/ 0 w 576"/>
                <a:gd name="T3" fmla="*/ 0 h 192"/>
                <a:gd name="T4" fmla="*/ 192 w 576"/>
                <a:gd name="T5" fmla="*/ 0 h 192"/>
                <a:gd name="T6" fmla="*/ 192 w 576"/>
                <a:gd name="T7" fmla="*/ 192 h 192"/>
                <a:gd name="T8" fmla="*/ 288 w 576"/>
                <a:gd name="T9" fmla="*/ 192 h 192"/>
                <a:gd name="T10" fmla="*/ 288 w 576"/>
                <a:gd name="T11" fmla="*/ 0 h 192"/>
                <a:gd name="T12" fmla="*/ 336 w 576"/>
                <a:gd name="T13" fmla="*/ 0 h 192"/>
                <a:gd name="T14" fmla="*/ 336 w 576"/>
                <a:gd name="T15" fmla="*/ 192 h 192"/>
                <a:gd name="T16" fmla="*/ 480 w 576"/>
                <a:gd name="T17" fmla="*/ 192 h 192"/>
                <a:gd name="T18" fmla="*/ 480 w 576"/>
                <a:gd name="T19" fmla="*/ 0 h 192"/>
                <a:gd name="T20" fmla="*/ 576 w 576"/>
                <a:gd name="T21" fmla="*/ 0 h 192"/>
                <a:gd name="T22" fmla="*/ 576 w 576"/>
                <a:gd name="T23" fmla="*/ 96 h 192"/>
                <a:gd name="T24" fmla="*/ 0 w 576"/>
                <a:gd name="T25" fmla="*/ 96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6" h="192">
                  <a:moveTo>
                    <a:pt x="0" y="96"/>
                  </a:moveTo>
                  <a:lnTo>
                    <a:pt x="0" y="0"/>
                  </a:lnTo>
                  <a:lnTo>
                    <a:pt x="192" y="0"/>
                  </a:lnTo>
                  <a:lnTo>
                    <a:pt x="192" y="192"/>
                  </a:lnTo>
                  <a:lnTo>
                    <a:pt x="288" y="192"/>
                  </a:lnTo>
                  <a:lnTo>
                    <a:pt x="288" y="0"/>
                  </a:lnTo>
                  <a:lnTo>
                    <a:pt x="336" y="0"/>
                  </a:lnTo>
                  <a:lnTo>
                    <a:pt x="336" y="192"/>
                  </a:lnTo>
                  <a:lnTo>
                    <a:pt x="480" y="192"/>
                  </a:lnTo>
                  <a:lnTo>
                    <a:pt x="480" y="0"/>
                  </a:lnTo>
                  <a:lnTo>
                    <a:pt x="576" y="0"/>
                  </a:lnTo>
                  <a:lnTo>
                    <a:pt x="576" y="96"/>
                  </a:lnTo>
                  <a:lnTo>
                    <a:pt x="0" y="96"/>
                  </a:lnTo>
                  <a:close/>
                </a:path>
              </a:pathLst>
            </a:custGeom>
            <a:grpFill/>
            <a:ln w="12700" cap="flat" cmpd="sng">
              <a:noFill/>
              <a:prstDash val="solid"/>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grpSp>
      <p:sp>
        <p:nvSpPr>
          <p:cNvPr id="87" name="上箭头 86"/>
          <p:cNvSpPr/>
          <p:nvPr/>
        </p:nvSpPr>
        <p:spPr>
          <a:xfrm>
            <a:off x="4028301" y="3527399"/>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2" name="上箭头 81"/>
          <p:cNvSpPr/>
          <p:nvPr/>
        </p:nvSpPr>
        <p:spPr>
          <a:xfrm>
            <a:off x="4028301" y="3154024"/>
            <a:ext cx="178622" cy="245129"/>
          </a:xfrm>
          <a:prstGeom prst="up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标题 1">
            <a:extLst>
              <a:ext uri="{FF2B5EF4-FFF2-40B4-BE49-F238E27FC236}">
                <a16:creationId xmlns:a16="http://schemas.microsoft.com/office/drawing/2014/main" id="{FFAEDC3D-7EC2-D6A7-C529-F863821F6A2D}"/>
              </a:ext>
            </a:extLst>
          </p:cNvPr>
          <p:cNvSpPr>
            <a:spLocks noGrp="1"/>
          </p:cNvSpPr>
          <p:nvPr>
            <p:ph type="title"/>
          </p:nvPr>
        </p:nvSpPr>
        <p:spPr>
          <a:xfrm>
            <a:off x="612000" y="144000"/>
            <a:ext cx="7920000" cy="341632"/>
          </a:xfrm>
        </p:spPr>
        <p:txBody>
          <a:bodyPr/>
          <a:lstStyle/>
          <a:p>
            <a:r>
              <a:rPr lang="zh-CN" altLang="en-US" dirty="0"/>
              <a:t>数据在各层之间的传递过程</a:t>
            </a:r>
          </a:p>
        </p:txBody>
      </p:sp>
      <p:sp>
        <p:nvSpPr>
          <p:cNvPr id="153" name="Rectangle 42">
            <a:extLst>
              <a:ext uri="{FF2B5EF4-FFF2-40B4-BE49-F238E27FC236}">
                <a16:creationId xmlns:a16="http://schemas.microsoft.com/office/drawing/2014/main" id="{2CBDDF4C-CC8B-37BC-757B-4004A2B171ED}"/>
              </a:ext>
            </a:extLst>
          </p:cNvPr>
          <p:cNvSpPr>
            <a:spLocks noChangeArrowheads="1"/>
          </p:cNvSpPr>
          <p:nvPr/>
        </p:nvSpPr>
        <p:spPr bwMode="auto">
          <a:xfrm>
            <a:off x="5946144" y="2932543"/>
            <a:ext cx="223200" cy="244800"/>
          </a:xfrm>
          <a:prstGeom prst="rect">
            <a:avLst/>
          </a:prstGeom>
          <a:solidFill>
            <a:srgbClr val="FFC000"/>
          </a:solidFill>
          <a:ln w="9525">
            <a:solidFill>
              <a:schemeClr val="tx1"/>
            </a:solidFill>
            <a:miter lim="800000"/>
          </a:ln>
          <a:effectLst/>
        </p:spPr>
        <p:txBody>
          <a:bodyPr wrap="none" anchor="ctr"/>
          <a:lstStyle/>
          <a:p>
            <a:pPr algn="ctr"/>
            <a:r>
              <a:rPr lang="en-US" altLang="zh-CN" sz="1000" dirty="0"/>
              <a:t>H</a:t>
            </a:r>
            <a:r>
              <a:rPr lang="en-US" altLang="zh-CN" sz="1000" baseline="-25000" dirty="0"/>
              <a:t>4</a:t>
            </a:r>
          </a:p>
        </p:txBody>
      </p:sp>
      <p:sp>
        <p:nvSpPr>
          <p:cNvPr id="155" name="Rectangle 43">
            <a:extLst>
              <a:ext uri="{FF2B5EF4-FFF2-40B4-BE49-F238E27FC236}">
                <a16:creationId xmlns:a16="http://schemas.microsoft.com/office/drawing/2014/main" id="{160D797C-52EE-54B5-44E0-4A42C9D69329}"/>
              </a:ext>
            </a:extLst>
          </p:cNvPr>
          <p:cNvSpPr>
            <a:spLocks noChangeArrowheads="1"/>
          </p:cNvSpPr>
          <p:nvPr/>
        </p:nvSpPr>
        <p:spPr bwMode="auto">
          <a:xfrm>
            <a:off x="6169344" y="2932543"/>
            <a:ext cx="223200" cy="244800"/>
          </a:xfrm>
          <a:prstGeom prst="rect">
            <a:avLst/>
          </a:prstGeom>
          <a:solidFill>
            <a:schemeClr val="accent2"/>
          </a:solidFill>
          <a:ln w="9525">
            <a:solidFill>
              <a:schemeClr val="tx1"/>
            </a:solidFill>
            <a:miter lim="800000"/>
          </a:ln>
          <a:effectLst/>
        </p:spPr>
        <p:txBody>
          <a:bodyPr wrap="none" anchor="ctr"/>
          <a:lstStyle/>
          <a:p>
            <a:pPr algn="ctr"/>
            <a:r>
              <a:rPr lang="en-US" altLang="zh-CN" sz="1000" dirty="0"/>
              <a:t>H</a:t>
            </a:r>
            <a:r>
              <a:rPr lang="en-US" altLang="zh-CN" sz="1000" baseline="-25000" dirty="0"/>
              <a:t>5</a:t>
            </a:r>
          </a:p>
        </p:txBody>
      </p:sp>
      <p:sp>
        <p:nvSpPr>
          <p:cNvPr id="157" name="Rectangle 44">
            <a:extLst>
              <a:ext uri="{FF2B5EF4-FFF2-40B4-BE49-F238E27FC236}">
                <a16:creationId xmlns:a16="http://schemas.microsoft.com/office/drawing/2014/main" id="{C2A14DC4-D888-47FB-FF1F-3FC019DF0B60}"/>
              </a:ext>
            </a:extLst>
          </p:cNvPr>
          <p:cNvSpPr>
            <a:spLocks noChangeArrowheads="1"/>
          </p:cNvSpPr>
          <p:nvPr/>
        </p:nvSpPr>
        <p:spPr bwMode="auto">
          <a:xfrm>
            <a:off x="6392544" y="2932543"/>
            <a:ext cx="446400" cy="244800"/>
          </a:xfrm>
          <a:prstGeom prst="rect">
            <a:avLst/>
          </a:prstGeom>
          <a:solidFill>
            <a:schemeClr val="bg1"/>
          </a:solidFill>
          <a:ln w="9525">
            <a:solidFill>
              <a:schemeClr val="tx1"/>
            </a:solidFill>
            <a:miter lim="800000"/>
          </a:ln>
        </p:spPr>
        <p:txBody>
          <a:bodyPr wrap="none" anchor="ctr"/>
          <a:lstStyle/>
          <a:p>
            <a:pPr algn="ctr"/>
            <a:r>
              <a:rPr lang="zh-CN" altLang="en-US" sz="1000" dirty="0"/>
              <a:t>数 据</a:t>
            </a:r>
          </a:p>
        </p:txBody>
      </p:sp>
      <p:sp>
        <p:nvSpPr>
          <p:cNvPr id="159" name="Rectangle 70">
            <a:extLst>
              <a:ext uri="{FF2B5EF4-FFF2-40B4-BE49-F238E27FC236}">
                <a16:creationId xmlns:a16="http://schemas.microsoft.com/office/drawing/2014/main" id="{8531F916-C3CD-7E3E-16E6-C4002C8BB5C6}"/>
              </a:ext>
            </a:extLst>
          </p:cNvPr>
          <p:cNvSpPr>
            <a:spLocks noChangeArrowheads="1"/>
          </p:cNvSpPr>
          <p:nvPr/>
        </p:nvSpPr>
        <p:spPr bwMode="auto">
          <a:xfrm>
            <a:off x="5722944" y="2932543"/>
            <a:ext cx="223200" cy="244800"/>
          </a:xfrm>
          <a:prstGeom prst="rect">
            <a:avLst/>
          </a:prstGeom>
          <a:solidFill>
            <a:srgbClr val="00B0F0"/>
          </a:solidFill>
          <a:ln w="9525">
            <a:solidFill>
              <a:schemeClr val="tx1"/>
            </a:solidFill>
            <a:miter lim="800000"/>
          </a:ln>
          <a:effectLst/>
        </p:spPr>
        <p:txBody>
          <a:bodyPr wrap="none" anchor="ctr"/>
          <a:lstStyle/>
          <a:p>
            <a:pPr algn="ctr"/>
            <a:r>
              <a:rPr lang="en-US" altLang="zh-CN" sz="1000" dirty="0"/>
              <a:t>H</a:t>
            </a:r>
            <a:r>
              <a:rPr lang="en-US" altLang="zh-CN" sz="1000" baseline="-25000" dirty="0"/>
              <a:t>3</a:t>
            </a:r>
          </a:p>
        </p:txBody>
      </p:sp>
      <p:sp>
        <p:nvSpPr>
          <p:cNvPr id="173" name="Rectangle 42">
            <a:extLst>
              <a:ext uri="{FF2B5EF4-FFF2-40B4-BE49-F238E27FC236}">
                <a16:creationId xmlns:a16="http://schemas.microsoft.com/office/drawing/2014/main" id="{EF1429A5-75CD-7C99-73AE-1DA2339AC6BD}"/>
              </a:ext>
            </a:extLst>
          </p:cNvPr>
          <p:cNvSpPr>
            <a:spLocks noChangeArrowheads="1"/>
          </p:cNvSpPr>
          <p:nvPr/>
        </p:nvSpPr>
        <p:spPr bwMode="auto">
          <a:xfrm>
            <a:off x="2515214" y="2932543"/>
            <a:ext cx="223200" cy="244800"/>
          </a:xfrm>
          <a:prstGeom prst="rect">
            <a:avLst/>
          </a:prstGeom>
          <a:solidFill>
            <a:srgbClr val="FFC000"/>
          </a:solidFill>
          <a:ln w="9525">
            <a:solidFill>
              <a:schemeClr val="tx1"/>
            </a:solidFill>
            <a:miter lim="800000"/>
          </a:ln>
          <a:effectLst/>
        </p:spPr>
        <p:txBody>
          <a:bodyPr wrap="none" anchor="ctr"/>
          <a:lstStyle/>
          <a:p>
            <a:pPr algn="ctr"/>
            <a:r>
              <a:rPr lang="en-US" altLang="zh-CN" sz="1000" dirty="0"/>
              <a:t>H</a:t>
            </a:r>
            <a:r>
              <a:rPr lang="en-US" altLang="zh-CN" sz="1000" baseline="-25000" dirty="0"/>
              <a:t>4</a:t>
            </a:r>
          </a:p>
        </p:txBody>
      </p:sp>
      <p:sp>
        <p:nvSpPr>
          <p:cNvPr id="175" name="Rectangle 43">
            <a:extLst>
              <a:ext uri="{FF2B5EF4-FFF2-40B4-BE49-F238E27FC236}">
                <a16:creationId xmlns:a16="http://schemas.microsoft.com/office/drawing/2014/main" id="{6C700EF5-3A57-56CA-4A3F-7A4CF9A4F41B}"/>
              </a:ext>
            </a:extLst>
          </p:cNvPr>
          <p:cNvSpPr>
            <a:spLocks noChangeArrowheads="1"/>
          </p:cNvSpPr>
          <p:nvPr/>
        </p:nvSpPr>
        <p:spPr bwMode="auto">
          <a:xfrm>
            <a:off x="2738414" y="2932543"/>
            <a:ext cx="223200" cy="244800"/>
          </a:xfrm>
          <a:prstGeom prst="rect">
            <a:avLst/>
          </a:prstGeom>
          <a:solidFill>
            <a:schemeClr val="accent2"/>
          </a:solidFill>
          <a:ln w="9525">
            <a:solidFill>
              <a:schemeClr val="tx1"/>
            </a:solidFill>
            <a:miter lim="800000"/>
          </a:ln>
          <a:effectLst/>
        </p:spPr>
        <p:txBody>
          <a:bodyPr wrap="none" anchor="ctr"/>
          <a:lstStyle/>
          <a:p>
            <a:pPr algn="ctr"/>
            <a:r>
              <a:rPr lang="en-US" altLang="zh-CN" sz="1000" dirty="0"/>
              <a:t>H</a:t>
            </a:r>
            <a:r>
              <a:rPr lang="en-US" altLang="zh-CN" sz="1000" baseline="-25000" dirty="0"/>
              <a:t>5</a:t>
            </a:r>
          </a:p>
        </p:txBody>
      </p:sp>
      <p:sp>
        <p:nvSpPr>
          <p:cNvPr id="177" name="Rectangle 44">
            <a:extLst>
              <a:ext uri="{FF2B5EF4-FFF2-40B4-BE49-F238E27FC236}">
                <a16:creationId xmlns:a16="http://schemas.microsoft.com/office/drawing/2014/main" id="{DC086960-5573-8B1F-48EC-AE88B314DC61}"/>
              </a:ext>
            </a:extLst>
          </p:cNvPr>
          <p:cNvSpPr>
            <a:spLocks noChangeArrowheads="1"/>
          </p:cNvSpPr>
          <p:nvPr/>
        </p:nvSpPr>
        <p:spPr bwMode="auto">
          <a:xfrm>
            <a:off x="2961614" y="2932543"/>
            <a:ext cx="482400" cy="244800"/>
          </a:xfrm>
          <a:prstGeom prst="rect">
            <a:avLst/>
          </a:prstGeom>
          <a:solidFill>
            <a:schemeClr val="bg1"/>
          </a:solidFill>
          <a:ln w="9525">
            <a:solidFill>
              <a:schemeClr val="tx1"/>
            </a:solidFill>
            <a:miter lim="800000"/>
          </a:ln>
        </p:spPr>
        <p:txBody>
          <a:bodyPr wrap="none" anchor="ctr"/>
          <a:lstStyle/>
          <a:p>
            <a:pPr algn="ctr"/>
            <a:r>
              <a:rPr lang="zh-CN" altLang="en-US" sz="1000" dirty="0"/>
              <a:t>数 据</a:t>
            </a:r>
          </a:p>
        </p:txBody>
      </p:sp>
      <p:sp>
        <p:nvSpPr>
          <p:cNvPr id="179" name="Rectangle 70">
            <a:extLst>
              <a:ext uri="{FF2B5EF4-FFF2-40B4-BE49-F238E27FC236}">
                <a16:creationId xmlns:a16="http://schemas.microsoft.com/office/drawing/2014/main" id="{93D5285A-AED3-7ECC-92BE-E5F869161EF4}"/>
              </a:ext>
            </a:extLst>
          </p:cNvPr>
          <p:cNvSpPr>
            <a:spLocks noChangeArrowheads="1"/>
          </p:cNvSpPr>
          <p:nvPr/>
        </p:nvSpPr>
        <p:spPr bwMode="auto">
          <a:xfrm>
            <a:off x="2292014" y="2932543"/>
            <a:ext cx="223200" cy="244800"/>
          </a:xfrm>
          <a:prstGeom prst="rect">
            <a:avLst/>
          </a:prstGeom>
          <a:solidFill>
            <a:srgbClr val="00B0F0"/>
          </a:solidFill>
          <a:ln w="9525">
            <a:solidFill>
              <a:schemeClr val="tx1"/>
            </a:solidFill>
            <a:miter lim="800000"/>
          </a:ln>
          <a:effectLst/>
        </p:spPr>
        <p:txBody>
          <a:bodyPr wrap="none" anchor="ctr"/>
          <a:lstStyle/>
          <a:p>
            <a:pPr algn="ctr"/>
            <a:r>
              <a:rPr lang="en-US" altLang="zh-CN" sz="1000"/>
              <a:t>H</a:t>
            </a:r>
            <a:r>
              <a:rPr lang="en-US" altLang="zh-CN" sz="1000" baseline="-25000"/>
              <a:t>3</a:t>
            </a:r>
          </a:p>
        </p:txBody>
      </p:sp>
      <p:sp>
        <p:nvSpPr>
          <p:cNvPr id="181" name="Rectangle 46">
            <a:extLst>
              <a:ext uri="{FF2B5EF4-FFF2-40B4-BE49-F238E27FC236}">
                <a16:creationId xmlns:a16="http://schemas.microsoft.com/office/drawing/2014/main" id="{3E07543B-3414-4944-C417-CA22A835D4CF}"/>
              </a:ext>
            </a:extLst>
          </p:cNvPr>
          <p:cNvSpPr>
            <a:spLocks noChangeArrowheads="1"/>
          </p:cNvSpPr>
          <p:nvPr/>
        </p:nvSpPr>
        <p:spPr bwMode="auto">
          <a:xfrm>
            <a:off x="2292014" y="3303460"/>
            <a:ext cx="223200" cy="244800"/>
          </a:xfrm>
          <a:prstGeom prst="rect">
            <a:avLst/>
          </a:prstGeom>
          <a:solidFill>
            <a:srgbClr val="00B0F0"/>
          </a:solidFill>
          <a:ln w="9525">
            <a:solidFill>
              <a:schemeClr val="tx1"/>
            </a:solidFill>
            <a:miter lim="800000"/>
          </a:ln>
          <a:effectLst/>
        </p:spPr>
        <p:txBody>
          <a:bodyPr wrap="none" anchor="ctr"/>
          <a:lstStyle/>
          <a:p>
            <a:pPr algn="ctr"/>
            <a:r>
              <a:rPr lang="en-US" altLang="zh-CN" sz="1000"/>
              <a:t>H</a:t>
            </a:r>
            <a:r>
              <a:rPr lang="en-US" altLang="zh-CN" sz="1000" baseline="-25000"/>
              <a:t>3</a:t>
            </a:r>
          </a:p>
        </p:txBody>
      </p:sp>
      <p:sp>
        <p:nvSpPr>
          <p:cNvPr id="183" name="Rectangle 47">
            <a:extLst>
              <a:ext uri="{FF2B5EF4-FFF2-40B4-BE49-F238E27FC236}">
                <a16:creationId xmlns:a16="http://schemas.microsoft.com/office/drawing/2014/main" id="{C29F1097-7651-B1FD-3559-B1A339DA9F61}"/>
              </a:ext>
            </a:extLst>
          </p:cNvPr>
          <p:cNvSpPr>
            <a:spLocks noChangeArrowheads="1"/>
          </p:cNvSpPr>
          <p:nvPr/>
        </p:nvSpPr>
        <p:spPr bwMode="auto">
          <a:xfrm>
            <a:off x="2515214" y="3303460"/>
            <a:ext cx="223200" cy="244800"/>
          </a:xfrm>
          <a:prstGeom prst="rect">
            <a:avLst/>
          </a:prstGeom>
          <a:solidFill>
            <a:srgbClr val="FFC000"/>
          </a:solidFill>
          <a:ln w="9525">
            <a:solidFill>
              <a:schemeClr val="tx1"/>
            </a:solidFill>
            <a:miter lim="800000"/>
          </a:ln>
          <a:effectLst/>
        </p:spPr>
        <p:txBody>
          <a:bodyPr wrap="none" anchor="ctr"/>
          <a:lstStyle/>
          <a:p>
            <a:pPr algn="ctr"/>
            <a:r>
              <a:rPr lang="en-US" altLang="zh-CN" sz="1000"/>
              <a:t>H</a:t>
            </a:r>
            <a:r>
              <a:rPr lang="en-US" altLang="zh-CN" sz="1000" baseline="-25000"/>
              <a:t>4</a:t>
            </a:r>
          </a:p>
        </p:txBody>
      </p:sp>
      <p:sp>
        <p:nvSpPr>
          <p:cNvPr id="185" name="Rectangle 48">
            <a:extLst>
              <a:ext uri="{FF2B5EF4-FFF2-40B4-BE49-F238E27FC236}">
                <a16:creationId xmlns:a16="http://schemas.microsoft.com/office/drawing/2014/main" id="{6EFEC5EE-0A6F-8E59-2358-CCACA1A8222B}"/>
              </a:ext>
            </a:extLst>
          </p:cNvPr>
          <p:cNvSpPr>
            <a:spLocks noChangeArrowheads="1"/>
          </p:cNvSpPr>
          <p:nvPr/>
        </p:nvSpPr>
        <p:spPr bwMode="auto">
          <a:xfrm>
            <a:off x="2738414" y="3303460"/>
            <a:ext cx="223200" cy="244800"/>
          </a:xfrm>
          <a:prstGeom prst="rect">
            <a:avLst/>
          </a:prstGeom>
          <a:solidFill>
            <a:schemeClr val="accent2"/>
          </a:solidFill>
          <a:ln w="9525">
            <a:solidFill>
              <a:schemeClr val="tx1"/>
            </a:solidFill>
            <a:miter lim="800000"/>
          </a:ln>
          <a:effectLst/>
        </p:spPr>
        <p:txBody>
          <a:bodyPr wrap="none" anchor="ctr"/>
          <a:lstStyle/>
          <a:p>
            <a:pPr algn="ctr"/>
            <a:r>
              <a:rPr lang="en-US" altLang="zh-CN" sz="1000" dirty="0"/>
              <a:t>H</a:t>
            </a:r>
            <a:r>
              <a:rPr lang="en-US" altLang="zh-CN" sz="1000" baseline="-25000" dirty="0"/>
              <a:t>5</a:t>
            </a:r>
          </a:p>
        </p:txBody>
      </p:sp>
      <p:sp>
        <p:nvSpPr>
          <p:cNvPr id="187" name="Rectangle 49">
            <a:extLst>
              <a:ext uri="{FF2B5EF4-FFF2-40B4-BE49-F238E27FC236}">
                <a16:creationId xmlns:a16="http://schemas.microsoft.com/office/drawing/2014/main" id="{E34C5510-DFA4-4B5D-8067-985EE1B326D8}"/>
              </a:ext>
            </a:extLst>
          </p:cNvPr>
          <p:cNvSpPr>
            <a:spLocks noChangeArrowheads="1"/>
          </p:cNvSpPr>
          <p:nvPr/>
        </p:nvSpPr>
        <p:spPr bwMode="auto">
          <a:xfrm>
            <a:off x="2961614" y="3303460"/>
            <a:ext cx="482400" cy="244800"/>
          </a:xfrm>
          <a:prstGeom prst="rect">
            <a:avLst/>
          </a:prstGeom>
          <a:solidFill>
            <a:schemeClr val="bg1"/>
          </a:solidFill>
          <a:ln w="9525">
            <a:solidFill>
              <a:schemeClr val="tx1"/>
            </a:solidFill>
            <a:miter lim="800000"/>
          </a:ln>
        </p:spPr>
        <p:txBody>
          <a:bodyPr wrap="none" anchor="ctr"/>
          <a:lstStyle/>
          <a:p>
            <a:pPr algn="ctr"/>
            <a:r>
              <a:rPr lang="zh-CN" altLang="en-US" sz="1000" dirty="0"/>
              <a:t>数 据</a:t>
            </a:r>
          </a:p>
        </p:txBody>
      </p:sp>
      <p:sp>
        <p:nvSpPr>
          <p:cNvPr id="189" name="Rectangle 74">
            <a:extLst>
              <a:ext uri="{FF2B5EF4-FFF2-40B4-BE49-F238E27FC236}">
                <a16:creationId xmlns:a16="http://schemas.microsoft.com/office/drawing/2014/main" id="{8AC7E2D9-BD45-466B-918E-A08A17BAEB6E}"/>
              </a:ext>
            </a:extLst>
          </p:cNvPr>
          <p:cNvSpPr>
            <a:spLocks noChangeArrowheads="1"/>
          </p:cNvSpPr>
          <p:nvPr/>
        </p:nvSpPr>
        <p:spPr bwMode="auto">
          <a:xfrm>
            <a:off x="2068814" y="3303460"/>
            <a:ext cx="223200" cy="244800"/>
          </a:xfrm>
          <a:prstGeom prst="rect">
            <a:avLst/>
          </a:prstGeom>
          <a:solidFill>
            <a:srgbClr val="00B050"/>
          </a:solidFill>
          <a:ln w="9525">
            <a:solidFill>
              <a:schemeClr val="tx1"/>
            </a:solidFill>
            <a:miter lim="800000"/>
          </a:ln>
          <a:effectLst/>
        </p:spPr>
        <p:txBody>
          <a:bodyPr wrap="none" anchor="ctr"/>
          <a:lstStyle/>
          <a:p>
            <a:pPr algn="ctr"/>
            <a:r>
              <a:rPr lang="en-US" altLang="zh-CN" sz="1000" dirty="0"/>
              <a:t>H</a:t>
            </a:r>
            <a:r>
              <a:rPr lang="en-US" altLang="zh-CN" sz="1000" baseline="-25000" dirty="0"/>
              <a:t>2</a:t>
            </a:r>
          </a:p>
        </p:txBody>
      </p:sp>
      <p:sp>
        <p:nvSpPr>
          <p:cNvPr id="191" name="Rectangle 78">
            <a:extLst>
              <a:ext uri="{FF2B5EF4-FFF2-40B4-BE49-F238E27FC236}">
                <a16:creationId xmlns:a16="http://schemas.microsoft.com/office/drawing/2014/main" id="{BAE127E5-9895-ABD6-FF47-1CC93381E87F}"/>
              </a:ext>
            </a:extLst>
          </p:cNvPr>
          <p:cNvSpPr>
            <a:spLocks noChangeArrowheads="1"/>
          </p:cNvSpPr>
          <p:nvPr/>
        </p:nvSpPr>
        <p:spPr bwMode="auto">
          <a:xfrm>
            <a:off x="3444013" y="3303206"/>
            <a:ext cx="223200" cy="245309"/>
          </a:xfrm>
          <a:prstGeom prst="rect">
            <a:avLst/>
          </a:prstGeom>
          <a:solidFill>
            <a:srgbClr val="00B050"/>
          </a:solidFill>
          <a:ln w="9525">
            <a:solidFill>
              <a:schemeClr val="tx1"/>
            </a:solidFill>
            <a:miter lim="800000"/>
          </a:ln>
          <a:effectLst/>
        </p:spPr>
        <p:txBody>
          <a:bodyPr wrap="none" anchor="ctr"/>
          <a:lstStyle/>
          <a:p>
            <a:pPr algn="ctr"/>
            <a:r>
              <a:rPr lang="en-US" altLang="zh-CN" sz="1000" dirty="0"/>
              <a:t>T</a:t>
            </a:r>
            <a:r>
              <a:rPr lang="en-US" altLang="zh-CN" sz="1000" baseline="-25000" dirty="0"/>
              <a:t>2</a:t>
            </a:r>
          </a:p>
        </p:txBody>
      </p:sp>
      <p:sp>
        <p:nvSpPr>
          <p:cNvPr id="193" name="Rectangle 35">
            <a:extLst>
              <a:ext uri="{FF2B5EF4-FFF2-40B4-BE49-F238E27FC236}">
                <a16:creationId xmlns:a16="http://schemas.microsoft.com/office/drawing/2014/main" id="{C6193400-AF7B-34C6-F9D8-58D9656CE33B}"/>
              </a:ext>
            </a:extLst>
          </p:cNvPr>
          <p:cNvSpPr>
            <a:spLocks noChangeArrowheads="1"/>
          </p:cNvSpPr>
          <p:nvPr/>
        </p:nvSpPr>
        <p:spPr bwMode="auto">
          <a:xfrm>
            <a:off x="2068816" y="3671598"/>
            <a:ext cx="1598222" cy="244475"/>
          </a:xfrm>
          <a:prstGeom prst="rect">
            <a:avLst/>
          </a:prstGeom>
          <a:ln w="9525">
            <a:solidFill>
              <a:schemeClr val="tx1"/>
            </a:solidFill>
            <a:miter lim="800000"/>
          </a:ln>
        </p:spPr>
        <p:txBody>
          <a:bodyPr wrap="none" anchor="ctr"/>
          <a:lstStyle/>
          <a:p>
            <a:pPr algn="ctr"/>
            <a:r>
              <a:rPr lang="en-US" altLang="zh-CN" sz="1000" dirty="0">
                <a:solidFill>
                  <a:srgbClr val="FF0000"/>
                </a:solidFill>
                <a:latin typeface="+mj-lt"/>
                <a:ea typeface="+mj-ea"/>
              </a:rPr>
              <a:t>10100 </a:t>
            </a:r>
            <a:r>
              <a:rPr lang="zh-CN" altLang="en-US" sz="1000" dirty="0">
                <a:solidFill>
                  <a:srgbClr val="FF0000"/>
                </a:solidFill>
                <a:latin typeface="+mj-lt"/>
                <a:ea typeface="+mj-ea"/>
              </a:rPr>
              <a:t>比特流 </a:t>
            </a:r>
            <a:r>
              <a:rPr lang="en-US" altLang="zh-CN" sz="1000" dirty="0">
                <a:solidFill>
                  <a:srgbClr val="FF0000"/>
                </a:solidFill>
                <a:latin typeface="+mj-lt"/>
                <a:ea typeface="+mj-ea"/>
              </a:rPr>
              <a:t>110100</a:t>
            </a:r>
          </a:p>
        </p:txBody>
      </p:sp>
    </p:spTree>
    <p:extLst>
      <p:ext uri="{BB962C8B-B14F-4D97-AF65-F5344CB8AC3E}">
        <p14:creationId xmlns:p14="http://schemas.microsoft.com/office/powerpoint/2010/main" val="3163946380"/>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0" name="AutoShape 4">
            <a:extLst>
              <a:ext uri="{FF2B5EF4-FFF2-40B4-BE49-F238E27FC236}">
                <a16:creationId xmlns:a16="http://schemas.microsoft.com/office/drawing/2014/main" id="{3E7DB186-94E9-FB5A-C890-CD14723373E2}"/>
              </a:ext>
            </a:extLst>
          </p:cNvPr>
          <p:cNvSpPr>
            <a:spLocks noChangeArrowheads="1"/>
          </p:cNvSpPr>
          <p:nvPr/>
        </p:nvSpPr>
        <p:spPr bwMode="auto">
          <a:xfrm rot="16200000">
            <a:off x="2567190" y="2361728"/>
            <a:ext cx="271463" cy="3600000"/>
          </a:xfrm>
          <a:prstGeom prst="can">
            <a:avLst>
              <a:gd name="adj" fmla="val 48656"/>
            </a:avLst>
          </a:prstGeom>
          <a:gradFill rotWithShape="0">
            <a:gsLst>
              <a:gs pos="0">
                <a:srgbClr val="00CC00"/>
              </a:gs>
              <a:gs pos="50000">
                <a:schemeClr val="bg1"/>
              </a:gs>
              <a:gs pos="100000">
                <a:srgbClr val="00CC00"/>
              </a:gs>
            </a:gsLst>
            <a:lin ang="5400000" scaled="1"/>
          </a:gradFill>
          <a:ln w="6350">
            <a:solidFill>
              <a:srgbClr val="7CE07C"/>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222" name="AutoShape 4">
            <a:extLst>
              <a:ext uri="{FF2B5EF4-FFF2-40B4-BE49-F238E27FC236}">
                <a16:creationId xmlns:a16="http://schemas.microsoft.com/office/drawing/2014/main" id="{126D2CFB-BD33-A5F1-EAD2-DF349B26A9B9}"/>
              </a:ext>
            </a:extLst>
          </p:cNvPr>
          <p:cNvSpPr>
            <a:spLocks noChangeArrowheads="1"/>
          </p:cNvSpPr>
          <p:nvPr/>
        </p:nvSpPr>
        <p:spPr bwMode="auto">
          <a:xfrm rot="16200000">
            <a:off x="6253847" y="2361728"/>
            <a:ext cx="271463" cy="3600000"/>
          </a:xfrm>
          <a:prstGeom prst="can">
            <a:avLst>
              <a:gd name="adj" fmla="val 48656"/>
            </a:avLst>
          </a:prstGeom>
          <a:gradFill rotWithShape="0">
            <a:gsLst>
              <a:gs pos="0">
                <a:srgbClr val="00CC00"/>
              </a:gs>
              <a:gs pos="50000">
                <a:schemeClr val="bg1"/>
              </a:gs>
              <a:gs pos="100000">
                <a:srgbClr val="00CC00"/>
              </a:gs>
            </a:gsLst>
            <a:lin ang="5400000" scaled="1"/>
          </a:gradFill>
          <a:ln w="6350">
            <a:solidFill>
              <a:srgbClr val="7CE07C"/>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224" name="Text Box 26">
            <a:extLst>
              <a:ext uri="{FF2B5EF4-FFF2-40B4-BE49-F238E27FC236}">
                <a16:creationId xmlns:a16="http://schemas.microsoft.com/office/drawing/2014/main" id="{196202C7-ACA4-5203-5196-1CA883E415CE}"/>
              </a:ext>
            </a:extLst>
          </p:cNvPr>
          <p:cNvSpPr txBox="1">
            <a:spLocks noChangeArrowheads="1"/>
          </p:cNvSpPr>
          <p:nvPr/>
        </p:nvSpPr>
        <p:spPr bwMode="auto">
          <a:xfrm>
            <a:off x="2701348" y="4023229"/>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dirty="0">
                <a:latin typeface="+mj-lt"/>
                <a:ea typeface="+mj-ea"/>
              </a:rPr>
              <a:t>物理传输媒体</a:t>
            </a:r>
          </a:p>
        </p:txBody>
      </p:sp>
      <p:sp>
        <p:nvSpPr>
          <p:cNvPr id="226" name="Text Box 26">
            <a:extLst>
              <a:ext uri="{FF2B5EF4-FFF2-40B4-BE49-F238E27FC236}">
                <a16:creationId xmlns:a16="http://schemas.microsoft.com/office/drawing/2014/main" id="{329011FC-E523-AC9E-DCA2-2DBDB70097F4}"/>
              </a:ext>
            </a:extLst>
          </p:cNvPr>
          <p:cNvSpPr txBox="1">
            <a:spLocks noChangeArrowheads="1"/>
          </p:cNvSpPr>
          <p:nvPr/>
        </p:nvSpPr>
        <p:spPr bwMode="auto">
          <a:xfrm>
            <a:off x="6193730" y="4023229"/>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dirty="0">
                <a:latin typeface="+mj-lt"/>
                <a:ea typeface="+mj-ea"/>
              </a:rPr>
              <a:t>物理传输媒体</a:t>
            </a:r>
          </a:p>
        </p:txBody>
      </p:sp>
      <p:grpSp>
        <p:nvGrpSpPr>
          <p:cNvPr id="213" name="组合 212">
            <a:extLst>
              <a:ext uri="{FF2B5EF4-FFF2-40B4-BE49-F238E27FC236}">
                <a16:creationId xmlns:a16="http://schemas.microsoft.com/office/drawing/2014/main" id="{F8BB72FD-D3D0-FE0E-732E-DA199C63D7F5}"/>
              </a:ext>
            </a:extLst>
          </p:cNvPr>
          <p:cNvGrpSpPr/>
          <p:nvPr/>
        </p:nvGrpSpPr>
        <p:grpSpPr>
          <a:xfrm>
            <a:off x="3960000" y="2808000"/>
            <a:ext cx="1080000" cy="1080000"/>
            <a:chOff x="2807995" y="2745746"/>
            <a:chExt cx="1080000" cy="1080000"/>
          </a:xfrm>
        </p:grpSpPr>
        <p:sp>
          <p:nvSpPr>
            <p:cNvPr id="214" name="立方体 213">
              <a:extLst>
                <a:ext uri="{FF2B5EF4-FFF2-40B4-BE49-F238E27FC236}">
                  <a16:creationId xmlns:a16="http://schemas.microsoft.com/office/drawing/2014/main" id="{A2A19A40-63F8-BD3B-E80D-7FCE75C08E66}"/>
                </a:ext>
              </a:extLst>
            </p:cNvPr>
            <p:cNvSpPr/>
            <p:nvPr/>
          </p:nvSpPr>
          <p:spPr>
            <a:xfrm>
              <a:off x="2807995" y="3393746"/>
              <a:ext cx="594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sz="1050" dirty="0">
                  <a:solidFill>
                    <a:schemeClr val="bg1"/>
                  </a:solidFill>
                </a:rPr>
                <a:t>1</a:t>
              </a:r>
              <a:endParaRPr lang="zh-CN" altLang="en-US" sz="1050" dirty="0">
                <a:solidFill>
                  <a:schemeClr val="bg1"/>
                </a:solidFill>
              </a:endParaRPr>
            </a:p>
          </p:txBody>
        </p:sp>
        <p:sp>
          <p:nvSpPr>
            <p:cNvPr id="215" name="立方体 214">
              <a:extLst>
                <a:ext uri="{FF2B5EF4-FFF2-40B4-BE49-F238E27FC236}">
                  <a16:creationId xmlns:a16="http://schemas.microsoft.com/office/drawing/2014/main" id="{3F28867C-004B-9AEF-4884-4B1D9D1CBE04}"/>
                </a:ext>
              </a:extLst>
            </p:cNvPr>
            <p:cNvSpPr/>
            <p:nvPr/>
          </p:nvSpPr>
          <p:spPr>
            <a:xfrm>
              <a:off x="2807995" y="3069746"/>
              <a:ext cx="594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sz="1050" dirty="0">
                  <a:solidFill>
                    <a:schemeClr val="bg1"/>
                  </a:solidFill>
                </a:rPr>
                <a:t>2</a:t>
              </a:r>
              <a:endParaRPr lang="zh-CN" altLang="en-US" sz="1050" dirty="0">
                <a:solidFill>
                  <a:schemeClr val="bg1"/>
                </a:solidFill>
              </a:endParaRPr>
            </a:p>
          </p:txBody>
        </p:sp>
        <p:sp>
          <p:nvSpPr>
            <p:cNvPr id="216" name="立方体 215">
              <a:extLst>
                <a:ext uri="{FF2B5EF4-FFF2-40B4-BE49-F238E27FC236}">
                  <a16:creationId xmlns:a16="http://schemas.microsoft.com/office/drawing/2014/main" id="{00488457-8BE0-1EE3-8D90-2BFD55BA9EA9}"/>
                </a:ext>
              </a:extLst>
            </p:cNvPr>
            <p:cNvSpPr/>
            <p:nvPr/>
          </p:nvSpPr>
          <p:spPr>
            <a:xfrm>
              <a:off x="3293995" y="3393746"/>
              <a:ext cx="594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sz="1050" dirty="0">
                  <a:solidFill>
                    <a:schemeClr val="bg1"/>
                  </a:solidFill>
                </a:rPr>
                <a:t>1</a:t>
              </a:r>
              <a:endParaRPr lang="zh-CN" altLang="en-US" sz="1050" dirty="0">
                <a:solidFill>
                  <a:schemeClr val="bg1"/>
                </a:solidFill>
              </a:endParaRPr>
            </a:p>
          </p:txBody>
        </p:sp>
        <p:sp>
          <p:nvSpPr>
            <p:cNvPr id="217" name="立方体 216">
              <a:extLst>
                <a:ext uri="{FF2B5EF4-FFF2-40B4-BE49-F238E27FC236}">
                  <a16:creationId xmlns:a16="http://schemas.microsoft.com/office/drawing/2014/main" id="{D023FCDE-21A0-0FF0-C658-761778413766}"/>
                </a:ext>
              </a:extLst>
            </p:cNvPr>
            <p:cNvSpPr/>
            <p:nvPr/>
          </p:nvSpPr>
          <p:spPr>
            <a:xfrm>
              <a:off x="3293995" y="3069746"/>
              <a:ext cx="594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sz="1050" dirty="0">
                  <a:solidFill>
                    <a:schemeClr val="bg1"/>
                  </a:solidFill>
                </a:rPr>
                <a:t>2</a:t>
              </a:r>
              <a:endParaRPr lang="zh-CN" altLang="en-US" sz="1050" dirty="0">
                <a:solidFill>
                  <a:schemeClr val="bg1"/>
                </a:solidFill>
              </a:endParaRPr>
            </a:p>
          </p:txBody>
        </p:sp>
        <p:sp>
          <p:nvSpPr>
            <p:cNvPr id="218" name="立方体 217">
              <a:extLst>
                <a:ext uri="{FF2B5EF4-FFF2-40B4-BE49-F238E27FC236}">
                  <a16:creationId xmlns:a16="http://schemas.microsoft.com/office/drawing/2014/main" id="{2062CD02-27FE-65F2-3C08-79DB371021E3}"/>
                </a:ext>
              </a:extLst>
            </p:cNvPr>
            <p:cNvSpPr/>
            <p:nvPr/>
          </p:nvSpPr>
          <p:spPr>
            <a:xfrm>
              <a:off x="2807995" y="2745746"/>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pPr algn="ctr"/>
              <a:r>
                <a:rPr lang="en-US" altLang="zh-CN" sz="1050" dirty="0">
                  <a:solidFill>
                    <a:schemeClr val="bg1"/>
                  </a:solidFill>
                </a:rPr>
                <a:t>3</a:t>
              </a:r>
              <a:endParaRPr lang="zh-CN" altLang="en-US" sz="1050" dirty="0">
                <a:solidFill>
                  <a:schemeClr val="bg1"/>
                </a:solidFill>
              </a:endParaRPr>
            </a:p>
          </p:txBody>
        </p:sp>
      </p:grpSp>
      <p:grpSp>
        <p:nvGrpSpPr>
          <p:cNvPr id="130" name="组合 129">
            <a:extLst>
              <a:ext uri="{FF2B5EF4-FFF2-40B4-BE49-F238E27FC236}">
                <a16:creationId xmlns:a16="http://schemas.microsoft.com/office/drawing/2014/main" id="{17D2A08B-0CF2-B219-7E02-35316C78060B}"/>
              </a:ext>
            </a:extLst>
          </p:cNvPr>
          <p:cNvGrpSpPr/>
          <p:nvPr/>
        </p:nvGrpSpPr>
        <p:grpSpPr>
          <a:xfrm>
            <a:off x="7395732" y="1800000"/>
            <a:ext cx="1080000" cy="2088000"/>
            <a:chOff x="701211" y="1800000"/>
            <a:chExt cx="1080000" cy="2088000"/>
          </a:xfrm>
        </p:grpSpPr>
        <p:sp>
          <p:nvSpPr>
            <p:cNvPr id="131" name="立方体 130">
              <a:extLst>
                <a:ext uri="{FF2B5EF4-FFF2-40B4-BE49-F238E27FC236}">
                  <a16:creationId xmlns:a16="http://schemas.microsoft.com/office/drawing/2014/main" id="{CC087A5E-EEA5-DE8C-E9F6-DBD02D795398}"/>
                </a:ext>
              </a:extLst>
            </p:cNvPr>
            <p:cNvSpPr/>
            <p:nvPr/>
          </p:nvSpPr>
          <p:spPr>
            <a:xfrm>
              <a:off x="701211" y="3456000"/>
              <a:ext cx="108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050" dirty="0">
                  <a:solidFill>
                    <a:schemeClr val="bg1"/>
                  </a:solidFill>
                </a:rPr>
                <a:t>1 </a:t>
              </a:r>
              <a:r>
                <a:rPr lang="zh-CN" altLang="en-US" sz="1050" dirty="0">
                  <a:solidFill>
                    <a:schemeClr val="bg1"/>
                  </a:solidFill>
                </a:rPr>
                <a:t>物理层</a:t>
              </a:r>
            </a:p>
          </p:txBody>
        </p:sp>
        <p:sp>
          <p:nvSpPr>
            <p:cNvPr id="132" name="立方体 131">
              <a:extLst>
                <a:ext uri="{FF2B5EF4-FFF2-40B4-BE49-F238E27FC236}">
                  <a16:creationId xmlns:a16="http://schemas.microsoft.com/office/drawing/2014/main" id="{C77F3961-9F9E-EFB7-F8B5-AEC598D079C5}"/>
                </a:ext>
              </a:extLst>
            </p:cNvPr>
            <p:cNvSpPr/>
            <p:nvPr/>
          </p:nvSpPr>
          <p:spPr>
            <a:xfrm>
              <a:off x="701211" y="3132000"/>
              <a:ext cx="108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050" dirty="0">
                  <a:solidFill>
                    <a:schemeClr val="bg1"/>
                  </a:solidFill>
                </a:rPr>
                <a:t>2 </a:t>
              </a:r>
              <a:r>
                <a:rPr lang="zh-CN" altLang="en-US" sz="1050" dirty="0">
                  <a:solidFill>
                    <a:schemeClr val="bg1"/>
                  </a:solidFill>
                </a:rPr>
                <a:t>数据链路层</a:t>
              </a:r>
            </a:p>
          </p:txBody>
        </p:sp>
        <p:sp>
          <p:nvSpPr>
            <p:cNvPr id="133" name="立方体 132">
              <a:extLst>
                <a:ext uri="{FF2B5EF4-FFF2-40B4-BE49-F238E27FC236}">
                  <a16:creationId xmlns:a16="http://schemas.microsoft.com/office/drawing/2014/main" id="{501742B0-A688-AB5E-6CB2-9E19864D2080}"/>
                </a:ext>
              </a:extLst>
            </p:cNvPr>
            <p:cNvSpPr/>
            <p:nvPr/>
          </p:nvSpPr>
          <p:spPr>
            <a:xfrm>
              <a:off x="701211" y="2808000"/>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050" dirty="0">
                  <a:solidFill>
                    <a:schemeClr val="bg1"/>
                  </a:solidFill>
                </a:rPr>
                <a:t>3 </a:t>
              </a:r>
              <a:r>
                <a:rPr lang="zh-CN" altLang="en-US" sz="1050" dirty="0">
                  <a:solidFill>
                    <a:schemeClr val="bg1"/>
                  </a:solidFill>
                </a:rPr>
                <a:t>网络层</a:t>
              </a:r>
            </a:p>
          </p:txBody>
        </p:sp>
        <p:sp>
          <p:nvSpPr>
            <p:cNvPr id="134" name="立方体 133">
              <a:extLst>
                <a:ext uri="{FF2B5EF4-FFF2-40B4-BE49-F238E27FC236}">
                  <a16:creationId xmlns:a16="http://schemas.microsoft.com/office/drawing/2014/main" id="{0A9574D3-F288-C163-E2FE-9F7A4D99B340}"/>
                </a:ext>
              </a:extLst>
            </p:cNvPr>
            <p:cNvSpPr/>
            <p:nvPr/>
          </p:nvSpPr>
          <p:spPr>
            <a:xfrm>
              <a:off x="701211" y="2484000"/>
              <a:ext cx="108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050" dirty="0">
                  <a:solidFill>
                    <a:schemeClr val="bg1"/>
                  </a:solidFill>
                </a:rPr>
                <a:t>4 </a:t>
              </a:r>
              <a:r>
                <a:rPr lang="zh-CN" altLang="en-US" sz="1050" dirty="0">
                  <a:solidFill>
                    <a:schemeClr val="bg1"/>
                  </a:solidFill>
                </a:rPr>
                <a:t>运输层</a:t>
              </a:r>
            </a:p>
          </p:txBody>
        </p:sp>
        <p:sp>
          <p:nvSpPr>
            <p:cNvPr id="135" name="立方体 134">
              <a:extLst>
                <a:ext uri="{FF2B5EF4-FFF2-40B4-BE49-F238E27FC236}">
                  <a16:creationId xmlns:a16="http://schemas.microsoft.com/office/drawing/2014/main" id="{21B146E5-D8EC-6E26-5D00-6C272EF24802}"/>
                </a:ext>
              </a:extLst>
            </p:cNvPr>
            <p:cNvSpPr/>
            <p:nvPr/>
          </p:nvSpPr>
          <p:spPr>
            <a:xfrm>
              <a:off x="701211" y="2160000"/>
              <a:ext cx="108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050" dirty="0">
                  <a:solidFill>
                    <a:schemeClr val="bg1"/>
                  </a:solidFill>
                </a:rPr>
                <a:t>5 </a:t>
              </a:r>
              <a:r>
                <a:rPr lang="zh-CN" altLang="en-US" sz="1050" dirty="0">
                  <a:solidFill>
                    <a:schemeClr val="bg1"/>
                  </a:solidFill>
                </a:rPr>
                <a:t>应用层</a:t>
              </a:r>
            </a:p>
          </p:txBody>
        </p:sp>
        <p:sp>
          <p:nvSpPr>
            <p:cNvPr id="136" name="圆柱体 135">
              <a:extLst>
                <a:ext uri="{FF2B5EF4-FFF2-40B4-BE49-F238E27FC236}">
                  <a16:creationId xmlns:a16="http://schemas.microsoft.com/office/drawing/2014/main" id="{57CFF458-004F-9085-2442-94CFF4816C30}"/>
                </a:ext>
              </a:extLst>
            </p:cNvPr>
            <p:cNvSpPr/>
            <p:nvPr/>
          </p:nvSpPr>
          <p:spPr>
            <a:xfrm>
              <a:off x="953211" y="1800000"/>
              <a:ext cx="576000" cy="360000"/>
            </a:xfrm>
            <a:prstGeom prst="can">
              <a:avLst/>
            </a:prstGeom>
            <a:solidFill>
              <a:srgbClr val="FFFF00"/>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000" dirty="0">
                  <a:solidFill>
                    <a:sysClr val="windowText" lastClr="000000"/>
                  </a:solidFill>
                </a:rPr>
                <a:t>AP1</a:t>
              </a:r>
              <a:endParaRPr lang="zh-CN" altLang="en-US" sz="1000" dirty="0">
                <a:solidFill>
                  <a:sysClr val="windowText" lastClr="000000"/>
                </a:solidFill>
              </a:endParaRPr>
            </a:p>
          </p:txBody>
        </p:sp>
      </p:grpSp>
      <p:grpSp>
        <p:nvGrpSpPr>
          <p:cNvPr id="137" name="组合 136">
            <a:extLst>
              <a:ext uri="{FF2B5EF4-FFF2-40B4-BE49-F238E27FC236}">
                <a16:creationId xmlns:a16="http://schemas.microsoft.com/office/drawing/2014/main" id="{6A68821F-2D96-1F5E-DFDA-ABA8A7DA29D1}"/>
              </a:ext>
            </a:extLst>
          </p:cNvPr>
          <p:cNvGrpSpPr/>
          <p:nvPr/>
        </p:nvGrpSpPr>
        <p:grpSpPr>
          <a:xfrm>
            <a:off x="701211" y="1800000"/>
            <a:ext cx="1080000" cy="2088000"/>
            <a:chOff x="701211" y="1800000"/>
            <a:chExt cx="1080000" cy="2088000"/>
          </a:xfrm>
        </p:grpSpPr>
        <p:sp>
          <p:nvSpPr>
            <p:cNvPr id="138" name="立方体 137">
              <a:extLst>
                <a:ext uri="{FF2B5EF4-FFF2-40B4-BE49-F238E27FC236}">
                  <a16:creationId xmlns:a16="http://schemas.microsoft.com/office/drawing/2014/main" id="{FE6EF13A-0DD9-87AC-3602-D18CE98FF25E}"/>
                </a:ext>
              </a:extLst>
            </p:cNvPr>
            <p:cNvSpPr/>
            <p:nvPr/>
          </p:nvSpPr>
          <p:spPr>
            <a:xfrm>
              <a:off x="701211" y="3456000"/>
              <a:ext cx="108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050" dirty="0">
                  <a:solidFill>
                    <a:schemeClr val="bg1"/>
                  </a:solidFill>
                </a:rPr>
                <a:t>1 </a:t>
              </a:r>
              <a:r>
                <a:rPr lang="zh-CN" altLang="en-US" sz="1050" dirty="0">
                  <a:solidFill>
                    <a:schemeClr val="bg1"/>
                  </a:solidFill>
                </a:rPr>
                <a:t>物理层</a:t>
              </a:r>
            </a:p>
          </p:txBody>
        </p:sp>
        <p:sp>
          <p:nvSpPr>
            <p:cNvPr id="139" name="立方体 138">
              <a:extLst>
                <a:ext uri="{FF2B5EF4-FFF2-40B4-BE49-F238E27FC236}">
                  <a16:creationId xmlns:a16="http://schemas.microsoft.com/office/drawing/2014/main" id="{CFEE4785-DBDD-8CD0-0FF6-86CD76765CE5}"/>
                </a:ext>
              </a:extLst>
            </p:cNvPr>
            <p:cNvSpPr/>
            <p:nvPr/>
          </p:nvSpPr>
          <p:spPr>
            <a:xfrm>
              <a:off x="701211" y="3132000"/>
              <a:ext cx="108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050" dirty="0">
                  <a:solidFill>
                    <a:schemeClr val="bg1"/>
                  </a:solidFill>
                </a:rPr>
                <a:t>2 </a:t>
              </a:r>
              <a:r>
                <a:rPr lang="zh-CN" altLang="en-US" sz="1050" dirty="0">
                  <a:solidFill>
                    <a:schemeClr val="bg1"/>
                  </a:solidFill>
                </a:rPr>
                <a:t>数据链路层</a:t>
              </a:r>
            </a:p>
          </p:txBody>
        </p:sp>
        <p:sp>
          <p:nvSpPr>
            <p:cNvPr id="142" name="立方体 141">
              <a:extLst>
                <a:ext uri="{FF2B5EF4-FFF2-40B4-BE49-F238E27FC236}">
                  <a16:creationId xmlns:a16="http://schemas.microsoft.com/office/drawing/2014/main" id="{3BA6D816-2DCB-BEA9-5C60-FA4FE5C8613A}"/>
                </a:ext>
              </a:extLst>
            </p:cNvPr>
            <p:cNvSpPr/>
            <p:nvPr/>
          </p:nvSpPr>
          <p:spPr>
            <a:xfrm>
              <a:off x="701211" y="2808000"/>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050" dirty="0">
                  <a:solidFill>
                    <a:schemeClr val="bg1"/>
                  </a:solidFill>
                </a:rPr>
                <a:t>3 </a:t>
              </a:r>
              <a:r>
                <a:rPr lang="zh-CN" altLang="en-US" sz="1050" dirty="0">
                  <a:solidFill>
                    <a:schemeClr val="bg1"/>
                  </a:solidFill>
                </a:rPr>
                <a:t>网络层</a:t>
              </a:r>
            </a:p>
          </p:txBody>
        </p:sp>
        <p:sp>
          <p:nvSpPr>
            <p:cNvPr id="143" name="立方体 142">
              <a:extLst>
                <a:ext uri="{FF2B5EF4-FFF2-40B4-BE49-F238E27FC236}">
                  <a16:creationId xmlns:a16="http://schemas.microsoft.com/office/drawing/2014/main" id="{CCEC3B53-6A6D-BAED-D7B3-FFAB7D254435}"/>
                </a:ext>
              </a:extLst>
            </p:cNvPr>
            <p:cNvSpPr/>
            <p:nvPr/>
          </p:nvSpPr>
          <p:spPr>
            <a:xfrm>
              <a:off x="701211" y="2484000"/>
              <a:ext cx="108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050" dirty="0">
                  <a:solidFill>
                    <a:schemeClr val="bg1"/>
                  </a:solidFill>
                </a:rPr>
                <a:t>4 </a:t>
              </a:r>
              <a:r>
                <a:rPr lang="zh-CN" altLang="en-US" sz="1050" dirty="0">
                  <a:solidFill>
                    <a:schemeClr val="bg1"/>
                  </a:solidFill>
                </a:rPr>
                <a:t>运输层</a:t>
              </a:r>
            </a:p>
          </p:txBody>
        </p:sp>
        <p:sp>
          <p:nvSpPr>
            <p:cNvPr id="144" name="立方体 143">
              <a:extLst>
                <a:ext uri="{FF2B5EF4-FFF2-40B4-BE49-F238E27FC236}">
                  <a16:creationId xmlns:a16="http://schemas.microsoft.com/office/drawing/2014/main" id="{9B3ACB2C-1D45-7DC2-BD76-AD57C63E7637}"/>
                </a:ext>
              </a:extLst>
            </p:cNvPr>
            <p:cNvSpPr/>
            <p:nvPr/>
          </p:nvSpPr>
          <p:spPr>
            <a:xfrm>
              <a:off x="701211" y="2160000"/>
              <a:ext cx="108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050" dirty="0">
                  <a:solidFill>
                    <a:schemeClr val="bg1"/>
                  </a:solidFill>
                </a:rPr>
                <a:t>5 </a:t>
              </a:r>
              <a:r>
                <a:rPr lang="zh-CN" altLang="en-US" sz="1050" dirty="0">
                  <a:solidFill>
                    <a:schemeClr val="bg1"/>
                  </a:solidFill>
                </a:rPr>
                <a:t>应用层</a:t>
              </a:r>
            </a:p>
          </p:txBody>
        </p:sp>
        <p:sp>
          <p:nvSpPr>
            <p:cNvPr id="145" name="圆柱体 144">
              <a:extLst>
                <a:ext uri="{FF2B5EF4-FFF2-40B4-BE49-F238E27FC236}">
                  <a16:creationId xmlns:a16="http://schemas.microsoft.com/office/drawing/2014/main" id="{846D4017-19C6-AC5A-3D27-6040A0FBB787}"/>
                </a:ext>
              </a:extLst>
            </p:cNvPr>
            <p:cNvSpPr/>
            <p:nvPr/>
          </p:nvSpPr>
          <p:spPr>
            <a:xfrm>
              <a:off x="953211" y="1800000"/>
              <a:ext cx="576000" cy="360000"/>
            </a:xfrm>
            <a:prstGeom prst="can">
              <a:avLst/>
            </a:prstGeom>
            <a:solidFill>
              <a:srgbClr val="FFFF00"/>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000" dirty="0">
                  <a:solidFill>
                    <a:sysClr val="windowText" lastClr="000000"/>
                  </a:solidFill>
                </a:rPr>
                <a:t>AP1</a:t>
              </a:r>
              <a:endParaRPr lang="zh-CN" altLang="en-US" sz="1000" dirty="0">
                <a:solidFill>
                  <a:sysClr val="windowText" lastClr="000000"/>
                </a:solidFill>
              </a:endParaRPr>
            </a:p>
          </p:txBody>
        </p:sp>
      </p:grpSp>
      <p:sp>
        <p:nvSpPr>
          <p:cNvPr id="25" name="Text Box 29"/>
          <p:cNvSpPr txBox="1">
            <a:spLocks noChangeArrowheads="1"/>
          </p:cNvSpPr>
          <p:nvPr/>
        </p:nvSpPr>
        <p:spPr bwMode="auto">
          <a:xfrm>
            <a:off x="110689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1</a:t>
            </a:r>
          </a:p>
        </p:txBody>
      </p:sp>
      <p:sp>
        <p:nvSpPr>
          <p:cNvPr id="38" name="Text Box 29"/>
          <p:cNvSpPr txBox="1">
            <a:spLocks noChangeArrowheads="1"/>
          </p:cNvSpPr>
          <p:nvPr/>
        </p:nvSpPr>
        <p:spPr bwMode="auto">
          <a:xfrm>
            <a:off x="736975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2</a:t>
            </a:r>
          </a:p>
        </p:txBody>
      </p:sp>
      <p:sp>
        <p:nvSpPr>
          <p:cNvPr id="39" name="Text Box 29"/>
          <p:cNvSpPr txBox="1">
            <a:spLocks noChangeArrowheads="1"/>
          </p:cNvSpPr>
          <p:nvPr/>
        </p:nvSpPr>
        <p:spPr bwMode="auto">
          <a:xfrm>
            <a:off x="4160212" y="107510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路由器</a:t>
            </a:r>
            <a:endParaRPr kumimoji="1" lang="en-US" altLang="zh-CN" sz="1200" b="1" dirty="0">
              <a:solidFill>
                <a:srgbClr val="0000FF"/>
              </a:solidFill>
              <a:latin typeface="微软雅黑" panose="020B0503020204020204" pitchFamily="34" charset="-122"/>
              <a:ea typeface="微软雅黑" panose="020B0503020204020204" pitchFamily="34" charset="-122"/>
            </a:endParaRPr>
          </a:p>
        </p:txBody>
      </p:sp>
      <p:cxnSp>
        <p:nvCxnSpPr>
          <p:cNvPr id="69" name="直接连接符 68"/>
          <p:cNvCxnSpPr/>
          <p:nvPr/>
        </p:nvCxnSpPr>
        <p:spPr>
          <a:xfrm>
            <a:off x="1418143" y="1507958"/>
            <a:ext cx="6306131" cy="0"/>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pic>
        <p:nvPicPr>
          <p:cNvPr id="36"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486661" y="1312469"/>
            <a:ext cx="410222"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7"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202308" y="1312469"/>
            <a:ext cx="410223"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140" name="直接箭头连接符 139"/>
          <p:cNvCxnSpPr/>
          <p:nvPr/>
        </p:nvCxnSpPr>
        <p:spPr>
          <a:xfrm>
            <a:off x="1561619" y="1428166"/>
            <a:ext cx="5941518" cy="0"/>
          </a:xfrm>
          <a:prstGeom prst="straightConnector1">
            <a:avLst/>
          </a:prstGeom>
          <a:ln w="28575">
            <a:solidFill>
              <a:srgbClr val="CC00CC"/>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35"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54124" y="1385466"/>
            <a:ext cx="454438" cy="2643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73" name="AutoShape 51"/>
          <p:cNvSpPr>
            <a:spLocks noChangeArrowheads="1"/>
          </p:cNvSpPr>
          <p:nvPr/>
        </p:nvSpPr>
        <p:spPr bwMode="auto">
          <a:xfrm flipV="1">
            <a:off x="1237476" y="2076244"/>
            <a:ext cx="145966" cy="205414"/>
          </a:xfrm>
          <a:prstGeom prst="upArrow">
            <a:avLst>
              <a:gd name="adj1" fmla="val 50000"/>
              <a:gd name="adj2" fmla="val 45968"/>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88" name="AutoShape 54"/>
          <p:cNvSpPr>
            <a:spLocks noChangeArrowheads="1"/>
          </p:cNvSpPr>
          <p:nvPr/>
        </p:nvSpPr>
        <p:spPr bwMode="auto">
          <a:xfrm rot="10800000">
            <a:off x="1237478" y="2439149"/>
            <a:ext cx="147144" cy="221279"/>
          </a:xfrm>
          <a:prstGeom prst="upArrow">
            <a:avLst>
              <a:gd name="adj1" fmla="val 50000"/>
              <a:gd name="adj2" fmla="val 498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5" name="AutoShape 57"/>
          <p:cNvSpPr>
            <a:spLocks noChangeArrowheads="1"/>
          </p:cNvSpPr>
          <p:nvPr/>
        </p:nvSpPr>
        <p:spPr bwMode="auto">
          <a:xfrm rot="10800000">
            <a:off x="1235122" y="2826328"/>
            <a:ext cx="148321" cy="222762"/>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07" name="AutoShape 57"/>
          <p:cNvSpPr>
            <a:spLocks noChangeArrowheads="1"/>
          </p:cNvSpPr>
          <p:nvPr/>
        </p:nvSpPr>
        <p:spPr bwMode="auto">
          <a:xfrm rot="10800000">
            <a:off x="1226181" y="3198896"/>
            <a:ext cx="156561" cy="213191"/>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19" name="AutoShape 63"/>
          <p:cNvSpPr>
            <a:spLocks noChangeArrowheads="1"/>
          </p:cNvSpPr>
          <p:nvPr/>
        </p:nvSpPr>
        <p:spPr bwMode="auto">
          <a:xfrm rot="10800000">
            <a:off x="1226181" y="3567260"/>
            <a:ext cx="165978" cy="238153"/>
          </a:xfrm>
          <a:prstGeom prst="upArrow">
            <a:avLst>
              <a:gd name="adj1" fmla="val 50000"/>
              <a:gd name="adj2" fmla="val 50403"/>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00" name="AutoShape 25"/>
          <p:cNvSpPr>
            <a:spLocks noChangeArrowheads="1"/>
          </p:cNvSpPr>
          <p:nvPr/>
        </p:nvSpPr>
        <p:spPr bwMode="auto">
          <a:xfrm flipV="1">
            <a:off x="1266066" y="3955320"/>
            <a:ext cx="263283" cy="281183"/>
          </a:xfrm>
          <a:custGeom>
            <a:avLst/>
            <a:gdLst>
              <a:gd name="T0" fmla="*/ 218339 w 21600"/>
              <a:gd name="T1" fmla="*/ 0 h 21600"/>
              <a:gd name="T2" fmla="*/ 218339 w 21600"/>
              <a:gd name="T3" fmla="*/ 171757 h 21600"/>
              <a:gd name="T4" fmla="*/ 46725 w 21600"/>
              <a:gd name="T5" fmla="*/ 305144 h 21600"/>
              <a:gd name="T6" fmla="*/ 311789 w 21600"/>
              <a:gd name="T7" fmla="*/ 85878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11" name="AutoShape 42"/>
          <p:cNvSpPr>
            <a:spLocks noChangeArrowheads="1"/>
          </p:cNvSpPr>
          <p:nvPr/>
        </p:nvSpPr>
        <p:spPr bwMode="auto">
          <a:xfrm rot="5400000" flipH="1">
            <a:off x="3905139" y="3932147"/>
            <a:ext cx="254669" cy="288428"/>
          </a:xfrm>
          <a:custGeom>
            <a:avLst/>
            <a:gdLst>
              <a:gd name="T0" fmla="*/ 220161 w 21600"/>
              <a:gd name="T1" fmla="*/ 0 h 21600"/>
              <a:gd name="T2" fmla="*/ 220161 w 21600"/>
              <a:gd name="T3" fmla="*/ 175497 h 21600"/>
              <a:gd name="T4" fmla="*/ 47115 w 21600"/>
              <a:gd name="T5" fmla="*/ 311790 h 21600"/>
              <a:gd name="T6" fmla="*/ 314391 w 21600"/>
              <a:gd name="T7" fmla="*/ 87749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nvGrpSpPr>
          <p:cNvPr id="125" name="Group 34"/>
          <p:cNvGrpSpPr/>
          <p:nvPr/>
        </p:nvGrpSpPr>
        <p:grpSpPr bwMode="auto">
          <a:xfrm>
            <a:off x="1792727" y="4119885"/>
            <a:ext cx="841456" cy="101715"/>
            <a:chOff x="1344" y="912"/>
            <a:chExt cx="672" cy="96"/>
          </a:xfrm>
          <a:solidFill>
            <a:srgbClr val="FF0000"/>
          </a:solidFill>
        </p:grpSpPr>
        <p:sp>
          <p:nvSpPr>
            <p:cNvPr id="126" name="Line 35"/>
            <p:cNvSpPr>
              <a:spLocks noChangeShapeType="1"/>
            </p:cNvSpPr>
            <p:nvPr/>
          </p:nvSpPr>
          <p:spPr bwMode="auto">
            <a:xfrm>
              <a:off x="1344" y="960"/>
              <a:ext cx="672" cy="0"/>
            </a:xfrm>
            <a:prstGeom prst="line">
              <a:avLst/>
            </a:prstGeom>
            <a:grpFill/>
            <a:ln w="12700">
              <a:no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sp>
          <p:nvSpPr>
            <p:cNvPr id="127" name="Freeform 36"/>
            <p:cNvSpPr/>
            <p:nvPr/>
          </p:nvSpPr>
          <p:spPr bwMode="auto">
            <a:xfrm>
              <a:off x="1392" y="912"/>
              <a:ext cx="576" cy="96"/>
            </a:xfrm>
            <a:custGeom>
              <a:avLst/>
              <a:gdLst>
                <a:gd name="T0" fmla="*/ 0 w 576"/>
                <a:gd name="T1" fmla="*/ 96 h 192"/>
                <a:gd name="T2" fmla="*/ 0 w 576"/>
                <a:gd name="T3" fmla="*/ 0 h 192"/>
                <a:gd name="T4" fmla="*/ 192 w 576"/>
                <a:gd name="T5" fmla="*/ 0 h 192"/>
                <a:gd name="T6" fmla="*/ 192 w 576"/>
                <a:gd name="T7" fmla="*/ 192 h 192"/>
                <a:gd name="T8" fmla="*/ 288 w 576"/>
                <a:gd name="T9" fmla="*/ 192 h 192"/>
                <a:gd name="T10" fmla="*/ 288 w 576"/>
                <a:gd name="T11" fmla="*/ 0 h 192"/>
                <a:gd name="T12" fmla="*/ 336 w 576"/>
                <a:gd name="T13" fmla="*/ 0 h 192"/>
                <a:gd name="T14" fmla="*/ 336 w 576"/>
                <a:gd name="T15" fmla="*/ 192 h 192"/>
                <a:gd name="T16" fmla="*/ 480 w 576"/>
                <a:gd name="T17" fmla="*/ 192 h 192"/>
                <a:gd name="T18" fmla="*/ 480 w 576"/>
                <a:gd name="T19" fmla="*/ 0 h 192"/>
                <a:gd name="T20" fmla="*/ 576 w 576"/>
                <a:gd name="T21" fmla="*/ 0 h 192"/>
                <a:gd name="T22" fmla="*/ 576 w 576"/>
                <a:gd name="T23" fmla="*/ 96 h 192"/>
                <a:gd name="T24" fmla="*/ 0 w 576"/>
                <a:gd name="T25" fmla="*/ 96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6" h="192">
                  <a:moveTo>
                    <a:pt x="0" y="96"/>
                  </a:moveTo>
                  <a:lnTo>
                    <a:pt x="0" y="0"/>
                  </a:lnTo>
                  <a:lnTo>
                    <a:pt x="192" y="0"/>
                  </a:lnTo>
                  <a:lnTo>
                    <a:pt x="192" y="192"/>
                  </a:lnTo>
                  <a:lnTo>
                    <a:pt x="288" y="192"/>
                  </a:lnTo>
                  <a:lnTo>
                    <a:pt x="288" y="0"/>
                  </a:lnTo>
                  <a:lnTo>
                    <a:pt x="336" y="0"/>
                  </a:lnTo>
                  <a:lnTo>
                    <a:pt x="336" y="192"/>
                  </a:lnTo>
                  <a:lnTo>
                    <a:pt x="480" y="192"/>
                  </a:lnTo>
                  <a:lnTo>
                    <a:pt x="480" y="0"/>
                  </a:lnTo>
                  <a:lnTo>
                    <a:pt x="576" y="0"/>
                  </a:lnTo>
                  <a:lnTo>
                    <a:pt x="576" y="96"/>
                  </a:lnTo>
                  <a:lnTo>
                    <a:pt x="0" y="96"/>
                  </a:lnTo>
                  <a:close/>
                </a:path>
              </a:pathLst>
            </a:custGeom>
            <a:grpFill/>
            <a:ln w="12700" cap="flat" cmpd="sng">
              <a:noFill/>
              <a:prstDash val="solid"/>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grpSp>
      <p:sp>
        <p:nvSpPr>
          <p:cNvPr id="87" name="上箭头 86"/>
          <p:cNvSpPr/>
          <p:nvPr/>
        </p:nvSpPr>
        <p:spPr>
          <a:xfrm>
            <a:off x="4028301" y="3527399"/>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2" name="上箭头 81"/>
          <p:cNvSpPr/>
          <p:nvPr/>
        </p:nvSpPr>
        <p:spPr>
          <a:xfrm>
            <a:off x="4028301" y="3154024"/>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2" name="下箭头 91"/>
          <p:cNvSpPr/>
          <p:nvPr/>
        </p:nvSpPr>
        <p:spPr>
          <a:xfrm>
            <a:off x="4682483" y="3179766"/>
            <a:ext cx="180462" cy="249234"/>
          </a:xfrm>
          <a:prstGeom prst="down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标题 1">
            <a:extLst>
              <a:ext uri="{FF2B5EF4-FFF2-40B4-BE49-F238E27FC236}">
                <a16:creationId xmlns:a16="http://schemas.microsoft.com/office/drawing/2014/main" id="{AE93948A-C01E-4262-66CC-783C412752A9}"/>
              </a:ext>
            </a:extLst>
          </p:cNvPr>
          <p:cNvSpPr>
            <a:spLocks noGrp="1"/>
          </p:cNvSpPr>
          <p:nvPr>
            <p:ph type="title"/>
          </p:nvPr>
        </p:nvSpPr>
        <p:spPr>
          <a:xfrm>
            <a:off x="612000" y="144000"/>
            <a:ext cx="7920000" cy="341632"/>
          </a:xfrm>
        </p:spPr>
        <p:txBody>
          <a:bodyPr/>
          <a:lstStyle/>
          <a:p>
            <a:r>
              <a:rPr lang="zh-CN" altLang="en-US" dirty="0"/>
              <a:t>数据在各层之间的传递过程</a:t>
            </a:r>
          </a:p>
        </p:txBody>
      </p:sp>
      <p:sp>
        <p:nvSpPr>
          <p:cNvPr id="147" name="Text Box 75">
            <a:extLst>
              <a:ext uri="{FF2B5EF4-FFF2-40B4-BE49-F238E27FC236}">
                <a16:creationId xmlns:a16="http://schemas.microsoft.com/office/drawing/2014/main" id="{7DCDE634-96B7-A360-6D97-CFF64D7598BD}"/>
              </a:ext>
            </a:extLst>
          </p:cNvPr>
          <p:cNvSpPr txBox="1">
            <a:spLocks noChangeArrowheads="1"/>
          </p:cNvSpPr>
          <p:nvPr/>
        </p:nvSpPr>
        <p:spPr bwMode="auto">
          <a:xfrm>
            <a:off x="5117297" y="2845005"/>
            <a:ext cx="621626" cy="24467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lnSpc>
                <a:spcPct val="90000"/>
              </a:lnSpc>
            </a:pPr>
            <a:r>
              <a:rPr kumimoji="1" lang="zh-CN" altLang="en-US" sz="1100" b="1" dirty="0">
                <a:solidFill>
                  <a:srgbClr val="CC00CC"/>
                </a:solidFill>
                <a:latin typeface="微软雅黑" panose="020B0503020204020204" pitchFamily="34" charset="-122"/>
                <a:ea typeface="微软雅黑" panose="020B0503020204020204" pitchFamily="34" charset="-122"/>
              </a:rPr>
              <a:t>新首部</a:t>
            </a:r>
          </a:p>
        </p:txBody>
      </p:sp>
      <p:sp>
        <p:nvSpPr>
          <p:cNvPr id="149" name="Line 76">
            <a:extLst>
              <a:ext uri="{FF2B5EF4-FFF2-40B4-BE49-F238E27FC236}">
                <a16:creationId xmlns:a16="http://schemas.microsoft.com/office/drawing/2014/main" id="{3607CC1C-EE64-0125-0023-0A08CB50EAEA}"/>
              </a:ext>
            </a:extLst>
          </p:cNvPr>
          <p:cNvSpPr>
            <a:spLocks noChangeShapeType="1"/>
          </p:cNvSpPr>
          <p:nvPr/>
        </p:nvSpPr>
        <p:spPr bwMode="auto">
          <a:xfrm>
            <a:off x="5477558" y="3059230"/>
            <a:ext cx="107136" cy="212050"/>
          </a:xfrm>
          <a:prstGeom prst="line">
            <a:avLst/>
          </a:prstGeom>
          <a:noFill/>
          <a:ln w="12700">
            <a:solidFill>
              <a:srgbClr val="333399"/>
            </a:solidFill>
            <a:round/>
            <a:headEnd type="none" w="sm"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51" name="Line 79">
            <a:extLst>
              <a:ext uri="{FF2B5EF4-FFF2-40B4-BE49-F238E27FC236}">
                <a16:creationId xmlns:a16="http://schemas.microsoft.com/office/drawing/2014/main" id="{38D155C1-E933-53B2-B746-4B4607EDEFB4}"/>
              </a:ext>
            </a:extLst>
          </p:cNvPr>
          <p:cNvSpPr>
            <a:spLocks noChangeShapeType="1"/>
          </p:cNvSpPr>
          <p:nvPr/>
        </p:nvSpPr>
        <p:spPr bwMode="auto">
          <a:xfrm flipH="1">
            <a:off x="6960545" y="3050282"/>
            <a:ext cx="109361" cy="204062"/>
          </a:xfrm>
          <a:prstGeom prst="line">
            <a:avLst/>
          </a:prstGeom>
          <a:noFill/>
          <a:ln w="12700">
            <a:solidFill>
              <a:srgbClr val="333399"/>
            </a:solidFill>
            <a:round/>
            <a:headEnd type="none" w="sm"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53" name="Text Box 80">
            <a:extLst>
              <a:ext uri="{FF2B5EF4-FFF2-40B4-BE49-F238E27FC236}">
                <a16:creationId xmlns:a16="http://schemas.microsoft.com/office/drawing/2014/main" id="{8BE34742-6D99-39ED-3AE3-CB89A9D73E15}"/>
              </a:ext>
            </a:extLst>
          </p:cNvPr>
          <p:cNvSpPr txBox="1">
            <a:spLocks noChangeArrowheads="1"/>
          </p:cNvSpPr>
          <p:nvPr/>
        </p:nvSpPr>
        <p:spPr bwMode="auto">
          <a:xfrm>
            <a:off x="6824138" y="2842964"/>
            <a:ext cx="607954" cy="24422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lnSpc>
                <a:spcPct val="90000"/>
              </a:lnSpc>
            </a:pPr>
            <a:r>
              <a:rPr kumimoji="1" lang="zh-CN" altLang="en-US" sz="1100" b="1" dirty="0">
                <a:solidFill>
                  <a:srgbClr val="CC00CC"/>
                </a:solidFill>
                <a:latin typeface="微软雅黑" panose="020B0503020204020204" pitchFamily="34" charset="-122"/>
                <a:ea typeface="微软雅黑" panose="020B0503020204020204" pitchFamily="34" charset="-122"/>
              </a:rPr>
              <a:t>新尾部</a:t>
            </a:r>
          </a:p>
        </p:txBody>
      </p:sp>
      <p:sp>
        <p:nvSpPr>
          <p:cNvPr id="155" name="Rectangle 74">
            <a:extLst>
              <a:ext uri="{FF2B5EF4-FFF2-40B4-BE49-F238E27FC236}">
                <a16:creationId xmlns:a16="http://schemas.microsoft.com/office/drawing/2014/main" id="{CB2651F5-6AD5-D16F-806A-A4B30E6ABC30}"/>
              </a:ext>
            </a:extLst>
          </p:cNvPr>
          <p:cNvSpPr>
            <a:spLocks noChangeArrowheads="1"/>
          </p:cNvSpPr>
          <p:nvPr/>
        </p:nvSpPr>
        <p:spPr bwMode="auto">
          <a:xfrm>
            <a:off x="5499744" y="3302812"/>
            <a:ext cx="223200" cy="244800"/>
          </a:xfrm>
          <a:prstGeom prst="rect">
            <a:avLst/>
          </a:prstGeom>
          <a:solidFill>
            <a:srgbClr val="000066"/>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000" dirty="0">
                <a:solidFill>
                  <a:schemeClr val="bg1"/>
                </a:solidFill>
              </a:rPr>
              <a:t>H</a:t>
            </a:r>
            <a:r>
              <a:rPr lang="en-US" altLang="zh-CN" sz="1000" baseline="-25000" dirty="0">
                <a:solidFill>
                  <a:schemeClr val="bg1"/>
                </a:solidFill>
              </a:rPr>
              <a:t>2</a:t>
            </a:r>
          </a:p>
        </p:txBody>
      </p:sp>
      <p:sp>
        <p:nvSpPr>
          <p:cNvPr id="157" name="Rectangle 78">
            <a:extLst>
              <a:ext uri="{FF2B5EF4-FFF2-40B4-BE49-F238E27FC236}">
                <a16:creationId xmlns:a16="http://schemas.microsoft.com/office/drawing/2014/main" id="{31DFF878-9873-F1E8-D9DB-9412EAE03B7A}"/>
              </a:ext>
            </a:extLst>
          </p:cNvPr>
          <p:cNvSpPr>
            <a:spLocks noChangeArrowheads="1"/>
          </p:cNvSpPr>
          <p:nvPr/>
        </p:nvSpPr>
        <p:spPr bwMode="auto">
          <a:xfrm>
            <a:off x="6838944" y="3303284"/>
            <a:ext cx="223200" cy="245309"/>
          </a:xfrm>
          <a:prstGeom prst="rect">
            <a:avLst/>
          </a:prstGeom>
          <a:solidFill>
            <a:schemeClr val="accent6">
              <a:lumMod val="75000"/>
            </a:schemeClr>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000" dirty="0"/>
              <a:t>T</a:t>
            </a:r>
            <a:r>
              <a:rPr lang="en-US" altLang="zh-CN" sz="1000" baseline="-25000" dirty="0"/>
              <a:t>2</a:t>
            </a:r>
          </a:p>
        </p:txBody>
      </p:sp>
      <p:sp>
        <p:nvSpPr>
          <p:cNvPr id="159" name="Rectangle 46">
            <a:extLst>
              <a:ext uri="{FF2B5EF4-FFF2-40B4-BE49-F238E27FC236}">
                <a16:creationId xmlns:a16="http://schemas.microsoft.com/office/drawing/2014/main" id="{061B640C-4A0D-BC07-CF4C-B27C97AC2732}"/>
              </a:ext>
            </a:extLst>
          </p:cNvPr>
          <p:cNvSpPr>
            <a:spLocks noChangeArrowheads="1"/>
          </p:cNvSpPr>
          <p:nvPr/>
        </p:nvSpPr>
        <p:spPr bwMode="auto">
          <a:xfrm>
            <a:off x="5722944" y="3304108"/>
            <a:ext cx="223200" cy="244800"/>
          </a:xfrm>
          <a:prstGeom prst="rect">
            <a:avLst/>
          </a:prstGeom>
          <a:solidFill>
            <a:srgbClr val="00B0F0"/>
          </a:solidFill>
          <a:ln w="9525">
            <a:solidFill>
              <a:schemeClr val="tx1"/>
            </a:solidFill>
            <a:miter lim="800000"/>
          </a:ln>
          <a:effectLst/>
        </p:spPr>
        <p:txBody>
          <a:bodyPr wrap="none" anchor="ctr"/>
          <a:lstStyle/>
          <a:p>
            <a:pPr algn="ctr"/>
            <a:r>
              <a:rPr lang="en-US" altLang="zh-CN" sz="1000" dirty="0"/>
              <a:t>H</a:t>
            </a:r>
            <a:r>
              <a:rPr lang="en-US" altLang="zh-CN" sz="1000" baseline="-25000" dirty="0"/>
              <a:t>3</a:t>
            </a:r>
          </a:p>
        </p:txBody>
      </p:sp>
      <p:sp>
        <p:nvSpPr>
          <p:cNvPr id="161" name="Rectangle 47">
            <a:extLst>
              <a:ext uri="{FF2B5EF4-FFF2-40B4-BE49-F238E27FC236}">
                <a16:creationId xmlns:a16="http://schemas.microsoft.com/office/drawing/2014/main" id="{3088F486-BA25-3630-944F-B1CA6A1C31FA}"/>
              </a:ext>
            </a:extLst>
          </p:cNvPr>
          <p:cNvSpPr>
            <a:spLocks noChangeArrowheads="1"/>
          </p:cNvSpPr>
          <p:nvPr/>
        </p:nvSpPr>
        <p:spPr bwMode="auto">
          <a:xfrm>
            <a:off x="5946144" y="3304108"/>
            <a:ext cx="223200" cy="244800"/>
          </a:xfrm>
          <a:prstGeom prst="rect">
            <a:avLst/>
          </a:prstGeom>
          <a:solidFill>
            <a:srgbClr val="FFC000"/>
          </a:solidFill>
          <a:ln w="9525">
            <a:solidFill>
              <a:schemeClr val="tx1"/>
            </a:solidFill>
            <a:miter lim="800000"/>
          </a:ln>
          <a:effectLst/>
        </p:spPr>
        <p:txBody>
          <a:bodyPr wrap="none" anchor="ctr"/>
          <a:lstStyle/>
          <a:p>
            <a:pPr algn="ctr"/>
            <a:r>
              <a:rPr lang="en-US" altLang="zh-CN" sz="1000"/>
              <a:t>H</a:t>
            </a:r>
            <a:r>
              <a:rPr lang="en-US" altLang="zh-CN" sz="1000" baseline="-25000"/>
              <a:t>4</a:t>
            </a:r>
          </a:p>
        </p:txBody>
      </p:sp>
      <p:sp>
        <p:nvSpPr>
          <p:cNvPr id="163" name="Rectangle 48">
            <a:extLst>
              <a:ext uri="{FF2B5EF4-FFF2-40B4-BE49-F238E27FC236}">
                <a16:creationId xmlns:a16="http://schemas.microsoft.com/office/drawing/2014/main" id="{21343C7E-CE09-654A-11C0-AA30B5832F74}"/>
              </a:ext>
            </a:extLst>
          </p:cNvPr>
          <p:cNvSpPr>
            <a:spLocks noChangeArrowheads="1"/>
          </p:cNvSpPr>
          <p:nvPr/>
        </p:nvSpPr>
        <p:spPr bwMode="auto">
          <a:xfrm>
            <a:off x="6169344" y="3304108"/>
            <a:ext cx="223200" cy="244800"/>
          </a:xfrm>
          <a:prstGeom prst="rect">
            <a:avLst/>
          </a:prstGeom>
          <a:solidFill>
            <a:schemeClr val="accent2"/>
          </a:solidFill>
          <a:ln w="9525">
            <a:solidFill>
              <a:schemeClr val="tx1"/>
            </a:solidFill>
            <a:miter lim="800000"/>
          </a:ln>
          <a:effectLst/>
        </p:spPr>
        <p:txBody>
          <a:bodyPr wrap="none" anchor="ctr"/>
          <a:lstStyle/>
          <a:p>
            <a:pPr algn="ctr"/>
            <a:r>
              <a:rPr lang="en-US" altLang="zh-CN" sz="1000" dirty="0"/>
              <a:t>H</a:t>
            </a:r>
            <a:r>
              <a:rPr lang="en-US" altLang="zh-CN" sz="1000" baseline="-25000" dirty="0"/>
              <a:t>5</a:t>
            </a:r>
          </a:p>
        </p:txBody>
      </p:sp>
      <p:sp>
        <p:nvSpPr>
          <p:cNvPr id="165" name="Rectangle 49">
            <a:extLst>
              <a:ext uri="{FF2B5EF4-FFF2-40B4-BE49-F238E27FC236}">
                <a16:creationId xmlns:a16="http://schemas.microsoft.com/office/drawing/2014/main" id="{C5EC0F22-94C4-8099-9153-3EB9CD9ACA0B}"/>
              </a:ext>
            </a:extLst>
          </p:cNvPr>
          <p:cNvSpPr>
            <a:spLocks noChangeArrowheads="1"/>
          </p:cNvSpPr>
          <p:nvPr/>
        </p:nvSpPr>
        <p:spPr bwMode="auto">
          <a:xfrm>
            <a:off x="6392544" y="3304109"/>
            <a:ext cx="446400" cy="244800"/>
          </a:xfrm>
          <a:prstGeom prst="rect">
            <a:avLst/>
          </a:prstGeom>
          <a:solidFill>
            <a:schemeClr val="bg1"/>
          </a:solidFill>
          <a:ln w="9525">
            <a:solidFill>
              <a:schemeClr val="tx1"/>
            </a:solidFill>
            <a:miter lim="800000"/>
          </a:ln>
        </p:spPr>
        <p:txBody>
          <a:bodyPr wrap="none" anchor="ctr"/>
          <a:lstStyle/>
          <a:p>
            <a:pPr algn="ctr"/>
            <a:r>
              <a:rPr lang="zh-CN" altLang="en-US" sz="1000" dirty="0"/>
              <a:t>数 据</a:t>
            </a:r>
          </a:p>
        </p:txBody>
      </p:sp>
      <p:sp>
        <p:nvSpPr>
          <p:cNvPr id="169" name="Rectangle 42">
            <a:extLst>
              <a:ext uri="{FF2B5EF4-FFF2-40B4-BE49-F238E27FC236}">
                <a16:creationId xmlns:a16="http://schemas.microsoft.com/office/drawing/2014/main" id="{02C75F4B-6A33-FA8E-277E-9C31A8C04B77}"/>
              </a:ext>
            </a:extLst>
          </p:cNvPr>
          <p:cNvSpPr>
            <a:spLocks noChangeArrowheads="1"/>
          </p:cNvSpPr>
          <p:nvPr/>
        </p:nvSpPr>
        <p:spPr bwMode="auto">
          <a:xfrm>
            <a:off x="5946144" y="2932543"/>
            <a:ext cx="223200" cy="244800"/>
          </a:xfrm>
          <a:prstGeom prst="rect">
            <a:avLst/>
          </a:prstGeom>
          <a:solidFill>
            <a:srgbClr val="FFC000"/>
          </a:solidFill>
          <a:ln w="9525">
            <a:solidFill>
              <a:schemeClr val="tx1"/>
            </a:solidFill>
            <a:miter lim="800000"/>
          </a:ln>
          <a:effectLst/>
        </p:spPr>
        <p:txBody>
          <a:bodyPr wrap="none" anchor="ctr"/>
          <a:lstStyle/>
          <a:p>
            <a:pPr algn="ctr"/>
            <a:r>
              <a:rPr lang="en-US" altLang="zh-CN" sz="1000" dirty="0"/>
              <a:t>H</a:t>
            </a:r>
            <a:r>
              <a:rPr lang="en-US" altLang="zh-CN" sz="1000" baseline="-25000" dirty="0"/>
              <a:t>4</a:t>
            </a:r>
          </a:p>
        </p:txBody>
      </p:sp>
      <p:sp>
        <p:nvSpPr>
          <p:cNvPr id="171" name="Rectangle 43">
            <a:extLst>
              <a:ext uri="{FF2B5EF4-FFF2-40B4-BE49-F238E27FC236}">
                <a16:creationId xmlns:a16="http://schemas.microsoft.com/office/drawing/2014/main" id="{B28DFE2C-2562-9490-7028-0BD40F40DB4C}"/>
              </a:ext>
            </a:extLst>
          </p:cNvPr>
          <p:cNvSpPr>
            <a:spLocks noChangeArrowheads="1"/>
          </p:cNvSpPr>
          <p:nvPr/>
        </p:nvSpPr>
        <p:spPr bwMode="auto">
          <a:xfrm>
            <a:off x="6169344" y="2932543"/>
            <a:ext cx="223200" cy="244800"/>
          </a:xfrm>
          <a:prstGeom prst="rect">
            <a:avLst/>
          </a:prstGeom>
          <a:solidFill>
            <a:schemeClr val="accent2"/>
          </a:solidFill>
          <a:ln w="9525">
            <a:solidFill>
              <a:schemeClr val="tx1"/>
            </a:solidFill>
            <a:miter lim="800000"/>
          </a:ln>
          <a:effectLst/>
        </p:spPr>
        <p:txBody>
          <a:bodyPr wrap="none" anchor="ctr"/>
          <a:lstStyle/>
          <a:p>
            <a:pPr algn="ctr"/>
            <a:r>
              <a:rPr lang="en-US" altLang="zh-CN" sz="1000" dirty="0"/>
              <a:t>H</a:t>
            </a:r>
            <a:r>
              <a:rPr lang="en-US" altLang="zh-CN" sz="1000" baseline="-25000" dirty="0"/>
              <a:t>5</a:t>
            </a:r>
          </a:p>
        </p:txBody>
      </p:sp>
      <p:sp>
        <p:nvSpPr>
          <p:cNvPr id="173" name="Rectangle 44">
            <a:extLst>
              <a:ext uri="{FF2B5EF4-FFF2-40B4-BE49-F238E27FC236}">
                <a16:creationId xmlns:a16="http://schemas.microsoft.com/office/drawing/2014/main" id="{CDE8D043-793D-754C-8BEF-0FE0A39401ED}"/>
              </a:ext>
            </a:extLst>
          </p:cNvPr>
          <p:cNvSpPr>
            <a:spLocks noChangeArrowheads="1"/>
          </p:cNvSpPr>
          <p:nvPr/>
        </p:nvSpPr>
        <p:spPr bwMode="auto">
          <a:xfrm>
            <a:off x="6392544" y="2932543"/>
            <a:ext cx="446400" cy="244800"/>
          </a:xfrm>
          <a:prstGeom prst="rect">
            <a:avLst/>
          </a:prstGeom>
          <a:solidFill>
            <a:schemeClr val="bg1"/>
          </a:solidFill>
          <a:ln w="9525">
            <a:solidFill>
              <a:schemeClr val="tx1"/>
            </a:solidFill>
            <a:miter lim="800000"/>
          </a:ln>
        </p:spPr>
        <p:txBody>
          <a:bodyPr wrap="none" anchor="ctr"/>
          <a:lstStyle/>
          <a:p>
            <a:pPr algn="ctr"/>
            <a:r>
              <a:rPr lang="zh-CN" altLang="en-US" sz="1000" dirty="0"/>
              <a:t>数 据</a:t>
            </a:r>
          </a:p>
        </p:txBody>
      </p:sp>
      <p:sp>
        <p:nvSpPr>
          <p:cNvPr id="175" name="Rectangle 70">
            <a:extLst>
              <a:ext uri="{FF2B5EF4-FFF2-40B4-BE49-F238E27FC236}">
                <a16:creationId xmlns:a16="http://schemas.microsoft.com/office/drawing/2014/main" id="{A6AAF2D8-132F-2D5F-C83D-9A67E349F829}"/>
              </a:ext>
            </a:extLst>
          </p:cNvPr>
          <p:cNvSpPr>
            <a:spLocks noChangeArrowheads="1"/>
          </p:cNvSpPr>
          <p:nvPr/>
        </p:nvSpPr>
        <p:spPr bwMode="auto">
          <a:xfrm>
            <a:off x="5722944" y="2932543"/>
            <a:ext cx="223200" cy="244800"/>
          </a:xfrm>
          <a:prstGeom prst="rect">
            <a:avLst/>
          </a:prstGeom>
          <a:solidFill>
            <a:srgbClr val="00B0F0"/>
          </a:solidFill>
          <a:ln w="9525">
            <a:solidFill>
              <a:schemeClr val="tx1"/>
            </a:solidFill>
            <a:miter lim="800000"/>
          </a:ln>
          <a:effectLst/>
        </p:spPr>
        <p:txBody>
          <a:bodyPr wrap="none" anchor="ctr"/>
          <a:lstStyle/>
          <a:p>
            <a:pPr algn="ctr"/>
            <a:r>
              <a:rPr lang="en-US" altLang="zh-CN" sz="1000" dirty="0"/>
              <a:t>H</a:t>
            </a:r>
            <a:r>
              <a:rPr lang="en-US" altLang="zh-CN" sz="1000" baseline="-25000" dirty="0"/>
              <a:t>3</a:t>
            </a:r>
          </a:p>
        </p:txBody>
      </p:sp>
      <p:sp>
        <p:nvSpPr>
          <p:cNvPr id="190" name="Rectangle 42">
            <a:extLst>
              <a:ext uri="{FF2B5EF4-FFF2-40B4-BE49-F238E27FC236}">
                <a16:creationId xmlns:a16="http://schemas.microsoft.com/office/drawing/2014/main" id="{584A99CF-1B4A-E793-C251-AD9020EF06CD}"/>
              </a:ext>
            </a:extLst>
          </p:cNvPr>
          <p:cNvSpPr>
            <a:spLocks noChangeArrowheads="1"/>
          </p:cNvSpPr>
          <p:nvPr/>
        </p:nvSpPr>
        <p:spPr bwMode="auto">
          <a:xfrm>
            <a:off x="2515214" y="2932543"/>
            <a:ext cx="223200" cy="244800"/>
          </a:xfrm>
          <a:prstGeom prst="rect">
            <a:avLst/>
          </a:prstGeom>
          <a:solidFill>
            <a:srgbClr val="FFC000"/>
          </a:solidFill>
          <a:ln w="9525">
            <a:solidFill>
              <a:schemeClr val="tx1"/>
            </a:solidFill>
            <a:miter lim="800000"/>
          </a:ln>
          <a:effectLst/>
        </p:spPr>
        <p:txBody>
          <a:bodyPr wrap="none" anchor="ctr"/>
          <a:lstStyle/>
          <a:p>
            <a:pPr algn="ctr"/>
            <a:r>
              <a:rPr lang="en-US" altLang="zh-CN" sz="1000" dirty="0"/>
              <a:t>H</a:t>
            </a:r>
            <a:r>
              <a:rPr lang="en-US" altLang="zh-CN" sz="1000" baseline="-25000" dirty="0"/>
              <a:t>4</a:t>
            </a:r>
          </a:p>
        </p:txBody>
      </p:sp>
      <p:sp>
        <p:nvSpPr>
          <p:cNvPr id="192" name="Rectangle 43">
            <a:extLst>
              <a:ext uri="{FF2B5EF4-FFF2-40B4-BE49-F238E27FC236}">
                <a16:creationId xmlns:a16="http://schemas.microsoft.com/office/drawing/2014/main" id="{D169C026-2035-33C8-6010-BD14DE8870C5}"/>
              </a:ext>
            </a:extLst>
          </p:cNvPr>
          <p:cNvSpPr>
            <a:spLocks noChangeArrowheads="1"/>
          </p:cNvSpPr>
          <p:nvPr/>
        </p:nvSpPr>
        <p:spPr bwMode="auto">
          <a:xfrm>
            <a:off x="2738414" y="2932543"/>
            <a:ext cx="223200" cy="244800"/>
          </a:xfrm>
          <a:prstGeom prst="rect">
            <a:avLst/>
          </a:prstGeom>
          <a:solidFill>
            <a:schemeClr val="accent2"/>
          </a:solidFill>
          <a:ln w="9525">
            <a:solidFill>
              <a:schemeClr val="tx1"/>
            </a:solidFill>
            <a:miter lim="800000"/>
          </a:ln>
          <a:effectLst/>
        </p:spPr>
        <p:txBody>
          <a:bodyPr wrap="none" anchor="ctr"/>
          <a:lstStyle/>
          <a:p>
            <a:pPr algn="ctr"/>
            <a:r>
              <a:rPr lang="en-US" altLang="zh-CN" sz="1000" dirty="0"/>
              <a:t>H</a:t>
            </a:r>
            <a:r>
              <a:rPr lang="en-US" altLang="zh-CN" sz="1000" baseline="-25000" dirty="0"/>
              <a:t>5</a:t>
            </a:r>
          </a:p>
        </p:txBody>
      </p:sp>
      <p:sp>
        <p:nvSpPr>
          <p:cNvPr id="194" name="Rectangle 44">
            <a:extLst>
              <a:ext uri="{FF2B5EF4-FFF2-40B4-BE49-F238E27FC236}">
                <a16:creationId xmlns:a16="http://schemas.microsoft.com/office/drawing/2014/main" id="{3AA3A8B4-A3DF-D409-A693-B6EC4F45ACC5}"/>
              </a:ext>
            </a:extLst>
          </p:cNvPr>
          <p:cNvSpPr>
            <a:spLocks noChangeArrowheads="1"/>
          </p:cNvSpPr>
          <p:nvPr/>
        </p:nvSpPr>
        <p:spPr bwMode="auto">
          <a:xfrm>
            <a:off x="2961614" y="2932543"/>
            <a:ext cx="482400" cy="244800"/>
          </a:xfrm>
          <a:prstGeom prst="rect">
            <a:avLst/>
          </a:prstGeom>
          <a:solidFill>
            <a:schemeClr val="bg1"/>
          </a:solidFill>
          <a:ln w="9525">
            <a:solidFill>
              <a:schemeClr val="tx1"/>
            </a:solidFill>
            <a:miter lim="800000"/>
          </a:ln>
        </p:spPr>
        <p:txBody>
          <a:bodyPr wrap="none" anchor="ctr"/>
          <a:lstStyle/>
          <a:p>
            <a:pPr algn="ctr"/>
            <a:r>
              <a:rPr lang="zh-CN" altLang="en-US" sz="1000" dirty="0"/>
              <a:t>数 据</a:t>
            </a:r>
          </a:p>
        </p:txBody>
      </p:sp>
      <p:sp>
        <p:nvSpPr>
          <p:cNvPr id="196" name="Rectangle 70">
            <a:extLst>
              <a:ext uri="{FF2B5EF4-FFF2-40B4-BE49-F238E27FC236}">
                <a16:creationId xmlns:a16="http://schemas.microsoft.com/office/drawing/2014/main" id="{0EC9D47E-2DD8-B08F-BAC6-B6AE71755446}"/>
              </a:ext>
            </a:extLst>
          </p:cNvPr>
          <p:cNvSpPr>
            <a:spLocks noChangeArrowheads="1"/>
          </p:cNvSpPr>
          <p:nvPr/>
        </p:nvSpPr>
        <p:spPr bwMode="auto">
          <a:xfrm>
            <a:off x="2292014" y="2932543"/>
            <a:ext cx="223200" cy="244800"/>
          </a:xfrm>
          <a:prstGeom prst="rect">
            <a:avLst/>
          </a:prstGeom>
          <a:solidFill>
            <a:srgbClr val="00B0F0"/>
          </a:solidFill>
          <a:ln w="9525">
            <a:solidFill>
              <a:schemeClr val="tx1"/>
            </a:solidFill>
            <a:miter lim="800000"/>
          </a:ln>
          <a:effectLst/>
        </p:spPr>
        <p:txBody>
          <a:bodyPr wrap="none" anchor="ctr"/>
          <a:lstStyle/>
          <a:p>
            <a:pPr algn="ctr"/>
            <a:r>
              <a:rPr lang="en-US" altLang="zh-CN" sz="1000" dirty="0"/>
              <a:t>H</a:t>
            </a:r>
            <a:r>
              <a:rPr lang="en-US" altLang="zh-CN" sz="1000" baseline="-25000" dirty="0"/>
              <a:t>3</a:t>
            </a:r>
          </a:p>
        </p:txBody>
      </p:sp>
      <p:sp>
        <p:nvSpPr>
          <p:cNvPr id="198" name="Rectangle 46">
            <a:extLst>
              <a:ext uri="{FF2B5EF4-FFF2-40B4-BE49-F238E27FC236}">
                <a16:creationId xmlns:a16="http://schemas.microsoft.com/office/drawing/2014/main" id="{BB11A2A9-FCDB-F960-1517-4E48C748D080}"/>
              </a:ext>
            </a:extLst>
          </p:cNvPr>
          <p:cNvSpPr>
            <a:spLocks noChangeArrowheads="1"/>
          </p:cNvSpPr>
          <p:nvPr/>
        </p:nvSpPr>
        <p:spPr bwMode="auto">
          <a:xfrm>
            <a:off x="2292014" y="3303460"/>
            <a:ext cx="223200" cy="244800"/>
          </a:xfrm>
          <a:prstGeom prst="rect">
            <a:avLst/>
          </a:prstGeom>
          <a:solidFill>
            <a:srgbClr val="00B0F0"/>
          </a:solidFill>
          <a:ln w="9525">
            <a:solidFill>
              <a:schemeClr val="tx1"/>
            </a:solidFill>
            <a:miter lim="800000"/>
          </a:ln>
          <a:effectLst/>
        </p:spPr>
        <p:txBody>
          <a:bodyPr wrap="none" anchor="ctr"/>
          <a:lstStyle/>
          <a:p>
            <a:pPr algn="ctr"/>
            <a:r>
              <a:rPr lang="en-US" altLang="zh-CN" sz="1000" dirty="0"/>
              <a:t>H</a:t>
            </a:r>
            <a:r>
              <a:rPr lang="en-US" altLang="zh-CN" sz="1000" baseline="-25000" dirty="0"/>
              <a:t>3</a:t>
            </a:r>
          </a:p>
        </p:txBody>
      </p:sp>
      <p:sp>
        <p:nvSpPr>
          <p:cNvPr id="200" name="Rectangle 47">
            <a:extLst>
              <a:ext uri="{FF2B5EF4-FFF2-40B4-BE49-F238E27FC236}">
                <a16:creationId xmlns:a16="http://schemas.microsoft.com/office/drawing/2014/main" id="{D02A3D3D-B300-0D67-2A70-E9905E6A4CD3}"/>
              </a:ext>
            </a:extLst>
          </p:cNvPr>
          <p:cNvSpPr>
            <a:spLocks noChangeArrowheads="1"/>
          </p:cNvSpPr>
          <p:nvPr/>
        </p:nvSpPr>
        <p:spPr bwMode="auto">
          <a:xfrm>
            <a:off x="2515214" y="3303460"/>
            <a:ext cx="223200" cy="244800"/>
          </a:xfrm>
          <a:prstGeom prst="rect">
            <a:avLst/>
          </a:prstGeom>
          <a:solidFill>
            <a:srgbClr val="FFC000"/>
          </a:solidFill>
          <a:ln w="9525">
            <a:solidFill>
              <a:schemeClr val="tx1"/>
            </a:solidFill>
            <a:miter lim="800000"/>
          </a:ln>
          <a:effectLst/>
        </p:spPr>
        <p:txBody>
          <a:bodyPr wrap="none" anchor="ctr"/>
          <a:lstStyle/>
          <a:p>
            <a:pPr algn="ctr"/>
            <a:r>
              <a:rPr lang="en-US" altLang="zh-CN" sz="1000"/>
              <a:t>H</a:t>
            </a:r>
            <a:r>
              <a:rPr lang="en-US" altLang="zh-CN" sz="1000" baseline="-25000"/>
              <a:t>4</a:t>
            </a:r>
          </a:p>
        </p:txBody>
      </p:sp>
      <p:sp>
        <p:nvSpPr>
          <p:cNvPr id="202" name="Rectangle 48">
            <a:extLst>
              <a:ext uri="{FF2B5EF4-FFF2-40B4-BE49-F238E27FC236}">
                <a16:creationId xmlns:a16="http://schemas.microsoft.com/office/drawing/2014/main" id="{9CA24757-5CE4-EA25-C2FB-FA297BE3A34C}"/>
              </a:ext>
            </a:extLst>
          </p:cNvPr>
          <p:cNvSpPr>
            <a:spLocks noChangeArrowheads="1"/>
          </p:cNvSpPr>
          <p:nvPr/>
        </p:nvSpPr>
        <p:spPr bwMode="auto">
          <a:xfrm>
            <a:off x="2738414" y="3303460"/>
            <a:ext cx="223200" cy="244800"/>
          </a:xfrm>
          <a:prstGeom prst="rect">
            <a:avLst/>
          </a:prstGeom>
          <a:solidFill>
            <a:schemeClr val="accent2"/>
          </a:solidFill>
          <a:ln w="9525">
            <a:solidFill>
              <a:schemeClr val="tx1"/>
            </a:solidFill>
            <a:miter lim="800000"/>
          </a:ln>
          <a:effectLst/>
        </p:spPr>
        <p:txBody>
          <a:bodyPr wrap="none" anchor="ctr"/>
          <a:lstStyle/>
          <a:p>
            <a:pPr algn="ctr"/>
            <a:r>
              <a:rPr lang="en-US" altLang="zh-CN" sz="1000" dirty="0"/>
              <a:t>H</a:t>
            </a:r>
            <a:r>
              <a:rPr lang="en-US" altLang="zh-CN" sz="1000" baseline="-25000" dirty="0"/>
              <a:t>5</a:t>
            </a:r>
          </a:p>
        </p:txBody>
      </p:sp>
      <p:sp>
        <p:nvSpPr>
          <p:cNvPr id="204" name="Rectangle 49">
            <a:extLst>
              <a:ext uri="{FF2B5EF4-FFF2-40B4-BE49-F238E27FC236}">
                <a16:creationId xmlns:a16="http://schemas.microsoft.com/office/drawing/2014/main" id="{B61B0697-5B1B-2AAE-743D-01815DEA3D66}"/>
              </a:ext>
            </a:extLst>
          </p:cNvPr>
          <p:cNvSpPr>
            <a:spLocks noChangeArrowheads="1"/>
          </p:cNvSpPr>
          <p:nvPr/>
        </p:nvSpPr>
        <p:spPr bwMode="auto">
          <a:xfrm>
            <a:off x="2961614" y="3303460"/>
            <a:ext cx="482400" cy="244800"/>
          </a:xfrm>
          <a:prstGeom prst="rect">
            <a:avLst/>
          </a:prstGeom>
          <a:solidFill>
            <a:schemeClr val="bg1"/>
          </a:solidFill>
          <a:ln w="9525">
            <a:solidFill>
              <a:schemeClr val="tx1"/>
            </a:solidFill>
            <a:miter lim="800000"/>
          </a:ln>
        </p:spPr>
        <p:txBody>
          <a:bodyPr wrap="none" anchor="ctr"/>
          <a:lstStyle/>
          <a:p>
            <a:pPr algn="ctr"/>
            <a:r>
              <a:rPr lang="zh-CN" altLang="en-US" sz="1000" dirty="0"/>
              <a:t>数 据</a:t>
            </a:r>
          </a:p>
        </p:txBody>
      </p:sp>
      <p:sp>
        <p:nvSpPr>
          <p:cNvPr id="206" name="Rectangle 74">
            <a:extLst>
              <a:ext uri="{FF2B5EF4-FFF2-40B4-BE49-F238E27FC236}">
                <a16:creationId xmlns:a16="http://schemas.microsoft.com/office/drawing/2014/main" id="{FBDBFA4F-6B97-675F-D75B-8C665AA1ABAE}"/>
              </a:ext>
            </a:extLst>
          </p:cNvPr>
          <p:cNvSpPr>
            <a:spLocks noChangeArrowheads="1"/>
          </p:cNvSpPr>
          <p:nvPr/>
        </p:nvSpPr>
        <p:spPr bwMode="auto">
          <a:xfrm>
            <a:off x="2068814" y="3303460"/>
            <a:ext cx="223200" cy="244800"/>
          </a:xfrm>
          <a:prstGeom prst="rect">
            <a:avLst/>
          </a:prstGeom>
          <a:solidFill>
            <a:srgbClr val="00B050"/>
          </a:solidFill>
          <a:ln w="9525">
            <a:solidFill>
              <a:schemeClr val="tx1"/>
            </a:solidFill>
            <a:miter lim="800000"/>
          </a:ln>
          <a:effectLst/>
        </p:spPr>
        <p:txBody>
          <a:bodyPr wrap="none" anchor="ctr"/>
          <a:lstStyle/>
          <a:p>
            <a:pPr algn="ctr"/>
            <a:r>
              <a:rPr lang="en-US" altLang="zh-CN" sz="1000" dirty="0"/>
              <a:t>H</a:t>
            </a:r>
            <a:r>
              <a:rPr lang="en-US" altLang="zh-CN" sz="1000" baseline="-25000" dirty="0"/>
              <a:t>2</a:t>
            </a:r>
          </a:p>
        </p:txBody>
      </p:sp>
      <p:sp>
        <p:nvSpPr>
          <p:cNvPr id="208" name="Rectangle 78">
            <a:extLst>
              <a:ext uri="{FF2B5EF4-FFF2-40B4-BE49-F238E27FC236}">
                <a16:creationId xmlns:a16="http://schemas.microsoft.com/office/drawing/2014/main" id="{08E22CC5-9FB9-E82F-47A9-D37DB66CE792}"/>
              </a:ext>
            </a:extLst>
          </p:cNvPr>
          <p:cNvSpPr>
            <a:spLocks noChangeArrowheads="1"/>
          </p:cNvSpPr>
          <p:nvPr/>
        </p:nvSpPr>
        <p:spPr bwMode="auto">
          <a:xfrm>
            <a:off x="3444013" y="3303206"/>
            <a:ext cx="223200" cy="245309"/>
          </a:xfrm>
          <a:prstGeom prst="rect">
            <a:avLst/>
          </a:prstGeom>
          <a:solidFill>
            <a:srgbClr val="00B050"/>
          </a:solidFill>
          <a:ln w="9525">
            <a:solidFill>
              <a:schemeClr val="tx1"/>
            </a:solidFill>
            <a:miter lim="800000"/>
          </a:ln>
          <a:effectLst/>
        </p:spPr>
        <p:txBody>
          <a:bodyPr wrap="none" anchor="ctr"/>
          <a:lstStyle/>
          <a:p>
            <a:pPr algn="ctr"/>
            <a:r>
              <a:rPr lang="en-US" altLang="zh-CN" sz="1000" dirty="0"/>
              <a:t>T</a:t>
            </a:r>
            <a:r>
              <a:rPr lang="en-US" altLang="zh-CN" sz="1000" baseline="-25000" dirty="0"/>
              <a:t>2</a:t>
            </a:r>
          </a:p>
        </p:txBody>
      </p:sp>
      <p:sp>
        <p:nvSpPr>
          <p:cNvPr id="210" name="Rectangle 35">
            <a:extLst>
              <a:ext uri="{FF2B5EF4-FFF2-40B4-BE49-F238E27FC236}">
                <a16:creationId xmlns:a16="http://schemas.microsoft.com/office/drawing/2014/main" id="{66A45675-34B1-A491-A5FD-15841658E9D0}"/>
              </a:ext>
            </a:extLst>
          </p:cNvPr>
          <p:cNvSpPr>
            <a:spLocks noChangeArrowheads="1"/>
          </p:cNvSpPr>
          <p:nvPr/>
        </p:nvSpPr>
        <p:spPr bwMode="auto">
          <a:xfrm>
            <a:off x="2068816" y="3671598"/>
            <a:ext cx="1598222" cy="244475"/>
          </a:xfrm>
          <a:prstGeom prst="rect">
            <a:avLst/>
          </a:prstGeom>
          <a:ln w="9525">
            <a:solidFill>
              <a:schemeClr val="tx1"/>
            </a:solidFill>
            <a:miter lim="800000"/>
          </a:ln>
        </p:spPr>
        <p:txBody>
          <a:bodyPr wrap="none" anchor="ctr"/>
          <a:lstStyle/>
          <a:p>
            <a:pPr algn="ctr"/>
            <a:r>
              <a:rPr lang="en-US" altLang="zh-CN" sz="1000" dirty="0">
                <a:solidFill>
                  <a:srgbClr val="FF0000"/>
                </a:solidFill>
                <a:latin typeface="+mj-lt"/>
                <a:ea typeface="+mj-ea"/>
              </a:rPr>
              <a:t>10100 </a:t>
            </a:r>
            <a:r>
              <a:rPr lang="zh-CN" altLang="en-US" sz="1000" dirty="0">
                <a:solidFill>
                  <a:srgbClr val="FF0000"/>
                </a:solidFill>
                <a:latin typeface="+mj-lt"/>
                <a:ea typeface="+mj-ea"/>
              </a:rPr>
              <a:t>比特流 </a:t>
            </a:r>
            <a:r>
              <a:rPr lang="en-US" altLang="zh-CN" sz="1000" dirty="0">
                <a:solidFill>
                  <a:srgbClr val="FF0000"/>
                </a:solidFill>
                <a:latin typeface="+mj-lt"/>
                <a:ea typeface="+mj-ea"/>
              </a:rPr>
              <a:t>110100</a:t>
            </a:r>
          </a:p>
        </p:txBody>
      </p:sp>
    </p:spTree>
    <p:extLst>
      <p:ext uri="{BB962C8B-B14F-4D97-AF65-F5344CB8AC3E}">
        <p14:creationId xmlns:p14="http://schemas.microsoft.com/office/powerpoint/2010/main" val="3175128455"/>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grpId="0" nodeType="afterEffect">
                                  <p:stCondLst>
                                    <p:cond delay="0"/>
                                  </p:stCondLst>
                                  <p:childTnLst>
                                    <p:set>
                                      <p:cBhvr>
                                        <p:cTn id="6" dur="1" fill="hold">
                                          <p:stCondLst>
                                            <p:cond delay="0"/>
                                          </p:stCondLst>
                                        </p:cTn>
                                        <p:tgtEl>
                                          <p:spTgt spid="92"/>
                                        </p:tgtEl>
                                        <p:attrNameLst>
                                          <p:attrName>style.visibility</p:attrName>
                                        </p:attrNameLst>
                                      </p:cBhvr>
                                      <p:to>
                                        <p:strVal val="visible"/>
                                      </p:to>
                                    </p:set>
                                    <p:animEffect transition="in" filter="wipe(up)">
                                      <p:cBhvr>
                                        <p:cTn id="7" dur="1000"/>
                                        <p:tgtEl>
                                          <p:spTgt spid="9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2" grpId="0" animBg="1"/>
    </p:bldLst>
  </p:timing>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7" name="AutoShape 4">
            <a:extLst>
              <a:ext uri="{FF2B5EF4-FFF2-40B4-BE49-F238E27FC236}">
                <a16:creationId xmlns:a16="http://schemas.microsoft.com/office/drawing/2014/main" id="{90A27E32-22B2-4B3A-651F-F2ED02CB00FF}"/>
              </a:ext>
            </a:extLst>
          </p:cNvPr>
          <p:cNvSpPr>
            <a:spLocks noChangeArrowheads="1"/>
          </p:cNvSpPr>
          <p:nvPr/>
        </p:nvSpPr>
        <p:spPr bwMode="auto">
          <a:xfrm rot="16200000">
            <a:off x="2567190" y="2361728"/>
            <a:ext cx="271463" cy="3600000"/>
          </a:xfrm>
          <a:prstGeom prst="can">
            <a:avLst>
              <a:gd name="adj" fmla="val 48656"/>
            </a:avLst>
          </a:prstGeom>
          <a:gradFill rotWithShape="0">
            <a:gsLst>
              <a:gs pos="0">
                <a:srgbClr val="00CC00"/>
              </a:gs>
              <a:gs pos="50000">
                <a:schemeClr val="bg1"/>
              </a:gs>
              <a:gs pos="100000">
                <a:srgbClr val="00CC00"/>
              </a:gs>
            </a:gsLst>
            <a:lin ang="5400000" scaled="1"/>
          </a:gradFill>
          <a:ln w="6350">
            <a:solidFill>
              <a:srgbClr val="7CE07C"/>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229" name="AutoShape 4">
            <a:extLst>
              <a:ext uri="{FF2B5EF4-FFF2-40B4-BE49-F238E27FC236}">
                <a16:creationId xmlns:a16="http://schemas.microsoft.com/office/drawing/2014/main" id="{CCE93603-B145-638A-A8CC-D5CBF30FC086}"/>
              </a:ext>
            </a:extLst>
          </p:cNvPr>
          <p:cNvSpPr>
            <a:spLocks noChangeArrowheads="1"/>
          </p:cNvSpPr>
          <p:nvPr/>
        </p:nvSpPr>
        <p:spPr bwMode="auto">
          <a:xfrm rot="16200000">
            <a:off x="6253847" y="2361728"/>
            <a:ext cx="271463" cy="3600000"/>
          </a:xfrm>
          <a:prstGeom prst="can">
            <a:avLst>
              <a:gd name="adj" fmla="val 48656"/>
            </a:avLst>
          </a:prstGeom>
          <a:gradFill rotWithShape="0">
            <a:gsLst>
              <a:gs pos="0">
                <a:srgbClr val="00CC00"/>
              </a:gs>
              <a:gs pos="50000">
                <a:schemeClr val="bg1"/>
              </a:gs>
              <a:gs pos="100000">
                <a:srgbClr val="00CC00"/>
              </a:gs>
            </a:gsLst>
            <a:lin ang="5400000" scaled="1"/>
          </a:gradFill>
          <a:ln w="6350">
            <a:solidFill>
              <a:srgbClr val="7CE07C"/>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231" name="Text Box 26">
            <a:extLst>
              <a:ext uri="{FF2B5EF4-FFF2-40B4-BE49-F238E27FC236}">
                <a16:creationId xmlns:a16="http://schemas.microsoft.com/office/drawing/2014/main" id="{C0453C2C-BB9A-3776-3F35-9375D5673424}"/>
              </a:ext>
            </a:extLst>
          </p:cNvPr>
          <p:cNvSpPr txBox="1">
            <a:spLocks noChangeArrowheads="1"/>
          </p:cNvSpPr>
          <p:nvPr/>
        </p:nvSpPr>
        <p:spPr bwMode="auto">
          <a:xfrm>
            <a:off x="2701348" y="4023229"/>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dirty="0">
                <a:latin typeface="+mj-lt"/>
                <a:ea typeface="+mj-ea"/>
              </a:rPr>
              <a:t>物理传输媒体</a:t>
            </a:r>
          </a:p>
        </p:txBody>
      </p:sp>
      <p:sp>
        <p:nvSpPr>
          <p:cNvPr id="233" name="Text Box 26">
            <a:extLst>
              <a:ext uri="{FF2B5EF4-FFF2-40B4-BE49-F238E27FC236}">
                <a16:creationId xmlns:a16="http://schemas.microsoft.com/office/drawing/2014/main" id="{F05CDF1D-5AF9-F4BC-EE87-2D3982C41D13}"/>
              </a:ext>
            </a:extLst>
          </p:cNvPr>
          <p:cNvSpPr txBox="1">
            <a:spLocks noChangeArrowheads="1"/>
          </p:cNvSpPr>
          <p:nvPr/>
        </p:nvSpPr>
        <p:spPr bwMode="auto">
          <a:xfrm>
            <a:off x="6193730" y="4023229"/>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dirty="0">
                <a:latin typeface="+mj-lt"/>
                <a:ea typeface="+mj-ea"/>
              </a:rPr>
              <a:t>物理传输媒体</a:t>
            </a:r>
          </a:p>
        </p:txBody>
      </p:sp>
      <p:grpSp>
        <p:nvGrpSpPr>
          <p:cNvPr id="220" name="组合 219">
            <a:extLst>
              <a:ext uri="{FF2B5EF4-FFF2-40B4-BE49-F238E27FC236}">
                <a16:creationId xmlns:a16="http://schemas.microsoft.com/office/drawing/2014/main" id="{286C989A-0B58-036D-5740-C41E239BAA16}"/>
              </a:ext>
            </a:extLst>
          </p:cNvPr>
          <p:cNvGrpSpPr/>
          <p:nvPr/>
        </p:nvGrpSpPr>
        <p:grpSpPr>
          <a:xfrm>
            <a:off x="3960000" y="2808000"/>
            <a:ext cx="1080000" cy="1080000"/>
            <a:chOff x="2807995" y="2745746"/>
            <a:chExt cx="1080000" cy="1080000"/>
          </a:xfrm>
        </p:grpSpPr>
        <p:sp>
          <p:nvSpPr>
            <p:cNvPr id="221" name="立方体 220">
              <a:extLst>
                <a:ext uri="{FF2B5EF4-FFF2-40B4-BE49-F238E27FC236}">
                  <a16:creationId xmlns:a16="http://schemas.microsoft.com/office/drawing/2014/main" id="{9FBEF3A5-3D65-A2D3-5848-BB2B38226C4A}"/>
                </a:ext>
              </a:extLst>
            </p:cNvPr>
            <p:cNvSpPr/>
            <p:nvPr/>
          </p:nvSpPr>
          <p:spPr>
            <a:xfrm>
              <a:off x="2807995" y="3393746"/>
              <a:ext cx="594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sz="1050" dirty="0">
                  <a:solidFill>
                    <a:schemeClr val="bg1"/>
                  </a:solidFill>
                </a:rPr>
                <a:t>1</a:t>
              </a:r>
              <a:endParaRPr lang="zh-CN" altLang="en-US" sz="1050" dirty="0">
                <a:solidFill>
                  <a:schemeClr val="bg1"/>
                </a:solidFill>
              </a:endParaRPr>
            </a:p>
          </p:txBody>
        </p:sp>
        <p:sp>
          <p:nvSpPr>
            <p:cNvPr id="222" name="立方体 221">
              <a:extLst>
                <a:ext uri="{FF2B5EF4-FFF2-40B4-BE49-F238E27FC236}">
                  <a16:creationId xmlns:a16="http://schemas.microsoft.com/office/drawing/2014/main" id="{98820D2A-6353-224D-71C9-3BC8CD7BF2EC}"/>
                </a:ext>
              </a:extLst>
            </p:cNvPr>
            <p:cNvSpPr/>
            <p:nvPr/>
          </p:nvSpPr>
          <p:spPr>
            <a:xfrm>
              <a:off x="2807995" y="3069746"/>
              <a:ext cx="594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sz="1050" dirty="0">
                  <a:solidFill>
                    <a:schemeClr val="bg1"/>
                  </a:solidFill>
                </a:rPr>
                <a:t>2</a:t>
              </a:r>
              <a:endParaRPr lang="zh-CN" altLang="en-US" sz="1050" dirty="0">
                <a:solidFill>
                  <a:schemeClr val="bg1"/>
                </a:solidFill>
              </a:endParaRPr>
            </a:p>
          </p:txBody>
        </p:sp>
        <p:sp>
          <p:nvSpPr>
            <p:cNvPr id="223" name="立方体 222">
              <a:extLst>
                <a:ext uri="{FF2B5EF4-FFF2-40B4-BE49-F238E27FC236}">
                  <a16:creationId xmlns:a16="http://schemas.microsoft.com/office/drawing/2014/main" id="{D72F0DAC-06CC-1989-EAE3-430135849A3E}"/>
                </a:ext>
              </a:extLst>
            </p:cNvPr>
            <p:cNvSpPr/>
            <p:nvPr/>
          </p:nvSpPr>
          <p:spPr>
            <a:xfrm>
              <a:off x="3293995" y="3393746"/>
              <a:ext cx="594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sz="1050" dirty="0">
                  <a:solidFill>
                    <a:schemeClr val="bg1"/>
                  </a:solidFill>
                </a:rPr>
                <a:t>1</a:t>
              </a:r>
              <a:endParaRPr lang="zh-CN" altLang="en-US" sz="1050" dirty="0">
                <a:solidFill>
                  <a:schemeClr val="bg1"/>
                </a:solidFill>
              </a:endParaRPr>
            </a:p>
          </p:txBody>
        </p:sp>
        <p:sp>
          <p:nvSpPr>
            <p:cNvPr id="224" name="立方体 223">
              <a:extLst>
                <a:ext uri="{FF2B5EF4-FFF2-40B4-BE49-F238E27FC236}">
                  <a16:creationId xmlns:a16="http://schemas.microsoft.com/office/drawing/2014/main" id="{24485E46-729D-F98E-41BA-BD7F66199D4E}"/>
                </a:ext>
              </a:extLst>
            </p:cNvPr>
            <p:cNvSpPr/>
            <p:nvPr/>
          </p:nvSpPr>
          <p:spPr>
            <a:xfrm>
              <a:off x="3293995" y="3069746"/>
              <a:ext cx="594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sz="1050" dirty="0">
                  <a:solidFill>
                    <a:schemeClr val="bg1"/>
                  </a:solidFill>
                </a:rPr>
                <a:t>2</a:t>
              </a:r>
              <a:endParaRPr lang="zh-CN" altLang="en-US" sz="1050" dirty="0">
                <a:solidFill>
                  <a:schemeClr val="bg1"/>
                </a:solidFill>
              </a:endParaRPr>
            </a:p>
          </p:txBody>
        </p:sp>
        <p:sp>
          <p:nvSpPr>
            <p:cNvPr id="225" name="立方体 224">
              <a:extLst>
                <a:ext uri="{FF2B5EF4-FFF2-40B4-BE49-F238E27FC236}">
                  <a16:creationId xmlns:a16="http://schemas.microsoft.com/office/drawing/2014/main" id="{3B6FCE51-86FA-15E9-96DC-8F4EFCA39B72}"/>
                </a:ext>
              </a:extLst>
            </p:cNvPr>
            <p:cNvSpPr/>
            <p:nvPr/>
          </p:nvSpPr>
          <p:spPr>
            <a:xfrm>
              <a:off x="2807995" y="2745746"/>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pPr algn="ctr"/>
              <a:r>
                <a:rPr lang="en-US" altLang="zh-CN" sz="1050" dirty="0">
                  <a:solidFill>
                    <a:schemeClr val="bg1"/>
                  </a:solidFill>
                </a:rPr>
                <a:t>3</a:t>
              </a:r>
              <a:endParaRPr lang="zh-CN" altLang="en-US" sz="1050" dirty="0">
                <a:solidFill>
                  <a:schemeClr val="bg1"/>
                </a:solidFill>
              </a:endParaRPr>
            </a:p>
          </p:txBody>
        </p:sp>
      </p:grpSp>
      <p:grpSp>
        <p:nvGrpSpPr>
          <p:cNvPr id="132" name="组合 131">
            <a:extLst>
              <a:ext uri="{FF2B5EF4-FFF2-40B4-BE49-F238E27FC236}">
                <a16:creationId xmlns:a16="http://schemas.microsoft.com/office/drawing/2014/main" id="{7BE121A3-341E-0E54-ADD1-57450425F8AE}"/>
              </a:ext>
            </a:extLst>
          </p:cNvPr>
          <p:cNvGrpSpPr/>
          <p:nvPr/>
        </p:nvGrpSpPr>
        <p:grpSpPr>
          <a:xfrm>
            <a:off x="7395732" y="1800000"/>
            <a:ext cx="1080000" cy="2088000"/>
            <a:chOff x="701211" y="1800000"/>
            <a:chExt cx="1080000" cy="2088000"/>
          </a:xfrm>
        </p:grpSpPr>
        <p:sp>
          <p:nvSpPr>
            <p:cNvPr id="133" name="立方体 132">
              <a:extLst>
                <a:ext uri="{FF2B5EF4-FFF2-40B4-BE49-F238E27FC236}">
                  <a16:creationId xmlns:a16="http://schemas.microsoft.com/office/drawing/2014/main" id="{AF0315BB-54C9-D371-C823-F291F095F612}"/>
                </a:ext>
              </a:extLst>
            </p:cNvPr>
            <p:cNvSpPr/>
            <p:nvPr/>
          </p:nvSpPr>
          <p:spPr>
            <a:xfrm>
              <a:off x="701211" y="3456000"/>
              <a:ext cx="108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050" dirty="0">
                  <a:solidFill>
                    <a:schemeClr val="bg1"/>
                  </a:solidFill>
                </a:rPr>
                <a:t>1 </a:t>
              </a:r>
              <a:r>
                <a:rPr lang="zh-CN" altLang="en-US" sz="1050" dirty="0">
                  <a:solidFill>
                    <a:schemeClr val="bg1"/>
                  </a:solidFill>
                </a:rPr>
                <a:t>物理层</a:t>
              </a:r>
            </a:p>
          </p:txBody>
        </p:sp>
        <p:sp>
          <p:nvSpPr>
            <p:cNvPr id="134" name="立方体 133">
              <a:extLst>
                <a:ext uri="{FF2B5EF4-FFF2-40B4-BE49-F238E27FC236}">
                  <a16:creationId xmlns:a16="http://schemas.microsoft.com/office/drawing/2014/main" id="{E0E0111B-DB5E-F028-AE96-BD09FE2F5C32}"/>
                </a:ext>
              </a:extLst>
            </p:cNvPr>
            <p:cNvSpPr/>
            <p:nvPr/>
          </p:nvSpPr>
          <p:spPr>
            <a:xfrm>
              <a:off x="701211" y="3132000"/>
              <a:ext cx="108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050" dirty="0">
                  <a:solidFill>
                    <a:schemeClr val="bg1"/>
                  </a:solidFill>
                </a:rPr>
                <a:t>2 </a:t>
              </a:r>
              <a:r>
                <a:rPr lang="zh-CN" altLang="en-US" sz="1050" dirty="0">
                  <a:solidFill>
                    <a:schemeClr val="bg1"/>
                  </a:solidFill>
                </a:rPr>
                <a:t>数据链路层</a:t>
              </a:r>
            </a:p>
          </p:txBody>
        </p:sp>
        <p:sp>
          <p:nvSpPr>
            <p:cNvPr id="135" name="立方体 134">
              <a:extLst>
                <a:ext uri="{FF2B5EF4-FFF2-40B4-BE49-F238E27FC236}">
                  <a16:creationId xmlns:a16="http://schemas.microsoft.com/office/drawing/2014/main" id="{F1E7FE01-4783-918A-0FFD-897558C33358}"/>
                </a:ext>
              </a:extLst>
            </p:cNvPr>
            <p:cNvSpPr/>
            <p:nvPr/>
          </p:nvSpPr>
          <p:spPr>
            <a:xfrm>
              <a:off x="701211" y="2808000"/>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050" dirty="0">
                  <a:solidFill>
                    <a:schemeClr val="bg1"/>
                  </a:solidFill>
                </a:rPr>
                <a:t>3 </a:t>
              </a:r>
              <a:r>
                <a:rPr lang="zh-CN" altLang="en-US" sz="1050" dirty="0">
                  <a:solidFill>
                    <a:schemeClr val="bg1"/>
                  </a:solidFill>
                </a:rPr>
                <a:t>网络层</a:t>
              </a:r>
            </a:p>
          </p:txBody>
        </p:sp>
        <p:sp>
          <p:nvSpPr>
            <p:cNvPr id="136" name="立方体 135">
              <a:extLst>
                <a:ext uri="{FF2B5EF4-FFF2-40B4-BE49-F238E27FC236}">
                  <a16:creationId xmlns:a16="http://schemas.microsoft.com/office/drawing/2014/main" id="{70607EFD-3D65-9F02-28BD-4F98955DDF63}"/>
                </a:ext>
              </a:extLst>
            </p:cNvPr>
            <p:cNvSpPr/>
            <p:nvPr/>
          </p:nvSpPr>
          <p:spPr>
            <a:xfrm>
              <a:off x="701211" y="2484000"/>
              <a:ext cx="108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050" dirty="0">
                  <a:solidFill>
                    <a:schemeClr val="bg1"/>
                  </a:solidFill>
                </a:rPr>
                <a:t>4 </a:t>
              </a:r>
              <a:r>
                <a:rPr lang="zh-CN" altLang="en-US" sz="1050" dirty="0">
                  <a:solidFill>
                    <a:schemeClr val="bg1"/>
                  </a:solidFill>
                </a:rPr>
                <a:t>运输层</a:t>
              </a:r>
            </a:p>
          </p:txBody>
        </p:sp>
        <p:sp>
          <p:nvSpPr>
            <p:cNvPr id="137" name="立方体 136">
              <a:extLst>
                <a:ext uri="{FF2B5EF4-FFF2-40B4-BE49-F238E27FC236}">
                  <a16:creationId xmlns:a16="http://schemas.microsoft.com/office/drawing/2014/main" id="{BED5C0A9-50C2-24C0-5E11-AAD9313797B7}"/>
                </a:ext>
              </a:extLst>
            </p:cNvPr>
            <p:cNvSpPr/>
            <p:nvPr/>
          </p:nvSpPr>
          <p:spPr>
            <a:xfrm>
              <a:off x="701211" y="2160000"/>
              <a:ext cx="108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050" dirty="0">
                  <a:solidFill>
                    <a:schemeClr val="bg1"/>
                  </a:solidFill>
                </a:rPr>
                <a:t>5 </a:t>
              </a:r>
              <a:r>
                <a:rPr lang="zh-CN" altLang="en-US" sz="1050" dirty="0">
                  <a:solidFill>
                    <a:schemeClr val="bg1"/>
                  </a:solidFill>
                </a:rPr>
                <a:t>应用层</a:t>
              </a:r>
            </a:p>
          </p:txBody>
        </p:sp>
        <p:sp>
          <p:nvSpPr>
            <p:cNvPr id="138" name="圆柱体 137">
              <a:extLst>
                <a:ext uri="{FF2B5EF4-FFF2-40B4-BE49-F238E27FC236}">
                  <a16:creationId xmlns:a16="http://schemas.microsoft.com/office/drawing/2014/main" id="{41600DAC-D158-0E03-AF93-E6F5BFEF8267}"/>
                </a:ext>
              </a:extLst>
            </p:cNvPr>
            <p:cNvSpPr/>
            <p:nvPr/>
          </p:nvSpPr>
          <p:spPr>
            <a:xfrm>
              <a:off x="953211" y="1800000"/>
              <a:ext cx="576000" cy="360000"/>
            </a:xfrm>
            <a:prstGeom prst="can">
              <a:avLst/>
            </a:prstGeom>
            <a:solidFill>
              <a:srgbClr val="FFFF00"/>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000" dirty="0">
                  <a:solidFill>
                    <a:sysClr val="windowText" lastClr="000000"/>
                  </a:solidFill>
                </a:rPr>
                <a:t>AP1</a:t>
              </a:r>
              <a:endParaRPr lang="zh-CN" altLang="en-US" sz="1000" dirty="0">
                <a:solidFill>
                  <a:sysClr val="windowText" lastClr="000000"/>
                </a:solidFill>
              </a:endParaRPr>
            </a:p>
          </p:txBody>
        </p:sp>
      </p:grpSp>
      <p:grpSp>
        <p:nvGrpSpPr>
          <p:cNvPr id="139" name="组合 138">
            <a:extLst>
              <a:ext uri="{FF2B5EF4-FFF2-40B4-BE49-F238E27FC236}">
                <a16:creationId xmlns:a16="http://schemas.microsoft.com/office/drawing/2014/main" id="{BFD024BF-51FC-FC28-3279-5AF913FC08E2}"/>
              </a:ext>
            </a:extLst>
          </p:cNvPr>
          <p:cNvGrpSpPr/>
          <p:nvPr/>
        </p:nvGrpSpPr>
        <p:grpSpPr>
          <a:xfrm>
            <a:off x="701211" y="1800000"/>
            <a:ext cx="1080000" cy="2088000"/>
            <a:chOff x="701211" y="1800000"/>
            <a:chExt cx="1080000" cy="2088000"/>
          </a:xfrm>
        </p:grpSpPr>
        <p:sp>
          <p:nvSpPr>
            <p:cNvPr id="142" name="立方体 141">
              <a:extLst>
                <a:ext uri="{FF2B5EF4-FFF2-40B4-BE49-F238E27FC236}">
                  <a16:creationId xmlns:a16="http://schemas.microsoft.com/office/drawing/2014/main" id="{3341EFE7-3779-7B14-7B0A-F5A6586B00F2}"/>
                </a:ext>
              </a:extLst>
            </p:cNvPr>
            <p:cNvSpPr/>
            <p:nvPr/>
          </p:nvSpPr>
          <p:spPr>
            <a:xfrm>
              <a:off x="701211" y="3456000"/>
              <a:ext cx="108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050" dirty="0">
                  <a:solidFill>
                    <a:schemeClr val="bg1"/>
                  </a:solidFill>
                </a:rPr>
                <a:t>1 </a:t>
              </a:r>
              <a:r>
                <a:rPr lang="zh-CN" altLang="en-US" sz="1050" dirty="0">
                  <a:solidFill>
                    <a:schemeClr val="bg1"/>
                  </a:solidFill>
                </a:rPr>
                <a:t>物理层</a:t>
              </a:r>
            </a:p>
          </p:txBody>
        </p:sp>
        <p:sp>
          <p:nvSpPr>
            <p:cNvPr id="143" name="立方体 142">
              <a:extLst>
                <a:ext uri="{FF2B5EF4-FFF2-40B4-BE49-F238E27FC236}">
                  <a16:creationId xmlns:a16="http://schemas.microsoft.com/office/drawing/2014/main" id="{41E2D9D8-F4AC-486C-F698-9B1C1ABC0676}"/>
                </a:ext>
              </a:extLst>
            </p:cNvPr>
            <p:cNvSpPr/>
            <p:nvPr/>
          </p:nvSpPr>
          <p:spPr>
            <a:xfrm>
              <a:off x="701211" y="3132000"/>
              <a:ext cx="108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050" dirty="0">
                  <a:solidFill>
                    <a:schemeClr val="bg1"/>
                  </a:solidFill>
                </a:rPr>
                <a:t>2 </a:t>
              </a:r>
              <a:r>
                <a:rPr lang="zh-CN" altLang="en-US" sz="1050" dirty="0">
                  <a:solidFill>
                    <a:schemeClr val="bg1"/>
                  </a:solidFill>
                </a:rPr>
                <a:t>数据链路层</a:t>
              </a:r>
            </a:p>
          </p:txBody>
        </p:sp>
        <p:sp>
          <p:nvSpPr>
            <p:cNvPr id="144" name="立方体 143">
              <a:extLst>
                <a:ext uri="{FF2B5EF4-FFF2-40B4-BE49-F238E27FC236}">
                  <a16:creationId xmlns:a16="http://schemas.microsoft.com/office/drawing/2014/main" id="{B6EA473D-E179-8E0D-5036-7DB88ED7BB3B}"/>
                </a:ext>
              </a:extLst>
            </p:cNvPr>
            <p:cNvSpPr/>
            <p:nvPr/>
          </p:nvSpPr>
          <p:spPr>
            <a:xfrm>
              <a:off x="701211" y="2808000"/>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050" dirty="0">
                  <a:solidFill>
                    <a:schemeClr val="bg1"/>
                  </a:solidFill>
                </a:rPr>
                <a:t>3 </a:t>
              </a:r>
              <a:r>
                <a:rPr lang="zh-CN" altLang="en-US" sz="1050" dirty="0">
                  <a:solidFill>
                    <a:schemeClr val="bg1"/>
                  </a:solidFill>
                </a:rPr>
                <a:t>网络层</a:t>
              </a:r>
            </a:p>
          </p:txBody>
        </p:sp>
        <p:sp>
          <p:nvSpPr>
            <p:cNvPr id="145" name="立方体 144">
              <a:extLst>
                <a:ext uri="{FF2B5EF4-FFF2-40B4-BE49-F238E27FC236}">
                  <a16:creationId xmlns:a16="http://schemas.microsoft.com/office/drawing/2014/main" id="{A6BD6AEE-5D14-8EF0-2805-939E9F118FA9}"/>
                </a:ext>
              </a:extLst>
            </p:cNvPr>
            <p:cNvSpPr/>
            <p:nvPr/>
          </p:nvSpPr>
          <p:spPr>
            <a:xfrm>
              <a:off x="701211" y="2484000"/>
              <a:ext cx="108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050" dirty="0">
                  <a:solidFill>
                    <a:schemeClr val="bg1"/>
                  </a:solidFill>
                </a:rPr>
                <a:t>4 </a:t>
              </a:r>
              <a:r>
                <a:rPr lang="zh-CN" altLang="en-US" sz="1050" dirty="0">
                  <a:solidFill>
                    <a:schemeClr val="bg1"/>
                  </a:solidFill>
                </a:rPr>
                <a:t>运输层</a:t>
              </a:r>
            </a:p>
          </p:txBody>
        </p:sp>
        <p:sp>
          <p:nvSpPr>
            <p:cNvPr id="146" name="立方体 145">
              <a:extLst>
                <a:ext uri="{FF2B5EF4-FFF2-40B4-BE49-F238E27FC236}">
                  <a16:creationId xmlns:a16="http://schemas.microsoft.com/office/drawing/2014/main" id="{3E0DDB1E-2F0D-1CD2-BE66-815EE3FF77F5}"/>
                </a:ext>
              </a:extLst>
            </p:cNvPr>
            <p:cNvSpPr/>
            <p:nvPr/>
          </p:nvSpPr>
          <p:spPr>
            <a:xfrm>
              <a:off x="701211" y="2160000"/>
              <a:ext cx="108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050" dirty="0">
                  <a:solidFill>
                    <a:schemeClr val="bg1"/>
                  </a:solidFill>
                </a:rPr>
                <a:t>5 </a:t>
              </a:r>
              <a:r>
                <a:rPr lang="zh-CN" altLang="en-US" sz="1050" dirty="0">
                  <a:solidFill>
                    <a:schemeClr val="bg1"/>
                  </a:solidFill>
                </a:rPr>
                <a:t>应用层</a:t>
              </a:r>
            </a:p>
          </p:txBody>
        </p:sp>
        <p:sp>
          <p:nvSpPr>
            <p:cNvPr id="147" name="圆柱体 146">
              <a:extLst>
                <a:ext uri="{FF2B5EF4-FFF2-40B4-BE49-F238E27FC236}">
                  <a16:creationId xmlns:a16="http://schemas.microsoft.com/office/drawing/2014/main" id="{39D19EFA-0603-3DD6-0CB1-54C275089ACA}"/>
                </a:ext>
              </a:extLst>
            </p:cNvPr>
            <p:cNvSpPr/>
            <p:nvPr/>
          </p:nvSpPr>
          <p:spPr>
            <a:xfrm>
              <a:off x="953211" y="1800000"/>
              <a:ext cx="576000" cy="360000"/>
            </a:xfrm>
            <a:prstGeom prst="can">
              <a:avLst/>
            </a:prstGeom>
            <a:solidFill>
              <a:srgbClr val="FFFF00"/>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000" dirty="0">
                  <a:solidFill>
                    <a:sysClr val="windowText" lastClr="000000"/>
                  </a:solidFill>
                </a:rPr>
                <a:t>AP1</a:t>
              </a:r>
              <a:endParaRPr lang="zh-CN" altLang="en-US" sz="1000" dirty="0">
                <a:solidFill>
                  <a:sysClr val="windowText" lastClr="000000"/>
                </a:solidFill>
              </a:endParaRPr>
            </a:p>
          </p:txBody>
        </p:sp>
      </p:grpSp>
      <p:sp>
        <p:nvSpPr>
          <p:cNvPr id="25" name="Text Box 29"/>
          <p:cNvSpPr txBox="1">
            <a:spLocks noChangeArrowheads="1"/>
          </p:cNvSpPr>
          <p:nvPr/>
        </p:nvSpPr>
        <p:spPr bwMode="auto">
          <a:xfrm>
            <a:off x="110689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1</a:t>
            </a:r>
          </a:p>
        </p:txBody>
      </p:sp>
      <p:sp>
        <p:nvSpPr>
          <p:cNvPr id="38" name="Text Box 29"/>
          <p:cNvSpPr txBox="1">
            <a:spLocks noChangeArrowheads="1"/>
          </p:cNvSpPr>
          <p:nvPr/>
        </p:nvSpPr>
        <p:spPr bwMode="auto">
          <a:xfrm>
            <a:off x="736975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2</a:t>
            </a:r>
          </a:p>
        </p:txBody>
      </p:sp>
      <p:sp>
        <p:nvSpPr>
          <p:cNvPr id="39" name="Text Box 29"/>
          <p:cNvSpPr txBox="1">
            <a:spLocks noChangeArrowheads="1"/>
          </p:cNvSpPr>
          <p:nvPr/>
        </p:nvSpPr>
        <p:spPr bwMode="auto">
          <a:xfrm>
            <a:off x="4160212" y="107510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路由器</a:t>
            </a:r>
            <a:endParaRPr kumimoji="1" lang="en-US" altLang="zh-CN" sz="1200" b="1" dirty="0">
              <a:solidFill>
                <a:srgbClr val="0000FF"/>
              </a:solidFill>
              <a:latin typeface="微软雅黑" panose="020B0503020204020204" pitchFamily="34" charset="-122"/>
              <a:ea typeface="微软雅黑" panose="020B0503020204020204" pitchFamily="34" charset="-122"/>
            </a:endParaRPr>
          </a:p>
        </p:txBody>
      </p:sp>
      <p:cxnSp>
        <p:nvCxnSpPr>
          <p:cNvPr id="69" name="直接连接符 68"/>
          <p:cNvCxnSpPr/>
          <p:nvPr/>
        </p:nvCxnSpPr>
        <p:spPr>
          <a:xfrm>
            <a:off x="1418143" y="1507958"/>
            <a:ext cx="6306131" cy="0"/>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pic>
        <p:nvPicPr>
          <p:cNvPr id="36"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486661" y="1312469"/>
            <a:ext cx="410222"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7"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202308" y="1312469"/>
            <a:ext cx="410223"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140" name="直接箭头连接符 139"/>
          <p:cNvCxnSpPr/>
          <p:nvPr/>
        </p:nvCxnSpPr>
        <p:spPr>
          <a:xfrm>
            <a:off x="1561619" y="1428166"/>
            <a:ext cx="5941518" cy="0"/>
          </a:xfrm>
          <a:prstGeom prst="straightConnector1">
            <a:avLst/>
          </a:prstGeom>
          <a:ln w="28575">
            <a:solidFill>
              <a:srgbClr val="CC00CC"/>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35"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54124" y="1385466"/>
            <a:ext cx="454438" cy="2643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73" name="AutoShape 51"/>
          <p:cNvSpPr>
            <a:spLocks noChangeArrowheads="1"/>
          </p:cNvSpPr>
          <p:nvPr/>
        </p:nvSpPr>
        <p:spPr bwMode="auto">
          <a:xfrm flipV="1">
            <a:off x="1237476" y="2076244"/>
            <a:ext cx="145966" cy="205414"/>
          </a:xfrm>
          <a:prstGeom prst="upArrow">
            <a:avLst>
              <a:gd name="adj1" fmla="val 50000"/>
              <a:gd name="adj2" fmla="val 45968"/>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88" name="AutoShape 54"/>
          <p:cNvSpPr>
            <a:spLocks noChangeArrowheads="1"/>
          </p:cNvSpPr>
          <p:nvPr/>
        </p:nvSpPr>
        <p:spPr bwMode="auto">
          <a:xfrm rot="10800000">
            <a:off x="1237478" y="2439149"/>
            <a:ext cx="147144" cy="221279"/>
          </a:xfrm>
          <a:prstGeom prst="upArrow">
            <a:avLst>
              <a:gd name="adj1" fmla="val 50000"/>
              <a:gd name="adj2" fmla="val 498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5" name="AutoShape 57"/>
          <p:cNvSpPr>
            <a:spLocks noChangeArrowheads="1"/>
          </p:cNvSpPr>
          <p:nvPr/>
        </p:nvSpPr>
        <p:spPr bwMode="auto">
          <a:xfrm rot="10800000">
            <a:off x="1235122" y="2826328"/>
            <a:ext cx="148321" cy="222762"/>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07" name="AutoShape 57"/>
          <p:cNvSpPr>
            <a:spLocks noChangeArrowheads="1"/>
          </p:cNvSpPr>
          <p:nvPr/>
        </p:nvSpPr>
        <p:spPr bwMode="auto">
          <a:xfrm rot="10800000">
            <a:off x="1226181" y="3198896"/>
            <a:ext cx="156561" cy="213191"/>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19" name="AutoShape 63"/>
          <p:cNvSpPr>
            <a:spLocks noChangeArrowheads="1"/>
          </p:cNvSpPr>
          <p:nvPr/>
        </p:nvSpPr>
        <p:spPr bwMode="auto">
          <a:xfrm rot="10800000">
            <a:off x="1226181" y="3567260"/>
            <a:ext cx="165978" cy="238153"/>
          </a:xfrm>
          <a:prstGeom prst="upArrow">
            <a:avLst>
              <a:gd name="adj1" fmla="val 50000"/>
              <a:gd name="adj2" fmla="val 50403"/>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00" name="AutoShape 25"/>
          <p:cNvSpPr>
            <a:spLocks noChangeArrowheads="1"/>
          </p:cNvSpPr>
          <p:nvPr/>
        </p:nvSpPr>
        <p:spPr bwMode="auto">
          <a:xfrm flipV="1">
            <a:off x="1266066" y="3955320"/>
            <a:ext cx="263283" cy="281183"/>
          </a:xfrm>
          <a:custGeom>
            <a:avLst/>
            <a:gdLst>
              <a:gd name="T0" fmla="*/ 218339 w 21600"/>
              <a:gd name="T1" fmla="*/ 0 h 21600"/>
              <a:gd name="T2" fmla="*/ 218339 w 21600"/>
              <a:gd name="T3" fmla="*/ 171757 h 21600"/>
              <a:gd name="T4" fmla="*/ 46725 w 21600"/>
              <a:gd name="T5" fmla="*/ 305144 h 21600"/>
              <a:gd name="T6" fmla="*/ 311789 w 21600"/>
              <a:gd name="T7" fmla="*/ 85878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11" name="AutoShape 42"/>
          <p:cNvSpPr>
            <a:spLocks noChangeArrowheads="1"/>
          </p:cNvSpPr>
          <p:nvPr/>
        </p:nvSpPr>
        <p:spPr bwMode="auto">
          <a:xfrm rot="5400000" flipH="1">
            <a:off x="3905139" y="3932147"/>
            <a:ext cx="254669" cy="288428"/>
          </a:xfrm>
          <a:custGeom>
            <a:avLst/>
            <a:gdLst>
              <a:gd name="T0" fmla="*/ 220161 w 21600"/>
              <a:gd name="T1" fmla="*/ 0 h 21600"/>
              <a:gd name="T2" fmla="*/ 220161 w 21600"/>
              <a:gd name="T3" fmla="*/ 175497 h 21600"/>
              <a:gd name="T4" fmla="*/ 47115 w 21600"/>
              <a:gd name="T5" fmla="*/ 311790 h 21600"/>
              <a:gd name="T6" fmla="*/ 314391 w 21600"/>
              <a:gd name="T7" fmla="*/ 87749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nvGrpSpPr>
          <p:cNvPr id="125" name="Group 34"/>
          <p:cNvGrpSpPr/>
          <p:nvPr/>
        </p:nvGrpSpPr>
        <p:grpSpPr bwMode="auto">
          <a:xfrm>
            <a:off x="1792727" y="4119885"/>
            <a:ext cx="841456" cy="101715"/>
            <a:chOff x="1344" y="912"/>
            <a:chExt cx="672" cy="96"/>
          </a:xfrm>
          <a:solidFill>
            <a:srgbClr val="FF0000"/>
          </a:solidFill>
        </p:grpSpPr>
        <p:sp>
          <p:nvSpPr>
            <p:cNvPr id="126" name="Line 35"/>
            <p:cNvSpPr>
              <a:spLocks noChangeShapeType="1"/>
            </p:cNvSpPr>
            <p:nvPr/>
          </p:nvSpPr>
          <p:spPr bwMode="auto">
            <a:xfrm>
              <a:off x="1344" y="960"/>
              <a:ext cx="672" cy="0"/>
            </a:xfrm>
            <a:prstGeom prst="line">
              <a:avLst/>
            </a:prstGeom>
            <a:grpFill/>
            <a:ln w="12700">
              <a:no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sp>
          <p:nvSpPr>
            <p:cNvPr id="127" name="Freeform 36"/>
            <p:cNvSpPr/>
            <p:nvPr/>
          </p:nvSpPr>
          <p:spPr bwMode="auto">
            <a:xfrm>
              <a:off x="1392" y="912"/>
              <a:ext cx="576" cy="96"/>
            </a:xfrm>
            <a:custGeom>
              <a:avLst/>
              <a:gdLst>
                <a:gd name="T0" fmla="*/ 0 w 576"/>
                <a:gd name="T1" fmla="*/ 96 h 192"/>
                <a:gd name="T2" fmla="*/ 0 w 576"/>
                <a:gd name="T3" fmla="*/ 0 h 192"/>
                <a:gd name="T4" fmla="*/ 192 w 576"/>
                <a:gd name="T5" fmla="*/ 0 h 192"/>
                <a:gd name="T6" fmla="*/ 192 w 576"/>
                <a:gd name="T7" fmla="*/ 192 h 192"/>
                <a:gd name="T8" fmla="*/ 288 w 576"/>
                <a:gd name="T9" fmla="*/ 192 h 192"/>
                <a:gd name="T10" fmla="*/ 288 w 576"/>
                <a:gd name="T11" fmla="*/ 0 h 192"/>
                <a:gd name="T12" fmla="*/ 336 w 576"/>
                <a:gd name="T13" fmla="*/ 0 h 192"/>
                <a:gd name="T14" fmla="*/ 336 w 576"/>
                <a:gd name="T15" fmla="*/ 192 h 192"/>
                <a:gd name="T16" fmla="*/ 480 w 576"/>
                <a:gd name="T17" fmla="*/ 192 h 192"/>
                <a:gd name="T18" fmla="*/ 480 w 576"/>
                <a:gd name="T19" fmla="*/ 0 h 192"/>
                <a:gd name="T20" fmla="*/ 576 w 576"/>
                <a:gd name="T21" fmla="*/ 0 h 192"/>
                <a:gd name="T22" fmla="*/ 576 w 576"/>
                <a:gd name="T23" fmla="*/ 96 h 192"/>
                <a:gd name="T24" fmla="*/ 0 w 576"/>
                <a:gd name="T25" fmla="*/ 96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6" h="192">
                  <a:moveTo>
                    <a:pt x="0" y="96"/>
                  </a:moveTo>
                  <a:lnTo>
                    <a:pt x="0" y="0"/>
                  </a:lnTo>
                  <a:lnTo>
                    <a:pt x="192" y="0"/>
                  </a:lnTo>
                  <a:lnTo>
                    <a:pt x="192" y="192"/>
                  </a:lnTo>
                  <a:lnTo>
                    <a:pt x="288" y="192"/>
                  </a:lnTo>
                  <a:lnTo>
                    <a:pt x="288" y="0"/>
                  </a:lnTo>
                  <a:lnTo>
                    <a:pt x="336" y="0"/>
                  </a:lnTo>
                  <a:lnTo>
                    <a:pt x="336" y="192"/>
                  </a:lnTo>
                  <a:lnTo>
                    <a:pt x="480" y="192"/>
                  </a:lnTo>
                  <a:lnTo>
                    <a:pt x="480" y="0"/>
                  </a:lnTo>
                  <a:lnTo>
                    <a:pt x="576" y="0"/>
                  </a:lnTo>
                  <a:lnTo>
                    <a:pt x="576" y="96"/>
                  </a:lnTo>
                  <a:lnTo>
                    <a:pt x="0" y="96"/>
                  </a:lnTo>
                  <a:close/>
                </a:path>
              </a:pathLst>
            </a:custGeom>
            <a:grpFill/>
            <a:ln w="12700" cap="flat" cmpd="sng">
              <a:noFill/>
              <a:prstDash val="solid"/>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grpSp>
      <p:sp>
        <p:nvSpPr>
          <p:cNvPr id="87" name="上箭头 86"/>
          <p:cNvSpPr/>
          <p:nvPr/>
        </p:nvSpPr>
        <p:spPr>
          <a:xfrm>
            <a:off x="4028301" y="3527399"/>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2" name="上箭头 81"/>
          <p:cNvSpPr/>
          <p:nvPr/>
        </p:nvSpPr>
        <p:spPr>
          <a:xfrm>
            <a:off x="4028301" y="3154024"/>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2" name="下箭头 91"/>
          <p:cNvSpPr/>
          <p:nvPr/>
        </p:nvSpPr>
        <p:spPr>
          <a:xfrm>
            <a:off x="4682483" y="3179766"/>
            <a:ext cx="180462" cy="249234"/>
          </a:xfrm>
          <a:prstGeom prst="down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3" name="Text Box 75"/>
          <p:cNvSpPr txBox="1">
            <a:spLocks noChangeArrowheads="1"/>
          </p:cNvSpPr>
          <p:nvPr/>
        </p:nvSpPr>
        <p:spPr bwMode="auto">
          <a:xfrm>
            <a:off x="5117297" y="2845005"/>
            <a:ext cx="621626" cy="24467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lnSpc>
                <a:spcPct val="90000"/>
              </a:lnSpc>
            </a:pPr>
            <a:r>
              <a:rPr kumimoji="1" lang="zh-CN" altLang="en-US" sz="1100" b="1" dirty="0">
                <a:solidFill>
                  <a:srgbClr val="CC00CC"/>
                </a:solidFill>
                <a:latin typeface="微软雅黑" panose="020B0503020204020204" pitchFamily="34" charset="-122"/>
                <a:ea typeface="微软雅黑" panose="020B0503020204020204" pitchFamily="34" charset="-122"/>
              </a:rPr>
              <a:t>新首部</a:t>
            </a:r>
          </a:p>
        </p:txBody>
      </p:sp>
      <p:sp>
        <p:nvSpPr>
          <p:cNvPr id="115" name="Line 76"/>
          <p:cNvSpPr>
            <a:spLocks noChangeShapeType="1"/>
          </p:cNvSpPr>
          <p:nvPr/>
        </p:nvSpPr>
        <p:spPr bwMode="auto">
          <a:xfrm>
            <a:off x="5477558" y="3059230"/>
            <a:ext cx="107136" cy="212050"/>
          </a:xfrm>
          <a:prstGeom prst="line">
            <a:avLst/>
          </a:prstGeom>
          <a:noFill/>
          <a:ln w="12700">
            <a:solidFill>
              <a:srgbClr val="333399"/>
            </a:solidFill>
            <a:round/>
            <a:headEnd type="none" w="sm"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18" name="Line 79"/>
          <p:cNvSpPr>
            <a:spLocks noChangeShapeType="1"/>
          </p:cNvSpPr>
          <p:nvPr/>
        </p:nvSpPr>
        <p:spPr bwMode="auto">
          <a:xfrm flipH="1">
            <a:off x="6960545" y="3050282"/>
            <a:ext cx="109361" cy="204062"/>
          </a:xfrm>
          <a:prstGeom prst="line">
            <a:avLst/>
          </a:prstGeom>
          <a:noFill/>
          <a:ln w="12700">
            <a:solidFill>
              <a:srgbClr val="333399"/>
            </a:solidFill>
            <a:round/>
            <a:headEnd type="none" w="sm"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20" name="Text Box 80"/>
          <p:cNvSpPr txBox="1">
            <a:spLocks noChangeArrowheads="1"/>
          </p:cNvSpPr>
          <p:nvPr/>
        </p:nvSpPr>
        <p:spPr bwMode="auto">
          <a:xfrm>
            <a:off x="6824138" y="2842964"/>
            <a:ext cx="607954" cy="24422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lnSpc>
                <a:spcPct val="90000"/>
              </a:lnSpc>
            </a:pPr>
            <a:r>
              <a:rPr kumimoji="1" lang="zh-CN" altLang="en-US" sz="1100" b="1" dirty="0">
                <a:solidFill>
                  <a:srgbClr val="CC00CC"/>
                </a:solidFill>
                <a:latin typeface="微软雅黑" panose="020B0503020204020204" pitchFamily="34" charset="-122"/>
                <a:ea typeface="微软雅黑" panose="020B0503020204020204" pitchFamily="34" charset="-122"/>
              </a:rPr>
              <a:t>新尾部</a:t>
            </a:r>
          </a:p>
        </p:txBody>
      </p:sp>
      <p:sp>
        <p:nvSpPr>
          <p:cNvPr id="124" name="下箭头 123"/>
          <p:cNvSpPr/>
          <p:nvPr/>
        </p:nvSpPr>
        <p:spPr>
          <a:xfrm>
            <a:off x="4682483" y="3543677"/>
            <a:ext cx="180462" cy="249234"/>
          </a:xfrm>
          <a:prstGeom prst="down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标题 1">
            <a:extLst>
              <a:ext uri="{FF2B5EF4-FFF2-40B4-BE49-F238E27FC236}">
                <a16:creationId xmlns:a16="http://schemas.microsoft.com/office/drawing/2014/main" id="{0028C4CA-1E60-59B3-6953-5403E0F7982F}"/>
              </a:ext>
            </a:extLst>
          </p:cNvPr>
          <p:cNvSpPr>
            <a:spLocks noGrp="1"/>
          </p:cNvSpPr>
          <p:nvPr>
            <p:ph type="title"/>
          </p:nvPr>
        </p:nvSpPr>
        <p:spPr>
          <a:xfrm>
            <a:off x="612000" y="144000"/>
            <a:ext cx="7920000" cy="341632"/>
          </a:xfrm>
        </p:spPr>
        <p:txBody>
          <a:bodyPr/>
          <a:lstStyle/>
          <a:p>
            <a:r>
              <a:rPr lang="zh-CN" altLang="en-US" dirty="0"/>
              <a:t>数据在各层之间的传递过程</a:t>
            </a:r>
          </a:p>
        </p:txBody>
      </p:sp>
      <p:sp>
        <p:nvSpPr>
          <p:cNvPr id="150" name="Rectangle 74">
            <a:extLst>
              <a:ext uri="{FF2B5EF4-FFF2-40B4-BE49-F238E27FC236}">
                <a16:creationId xmlns:a16="http://schemas.microsoft.com/office/drawing/2014/main" id="{FA728565-5319-F81E-3925-B45727BCF673}"/>
              </a:ext>
            </a:extLst>
          </p:cNvPr>
          <p:cNvSpPr>
            <a:spLocks noChangeArrowheads="1"/>
          </p:cNvSpPr>
          <p:nvPr/>
        </p:nvSpPr>
        <p:spPr bwMode="auto">
          <a:xfrm>
            <a:off x="5499744" y="3302812"/>
            <a:ext cx="223200" cy="244800"/>
          </a:xfrm>
          <a:prstGeom prst="rect">
            <a:avLst/>
          </a:prstGeom>
          <a:solidFill>
            <a:srgbClr val="000066"/>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000" dirty="0">
                <a:solidFill>
                  <a:schemeClr val="bg1"/>
                </a:solidFill>
              </a:rPr>
              <a:t>H</a:t>
            </a:r>
            <a:r>
              <a:rPr lang="en-US" altLang="zh-CN" sz="1000" baseline="-25000" dirty="0">
                <a:solidFill>
                  <a:schemeClr val="bg1"/>
                </a:solidFill>
              </a:rPr>
              <a:t>2</a:t>
            </a:r>
          </a:p>
        </p:txBody>
      </p:sp>
      <p:sp>
        <p:nvSpPr>
          <p:cNvPr id="152" name="Rectangle 78">
            <a:extLst>
              <a:ext uri="{FF2B5EF4-FFF2-40B4-BE49-F238E27FC236}">
                <a16:creationId xmlns:a16="http://schemas.microsoft.com/office/drawing/2014/main" id="{6D12DDA4-2729-6DC0-C8B4-42671BDDACEB}"/>
              </a:ext>
            </a:extLst>
          </p:cNvPr>
          <p:cNvSpPr>
            <a:spLocks noChangeArrowheads="1"/>
          </p:cNvSpPr>
          <p:nvPr/>
        </p:nvSpPr>
        <p:spPr bwMode="auto">
          <a:xfrm>
            <a:off x="6838944" y="3303284"/>
            <a:ext cx="223200" cy="245309"/>
          </a:xfrm>
          <a:prstGeom prst="rect">
            <a:avLst/>
          </a:prstGeom>
          <a:solidFill>
            <a:schemeClr val="accent6">
              <a:lumMod val="75000"/>
            </a:schemeClr>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000" dirty="0"/>
              <a:t>T</a:t>
            </a:r>
            <a:r>
              <a:rPr lang="en-US" altLang="zh-CN" sz="1000" baseline="-25000" dirty="0"/>
              <a:t>2</a:t>
            </a:r>
          </a:p>
        </p:txBody>
      </p:sp>
      <p:sp>
        <p:nvSpPr>
          <p:cNvPr id="154" name="Rectangle 46">
            <a:extLst>
              <a:ext uri="{FF2B5EF4-FFF2-40B4-BE49-F238E27FC236}">
                <a16:creationId xmlns:a16="http://schemas.microsoft.com/office/drawing/2014/main" id="{63D984D4-27ED-2926-1DCC-B6DA6B73F59E}"/>
              </a:ext>
            </a:extLst>
          </p:cNvPr>
          <p:cNvSpPr>
            <a:spLocks noChangeArrowheads="1"/>
          </p:cNvSpPr>
          <p:nvPr/>
        </p:nvSpPr>
        <p:spPr bwMode="auto">
          <a:xfrm>
            <a:off x="5722944" y="3304108"/>
            <a:ext cx="223200" cy="244800"/>
          </a:xfrm>
          <a:prstGeom prst="rect">
            <a:avLst/>
          </a:prstGeom>
          <a:solidFill>
            <a:srgbClr val="00B0F0"/>
          </a:solidFill>
          <a:ln w="9525">
            <a:solidFill>
              <a:schemeClr val="tx1"/>
            </a:solidFill>
            <a:miter lim="800000"/>
          </a:ln>
          <a:effectLst/>
        </p:spPr>
        <p:txBody>
          <a:bodyPr wrap="none" anchor="ctr"/>
          <a:lstStyle/>
          <a:p>
            <a:pPr algn="ctr"/>
            <a:r>
              <a:rPr lang="en-US" altLang="zh-CN" sz="1000" dirty="0"/>
              <a:t>H</a:t>
            </a:r>
            <a:r>
              <a:rPr lang="en-US" altLang="zh-CN" sz="1000" baseline="-25000" dirty="0"/>
              <a:t>3</a:t>
            </a:r>
          </a:p>
        </p:txBody>
      </p:sp>
      <p:sp>
        <p:nvSpPr>
          <p:cNvPr id="156" name="Rectangle 47">
            <a:extLst>
              <a:ext uri="{FF2B5EF4-FFF2-40B4-BE49-F238E27FC236}">
                <a16:creationId xmlns:a16="http://schemas.microsoft.com/office/drawing/2014/main" id="{9D4BDAF9-36A9-1ED5-63C6-737D8F12CCC2}"/>
              </a:ext>
            </a:extLst>
          </p:cNvPr>
          <p:cNvSpPr>
            <a:spLocks noChangeArrowheads="1"/>
          </p:cNvSpPr>
          <p:nvPr/>
        </p:nvSpPr>
        <p:spPr bwMode="auto">
          <a:xfrm>
            <a:off x="5946144" y="3304108"/>
            <a:ext cx="223200" cy="244800"/>
          </a:xfrm>
          <a:prstGeom prst="rect">
            <a:avLst/>
          </a:prstGeom>
          <a:solidFill>
            <a:srgbClr val="FFC000"/>
          </a:solidFill>
          <a:ln w="9525">
            <a:solidFill>
              <a:schemeClr val="tx1"/>
            </a:solidFill>
            <a:miter lim="800000"/>
          </a:ln>
          <a:effectLst/>
        </p:spPr>
        <p:txBody>
          <a:bodyPr wrap="none" anchor="ctr"/>
          <a:lstStyle/>
          <a:p>
            <a:pPr algn="ctr"/>
            <a:r>
              <a:rPr lang="en-US" altLang="zh-CN" sz="1000"/>
              <a:t>H</a:t>
            </a:r>
            <a:r>
              <a:rPr lang="en-US" altLang="zh-CN" sz="1000" baseline="-25000"/>
              <a:t>4</a:t>
            </a:r>
          </a:p>
        </p:txBody>
      </p:sp>
      <p:sp>
        <p:nvSpPr>
          <p:cNvPr id="158" name="Rectangle 48">
            <a:extLst>
              <a:ext uri="{FF2B5EF4-FFF2-40B4-BE49-F238E27FC236}">
                <a16:creationId xmlns:a16="http://schemas.microsoft.com/office/drawing/2014/main" id="{72746093-992A-6041-93AE-DA0C943908C8}"/>
              </a:ext>
            </a:extLst>
          </p:cNvPr>
          <p:cNvSpPr>
            <a:spLocks noChangeArrowheads="1"/>
          </p:cNvSpPr>
          <p:nvPr/>
        </p:nvSpPr>
        <p:spPr bwMode="auto">
          <a:xfrm>
            <a:off x="6169344" y="3304108"/>
            <a:ext cx="223200" cy="244800"/>
          </a:xfrm>
          <a:prstGeom prst="rect">
            <a:avLst/>
          </a:prstGeom>
          <a:solidFill>
            <a:schemeClr val="accent2"/>
          </a:solidFill>
          <a:ln w="9525">
            <a:solidFill>
              <a:schemeClr val="tx1"/>
            </a:solidFill>
            <a:miter lim="800000"/>
          </a:ln>
          <a:effectLst/>
        </p:spPr>
        <p:txBody>
          <a:bodyPr wrap="none" anchor="ctr"/>
          <a:lstStyle/>
          <a:p>
            <a:pPr algn="ctr"/>
            <a:r>
              <a:rPr lang="en-US" altLang="zh-CN" sz="1000" dirty="0"/>
              <a:t>H</a:t>
            </a:r>
            <a:r>
              <a:rPr lang="en-US" altLang="zh-CN" sz="1000" baseline="-25000" dirty="0"/>
              <a:t>5</a:t>
            </a:r>
          </a:p>
        </p:txBody>
      </p:sp>
      <p:sp>
        <p:nvSpPr>
          <p:cNvPr id="160" name="Rectangle 49">
            <a:extLst>
              <a:ext uri="{FF2B5EF4-FFF2-40B4-BE49-F238E27FC236}">
                <a16:creationId xmlns:a16="http://schemas.microsoft.com/office/drawing/2014/main" id="{4DB4883A-B864-8D7E-09CD-7CFC5B2D0493}"/>
              </a:ext>
            </a:extLst>
          </p:cNvPr>
          <p:cNvSpPr>
            <a:spLocks noChangeArrowheads="1"/>
          </p:cNvSpPr>
          <p:nvPr/>
        </p:nvSpPr>
        <p:spPr bwMode="auto">
          <a:xfrm>
            <a:off x="6392544" y="3304109"/>
            <a:ext cx="446400" cy="244800"/>
          </a:xfrm>
          <a:prstGeom prst="rect">
            <a:avLst/>
          </a:prstGeom>
          <a:solidFill>
            <a:schemeClr val="bg1"/>
          </a:solidFill>
          <a:ln w="9525">
            <a:solidFill>
              <a:schemeClr val="tx1"/>
            </a:solidFill>
            <a:miter lim="800000"/>
          </a:ln>
        </p:spPr>
        <p:txBody>
          <a:bodyPr wrap="none" anchor="ctr"/>
          <a:lstStyle/>
          <a:p>
            <a:pPr algn="ctr"/>
            <a:r>
              <a:rPr lang="zh-CN" altLang="en-US" sz="1000" dirty="0"/>
              <a:t>数 据</a:t>
            </a:r>
          </a:p>
        </p:txBody>
      </p:sp>
      <p:sp>
        <p:nvSpPr>
          <p:cNvPr id="162" name="Rectangle 35">
            <a:extLst>
              <a:ext uri="{FF2B5EF4-FFF2-40B4-BE49-F238E27FC236}">
                <a16:creationId xmlns:a16="http://schemas.microsoft.com/office/drawing/2014/main" id="{DC4276F8-5E0B-66D9-23C7-652CEA99671E}"/>
              </a:ext>
            </a:extLst>
          </p:cNvPr>
          <p:cNvSpPr>
            <a:spLocks noChangeArrowheads="1"/>
          </p:cNvSpPr>
          <p:nvPr/>
        </p:nvSpPr>
        <p:spPr bwMode="auto">
          <a:xfrm>
            <a:off x="5489148" y="3671598"/>
            <a:ext cx="1598222" cy="244475"/>
          </a:xfrm>
          <a:prstGeom prst="rect">
            <a:avLst/>
          </a:prstGeom>
          <a:ln w="9525">
            <a:solidFill>
              <a:schemeClr val="tx1"/>
            </a:solidFill>
            <a:miter lim="800000"/>
          </a:ln>
        </p:spPr>
        <p:txBody>
          <a:bodyPr wrap="none" anchor="ctr"/>
          <a:lstStyle/>
          <a:p>
            <a:pPr algn="ctr"/>
            <a:r>
              <a:rPr lang="en-US" altLang="zh-CN" sz="1000" dirty="0">
                <a:solidFill>
                  <a:srgbClr val="FF0000"/>
                </a:solidFill>
                <a:latin typeface="+mj-lt"/>
                <a:ea typeface="+mj-ea"/>
              </a:rPr>
              <a:t>10101 </a:t>
            </a:r>
            <a:r>
              <a:rPr lang="zh-CN" altLang="en-US" sz="1000" dirty="0">
                <a:solidFill>
                  <a:srgbClr val="FF0000"/>
                </a:solidFill>
                <a:latin typeface="+mj-lt"/>
                <a:ea typeface="+mj-ea"/>
              </a:rPr>
              <a:t>比特</a:t>
            </a:r>
            <a:r>
              <a:rPr lang="zh-CN" altLang="en-US" sz="1000">
                <a:solidFill>
                  <a:srgbClr val="FF0000"/>
                </a:solidFill>
                <a:latin typeface="+mj-lt"/>
                <a:ea typeface="+mj-ea"/>
              </a:rPr>
              <a:t>流 </a:t>
            </a:r>
            <a:r>
              <a:rPr lang="en-US" altLang="zh-CN" sz="1000" dirty="0">
                <a:solidFill>
                  <a:srgbClr val="FF0000"/>
                </a:solidFill>
                <a:latin typeface="+mj-lt"/>
                <a:ea typeface="+mj-ea"/>
              </a:rPr>
              <a:t>110111</a:t>
            </a:r>
          </a:p>
        </p:txBody>
      </p:sp>
      <p:sp>
        <p:nvSpPr>
          <p:cNvPr id="164" name="Rectangle 42">
            <a:extLst>
              <a:ext uri="{FF2B5EF4-FFF2-40B4-BE49-F238E27FC236}">
                <a16:creationId xmlns:a16="http://schemas.microsoft.com/office/drawing/2014/main" id="{D632D218-F716-FF8A-B622-348E6B1F7D9B}"/>
              </a:ext>
            </a:extLst>
          </p:cNvPr>
          <p:cNvSpPr>
            <a:spLocks noChangeArrowheads="1"/>
          </p:cNvSpPr>
          <p:nvPr/>
        </p:nvSpPr>
        <p:spPr bwMode="auto">
          <a:xfrm>
            <a:off x="5946144" y="2932543"/>
            <a:ext cx="223200" cy="244800"/>
          </a:xfrm>
          <a:prstGeom prst="rect">
            <a:avLst/>
          </a:prstGeom>
          <a:solidFill>
            <a:srgbClr val="FFC000"/>
          </a:solidFill>
          <a:ln w="9525">
            <a:solidFill>
              <a:schemeClr val="tx1"/>
            </a:solidFill>
            <a:miter lim="800000"/>
          </a:ln>
          <a:effectLst/>
        </p:spPr>
        <p:txBody>
          <a:bodyPr wrap="none" anchor="ctr"/>
          <a:lstStyle/>
          <a:p>
            <a:pPr algn="ctr"/>
            <a:r>
              <a:rPr lang="en-US" altLang="zh-CN" sz="1000" dirty="0"/>
              <a:t>H</a:t>
            </a:r>
            <a:r>
              <a:rPr lang="en-US" altLang="zh-CN" sz="1000" baseline="-25000" dirty="0"/>
              <a:t>4</a:t>
            </a:r>
          </a:p>
        </p:txBody>
      </p:sp>
      <p:sp>
        <p:nvSpPr>
          <p:cNvPr id="166" name="Rectangle 43">
            <a:extLst>
              <a:ext uri="{FF2B5EF4-FFF2-40B4-BE49-F238E27FC236}">
                <a16:creationId xmlns:a16="http://schemas.microsoft.com/office/drawing/2014/main" id="{668F20E1-0A5C-296F-1F10-60730DCF8821}"/>
              </a:ext>
            </a:extLst>
          </p:cNvPr>
          <p:cNvSpPr>
            <a:spLocks noChangeArrowheads="1"/>
          </p:cNvSpPr>
          <p:nvPr/>
        </p:nvSpPr>
        <p:spPr bwMode="auto">
          <a:xfrm>
            <a:off x="6169344" y="2932543"/>
            <a:ext cx="223200" cy="244800"/>
          </a:xfrm>
          <a:prstGeom prst="rect">
            <a:avLst/>
          </a:prstGeom>
          <a:solidFill>
            <a:schemeClr val="accent2"/>
          </a:solidFill>
          <a:ln w="9525">
            <a:solidFill>
              <a:schemeClr val="tx1"/>
            </a:solidFill>
            <a:miter lim="800000"/>
          </a:ln>
          <a:effectLst/>
        </p:spPr>
        <p:txBody>
          <a:bodyPr wrap="none" anchor="ctr"/>
          <a:lstStyle/>
          <a:p>
            <a:pPr algn="ctr"/>
            <a:r>
              <a:rPr lang="en-US" altLang="zh-CN" sz="1000" dirty="0"/>
              <a:t>H</a:t>
            </a:r>
            <a:r>
              <a:rPr lang="en-US" altLang="zh-CN" sz="1000" baseline="-25000" dirty="0"/>
              <a:t>5</a:t>
            </a:r>
          </a:p>
        </p:txBody>
      </p:sp>
      <p:sp>
        <p:nvSpPr>
          <p:cNvPr id="168" name="Rectangle 44">
            <a:extLst>
              <a:ext uri="{FF2B5EF4-FFF2-40B4-BE49-F238E27FC236}">
                <a16:creationId xmlns:a16="http://schemas.microsoft.com/office/drawing/2014/main" id="{067F1984-4DCE-9579-329E-D30A5D901001}"/>
              </a:ext>
            </a:extLst>
          </p:cNvPr>
          <p:cNvSpPr>
            <a:spLocks noChangeArrowheads="1"/>
          </p:cNvSpPr>
          <p:nvPr/>
        </p:nvSpPr>
        <p:spPr bwMode="auto">
          <a:xfrm>
            <a:off x="6392544" y="2932543"/>
            <a:ext cx="446400" cy="244800"/>
          </a:xfrm>
          <a:prstGeom prst="rect">
            <a:avLst/>
          </a:prstGeom>
          <a:solidFill>
            <a:schemeClr val="bg1"/>
          </a:solidFill>
          <a:ln w="9525">
            <a:solidFill>
              <a:schemeClr val="tx1"/>
            </a:solidFill>
            <a:miter lim="800000"/>
          </a:ln>
        </p:spPr>
        <p:txBody>
          <a:bodyPr wrap="none" anchor="ctr"/>
          <a:lstStyle/>
          <a:p>
            <a:pPr algn="ctr"/>
            <a:r>
              <a:rPr lang="zh-CN" altLang="en-US" sz="1000" dirty="0"/>
              <a:t>数 据</a:t>
            </a:r>
          </a:p>
        </p:txBody>
      </p:sp>
      <p:sp>
        <p:nvSpPr>
          <p:cNvPr id="170" name="Rectangle 70">
            <a:extLst>
              <a:ext uri="{FF2B5EF4-FFF2-40B4-BE49-F238E27FC236}">
                <a16:creationId xmlns:a16="http://schemas.microsoft.com/office/drawing/2014/main" id="{5A2BF8DB-3993-FDB8-C016-85905E8D07AC}"/>
              </a:ext>
            </a:extLst>
          </p:cNvPr>
          <p:cNvSpPr>
            <a:spLocks noChangeArrowheads="1"/>
          </p:cNvSpPr>
          <p:nvPr/>
        </p:nvSpPr>
        <p:spPr bwMode="auto">
          <a:xfrm>
            <a:off x="5722944" y="2932543"/>
            <a:ext cx="223200" cy="244800"/>
          </a:xfrm>
          <a:prstGeom prst="rect">
            <a:avLst/>
          </a:prstGeom>
          <a:solidFill>
            <a:srgbClr val="00B0F0"/>
          </a:solidFill>
          <a:ln w="9525">
            <a:solidFill>
              <a:schemeClr val="tx1"/>
            </a:solidFill>
            <a:miter lim="800000"/>
          </a:ln>
          <a:effectLst/>
        </p:spPr>
        <p:txBody>
          <a:bodyPr wrap="none" anchor="ctr"/>
          <a:lstStyle/>
          <a:p>
            <a:pPr algn="ctr"/>
            <a:r>
              <a:rPr lang="en-US" altLang="zh-CN" sz="1000" dirty="0"/>
              <a:t>H</a:t>
            </a:r>
            <a:r>
              <a:rPr lang="en-US" altLang="zh-CN" sz="1000" baseline="-25000" dirty="0"/>
              <a:t>3</a:t>
            </a:r>
          </a:p>
        </p:txBody>
      </p:sp>
      <p:sp>
        <p:nvSpPr>
          <p:cNvPr id="197" name="Rectangle 42">
            <a:extLst>
              <a:ext uri="{FF2B5EF4-FFF2-40B4-BE49-F238E27FC236}">
                <a16:creationId xmlns:a16="http://schemas.microsoft.com/office/drawing/2014/main" id="{3771D601-9169-668A-9F70-98E7185559F7}"/>
              </a:ext>
            </a:extLst>
          </p:cNvPr>
          <p:cNvSpPr>
            <a:spLocks noChangeArrowheads="1"/>
          </p:cNvSpPr>
          <p:nvPr/>
        </p:nvSpPr>
        <p:spPr bwMode="auto">
          <a:xfrm>
            <a:off x="2515214" y="2932543"/>
            <a:ext cx="223200" cy="244800"/>
          </a:xfrm>
          <a:prstGeom prst="rect">
            <a:avLst/>
          </a:prstGeom>
          <a:solidFill>
            <a:srgbClr val="FFC000"/>
          </a:solidFill>
          <a:ln w="9525">
            <a:solidFill>
              <a:schemeClr val="tx1"/>
            </a:solidFill>
            <a:miter lim="800000"/>
          </a:ln>
          <a:effectLst/>
        </p:spPr>
        <p:txBody>
          <a:bodyPr wrap="none" anchor="ctr"/>
          <a:lstStyle/>
          <a:p>
            <a:pPr algn="ctr"/>
            <a:r>
              <a:rPr lang="en-US" altLang="zh-CN" sz="1000" dirty="0"/>
              <a:t>H</a:t>
            </a:r>
            <a:r>
              <a:rPr lang="en-US" altLang="zh-CN" sz="1000" baseline="-25000" dirty="0"/>
              <a:t>4</a:t>
            </a:r>
          </a:p>
        </p:txBody>
      </p:sp>
      <p:sp>
        <p:nvSpPr>
          <p:cNvPr id="199" name="Rectangle 43">
            <a:extLst>
              <a:ext uri="{FF2B5EF4-FFF2-40B4-BE49-F238E27FC236}">
                <a16:creationId xmlns:a16="http://schemas.microsoft.com/office/drawing/2014/main" id="{1072F5ED-15D1-3778-0629-B3771ED2E553}"/>
              </a:ext>
            </a:extLst>
          </p:cNvPr>
          <p:cNvSpPr>
            <a:spLocks noChangeArrowheads="1"/>
          </p:cNvSpPr>
          <p:nvPr/>
        </p:nvSpPr>
        <p:spPr bwMode="auto">
          <a:xfrm>
            <a:off x="2738414" y="2932543"/>
            <a:ext cx="223200" cy="244800"/>
          </a:xfrm>
          <a:prstGeom prst="rect">
            <a:avLst/>
          </a:prstGeom>
          <a:solidFill>
            <a:schemeClr val="accent2"/>
          </a:solidFill>
          <a:ln w="9525">
            <a:solidFill>
              <a:schemeClr val="tx1"/>
            </a:solidFill>
            <a:miter lim="800000"/>
          </a:ln>
          <a:effectLst/>
        </p:spPr>
        <p:txBody>
          <a:bodyPr wrap="none" anchor="ctr"/>
          <a:lstStyle/>
          <a:p>
            <a:pPr algn="ctr"/>
            <a:r>
              <a:rPr lang="en-US" altLang="zh-CN" sz="1000" dirty="0"/>
              <a:t>H</a:t>
            </a:r>
            <a:r>
              <a:rPr lang="en-US" altLang="zh-CN" sz="1000" baseline="-25000" dirty="0"/>
              <a:t>5</a:t>
            </a:r>
          </a:p>
        </p:txBody>
      </p:sp>
      <p:sp>
        <p:nvSpPr>
          <p:cNvPr id="201" name="Rectangle 44">
            <a:extLst>
              <a:ext uri="{FF2B5EF4-FFF2-40B4-BE49-F238E27FC236}">
                <a16:creationId xmlns:a16="http://schemas.microsoft.com/office/drawing/2014/main" id="{AFE43001-F0DE-FBD4-C9AB-F3BA98F559C6}"/>
              </a:ext>
            </a:extLst>
          </p:cNvPr>
          <p:cNvSpPr>
            <a:spLocks noChangeArrowheads="1"/>
          </p:cNvSpPr>
          <p:nvPr/>
        </p:nvSpPr>
        <p:spPr bwMode="auto">
          <a:xfrm>
            <a:off x="2961614" y="2932543"/>
            <a:ext cx="482400" cy="244800"/>
          </a:xfrm>
          <a:prstGeom prst="rect">
            <a:avLst/>
          </a:prstGeom>
          <a:solidFill>
            <a:schemeClr val="bg1"/>
          </a:solidFill>
          <a:ln w="9525">
            <a:solidFill>
              <a:schemeClr val="tx1"/>
            </a:solidFill>
            <a:miter lim="800000"/>
          </a:ln>
        </p:spPr>
        <p:txBody>
          <a:bodyPr wrap="none" anchor="ctr"/>
          <a:lstStyle/>
          <a:p>
            <a:pPr algn="ctr"/>
            <a:r>
              <a:rPr lang="zh-CN" altLang="en-US" sz="1000" dirty="0"/>
              <a:t>数 据</a:t>
            </a:r>
          </a:p>
        </p:txBody>
      </p:sp>
      <p:sp>
        <p:nvSpPr>
          <p:cNvPr id="203" name="Rectangle 70">
            <a:extLst>
              <a:ext uri="{FF2B5EF4-FFF2-40B4-BE49-F238E27FC236}">
                <a16:creationId xmlns:a16="http://schemas.microsoft.com/office/drawing/2014/main" id="{8FAD6074-E591-9993-B185-172B13FCC703}"/>
              </a:ext>
            </a:extLst>
          </p:cNvPr>
          <p:cNvSpPr>
            <a:spLocks noChangeArrowheads="1"/>
          </p:cNvSpPr>
          <p:nvPr/>
        </p:nvSpPr>
        <p:spPr bwMode="auto">
          <a:xfrm>
            <a:off x="2292014" y="2932543"/>
            <a:ext cx="223200" cy="244800"/>
          </a:xfrm>
          <a:prstGeom prst="rect">
            <a:avLst/>
          </a:prstGeom>
          <a:solidFill>
            <a:srgbClr val="00B0F0"/>
          </a:solidFill>
          <a:ln w="9525">
            <a:solidFill>
              <a:schemeClr val="tx1"/>
            </a:solidFill>
            <a:miter lim="800000"/>
          </a:ln>
          <a:effectLst/>
        </p:spPr>
        <p:txBody>
          <a:bodyPr wrap="none" anchor="ctr"/>
          <a:lstStyle/>
          <a:p>
            <a:pPr algn="ctr"/>
            <a:r>
              <a:rPr lang="en-US" altLang="zh-CN" sz="1000" dirty="0"/>
              <a:t>H</a:t>
            </a:r>
            <a:r>
              <a:rPr lang="en-US" altLang="zh-CN" sz="1000" baseline="-25000" dirty="0"/>
              <a:t>3</a:t>
            </a:r>
          </a:p>
        </p:txBody>
      </p:sp>
      <p:sp>
        <p:nvSpPr>
          <p:cNvPr id="205" name="Rectangle 46">
            <a:extLst>
              <a:ext uri="{FF2B5EF4-FFF2-40B4-BE49-F238E27FC236}">
                <a16:creationId xmlns:a16="http://schemas.microsoft.com/office/drawing/2014/main" id="{3B683876-E3C6-3FE8-01C4-EEE8FCCBA0D5}"/>
              </a:ext>
            </a:extLst>
          </p:cNvPr>
          <p:cNvSpPr>
            <a:spLocks noChangeArrowheads="1"/>
          </p:cNvSpPr>
          <p:nvPr/>
        </p:nvSpPr>
        <p:spPr bwMode="auto">
          <a:xfrm>
            <a:off x="2292014" y="3303460"/>
            <a:ext cx="223200" cy="244800"/>
          </a:xfrm>
          <a:prstGeom prst="rect">
            <a:avLst/>
          </a:prstGeom>
          <a:solidFill>
            <a:srgbClr val="00B0F0"/>
          </a:solidFill>
          <a:ln w="9525">
            <a:solidFill>
              <a:schemeClr val="tx1"/>
            </a:solidFill>
            <a:miter lim="800000"/>
          </a:ln>
          <a:effectLst/>
        </p:spPr>
        <p:txBody>
          <a:bodyPr wrap="none" anchor="ctr"/>
          <a:lstStyle/>
          <a:p>
            <a:pPr algn="ctr"/>
            <a:r>
              <a:rPr lang="en-US" altLang="zh-CN" sz="1000" dirty="0"/>
              <a:t>H</a:t>
            </a:r>
            <a:r>
              <a:rPr lang="en-US" altLang="zh-CN" sz="1000" baseline="-25000" dirty="0"/>
              <a:t>3</a:t>
            </a:r>
          </a:p>
        </p:txBody>
      </p:sp>
      <p:sp>
        <p:nvSpPr>
          <p:cNvPr id="207" name="Rectangle 47">
            <a:extLst>
              <a:ext uri="{FF2B5EF4-FFF2-40B4-BE49-F238E27FC236}">
                <a16:creationId xmlns:a16="http://schemas.microsoft.com/office/drawing/2014/main" id="{6F42C237-79F3-95CD-C8E7-CEE04E2A6B8E}"/>
              </a:ext>
            </a:extLst>
          </p:cNvPr>
          <p:cNvSpPr>
            <a:spLocks noChangeArrowheads="1"/>
          </p:cNvSpPr>
          <p:nvPr/>
        </p:nvSpPr>
        <p:spPr bwMode="auto">
          <a:xfrm>
            <a:off x="2515214" y="3303460"/>
            <a:ext cx="223200" cy="244800"/>
          </a:xfrm>
          <a:prstGeom prst="rect">
            <a:avLst/>
          </a:prstGeom>
          <a:solidFill>
            <a:srgbClr val="FFC000"/>
          </a:solidFill>
          <a:ln w="9525">
            <a:solidFill>
              <a:schemeClr val="tx1"/>
            </a:solidFill>
            <a:miter lim="800000"/>
          </a:ln>
          <a:effectLst/>
        </p:spPr>
        <p:txBody>
          <a:bodyPr wrap="none" anchor="ctr"/>
          <a:lstStyle/>
          <a:p>
            <a:pPr algn="ctr"/>
            <a:r>
              <a:rPr lang="en-US" altLang="zh-CN" sz="1000"/>
              <a:t>H</a:t>
            </a:r>
            <a:r>
              <a:rPr lang="en-US" altLang="zh-CN" sz="1000" baseline="-25000"/>
              <a:t>4</a:t>
            </a:r>
          </a:p>
        </p:txBody>
      </p:sp>
      <p:sp>
        <p:nvSpPr>
          <p:cNvPr id="209" name="Rectangle 48">
            <a:extLst>
              <a:ext uri="{FF2B5EF4-FFF2-40B4-BE49-F238E27FC236}">
                <a16:creationId xmlns:a16="http://schemas.microsoft.com/office/drawing/2014/main" id="{93E83EE3-0B87-E36F-7114-6BEF106C92E2}"/>
              </a:ext>
            </a:extLst>
          </p:cNvPr>
          <p:cNvSpPr>
            <a:spLocks noChangeArrowheads="1"/>
          </p:cNvSpPr>
          <p:nvPr/>
        </p:nvSpPr>
        <p:spPr bwMode="auto">
          <a:xfrm>
            <a:off x="2738414" y="3303460"/>
            <a:ext cx="223200" cy="244800"/>
          </a:xfrm>
          <a:prstGeom prst="rect">
            <a:avLst/>
          </a:prstGeom>
          <a:solidFill>
            <a:schemeClr val="accent2"/>
          </a:solidFill>
          <a:ln w="9525">
            <a:solidFill>
              <a:schemeClr val="tx1"/>
            </a:solidFill>
            <a:miter lim="800000"/>
          </a:ln>
          <a:effectLst/>
        </p:spPr>
        <p:txBody>
          <a:bodyPr wrap="none" anchor="ctr"/>
          <a:lstStyle/>
          <a:p>
            <a:pPr algn="ctr"/>
            <a:r>
              <a:rPr lang="en-US" altLang="zh-CN" sz="1000" dirty="0"/>
              <a:t>H</a:t>
            </a:r>
            <a:r>
              <a:rPr lang="en-US" altLang="zh-CN" sz="1000" baseline="-25000" dirty="0"/>
              <a:t>5</a:t>
            </a:r>
          </a:p>
        </p:txBody>
      </p:sp>
      <p:sp>
        <p:nvSpPr>
          <p:cNvPr id="211" name="Rectangle 49">
            <a:extLst>
              <a:ext uri="{FF2B5EF4-FFF2-40B4-BE49-F238E27FC236}">
                <a16:creationId xmlns:a16="http://schemas.microsoft.com/office/drawing/2014/main" id="{563EA0F5-8C8E-AB63-BEBA-55A0B58A8112}"/>
              </a:ext>
            </a:extLst>
          </p:cNvPr>
          <p:cNvSpPr>
            <a:spLocks noChangeArrowheads="1"/>
          </p:cNvSpPr>
          <p:nvPr/>
        </p:nvSpPr>
        <p:spPr bwMode="auto">
          <a:xfrm>
            <a:off x="2961614" y="3303460"/>
            <a:ext cx="482400" cy="244800"/>
          </a:xfrm>
          <a:prstGeom prst="rect">
            <a:avLst/>
          </a:prstGeom>
          <a:solidFill>
            <a:schemeClr val="bg1"/>
          </a:solidFill>
          <a:ln w="9525">
            <a:solidFill>
              <a:schemeClr val="tx1"/>
            </a:solidFill>
            <a:miter lim="800000"/>
          </a:ln>
        </p:spPr>
        <p:txBody>
          <a:bodyPr wrap="none" anchor="ctr"/>
          <a:lstStyle/>
          <a:p>
            <a:pPr algn="ctr"/>
            <a:r>
              <a:rPr lang="zh-CN" altLang="en-US" sz="1000" dirty="0"/>
              <a:t>数 据</a:t>
            </a:r>
          </a:p>
        </p:txBody>
      </p:sp>
      <p:sp>
        <p:nvSpPr>
          <p:cNvPr id="213" name="Rectangle 74">
            <a:extLst>
              <a:ext uri="{FF2B5EF4-FFF2-40B4-BE49-F238E27FC236}">
                <a16:creationId xmlns:a16="http://schemas.microsoft.com/office/drawing/2014/main" id="{EB13DCF1-8A4A-4615-772E-927AE75BF42D}"/>
              </a:ext>
            </a:extLst>
          </p:cNvPr>
          <p:cNvSpPr>
            <a:spLocks noChangeArrowheads="1"/>
          </p:cNvSpPr>
          <p:nvPr/>
        </p:nvSpPr>
        <p:spPr bwMode="auto">
          <a:xfrm>
            <a:off x="2068814" y="3303460"/>
            <a:ext cx="223200" cy="244800"/>
          </a:xfrm>
          <a:prstGeom prst="rect">
            <a:avLst/>
          </a:prstGeom>
          <a:solidFill>
            <a:srgbClr val="00B050"/>
          </a:solidFill>
          <a:ln w="9525">
            <a:solidFill>
              <a:schemeClr val="tx1"/>
            </a:solidFill>
            <a:miter lim="800000"/>
          </a:ln>
          <a:effectLst/>
        </p:spPr>
        <p:txBody>
          <a:bodyPr wrap="none" anchor="ctr"/>
          <a:lstStyle/>
          <a:p>
            <a:pPr algn="ctr"/>
            <a:r>
              <a:rPr lang="en-US" altLang="zh-CN" sz="1000" dirty="0"/>
              <a:t>H</a:t>
            </a:r>
            <a:r>
              <a:rPr lang="en-US" altLang="zh-CN" sz="1000" baseline="-25000" dirty="0"/>
              <a:t>2</a:t>
            </a:r>
          </a:p>
        </p:txBody>
      </p:sp>
      <p:sp>
        <p:nvSpPr>
          <p:cNvPr id="215" name="Rectangle 78">
            <a:extLst>
              <a:ext uri="{FF2B5EF4-FFF2-40B4-BE49-F238E27FC236}">
                <a16:creationId xmlns:a16="http://schemas.microsoft.com/office/drawing/2014/main" id="{7E98E2B4-DE51-CBC6-72E5-3554C8DEFE90}"/>
              </a:ext>
            </a:extLst>
          </p:cNvPr>
          <p:cNvSpPr>
            <a:spLocks noChangeArrowheads="1"/>
          </p:cNvSpPr>
          <p:nvPr/>
        </p:nvSpPr>
        <p:spPr bwMode="auto">
          <a:xfrm>
            <a:off x="3444013" y="3303206"/>
            <a:ext cx="223200" cy="245309"/>
          </a:xfrm>
          <a:prstGeom prst="rect">
            <a:avLst/>
          </a:prstGeom>
          <a:solidFill>
            <a:srgbClr val="00B050"/>
          </a:solidFill>
          <a:ln w="9525">
            <a:solidFill>
              <a:schemeClr val="tx1"/>
            </a:solidFill>
            <a:miter lim="800000"/>
          </a:ln>
          <a:effectLst/>
        </p:spPr>
        <p:txBody>
          <a:bodyPr wrap="none" anchor="ctr"/>
          <a:lstStyle/>
          <a:p>
            <a:pPr algn="ctr"/>
            <a:r>
              <a:rPr lang="en-US" altLang="zh-CN" sz="1000" dirty="0"/>
              <a:t>T2</a:t>
            </a:r>
          </a:p>
        </p:txBody>
      </p:sp>
      <p:sp>
        <p:nvSpPr>
          <p:cNvPr id="217" name="Rectangle 35">
            <a:extLst>
              <a:ext uri="{FF2B5EF4-FFF2-40B4-BE49-F238E27FC236}">
                <a16:creationId xmlns:a16="http://schemas.microsoft.com/office/drawing/2014/main" id="{8429FA4F-1919-4052-51A7-892FEF60D461}"/>
              </a:ext>
            </a:extLst>
          </p:cNvPr>
          <p:cNvSpPr>
            <a:spLocks noChangeArrowheads="1"/>
          </p:cNvSpPr>
          <p:nvPr/>
        </p:nvSpPr>
        <p:spPr bwMode="auto">
          <a:xfrm>
            <a:off x="2068816" y="3671598"/>
            <a:ext cx="1598222" cy="244475"/>
          </a:xfrm>
          <a:prstGeom prst="rect">
            <a:avLst/>
          </a:prstGeom>
          <a:ln w="9525">
            <a:solidFill>
              <a:schemeClr val="tx1"/>
            </a:solidFill>
            <a:miter lim="800000"/>
          </a:ln>
        </p:spPr>
        <p:txBody>
          <a:bodyPr wrap="none" anchor="ctr"/>
          <a:lstStyle/>
          <a:p>
            <a:pPr algn="ctr"/>
            <a:r>
              <a:rPr lang="en-US" altLang="zh-CN" sz="1000" dirty="0">
                <a:solidFill>
                  <a:srgbClr val="FF0000"/>
                </a:solidFill>
                <a:latin typeface="+mj-lt"/>
                <a:ea typeface="+mj-ea"/>
              </a:rPr>
              <a:t>10100 </a:t>
            </a:r>
            <a:r>
              <a:rPr lang="zh-CN" altLang="en-US" sz="1000" dirty="0">
                <a:solidFill>
                  <a:srgbClr val="FF0000"/>
                </a:solidFill>
                <a:latin typeface="+mj-lt"/>
                <a:ea typeface="+mj-ea"/>
              </a:rPr>
              <a:t>比特流 </a:t>
            </a:r>
            <a:r>
              <a:rPr lang="en-US" altLang="zh-CN" sz="1000" dirty="0">
                <a:solidFill>
                  <a:srgbClr val="FF0000"/>
                </a:solidFill>
                <a:latin typeface="+mj-lt"/>
                <a:ea typeface="+mj-ea"/>
              </a:rPr>
              <a:t>110100</a:t>
            </a:r>
          </a:p>
        </p:txBody>
      </p:sp>
    </p:spTree>
    <p:extLst>
      <p:ext uri="{BB962C8B-B14F-4D97-AF65-F5344CB8AC3E}">
        <p14:creationId xmlns:p14="http://schemas.microsoft.com/office/powerpoint/2010/main" val="3787480503"/>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grpId="0" nodeType="afterEffect">
                                  <p:stCondLst>
                                    <p:cond delay="0"/>
                                  </p:stCondLst>
                                  <p:childTnLst>
                                    <p:set>
                                      <p:cBhvr>
                                        <p:cTn id="6" dur="1" fill="hold">
                                          <p:stCondLst>
                                            <p:cond delay="0"/>
                                          </p:stCondLst>
                                        </p:cTn>
                                        <p:tgtEl>
                                          <p:spTgt spid="124"/>
                                        </p:tgtEl>
                                        <p:attrNameLst>
                                          <p:attrName>style.visibility</p:attrName>
                                        </p:attrNameLst>
                                      </p:cBhvr>
                                      <p:to>
                                        <p:strVal val="visible"/>
                                      </p:to>
                                    </p:set>
                                    <p:animEffect transition="in" filter="wipe(up)">
                                      <p:cBhvr>
                                        <p:cTn id="7" dur="1000"/>
                                        <p:tgtEl>
                                          <p:spTgt spid="1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4" grpId="0" animBg="1"/>
    </p:bldLst>
  </p:timing>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5" name="AutoShape 4">
            <a:extLst>
              <a:ext uri="{FF2B5EF4-FFF2-40B4-BE49-F238E27FC236}">
                <a16:creationId xmlns:a16="http://schemas.microsoft.com/office/drawing/2014/main" id="{24BE8F10-C364-AF57-A092-3299E0535F87}"/>
              </a:ext>
            </a:extLst>
          </p:cNvPr>
          <p:cNvSpPr>
            <a:spLocks noChangeArrowheads="1"/>
          </p:cNvSpPr>
          <p:nvPr/>
        </p:nvSpPr>
        <p:spPr bwMode="auto">
          <a:xfrm rot="16200000">
            <a:off x="2567190" y="2361728"/>
            <a:ext cx="271463" cy="3600000"/>
          </a:xfrm>
          <a:prstGeom prst="can">
            <a:avLst>
              <a:gd name="adj" fmla="val 48656"/>
            </a:avLst>
          </a:prstGeom>
          <a:gradFill rotWithShape="0">
            <a:gsLst>
              <a:gs pos="0">
                <a:srgbClr val="00CC00"/>
              </a:gs>
              <a:gs pos="50000">
                <a:schemeClr val="bg1"/>
              </a:gs>
              <a:gs pos="100000">
                <a:srgbClr val="00CC00"/>
              </a:gs>
            </a:gsLst>
            <a:lin ang="5400000" scaled="1"/>
          </a:gradFill>
          <a:ln w="6350">
            <a:solidFill>
              <a:srgbClr val="7CE07C"/>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108" name="AutoShape 4">
            <a:extLst>
              <a:ext uri="{FF2B5EF4-FFF2-40B4-BE49-F238E27FC236}">
                <a16:creationId xmlns:a16="http://schemas.microsoft.com/office/drawing/2014/main" id="{D611378C-0B91-E5B0-9BF6-D8F8796B4980}"/>
              </a:ext>
            </a:extLst>
          </p:cNvPr>
          <p:cNvSpPr>
            <a:spLocks noChangeArrowheads="1"/>
          </p:cNvSpPr>
          <p:nvPr/>
        </p:nvSpPr>
        <p:spPr bwMode="auto">
          <a:xfrm rot="16200000">
            <a:off x="6253847" y="2361728"/>
            <a:ext cx="271463" cy="3600000"/>
          </a:xfrm>
          <a:prstGeom prst="can">
            <a:avLst>
              <a:gd name="adj" fmla="val 48656"/>
            </a:avLst>
          </a:prstGeom>
          <a:gradFill rotWithShape="0">
            <a:gsLst>
              <a:gs pos="0">
                <a:srgbClr val="00CC00"/>
              </a:gs>
              <a:gs pos="50000">
                <a:schemeClr val="bg1"/>
              </a:gs>
              <a:gs pos="100000">
                <a:srgbClr val="00CC00"/>
              </a:gs>
            </a:gsLst>
            <a:lin ang="5400000" scaled="1"/>
          </a:gradFill>
          <a:ln w="6350">
            <a:solidFill>
              <a:srgbClr val="7CE07C"/>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grpSp>
        <p:nvGrpSpPr>
          <p:cNvPr id="96" name="组合 95">
            <a:extLst>
              <a:ext uri="{FF2B5EF4-FFF2-40B4-BE49-F238E27FC236}">
                <a16:creationId xmlns:a16="http://schemas.microsoft.com/office/drawing/2014/main" id="{F6732983-C083-3B9F-F605-5B24704D17C1}"/>
              </a:ext>
            </a:extLst>
          </p:cNvPr>
          <p:cNvGrpSpPr/>
          <p:nvPr/>
        </p:nvGrpSpPr>
        <p:grpSpPr>
          <a:xfrm>
            <a:off x="3960000" y="2808000"/>
            <a:ext cx="1080000" cy="1080000"/>
            <a:chOff x="2807995" y="2745746"/>
            <a:chExt cx="1080000" cy="1080000"/>
          </a:xfrm>
        </p:grpSpPr>
        <p:sp>
          <p:nvSpPr>
            <p:cNvPr id="97" name="立方体 96">
              <a:extLst>
                <a:ext uri="{FF2B5EF4-FFF2-40B4-BE49-F238E27FC236}">
                  <a16:creationId xmlns:a16="http://schemas.microsoft.com/office/drawing/2014/main" id="{6CA0A899-3775-69B6-8998-114130178F78}"/>
                </a:ext>
              </a:extLst>
            </p:cNvPr>
            <p:cNvSpPr/>
            <p:nvPr/>
          </p:nvSpPr>
          <p:spPr>
            <a:xfrm>
              <a:off x="2807995" y="3393746"/>
              <a:ext cx="594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sz="1050" dirty="0">
                  <a:solidFill>
                    <a:schemeClr val="bg1"/>
                  </a:solidFill>
                </a:rPr>
                <a:t>1</a:t>
              </a:r>
              <a:endParaRPr lang="zh-CN" altLang="en-US" sz="1050" dirty="0">
                <a:solidFill>
                  <a:schemeClr val="bg1"/>
                </a:solidFill>
              </a:endParaRPr>
            </a:p>
          </p:txBody>
        </p:sp>
        <p:sp>
          <p:nvSpPr>
            <p:cNvPr id="98" name="立方体 97">
              <a:extLst>
                <a:ext uri="{FF2B5EF4-FFF2-40B4-BE49-F238E27FC236}">
                  <a16:creationId xmlns:a16="http://schemas.microsoft.com/office/drawing/2014/main" id="{FE6BA7B6-D0A8-6638-6444-2F404F9021BB}"/>
                </a:ext>
              </a:extLst>
            </p:cNvPr>
            <p:cNvSpPr/>
            <p:nvPr/>
          </p:nvSpPr>
          <p:spPr>
            <a:xfrm>
              <a:off x="2807995" y="3069746"/>
              <a:ext cx="594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sz="1050" dirty="0">
                  <a:solidFill>
                    <a:schemeClr val="bg1"/>
                  </a:solidFill>
                </a:rPr>
                <a:t>2</a:t>
              </a:r>
              <a:endParaRPr lang="zh-CN" altLang="en-US" sz="1050" dirty="0">
                <a:solidFill>
                  <a:schemeClr val="bg1"/>
                </a:solidFill>
              </a:endParaRPr>
            </a:p>
          </p:txBody>
        </p:sp>
        <p:sp>
          <p:nvSpPr>
            <p:cNvPr id="101" name="立方体 100">
              <a:extLst>
                <a:ext uri="{FF2B5EF4-FFF2-40B4-BE49-F238E27FC236}">
                  <a16:creationId xmlns:a16="http://schemas.microsoft.com/office/drawing/2014/main" id="{0C42617E-51FC-9D19-41DA-D39D12D1A5EF}"/>
                </a:ext>
              </a:extLst>
            </p:cNvPr>
            <p:cNvSpPr/>
            <p:nvPr/>
          </p:nvSpPr>
          <p:spPr>
            <a:xfrm>
              <a:off x="3293995" y="3393746"/>
              <a:ext cx="594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sz="1050" dirty="0">
                  <a:solidFill>
                    <a:schemeClr val="bg1"/>
                  </a:solidFill>
                </a:rPr>
                <a:t>1</a:t>
              </a:r>
              <a:endParaRPr lang="zh-CN" altLang="en-US" sz="1050" dirty="0">
                <a:solidFill>
                  <a:schemeClr val="bg1"/>
                </a:solidFill>
              </a:endParaRPr>
            </a:p>
          </p:txBody>
        </p:sp>
        <p:sp>
          <p:nvSpPr>
            <p:cNvPr id="102" name="立方体 101">
              <a:extLst>
                <a:ext uri="{FF2B5EF4-FFF2-40B4-BE49-F238E27FC236}">
                  <a16:creationId xmlns:a16="http://schemas.microsoft.com/office/drawing/2014/main" id="{C2502B08-F62F-390B-C7A8-7FC11A7E8AB6}"/>
                </a:ext>
              </a:extLst>
            </p:cNvPr>
            <p:cNvSpPr/>
            <p:nvPr/>
          </p:nvSpPr>
          <p:spPr>
            <a:xfrm>
              <a:off x="3293995" y="3069746"/>
              <a:ext cx="594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sz="1050" dirty="0">
                  <a:solidFill>
                    <a:schemeClr val="bg1"/>
                  </a:solidFill>
                </a:rPr>
                <a:t>2</a:t>
              </a:r>
              <a:endParaRPr lang="zh-CN" altLang="en-US" sz="1050" dirty="0">
                <a:solidFill>
                  <a:schemeClr val="bg1"/>
                </a:solidFill>
              </a:endParaRPr>
            </a:p>
          </p:txBody>
        </p:sp>
        <p:sp>
          <p:nvSpPr>
            <p:cNvPr id="103" name="立方体 102">
              <a:extLst>
                <a:ext uri="{FF2B5EF4-FFF2-40B4-BE49-F238E27FC236}">
                  <a16:creationId xmlns:a16="http://schemas.microsoft.com/office/drawing/2014/main" id="{28A1E7CD-CB1E-6E0B-88CC-632FA7C94E45}"/>
                </a:ext>
              </a:extLst>
            </p:cNvPr>
            <p:cNvSpPr/>
            <p:nvPr/>
          </p:nvSpPr>
          <p:spPr>
            <a:xfrm>
              <a:off x="2807995" y="2745746"/>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pPr algn="ctr"/>
              <a:r>
                <a:rPr lang="en-US" altLang="zh-CN" sz="1050" dirty="0">
                  <a:solidFill>
                    <a:schemeClr val="bg1"/>
                  </a:solidFill>
                </a:rPr>
                <a:t>3</a:t>
              </a:r>
              <a:endParaRPr lang="zh-CN" altLang="en-US" sz="1050" dirty="0">
                <a:solidFill>
                  <a:schemeClr val="bg1"/>
                </a:solidFill>
              </a:endParaRPr>
            </a:p>
          </p:txBody>
        </p:sp>
      </p:grpSp>
      <p:grpSp>
        <p:nvGrpSpPr>
          <p:cNvPr id="77" name="组合 76">
            <a:extLst>
              <a:ext uri="{FF2B5EF4-FFF2-40B4-BE49-F238E27FC236}">
                <a16:creationId xmlns:a16="http://schemas.microsoft.com/office/drawing/2014/main" id="{FA2E37A1-96F4-42CF-7849-BF3E34533040}"/>
              </a:ext>
            </a:extLst>
          </p:cNvPr>
          <p:cNvGrpSpPr/>
          <p:nvPr/>
        </p:nvGrpSpPr>
        <p:grpSpPr>
          <a:xfrm>
            <a:off x="7395732" y="1800000"/>
            <a:ext cx="1080000" cy="2088000"/>
            <a:chOff x="701211" y="1800000"/>
            <a:chExt cx="1080000" cy="2088000"/>
          </a:xfrm>
        </p:grpSpPr>
        <p:sp>
          <p:nvSpPr>
            <p:cNvPr id="78" name="立方体 77">
              <a:extLst>
                <a:ext uri="{FF2B5EF4-FFF2-40B4-BE49-F238E27FC236}">
                  <a16:creationId xmlns:a16="http://schemas.microsoft.com/office/drawing/2014/main" id="{61C79352-7457-5E7B-8D7A-1C25A9B6F0D4}"/>
                </a:ext>
              </a:extLst>
            </p:cNvPr>
            <p:cNvSpPr/>
            <p:nvPr/>
          </p:nvSpPr>
          <p:spPr>
            <a:xfrm>
              <a:off x="701211" y="3456000"/>
              <a:ext cx="108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050" dirty="0">
                  <a:solidFill>
                    <a:schemeClr val="bg1"/>
                  </a:solidFill>
                </a:rPr>
                <a:t>1 </a:t>
              </a:r>
              <a:r>
                <a:rPr lang="zh-CN" altLang="en-US" sz="1050" dirty="0">
                  <a:solidFill>
                    <a:schemeClr val="bg1"/>
                  </a:solidFill>
                </a:rPr>
                <a:t>物理层</a:t>
              </a:r>
            </a:p>
          </p:txBody>
        </p:sp>
        <p:sp>
          <p:nvSpPr>
            <p:cNvPr id="79" name="立方体 78">
              <a:extLst>
                <a:ext uri="{FF2B5EF4-FFF2-40B4-BE49-F238E27FC236}">
                  <a16:creationId xmlns:a16="http://schemas.microsoft.com/office/drawing/2014/main" id="{192D6CAE-5F44-FF80-0E32-B34A6FABE605}"/>
                </a:ext>
              </a:extLst>
            </p:cNvPr>
            <p:cNvSpPr/>
            <p:nvPr/>
          </p:nvSpPr>
          <p:spPr>
            <a:xfrm>
              <a:off x="701211" y="3132000"/>
              <a:ext cx="108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050" dirty="0">
                  <a:solidFill>
                    <a:schemeClr val="bg1"/>
                  </a:solidFill>
                </a:rPr>
                <a:t>2 </a:t>
              </a:r>
              <a:r>
                <a:rPr lang="zh-CN" altLang="en-US" sz="1050" dirty="0">
                  <a:solidFill>
                    <a:schemeClr val="bg1"/>
                  </a:solidFill>
                </a:rPr>
                <a:t>数据链路层</a:t>
              </a:r>
            </a:p>
          </p:txBody>
        </p:sp>
        <p:sp>
          <p:nvSpPr>
            <p:cNvPr id="80" name="立方体 79">
              <a:extLst>
                <a:ext uri="{FF2B5EF4-FFF2-40B4-BE49-F238E27FC236}">
                  <a16:creationId xmlns:a16="http://schemas.microsoft.com/office/drawing/2014/main" id="{7807AE27-B413-3988-EC11-7704E4E5252B}"/>
                </a:ext>
              </a:extLst>
            </p:cNvPr>
            <p:cNvSpPr/>
            <p:nvPr/>
          </p:nvSpPr>
          <p:spPr>
            <a:xfrm>
              <a:off x="701211" y="2808000"/>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050" dirty="0">
                  <a:solidFill>
                    <a:schemeClr val="bg1"/>
                  </a:solidFill>
                </a:rPr>
                <a:t>3 </a:t>
              </a:r>
              <a:r>
                <a:rPr lang="zh-CN" altLang="en-US" sz="1050" dirty="0">
                  <a:solidFill>
                    <a:schemeClr val="bg1"/>
                  </a:solidFill>
                </a:rPr>
                <a:t>网络层</a:t>
              </a:r>
            </a:p>
          </p:txBody>
        </p:sp>
        <p:sp>
          <p:nvSpPr>
            <p:cNvPr id="81" name="立方体 80">
              <a:extLst>
                <a:ext uri="{FF2B5EF4-FFF2-40B4-BE49-F238E27FC236}">
                  <a16:creationId xmlns:a16="http://schemas.microsoft.com/office/drawing/2014/main" id="{600ABF15-DB43-C86F-A7F9-67C3D73D892D}"/>
                </a:ext>
              </a:extLst>
            </p:cNvPr>
            <p:cNvSpPr/>
            <p:nvPr/>
          </p:nvSpPr>
          <p:spPr>
            <a:xfrm>
              <a:off x="701211" y="2484000"/>
              <a:ext cx="108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050" dirty="0">
                  <a:solidFill>
                    <a:schemeClr val="bg1"/>
                  </a:solidFill>
                </a:rPr>
                <a:t>4 </a:t>
              </a:r>
              <a:r>
                <a:rPr lang="zh-CN" altLang="en-US" sz="1050" dirty="0">
                  <a:solidFill>
                    <a:schemeClr val="bg1"/>
                  </a:solidFill>
                </a:rPr>
                <a:t>运输层</a:t>
              </a:r>
            </a:p>
          </p:txBody>
        </p:sp>
        <p:sp>
          <p:nvSpPr>
            <p:cNvPr id="83" name="立方体 82">
              <a:extLst>
                <a:ext uri="{FF2B5EF4-FFF2-40B4-BE49-F238E27FC236}">
                  <a16:creationId xmlns:a16="http://schemas.microsoft.com/office/drawing/2014/main" id="{BECE5F6D-F3E9-CAAC-98FD-48EB72AEF60E}"/>
                </a:ext>
              </a:extLst>
            </p:cNvPr>
            <p:cNvSpPr/>
            <p:nvPr/>
          </p:nvSpPr>
          <p:spPr>
            <a:xfrm>
              <a:off x="701211" y="2160000"/>
              <a:ext cx="108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050" dirty="0">
                  <a:solidFill>
                    <a:schemeClr val="bg1"/>
                  </a:solidFill>
                </a:rPr>
                <a:t>5 </a:t>
              </a:r>
              <a:r>
                <a:rPr lang="zh-CN" altLang="en-US" sz="1050" dirty="0">
                  <a:solidFill>
                    <a:schemeClr val="bg1"/>
                  </a:solidFill>
                </a:rPr>
                <a:t>应用层</a:t>
              </a:r>
            </a:p>
          </p:txBody>
        </p:sp>
        <p:sp>
          <p:nvSpPr>
            <p:cNvPr id="84" name="圆柱体 83">
              <a:extLst>
                <a:ext uri="{FF2B5EF4-FFF2-40B4-BE49-F238E27FC236}">
                  <a16:creationId xmlns:a16="http://schemas.microsoft.com/office/drawing/2014/main" id="{3BC29728-17F5-2413-A840-2ABAE0E14F05}"/>
                </a:ext>
              </a:extLst>
            </p:cNvPr>
            <p:cNvSpPr/>
            <p:nvPr/>
          </p:nvSpPr>
          <p:spPr>
            <a:xfrm>
              <a:off x="953211" y="1800000"/>
              <a:ext cx="576000" cy="360000"/>
            </a:xfrm>
            <a:prstGeom prst="can">
              <a:avLst/>
            </a:prstGeom>
            <a:solidFill>
              <a:srgbClr val="FFFF00"/>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000" dirty="0">
                  <a:solidFill>
                    <a:sysClr val="windowText" lastClr="000000"/>
                  </a:solidFill>
                </a:rPr>
                <a:t>AP1</a:t>
              </a:r>
              <a:endParaRPr lang="zh-CN" altLang="en-US" sz="1000" dirty="0">
                <a:solidFill>
                  <a:sysClr val="windowText" lastClr="000000"/>
                </a:solidFill>
              </a:endParaRPr>
            </a:p>
          </p:txBody>
        </p:sp>
      </p:grpSp>
      <p:grpSp>
        <p:nvGrpSpPr>
          <p:cNvPr id="85" name="组合 84">
            <a:extLst>
              <a:ext uri="{FF2B5EF4-FFF2-40B4-BE49-F238E27FC236}">
                <a16:creationId xmlns:a16="http://schemas.microsoft.com/office/drawing/2014/main" id="{2C5C4B55-0E08-DD3F-9D5E-233306F9B7AE}"/>
              </a:ext>
            </a:extLst>
          </p:cNvPr>
          <p:cNvGrpSpPr/>
          <p:nvPr/>
        </p:nvGrpSpPr>
        <p:grpSpPr>
          <a:xfrm>
            <a:off x="701211" y="1800000"/>
            <a:ext cx="1080000" cy="2088000"/>
            <a:chOff x="701211" y="1800000"/>
            <a:chExt cx="1080000" cy="2088000"/>
          </a:xfrm>
        </p:grpSpPr>
        <p:sp>
          <p:nvSpPr>
            <p:cNvPr id="86" name="立方体 85">
              <a:extLst>
                <a:ext uri="{FF2B5EF4-FFF2-40B4-BE49-F238E27FC236}">
                  <a16:creationId xmlns:a16="http://schemas.microsoft.com/office/drawing/2014/main" id="{07A4B46F-62F1-BD57-7D9A-ABDE81CE69CE}"/>
                </a:ext>
              </a:extLst>
            </p:cNvPr>
            <p:cNvSpPr/>
            <p:nvPr/>
          </p:nvSpPr>
          <p:spPr>
            <a:xfrm>
              <a:off x="701211" y="3456000"/>
              <a:ext cx="108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050" dirty="0">
                  <a:solidFill>
                    <a:schemeClr val="bg1"/>
                  </a:solidFill>
                </a:rPr>
                <a:t>1 </a:t>
              </a:r>
              <a:r>
                <a:rPr lang="zh-CN" altLang="en-US" sz="1050" dirty="0">
                  <a:solidFill>
                    <a:schemeClr val="bg1"/>
                  </a:solidFill>
                </a:rPr>
                <a:t>物理层</a:t>
              </a:r>
            </a:p>
          </p:txBody>
        </p:sp>
        <p:sp>
          <p:nvSpPr>
            <p:cNvPr id="89" name="立方体 88">
              <a:extLst>
                <a:ext uri="{FF2B5EF4-FFF2-40B4-BE49-F238E27FC236}">
                  <a16:creationId xmlns:a16="http://schemas.microsoft.com/office/drawing/2014/main" id="{9F8CF17F-6627-8B47-A87C-22D09335D780}"/>
                </a:ext>
              </a:extLst>
            </p:cNvPr>
            <p:cNvSpPr/>
            <p:nvPr/>
          </p:nvSpPr>
          <p:spPr>
            <a:xfrm>
              <a:off x="701211" y="3132000"/>
              <a:ext cx="108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050" dirty="0">
                  <a:solidFill>
                    <a:schemeClr val="bg1"/>
                  </a:solidFill>
                </a:rPr>
                <a:t>2 </a:t>
              </a:r>
              <a:r>
                <a:rPr lang="zh-CN" altLang="en-US" sz="1050" dirty="0">
                  <a:solidFill>
                    <a:schemeClr val="bg1"/>
                  </a:solidFill>
                </a:rPr>
                <a:t>数据链路层</a:t>
              </a:r>
            </a:p>
          </p:txBody>
        </p:sp>
        <p:sp>
          <p:nvSpPr>
            <p:cNvPr id="90" name="立方体 89">
              <a:extLst>
                <a:ext uri="{FF2B5EF4-FFF2-40B4-BE49-F238E27FC236}">
                  <a16:creationId xmlns:a16="http://schemas.microsoft.com/office/drawing/2014/main" id="{F9FDD6E2-94C0-A848-8703-4937593E0622}"/>
                </a:ext>
              </a:extLst>
            </p:cNvPr>
            <p:cNvSpPr/>
            <p:nvPr/>
          </p:nvSpPr>
          <p:spPr>
            <a:xfrm>
              <a:off x="701211" y="2808000"/>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050" dirty="0">
                  <a:solidFill>
                    <a:schemeClr val="bg1"/>
                  </a:solidFill>
                </a:rPr>
                <a:t>3 </a:t>
              </a:r>
              <a:r>
                <a:rPr lang="zh-CN" altLang="en-US" sz="1050" dirty="0">
                  <a:solidFill>
                    <a:schemeClr val="bg1"/>
                  </a:solidFill>
                </a:rPr>
                <a:t>网络层</a:t>
              </a:r>
            </a:p>
          </p:txBody>
        </p:sp>
        <p:sp>
          <p:nvSpPr>
            <p:cNvPr id="91" name="立方体 90">
              <a:extLst>
                <a:ext uri="{FF2B5EF4-FFF2-40B4-BE49-F238E27FC236}">
                  <a16:creationId xmlns:a16="http://schemas.microsoft.com/office/drawing/2014/main" id="{BF6F3E5D-A6CF-1E6E-E9A7-B138BC3856E0}"/>
                </a:ext>
              </a:extLst>
            </p:cNvPr>
            <p:cNvSpPr/>
            <p:nvPr/>
          </p:nvSpPr>
          <p:spPr>
            <a:xfrm>
              <a:off x="701211" y="2484000"/>
              <a:ext cx="108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050" dirty="0">
                  <a:solidFill>
                    <a:schemeClr val="bg1"/>
                  </a:solidFill>
                </a:rPr>
                <a:t>4 </a:t>
              </a:r>
              <a:r>
                <a:rPr lang="zh-CN" altLang="en-US" sz="1050" dirty="0">
                  <a:solidFill>
                    <a:schemeClr val="bg1"/>
                  </a:solidFill>
                </a:rPr>
                <a:t>运输层</a:t>
              </a:r>
            </a:p>
          </p:txBody>
        </p:sp>
        <p:sp>
          <p:nvSpPr>
            <p:cNvPr id="93" name="立方体 92">
              <a:extLst>
                <a:ext uri="{FF2B5EF4-FFF2-40B4-BE49-F238E27FC236}">
                  <a16:creationId xmlns:a16="http://schemas.microsoft.com/office/drawing/2014/main" id="{ECB9DDD9-9C4A-D92D-4EF5-C6E5B52E3FCF}"/>
                </a:ext>
              </a:extLst>
            </p:cNvPr>
            <p:cNvSpPr/>
            <p:nvPr/>
          </p:nvSpPr>
          <p:spPr>
            <a:xfrm>
              <a:off x="701211" y="2160000"/>
              <a:ext cx="108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050" dirty="0">
                  <a:solidFill>
                    <a:schemeClr val="bg1"/>
                  </a:solidFill>
                </a:rPr>
                <a:t>5 </a:t>
              </a:r>
              <a:r>
                <a:rPr lang="zh-CN" altLang="en-US" sz="1050" dirty="0">
                  <a:solidFill>
                    <a:schemeClr val="bg1"/>
                  </a:solidFill>
                </a:rPr>
                <a:t>应用层</a:t>
              </a:r>
            </a:p>
          </p:txBody>
        </p:sp>
        <p:sp>
          <p:nvSpPr>
            <p:cNvPr id="94" name="圆柱体 93">
              <a:extLst>
                <a:ext uri="{FF2B5EF4-FFF2-40B4-BE49-F238E27FC236}">
                  <a16:creationId xmlns:a16="http://schemas.microsoft.com/office/drawing/2014/main" id="{3507277D-6A5D-4C77-2E66-1EFFA73DEFC7}"/>
                </a:ext>
              </a:extLst>
            </p:cNvPr>
            <p:cNvSpPr/>
            <p:nvPr/>
          </p:nvSpPr>
          <p:spPr>
            <a:xfrm>
              <a:off x="953211" y="1800000"/>
              <a:ext cx="576000" cy="360000"/>
            </a:xfrm>
            <a:prstGeom prst="can">
              <a:avLst/>
            </a:prstGeom>
            <a:solidFill>
              <a:srgbClr val="FFFF00"/>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000" dirty="0">
                  <a:solidFill>
                    <a:sysClr val="windowText" lastClr="000000"/>
                  </a:solidFill>
                </a:rPr>
                <a:t>AP1</a:t>
              </a:r>
              <a:endParaRPr lang="zh-CN" altLang="en-US" sz="1000" dirty="0">
                <a:solidFill>
                  <a:sysClr val="windowText" lastClr="000000"/>
                </a:solidFill>
              </a:endParaRPr>
            </a:p>
          </p:txBody>
        </p:sp>
      </p:grpSp>
      <p:sp>
        <p:nvSpPr>
          <p:cNvPr id="25" name="Text Box 29"/>
          <p:cNvSpPr txBox="1">
            <a:spLocks noChangeArrowheads="1"/>
          </p:cNvSpPr>
          <p:nvPr/>
        </p:nvSpPr>
        <p:spPr bwMode="auto">
          <a:xfrm>
            <a:off x="110689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1</a:t>
            </a:r>
          </a:p>
        </p:txBody>
      </p:sp>
      <p:sp>
        <p:nvSpPr>
          <p:cNvPr id="38" name="Text Box 29"/>
          <p:cNvSpPr txBox="1">
            <a:spLocks noChangeArrowheads="1"/>
          </p:cNvSpPr>
          <p:nvPr/>
        </p:nvSpPr>
        <p:spPr bwMode="auto">
          <a:xfrm>
            <a:off x="736975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2</a:t>
            </a:r>
          </a:p>
        </p:txBody>
      </p:sp>
      <p:sp>
        <p:nvSpPr>
          <p:cNvPr id="39" name="Text Box 29"/>
          <p:cNvSpPr txBox="1">
            <a:spLocks noChangeArrowheads="1"/>
          </p:cNvSpPr>
          <p:nvPr/>
        </p:nvSpPr>
        <p:spPr bwMode="auto">
          <a:xfrm>
            <a:off x="4160212" y="107510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路由器</a:t>
            </a:r>
            <a:endParaRPr kumimoji="1" lang="en-US" altLang="zh-CN" sz="1200" b="1" dirty="0">
              <a:solidFill>
                <a:srgbClr val="0000FF"/>
              </a:solidFill>
              <a:latin typeface="微软雅黑" panose="020B0503020204020204" pitchFamily="34" charset="-122"/>
              <a:ea typeface="微软雅黑" panose="020B0503020204020204" pitchFamily="34" charset="-122"/>
            </a:endParaRPr>
          </a:p>
        </p:txBody>
      </p:sp>
      <p:cxnSp>
        <p:nvCxnSpPr>
          <p:cNvPr id="69" name="直接连接符 68"/>
          <p:cNvCxnSpPr/>
          <p:nvPr/>
        </p:nvCxnSpPr>
        <p:spPr>
          <a:xfrm>
            <a:off x="1418143" y="1507958"/>
            <a:ext cx="6306131" cy="0"/>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pic>
        <p:nvPicPr>
          <p:cNvPr id="36"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486661" y="1312469"/>
            <a:ext cx="410222"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7"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202308" y="1312469"/>
            <a:ext cx="410223"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140" name="直接箭头连接符 139"/>
          <p:cNvCxnSpPr/>
          <p:nvPr/>
        </p:nvCxnSpPr>
        <p:spPr>
          <a:xfrm>
            <a:off x="1561619" y="1428166"/>
            <a:ext cx="5941518" cy="0"/>
          </a:xfrm>
          <a:prstGeom prst="straightConnector1">
            <a:avLst/>
          </a:prstGeom>
          <a:ln w="28575">
            <a:solidFill>
              <a:srgbClr val="CC00CC"/>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35" name="Picture 4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54124" y="1385466"/>
            <a:ext cx="454438" cy="2643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73" name="AutoShape 51"/>
          <p:cNvSpPr>
            <a:spLocks noChangeArrowheads="1"/>
          </p:cNvSpPr>
          <p:nvPr/>
        </p:nvSpPr>
        <p:spPr bwMode="auto">
          <a:xfrm flipV="1">
            <a:off x="1237476" y="2076244"/>
            <a:ext cx="145966" cy="205414"/>
          </a:xfrm>
          <a:prstGeom prst="upArrow">
            <a:avLst>
              <a:gd name="adj1" fmla="val 50000"/>
              <a:gd name="adj2" fmla="val 45968"/>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88" name="AutoShape 54"/>
          <p:cNvSpPr>
            <a:spLocks noChangeArrowheads="1"/>
          </p:cNvSpPr>
          <p:nvPr/>
        </p:nvSpPr>
        <p:spPr bwMode="auto">
          <a:xfrm rot="10800000">
            <a:off x="1237478" y="2439149"/>
            <a:ext cx="147144" cy="221279"/>
          </a:xfrm>
          <a:prstGeom prst="upArrow">
            <a:avLst>
              <a:gd name="adj1" fmla="val 50000"/>
              <a:gd name="adj2" fmla="val 498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5" name="AutoShape 57"/>
          <p:cNvSpPr>
            <a:spLocks noChangeArrowheads="1"/>
          </p:cNvSpPr>
          <p:nvPr/>
        </p:nvSpPr>
        <p:spPr bwMode="auto">
          <a:xfrm rot="10800000">
            <a:off x="1235122" y="2826328"/>
            <a:ext cx="148321" cy="222762"/>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07" name="AutoShape 57"/>
          <p:cNvSpPr>
            <a:spLocks noChangeArrowheads="1"/>
          </p:cNvSpPr>
          <p:nvPr/>
        </p:nvSpPr>
        <p:spPr bwMode="auto">
          <a:xfrm rot="10800000">
            <a:off x="1226181" y="3198896"/>
            <a:ext cx="156561" cy="213191"/>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19" name="AutoShape 63"/>
          <p:cNvSpPr>
            <a:spLocks noChangeArrowheads="1"/>
          </p:cNvSpPr>
          <p:nvPr/>
        </p:nvSpPr>
        <p:spPr bwMode="auto">
          <a:xfrm rot="10800000">
            <a:off x="1226181" y="3567260"/>
            <a:ext cx="165978" cy="238153"/>
          </a:xfrm>
          <a:prstGeom prst="upArrow">
            <a:avLst>
              <a:gd name="adj1" fmla="val 50000"/>
              <a:gd name="adj2" fmla="val 50403"/>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00" name="AutoShape 25"/>
          <p:cNvSpPr>
            <a:spLocks noChangeArrowheads="1"/>
          </p:cNvSpPr>
          <p:nvPr/>
        </p:nvSpPr>
        <p:spPr bwMode="auto">
          <a:xfrm flipV="1">
            <a:off x="1266066" y="3955320"/>
            <a:ext cx="263283" cy="281183"/>
          </a:xfrm>
          <a:custGeom>
            <a:avLst/>
            <a:gdLst>
              <a:gd name="T0" fmla="*/ 218339 w 21600"/>
              <a:gd name="T1" fmla="*/ 0 h 21600"/>
              <a:gd name="T2" fmla="*/ 218339 w 21600"/>
              <a:gd name="T3" fmla="*/ 171757 h 21600"/>
              <a:gd name="T4" fmla="*/ 46725 w 21600"/>
              <a:gd name="T5" fmla="*/ 305144 h 21600"/>
              <a:gd name="T6" fmla="*/ 311789 w 21600"/>
              <a:gd name="T7" fmla="*/ 85878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09" name="Text Box 26"/>
          <p:cNvSpPr txBox="1">
            <a:spLocks noChangeArrowheads="1"/>
          </p:cNvSpPr>
          <p:nvPr/>
        </p:nvSpPr>
        <p:spPr bwMode="auto">
          <a:xfrm>
            <a:off x="2701348" y="4023229"/>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dirty="0">
                <a:latin typeface="+mj-lt"/>
                <a:ea typeface="+mj-ea"/>
              </a:rPr>
              <a:t>物理传输媒体</a:t>
            </a:r>
          </a:p>
        </p:txBody>
      </p:sp>
      <p:sp>
        <p:nvSpPr>
          <p:cNvPr id="111" name="AutoShape 42"/>
          <p:cNvSpPr>
            <a:spLocks noChangeArrowheads="1"/>
          </p:cNvSpPr>
          <p:nvPr/>
        </p:nvSpPr>
        <p:spPr bwMode="auto">
          <a:xfrm rot="5400000" flipH="1">
            <a:off x="3905139" y="3932147"/>
            <a:ext cx="254669" cy="288428"/>
          </a:xfrm>
          <a:custGeom>
            <a:avLst/>
            <a:gdLst>
              <a:gd name="T0" fmla="*/ 220161 w 21600"/>
              <a:gd name="T1" fmla="*/ 0 h 21600"/>
              <a:gd name="T2" fmla="*/ 220161 w 21600"/>
              <a:gd name="T3" fmla="*/ 175497 h 21600"/>
              <a:gd name="T4" fmla="*/ 47115 w 21600"/>
              <a:gd name="T5" fmla="*/ 311790 h 21600"/>
              <a:gd name="T6" fmla="*/ 314391 w 21600"/>
              <a:gd name="T7" fmla="*/ 87749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nvGrpSpPr>
          <p:cNvPr id="125" name="Group 34"/>
          <p:cNvGrpSpPr/>
          <p:nvPr/>
        </p:nvGrpSpPr>
        <p:grpSpPr bwMode="auto">
          <a:xfrm>
            <a:off x="1792727" y="4119885"/>
            <a:ext cx="841456" cy="101715"/>
            <a:chOff x="1344" y="912"/>
            <a:chExt cx="672" cy="96"/>
          </a:xfrm>
          <a:solidFill>
            <a:srgbClr val="FF0000"/>
          </a:solidFill>
        </p:grpSpPr>
        <p:sp>
          <p:nvSpPr>
            <p:cNvPr id="126" name="Line 35"/>
            <p:cNvSpPr>
              <a:spLocks noChangeShapeType="1"/>
            </p:cNvSpPr>
            <p:nvPr/>
          </p:nvSpPr>
          <p:spPr bwMode="auto">
            <a:xfrm>
              <a:off x="1344" y="960"/>
              <a:ext cx="672" cy="0"/>
            </a:xfrm>
            <a:prstGeom prst="line">
              <a:avLst/>
            </a:prstGeom>
            <a:grpFill/>
            <a:ln w="12700">
              <a:no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sp>
          <p:nvSpPr>
            <p:cNvPr id="127" name="Freeform 36"/>
            <p:cNvSpPr/>
            <p:nvPr/>
          </p:nvSpPr>
          <p:spPr bwMode="auto">
            <a:xfrm>
              <a:off x="1392" y="912"/>
              <a:ext cx="576" cy="96"/>
            </a:xfrm>
            <a:custGeom>
              <a:avLst/>
              <a:gdLst>
                <a:gd name="T0" fmla="*/ 0 w 576"/>
                <a:gd name="T1" fmla="*/ 96 h 192"/>
                <a:gd name="T2" fmla="*/ 0 w 576"/>
                <a:gd name="T3" fmla="*/ 0 h 192"/>
                <a:gd name="T4" fmla="*/ 192 w 576"/>
                <a:gd name="T5" fmla="*/ 0 h 192"/>
                <a:gd name="T6" fmla="*/ 192 w 576"/>
                <a:gd name="T7" fmla="*/ 192 h 192"/>
                <a:gd name="T8" fmla="*/ 288 w 576"/>
                <a:gd name="T9" fmla="*/ 192 h 192"/>
                <a:gd name="T10" fmla="*/ 288 w 576"/>
                <a:gd name="T11" fmla="*/ 0 h 192"/>
                <a:gd name="T12" fmla="*/ 336 w 576"/>
                <a:gd name="T13" fmla="*/ 0 h 192"/>
                <a:gd name="T14" fmla="*/ 336 w 576"/>
                <a:gd name="T15" fmla="*/ 192 h 192"/>
                <a:gd name="T16" fmla="*/ 480 w 576"/>
                <a:gd name="T17" fmla="*/ 192 h 192"/>
                <a:gd name="T18" fmla="*/ 480 w 576"/>
                <a:gd name="T19" fmla="*/ 0 h 192"/>
                <a:gd name="T20" fmla="*/ 576 w 576"/>
                <a:gd name="T21" fmla="*/ 0 h 192"/>
                <a:gd name="T22" fmla="*/ 576 w 576"/>
                <a:gd name="T23" fmla="*/ 96 h 192"/>
                <a:gd name="T24" fmla="*/ 0 w 576"/>
                <a:gd name="T25" fmla="*/ 96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6" h="192">
                  <a:moveTo>
                    <a:pt x="0" y="96"/>
                  </a:moveTo>
                  <a:lnTo>
                    <a:pt x="0" y="0"/>
                  </a:lnTo>
                  <a:lnTo>
                    <a:pt x="192" y="0"/>
                  </a:lnTo>
                  <a:lnTo>
                    <a:pt x="192" y="192"/>
                  </a:lnTo>
                  <a:lnTo>
                    <a:pt x="288" y="192"/>
                  </a:lnTo>
                  <a:lnTo>
                    <a:pt x="288" y="0"/>
                  </a:lnTo>
                  <a:lnTo>
                    <a:pt x="336" y="0"/>
                  </a:lnTo>
                  <a:lnTo>
                    <a:pt x="336" y="192"/>
                  </a:lnTo>
                  <a:lnTo>
                    <a:pt x="480" y="192"/>
                  </a:lnTo>
                  <a:lnTo>
                    <a:pt x="480" y="0"/>
                  </a:lnTo>
                  <a:lnTo>
                    <a:pt x="576" y="0"/>
                  </a:lnTo>
                  <a:lnTo>
                    <a:pt x="576" y="96"/>
                  </a:lnTo>
                  <a:lnTo>
                    <a:pt x="0" y="96"/>
                  </a:lnTo>
                  <a:close/>
                </a:path>
              </a:pathLst>
            </a:custGeom>
            <a:grpFill/>
            <a:ln w="12700" cap="flat" cmpd="sng">
              <a:noFill/>
              <a:prstDash val="solid"/>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grpSp>
      <p:sp>
        <p:nvSpPr>
          <p:cNvPr id="87" name="上箭头 86"/>
          <p:cNvSpPr/>
          <p:nvPr/>
        </p:nvSpPr>
        <p:spPr>
          <a:xfrm>
            <a:off x="4028301" y="3527399"/>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2" name="上箭头 81"/>
          <p:cNvSpPr/>
          <p:nvPr/>
        </p:nvSpPr>
        <p:spPr>
          <a:xfrm>
            <a:off x="4028301" y="3154024"/>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2" name="下箭头 91"/>
          <p:cNvSpPr/>
          <p:nvPr/>
        </p:nvSpPr>
        <p:spPr>
          <a:xfrm>
            <a:off x="4682483" y="3179766"/>
            <a:ext cx="180462" cy="249234"/>
          </a:xfrm>
          <a:prstGeom prst="down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4" name="下箭头 123"/>
          <p:cNvSpPr/>
          <p:nvPr/>
        </p:nvSpPr>
        <p:spPr>
          <a:xfrm>
            <a:off x="4682483" y="3543677"/>
            <a:ext cx="180462" cy="249234"/>
          </a:xfrm>
          <a:prstGeom prst="down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9" name="Text Box 26"/>
          <p:cNvSpPr txBox="1">
            <a:spLocks noChangeArrowheads="1"/>
          </p:cNvSpPr>
          <p:nvPr/>
        </p:nvSpPr>
        <p:spPr bwMode="auto">
          <a:xfrm>
            <a:off x="6193730" y="4023229"/>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dirty="0">
                <a:latin typeface="+mj-lt"/>
                <a:ea typeface="+mj-ea"/>
              </a:rPr>
              <a:t>物理传输媒体</a:t>
            </a:r>
          </a:p>
        </p:txBody>
      </p:sp>
      <p:sp>
        <p:nvSpPr>
          <p:cNvPr id="142" name="AutoShape 25"/>
          <p:cNvSpPr>
            <a:spLocks noChangeArrowheads="1"/>
          </p:cNvSpPr>
          <p:nvPr/>
        </p:nvSpPr>
        <p:spPr bwMode="auto">
          <a:xfrm flipV="1">
            <a:off x="4745478" y="3955321"/>
            <a:ext cx="263283" cy="281183"/>
          </a:xfrm>
          <a:custGeom>
            <a:avLst/>
            <a:gdLst>
              <a:gd name="T0" fmla="*/ 218339 w 21600"/>
              <a:gd name="T1" fmla="*/ 0 h 21600"/>
              <a:gd name="T2" fmla="*/ 218339 w 21600"/>
              <a:gd name="T3" fmla="*/ 171757 h 21600"/>
              <a:gd name="T4" fmla="*/ 46725 w 21600"/>
              <a:gd name="T5" fmla="*/ 305144 h 21600"/>
              <a:gd name="T6" fmla="*/ 311789 w 21600"/>
              <a:gd name="T7" fmla="*/ 85878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43" name="AutoShape 42"/>
          <p:cNvSpPr>
            <a:spLocks noChangeArrowheads="1"/>
          </p:cNvSpPr>
          <p:nvPr/>
        </p:nvSpPr>
        <p:spPr bwMode="auto">
          <a:xfrm rot="5400000" flipH="1">
            <a:off x="7384551" y="3932148"/>
            <a:ext cx="254669" cy="288428"/>
          </a:xfrm>
          <a:custGeom>
            <a:avLst/>
            <a:gdLst>
              <a:gd name="T0" fmla="*/ 220161 w 21600"/>
              <a:gd name="T1" fmla="*/ 0 h 21600"/>
              <a:gd name="T2" fmla="*/ 220161 w 21600"/>
              <a:gd name="T3" fmla="*/ 175497 h 21600"/>
              <a:gd name="T4" fmla="*/ 47115 w 21600"/>
              <a:gd name="T5" fmla="*/ 311790 h 21600"/>
              <a:gd name="T6" fmla="*/ 314391 w 21600"/>
              <a:gd name="T7" fmla="*/ 87749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nvGrpSpPr>
          <p:cNvPr id="144" name="Group 34"/>
          <p:cNvGrpSpPr/>
          <p:nvPr/>
        </p:nvGrpSpPr>
        <p:grpSpPr bwMode="auto">
          <a:xfrm>
            <a:off x="5272139" y="4119886"/>
            <a:ext cx="841456" cy="101715"/>
            <a:chOff x="1344" y="912"/>
            <a:chExt cx="672" cy="96"/>
          </a:xfrm>
          <a:solidFill>
            <a:srgbClr val="FF0000"/>
          </a:solidFill>
        </p:grpSpPr>
        <p:sp>
          <p:nvSpPr>
            <p:cNvPr id="145" name="Line 35"/>
            <p:cNvSpPr>
              <a:spLocks noChangeShapeType="1"/>
            </p:cNvSpPr>
            <p:nvPr/>
          </p:nvSpPr>
          <p:spPr bwMode="auto">
            <a:xfrm>
              <a:off x="1344" y="960"/>
              <a:ext cx="672" cy="0"/>
            </a:xfrm>
            <a:prstGeom prst="line">
              <a:avLst/>
            </a:prstGeom>
            <a:grpFill/>
            <a:ln w="12700">
              <a:no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sp>
          <p:nvSpPr>
            <p:cNvPr id="146" name="Freeform 36"/>
            <p:cNvSpPr/>
            <p:nvPr/>
          </p:nvSpPr>
          <p:spPr bwMode="auto">
            <a:xfrm>
              <a:off x="1392" y="912"/>
              <a:ext cx="576" cy="96"/>
            </a:xfrm>
            <a:custGeom>
              <a:avLst/>
              <a:gdLst>
                <a:gd name="T0" fmla="*/ 0 w 576"/>
                <a:gd name="T1" fmla="*/ 96 h 192"/>
                <a:gd name="T2" fmla="*/ 0 w 576"/>
                <a:gd name="T3" fmla="*/ 0 h 192"/>
                <a:gd name="T4" fmla="*/ 192 w 576"/>
                <a:gd name="T5" fmla="*/ 0 h 192"/>
                <a:gd name="T6" fmla="*/ 192 w 576"/>
                <a:gd name="T7" fmla="*/ 192 h 192"/>
                <a:gd name="T8" fmla="*/ 288 w 576"/>
                <a:gd name="T9" fmla="*/ 192 h 192"/>
                <a:gd name="T10" fmla="*/ 288 w 576"/>
                <a:gd name="T11" fmla="*/ 0 h 192"/>
                <a:gd name="T12" fmla="*/ 336 w 576"/>
                <a:gd name="T13" fmla="*/ 0 h 192"/>
                <a:gd name="T14" fmla="*/ 336 w 576"/>
                <a:gd name="T15" fmla="*/ 192 h 192"/>
                <a:gd name="T16" fmla="*/ 480 w 576"/>
                <a:gd name="T17" fmla="*/ 192 h 192"/>
                <a:gd name="T18" fmla="*/ 480 w 576"/>
                <a:gd name="T19" fmla="*/ 0 h 192"/>
                <a:gd name="T20" fmla="*/ 576 w 576"/>
                <a:gd name="T21" fmla="*/ 0 h 192"/>
                <a:gd name="T22" fmla="*/ 576 w 576"/>
                <a:gd name="T23" fmla="*/ 96 h 192"/>
                <a:gd name="T24" fmla="*/ 0 w 576"/>
                <a:gd name="T25" fmla="*/ 96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6" h="192">
                  <a:moveTo>
                    <a:pt x="0" y="96"/>
                  </a:moveTo>
                  <a:lnTo>
                    <a:pt x="0" y="0"/>
                  </a:lnTo>
                  <a:lnTo>
                    <a:pt x="192" y="0"/>
                  </a:lnTo>
                  <a:lnTo>
                    <a:pt x="192" y="192"/>
                  </a:lnTo>
                  <a:lnTo>
                    <a:pt x="288" y="192"/>
                  </a:lnTo>
                  <a:lnTo>
                    <a:pt x="288" y="0"/>
                  </a:lnTo>
                  <a:lnTo>
                    <a:pt x="336" y="0"/>
                  </a:lnTo>
                  <a:lnTo>
                    <a:pt x="336" y="192"/>
                  </a:lnTo>
                  <a:lnTo>
                    <a:pt x="480" y="192"/>
                  </a:lnTo>
                  <a:lnTo>
                    <a:pt x="480" y="0"/>
                  </a:lnTo>
                  <a:lnTo>
                    <a:pt x="576" y="0"/>
                  </a:lnTo>
                  <a:lnTo>
                    <a:pt x="576" y="96"/>
                  </a:lnTo>
                  <a:lnTo>
                    <a:pt x="0" y="96"/>
                  </a:lnTo>
                  <a:close/>
                </a:path>
              </a:pathLst>
            </a:custGeom>
            <a:grpFill/>
            <a:ln w="12700" cap="flat" cmpd="sng">
              <a:noFill/>
              <a:prstDash val="solid"/>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grpSp>
      <p:sp>
        <p:nvSpPr>
          <p:cNvPr id="2" name="标题 1">
            <a:extLst>
              <a:ext uri="{FF2B5EF4-FFF2-40B4-BE49-F238E27FC236}">
                <a16:creationId xmlns:a16="http://schemas.microsoft.com/office/drawing/2014/main" id="{48902D8B-BD8E-D7B4-6D4B-E6D4210ABE95}"/>
              </a:ext>
            </a:extLst>
          </p:cNvPr>
          <p:cNvSpPr>
            <a:spLocks noGrp="1"/>
          </p:cNvSpPr>
          <p:nvPr>
            <p:ph type="title"/>
          </p:nvPr>
        </p:nvSpPr>
        <p:spPr>
          <a:xfrm>
            <a:off x="612000" y="144000"/>
            <a:ext cx="7920000" cy="341632"/>
          </a:xfrm>
        </p:spPr>
        <p:txBody>
          <a:bodyPr/>
          <a:lstStyle/>
          <a:p>
            <a:r>
              <a:rPr lang="zh-CN" altLang="en-US" dirty="0"/>
              <a:t>数据在各层之间的传递过程</a:t>
            </a:r>
          </a:p>
        </p:txBody>
      </p:sp>
    </p:spTree>
    <p:extLst>
      <p:ext uri="{BB962C8B-B14F-4D97-AF65-F5344CB8AC3E}">
        <p14:creationId xmlns:p14="http://schemas.microsoft.com/office/powerpoint/2010/main" val="4029474122"/>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0"/>
                                  </p:stCondLst>
                                  <p:childTnLst>
                                    <p:set>
                                      <p:cBhvr>
                                        <p:cTn id="6" dur="1" fill="hold">
                                          <p:stCondLst>
                                            <p:cond delay="0"/>
                                          </p:stCondLst>
                                        </p:cTn>
                                        <p:tgtEl>
                                          <p:spTgt spid="142"/>
                                        </p:tgtEl>
                                        <p:attrNameLst>
                                          <p:attrName>style.visibility</p:attrName>
                                        </p:attrNameLst>
                                      </p:cBhvr>
                                      <p:to>
                                        <p:strVal val="visible"/>
                                      </p:to>
                                    </p:set>
                                    <p:animEffect transition="in" filter="wipe(left)">
                                      <p:cBhvr>
                                        <p:cTn id="7" dur="1000"/>
                                        <p:tgtEl>
                                          <p:spTgt spid="142"/>
                                        </p:tgtEl>
                                      </p:cBhvr>
                                    </p:animEffect>
                                  </p:childTnLst>
                                </p:cTn>
                              </p:par>
                            </p:childTnLst>
                          </p:cTn>
                        </p:par>
                        <p:par>
                          <p:cTn id="8" fill="hold">
                            <p:stCondLst>
                              <p:cond delay="1000"/>
                            </p:stCondLst>
                            <p:childTnLst>
                              <p:par>
                                <p:cTn id="9" presetID="22" presetClass="entr" presetSubtype="8" fill="hold" nodeType="afterEffect">
                                  <p:stCondLst>
                                    <p:cond delay="0"/>
                                  </p:stCondLst>
                                  <p:childTnLst>
                                    <p:set>
                                      <p:cBhvr>
                                        <p:cTn id="10" dur="1" fill="hold">
                                          <p:stCondLst>
                                            <p:cond delay="0"/>
                                          </p:stCondLst>
                                        </p:cTn>
                                        <p:tgtEl>
                                          <p:spTgt spid="144"/>
                                        </p:tgtEl>
                                        <p:attrNameLst>
                                          <p:attrName>style.visibility</p:attrName>
                                        </p:attrNameLst>
                                      </p:cBhvr>
                                      <p:to>
                                        <p:strVal val="visible"/>
                                      </p:to>
                                    </p:set>
                                    <p:animEffect transition="in" filter="wipe(left)">
                                      <p:cBhvr>
                                        <p:cTn id="11" dur="1000"/>
                                        <p:tgtEl>
                                          <p:spTgt spid="144"/>
                                        </p:tgtEl>
                                      </p:cBhvr>
                                    </p:animEffect>
                                  </p:childTnLst>
                                </p:cTn>
                              </p:par>
                            </p:childTnLst>
                          </p:cTn>
                        </p:par>
                        <p:par>
                          <p:cTn id="12" fill="hold">
                            <p:stCondLst>
                              <p:cond delay="2000"/>
                            </p:stCondLst>
                            <p:childTnLst>
                              <p:par>
                                <p:cTn id="13" presetID="22" presetClass="entr" presetSubtype="8" fill="hold" grpId="0" nodeType="afterEffect">
                                  <p:stCondLst>
                                    <p:cond delay="0"/>
                                  </p:stCondLst>
                                  <p:childTnLst>
                                    <p:set>
                                      <p:cBhvr>
                                        <p:cTn id="14" dur="1" fill="hold">
                                          <p:stCondLst>
                                            <p:cond delay="0"/>
                                          </p:stCondLst>
                                        </p:cTn>
                                        <p:tgtEl>
                                          <p:spTgt spid="143"/>
                                        </p:tgtEl>
                                        <p:attrNameLst>
                                          <p:attrName>style.visibility</p:attrName>
                                        </p:attrNameLst>
                                      </p:cBhvr>
                                      <p:to>
                                        <p:strVal val="visible"/>
                                      </p:to>
                                    </p:set>
                                    <p:animEffect transition="in" filter="wipe(left)">
                                      <p:cBhvr>
                                        <p:cTn id="15" dur="1000"/>
                                        <p:tgtEl>
                                          <p:spTgt spid="1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2" grpId="0" animBg="1"/>
      <p:bldP spid="143" grpId="0" animBg="1"/>
    </p:bldLst>
  </p:timing>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6" name="AutoShape 4">
            <a:extLst>
              <a:ext uri="{FF2B5EF4-FFF2-40B4-BE49-F238E27FC236}">
                <a16:creationId xmlns:a16="http://schemas.microsoft.com/office/drawing/2014/main" id="{BA99B678-4610-2514-C2FD-E0B06FCB0624}"/>
              </a:ext>
            </a:extLst>
          </p:cNvPr>
          <p:cNvSpPr>
            <a:spLocks noChangeArrowheads="1"/>
          </p:cNvSpPr>
          <p:nvPr/>
        </p:nvSpPr>
        <p:spPr bwMode="auto">
          <a:xfrm rot="16200000">
            <a:off x="2567190" y="2361728"/>
            <a:ext cx="271463" cy="3600000"/>
          </a:xfrm>
          <a:prstGeom prst="can">
            <a:avLst>
              <a:gd name="adj" fmla="val 48656"/>
            </a:avLst>
          </a:prstGeom>
          <a:gradFill rotWithShape="0">
            <a:gsLst>
              <a:gs pos="0">
                <a:srgbClr val="00CC00"/>
              </a:gs>
              <a:gs pos="50000">
                <a:schemeClr val="bg1"/>
              </a:gs>
              <a:gs pos="100000">
                <a:srgbClr val="00CC00"/>
              </a:gs>
            </a:gsLst>
            <a:lin ang="5400000" scaled="1"/>
          </a:gradFill>
          <a:ln w="6350">
            <a:solidFill>
              <a:srgbClr val="7CE07C"/>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158" name="AutoShape 4">
            <a:extLst>
              <a:ext uri="{FF2B5EF4-FFF2-40B4-BE49-F238E27FC236}">
                <a16:creationId xmlns:a16="http://schemas.microsoft.com/office/drawing/2014/main" id="{4A235936-0962-716D-4203-C08B35CA078E}"/>
              </a:ext>
            </a:extLst>
          </p:cNvPr>
          <p:cNvSpPr>
            <a:spLocks noChangeArrowheads="1"/>
          </p:cNvSpPr>
          <p:nvPr/>
        </p:nvSpPr>
        <p:spPr bwMode="auto">
          <a:xfrm rot="16200000">
            <a:off x="6253847" y="2361728"/>
            <a:ext cx="271463" cy="3600000"/>
          </a:xfrm>
          <a:prstGeom prst="can">
            <a:avLst>
              <a:gd name="adj" fmla="val 48656"/>
            </a:avLst>
          </a:prstGeom>
          <a:gradFill rotWithShape="0">
            <a:gsLst>
              <a:gs pos="0">
                <a:srgbClr val="00CC00"/>
              </a:gs>
              <a:gs pos="50000">
                <a:schemeClr val="bg1"/>
              </a:gs>
              <a:gs pos="100000">
                <a:srgbClr val="00CC00"/>
              </a:gs>
            </a:gsLst>
            <a:lin ang="5400000" scaled="1"/>
          </a:gradFill>
          <a:ln w="6350">
            <a:solidFill>
              <a:srgbClr val="7CE07C"/>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160" name="Text Box 26">
            <a:extLst>
              <a:ext uri="{FF2B5EF4-FFF2-40B4-BE49-F238E27FC236}">
                <a16:creationId xmlns:a16="http://schemas.microsoft.com/office/drawing/2014/main" id="{8E084F96-F4A0-F49D-4A64-040AB51564C2}"/>
              </a:ext>
            </a:extLst>
          </p:cNvPr>
          <p:cNvSpPr txBox="1">
            <a:spLocks noChangeArrowheads="1"/>
          </p:cNvSpPr>
          <p:nvPr/>
        </p:nvSpPr>
        <p:spPr bwMode="auto">
          <a:xfrm>
            <a:off x="2701348" y="4023229"/>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dirty="0">
                <a:latin typeface="+mj-lt"/>
                <a:ea typeface="+mj-ea"/>
              </a:rPr>
              <a:t>物理传输媒体</a:t>
            </a:r>
          </a:p>
        </p:txBody>
      </p:sp>
      <p:sp>
        <p:nvSpPr>
          <p:cNvPr id="162" name="Text Box 26">
            <a:extLst>
              <a:ext uri="{FF2B5EF4-FFF2-40B4-BE49-F238E27FC236}">
                <a16:creationId xmlns:a16="http://schemas.microsoft.com/office/drawing/2014/main" id="{C2BD6D71-E74E-CBA2-8EAF-E957AD7BEA93}"/>
              </a:ext>
            </a:extLst>
          </p:cNvPr>
          <p:cNvSpPr txBox="1">
            <a:spLocks noChangeArrowheads="1"/>
          </p:cNvSpPr>
          <p:nvPr/>
        </p:nvSpPr>
        <p:spPr bwMode="auto">
          <a:xfrm>
            <a:off x="6193730" y="4023229"/>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dirty="0">
                <a:latin typeface="+mj-lt"/>
                <a:ea typeface="+mj-ea"/>
              </a:rPr>
              <a:t>物理传输媒体</a:t>
            </a:r>
          </a:p>
        </p:txBody>
      </p:sp>
      <p:grpSp>
        <p:nvGrpSpPr>
          <p:cNvPr id="149" name="组合 148">
            <a:extLst>
              <a:ext uri="{FF2B5EF4-FFF2-40B4-BE49-F238E27FC236}">
                <a16:creationId xmlns:a16="http://schemas.microsoft.com/office/drawing/2014/main" id="{012EC147-0B2F-991F-DC31-9FAA2423A234}"/>
              </a:ext>
            </a:extLst>
          </p:cNvPr>
          <p:cNvGrpSpPr/>
          <p:nvPr/>
        </p:nvGrpSpPr>
        <p:grpSpPr>
          <a:xfrm>
            <a:off x="3960000" y="2808000"/>
            <a:ext cx="1080000" cy="1080000"/>
            <a:chOff x="2807995" y="2745746"/>
            <a:chExt cx="1080000" cy="1080000"/>
          </a:xfrm>
        </p:grpSpPr>
        <p:sp>
          <p:nvSpPr>
            <p:cNvPr id="150" name="立方体 149">
              <a:extLst>
                <a:ext uri="{FF2B5EF4-FFF2-40B4-BE49-F238E27FC236}">
                  <a16:creationId xmlns:a16="http://schemas.microsoft.com/office/drawing/2014/main" id="{90AB7F39-9449-D4E4-6DD8-E9DDD472B8E1}"/>
                </a:ext>
              </a:extLst>
            </p:cNvPr>
            <p:cNvSpPr/>
            <p:nvPr/>
          </p:nvSpPr>
          <p:spPr>
            <a:xfrm>
              <a:off x="2807995" y="3393746"/>
              <a:ext cx="594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sz="1050" dirty="0">
                  <a:solidFill>
                    <a:schemeClr val="bg1"/>
                  </a:solidFill>
                </a:rPr>
                <a:t>1</a:t>
              </a:r>
              <a:endParaRPr lang="zh-CN" altLang="en-US" sz="1050" dirty="0">
                <a:solidFill>
                  <a:schemeClr val="bg1"/>
                </a:solidFill>
              </a:endParaRPr>
            </a:p>
          </p:txBody>
        </p:sp>
        <p:sp>
          <p:nvSpPr>
            <p:cNvPr id="151" name="立方体 150">
              <a:extLst>
                <a:ext uri="{FF2B5EF4-FFF2-40B4-BE49-F238E27FC236}">
                  <a16:creationId xmlns:a16="http://schemas.microsoft.com/office/drawing/2014/main" id="{38D3C803-1048-1C8E-3811-BB34F56B9DE8}"/>
                </a:ext>
              </a:extLst>
            </p:cNvPr>
            <p:cNvSpPr/>
            <p:nvPr/>
          </p:nvSpPr>
          <p:spPr>
            <a:xfrm>
              <a:off x="2807995" y="3069746"/>
              <a:ext cx="594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sz="1050" dirty="0">
                  <a:solidFill>
                    <a:schemeClr val="bg1"/>
                  </a:solidFill>
                </a:rPr>
                <a:t>2</a:t>
              </a:r>
              <a:endParaRPr lang="zh-CN" altLang="en-US" sz="1050" dirty="0">
                <a:solidFill>
                  <a:schemeClr val="bg1"/>
                </a:solidFill>
              </a:endParaRPr>
            </a:p>
          </p:txBody>
        </p:sp>
        <p:sp>
          <p:nvSpPr>
            <p:cNvPr id="152" name="立方体 151">
              <a:extLst>
                <a:ext uri="{FF2B5EF4-FFF2-40B4-BE49-F238E27FC236}">
                  <a16:creationId xmlns:a16="http://schemas.microsoft.com/office/drawing/2014/main" id="{E3193FAB-CAB2-C9FD-F694-67EA0E2AF6AD}"/>
                </a:ext>
              </a:extLst>
            </p:cNvPr>
            <p:cNvSpPr/>
            <p:nvPr/>
          </p:nvSpPr>
          <p:spPr>
            <a:xfrm>
              <a:off x="3293995" y="3393746"/>
              <a:ext cx="594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sz="1050" dirty="0">
                  <a:solidFill>
                    <a:schemeClr val="bg1"/>
                  </a:solidFill>
                </a:rPr>
                <a:t>1</a:t>
              </a:r>
              <a:endParaRPr lang="zh-CN" altLang="en-US" sz="1050" dirty="0">
                <a:solidFill>
                  <a:schemeClr val="bg1"/>
                </a:solidFill>
              </a:endParaRPr>
            </a:p>
          </p:txBody>
        </p:sp>
        <p:sp>
          <p:nvSpPr>
            <p:cNvPr id="153" name="立方体 152">
              <a:extLst>
                <a:ext uri="{FF2B5EF4-FFF2-40B4-BE49-F238E27FC236}">
                  <a16:creationId xmlns:a16="http://schemas.microsoft.com/office/drawing/2014/main" id="{44916DA4-7993-FE99-EA8B-F94A85888338}"/>
                </a:ext>
              </a:extLst>
            </p:cNvPr>
            <p:cNvSpPr/>
            <p:nvPr/>
          </p:nvSpPr>
          <p:spPr>
            <a:xfrm>
              <a:off x="3293995" y="3069746"/>
              <a:ext cx="594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sz="1050" dirty="0">
                  <a:solidFill>
                    <a:schemeClr val="bg1"/>
                  </a:solidFill>
                </a:rPr>
                <a:t>2</a:t>
              </a:r>
              <a:endParaRPr lang="zh-CN" altLang="en-US" sz="1050" dirty="0">
                <a:solidFill>
                  <a:schemeClr val="bg1"/>
                </a:solidFill>
              </a:endParaRPr>
            </a:p>
          </p:txBody>
        </p:sp>
        <p:sp>
          <p:nvSpPr>
            <p:cNvPr id="154" name="立方体 153">
              <a:extLst>
                <a:ext uri="{FF2B5EF4-FFF2-40B4-BE49-F238E27FC236}">
                  <a16:creationId xmlns:a16="http://schemas.microsoft.com/office/drawing/2014/main" id="{48590A5F-B0E4-EA21-ABCE-4208A3E97B4C}"/>
                </a:ext>
              </a:extLst>
            </p:cNvPr>
            <p:cNvSpPr/>
            <p:nvPr/>
          </p:nvSpPr>
          <p:spPr>
            <a:xfrm>
              <a:off x="2807995" y="2745746"/>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pPr algn="ctr"/>
              <a:r>
                <a:rPr lang="en-US" altLang="zh-CN" sz="1050" dirty="0">
                  <a:solidFill>
                    <a:schemeClr val="bg1"/>
                  </a:solidFill>
                </a:rPr>
                <a:t>3</a:t>
              </a:r>
              <a:endParaRPr lang="zh-CN" altLang="en-US" sz="1050" dirty="0">
                <a:solidFill>
                  <a:schemeClr val="bg1"/>
                </a:solidFill>
              </a:endParaRPr>
            </a:p>
          </p:txBody>
        </p:sp>
      </p:grpSp>
      <p:grpSp>
        <p:nvGrpSpPr>
          <p:cNvPr id="77" name="组合 76">
            <a:extLst>
              <a:ext uri="{FF2B5EF4-FFF2-40B4-BE49-F238E27FC236}">
                <a16:creationId xmlns:a16="http://schemas.microsoft.com/office/drawing/2014/main" id="{849C4BE5-129C-BCE9-7BB2-E4A8D9C2B119}"/>
              </a:ext>
            </a:extLst>
          </p:cNvPr>
          <p:cNvGrpSpPr/>
          <p:nvPr/>
        </p:nvGrpSpPr>
        <p:grpSpPr>
          <a:xfrm>
            <a:off x="7395732" y="1800000"/>
            <a:ext cx="1080000" cy="2088000"/>
            <a:chOff x="701211" y="1800000"/>
            <a:chExt cx="1080000" cy="2088000"/>
          </a:xfrm>
        </p:grpSpPr>
        <p:sp>
          <p:nvSpPr>
            <p:cNvPr id="78" name="立方体 77">
              <a:extLst>
                <a:ext uri="{FF2B5EF4-FFF2-40B4-BE49-F238E27FC236}">
                  <a16:creationId xmlns:a16="http://schemas.microsoft.com/office/drawing/2014/main" id="{17B4B0E4-D8D2-1DA7-96C8-983E46FB6F0C}"/>
                </a:ext>
              </a:extLst>
            </p:cNvPr>
            <p:cNvSpPr/>
            <p:nvPr/>
          </p:nvSpPr>
          <p:spPr>
            <a:xfrm>
              <a:off x="701211" y="3456000"/>
              <a:ext cx="108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050" dirty="0">
                  <a:solidFill>
                    <a:schemeClr val="bg1"/>
                  </a:solidFill>
                </a:rPr>
                <a:t>1 </a:t>
              </a:r>
              <a:r>
                <a:rPr lang="zh-CN" altLang="en-US" sz="1050" dirty="0">
                  <a:solidFill>
                    <a:schemeClr val="bg1"/>
                  </a:solidFill>
                </a:rPr>
                <a:t>物理层</a:t>
              </a:r>
            </a:p>
          </p:txBody>
        </p:sp>
        <p:sp>
          <p:nvSpPr>
            <p:cNvPr id="79" name="立方体 78">
              <a:extLst>
                <a:ext uri="{FF2B5EF4-FFF2-40B4-BE49-F238E27FC236}">
                  <a16:creationId xmlns:a16="http://schemas.microsoft.com/office/drawing/2014/main" id="{5B9518D6-45C7-32F5-2F30-F113C9061586}"/>
                </a:ext>
              </a:extLst>
            </p:cNvPr>
            <p:cNvSpPr/>
            <p:nvPr/>
          </p:nvSpPr>
          <p:spPr>
            <a:xfrm>
              <a:off x="701211" y="3132000"/>
              <a:ext cx="108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050" dirty="0">
                  <a:solidFill>
                    <a:schemeClr val="bg1"/>
                  </a:solidFill>
                </a:rPr>
                <a:t>2 </a:t>
              </a:r>
              <a:r>
                <a:rPr lang="zh-CN" altLang="en-US" sz="1050" dirty="0">
                  <a:solidFill>
                    <a:schemeClr val="bg1"/>
                  </a:solidFill>
                </a:rPr>
                <a:t>数据链路层</a:t>
              </a:r>
            </a:p>
          </p:txBody>
        </p:sp>
        <p:sp>
          <p:nvSpPr>
            <p:cNvPr id="80" name="立方体 79">
              <a:extLst>
                <a:ext uri="{FF2B5EF4-FFF2-40B4-BE49-F238E27FC236}">
                  <a16:creationId xmlns:a16="http://schemas.microsoft.com/office/drawing/2014/main" id="{57BCEE08-E861-2BFD-F0B8-580A26D2F3B6}"/>
                </a:ext>
              </a:extLst>
            </p:cNvPr>
            <p:cNvSpPr/>
            <p:nvPr/>
          </p:nvSpPr>
          <p:spPr>
            <a:xfrm>
              <a:off x="701211" y="2808000"/>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050" dirty="0">
                  <a:solidFill>
                    <a:schemeClr val="bg1"/>
                  </a:solidFill>
                </a:rPr>
                <a:t>3 </a:t>
              </a:r>
              <a:r>
                <a:rPr lang="zh-CN" altLang="en-US" sz="1050" dirty="0">
                  <a:solidFill>
                    <a:schemeClr val="bg1"/>
                  </a:solidFill>
                </a:rPr>
                <a:t>网络层</a:t>
              </a:r>
            </a:p>
          </p:txBody>
        </p:sp>
        <p:sp>
          <p:nvSpPr>
            <p:cNvPr id="81" name="立方体 80">
              <a:extLst>
                <a:ext uri="{FF2B5EF4-FFF2-40B4-BE49-F238E27FC236}">
                  <a16:creationId xmlns:a16="http://schemas.microsoft.com/office/drawing/2014/main" id="{BCE67DFD-7E86-A1D1-FC62-C72A89319C8B}"/>
                </a:ext>
              </a:extLst>
            </p:cNvPr>
            <p:cNvSpPr/>
            <p:nvPr/>
          </p:nvSpPr>
          <p:spPr>
            <a:xfrm>
              <a:off x="701211" y="2484000"/>
              <a:ext cx="108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050" dirty="0">
                  <a:solidFill>
                    <a:schemeClr val="bg1"/>
                  </a:solidFill>
                </a:rPr>
                <a:t>4 </a:t>
              </a:r>
              <a:r>
                <a:rPr lang="zh-CN" altLang="en-US" sz="1050" dirty="0">
                  <a:solidFill>
                    <a:schemeClr val="bg1"/>
                  </a:solidFill>
                </a:rPr>
                <a:t>运输层</a:t>
              </a:r>
            </a:p>
          </p:txBody>
        </p:sp>
        <p:sp>
          <p:nvSpPr>
            <p:cNvPr id="83" name="立方体 82">
              <a:extLst>
                <a:ext uri="{FF2B5EF4-FFF2-40B4-BE49-F238E27FC236}">
                  <a16:creationId xmlns:a16="http://schemas.microsoft.com/office/drawing/2014/main" id="{34B3D482-FB24-DFC5-AB12-F9C1FEA00618}"/>
                </a:ext>
              </a:extLst>
            </p:cNvPr>
            <p:cNvSpPr/>
            <p:nvPr/>
          </p:nvSpPr>
          <p:spPr>
            <a:xfrm>
              <a:off x="701211" y="2160000"/>
              <a:ext cx="108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050" dirty="0">
                  <a:solidFill>
                    <a:schemeClr val="bg1"/>
                  </a:solidFill>
                </a:rPr>
                <a:t>5 </a:t>
              </a:r>
              <a:r>
                <a:rPr lang="zh-CN" altLang="en-US" sz="1050" dirty="0">
                  <a:solidFill>
                    <a:schemeClr val="bg1"/>
                  </a:solidFill>
                </a:rPr>
                <a:t>应用层</a:t>
              </a:r>
            </a:p>
          </p:txBody>
        </p:sp>
        <p:sp>
          <p:nvSpPr>
            <p:cNvPr id="84" name="圆柱体 83">
              <a:extLst>
                <a:ext uri="{FF2B5EF4-FFF2-40B4-BE49-F238E27FC236}">
                  <a16:creationId xmlns:a16="http://schemas.microsoft.com/office/drawing/2014/main" id="{D99BC6CA-0797-1651-915F-45D24C212EF1}"/>
                </a:ext>
              </a:extLst>
            </p:cNvPr>
            <p:cNvSpPr/>
            <p:nvPr/>
          </p:nvSpPr>
          <p:spPr>
            <a:xfrm>
              <a:off x="953211" y="1800000"/>
              <a:ext cx="576000" cy="360000"/>
            </a:xfrm>
            <a:prstGeom prst="can">
              <a:avLst/>
            </a:prstGeom>
            <a:solidFill>
              <a:srgbClr val="FFFF00"/>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000" dirty="0">
                  <a:solidFill>
                    <a:sysClr val="windowText" lastClr="000000"/>
                  </a:solidFill>
                </a:rPr>
                <a:t>AP1</a:t>
              </a:r>
              <a:endParaRPr lang="zh-CN" altLang="en-US" sz="1000" dirty="0">
                <a:solidFill>
                  <a:sysClr val="windowText" lastClr="000000"/>
                </a:solidFill>
              </a:endParaRPr>
            </a:p>
          </p:txBody>
        </p:sp>
      </p:grpSp>
      <p:grpSp>
        <p:nvGrpSpPr>
          <p:cNvPr id="85" name="组合 84">
            <a:extLst>
              <a:ext uri="{FF2B5EF4-FFF2-40B4-BE49-F238E27FC236}">
                <a16:creationId xmlns:a16="http://schemas.microsoft.com/office/drawing/2014/main" id="{8F92644C-0D7B-9087-428B-BAC93BD0A201}"/>
              </a:ext>
            </a:extLst>
          </p:cNvPr>
          <p:cNvGrpSpPr/>
          <p:nvPr/>
        </p:nvGrpSpPr>
        <p:grpSpPr>
          <a:xfrm>
            <a:off x="701211" y="1800000"/>
            <a:ext cx="1080000" cy="2088000"/>
            <a:chOff x="701211" y="1800000"/>
            <a:chExt cx="1080000" cy="2088000"/>
          </a:xfrm>
        </p:grpSpPr>
        <p:sp>
          <p:nvSpPr>
            <p:cNvPr id="86" name="立方体 85">
              <a:extLst>
                <a:ext uri="{FF2B5EF4-FFF2-40B4-BE49-F238E27FC236}">
                  <a16:creationId xmlns:a16="http://schemas.microsoft.com/office/drawing/2014/main" id="{64CF0BA0-49BD-DE8D-72E5-6E0EB3D4230D}"/>
                </a:ext>
              </a:extLst>
            </p:cNvPr>
            <p:cNvSpPr/>
            <p:nvPr/>
          </p:nvSpPr>
          <p:spPr>
            <a:xfrm>
              <a:off x="701211" y="3456000"/>
              <a:ext cx="108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050" dirty="0">
                  <a:solidFill>
                    <a:schemeClr val="bg1"/>
                  </a:solidFill>
                </a:rPr>
                <a:t>1 </a:t>
              </a:r>
              <a:r>
                <a:rPr lang="zh-CN" altLang="en-US" sz="1050" dirty="0">
                  <a:solidFill>
                    <a:schemeClr val="bg1"/>
                  </a:solidFill>
                </a:rPr>
                <a:t>物理层</a:t>
              </a:r>
            </a:p>
          </p:txBody>
        </p:sp>
        <p:sp>
          <p:nvSpPr>
            <p:cNvPr id="89" name="立方体 88">
              <a:extLst>
                <a:ext uri="{FF2B5EF4-FFF2-40B4-BE49-F238E27FC236}">
                  <a16:creationId xmlns:a16="http://schemas.microsoft.com/office/drawing/2014/main" id="{C372EB7F-AEA5-9386-85C5-D7F9D572ECA3}"/>
                </a:ext>
              </a:extLst>
            </p:cNvPr>
            <p:cNvSpPr/>
            <p:nvPr/>
          </p:nvSpPr>
          <p:spPr>
            <a:xfrm>
              <a:off x="701211" y="3132000"/>
              <a:ext cx="108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050" dirty="0">
                  <a:solidFill>
                    <a:schemeClr val="bg1"/>
                  </a:solidFill>
                </a:rPr>
                <a:t>2 </a:t>
              </a:r>
              <a:r>
                <a:rPr lang="zh-CN" altLang="en-US" sz="1050" dirty="0">
                  <a:solidFill>
                    <a:schemeClr val="bg1"/>
                  </a:solidFill>
                </a:rPr>
                <a:t>数据链路层</a:t>
              </a:r>
            </a:p>
          </p:txBody>
        </p:sp>
        <p:sp>
          <p:nvSpPr>
            <p:cNvPr id="90" name="立方体 89">
              <a:extLst>
                <a:ext uri="{FF2B5EF4-FFF2-40B4-BE49-F238E27FC236}">
                  <a16:creationId xmlns:a16="http://schemas.microsoft.com/office/drawing/2014/main" id="{9A1C0024-AA17-E5C7-5F68-7E79CA87029A}"/>
                </a:ext>
              </a:extLst>
            </p:cNvPr>
            <p:cNvSpPr/>
            <p:nvPr/>
          </p:nvSpPr>
          <p:spPr>
            <a:xfrm>
              <a:off x="701211" y="2808000"/>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050" dirty="0">
                  <a:solidFill>
                    <a:schemeClr val="bg1"/>
                  </a:solidFill>
                </a:rPr>
                <a:t>3 </a:t>
              </a:r>
              <a:r>
                <a:rPr lang="zh-CN" altLang="en-US" sz="1050" dirty="0">
                  <a:solidFill>
                    <a:schemeClr val="bg1"/>
                  </a:solidFill>
                </a:rPr>
                <a:t>网络层</a:t>
              </a:r>
            </a:p>
          </p:txBody>
        </p:sp>
        <p:sp>
          <p:nvSpPr>
            <p:cNvPr id="91" name="立方体 90">
              <a:extLst>
                <a:ext uri="{FF2B5EF4-FFF2-40B4-BE49-F238E27FC236}">
                  <a16:creationId xmlns:a16="http://schemas.microsoft.com/office/drawing/2014/main" id="{17E1F645-0432-DBCC-0E45-DEA93F233786}"/>
                </a:ext>
              </a:extLst>
            </p:cNvPr>
            <p:cNvSpPr/>
            <p:nvPr/>
          </p:nvSpPr>
          <p:spPr>
            <a:xfrm>
              <a:off x="701211" y="2484000"/>
              <a:ext cx="108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050" dirty="0">
                  <a:solidFill>
                    <a:schemeClr val="bg1"/>
                  </a:solidFill>
                </a:rPr>
                <a:t>4 </a:t>
              </a:r>
              <a:r>
                <a:rPr lang="zh-CN" altLang="en-US" sz="1050" dirty="0">
                  <a:solidFill>
                    <a:schemeClr val="bg1"/>
                  </a:solidFill>
                </a:rPr>
                <a:t>运输层</a:t>
              </a:r>
            </a:p>
          </p:txBody>
        </p:sp>
        <p:sp>
          <p:nvSpPr>
            <p:cNvPr id="93" name="立方体 92">
              <a:extLst>
                <a:ext uri="{FF2B5EF4-FFF2-40B4-BE49-F238E27FC236}">
                  <a16:creationId xmlns:a16="http://schemas.microsoft.com/office/drawing/2014/main" id="{58860F11-50DB-DE83-5289-D030F4805994}"/>
                </a:ext>
              </a:extLst>
            </p:cNvPr>
            <p:cNvSpPr/>
            <p:nvPr/>
          </p:nvSpPr>
          <p:spPr>
            <a:xfrm>
              <a:off x="701211" y="2160000"/>
              <a:ext cx="108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050" dirty="0">
                  <a:solidFill>
                    <a:schemeClr val="bg1"/>
                  </a:solidFill>
                </a:rPr>
                <a:t>5 </a:t>
              </a:r>
              <a:r>
                <a:rPr lang="zh-CN" altLang="en-US" sz="1050" dirty="0">
                  <a:solidFill>
                    <a:schemeClr val="bg1"/>
                  </a:solidFill>
                </a:rPr>
                <a:t>应用层</a:t>
              </a:r>
            </a:p>
          </p:txBody>
        </p:sp>
        <p:sp>
          <p:nvSpPr>
            <p:cNvPr id="94" name="圆柱体 93">
              <a:extLst>
                <a:ext uri="{FF2B5EF4-FFF2-40B4-BE49-F238E27FC236}">
                  <a16:creationId xmlns:a16="http://schemas.microsoft.com/office/drawing/2014/main" id="{4DD52EF8-A11E-8114-ECA9-DBF4720F9E41}"/>
                </a:ext>
              </a:extLst>
            </p:cNvPr>
            <p:cNvSpPr/>
            <p:nvPr/>
          </p:nvSpPr>
          <p:spPr>
            <a:xfrm>
              <a:off x="953211" y="1800000"/>
              <a:ext cx="576000" cy="360000"/>
            </a:xfrm>
            <a:prstGeom prst="can">
              <a:avLst/>
            </a:prstGeom>
            <a:solidFill>
              <a:srgbClr val="FFFF00"/>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000" dirty="0">
                  <a:solidFill>
                    <a:sysClr val="windowText" lastClr="000000"/>
                  </a:solidFill>
                </a:rPr>
                <a:t>AP1</a:t>
              </a:r>
              <a:endParaRPr lang="zh-CN" altLang="en-US" sz="1000" dirty="0">
                <a:solidFill>
                  <a:sysClr val="windowText" lastClr="000000"/>
                </a:solidFill>
              </a:endParaRPr>
            </a:p>
          </p:txBody>
        </p:sp>
      </p:grpSp>
      <p:sp>
        <p:nvSpPr>
          <p:cNvPr id="25" name="Text Box 29"/>
          <p:cNvSpPr txBox="1">
            <a:spLocks noChangeArrowheads="1"/>
          </p:cNvSpPr>
          <p:nvPr/>
        </p:nvSpPr>
        <p:spPr bwMode="auto">
          <a:xfrm>
            <a:off x="110689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1</a:t>
            </a:r>
          </a:p>
        </p:txBody>
      </p:sp>
      <p:sp>
        <p:nvSpPr>
          <p:cNvPr id="38" name="Text Box 29"/>
          <p:cNvSpPr txBox="1">
            <a:spLocks noChangeArrowheads="1"/>
          </p:cNvSpPr>
          <p:nvPr/>
        </p:nvSpPr>
        <p:spPr bwMode="auto">
          <a:xfrm>
            <a:off x="736975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2</a:t>
            </a:r>
          </a:p>
        </p:txBody>
      </p:sp>
      <p:sp>
        <p:nvSpPr>
          <p:cNvPr id="39" name="Text Box 29"/>
          <p:cNvSpPr txBox="1">
            <a:spLocks noChangeArrowheads="1"/>
          </p:cNvSpPr>
          <p:nvPr/>
        </p:nvSpPr>
        <p:spPr bwMode="auto">
          <a:xfrm>
            <a:off x="4160212" y="107510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路由器</a:t>
            </a:r>
            <a:endParaRPr kumimoji="1" lang="en-US" altLang="zh-CN" sz="1200" b="1" dirty="0">
              <a:solidFill>
                <a:srgbClr val="0000FF"/>
              </a:solidFill>
              <a:latin typeface="微软雅黑" panose="020B0503020204020204" pitchFamily="34" charset="-122"/>
              <a:ea typeface="微软雅黑" panose="020B0503020204020204" pitchFamily="34" charset="-122"/>
            </a:endParaRPr>
          </a:p>
        </p:txBody>
      </p:sp>
      <p:cxnSp>
        <p:nvCxnSpPr>
          <p:cNvPr id="69" name="直接连接符 68"/>
          <p:cNvCxnSpPr/>
          <p:nvPr/>
        </p:nvCxnSpPr>
        <p:spPr>
          <a:xfrm>
            <a:off x="1418143" y="1507958"/>
            <a:ext cx="6306131" cy="0"/>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pic>
        <p:nvPicPr>
          <p:cNvPr id="36"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486661" y="1312469"/>
            <a:ext cx="410222"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7"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202308" y="1312469"/>
            <a:ext cx="410223"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140" name="直接箭头连接符 139"/>
          <p:cNvCxnSpPr/>
          <p:nvPr/>
        </p:nvCxnSpPr>
        <p:spPr>
          <a:xfrm>
            <a:off x="1561619" y="1428166"/>
            <a:ext cx="5941518" cy="0"/>
          </a:xfrm>
          <a:prstGeom prst="straightConnector1">
            <a:avLst/>
          </a:prstGeom>
          <a:ln w="28575">
            <a:solidFill>
              <a:srgbClr val="CC00CC"/>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35" name="Picture 4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54124" y="1385466"/>
            <a:ext cx="454438" cy="2643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73" name="AutoShape 51"/>
          <p:cNvSpPr>
            <a:spLocks noChangeArrowheads="1"/>
          </p:cNvSpPr>
          <p:nvPr/>
        </p:nvSpPr>
        <p:spPr bwMode="auto">
          <a:xfrm flipV="1">
            <a:off x="1237476" y="2076244"/>
            <a:ext cx="145966" cy="205414"/>
          </a:xfrm>
          <a:prstGeom prst="upArrow">
            <a:avLst>
              <a:gd name="adj1" fmla="val 50000"/>
              <a:gd name="adj2" fmla="val 45968"/>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88" name="AutoShape 54"/>
          <p:cNvSpPr>
            <a:spLocks noChangeArrowheads="1"/>
          </p:cNvSpPr>
          <p:nvPr/>
        </p:nvSpPr>
        <p:spPr bwMode="auto">
          <a:xfrm rot="10800000">
            <a:off x="1237478" y="2439149"/>
            <a:ext cx="147144" cy="221279"/>
          </a:xfrm>
          <a:prstGeom prst="upArrow">
            <a:avLst>
              <a:gd name="adj1" fmla="val 50000"/>
              <a:gd name="adj2" fmla="val 498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5" name="AutoShape 57"/>
          <p:cNvSpPr>
            <a:spLocks noChangeArrowheads="1"/>
          </p:cNvSpPr>
          <p:nvPr/>
        </p:nvSpPr>
        <p:spPr bwMode="auto">
          <a:xfrm rot="10800000">
            <a:off x="1235122" y="2826328"/>
            <a:ext cx="148321" cy="222762"/>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07" name="AutoShape 57"/>
          <p:cNvSpPr>
            <a:spLocks noChangeArrowheads="1"/>
          </p:cNvSpPr>
          <p:nvPr/>
        </p:nvSpPr>
        <p:spPr bwMode="auto">
          <a:xfrm rot="10800000">
            <a:off x="1226181" y="3198896"/>
            <a:ext cx="156561" cy="213191"/>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19" name="AutoShape 63"/>
          <p:cNvSpPr>
            <a:spLocks noChangeArrowheads="1"/>
          </p:cNvSpPr>
          <p:nvPr/>
        </p:nvSpPr>
        <p:spPr bwMode="auto">
          <a:xfrm rot="10800000">
            <a:off x="1226181" y="3567260"/>
            <a:ext cx="165978" cy="238153"/>
          </a:xfrm>
          <a:prstGeom prst="upArrow">
            <a:avLst>
              <a:gd name="adj1" fmla="val 50000"/>
              <a:gd name="adj2" fmla="val 50403"/>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00" name="AutoShape 25"/>
          <p:cNvSpPr>
            <a:spLocks noChangeArrowheads="1"/>
          </p:cNvSpPr>
          <p:nvPr/>
        </p:nvSpPr>
        <p:spPr bwMode="auto">
          <a:xfrm flipV="1">
            <a:off x="1266066" y="3955320"/>
            <a:ext cx="263283" cy="281183"/>
          </a:xfrm>
          <a:custGeom>
            <a:avLst/>
            <a:gdLst>
              <a:gd name="T0" fmla="*/ 218339 w 21600"/>
              <a:gd name="T1" fmla="*/ 0 h 21600"/>
              <a:gd name="T2" fmla="*/ 218339 w 21600"/>
              <a:gd name="T3" fmla="*/ 171757 h 21600"/>
              <a:gd name="T4" fmla="*/ 46725 w 21600"/>
              <a:gd name="T5" fmla="*/ 305144 h 21600"/>
              <a:gd name="T6" fmla="*/ 311789 w 21600"/>
              <a:gd name="T7" fmla="*/ 85878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11" name="AutoShape 42"/>
          <p:cNvSpPr>
            <a:spLocks noChangeArrowheads="1"/>
          </p:cNvSpPr>
          <p:nvPr/>
        </p:nvSpPr>
        <p:spPr bwMode="auto">
          <a:xfrm rot="5400000" flipH="1">
            <a:off x="3905139" y="3932147"/>
            <a:ext cx="254669" cy="288428"/>
          </a:xfrm>
          <a:custGeom>
            <a:avLst/>
            <a:gdLst>
              <a:gd name="T0" fmla="*/ 220161 w 21600"/>
              <a:gd name="T1" fmla="*/ 0 h 21600"/>
              <a:gd name="T2" fmla="*/ 220161 w 21600"/>
              <a:gd name="T3" fmla="*/ 175497 h 21600"/>
              <a:gd name="T4" fmla="*/ 47115 w 21600"/>
              <a:gd name="T5" fmla="*/ 311790 h 21600"/>
              <a:gd name="T6" fmla="*/ 314391 w 21600"/>
              <a:gd name="T7" fmla="*/ 87749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nvGrpSpPr>
          <p:cNvPr id="125" name="Group 34"/>
          <p:cNvGrpSpPr/>
          <p:nvPr/>
        </p:nvGrpSpPr>
        <p:grpSpPr bwMode="auto">
          <a:xfrm>
            <a:off x="1792727" y="4119885"/>
            <a:ext cx="841456" cy="101715"/>
            <a:chOff x="1344" y="912"/>
            <a:chExt cx="672" cy="96"/>
          </a:xfrm>
          <a:solidFill>
            <a:srgbClr val="FF0000"/>
          </a:solidFill>
        </p:grpSpPr>
        <p:sp>
          <p:nvSpPr>
            <p:cNvPr id="126" name="Line 35"/>
            <p:cNvSpPr>
              <a:spLocks noChangeShapeType="1"/>
            </p:cNvSpPr>
            <p:nvPr/>
          </p:nvSpPr>
          <p:spPr bwMode="auto">
            <a:xfrm>
              <a:off x="1344" y="960"/>
              <a:ext cx="672" cy="0"/>
            </a:xfrm>
            <a:prstGeom prst="line">
              <a:avLst/>
            </a:prstGeom>
            <a:grpFill/>
            <a:ln w="12700">
              <a:no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sp>
          <p:nvSpPr>
            <p:cNvPr id="127" name="Freeform 36"/>
            <p:cNvSpPr/>
            <p:nvPr/>
          </p:nvSpPr>
          <p:spPr bwMode="auto">
            <a:xfrm>
              <a:off x="1392" y="912"/>
              <a:ext cx="576" cy="96"/>
            </a:xfrm>
            <a:custGeom>
              <a:avLst/>
              <a:gdLst>
                <a:gd name="T0" fmla="*/ 0 w 576"/>
                <a:gd name="T1" fmla="*/ 96 h 192"/>
                <a:gd name="T2" fmla="*/ 0 w 576"/>
                <a:gd name="T3" fmla="*/ 0 h 192"/>
                <a:gd name="T4" fmla="*/ 192 w 576"/>
                <a:gd name="T5" fmla="*/ 0 h 192"/>
                <a:gd name="T6" fmla="*/ 192 w 576"/>
                <a:gd name="T7" fmla="*/ 192 h 192"/>
                <a:gd name="T8" fmla="*/ 288 w 576"/>
                <a:gd name="T9" fmla="*/ 192 h 192"/>
                <a:gd name="T10" fmla="*/ 288 w 576"/>
                <a:gd name="T11" fmla="*/ 0 h 192"/>
                <a:gd name="T12" fmla="*/ 336 w 576"/>
                <a:gd name="T13" fmla="*/ 0 h 192"/>
                <a:gd name="T14" fmla="*/ 336 w 576"/>
                <a:gd name="T15" fmla="*/ 192 h 192"/>
                <a:gd name="T16" fmla="*/ 480 w 576"/>
                <a:gd name="T17" fmla="*/ 192 h 192"/>
                <a:gd name="T18" fmla="*/ 480 w 576"/>
                <a:gd name="T19" fmla="*/ 0 h 192"/>
                <a:gd name="T20" fmla="*/ 576 w 576"/>
                <a:gd name="T21" fmla="*/ 0 h 192"/>
                <a:gd name="T22" fmla="*/ 576 w 576"/>
                <a:gd name="T23" fmla="*/ 96 h 192"/>
                <a:gd name="T24" fmla="*/ 0 w 576"/>
                <a:gd name="T25" fmla="*/ 96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6" h="192">
                  <a:moveTo>
                    <a:pt x="0" y="96"/>
                  </a:moveTo>
                  <a:lnTo>
                    <a:pt x="0" y="0"/>
                  </a:lnTo>
                  <a:lnTo>
                    <a:pt x="192" y="0"/>
                  </a:lnTo>
                  <a:lnTo>
                    <a:pt x="192" y="192"/>
                  </a:lnTo>
                  <a:lnTo>
                    <a:pt x="288" y="192"/>
                  </a:lnTo>
                  <a:lnTo>
                    <a:pt x="288" y="0"/>
                  </a:lnTo>
                  <a:lnTo>
                    <a:pt x="336" y="0"/>
                  </a:lnTo>
                  <a:lnTo>
                    <a:pt x="336" y="192"/>
                  </a:lnTo>
                  <a:lnTo>
                    <a:pt x="480" y="192"/>
                  </a:lnTo>
                  <a:lnTo>
                    <a:pt x="480" y="0"/>
                  </a:lnTo>
                  <a:lnTo>
                    <a:pt x="576" y="0"/>
                  </a:lnTo>
                  <a:lnTo>
                    <a:pt x="576" y="96"/>
                  </a:lnTo>
                  <a:lnTo>
                    <a:pt x="0" y="96"/>
                  </a:lnTo>
                  <a:close/>
                </a:path>
              </a:pathLst>
            </a:custGeom>
            <a:grpFill/>
            <a:ln w="12700" cap="flat" cmpd="sng">
              <a:noFill/>
              <a:prstDash val="solid"/>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grpSp>
      <p:sp>
        <p:nvSpPr>
          <p:cNvPr id="87" name="上箭头 86"/>
          <p:cNvSpPr/>
          <p:nvPr/>
        </p:nvSpPr>
        <p:spPr>
          <a:xfrm>
            <a:off x="4028301" y="3527399"/>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2" name="上箭头 81"/>
          <p:cNvSpPr/>
          <p:nvPr/>
        </p:nvSpPr>
        <p:spPr>
          <a:xfrm>
            <a:off x="4028301" y="3154024"/>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2" name="下箭头 91"/>
          <p:cNvSpPr/>
          <p:nvPr/>
        </p:nvSpPr>
        <p:spPr>
          <a:xfrm>
            <a:off x="4682483" y="3179766"/>
            <a:ext cx="180462" cy="249234"/>
          </a:xfrm>
          <a:prstGeom prst="down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4" name="下箭头 123"/>
          <p:cNvSpPr/>
          <p:nvPr/>
        </p:nvSpPr>
        <p:spPr>
          <a:xfrm>
            <a:off x="4682483" y="3543677"/>
            <a:ext cx="180462" cy="249234"/>
          </a:xfrm>
          <a:prstGeom prst="down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2" name="AutoShape 25"/>
          <p:cNvSpPr>
            <a:spLocks noChangeArrowheads="1"/>
          </p:cNvSpPr>
          <p:nvPr/>
        </p:nvSpPr>
        <p:spPr bwMode="auto">
          <a:xfrm flipV="1">
            <a:off x="4745478" y="3955321"/>
            <a:ext cx="263283" cy="281183"/>
          </a:xfrm>
          <a:custGeom>
            <a:avLst/>
            <a:gdLst>
              <a:gd name="T0" fmla="*/ 218339 w 21600"/>
              <a:gd name="T1" fmla="*/ 0 h 21600"/>
              <a:gd name="T2" fmla="*/ 218339 w 21600"/>
              <a:gd name="T3" fmla="*/ 171757 h 21600"/>
              <a:gd name="T4" fmla="*/ 46725 w 21600"/>
              <a:gd name="T5" fmla="*/ 305144 h 21600"/>
              <a:gd name="T6" fmla="*/ 311789 w 21600"/>
              <a:gd name="T7" fmla="*/ 85878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43" name="AutoShape 42"/>
          <p:cNvSpPr>
            <a:spLocks noChangeArrowheads="1"/>
          </p:cNvSpPr>
          <p:nvPr/>
        </p:nvSpPr>
        <p:spPr bwMode="auto">
          <a:xfrm rot="5400000" flipH="1">
            <a:off x="7384551" y="3932148"/>
            <a:ext cx="254669" cy="288428"/>
          </a:xfrm>
          <a:custGeom>
            <a:avLst/>
            <a:gdLst>
              <a:gd name="T0" fmla="*/ 220161 w 21600"/>
              <a:gd name="T1" fmla="*/ 0 h 21600"/>
              <a:gd name="T2" fmla="*/ 220161 w 21600"/>
              <a:gd name="T3" fmla="*/ 175497 h 21600"/>
              <a:gd name="T4" fmla="*/ 47115 w 21600"/>
              <a:gd name="T5" fmla="*/ 311790 h 21600"/>
              <a:gd name="T6" fmla="*/ 314391 w 21600"/>
              <a:gd name="T7" fmla="*/ 87749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nvGrpSpPr>
          <p:cNvPr id="144" name="Group 34"/>
          <p:cNvGrpSpPr/>
          <p:nvPr/>
        </p:nvGrpSpPr>
        <p:grpSpPr bwMode="auto">
          <a:xfrm>
            <a:off x="5272139" y="4119886"/>
            <a:ext cx="841456" cy="101715"/>
            <a:chOff x="1344" y="912"/>
            <a:chExt cx="672" cy="96"/>
          </a:xfrm>
          <a:solidFill>
            <a:srgbClr val="FF0000"/>
          </a:solidFill>
        </p:grpSpPr>
        <p:sp>
          <p:nvSpPr>
            <p:cNvPr id="145" name="Line 35"/>
            <p:cNvSpPr>
              <a:spLocks noChangeShapeType="1"/>
            </p:cNvSpPr>
            <p:nvPr/>
          </p:nvSpPr>
          <p:spPr bwMode="auto">
            <a:xfrm>
              <a:off x="1344" y="960"/>
              <a:ext cx="672" cy="0"/>
            </a:xfrm>
            <a:prstGeom prst="line">
              <a:avLst/>
            </a:prstGeom>
            <a:grpFill/>
            <a:ln w="12700">
              <a:no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sp>
          <p:nvSpPr>
            <p:cNvPr id="146" name="Freeform 36"/>
            <p:cNvSpPr/>
            <p:nvPr/>
          </p:nvSpPr>
          <p:spPr bwMode="auto">
            <a:xfrm>
              <a:off x="1392" y="912"/>
              <a:ext cx="576" cy="96"/>
            </a:xfrm>
            <a:custGeom>
              <a:avLst/>
              <a:gdLst>
                <a:gd name="T0" fmla="*/ 0 w 576"/>
                <a:gd name="T1" fmla="*/ 96 h 192"/>
                <a:gd name="T2" fmla="*/ 0 w 576"/>
                <a:gd name="T3" fmla="*/ 0 h 192"/>
                <a:gd name="T4" fmla="*/ 192 w 576"/>
                <a:gd name="T5" fmla="*/ 0 h 192"/>
                <a:gd name="T6" fmla="*/ 192 w 576"/>
                <a:gd name="T7" fmla="*/ 192 h 192"/>
                <a:gd name="T8" fmla="*/ 288 w 576"/>
                <a:gd name="T9" fmla="*/ 192 h 192"/>
                <a:gd name="T10" fmla="*/ 288 w 576"/>
                <a:gd name="T11" fmla="*/ 0 h 192"/>
                <a:gd name="T12" fmla="*/ 336 w 576"/>
                <a:gd name="T13" fmla="*/ 0 h 192"/>
                <a:gd name="T14" fmla="*/ 336 w 576"/>
                <a:gd name="T15" fmla="*/ 192 h 192"/>
                <a:gd name="T16" fmla="*/ 480 w 576"/>
                <a:gd name="T17" fmla="*/ 192 h 192"/>
                <a:gd name="T18" fmla="*/ 480 w 576"/>
                <a:gd name="T19" fmla="*/ 0 h 192"/>
                <a:gd name="T20" fmla="*/ 576 w 576"/>
                <a:gd name="T21" fmla="*/ 0 h 192"/>
                <a:gd name="T22" fmla="*/ 576 w 576"/>
                <a:gd name="T23" fmla="*/ 96 h 192"/>
                <a:gd name="T24" fmla="*/ 0 w 576"/>
                <a:gd name="T25" fmla="*/ 96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6" h="192">
                  <a:moveTo>
                    <a:pt x="0" y="96"/>
                  </a:moveTo>
                  <a:lnTo>
                    <a:pt x="0" y="0"/>
                  </a:lnTo>
                  <a:lnTo>
                    <a:pt x="192" y="0"/>
                  </a:lnTo>
                  <a:lnTo>
                    <a:pt x="192" y="192"/>
                  </a:lnTo>
                  <a:lnTo>
                    <a:pt x="288" y="192"/>
                  </a:lnTo>
                  <a:lnTo>
                    <a:pt x="288" y="0"/>
                  </a:lnTo>
                  <a:lnTo>
                    <a:pt x="336" y="0"/>
                  </a:lnTo>
                  <a:lnTo>
                    <a:pt x="336" y="192"/>
                  </a:lnTo>
                  <a:lnTo>
                    <a:pt x="480" y="192"/>
                  </a:lnTo>
                  <a:lnTo>
                    <a:pt x="480" y="0"/>
                  </a:lnTo>
                  <a:lnTo>
                    <a:pt x="576" y="0"/>
                  </a:lnTo>
                  <a:lnTo>
                    <a:pt x="576" y="96"/>
                  </a:lnTo>
                  <a:lnTo>
                    <a:pt x="0" y="96"/>
                  </a:lnTo>
                  <a:close/>
                </a:path>
              </a:pathLst>
            </a:custGeom>
            <a:grpFill/>
            <a:ln w="12700" cap="flat" cmpd="sng">
              <a:noFill/>
              <a:prstDash val="solid"/>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grpSp>
      <p:sp>
        <p:nvSpPr>
          <p:cNvPr id="2" name="标题 1">
            <a:extLst>
              <a:ext uri="{FF2B5EF4-FFF2-40B4-BE49-F238E27FC236}">
                <a16:creationId xmlns:a16="http://schemas.microsoft.com/office/drawing/2014/main" id="{7770F843-72CC-E95F-129E-A89009128F61}"/>
              </a:ext>
            </a:extLst>
          </p:cNvPr>
          <p:cNvSpPr>
            <a:spLocks noGrp="1"/>
          </p:cNvSpPr>
          <p:nvPr>
            <p:ph type="title"/>
          </p:nvPr>
        </p:nvSpPr>
        <p:spPr>
          <a:xfrm>
            <a:off x="612000" y="144000"/>
            <a:ext cx="7920000" cy="341632"/>
          </a:xfrm>
        </p:spPr>
        <p:txBody>
          <a:bodyPr/>
          <a:lstStyle/>
          <a:p>
            <a:r>
              <a:rPr lang="zh-CN" altLang="en-US" dirty="0"/>
              <a:t>数据在各层之间的传递过程</a:t>
            </a:r>
          </a:p>
        </p:txBody>
      </p:sp>
      <p:sp>
        <p:nvSpPr>
          <p:cNvPr id="115" name="Rectangle 35">
            <a:extLst>
              <a:ext uri="{FF2B5EF4-FFF2-40B4-BE49-F238E27FC236}">
                <a16:creationId xmlns:a16="http://schemas.microsoft.com/office/drawing/2014/main" id="{1139F08C-647C-A257-9817-2EB484A40B79}"/>
              </a:ext>
            </a:extLst>
          </p:cNvPr>
          <p:cNvSpPr>
            <a:spLocks noChangeArrowheads="1"/>
          </p:cNvSpPr>
          <p:nvPr/>
        </p:nvSpPr>
        <p:spPr bwMode="auto">
          <a:xfrm>
            <a:off x="5489148" y="3671598"/>
            <a:ext cx="1598222" cy="244475"/>
          </a:xfrm>
          <a:prstGeom prst="rect">
            <a:avLst/>
          </a:prstGeom>
          <a:ln w="9525">
            <a:solidFill>
              <a:schemeClr val="tx1"/>
            </a:solidFill>
            <a:miter lim="800000"/>
          </a:ln>
        </p:spPr>
        <p:txBody>
          <a:bodyPr wrap="none" anchor="ctr"/>
          <a:lstStyle/>
          <a:p>
            <a:pPr algn="ctr"/>
            <a:r>
              <a:rPr lang="en-US" altLang="zh-CN" sz="1000" dirty="0">
                <a:solidFill>
                  <a:srgbClr val="FF0000"/>
                </a:solidFill>
                <a:latin typeface="+mj-lt"/>
                <a:ea typeface="+mj-ea"/>
              </a:rPr>
              <a:t>10101 </a:t>
            </a:r>
            <a:r>
              <a:rPr lang="zh-CN" altLang="en-US" sz="1000" dirty="0">
                <a:solidFill>
                  <a:srgbClr val="FF0000"/>
                </a:solidFill>
                <a:latin typeface="+mj-lt"/>
                <a:ea typeface="+mj-ea"/>
              </a:rPr>
              <a:t>比特</a:t>
            </a:r>
            <a:r>
              <a:rPr lang="zh-CN" altLang="en-US" sz="1000">
                <a:solidFill>
                  <a:srgbClr val="FF0000"/>
                </a:solidFill>
                <a:latin typeface="+mj-lt"/>
                <a:ea typeface="+mj-ea"/>
              </a:rPr>
              <a:t>流 </a:t>
            </a:r>
            <a:r>
              <a:rPr lang="en-US" altLang="zh-CN" sz="1000" dirty="0">
                <a:solidFill>
                  <a:srgbClr val="FF0000"/>
                </a:solidFill>
                <a:latin typeface="+mj-lt"/>
                <a:ea typeface="+mj-ea"/>
              </a:rPr>
              <a:t>110111</a:t>
            </a:r>
          </a:p>
        </p:txBody>
      </p:sp>
    </p:spTree>
    <p:extLst>
      <p:ext uri="{BB962C8B-B14F-4D97-AF65-F5344CB8AC3E}">
        <p14:creationId xmlns:p14="http://schemas.microsoft.com/office/powerpoint/2010/main" val="3528057676"/>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7" name="AutoShape 4">
            <a:extLst>
              <a:ext uri="{FF2B5EF4-FFF2-40B4-BE49-F238E27FC236}">
                <a16:creationId xmlns:a16="http://schemas.microsoft.com/office/drawing/2014/main" id="{BCF322C6-399E-A3C9-C1A3-8B91F993BF89}"/>
              </a:ext>
            </a:extLst>
          </p:cNvPr>
          <p:cNvSpPr>
            <a:spLocks noChangeArrowheads="1"/>
          </p:cNvSpPr>
          <p:nvPr/>
        </p:nvSpPr>
        <p:spPr bwMode="auto">
          <a:xfrm rot="16200000">
            <a:off x="2567190" y="2361728"/>
            <a:ext cx="271463" cy="3600000"/>
          </a:xfrm>
          <a:prstGeom prst="can">
            <a:avLst>
              <a:gd name="adj" fmla="val 48656"/>
            </a:avLst>
          </a:prstGeom>
          <a:gradFill rotWithShape="0">
            <a:gsLst>
              <a:gs pos="0">
                <a:srgbClr val="00CC00"/>
              </a:gs>
              <a:gs pos="50000">
                <a:schemeClr val="bg1"/>
              </a:gs>
              <a:gs pos="100000">
                <a:srgbClr val="00CC00"/>
              </a:gs>
            </a:gsLst>
            <a:lin ang="5400000" scaled="1"/>
          </a:gradFill>
          <a:ln w="6350">
            <a:solidFill>
              <a:srgbClr val="7CE07C"/>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169" name="AutoShape 4">
            <a:extLst>
              <a:ext uri="{FF2B5EF4-FFF2-40B4-BE49-F238E27FC236}">
                <a16:creationId xmlns:a16="http://schemas.microsoft.com/office/drawing/2014/main" id="{D6ACCAD6-EAE4-2EB8-9BA2-2CDCAA346FF9}"/>
              </a:ext>
            </a:extLst>
          </p:cNvPr>
          <p:cNvSpPr>
            <a:spLocks noChangeArrowheads="1"/>
          </p:cNvSpPr>
          <p:nvPr/>
        </p:nvSpPr>
        <p:spPr bwMode="auto">
          <a:xfrm rot="16200000">
            <a:off x="6253847" y="2361728"/>
            <a:ext cx="271463" cy="3600000"/>
          </a:xfrm>
          <a:prstGeom prst="can">
            <a:avLst>
              <a:gd name="adj" fmla="val 48656"/>
            </a:avLst>
          </a:prstGeom>
          <a:gradFill rotWithShape="0">
            <a:gsLst>
              <a:gs pos="0">
                <a:srgbClr val="00CC00"/>
              </a:gs>
              <a:gs pos="50000">
                <a:schemeClr val="bg1"/>
              </a:gs>
              <a:gs pos="100000">
                <a:srgbClr val="00CC00"/>
              </a:gs>
            </a:gsLst>
            <a:lin ang="5400000" scaled="1"/>
          </a:gradFill>
          <a:ln w="6350">
            <a:solidFill>
              <a:srgbClr val="7CE07C"/>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171" name="Text Box 26">
            <a:extLst>
              <a:ext uri="{FF2B5EF4-FFF2-40B4-BE49-F238E27FC236}">
                <a16:creationId xmlns:a16="http://schemas.microsoft.com/office/drawing/2014/main" id="{29C52E90-2D15-9DB4-FBA0-A8787511314D}"/>
              </a:ext>
            </a:extLst>
          </p:cNvPr>
          <p:cNvSpPr txBox="1">
            <a:spLocks noChangeArrowheads="1"/>
          </p:cNvSpPr>
          <p:nvPr/>
        </p:nvSpPr>
        <p:spPr bwMode="auto">
          <a:xfrm>
            <a:off x="2701348" y="4023229"/>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dirty="0">
                <a:latin typeface="+mj-lt"/>
                <a:ea typeface="+mj-ea"/>
              </a:rPr>
              <a:t>物理传输媒体</a:t>
            </a:r>
          </a:p>
        </p:txBody>
      </p:sp>
      <p:sp>
        <p:nvSpPr>
          <p:cNvPr id="173" name="Text Box 26">
            <a:extLst>
              <a:ext uri="{FF2B5EF4-FFF2-40B4-BE49-F238E27FC236}">
                <a16:creationId xmlns:a16="http://schemas.microsoft.com/office/drawing/2014/main" id="{7D5103A3-A5E4-FF4A-F887-3D0AC14F0202}"/>
              </a:ext>
            </a:extLst>
          </p:cNvPr>
          <p:cNvSpPr txBox="1">
            <a:spLocks noChangeArrowheads="1"/>
          </p:cNvSpPr>
          <p:nvPr/>
        </p:nvSpPr>
        <p:spPr bwMode="auto">
          <a:xfrm>
            <a:off x="6193730" y="4023229"/>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dirty="0">
                <a:latin typeface="+mj-lt"/>
                <a:ea typeface="+mj-ea"/>
              </a:rPr>
              <a:t>物理传输媒体</a:t>
            </a:r>
          </a:p>
        </p:txBody>
      </p:sp>
      <p:grpSp>
        <p:nvGrpSpPr>
          <p:cNvPr id="160" name="组合 159">
            <a:extLst>
              <a:ext uri="{FF2B5EF4-FFF2-40B4-BE49-F238E27FC236}">
                <a16:creationId xmlns:a16="http://schemas.microsoft.com/office/drawing/2014/main" id="{6F0FAEFB-9BCE-5D57-5FCA-55231DAD7091}"/>
              </a:ext>
            </a:extLst>
          </p:cNvPr>
          <p:cNvGrpSpPr/>
          <p:nvPr/>
        </p:nvGrpSpPr>
        <p:grpSpPr>
          <a:xfrm>
            <a:off x="3960000" y="2808000"/>
            <a:ext cx="1080000" cy="1080000"/>
            <a:chOff x="2807995" y="2745746"/>
            <a:chExt cx="1080000" cy="1080000"/>
          </a:xfrm>
        </p:grpSpPr>
        <p:sp>
          <p:nvSpPr>
            <p:cNvPr id="161" name="立方体 160">
              <a:extLst>
                <a:ext uri="{FF2B5EF4-FFF2-40B4-BE49-F238E27FC236}">
                  <a16:creationId xmlns:a16="http://schemas.microsoft.com/office/drawing/2014/main" id="{1A813FF4-5FC6-D772-8358-38D72A462931}"/>
                </a:ext>
              </a:extLst>
            </p:cNvPr>
            <p:cNvSpPr/>
            <p:nvPr/>
          </p:nvSpPr>
          <p:spPr>
            <a:xfrm>
              <a:off x="2807995" y="3393746"/>
              <a:ext cx="594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sz="1050" dirty="0">
                  <a:solidFill>
                    <a:schemeClr val="bg1"/>
                  </a:solidFill>
                </a:rPr>
                <a:t>1</a:t>
              </a:r>
              <a:endParaRPr lang="zh-CN" altLang="en-US" sz="1050" dirty="0">
                <a:solidFill>
                  <a:schemeClr val="bg1"/>
                </a:solidFill>
              </a:endParaRPr>
            </a:p>
          </p:txBody>
        </p:sp>
        <p:sp>
          <p:nvSpPr>
            <p:cNvPr id="162" name="立方体 161">
              <a:extLst>
                <a:ext uri="{FF2B5EF4-FFF2-40B4-BE49-F238E27FC236}">
                  <a16:creationId xmlns:a16="http://schemas.microsoft.com/office/drawing/2014/main" id="{CD8125D1-4E45-643C-ACC0-0133996A7B81}"/>
                </a:ext>
              </a:extLst>
            </p:cNvPr>
            <p:cNvSpPr/>
            <p:nvPr/>
          </p:nvSpPr>
          <p:spPr>
            <a:xfrm>
              <a:off x="2807995" y="3069746"/>
              <a:ext cx="594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sz="1050" dirty="0">
                  <a:solidFill>
                    <a:schemeClr val="bg1"/>
                  </a:solidFill>
                </a:rPr>
                <a:t>2</a:t>
              </a:r>
              <a:endParaRPr lang="zh-CN" altLang="en-US" sz="1050" dirty="0">
                <a:solidFill>
                  <a:schemeClr val="bg1"/>
                </a:solidFill>
              </a:endParaRPr>
            </a:p>
          </p:txBody>
        </p:sp>
        <p:sp>
          <p:nvSpPr>
            <p:cNvPr id="163" name="立方体 162">
              <a:extLst>
                <a:ext uri="{FF2B5EF4-FFF2-40B4-BE49-F238E27FC236}">
                  <a16:creationId xmlns:a16="http://schemas.microsoft.com/office/drawing/2014/main" id="{589E947A-9994-2AF6-87CE-69225B504BFA}"/>
                </a:ext>
              </a:extLst>
            </p:cNvPr>
            <p:cNvSpPr/>
            <p:nvPr/>
          </p:nvSpPr>
          <p:spPr>
            <a:xfrm>
              <a:off x="3293995" y="3393746"/>
              <a:ext cx="594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sz="1050" dirty="0">
                  <a:solidFill>
                    <a:schemeClr val="bg1"/>
                  </a:solidFill>
                </a:rPr>
                <a:t>1</a:t>
              </a:r>
              <a:endParaRPr lang="zh-CN" altLang="en-US" sz="1050" dirty="0">
                <a:solidFill>
                  <a:schemeClr val="bg1"/>
                </a:solidFill>
              </a:endParaRPr>
            </a:p>
          </p:txBody>
        </p:sp>
        <p:sp>
          <p:nvSpPr>
            <p:cNvPr id="164" name="立方体 163">
              <a:extLst>
                <a:ext uri="{FF2B5EF4-FFF2-40B4-BE49-F238E27FC236}">
                  <a16:creationId xmlns:a16="http://schemas.microsoft.com/office/drawing/2014/main" id="{408EE7A8-072B-E734-0086-7038AA1BD143}"/>
                </a:ext>
              </a:extLst>
            </p:cNvPr>
            <p:cNvSpPr/>
            <p:nvPr/>
          </p:nvSpPr>
          <p:spPr>
            <a:xfrm>
              <a:off x="3293995" y="3069746"/>
              <a:ext cx="594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sz="1050" dirty="0">
                  <a:solidFill>
                    <a:schemeClr val="bg1"/>
                  </a:solidFill>
                </a:rPr>
                <a:t>2</a:t>
              </a:r>
              <a:endParaRPr lang="zh-CN" altLang="en-US" sz="1050" dirty="0">
                <a:solidFill>
                  <a:schemeClr val="bg1"/>
                </a:solidFill>
              </a:endParaRPr>
            </a:p>
          </p:txBody>
        </p:sp>
        <p:sp>
          <p:nvSpPr>
            <p:cNvPr id="165" name="立方体 164">
              <a:extLst>
                <a:ext uri="{FF2B5EF4-FFF2-40B4-BE49-F238E27FC236}">
                  <a16:creationId xmlns:a16="http://schemas.microsoft.com/office/drawing/2014/main" id="{29FE277C-BA5D-33E0-0708-536CCBF7C3A9}"/>
                </a:ext>
              </a:extLst>
            </p:cNvPr>
            <p:cNvSpPr/>
            <p:nvPr/>
          </p:nvSpPr>
          <p:spPr>
            <a:xfrm>
              <a:off x="2807995" y="2745746"/>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pPr algn="ctr"/>
              <a:r>
                <a:rPr lang="en-US" altLang="zh-CN" sz="1050" dirty="0">
                  <a:solidFill>
                    <a:schemeClr val="bg1"/>
                  </a:solidFill>
                </a:rPr>
                <a:t>3</a:t>
              </a:r>
              <a:endParaRPr lang="zh-CN" altLang="en-US" sz="1050" dirty="0">
                <a:solidFill>
                  <a:schemeClr val="bg1"/>
                </a:solidFill>
              </a:endParaRPr>
            </a:p>
          </p:txBody>
        </p:sp>
      </p:grpSp>
      <p:grpSp>
        <p:nvGrpSpPr>
          <p:cNvPr id="78" name="组合 77">
            <a:extLst>
              <a:ext uri="{FF2B5EF4-FFF2-40B4-BE49-F238E27FC236}">
                <a16:creationId xmlns:a16="http://schemas.microsoft.com/office/drawing/2014/main" id="{68A3AEC5-F141-53CE-97BA-D0D825D15C83}"/>
              </a:ext>
            </a:extLst>
          </p:cNvPr>
          <p:cNvGrpSpPr/>
          <p:nvPr/>
        </p:nvGrpSpPr>
        <p:grpSpPr>
          <a:xfrm>
            <a:off x="7395732" y="1800000"/>
            <a:ext cx="1080000" cy="2088000"/>
            <a:chOff x="701211" y="1800000"/>
            <a:chExt cx="1080000" cy="2088000"/>
          </a:xfrm>
        </p:grpSpPr>
        <p:sp>
          <p:nvSpPr>
            <p:cNvPr id="79" name="立方体 78">
              <a:extLst>
                <a:ext uri="{FF2B5EF4-FFF2-40B4-BE49-F238E27FC236}">
                  <a16:creationId xmlns:a16="http://schemas.microsoft.com/office/drawing/2014/main" id="{56EBF489-1201-FB81-D0F1-7F73A0BE6392}"/>
                </a:ext>
              </a:extLst>
            </p:cNvPr>
            <p:cNvSpPr/>
            <p:nvPr/>
          </p:nvSpPr>
          <p:spPr>
            <a:xfrm>
              <a:off x="701211" y="3456000"/>
              <a:ext cx="108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050" dirty="0">
                  <a:solidFill>
                    <a:schemeClr val="bg1"/>
                  </a:solidFill>
                </a:rPr>
                <a:t>1 </a:t>
              </a:r>
              <a:r>
                <a:rPr lang="zh-CN" altLang="en-US" sz="1050" dirty="0">
                  <a:solidFill>
                    <a:schemeClr val="bg1"/>
                  </a:solidFill>
                </a:rPr>
                <a:t>物理层</a:t>
              </a:r>
            </a:p>
          </p:txBody>
        </p:sp>
        <p:sp>
          <p:nvSpPr>
            <p:cNvPr id="80" name="立方体 79">
              <a:extLst>
                <a:ext uri="{FF2B5EF4-FFF2-40B4-BE49-F238E27FC236}">
                  <a16:creationId xmlns:a16="http://schemas.microsoft.com/office/drawing/2014/main" id="{AFE816AB-DE03-03EB-760E-451B9EE15985}"/>
                </a:ext>
              </a:extLst>
            </p:cNvPr>
            <p:cNvSpPr/>
            <p:nvPr/>
          </p:nvSpPr>
          <p:spPr>
            <a:xfrm>
              <a:off x="701211" y="3132000"/>
              <a:ext cx="108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050" dirty="0">
                  <a:solidFill>
                    <a:schemeClr val="bg1"/>
                  </a:solidFill>
                </a:rPr>
                <a:t>2 </a:t>
              </a:r>
              <a:r>
                <a:rPr lang="zh-CN" altLang="en-US" sz="1050" dirty="0">
                  <a:solidFill>
                    <a:schemeClr val="bg1"/>
                  </a:solidFill>
                </a:rPr>
                <a:t>数据链路层</a:t>
              </a:r>
            </a:p>
          </p:txBody>
        </p:sp>
        <p:sp>
          <p:nvSpPr>
            <p:cNvPr id="81" name="立方体 80">
              <a:extLst>
                <a:ext uri="{FF2B5EF4-FFF2-40B4-BE49-F238E27FC236}">
                  <a16:creationId xmlns:a16="http://schemas.microsoft.com/office/drawing/2014/main" id="{CAFFF839-FEE3-F9C8-B7B9-F0975DC781C5}"/>
                </a:ext>
              </a:extLst>
            </p:cNvPr>
            <p:cNvSpPr/>
            <p:nvPr/>
          </p:nvSpPr>
          <p:spPr>
            <a:xfrm>
              <a:off x="701211" y="2808000"/>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050" dirty="0">
                  <a:solidFill>
                    <a:schemeClr val="bg1"/>
                  </a:solidFill>
                </a:rPr>
                <a:t>3 </a:t>
              </a:r>
              <a:r>
                <a:rPr lang="zh-CN" altLang="en-US" sz="1050" dirty="0">
                  <a:solidFill>
                    <a:schemeClr val="bg1"/>
                  </a:solidFill>
                </a:rPr>
                <a:t>网络层</a:t>
              </a:r>
            </a:p>
          </p:txBody>
        </p:sp>
        <p:sp>
          <p:nvSpPr>
            <p:cNvPr id="84" name="立方体 83">
              <a:extLst>
                <a:ext uri="{FF2B5EF4-FFF2-40B4-BE49-F238E27FC236}">
                  <a16:creationId xmlns:a16="http://schemas.microsoft.com/office/drawing/2014/main" id="{13CBD5CA-E50B-DC9D-7A33-D3549FEC0A46}"/>
                </a:ext>
              </a:extLst>
            </p:cNvPr>
            <p:cNvSpPr/>
            <p:nvPr/>
          </p:nvSpPr>
          <p:spPr>
            <a:xfrm>
              <a:off x="701211" y="2484000"/>
              <a:ext cx="108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050" dirty="0">
                  <a:solidFill>
                    <a:schemeClr val="bg1"/>
                  </a:solidFill>
                </a:rPr>
                <a:t>4 </a:t>
              </a:r>
              <a:r>
                <a:rPr lang="zh-CN" altLang="en-US" sz="1050" dirty="0">
                  <a:solidFill>
                    <a:schemeClr val="bg1"/>
                  </a:solidFill>
                </a:rPr>
                <a:t>运输层</a:t>
              </a:r>
            </a:p>
          </p:txBody>
        </p:sp>
        <p:sp>
          <p:nvSpPr>
            <p:cNvPr id="85" name="立方体 84">
              <a:extLst>
                <a:ext uri="{FF2B5EF4-FFF2-40B4-BE49-F238E27FC236}">
                  <a16:creationId xmlns:a16="http://schemas.microsoft.com/office/drawing/2014/main" id="{F1309C8C-1CEE-C67A-C572-C612F2D30D27}"/>
                </a:ext>
              </a:extLst>
            </p:cNvPr>
            <p:cNvSpPr/>
            <p:nvPr/>
          </p:nvSpPr>
          <p:spPr>
            <a:xfrm>
              <a:off x="701211" y="2160000"/>
              <a:ext cx="108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050" dirty="0">
                  <a:solidFill>
                    <a:schemeClr val="bg1"/>
                  </a:solidFill>
                </a:rPr>
                <a:t>5 </a:t>
              </a:r>
              <a:r>
                <a:rPr lang="zh-CN" altLang="en-US" sz="1050" dirty="0">
                  <a:solidFill>
                    <a:schemeClr val="bg1"/>
                  </a:solidFill>
                </a:rPr>
                <a:t>应用层</a:t>
              </a:r>
            </a:p>
          </p:txBody>
        </p:sp>
        <p:sp>
          <p:nvSpPr>
            <p:cNvPr id="86" name="圆柱体 85">
              <a:extLst>
                <a:ext uri="{FF2B5EF4-FFF2-40B4-BE49-F238E27FC236}">
                  <a16:creationId xmlns:a16="http://schemas.microsoft.com/office/drawing/2014/main" id="{58F81113-8602-486D-977A-B3995B285B8F}"/>
                </a:ext>
              </a:extLst>
            </p:cNvPr>
            <p:cNvSpPr/>
            <p:nvPr/>
          </p:nvSpPr>
          <p:spPr>
            <a:xfrm>
              <a:off x="953211" y="1800000"/>
              <a:ext cx="576000" cy="360000"/>
            </a:xfrm>
            <a:prstGeom prst="can">
              <a:avLst/>
            </a:prstGeom>
            <a:solidFill>
              <a:srgbClr val="FFFF00"/>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000" dirty="0">
                  <a:solidFill>
                    <a:sysClr val="windowText" lastClr="000000"/>
                  </a:solidFill>
                </a:rPr>
                <a:t>AP1</a:t>
              </a:r>
              <a:endParaRPr lang="zh-CN" altLang="en-US" sz="1000" dirty="0">
                <a:solidFill>
                  <a:sysClr val="windowText" lastClr="000000"/>
                </a:solidFill>
              </a:endParaRPr>
            </a:p>
          </p:txBody>
        </p:sp>
      </p:grpSp>
      <p:grpSp>
        <p:nvGrpSpPr>
          <p:cNvPr id="90" name="组合 89">
            <a:extLst>
              <a:ext uri="{FF2B5EF4-FFF2-40B4-BE49-F238E27FC236}">
                <a16:creationId xmlns:a16="http://schemas.microsoft.com/office/drawing/2014/main" id="{E53FF9BF-90CA-6D5E-4CB9-C887A345619C}"/>
              </a:ext>
            </a:extLst>
          </p:cNvPr>
          <p:cNvGrpSpPr/>
          <p:nvPr/>
        </p:nvGrpSpPr>
        <p:grpSpPr>
          <a:xfrm>
            <a:off x="701211" y="1800000"/>
            <a:ext cx="1080000" cy="2088000"/>
            <a:chOff x="701211" y="1800000"/>
            <a:chExt cx="1080000" cy="2088000"/>
          </a:xfrm>
        </p:grpSpPr>
        <p:sp>
          <p:nvSpPr>
            <p:cNvPr id="91" name="立方体 90">
              <a:extLst>
                <a:ext uri="{FF2B5EF4-FFF2-40B4-BE49-F238E27FC236}">
                  <a16:creationId xmlns:a16="http://schemas.microsoft.com/office/drawing/2014/main" id="{2424115A-6333-DFC4-D5F7-04195E933552}"/>
                </a:ext>
              </a:extLst>
            </p:cNvPr>
            <p:cNvSpPr/>
            <p:nvPr/>
          </p:nvSpPr>
          <p:spPr>
            <a:xfrm>
              <a:off x="701211" y="3456000"/>
              <a:ext cx="108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050" dirty="0">
                  <a:solidFill>
                    <a:schemeClr val="bg1"/>
                  </a:solidFill>
                </a:rPr>
                <a:t>1 </a:t>
              </a:r>
              <a:r>
                <a:rPr lang="zh-CN" altLang="en-US" sz="1050" dirty="0">
                  <a:solidFill>
                    <a:schemeClr val="bg1"/>
                  </a:solidFill>
                </a:rPr>
                <a:t>物理层</a:t>
              </a:r>
            </a:p>
          </p:txBody>
        </p:sp>
        <p:sp>
          <p:nvSpPr>
            <p:cNvPr id="105" name="立方体 104">
              <a:extLst>
                <a:ext uri="{FF2B5EF4-FFF2-40B4-BE49-F238E27FC236}">
                  <a16:creationId xmlns:a16="http://schemas.microsoft.com/office/drawing/2014/main" id="{82EFD950-2EB5-EB28-0166-0B0F15DB9E3F}"/>
                </a:ext>
              </a:extLst>
            </p:cNvPr>
            <p:cNvSpPr/>
            <p:nvPr/>
          </p:nvSpPr>
          <p:spPr>
            <a:xfrm>
              <a:off x="701211" y="3132000"/>
              <a:ext cx="108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050" dirty="0">
                  <a:solidFill>
                    <a:schemeClr val="bg1"/>
                  </a:solidFill>
                </a:rPr>
                <a:t>2 </a:t>
              </a:r>
              <a:r>
                <a:rPr lang="zh-CN" altLang="en-US" sz="1050" dirty="0">
                  <a:solidFill>
                    <a:schemeClr val="bg1"/>
                  </a:solidFill>
                </a:rPr>
                <a:t>数据链路层</a:t>
              </a:r>
            </a:p>
          </p:txBody>
        </p:sp>
        <p:sp>
          <p:nvSpPr>
            <p:cNvPr id="106" name="立方体 105">
              <a:extLst>
                <a:ext uri="{FF2B5EF4-FFF2-40B4-BE49-F238E27FC236}">
                  <a16:creationId xmlns:a16="http://schemas.microsoft.com/office/drawing/2014/main" id="{F05B51EC-6C21-B99B-008C-D77BAE9AEFD5}"/>
                </a:ext>
              </a:extLst>
            </p:cNvPr>
            <p:cNvSpPr/>
            <p:nvPr/>
          </p:nvSpPr>
          <p:spPr>
            <a:xfrm>
              <a:off x="701211" y="2808000"/>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050" dirty="0">
                  <a:solidFill>
                    <a:schemeClr val="bg1"/>
                  </a:solidFill>
                </a:rPr>
                <a:t>3 </a:t>
              </a:r>
              <a:r>
                <a:rPr lang="zh-CN" altLang="en-US" sz="1050" dirty="0">
                  <a:solidFill>
                    <a:schemeClr val="bg1"/>
                  </a:solidFill>
                </a:rPr>
                <a:t>网络层</a:t>
              </a:r>
            </a:p>
          </p:txBody>
        </p:sp>
        <p:sp>
          <p:nvSpPr>
            <p:cNvPr id="108" name="立方体 107">
              <a:extLst>
                <a:ext uri="{FF2B5EF4-FFF2-40B4-BE49-F238E27FC236}">
                  <a16:creationId xmlns:a16="http://schemas.microsoft.com/office/drawing/2014/main" id="{B3581951-78D3-7299-B3DA-2E9B901F9684}"/>
                </a:ext>
              </a:extLst>
            </p:cNvPr>
            <p:cNvSpPr/>
            <p:nvPr/>
          </p:nvSpPr>
          <p:spPr>
            <a:xfrm>
              <a:off x="701211" y="2484000"/>
              <a:ext cx="108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050" dirty="0">
                  <a:solidFill>
                    <a:schemeClr val="bg1"/>
                  </a:solidFill>
                </a:rPr>
                <a:t>4 </a:t>
              </a:r>
              <a:r>
                <a:rPr lang="zh-CN" altLang="en-US" sz="1050" dirty="0">
                  <a:solidFill>
                    <a:schemeClr val="bg1"/>
                  </a:solidFill>
                </a:rPr>
                <a:t>运输层</a:t>
              </a:r>
            </a:p>
          </p:txBody>
        </p:sp>
        <p:sp>
          <p:nvSpPr>
            <p:cNvPr id="110" name="立方体 109">
              <a:extLst>
                <a:ext uri="{FF2B5EF4-FFF2-40B4-BE49-F238E27FC236}">
                  <a16:creationId xmlns:a16="http://schemas.microsoft.com/office/drawing/2014/main" id="{E8292F11-6EA9-C151-89F6-073C56D2202E}"/>
                </a:ext>
              </a:extLst>
            </p:cNvPr>
            <p:cNvSpPr/>
            <p:nvPr/>
          </p:nvSpPr>
          <p:spPr>
            <a:xfrm>
              <a:off x="701211" y="2160000"/>
              <a:ext cx="108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050" dirty="0">
                  <a:solidFill>
                    <a:schemeClr val="bg1"/>
                  </a:solidFill>
                </a:rPr>
                <a:t>5 </a:t>
              </a:r>
              <a:r>
                <a:rPr lang="zh-CN" altLang="en-US" sz="1050" dirty="0">
                  <a:solidFill>
                    <a:schemeClr val="bg1"/>
                  </a:solidFill>
                </a:rPr>
                <a:t>应用层</a:t>
              </a:r>
            </a:p>
          </p:txBody>
        </p:sp>
        <p:sp>
          <p:nvSpPr>
            <p:cNvPr id="112" name="圆柱体 111">
              <a:extLst>
                <a:ext uri="{FF2B5EF4-FFF2-40B4-BE49-F238E27FC236}">
                  <a16:creationId xmlns:a16="http://schemas.microsoft.com/office/drawing/2014/main" id="{A8466307-B97C-4875-937C-05A4AFBB33F9}"/>
                </a:ext>
              </a:extLst>
            </p:cNvPr>
            <p:cNvSpPr/>
            <p:nvPr/>
          </p:nvSpPr>
          <p:spPr>
            <a:xfrm>
              <a:off x="953211" y="1800000"/>
              <a:ext cx="576000" cy="360000"/>
            </a:xfrm>
            <a:prstGeom prst="can">
              <a:avLst/>
            </a:prstGeom>
            <a:solidFill>
              <a:srgbClr val="FFFF00"/>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000" dirty="0">
                  <a:solidFill>
                    <a:sysClr val="windowText" lastClr="000000"/>
                  </a:solidFill>
                </a:rPr>
                <a:t>AP1</a:t>
              </a:r>
              <a:endParaRPr lang="zh-CN" altLang="en-US" sz="1000" dirty="0">
                <a:solidFill>
                  <a:sysClr val="windowText" lastClr="000000"/>
                </a:solidFill>
              </a:endParaRPr>
            </a:p>
          </p:txBody>
        </p:sp>
      </p:grpSp>
      <p:sp>
        <p:nvSpPr>
          <p:cNvPr id="25" name="Text Box 29"/>
          <p:cNvSpPr txBox="1">
            <a:spLocks noChangeArrowheads="1"/>
          </p:cNvSpPr>
          <p:nvPr/>
        </p:nvSpPr>
        <p:spPr bwMode="auto">
          <a:xfrm>
            <a:off x="110689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1</a:t>
            </a:r>
          </a:p>
        </p:txBody>
      </p:sp>
      <p:sp>
        <p:nvSpPr>
          <p:cNvPr id="38" name="Text Box 29"/>
          <p:cNvSpPr txBox="1">
            <a:spLocks noChangeArrowheads="1"/>
          </p:cNvSpPr>
          <p:nvPr/>
        </p:nvSpPr>
        <p:spPr bwMode="auto">
          <a:xfrm>
            <a:off x="736975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2</a:t>
            </a:r>
          </a:p>
        </p:txBody>
      </p:sp>
      <p:sp>
        <p:nvSpPr>
          <p:cNvPr id="39" name="Text Box 29"/>
          <p:cNvSpPr txBox="1">
            <a:spLocks noChangeArrowheads="1"/>
          </p:cNvSpPr>
          <p:nvPr/>
        </p:nvSpPr>
        <p:spPr bwMode="auto">
          <a:xfrm>
            <a:off x="4160212" y="107510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路由器</a:t>
            </a:r>
            <a:endParaRPr kumimoji="1" lang="en-US" altLang="zh-CN" sz="1200" b="1" dirty="0">
              <a:solidFill>
                <a:srgbClr val="0000FF"/>
              </a:solidFill>
              <a:latin typeface="微软雅黑" panose="020B0503020204020204" pitchFamily="34" charset="-122"/>
              <a:ea typeface="微软雅黑" panose="020B0503020204020204" pitchFamily="34" charset="-122"/>
            </a:endParaRPr>
          </a:p>
        </p:txBody>
      </p:sp>
      <p:cxnSp>
        <p:nvCxnSpPr>
          <p:cNvPr id="69" name="直接连接符 68"/>
          <p:cNvCxnSpPr/>
          <p:nvPr/>
        </p:nvCxnSpPr>
        <p:spPr>
          <a:xfrm>
            <a:off x="1418143" y="1507958"/>
            <a:ext cx="6306131" cy="0"/>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pic>
        <p:nvPicPr>
          <p:cNvPr id="36"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486661" y="1312469"/>
            <a:ext cx="410222"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7"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202308" y="1312469"/>
            <a:ext cx="410223"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140" name="直接箭头连接符 139"/>
          <p:cNvCxnSpPr/>
          <p:nvPr/>
        </p:nvCxnSpPr>
        <p:spPr>
          <a:xfrm>
            <a:off x="1561619" y="1428166"/>
            <a:ext cx="5941518" cy="0"/>
          </a:xfrm>
          <a:prstGeom prst="straightConnector1">
            <a:avLst/>
          </a:prstGeom>
          <a:ln w="28575">
            <a:solidFill>
              <a:srgbClr val="CC00CC"/>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35" name="Picture 4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54124" y="1385466"/>
            <a:ext cx="454438" cy="2643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73" name="AutoShape 51"/>
          <p:cNvSpPr>
            <a:spLocks noChangeArrowheads="1"/>
          </p:cNvSpPr>
          <p:nvPr/>
        </p:nvSpPr>
        <p:spPr bwMode="auto">
          <a:xfrm flipV="1">
            <a:off x="1237476" y="2076244"/>
            <a:ext cx="145966" cy="205414"/>
          </a:xfrm>
          <a:prstGeom prst="upArrow">
            <a:avLst>
              <a:gd name="adj1" fmla="val 50000"/>
              <a:gd name="adj2" fmla="val 45968"/>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88" name="AutoShape 54"/>
          <p:cNvSpPr>
            <a:spLocks noChangeArrowheads="1"/>
          </p:cNvSpPr>
          <p:nvPr/>
        </p:nvSpPr>
        <p:spPr bwMode="auto">
          <a:xfrm rot="10800000">
            <a:off x="1237478" y="2439149"/>
            <a:ext cx="147144" cy="221279"/>
          </a:xfrm>
          <a:prstGeom prst="upArrow">
            <a:avLst>
              <a:gd name="adj1" fmla="val 50000"/>
              <a:gd name="adj2" fmla="val 498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5" name="AutoShape 57"/>
          <p:cNvSpPr>
            <a:spLocks noChangeArrowheads="1"/>
          </p:cNvSpPr>
          <p:nvPr/>
        </p:nvSpPr>
        <p:spPr bwMode="auto">
          <a:xfrm rot="10800000">
            <a:off x="1235122" y="2826328"/>
            <a:ext cx="148321" cy="222762"/>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07" name="AutoShape 57"/>
          <p:cNvSpPr>
            <a:spLocks noChangeArrowheads="1"/>
          </p:cNvSpPr>
          <p:nvPr/>
        </p:nvSpPr>
        <p:spPr bwMode="auto">
          <a:xfrm rot="10800000">
            <a:off x="1226181" y="3198896"/>
            <a:ext cx="156561" cy="213191"/>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19" name="AutoShape 63"/>
          <p:cNvSpPr>
            <a:spLocks noChangeArrowheads="1"/>
          </p:cNvSpPr>
          <p:nvPr/>
        </p:nvSpPr>
        <p:spPr bwMode="auto">
          <a:xfrm rot="10800000">
            <a:off x="1226181" y="3567260"/>
            <a:ext cx="165978" cy="238153"/>
          </a:xfrm>
          <a:prstGeom prst="upArrow">
            <a:avLst>
              <a:gd name="adj1" fmla="val 50000"/>
              <a:gd name="adj2" fmla="val 50403"/>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00" name="AutoShape 25"/>
          <p:cNvSpPr>
            <a:spLocks noChangeArrowheads="1"/>
          </p:cNvSpPr>
          <p:nvPr/>
        </p:nvSpPr>
        <p:spPr bwMode="auto">
          <a:xfrm flipV="1">
            <a:off x="1266066" y="3955320"/>
            <a:ext cx="263283" cy="281183"/>
          </a:xfrm>
          <a:custGeom>
            <a:avLst/>
            <a:gdLst>
              <a:gd name="T0" fmla="*/ 218339 w 21600"/>
              <a:gd name="T1" fmla="*/ 0 h 21600"/>
              <a:gd name="T2" fmla="*/ 218339 w 21600"/>
              <a:gd name="T3" fmla="*/ 171757 h 21600"/>
              <a:gd name="T4" fmla="*/ 46725 w 21600"/>
              <a:gd name="T5" fmla="*/ 305144 h 21600"/>
              <a:gd name="T6" fmla="*/ 311789 w 21600"/>
              <a:gd name="T7" fmla="*/ 85878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11" name="AutoShape 42"/>
          <p:cNvSpPr>
            <a:spLocks noChangeArrowheads="1"/>
          </p:cNvSpPr>
          <p:nvPr/>
        </p:nvSpPr>
        <p:spPr bwMode="auto">
          <a:xfrm rot="5400000" flipH="1">
            <a:off x="3905139" y="3932147"/>
            <a:ext cx="254669" cy="288428"/>
          </a:xfrm>
          <a:custGeom>
            <a:avLst/>
            <a:gdLst>
              <a:gd name="T0" fmla="*/ 220161 w 21600"/>
              <a:gd name="T1" fmla="*/ 0 h 21600"/>
              <a:gd name="T2" fmla="*/ 220161 w 21600"/>
              <a:gd name="T3" fmla="*/ 175497 h 21600"/>
              <a:gd name="T4" fmla="*/ 47115 w 21600"/>
              <a:gd name="T5" fmla="*/ 311790 h 21600"/>
              <a:gd name="T6" fmla="*/ 314391 w 21600"/>
              <a:gd name="T7" fmla="*/ 87749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nvGrpSpPr>
          <p:cNvPr id="125" name="Group 34"/>
          <p:cNvGrpSpPr/>
          <p:nvPr/>
        </p:nvGrpSpPr>
        <p:grpSpPr bwMode="auto">
          <a:xfrm>
            <a:off x="1792727" y="4119885"/>
            <a:ext cx="841456" cy="101715"/>
            <a:chOff x="1344" y="912"/>
            <a:chExt cx="672" cy="96"/>
          </a:xfrm>
          <a:solidFill>
            <a:srgbClr val="FF0000"/>
          </a:solidFill>
        </p:grpSpPr>
        <p:sp>
          <p:nvSpPr>
            <p:cNvPr id="126" name="Line 35"/>
            <p:cNvSpPr>
              <a:spLocks noChangeShapeType="1"/>
            </p:cNvSpPr>
            <p:nvPr/>
          </p:nvSpPr>
          <p:spPr bwMode="auto">
            <a:xfrm>
              <a:off x="1344" y="960"/>
              <a:ext cx="672" cy="0"/>
            </a:xfrm>
            <a:prstGeom prst="line">
              <a:avLst/>
            </a:prstGeom>
            <a:grpFill/>
            <a:ln w="12700">
              <a:no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sp>
          <p:nvSpPr>
            <p:cNvPr id="127" name="Freeform 36"/>
            <p:cNvSpPr/>
            <p:nvPr/>
          </p:nvSpPr>
          <p:spPr bwMode="auto">
            <a:xfrm>
              <a:off x="1392" y="912"/>
              <a:ext cx="576" cy="96"/>
            </a:xfrm>
            <a:custGeom>
              <a:avLst/>
              <a:gdLst>
                <a:gd name="T0" fmla="*/ 0 w 576"/>
                <a:gd name="T1" fmla="*/ 96 h 192"/>
                <a:gd name="T2" fmla="*/ 0 w 576"/>
                <a:gd name="T3" fmla="*/ 0 h 192"/>
                <a:gd name="T4" fmla="*/ 192 w 576"/>
                <a:gd name="T5" fmla="*/ 0 h 192"/>
                <a:gd name="T6" fmla="*/ 192 w 576"/>
                <a:gd name="T7" fmla="*/ 192 h 192"/>
                <a:gd name="T8" fmla="*/ 288 w 576"/>
                <a:gd name="T9" fmla="*/ 192 h 192"/>
                <a:gd name="T10" fmla="*/ 288 w 576"/>
                <a:gd name="T11" fmla="*/ 0 h 192"/>
                <a:gd name="T12" fmla="*/ 336 w 576"/>
                <a:gd name="T13" fmla="*/ 0 h 192"/>
                <a:gd name="T14" fmla="*/ 336 w 576"/>
                <a:gd name="T15" fmla="*/ 192 h 192"/>
                <a:gd name="T16" fmla="*/ 480 w 576"/>
                <a:gd name="T17" fmla="*/ 192 h 192"/>
                <a:gd name="T18" fmla="*/ 480 w 576"/>
                <a:gd name="T19" fmla="*/ 0 h 192"/>
                <a:gd name="T20" fmla="*/ 576 w 576"/>
                <a:gd name="T21" fmla="*/ 0 h 192"/>
                <a:gd name="T22" fmla="*/ 576 w 576"/>
                <a:gd name="T23" fmla="*/ 96 h 192"/>
                <a:gd name="T24" fmla="*/ 0 w 576"/>
                <a:gd name="T25" fmla="*/ 96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6" h="192">
                  <a:moveTo>
                    <a:pt x="0" y="96"/>
                  </a:moveTo>
                  <a:lnTo>
                    <a:pt x="0" y="0"/>
                  </a:lnTo>
                  <a:lnTo>
                    <a:pt x="192" y="0"/>
                  </a:lnTo>
                  <a:lnTo>
                    <a:pt x="192" y="192"/>
                  </a:lnTo>
                  <a:lnTo>
                    <a:pt x="288" y="192"/>
                  </a:lnTo>
                  <a:lnTo>
                    <a:pt x="288" y="0"/>
                  </a:lnTo>
                  <a:lnTo>
                    <a:pt x="336" y="0"/>
                  </a:lnTo>
                  <a:lnTo>
                    <a:pt x="336" y="192"/>
                  </a:lnTo>
                  <a:lnTo>
                    <a:pt x="480" y="192"/>
                  </a:lnTo>
                  <a:lnTo>
                    <a:pt x="480" y="0"/>
                  </a:lnTo>
                  <a:lnTo>
                    <a:pt x="576" y="0"/>
                  </a:lnTo>
                  <a:lnTo>
                    <a:pt x="576" y="96"/>
                  </a:lnTo>
                  <a:lnTo>
                    <a:pt x="0" y="96"/>
                  </a:lnTo>
                  <a:close/>
                </a:path>
              </a:pathLst>
            </a:custGeom>
            <a:grpFill/>
            <a:ln w="12700" cap="flat" cmpd="sng">
              <a:noFill/>
              <a:prstDash val="solid"/>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grpSp>
      <p:sp>
        <p:nvSpPr>
          <p:cNvPr id="87" name="上箭头 86"/>
          <p:cNvSpPr/>
          <p:nvPr/>
        </p:nvSpPr>
        <p:spPr>
          <a:xfrm>
            <a:off x="4028301" y="3527399"/>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2" name="上箭头 81"/>
          <p:cNvSpPr/>
          <p:nvPr/>
        </p:nvSpPr>
        <p:spPr>
          <a:xfrm>
            <a:off x="4028301" y="3154024"/>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2" name="下箭头 91"/>
          <p:cNvSpPr/>
          <p:nvPr/>
        </p:nvSpPr>
        <p:spPr>
          <a:xfrm>
            <a:off x="4682483" y="3179766"/>
            <a:ext cx="180462" cy="249234"/>
          </a:xfrm>
          <a:prstGeom prst="down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4" name="下箭头 123"/>
          <p:cNvSpPr/>
          <p:nvPr/>
        </p:nvSpPr>
        <p:spPr>
          <a:xfrm>
            <a:off x="4682483" y="3543677"/>
            <a:ext cx="180462" cy="249234"/>
          </a:xfrm>
          <a:prstGeom prst="down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2" name="AutoShape 25"/>
          <p:cNvSpPr>
            <a:spLocks noChangeArrowheads="1"/>
          </p:cNvSpPr>
          <p:nvPr/>
        </p:nvSpPr>
        <p:spPr bwMode="auto">
          <a:xfrm flipV="1">
            <a:off x="4745478" y="3955321"/>
            <a:ext cx="263283" cy="281183"/>
          </a:xfrm>
          <a:custGeom>
            <a:avLst/>
            <a:gdLst>
              <a:gd name="T0" fmla="*/ 218339 w 21600"/>
              <a:gd name="T1" fmla="*/ 0 h 21600"/>
              <a:gd name="T2" fmla="*/ 218339 w 21600"/>
              <a:gd name="T3" fmla="*/ 171757 h 21600"/>
              <a:gd name="T4" fmla="*/ 46725 w 21600"/>
              <a:gd name="T5" fmla="*/ 305144 h 21600"/>
              <a:gd name="T6" fmla="*/ 311789 w 21600"/>
              <a:gd name="T7" fmla="*/ 85878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43" name="AutoShape 42"/>
          <p:cNvSpPr>
            <a:spLocks noChangeArrowheads="1"/>
          </p:cNvSpPr>
          <p:nvPr/>
        </p:nvSpPr>
        <p:spPr bwMode="auto">
          <a:xfrm rot="5400000" flipH="1">
            <a:off x="7384551" y="3932148"/>
            <a:ext cx="254669" cy="288428"/>
          </a:xfrm>
          <a:custGeom>
            <a:avLst/>
            <a:gdLst>
              <a:gd name="T0" fmla="*/ 220161 w 21600"/>
              <a:gd name="T1" fmla="*/ 0 h 21600"/>
              <a:gd name="T2" fmla="*/ 220161 w 21600"/>
              <a:gd name="T3" fmla="*/ 175497 h 21600"/>
              <a:gd name="T4" fmla="*/ 47115 w 21600"/>
              <a:gd name="T5" fmla="*/ 311790 h 21600"/>
              <a:gd name="T6" fmla="*/ 314391 w 21600"/>
              <a:gd name="T7" fmla="*/ 87749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nvGrpSpPr>
          <p:cNvPr id="144" name="Group 34"/>
          <p:cNvGrpSpPr/>
          <p:nvPr/>
        </p:nvGrpSpPr>
        <p:grpSpPr bwMode="auto">
          <a:xfrm>
            <a:off x="5272139" y="4119886"/>
            <a:ext cx="841456" cy="101715"/>
            <a:chOff x="1344" y="912"/>
            <a:chExt cx="672" cy="96"/>
          </a:xfrm>
          <a:solidFill>
            <a:srgbClr val="FF0000"/>
          </a:solidFill>
        </p:grpSpPr>
        <p:sp>
          <p:nvSpPr>
            <p:cNvPr id="145" name="Line 35"/>
            <p:cNvSpPr>
              <a:spLocks noChangeShapeType="1"/>
            </p:cNvSpPr>
            <p:nvPr/>
          </p:nvSpPr>
          <p:spPr bwMode="auto">
            <a:xfrm>
              <a:off x="1344" y="960"/>
              <a:ext cx="672" cy="0"/>
            </a:xfrm>
            <a:prstGeom prst="line">
              <a:avLst/>
            </a:prstGeom>
            <a:grpFill/>
            <a:ln w="12700">
              <a:no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sp>
          <p:nvSpPr>
            <p:cNvPr id="146" name="Freeform 36"/>
            <p:cNvSpPr/>
            <p:nvPr/>
          </p:nvSpPr>
          <p:spPr bwMode="auto">
            <a:xfrm>
              <a:off x="1392" y="912"/>
              <a:ext cx="576" cy="96"/>
            </a:xfrm>
            <a:custGeom>
              <a:avLst/>
              <a:gdLst>
                <a:gd name="T0" fmla="*/ 0 w 576"/>
                <a:gd name="T1" fmla="*/ 96 h 192"/>
                <a:gd name="T2" fmla="*/ 0 w 576"/>
                <a:gd name="T3" fmla="*/ 0 h 192"/>
                <a:gd name="T4" fmla="*/ 192 w 576"/>
                <a:gd name="T5" fmla="*/ 0 h 192"/>
                <a:gd name="T6" fmla="*/ 192 w 576"/>
                <a:gd name="T7" fmla="*/ 192 h 192"/>
                <a:gd name="T8" fmla="*/ 288 w 576"/>
                <a:gd name="T9" fmla="*/ 192 h 192"/>
                <a:gd name="T10" fmla="*/ 288 w 576"/>
                <a:gd name="T11" fmla="*/ 0 h 192"/>
                <a:gd name="T12" fmla="*/ 336 w 576"/>
                <a:gd name="T13" fmla="*/ 0 h 192"/>
                <a:gd name="T14" fmla="*/ 336 w 576"/>
                <a:gd name="T15" fmla="*/ 192 h 192"/>
                <a:gd name="T16" fmla="*/ 480 w 576"/>
                <a:gd name="T17" fmla="*/ 192 h 192"/>
                <a:gd name="T18" fmla="*/ 480 w 576"/>
                <a:gd name="T19" fmla="*/ 0 h 192"/>
                <a:gd name="T20" fmla="*/ 576 w 576"/>
                <a:gd name="T21" fmla="*/ 0 h 192"/>
                <a:gd name="T22" fmla="*/ 576 w 576"/>
                <a:gd name="T23" fmla="*/ 96 h 192"/>
                <a:gd name="T24" fmla="*/ 0 w 576"/>
                <a:gd name="T25" fmla="*/ 96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6" h="192">
                  <a:moveTo>
                    <a:pt x="0" y="96"/>
                  </a:moveTo>
                  <a:lnTo>
                    <a:pt x="0" y="0"/>
                  </a:lnTo>
                  <a:lnTo>
                    <a:pt x="192" y="0"/>
                  </a:lnTo>
                  <a:lnTo>
                    <a:pt x="192" y="192"/>
                  </a:lnTo>
                  <a:lnTo>
                    <a:pt x="288" y="192"/>
                  </a:lnTo>
                  <a:lnTo>
                    <a:pt x="288" y="0"/>
                  </a:lnTo>
                  <a:lnTo>
                    <a:pt x="336" y="0"/>
                  </a:lnTo>
                  <a:lnTo>
                    <a:pt x="336" y="192"/>
                  </a:lnTo>
                  <a:lnTo>
                    <a:pt x="480" y="192"/>
                  </a:lnTo>
                  <a:lnTo>
                    <a:pt x="480" y="0"/>
                  </a:lnTo>
                  <a:lnTo>
                    <a:pt x="576" y="0"/>
                  </a:lnTo>
                  <a:lnTo>
                    <a:pt x="576" y="96"/>
                  </a:lnTo>
                  <a:lnTo>
                    <a:pt x="0" y="96"/>
                  </a:lnTo>
                  <a:close/>
                </a:path>
              </a:pathLst>
            </a:custGeom>
            <a:grpFill/>
            <a:ln w="12700" cap="flat" cmpd="sng">
              <a:noFill/>
              <a:prstDash val="solid"/>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grpSp>
      <p:sp>
        <p:nvSpPr>
          <p:cNvPr id="104" name="上箭头 103"/>
          <p:cNvSpPr/>
          <p:nvPr/>
        </p:nvSpPr>
        <p:spPr>
          <a:xfrm>
            <a:off x="7621960" y="3485835"/>
            <a:ext cx="178622" cy="245129"/>
          </a:xfrm>
          <a:prstGeom prst="up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标题 1">
            <a:extLst>
              <a:ext uri="{FF2B5EF4-FFF2-40B4-BE49-F238E27FC236}">
                <a16:creationId xmlns:a16="http://schemas.microsoft.com/office/drawing/2014/main" id="{F85143DD-8FF2-F18E-DE37-E2DC371F0BBD}"/>
              </a:ext>
            </a:extLst>
          </p:cNvPr>
          <p:cNvSpPr>
            <a:spLocks noGrp="1"/>
          </p:cNvSpPr>
          <p:nvPr>
            <p:ph type="title"/>
          </p:nvPr>
        </p:nvSpPr>
        <p:spPr>
          <a:xfrm>
            <a:off x="612000" y="144000"/>
            <a:ext cx="7920000" cy="341632"/>
          </a:xfrm>
        </p:spPr>
        <p:txBody>
          <a:bodyPr/>
          <a:lstStyle/>
          <a:p>
            <a:r>
              <a:rPr lang="zh-CN" altLang="en-US" dirty="0"/>
              <a:t>数据在各层之间的传递过程</a:t>
            </a:r>
          </a:p>
        </p:txBody>
      </p:sp>
      <p:sp>
        <p:nvSpPr>
          <p:cNvPr id="114" name="Rectangle 74">
            <a:extLst>
              <a:ext uri="{FF2B5EF4-FFF2-40B4-BE49-F238E27FC236}">
                <a16:creationId xmlns:a16="http://schemas.microsoft.com/office/drawing/2014/main" id="{678051BC-966E-3D22-F37A-9D6ACD0DE7CE}"/>
              </a:ext>
            </a:extLst>
          </p:cNvPr>
          <p:cNvSpPr>
            <a:spLocks noChangeArrowheads="1"/>
          </p:cNvSpPr>
          <p:nvPr/>
        </p:nvSpPr>
        <p:spPr bwMode="auto">
          <a:xfrm>
            <a:off x="5499744" y="3302812"/>
            <a:ext cx="223200" cy="244800"/>
          </a:xfrm>
          <a:prstGeom prst="rect">
            <a:avLst/>
          </a:prstGeom>
          <a:solidFill>
            <a:srgbClr val="000066"/>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000" dirty="0">
                <a:solidFill>
                  <a:schemeClr val="bg1"/>
                </a:solidFill>
              </a:rPr>
              <a:t>H</a:t>
            </a:r>
            <a:r>
              <a:rPr lang="en-US" altLang="zh-CN" sz="1000" baseline="-25000" dirty="0">
                <a:solidFill>
                  <a:schemeClr val="bg1"/>
                </a:solidFill>
              </a:rPr>
              <a:t>2</a:t>
            </a:r>
          </a:p>
        </p:txBody>
      </p:sp>
      <p:sp>
        <p:nvSpPr>
          <p:cNvPr id="116" name="Rectangle 78">
            <a:extLst>
              <a:ext uri="{FF2B5EF4-FFF2-40B4-BE49-F238E27FC236}">
                <a16:creationId xmlns:a16="http://schemas.microsoft.com/office/drawing/2014/main" id="{35F75AC7-1132-EB78-9EC6-13B9ADFE0901}"/>
              </a:ext>
            </a:extLst>
          </p:cNvPr>
          <p:cNvSpPr>
            <a:spLocks noChangeArrowheads="1"/>
          </p:cNvSpPr>
          <p:nvPr/>
        </p:nvSpPr>
        <p:spPr bwMode="auto">
          <a:xfrm>
            <a:off x="6838944" y="3303284"/>
            <a:ext cx="223200" cy="245309"/>
          </a:xfrm>
          <a:prstGeom prst="rect">
            <a:avLst/>
          </a:prstGeom>
          <a:solidFill>
            <a:schemeClr val="accent6">
              <a:lumMod val="75000"/>
            </a:schemeClr>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000" dirty="0"/>
              <a:t>T</a:t>
            </a:r>
            <a:r>
              <a:rPr lang="en-US" altLang="zh-CN" sz="1000" baseline="-25000" dirty="0"/>
              <a:t>2</a:t>
            </a:r>
          </a:p>
        </p:txBody>
      </p:sp>
      <p:sp>
        <p:nvSpPr>
          <p:cNvPr id="118" name="Rectangle 46">
            <a:extLst>
              <a:ext uri="{FF2B5EF4-FFF2-40B4-BE49-F238E27FC236}">
                <a16:creationId xmlns:a16="http://schemas.microsoft.com/office/drawing/2014/main" id="{C0ED3313-E3DD-E204-0CAD-6F59208C6545}"/>
              </a:ext>
            </a:extLst>
          </p:cNvPr>
          <p:cNvSpPr>
            <a:spLocks noChangeArrowheads="1"/>
          </p:cNvSpPr>
          <p:nvPr/>
        </p:nvSpPr>
        <p:spPr bwMode="auto">
          <a:xfrm>
            <a:off x="5722944" y="3304108"/>
            <a:ext cx="223200" cy="244800"/>
          </a:xfrm>
          <a:prstGeom prst="rect">
            <a:avLst/>
          </a:prstGeom>
          <a:solidFill>
            <a:srgbClr val="00B0F0"/>
          </a:solidFill>
          <a:ln w="9525">
            <a:solidFill>
              <a:schemeClr val="tx1"/>
            </a:solidFill>
            <a:miter lim="800000"/>
          </a:ln>
          <a:effectLst/>
        </p:spPr>
        <p:txBody>
          <a:bodyPr wrap="none" anchor="ctr"/>
          <a:lstStyle/>
          <a:p>
            <a:pPr algn="ctr"/>
            <a:r>
              <a:rPr lang="en-US" altLang="zh-CN" sz="1000" dirty="0"/>
              <a:t>H</a:t>
            </a:r>
            <a:r>
              <a:rPr lang="en-US" altLang="zh-CN" sz="1000" baseline="-25000" dirty="0"/>
              <a:t>3</a:t>
            </a:r>
          </a:p>
        </p:txBody>
      </p:sp>
      <p:sp>
        <p:nvSpPr>
          <p:cNvPr id="121" name="Rectangle 47">
            <a:extLst>
              <a:ext uri="{FF2B5EF4-FFF2-40B4-BE49-F238E27FC236}">
                <a16:creationId xmlns:a16="http://schemas.microsoft.com/office/drawing/2014/main" id="{1445FDDC-176D-0D75-6B00-B0C308BAC3D9}"/>
              </a:ext>
            </a:extLst>
          </p:cNvPr>
          <p:cNvSpPr>
            <a:spLocks noChangeArrowheads="1"/>
          </p:cNvSpPr>
          <p:nvPr/>
        </p:nvSpPr>
        <p:spPr bwMode="auto">
          <a:xfrm>
            <a:off x="5946144" y="3304108"/>
            <a:ext cx="223200" cy="244800"/>
          </a:xfrm>
          <a:prstGeom prst="rect">
            <a:avLst/>
          </a:prstGeom>
          <a:solidFill>
            <a:srgbClr val="FFC000"/>
          </a:solidFill>
          <a:ln w="9525">
            <a:solidFill>
              <a:schemeClr val="tx1"/>
            </a:solidFill>
            <a:miter lim="800000"/>
          </a:ln>
          <a:effectLst/>
        </p:spPr>
        <p:txBody>
          <a:bodyPr wrap="none" anchor="ctr"/>
          <a:lstStyle/>
          <a:p>
            <a:pPr algn="ctr"/>
            <a:r>
              <a:rPr lang="en-US" altLang="zh-CN" sz="1000"/>
              <a:t>H</a:t>
            </a:r>
            <a:r>
              <a:rPr lang="en-US" altLang="zh-CN" sz="1000" baseline="-25000"/>
              <a:t>4</a:t>
            </a:r>
          </a:p>
        </p:txBody>
      </p:sp>
      <p:sp>
        <p:nvSpPr>
          <p:cNvPr id="123" name="Rectangle 48">
            <a:extLst>
              <a:ext uri="{FF2B5EF4-FFF2-40B4-BE49-F238E27FC236}">
                <a16:creationId xmlns:a16="http://schemas.microsoft.com/office/drawing/2014/main" id="{3D006125-ECF2-CEC1-D495-CC340A087B96}"/>
              </a:ext>
            </a:extLst>
          </p:cNvPr>
          <p:cNvSpPr>
            <a:spLocks noChangeArrowheads="1"/>
          </p:cNvSpPr>
          <p:nvPr/>
        </p:nvSpPr>
        <p:spPr bwMode="auto">
          <a:xfrm>
            <a:off x="6169344" y="3304108"/>
            <a:ext cx="223200" cy="244800"/>
          </a:xfrm>
          <a:prstGeom prst="rect">
            <a:avLst/>
          </a:prstGeom>
          <a:solidFill>
            <a:schemeClr val="accent2"/>
          </a:solidFill>
          <a:ln w="9525">
            <a:solidFill>
              <a:schemeClr val="tx1"/>
            </a:solidFill>
            <a:miter lim="800000"/>
          </a:ln>
          <a:effectLst/>
        </p:spPr>
        <p:txBody>
          <a:bodyPr wrap="none" anchor="ctr"/>
          <a:lstStyle/>
          <a:p>
            <a:pPr algn="ctr"/>
            <a:r>
              <a:rPr lang="en-US" altLang="zh-CN" sz="1000" dirty="0"/>
              <a:t>H</a:t>
            </a:r>
            <a:r>
              <a:rPr lang="en-US" altLang="zh-CN" sz="1000" baseline="-25000" dirty="0"/>
              <a:t>5</a:t>
            </a:r>
          </a:p>
        </p:txBody>
      </p:sp>
      <p:sp>
        <p:nvSpPr>
          <p:cNvPr id="130" name="Rectangle 49">
            <a:extLst>
              <a:ext uri="{FF2B5EF4-FFF2-40B4-BE49-F238E27FC236}">
                <a16:creationId xmlns:a16="http://schemas.microsoft.com/office/drawing/2014/main" id="{BEECC7D7-9379-8B49-7FBF-808600F1CA0D}"/>
              </a:ext>
            </a:extLst>
          </p:cNvPr>
          <p:cNvSpPr>
            <a:spLocks noChangeArrowheads="1"/>
          </p:cNvSpPr>
          <p:nvPr/>
        </p:nvSpPr>
        <p:spPr bwMode="auto">
          <a:xfrm>
            <a:off x="6392544" y="3304109"/>
            <a:ext cx="446400" cy="244800"/>
          </a:xfrm>
          <a:prstGeom prst="rect">
            <a:avLst/>
          </a:prstGeom>
          <a:solidFill>
            <a:schemeClr val="bg1"/>
          </a:solidFill>
          <a:ln w="9525">
            <a:solidFill>
              <a:schemeClr val="tx1"/>
            </a:solidFill>
            <a:miter lim="800000"/>
          </a:ln>
        </p:spPr>
        <p:txBody>
          <a:bodyPr wrap="none" anchor="ctr"/>
          <a:lstStyle/>
          <a:p>
            <a:pPr algn="ctr"/>
            <a:r>
              <a:rPr lang="zh-CN" altLang="en-US" sz="1000" dirty="0"/>
              <a:t>数 据</a:t>
            </a:r>
          </a:p>
        </p:txBody>
      </p:sp>
      <p:sp>
        <p:nvSpPr>
          <p:cNvPr id="132" name="Rectangle 35">
            <a:extLst>
              <a:ext uri="{FF2B5EF4-FFF2-40B4-BE49-F238E27FC236}">
                <a16:creationId xmlns:a16="http://schemas.microsoft.com/office/drawing/2014/main" id="{FC79FE30-20E9-BAA3-C376-45C98BAA066D}"/>
              </a:ext>
            </a:extLst>
          </p:cNvPr>
          <p:cNvSpPr>
            <a:spLocks noChangeArrowheads="1"/>
          </p:cNvSpPr>
          <p:nvPr/>
        </p:nvSpPr>
        <p:spPr bwMode="auto">
          <a:xfrm>
            <a:off x="5489148" y="3671598"/>
            <a:ext cx="1598222" cy="244475"/>
          </a:xfrm>
          <a:prstGeom prst="rect">
            <a:avLst/>
          </a:prstGeom>
          <a:ln w="9525">
            <a:solidFill>
              <a:schemeClr val="tx1"/>
            </a:solidFill>
            <a:miter lim="800000"/>
          </a:ln>
        </p:spPr>
        <p:txBody>
          <a:bodyPr wrap="none" anchor="ctr"/>
          <a:lstStyle/>
          <a:p>
            <a:pPr algn="ctr"/>
            <a:r>
              <a:rPr lang="en-US" altLang="zh-CN" sz="1000" dirty="0">
                <a:solidFill>
                  <a:srgbClr val="FF0000"/>
                </a:solidFill>
                <a:latin typeface="+mj-lt"/>
                <a:ea typeface="+mj-ea"/>
              </a:rPr>
              <a:t>10101 </a:t>
            </a:r>
            <a:r>
              <a:rPr lang="zh-CN" altLang="en-US" sz="1000" dirty="0">
                <a:solidFill>
                  <a:srgbClr val="FF0000"/>
                </a:solidFill>
                <a:latin typeface="+mj-lt"/>
                <a:ea typeface="+mj-ea"/>
              </a:rPr>
              <a:t>比特</a:t>
            </a:r>
            <a:r>
              <a:rPr lang="zh-CN" altLang="en-US" sz="1000">
                <a:solidFill>
                  <a:srgbClr val="FF0000"/>
                </a:solidFill>
                <a:latin typeface="+mj-lt"/>
                <a:ea typeface="+mj-ea"/>
              </a:rPr>
              <a:t>流 </a:t>
            </a:r>
            <a:r>
              <a:rPr lang="en-US" altLang="zh-CN" sz="1000" dirty="0">
                <a:solidFill>
                  <a:srgbClr val="FF0000"/>
                </a:solidFill>
                <a:latin typeface="+mj-lt"/>
                <a:ea typeface="+mj-ea"/>
              </a:rPr>
              <a:t>110111</a:t>
            </a:r>
          </a:p>
        </p:txBody>
      </p:sp>
    </p:spTree>
    <p:extLst>
      <p:ext uri="{BB962C8B-B14F-4D97-AF65-F5344CB8AC3E}">
        <p14:creationId xmlns:p14="http://schemas.microsoft.com/office/powerpoint/2010/main" val="2758915928"/>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4" fill="hold" grpId="0" nodeType="afterEffect">
                                  <p:stCondLst>
                                    <p:cond delay="0"/>
                                  </p:stCondLst>
                                  <p:childTnLst>
                                    <p:set>
                                      <p:cBhvr>
                                        <p:cTn id="6" dur="1" fill="hold">
                                          <p:stCondLst>
                                            <p:cond delay="0"/>
                                          </p:stCondLst>
                                        </p:cTn>
                                        <p:tgtEl>
                                          <p:spTgt spid="104"/>
                                        </p:tgtEl>
                                        <p:attrNameLst>
                                          <p:attrName>style.visibility</p:attrName>
                                        </p:attrNameLst>
                                      </p:cBhvr>
                                      <p:to>
                                        <p:strVal val="visible"/>
                                      </p:to>
                                    </p:set>
                                    <p:animEffect transition="in" filter="wipe(down)">
                                      <p:cBhvr>
                                        <p:cTn id="7" dur="1000"/>
                                        <p:tgtEl>
                                          <p:spTgt spid="10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4" grpId="0" animBg="1"/>
    </p:bldLst>
  </p:timing>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5" name="AutoShape 4">
            <a:extLst>
              <a:ext uri="{FF2B5EF4-FFF2-40B4-BE49-F238E27FC236}">
                <a16:creationId xmlns:a16="http://schemas.microsoft.com/office/drawing/2014/main" id="{5F1CD450-CA45-BE1C-0E1F-ADFB679A4ED1}"/>
              </a:ext>
            </a:extLst>
          </p:cNvPr>
          <p:cNvSpPr>
            <a:spLocks noChangeArrowheads="1"/>
          </p:cNvSpPr>
          <p:nvPr/>
        </p:nvSpPr>
        <p:spPr bwMode="auto">
          <a:xfrm rot="16200000">
            <a:off x="2567190" y="2361728"/>
            <a:ext cx="271463" cy="3600000"/>
          </a:xfrm>
          <a:prstGeom prst="can">
            <a:avLst>
              <a:gd name="adj" fmla="val 48656"/>
            </a:avLst>
          </a:prstGeom>
          <a:gradFill rotWithShape="0">
            <a:gsLst>
              <a:gs pos="0">
                <a:srgbClr val="00CC00"/>
              </a:gs>
              <a:gs pos="50000">
                <a:schemeClr val="bg1"/>
              </a:gs>
              <a:gs pos="100000">
                <a:srgbClr val="00CC00"/>
              </a:gs>
            </a:gsLst>
            <a:lin ang="5400000" scaled="1"/>
          </a:gradFill>
          <a:ln w="6350">
            <a:solidFill>
              <a:srgbClr val="7CE07C"/>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177" name="AutoShape 4">
            <a:extLst>
              <a:ext uri="{FF2B5EF4-FFF2-40B4-BE49-F238E27FC236}">
                <a16:creationId xmlns:a16="http://schemas.microsoft.com/office/drawing/2014/main" id="{E395EC5E-A952-0442-8548-CEAB56AF496F}"/>
              </a:ext>
            </a:extLst>
          </p:cNvPr>
          <p:cNvSpPr>
            <a:spLocks noChangeArrowheads="1"/>
          </p:cNvSpPr>
          <p:nvPr/>
        </p:nvSpPr>
        <p:spPr bwMode="auto">
          <a:xfrm rot="16200000">
            <a:off x="6253847" y="2361728"/>
            <a:ext cx="271463" cy="3600000"/>
          </a:xfrm>
          <a:prstGeom prst="can">
            <a:avLst>
              <a:gd name="adj" fmla="val 48656"/>
            </a:avLst>
          </a:prstGeom>
          <a:gradFill rotWithShape="0">
            <a:gsLst>
              <a:gs pos="0">
                <a:srgbClr val="00CC00"/>
              </a:gs>
              <a:gs pos="50000">
                <a:schemeClr val="bg1"/>
              </a:gs>
              <a:gs pos="100000">
                <a:srgbClr val="00CC00"/>
              </a:gs>
            </a:gsLst>
            <a:lin ang="5400000" scaled="1"/>
          </a:gradFill>
          <a:ln w="6350">
            <a:solidFill>
              <a:srgbClr val="7CE07C"/>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179" name="Text Box 26">
            <a:extLst>
              <a:ext uri="{FF2B5EF4-FFF2-40B4-BE49-F238E27FC236}">
                <a16:creationId xmlns:a16="http://schemas.microsoft.com/office/drawing/2014/main" id="{6DF8B035-B252-18C1-3D2E-1DAE029996B1}"/>
              </a:ext>
            </a:extLst>
          </p:cNvPr>
          <p:cNvSpPr txBox="1">
            <a:spLocks noChangeArrowheads="1"/>
          </p:cNvSpPr>
          <p:nvPr/>
        </p:nvSpPr>
        <p:spPr bwMode="auto">
          <a:xfrm>
            <a:off x="2701348" y="4023229"/>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dirty="0">
                <a:latin typeface="+mj-lt"/>
                <a:ea typeface="+mj-ea"/>
              </a:rPr>
              <a:t>物理传输媒体</a:t>
            </a:r>
          </a:p>
        </p:txBody>
      </p:sp>
      <p:sp>
        <p:nvSpPr>
          <p:cNvPr id="181" name="Text Box 26">
            <a:extLst>
              <a:ext uri="{FF2B5EF4-FFF2-40B4-BE49-F238E27FC236}">
                <a16:creationId xmlns:a16="http://schemas.microsoft.com/office/drawing/2014/main" id="{0444089A-3407-8758-557F-F2336CCF705B}"/>
              </a:ext>
            </a:extLst>
          </p:cNvPr>
          <p:cNvSpPr txBox="1">
            <a:spLocks noChangeArrowheads="1"/>
          </p:cNvSpPr>
          <p:nvPr/>
        </p:nvSpPr>
        <p:spPr bwMode="auto">
          <a:xfrm>
            <a:off x="6193730" y="4023229"/>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dirty="0">
                <a:latin typeface="+mj-lt"/>
                <a:ea typeface="+mj-ea"/>
              </a:rPr>
              <a:t>物理传输媒体</a:t>
            </a:r>
          </a:p>
        </p:txBody>
      </p:sp>
      <p:grpSp>
        <p:nvGrpSpPr>
          <p:cNvPr id="168" name="组合 167">
            <a:extLst>
              <a:ext uri="{FF2B5EF4-FFF2-40B4-BE49-F238E27FC236}">
                <a16:creationId xmlns:a16="http://schemas.microsoft.com/office/drawing/2014/main" id="{05B09915-8C8A-7B95-640F-8419B3758DD7}"/>
              </a:ext>
            </a:extLst>
          </p:cNvPr>
          <p:cNvGrpSpPr/>
          <p:nvPr/>
        </p:nvGrpSpPr>
        <p:grpSpPr>
          <a:xfrm>
            <a:off x="3960000" y="2808000"/>
            <a:ext cx="1080000" cy="1080000"/>
            <a:chOff x="2807995" y="2745746"/>
            <a:chExt cx="1080000" cy="1080000"/>
          </a:xfrm>
        </p:grpSpPr>
        <p:sp>
          <p:nvSpPr>
            <p:cNvPr id="169" name="立方体 168">
              <a:extLst>
                <a:ext uri="{FF2B5EF4-FFF2-40B4-BE49-F238E27FC236}">
                  <a16:creationId xmlns:a16="http://schemas.microsoft.com/office/drawing/2014/main" id="{3354BD02-897C-87DE-F65D-0FE6C5FDE0E4}"/>
                </a:ext>
              </a:extLst>
            </p:cNvPr>
            <p:cNvSpPr/>
            <p:nvPr/>
          </p:nvSpPr>
          <p:spPr>
            <a:xfrm>
              <a:off x="2807995" y="3393746"/>
              <a:ext cx="594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sz="1050" dirty="0">
                  <a:solidFill>
                    <a:schemeClr val="bg1"/>
                  </a:solidFill>
                </a:rPr>
                <a:t>1</a:t>
              </a:r>
              <a:endParaRPr lang="zh-CN" altLang="en-US" sz="1050" dirty="0">
                <a:solidFill>
                  <a:schemeClr val="bg1"/>
                </a:solidFill>
              </a:endParaRPr>
            </a:p>
          </p:txBody>
        </p:sp>
        <p:sp>
          <p:nvSpPr>
            <p:cNvPr id="170" name="立方体 169">
              <a:extLst>
                <a:ext uri="{FF2B5EF4-FFF2-40B4-BE49-F238E27FC236}">
                  <a16:creationId xmlns:a16="http://schemas.microsoft.com/office/drawing/2014/main" id="{45C4141A-C05F-7651-41A4-EA824C58E5BE}"/>
                </a:ext>
              </a:extLst>
            </p:cNvPr>
            <p:cNvSpPr/>
            <p:nvPr/>
          </p:nvSpPr>
          <p:spPr>
            <a:xfrm>
              <a:off x="2807995" y="3069746"/>
              <a:ext cx="594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sz="1050" dirty="0">
                  <a:solidFill>
                    <a:schemeClr val="bg1"/>
                  </a:solidFill>
                </a:rPr>
                <a:t>2</a:t>
              </a:r>
              <a:endParaRPr lang="zh-CN" altLang="en-US" sz="1050" dirty="0">
                <a:solidFill>
                  <a:schemeClr val="bg1"/>
                </a:solidFill>
              </a:endParaRPr>
            </a:p>
          </p:txBody>
        </p:sp>
        <p:sp>
          <p:nvSpPr>
            <p:cNvPr id="171" name="立方体 170">
              <a:extLst>
                <a:ext uri="{FF2B5EF4-FFF2-40B4-BE49-F238E27FC236}">
                  <a16:creationId xmlns:a16="http://schemas.microsoft.com/office/drawing/2014/main" id="{48E9F1AB-CD66-A70B-9C00-75FF2EE38467}"/>
                </a:ext>
              </a:extLst>
            </p:cNvPr>
            <p:cNvSpPr/>
            <p:nvPr/>
          </p:nvSpPr>
          <p:spPr>
            <a:xfrm>
              <a:off x="3293995" y="3393746"/>
              <a:ext cx="594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sz="1050" dirty="0">
                  <a:solidFill>
                    <a:schemeClr val="bg1"/>
                  </a:solidFill>
                </a:rPr>
                <a:t>1</a:t>
              </a:r>
              <a:endParaRPr lang="zh-CN" altLang="en-US" sz="1050" dirty="0">
                <a:solidFill>
                  <a:schemeClr val="bg1"/>
                </a:solidFill>
              </a:endParaRPr>
            </a:p>
          </p:txBody>
        </p:sp>
        <p:sp>
          <p:nvSpPr>
            <p:cNvPr id="172" name="立方体 171">
              <a:extLst>
                <a:ext uri="{FF2B5EF4-FFF2-40B4-BE49-F238E27FC236}">
                  <a16:creationId xmlns:a16="http://schemas.microsoft.com/office/drawing/2014/main" id="{2D88F73D-D015-CF78-9B23-369E0BA18925}"/>
                </a:ext>
              </a:extLst>
            </p:cNvPr>
            <p:cNvSpPr/>
            <p:nvPr/>
          </p:nvSpPr>
          <p:spPr>
            <a:xfrm>
              <a:off x="3293995" y="3069746"/>
              <a:ext cx="594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sz="1050" dirty="0">
                  <a:solidFill>
                    <a:schemeClr val="bg1"/>
                  </a:solidFill>
                </a:rPr>
                <a:t>2</a:t>
              </a:r>
              <a:endParaRPr lang="zh-CN" altLang="en-US" sz="1050" dirty="0">
                <a:solidFill>
                  <a:schemeClr val="bg1"/>
                </a:solidFill>
              </a:endParaRPr>
            </a:p>
          </p:txBody>
        </p:sp>
        <p:sp>
          <p:nvSpPr>
            <p:cNvPr id="173" name="立方体 172">
              <a:extLst>
                <a:ext uri="{FF2B5EF4-FFF2-40B4-BE49-F238E27FC236}">
                  <a16:creationId xmlns:a16="http://schemas.microsoft.com/office/drawing/2014/main" id="{D3ADC0E8-988B-6050-2277-BCE5563025F8}"/>
                </a:ext>
              </a:extLst>
            </p:cNvPr>
            <p:cNvSpPr/>
            <p:nvPr/>
          </p:nvSpPr>
          <p:spPr>
            <a:xfrm>
              <a:off x="2807995" y="2745746"/>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pPr algn="ctr"/>
              <a:r>
                <a:rPr lang="en-US" altLang="zh-CN" sz="1050" dirty="0">
                  <a:solidFill>
                    <a:schemeClr val="bg1"/>
                  </a:solidFill>
                </a:rPr>
                <a:t>3</a:t>
              </a:r>
              <a:endParaRPr lang="zh-CN" altLang="en-US" sz="1050" dirty="0">
                <a:solidFill>
                  <a:schemeClr val="bg1"/>
                </a:solidFill>
              </a:endParaRPr>
            </a:p>
          </p:txBody>
        </p:sp>
      </p:grpSp>
      <p:grpSp>
        <p:nvGrpSpPr>
          <p:cNvPr id="78" name="组合 77">
            <a:extLst>
              <a:ext uri="{FF2B5EF4-FFF2-40B4-BE49-F238E27FC236}">
                <a16:creationId xmlns:a16="http://schemas.microsoft.com/office/drawing/2014/main" id="{BDE65972-F586-14CA-0459-EC749E25AEAC}"/>
              </a:ext>
            </a:extLst>
          </p:cNvPr>
          <p:cNvGrpSpPr/>
          <p:nvPr/>
        </p:nvGrpSpPr>
        <p:grpSpPr>
          <a:xfrm>
            <a:off x="7395732" y="1800000"/>
            <a:ext cx="1080000" cy="2088000"/>
            <a:chOff x="701211" y="1800000"/>
            <a:chExt cx="1080000" cy="2088000"/>
          </a:xfrm>
        </p:grpSpPr>
        <p:sp>
          <p:nvSpPr>
            <p:cNvPr id="79" name="立方体 78">
              <a:extLst>
                <a:ext uri="{FF2B5EF4-FFF2-40B4-BE49-F238E27FC236}">
                  <a16:creationId xmlns:a16="http://schemas.microsoft.com/office/drawing/2014/main" id="{D91F6802-2F44-1E61-F357-B813B00A3262}"/>
                </a:ext>
              </a:extLst>
            </p:cNvPr>
            <p:cNvSpPr/>
            <p:nvPr/>
          </p:nvSpPr>
          <p:spPr>
            <a:xfrm>
              <a:off x="701211" y="3456000"/>
              <a:ext cx="108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050" dirty="0">
                  <a:solidFill>
                    <a:schemeClr val="bg1"/>
                  </a:solidFill>
                </a:rPr>
                <a:t>1 </a:t>
              </a:r>
              <a:r>
                <a:rPr lang="zh-CN" altLang="en-US" sz="1050" dirty="0">
                  <a:solidFill>
                    <a:schemeClr val="bg1"/>
                  </a:solidFill>
                </a:rPr>
                <a:t>物理层</a:t>
              </a:r>
            </a:p>
          </p:txBody>
        </p:sp>
        <p:sp>
          <p:nvSpPr>
            <p:cNvPr id="80" name="立方体 79">
              <a:extLst>
                <a:ext uri="{FF2B5EF4-FFF2-40B4-BE49-F238E27FC236}">
                  <a16:creationId xmlns:a16="http://schemas.microsoft.com/office/drawing/2014/main" id="{B6EFF3A4-F716-3485-D8BD-4142BE8C72E9}"/>
                </a:ext>
              </a:extLst>
            </p:cNvPr>
            <p:cNvSpPr/>
            <p:nvPr/>
          </p:nvSpPr>
          <p:spPr>
            <a:xfrm>
              <a:off x="701211" y="3132000"/>
              <a:ext cx="108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050" dirty="0">
                  <a:solidFill>
                    <a:schemeClr val="bg1"/>
                  </a:solidFill>
                </a:rPr>
                <a:t>2 </a:t>
              </a:r>
              <a:r>
                <a:rPr lang="zh-CN" altLang="en-US" sz="1050" dirty="0">
                  <a:solidFill>
                    <a:schemeClr val="bg1"/>
                  </a:solidFill>
                </a:rPr>
                <a:t>数据链路层</a:t>
              </a:r>
            </a:p>
          </p:txBody>
        </p:sp>
        <p:sp>
          <p:nvSpPr>
            <p:cNvPr id="81" name="立方体 80">
              <a:extLst>
                <a:ext uri="{FF2B5EF4-FFF2-40B4-BE49-F238E27FC236}">
                  <a16:creationId xmlns:a16="http://schemas.microsoft.com/office/drawing/2014/main" id="{9D21F6DB-9B37-33A8-7B3C-026E67FD955D}"/>
                </a:ext>
              </a:extLst>
            </p:cNvPr>
            <p:cNvSpPr/>
            <p:nvPr/>
          </p:nvSpPr>
          <p:spPr>
            <a:xfrm>
              <a:off x="701211" y="2808000"/>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050" dirty="0">
                  <a:solidFill>
                    <a:schemeClr val="bg1"/>
                  </a:solidFill>
                </a:rPr>
                <a:t>3 </a:t>
              </a:r>
              <a:r>
                <a:rPr lang="zh-CN" altLang="en-US" sz="1050" dirty="0">
                  <a:solidFill>
                    <a:schemeClr val="bg1"/>
                  </a:solidFill>
                </a:rPr>
                <a:t>网络层</a:t>
              </a:r>
            </a:p>
          </p:txBody>
        </p:sp>
        <p:sp>
          <p:nvSpPr>
            <p:cNvPr id="84" name="立方体 83">
              <a:extLst>
                <a:ext uri="{FF2B5EF4-FFF2-40B4-BE49-F238E27FC236}">
                  <a16:creationId xmlns:a16="http://schemas.microsoft.com/office/drawing/2014/main" id="{ED37EFD6-A5C7-CDEB-5EB4-9A6D0DD54FE4}"/>
                </a:ext>
              </a:extLst>
            </p:cNvPr>
            <p:cNvSpPr/>
            <p:nvPr/>
          </p:nvSpPr>
          <p:spPr>
            <a:xfrm>
              <a:off x="701211" y="2484000"/>
              <a:ext cx="108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050" dirty="0">
                  <a:solidFill>
                    <a:schemeClr val="bg1"/>
                  </a:solidFill>
                </a:rPr>
                <a:t>4 </a:t>
              </a:r>
              <a:r>
                <a:rPr lang="zh-CN" altLang="en-US" sz="1050" dirty="0">
                  <a:solidFill>
                    <a:schemeClr val="bg1"/>
                  </a:solidFill>
                </a:rPr>
                <a:t>运输层</a:t>
              </a:r>
            </a:p>
          </p:txBody>
        </p:sp>
        <p:sp>
          <p:nvSpPr>
            <p:cNvPr id="85" name="立方体 84">
              <a:extLst>
                <a:ext uri="{FF2B5EF4-FFF2-40B4-BE49-F238E27FC236}">
                  <a16:creationId xmlns:a16="http://schemas.microsoft.com/office/drawing/2014/main" id="{93952E3C-8178-5769-6AB5-E5C5045B165D}"/>
                </a:ext>
              </a:extLst>
            </p:cNvPr>
            <p:cNvSpPr/>
            <p:nvPr/>
          </p:nvSpPr>
          <p:spPr>
            <a:xfrm>
              <a:off x="701211" y="2160000"/>
              <a:ext cx="108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050" dirty="0">
                  <a:solidFill>
                    <a:schemeClr val="bg1"/>
                  </a:solidFill>
                </a:rPr>
                <a:t>5 </a:t>
              </a:r>
              <a:r>
                <a:rPr lang="zh-CN" altLang="en-US" sz="1050" dirty="0">
                  <a:solidFill>
                    <a:schemeClr val="bg1"/>
                  </a:solidFill>
                </a:rPr>
                <a:t>应用层</a:t>
              </a:r>
            </a:p>
          </p:txBody>
        </p:sp>
        <p:sp>
          <p:nvSpPr>
            <p:cNvPr id="113" name="圆柱体 112">
              <a:extLst>
                <a:ext uri="{FF2B5EF4-FFF2-40B4-BE49-F238E27FC236}">
                  <a16:creationId xmlns:a16="http://schemas.microsoft.com/office/drawing/2014/main" id="{93FC0ABC-C8D5-AEED-EA03-AF840B34F097}"/>
                </a:ext>
              </a:extLst>
            </p:cNvPr>
            <p:cNvSpPr/>
            <p:nvPr/>
          </p:nvSpPr>
          <p:spPr>
            <a:xfrm>
              <a:off x="953211" y="1800000"/>
              <a:ext cx="576000" cy="360000"/>
            </a:xfrm>
            <a:prstGeom prst="can">
              <a:avLst/>
            </a:prstGeom>
            <a:solidFill>
              <a:srgbClr val="FFFF00"/>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000" dirty="0">
                  <a:solidFill>
                    <a:sysClr val="windowText" lastClr="000000"/>
                  </a:solidFill>
                </a:rPr>
                <a:t>AP1</a:t>
              </a:r>
              <a:endParaRPr lang="zh-CN" altLang="en-US" sz="1000" dirty="0">
                <a:solidFill>
                  <a:sysClr val="windowText" lastClr="000000"/>
                </a:solidFill>
              </a:endParaRPr>
            </a:p>
          </p:txBody>
        </p:sp>
      </p:grpSp>
      <p:grpSp>
        <p:nvGrpSpPr>
          <p:cNvPr id="114" name="组合 113">
            <a:extLst>
              <a:ext uri="{FF2B5EF4-FFF2-40B4-BE49-F238E27FC236}">
                <a16:creationId xmlns:a16="http://schemas.microsoft.com/office/drawing/2014/main" id="{D8BA1D2A-EFF3-A44E-F27B-4D05B34418B5}"/>
              </a:ext>
            </a:extLst>
          </p:cNvPr>
          <p:cNvGrpSpPr/>
          <p:nvPr/>
        </p:nvGrpSpPr>
        <p:grpSpPr>
          <a:xfrm>
            <a:off x="701211" y="1800000"/>
            <a:ext cx="1080000" cy="2088000"/>
            <a:chOff x="701211" y="1800000"/>
            <a:chExt cx="1080000" cy="2088000"/>
          </a:xfrm>
        </p:grpSpPr>
        <p:sp>
          <p:nvSpPr>
            <p:cNvPr id="115" name="立方体 114">
              <a:extLst>
                <a:ext uri="{FF2B5EF4-FFF2-40B4-BE49-F238E27FC236}">
                  <a16:creationId xmlns:a16="http://schemas.microsoft.com/office/drawing/2014/main" id="{F6E24218-4713-AB96-9DF8-B167EC8291ED}"/>
                </a:ext>
              </a:extLst>
            </p:cNvPr>
            <p:cNvSpPr/>
            <p:nvPr/>
          </p:nvSpPr>
          <p:spPr>
            <a:xfrm>
              <a:off x="701211" y="3456000"/>
              <a:ext cx="108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050" dirty="0">
                  <a:solidFill>
                    <a:schemeClr val="bg1"/>
                  </a:solidFill>
                </a:rPr>
                <a:t>1 </a:t>
              </a:r>
              <a:r>
                <a:rPr lang="zh-CN" altLang="en-US" sz="1050" dirty="0">
                  <a:solidFill>
                    <a:schemeClr val="bg1"/>
                  </a:solidFill>
                </a:rPr>
                <a:t>物理层</a:t>
              </a:r>
            </a:p>
          </p:txBody>
        </p:sp>
        <p:sp>
          <p:nvSpPr>
            <p:cNvPr id="116" name="立方体 115">
              <a:extLst>
                <a:ext uri="{FF2B5EF4-FFF2-40B4-BE49-F238E27FC236}">
                  <a16:creationId xmlns:a16="http://schemas.microsoft.com/office/drawing/2014/main" id="{52BE2181-7A76-A1D7-AD58-A26419D3D5FC}"/>
                </a:ext>
              </a:extLst>
            </p:cNvPr>
            <p:cNvSpPr/>
            <p:nvPr/>
          </p:nvSpPr>
          <p:spPr>
            <a:xfrm>
              <a:off x="701211" y="3132000"/>
              <a:ext cx="108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050" dirty="0">
                  <a:solidFill>
                    <a:schemeClr val="bg1"/>
                  </a:solidFill>
                </a:rPr>
                <a:t>2 </a:t>
              </a:r>
              <a:r>
                <a:rPr lang="zh-CN" altLang="en-US" sz="1050" dirty="0">
                  <a:solidFill>
                    <a:schemeClr val="bg1"/>
                  </a:solidFill>
                </a:rPr>
                <a:t>数据链路层</a:t>
              </a:r>
            </a:p>
          </p:txBody>
        </p:sp>
        <p:sp>
          <p:nvSpPr>
            <p:cNvPr id="117" name="立方体 116">
              <a:extLst>
                <a:ext uri="{FF2B5EF4-FFF2-40B4-BE49-F238E27FC236}">
                  <a16:creationId xmlns:a16="http://schemas.microsoft.com/office/drawing/2014/main" id="{2621BF37-BE1E-C9F8-02E5-F6A20B5660AF}"/>
                </a:ext>
              </a:extLst>
            </p:cNvPr>
            <p:cNvSpPr/>
            <p:nvPr/>
          </p:nvSpPr>
          <p:spPr>
            <a:xfrm>
              <a:off x="701211" y="2808000"/>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050" dirty="0">
                  <a:solidFill>
                    <a:schemeClr val="bg1"/>
                  </a:solidFill>
                </a:rPr>
                <a:t>3 </a:t>
              </a:r>
              <a:r>
                <a:rPr lang="zh-CN" altLang="en-US" sz="1050" dirty="0">
                  <a:solidFill>
                    <a:schemeClr val="bg1"/>
                  </a:solidFill>
                </a:rPr>
                <a:t>网络层</a:t>
              </a:r>
            </a:p>
          </p:txBody>
        </p:sp>
        <p:sp>
          <p:nvSpPr>
            <p:cNvPr id="118" name="立方体 117">
              <a:extLst>
                <a:ext uri="{FF2B5EF4-FFF2-40B4-BE49-F238E27FC236}">
                  <a16:creationId xmlns:a16="http://schemas.microsoft.com/office/drawing/2014/main" id="{72E80934-B788-FD3F-AB3F-E34B1B14131A}"/>
                </a:ext>
              </a:extLst>
            </p:cNvPr>
            <p:cNvSpPr/>
            <p:nvPr/>
          </p:nvSpPr>
          <p:spPr>
            <a:xfrm>
              <a:off x="701211" y="2484000"/>
              <a:ext cx="108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050" dirty="0">
                  <a:solidFill>
                    <a:schemeClr val="bg1"/>
                  </a:solidFill>
                </a:rPr>
                <a:t>4 </a:t>
              </a:r>
              <a:r>
                <a:rPr lang="zh-CN" altLang="en-US" sz="1050" dirty="0">
                  <a:solidFill>
                    <a:schemeClr val="bg1"/>
                  </a:solidFill>
                </a:rPr>
                <a:t>运输层</a:t>
              </a:r>
            </a:p>
          </p:txBody>
        </p:sp>
        <p:sp>
          <p:nvSpPr>
            <p:cNvPr id="120" name="立方体 119">
              <a:extLst>
                <a:ext uri="{FF2B5EF4-FFF2-40B4-BE49-F238E27FC236}">
                  <a16:creationId xmlns:a16="http://schemas.microsoft.com/office/drawing/2014/main" id="{73BB674F-5FB0-4DED-8C42-2C87670FA8A3}"/>
                </a:ext>
              </a:extLst>
            </p:cNvPr>
            <p:cNvSpPr/>
            <p:nvPr/>
          </p:nvSpPr>
          <p:spPr>
            <a:xfrm>
              <a:off x="701211" y="2160000"/>
              <a:ext cx="108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050" dirty="0">
                  <a:solidFill>
                    <a:schemeClr val="bg1"/>
                  </a:solidFill>
                </a:rPr>
                <a:t>5 </a:t>
              </a:r>
              <a:r>
                <a:rPr lang="zh-CN" altLang="en-US" sz="1050" dirty="0">
                  <a:solidFill>
                    <a:schemeClr val="bg1"/>
                  </a:solidFill>
                </a:rPr>
                <a:t>应用层</a:t>
              </a:r>
            </a:p>
          </p:txBody>
        </p:sp>
        <p:sp>
          <p:nvSpPr>
            <p:cNvPr id="121" name="圆柱体 120">
              <a:extLst>
                <a:ext uri="{FF2B5EF4-FFF2-40B4-BE49-F238E27FC236}">
                  <a16:creationId xmlns:a16="http://schemas.microsoft.com/office/drawing/2014/main" id="{9B9F93C9-431B-8922-E991-15B038B766DF}"/>
                </a:ext>
              </a:extLst>
            </p:cNvPr>
            <p:cNvSpPr/>
            <p:nvPr/>
          </p:nvSpPr>
          <p:spPr>
            <a:xfrm>
              <a:off x="953211" y="1800000"/>
              <a:ext cx="576000" cy="360000"/>
            </a:xfrm>
            <a:prstGeom prst="can">
              <a:avLst/>
            </a:prstGeom>
            <a:solidFill>
              <a:srgbClr val="FFFF00"/>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000" dirty="0">
                  <a:solidFill>
                    <a:sysClr val="windowText" lastClr="000000"/>
                  </a:solidFill>
                </a:rPr>
                <a:t>AP1</a:t>
              </a:r>
              <a:endParaRPr lang="zh-CN" altLang="en-US" sz="1000" dirty="0">
                <a:solidFill>
                  <a:sysClr val="windowText" lastClr="000000"/>
                </a:solidFill>
              </a:endParaRPr>
            </a:p>
          </p:txBody>
        </p:sp>
      </p:grpSp>
      <p:sp>
        <p:nvSpPr>
          <p:cNvPr id="25" name="Text Box 29"/>
          <p:cNvSpPr txBox="1">
            <a:spLocks noChangeArrowheads="1"/>
          </p:cNvSpPr>
          <p:nvPr/>
        </p:nvSpPr>
        <p:spPr bwMode="auto">
          <a:xfrm>
            <a:off x="110689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1</a:t>
            </a:r>
          </a:p>
        </p:txBody>
      </p:sp>
      <p:sp>
        <p:nvSpPr>
          <p:cNvPr id="38" name="Text Box 29"/>
          <p:cNvSpPr txBox="1">
            <a:spLocks noChangeArrowheads="1"/>
          </p:cNvSpPr>
          <p:nvPr/>
        </p:nvSpPr>
        <p:spPr bwMode="auto">
          <a:xfrm>
            <a:off x="736975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2</a:t>
            </a:r>
          </a:p>
        </p:txBody>
      </p:sp>
      <p:sp>
        <p:nvSpPr>
          <p:cNvPr id="39" name="Text Box 29"/>
          <p:cNvSpPr txBox="1">
            <a:spLocks noChangeArrowheads="1"/>
          </p:cNvSpPr>
          <p:nvPr/>
        </p:nvSpPr>
        <p:spPr bwMode="auto">
          <a:xfrm>
            <a:off x="4160212" y="107510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路由器</a:t>
            </a:r>
            <a:endParaRPr kumimoji="1" lang="en-US" altLang="zh-CN" sz="1200" b="1" dirty="0">
              <a:solidFill>
                <a:srgbClr val="0000FF"/>
              </a:solidFill>
              <a:latin typeface="微软雅黑" panose="020B0503020204020204" pitchFamily="34" charset="-122"/>
              <a:ea typeface="微软雅黑" panose="020B0503020204020204" pitchFamily="34" charset="-122"/>
            </a:endParaRPr>
          </a:p>
        </p:txBody>
      </p:sp>
      <p:cxnSp>
        <p:nvCxnSpPr>
          <p:cNvPr id="69" name="直接连接符 68"/>
          <p:cNvCxnSpPr/>
          <p:nvPr/>
        </p:nvCxnSpPr>
        <p:spPr>
          <a:xfrm>
            <a:off x="1418143" y="1507958"/>
            <a:ext cx="6306131" cy="0"/>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pic>
        <p:nvPicPr>
          <p:cNvPr id="36"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486661" y="1312469"/>
            <a:ext cx="410222"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7"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202308" y="1312469"/>
            <a:ext cx="410223"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140" name="直接箭头连接符 139"/>
          <p:cNvCxnSpPr/>
          <p:nvPr/>
        </p:nvCxnSpPr>
        <p:spPr>
          <a:xfrm>
            <a:off x="1561619" y="1428166"/>
            <a:ext cx="5941518" cy="0"/>
          </a:xfrm>
          <a:prstGeom prst="straightConnector1">
            <a:avLst/>
          </a:prstGeom>
          <a:ln w="28575">
            <a:solidFill>
              <a:srgbClr val="CC00CC"/>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35" name="Picture 4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54124" y="1385466"/>
            <a:ext cx="454438" cy="2643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73" name="AutoShape 51"/>
          <p:cNvSpPr>
            <a:spLocks noChangeArrowheads="1"/>
          </p:cNvSpPr>
          <p:nvPr/>
        </p:nvSpPr>
        <p:spPr bwMode="auto">
          <a:xfrm flipV="1">
            <a:off x="1237476" y="2076244"/>
            <a:ext cx="145966" cy="205414"/>
          </a:xfrm>
          <a:prstGeom prst="upArrow">
            <a:avLst>
              <a:gd name="adj1" fmla="val 50000"/>
              <a:gd name="adj2" fmla="val 45968"/>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88" name="AutoShape 54"/>
          <p:cNvSpPr>
            <a:spLocks noChangeArrowheads="1"/>
          </p:cNvSpPr>
          <p:nvPr/>
        </p:nvSpPr>
        <p:spPr bwMode="auto">
          <a:xfrm rot="10800000">
            <a:off x="1237478" y="2439149"/>
            <a:ext cx="147144" cy="221279"/>
          </a:xfrm>
          <a:prstGeom prst="upArrow">
            <a:avLst>
              <a:gd name="adj1" fmla="val 50000"/>
              <a:gd name="adj2" fmla="val 498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5" name="AutoShape 57"/>
          <p:cNvSpPr>
            <a:spLocks noChangeArrowheads="1"/>
          </p:cNvSpPr>
          <p:nvPr/>
        </p:nvSpPr>
        <p:spPr bwMode="auto">
          <a:xfrm rot="10800000">
            <a:off x="1235122" y="2826328"/>
            <a:ext cx="148321" cy="222762"/>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07" name="AutoShape 57"/>
          <p:cNvSpPr>
            <a:spLocks noChangeArrowheads="1"/>
          </p:cNvSpPr>
          <p:nvPr/>
        </p:nvSpPr>
        <p:spPr bwMode="auto">
          <a:xfrm rot="10800000">
            <a:off x="1226181" y="3198896"/>
            <a:ext cx="156561" cy="213191"/>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19" name="AutoShape 63"/>
          <p:cNvSpPr>
            <a:spLocks noChangeArrowheads="1"/>
          </p:cNvSpPr>
          <p:nvPr/>
        </p:nvSpPr>
        <p:spPr bwMode="auto">
          <a:xfrm rot="10800000">
            <a:off x="1226181" y="3567260"/>
            <a:ext cx="165978" cy="238153"/>
          </a:xfrm>
          <a:prstGeom prst="upArrow">
            <a:avLst>
              <a:gd name="adj1" fmla="val 50000"/>
              <a:gd name="adj2" fmla="val 50403"/>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00" name="AutoShape 25"/>
          <p:cNvSpPr>
            <a:spLocks noChangeArrowheads="1"/>
          </p:cNvSpPr>
          <p:nvPr/>
        </p:nvSpPr>
        <p:spPr bwMode="auto">
          <a:xfrm flipV="1">
            <a:off x="1266066" y="3955320"/>
            <a:ext cx="263283" cy="281183"/>
          </a:xfrm>
          <a:custGeom>
            <a:avLst/>
            <a:gdLst>
              <a:gd name="T0" fmla="*/ 218339 w 21600"/>
              <a:gd name="T1" fmla="*/ 0 h 21600"/>
              <a:gd name="T2" fmla="*/ 218339 w 21600"/>
              <a:gd name="T3" fmla="*/ 171757 h 21600"/>
              <a:gd name="T4" fmla="*/ 46725 w 21600"/>
              <a:gd name="T5" fmla="*/ 305144 h 21600"/>
              <a:gd name="T6" fmla="*/ 311789 w 21600"/>
              <a:gd name="T7" fmla="*/ 85878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11" name="AutoShape 42"/>
          <p:cNvSpPr>
            <a:spLocks noChangeArrowheads="1"/>
          </p:cNvSpPr>
          <p:nvPr/>
        </p:nvSpPr>
        <p:spPr bwMode="auto">
          <a:xfrm rot="5400000" flipH="1">
            <a:off x="3905139" y="3932147"/>
            <a:ext cx="254669" cy="288428"/>
          </a:xfrm>
          <a:custGeom>
            <a:avLst/>
            <a:gdLst>
              <a:gd name="T0" fmla="*/ 220161 w 21600"/>
              <a:gd name="T1" fmla="*/ 0 h 21600"/>
              <a:gd name="T2" fmla="*/ 220161 w 21600"/>
              <a:gd name="T3" fmla="*/ 175497 h 21600"/>
              <a:gd name="T4" fmla="*/ 47115 w 21600"/>
              <a:gd name="T5" fmla="*/ 311790 h 21600"/>
              <a:gd name="T6" fmla="*/ 314391 w 21600"/>
              <a:gd name="T7" fmla="*/ 87749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nvGrpSpPr>
          <p:cNvPr id="125" name="Group 34"/>
          <p:cNvGrpSpPr/>
          <p:nvPr/>
        </p:nvGrpSpPr>
        <p:grpSpPr bwMode="auto">
          <a:xfrm>
            <a:off x="1792727" y="4119885"/>
            <a:ext cx="841456" cy="101715"/>
            <a:chOff x="1344" y="912"/>
            <a:chExt cx="672" cy="96"/>
          </a:xfrm>
          <a:solidFill>
            <a:srgbClr val="FF0000"/>
          </a:solidFill>
        </p:grpSpPr>
        <p:sp>
          <p:nvSpPr>
            <p:cNvPr id="126" name="Line 35"/>
            <p:cNvSpPr>
              <a:spLocks noChangeShapeType="1"/>
            </p:cNvSpPr>
            <p:nvPr/>
          </p:nvSpPr>
          <p:spPr bwMode="auto">
            <a:xfrm>
              <a:off x="1344" y="960"/>
              <a:ext cx="672" cy="0"/>
            </a:xfrm>
            <a:prstGeom prst="line">
              <a:avLst/>
            </a:prstGeom>
            <a:grpFill/>
            <a:ln w="12700">
              <a:no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sp>
          <p:nvSpPr>
            <p:cNvPr id="127" name="Freeform 36"/>
            <p:cNvSpPr/>
            <p:nvPr/>
          </p:nvSpPr>
          <p:spPr bwMode="auto">
            <a:xfrm>
              <a:off x="1392" y="912"/>
              <a:ext cx="576" cy="96"/>
            </a:xfrm>
            <a:custGeom>
              <a:avLst/>
              <a:gdLst>
                <a:gd name="T0" fmla="*/ 0 w 576"/>
                <a:gd name="T1" fmla="*/ 96 h 192"/>
                <a:gd name="T2" fmla="*/ 0 w 576"/>
                <a:gd name="T3" fmla="*/ 0 h 192"/>
                <a:gd name="T4" fmla="*/ 192 w 576"/>
                <a:gd name="T5" fmla="*/ 0 h 192"/>
                <a:gd name="T6" fmla="*/ 192 w 576"/>
                <a:gd name="T7" fmla="*/ 192 h 192"/>
                <a:gd name="T8" fmla="*/ 288 w 576"/>
                <a:gd name="T9" fmla="*/ 192 h 192"/>
                <a:gd name="T10" fmla="*/ 288 w 576"/>
                <a:gd name="T11" fmla="*/ 0 h 192"/>
                <a:gd name="T12" fmla="*/ 336 w 576"/>
                <a:gd name="T13" fmla="*/ 0 h 192"/>
                <a:gd name="T14" fmla="*/ 336 w 576"/>
                <a:gd name="T15" fmla="*/ 192 h 192"/>
                <a:gd name="T16" fmla="*/ 480 w 576"/>
                <a:gd name="T17" fmla="*/ 192 h 192"/>
                <a:gd name="T18" fmla="*/ 480 w 576"/>
                <a:gd name="T19" fmla="*/ 0 h 192"/>
                <a:gd name="T20" fmla="*/ 576 w 576"/>
                <a:gd name="T21" fmla="*/ 0 h 192"/>
                <a:gd name="T22" fmla="*/ 576 w 576"/>
                <a:gd name="T23" fmla="*/ 96 h 192"/>
                <a:gd name="T24" fmla="*/ 0 w 576"/>
                <a:gd name="T25" fmla="*/ 96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6" h="192">
                  <a:moveTo>
                    <a:pt x="0" y="96"/>
                  </a:moveTo>
                  <a:lnTo>
                    <a:pt x="0" y="0"/>
                  </a:lnTo>
                  <a:lnTo>
                    <a:pt x="192" y="0"/>
                  </a:lnTo>
                  <a:lnTo>
                    <a:pt x="192" y="192"/>
                  </a:lnTo>
                  <a:lnTo>
                    <a:pt x="288" y="192"/>
                  </a:lnTo>
                  <a:lnTo>
                    <a:pt x="288" y="0"/>
                  </a:lnTo>
                  <a:lnTo>
                    <a:pt x="336" y="0"/>
                  </a:lnTo>
                  <a:lnTo>
                    <a:pt x="336" y="192"/>
                  </a:lnTo>
                  <a:lnTo>
                    <a:pt x="480" y="192"/>
                  </a:lnTo>
                  <a:lnTo>
                    <a:pt x="480" y="0"/>
                  </a:lnTo>
                  <a:lnTo>
                    <a:pt x="576" y="0"/>
                  </a:lnTo>
                  <a:lnTo>
                    <a:pt x="576" y="96"/>
                  </a:lnTo>
                  <a:lnTo>
                    <a:pt x="0" y="96"/>
                  </a:lnTo>
                  <a:close/>
                </a:path>
              </a:pathLst>
            </a:custGeom>
            <a:grpFill/>
            <a:ln w="12700" cap="flat" cmpd="sng">
              <a:noFill/>
              <a:prstDash val="solid"/>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grpSp>
      <p:sp>
        <p:nvSpPr>
          <p:cNvPr id="87" name="上箭头 86"/>
          <p:cNvSpPr/>
          <p:nvPr/>
        </p:nvSpPr>
        <p:spPr>
          <a:xfrm>
            <a:off x="4028301" y="3527399"/>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2" name="上箭头 81"/>
          <p:cNvSpPr/>
          <p:nvPr/>
        </p:nvSpPr>
        <p:spPr>
          <a:xfrm>
            <a:off x="4028301" y="3154024"/>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2" name="下箭头 91"/>
          <p:cNvSpPr/>
          <p:nvPr/>
        </p:nvSpPr>
        <p:spPr>
          <a:xfrm>
            <a:off x="4682483" y="3179766"/>
            <a:ext cx="180462" cy="249234"/>
          </a:xfrm>
          <a:prstGeom prst="down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4" name="下箭头 123"/>
          <p:cNvSpPr/>
          <p:nvPr/>
        </p:nvSpPr>
        <p:spPr>
          <a:xfrm>
            <a:off x="4682483" y="3543677"/>
            <a:ext cx="180462" cy="249234"/>
          </a:xfrm>
          <a:prstGeom prst="down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2" name="AutoShape 25"/>
          <p:cNvSpPr>
            <a:spLocks noChangeArrowheads="1"/>
          </p:cNvSpPr>
          <p:nvPr/>
        </p:nvSpPr>
        <p:spPr bwMode="auto">
          <a:xfrm flipV="1">
            <a:off x="4745478" y="3955321"/>
            <a:ext cx="263283" cy="281183"/>
          </a:xfrm>
          <a:custGeom>
            <a:avLst/>
            <a:gdLst>
              <a:gd name="T0" fmla="*/ 218339 w 21600"/>
              <a:gd name="T1" fmla="*/ 0 h 21600"/>
              <a:gd name="T2" fmla="*/ 218339 w 21600"/>
              <a:gd name="T3" fmla="*/ 171757 h 21600"/>
              <a:gd name="T4" fmla="*/ 46725 w 21600"/>
              <a:gd name="T5" fmla="*/ 305144 h 21600"/>
              <a:gd name="T6" fmla="*/ 311789 w 21600"/>
              <a:gd name="T7" fmla="*/ 85878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43" name="AutoShape 42"/>
          <p:cNvSpPr>
            <a:spLocks noChangeArrowheads="1"/>
          </p:cNvSpPr>
          <p:nvPr/>
        </p:nvSpPr>
        <p:spPr bwMode="auto">
          <a:xfrm rot="5400000" flipH="1">
            <a:off x="7384551" y="3932148"/>
            <a:ext cx="254669" cy="288428"/>
          </a:xfrm>
          <a:custGeom>
            <a:avLst/>
            <a:gdLst>
              <a:gd name="T0" fmla="*/ 220161 w 21600"/>
              <a:gd name="T1" fmla="*/ 0 h 21600"/>
              <a:gd name="T2" fmla="*/ 220161 w 21600"/>
              <a:gd name="T3" fmla="*/ 175497 h 21600"/>
              <a:gd name="T4" fmla="*/ 47115 w 21600"/>
              <a:gd name="T5" fmla="*/ 311790 h 21600"/>
              <a:gd name="T6" fmla="*/ 314391 w 21600"/>
              <a:gd name="T7" fmla="*/ 87749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nvGrpSpPr>
          <p:cNvPr id="144" name="Group 34"/>
          <p:cNvGrpSpPr/>
          <p:nvPr/>
        </p:nvGrpSpPr>
        <p:grpSpPr bwMode="auto">
          <a:xfrm>
            <a:off x="5272139" y="4119886"/>
            <a:ext cx="841456" cy="101715"/>
            <a:chOff x="1344" y="912"/>
            <a:chExt cx="672" cy="96"/>
          </a:xfrm>
          <a:solidFill>
            <a:srgbClr val="FF0000"/>
          </a:solidFill>
        </p:grpSpPr>
        <p:sp>
          <p:nvSpPr>
            <p:cNvPr id="145" name="Line 35"/>
            <p:cNvSpPr>
              <a:spLocks noChangeShapeType="1"/>
            </p:cNvSpPr>
            <p:nvPr/>
          </p:nvSpPr>
          <p:spPr bwMode="auto">
            <a:xfrm>
              <a:off x="1344" y="960"/>
              <a:ext cx="672" cy="0"/>
            </a:xfrm>
            <a:prstGeom prst="line">
              <a:avLst/>
            </a:prstGeom>
            <a:grpFill/>
            <a:ln w="12700">
              <a:no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sp>
          <p:nvSpPr>
            <p:cNvPr id="146" name="Freeform 36"/>
            <p:cNvSpPr/>
            <p:nvPr/>
          </p:nvSpPr>
          <p:spPr bwMode="auto">
            <a:xfrm>
              <a:off x="1392" y="912"/>
              <a:ext cx="576" cy="96"/>
            </a:xfrm>
            <a:custGeom>
              <a:avLst/>
              <a:gdLst>
                <a:gd name="T0" fmla="*/ 0 w 576"/>
                <a:gd name="T1" fmla="*/ 96 h 192"/>
                <a:gd name="T2" fmla="*/ 0 w 576"/>
                <a:gd name="T3" fmla="*/ 0 h 192"/>
                <a:gd name="T4" fmla="*/ 192 w 576"/>
                <a:gd name="T5" fmla="*/ 0 h 192"/>
                <a:gd name="T6" fmla="*/ 192 w 576"/>
                <a:gd name="T7" fmla="*/ 192 h 192"/>
                <a:gd name="T8" fmla="*/ 288 w 576"/>
                <a:gd name="T9" fmla="*/ 192 h 192"/>
                <a:gd name="T10" fmla="*/ 288 w 576"/>
                <a:gd name="T11" fmla="*/ 0 h 192"/>
                <a:gd name="T12" fmla="*/ 336 w 576"/>
                <a:gd name="T13" fmla="*/ 0 h 192"/>
                <a:gd name="T14" fmla="*/ 336 w 576"/>
                <a:gd name="T15" fmla="*/ 192 h 192"/>
                <a:gd name="T16" fmla="*/ 480 w 576"/>
                <a:gd name="T17" fmla="*/ 192 h 192"/>
                <a:gd name="T18" fmla="*/ 480 w 576"/>
                <a:gd name="T19" fmla="*/ 0 h 192"/>
                <a:gd name="T20" fmla="*/ 576 w 576"/>
                <a:gd name="T21" fmla="*/ 0 h 192"/>
                <a:gd name="T22" fmla="*/ 576 w 576"/>
                <a:gd name="T23" fmla="*/ 96 h 192"/>
                <a:gd name="T24" fmla="*/ 0 w 576"/>
                <a:gd name="T25" fmla="*/ 96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6" h="192">
                  <a:moveTo>
                    <a:pt x="0" y="96"/>
                  </a:moveTo>
                  <a:lnTo>
                    <a:pt x="0" y="0"/>
                  </a:lnTo>
                  <a:lnTo>
                    <a:pt x="192" y="0"/>
                  </a:lnTo>
                  <a:lnTo>
                    <a:pt x="192" y="192"/>
                  </a:lnTo>
                  <a:lnTo>
                    <a:pt x="288" y="192"/>
                  </a:lnTo>
                  <a:lnTo>
                    <a:pt x="288" y="0"/>
                  </a:lnTo>
                  <a:lnTo>
                    <a:pt x="336" y="0"/>
                  </a:lnTo>
                  <a:lnTo>
                    <a:pt x="336" y="192"/>
                  </a:lnTo>
                  <a:lnTo>
                    <a:pt x="480" y="192"/>
                  </a:lnTo>
                  <a:lnTo>
                    <a:pt x="480" y="0"/>
                  </a:lnTo>
                  <a:lnTo>
                    <a:pt x="576" y="0"/>
                  </a:lnTo>
                  <a:lnTo>
                    <a:pt x="576" y="96"/>
                  </a:lnTo>
                  <a:lnTo>
                    <a:pt x="0" y="96"/>
                  </a:lnTo>
                  <a:close/>
                </a:path>
              </a:pathLst>
            </a:custGeom>
            <a:grpFill/>
            <a:ln w="12700" cap="flat" cmpd="sng">
              <a:noFill/>
              <a:prstDash val="solid"/>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grpSp>
      <p:sp>
        <p:nvSpPr>
          <p:cNvPr id="104" name="上箭头 103"/>
          <p:cNvSpPr/>
          <p:nvPr/>
        </p:nvSpPr>
        <p:spPr>
          <a:xfrm>
            <a:off x="7621960" y="3485835"/>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6" name="上箭头 85"/>
          <p:cNvSpPr/>
          <p:nvPr/>
        </p:nvSpPr>
        <p:spPr>
          <a:xfrm>
            <a:off x="7621960" y="3121290"/>
            <a:ext cx="178622" cy="245129"/>
          </a:xfrm>
          <a:prstGeom prst="up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标题 1">
            <a:extLst>
              <a:ext uri="{FF2B5EF4-FFF2-40B4-BE49-F238E27FC236}">
                <a16:creationId xmlns:a16="http://schemas.microsoft.com/office/drawing/2014/main" id="{006AF01B-DDD5-019A-B68D-8DEB31EFDCC1}"/>
              </a:ext>
            </a:extLst>
          </p:cNvPr>
          <p:cNvSpPr>
            <a:spLocks noGrp="1"/>
          </p:cNvSpPr>
          <p:nvPr>
            <p:ph type="title"/>
          </p:nvPr>
        </p:nvSpPr>
        <p:spPr>
          <a:xfrm>
            <a:off x="612000" y="144000"/>
            <a:ext cx="7920000" cy="341632"/>
          </a:xfrm>
        </p:spPr>
        <p:txBody>
          <a:bodyPr/>
          <a:lstStyle/>
          <a:p>
            <a:r>
              <a:rPr lang="zh-CN" altLang="en-US" dirty="0"/>
              <a:t>数据在各层之间的传递过程</a:t>
            </a:r>
          </a:p>
        </p:txBody>
      </p:sp>
      <p:sp>
        <p:nvSpPr>
          <p:cNvPr id="123" name="Rectangle 74">
            <a:extLst>
              <a:ext uri="{FF2B5EF4-FFF2-40B4-BE49-F238E27FC236}">
                <a16:creationId xmlns:a16="http://schemas.microsoft.com/office/drawing/2014/main" id="{D2D60F92-7E3C-A06C-47C1-078FE77935C2}"/>
              </a:ext>
            </a:extLst>
          </p:cNvPr>
          <p:cNvSpPr>
            <a:spLocks noChangeArrowheads="1"/>
          </p:cNvSpPr>
          <p:nvPr/>
        </p:nvSpPr>
        <p:spPr bwMode="auto">
          <a:xfrm>
            <a:off x="5499744" y="3302812"/>
            <a:ext cx="223200" cy="244800"/>
          </a:xfrm>
          <a:prstGeom prst="rect">
            <a:avLst/>
          </a:prstGeom>
          <a:solidFill>
            <a:srgbClr val="000066"/>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000" dirty="0">
                <a:solidFill>
                  <a:schemeClr val="bg1"/>
                </a:solidFill>
              </a:rPr>
              <a:t>H</a:t>
            </a:r>
            <a:r>
              <a:rPr lang="en-US" altLang="zh-CN" sz="1000" baseline="-25000" dirty="0">
                <a:solidFill>
                  <a:schemeClr val="bg1"/>
                </a:solidFill>
              </a:rPr>
              <a:t>2</a:t>
            </a:r>
          </a:p>
        </p:txBody>
      </p:sp>
      <p:sp>
        <p:nvSpPr>
          <p:cNvPr id="130" name="Rectangle 78">
            <a:extLst>
              <a:ext uri="{FF2B5EF4-FFF2-40B4-BE49-F238E27FC236}">
                <a16:creationId xmlns:a16="http://schemas.microsoft.com/office/drawing/2014/main" id="{1E5E3E64-685E-78B8-5BFD-8CD7879E0B4B}"/>
              </a:ext>
            </a:extLst>
          </p:cNvPr>
          <p:cNvSpPr>
            <a:spLocks noChangeArrowheads="1"/>
          </p:cNvSpPr>
          <p:nvPr/>
        </p:nvSpPr>
        <p:spPr bwMode="auto">
          <a:xfrm>
            <a:off x="6838944" y="3303284"/>
            <a:ext cx="223200" cy="245309"/>
          </a:xfrm>
          <a:prstGeom prst="rect">
            <a:avLst/>
          </a:prstGeom>
          <a:solidFill>
            <a:schemeClr val="accent6">
              <a:lumMod val="75000"/>
            </a:schemeClr>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000" dirty="0"/>
              <a:t>T</a:t>
            </a:r>
            <a:r>
              <a:rPr lang="en-US" altLang="zh-CN" sz="1000" baseline="-25000" dirty="0"/>
              <a:t>2</a:t>
            </a:r>
          </a:p>
        </p:txBody>
      </p:sp>
      <p:sp>
        <p:nvSpPr>
          <p:cNvPr id="132" name="Rectangle 46">
            <a:extLst>
              <a:ext uri="{FF2B5EF4-FFF2-40B4-BE49-F238E27FC236}">
                <a16:creationId xmlns:a16="http://schemas.microsoft.com/office/drawing/2014/main" id="{CD701DC4-23E5-ECD5-5D86-7F1B3C9AB72B}"/>
              </a:ext>
            </a:extLst>
          </p:cNvPr>
          <p:cNvSpPr>
            <a:spLocks noChangeArrowheads="1"/>
          </p:cNvSpPr>
          <p:nvPr/>
        </p:nvSpPr>
        <p:spPr bwMode="auto">
          <a:xfrm>
            <a:off x="5722944" y="3304108"/>
            <a:ext cx="223200" cy="244800"/>
          </a:xfrm>
          <a:prstGeom prst="rect">
            <a:avLst/>
          </a:prstGeom>
          <a:solidFill>
            <a:srgbClr val="00B0F0"/>
          </a:solidFill>
          <a:ln w="9525">
            <a:solidFill>
              <a:schemeClr val="tx1"/>
            </a:solidFill>
            <a:miter lim="800000"/>
          </a:ln>
          <a:effectLst/>
        </p:spPr>
        <p:txBody>
          <a:bodyPr wrap="none" anchor="ctr"/>
          <a:lstStyle/>
          <a:p>
            <a:pPr algn="ctr"/>
            <a:r>
              <a:rPr lang="en-US" altLang="zh-CN" sz="1000" dirty="0"/>
              <a:t>H</a:t>
            </a:r>
            <a:r>
              <a:rPr lang="en-US" altLang="zh-CN" sz="1000" baseline="-25000" dirty="0"/>
              <a:t>3</a:t>
            </a:r>
          </a:p>
        </p:txBody>
      </p:sp>
      <p:sp>
        <p:nvSpPr>
          <p:cNvPr id="134" name="Rectangle 47">
            <a:extLst>
              <a:ext uri="{FF2B5EF4-FFF2-40B4-BE49-F238E27FC236}">
                <a16:creationId xmlns:a16="http://schemas.microsoft.com/office/drawing/2014/main" id="{A68A11A6-F784-7402-BB4B-3D1997DA16F5}"/>
              </a:ext>
            </a:extLst>
          </p:cNvPr>
          <p:cNvSpPr>
            <a:spLocks noChangeArrowheads="1"/>
          </p:cNvSpPr>
          <p:nvPr/>
        </p:nvSpPr>
        <p:spPr bwMode="auto">
          <a:xfrm>
            <a:off x="5946144" y="3304108"/>
            <a:ext cx="223200" cy="244800"/>
          </a:xfrm>
          <a:prstGeom prst="rect">
            <a:avLst/>
          </a:prstGeom>
          <a:solidFill>
            <a:srgbClr val="FFC000"/>
          </a:solidFill>
          <a:ln w="9525">
            <a:solidFill>
              <a:schemeClr val="tx1"/>
            </a:solidFill>
            <a:miter lim="800000"/>
          </a:ln>
          <a:effectLst/>
        </p:spPr>
        <p:txBody>
          <a:bodyPr wrap="none" anchor="ctr"/>
          <a:lstStyle/>
          <a:p>
            <a:pPr algn="ctr"/>
            <a:r>
              <a:rPr lang="en-US" altLang="zh-CN" sz="1000"/>
              <a:t>H</a:t>
            </a:r>
            <a:r>
              <a:rPr lang="en-US" altLang="zh-CN" sz="1000" baseline="-25000"/>
              <a:t>4</a:t>
            </a:r>
          </a:p>
        </p:txBody>
      </p:sp>
      <p:sp>
        <p:nvSpPr>
          <p:cNvPr id="136" name="Rectangle 48">
            <a:extLst>
              <a:ext uri="{FF2B5EF4-FFF2-40B4-BE49-F238E27FC236}">
                <a16:creationId xmlns:a16="http://schemas.microsoft.com/office/drawing/2014/main" id="{8A1BC430-73E2-9543-BB44-37F459748B54}"/>
              </a:ext>
            </a:extLst>
          </p:cNvPr>
          <p:cNvSpPr>
            <a:spLocks noChangeArrowheads="1"/>
          </p:cNvSpPr>
          <p:nvPr/>
        </p:nvSpPr>
        <p:spPr bwMode="auto">
          <a:xfrm>
            <a:off x="6169344" y="3304108"/>
            <a:ext cx="223200" cy="244800"/>
          </a:xfrm>
          <a:prstGeom prst="rect">
            <a:avLst/>
          </a:prstGeom>
          <a:solidFill>
            <a:schemeClr val="accent2"/>
          </a:solidFill>
          <a:ln w="9525">
            <a:solidFill>
              <a:schemeClr val="tx1"/>
            </a:solidFill>
            <a:miter lim="800000"/>
          </a:ln>
          <a:effectLst/>
        </p:spPr>
        <p:txBody>
          <a:bodyPr wrap="none" anchor="ctr"/>
          <a:lstStyle/>
          <a:p>
            <a:pPr algn="ctr"/>
            <a:r>
              <a:rPr lang="en-US" altLang="zh-CN" sz="1000" dirty="0"/>
              <a:t>H</a:t>
            </a:r>
            <a:r>
              <a:rPr lang="en-US" altLang="zh-CN" sz="1000" baseline="-25000" dirty="0"/>
              <a:t>5</a:t>
            </a:r>
          </a:p>
        </p:txBody>
      </p:sp>
      <p:sp>
        <p:nvSpPr>
          <p:cNvPr id="138" name="Rectangle 49">
            <a:extLst>
              <a:ext uri="{FF2B5EF4-FFF2-40B4-BE49-F238E27FC236}">
                <a16:creationId xmlns:a16="http://schemas.microsoft.com/office/drawing/2014/main" id="{709F6DCC-8943-9407-AF14-538546D6494C}"/>
              </a:ext>
            </a:extLst>
          </p:cNvPr>
          <p:cNvSpPr>
            <a:spLocks noChangeArrowheads="1"/>
          </p:cNvSpPr>
          <p:nvPr/>
        </p:nvSpPr>
        <p:spPr bwMode="auto">
          <a:xfrm>
            <a:off x="6392544" y="3304109"/>
            <a:ext cx="446400" cy="244800"/>
          </a:xfrm>
          <a:prstGeom prst="rect">
            <a:avLst/>
          </a:prstGeom>
          <a:solidFill>
            <a:schemeClr val="bg1"/>
          </a:solidFill>
          <a:ln w="9525">
            <a:solidFill>
              <a:schemeClr val="tx1"/>
            </a:solidFill>
            <a:miter lim="800000"/>
          </a:ln>
        </p:spPr>
        <p:txBody>
          <a:bodyPr wrap="none" anchor="ctr"/>
          <a:lstStyle/>
          <a:p>
            <a:pPr algn="ctr"/>
            <a:r>
              <a:rPr lang="zh-CN" altLang="en-US" sz="1000" dirty="0"/>
              <a:t>数 据</a:t>
            </a:r>
          </a:p>
        </p:txBody>
      </p:sp>
      <p:sp>
        <p:nvSpPr>
          <p:cNvPr id="147" name="Rectangle 35">
            <a:extLst>
              <a:ext uri="{FF2B5EF4-FFF2-40B4-BE49-F238E27FC236}">
                <a16:creationId xmlns:a16="http://schemas.microsoft.com/office/drawing/2014/main" id="{B243C9D6-75E8-5FAE-BB74-D362B03260B3}"/>
              </a:ext>
            </a:extLst>
          </p:cNvPr>
          <p:cNvSpPr>
            <a:spLocks noChangeArrowheads="1"/>
          </p:cNvSpPr>
          <p:nvPr/>
        </p:nvSpPr>
        <p:spPr bwMode="auto">
          <a:xfrm>
            <a:off x="5489148" y="3671598"/>
            <a:ext cx="1598222" cy="244475"/>
          </a:xfrm>
          <a:prstGeom prst="rect">
            <a:avLst/>
          </a:prstGeom>
          <a:ln w="9525">
            <a:solidFill>
              <a:schemeClr val="tx1"/>
            </a:solidFill>
            <a:miter lim="800000"/>
          </a:ln>
        </p:spPr>
        <p:txBody>
          <a:bodyPr wrap="none" anchor="ctr"/>
          <a:lstStyle/>
          <a:p>
            <a:pPr algn="ctr"/>
            <a:r>
              <a:rPr lang="en-US" altLang="zh-CN" sz="1000" dirty="0">
                <a:solidFill>
                  <a:srgbClr val="FF0000"/>
                </a:solidFill>
                <a:latin typeface="+mj-lt"/>
                <a:ea typeface="+mj-ea"/>
              </a:rPr>
              <a:t>10101 </a:t>
            </a:r>
            <a:r>
              <a:rPr lang="zh-CN" altLang="en-US" sz="1000" dirty="0">
                <a:solidFill>
                  <a:srgbClr val="FF0000"/>
                </a:solidFill>
                <a:latin typeface="+mj-lt"/>
                <a:ea typeface="+mj-ea"/>
              </a:rPr>
              <a:t>比特</a:t>
            </a:r>
            <a:r>
              <a:rPr lang="zh-CN" altLang="en-US" sz="1000">
                <a:solidFill>
                  <a:srgbClr val="FF0000"/>
                </a:solidFill>
                <a:latin typeface="+mj-lt"/>
                <a:ea typeface="+mj-ea"/>
              </a:rPr>
              <a:t>流 </a:t>
            </a:r>
            <a:r>
              <a:rPr lang="en-US" altLang="zh-CN" sz="1000" dirty="0">
                <a:solidFill>
                  <a:srgbClr val="FF0000"/>
                </a:solidFill>
                <a:latin typeface="+mj-lt"/>
                <a:ea typeface="+mj-ea"/>
              </a:rPr>
              <a:t>110111</a:t>
            </a:r>
          </a:p>
        </p:txBody>
      </p:sp>
      <p:sp>
        <p:nvSpPr>
          <p:cNvPr id="149" name="Rectangle 42">
            <a:extLst>
              <a:ext uri="{FF2B5EF4-FFF2-40B4-BE49-F238E27FC236}">
                <a16:creationId xmlns:a16="http://schemas.microsoft.com/office/drawing/2014/main" id="{0309845A-86DE-90E3-F411-3222EE19364C}"/>
              </a:ext>
            </a:extLst>
          </p:cNvPr>
          <p:cNvSpPr>
            <a:spLocks noChangeArrowheads="1"/>
          </p:cNvSpPr>
          <p:nvPr/>
        </p:nvSpPr>
        <p:spPr bwMode="auto">
          <a:xfrm>
            <a:off x="5946144" y="2932328"/>
            <a:ext cx="223200" cy="244800"/>
          </a:xfrm>
          <a:prstGeom prst="rect">
            <a:avLst/>
          </a:prstGeom>
          <a:solidFill>
            <a:srgbClr val="FFC000"/>
          </a:solidFill>
          <a:ln w="9525">
            <a:solidFill>
              <a:schemeClr val="tx1"/>
            </a:solidFill>
            <a:miter lim="800000"/>
          </a:ln>
          <a:effectLst/>
        </p:spPr>
        <p:txBody>
          <a:bodyPr wrap="none" anchor="ctr"/>
          <a:lstStyle/>
          <a:p>
            <a:pPr algn="ctr"/>
            <a:r>
              <a:rPr lang="en-US" altLang="zh-CN" sz="1000" dirty="0"/>
              <a:t>H</a:t>
            </a:r>
            <a:r>
              <a:rPr lang="en-US" altLang="zh-CN" sz="1000" baseline="-25000" dirty="0"/>
              <a:t>4</a:t>
            </a:r>
          </a:p>
        </p:txBody>
      </p:sp>
      <p:sp>
        <p:nvSpPr>
          <p:cNvPr id="151" name="Rectangle 43">
            <a:extLst>
              <a:ext uri="{FF2B5EF4-FFF2-40B4-BE49-F238E27FC236}">
                <a16:creationId xmlns:a16="http://schemas.microsoft.com/office/drawing/2014/main" id="{8D2E26C5-C526-4A7E-062B-DACFB14D2D6D}"/>
              </a:ext>
            </a:extLst>
          </p:cNvPr>
          <p:cNvSpPr>
            <a:spLocks noChangeArrowheads="1"/>
          </p:cNvSpPr>
          <p:nvPr/>
        </p:nvSpPr>
        <p:spPr bwMode="auto">
          <a:xfrm>
            <a:off x="6169344" y="2932328"/>
            <a:ext cx="223200" cy="244800"/>
          </a:xfrm>
          <a:prstGeom prst="rect">
            <a:avLst/>
          </a:prstGeom>
          <a:solidFill>
            <a:schemeClr val="accent2"/>
          </a:solidFill>
          <a:ln w="9525">
            <a:solidFill>
              <a:schemeClr val="tx1"/>
            </a:solidFill>
            <a:miter lim="800000"/>
          </a:ln>
          <a:effectLst/>
        </p:spPr>
        <p:txBody>
          <a:bodyPr wrap="none" anchor="ctr"/>
          <a:lstStyle/>
          <a:p>
            <a:pPr algn="ctr"/>
            <a:r>
              <a:rPr lang="en-US" altLang="zh-CN" sz="1000" dirty="0"/>
              <a:t>H</a:t>
            </a:r>
            <a:r>
              <a:rPr lang="en-US" altLang="zh-CN" sz="1000" baseline="-25000" dirty="0"/>
              <a:t>5</a:t>
            </a:r>
          </a:p>
        </p:txBody>
      </p:sp>
      <p:sp>
        <p:nvSpPr>
          <p:cNvPr id="153" name="Rectangle 44">
            <a:extLst>
              <a:ext uri="{FF2B5EF4-FFF2-40B4-BE49-F238E27FC236}">
                <a16:creationId xmlns:a16="http://schemas.microsoft.com/office/drawing/2014/main" id="{C1DE2D12-47BC-CF0F-EBDB-47E0888846E9}"/>
              </a:ext>
            </a:extLst>
          </p:cNvPr>
          <p:cNvSpPr>
            <a:spLocks noChangeArrowheads="1"/>
          </p:cNvSpPr>
          <p:nvPr/>
        </p:nvSpPr>
        <p:spPr bwMode="auto">
          <a:xfrm>
            <a:off x="6392544" y="2932328"/>
            <a:ext cx="446400" cy="244800"/>
          </a:xfrm>
          <a:prstGeom prst="rect">
            <a:avLst/>
          </a:prstGeom>
          <a:solidFill>
            <a:schemeClr val="bg1"/>
          </a:solidFill>
          <a:ln w="9525">
            <a:solidFill>
              <a:schemeClr val="tx1"/>
            </a:solidFill>
            <a:miter lim="800000"/>
          </a:ln>
        </p:spPr>
        <p:txBody>
          <a:bodyPr wrap="none" anchor="ctr"/>
          <a:lstStyle/>
          <a:p>
            <a:pPr algn="ctr"/>
            <a:r>
              <a:rPr lang="zh-CN" altLang="en-US" sz="1000" dirty="0"/>
              <a:t>数 据</a:t>
            </a:r>
          </a:p>
        </p:txBody>
      </p:sp>
      <p:sp>
        <p:nvSpPr>
          <p:cNvPr id="155" name="Rectangle 70">
            <a:extLst>
              <a:ext uri="{FF2B5EF4-FFF2-40B4-BE49-F238E27FC236}">
                <a16:creationId xmlns:a16="http://schemas.microsoft.com/office/drawing/2014/main" id="{7DFDED45-DC94-76C1-077F-EA441ED3D9AD}"/>
              </a:ext>
            </a:extLst>
          </p:cNvPr>
          <p:cNvSpPr>
            <a:spLocks noChangeArrowheads="1"/>
          </p:cNvSpPr>
          <p:nvPr/>
        </p:nvSpPr>
        <p:spPr bwMode="auto">
          <a:xfrm>
            <a:off x="5722944" y="2932758"/>
            <a:ext cx="223200" cy="244800"/>
          </a:xfrm>
          <a:prstGeom prst="rect">
            <a:avLst/>
          </a:prstGeom>
          <a:solidFill>
            <a:srgbClr val="00B0F0"/>
          </a:solidFill>
          <a:ln w="9525">
            <a:solidFill>
              <a:schemeClr val="tx1"/>
            </a:solidFill>
            <a:miter lim="800000"/>
          </a:ln>
          <a:effectLst/>
        </p:spPr>
        <p:txBody>
          <a:bodyPr wrap="none" anchor="ctr"/>
          <a:lstStyle/>
          <a:p>
            <a:pPr algn="ctr"/>
            <a:r>
              <a:rPr lang="en-US" altLang="zh-CN" sz="1000" dirty="0"/>
              <a:t>H</a:t>
            </a:r>
            <a:r>
              <a:rPr lang="en-US" altLang="zh-CN" sz="1000" baseline="-25000" dirty="0"/>
              <a:t>3</a:t>
            </a:r>
          </a:p>
        </p:txBody>
      </p:sp>
    </p:spTree>
    <p:extLst>
      <p:ext uri="{BB962C8B-B14F-4D97-AF65-F5344CB8AC3E}">
        <p14:creationId xmlns:p14="http://schemas.microsoft.com/office/powerpoint/2010/main" val="4043082632"/>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4" fill="hold" grpId="0" nodeType="afterEffect">
                                  <p:stCondLst>
                                    <p:cond delay="0"/>
                                  </p:stCondLst>
                                  <p:childTnLst>
                                    <p:set>
                                      <p:cBhvr>
                                        <p:cTn id="6" dur="1" fill="hold">
                                          <p:stCondLst>
                                            <p:cond delay="0"/>
                                          </p:stCondLst>
                                        </p:cTn>
                                        <p:tgtEl>
                                          <p:spTgt spid="86"/>
                                        </p:tgtEl>
                                        <p:attrNameLst>
                                          <p:attrName>style.visibility</p:attrName>
                                        </p:attrNameLst>
                                      </p:cBhvr>
                                      <p:to>
                                        <p:strVal val="visible"/>
                                      </p:to>
                                    </p:set>
                                    <p:animEffect transition="in" filter="wipe(down)">
                                      <p:cBhvr>
                                        <p:cTn id="7" dur="1000"/>
                                        <p:tgtEl>
                                          <p:spTgt spid="8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6" grpId="0" animBg="1"/>
    </p:bldLst>
  </p:timing>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2" name="AutoShape 4">
            <a:extLst>
              <a:ext uri="{FF2B5EF4-FFF2-40B4-BE49-F238E27FC236}">
                <a16:creationId xmlns:a16="http://schemas.microsoft.com/office/drawing/2014/main" id="{64D048D5-DD14-D19F-3131-A056CD210615}"/>
              </a:ext>
            </a:extLst>
          </p:cNvPr>
          <p:cNvSpPr>
            <a:spLocks noChangeArrowheads="1"/>
          </p:cNvSpPr>
          <p:nvPr/>
        </p:nvSpPr>
        <p:spPr bwMode="auto">
          <a:xfrm rot="16200000">
            <a:off x="2567190" y="2361728"/>
            <a:ext cx="271463" cy="3600000"/>
          </a:xfrm>
          <a:prstGeom prst="can">
            <a:avLst>
              <a:gd name="adj" fmla="val 48656"/>
            </a:avLst>
          </a:prstGeom>
          <a:gradFill rotWithShape="0">
            <a:gsLst>
              <a:gs pos="0">
                <a:srgbClr val="00CC00"/>
              </a:gs>
              <a:gs pos="50000">
                <a:schemeClr val="bg1"/>
              </a:gs>
              <a:gs pos="100000">
                <a:srgbClr val="00CC00"/>
              </a:gs>
            </a:gsLst>
            <a:lin ang="5400000" scaled="1"/>
          </a:gradFill>
          <a:ln w="6350">
            <a:solidFill>
              <a:srgbClr val="7CE07C"/>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184" name="AutoShape 4">
            <a:extLst>
              <a:ext uri="{FF2B5EF4-FFF2-40B4-BE49-F238E27FC236}">
                <a16:creationId xmlns:a16="http://schemas.microsoft.com/office/drawing/2014/main" id="{1F96383C-CC52-5EAE-5C7C-EE395D536276}"/>
              </a:ext>
            </a:extLst>
          </p:cNvPr>
          <p:cNvSpPr>
            <a:spLocks noChangeArrowheads="1"/>
          </p:cNvSpPr>
          <p:nvPr/>
        </p:nvSpPr>
        <p:spPr bwMode="auto">
          <a:xfrm rot="16200000">
            <a:off x="6253847" y="2361728"/>
            <a:ext cx="271463" cy="3600000"/>
          </a:xfrm>
          <a:prstGeom prst="can">
            <a:avLst>
              <a:gd name="adj" fmla="val 48656"/>
            </a:avLst>
          </a:prstGeom>
          <a:gradFill rotWithShape="0">
            <a:gsLst>
              <a:gs pos="0">
                <a:srgbClr val="00CC00"/>
              </a:gs>
              <a:gs pos="50000">
                <a:schemeClr val="bg1"/>
              </a:gs>
              <a:gs pos="100000">
                <a:srgbClr val="00CC00"/>
              </a:gs>
            </a:gsLst>
            <a:lin ang="5400000" scaled="1"/>
          </a:gradFill>
          <a:ln w="6350">
            <a:solidFill>
              <a:srgbClr val="7CE07C"/>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186" name="Text Box 26">
            <a:extLst>
              <a:ext uri="{FF2B5EF4-FFF2-40B4-BE49-F238E27FC236}">
                <a16:creationId xmlns:a16="http://schemas.microsoft.com/office/drawing/2014/main" id="{D30048A4-FC29-FBB2-E0EF-DE6DCD5BBC45}"/>
              </a:ext>
            </a:extLst>
          </p:cNvPr>
          <p:cNvSpPr txBox="1">
            <a:spLocks noChangeArrowheads="1"/>
          </p:cNvSpPr>
          <p:nvPr/>
        </p:nvSpPr>
        <p:spPr bwMode="auto">
          <a:xfrm>
            <a:off x="2701348" y="4023229"/>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dirty="0">
                <a:latin typeface="+mj-lt"/>
                <a:ea typeface="+mj-ea"/>
              </a:rPr>
              <a:t>物理传输媒体</a:t>
            </a:r>
          </a:p>
        </p:txBody>
      </p:sp>
      <p:sp>
        <p:nvSpPr>
          <p:cNvPr id="188" name="Text Box 26">
            <a:extLst>
              <a:ext uri="{FF2B5EF4-FFF2-40B4-BE49-F238E27FC236}">
                <a16:creationId xmlns:a16="http://schemas.microsoft.com/office/drawing/2014/main" id="{7986D25C-BD2A-04D4-9790-DDB373668FF8}"/>
              </a:ext>
            </a:extLst>
          </p:cNvPr>
          <p:cNvSpPr txBox="1">
            <a:spLocks noChangeArrowheads="1"/>
          </p:cNvSpPr>
          <p:nvPr/>
        </p:nvSpPr>
        <p:spPr bwMode="auto">
          <a:xfrm>
            <a:off x="6193730" y="4023229"/>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dirty="0">
                <a:latin typeface="+mj-lt"/>
                <a:ea typeface="+mj-ea"/>
              </a:rPr>
              <a:t>物理传输媒体</a:t>
            </a:r>
          </a:p>
        </p:txBody>
      </p:sp>
      <p:grpSp>
        <p:nvGrpSpPr>
          <p:cNvPr id="175" name="组合 174">
            <a:extLst>
              <a:ext uri="{FF2B5EF4-FFF2-40B4-BE49-F238E27FC236}">
                <a16:creationId xmlns:a16="http://schemas.microsoft.com/office/drawing/2014/main" id="{DDF2C2C1-A72E-27E8-CD90-9B0E8474ED0F}"/>
              </a:ext>
            </a:extLst>
          </p:cNvPr>
          <p:cNvGrpSpPr/>
          <p:nvPr/>
        </p:nvGrpSpPr>
        <p:grpSpPr>
          <a:xfrm>
            <a:off x="3960000" y="2808000"/>
            <a:ext cx="1080000" cy="1080000"/>
            <a:chOff x="2807995" y="2745746"/>
            <a:chExt cx="1080000" cy="1080000"/>
          </a:xfrm>
        </p:grpSpPr>
        <p:sp>
          <p:nvSpPr>
            <p:cNvPr id="176" name="立方体 175">
              <a:extLst>
                <a:ext uri="{FF2B5EF4-FFF2-40B4-BE49-F238E27FC236}">
                  <a16:creationId xmlns:a16="http://schemas.microsoft.com/office/drawing/2014/main" id="{C818F044-D829-1221-368A-7E35B49A5D43}"/>
                </a:ext>
              </a:extLst>
            </p:cNvPr>
            <p:cNvSpPr/>
            <p:nvPr/>
          </p:nvSpPr>
          <p:spPr>
            <a:xfrm>
              <a:off x="2807995" y="3393746"/>
              <a:ext cx="594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sz="1050" dirty="0">
                  <a:solidFill>
                    <a:schemeClr val="bg1"/>
                  </a:solidFill>
                </a:rPr>
                <a:t>1</a:t>
              </a:r>
              <a:endParaRPr lang="zh-CN" altLang="en-US" sz="1050" dirty="0">
                <a:solidFill>
                  <a:schemeClr val="bg1"/>
                </a:solidFill>
              </a:endParaRPr>
            </a:p>
          </p:txBody>
        </p:sp>
        <p:sp>
          <p:nvSpPr>
            <p:cNvPr id="177" name="立方体 176">
              <a:extLst>
                <a:ext uri="{FF2B5EF4-FFF2-40B4-BE49-F238E27FC236}">
                  <a16:creationId xmlns:a16="http://schemas.microsoft.com/office/drawing/2014/main" id="{90E0D195-5D5F-45E7-6E50-A9392D67AEF9}"/>
                </a:ext>
              </a:extLst>
            </p:cNvPr>
            <p:cNvSpPr/>
            <p:nvPr/>
          </p:nvSpPr>
          <p:spPr>
            <a:xfrm>
              <a:off x="2807995" y="3069746"/>
              <a:ext cx="594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sz="1050" dirty="0">
                  <a:solidFill>
                    <a:schemeClr val="bg1"/>
                  </a:solidFill>
                </a:rPr>
                <a:t>2</a:t>
              </a:r>
              <a:endParaRPr lang="zh-CN" altLang="en-US" sz="1050" dirty="0">
                <a:solidFill>
                  <a:schemeClr val="bg1"/>
                </a:solidFill>
              </a:endParaRPr>
            </a:p>
          </p:txBody>
        </p:sp>
        <p:sp>
          <p:nvSpPr>
            <p:cNvPr id="178" name="立方体 177">
              <a:extLst>
                <a:ext uri="{FF2B5EF4-FFF2-40B4-BE49-F238E27FC236}">
                  <a16:creationId xmlns:a16="http://schemas.microsoft.com/office/drawing/2014/main" id="{449307F6-6383-DF3E-7327-C8DC7B816E75}"/>
                </a:ext>
              </a:extLst>
            </p:cNvPr>
            <p:cNvSpPr/>
            <p:nvPr/>
          </p:nvSpPr>
          <p:spPr>
            <a:xfrm>
              <a:off x="3293995" y="3393746"/>
              <a:ext cx="594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sz="1050" dirty="0">
                  <a:solidFill>
                    <a:schemeClr val="bg1"/>
                  </a:solidFill>
                </a:rPr>
                <a:t>1</a:t>
              </a:r>
              <a:endParaRPr lang="zh-CN" altLang="en-US" sz="1050" dirty="0">
                <a:solidFill>
                  <a:schemeClr val="bg1"/>
                </a:solidFill>
              </a:endParaRPr>
            </a:p>
          </p:txBody>
        </p:sp>
        <p:sp>
          <p:nvSpPr>
            <p:cNvPr id="179" name="立方体 178">
              <a:extLst>
                <a:ext uri="{FF2B5EF4-FFF2-40B4-BE49-F238E27FC236}">
                  <a16:creationId xmlns:a16="http://schemas.microsoft.com/office/drawing/2014/main" id="{3F96534B-43C8-5092-B842-7A0EDF62E4DB}"/>
                </a:ext>
              </a:extLst>
            </p:cNvPr>
            <p:cNvSpPr/>
            <p:nvPr/>
          </p:nvSpPr>
          <p:spPr>
            <a:xfrm>
              <a:off x="3293995" y="3069746"/>
              <a:ext cx="594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sz="1050" dirty="0">
                  <a:solidFill>
                    <a:schemeClr val="bg1"/>
                  </a:solidFill>
                </a:rPr>
                <a:t>2</a:t>
              </a:r>
              <a:endParaRPr lang="zh-CN" altLang="en-US" sz="1050" dirty="0">
                <a:solidFill>
                  <a:schemeClr val="bg1"/>
                </a:solidFill>
              </a:endParaRPr>
            </a:p>
          </p:txBody>
        </p:sp>
        <p:sp>
          <p:nvSpPr>
            <p:cNvPr id="180" name="立方体 179">
              <a:extLst>
                <a:ext uri="{FF2B5EF4-FFF2-40B4-BE49-F238E27FC236}">
                  <a16:creationId xmlns:a16="http://schemas.microsoft.com/office/drawing/2014/main" id="{57B0BA3E-0B17-3F54-3CBE-6E720B96A4D0}"/>
                </a:ext>
              </a:extLst>
            </p:cNvPr>
            <p:cNvSpPr/>
            <p:nvPr/>
          </p:nvSpPr>
          <p:spPr>
            <a:xfrm>
              <a:off x="2807995" y="2745746"/>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pPr algn="ctr"/>
              <a:r>
                <a:rPr lang="en-US" altLang="zh-CN" sz="1050" dirty="0">
                  <a:solidFill>
                    <a:schemeClr val="bg1"/>
                  </a:solidFill>
                </a:rPr>
                <a:t>3</a:t>
              </a:r>
              <a:endParaRPr lang="zh-CN" altLang="en-US" sz="1050" dirty="0">
                <a:solidFill>
                  <a:schemeClr val="bg1"/>
                </a:solidFill>
              </a:endParaRPr>
            </a:p>
          </p:txBody>
        </p:sp>
      </p:grpSp>
      <p:grpSp>
        <p:nvGrpSpPr>
          <p:cNvPr id="79" name="组合 78">
            <a:extLst>
              <a:ext uri="{FF2B5EF4-FFF2-40B4-BE49-F238E27FC236}">
                <a16:creationId xmlns:a16="http://schemas.microsoft.com/office/drawing/2014/main" id="{5E23522D-FF66-24BD-AE06-B81AF4F434C7}"/>
              </a:ext>
            </a:extLst>
          </p:cNvPr>
          <p:cNvGrpSpPr/>
          <p:nvPr/>
        </p:nvGrpSpPr>
        <p:grpSpPr>
          <a:xfrm>
            <a:off x="7395732" y="1800000"/>
            <a:ext cx="1080000" cy="2088000"/>
            <a:chOff x="701211" y="1800000"/>
            <a:chExt cx="1080000" cy="2088000"/>
          </a:xfrm>
        </p:grpSpPr>
        <p:sp>
          <p:nvSpPr>
            <p:cNvPr id="80" name="立方体 79">
              <a:extLst>
                <a:ext uri="{FF2B5EF4-FFF2-40B4-BE49-F238E27FC236}">
                  <a16:creationId xmlns:a16="http://schemas.microsoft.com/office/drawing/2014/main" id="{D8FAE86C-7462-C4E0-57CD-979729D42852}"/>
                </a:ext>
              </a:extLst>
            </p:cNvPr>
            <p:cNvSpPr/>
            <p:nvPr/>
          </p:nvSpPr>
          <p:spPr>
            <a:xfrm>
              <a:off x="701211" y="3456000"/>
              <a:ext cx="108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050" dirty="0">
                  <a:solidFill>
                    <a:schemeClr val="bg1"/>
                  </a:solidFill>
                </a:rPr>
                <a:t>1 </a:t>
              </a:r>
              <a:r>
                <a:rPr lang="zh-CN" altLang="en-US" sz="1050" dirty="0">
                  <a:solidFill>
                    <a:schemeClr val="bg1"/>
                  </a:solidFill>
                </a:rPr>
                <a:t>物理层</a:t>
              </a:r>
            </a:p>
          </p:txBody>
        </p:sp>
        <p:sp>
          <p:nvSpPr>
            <p:cNvPr id="81" name="立方体 80">
              <a:extLst>
                <a:ext uri="{FF2B5EF4-FFF2-40B4-BE49-F238E27FC236}">
                  <a16:creationId xmlns:a16="http://schemas.microsoft.com/office/drawing/2014/main" id="{3130ED95-C4A5-17DF-2F4D-8D06E1A9F6C9}"/>
                </a:ext>
              </a:extLst>
            </p:cNvPr>
            <p:cNvSpPr/>
            <p:nvPr/>
          </p:nvSpPr>
          <p:spPr>
            <a:xfrm>
              <a:off x="701211" y="3132000"/>
              <a:ext cx="108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050" dirty="0">
                  <a:solidFill>
                    <a:schemeClr val="bg1"/>
                  </a:solidFill>
                </a:rPr>
                <a:t>2 </a:t>
              </a:r>
              <a:r>
                <a:rPr lang="zh-CN" altLang="en-US" sz="1050" dirty="0">
                  <a:solidFill>
                    <a:schemeClr val="bg1"/>
                  </a:solidFill>
                </a:rPr>
                <a:t>数据链路层</a:t>
              </a:r>
            </a:p>
          </p:txBody>
        </p:sp>
        <p:sp>
          <p:nvSpPr>
            <p:cNvPr id="84" name="立方体 83">
              <a:extLst>
                <a:ext uri="{FF2B5EF4-FFF2-40B4-BE49-F238E27FC236}">
                  <a16:creationId xmlns:a16="http://schemas.microsoft.com/office/drawing/2014/main" id="{1C74124B-082B-9303-DC3E-55C453B481D4}"/>
                </a:ext>
              </a:extLst>
            </p:cNvPr>
            <p:cNvSpPr/>
            <p:nvPr/>
          </p:nvSpPr>
          <p:spPr>
            <a:xfrm>
              <a:off x="701211" y="2808000"/>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050" dirty="0">
                  <a:solidFill>
                    <a:schemeClr val="bg1"/>
                  </a:solidFill>
                </a:rPr>
                <a:t>3 </a:t>
              </a:r>
              <a:r>
                <a:rPr lang="zh-CN" altLang="en-US" sz="1050" dirty="0">
                  <a:solidFill>
                    <a:schemeClr val="bg1"/>
                  </a:solidFill>
                </a:rPr>
                <a:t>网络层</a:t>
              </a:r>
            </a:p>
          </p:txBody>
        </p:sp>
        <p:sp>
          <p:nvSpPr>
            <p:cNvPr id="85" name="立方体 84">
              <a:extLst>
                <a:ext uri="{FF2B5EF4-FFF2-40B4-BE49-F238E27FC236}">
                  <a16:creationId xmlns:a16="http://schemas.microsoft.com/office/drawing/2014/main" id="{07F4730D-B90F-88B5-4615-BDF9D8AB31EA}"/>
                </a:ext>
              </a:extLst>
            </p:cNvPr>
            <p:cNvSpPr/>
            <p:nvPr/>
          </p:nvSpPr>
          <p:spPr>
            <a:xfrm>
              <a:off x="701211" y="2484000"/>
              <a:ext cx="108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050" dirty="0">
                  <a:solidFill>
                    <a:schemeClr val="bg1"/>
                  </a:solidFill>
                </a:rPr>
                <a:t>4 </a:t>
              </a:r>
              <a:r>
                <a:rPr lang="zh-CN" altLang="en-US" sz="1050" dirty="0">
                  <a:solidFill>
                    <a:schemeClr val="bg1"/>
                  </a:solidFill>
                </a:rPr>
                <a:t>运输层</a:t>
              </a:r>
            </a:p>
          </p:txBody>
        </p:sp>
        <p:sp>
          <p:nvSpPr>
            <p:cNvPr id="113" name="立方体 112">
              <a:extLst>
                <a:ext uri="{FF2B5EF4-FFF2-40B4-BE49-F238E27FC236}">
                  <a16:creationId xmlns:a16="http://schemas.microsoft.com/office/drawing/2014/main" id="{32C9D62C-C074-410E-F18E-80255F5FBB48}"/>
                </a:ext>
              </a:extLst>
            </p:cNvPr>
            <p:cNvSpPr/>
            <p:nvPr/>
          </p:nvSpPr>
          <p:spPr>
            <a:xfrm>
              <a:off x="701211" y="2160000"/>
              <a:ext cx="108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050" dirty="0">
                  <a:solidFill>
                    <a:schemeClr val="bg1"/>
                  </a:solidFill>
                </a:rPr>
                <a:t>5 </a:t>
              </a:r>
              <a:r>
                <a:rPr lang="zh-CN" altLang="en-US" sz="1050" dirty="0">
                  <a:solidFill>
                    <a:schemeClr val="bg1"/>
                  </a:solidFill>
                </a:rPr>
                <a:t>应用层</a:t>
              </a:r>
            </a:p>
          </p:txBody>
        </p:sp>
        <p:sp>
          <p:nvSpPr>
            <p:cNvPr id="114" name="圆柱体 113">
              <a:extLst>
                <a:ext uri="{FF2B5EF4-FFF2-40B4-BE49-F238E27FC236}">
                  <a16:creationId xmlns:a16="http://schemas.microsoft.com/office/drawing/2014/main" id="{0D011AB7-2C49-6577-DD0A-77C83951B700}"/>
                </a:ext>
              </a:extLst>
            </p:cNvPr>
            <p:cNvSpPr/>
            <p:nvPr/>
          </p:nvSpPr>
          <p:spPr>
            <a:xfrm>
              <a:off x="953211" y="1800000"/>
              <a:ext cx="576000" cy="360000"/>
            </a:xfrm>
            <a:prstGeom prst="can">
              <a:avLst/>
            </a:prstGeom>
            <a:solidFill>
              <a:srgbClr val="FFFF00"/>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000" dirty="0">
                  <a:solidFill>
                    <a:sysClr val="windowText" lastClr="000000"/>
                  </a:solidFill>
                </a:rPr>
                <a:t>AP1</a:t>
              </a:r>
              <a:endParaRPr lang="zh-CN" altLang="en-US" sz="1000" dirty="0">
                <a:solidFill>
                  <a:sysClr val="windowText" lastClr="000000"/>
                </a:solidFill>
              </a:endParaRPr>
            </a:p>
          </p:txBody>
        </p:sp>
      </p:grpSp>
      <p:grpSp>
        <p:nvGrpSpPr>
          <p:cNvPr id="115" name="组合 114">
            <a:extLst>
              <a:ext uri="{FF2B5EF4-FFF2-40B4-BE49-F238E27FC236}">
                <a16:creationId xmlns:a16="http://schemas.microsoft.com/office/drawing/2014/main" id="{730B72A8-AED1-225D-AD76-BE735A8602B2}"/>
              </a:ext>
            </a:extLst>
          </p:cNvPr>
          <p:cNvGrpSpPr/>
          <p:nvPr/>
        </p:nvGrpSpPr>
        <p:grpSpPr>
          <a:xfrm>
            <a:off x="701211" y="1800000"/>
            <a:ext cx="1080000" cy="2088000"/>
            <a:chOff x="701211" y="1800000"/>
            <a:chExt cx="1080000" cy="2088000"/>
          </a:xfrm>
        </p:grpSpPr>
        <p:sp>
          <p:nvSpPr>
            <p:cNvPr id="123" name="立方体 122">
              <a:extLst>
                <a:ext uri="{FF2B5EF4-FFF2-40B4-BE49-F238E27FC236}">
                  <a16:creationId xmlns:a16="http://schemas.microsoft.com/office/drawing/2014/main" id="{86BD6955-BA3B-8183-0BD7-C518E2D3197A}"/>
                </a:ext>
              </a:extLst>
            </p:cNvPr>
            <p:cNvSpPr/>
            <p:nvPr/>
          </p:nvSpPr>
          <p:spPr>
            <a:xfrm>
              <a:off x="701211" y="3456000"/>
              <a:ext cx="108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050" dirty="0">
                  <a:solidFill>
                    <a:schemeClr val="bg1"/>
                  </a:solidFill>
                </a:rPr>
                <a:t>1 </a:t>
              </a:r>
              <a:r>
                <a:rPr lang="zh-CN" altLang="en-US" sz="1050" dirty="0">
                  <a:solidFill>
                    <a:schemeClr val="bg1"/>
                  </a:solidFill>
                </a:rPr>
                <a:t>物理层</a:t>
              </a:r>
            </a:p>
          </p:txBody>
        </p:sp>
        <p:sp>
          <p:nvSpPr>
            <p:cNvPr id="129" name="立方体 128">
              <a:extLst>
                <a:ext uri="{FF2B5EF4-FFF2-40B4-BE49-F238E27FC236}">
                  <a16:creationId xmlns:a16="http://schemas.microsoft.com/office/drawing/2014/main" id="{42DE3B1B-B484-84B4-D1BD-B7FF3AF0CF09}"/>
                </a:ext>
              </a:extLst>
            </p:cNvPr>
            <p:cNvSpPr/>
            <p:nvPr/>
          </p:nvSpPr>
          <p:spPr>
            <a:xfrm>
              <a:off x="701211" y="3132000"/>
              <a:ext cx="108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050" dirty="0">
                  <a:solidFill>
                    <a:schemeClr val="bg1"/>
                  </a:solidFill>
                </a:rPr>
                <a:t>2 </a:t>
              </a:r>
              <a:r>
                <a:rPr lang="zh-CN" altLang="en-US" sz="1050" dirty="0">
                  <a:solidFill>
                    <a:schemeClr val="bg1"/>
                  </a:solidFill>
                </a:rPr>
                <a:t>数据链路层</a:t>
              </a:r>
            </a:p>
          </p:txBody>
        </p:sp>
        <p:sp>
          <p:nvSpPr>
            <p:cNvPr id="130" name="立方体 129">
              <a:extLst>
                <a:ext uri="{FF2B5EF4-FFF2-40B4-BE49-F238E27FC236}">
                  <a16:creationId xmlns:a16="http://schemas.microsoft.com/office/drawing/2014/main" id="{E43F8620-3C28-4C88-5355-F9ACC17900A6}"/>
                </a:ext>
              </a:extLst>
            </p:cNvPr>
            <p:cNvSpPr/>
            <p:nvPr/>
          </p:nvSpPr>
          <p:spPr>
            <a:xfrm>
              <a:off x="701211" y="2808000"/>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050" dirty="0">
                  <a:solidFill>
                    <a:schemeClr val="bg1"/>
                  </a:solidFill>
                </a:rPr>
                <a:t>3 </a:t>
              </a:r>
              <a:r>
                <a:rPr lang="zh-CN" altLang="en-US" sz="1050" dirty="0">
                  <a:solidFill>
                    <a:schemeClr val="bg1"/>
                  </a:solidFill>
                </a:rPr>
                <a:t>网络层</a:t>
              </a:r>
            </a:p>
          </p:txBody>
        </p:sp>
        <p:sp>
          <p:nvSpPr>
            <p:cNvPr id="131" name="立方体 130">
              <a:extLst>
                <a:ext uri="{FF2B5EF4-FFF2-40B4-BE49-F238E27FC236}">
                  <a16:creationId xmlns:a16="http://schemas.microsoft.com/office/drawing/2014/main" id="{D603A47A-6763-C272-5DC7-6C646E68C290}"/>
                </a:ext>
              </a:extLst>
            </p:cNvPr>
            <p:cNvSpPr/>
            <p:nvPr/>
          </p:nvSpPr>
          <p:spPr>
            <a:xfrm>
              <a:off x="701211" y="2484000"/>
              <a:ext cx="108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050" dirty="0">
                  <a:solidFill>
                    <a:schemeClr val="bg1"/>
                  </a:solidFill>
                </a:rPr>
                <a:t>4 </a:t>
              </a:r>
              <a:r>
                <a:rPr lang="zh-CN" altLang="en-US" sz="1050" dirty="0">
                  <a:solidFill>
                    <a:schemeClr val="bg1"/>
                  </a:solidFill>
                </a:rPr>
                <a:t>运输层</a:t>
              </a:r>
            </a:p>
          </p:txBody>
        </p:sp>
        <p:sp>
          <p:nvSpPr>
            <p:cNvPr id="132" name="立方体 131">
              <a:extLst>
                <a:ext uri="{FF2B5EF4-FFF2-40B4-BE49-F238E27FC236}">
                  <a16:creationId xmlns:a16="http://schemas.microsoft.com/office/drawing/2014/main" id="{7342493E-960C-1F5C-F525-70DF4C4B058D}"/>
                </a:ext>
              </a:extLst>
            </p:cNvPr>
            <p:cNvSpPr/>
            <p:nvPr/>
          </p:nvSpPr>
          <p:spPr>
            <a:xfrm>
              <a:off x="701211" y="2160000"/>
              <a:ext cx="108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050" dirty="0">
                  <a:solidFill>
                    <a:schemeClr val="bg1"/>
                  </a:solidFill>
                </a:rPr>
                <a:t>5 </a:t>
              </a:r>
              <a:r>
                <a:rPr lang="zh-CN" altLang="en-US" sz="1050" dirty="0">
                  <a:solidFill>
                    <a:schemeClr val="bg1"/>
                  </a:solidFill>
                </a:rPr>
                <a:t>应用层</a:t>
              </a:r>
            </a:p>
          </p:txBody>
        </p:sp>
        <p:sp>
          <p:nvSpPr>
            <p:cNvPr id="133" name="圆柱体 132">
              <a:extLst>
                <a:ext uri="{FF2B5EF4-FFF2-40B4-BE49-F238E27FC236}">
                  <a16:creationId xmlns:a16="http://schemas.microsoft.com/office/drawing/2014/main" id="{1E1ADEDB-3788-BECE-1F2C-62EC098B7E5C}"/>
                </a:ext>
              </a:extLst>
            </p:cNvPr>
            <p:cNvSpPr/>
            <p:nvPr/>
          </p:nvSpPr>
          <p:spPr>
            <a:xfrm>
              <a:off x="953211" y="1800000"/>
              <a:ext cx="576000" cy="360000"/>
            </a:xfrm>
            <a:prstGeom prst="can">
              <a:avLst/>
            </a:prstGeom>
            <a:solidFill>
              <a:srgbClr val="FFFF00"/>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000" dirty="0">
                  <a:solidFill>
                    <a:sysClr val="windowText" lastClr="000000"/>
                  </a:solidFill>
                </a:rPr>
                <a:t>AP1</a:t>
              </a:r>
              <a:endParaRPr lang="zh-CN" altLang="en-US" sz="1000" dirty="0">
                <a:solidFill>
                  <a:sysClr val="windowText" lastClr="000000"/>
                </a:solidFill>
              </a:endParaRPr>
            </a:p>
          </p:txBody>
        </p:sp>
      </p:grpSp>
      <p:sp>
        <p:nvSpPr>
          <p:cNvPr id="25" name="Text Box 29"/>
          <p:cNvSpPr txBox="1">
            <a:spLocks noChangeArrowheads="1"/>
          </p:cNvSpPr>
          <p:nvPr/>
        </p:nvSpPr>
        <p:spPr bwMode="auto">
          <a:xfrm>
            <a:off x="110689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1</a:t>
            </a:r>
          </a:p>
        </p:txBody>
      </p:sp>
      <p:sp>
        <p:nvSpPr>
          <p:cNvPr id="38" name="Text Box 29"/>
          <p:cNvSpPr txBox="1">
            <a:spLocks noChangeArrowheads="1"/>
          </p:cNvSpPr>
          <p:nvPr/>
        </p:nvSpPr>
        <p:spPr bwMode="auto">
          <a:xfrm>
            <a:off x="736975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2</a:t>
            </a:r>
          </a:p>
        </p:txBody>
      </p:sp>
      <p:sp>
        <p:nvSpPr>
          <p:cNvPr id="39" name="Text Box 29"/>
          <p:cNvSpPr txBox="1">
            <a:spLocks noChangeArrowheads="1"/>
          </p:cNvSpPr>
          <p:nvPr/>
        </p:nvSpPr>
        <p:spPr bwMode="auto">
          <a:xfrm>
            <a:off x="4160212" y="107510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路由器</a:t>
            </a:r>
            <a:endParaRPr kumimoji="1" lang="en-US" altLang="zh-CN" sz="1200" b="1" dirty="0">
              <a:solidFill>
                <a:srgbClr val="0000FF"/>
              </a:solidFill>
              <a:latin typeface="微软雅黑" panose="020B0503020204020204" pitchFamily="34" charset="-122"/>
              <a:ea typeface="微软雅黑" panose="020B0503020204020204" pitchFamily="34" charset="-122"/>
            </a:endParaRPr>
          </a:p>
        </p:txBody>
      </p:sp>
      <p:cxnSp>
        <p:nvCxnSpPr>
          <p:cNvPr id="69" name="直接连接符 68"/>
          <p:cNvCxnSpPr/>
          <p:nvPr/>
        </p:nvCxnSpPr>
        <p:spPr>
          <a:xfrm>
            <a:off x="1418143" y="1507958"/>
            <a:ext cx="6306131" cy="0"/>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pic>
        <p:nvPicPr>
          <p:cNvPr id="36"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486661" y="1312469"/>
            <a:ext cx="410222"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7"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202308" y="1312469"/>
            <a:ext cx="410223"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140" name="直接箭头连接符 139"/>
          <p:cNvCxnSpPr/>
          <p:nvPr/>
        </p:nvCxnSpPr>
        <p:spPr>
          <a:xfrm>
            <a:off x="1561619" y="1428166"/>
            <a:ext cx="5941518" cy="0"/>
          </a:xfrm>
          <a:prstGeom prst="straightConnector1">
            <a:avLst/>
          </a:prstGeom>
          <a:ln w="28575">
            <a:solidFill>
              <a:srgbClr val="CC00CC"/>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35" name="Picture 4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54124" y="1385466"/>
            <a:ext cx="454438" cy="2643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73" name="AutoShape 51"/>
          <p:cNvSpPr>
            <a:spLocks noChangeArrowheads="1"/>
          </p:cNvSpPr>
          <p:nvPr/>
        </p:nvSpPr>
        <p:spPr bwMode="auto">
          <a:xfrm flipV="1">
            <a:off x="1237476" y="2076244"/>
            <a:ext cx="145966" cy="205414"/>
          </a:xfrm>
          <a:prstGeom prst="upArrow">
            <a:avLst>
              <a:gd name="adj1" fmla="val 50000"/>
              <a:gd name="adj2" fmla="val 45968"/>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88" name="AutoShape 54"/>
          <p:cNvSpPr>
            <a:spLocks noChangeArrowheads="1"/>
          </p:cNvSpPr>
          <p:nvPr/>
        </p:nvSpPr>
        <p:spPr bwMode="auto">
          <a:xfrm rot="10800000">
            <a:off x="1237478" y="2439149"/>
            <a:ext cx="147144" cy="221279"/>
          </a:xfrm>
          <a:prstGeom prst="upArrow">
            <a:avLst>
              <a:gd name="adj1" fmla="val 50000"/>
              <a:gd name="adj2" fmla="val 498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5" name="AutoShape 57"/>
          <p:cNvSpPr>
            <a:spLocks noChangeArrowheads="1"/>
          </p:cNvSpPr>
          <p:nvPr/>
        </p:nvSpPr>
        <p:spPr bwMode="auto">
          <a:xfrm rot="10800000">
            <a:off x="1235122" y="2826328"/>
            <a:ext cx="148321" cy="222762"/>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07" name="AutoShape 57"/>
          <p:cNvSpPr>
            <a:spLocks noChangeArrowheads="1"/>
          </p:cNvSpPr>
          <p:nvPr/>
        </p:nvSpPr>
        <p:spPr bwMode="auto">
          <a:xfrm rot="10800000">
            <a:off x="1226181" y="3198896"/>
            <a:ext cx="156561" cy="213191"/>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19" name="AutoShape 63"/>
          <p:cNvSpPr>
            <a:spLocks noChangeArrowheads="1"/>
          </p:cNvSpPr>
          <p:nvPr/>
        </p:nvSpPr>
        <p:spPr bwMode="auto">
          <a:xfrm rot="10800000">
            <a:off x="1226181" y="3567260"/>
            <a:ext cx="165978" cy="238153"/>
          </a:xfrm>
          <a:prstGeom prst="upArrow">
            <a:avLst>
              <a:gd name="adj1" fmla="val 50000"/>
              <a:gd name="adj2" fmla="val 50403"/>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00" name="AutoShape 25"/>
          <p:cNvSpPr>
            <a:spLocks noChangeArrowheads="1"/>
          </p:cNvSpPr>
          <p:nvPr/>
        </p:nvSpPr>
        <p:spPr bwMode="auto">
          <a:xfrm flipV="1">
            <a:off x="1266066" y="3955320"/>
            <a:ext cx="263283" cy="281183"/>
          </a:xfrm>
          <a:custGeom>
            <a:avLst/>
            <a:gdLst>
              <a:gd name="T0" fmla="*/ 218339 w 21600"/>
              <a:gd name="T1" fmla="*/ 0 h 21600"/>
              <a:gd name="T2" fmla="*/ 218339 w 21600"/>
              <a:gd name="T3" fmla="*/ 171757 h 21600"/>
              <a:gd name="T4" fmla="*/ 46725 w 21600"/>
              <a:gd name="T5" fmla="*/ 305144 h 21600"/>
              <a:gd name="T6" fmla="*/ 311789 w 21600"/>
              <a:gd name="T7" fmla="*/ 85878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11" name="AutoShape 42"/>
          <p:cNvSpPr>
            <a:spLocks noChangeArrowheads="1"/>
          </p:cNvSpPr>
          <p:nvPr/>
        </p:nvSpPr>
        <p:spPr bwMode="auto">
          <a:xfrm rot="5400000" flipH="1">
            <a:off x="3905139" y="3932147"/>
            <a:ext cx="254669" cy="288428"/>
          </a:xfrm>
          <a:custGeom>
            <a:avLst/>
            <a:gdLst>
              <a:gd name="T0" fmla="*/ 220161 w 21600"/>
              <a:gd name="T1" fmla="*/ 0 h 21600"/>
              <a:gd name="T2" fmla="*/ 220161 w 21600"/>
              <a:gd name="T3" fmla="*/ 175497 h 21600"/>
              <a:gd name="T4" fmla="*/ 47115 w 21600"/>
              <a:gd name="T5" fmla="*/ 311790 h 21600"/>
              <a:gd name="T6" fmla="*/ 314391 w 21600"/>
              <a:gd name="T7" fmla="*/ 87749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nvGrpSpPr>
          <p:cNvPr id="125" name="Group 34"/>
          <p:cNvGrpSpPr/>
          <p:nvPr/>
        </p:nvGrpSpPr>
        <p:grpSpPr bwMode="auto">
          <a:xfrm>
            <a:off x="1792727" y="4119885"/>
            <a:ext cx="841456" cy="101715"/>
            <a:chOff x="1344" y="912"/>
            <a:chExt cx="672" cy="96"/>
          </a:xfrm>
          <a:solidFill>
            <a:srgbClr val="FF0000"/>
          </a:solidFill>
        </p:grpSpPr>
        <p:sp>
          <p:nvSpPr>
            <p:cNvPr id="126" name="Line 35"/>
            <p:cNvSpPr>
              <a:spLocks noChangeShapeType="1"/>
            </p:cNvSpPr>
            <p:nvPr/>
          </p:nvSpPr>
          <p:spPr bwMode="auto">
            <a:xfrm>
              <a:off x="1344" y="960"/>
              <a:ext cx="672" cy="0"/>
            </a:xfrm>
            <a:prstGeom prst="line">
              <a:avLst/>
            </a:prstGeom>
            <a:grpFill/>
            <a:ln w="12700">
              <a:no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sp>
          <p:nvSpPr>
            <p:cNvPr id="127" name="Freeform 36"/>
            <p:cNvSpPr/>
            <p:nvPr/>
          </p:nvSpPr>
          <p:spPr bwMode="auto">
            <a:xfrm>
              <a:off x="1392" y="912"/>
              <a:ext cx="576" cy="96"/>
            </a:xfrm>
            <a:custGeom>
              <a:avLst/>
              <a:gdLst>
                <a:gd name="T0" fmla="*/ 0 w 576"/>
                <a:gd name="T1" fmla="*/ 96 h 192"/>
                <a:gd name="T2" fmla="*/ 0 w 576"/>
                <a:gd name="T3" fmla="*/ 0 h 192"/>
                <a:gd name="T4" fmla="*/ 192 w 576"/>
                <a:gd name="T5" fmla="*/ 0 h 192"/>
                <a:gd name="T6" fmla="*/ 192 w 576"/>
                <a:gd name="T7" fmla="*/ 192 h 192"/>
                <a:gd name="T8" fmla="*/ 288 w 576"/>
                <a:gd name="T9" fmla="*/ 192 h 192"/>
                <a:gd name="T10" fmla="*/ 288 w 576"/>
                <a:gd name="T11" fmla="*/ 0 h 192"/>
                <a:gd name="T12" fmla="*/ 336 w 576"/>
                <a:gd name="T13" fmla="*/ 0 h 192"/>
                <a:gd name="T14" fmla="*/ 336 w 576"/>
                <a:gd name="T15" fmla="*/ 192 h 192"/>
                <a:gd name="T16" fmla="*/ 480 w 576"/>
                <a:gd name="T17" fmla="*/ 192 h 192"/>
                <a:gd name="T18" fmla="*/ 480 w 576"/>
                <a:gd name="T19" fmla="*/ 0 h 192"/>
                <a:gd name="T20" fmla="*/ 576 w 576"/>
                <a:gd name="T21" fmla="*/ 0 h 192"/>
                <a:gd name="T22" fmla="*/ 576 w 576"/>
                <a:gd name="T23" fmla="*/ 96 h 192"/>
                <a:gd name="T24" fmla="*/ 0 w 576"/>
                <a:gd name="T25" fmla="*/ 96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6" h="192">
                  <a:moveTo>
                    <a:pt x="0" y="96"/>
                  </a:moveTo>
                  <a:lnTo>
                    <a:pt x="0" y="0"/>
                  </a:lnTo>
                  <a:lnTo>
                    <a:pt x="192" y="0"/>
                  </a:lnTo>
                  <a:lnTo>
                    <a:pt x="192" y="192"/>
                  </a:lnTo>
                  <a:lnTo>
                    <a:pt x="288" y="192"/>
                  </a:lnTo>
                  <a:lnTo>
                    <a:pt x="288" y="0"/>
                  </a:lnTo>
                  <a:lnTo>
                    <a:pt x="336" y="0"/>
                  </a:lnTo>
                  <a:lnTo>
                    <a:pt x="336" y="192"/>
                  </a:lnTo>
                  <a:lnTo>
                    <a:pt x="480" y="192"/>
                  </a:lnTo>
                  <a:lnTo>
                    <a:pt x="480" y="0"/>
                  </a:lnTo>
                  <a:lnTo>
                    <a:pt x="576" y="0"/>
                  </a:lnTo>
                  <a:lnTo>
                    <a:pt x="576" y="96"/>
                  </a:lnTo>
                  <a:lnTo>
                    <a:pt x="0" y="96"/>
                  </a:lnTo>
                  <a:close/>
                </a:path>
              </a:pathLst>
            </a:custGeom>
            <a:grpFill/>
            <a:ln w="12700" cap="flat" cmpd="sng">
              <a:noFill/>
              <a:prstDash val="solid"/>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grpSp>
      <p:sp>
        <p:nvSpPr>
          <p:cNvPr id="87" name="上箭头 86"/>
          <p:cNvSpPr/>
          <p:nvPr/>
        </p:nvSpPr>
        <p:spPr>
          <a:xfrm>
            <a:off x="4028301" y="3527399"/>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2" name="上箭头 81"/>
          <p:cNvSpPr/>
          <p:nvPr/>
        </p:nvSpPr>
        <p:spPr>
          <a:xfrm>
            <a:off x="4028301" y="3154024"/>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2" name="下箭头 91"/>
          <p:cNvSpPr/>
          <p:nvPr/>
        </p:nvSpPr>
        <p:spPr>
          <a:xfrm>
            <a:off x="4682483" y="3179766"/>
            <a:ext cx="180462" cy="249234"/>
          </a:xfrm>
          <a:prstGeom prst="down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4" name="下箭头 123"/>
          <p:cNvSpPr/>
          <p:nvPr/>
        </p:nvSpPr>
        <p:spPr>
          <a:xfrm>
            <a:off x="4682483" y="3543677"/>
            <a:ext cx="180462" cy="249234"/>
          </a:xfrm>
          <a:prstGeom prst="down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2" name="AutoShape 25"/>
          <p:cNvSpPr>
            <a:spLocks noChangeArrowheads="1"/>
          </p:cNvSpPr>
          <p:nvPr/>
        </p:nvSpPr>
        <p:spPr bwMode="auto">
          <a:xfrm flipV="1">
            <a:off x="4745478" y="3955321"/>
            <a:ext cx="263283" cy="281183"/>
          </a:xfrm>
          <a:custGeom>
            <a:avLst/>
            <a:gdLst>
              <a:gd name="T0" fmla="*/ 218339 w 21600"/>
              <a:gd name="T1" fmla="*/ 0 h 21600"/>
              <a:gd name="T2" fmla="*/ 218339 w 21600"/>
              <a:gd name="T3" fmla="*/ 171757 h 21600"/>
              <a:gd name="T4" fmla="*/ 46725 w 21600"/>
              <a:gd name="T5" fmla="*/ 305144 h 21600"/>
              <a:gd name="T6" fmla="*/ 311789 w 21600"/>
              <a:gd name="T7" fmla="*/ 85878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43" name="AutoShape 42"/>
          <p:cNvSpPr>
            <a:spLocks noChangeArrowheads="1"/>
          </p:cNvSpPr>
          <p:nvPr/>
        </p:nvSpPr>
        <p:spPr bwMode="auto">
          <a:xfrm rot="5400000" flipH="1">
            <a:off x="7384551" y="3932148"/>
            <a:ext cx="254669" cy="288428"/>
          </a:xfrm>
          <a:custGeom>
            <a:avLst/>
            <a:gdLst>
              <a:gd name="T0" fmla="*/ 220161 w 21600"/>
              <a:gd name="T1" fmla="*/ 0 h 21600"/>
              <a:gd name="T2" fmla="*/ 220161 w 21600"/>
              <a:gd name="T3" fmla="*/ 175497 h 21600"/>
              <a:gd name="T4" fmla="*/ 47115 w 21600"/>
              <a:gd name="T5" fmla="*/ 311790 h 21600"/>
              <a:gd name="T6" fmla="*/ 314391 w 21600"/>
              <a:gd name="T7" fmla="*/ 87749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nvGrpSpPr>
          <p:cNvPr id="144" name="Group 34"/>
          <p:cNvGrpSpPr/>
          <p:nvPr/>
        </p:nvGrpSpPr>
        <p:grpSpPr bwMode="auto">
          <a:xfrm>
            <a:off x="5272139" y="4119886"/>
            <a:ext cx="841456" cy="101715"/>
            <a:chOff x="1344" y="912"/>
            <a:chExt cx="672" cy="96"/>
          </a:xfrm>
          <a:solidFill>
            <a:srgbClr val="FF0000"/>
          </a:solidFill>
        </p:grpSpPr>
        <p:sp>
          <p:nvSpPr>
            <p:cNvPr id="145" name="Line 35"/>
            <p:cNvSpPr>
              <a:spLocks noChangeShapeType="1"/>
            </p:cNvSpPr>
            <p:nvPr/>
          </p:nvSpPr>
          <p:spPr bwMode="auto">
            <a:xfrm>
              <a:off x="1344" y="960"/>
              <a:ext cx="672" cy="0"/>
            </a:xfrm>
            <a:prstGeom prst="line">
              <a:avLst/>
            </a:prstGeom>
            <a:grpFill/>
            <a:ln w="12700">
              <a:no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sp>
          <p:nvSpPr>
            <p:cNvPr id="146" name="Freeform 36"/>
            <p:cNvSpPr/>
            <p:nvPr/>
          </p:nvSpPr>
          <p:spPr bwMode="auto">
            <a:xfrm>
              <a:off x="1392" y="912"/>
              <a:ext cx="576" cy="96"/>
            </a:xfrm>
            <a:custGeom>
              <a:avLst/>
              <a:gdLst>
                <a:gd name="T0" fmla="*/ 0 w 576"/>
                <a:gd name="T1" fmla="*/ 96 h 192"/>
                <a:gd name="T2" fmla="*/ 0 w 576"/>
                <a:gd name="T3" fmla="*/ 0 h 192"/>
                <a:gd name="T4" fmla="*/ 192 w 576"/>
                <a:gd name="T5" fmla="*/ 0 h 192"/>
                <a:gd name="T6" fmla="*/ 192 w 576"/>
                <a:gd name="T7" fmla="*/ 192 h 192"/>
                <a:gd name="T8" fmla="*/ 288 w 576"/>
                <a:gd name="T9" fmla="*/ 192 h 192"/>
                <a:gd name="T10" fmla="*/ 288 w 576"/>
                <a:gd name="T11" fmla="*/ 0 h 192"/>
                <a:gd name="T12" fmla="*/ 336 w 576"/>
                <a:gd name="T13" fmla="*/ 0 h 192"/>
                <a:gd name="T14" fmla="*/ 336 w 576"/>
                <a:gd name="T15" fmla="*/ 192 h 192"/>
                <a:gd name="T16" fmla="*/ 480 w 576"/>
                <a:gd name="T17" fmla="*/ 192 h 192"/>
                <a:gd name="T18" fmla="*/ 480 w 576"/>
                <a:gd name="T19" fmla="*/ 0 h 192"/>
                <a:gd name="T20" fmla="*/ 576 w 576"/>
                <a:gd name="T21" fmla="*/ 0 h 192"/>
                <a:gd name="T22" fmla="*/ 576 w 576"/>
                <a:gd name="T23" fmla="*/ 96 h 192"/>
                <a:gd name="T24" fmla="*/ 0 w 576"/>
                <a:gd name="T25" fmla="*/ 96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6" h="192">
                  <a:moveTo>
                    <a:pt x="0" y="96"/>
                  </a:moveTo>
                  <a:lnTo>
                    <a:pt x="0" y="0"/>
                  </a:lnTo>
                  <a:lnTo>
                    <a:pt x="192" y="0"/>
                  </a:lnTo>
                  <a:lnTo>
                    <a:pt x="192" y="192"/>
                  </a:lnTo>
                  <a:lnTo>
                    <a:pt x="288" y="192"/>
                  </a:lnTo>
                  <a:lnTo>
                    <a:pt x="288" y="0"/>
                  </a:lnTo>
                  <a:lnTo>
                    <a:pt x="336" y="0"/>
                  </a:lnTo>
                  <a:lnTo>
                    <a:pt x="336" y="192"/>
                  </a:lnTo>
                  <a:lnTo>
                    <a:pt x="480" y="192"/>
                  </a:lnTo>
                  <a:lnTo>
                    <a:pt x="480" y="0"/>
                  </a:lnTo>
                  <a:lnTo>
                    <a:pt x="576" y="0"/>
                  </a:lnTo>
                  <a:lnTo>
                    <a:pt x="576" y="96"/>
                  </a:lnTo>
                  <a:lnTo>
                    <a:pt x="0" y="96"/>
                  </a:lnTo>
                  <a:close/>
                </a:path>
              </a:pathLst>
            </a:custGeom>
            <a:grpFill/>
            <a:ln w="12700" cap="flat" cmpd="sng">
              <a:noFill/>
              <a:prstDash val="solid"/>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grpSp>
      <p:sp>
        <p:nvSpPr>
          <p:cNvPr id="104" name="上箭头 103"/>
          <p:cNvSpPr/>
          <p:nvPr/>
        </p:nvSpPr>
        <p:spPr>
          <a:xfrm>
            <a:off x="7621960" y="3485835"/>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6" name="上箭头 85"/>
          <p:cNvSpPr/>
          <p:nvPr/>
        </p:nvSpPr>
        <p:spPr>
          <a:xfrm>
            <a:off x="7621960" y="3121290"/>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2" name="上箭头 121"/>
          <p:cNvSpPr/>
          <p:nvPr/>
        </p:nvSpPr>
        <p:spPr>
          <a:xfrm>
            <a:off x="7629697" y="2713069"/>
            <a:ext cx="178622" cy="245129"/>
          </a:xfrm>
          <a:prstGeom prst="up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标题 1">
            <a:extLst>
              <a:ext uri="{FF2B5EF4-FFF2-40B4-BE49-F238E27FC236}">
                <a16:creationId xmlns:a16="http://schemas.microsoft.com/office/drawing/2014/main" id="{6C192F12-42B2-8E52-0780-C68AFFEC10D8}"/>
              </a:ext>
            </a:extLst>
          </p:cNvPr>
          <p:cNvSpPr>
            <a:spLocks noGrp="1"/>
          </p:cNvSpPr>
          <p:nvPr>
            <p:ph type="title"/>
          </p:nvPr>
        </p:nvSpPr>
        <p:spPr>
          <a:xfrm>
            <a:off x="612000" y="144000"/>
            <a:ext cx="7920000" cy="341632"/>
          </a:xfrm>
        </p:spPr>
        <p:txBody>
          <a:bodyPr/>
          <a:lstStyle/>
          <a:p>
            <a:r>
              <a:rPr lang="zh-CN" altLang="en-US" dirty="0"/>
              <a:t>数据在各层之间的传递过程</a:t>
            </a:r>
          </a:p>
        </p:txBody>
      </p:sp>
      <p:sp>
        <p:nvSpPr>
          <p:cNvPr id="135" name="Rectangle 74">
            <a:extLst>
              <a:ext uri="{FF2B5EF4-FFF2-40B4-BE49-F238E27FC236}">
                <a16:creationId xmlns:a16="http://schemas.microsoft.com/office/drawing/2014/main" id="{46AE7ED1-D60F-7CE2-6B97-87D62C3CD615}"/>
              </a:ext>
            </a:extLst>
          </p:cNvPr>
          <p:cNvSpPr>
            <a:spLocks noChangeArrowheads="1"/>
          </p:cNvSpPr>
          <p:nvPr/>
        </p:nvSpPr>
        <p:spPr bwMode="auto">
          <a:xfrm>
            <a:off x="5499744" y="3302812"/>
            <a:ext cx="223200" cy="244800"/>
          </a:xfrm>
          <a:prstGeom prst="rect">
            <a:avLst/>
          </a:prstGeom>
          <a:solidFill>
            <a:srgbClr val="000066"/>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000" dirty="0">
                <a:solidFill>
                  <a:schemeClr val="bg1"/>
                </a:solidFill>
              </a:rPr>
              <a:t>H</a:t>
            </a:r>
            <a:r>
              <a:rPr lang="en-US" altLang="zh-CN" sz="1000" baseline="-25000" dirty="0">
                <a:solidFill>
                  <a:schemeClr val="bg1"/>
                </a:solidFill>
              </a:rPr>
              <a:t>2</a:t>
            </a:r>
          </a:p>
        </p:txBody>
      </p:sp>
      <p:sp>
        <p:nvSpPr>
          <p:cNvPr id="137" name="Rectangle 78">
            <a:extLst>
              <a:ext uri="{FF2B5EF4-FFF2-40B4-BE49-F238E27FC236}">
                <a16:creationId xmlns:a16="http://schemas.microsoft.com/office/drawing/2014/main" id="{11087ED8-FBD2-63CF-9942-C9A9B47F2808}"/>
              </a:ext>
            </a:extLst>
          </p:cNvPr>
          <p:cNvSpPr>
            <a:spLocks noChangeArrowheads="1"/>
          </p:cNvSpPr>
          <p:nvPr/>
        </p:nvSpPr>
        <p:spPr bwMode="auto">
          <a:xfrm>
            <a:off x="6838944" y="3303284"/>
            <a:ext cx="223200" cy="245309"/>
          </a:xfrm>
          <a:prstGeom prst="rect">
            <a:avLst/>
          </a:prstGeom>
          <a:solidFill>
            <a:schemeClr val="accent6">
              <a:lumMod val="75000"/>
            </a:schemeClr>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000" dirty="0"/>
              <a:t>T</a:t>
            </a:r>
            <a:r>
              <a:rPr lang="en-US" altLang="zh-CN" sz="1000" baseline="-25000" dirty="0"/>
              <a:t>2</a:t>
            </a:r>
          </a:p>
        </p:txBody>
      </p:sp>
      <p:sp>
        <p:nvSpPr>
          <p:cNvPr id="141" name="Rectangle 46">
            <a:extLst>
              <a:ext uri="{FF2B5EF4-FFF2-40B4-BE49-F238E27FC236}">
                <a16:creationId xmlns:a16="http://schemas.microsoft.com/office/drawing/2014/main" id="{6189F201-13B7-8D8A-11A2-4ACBEE0CF485}"/>
              </a:ext>
            </a:extLst>
          </p:cNvPr>
          <p:cNvSpPr>
            <a:spLocks noChangeArrowheads="1"/>
          </p:cNvSpPr>
          <p:nvPr/>
        </p:nvSpPr>
        <p:spPr bwMode="auto">
          <a:xfrm>
            <a:off x="5722944" y="3304108"/>
            <a:ext cx="223200" cy="244800"/>
          </a:xfrm>
          <a:prstGeom prst="rect">
            <a:avLst/>
          </a:prstGeom>
          <a:solidFill>
            <a:srgbClr val="00B0F0"/>
          </a:solidFill>
          <a:ln w="9525">
            <a:solidFill>
              <a:schemeClr val="tx1"/>
            </a:solidFill>
            <a:miter lim="800000"/>
          </a:ln>
          <a:effectLst/>
        </p:spPr>
        <p:txBody>
          <a:bodyPr wrap="none" anchor="ctr"/>
          <a:lstStyle/>
          <a:p>
            <a:pPr algn="ctr"/>
            <a:r>
              <a:rPr lang="en-US" altLang="zh-CN" sz="1000" dirty="0"/>
              <a:t>H</a:t>
            </a:r>
            <a:r>
              <a:rPr lang="en-US" altLang="zh-CN" sz="1000" baseline="-25000" dirty="0"/>
              <a:t>3</a:t>
            </a:r>
          </a:p>
        </p:txBody>
      </p:sp>
      <p:sp>
        <p:nvSpPr>
          <p:cNvPr id="148" name="Rectangle 47">
            <a:extLst>
              <a:ext uri="{FF2B5EF4-FFF2-40B4-BE49-F238E27FC236}">
                <a16:creationId xmlns:a16="http://schemas.microsoft.com/office/drawing/2014/main" id="{4B56853C-C1CA-0E6D-1459-E41370EB6EA7}"/>
              </a:ext>
            </a:extLst>
          </p:cNvPr>
          <p:cNvSpPr>
            <a:spLocks noChangeArrowheads="1"/>
          </p:cNvSpPr>
          <p:nvPr/>
        </p:nvSpPr>
        <p:spPr bwMode="auto">
          <a:xfrm>
            <a:off x="5946144" y="3304108"/>
            <a:ext cx="223200" cy="244800"/>
          </a:xfrm>
          <a:prstGeom prst="rect">
            <a:avLst/>
          </a:prstGeom>
          <a:solidFill>
            <a:srgbClr val="FFC000"/>
          </a:solidFill>
          <a:ln w="9525">
            <a:solidFill>
              <a:schemeClr val="tx1"/>
            </a:solidFill>
            <a:miter lim="800000"/>
          </a:ln>
          <a:effectLst/>
        </p:spPr>
        <p:txBody>
          <a:bodyPr wrap="none" anchor="ctr"/>
          <a:lstStyle/>
          <a:p>
            <a:pPr algn="ctr"/>
            <a:r>
              <a:rPr lang="en-US" altLang="zh-CN" sz="1000"/>
              <a:t>H</a:t>
            </a:r>
            <a:r>
              <a:rPr lang="en-US" altLang="zh-CN" sz="1000" baseline="-25000"/>
              <a:t>4</a:t>
            </a:r>
          </a:p>
        </p:txBody>
      </p:sp>
      <p:sp>
        <p:nvSpPr>
          <p:cNvPr id="150" name="Rectangle 48">
            <a:extLst>
              <a:ext uri="{FF2B5EF4-FFF2-40B4-BE49-F238E27FC236}">
                <a16:creationId xmlns:a16="http://schemas.microsoft.com/office/drawing/2014/main" id="{306F23A0-9142-5BAE-4D72-0FF9062A02E8}"/>
              </a:ext>
            </a:extLst>
          </p:cNvPr>
          <p:cNvSpPr>
            <a:spLocks noChangeArrowheads="1"/>
          </p:cNvSpPr>
          <p:nvPr/>
        </p:nvSpPr>
        <p:spPr bwMode="auto">
          <a:xfrm>
            <a:off x="6169344" y="3304108"/>
            <a:ext cx="223200" cy="244800"/>
          </a:xfrm>
          <a:prstGeom prst="rect">
            <a:avLst/>
          </a:prstGeom>
          <a:solidFill>
            <a:schemeClr val="accent2"/>
          </a:solidFill>
          <a:ln w="9525">
            <a:solidFill>
              <a:schemeClr val="tx1"/>
            </a:solidFill>
            <a:miter lim="800000"/>
          </a:ln>
          <a:effectLst/>
        </p:spPr>
        <p:txBody>
          <a:bodyPr wrap="none" anchor="ctr"/>
          <a:lstStyle/>
          <a:p>
            <a:pPr algn="ctr"/>
            <a:r>
              <a:rPr lang="en-US" altLang="zh-CN" sz="1000" dirty="0"/>
              <a:t>H</a:t>
            </a:r>
            <a:r>
              <a:rPr lang="en-US" altLang="zh-CN" sz="1000" baseline="-25000" dirty="0"/>
              <a:t>5</a:t>
            </a:r>
          </a:p>
        </p:txBody>
      </p:sp>
      <p:sp>
        <p:nvSpPr>
          <p:cNvPr id="152" name="Rectangle 49">
            <a:extLst>
              <a:ext uri="{FF2B5EF4-FFF2-40B4-BE49-F238E27FC236}">
                <a16:creationId xmlns:a16="http://schemas.microsoft.com/office/drawing/2014/main" id="{D88E0498-901B-CA87-6CE2-44A7F4B151C0}"/>
              </a:ext>
            </a:extLst>
          </p:cNvPr>
          <p:cNvSpPr>
            <a:spLocks noChangeArrowheads="1"/>
          </p:cNvSpPr>
          <p:nvPr/>
        </p:nvSpPr>
        <p:spPr bwMode="auto">
          <a:xfrm>
            <a:off x="6392544" y="3304109"/>
            <a:ext cx="446400" cy="244800"/>
          </a:xfrm>
          <a:prstGeom prst="rect">
            <a:avLst/>
          </a:prstGeom>
          <a:solidFill>
            <a:schemeClr val="bg1"/>
          </a:solidFill>
          <a:ln w="9525">
            <a:solidFill>
              <a:schemeClr val="tx1"/>
            </a:solidFill>
            <a:miter lim="800000"/>
          </a:ln>
        </p:spPr>
        <p:txBody>
          <a:bodyPr wrap="none" anchor="ctr"/>
          <a:lstStyle/>
          <a:p>
            <a:pPr algn="ctr"/>
            <a:r>
              <a:rPr lang="zh-CN" altLang="en-US" sz="1000" dirty="0"/>
              <a:t>数 据</a:t>
            </a:r>
          </a:p>
        </p:txBody>
      </p:sp>
      <p:sp>
        <p:nvSpPr>
          <p:cNvPr id="154" name="Rectangle 35">
            <a:extLst>
              <a:ext uri="{FF2B5EF4-FFF2-40B4-BE49-F238E27FC236}">
                <a16:creationId xmlns:a16="http://schemas.microsoft.com/office/drawing/2014/main" id="{36CA5CD3-FBC8-D457-53E4-6E083B6B3231}"/>
              </a:ext>
            </a:extLst>
          </p:cNvPr>
          <p:cNvSpPr>
            <a:spLocks noChangeArrowheads="1"/>
          </p:cNvSpPr>
          <p:nvPr/>
        </p:nvSpPr>
        <p:spPr bwMode="auto">
          <a:xfrm>
            <a:off x="5489148" y="3671598"/>
            <a:ext cx="1598222" cy="244475"/>
          </a:xfrm>
          <a:prstGeom prst="rect">
            <a:avLst/>
          </a:prstGeom>
          <a:ln w="9525">
            <a:solidFill>
              <a:schemeClr val="tx1"/>
            </a:solidFill>
            <a:miter lim="800000"/>
          </a:ln>
        </p:spPr>
        <p:txBody>
          <a:bodyPr wrap="none" anchor="ctr"/>
          <a:lstStyle/>
          <a:p>
            <a:pPr algn="ctr"/>
            <a:r>
              <a:rPr lang="en-US" altLang="zh-CN" sz="1000" dirty="0">
                <a:solidFill>
                  <a:srgbClr val="FF0000"/>
                </a:solidFill>
                <a:latin typeface="+mj-lt"/>
                <a:ea typeface="+mj-ea"/>
              </a:rPr>
              <a:t>10101 </a:t>
            </a:r>
            <a:r>
              <a:rPr lang="zh-CN" altLang="en-US" sz="1000" dirty="0">
                <a:solidFill>
                  <a:srgbClr val="FF0000"/>
                </a:solidFill>
                <a:latin typeface="+mj-lt"/>
                <a:ea typeface="+mj-ea"/>
              </a:rPr>
              <a:t>比特</a:t>
            </a:r>
            <a:r>
              <a:rPr lang="zh-CN" altLang="en-US" sz="1000">
                <a:solidFill>
                  <a:srgbClr val="FF0000"/>
                </a:solidFill>
                <a:latin typeface="+mj-lt"/>
                <a:ea typeface="+mj-ea"/>
              </a:rPr>
              <a:t>流 </a:t>
            </a:r>
            <a:r>
              <a:rPr lang="en-US" altLang="zh-CN" sz="1000" dirty="0">
                <a:solidFill>
                  <a:srgbClr val="FF0000"/>
                </a:solidFill>
                <a:latin typeface="+mj-lt"/>
                <a:ea typeface="+mj-ea"/>
              </a:rPr>
              <a:t>110111</a:t>
            </a:r>
          </a:p>
        </p:txBody>
      </p:sp>
      <p:sp>
        <p:nvSpPr>
          <p:cNvPr id="156" name="Rectangle 42">
            <a:extLst>
              <a:ext uri="{FF2B5EF4-FFF2-40B4-BE49-F238E27FC236}">
                <a16:creationId xmlns:a16="http://schemas.microsoft.com/office/drawing/2014/main" id="{20E82373-FD44-1980-A2BD-05D37B7D169F}"/>
              </a:ext>
            </a:extLst>
          </p:cNvPr>
          <p:cNvSpPr>
            <a:spLocks noChangeArrowheads="1"/>
          </p:cNvSpPr>
          <p:nvPr/>
        </p:nvSpPr>
        <p:spPr bwMode="auto">
          <a:xfrm>
            <a:off x="5946144" y="2932328"/>
            <a:ext cx="223200" cy="244800"/>
          </a:xfrm>
          <a:prstGeom prst="rect">
            <a:avLst/>
          </a:prstGeom>
          <a:solidFill>
            <a:srgbClr val="FFC000"/>
          </a:solidFill>
          <a:ln w="9525">
            <a:solidFill>
              <a:schemeClr val="tx1"/>
            </a:solidFill>
            <a:miter lim="800000"/>
          </a:ln>
          <a:effectLst/>
        </p:spPr>
        <p:txBody>
          <a:bodyPr wrap="none" anchor="ctr"/>
          <a:lstStyle/>
          <a:p>
            <a:pPr algn="ctr"/>
            <a:r>
              <a:rPr lang="en-US" altLang="zh-CN" sz="1000" dirty="0"/>
              <a:t>H</a:t>
            </a:r>
            <a:r>
              <a:rPr lang="en-US" altLang="zh-CN" sz="1000" baseline="-25000" dirty="0"/>
              <a:t>4</a:t>
            </a:r>
          </a:p>
        </p:txBody>
      </p:sp>
      <p:sp>
        <p:nvSpPr>
          <p:cNvPr id="158" name="Rectangle 43">
            <a:extLst>
              <a:ext uri="{FF2B5EF4-FFF2-40B4-BE49-F238E27FC236}">
                <a16:creationId xmlns:a16="http://schemas.microsoft.com/office/drawing/2014/main" id="{98D78C88-99E8-B682-277E-C7A571BC7B43}"/>
              </a:ext>
            </a:extLst>
          </p:cNvPr>
          <p:cNvSpPr>
            <a:spLocks noChangeArrowheads="1"/>
          </p:cNvSpPr>
          <p:nvPr/>
        </p:nvSpPr>
        <p:spPr bwMode="auto">
          <a:xfrm>
            <a:off x="6169344" y="2932328"/>
            <a:ext cx="223200" cy="244800"/>
          </a:xfrm>
          <a:prstGeom prst="rect">
            <a:avLst/>
          </a:prstGeom>
          <a:solidFill>
            <a:schemeClr val="accent2"/>
          </a:solidFill>
          <a:ln w="9525">
            <a:solidFill>
              <a:schemeClr val="tx1"/>
            </a:solidFill>
            <a:miter lim="800000"/>
          </a:ln>
          <a:effectLst/>
        </p:spPr>
        <p:txBody>
          <a:bodyPr wrap="none" anchor="ctr"/>
          <a:lstStyle/>
          <a:p>
            <a:pPr algn="ctr"/>
            <a:r>
              <a:rPr lang="en-US" altLang="zh-CN" sz="1000" dirty="0"/>
              <a:t>H</a:t>
            </a:r>
            <a:r>
              <a:rPr lang="en-US" altLang="zh-CN" sz="1000" baseline="-25000" dirty="0"/>
              <a:t>5</a:t>
            </a:r>
          </a:p>
        </p:txBody>
      </p:sp>
      <p:sp>
        <p:nvSpPr>
          <p:cNvPr id="160" name="Rectangle 44">
            <a:extLst>
              <a:ext uri="{FF2B5EF4-FFF2-40B4-BE49-F238E27FC236}">
                <a16:creationId xmlns:a16="http://schemas.microsoft.com/office/drawing/2014/main" id="{02994F62-20E0-B100-9C60-1BF038307192}"/>
              </a:ext>
            </a:extLst>
          </p:cNvPr>
          <p:cNvSpPr>
            <a:spLocks noChangeArrowheads="1"/>
          </p:cNvSpPr>
          <p:nvPr/>
        </p:nvSpPr>
        <p:spPr bwMode="auto">
          <a:xfrm>
            <a:off x="6392544" y="2932328"/>
            <a:ext cx="446400" cy="244800"/>
          </a:xfrm>
          <a:prstGeom prst="rect">
            <a:avLst/>
          </a:prstGeom>
          <a:solidFill>
            <a:schemeClr val="bg1"/>
          </a:solidFill>
          <a:ln w="9525">
            <a:solidFill>
              <a:schemeClr val="tx1"/>
            </a:solidFill>
            <a:miter lim="800000"/>
          </a:ln>
        </p:spPr>
        <p:txBody>
          <a:bodyPr wrap="none" anchor="ctr"/>
          <a:lstStyle/>
          <a:p>
            <a:pPr algn="ctr"/>
            <a:r>
              <a:rPr lang="zh-CN" altLang="en-US" sz="1000" dirty="0"/>
              <a:t>数 据</a:t>
            </a:r>
          </a:p>
        </p:txBody>
      </p:sp>
      <p:sp>
        <p:nvSpPr>
          <p:cNvPr id="162" name="Rectangle 70">
            <a:extLst>
              <a:ext uri="{FF2B5EF4-FFF2-40B4-BE49-F238E27FC236}">
                <a16:creationId xmlns:a16="http://schemas.microsoft.com/office/drawing/2014/main" id="{42BFBBCF-6269-0045-8AA3-BBD2BF61DE28}"/>
              </a:ext>
            </a:extLst>
          </p:cNvPr>
          <p:cNvSpPr>
            <a:spLocks noChangeArrowheads="1"/>
          </p:cNvSpPr>
          <p:nvPr/>
        </p:nvSpPr>
        <p:spPr bwMode="auto">
          <a:xfrm>
            <a:off x="5722944" y="2932758"/>
            <a:ext cx="223200" cy="244800"/>
          </a:xfrm>
          <a:prstGeom prst="rect">
            <a:avLst/>
          </a:prstGeom>
          <a:solidFill>
            <a:srgbClr val="00B0F0"/>
          </a:solidFill>
          <a:ln w="9525">
            <a:solidFill>
              <a:schemeClr val="tx1"/>
            </a:solidFill>
            <a:miter lim="800000"/>
          </a:ln>
          <a:effectLst/>
        </p:spPr>
        <p:txBody>
          <a:bodyPr wrap="none" anchor="ctr"/>
          <a:lstStyle/>
          <a:p>
            <a:pPr algn="ctr"/>
            <a:r>
              <a:rPr lang="en-US" altLang="zh-CN" sz="1000" dirty="0"/>
              <a:t>H</a:t>
            </a:r>
            <a:r>
              <a:rPr lang="en-US" altLang="zh-CN" sz="1000" baseline="-25000" dirty="0"/>
              <a:t>3</a:t>
            </a:r>
          </a:p>
        </p:txBody>
      </p:sp>
      <p:sp>
        <p:nvSpPr>
          <p:cNvPr id="164" name="Rectangle 39">
            <a:extLst>
              <a:ext uri="{FF2B5EF4-FFF2-40B4-BE49-F238E27FC236}">
                <a16:creationId xmlns:a16="http://schemas.microsoft.com/office/drawing/2014/main" id="{DB903A59-71AD-1B10-AED3-44BED269EF74}"/>
              </a:ext>
            </a:extLst>
          </p:cNvPr>
          <p:cNvSpPr>
            <a:spLocks noChangeArrowheads="1"/>
          </p:cNvSpPr>
          <p:nvPr/>
        </p:nvSpPr>
        <p:spPr bwMode="auto">
          <a:xfrm>
            <a:off x="6169344" y="2554801"/>
            <a:ext cx="223200" cy="244800"/>
          </a:xfrm>
          <a:prstGeom prst="rect">
            <a:avLst/>
          </a:prstGeom>
          <a:solidFill>
            <a:schemeClr val="accent2"/>
          </a:solidFill>
          <a:ln w="9525">
            <a:solidFill>
              <a:schemeClr val="tx1"/>
            </a:solidFill>
            <a:miter lim="800000"/>
          </a:ln>
          <a:effectLst/>
        </p:spPr>
        <p:txBody>
          <a:bodyPr wrap="none" anchor="ctr"/>
          <a:lstStyle/>
          <a:p>
            <a:pPr algn="ctr" fontAlgn="auto">
              <a:spcBef>
                <a:spcPts val="0"/>
              </a:spcBef>
              <a:spcAft>
                <a:spcPts val="0"/>
              </a:spcAft>
              <a:defRPr/>
            </a:pPr>
            <a:r>
              <a:rPr lang="en-US" altLang="zh-CN" sz="1000" dirty="0"/>
              <a:t>H</a:t>
            </a:r>
            <a:r>
              <a:rPr lang="en-US" altLang="zh-CN" sz="1000" baseline="-25000" dirty="0"/>
              <a:t>5</a:t>
            </a:r>
          </a:p>
        </p:txBody>
      </p:sp>
      <p:sp>
        <p:nvSpPr>
          <p:cNvPr id="166" name="Rectangle 40">
            <a:extLst>
              <a:ext uri="{FF2B5EF4-FFF2-40B4-BE49-F238E27FC236}">
                <a16:creationId xmlns:a16="http://schemas.microsoft.com/office/drawing/2014/main" id="{221394CD-9D3F-ACE1-EF6B-ED6B8B1F026A}"/>
              </a:ext>
            </a:extLst>
          </p:cNvPr>
          <p:cNvSpPr>
            <a:spLocks noChangeArrowheads="1"/>
          </p:cNvSpPr>
          <p:nvPr/>
        </p:nvSpPr>
        <p:spPr bwMode="auto">
          <a:xfrm>
            <a:off x="6392544" y="2554801"/>
            <a:ext cx="446400" cy="244800"/>
          </a:xfrm>
          <a:prstGeom prst="rect">
            <a:avLst/>
          </a:prstGeom>
          <a:solidFill>
            <a:schemeClr val="bg1"/>
          </a:solidFill>
          <a:ln w="9525">
            <a:solidFill>
              <a:schemeClr val="tx1"/>
            </a:solidFill>
            <a:miter lim="800000"/>
          </a:ln>
        </p:spPr>
        <p:txBody>
          <a:bodyPr wrap="none" anchor="ctr"/>
          <a:lstStyle/>
          <a:p>
            <a:pPr algn="ctr"/>
            <a:r>
              <a:rPr lang="zh-CN" altLang="en-US" sz="1000" dirty="0"/>
              <a:t>数 据</a:t>
            </a:r>
          </a:p>
        </p:txBody>
      </p:sp>
      <p:sp>
        <p:nvSpPr>
          <p:cNvPr id="168" name="Rectangle 66">
            <a:extLst>
              <a:ext uri="{FF2B5EF4-FFF2-40B4-BE49-F238E27FC236}">
                <a16:creationId xmlns:a16="http://schemas.microsoft.com/office/drawing/2014/main" id="{E7634E43-924A-CC93-0CD5-D4D9C8C53D05}"/>
              </a:ext>
            </a:extLst>
          </p:cNvPr>
          <p:cNvSpPr>
            <a:spLocks noChangeArrowheads="1"/>
          </p:cNvSpPr>
          <p:nvPr/>
        </p:nvSpPr>
        <p:spPr bwMode="auto">
          <a:xfrm>
            <a:off x="5946144" y="2554262"/>
            <a:ext cx="223200" cy="244800"/>
          </a:xfrm>
          <a:prstGeom prst="rect">
            <a:avLst/>
          </a:prstGeom>
          <a:solidFill>
            <a:srgbClr val="FFC000"/>
          </a:solidFill>
          <a:ln w="9525">
            <a:solidFill>
              <a:schemeClr val="tx1"/>
            </a:solidFill>
            <a:miter lim="800000"/>
          </a:ln>
          <a:effectLst/>
        </p:spPr>
        <p:txBody>
          <a:bodyPr wrap="none" anchor="ctr"/>
          <a:lstStyle/>
          <a:p>
            <a:pPr algn="ctr"/>
            <a:r>
              <a:rPr lang="en-US" altLang="zh-CN" sz="1000" dirty="0"/>
              <a:t>H</a:t>
            </a:r>
            <a:r>
              <a:rPr lang="en-US" altLang="zh-CN" sz="1000" baseline="-25000" dirty="0"/>
              <a:t>4</a:t>
            </a:r>
          </a:p>
        </p:txBody>
      </p:sp>
    </p:spTree>
    <p:extLst>
      <p:ext uri="{BB962C8B-B14F-4D97-AF65-F5344CB8AC3E}">
        <p14:creationId xmlns:p14="http://schemas.microsoft.com/office/powerpoint/2010/main" val="3143584059"/>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4" fill="hold" grpId="0" nodeType="afterEffect">
                                  <p:stCondLst>
                                    <p:cond delay="0"/>
                                  </p:stCondLst>
                                  <p:childTnLst>
                                    <p:set>
                                      <p:cBhvr>
                                        <p:cTn id="6" dur="1" fill="hold">
                                          <p:stCondLst>
                                            <p:cond delay="0"/>
                                          </p:stCondLst>
                                        </p:cTn>
                                        <p:tgtEl>
                                          <p:spTgt spid="122"/>
                                        </p:tgtEl>
                                        <p:attrNameLst>
                                          <p:attrName>style.visibility</p:attrName>
                                        </p:attrNameLst>
                                      </p:cBhvr>
                                      <p:to>
                                        <p:strVal val="visible"/>
                                      </p:to>
                                    </p:set>
                                    <p:animEffect transition="in" filter="wipe(down)">
                                      <p:cBhvr>
                                        <p:cTn id="7" dur="1000"/>
                                        <p:tgtEl>
                                          <p:spTgt spid="1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2" grpId="0" animBg="1"/>
    </p:bldLst>
  </p:timing>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8" name="AutoShape 4">
            <a:extLst>
              <a:ext uri="{FF2B5EF4-FFF2-40B4-BE49-F238E27FC236}">
                <a16:creationId xmlns:a16="http://schemas.microsoft.com/office/drawing/2014/main" id="{117EADB0-1976-2B15-07DB-EE907C7B2A11}"/>
              </a:ext>
            </a:extLst>
          </p:cNvPr>
          <p:cNvSpPr>
            <a:spLocks noChangeArrowheads="1"/>
          </p:cNvSpPr>
          <p:nvPr/>
        </p:nvSpPr>
        <p:spPr bwMode="auto">
          <a:xfrm rot="16200000">
            <a:off x="2567190" y="2361728"/>
            <a:ext cx="271463" cy="3600000"/>
          </a:xfrm>
          <a:prstGeom prst="can">
            <a:avLst>
              <a:gd name="adj" fmla="val 48656"/>
            </a:avLst>
          </a:prstGeom>
          <a:gradFill rotWithShape="0">
            <a:gsLst>
              <a:gs pos="0">
                <a:srgbClr val="00CC00"/>
              </a:gs>
              <a:gs pos="50000">
                <a:schemeClr val="bg1"/>
              </a:gs>
              <a:gs pos="100000">
                <a:srgbClr val="00CC00"/>
              </a:gs>
            </a:gsLst>
            <a:lin ang="5400000" scaled="1"/>
          </a:gradFill>
          <a:ln w="6350">
            <a:solidFill>
              <a:srgbClr val="7CE07C"/>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190" name="AutoShape 4">
            <a:extLst>
              <a:ext uri="{FF2B5EF4-FFF2-40B4-BE49-F238E27FC236}">
                <a16:creationId xmlns:a16="http://schemas.microsoft.com/office/drawing/2014/main" id="{456D85F4-2760-B814-8E76-5DFB54EA66CF}"/>
              </a:ext>
            </a:extLst>
          </p:cNvPr>
          <p:cNvSpPr>
            <a:spLocks noChangeArrowheads="1"/>
          </p:cNvSpPr>
          <p:nvPr/>
        </p:nvSpPr>
        <p:spPr bwMode="auto">
          <a:xfrm rot="16200000">
            <a:off x="6253847" y="2361728"/>
            <a:ext cx="271463" cy="3600000"/>
          </a:xfrm>
          <a:prstGeom prst="can">
            <a:avLst>
              <a:gd name="adj" fmla="val 48656"/>
            </a:avLst>
          </a:prstGeom>
          <a:gradFill rotWithShape="0">
            <a:gsLst>
              <a:gs pos="0">
                <a:srgbClr val="00CC00"/>
              </a:gs>
              <a:gs pos="50000">
                <a:schemeClr val="bg1"/>
              </a:gs>
              <a:gs pos="100000">
                <a:srgbClr val="00CC00"/>
              </a:gs>
            </a:gsLst>
            <a:lin ang="5400000" scaled="1"/>
          </a:gradFill>
          <a:ln w="6350">
            <a:solidFill>
              <a:srgbClr val="7CE07C"/>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192" name="Text Box 26">
            <a:extLst>
              <a:ext uri="{FF2B5EF4-FFF2-40B4-BE49-F238E27FC236}">
                <a16:creationId xmlns:a16="http://schemas.microsoft.com/office/drawing/2014/main" id="{CF9EFF92-1015-4213-2F0C-836F9B757237}"/>
              </a:ext>
            </a:extLst>
          </p:cNvPr>
          <p:cNvSpPr txBox="1">
            <a:spLocks noChangeArrowheads="1"/>
          </p:cNvSpPr>
          <p:nvPr/>
        </p:nvSpPr>
        <p:spPr bwMode="auto">
          <a:xfrm>
            <a:off x="2701348" y="4023229"/>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dirty="0">
                <a:latin typeface="+mj-lt"/>
                <a:ea typeface="+mj-ea"/>
              </a:rPr>
              <a:t>物理传输媒体</a:t>
            </a:r>
          </a:p>
        </p:txBody>
      </p:sp>
      <p:sp>
        <p:nvSpPr>
          <p:cNvPr id="194" name="Text Box 26">
            <a:extLst>
              <a:ext uri="{FF2B5EF4-FFF2-40B4-BE49-F238E27FC236}">
                <a16:creationId xmlns:a16="http://schemas.microsoft.com/office/drawing/2014/main" id="{F586D6B1-B991-E59D-FB97-3164CF6F5044}"/>
              </a:ext>
            </a:extLst>
          </p:cNvPr>
          <p:cNvSpPr txBox="1">
            <a:spLocks noChangeArrowheads="1"/>
          </p:cNvSpPr>
          <p:nvPr/>
        </p:nvSpPr>
        <p:spPr bwMode="auto">
          <a:xfrm>
            <a:off x="6193730" y="4023229"/>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dirty="0">
                <a:latin typeface="+mj-lt"/>
                <a:ea typeface="+mj-ea"/>
              </a:rPr>
              <a:t>物理传输媒体</a:t>
            </a:r>
          </a:p>
        </p:txBody>
      </p:sp>
      <p:grpSp>
        <p:nvGrpSpPr>
          <p:cNvPr id="181" name="组合 180">
            <a:extLst>
              <a:ext uri="{FF2B5EF4-FFF2-40B4-BE49-F238E27FC236}">
                <a16:creationId xmlns:a16="http://schemas.microsoft.com/office/drawing/2014/main" id="{25B0140C-2880-97AB-E56E-A4169F2B4616}"/>
              </a:ext>
            </a:extLst>
          </p:cNvPr>
          <p:cNvGrpSpPr/>
          <p:nvPr/>
        </p:nvGrpSpPr>
        <p:grpSpPr>
          <a:xfrm>
            <a:off x="3960000" y="2808000"/>
            <a:ext cx="1080000" cy="1080000"/>
            <a:chOff x="2807995" y="2745746"/>
            <a:chExt cx="1080000" cy="1080000"/>
          </a:xfrm>
        </p:grpSpPr>
        <p:sp>
          <p:nvSpPr>
            <p:cNvPr id="182" name="立方体 181">
              <a:extLst>
                <a:ext uri="{FF2B5EF4-FFF2-40B4-BE49-F238E27FC236}">
                  <a16:creationId xmlns:a16="http://schemas.microsoft.com/office/drawing/2014/main" id="{07BF8766-8A4D-52A3-A3B1-CC37BF8486E6}"/>
                </a:ext>
              </a:extLst>
            </p:cNvPr>
            <p:cNvSpPr/>
            <p:nvPr/>
          </p:nvSpPr>
          <p:spPr>
            <a:xfrm>
              <a:off x="2807995" y="3393746"/>
              <a:ext cx="594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sz="1050" dirty="0">
                  <a:solidFill>
                    <a:schemeClr val="bg1"/>
                  </a:solidFill>
                </a:rPr>
                <a:t>1</a:t>
              </a:r>
              <a:endParaRPr lang="zh-CN" altLang="en-US" sz="1050" dirty="0">
                <a:solidFill>
                  <a:schemeClr val="bg1"/>
                </a:solidFill>
              </a:endParaRPr>
            </a:p>
          </p:txBody>
        </p:sp>
        <p:sp>
          <p:nvSpPr>
            <p:cNvPr id="183" name="立方体 182">
              <a:extLst>
                <a:ext uri="{FF2B5EF4-FFF2-40B4-BE49-F238E27FC236}">
                  <a16:creationId xmlns:a16="http://schemas.microsoft.com/office/drawing/2014/main" id="{37C345F4-96BF-35CC-FB8E-0C183C644A51}"/>
                </a:ext>
              </a:extLst>
            </p:cNvPr>
            <p:cNvSpPr/>
            <p:nvPr/>
          </p:nvSpPr>
          <p:spPr>
            <a:xfrm>
              <a:off x="2807995" y="3069746"/>
              <a:ext cx="594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sz="1050" dirty="0">
                  <a:solidFill>
                    <a:schemeClr val="bg1"/>
                  </a:solidFill>
                </a:rPr>
                <a:t>2</a:t>
              </a:r>
              <a:endParaRPr lang="zh-CN" altLang="en-US" sz="1050" dirty="0">
                <a:solidFill>
                  <a:schemeClr val="bg1"/>
                </a:solidFill>
              </a:endParaRPr>
            </a:p>
          </p:txBody>
        </p:sp>
        <p:sp>
          <p:nvSpPr>
            <p:cNvPr id="184" name="立方体 183">
              <a:extLst>
                <a:ext uri="{FF2B5EF4-FFF2-40B4-BE49-F238E27FC236}">
                  <a16:creationId xmlns:a16="http://schemas.microsoft.com/office/drawing/2014/main" id="{266CC44A-7779-4189-F6B2-F76F8FAC07E7}"/>
                </a:ext>
              </a:extLst>
            </p:cNvPr>
            <p:cNvSpPr/>
            <p:nvPr/>
          </p:nvSpPr>
          <p:spPr>
            <a:xfrm>
              <a:off x="3293995" y="3393746"/>
              <a:ext cx="594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sz="1050" dirty="0">
                  <a:solidFill>
                    <a:schemeClr val="bg1"/>
                  </a:solidFill>
                </a:rPr>
                <a:t>1</a:t>
              </a:r>
              <a:endParaRPr lang="zh-CN" altLang="en-US" sz="1050" dirty="0">
                <a:solidFill>
                  <a:schemeClr val="bg1"/>
                </a:solidFill>
              </a:endParaRPr>
            </a:p>
          </p:txBody>
        </p:sp>
        <p:sp>
          <p:nvSpPr>
            <p:cNvPr id="185" name="立方体 184">
              <a:extLst>
                <a:ext uri="{FF2B5EF4-FFF2-40B4-BE49-F238E27FC236}">
                  <a16:creationId xmlns:a16="http://schemas.microsoft.com/office/drawing/2014/main" id="{AE18AF6C-726A-8183-A491-57606800E514}"/>
                </a:ext>
              </a:extLst>
            </p:cNvPr>
            <p:cNvSpPr/>
            <p:nvPr/>
          </p:nvSpPr>
          <p:spPr>
            <a:xfrm>
              <a:off x="3293995" y="3069746"/>
              <a:ext cx="594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sz="1050" dirty="0">
                  <a:solidFill>
                    <a:schemeClr val="bg1"/>
                  </a:solidFill>
                </a:rPr>
                <a:t>2</a:t>
              </a:r>
              <a:endParaRPr lang="zh-CN" altLang="en-US" sz="1050" dirty="0">
                <a:solidFill>
                  <a:schemeClr val="bg1"/>
                </a:solidFill>
              </a:endParaRPr>
            </a:p>
          </p:txBody>
        </p:sp>
        <p:sp>
          <p:nvSpPr>
            <p:cNvPr id="186" name="立方体 185">
              <a:extLst>
                <a:ext uri="{FF2B5EF4-FFF2-40B4-BE49-F238E27FC236}">
                  <a16:creationId xmlns:a16="http://schemas.microsoft.com/office/drawing/2014/main" id="{D818D2E1-D658-5383-31AC-4DC32D8591CE}"/>
                </a:ext>
              </a:extLst>
            </p:cNvPr>
            <p:cNvSpPr/>
            <p:nvPr/>
          </p:nvSpPr>
          <p:spPr>
            <a:xfrm>
              <a:off x="2807995" y="2745746"/>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pPr algn="ctr"/>
              <a:r>
                <a:rPr lang="en-US" altLang="zh-CN" sz="1050" dirty="0">
                  <a:solidFill>
                    <a:schemeClr val="bg1"/>
                  </a:solidFill>
                </a:rPr>
                <a:t>3</a:t>
              </a:r>
              <a:endParaRPr lang="zh-CN" altLang="en-US" sz="1050" dirty="0">
                <a:solidFill>
                  <a:schemeClr val="bg1"/>
                </a:solidFill>
              </a:endParaRPr>
            </a:p>
          </p:txBody>
        </p:sp>
      </p:grpSp>
      <p:grpSp>
        <p:nvGrpSpPr>
          <p:cNvPr id="80" name="组合 79">
            <a:extLst>
              <a:ext uri="{FF2B5EF4-FFF2-40B4-BE49-F238E27FC236}">
                <a16:creationId xmlns:a16="http://schemas.microsoft.com/office/drawing/2014/main" id="{C5F25BA9-F03F-5F3E-16C3-A1EEC36A5E16}"/>
              </a:ext>
            </a:extLst>
          </p:cNvPr>
          <p:cNvGrpSpPr/>
          <p:nvPr/>
        </p:nvGrpSpPr>
        <p:grpSpPr>
          <a:xfrm>
            <a:off x="7395732" y="1800000"/>
            <a:ext cx="1080000" cy="2088000"/>
            <a:chOff x="701211" y="1800000"/>
            <a:chExt cx="1080000" cy="2088000"/>
          </a:xfrm>
        </p:grpSpPr>
        <p:sp>
          <p:nvSpPr>
            <p:cNvPr id="81" name="立方体 80">
              <a:extLst>
                <a:ext uri="{FF2B5EF4-FFF2-40B4-BE49-F238E27FC236}">
                  <a16:creationId xmlns:a16="http://schemas.microsoft.com/office/drawing/2014/main" id="{AAEABF09-30B3-475A-55D7-22C932CB6819}"/>
                </a:ext>
              </a:extLst>
            </p:cNvPr>
            <p:cNvSpPr/>
            <p:nvPr/>
          </p:nvSpPr>
          <p:spPr>
            <a:xfrm>
              <a:off x="701211" y="3456000"/>
              <a:ext cx="108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050" dirty="0">
                  <a:solidFill>
                    <a:schemeClr val="bg1"/>
                  </a:solidFill>
                </a:rPr>
                <a:t>1 </a:t>
              </a:r>
              <a:r>
                <a:rPr lang="zh-CN" altLang="en-US" sz="1050" dirty="0">
                  <a:solidFill>
                    <a:schemeClr val="bg1"/>
                  </a:solidFill>
                </a:rPr>
                <a:t>物理层</a:t>
              </a:r>
            </a:p>
          </p:txBody>
        </p:sp>
        <p:sp>
          <p:nvSpPr>
            <p:cNvPr id="84" name="立方体 83">
              <a:extLst>
                <a:ext uri="{FF2B5EF4-FFF2-40B4-BE49-F238E27FC236}">
                  <a16:creationId xmlns:a16="http://schemas.microsoft.com/office/drawing/2014/main" id="{4B3892A1-0D7C-04D8-525A-CB2CB204AA54}"/>
                </a:ext>
              </a:extLst>
            </p:cNvPr>
            <p:cNvSpPr/>
            <p:nvPr/>
          </p:nvSpPr>
          <p:spPr>
            <a:xfrm>
              <a:off x="701211" y="3132000"/>
              <a:ext cx="108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050" dirty="0">
                  <a:solidFill>
                    <a:schemeClr val="bg1"/>
                  </a:solidFill>
                </a:rPr>
                <a:t>2 </a:t>
              </a:r>
              <a:r>
                <a:rPr lang="zh-CN" altLang="en-US" sz="1050" dirty="0">
                  <a:solidFill>
                    <a:schemeClr val="bg1"/>
                  </a:solidFill>
                </a:rPr>
                <a:t>数据链路层</a:t>
              </a:r>
            </a:p>
          </p:txBody>
        </p:sp>
        <p:sp>
          <p:nvSpPr>
            <p:cNvPr id="85" name="立方体 84">
              <a:extLst>
                <a:ext uri="{FF2B5EF4-FFF2-40B4-BE49-F238E27FC236}">
                  <a16:creationId xmlns:a16="http://schemas.microsoft.com/office/drawing/2014/main" id="{0AB284DF-2D34-4E40-0A74-A916F63D489A}"/>
                </a:ext>
              </a:extLst>
            </p:cNvPr>
            <p:cNvSpPr/>
            <p:nvPr/>
          </p:nvSpPr>
          <p:spPr>
            <a:xfrm>
              <a:off x="701211" y="2808000"/>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050" dirty="0">
                  <a:solidFill>
                    <a:schemeClr val="bg1"/>
                  </a:solidFill>
                </a:rPr>
                <a:t>3 </a:t>
              </a:r>
              <a:r>
                <a:rPr lang="zh-CN" altLang="en-US" sz="1050" dirty="0">
                  <a:solidFill>
                    <a:schemeClr val="bg1"/>
                  </a:solidFill>
                </a:rPr>
                <a:t>网络层</a:t>
              </a:r>
            </a:p>
          </p:txBody>
        </p:sp>
        <p:sp>
          <p:nvSpPr>
            <p:cNvPr id="130" name="立方体 129">
              <a:extLst>
                <a:ext uri="{FF2B5EF4-FFF2-40B4-BE49-F238E27FC236}">
                  <a16:creationId xmlns:a16="http://schemas.microsoft.com/office/drawing/2014/main" id="{A1001963-D2EB-8997-0F66-F49C25595FEC}"/>
                </a:ext>
              </a:extLst>
            </p:cNvPr>
            <p:cNvSpPr/>
            <p:nvPr/>
          </p:nvSpPr>
          <p:spPr>
            <a:xfrm>
              <a:off x="701211" y="2484000"/>
              <a:ext cx="108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050" dirty="0">
                  <a:solidFill>
                    <a:schemeClr val="bg1"/>
                  </a:solidFill>
                </a:rPr>
                <a:t>4 </a:t>
              </a:r>
              <a:r>
                <a:rPr lang="zh-CN" altLang="en-US" sz="1050" dirty="0">
                  <a:solidFill>
                    <a:schemeClr val="bg1"/>
                  </a:solidFill>
                </a:rPr>
                <a:t>运输层</a:t>
              </a:r>
            </a:p>
          </p:txBody>
        </p:sp>
        <p:sp>
          <p:nvSpPr>
            <p:cNvPr id="131" name="立方体 130">
              <a:extLst>
                <a:ext uri="{FF2B5EF4-FFF2-40B4-BE49-F238E27FC236}">
                  <a16:creationId xmlns:a16="http://schemas.microsoft.com/office/drawing/2014/main" id="{7CBF135D-9022-3DFE-5898-A4F20293F36D}"/>
                </a:ext>
              </a:extLst>
            </p:cNvPr>
            <p:cNvSpPr/>
            <p:nvPr/>
          </p:nvSpPr>
          <p:spPr>
            <a:xfrm>
              <a:off x="701211" y="2160000"/>
              <a:ext cx="108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050" dirty="0">
                  <a:solidFill>
                    <a:schemeClr val="bg1"/>
                  </a:solidFill>
                </a:rPr>
                <a:t>5 </a:t>
              </a:r>
              <a:r>
                <a:rPr lang="zh-CN" altLang="en-US" sz="1050" dirty="0">
                  <a:solidFill>
                    <a:schemeClr val="bg1"/>
                  </a:solidFill>
                </a:rPr>
                <a:t>应用层</a:t>
              </a:r>
            </a:p>
          </p:txBody>
        </p:sp>
        <p:sp>
          <p:nvSpPr>
            <p:cNvPr id="132" name="圆柱体 131">
              <a:extLst>
                <a:ext uri="{FF2B5EF4-FFF2-40B4-BE49-F238E27FC236}">
                  <a16:creationId xmlns:a16="http://schemas.microsoft.com/office/drawing/2014/main" id="{4A791266-7073-6B45-228D-98451F2C980A}"/>
                </a:ext>
              </a:extLst>
            </p:cNvPr>
            <p:cNvSpPr/>
            <p:nvPr/>
          </p:nvSpPr>
          <p:spPr>
            <a:xfrm>
              <a:off x="953211" y="1800000"/>
              <a:ext cx="576000" cy="360000"/>
            </a:xfrm>
            <a:prstGeom prst="can">
              <a:avLst/>
            </a:prstGeom>
            <a:solidFill>
              <a:srgbClr val="FFFF00"/>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000" dirty="0">
                  <a:solidFill>
                    <a:sysClr val="windowText" lastClr="000000"/>
                  </a:solidFill>
                </a:rPr>
                <a:t>AP1</a:t>
              </a:r>
              <a:endParaRPr lang="zh-CN" altLang="en-US" sz="1000" dirty="0">
                <a:solidFill>
                  <a:sysClr val="windowText" lastClr="000000"/>
                </a:solidFill>
              </a:endParaRPr>
            </a:p>
          </p:txBody>
        </p:sp>
      </p:grpSp>
      <p:grpSp>
        <p:nvGrpSpPr>
          <p:cNvPr id="133" name="组合 132">
            <a:extLst>
              <a:ext uri="{FF2B5EF4-FFF2-40B4-BE49-F238E27FC236}">
                <a16:creationId xmlns:a16="http://schemas.microsoft.com/office/drawing/2014/main" id="{80B5FBB1-8C3B-68CE-3A49-67171297A329}"/>
              </a:ext>
            </a:extLst>
          </p:cNvPr>
          <p:cNvGrpSpPr/>
          <p:nvPr/>
        </p:nvGrpSpPr>
        <p:grpSpPr>
          <a:xfrm>
            <a:off x="701211" y="1800000"/>
            <a:ext cx="1080000" cy="2088000"/>
            <a:chOff x="701211" y="1800000"/>
            <a:chExt cx="1080000" cy="2088000"/>
          </a:xfrm>
        </p:grpSpPr>
        <p:sp>
          <p:nvSpPr>
            <p:cNvPr id="134" name="立方体 133">
              <a:extLst>
                <a:ext uri="{FF2B5EF4-FFF2-40B4-BE49-F238E27FC236}">
                  <a16:creationId xmlns:a16="http://schemas.microsoft.com/office/drawing/2014/main" id="{447FF2C7-17E8-EB3B-A4A4-B4080145620A}"/>
                </a:ext>
              </a:extLst>
            </p:cNvPr>
            <p:cNvSpPr/>
            <p:nvPr/>
          </p:nvSpPr>
          <p:spPr>
            <a:xfrm>
              <a:off x="701211" y="3456000"/>
              <a:ext cx="108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050" dirty="0">
                  <a:solidFill>
                    <a:schemeClr val="bg1"/>
                  </a:solidFill>
                </a:rPr>
                <a:t>1 </a:t>
              </a:r>
              <a:r>
                <a:rPr lang="zh-CN" altLang="en-US" sz="1050" dirty="0">
                  <a:solidFill>
                    <a:schemeClr val="bg1"/>
                  </a:solidFill>
                </a:rPr>
                <a:t>物理层</a:t>
              </a:r>
            </a:p>
          </p:txBody>
        </p:sp>
        <p:sp>
          <p:nvSpPr>
            <p:cNvPr id="135" name="立方体 134">
              <a:extLst>
                <a:ext uri="{FF2B5EF4-FFF2-40B4-BE49-F238E27FC236}">
                  <a16:creationId xmlns:a16="http://schemas.microsoft.com/office/drawing/2014/main" id="{8639BFF1-F448-5BF5-8144-65F267C9FA8B}"/>
                </a:ext>
              </a:extLst>
            </p:cNvPr>
            <p:cNvSpPr/>
            <p:nvPr/>
          </p:nvSpPr>
          <p:spPr>
            <a:xfrm>
              <a:off x="701211" y="3132000"/>
              <a:ext cx="108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050" dirty="0">
                  <a:solidFill>
                    <a:schemeClr val="bg1"/>
                  </a:solidFill>
                </a:rPr>
                <a:t>2 </a:t>
              </a:r>
              <a:r>
                <a:rPr lang="zh-CN" altLang="en-US" sz="1050" dirty="0">
                  <a:solidFill>
                    <a:schemeClr val="bg1"/>
                  </a:solidFill>
                </a:rPr>
                <a:t>数据链路层</a:t>
              </a:r>
            </a:p>
          </p:txBody>
        </p:sp>
        <p:sp>
          <p:nvSpPr>
            <p:cNvPr id="136" name="立方体 135">
              <a:extLst>
                <a:ext uri="{FF2B5EF4-FFF2-40B4-BE49-F238E27FC236}">
                  <a16:creationId xmlns:a16="http://schemas.microsoft.com/office/drawing/2014/main" id="{6F1D38AA-BCA0-3CAE-330E-0CFB4802CE04}"/>
                </a:ext>
              </a:extLst>
            </p:cNvPr>
            <p:cNvSpPr/>
            <p:nvPr/>
          </p:nvSpPr>
          <p:spPr>
            <a:xfrm>
              <a:off x="701211" y="2808000"/>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050" dirty="0">
                  <a:solidFill>
                    <a:schemeClr val="bg1"/>
                  </a:solidFill>
                </a:rPr>
                <a:t>3 </a:t>
              </a:r>
              <a:r>
                <a:rPr lang="zh-CN" altLang="en-US" sz="1050" dirty="0">
                  <a:solidFill>
                    <a:schemeClr val="bg1"/>
                  </a:solidFill>
                </a:rPr>
                <a:t>网络层</a:t>
              </a:r>
            </a:p>
          </p:txBody>
        </p:sp>
        <p:sp>
          <p:nvSpPr>
            <p:cNvPr id="137" name="立方体 136">
              <a:extLst>
                <a:ext uri="{FF2B5EF4-FFF2-40B4-BE49-F238E27FC236}">
                  <a16:creationId xmlns:a16="http://schemas.microsoft.com/office/drawing/2014/main" id="{82330E41-A10E-4B0F-3B0E-6E7BFC1E626F}"/>
                </a:ext>
              </a:extLst>
            </p:cNvPr>
            <p:cNvSpPr/>
            <p:nvPr/>
          </p:nvSpPr>
          <p:spPr>
            <a:xfrm>
              <a:off x="701211" y="2484000"/>
              <a:ext cx="108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050" dirty="0">
                  <a:solidFill>
                    <a:schemeClr val="bg1"/>
                  </a:solidFill>
                </a:rPr>
                <a:t>4 </a:t>
              </a:r>
              <a:r>
                <a:rPr lang="zh-CN" altLang="en-US" sz="1050" dirty="0">
                  <a:solidFill>
                    <a:schemeClr val="bg1"/>
                  </a:solidFill>
                </a:rPr>
                <a:t>运输层</a:t>
              </a:r>
            </a:p>
          </p:txBody>
        </p:sp>
        <p:sp>
          <p:nvSpPr>
            <p:cNvPr id="138" name="立方体 137">
              <a:extLst>
                <a:ext uri="{FF2B5EF4-FFF2-40B4-BE49-F238E27FC236}">
                  <a16:creationId xmlns:a16="http://schemas.microsoft.com/office/drawing/2014/main" id="{55E1BE6A-A057-1C9C-87A5-DF0302D37F75}"/>
                </a:ext>
              </a:extLst>
            </p:cNvPr>
            <p:cNvSpPr/>
            <p:nvPr/>
          </p:nvSpPr>
          <p:spPr>
            <a:xfrm>
              <a:off x="701211" y="2160000"/>
              <a:ext cx="108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050" dirty="0">
                  <a:solidFill>
                    <a:schemeClr val="bg1"/>
                  </a:solidFill>
                </a:rPr>
                <a:t>5 </a:t>
              </a:r>
              <a:r>
                <a:rPr lang="zh-CN" altLang="en-US" sz="1050" dirty="0">
                  <a:solidFill>
                    <a:schemeClr val="bg1"/>
                  </a:solidFill>
                </a:rPr>
                <a:t>应用层</a:t>
              </a:r>
            </a:p>
          </p:txBody>
        </p:sp>
        <p:sp>
          <p:nvSpPr>
            <p:cNvPr id="141" name="圆柱体 140">
              <a:extLst>
                <a:ext uri="{FF2B5EF4-FFF2-40B4-BE49-F238E27FC236}">
                  <a16:creationId xmlns:a16="http://schemas.microsoft.com/office/drawing/2014/main" id="{DFE33634-C518-A6E0-39D1-091F50641DDB}"/>
                </a:ext>
              </a:extLst>
            </p:cNvPr>
            <p:cNvSpPr/>
            <p:nvPr/>
          </p:nvSpPr>
          <p:spPr>
            <a:xfrm>
              <a:off x="953211" y="1800000"/>
              <a:ext cx="576000" cy="360000"/>
            </a:xfrm>
            <a:prstGeom prst="can">
              <a:avLst/>
            </a:prstGeom>
            <a:solidFill>
              <a:srgbClr val="FFFF00"/>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000" dirty="0">
                  <a:solidFill>
                    <a:sysClr val="windowText" lastClr="000000"/>
                  </a:solidFill>
                </a:rPr>
                <a:t>AP1</a:t>
              </a:r>
              <a:endParaRPr lang="zh-CN" altLang="en-US" sz="1000" dirty="0">
                <a:solidFill>
                  <a:sysClr val="windowText" lastClr="000000"/>
                </a:solidFill>
              </a:endParaRPr>
            </a:p>
          </p:txBody>
        </p:sp>
      </p:grpSp>
      <p:sp>
        <p:nvSpPr>
          <p:cNvPr id="25" name="Text Box 29"/>
          <p:cNvSpPr txBox="1">
            <a:spLocks noChangeArrowheads="1"/>
          </p:cNvSpPr>
          <p:nvPr/>
        </p:nvSpPr>
        <p:spPr bwMode="auto">
          <a:xfrm>
            <a:off x="110689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1</a:t>
            </a:r>
          </a:p>
        </p:txBody>
      </p:sp>
      <p:sp>
        <p:nvSpPr>
          <p:cNvPr id="38" name="Text Box 29"/>
          <p:cNvSpPr txBox="1">
            <a:spLocks noChangeArrowheads="1"/>
          </p:cNvSpPr>
          <p:nvPr/>
        </p:nvSpPr>
        <p:spPr bwMode="auto">
          <a:xfrm>
            <a:off x="736975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2</a:t>
            </a:r>
          </a:p>
        </p:txBody>
      </p:sp>
      <p:sp>
        <p:nvSpPr>
          <p:cNvPr id="39" name="Text Box 29"/>
          <p:cNvSpPr txBox="1">
            <a:spLocks noChangeArrowheads="1"/>
          </p:cNvSpPr>
          <p:nvPr/>
        </p:nvSpPr>
        <p:spPr bwMode="auto">
          <a:xfrm>
            <a:off x="4160212" y="107510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路由器</a:t>
            </a:r>
            <a:endParaRPr kumimoji="1" lang="en-US" altLang="zh-CN" sz="1200" b="1" dirty="0">
              <a:solidFill>
                <a:srgbClr val="0000FF"/>
              </a:solidFill>
              <a:latin typeface="微软雅黑" panose="020B0503020204020204" pitchFamily="34" charset="-122"/>
              <a:ea typeface="微软雅黑" panose="020B0503020204020204" pitchFamily="34" charset="-122"/>
            </a:endParaRPr>
          </a:p>
        </p:txBody>
      </p:sp>
      <p:cxnSp>
        <p:nvCxnSpPr>
          <p:cNvPr id="69" name="直接连接符 68"/>
          <p:cNvCxnSpPr/>
          <p:nvPr/>
        </p:nvCxnSpPr>
        <p:spPr>
          <a:xfrm>
            <a:off x="1418143" y="1507958"/>
            <a:ext cx="6306131" cy="0"/>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pic>
        <p:nvPicPr>
          <p:cNvPr id="36"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486661" y="1312469"/>
            <a:ext cx="410222"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7"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202308" y="1312469"/>
            <a:ext cx="410223"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140" name="直接箭头连接符 139"/>
          <p:cNvCxnSpPr/>
          <p:nvPr/>
        </p:nvCxnSpPr>
        <p:spPr>
          <a:xfrm>
            <a:off x="1561619" y="1428166"/>
            <a:ext cx="5941518" cy="0"/>
          </a:xfrm>
          <a:prstGeom prst="straightConnector1">
            <a:avLst/>
          </a:prstGeom>
          <a:ln w="28575">
            <a:solidFill>
              <a:srgbClr val="CC00CC"/>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35" name="Picture 4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54124" y="1385466"/>
            <a:ext cx="454438" cy="2643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73" name="AutoShape 51"/>
          <p:cNvSpPr>
            <a:spLocks noChangeArrowheads="1"/>
          </p:cNvSpPr>
          <p:nvPr/>
        </p:nvSpPr>
        <p:spPr bwMode="auto">
          <a:xfrm flipV="1">
            <a:off x="1237476" y="2076244"/>
            <a:ext cx="145966" cy="205414"/>
          </a:xfrm>
          <a:prstGeom prst="upArrow">
            <a:avLst>
              <a:gd name="adj1" fmla="val 50000"/>
              <a:gd name="adj2" fmla="val 45968"/>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88" name="AutoShape 54"/>
          <p:cNvSpPr>
            <a:spLocks noChangeArrowheads="1"/>
          </p:cNvSpPr>
          <p:nvPr/>
        </p:nvSpPr>
        <p:spPr bwMode="auto">
          <a:xfrm rot="10800000">
            <a:off x="1237478" y="2439149"/>
            <a:ext cx="147144" cy="221279"/>
          </a:xfrm>
          <a:prstGeom prst="upArrow">
            <a:avLst>
              <a:gd name="adj1" fmla="val 50000"/>
              <a:gd name="adj2" fmla="val 498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5" name="AutoShape 57"/>
          <p:cNvSpPr>
            <a:spLocks noChangeArrowheads="1"/>
          </p:cNvSpPr>
          <p:nvPr/>
        </p:nvSpPr>
        <p:spPr bwMode="auto">
          <a:xfrm rot="10800000">
            <a:off x="1235122" y="2826328"/>
            <a:ext cx="148321" cy="222762"/>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07" name="AutoShape 57"/>
          <p:cNvSpPr>
            <a:spLocks noChangeArrowheads="1"/>
          </p:cNvSpPr>
          <p:nvPr/>
        </p:nvSpPr>
        <p:spPr bwMode="auto">
          <a:xfrm rot="10800000">
            <a:off x="1226181" y="3198896"/>
            <a:ext cx="156561" cy="213191"/>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19" name="AutoShape 63"/>
          <p:cNvSpPr>
            <a:spLocks noChangeArrowheads="1"/>
          </p:cNvSpPr>
          <p:nvPr/>
        </p:nvSpPr>
        <p:spPr bwMode="auto">
          <a:xfrm rot="10800000">
            <a:off x="1226181" y="3567260"/>
            <a:ext cx="165978" cy="238153"/>
          </a:xfrm>
          <a:prstGeom prst="upArrow">
            <a:avLst>
              <a:gd name="adj1" fmla="val 50000"/>
              <a:gd name="adj2" fmla="val 50403"/>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00" name="AutoShape 25"/>
          <p:cNvSpPr>
            <a:spLocks noChangeArrowheads="1"/>
          </p:cNvSpPr>
          <p:nvPr/>
        </p:nvSpPr>
        <p:spPr bwMode="auto">
          <a:xfrm flipV="1">
            <a:off x="1266066" y="3955320"/>
            <a:ext cx="263283" cy="281183"/>
          </a:xfrm>
          <a:custGeom>
            <a:avLst/>
            <a:gdLst>
              <a:gd name="T0" fmla="*/ 218339 w 21600"/>
              <a:gd name="T1" fmla="*/ 0 h 21600"/>
              <a:gd name="T2" fmla="*/ 218339 w 21600"/>
              <a:gd name="T3" fmla="*/ 171757 h 21600"/>
              <a:gd name="T4" fmla="*/ 46725 w 21600"/>
              <a:gd name="T5" fmla="*/ 305144 h 21600"/>
              <a:gd name="T6" fmla="*/ 311789 w 21600"/>
              <a:gd name="T7" fmla="*/ 85878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11" name="AutoShape 42"/>
          <p:cNvSpPr>
            <a:spLocks noChangeArrowheads="1"/>
          </p:cNvSpPr>
          <p:nvPr/>
        </p:nvSpPr>
        <p:spPr bwMode="auto">
          <a:xfrm rot="5400000" flipH="1">
            <a:off x="3905139" y="3932147"/>
            <a:ext cx="254669" cy="288428"/>
          </a:xfrm>
          <a:custGeom>
            <a:avLst/>
            <a:gdLst>
              <a:gd name="T0" fmla="*/ 220161 w 21600"/>
              <a:gd name="T1" fmla="*/ 0 h 21600"/>
              <a:gd name="T2" fmla="*/ 220161 w 21600"/>
              <a:gd name="T3" fmla="*/ 175497 h 21600"/>
              <a:gd name="T4" fmla="*/ 47115 w 21600"/>
              <a:gd name="T5" fmla="*/ 311790 h 21600"/>
              <a:gd name="T6" fmla="*/ 314391 w 21600"/>
              <a:gd name="T7" fmla="*/ 87749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nvGrpSpPr>
          <p:cNvPr id="125" name="Group 34"/>
          <p:cNvGrpSpPr/>
          <p:nvPr/>
        </p:nvGrpSpPr>
        <p:grpSpPr bwMode="auto">
          <a:xfrm>
            <a:off x="1792727" y="4119885"/>
            <a:ext cx="841456" cy="101715"/>
            <a:chOff x="1344" y="912"/>
            <a:chExt cx="672" cy="96"/>
          </a:xfrm>
          <a:solidFill>
            <a:srgbClr val="FF0000"/>
          </a:solidFill>
        </p:grpSpPr>
        <p:sp>
          <p:nvSpPr>
            <p:cNvPr id="126" name="Line 35"/>
            <p:cNvSpPr>
              <a:spLocks noChangeShapeType="1"/>
            </p:cNvSpPr>
            <p:nvPr/>
          </p:nvSpPr>
          <p:spPr bwMode="auto">
            <a:xfrm>
              <a:off x="1344" y="960"/>
              <a:ext cx="672" cy="0"/>
            </a:xfrm>
            <a:prstGeom prst="line">
              <a:avLst/>
            </a:prstGeom>
            <a:grpFill/>
            <a:ln w="12700">
              <a:no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sp>
          <p:nvSpPr>
            <p:cNvPr id="127" name="Freeform 36"/>
            <p:cNvSpPr/>
            <p:nvPr/>
          </p:nvSpPr>
          <p:spPr bwMode="auto">
            <a:xfrm>
              <a:off x="1392" y="912"/>
              <a:ext cx="576" cy="96"/>
            </a:xfrm>
            <a:custGeom>
              <a:avLst/>
              <a:gdLst>
                <a:gd name="T0" fmla="*/ 0 w 576"/>
                <a:gd name="T1" fmla="*/ 96 h 192"/>
                <a:gd name="T2" fmla="*/ 0 w 576"/>
                <a:gd name="T3" fmla="*/ 0 h 192"/>
                <a:gd name="T4" fmla="*/ 192 w 576"/>
                <a:gd name="T5" fmla="*/ 0 h 192"/>
                <a:gd name="T6" fmla="*/ 192 w 576"/>
                <a:gd name="T7" fmla="*/ 192 h 192"/>
                <a:gd name="T8" fmla="*/ 288 w 576"/>
                <a:gd name="T9" fmla="*/ 192 h 192"/>
                <a:gd name="T10" fmla="*/ 288 w 576"/>
                <a:gd name="T11" fmla="*/ 0 h 192"/>
                <a:gd name="T12" fmla="*/ 336 w 576"/>
                <a:gd name="T13" fmla="*/ 0 h 192"/>
                <a:gd name="T14" fmla="*/ 336 w 576"/>
                <a:gd name="T15" fmla="*/ 192 h 192"/>
                <a:gd name="T16" fmla="*/ 480 w 576"/>
                <a:gd name="T17" fmla="*/ 192 h 192"/>
                <a:gd name="T18" fmla="*/ 480 w 576"/>
                <a:gd name="T19" fmla="*/ 0 h 192"/>
                <a:gd name="T20" fmla="*/ 576 w 576"/>
                <a:gd name="T21" fmla="*/ 0 h 192"/>
                <a:gd name="T22" fmla="*/ 576 w 576"/>
                <a:gd name="T23" fmla="*/ 96 h 192"/>
                <a:gd name="T24" fmla="*/ 0 w 576"/>
                <a:gd name="T25" fmla="*/ 96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6" h="192">
                  <a:moveTo>
                    <a:pt x="0" y="96"/>
                  </a:moveTo>
                  <a:lnTo>
                    <a:pt x="0" y="0"/>
                  </a:lnTo>
                  <a:lnTo>
                    <a:pt x="192" y="0"/>
                  </a:lnTo>
                  <a:lnTo>
                    <a:pt x="192" y="192"/>
                  </a:lnTo>
                  <a:lnTo>
                    <a:pt x="288" y="192"/>
                  </a:lnTo>
                  <a:lnTo>
                    <a:pt x="288" y="0"/>
                  </a:lnTo>
                  <a:lnTo>
                    <a:pt x="336" y="0"/>
                  </a:lnTo>
                  <a:lnTo>
                    <a:pt x="336" y="192"/>
                  </a:lnTo>
                  <a:lnTo>
                    <a:pt x="480" y="192"/>
                  </a:lnTo>
                  <a:lnTo>
                    <a:pt x="480" y="0"/>
                  </a:lnTo>
                  <a:lnTo>
                    <a:pt x="576" y="0"/>
                  </a:lnTo>
                  <a:lnTo>
                    <a:pt x="576" y="96"/>
                  </a:lnTo>
                  <a:lnTo>
                    <a:pt x="0" y="96"/>
                  </a:lnTo>
                  <a:close/>
                </a:path>
              </a:pathLst>
            </a:custGeom>
            <a:grpFill/>
            <a:ln w="12700" cap="flat" cmpd="sng">
              <a:noFill/>
              <a:prstDash val="solid"/>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grpSp>
      <p:sp>
        <p:nvSpPr>
          <p:cNvPr id="87" name="上箭头 86"/>
          <p:cNvSpPr/>
          <p:nvPr/>
        </p:nvSpPr>
        <p:spPr>
          <a:xfrm>
            <a:off x="4028301" y="3527399"/>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2" name="上箭头 81"/>
          <p:cNvSpPr/>
          <p:nvPr/>
        </p:nvSpPr>
        <p:spPr>
          <a:xfrm>
            <a:off x="4028301" y="3154024"/>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2" name="下箭头 91"/>
          <p:cNvSpPr/>
          <p:nvPr/>
        </p:nvSpPr>
        <p:spPr>
          <a:xfrm>
            <a:off x="4682483" y="3179766"/>
            <a:ext cx="180462" cy="249234"/>
          </a:xfrm>
          <a:prstGeom prst="down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4" name="下箭头 123"/>
          <p:cNvSpPr/>
          <p:nvPr/>
        </p:nvSpPr>
        <p:spPr>
          <a:xfrm>
            <a:off x="4682483" y="3543677"/>
            <a:ext cx="180462" cy="249234"/>
          </a:xfrm>
          <a:prstGeom prst="down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2" name="AutoShape 25"/>
          <p:cNvSpPr>
            <a:spLocks noChangeArrowheads="1"/>
          </p:cNvSpPr>
          <p:nvPr/>
        </p:nvSpPr>
        <p:spPr bwMode="auto">
          <a:xfrm flipV="1">
            <a:off x="4745478" y="3955321"/>
            <a:ext cx="263283" cy="281183"/>
          </a:xfrm>
          <a:custGeom>
            <a:avLst/>
            <a:gdLst>
              <a:gd name="T0" fmla="*/ 218339 w 21600"/>
              <a:gd name="T1" fmla="*/ 0 h 21600"/>
              <a:gd name="T2" fmla="*/ 218339 w 21600"/>
              <a:gd name="T3" fmla="*/ 171757 h 21600"/>
              <a:gd name="T4" fmla="*/ 46725 w 21600"/>
              <a:gd name="T5" fmla="*/ 305144 h 21600"/>
              <a:gd name="T6" fmla="*/ 311789 w 21600"/>
              <a:gd name="T7" fmla="*/ 85878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43" name="AutoShape 42"/>
          <p:cNvSpPr>
            <a:spLocks noChangeArrowheads="1"/>
          </p:cNvSpPr>
          <p:nvPr/>
        </p:nvSpPr>
        <p:spPr bwMode="auto">
          <a:xfrm rot="5400000" flipH="1">
            <a:off x="7384551" y="3932148"/>
            <a:ext cx="254669" cy="288428"/>
          </a:xfrm>
          <a:custGeom>
            <a:avLst/>
            <a:gdLst>
              <a:gd name="T0" fmla="*/ 220161 w 21600"/>
              <a:gd name="T1" fmla="*/ 0 h 21600"/>
              <a:gd name="T2" fmla="*/ 220161 w 21600"/>
              <a:gd name="T3" fmla="*/ 175497 h 21600"/>
              <a:gd name="T4" fmla="*/ 47115 w 21600"/>
              <a:gd name="T5" fmla="*/ 311790 h 21600"/>
              <a:gd name="T6" fmla="*/ 314391 w 21600"/>
              <a:gd name="T7" fmla="*/ 87749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nvGrpSpPr>
          <p:cNvPr id="144" name="Group 34"/>
          <p:cNvGrpSpPr/>
          <p:nvPr/>
        </p:nvGrpSpPr>
        <p:grpSpPr bwMode="auto">
          <a:xfrm>
            <a:off x="5272139" y="4119886"/>
            <a:ext cx="841456" cy="101715"/>
            <a:chOff x="1344" y="912"/>
            <a:chExt cx="672" cy="96"/>
          </a:xfrm>
          <a:solidFill>
            <a:srgbClr val="FF0000"/>
          </a:solidFill>
        </p:grpSpPr>
        <p:sp>
          <p:nvSpPr>
            <p:cNvPr id="145" name="Line 35"/>
            <p:cNvSpPr>
              <a:spLocks noChangeShapeType="1"/>
            </p:cNvSpPr>
            <p:nvPr/>
          </p:nvSpPr>
          <p:spPr bwMode="auto">
            <a:xfrm>
              <a:off x="1344" y="960"/>
              <a:ext cx="672" cy="0"/>
            </a:xfrm>
            <a:prstGeom prst="line">
              <a:avLst/>
            </a:prstGeom>
            <a:grpFill/>
            <a:ln w="12700">
              <a:no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sp>
          <p:nvSpPr>
            <p:cNvPr id="146" name="Freeform 36"/>
            <p:cNvSpPr/>
            <p:nvPr/>
          </p:nvSpPr>
          <p:spPr bwMode="auto">
            <a:xfrm>
              <a:off x="1392" y="912"/>
              <a:ext cx="576" cy="96"/>
            </a:xfrm>
            <a:custGeom>
              <a:avLst/>
              <a:gdLst>
                <a:gd name="T0" fmla="*/ 0 w 576"/>
                <a:gd name="T1" fmla="*/ 96 h 192"/>
                <a:gd name="T2" fmla="*/ 0 w 576"/>
                <a:gd name="T3" fmla="*/ 0 h 192"/>
                <a:gd name="T4" fmla="*/ 192 w 576"/>
                <a:gd name="T5" fmla="*/ 0 h 192"/>
                <a:gd name="T6" fmla="*/ 192 w 576"/>
                <a:gd name="T7" fmla="*/ 192 h 192"/>
                <a:gd name="T8" fmla="*/ 288 w 576"/>
                <a:gd name="T9" fmla="*/ 192 h 192"/>
                <a:gd name="T10" fmla="*/ 288 w 576"/>
                <a:gd name="T11" fmla="*/ 0 h 192"/>
                <a:gd name="T12" fmla="*/ 336 w 576"/>
                <a:gd name="T13" fmla="*/ 0 h 192"/>
                <a:gd name="T14" fmla="*/ 336 w 576"/>
                <a:gd name="T15" fmla="*/ 192 h 192"/>
                <a:gd name="T16" fmla="*/ 480 w 576"/>
                <a:gd name="T17" fmla="*/ 192 h 192"/>
                <a:gd name="T18" fmla="*/ 480 w 576"/>
                <a:gd name="T19" fmla="*/ 0 h 192"/>
                <a:gd name="T20" fmla="*/ 576 w 576"/>
                <a:gd name="T21" fmla="*/ 0 h 192"/>
                <a:gd name="T22" fmla="*/ 576 w 576"/>
                <a:gd name="T23" fmla="*/ 96 h 192"/>
                <a:gd name="T24" fmla="*/ 0 w 576"/>
                <a:gd name="T25" fmla="*/ 96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6" h="192">
                  <a:moveTo>
                    <a:pt x="0" y="96"/>
                  </a:moveTo>
                  <a:lnTo>
                    <a:pt x="0" y="0"/>
                  </a:lnTo>
                  <a:lnTo>
                    <a:pt x="192" y="0"/>
                  </a:lnTo>
                  <a:lnTo>
                    <a:pt x="192" y="192"/>
                  </a:lnTo>
                  <a:lnTo>
                    <a:pt x="288" y="192"/>
                  </a:lnTo>
                  <a:lnTo>
                    <a:pt x="288" y="0"/>
                  </a:lnTo>
                  <a:lnTo>
                    <a:pt x="336" y="0"/>
                  </a:lnTo>
                  <a:lnTo>
                    <a:pt x="336" y="192"/>
                  </a:lnTo>
                  <a:lnTo>
                    <a:pt x="480" y="192"/>
                  </a:lnTo>
                  <a:lnTo>
                    <a:pt x="480" y="0"/>
                  </a:lnTo>
                  <a:lnTo>
                    <a:pt x="576" y="0"/>
                  </a:lnTo>
                  <a:lnTo>
                    <a:pt x="576" y="96"/>
                  </a:lnTo>
                  <a:lnTo>
                    <a:pt x="0" y="96"/>
                  </a:lnTo>
                  <a:close/>
                </a:path>
              </a:pathLst>
            </a:custGeom>
            <a:grpFill/>
            <a:ln w="12700" cap="flat" cmpd="sng">
              <a:noFill/>
              <a:prstDash val="solid"/>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grpSp>
      <p:sp>
        <p:nvSpPr>
          <p:cNvPr id="104" name="上箭头 103"/>
          <p:cNvSpPr/>
          <p:nvPr/>
        </p:nvSpPr>
        <p:spPr>
          <a:xfrm>
            <a:off x="7621960" y="3485835"/>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6" name="上箭头 85"/>
          <p:cNvSpPr/>
          <p:nvPr/>
        </p:nvSpPr>
        <p:spPr>
          <a:xfrm>
            <a:off x="7621960" y="3121290"/>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2" name="上箭头 121"/>
          <p:cNvSpPr/>
          <p:nvPr/>
        </p:nvSpPr>
        <p:spPr>
          <a:xfrm>
            <a:off x="7629697" y="2713069"/>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3" name="上箭头 122"/>
          <p:cNvSpPr/>
          <p:nvPr/>
        </p:nvSpPr>
        <p:spPr>
          <a:xfrm>
            <a:off x="7629697" y="2348444"/>
            <a:ext cx="178622" cy="245129"/>
          </a:xfrm>
          <a:prstGeom prst="up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标题 1">
            <a:extLst>
              <a:ext uri="{FF2B5EF4-FFF2-40B4-BE49-F238E27FC236}">
                <a16:creationId xmlns:a16="http://schemas.microsoft.com/office/drawing/2014/main" id="{377D4518-1443-61FD-ACA2-7F28694EACD2}"/>
              </a:ext>
            </a:extLst>
          </p:cNvPr>
          <p:cNvSpPr>
            <a:spLocks noGrp="1"/>
          </p:cNvSpPr>
          <p:nvPr>
            <p:ph type="title"/>
          </p:nvPr>
        </p:nvSpPr>
        <p:spPr>
          <a:xfrm>
            <a:off x="612000" y="144000"/>
            <a:ext cx="7920000" cy="341632"/>
          </a:xfrm>
        </p:spPr>
        <p:txBody>
          <a:bodyPr/>
          <a:lstStyle/>
          <a:p>
            <a:r>
              <a:rPr lang="zh-CN" altLang="en-US" dirty="0"/>
              <a:t>数据在各层之间的传递过程</a:t>
            </a:r>
          </a:p>
        </p:txBody>
      </p:sp>
      <p:sp>
        <p:nvSpPr>
          <p:cNvPr id="148" name="Rectangle 74">
            <a:extLst>
              <a:ext uri="{FF2B5EF4-FFF2-40B4-BE49-F238E27FC236}">
                <a16:creationId xmlns:a16="http://schemas.microsoft.com/office/drawing/2014/main" id="{EA517FA4-BB80-7530-BFC2-28EC1DA1DBF8}"/>
              </a:ext>
            </a:extLst>
          </p:cNvPr>
          <p:cNvSpPr>
            <a:spLocks noChangeArrowheads="1"/>
          </p:cNvSpPr>
          <p:nvPr/>
        </p:nvSpPr>
        <p:spPr bwMode="auto">
          <a:xfrm>
            <a:off x="5499744" y="3302812"/>
            <a:ext cx="223200" cy="244800"/>
          </a:xfrm>
          <a:prstGeom prst="rect">
            <a:avLst/>
          </a:prstGeom>
          <a:solidFill>
            <a:srgbClr val="000066"/>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000" dirty="0">
                <a:solidFill>
                  <a:schemeClr val="bg1"/>
                </a:solidFill>
              </a:rPr>
              <a:t>H</a:t>
            </a:r>
            <a:r>
              <a:rPr lang="en-US" altLang="zh-CN" sz="1000" baseline="-25000" dirty="0">
                <a:solidFill>
                  <a:schemeClr val="bg1"/>
                </a:solidFill>
              </a:rPr>
              <a:t>2</a:t>
            </a:r>
          </a:p>
        </p:txBody>
      </p:sp>
      <p:sp>
        <p:nvSpPr>
          <p:cNvPr id="150" name="Rectangle 78">
            <a:extLst>
              <a:ext uri="{FF2B5EF4-FFF2-40B4-BE49-F238E27FC236}">
                <a16:creationId xmlns:a16="http://schemas.microsoft.com/office/drawing/2014/main" id="{0B1A262A-5C07-974F-2D7F-D865E921BA26}"/>
              </a:ext>
            </a:extLst>
          </p:cNvPr>
          <p:cNvSpPr>
            <a:spLocks noChangeArrowheads="1"/>
          </p:cNvSpPr>
          <p:nvPr/>
        </p:nvSpPr>
        <p:spPr bwMode="auto">
          <a:xfrm>
            <a:off x="6838944" y="3303284"/>
            <a:ext cx="223200" cy="245309"/>
          </a:xfrm>
          <a:prstGeom prst="rect">
            <a:avLst/>
          </a:prstGeom>
          <a:solidFill>
            <a:schemeClr val="accent6">
              <a:lumMod val="75000"/>
            </a:schemeClr>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000" dirty="0"/>
              <a:t>T</a:t>
            </a:r>
            <a:r>
              <a:rPr lang="en-US" altLang="zh-CN" sz="1000" baseline="-25000" dirty="0"/>
              <a:t>2</a:t>
            </a:r>
          </a:p>
        </p:txBody>
      </p:sp>
      <p:sp>
        <p:nvSpPr>
          <p:cNvPr id="152" name="Rectangle 46">
            <a:extLst>
              <a:ext uri="{FF2B5EF4-FFF2-40B4-BE49-F238E27FC236}">
                <a16:creationId xmlns:a16="http://schemas.microsoft.com/office/drawing/2014/main" id="{8AD17C8E-8E10-6225-6A74-66D206B10BAF}"/>
              </a:ext>
            </a:extLst>
          </p:cNvPr>
          <p:cNvSpPr>
            <a:spLocks noChangeArrowheads="1"/>
          </p:cNvSpPr>
          <p:nvPr/>
        </p:nvSpPr>
        <p:spPr bwMode="auto">
          <a:xfrm>
            <a:off x="5722944" y="3304108"/>
            <a:ext cx="223200" cy="244800"/>
          </a:xfrm>
          <a:prstGeom prst="rect">
            <a:avLst/>
          </a:prstGeom>
          <a:solidFill>
            <a:srgbClr val="00B0F0"/>
          </a:solidFill>
          <a:ln w="9525">
            <a:solidFill>
              <a:schemeClr val="tx1"/>
            </a:solidFill>
            <a:miter lim="800000"/>
          </a:ln>
          <a:effectLst/>
        </p:spPr>
        <p:txBody>
          <a:bodyPr wrap="none" anchor="ctr"/>
          <a:lstStyle/>
          <a:p>
            <a:pPr algn="ctr"/>
            <a:r>
              <a:rPr lang="en-US" altLang="zh-CN" sz="1000" dirty="0"/>
              <a:t>H</a:t>
            </a:r>
            <a:r>
              <a:rPr lang="en-US" altLang="zh-CN" sz="1000" baseline="-25000" dirty="0"/>
              <a:t>3</a:t>
            </a:r>
          </a:p>
        </p:txBody>
      </p:sp>
      <p:sp>
        <p:nvSpPr>
          <p:cNvPr id="154" name="Rectangle 47">
            <a:extLst>
              <a:ext uri="{FF2B5EF4-FFF2-40B4-BE49-F238E27FC236}">
                <a16:creationId xmlns:a16="http://schemas.microsoft.com/office/drawing/2014/main" id="{DCFE67ED-DEE3-1C93-E840-DD4C8CBE94FE}"/>
              </a:ext>
            </a:extLst>
          </p:cNvPr>
          <p:cNvSpPr>
            <a:spLocks noChangeArrowheads="1"/>
          </p:cNvSpPr>
          <p:nvPr/>
        </p:nvSpPr>
        <p:spPr bwMode="auto">
          <a:xfrm>
            <a:off x="5946144" y="3304108"/>
            <a:ext cx="223200" cy="244800"/>
          </a:xfrm>
          <a:prstGeom prst="rect">
            <a:avLst/>
          </a:prstGeom>
          <a:solidFill>
            <a:srgbClr val="FFC000"/>
          </a:solidFill>
          <a:ln w="9525">
            <a:solidFill>
              <a:schemeClr val="tx1"/>
            </a:solidFill>
            <a:miter lim="800000"/>
          </a:ln>
          <a:effectLst/>
        </p:spPr>
        <p:txBody>
          <a:bodyPr wrap="none" anchor="ctr"/>
          <a:lstStyle/>
          <a:p>
            <a:pPr algn="ctr"/>
            <a:r>
              <a:rPr lang="en-US" altLang="zh-CN" sz="1000"/>
              <a:t>H</a:t>
            </a:r>
            <a:r>
              <a:rPr lang="en-US" altLang="zh-CN" sz="1000" baseline="-25000"/>
              <a:t>4</a:t>
            </a:r>
          </a:p>
        </p:txBody>
      </p:sp>
      <p:sp>
        <p:nvSpPr>
          <p:cNvPr id="156" name="Rectangle 48">
            <a:extLst>
              <a:ext uri="{FF2B5EF4-FFF2-40B4-BE49-F238E27FC236}">
                <a16:creationId xmlns:a16="http://schemas.microsoft.com/office/drawing/2014/main" id="{3732D99E-D2A1-6B7E-60F3-890B46FF888D}"/>
              </a:ext>
            </a:extLst>
          </p:cNvPr>
          <p:cNvSpPr>
            <a:spLocks noChangeArrowheads="1"/>
          </p:cNvSpPr>
          <p:nvPr/>
        </p:nvSpPr>
        <p:spPr bwMode="auto">
          <a:xfrm>
            <a:off x="6169344" y="3304108"/>
            <a:ext cx="223200" cy="244800"/>
          </a:xfrm>
          <a:prstGeom prst="rect">
            <a:avLst/>
          </a:prstGeom>
          <a:solidFill>
            <a:schemeClr val="accent2"/>
          </a:solidFill>
          <a:ln w="9525">
            <a:solidFill>
              <a:schemeClr val="tx1"/>
            </a:solidFill>
            <a:miter lim="800000"/>
          </a:ln>
          <a:effectLst/>
        </p:spPr>
        <p:txBody>
          <a:bodyPr wrap="none" anchor="ctr"/>
          <a:lstStyle/>
          <a:p>
            <a:pPr algn="ctr"/>
            <a:r>
              <a:rPr lang="en-US" altLang="zh-CN" sz="1000" dirty="0"/>
              <a:t>H</a:t>
            </a:r>
            <a:r>
              <a:rPr lang="en-US" altLang="zh-CN" sz="1000" baseline="-25000" dirty="0"/>
              <a:t>5</a:t>
            </a:r>
          </a:p>
        </p:txBody>
      </p:sp>
      <p:sp>
        <p:nvSpPr>
          <p:cNvPr id="158" name="Rectangle 49">
            <a:extLst>
              <a:ext uri="{FF2B5EF4-FFF2-40B4-BE49-F238E27FC236}">
                <a16:creationId xmlns:a16="http://schemas.microsoft.com/office/drawing/2014/main" id="{D8317981-7805-77C0-F34C-AE545C9E9DCE}"/>
              </a:ext>
            </a:extLst>
          </p:cNvPr>
          <p:cNvSpPr>
            <a:spLocks noChangeArrowheads="1"/>
          </p:cNvSpPr>
          <p:nvPr/>
        </p:nvSpPr>
        <p:spPr bwMode="auto">
          <a:xfrm>
            <a:off x="6392544" y="3304109"/>
            <a:ext cx="446400" cy="244800"/>
          </a:xfrm>
          <a:prstGeom prst="rect">
            <a:avLst/>
          </a:prstGeom>
          <a:solidFill>
            <a:schemeClr val="bg1"/>
          </a:solidFill>
          <a:ln w="9525">
            <a:solidFill>
              <a:schemeClr val="tx1"/>
            </a:solidFill>
            <a:miter lim="800000"/>
          </a:ln>
        </p:spPr>
        <p:txBody>
          <a:bodyPr wrap="none" anchor="ctr"/>
          <a:lstStyle/>
          <a:p>
            <a:pPr algn="ctr"/>
            <a:r>
              <a:rPr lang="zh-CN" altLang="en-US" sz="1000" dirty="0"/>
              <a:t>数 据</a:t>
            </a:r>
          </a:p>
        </p:txBody>
      </p:sp>
      <p:sp>
        <p:nvSpPr>
          <p:cNvPr id="160" name="Rectangle 35">
            <a:extLst>
              <a:ext uri="{FF2B5EF4-FFF2-40B4-BE49-F238E27FC236}">
                <a16:creationId xmlns:a16="http://schemas.microsoft.com/office/drawing/2014/main" id="{AEA543E2-4278-30B6-8802-D9BDB628B37F}"/>
              </a:ext>
            </a:extLst>
          </p:cNvPr>
          <p:cNvSpPr>
            <a:spLocks noChangeArrowheads="1"/>
          </p:cNvSpPr>
          <p:nvPr/>
        </p:nvSpPr>
        <p:spPr bwMode="auto">
          <a:xfrm>
            <a:off x="5489148" y="3671598"/>
            <a:ext cx="1598222" cy="244475"/>
          </a:xfrm>
          <a:prstGeom prst="rect">
            <a:avLst/>
          </a:prstGeom>
          <a:ln w="9525">
            <a:solidFill>
              <a:schemeClr val="tx1"/>
            </a:solidFill>
            <a:miter lim="800000"/>
          </a:ln>
        </p:spPr>
        <p:txBody>
          <a:bodyPr wrap="none" anchor="ctr"/>
          <a:lstStyle/>
          <a:p>
            <a:pPr algn="ctr"/>
            <a:r>
              <a:rPr lang="en-US" altLang="zh-CN" sz="1000" dirty="0">
                <a:solidFill>
                  <a:srgbClr val="FF0000"/>
                </a:solidFill>
                <a:latin typeface="+mj-lt"/>
                <a:ea typeface="+mj-ea"/>
              </a:rPr>
              <a:t>10101 </a:t>
            </a:r>
            <a:r>
              <a:rPr lang="zh-CN" altLang="en-US" sz="1000" dirty="0">
                <a:solidFill>
                  <a:srgbClr val="FF0000"/>
                </a:solidFill>
                <a:latin typeface="+mj-lt"/>
                <a:ea typeface="+mj-ea"/>
              </a:rPr>
              <a:t>比特</a:t>
            </a:r>
            <a:r>
              <a:rPr lang="zh-CN" altLang="en-US" sz="1000">
                <a:solidFill>
                  <a:srgbClr val="FF0000"/>
                </a:solidFill>
                <a:latin typeface="+mj-lt"/>
                <a:ea typeface="+mj-ea"/>
              </a:rPr>
              <a:t>流 </a:t>
            </a:r>
            <a:r>
              <a:rPr lang="en-US" altLang="zh-CN" sz="1000" dirty="0">
                <a:solidFill>
                  <a:srgbClr val="FF0000"/>
                </a:solidFill>
                <a:latin typeface="+mj-lt"/>
                <a:ea typeface="+mj-ea"/>
              </a:rPr>
              <a:t>110111</a:t>
            </a:r>
          </a:p>
        </p:txBody>
      </p:sp>
      <p:sp>
        <p:nvSpPr>
          <p:cNvPr id="162" name="Rectangle 42">
            <a:extLst>
              <a:ext uri="{FF2B5EF4-FFF2-40B4-BE49-F238E27FC236}">
                <a16:creationId xmlns:a16="http://schemas.microsoft.com/office/drawing/2014/main" id="{6146F5C0-EA6E-8CB1-60A2-B34BFCE969AF}"/>
              </a:ext>
            </a:extLst>
          </p:cNvPr>
          <p:cNvSpPr>
            <a:spLocks noChangeArrowheads="1"/>
          </p:cNvSpPr>
          <p:nvPr/>
        </p:nvSpPr>
        <p:spPr bwMode="auto">
          <a:xfrm>
            <a:off x="5946144" y="2932328"/>
            <a:ext cx="223200" cy="244800"/>
          </a:xfrm>
          <a:prstGeom prst="rect">
            <a:avLst/>
          </a:prstGeom>
          <a:solidFill>
            <a:srgbClr val="FFC000"/>
          </a:solidFill>
          <a:ln w="9525">
            <a:solidFill>
              <a:schemeClr val="tx1"/>
            </a:solidFill>
            <a:miter lim="800000"/>
          </a:ln>
          <a:effectLst/>
        </p:spPr>
        <p:txBody>
          <a:bodyPr wrap="none" anchor="ctr"/>
          <a:lstStyle/>
          <a:p>
            <a:pPr algn="ctr"/>
            <a:r>
              <a:rPr lang="en-US" altLang="zh-CN" sz="1000" dirty="0"/>
              <a:t>H</a:t>
            </a:r>
            <a:r>
              <a:rPr lang="en-US" altLang="zh-CN" sz="1000" baseline="-25000" dirty="0"/>
              <a:t>4</a:t>
            </a:r>
          </a:p>
        </p:txBody>
      </p:sp>
      <p:sp>
        <p:nvSpPr>
          <p:cNvPr id="164" name="Rectangle 43">
            <a:extLst>
              <a:ext uri="{FF2B5EF4-FFF2-40B4-BE49-F238E27FC236}">
                <a16:creationId xmlns:a16="http://schemas.microsoft.com/office/drawing/2014/main" id="{F6CAA96D-35FB-8E76-DFE0-0C0C28DE53A1}"/>
              </a:ext>
            </a:extLst>
          </p:cNvPr>
          <p:cNvSpPr>
            <a:spLocks noChangeArrowheads="1"/>
          </p:cNvSpPr>
          <p:nvPr/>
        </p:nvSpPr>
        <p:spPr bwMode="auto">
          <a:xfrm>
            <a:off x="6169344" y="2932328"/>
            <a:ext cx="223200" cy="244800"/>
          </a:xfrm>
          <a:prstGeom prst="rect">
            <a:avLst/>
          </a:prstGeom>
          <a:solidFill>
            <a:schemeClr val="accent2"/>
          </a:solidFill>
          <a:ln w="9525">
            <a:solidFill>
              <a:schemeClr val="tx1"/>
            </a:solidFill>
            <a:miter lim="800000"/>
          </a:ln>
          <a:effectLst/>
        </p:spPr>
        <p:txBody>
          <a:bodyPr wrap="none" anchor="ctr"/>
          <a:lstStyle/>
          <a:p>
            <a:pPr algn="ctr"/>
            <a:r>
              <a:rPr lang="en-US" altLang="zh-CN" sz="1000" dirty="0"/>
              <a:t>H</a:t>
            </a:r>
            <a:r>
              <a:rPr lang="en-US" altLang="zh-CN" sz="1000" baseline="-25000" dirty="0"/>
              <a:t>5</a:t>
            </a:r>
          </a:p>
        </p:txBody>
      </p:sp>
      <p:sp>
        <p:nvSpPr>
          <p:cNvPr id="166" name="Rectangle 44">
            <a:extLst>
              <a:ext uri="{FF2B5EF4-FFF2-40B4-BE49-F238E27FC236}">
                <a16:creationId xmlns:a16="http://schemas.microsoft.com/office/drawing/2014/main" id="{1C04A827-BFDA-C735-4532-15EF314E2EFA}"/>
              </a:ext>
            </a:extLst>
          </p:cNvPr>
          <p:cNvSpPr>
            <a:spLocks noChangeArrowheads="1"/>
          </p:cNvSpPr>
          <p:nvPr/>
        </p:nvSpPr>
        <p:spPr bwMode="auto">
          <a:xfrm>
            <a:off x="6392544" y="2932328"/>
            <a:ext cx="446400" cy="244800"/>
          </a:xfrm>
          <a:prstGeom prst="rect">
            <a:avLst/>
          </a:prstGeom>
          <a:solidFill>
            <a:schemeClr val="bg1"/>
          </a:solidFill>
          <a:ln w="9525">
            <a:solidFill>
              <a:schemeClr val="tx1"/>
            </a:solidFill>
            <a:miter lim="800000"/>
          </a:ln>
        </p:spPr>
        <p:txBody>
          <a:bodyPr wrap="none" anchor="ctr"/>
          <a:lstStyle/>
          <a:p>
            <a:pPr algn="ctr"/>
            <a:r>
              <a:rPr lang="zh-CN" altLang="en-US" sz="1000" dirty="0"/>
              <a:t>数 据</a:t>
            </a:r>
          </a:p>
        </p:txBody>
      </p:sp>
      <p:sp>
        <p:nvSpPr>
          <p:cNvPr id="168" name="Rectangle 70">
            <a:extLst>
              <a:ext uri="{FF2B5EF4-FFF2-40B4-BE49-F238E27FC236}">
                <a16:creationId xmlns:a16="http://schemas.microsoft.com/office/drawing/2014/main" id="{93642515-909D-8DF5-55FD-ACC95F6A3FF8}"/>
              </a:ext>
            </a:extLst>
          </p:cNvPr>
          <p:cNvSpPr>
            <a:spLocks noChangeArrowheads="1"/>
          </p:cNvSpPr>
          <p:nvPr/>
        </p:nvSpPr>
        <p:spPr bwMode="auto">
          <a:xfrm>
            <a:off x="5722944" y="2932758"/>
            <a:ext cx="223200" cy="244800"/>
          </a:xfrm>
          <a:prstGeom prst="rect">
            <a:avLst/>
          </a:prstGeom>
          <a:solidFill>
            <a:srgbClr val="00B0F0"/>
          </a:solidFill>
          <a:ln w="9525">
            <a:solidFill>
              <a:schemeClr val="tx1"/>
            </a:solidFill>
            <a:miter lim="800000"/>
          </a:ln>
          <a:effectLst/>
        </p:spPr>
        <p:txBody>
          <a:bodyPr wrap="none" anchor="ctr"/>
          <a:lstStyle/>
          <a:p>
            <a:pPr algn="ctr"/>
            <a:r>
              <a:rPr lang="en-US" altLang="zh-CN" sz="1000" dirty="0"/>
              <a:t>H</a:t>
            </a:r>
            <a:r>
              <a:rPr lang="en-US" altLang="zh-CN" sz="1000" baseline="-25000" dirty="0"/>
              <a:t>3</a:t>
            </a:r>
          </a:p>
        </p:txBody>
      </p:sp>
      <p:sp>
        <p:nvSpPr>
          <p:cNvPr id="170" name="Rectangle 39">
            <a:extLst>
              <a:ext uri="{FF2B5EF4-FFF2-40B4-BE49-F238E27FC236}">
                <a16:creationId xmlns:a16="http://schemas.microsoft.com/office/drawing/2014/main" id="{C4E4CF27-A953-5F04-85A9-262C6B0239AC}"/>
              </a:ext>
            </a:extLst>
          </p:cNvPr>
          <p:cNvSpPr>
            <a:spLocks noChangeArrowheads="1"/>
          </p:cNvSpPr>
          <p:nvPr/>
        </p:nvSpPr>
        <p:spPr bwMode="auto">
          <a:xfrm>
            <a:off x="6169344" y="2554801"/>
            <a:ext cx="223200" cy="244800"/>
          </a:xfrm>
          <a:prstGeom prst="rect">
            <a:avLst/>
          </a:prstGeom>
          <a:solidFill>
            <a:schemeClr val="accent2"/>
          </a:solidFill>
          <a:ln w="9525">
            <a:solidFill>
              <a:schemeClr val="tx1"/>
            </a:solidFill>
            <a:miter lim="800000"/>
          </a:ln>
          <a:effectLst/>
        </p:spPr>
        <p:txBody>
          <a:bodyPr wrap="none" anchor="ctr"/>
          <a:lstStyle/>
          <a:p>
            <a:pPr algn="ctr" fontAlgn="auto">
              <a:spcBef>
                <a:spcPts val="0"/>
              </a:spcBef>
              <a:spcAft>
                <a:spcPts val="0"/>
              </a:spcAft>
              <a:defRPr/>
            </a:pPr>
            <a:r>
              <a:rPr lang="en-US" altLang="zh-CN" sz="1000" dirty="0"/>
              <a:t>H</a:t>
            </a:r>
            <a:r>
              <a:rPr lang="en-US" altLang="zh-CN" sz="1000" baseline="-25000" dirty="0"/>
              <a:t>5</a:t>
            </a:r>
          </a:p>
        </p:txBody>
      </p:sp>
      <p:sp>
        <p:nvSpPr>
          <p:cNvPr id="172" name="Rectangle 40">
            <a:extLst>
              <a:ext uri="{FF2B5EF4-FFF2-40B4-BE49-F238E27FC236}">
                <a16:creationId xmlns:a16="http://schemas.microsoft.com/office/drawing/2014/main" id="{91579417-0A8D-84FE-0241-666319B25DC9}"/>
              </a:ext>
            </a:extLst>
          </p:cNvPr>
          <p:cNvSpPr>
            <a:spLocks noChangeArrowheads="1"/>
          </p:cNvSpPr>
          <p:nvPr/>
        </p:nvSpPr>
        <p:spPr bwMode="auto">
          <a:xfrm>
            <a:off x="6392544" y="2554801"/>
            <a:ext cx="446400" cy="244800"/>
          </a:xfrm>
          <a:prstGeom prst="rect">
            <a:avLst/>
          </a:prstGeom>
          <a:solidFill>
            <a:schemeClr val="bg1"/>
          </a:solidFill>
          <a:ln w="9525">
            <a:solidFill>
              <a:schemeClr val="tx1"/>
            </a:solidFill>
            <a:miter lim="800000"/>
          </a:ln>
        </p:spPr>
        <p:txBody>
          <a:bodyPr wrap="none" anchor="ctr"/>
          <a:lstStyle/>
          <a:p>
            <a:pPr algn="ctr"/>
            <a:r>
              <a:rPr lang="zh-CN" altLang="en-US" sz="1000" dirty="0"/>
              <a:t>数 据</a:t>
            </a:r>
          </a:p>
        </p:txBody>
      </p:sp>
      <p:sp>
        <p:nvSpPr>
          <p:cNvPr id="174" name="Rectangle 66">
            <a:extLst>
              <a:ext uri="{FF2B5EF4-FFF2-40B4-BE49-F238E27FC236}">
                <a16:creationId xmlns:a16="http://schemas.microsoft.com/office/drawing/2014/main" id="{5199EDF3-CA58-D141-58AE-3CAEB32E33B4}"/>
              </a:ext>
            </a:extLst>
          </p:cNvPr>
          <p:cNvSpPr>
            <a:spLocks noChangeArrowheads="1"/>
          </p:cNvSpPr>
          <p:nvPr/>
        </p:nvSpPr>
        <p:spPr bwMode="auto">
          <a:xfrm>
            <a:off x="5946144" y="2554262"/>
            <a:ext cx="223200" cy="244800"/>
          </a:xfrm>
          <a:prstGeom prst="rect">
            <a:avLst/>
          </a:prstGeom>
          <a:solidFill>
            <a:srgbClr val="FFC000"/>
          </a:solidFill>
          <a:ln w="9525">
            <a:solidFill>
              <a:schemeClr val="tx1"/>
            </a:solidFill>
            <a:miter lim="800000"/>
          </a:ln>
          <a:effectLst/>
        </p:spPr>
        <p:txBody>
          <a:bodyPr wrap="none" anchor="ctr"/>
          <a:lstStyle/>
          <a:p>
            <a:pPr algn="ctr"/>
            <a:r>
              <a:rPr lang="en-US" altLang="zh-CN" sz="1000" dirty="0"/>
              <a:t>H</a:t>
            </a:r>
            <a:r>
              <a:rPr lang="en-US" altLang="zh-CN" sz="1000" baseline="-25000" dirty="0"/>
              <a:t>4</a:t>
            </a:r>
          </a:p>
        </p:txBody>
      </p:sp>
      <p:sp>
        <p:nvSpPr>
          <p:cNvPr id="176" name="Rectangle 34">
            <a:extLst>
              <a:ext uri="{FF2B5EF4-FFF2-40B4-BE49-F238E27FC236}">
                <a16:creationId xmlns:a16="http://schemas.microsoft.com/office/drawing/2014/main" id="{26CF4EB2-5743-BE7A-2F2C-F42FB1D8B7D5}"/>
              </a:ext>
            </a:extLst>
          </p:cNvPr>
          <p:cNvSpPr>
            <a:spLocks noChangeArrowheads="1"/>
          </p:cNvSpPr>
          <p:nvPr/>
        </p:nvSpPr>
        <p:spPr bwMode="auto">
          <a:xfrm>
            <a:off x="6169344" y="2209527"/>
            <a:ext cx="223200" cy="244800"/>
          </a:xfrm>
          <a:prstGeom prst="rect">
            <a:avLst/>
          </a:prstGeom>
          <a:solidFill>
            <a:schemeClr val="accent2"/>
          </a:solidFill>
          <a:ln w="9525">
            <a:solidFill>
              <a:schemeClr val="tx1"/>
            </a:solidFill>
            <a:miter lim="800000"/>
          </a:ln>
          <a:effectLst/>
        </p:spPr>
        <p:txBody>
          <a:bodyPr wrap="none" anchor="ctr"/>
          <a:lstStyle/>
          <a:p>
            <a:pPr algn="ctr"/>
            <a:r>
              <a:rPr lang="en-US" altLang="zh-CN" sz="1000" dirty="0"/>
              <a:t>H</a:t>
            </a:r>
            <a:r>
              <a:rPr lang="en-US" altLang="zh-CN" sz="1000" baseline="-25000" dirty="0"/>
              <a:t>5</a:t>
            </a:r>
          </a:p>
        </p:txBody>
      </p:sp>
      <p:sp>
        <p:nvSpPr>
          <p:cNvPr id="178" name="Rectangle 37">
            <a:extLst>
              <a:ext uri="{FF2B5EF4-FFF2-40B4-BE49-F238E27FC236}">
                <a16:creationId xmlns:a16="http://schemas.microsoft.com/office/drawing/2014/main" id="{913CDFFA-3B69-645E-2A53-FA334FD241BD}"/>
              </a:ext>
            </a:extLst>
          </p:cNvPr>
          <p:cNvSpPr>
            <a:spLocks noChangeArrowheads="1"/>
          </p:cNvSpPr>
          <p:nvPr/>
        </p:nvSpPr>
        <p:spPr bwMode="auto">
          <a:xfrm>
            <a:off x="6392544" y="2209195"/>
            <a:ext cx="446400" cy="244800"/>
          </a:xfrm>
          <a:prstGeom prst="rect">
            <a:avLst/>
          </a:prstGeom>
          <a:solidFill>
            <a:schemeClr val="bg1"/>
          </a:solidFill>
          <a:ln w="9525">
            <a:solidFill>
              <a:schemeClr val="tx1"/>
            </a:solidFill>
            <a:miter lim="800000"/>
          </a:ln>
        </p:spPr>
        <p:txBody>
          <a:bodyPr wrap="none" anchor="ctr"/>
          <a:lstStyle/>
          <a:p>
            <a:pPr algn="ctr"/>
            <a:r>
              <a:rPr lang="zh-CN" altLang="en-US" sz="1000" dirty="0"/>
              <a:t>数 据</a:t>
            </a:r>
          </a:p>
        </p:txBody>
      </p:sp>
    </p:spTree>
    <p:extLst>
      <p:ext uri="{BB962C8B-B14F-4D97-AF65-F5344CB8AC3E}">
        <p14:creationId xmlns:p14="http://schemas.microsoft.com/office/powerpoint/2010/main" val="2559301630"/>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4" fill="hold" grpId="0" nodeType="afterEffect">
                                  <p:stCondLst>
                                    <p:cond delay="0"/>
                                  </p:stCondLst>
                                  <p:childTnLst>
                                    <p:set>
                                      <p:cBhvr>
                                        <p:cTn id="6" dur="1" fill="hold">
                                          <p:stCondLst>
                                            <p:cond delay="0"/>
                                          </p:stCondLst>
                                        </p:cTn>
                                        <p:tgtEl>
                                          <p:spTgt spid="123"/>
                                        </p:tgtEl>
                                        <p:attrNameLst>
                                          <p:attrName>style.visibility</p:attrName>
                                        </p:attrNameLst>
                                      </p:cBhvr>
                                      <p:to>
                                        <p:strVal val="visible"/>
                                      </p:to>
                                    </p:set>
                                    <p:animEffect transition="in" filter="wipe(down)">
                                      <p:cBhvr>
                                        <p:cTn id="7" dur="1000"/>
                                        <p:tgtEl>
                                          <p:spTgt spid="1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3" grpId="0" animBg="1"/>
    </p:bldLst>
  </p:timing>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 name="AutoShape 4">
            <a:extLst>
              <a:ext uri="{FF2B5EF4-FFF2-40B4-BE49-F238E27FC236}">
                <a16:creationId xmlns:a16="http://schemas.microsoft.com/office/drawing/2014/main" id="{0D366EA5-EBE0-21F9-3F1B-7499E33F17A1}"/>
              </a:ext>
            </a:extLst>
          </p:cNvPr>
          <p:cNvSpPr>
            <a:spLocks noChangeArrowheads="1"/>
          </p:cNvSpPr>
          <p:nvPr/>
        </p:nvSpPr>
        <p:spPr bwMode="auto">
          <a:xfrm rot="16200000">
            <a:off x="2567190" y="2361728"/>
            <a:ext cx="271463" cy="3600000"/>
          </a:xfrm>
          <a:prstGeom prst="can">
            <a:avLst>
              <a:gd name="adj" fmla="val 48656"/>
            </a:avLst>
          </a:prstGeom>
          <a:gradFill rotWithShape="0">
            <a:gsLst>
              <a:gs pos="0">
                <a:srgbClr val="00CC00"/>
              </a:gs>
              <a:gs pos="50000">
                <a:schemeClr val="bg1"/>
              </a:gs>
              <a:gs pos="100000">
                <a:srgbClr val="00CC00"/>
              </a:gs>
            </a:gsLst>
            <a:lin ang="5400000" scaled="1"/>
          </a:gradFill>
          <a:ln w="6350">
            <a:solidFill>
              <a:srgbClr val="7CE07C"/>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227" name="AutoShape 4">
            <a:extLst>
              <a:ext uri="{FF2B5EF4-FFF2-40B4-BE49-F238E27FC236}">
                <a16:creationId xmlns:a16="http://schemas.microsoft.com/office/drawing/2014/main" id="{F9A9D1C7-E222-A64B-8CFB-A11C29D79D37}"/>
              </a:ext>
            </a:extLst>
          </p:cNvPr>
          <p:cNvSpPr>
            <a:spLocks noChangeArrowheads="1"/>
          </p:cNvSpPr>
          <p:nvPr/>
        </p:nvSpPr>
        <p:spPr bwMode="auto">
          <a:xfrm rot="16200000">
            <a:off x="6253847" y="2361728"/>
            <a:ext cx="271463" cy="3600000"/>
          </a:xfrm>
          <a:prstGeom prst="can">
            <a:avLst>
              <a:gd name="adj" fmla="val 48656"/>
            </a:avLst>
          </a:prstGeom>
          <a:gradFill rotWithShape="0">
            <a:gsLst>
              <a:gs pos="0">
                <a:srgbClr val="00CC00"/>
              </a:gs>
              <a:gs pos="50000">
                <a:schemeClr val="bg1"/>
              </a:gs>
              <a:gs pos="100000">
                <a:srgbClr val="00CC00"/>
              </a:gs>
            </a:gsLst>
            <a:lin ang="5400000" scaled="1"/>
          </a:gradFill>
          <a:ln w="6350">
            <a:solidFill>
              <a:srgbClr val="7CE07C"/>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229" name="Text Box 26">
            <a:extLst>
              <a:ext uri="{FF2B5EF4-FFF2-40B4-BE49-F238E27FC236}">
                <a16:creationId xmlns:a16="http://schemas.microsoft.com/office/drawing/2014/main" id="{9DDC348B-8D43-80E7-FB4A-51C0815FE7B8}"/>
              </a:ext>
            </a:extLst>
          </p:cNvPr>
          <p:cNvSpPr txBox="1">
            <a:spLocks noChangeArrowheads="1"/>
          </p:cNvSpPr>
          <p:nvPr/>
        </p:nvSpPr>
        <p:spPr bwMode="auto">
          <a:xfrm>
            <a:off x="2701348" y="4023229"/>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dirty="0">
                <a:latin typeface="+mj-lt"/>
                <a:ea typeface="+mj-ea"/>
              </a:rPr>
              <a:t>物理传输媒体</a:t>
            </a:r>
          </a:p>
        </p:txBody>
      </p:sp>
      <p:sp>
        <p:nvSpPr>
          <p:cNvPr id="231" name="Text Box 26">
            <a:extLst>
              <a:ext uri="{FF2B5EF4-FFF2-40B4-BE49-F238E27FC236}">
                <a16:creationId xmlns:a16="http://schemas.microsoft.com/office/drawing/2014/main" id="{85BB280E-7B85-7808-4611-5FDBD74EAB3D}"/>
              </a:ext>
            </a:extLst>
          </p:cNvPr>
          <p:cNvSpPr txBox="1">
            <a:spLocks noChangeArrowheads="1"/>
          </p:cNvSpPr>
          <p:nvPr/>
        </p:nvSpPr>
        <p:spPr bwMode="auto">
          <a:xfrm>
            <a:off x="6193730" y="4023229"/>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dirty="0">
                <a:latin typeface="+mj-lt"/>
                <a:ea typeface="+mj-ea"/>
              </a:rPr>
              <a:t>物理传输媒体</a:t>
            </a:r>
          </a:p>
        </p:txBody>
      </p:sp>
      <p:grpSp>
        <p:nvGrpSpPr>
          <p:cNvPr id="218" name="组合 217">
            <a:extLst>
              <a:ext uri="{FF2B5EF4-FFF2-40B4-BE49-F238E27FC236}">
                <a16:creationId xmlns:a16="http://schemas.microsoft.com/office/drawing/2014/main" id="{57339269-887A-D4CD-0CE3-4F1B885E6CEC}"/>
              </a:ext>
            </a:extLst>
          </p:cNvPr>
          <p:cNvGrpSpPr/>
          <p:nvPr/>
        </p:nvGrpSpPr>
        <p:grpSpPr>
          <a:xfrm>
            <a:off x="3960000" y="2808000"/>
            <a:ext cx="1080000" cy="1080000"/>
            <a:chOff x="2807995" y="2745746"/>
            <a:chExt cx="1080000" cy="1080000"/>
          </a:xfrm>
        </p:grpSpPr>
        <p:sp>
          <p:nvSpPr>
            <p:cNvPr id="219" name="立方体 218">
              <a:extLst>
                <a:ext uri="{FF2B5EF4-FFF2-40B4-BE49-F238E27FC236}">
                  <a16:creationId xmlns:a16="http://schemas.microsoft.com/office/drawing/2014/main" id="{8B59F5AA-14BF-26D7-E3D1-052FC9381EC0}"/>
                </a:ext>
              </a:extLst>
            </p:cNvPr>
            <p:cNvSpPr/>
            <p:nvPr/>
          </p:nvSpPr>
          <p:spPr>
            <a:xfrm>
              <a:off x="2807995" y="3393746"/>
              <a:ext cx="594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sz="1050" dirty="0">
                  <a:solidFill>
                    <a:schemeClr val="bg1"/>
                  </a:solidFill>
                </a:rPr>
                <a:t>1</a:t>
              </a:r>
              <a:endParaRPr lang="zh-CN" altLang="en-US" sz="1050" dirty="0">
                <a:solidFill>
                  <a:schemeClr val="bg1"/>
                </a:solidFill>
              </a:endParaRPr>
            </a:p>
          </p:txBody>
        </p:sp>
        <p:sp>
          <p:nvSpPr>
            <p:cNvPr id="220" name="立方体 219">
              <a:extLst>
                <a:ext uri="{FF2B5EF4-FFF2-40B4-BE49-F238E27FC236}">
                  <a16:creationId xmlns:a16="http://schemas.microsoft.com/office/drawing/2014/main" id="{E805A689-5135-B0AE-8A06-DCC70DF20539}"/>
                </a:ext>
              </a:extLst>
            </p:cNvPr>
            <p:cNvSpPr/>
            <p:nvPr/>
          </p:nvSpPr>
          <p:spPr>
            <a:xfrm>
              <a:off x="2807995" y="3069746"/>
              <a:ext cx="594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sz="1050" dirty="0">
                  <a:solidFill>
                    <a:schemeClr val="bg1"/>
                  </a:solidFill>
                </a:rPr>
                <a:t>2</a:t>
              </a:r>
              <a:endParaRPr lang="zh-CN" altLang="en-US" sz="1050" dirty="0">
                <a:solidFill>
                  <a:schemeClr val="bg1"/>
                </a:solidFill>
              </a:endParaRPr>
            </a:p>
          </p:txBody>
        </p:sp>
        <p:sp>
          <p:nvSpPr>
            <p:cNvPr id="221" name="立方体 220">
              <a:extLst>
                <a:ext uri="{FF2B5EF4-FFF2-40B4-BE49-F238E27FC236}">
                  <a16:creationId xmlns:a16="http://schemas.microsoft.com/office/drawing/2014/main" id="{C1119D20-DC28-32F1-8912-D801B5639931}"/>
                </a:ext>
              </a:extLst>
            </p:cNvPr>
            <p:cNvSpPr/>
            <p:nvPr/>
          </p:nvSpPr>
          <p:spPr>
            <a:xfrm>
              <a:off x="3293995" y="3393746"/>
              <a:ext cx="594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sz="1050" dirty="0">
                  <a:solidFill>
                    <a:schemeClr val="bg1"/>
                  </a:solidFill>
                </a:rPr>
                <a:t>1</a:t>
              </a:r>
              <a:endParaRPr lang="zh-CN" altLang="en-US" sz="1050" dirty="0">
                <a:solidFill>
                  <a:schemeClr val="bg1"/>
                </a:solidFill>
              </a:endParaRPr>
            </a:p>
          </p:txBody>
        </p:sp>
        <p:sp>
          <p:nvSpPr>
            <p:cNvPr id="222" name="立方体 221">
              <a:extLst>
                <a:ext uri="{FF2B5EF4-FFF2-40B4-BE49-F238E27FC236}">
                  <a16:creationId xmlns:a16="http://schemas.microsoft.com/office/drawing/2014/main" id="{1CEC2239-4208-8C60-3921-5B2D5677F22B}"/>
                </a:ext>
              </a:extLst>
            </p:cNvPr>
            <p:cNvSpPr/>
            <p:nvPr/>
          </p:nvSpPr>
          <p:spPr>
            <a:xfrm>
              <a:off x="3293995" y="3069746"/>
              <a:ext cx="594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sz="1050" dirty="0">
                  <a:solidFill>
                    <a:schemeClr val="bg1"/>
                  </a:solidFill>
                </a:rPr>
                <a:t>2</a:t>
              </a:r>
              <a:endParaRPr lang="zh-CN" altLang="en-US" sz="1050" dirty="0">
                <a:solidFill>
                  <a:schemeClr val="bg1"/>
                </a:solidFill>
              </a:endParaRPr>
            </a:p>
          </p:txBody>
        </p:sp>
        <p:sp>
          <p:nvSpPr>
            <p:cNvPr id="223" name="立方体 222">
              <a:extLst>
                <a:ext uri="{FF2B5EF4-FFF2-40B4-BE49-F238E27FC236}">
                  <a16:creationId xmlns:a16="http://schemas.microsoft.com/office/drawing/2014/main" id="{5888E8BD-0390-3F59-3D0A-17BB17C8B26A}"/>
                </a:ext>
              </a:extLst>
            </p:cNvPr>
            <p:cNvSpPr/>
            <p:nvPr/>
          </p:nvSpPr>
          <p:spPr>
            <a:xfrm>
              <a:off x="2807995" y="2745746"/>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pPr algn="ctr"/>
              <a:r>
                <a:rPr lang="en-US" altLang="zh-CN" sz="1050" dirty="0">
                  <a:solidFill>
                    <a:schemeClr val="bg1"/>
                  </a:solidFill>
                </a:rPr>
                <a:t>3</a:t>
              </a:r>
              <a:endParaRPr lang="zh-CN" altLang="en-US" sz="1050" dirty="0">
                <a:solidFill>
                  <a:schemeClr val="bg1"/>
                </a:solidFill>
              </a:endParaRPr>
            </a:p>
          </p:txBody>
        </p:sp>
      </p:grpSp>
      <p:grpSp>
        <p:nvGrpSpPr>
          <p:cNvPr id="79" name="组合 78">
            <a:extLst>
              <a:ext uri="{FF2B5EF4-FFF2-40B4-BE49-F238E27FC236}">
                <a16:creationId xmlns:a16="http://schemas.microsoft.com/office/drawing/2014/main" id="{8E1B7AAF-9C2A-D5D7-CD73-9EE5C8CC92DE}"/>
              </a:ext>
            </a:extLst>
          </p:cNvPr>
          <p:cNvGrpSpPr/>
          <p:nvPr/>
        </p:nvGrpSpPr>
        <p:grpSpPr>
          <a:xfrm>
            <a:off x="7395732" y="1800000"/>
            <a:ext cx="1080000" cy="2088000"/>
            <a:chOff x="701211" y="1800000"/>
            <a:chExt cx="1080000" cy="2088000"/>
          </a:xfrm>
        </p:grpSpPr>
        <p:sp>
          <p:nvSpPr>
            <p:cNvPr id="80" name="立方体 79">
              <a:extLst>
                <a:ext uri="{FF2B5EF4-FFF2-40B4-BE49-F238E27FC236}">
                  <a16:creationId xmlns:a16="http://schemas.microsoft.com/office/drawing/2014/main" id="{AF6C82CA-1EEA-4211-29C6-8CBB865055EC}"/>
                </a:ext>
              </a:extLst>
            </p:cNvPr>
            <p:cNvSpPr/>
            <p:nvPr/>
          </p:nvSpPr>
          <p:spPr>
            <a:xfrm>
              <a:off x="701211" y="3456000"/>
              <a:ext cx="108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050" dirty="0">
                  <a:solidFill>
                    <a:schemeClr val="bg1"/>
                  </a:solidFill>
                </a:rPr>
                <a:t>1 </a:t>
              </a:r>
              <a:r>
                <a:rPr lang="zh-CN" altLang="en-US" sz="1050" dirty="0">
                  <a:solidFill>
                    <a:schemeClr val="bg1"/>
                  </a:solidFill>
                </a:rPr>
                <a:t>物理层</a:t>
              </a:r>
            </a:p>
          </p:txBody>
        </p:sp>
        <p:sp>
          <p:nvSpPr>
            <p:cNvPr id="81" name="立方体 80">
              <a:extLst>
                <a:ext uri="{FF2B5EF4-FFF2-40B4-BE49-F238E27FC236}">
                  <a16:creationId xmlns:a16="http://schemas.microsoft.com/office/drawing/2014/main" id="{CD0854C7-02C7-31F6-03F7-A1ED49DAC488}"/>
                </a:ext>
              </a:extLst>
            </p:cNvPr>
            <p:cNvSpPr/>
            <p:nvPr/>
          </p:nvSpPr>
          <p:spPr>
            <a:xfrm>
              <a:off x="701211" y="3132000"/>
              <a:ext cx="108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050" dirty="0">
                  <a:solidFill>
                    <a:schemeClr val="bg1"/>
                  </a:solidFill>
                </a:rPr>
                <a:t>2 </a:t>
              </a:r>
              <a:r>
                <a:rPr lang="zh-CN" altLang="en-US" sz="1050" dirty="0">
                  <a:solidFill>
                    <a:schemeClr val="bg1"/>
                  </a:solidFill>
                </a:rPr>
                <a:t>数据链路层</a:t>
              </a:r>
            </a:p>
          </p:txBody>
        </p:sp>
        <p:sp>
          <p:nvSpPr>
            <p:cNvPr id="84" name="立方体 83">
              <a:extLst>
                <a:ext uri="{FF2B5EF4-FFF2-40B4-BE49-F238E27FC236}">
                  <a16:creationId xmlns:a16="http://schemas.microsoft.com/office/drawing/2014/main" id="{515C826A-6DD0-42A3-C386-7B74EBED47DA}"/>
                </a:ext>
              </a:extLst>
            </p:cNvPr>
            <p:cNvSpPr/>
            <p:nvPr/>
          </p:nvSpPr>
          <p:spPr>
            <a:xfrm>
              <a:off x="701211" y="2808000"/>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050" dirty="0">
                  <a:solidFill>
                    <a:schemeClr val="bg1"/>
                  </a:solidFill>
                </a:rPr>
                <a:t>3 </a:t>
              </a:r>
              <a:r>
                <a:rPr lang="zh-CN" altLang="en-US" sz="1050" dirty="0">
                  <a:solidFill>
                    <a:schemeClr val="bg1"/>
                  </a:solidFill>
                </a:rPr>
                <a:t>网络层</a:t>
              </a:r>
            </a:p>
          </p:txBody>
        </p:sp>
        <p:sp>
          <p:nvSpPr>
            <p:cNvPr id="85" name="立方体 84">
              <a:extLst>
                <a:ext uri="{FF2B5EF4-FFF2-40B4-BE49-F238E27FC236}">
                  <a16:creationId xmlns:a16="http://schemas.microsoft.com/office/drawing/2014/main" id="{CCFE6848-8846-5297-765A-3FBB22503A8D}"/>
                </a:ext>
              </a:extLst>
            </p:cNvPr>
            <p:cNvSpPr/>
            <p:nvPr/>
          </p:nvSpPr>
          <p:spPr>
            <a:xfrm>
              <a:off x="701211" y="2484000"/>
              <a:ext cx="108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050" dirty="0">
                  <a:solidFill>
                    <a:schemeClr val="bg1"/>
                  </a:solidFill>
                </a:rPr>
                <a:t>4 </a:t>
              </a:r>
              <a:r>
                <a:rPr lang="zh-CN" altLang="en-US" sz="1050" dirty="0">
                  <a:solidFill>
                    <a:schemeClr val="bg1"/>
                  </a:solidFill>
                </a:rPr>
                <a:t>运输层</a:t>
              </a:r>
            </a:p>
          </p:txBody>
        </p:sp>
        <p:sp>
          <p:nvSpPr>
            <p:cNvPr id="113" name="立方体 112">
              <a:extLst>
                <a:ext uri="{FF2B5EF4-FFF2-40B4-BE49-F238E27FC236}">
                  <a16:creationId xmlns:a16="http://schemas.microsoft.com/office/drawing/2014/main" id="{301280DA-3AB6-2022-2199-E8B22266EC32}"/>
                </a:ext>
              </a:extLst>
            </p:cNvPr>
            <p:cNvSpPr/>
            <p:nvPr/>
          </p:nvSpPr>
          <p:spPr>
            <a:xfrm>
              <a:off x="701211" y="2160000"/>
              <a:ext cx="108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050" dirty="0">
                  <a:solidFill>
                    <a:schemeClr val="bg1"/>
                  </a:solidFill>
                </a:rPr>
                <a:t>5 </a:t>
              </a:r>
              <a:r>
                <a:rPr lang="zh-CN" altLang="en-US" sz="1050" dirty="0">
                  <a:solidFill>
                    <a:schemeClr val="bg1"/>
                  </a:solidFill>
                </a:rPr>
                <a:t>应用层</a:t>
              </a:r>
            </a:p>
          </p:txBody>
        </p:sp>
        <p:sp>
          <p:nvSpPr>
            <p:cNvPr id="114" name="圆柱体 113">
              <a:extLst>
                <a:ext uri="{FF2B5EF4-FFF2-40B4-BE49-F238E27FC236}">
                  <a16:creationId xmlns:a16="http://schemas.microsoft.com/office/drawing/2014/main" id="{842484A2-DDBB-73E8-D2FD-19AC3E13329C}"/>
                </a:ext>
              </a:extLst>
            </p:cNvPr>
            <p:cNvSpPr/>
            <p:nvPr/>
          </p:nvSpPr>
          <p:spPr>
            <a:xfrm>
              <a:off x="953211" y="1800000"/>
              <a:ext cx="576000" cy="360000"/>
            </a:xfrm>
            <a:prstGeom prst="can">
              <a:avLst/>
            </a:prstGeom>
            <a:solidFill>
              <a:srgbClr val="FFFF00"/>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000" dirty="0">
                  <a:solidFill>
                    <a:sysClr val="windowText" lastClr="000000"/>
                  </a:solidFill>
                </a:rPr>
                <a:t>AP1</a:t>
              </a:r>
              <a:endParaRPr lang="zh-CN" altLang="en-US" sz="1000" dirty="0">
                <a:solidFill>
                  <a:sysClr val="windowText" lastClr="000000"/>
                </a:solidFill>
              </a:endParaRPr>
            </a:p>
          </p:txBody>
        </p:sp>
      </p:grpSp>
      <p:grpSp>
        <p:nvGrpSpPr>
          <p:cNvPr id="115" name="组合 114">
            <a:extLst>
              <a:ext uri="{FF2B5EF4-FFF2-40B4-BE49-F238E27FC236}">
                <a16:creationId xmlns:a16="http://schemas.microsoft.com/office/drawing/2014/main" id="{841E29CE-834C-7BAB-9C3A-A6F5390DD76C}"/>
              </a:ext>
            </a:extLst>
          </p:cNvPr>
          <p:cNvGrpSpPr/>
          <p:nvPr/>
        </p:nvGrpSpPr>
        <p:grpSpPr>
          <a:xfrm>
            <a:off x="701211" y="1800000"/>
            <a:ext cx="1080000" cy="2088000"/>
            <a:chOff x="701211" y="1800000"/>
            <a:chExt cx="1080000" cy="2088000"/>
          </a:xfrm>
        </p:grpSpPr>
        <p:sp>
          <p:nvSpPr>
            <p:cNvPr id="136" name="立方体 135">
              <a:extLst>
                <a:ext uri="{FF2B5EF4-FFF2-40B4-BE49-F238E27FC236}">
                  <a16:creationId xmlns:a16="http://schemas.microsoft.com/office/drawing/2014/main" id="{A6D0FF1C-2637-7C65-D7E3-CD0C87FC19FB}"/>
                </a:ext>
              </a:extLst>
            </p:cNvPr>
            <p:cNvSpPr/>
            <p:nvPr/>
          </p:nvSpPr>
          <p:spPr>
            <a:xfrm>
              <a:off x="701211" y="3456000"/>
              <a:ext cx="108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050" dirty="0">
                  <a:solidFill>
                    <a:schemeClr val="bg1"/>
                  </a:solidFill>
                </a:rPr>
                <a:t>1 </a:t>
              </a:r>
              <a:r>
                <a:rPr lang="zh-CN" altLang="en-US" sz="1050" dirty="0">
                  <a:solidFill>
                    <a:schemeClr val="bg1"/>
                  </a:solidFill>
                </a:rPr>
                <a:t>物理层</a:t>
              </a:r>
            </a:p>
          </p:txBody>
        </p:sp>
        <p:sp>
          <p:nvSpPr>
            <p:cNvPr id="137" name="立方体 136">
              <a:extLst>
                <a:ext uri="{FF2B5EF4-FFF2-40B4-BE49-F238E27FC236}">
                  <a16:creationId xmlns:a16="http://schemas.microsoft.com/office/drawing/2014/main" id="{0928813B-A8AC-0829-7BDB-6E56FAFA7300}"/>
                </a:ext>
              </a:extLst>
            </p:cNvPr>
            <p:cNvSpPr/>
            <p:nvPr/>
          </p:nvSpPr>
          <p:spPr>
            <a:xfrm>
              <a:off x="701211" y="3132000"/>
              <a:ext cx="108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050" dirty="0">
                  <a:solidFill>
                    <a:schemeClr val="bg1"/>
                  </a:solidFill>
                </a:rPr>
                <a:t>2 </a:t>
              </a:r>
              <a:r>
                <a:rPr lang="zh-CN" altLang="en-US" sz="1050" dirty="0">
                  <a:solidFill>
                    <a:schemeClr val="bg1"/>
                  </a:solidFill>
                </a:rPr>
                <a:t>数据链路层</a:t>
              </a:r>
            </a:p>
          </p:txBody>
        </p:sp>
        <p:sp>
          <p:nvSpPr>
            <p:cNvPr id="138" name="立方体 137">
              <a:extLst>
                <a:ext uri="{FF2B5EF4-FFF2-40B4-BE49-F238E27FC236}">
                  <a16:creationId xmlns:a16="http://schemas.microsoft.com/office/drawing/2014/main" id="{20ECB278-5A25-4627-D454-BBE8250FE835}"/>
                </a:ext>
              </a:extLst>
            </p:cNvPr>
            <p:cNvSpPr/>
            <p:nvPr/>
          </p:nvSpPr>
          <p:spPr>
            <a:xfrm>
              <a:off x="701211" y="2808000"/>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050" dirty="0">
                  <a:solidFill>
                    <a:schemeClr val="bg1"/>
                  </a:solidFill>
                </a:rPr>
                <a:t>3 </a:t>
              </a:r>
              <a:r>
                <a:rPr lang="zh-CN" altLang="en-US" sz="1050" dirty="0">
                  <a:solidFill>
                    <a:schemeClr val="bg1"/>
                  </a:solidFill>
                </a:rPr>
                <a:t>网络层</a:t>
              </a:r>
            </a:p>
          </p:txBody>
        </p:sp>
        <p:sp>
          <p:nvSpPr>
            <p:cNvPr id="141" name="立方体 140">
              <a:extLst>
                <a:ext uri="{FF2B5EF4-FFF2-40B4-BE49-F238E27FC236}">
                  <a16:creationId xmlns:a16="http://schemas.microsoft.com/office/drawing/2014/main" id="{7437E778-F364-0376-A62D-2DE02BC30A83}"/>
                </a:ext>
              </a:extLst>
            </p:cNvPr>
            <p:cNvSpPr/>
            <p:nvPr/>
          </p:nvSpPr>
          <p:spPr>
            <a:xfrm>
              <a:off x="701211" y="2484000"/>
              <a:ext cx="108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050" dirty="0">
                  <a:solidFill>
                    <a:schemeClr val="bg1"/>
                  </a:solidFill>
                </a:rPr>
                <a:t>4 </a:t>
              </a:r>
              <a:r>
                <a:rPr lang="zh-CN" altLang="en-US" sz="1050" dirty="0">
                  <a:solidFill>
                    <a:schemeClr val="bg1"/>
                  </a:solidFill>
                </a:rPr>
                <a:t>运输层</a:t>
              </a:r>
            </a:p>
          </p:txBody>
        </p:sp>
        <p:sp>
          <p:nvSpPr>
            <p:cNvPr id="147" name="立方体 146">
              <a:extLst>
                <a:ext uri="{FF2B5EF4-FFF2-40B4-BE49-F238E27FC236}">
                  <a16:creationId xmlns:a16="http://schemas.microsoft.com/office/drawing/2014/main" id="{E5442E58-CFC3-5A1A-0A31-1AC5B3F429AA}"/>
                </a:ext>
              </a:extLst>
            </p:cNvPr>
            <p:cNvSpPr/>
            <p:nvPr/>
          </p:nvSpPr>
          <p:spPr>
            <a:xfrm>
              <a:off x="701211" y="2160000"/>
              <a:ext cx="108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050" dirty="0">
                  <a:solidFill>
                    <a:schemeClr val="bg1"/>
                  </a:solidFill>
                </a:rPr>
                <a:t>5 </a:t>
              </a:r>
              <a:r>
                <a:rPr lang="zh-CN" altLang="en-US" sz="1050" dirty="0">
                  <a:solidFill>
                    <a:schemeClr val="bg1"/>
                  </a:solidFill>
                </a:rPr>
                <a:t>应用层</a:t>
              </a:r>
            </a:p>
          </p:txBody>
        </p:sp>
        <p:sp>
          <p:nvSpPr>
            <p:cNvPr id="148" name="圆柱体 147">
              <a:extLst>
                <a:ext uri="{FF2B5EF4-FFF2-40B4-BE49-F238E27FC236}">
                  <a16:creationId xmlns:a16="http://schemas.microsoft.com/office/drawing/2014/main" id="{6A29F7A1-770C-1375-2A0B-A8510F0CD092}"/>
                </a:ext>
              </a:extLst>
            </p:cNvPr>
            <p:cNvSpPr/>
            <p:nvPr/>
          </p:nvSpPr>
          <p:spPr>
            <a:xfrm>
              <a:off x="953211" y="1800000"/>
              <a:ext cx="576000" cy="360000"/>
            </a:xfrm>
            <a:prstGeom prst="can">
              <a:avLst/>
            </a:prstGeom>
            <a:solidFill>
              <a:srgbClr val="FFFF00"/>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000" dirty="0">
                  <a:solidFill>
                    <a:sysClr val="windowText" lastClr="000000"/>
                  </a:solidFill>
                </a:rPr>
                <a:t>AP1</a:t>
              </a:r>
              <a:endParaRPr lang="zh-CN" altLang="en-US" sz="1000" dirty="0">
                <a:solidFill>
                  <a:sysClr val="windowText" lastClr="000000"/>
                </a:solidFill>
              </a:endParaRPr>
            </a:p>
          </p:txBody>
        </p:sp>
      </p:grpSp>
      <p:sp>
        <p:nvSpPr>
          <p:cNvPr id="25" name="Text Box 29"/>
          <p:cNvSpPr txBox="1">
            <a:spLocks noChangeArrowheads="1"/>
          </p:cNvSpPr>
          <p:nvPr/>
        </p:nvSpPr>
        <p:spPr bwMode="auto">
          <a:xfrm>
            <a:off x="110689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1</a:t>
            </a:r>
          </a:p>
        </p:txBody>
      </p:sp>
      <p:sp>
        <p:nvSpPr>
          <p:cNvPr id="38" name="Text Box 29"/>
          <p:cNvSpPr txBox="1">
            <a:spLocks noChangeArrowheads="1"/>
          </p:cNvSpPr>
          <p:nvPr/>
        </p:nvSpPr>
        <p:spPr bwMode="auto">
          <a:xfrm>
            <a:off x="736975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主机 </a:t>
            </a:r>
            <a:r>
              <a:rPr kumimoji="1" lang="en-US" altLang="zh-CN" sz="1200" b="1" dirty="0">
                <a:solidFill>
                  <a:srgbClr val="0000FF"/>
                </a:solidFill>
                <a:latin typeface="微软雅黑" panose="020B0503020204020204" pitchFamily="34" charset="-122"/>
                <a:ea typeface="微软雅黑" panose="020B0503020204020204" pitchFamily="34" charset="-122"/>
              </a:rPr>
              <a:t>2</a:t>
            </a:r>
          </a:p>
        </p:txBody>
      </p:sp>
      <p:sp>
        <p:nvSpPr>
          <p:cNvPr id="39" name="Text Box 29"/>
          <p:cNvSpPr txBox="1">
            <a:spLocks noChangeArrowheads="1"/>
          </p:cNvSpPr>
          <p:nvPr/>
        </p:nvSpPr>
        <p:spPr bwMode="auto">
          <a:xfrm>
            <a:off x="4160212" y="107510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b="1" dirty="0">
                <a:solidFill>
                  <a:srgbClr val="0000FF"/>
                </a:solidFill>
                <a:latin typeface="微软雅黑" panose="020B0503020204020204" pitchFamily="34" charset="-122"/>
                <a:ea typeface="微软雅黑" panose="020B0503020204020204" pitchFamily="34" charset="-122"/>
              </a:rPr>
              <a:t>路由器</a:t>
            </a:r>
            <a:endParaRPr kumimoji="1" lang="en-US" altLang="zh-CN" sz="1200" b="1" dirty="0">
              <a:solidFill>
                <a:srgbClr val="0000FF"/>
              </a:solidFill>
              <a:latin typeface="微软雅黑" panose="020B0503020204020204" pitchFamily="34" charset="-122"/>
              <a:ea typeface="微软雅黑" panose="020B0503020204020204" pitchFamily="34" charset="-122"/>
            </a:endParaRPr>
          </a:p>
        </p:txBody>
      </p:sp>
      <p:cxnSp>
        <p:nvCxnSpPr>
          <p:cNvPr id="69" name="直接连接符 68"/>
          <p:cNvCxnSpPr/>
          <p:nvPr/>
        </p:nvCxnSpPr>
        <p:spPr>
          <a:xfrm>
            <a:off x="1418143" y="1507958"/>
            <a:ext cx="6306131" cy="0"/>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pic>
        <p:nvPicPr>
          <p:cNvPr id="36"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486661" y="1312469"/>
            <a:ext cx="410222"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7"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202308" y="1312469"/>
            <a:ext cx="410223"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140" name="直接箭头连接符 139"/>
          <p:cNvCxnSpPr/>
          <p:nvPr/>
        </p:nvCxnSpPr>
        <p:spPr>
          <a:xfrm>
            <a:off x="1561619" y="1428166"/>
            <a:ext cx="5941518" cy="0"/>
          </a:xfrm>
          <a:prstGeom prst="straightConnector1">
            <a:avLst/>
          </a:prstGeom>
          <a:ln w="28575">
            <a:solidFill>
              <a:srgbClr val="CC00CC"/>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35" name="Picture 4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54124" y="1385466"/>
            <a:ext cx="454438" cy="2643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73" name="AutoShape 51"/>
          <p:cNvSpPr>
            <a:spLocks noChangeArrowheads="1"/>
          </p:cNvSpPr>
          <p:nvPr/>
        </p:nvSpPr>
        <p:spPr bwMode="auto">
          <a:xfrm flipV="1">
            <a:off x="1237476" y="2076244"/>
            <a:ext cx="145966" cy="205414"/>
          </a:xfrm>
          <a:prstGeom prst="upArrow">
            <a:avLst>
              <a:gd name="adj1" fmla="val 50000"/>
              <a:gd name="adj2" fmla="val 45968"/>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88" name="AutoShape 54"/>
          <p:cNvSpPr>
            <a:spLocks noChangeArrowheads="1"/>
          </p:cNvSpPr>
          <p:nvPr/>
        </p:nvSpPr>
        <p:spPr bwMode="auto">
          <a:xfrm rot="10800000">
            <a:off x="1237478" y="2439149"/>
            <a:ext cx="147144" cy="221279"/>
          </a:xfrm>
          <a:prstGeom prst="upArrow">
            <a:avLst>
              <a:gd name="adj1" fmla="val 50000"/>
              <a:gd name="adj2" fmla="val 498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5" name="AutoShape 57"/>
          <p:cNvSpPr>
            <a:spLocks noChangeArrowheads="1"/>
          </p:cNvSpPr>
          <p:nvPr/>
        </p:nvSpPr>
        <p:spPr bwMode="auto">
          <a:xfrm rot="10800000">
            <a:off x="1235122" y="2826328"/>
            <a:ext cx="148321" cy="222762"/>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07" name="AutoShape 57"/>
          <p:cNvSpPr>
            <a:spLocks noChangeArrowheads="1"/>
          </p:cNvSpPr>
          <p:nvPr/>
        </p:nvSpPr>
        <p:spPr bwMode="auto">
          <a:xfrm rot="10800000">
            <a:off x="1226181" y="3198896"/>
            <a:ext cx="156561" cy="213191"/>
          </a:xfrm>
          <a:prstGeom prst="upArrow">
            <a:avLst>
              <a:gd name="adj1" fmla="val 50000"/>
              <a:gd name="adj2" fmla="val 49600"/>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19" name="AutoShape 63"/>
          <p:cNvSpPr>
            <a:spLocks noChangeArrowheads="1"/>
          </p:cNvSpPr>
          <p:nvPr/>
        </p:nvSpPr>
        <p:spPr bwMode="auto">
          <a:xfrm rot="10800000">
            <a:off x="1226181" y="3567260"/>
            <a:ext cx="165978" cy="238153"/>
          </a:xfrm>
          <a:prstGeom prst="upArrow">
            <a:avLst>
              <a:gd name="adj1" fmla="val 50000"/>
              <a:gd name="adj2" fmla="val 50403"/>
            </a:avLst>
          </a:prstGeom>
          <a:solidFill>
            <a:srgbClr val="CC00CC">
              <a:alpha val="50000"/>
            </a:srgbClr>
          </a:solidFill>
          <a:ln w="12700">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00" name="AutoShape 25"/>
          <p:cNvSpPr>
            <a:spLocks noChangeArrowheads="1"/>
          </p:cNvSpPr>
          <p:nvPr/>
        </p:nvSpPr>
        <p:spPr bwMode="auto">
          <a:xfrm flipV="1">
            <a:off x="1266066" y="3955320"/>
            <a:ext cx="263283" cy="281183"/>
          </a:xfrm>
          <a:custGeom>
            <a:avLst/>
            <a:gdLst>
              <a:gd name="T0" fmla="*/ 218339 w 21600"/>
              <a:gd name="T1" fmla="*/ 0 h 21600"/>
              <a:gd name="T2" fmla="*/ 218339 w 21600"/>
              <a:gd name="T3" fmla="*/ 171757 h 21600"/>
              <a:gd name="T4" fmla="*/ 46725 w 21600"/>
              <a:gd name="T5" fmla="*/ 305144 h 21600"/>
              <a:gd name="T6" fmla="*/ 311789 w 21600"/>
              <a:gd name="T7" fmla="*/ 85878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11" name="AutoShape 42"/>
          <p:cNvSpPr>
            <a:spLocks noChangeArrowheads="1"/>
          </p:cNvSpPr>
          <p:nvPr/>
        </p:nvSpPr>
        <p:spPr bwMode="auto">
          <a:xfrm rot="5400000" flipH="1">
            <a:off x="3905139" y="3932147"/>
            <a:ext cx="254669" cy="288428"/>
          </a:xfrm>
          <a:custGeom>
            <a:avLst/>
            <a:gdLst>
              <a:gd name="T0" fmla="*/ 220161 w 21600"/>
              <a:gd name="T1" fmla="*/ 0 h 21600"/>
              <a:gd name="T2" fmla="*/ 220161 w 21600"/>
              <a:gd name="T3" fmla="*/ 175497 h 21600"/>
              <a:gd name="T4" fmla="*/ 47115 w 21600"/>
              <a:gd name="T5" fmla="*/ 311790 h 21600"/>
              <a:gd name="T6" fmla="*/ 314391 w 21600"/>
              <a:gd name="T7" fmla="*/ 87749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nvGrpSpPr>
          <p:cNvPr id="125" name="Group 34"/>
          <p:cNvGrpSpPr/>
          <p:nvPr/>
        </p:nvGrpSpPr>
        <p:grpSpPr bwMode="auto">
          <a:xfrm>
            <a:off x="1792727" y="4119885"/>
            <a:ext cx="841456" cy="101715"/>
            <a:chOff x="1344" y="912"/>
            <a:chExt cx="672" cy="96"/>
          </a:xfrm>
          <a:solidFill>
            <a:srgbClr val="FF0000"/>
          </a:solidFill>
        </p:grpSpPr>
        <p:sp>
          <p:nvSpPr>
            <p:cNvPr id="126" name="Line 35"/>
            <p:cNvSpPr>
              <a:spLocks noChangeShapeType="1"/>
            </p:cNvSpPr>
            <p:nvPr/>
          </p:nvSpPr>
          <p:spPr bwMode="auto">
            <a:xfrm>
              <a:off x="1344" y="960"/>
              <a:ext cx="672" cy="0"/>
            </a:xfrm>
            <a:prstGeom prst="line">
              <a:avLst/>
            </a:prstGeom>
            <a:grpFill/>
            <a:ln w="12700">
              <a:no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sp>
          <p:nvSpPr>
            <p:cNvPr id="127" name="Freeform 36"/>
            <p:cNvSpPr/>
            <p:nvPr/>
          </p:nvSpPr>
          <p:spPr bwMode="auto">
            <a:xfrm>
              <a:off x="1392" y="912"/>
              <a:ext cx="576" cy="96"/>
            </a:xfrm>
            <a:custGeom>
              <a:avLst/>
              <a:gdLst>
                <a:gd name="T0" fmla="*/ 0 w 576"/>
                <a:gd name="T1" fmla="*/ 96 h 192"/>
                <a:gd name="T2" fmla="*/ 0 w 576"/>
                <a:gd name="T3" fmla="*/ 0 h 192"/>
                <a:gd name="T4" fmla="*/ 192 w 576"/>
                <a:gd name="T5" fmla="*/ 0 h 192"/>
                <a:gd name="T6" fmla="*/ 192 w 576"/>
                <a:gd name="T7" fmla="*/ 192 h 192"/>
                <a:gd name="T8" fmla="*/ 288 w 576"/>
                <a:gd name="T9" fmla="*/ 192 h 192"/>
                <a:gd name="T10" fmla="*/ 288 w 576"/>
                <a:gd name="T11" fmla="*/ 0 h 192"/>
                <a:gd name="T12" fmla="*/ 336 w 576"/>
                <a:gd name="T13" fmla="*/ 0 h 192"/>
                <a:gd name="T14" fmla="*/ 336 w 576"/>
                <a:gd name="T15" fmla="*/ 192 h 192"/>
                <a:gd name="T16" fmla="*/ 480 w 576"/>
                <a:gd name="T17" fmla="*/ 192 h 192"/>
                <a:gd name="T18" fmla="*/ 480 w 576"/>
                <a:gd name="T19" fmla="*/ 0 h 192"/>
                <a:gd name="T20" fmla="*/ 576 w 576"/>
                <a:gd name="T21" fmla="*/ 0 h 192"/>
                <a:gd name="T22" fmla="*/ 576 w 576"/>
                <a:gd name="T23" fmla="*/ 96 h 192"/>
                <a:gd name="T24" fmla="*/ 0 w 576"/>
                <a:gd name="T25" fmla="*/ 96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6" h="192">
                  <a:moveTo>
                    <a:pt x="0" y="96"/>
                  </a:moveTo>
                  <a:lnTo>
                    <a:pt x="0" y="0"/>
                  </a:lnTo>
                  <a:lnTo>
                    <a:pt x="192" y="0"/>
                  </a:lnTo>
                  <a:lnTo>
                    <a:pt x="192" y="192"/>
                  </a:lnTo>
                  <a:lnTo>
                    <a:pt x="288" y="192"/>
                  </a:lnTo>
                  <a:lnTo>
                    <a:pt x="288" y="0"/>
                  </a:lnTo>
                  <a:lnTo>
                    <a:pt x="336" y="0"/>
                  </a:lnTo>
                  <a:lnTo>
                    <a:pt x="336" y="192"/>
                  </a:lnTo>
                  <a:lnTo>
                    <a:pt x="480" y="192"/>
                  </a:lnTo>
                  <a:lnTo>
                    <a:pt x="480" y="0"/>
                  </a:lnTo>
                  <a:lnTo>
                    <a:pt x="576" y="0"/>
                  </a:lnTo>
                  <a:lnTo>
                    <a:pt x="576" y="96"/>
                  </a:lnTo>
                  <a:lnTo>
                    <a:pt x="0" y="96"/>
                  </a:lnTo>
                  <a:close/>
                </a:path>
              </a:pathLst>
            </a:custGeom>
            <a:grpFill/>
            <a:ln w="12700" cap="flat" cmpd="sng">
              <a:noFill/>
              <a:prstDash val="solid"/>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grpSp>
      <p:sp>
        <p:nvSpPr>
          <p:cNvPr id="87" name="上箭头 86"/>
          <p:cNvSpPr/>
          <p:nvPr/>
        </p:nvSpPr>
        <p:spPr>
          <a:xfrm>
            <a:off x="4028301" y="3527399"/>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2" name="上箭头 81"/>
          <p:cNvSpPr/>
          <p:nvPr/>
        </p:nvSpPr>
        <p:spPr>
          <a:xfrm>
            <a:off x="4028301" y="3154024"/>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2" name="下箭头 91"/>
          <p:cNvSpPr/>
          <p:nvPr/>
        </p:nvSpPr>
        <p:spPr>
          <a:xfrm>
            <a:off x="4682483" y="3179766"/>
            <a:ext cx="180462" cy="249234"/>
          </a:xfrm>
          <a:prstGeom prst="down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4" name="下箭头 123"/>
          <p:cNvSpPr/>
          <p:nvPr/>
        </p:nvSpPr>
        <p:spPr>
          <a:xfrm>
            <a:off x="4682483" y="3543677"/>
            <a:ext cx="180462" cy="249234"/>
          </a:xfrm>
          <a:prstGeom prst="down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2" name="AutoShape 25"/>
          <p:cNvSpPr>
            <a:spLocks noChangeArrowheads="1"/>
          </p:cNvSpPr>
          <p:nvPr/>
        </p:nvSpPr>
        <p:spPr bwMode="auto">
          <a:xfrm flipV="1">
            <a:off x="4745478" y="3955321"/>
            <a:ext cx="263283" cy="281183"/>
          </a:xfrm>
          <a:custGeom>
            <a:avLst/>
            <a:gdLst>
              <a:gd name="T0" fmla="*/ 218339 w 21600"/>
              <a:gd name="T1" fmla="*/ 0 h 21600"/>
              <a:gd name="T2" fmla="*/ 218339 w 21600"/>
              <a:gd name="T3" fmla="*/ 171757 h 21600"/>
              <a:gd name="T4" fmla="*/ 46725 w 21600"/>
              <a:gd name="T5" fmla="*/ 305144 h 21600"/>
              <a:gd name="T6" fmla="*/ 311789 w 21600"/>
              <a:gd name="T7" fmla="*/ 85878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43" name="AutoShape 42"/>
          <p:cNvSpPr>
            <a:spLocks noChangeArrowheads="1"/>
          </p:cNvSpPr>
          <p:nvPr/>
        </p:nvSpPr>
        <p:spPr bwMode="auto">
          <a:xfrm rot="5400000" flipH="1">
            <a:off x="7384551" y="3932148"/>
            <a:ext cx="254669" cy="288428"/>
          </a:xfrm>
          <a:custGeom>
            <a:avLst/>
            <a:gdLst>
              <a:gd name="T0" fmla="*/ 220161 w 21600"/>
              <a:gd name="T1" fmla="*/ 0 h 21600"/>
              <a:gd name="T2" fmla="*/ 220161 w 21600"/>
              <a:gd name="T3" fmla="*/ 175497 h 21600"/>
              <a:gd name="T4" fmla="*/ 47115 w 21600"/>
              <a:gd name="T5" fmla="*/ 311790 h 21600"/>
              <a:gd name="T6" fmla="*/ 314391 w 21600"/>
              <a:gd name="T7" fmla="*/ 87749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alpha val="50000"/>
            </a:srgbClr>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nvGrpSpPr>
          <p:cNvPr id="144" name="Group 34"/>
          <p:cNvGrpSpPr/>
          <p:nvPr/>
        </p:nvGrpSpPr>
        <p:grpSpPr bwMode="auto">
          <a:xfrm>
            <a:off x="5272139" y="4119886"/>
            <a:ext cx="841456" cy="101715"/>
            <a:chOff x="1344" y="912"/>
            <a:chExt cx="672" cy="96"/>
          </a:xfrm>
          <a:solidFill>
            <a:srgbClr val="FF0000"/>
          </a:solidFill>
        </p:grpSpPr>
        <p:sp>
          <p:nvSpPr>
            <p:cNvPr id="145" name="Line 35"/>
            <p:cNvSpPr>
              <a:spLocks noChangeShapeType="1"/>
            </p:cNvSpPr>
            <p:nvPr/>
          </p:nvSpPr>
          <p:spPr bwMode="auto">
            <a:xfrm>
              <a:off x="1344" y="960"/>
              <a:ext cx="672" cy="0"/>
            </a:xfrm>
            <a:prstGeom prst="line">
              <a:avLst/>
            </a:prstGeom>
            <a:grpFill/>
            <a:ln w="12700">
              <a:no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sp>
          <p:nvSpPr>
            <p:cNvPr id="146" name="Freeform 36"/>
            <p:cNvSpPr/>
            <p:nvPr/>
          </p:nvSpPr>
          <p:spPr bwMode="auto">
            <a:xfrm>
              <a:off x="1392" y="912"/>
              <a:ext cx="576" cy="96"/>
            </a:xfrm>
            <a:custGeom>
              <a:avLst/>
              <a:gdLst>
                <a:gd name="T0" fmla="*/ 0 w 576"/>
                <a:gd name="T1" fmla="*/ 96 h 192"/>
                <a:gd name="T2" fmla="*/ 0 w 576"/>
                <a:gd name="T3" fmla="*/ 0 h 192"/>
                <a:gd name="T4" fmla="*/ 192 w 576"/>
                <a:gd name="T5" fmla="*/ 0 h 192"/>
                <a:gd name="T6" fmla="*/ 192 w 576"/>
                <a:gd name="T7" fmla="*/ 192 h 192"/>
                <a:gd name="T8" fmla="*/ 288 w 576"/>
                <a:gd name="T9" fmla="*/ 192 h 192"/>
                <a:gd name="T10" fmla="*/ 288 w 576"/>
                <a:gd name="T11" fmla="*/ 0 h 192"/>
                <a:gd name="T12" fmla="*/ 336 w 576"/>
                <a:gd name="T13" fmla="*/ 0 h 192"/>
                <a:gd name="T14" fmla="*/ 336 w 576"/>
                <a:gd name="T15" fmla="*/ 192 h 192"/>
                <a:gd name="T16" fmla="*/ 480 w 576"/>
                <a:gd name="T17" fmla="*/ 192 h 192"/>
                <a:gd name="T18" fmla="*/ 480 w 576"/>
                <a:gd name="T19" fmla="*/ 0 h 192"/>
                <a:gd name="T20" fmla="*/ 576 w 576"/>
                <a:gd name="T21" fmla="*/ 0 h 192"/>
                <a:gd name="T22" fmla="*/ 576 w 576"/>
                <a:gd name="T23" fmla="*/ 96 h 192"/>
                <a:gd name="T24" fmla="*/ 0 w 576"/>
                <a:gd name="T25" fmla="*/ 96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6" h="192">
                  <a:moveTo>
                    <a:pt x="0" y="96"/>
                  </a:moveTo>
                  <a:lnTo>
                    <a:pt x="0" y="0"/>
                  </a:lnTo>
                  <a:lnTo>
                    <a:pt x="192" y="0"/>
                  </a:lnTo>
                  <a:lnTo>
                    <a:pt x="192" y="192"/>
                  </a:lnTo>
                  <a:lnTo>
                    <a:pt x="288" y="192"/>
                  </a:lnTo>
                  <a:lnTo>
                    <a:pt x="288" y="0"/>
                  </a:lnTo>
                  <a:lnTo>
                    <a:pt x="336" y="0"/>
                  </a:lnTo>
                  <a:lnTo>
                    <a:pt x="336" y="192"/>
                  </a:lnTo>
                  <a:lnTo>
                    <a:pt x="480" y="192"/>
                  </a:lnTo>
                  <a:lnTo>
                    <a:pt x="480" y="0"/>
                  </a:lnTo>
                  <a:lnTo>
                    <a:pt x="576" y="0"/>
                  </a:lnTo>
                  <a:lnTo>
                    <a:pt x="576" y="96"/>
                  </a:lnTo>
                  <a:lnTo>
                    <a:pt x="0" y="96"/>
                  </a:lnTo>
                  <a:close/>
                </a:path>
              </a:pathLst>
            </a:custGeom>
            <a:grpFill/>
            <a:ln w="12700" cap="flat" cmpd="sng">
              <a:noFill/>
              <a:prstDash val="solid"/>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grpSp>
      <p:sp>
        <p:nvSpPr>
          <p:cNvPr id="104" name="上箭头 103"/>
          <p:cNvSpPr/>
          <p:nvPr/>
        </p:nvSpPr>
        <p:spPr>
          <a:xfrm>
            <a:off x="7621960" y="3485835"/>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6" name="上箭头 85"/>
          <p:cNvSpPr/>
          <p:nvPr/>
        </p:nvSpPr>
        <p:spPr>
          <a:xfrm>
            <a:off x="7621960" y="3121290"/>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2" name="上箭头 121"/>
          <p:cNvSpPr/>
          <p:nvPr/>
        </p:nvSpPr>
        <p:spPr>
          <a:xfrm>
            <a:off x="7629697" y="2713069"/>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3" name="上箭头 122"/>
          <p:cNvSpPr/>
          <p:nvPr/>
        </p:nvSpPr>
        <p:spPr>
          <a:xfrm>
            <a:off x="7629697" y="2348444"/>
            <a:ext cx="178622" cy="245129"/>
          </a:xfrm>
          <a:prstGeom prst="upArrow">
            <a:avLst/>
          </a:prstGeom>
          <a:solidFill>
            <a:srgbClr val="CC00CC">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0" name="上箭头 129"/>
          <p:cNvSpPr/>
          <p:nvPr/>
        </p:nvSpPr>
        <p:spPr>
          <a:xfrm>
            <a:off x="7629697" y="2025255"/>
            <a:ext cx="178622" cy="245129"/>
          </a:xfrm>
          <a:prstGeom prst="up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标题 1">
            <a:extLst>
              <a:ext uri="{FF2B5EF4-FFF2-40B4-BE49-F238E27FC236}">
                <a16:creationId xmlns:a16="http://schemas.microsoft.com/office/drawing/2014/main" id="{BA8AB7F2-F80A-D061-E6FE-5876C33F4CA9}"/>
              </a:ext>
            </a:extLst>
          </p:cNvPr>
          <p:cNvSpPr>
            <a:spLocks noGrp="1"/>
          </p:cNvSpPr>
          <p:nvPr>
            <p:ph type="title"/>
          </p:nvPr>
        </p:nvSpPr>
        <p:spPr>
          <a:xfrm>
            <a:off x="612000" y="144000"/>
            <a:ext cx="7920000" cy="341632"/>
          </a:xfrm>
        </p:spPr>
        <p:txBody>
          <a:bodyPr/>
          <a:lstStyle/>
          <a:p>
            <a:r>
              <a:rPr lang="zh-CN" altLang="en-US" dirty="0"/>
              <a:t>数据在各层之间的传递过程</a:t>
            </a:r>
          </a:p>
        </p:txBody>
      </p:sp>
      <p:sp>
        <p:nvSpPr>
          <p:cNvPr id="185" name="Rectangle 74">
            <a:extLst>
              <a:ext uri="{FF2B5EF4-FFF2-40B4-BE49-F238E27FC236}">
                <a16:creationId xmlns:a16="http://schemas.microsoft.com/office/drawing/2014/main" id="{F26B788F-0762-1388-878A-154E5EC0B50D}"/>
              </a:ext>
            </a:extLst>
          </p:cNvPr>
          <p:cNvSpPr>
            <a:spLocks noChangeArrowheads="1"/>
          </p:cNvSpPr>
          <p:nvPr/>
        </p:nvSpPr>
        <p:spPr bwMode="auto">
          <a:xfrm>
            <a:off x="5499744" y="3302812"/>
            <a:ext cx="223200" cy="244800"/>
          </a:xfrm>
          <a:prstGeom prst="rect">
            <a:avLst/>
          </a:prstGeom>
          <a:solidFill>
            <a:srgbClr val="000066"/>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000" dirty="0">
                <a:solidFill>
                  <a:schemeClr val="bg1"/>
                </a:solidFill>
              </a:rPr>
              <a:t>H</a:t>
            </a:r>
            <a:r>
              <a:rPr lang="en-US" altLang="zh-CN" sz="1000" baseline="-25000" dirty="0">
                <a:solidFill>
                  <a:schemeClr val="bg1"/>
                </a:solidFill>
              </a:rPr>
              <a:t>2</a:t>
            </a:r>
          </a:p>
        </p:txBody>
      </p:sp>
      <p:sp>
        <p:nvSpPr>
          <p:cNvPr id="187" name="Rectangle 78">
            <a:extLst>
              <a:ext uri="{FF2B5EF4-FFF2-40B4-BE49-F238E27FC236}">
                <a16:creationId xmlns:a16="http://schemas.microsoft.com/office/drawing/2014/main" id="{E4C5F88B-C7AA-1870-37F8-237D3833D3B6}"/>
              </a:ext>
            </a:extLst>
          </p:cNvPr>
          <p:cNvSpPr>
            <a:spLocks noChangeArrowheads="1"/>
          </p:cNvSpPr>
          <p:nvPr/>
        </p:nvSpPr>
        <p:spPr bwMode="auto">
          <a:xfrm>
            <a:off x="6838944" y="3303284"/>
            <a:ext cx="223200" cy="245309"/>
          </a:xfrm>
          <a:prstGeom prst="rect">
            <a:avLst/>
          </a:prstGeom>
          <a:solidFill>
            <a:schemeClr val="accent6">
              <a:lumMod val="75000"/>
            </a:schemeClr>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000" dirty="0"/>
              <a:t>T</a:t>
            </a:r>
            <a:r>
              <a:rPr lang="en-US" altLang="zh-CN" sz="1000" baseline="-25000" dirty="0"/>
              <a:t>2</a:t>
            </a:r>
          </a:p>
        </p:txBody>
      </p:sp>
      <p:sp>
        <p:nvSpPr>
          <p:cNvPr id="189" name="Rectangle 46">
            <a:extLst>
              <a:ext uri="{FF2B5EF4-FFF2-40B4-BE49-F238E27FC236}">
                <a16:creationId xmlns:a16="http://schemas.microsoft.com/office/drawing/2014/main" id="{BEA1B1B7-635E-9C68-B6E4-4985FDFF722D}"/>
              </a:ext>
            </a:extLst>
          </p:cNvPr>
          <p:cNvSpPr>
            <a:spLocks noChangeArrowheads="1"/>
          </p:cNvSpPr>
          <p:nvPr/>
        </p:nvSpPr>
        <p:spPr bwMode="auto">
          <a:xfrm>
            <a:off x="5722944" y="3304108"/>
            <a:ext cx="223200" cy="244800"/>
          </a:xfrm>
          <a:prstGeom prst="rect">
            <a:avLst/>
          </a:prstGeom>
          <a:solidFill>
            <a:srgbClr val="00B0F0"/>
          </a:solidFill>
          <a:ln w="9525">
            <a:solidFill>
              <a:schemeClr val="tx1"/>
            </a:solidFill>
            <a:miter lim="800000"/>
          </a:ln>
          <a:effectLst/>
        </p:spPr>
        <p:txBody>
          <a:bodyPr wrap="none" anchor="ctr"/>
          <a:lstStyle/>
          <a:p>
            <a:pPr algn="ctr"/>
            <a:r>
              <a:rPr lang="en-US" altLang="zh-CN" sz="1000" dirty="0"/>
              <a:t>H</a:t>
            </a:r>
            <a:r>
              <a:rPr lang="en-US" altLang="zh-CN" sz="1000" baseline="-25000" dirty="0"/>
              <a:t>3</a:t>
            </a:r>
          </a:p>
        </p:txBody>
      </p:sp>
      <p:sp>
        <p:nvSpPr>
          <p:cNvPr id="191" name="Rectangle 47">
            <a:extLst>
              <a:ext uri="{FF2B5EF4-FFF2-40B4-BE49-F238E27FC236}">
                <a16:creationId xmlns:a16="http://schemas.microsoft.com/office/drawing/2014/main" id="{FD70AA52-F4F1-FCF7-B733-691399F64B02}"/>
              </a:ext>
            </a:extLst>
          </p:cNvPr>
          <p:cNvSpPr>
            <a:spLocks noChangeArrowheads="1"/>
          </p:cNvSpPr>
          <p:nvPr/>
        </p:nvSpPr>
        <p:spPr bwMode="auto">
          <a:xfrm>
            <a:off x="5946144" y="3304108"/>
            <a:ext cx="223200" cy="244800"/>
          </a:xfrm>
          <a:prstGeom prst="rect">
            <a:avLst/>
          </a:prstGeom>
          <a:solidFill>
            <a:srgbClr val="FFC000"/>
          </a:solidFill>
          <a:ln w="9525">
            <a:solidFill>
              <a:schemeClr val="tx1"/>
            </a:solidFill>
            <a:miter lim="800000"/>
          </a:ln>
          <a:effectLst/>
        </p:spPr>
        <p:txBody>
          <a:bodyPr wrap="none" anchor="ctr"/>
          <a:lstStyle/>
          <a:p>
            <a:pPr algn="ctr"/>
            <a:r>
              <a:rPr lang="en-US" altLang="zh-CN" sz="1000"/>
              <a:t>H</a:t>
            </a:r>
            <a:r>
              <a:rPr lang="en-US" altLang="zh-CN" sz="1000" baseline="-25000"/>
              <a:t>4</a:t>
            </a:r>
          </a:p>
        </p:txBody>
      </p:sp>
      <p:sp>
        <p:nvSpPr>
          <p:cNvPr id="193" name="Rectangle 48">
            <a:extLst>
              <a:ext uri="{FF2B5EF4-FFF2-40B4-BE49-F238E27FC236}">
                <a16:creationId xmlns:a16="http://schemas.microsoft.com/office/drawing/2014/main" id="{7557A742-2CDA-D940-3545-06793880A338}"/>
              </a:ext>
            </a:extLst>
          </p:cNvPr>
          <p:cNvSpPr>
            <a:spLocks noChangeArrowheads="1"/>
          </p:cNvSpPr>
          <p:nvPr/>
        </p:nvSpPr>
        <p:spPr bwMode="auto">
          <a:xfrm>
            <a:off x="6169344" y="3304108"/>
            <a:ext cx="223200" cy="244800"/>
          </a:xfrm>
          <a:prstGeom prst="rect">
            <a:avLst/>
          </a:prstGeom>
          <a:solidFill>
            <a:schemeClr val="accent2"/>
          </a:solidFill>
          <a:ln w="9525">
            <a:solidFill>
              <a:schemeClr val="tx1"/>
            </a:solidFill>
            <a:miter lim="800000"/>
          </a:ln>
          <a:effectLst/>
        </p:spPr>
        <p:txBody>
          <a:bodyPr wrap="none" anchor="ctr"/>
          <a:lstStyle/>
          <a:p>
            <a:pPr algn="ctr"/>
            <a:r>
              <a:rPr lang="en-US" altLang="zh-CN" sz="1000" dirty="0"/>
              <a:t>H</a:t>
            </a:r>
            <a:r>
              <a:rPr lang="en-US" altLang="zh-CN" sz="1000" baseline="-25000" dirty="0"/>
              <a:t>5</a:t>
            </a:r>
          </a:p>
        </p:txBody>
      </p:sp>
      <p:sp>
        <p:nvSpPr>
          <p:cNvPr id="195" name="Rectangle 49">
            <a:extLst>
              <a:ext uri="{FF2B5EF4-FFF2-40B4-BE49-F238E27FC236}">
                <a16:creationId xmlns:a16="http://schemas.microsoft.com/office/drawing/2014/main" id="{7C8CC76E-8AA9-8472-FD5D-E64423F3FC75}"/>
              </a:ext>
            </a:extLst>
          </p:cNvPr>
          <p:cNvSpPr>
            <a:spLocks noChangeArrowheads="1"/>
          </p:cNvSpPr>
          <p:nvPr/>
        </p:nvSpPr>
        <p:spPr bwMode="auto">
          <a:xfrm>
            <a:off x="6392544" y="3304109"/>
            <a:ext cx="446400" cy="244800"/>
          </a:xfrm>
          <a:prstGeom prst="rect">
            <a:avLst/>
          </a:prstGeom>
          <a:solidFill>
            <a:schemeClr val="bg1"/>
          </a:solidFill>
          <a:ln w="9525">
            <a:solidFill>
              <a:schemeClr val="tx1"/>
            </a:solidFill>
            <a:miter lim="800000"/>
          </a:ln>
        </p:spPr>
        <p:txBody>
          <a:bodyPr wrap="none" anchor="ctr"/>
          <a:lstStyle/>
          <a:p>
            <a:pPr algn="ctr"/>
            <a:r>
              <a:rPr lang="zh-CN" altLang="en-US" sz="1000" dirty="0"/>
              <a:t>数 据</a:t>
            </a:r>
          </a:p>
        </p:txBody>
      </p:sp>
      <p:sp>
        <p:nvSpPr>
          <p:cNvPr id="197" name="Rectangle 35">
            <a:extLst>
              <a:ext uri="{FF2B5EF4-FFF2-40B4-BE49-F238E27FC236}">
                <a16:creationId xmlns:a16="http://schemas.microsoft.com/office/drawing/2014/main" id="{6A425D15-3CA9-A9B6-B5CA-D1A5175313B9}"/>
              </a:ext>
            </a:extLst>
          </p:cNvPr>
          <p:cNvSpPr>
            <a:spLocks noChangeArrowheads="1"/>
          </p:cNvSpPr>
          <p:nvPr/>
        </p:nvSpPr>
        <p:spPr bwMode="auto">
          <a:xfrm>
            <a:off x="5489148" y="3671598"/>
            <a:ext cx="1598222" cy="244475"/>
          </a:xfrm>
          <a:prstGeom prst="rect">
            <a:avLst/>
          </a:prstGeom>
          <a:ln w="9525">
            <a:solidFill>
              <a:schemeClr val="tx1"/>
            </a:solidFill>
            <a:miter lim="800000"/>
          </a:ln>
        </p:spPr>
        <p:txBody>
          <a:bodyPr wrap="none" anchor="ctr"/>
          <a:lstStyle/>
          <a:p>
            <a:pPr algn="ctr"/>
            <a:r>
              <a:rPr lang="en-US" altLang="zh-CN" sz="1000" dirty="0">
                <a:solidFill>
                  <a:srgbClr val="FF0000"/>
                </a:solidFill>
                <a:latin typeface="+mj-lt"/>
                <a:ea typeface="+mj-ea"/>
              </a:rPr>
              <a:t>10101 </a:t>
            </a:r>
            <a:r>
              <a:rPr lang="zh-CN" altLang="en-US" sz="1000" dirty="0">
                <a:solidFill>
                  <a:srgbClr val="FF0000"/>
                </a:solidFill>
                <a:latin typeface="+mj-lt"/>
                <a:ea typeface="+mj-ea"/>
              </a:rPr>
              <a:t>比特</a:t>
            </a:r>
            <a:r>
              <a:rPr lang="zh-CN" altLang="en-US" sz="1000">
                <a:solidFill>
                  <a:srgbClr val="FF0000"/>
                </a:solidFill>
                <a:latin typeface="+mj-lt"/>
                <a:ea typeface="+mj-ea"/>
              </a:rPr>
              <a:t>流 </a:t>
            </a:r>
            <a:r>
              <a:rPr lang="en-US" altLang="zh-CN" sz="1000" dirty="0">
                <a:solidFill>
                  <a:srgbClr val="FF0000"/>
                </a:solidFill>
                <a:latin typeface="+mj-lt"/>
                <a:ea typeface="+mj-ea"/>
              </a:rPr>
              <a:t>110111</a:t>
            </a:r>
          </a:p>
        </p:txBody>
      </p:sp>
      <p:sp>
        <p:nvSpPr>
          <p:cNvPr id="199" name="Rectangle 42">
            <a:extLst>
              <a:ext uri="{FF2B5EF4-FFF2-40B4-BE49-F238E27FC236}">
                <a16:creationId xmlns:a16="http://schemas.microsoft.com/office/drawing/2014/main" id="{1A3D5E2B-D9B6-7191-1016-93A86276E6C2}"/>
              </a:ext>
            </a:extLst>
          </p:cNvPr>
          <p:cNvSpPr>
            <a:spLocks noChangeArrowheads="1"/>
          </p:cNvSpPr>
          <p:nvPr/>
        </p:nvSpPr>
        <p:spPr bwMode="auto">
          <a:xfrm>
            <a:off x="5946144" y="2932328"/>
            <a:ext cx="223200" cy="244800"/>
          </a:xfrm>
          <a:prstGeom prst="rect">
            <a:avLst/>
          </a:prstGeom>
          <a:solidFill>
            <a:srgbClr val="FFC000"/>
          </a:solidFill>
          <a:ln w="9525">
            <a:solidFill>
              <a:schemeClr val="tx1"/>
            </a:solidFill>
            <a:miter lim="800000"/>
          </a:ln>
          <a:effectLst/>
        </p:spPr>
        <p:txBody>
          <a:bodyPr wrap="none" anchor="ctr"/>
          <a:lstStyle/>
          <a:p>
            <a:pPr algn="ctr"/>
            <a:r>
              <a:rPr lang="en-US" altLang="zh-CN" sz="1000" dirty="0"/>
              <a:t>H</a:t>
            </a:r>
            <a:r>
              <a:rPr lang="en-US" altLang="zh-CN" sz="1000" baseline="-25000" dirty="0"/>
              <a:t>4</a:t>
            </a:r>
          </a:p>
        </p:txBody>
      </p:sp>
      <p:sp>
        <p:nvSpPr>
          <p:cNvPr id="201" name="Rectangle 43">
            <a:extLst>
              <a:ext uri="{FF2B5EF4-FFF2-40B4-BE49-F238E27FC236}">
                <a16:creationId xmlns:a16="http://schemas.microsoft.com/office/drawing/2014/main" id="{C85D4848-B654-9D0F-82B6-68B7FB57E3A4}"/>
              </a:ext>
            </a:extLst>
          </p:cNvPr>
          <p:cNvSpPr>
            <a:spLocks noChangeArrowheads="1"/>
          </p:cNvSpPr>
          <p:nvPr/>
        </p:nvSpPr>
        <p:spPr bwMode="auto">
          <a:xfrm>
            <a:off x="6169344" y="2932328"/>
            <a:ext cx="223200" cy="244800"/>
          </a:xfrm>
          <a:prstGeom prst="rect">
            <a:avLst/>
          </a:prstGeom>
          <a:solidFill>
            <a:schemeClr val="accent2"/>
          </a:solidFill>
          <a:ln w="9525">
            <a:solidFill>
              <a:schemeClr val="tx1"/>
            </a:solidFill>
            <a:miter lim="800000"/>
          </a:ln>
          <a:effectLst/>
        </p:spPr>
        <p:txBody>
          <a:bodyPr wrap="none" anchor="ctr"/>
          <a:lstStyle/>
          <a:p>
            <a:pPr algn="ctr"/>
            <a:r>
              <a:rPr lang="en-US" altLang="zh-CN" sz="1000" dirty="0"/>
              <a:t>H</a:t>
            </a:r>
            <a:r>
              <a:rPr lang="en-US" altLang="zh-CN" sz="1000" baseline="-25000" dirty="0"/>
              <a:t>5</a:t>
            </a:r>
          </a:p>
        </p:txBody>
      </p:sp>
      <p:sp>
        <p:nvSpPr>
          <p:cNvPr id="203" name="Rectangle 44">
            <a:extLst>
              <a:ext uri="{FF2B5EF4-FFF2-40B4-BE49-F238E27FC236}">
                <a16:creationId xmlns:a16="http://schemas.microsoft.com/office/drawing/2014/main" id="{C250010C-6F49-4B30-1AF1-3A25F8010A3A}"/>
              </a:ext>
            </a:extLst>
          </p:cNvPr>
          <p:cNvSpPr>
            <a:spLocks noChangeArrowheads="1"/>
          </p:cNvSpPr>
          <p:nvPr/>
        </p:nvSpPr>
        <p:spPr bwMode="auto">
          <a:xfrm>
            <a:off x="6392544" y="2932328"/>
            <a:ext cx="446400" cy="244800"/>
          </a:xfrm>
          <a:prstGeom prst="rect">
            <a:avLst/>
          </a:prstGeom>
          <a:solidFill>
            <a:schemeClr val="bg1"/>
          </a:solidFill>
          <a:ln w="9525">
            <a:solidFill>
              <a:schemeClr val="tx1"/>
            </a:solidFill>
            <a:miter lim="800000"/>
          </a:ln>
        </p:spPr>
        <p:txBody>
          <a:bodyPr wrap="none" anchor="ctr"/>
          <a:lstStyle/>
          <a:p>
            <a:pPr algn="ctr"/>
            <a:r>
              <a:rPr lang="zh-CN" altLang="en-US" sz="1000" dirty="0"/>
              <a:t>数 据</a:t>
            </a:r>
          </a:p>
        </p:txBody>
      </p:sp>
      <p:sp>
        <p:nvSpPr>
          <p:cNvPr id="205" name="Rectangle 70">
            <a:extLst>
              <a:ext uri="{FF2B5EF4-FFF2-40B4-BE49-F238E27FC236}">
                <a16:creationId xmlns:a16="http://schemas.microsoft.com/office/drawing/2014/main" id="{990FF4B9-3446-9544-B38F-77B0913ADBE7}"/>
              </a:ext>
            </a:extLst>
          </p:cNvPr>
          <p:cNvSpPr>
            <a:spLocks noChangeArrowheads="1"/>
          </p:cNvSpPr>
          <p:nvPr/>
        </p:nvSpPr>
        <p:spPr bwMode="auto">
          <a:xfrm>
            <a:off x="5722944" y="2932758"/>
            <a:ext cx="223200" cy="244800"/>
          </a:xfrm>
          <a:prstGeom prst="rect">
            <a:avLst/>
          </a:prstGeom>
          <a:solidFill>
            <a:srgbClr val="00B0F0"/>
          </a:solidFill>
          <a:ln w="9525">
            <a:solidFill>
              <a:schemeClr val="tx1"/>
            </a:solidFill>
            <a:miter lim="800000"/>
          </a:ln>
          <a:effectLst/>
        </p:spPr>
        <p:txBody>
          <a:bodyPr wrap="none" anchor="ctr"/>
          <a:lstStyle/>
          <a:p>
            <a:pPr algn="ctr"/>
            <a:r>
              <a:rPr lang="en-US" altLang="zh-CN" sz="1000" dirty="0"/>
              <a:t>H</a:t>
            </a:r>
            <a:r>
              <a:rPr lang="en-US" altLang="zh-CN" sz="1000" baseline="-25000" dirty="0"/>
              <a:t>3</a:t>
            </a:r>
          </a:p>
        </p:txBody>
      </p:sp>
      <p:sp>
        <p:nvSpPr>
          <p:cNvPr id="207" name="Rectangle 39">
            <a:extLst>
              <a:ext uri="{FF2B5EF4-FFF2-40B4-BE49-F238E27FC236}">
                <a16:creationId xmlns:a16="http://schemas.microsoft.com/office/drawing/2014/main" id="{918F4ABF-CBB8-6323-4F4E-616561BC480E}"/>
              </a:ext>
            </a:extLst>
          </p:cNvPr>
          <p:cNvSpPr>
            <a:spLocks noChangeArrowheads="1"/>
          </p:cNvSpPr>
          <p:nvPr/>
        </p:nvSpPr>
        <p:spPr bwMode="auto">
          <a:xfrm>
            <a:off x="6169344" y="2554801"/>
            <a:ext cx="223200" cy="244800"/>
          </a:xfrm>
          <a:prstGeom prst="rect">
            <a:avLst/>
          </a:prstGeom>
          <a:solidFill>
            <a:schemeClr val="accent2"/>
          </a:solidFill>
          <a:ln w="9525">
            <a:solidFill>
              <a:schemeClr val="tx1"/>
            </a:solidFill>
            <a:miter lim="800000"/>
          </a:ln>
          <a:effectLst/>
        </p:spPr>
        <p:txBody>
          <a:bodyPr wrap="none" anchor="ctr"/>
          <a:lstStyle/>
          <a:p>
            <a:pPr algn="ctr" fontAlgn="auto">
              <a:spcBef>
                <a:spcPts val="0"/>
              </a:spcBef>
              <a:spcAft>
                <a:spcPts val="0"/>
              </a:spcAft>
              <a:defRPr/>
            </a:pPr>
            <a:r>
              <a:rPr lang="en-US" altLang="zh-CN" sz="1000" dirty="0"/>
              <a:t>H</a:t>
            </a:r>
            <a:r>
              <a:rPr lang="en-US" altLang="zh-CN" sz="1000" baseline="-25000" dirty="0"/>
              <a:t>5</a:t>
            </a:r>
          </a:p>
        </p:txBody>
      </p:sp>
      <p:sp>
        <p:nvSpPr>
          <p:cNvPr id="209" name="Rectangle 40">
            <a:extLst>
              <a:ext uri="{FF2B5EF4-FFF2-40B4-BE49-F238E27FC236}">
                <a16:creationId xmlns:a16="http://schemas.microsoft.com/office/drawing/2014/main" id="{CBD2C813-51A1-B1B6-84F3-AA50D544A34D}"/>
              </a:ext>
            </a:extLst>
          </p:cNvPr>
          <p:cNvSpPr>
            <a:spLocks noChangeArrowheads="1"/>
          </p:cNvSpPr>
          <p:nvPr/>
        </p:nvSpPr>
        <p:spPr bwMode="auto">
          <a:xfrm>
            <a:off x="6392544" y="2554801"/>
            <a:ext cx="446400" cy="244800"/>
          </a:xfrm>
          <a:prstGeom prst="rect">
            <a:avLst/>
          </a:prstGeom>
          <a:solidFill>
            <a:schemeClr val="bg1"/>
          </a:solidFill>
          <a:ln w="9525">
            <a:solidFill>
              <a:schemeClr val="tx1"/>
            </a:solidFill>
            <a:miter lim="800000"/>
          </a:ln>
        </p:spPr>
        <p:txBody>
          <a:bodyPr wrap="none" anchor="ctr"/>
          <a:lstStyle/>
          <a:p>
            <a:pPr algn="ctr"/>
            <a:r>
              <a:rPr lang="zh-CN" altLang="en-US" sz="1000" dirty="0"/>
              <a:t>数 据</a:t>
            </a:r>
          </a:p>
        </p:txBody>
      </p:sp>
      <p:sp>
        <p:nvSpPr>
          <p:cNvPr id="211" name="Rectangle 66">
            <a:extLst>
              <a:ext uri="{FF2B5EF4-FFF2-40B4-BE49-F238E27FC236}">
                <a16:creationId xmlns:a16="http://schemas.microsoft.com/office/drawing/2014/main" id="{40EFCF6C-18D6-3A36-30E9-22E8B0B3CB7C}"/>
              </a:ext>
            </a:extLst>
          </p:cNvPr>
          <p:cNvSpPr>
            <a:spLocks noChangeArrowheads="1"/>
          </p:cNvSpPr>
          <p:nvPr/>
        </p:nvSpPr>
        <p:spPr bwMode="auto">
          <a:xfrm>
            <a:off x="5946144" y="2554262"/>
            <a:ext cx="223200" cy="244800"/>
          </a:xfrm>
          <a:prstGeom prst="rect">
            <a:avLst/>
          </a:prstGeom>
          <a:solidFill>
            <a:srgbClr val="FFC000"/>
          </a:solidFill>
          <a:ln w="9525">
            <a:solidFill>
              <a:schemeClr val="tx1"/>
            </a:solidFill>
            <a:miter lim="800000"/>
          </a:ln>
          <a:effectLst/>
        </p:spPr>
        <p:txBody>
          <a:bodyPr wrap="none" anchor="ctr"/>
          <a:lstStyle/>
          <a:p>
            <a:pPr algn="ctr"/>
            <a:r>
              <a:rPr lang="en-US" altLang="zh-CN" sz="1000" dirty="0"/>
              <a:t>H</a:t>
            </a:r>
            <a:r>
              <a:rPr lang="en-US" altLang="zh-CN" sz="1000" baseline="-25000" dirty="0"/>
              <a:t>4</a:t>
            </a:r>
          </a:p>
        </p:txBody>
      </p:sp>
      <p:sp>
        <p:nvSpPr>
          <p:cNvPr id="213" name="Rectangle 34">
            <a:extLst>
              <a:ext uri="{FF2B5EF4-FFF2-40B4-BE49-F238E27FC236}">
                <a16:creationId xmlns:a16="http://schemas.microsoft.com/office/drawing/2014/main" id="{3C12CA07-32C1-354C-A4A9-9088BCDE66DA}"/>
              </a:ext>
            </a:extLst>
          </p:cNvPr>
          <p:cNvSpPr>
            <a:spLocks noChangeArrowheads="1"/>
          </p:cNvSpPr>
          <p:nvPr/>
        </p:nvSpPr>
        <p:spPr bwMode="auto">
          <a:xfrm>
            <a:off x="6169344" y="2209527"/>
            <a:ext cx="223200" cy="244800"/>
          </a:xfrm>
          <a:prstGeom prst="rect">
            <a:avLst/>
          </a:prstGeom>
          <a:solidFill>
            <a:schemeClr val="accent2"/>
          </a:solidFill>
          <a:ln w="9525">
            <a:solidFill>
              <a:schemeClr val="tx1"/>
            </a:solidFill>
            <a:miter lim="800000"/>
          </a:ln>
          <a:effectLst/>
        </p:spPr>
        <p:txBody>
          <a:bodyPr wrap="none" anchor="ctr"/>
          <a:lstStyle/>
          <a:p>
            <a:pPr algn="ctr"/>
            <a:r>
              <a:rPr lang="en-US" altLang="zh-CN" sz="1000" dirty="0"/>
              <a:t>H</a:t>
            </a:r>
            <a:r>
              <a:rPr lang="en-US" altLang="zh-CN" sz="1000" baseline="-25000" dirty="0"/>
              <a:t>5</a:t>
            </a:r>
          </a:p>
        </p:txBody>
      </p:sp>
      <p:sp>
        <p:nvSpPr>
          <p:cNvPr id="215" name="Rectangle 37">
            <a:extLst>
              <a:ext uri="{FF2B5EF4-FFF2-40B4-BE49-F238E27FC236}">
                <a16:creationId xmlns:a16="http://schemas.microsoft.com/office/drawing/2014/main" id="{CA2C67BE-C5CE-1D1A-D2C7-62BA61D5566A}"/>
              </a:ext>
            </a:extLst>
          </p:cNvPr>
          <p:cNvSpPr>
            <a:spLocks noChangeArrowheads="1"/>
          </p:cNvSpPr>
          <p:nvPr/>
        </p:nvSpPr>
        <p:spPr bwMode="auto">
          <a:xfrm>
            <a:off x="6392544" y="2209195"/>
            <a:ext cx="446400" cy="244800"/>
          </a:xfrm>
          <a:prstGeom prst="rect">
            <a:avLst/>
          </a:prstGeom>
          <a:solidFill>
            <a:schemeClr val="bg1"/>
          </a:solidFill>
          <a:ln w="9525">
            <a:solidFill>
              <a:schemeClr val="tx1"/>
            </a:solidFill>
            <a:miter lim="800000"/>
          </a:ln>
        </p:spPr>
        <p:txBody>
          <a:bodyPr wrap="none" anchor="ctr"/>
          <a:lstStyle/>
          <a:p>
            <a:pPr algn="ctr"/>
            <a:r>
              <a:rPr lang="zh-CN" altLang="en-US" sz="1000" dirty="0"/>
              <a:t>数 据</a:t>
            </a:r>
          </a:p>
        </p:txBody>
      </p:sp>
      <p:sp useBgFill="1">
        <p:nvSpPr>
          <p:cNvPr id="217" name="Rectangle 37">
            <a:extLst>
              <a:ext uri="{FF2B5EF4-FFF2-40B4-BE49-F238E27FC236}">
                <a16:creationId xmlns:a16="http://schemas.microsoft.com/office/drawing/2014/main" id="{C1046A3A-F510-3E05-1A16-FB843E257E54}"/>
              </a:ext>
            </a:extLst>
          </p:cNvPr>
          <p:cNvSpPr>
            <a:spLocks noChangeArrowheads="1"/>
          </p:cNvSpPr>
          <p:nvPr/>
        </p:nvSpPr>
        <p:spPr bwMode="auto">
          <a:xfrm>
            <a:off x="6392544" y="1870804"/>
            <a:ext cx="446400" cy="244800"/>
          </a:xfrm>
          <a:prstGeom prst="rect">
            <a:avLst/>
          </a:prstGeom>
          <a:ln w="9525">
            <a:solidFill>
              <a:schemeClr val="tx1"/>
            </a:solidFill>
            <a:miter lim="800000"/>
          </a:ln>
        </p:spPr>
        <p:txBody>
          <a:bodyPr wrap="none" anchor="ctr"/>
          <a:lstStyle/>
          <a:p>
            <a:pPr algn="ctr"/>
            <a:r>
              <a:rPr lang="zh-CN" altLang="en-US" sz="1000" dirty="0"/>
              <a:t>数 据</a:t>
            </a:r>
          </a:p>
        </p:txBody>
      </p:sp>
    </p:spTree>
    <p:extLst>
      <p:ext uri="{BB962C8B-B14F-4D97-AF65-F5344CB8AC3E}">
        <p14:creationId xmlns:p14="http://schemas.microsoft.com/office/powerpoint/2010/main" val="594884229"/>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4" fill="hold" grpId="0" nodeType="afterEffect">
                                  <p:stCondLst>
                                    <p:cond delay="0"/>
                                  </p:stCondLst>
                                  <p:childTnLst>
                                    <p:set>
                                      <p:cBhvr>
                                        <p:cTn id="6" dur="1" fill="hold">
                                          <p:stCondLst>
                                            <p:cond delay="0"/>
                                          </p:stCondLst>
                                        </p:cTn>
                                        <p:tgtEl>
                                          <p:spTgt spid="130"/>
                                        </p:tgtEl>
                                        <p:attrNameLst>
                                          <p:attrName>style.visibility</p:attrName>
                                        </p:attrNameLst>
                                      </p:cBhvr>
                                      <p:to>
                                        <p:strVal val="visible"/>
                                      </p:to>
                                    </p:set>
                                    <p:animEffect transition="in" filter="wipe(down)">
                                      <p:cBhvr>
                                        <p:cTn id="7" dur="1000"/>
                                        <p:tgtEl>
                                          <p:spTgt spid="1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0" grpId="0" animBg="1"/>
    </p:bldLst>
  </p:timing>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9" name="AutoShape 4">
            <a:extLst>
              <a:ext uri="{FF2B5EF4-FFF2-40B4-BE49-F238E27FC236}">
                <a16:creationId xmlns:a16="http://schemas.microsoft.com/office/drawing/2014/main" id="{E76CD34E-0DA4-6554-03E4-502F1D8ADF4A}"/>
              </a:ext>
            </a:extLst>
          </p:cNvPr>
          <p:cNvSpPr>
            <a:spLocks noChangeArrowheads="1"/>
          </p:cNvSpPr>
          <p:nvPr/>
        </p:nvSpPr>
        <p:spPr bwMode="auto">
          <a:xfrm rot="16200000">
            <a:off x="2567190" y="2361728"/>
            <a:ext cx="271463" cy="3600000"/>
          </a:xfrm>
          <a:prstGeom prst="can">
            <a:avLst>
              <a:gd name="adj" fmla="val 48656"/>
            </a:avLst>
          </a:prstGeom>
          <a:gradFill rotWithShape="0">
            <a:gsLst>
              <a:gs pos="0">
                <a:srgbClr val="00CC00"/>
              </a:gs>
              <a:gs pos="50000">
                <a:schemeClr val="bg1"/>
              </a:gs>
              <a:gs pos="100000">
                <a:srgbClr val="00CC00"/>
              </a:gs>
            </a:gsLst>
            <a:lin ang="5400000" scaled="1"/>
          </a:gradFill>
          <a:ln w="6350">
            <a:solidFill>
              <a:srgbClr val="7CE07C"/>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181" name="AutoShape 4">
            <a:extLst>
              <a:ext uri="{FF2B5EF4-FFF2-40B4-BE49-F238E27FC236}">
                <a16:creationId xmlns:a16="http://schemas.microsoft.com/office/drawing/2014/main" id="{6495E3A9-456F-E8E4-611E-6209896CABCE}"/>
              </a:ext>
            </a:extLst>
          </p:cNvPr>
          <p:cNvSpPr>
            <a:spLocks noChangeArrowheads="1"/>
          </p:cNvSpPr>
          <p:nvPr/>
        </p:nvSpPr>
        <p:spPr bwMode="auto">
          <a:xfrm rot="16200000">
            <a:off x="6253847" y="2361728"/>
            <a:ext cx="271463" cy="3600000"/>
          </a:xfrm>
          <a:prstGeom prst="can">
            <a:avLst>
              <a:gd name="adj" fmla="val 48656"/>
            </a:avLst>
          </a:prstGeom>
          <a:gradFill rotWithShape="0">
            <a:gsLst>
              <a:gs pos="0">
                <a:srgbClr val="00CC00"/>
              </a:gs>
              <a:gs pos="50000">
                <a:schemeClr val="bg1"/>
              </a:gs>
              <a:gs pos="100000">
                <a:srgbClr val="00CC00"/>
              </a:gs>
            </a:gsLst>
            <a:lin ang="5400000" scaled="1"/>
          </a:gradFill>
          <a:ln w="6350">
            <a:solidFill>
              <a:srgbClr val="7CE07C"/>
            </a:solidFill>
            <a:round/>
            <a:headEnd type="none" w="sm" len="lg"/>
            <a:tailEnd type="none" w="sm" len="lg"/>
          </a:ln>
          <a:effectLst/>
        </p:spPr>
        <p:txBody>
          <a:bodyPr wrap="none" anchor="ctr"/>
          <a:lstStyle/>
          <a:p>
            <a:pPr fontAlgn="auto">
              <a:spcBef>
                <a:spcPts val="0"/>
              </a:spcBef>
              <a:spcAft>
                <a:spcPts val="0"/>
              </a:spcAft>
              <a:defRPr/>
            </a:pPr>
            <a:endParaRPr lang="zh-CN" altLang="en-US" sz="3200" b="1">
              <a:latin typeface="+mn-lt"/>
              <a:ea typeface="+mn-ea"/>
            </a:endParaRPr>
          </a:p>
        </p:txBody>
      </p:sp>
      <p:sp>
        <p:nvSpPr>
          <p:cNvPr id="183" name="Text Box 26">
            <a:extLst>
              <a:ext uri="{FF2B5EF4-FFF2-40B4-BE49-F238E27FC236}">
                <a16:creationId xmlns:a16="http://schemas.microsoft.com/office/drawing/2014/main" id="{D357DB42-1EEB-6EAC-FBC7-244484B2C4EC}"/>
              </a:ext>
            </a:extLst>
          </p:cNvPr>
          <p:cNvSpPr txBox="1">
            <a:spLocks noChangeArrowheads="1"/>
          </p:cNvSpPr>
          <p:nvPr/>
        </p:nvSpPr>
        <p:spPr bwMode="auto">
          <a:xfrm>
            <a:off x="2701348" y="4023229"/>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dirty="0">
                <a:latin typeface="+mj-lt"/>
                <a:ea typeface="+mj-ea"/>
              </a:rPr>
              <a:t>物理传输媒体</a:t>
            </a:r>
          </a:p>
        </p:txBody>
      </p:sp>
      <p:sp>
        <p:nvSpPr>
          <p:cNvPr id="185" name="Text Box 26">
            <a:extLst>
              <a:ext uri="{FF2B5EF4-FFF2-40B4-BE49-F238E27FC236}">
                <a16:creationId xmlns:a16="http://schemas.microsoft.com/office/drawing/2014/main" id="{F38322FB-73CE-DD98-6695-0A3EAAFDA547}"/>
              </a:ext>
            </a:extLst>
          </p:cNvPr>
          <p:cNvSpPr txBox="1">
            <a:spLocks noChangeArrowheads="1"/>
          </p:cNvSpPr>
          <p:nvPr/>
        </p:nvSpPr>
        <p:spPr bwMode="auto">
          <a:xfrm>
            <a:off x="6193730" y="4023229"/>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eaLnBrk="0" hangingPunct="0"/>
            <a:r>
              <a:rPr kumimoji="1" lang="zh-CN" altLang="en-US" sz="1200" dirty="0">
                <a:latin typeface="+mj-lt"/>
                <a:ea typeface="+mj-ea"/>
              </a:rPr>
              <a:t>物理传输媒体</a:t>
            </a:r>
          </a:p>
        </p:txBody>
      </p:sp>
      <p:grpSp>
        <p:nvGrpSpPr>
          <p:cNvPr id="172" name="组合 171">
            <a:extLst>
              <a:ext uri="{FF2B5EF4-FFF2-40B4-BE49-F238E27FC236}">
                <a16:creationId xmlns:a16="http://schemas.microsoft.com/office/drawing/2014/main" id="{B33E8E93-BB9A-23AD-E1A9-0612262951DD}"/>
              </a:ext>
            </a:extLst>
          </p:cNvPr>
          <p:cNvGrpSpPr/>
          <p:nvPr/>
        </p:nvGrpSpPr>
        <p:grpSpPr>
          <a:xfrm>
            <a:off x="3960000" y="2808000"/>
            <a:ext cx="1080000" cy="1080000"/>
            <a:chOff x="2807995" y="2745746"/>
            <a:chExt cx="1080000" cy="1080000"/>
          </a:xfrm>
        </p:grpSpPr>
        <p:sp>
          <p:nvSpPr>
            <p:cNvPr id="173" name="立方体 172">
              <a:extLst>
                <a:ext uri="{FF2B5EF4-FFF2-40B4-BE49-F238E27FC236}">
                  <a16:creationId xmlns:a16="http://schemas.microsoft.com/office/drawing/2014/main" id="{E9A5C0FB-C7E8-29F4-B125-E8FA7809F824}"/>
                </a:ext>
              </a:extLst>
            </p:cNvPr>
            <p:cNvSpPr/>
            <p:nvPr/>
          </p:nvSpPr>
          <p:spPr>
            <a:xfrm>
              <a:off x="2807995" y="3393746"/>
              <a:ext cx="594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sz="1050" dirty="0">
                  <a:solidFill>
                    <a:schemeClr val="bg1"/>
                  </a:solidFill>
                </a:rPr>
                <a:t>1</a:t>
              </a:r>
              <a:endParaRPr lang="zh-CN" altLang="en-US" sz="1050" dirty="0">
                <a:solidFill>
                  <a:schemeClr val="bg1"/>
                </a:solidFill>
              </a:endParaRPr>
            </a:p>
          </p:txBody>
        </p:sp>
        <p:sp>
          <p:nvSpPr>
            <p:cNvPr id="174" name="立方体 173">
              <a:extLst>
                <a:ext uri="{FF2B5EF4-FFF2-40B4-BE49-F238E27FC236}">
                  <a16:creationId xmlns:a16="http://schemas.microsoft.com/office/drawing/2014/main" id="{2B53FCDE-97D8-178A-3A11-CB4F7A676061}"/>
                </a:ext>
              </a:extLst>
            </p:cNvPr>
            <p:cNvSpPr/>
            <p:nvPr/>
          </p:nvSpPr>
          <p:spPr>
            <a:xfrm>
              <a:off x="2807995" y="3069746"/>
              <a:ext cx="594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sz="1050" dirty="0">
                  <a:solidFill>
                    <a:schemeClr val="bg1"/>
                  </a:solidFill>
                </a:rPr>
                <a:t>2</a:t>
              </a:r>
              <a:endParaRPr lang="zh-CN" altLang="en-US" sz="1050" dirty="0">
                <a:solidFill>
                  <a:schemeClr val="bg1"/>
                </a:solidFill>
              </a:endParaRPr>
            </a:p>
          </p:txBody>
        </p:sp>
        <p:sp>
          <p:nvSpPr>
            <p:cNvPr id="175" name="立方体 174">
              <a:extLst>
                <a:ext uri="{FF2B5EF4-FFF2-40B4-BE49-F238E27FC236}">
                  <a16:creationId xmlns:a16="http://schemas.microsoft.com/office/drawing/2014/main" id="{7C272D90-0979-8D38-B723-E31B179C0843}"/>
                </a:ext>
              </a:extLst>
            </p:cNvPr>
            <p:cNvSpPr/>
            <p:nvPr/>
          </p:nvSpPr>
          <p:spPr>
            <a:xfrm>
              <a:off x="3293995" y="3393746"/>
              <a:ext cx="594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pPr algn="ctr"/>
              <a:r>
                <a:rPr lang="en-US" altLang="zh-CN" sz="1050" dirty="0">
                  <a:solidFill>
                    <a:schemeClr val="bg1"/>
                  </a:solidFill>
                </a:rPr>
                <a:t>1</a:t>
              </a:r>
              <a:endParaRPr lang="zh-CN" altLang="en-US" sz="1050" dirty="0">
                <a:solidFill>
                  <a:schemeClr val="bg1"/>
                </a:solidFill>
              </a:endParaRPr>
            </a:p>
          </p:txBody>
        </p:sp>
        <p:sp>
          <p:nvSpPr>
            <p:cNvPr id="176" name="立方体 175">
              <a:extLst>
                <a:ext uri="{FF2B5EF4-FFF2-40B4-BE49-F238E27FC236}">
                  <a16:creationId xmlns:a16="http://schemas.microsoft.com/office/drawing/2014/main" id="{ACDC2090-6406-82B1-A9AD-74704BC7E08A}"/>
                </a:ext>
              </a:extLst>
            </p:cNvPr>
            <p:cNvSpPr/>
            <p:nvPr/>
          </p:nvSpPr>
          <p:spPr>
            <a:xfrm>
              <a:off x="3293995" y="3069746"/>
              <a:ext cx="594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pPr algn="ctr"/>
              <a:r>
                <a:rPr lang="en-US" altLang="zh-CN" sz="1050" dirty="0">
                  <a:solidFill>
                    <a:schemeClr val="bg1"/>
                  </a:solidFill>
                </a:rPr>
                <a:t>2</a:t>
              </a:r>
              <a:endParaRPr lang="zh-CN" altLang="en-US" sz="1050" dirty="0">
                <a:solidFill>
                  <a:schemeClr val="bg1"/>
                </a:solidFill>
              </a:endParaRPr>
            </a:p>
          </p:txBody>
        </p:sp>
        <p:sp>
          <p:nvSpPr>
            <p:cNvPr id="177" name="立方体 176">
              <a:extLst>
                <a:ext uri="{FF2B5EF4-FFF2-40B4-BE49-F238E27FC236}">
                  <a16:creationId xmlns:a16="http://schemas.microsoft.com/office/drawing/2014/main" id="{BC2DA13D-4045-D9B6-B6EF-5EAEA39ECBDE}"/>
                </a:ext>
              </a:extLst>
            </p:cNvPr>
            <p:cNvSpPr/>
            <p:nvPr/>
          </p:nvSpPr>
          <p:spPr>
            <a:xfrm>
              <a:off x="2807995" y="2745746"/>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pPr algn="ctr"/>
              <a:r>
                <a:rPr lang="en-US" altLang="zh-CN" sz="1050" dirty="0">
                  <a:solidFill>
                    <a:schemeClr val="bg1"/>
                  </a:solidFill>
                </a:rPr>
                <a:t>3</a:t>
              </a:r>
              <a:endParaRPr lang="zh-CN" altLang="en-US" sz="1050" dirty="0">
                <a:solidFill>
                  <a:schemeClr val="bg1"/>
                </a:solidFill>
              </a:endParaRPr>
            </a:p>
          </p:txBody>
        </p:sp>
      </p:grpSp>
      <p:grpSp>
        <p:nvGrpSpPr>
          <p:cNvPr id="60" name="组合 59">
            <a:extLst>
              <a:ext uri="{FF2B5EF4-FFF2-40B4-BE49-F238E27FC236}">
                <a16:creationId xmlns:a16="http://schemas.microsoft.com/office/drawing/2014/main" id="{F4CE4CBF-BAD9-B881-B71E-31317A02BEEC}"/>
              </a:ext>
            </a:extLst>
          </p:cNvPr>
          <p:cNvGrpSpPr/>
          <p:nvPr/>
        </p:nvGrpSpPr>
        <p:grpSpPr>
          <a:xfrm>
            <a:off x="7395732" y="1800000"/>
            <a:ext cx="1080000" cy="2088000"/>
            <a:chOff x="701211" y="1800000"/>
            <a:chExt cx="1080000" cy="2088000"/>
          </a:xfrm>
        </p:grpSpPr>
        <p:sp>
          <p:nvSpPr>
            <p:cNvPr id="61" name="立方体 60">
              <a:extLst>
                <a:ext uri="{FF2B5EF4-FFF2-40B4-BE49-F238E27FC236}">
                  <a16:creationId xmlns:a16="http://schemas.microsoft.com/office/drawing/2014/main" id="{94B18358-0C6A-99DF-B0FB-ECEB1EE2EFD8}"/>
                </a:ext>
              </a:extLst>
            </p:cNvPr>
            <p:cNvSpPr/>
            <p:nvPr/>
          </p:nvSpPr>
          <p:spPr>
            <a:xfrm>
              <a:off x="701211" y="3456000"/>
              <a:ext cx="108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050" dirty="0">
                  <a:solidFill>
                    <a:schemeClr val="bg1"/>
                  </a:solidFill>
                </a:rPr>
                <a:t>1 </a:t>
              </a:r>
              <a:r>
                <a:rPr lang="zh-CN" altLang="en-US" sz="1050" dirty="0">
                  <a:solidFill>
                    <a:schemeClr val="bg1"/>
                  </a:solidFill>
                </a:rPr>
                <a:t>物理层</a:t>
              </a:r>
            </a:p>
          </p:txBody>
        </p:sp>
        <p:sp>
          <p:nvSpPr>
            <p:cNvPr id="68" name="立方体 67">
              <a:extLst>
                <a:ext uri="{FF2B5EF4-FFF2-40B4-BE49-F238E27FC236}">
                  <a16:creationId xmlns:a16="http://schemas.microsoft.com/office/drawing/2014/main" id="{F9A157C2-C4BD-5A4E-C8FD-104664E25E7A}"/>
                </a:ext>
              </a:extLst>
            </p:cNvPr>
            <p:cNvSpPr/>
            <p:nvPr/>
          </p:nvSpPr>
          <p:spPr>
            <a:xfrm>
              <a:off x="701211" y="3132000"/>
              <a:ext cx="108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050" dirty="0">
                  <a:solidFill>
                    <a:schemeClr val="bg1"/>
                  </a:solidFill>
                </a:rPr>
                <a:t>2 </a:t>
              </a:r>
              <a:r>
                <a:rPr lang="zh-CN" altLang="en-US" sz="1050" dirty="0">
                  <a:solidFill>
                    <a:schemeClr val="bg1"/>
                  </a:solidFill>
                </a:rPr>
                <a:t>数据链路层</a:t>
              </a:r>
            </a:p>
          </p:txBody>
        </p:sp>
        <p:sp>
          <p:nvSpPr>
            <p:cNvPr id="70" name="立方体 69">
              <a:extLst>
                <a:ext uri="{FF2B5EF4-FFF2-40B4-BE49-F238E27FC236}">
                  <a16:creationId xmlns:a16="http://schemas.microsoft.com/office/drawing/2014/main" id="{E20752A1-A541-D442-3A8F-F42B742BB4AE}"/>
                </a:ext>
              </a:extLst>
            </p:cNvPr>
            <p:cNvSpPr/>
            <p:nvPr/>
          </p:nvSpPr>
          <p:spPr>
            <a:xfrm>
              <a:off x="701211" y="2808000"/>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050" dirty="0">
                  <a:solidFill>
                    <a:schemeClr val="bg1"/>
                  </a:solidFill>
                </a:rPr>
                <a:t>3 </a:t>
              </a:r>
              <a:r>
                <a:rPr lang="zh-CN" altLang="en-US" sz="1050" dirty="0">
                  <a:solidFill>
                    <a:schemeClr val="bg1"/>
                  </a:solidFill>
                </a:rPr>
                <a:t>网络层</a:t>
              </a:r>
            </a:p>
          </p:txBody>
        </p:sp>
        <p:sp>
          <p:nvSpPr>
            <p:cNvPr id="71" name="立方体 70">
              <a:extLst>
                <a:ext uri="{FF2B5EF4-FFF2-40B4-BE49-F238E27FC236}">
                  <a16:creationId xmlns:a16="http://schemas.microsoft.com/office/drawing/2014/main" id="{E41DAF26-73C3-DB56-A12B-483CA4DF27DD}"/>
                </a:ext>
              </a:extLst>
            </p:cNvPr>
            <p:cNvSpPr/>
            <p:nvPr/>
          </p:nvSpPr>
          <p:spPr>
            <a:xfrm>
              <a:off x="701211" y="2484000"/>
              <a:ext cx="108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050" dirty="0">
                  <a:solidFill>
                    <a:schemeClr val="bg1"/>
                  </a:solidFill>
                </a:rPr>
                <a:t>4 </a:t>
              </a:r>
              <a:r>
                <a:rPr lang="zh-CN" altLang="en-US" sz="1050" dirty="0">
                  <a:solidFill>
                    <a:schemeClr val="bg1"/>
                  </a:solidFill>
                </a:rPr>
                <a:t>运输层</a:t>
              </a:r>
            </a:p>
          </p:txBody>
        </p:sp>
        <p:sp>
          <p:nvSpPr>
            <p:cNvPr id="72" name="立方体 71">
              <a:extLst>
                <a:ext uri="{FF2B5EF4-FFF2-40B4-BE49-F238E27FC236}">
                  <a16:creationId xmlns:a16="http://schemas.microsoft.com/office/drawing/2014/main" id="{A3245D59-8813-7DC9-7684-0B096EE5A4F5}"/>
                </a:ext>
              </a:extLst>
            </p:cNvPr>
            <p:cNvSpPr/>
            <p:nvPr/>
          </p:nvSpPr>
          <p:spPr>
            <a:xfrm>
              <a:off x="701211" y="2160000"/>
              <a:ext cx="108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050" dirty="0">
                  <a:solidFill>
                    <a:schemeClr val="bg1"/>
                  </a:solidFill>
                </a:rPr>
                <a:t>5 </a:t>
              </a:r>
              <a:r>
                <a:rPr lang="zh-CN" altLang="en-US" sz="1050" dirty="0">
                  <a:solidFill>
                    <a:schemeClr val="bg1"/>
                  </a:solidFill>
                </a:rPr>
                <a:t>应用层</a:t>
              </a:r>
            </a:p>
          </p:txBody>
        </p:sp>
        <p:sp>
          <p:nvSpPr>
            <p:cNvPr id="74" name="圆柱体 73">
              <a:extLst>
                <a:ext uri="{FF2B5EF4-FFF2-40B4-BE49-F238E27FC236}">
                  <a16:creationId xmlns:a16="http://schemas.microsoft.com/office/drawing/2014/main" id="{531CA77B-C7E1-C075-FE45-0089724ED799}"/>
                </a:ext>
              </a:extLst>
            </p:cNvPr>
            <p:cNvSpPr/>
            <p:nvPr/>
          </p:nvSpPr>
          <p:spPr>
            <a:xfrm>
              <a:off x="953211" y="1800000"/>
              <a:ext cx="576000" cy="360000"/>
            </a:xfrm>
            <a:prstGeom prst="can">
              <a:avLst/>
            </a:prstGeom>
            <a:solidFill>
              <a:srgbClr val="FFFF00"/>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000" dirty="0">
                  <a:solidFill>
                    <a:sysClr val="windowText" lastClr="000000"/>
                  </a:solidFill>
                </a:rPr>
                <a:t>AP1</a:t>
              </a:r>
              <a:endParaRPr lang="zh-CN" altLang="en-US" sz="1000" dirty="0">
                <a:solidFill>
                  <a:sysClr val="windowText" lastClr="000000"/>
                </a:solidFill>
              </a:endParaRPr>
            </a:p>
          </p:txBody>
        </p:sp>
      </p:grpSp>
      <p:grpSp>
        <p:nvGrpSpPr>
          <p:cNvPr id="75" name="组合 74">
            <a:extLst>
              <a:ext uri="{FF2B5EF4-FFF2-40B4-BE49-F238E27FC236}">
                <a16:creationId xmlns:a16="http://schemas.microsoft.com/office/drawing/2014/main" id="{6FD1C6E7-54EC-751C-40EC-B8D4E2BE4FF3}"/>
              </a:ext>
            </a:extLst>
          </p:cNvPr>
          <p:cNvGrpSpPr/>
          <p:nvPr/>
        </p:nvGrpSpPr>
        <p:grpSpPr>
          <a:xfrm>
            <a:off x="701211" y="1800000"/>
            <a:ext cx="1080000" cy="2088000"/>
            <a:chOff x="701211" y="1800000"/>
            <a:chExt cx="1080000" cy="2088000"/>
          </a:xfrm>
        </p:grpSpPr>
        <p:sp>
          <p:nvSpPr>
            <p:cNvPr id="76" name="立方体 75">
              <a:extLst>
                <a:ext uri="{FF2B5EF4-FFF2-40B4-BE49-F238E27FC236}">
                  <a16:creationId xmlns:a16="http://schemas.microsoft.com/office/drawing/2014/main" id="{1D8E2130-3AB5-8142-ECFB-83E0FC650926}"/>
                </a:ext>
              </a:extLst>
            </p:cNvPr>
            <p:cNvSpPr/>
            <p:nvPr/>
          </p:nvSpPr>
          <p:spPr>
            <a:xfrm>
              <a:off x="701211" y="3456000"/>
              <a:ext cx="1080000" cy="432000"/>
            </a:xfrm>
            <a:prstGeom prst="cube">
              <a:avLst/>
            </a:prstGeom>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050" dirty="0">
                  <a:solidFill>
                    <a:schemeClr val="bg1"/>
                  </a:solidFill>
                </a:rPr>
                <a:t>1 </a:t>
              </a:r>
              <a:r>
                <a:rPr lang="zh-CN" altLang="en-US" sz="1050" dirty="0">
                  <a:solidFill>
                    <a:schemeClr val="bg1"/>
                  </a:solidFill>
                </a:rPr>
                <a:t>物理层</a:t>
              </a:r>
            </a:p>
          </p:txBody>
        </p:sp>
        <p:sp>
          <p:nvSpPr>
            <p:cNvPr id="77" name="立方体 76">
              <a:extLst>
                <a:ext uri="{FF2B5EF4-FFF2-40B4-BE49-F238E27FC236}">
                  <a16:creationId xmlns:a16="http://schemas.microsoft.com/office/drawing/2014/main" id="{BD06D978-4CC5-1617-515A-57F5A9D0993E}"/>
                </a:ext>
              </a:extLst>
            </p:cNvPr>
            <p:cNvSpPr/>
            <p:nvPr/>
          </p:nvSpPr>
          <p:spPr>
            <a:xfrm>
              <a:off x="701211" y="3132000"/>
              <a:ext cx="1080000" cy="432000"/>
            </a:xfrm>
            <a:prstGeom prst="cube">
              <a:avLst/>
            </a:prstGeom>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050" dirty="0">
                  <a:solidFill>
                    <a:schemeClr val="bg1"/>
                  </a:solidFill>
                </a:rPr>
                <a:t>2 </a:t>
              </a:r>
              <a:r>
                <a:rPr lang="zh-CN" altLang="en-US" sz="1050" dirty="0">
                  <a:solidFill>
                    <a:schemeClr val="bg1"/>
                  </a:solidFill>
                </a:rPr>
                <a:t>数据链路层</a:t>
              </a:r>
            </a:p>
          </p:txBody>
        </p:sp>
        <p:sp>
          <p:nvSpPr>
            <p:cNvPr id="78" name="立方体 77">
              <a:extLst>
                <a:ext uri="{FF2B5EF4-FFF2-40B4-BE49-F238E27FC236}">
                  <a16:creationId xmlns:a16="http://schemas.microsoft.com/office/drawing/2014/main" id="{1EE41C20-7A30-4006-E322-D29DF550F961}"/>
                </a:ext>
              </a:extLst>
            </p:cNvPr>
            <p:cNvSpPr/>
            <p:nvPr/>
          </p:nvSpPr>
          <p:spPr>
            <a:xfrm>
              <a:off x="701211" y="2808000"/>
              <a:ext cx="1080000" cy="432000"/>
            </a:xfrm>
            <a:prstGeom prst="cube">
              <a:avLst/>
            </a:prstGeom>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050" dirty="0">
                  <a:solidFill>
                    <a:schemeClr val="bg1"/>
                  </a:solidFill>
                </a:rPr>
                <a:t>3 </a:t>
              </a:r>
              <a:r>
                <a:rPr lang="zh-CN" altLang="en-US" sz="1050" dirty="0">
                  <a:solidFill>
                    <a:schemeClr val="bg1"/>
                  </a:solidFill>
                </a:rPr>
                <a:t>网络层</a:t>
              </a:r>
            </a:p>
          </p:txBody>
        </p:sp>
        <p:sp>
          <p:nvSpPr>
            <p:cNvPr id="79" name="立方体 78">
              <a:extLst>
                <a:ext uri="{FF2B5EF4-FFF2-40B4-BE49-F238E27FC236}">
                  <a16:creationId xmlns:a16="http://schemas.microsoft.com/office/drawing/2014/main" id="{B1CE71F1-0768-BDCD-7232-4FA42EB684E3}"/>
                </a:ext>
              </a:extLst>
            </p:cNvPr>
            <p:cNvSpPr/>
            <p:nvPr/>
          </p:nvSpPr>
          <p:spPr>
            <a:xfrm>
              <a:off x="701211" y="2484000"/>
              <a:ext cx="1080000" cy="432000"/>
            </a:xfrm>
            <a:prstGeom prst="cube">
              <a:avLst/>
            </a:prstGeom>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050" dirty="0">
                  <a:solidFill>
                    <a:schemeClr val="bg1"/>
                  </a:solidFill>
                </a:rPr>
                <a:t>4 </a:t>
              </a:r>
              <a:r>
                <a:rPr lang="zh-CN" altLang="en-US" sz="1050" dirty="0">
                  <a:solidFill>
                    <a:schemeClr val="bg1"/>
                  </a:solidFill>
                </a:rPr>
                <a:t>运输层</a:t>
              </a:r>
            </a:p>
          </p:txBody>
        </p:sp>
        <p:sp>
          <p:nvSpPr>
            <p:cNvPr id="80" name="立方体 79">
              <a:extLst>
                <a:ext uri="{FF2B5EF4-FFF2-40B4-BE49-F238E27FC236}">
                  <a16:creationId xmlns:a16="http://schemas.microsoft.com/office/drawing/2014/main" id="{E26FABED-3E20-025F-A43A-93D7A23B5712}"/>
                </a:ext>
              </a:extLst>
            </p:cNvPr>
            <p:cNvSpPr/>
            <p:nvPr/>
          </p:nvSpPr>
          <p:spPr>
            <a:xfrm>
              <a:off x="701211" y="2160000"/>
              <a:ext cx="1080000" cy="432000"/>
            </a:xfrm>
            <a:prstGeom prst="cube">
              <a:avLst/>
            </a:prstGeom>
            <a:solidFill>
              <a:schemeClr val="accent2"/>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r>
                <a:rPr lang="en-US" altLang="zh-CN" sz="1050" dirty="0">
                  <a:solidFill>
                    <a:schemeClr val="bg1"/>
                  </a:solidFill>
                </a:rPr>
                <a:t>5 </a:t>
              </a:r>
              <a:r>
                <a:rPr lang="zh-CN" altLang="en-US" sz="1050" dirty="0">
                  <a:solidFill>
                    <a:schemeClr val="bg1"/>
                  </a:solidFill>
                </a:rPr>
                <a:t>应用层</a:t>
              </a:r>
            </a:p>
          </p:txBody>
        </p:sp>
        <p:sp>
          <p:nvSpPr>
            <p:cNvPr id="81" name="圆柱体 80">
              <a:extLst>
                <a:ext uri="{FF2B5EF4-FFF2-40B4-BE49-F238E27FC236}">
                  <a16:creationId xmlns:a16="http://schemas.microsoft.com/office/drawing/2014/main" id="{E40B4C70-7AE9-B7FD-A70C-610D405E5805}"/>
                </a:ext>
              </a:extLst>
            </p:cNvPr>
            <p:cNvSpPr/>
            <p:nvPr/>
          </p:nvSpPr>
          <p:spPr>
            <a:xfrm>
              <a:off x="953211" y="1800000"/>
              <a:ext cx="576000" cy="360000"/>
            </a:xfrm>
            <a:prstGeom prst="can">
              <a:avLst/>
            </a:prstGeom>
            <a:solidFill>
              <a:srgbClr val="FFFF00"/>
            </a:solidFill>
            <a:ln w="6350">
              <a:solidFill>
                <a:schemeClr val="bg1"/>
              </a:solid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000" dirty="0">
                  <a:solidFill>
                    <a:sysClr val="windowText" lastClr="000000"/>
                  </a:solidFill>
                </a:rPr>
                <a:t>AP1</a:t>
              </a:r>
              <a:endParaRPr lang="zh-CN" altLang="en-US" sz="1000" dirty="0">
                <a:solidFill>
                  <a:sysClr val="windowText" lastClr="000000"/>
                </a:solidFill>
              </a:endParaRPr>
            </a:p>
          </p:txBody>
        </p:sp>
      </p:grpSp>
      <p:sp>
        <p:nvSpPr>
          <p:cNvPr id="25" name="Text Box 29"/>
          <p:cNvSpPr txBox="1">
            <a:spLocks noChangeArrowheads="1"/>
          </p:cNvSpPr>
          <p:nvPr/>
        </p:nvSpPr>
        <p:spPr bwMode="auto">
          <a:xfrm>
            <a:off x="1106898" y="1075100"/>
            <a:ext cx="58702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zh-CN" altLang="en-US" sz="1200" b="1" dirty="0">
                <a:latin typeface="+mj-lt"/>
                <a:ea typeface="+mj-ea"/>
              </a:rPr>
              <a:t>主机 </a:t>
            </a:r>
            <a:r>
              <a:rPr kumimoji="1" lang="en-US" altLang="zh-CN" sz="1200" b="1" dirty="0">
                <a:latin typeface="+mj-lt"/>
                <a:ea typeface="+mj-ea"/>
              </a:rPr>
              <a:t>1</a:t>
            </a:r>
          </a:p>
        </p:txBody>
      </p:sp>
      <p:sp>
        <p:nvSpPr>
          <p:cNvPr id="38" name="Text Box 29"/>
          <p:cNvSpPr txBox="1">
            <a:spLocks noChangeArrowheads="1"/>
          </p:cNvSpPr>
          <p:nvPr/>
        </p:nvSpPr>
        <p:spPr bwMode="auto">
          <a:xfrm>
            <a:off x="7369758" y="1075100"/>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zh-CN" altLang="en-US" sz="1200" b="1" dirty="0">
                <a:latin typeface="+mj-lt"/>
                <a:ea typeface="+mj-ea"/>
              </a:rPr>
              <a:t>主机 </a:t>
            </a:r>
            <a:r>
              <a:rPr kumimoji="1" lang="en-US" altLang="zh-CN" sz="1200" b="1" dirty="0">
                <a:latin typeface="+mj-lt"/>
                <a:ea typeface="+mj-ea"/>
              </a:rPr>
              <a:t>2</a:t>
            </a:r>
          </a:p>
        </p:txBody>
      </p:sp>
      <p:sp>
        <p:nvSpPr>
          <p:cNvPr id="39" name="Text Box 29"/>
          <p:cNvSpPr txBox="1">
            <a:spLocks noChangeArrowheads="1"/>
          </p:cNvSpPr>
          <p:nvPr/>
        </p:nvSpPr>
        <p:spPr bwMode="auto">
          <a:xfrm>
            <a:off x="4160212" y="107510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kumimoji="1" lang="zh-CN" altLang="en-US" sz="1200" b="1" dirty="0">
                <a:latin typeface="+mj-lt"/>
                <a:ea typeface="+mj-ea"/>
              </a:rPr>
              <a:t>路由器</a:t>
            </a:r>
            <a:endParaRPr kumimoji="1" lang="en-US" altLang="zh-CN" sz="1200" b="1" dirty="0">
              <a:latin typeface="+mj-lt"/>
              <a:ea typeface="+mj-ea"/>
            </a:endParaRPr>
          </a:p>
        </p:txBody>
      </p:sp>
      <p:cxnSp>
        <p:nvCxnSpPr>
          <p:cNvPr id="69" name="直接连接符 68"/>
          <p:cNvCxnSpPr/>
          <p:nvPr/>
        </p:nvCxnSpPr>
        <p:spPr>
          <a:xfrm>
            <a:off x="1418143" y="1507958"/>
            <a:ext cx="6306131" cy="0"/>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pic>
        <p:nvPicPr>
          <p:cNvPr id="36"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486661" y="1312469"/>
            <a:ext cx="410222"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7"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202308" y="1312469"/>
            <a:ext cx="410223"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140" name="直接箭头连接符 139"/>
          <p:cNvCxnSpPr/>
          <p:nvPr/>
        </p:nvCxnSpPr>
        <p:spPr>
          <a:xfrm>
            <a:off x="1561619" y="1428166"/>
            <a:ext cx="5941518" cy="0"/>
          </a:xfrm>
          <a:prstGeom prst="straightConnector1">
            <a:avLst/>
          </a:prstGeom>
          <a:ln w="28575">
            <a:solidFill>
              <a:srgbClr val="CC00CC"/>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35" name="Picture 4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54124" y="1385466"/>
            <a:ext cx="454438" cy="2643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73" name="AutoShape 51"/>
          <p:cNvSpPr>
            <a:spLocks noChangeArrowheads="1"/>
          </p:cNvSpPr>
          <p:nvPr/>
        </p:nvSpPr>
        <p:spPr bwMode="auto">
          <a:xfrm flipV="1">
            <a:off x="1237476" y="2076244"/>
            <a:ext cx="145966" cy="205414"/>
          </a:xfrm>
          <a:prstGeom prst="upArrow">
            <a:avLst>
              <a:gd name="adj1" fmla="val 50000"/>
              <a:gd name="adj2" fmla="val 45968"/>
            </a:avLst>
          </a:prstGeom>
          <a:solidFill>
            <a:srgbClr val="CC00CC"/>
          </a:solidFill>
          <a:ln w="12700">
            <a:noFill/>
            <a:miter lim="800000"/>
          </a:ln>
          <a:effec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88" name="AutoShape 54"/>
          <p:cNvSpPr>
            <a:spLocks noChangeArrowheads="1"/>
          </p:cNvSpPr>
          <p:nvPr/>
        </p:nvSpPr>
        <p:spPr bwMode="auto">
          <a:xfrm rot="10800000">
            <a:off x="1237478" y="2439149"/>
            <a:ext cx="147144" cy="221279"/>
          </a:xfrm>
          <a:prstGeom prst="upArrow">
            <a:avLst>
              <a:gd name="adj1" fmla="val 50000"/>
              <a:gd name="adj2" fmla="val 49800"/>
            </a:avLst>
          </a:prstGeom>
          <a:solidFill>
            <a:srgbClr val="CC00CC"/>
          </a:solidFill>
          <a:ln w="12700">
            <a:noFill/>
            <a:miter lim="800000"/>
          </a:ln>
          <a:effec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95" name="AutoShape 57"/>
          <p:cNvSpPr>
            <a:spLocks noChangeArrowheads="1"/>
          </p:cNvSpPr>
          <p:nvPr/>
        </p:nvSpPr>
        <p:spPr bwMode="auto">
          <a:xfrm rot="10800000">
            <a:off x="1235122" y="2826328"/>
            <a:ext cx="148321" cy="222762"/>
          </a:xfrm>
          <a:prstGeom prst="upArrow">
            <a:avLst>
              <a:gd name="adj1" fmla="val 50000"/>
              <a:gd name="adj2" fmla="val 49600"/>
            </a:avLst>
          </a:prstGeom>
          <a:solidFill>
            <a:srgbClr val="CC00CC"/>
          </a:solidFill>
          <a:ln w="12700">
            <a:noFill/>
            <a:miter lim="800000"/>
          </a:ln>
          <a:effec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07" name="AutoShape 57"/>
          <p:cNvSpPr>
            <a:spLocks noChangeArrowheads="1"/>
          </p:cNvSpPr>
          <p:nvPr/>
        </p:nvSpPr>
        <p:spPr bwMode="auto">
          <a:xfrm rot="10800000">
            <a:off x="1226181" y="3198896"/>
            <a:ext cx="156561" cy="213191"/>
          </a:xfrm>
          <a:prstGeom prst="upArrow">
            <a:avLst>
              <a:gd name="adj1" fmla="val 50000"/>
              <a:gd name="adj2" fmla="val 49600"/>
            </a:avLst>
          </a:prstGeom>
          <a:solidFill>
            <a:srgbClr val="CC00CC"/>
          </a:solidFill>
          <a:ln w="12700">
            <a:noFill/>
            <a:miter lim="800000"/>
          </a:ln>
          <a:effec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19" name="AutoShape 63"/>
          <p:cNvSpPr>
            <a:spLocks noChangeArrowheads="1"/>
          </p:cNvSpPr>
          <p:nvPr/>
        </p:nvSpPr>
        <p:spPr bwMode="auto">
          <a:xfrm rot="10800000">
            <a:off x="1226181" y="3567260"/>
            <a:ext cx="165978" cy="238153"/>
          </a:xfrm>
          <a:prstGeom prst="upArrow">
            <a:avLst>
              <a:gd name="adj1" fmla="val 50000"/>
              <a:gd name="adj2" fmla="val 50403"/>
            </a:avLst>
          </a:prstGeom>
          <a:solidFill>
            <a:srgbClr val="CC00CC"/>
          </a:solidFill>
          <a:ln w="12700">
            <a:noFill/>
            <a:miter lim="800000"/>
          </a:ln>
          <a:effectLst/>
        </p:spPr>
        <p:txBody>
          <a:bodyPr vert="eaVert" wrap="none" anchor="ctr"/>
          <a:lstStyle/>
          <a:p>
            <a:pPr algn="ctr" fontAlgn="auto">
              <a:spcBef>
                <a:spcPts val="0"/>
              </a:spcBef>
              <a:spcAft>
                <a:spcPts val="0"/>
              </a:spcAft>
              <a:defRPr/>
            </a:pPr>
            <a:endParaRPr lang="zh-CN" altLang="en-US" sz="1400" b="1">
              <a:latin typeface="微软雅黑" panose="020B0503020204020204" pitchFamily="34" charset="-122"/>
              <a:ea typeface="微软雅黑" panose="020B0503020204020204" pitchFamily="34" charset="-122"/>
            </a:endParaRPr>
          </a:p>
        </p:txBody>
      </p:sp>
      <p:sp>
        <p:nvSpPr>
          <p:cNvPr id="100" name="AutoShape 25"/>
          <p:cNvSpPr>
            <a:spLocks noChangeArrowheads="1"/>
          </p:cNvSpPr>
          <p:nvPr/>
        </p:nvSpPr>
        <p:spPr bwMode="auto">
          <a:xfrm flipV="1">
            <a:off x="1266066" y="3955320"/>
            <a:ext cx="263283" cy="281183"/>
          </a:xfrm>
          <a:custGeom>
            <a:avLst/>
            <a:gdLst>
              <a:gd name="T0" fmla="*/ 218339 w 21600"/>
              <a:gd name="T1" fmla="*/ 0 h 21600"/>
              <a:gd name="T2" fmla="*/ 218339 w 21600"/>
              <a:gd name="T3" fmla="*/ 171757 h 21600"/>
              <a:gd name="T4" fmla="*/ 46725 w 21600"/>
              <a:gd name="T5" fmla="*/ 305144 h 21600"/>
              <a:gd name="T6" fmla="*/ 311789 w 21600"/>
              <a:gd name="T7" fmla="*/ 85878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11" name="AutoShape 42"/>
          <p:cNvSpPr>
            <a:spLocks noChangeArrowheads="1"/>
          </p:cNvSpPr>
          <p:nvPr/>
        </p:nvSpPr>
        <p:spPr bwMode="auto">
          <a:xfrm rot="5400000" flipH="1">
            <a:off x="3905139" y="3932147"/>
            <a:ext cx="254669" cy="288428"/>
          </a:xfrm>
          <a:custGeom>
            <a:avLst/>
            <a:gdLst>
              <a:gd name="T0" fmla="*/ 220161 w 21600"/>
              <a:gd name="T1" fmla="*/ 0 h 21600"/>
              <a:gd name="T2" fmla="*/ 220161 w 21600"/>
              <a:gd name="T3" fmla="*/ 175497 h 21600"/>
              <a:gd name="T4" fmla="*/ 47115 w 21600"/>
              <a:gd name="T5" fmla="*/ 311790 h 21600"/>
              <a:gd name="T6" fmla="*/ 314391 w 21600"/>
              <a:gd name="T7" fmla="*/ 87749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nvGrpSpPr>
          <p:cNvPr id="125" name="Group 34"/>
          <p:cNvGrpSpPr/>
          <p:nvPr/>
        </p:nvGrpSpPr>
        <p:grpSpPr bwMode="auto">
          <a:xfrm>
            <a:off x="1792727" y="4119885"/>
            <a:ext cx="841456" cy="101715"/>
            <a:chOff x="1344" y="912"/>
            <a:chExt cx="672" cy="96"/>
          </a:xfrm>
          <a:solidFill>
            <a:srgbClr val="FF0000"/>
          </a:solidFill>
        </p:grpSpPr>
        <p:sp>
          <p:nvSpPr>
            <p:cNvPr id="126" name="Line 35"/>
            <p:cNvSpPr>
              <a:spLocks noChangeShapeType="1"/>
            </p:cNvSpPr>
            <p:nvPr/>
          </p:nvSpPr>
          <p:spPr bwMode="auto">
            <a:xfrm>
              <a:off x="1344" y="960"/>
              <a:ext cx="672" cy="0"/>
            </a:xfrm>
            <a:prstGeom prst="line">
              <a:avLst/>
            </a:prstGeom>
            <a:grpFill/>
            <a:ln w="12700">
              <a:no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sp>
          <p:nvSpPr>
            <p:cNvPr id="127" name="Freeform 36"/>
            <p:cNvSpPr/>
            <p:nvPr/>
          </p:nvSpPr>
          <p:spPr bwMode="auto">
            <a:xfrm>
              <a:off x="1392" y="912"/>
              <a:ext cx="576" cy="96"/>
            </a:xfrm>
            <a:custGeom>
              <a:avLst/>
              <a:gdLst>
                <a:gd name="T0" fmla="*/ 0 w 576"/>
                <a:gd name="T1" fmla="*/ 96 h 192"/>
                <a:gd name="T2" fmla="*/ 0 w 576"/>
                <a:gd name="T3" fmla="*/ 0 h 192"/>
                <a:gd name="T4" fmla="*/ 192 w 576"/>
                <a:gd name="T5" fmla="*/ 0 h 192"/>
                <a:gd name="T6" fmla="*/ 192 w 576"/>
                <a:gd name="T7" fmla="*/ 192 h 192"/>
                <a:gd name="T8" fmla="*/ 288 w 576"/>
                <a:gd name="T9" fmla="*/ 192 h 192"/>
                <a:gd name="T10" fmla="*/ 288 w 576"/>
                <a:gd name="T11" fmla="*/ 0 h 192"/>
                <a:gd name="T12" fmla="*/ 336 w 576"/>
                <a:gd name="T13" fmla="*/ 0 h 192"/>
                <a:gd name="T14" fmla="*/ 336 w 576"/>
                <a:gd name="T15" fmla="*/ 192 h 192"/>
                <a:gd name="T16" fmla="*/ 480 w 576"/>
                <a:gd name="T17" fmla="*/ 192 h 192"/>
                <a:gd name="T18" fmla="*/ 480 w 576"/>
                <a:gd name="T19" fmla="*/ 0 h 192"/>
                <a:gd name="T20" fmla="*/ 576 w 576"/>
                <a:gd name="T21" fmla="*/ 0 h 192"/>
                <a:gd name="T22" fmla="*/ 576 w 576"/>
                <a:gd name="T23" fmla="*/ 96 h 192"/>
                <a:gd name="T24" fmla="*/ 0 w 576"/>
                <a:gd name="T25" fmla="*/ 96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6" h="192">
                  <a:moveTo>
                    <a:pt x="0" y="96"/>
                  </a:moveTo>
                  <a:lnTo>
                    <a:pt x="0" y="0"/>
                  </a:lnTo>
                  <a:lnTo>
                    <a:pt x="192" y="0"/>
                  </a:lnTo>
                  <a:lnTo>
                    <a:pt x="192" y="192"/>
                  </a:lnTo>
                  <a:lnTo>
                    <a:pt x="288" y="192"/>
                  </a:lnTo>
                  <a:lnTo>
                    <a:pt x="288" y="0"/>
                  </a:lnTo>
                  <a:lnTo>
                    <a:pt x="336" y="0"/>
                  </a:lnTo>
                  <a:lnTo>
                    <a:pt x="336" y="192"/>
                  </a:lnTo>
                  <a:lnTo>
                    <a:pt x="480" y="192"/>
                  </a:lnTo>
                  <a:lnTo>
                    <a:pt x="480" y="0"/>
                  </a:lnTo>
                  <a:lnTo>
                    <a:pt x="576" y="0"/>
                  </a:lnTo>
                  <a:lnTo>
                    <a:pt x="576" y="96"/>
                  </a:lnTo>
                  <a:lnTo>
                    <a:pt x="0" y="96"/>
                  </a:lnTo>
                  <a:close/>
                </a:path>
              </a:pathLst>
            </a:custGeom>
            <a:grpFill/>
            <a:ln w="12700" cap="flat" cmpd="sng">
              <a:noFill/>
              <a:prstDash val="solid"/>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grpSp>
      <p:sp>
        <p:nvSpPr>
          <p:cNvPr id="87" name="上箭头 86"/>
          <p:cNvSpPr/>
          <p:nvPr/>
        </p:nvSpPr>
        <p:spPr>
          <a:xfrm>
            <a:off x="4028301" y="3527399"/>
            <a:ext cx="178622" cy="245129"/>
          </a:xfrm>
          <a:prstGeom prst="up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2" name="上箭头 81"/>
          <p:cNvSpPr/>
          <p:nvPr/>
        </p:nvSpPr>
        <p:spPr>
          <a:xfrm>
            <a:off x="4028301" y="3154024"/>
            <a:ext cx="178622" cy="245129"/>
          </a:xfrm>
          <a:prstGeom prst="up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2" name="下箭头 91"/>
          <p:cNvSpPr/>
          <p:nvPr/>
        </p:nvSpPr>
        <p:spPr>
          <a:xfrm>
            <a:off x="4682483" y="3179766"/>
            <a:ext cx="180462" cy="249234"/>
          </a:xfrm>
          <a:prstGeom prst="down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4" name="下箭头 123"/>
          <p:cNvSpPr/>
          <p:nvPr/>
        </p:nvSpPr>
        <p:spPr>
          <a:xfrm>
            <a:off x="4682483" y="3543677"/>
            <a:ext cx="180462" cy="249234"/>
          </a:xfrm>
          <a:prstGeom prst="down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2" name="AutoShape 25"/>
          <p:cNvSpPr>
            <a:spLocks noChangeArrowheads="1"/>
          </p:cNvSpPr>
          <p:nvPr/>
        </p:nvSpPr>
        <p:spPr bwMode="auto">
          <a:xfrm flipV="1">
            <a:off x="4745478" y="3955321"/>
            <a:ext cx="263283" cy="281183"/>
          </a:xfrm>
          <a:custGeom>
            <a:avLst/>
            <a:gdLst>
              <a:gd name="T0" fmla="*/ 218339 w 21600"/>
              <a:gd name="T1" fmla="*/ 0 h 21600"/>
              <a:gd name="T2" fmla="*/ 218339 w 21600"/>
              <a:gd name="T3" fmla="*/ 171757 h 21600"/>
              <a:gd name="T4" fmla="*/ 46725 w 21600"/>
              <a:gd name="T5" fmla="*/ 305144 h 21600"/>
              <a:gd name="T6" fmla="*/ 311789 w 21600"/>
              <a:gd name="T7" fmla="*/ 85878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43" name="AutoShape 42"/>
          <p:cNvSpPr>
            <a:spLocks noChangeArrowheads="1"/>
          </p:cNvSpPr>
          <p:nvPr/>
        </p:nvSpPr>
        <p:spPr bwMode="auto">
          <a:xfrm rot="5400000" flipH="1">
            <a:off x="7384551" y="3932148"/>
            <a:ext cx="254669" cy="288428"/>
          </a:xfrm>
          <a:custGeom>
            <a:avLst/>
            <a:gdLst>
              <a:gd name="T0" fmla="*/ 220161 w 21600"/>
              <a:gd name="T1" fmla="*/ 0 h 21600"/>
              <a:gd name="T2" fmla="*/ 220161 w 21600"/>
              <a:gd name="T3" fmla="*/ 175497 h 21600"/>
              <a:gd name="T4" fmla="*/ 47115 w 21600"/>
              <a:gd name="T5" fmla="*/ 311790 h 21600"/>
              <a:gd name="T6" fmla="*/ 314391 w 21600"/>
              <a:gd name="T7" fmla="*/ 87749 h 21600"/>
              <a:gd name="T8" fmla="*/ 17694720 60000 65536"/>
              <a:gd name="T9" fmla="*/ 5898240 60000 65536"/>
              <a:gd name="T10" fmla="*/ 5898240 60000 65536"/>
              <a:gd name="T11" fmla="*/ 0 60000 65536"/>
              <a:gd name="T12" fmla="*/ 12427 w 21600"/>
              <a:gd name="T13" fmla="*/ 2912 h 21600"/>
              <a:gd name="T14" fmla="*/ 18227 w 21600"/>
              <a:gd name="T15" fmla="*/ 9246 h 21600"/>
            </a:gdLst>
            <a:ahLst/>
            <a:cxnLst>
              <a:cxn ang="T8">
                <a:pos x="T0" y="T1"/>
              </a:cxn>
              <a:cxn ang="T9">
                <a:pos x="T2" y="T3"/>
              </a:cxn>
              <a:cxn ang="T10">
                <a:pos x="T4" y="T5"/>
              </a:cxn>
              <a:cxn ang="T11">
                <a:pos x="T6" y="T7"/>
              </a:cxn>
            </a:cxnLst>
            <a:rect l="T12" t="T13" r="T14" b="T15"/>
            <a:pathLst>
              <a:path w="21600" h="21600">
                <a:moveTo>
                  <a:pt x="21600" y="6079"/>
                </a:moveTo>
                <a:lnTo>
                  <a:pt x="15126" y="0"/>
                </a:lnTo>
                <a:lnTo>
                  <a:pt x="15126" y="2912"/>
                </a:lnTo>
                <a:lnTo>
                  <a:pt x="12427" y="2912"/>
                </a:lnTo>
                <a:cubicBezTo>
                  <a:pt x="5564" y="2912"/>
                  <a:pt x="0" y="7052"/>
                  <a:pt x="0" y="12158"/>
                </a:cubicBezTo>
                <a:lnTo>
                  <a:pt x="0" y="21600"/>
                </a:lnTo>
                <a:lnTo>
                  <a:pt x="6474" y="21600"/>
                </a:lnTo>
                <a:lnTo>
                  <a:pt x="6474" y="12158"/>
                </a:lnTo>
                <a:cubicBezTo>
                  <a:pt x="6474" y="10550"/>
                  <a:pt x="9139" y="9246"/>
                  <a:pt x="12427" y="9246"/>
                </a:cubicBezTo>
                <a:lnTo>
                  <a:pt x="15126" y="9246"/>
                </a:lnTo>
                <a:lnTo>
                  <a:pt x="15126" y="12158"/>
                </a:lnTo>
                <a:lnTo>
                  <a:pt x="21600" y="6079"/>
                </a:lnTo>
                <a:close/>
              </a:path>
            </a:pathLst>
          </a:custGeom>
          <a:solidFill>
            <a:srgbClr val="CC00CC"/>
          </a:solidFill>
          <a:ln w="12700">
            <a:noFill/>
            <a:miter lim="800000"/>
          </a:ln>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nvGrpSpPr>
          <p:cNvPr id="144" name="Group 34"/>
          <p:cNvGrpSpPr/>
          <p:nvPr/>
        </p:nvGrpSpPr>
        <p:grpSpPr bwMode="auto">
          <a:xfrm>
            <a:off x="5272139" y="4119886"/>
            <a:ext cx="841456" cy="101715"/>
            <a:chOff x="1344" y="912"/>
            <a:chExt cx="672" cy="96"/>
          </a:xfrm>
          <a:solidFill>
            <a:srgbClr val="FF0000"/>
          </a:solidFill>
        </p:grpSpPr>
        <p:sp>
          <p:nvSpPr>
            <p:cNvPr id="145" name="Line 35"/>
            <p:cNvSpPr>
              <a:spLocks noChangeShapeType="1"/>
            </p:cNvSpPr>
            <p:nvPr/>
          </p:nvSpPr>
          <p:spPr bwMode="auto">
            <a:xfrm>
              <a:off x="1344" y="960"/>
              <a:ext cx="672" cy="0"/>
            </a:xfrm>
            <a:prstGeom prst="line">
              <a:avLst/>
            </a:prstGeom>
            <a:grpFill/>
            <a:ln w="12700">
              <a:noFill/>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sp>
          <p:nvSpPr>
            <p:cNvPr id="146" name="Freeform 36"/>
            <p:cNvSpPr/>
            <p:nvPr/>
          </p:nvSpPr>
          <p:spPr bwMode="auto">
            <a:xfrm>
              <a:off x="1392" y="912"/>
              <a:ext cx="576" cy="96"/>
            </a:xfrm>
            <a:custGeom>
              <a:avLst/>
              <a:gdLst>
                <a:gd name="T0" fmla="*/ 0 w 576"/>
                <a:gd name="T1" fmla="*/ 96 h 192"/>
                <a:gd name="T2" fmla="*/ 0 w 576"/>
                <a:gd name="T3" fmla="*/ 0 h 192"/>
                <a:gd name="T4" fmla="*/ 192 w 576"/>
                <a:gd name="T5" fmla="*/ 0 h 192"/>
                <a:gd name="T6" fmla="*/ 192 w 576"/>
                <a:gd name="T7" fmla="*/ 192 h 192"/>
                <a:gd name="T8" fmla="*/ 288 w 576"/>
                <a:gd name="T9" fmla="*/ 192 h 192"/>
                <a:gd name="T10" fmla="*/ 288 w 576"/>
                <a:gd name="T11" fmla="*/ 0 h 192"/>
                <a:gd name="T12" fmla="*/ 336 w 576"/>
                <a:gd name="T13" fmla="*/ 0 h 192"/>
                <a:gd name="T14" fmla="*/ 336 w 576"/>
                <a:gd name="T15" fmla="*/ 192 h 192"/>
                <a:gd name="T16" fmla="*/ 480 w 576"/>
                <a:gd name="T17" fmla="*/ 192 h 192"/>
                <a:gd name="T18" fmla="*/ 480 w 576"/>
                <a:gd name="T19" fmla="*/ 0 h 192"/>
                <a:gd name="T20" fmla="*/ 576 w 576"/>
                <a:gd name="T21" fmla="*/ 0 h 192"/>
                <a:gd name="T22" fmla="*/ 576 w 576"/>
                <a:gd name="T23" fmla="*/ 96 h 192"/>
                <a:gd name="T24" fmla="*/ 0 w 576"/>
                <a:gd name="T25" fmla="*/ 96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6" h="192">
                  <a:moveTo>
                    <a:pt x="0" y="96"/>
                  </a:moveTo>
                  <a:lnTo>
                    <a:pt x="0" y="0"/>
                  </a:lnTo>
                  <a:lnTo>
                    <a:pt x="192" y="0"/>
                  </a:lnTo>
                  <a:lnTo>
                    <a:pt x="192" y="192"/>
                  </a:lnTo>
                  <a:lnTo>
                    <a:pt x="288" y="192"/>
                  </a:lnTo>
                  <a:lnTo>
                    <a:pt x="288" y="0"/>
                  </a:lnTo>
                  <a:lnTo>
                    <a:pt x="336" y="0"/>
                  </a:lnTo>
                  <a:lnTo>
                    <a:pt x="336" y="192"/>
                  </a:lnTo>
                  <a:lnTo>
                    <a:pt x="480" y="192"/>
                  </a:lnTo>
                  <a:lnTo>
                    <a:pt x="480" y="0"/>
                  </a:lnTo>
                  <a:lnTo>
                    <a:pt x="576" y="0"/>
                  </a:lnTo>
                  <a:lnTo>
                    <a:pt x="576" y="96"/>
                  </a:lnTo>
                  <a:lnTo>
                    <a:pt x="0" y="96"/>
                  </a:lnTo>
                  <a:close/>
                </a:path>
              </a:pathLst>
            </a:custGeom>
            <a:grpFill/>
            <a:ln w="12700" cap="flat" cmpd="sng">
              <a:noFill/>
              <a:prstDash val="solid"/>
              <a:round/>
              <a:headEnd type="none" w="sm" len="lg"/>
              <a:tailEnd type="none" w="sm"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fontAlgn="auto">
                <a:spcBef>
                  <a:spcPts val="0"/>
                </a:spcBef>
                <a:spcAft>
                  <a:spcPts val="0"/>
                </a:spcAft>
                <a:defRPr/>
              </a:pPr>
              <a:endParaRPr lang="zh-CN" altLang="en-US" b="1">
                <a:latin typeface="+mn-lt"/>
                <a:ea typeface="+mn-ea"/>
              </a:endParaRPr>
            </a:p>
          </p:txBody>
        </p:sp>
      </p:grpSp>
      <p:sp>
        <p:nvSpPr>
          <p:cNvPr id="104" name="上箭头 103"/>
          <p:cNvSpPr/>
          <p:nvPr/>
        </p:nvSpPr>
        <p:spPr>
          <a:xfrm>
            <a:off x="7621960" y="3485835"/>
            <a:ext cx="178622" cy="245129"/>
          </a:xfrm>
          <a:prstGeom prst="up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6" name="上箭头 85"/>
          <p:cNvSpPr/>
          <p:nvPr/>
        </p:nvSpPr>
        <p:spPr>
          <a:xfrm>
            <a:off x="7621960" y="3121290"/>
            <a:ext cx="178622" cy="245129"/>
          </a:xfrm>
          <a:prstGeom prst="up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2" name="上箭头 121"/>
          <p:cNvSpPr/>
          <p:nvPr/>
        </p:nvSpPr>
        <p:spPr>
          <a:xfrm>
            <a:off x="7629697" y="2713069"/>
            <a:ext cx="178622" cy="245129"/>
          </a:xfrm>
          <a:prstGeom prst="up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3" name="上箭头 122"/>
          <p:cNvSpPr/>
          <p:nvPr/>
        </p:nvSpPr>
        <p:spPr>
          <a:xfrm>
            <a:off x="7629697" y="2348444"/>
            <a:ext cx="178622" cy="245129"/>
          </a:xfrm>
          <a:prstGeom prst="up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0" name="上箭头 129"/>
          <p:cNvSpPr/>
          <p:nvPr/>
        </p:nvSpPr>
        <p:spPr>
          <a:xfrm>
            <a:off x="7629697" y="2025255"/>
            <a:ext cx="178622" cy="245129"/>
          </a:xfrm>
          <a:prstGeom prst="up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161" name="直接箭头连接符 160"/>
          <p:cNvCxnSpPr/>
          <p:nvPr/>
        </p:nvCxnSpPr>
        <p:spPr>
          <a:xfrm>
            <a:off x="1671704" y="1973300"/>
            <a:ext cx="5761554" cy="0"/>
          </a:xfrm>
          <a:prstGeom prst="straightConnector1">
            <a:avLst/>
          </a:prstGeom>
          <a:ln w="28575">
            <a:solidFill>
              <a:srgbClr val="000000"/>
            </a:solidFill>
            <a:prstDash val="sysDot"/>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62" name="直接箭头连接符 161"/>
          <p:cNvCxnSpPr/>
          <p:nvPr/>
        </p:nvCxnSpPr>
        <p:spPr>
          <a:xfrm>
            <a:off x="1754257" y="2321828"/>
            <a:ext cx="5604824" cy="14176"/>
          </a:xfrm>
          <a:prstGeom prst="straightConnector1">
            <a:avLst/>
          </a:prstGeom>
          <a:ln w="28575">
            <a:solidFill>
              <a:srgbClr val="000000"/>
            </a:solidFill>
            <a:prstDash val="sysDot"/>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63" name="直接箭头连接符 162"/>
          <p:cNvCxnSpPr/>
          <p:nvPr/>
        </p:nvCxnSpPr>
        <p:spPr>
          <a:xfrm>
            <a:off x="1754257" y="2675694"/>
            <a:ext cx="5604824" cy="14176"/>
          </a:xfrm>
          <a:prstGeom prst="straightConnector1">
            <a:avLst/>
          </a:prstGeom>
          <a:ln w="28575">
            <a:solidFill>
              <a:srgbClr val="000000"/>
            </a:solidFill>
            <a:prstDash val="sysDot"/>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grpSp>
        <p:nvGrpSpPr>
          <p:cNvPr id="46" name="组合 45"/>
          <p:cNvGrpSpPr/>
          <p:nvPr/>
        </p:nvGrpSpPr>
        <p:grpSpPr>
          <a:xfrm>
            <a:off x="1754257" y="3071247"/>
            <a:ext cx="2198623" cy="722788"/>
            <a:chOff x="1754257" y="3071247"/>
            <a:chExt cx="2198623" cy="722788"/>
          </a:xfrm>
        </p:grpSpPr>
        <p:cxnSp>
          <p:nvCxnSpPr>
            <p:cNvPr id="164" name="直接箭头连接符 163"/>
            <p:cNvCxnSpPr/>
            <p:nvPr/>
          </p:nvCxnSpPr>
          <p:spPr>
            <a:xfrm>
              <a:off x="1754257" y="3071247"/>
              <a:ext cx="2198623" cy="5561"/>
            </a:xfrm>
            <a:prstGeom prst="straightConnector1">
              <a:avLst/>
            </a:prstGeom>
            <a:ln w="28575">
              <a:solidFill>
                <a:srgbClr val="000000"/>
              </a:solidFill>
              <a:prstDash val="sysDot"/>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65" name="直接箭头连接符 164"/>
            <p:cNvCxnSpPr/>
            <p:nvPr/>
          </p:nvCxnSpPr>
          <p:spPr>
            <a:xfrm>
              <a:off x="1754257" y="3445270"/>
              <a:ext cx="2198623" cy="5561"/>
            </a:xfrm>
            <a:prstGeom prst="straightConnector1">
              <a:avLst/>
            </a:prstGeom>
            <a:ln w="28575">
              <a:solidFill>
                <a:srgbClr val="000000"/>
              </a:solidFill>
              <a:prstDash val="sysDot"/>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66" name="直接箭头连接符 165"/>
            <p:cNvCxnSpPr/>
            <p:nvPr/>
          </p:nvCxnSpPr>
          <p:spPr>
            <a:xfrm>
              <a:off x="1754257" y="3788474"/>
              <a:ext cx="2198623" cy="5561"/>
            </a:xfrm>
            <a:prstGeom prst="straightConnector1">
              <a:avLst/>
            </a:prstGeom>
            <a:ln w="28575">
              <a:solidFill>
                <a:srgbClr val="000000"/>
              </a:solidFill>
              <a:prstDash val="sysDot"/>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grpSp>
      <p:grpSp>
        <p:nvGrpSpPr>
          <p:cNvPr id="42" name="组合 41"/>
          <p:cNvGrpSpPr/>
          <p:nvPr/>
        </p:nvGrpSpPr>
        <p:grpSpPr>
          <a:xfrm>
            <a:off x="5067116" y="3071247"/>
            <a:ext cx="2291530" cy="722788"/>
            <a:chOff x="5067116" y="3071247"/>
            <a:chExt cx="2198623" cy="722788"/>
          </a:xfrm>
        </p:grpSpPr>
        <p:cxnSp>
          <p:nvCxnSpPr>
            <p:cNvPr id="167" name="直接箭头连接符 166"/>
            <p:cNvCxnSpPr/>
            <p:nvPr/>
          </p:nvCxnSpPr>
          <p:spPr>
            <a:xfrm>
              <a:off x="5067116" y="3071247"/>
              <a:ext cx="2198623" cy="5561"/>
            </a:xfrm>
            <a:prstGeom prst="straightConnector1">
              <a:avLst/>
            </a:prstGeom>
            <a:ln w="28575">
              <a:solidFill>
                <a:srgbClr val="000000"/>
              </a:solidFill>
              <a:prstDash val="sysDot"/>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68" name="直接箭头连接符 167"/>
            <p:cNvCxnSpPr/>
            <p:nvPr/>
          </p:nvCxnSpPr>
          <p:spPr>
            <a:xfrm>
              <a:off x="5067116" y="3445270"/>
              <a:ext cx="2198623" cy="5561"/>
            </a:xfrm>
            <a:prstGeom prst="straightConnector1">
              <a:avLst/>
            </a:prstGeom>
            <a:ln w="28575">
              <a:solidFill>
                <a:srgbClr val="000000"/>
              </a:solidFill>
              <a:prstDash val="sysDot"/>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69" name="直接箭头连接符 168"/>
            <p:cNvCxnSpPr/>
            <p:nvPr/>
          </p:nvCxnSpPr>
          <p:spPr>
            <a:xfrm>
              <a:off x="5067116" y="3788474"/>
              <a:ext cx="2198623" cy="5561"/>
            </a:xfrm>
            <a:prstGeom prst="straightConnector1">
              <a:avLst/>
            </a:prstGeom>
            <a:ln w="28575">
              <a:solidFill>
                <a:srgbClr val="000000"/>
              </a:solidFill>
              <a:prstDash val="sysDot"/>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grpSp>
      <p:sp useBgFill="1">
        <p:nvSpPr>
          <p:cNvPr id="131" name="Rectangle 37"/>
          <p:cNvSpPr>
            <a:spLocks noChangeArrowheads="1"/>
          </p:cNvSpPr>
          <p:nvPr/>
        </p:nvSpPr>
        <p:spPr bwMode="auto">
          <a:xfrm>
            <a:off x="2961614" y="1870804"/>
            <a:ext cx="482400" cy="244800"/>
          </a:xfrm>
          <a:prstGeom prst="rect">
            <a:avLst/>
          </a:prstGeom>
          <a:ln w="9525">
            <a:solidFill>
              <a:schemeClr val="tx1"/>
            </a:solidFill>
            <a:miter lim="800000"/>
          </a:ln>
        </p:spPr>
        <p:txBody>
          <a:bodyPr wrap="none" anchor="ctr"/>
          <a:lstStyle/>
          <a:p>
            <a:pPr algn="ctr"/>
            <a:r>
              <a:rPr lang="zh-CN" altLang="en-US" sz="1000" dirty="0"/>
              <a:t>数 据</a:t>
            </a:r>
          </a:p>
        </p:txBody>
      </p:sp>
      <p:sp>
        <p:nvSpPr>
          <p:cNvPr id="132" name="Rectangle 34"/>
          <p:cNvSpPr>
            <a:spLocks noChangeArrowheads="1"/>
          </p:cNvSpPr>
          <p:nvPr/>
        </p:nvSpPr>
        <p:spPr bwMode="auto">
          <a:xfrm>
            <a:off x="2738414" y="2209361"/>
            <a:ext cx="223200" cy="244800"/>
          </a:xfrm>
          <a:prstGeom prst="rect">
            <a:avLst/>
          </a:prstGeom>
          <a:solidFill>
            <a:schemeClr val="accent2"/>
          </a:solidFill>
          <a:ln w="9525">
            <a:solidFill>
              <a:schemeClr val="tx1"/>
            </a:solidFill>
            <a:miter lim="800000"/>
          </a:ln>
          <a:effectLst/>
        </p:spPr>
        <p:txBody>
          <a:bodyPr wrap="none" anchor="ctr"/>
          <a:lstStyle/>
          <a:p>
            <a:pPr algn="ctr"/>
            <a:r>
              <a:rPr lang="en-US" altLang="zh-CN" sz="1000" dirty="0"/>
              <a:t>H</a:t>
            </a:r>
            <a:r>
              <a:rPr lang="en-US" altLang="zh-CN" sz="1000" baseline="-25000" dirty="0"/>
              <a:t>5</a:t>
            </a:r>
          </a:p>
        </p:txBody>
      </p:sp>
      <p:sp useBgFill="1">
        <p:nvSpPr>
          <p:cNvPr id="133" name="Rectangle 37"/>
          <p:cNvSpPr>
            <a:spLocks noChangeArrowheads="1"/>
          </p:cNvSpPr>
          <p:nvPr/>
        </p:nvSpPr>
        <p:spPr bwMode="auto">
          <a:xfrm>
            <a:off x="2961614" y="2209361"/>
            <a:ext cx="482400" cy="244800"/>
          </a:xfrm>
          <a:prstGeom prst="rect">
            <a:avLst/>
          </a:prstGeom>
          <a:ln w="9525">
            <a:solidFill>
              <a:schemeClr val="tx1"/>
            </a:solidFill>
            <a:miter lim="800000"/>
          </a:ln>
        </p:spPr>
        <p:txBody>
          <a:bodyPr wrap="none" anchor="ctr"/>
          <a:lstStyle/>
          <a:p>
            <a:pPr algn="ctr"/>
            <a:r>
              <a:rPr lang="zh-CN" altLang="en-US" sz="1000" dirty="0">
                <a:solidFill>
                  <a:sysClr val="windowText" lastClr="000000"/>
                </a:solidFill>
              </a:rPr>
              <a:t>数 据</a:t>
            </a:r>
          </a:p>
        </p:txBody>
      </p:sp>
      <p:sp>
        <p:nvSpPr>
          <p:cNvPr id="135" name="Rectangle 39"/>
          <p:cNvSpPr>
            <a:spLocks noChangeArrowheads="1"/>
          </p:cNvSpPr>
          <p:nvPr/>
        </p:nvSpPr>
        <p:spPr bwMode="auto">
          <a:xfrm>
            <a:off x="2738414" y="2554531"/>
            <a:ext cx="223200" cy="244800"/>
          </a:xfrm>
          <a:prstGeom prst="rect">
            <a:avLst/>
          </a:prstGeom>
          <a:solidFill>
            <a:schemeClr val="accent2"/>
          </a:solidFill>
          <a:ln w="9525">
            <a:solidFill>
              <a:schemeClr val="tx1"/>
            </a:solidFill>
            <a:miter lim="800000"/>
          </a:ln>
          <a:effectLst/>
        </p:spPr>
        <p:txBody>
          <a:bodyPr wrap="none" anchor="ctr"/>
          <a:lstStyle/>
          <a:p>
            <a:pPr algn="ctr" fontAlgn="auto">
              <a:spcBef>
                <a:spcPts val="0"/>
              </a:spcBef>
              <a:spcAft>
                <a:spcPts val="0"/>
              </a:spcAft>
              <a:defRPr/>
            </a:pPr>
            <a:r>
              <a:rPr lang="en-US" altLang="zh-CN" sz="1000" dirty="0"/>
              <a:t>H</a:t>
            </a:r>
            <a:r>
              <a:rPr lang="en-US" altLang="zh-CN" sz="1000" baseline="-25000" dirty="0"/>
              <a:t>5</a:t>
            </a:r>
          </a:p>
        </p:txBody>
      </p:sp>
      <p:sp>
        <p:nvSpPr>
          <p:cNvPr id="136" name="Rectangle 40"/>
          <p:cNvSpPr>
            <a:spLocks noChangeArrowheads="1"/>
          </p:cNvSpPr>
          <p:nvPr/>
        </p:nvSpPr>
        <p:spPr bwMode="auto">
          <a:xfrm>
            <a:off x="2961614" y="2554531"/>
            <a:ext cx="482400" cy="244800"/>
          </a:xfrm>
          <a:prstGeom prst="rect">
            <a:avLst/>
          </a:prstGeom>
          <a:solidFill>
            <a:schemeClr val="bg1"/>
          </a:solidFill>
          <a:ln w="9525">
            <a:solidFill>
              <a:schemeClr val="tx1"/>
            </a:solidFill>
            <a:miter lim="800000"/>
          </a:ln>
        </p:spPr>
        <p:txBody>
          <a:bodyPr wrap="none" anchor="ctr"/>
          <a:lstStyle/>
          <a:p>
            <a:pPr algn="ctr"/>
            <a:r>
              <a:rPr lang="zh-CN" altLang="en-US" sz="1000" dirty="0"/>
              <a:t>数 据</a:t>
            </a:r>
          </a:p>
        </p:txBody>
      </p:sp>
      <p:sp>
        <p:nvSpPr>
          <p:cNvPr id="137" name="Rectangle 66"/>
          <p:cNvSpPr>
            <a:spLocks noChangeArrowheads="1"/>
          </p:cNvSpPr>
          <p:nvPr/>
        </p:nvSpPr>
        <p:spPr bwMode="auto">
          <a:xfrm>
            <a:off x="2515214" y="2554531"/>
            <a:ext cx="223200" cy="244800"/>
          </a:xfrm>
          <a:prstGeom prst="rect">
            <a:avLst/>
          </a:prstGeom>
          <a:solidFill>
            <a:srgbClr val="FFC000"/>
          </a:solidFill>
          <a:ln w="9525">
            <a:solidFill>
              <a:schemeClr val="tx1"/>
            </a:solidFill>
            <a:miter lim="800000"/>
          </a:ln>
          <a:effectLst/>
        </p:spPr>
        <p:txBody>
          <a:bodyPr wrap="none" anchor="ctr"/>
          <a:lstStyle/>
          <a:p>
            <a:pPr algn="ctr"/>
            <a:r>
              <a:rPr lang="en-US" altLang="zh-CN" sz="1000" dirty="0"/>
              <a:t>H</a:t>
            </a:r>
            <a:r>
              <a:rPr lang="en-US" altLang="zh-CN" sz="1000" baseline="-25000" dirty="0"/>
              <a:t>4</a:t>
            </a:r>
          </a:p>
        </p:txBody>
      </p:sp>
      <p:sp>
        <p:nvSpPr>
          <p:cNvPr id="141" name="Rectangle 42"/>
          <p:cNvSpPr>
            <a:spLocks noChangeArrowheads="1"/>
          </p:cNvSpPr>
          <p:nvPr/>
        </p:nvSpPr>
        <p:spPr bwMode="auto">
          <a:xfrm>
            <a:off x="2515214" y="2932543"/>
            <a:ext cx="223200" cy="244800"/>
          </a:xfrm>
          <a:prstGeom prst="rect">
            <a:avLst/>
          </a:prstGeom>
          <a:solidFill>
            <a:srgbClr val="FFC000"/>
          </a:solidFill>
          <a:ln w="9525">
            <a:solidFill>
              <a:schemeClr val="tx1"/>
            </a:solidFill>
            <a:miter lim="800000"/>
          </a:ln>
          <a:effectLst/>
        </p:spPr>
        <p:txBody>
          <a:bodyPr wrap="none" anchor="ctr"/>
          <a:lstStyle/>
          <a:p>
            <a:pPr algn="ctr"/>
            <a:r>
              <a:rPr lang="en-US" altLang="zh-CN" sz="1000" dirty="0"/>
              <a:t>H</a:t>
            </a:r>
            <a:r>
              <a:rPr lang="en-US" altLang="zh-CN" sz="1000" baseline="-25000" dirty="0"/>
              <a:t>4</a:t>
            </a:r>
          </a:p>
        </p:txBody>
      </p:sp>
      <p:sp>
        <p:nvSpPr>
          <p:cNvPr id="147" name="Rectangle 43"/>
          <p:cNvSpPr>
            <a:spLocks noChangeArrowheads="1"/>
          </p:cNvSpPr>
          <p:nvPr/>
        </p:nvSpPr>
        <p:spPr bwMode="auto">
          <a:xfrm>
            <a:off x="2738414" y="2932543"/>
            <a:ext cx="223200" cy="244800"/>
          </a:xfrm>
          <a:prstGeom prst="rect">
            <a:avLst/>
          </a:prstGeom>
          <a:solidFill>
            <a:schemeClr val="accent2"/>
          </a:solidFill>
          <a:ln w="9525">
            <a:solidFill>
              <a:schemeClr val="tx1"/>
            </a:solidFill>
            <a:miter lim="800000"/>
          </a:ln>
          <a:effectLst/>
        </p:spPr>
        <p:txBody>
          <a:bodyPr wrap="none" anchor="ctr"/>
          <a:lstStyle/>
          <a:p>
            <a:pPr algn="ctr"/>
            <a:r>
              <a:rPr lang="en-US" altLang="zh-CN" sz="1000" dirty="0"/>
              <a:t>H</a:t>
            </a:r>
            <a:r>
              <a:rPr lang="en-US" altLang="zh-CN" sz="1000" baseline="-25000" dirty="0"/>
              <a:t>5</a:t>
            </a:r>
          </a:p>
        </p:txBody>
      </p:sp>
      <p:sp>
        <p:nvSpPr>
          <p:cNvPr id="148" name="Rectangle 44"/>
          <p:cNvSpPr>
            <a:spLocks noChangeArrowheads="1"/>
          </p:cNvSpPr>
          <p:nvPr/>
        </p:nvSpPr>
        <p:spPr bwMode="auto">
          <a:xfrm>
            <a:off x="2961614" y="2932543"/>
            <a:ext cx="482400" cy="244800"/>
          </a:xfrm>
          <a:prstGeom prst="rect">
            <a:avLst/>
          </a:prstGeom>
          <a:solidFill>
            <a:schemeClr val="bg1"/>
          </a:solidFill>
          <a:ln w="9525">
            <a:solidFill>
              <a:schemeClr val="tx1"/>
            </a:solidFill>
            <a:miter lim="800000"/>
          </a:ln>
        </p:spPr>
        <p:txBody>
          <a:bodyPr wrap="none" anchor="ctr"/>
          <a:lstStyle/>
          <a:p>
            <a:pPr algn="ctr"/>
            <a:r>
              <a:rPr lang="zh-CN" altLang="en-US" sz="1000" dirty="0"/>
              <a:t>数 据</a:t>
            </a:r>
          </a:p>
        </p:txBody>
      </p:sp>
      <p:sp>
        <p:nvSpPr>
          <p:cNvPr id="149" name="Rectangle 70"/>
          <p:cNvSpPr>
            <a:spLocks noChangeArrowheads="1"/>
          </p:cNvSpPr>
          <p:nvPr/>
        </p:nvSpPr>
        <p:spPr bwMode="auto">
          <a:xfrm>
            <a:off x="2292014" y="2932543"/>
            <a:ext cx="223200" cy="244800"/>
          </a:xfrm>
          <a:prstGeom prst="rect">
            <a:avLst/>
          </a:prstGeom>
          <a:solidFill>
            <a:srgbClr val="00B0F0"/>
          </a:solidFill>
          <a:ln w="9525">
            <a:solidFill>
              <a:schemeClr val="tx1"/>
            </a:solidFill>
            <a:miter lim="800000"/>
          </a:ln>
          <a:effectLst/>
        </p:spPr>
        <p:txBody>
          <a:bodyPr wrap="none" anchor="ctr"/>
          <a:lstStyle/>
          <a:p>
            <a:pPr algn="ctr"/>
            <a:r>
              <a:rPr lang="en-US" altLang="zh-CN" sz="1000"/>
              <a:t>H</a:t>
            </a:r>
            <a:r>
              <a:rPr lang="en-US" altLang="zh-CN" sz="1000" baseline="-25000"/>
              <a:t>3</a:t>
            </a:r>
          </a:p>
        </p:txBody>
      </p:sp>
      <p:sp>
        <p:nvSpPr>
          <p:cNvPr id="151" name="Rectangle 46"/>
          <p:cNvSpPr>
            <a:spLocks noChangeArrowheads="1"/>
          </p:cNvSpPr>
          <p:nvPr/>
        </p:nvSpPr>
        <p:spPr bwMode="auto">
          <a:xfrm>
            <a:off x="2292014" y="3303460"/>
            <a:ext cx="223200" cy="244800"/>
          </a:xfrm>
          <a:prstGeom prst="rect">
            <a:avLst/>
          </a:prstGeom>
          <a:solidFill>
            <a:srgbClr val="00B0F0"/>
          </a:solidFill>
          <a:ln w="9525">
            <a:solidFill>
              <a:schemeClr val="tx1"/>
            </a:solidFill>
            <a:miter lim="800000"/>
          </a:ln>
          <a:effectLst/>
        </p:spPr>
        <p:txBody>
          <a:bodyPr wrap="none" anchor="ctr"/>
          <a:lstStyle/>
          <a:p>
            <a:pPr algn="ctr"/>
            <a:r>
              <a:rPr lang="en-US" altLang="zh-CN" sz="1000"/>
              <a:t>H</a:t>
            </a:r>
            <a:r>
              <a:rPr lang="en-US" altLang="zh-CN" sz="1000" baseline="-25000"/>
              <a:t>3</a:t>
            </a:r>
          </a:p>
        </p:txBody>
      </p:sp>
      <p:sp>
        <p:nvSpPr>
          <p:cNvPr id="152" name="Rectangle 47"/>
          <p:cNvSpPr>
            <a:spLocks noChangeArrowheads="1"/>
          </p:cNvSpPr>
          <p:nvPr/>
        </p:nvSpPr>
        <p:spPr bwMode="auto">
          <a:xfrm>
            <a:off x="2515214" y="3303460"/>
            <a:ext cx="223200" cy="244800"/>
          </a:xfrm>
          <a:prstGeom prst="rect">
            <a:avLst/>
          </a:prstGeom>
          <a:solidFill>
            <a:srgbClr val="FFC000"/>
          </a:solidFill>
          <a:ln w="9525">
            <a:solidFill>
              <a:schemeClr val="tx1"/>
            </a:solidFill>
            <a:miter lim="800000"/>
          </a:ln>
          <a:effectLst/>
        </p:spPr>
        <p:txBody>
          <a:bodyPr wrap="none" anchor="ctr"/>
          <a:lstStyle/>
          <a:p>
            <a:pPr algn="ctr"/>
            <a:r>
              <a:rPr lang="en-US" altLang="zh-CN" sz="1000"/>
              <a:t>H</a:t>
            </a:r>
            <a:r>
              <a:rPr lang="en-US" altLang="zh-CN" sz="1000" baseline="-25000"/>
              <a:t>4</a:t>
            </a:r>
          </a:p>
        </p:txBody>
      </p:sp>
      <p:sp>
        <p:nvSpPr>
          <p:cNvPr id="153" name="Rectangle 48"/>
          <p:cNvSpPr>
            <a:spLocks noChangeArrowheads="1"/>
          </p:cNvSpPr>
          <p:nvPr/>
        </p:nvSpPr>
        <p:spPr bwMode="auto">
          <a:xfrm>
            <a:off x="2738414" y="3303460"/>
            <a:ext cx="223200" cy="244800"/>
          </a:xfrm>
          <a:prstGeom prst="rect">
            <a:avLst/>
          </a:prstGeom>
          <a:solidFill>
            <a:schemeClr val="accent2"/>
          </a:solidFill>
          <a:ln w="9525">
            <a:solidFill>
              <a:schemeClr val="tx1"/>
            </a:solidFill>
            <a:miter lim="800000"/>
          </a:ln>
          <a:effectLst/>
        </p:spPr>
        <p:txBody>
          <a:bodyPr wrap="none" anchor="ctr"/>
          <a:lstStyle/>
          <a:p>
            <a:pPr algn="ctr"/>
            <a:r>
              <a:rPr lang="en-US" altLang="zh-CN" sz="1000" dirty="0"/>
              <a:t>H</a:t>
            </a:r>
            <a:r>
              <a:rPr lang="en-US" altLang="zh-CN" sz="1000" baseline="-25000" dirty="0"/>
              <a:t>5</a:t>
            </a:r>
          </a:p>
        </p:txBody>
      </p:sp>
      <p:sp>
        <p:nvSpPr>
          <p:cNvPr id="154" name="Rectangle 49"/>
          <p:cNvSpPr>
            <a:spLocks noChangeArrowheads="1"/>
          </p:cNvSpPr>
          <p:nvPr/>
        </p:nvSpPr>
        <p:spPr bwMode="auto">
          <a:xfrm>
            <a:off x="2961614" y="3303460"/>
            <a:ext cx="482400" cy="244800"/>
          </a:xfrm>
          <a:prstGeom prst="rect">
            <a:avLst/>
          </a:prstGeom>
          <a:solidFill>
            <a:schemeClr val="bg1"/>
          </a:solidFill>
          <a:ln w="9525">
            <a:solidFill>
              <a:schemeClr val="tx1"/>
            </a:solidFill>
            <a:miter lim="800000"/>
          </a:ln>
        </p:spPr>
        <p:txBody>
          <a:bodyPr wrap="none" anchor="ctr"/>
          <a:lstStyle/>
          <a:p>
            <a:pPr algn="ctr"/>
            <a:r>
              <a:rPr lang="zh-CN" altLang="en-US" sz="1000" dirty="0"/>
              <a:t>数 据</a:t>
            </a:r>
          </a:p>
        </p:txBody>
      </p:sp>
      <p:sp>
        <p:nvSpPr>
          <p:cNvPr id="155" name="Rectangle 74"/>
          <p:cNvSpPr>
            <a:spLocks noChangeArrowheads="1"/>
          </p:cNvSpPr>
          <p:nvPr/>
        </p:nvSpPr>
        <p:spPr bwMode="auto">
          <a:xfrm>
            <a:off x="2068814" y="3303460"/>
            <a:ext cx="223200" cy="244800"/>
          </a:xfrm>
          <a:prstGeom prst="rect">
            <a:avLst/>
          </a:prstGeom>
          <a:solidFill>
            <a:srgbClr val="00B050"/>
          </a:solidFill>
          <a:ln w="9525">
            <a:solidFill>
              <a:schemeClr val="tx1"/>
            </a:solidFill>
            <a:miter lim="800000"/>
          </a:ln>
          <a:effectLst/>
        </p:spPr>
        <p:txBody>
          <a:bodyPr wrap="none" anchor="ctr"/>
          <a:lstStyle/>
          <a:p>
            <a:pPr algn="ctr"/>
            <a:r>
              <a:rPr lang="en-US" altLang="zh-CN" sz="1000" dirty="0"/>
              <a:t>H</a:t>
            </a:r>
            <a:r>
              <a:rPr lang="en-US" altLang="zh-CN" sz="1000" baseline="-25000" dirty="0"/>
              <a:t>2</a:t>
            </a:r>
          </a:p>
        </p:txBody>
      </p:sp>
      <p:sp>
        <p:nvSpPr>
          <p:cNvPr id="156" name="Rectangle 78"/>
          <p:cNvSpPr>
            <a:spLocks noChangeArrowheads="1"/>
          </p:cNvSpPr>
          <p:nvPr/>
        </p:nvSpPr>
        <p:spPr bwMode="auto">
          <a:xfrm>
            <a:off x="3444013" y="3303206"/>
            <a:ext cx="223200" cy="245309"/>
          </a:xfrm>
          <a:prstGeom prst="rect">
            <a:avLst/>
          </a:prstGeom>
          <a:solidFill>
            <a:srgbClr val="00B050"/>
          </a:solidFill>
          <a:ln w="9525">
            <a:solidFill>
              <a:schemeClr val="tx1"/>
            </a:solidFill>
            <a:miter lim="800000"/>
          </a:ln>
          <a:effectLst/>
        </p:spPr>
        <p:txBody>
          <a:bodyPr wrap="none" anchor="ctr"/>
          <a:lstStyle/>
          <a:p>
            <a:pPr algn="ctr"/>
            <a:r>
              <a:rPr lang="en-US" altLang="zh-CN" sz="1000" dirty="0"/>
              <a:t>T</a:t>
            </a:r>
            <a:r>
              <a:rPr lang="en-US" altLang="zh-CN" sz="1000" baseline="-25000" dirty="0"/>
              <a:t>2</a:t>
            </a:r>
          </a:p>
        </p:txBody>
      </p:sp>
      <p:sp useBgFill="1">
        <p:nvSpPr>
          <p:cNvPr id="160" name="Rectangle 35"/>
          <p:cNvSpPr>
            <a:spLocks noChangeArrowheads="1"/>
          </p:cNvSpPr>
          <p:nvPr/>
        </p:nvSpPr>
        <p:spPr bwMode="auto">
          <a:xfrm>
            <a:off x="2068816" y="3671598"/>
            <a:ext cx="1598222" cy="244475"/>
          </a:xfrm>
          <a:prstGeom prst="rect">
            <a:avLst/>
          </a:prstGeom>
          <a:ln w="9525">
            <a:solidFill>
              <a:schemeClr val="tx1"/>
            </a:solidFill>
            <a:miter lim="800000"/>
          </a:ln>
        </p:spPr>
        <p:txBody>
          <a:bodyPr wrap="none" anchor="ctr"/>
          <a:lstStyle/>
          <a:p>
            <a:pPr algn="ctr"/>
            <a:r>
              <a:rPr lang="en-US" altLang="zh-CN" sz="1000" dirty="0">
                <a:solidFill>
                  <a:srgbClr val="FF0000"/>
                </a:solidFill>
                <a:latin typeface="+mj-lt"/>
                <a:ea typeface="+mj-ea"/>
              </a:rPr>
              <a:t>10100 </a:t>
            </a:r>
            <a:r>
              <a:rPr lang="zh-CN" altLang="en-US" sz="1000" dirty="0">
                <a:solidFill>
                  <a:srgbClr val="FF0000"/>
                </a:solidFill>
                <a:latin typeface="+mj-lt"/>
                <a:ea typeface="+mj-ea"/>
              </a:rPr>
              <a:t>比特流 </a:t>
            </a:r>
            <a:r>
              <a:rPr lang="en-US" altLang="zh-CN" sz="1000" dirty="0">
                <a:solidFill>
                  <a:srgbClr val="FF0000"/>
                </a:solidFill>
                <a:latin typeface="+mj-lt"/>
                <a:ea typeface="+mj-ea"/>
              </a:rPr>
              <a:t>110100</a:t>
            </a:r>
          </a:p>
        </p:txBody>
      </p:sp>
      <p:sp>
        <p:nvSpPr>
          <p:cNvPr id="83" name="Rectangle 74"/>
          <p:cNvSpPr>
            <a:spLocks noChangeArrowheads="1"/>
          </p:cNvSpPr>
          <p:nvPr/>
        </p:nvSpPr>
        <p:spPr bwMode="auto">
          <a:xfrm>
            <a:off x="5499744" y="3302812"/>
            <a:ext cx="223200" cy="244800"/>
          </a:xfrm>
          <a:prstGeom prst="rect">
            <a:avLst/>
          </a:prstGeom>
          <a:solidFill>
            <a:srgbClr val="000066"/>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000" dirty="0">
                <a:solidFill>
                  <a:schemeClr val="bg1"/>
                </a:solidFill>
              </a:rPr>
              <a:t>H</a:t>
            </a:r>
            <a:r>
              <a:rPr lang="en-US" altLang="zh-CN" sz="1000" baseline="-25000" dirty="0">
                <a:solidFill>
                  <a:schemeClr val="bg1"/>
                </a:solidFill>
              </a:rPr>
              <a:t>2</a:t>
            </a:r>
          </a:p>
        </p:txBody>
      </p:sp>
      <p:sp>
        <p:nvSpPr>
          <p:cNvPr id="89" name="Rectangle 78"/>
          <p:cNvSpPr>
            <a:spLocks noChangeArrowheads="1"/>
          </p:cNvSpPr>
          <p:nvPr/>
        </p:nvSpPr>
        <p:spPr bwMode="auto">
          <a:xfrm>
            <a:off x="6838944" y="3303284"/>
            <a:ext cx="223200" cy="245309"/>
          </a:xfrm>
          <a:prstGeom prst="rect">
            <a:avLst/>
          </a:prstGeom>
          <a:solidFill>
            <a:schemeClr val="accent6">
              <a:lumMod val="75000"/>
            </a:schemeClr>
          </a:solidFill>
          <a:ln w="9525">
            <a:solidFill>
              <a:schemeClr val="tx1"/>
            </a:solid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000" dirty="0"/>
              <a:t>T</a:t>
            </a:r>
            <a:r>
              <a:rPr lang="en-US" altLang="zh-CN" sz="1000" baseline="-25000" dirty="0"/>
              <a:t>2</a:t>
            </a:r>
          </a:p>
        </p:txBody>
      </p:sp>
      <p:sp>
        <p:nvSpPr>
          <p:cNvPr id="97" name="Rectangle 46"/>
          <p:cNvSpPr>
            <a:spLocks noChangeArrowheads="1"/>
          </p:cNvSpPr>
          <p:nvPr/>
        </p:nvSpPr>
        <p:spPr bwMode="auto">
          <a:xfrm>
            <a:off x="5722944" y="3304108"/>
            <a:ext cx="223200" cy="244800"/>
          </a:xfrm>
          <a:prstGeom prst="rect">
            <a:avLst/>
          </a:prstGeom>
          <a:solidFill>
            <a:srgbClr val="00B0F0"/>
          </a:solidFill>
          <a:ln w="9525">
            <a:solidFill>
              <a:schemeClr val="tx1"/>
            </a:solidFill>
            <a:miter lim="800000"/>
          </a:ln>
          <a:effectLst/>
        </p:spPr>
        <p:txBody>
          <a:bodyPr wrap="none" anchor="ctr"/>
          <a:lstStyle/>
          <a:p>
            <a:pPr algn="ctr"/>
            <a:r>
              <a:rPr lang="en-US" altLang="zh-CN" sz="1000" dirty="0"/>
              <a:t>H</a:t>
            </a:r>
            <a:r>
              <a:rPr lang="en-US" altLang="zh-CN" sz="1000" baseline="-25000" dirty="0"/>
              <a:t>3</a:t>
            </a:r>
          </a:p>
        </p:txBody>
      </p:sp>
      <p:sp>
        <p:nvSpPr>
          <p:cNvPr id="98" name="Rectangle 47"/>
          <p:cNvSpPr>
            <a:spLocks noChangeArrowheads="1"/>
          </p:cNvSpPr>
          <p:nvPr/>
        </p:nvSpPr>
        <p:spPr bwMode="auto">
          <a:xfrm>
            <a:off x="5946144" y="3304108"/>
            <a:ext cx="223200" cy="244800"/>
          </a:xfrm>
          <a:prstGeom prst="rect">
            <a:avLst/>
          </a:prstGeom>
          <a:solidFill>
            <a:srgbClr val="FFC000"/>
          </a:solidFill>
          <a:ln w="9525">
            <a:solidFill>
              <a:schemeClr val="tx1"/>
            </a:solidFill>
            <a:miter lim="800000"/>
          </a:ln>
          <a:effectLst/>
        </p:spPr>
        <p:txBody>
          <a:bodyPr wrap="none" anchor="ctr"/>
          <a:lstStyle/>
          <a:p>
            <a:pPr algn="ctr"/>
            <a:r>
              <a:rPr lang="en-US" altLang="zh-CN" sz="1000"/>
              <a:t>H</a:t>
            </a:r>
            <a:r>
              <a:rPr lang="en-US" altLang="zh-CN" sz="1000" baseline="-25000"/>
              <a:t>4</a:t>
            </a:r>
          </a:p>
        </p:txBody>
      </p:sp>
      <p:sp>
        <p:nvSpPr>
          <p:cNvPr id="101" name="Rectangle 48"/>
          <p:cNvSpPr>
            <a:spLocks noChangeArrowheads="1"/>
          </p:cNvSpPr>
          <p:nvPr/>
        </p:nvSpPr>
        <p:spPr bwMode="auto">
          <a:xfrm>
            <a:off x="6169344" y="3304108"/>
            <a:ext cx="223200" cy="244800"/>
          </a:xfrm>
          <a:prstGeom prst="rect">
            <a:avLst/>
          </a:prstGeom>
          <a:solidFill>
            <a:schemeClr val="accent2"/>
          </a:solidFill>
          <a:ln w="9525">
            <a:solidFill>
              <a:schemeClr val="tx1"/>
            </a:solidFill>
            <a:miter lim="800000"/>
          </a:ln>
          <a:effectLst/>
        </p:spPr>
        <p:txBody>
          <a:bodyPr wrap="none" anchor="ctr"/>
          <a:lstStyle/>
          <a:p>
            <a:pPr algn="ctr"/>
            <a:r>
              <a:rPr lang="en-US" altLang="zh-CN" sz="1000" dirty="0"/>
              <a:t>H</a:t>
            </a:r>
            <a:r>
              <a:rPr lang="en-US" altLang="zh-CN" sz="1000" baseline="-25000" dirty="0"/>
              <a:t>5</a:t>
            </a:r>
          </a:p>
        </p:txBody>
      </p:sp>
      <p:sp>
        <p:nvSpPr>
          <p:cNvPr id="102" name="Rectangle 49"/>
          <p:cNvSpPr>
            <a:spLocks noChangeArrowheads="1"/>
          </p:cNvSpPr>
          <p:nvPr/>
        </p:nvSpPr>
        <p:spPr bwMode="auto">
          <a:xfrm>
            <a:off x="6392544" y="3304109"/>
            <a:ext cx="446400" cy="244800"/>
          </a:xfrm>
          <a:prstGeom prst="rect">
            <a:avLst/>
          </a:prstGeom>
          <a:solidFill>
            <a:schemeClr val="bg1"/>
          </a:solidFill>
          <a:ln w="9525">
            <a:solidFill>
              <a:schemeClr val="tx1"/>
            </a:solidFill>
            <a:miter lim="800000"/>
          </a:ln>
        </p:spPr>
        <p:txBody>
          <a:bodyPr wrap="none" anchor="ctr"/>
          <a:lstStyle/>
          <a:p>
            <a:pPr algn="ctr"/>
            <a:r>
              <a:rPr lang="zh-CN" altLang="en-US" sz="1000" dirty="0"/>
              <a:t>数 据</a:t>
            </a:r>
          </a:p>
        </p:txBody>
      </p:sp>
      <p:sp useBgFill="1">
        <p:nvSpPr>
          <p:cNvPr id="103" name="Rectangle 35"/>
          <p:cNvSpPr>
            <a:spLocks noChangeArrowheads="1"/>
          </p:cNvSpPr>
          <p:nvPr/>
        </p:nvSpPr>
        <p:spPr bwMode="auto">
          <a:xfrm>
            <a:off x="5489148" y="3671598"/>
            <a:ext cx="1598222" cy="244475"/>
          </a:xfrm>
          <a:prstGeom prst="rect">
            <a:avLst/>
          </a:prstGeom>
          <a:ln w="9525">
            <a:solidFill>
              <a:schemeClr val="tx1"/>
            </a:solidFill>
            <a:miter lim="800000"/>
          </a:ln>
        </p:spPr>
        <p:txBody>
          <a:bodyPr wrap="none" anchor="ctr"/>
          <a:lstStyle/>
          <a:p>
            <a:pPr algn="ctr"/>
            <a:r>
              <a:rPr lang="en-US" altLang="zh-CN" sz="1000" dirty="0">
                <a:solidFill>
                  <a:srgbClr val="FF0000"/>
                </a:solidFill>
                <a:latin typeface="+mj-lt"/>
                <a:ea typeface="+mj-ea"/>
              </a:rPr>
              <a:t>10101 </a:t>
            </a:r>
            <a:r>
              <a:rPr lang="zh-CN" altLang="en-US" sz="1000" dirty="0">
                <a:solidFill>
                  <a:srgbClr val="FF0000"/>
                </a:solidFill>
                <a:latin typeface="+mj-lt"/>
                <a:ea typeface="+mj-ea"/>
              </a:rPr>
              <a:t>比特</a:t>
            </a:r>
            <a:r>
              <a:rPr lang="zh-CN" altLang="en-US" sz="1000">
                <a:solidFill>
                  <a:srgbClr val="FF0000"/>
                </a:solidFill>
                <a:latin typeface="+mj-lt"/>
                <a:ea typeface="+mj-ea"/>
              </a:rPr>
              <a:t>流 </a:t>
            </a:r>
            <a:r>
              <a:rPr lang="en-US" altLang="zh-CN" sz="1000" dirty="0">
                <a:solidFill>
                  <a:srgbClr val="FF0000"/>
                </a:solidFill>
                <a:latin typeface="+mj-lt"/>
                <a:ea typeface="+mj-ea"/>
              </a:rPr>
              <a:t>110111</a:t>
            </a:r>
          </a:p>
        </p:txBody>
      </p:sp>
      <p:sp>
        <p:nvSpPr>
          <p:cNvPr id="108" name="Rectangle 42"/>
          <p:cNvSpPr>
            <a:spLocks noChangeArrowheads="1"/>
          </p:cNvSpPr>
          <p:nvPr/>
        </p:nvSpPr>
        <p:spPr bwMode="auto">
          <a:xfrm>
            <a:off x="5946144" y="2932328"/>
            <a:ext cx="223200" cy="244800"/>
          </a:xfrm>
          <a:prstGeom prst="rect">
            <a:avLst/>
          </a:prstGeom>
          <a:solidFill>
            <a:srgbClr val="FFC000"/>
          </a:solidFill>
          <a:ln w="9525">
            <a:solidFill>
              <a:schemeClr val="tx1"/>
            </a:solidFill>
            <a:miter lim="800000"/>
          </a:ln>
          <a:effectLst/>
        </p:spPr>
        <p:txBody>
          <a:bodyPr wrap="none" anchor="ctr"/>
          <a:lstStyle/>
          <a:p>
            <a:pPr algn="ctr"/>
            <a:r>
              <a:rPr lang="en-US" altLang="zh-CN" sz="1000" dirty="0"/>
              <a:t>H</a:t>
            </a:r>
            <a:r>
              <a:rPr lang="en-US" altLang="zh-CN" sz="1000" baseline="-25000" dirty="0"/>
              <a:t>4</a:t>
            </a:r>
          </a:p>
        </p:txBody>
      </p:sp>
      <p:sp>
        <p:nvSpPr>
          <p:cNvPr id="110" name="Rectangle 43"/>
          <p:cNvSpPr>
            <a:spLocks noChangeArrowheads="1"/>
          </p:cNvSpPr>
          <p:nvPr/>
        </p:nvSpPr>
        <p:spPr bwMode="auto">
          <a:xfrm>
            <a:off x="6169344" y="2932328"/>
            <a:ext cx="223200" cy="244800"/>
          </a:xfrm>
          <a:prstGeom prst="rect">
            <a:avLst/>
          </a:prstGeom>
          <a:solidFill>
            <a:schemeClr val="accent2"/>
          </a:solidFill>
          <a:ln w="9525">
            <a:solidFill>
              <a:schemeClr val="tx1"/>
            </a:solidFill>
            <a:miter lim="800000"/>
          </a:ln>
          <a:effectLst/>
        </p:spPr>
        <p:txBody>
          <a:bodyPr wrap="none" anchor="ctr"/>
          <a:lstStyle/>
          <a:p>
            <a:pPr algn="ctr"/>
            <a:r>
              <a:rPr lang="en-US" altLang="zh-CN" sz="1000" dirty="0"/>
              <a:t>H</a:t>
            </a:r>
            <a:r>
              <a:rPr lang="en-US" altLang="zh-CN" sz="1000" baseline="-25000" dirty="0"/>
              <a:t>5</a:t>
            </a:r>
          </a:p>
        </p:txBody>
      </p:sp>
      <p:sp>
        <p:nvSpPr>
          <p:cNvPr id="112" name="Rectangle 44"/>
          <p:cNvSpPr>
            <a:spLocks noChangeArrowheads="1"/>
          </p:cNvSpPr>
          <p:nvPr/>
        </p:nvSpPr>
        <p:spPr bwMode="auto">
          <a:xfrm>
            <a:off x="6392544" y="2932328"/>
            <a:ext cx="446400" cy="244800"/>
          </a:xfrm>
          <a:prstGeom prst="rect">
            <a:avLst/>
          </a:prstGeom>
          <a:solidFill>
            <a:schemeClr val="bg1"/>
          </a:solidFill>
          <a:ln w="9525">
            <a:solidFill>
              <a:schemeClr val="tx1"/>
            </a:solidFill>
            <a:miter lim="800000"/>
          </a:ln>
        </p:spPr>
        <p:txBody>
          <a:bodyPr wrap="none" anchor="ctr"/>
          <a:lstStyle/>
          <a:p>
            <a:pPr algn="ctr"/>
            <a:r>
              <a:rPr lang="zh-CN" altLang="en-US" sz="1000" dirty="0"/>
              <a:t>数 据</a:t>
            </a:r>
          </a:p>
        </p:txBody>
      </p:sp>
      <p:sp>
        <p:nvSpPr>
          <p:cNvPr id="105" name="Rectangle 70"/>
          <p:cNvSpPr>
            <a:spLocks noChangeArrowheads="1"/>
          </p:cNvSpPr>
          <p:nvPr/>
        </p:nvSpPr>
        <p:spPr bwMode="auto">
          <a:xfrm>
            <a:off x="5722944" y="2932758"/>
            <a:ext cx="223200" cy="244800"/>
          </a:xfrm>
          <a:prstGeom prst="rect">
            <a:avLst/>
          </a:prstGeom>
          <a:solidFill>
            <a:srgbClr val="00B0F0"/>
          </a:solidFill>
          <a:ln w="9525">
            <a:solidFill>
              <a:schemeClr val="tx1"/>
            </a:solidFill>
            <a:miter lim="800000"/>
          </a:ln>
          <a:effectLst/>
        </p:spPr>
        <p:txBody>
          <a:bodyPr wrap="none" anchor="ctr"/>
          <a:lstStyle/>
          <a:p>
            <a:pPr algn="ctr"/>
            <a:r>
              <a:rPr lang="en-US" altLang="zh-CN" sz="1000" dirty="0"/>
              <a:t>H</a:t>
            </a:r>
            <a:r>
              <a:rPr lang="en-US" altLang="zh-CN" sz="1000" baseline="-25000" dirty="0"/>
              <a:t>3</a:t>
            </a:r>
          </a:p>
        </p:txBody>
      </p:sp>
      <p:sp>
        <p:nvSpPr>
          <p:cNvPr id="117" name="Rectangle 39"/>
          <p:cNvSpPr>
            <a:spLocks noChangeArrowheads="1"/>
          </p:cNvSpPr>
          <p:nvPr/>
        </p:nvSpPr>
        <p:spPr bwMode="auto">
          <a:xfrm>
            <a:off x="6169344" y="2554801"/>
            <a:ext cx="223200" cy="244800"/>
          </a:xfrm>
          <a:prstGeom prst="rect">
            <a:avLst/>
          </a:prstGeom>
          <a:solidFill>
            <a:schemeClr val="accent2"/>
          </a:solidFill>
          <a:ln w="9525">
            <a:solidFill>
              <a:schemeClr val="tx1"/>
            </a:solidFill>
            <a:miter lim="800000"/>
          </a:ln>
          <a:effectLst/>
        </p:spPr>
        <p:txBody>
          <a:bodyPr wrap="none" anchor="ctr"/>
          <a:lstStyle/>
          <a:p>
            <a:pPr algn="ctr" fontAlgn="auto">
              <a:spcBef>
                <a:spcPts val="0"/>
              </a:spcBef>
              <a:spcAft>
                <a:spcPts val="0"/>
              </a:spcAft>
              <a:defRPr/>
            </a:pPr>
            <a:r>
              <a:rPr lang="en-US" altLang="zh-CN" sz="1000" dirty="0"/>
              <a:t>H</a:t>
            </a:r>
            <a:r>
              <a:rPr lang="en-US" altLang="zh-CN" sz="1000" baseline="-25000" dirty="0"/>
              <a:t>5</a:t>
            </a:r>
          </a:p>
        </p:txBody>
      </p:sp>
      <p:sp>
        <p:nvSpPr>
          <p:cNvPr id="118" name="Rectangle 40"/>
          <p:cNvSpPr>
            <a:spLocks noChangeArrowheads="1"/>
          </p:cNvSpPr>
          <p:nvPr/>
        </p:nvSpPr>
        <p:spPr bwMode="auto">
          <a:xfrm>
            <a:off x="6392544" y="2554801"/>
            <a:ext cx="446400" cy="244800"/>
          </a:xfrm>
          <a:prstGeom prst="rect">
            <a:avLst/>
          </a:prstGeom>
          <a:solidFill>
            <a:schemeClr val="bg1"/>
          </a:solidFill>
          <a:ln w="9525">
            <a:solidFill>
              <a:schemeClr val="tx1"/>
            </a:solidFill>
            <a:miter lim="800000"/>
          </a:ln>
        </p:spPr>
        <p:txBody>
          <a:bodyPr wrap="none" anchor="ctr"/>
          <a:lstStyle/>
          <a:p>
            <a:pPr algn="ctr"/>
            <a:r>
              <a:rPr lang="zh-CN" altLang="en-US" sz="1000" dirty="0"/>
              <a:t>数 据</a:t>
            </a:r>
          </a:p>
        </p:txBody>
      </p:sp>
      <p:sp>
        <p:nvSpPr>
          <p:cNvPr id="120" name="Rectangle 66"/>
          <p:cNvSpPr>
            <a:spLocks noChangeArrowheads="1"/>
          </p:cNvSpPr>
          <p:nvPr/>
        </p:nvSpPr>
        <p:spPr bwMode="auto">
          <a:xfrm>
            <a:off x="5946144" y="2554262"/>
            <a:ext cx="223200" cy="244800"/>
          </a:xfrm>
          <a:prstGeom prst="rect">
            <a:avLst/>
          </a:prstGeom>
          <a:solidFill>
            <a:srgbClr val="FFC000"/>
          </a:solidFill>
          <a:ln w="9525">
            <a:solidFill>
              <a:schemeClr val="tx1"/>
            </a:solidFill>
            <a:miter lim="800000"/>
          </a:ln>
          <a:effectLst/>
        </p:spPr>
        <p:txBody>
          <a:bodyPr wrap="none" anchor="ctr"/>
          <a:lstStyle/>
          <a:p>
            <a:pPr algn="ctr"/>
            <a:r>
              <a:rPr lang="en-US" altLang="zh-CN" sz="1000" dirty="0"/>
              <a:t>H</a:t>
            </a:r>
            <a:r>
              <a:rPr lang="en-US" altLang="zh-CN" sz="1000" baseline="-25000" dirty="0"/>
              <a:t>4</a:t>
            </a:r>
          </a:p>
        </p:txBody>
      </p:sp>
      <p:sp>
        <p:nvSpPr>
          <p:cNvPr id="114" name="Rectangle 34"/>
          <p:cNvSpPr>
            <a:spLocks noChangeArrowheads="1"/>
          </p:cNvSpPr>
          <p:nvPr/>
        </p:nvSpPr>
        <p:spPr bwMode="auto">
          <a:xfrm>
            <a:off x="6169344" y="2209527"/>
            <a:ext cx="223200" cy="244800"/>
          </a:xfrm>
          <a:prstGeom prst="rect">
            <a:avLst/>
          </a:prstGeom>
          <a:solidFill>
            <a:schemeClr val="accent2"/>
          </a:solidFill>
          <a:ln w="9525">
            <a:solidFill>
              <a:schemeClr val="tx1"/>
            </a:solidFill>
            <a:miter lim="800000"/>
          </a:ln>
          <a:effectLst/>
        </p:spPr>
        <p:txBody>
          <a:bodyPr wrap="none" anchor="ctr"/>
          <a:lstStyle/>
          <a:p>
            <a:pPr algn="ctr"/>
            <a:r>
              <a:rPr lang="en-US" altLang="zh-CN" sz="1000" dirty="0"/>
              <a:t>H</a:t>
            </a:r>
            <a:r>
              <a:rPr lang="en-US" altLang="zh-CN" sz="1000" baseline="-25000" dirty="0"/>
              <a:t>5</a:t>
            </a:r>
          </a:p>
        </p:txBody>
      </p:sp>
      <p:sp>
        <p:nvSpPr>
          <p:cNvPr id="115" name="Rectangle 37"/>
          <p:cNvSpPr>
            <a:spLocks noChangeArrowheads="1"/>
          </p:cNvSpPr>
          <p:nvPr/>
        </p:nvSpPr>
        <p:spPr bwMode="auto">
          <a:xfrm>
            <a:off x="6392544" y="2209195"/>
            <a:ext cx="446400" cy="244800"/>
          </a:xfrm>
          <a:prstGeom prst="rect">
            <a:avLst/>
          </a:prstGeom>
          <a:solidFill>
            <a:schemeClr val="bg1"/>
          </a:solidFill>
          <a:ln w="9525">
            <a:solidFill>
              <a:schemeClr val="tx1"/>
            </a:solidFill>
            <a:miter lim="800000"/>
          </a:ln>
        </p:spPr>
        <p:txBody>
          <a:bodyPr wrap="none" anchor="ctr"/>
          <a:lstStyle/>
          <a:p>
            <a:pPr algn="ctr"/>
            <a:r>
              <a:rPr lang="zh-CN" altLang="en-US" sz="1000" dirty="0"/>
              <a:t>数 据</a:t>
            </a:r>
          </a:p>
        </p:txBody>
      </p:sp>
      <p:sp useBgFill="1">
        <p:nvSpPr>
          <p:cNvPr id="129" name="Rectangle 37"/>
          <p:cNvSpPr>
            <a:spLocks noChangeArrowheads="1"/>
          </p:cNvSpPr>
          <p:nvPr/>
        </p:nvSpPr>
        <p:spPr bwMode="auto">
          <a:xfrm>
            <a:off x="6392544" y="1870804"/>
            <a:ext cx="446400" cy="244800"/>
          </a:xfrm>
          <a:prstGeom prst="rect">
            <a:avLst/>
          </a:prstGeom>
          <a:ln w="9525">
            <a:solidFill>
              <a:schemeClr val="tx1"/>
            </a:solidFill>
            <a:miter lim="800000"/>
          </a:ln>
        </p:spPr>
        <p:txBody>
          <a:bodyPr wrap="none" anchor="ctr"/>
          <a:lstStyle/>
          <a:p>
            <a:pPr algn="ctr"/>
            <a:r>
              <a:rPr lang="zh-CN" altLang="en-US" sz="1000" dirty="0"/>
              <a:t>数 据</a:t>
            </a:r>
          </a:p>
        </p:txBody>
      </p:sp>
      <p:sp>
        <p:nvSpPr>
          <p:cNvPr id="170" name="矩形 169"/>
          <p:cNvSpPr/>
          <p:nvPr/>
        </p:nvSpPr>
        <p:spPr>
          <a:xfrm>
            <a:off x="2979490" y="2219763"/>
            <a:ext cx="464524" cy="223997"/>
          </a:xfrm>
          <a:prstGeom prst="rect">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ysClr val="windowText" lastClr="000000"/>
              </a:solidFill>
            </a:endParaRPr>
          </a:p>
        </p:txBody>
      </p:sp>
      <p:sp>
        <p:nvSpPr>
          <p:cNvPr id="2" name="标题 1">
            <a:extLst>
              <a:ext uri="{FF2B5EF4-FFF2-40B4-BE49-F238E27FC236}">
                <a16:creationId xmlns:a16="http://schemas.microsoft.com/office/drawing/2014/main" id="{EF19D203-8B67-6E15-1737-30D24AF777A5}"/>
              </a:ext>
            </a:extLst>
          </p:cNvPr>
          <p:cNvSpPr>
            <a:spLocks noGrp="1"/>
          </p:cNvSpPr>
          <p:nvPr>
            <p:ph type="title"/>
          </p:nvPr>
        </p:nvSpPr>
        <p:spPr>
          <a:xfrm>
            <a:off x="612000" y="144000"/>
            <a:ext cx="7920000" cy="341632"/>
          </a:xfrm>
        </p:spPr>
        <p:txBody>
          <a:bodyPr/>
          <a:lstStyle/>
          <a:p>
            <a:r>
              <a:rPr lang="zh-CN" altLang="en-US" dirty="0"/>
              <a:t>数据在各层之间的传递过程</a:t>
            </a:r>
          </a:p>
        </p:txBody>
      </p:sp>
    </p:spTree>
    <p:extLst>
      <p:ext uri="{BB962C8B-B14F-4D97-AF65-F5344CB8AC3E}">
        <p14:creationId xmlns:p14="http://schemas.microsoft.com/office/powerpoint/2010/main" val="2516608285"/>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标题 7">
            <a:extLst>
              <a:ext uri="{FF2B5EF4-FFF2-40B4-BE49-F238E27FC236}">
                <a16:creationId xmlns:a16="http://schemas.microsoft.com/office/drawing/2014/main" id="{6C3A8946-77D2-E54E-957D-B45FCD43C197}"/>
              </a:ext>
            </a:extLst>
          </p:cNvPr>
          <p:cNvSpPr>
            <a:spLocks noGrp="1"/>
          </p:cNvSpPr>
          <p:nvPr>
            <p:ph type="title"/>
          </p:nvPr>
        </p:nvSpPr>
        <p:spPr>
          <a:xfrm>
            <a:off x="612000" y="144000"/>
            <a:ext cx="7920000" cy="341632"/>
          </a:xfrm>
        </p:spPr>
        <p:txBody>
          <a:bodyPr/>
          <a:lstStyle/>
          <a:p>
            <a:r>
              <a:rPr lang="zh-CN" altLang="en-US" dirty="0"/>
              <a:t>对等层与协议数据单元</a:t>
            </a:r>
          </a:p>
        </p:txBody>
      </p:sp>
      <p:sp>
        <p:nvSpPr>
          <p:cNvPr id="3" name="内容占位符 2"/>
          <p:cNvSpPr>
            <a:spLocks noGrp="1"/>
          </p:cNvSpPr>
          <p:nvPr>
            <p:ph sz="quarter" idx="10"/>
          </p:nvPr>
        </p:nvSpPr>
        <p:spPr>
          <a:xfrm>
            <a:off x="612000" y="899999"/>
            <a:ext cx="7920000" cy="3780000"/>
          </a:xfrm>
        </p:spPr>
        <p:txBody>
          <a:bodyPr/>
          <a:lstStyle/>
          <a:p>
            <a:r>
              <a:rPr lang="zh-CN" altLang="en-US" dirty="0"/>
              <a:t>对等层通信</a:t>
            </a:r>
            <a:endParaRPr lang="en-US" altLang="zh-CN" dirty="0"/>
          </a:p>
          <a:p>
            <a:pPr lvl="1"/>
            <a:r>
              <a:rPr lang="zh-CN" altLang="en-US" dirty="0"/>
              <a:t>任何两个同样的层次数据单元加上控制信息通过水平虚线直接传递给对方</a:t>
            </a:r>
          </a:p>
          <a:p>
            <a:r>
              <a:rPr lang="zh-CN" altLang="en-US" dirty="0"/>
              <a:t>协议数据单元 </a:t>
            </a:r>
            <a:r>
              <a:rPr lang="en-US" altLang="zh-CN" dirty="0"/>
              <a:t>PDU (Protocol Data Unit)</a:t>
            </a:r>
          </a:p>
          <a:p>
            <a:pPr lvl="1"/>
            <a:r>
              <a:rPr lang="en-US" altLang="zh-CN" dirty="0"/>
              <a:t>OSI </a:t>
            </a:r>
            <a:r>
              <a:rPr lang="zh-CN" altLang="en-US" dirty="0"/>
              <a:t>参考模型把对等层次之间传送的数据单位</a:t>
            </a:r>
            <a:endParaRPr lang="en-US" altLang="zh-CN" dirty="0"/>
          </a:p>
        </p:txBody>
      </p:sp>
      <p:sp>
        <p:nvSpPr>
          <p:cNvPr id="7" name="矩形 5"/>
          <p:cNvSpPr>
            <a:spLocks noChangeArrowheads="1"/>
          </p:cNvSpPr>
          <p:nvPr/>
        </p:nvSpPr>
        <p:spPr bwMode="auto">
          <a:xfrm>
            <a:off x="943941" y="3709734"/>
            <a:ext cx="7345262" cy="307777"/>
          </a:xfrm>
          <a:prstGeom prst="rect">
            <a:avLst/>
          </a:prstGeom>
          <a:noFill/>
        </p:spPr>
        <p:txBody>
          <a:bodyPr wrap="square" rtlCol="0">
            <a:spAutoFit/>
          </a:bodyPr>
          <a:lstStyle/>
          <a:p>
            <a:pPr algn="ctr"/>
            <a:r>
              <a:rPr lang="zh-CN" altLang="en-US" sz="1400" dirty="0">
                <a:solidFill>
                  <a:srgbClr val="D4237A"/>
                </a:solidFill>
                <a:ea typeface="+mj-ea"/>
              </a:rPr>
              <a:t>各层协议实际上就是在各个对等层之间传递数据时的各项规定</a:t>
            </a:r>
          </a:p>
        </p:txBody>
      </p:sp>
    </p:spTree>
    <p:extLst>
      <p:ext uri="{BB962C8B-B14F-4D97-AF65-F5344CB8AC3E}">
        <p14:creationId xmlns:p14="http://schemas.microsoft.com/office/powerpoint/2010/main" val="558917820"/>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5B7B5B3B-5516-A4CA-46C9-0EACD95AD30C}"/>
              </a:ext>
            </a:extLst>
          </p:cNvPr>
          <p:cNvSpPr>
            <a:spLocks noGrp="1"/>
          </p:cNvSpPr>
          <p:nvPr>
            <p:ph type="title"/>
          </p:nvPr>
        </p:nvSpPr>
        <p:spPr>
          <a:xfrm>
            <a:off x="612000" y="144000"/>
            <a:ext cx="7920000" cy="341632"/>
          </a:xfrm>
        </p:spPr>
        <p:txBody>
          <a:bodyPr/>
          <a:lstStyle/>
          <a:p>
            <a:r>
              <a:rPr lang="en-US" altLang="zh-CN" dirty="0"/>
              <a:t>1.7.4  </a:t>
            </a:r>
            <a:r>
              <a:rPr lang="zh-CN" altLang="zh-CN" dirty="0"/>
              <a:t>实体、协议、服务和服务访问点</a:t>
            </a:r>
            <a:endParaRPr lang="zh-CN" altLang="en-US" dirty="0"/>
          </a:p>
        </p:txBody>
      </p:sp>
      <p:sp>
        <p:nvSpPr>
          <p:cNvPr id="5" name="内容占位符 4"/>
          <p:cNvSpPr>
            <a:spLocks noGrp="1"/>
          </p:cNvSpPr>
          <p:nvPr>
            <p:ph sz="quarter" idx="10"/>
          </p:nvPr>
        </p:nvSpPr>
        <p:spPr>
          <a:xfrm>
            <a:off x="612000" y="899999"/>
            <a:ext cx="7920000" cy="3780000"/>
          </a:xfrm>
        </p:spPr>
        <p:txBody>
          <a:bodyPr>
            <a:normAutofit lnSpcReduction="10000"/>
          </a:bodyPr>
          <a:lstStyle/>
          <a:p>
            <a:r>
              <a:rPr lang="zh-CN" altLang="en-US" dirty="0"/>
              <a:t>实体 </a:t>
            </a:r>
            <a:r>
              <a:rPr lang="en-US" altLang="zh-CN" dirty="0"/>
              <a:t>Entity</a:t>
            </a:r>
            <a:r>
              <a:rPr lang="zh-CN" altLang="en-US" dirty="0"/>
              <a:t>：</a:t>
            </a:r>
            <a:endParaRPr lang="en-US" altLang="zh-CN" dirty="0"/>
          </a:p>
          <a:p>
            <a:pPr lvl="1"/>
            <a:r>
              <a:rPr lang="zh-CN" altLang="en-US" dirty="0"/>
              <a:t>任何可发送或接收信息的硬件或软件进程</a:t>
            </a:r>
          </a:p>
          <a:p>
            <a:r>
              <a:rPr lang="zh-CN" altLang="en-US" dirty="0"/>
              <a:t>协议 </a:t>
            </a:r>
            <a:r>
              <a:rPr lang="en-US" altLang="zh-CN" dirty="0"/>
              <a:t>Protocol</a:t>
            </a:r>
            <a:r>
              <a:rPr lang="zh-CN" altLang="en-US" dirty="0"/>
              <a:t>：</a:t>
            </a:r>
            <a:endParaRPr lang="en-US" altLang="zh-CN" dirty="0"/>
          </a:p>
          <a:p>
            <a:pPr lvl="1"/>
            <a:r>
              <a:rPr lang="zh-CN" altLang="en-US" dirty="0"/>
              <a:t>控制两个对等实体进行通信的规则的集合</a:t>
            </a:r>
          </a:p>
          <a:p>
            <a:pPr lvl="1"/>
            <a:r>
              <a:rPr lang="zh-CN" altLang="en-US" dirty="0"/>
              <a:t>在协议的控制下，两个对等实体间的通信使得本层能够向上一层提供服务</a:t>
            </a:r>
          </a:p>
          <a:p>
            <a:pPr lvl="1"/>
            <a:r>
              <a:rPr lang="zh-CN" altLang="en-US" dirty="0"/>
              <a:t>要实现本层协议，还需要使用下层所提供的服务</a:t>
            </a:r>
            <a:endParaRPr lang="en-US" altLang="zh-CN" dirty="0"/>
          </a:p>
          <a:p>
            <a:r>
              <a:rPr lang="zh-CN" altLang="en-US" dirty="0"/>
              <a:t>服务访问点 </a:t>
            </a:r>
            <a:r>
              <a:rPr lang="en-US" altLang="zh-CN" dirty="0"/>
              <a:t>SAP (Service Access Point)</a:t>
            </a:r>
          </a:p>
          <a:p>
            <a:pPr lvl="1"/>
            <a:r>
              <a:rPr lang="zh-CN" altLang="en-US" dirty="0"/>
              <a:t>同一系统中相邻两层的实体进行交互（即交换信息）</a:t>
            </a:r>
            <a:r>
              <a:rPr lang="en-US" altLang="zh-CN" dirty="0"/>
              <a:t> </a:t>
            </a:r>
            <a:r>
              <a:rPr lang="zh-CN" altLang="en-US" dirty="0"/>
              <a:t>的地方</a:t>
            </a:r>
            <a:endParaRPr lang="en-US" altLang="zh-CN" dirty="0"/>
          </a:p>
          <a:p>
            <a:pPr lvl="1"/>
            <a:r>
              <a:rPr lang="en-US" altLang="zh-CN" dirty="0"/>
              <a:t>SAP </a:t>
            </a:r>
            <a:r>
              <a:rPr lang="zh-CN" altLang="en-US" dirty="0"/>
              <a:t>是一个抽象的概念，是一个逻辑接口</a:t>
            </a:r>
            <a:endParaRPr lang="en-US" altLang="zh-CN" dirty="0"/>
          </a:p>
          <a:p>
            <a:r>
              <a:rPr lang="zh-CN" altLang="en-US" dirty="0"/>
              <a:t>服务数据单元 </a:t>
            </a:r>
            <a:r>
              <a:rPr lang="en-US" altLang="zh-CN" dirty="0"/>
              <a:t>SDU (Service Data Unit) </a:t>
            </a:r>
          </a:p>
          <a:p>
            <a:pPr lvl="1"/>
            <a:r>
              <a:rPr lang="zh-CN" altLang="en-US" dirty="0"/>
              <a:t>层与层之间交换的数据的单位</a:t>
            </a:r>
          </a:p>
          <a:p>
            <a:pPr lvl="1"/>
            <a:r>
              <a:rPr lang="en-US" altLang="zh-CN" dirty="0"/>
              <a:t>SDU </a:t>
            </a:r>
            <a:r>
              <a:rPr lang="zh-CN" altLang="en-US" dirty="0"/>
              <a:t>可以与 </a:t>
            </a:r>
            <a:r>
              <a:rPr lang="en-US" altLang="zh-CN" dirty="0"/>
              <a:t>PDU </a:t>
            </a:r>
            <a:r>
              <a:rPr lang="zh-CN" altLang="en-US" dirty="0"/>
              <a:t>不一样</a:t>
            </a:r>
            <a:endParaRPr lang="en-US" altLang="zh-CN" dirty="0"/>
          </a:p>
          <a:p>
            <a:pPr lvl="1"/>
            <a:r>
              <a:rPr lang="zh-CN" altLang="en-US" dirty="0"/>
              <a:t>可以是多个 </a:t>
            </a:r>
            <a:r>
              <a:rPr lang="en-US" altLang="zh-CN" dirty="0"/>
              <a:t>SDU </a:t>
            </a:r>
            <a:r>
              <a:rPr lang="zh-CN" altLang="en-US" dirty="0"/>
              <a:t>合成为一个 </a:t>
            </a:r>
            <a:r>
              <a:rPr lang="en-US" altLang="zh-CN" dirty="0"/>
              <a:t>PDU</a:t>
            </a:r>
            <a:r>
              <a:rPr lang="zh-CN" altLang="en-US" dirty="0"/>
              <a:t>，也可以是一个 </a:t>
            </a:r>
            <a:r>
              <a:rPr lang="en-US" altLang="zh-CN" dirty="0"/>
              <a:t>SDU </a:t>
            </a:r>
            <a:r>
              <a:rPr lang="zh-CN" altLang="en-US" dirty="0"/>
              <a:t>划分为几个 </a:t>
            </a:r>
            <a:r>
              <a:rPr lang="en-US" altLang="zh-CN" dirty="0"/>
              <a:t>PDU</a:t>
            </a:r>
            <a:endParaRPr lang="zh-CN" altLang="en-US" dirty="0"/>
          </a:p>
        </p:txBody>
      </p:sp>
    </p:spTree>
    <p:extLst>
      <p:ext uri="{BB962C8B-B14F-4D97-AF65-F5344CB8AC3E}">
        <p14:creationId xmlns:p14="http://schemas.microsoft.com/office/powerpoint/2010/main" val="816982662"/>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0F5F8635-B251-BD85-9ACD-D2DB005C285E}"/>
              </a:ext>
            </a:extLst>
          </p:cNvPr>
          <p:cNvSpPr>
            <a:spLocks noGrp="1"/>
          </p:cNvSpPr>
          <p:nvPr>
            <p:ph type="title"/>
          </p:nvPr>
        </p:nvSpPr>
        <p:spPr>
          <a:xfrm>
            <a:off x="612000" y="144000"/>
            <a:ext cx="7920000" cy="341632"/>
          </a:xfrm>
        </p:spPr>
        <p:txBody>
          <a:bodyPr/>
          <a:lstStyle/>
          <a:p>
            <a:r>
              <a:rPr lang="zh-CN" altLang="en-US" dirty="0"/>
              <a:t>注意：协议和服务在概念上是不一样的</a:t>
            </a:r>
          </a:p>
        </p:txBody>
      </p:sp>
      <p:sp>
        <p:nvSpPr>
          <p:cNvPr id="5" name="任意多边形: 形状 4">
            <a:extLst>
              <a:ext uri="{FF2B5EF4-FFF2-40B4-BE49-F238E27FC236}">
                <a16:creationId xmlns:a16="http://schemas.microsoft.com/office/drawing/2014/main" id="{19158974-7CB6-2460-8286-8CA8D291F5BC}"/>
              </a:ext>
            </a:extLst>
          </p:cNvPr>
          <p:cNvSpPr/>
          <p:nvPr/>
        </p:nvSpPr>
        <p:spPr>
          <a:xfrm>
            <a:off x="1223287" y="1453054"/>
            <a:ext cx="281158" cy="815081"/>
          </a:xfrm>
          <a:custGeom>
            <a:avLst/>
            <a:gdLst/>
            <a:ahLst/>
            <a:cxnLst/>
            <a:rect l="0" t="0" r="0" b="0"/>
            <a:pathLst>
              <a:path>
                <a:moveTo>
                  <a:pt x="0" y="0"/>
                </a:moveTo>
                <a:lnTo>
                  <a:pt x="0" y="815081"/>
                </a:lnTo>
                <a:lnTo>
                  <a:pt x="281158" y="815081"/>
                </a:lnTo>
              </a:path>
            </a:pathLst>
          </a:custGeom>
          <a:noFill/>
          <a:ln>
            <a:solidFill>
              <a:schemeClr val="accent1"/>
            </a:solidFill>
          </a:ln>
        </p:spPr>
        <p:style>
          <a:lnRef idx="1">
            <a:schemeClr val="accent6">
              <a:hueOff val="0"/>
              <a:satOff val="0"/>
              <a:lumOff val="0"/>
              <a:alphaOff val="0"/>
            </a:schemeClr>
          </a:lnRef>
          <a:fillRef idx="0">
            <a:scrgbClr r="0" g="0" b="0"/>
          </a:fillRef>
          <a:effectRef idx="0">
            <a:schemeClr val="accent6">
              <a:tint val="90000"/>
              <a:hueOff val="0"/>
              <a:satOff val="0"/>
              <a:lumOff val="0"/>
              <a:alphaOff val="0"/>
            </a:schemeClr>
          </a:effectRef>
          <a:fontRef idx="minor">
            <a:schemeClr val="tx1">
              <a:hueOff val="0"/>
              <a:satOff val="0"/>
              <a:lumOff val="0"/>
              <a:alphaOff val="0"/>
            </a:schemeClr>
          </a:fontRef>
        </p:style>
      </p:sp>
      <p:sp>
        <p:nvSpPr>
          <p:cNvPr id="7" name="任意多边形: 形状 6">
            <a:extLst>
              <a:ext uri="{FF2B5EF4-FFF2-40B4-BE49-F238E27FC236}">
                <a16:creationId xmlns:a16="http://schemas.microsoft.com/office/drawing/2014/main" id="{291EC1DB-91F6-1D7D-AE24-559FD76199B0}"/>
              </a:ext>
            </a:extLst>
          </p:cNvPr>
          <p:cNvSpPr/>
          <p:nvPr/>
        </p:nvSpPr>
        <p:spPr>
          <a:xfrm>
            <a:off x="1504445" y="2021420"/>
            <a:ext cx="2880000" cy="504000"/>
          </a:xfrm>
          <a:custGeom>
            <a:avLst/>
            <a:gdLst>
              <a:gd name="csX0" fmla="*/ 0 w 2749105"/>
              <a:gd name="csY0" fmla="*/ 49343 h 493432"/>
              <a:gd name="csX1" fmla="*/ 49343 w 2749105"/>
              <a:gd name="csY1" fmla="*/ 0 h 493432"/>
              <a:gd name="csX2" fmla="*/ 2699762 w 2749105"/>
              <a:gd name="csY2" fmla="*/ 0 h 493432"/>
              <a:gd name="csX3" fmla="*/ 2749105 w 2749105"/>
              <a:gd name="csY3" fmla="*/ 49343 h 493432"/>
              <a:gd name="csX4" fmla="*/ 2749105 w 2749105"/>
              <a:gd name="csY4" fmla="*/ 444089 h 493432"/>
              <a:gd name="csX5" fmla="*/ 2699762 w 2749105"/>
              <a:gd name="csY5" fmla="*/ 493432 h 493432"/>
              <a:gd name="csX6" fmla="*/ 49343 w 2749105"/>
              <a:gd name="csY6" fmla="*/ 493432 h 493432"/>
              <a:gd name="csX7" fmla="*/ 0 w 2749105"/>
              <a:gd name="csY7" fmla="*/ 444089 h 493432"/>
              <a:gd name="csX8" fmla="*/ 0 w 2749105"/>
              <a:gd name="csY8" fmla="*/ 49343 h 4934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749105" h="493432">
                <a:moveTo>
                  <a:pt x="0" y="49343"/>
                </a:moveTo>
                <a:cubicBezTo>
                  <a:pt x="0" y="22092"/>
                  <a:pt x="22092" y="0"/>
                  <a:pt x="49343" y="0"/>
                </a:cubicBezTo>
                <a:lnTo>
                  <a:pt x="2699762" y="0"/>
                </a:lnTo>
                <a:cubicBezTo>
                  <a:pt x="2727013" y="0"/>
                  <a:pt x="2749105" y="22092"/>
                  <a:pt x="2749105" y="49343"/>
                </a:cubicBezTo>
                <a:lnTo>
                  <a:pt x="2749105" y="444089"/>
                </a:lnTo>
                <a:cubicBezTo>
                  <a:pt x="2749105" y="471340"/>
                  <a:pt x="2727013" y="493432"/>
                  <a:pt x="2699762" y="493432"/>
                </a:cubicBezTo>
                <a:lnTo>
                  <a:pt x="49343" y="493432"/>
                </a:lnTo>
                <a:cubicBezTo>
                  <a:pt x="22092" y="493432"/>
                  <a:pt x="0" y="471340"/>
                  <a:pt x="0" y="444089"/>
                </a:cubicBezTo>
                <a:lnTo>
                  <a:pt x="0" y="49343"/>
                </a:lnTo>
                <a:close/>
              </a:path>
            </a:pathLst>
          </a:custGeom>
        </p:spPr>
        <p:style>
          <a:lnRef idx="1">
            <a:schemeClr val="accent5">
              <a:hueOff val="0"/>
              <a:satOff val="0"/>
              <a:lumOff val="0"/>
              <a:alphaOff val="0"/>
            </a:schemeClr>
          </a:lnRef>
          <a:fillRef idx="1">
            <a:schemeClr val="lt1">
              <a:alpha val="90000"/>
              <a:hueOff val="0"/>
              <a:satOff val="0"/>
              <a:lumOff val="0"/>
              <a:alphaOff val="0"/>
            </a:schemeClr>
          </a:fillRef>
          <a:effectRef idx="0">
            <a:schemeClr val="lt1">
              <a:alpha val="90000"/>
              <a:hueOff val="0"/>
              <a:satOff val="0"/>
              <a:lumOff val="0"/>
              <a:alphaOff val="0"/>
            </a:schemeClr>
          </a:effectRef>
          <a:fontRef idx="minor">
            <a:schemeClr val="dk1">
              <a:hueOff val="0"/>
              <a:satOff val="0"/>
              <a:lumOff val="0"/>
              <a:alphaOff val="0"/>
            </a:schemeClr>
          </a:fontRef>
        </p:style>
        <p:txBody>
          <a:bodyPr spcFirstLastPara="0" vert="horz" wrap="square" lIns="37312" tIns="29692" rIns="37312" bIns="29692" numCol="1" spcCol="1270" anchor="ctr" anchorCtr="0">
            <a:noAutofit/>
          </a:bodyPr>
          <a:lstStyle/>
          <a:p>
            <a:pPr marL="0" lvl="0" indent="0" defTabSz="533400">
              <a:lnSpc>
                <a:spcPct val="90000"/>
              </a:lnSpc>
              <a:spcBef>
                <a:spcPct val="0"/>
              </a:spcBef>
              <a:spcAft>
                <a:spcPct val="35000"/>
              </a:spcAft>
              <a:buNone/>
            </a:pPr>
            <a:r>
              <a:rPr lang="zh-CN" altLang="en-US" sz="1200" dirty="0">
                <a:solidFill>
                  <a:srgbClr val="0070C0"/>
                </a:solidFill>
              </a:rPr>
              <a:t>其实现保证了能够向上一层提供服务</a:t>
            </a:r>
          </a:p>
        </p:txBody>
      </p:sp>
      <p:sp>
        <p:nvSpPr>
          <p:cNvPr id="8" name="任意多边形: 形状 7">
            <a:extLst>
              <a:ext uri="{FF2B5EF4-FFF2-40B4-BE49-F238E27FC236}">
                <a16:creationId xmlns:a16="http://schemas.microsoft.com/office/drawing/2014/main" id="{6B08ED4A-6015-188F-B20B-97107100D354}"/>
              </a:ext>
            </a:extLst>
          </p:cNvPr>
          <p:cNvSpPr/>
          <p:nvPr/>
        </p:nvSpPr>
        <p:spPr>
          <a:xfrm>
            <a:off x="1223287" y="1453054"/>
            <a:ext cx="281158" cy="1876878"/>
          </a:xfrm>
          <a:custGeom>
            <a:avLst/>
            <a:gdLst/>
            <a:ahLst/>
            <a:cxnLst/>
            <a:rect l="0" t="0" r="0" b="0"/>
            <a:pathLst>
              <a:path>
                <a:moveTo>
                  <a:pt x="0" y="0"/>
                </a:moveTo>
                <a:lnTo>
                  <a:pt x="0" y="1876878"/>
                </a:lnTo>
                <a:lnTo>
                  <a:pt x="281158" y="1876878"/>
                </a:lnTo>
              </a:path>
            </a:pathLst>
          </a:custGeom>
          <a:noFill/>
          <a:ln>
            <a:solidFill>
              <a:schemeClr val="accent1"/>
            </a:solidFill>
          </a:ln>
        </p:spPr>
        <p:style>
          <a:lnRef idx="1">
            <a:schemeClr val="accent6">
              <a:hueOff val="0"/>
              <a:satOff val="0"/>
              <a:lumOff val="0"/>
              <a:alphaOff val="0"/>
            </a:schemeClr>
          </a:lnRef>
          <a:fillRef idx="0">
            <a:scrgbClr r="0" g="0" b="0"/>
          </a:fillRef>
          <a:effectRef idx="0">
            <a:schemeClr val="accent6">
              <a:tint val="90000"/>
              <a:hueOff val="0"/>
              <a:satOff val="0"/>
              <a:lumOff val="0"/>
              <a:alphaOff val="0"/>
            </a:schemeClr>
          </a:effectRef>
          <a:fontRef idx="minor">
            <a:schemeClr val="tx1">
              <a:hueOff val="0"/>
              <a:satOff val="0"/>
              <a:lumOff val="0"/>
              <a:alphaOff val="0"/>
            </a:schemeClr>
          </a:fontRef>
        </p:style>
      </p:sp>
      <p:sp>
        <p:nvSpPr>
          <p:cNvPr id="9" name="任意多边形: 形状 8">
            <a:extLst>
              <a:ext uri="{FF2B5EF4-FFF2-40B4-BE49-F238E27FC236}">
                <a16:creationId xmlns:a16="http://schemas.microsoft.com/office/drawing/2014/main" id="{7C84AE96-AF6F-22A3-A7BF-29F27A6A3BEC}"/>
              </a:ext>
            </a:extLst>
          </p:cNvPr>
          <p:cNvSpPr/>
          <p:nvPr/>
        </p:nvSpPr>
        <p:spPr>
          <a:xfrm>
            <a:off x="1504445" y="3083217"/>
            <a:ext cx="2880000" cy="504000"/>
          </a:xfrm>
          <a:custGeom>
            <a:avLst/>
            <a:gdLst>
              <a:gd name="csX0" fmla="*/ 0 w 2749105"/>
              <a:gd name="csY0" fmla="*/ 49343 h 493432"/>
              <a:gd name="csX1" fmla="*/ 49343 w 2749105"/>
              <a:gd name="csY1" fmla="*/ 0 h 493432"/>
              <a:gd name="csX2" fmla="*/ 2699762 w 2749105"/>
              <a:gd name="csY2" fmla="*/ 0 h 493432"/>
              <a:gd name="csX3" fmla="*/ 2749105 w 2749105"/>
              <a:gd name="csY3" fmla="*/ 49343 h 493432"/>
              <a:gd name="csX4" fmla="*/ 2749105 w 2749105"/>
              <a:gd name="csY4" fmla="*/ 444089 h 493432"/>
              <a:gd name="csX5" fmla="*/ 2699762 w 2749105"/>
              <a:gd name="csY5" fmla="*/ 493432 h 493432"/>
              <a:gd name="csX6" fmla="*/ 49343 w 2749105"/>
              <a:gd name="csY6" fmla="*/ 493432 h 493432"/>
              <a:gd name="csX7" fmla="*/ 0 w 2749105"/>
              <a:gd name="csY7" fmla="*/ 444089 h 493432"/>
              <a:gd name="csX8" fmla="*/ 0 w 2749105"/>
              <a:gd name="csY8" fmla="*/ 49343 h 4934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749105" h="493432">
                <a:moveTo>
                  <a:pt x="0" y="49343"/>
                </a:moveTo>
                <a:cubicBezTo>
                  <a:pt x="0" y="22092"/>
                  <a:pt x="22092" y="0"/>
                  <a:pt x="49343" y="0"/>
                </a:cubicBezTo>
                <a:lnTo>
                  <a:pt x="2699762" y="0"/>
                </a:lnTo>
                <a:cubicBezTo>
                  <a:pt x="2727013" y="0"/>
                  <a:pt x="2749105" y="22092"/>
                  <a:pt x="2749105" y="49343"/>
                </a:cubicBezTo>
                <a:lnTo>
                  <a:pt x="2749105" y="444089"/>
                </a:lnTo>
                <a:cubicBezTo>
                  <a:pt x="2749105" y="471340"/>
                  <a:pt x="2727013" y="493432"/>
                  <a:pt x="2699762" y="493432"/>
                </a:cubicBezTo>
                <a:lnTo>
                  <a:pt x="49343" y="493432"/>
                </a:lnTo>
                <a:cubicBezTo>
                  <a:pt x="22092" y="493432"/>
                  <a:pt x="0" y="471340"/>
                  <a:pt x="0" y="444089"/>
                </a:cubicBezTo>
                <a:lnTo>
                  <a:pt x="0" y="49343"/>
                </a:lnTo>
                <a:close/>
              </a:path>
            </a:pathLst>
          </a:custGeom>
          <a:solidFill>
            <a:prstClr val="white">
              <a:alpha val="90000"/>
              <a:hueOff val="0"/>
              <a:satOff val="0"/>
              <a:lumOff val="0"/>
              <a:alphaOff val="0"/>
            </a:prstClr>
          </a:solidFill>
          <a:ln w="6350" cap="flat" cmpd="sng" algn="ctr">
            <a:solidFill>
              <a:srgbClr val="5B9BD5">
                <a:hueOff val="0"/>
                <a:satOff val="0"/>
                <a:lumOff val="0"/>
                <a:alphaOff val="0"/>
              </a:srgbClr>
            </a:solidFill>
            <a:prstDash val="solid"/>
            <a:miter lim="800000"/>
          </a:ln>
          <a:effectLst/>
        </p:spPr>
        <p:style>
          <a:lnRef idx="1">
            <a:scrgbClr r="0" g="0" b="0"/>
          </a:lnRef>
          <a:fillRef idx="1">
            <a:scrgbClr r="0" g="0" b="0"/>
          </a:fillRef>
          <a:effectRef idx="0">
            <a:scrgbClr r="0" g="0" b="0"/>
          </a:effectRef>
          <a:fontRef idx="minor">
            <a:schemeClr val="dk1">
              <a:hueOff val="0"/>
              <a:satOff val="0"/>
              <a:lumOff val="0"/>
              <a:alphaOff val="0"/>
            </a:schemeClr>
          </a:fontRef>
        </p:style>
        <p:txBody>
          <a:bodyPr spcFirstLastPara="0" vert="horz" wrap="square" lIns="37312" tIns="29692" rIns="37312" bIns="29692" numCol="1" spcCol="1270" anchor="ctr" anchorCtr="0">
            <a:noAutofit/>
          </a:bodyPr>
          <a:lstStyle/>
          <a:p>
            <a:pPr marL="0" lvl="0" indent="0" defTabSz="533400">
              <a:lnSpc>
                <a:spcPct val="90000"/>
              </a:lnSpc>
              <a:spcBef>
                <a:spcPct val="0"/>
              </a:spcBef>
              <a:spcAft>
                <a:spcPct val="35000"/>
              </a:spcAft>
              <a:buNone/>
            </a:pPr>
            <a:r>
              <a:rPr lang="zh-CN" altLang="en-US" sz="1200" dirty="0">
                <a:solidFill>
                  <a:srgbClr val="0070C0"/>
                </a:solidFill>
              </a:rPr>
              <a:t>对上面的服务用户是透明的 </a:t>
            </a:r>
          </a:p>
        </p:txBody>
      </p:sp>
      <p:sp>
        <p:nvSpPr>
          <p:cNvPr id="10" name="任意多边形: 形状 9">
            <a:extLst>
              <a:ext uri="{FF2B5EF4-FFF2-40B4-BE49-F238E27FC236}">
                <a16:creationId xmlns:a16="http://schemas.microsoft.com/office/drawing/2014/main" id="{BC696ECD-57B0-4A9A-622A-6A229393BD19}"/>
              </a:ext>
            </a:extLst>
          </p:cNvPr>
          <p:cNvSpPr/>
          <p:nvPr/>
        </p:nvSpPr>
        <p:spPr>
          <a:xfrm>
            <a:off x="1223287" y="1453054"/>
            <a:ext cx="281158" cy="2938675"/>
          </a:xfrm>
          <a:custGeom>
            <a:avLst/>
            <a:gdLst/>
            <a:ahLst/>
            <a:cxnLst/>
            <a:rect l="0" t="0" r="0" b="0"/>
            <a:pathLst>
              <a:path>
                <a:moveTo>
                  <a:pt x="0" y="0"/>
                </a:moveTo>
                <a:lnTo>
                  <a:pt x="0" y="2938675"/>
                </a:lnTo>
                <a:lnTo>
                  <a:pt x="281158" y="2938675"/>
                </a:lnTo>
              </a:path>
            </a:pathLst>
          </a:custGeom>
          <a:noFill/>
          <a:ln>
            <a:solidFill>
              <a:schemeClr val="accent1"/>
            </a:solidFill>
          </a:ln>
        </p:spPr>
        <p:style>
          <a:lnRef idx="1">
            <a:schemeClr val="accent6">
              <a:hueOff val="0"/>
              <a:satOff val="0"/>
              <a:lumOff val="0"/>
              <a:alphaOff val="0"/>
            </a:schemeClr>
          </a:lnRef>
          <a:fillRef idx="0">
            <a:scrgbClr r="0" g="0" b="0"/>
          </a:fillRef>
          <a:effectRef idx="0">
            <a:schemeClr val="accent6">
              <a:tint val="90000"/>
              <a:hueOff val="0"/>
              <a:satOff val="0"/>
              <a:lumOff val="0"/>
              <a:alphaOff val="0"/>
            </a:schemeClr>
          </a:effectRef>
          <a:fontRef idx="minor">
            <a:schemeClr val="tx1">
              <a:hueOff val="0"/>
              <a:satOff val="0"/>
              <a:lumOff val="0"/>
              <a:alphaOff val="0"/>
            </a:schemeClr>
          </a:fontRef>
        </p:style>
      </p:sp>
      <p:sp>
        <p:nvSpPr>
          <p:cNvPr id="11" name="任意多边形: 形状 10">
            <a:extLst>
              <a:ext uri="{FF2B5EF4-FFF2-40B4-BE49-F238E27FC236}">
                <a16:creationId xmlns:a16="http://schemas.microsoft.com/office/drawing/2014/main" id="{0622F2AD-F243-5477-B169-7F6A423F407A}"/>
              </a:ext>
            </a:extLst>
          </p:cNvPr>
          <p:cNvSpPr/>
          <p:nvPr/>
        </p:nvSpPr>
        <p:spPr>
          <a:xfrm>
            <a:off x="1504445" y="4145014"/>
            <a:ext cx="2880000" cy="504000"/>
          </a:xfrm>
          <a:custGeom>
            <a:avLst/>
            <a:gdLst>
              <a:gd name="csX0" fmla="*/ 0 w 2749105"/>
              <a:gd name="csY0" fmla="*/ 49343 h 493432"/>
              <a:gd name="csX1" fmla="*/ 49343 w 2749105"/>
              <a:gd name="csY1" fmla="*/ 0 h 493432"/>
              <a:gd name="csX2" fmla="*/ 2699762 w 2749105"/>
              <a:gd name="csY2" fmla="*/ 0 h 493432"/>
              <a:gd name="csX3" fmla="*/ 2749105 w 2749105"/>
              <a:gd name="csY3" fmla="*/ 49343 h 493432"/>
              <a:gd name="csX4" fmla="*/ 2749105 w 2749105"/>
              <a:gd name="csY4" fmla="*/ 444089 h 493432"/>
              <a:gd name="csX5" fmla="*/ 2699762 w 2749105"/>
              <a:gd name="csY5" fmla="*/ 493432 h 493432"/>
              <a:gd name="csX6" fmla="*/ 49343 w 2749105"/>
              <a:gd name="csY6" fmla="*/ 493432 h 493432"/>
              <a:gd name="csX7" fmla="*/ 0 w 2749105"/>
              <a:gd name="csY7" fmla="*/ 444089 h 493432"/>
              <a:gd name="csX8" fmla="*/ 0 w 2749105"/>
              <a:gd name="csY8" fmla="*/ 49343 h 4934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749105" h="493432">
                <a:moveTo>
                  <a:pt x="0" y="49343"/>
                </a:moveTo>
                <a:cubicBezTo>
                  <a:pt x="0" y="22092"/>
                  <a:pt x="22092" y="0"/>
                  <a:pt x="49343" y="0"/>
                </a:cubicBezTo>
                <a:lnTo>
                  <a:pt x="2699762" y="0"/>
                </a:lnTo>
                <a:cubicBezTo>
                  <a:pt x="2727013" y="0"/>
                  <a:pt x="2749105" y="22092"/>
                  <a:pt x="2749105" y="49343"/>
                </a:cubicBezTo>
                <a:lnTo>
                  <a:pt x="2749105" y="444089"/>
                </a:lnTo>
                <a:cubicBezTo>
                  <a:pt x="2749105" y="471340"/>
                  <a:pt x="2727013" y="493432"/>
                  <a:pt x="2699762" y="493432"/>
                </a:cubicBezTo>
                <a:lnTo>
                  <a:pt x="49343" y="493432"/>
                </a:lnTo>
                <a:cubicBezTo>
                  <a:pt x="22092" y="493432"/>
                  <a:pt x="0" y="471340"/>
                  <a:pt x="0" y="444089"/>
                </a:cubicBezTo>
                <a:lnTo>
                  <a:pt x="0" y="49343"/>
                </a:lnTo>
                <a:close/>
              </a:path>
            </a:pathLst>
          </a:custGeom>
        </p:spPr>
        <p:style>
          <a:lnRef idx="1">
            <a:schemeClr val="accent5">
              <a:hueOff val="-2703417"/>
              <a:satOff val="-6968"/>
              <a:lumOff val="-4706"/>
              <a:alphaOff val="0"/>
            </a:schemeClr>
          </a:lnRef>
          <a:fillRef idx="1">
            <a:schemeClr val="lt1">
              <a:alpha val="90000"/>
              <a:hueOff val="0"/>
              <a:satOff val="0"/>
              <a:lumOff val="0"/>
              <a:alphaOff val="0"/>
            </a:schemeClr>
          </a:fillRef>
          <a:effectRef idx="0">
            <a:schemeClr val="lt1">
              <a:alpha val="90000"/>
              <a:hueOff val="0"/>
              <a:satOff val="0"/>
              <a:lumOff val="0"/>
              <a:alphaOff val="0"/>
            </a:schemeClr>
          </a:effectRef>
          <a:fontRef idx="minor">
            <a:schemeClr val="dk1">
              <a:hueOff val="0"/>
              <a:satOff val="0"/>
              <a:lumOff val="0"/>
              <a:alphaOff val="0"/>
            </a:schemeClr>
          </a:fontRef>
        </p:style>
        <p:txBody>
          <a:bodyPr spcFirstLastPara="0" vert="horz" wrap="square" lIns="37312" tIns="29692" rIns="37312" bIns="29692" numCol="1" spcCol="1270" anchor="ctr" anchorCtr="0">
            <a:noAutofit/>
          </a:bodyPr>
          <a:lstStyle/>
          <a:p>
            <a:pPr marL="0" lvl="0" indent="0" defTabSz="533400">
              <a:lnSpc>
                <a:spcPct val="90000"/>
              </a:lnSpc>
              <a:spcBef>
                <a:spcPct val="0"/>
              </a:spcBef>
              <a:spcAft>
                <a:spcPct val="35000"/>
              </a:spcAft>
              <a:buNone/>
            </a:pPr>
            <a:r>
              <a:rPr lang="zh-CN" altLang="en-US" sz="1200" dirty="0">
                <a:solidFill>
                  <a:srgbClr val="0070C0"/>
                </a:solidFill>
              </a:rPr>
              <a:t>是“水平的”</a:t>
            </a:r>
          </a:p>
        </p:txBody>
      </p:sp>
      <p:sp>
        <p:nvSpPr>
          <p:cNvPr id="13" name="任意多边形: 形状 12">
            <a:extLst>
              <a:ext uri="{FF2B5EF4-FFF2-40B4-BE49-F238E27FC236}">
                <a16:creationId xmlns:a16="http://schemas.microsoft.com/office/drawing/2014/main" id="{5244F3FC-4E83-C7CC-BB6D-8B4DEFAE9B44}"/>
              </a:ext>
            </a:extLst>
          </p:cNvPr>
          <p:cNvSpPr/>
          <p:nvPr/>
        </p:nvSpPr>
        <p:spPr>
          <a:xfrm>
            <a:off x="5171607" y="1453054"/>
            <a:ext cx="281158" cy="815081"/>
          </a:xfrm>
          <a:custGeom>
            <a:avLst/>
            <a:gdLst/>
            <a:ahLst/>
            <a:cxnLst/>
            <a:rect l="0" t="0" r="0" b="0"/>
            <a:pathLst>
              <a:path>
                <a:moveTo>
                  <a:pt x="0" y="0"/>
                </a:moveTo>
                <a:lnTo>
                  <a:pt x="0" y="815081"/>
                </a:lnTo>
                <a:lnTo>
                  <a:pt x="281158" y="815081"/>
                </a:lnTo>
              </a:path>
            </a:pathLst>
          </a:custGeom>
          <a:noFill/>
        </p:spPr>
        <p:style>
          <a:lnRef idx="1">
            <a:schemeClr val="accent6">
              <a:hueOff val="0"/>
              <a:satOff val="0"/>
              <a:lumOff val="0"/>
              <a:alphaOff val="0"/>
            </a:schemeClr>
          </a:lnRef>
          <a:fillRef idx="0">
            <a:scrgbClr r="0" g="0" b="0"/>
          </a:fillRef>
          <a:effectRef idx="0">
            <a:schemeClr val="accent6">
              <a:tint val="90000"/>
              <a:hueOff val="0"/>
              <a:satOff val="0"/>
              <a:lumOff val="0"/>
              <a:alphaOff val="0"/>
            </a:schemeClr>
          </a:effectRef>
          <a:fontRef idx="minor">
            <a:schemeClr val="tx1">
              <a:hueOff val="0"/>
              <a:satOff val="0"/>
              <a:lumOff val="0"/>
              <a:alphaOff val="0"/>
            </a:schemeClr>
          </a:fontRef>
        </p:style>
      </p:sp>
      <p:sp>
        <p:nvSpPr>
          <p:cNvPr id="14" name="任意多边形: 形状 13">
            <a:extLst>
              <a:ext uri="{FF2B5EF4-FFF2-40B4-BE49-F238E27FC236}">
                <a16:creationId xmlns:a16="http://schemas.microsoft.com/office/drawing/2014/main" id="{B731F3C5-19DD-CE92-CA7A-0BE6D73D4F56}"/>
              </a:ext>
            </a:extLst>
          </p:cNvPr>
          <p:cNvSpPr/>
          <p:nvPr/>
        </p:nvSpPr>
        <p:spPr>
          <a:xfrm>
            <a:off x="5452765" y="2021420"/>
            <a:ext cx="2880000" cy="504000"/>
          </a:xfrm>
          <a:custGeom>
            <a:avLst/>
            <a:gdLst>
              <a:gd name="csX0" fmla="*/ 0 w 2749105"/>
              <a:gd name="csY0" fmla="*/ 49343 h 493432"/>
              <a:gd name="csX1" fmla="*/ 49343 w 2749105"/>
              <a:gd name="csY1" fmla="*/ 0 h 493432"/>
              <a:gd name="csX2" fmla="*/ 2699762 w 2749105"/>
              <a:gd name="csY2" fmla="*/ 0 h 493432"/>
              <a:gd name="csX3" fmla="*/ 2749105 w 2749105"/>
              <a:gd name="csY3" fmla="*/ 49343 h 493432"/>
              <a:gd name="csX4" fmla="*/ 2749105 w 2749105"/>
              <a:gd name="csY4" fmla="*/ 444089 h 493432"/>
              <a:gd name="csX5" fmla="*/ 2699762 w 2749105"/>
              <a:gd name="csY5" fmla="*/ 493432 h 493432"/>
              <a:gd name="csX6" fmla="*/ 49343 w 2749105"/>
              <a:gd name="csY6" fmla="*/ 493432 h 493432"/>
              <a:gd name="csX7" fmla="*/ 0 w 2749105"/>
              <a:gd name="csY7" fmla="*/ 444089 h 493432"/>
              <a:gd name="csX8" fmla="*/ 0 w 2749105"/>
              <a:gd name="csY8" fmla="*/ 49343 h 4934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749105" h="493432">
                <a:moveTo>
                  <a:pt x="0" y="49343"/>
                </a:moveTo>
                <a:cubicBezTo>
                  <a:pt x="0" y="22092"/>
                  <a:pt x="22092" y="0"/>
                  <a:pt x="49343" y="0"/>
                </a:cubicBezTo>
                <a:lnTo>
                  <a:pt x="2699762" y="0"/>
                </a:lnTo>
                <a:cubicBezTo>
                  <a:pt x="2727013" y="0"/>
                  <a:pt x="2749105" y="22092"/>
                  <a:pt x="2749105" y="49343"/>
                </a:cubicBezTo>
                <a:lnTo>
                  <a:pt x="2749105" y="444089"/>
                </a:lnTo>
                <a:cubicBezTo>
                  <a:pt x="2749105" y="471340"/>
                  <a:pt x="2727013" y="493432"/>
                  <a:pt x="2699762" y="493432"/>
                </a:cubicBezTo>
                <a:lnTo>
                  <a:pt x="49343" y="493432"/>
                </a:lnTo>
                <a:cubicBezTo>
                  <a:pt x="22092" y="493432"/>
                  <a:pt x="0" y="471340"/>
                  <a:pt x="0" y="444089"/>
                </a:cubicBezTo>
                <a:lnTo>
                  <a:pt x="0" y="49343"/>
                </a:lnTo>
                <a:close/>
              </a:path>
            </a:pathLst>
          </a:custGeom>
        </p:spPr>
        <p:style>
          <a:lnRef idx="1">
            <a:schemeClr val="accent5">
              <a:hueOff val="-4055126"/>
              <a:satOff val="-10451"/>
              <a:lumOff val="-7059"/>
              <a:alphaOff val="0"/>
            </a:schemeClr>
          </a:lnRef>
          <a:fillRef idx="1">
            <a:schemeClr val="lt1">
              <a:alpha val="90000"/>
              <a:hueOff val="0"/>
              <a:satOff val="0"/>
              <a:lumOff val="0"/>
              <a:alphaOff val="0"/>
            </a:schemeClr>
          </a:fillRef>
          <a:effectRef idx="0">
            <a:schemeClr val="lt1">
              <a:alpha val="90000"/>
              <a:hueOff val="0"/>
              <a:satOff val="0"/>
              <a:lumOff val="0"/>
              <a:alphaOff val="0"/>
            </a:schemeClr>
          </a:effectRef>
          <a:fontRef idx="minor">
            <a:schemeClr val="dk1">
              <a:hueOff val="0"/>
              <a:satOff val="0"/>
              <a:lumOff val="0"/>
              <a:alphaOff val="0"/>
            </a:schemeClr>
          </a:fontRef>
        </p:style>
        <p:txBody>
          <a:bodyPr spcFirstLastPara="0" vert="horz" wrap="square" lIns="37312" tIns="29692" rIns="37312" bIns="29692" numCol="1" spcCol="1270" anchor="ctr" anchorCtr="0">
            <a:noAutofit/>
          </a:bodyPr>
          <a:lstStyle/>
          <a:p>
            <a:pPr marL="0" lvl="0" indent="0" defTabSz="533400">
              <a:lnSpc>
                <a:spcPct val="90000"/>
              </a:lnSpc>
              <a:spcBef>
                <a:spcPct val="0"/>
              </a:spcBef>
              <a:spcAft>
                <a:spcPct val="35000"/>
              </a:spcAft>
              <a:buNone/>
            </a:pPr>
            <a:r>
              <a:rPr lang="zh-CN" altLang="en-US" sz="1200" dirty="0"/>
              <a:t>上层使用服务原语获得下层所提供的服务</a:t>
            </a:r>
          </a:p>
        </p:txBody>
      </p:sp>
      <p:sp>
        <p:nvSpPr>
          <p:cNvPr id="15" name="任意多边形: 形状 14">
            <a:extLst>
              <a:ext uri="{FF2B5EF4-FFF2-40B4-BE49-F238E27FC236}">
                <a16:creationId xmlns:a16="http://schemas.microsoft.com/office/drawing/2014/main" id="{C7EC4CE9-4E1A-E45A-DD92-0C9D4BF3ED80}"/>
              </a:ext>
            </a:extLst>
          </p:cNvPr>
          <p:cNvSpPr/>
          <p:nvPr/>
        </p:nvSpPr>
        <p:spPr>
          <a:xfrm>
            <a:off x="5171607" y="1453054"/>
            <a:ext cx="281158" cy="1876878"/>
          </a:xfrm>
          <a:custGeom>
            <a:avLst/>
            <a:gdLst/>
            <a:ahLst/>
            <a:cxnLst/>
            <a:rect l="0" t="0" r="0" b="0"/>
            <a:pathLst>
              <a:path>
                <a:moveTo>
                  <a:pt x="0" y="0"/>
                </a:moveTo>
                <a:lnTo>
                  <a:pt x="0" y="1876878"/>
                </a:lnTo>
                <a:lnTo>
                  <a:pt x="281158" y="1876878"/>
                </a:lnTo>
              </a:path>
            </a:pathLst>
          </a:custGeom>
          <a:noFill/>
        </p:spPr>
        <p:style>
          <a:lnRef idx="1">
            <a:schemeClr val="accent6">
              <a:hueOff val="0"/>
              <a:satOff val="0"/>
              <a:lumOff val="0"/>
              <a:alphaOff val="0"/>
            </a:schemeClr>
          </a:lnRef>
          <a:fillRef idx="0">
            <a:scrgbClr r="0" g="0" b="0"/>
          </a:fillRef>
          <a:effectRef idx="0">
            <a:schemeClr val="accent6">
              <a:tint val="90000"/>
              <a:hueOff val="0"/>
              <a:satOff val="0"/>
              <a:lumOff val="0"/>
              <a:alphaOff val="0"/>
            </a:schemeClr>
          </a:effectRef>
          <a:fontRef idx="minor">
            <a:schemeClr val="tx1">
              <a:hueOff val="0"/>
              <a:satOff val="0"/>
              <a:lumOff val="0"/>
              <a:alphaOff val="0"/>
            </a:schemeClr>
          </a:fontRef>
        </p:style>
      </p:sp>
      <p:sp>
        <p:nvSpPr>
          <p:cNvPr id="16" name="任意多边形: 形状 15">
            <a:extLst>
              <a:ext uri="{FF2B5EF4-FFF2-40B4-BE49-F238E27FC236}">
                <a16:creationId xmlns:a16="http://schemas.microsoft.com/office/drawing/2014/main" id="{B29B1956-83EF-5399-D889-4B022CE4A622}"/>
              </a:ext>
            </a:extLst>
          </p:cNvPr>
          <p:cNvSpPr/>
          <p:nvPr/>
        </p:nvSpPr>
        <p:spPr>
          <a:xfrm>
            <a:off x="5452765" y="3083217"/>
            <a:ext cx="2880000" cy="504000"/>
          </a:xfrm>
          <a:custGeom>
            <a:avLst/>
            <a:gdLst>
              <a:gd name="csX0" fmla="*/ 0 w 2749105"/>
              <a:gd name="csY0" fmla="*/ 49343 h 493432"/>
              <a:gd name="csX1" fmla="*/ 49343 w 2749105"/>
              <a:gd name="csY1" fmla="*/ 0 h 493432"/>
              <a:gd name="csX2" fmla="*/ 2699762 w 2749105"/>
              <a:gd name="csY2" fmla="*/ 0 h 493432"/>
              <a:gd name="csX3" fmla="*/ 2749105 w 2749105"/>
              <a:gd name="csY3" fmla="*/ 49343 h 493432"/>
              <a:gd name="csX4" fmla="*/ 2749105 w 2749105"/>
              <a:gd name="csY4" fmla="*/ 444089 h 493432"/>
              <a:gd name="csX5" fmla="*/ 2699762 w 2749105"/>
              <a:gd name="csY5" fmla="*/ 493432 h 493432"/>
              <a:gd name="csX6" fmla="*/ 49343 w 2749105"/>
              <a:gd name="csY6" fmla="*/ 493432 h 493432"/>
              <a:gd name="csX7" fmla="*/ 0 w 2749105"/>
              <a:gd name="csY7" fmla="*/ 444089 h 493432"/>
              <a:gd name="csX8" fmla="*/ 0 w 2749105"/>
              <a:gd name="csY8" fmla="*/ 49343 h 4934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749105" h="493432">
                <a:moveTo>
                  <a:pt x="0" y="49343"/>
                </a:moveTo>
                <a:cubicBezTo>
                  <a:pt x="0" y="22092"/>
                  <a:pt x="22092" y="0"/>
                  <a:pt x="49343" y="0"/>
                </a:cubicBezTo>
                <a:lnTo>
                  <a:pt x="2699762" y="0"/>
                </a:lnTo>
                <a:cubicBezTo>
                  <a:pt x="2727013" y="0"/>
                  <a:pt x="2749105" y="22092"/>
                  <a:pt x="2749105" y="49343"/>
                </a:cubicBezTo>
                <a:lnTo>
                  <a:pt x="2749105" y="444089"/>
                </a:lnTo>
                <a:cubicBezTo>
                  <a:pt x="2749105" y="471340"/>
                  <a:pt x="2727013" y="493432"/>
                  <a:pt x="2699762" y="493432"/>
                </a:cubicBezTo>
                <a:lnTo>
                  <a:pt x="49343" y="493432"/>
                </a:lnTo>
                <a:cubicBezTo>
                  <a:pt x="22092" y="493432"/>
                  <a:pt x="0" y="471340"/>
                  <a:pt x="0" y="444089"/>
                </a:cubicBezTo>
                <a:lnTo>
                  <a:pt x="0" y="49343"/>
                </a:lnTo>
                <a:close/>
              </a:path>
            </a:pathLst>
          </a:custGeom>
        </p:spPr>
        <p:style>
          <a:lnRef idx="1">
            <a:schemeClr val="accent5">
              <a:hueOff val="-5406834"/>
              <a:satOff val="-13935"/>
              <a:lumOff val="-9412"/>
              <a:alphaOff val="0"/>
            </a:schemeClr>
          </a:lnRef>
          <a:fillRef idx="1">
            <a:schemeClr val="lt1">
              <a:alpha val="90000"/>
              <a:hueOff val="0"/>
              <a:satOff val="0"/>
              <a:lumOff val="0"/>
              <a:alphaOff val="0"/>
            </a:schemeClr>
          </a:fillRef>
          <a:effectRef idx="0">
            <a:schemeClr val="lt1">
              <a:alpha val="90000"/>
              <a:hueOff val="0"/>
              <a:satOff val="0"/>
              <a:lumOff val="0"/>
              <a:alphaOff val="0"/>
            </a:schemeClr>
          </a:effectRef>
          <a:fontRef idx="minor">
            <a:schemeClr val="dk1">
              <a:hueOff val="0"/>
              <a:satOff val="0"/>
              <a:lumOff val="0"/>
              <a:alphaOff val="0"/>
            </a:schemeClr>
          </a:fontRef>
        </p:style>
        <p:txBody>
          <a:bodyPr spcFirstLastPara="0" vert="horz" wrap="square" lIns="37312" tIns="29692" rIns="37312" bIns="29692" numCol="1" spcCol="1270" anchor="ctr" anchorCtr="0">
            <a:noAutofit/>
          </a:bodyPr>
          <a:lstStyle/>
          <a:p>
            <a:pPr marL="0" lvl="0" indent="0" defTabSz="533400">
              <a:lnSpc>
                <a:spcPct val="90000"/>
              </a:lnSpc>
              <a:spcBef>
                <a:spcPct val="0"/>
              </a:spcBef>
              <a:spcAft>
                <a:spcPct val="35000"/>
              </a:spcAft>
              <a:buNone/>
            </a:pPr>
            <a:r>
              <a:rPr lang="zh-CN" altLang="en-US" sz="1200" dirty="0"/>
              <a:t>上面的服务用户只能看见服务，无法看见下面的协议</a:t>
            </a:r>
          </a:p>
        </p:txBody>
      </p:sp>
      <p:sp>
        <p:nvSpPr>
          <p:cNvPr id="17" name="任意多边形: 形状 16">
            <a:extLst>
              <a:ext uri="{FF2B5EF4-FFF2-40B4-BE49-F238E27FC236}">
                <a16:creationId xmlns:a16="http://schemas.microsoft.com/office/drawing/2014/main" id="{E434FFF7-21D3-2790-B736-58069FA991B5}"/>
              </a:ext>
            </a:extLst>
          </p:cNvPr>
          <p:cNvSpPr/>
          <p:nvPr/>
        </p:nvSpPr>
        <p:spPr>
          <a:xfrm>
            <a:off x="5171607" y="1453054"/>
            <a:ext cx="281158" cy="2938675"/>
          </a:xfrm>
          <a:custGeom>
            <a:avLst/>
            <a:gdLst/>
            <a:ahLst/>
            <a:cxnLst/>
            <a:rect l="0" t="0" r="0" b="0"/>
            <a:pathLst>
              <a:path>
                <a:moveTo>
                  <a:pt x="0" y="0"/>
                </a:moveTo>
                <a:lnTo>
                  <a:pt x="0" y="2938675"/>
                </a:lnTo>
                <a:lnTo>
                  <a:pt x="281158" y="2938675"/>
                </a:lnTo>
              </a:path>
            </a:pathLst>
          </a:custGeom>
          <a:noFill/>
        </p:spPr>
        <p:style>
          <a:lnRef idx="1">
            <a:schemeClr val="accent6">
              <a:hueOff val="0"/>
              <a:satOff val="0"/>
              <a:lumOff val="0"/>
              <a:alphaOff val="0"/>
            </a:schemeClr>
          </a:lnRef>
          <a:fillRef idx="0">
            <a:scrgbClr r="0" g="0" b="0"/>
          </a:fillRef>
          <a:effectRef idx="0">
            <a:schemeClr val="accent6">
              <a:tint val="90000"/>
              <a:hueOff val="0"/>
              <a:satOff val="0"/>
              <a:lumOff val="0"/>
              <a:alphaOff val="0"/>
            </a:schemeClr>
          </a:effectRef>
          <a:fontRef idx="minor">
            <a:schemeClr val="tx1">
              <a:hueOff val="0"/>
              <a:satOff val="0"/>
              <a:lumOff val="0"/>
              <a:alphaOff val="0"/>
            </a:schemeClr>
          </a:fontRef>
        </p:style>
      </p:sp>
      <p:sp>
        <p:nvSpPr>
          <p:cNvPr id="18" name="任意多边形: 形状 17">
            <a:extLst>
              <a:ext uri="{FF2B5EF4-FFF2-40B4-BE49-F238E27FC236}">
                <a16:creationId xmlns:a16="http://schemas.microsoft.com/office/drawing/2014/main" id="{B71D4C59-3A00-FF3F-4887-840307128895}"/>
              </a:ext>
            </a:extLst>
          </p:cNvPr>
          <p:cNvSpPr/>
          <p:nvPr/>
        </p:nvSpPr>
        <p:spPr>
          <a:xfrm>
            <a:off x="5452765" y="4145014"/>
            <a:ext cx="2880000" cy="504000"/>
          </a:xfrm>
          <a:custGeom>
            <a:avLst/>
            <a:gdLst>
              <a:gd name="csX0" fmla="*/ 0 w 2749105"/>
              <a:gd name="csY0" fmla="*/ 49343 h 493432"/>
              <a:gd name="csX1" fmla="*/ 49343 w 2749105"/>
              <a:gd name="csY1" fmla="*/ 0 h 493432"/>
              <a:gd name="csX2" fmla="*/ 2699762 w 2749105"/>
              <a:gd name="csY2" fmla="*/ 0 h 493432"/>
              <a:gd name="csX3" fmla="*/ 2749105 w 2749105"/>
              <a:gd name="csY3" fmla="*/ 49343 h 493432"/>
              <a:gd name="csX4" fmla="*/ 2749105 w 2749105"/>
              <a:gd name="csY4" fmla="*/ 444089 h 493432"/>
              <a:gd name="csX5" fmla="*/ 2699762 w 2749105"/>
              <a:gd name="csY5" fmla="*/ 493432 h 493432"/>
              <a:gd name="csX6" fmla="*/ 49343 w 2749105"/>
              <a:gd name="csY6" fmla="*/ 493432 h 493432"/>
              <a:gd name="csX7" fmla="*/ 0 w 2749105"/>
              <a:gd name="csY7" fmla="*/ 444089 h 493432"/>
              <a:gd name="csX8" fmla="*/ 0 w 2749105"/>
              <a:gd name="csY8" fmla="*/ 49343 h 4934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749105" h="493432">
                <a:moveTo>
                  <a:pt x="0" y="49343"/>
                </a:moveTo>
                <a:cubicBezTo>
                  <a:pt x="0" y="22092"/>
                  <a:pt x="22092" y="0"/>
                  <a:pt x="49343" y="0"/>
                </a:cubicBezTo>
                <a:lnTo>
                  <a:pt x="2699762" y="0"/>
                </a:lnTo>
                <a:cubicBezTo>
                  <a:pt x="2727013" y="0"/>
                  <a:pt x="2749105" y="22092"/>
                  <a:pt x="2749105" y="49343"/>
                </a:cubicBezTo>
                <a:lnTo>
                  <a:pt x="2749105" y="444089"/>
                </a:lnTo>
                <a:cubicBezTo>
                  <a:pt x="2749105" y="471340"/>
                  <a:pt x="2727013" y="493432"/>
                  <a:pt x="2699762" y="493432"/>
                </a:cubicBezTo>
                <a:lnTo>
                  <a:pt x="49343" y="493432"/>
                </a:lnTo>
                <a:cubicBezTo>
                  <a:pt x="22092" y="493432"/>
                  <a:pt x="0" y="471340"/>
                  <a:pt x="0" y="444089"/>
                </a:cubicBezTo>
                <a:lnTo>
                  <a:pt x="0" y="49343"/>
                </a:lnTo>
                <a:close/>
              </a:path>
            </a:pathLst>
          </a:custGeom>
        </p:spPr>
        <p:style>
          <a:lnRef idx="1">
            <a:schemeClr val="accent5">
              <a:hueOff val="-6758543"/>
              <a:satOff val="-17419"/>
              <a:lumOff val="-11765"/>
              <a:alphaOff val="0"/>
            </a:schemeClr>
          </a:lnRef>
          <a:fillRef idx="1">
            <a:schemeClr val="lt1">
              <a:alpha val="90000"/>
              <a:hueOff val="0"/>
              <a:satOff val="0"/>
              <a:lumOff val="0"/>
              <a:alphaOff val="0"/>
            </a:schemeClr>
          </a:fillRef>
          <a:effectRef idx="0">
            <a:schemeClr val="lt1">
              <a:alpha val="90000"/>
              <a:hueOff val="0"/>
              <a:satOff val="0"/>
              <a:lumOff val="0"/>
              <a:alphaOff val="0"/>
            </a:schemeClr>
          </a:effectRef>
          <a:fontRef idx="minor">
            <a:schemeClr val="dk1">
              <a:hueOff val="0"/>
              <a:satOff val="0"/>
              <a:lumOff val="0"/>
              <a:alphaOff val="0"/>
            </a:schemeClr>
          </a:fontRef>
        </p:style>
        <p:txBody>
          <a:bodyPr spcFirstLastPara="0" vert="horz" wrap="square" lIns="37312" tIns="29692" rIns="37312" bIns="29692" numCol="1" spcCol="1270" anchor="ctr" anchorCtr="0">
            <a:noAutofit/>
          </a:bodyPr>
          <a:lstStyle/>
          <a:p>
            <a:pPr marL="0" lvl="0" indent="0" defTabSz="533400">
              <a:lnSpc>
                <a:spcPct val="90000"/>
              </a:lnSpc>
              <a:spcBef>
                <a:spcPct val="0"/>
              </a:spcBef>
              <a:spcAft>
                <a:spcPct val="35000"/>
              </a:spcAft>
              <a:buNone/>
            </a:pPr>
            <a:r>
              <a:rPr lang="zh-CN" altLang="en-US" sz="1200" dirty="0"/>
              <a:t>是“垂直的”</a:t>
            </a:r>
          </a:p>
        </p:txBody>
      </p:sp>
      <p:sp>
        <p:nvSpPr>
          <p:cNvPr id="4" name="任意多边形: 形状 3">
            <a:extLst>
              <a:ext uri="{FF2B5EF4-FFF2-40B4-BE49-F238E27FC236}">
                <a16:creationId xmlns:a16="http://schemas.microsoft.com/office/drawing/2014/main" id="{6D5D1E7F-5110-E7CB-B804-EB2B7B813842}"/>
              </a:ext>
            </a:extLst>
          </p:cNvPr>
          <p:cNvSpPr/>
          <p:nvPr/>
        </p:nvSpPr>
        <p:spPr>
          <a:xfrm>
            <a:off x="955575" y="1080893"/>
            <a:ext cx="1080000" cy="360000"/>
          </a:xfrm>
          <a:custGeom>
            <a:avLst/>
            <a:gdLst>
              <a:gd name="csX0" fmla="*/ 0 w 2811589"/>
              <a:gd name="csY0" fmla="*/ 59212 h 592122"/>
              <a:gd name="csX1" fmla="*/ 59212 w 2811589"/>
              <a:gd name="csY1" fmla="*/ 0 h 592122"/>
              <a:gd name="csX2" fmla="*/ 2752377 w 2811589"/>
              <a:gd name="csY2" fmla="*/ 0 h 592122"/>
              <a:gd name="csX3" fmla="*/ 2811589 w 2811589"/>
              <a:gd name="csY3" fmla="*/ 59212 h 592122"/>
              <a:gd name="csX4" fmla="*/ 2811589 w 2811589"/>
              <a:gd name="csY4" fmla="*/ 532910 h 592122"/>
              <a:gd name="csX5" fmla="*/ 2752377 w 2811589"/>
              <a:gd name="csY5" fmla="*/ 592122 h 592122"/>
              <a:gd name="csX6" fmla="*/ 59212 w 2811589"/>
              <a:gd name="csY6" fmla="*/ 592122 h 592122"/>
              <a:gd name="csX7" fmla="*/ 0 w 2811589"/>
              <a:gd name="csY7" fmla="*/ 532910 h 592122"/>
              <a:gd name="csX8" fmla="*/ 0 w 2811589"/>
              <a:gd name="csY8" fmla="*/ 59212 h 59212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811589" h="592122">
                <a:moveTo>
                  <a:pt x="0" y="59212"/>
                </a:moveTo>
                <a:cubicBezTo>
                  <a:pt x="0" y="26510"/>
                  <a:pt x="26510" y="0"/>
                  <a:pt x="59212" y="0"/>
                </a:cubicBezTo>
                <a:lnTo>
                  <a:pt x="2752377" y="0"/>
                </a:lnTo>
                <a:cubicBezTo>
                  <a:pt x="2785079" y="0"/>
                  <a:pt x="2811589" y="26510"/>
                  <a:pt x="2811589" y="59212"/>
                </a:cubicBezTo>
                <a:lnTo>
                  <a:pt x="2811589" y="532910"/>
                </a:lnTo>
                <a:cubicBezTo>
                  <a:pt x="2811589" y="565612"/>
                  <a:pt x="2785079" y="592122"/>
                  <a:pt x="2752377" y="592122"/>
                </a:cubicBezTo>
                <a:lnTo>
                  <a:pt x="59212" y="592122"/>
                </a:lnTo>
                <a:cubicBezTo>
                  <a:pt x="26510" y="592122"/>
                  <a:pt x="0" y="565612"/>
                  <a:pt x="0" y="532910"/>
                </a:cubicBezTo>
                <a:lnTo>
                  <a:pt x="0" y="59212"/>
                </a:lnTo>
                <a:close/>
              </a:path>
            </a:pathLst>
          </a:custGeom>
        </p:spPr>
        <p:style>
          <a:lnRef idx="0">
            <a:schemeClr val="lt1">
              <a:hueOff val="0"/>
              <a:satOff val="0"/>
              <a:lumOff val="0"/>
              <a:alphaOff val="0"/>
            </a:schemeClr>
          </a:lnRef>
          <a:fillRef idx="3">
            <a:schemeClr val="accent5">
              <a:hueOff val="0"/>
              <a:satOff val="0"/>
              <a:lumOff val="0"/>
              <a:alphaOff val="0"/>
            </a:schemeClr>
          </a:fillRef>
          <a:effectRef idx="2">
            <a:schemeClr val="accent5">
              <a:hueOff val="0"/>
              <a:satOff val="0"/>
              <a:lumOff val="0"/>
              <a:alphaOff val="0"/>
            </a:schemeClr>
          </a:effectRef>
          <a:fontRef idx="minor">
            <a:schemeClr val="lt1"/>
          </a:fontRef>
        </p:style>
        <p:txBody>
          <a:bodyPr spcFirstLastPara="0" vert="horz" wrap="square" lIns="47823" tIns="37663" rIns="47823" bIns="37663" numCol="1" spcCol="1270" anchor="ctr" anchorCtr="0">
            <a:noAutofit/>
          </a:bodyPr>
          <a:lstStyle/>
          <a:p>
            <a:pPr marL="0" lvl="0" indent="0" algn="ctr" defTabSz="711200">
              <a:lnSpc>
                <a:spcPct val="90000"/>
              </a:lnSpc>
              <a:spcBef>
                <a:spcPct val="0"/>
              </a:spcBef>
              <a:spcAft>
                <a:spcPct val="35000"/>
              </a:spcAft>
              <a:buNone/>
            </a:pPr>
            <a:r>
              <a:rPr lang="zh-CN" altLang="en-US" sz="1400"/>
              <a:t>协议</a:t>
            </a:r>
            <a:endParaRPr lang="zh-CN" altLang="en-US" sz="1400" dirty="0"/>
          </a:p>
        </p:txBody>
      </p:sp>
      <p:sp>
        <p:nvSpPr>
          <p:cNvPr id="12" name="任意多边形: 形状 11">
            <a:extLst>
              <a:ext uri="{FF2B5EF4-FFF2-40B4-BE49-F238E27FC236}">
                <a16:creationId xmlns:a16="http://schemas.microsoft.com/office/drawing/2014/main" id="{4711B36B-1BFE-A46F-6054-F4D36094877E}"/>
              </a:ext>
            </a:extLst>
          </p:cNvPr>
          <p:cNvSpPr/>
          <p:nvPr/>
        </p:nvSpPr>
        <p:spPr>
          <a:xfrm>
            <a:off x="4903895" y="1080893"/>
            <a:ext cx="1080000" cy="360000"/>
          </a:xfrm>
          <a:custGeom>
            <a:avLst/>
            <a:gdLst>
              <a:gd name="csX0" fmla="*/ 0 w 2811589"/>
              <a:gd name="csY0" fmla="*/ 59212 h 592122"/>
              <a:gd name="csX1" fmla="*/ 59212 w 2811589"/>
              <a:gd name="csY1" fmla="*/ 0 h 592122"/>
              <a:gd name="csX2" fmla="*/ 2752377 w 2811589"/>
              <a:gd name="csY2" fmla="*/ 0 h 592122"/>
              <a:gd name="csX3" fmla="*/ 2811589 w 2811589"/>
              <a:gd name="csY3" fmla="*/ 59212 h 592122"/>
              <a:gd name="csX4" fmla="*/ 2811589 w 2811589"/>
              <a:gd name="csY4" fmla="*/ 532910 h 592122"/>
              <a:gd name="csX5" fmla="*/ 2752377 w 2811589"/>
              <a:gd name="csY5" fmla="*/ 592122 h 592122"/>
              <a:gd name="csX6" fmla="*/ 59212 w 2811589"/>
              <a:gd name="csY6" fmla="*/ 592122 h 592122"/>
              <a:gd name="csX7" fmla="*/ 0 w 2811589"/>
              <a:gd name="csY7" fmla="*/ 532910 h 592122"/>
              <a:gd name="csX8" fmla="*/ 0 w 2811589"/>
              <a:gd name="csY8" fmla="*/ 59212 h 59212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811589" h="592122">
                <a:moveTo>
                  <a:pt x="0" y="59212"/>
                </a:moveTo>
                <a:cubicBezTo>
                  <a:pt x="0" y="26510"/>
                  <a:pt x="26510" y="0"/>
                  <a:pt x="59212" y="0"/>
                </a:cubicBezTo>
                <a:lnTo>
                  <a:pt x="2752377" y="0"/>
                </a:lnTo>
                <a:cubicBezTo>
                  <a:pt x="2785079" y="0"/>
                  <a:pt x="2811589" y="26510"/>
                  <a:pt x="2811589" y="59212"/>
                </a:cubicBezTo>
                <a:lnTo>
                  <a:pt x="2811589" y="532910"/>
                </a:lnTo>
                <a:cubicBezTo>
                  <a:pt x="2811589" y="565612"/>
                  <a:pt x="2785079" y="592122"/>
                  <a:pt x="2752377" y="592122"/>
                </a:cubicBezTo>
                <a:lnTo>
                  <a:pt x="59212" y="592122"/>
                </a:lnTo>
                <a:cubicBezTo>
                  <a:pt x="26510" y="592122"/>
                  <a:pt x="0" y="565612"/>
                  <a:pt x="0" y="532910"/>
                </a:cubicBezTo>
                <a:lnTo>
                  <a:pt x="0" y="59212"/>
                </a:lnTo>
                <a:close/>
              </a:path>
            </a:pathLst>
          </a:custGeom>
        </p:spPr>
        <p:style>
          <a:lnRef idx="0">
            <a:schemeClr val="lt1">
              <a:hueOff val="0"/>
              <a:satOff val="0"/>
              <a:lumOff val="0"/>
              <a:alphaOff val="0"/>
            </a:schemeClr>
          </a:lnRef>
          <a:fillRef idx="3">
            <a:schemeClr val="accent5">
              <a:hueOff val="-6758543"/>
              <a:satOff val="-17419"/>
              <a:lumOff val="-11765"/>
              <a:alphaOff val="0"/>
            </a:schemeClr>
          </a:fillRef>
          <a:effectRef idx="2">
            <a:schemeClr val="accent5">
              <a:hueOff val="-6758543"/>
              <a:satOff val="-17419"/>
              <a:lumOff val="-11765"/>
              <a:alphaOff val="0"/>
            </a:schemeClr>
          </a:effectRef>
          <a:fontRef idx="minor">
            <a:schemeClr val="lt1"/>
          </a:fontRef>
        </p:style>
        <p:txBody>
          <a:bodyPr spcFirstLastPara="0" vert="horz" wrap="square" lIns="47823" tIns="37663" rIns="47823" bIns="37663" numCol="1" spcCol="1270" anchor="ctr" anchorCtr="0">
            <a:noAutofit/>
          </a:bodyPr>
          <a:lstStyle/>
          <a:p>
            <a:pPr marL="0" lvl="0" indent="0" algn="ctr" defTabSz="711200">
              <a:lnSpc>
                <a:spcPct val="90000"/>
              </a:lnSpc>
              <a:spcBef>
                <a:spcPct val="0"/>
              </a:spcBef>
              <a:spcAft>
                <a:spcPct val="35000"/>
              </a:spcAft>
              <a:buNone/>
            </a:pPr>
            <a:r>
              <a:rPr lang="zh-CN" altLang="en-US" sz="1400" dirty="0"/>
              <a:t>服务</a:t>
            </a:r>
          </a:p>
        </p:txBody>
      </p:sp>
    </p:spTree>
    <p:extLst>
      <p:ext uri="{BB962C8B-B14F-4D97-AF65-F5344CB8AC3E}">
        <p14:creationId xmlns:p14="http://schemas.microsoft.com/office/powerpoint/2010/main" val="3894673694"/>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63"/>
          <p:cNvSpPr>
            <a:spLocks noChangeArrowheads="1"/>
          </p:cNvSpPr>
          <p:nvPr/>
        </p:nvSpPr>
        <p:spPr bwMode="auto">
          <a:xfrm>
            <a:off x="874295" y="2674019"/>
            <a:ext cx="7259052" cy="1245882"/>
          </a:xfrm>
          <a:prstGeom prst="rect">
            <a:avLst/>
          </a:prstGeom>
          <a:solidFill>
            <a:schemeClr val="bg1"/>
          </a:solidFill>
          <a:ln w="9525">
            <a:solidFill>
              <a:schemeClr val="tx1">
                <a:lumMod val="50000"/>
                <a:lumOff val="50000"/>
              </a:schemeClr>
            </a:solidFill>
            <a:prstDash val="dash"/>
            <a:round/>
          </a:ln>
          <a:effectLst/>
          <a:scene3d>
            <a:camera prst="orthographicFront">
              <a:rot lat="0" lon="0" rev="0"/>
            </a:camera>
            <a:lightRig rig="contrasting" dir="t">
              <a:rot lat="0" lon="0" rev="7800000"/>
            </a:lightRig>
          </a:scene3d>
          <a:sp3d/>
        </p:spPr>
        <p:txBody>
          <a:bodyPr wrap="none" anchor="ctr"/>
          <a:lstStyle/>
          <a:p>
            <a:pPr fontAlgn="auto">
              <a:spcBef>
                <a:spcPts val="0"/>
              </a:spcBef>
              <a:spcAft>
                <a:spcPts val="0"/>
              </a:spcAft>
              <a:defRPr/>
            </a:pPr>
            <a:endParaRPr lang="zh-CN" altLang="en-US" sz="1400" b="1" dirty="0">
              <a:solidFill>
                <a:srgbClr val="368AD6"/>
              </a:solidFill>
              <a:latin typeface="+mn-lt"/>
              <a:ea typeface="微软雅黑 Light" panose="020B0502040204020203" pitchFamily="34" charset="-122"/>
            </a:endParaRPr>
          </a:p>
        </p:txBody>
      </p:sp>
      <p:sp>
        <p:nvSpPr>
          <p:cNvPr id="5" name="Rectangle 35"/>
          <p:cNvSpPr>
            <a:spLocks noChangeArrowheads="1"/>
          </p:cNvSpPr>
          <p:nvPr/>
        </p:nvSpPr>
        <p:spPr bwMode="auto">
          <a:xfrm>
            <a:off x="1882692" y="3153276"/>
            <a:ext cx="4800600" cy="571500"/>
          </a:xfrm>
          <a:prstGeom prst="rect">
            <a:avLst/>
          </a:prstGeom>
          <a:noFill/>
          <a:ln>
            <a:noFill/>
          </a:ln>
        </p:spPr>
        <p:txBody>
          <a:bodyPr wrap="none" anchor="ctr"/>
          <a:lstStyle/>
          <a:p>
            <a:pPr algn="ctr"/>
            <a:endParaRPr kumimoji="1" lang="zh-CN" altLang="zh-CN" sz="1600" b="1">
              <a:latin typeface="微软雅黑" panose="020B0503020204020204" pitchFamily="34" charset="-122"/>
              <a:ea typeface="微软雅黑" panose="020B0503020204020204" pitchFamily="34" charset="-122"/>
            </a:endParaRPr>
          </a:p>
        </p:txBody>
      </p:sp>
      <p:sp>
        <p:nvSpPr>
          <p:cNvPr id="6" name="Rectangle 36"/>
          <p:cNvSpPr>
            <a:spLocks noChangeArrowheads="1"/>
          </p:cNvSpPr>
          <p:nvPr/>
        </p:nvSpPr>
        <p:spPr bwMode="auto">
          <a:xfrm>
            <a:off x="2593892" y="3048501"/>
            <a:ext cx="188912" cy="190500"/>
          </a:xfrm>
          <a:prstGeom prst="rect">
            <a:avLst/>
          </a:prstGeom>
          <a:solidFill>
            <a:srgbClr val="CC00CC"/>
          </a:solidFill>
          <a:ln w="19050">
            <a:noFill/>
            <a:miter lim="800000"/>
          </a:ln>
        </p:spPr>
        <p:txBody>
          <a:bodyPr wrap="none" anchor="ctr"/>
          <a:lstStyle/>
          <a:p>
            <a:endParaRPr lang="zh-CN" altLang="en-US" sz="1600" b="1">
              <a:solidFill>
                <a:srgbClr val="CC00CC"/>
              </a:solidFill>
              <a:latin typeface="微软雅黑" panose="020B0503020204020204" pitchFamily="34" charset="-122"/>
              <a:ea typeface="微软雅黑" panose="020B0503020204020204" pitchFamily="34" charset="-122"/>
            </a:endParaRPr>
          </a:p>
        </p:txBody>
      </p:sp>
      <p:sp>
        <p:nvSpPr>
          <p:cNvPr id="7" name="Line 37"/>
          <p:cNvSpPr>
            <a:spLocks noChangeShapeType="1"/>
          </p:cNvSpPr>
          <p:nvPr/>
        </p:nvSpPr>
        <p:spPr bwMode="auto">
          <a:xfrm>
            <a:off x="3284454" y="1734051"/>
            <a:ext cx="2038350" cy="0"/>
          </a:xfrm>
          <a:prstGeom prst="line">
            <a:avLst/>
          </a:prstGeom>
          <a:noFill/>
          <a:ln w="28575">
            <a:solidFill>
              <a:schemeClr val="tx1"/>
            </a:solidFill>
            <a:prstDash val="sysDot"/>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 name="Text Box 38"/>
          <p:cNvSpPr txBox="1">
            <a:spLocks noChangeArrowheads="1"/>
          </p:cNvSpPr>
          <p:nvPr/>
        </p:nvSpPr>
        <p:spPr bwMode="auto">
          <a:xfrm>
            <a:off x="3716254" y="1548314"/>
            <a:ext cx="1258888" cy="338137"/>
          </a:xfrm>
          <a:prstGeom prst="rect">
            <a:avLst/>
          </a:prstGeom>
          <a:solidFill>
            <a:srgbClr val="C3E3F9"/>
          </a:solidFill>
          <a:ln>
            <a:noFill/>
          </a:ln>
        </p:spPr>
        <p:txBody>
          <a:bodyPr>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dirty="0">
                <a:solidFill>
                  <a:srgbClr val="0000FF"/>
                </a:solidFill>
                <a:latin typeface="微软雅黑" panose="020B0503020204020204" pitchFamily="34" charset="-122"/>
                <a:ea typeface="微软雅黑" panose="020B0503020204020204" pitchFamily="34" charset="-122"/>
              </a:rPr>
              <a:t>协议 </a:t>
            </a:r>
            <a:r>
              <a:rPr kumimoji="1" lang="en-US" altLang="zh-CN" sz="1600" b="1" dirty="0">
                <a:solidFill>
                  <a:srgbClr val="0000FF"/>
                </a:solidFill>
                <a:latin typeface="微软雅黑" panose="020B0503020204020204" pitchFamily="34" charset="-122"/>
                <a:ea typeface="微软雅黑" panose="020B0503020204020204" pitchFamily="34" charset="-122"/>
              </a:rPr>
              <a:t>(</a:t>
            </a:r>
            <a:r>
              <a:rPr kumimoji="1" lang="en-US" altLang="zh-CN" sz="1600" b="1" i="1" dirty="0">
                <a:solidFill>
                  <a:srgbClr val="0000FF"/>
                </a:solidFill>
                <a:latin typeface="微软雅黑" panose="020B0503020204020204" pitchFamily="34" charset="-122"/>
                <a:ea typeface="微软雅黑" panose="020B0503020204020204" pitchFamily="34" charset="-122"/>
              </a:rPr>
              <a:t>n</a:t>
            </a:r>
            <a:r>
              <a:rPr kumimoji="1" lang="en-US" altLang="zh-CN" sz="1600" b="1" dirty="0">
                <a:solidFill>
                  <a:srgbClr val="0000FF"/>
                </a:solidFill>
                <a:latin typeface="微软雅黑" panose="020B0503020204020204" pitchFamily="34" charset="-122"/>
                <a:ea typeface="微软雅黑" panose="020B0503020204020204" pitchFamily="34" charset="-122"/>
              </a:rPr>
              <a:t>+1)</a:t>
            </a:r>
          </a:p>
        </p:txBody>
      </p:sp>
      <p:sp>
        <p:nvSpPr>
          <p:cNvPr id="9" name="Text Box 39"/>
          <p:cNvSpPr txBox="1">
            <a:spLocks noChangeArrowheads="1"/>
          </p:cNvSpPr>
          <p:nvPr/>
        </p:nvSpPr>
        <p:spPr bwMode="auto">
          <a:xfrm>
            <a:off x="2730417" y="2735764"/>
            <a:ext cx="604837"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28575">
                <a:solidFill>
                  <a:schemeClr val="tx1"/>
                </a:solidFill>
                <a:prstDash val="dash"/>
                <a:miter lim="800000"/>
                <a:headEnd type="none" w="med" len="lg"/>
                <a:tailEnd type="none" w="med"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600" b="1" dirty="0">
                <a:solidFill>
                  <a:srgbClr val="CC00CC"/>
                </a:solidFill>
                <a:latin typeface="微软雅黑" panose="020B0503020204020204" pitchFamily="34" charset="-122"/>
                <a:ea typeface="微软雅黑" panose="020B0503020204020204" pitchFamily="34" charset="-122"/>
              </a:rPr>
              <a:t>SAP</a:t>
            </a:r>
          </a:p>
        </p:txBody>
      </p:sp>
      <p:sp>
        <p:nvSpPr>
          <p:cNvPr id="10" name="Text Box 40"/>
          <p:cNvSpPr txBox="1">
            <a:spLocks noChangeArrowheads="1"/>
          </p:cNvSpPr>
          <p:nvPr/>
        </p:nvSpPr>
        <p:spPr bwMode="auto">
          <a:xfrm>
            <a:off x="5245017" y="2754814"/>
            <a:ext cx="604837"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28575">
                <a:solidFill>
                  <a:schemeClr val="tx1"/>
                </a:solidFill>
                <a:prstDash val="dash"/>
                <a:miter lim="800000"/>
                <a:headEnd type="none" w="med" len="lg"/>
                <a:tailEnd type="none" w="med"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600" b="1">
                <a:solidFill>
                  <a:srgbClr val="CC00CC"/>
                </a:solidFill>
                <a:latin typeface="微软雅黑" panose="020B0503020204020204" pitchFamily="34" charset="-122"/>
                <a:ea typeface="微软雅黑" panose="020B0503020204020204" pitchFamily="34" charset="-122"/>
              </a:rPr>
              <a:t>SAP</a:t>
            </a:r>
          </a:p>
        </p:txBody>
      </p:sp>
      <p:sp>
        <p:nvSpPr>
          <p:cNvPr id="11" name="Text Box 41"/>
          <p:cNvSpPr txBox="1">
            <a:spLocks noChangeArrowheads="1"/>
          </p:cNvSpPr>
          <p:nvPr/>
        </p:nvSpPr>
        <p:spPr bwMode="auto">
          <a:xfrm>
            <a:off x="2701257" y="2017553"/>
            <a:ext cx="1415772" cy="33855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28575">
                <a:solidFill>
                  <a:schemeClr val="tx1"/>
                </a:solidFill>
                <a:prstDash val="dash"/>
                <a:miter lim="800000"/>
                <a:headEnd type="none" w="med" len="lg"/>
                <a:tailEnd type="none" w="med"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defRPr kumimoji="1" sz="1600" b="1">
                <a:solidFill>
                  <a:srgbClr val="0000FF"/>
                </a:solidFill>
                <a:latin typeface="微软雅黑" panose="020B0503020204020204" pitchFamily="34" charset="-122"/>
                <a:ea typeface="微软雅黑" panose="020B0503020204020204" pitchFamily="34" charset="-122"/>
              </a:defRPr>
            </a:lvl1pPr>
            <a:lvl2pPr marL="742950" indent="-285750">
              <a:defRPr>
                <a:latin typeface="Calibri" panose="020F0502020204030204" pitchFamily="34" charset="0"/>
                <a:ea typeface="宋体" panose="02010600030101010101" pitchFamily="2" charset="-122"/>
              </a:defRPr>
            </a:lvl2pPr>
            <a:lvl3pPr marL="1143000" indent="-228600">
              <a:defRPr>
                <a:latin typeface="Calibri" panose="020F0502020204030204" pitchFamily="34" charset="0"/>
                <a:ea typeface="宋体" panose="02010600030101010101" pitchFamily="2" charset="-122"/>
              </a:defRPr>
            </a:lvl3pPr>
            <a:lvl4pPr marL="1600200" indent="-228600">
              <a:defRPr>
                <a:latin typeface="Calibri" panose="020F0502020204030204" pitchFamily="34" charset="0"/>
                <a:ea typeface="宋体" panose="02010600030101010101" pitchFamily="2" charset="-122"/>
              </a:defRPr>
            </a:lvl4pPr>
            <a:lvl5pPr marL="2057400" indent="-228600">
              <a:defRPr>
                <a:latin typeface="Calibri" panose="020F0502020204030204" pitchFamily="34" charset="0"/>
                <a:ea typeface="宋体" panose="02010600030101010101" pitchFamily="2" charset="-122"/>
              </a:defRPr>
            </a:lvl5pPr>
            <a:lvl6pPr marL="2514600" indent="-228600" fontAlgn="base">
              <a:spcBef>
                <a:spcPct val="0"/>
              </a:spcBef>
              <a:spcAft>
                <a:spcPct val="0"/>
              </a:spcAft>
              <a:defRPr>
                <a:latin typeface="Calibri" panose="020F0502020204030204" pitchFamily="34" charset="0"/>
                <a:ea typeface="宋体" panose="02010600030101010101" pitchFamily="2" charset="-122"/>
              </a:defRPr>
            </a:lvl6pPr>
            <a:lvl7pPr marL="2971800" indent="-228600" fontAlgn="base">
              <a:spcBef>
                <a:spcPct val="0"/>
              </a:spcBef>
              <a:spcAft>
                <a:spcPct val="0"/>
              </a:spcAft>
              <a:defRPr>
                <a:latin typeface="Calibri" panose="020F0502020204030204" pitchFamily="34" charset="0"/>
                <a:ea typeface="宋体" panose="02010600030101010101" pitchFamily="2" charset="-122"/>
              </a:defRPr>
            </a:lvl7pPr>
            <a:lvl8pPr marL="3429000" indent="-228600" fontAlgn="base">
              <a:spcBef>
                <a:spcPct val="0"/>
              </a:spcBef>
              <a:spcAft>
                <a:spcPct val="0"/>
              </a:spcAft>
              <a:defRPr>
                <a:latin typeface="Calibri" panose="020F0502020204030204" pitchFamily="34" charset="0"/>
                <a:ea typeface="宋体" panose="02010600030101010101" pitchFamily="2" charset="-122"/>
              </a:defRPr>
            </a:lvl8pPr>
            <a:lvl9pPr marL="3886200" indent="-228600" fontAlgn="base">
              <a:spcBef>
                <a:spcPct val="0"/>
              </a:spcBef>
              <a:spcAft>
                <a:spcPct val="0"/>
              </a:spcAft>
              <a:defRPr>
                <a:latin typeface="Calibri" panose="020F0502020204030204" pitchFamily="34" charset="0"/>
                <a:ea typeface="宋体" panose="02010600030101010101" pitchFamily="2" charset="-122"/>
              </a:defRPr>
            </a:lvl9pPr>
          </a:lstStyle>
          <a:p>
            <a:r>
              <a:rPr lang="zh-CN" altLang="en-US" dirty="0"/>
              <a:t>交换服务原语</a:t>
            </a:r>
          </a:p>
        </p:txBody>
      </p:sp>
      <p:sp>
        <p:nvSpPr>
          <p:cNvPr id="12" name="AutoShape 42"/>
          <p:cNvSpPr>
            <a:spLocks noChangeArrowheads="1"/>
          </p:cNvSpPr>
          <p:nvPr/>
        </p:nvSpPr>
        <p:spPr bwMode="auto">
          <a:xfrm>
            <a:off x="2617704" y="1957889"/>
            <a:ext cx="128588" cy="1074737"/>
          </a:xfrm>
          <a:prstGeom prst="upDownArrow">
            <a:avLst>
              <a:gd name="adj1" fmla="val 50000"/>
              <a:gd name="adj2" fmla="val 181090"/>
            </a:avLst>
          </a:prstGeom>
          <a:solidFill>
            <a:srgbClr val="0098F6"/>
          </a:solidFill>
          <a:ln w="12700">
            <a:solidFill>
              <a:schemeClr val="tx1"/>
            </a:solidFill>
            <a:miter lim="800000"/>
            <a:headEnd type="none" w="med" len="lg"/>
            <a:tailEnd type="none" w="med" len="lg"/>
          </a:ln>
        </p:spPr>
        <p:txBody>
          <a:bodyPr vert="eaVert" wrap="none" anchor="ctr"/>
          <a:lstStyle/>
          <a:p>
            <a:endParaRPr lang="zh-CN" altLang="en-US" sz="1600" b="1">
              <a:latin typeface="微软雅黑" panose="020B0503020204020204" pitchFamily="34" charset="-122"/>
              <a:ea typeface="微软雅黑" panose="020B0503020204020204" pitchFamily="34" charset="-122"/>
            </a:endParaRPr>
          </a:p>
        </p:txBody>
      </p:sp>
      <p:sp>
        <p:nvSpPr>
          <p:cNvPr id="13" name="Rectangle 43"/>
          <p:cNvSpPr>
            <a:spLocks noChangeArrowheads="1"/>
          </p:cNvSpPr>
          <p:nvPr/>
        </p:nvSpPr>
        <p:spPr bwMode="auto">
          <a:xfrm>
            <a:off x="5754604" y="3048501"/>
            <a:ext cx="192088" cy="190500"/>
          </a:xfrm>
          <a:prstGeom prst="rect">
            <a:avLst/>
          </a:prstGeom>
          <a:solidFill>
            <a:srgbClr val="CC00CC"/>
          </a:solidFill>
          <a:ln w="19050">
            <a:noFill/>
            <a:miter lim="800000"/>
          </a:ln>
        </p:spPr>
        <p:txBody>
          <a:bodyPr wrap="none" anchor="ctr"/>
          <a:lstStyle/>
          <a:p>
            <a:endParaRPr lang="zh-CN" altLang="en-US" sz="1600" b="1">
              <a:solidFill>
                <a:srgbClr val="CC00CC"/>
              </a:solidFill>
              <a:latin typeface="微软雅黑" panose="020B0503020204020204" pitchFamily="34" charset="-122"/>
              <a:ea typeface="微软雅黑" panose="020B0503020204020204" pitchFamily="34" charset="-122"/>
            </a:endParaRPr>
          </a:p>
        </p:txBody>
      </p:sp>
      <p:sp>
        <p:nvSpPr>
          <p:cNvPr id="14" name="AutoShape 44"/>
          <p:cNvSpPr>
            <a:spLocks noChangeArrowheads="1"/>
          </p:cNvSpPr>
          <p:nvPr/>
        </p:nvSpPr>
        <p:spPr bwMode="auto">
          <a:xfrm>
            <a:off x="5776829" y="1957889"/>
            <a:ext cx="130175" cy="1074737"/>
          </a:xfrm>
          <a:prstGeom prst="upDownArrow">
            <a:avLst>
              <a:gd name="adj1" fmla="val 50000"/>
              <a:gd name="adj2" fmla="val 178882"/>
            </a:avLst>
          </a:prstGeom>
          <a:solidFill>
            <a:srgbClr val="0098F6"/>
          </a:solidFill>
          <a:ln w="12700">
            <a:solidFill>
              <a:schemeClr val="tx1"/>
            </a:solidFill>
            <a:miter lim="800000"/>
            <a:headEnd type="none" w="med" len="lg"/>
            <a:tailEnd type="none" w="med" len="lg"/>
          </a:ln>
        </p:spPr>
        <p:txBody>
          <a:bodyPr vert="eaVert" wrap="none" anchor="ctr"/>
          <a:lstStyle/>
          <a:p>
            <a:endParaRPr lang="zh-CN" altLang="en-US" sz="1600" b="1">
              <a:latin typeface="微软雅黑" panose="020B0503020204020204" pitchFamily="34" charset="-122"/>
              <a:ea typeface="微软雅黑" panose="020B0503020204020204" pitchFamily="34" charset="-122"/>
            </a:endParaRPr>
          </a:p>
        </p:txBody>
      </p:sp>
      <p:sp>
        <p:nvSpPr>
          <p:cNvPr id="15" name="Text Box 45"/>
          <p:cNvSpPr txBox="1">
            <a:spLocks noChangeArrowheads="1"/>
          </p:cNvSpPr>
          <p:nvPr/>
        </p:nvSpPr>
        <p:spPr bwMode="auto">
          <a:xfrm>
            <a:off x="4438150" y="2017553"/>
            <a:ext cx="1415772" cy="33855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28575">
                <a:solidFill>
                  <a:schemeClr val="tx1"/>
                </a:solidFill>
                <a:prstDash val="dash"/>
                <a:miter lim="800000"/>
                <a:headEnd type="none" w="med" len="lg"/>
                <a:tailEnd type="none" w="med"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dirty="0">
                <a:solidFill>
                  <a:srgbClr val="0000FF"/>
                </a:solidFill>
                <a:latin typeface="微软雅黑" panose="020B0503020204020204" pitchFamily="34" charset="-122"/>
                <a:ea typeface="微软雅黑" panose="020B0503020204020204" pitchFamily="34" charset="-122"/>
              </a:rPr>
              <a:t>交换服务原语</a:t>
            </a:r>
          </a:p>
        </p:txBody>
      </p:sp>
      <p:sp>
        <p:nvSpPr>
          <p:cNvPr id="16" name="Rectangle 46"/>
          <p:cNvSpPr>
            <a:spLocks noChangeArrowheads="1"/>
          </p:cNvSpPr>
          <p:nvPr/>
        </p:nvSpPr>
        <p:spPr bwMode="auto">
          <a:xfrm>
            <a:off x="2112879" y="1559426"/>
            <a:ext cx="1150938" cy="395288"/>
          </a:xfrm>
          <a:prstGeom prst="rect">
            <a:avLst/>
          </a:prstGeom>
          <a:solidFill>
            <a:schemeClr val="accent6">
              <a:lumMod val="60000"/>
              <a:lumOff val="40000"/>
            </a:schemeClr>
          </a:solidFill>
          <a:ln w="19050">
            <a:solidFill>
              <a:schemeClr val="tx1"/>
            </a:solidFill>
            <a:miter lim="800000"/>
          </a:ln>
        </p:spPr>
        <p:txBody>
          <a:bodyPr wrap="none" anchor="ctr"/>
          <a:lstStyle/>
          <a:p>
            <a:pPr algn="ctr"/>
            <a:endParaRPr kumimoji="1" lang="zh-CN" altLang="zh-CN" sz="1600" b="1">
              <a:latin typeface="微软雅黑" panose="020B0503020204020204" pitchFamily="34" charset="-122"/>
              <a:ea typeface="微软雅黑" panose="020B0503020204020204" pitchFamily="34" charset="-122"/>
            </a:endParaRPr>
          </a:p>
        </p:txBody>
      </p:sp>
      <p:sp>
        <p:nvSpPr>
          <p:cNvPr id="17" name="Text Box 47"/>
          <p:cNvSpPr txBox="1">
            <a:spLocks noChangeArrowheads="1"/>
          </p:cNvSpPr>
          <p:nvPr/>
        </p:nvSpPr>
        <p:spPr bwMode="auto">
          <a:xfrm>
            <a:off x="2144629" y="1614989"/>
            <a:ext cx="1208088"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400" b="1" dirty="0">
                <a:latin typeface="微软雅黑" panose="020B0503020204020204" pitchFamily="34" charset="-122"/>
                <a:ea typeface="微软雅黑" panose="020B0503020204020204" pitchFamily="34" charset="-122"/>
              </a:rPr>
              <a:t>实体 </a:t>
            </a:r>
            <a:r>
              <a:rPr kumimoji="1" lang="en-US" altLang="zh-CN" sz="1400" b="1" dirty="0">
                <a:latin typeface="微软雅黑" panose="020B0503020204020204" pitchFamily="34" charset="-122"/>
                <a:ea typeface="微软雅黑" panose="020B0503020204020204" pitchFamily="34" charset="-122"/>
              </a:rPr>
              <a:t>(</a:t>
            </a:r>
            <a:r>
              <a:rPr kumimoji="1" lang="en-US" altLang="zh-CN" sz="1400" b="1" i="1" dirty="0">
                <a:latin typeface="微软雅黑" panose="020B0503020204020204" pitchFamily="34" charset="-122"/>
                <a:ea typeface="微软雅黑" panose="020B0503020204020204" pitchFamily="34" charset="-122"/>
              </a:rPr>
              <a:t>n</a:t>
            </a:r>
            <a:r>
              <a:rPr kumimoji="1" lang="en-US" altLang="zh-CN" sz="1400" b="1" dirty="0">
                <a:latin typeface="微软雅黑" panose="020B0503020204020204" pitchFamily="34" charset="-122"/>
                <a:ea typeface="微软雅黑" panose="020B0503020204020204" pitchFamily="34" charset="-122"/>
              </a:rPr>
              <a:t> + 1)</a:t>
            </a:r>
          </a:p>
        </p:txBody>
      </p:sp>
      <p:sp>
        <p:nvSpPr>
          <p:cNvPr id="18" name="Text Box 48"/>
          <p:cNvSpPr txBox="1">
            <a:spLocks noChangeArrowheads="1"/>
          </p:cNvSpPr>
          <p:nvPr/>
        </p:nvSpPr>
        <p:spPr bwMode="auto">
          <a:xfrm>
            <a:off x="1033379" y="3077076"/>
            <a:ext cx="849313" cy="584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28575">
                <a:solidFill>
                  <a:schemeClr val="tx1"/>
                </a:solidFill>
                <a:prstDash val="dash"/>
                <a:miter lim="800000"/>
                <a:headEnd type="none" w="med" len="lg"/>
                <a:tailEnd type="none" w="med"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dirty="0">
                <a:latin typeface="微软雅黑" panose="020B0503020204020204" pitchFamily="34" charset="-122"/>
                <a:ea typeface="微软雅黑" panose="020B0503020204020204" pitchFamily="34" charset="-122"/>
              </a:rPr>
              <a:t>服务</a:t>
            </a:r>
            <a:endParaRPr kumimoji="1" lang="en-US" altLang="zh-CN" sz="1600" b="1" dirty="0">
              <a:latin typeface="微软雅黑" panose="020B0503020204020204" pitchFamily="34" charset="-122"/>
              <a:ea typeface="微软雅黑" panose="020B0503020204020204" pitchFamily="34" charset="-122"/>
            </a:endParaRPr>
          </a:p>
          <a:p>
            <a:r>
              <a:rPr kumimoji="1" lang="zh-CN" altLang="en-US" sz="1600" b="1" dirty="0">
                <a:latin typeface="微软雅黑" panose="020B0503020204020204" pitchFamily="34" charset="-122"/>
                <a:ea typeface="微软雅黑" panose="020B0503020204020204" pitchFamily="34" charset="-122"/>
              </a:rPr>
              <a:t>提供者</a:t>
            </a:r>
          </a:p>
        </p:txBody>
      </p:sp>
      <p:sp>
        <p:nvSpPr>
          <p:cNvPr id="19" name="Line 49"/>
          <p:cNvSpPr>
            <a:spLocks noChangeShapeType="1"/>
          </p:cNvSpPr>
          <p:nvPr/>
        </p:nvSpPr>
        <p:spPr bwMode="auto">
          <a:xfrm>
            <a:off x="505072" y="2494631"/>
            <a:ext cx="8053712" cy="0"/>
          </a:xfrm>
          <a:prstGeom prst="line">
            <a:avLst/>
          </a:prstGeom>
          <a:noFill/>
          <a:ln w="28575">
            <a:solidFill>
              <a:srgbClr val="000066"/>
            </a:solidFill>
            <a:prstDash val="dash"/>
            <a:round/>
            <a:headEnd type="none" w="med" len="lg"/>
            <a:tailEnd type="non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20" name="Text Box 50"/>
          <p:cNvSpPr txBox="1">
            <a:spLocks noChangeArrowheads="1"/>
          </p:cNvSpPr>
          <p:nvPr/>
        </p:nvSpPr>
        <p:spPr bwMode="auto">
          <a:xfrm>
            <a:off x="6975392" y="3223126"/>
            <a:ext cx="849913" cy="338554"/>
          </a:xfrm>
          <a:prstGeom prst="rect">
            <a:avLst/>
          </a:prstGeom>
          <a:noFill/>
          <a:ln>
            <a:noFill/>
          </a:ln>
          <a:effec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dirty="0">
                <a:solidFill>
                  <a:srgbClr val="0000FF"/>
                </a:solidFill>
                <a:latin typeface="微软雅黑" panose="020B0503020204020204" pitchFamily="34" charset="-122"/>
                <a:ea typeface="微软雅黑" panose="020B0503020204020204" pitchFamily="34" charset="-122"/>
              </a:rPr>
              <a:t>第 </a:t>
            </a:r>
            <a:r>
              <a:rPr kumimoji="1" lang="en-US" altLang="zh-CN" sz="1600" b="1" i="1" dirty="0">
                <a:solidFill>
                  <a:srgbClr val="0000FF"/>
                </a:solidFill>
                <a:latin typeface="微软雅黑" panose="020B0503020204020204" pitchFamily="34" charset="-122"/>
                <a:ea typeface="微软雅黑" panose="020B0503020204020204" pitchFamily="34" charset="-122"/>
              </a:rPr>
              <a:t>n </a:t>
            </a:r>
            <a:r>
              <a:rPr kumimoji="1" lang="zh-CN" altLang="en-US" sz="1600" b="1" dirty="0">
                <a:solidFill>
                  <a:srgbClr val="0000FF"/>
                </a:solidFill>
                <a:latin typeface="微软雅黑" panose="020B0503020204020204" pitchFamily="34" charset="-122"/>
                <a:ea typeface="微软雅黑" panose="020B0503020204020204" pitchFamily="34" charset="-122"/>
              </a:rPr>
              <a:t>层</a:t>
            </a:r>
          </a:p>
        </p:txBody>
      </p:sp>
      <p:sp>
        <p:nvSpPr>
          <p:cNvPr id="21" name="Text Box 51"/>
          <p:cNvSpPr txBox="1">
            <a:spLocks noChangeArrowheads="1"/>
          </p:cNvSpPr>
          <p:nvPr/>
        </p:nvSpPr>
        <p:spPr bwMode="auto">
          <a:xfrm>
            <a:off x="6742029" y="1576889"/>
            <a:ext cx="1132041" cy="338554"/>
          </a:xfrm>
          <a:prstGeom prst="rect">
            <a:avLst/>
          </a:prstGeom>
          <a:solidFill>
            <a:srgbClr val="C3E3F9"/>
          </a:solidFill>
          <a:ln>
            <a:noFill/>
          </a:ln>
          <a:effec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dirty="0">
                <a:solidFill>
                  <a:srgbClr val="0000FF"/>
                </a:solidFill>
                <a:latin typeface="微软雅黑" panose="020B0503020204020204" pitchFamily="34" charset="-122"/>
                <a:ea typeface="微软雅黑" panose="020B0503020204020204" pitchFamily="34" charset="-122"/>
              </a:rPr>
              <a:t>第 </a:t>
            </a:r>
            <a:r>
              <a:rPr kumimoji="1" lang="en-US" altLang="zh-CN" sz="1600" b="1" i="1" dirty="0">
                <a:solidFill>
                  <a:srgbClr val="0000FF"/>
                </a:solidFill>
                <a:latin typeface="微软雅黑" panose="020B0503020204020204" pitchFamily="34" charset="-122"/>
                <a:ea typeface="微软雅黑" panose="020B0503020204020204" pitchFamily="34" charset="-122"/>
              </a:rPr>
              <a:t>n</a:t>
            </a:r>
            <a:r>
              <a:rPr kumimoji="1" lang="en-US" altLang="zh-CN" sz="1600" b="1" dirty="0">
                <a:solidFill>
                  <a:srgbClr val="0000FF"/>
                </a:solidFill>
                <a:latin typeface="微软雅黑" panose="020B0503020204020204" pitchFamily="34" charset="-122"/>
                <a:ea typeface="微软雅黑" panose="020B0503020204020204" pitchFamily="34" charset="-122"/>
              </a:rPr>
              <a:t>+1 </a:t>
            </a:r>
            <a:r>
              <a:rPr kumimoji="1" lang="zh-CN" altLang="en-US" sz="1600" b="1" dirty="0">
                <a:solidFill>
                  <a:srgbClr val="0000FF"/>
                </a:solidFill>
                <a:latin typeface="微软雅黑" panose="020B0503020204020204" pitchFamily="34" charset="-122"/>
                <a:ea typeface="微软雅黑" panose="020B0503020204020204" pitchFamily="34" charset="-122"/>
              </a:rPr>
              <a:t>层</a:t>
            </a:r>
          </a:p>
        </p:txBody>
      </p:sp>
      <p:sp>
        <p:nvSpPr>
          <p:cNvPr id="22" name="Rectangle 52"/>
          <p:cNvSpPr>
            <a:spLocks noChangeArrowheads="1"/>
          </p:cNvSpPr>
          <p:nvPr/>
        </p:nvSpPr>
        <p:spPr bwMode="auto">
          <a:xfrm>
            <a:off x="5284704" y="1559426"/>
            <a:ext cx="1149350" cy="395288"/>
          </a:xfrm>
          <a:prstGeom prst="rect">
            <a:avLst/>
          </a:prstGeom>
          <a:solidFill>
            <a:schemeClr val="accent6">
              <a:lumMod val="60000"/>
              <a:lumOff val="40000"/>
            </a:schemeClr>
          </a:solidFill>
          <a:ln w="19050">
            <a:solidFill>
              <a:schemeClr val="tx1"/>
            </a:solidFill>
            <a:miter lim="800000"/>
          </a:ln>
        </p:spPr>
        <p:txBody>
          <a:bodyPr wrap="none" anchor="ctr"/>
          <a:lstStyle/>
          <a:p>
            <a:pPr algn="ctr"/>
            <a:endParaRPr kumimoji="1" lang="zh-CN" altLang="zh-CN" sz="1600" b="1">
              <a:latin typeface="微软雅黑" panose="020B0503020204020204" pitchFamily="34" charset="-122"/>
              <a:ea typeface="微软雅黑" panose="020B0503020204020204" pitchFamily="34" charset="-122"/>
            </a:endParaRPr>
          </a:p>
        </p:txBody>
      </p:sp>
      <p:sp>
        <p:nvSpPr>
          <p:cNvPr id="23" name="Text Box 53"/>
          <p:cNvSpPr txBox="1">
            <a:spLocks noChangeArrowheads="1"/>
          </p:cNvSpPr>
          <p:nvPr/>
        </p:nvSpPr>
        <p:spPr bwMode="auto">
          <a:xfrm>
            <a:off x="5316454" y="1613401"/>
            <a:ext cx="1208088"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400" b="1" dirty="0">
                <a:latin typeface="微软雅黑" panose="020B0503020204020204" pitchFamily="34" charset="-122"/>
                <a:ea typeface="微软雅黑" panose="020B0503020204020204" pitchFamily="34" charset="-122"/>
              </a:rPr>
              <a:t>实体 </a:t>
            </a:r>
            <a:r>
              <a:rPr kumimoji="1" lang="en-US" altLang="zh-CN" sz="1400" b="1" dirty="0">
                <a:latin typeface="微软雅黑" panose="020B0503020204020204" pitchFamily="34" charset="-122"/>
                <a:ea typeface="微软雅黑" panose="020B0503020204020204" pitchFamily="34" charset="-122"/>
              </a:rPr>
              <a:t>(</a:t>
            </a:r>
            <a:r>
              <a:rPr kumimoji="1" lang="en-US" altLang="zh-CN" sz="1400" b="1" i="1" dirty="0">
                <a:latin typeface="微软雅黑" panose="020B0503020204020204" pitchFamily="34" charset="-122"/>
                <a:ea typeface="微软雅黑" panose="020B0503020204020204" pitchFamily="34" charset="-122"/>
              </a:rPr>
              <a:t>n</a:t>
            </a:r>
            <a:r>
              <a:rPr kumimoji="1" lang="en-US" altLang="zh-CN" sz="1400" b="1" dirty="0">
                <a:latin typeface="微软雅黑" panose="020B0503020204020204" pitchFamily="34" charset="-122"/>
                <a:ea typeface="微软雅黑" panose="020B0503020204020204" pitchFamily="34" charset="-122"/>
              </a:rPr>
              <a:t> + 1)</a:t>
            </a:r>
          </a:p>
        </p:txBody>
      </p:sp>
      <p:sp>
        <p:nvSpPr>
          <p:cNvPr id="24" name="Text Box 54"/>
          <p:cNvSpPr txBox="1">
            <a:spLocks noChangeArrowheads="1"/>
          </p:cNvSpPr>
          <p:nvPr/>
        </p:nvSpPr>
        <p:spPr bwMode="auto">
          <a:xfrm>
            <a:off x="5808579" y="1427664"/>
            <a:ext cx="124912"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28575">
                <a:solidFill>
                  <a:schemeClr val="tx1"/>
                </a:solidFill>
                <a:prstDash val="dash"/>
                <a:miter lim="800000"/>
                <a:headEnd type="none" w="med" len="lg"/>
                <a:tailEnd type="none" w="med"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endParaRPr kumimoji="1" lang="zh-CN" altLang="zh-CN" sz="1600" b="1">
              <a:latin typeface="微软雅黑" panose="020B0503020204020204" pitchFamily="34" charset="-122"/>
              <a:ea typeface="微软雅黑" panose="020B0503020204020204" pitchFamily="34" charset="-122"/>
            </a:endParaRPr>
          </a:p>
        </p:txBody>
      </p:sp>
      <p:sp>
        <p:nvSpPr>
          <p:cNvPr id="25" name="Text Box 55"/>
          <p:cNvSpPr txBox="1">
            <a:spLocks noChangeArrowheads="1"/>
          </p:cNvSpPr>
          <p:nvPr/>
        </p:nvSpPr>
        <p:spPr bwMode="auto">
          <a:xfrm>
            <a:off x="1033379" y="1481639"/>
            <a:ext cx="674688" cy="584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28575">
                <a:solidFill>
                  <a:schemeClr val="tx1"/>
                </a:solidFill>
                <a:prstDash val="dash"/>
                <a:miter lim="800000"/>
                <a:headEnd type="none" w="med" len="lg"/>
                <a:tailEnd type="none" w="med"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a:latin typeface="微软雅黑" panose="020B0503020204020204" pitchFamily="34" charset="-122"/>
                <a:ea typeface="微软雅黑" panose="020B0503020204020204" pitchFamily="34" charset="-122"/>
              </a:rPr>
              <a:t>服务用户</a:t>
            </a:r>
          </a:p>
        </p:txBody>
      </p:sp>
      <p:sp>
        <p:nvSpPr>
          <p:cNvPr id="26" name="Rectangle 56"/>
          <p:cNvSpPr>
            <a:spLocks noChangeArrowheads="1"/>
          </p:cNvSpPr>
          <p:nvPr/>
        </p:nvSpPr>
        <p:spPr bwMode="auto">
          <a:xfrm>
            <a:off x="2112879" y="3234239"/>
            <a:ext cx="1150938" cy="395287"/>
          </a:xfrm>
          <a:prstGeom prst="rect">
            <a:avLst/>
          </a:prstGeom>
          <a:solidFill>
            <a:srgbClr val="FFFF99"/>
          </a:solidFill>
          <a:ln w="19050">
            <a:solidFill>
              <a:schemeClr val="tx1"/>
            </a:solidFill>
            <a:miter lim="800000"/>
          </a:ln>
        </p:spPr>
        <p:txBody>
          <a:bodyPr wrap="none" anchor="ctr"/>
          <a:lstStyle/>
          <a:p>
            <a:pPr algn="ctr"/>
            <a:endParaRPr kumimoji="1" lang="zh-CN" altLang="zh-CN" sz="1600" b="1">
              <a:latin typeface="微软雅黑" panose="020B0503020204020204" pitchFamily="34" charset="-122"/>
              <a:ea typeface="微软雅黑" panose="020B0503020204020204" pitchFamily="34" charset="-122"/>
            </a:endParaRPr>
          </a:p>
        </p:txBody>
      </p:sp>
      <p:sp>
        <p:nvSpPr>
          <p:cNvPr id="27" name="Rectangle 57"/>
          <p:cNvSpPr>
            <a:spLocks noChangeArrowheads="1"/>
          </p:cNvSpPr>
          <p:nvPr/>
        </p:nvSpPr>
        <p:spPr bwMode="auto">
          <a:xfrm>
            <a:off x="5262479" y="3234239"/>
            <a:ext cx="1150938" cy="395287"/>
          </a:xfrm>
          <a:prstGeom prst="rect">
            <a:avLst/>
          </a:prstGeom>
          <a:solidFill>
            <a:srgbClr val="FFFF99"/>
          </a:solidFill>
          <a:ln w="19050">
            <a:solidFill>
              <a:schemeClr val="tx1"/>
            </a:solidFill>
            <a:miter lim="800000"/>
          </a:ln>
        </p:spPr>
        <p:txBody>
          <a:bodyPr wrap="none" anchor="ctr"/>
          <a:lstStyle/>
          <a:p>
            <a:pPr algn="ctr"/>
            <a:endParaRPr kumimoji="1" lang="zh-CN" altLang="zh-CN" sz="1600" b="1">
              <a:latin typeface="微软雅黑" panose="020B0503020204020204" pitchFamily="34" charset="-122"/>
              <a:ea typeface="微软雅黑" panose="020B0503020204020204" pitchFamily="34" charset="-122"/>
            </a:endParaRPr>
          </a:p>
        </p:txBody>
      </p:sp>
      <p:sp>
        <p:nvSpPr>
          <p:cNvPr id="28" name="Text Box 58"/>
          <p:cNvSpPr txBox="1">
            <a:spLocks noChangeArrowheads="1"/>
          </p:cNvSpPr>
          <p:nvPr/>
        </p:nvSpPr>
        <p:spPr bwMode="auto">
          <a:xfrm>
            <a:off x="2224004" y="3282031"/>
            <a:ext cx="855663"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400" b="1" dirty="0">
                <a:latin typeface="微软雅黑" panose="020B0503020204020204" pitchFamily="34" charset="-122"/>
                <a:ea typeface="微软雅黑" panose="020B0503020204020204" pitchFamily="34" charset="-122"/>
              </a:rPr>
              <a:t>实体 </a:t>
            </a:r>
            <a:r>
              <a:rPr kumimoji="1" lang="en-US" altLang="zh-CN" sz="1400" b="1" dirty="0">
                <a:latin typeface="微软雅黑" panose="020B0503020204020204" pitchFamily="34" charset="-122"/>
                <a:ea typeface="微软雅黑" panose="020B0503020204020204" pitchFamily="34" charset="-122"/>
              </a:rPr>
              <a:t>(</a:t>
            </a:r>
            <a:r>
              <a:rPr kumimoji="1" lang="en-US" altLang="zh-CN" sz="1400" b="1" i="1" dirty="0">
                <a:latin typeface="微软雅黑" panose="020B0503020204020204" pitchFamily="34" charset="-122"/>
                <a:ea typeface="微软雅黑" panose="020B0503020204020204" pitchFamily="34" charset="-122"/>
              </a:rPr>
              <a:t>n</a:t>
            </a:r>
            <a:r>
              <a:rPr kumimoji="1" lang="en-US" altLang="zh-CN" sz="1400" b="1" dirty="0">
                <a:latin typeface="微软雅黑" panose="020B0503020204020204" pitchFamily="34" charset="-122"/>
                <a:ea typeface="微软雅黑" panose="020B0503020204020204" pitchFamily="34" charset="-122"/>
              </a:rPr>
              <a:t>)</a:t>
            </a:r>
          </a:p>
        </p:txBody>
      </p:sp>
      <p:sp>
        <p:nvSpPr>
          <p:cNvPr id="29" name="Text Box 59"/>
          <p:cNvSpPr txBox="1">
            <a:spLocks noChangeArrowheads="1"/>
          </p:cNvSpPr>
          <p:nvPr/>
        </p:nvSpPr>
        <p:spPr bwMode="auto">
          <a:xfrm>
            <a:off x="5433929" y="3282031"/>
            <a:ext cx="855663"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400" b="1" dirty="0">
                <a:latin typeface="微软雅黑" panose="020B0503020204020204" pitchFamily="34" charset="-122"/>
                <a:ea typeface="微软雅黑" panose="020B0503020204020204" pitchFamily="34" charset="-122"/>
              </a:rPr>
              <a:t>实体 </a:t>
            </a:r>
            <a:r>
              <a:rPr kumimoji="1" lang="en-US" altLang="zh-CN" sz="1400" b="1" dirty="0">
                <a:latin typeface="微软雅黑" panose="020B0503020204020204" pitchFamily="34" charset="-122"/>
                <a:ea typeface="微软雅黑" panose="020B0503020204020204" pitchFamily="34" charset="-122"/>
              </a:rPr>
              <a:t>(</a:t>
            </a:r>
            <a:r>
              <a:rPr kumimoji="1" lang="en-US" altLang="zh-CN" sz="1400" b="1" i="1" dirty="0">
                <a:latin typeface="微软雅黑" panose="020B0503020204020204" pitchFamily="34" charset="-122"/>
                <a:ea typeface="微软雅黑" panose="020B0503020204020204" pitchFamily="34" charset="-122"/>
              </a:rPr>
              <a:t>n</a:t>
            </a:r>
            <a:r>
              <a:rPr kumimoji="1" lang="en-US" altLang="zh-CN" sz="1400" b="1" dirty="0">
                <a:latin typeface="微软雅黑" panose="020B0503020204020204" pitchFamily="34" charset="-122"/>
                <a:ea typeface="微软雅黑" panose="020B0503020204020204" pitchFamily="34" charset="-122"/>
              </a:rPr>
              <a:t>)</a:t>
            </a:r>
          </a:p>
        </p:txBody>
      </p:sp>
      <p:sp>
        <p:nvSpPr>
          <p:cNvPr id="30" name="Line 60"/>
          <p:cNvSpPr>
            <a:spLocks noChangeShapeType="1"/>
          </p:cNvSpPr>
          <p:nvPr/>
        </p:nvSpPr>
        <p:spPr bwMode="auto">
          <a:xfrm>
            <a:off x="3266992" y="3421564"/>
            <a:ext cx="1995487" cy="0"/>
          </a:xfrm>
          <a:prstGeom prst="line">
            <a:avLst/>
          </a:prstGeom>
          <a:noFill/>
          <a:ln w="19050">
            <a:solidFill>
              <a:schemeClr val="tx1"/>
            </a:solidFill>
            <a:prstDash val="sysDot"/>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31" name="Text Box 61"/>
          <p:cNvSpPr txBox="1">
            <a:spLocks noChangeArrowheads="1"/>
          </p:cNvSpPr>
          <p:nvPr/>
        </p:nvSpPr>
        <p:spPr bwMode="auto">
          <a:xfrm>
            <a:off x="3867067" y="3256155"/>
            <a:ext cx="889000" cy="338137"/>
          </a:xfrm>
          <a:prstGeom prst="rect">
            <a:avLst/>
          </a:prstGeom>
          <a:solidFill>
            <a:schemeClr val="bg1"/>
          </a:solidFill>
          <a:ln>
            <a:noFill/>
          </a:ln>
          <a:effec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dirty="0">
                <a:latin typeface="微软雅黑" panose="020B0503020204020204" pitchFamily="34" charset="-122"/>
                <a:ea typeface="微软雅黑" panose="020B0503020204020204" pitchFamily="34" charset="-122"/>
              </a:rPr>
              <a:t>协议</a:t>
            </a:r>
            <a:r>
              <a:rPr kumimoji="1" lang="en-US" altLang="zh-CN" sz="1600" b="1" dirty="0">
                <a:latin typeface="微软雅黑" panose="020B0503020204020204" pitchFamily="34" charset="-122"/>
                <a:ea typeface="微软雅黑" panose="020B0503020204020204" pitchFamily="34" charset="-122"/>
              </a:rPr>
              <a:t>(</a:t>
            </a:r>
            <a:r>
              <a:rPr kumimoji="1" lang="en-US" altLang="zh-CN" sz="1600" b="1" i="1" dirty="0">
                <a:latin typeface="微软雅黑" panose="020B0503020204020204" pitchFamily="34" charset="-122"/>
                <a:ea typeface="微软雅黑" panose="020B0503020204020204" pitchFamily="34" charset="-122"/>
              </a:rPr>
              <a:t>n</a:t>
            </a:r>
            <a:r>
              <a:rPr kumimoji="1" lang="en-US" altLang="zh-CN" sz="1600" b="1" dirty="0">
                <a:latin typeface="微软雅黑" panose="020B0503020204020204" pitchFamily="34" charset="-122"/>
                <a:ea typeface="微软雅黑" panose="020B0503020204020204" pitchFamily="34" charset="-122"/>
              </a:rPr>
              <a:t>)</a:t>
            </a:r>
          </a:p>
        </p:txBody>
      </p:sp>
      <p:sp>
        <p:nvSpPr>
          <p:cNvPr id="3" name="标题 2">
            <a:extLst>
              <a:ext uri="{FF2B5EF4-FFF2-40B4-BE49-F238E27FC236}">
                <a16:creationId xmlns:a16="http://schemas.microsoft.com/office/drawing/2014/main" id="{A3C2C13A-FEE0-C021-FE2F-DADAF36325D6}"/>
              </a:ext>
            </a:extLst>
          </p:cNvPr>
          <p:cNvSpPr>
            <a:spLocks noGrp="1"/>
          </p:cNvSpPr>
          <p:nvPr>
            <p:ph type="title"/>
          </p:nvPr>
        </p:nvSpPr>
        <p:spPr>
          <a:xfrm>
            <a:off x="612000" y="144000"/>
            <a:ext cx="7920000" cy="341632"/>
          </a:xfrm>
        </p:spPr>
        <p:txBody>
          <a:bodyPr/>
          <a:lstStyle/>
          <a:p>
            <a:r>
              <a:rPr lang="zh-CN" altLang="en-US" dirty="0"/>
              <a:t>相邻两层之间的关系</a:t>
            </a:r>
          </a:p>
        </p:txBody>
      </p:sp>
    </p:spTree>
    <p:extLst>
      <p:ext uri="{BB962C8B-B14F-4D97-AF65-F5344CB8AC3E}">
        <p14:creationId xmlns:p14="http://schemas.microsoft.com/office/powerpoint/2010/main" val="313001412"/>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组合 1"/>
          <p:cNvGrpSpPr/>
          <p:nvPr/>
        </p:nvGrpSpPr>
        <p:grpSpPr bwMode="auto">
          <a:xfrm>
            <a:off x="1352067" y="3378017"/>
            <a:ext cx="6279792" cy="1263710"/>
            <a:chOff x="229549" y="4412749"/>
            <a:chExt cx="9721983" cy="2504059"/>
          </a:xfrm>
        </p:grpSpPr>
        <p:sp>
          <p:nvSpPr>
            <p:cNvPr id="4" name="Freeform 2"/>
            <p:cNvSpPr/>
            <p:nvPr/>
          </p:nvSpPr>
          <p:spPr bwMode="auto">
            <a:xfrm>
              <a:off x="229549" y="5027683"/>
              <a:ext cx="9721983" cy="1889125"/>
            </a:xfrm>
            <a:custGeom>
              <a:avLst/>
              <a:gdLst>
                <a:gd name="T0" fmla="*/ 0 w 5653"/>
                <a:gd name="T1" fmla="*/ 1839913 h 1190"/>
                <a:gd name="T2" fmla="*/ 1595967 w 5653"/>
                <a:gd name="T3" fmla="*/ 142875 h 1190"/>
                <a:gd name="T4" fmla="*/ 2999317 w 5653"/>
                <a:gd name="T5" fmla="*/ 981075 h 1190"/>
                <a:gd name="T6" fmla="*/ 4815417 w 5653"/>
                <a:gd name="T7" fmla="*/ 1743075 h 1190"/>
                <a:gd name="T8" fmla="*/ 5811176 w 5653"/>
                <a:gd name="T9" fmla="*/ 1789113 h 1190"/>
                <a:gd name="T10" fmla="*/ 6548967 w 5653"/>
                <a:gd name="T11" fmla="*/ 1743075 h 1190"/>
                <a:gd name="T12" fmla="*/ 7291917 w 5653"/>
                <a:gd name="T13" fmla="*/ 1057275 h 1190"/>
                <a:gd name="T14" fmla="*/ 7838811 w 5653"/>
                <a:gd name="T15" fmla="*/ 319088 h 1190"/>
                <a:gd name="T16" fmla="*/ 8526728 w 5653"/>
                <a:gd name="T17" fmla="*/ 385763 h 1190"/>
                <a:gd name="T18" fmla="*/ 8870686 w 5653"/>
                <a:gd name="T19" fmla="*/ 1154113 h 1190"/>
                <a:gd name="T20" fmla="*/ 9142413 w 5653"/>
                <a:gd name="T21" fmla="*/ 1471613 h 1190"/>
                <a:gd name="T22" fmla="*/ 9304074 w 5653"/>
                <a:gd name="T23" fmla="*/ 1639888 h 1190"/>
                <a:gd name="T24" fmla="*/ 9721983 w 5653"/>
                <a:gd name="T25" fmla="*/ 1889125 h 1190"/>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5653" h="1190">
                  <a:moveTo>
                    <a:pt x="0" y="1159"/>
                  </a:moveTo>
                  <a:cubicBezTo>
                    <a:pt x="153" y="981"/>
                    <a:pt x="637" y="180"/>
                    <a:pt x="928" y="90"/>
                  </a:cubicBezTo>
                  <a:cubicBezTo>
                    <a:pt x="1219" y="0"/>
                    <a:pt x="1432" y="450"/>
                    <a:pt x="1744" y="618"/>
                  </a:cubicBezTo>
                  <a:cubicBezTo>
                    <a:pt x="2056" y="786"/>
                    <a:pt x="2528" y="1013"/>
                    <a:pt x="2800" y="1098"/>
                  </a:cubicBezTo>
                  <a:cubicBezTo>
                    <a:pt x="3072" y="1183"/>
                    <a:pt x="3211" y="1127"/>
                    <a:pt x="3379" y="1127"/>
                  </a:cubicBezTo>
                  <a:cubicBezTo>
                    <a:pt x="3547" y="1127"/>
                    <a:pt x="3665" y="1175"/>
                    <a:pt x="3808" y="1098"/>
                  </a:cubicBezTo>
                  <a:cubicBezTo>
                    <a:pt x="3951" y="1021"/>
                    <a:pt x="4115" y="816"/>
                    <a:pt x="4240" y="666"/>
                  </a:cubicBezTo>
                  <a:cubicBezTo>
                    <a:pt x="4365" y="516"/>
                    <a:pt x="4438" y="272"/>
                    <a:pt x="4558" y="201"/>
                  </a:cubicBezTo>
                  <a:cubicBezTo>
                    <a:pt x="4678" y="130"/>
                    <a:pt x="4858" y="155"/>
                    <a:pt x="4958" y="243"/>
                  </a:cubicBezTo>
                  <a:cubicBezTo>
                    <a:pt x="5058" y="331"/>
                    <a:pt x="5098" y="613"/>
                    <a:pt x="5158" y="727"/>
                  </a:cubicBezTo>
                  <a:cubicBezTo>
                    <a:pt x="5218" y="841"/>
                    <a:pt x="5274" y="876"/>
                    <a:pt x="5316" y="927"/>
                  </a:cubicBezTo>
                  <a:cubicBezTo>
                    <a:pt x="5358" y="978"/>
                    <a:pt x="5354" y="989"/>
                    <a:pt x="5410" y="1033"/>
                  </a:cubicBezTo>
                  <a:cubicBezTo>
                    <a:pt x="5466" y="1077"/>
                    <a:pt x="5603" y="1157"/>
                    <a:pt x="5653" y="1190"/>
                  </a:cubicBezTo>
                </a:path>
              </a:pathLst>
            </a:custGeom>
            <a:solidFill>
              <a:srgbClr val="339933"/>
            </a:solidFill>
            <a:ln w="9525">
              <a:solidFill>
                <a:schemeClr val="tx1"/>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5" name="Line 3"/>
            <p:cNvSpPr>
              <a:spLocks noChangeShapeType="1"/>
            </p:cNvSpPr>
            <p:nvPr/>
          </p:nvSpPr>
          <p:spPr bwMode="auto">
            <a:xfrm>
              <a:off x="1990616" y="4412749"/>
              <a:ext cx="0" cy="685800"/>
            </a:xfrm>
            <a:prstGeom prst="line">
              <a:avLst/>
            </a:prstGeom>
            <a:noFill/>
            <a:ln w="28575">
              <a:solidFill>
                <a:srgbClr val="00000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6" name="AutoShape 4"/>
            <p:cNvSpPr>
              <a:spLocks noChangeArrowheads="1"/>
            </p:cNvSpPr>
            <p:nvPr/>
          </p:nvSpPr>
          <p:spPr bwMode="auto">
            <a:xfrm rot="-252939">
              <a:off x="1990616" y="4412749"/>
              <a:ext cx="908050" cy="533400"/>
            </a:xfrm>
            <a:prstGeom prst="wave">
              <a:avLst>
                <a:gd name="adj1" fmla="val 12500"/>
                <a:gd name="adj2" fmla="val -1639"/>
              </a:avLst>
            </a:prstGeom>
            <a:solidFill>
              <a:srgbClr val="0098F6"/>
            </a:solidFill>
            <a:ln>
              <a:noFill/>
            </a:ln>
            <a:extLst>
              <a:ext uri="{91240B29-F687-4F45-9708-019B960494DF}">
                <a14:hiddenLine xmlns:a14="http://schemas.microsoft.com/office/drawing/2010/main" w="9525">
                  <a:solidFill>
                    <a:srgbClr val="000000"/>
                  </a:solidFill>
                  <a:round/>
                </a14:hiddenLine>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7" name="Line 5"/>
            <p:cNvSpPr>
              <a:spLocks noChangeShapeType="1"/>
            </p:cNvSpPr>
            <p:nvPr/>
          </p:nvSpPr>
          <p:spPr bwMode="auto">
            <a:xfrm>
              <a:off x="8346966" y="4565149"/>
              <a:ext cx="0" cy="685800"/>
            </a:xfrm>
            <a:prstGeom prst="line">
              <a:avLst/>
            </a:prstGeom>
            <a:noFill/>
            <a:ln w="28575">
              <a:solidFill>
                <a:srgbClr val="00000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 name="AutoShape 6"/>
            <p:cNvSpPr>
              <a:spLocks noChangeArrowheads="1"/>
            </p:cNvSpPr>
            <p:nvPr/>
          </p:nvSpPr>
          <p:spPr bwMode="auto">
            <a:xfrm rot="-252939">
              <a:off x="8346966" y="4565149"/>
              <a:ext cx="908050" cy="533400"/>
            </a:xfrm>
            <a:prstGeom prst="wave">
              <a:avLst>
                <a:gd name="adj1" fmla="val 12500"/>
                <a:gd name="adj2" fmla="val -1639"/>
              </a:avLst>
            </a:prstGeom>
            <a:solidFill>
              <a:srgbClr val="0098F6"/>
            </a:solidFill>
            <a:ln>
              <a:noFill/>
            </a:ln>
            <a:extLst>
              <a:ext uri="{91240B29-F687-4F45-9708-019B960494DF}">
                <a14:hiddenLine xmlns:a14="http://schemas.microsoft.com/office/drawing/2010/main" w="9525">
                  <a:solidFill>
                    <a:srgbClr val="000000"/>
                  </a:solidFill>
                  <a:round/>
                </a14:hiddenLine>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9" name="AutoShape 7"/>
            <p:cNvSpPr>
              <a:spLocks noChangeArrowheads="1"/>
            </p:cNvSpPr>
            <p:nvPr/>
          </p:nvSpPr>
          <p:spPr bwMode="auto">
            <a:xfrm rot="-252939">
              <a:off x="5232424" y="5852612"/>
              <a:ext cx="1382713" cy="762000"/>
            </a:xfrm>
            <a:prstGeom prst="wave">
              <a:avLst>
                <a:gd name="adj1" fmla="val 12500"/>
                <a:gd name="adj2" fmla="val -1639"/>
              </a:avLst>
            </a:prstGeom>
            <a:solidFill>
              <a:schemeClr val="bg1"/>
            </a:solidFill>
            <a:ln w="19050">
              <a:solidFill>
                <a:srgbClr val="0098F6"/>
              </a:solidFill>
              <a:rou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0" name="Line 8"/>
            <p:cNvSpPr>
              <a:spLocks noChangeShapeType="1"/>
            </p:cNvSpPr>
            <p:nvPr/>
          </p:nvSpPr>
          <p:spPr bwMode="auto">
            <a:xfrm>
              <a:off x="5270259" y="5860550"/>
              <a:ext cx="0" cy="862013"/>
            </a:xfrm>
            <a:prstGeom prst="line">
              <a:avLst/>
            </a:prstGeom>
            <a:noFill/>
            <a:ln w="28575">
              <a:solidFill>
                <a:srgbClr val="00000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grpSp>
        <p:nvGrpSpPr>
          <p:cNvPr id="11" name="Group 9"/>
          <p:cNvGrpSpPr/>
          <p:nvPr/>
        </p:nvGrpSpPr>
        <p:grpSpPr bwMode="auto">
          <a:xfrm>
            <a:off x="979905" y="1051223"/>
            <a:ext cx="1994413" cy="502953"/>
            <a:chOff x="888" y="192"/>
            <a:chExt cx="1358" cy="371"/>
          </a:xfrm>
          <a:solidFill>
            <a:srgbClr val="368AD6"/>
          </a:solidFill>
        </p:grpSpPr>
        <p:sp>
          <p:nvSpPr>
            <p:cNvPr id="12" name="AutoShape 10"/>
            <p:cNvSpPr>
              <a:spLocks noChangeArrowheads="1"/>
            </p:cNvSpPr>
            <p:nvPr/>
          </p:nvSpPr>
          <p:spPr bwMode="auto">
            <a:xfrm>
              <a:off x="912" y="192"/>
              <a:ext cx="1334" cy="371"/>
            </a:xfrm>
            <a:prstGeom prst="rightArrow">
              <a:avLst>
                <a:gd name="adj1" fmla="val 50000"/>
                <a:gd name="adj2" fmla="val 86006"/>
              </a:avLst>
            </a:prstGeom>
            <a:solidFill>
              <a:schemeClr val="tx2">
                <a:lumMod val="75000"/>
              </a:schemeClr>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2000" b="1">
                <a:solidFill>
                  <a:schemeClr val="bg1"/>
                </a:solidFill>
                <a:latin typeface="微软雅黑" panose="020B0503020204020204" pitchFamily="34" charset="-122"/>
                <a:ea typeface="微软雅黑" panose="020B0503020204020204" pitchFamily="34" charset="-122"/>
              </a:endParaRPr>
            </a:p>
          </p:txBody>
        </p:sp>
        <p:sp>
          <p:nvSpPr>
            <p:cNvPr id="13" name="Text Box 11"/>
            <p:cNvSpPr txBox="1">
              <a:spLocks noChangeArrowheads="1"/>
            </p:cNvSpPr>
            <p:nvPr/>
          </p:nvSpPr>
          <p:spPr bwMode="auto">
            <a:xfrm>
              <a:off x="888" y="266"/>
              <a:ext cx="1348" cy="227"/>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fontAlgn="auto">
                <a:spcBef>
                  <a:spcPts val="0"/>
                </a:spcBef>
                <a:spcAft>
                  <a:spcPts val="0"/>
                </a:spcAft>
                <a:defRPr/>
              </a:pPr>
              <a:r>
                <a:rPr kumimoji="1" lang="zh-CN" altLang="en-US" sz="1400" b="1" dirty="0">
                  <a:solidFill>
                    <a:schemeClr val="bg1"/>
                  </a:solidFill>
                  <a:latin typeface="微软雅黑" panose="020B0503020204020204" pitchFamily="34" charset="-122"/>
                  <a:ea typeface="微软雅黑" panose="020B0503020204020204" pitchFamily="34" charset="-122"/>
                </a:rPr>
                <a:t>明日正午进攻，同意？</a:t>
              </a:r>
            </a:p>
          </p:txBody>
        </p:sp>
      </p:grpSp>
      <p:grpSp>
        <p:nvGrpSpPr>
          <p:cNvPr id="14" name="Group 12"/>
          <p:cNvGrpSpPr/>
          <p:nvPr/>
        </p:nvGrpSpPr>
        <p:grpSpPr bwMode="auto">
          <a:xfrm>
            <a:off x="6843525" y="1415885"/>
            <a:ext cx="1331797" cy="460841"/>
            <a:chOff x="4492" y="700"/>
            <a:chExt cx="1066" cy="349"/>
          </a:xfrm>
          <a:solidFill>
            <a:srgbClr val="00CC00"/>
          </a:solidFill>
        </p:grpSpPr>
        <p:sp>
          <p:nvSpPr>
            <p:cNvPr id="15" name="AutoShape 13"/>
            <p:cNvSpPr>
              <a:spLocks noChangeArrowheads="1"/>
            </p:cNvSpPr>
            <p:nvPr/>
          </p:nvSpPr>
          <p:spPr bwMode="auto">
            <a:xfrm rot="10800000">
              <a:off x="4492" y="700"/>
              <a:ext cx="1039" cy="349"/>
            </a:xfrm>
            <a:prstGeom prst="rightArrow">
              <a:avLst>
                <a:gd name="adj1" fmla="val 50000"/>
                <a:gd name="adj2" fmla="val 95833"/>
              </a:avLst>
            </a:prstGeom>
            <a:solidFill>
              <a:srgbClr val="9900CC"/>
            </a:solidFill>
            <a:ln w="9525">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2000" b="1">
                <a:solidFill>
                  <a:schemeClr val="bg1"/>
                </a:solidFill>
                <a:latin typeface="微软雅黑" panose="020B0503020204020204" pitchFamily="34" charset="-122"/>
                <a:ea typeface="微软雅黑" panose="020B0503020204020204" pitchFamily="34" charset="-122"/>
              </a:endParaRPr>
            </a:p>
          </p:txBody>
        </p:sp>
        <p:sp>
          <p:nvSpPr>
            <p:cNvPr id="16" name="Text Box 14"/>
            <p:cNvSpPr txBox="1">
              <a:spLocks noChangeArrowheads="1"/>
            </p:cNvSpPr>
            <p:nvPr/>
          </p:nvSpPr>
          <p:spPr bwMode="auto">
            <a:xfrm>
              <a:off x="5123" y="753"/>
              <a:ext cx="435" cy="233"/>
            </a:xfrm>
            <a:prstGeom prst="rect">
              <a:avLst/>
            </a:prstGeom>
            <a:noFill/>
            <a:ln w="9525">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fontAlgn="auto">
                <a:spcBef>
                  <a:spcPts val="0"/>
                </a:spcBef>
                <a:spcAft>
                  <a:spcPts val="0"/>
                </a:spcAft>
                <a:defRPr/>
              </a:pPr>
              <a:r>
                <a:rPr kumimoji="1" lang="zh-CN" altLang="en-US" sz="1400" b="1" dirty="0">
                  <a:solidFill>
                    <a:schemeClr val="bg1"/>
                  </a:solidFill>
                  <a:latin typeface="微软雅黑" panose="020B0503020204020204" pitchFamily="34" charset="-122"/>
                  <a:ea typeface="微软雅黑" panose="020B0503020204020204" pitchFamily="34" charset="-122"/>
                </a:rPr>
                <a:t>同意</a:t>
              </a:r>
            </a:p>
          </p:txBody>
        </p:sp>
      </p:grpSp>
      <p:grpSp>
        <p:nvGrpSpPr>
          <p:cNvPr id="17" name="Group 15"/>
          <p:cNvGrpSpPr/>
          <p:nvPr/>
        </p:nvGrpSpPr>
        <p:grpSpPr bwMode="auto">
          <a:xfrm>
            <a:off x="959703" y="1794318"/>
            <a:ext cx="2013171" cy="457423"/>
            <a:chOff x="882" y="234"/>
            <a:chExt cx="1386" cy="319"/>
          </a:xfrm>
          <a:solidFill>
            <a:srgbClr val="368AD6"/>
          </a:solidFill>
        </p:grpSpPr>
        <p:sp>
          <p:nvSpPr>
            <p:cNvPr id="18" name="AutoShape 16"/>
            <p:cNvSpPr>
              <a:spLocks noChangeArrowheads="1"/>
            </p:cNvSpPr>
            <p:nvPr/>
          </p:nvSpPr>
          <p:spPr bwMode="auto">
            <a:xfrm>
              <a:off x="912" y="234"/>
              <a:ext cx="1356" cy="319"/>
            </a:xfrm>
            <a:prstGeom prst="rightArrow">
              <a:avLst>
                <a:gd name="adj1" fmla="val 50000"/>
                <a:gd name="adj2" fmla="val 95833"/>
              </a:avLst>
            </a:prstGeom>
            <a:solidFill>
              <a:schemeClr val="tx2">
                <a:lumMod val="75000"/>
              </a:schemeClr>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2000" b="1">
                <a:solidFill>
                  <a:schemeClr val="bg1"/>
                </a:solidFill>
                <a:latin typeface="微软雅黑" panose="020B0503020204020204" pitchFamily="34" charset="-122"/>
                <a:ea typeface="微软雅黑" panose="020B0503020204020204" pitchFamily="34" charset="-122"/>
              </a:endParaRPr>
            </a:p>
          </p:txBody>
        </p:sp>
        <p:sp>
          <p:nvSpPr>
            <p:cNvPr id="19" name="Text Box 17"/>
            <p:cNvSpPr txBox="1">
              <a:spLocks noChangeArrowheads="1"/>
            </p:cNvSpPr>
            <p:nvPr/>
          </p:nvSpPr>
          <p:spPr bwMode="auto">
            <a:xfrm>
              <a:off x="882" y="290"/>
              <a:ext cx="1116" cy="215"/>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fontAlgn="auto">
                <a:spcBef>
                  <a:spcPts val="0"/>
                </a:spcBef>
                <a:spcAft>
                  <a:spcPts val="0"/>
                </a:spcAft>
                <a:defRPr/>
              </a:pPr>
              <a:r>
                <a:rPr kumimoji="1" lang="zh-CN" altLang="en-US" sz="1400" b="1" dirty="0">
                  <a:solidFill>
                    <a:schemeClr val="bg1"/>
                  </a:solidFill>
                  <a:latin typeface="微软雅黑" panose="020B0503020204020204" pitchFamily="34" charset="-122"/>
                  <a:ea typeface="微软雅黑" panose="020B0503020204020204" pitchFamily="34" charset="-122"/>
                </a:rPr>
                <a:t>你确认“同意”？</a:t>
              </a:r>
            </a:p>
          </p:txBody>
        </p:sp>
      </p:grpSp>
      <p:grpSp>
        <p:nvGrpSpPr>
          <p:cNvPr id="20" name="Group 18"/>
          <p:cNvGrpSpPr/>
          <p:nvPr/>
        </p:nvGrpSpPr>
        <p:grpSpPr bwMode="auto">
          <a:xfrm>
            <a:off x="6272564" y="2130181"/>
            <a:ext cx="1995194" cy="508459"/>
            <a:chOff x="4035" y="1601"/>
            <a:chExt cx="1597" cy="307"/>
          </a:xfrm>
          <a:solidFill>
            <a:srgbClr val="00CC00"/>
          </a:solidFill>
        </p:grpSpPr>
        <p:sp>
          <p:nvSpPr>
            <p:cNvPr id="21" name="AutoShape 19"/>
            <p:cNvSpPr>
              <a:spLocks noChangeArrowheads="1"/>
            </p:cNvSpPr>
            <p:nvPr/>
          </p:nvSpPr>
          <p:spPr bwMode="auto">
            <a:xfrm rot="10800000">
              <a:off x="4035" y="1601"/>
              <a:ext cx="1496" cy="307"/>
            </a:xfrm>
            <a:prstGeom prst="rightArrow">
              <a:avLst>
                <a:gd name="adj1" fmla="val 50000"/>
                <a:gd name="adj2" fmla="val 95833"/>
              </a:avLst>
            </a:prstGeom>
            <a:solidFill>
              <a:srgbClr val="9900CC"/>
            </a:solidFill>
            <a:ln w="9525">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2000" b="1">
                <a:solidFill>
                  <a:schemeClr val="bg1"/>
                </a:solidFill>
                <a:latin typeface="微软雅黑" panose="020B0503020204020204" pitchFamily="34" charset="-122"/>
                <a:ea typeface="微软雅黑" panose="020B0503020204020204" pitchFamily="34" charset="-122"/>
              </a:endParaRPr>
            </a:p>
          </p:txBody>
        </p:sp>
        <p:sp>
          <p:nvSpPr>
            <p:cNvPr id="22" name="Text Box 20"/>
            <p:cNvSpPr txBox="1">
              <a:spLocks noChangeArrowheads="1"/>
            </p:cNvSpPr>
            <p:nvPr/>
          </p:nvSpPr>
          <p:spPr bwMode="auto">
            <a:xfrm>
              <a:off x="4478" y="1662"/>
              <a:ext cx="1154" cy="186"/>
            </a:xfrm>
            <a:prstGeom prst="rect">
              <a:avLst/>
            </a:prstGeom>
            <a:noFill/>
            <a:ln w="9525">
              <a:noFill/>
              <a:miter lim="800000"/>
            </a:ln>
            <a:effectLst/>
            <a:extLst>
              <a:ext uri="{AF507438-7753-43E0-B8FC-AC1667EBCBE1}">
                <a14:hiddenEffects xmlns:a14="http://schemas.microsoft.com/office/drawing/2010/main">
                  <a:effectLst>
                    <a:outerShdw dist="35921" dir="2700000" algn="ctr" rotWithShape="0">
                      <a:schemeClr val="bg1"/>
                    </a:outerShdw>
                  </a:effectLst>
                </a14:hiddenEffects>
              </a:ext>
            </a:extLst>
          </p:spPr>
          <p:txBody>
            <a:bodyPr wrap="none">
              <a:spAutoFit/>
            </a:bodyPr>
            <a:lstStyle/>
            <a:p>
              <a:pPr algn="r" fontAlgn="auto">
                <a:spcBef>
                  <a:spcPts val="0"/>
                </a:spcBef>
                <a:spcAft>
                  <a:spcPts val="0"/>
                </a:spcAft>
                <a:defRPr/>
              </a:pPr>
              <a:r>
                <a:rPr kumimoji="1" lang="zh-CN" altLang="en-US" sz="1400" b="1" dirty="0">
                  <a:solidFill>
                    <a:schemeClr val="bg1"/>
                  </a:solidFill>
                  <a:latin typeface="微软雅黑" panose="020B0503020204020204" pitchFamily="34" charset="-122"/>
                  <a:ea typeface="微软雅黑" panose="020B0503020204020204" pitchFamily="34" charset="-122"/>
                </a:rPr>
                <a:t>我确认“同意”</a:t>
              </a:r>
            </a:p>
          </p:txBody>
        </p:sp>
      </p:grpSp>
      <p:grpSp>
        <p:nvGrpSpPr>
          <p:cNvPr id="30" name="Group 15"/>
          <p:cNvGrpSpPr/>
          <p:nvPr/>
        </p:nvGrpSpPr>
        <p:grpSpPr bwMode="auto">
          <a:xfrm>
            <a:off x="959703" y="2565293"/>
            <a:ext cx="2023339" cy="457423"/>
            <a:chOff x="882" y="234"/>
            <a:chExt cx="1393" cy="319"/>
          </a:xfrm>
          <a:solidFill>
            <a:srgbClr val="368AD6"/>
          </a:solidFill>
        </p:grpSpPr>
        <p:sp>
          <p:nvSpPr>
            <p:cNvPr id="31" name="AutoShape 16"/>
            <p:cNvSpPr>
              <a:spLocks noChangeArrowheads="1"/>
            </p:cNvSpPr>
            <p:nvPr/>
          </p:nvSpPr>
          <p:spPr bwMode="auto">
            <a:xfrm>
              <a:off x="912" y="234"/>
              <a:ext cx="1356" cy="319"/>
            </a:xfrm>
            <a:prstGeom prst="rightArrow">
              <a:avLst>
                <a:gd name="adj1" fmla="val 50000"/>
                <a:gd name="adj2" fmla="val 95833"/>
              </a:avLst>
            </a:prstGeom>
            <a:solidFill>
              <a:srgbClr val="17375E"/>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2000" b="1">
                <a:solidFill>
                  <a:schemeClr val="bg1"/>
                </a:solidFill>
                <a:latin typeface="微软雅黑" panose="020B0503020204020204" pitchFamily="34" charset="-122"/>
                <a:ea typeface="微软雅黑" panose="020B0503020204020204" pitchFamily="34" charset="-122"/>
              </a:endParaRPr>
            </a:p>
          </p:txBody>
        </p:sp>
        <p:sp>
          <p:nvSpPr>
            <p:cNvPr id="32" name="Text Box 17"/>
            <p:cNvSpPr txBox="1">
              <a:spLocks noChangeArrowheads="1"/>
            </p:cNvSpPr>
            <p:nvPr/>
          </p:nvSpPr>
          <p:spPr bwMode="auto">
            <a:xfrm>
              <a:off x="882" y="291"/>
              <a:ext cx="1393" cy="100"/>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fontAlgn="auto">
                <a:spcBef>
                  <a:spcPts val="0"/>
                </a:spcBef>
                <a:spcAft>
                  <a:spcPts val="0"/>
                </a:spcAft>
                <a:defRPr/>
              </a:pPr>
              <a:r>
                <a:rPr kumimoji="1" lang="zh-CN" altLang="en-US" sz="1400" b="1" dirty="0">
                  <a:solidFill>
                    <a:schemeClr val="bg1"/>
                  </a:solidFill>
                  <a:latin typeface="微软雅黑" panose="020B0503020204020204" pitchFamily="34" charset="-122"/>
                  <a:ea typeface="微软雅黑" panose="020B0503020204020204" pitchFamily="34" charset="-122"/>
                </a:rPr>
                <a:t>你真的确认“同意”？</a:t>
              </a:r>
            </a:p>
          </p:txBody>
        </p:sp>
      </p:grpSp>
      <p:grpSp>
        <p:nvGrpSpPr>
          <p:cNvPr id="33" name="Group 18"/>
          <p:cNvGrpSpPr/>
          <p:nvPr/>
        </p:nvGrpSpPr>
        <p:grpSpPr bwMode="auto">
          <a:xfrm>
            <a:off x="6272564" y="2920164"/>
            <a:ext cx="1995194" cy="508459"/>
            <a:chOff x="4035" y="1601"/>
            <a:chExt cx="1597" cy="307"/>
          </a:xfrm>
          <a:solidFill>
            <a:srgbClr val="00CC00"/>
          </a:solidFill>
        </p:grpSpPr>
        <p:sp>
          <p:nvSpPr>
            <p:cNvPr id="34" name="AutoShape 19"/>
            <p:cNvSpPr>
              <a:spLocks noChangeArrowheads="1"/>
            </p:cNvSpPr>
            <p:nvPr/>
          </p:nvSpPr>
          <p:spPr bwMode="auto">
            <a:xfrm rot="10800000">
              <a:off x="4035" y="1601"/>
              <a:ext cx="1496" cy="307"/>
            </a:xfrm>
            <a:prstGeom prst="rightArrow">
              <a:avLst>
                <a:gd name="adj1" fmla="val 50000"/>
                <a:gd name="adj2" fmla="val 95833"/>
              </a:avLst>
            </a:prstGeom>
            <a:solidFill>
              <a:srgbClr val="9900CC"/>
            </a:solidFill>
            <a:ln w="9525">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2000" b="1">
                <a:solidFill>
                  <a:schemeClr val="bg1"/>
                </a:solidFill>
                <a:latin typeface="微软雅黑" panose="020B0503020204020204" pitchFamily="34" charset="-122"/>
                <a:ea typeface="微软雅黑" panose="020B0503020204020204" pitchFamily="34" charset="-122"/>
              </a:endParaRPr>
            </a:p>
          </p:txBody>
        </p:sp>
        <p:sp>
          <p:nvSpPr>
            <p:cNvPr id="35" name="Text Box 20"/>
            <p:cNvSpPr txBox="1">
              <a:spLocks noChangeArrowheads="1"/>
            </p:cNvSpPr>
            <p:nvPr/>
          </p:nvSpPr>
          <p:spPr bwMode="auto">
            <a:xfrm>
              <a:off x="4191" y="1662"/>
              <a:ext cx="1441" cy="186"/>
            </a:xfrm>
            <a:prstGeom prst="rect">
              <a:avLst/>
            </a:prstGeom>
            <a:noFill/>
            <a:ln w="9525">
              <a:noFill/>
              <a:miter lim="800000"/>
            </a:ln>
            <a:effectLst/>
            <a:extLst>
              <a:ext uri="{AF507438-7753-43E0-B8FC-AC1667EBCBE1}">
                <a14:hiddenEffects xmlns:a14="http://schemas.microsoft.com/office/drawing/2010/main">
                  <a:effectLst>
                    <a:outerShdw dist="35921" dir="2700000" algn="ctr" rotWithShape="0">
                      <a:schemeClr val="bg1"/>
                    </a:outerShdw>
                  </a:effectLst>
                </a14:hiddenEffects>
              </a:ext>
            </a:extLst>
          </p:spPr>
          <p:txBody>
            <a:bodyPr wrap="none">
              <a:spAutoFit/>
            </a:bodyPr>
            <a:lstStyle/>
            <a:p>
              <a:pPr algn="r" fontAlgn="auto">
                <a:spcBef>
                  <a:spcPts val="0"/>
                </a:spcBef>
                <a:spcAft>
                  <a:spcPts val="0"/>
                </a:spcAft>
                <a:defRPr/>
              </a:pPr>
              <a:r>
                <a:rPr kumimoji="1" lang="zh-CN" altLang="en-US" sz="1400" b="1" dirty="0">
                  <a:solidFill>
                    <a:schemeClr val="bg1"/>
                  </a:solidFill>
                  <a:latin typeface="微软雅黑" panose="020B0503020204020204" pitchFamily="34" charset="-122"/>
                  <a:ea typeface="微软雅黑" panose="020B0503020204020204" pitchFamily="34" charset="-122"/>
                </a:rPr>
                <a:t>我真的确认“同意”</a:t>
              </a:r>
            </a:p>
          </p:txBody>
        </p:sp>
      </p:grpSp>
      <p:grpSp>
        <p:nvGrpSpPr>
          <p:cNvPr id="36" name="Group 15"/>
          <p:cNvGrpSpPr/>
          <p:nvPr/>
        </p:nvGrpSpPr>
        <p:grpSpPr bwMode="auto">
          <a:xfrm>
            <a:off x="955581" y="2569100"/>
            <a:ext cx="2023339" cy="457423"/>
            <a:chOff x="882" y="234"/>
            <a:chExt cx="1393" cy="319"/>
          </a:xfrm>
          <a:solidFill>
            <a:srgbClr val="368AD6"/>
          </a:solidFill>
        </p:grpSpPr>
        <p:sp>
          <p:nvSpPr>
            <p:cNvPr id="37" name="AutoShape 16"/>
            <p:cNvSpPr>
              <a:spLocks noChangeArrowheads="1"/>
            </p:cNvSpPr>
            <p:nvPr/>
          </p:nvSpPr>
          <p:spPr bwMode="auto">
            <a:xfrm>
              <a:off x="912" y="234"/>
              <a:ext cx="1356" cy="319"/>
            </a:xfrm>
            <a:prstGeom prst="rightArrow">
              <a:avLst>
                <a:gd name="adj1" fmla="val 50000"/>
                <a:gd name="adj2" fmla="val 95833"/>
              </a:avLst>
            </a:prstGeom>
            <a:solidFill>
              <a:srgbClr val="17375E"/>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2000" b="1">
                <a:solidFill>
                  <a:schemeClr val="bg1"/>
                </a:solidFill>
                <a:latin typeface="微软雅黑" panose="020B0503020204020204" pitchFamily="34" charset="-122"/>
                <a:ea typeface="微软雅黑" panose="020B0503020204020204" pitchFamily="34" charset="-122"/>
              </a:endParaRPr>
            </a:p>
          </p:txBody>
        </p:sp>
        <p:sp>
          <p:nvSpPr>
            <p:cNvPr id="38" name="Text Box 17"/>
            <p:cNvSpPr txBox="1">
              <a:spLocks noChangeArrowheads="1"/>
            </p:cNvSpPr>
            <p:nvPr/>
          </p:nvSpPr>
          <p:spPr bwMode="auto">
            <a:xfrm>
              <a:off x="882" y="290"/>
              <a:ext cx="1393" cy="215"/>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fontAlgn="auto">
                <a:spcBef>
                  <a:spcPts val="0"/>
                </a:spcBef>
                <a:spcAft>
                  <a:spcPts val="0"/>
                </a:spcAft>
                <a:defRPr/>
              </a:pPr>
              <a:r>
                <a:rPr kumimoji="1" lang="zh-CN" altLang="en-US" sz="1400" b="1" dirty="0">
                  <a:solidFill>
                    <a:schemeClr val="bg1"/>
                  </a:solidFill>
                  <a:latin typeface="微软雅黑" panose="020B0503020204020204" pitchFamily="34" charset="-122"/>
                  <a:ea typeface="微软雅黑" panose="020B0503020204020204" pitchFamily="34" charset="-122"/>
                </a:rPr>
                <a:t>你真的确认“同意”？</a:t>
              </a:r>
            </a:p>
          </p:txBody>
        </p:sp>
      </p:grpSp>
      <p:grpSp>
        <p:nvGrpSpPr>
          <p:cNvPr id="39" name="Group 18"/>
          <p:cNvGrpSpPr/>
          <p:nvPr/>
        </p:nvGrpSpPr>
        <p:grpSpPr bwMode="auto">
          <a:xfrm>
            <a:off x="6276463" y="2920300"/>
            <a:ext cx="1995194" cy="508459"/>
            <a:chOff x="4035" y="1601"/>
            <a:chExt cx="1597" cy="307"/>
          </a:xfrm>
          <a:solidFill>
            <a:srgbClr val="00CC00"/>
          </a:solidFill>
        </p:grpSpPr>
        <p:sp>
          <p:nvSpPr>
            <p:cNvPr id="40" name="AutoShape 19"/>
            <p:cNvSpPr>
              <a:spLocks noChangeArrowheads="1"/>
            </p:cNvSpPr>
            <p:nvPr/>
          </p:nvSpPr>
          <p:spPr bwMode="auto">
            <a:xfrm rot="10800000">
              <a:off x="4035" y="1601"/>
              <a:ext cx="1496" cy="307"/>
            </a:xfrm>
            <a:prstGeom prst="rightArrow">
              <a:avLst>
                <a:gd name="adj1" fmla="val 50000"/>
                <a:gd name="adj2" fmla="val 95833"/>
              </a:avLst>
            </a:prstGeom>
            <a:solidFill>
              <a:srgbClr val="9900CC"/>
            </a:solidFill>
            <a:ln w="9525">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2000" b="1">
                <a:solidFill>
                  <a:schemeClr val="bg1"/>
                </a:solidFill>
                <a:latin typeface="微软雅黑" panose="020B0503020204020204" pitchFamily="34" charset="-122"/>
                <a:ea typeface="微软雅黑" panose="020B0503020204020204" pitchFamily="34" charset="-122"/>
              </a:endParaRPr>
            </a:p>
          </p:txBody>
        </p:sp>
        <p:sp>
          <p:nvSpPr>
            <p:cNvPr id="41" name="Text Box 20"/>
            <p:cNvSpPr txBox="1">
              <a:spLocks noChangeArrowheads="1"/>
            </p:cNvSpPr>
            <p:nvPr/>
          </p:nvSpPr>
          <p:spPr bwMode="auto">
            <a:xfrm>
              <a:off x="4191" y="1662"/>
              <a:ext cx="1441" cy="186"/>
            </a:xfrm>
            <a:prstGeom prst="rect">
              <a:avLst/>
            </a:prstGeom>
            <a:noFill/>
            <a:ln w="9525">
              <a:noFill/>
              <a:miter lim="800000"/>
            </a:ln>
            <a:effectLst/>
            <a:extLst>
              <a:ext uri="{AF507438-7753-43E0-B8FC-AC1667EBCBE1}">
                <a14:hiddenEffects xmlns:a14="http://schemas.microsoft.com/office/drawing/2010/main">
                  <a:effectLst>
                    <a:outerShdw dist="35921" dir="2700000" algn="ctr" rotWithShape="0">
                      <a:schemeClr val="bg1"/>
                    </a:outerShdw>
                  </a:effectLst>
                </a14:hiddenEffects>
              </a:ext>
            </a:extLst>
          </p:spPr>
          <p:txBody>
            <a:bodyPr wrap="none">
              <a:spAutoFit/>
            </a:bodyPr>
            <a:lstStyle/>
            <a:p>
              <a:pPr algn="r" fontAlgn="auto">
                <a:spcBef>
                  <a:spcPts val="0"/>
                </a:spcBef>
                <a:spcAft>
                  <a:spcPts val="0"/>
                </a:spcAft>
                <a:defRPr/>
              </a:pPr>
              <a:r>
                <a:rPr kumimoji="1" lang="zh-CN" altLang="en-US" sz="1400" b="1" dirty="0">
                  <a:solidFill>
                    <a:schemeClr val="bg1"/>
                  </a:solidFill>
                  <a:latin typeface="微软雅黑" panose="020B0503020204020204" pitchFamily="34" charset="-122"/>
                  <a:ea typeface="微软雅黑" panose="020B0503020204020204" pitchFamily="34" charset="-122"/>
                </a:rPr>
                <a:t>我真的确认“同意”</a:t>
              </a:r>
            </a:p>
          </p:txBody>
        </p:sp>
      </p:grpSp>
      <p:grpSp>
        <p:nvGrpSpPr>
          <p:cNvPr id="42" name="Group 15"/>
          <p:cNvGrpSpPr/>
          <p:nvPr/>
        </p:nvGrpSpPr>
        <p:grpSpPr bwMode="auto">
          <a:xfrm>
            <a:off x="959699" y="2568484"/>
            <a:ext cx="2023339" cy="457423"/>
            <a:chOff x="882" y="234"/>
            <a:chExt cx="1393" cy="319"/>
          </a:xfrm>
          <a:solidFill>
            <a:srgbClr val="368AD6"/>
          </a:solidFill>
        </p:grpSpPr>
        <p:sp>
          <p:nvSpPr>
            <p:cNvPr id="43" name="AutoShape 16"/>
            <p:cNvSpPr>
              <a:spLocks noChangeArrowheads="1"/>
            </p:cNvSpPr>
            <p:nvPr/>
          </p:nvSpPr>
          <p:spPr bwMode="auto">
            <a:xfrm>
              <a:off x="912" y="234"/>
              <a:ext cx="1356" cy="319"/>
            </a:xfrm>
            <a:prstGeom prst="rightArrow">
              <a:avLst>
                <a:gd name="adj1" fmla="val 50000"/>
                <a:gd name="adj2" fmla="val 95833"/>
              </a:avLst>
            </a:prstGeom>
            <a:solidFill>
              <a:schemeClr val="tx2">
                <a:lumMod val="75000"/>
              </a:schemeClr>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2000" b="1">
                <a:solidFill>
                  <a:schemeClr val="bg1"/>
                </a:solidFill>
                <a:latin typeface="微软雅黑" panose="020B0503020204020204" pitchFamily="34" charset="-122"/>
                <a:ea typeface="微软雅黑" panose="020B0503020204020204" pitchFamily="34" charset="-122"/>
              </a:endParaRPr>
            </a:p>
          </p:txBody>
        </p:sp>
        <p:sp>
          <p:nvSpPr>
            <p:cNvPr id="44" name="Text Box 17"/>
            <p:cNvSpPr txBox="1">
              <a:spLocks noChangeArrowheads="1"/>
            </p:cNvSpPr>
            <p:nvPr/>
          </p:nvSpPr>
          <p:spPr bwMode="auto">
            <a:xfrm>
              <a:off x="882" y="290"/>
              <a:ext cx="1393" cy="215"/>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fontAlgn="auto">
                <a:spcBef>
                  <a:spcPts val="0"/>
                </a:spcBef>
                <a:spcAft>
                  <a:spcPts val="0"/>
                </a:spcAft>
                <a:defRPr/>
              </a:pPr>
              <a:r>
                <a:rPr kumimoji="1" lang="zh-CN" altLang="en-US" sz="1400" b="1" dirty="0">
                  <a:solidFill>
                    <a:schemeClr val="bg1"/>
                  </a:solidFill>
                  <a:latin typeface="微软雅黑" panose="020B0503020204020204" pitchFamily="34" charset="-122"/>
                  <a:ea typeface="微软雅黑" panose="020B0503020204020204" pitchFamily="34" charset="-122"/>
                </a:rPr>
                <a:t>你真的确认“同意”？</a:t>
              </a:r>
            </a:p>
          </p:txBody>
        </p:sp>
      </p:grpSp>
      <p:grpSp>
        <p:nvGrpSpPr>
          <p:cNvPr id="45" name="Group 18"/>
          <p:cNvGrpSpPr/>
          <p:nvPr/>
        </p:nvGrpSpPr>
        <p:grpSpPr bwMode="auto">
          <a:xfrm>
            <a:off x="6272560" y="2920903"/>
            <a:ext cx="1995194" cy="508459"/>
            <a:chOff x="4035" y="1601"/>
            <a:chExt cx="1597" cy="307"/>
          </a:xfrm>
          <a:solidFill>
            <a:srgbClr val="00CC00"/>
          </a:solidFill>
        </p:grpSpPr>
        <p:sp>
          <p:nvSpPr>
            <p:cNvPr id="46" name="AutoShape 19"/>
            <p:cNvSpPr>
              <a:spLocks noChangeArrowheads="1"/>
            </p:cNvSpPr>
            <p:nvPr/>
          </p:nvSpPr>
          <p:spPr bwMode="auto">
            <a:xfrm rot="10800000">
              <a:off x="4035" y="1601"/>
              <a:ext cx="1496" cy="307"/>
            </a:xfrm>
            <a:prstGeom prst="rightArrow">
              <a:avLst>
                <a:gd name="adj1" fmla="val 50000"/>
                <a:gd name="adj2" fmla="val 95833"/>
              </a:avLst>
            </a:prstGeom>
            <a:solidFill>
              <a:srgbClr val="9900CC"/>
            </a:solidFill>
            <a:ln w="9525">
              <a:noFill/>
              <a:miter lim="800000"/>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fontAlgn="auto">
                <a:spcBef>
                  <a:spcPts val="0"/>
                </a:spcBef>
                <a:spcAft>
                  <a:spcPts val="0"/>
                </a:spcAft>
                <a:defRPr/>
              </a:pPr>
              <a:endParaRPr lang="zh-CN" altLang="en-US" sz="2000" b="1">
                <a:solidFill>
                  <a:schemeClr val="bg1"/>
                </a:solidFill>
                <a:latin typeface="微软雅黑" panose="020B0503020204020204" pitchFamily="34" charset="-122"/>
                <a:ea typeface="微软雅黑" panose="020B0503020204020204" pitchFamily="34" charset="-122"/>
              </a:endParaRPr>
            </a:p>
          </p:txBody>
        </p:sp>
        <p:sp>
          <p:nvSpPr>
            <p:cNvPr id="47" name="Text Box 20"/>
            <p:cNvSpPr txBox="1">
              <a:spLocks noChangeArrowheads="1"/>
            </p:cNvSpPr>
            <p:nvPr/>
          </p:nvSpPr>
          <p:spPr bwMode="auto">
            <a:xfrm>
              <a:off x="4191" y="1662"/>
              <a:ext cx="1441" cy="186"/>
            </a:xfrm>
            <a:prstGeom prst="rect">
              <a:avLst/>
            </a:prstGeom>
            <a:noFill/>
            <a:ln w="9525">
              <a:noFill/>
              <a:miter lim="800000"/>
            </a:ln>
            <a:effectLst/>
            <a:extLst>
              <a:ext uri="{AF507438-7753-43E0-B8FC-AC1667EBCBE1}">
                <a14:hiddenEffects xmlns:a14="http://schemas.microsoft.com/office/drawing/2010/main">
                  <a:effectLst>
                    <a:outerShdw dist="35921" dir="2700000" algn="ctr" rotWithShape="0">
                      <a:schemeClr val="bg1"/>
                    </a:outerShdw>
                  </a:effectLst>
                </a14:hiddenEffects>
              </a:ext>
            </a:extLst>
          </p:spPr>
          <p:txBody>
            <a:bodyPr wrap="none">
              <a:spAutoFit/>
            </a:bodyPr>
            <a:lstStyle/>
            <a:p>
              <a:pPr algn="r" fontAlgn="auto">
                <a:spcBef>
                  <a:spcPts val="0"/>
                </a:spcBef>
                <a:spcAft>
                  <a:spcPts val="0"/>
                </a:spcAft>
                <a:defRPr/>
              </a:pPr>
              <a:r>
                <a:rPr kumimoji="1" lang="zh-CN" altLang="en-US" sz="1400" b="1" dirty="0">
                  <a:solidFill>
                    <a:schemeClr val="bg1"/>
                  </a:solidFill>
                  <a:latin typeface="微软雅黑" panose="020B0503020204020204" pitchFamily="34" charset="-122"/>
                  <a:ea typeface="微软雅黑" panose="020B0503020204020204" pitchFamily="34" charset="-122"/>
                </a:rPr>
                <a:t>我真的确认“同意”</a:t>
              </a:r>
            </a:p>
          </p:txBody>
        </p:sp>
      </p:grpSp>
      <p:sp>
        <p:nvSpPr>
          <p:cNvPr id="29" name="Text Box 27"/>
          <p:cNvSpPr txBox="1">
            <a:spLocks noChangeArrowheads="1"/>
          </p:cNvSpPr>
          <p:nvPr/>
        </p:nvSpPr>
        <p:spPr bwMode="auto">
          <a:xfrm>
            <a:off x="3288824" y="2030379"/>
            <a:ext cx="2702889" cy="923330"/>
          </a:xfrm>
          <a:prstGeom prst="rect">
            <a:avLst/>
          </a:prstGeom>
          <a:solidFill>
            <a:srgbClr val="CC6600"/>
          </a:solidFill>
          <a:ln>
            <a:noFill/>
          </a:ln>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lang="zh-CN" altLang="en-US" b="1" dirty="0">
                <a:solidFill>
                  <a:schemeClr val="bg1"/>
                </a:solidFill>
                <a:latin typeface="微软雅黑" panose="020B0503020204020204" pitchFamily="34" charset="-122"/>
                <a:ea typeface="微软雅黑" panose="020B0503020204020204" pitchFamily="34" charset="-122"/>
              </a:rPr>
              <a:t>这样的协议无法实现！</a:t>
            </a:r>
            <a:endParaRPr lang="en-US" altLang="zh-CN" b="1" dirty="0">
              <a:solidFill>
                <a:schemeClr val="bg1"/>
              </a:solidFill>
              <a:latin typeface="微软雅黑" panose="020B0503020204020204" pitchFamily="34" charset="-122"/>
              <a:ea typeface="微软雅黑" panose="020B0503020204020204" pitchFamily="34" charset="-122"/>
            </a:endParaRPr>
          </a:p>
          <a:p>
            <a:pPr algn="ctr"/>
            <a:r>
              <a:rPr lang="zh-CN" altLang="en-US" b="1" dirty="0">
                <a:solidFill>
                  <a:srgbClr val="000066"/>
                </a:solidFill>
                <a:latin typeface="微软雅黑" panose="020B0503020204020204" pitchFamily="34" charset="-122"/>
                <a:ea typeface="微软雅黑" panose="020B0503020204020204" pitchFamily="34" charset="-122"/>
              </a:rPr>
              <a:t>没有一种协议能够使蓝军 </a:t>
            </a:r>
            <a:r>
              <a:rPr lang="en-US" altLang="zh-CN" b="1" dirty="0">
                <a:solidFill>
                  <a:srgbClr val="000066"/>
                </a:solidFill>
                <a:latin typeface="微软雅黑" panose="020B0503020204020204" pitchFamily="34" charset="-122"/>
                <a:ea typeface="微软雅黑" panose="020B0503020204020204" pitchFamily="34" charset="-122"/>
              </a:rPr>
              <a:t>100% </a:t>
            </a:r>
            <a:r>
              <a:rPr lang="zh-CN" altLang="en-US" b="1" dirty="0">
                <a:solidFill>
                  <a:srgbClr val="000066"/>
                </a:solidFill>
                <a:latin typeface="微软雅黑" panose="020B0503020204020204" pitchFamily="34" charset="-122"/>
                <a:ea typeface="微软雅黑" panose="020B0503020204020204" pitchFamily="34" charset="-122"/>
              </a:rPr>
              <a:t>获胜。</a:t>
            </a:r>
            <a:endParaRPr lang="en-US" altLang="zh-CN" b="1" dirty="0">
              <a:solidFill>
                <a:srgbClr val="000066"/>
              </a:solidFill>
              <a:latin typeface="微软雅黑" panose="020B0503020204020204" pitchFamily="34" charset="-122"/>
              <a:ea typeface="微软雅黑" panose="020B0503020204020204" pitchFamily="34" charset="-122"/>
            </a:endParaRPr>
          </a:p>
        </p:txBody>
      </p:sp>
      <p:sp>
        <p:nvSpPr>
          <p:cNvPr id="26" name="标题 25">
            <a:extLst>
              <a:ext uri="{FF2B5EF4-FFF2-40B4-BE49-F238E27FC236}">
                <a16:creationId xmlns:a16="http://schemas.microsoft.com/office/drawing/2014/main" id="{8B64E69A-6ED4-367E-63A6-A1CE8D3DAC45}"/>
              </a:ext>
            </a:extLst>
          </p:cNvPr>
          <p:cNvSpPr>
            <a:spLocks noGrp="1"/>
          </p:cNvSpPr>
          <p:nvPr>
            <p:ph type="title"/>
          </p:nvPr>
        </p:nvSpPr>
        <p:spPr>
          <a:xfrm>
            <a:off x="612000" y="144000"/>
            <a:ext cx="7920000" cy="341632"/>
          </a:xfrm>
        </p:spPr>
        <p:txBody>
          <a:bodyPr/>
          <a:lstStyle/>
          <a:p>
            <a:r>
              <a:rPr lang="zh-CN" altLang="en-US" dirty="0"/>
              <a:t>协议很复杂，要应付所有异常情况</a:t>
            </a:r>
          </a:p>
        </p:txBody>
      </p:sp>
    </p:spTree>
    <p:extLst>
      <p:ext uri="{BB962C8B-B14F-4D97-AF65-F5344CB8AC3E}">
        <p14:creationId xmlns:p14="http://schemas.microsoft.com/office/powerpoint/2010/main" val="3392182749"/>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afterEffect">
                                  <p:stCondLst>
                                    <p:cond delay="0"/>
                                  </p:stCondLst>
                                  <p:childTnLst>
                                    <p:set>
                                      <p:cBhvr>
                                        <p:cTn id="6" dur="1" fill="hold">
                                          <p:stCondLst>
                                            <p:cond delay="9"/>
                                          </p:stCondLst>
                                        </p:cTn>
                                        <p:tgtEl>
                                          <p:spTgt spid="11"/>
                                        </p:tgtEl>
                                        <p:attrNameLst>
                                          <p:attrName>style.visibility</p:attrName>
                                        </p:attrNameLst>
                                      </p:cBhvr>
                                      <p:to>
                                        <p:strVal val="visible"/>
                                      </p:to>
                                    </p:set>
                                  </p:childTnLst>
                                </p:cTn>
                              </p:par>
                            </p:childTnLst>
                          </p:cTn>
                        </p:par>
                        <p:par>
                          <p:cTn id="7" fill="hold">
                            <p:stCondLst>
                              <p:cond delay="10"/>
                            </p:stCondLst>
                            <p:childTnLst>
                              <p:par>
                                <p:cTn id="8" presetID="63" presetClass="path" presetSubtype="0" accel="50000" decel="50000" fill="hold" nodeType="afterEffect">
                                  <p:stCondLst>
                                    <p:cond delay="0"/>
                                  </p:stCondLst>
                                  <p:childTnLst>
                                    <p:animMotion origin="layout" path="M 4.16667E-6 3.58025E-6 L 0.5802 0.00031 " pathEditMode="relative" rAng="0" ptsTypes="AA">
                                      <p:cBhvr>
                                        <p:cTn id="9" dur="4000" fill="hold"/>
                                        <p:tgtEl>
                                          <p:spTgt spid="11"/>
                                        </p:tgtEl>
                                        <p:attrNameLst>
                                          <p:attrName>ppt_x</p:attrName>
                                          <p:attrName>ppt_y</p:attrName>
                                        </p:attrNameLst>
                                      </p:cBhvr>
                                      <p:rCtr x="29010" y="0"/>
                                    </p:animMotion>
                                  </p:childTnLst>
                                </p:cTn>
                              </p:par>
                            </p:childTnLst>
                          </p:cTn>
                        </p:par>
                        <p:par>
                          <p:cTn id="10" fill="hold">
                            <p:stCondLst>
                              <p:cond delay="4010"/>
                            </p:stCondLst>
                            <p:childTnLst>
                              <p:par>
                                <p:cTn id="11" presetID="1" presetClass="entr" presetSubtype="0" fill="hold" nodeType="afterEffect">
                                  <p:stCondLst>
                                    <p:cond delay="500"/>
                                  </p:stCondLst>
                                  <p:childTnLst>
                                    <p:set>
                                      <p:cBhvr>
                                        <p:cTn id="12" dur="1" fill="hold">
                                          <p:stCondLst>
                                            <p:cond delay="0"/>
                                          </p:stCondLst>
                                        </p:cTn>
                                        <p:tgtEl>
                                          <p:spTgt spid="14"/>
                                        </p:tgtEl>
                                        <p:attrNameLst>
                                          <p:attrName>style.visibility</p:attrName>
                                        </p:attrNameLst>
                                      </p:cBhvr>
                                      <p:to>
                                        <p:strVal val="visible"/>
                                      </p:to>
                                    </p:set>
                                  </p:childTnLst>
                                </p:cTn>
                              </p:par>
                            </p:childTnLst>
                          </p:cTn>
                        </p:par>
                        <p:par>
                          <p:cTn id="13" fill="hold">
                            <p:stCondLst>
                              <p:cond delay="4510"/>
                            </p:stCondLst>
                            <p:childTnLst>
                              <p:par>
                                <p:cTn id="14" presetID="35" presetClass="path" presetSubtype="0" accel="50000" decel="50000" fill="hold" nodeType="afterEffect">
                                  <p:stCondLst>
                                    <p:cond delay="0"/>
                                  </p:stCondLst>
                                  <p:childTnLst>
                                    <p:animMotion origin="layout" path="M -5.55556E-7 -1.7284E-6 L -0.6033 0.00525 " pathEditMode="relative" rAng="0" ptsTypes="AA">
                                      <p:cBhvr>
                                        <p:cTn id="15" dur="4000" fill="hold"/>
                                        <p:tgtEl>
                                          <p:spTgt spid="14"/>
                                        </p:tgtEl>
                                        <p:attrNameLst>
                                          <p:attrName>ppt_x</p:attrName>
                                          <p:attrName>ppt_y</p:attrName>
                                        </p:attrNameLst>
                                      </p:cBhvr>
                                      <p:rCtr x="-30174" y="247"/>
                                    </p:animMotion>
                                  </p:childTnLst>
                                </p:cTn>
                              </p:par>
                            </p:childTnLst>
                          </p:cTn>
                        </p:par>
                        <p:par>
                          <p:cTn id="16" fill="hold">
                            <p:stCondLst>
                              <p:cond delay="8510"/>
                            </p:stCondLst>
                            <p:childTnLst>
                              <p:par>
                                <p:cTn id="17" presetID="1" presetClass="entr" presetSubtype="0" fill="hold" nodeType="afterEffect">
                                  <p:stCondLst>
                                    <p:cond delay="500"/>
                                  </p:stCondLst>
                                  <p:childTnLst>
                                    <p:set>
                                      <p:cBhvr>
                                        <p:cTn id="18" dur="1" fill="hold">
                                          <p:stCondLst>
                                            <p:cond delay="0"/>
                                          </p:stCondLst>
                                        </p:cTn>
                                        <p:tgtEl>
                                          <p:spTgt spid="17"/>
                                        </p:tgtEl>
                                        <p:attrNameLst>
                                          <p:attrName>style.visibility</p:attrName>
                                        </p:attrNameLst>
                                      </p:cBhvr>
                                      <p:to>
                                        <p:strVal val="visible"/>
                                      </p:to>
                                    </p:set>
                                  </p:childTnLst>
                                </p:cTn>
                              </p:par>
                            </p:childTnLst>
                          </p:cTn>
                        </p:par>
                        <p:par>
                          <p:cTn id="19" fill="hold">
                            <p:stCondLst>
                              <p:cond delay="9010"/>
                            </p:stCondLst>
                            <p:childTnLst>
                              <p:par>
                                <p:cTn id="20" presetID="63" presetClass="path" presetSubtype="0" accel="50000" decel="50000" fill="hold" nodeType="afterEffect">
                                  <p:stCondLst>
                                    <p:cond delay="500"/>
                                  </p:stCondLst>
                                  <p:childTnLst>
                                    <p:animMotion origin="layout" path="M -4.16667E-6 1.23457E-7 L 0.58021 -0.00062 " pathEditMode="relative" rAng="0" ptsTypes="AA">
                                      <p:cBhvr>
                                        <p:cTn id="21" dur="4000" fill="hold"/>
                                        <p:tgtEl>
                                          <p:spTgt spid="17"/>
                                        </p:tgtEl>
                                        <p:attrNameLst>
                                          <p:attrName>ppt_x</p:attrName>
                                          <p:attrName>ppt_y</p:attrName>
                                        </p:attrNameLst>
                                      </p:cBhvr>
                                      <p:rCtr x="29010" y="-31"/>
                                    </p:animMotion>
                                  </p:childTnLst>
                                </p:cTn>
                              </p:par>
                            </p:childTnLst>
                          </p:cTn>
                        </p:par>
                        <p:par>
                          <p:cTn id="22" fill="hold">
                            <p:stCondLst>
                              <p:cond delay="13510"/>
                            </p:stCondLst>
                            <p:childTnLst>
                              <p:par>
                                <p:cTn id="23" presetID="1" presetClass="entr" presetSubtype="0" fill="hold" nodeType="afterEffect">
                                  <p:stCondLst>
                                    <p:cond delay="0"/>
                                  </p:stCondLst>
                                  <p:childTnLst>
                                    <p:set>
                                      <p:cBhvr>
                                        <p:cTn id="24" dur="1" fill="hold">
                                          <p:stCondLst>
                                            <p:cond delay="0"/>
                                          </p:stCondLst>
                                        </p:cTn>
                                        <p:tgtEl>
                                          <p:spTgt spid="20"/>
                                        </p:tgtEl>
                                        <p:attrNameLst>
                                          <p:attrName>style.visibility</p:attrName>
                                        </p:attrNameLst>
                                      </p:cBhvr>
                                      <p:to>
                                        <p:strVal val="visible"/>
                                      </p:to>
                                    </p:set>
                                  </p:childTnLst>
                                </p:cTn>
                              </p:par>
                            </p:childTnLst>
                          </p:cTn>
                        </p:par>
                        <p:par>
                          <p:cTn id="25" fill="hold">
                            <p:stCondLst>
                              <p:cond delay="13510"/>
                            </p:stCondLst>
                            <p:childTnLst>
                              <p:par>
                                <p:cTn id="26" presetID="35" presetClass="path" presetSubtype="0" accel="50000" decel="50000" fill="hold" nodeType="afterEffect">
                                  <p:stCondLst>
                                    <p:cond delay="500"/>
                                  </p:stCondLst>
                                  <p:childTnLst>
                                    <p:animMotion origin="layout" path="M 4.72222E-6 -3.95062E-6 L -0.58056 0.00432 " pathEditMode="relative" rAng="0" ptsTypes="AA">
                                      <p:cBhvr>
                                        <p:cTn id="27" dur="4000" fill="hold"/>
                                        <p:tgtEl>
                                          <p:spTgt spid="20"/>
                                        </p:tgtEl>
                                        <p:attrNameLst>
                                          <p:attrName>ppt_x</p:attrName>
                                          <p:attrName>ppt_y</p:attrName>
                                        </p:attrNameLst>
                                      </p:cBhvr>
                                      <p:rCtr x="-29028" y="216"/>
                                    </p:animMotion>
                                  </p:childTnLst>
                                </p:cTn>
                              </p:par>
                            </p:childTnLst>
                          </p:cTn>
                        </p:par>
                        <p:par>
                          <p:cTn id="28" fill="hold">
                            <p:stCondLst>
                              <p:cond delay="18010"/>
                            </p:stCondLst>
                            <p:childTnLst>
                              <p:par>
                                <p:cTn id="29" presetID="1" presetClass="entr" presetSubtype="0" fill="hold" nodeType="afterEffect">
                                  <p:stCondLst>
                                    <p:cond delay="500"/>
                                  </p:stCondLst>
                                  <p:childTnLst>
                                    <p:set>
                                      <p:cBhvr>
                                        <p:cTn id="30" dur="1" fill="hold">
                                          <p:stCondLst>
                                            <p:cond delay="0"/>
                                          </p:stCondLst>
                                        </p:cTn>
                                        <p:tgtEl>
                                          <p:spTgt spid="30"/>
                                        </p:tgtEl>
                                        <p:attrNameLst>
                                          <p:attrName>style.visibility</p:attrName>
                                        </p:attrNameLst>
                                      </p:cBhvr>
                                      <p:to>
                                        <p:strVal val="visible"/>
                                      </p:to>
                                    </p:set>
                                  </p:childTnLst>
                                </p:cTn>
                              </p:par>
                            </p:childTnLst>
                          </p:cTn>
                        </p:par>
                        <p:par>
                          <p:cTn id="31" fill="hold">
                            <p:stCondLst>
                              <p:cond delay="18510"/>
                            </p:stCondLst>
                            <p:childTnLst>
                              <p:par>
                                <p:cTn id="32" presetID="63" presetClass="path" presetSubtype="0" accel="50000" decel="50000" fill="hold" nodeType="afterEffect">
                                  <p:stCondLst>
                                    <p:cond delay="500"/>
                                  </p:stCondLst>
                                  <p:childTnLst>
                                    <p:animMotion origin="layout" path="M 5E-6 1.23457E-7 L 0.58021 -0.00062 " pathEditMode="relative" rAng="0" ptsTypes="AA">
                                      <p:cBhvr>
                                        <p:cTn id="33" dur="4000" fill="hold"/>
                                        <p:tgtEl>
                                          <p:spTgt spid="30"/>
                                        </p:tgtEl>
                                        <p:attrNameLst>
                                          <p:attrName>ppt_x</p:attrName>
                                          <p:attrName>ppt_y</p:attrName>
                                        </p:attrNameLst>
                                      </p:cBhvr>
                                      <p:rCtr x="29010" y="-31"/>
                                    </p:animMotion>
                                  </p:childTnLst>
                                </p:cTn>
                              </p:par>
                            </p:childTnLst>
                          </p:cTn>
                        </p:par>
                        <p:par>
                          <p:cTn id="34" fill="hold">
                            <p:stCondLst>
                              <p:cond delay="23010"/>
                            </p:stCondLst>
                            <p:childTnLst>
                              <p:par>
                                <p:cTn id="35" presetID="1" presetClass="entr" presetSubtype="0" fill="hold" nodeType="afterEffect">
                                  <p:stCondLst>
                                    <p:cond delay="0"/>
                                  </p:stCondLst>
                                  <p:childTnLst>
                                    <p:set>
                                      <p:cBhvr>
                                        <p:cTn id="36" dur="1" fill="hold">
                                          <p:stCondLst>
                                            <p:cond delay="0"/>
                                          </p:stCondLst>
                                        </p:cTn>
                                        <p:tgtEl>
                                          <p:spTgt spid="33"/>
                                        </p:tgtEl>
                                        <p:attrNameLst>
                                          <p:attrName>style.visibility</p:attrName>
                                        </p:attrNameLst>
                                      </p:cBhvr>
                                      <p:to>
                                        <p:strVal val="visible"/>
                                      </p:to>
                                    </p:set>
                                  </p:childTnLst>
                                </p:cTn>
                              </p:par>
                            </p:childTnLst>
                          </p:cTn>
                        </p:par>
                        <p:par>
                          <p:cTn id="37" fill="hold">
                            <p:stCondLst>
                              <p:cond delay="23010"/>
                            </p:stCondLst>
                            <p:childTnLst>
                              <p:par>
                                <p:cTn id="38" presetID="35" presetClass="path" presetSubtype="0" accel="50000" decel="50000" fill="hold" nodeType="afterEffect">
                                  <p:stCondLst>
                                    <p:cond delay="500"/>
                                  </p:stCondLst>
                                  <p:childTnLst>
                                    <p:animMotion origin="layout" path="M 4.72222E-6 4.69136E-6 L -0.58056 0.00432 " pathEditMode="relative" rAng="0" ptsTypes="AA">
                                      <p:cBhvr>
                                        <p:cTn id="39" dur="4000" fill="hold"/>
                                        <p:tgtEl>
                                          <p:spTgt spid="33"/>
                                        </p:tgtEl>
                                        <p:attrNameLst>
                                          <p:attrName>ppt_x</p:attrName>
                                          <p:attrName>ppt_y</p:attrName>
                                        </p:attrNameLst>
                                      </p:cBhvr>
                                      <p:rCtr x="-29028" y="216"/>
                                    </p:animMotion>
                                  </p:childTnLst>
                                </p:cTn>
                              </p:par>
                            </p:childTnLst>
                          </p:cTn>
                        </p:par>
                        <p:par>
                          <p:cTn id="40" fill="hold">
                            <p:stCondLst>
                              <p:cond delay="27510"/>
                            </p:stCondLst>
                            <p:childTnLst>
                              <p:par>
                                <p:cTn id="41" presetID="1" presetClass="exit" presetSubtype="0" fill="hold" nodeType="afterEffect">
                                  <p:stCondLst>
                                    <p:cond delay="500"/>
                                  </p:stCondLst>
                                  <p:childTnLst>
                                    <p:set>
                                      <p:cBhvr>
                                        <p:cTn id="42" dur="1" fill="hold">
                                          <p:stCondLst>
                                            <p:cond delay="0"/>
                                          </p:stCondLst>
                                        </p:cTn>
                                        <p:tgtEl>
                                          <p:spTgt spid="30"/>
                                        </p:tgtEl>
                                        <p:attrNameLst>
                                          <p:attrName>style.visibility</p:attrName>
                                        </p:attrNameLst>
                                      </p:cBhvr>
                                      <p:to>
                                        <p:strVal val="hidden"/>
                                      </p:to>
                                    </p:set>
                                  </p:childTnLst>
                                </p:cTn>
                              </p:par>
                            </p:childTnLst>
                          </p:cTn>
                        </p:par>
                        <p:par>
                          <p:cTn id="43" fill="hold">
                            <p:stCondLst>
                              <p:cond delay="28010"/>
                            </p:stCondLst>
                            <p:childTnLst>
                              <p:par>
                                <p:cTn id="44" presetID="1" presetClass="exit" presetSubtype="0" fill="hold" nodeType="afterEffect">
                                  <p:stCondLst>
                                    <p:cond delay="0"/>
                                  </p:stCondLst>
                                  <p:childTnLst>
                                    <p:set>
                                      <p:cBhvr>
                                        <p:cTn id="45" dur="1" fill="hold">
                                          <p:stCondLst>
                                            <p:cond delay="0"/>
                                          </p:stCondLst>
                                        </p:cTn>
                                        <p:tgtEl>
                                          <p:spTgt spid="33"/>
                                        </p:tgtEl>
                                        <p:attrNameLst>
                                          <p:attrName>style.visibility</p:attrName>
                                        </p:attrNameLst>
                                      </p:cBhvr>
                                      <p:to>
                                        <p:strVal val="hidden"/>
                                      </p:to>
                                    </p:set>
                                  </p:childTnLst>
                                </p:cTn>
                              </p:par>
                            </p:childTnLst>
                          </p:cTn>
                        </p:par>
                        <p:par>
                          <p:cTn id="46" fill="hold">
                            <p:stCondLst>
                              <p:cond delay="28010"/>
                            </p:stCondLst>
                            <p:childTnLst>
                              <p:par>
                                <p:cTn id="47" presetID="1" presetClass="entr" presetSubtype="0" fill="hold" nodeType="afterEffect">
                                  <p:stCondLst>
                                    <p:cond delay="250"/>
                                  </p:stCondLst>
                                  <p:childTnLst>
                                    <p:set>
                                      <p:cBhvr>
                                        <p:cTn id="48" dur="1" fill="hold">
                                          <p:stCondLst>
                                            <p:cond delay="0"/>
                                          </p:stCondLst>
                                        </p:cTn>
                                        <p:tgtEl>
                                          <p:spTgt spid="36"/>
                                        </p:tgtEl>
                                        <p:attrNameLst>
                                          <p:attrName>style.visibility</p:attrName>
                                        </p:attrNameLst>
                                      </p:cBhvr>
                                      <p:to>
                                        <p:strVal val="visible"/>
                                      </p:to>
                                    </p:set>
                                  </p:childTnLst>
                                </p:cTn>
                              </p:par>
                            </p:childTnLst>
                          </p:cTn>
                        </p:par>
                        <p:par>
                          <p:cTn id="49" fill="hold">
                            <p:stCondLst>
                              <p:cond delay="28260"/>
                            </p:stCondLst>
                            <p:childTnLst>
                              <p:par>
                                <p:cTn id="50" presetID="63" presetClass="path" presetSubtype="0" accel="50000" decel="50000" fill="hold" nodeType="afterEffect">
                                  <p:stCondLst>
                                    <p:cond delay="500"/>
                                  </p:stCondLst>
                                  <p:childTnLst>
                                    <p:animMotion origin="layout" path="M -4.16667E-6 -3.95062E-6 L 0.58021 -0.00061 " pathEditMode="relative" rAng="0" ptsTypes="AA">
                                      <p:cBhvr>
                                        <p:cTn id="51" dur="4000" fill="hold"/>
                                        <p:tgtEl>
                                          <p:spTgt spid="36"/>
                                        </p:tgtEl>
                                        <p:attrNameLst>
                                          <p:attrName>ppt_x</p:attrName>
                                          <p:attrName>ppt_y</p:attrName>
                                        </p:attrNameLst>
                                      </p:cBhvr>
                                      <p:rCtr x="29010" y="-31"/>
                                    </p:animMotion>
                                  </p:childTnLst>
                                </p:cTn>
                              </p:par>
                            </p:childTnLst>
                          </p:cTn>
                        </p:par>
                        <p:par>
                          <p:cTn id="52" fill="hold">
                            <p:stCondLst>
                              <p:cond delay="32760"/>
                            </p:stCondLst>
                            <p:childTnLst>
                              <p:par>
                                <p:cTn id="53" presetID="1" presetClass="entr" presetSubtype="0" fill="hold" nodeType="afterEffect">
                                  <p:stCondLst>
                                    <p:cond delay="0"/>
                                  </p:stCondLst>
                                  <p:childTnLst>
                                    <p:set>
                                      <p:cBhvr>
                                        <p:cTn id="54" dur="1" fill="hold">
                                          <p:stCondLst>
                                            <p:cond delay="0"/>
                                          </p:stCondLst>
                                        </p:cTn>
                                        <p:tgtEl>
                                          <p:spTgt spid="39"/>
                                        </p:tgtEl>
                                        <p:attrNameLst>
                                          <p:attrName>style.visibility</p:attrName>
                                        </p:attrNameLst>
                                      </p:cBhvr>
                                      <p:to>
                                        <p:strVal val="visible"/>
                                      </p:to>
                                    </p:set>
                                  </p:childTnLst>
                                </p:cTn>
                              </p:par>
                            </p:childTnLst>
                          </p:cTn>
                        </p:par>
                        <p:par>
                          <p:cTn id="55" fill="hold">
                            <p:stCondLst>
                              <p:cond delay="32760"/>
                            </p:stCondLst>
                            <p:childTnLst>
                              <p:par>
                                <p:cTn id="56" presetID="35" presetClass="path" presetSubtype="0" accel="50000" decel="50000" fill="hold" nodeType="afterEffect">
                                  <p:stCondLst>
                                    <p:cond delay="500"/>
                                  </p:stCondLst>
                                  <p:childTnLst>
                                    <p:animMotion origin="layout" path="M 1.94444E-6 1.97531E-6 L -0.58056 0.00432 " pathEditMode="relative" rAng="0" ptsTypes="AA">
                                      <p:cBhvr>
                                        <p:cTn id="57" dur="4000" fill="hold"/>
                                        <p:tgtEl>
                                          <p:spTgt spid="39"/>
                                        </p:tgtEl>
                                        <p:attrNameLst>
                                          <p:attrName>ppt_x</p:attrName>
                                          <p:attrName>ppt_y</p:attrName>
                                        </p:attrNameLst>
                                      </p:cBhvr>
                                      <p:rCtr x="-29028" y="216"/>
                                    </p:animMotion>
                                  </p:childTnLst>
                                </p:cTn>
                              </p:par>
                            </p:childTnLst>
                          </p:cTn>
                        </p:par>
                        <p:par>
                          <p:cTn id="58" fill="hold">
                            <p:stCondLst>
                              <p:cond delay="37260"/>
                            </p:stCondLst>
                            <p:childTnLst>
                              <p:par>
                                <p:cTn id="59" presetID="1" presetClass="exit" presetSubtype="0" fill="hold" nodeType="afterEffect">
                                  <p:stCondLst>
                                    <p:cond delay="250"/>
                                  </p:stCondLst>
                                  <p:childTnLst>
                                    <p:set>
                                      <p:cBhvr>
                                        <p:cTn id="60" dur="1" fill="hold">
                                          <p:stCondLst>
                                            <p:cond delay="0"/>
                                          </p:stCondLst>
                                        </p:cTn>
                                        <p:tgtEl>
                                          <p:spTgt spid="36"/>
                                        </p:tgtEl>
                                        <p:attrNameLst>
                                          <p:attrName>style.visibility</p:attrName>
                                        </p:attrNameLst>
                                      </p:cBhvr>
                                      <p:to>
                                        <p:strVal val="hidden"/>
                                      </p:to>
                                    </p:set>
                                  </p:childTnLst>
                                </p:cTn>
                              </p:par>
                            </p:childTnLst>
                          </p:cTn>
                        </p:par>
                        <p:par>
                          <p:cTn id="61" fill="hold">
                            <p:stCondLst>
                              <p:cond delay="37510"/>
                            </p:stCondLst>
                            <p:childTnLst>
                              <p:par>
                                <p:cTn id="62" presetID="1" presetClass="exit" presetSubtype="0" fill="hold" nodeType="afterEffect">
                                  <p:stCondLst>
                                    <p:cond delay="0"/>
                                  </p:stCondLst>
                                  <p:childTnLst>
                                    <p:set>
                                      <p:cBhvr>
                                        <p:cTn id="63" dur="1" fill="hold">
                                          <p:stCondLst>
                                            <p:cond delay="0"/>
                                          </p:stCondLst>
                                        </p:cTn>
                                        <p:tgtEl>
                                          <p:spTgt spid="39"/>
                                        </p:tgtEl>
                                        <p:attrNameLst>
                                          <p:attrName>style.visibility</p:attrName>
                                        </p:attrNameLst>
                                      </p:cBhvr>
                                      <p:to>
                                        <p:strVal val="hidden"/>
                                      </p:to>
                                    </p:set>
                                  </p:childTnLst>
                                </p:cTn>
                              </p:par>
                            </p:childTnLst>
                          </p:cTn>
                        </p:par>
                        <p:par>
                          <p:cTn id="64" fill="hold">
                            <p:stCondLst>
                              <p:cond delay="37510"/>
                            </p:stCondLst>
                            <p:childTnLst>
                              <p:par>
                                <p:cTn id="65" presetID="1" presetClass="entr" presetSubtype="0" fill="hold" nodeType="afterEffect">
                                  <p:stCondLst>
                                    <p:cond delay="500"/>
                                  </p:stCondLst>
                                  <p:childTnLst>
                                    <p:set>
                                      <p:cBhvr>
                                        <p:cTn id="66" dur="1" fill="hold">
                                          <p:stCondLst>
                                            <p:cond delay="0"/>
                                          </p:stCondLst>
                                        </p:cTn>
                                        <p:tgtEl>
                                          <p:spTgt spid="42"/>
                                        </p:tgtEl>
                                        <p:attrNameLst>
                                          <p:attrName>style.visibility</p:attrName>
                                        </p:attrNameLst>
                                      </p:cBhvr>
                                      <p:to>
                                        <p:strVal val="visible"/>
                                      </p:to>
                                    </p:set>
                                  </p:childTnLst>
                                </p:cTn>
                              </p:par>
                            </p:childTnLst>
                          </p:cTn>
                        </p:par>
                        <p:par>
                          <p:cTn id="67" fill="hold">
                            <p:stCondLst>
                              <p:cond delay="38010"/>
                            </p:stCondLst>
                            <p:childTnLst>
                              <p:par>
                                <p:cTn id="68" presetID="63" presetClass="path" presetSubtype="0" accel="50000" decel="50000" fill="hold" nodeType="afterEffect">
                                  <p:stCondLst>
                                    <p:cond delay="250"/>
                                  </p:stCondLst>
                                  <p:childTnLst>
                                    <p:animMotion origin="layout" path="M 5E-6 1.23457E-7 L 0.58021 -0.00062 " pathEditMode="relative" rAng="0" ptsTypes="AA">
                                      <p:cBhvr>
                                        <p:cTn id="69" dur="4000" fill="hold"/>
                                        <p:tgtEl>
                                          <p:spTgt spid="42"/>
                                        </p:tgtEl>
                                        <p:attrNameLst>
                                          <p:attrName>ppt_x</p:attrName>
                                          <p:attrName>ppt_y</p:attrName>
                                        </p:attrNameLst>
                                      </p:cBhvr>
                                      <p:rCtr x="29010" y="-31"/>
                                    </p:animMotion>
                                  </p:childTnLst>
                                </p:cTn>
                              </p:par>
                            </p:childTnLst>
                          </p:cTn>
                        </p:par>
                        <p:par>
                          <p:cTn id="70" fill="hold">
                            <p:stCondLst>
                              <p:cond delay="42260"/>
                            </p:stCondLst>
                            <p:childTnLst>
                              <p:par>
                                <p:cTn id="71" presetID="1" presetClass="entr" presetSubtype="0" fill="hold" nodeType="afterEffect">
                                  <p:stCondLst>
                                    <p:cond delay="0"/>
                                  </p:stCondLst>
                                  <p:childTnLst>
                                    <p:set>
                                      <p:cBhvr>
                                        <p:cTn id="72" dur="1" fill="hold">
                                          <p:stCondLst>
                                            <p:cond delay="0"/>
                                          </p:stCondLst>
                                        </p:cTn>
                                        <p:tgtEl>
                                          <p:spTgt spid="45"/>
                                        </p:tgtEl>
                                        <p:attrNameLst>
                                          <p:attrName>style.visibility</p:attrName>
                                        </p:attrNameLst>
                                      </p:cBhvr>
                                      <p:to>
                                        <p:strVal val="visible"/>
                                      </p:to>
                                    </p:set>
                                  </p:childTnLst>
                                </p:cTn>
                              </p:par>
                            </p:childTnLst>
                          </p:cTn>
                        </p:par>
                        <p:par>
                          <p:cTn id="73" fill="hold">
                            <p:stCondLst>
                              <p:cond delay="42260"/>
                            </p:stCondLst>
                            <p:childTnLst>
                              <p:par>
                                <p:cTn id="74" presetID="35" presetClass="path" presetSubtype="0" accel="50000" decel="50000" fill="hold" nodeType="afterEffect">
                                  <p:stCondLst>
                                    <p:cond delay="500"/>
                                  </p:stCondLst>
                                  <p:childTnLst>
                                    <p:animMotion origin="layout" path="M 4.72222E-6 4.69136E-6 L -0.58056 0.00432 " pathEditMode="relative" rAng="0" ptsTypes="AA">
                                      <p:cBhvr>
                                        <p:cTn id="75" dur="4000" fill="hold"/>
                                        <p:tgtEl>
                                          <p:spTgt spid="45"/>
                                        </p:tgtEl>
                                        <p:attrNameLst>
                                          <p:attrName>ppt_x</p:attrName>
                                          <p:attrName>ppt_y</p:attrName>
                                        </p:attrNameLst>
                                      </p:cBhvr>
                                      <p:rCtr x="-29028" y="216"/>
                                    </p:animMotion>
                                  </p:childTnLst>
                                </p:cTn>
                              </p:par>
                            </p:childTnLst>
                          </p:cTn>
                        </p:par>
                        <p:par>
                          <p:cTn id="76" fill="hold">
                            <p:stCondLst>
                              <p:cond delay="46760"/>
                            </p:stCondLst>
                            <p:childTnLst>
                              <p:par>
                                <p:cTn id="77" presetID="4" presetClass="entr" presetSubtype="32" fill="hold" grpId="0" nodeType="afterEffect">
                                  <p:stCondLst>
                                    <p:cond delay="0"/>
                                  </p:stCondLst>
                                  <p:childTnLst>
                                    <p:set>
                                      <p:cBhvr>
                                        <p:cTn id="78" dur="1" fill="hold">
                                          <p:stCondLst>
                                            <p:cond delay="0"/>
                                          </p:stCondLst>
                                        </p:cTn>
                                        <p:tgtEl>
                                          <p:spTgt spid="29"/>
                                        </p:tgtEl>
                                        <p:attrNameLst>
                                          <p:attrName>style.visibility</p:attrName>
                                        </p:attrNameLst>
                                      </p:cBhvr>
                                      <p:to>
                                        <p:strVal val="visible"/>
                                      </p:to>
                                    </p:set>
                                    <p:animEffect transition="in" filter="box(out)">
                                      <p:cBhvr>
                                        <p:cTn id="79" dur="1000"/>
                                        <p:tgtEl>
                                          <p:spTgt spid="29"/>
                                        </p:tgtEl>
                                      </p:cBhvr>
                                    </p:animEffect>
                                  </p:childTnLst>
                                </p:cTn>
                              </p:par>
                            </p:childTnLst>
                          </p:cTn>
                        </p:par>
                        <p:par>
                          <p:cTn id="80" fill="hold">
                            <p:stCondLst>
                              <p:cond delay="47760"/>
                            </p:stCondLst>
                            <p:childTnLst>
                              <p:par>
                                <p:cTn id="81" presetID="6" presetClass="emph" presetSubtype="0" fill="hold" grpId="1" nodeType="afterEffect">
                                  <p:stCondLst>
                                    <p:cond delay="0"/>
                                  </p:stCondLst>
                                  <p:childTnLst>
                                    <p:animScale>
                                      <p:cBhvr>
                                        <p:cTn id="82" dur="1000" fill="hold"/>
                                        <p:tgtEl>
                                          <p:spTgt spid="29"/>
                                        </p:tgtEl>
                                      </p:cBhvr>
                                      <p:by x="110000" y="110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9" grpId="0" animBg="1"/>
      <p:bldP spid="29" grpId="1" animBg="1"/>
    </p:bldLst>
  </p:timing>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7" name="组合 66">
            <a:extLst>
              <a:ext uri="{FF2B5EF4-FFF2-40B4-BE49-F238E27FC236}">
                <a16:creationId xmlns:a16="http://schemas.microsoft.com/office/drawing/2014/main" id="{0557EA87-F8CB-9BD3-E8AD-FB6481216614}"/>
              </a:ext>
            </a:extLst>
          </p:cNvPr>
          <p:cNvGrpSpPr/>
          <p:nvPr/>
        </p:nvGrpSpPr>
        <p:grpSpPr>
          <a:xfrm>
            <a:off x="1043704" y="2343787"/>
            <a:ext cx="1440000" cy="1404000"/>
            <a:chOff x="6301911" y="2448000"/>
            <a:chExt cx="1440000" cy="1404000"/>
          </a:xfrm>
          <a:solidFill>
            <a:srgbClr val="7CE07C"/>
          </a:solidFill>
        </p:grpSpPr>
        <p:sp>
          <p:nvSpPr>
            <p:cNvPr id="68" name="立方体 67">
              <a:extLst>
                <a:ext uri="{FF2B5EF4-FFF2-40B4-BE49-F238E27FC236}">
                  <a16:creationId xmlns:a16="http://schemas.microsoft.com/office/drawing/2014/main" id="{2CB69309-EA7A-E53F-429C-A3613BABD27E}"/>
                </a:ext>
              </a:extLst>
            </p:cNvPr>
            <p:cNvSpPr/>
            <p:nvPr/>
          </p:nvSpPr>
          <p:spPr>
            <a:xfrm>
              <a:off x="6301911" y="3420000"/>
              <a:ext cx="1440000" cy="432000"/>
            </a:xfrm>
            <a:prstGeom prst="cube">
              <a:avLst/>
            </a:prstGeom>
            <a:grpFill/>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200" dirty="0">
                  <a:solidFill>
                    <a:sysClr val="windowText" lastClr="000000"/>
                  </a:solidFill>
                </a:rPr>
                <a:t>1 </a:t>
              </a:r>
              <a:r>
                <a:rPr lang="zh-CN" altLang="en-US" sz="1200" dirty="0">
                  <a:solidFill>
                    <a:sysClr val="windowText" lastClr="000000"/>
                  </a:solidFill>
                </a:rPr>
                <a:t>网络接口层</a:t>
              </a:r>
            </a:p>
          </p:txBody>
        </p:sp>
        <p:sp>
          <p:nvSpPr>
            <p:cNvPr id="69" name="立方体 68">
              <a:extLst>
                <a:ext uri="{FF2B5EF4-FFF2-40B4-BE49-F238E27FC236}">
                  <a16:creationId xmlns:a16="http://schemas.microsoft.com/office/drawing/2014/main" id="{14B1B9DD-020A-AC3F-BE06-2B15807AFC60}"/>
                </a:ext>
              </a:extLst>
            </p:cNvPr>
            <p:cNvSpPr/>
            <p:nvPr/>
          </p:nvSpPr>
          <p:spPr>
            <a:xfrm>
              <a:off x="6301911" y="3096000"/>
              <a:ext cx="1440000" cy="432000"/>
            </a:xfrm>
            <a:prstGeom prst="cube">
              <a:avLst/>
            </a:prstGeom>
            <a:grpFill/>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200" dirty="0">
                  <a:solidFill>
                    <a:sysClr val="windowText" lastClr="000000"/>
                  </a:solidFill>
                </a:rPr>
                <a:t>2 </a:t>
              </a:r>
              <a:r>
                <a:rPr lang="zh-CN" altLang="en-US" sz="1200" dirty="0">
                  <a:solidFill>
                    <a:sysClr val="windowText" lastClr="000000"/>
                  </a:solidFill>
                </a:rPr>
                <a:t>网际层</a:t>
              </a:r>
            </a:p>
          </p:txBody>
        </p:sp>
        <p:sp>
          <p:nvSpPr>
            <p:cNvPr id="70" name="立方体 69">
              <a:extLst>
                <a:ext uri="{FF2B5EF4-FFF2-40B4-BE49-F238E27FC236}">
                  <a16:creationId xmlns:a16="http://schemas.microsoft.com/office/drawing/2014/main" id="{BA634E78-CCAF-9920-311D-CD960E182CA7}"/>
                </a:ext>
              </a:extLst>
            </p:cNvPr>
            <p:cNvSpPr/>
            <p:nvPr/>
          </p:nvSpPr>
          <p:spPr>
            <a:xfrm>
              <a:off x="6301911" y="2772000"/>
              <a:ext cx="1440000" cy="432000"/>
            </a:xfrm>
            <a:prstGeom prst="cube">
              <a:avLst/>
            </a:prstGeom>
            <a:grpFill/>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200" dirty="0">
                  <a:solidFill>
                    <a:sysClr val="windowText" lastClr="000000"/>
                  </a:solidFill>
                </a:rPr>
                <a:t>3 </a:t>
              </a:r>
              <a:r>
                <a:rPr lang="zh-CN" altLang="en-US" sz="1200" dirty="0">
                  <a:solidFill>
                    <a:sysClr val="windowText" lastClr="000000"/>
                  </a:solidFill>
                </a:rPr>
                <a:t>运输层</a:t>
              </a:r>
            </a:p>
          </p:txBody>
        </p:sp>
        <p:sp>
          <p:nvSpPr>
            <p:cNvPr id="71" name="立方体 70">
              <a:extLst>
                <a:ext uri="{FF2B5EF4-FFF2-40B4-BE49-F238E27FC236}">
                  <a16:creationId xmlns:a16="http://schemas.microsoft.com/office/drawing/2014/main" id="{ADE0C2FB-7B1F-282A-D124-87499BE09365}"/>
                </a:ext>
              </a:extLst>
            </p:cNvPr>
            <p:cNvSpPr/>
            <p:nvPr/>
          </p:nvSpPr>
          <p:spPr>
            <a:xfrm>
              <a:off x="6301911" y="2448000"/>
              <a:ext cx="1440000" cy="432000"/>
            </a:xfrm>
            <a:prstGeom prst="cube">
              <a:avLst/>
            </a:prstGeom>
            <a:grpFill/>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200" dirty="0">
                  <a:solidFill>
                    <a:sysClr val="windowText" lastClr="000000"/>
                  </a:solidFill>
                </a:rPr>
                <a:t>4 </a:t>
              </a:r>
              <a:r>
                <a:rPr lang="zh-CN" altLang="en-US" sz="1200" dirty="0">
                  <a:solidFill>
                    <a:sysClr val="windowText" lastClr="000000"/>
                  </a:solidFill>
                </a:rPr>
                <a:t>应用层</a:t>
              </a:r>
            </a:p>
          </p:txBody>
        </p:sp>
      </p:grpSp>
      <p:graphicFrame>
        <p:nvGraphicFramePr>
          <p:cNvPr id="5" name="Object 2"/>
          <p:cNvGraphicFramePr>
            <a:graphicFrameLocks noChangeAspect="1"/>
          </p:cNvGraphicFramePr>
          <p:nvPr>
            <p:extLst>
              <p:ext uri="{D42A27DB-BD31-4B8C-83A1-F6EECF244321}">
                <p14:modId xmlns:p14="http://schemas.microsoft.com/office/powerpoint/2010/main" val="3147707979"/>
              </p:ext>
            </p:extLst>
          </p:nvPr>
        </p:nvGraphicFramePr>
        <p:xfrm>
          <a:off x="2331306" y="3661121"/>
          <a:ext cx="1400946" cy="688943"/>
        </p:xfrm>
        <a:graphic>
          <a:graphicData uri="http://schemas.openxmlformats.org/presentationml/2006/ole">
            <mc:AlternateContent xmlns:mc="http://schemas.openxmlformats.org/markup-compatibility/2006">
              <mc:Choice xmlns:v="urn:schemas-microsoft-com:vml" Requires="v">
                <p:oleObj name="VISIO" r:id="rId2" imgW="1687068" imgH="964692" progId="">
                  <p:embed/>
                </p:oleObj>
              </mc:Choice>
              <mc:Fallback>
                <p:oleObj name="VISIO" r:id="rId2" imgW="1687068" imgH="964692" progId="">
                  <p:embed/>
                  <p:pic>
                    <p:nvPicPr>
                      <p:cNvPr id="0" name="Picture 54"/>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331306" y="3661121"/>
                        <a:ext cx="1400946" cy="688943"/>
                      </a:xfrm>
                      <a:prstGeom prst="rect">
                        <a:avLst/>
                      </a:prstGeom>
                      <a:noFill/>
                      <a:effectLst>
                        <a:outerShdw dist="25400" dir="5400000" algn="ctr" rotWithShape="0">
                          <a:srgbClr val="EEECE1"/>
                        </a:outerShdw>
                      </a:effectLst>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6" name="Object 3"/>
          <p:cNvGraphicFramePr>
            <a:graphicFrameLocks noChangeAspect="1"/>
          </p:cNvGraphicFramePr>
          <p:nvPr>
            <p:extLst>
              <p:ext uri="{D42A27DB-BD31-4B8C-83A1-F6EECF244321}">
                <p14:modId xmlns:p14="http://schemas.microsoft.com/office/powerpoint/2010/main" val="4192345011"/>
              </p:ext>
            </p:extLst>
          </p:nvPr>
        </p:nvGraphicFramePr>
        <p:xfrm>
          <a:off x="4979732" y="3637093"/>
          <a:ext cx="1402319" cy="688943"/>
        </p:xfrm>
        <a:graphic>
          <a:graphicData uri="http://schemas.openxmlformats.org/presentationml/2006/ole">
            <mc:AlternateContent xmlns:mc="http://schemas.openxmlformats.org/markup-compatibility/2006">
              <mc:Choice xmlns:v="urn:schemas-microsoft-com:vml" Requires="v">
                <p:oleObj name="VISIO" r:id="rId2" imgW="1687068" imgH="964692" progId="">
                  <p:embed/>
                </p:oleObj>
              </mc:Choice>
              <mc:Fallback>
                <p:oleObj name="VISIO" r:id="rId2" imgW="1687068" imgH="964692" progId="">
                  <p:embed/>
                  <p:pic>
                    <p:nvPicPr>
                      <p:cNvPr id="0" name="Picture 55"/>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979732" y="3637093"/>
                        <a:ext cx="1402319" cy="688943"/>
                      </a:xfrm>
                      <a:prstGeom prst="rect">
                        <a:avLst/>
                      </a:prstGeom>
                      <a:noFill/>
                      <a:effectLst>
                        <a:outerShdw dist="25400" dir="5400000" algn="ctr" rotWithShape="0">
                          <a:srgbClr val="EEECE1"/>
                        </a:outerShdw>
                      </a:effectLst>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21" name="Text Box 19"/>
          <p:cNvSpPr txBox="1">
            <a:spLocks noChangeArrowheads="1"/>
          </p:cNvSpPr>
          <p:nvPr/>
        </p:nvSpPr>
        <p:spPr bwMode="auto">
          <a:xfrm>
            <a:off x="5327310" y="3825189"/>
            <a:ext cx="620683"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lang="zh-CN" altLang="en-US" sz="1200" dirty="0">
                <a:latin typeface="+mj-lt"/>
                <a:ea typeface="+mj-ea"/>
              </a:rPr>
              <a:t>网络 </a:t>
            </a:r>
            <a:r>
              <a:rPr lang="en-US" altLang="zh-CN" sz="1200" dirty="0">
                <a:latin typeface="+mj-lt"/>
                <a:ea typeface="+mj-ea"/>
              </a:rPr>
              <a:t>2</a:t>
            </a:r>
          </a:p>
        </p:txBody>
      </p:sp>
      <p:sp>
        <p:nvSpPr>
          <p:cNvPr id="22" name="Text Box 20"/>
          <p:cNvSpPr txBox="1">
            <a:spLocks noChangeArrowheads="1"/>
          </p:cNvSpPr>
          <p:nvPr/>
        </p:nvSpPr>
        <p:spPr bwMode="auto">
          <a:xfrm>
            <a:off x="2698149" y="3853980"/>
            <a:ext cx="606256"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lang="zh-CN" altLang="en-US" sz="1200" dirty="0">
                <a:latin typeface="+mj-lt"/>
                <a:ea typeface="+mj-ea"/>
              </a:rPr>
              <a:t>网络 </a:t>
            </a:r>
            <a:r>
              <a:rPr lang="en-US" altLang="zh-CN" sz="1200" dirty="0">
                <a:latin typeface="+mj-lt"/>
                <a:ea typeface="+mj-ea"/>
              </a:rPr>
              <a:t>1</a:t>
            </a:r>
          </a:p>
        </p:txBody>
      </p:sp>
      <p:sp>
        <p:nvSpPr>
          <p:cNvPr id="23" name="Line 21"/>
          <p:cNvSpPr>
            <a:spLocks noChangeShapeType="1"/>
          </p:cNvSpPr>
          <p:nvPr/>
        </p:nvSpPr>
        <p:spPr bwMode="auto">
          <a:xfrm>
            <a:off x="1898735" y="3738261"/>
            <a:ext cx="762686" cy="265113"/>
          </a:xfrm>
          <a:prstGeom prst="line">
            <a:avLst/>
          </a:prstGeom>
          <a:noFill/>
          <a:ln w="28575">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24" name="Line 22"/>
          <p:cNvSpPr>
            <a:spLocks noChangeShapeType="1"/>
          </p:cNvSpPr>
          <p:nvPr/>
        </p:nvSpPr>
        <p:spPr bwMode="auto">
          <a:xfrm flipH="1">
            <a:off x="3534186" y="3745800"/>
            <a:ext cx="493964" cy="260007"/>
          </a:xfrm>
          <a:prstGeom prst="line">
            <a:avLst/>
          </a:prstGeom>
          <a:noFill/>
          <a:ln w="28575">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25" name="Line 23"/>
          <p:cNvSpPr>
            <a:spLocks noChangeShapeType="1"/>
          </p:cNvSpPr>
          <p:nvPr/>
        </p:nvSpPr>
        <p:spPr bwMode="auto">
          <a:xfrm>
            <a:off x="4634406" y="3738262"/>
            <a:ext cx="602188" cy="260486"/>
          </a:xfrm>
          <a:prstGeom prst="line">
            <a:avLst/>
          </a:prstGeom>
          <a:noFill/>
          <a:ln w="28575">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26" name="Line 24"/>
          <p:cNvSpPr>
            <a:spLocks noChangeShapeType="1"/>
          </p:cNvSpPr>
          <p:nvPr/>
        </p:nvSpPr>
        <p:spPr bwMode="auto">
          <a:xfrm flipH="1">
            <a:off x="6035746" y="3739849"/>
            <a:ext cx="696842" cy="265957"/>
          </a:xfrm>
          <a:prstGeom prst="line">
            <a:avLst/>
          </a:prstGeom>
          <a:noFill/>
          <a:ln w="28575">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30" name="矩形 30"/>
          <p:cNvSpPr>
            <a:spLocks noChangeArrowheads="1"/>
          </p:cNvSpPr>
          <p:nvPr/>
        </p:nvSpPr>
        <p:spPr bwMode="auto">
          <a:xfrm>
            <a:off x="3246438" y="1768040"/>
            <a:ext cx="2651125" cy="369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p>
            <a:pPr algn="ctr"/>
            <a:r>
              <a:rPr lang="en-US" altLang="zh-CN" b="1" dirty="0">
                <a:solidFill>
                  <a:srgbClr val="0000FF"/>
                </a:solidFill>
                <a:latin typeface="微软雅黑" panose="020B0503020204020204" pitchFamily="34" charset="-122"/>
                <a:ea typeface="微软雅黑" panose="020B0503020204020204" pitchFamily="34" charset="-122"/>
              </a:rPr>
              <a:t>TCP/IP </a:t>
            </a:r>
            <a:r>
              <a:rPr lang="zh-CN" altLang="en-US" b="1" dirty="0">
                <a:solidFill>
                  <a:srgbClr val="0000FF"/>
                </a:solidFill>
                <a:latin typeface="微软雅黑" panose="020B0503020204020204" pitchFamily="34" charset="-122"/>
                <a:ea typeface="微软雅黑" panose="020B0503020204020204" pitchFamily="34" charset="-122"/>
              </a:rPr>
              <a:t>是四层体系结构</a:t>
            </a:r>
          </a:p>
        </p:txBody>
      </p:sp>
      <p:sp>
        <p:nvSpPr>
          <p:cNvPr id="31" name="矩形 31"/>
          <p:cNvSpPr>
            <a:spLocks noChangeArrowheads="1"/>
          </p:cNvSpPr>
          <p:nvPr/>
        </p:nvSpPr>
        <p:spPr bwMode="auto">
          <a:xfrm>
            <a:off x="1484313" y="4330400"/>
            <a:ext cx="5949950"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pPr algn="ctr"/>
            <a:r>
              <a:rPr lang="zh-CN" altLang="en-US" sz="1400" b="1" dirty="0">
                <a:solidFill>
                  <a:srgbClr val="000066"/>
                </a:solidFill>
                <a:latin typeface="微软雅黑" panose="020B0503020204020204" pitchFamily="34" charset="-122"/>
                <a:ea typeface="微软雅黑" panose="020B0503020204020204" pitchFamily="34" charset="-122"/>
              </a:rPr>
              <a:t>路由器在转发分组时</a:t>
            </a:r>
            <a:r>
              <a:rPr lang="zh-CN" altLang="en-US" sz="1400" b="1" dirty="0">
                <a:solidFill>
                  <a:srgbClr val="C00000"/>
                </a:solidFill>
                <a:latin typeface="微软雅黑" panose="020B0503020204020204" pitchFamily="34" charset="-122"/>
                <a:ea typeface="微软雅黑" panose="020B0503020204020204" pitchFamily="34" charset="-122"/>
              </a:rPr>
              <a:t>最高</a:t>
            </a:r>
            <a:r>
              <a:rPr lang="zh-CN" altLang="en-US" sz="1400" b="1" dirty="0">
                <a:solidFill>
                  <a:srgbClr val="000066"/>
                </a:solidFill>
                <a:latin typeface="微软雅黑" panose="020B0503020204020204" pitchFamily="34" charset="-122"/>
                <a:ea typeface="微软雅黑" panose="020B0503020204020204" pitchFamily="34" charset="-122"/>
              </a:rPr>
              <a:t>只用到</a:t>
            </a:r>
            <a:r>
              <a:rPr lang="zh-CN" altLang="en-US" sz="1400" b="1" dirty="0">
                <a:solidFill>
                  <a:srgbClr val="C00000"/>
                </a:solidFill>
                <a:latin typeface="微软雅黑" panose="020B0503020204020204" pitchFamily="34" charset="-122"/>
                <a:ea typeface="微软雅黑" panose="020B0503020204020204" pitchFamily="34" charset="-122"/>
              </a:rPr>
              <a:t>网际层，</a:t>
            </a:r>
            <a:r>
              <a:rPr lang="zh-CN" altLang="en-US" sz="1400" b="1" dirty="0">
                <a:solidFill>
                  <a:srgbClr val="000066"/>
                </a:solidFill>
                <a:latin typeface="微软雅黑" panose="020B0503020204020204" pitchFamily="34" charset="-122"/>
                <a:ea typeface="微软雅黑" panose="020B0503020204020204" pitchFamily="34" charset="-122"/>
              </a:rPr>
              <a:t>没有使用运输层和应用层</a:t>
            </a:r>
          </a:p>
        </p:txBody>
      </p:sp>
      <p:sp>
        <p:nvSpPr>
          <p:cNvPr id="32" name="Text Box 29"/>
          <p:cNvSpPr txBox="1">
            <a:spLocks noChangeArrowheads="1"/>
          </p:cNvSpPr>
          <p:nvPr/>
        </p:nvSpPr>
        <p:spPr bwMode="auto">
          <a:xfrm>
            <a:off x="1425547" y="1075100"/>
            <a:ext cx="64312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lang="zh-CN" altLang="en-US" sz="1200" dirty="0">
                <a:latin typeface="+mj-lt"/>
                <a:ea typeface="+mj-ea"/>
              </a:rPr>
              <a:t>主机 </a:t>
            </a:r>
            <a:r>
              <a:rPr lang="en-US" altLang="zh-CN" sz="1200" dirty="0">
                <a:latin typeface="+mj-lt"/>
                <a:ea typeface="+mj-ea"/>
              </a:rPr>
              <a:t>A</a:t>
            </a:r>
          </a:p>
        </p:txBody>
      </p:sp>
      <p:sp>
        <p:nvSpPr>
          <p:cNvPr id="33" name="Text Box 29"/>
          <p:cNvSpPr txBox="1">
            <a:spLocks noChangeArrowheads="1"/>
          </p:cNvSpPr>
          <p:nvPr/>
        </p:nvSpPr>
        <p:spPr bwMode="auto">
          <a:xfrm>
            <a:off x="6898593" y="1075100"/>
            <a:ext cx="64793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lang="zh-CN" altLang="en-US" sz="1200" dirty="0">
                <a:latin typeface="+mj-lt"/>
                <a:ea typeface="+mj-ea"/>
              </a:rPr>
              <a:t>主机 </a:t>
            </a:r>
            <a:r>
              <a:rPr lang="en-US" altLang="zh-CN" sz="1200" dirty="0">
                <a:latin typeface="+mj-lt"/>
                <a:ea typeface="+mj-ea"/>
              </a:rPr>
              <a:t>B</a:t>
            </a:r>
          </a:p>
        </p:txBody>
      </p:sp>
      <p:sp>
        <p:nvSpPr>
          <p:cNvPr id="34" name="Text Box 29"/>
          <p:cNvSpPr txBox="1">
            <a:spLocks noChangeArrowheads="1"/>
          </p:cNvSpPr>
          <p:nvPr/>
        </p:nvSpPr>
        <p:spPr bwMode="auto">
          <a:xfrm>
            <a:off x="4086071" y="107510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lg"/>
                <a:tailEnd type="none" w="sm" len="lg"/>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defTabSz="762000">
              <a:defRPr>
                <a:solidFill>
                  <a:schemeClr val="tx1"/>
                </a:solidFill>
                <a:latin typeface="Calibri" panose="020F0502020204030204" pitchFamily="34" charset="0"/>
                <a:ea typeface="宋体" panose="02010600030101010101" pitchFamily="2" charset="-122"/>
              </a:defRPr>
            </a:lvl1pPr>
            <a:lvl2pPr marL="742950" indent="-285750" defTabSz="762000">
              <a:defRPr>
                <a:solidFill>
                  <a:schemeClr val="tx1"/>
                </a:solidFill>
                <a:latin typeface="Calibri" panose="020F0502020204030204" pitchFamily="34" charset="0"/>
                <a:ea typeface="宋体" panose="02010600030101010101" pitchFamily="2" charset="-122"/>
              </a:defRPr>
            </a:lvl2pPr>
            <a:lvl3pPr marL="1143000" indent="-228600" defTabSz="762000">
              <a:defRPr>
                <a:solidFill>
                  <a:schemeClr val="tx1"/>
                </a:solidFill>
                <a:latin typeface="Calibri" panose="020F0502020204030204" pitchFamily="34" charset="0"/>
                <a:ea typeface="宋体" panose="02010600030101010101" pitchFamily="2" charset="-122"/>
              </a:defRPr>
            </a:lvl3pPr>
            <a:lvl4pPr marL="1600200" indent="-228600" defTabSz="762000">
              <a:defRPr>
                <a:solidFill>
                  <a:schemeClr val="tx1"/>
                </a:solidFill>
                <a:latin typeface="Calibri" panose="020F0502020204030204" pitchFamily="34" charset="0"/>
                <a:ea typeface="宋体" panose="02010600030101010101" pitchFamily="2" charset="-122"/>
              </a:defRPr>
            </a:lvl4pPr>
            <a:lvl5pPr marL="2057400" indent="-228600" defTabSz="762000">
              <a:defRPr>
                <a:solidFill>
                  <a:schemeClr val="tx1"/>
                </a:solidFill>
                <a:latin typeface="Calibri" panose="020F0502020204030204" pitchFamily="34" charset="0"/>
                <a:ea typeface="宋体" panose="02010600030101010101" pitchFamily="2" charset="-122"/>
              </a:defRPr>
            </a:lvl5pPr>
            <a:lvl6pPr marL="25146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defTabSz="7620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hangingPunct="0"/>
            <a:r>
              <a:rPr lang="zh-CN" altLang="en-US" sz="1200" dirty="0">
                <a:latin typeface="+mj-lt"/>
                <a:ea typeface="+mj-ea"/>
              </a:rPr>
              <a:t>路由器</a:t>
            </a:r>
            <a:endParaRPr lang="en-US" altLang="zh-CN" sz="1200" dirty="0">
              <a:latin typeface="+mj-lt"/>
              <a:ea typeface="+mj-ea"/>
            </a:endParaRPr>
          </a:p>
        </p:txBody>
      </p:sp>
      <p:cxnSp>
        <p:nvCxnSpPr>
          <p:cNvPr id="35" name="直接连接符 34"/>
          <p:cNvCxnSpPr/>
          <p:nvPr/>
        </p:nvCxnSpPr>
        <p:spPr>
          <a:xfrm>
            <a:off x="1703983" y="1507958"/>
            <a:ext cx="5553552" cy="0"/>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pic>
        <p:nvPicPr>
          <p:cNvPr id="36" name="Picture 246" descr="jisuanji"/>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7008858" y="1312469"/>
            <a:ext cx="410222"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7" name="Picture 246" descr="jisuanji"/>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498872" y="1312469"/>
            <a:ext cx="410223" cy="4103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8" name="Picture 43"/>
          <p:cNvPicPr>
            <a:picLocks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4179983" y="1385466"/>
            <a:ext cx="454438" cy="2643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50" name="组合 49"/>
          <p:cNvGrpSpPr/>
          <p:nvPr/>
        </p:nvGrpSpPr>
        <p:grpSpPr>
          <a:xfrm>
            <a:off x="2519141" y="1250953"/>
            <a:ext cx="977660" cy="448910"/>
            <a:chOff x="2461478" y="1292143"/>
            <a:chExt cx="977660" cy="448910"/>
          </a:xfrm>
        </p:grpSpPr>
        <p:grpSp>
          <p:nvGrpSpPr>
            <p:cNvPr id="39" name="Group 17"/>
            <p:cNvGrpSpPr/>
            <p:nvPr/>
          </p:nvGrpSpPr>
          <p:grpSpPr bwMode="auto">
            <a:xfrm>
              <a:off x="2461478" y="1292143"/>
              <a:ext cx="977660" cy="448910"/>
              <a:chOff x="1680" y="240"/>
              <a:chExt cx="2529" cy="1270"/>
            </a:xfrm>
            <a:solidFill>
              <a:schemeClr val="bg1"/>
            </a:solidFill>
          </p:grpSpPr>
          <p:sp>
            <p:nvSpPr>
              <p:cNvPr id="40" name="Oval 18"/>
              <p:cNvSpPr>
                <a:spLocks noChangeArrowheads="1"/>
              </p:cNvSpPr>
              <p:nvPr/>
            </p:nvSpPr>
            <p:spPr bwMode="auto">
              <a:xfrm>
                <a:off x="2554" y="240"/>
                <a:ext cx="1088" cy="513"/>
              </a:xfrm>
              <a:prstGeom prst="ellipse">
                <a:avLst/>
              </a:prstGeom>
              <a:grpFill/>
              <a:ln w="9525">
                <a:solidFill>
                  <a:srgbClr val="000000"/>
                </a:solidFill>
                <a:rou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400" b="1" dirty="0">
                  <a:solidFill>
                    <a:srgbClr val="368AD6"/>
                  </a:solidFill>
                  <a:latin typeface="+mn-lt"/>
                  <a:ea typeface="微软雅黑 Light" panose="020B0502040204020203" pitchFamily="34" charset="-122"/>
                </a:endParaRPr>
              </a:p>
            </p:txBody>
          </p:sp>
          <p:sp>
            <p:nvSpPr>
              <p:cNvPr id="41" name="Oval 19"/>
              <p:cNvSpPr>
                <a:spLocks noChangeArrowheads="1"/>
              </p:cNvSpPr>
              <p:nvPr/>
            </p:nvSpPr>
            <p:spPr bwMode="auto">
              <a:xfrm>
                <a:off x="1941" y="381"/>
                <a:ext cx="827" cy="513"/>
              </a:xfrm>
              <a:prstGeom prst="ellipse">
                <a:avLst/>
              </a:prstGeom>
              <a:grpFill/>
              <a:ln w="9525">
                <a:solidFill>
                  <a:srgbClr val="000000"/>
                </a:solidFill>
                <a:rou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400" b="1" dirty="0">
                  <a:solidFill>
                    <a:srgbClr val="368AD6"/>
                  </a:solidFill>
                  <a:latin typeface="+mn-lt"/>
                  <a:ea typeface="微软雅黑 Light" panose="020B0502040204020203" pitchFamily="34" charset="-122"/>
                </a:endParaRPr>
              </a:p>
            </p:txBody>
          </p:sp>
          <p:sp>
            <p:nvSpPr>
              <p:cNvPr id="42" name="Oval 20"/>
              <p:cNvSpPr>
                <a:spLocks noChangeArrowheads="1"/>
              </p:cNvSpPr>
              <p:nvPr/>
            </p:nvSpPr>
            <p:spPr bwMode="auto">
              <a:xfrm>
                <a:off x="1680" y="702"/>
                <a:ext cx="552" cy="411"/>
              </a:xfrm>
              <a:prstGeom prst="ellipse">
                <a:avLst/>
              </a:prstGeom>
              <a:grpFill/>
              <a:ln w="9525">
                <a:solidFill>
                  <a:srgbClr val="000000"/>
                </a:solidFill>
                <a:rou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400" b="1" dirty="0">
                  <a:solidFill>
                    <a:srgbClr val="368AD6"/>
                  </a:solidFill>
                  <a:latin typeface="+mn-lt"/>
                  <a:ea typeface="微软雅黑 Light" panose="020B0502040204020203" pitchFamily="34" charset="-122"/>
                </a:endParaRPr>
              </a:p>
            </p:txBody>
          </p:sp>
          <p:sp>
            <p:nvSpPr>
              <p:cNvPr id="43" name="Oval 21"/>
              <p:cNvSpPr>
                <a:spLocks noChangeArrowheads="1"/>
              </p:cNvSpPr>
              <p:nvPr/>
            </p:nvSpPr>
            <p:spPr bwMode="auto">
              <a:xfrm>
                <a:off x="1849" y="894"/>
                <a:ext cx="842" cy="450"/>
              </a:xfrm>
              <a:prstGeom prst="ellipse">
                <a:avLst/>
              </a:prstGeom>
              <a:grpFill/>
              <a:ln w="9525">
                <a:solidFill>
                  <a:srgbClr val="000000"/>
                </a:solidFill>
                <a:rou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400" b="1" dirty="0">
                  <a:solidFill>
                    <a:srgbClr val="368AD6"/>
                  </a:solidFill>
                  <a:latin typeface="+mn-lt"/>
                  <a:ea typeface="微软雅黑 Light" panose="020B0502040204020203" pitchFamily="34" charset="-122"/>
                </a:endParaRPr>
              </a:p>
            </p:txBody>
          </p:sp>
          <p:sp>
            <p:nvSpPr>
              <p:cNvPr id="44" name="Oval 22"/>
              <p:cNvSpPr>
                <a:spLocks noChangeArrowheads="1"/>
              </p:cNvSpPr>
              <p:nvPr/>
            </p:nvSpPr>
            <p:spPr bwMode="auto">
              <a:xfrm>
                <a:off x="2462" y="971"/>
                <a:ext cx="1272" cy="539"/>
              </a:xfrm>
              <a:prstGeom prst="ellipse">
                <a:avLst/>
              </a:prstGeom>
              <a:grpFill/>
              <a:ln w="9525">
                <a:solidFill>
                  <a:srgbClr val="000000"/>
                </a:solidFill>
                <a:rou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400" b="1" dirty="0">
                  <a:solidFill>
                    <a:srgbClr val="368AD6"/>
                  </a:solidFill>
                  <a:latin typeface="+mn-lt"/>
                  <a:ea typeface="微软雅黑 Light" panose="020B0502040204020203" pitchFamily="34" charset="-122"/>
                </a:endParaRPr>
              </a:p>
            </p:txBody>
          </p:sp>
          <p:sp>
            <p:nvSpPr>
              <p:cNvPr id="45" name="Oval 23"/>
              <p:cNvSpPr>
                <a:spLocks noChangeArrowheads="1"/>
              </p:cNvSpPr>
              <p:nvPr/>
            </p:nvSpPr>
            <p:spPr bwMode="auto">
              <a:xfrm>
                <a:off x="3289" y="394"/>
                <a:ext cx="797" cy="398"/>
              </a:xfrm>
              <a:prstGeom prst="ellipse">
                <a:avLst/>
              </a:prstGeom>
              <a:grpFill/>
              <a:ln w="9525">
                <a:solidFill>
                  <a:srgbClr val="000000"/>
                </a:solidFill>
                <a:rou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400" b="1" dirty="0">
                  <a:solidFill>
                    <a:srgbClr val="368AD6"/>
                  </a:solidFill>
                  <a:latin typeface="+mn-lt"/>
                  <a:ea typeface="微软雅黑 Light" panose="020B0502040204020203" pitchFamily="34" charset="-122"/>
                </a:endParaRPr>
              </a:p>
            </p:txBody>
          </p:sp>
          <p:sp>
            <p:nvSpPr>
              <p:cNvPr id="46" name="Oval 24"/>
              <p:cNvSpPr>
                <a:spLocks noChangeArrowheads="1"/>
              </p:cNvSpPr>
              <p:nvPr/>
            </p:nvSpPr>
            <p:spPr bwMode="auto">
              <a:xfrm>
                <a:off x="3412" y="663"/>
                <a:ext cx="797" cy="398"/>
              </a:xfrm>
              <a:prstGeom prst="ellipse">
                <a:avLst/>
              </a:prstGeom>
              <a:grpFill/>
              <a:ln w="9525">
                <a:solidFill>
                  <a:srgbClr val="000000"/>
                </a:solidFill>
                <a:rou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400" b="1" dirty="0">
                  <a:solidFill>
                    <a:srgbClr val="368AD6"/>
                  </a:solidFill>
                  <a:latin typeface="+mn-lt"/>
                  <a:ea typeface="微软雅黑 Light" panose="020B0502040204020203" pitchFamily="34" charset="-122"/>
                </a:endParaRPr>
              </a:p>
            </p:txBody>
          </p:sp>
          <p:sp>
            <p:nvSpPr>
              <p:cNvPr id="47" name="Oval 25"/>
              <p:cNvSpPr>
                <a:spLocks noChangeArrowheads="1"/>
              </p:cNvSpPr>
              <p:nvPr/>
            </p:nvSpPr>
            <p:spPr bwMode="auto">
              <a:xfrm>
                <a:off x="3335" y="753"/>
                <a:ext cx="797" cy="668"/>
              </a:xfrm>
              <a:prstGeom prst="ellipse">
                <a:avLst/>
              </a:prstGeom>
              <a:grpFill/>
              <a:ln w="9525">
                <a:solidFill>
                  <a:srgbClr val="000000"/>
                </a:solidFill>
                <a:rou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400" b="1" dirty="0">
                  <a:solidFill>
                    <a:srgbClr val="368AD6"/>
                  </a:solidFill>
                  <a:latin typeface="+mn-lt"/>
                  <a:ea typeface="微软雅黑 Light" panose="020B0502040204020203" pitchFamily="34" charset="-122"/>
                </a:endParaRPr>
              </a:p>
            </p:txBody>
          </p:sp>
          <p:sp>
            <p:nvSpPr>
              <p:cNvPr id="48" name="Oval 26"/>
              <p:cNvSpPr>
                <a:spLocks noChangeArrowheads="1"/>
              </p:cNvSpPr>
              <p:nvPr/>
            </p:nvSpPr>
            <p:spPr bwMode="auto">
              <a:xfrm>
                <a:off x="2006" y="446"/>
                <a:ext cx="1916" cy="865"/>
              </a:xfrm>
              <a:prstGeom prst="ellipse">
                <a:avLst/>
              </a:prstGeom>
              <a:grpFill/>
              <a:ln w="9525">
                <a:noFill/>
                <a:rou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400" b="1" dirty="0">
                  <a:solidFill>
                    <a:srgbClr val="368AD6"/>
                  </a:solidFill>
                  <a:latin typeface="+mn-lt"/>
                  <a:ea typeface="微软雅黑 Light" panose="020B0502040204020203" pitchFamily="34" charset="-122"/>
                </a:endParaRPr>
              </a:p>
            </p:txBody>
          </p:sp>
        </p:grpSp>
        <p:sp>
          <p:nvSpPr>
            <p:cNvPr id="49" name="文本框 48"/>
            <p:cNvSpPr txBox="1"/>
            <p:nvPr/>
          </p:nvSpPr>
          <p:spPr>
            <a:xfrm>
              <a:off x="2702534" y="1377137"/>
              <a:ext cx="588623" cy="276999"/>
            </a:xfrm>
            <a:prstGeom prst="rect">
              <a:avLst/>
            </a:prstGeom>
            <a:noFill/>
          </p:spPr>
          <p:txBody>
            <a:bodyPr wrap="none" rtlCol="0">
              <a:spAutoFit/>
            </a:bodyPr>
            <a:lstStyle/>
            <a:p>
              <a:pPr algn="ctr"/>
              <a:r>
                <a:rPr lang="zh-CN" altLang="en-US" sz="1200" dirty="0"/>
                <a:t>网络 </a:t>
              </a:r>
              <a:r>
                <a:rPr lang="en-US" altLang="zh-CN" sz="1200" dirty="0"/>
                <a:t>1</a:t>
              </a:r>
              <a:endParaRPr lang="zh-CN" altLang="en-US" sz="1200" dirty="0"/>
            </a:p>
          </p:txBody>
        </p:sp>
      </p:grpSp>
      <p:grpSp>
        <p:nvGrpSpPr>
          <p:cNvPr id="51" name="组合 50"/>
          <p:cNvGrpSpPr/>
          <p:nvPr/>
        </p:nvGrpSpPr>
        <p:grpSpPr>
          <a:xfrm>
            <a:off x="5244462" y="1250953"/>
            <a:ext cx="977660" cy="448910"/>
            <a:chOff x="2461478" y="1292143"/>
            <a:chExt cx="977660" cy="448910"/>
          </a:xfrm>
        </p:grpSpPr>
        <p:grpSp>
          <p:nvGrpSpPr>
            <p:cNvPr id="52" name="Group 17"/>
            <p:cNvGrpSpPr/>
            <p:nvPr/>
          </p:nvGrpSpPr>
          <p:grpSpPr bwMode="auto">
            <a:xfrm>
              <a:off x="2461478" y="1292143"/>
              <a:ext cx="977660" cy="448910"/>
              <a:chOff x="1680" y="240"/>
              <a:chExt cx="2529" cy="1270"/>
            </a:xfrm>
            <a:solidFill>
              <a:schemeClr val="bg1"/>
            </a:solidFill>
          </p:grpSpPr>
          <p:sp>
            <p:nvSpPr>
              <p:cNvPr id="54" name="Oval 18"/>
              <p:cNvSpPr>
                <a:spLocks noChangeArrowheads="1"/>
              </p:cNvSpPr>
              <p:nvPr/>
            </p:nvSpPr>
            <p:spPr bwMode="auto">
              <a:xfrm>
                <a:off x="2554" y="240"/>
                <a:ext cx="1088" cy="513"/>
              </a:xfrm>
              <a:prstGeom prst="ellipse">
                <a:avLst/>
              </a:prstGeom>
              <a:grpFill/>
              <a:ln w="9525">
                <a:solidFill>
                  <a:srgbClr val="000000"/>
                </a:solidFill>
                <a:rou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400" b="1" dirty="0">
                  <a:solidFill>
                    <a:srgbClr val="368AD6"/>
                  </a:solidFill>
                  <a:latin typeface="+mn-lt"/>
                  <a:ea typeface="微软雅黑 Light" panose="020B0502040204020203" pitchFamily="34" charset="-122"/>
                </a:endParaRPr>
              </a:p>
            </p:txBody>
          </p:sp>
          <p:sp>
            <p:nvSpPr>
              <p:cNvPr id="55" name="Oval 19"/>
              <p:cNvSpPr>
                <a:spLocks noChangeArrowheads="1"/>
              </p:cNvSpPr>
              <p:nvPr/>
            </p:nvSpPr>
            <p:spPr bwMode="auto">
              <a:xfrm>
                <a:off x="1941" y="381"/>
                <a:ext cx="827" cy="513"/>
              </a:xfrm>
              <a:prstGeom prst="ellipse">
                <a:avLst/>
              </a:prstGeom>
              <a:grpFill/>
              <a:ln w="9525">
                <a:solidFill>
                  <a:srgbClr val="000000"/>
                </a:solidFill>
                <a:rou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400" b="1" dirty="0">
                  <a:solidFill>
                    <a:srgbClr val="368AD6"/>
                  </a:solidFill>
                  <a:latin typeface="+mn-lt"/>
                  <a:ea typeface="微软雅黑 Light" panose="020B0502040204020203" pitchFamily="34" charset="-122"/>
                </a:endParaRPr>
              </a:p>
            </p:txBody>
          </p:sp>
          <p:sp>
            <p:nvSpPr>
              <p:cNvPr id="56" name="Oval 20"/>
              <p:cNvSpPr>
                <a:spLocks noChangeArrowheads="1"/>
              </p:cNvSpPr>
              <p:nvPr/>
            </p:nvSpPr>
            <p:spPr bwMode="auto">
              <a:xfrm>
                <a:off x="1680" y="702"/>
                <a:ext cx="552" cy="411"/>
              </a:xfrm>
              <a:prstGeom prst="ellipse">
                <a:avLst/>
              </a:prstGeom>
              <a:grpFill/>
              <a:ln w="9525">
                <a:solidFill>
                  <a:srgbClr val="000000"/>
                </a:solidFill>
                <a:rou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400" b="1" dirty="0">
                  <a:solidFill>
                    <a:srgbClr val="368AD6"/>
                  </a:solidFill>
                  <a:latin typeface="+mn-lt"/>
                  <a:ea typeface="微软雅黑 Light" panose="020B0502040204020203" pitchFamily="34" charset="-122"/>
                </a:endParaRPr>
              </a:p>
            </p:txBody>
          </p:sp>
          <p:sp>
            <p:nvSpPr>
              <p:cNvPr id="57" name="Oval 21"/>
              <p:cNvSpPr>
                <a:spLocks noChangeArrowheads="1"/>
              </p:cNvSpPr>
              <p:nvPr/>
            </p:nvSpPr>
            <p:spPr bwMode="auto">
              <a:xfrm>
                <a:off x="1849" y="894"/>
                <a:ext cx="842" cy="450"/>
              </a:xfrm>
              <a:prstGeom prst="ellipse">
                <a:avLst/>
              </a:prstGeom>
              <a:grpFill/>
              <a:ln w="9525">
                <a:solidFill>
                  <a:srgbClr val="000000"/>
                </a:solidFill>
                <a:rou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400" b="1" dirty="0">
                  <a:solidFill>
                    <a:srgbClr val="368AD6"/>
                  </a:solidFill>
                  <a:latin typeface="+mn-lt"/>
                  <a:ea typeface="微软雅黑 Light" panose="020B0502040204020203" pitchFamily="34" charset="-122"/>
                </a:endParaRPr>
              </a:p>
            </p:txBody>
          </p:sp>
          <p:sp>
            <p:nvSpPr>
              <p:cNvPr id="58" name="Oval 22"/>
              <p:cNvSpPr>
                <a:spLocks noChangeArrowheads="1"/>
              </p:cNvSpPr>
              <p:nvPr/>
            </p:nvSpPr>
            <p:spPr bwMode="auto">
              <a:xfrm>
                <a:off x="2462" y="971"/>
                <a:ext cx="1272" cy="539"/>
              </a:xfrm>
              <a:prstGeom prst="ellipse">
                <a:avLst/>
              </a:prstGeom>
              <a:grpFill/>
              <a:ln w="9525">
                <a:solidFill>
                  <a:srgbClr val="000000"/>
                </a:solidFill>
                <a:rou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400" b="1" dirty="0">
                  <a:solidFill>
                    <a:srgbClr val="368AD6"/>
                  </a:solidFill>
                  <a:latin typeface="+mn-lt"/>
                  <a:ea typeface="微软雅黑 Light" panose="020B0502040204020203" pitchFamily="34" charset="-122"/>
                </a:endParaRPr>
              </a:p>
            </p:txBody>
          </p:sp>
          <p:sp>
            <p:nvSpPr>
              <p:cNvPr id="59" name="Oval 23"/>
              <p:cNvSpPr>
                <a:spLocks noChangeArrowheads="1"/>
              </p:cNvSpPr>
              <p:nvPr/>
            </p:nvSpPr>
            <p:spPr bwMode="auto">
              <a:xfrm>
                <a:off x="3289" y="394"/>
                <a:ext cx="797" cy="398"/>
              </a:xfrm>
              <a:prstGeom prst="ellipse">
                <a:avLst/>
              </a:prstGeom>
              <a:grpFill/>
              <a:ln w="9525">
                <a:solidFill>
                  <a:srgbClr val="000000"/>
                </a:solidFill>
                <a:rou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400" b="1" dirty="0">
                  <a:solidFill>
                    <a:srgbClr val="368AD6"/>
                  </a:solidFill>
                  <a:latin typeface="+mn-lt"/>
                  <a:ea typeface="微软雅黑 Light" panose="020B0502040204020203" pitchFamily="34" charset="-122"/>
                </a:endParaRPr>
              </a:p>
            </p:txBody>
          </p:sp>
          <p:sp>
            <p:nvSpPr>
              <p:cNvPr id="60" name="Oval 24"/>
              <p:cNvSpPr>
                <a:spLocks noChangeArrowheads="1"/>
              </p:cNvSpPr>
              <p:nvPr/>
            </p:nvSpPr>
            <p:spPr bwMode="auto">
              <a:xfrm>
                <a:off x="3412" y="663"/>
                <a:ext cx="797" cy="398"/>
              </a:xfrm>
              <a:prstGeom prst="ellipse">
                <a:avLst/>
              </a:prstGeom>
              <a:grpFill/>
              <a:ln w="9525">
                <a:solidFill>
                  <a:srgbClr val="000000"/>
                </a:solidFill>
                <a:rou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400" b="1" dirty="0">
                  <a:solidFill>
                    <a:srgbClr val="368AD6"/>
                  </a:solidFill>
                  <a:latin typeface="+mn-lt"/>
                  <a:ea typeface="微软雅黑 Light" panose="020B0502040204020203" pitchFamily="34" charset="-122"/>
                </a:endParaRPr>
              </a:p>
            </p:txBody>
          </p:sp>
          <p:sp>
            <p:nvSpPr>
              <p:cNvPr id="61" name="Oval 25"/>
              <p:cNvSpPr>
                <a:spLocks noChangeArrowheads="1"/>
              </p:cNvSpPr>
              <p:nvPr/>
            </p:nvSpPr>
            <p:spPr bwMode="auto">
              <a:xfrm>
                <a:off x="3335" y="753"/>
                <a:ext cx="797" cy="668"/>
              </a:xfrm>
              <a:prstGeom prst="ellipse">
                <a:avLst/>
              </a:prstGeom>
              <a:grpFill/>
              <a:ln w="9525">
                <a:solidFill>
                  <a:srgbClr val="000000"/>
                </a:solidFill>
                <a:rou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400" b="1" dirty="0">
                  <a:solidFill>
                    <a:srgbClr val="368AD6"/>
                  </a:solidFill>
                  <a:latin typeface="+mn-lt"/>
                  <a:ea typeface="微软雅黑 Light" panose="020B0502040204020203" pitchFamily="34" charset="-122"/>
                </a:endParaRPr>
              </a:p>
            </p:txBody>
          </p:sp>
          <p:sp>
            <p:nvSpPr>
              <p:cNvPr id="62" name="Oval 26"/>
              <p:cNvSpPr>
                <a:spLocks noChangeArrowheads="1"/>
              </p:cNvSpPr>
              <p:nvPr/>
            </p:nvSpPr>
            <p:spPr bwMode="auto">
              <a:xfrm>
                <a:off x="2006" y="446"/>
                <a:ext cx="1916" cy="865"/>
              </a:xfrm>
              <a:prstGeom prst="ellipse">
                <a:avLst/>
              </a:prstGeom>
              <a:grpFill/>
              <a:ln w="9525">
                <a:noFill/>
                <a:rou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pPr fontAlgn="auto">
                  <a:spcBef>
                    <a:spcPts val="0"/>
                  </a:spcBef>
                  <a:spcAft>
                    <a:spcPts val="0"/>
                  </a:spcAft>
                  <a:defRPr/>
                </a:pPr>
                <a:endParaRPr lang="zh-CN" altLang="en-US" sz="1400" b="1" dirty="0">
                  <a:solidFill>
                    <a:srgbClr val="368AD6"/>
                  </a:solidFill>
                  <a:latin typeface="+mn-lt"/>
                  <a:ea typeface="微软雅黑 Light" panose="020B0502040204020203" pitchFamily="34" charset="-122"/>
                </a:endParaRPr>
              </a:p>
            </p:txBody>
          </p:sp>
        </p:grpSp>
        <p:sp>
          <p:nvSpPr>
            <p:cNvPr id="53" name="文本框 52"/>
            <p:cNvSpPr txBox="1"/>
            <p:nvPr/>
          </p:nvSpPr>
          <p:spPr>
            <a:xfrm>
              <a:off x="2702534" y="1377137"/>
              <a:ext cx="620683" cy="276999"/>
            </a:xfrm>
            <a:prstGeom prst="rect">
              <a:avLst/>
            </a:prstGeom>
            <a:noFill/>
          </p:spPr>
          <p:txBody>
            <a:bodyPr wrap="none" rtlCol="0">
              <a:spAutoFit/>
            </a:bodyPr>
            <a:lstStyle/>
            <a:p>
              <a:pPr algn="ctr"/>
              <a:r>
                <a:rPr lang="zh-CN" altLang="en-US" sz="1200" dirty="0"/>
                <a:t>网络 </a:t>
              </a:r>
              <a:r>
                <a:rPr lang="en-US" altLang="zh-CN" sz="1200" dirty="0"/>
                <a:t>2</a:t>
              </a:r>
              <a:endParaRPr lang="zh-CN" altLang="en-US" sz="1200" dirty="0"/>
            </a:p>
          </p:txBody>
        </p:sp>
      </p:grpSp>
      <p:sp>
        <p:nvSpPr>
          <p:cNvPr id="3" name="标题 2">
            <a:extLst>
              <a:ext uri="{FF2B5EF4-FFF2-40B4-BE49-F238E27FC236}">
                <a16:creationId xmlns:a16="http://schemas.microsoft.com/office/drawing/2014/main" id="{B67C5E01-93FC-6F7C-F22B-063FF38A7A57}"/>
              </a:ext>
            </a:extLst>
          </p:cNvPr>
          <p:cNvSpPr>
            <a:spLocks noGrp="1"/>
          </p:cNvSpPr>
          <p:nvPr>
            <p:ph type="title"/>
          </p:nvPr>
        </p:nvSpPr>
        <p:spPr>
          <a:xfrm>
            <a:off x="612000" y="144000"/>
            <a:ext cx="7920000" cy="341632"/>
          </a:xfrm>
        </p:spPr>
        <p:txBody>
          <a:bodyPr/>
          <a:lstStyle/>
          <a:p>
            <a:r>
              <a:rPr lang="en-US" altLang="zh-CN" dirty="0"/>
              <a:t>1.7.5  TCP/IP </a:t>
            </a:r>
            <a:r>
              <a:rPr lang="zh-CN" altLang="zh-CN" dirty="0"/>
              <a:t>的体系结构</a:t>
            </a:r>
            <a:endParaRPr lang="zh-CN" altLang="en-US" dirty="0"/>
          </a:p>
        </p:txBody>
      </p:sp>
      <p:grpSp>
        <p:nvGrpSpPr>
          <p:cNvPr id="72" name="组合 71">
            <a:extLst>
              <a:ext uri="{FF2B5EF4-FFF2-40B4-BE49-F238E27FC236}">
                <a16:creationId xmlns:a16="http://schemas.microsoft.com/office/drawing/2014/main" id="{B8A2CE8F-DACC-7B02-A698-0494350A0A27}"/>
              </a:ext>
            </a:extLst>
          </p:cNvPr>
          <p:cNvGrpSpPr/>
          <p:nvPr/>
        </p:nvGrpSpPr>
        <p:grpSpPr>
          <a:xfrm>
            <a:off x="6431697" y="2343787"/>
            <a:ext cx="1440000" cy="1404000"/>
            <a:chOff x="6301911" y="2448000"/>
            <a:chExt cx="1440000" cy="1404000"/>
          </a:xfrm>
          <a:solidFill>
            <a:srgbClr val="7CE07C"/>
          </a:solidFill>
        </p:grpSpPr>
        <p:sp>
          <p:nvSpPr>
            <p:cNvPr id="73" name="立方体 72">
              <a:extLst>
                <a:ext uri="{FF2B5EF4-FFF2-40B4-BE49-F238E27FC236}">
                  <a16:creationId xmlns:a16="http://schemas.microsoft.com/office/drawing/2014/main" id="{82AC9A20-6606-3849-4B8D-91FD1E56984A}"/>
                </a:ext>
              </a:extLst>
            </p:cNvPr>
            <p:cNvSpPr/>
            <p:nvPr/>
          </p:nvSpPr>
          <p:spPr>
            <a:xfrm>
              <a:off x="6301911" y="3420000"/>
              <a:ext cx="1440000" cy="432000"/>
            </a:xfrm>
            <a:prstGeom prst="cube">
              <a:avLst/>
            </a:prstGeom>
            <a:grpFill/>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200" dirty="0">
                  <a:solidFill>
                    <a:sysClr val="windowText" lastClr="000000"/>
                  </a:solidFill>
                </a:rPr>
                <a:t>1 </a:t>
              </a:r>
              <a:r>
                <a:rPr lang="zh-CN" altLang="en-US" sz="1200" dirty="0">
                  <a:solidFill>
                    <a:sysClr val="windowText" lastClr="000000"/>
                  </a:solidFill>
                </a:rPr>
                <a:t>网络接口层</a:t>
              </a:r>
            </a:p>
          </p:txBody>
        </p:sp>
        <p:sp>
          <p:nvSpPr>
            <p:cNvPr id="74" name="立方体 73">
              <a:extLst>
                <a:ext uri="{FF2B5EF4-FFF2-40B4-BE49-F238E27FC236}">
                  <a16:creationId xmlns:a16="http://schemas.microsoft.com/office/drawing/2014/main" id="{3495BE90-96A4-C0D5-E69D-D5E610745A3E}"/>
                </a:ext>
              </a:extLst>
            </p:cNvPr>
            <p:cNvSpPr/>
            <p:nvPr/>
          </p:nvSpPr>
          <p:spPr>
            <a:xfrm>
              <a:off x="6301911" y="3096000"/>
              <a:ext cx="1440000" cy="432000"/>
            </a:xfrm>
            <a:prstGeom prst="cube">
              <a:avLst/>
            </a:prstGeom>
            <a:grpFill/>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200" dirty="0">
                  <a:solidFill>
                    <a:sysClr val="windowText" lastClr="000000"/>
                  </a:solidFill>
                </a:rPr>
                <a:t>2 </a:t>
              </a:r>
              <a:r>
                <a:rPr lang="zh-CN" altLang="en-US" sz="1200" dirty="0">
                  <a:solidFill>
                    <a:sysClr val="windowText" lastClr="000000"/>
                  </a:solidFill>
                </a:rPr>
                <a:t>网际层</a:t>
              </a:r>
            </a:p>
          </p:txBody>
        </p:sp>
        <p:sp>
          <p:nvSpPr>
            <p:cNvPr id="75" name="立方体 74">
              <a:extLst>
                <a:ext uri="{FF2B5EF4-FFF2-40B4-BE49-F238E27FC236}">
                  <a16:creationId xmlns:a16="http://schemas.microsoft.com/office/drawing/2014/main" id="{F210D835-1883-3823-8804-B01F5B956C81}"/>
                </a:ext>
              </a:extLst>
            </p:cNvPr>
            <p:cNvSpPr/>
            <p:nvPr/>
          </p:nvSpPr>
          <p:spPr>
            <a:xfrm>
              <a:off x="6301911" y="2772000"/>
              <a:ext cx="1440000" cy="432000"/>
            </a:xfrm>
            <a:prstGeom prst="cube">
              <a:avLst/>
            </a:prstGeom>
            <a:grpFill/>
            <a:ln w="6350">
              <a:solidFill>
                <a:schemeClr val="bg1"/>
              </a:solidFill>
            </a:ln>
          </p:spPr>
          <p:style>
            <a:lnRef idx="1">
              <a:schemeClr val="accent5"/>
            </a:lnRef>
            <a:fillRef idx="3">
              <a:schemeClr val="accent5"/>
            </a:fillRef>
            <a:effectRef idx="2">
              <a:schemeClr val="accent5"/>
            </a:effectRef>
            <a:fontRef idx="minor">
              <a:schemeClr val="lt1"/>
            </a:fontRef>
          </p:style>
          <p:txBody>
            <a:bodyPr rtlCol="0" anchor="ctr"/>
            <a:lstStyle/>
            <a:p>
              <a:r>
                <a:rPr lang="en-US" altLang="zh-CN" sz="1200" dirty="0">
                  <a:solidFill>
                    <a:sysClr val="windowText" lastClr="000000"/>
                  </a:solidFill>
                </a:rPr>
                <a:t>3 </a:t>
              </a:r>
              <a:r>
                <a:rPr lang="zh-CN" altLang="en-US" sz="1200" dirty="0">
                  <a:solidFill>
                    <a:sysClr val="windowText" lastClr="000000"/>
                  </a:solidFill>
                </a:rPr>
                <a:t>运输层</a:t>
              </a:r>
            </a:p>
          </p:txBody>
        </p:sp>
        <p:sp>
          <p:nvSpPr>
            <p:cNvPr id="76" name="立方体 75">
              <a:extLst>
                <a:ext uri="{FF2B5EF4-FFF2-40B4-BE49-F238E27FC236}">
                  <a16:creationId xmlns:a16="http://schemas.microsoft.com/office/drawing/2014/main" id="{CF535851-B898-E5C0-EE70-6D93840DF137}"/>
                </a:ext>
              </a:extLst>
            </p:cNvPr>
            <p:cNvSpPr/>
            <p:nvPr/>
          </p:nvSpPr>
          <p:spPr>
            <a:xfrm>
              <a:off x="6301911" y="2448000"/>
              <a:ext cx="1440000" cy="432000"/>
            </a:xfrm>
            <a:prstGeom prst="cube">
              <a:avLst/>
            </a:prstGeom>
            <a:grpFill/>
            <a:ln w="6350">
              <a:solidFill>
                <a:schemeClr val="bg1"/>
              </a:solidFill>
            </a:ln>
          </p:spPr>
          <p:style>
            <a:lnRef idx="1">
              <a:schemeClr val="accent4"/>
            </a:lnRef>
            <a:fillRef idx="3">
              <a:schemeClr val="accent4"/>
            </a:fillRef>
            <a:effectRef idx="2">
              <a:schemeClr val="accent4"/>
            </a:effectRef>
            <a:fontRef idx="minor">
              <a:schemeClr val="lt1"/>
            </a:fontRef>
          </p:style>
          <p:txBody>
            <a:bodyPr rtlCol="0" anchor="ctr"/>
            <a:lstStyle/>
            <a:p>
              <a:r>
                <a:rPr lang="en-US" altLang="zh-CN" sz="1200" dirty="0">
                  <a:solidFill>
                    <a:sysClr val="windowText" lastClr="000000"/>
                  </a:solidFill>
                </a:rPr>
                <a:t>4 </a:t>
              </a:r>
              <a:r>
                <a:rPr lang="zh-CN" altLang="en-US" sz="1200" dirty="0">
                  <a:solidFill>
                    <a:sysClr val="windowText" lastClr="000000"/>
                  </a:solidFill>
                </a:rPr>
                <a:t>应用层</a:t>
              </a:r>
            </a:p>
          </p:txBody>
        </p:sp>
      </p:grpSp>
      <p:grpSp>
        <p:nvGrpSpPr>
          <p:cNvPr id="77" name="组合 76">
            <a:extLst>
              <a:ext uri="{FF2B5EF4-FFF2-40B4-BE49-F238E27FC236}">
                <a16:creationId xmlns:a16="http://schemas.microsoft.com/office/drawing/2014/main" id="{7D559BF0-D1BB-2B8D-89AF-8C1D799A08B3}"/>
              </a:ext>
            </a:extLst>
          </p:cNvPr>
          <p:cNvGrpSpPr/>
          <p:nvPr/>
        </p:nvGrpSpPr>
        <p:grpSpPr>
          <a:xfrm>
            <a:off x="3737700" y="2991787"/>
            <a:ext cx="1440000" cy="756000"/>
            <a:chOff x="6301911" y="3096000"/>
            <a:chExt cx="1440000" cy="756000"/>
          </a:xfrm>
          <a:solidFill>
            <a:srgbClr val="7CE07C"/>
          </a:solidFill>
        </p:grpSpPr>
        <p:sp>
          <p:nvSpPr>
            <p:cNvPr id="78" name="立方体 77">
              <a:extLst>
                <a:ext uri="{FF2B5EF4-FFF2-40B4-BE49-F238E27FC236}">
                  <a16:creationId xmlns:a16="http://schemas.microsoft.com/office/drawing/2014/main" id="{EE48BC64-9C42-0C3F-65AA-92F16B3F143C}"/>
                </a:ext>
              </a:extLst>
            </p:cNvPr>
            <p:cNvSpPr/>
            <p:nvPr/>
          </p:nvSpPr>
          <p:spPr>
            <a:xfrm>
              <a:off x="6301911" y="3420000"/>
              <a:ext cx="1440000" cy="432000"/>
            </a:xfrm>
            <a:prstGeom prst="cube">
              <a:avLst/>
            </a:prstGeom>
            <a:grpFill/>
            <a:ln w="6350">
              <a:solidFill>
                <a:schemeClr val="bg1"/>
              </a:solidFill>
            </a:ln>
          </p:spPr>
          <p:style>
            <a:lnRef idx="1">
              <a:schemeClr val="accent3"/>
            </a:lnRef>
            <a:fillRef idx="3">
              <a:schemeClr val="accent3"/>
            </a:fillRef>
            <a:effectRef idx="2">
              <a:schemeClr val="accent3"/>
            </a:effectRef>
            <a:fontRef idx="minor">
              <a:schemeClr val="lt1"/>
            </a:fontRef>
          </p:style>
          <p:txBody>
            <a:bodyPr rtlCol="0" anchor="ctr"/>
            <a:lstStyle/>
            <a:p>
              <a:r>
                <a:rPr lang="en-US" altLang="zh-CN" sz="1200" dirty="0">
                  <a:solidFill>
                    <a:sysClr val="windowText" lastClr="000000"/>
                  </a:solidFill>
                </a:rPr>
                <a:t>1 </a:t>
              </a:r>
              <a:r>
                <a:rPr lang="zh-CN" altLang="en-US" sz="1200" dirty="0">
                  <a:solidFill>
                    <a:sysClr val="windowText" lastClr="000000"/>
                  </a:solidFill>
                </a:rPr>
                <a:t>网络接口层</a:t>
              </a:r>
            </a:p>
          </p:txBody>
        </p:sp>
        <p:sp>
          <p:nvSpPr>
            <p:cNvPr id="79" name="立方体 78">
              <a:extLst>
                <a:ext uri="{FF2B5EF4-FFF2-40B4-BE49-F238E27FC236}">
                  <a16:creationId xmlns:a16="http://schemas.microsoft.com/office/drawing/2014/main" id="{1FF757DE-EEAB-634D-C606-00A8E2E06812}"/>
                </a:ext>
              </a:extLst>
            </p:cNvPr>
            <p:cNvSpPr/>
            <p:nvPr/>
          </p:nvSpPr>
          <p:spPr>
            <a:xfrm>
              <a:off x="6301911" y="3096000"/>
              <a:ext cx="1440000" cy="432000"/>
            </a:xfrm>
            <a:prstGeom prst="cube">
              <a:avLst/>
            </a:prstGeom>
            <a:grpFill/>
            <a:ln w="6350">
              <a:solidFill>
                <a:schemeClr val="bg1"/>
              </a:solidFill>
            </a:ln>
          </p:spPr>
          <p:style>
            <a:lnRef idx="1">
              <a:schemeClr val="accent6"/>
            </a:lnRef>
            <a:fillRef idx="3">
              <a:schemeClr val="accent6"/>
            </a:fillRef>
            <a:effectRef idx="2">
              <a:schemeClr val="accent6"/>
            </a:effectRef>
            <a:fontRef idx="minor">
              <a:schemeClr val="lt1"/>
            </a:fontRef>
          </p:style>
          <p:txBody>
            <a:bodyPr rtlCol="0" anchor="ctr"/>
            <a:lstStyle/>
            <a:p>
              <a:r>
                <a:rPr lang="en-US" altLang="zh-CN" sz="1200" dirty="0">
                  <a:solidFill>
                    <a:sysClr val="windowText" lastClr="000000"/>
                  </a:solidFill>
                </a:rPr>
                <a:t>2 </a:t>
              </a:r>
              <a:r>
                <a:rPr lang="zh-CN" altLang="en-US" sz="1200" dirty="0">
                  <a:solidFill>
                    <a:sysClr val="windowText" lastClr="000000"/>
                  </a:solidFill>
                </a:rPr>
                <a:t>网际层</a:t>
              </a:r>
            </a:p>
          </p:txBody>
        </p:sp>
      </p:grpSp>
    </p:spTree>
    <p:extLst>
      <p:ext uri="{BB962C8B-B14F-4D97-AF65-F5344CB8AC3E}">
        <p14:creationId xmlns:p14="http://schemas.microsoft.com/office/powerpoint/2010/main" val="749764782"/>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标题 15">
            <a:extLst>
              <a:ext uri="{FF2B5EF4-FFF2-40B4-BE49-F238E27FC236}">
                <a16:creationId xmlns:a16="http://schemas.microsoft.com/office/drawing/2014/main" id="{A8175415-C676-BB61-BF90-E0F411F9019A}"/>
              </a:ext>
            </a:extLst>
          </p:cNvPr>
          <p:cNvSpPr>
            <a:spLocks noGrp="1"/>
          </p:cNvSpPr>
          <p:nvPr>
            <p:ph type="title"/>
          </p:nvPr>
        </p:nvSpPr>
        <p:spPr>
          <a:xfrm>
            <a:off x="612000" y="144000"/>
            <a:ext cx="7920000" cy="341632"/>
          </a:xfrm>
        </p:spPr>
        <p:txBody>
          <a:bodyPr/>
          <a:lstStyle/>
          <a:p>
            <a:r>
              <a:rPr lang="en-US" altLang="zh-CN" dirty="0"/>
              <a:t>TCP/IP </a:t>
            </a:r>
            <a:r>
              <a:rPr lang="zh-CN" altLang="en-US" dirty="0"/>
              <a:t>体系结构的另一种表示方法</a:t>
            </a:r>
          </a:p>
        </p:txBody>
      </p:sp>
      <p:sp>
        <p:nvSpPr>
          <p:cNvPr id="3" name="内容占位符 2"/>
          <p:cNvSpPr>
            <a:spLocks noGrp="1"/>
          </p:cNvSpPr>
          <p:nvPr>
            <p:ph sz="quarter" idx="10"/>
          </p:nvPr>
        </p:nvSpPr>
        <p:spPr>
          <a:xfrm>
            <a:off x="612000" y="899999"/>
            <a:ext cx="7920000" cy="3780000"/>
          </a:xfrm>
        </p:spPr>
        <p:txBody>
          <a:bodyPr/>
          <a:lstStyle/>
          <a:p>
            <a:r>
              <a:rPr lang="zh-CN" altLang="en-US" dirty="0"/>
              <a:t>现在互联网使用的 </a:t>
            </a:r>
            <a:r>
              <a:rPr lang="en-US" altLang="zh-CN" dirty="0"/>
              <a:t>TCP/IP </a:t>
            </a:r>
            <a:r>
              <a:rPr lang="zh-CN" altLang="en-US" dirty="0"/>
              <a:t>体系结构已经发生了演变</a:t>
            </a:r>
            <a:endParaRPr lang="en-US" altLang="zh-CN" dirty="0"/>
          </a:p>
          <a:p>
            <a:r>
              <a:rPr lang="zh-CN" altLang="en-US" dirty="0"/>
              <a:t>某些应用程序可以直接使用 </a:t>
            </a:r>
            <a:r>
              <a:rPr lang="en-US" altLang="zh-CN" dirty="0"/>
              <a:t>IP </a:t>
            </a:r>
            <a:r>
              <a:rPr lang="zh-CN" altLang="en-US" dirty="0"/>
              <a:t>层</a:t>
            </a:r>
            <a:endParaRPr lang="en-US" altLang="zh-CN" dirty="0"/>
          </a:p>
          <a:p>
            <a:r>
              <a:rPr lang="zh-CN" altLang="en-US" dirty="0"/>
              <a:t>甚至直接使用最下面的网络接口层</a:t>
            </a:r>
          </a:p>
          <a:p>
            <a:endParaRPr lang="zh-CN" altLang="en-US" dirty="0"/>
          </a:p>
        </p:txBody>
      </p:sp>
      <p:grpSp>
        <p:nvGrpSpPr>
          <p:cNvPr id="6" name="组合 5"/>
          <p:cNvGrpSpPr/>
          <p:nvPr/>
        </p:nvGrpSpPr>
        <p:grpSpPr bwMode="auto">
          <a:xfrm>
            <a:off x="2922180" y="2340000"/>
            <a:ext cx="3299640" cy="1943272"/>
            <a:chOff x="2778939" y="3395364"/>
            <a:chExt cx="3502942" cy="2128590"/>
          </a:xfrm>
        </p:grpSpPr>
        <p:sp>
          <p:nvSpPr>
            <p:cNvPr id="7" name="Rectangle 5"/>
            <p:cNvSpPr>
              <a:spLocks noChangeArrowheads="1"/>
            </p:cNvSpPr>
            <p:nvPr/>
          </p:nvSpPr>
          <p:spPr bwMode="auto">
            <a:xfrm>
              <a:off x="2778939" y="3395364"/>
              <a:ext cx="3502942" cy="2128590"/>
            </a:xfrm>
            <a:prstGeom prst="rect">
              <a:avLst/>
            </a:prstGeom>
            <a:ln w="38100">
              <a:solidFill>
                <a:srgbClr val="339933"/>
              </a:solidFill>
            </a:ln>
          </p:spPr>
          <p:style>
            <a:lnRef idx="2">
              <a:schemeClr val="dk1"/>
            </a:lnRef>
            <a:fillRef idx="1">
              <a:schemeClr val="lt1"/>
            </a:fillRef>
            <a:effectRef idx="0">
              <a:schemeClr val="dk1"/>
            </a:effectRef>
            <a:fontRef idx="minor">
              <a:schemeClr val="dk1"/>
            </a:fontRef>
          </p:style>
          <p:txBody>
            <a:bodyPr wrap="none" anchor="ctr"/>
            <a:lstStyle/>
            <a:p>
              <a:pPr fontAlgn="auto">
                <a:spcBef>
                  <a:spcPts val="0"/>
                </a:spcBef>
                <a:spcAft>
                  <a:spcPts val="0"/>
                </a:spcAft>
                <a:defRPr/>
              </a:pPr>
              <a:endParaRPr lang="zh-CN" altLang="en-US" sz="1600">
                <a:latin typeface="+mj-lt"/>
                <a:ea typeface="+mj-ea"/>
              </a:endParaRPr>
            </a:p>
          </p:txBody>
        </p:sp>
        <p:sp>
          <p:nvSpPr>
            <p:cNvPr id="8" name="Line 6"/>
            <p:cNvSpPr>
              <a:spLocks noChangeShapeType="1"/>
            </p:cNvSpPr>
            <p:nvPr/>
          </p:nvSpPr>
          <p:spPr bwMode="auto">
            <a:xfrm>
              <a:off x="2778939" y="5010251"/>
              <a:ext cx="3502942" cy="0"/>
            </a:xfrm>
            <a:prstGeom prst="line">
              <a:avLst/>
            </a:prstGeom>
            <a:ln w="38100">
              <a:solidFill>
                <a:srgbClr val="339933"/>
              </a:solidFill>
            </a:ln>
            <a:extLst>
              <a:ext uri="{909E8E84-426E-40DD-AFC4-6F175D3DCCD1}">
                <a14:hiddenFill xmlns:a14="http://schemas.microsoft.com/office/drawing/2010/main">
                  <a:noFill/>
                </a14:hiddenFill>
              </a:ext>
            </a:extLst>
          </p:spPr>
          <p:style>
            <a:lnRef idx="2">
              <a:schemeClr val="dk1"/>
            </a:lnRef>
            <a:fillRef idx="1">
              <a:schemeClr val="lt1"/>
            </a:fillRef>
            <a:effectRef idx="0">
              <a:schemeClr val="dk1"/>
            </a:effectRef>
            <a:fontRef idx="minor">
              <a:schemeClr val="dk1"/>
            </a:fontRef>
          </p:style>
          <p:txBody>
            <a:bodyPr wrap="none" anchor="ctr"/>
            <a:lstStyle/>
            <a:p>
              <a:pPr fontAlgn="auto">
                <a:spcBef>
                  <a:spcPts val="0"/>
                </a:spcBef>
                <a:spcAft>
                  <a:spcPts val="0"/>
                </a:spcAft>
                <a:defRPr/>
              </a:pPr>
              <a:endParaRPr lang="zh-CN" altLang="en-US" sz="1600">
                <a:latin typeface="+mj-lt"/>
                <a:ea typeface="+mj-ea"/>
              </a:endParaRPr>
            </a:p>
          </p:txBody>
        </p:sp>
        <p:sp>
          <p:nvSpPr>
            <p:cNvPr id="9" name="Freeform 7"/>
            <p:cNvSpPr/>
            <p:nvPr/>
          </p:nvSpPr>
          <p:spPr bwMode="auto">
            <a:xfrm>
              <a:off x="2778939" y="4460452"/>
              <a:ext cx="2589890" cy="531751"/>
            </a:xfrm>
            <a:custGeom>
              <a:avLst/>
              <a:gdLst>
                <a:gd name="T0" fmla="*/ 0 w 1542"/>
                <a:gd name="T1" fmla="*/ 0 h 318"/>
                <a:gd name="T2" fmla="*/ 1542 w 1542"/>
                <a:gd name="T3" fmla="*/ 0 h 318"/>
                <a:gd name="T4" fmla="*/ 1542 w 1542"/>
                <a:gd name="T5" fmla="*/ 318 h 318"/>
              </a:gdLst>
              <a:ahLst/>
              <a:cxnLst>
                <a:cxn ang="0">
                  <a:pos x="T0" y="T1"/>
                </a:cxn>
                <a:cxn ang="0">
                  <a:pos x="T2" y="T3"/>
                </a:cxn>
                <a:cxn ang="0">
                  <a:pos x="T4" y="T5"/>
                </a:cxn>
              </a:cxnLst>
              <a:rect l="0" t="0" r="r" b="b"/>
              <a:pathLst>
                <a:path w="1542" h="318">
                  <a:moveTo>
                    <a:pt x="0" y="0"/>
                  </a:moveTo>
                  <a:lnTo>
                    <a:pt x="1542" y="0"/>
                  </a:lnTo>
                  <a:lnTo>
                    <a:pt x="1542" y="318"/>
                  </a:lnTo>
                </a:path>
              </a:pathLst>
            </a:custGeom>
            <a:ln w="38100">
              <a:solidFill>
                <a:srgbClr val="339933"/>
              </a:solidFill>
            </a:ln>
            <a:extLst>
              <a:ext uri="{909E8E84-426E-40DD-AFC4-6F175D3DCCD1}">
                <a14:hiddenFill xmlns:a14="http://schemas.microsoft.com/office/drawing/2010/main">
                  <a:solidFill>
                    <a:schemeClr val="accent1"/>
                  </a:solidFill>
                </a14:hiddenFill>
              </a:ext>
            </a:extLst>
          </p:spPr>
          <p:style>
            <a:lnRef idx="2">
              <a:schemeClr val="dk1"/>
            </a:lnRef>
            <a:fillRef idx="1">
              <a:schemeClr val="lt1"/>
            </a:fillRef>
            <a:effectRef idx="0">
              <a:schemeClr val="dk1"/>
            </a:effectRef>
            <a:fontRef idx="minor">
              <a:schemeClr val="dk1"/>
            </a:fontRef>
          </p:style>
          <p:txBody>
            <a:bodyPr wrap="none" anchor="ctr"/>
            <a:lstStyle/>
            <a:p>
              <a:pPr fontAlgn="auto">
                <a:spcBef>
                  <a:spcPts val="0"/>
                </a:spcBef>
                <a:spcAft>
                  <a:spcPts val="0"/>
                </a:spcAft>
                <a:defRPr/>
              </a:pPr>
              <a:endParaRPr lang="zh-CN" altLang="en-US" sz="1600">
                <a:latin typeface="+mj-lt"/>
                <a:ea typeface="+mj-ea"/>
              </a:endParaRPr>
            </a:p>
          </p:txBody>
        </p:sp>
        <p:sp>
          <p:nvSpPr>
            <p:cNvPr id="10" name="Freeform 8"/>
            <p:cNvSpPr/>
            <p:nvPr/>
          </p:nvSpPr>
          <p:spPr bwMode="auto">
            <a:xfrm>
              <a:off x="2778939" y="3910655"/>
              <a:ext cx="1675251" cy="530957"/>
            </a:xfrm>
            <a:custGeom>
              <a:avLst/>
              <a:gdLst>
                <a:gd name="T0" fmla="*/ 0 w 1542"/>
                <a:gd name="T1" fmla="*/ 0 h 318"/>
                <a:gd name="T2" fmla="*/ 1542 w 1542"/>
                <a:gd name="T3" fmla="*/ 0 h 318"/>
                <a:gd name="T4" fmla="*/ 1542 w 1542"/>
                <a:gd name="T5" fmla="*/ 318 h 318"/>
              </a:gdLst>
              <a:ahLst/>
              <a:cxnLst>
                <a:cxn ang="0">
                  <a:pos x="T0" y="T1"/>
                </a:cxn>
                <a:cxn ang="0">
                  <a:pos x="T2" y="T3"/>
                </a:cxn>
                <a:cxn ang="0">
                  <a:pos x="T4" y="T5"/>
                </a:cxn>
              </a:cxnLst>
              <a:rect l="0" t="0" r="r" b="b"/>
              <a:pathLst>
                <a:path w="1542" h="318">
                  <a:moveTo>
                    <a:pt x="0" y="0"/>
                  </a:moveTo>
                  <a:lnTo>
                    <a:pt x="1542" y="0"/>
                  </a:lnTo>
                  <a:lnTo>
                    <a:pt x="1542" y="318"/>
                  </a:lnTo>
                </a:path>
              </a:pathLst>
            </a:custGeom>
            <a:ln w="38100">
              <a:solidFill>
                <a:srgbClr val="339933"/>
              </a:solidFill>
            </a:ln>
            <a:extLst>
              <a:ext uri="{909E8E84-426E-40DD-AFC4-6F175D3DCCD1}">
                <a14:hiddenFill xmlns:a14="http://schemas.microsoft.com/office/drawing/2010/main">
                  <a:solidFill>
                    <a:schemeClr val="accent1"/>
                  </a:solidFill>
                </a14:hiddenFill>
              </a:ext>
            </a:extLst>
          </p:spPr>
          <p:style>
            <a:lnRef idx="2">
              <a:schemeClr val="dk1"/>
            </a:lnRef>
            <a:fillRef idx="1">
              <a:schemeClr val="lt1"/>
            </a:fillRef>
            <a:effectRef idx="0">
              <a:schemeClr val="dk1"/>
            </a:effectRef>
            <a:fontRef idx="minor">
              <a:schemeClr val="dk1"/>
            </a:fontRef>
          </p:style>
          <p:txBody>
            <a:bodyPr wrap="none" anchor="ctr"/>
            <a:lstStyle/>
            <a:p>
              <a:pPr fontAlgn="auto">
                <a:spcBef>
                  <a:spcPts val="0"/>
                </a:spcBef>
                <a:spcAft>
                  <a:spcPts val="0"/>
                </a:spcAft>
                <a:defRPr/>
              </a:pPr>
              <a:endParaRPr lang="zh-CN" altLang="en-US" sz="1600">
                <a:latin typeface="+mj-lt"/>
                <a:ea typeface="+mj-ea"/>
              </a:endParaRPr>
            </a:p>
          </p:txBody>
        </p:sp>
        <p:sp>
          <p:nvSpPr>
            <p:cNvPr id="11" name="Line 9"/>
            <p:cNvSpPr>
              <a:spLocks noChangeShapeType="1"/>
            </p:cNvSpPr>
            <p:nvPr/>
          </p:nvSpPr>
          <p:spPr bwMode="auto">
            <a:xfrm>
              <a:off x="3616890" y="3928350"/>
              <a:ext cx="0" cy="531310"/>
            </a:xfrm>
            <a:prstGeom prst="line">
              <a:avLst/>
            </a:prstGeom>
            <a:noFill/>
            <a:ln w="38100">
              <a:solidFill>
                <a:srgbClr val="339933"/>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a:latin typeface="+mj-lt"/>
                <a:ea typeface="+mj-ea"/>
              </a:endParaRPr>
            </a:p>
          </p:txBody>
        </p:sp>
        <p:sp>
          <p:nvSpPr>
            <p:cNvPr id="12" name="Text Box 10"/>
            <p:cNvSpPr txBox="1">
              <a:spLocks noChangeArrowheads="1"/>
            </p:cNvSpPr>
            <p:nvPr/>
          </p:nvSpPr>
          <p:spPr bwMode="auto">
            <a:xfrm>
              <a:off x="2900239" y="3991336"/>
              <a:ext cx="1373668" cy="3708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lang="en-US" altLang="zh-CN" sz="1600" dirty="0">
                  <a:latin typeface="+mj-lt"/>
                  <a:ea typeface="+mj-ea"/>
                </a:rPr>
                <a:t>TCP    UDP</a:t>
              </a:r>
            </a:p>
          </p:txBody>
        </p:sp>
        <p:sp>
          <p:nvSpPr>
            <p:cNvPr id="13" name="Text Box 11"/>
            <p:cNvSpPr txBox="1">
              <a:spLocks noChangeArrowheads="1"/>
            </p:cNvSpPr>
            <p:nvPr/>
          </p:nvSpPr>
          <p:spPr bwMode="auto">
            <a:xfrm>
              <a:off x="3804968" y="4550166"/>
              <a:ext cx="418976" cy="3708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lang="en-US" altLang="zh-CN" sz="1600">
                  <a:latin typeface="+mj-lt"/>
                  <a:ea typeface="+mj-ea"/>
                </a:rPr>
                <a:t>IP</a:t>
              </a:r>
            </a:p>
          </p:txBody>
        </p:sp>
        <p:sp>
          <p:nvSpPr>
            <p:cNvPr id="14" name="Text Box 4"/>
            <p:cNvSpPr txBox="1">
              <a:spLocks noChangeArrowheads="1"/>
            </p:cNvSpPr>
            <p:nvPr/>
          </p:nvSpPr>
          <p:spPr bwMode="auto">
            <a:xfrm>
              <a:off x="4149216" y="3470787"/>
              <a:ext cx="849523" cy="3708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lang="zh-CN" altLang="en-US" sz="1600" dirty="0">
                  <a:latin typeface="+mj-lt"/>
                  <a:ea typeface="+mj-ea"/>
                </a:rPr>
                <a:t>应用层</a:t>
              </a:r>
            </a:p>
          </p:txBody>
        </p:sp>
        <p:sp>
          <p:nvSpPr>
            <p:cNvPr id="15" name="Text Box 12"/>
            <p:cNvSpPr txBox="1">
              <a:spLocks noChangeArrowheads="1"/>
            </p:cNvSpPr>
            <p:nvPr/>
          </p:nvSpPr>
          <p:spPr bwMode="auto">
            <a:xfrm>
              <a:off x="3328057" y="5068067"/>
              <a:ext cx="2374309" cy="3708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lang="zh-CN" altLang="en-US" sz="1600" dirty="0">
                  <a:latin typeface="+mj-lt"/>
                  <a:ea typeface="+mj-ea"/>
                </a:rPr>
                <a:t>网络接口层（子网层）</a:t>
              </a:r>
            </a:p>
          </p:txBody>
        </p:sp>
      </p:grpSp>
    </p:spTree>
    <p:extLst>
      <p:ext uri="{BB962C8B-B14F-4D97-AF65-F5344CB8AC3E}">
        <p14:creationId xmlns:p14="http://schemas.microsoft.com/office/powerpoint/2010/main" val="2242851377"/>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组合 3"/>
          <p:cNvGrpSpPr/>
          <p:nvPr/>
        </p:nvGrpSpPr>
        <p:grpSpPr bwMode="auto">
          <a:xfrm>
            <a:off x="1258543" y="2447564"/>
            <a:ext cx="4977496" cy="2082456"/>
            <a:chOff x="1166919" y="2653839"/>
            <a:chExt cx="4977696" cy="2081864"/>
          </a:xfrm>
        </p:grpSpPr>
        <p:sp>
          <p:nvSpPr>
            <p:cNvPr id="5" name="Text Box 37"/>
            <p:cNvSpPr txBox="1">
              <a:spLocks noChangeArrowheads="1"/>
            </p:cNvSpPr>
            <p:nvPr/>
          </p:nvSpPr>
          <p:spPr bwMode="auto">
            <a:xfrm>
              <a:off x="1166919" y="4384938"/>
              <a:ext cx="4977696" cy="350765"/>
            </a:xfrm>
            <a:prstGeom prst="rect">
              <a:avLst/>
            </a:prstGeom>
            <a:solidFill>
              <a:schemeClr val="accent6">
                <a:lumMod val="75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lnSpc>
                  <a:spcPct val="120000"/>
                </a:lnSpc>
              </a:pPr>
              <a:r>
                <a:rPr lang="en-US" altLang="zh-CN" sz="1400" b="1" dirty="0">
                  <a:latin typeface="微软雅黑" panose="020B0503020204020204" pitchFamily="34" charset="-122"/>
                  <a:ea typeface="微软雅黑" panose="020B0503020204020204" pitchFamily="34" charset="-122"/>
                </a:rPr>
                <a:t>IP over Everything</a:t>
              </a:r>
              <a:r>
                <a:rPr lang="zh-CN" altLang="en-US" sz="1400" b="1" dirty="0">
                  <a:latin typeface="微软雅黑" panose="020B0503020204020204" pitchFamily="34" charset="-122"/>
                  <a:ea typeface="微软雅黑" panose="020B0503020204020204" pitchFamily="34" charset="-122"/>
                </a:rPr>
                <a:t>：</a:t>
              </a:r>
              <a:r>
                <a:rPr lang="en-US" altLang="zh-CN" sz="1400" b="1" dirty="0">
                  <a:latin typeface="微软雅黑" panose="020B0503020204020204" pitchFamily="34" charset="-122"/>
                  <a:ea typeface="微软雅黑" panose="020B0503020204020204" pitchFamily="34" charset="-122"/>
                </a:rPr>
                <a:t>IP </a:t>
              </a:r>
              <a:r>
                <a:rPr lang="zh-CN" altLang="en-US" sz="1400" b="1" dirty="0">
                  <a:latin typeface="微软雅黑" panose="020B0503020204020204" pitchFamily="34" charset="-122"/>
                  <a:ea typeface="微软雅黑" panose="020B0503020204020204" pitchFamily="34" charset="-122"/>
                </a:rPr>
                <a:t>协议可以在多种类型的网络上运行</a:t>
              </a:r>
            </a:p>
          </p:txBody>
        </p:sp>
        <p:sp>
          <p:nvSpPr>
            <p:cNvPr id="6" name="AutoShape 2"/>
            <p:cNvSpPr>
              <a:spLocks noChangeArrowheads="1"/>
            </p:cNvSpPr>
            <p:nvPr/>
          </p:nvSpPr>
          <p:spPr bwMode="auto">
            <a:xfrm>
              <a:off x="1283573" y="2653839"/>
              <a:ext cx="4724528" cy="1692581"/>
            </a:xfrm>
            <a:prstGeom prst="triangle">
              <a:avLst>
                <a:gd name="adj" fmla="val 50000"/>
              </a:avLst>
            </a:prstGeom>
            <a:solidFill>
              <a:srgbClr val="ABEBD7"/>
            </a:solidFill>
            <a:ln w="9525">
              <a:solidFill>
                <a:srgbClr val="339933"/>
              </a:solidFill>
              <a:miter lim="800000"/>
            </a:ln>
          </p:spPr>
          <p:txBody>
            <a:bodyPr wrap="none" anchor="ctr"/>
            <a:lstStyle/>
            <a:p>
              <a:endParaRPr lang="zh-CN" altLang="en-US" b="1" dirty="0">
                <a:solidFill>
                  <a:srgbClr val="000099"/>
                </a:solidFill>
                <a:latin typeface="Times New Roman" panose="02020603050405020304" pitchFamily="18" charset="0"/>
                <a:ea typeface="微软雅黑 Light" panose="020B0502040204020203" pitchFamily="34" charset="-122"/>
              </a:endParaRPr>
            </a:p>
          </p:txBody>
        </p:sp>
      </p:grpSp>
      <p:grpSp>
        <p:nvGrpSpPr>
          <p:cNvPr id="7" name="组合 6"/>
          <p:cNvGrpSpPr/>
          <p:nvPr/>
        </p:nvGrpSpPr>
        <p:grpSpPr bwMode="auto">
          <a:xfrm>
            <a:off x="1258542" y="1155615"/>
            <a:ext cx="4977497" cy="2246823"/>
            <a:chOff x="1093314" y="1740194"/>
            <a:chExt cx="6917709" cy="3122074"/>
          </a:xfrm>
        </p:grpSpPr>
        <p:sp>
          <p:nvSpPr>
            <p:cNvPr id="8" name="AutoShape 3"/>
            <p:cNvSpPr>
              <a:spLocks noChangeArrowheads="1"/>
            </p:cNvSpPr>
            <p:nvPr/>
          </p:nvSpPr>
          <p:spPr bwMode="auto">
            <a:xfrm flipV="1">
              <a:off x="1246437" y="2269258"/>
              <a:ext cx="6566083" cy="2593010"/>
            </a:xfrm>
            <a:prstGeom prst="triangle">
              <a:avLst>
                <a:gd name="adj" fmla="val 50000"/>
              </a:avLst>
            </a:prstGeom>
            <a:solidFill>
              <a:srgbClr val="ABEBD7"/>
            </a:solidFill>
            <a:ln w="9525">
              <a:solidFill>
                <a:srgbClr val="339933"/>
              </a:solidFill>
              <a:miter lim="800000"/>
            </a:ln>
          </p:spPr>
          <p:txBody>
            <a:bodyPr wrap="none" anchor="ctr"/>
            <a:lstStyle/>
            <a:p>
              <a:endParaRPr lang="zh-CN" altLang="en-US" b="1" dirty="0">
                <a:solidFill>
                  <a:srgbClr val="000099"/>
                </a:solidFill>
                <a:latin typeface="Times New Roman" panose="02020603050405020304" pitchFamily="18" charset="0"/>
                <a:ea typeface="微软雅黑 Light" panose="020B0502040204020203" pitchFamily="34" charset="-122"/>
              </a:endParaRPr>
            </a:p>
          </p:txBody>
        </p:sp>
        <p:sp>
          <p:nvSpPr>
            <p:cNvPr id="9" name="Text Box 37"/>
            <p:cNvSpPr txBox="1">
              <a:spLocks noChangeArrowheads="1"/>
            </p:cNvSpPr>
            <p:nvPr/>
          </p:nvSpPr>
          <p:spPr bwMode="auto">
            <a:xfrm>
              <a:off x="1093314" y="1740194"/>
              <a:ext cx="6917709" cy="487545"/>
            </a:xfrm>
            <a:prstGeom prst="rect">
              <a:avLst/>
            </a:prstGeom>
            <a:solidFill>
              <a:srgbClr val="FFC000"/>
            </a:solidFill>
            <a:ln w="9525">
              <a:solidFill>
                <a:srgbClr val="339933"/>
              </a:solidFill>
              <a:miter lim="800000"/>
            </a:ln>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lnSpc>
                  <a:spcPct val="120000"/>
                </a:lnSpc>
              </a:pPr>
              <a:r>
                <a:rPr lang="en-US" altLang="zh-CN" sz="1400" b="1">
                  <a:latin typeface="微软雅黑" panose="020B0503020204020204" pitchFamily="34" charset="-122"/>
                  <a:ea typeface="微软雅黑" panose="020B0503020204020204" pitchFamily="34" charset="-122"/>
                </a:rPr>
                <a:t>Everything over IP </a:t>
              </a:r>
              <a:r>
                <a:rPr lang="zh-CN" altLang="en-US" sz="1400" b="1">
                  <a:latin typeface="微软雅黑" panose="020B0503020204020204" pitchFamily="34" charset="-122"/>
                  <a:ea typeface="微软雅黑" panose="020B0503020204020204" pitchFamily="34" charset="-122"/>
                </a:rPr>
                <a:t>：</a:t>
              </a:r>
              <a:r>
                <a:rPr lang="en-US" altLang="zh-CN" sz="1400" b="1">
                  <a:latin typeface="微软雅黑" panose="020B0503020204020204" pitchFamily="34" charset="-122"/>
                  <a:ea typeface="微软雅黑" panose="020B0503020204020204" pitchFamily="34" charset="-122"/>
                </a:rPr>
                <a:t>IP </a:t>
              </a:r>
              <a:r>
                <a:rPr lang="zh-CN" altLang="en-US" sz="1400" b="1">
                  <a:latin typeface="微软雅黑" panose="020B0503020204020204" pitchFamily="34" charset="-122"/>
                  <a:ea typeface="微软雅黑" panose="020B0503020204020204" pitchFamily="34" charset="-122"/>
                </a:rPr>
                <a:t>层</a:t>
              </a:r>
              <a:r>
                <a:rPr lang="zh-CN" altLang="en-US" sz="1400" b="1" dirty="0">
                  <a:latin typeface="微软雅黑" panose="020B0503020204020204" pitchFamily="34" charset="-122"/>
                  <a:ea typeface="微软雅黑" panose="020B0503020204020204" pitchFamily="34" charset="-122"/>
                </a:rPr>
                <a:t>可以支持多种的运输层协议</a:t>
              </a:r>
            </a:p>
          </p:txBody>
        </p:sp>
      </p:grpSp>
      <p:sp>
        <p:nvSpPr>
          <p:cNvPr id="10" name="Rectangle 5"/>
          <p:cNvSpPr>
            <a:spLocks noChangeArrowheads="1"/>
          </p:cNvSpPr>
          <p:nvPr/>
        </p:nvSpPr>
        <p:spPr bwMode="auto">
          <a:xfrm>
            <a:off x="2087950" y="1651425"/>
            <a:ext cx="531812" cy="238125"/>
          </a:xfrm>
          <a:prstGeom prst="rect">
            <a:avLst/>
          </a:prstGeom>
          <a:solidFill>
            <a:srgbClr val="000099"/>
          </a:solidFill>
          <a:ln>
            <a:noFill/>
          </a:ln>
        </p:spPr>
        <p:style>
          <a:lnRef idx="2">
            <a:schemeClr val="dk1"/>
          </a:lnRef>
          <a:fillRef idx="1">
            <a:schemeClr val="lt1"/>
          </a:fillRef>
          <a:effectRef idx="0">
            <a:schemeClr val="dk1"/>
          </a:effectRef>
          <a:fontRef idx="minor">
            <a:schemeClr val="dk1"/>
          </a:fontRef>
        </p:style>
        <p:txBody>
          <a:bodyPr wrap="none" anchor="ctr"/>
          <a:lstStyle/>
          <a:p>
            <a:pPr algn="ctr" fontAlgn="auto">
              <a:spcBef>
                <a:spcPts val="0"/>
              </a:spcBef>
              <a:spcAft>
                <a:spcPts val="0"/>
              </a:spcAft>
              <a:defRPr/>
            </a:pPr>
            <a:r>
              <a:rPr kumimoji="1" lang="en-US" altLang="zh-CN" sz="1400" b="1" dirty="0">
                <a:solidFill>
                  <a:schemeClr val="bg1"/>
                </a:solidFill>
                <a:latin typeface="微软雅黑" panose="020B0503020204020204" pitchFamily="34" charset="-122"/>
                <a:ea typeface="微软雅黑" panose="020B0503020204020204" pitchFamily="34" charset="-122"/>
              </a:rPr>
              <a:t>HTTP</a:t>
            </a:r>
          </a:p>
        </p:txBody>
      </p:sp>
      <p:sp>
        <p:nvSpPr>
          <p:cNvPr id="11" name="Rectangle 6"/>
          <p:cNvSpPr>
            <a:spLocks noChangeArrowheads="1"/>
          </p:cNvSpPr>
          <p:nvPr/>
        </p:nvSpPr>
        <p:spPr bwMode="auto">
          <a:xfrm>
            <a:off x="3097600" y="1651425"/>
            <a:ext cx="533400" cy="238125"/>
          </a:xfrm>
          <a:prstGeom prst="rect">
            <a:avLst/>
          </a:prstGeom>
          <a:solidFill>
            <a:srgbClr val="000099"/>
          </a:solidFill>
          <a:ln>
            <a:noFill/>
          </a:ln>
        </p:spPr>
        <p:style>
          <a:lnRef idx="2">
            <a:schemeClr val="dk1"/>
          </a:lnRef>
          <a:fillRef idx="1">
            <a:schemeClr val="lt1"/>
          </a:fillRef>
          <a:effectRef idx="0">
            <a:schemeClr val="dk1"/>
          </a:effectRef>
          <a:fontRef idx="minor">
            <a:schemeClr val="dk1"/>
          </a:fontRef>
        </p:style>
        <p:txBody>
          <a:bodyPr wrap="none" anchor="ctr"/>
          <a:lstStyle/>
          <a:p>
            <a:pPr algn="ctr" fontAlgn="auto">
              <a:spcBef>
                <a:spcPts val="0"/>
              </a:spcBef>
              <a:spcAft>
                <a:spcPts val="0"/>
              </a:spcAft>
              <a:defRPr/>
            </a:pPr>
            <a:r>
              <a:rPr kumimoji="1" lang="en-US" altLang="zh-CN" sz="1400" b="1">
                <a:solidFill>
                  <a:schemeClr val="bg1"/>
                </a:solidFill>
                <a:latin typeface="微软雅黑" panose="020B0503020204020204" pitchFamily="34" charset="-122"/>
                <a:ea typeface="微软雅黑" panose="020B0503020204020204" pitchFamily="34" charset="-122"/>
              </a:rPr>
              <a:t>SMTP</a:t>
            </a:r>
          </a:p>
        </p:txBody>
      </p:sp>
      <p:sp>
        <p:nvSpPr>
          <p:cNvPr id="12" name="Rectangle 7"/>
          <p:cNvSpPr>
            <a:spLocks noChangeArrowheads="1"/>
          </p:cNvSpPr>
          <p:nvPr/>
        </p:nvSpPr>
        <p:spPr bwMode="auto">
          <a:xfrm>
            <a:off x="3843725" y="1651425"/>
            <a:ext cx="531812" cy="238125"/>
          </a:xfrm>
          <a:prstGeom prst="rect">
            <a:avLst/>
          </a:prstGeom>
          <a:solidFill>
            <a:srgbClr val="000099"/>
          </a:solidFill>
          <a:ln>
            <a:noFill/>
          </a:ln>
        </p:spPr>
        <p:style>
          <a:lnRef idx="2">
            <a:schemeClr val="dk1"/>
          </a:lnRef>
          <a:fillRef idx="1">
            <a:schemeClr val="lt1"/>
          </a:fillRef>
          <a:effectRef idx="0">
            <a:schemeClr val="dk1"/>
          </a:effectRef>
          <a:fontRef idx="minor">
            <a:schemeClr val="dk1"/>
          </a:fontRef>
        </p:style>
        <p:txBody>
          <a:bodyPr wrap="none" anchor="ctr"/>
          <a:lstStyle/>
          <a:p>
            <a:pPr algn="ctr" fontAlgn="auto">
              <a:spcBef>
                <a:spcPts val="0"/>
              </a:spcBef>
              <a:spcAft>
                <a:spcPts val="0"/>
              </a:spcAft>
              <a:defRPr/>
            </a:pPr>
            <a:r>
              <a:rPr kumimoji="1" lang="en-US" altLang="zh-CN" sz="1400" b="1">
                <a:solidFill>
                  <a:schemeClr val="bg1"/>
                </a:solidFill>
                <a:latin typeface="微软雅黑" panose="020B0503020204020204" pitchFamily="34" charset="-122"/>
                <a:ea typeface="微软雅黑" panose="020B0503020204020204" pitchFamily="34" charset="-122"/>
              </a:rPr>
              <a:t>DNS</a:t>
            </a:r>
          </a:p>
        </p:txBody>
      </p:sp>
      <p:sp>
        <p:nvSpPr>
          <p:cNvPr id="13" name="Rectangle 8"/>
          <p:cNvSpPr>
            <a:spLocks noChangeArrowheads="1"/>
          </p:cNvSpPr>
          <p:nvPr/>
        </p:nvSpPr>
        <p:spPr bwMode="auto">
          <a:xfrm>
            <a:off x="4853375" y="1651425"/>
            <a:ext cx="533400" cy="238125"/>
          </a:xfrm>
          <a:prstGeom prst="rect">
            <a:avLst/>
          </a:prstGeom>
          <a:solidFill>
            <a:srgbClr val="000099"/>
          </a:solidFill>
          <a:ln>
            <a:noFill/>
          </a:ln>
        </p:spPr>
        <p:style>
          <a:lnRef idx="2">
            <a:schemeClr val="dk1"/>
          </a:lnRef>
          <a:fillRef idx="1">
            <a:schemeClr val="lt1"/>
          </a:fillRef>
          <a:effectRef idx="0">
            <a:schemeClr val="dk1"/>
          </a:effectRef>
          <a:fontRef idx="minor">
            <a:schemeClr val="dk1"/>
          </a:fontRef>
        </p:style>
        <p:txBody>
          <a:bodyPr wrap="none" anchor="ctr"/>
          <a:lstStyle/>
          <a:p>
            <a:pPr algn="ctr" fontAlgn="auto">
              <a:spcBef>
                <a:spcPts val="0"/>
              </a:spcBef>
              <a:spcAft>
                <a:spcPts val="0"/>
              </a:spcAft>
              <a:defRPr/>
            </a:pPr>
            <a:r>
              <a:rPr kumimoji="1" lang="en-US" altLang="zh-CN" sz="1400" b="1">
                <a:solidFill>
                  <a:schemeClr val="bg1"/>
                </a:solidFill>
                <a:latin typeface="微软雅黑" panose="020B0503020204020204" pitchFamily="34" charset="-122"/>
                <a:ea typeface="微软雅黑" panose="020B0503020204020204" pitchFamily="34" charset="-122"/>
              </a:rPr>
              <a:t>RTP</a:t>
            </a:r>
          </a:p>
        </p:txBody>
      </p:sp>
      <p:sp>
        <p:nvSpPr>
          <p:cNvPr id="14" name="Rectangle 9"/>
          <p:cNvSpPr>
            <a:spLocks noChangeArrowheads="1"/>
          </p:cNvSpPr>
          <p:nvPr/>
        </p:nvSpPr>
        <p:spPr bwMode="auto">
          <a:xfrm>
            <a:off x="2565787" y="2221338"/>
            <a:ext cx="531813" cy="236537"/>
          </a:xfrm>
          <a:prstGeom prst="rect">
            <a:avLst/>
          </a:prstGeom>
          <a:solidFill>
            <a:srgbClr val="0098F6"/>
          </a:solidFill>
          <a:ln>
            <a:solidFill>
              <a:srgbClr val="0033CC"/>
            </a:solidFill>
          </a:ln>
        </p:spPr>
        <p:style>
          <a:lnRef idx="2">
            <a:schemeClr val="dk1"/>
          </a:lnRef>
          <a:fillRef idx="1">
            <a:schemeClr val="lt1"/>
          </a:fillRef>
          <a:effectRef idx="0">
            <a:schemeClr val="dk1"/>
          </a:effectRef>
          <a:fontRef idx="minor">
            <a:schemeClr val="dk1"/>
          </a:fontRef>
        </p:style>
        <p:txBody>
          <a:bodyPr wrap="none" anchor="ctr"/>
          <a:lstStyle/>
          <a:p>
            <a:pPr algn="ctr" fontAlgn="auto">
              <a:spcBef>
                <a:spcPts val="0"/>
              </a:spcBef>
              <a:spcAft>
                <a:spcPts val="0"/>
              </a:spcAft>
              <a:defRPr/>
            </a:pPr>
            <a:r>
              <a:rPr kumimoji="1" lang="en-US" altLang="zh-CN" sz="1400" b="1" dirty="0">
                <a:solidFill>
                  <a:schemeClr val="bg1"/>
                </a:solidFill>
                <a:latin typeface="微软雅黑" panose="020B0503020204020204" pitchFamily="34" charset="-122"/>
                <a:ea typeface="微软雅黑" panose="020B0503020204020204" pitchFamily="34" charset="-122"/>
              </a:rPr>
              <a:t>TCP</a:t>
            </a:r>
          </a:p>
        </p:txBody>
      </p:sp>
      <p:sp>
        <p:nvSpPr>
          <p:cNvPr id="15" name="Rectangle 10"/>
          <p:cNvSpPr>
            <a:spLocks noChangeArrowheads="1"/>
          </p:cNvSpPr>
          <p:nvPr/>
        </p:nvSpPr>
        <p:spPr bwMode="auto">
          <a:xfrm>
            <a:off x="4375537" y="2221338"/>
            <a:ext cx="531813" cy="236537"/>
          </a:xfrm>
          <a:prstGeom prst="rect">
            <a:avLst/>
          </a:prstGeom>
          <a:solidFill>
            <a:srgbClr val="0098F6"/>
          </a:solidFill>
          <a:ln>
            <a:solidFill>
              <a:srgbClr val="0033CC"/>
            </a:solidFill>
          </a:ln>
        </p:spPr>
        <p:style>
          <a:lnRef idx="2">
            <a:schemeClr val="dk1"/>
          </a:lnRef>
          <a:fillRef idx="1">
            <a:schemeClr val="lt1"/>
          </a:fillRef>
          <a:effectRef idx="0">
            <a:schemeClr val="dk1"/>
          </a:effectRef>
          <a:fontRef idx="minor">
            <a:schemeClr val="dk1"/>
          </a:fontRef>
        </p:style>
        <p:txBody>
          <a:bodyPr wrap="none" anchor="ctr"/>
          <a:lstStyle/>
          <a:p>
            <a:pPr algn="ctr" fontAlgn="auto">
              <a:spcBef>
                <a:spcPts val="0"/>
              </a:spcBef>
              <a:spcAft>
                <a:spcPts val="0"/>
              </a:spcAft>
              <a:defRPr/>
            </a:pPr>
            <a:r>
              <a:rPr kumimoji="1" lang="en-US" altLang="zh-CN" sz="1400" b="1" dirty="0">
                <a:solidFill>
                  <a:schemeClr val="bg1"/>
                </a:solidFill>
                <a:latin typeface="微软雅黑" panose="020B0503020204020204" pitchFamily="34" charset="-122"/>
                <a:ea typeface="微软雅黑" panose="020B0503020204020204" pitchFamily="34" charset="-122"/>
              </a:rPr>
              <a:t>UDP</a:t>
            </a:r>
          </a:p>
        </p:txBody>
      </p:sp>
      <p:sp>
        <p:nvSpPr>
          <p:cNvPr id="16" name="Rectangle 12"/>
          <p:cNvSpPr>
            <a:spLocks noChangeArrowheads="1"/>
          </p:cNvSpPr>
          <p:nvPr/>
        </p:nvSpPr>
        <p:spPr bwMode="auto">
          <a:xfrm>
            <a:off x="2087950" y="3681838"/>
            <a:ext cx="850900" cy="230187"/>
          </a:xfrm>
          <a:prstGeom prst="rect">
            <a:avLst/>
          </a:prstGeom>
          <a:solidFill>
            <a:srgbClr val="00B0F0"/>
          </a:solidFill>
          <a:ln>
            <a:noFill/>
          </a:ln>
        </p:spPr>
        <p:style>
          <a:lnRef idx="2">
            <a:schemeClr val="dk1"/>
          </a:lnRef>
          <a:fillRef idx="1">
            <a:schemeClr val="lt1"/>
          </a:fillRef>
          <a:effectRef idx="0">
            <a:schemeClr val="dk1"/>
          </a:effectRef>
          <a:fontRef idx="minor">
            <a:schemeClr val="dk1"/>
          </a:fontRef>
        </p:style>
        <p:txBody>
          <a:bodyPr wrap="none" anchor="ctr"/>
          <a:lstStyle/>
          <a:p>
            <a:pPr algn="ctr" fontAlgn="auto">
              <a:spcBef>
                <a:spcPts val="0"/>
              </a:spcBef>
              <a:spcAft>
                <a:spcPts val="0"/>
              </a:spcAft>
              <a:defRPr/>
            </a:pPr>
            <a:endParaRPr kumimoji="1" lang="zh-CN" altLang="zh-CN" sz="1600" b="1" dirty="0">
              <a:solidFill>
                <a:srgbClr val="000099"/>
              </a:solidFill>
              <a:ea typeface="微软雅黑 Light" panose="020B0502040204020203" pitchFamily="34" charset="-122"/>
            </a:endParaRPr>
          </a:p>
        </p:txBody>
      </p:sp>
      <p:sp>
        <p:nvSpPr>
          <p:cNvPr id="17" name="Rectangle 13"/>
          <p:cNvSpPr>
            <a:spLocks noChangeArrowheads="1"/>
          </p:cNvSpPr>
          <p:nvPr/>
        </p:nvSpPr>
        <p:spPr bwMode="auto">
          <a:xfrm>
            <a:off x="3205550" y="3681838"/>
            <a:ext cx="850900" cy="230187"/>
          </a:xfrm>
          <a:prstGeom prst="rect">
            <a:avLst/>
          </a:prstGeom>
          <a:solidFill>
            <a:srgbClr val="00B0F0"/>
          </a:solidFill>
          <a:ln>
            <a:noFill/>
          </a:ln>
        </p:spPr>
        <p:style>
          <a:lnRef idx="2">
            <a:schemeClr val="dk1"/>
          </a:lnRef>
          <a:fillRef idx="1">
            <a:schemeClr val="lt1"/>
          </a:fillRef>
          <a:effectRef idx="0">
            <a:schemeClr val="dk1"/>
          </a:effectRef>
          <a:fontRef idx="minor">
            <a:schemeClr val="dk1"/>
          </a:fontRef>
        </p:style>
        <p:txBody>
          <a:bodyPr wrap="none" anchor="ctr"/>
          <a:lstStyle/>
          <a:p>
            <a:pPr algn="ctr" fontAlgn="auto">
              <a:spcBef>
                <a:spcPts val="0"/>
              </a:spcBef>
              <a:spcAft>
                <a:spcPts val="0"/>
              </a:spcAft>
              <a:defRPr/>
            </a:pPr>
            <a:endParaRPr kumimoji="1" lang="zh-CN" altLang="zh-CN" sz="1600" b="1" dirty="0">
              <a:solidFill>
                <a:srgbClr val="000099"/>
              </a:solidFill>
              <a:ea typeface="微软雅黑 Light" panose="020B0502040204020203" pitchFamily="34" charset="-122"/>
            </a:endParaRPr>
          </a:p>
        </p:txBody>
      </p:sp>
      <p:sp>
        <p:nvSpPr>
          <p:cNvPr id="18" name="Rectangle 14"/>
          <p:cNvSpPr>
            <a:spLocks noChangeArrowheads="1"/>
          </p:cNvSpPr>
          <p:nvPr/>
        </p:nvSpPr>
        <p:spPr bwMode="auto">
          <a:xfrm>
            <a:off x="4535875" y="3681838"/>
            <a:ext cx="850900" cy="230187"/>
          </a:xfrm>
          <a:prstGeom prst="rect">
            <a:avLst/>
          </a:prstGeom>
          <a:solidFill>
            <a:srgbClr val="00B0F0"/>
          </a:solidFill>
          <a:ln>
            <a:noFill/>
          </a:ln>
        </p:spPr>
        <p:style>
          <a:lnRef idx="2">
            <a:schemeClr val="dk1"/>
          </a:lnRef>
          <a:fillRef idx="1">
            <a:schemeClr val="lt1"/>
          </a:fillRef>
          <a:effectRef idx="0">
            <a:schemeClr val="dk1"/>
          </a:effectRef>
          <a:fontRef idx="minor">
            <a:schemeClr val="dk1"/>
          </a:fontRef>
        </p:style>
        <p:txBody>
          <a:bodyPr wrap="none" anchor="ctr"/>
          <a:lstStyle/>
          <a:p>
            <a:pPr algn="ctr" fontAlgn="auto">
              <a:spcBef>
                <a:spcPts val="0"/>
              </a:spcBef>
              <a:spcAft>
                <a:spcPts val="0"/>
              </a:spcAft>
              <a:defRPr/>
            </a:pPr>
            <a:endParaRPr kumimoji="1" lang="zh-CN" altLang="zh-CN" sz="1600" b="1" dirty="0">
              <a:solidFill>
                <a:srgbClr val="000099"/>
              </a:solidFill>
              <a:ea typeface="微软雅黑 Light" panose="020B0502040204020203" pitchFamily="34" charset="-122"/>
            </a:endParaRPr>
          </a:p>
        </p:txBody>
      </p:sp>
      <p:sp>
        <p:nvSpPr>
          <p:cNvPr id="19" name="Line 15"/>
          <p:cNvSpPr>
            <a:spLocks noChangeShapeType="1"/>
          </p:cNvSpPr>
          <p:nvPr/>
        </p:nvSpPr>
        <p:spPr bwMode="auto">
          <a:xfrm>
            <a:off x="1322775" y="3315125"/>
            <a:ext cx="4789487" cy="0"/>
          </a:xfrm>
          <a:prstGeom prst="line">
            <a:avLst/>
          </a:prstGeom>
          <a:noFill/>
          <a:ln w="28575">
            <a:solidFill>
              <a:srgbClr val="CC00CC"/>
            </a:solidFill>
            <a:prstDash val="dash"/>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20" name="Line 16"/>
          <p:cNvSpPr>
            <a:spLocks noChangeShapeType="1"/>
          </p:cNvSpPr>
          <p:nvPr/>
        </p:nvSpPr>
        <p:spPr bwMode="auto">
          <a:xfrm>
            <a:off x="1322775" y="2697588"/>
            <a:ext cx="4789487" cy="0"/>
          </a:xfrm>
          <a:prstGeom prst="line">
            <a:avLst/>
          </a:prstGeom>
          <a:noFill/>
          <a:ln w="28575">
            <a:solidFill>
              <a:srgbClr val="CC00CC"/>
            </a:solidFill>
            <a:prstDash val="dash"/>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21" name="Line 17"/>
          <p:cNvSpPr>
            <a:spLocks noChangeShapeType="1"/>
          </p:cNvSpPr>
          <p:nvPr/>
        </p:nvSpPr>
        <p:spPr bwMode="auto">
          <a:xfrm>
            <a:off x="1322775" y="2078463"/>
            <a:ext cx="4789487" cy="0"/>
          </a:xfrm>
          <a:prstGeom prst="line">
            <a:avLst/>
          </a:prstGeom>
          <a:noFill/>
          <a:ln w="28575">
            <a:solidFill>
              <a:srgbClr val="CC00CC"/>
            </a:solidFill>
            <a:prstDash val="dash"/>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22" name="Text Box 18"/>
          <p:cNvSpPr txBox="1">
            <a:spLocks noChangeArrowheads="1"/>
          </p:cNvSpPr>
          <p:nvPr/>
        </p:nvSpPr>
        <p:spPr bwMode="auto">
          <a:xfrm>
            <a:off x="947821" y="2816650"/>
            <a:ext cx="646113" cy="2778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200" b="1" dirty="0">
                <a:latin typeface="微软雅黑" panose="020B0503020204020204" pitchFamily="34" charset="-122"/>
                <a:ea typeface="微软雅黑" panose="020B0503020204020204" pitchFamily="34" charset="-122"/>
              </a:rPr>
              <a:t>网际层</a:t>
            </a:r>
          </a:p>
        </p:txBody>
      </p:sp>
      <p:sp>
        <p:nvSpPr>
          <p:cNvPr id="23" name="Text Box 19"/>
          <p:cNvSpPr txBox="1">
            <a:spLocks noChangeArrowheads="1"/>
          </p:cNvSpPr>
          <p:nvPr/>
        </p:nvSpPr>
        <p:spPr bwMode="auto">
          <a:xfrm>
            <a:off x="844634" y="3577062"/>
            <a:ext cx="954087" cy="2778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200" b="1" dirty="0">
                <a:latin typeface="微软雅黑" panose="020B0503020204020204" pitchFamily="34" charset="-122"/>
                <a:ea typeface="微软雅黑" panose="020B0503020204020204" pitchFamily="34" charset="-122"/>
              </a:rPr>
              <a:t>网络接口层</a:t>
            </a:r>
          </a:p>
        </p:txBody>
      </p:sp>
      <p:sp>
        <p:nvSpPr>
          <p:cNvPr id="24" name="Text Box 20"/>
          <p:cNvSpPr txBox="1">
            <a:spLocks noChangeArrowheads="1"/>
          </p:cNvSpPr>
          <p:nvPr/>
        </p:nvSpPr>
        <p:spPr bwMode="auto">
          <a:xfrm>
            <a:off x="947821" y="2210225"/>
            <a:ext cx="646113" cy="2762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200" b="1" dirty="0">
                <a:latin typeface="微软雅黑" panose="020B0503020204020204" pitchFamily="34" charset="-122"/>
                <a:ea typeface="微软雅黑" panose="020B0503020204020204" pitchFamily="34" charset="-122"/>
              </a:rPr>
              <a:t>运输层</a:t>
            </a:r>
          </a:p>
        </p:txBody>
      </p:sp>
      <p:sp>
        <p:nvSpPr>
          <p:cNvPr id="25" name="Text Box 21"/>
          <p:cNvSpPr txBox="1">
            <a:spLocks noChangeArrowheads="1"/>
          </p:cNvSpPr>
          <p:nvPr/>
        </p:nvSpPr>
        <p:spPr bwMode="auto">
          <a:xfrm>
            <a:off x="947821" y="1645075"/>
            <a:ext cx="646113" cy="2778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200" b="1" dirty="0">
                <a:latin typeface="微软雅黑" panose="020B0503020204020204" pitchFamily="34" charset="-122"/>
                <a:ea typeface="微软雅黑" panose="020B0503020204020204" pitchFamily="34" charset="-122"/>
              </a:rPr>
              <a:t>应用层</a:t>
            </a:r>
          </a:p>
        </p:txBody>
      </p:sp>
      <p:sp>
        <p:nvSpPr>
          <p:cNvPr id="26" name="Text Box 22"/>
          <p:cNvSpPr txBox="1">
            <a:spLocks noChangeArrowheads="1"/>
          </p:cNvSpPr>
          <p:nvPr/>
        </p:nvSpPr>
        <p:spPr bwMode="auto">
          <a:xfrm>
            <a:off x="2702312" y="1600625"/>
            <a:ext cx="44114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2000" b="1" dirty="0">
                <a:solidFill>
                  <a:srgbClr val="000099"/>
                </a:solidFill>
                <a:latin typeface="Times New Roman" panose="02020603050405020304" pitchFamily="18" charset="0"/>
                <a:ea typeface="微软雅黑 Light" panose="020B0502040204020203" pitchFamily="34" charset="-122"/>
              </a:rPr>
              <a:t>…</a:t>
            </a:r>
          </a:p>
        </p:txBody>
      </p:sp>
      <p:sp>
        <p:nvSpPr>
          <p:cNvPr id="27" name="Text Box 23"/>
          <p:cNvSpPr txBox="1">
            <a:spLocks noChangeArrowheads="1"/>
          </p:cNvSpPr>
          <p:nvPr/>
        </p:nvSpPr>
        <p:spPr bwMode="auto">
          <a:xfrm>
            <a:off x="4462850" y="1600625"/>
            <a:ext cx="44114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2000" b="1" dirty="0">
                <a:solidFill>
                  <a:srgbClr val="000099"/>
                </a:solidFill>
                <a:latin typeface="Times New Roman" panose="02020603050405020304" pitchFamily="18" charset="0"/>
                <a:ea typeface="微软雅黑 Light" panose="020B0502040204020203" pitchFamily="34" charset="-122"/>
              </a:rPr>
              <a:t>…</a:t>
            </a:r>
          </a:p>
        </p:txBody>
      </p:sp>
      <p:sp>
        <p:nvSpPr>
          <p:cNvPr id="28" name="Text Box 24"/>
          <p:cNvSpPr txBox="1">
            <a:spLocks noChangeArrowheads="1"/>
          </p:cNvSpPr>
          <p:nvPr/>
        </p:nvSpPr>
        <p:spPr bwMode="auto">
          <a:xfrm>
            <a:off x="4165987" y="3648500"/>
            <a:ext cx="389850"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600" b="1" dirty="0">
                <a:solidFill>
                  <a:srgbClr val="000099"/>
                </a:solidFill>
                <a:latin typeface="Times New Roman" panose="02020603050405020304" pitchFamily="18" charset="0"/>
                <a:ea typeface="微软雅黑 Light" panose="020B0502040204020203" pitchFamily="34" charset="-122"/>
              </a:rPr>
              <a:t>…</a:t>
            </a:r>
          </a:p>
        </p:txBody>
      </p:sp>
      <p:sp>
        <p:nvSpPr>
          <p:cNvPr id="29" name="Line 25"/>
          <p:cNvSpPr>
            <a:spLocks noChangeShapeType="1"/>
          </p:cNvSpPr>
          <p:nvPr/>
        </p:nvSpPr>
        <p:spPr bwMode="auto">
          <a:xfrm>
            <a:off x="2345125" y="1905425"/>
            <a:ext cx="333375" cy="330200"/>
          </a:xfrm>
          <a:prstGeom prst="line">
            <a:avLst/>
          </a:prstGeom>
          <a:noFill/>
          <a:ln w="28575">
            <a:solidFill>
              <a:srgbClr val="0033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30" name="Line 26"/>
          <p:cNvSpPr>
            <a:spLocks noChangeShapeType="1"/>
          </p:cNvSpPr>
          <p:nvPr/>
        </p:nvSpPr>
        <p:spPr bwMode="auto">
          <a:xfrm>
            <a:off x="4097725" y="1916538"/>
            <a:ext cx="384175" cy="298450"/>
          </a:xfrm>
          <a:prstGeom prst="line">
            <a:avLst/>
          </a:prstGeom>
          <a:noFill/>
          <a:ln w="28575">
            <a:solidFill>
              <a:srgbClr val="0033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31" name="Line 27"/>
          <p:cNvSpPr>
            <a:spLocks noChangeShapeType="1"/>
          </p:cNvSpPr>
          <p:nvPr/>
        </p:nvSpPr>
        <p:spPr bwMode="auto">
          <a:xfrm flipH="1">
            <a:off x="2973775" y="1907013"/>
            <a:ext cx="381000" cy="312737"/>
          </a:xfrm>
          <a:prstGeom prst="line">
            <a:avLst/>
          </a:prstGeom>
          <a:noFill/>
          <a:ln w="28575">
            <a:solidFill>
              <a:srgbClr val="0033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32" name="Line 28"/>
          <p:cNvSpPr>
            <a:spLocks noChangeShapeType="1"/>
          </p:cNvSpPr>
          <p:nvPr/>
        </p:nvSpPr>
        <p:spPr bwMode="auto">
          <a:xfrm flipH="1">
            <a:off x="4747012" y="1907013"/>
            <a:ext cx="373063" cy="317500"/>
          </a:xfrm>
          <a:prstGeom prst="line">
            <a:avLst/>
          </a:prstGeom>
          <a:noFill/>
          <a:ln w="28575">
            <a:solidFill>
              <a:srgbClr val="0033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33" name="Line 29"/>
          <p:cNvSpPr>
            <a:spLocks noChangeShapeType="1"/>
          </p:cNvSpPr>
          <p:nvPr/>
        </p:nvSpPr>
        <p:spPr bwMode="auto">
          <a:xfrm>
            <a:off x="2829312" y="2476925"/>
            <a:ext cx="750888" cy="400050"/>
          </a:xfrm>
          <a:prstGeom prst="line">
            <a:avLst/>
          </a:prstGeom>
          <a:noFill/>
          <a:ln w="28575">
            <a:solidFill>
              <a:srgbClr val="0033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34" name="Line 30"/>
          <p:cNvSpPr>
            <a:spLocks noChangeShapeType="1"/>
          </p:cNvSpPr>
          <p:nvPr/>
        </p:nvSpPr>
        <p:spPr bwMode="auto">
          <a:xfrm flipH="1">
            <a:off x="3896112" y="2486450"/>
            <a:ext cx="752475" cy="390525"/>
          </a:xfrm>
          <a:prstGeom prst="line">
            <a:avLst/>
          </a:prstGeom>
          <a:noFill/>
          <a:ln w="28575">
            <a:solidFill>
              <a:srgbClr val="0033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35" name="Line 31"/>
          <p:cNvSpPr>
            <a:spLocks noChangeShapeType="1"/>
          </p:cNvSpPr>
          <p:nvPr/>
        </p:nvSpPr>
        <p:spPr bwMode="auto">
          <a:xfrm>
            <a:off x="3924687" y="3156375"/>
            <a:ext cx="1063625" cy="506413"/>
          </a:xfrm>
          <a:prstGeom prst="line">
            <a:avLst/>
          </a:prstGeom>
          <a:noFill/>
          <a:ln w="28575">
            <a:solidFill>
              <a:srgbClr val="0033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36" name="Line 32"/>
          <p:cNvSpPr>
            <a:spLocks noChangeShapeType="1"/>
          </p:cNvSpPr>
          <p:nvPr/>
        </p:nvSpPr>
        <p:spPr bwMode="auto">
          <a:xfrm flipH="1">
            <a:off x="2449900" y="3151613"/>
            <a:ext cx="1074737" cy="511175"/>
          </a:xfrm>
          <a:prstGeom prst="line">
            <a:avLst/>
          </a:prstGeom>
          <a:noFill/>
          <a:ln w="28575">
            <a:solidFill>
              <a:srgbClr val="0033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37" name="Line 33"/>
          <p:cNvSpPr>
            <a:spLocks noChangeShapeType="1"/>
          </p:cNvSpPr>
          <p:nvPr/>
        </p:nvSpPr>
        <p:spPr bwMode="auto">
          <a:xfrm flipH="1">
            <a:off x="3578612" y="3124625"/>
            <a:ext cx="158750" cy="538163"/>
          </a:xfrm>
          <a:prstGeom prst="line">
            <a:avLst/>
          </a:prstGeom>
          <a:noFill/>
          <a:ln w="28575">
            <a:solidFill>
              <a:srgbClr val="0033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latin typeface="Times New Roman" panose="02020603050405020304" pitchFamily="18" charset="0"/>
              <a:ea typeface="微软雅黑 Light" panose="020B0502040204020203" pitchFamily="34" charset="-122"/>
            </a:endParaRPr>
          </a:p>
        </p:txBody>
      </p:sp>
      <p:sp>
        <p:nvSpPr>
          <p:cNvPr id="38" name="Text Box 34"/>
          <p:cNvSpPr txBox="1">
            <a:spLocks noChangeArrowheads="1"/>
          </p:cNvSpPr>
          <p:nvPr/>
        </p:nvSpPr>
        <p:spPr bwMode="auto">
          <a:xfrm>
            <a:off x="2049850" y="3658025"/>
            <a:ext cx="941387" cy="276225"/>
          </a:xfrm>
          <a:prstGeom prst="rect">
            <a:avLst/>
          </a:prstGeom>
          <a:solidFill>
            <a:srgbClr val="0000FF"/>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zh-CN" altLang="en-US" sz="1200" b="1">
                <a:solidFill>
                  <a:schemeClr val="bg1"/>
                </a:solidFill>
                <a:latin typeface="微软雅黑" panose="020B0503020204020204" pitchFamily="34" charset="-122"/>
                <a:ea typeface="微软雅黑" panose="020B0503020204020204" pitchFamily="34" charset="-122"/>
              </a:rPr>
              <a:t>网络接口 </a:t>
            </a:r>
            <a:r>
              <a:rPr kumimoji="1" lang="en-US" altLang="zh-CN" sz="1200" b="1">
                <a:solidFill>
                  <a:schemeClr val="bg1"/>
                </a:solidFill>
                <a:latin typeface="微软雅黑" panose="020B0503020204020204" pitchFamily="34" charset="-122"/>
                <a:ea typeface="微软雅黑" panose="020B0503020204020204" pitchFamily="34" charset="-122"/>
              </a:rPr>
              <a:t>1</a:t>
            </a:r>
          </a:p>
        </p:txBody>
      </p:sp>
      <p:sp>
        <p:nvSpPr>
          <p:cNvPr id="39" name="Text Box 35"/>
          <p:cNvSpPr txBox="1">
            <a:spLocks noChangeArrowheads="1"/>
          </p:cNvSpPr>
          <p:nvPr/>
        </p:nvSpPr>
        <p:spPr bwMode="auto">
          <a:xfrm>
            <a:off x="3170625" y="3658025"/>
            <a:ext cx="941387" cy="276225"/>
          </a:xfrm>
          <a:prstGeom prst="rect">
            <a:avLst/>
          </a:prstGeom>
          <a:solidFill>
            <a:srgbClr val="0000FF"/>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zh-CN" altLang="en-US" sz="1200" b="1">
                <a:solidFill>
                  <a:schemeClr val="bg1"/>
                </a:solidFill>
                <a:latin typeface="微软雅黑" panose="020B0503020204020204" pitchFamily="34" charset="-122"/>
                <a:ea typeface="微软雅黑" panose="020B0503020204020204" pitchFamily="34" charset="-122"/>
              </a:rPr>
              <a:t>网络接口 </a:t>
            </a:r>
            <a:r>
              <a:rPr kumimoji="1" lang="en-US" altLang="zh-CN" sz="1200" b="1">
                <a:solidFill>
                  <a:schemeClr val="bg1"/>
                </a:solidFill>
                <a:latin typeface="微软雅黑" panose="020B0503020204020204" pitchFamily="34" charset="-122"/>
                <a:ea typeface="微软雅黑" panose="020B0503020204020204" pitchFamily="34" charset="-122"/>
              </a:rPr>
              <a:t>2</a:t>
            </a:r>
          </a:p>
        </p:txBody>
      </p:sp>
      <p:sp>
        <p:nvSpPr>
          <p:cNvPr id="40" name="Text Box 36"/>
          <p:cNvSpPr txBox="1">
            <a:spLocks noChangeArrowheads="1"/>
          </p:cNvSpPr>
          <p:nvPr/>
        </p:nvSpPr>
        <p:spPr bwMode="auto">
          <a:xfrm>
            <a:off x="4510475" y="3658025"/>
            <a:ext cx="941387" cy="276225"/>
          </a:xfrm>
          <a:prstGeom prst="rect">
            <a:avLst/>
          </a:prstGeom>
          <a:solidFill>
            <a:srgbClr val="0000FF"/>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zh-CN" altLang="en-US" sz="1200" b="1">
                <a:solidFill>
                  <a:schemeClr val="bg1"/>
                </a:solidFill>
                <a:latin typeface="微软雅黑" panose="020B0503020204020204" pitchFamily="34" charset="-122"/>
                <a:ea typeface="微软雅黑" panose="020B0503020204020204" pitchFamily="34" charset="-122"/>
              </a:rPr>
              <a:t>网络接口 </a:t>
            </a:r>
            <a:r>
              <a:rPr kumimoji="1" lang="en-US" altLang="zh-CN" sz="1200" b="1">
                <a:solidFill>
                  <a:schemeClr val="bg1"/>
                </a:solidFill>
                <a:latin typeface="微软雅黑" panose="020B0503020204020204" pitchFamily="34" charset="-122"/>
                <a:ea typeface="微软雅黑" panose="020B0503020204020204" pitchFamily="34" charset="-122"/>
              </a:rPr>
              <a:t>3</a:t>
            </a:r>
          </a:p>
        </p:txBody>
      </p:sp>
      <p:sp>
        <p:nvSpPr>
          <p:cNvPr id="41" name="Rectangle 11"/>
          <p:cNvSpPr>
            <a:spLocks noChangeArrowheads="1"/>
          </p:cNvSpPr>
          <p:nvPr/>
        </p:nvSpPr>
        <p:spPr bwMode="auto">
          <a:xfrm>
            <a:off x="3391287" y="2849988"/>
            <a:ext cx="636588" cy="284162"/>
          </a:xfrm>
          <a:prstGeom prst="rect">
            <a:avLst/>
          </a:prstGeom>
          <a:solidFill>
            <a:srgbClr val="CC00CC"/>
          </a:solidFill>
          <a:ln>
            <a:solidFill>
              <a:srgbClr val="0033CC"/>
            </a:solidFill>
          </a:ln>
        </p:spPr>
        <p:style>
          <a:lnRef idx="2">
            <a:schemeClr val="dk1"/>
          </a:lnRef>
          <a:fillRef idx="1">
            <a:schemeClr val="lt1"/>
          </a:fillRef>
          <a:effectRef idx="0">
            <a:schemeClr val="dk1"/>
          </a:effectRef>
          <a:fontRef idx="minor">
            <a:schemeClr val="dk1"/>
          </a:fontRef>
        </p:style>
        <p:txBody>
          <a:bodyPr wrap="none" anchor="ctr"/>
          <a:lstStyle/>
          <a:p>
            <a:pPr algn="ctr" fontAlgn="auto">
              <a:spcBef>
                <a:spcPts val="0"/>
              </a:spcBef>
              <a:spcAft>
                <a:spcPts val="0"/>
              </a:spcAft>
              <a:defRPr/>
            </a:pPr>
            <a:r>
              <a:rPr kumimoji="1" lang="en-US" altLang="zh-CN" sz="2000" b="1" dirty="0">
                <a:solidFill>
                  <a:schemeClr val="bg1"/>
                </a:solidFill>
                <a:ea typeface="微软雅黑 Light" panose="020B0502040204020203" pitchFamily="34" charset="-122"/>
              </a:rPr>
              <a:t>IP</a:t>
            </a:r>
          </a:p>
        </p:txBody>
      </p:sp>
      <p:sp>
        <p:nvSpPr>
          <p:cNvPr id="81" name="矩形 80"/>
          <p:cNvSpPr/>
          <p:nvPr/>
        </p:nvSpPr>
        <p:spPr>
          <a:xfrm>
            <a:off x="6277314" y="2612324"/>
            <a:ext cx="2322985" cy="757130"/>
          </a:xfrm>
          <a:prstGeom prst="rect">
            <a:avLst/>
          </a:prstGeom>
        </p:spPr>
        <p:style>
          <a:lnRef idx="2">
            <a:schemeClr val="accent2"/>
          </a:lnRef>
          <a:fillRef idx="1">
            <a:schemeClr val="lt1"/>
          </a:fillRef>
          <a:effectRef idx="0">
            <a:schemeClr val="accent2"/>
          </a:effectRef>
          <a:fontRef idx="minor">
            <a:schemeClr val="dk1"/>
          </a:fontRef>
        </p:style>
        <p:txBody>
          <a:bodyPr wrap="square">
            <a:spAutoFit/>
          </a:bodyPr>
          <a:lstStyle/>
          <a:p>
            <a:pPr>
              <a:lnSpc>
                <a:spcPct val="120000"/>
              </a:lnSpc>
            </a:pPr>
            <a:r>
              <a:rPr lang="zh-CN" altLang="en-US" b="1" dirty="0">
                <a:latin typeface="微软雅黑" panose="020B0503020204020204" pitchFamily="34" charset="-122"/>
                <a:ea typeface="微软雅黑" panose="020B0503020204020204" pitchFamily="34" charset="-122"/>
              </a:rPr>
              <a:t>设计理念：网络核心部分越简单越好。</a:t>
            </a:r>
          </a:p>
        </p:txBody>
      </p:sp>
      <p:sp>
        <p:nvSpPr>
          <p:cNvPr id="3" name="标题 2">
            <a:extLst>
              <a:ext uri="{FF2B5EF4-FFF2-40B4-BE49-F238E27FC236}">
                <a16:creationId xmlns:a16="http://schemas.microsoft.com/office/drawing/2014/main" id="{25AECFA7-8AB4-F6F3-BE70-ACFD0F720BB9}"/>
              </a:ext>
            </a:extLst>
          </p:cNvPr>
          <p:cNvSpPr>
            <a:spLocks noGrp="1"/>
          </p:cNvSpPr>
          <p:nvPr>
            <p:ph type="title"/>
          </p:nvPr>
        </p:nvSpPr>
        <p:spPr>
          <a:xfrm>
            <a:off x="612000" y="144000"/>
            <a:ext cx="7920000" cy="341632"/>
          </a:xfrm>
        </p:spPr>
        <p:txBody>
          <a:bodyPr/>
          <a:lstStyle/>
          <a:p>
            <a:r>
              <a:rPr lang="zh-CN" altLang="en-US" dirty="0"/>
              <a:t>沙漏计时器形状的 </a:t>
            </a:r>
            <a:r>
              <a:rPr lang="en-US" altLang="zh-CN" dirty="0"/>
              <a:t>TCP/IP </a:t>
            </a:r>
            <a:r>
              <a:rPr lang="zh-CN" altLang="en-US" dirty="0"/>
              <a:t>协议族</a:t>
            </a:r>
          </a:p>
        </p:txBody>
      </p:sp>
    </p:spTree>
    <p:extLst>
      <p:ext uri="{BB962C8B-B14F-4D97-AF65-F5344CB8AC3E}">
        <p14:creationId xmlns:p14="http://schemas.microsoft.com/office/powerpoint/2010/main" val="2165115352"/>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35" presetClass="emph" presetSubtype="0" repeatCount="indefinite" fill="hold" grpId="0" nodeType="withEffect">
                                  <p:stCondLst>
                                    <p:cond delay="0"/>
                                  </p:stCondLst>
                                  <p:childTnLst>
                                    <p:anim calcmode="discrete" valueType="str">
                                      <p:cBhvr>
                                        <p:cTn id="8" dur="1000" fill="hold"/>
                                        <p:tgtEl>
                                          <p:spTgt spid="41"/>
                                        </p:tgtEl>
                                        <p:attrNameLst>
                                          <p:attrName>style.visibility</p:attrName>
                                        </p:attrNameLst>
                                      </p:cBhvr>
                                      <p:tavLst>
                                        <p:tav tm="0">
                                          <p:val>
                                            <p:strVal val="hidden"/>
                                          </p:val>
                                        </p:tav>
                                        <p:tav tm="50000">
                                          <p:val>
                                            <p:strVal val="visible"/>
                                          </p:val>
                                        </p:tav>
                                      </p:tavLst>
                                    </p:anim>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 grpId="0" animBg="1"/>
    </p:bldLst>
  </p:timing>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1" name="Group 25"/>
          <p:cNvGrpSpPr/>
          <p:nvPr/>
        </p:nvGrpSpPr>
        <p:grpSpPr bwMode="auto">
          <a:xfrm>
            <a:off x="2561538" y="1528919"/>
            <a:ext cx="3794397" cy="324374"/>
            <a:chOff x="1438" y="1436"/>
            <a:chExt cx="2712" cy="225"/>
          </a:xfrm>
        </p:grpSpPr>
        <p:sp>
          <p:nvSpPr>
            <p:cNvPr id="32" name="Line 26"/>
            <p:cNvSpPr>
              <a:spLocks noChangeShapeType="1"/>
            </p:cNvSpPr>
            <p:nvPr/>
          </p:nvSpPr>
          <p:spPr bwMode="auto">
            <a:xfrm>
              <a:off x="1438" y="1655"/>
              <a:ext cx="2712" cy="6"/>
            </a:xfrm>
            <a:prstGeom prst="line">
              <a:avLst/>
            </a:prstGeom>
            <a:noFill/>
            <a:ln w="38100">
              <a:solidFill>
                <a:srgbClr val="000099"/>
              </a:solidFill>
              <a:prstDash val="dash"/>
              <a:rou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33" name="Text Box 27"/>
            <p:cNvSpPr txBox="1">
              <a:spLocks noChangeArrowheads="1"/>
            </p:cNvSpPr>
            <p:nvPr/>
          </p:nvSpPr>
          <p:spPr bwMode="auto">
            <a:xfrm>
              <a:off x="1987" y="1436"/>
              <a:ext cx="1615" cy="1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400" b="1" dirty="0">
                  <a:solidFill>
                    <a:srgbClr val="0000FF"/>
                  </a:solidFill>
                  <a:latin typeface="微软雅黑" panose="020B0503020204020204" pitchFamily="34" charset="-122"/>
                  <a:ea typeface="微软雅黑" panose="020B0503020204020204" pitchFamily="34" charset="-122"/>
                </a:rPr>
                <a:t>① </a:t>
              </a:r>
              <a:r>
                <a:rPr kumimoji="1" lang="zh-CN" altLang="en-US" sz="1400" b="1" dirty="0">
                  <a:solidFill>
                    <a:srgbClr val="0000FF"/>
                  </a:solidFill>
                  <a:latin typeface="微软雅黑" panose="020B0503020204020204" pitchFamily="34" charset="-122"/>
                  <a:ea typeface="微软雅黑" panose="020B0503020204020204" pitchFamily="34" charset="-122"/>
                </a:rPr>
                <a:t>客户发起连接建立请求</a:t>
              </a:r>
            </a:p>
          </p:txBody>
        </p:sp>
      </p:grpSp>
      <p:grpSp>
        <p:nvGrpSpPr>
          <p:cNvPr id="34" name="Group 28"/>
          <p:cNvGrpSpPr/>
          <p:nvPr/>
        </p:nvGrpSpPr>
        <p:grpSpPr bwMode="auto">
          <a:xfrm>
            <a:off x="2541443" y="2075731"/>
            <a:ext cx="3818984" cy="289775"/>
            <a:chOff x="1521" y="1752"/>
            <a:chExt cx="2755" cy="201"/>
          </a:xfrm>
        </p:grpSpPr>
        <p:sp>
          <p:nvSpPr>
            <p:cNvPr id="35" name="Line 29"/>
            <p:cNvSpPr>
              <a:spLocks noChangeShapeType="1"/>
            </p:cNvSpPr>
            <p:nvPr/>
          </p:nvSpPr>
          <p:spPr bwMode="auto">
            <a:xfrm flipH="1" flipV="1">
              <a:off x="1521" y="1752"/>
              <a:ext cx="2755" cy="9"/>
            </a:xfrm>
            <a:prstGeom prst="line">
              <a:avLst/>
            </a:prstGeom>
            <a:noFill/>
            <a:ln w="38100">
              <a:solidFill>
                <a:srgbClr val="CC00CC"/>
              </a:solidFill>
              <a:prstDash val="dash"/>
              <a:rou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36" name="Text Box 30"/>
            <p:cNvSpPr txBox="1">
              <a:spLocks noChangeArrowheads="1"/>
            </p:cNvSpPr>
            <p:nvPr/>
          </p:nvSpPr>
          <p:spPr bwMode="auto">
            <a:xfrm>
              <a:off x="2016" y="1759"/>
              <a:ext cx="1765" cy="1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400" b="1" dirty="0">
                  <a:solidFill>
                    <a:srgbClr val="0000FF"/>
                  </a:solidFill>
                  <a:latin typeface="微软雅黑" panose="020B0503020204020204" pitchFamily="34" charset="-122"/>
                  <a:ea typeface="微软雅黑" panose="020B0503020204020204" pitchFamily="34" charset="-122"/>
                </a:rPr>
                <a:t>② </a:t>
              </a:r>
              <a:r>
                <a:rPr kumimoji="1" lang="zh-CN" altLang="en-US" sz="1400" b="1" dirty="0">
                  <a:solidFill>
                    <a:srgbClr val="0000FF"/>
                  </a:solidFill>
                  <a:latin typeface="微软雅黑" panose="020B0503020204020204" pitchFamily="34" charset="-122"/>
                  <a:ea typeface="微软雅黑" panose="020B0503020204020204" pitchFamily="34" charset="-122"/>
                </a:rPr>
                <a:t>服务器接受连接建立请求</a:t>
              </a:r>
            </a:p>
          </p:txBody>
        </p:sp>
      </p:grpSp>
      <p:sp>
        <p:nvSpPr>
          <p:cNvPr id="44" name="Text Box 40"/>
          <p:cNvSpPr txBox="1">
            <a:spLocks noChangeArrowheads="1"/>
          </p:cNvSpPr>
          <p:nvPr/>
        </p:nvSpPr>
        <p:spPr bwMode="auto">
          <a:xfrm>
            <a:off x="2987401" y="2829844"/>
            <a:ext cx="3158952" cy="675249"/>
          </a:xfrm>
          <a:prstGeom prst="rect">
            <a:avLst/>
          </a:prstGeom>
          <a:solidFill>
            <a:srgbClr val="FFFF99"/>
          </a:solidFill>
          <a:ln>
            <a:noFill/>
          </a:ln>
        </p:spPr>
        <p:style>
          <a:lnRef idx="2">
            <a:schemeClr val="accent4"/>
          </a:lnRef>
          <a:fillRef idx="1">
            <a:schemeClr val="lt1"/>
          </a:fillRef>
          <a:effectRef idx="0">
            <a:schemeClr val="accent4"/>
          </a:effectRef>
          <a:fontRef idx="minor">
            <a:schemeClr val="dk1"/>
          </a:fontRef>
        </p:style>
        <p:txBody>
          <a:bodyPr wrap="square">
            <a:spAutoFit/>
          </a:bodyPr>
          <a:lstStyle/>
          <a:p>
            <a:pPr algn="ctr" fontAlgn="auto">
              <a:lnSpc>
                <a:spcPts val="2400"/>
              </a:lnSpc>
              <a:spcBef>
                <a:spcPts val="0"/>
              </a:spcBef>
              <a:spcAft>
                <a:spcPts val="0"/>
              </a:spcAft>
              <a:defRPr/>
            </a:pPr>
            <a:r>
              <a:rPr lang="zh-CN" altLang="en-US" sz="1400" dirty="0"/>
              <a:t>所有这些通信实际上都需要使用下面各层所提供的服务。</a:t>
            </a:r>
          </a:p>
        </p:txBody>
      </p:sp>
      <p:sp>
        <p:nvSpPr>
          <p:cNvPr id="3" name="标题 2">
            <a:extLst>
              <a:ext uri="{FF2B5EF4-FFF2-40B4-BE49-F238E27FC236}">
                <a16:creationId xmlns:a16="http://schemas.microsoft.com/office/drawing/2014/main" id="{1614C923-77A5-C916-10A7-668D31687E73}"/>
              </a:ext>
            </a:extLst>
          </p:cNvPr>
          <p:cNvSpPr>
            <a:spLocks noGrp="1"/>
          </p:cNvSpPr>
          <p:nvPr>
            <p:ph type="title"/>
          </p:nvPr>
        </p:nvSpPr>
        <p:spPr>
          <a:xfrm>
            <a:off x="612000" y="144000"/>
            <a:ext cx="7920000" cy="341632"/>
          </a:xfrm>
        </p:spPr>
        <p:txBody>
          <a:bodyPr/>
          <a:lstStyle/>
          <a:p>
            <a:r>
              <a:rPr lang="zh-CN" altLang="en-US" dirty="0"/>
              <a:t>互联网中客户</a:t>
            </a:r>
            <a:r>
              <a:rPr lang="en-US" altLang="zh-CN" dirty="0"/>
              <a:t>-</a:t>
            </a:r>
            <a:r>
              <a:rPr lang="zh-CN" altLang="en-US" dirty="0"/>
              <a:t>服务器工作方式</a:t>
            </a:r>
          </a:p>
        </p:txBody>
      </p:sp>
      <p:sp>
        <p:nvSpPr>
          <p:cNvPr id="49" name="Rectangle 26">
            <a:extLst>
              <a:ext uri="{FF2B5EF4-FFF2-40B4-BE49-F238E27FC236}">
                <a16:creationId xmlns:a16="http://schemas.microsoft.com/office/drawing/2014/main" id="{ECCEC8D5-3FBF-2D13-C408-BC7FEAEC7457}"/>
              </a:ext>
            </a:extLst>
          </p:cNvPr>
          <p:cNvSpPr>
            <a:spLocks noChangeArrowheads="1"/>
          </p:cNvSpPr>
          <p:nvPr/>
        </p:nvSpPr>
        <p:spPr bwMode="auto">
          <a:xfrm>
            <a:off x="1249363" y="1423959"/>
            <a:ext cx="1241265" cy="2066307"/>
          </a:xfrm>
          <a:prstGeom prst="rect">
            <a:avLst/>
          </a:prstGeom>
          <a:noFill/>
          <a:ln w="19050">
            <a:solidFill>
              <a:schemeClr val="tx1"/>
            </a:solidFill>
            <a:miter lim="800000"/>
          </a:ln>
          <a:effectLst/>
        </p:spPr>
        <p:txBody>
          <a:bodyPr wrap="none" anchor="ctr"/>
          <a:lstStyle/>
          <a:p>
            <a:endParaRPr lang="zh-CN" altLang="en-US" sz="1600" b="1">
              <a:solidFill>
                <a:schemeClr val="bg1"/>
              </a:solidFill>
              <a:latin typeface="微软雅黑" panose="020B0503020204020204" pitchFamily="34" charset="-122"/>
              <a:ea typeface="微软雅黑" panose="020B0503020204020204" pitchFamily="34" charset="-122"/>
            </a:endParaRPr>
          </a:p>
        </p:txBody>
      </p:sp>
      <p:sp>
        <p:nvSpPr>
          <p:cNvPr id="51" name="Text Box 27">
            <a:extLst>
              <a:ext uri="{FF2B5EF4-FFF2-40B4-BE49-F238E27FC236}">
                <a16:creationId xmlns:a16="http://schemas.microsoft.com/office/drawing/2014/main" id="{FC9775E4-F39B-B4C5-C040-684D808A8016}"/>
              </a:ext>
            </a:extLst>
          </p:cNvPr>
          <p:cNvSpPr txBox="1">
            <a:spLocks noChangeArrowheads="1"/>
          </p:cNvSpPr>
          <p:nvPr/>
        </p:nvSpPr>
        <p:spPr bwMode="auto">
          <a:xfrm>
            <a:off x="1310041" y="2870496"/>
            <a:ext cx="1081655" cy="308059"/>
          </a:xfrm>
          <a:prstGeom prst="rect">
            <a:avLst/>
          </a:prstGeom>
          <a:noFill/>
        </p:spPr>
        <p:txBody>
          <a:bodyPr wrap="none" rtlCol="0">
            <a:spAutoFit/>
          </a:bodyPr>
          <a:lstStyle>
            <a:defPPr>
              <a:defRPr lang="zh-CN"/>
            </a:defPPr>
            <a:lvl1pPr>
              <a:defRPr sz="1400"/>
            </a:lvl1pPr>
          </a:lstStyle>
          <a:p>
            <a:r>
              <a:rPr lang="zh-CN" altLang="en-US" dirty="0"/>
              <a:t>数据链路层</a:t>
            </a:r>
          </a:p>
        </p:txBody>
      </p:sp>
      <p:sp>
        <p:nvSpPr>
          <p:cNvPr id="53" name="Line 28">
            <a:extLst>
              <a:ext uri="{FF2B5EF4-FFF2-40B4-BE49-F238E27FC236}">
                <a16:creationId xmlns:a16="http://schemas.microsoft.com/office/drawing/2014/main" id="{6E99E2F5-43C9-2862-6A61-0BEE586B9D68}"/>
              </a:ext>
            </a:extLst>
          </p:cNvPr>
          <p:cNvSpPr>
            <a:spLocks noChangeShapeType="1"/>
          </p:cNvSpPr>
          <p:nvPr/>
        </p:nvSpPr>
        <p:spPr bwMode="auto">
          <a:xfrm>
            <a:off x="1249363" y="3177337"/>
            <a:ext cx="1241265" cy="0"/>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55" name="Line 29">
            <a:extLst>
              <a:ext uri="{FF2B5EF4-FFF2-40B4-BE49-F238E27FC236}">
                <a16:creationId xmlns:a16="http://schemas.microsoft.com/office/drawing/2014/main" id="{EDB3FD16-5ED6-BD4C-3FAF-319B41239DF4}"/>
              </a:ext>
            </a:extLst>
          </p:cNvPr>
          <p:cNvSpPr>
            <a:spLocks noChangeShapeType="1"/>
          </p:cNvSpPr>
          <p:nvPr/>
        </p:nvSpPr>
        <p:spPr bwMode="auto">
          <a:xfrm>
            <a:off x="1249363" y="2863190"/>
            <a:ext cx="1241265" cy="0"/>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57" name="Line 30">
            <a:extLst>
              <a:ext uri="{FF2B5EF4-FFF2-40B4-BE49-F238E27FC236}">
                <a16:creationId xmlns:a16="http://schemas.microsoft.com/office/drawing/2014/main" id="{51044CAC-D85F-8581-073A-7D0F43D0BA8A}"/>
              </a:ext>
            </a:extLst>
          </p:cNvPr>
          <p:cNvSpPr>
            <a:spLocks noChangeShapeType="1"/>
          </p:cNvSpPr>
          <p:nvPr/>
        </p:nvSpPr>
        <p:spPr bwMode="auto">
          <a:xfrm>
            <a:off x="1249363" y="2550261"/>
            <a:ext cx="1241265" cy="0"/>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59" name="Line 31">
            <a:extLst>
              <a:ext uri="{FF2B5EF4-FFF2-40B4-BE49-F238E27FC236}">
                <a16:creationId xmlns:a16="http://schemas.microsoft.com/office/drawing/2014/main" id="{BA8087EE-B7BF-2480-F506-A1C45F9C7624}"/>
              </a:ext>
            </a:extLst>
          </p:cNvPr>
          <p:cNvSpPr>
            <a:spLocks noChangeShapeType="1"/>
          </p:cNvSpPr>
          <p:nvPr/>
        </p:nvSpPr>
        <p:spPr bwMode="auto">
          <a:xfrm>
            <a:off x="1249363" y="2237332"/>
            <a:ext cx="1241265" cy="0"/>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61" name="Text Box 32">
            <a:extLst>
              <a:ext uri="{FF2B5EF4-FFF2-40B4-BE49-F238E27FC236}">
                <a16:creationId xmlns:a16="http://schemas.microsoft.com/office/drawing/2014/main" id="{C2685E8B-077A-C637-7AD0-CC1A0EF1D8C8}"/>
              </a:ext>
            </a:extLst>
          </p:cNvPr>
          <p:cNvSpPr txBox="1">
            <a:spLocks noChangeArrowheads="1"/>
          </p:cNvSpPr>
          <p:nvPr/>
        </p:nvSpPr>
        <p:spPr bwMode="auto">
          <a:xfrm>
            <a:off x="1503948" y="3183425"/>
            <a:ext cx="722862" cy="308059"/>
          </a:xfrm>
          <a:prstGeom prst="rect">
            <a:avLst/>
          </a:prstGeom>
          <a:noFill/>
        </p:spPr>
        <p:txBody>
          <a:bodyPr wrap="none" rtlCol="0">
            <a:spAutoFit/>
          </a:bodyPr>
          <a:lstStyle>
            <a:defPPr>
              <a:defRPr lang="zh-CN"/>
            </a:defPPr>
            <a:lvl1pPr>
              <a:defRPr sz="1400"/>
            </a:lvl1pPr>
          </a:lstStyle>
          <a:p>
            <a:r>
              <a:rPr lang="zh-CN" altLang="en-US" dirty="0"/>
              <a:t>物理层</a:t>
            </a:r>
          </a:p>
        </p:txBody>
      </p:sp>
      <p:sp>
        <p:nvSpPr>
          <p:cNvPr id="63" name="Text Box 33">
            <a:extLst>
              <a:ext uri="{FF2B5EF4-FFF2-40B4-BE49-F238E27FC236}">
                <a16:creationId xmlns:a16="http://schemas.microsoft.com/office/drawing/2014/main" id="{2337BAE1-2E8F-6341-311A-C7738FDC44A1}"/>
              </a:ext>
            </a:extLst>
          </p:cNvPr>
          <p:cNvSpPr txBox="1">
            <a:spLocks noChangeArrowheads="1"/>
          </p:cNvSpPr>
          <p:nvPr/>
        </p:nvSpPr>
        <p:spPr bwMode="auto">
          <a:xfrm>
            <a:off x="1503948" y="2254378"/>
            <a:ext cx="722862" cy="308059"/>
          </a:xfrm>
          <a:prstGeom prst="rect">
            <a:avLst/>
          </a:prstGeom>
          <a:noFill/>
        </p:spPr>
        <p:txBody>
          <a:bodyPr wrap="none" rtlCol="0">
            <a:spAutoFit/>
          </a:bodyPr>
          <a:lstStyle>
            <a:defPPr>
              <a:defRPr lang="zh-CN"/>
            </a:defPPr>
            <a:lvl1pPr>
              <a:defRPr sz="1400"/>
            </a:lvl1pPr>
          </a:lstStyle>
          <a:p>
            <a:r>
              <a:rPr lang="zh-CN" altLang="en-US" dirty="0"/>
              <a:t>运输层</a:t>
            </a:r>
          </a:p>
        </p:txBody>
      </p:sp>
      <p:sp>
        <p:nvSpPr>
          <p:cNvPr id="65" name="Text Box 34">
            <a:extLst>
              <a:ext uri="{FF2B5EF4-FFF2-40B4-BE49-F238E27FC236}">
                <a16:creationId xmlns:a16="http://schemas.microsoft.com/office/drawing/2014/main" id="{011D50E8-9E86-BFEB-0BCD-8BFFC3D6B49F}"/>
              </a:ext>
            </a:extLst>
          </p:cNvPr>
          <p:cNvSpPr txBox="1">
            <a:spLocks noChangeArrowheads="1"/>
          </p:cNvSpPr>
          <p:nvPr/>
        </p:nvSpPr>
        <p:spPr bwMode="auto">
          <a:xfrm>
            <a:off x="1503948" y="2567308"/>
            <a:ext cx="722862" cy="308059"/>
          </a:xfrm>
          <a:prstGeom prst="rect">
            <a:avLst/>
          </a:prstGeom>
          <a:noFill/>
        </p:spPr>
        <p:txBody>
          <a:bodyPr wrap="none" rtlCol="0">
            <a:spAutoFit/>
          </a:bodyPr>
          <a:lstStyle>
            <a:defPPr>
              <a:defRPr lang="zh-CN"/>
            </a:defPPr>
            <a:lvl1pPr>
              <a:defRPr sz="1400"/>
            </a:lvl1pPr>
          </a:lstStyle>
          <a:p>
            <a:r>
              <a:rPr lang="zh-CN" altLang="en-US" dirty="0"/>
              <a:t>网络层</a:t>
            </a:r>
          </a:p>
        </p:txBody>
      </p:sp>
      <p:sp>
        <p:nvSpPr>
          <p:cNvPr id="67" name="Line 35">
            <a:extLst>
              <a:ext uri="{FF2B5EF4-FFF2-40B4-BE49-F238E27FC236}">
                <a16:creationId xmlns:a16="http://schemas.microsoft.com/office/drawing/2014/main" id="{1E5C46F3-2D38-DAA4-F719-4E492B5035A1}"/>
              </a:ext>
            </a:extLst>
          </p:cNvPr>
          <p:cNvSpPr>
            <a:spLocks noChangeShapeType="1"/>
          </p:cNvSpPr>
          <p:nvPr/>
        </p:nvSpPr>
        <p:spPr bwMode="auto">
          <a:xfrm>
            <a:off x="1868677" y="2049818"/>
            <a:ext cx="2638" cy="187514"/>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69" name="Oval 36">
            <a:extLst>
              <a:ext uri="{FF2B5EF4-FFF2-40B4-BE49-F238E27FC236}">
                <a16:creationId xmlns:a16="http://schemas.microsoft.com/office/drawing/2014/main" id="{802ED50E-27D0-9491-78AA-477743FD5944}"/>
              </a:ext>
            </a:extLst>
          </p:cNvPr>
          <p:cNvSpPr>
            <a:spLocks noChangeArrowheads="1"/>
          </p:cNvSpPr>
          <p:nvPr/>
        </p:nvSpPr>
        <p:spPr bwMode="auto">
          <a:xfrm>
            <a:off x="1358848" y="1705717"/>
            <a:ext cx="1022296" cy="432000"/>
          </a:xfrm>
          <a:prstGeom prst="ellipse">
            <a:avLst/>
          </a:prstGeom>
          <a:solidFill>
            <a:srgbClr val="00FF99"/>
          </a:solidFill>
          <a:ln w="6350">
            <a:solidFill>
              <a:schemeClr val="tx1"/>
            </a:solidFill>
          </a:ln>
        </p:spPr>
        <p:style>
          <a:lnRef idx="2">
            <a:schemeClr val="accent4"/>
          </a:lnRef>
          <a:fillRef idx="1">
            <a:schemeClr val="lt1"/>
          </a:fillRef>
          <a:effectRef idx="0">
            <a:schemeClr val="accent4"/>
          </a:effectRef>
          <a:fontRef idx="minor">
            <a:schemeClr val="dk1"/>
          </a:fontRef>
        </p:style>
        <p:txBody>
          <a:bodyPr wrap="none" anchor="ctr"/>
          <a:lstStyle/>
          <a:p>
            <a:pPr algn="ctr"/>
            <a:r>
              <a:rPr lang="zh-CN" altLang="en-US" sz="1400" dirty="0">
                <a:solidFill>
                  <a:schemeClr val="tx1"/>
                </a:solidFill>
              </a:rPr>
              <a:t>客户</a:t>
            </a:r>
            <a:endParaRPr lang="en-US" altLang="zh-CN" sz="1400" dirty="0">
              <a:solidFill>
                <a:schemeClr val="tx1"/>
              </a:solidFill>
            </a:endParaRPr>
          </a:p>
        </p:txBody>
      </p:sp>
      <p:sp>
        <p:nvSpPr>
          <p:cNvPr id="71" name="Text Box 37">
            <a:extLst>
              <a:ext uri="{FF2B5EF4-FFF2-40B4-BE49-F238E27FC236}">
                <a16:creationId xmlns:a16="http://schemas.microsoft.com/office/drawing/2014/main" id="{0216A7C4-29F7-69CF-403E-A9901AE4D144}"/>
              </a:ext>
            </a:extLst>
          </p:cNvPr>
          <p:cNvSpPr txBox="1">
            <a:spLocks noChangeArrowheads="1"/>
          </p:cNvSpPr>
          <p:nvPr/>
        </p:nvSpPr>
        <p:spPr bwMode="auto">
          <a:xfrm>
            <a:off x="1510543" y="1430047"/>
            <a:ext cx="723275" cy="307777"/>
          </a:xfrm>
          <a:prstGeom prst="rect">
            <a:avLst/>
          </a:prstGeom>
          <a:noFill/>
        </p:spPr>
        <p:txBody>
          <a:bodyPr wrap="none" rtlCol="0">
            <a:spAutoFit/>
          </a:bodyPr>
          <a:lstStyle>
            <a:defPPr>
              <a:defRPr lang="zh-CN"/>
            </a:defPPr>
            <a:lvl1pPr>
              <a:defRPr sz="1400"/>
            </a:lvl1pPr>
          </a:lstStyle>
          <a:p>
            <a:r>
              <a:rPr lang="zh-CN" altLang="en-US" dirty="0"/>
              <a:t>应用层</a:t>
            </a:r>
          </a:p>
        </p:txBody>
      </p:sp>
      <p:sp>
        <p:nvSpPr>
          <p:cNvPr id="73" name="Text Box 38">
            <a:extLst>
              <a:ext uri="{FF2B5EF4-FFF2-40B4-BE49-F238E27FC236}">
                <a16:creationId xmlns:a16="http://schemas.microsoft.com/office/drawing/2014/main" id="{F0404029-EDFE-0949-5211-359201771E34}"/>
              </a:ext>
            </a:extLst>
          </p:cNvPr>
          <p:cNvSpPr txBox="1">
            <a:spLocks noChangeArrowheads="1"/>
          </p:cNvSpPr>
          <p:nvPr/>
        </p:nvSpPr>
        <p:spPr bwMode="auto">
          <a:xfrm>
            <a:off x="1449865" y="1126859"/>
            <a:ext cx="910173" cy="30805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400" b="1" dirty="0">
                <a:solidFill>
                  <a:srgbClr val="0000FF"/>
                </a:solidFill>
                <a:latin typeface="微软雅黑" panose="020B0503020204020204" pitchFamily="34" charset="-122"/>
                <a:ea typeface="微软雅黑" panose="020B0503020204020204" pitchFamily="34" charset="-122"/>
              </a:rPr>
              <a:t>计算机 </a:t>
            </a:r>
            <a:r>
              <a:rPr kumimoji="1" lang="en-US" altLang="zh-CN" sz="1400" b="1" dirty="0">
                <a:solidFill>
                  <a:srgbClr val="0000FF"/>
                </a:solidFill>
                <a:latin typeface="微软雅黑" panose="020B0503020204020204" pitchFamily="34" charset="-122"/>
                <a:ea typeface="微软雅黑" panose="020B0503020204020204" pitchFamily="34" charset="-122"/>
              </a:rPr>
              <a:t>A</a:t>
            </a:r>
          </a:p>
        </p:txBody>
      </p:sp>
      <p:sp>
        <p:nvSpPr>
          <p:cNvPr id="76" name="Rectangle 41">
            <a:extLst>
              <a:ext uri="{FF2B5EF4-FFF2-40B4-BE49-F238E27FC236}">
                <a16:creationId xmlns:a16="http://schemas.microsoft.com/office/drawing/2014/main" id="{4996520A-203A-3289-90F2-076D319E98C8}"/>
              </a:ext>
            </a:extLst>
          </p:cNvPr>
          <p:cNvSpPr>
            <a:spLocks noChangeArrowheads="1"/>
          </p:cNvSpPr>
          <p:nvPr/>
        </p:nvSpPr>
        <p:spPr bwMode="auto">
          <a:xfrm>
            <a:off x="6577173" y="1423959"/>
            <a:ext cx="1241265" cy="2066307"/>
          </a:xfrm>
          <a:prstGeom prst="rect">
            <a:avLst/>
          </a:prstGeom>
          <a:noFill/>
          <a:ln w="19050">
            <a:solidFill>
              <a:schemeClr val="tx1"/>
            </a:solidFill>
            <a:miter lim="800000"/>
          </a:ln>
          <a:effectLst/>
        </p:spPr>
        <p:txBody>
          <a:bodyPr wrap="none" anchor="ctr"/>
          <a:lstStyle/>
          <a:p>
            <a:endParaRPr lang="zh-CN" altLang="en-US" sz="1600" b="1">
              <a:latin typeface="微软雅黑" panose="020B0503020204020204" pitchFamily="34" charset="-122"/>
              <a:ea typeface="微软雅黑" panose="020B0503020204020204" pitchFamily="34" charset="-122"/>
            </a:endParaRPr>
          </a:p>
        </p:txBody>
      </p:sp>
      <p:sp>
        <p:nvSpPr>
          <p:cNvPr id="78" name="Text Box 42">
            <a:extLst>
              <a:ext uri="{FF2B5EF4-FFF2-40B4-BE49-F238E27FC236}">
                <a16:creationId xmlns:a16="http://schemas.microsoft.com/office/drawing/2014/main" id="{CF8D8C44-E00F-454A-6598-053AA968C017}"/>
              </a:ext>
            </a:extLst>
          </p:cNvPr>
          <p:cNvSpPr txBox="1">
            <a:spLocks noChangeArrowheads="1"/>
          </p:cNvSpPr>
          <p:nvPr/>
        </p:nvSpPr>
        <p:spPr bwMode="auto">
          <a:xfrm>
            <a:off x="6669509" y="2870496"/>
            <a:ext cx="1081655" cy="308059"/>
          </a:xfrm>
          <a:prstGeom prst="rect">
            <a:avLst/>
          </a:prstGeom>
          <a:noFill/>
        </p:spPr>
        <p:txBody>
          <a:bodyPr wrap="none" rtlCol="0">
            <a:spAutoFit/>
          </a:bodyPr>
          <a:lstStyle>
            <a:defPPr>
              <a:defRPr lang="zh-CN"/>
            </a:defPPr>
            <a:lvl1pPr>
              <a:defRPr sz="1400"/>
            </a:lvl1pPr>
          </a:lstStyle>
          <a:p>
            <a:r>
              <a:rPr lang="zh-CN" altLang="en-US" dirty="0"/>
              <a:t>数据链路层</a:t>
            </a:r>
          </a:p>
        </p:txBody>
      </p:sp>
      <p:sp>
        <p:nvSpPr>
          <p:cNvPr id="80" name="Line 43">
            <a:extLst>
              <a:ext uri="{FF2B5EF4-FFF2-40B4-BE49-F238E27FC236}">
                <a16:creationId xmlns:a16="http://schemas.microsoft.com/office/drawing/2014/main" id="{BCEA7B28-1197-A238-EEA3-00A384610686}"/>
              </a:ext>
            </a:extLst>
          </p:cNvPr>
          <p:cNvSpPr>
            <a:spLocks noChangeShapeType="1"/>
          </p:cNvSpPr>
          <p:nvPr/>
        </p:nvSpPr>
        <p:spPr bwMode="auto">
          <a:xfrm>
            <a:off x="6577173" y="3177337"/>
            <a:ext cx="1241265" cy="0"/>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2" name="Line 44">
            <a:extLst>
              <a:ext uri="{FF2B5EF4-FFF2-40B4-BE49-F238E27FC236}">
                <a16:creationId xmlns:a16="http://schemas.microsoft.com/office/drawing/2014/main" id="{E33455B1-9CE2-2033-E4FF-925C08A59DF3}"/>
              </a:ext>
            </a:extLst>
          </p:cNvPr>
          <p:cNvSpPr>
            <a:spLocks noChangeShapeType="1"/>
          </p:cNvSpPr>
          <p:nvPr/>
        </p:nvSpPr>
        <p:spPr bwMode="auto">
          <a:xfrm>
            <a:off x="6577173" y="2863190"/>
            <a:ext cx="1241265" cy="0"/>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4" name="Line 45">
            <a:extLst>
              <a:ext uri="{FF2B5EF4-FFF2-40B4-BE49-F238E27FC236}">
                <a16:creationId xmlns:a16="http://schemas.microsoft.com/office/drawing/2014/main" id="{ACE3ECF9-7B6E-1B83-25F7-0EFADEB1F21C}"/>
              </a:ext>
            </a:extLst>
          </p:cNvPr>
          <p:cNvSpPr>
            <a:spLocks noChangeShapeType="1"/>
          </p:cNvSpPr>
          <p:nvPr/>
        </p:nvSpPr>
        <p:spPr bwMode="auto">
          <a:xfrm>
            <a:off x="6577173" y="2550261"/>
            <a:ext cx="1241265" cy="0"/>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6" name="Line 46">
            <a:extLst>
              <a:ext uri="{FF2B5EF4-FFF2-40B4-BE49-F238E27FC236}">
                <a16:creationId xmlns:a16="http://schemas.microsoft.com/office/drawing/2014/main" id="{940064E2-BE3E-266B-A329-2BFAAE13DDA9}"/>
              </a:ext>
            </a:extLst>
          </p:cNvPr>
          <p:cNvSpPr>
            <a:spLocks noChangeShapeType="1"/>
          </p:cNvSpPr>
          <p:nvPr/>
        </p:nvSpPr>
        <p:spPr bwMode="auto">
          <a:xfrm>
            <a:off x="6577173" y="2237332"/>
            <a:ext cx="1241265" cy="0"/>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8" name="Text Box 47">
            <a:extLst>
              <a:ext uri="{FF2B5EF4-FFF2-40B4-BE49-F238E27FC236}">
                <a16:creationId xmlns:a16="http://schemas.microsoft.com/office/drawing/2014/main" id="{D76E2477-388F-25D5-DA89-0E7BB84B7B34}"/>
              </a:ext>
            </a:extLst>
          </p:cNvPr>
          <p:cNvSpPr txBox="1">
            <a:spLocks noChangeArrowheads="1"/>
          </p:cNvSpPr>
          <p:nvPr/>
        </p:nvSpPr>
        <p:spPr bwMode="auto">
          <a:xfrm>
            <a:off x="6864735" y="3183425"/>
            <a:ext cx="722862" cy="308059"/>
          </a:xfrm>
          <a:prstGeom prst="rect">
            <a:avLst/>
          </a:prstGeom>
          <a:noFill/>
        </p:spPr>
        <p:txBody>
          <a:bodyPr wrap="none" rtlCol="0">
            <a:spAutoFit/>
          </a:bodyPr>
          <a:lstStyle>
            <a:defPPr>
              <a:defRPr lang="zh-CN"/>
            </a:defPPr>
            <a:lvl1pPr>
              <a:defRPr sz="1400"/>
            </a:lvl1pPr>
          </a:lstStyle>
          <a:p>
            <a:r>
              <a:rPr lang="zh-CN" altLang="en-US" dirty="0"/>
              <a:t>物理层</a:t>
            </a:r>
          </a:p>
        </p:txBody>
      </p:sp>
      <p:sp>
        <p:nvSpPr>
          <p:cNvPr id="90" name="Text Box 48">
            <a:extLst>
              <a:ext uri="{FF2B5EF4-FFF2-40B4-BE49-F238E27FC236}">
                <a16:creationId xmlns:a16="http://schemas.microsoft.com/office/drawing/2014/main" id="{16EF5457-C1B0-545F-DAAD-0E5378F61643}"/>
              </a:ext>
            </a:extLst>
          </p:cNvPr>
          <p:cNvSpPr txBox="1">
            <a:spLocks noChangeArrowheads="1"/>
          </p:cNvSpPr>
          <p:nvPr/>
        </p:nvSpPr>
        <p:spPr bwMode="auto">
          <a:xfrm>
            <a:off x="6864735" y="2254378"/>
            <a:ext cx="722862" cy="308059"/>
          </a:xfrm>
          <a:prstGeom prst="rect">
            <a:avLst/>
          </a:prstGeom>
          <a:noFill/>
        </p:spPr>
        <p:txBody>
          <a:bodyPr wrap="none" rtlCol="0">
            <a:spAutoFit/>
          </a:bodyPr>
          <a:lstStyle>
            <a:defPPr>
              <a:defRPr lang="zh-CN"/>
            </a:defPPr>
            <a:lvl1pPr>
              <a:defRPr sz="1400"/>
            </a:lvl1pPr>
          </a:lstStyle>
          <a:p>
            <a:r>
              <a:rPr lang="zh-CN" altLang="en-US" dirty="0"/>
              <a:t>运输层</a:t>
            </a:r>
          </a:p>
        </p:txBody>
      </p:sp>
      <p:sp>
        <p:nvSpPr>
          <p:cNvPr id="92" name="Text Box 49">
            <a:extLst>
              <a:ext uri="{FF2B5EF4-FFF2-40B4-BE49-F238E27FC236}">
                <a16:creationId xmlns:a16="http://schemas.microsoft.com/office/drawing/2014/main" id="{8259CA54-E01D-393D-533E-33256005E2CD}"/>
              </a:ext>
            </a:extLst>
          </p:cNvPr>
          <p:cNvSpPr txBox="1">
            <a:spLocks noChangeArrowheads="1"/>
          </p:cNvSpPr>
          <p:nvPr/>
        </p:nvSpPr>
        <p:spPr bwMode="auto">
          <a:xfrm>
            <a:off x="6864735" y="2567308"/>
            <a:ext cx="722862" cy="308059"/>
          </a:xfrm>
          <a:prstGeom prst="rect">
            <a:avLst/>
          </a:prstGeom>
          <a:noFill/>
        </p:spPr>
        <p:txBody>
          <a:bodyPr wrap="none" rtlCol="0">
            <a:spAutoFit/>
          </a:bodyPr>
          <a:lstStyle>
            <a:defPPr>
              <a:defRPr lang="zh-CN"/>
            </a:defPPr>
            <a:lvl1pPr>
              <a:defRPr sz="1400"/>
            </a:lvl1pPr>
          </a:lstStyle>
          <a:p>
            <a:r>
              <a:rPr lang="zh-CN" altLang="en-US" dirty="0"/>
              <a:t>网络层</a:t>
            </a:r>
          </a:p>
        </p:txBody>
      </p:sp>
      <p:sp>
        <p:nvSpPr>
          <p:cNvPr id="94" name="Line 50">
            <a:extLst>
              <a:ext uri="{FF2B5EF4-FFF2-40B4-BE49-F238E27FC236}">
                <a16:creationId xmlns:a16="http://schemas.microsoft.com/office/drawing/2014/main" id="{8C8246BD-71E8-5F82-04CD-4FF7BD2DE8C2}"/>
              </a:ext>
            </a:extLst>
          </p:cNvPr>
          <p:cNvSpPr>
            <a:spLocks noChangeShapeType="1"/>
          </p:cNvSpPr>
          <p:nvPr/>
        </p:nvSpPr>
        <p:spPr bwMode="auto">
          <a:xfrm>
            <a:off x="7196487" y="2085129"/>
            <a:ext cx="2638" cy="152203"/>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96" name="Oval 51">
            <a:extLst>
              <a:ext uri="{FF2B5EF4-FFF2-40B4-BE49-F238E27FC236}">
                <a16:creationId xmlns:a16="http://schemas.microsoft.com/office/drawing/2014/main" id="{04900CE5-0530-E62A-BECB-D3DE71166907}"/>
              </a:ext>
            </a:extLst>
          </p:cNvPr>
          <p:cNvSpPr>
            <a:spLocks noChangeArrowheads="1"/>
          </p:cNvSpPr>
          <p:nvPr/>
        </p:nvSpPr>
        <p:spPr bwMode="auto">
          <a:xfrm>
            <a:off x="6686658" y="1705717"/>
            <a:ext cx="1022296" cy="432000"/>
          </a:xfrm>
          <a:prstGeom prst="ellipse">
            <a:avLst/>
          </a:prstGeom>
          <a:solidFill>
            <a:srgbClr val="ABEBD7"/>
          </a:solidFill>
          <a:ln w="6350">
            <a:solidFill>
              <a:schemeClr val="tx1"/>
            </a:solidFill>
          </a:ln>
        </p:spPr>
        <p:style>
          <a:lnRef idx="2">
            <a:schemeClr val="accent4"/>
          </a:lnRef>
          <a:fillRef idx="1">
            <a:schemeClr val="lt1"/>
          </a:fillRef>
          <a:effectRef idx="0">
            <a:schemeClr val="accent4"/>
          </a:effectRef>
          <a:fontRef idx="minor">
            <a:schemeClr val="dk1"/>
          </a:fontRef>
        </p:style>
        <p:txBody>
          <a:bodyPr wrap="none" anchor="ctr"/>
          <a:lstStyle/>
          <a:p>
            <a:pPr algn="ctr" fontAlgn="auto">
              <a:spcBef>
                <a:spcPts val="0"/>
              </a:spcBef>
              <a:spcAft>
                <a:spcPts val="0"/>
              </a:spcAft>
              <a:defRPr/>
            </a:pPr>
            <a:r>
              <a:rPr lang="zh-CN" altLang="en-US" sz="1400" dirty="0">
                <a:solidFill>
                  <a:schemeClr val="tx1"/>
                </a:solidFill>
              </a:rPr>
              <a:t>服务器</a:t>
            </a:r>
            <a:endParaRPr lang="en-US" altLang="zh-CN" sz="1400" dirty="0">
              <a:solidFill>
                <a:schemeClr val="tx1"/>
              </a:solidFill>
            </a:endParaRPr>
          </a:p>
        </p:txBody>
      </p:sp>
      <p:sp>
        <p:nvSpPr>
          <p:cNvPr id="98" name="Text Box 52">
            <a:extLst>
              <a:ext uri="{FF2B5EF4-FFF2-40B4-BE49-F238E27FC236}">
                <a16:creationId xmlns:a16="http://schemas.microsoft.com/office/drawing/2014/main" id="{7BBAEC5E-C4DC-D9D8-5C3D-891F65BAF395}"/>
              </a:ext>
            </a:extLst>
          </p:cNvPr>
          <p:cNvSpPr txBox="1">
            <a:spLocks noChangeArrowheads="1"/>
          </p:cNvSpPr>
          <p:nvPr/>
        </p:nvSpPr>
        <p:spPr bwMode="auto">
          <a:xfrm>
            <a:off x="6858139" y="1439788"/>
            <a:ext cx="722862" cy="308059"/>
          </a:xfrm>
          <a:prstGeom prst="rect">
            <a:avLst/>
          </a:prstGeom>
          <a:noFill/>
        </p:spPr>
        <p:txBody>
          <a:bodyPr wrap="none" rtlCol="0">
            <a:spAutoFit/>
          </a:bodyPr>
          <a:lstStyle>
            <a:defPPr>
              <a:defRPr lang="zh-CN"/>
            </a:defPPr>
            <a:lvl1pPr>
              <a:defRPr sz="1400"/>
            </a:lvl1pPr>
          </a:lstStyle>
          <a:p>
            <a:r>
              <a:rPr lang="zh-CN" altLang="en-US" dirty="0"/>
              <a:t>应用层</a:t>
            </a:r>
          </a:p>
        </p:txBody>
      </p:sp>
      <p:sp>
        <p:nvSpPr>
          <p:cNvPr id="100" name="Text Box 53">
            <a:extLst>
              <a:ext uri="{FF2B5EF4-FFF2-40B4-BE49-F238E27FC236}">
                <a16:creationId xmlns:a16="http://schemas.microsoft.com/office/drawing/2014/main" id="{3EA10E09-9551-639E-2D1A-24D65EA1FE14}"/>
              </a:ext>
            </a:extLst>
          </p:cNvPr>
          <p:cNvSpPr txBox="1">
            <a:spLocks noChangeArrowheads="1"/>
          </p:cNvSpPr>
          <p:nvPr/>
        </p:nvSpPr>
        <p:spPr bwMode="auto">
          <a:xfrm>
            <a:off x="6765803" y="1136600"/>
            <a:ext cx="899620" cy="30805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400" b="1" dirty="0">
                <a:solidFill>
                  <a:srgbClr val="0000FF"/>
                </a:solidFill>
                <a:latin typeface="微软雅黑" panose="020B0503020204020204" pitchFamily="34" charset="-122"/>
                <a:ea typeface="微软雅黑" panose="020B0503020204020204" pitchFamily="34" charset="-122"/>
              </a:rPr>
              <a:t>计算机 </a:t>
            </a:r>
            <a:r>
              <a:rPr kumimoji="1" lang="en-US" altLang="zh-CN" sz="1400" b="1" dirty="0">
                <a:solidFill>
                  <a:srgbClr val="0000FF"/>
                </a:solidFill>
                <a:latin typeface="微软雅黑" panose="020B0503020204020204" pitchFamily="34" charset="-122"/>
                <a:ea typeface="微软雅黑" panose="020B0503020204020204" pitchFamily="34" charset="-122"/>
              </a:rPr>
              <a:t>B</a:t>
            </a:r>
          </a:p>
        </p:txBody>
      </p:sp>
      <p:sp>
        <p:nvSpPr>
          <p:cNvPr id="102" name="Freeform 24">
            <a:extLst>
              <a:ext uri="{FF2B5EF4-FFF2-40B4-BE49-F238E27FC236}">
                <a16:creationId xmlns:a16="http://schemas.microsoft.com/office/drawing/2014/main" id="{4530F3D4-2FCA-41B4-D5EE-29D6746F2EEC}"/>
              </a:ext>
            </a:extLst>
          </p:cNvPr>
          <p:cNvSpPr/>
          <p:nvPr/>
        </p:nvSpPr>
        <p:spPr bwMode="auto">
          <a:xfrm>
            <a:off x="1857464" y="3490265"/>
            <a:ext cx="5363425" cy="500444"/>
          </a:xfrm>
          <a:custGeom>
            <a:avLst/>
            <a:gdLst>
              <a:gd name="T0" fmla="*/ 0 w 3527"/>
              <a:gd name="T1" fmla="*/ 0 h 333"/>
              <a:gd name="T2" fmla="*/ 0 w 3527"/>
              <a:gd name="T3" fmla="*/ 193904 h 333"/>
              <a:gd name="T4" fmla="*/ 21294 w 3527"/>
              <a:gd name="T5" fmla="*/ 288602 h 333"/>
              <a:gd name="T6" fmla="*/ 76049 w 3527"/>
              <a:gd name="T7" fmla="*/ 405846 h 333"/>
              <a:gd name="T8" fmla="*/ 185560 w 3527"/>
              <a:gd name="T9" fmla="*/ 477997 h 333"/>
              <a:gd name="T10" fmla="*/ 269214 w 3527"/>
              <a:gd name="T11" fmla="*/ 496035 h 333"/>
              <a:gd name="T12" fmla="*/ 5110500 w 3527"/>
              <a:gd name="T13" fmla="*/ 500544 h 333"/>
              <a:gd name="T14" fmla="*/ 5204801 w 3527"/>
              <a:gd name="T15" fmla="*/ 477997 h 333"/>
              <a:gd name="T16" fmla="*/ 5296060 w 3527"/>
              <a:gd name="T17" fmla="*/ 423884 h 333"/>
              <a:gd name="T18" fmla="*/ 5341689 w 3527"/>
              <a:gd name="T19" fmla="*/ 351734 h 333"/>
              <a:gd name="T20" fmla="*/ 5359941 w 3527"/>
              <a:gd name="T21" fmla="*/ 243508 h 333"/>
              <a:gd name="T22" fmla="*/ 5364504 w 3527"/>
              <a:gd name="T23" fmla="*/ 0 h 333"/>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3527" h="333">
                <a:moveTo>
                  <a:pt x="0" y="0"/>
                </a:moveTo>
                <a:lnTo>
                  <a:pt x="0" y="129"/>
                </a:lnTo>
                <a:lnTo>
                  <a:pt x="14" y="192"/>
                </a:lnTo>
                <a:lnTo>
                  <a:pt x="50" y="270"/>
                </a:lnTo>
                <a:lnTo>
                  <a:pt x="122" y="318"/>
                </a:lnTo>
                <a:lnTo>
                  <a:pt x="177" y="330"/>
                </a:lnTo>
                <a:lnTo>
                  <a:pt x="3360" y="333"/>
                </a:lnTo>
                <a:lnTo>
                  <a:pt x="3422" y="318"/>
                </a:lnTo>
                <a:lnTo>
                  <a:pt x="3482" y="282"/>
                </a:lnTo>
                <a:lnTo>
                  <a:pt x="3512" y="234"/>
                </a:lnTo>
                <a:lnTo>
                  <a:pt x="3524" y="162"/>
                </a:lnTo>
                <a:lnTo>
                  <a:pt x="3527" y="0"/>
                </a:lnTo>
              </a:path>
            </a:pathLst>
          </a:custGeom>
          <a:noFill/>
          <a:ln w="12700" cmpd="sng">
            <a:solidFill>
              <a:schemeClr val="tx1"/>
            </a:solidFill>
            <a:rou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nvGrpSpPr>
          <p:cNvPr id="103" name="Group 55">
            <a:extLst>
              <a:ext uri="{FF2B5EF4-FFF2-40B4-BE49-F238E27FC236}">
                <a16:creationId xmlns:a16="http://schemas.microsoft.com/office/drawing/2014/main" id="{1820EF16-C699-2E48-6D79-4932DEDA9660}"/>
              </a:ext>
            </a:extLst>
          </p:cNvPr>
          <p:cNvGrpSpPr/>
          <p:nvPr/>
        </p:nvGrpSpPr>
        <p:grpSpPr bwMode="auto">
          <a:xfrm>
            <a:off x="3857625" y="3606534"/>
            <a:ext cx="1316038" cy="666750"/>
            <a:chOff x="2245" y="3313"/>
            <a:chExt cx="1286" cy="707"/>
          </a:xfrm>
        </p:grpSpPr>
        <p:graphicFrame>
          <p:nvGraphicFramePr>
            <p:cNvPr id="104" name="Object 56">
              <a:extLst>
                <a:ext uri="{FF2B5EF4-FFF2-40B4-BE49-F238E27FC236}">
                  <a16:creationId xmlns:a16="http://schemas.microsoft.com/office/drawing/2014/main" id="{1DA84620-97EA-0000-59CA-ACDBED26EA6B}"/>
                </a:ext>
              </a:extLst>
            </p:cNvPr>
            <p:cNvGraphicFramePr>
              <a:graphicFrameLocks noChangeAspect="1"/>
            </p:cNvGraphicFramePr>
            <p:nvPr/>
          </p:nvGraphicFramePr>
          <p:xfrm>
            <a:off x="2245" y="3313"/>
            <a:ext cx="1286" cy="707"/>
          </p:xfrm>
          <a:graphic>
            <a:graphicData uri="http://schemas.openxmlformats.org/presentationml/2006/ole">
              <mc:AlternateContent xmlns:mc="http://schemas.openxmlformats.org/markup-compatibility/2006">
                <mc:Choice xmlns:v="urn:schemas-microsoft-com:vml" Requires="v">
                  <p:oleObj name="VISIO" r:id="rId2" imgW="1687068" imgH="964692" progId="">
                    <p:embed/>
                  </p:oleObj>
                </mc:Choice>
                <mc:Fallback>
                  <p:oleObj name="VISIO" r:id="rId2" imgW="1687068" imgH="964692" progId="">
                    <p:embed/>
                    <p:pic>
                      <p:nvPicPr>
                        <p:cNvPr id="57" name="Object 56"/>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245" y="3313"/>
                          <a:ext cx="1286" cy="707"/>
                        </a:xfrm>
                        <a:prstGeom prst="rect">
                          <a:avLst/>
                        </a:prstGeom>
                        <a:noFill/>
                        <a:effectLst>
                          <a:outerShdw dist="25400" dir="5400000" algn="ctr" rotWithShape="0">
                            <a:srgbClr val="EEECE1"/>
                          </a:outerShdw>
                        </a:effectLst>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05" name="Text Box 57">
              <a:extLst>
                <a:ext uri="{FF2B5EF4-FFF2-40B4-BE49-F238E27FC236}">
                  <a16:creationId xmlns:a16="http://schemas.microsoft.com/office/drawing/2014/main" id="{AF89EE1D-A014-1130-32E3-0615A8D4D8FB}"/>
                </a:ext>
              </a:extLst>
            </p:cNvPr>
            <p:cNvSpPr txBox="1">
              <a:spLocks noChangeArrowheads="1"/>
            </p:cNvSpPr>
            <p:nvPr/>
          </p:nvSpPr>
          <p:spPr bwMode="auto">
            <a:xfrm>
              <a:off x="2513" y="3501"/>
              <a:ext cx="782" cy="35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dirty="0">
                  <a:solidFill>
                    <a:srgbClr val="0033CC"/>
                  </a:solidFill>
                  <a:latin typeface="微软雅黑" panose="020B0503020204020204" pitchFamily="34" charset="-122"/>
                  <a:ea typeface="微软雅黑" panose="020B0503020204020204" pitchFamily="34" charset="-122"/>
                </a:rPr>
                <a:t>互联网</a:t>
              </a:r>
            </a:p>
          </p:txBody>
        </p:sp>
      </p:grpSp>
    </p:spTree>
    <p:extLst>
      <p:ext uri="{BB962C8B-B14F-4D97-AF65-F5344CB8AC3E}">
        <p14:creationId xmlns:p14="http://schemas.microsoft.com/office/powerpoint/2010/main" val="3065033133"/>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31"/>
                                        </p:tgtEl>
                                        <p:attrNameLst>
                                          <p:attrName>style.visibility</p:attrName>
                                        </p:attrNameLst>
                                      </p:cBhvr>
                                      <p:to>
                                        <p:strVal val="visible"/>
                                      </p:to>
                                    </p:set>
                                    <p:animEffect transition="in" filter="wipe(left)">
                                      <p:cBhvr>
                                        <p:cTn id="7" dur="500"/>
                                        <p:tgtEl>
                                          <p:spTgt spid="31"/>
                                        </p:tgtEl>
                                      </p:cBhvr>
                                    </p:animEffect>
                                  </p:childTnLst>
                                </p:cTn>
                              </p:par>
                            </p:childTnLst>
                          </p:cTn>
                        </p:par>
                        <p:par>
                          <p:cTn id="8" fill="hold">
                            <p:stCondLst>
                              <p:cond delay="500"/>
                            </p:stCondLst>
                            <p:childTnLst>
                              <p:par>
                                <p:cTn id="9" presetID="22" presetClass="entr" presetSubtype="2" fill="hold" nodeType="afterEffect">
                                  <p:stCondLst>
                                    <p:cond delay="0"/>
                                  </p:stCondLst>
                                  <p:childTnLst>
                                    <p:set>
                                      <p:cBhvr>
                                        <p:cTn id="10" dur="1" fill="hold">
                                          <p:stCondLst>
                                            <p:cond delay="0"/>
                                          </p:stCondLst>
                                        </p:cTn>
                                        <p:tgtEl>
                                          <p:spTgt spid="34"/>
                                        </p:tgtEl>
                                        <p:attrNameLst>
                                          <p:attrName>style.visibility</p:attrName>
                                        </p:attrNameLst>
                                      </p:cBhvr>
                                      <p:to>
                                        <p:strVal val="visible"/>
                                      </p:to>
                                    </p:set>
                                    <p:animEffect transition="in" filter="wipe(right)">
                                      <p:cBhvr>
                                        <p:cTn id="11" dur="1000"/>
                                        <p:tgtEl>
                                          <p:spTgt spid="34"/>
                                        </p:tgtEl>
                                      </p:cBhvr>
                                    </p:animEffect>
                                  </p:childTnLst>
                                </p:cTn>
                              </p:par>
                            </p:childTnLst>
                          </p:cTn>
                        </p:par>
                      </p:childTnLst>
                    </p:cTn>
                  </p:par>
                  <p:par>
                    <p:cTn id="12" fill="hold">
                      <p:stCondLst>
                        <p:cond delay="indefinite"/>
                      </p:stCondLst>
                      <p:childTnLst>
                        <p:par>
                          <p:cTn id="13" fill="hold">
                            <p:stCondLst>
                              <p:cond delay="0"/>
                            </p:stCondLst>
                            <p:childTnLst>
                              <p:par>
                                <p:cTn id="14" presetID="1" presetClass="entr" presetSubtype="0" fill="hold" grpId="0" nodeType="clickEffect">
                                  <p:stCondLst>
                                    <p:cond delay="0"/>
                                  </p:stCondLst>
                                  <p:childTnLst>
                                    <p:set>
                                      <p:cBhvr>
                                        <p:cTn id="15" dur="1" fill="hold">
                                          <p:stCondLst>
                                            <p:cond delay="0"/>
                                          </p:stCondLst>
                                        </p:cTn>
                                        <p:tgtEl>
                                          <p:spTgt spid="4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4" grpId="0" animBg="1"/>
    </p:bldLst>
  </p:timing>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Line 3"/>
          <p:cNvSpPr>
            <a:spLocks noChangeShapeType="1"/>
          </p:cNvSpPr>
          <p:nvPr/>
        </p:nvSpPr>
        <p:spPr bwMode="auto">
          <a:xfrm>
            <a:off x="4537075" y="3490264"/>
            <a:ext cx="0" cy="249620"/>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5" name="Rectangle 4"/>
          <p:cNvSpPr>
            <a:spLocks noChangeArrowheads="1"/>
          </p:cNvSpPr>
          <p:nvPr/>
        </p:nvSpPr>
        <p:spPr bwMode="auto">
          <a:xfrm>
            <a:off x="3365500" y="1423721"/>
            <a:ext cx="2409825" cy="2066925"/>
          </a:xfrm>
          <a:prstGeom prst="rect">
            <a:avLst/>
          </a:prstGeom>
          <a:noFill/>
          <a:ln w="19050">
            <a:solidFill>
              <a:schemeClr val="tx1"/>
            </a:solidFill>
            <a:miter lim="800000"/>
          </a:ln>
          <a:effectLst/>
        </p:spPr>
        <p:txBody>
          <a:bodyPr wrap="none" anchor="ctr"/>
          <a:lstStyle/>
          <a:p>
            <a:endParaRPr lang="zh-CN" altLang="en-US" sz="1600" b="1">
              <a:solidFill>
                <a:schemeClr val="bg1"/>
              </a:solidFill>
              <a:latin typeface="微软雅黑" panose="020B0503020204020204" pitchFamily="34" charset="-122"/>
              <a:ea typeface="微软雅黑" panose="020B0503020204020204" pitchFamily="34" charset="-122"/>
            </a:endParaRPr>
          </a:p>
        </p:txBody>
      </p:sp>
      <p:sp>
        <p:nvSpPr>
          <p:cNvPr id="6" name="Text Box 5"/>
          <p:cNvSpPr txBox="1">
            <a:spLocks noChangeArrowheads="1"/>
          </p:cNvSpPr>
          <p:nvPr/>
        </p:nvSpPr>
        <p:spPr bwMode="auto">
          <a:xfrm>
            <a:off x="4010025" y="2869934"/>
            <a:ext cx="1082675" cy="307975"/>
          </a:xfrm>
          <a:prstGeom prst="rect">
            <a:avLst/>
          </a:prstGeom>
          <a:noFill/>
        </p:spPr>
        <p:txBody>
          <a:bodyPr wrap="none" rtlCol="0">
            <a:spAutoFit/>
          </a:bodyPr>
          <a:lstStyle>
            <a:defPPr>
              <a:defRPr lang="zh-CN"/>
            </a:defPPr>
            <a:lvl1pPr>
              <a:defRPr sz="1400"/>
            </a:lvl1pPr>
          </a:lstStyle>
          <a:p>
            <a:r>
              <a:rPr lang="zh-CN" altLang="en-US" dirty="0"/>
              <a:t>数据链路层</a:t>
            </a:r>
          </a:p>
        </p:txBody>
      </p:sp>
      <p:sp>
        <p:nvSpPr>
          <p:cNvPr id="7" name="Line 6"/>
          <p:cNvSpPr>
            <a:spLocks noChangeShapeType="1"/>
          </p:cNvSpPr>
          <p:nvPr/>
        </p:nvSpPr>
        <p:spPr bwMode="auto">
          <a:xfrm>
            <a:off x="3365500" y="3177909"/>
            <a:ext cx="2409825" cy="0"/>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8" name="Line 7"/>
          <p:cNvSpPr>
            <a:spLocks noChangeShapeType="1"/>
          </p:cNvSpPr>
          <p:nvPr/>
        </p:nvSpPr>
        <p:spPr bwMode="auto">
          <a:xfrm>
            <a:off x="3365500" y="2863584"/>
            <a:ext cx="2409825" cy="0"/>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9" name="Line 8"/>
          <p:cNvSpPr>
            <a:spLocks noChangeShapeType="1"/>
          </p:cNvSpPr>
          <p:nvPr/>
        </p:nvSpPr>
        <p:spPr bwMode="auto">
          <a:xfrm>
            <a:off x="3365500" y="2550846"/>
            <a:ext cx="2409825" cy="0"/>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0" name="Line 9"/>
          <p:cNvSpPr>
            <a:spLocks noChangeShapeType="1"/>
          </p:cNvSpPr>
          <p:nvPr/>
        </p:nvSpPr>
        <p:spPr bwMode="auto">
          <a:xfrm>
            <a:off x="3365500" y="2238109"/>
            <a:ext cx="2409825" cy="0"/>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1" name="Text Box 10"/>
          <p:cNvSpPr txBox="1">
            <a:spLocks noChangeArrowheads="1"/>
          </p:cNvSpPr>
          <p:nvPr/>
        </p:nvSpPr>
        <p:spPr bwMode="auto">
          <a:xfrm>
            <a:off x="4205288" y="3184259"/>
            <a:ext cx="722312" cy="306387"/>
          </a:xfrm>
          <a:prstGeom prst="rect">
            <a:avLst/>
          </a:prstGeom>
          <a:noFill/>
        </p:spPr>
        <p:txBody>
          <a:bodyPr wrap="none" rtlCol="0">
            <a:spAutoFit/>
          </a:bodyPr>
          <a:lstStyle>
            <a:defPPr>
              <a:defRPr lang="zh-CN"/>
            </a:defPPr>
            <a:lvl1pPr>
              <a:defRPr sz="1400"/>
            </a:lvl1pPr>
          </a:lstStyle>
          <a:p>
            <a:r>
              <a:rPr lang="zh-CN" altLang="en-US" dirty="0"/>
              <a:t>物理层</a:t>
            </a:r>
          </a:p>
        </p:txBody>
      </p:sp>
      <p:sp>
        <p:nvSpPr>
          <p:cNvPr id="12" name="Text Box 11"/>
          <p:cNvSpPr txBox="1">
            <a:spLocks noChangeArrowheads="1"/>
          </p:cNvSpPr>
          <p:nvPr/>
        </p:nvSpPr>
        <p:spPr bwMode="auto">
          <a:xfrm>
            <a:off x="4205288" y="2253984"/>
            <a:ext cx="722312" cy="307975"/>
          </a:xfrm>
          <a:prstGeom prst="rect">
            <a:avLst/>
          </a:prstGeom>
          <a:noFill/>
        </p:spPr>
        <p:txBody>
          <a:bodyPr wrap="none" rtlCol="0">
            <a:spAutoFit/>
          </a:bodyPr>
          <a:lstStyle>
            <a:defPPr>
              <a:defRPr lang="zh-CN"/>
            </a:defPPr>
            <a:lvl1pPr>
              <a:defRPr sz="1400"/>
            </a:lvl1pPr>
          </a:lstStyle>
          <a:p>
            <a:r>
              <a:rPr lang="zh-CN" altLang="en-US" dirty="0"/>
              <a:t>运输层</a:t>
            </a:r>
          </a:p>
        </p:txBody>
      </p:sp>
      <p:sp>
        <p:nvSpPr>
          <p:cNvPr id="13" name="Text Box 12"/>
          <p:cNvSpPr txBox="1">
            <a:spLocks noChangeArrowheads="1"/>
          </p:cNvSpPr>
          <p:nvPr/>
        </p:nvSpPr>
        <p:spPr bwMode="auto">
          <a:xfrm>
            <a:off x="4205288" y="2566721"/>
            <a:ext cx="722312" cy="307975"/>
          </a:xfrm>
          <a:prstGeom prst="rect">
            <a:avLst/>
          </a:prstGeom>
          <a:noFill/>
        </p:spPr>
        <p:txBody>
          <a:bodyPr wrap="none" rtlCol="0">
            <a:spAutoFit/>
          </a:bodyPr>
          <a:lstStyle>
            <a:defPPr>
              <a:defRPr lang="zh-CN"/>
            </a:defPPr>
            <a:lvl1pPr>
              <a:defRPr sz="1400"/>
            </a:lvl1pPr>
          </a:lstStyle>
          <a:p>
            <a:r>
              <a:rPr lang="zh-CN" altLang="en-US" dirty="0"/>
              <a:t>网络层</a:t>
            </a:r>
          </a:p>
        </p:txBody>
      </p:sp>
      <p:sp>
        <p:nvSpPr>
          <p:cNvPr id="14" name="Text Box 13"/>
          <p:cNvSpPr txBox="1">
            <a:spLocks noChangeArrowheads="1"/>
          </p:cNvSpPr>
          <p:nvPr/>
        </p:nvSpPr>
        <p:spPr bwMode="auto">
          <a:xfrm>
            <a:off x="4179888" y="1418959"/>
            <a:ext cx="723900" cy="307975"/>
          </a:xfrm>
          <a:prstGeom prst="rect">
            <a:avLst/>
          </a:prstGeom>
          <a:noFill/>
        </p:spPr>
        <p:txBody>
          <a:bodyPr wrap="none" rtlCol="0">
            <a:spAutoFit/>
          </a:bodyPr>
          <a:lstStyle>
            <a:defPPr>
              <a:defRPr lang="zh-CN"/>
            </a:defPPr>
            <a:lvl1pPr>
              <a:defRPr sz="1400"/>
            </a:lvl1pPr>
          </a:lstStyle>
          <a:p>
            <a:r>
              <a:rPr lang="zh-CN" altLang="en-US" dirty="0"/>
              <a:t>应用层</a:t>
            </a:r>
          </a:p>
        </p:txBody>
      </p:sp>
      <p:sp>
        <p:nvSpPr>
          <p:cNvPr id="15" name="Text Box 14"/>
          <p:cNvSpPr txBox="1">
            <a:spLocks noChangeArrowheads="1"/>
          </p:cNvSpPr>
          <p:nvPr/>
        </p:nvSpPr>
        <p:spPr bwMode="auto">
          <a:xfrm>
            <a:off x="4144963" y="1125271"/>
            <a:ext cx="89639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400" b="1" dirty="0">
                <a:solidFill>
                  <a:srgbClr val="0000FF"/>
                </a:solidFill>
                <a:latin typeface="微软雅黑" panose="020B0503020204020204" pitchFamily="34" charset="-122"/>
                <a:ea typeface="微软雅黑" panose="020B0503020204020204" pitchFamily="34" charset="-122"/>
              </a:rPr>
              <a:t>计算机 </a:t>
            </a:r>
            <a:r>
              <a:rPr kumimoji="1" lang="en-US" altLang="zh-CN" sz="1400" b="1" dirty="0">
                <a:solidFill>
                  <a:srgbClr val="0000FF"/>
                </a:solidFill>
                <a:latin typeface="微软雅黑" panose="020B0503020204020204" pitchFamily="34" charset="-122"/>
                <a:ea typeface="微软雅黑" panose="020B0503020204020204" pitchFamily="34" charset="-122"/>
              </a:rPr>
              <a:t>C</a:t>
            </a:r>
          </a:p>
        </p:txBody>
      </p:sp>
      <p:sp>
        <p:nvSpPr>
          <p:cNvPr id="17" name="Line 16"/>
          <p:cNvSpPr>
            <a:spLocks noChangeShapeType="1"/>
          </p:cNvSpPr>
          <p:nvPr/>
        </p:nvSpPr>
        <p:spPr bwMode="auto">
          <a:xfrm>
            <a:off x="3985553" y="2151201"/>
            <a:ext cx="1319" cy="94845"/>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18" name="Oval 17"/>
          <p:cNvSpPr>
            <a:spLocks noChangeArrowheads="1"/>
          </p:cNvSpPr>
          <p:nvPr/>
        </p:nvSpPr>
        <p:spPr bwMode="auto">
          <a:xfrm>
            <a:off x="3511550" y="1705717"/>
            <a:ext cx="949325" cy="432000"/>
          </a:xfrm>
          <a:prstGeom prst="ellipse">
            <a:avLst/>
          </a:prstGeom>
          <a:solidFill>
            <a:srgbClr val="FFFF00"/>
          </a:solidFill>
          <a:ln w="6350">
            <a:solidFill>
              <a:schemeClr val="tx1"/>
            </a:solidFill>
          </a:ln>
        </p:spPr>
        <p:style>
          <a:lnRef idx="2">
            <a:schemeClr val="accent4"/>
          </a:lnRef>
          <a:fillRef idx="1">
            <a:schemeClr val="lt1"/>
          </a:fillRef>
          <a:effectRef idx="0">
            <a:schemeClr val="accent4"/>
          </a:effectRef>
          <a:fontRef idx="minor">
            <a:schemeClr val="dk1"/>
          </a:fontRef>
        </p:style>
        <p:txBody>
          <a:bodyPr wrap="none" anchor="ctr"/>
          <a:lstStyle/>
          <a:p>
            <a:pPr algn="ctr" fontAlgn="auto">
              <a:spcBef>
                <a:spcPts val="0"/>
              </a:spcBef>
              <a:spcAft>
                <a:spcPts val="0"/>
              </a:spcAft>
              <a:defRPr/>
            </a:pPr>
            <a:r>
              <a:rPr lang="zh-CN" altLang="en-US" sz="1400" dirty="0"/>
              <a:t>服</a:t>
            </a:r>
            <a:r>
              <a:rPr lang="zh-CN" altLang="en-US" sz="1400"/>
              <a:t>务器</a:t>
            </a:r>
            <a:r>
              <a:rPr lang="en-US" altLang="zh-CN" sz="1400" dirty="0"/>
              <a:t>1</a:t>
            </a:r>
            <a:endParaRPr lang="zh-CN" altLang="zh-CN" sz="1400" dirty="0"/>
          </a:p>
        </p:txBody>
      </p:sp>
      <p:sp>
        <p:nvSpPr>
          <p:cNvPr id="21" name="Line 20"/>
          <p:cNvSpPr>
            <a:spLocks noChangeShapeType="1"/>
          </p:cNvSpPr>
          <p:nvPr/>
        </p:nvSpPr>
        <p:spPr bwMode="auto">
          <a:xfrm>
            <a:off x="5153952" y="2151201"/>
            <a:ext cx="1320" cy="93847"/>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22" name="Oval 21"/>
          <p:cNvSpPr>
            <a:spLocks noChangeArrowheads="1"/>
          </p:cNvSpPr>
          <p:nvPr/>
        </p:nvSpPr>
        <p:spPr bwMode="auto">
          <a:xfrm>
            <a:off x="4679950" y="1705717"/>
            <a:ext cx="949325" cy="432000"/>
          </a:xfrm>
          <a:prstGeom prst="ellipse">
            <a:avLst/>
          </a:prstGeom>
          <a:solidFill>
            <a:srgbClr val="FFFF00"/>
          </a:solidFill>
          <a:ln w="6350">
            <a:solidFill>
              <a:schemeClr val="tx1"/>
            </a:solidFill>
          </a:ln>
        </p:spPr>
        <p:style>
          <a:lnRef idx="2">
            <a:schemeClr val="accent4"/>
          </a:lnRef>
          <a:fillRef idx="1">
            <a:schemeClr val="lt1"/>
          </a:fillRef>
          <a:effectRef idx="0">
            <a:schemeClr val="accent4"/>
          </a:effectRef>
          <a:fontRef idx="minor">
            <a:schemeClr val="dk1"/>
          </a:fontRef>
        </p:style>
        <p:txBody>
          <a:bodyPr wrap="none" anchor="ctr"/>
          <a:lstStyle/>
          <a:p>
            <a:pPr algn="ctr" fontAlgn="auto">
              <a:spcBef>
                <a:spcPts val="0"/>
              </a:spcBef>
              <a:spcAft>
                <a:spcPts val="0"/>
              </a:spcAft>
              <a:defRPr/>
            </a:pPr>
            <a:r>
              <a:rPr lang="zh-CN" altLang="en-US" sz="1400" dirty="0">
                <a:solidFill>
                  <a:schemeClr val="tx1"/>
                </a:solidFill>
              </a:rPr>
              <a:t>服</a:t>
            </a:r>
            <a:r>
              <a:rPr lang="zh-CN" altLang="en-US" sz="1400">
                <a:solidFill>
                  <a:schemeClr val="tx1"/>
                </a:solidFill>
              </a:rPr>
              <a:t>务器</a:t>
            </a:r>
            <a:r>
              <a:rPr lang="en-US" altLang="zh-CN" sz="1400" dirty="0">
                <a:solidFill>
                  <a:schemeClr val="tx1"/>
                </a:solidFill>
              </a:rPr>
              <a:t>2</a:t>
            </a:r>
            <a:endParaRPr lang="zh-CN" altLang="zh-CN" sz="1400" dirty="0">
              <a:solidFill>
                <a:schemeClr val="tx1"/>
              </a:solidFill>
            </a:endParaRPr>
          </a:p>
        </p:txBody>
      </p:sp>
      <p:sp>
        <p:nvSpPr>
          <p:cNvPr id="25" name="Freeform 24"/>
          <p:cNvSpPr/>
          <p:nvPr/>
        </p:nvSpPr>
        <p:spPr bwMode="auto">
          <a:xfrm>
            <a:off x="1857464" y="3490265"/>
            <a:ext cx="5363425" cy="500444"/>
          </a:xfrm>
          <a:custGeom>
            <a:avLst/>
            <a:gdLst>
              <a:gd name="T0" fmla="*/ 0 w 3527"/>
              <a:gd name="T1" fmla="*/ 0 h 333"/>
              <a:gd name="T2" fmla="*/ 0 w 3527"/>
              <a:gd name="T3" fmla="*/ 193904 h 333"/>
              <a:gd name="T4" fmla="*/ 21294 w 3527"/>
              <a:gd name="T5" fmla="*/ 288602 h 333"/>
              <a:gd name="T6" fmla="*/ 76049 w 3527"/>
              <a:gd name="T7" fmla="*/ 405846 h 333"/>
              <a:gd name="T8" fmla="*/ 185560 w 3527"/>
              <a:gd name="T9" fmla="*/ 477997 h 333"/>
              <a:gd name="T10" fmla="*/ 269214 w 3527"/>
              <a:gd name="T11" fmla="*/ 496035 h 333"/>
              <a:gd name="T12" fmla="*/ 5110500 w 3527"/>
              <a:gd name="T13" fmla="*/ 500544 h 333"/>
              <a:gd name="T14" fmla="*/ 5204801 w 3527"/>
              <a:gd name="T15" fmla="*/ 477997 h 333"/>
              <a:gd name="T16" fmla="*/ 5296060 w 3527"/>
              <a:gd name="T17" fmla="*/ 423884 h 333"/>
              <a:gd name="T18" fmla="*/ 5341689 w 3527"/>
              <a:gd name="T19" fmla="*/ 351734 h 333"/>
              <a:gd name="T20" fmla="*/ 5359941 w 3527"/>
              <a:gd name="T21" fmla="*/ 243508 h 333"/>
              <a:gd name="T22" fmla="*/ 5364504 w 3527"/>
              <a:gd name="T23" fmla="*/ 0 h 333"/>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3527" h="333">
                <a:moveTo>
                  <a:pt x="0" y="0"/>
                </a:moveTo>
                <a:lnTo>
                  <a:pt x="0" y="129"/>
                </a:lnTo>
                <a:lnTo>
                  <a:pt x="14" y="192"/>
                </a:lnTo>
                <a:lnTo>
                  <a:pt x="50" y="270"/>
                </a:lnTo>
                <a:lnTo>
                  <a:pt x="122" y="318"/>
                </a:lnTo>
                <a:lnTo>
                  <a:pt x="177" y="330"/>
                </a:lnTo>
                <a:lnTo>
                  <a:pt x="3360" y="333"/>
                </a:lnTo>
                <a:lnTo>
                  <a:pt x="3422" y="318"/>
                </a:lnTo>
                <a:lnTo>
                  <a:pt x="3482" y="282"/>
                </a:lnTo>
                <a:lnTo>
                  <a:pt x="3512" y="234"/>
                </a:lnTo>
                <a:lnTo>
                  <a:pt x="3524" y="162"/>
                </a:lnTo>
                <a:lnTo>
                  <a:pt x="3527" y="0"/>
                </a:lnTo>
              </a:path>
            </a:pathLst>
          </a:custGeom>
          <a:noFill/>
          <a:ln w="12700" cmpd="sng">
            <a:solidFill>
              <a:schemeClr val="tx1"/>
            </a:solidFill>
            <a:rou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42" name="Rectangle 26"/>
          <p:cNvSpPr>
            <a:spLocks noChangeArrowheads="1"/>
          </p:cNvSpPr>
          <p:nvPr/>
        </p:nvSpPr>
        <p:spPr bwMode="auto">
          <a:xfrm>
            <a:off x="1249363" y="1423959"/>
            <a:ext cx="1241265" cy="2066307"/>
          </a:xfrm>
          <a:prstGeom prst="rect">
            <a:avLst/>
          </a:prstGeom>
          <a:noFill/>
          <a:ln w="19050">
            <a:solidFill>
              <a:schemeClr val="tx1"/>
            </a:solidFill>
            <a:miter lim="800000"/>
          </a:ln>
          <a:effectLst/>
        </p:spPr>
        <p:txBody>
          <a:bodyPr wrap="none" anchor="ctr"/>
          <a:lstStyle/>
          <a:p>
            <a:endParaRPr lang="zh-CN" altLang="en-US" sz="1600" b="1">
              <a:solidFill>
                <a:schemeClr val="bg1"/>
              </a:solidFill>
              <a:latin typeface="微软雅黑" panose="020B0503020204020204" pitchFamily="34" charset="-122"/>
              <a:ea typeface="微软雅黑" panose="020B0503020204020204" pitchFamily="34" charset="-122"/>
            </a:endParaRPr>
          </a:p>
        </p:txBody>
      </p:sp>
      <p:sp>
        <p:nvSpPr>
          <p:cNvPr id="43" name="Text Box 27"/>
          <p:cNvSpPr txBox="1">
            <a:spLocks noChangeArrowheads="1"/>
          </p:cNvSpPr>
          <p:nvPr/>
        </p:nvSpPr>
        <p:spPr bwMode="auto">
          <a:xfrm>
            <a:off x="1310041" y="2870496"/>
            <a:ext cx="1081655" cy="308059"/>
          </a:xfrm>
          <a:prstGeom prst="rect">
            <a:avLst/>
          </a:prstGeom>
          <a:noFill/>
        </p:spPr>
        <p:txBody>
          <a:bodyPr wrap="none" rtlCol="0">
            <a:spAutoFit/>
          </a:bodyPr>
          <a:lstStyle>
            <a:defPPr>
              <a:defRPr lang="zh-CN"/>
            </a:defPPr>
            <a:lvl1pPr>
              <a:defRPr sz="1400"/>
            </a:lvl1pPr>
          </a:lstStyle>
          <a:p>
            <a:r>
              <a:rPr lang="zh-CN" altLang="en-US" dirty="0"/>
              <a:t>数据链路层</a:t>
            </a:r>
          </a:p>
        </p:txBody>
      </p:sp>
      <p:sp>
        <p:nvSpPr>
          <p:cNvPr id="44" name="Line 28"/>
          <p:cNvSpPr>
            <a:spLocks noChangeShapeType="1"/>
          </p:cNvSpPr>
          <p:nvPr/>
        </p:nvSpPr>
        <p:spPr bwMode="auto">
          <a:xfrm>
            <a:off x="1249363" y="3177337"/>
            <a:ext cx="1241265" cy="0"/>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45" name="Line 29"/>
          <p:cNvSpPr>
            <a:spLocks noChangeShapeType="1"/>
          </p:cNvSpPr>
          <p:nvPr/>
        </p:nvSpPr>
        <p:spPr bwMode="auto">
          <a:xfrm>
            <a:off x="1249363" y="2863190"/>
            <a:ext cx="1241265" cy="0"/>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46" name="Line 30"/>
          <p:cNvSpPr>
            <a:spLocks noChangeShapeType="1"/>
          </p:cNvSpPr>
          <p:nvPr/>
        </p:nvSpPr>
        <p:spPr bwMode="auto">
          <a:xfrm>
            <a:off x="1249363" y="2550261"/>
            <a:ext cx="1241265" cy="0"/>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47" name="Line 31"/>
          <p:cNvSpPr>
            <a:spLocks noChangeShapeType="1"/>
          </p:cNvSpPr>
          <p:nvPr/>
        </p:nvSpPr>
        <p:spPr bwMode="auto">
          <a:xfrm>
            <a:off x="1249363" y="2237332"/>
            <a:ext cx="1241265" cy="0"/>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48" name="Text Box 32"/>
          <p:cNvSpPr txBox="1">
            <a:spLocks noChangeArrowheads="1"/>
          </p:cNvSpPr>
          <p:nvPr/>
        </p:nvSpPr>
        <p:spPr bwMode="auto">
          <a:xfrm>
            <a:off x="1503948" y="3183425"/>
            <a:ext cx="722862" cy="308059"/>
          </a:xfrm>
          <a:prstGeom prst="rect">
            <a:avLst/>
          </a:prstGeom>
          <a:noFill/>
        </p:spPr>
        <p:txBody>
          <a:bodyPr wrap="none" rtlCol="0">
            <a:spAutoFit/>
          </a:bodyPr>
          <a:lstStyle>
            <a:defPPr>
              <a:defRPr lang="zh-CN"/>
            </a:defPPr>
            <a:lvl1pPr>
              <a:defRPr sz="1400"/>
            </a:lvl1pPr>
          </a:lstStyle>
          <a:p>
            <a:r>
              <a:rPr lang="zh-CN" altLang="en-US" dirty="0"/>
              <a:t>物理层</a:t>
            </a:r>
          </a:p>
        </p:txBody>
      </p:sp>
      <p:sp>
        <p:nvSpPr>
          <p:cNvPr id="49" name="Text Box 33"/>
          <p:cNvSpPr txBox="1">
            <a:spLocks noChangeArrowheads="1"/>
          </p:cNvSpPr>
          <p:nvPr/>
        </p:nvSpPr>
        <p:spPr bwMode="auto">
          <a:xfrm>
            <a:off x="1503948" y="2254378"/>
            <a:ext cx="722862" cy="308059"/>
          </a:xfrm>
          <a:prstGeom prst="rect">
            <a:avLst/>
          </a:prstGeom>
          <a:noFill/>
        </p:spPr>
        <p:txBody>
          <a:bodyPr wrap="none" rtlCol="0">
            <a:spAutoFit/>
          </a:bodyPr>
          <a:lstStyle>
            <a:defPPr>
              <a:defRPr lang="zh-CN"/>
            </a:defPPr>
            <a:lvl1pPr>
              <a:defRPr sz="1400"/>
            </a:lvl1pPr>
          </a:lstStyle>
          <a:p>
            <a:r>
              <a:rPr lang="zh-CN" altLang="en-US" dirty="0"/>
              <a:t>运输层</a:t>
            </a:r>
          </a:p>
        </p:txBody>
      </p:sp>
      <p:sp>
        <p:nvSpPr>
          <p:cNvPr id="50" name="Text Box 34"/>
          <p:cNvSpPr txBox="1">
            <a:spLocks noChangeArrowheads="1"/>
          </p:cNvSpPr>
          <p:nvPr/>
        </p:nvSpPr>
        <p:spPr bwMode="auto">
          <a:xfrm>
            <a:off x="1503948" y="2567308"/>
            <a:ext cx="722862" cy="308059"/>
          </a:xfrm>
          <a:prstGeom prst="rect">
            <a:avLst/>
          </a:prstGeom>
          <a:noFill/>
        </p:spPr>
        <p:txBody>
          <a:bodyPr wrap="none" rtlCol="0">
            <a:spAutoFit/>
          </a:bodyPr>
          <a:lstStyle>
            <a:defPPr>
              <a:defRPr lang="zh-CN"/>
            </a:defPPr>
            <a:lvl1pPr>
              <a:defRPr sz="1400"/>
            </a:lvl1pPr>
          </a:lstStyle>
          <a:p>
            <a:r>
              <a:rPr lang="zh-CN" altLang="en-US" dirty="0"/>
              <a:t>网络层</a:t>
            </a:r>
          </a:p>
        </p:txBody>
      </p:sp>
      <p:sp>
        <p:nvSpPr>
          <p:cNvPr id="51" name="Line 35"/>
          <p:cNvSpPr>
            <a:spLocks noChangeShapeType="1"/>
          </p:cNvSpPr>
          <p:nvPr/>
        </p:nvSpPr>
        <p:spPr bwMode="auto">
          <a:xfrm>
            <a:off x="1868677" y="2049818"/>
            <a:ext cx="2638" cy="187514"/>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52" name="Oval 36"/>
          <p:cNvSpPr>
            <a:spLocks noChangeArrowheads="1"/>
          </p:cNvSpPr>
          <p:nvPr/>
        </p:nvSpPr>
        <p:spPr bwMode="auto">
          <a:xfrm>
            <a:off x="1358848" y="1705717"/>
            <a:ext cx="1022296" cy="432000"/>
          </a:xfrm>
          <a:prstGeom prst="ellipse">
            <a:avLst/>
          </a:prstGeom>
          <a:solidFill>
            <a:srgbClr val="00FF99"/>
          </a:solidFill>
          <a:ln w="6350">
            <a:solidFill>
              <a:schemeClr val="tx1"/>
            </a:solidFill>
          </a:ln>
        </p:spPr>
        <p:style>
          <a:lnRef idx="2">
            <a:schemeClr val="accent4"/>
          </a:lnRef>
          <a:fillRef idx="1">
            <a:schemeClr val="lt1"/>
          </a:fillRef>
          <a:effectRef idx="0">
            <a:schemeClr val="accent4"/>
          </a:effectRef>
          <a:fontRef idx="minor">
            <a:schemeClr val="dk1"/>
          </a:fontRef>
        </p:style>
        <p:txBody>
          <a:bodyPr wrap="none" anchor="ctr"/>
          <a:lstStyle/>
          <a:p>
            <a:pPr algn="ctr"/>
            <a:r>
              <a:rPr lang="zh-CN" altLang="en-US" sz="1400" dirty="0">
                <a:solidFill>
                  <a:schemeClr val="tx1"/>
                </a:solidFill>
              </a:rPr>
              <a:t>客</a:t>
            </a:r>
            <a:r>
              <a:rPr lang="zh-CN" altLang="en-US" sz="1400">
                <a:solidFill>
                  <a:schemeClr val="tx1"/>
                </a:solidFill>
              </a:rPr>
              <a:t>户 </a:t>
            </a:r>
            <a:r>
              <a:rPr lang="en-US" altLang="zh-CN" sz="1400">
                <a:solidFill>
                  <a:schemeClr val="tx1"/>
                </a:solidFill>
              </a:rPr>
              <a:t>1</a:t>
            </a:r>
            <a:endParaRPr lang="en-US" altLang="zh-CN" sz="1400" dirty="0">
              <a:solidFill>
                <a:schemeClr val="tx1"/>
              </a:solidFill>
            </a:endParaRPr>
          </a:p>
        </p:txBody>
      </p:sp>
      <p:sp>
        <p:nvSpPr>
          <p:cNvPr id="53" name="Text Box 37"/>
          <p:cNvSpPr txBox="1">
            <a:spLocks noChangeArrowheads="1"/>
          </p:cNvSpPr>
          <p:nvPr/>
        </p:nvSpPr>
        <p:spPr bwMode="auto">
          <a:xfrm>
            <a:off x="1510543" y="1430047"/>
            <a:ext cx="800219" cy="338554"/>
          </a:xfrm>
          <a:prstGeom prst="rect">
            <a:avLst/>
          </a:prstGeom>
          <a:noFill/>
        </p:spPr>
        <p:txBody>
          <a:bodyPr wrap="none" rtlCol="0">
            <a:spAutoFit/>
          </a:bodyPr>
          <a:lstStyle>
            <a:defPPr>
              <a:defRPr lang="zh-CN"/>
            </a:defPPr>
            <a:lvl1pPr>
              <a:defRPr sz="1400"/>
            </a:lvl1pPr>
          </a:lstStyle>
          <a:p>
            <a:r>
              <a:rPr lang="zh-CN" altLang="en-US" dirty="0"/>
              <a:t>应用层</a:t>
            </a:r>
          </a:p>
        </p:txBody>
      </p:sp>
      <p:sp>
        <p:nvSpPr>
          <p:cNvPr id="54" name="Text Box 38"/>
          <p:cNvSpPr txBox="1">
            <a:spLocks noChangeArrowheads="1"/>
          </p:cNvSpPr>
          <p:nvPr/>
        </p:nvSpPr>
        <p:spPr bwMode="auto">
          <a:xfrm>
            <a:off x="1449865" y="1126859"/>
            <a:ext cx="910173" cy="30805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400" b="1" dirty="0">
                <a:solidFill>
                  <a:srgbClr val="0000FF"/>
                </a:solidFill>
                <a:latin typeface="微软雅黑" panose="020B0503020204020204" pitchFamily="34" charset="-122"/>
                <a:ea typeface="微软雅黑" panose="020B0503020204020204" pitchFamily="34" charset="-122"/>
              </a:rPr>
              <a:t>计算机 </a:t>
            </a:r>
            <a:r>
              <a:rPr kumimoji="1" lang="en-US" altLang="zh-CN" sz="1400" b="1" dirty="0">
                <a:solidFill>
                  <a:srgbClr val="0000FF"/>
                </a:solidFill>
                <a:latin typeface="微软雅黑" panose="020B0503020204020204" pitchFamily="34" charset="-122"/>
                <a:ea typeface="微软雅黑" panose="020B0503020204020204" pitchFamily="34" charset="-122"/>
              </a:rPr>
              <a:t>A</a:t>
            </a:r>
          </a:p>
        </p:txBody>
      </p:sp>
      <p:sp>
        <p:nvSpPr>
          <p:cNvPr id="28" name="Rectangle 41"/>
          <p:cNvSpPr>
            <a:spLocks noChangeArrowheads="1"/>
          </p:cNvSpPr>
          <p:nvPr/>
        </p:nvSpPr>
        <p:spPr bwMode="auto">
          <a:xfrm>
            <a:off x="6577173" y="1423959"/>
            <a:ext cx="1241265" cy="2066307"/>
          </a:xfrm>
          <a:prstGeom prst="rect">
            <a:avLst/>
          </a:prstGeom>
          <a:noFill/>
          <a:ln w="19050">
            <a:solidFill>
              <a:schemeClr val="tx1"/>
            </a:solidFill>
            <a:miter lim="800000"/>
          </a:ln>
          <a:effectLst/>
        </p:spPr>
        <p:txBody>
          <a:bodyPr wrap="none" anchor="ctr"/>
          <a:lstStyle/>
          <a:p>
            <a:endParaRPr lang="zh-CN" altLang="en-US" sz="1600" b="1">
              <a:latin typeface="微软雅黑" panose="020B0503020204020204" pitchFamily="34" charset="-122"/>
              <a:ea typeface="微软雅黑" panose="020B0503020204020204" pitchFamily="34" charset="-122"/>
            </a:endParaRPr>
          </a:p>
        </p:txBody>
      </p:sp>
      <p:sp>
        <p:nvSpPr>
          <p:cNvPr id="29" name="Text Box 42"/>
          <p:cNvSpPr txBox="1">
            <a:spLocks noChangeArrowheads="1"/>
          </p:cNvSpPr>
          <p:nvPr/>
        </p:nvSpPr>
        <p:spPr bwMode="auto">
          <a:xfrm>
            <a:off x="6669509" y="2870496"/>
            <a:ext cx="1081655" cy="308059"/>
          </a:xfrm>
          <a:prstGeom prst="rect">
            <a:avLst/>
          </a:prstGeom>
          <a:noFill/>
        </p:spPr>
        <p:txBody>
          <a:bodyPr wrap="none" rtlCol="0">
            <a:spAutoFit/>
          </a:bodyPr>
          <a:lstStyle>
            <a:defPPr>
              <a:defRPr lang="zh-CN"/>
            </a:defPPr>
            <a:lvl1pPr>
              <a:defRPr sz="1400"/>
            </a:lvl1pPr>
          </a:lstStyle>
          <a:p>
            <a:r>
              <a:rPr lang="zh-CN" altLang="en-US" dirty="0"/>
              <a:t>数据链路层</a:t>
            </a:r>
          </a:p>
        </p:txBody>
      </p:sp>
      <p:sp>
        <p:nvSpPr>
          <p:cNvPr id="30" name="Line 43"/>
          <p:cNvSpPr>
            <a:spLocks noChangeShapeType="1"/>
          </p:cNvSpPr>
          <p:nvPr/>
        </p:nvSpPr>
        <p:spPr bwMode="auto">
          <a:xfrm>
            <a:off x="6577173" y="3177337"/>
            <a:ext cx="1241265" cy="0"/>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31" name="Line 44"/>
          <p:cNvSpPr>
            <a:spLocks noChangeShapeType="1"/>
          </p:cNvSpPr>
          <p:nvPr/>
        </p:nvSpPr>
        <p:spPr bwMode="auto">
          <a:xfrm>
            <a:off x="6577173" y="2863190"/>
            <a:ext cx="1241265" cy="0"/>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32" name="Line 45"/>
          <p:cNvSpPr>
            <a:spLocks noChangeShapeType="1"/>
          </p:cNvSpPr>
          <p:nvPr/>
        </p:nvSpPr>
        <p:spPr bwMode="auto">
          <a:xfrm>
            <a:off x="6577173" y="2550261"/>
            <a:ext cx="1241265" cy="0"/>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33" name="Line 46"/>
          <p:cNvSpPr>
            <a:spLocks noChangeShapeType="1"/>
          </p:cNvSpPr>
          <p:nvPr/>
        </p:nvSpPr>
        <p:spPr bwMode="auto">
          <a:xfrm>
            <a:off x="6577173" y="2237332"/>
            <a:ext cx="1241265" cy="0"/>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34" name="Text Box 47"/>
          <p:cNvSpPr txBox="1">
            <a:spLocks noChangeArrowheads="1"/>
          </p:cNvSpPr>
          <p:nvPr/>
        </p:nvSpPr>
        <p:spPr bwMode="auto">
          <a:xfrm>
            <a:off x="6864735" y="3183425"/>
            <a:ext cx="722862" cy="308059"/>
          </a:xfrm>
          <a:prstGeom prst="rect">
            <a:avLst/>
          </a:prstGeom>
          <a:noFill/>
        </p:spPr>
        <p:txBody>
          <a:bodyPr wrap="none" rtlCol="0">
            <a:spAutoFit/>
          </a:bodyPr>
          <a:lstStyle>
            <a:defPPr>
              <a:defRPr lang="zh-CN"/>
            </a:defPPr>
            <a:lvl1pPr>
              <a:defRPr sz="1400"/>
            </a:lvl1pPr>
          </a:lstStyle>
          <a:p>
            <a:r>
              <a:rPr lang="zh-CN" altLang="en-US" dirty="0"/>
              <a:t>物理层</a:t>
            </a:r>
          </a:p>
        </p:txBody>
      </p:sp>
      <p:sp>
        <p:nvSpPr>
          <p:cNvPr id="35" name="Text Box 48"/>
          <p:cNvSpPr txBox="1">
            <a:spLocks noChangeArrowheads="1"/>
          </p:cNvSpPr>
          <p:nvPr/>
        </p:nvSpPr>
        <p:spPr bwMode="auto">
          <a:xfrm>
            <a:off x="6864735" y="2254378"/>
            <a:ext cx="722862" cy="308059"/>
          </a:xfrm>
          <a:prstGeom prst="rect">
            <a:avLst/>
          </a:prstGeom>
          <a:noFill/>
        </p:spPr>
        <p:txBody>
          <a:bodyPr wrap="none" rtlCol="0">
            <a:spAutoFit/>
          </a:bodyPr>
          <a:lstStyle>
            <a:defPPr>
              <a:defRPr lang="zh-CN"/>
            </a:defPPr>
            <a:lvl1pPr>
              <a:defRPr sz="1400"/>
            </a:lvl1pPr>
          </a:lstStyle>
          <a:p>
            <a:r>
              <a:rPr lang="zh-CN" altLang="en-US" dirty="0"/>
              <a:t>运输层</a:t>
            </a:r>
          </a:p>
        </p:txBody>
      </p:sp>
      <p:sp>
        <p:nvSpPr>
          <p:cNvPr id="36" name="Text Box 49"/>
          <p:cNvSpPr txBox="1">
            <a:spLocks noChangeArrowheads="1"/>
          </p:cNvSpPr>
          <p:nvPr/>
        </p:nvSpPr>
        <p:spPr bwMode="auto">
          <a:xfrm>
            <a:off x="6864735" y="2567308"/>
            <a:ext cx="722862" cy="308059"/>
          </a:xfrm>
          <a:prstGeom prst="rect">
            <a:avLst/>
          </a:prstGeom>
          <a:noFill/>
        </p:spPr>
        <p:txBody>
          <a:bodyPr wrap="none" rtlCol="0">
            <a:spAutoFit/>
          </a:bodyPr>
          <a:lstStyle>
            <a:defPPr>
              <a:defRPr lang="zh-CN"/>
            </a:defPPr>
            <a:lvl1pPr>
              <a:defRPr sz="1400"/>
            </a:lvl1pPr>
          </a:lstStyle>
          <a:p>
            <a:r>
              <a:rPr lang="zh-CN" altLang="en-US" dirty="0"/>
              <a:t>网络层</a:t>
            </a:r>
          </a:p>
        </p:txBody>
      </p:sp>
      <p:sp>
        <p:nvSpPr>
          <p:cNvPr id="37" name="Line 50"/>
          <p:cNvSpPr>
            <a:spLocks noChangeShapeType="1"/>
          </p:cNvSpPr>
          <p:nvPr/>
        </p:nvSpPr>
        <p:spPr bwMode="auto">
          <a:xfrm>
            <a:off x="7196487" y="2085129"/>
            <a:ext cx="2638" cy="152203"/>
          </a:xfrm>
          <a:prstGeom prst="line">
            <a:avLst/>
          </a:prstGeom>
          <a:noFill/>
          <a:ln w="12700">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38" name="Oval 51"/>
          <p:cNvSpPr>
            <a:spLocks noChangeArrowheads="1"/>
          </p:cNvSpPr>
          <p:nvPr/>
        </p:nvSpPr>
        <p:spPr bwMode="auto">
          <a:xfrm>
            <a:off x="6686658" y="1705717"/>
            <a:ext cx="1022296" cy="432000"/>
          </a:xfrm>
          <a:prstGeom prst="ellipse">
            <a:avLst/>
          </a:prstGeom>
          <a:solidFill>
            <a:srgbClr val="ABEBD7"/>
          </a:solidFill>
          <a:ln w="6350">
            <a:solidFill>
              <a:schemeClr val="tx1"/>
            </a:solidFill>
          </a:ln>
        </p:spPr>
        <p:style>
          <a:lnRef idx="2">
            <a:schemeClr val="accent4"/>
          </a:lnRef>
          <a:fillRef idx="1">
            <a:schemeClr val="lt1"/>
          </a:fillRef>
          <a:effectRef idx="0">
            <a:schemeClr val="accent4"/>
          </a:effectRef>
          <a:fontRef idx="minor">
            <a:schemeClr val="dk1"/>
          </a:fontRef>
        </p:style>
        <p:txBody>
          <a:bodyPr wrap="none" anchor="ctr"/>
          <a:lstStyle/>
          <a:p>
            <a:pPr algn="ctr" fontAlgn="auto">
              <a:spcBef>
                <a:spcPts val="0"/>
              </a:spcBef>
              <a:spcAft>
                <a:spcPts val="0"/>
              </a:spcAft>
              <a:defRPr/>
            </a:pPr>
            <a:r>
              <a:rPr lang="zh-CN" altLang="en-US" sz="1400" dirty="0">
                <a:solidFill>
                  <a:schemeClr val="tx1"/>
                </a:solidFill>
              </a:rPr>
              <a:t>客</a:t>
            </a:r>
            <a:r>
              <a:rPr lang="zh-CN" altLang="en-US" sz="1400">
                <a:solidFill>
                  <a:schemeClr val="tx1"/>
                </a:solidFill>
              </a:rPr>
              <a:t>户 </a:t>
            </a:r>
            <a:r>
              <a:rPr lang="en-US" altLang="zh-CN" sz="1400" dirty="0">
                <a:solidFill>
                  <a:schemeClr val="tx1"/>
                </a:solidFill>
              </a:rPr>
              <a:t>2</a:t>
            </a:r>
          </a:p>
        </p:txBody>
      </p:sp>
      <p:sp>
        <p:nvSpPr>
          <p:cNvPr id="39" name="Text Box 52"/>
          <p:cNvSpPr txBox="1">
            <a:spLocks noChangeArrowheads="1"/>
          </p:cNvSpPr>
          <p:nvPr/>
        </p:nvSpPr>
        <p:spPr bwMode="auto">
          <a:xfrm>
            <a:off x="6858139" y="1439788"/>
            <a:ext cx="722862" cy="308059"/>
          </a:xfrm>
          <a:prstGeom prst="rect">
            <a:avLst/>
          </a:prstGeom>
          <a:noFill/>
        </p:spPr>
        <p:txBody>
          <a:bodyPr wrap="none" rtlCol="0">
            <a:spAutoFit/>
          </a:bodyPr>
          <a:lstStyle>
            <a:defPPr>
              <a:defRPr lang="zh-CN"/>
            </a:defPPr>
            <a:lvl1pPr>
              <a:defRPr sz="1400"/>
            </a:lvl1pPr>
          </a:lstStyle>
          <a:p>
            <a:r>
              <a:rPr lang="zh-CN" altLang="en-US" dirty="0"/>
              <a:t>应用层</a:t>
            </a:r>
          </a:p>
        </p:txBody>
      </p:sp>
      <p:sp>
        <p:nvSpPr>
          <p:cNvPr id="40" name="Text Box 53"/>
          <p:cNvSpPr txBox="1">
            <a:spLocks noChangeArrowheads="1"/>
          </p:cNvSpPr>
          <p:nvPr/>
        </p:nvSpPr>
        <p:spPr bwMode="auto">
          <a:xfrm>
            <a:off x="6765803" y="1136600"/>
            <a:ext cx="899620" cy="30805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400" b="1" dirty="0">
                <a:solidFill>
                  <a:srgbClr val="0000FF"/>
                </a:solidFill>
                <a:latin typeface="微软雅黑" panose="020B0503020204020204" pitchFamily="34" charset="-122"/>
                <a:ea typeface="微软雅黑" panose="020B0503020204020204" pitchFamily="34" charset="-122"/>
              </a:rPr>
              <a:t>计算机 </a:t>
            </a:r>
            <a:r>
              <a:rPr kumimoji="1" lang="en-US" altLang="zh-CN" sz="1400" b="1" dirty="0">
                <a:solidFill>
                  <a:srgbClr val="0000FF"/>
                </a:solidFill>
                <a:latin typeface="微软雅黑" panose="020B0503020204020204" pitchFamily="34" charset="-122"/>
                <a:ea typeface="微软雅黑" panose="020B0503020204020204" pitchFamily="34" charset="-122"/>
              </a:rPr>
              <a:t>B</a:t>
            </a:r>
          </a:p>
        </p:txBody>
      </p:sp>
      <p:grpSp>
        <p:nvGrpSpPr>
          <p:cNvPr id="56" name="Group 55"/>
          <p:cNvGrpSpPr/>
          <p:nvPr/>
        </p:nvGrpSpPr>
        <p:grpSpPr bwMode="auto">
          <a:xfrm>
            <a:off x="3857625" y="3606534"/>
            <a:ext cx="1316038" cy="666750"/>
            <a:chOff x="2245" y="3313"/>
            <a:chExt cx="1286" cy="707"/>
          </a:xfrm>
        </p:grpSpPr>
        <p:graphicFrame>
          <p:nvGraphicFramePr>
            <p:cNvPr id="57" name="Object 56"/>
            <p:cNvGraphicFramePr>
              <a:graphicFrameLocks noChangeAspect="1"/>
            </p:cNvGraphicFramePr>
            <p:nvPr/>
          </p:nvGraphicFramePr>
          <p:xfrm>
            <a:off x="2245" y="3313"/>
            <a:ext cx="1286" cy="707"/>
          </p:xfrm>
          <a:graphic>
            <a:graphicData uri="http://schemas.openxmlformats.org/presentationml/2006/ole">
              <mc:AlternateContent xmlns:mc="http://schemas.openxmlformats.org/markup-compatibility/2006">
                <mc:Choice xmlns:v="urn:schemas-microsoft-com:vml" Requires="v">
                  <p:oleObj name="VISIO" r:id="rId2" imgW="1687068" imgH="964692" progId="">
                    <p:embed/>
                  </p:oleObj>
                </mc:Choice>
                <mc:Fallback>
                  <p:oleObj name="VISIO" r:id="rId2" imgW="1687068" imgH="964692" progId="">
                    <p:embed/>
                    <p:pic>
                      <p:nvPicPr>
                        <p:cNvPr id="0" name="Picture 26"/>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245" y="3313"/>
                          <a:ext cx="1286" cy="707"/>
                        </a:xfrm>
                        <a:prstGeom prst="rect">
                          <a:avLst/>
                        </a:prstGeom>
                        <a:noFill/>
                        <a:effectLst>
                          <a:outerShdw dist="25400" dir="5400000" algn="ctr" rotWithShape="0">
                            <a:srgbClr val="EEECE1"/>
                          </a:outerShdw>
                        </a:effectLst>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58" name="Text Box 57"/>
            <p:cNvSpPr txBox="1">
              <a:spLocks noChangeArrowheads="1"/>
            </p:cNvSpPr>
            <p:nvPr/>
          </p:nvSpPr>
          <p:spPr bwMode="auto">
            <a:xfrm>
              <a:off x="2513" y="3501"/>
              <a:ext cx="782" cy="35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600" b="1" dirty="0">
                  <a:solidFill>
                    <a:srgbClr val="0033CC"/>
                  </a:solidFill>
                  <a:latin typeface="微软雅黑" panose="020B0503020204020204" pitchFamily="34" charset="-122"/>
                  <a:ea typeface="微软雅黑" panose="020B0503020204020204" pitchFamily="34" charset="-122"/>
                </a:rPr>
                <a:t>互联网</a:t>
              </a:r>
            </a:p>
          </p:txBody>
        </p:sp>
      </p:grpSp>
      <p:grpSp>
        <p:nvGrpSpPr>
          <p:cNvPr id="59" name="Group 58"/>
          <p:cNvGrpSpPr/>
          <p:nvPr/>
        </p:nvGrpSpPr>
        <p:grpSpPr bwMode="auto">
          <a:xfrm>
            <a:off x="2417763" y="1921717"/>
            <a:ext cx="4308475" cy="0"/>
            <a:chOff x="1270" y="1933"/>
            <a:chExt cx="3265" cy="0"/>
          </a:xfrm>
        </p:grpSpPr>
        <p:sp>
          <p:nvSpPr>
            <p:cNvPr id="60" name="Line 59"/>
            <p:cNvSpPr>
              <a:spLocks noChangeShapeType="1"/>
            </p:cNvSpPr>
            <p:nvPr/>
          </p:nvSpPr>
          <p:spPr bwMode="auto">
            <a:xfrm>
              <a:off x="3705" y="1933"/>
              <a:ext cx="830" cy="0"/>
            </a:xfrm>
            <a:prstGeom prst="line">
              <a:avLst/>
            </a:prstGeom>
            <a:noFill/>
            <a:ln w="38100">
              <a:solidFill>
                <a:srgbClr val="CC00CC"/>
              </a:solidFill>
              <a:prstDash val="sysDash"/>
              <a:round/>
              <a:headEnd type="triangle" w="sm" len="lg"/>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sp>
          <p:nvSpPr>
            <p:cNvPr id="61" name="Line 60"/>
            <p:cNvSpPr>
              <a:spLocks noChangeShapeType="1"/>
            </p:cNvSpPr>
            <p:nvPr/>
          </p:nvSpPr>
          <p:spPr bwMode="auto">
            <a:xfrm>
              <a:off x="1270" y="1933"/>
              <a:ext cx="830" cy="0"/>
            </a:xfrm>
            <a:prstGeom prst="line">
              <a:avLst/>
            </a:prstGeom>
            <a:noFill/>
            <a:ln w="38100">
              <a:solidFill>
                <a:srgbClr val="CC00CC"/>
              </a:solidFill>
              <a:prstDash val="sysDash"/>
              <a:round/>
              <a:headEnd type="triangle" w="sm" len="lg"/>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dirty="0">
                <a:latin typeface="Times New Roman" panose="02020603050405020304" pitchFamily="18" charset="0"/>
                <a:ea typeface="微软雅黑 Light" panose="020B0502040204020203" pitchFamily="34" charset="-122"/>
              </a:endParaRPr>
            </a:p>
          </p:txBody>
        </p:sp>
      </p:grpSp>
      <p:sp>
        <p:nvSpPr>
          <p:cNvPr id="2" name="标题 1">
            <a:extLst>
              <a:ext uri="{FF2B5EF4-FFF2-40B4-BE49-F238E27FC236}">
                <a16:creationId xmlns:a16="http://schemas.microsoft.com/office/drawing/2014/main" id="{E9020B9E-C4A8-6629-3C10-325E18891971}"/>
              </a:ext>
            </a:extLst>
          </p:cNvPr>
          <p:cNvSpPr>
            <a:spLocks noGrp="1"/>
          </p:cNvSpPr>
          <p:nvPr>
            <p:ph type="title"/>
          </p:nvPr>
        </p:nvSpPr>
        <p:spPr>
          <a:xfrm>
            <a:off x="612000" y="144000"/>
            <a:ext cx="7920000" cy="341632"/>
          </a:xfrm>
        </p:spPr>
        <p:txBody>
          <a:bodyPr/>
          <a:lstStyle/>
          <a:p>
            <a:r>
              <a:rPr lang="zh-CN" altLang="en-US" dirty="0"/>
              <a:t>同时运行多个服务器进程同时为多个客户进程提供服务</a:t>
            </a:r>
          </a:p>
        </p:txBody>
      </p:sp>
    </p:spTree>
    <p:extLst>
      <p:ext uri="{BB962C8B-B14F-4D97-AF65-F5344CB8AC3E}">
        <p14:creationId xmlns:p14="http://schemas.microsoft.com/office/powerpoint/2010/main" val="1087893476"/>
      </p:ext>
    </p:extLst>
  </p:cSld>
  <p:clrMapOvr>
    <a:masterClrMapping/>
  </p:clrMapOvr>
  <mc:AlternateContent xmlns:mc="http://schemas.openxmlformats.org/markup-compatibility/2006" xmlns:p14="http://schemas.microsoft.com/office/powerpoint/2010/main">
    <mc:Choice Requires="p14">
      <p:transition spd="slow" p14:dur="2000" advClick="0" advTm="2000"/>
    </mc:Choice>
    <mc:Fallback xmlns="">
      <p:transition spd="slow" advClick="0"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afterEffect">
                                  <p:stCondLst>
                                    <p:cond delay="500"/>
                                  </p:stCondLst>
                                  <p:childTnLst>
                                    <p:set>
                                      <p:cBhvr>
                                        <p:cTn id="6" dur="1" fill="hold">
                                          <p:stCondLst>
                                            <p:cond delay="0"/>
                                          </p:stCondLst>
                                        </p:cTn>
                                        <p:tgtEl>
                                          <p:spTgt spid="59"/>
                                        </p:tgtEl>
                                        <p:attrNameLst>
                                          <p:attrName>style.visibility</p:attrName>
                                        </p:attrNameLst>
                                      </p:cBhvr>
                                      <p:to>
                                        <p:strVal val="visible"/>
                                      </p:to>
                                    </p:set>
                                  </p:childTnLst>
                                </p:cTn>
                              </p:par>
                            </p:childTnLst>
                          </p:cTn>
                        </p:par>
                        <p:par>
                          <p:cTn id="7" fill="hold">
                            <p:stCondLst>
                              <p:cond delay="500"/>
                            </p:stCondLst>
                            <p:childTnLst>
                              <p:par>
                                <p:cTn id="8" presetID="35" presetClass="emph" presetSubtype="0" repeatCount="4000" fill="hold" nodeType="afterEffect">
                                  <p:stCondLst>
                                    <p:cond delay="0"/>
                                  </p:stCondLst>
                                  <p:childTnLst>
                                    <p:anim calcmode="discrete" valueType="str">
                                      <p:cBhvr>
                                        <p:cTn id="9" dur="500" fill="hold"/>
                                        <p:tgtEl>
                                          <p:spTgt spid="5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Montserrat">
      <a:majorFont>
        <a:latin typeface="Montserrat"/>
        <a:ea typeface="微软雅黑"/>
        <a:cs typeface=""/>
      </a:majorFont>
      <a:minorFont>
        <a:latin typeface="Montserrat"/>
        <a:ea typeface="微软雅黑 Light"/>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xDef>
      <a:spPr>
        <a:noFill/>
      </a:spPr>
      <a:bodyPr wrap="none" rtlCol="0">
        <a:spAutoFit/>
      </a:bodyPr>
      <a:lstStyle>
        <a:defPPr algn="l">
          <a:defRPr sz="1600" dirty="0" smtClean="0"/>
        </a:defPPr>
      </a:lst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11213</TotalTime>
  <Words>14926</Words>
  <Application>Microsoft Office PowerPoint</Application>
  <PresentationFormat>全屏显示(16:9)</PresentationFormat>
  <Paragraphs>2108</Paragraphs>
  <Slides>141</Slides>
  <Notes>45</Notes>
  <HiddenSlides>0</HiddenSlides>
  <MMClips>0</MMClips>
  <ScaleCrop>false</ScaleCrop>
  <HeadingPairs>
    <vt:vector size="8" baseType="variant">
      <vt:variant>
        <vt:lpstr>已用的字体</vt:lpstr>
      </vt:variant>
      <vt:variant>
        <vt:i4>7</vt:i4>
      </vt:variant>
      <vt:variant>
        <vt:lpstr>主题</vt:lpstr>
      </vt:variant>
      <vt:variant>
        <vt:i4>1</vt:i4>
      </vt:variant>
      <vt:variant>
        <vt:lpstr>嵌入 OLE 服务器</vt:lpstr>
      </vt:variant>
      <vt:variant>
        <vt:i4>1</vt:i4>
      </vt:variant>
      <vt:variant>
        <vt:lpstr>幻灯片标题</vt:lpstr>
      </vt:variant>
      <vt:variant>
        <vt:i4>141</vt:i4>
      </vt:variant>
    </vt:vector>
  </HeadingPairs>
  <TitlesOfParts>
    <vt:vector size="150" baseType="lpstr">
      <vt:lpstr>Arial</vt:lpstr>
      <vt:lpstr>Symbol</vt:lpstr>
      <vt:lpstr>Wingdings</vt:lpstr>
      <vt:lpstr>微软雅黑</vt:lpstr>
      <vt:lpstr>微软雅黑 Light</vt:lpstr>
      <vt:lpstr>Times New Roman</vt:lpstr>
      <vt:lpstr>Montserrat</vt:lpstr>
      <vt:lpstr>Office 主题​​</vt:lpstr>
      <vt:lpstr>VISIO</vt:lpstr>
      <vt:lpstr>PowerPoint 演示文稿</vt:lpstr>
      <vt:lpstr>PowerPoint 演示文稿</vt:lpstr>
      <vt:lpstr>1.1 计算机网络在信息时代中的作用</vt:lpstr>
      <vt:lpstr>PowerPoint 演示文稿</vt:lpstr>
      <vt:lpstr>PowerPoint 演示文稿</vt:lpstr>
      <vt:lpstr>PowerPoint 演示文稿</vt:lpstr>
      <vt:lpstr>互联网 Internet</vt:lpstr>
      <vt:lpstr>互联网 Internet</vt:lpstr>
      <vt:lpstr>互联网 Internet</vt:lpstr>
      <vt:lpstr>互联网+ Internet Plus</vt:lpstr>
      <vt:lpstr>互联网+ Internet Plus</vt:lpstr>
      <vt:lpstr>课后思考</vt:lpstr>
      <vt:lpstr>1.2 互联网概述</vt:lpstr>
      <vt:lpstr>1.2.1  网络的网络</vt:lpstr>
      <vt:lpstr>1.2.1  网络的网络</vt:lpstr>
      <vt:lpstr>1.2.1  网络的网络</vt:lpstr>
      <vt:lpstr>1.2.2  互联网基础结构发展的三个阶段</vt:lpstr>
      <vt:lpstr>第一阶段：1969 – 1990 </vt:lpstr>
      <vt:lpstr>第一阶段：1969 – 1990 </vt:lpstr>
      <vt:lpstr>第二阶段：1985 – 1993 </vt:lpstr>
      <vt:lpstr>第二阶段：1985 – 1993 </vt:lpstr>
      <vt:lpstr>第三阶段：1993 – </vt:lpstr>
      <vt:lpstr>第三阶段：1993 –</vt:lpstr>
      <vt:lpstr>PowerPoint 演示文稿</vt:lpstr>
      <vt:lpstr>万维网 WWW</vt:lpstr>
      <vt:lpstr>1.2.3  互联网的标准化工作</vt:lpstr>
      <vt:lpstr>标准发表：以 RFC 的形式</vt:lpstr>
      <vt:lpstr>标准化过程</vt:lpstr>
      <vt:lpstr>1.3 互联网的组成</vt:lpstr>
      <vt:lpstr>1.3  互联网的组成</vt:lpstr>
      <vt:lpstr>1.3.1  互联网的边缘部分</vt:lpstr>
      <vt:lpstr>1.3.1  互联网的边缘部分</vt:lpstr>
      <vt:lpstr>计算机之间的通信</vt:lpstr>
      <vt:lpstr>1.  客户-服务器方式（C/S 方式）</vt:lpstr>
      <vt:lpstr>客户程序和服务器程序主要特点</vt:lpstr>
      <vt:lpstr>2. 对等连接方式（P2P 方式）</vt:lpstr>
      <vt:lpstr>1.3.2  互联网的核心部分</vt:lpstr>
      <vt:lpstr>1.3.2  互联网的核心部分</vt:lpstr>
      <vt:lpstr>1. 电路交换 Circuit Switching</vt:lpstr>
      <vt:lpstr>1. 电路交换 Circuit Switching</vt:lpstr>
      <vt:lpstr>1. 电路交换 Circuit Switching</vt:lpstr>
      <vt:lpstr>1. 电路交换 Circuit Switching</vt:lpstr>
      <vt:lpstr>1. 电路交换 Circuit Switching</vt:lpstr>
      <vt:lpstr>2. 分组交换 Packet Switching</vt:lpstr>
      <vt:lpstr>2. 分组交换 Packet Switching</vt:lpstr>
      <vt:lpstr>2. 分组交换 Packet Switching</vt:lpstr>
      <vt:lpstr>2. 分组交换 Packet Switching</vt:lpstr>
      <vt:lpstr>PowerPoint 演示文稿</vt:lpstr>
      <vt:lpstr>PowerPoint 演示文稿</vt:lpstr>
      <vt:lpstr>每个分组独立选择传输路径</vt:lpstr>
      <vt:lpstr>分组的存储转发过程</vt:lpstr>
      <vt:lpstr>2. 分组交换 Packet Switching</vt:lpstr>
      <vt:lpstr>3. 报文交换 Message Switching</vt:lpstr>
      <vt:lpstr>电路交换、报文交换和分组交换的主要区别</vt:lpstr>
      <vt:lpstr>三种交换方式的比较</vt:lpstr>
      <vt:lpstr>1.4  计算机网络在我国的发展</vt:lpstr>
      <vt:lpstr>1.4  计算机网络在我国的发展</vt:lpstr>
      <vt:lpstr>1.4  计算机网络在我国的发展</vt:lpstr>
      <vt:lpstr>对我国互联网事业发展影响较大的人物和事件</vt:lpstr>
      <vt:lpstr>对我国互联网事业发展影响较大的人物和事件</vt:lpstr>
      <vt:lpstr>1.5 计算机网络的类别</vt:lpstr>
      <vt:lpstr>1.5.1  计算机网络的定义</vt:lpstr>
      <vt:lpstr>1.5.1  计算机网络的定义</vt:lpstr>
      <vt:lpstr>1.5.2  几种不同类别的计算机网络</vt:lpstr>
      <vt:lpstr>1. 按照网络的作用范围进行分类</vt:lpstr>
      <vt:lpstr>2. 按照网络的使用者进行分类</vt:lpstr>
      <vt:lpstr>3. 用来把用户接入到互联网的网络</vt:lpstr>
      <vt:lpstr>1.6 计算机网络的性能</vt:lpstr>
      <vt:lpstr>1.6.1  性能指标 Specification</vt:lpstr>
      <vt:lpstr>1. 速率 bit rate</vt:lpstr>
      <vt:lpstr>2. 带宽 bandwidth</vt:lpstr>
      <vt:lpstr>3. 吞吐量 (throughput)</vt:lpstr>
      <vt:lpstr>4. 时延 delay</vt:lpstr>
      <vt:lpstr>4.1 发送时延</vt:lpstr>
      <vt:lpstr>4.2 传播时延</vt:lpstr>
      <vt:lpstr>4.3 处理时延</vt:lpstr>
      <vt:lpstr>4.4 排队时延</vt:lpstr>
      <vt:lpstr>4. 时延 delay</vt:lpstr>
      <vt:lpstr>4. 时延 delay</vt:lpstr>
      <vt:lpstr>[练习]</vt:lpstr>
      <vt:lpstr>[练习]</vt:lpstr>
      <vt:lpstr>[练习]</vt:lpstr>
      <vt:lpstr>5. 时延带宽积</vt:lpstr>
      <vt:lpstr>6. 往返时间 RTT</vt:lpstr>
      <vt:lpstr>[练习]</vt:lpstr>
      <vt:lpstr>[练习]</vt:lpstr>
      <vt:lpstr>6. 往返时间 RTT</vt:lpstr>
      <vt:lpstr>7. 利用率 Utilization</vt:lpstr>
      <vt:lpstr>7. 利用率 Utilization</vt:lpstr>
      <vt:lpstr>1.6.2  非性能特征</vt:lpstr>
      <vt:lpstr>1.7 计算机网络体系结构</vt:lpstr>
      <vt:lpstr>1.7.1  计算机网络体系结构的形成</vt:lpstr>
      <vt:lpstr>1.7.1  计算机网络体系结构的形成</vt:lpstr>
      <vt:lpstr>开放系统互连参考模型 OSI/RM</vt:lpstr>
      <vt:lpstr>开放系统互连参考模型 OSI/RM</vt:lpstr>
      <vt:lpstr>两种国际标准 Standards</vt:lpstr>
      <vt:lpstr>1.7.2  协议与划分层次</vt:lpstr>
      <vt:lpstr>1.7.2  协议与划分层次</vt:lpstr>
      <vt:lpstr>[例] 两台主机通过网络传送文件</vt:lpstr>
      <vt:lpstr>[例] 两台主机通过网络传送文件</vt:lpstr>
      <vt:lpstr>[例] 两台主机通过网络传送文件</vt:lpstr>
      <vt:lpstr>分层的优点与缺点 Features</vt:lpstr>
      <vt:lpstr>各层主要功能 Functions</vt:lpstr>
      <vt:lpstr>体系结构 Architecture</vt:lpstr>
      <vt:lpstr>1.7.3  具有五层协议的体系结构</vt:lpstr>
      <vt:lpstr>各层的主要功能</vt:lpstr>
      <vt:lpstr>各层的主要功能</vt:lpstr>
      <vt:lpstr>各层的主要功能</vt:lpstr>
      <vt:lpstr>各层的主要功能</vt:lpstr>
      <vt:lpstr>各层的主要功能</vt:lpstr>
      <vt:lpstr>数据在各层之间的传递过程</vt:lpstr>
      <vt:lpstr>数据在各层之间的传递过程</vt:lpstr>
      <vt:lpstr>数据在各层之间的传递过程</vt:lpstr>
      <vt:lpstr>数据在各层之间的传递过程</vt:lpstr>
      <vt:lpstr>数据在各层之间的传递过程</vt:lpstr>
      <vt:lpstr>数据在各层之间的传递过程</vt:lpstr>
      <vt:lpstr>数据在各层之间的传递过程</vt:lpstr>
      <vt:lpstr>数据在各层之间的传递过程</vt:lpstr>
      <vt:lpstr>数据在各层之间的传递过程</vt:lpstr>
      <vt:lpstr>数据在各层之间的传递过程</vt:lpstr>
      <vt:lpstr>数据在各层之间的传递过程</vt:lpstr>
      <vt:lpstr>数据在各层之间的传递过程</vt:lpstr>
      <vt:lpstr>数据在各层之间的传递过程</vt:lpstr>
      <vt:lpstr>数据在各层之间的传递过程</vt:lpstr>
      <vt:lpstr>数据在各层之间的传递过程</vt:lpstr>
      <vt:lpstr>数据在各层之间的传递过程</vt:lpstr>
      <vt:lpstr>数据在各层之间的传递过程</vt:lpstr>
      <vt:lpstr>数据在各层之间的传递过程</vt:lpstr>
      <vt:lpstr>数据在各层之间的传递过程</vt:lpstr>
      <vt:lpstr>数据在各层之间的传递过程</vt:lpstr>
      <vt:lpstr>数据在各层之间的传递过程</vt:lpstr>
      <vt:lpstr>对等层与协议数据单元</vt:lpstr>
      <vt:lpstr>1.7.4  实体、协议、服务和服务访问点</vt:lpstr>
      <vt:lpstr>注意：协议和服务在概念上是不一样的</vt:lpstr>
      <vt:lpstr>相邻两层之间的关系</vt:lpstr>
      <vt:lpstr>协议很复杂，要应付所有异常情况</vt:lpstr>
      <vt:lpstr>1.7.5  TCP/IP 的体系结构</vt:lpstr>
      <vt:lpstr>TCP/IP 体系结构的另一种表示方法</vt:lpstr>
      <vt:lpstr>沙漏计时器形状的 TCP/IP 协议族</vt:lpstr>
      <vt:lpstr>互联网中客户-服务器工作方式</vt:lpstr>
      <vt:lpstr>同时运行多个服务器进程同时为多个客户进程提供服务</vt:lpstr>
    </vt:vector>
  </TitlesOfParts>
  <Manager>PLA</Manager>
  <Company>54414</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network</dc:title>
  <dc:creator>glplaman.github.io</dc:creator>
  <cp:lastModifiedBy>cn plaman</cp:lastModifiedBy>
  <cp:revision>831</cp:revision>
  <dcterms:created xsi:type="dcterms:W3CDTF">2018-07-18T08:51:30Z</dcterms:created>
  <dcterms:modified xsi:type="dcterms:W3CDTF">2026-08-30T13:51:11Z</dcterms:modified>
</cp:coreProperties>
</file>